
<file path=[Content_Types].xml><?xml version="1.0" encoding="utf-8"?>
<Types xmlns="http://schemas.openxmlformats.org/package/2006/content-types">
  <Override PartName="/ppt/slides/slide47.xml" ContentType="application/vnd.openxmlformats-officedocument.presentationml.slide+xml"/>
  <Override PartName="/ppt/tags/tag8.xml" ContentType="application/vnd.openxmlformats-officedocument.presentationml.tags+xml"/>
  <Override PartName="/ppt/tags/tag140.xml" ContentType="application/vnd.openxmlformats-officedocument.presentationml.tags+xml"/>
  <Override PartName="/ppt/tags/tag238.xml" ContentType="application/vnd.openxmlformats-officedocument.presentationml.tags+xml"/>
  <Override PartName="/ppt/slides/slide25.xml" ContentType="application/vnd.openxmlformats-officedocument.presentationml.slide+xml"/>
  <Override PartName="/ppt/slideLayouts/slideLayout2.xml" ContentType="application/vnd.openxmlformats-officedocument.presentationml.slideLayout+xml"/>
  <Override PartName="/ppt/tags/tag49.xml" ContentType="application/vnd.openxmlformats-officedocument.presentationml.tags+xml"/>
  <Override PartName="/ppt/tags/tag96.xml" ContentType="application/vnd.openxmlformats-officedocument.presentationml.tags+xml"/>
  <Override PartName="/ppt/tags/tag205.xml" ContentType="application/vnd.openxmlformats-officedocument.presentationml.tags+xml"/>
  <Override PartName="/ppt/tags/tag216.xml" ContentType="application/vnd.openxmlformats-officedocument.presentationml.tags+xml"/>
  <Override PartName="/ppt/tags/tag252.xml" ContentType="application/vnd.openxmlformats-officedocument.presentationml.tags+xml"/>
  <Override PartName="/ppt/tags/tag263.xml" ContentType="application/vnd.openxmlformats-officedocument.presentationml.tags+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tags/tag38.xml" ContentType="application/vnd.openxmlformats-officedocument.presentationml.tags+xml"/>
  <Override PartName="/ppt/tags/tag85.xml" ContentType="application/vnd.openxmlformats-officedocument.presentationml.tags+xml"/>
  <Override PartName="/ppt/tags/tag189.xml" ContentType="application/vnd.openxmlformats-officedocument.presentationml.tags+xml"/>
  <Override PartName="/ppt/tags/tag241.xml" ContentType="application/vnd.openxmlformats-officedocument.presentationml.tags+xml"/>
  <Override PartName="/ppt/tableStyles.xml" ContentType="application/vnd.openxmlformats-officedocument.presentationml.tableStyles+xml"/>
  <Override PartName="/ppt/tags/tag16.xml" ContentType="application/vnd.openxmlformats-officedocument.presentationml.tags+xml"/>
  <Override PartName="/ppt/tags/tag27.xml" ContentType="application/vnd.openxmlformats-officedocument.presentationml.tags+xml"/>
  <Override PartName="/ppt/tags/tag63.xml" ContentType="application/vnd.openxmlformats-officedocument.presentationml.tags+xml"/>
  <Override PartName="/ppt/tags/tag74.xml" ContentType="application/vnd.openxmlformats-officedocument.presentationml.tags+xml"/>
  <Override PartName="/ppt/tags/tag178.xml" ContentType="application/vnd.openxmlformats-officedocument.presentationml.tags+xml"/>
  <Override PartName="/ppt/tags/tag230.xml" ContentType="application/vnd.openxmlformats-officedocument.presentationml.tags+xml"/>
  <Override PartName="/ppt/tags/tag52.xml" ContentType="application/vnd.openxmlformats-officedocument.presentationml.tags+xml"/>
  <Override PartName="/ppt/tags/tag109.xml" ContentType="application/vnd.openxmlformats-officedocument.presentationml.tags+xml"/>
  <Override PartName="/ppt/tags/tag156.xml" ContentType="application/vnd.openxmlformats-officedocument.presentationml.tags+xml"/>
  <Override PartName="/ppt/tags/tag167.xml" ContentType="application/vnd.openxmlformats-officedocument.presentationml.tags+xml"/>
  <Override PartName="/ppt/tags/tag41.xml" ContentType="application/vnd.openxmlformats-officedocument.presentationml.tags+xml"/>
  <Override PartName="/ppt/tags/tag145.xml" ContentType="application/vnd.openxmlformats-officedocument.presentationml.tags+xml"/>
  <Override PartName="/ppt/tags/tag192.xml" ContentType="application/vnd.openxmlformats-officedocument.presentationml.tags+xml"/>
  <Override PartName="/ppt/notesSlides/notesSlide7.xml" ContentType="application/vnd.openxmlformats-officedocument.presentationml.notesSlide+xml"/>
  <Override PartName="/ppt/tags/tag279.xml" ContentType="application/vnd.openxmlformats-officedocument.presentationml.tags+xml"/>
  <Override PartName="/ppt/tags/tag30.xml" ContentType="application/vnd.openxmlformats-officedocument.presentationml.tags+xml"/>
  <Override PartName="/ppt/tags/tag134.xml" ContentType="application/vnd.openxmlformats-officedocument.presentationml.tags+xml"/>
  <Override PartName="/ppt/tags/tag181.xml" ContentType="application/vnd.openxmlformats-officedocument.presentationml.tags+xml"/>
  <Override PartName="/ppt/tags/tag268.xml" ContentType="application/vnd.openxmlformats-officedocument.presentationml.tags+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tags/tag112.xml" ContentType="application/vnd.openxmlformats-officedocument.presentationml.tags+xml"/>
  <Override PartName="/ppt/tags/tag123.xml" ContentType="application/vnd.openxmlformats-officedocument.presentationml.tags+xml"/>
  <Override PartName="/ppt/tags/tag170.xml" ContentType="application/vnd.openxmlformats-officedocument.presentationml.tags+xml"/>
  <Override PartName="/ppt/tags/tag257.xml" ContentType="application/vnd.openxmlformats-officedocument.presentationml.tags+xml"/>
  <Override PartName="/ppt/slides/slide55.xml" ContentType="application/vnd.openxmlformats-officedocument.presentationml.slide+xml"/>
  <Override PartName="/ppt/slideLayouts/slideLayout18.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79.xml" ContentType="application/vnd.openxmlformats-officedocument.presentationml.tags+xml"/>
  <Override PartName="/ppt/tags/tag101.xml" ContentType="application/vnd.openxmlformats-officedocument.presentationml.tags+xml"/>
  <Override PartName="/ppt/tags/tag246.xml" ContentType="application/vnd.openxmlformats-officedocument.presentationml.tags+xml"/>
  <Override PartName="/ppt/slides/slide33.xml" ContentType="application/vnd.openxmlformats-officedocument.presentationml.slide+xml"/>
  <Override PartName="/ppt/slides/slide44.xml" ContentType="application/vnd.openxmlformats-officedocument.presentationml.slide+xml"/>
  <Override PartName="/ppt/tags/tag68.xml" ContentType="application/vnd.openxmlformats-officedocument.presentationml.tags+xml"/>
  <Override PartName="/ppt/tags/tag224.xml" ContentType="application/vnd.openxmlformats-officedocument.presentationml.tags+xml"/>
  <Override PartName="/ppt/tags/tag235.xml" ContentType="application/vnd.openxmlformats-officedocument.presentationml.tags+xml"/>
  <Override PartName="/ppt/tags/tag271.xml" ContentType="application/vnd.openxmlformats-officedocument.presentationml.tags+xml"/>
  <Override PartName="/ppt/presentation.xml" ContentType="application/vnd.openxmlformats-officedocument.presentationml.presentation.main+xml"/>
  <Override PartName="/ppt/slides/slide22.xml" ContentType="application/vnd.openxmlformats-officedocument.presentationml.slide+xml"/>
  <Override PartName="/ppt/tags/tag57.xml" ContentType="application/vnd.openxmlformats-officedocument.presentationml.tags+xml"/>
  <Override PartName="/ppt/tags/tag213.xml" ContentType="application/vnd.openxmlformats-officedocument.presentationml.tags+xml"/>
  <Override PartName="/ppt/tags/tag260.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Layouts/slideLayout21.xml" ContentType="application/vnd.openxmlformats-officedocument.presentationml.slideLayout+xml"/>
  <Override PartName="/ppt/tags/tag35.xml" ContentType="application/vnd.openxmlformats-officedocument.presentationml.tags+xml"/>
  <Override PartName="/ppt/tags/tag46.xml" ContentType="application/vnd.openxmlformats-officedocument.presentationml.tags+xml"/>
  <Override PartName="/ppt/tags/tag82.xml" ContentType="application/vnd.openxmlformats-officedocument.presentationml.tags+xml"/>
  <Override PartName="/ppt/tags/tag93.xml" ContentType="application/vnd.openxmlformats-officedocument.presentationml.tags+xml"/>
  <Override PartName="/ppt/tags/tag139.xml" ContentType="application/vnd.openxmlformats-officedocument.presentationml.tags+xml"/>
  <Override PartName="/ppt/tags/tag186.xml" ContentType="application/vnd.openxmlformats-officedocument.presentationml.tags+xml"/>
  <Override PartName="/ppt/tags/tag197.xml" ContentType="application/vnd.openxmlformats-officedocument.presentationml.tags+xml"/>
  <Override PartName="/ppt/tags/tag202.xml" ContentType="application/vnd.openxmlformats-officedocument.presentationml.tags+xml"/>
  <Override PartName="/ppt/slideLayouts/slideLayout10.xml" ContentType="application/vnd.openxmlformats-officedocument.presentationml.slideLayout+xml"/>
  <Override PartName="/ppt/tags/tag24.xml" ContentType="application/vnd.openxmlformats-officedocument.presentationml.tags+xml"/>
  <Override PartName="/ppt/tags/tag71.xml" ContentType="application/vnd.openxmlformats-officedocument.presentationml.tags+xml"/>
  <Override PartName="/ppt/tags/tag128.xml" ContentType="application/vnd.openxmlformats-officedocument.presentationml.tags+xml"/>
  <Override PartName="/ppt/tags/tag175.xml" ContentType="application/vnd.openxmlformats-officedocument.presentationml.tags+xml"/>
  <Override PartName="/ppt/tags/tag13.xml" ContentType="application/vnd.openxmlformats-officedocument.presentationml.tags+xml"/>
  <Override PartName="/ppt/tags/tag60.xml" ContentType="application/vnd.openxmlformats-officedocument.presentationml.tags+xml"/>
  <Override PartName="/ppt/tags/tag117.xml" ContentType="application/vnd.openxmlformats-officedocument.presentationml.tags+xml"/>
  <Override PartName="/ppt/tags/tag164.xml" ContentType="application/vnd.openxmlformats-officedocument.presentationml.tags+xml"/>
  <Override PartName="/ppt/slides/slide49.xml" ContentType="application/vnd.openxmlformats-officedocument.presentationml.slide+xml"/>
  <Override PartName="/ppt/tags/tag106.xml" ContentType="application/vnd.openxmlformats-officedocument.presentationml.tags+xml"/>
  <Override PartName="/ppt/tags/tag142.xml" ContentType="application/vnd.openxmlformats-officedocument.presentationml.tags+xml"/>
  <Override PartName="/ppt/tags/tag153.xml" ContentType="application/vnd.openxmlformats-officedocument.presentationml.tags+xml"/>
  <Override PartName="/ppt/notesSlides/notesSlide4.xml" ContentType="application/vnd.openxmlformats-officedocument.presentationml.notesSlide+xml"/>
  <Override PartName="/ppt/slides/slide38.xml" ContentType="application/vnd.openxmlformats-officedocument.presentationml.slide+xml"/>
  <Override PartName="/ppt/tags/tag131.xml" ContentType="application/vnd.openxmlformats-officedocument.presentationml.tags+xml"/>
  <Override PartName="/ppt/tags/tag229.xml" ContentType="application/vnd.openxmlformats-officedocument.presentationml.tags+xml"/>
  <Override PartName="/ppt/tags/tag276.xml" ContentType="application/vnd.openxmlformats-officedocument.presentationml.tags+xml"/>
  <Override PartName="/ppt/slides/slide27.xml" ContentType="application/vnd.openxmlformats-officedocument.presentationml.slide+xml"/>
  <Override PartName="/ppt/slideLayouts/slideLayout4.xml" ContentType="application/vnd.openxmlformats-officedocument.presentationml.slideLayout+xml"/>
  <Override PartName="/ppt/tags/tag98.xml" ContentType="application/vnd.openxmlformats-officedocument.presentationml.tags+xml"/>
  <Override PartName="/ppt/tags/tag120.xml" ContentType="application/vnd.openxmlformats-officedocument.presentationml.tags+xml"/>
  <Override PartName="/ppt/tags/tag207.xml" ContentType="application/vnd.openxmlformats-officedocument.presentationml.tags+xml"/>
  <Override PartName="/ppt/tags/tag218.xml" ContentType="application/vnd.openxmlformats-officedocument.presentationml.tags+xml"/>
  <Override PartName="/ppt/tags/tag254.xml" ContentType="application/vnd.openxmlformats-officedocument.presentationml.tags+xml"/>
  <Override PartName="/ppt/tags/tag265.xml" ContentType="application/vnd.openxmlformats-officedocument.presentationml.tags+xml"/>
  <Override PartName="/ppt/slides/slide2.xml" ContentType="application/vnd.openxmlformats-officedocument.presentationml.slide+xml"/>
  <Override PartName="/ppt/slides/slide16.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Layouts/slideLayout15.xml" ContentType="application/vnd.openxmlformats-officedocument.presentationml.slideLayout+xml"/>
  <Override PartName="/ppt/tags/tag2.xml" ContentType="application/vnd.openxmlformats-officedocument.presentationml.tags+xml"/>
  <Override PartName="/ppt/tags/tag87.xml" ContentType="application/vnd.openxmlformats-officedocument.presentationml.tags+xml"/>
  <Override PartName="/ppt/tags/tag243.xml" ContentType="application/vnd.openxmlformats-officedocument.presentationml.tags+xml"/>
  <Override PartName="/ppt/slides/slide41.xml" ContentType="application/vnd.openxmlformats-officedocument.presentationml.slide+xml"/>
  <Override PartName="/ppt/tags/tag29.xml" ContentType="application/vnd.openxmlformats-officedocument.presentationml.tags+xml"/>
  <Override PartName="/ppt/tags/tag76.xml" ContentType="application/vnd.openxmlformats-officedocument.presentationml.tags+xml"/>
  <Override PartName="/ppt/tags/tag232.xml" ContentType="application/vnd.openxmlformats-officedocument.presentationml.tags+xml"/>
  <Override PartName="/ppt/slides/slide30.xml" ContentType="application/vnd.openxmlformats-officedocument.presentationml.slide+xml"/>
  <Override PartName="/ppt/tags/tag18.xml" ContentType="application/vnd.openxmlformats-officedocument.presentationml.tags+xml"/>
  <Override PartName="/ppt/tags/tag54.xml" ContentType="application/vnd.openxmlformats-officedocument.presentationml.tags+xml"/>
  <Override PartName="/ppt/tags/tag65.xml" ContentType="application/vnd.openxmlformats-officedocument.presentationml.tags+xml"/>
  <Override PartName="/ppt/tags/tag158.xml" ContentType="application/vnd.openxmlformats-officedocument.presentationml.tags+xml"/>
  <Override PartName="/ppt/tags/tag169.xml" ContentType="application/vnd.openxmlformats-officedocument.presentationml.tags+xml"/>
  <Override PartName="/ppt/tags/tag210.xml" ContentType="application/vnd.openxmlformats-officedocument.presentationml.tags+xml"/>
  <Override PartName="/ppt/tags/tag221.xml" ContentType="application/vnd.openxmlformats-officedocument.presentationml.tags+xml"/>
  <Override PartName="/ppt/tags/tag43.xml" ContentType="application/vnd.openxmlformats-officedocument.presentationml.tags+xml"/>
  <Override PartName="/ppt/tags/tag90.xml" ContentType="application/vnd.openxmlformats-officedocument.presentationml.tags+xml"/>
  <Override PartName="/ppt/tags/tag147.xml" ContentType="application/vnd.openxmlformats-officedocument.presentationml.tags+xml"/>
  <Override PartName="/ppt/tags/tag194.xml" ContentType="application/vnd.openxmlformats-officedocument.presentationml.tags+xml"/>
  <Override PartName="/ppt/notesSlides/notesSlide9.xml" ContentType="application/vnd.openxmlformats-officedocument.presentationml.notesSlide+xml"/>
  <Override PartName="/ppt/tags/tag32.xml" ContentType="application/vnd.openxmlformats-officedocument.presentationml.tags+xml"/>
  <Override PartName="/ppt/tags/tag136.xml" ContentType="application/vnd.openxmlformats-officedocument.presentationml.tags+xml"/>
  <Override PartName="/ppt/tags/tag183.xml" ContentType="application/vnd.openxmlformats-officedocument.presentationml.tags+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tags/tag10.xml" ContentType="application/vnd.openxmlformats-officedocument.presentationml.tags+xml"/>
  <Override PartName="/ppt/tags/tag21.xml" ContentType="application/vnd.openxmlformats-officedocument.presentationml.tags+xml"/>
  <Override PartName="/ppt/tags/tag114.xml" ContentType="application/vnd.openxmlformats-officedocument.presentationml.tags+xml"/>
  <Override PartName="/ppt/tags/tag125.xml" ContentType="application/vnd.openxmlformats-officedocument.presentationml.tags+xml"/>
  <Override PartName="/ppt/tags/tag161.xml" ContentType="application/vnd.openxmlformats-officedocument.presentationml.tags+xml"/>
  <Override PartName="/ppt/tags/tag172.xml" ContentType="application/vnd.openxmlformats-officedocument.presentationml.tags+xml"/>
  <Override PartName="/ppt/tags/tag259.xml" ContentType="application/vnd.openxmlformats-officedocument.presentationml.tags+xml"/>
  <Override PartName="/ppt/slideMasters/slideMaster2.xml" ContentType="application/vnd.openxmlformats-officedocument.presentationml.slideMaster+xml"/>
  <Override PartName="/ppt/slides/slide57.xml" ContentType="application/vnd.openxmlformats-officedocument.presentationml.slide+xml"/>
  <Override PartName="/ppt/tags/tag7.xml" ContentType="application/vnd.openxmlformats-officedocument.presentationml.tags+xml"/>
  <Override PartName="/ppt/notesSlides/notesSlide1.xml" ContentType="application/vnd.openxmlformats-officedocument.presentationml.notesSlide+xml"/>
  <Override PartName="/ppt/tags/tag103.xml" ContentType="application/vnd.openxmlformats-officedocument.presentationml.tags+xml"/>
  <Override PartName="/ppt/tags/tag150.xml" ContentType="application/vnd.openxmlformats-officedocument.presentationml.tags+xml"/>
  <Override PartName="/ppt/tags/tag248.xml" ContentType="application/vnd.openxmlformats-officedocument.presentationml.tags+xml"/>
  <Override PartName="/ppt/slides/slide46.xml" ContentType="application/vnd.openxmlformats-officedocument.presentationml.slide+xml"/>
  <Override PartName="/ppt/tags/tag226.xml" ContentType="application/vnd.openxmlformats-officedocument.presentationml.tags+xml"/>
  <Override PartName="/ppt/tags/tag237.xml" ContentType="application/vnd.openxmlformats-officedocument.presentationml.tags+xml"/>
  <Override PartName="/ppt/tags/tag273.xml" ContentType="application/vnd.openxmlformats-officedocument.presentationml.tags+xml"/>
  <Override PartName="/ppt/slides/slide24.xml" ContentType="application/vnd.openxmlformats-officedocument.presentationml.slide+xml"/>
  <Override PartName="/ppt/slides/slide35.xml" ContentType="application/vnd.openxmlformats-officedocument.presentationml.slide+xml"/>
  <Override PartName="/ppt/tags/tag59.xml" ContentType="application/vnd.openxmlformats-officedocument.presentationml.tags+xml"/>
  <Override PartName="/ppt/tags/tag215.xml" ContentType="application/vnd.openxmlformats-officedocument.presentationml.tags+xml"/>
  <Override PartName="/ppt/tags/tag262.xml" ContentType="application/vnd.openxmlformats-officedocument.presentationml.tags+xml"/>
  <Override PartName="/ppt/slides/slide13.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tags/tag37.xml" ContentType="application/vnd.openxmlformats-officedocument.presentationml.tags+xml"/>
  <Override PartName="/ppt/tags/tag48.xml" ContentType="application/vnd.openxmlformats-officedocument.presentationml.tags+xml"/>
  <Override PartName="/ppt/tags/tag84.xml" ContentType="application/vnd.openxmlformats-officedocument.presentationml.tags+xml"/>
  <Override PartName="/ppt/tags/tag95.xml" ContentType="application/vnd.openxmlformats-officedocument.presentationml.tags+xml"/>
  <Override PartName="/ppt/tags/tag188.xml" ContentType="application/vnd.openxmlformats-officedocument.presentationml.tags+xml"/>
  <Override PartName="/ppt/tags/tag199.xml" ContentType="application/vnd.openxmlformats-officedocument.presentationml.tags+xml"/>
  <Override PartName="/ppt/tags/tag204.xml" ContentType="application/vnd.openxmlformats-officedocument.presentationml.tags+xml"/>
  <Override PartName="/ppt/tags/tag251.xml" ContentType="application/vnd.openxmlformats-officedocument.presentationml.tags+xml"/>
  <Override PartName="/ppt/slideLayouts/slideLayout12.xml" ContentType="application/vnd.openxmlformats-officedocument.presentationml.slideLayout+xml"/>
  <Override PartName="/ppt/tags/tag26.xml" ContentType="application/vnd.openxmlformats-officedocument.presentationml.tags+xml"/>
  <Override PartName="/ppt/tags/tag73.xml" ContentType="application/vnd.openxmlformats-officedocument.presentationml.tags+xml"/>
  <Override PartName="/ppt/tags/tag177.xml" ContentType="application/vnd.openxmlformats-officedocument.presentationml.tags+xml"/>
  <Override PartName="/ppt/tags/tag240.xml" ContentType="application/vnd.openxmlformats-officedocument.presentationml.tags+xml"/>
  <Override PartName="/ppt/tags/tag15.xml" ContentType="application/vnd.openxmlformats-officedocument.presentationml.tags+xml"/>
  <Override PartName="/ppt/tags/tag62.xml" ContentType="application/vnd.openxmlformats-officedocument.presentationml.tags+xml"/>
  <Override PartName="/ppt/tags/tag119.xml" ContentType="application/vnd.openxmlformats-officedocument.presentationml.tags+xml"/>
  <Override PartName="/ppt/tags/tag166.xml" ContentType="application/vnd.openxmlformats-officedocument.presentationml.tags+xml"/>
  <Override PartName="/ppt/tags/tag40.xml" ContentType="application/vnd.openxmlformats-officedocument.presentationml.tags+xml"/>
  <Override PartName="/ppt/tags/tag51.xml" ContentType="application/vnd.openxmlformats-officedocument.presentationml.tags+xml"/>
  <Override PartName="/ppt/tags/tag108.xml" ContentType="application/vnd.openxmlformats-officedocument.presentationml.tags+xml"/>
  <Override PartName="/ppt/tags/tag155.xml" ContentType="application/vnd.openxmlformats-officedocument.presentationml.tags+xml"/>
  <Override PartName="/ppt/notesSlides/notesSlide6.xml" ContentType="application/vnd.openxmlformats-officedocument.presentationml.notesSlide+xml"/>
  <Override PartName="/ppt/tags/tag133.xml" ContentType="application/vnd.openxmlformats-officedocument.presentationml.tags+xml"/>
  <Override PartName="/ppt/tags/tag144.xml" ContentType="application/vnd.openxmlformats-officedocument.presentationml.tags+xml"/>
  <Override PartName="/ppt/tags/tag180.xml" ContentType="application/vnd.openxmlformats-officedocument.presentationml.tags+xml"/>
  <Override PartName="/ppt/tags/tag191.xml" ContentType="application/vnd.openxmlformats-officedocument.presentationml.tags+xml"/>
  <Override PartName="/ppt/tags/tag278.xml" ContentType="application/vnd.openxmlformats-officedocument.presentationml.tags+xml"/>
  <Override PartName="/ppt/slides/slide29.xml" ContentType="application/vnd.openxmlformats-officedocument.presentationml.slide+xml"/>
  <Override PartName="/ppt/tags/tag122.xml" ContentType="application/vnd.openxmlformats-officedocument.presentationml.tags+xml"/>
  <Override PartName="/ppt/tags/tag209.xml" ContentType="application/vnd.openxmlformats-officedocument.presentationml.tags+xml"/>
  <Override PartName="/ppt/tags/tag256.xml" ContentType="application/vnd.openxmlformats-officedocument.presentationml.tags+xml"/>
  <Override PartName="/ppt/tags/tag267.xml" ContentType="application/vnd.openxmlformats-officedocument.presentationml.tags+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tags/tag89.xml" ContentType="application/vnd.openxmlformats-officedocument.presentationml.tags+xml"/>
  <Override PartName="/ppt/tags/tag111.xml" ContentType="application/vnd.openxmlformats-officedocument.presentationml.tags+xml"/>
  <Override PartName="/ppt/tags/tag245.xml" ContentType="application/vnd.openxmlformats-officedocument.presentationml.tags+xml"/>
  <Override PartName="/ppt/slides/slide43.xml" ContentType="application/vnd.openxmlformats-officedocument.presentationml.slide+xml"/>
  <Override PartName="/ppt/theme/theme1.xml" ContentType="application/vnd.openxmlformats-officedocument.theme+xml"/>
  <Override PartName="/ppt/tags/tag78.xml" ContentType="application/vnd.openxmlformats-officedocument.presentationml.tags+xml"/>
  <Override PartName="/ppt/tags/tag100.xml" ContentType="application/vnd.openxmlformats-officedocument.presentationml.tags+xml"/>
  <Override PartName="/ppt/tags/tag234.xml" ContentType="application/vnd.openxmlformats-officedocument.presentationml.tags+xml"/>
  <Override PartName="/ppt/slides/slide32.xml" ContentType="application/vnd.openxmlformats-officedocument.presentationml.slide+xml"/>
  <Override PartName="/ppt/tags/tag56.xml" ContentType="application/vnd.openxmlformats-officedocument.presentationml.tags+xml"/>
  <Override PartName="/ppt/tags/tag67.xml" ContentType="application/vnd.openxmlformats-officedocument.presentationml.tags+xml"/>
  <Override PartName="/ppt/tags/tag223.xml" ContentType="application/vnd.openxmlformats-officedocument.presentationml.tags+xml"/>
  <Override PartName="/ppt/tags/tag270.xml" ContentType="application/vnd.openxmlformats-officedocument.presentationml.tags+xml"/>
  <Override PartName="/ppt/slides/slide10.xml" ContentType="application/vnd.openxmlformats-officedocument.presentationml.slide+xml"/>
  <Override PartName="/ppt/slides/slide21.xml" ContentType="application/vnd.openxmlformats-officedocument.presentationml.slide+xml"/>
  <Override PartName="/ppt/slideLayouts/slideLayout20.xml" ContentType="application/vnd.openxmlformats-officedocument.presentationml.slideLayout+xml"/>
  <Override PartName="/ppt/tags/tag45.xml" ContentType="application/vnd.openxmlformats-officedocument.presentationml.tags+xml"/>
  <Override PartName="/ppt/tags/tag92.xml" ContentType="application/vnd.openxmlformats-officedocument.presentationml.tags+xml"/>
  <Override PartName="/ppt/tags/tag149.xml" ContentType="application/vnd.openxmlformats-officedocument.presentationml.tags+xml"/>
  <Override PartName="/ppt/tags/tag196.xml" ContentType="application/vnd.openxmlformats-officedocument.presentationml.tags+xml"/>
  <Override PartName="/ppt/tags/tag201.xml" ContentType="application/vnd.openxmlformats-officedocument.presentationml.tags+xml"/>
  <Override PartName="/ppt/tags/tag212.xml" ContentType="application/vnd.openxmlformats-officedocument.presentationml.tags+xml"/>
  <Override PartName="/docProps/custom.xml" ContentType="application/vnd.openxmlformats-officedocument.custom-properties+xml"/>
  <Override PartName="/ppt/tags/tag34.xml" ContentType="application/vnd.openxmlformats-officedocument.presentationml.tags+xml"/>
  <Override PartName="/ppt/tags/tag81.xml" ContentType="application/vnd.openxmlformats-officedocument.presentationml.tags+xml"/>
  <Override PartName="/ppt/tags/tag138.xml" ContentType="application/vnd.openxmlformats-officedocument.presentationml.tags+xml"/>
  <Override PartName="/ppt/tags/tag185.xml" ContentType="application/vnd.openxmlformats-officedocument.presentationml.tags+xml"/>
  <Override PartName="/ppt/tags/tag12.xml" ContentType="application/vnd.openxmlformats-officedocument.presentationml.tags+xml"/>
  <Override PartName="/ppt/tags/tag23.xml" ContentType="application/vnd.openxmlformats-officedocument.presentationml.tags+xml"/>
  <Override PartName="/ppt/tags/tag70.xml" ContentType="application/vnd.openxmlformats-officedocument.presentationml.tags+xml"/>
  <Override PartName="/ppt/tags/tag116.xml" ContentType="application/vnd.openxmlformats-officedocument.presentationml.tags+xml"/>
  <Override PartName="/ppt/tags/tag127.xml" ContentType="application/vnd.openxmlformats-officedocument.presentationml.tags+xml"/>
  <Override PartName="/ppt/tags/tag163.xml" ContentType="application/vnd.openxmlformats-officedocument.presentationml.tags+xml"/>
  <Override PartName="/ppt/tags/tag174.xml" ContentType="application/vnd.openxmlformats-officedocument.presentationml.tags+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tags/tag9.xml" ContentType="application/vnd.openxmlformats-officedocument.presentationml.tags+xml"/>
  <Override PartName="/ppt/tags/tag105.xml" ContentType="application/vnd.openxmlformats-officedocument.presentationml.tags+xml"/>
  <Override PartName="/ppt/tags/tag152.xml" ContentType="application/vnd.openxmlformats-officedocument.presentationml.tags+xml"/>
  <Override PartName="/ppt/slides/slide48.xml" ContentType="application/vnd.openxmlformats-officedocument.presentationml.slide+xml"/>
  <Override PartName="/ppt/tags/tag141.xml" ContentType="application/vnd.openxmlformats-officedocument.presentationml.tags+xml"/>
  <Override PartName="/ppt/notesSlides/notesSlide3.xml" ContentType="application/vnd.openxmlformats-officedocument.presentationml.notesSlide+xml"/>
  <Override PartName="/ppt/tags/tag228.xml" ContentType="application/vnd.openxmlformats-officedocument.presentationml.tags+xml"/>
  <Override PartName="/ppt/tags/tag239.xml" ContentType="application/vnd.openxmlformats-officedocument.presentationml.tags+xml"/>
  <Override PartName="/ppt/tags/tag275.xml" ContentType="application/vnd.openxmlformats-officedocument.presentationml.tags+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tags/tag130.xml" ContentType="application/vnd.openxmlformats-officedocument.presentationml.tags+xml"/>
  <Override PartName="/ppt/tags/tag217.xml" ContentType="application/vnd.openxmlformats-officedocument.presentationml.tags+xml"/>
  <Override PartName="/ppt/tags/tag264.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Override PartName="/ppt/tags/tag39.xml" ContentType="application/vnd.openxmlformats-officedocument.presentationml.tags+xml"/>
  <Override PartName="/ppt/tags/tag86.xml" ContentType="application/vnd.openxmlformats-officedocument.presentationml.tags+xml"/>
  <Override PartName="/ppt/tags/tag97.xml" ContentType="application/vnd.openxmlformats-officedocument.presentationml.tags+xml"/>
  <Override PartName="/ppt/tags/tag206.xml" ContentType="application/vnd.openxmlformats-officedocument.presentationml.tags+xml"/>
  <Override PartName="/ppt/tags/tag253.xml" ContentType="application/vnd.openxmlformats-officedocument.presentationml.tags+xml"/>
  <Override PartName="/ppt/slides/slide51.xml" ContentType="application/vnd.openxmlformats-officedocument.presentationml.slide+xml"/>
  <Override PartName="/ppt/slideLayouts/slideLayout14.xml" ContentType="application/vnd.openxmlformats-officedocument.presentationml.slideLayout+xml"/>
  <Override PartName="/ppt/tags/tag1.xml" ContentType="application/vnd.openxmlformats-officedocument.presentationml.tags+xml"/>
  <Override PartName="/ppt/tags/tag28.xml" ContentType="application/vnd.openxmlformats-officedocument.presentationml.tags+xml"/>
  <Override PartName="/ppt/tags/tag75.xml" ContentType="application/vnd.openxmlformats-officedocument.presentationml.tags+xml"/>
  <Override PartName="/ppt/tags/tag179.xml" ContentType="application/vnd.openxmlformats-officedocument.presentationml.tags+xml"/>
  <Override PartName="/ppt/tags/tag231.xml" ContentType="application/vnd.openxmlformats-officedocument.presentationml.tags+xml"/>
  <Override PartName="/ppt/tags/tag242.xml" ContentType="application/vnd.openxmlformats-officedocument.presentationml.tags+xml"/>
  <Override PartName="/ppt/slides/slide40.xml" ContentType="application/vnd.openxmlformats-officedocument.presentationml.slide+xml"/>
  <Override PartName="/ppt/tags/tag17.xml" ContentType="application/vnd.openxmlformats-officedocument.presentationml.tags+xml"/>
  <Override PartName="/ppt/tags/tag64.xml" ContentType="application/vnd.openxmlformats-officedocument.presentationml.tags+xml"/>
  <Override PartName="/ppt/tags/tag168.xml" ContentType="application/vnd.openxmlformats-officedocument.presentationml.tags+xml"/>
  <Override PartName="/ppt/tags/tag220.xml" ContentType="application/vnd.openxmlformats-officedocument.presentationml.tags+xml"/>
  <Override PartName="/ppt/tags/tag53.xml" ContentType="application/vnd.openxmlformats-officedocument.presentationml.tags+xml"/>
  <Override PartName="/ppt/tags/tag157.xml" ContentType="application/vnd.openxmlformats-officedocument.presentationml.tags+xml"/>
  <Override PartName="/ppt/notesSlides/notesSlide8.xml" ContentType="application/vnd.openxmlformats-officedocument.presentationml.notesSlide+xml"/>
  <Override PartName="/ppt/tags/tag31.xml" ContentType="application/vnd.openxmlformats-officedocument.presentationml.tags+xml"/>
  <Override PartName="/ppt/tags/tag42.xml" ContentType="application/vnd.openxmlformats-officedocument.presentationml.tags+xml"/>
  <Override PartName="/ppt/tags/tag135.xml" ContentType="application/vnd.openxmlformats-officedocument.presentationml.tags+xml"/>
  <Override PartName="/ppt/tags/tag146.xml" ContentType="application/vnd.openxmlformats-officedocument.presentationml.tags+xml"/>
  <Override PartName="/ppt/tags/tag182.xml" ContentType="application/vnd.openxmlformats-officedocument.presentationml.tags+xml"/>
  <Override PartName="/ppt/tags/tag193.xml" ContentType="application/vnd.openxmlformats-officedocument.presentationml.tags+xml"/>
  <Override PartName="/ppt/tags/tag20.xml" ContentType="application/vnd.openxmlformats-officedocument.presentationml.tags+xml"/>
  <Override PartName="/ppt/tags/tag124.xml" ContentType="application/vnd.openxmlformats-officedocument.presentationml.tags+xml"/>
  <Override PartName="/ppt/tags/tag171.xml" ContentType="application/vnd.openxmlformats-officedocument.presentationml.tags+xml"/>
  <Override PartName="/ppt/tags/tag269.xml" ContentType="application/vnd.openxmlformats-officedocument.presentationml.tags+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tags/tag6.xml" ContentType="application/vnd.openxmlformats-officedocument.presentationml.tags+xml"/>
  <Override PartName="/ppt/tags/tag113.xml" ContentType="application/vnd.openxmlformats-officedocument.presentationml.tags+xml"/>
  <Override PartName="/ppt/tags/tag160.xml" ContentType="application/vnd.openxmlformats-officedocument.presentationml.tags+xml"/>
  <Override PartName="/ppt/tags/tag247.xml" ContentType="application/vnd.openxmlformats-officedocument.presentationml.tags+xml"/>
  <Override PartName="/ppt/tags/tag258.xml" ContentType="application/vnd.openxmlformats-officedocument.presentationml.tags+xml"/>
  <Override PartName="/ppt/slideMasters/slideMaster1.xml" ContentType="application/vnd.openxmlformats-officedocument.presentationml.slideMaster+xml"/>
  <Override PartName="/ppt/slides/slide45.xml" ContentType="application/vnd.openxmlformats-officedocument.presentationml.slide+xml"/>
  <Override PartName="/ppt/theme/theme3.xml" ContentType="application/vnd.openxmlformats-officedocument.theme+xml"/>
  <Override PartName="/ppt/tags/tag102.xml" ContentType="application/vnd.openxmlformats-officedocument.presentationml.tags+xml"/>
  <Override PartName="/ppt/tags/tag236.xml" ContentType="application/vnd.openxmlformats-officedocument.presentationml.tags+xml"/>
  <Override PartName="/ppt/slides/slide34.xml" ContentType="application/vnd.openxmlformats-officedocument.presentationml.slide+xml"/>
  <Override PartName="/ppt/tags/tag58.xml" ContentType="application/vnd.openxmlformats-officedocument.presentationml.tags+xml"/>
  <Override PartName="/ppt/tags/tag69.xml" ContentType="application/vnd.openxmlformats-officedocument.presentationml.tags+xml"/>
  <Override PartName="/ppt/tags/tag225.xml" ContentType="application/vnd.openxmlformats-officedocument.presentationml.tags+xml"/>
  <Override PartName="/ppt/tags/tag272.xml" ContentType="application/vnd.openxmlformats-officedocument.presentationml.tags+xml"/>
  <Default Extension="rels" ContentType="application/vnd.openxmlformats-package.relationships+xml"/>
  <Override PartName="/ppt/slides/slide23.xml" ContentType="application/vnd.openxmlformats-officedocument.presentationml.slide+xml"/>
  <Override PartName="/ppt/tags/tag47.xml" ContentType="application/vnd.openxmlformats-officedocument.presentationml.tags+xml"/>
  <Override PartName="/ppt/tags/tag94.xml" ContentType="application/vnd.openxmlformats-officedocument.presentationml.tags+xml"/>
  <Override PartName="/ppt/tags/tag198.xml" ContentType="application/vnd.openxmlformats-officedocument.presentationml.tags+xml"/>
  <Override PartName="/ppt/tags/tag203.xml" ContentType="application/vnd.openxmlformats-officedocument.presentationml.tags+xml"/>
  <Override PartName="/ppt/tags/tag214.xml" ContentType="application/vnd.openxmlformats-officedocument.presentationml.tags+xml"/>
  <Override PartName="/ppt/tags/tag250.xml" ContentType="application/vnd.openxmlformats-officedocument.presentationml.tags+xml"/>
  <Override PartName="/ppt/tags/tag261.xml" ContentType="application/vnd.openxmlformats-officedocument.presentationml.tags+xml"/>
  <Override PartName="/ppt/slides/slide12.xml" ContentType="application/vnd.openxmlformats-officedocument.presentationml.slide+xml"/>
  <Override PartName="/ppt/slideLayouts/slideLayout11.xml" ContentType="application/vnd.openxmlformats-officedocument.presentationml.slideLayout+xml"/>
  <Override PartName="/ppt/tags/tag36.xml" ContentType="application/vnd.openxmlformats-officedocument.presentationml.tags+xml"/>
  <Override PartName="/ppt/tags/tag83.xml" ContentType="application/vnd.openxmlformats-officedocument.presentationml.tags+xml"/>
  <Override PartName="/ppt/tags/tag187.xml" ContentType="application/vnd.openxmlformats-officedocument.presentationml.tags+xml"/>
  <Override PartName="/ppt/tags/tag14.xml" ContentType="application/vnd.openxmlformats-officedocument.presentationml.tags+xml"/>
  <Override PartName="/ppt/tags/tag25.xml" ContentType="application/vnd.openxmlformats-officedocument.presentationml.tags+xml"/>
  <Override PartName="/ppt/tags/tag61.xml" ContentType="application/vnd.openxmlformats-officedocument.presentationml.tags+xml"/>
  <Override PartName="/ppt/tags/tag72.xml" ContentType="application/vnd.openxmlformats-officedocument.presentationml.tags+xml"/>
  <Override PartName="/ppt/tags/tag118.xml" ContentType="application/vnd.openxmlformats-officedocument.presentationml.tags+xml"/>
  <Override PartName="/ppt/tags/tag129.xml" ContentType="application/vnd.openxmlformats-officedocument.presentationml.tags+xml"/>
  <Override PartName="/ppt/tags/tag165.xml" ContentType="application/vnd.openxmlformats-officedocument.presentationml.tags+xml"/>
  <Override PartName="/ppt/tags/tag176.xml" ContentType="application/vnd.openxmlformats-officedocument.presentationml.tags+xml"/>
  <Override PartName="/ppt/tags/tag50.xml" ContentType="application/vnd.openxmlformats-officedocument.presentationml.tags+xml"/>
  <Override PartName="/ppt/tags/tag107.xml" ContentType="application/vnd.openxmlformats-officedocument.presentationml.tags+xml"/>
  <Override PartName="/ppt/tags/tag154.xml" ContentType="application/vnd.openxmlformats-officedocument.presentationml.tags+xml"/>
  <Override PartName="/ppt/tags/tag143.xml" ContentType="application/vnd.openxmlformats-officedocument.presentationml.tags+xml"/>
  <Override PartName="/ppt/tags/tag190.xml" ContentType="application/vnd.openxmlformats-officedocument.presentationml.tags+xml"/>
  <Override PartName="/ppt/notesSlides/notesSlide5.xml" ContentType="application/vnd.openxmlformats-officedocument.presentationml.notesSlide+xml"/>
  <Override PartName="/ppt/tags/tag277.xml" ContentType="application/vnd.openxmlformats-officedocument.presentationml.tags+xml"/>
  <Override PartName="/ppt/slides/slide28.xml" ContentType="application/vnd.openxmlformats-officedocument.presentationml.slide+xml"/>
  <Override PartName="/ppt/slides/slide39.xml" ContentType="application/vnd.openxmlformats-officedocument.presentationml.slide+xml"/>
  <Override PartName="/ppt/tags/tag132.xml" ContentType="application/vnd.openxmlformats-officedocument.presentationml.tags+xml"/>
  <Override PartName="/ppt/tags/tag219.xml" ContentType="application/vnd.openxmlformats-officedocument.presentationml.tags+xml"/>
  <Override PartName="/ppt/tags/tag266.xml" ContentType="application/vnd.openxmlformats-officedocument.presentationml.tags+xml"/>
  <Override PartName="/ppt/slides/slide3.xml" ContentType="application/vnd.openxmlformats-officedocument.presentationml.slide+xml"/>
  <Override PartName="/ppt/slides/slide17.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tags/tag99.xml" ContentType="application/vnd.openxmlformats-officedocument.presentationml.tags+xml"/>
  <Override PartName="/ppt/tags/tag110.xml" ContentType="application/vnd.openxmlformats-officedocument.presentationml.tags+xml"/>
  <Override PartName="/ppt/tags/tag121.xml" ContentType="application/vnd.openxmlformats-officedocument.presentationml.tags+xml"/>
  <Override PartName="/ppt/tags/tag208.xml" ContentType="application/vnd.openxmlformats-officedocument.presentationml.tags+xml"/>
  <Override PartName="/ppt/tags/tag255.xml" ContentType="application/vnd.openxmlformats-officedocument.presentationml.tags+xml"/>
  <Override PartName="/ppt/slides/slide53.xml" ContentType="application/vnd.openxmlformats-officedocument.presentationml.slide+xml"/>
  <Override PartName="/ppt/slideLayouts/slideLayout16.xml" ContentType="application/vnd.openxmlformats-officedocument.presentationml.slideLayout+xml"/>
  <Override PartName="/ppt/tags/tag3.xml" ContentType="application/vnd.openxmlformats-officedocument.presentationml.tags+xml"/>
  <Default Extension="jpeg" ContentType="image/jpeg"/>
  <Override PartName="/ppt/tags/tag77.xml" ContentType="application/vnd.openxmlformats-officedocument.presentationml.tags+xml"/>
  <Override PartName="/ppt/tags/tag88.xml" ContentType="application/vnd.openxmlformats-officedocument.presentationml.tags+xml"/>
  <Override PartName="/ppt/tags/tag233.xml" ContentType="application/vnd.openxmlformats-officedocument.presentationml.tags+xml"/>
  <Override PartName="/ppt/tags/tag244.xml" ContentType="application/vnd.openxmlformats-officedocument.presentationml.tags+xml"/>
  <Override PartName="/ppt/tags/tag280.xml" ContentType="application/vnd.openxmlformats-officedocument.presentationml.tags+xml"/>
  <Override PartName="/ppt/slides/slide31.xml" ContentType="application/vnd.openxmlformats-officedocument.presentationml.slide+xml"/>
  <Override PartName="/ppt/slides/slide42.xml" ContentType="application/vnd.openxmlformats-officedocument.presentationml.slide+xml"/>
  <Override PartName="/ppt/tags/tag19.xml" ContentType="application/vnd.openxmlformats-officedocument.presentationml.tags+xml"/>
  <Override PartName="/ppt/tags/tag66.xml" ContentType="application/vnd.openxmlformats-officedocument.presentationml.tags+xml"/>
  <Override PartName="/ppt/tags/tag222.xml" ContentType="application/vnd.openxmlformats-officedocument.presentationml.tags+xml"/>
  <Override PartName="/ppt/slides/slide20.xml" ContentType="application/vnd.openxmlformats-officedocument.presentationml.slide+xml"/>
  <Override PartName="/ppt/tags/tag55.xml" ContentType="application/vnd.openxmlformats-officedocument.presentationml.tags+xml"/>
  <Override PartName="/ppt/tags/tag159.xml" ContentType="application/vnd.openxmlformats-officedocument.presentationml.tags+xml"/>
  <Override PartName="/ppt/tags/tag211.xml" ContentType="application/vnd.openxmlformats-officedocument.presentationml.tags+xml"/>
  <Override PartName="/ppt/tags/tag33.xml" ContentType="application/vnd.openxmlformats-officedocument.presentationml.tags+xml"/>
  <Override PartName="/ppt/tags/tag44.xml" ContentType="application/vnd.openxmlformats-officedocument.presentationml.tags+xml"/>
  <Override PartName="/ppt/tags/tag80.xml" ContentType="application/vnd.openxmlformats-officedocument.presentationml.tags+xml"/>
  <Override PartName="/ppt/tags/tag91.xml" ContentType="application/vnd.openxmlformats-officedocument.presentationml.tags+xml"/>
  <Override PartName="/ppt/tags/tag137.xml" ContentType="application/vnd.openxmlformats-officedocument.presentationml.tags+xml"/>
  <Override PartName="/ppt/tags/tag148.xml" ContentType="application/vnd.openxmlformats-officedocument.presentationml.tags+xml"/>
  <Override PartName="/ppt/tags/tag184.xml" ContentType="application/vnd.openxmlformats-officedocument.presentationml.tags+xml"/>
  <Override PartName="/ppt/tags/tag195.xml" ContentType="application/vnd.openxmlformats-officedocument.presentationml.tags+xml"/>
  <Override PartName="/ppt/tags/tag200.xml" ContentType="application/vnd.openxmlformats-officedocument.presentationml.tags+xml"/>
  <Override PartName="/ppt/tags/tag22.xml" ContentType="application/vnd.openxmlformats-officedocument.presentationml.tags+xml"/>
  <Override PartName="/ppt/tags/tag126.xml" ContentType="application/vnd.openxmlformats-officedocument.presentationml.tags+xml"/>
  <Override PartName="/ppt/tags/tag173.xml" ContentType="application/vnd.openxmlformats-officedocument.presentationml.tags+xml"/>
  <Override PartName="/ppt/slides/slide8.xml" ContentType="application/vnd.openxmlformats-officedocument.presentationml.slide+xml"/>
  <Override PartName="/ppt/tags/tag11.xml" ContentType="application/vnd.openxmlformats-officedocument.presentationml.tags+xml"/>
  <Override PartName="/ppt/tags/tag115.xml" ContentType="application/vnd.openxmlformats-officedocument.presentationml.tags+xml"/>
  <Override PartName="/ppt/tags/tag162.xml" ContentType="application/vnd.openxmlformats-officedocument.presentationml.tags+xml"/>
  <Override PartName="/ppt/tags/tag249.xml" ContentType="application/vnd.openxmlformats-officedocument.presentationml.tags+xml"/>
  <Override PartName="/ppt/slides/slide58.xml" ContentType="application/vnd.openxmlformats-officedocument.presentationml.slide+xml"/>
  <Override PartName="/ppt/notesSlides/notesSlide2.xml" ContentType="application/vnd.openxmlformats-officedocument.presentationml.notesSlide+xml"/>
  <Override PartName="/ppt/tags/tag104.xml" ContentType="application/vnd.openxmlformats-officedocument.presentationml.tags+xml"/>
  <Override PartName="/ppt/tags/tag151.xml" ContentType="application/vnd.openxmlformats-officedocument.presentationml.tags+xml"/>
  <Override PartName="/ppt/slides/slide36.xml" ContentType="application/vnd.openxmlformats-officedocument.presentationml.slide+xml"/>
  <Override PartName="/ppt/tags/tag227.xml" ContentType="application/vnd.openxmlformats-officedocument.presentationml.tags+xml"/>
  <Override PartName="/ppt/tags/tag274.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71"/>
  </p:notesMasterIdLst>
  <p:sldIdLst>
    <p:sldId id="257" r:id="rId3"/>
    <p:sldId id="274" r:id="rId4"/>
    <p:sldId id="258" r:id="rId5"/>
    <p:sldId id="259" r:id="rId6"/>
    <p:sldId id="288" r:id="rId7"/>
    <p:sldId id="286" r:id="rId8"/>
    <p:sldId id="292" r:id="rId9"/>
    <p:sldId id="287" r:id="rId10"/>
    <p:sldId id="293" r:id="rId11"/>
    <p:sldId id="367" r:id="rId12"/>
    <p:sldId id="289" r:id="rId13"/>
    <p:sldId id="295" r:id="rId14"/>
    <p:sldId id="296" r:id="rId15"/>
    <p:sldId id="297" r:id="rId16"/>
    <p:sldId id="299" r:id="rId17"/>
    <p:sldId id="300" r:id="rId18"/>
    <p:sldId id="301" r:id="rId19"/>
    <p:sldId id="290" r:id="rId20"/>
    <p:sldId id="303" r:id="rId21"/>
    <p:sldId id="304" r:id="rId22"/>
    <p:sldId id="305" r:id="rId23"/>
    <p:sldId id="306" r:id="rId24"/>
    <p:sldId id="307" r:id="rId25"/>
    <p:sldId id="291" r:id="rId26"/>
    <p:sldId id="308" r:id="rId27"/>
    <p:sldId id="309" r:id="rId28"/>
    <p:sldId id="260" r:id="rId29"/>
    <p:sldId id="364" r:id="rId30"/>
    <p:sldId id="365" r:id="rId31"/>
    <p:sldId id="267" r:id="rId32"/>
    <p:sldId id="315" r:id="rId33"/>
    <p:sldId id="321" r:id="rId34"/>
    <p:sldId id="319" r:id="rId35"/>
    <p:sldId id="322" r:id="rId36"/>
    <p:sldId id="323" r:id="rId37"/>
    <p:sldId id="320" r:id="rId38"/>
    <p:sldId id="316" r:id="rId39"/>
    <p:sldId id="325" r:id="rId40"/>
    <p:sldId id="324" r:id="rId41"/>
    <p:sldId id="368" r:id="rId42"/>
    <p:sldId id="326" r:id="rId43"/>
    <p:sldId id="268" r:id="rId44"/>
    <p:sldId id="330" r:id="rId45"/>
    <p:sldId id="331" r:id="rId46"/>
    <p:sldId id="332" r:id="rId47"/>
    <p:sldId id="340" r:id="rId48"/>
    <p:sldId id="333" r:id="rId49"/>
    <p:sldId id="269" r:id="rId50"/>
    <p:sldId id="341" r:id="rId51"/>
    <p:sldId id="358" r:id="rId52"/>
    <p:sldId id="359" r:id="rId53"/>
    <p:sldId id="360" r:id="rId54"/>
    <p:sldId id="363" r:id="rId55"/>
    <p:sldId id="361" r:id="rId56"/>
    <p:sldId id="362" r:id="rId57"/>
    <p:sldId id="342" r:id="rId58"/>
    <p:sldId id="271" r:id="rId59"/>
    <p:sldId id="366" r:id="rId60"/>
    <p:sldId id="261" r:id="rId61"/>
    <p:sldId id="264" r:id="rId62"/>
    <p:sldId id="351" r:id="rId63"/>
    <p:sldId id="356" r:id="rId64"/>
    <p:sldId id="352" r:id="rId65"/>
    <p:sldId id="353" r:id="rId66"/>
    <p:sldId id="354" r:id="rId67"/>
    <p:sldId id="355" r:id="rId68"/>
    <p:sldId id="275" r:id="rId69"/>
    <p:sldId id="369" r:id="rId70"/>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987" autoAdjust="0"/>
    <p:restoredTop sz="94660"/>
  </p:normalViewPr>
  <p:slideViewPr>
    <p:cSldViewPr snapToGrid="0">
      <p:cViewPr>
        <p:scale>
          <a:sx n="100" d="100"/>
          <a:sy n="100" d="100"/>
        </p:scale>
        <p:origin x="-726" y="-61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 Type="http://schemas.openxmlformats.org/officeDocument/2006/relationships/slide" Target="slides/slide5.xml"/><Relationship Id="rId71"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pPr/>
              <a:t>2017/3/30</a:t>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480660" y="1279525"/>
            <a:ext cx="6141156" cy="3454400"/>
          </a:xfrm>
        </p:spPr>
      </p:sp>
      <p:sp>
        <p:nvSpPr>
          <p:cNvPr id="6147" name="备注占位符 2"/>
          <p:cNvSpPr>
            <a:spLocks noGrp="1"/>
          </p:cNvSpPr>
          <p:nvPr>
            <p:ph type="body" idx="1"/>
          </p:nvPr>
        </p:nvSpPr>
        <p:spPr>
          <a:noFill/>
        </p:spPr>
        <p:txBody>
          <a:bodyPr anchor="t"/>
          <a:lstStyle/>
          <a:p>
            <a:pPr eaLnBrk="1" hangingPunct="1">
              <a:spcBef>
                <a:spcPct val="0"/>
              </a:spcBef>
            </a:pPr>
            <a:r>
              <a:rPr lang="zh-CN" altLang="en-US" smtClean="0">
                <a:ea typeface="宋体" panose="02010600030101010101" pitchFamily="2" charset="-122"/>
              </a:rPr>
              <a:t>模板来自于 </a:t>
            </a:r>
            <a:r>
              <a:rPr lang="en-US" altLang="zh-CN" smtClean="0">
                <a:ea typeface="宋体" panose="02010600030101010101" pitchFamily="2" charset="-122"/>
              </a:rPr>
              <a:t>http://docer.wps.cn</a:t>
            </a:r>
            <a:endParaRPr lang="zh-CN" altLang="en-US" smtClean="0">
              <a:ea typeface="宋体" panose="02010600030101010101" pitchFamily="2" charset="-122"/>
            </a:endParaRPr>
          </a:p>
        </p:txBody>
      </p:sp>
      <p:sp>
        <p:nvSpPr>
          <p:cNvPr id="6148" name="灯片编号占位符 3"/>
          <p:cNvSpPr txBox="1">
            <a:spLocks noGrp="1" noChangeArrowheads="1"/>
          </p:cNvSpPr>
          <p:nvPr/>
        </p:nvSpPr>
        <p:spPr bwMode="auto">
          <a:xfrm>
            <a:off x="4023992" y="9721107"/>
            <a:ext cx="3078427" cy="513507"/>
          </a:xfrm>
          <a:prstGeom prst="rect">
            <a:avLst/>
          </a:prstGeom>
          <a:noFill/>
          <a:ln w="9525">
            <a:noFill/>
            <a:miter lim="800000"/>
          </a:ln>
        </p:spPr>
        <p:txBody>
          <a:bodyPr lIns="99075" tIns="49538" rIns="99075" bIns="49538" anchor="b"/>
          <a:lstStyle/>
          <a:p>
            <a:pPr algn="r" eaLnBrk="1" hangingPunct="1">
              <a:buFont typeface="Arial" panose="020B0604020202020204" pitchFamily="34" charset="0"/>
              <a:buNone/>
            </a:pPr>
            <a:fld id="{AAED0429-06AC-4391-B511-C2D4F3A38C12}" type="slidenum">
              <a:rPr lang="zh-CN" altLang="en-US" sz="1300">
                <a:latin typeface="Calibri" panose="020F0502020204030204" charset="0"/>
                <a:ea typeface="宋体" panose="02010600030101010101" pitchFamily="2" charset="-122"/>
              </a:rPr>
              <a:pPr algn="r" eaLnBrk="1" hangingPunct="1">
                <a:buFont typeface="Arial" panose="020B0604020202020204" pitchFamily="34" charset="0"/>
                <a:buNone/>
              </a:pPr>
              <a:t>3</a:t>
            </a:fld>
            <a:endParaRPr lang="zh-CN" altLang="en-US" sz="1300" dirty="0">
              <a:latin typeface="Calibri" panose="020F0502020204030204"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slideMaster" Target="../slideMasters/slideMaster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754063" y="261258"/>
            <a:ext cx="8415337" cy="855290"/>
          </a:xfrm>
          <a:prstGeom prst="rect">
            <a:avLst/>
          </a:prstGeom>
        </p:spPr>
        <p:txBody>
          <a:bodyPr/>
          <a:lstStyle/>
          <a:p>
            <a:r>
              <a:rPr lang="zh-CN" altLang="en-US" smtClean="0"/>
              <a:t>单击此处编辑母版标题样式</a:t>
            </a:r>
            <a:endParaRPr lang="zh-CN" altLang="en-US"/>
          </a:p>
        </p:txBody>
      </p:sp>
      <p:grpSp>
        <p:nvGrpSpPr>
          <p:cNvPr id="17" name="组合 16"/>
          <p:cNvGrpSpPr/>
          <p:nvPr userDrawn="1"/>
        </p:nvGrpSpPr>
        <p:grpSpPr>
          <a:xfrm>
            <a:off x="523836" y="1214422"/>
            <a:ext cx="3357586" cy="755143"/>
            <a:chOff x="523836" y="1428736"/>
            <a:chExt cx="3357586" cy="755143"/>
          </a:xfrm>
        </p:grpSpPr>
        <p:sp>
          <p:nvSpPr>
            <p:cNvPr id="18" name="任意多边形 17"/>
            <p:cNvSpPr/>
            <p:nvPr/>
          </p:nvSpPr>
          <p:spPr>
            <a:xfrm>
              <a:off x="523836" y="1428736"/>
              <a:ext cx="714380" cy="642942"/>
            </a:xfrm>
            <a:custGeom>
              <a:avLst/>
              <a:gdLst>
                <a:gd name="connsiteX0" fmla="*/ 0 w 864000"/>
                <a:gd name="connsiteY0" fmla="*/ 0 h 864000"/>
                <a:gd name="connsiteX1" fmla="*/ 864000 w 864000"/>
                <a:gd name="connsiteY1" fmla="*/ 0 h 864000"/>
                <a:gd name="connsiteX2" fmla="*/ 864000 w 864000"/>
                <a:gd name="connsiteY2" fmla="*/ 261737 h 864000"/>
                <a:gd name="connsiteX3" fmla="*/ 751007 w 864000"/>
                <a:gd name="connsiteY3" fmla="*/ 261737 h 864000"/>
                <a:gd name="connsiteX4" fmla="*/ 751007 w 864000"/>
                <a:gd name="connsiteY4" fmla="*/ 112993 h 864000"/>
                <a:gd name="connsiteX5" fmla="*/ 112993 w 864000"/>
                <a:gd name="connsiteY5" fmla="*/ 112993 h 864000"/>
                <a:gd name="connsiteX6" fmla="*/ 112993 w 864000"/>
                <a:gd name="connsiteY6" fmla="*/ 751007 h 864000"/>
                <a:gd name="connsiteX7" fmla="*/ 246681 w 864000"/>
                <a:gd name="connsiteY7" fmla="*/ 751007 h 864000"/>
                <a:gd name="connsiteX8" fmla="*/ 246681 w 864000"/>
                <a:gd name="connsiteY8" fmla="*/ 864000 h 864000"/>
                <a:gd name="connsiteX9" fmla="*/ 0 w 864000"/>
                <a:gd name="connsiteY9" fmla="*/ 86400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4000" h="864000">
                  <a:moveTo>
                    <a:pt x="0" y="0"/>
                  </a:moveTo>
                  <a:lnTo>
                    <a:pt x="864000" y="0"/>
                  </a:lnTo>
                  <a:lnTo>
                    <a:pt x="864000" y="261737"/>
                  </a:lnTo>
                  <a:lnTo>
                    <a:pt x="751007" y="261737"/>
                  </a:lnTo>
                  <a:lnTo>
                    <a:pt x="751007" y="112993"/>
                  </a:lnTo>
                  <a:lnTo>
                    <a:pt x="112993" y="112993"/>
                  </a:lnTo>
                  <a:lnTo>
                    <a:pt x="112993" y="751007"/>
                  </a:lnTo>
                  <a:lnTo>
                    <a:pt x="246681" y="751007"/>
                  </a:lnTo>
                  <a:lnTo>
                    <a:pt x="246681" y="864000"/>
                  </a:lnTo>
                  <a:lnTo>
                    <a:pt x="0" y="86400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6"/>
            <p:cNvSpPr txBox="1"/>
            <p:nvPr/>
          </p:nvSpPr>
          <p:spPr>
            <a:xfrm>
              <a:off x="809588" y="1617459"/>
              <a:ext cx="3071834"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endParaRPr lang="zh-CN" altLang="zh-CN" sz="2400" dirty="0">
                <a:solidFill>
                  <a:schemeClr val="tx1"/>
                </a:solidFill>
              </a:endParaRPr>
            </a:p>
          </p:txBody>
        </p:sp>
      </p:grpSp>
      <p:sp>
        <p:nvSpPr>
          <p:cNvPr id="7" name="矩形 6"/>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11"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grpSp>
        <p:nvGrpSpPr>
          <p:cNvPr id="3" name="组合 2"/>
          <p:cNvGrpSpPr/>
          <p:nvPr userDrawn="1"/>
        </p:nvGrpSpPr>
        <p:grpSpPr>
          <a:xfrm>
            <a:off x="403225" y="1775460"/>
            <a:ext cx="11303635" cy="4248150"/>
            <a:chOff x="1211" y="3019"/>
            <a:chExt cx="17232" cy="6690"/>
          </a:xfrm>
        </p:grpSpPr>
        <p:sp>
          <p:nvSpPr>
            <p:cNvPr id="10" name="矩形 9"/>
            <p:cNvSpPr/>
            <p:nvPr userDrawn="1"/>
          </p:nvSpPr>
          <p:spPr>
            <a:xfrm>
              <a:off x="1211" y="3245"/>
              <a:ext cx="17232" cy="63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2000" rIns="216000" rtlCol="0" anchor="ctr"/>
            <a:lstStyle/>
            <a:p>
              <a:pPr algn="just">
                <a:lnSpc>
                  <a:spcPct val="200000"/>
                </a:lnSpc>
              </a:pPr>
              <a:endParaRPr lang="zh-CN" altLang="en-US" sz="1400">
                <a:solidFill>
                  <a:schemeClr val="tx1">
                    <a:lumMod val="75000"/>
                    <a:lumOff val="25000"/>
                  </a:schemeClr>
                </a:solidFill>
                <a:latin typeface="微软雅黑" panose="020B0503020204020204" charset="-122"/>
                <a:ea typeface="微软雅黑" panose="020B0503020204020204" charset="-122"/>
              </a:endParaRPr>
            </a:p>
          </p:txBody>
        </p:sp>
        <p:sp>
          <p:nvSpPr>
            <p:cNvPr id="11" name="矩形 10"/>
            <p:cNvSpPr/>
            <p:nvPr userDrawn="1"/>
          </p:nvSpPr>
          <p:spPr>
            <a:xfrm>
              <a:off x="1551" y="3019"/>
              <a:ext cx="1020" cy="6691"/>
            </a:xfrm>
            <a:prstGeom prst="rect">
              <a:avLst/>
            </a:prstGeom>
            <a:solidFill>
              <a:schemeClr val="accent3">
                <a:lumMod val="75000"/>
              </a:schemeClr>
            </a:solidFill>
            <a:effectLst>
              <a:outerShdw blurRad="50800" dist="38100" dir="2700000" algn="tl" rotWithShape="0">
                <a:prstClr val="black">
                  <a:alpha val="40000"/>
                </a:prstClr>
              </a:outerShdw>
            </a:effectLst>
          </p:spPr>
          <p:txBody>
            <a:bodyPr tIns="0" bIns="0"/>
            <a:lstStyle/>
            <a:p>
              <a:pPr lvl="0">
                <a:lnSpc>
                  <a:spcPct val="134000"/>
                </a:lnSpc>
                <a:spcBef>
                  <a:spcPts val="600"/>
                </a:spcBef>
              </a:pPr>
              <a:endParaRPr lang="zh-CN" altLang="en-US" sz="1600">
                <a:solidFill>
                  <a:schemeClr val="bg1"/>
                </a:solidFill>
                <a:latin typeface="微软雅黑" panose="020B0503020204020204" charset="-122"/>
                <a:ea typeface="微软雅黑" panose="020B0503020204020204" charset="-122"/>
              </a:endParaRPr>
            </a:p>
          </p:txBody>
        </p:sp>
      </p:grpSp>
      <p:sp>
        <p:nvSpPr>
          <p:cNvPr id="2" name="标题 1"/>
          <p:cNvSpPr>
            <a:spLocks noGrp="1"/>
          </p:cNvSpPr>
          <p:nvPr>
            <p:ph type="title" hasCustomPrompt="1"/>
          </p:nvPr>
        </p:nvSpPr>
        <p:spPr>
          <a:xfrm>
            <a:off x="754063" y="261258"/>
            <a:ext cx="8415337" cy="855290"/>
          </a:xfrm>
          <a:prstGeom prst="rect">
            <a:avLst/>
          </a:prstGeom>
        </p:spPr>
        <p:txBody>
          <a:bodyPr/>
          <a:lstStyle>
            <a:lvl1pPr>
              <a:defRPr>
                <a:solidFill>
                  <a:srgbClr val="00B0F0"/>
                </a:solidFill>
              </a:defRPr>
            </a:lvl1pPr>
          </a:lstStyle>
          <a:p>
            <a:r>
              <a:rPr lang="zh-CN" altLang="en-US" smtClean="0"/>
              <a:t>单击此处编辑母版标题样式1</a:t>
            </a:r>
            <a:endParaRPr lang="zh-CN" altLang="en-US"/>
          </a:p>
        </p:txBody>
      </p:sp>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nvGrpSpPr>
          <p:cNvPr id="12" name="组合 11"/>
          <p:cNvGrpSpPr/>
          <p:nvPr userDrawn="1"/>
        </p:nvGrpSpPr>
        <p:grpSpPr>
          <a:xfrm>
            <a:off x="0" y="665480"/>
            <a:ext cx="12192000" cy="964565"/>
            <a:chOff x="0" y="-127"/>
            <a:chExt cx="19200" cy="1519"/>
          </a:xfrm>
        </p:grpSpPr>
        <p:cxnSp>
          <p:nvCxnSpPr>
            <p:cNvPr id="13" name="直接连接符 12"/>
            <p:cNvCxnSpPr/>
            <p:nvPr userDrawn="1"/>
          </p:nvCxnSpPr>
          <p:spPr>
            <a:xfrm>
              <a:off x="0" y="1318"/>
              <a:ext cx="192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32" name="矩形 31"/>
            <p:cNvSpPr/>
            <p:nvPr userDrawn="1"/>
          </p:nvSpPr>
          <p:spPr>
            <a:xfrm>
              <a:off x="0" y="434"/>
              <a:ext cx="16437" cy="3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1" name="矩形 20"/>
            <p:cNvSpPr/>
            <p:nvPr userDrawn="1"/>
          </p:nvSpPr>
          <p:spPr>
            <a:xfrm>
              <a:off x="18066" y="434"/>
              <a:ext cx="1134" cy="3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矩形 15"/>
            <p:cNvSpPr/>
            <p:nvPr userDrawn="1"/>
          </p:nvSpPr>
          <p:spPr>
            <a:xfrm>
              <a:off x="16230" y="-127"/>
              <a:ext cx="2022" cy="1519"/>
            </a:xfrm>
            <a:prstGeom prst="rect">
              <a:avLst/>
            </a:prstGeom>
            <a:solidFill>
              <a:schemeClr val="bg2">
                <a:lumMod val="90000"/>
                <a:alpha val="85000"/>
              </a:scheme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endPar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endParaRPr>
            </a:p>
          </p:txBody>
        </p:sp>
      </p:gr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1_图片与标题">
    <p:spTree>
      <p:nvGrpSpPr>
        <p:cNvPr id="1" name=""/>
        <p:cNvGrpSpPr/>
        <p:nvPr/>
      </p:nvGrpSpPr>
      <p:grpSpPr>
        <a:xfrm>
          <a:off x="0" y="0"/>
          <a:ext cx="0" cy="0"/>
          <a:chOff x="0" y="0"/>
          <a:chExt cx="0" cy="0"/>
        </a:xfrm>
      </p:grpSpPr>
      <p:sp>
        <p:nvSpPr>
          <p:cNvPr id="8" name="矩形 7"/>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754063" y="261258"/>
            <a:ext cx="8415337" cy="855290"/>
          </a:xfrm>
          <a:prstGeom prst="rect">
            <a:avLst/>
          </a:prstGeom>
        </p:spPr>
        <p:txBody>
          <a:bodyPr/>
          <a:lstStyle>
            <a:lvl1pPr>
              <a:defRPr>
                <a:solidFill>
                  <a:srgbClr val="00B0F0"/>
                </a:solidFill>
              </a:defRPr>
            </a:lvl1pPr>
          </a:lstStyle>
          <a:p>
            <a:r>
              <a:rPr lang="zh-CN" altLang="en-US" smtClean="0"/>
              <a:t>单击此处编辑母版标题样式</a:t>
            </a:r>
            <a:endParaRPr lang="zh-CN" altLang="en-US"/>
          </a:p>
        </p:txBody>
      </p:sp>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grpSp>
        <p:nvGrpSpPr>
          <p:cNvPr id="3" name="组合 2"/>
          <p:cNvGrpSpPr/>
          <p:nvPr userDrawn="1"/>
        </p:nvGrpSpPr>
        <p:grpSpPr>
          <a:xfrm>
            <a:off x="403225" y="1775460"/>
            <a:ext cx="11303635" cy="4248150"/>
            <a:chOff x="1211" y="3019"/>
            <a:chExt cx="17232" cy="6690"/>
          </a:xfrm>
        </p:grpSpPr>
        <p:sp>
          <p:nvSpPr>
            <p:cNvPr id="10" name="矩形 9"/>
            <p:cNvSpPr/>
            <p:nvPr userDrawn="1"/>
          </p:nvSpPr>
          <p:spPr>
            <a:xfrm>
              <a:off x="1211" y="3245"/>
              <a:ext cx="17232" cy="63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2000" rIns="216000" rtlCol="0" anchor="ctr"/>
            <a:lstStyle/>
            <a:p>
              <a:pPr algn="just">
                <a:lnSpc>
                  <a:spcPct val="200000"/>
                </a:lnSpc>
              </a:pPr>
              <a:endParaRPr lang="zh-CN" altLang="en-US" sz="1400">
                <a:solidFill>
                  <a:schemeClr val="tx1">
                    <a:lumMod val="75000"/>
                    <a:lumOff val="25000"/>
                  </a:schemeClr>
                </a:solidFill>
                <a:latin typeface="微软雅黑" panose="020B0503020204020204" charset="-122"/>
                <a:ea typeface="微软雅黑" panose="020B0503020204020204" charset="-122"/>
              </a:endParaRPr>
            </a:p>
          </p:txBody>
        </p:sp>
        <p:sp>
          <p:nvSpPr>
            <p:cNvPr id="11" name="矩形 10"/>
            <p:cNvSpPr/>
            <p:nvPr userDrawn="1"/>
          </p:nvSpPr>
          <p:spPr>
            <a:xfrm>
              <a:off x="1551" y="3019"/>
              <a:ext cx="1020" cy="6691"/>
            </a:xfrm>
            <a:prstGeom prst="rect">
              <a:avLst/>
            </a:prstGeom>
            <a:solidFill>
              <a:schemeClr val="accent3">
                <a:lumMod val="75000"/>
              </a:schemeClr>
            </a:solidFill>
            <a:effectLst>
              <a:outerShdw blurRad="50800" dist="38100" dir="2700000" algn="tl" rotWithShape="0">
                <a:prstClr val="black">
                  <a:alpha val="40000"/>
                </a:prstClr>
              </a:outerShdw>
            </a:effectLst>
          </p:spPr>
          <p:txBody>
            <a:bodyPr tIns="0" bIns="0"/>
            <a:lstStyle/>
            <a:p>
              <a:pPr lvl="0">
                <a:lnSpc>
                  <a:spcPct val="134000"/>
                </a:lnSpc>
                <a:spcBef>
                  <a:spcPts val="600"/>
                </a:spcBef>
              </a:pPr>
              <a:endParaRPr lang="zh-CN" altLang="en-US" sz="1600">
                <a:solidFill>
                  <a:schemeClr val="bg1"/>
                </a:solidFill>
                <a:latin typeface="微软雅黑" panose="020B0503020204020204" charset="-122"/>
                <a:ea typeface="微软雅黑" panose="020B0503020204020204" charset="-122"/>
              </a:endParaRPr>
            </a:p>
          </p:txBody>
        </p:sp>
      </p:grpSp>
      <p:sp>
        <p:nvSpPr>
          <p:cNvPr id="2" name="标题 1"/>
          <p:cNvSpPr>
            <a:spLocks noGrp="1"/>
          </p:cNvSpPr>
          <p:nvPr>
            <p:ph type="title" hasCustomPrompt="1"/>
          </p:nvPr>
        </p:nvSpPr>
        <p:spPr>
          <a:xfrm>
            <a:off x="754063" y="261258"/>
            <a:ext cx="8415337" cy="855290"/>
          </a:xfrm>
          <a:prstGeom prst="rect">
            <a:avLst/>
          </a:prstGeom>
        </p:spPr>
        <p:txBody>
          <a:bodyPr/>
          <a:lstStyle>
            <a:lvl1pPr>
              <a:defRPr>
                <a:solidFill>
                  <a:srgbClr val="00B0F0"/>
                </a:solidFill>
              </a:defRPr>
            </a:lvl1pPr>
          </a:lstStyle>
          <a:p>
            <a:r>
              <a:rPr lang="zh-CN" altLang="en-US" smtClean="0"/>
              <a:t>单击此处编辑母版标题样式1</a:t>
            </a:r>
            <a:endParaRPr lang="zh-CN" altLang="en-US"/>
          </a:p>
        </p:txBody>
      </p:sp>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nvGrpSpPr>
          <p:cNvPr id="12" name="组合 11"/>
          <p:cNvGrpSpPr/>
          <p:nvPr userDrawn="1"/>
        </p:nvGrpSpPr>
        <p:grpSpPr>
          <a:xfrm>
            <a:off x="0" y="665480"/>
            <a:ext cx="12192000" cy="964565"/>
            <a:chOff x="0" y="-127"/>
            <a:chExt cx="19200" cy="1519"/>
          </a:xfrm>
        </p:grpSpPr>
        <p:cxnSp>
          <p:nvCxnSpPr>
            <p:cNvPr id="13" name="直接连接符 12"/>
            <p:cNvCxnSpPr/>
            <p:nvPr userDrawn="1"/>
          </p:nvCxnSpPr>
          <p:spPr>
            <a:xfrm>
              <a:off x="0" y="1318"/>
              <a:ext cx="192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32" name="矩形 31"/>
            <p:cNvSpPr/>
            <p:nvPr userDrawn="1"/>
          </p:nvSpPr>
          <p:spPr>
            <a:xfrm>
              <a:off x="0" y="434"/>
              <a:ext cx="16437" cy="3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1" name="矩形 20"/>
            <p:cNvSpPr/>
            <p:nvPr userDrawn="1"/>
          </p:nvSpPr>
          <p:spPr>
            <a:xfrm>
              <a:off x="18066" y="434"/>
              <a:ext cx="1134" cy="3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矩形 15"/>
            <p:cNvSpPr/>
            <p:nvPr userDrawn="1"/>
          </p:nvSpPr>
          <p:spPr>
            <a:xfrm>
              <a:off x="16230" y="-127"/>
              <a:ext cx="2022" cy="1519"/>
            </a:xfrm>
            <a:prstGeom prst="rect">
              <a:avLst/>
            </a:prstGeom>
            <a:solidFill>
              <a:schemeClr val="bg2">
                <a:lumMod val="90000"/>
                <a:alpha val="85000"/>
              </a:scheme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endPar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endParaRPr>
            </a:p>
          </p:txBody>
        </p:sp>
      </p:gr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754063" y="261258"/>
            <a:ext cx="8415337" cy="855290"/>
          </a:xfrm>
          <a:prstGeom prst="rect">
            <a:avLst/>
          </a:prstGeom>
        </p:spPr>
        <p:txBody>
          <a:bodyPr/>
          <a:lstStyle/>
          <a:p>
            <a:r>
              <a:rPr lang="zh-CN" altLang="en-US" smtClean="0"/>
              <a:t>单击此处编辑母版标题样式</a:t>
            </a:r>
            <a:endParaRPr lang="zh-CN" altLang="en-US"/>
          </a:p>
        </p:txBody>
      </p:sp>
      <p:grpSp>
        <p:nvGrpSpPr>
          <p:cNvPr id="17" name="组合 16"/>
          <p:cNvGrpSpPr/>
          <p:nvPr userDrawn="1"/>
        </p:nvGrpSpPr>
        <p:grpSpPr>
          <a:xfrm>
            <a:off x="523836" y="1214422"/>
            <a:ext cx="3357586" cy="755143"/>
            <a:chOff x="523836" y="1428736"/>
            <a:chExt cx="3357586" cy="755143"/>
          </a:xfrm>
        </p:grpSpPr>
        <p:sp>
          <p:nvSpPr>
            <p:cNvPr id="18" name="任意多边形 17"/>
            <p:cNvSpPr/>
            <p:nvPr/>
          </p:nvSpPr>
          <p:spPr>
            <a:xfrm>
              <a:off x="523836" y="1428736"/>
              <a:ext cx="714380" cy="642942"/>
            </a:xfrm>
            <a:custGeom>
              <a:avLst/>
              <a:gdLst>
                <a:gd name="connsiteX0" fmla="*/ 0 w 864000"/>
                <a:gd name="connsiteY0" fmla="*/ 0 h 864000"/>
                <a:gd name="connsiteX1" fmla="*/ 864000 w 864000"/>
                <a:gd name="connsiteY1" fmla="*/ 0 h 864000"/>
                <a:gd name="connsiteX2" fmla="*/ 864000 w 864000"/>
                <a:gd name="connsiteY2" fmla="*/ 261737 h 864000"/>
                <a:gd name="connsiteX3" fmla="*/ 751007 w 864000"/>
                <a:gd name="connsiteY3" fmla="*/ 261737 h 864000"/>
                <a:gd name="connsiteX4" fmla="*/ 751007 w 864000"/>
                <a:gd name="connsiteY4" fmla="*/ 112993 h 864000"/>
                <a:gd name="connsiteX5" fmla="*/ 112993 w 864000"/>
                <a:gd name="connsiteY5" fmla="*/ 112993 h 864000"/>
                <a:gd name="connsiteX6" fmla="*/ 112993 w 864000"/>
                <a:gd name="connsiteY6" fmla="*/ 751007 h 864000"/>
                <a:gd name="connsiteX7" fmla="*/ 246681 w 864000"/>
                <a:gd name="connsiteY7" fmla="*/ 751007 h 864000"/>
                <a:gd name="connsiteX8" fmla="*/ 246681 w 864000"/>
                <a:gd name="connsiteY8" fmla="*/ 864000 h 864000"/>
                <a:gd name="connsiteX9" fmla="*/ 0 w 864000"/>
                <a:gd name="connsiteY9" fmla="*/ 86400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4000" h="864000">
                  <a:moveTo>
                    <a:pt x="0" y="0"/>
                  </a:moveTo>
                  <a:lnTo>
                    <a:pt x="864000" y="0"/>
                  </a:lnTo>
                  <a:lnTo>
                    <a:pt x="864000" y="261737"/>
                  </a:lnTo>
                  <a:lnTo>
                    <a:pt x="751007" y="261737"/>
                  </a:lnTo>
                  <a:lnTo>
                    <a:pt x="751007" y="112993"/>
                  </a:lnTo>
                  <a:lnTo>
                    <a:pt x="112993" y="112993"/>
                  </a:lnTo>
                  <a:lnTo>
                    <a:pt x="112993" y="751007"/>
                  </a:lnTo>
                  <a:lnTo>
                    <a:pt x="246681" y="751007"/>
                  </a:lnTo>
                  <a:lnTo>
                    <a:pt x="246681" y="864000"/>
                  </a:lnTo>
                  <a:lnTo>
                    <a:pt x="0" y="86400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6"/>
            <p:cNvSpPr txBox="1"/>
            <p:nvPr/>
          </p:nvSpPr>
          <p:spPr>
            <a:xfrm>
              <a:off x="809588" y="1617459"/>
              <a:ext cx="3071834"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endParaRPr lang="zh-CN" altLang="zh-CN" sz="2400" dirty="0">
                <a:solidFill>
                  <a:schemeClr val="tx1"/>
                </a:solidFill>
              </a:endParaRPr>
            </a:p>
          </p:txBody>
        </p:sp>
      </p:grpSp>
      <p:sp>
        <p:nvSpPr>
          <p:cNvPr id="7" name="矩形 6"/>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11"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4"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7"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754063" y="6373017"/>
            <a:ext cx="2743200" cy="365125"/>
          </a:xfrm>
          <a:prstGeom prst="rect">
            <a:avLst/>
          </a:prstGeom>
        </p:spPr>
        <p:txBody>
          <a:bodyPr/>
          <a:lstStyle/>
          <a:p>
            <a:fld id="{13D0CE79-49FB-443D-BEF8-6B709DE8FD0C}" type="datetimeFigureOut">
              <a:rPr lang="zh-CN" altLang="en-US" smtClean="0"/>
              <a:pPr/>
              <a:t>2017/3/30</a:t>
            </a:fld>
            <a:endParaRPr lang="zh-CN" altLang="en-US"/>
          </a:p>
        </p:txBody>
      </p:sp>
      <p:sp>
        <p:nvSpPr>
          <p:cNvPr id="4" name="页脚占位符 3"/>
          <p:cNvSpPr>
            <a:spLocks noGrp="1"/>
          </p:cNvSpPr>
          <p:nvPr>
            <p:ph type="ftr" sz="quarter" idx="11"/>
          </p:nvPr>
        </p:nvSpPr>
        <p:spPr>
          <a:xfrm>
            <a:off x="4037013" y="6373017"/>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91563" y="6373017"/>
            <a:ext cx="2743200" cy="365125"/>
          </a:xfrm>
          <a:prstGeom prst="rect">
            <a:avLst/>
          </a:prstGeom>
        </p:spPr>
        <p:txBody>
          <a:bodyPr/>
          <a:lstStyle/>
          <a:p>
            <a:fld id="{EF906490-237C-474C-BA2E-D98840BC1F8F}" type="slidenum">
              <a:rPr lang="zh-CN" altLang="en-US" smtClean="0"/>
              <a:pPr/>
              <a:t>‹#›</a:t>
            </a:fld>
            <a:endParaRPr lang="zh-CN" altLang="en-US"/>
          </a:p>
        </p:txBody>
      </p:sp>
      <p:sp>
        <p:nvSpPr>
          <p:cNvPr id="7" name="内容占位符 6"/>
          <p:cNvSpPr>
            <a:spLocks noGrp="1"/>
          </p:cNvSpPr>
          <p:nvPr>
            <p:ph sz="quarter" idx="13"/>
          </p:nvPr>
        </p:nvSpPr>
        <p:spPr>
          <a:xfrm>
            <a:off x="754063" y="477520"/>
            <a:ext cx="10680700" cy="5635413"/>
          </a:xfrm>
          <a:prstGeom prst="rect">
            <a:avLst/>
          </a:prstGeom>
        </p:spPr>
        <p:txBody>
          <a:bodyPr/>
          <a:lstStyle>
            <a:lvl1pPr marL="0" indent="0">
              <a:buNone/>
              <a:defRPr/>
            </a:lvl1pPr>
          </a:lstStyle>
          <a:p>
            <a:pPr lvl="0"/>
            <a:r>
              <a:rPr lang="zh-CN" altLang="en-US" dirty="0" smtClean="0"/>
              <a:t>单击此处编辑母版文本样式</a:t>
            </a:r>
          </a:p>
          <a:p>
            <a:pPr lvl="4"/>
            <a:r>
              <a:rPr lang="zh-CN" altLang="en-US" dirty="0" smtClean="0"/>
              <a:t>第二级</a:t>
            </a:r>
          </a:p>
          <a:p>
            <a:pPr lvl="6"/>
            <a:r>
              <a:rPr lang="zh-CN" altLang="en-US" dirty="0" smtClean="0"/>
              <a:t>第三级</a:t>
            </a:r>
          </a:p>
          <a:p>
            <a:pPr lvl="7"/>
            <a:r>
              <a:rPr lang="zh-CN" altLang="en-US" dirty="0" smtClean="0"/>
              <a:t>第四级</a:t>
            </a:r>
          </a:p>
          <a:p>
            <a:pPr lvl="8"/>
            <a:r>
              <a:rPr lang="zh-CN" altLang="en-US" dirty="0" smtClean="0"/>
              <a:t>第五级</a:t>
            </a:r>
          </a:p>
        </p:txBody>
      </p:sp>
      <p:sp>
        <p:nvSpPr>
          <p:cNvPr id="6"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a14="http://schemas.microsoft.com/office/drawing/2010/main" xmlns=""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1_首页">
    <p:bg>
      <p:bgPr>
        <a:solidFill>
          <a:schemeClr val="bg1"/>
        </a:solidFill>
        <a:effectLst/>
      </p:bgPr>
    </p:bg>
    <p:spTree>
      <p:nvGrpSpPr>
        <p:cNvPr id="1" name=""/>
        <p:cNvGrpSpPr/>
        <p:nvPr/>
      </p:nvGrpSpPr>
      <p:grpSpPr>
        <a:xfrm>
          <a:off x="0" y="0"/>
          <a:ext cx="0" cy="0"/>
          <a:chOff x="0" y="0"/>
          <a:chExt cx="0" cy="0"/>
        </a:xfrm>
      </p:grpSpPr>
      <p:sp>
        <p:nvSpPr>
          <p:cNvPr id="31" name="矩形 30"/>
          <p:cNvSpPr/>
          <p:nvPr userDrawn="1">
            <p:custDataLst>
              <p:tags r:id="rId1"/>
            </p:custDataLst>
          </p:nvPr>
        </p:nvSpPr>
        <p:spPr>
          <a:xfrm>
            <a:off x="0" y="-1"/>
            <a:ext cx="12192000" cy="35528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2"/>
          <p:cNvSpPr txBox="1">
            <a:spLocks noChangeArrowheads="1"/>
          </p:cNvSpPr>
          <p:nvPr userDrawn="1">
            <p:custDataLst>
              <p:tags r:id="rId2"/>
            </p:custDataLst>
          </p:nvPr>
        </p:nvSpPr>
        <p:spPr bwMode="auto">
          <a:xfrm>
            <a:off x="2254956" y="1411817"/>
            <a:ext cx="4670777" cy="3073400"/>
          </a:xfrm>
          <a:prstGeom prst="rect">
            <a:avLst/>
          </a:prstGeom>
          <a:noFill/>
          <a:ln w="9525">
            <a:noFill/>
            <a:miter lim="800000"/>
            <a:headEnd/>
            <a:tailEnd/>
          </a:ln>
        </p:spPr>
        <p:txBody>
          <a:bodyPr lIns="145143" tIns="72571" rIns="145143" bIns="72571"/>
          <a:lstStyle/>
          <a:p>
            <a:pPr eaLnBrk="1" hangingPunct="1"/>
            <a:r>
              <a:rPr lang="en-US" altLang="zh-CN" sz="21400" dirty="0">
                <a:latin typeface="Arial" charset="0"/>
                <a:cs typeface="Arial" charset="0"/>
              </a:rPr>
              <a:t>T</a:t>
            </a:r>
            <a:endParaRPr lang="zh-CN" altLang="en-US" sz="21400" dirty="0">
              <a:latin typeface="Arial" charset="0"/>
              <a:cs typeface="Arial" charset="0"/>
            </a:endParaRPr>
          </a:p>
        </p:txBody>
      </p:sp>
      <p:sp>
        <p:nvSpPr>
          <p:cNvPr id="21" name="TextBox 20"/>
          <p:cNvSpPr txBox="1"/>
          <p:nvPr userDrawn="1">
            <p:custDataLst>
              <p:tags r:id="rId3"/>
            </p:custDataLst>
          </p:nvPr>
        </p:nvSpPr>
        <p:spPr>
          <a:xfrm>
            <a:off x="4591757" y="1873252"/>
            <a:ext cx="6019799" cy="1299633"/>
          </a:xfrm>
          <a:prstGeom prst="rect">
            <a:avLst/>
          </a:prstGeom>
          <a:noFill/>
        </p:spPr>
        <p:txBody>
          <a:bodyPr lIns="145143" tIns="72571" rIns="145143" bIns="72571">
            <a:normAutofit lnSpcReduction="10000"/>
          </a:bodyPr>
          <a:lstStyle/>
          <a:p>
            <a:pPr>
              <a:defRPr/>
            </a:pPr>
            <a:r>
              <a:rPr lang="zh-CN" altLang="en-US" sz="7600" dirty="0">
                <a:solidFill>
                  <a:srgbClr val="FF0080"/>
                </a:solidFill>
                <a:latin typeface="+mj-ea"/>
                <a:ea typeface="+mj-ea"/>
              </a:rPr>
              <a:t>谢</a:t>
            </a:r>
            <a:r>
              <a:rPr lang="zh-CN" altLang="en-US" sz="7600" dirty="0">
                <a:solidFill>
                  <a:srgbClr val="FF8000"/>
                </a:solidFill>
                <a:latin typeface="+mj-ea"/>
                <a:ea typeface="+mj-ea"/>
              </a:rPr>
              <a:t>谢</a:t>
            </a:r>
            <a:r>
              <a:rPr lang="zh-CN" altLang="en-US" sz="7600" dirty="0">
                <a:solidFill>
                  <a:srgbClr val="FFC000"/>
                </a:solidFill>
                <a:latin typeface="+mj-ea"/>
                <a:ea typeface="+mj-ea"/>
              </a:rPr>
              <a:t>观</a:t>
            </a:r>
            <a:r>
              <a:rPr lang="zh-CN" altLang="en-US" sz="7600" dirty="0">
                <a:solidFill>
                  <a:srgbClr val="92D050"/>
                </a:solidFill>
                <a:latin typeface="+mj-ea"/>
                <a:ea typeface="+mj-ea"/>
              </a:rPr>
              <a:t>看</a:t>
            </a:r>
          </a:p>
        </p:txBody>
      </p:sp>
      <p:sp>
        <p:nvSpPr>
          <p:cNvPr id="22" name="TextBox 4"/>
          <p:cNvSpPr txBox="1">
            <a:spLocks noChangeArrowheads="1"/>
          </p:cNvSpPr>
          <p:nvPr userDrawn="1">
            <p:custDataLst>
              <p:tags r:id="rId4"/>
            </p:custDataLst>
          </p:nvPr>
        </p:nvSpPr>
        <p:spPr bwMode="auto">
          <a:xfrm>
            <a:off x="4222045" y="2980267"/>
            <a:ext cx="6268156" cy="984251"/>
          </a:xfrm>
          <a:prstGeom prst="rect">
            <a:avLst/>
          </a:prstGeom>
          <a:noFill/>
          <a:ln w="9525">
            <a:noFill/>
            <a:miter lim="800000"/>
            <a:headEnd/>
            <a:tailEnd/>
          </a:ln>
        </p:spPr>
        <p:txBody>
          <a:bodyPr lIns="145143" tIns="72571" rIns="145143" bIns="72571"/>
          <a:lstStyle/>
          <a:p>
            <a:pPr eaLnBrk="1" hangingPunct="1"/>
            <a:r>
              <a:rPr lang="en-US" altLang="zh-CN" sz="5700" b="1" dirty="0">
                <a:latin typeface="Arial" charset="0"/>
                <a:cs typeface="Arial" charset="0"/>
              </a:rPr>
              <a:t>HANK   YOU!</a:t>
            </a:r>
            <a:endParaRPr lang="zh-CN" altLang="en-US" sz="5700" b="1" dirty="0">
              <a:latin typeface="Arial" charset="0"/>
              <a:cs typeface="Arial" charset="0"/>
            </a:endParaRPr>
          </a:p>
        </p:txBody>
      </p:sp>
      <p:sp>
        <p:nvSpPr>
          <p:cNvPr id="23" name="直角三角形 22"/>
          <p:cNvSpPr/>
          <p:nvPr userDrawn="1">
            <p:custDataLst>
              <p:tags r:id="rId5"/>
            </p:custDataLst>
          </p:nvPr>
        </p:nvSpPr>
        <p:spPr>
          <a:xfrm rot="1665221">
            <a:off x="10301111" y="4826000"/>
            <a:ext cx="259644" cy="391584"/>
          </a:xfrm>
          <a:prstGeom prst="r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4" name="直角三角形 23"/>
          <p:cNvSpPr/>
          <p:nvPr userDrawn="1">
            <p:custDataLst>
              <p:tags r:id="rId6"/>
            </p:custDataLst>
          </p:nvPr>
        </p:nvSpPr>
        <p:spPr>
          <a:xfrm rot="9441503">
            <a:off x="10947401" y="4068233"/>
            <a:ext cx="496711" cy="745067"/>
          </a:xfrm>
          <a:prstGeom prst="rtTriangle">
            <a:avLst/>
          </a:prstGeom>
          <a:solidFill>
            <a:srgbClr val="FF008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5" name="直角三角形 24"/>
          <p:cNvSpPr/>
          <p:nvPr userDrawn="1">
            <p:custDataLst>
              <p:tags r:id="rId7"/>
            </p:custDataLst>
          </p:nvPr>
        </p:nvSpPr>
        <p:spPr>
          <a:xfrm rot="14258978">
            <a:off x="7802740" y="4298951"/>
            <a:ext cx="376767" cy="1007532"/>
          </a:xfrm>
          <a:prstGeom prst="rtTriangle">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6" name="直角三角形 25"/>
          <p:cNvSpPr/>
          <p:nvPr userDrawn="1">
            <p:custDataLst>
              <p:tags r:id="rId8"/>
            </p:custDataLst>
          </p:nvPr>
        </p:nvSpPr>
        <p:spPr>
          <a:xfrm rot="1312468">
            <a:off x="9214556" y="4974167"/>
            <a:ext cx="406400" cy="609600"/>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7" name="直角三角形 26"/>
          <p:cNvSpPr/>
          <p:nvPr userDrawn="1">
            <p:custDataLst>
              <p:tags r:id="rId9"/>
            </p:custDataLst>
          </p:nvPr>
        </p:nvSpPr>
        <p:spPr>
          <a:xfrm rot="14258978">
            <a:off x="1666170" y="4439710"/>
            <a:ext cx="378884" cy="1007532"/>
          </a:xfrm>
          <a:prstGeom prst="rtTriangle">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8" name="直角三角形 27"/>
          <p:cNvSpPr/>
          <p:nvPr userDrawn="1">
            <p:custDataLst>
              <p:tags r:id="rId10"/>
            </p:custDataLst>
          </p:nvPr>
        </p:nvSpPr>
        <p:spPr>
          <a:xfrm rot="4526379">
            <a:off x="3207104" y="5064125"/>
            <a:ext cx="141816" cy="381001"/>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9" name="直角三角形 28"/>
          <p:cNvSpPr/>
          <p:nvPr userDrawn="1">
            <p:custDataLst>
              <p:tags r:id="rId11"/>
            </p:custDataLst>
          </p:nvPr>
        </p:nvSpPr>
        <p:spPr>
          <a:xfrm rot="1665221">
            <a:off x="5012267" y="4514851"/>
            <a:ext cx="632178" cy="952500"/>
          </a:xfrm>
          <a:prstGeom prst="r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Tree>
    <p:extLst>
      <p:ext uri="{BB962C8B-B14F-4D97-AF65-F5344CB8AC3E}">
        <p14:creationId xmlns="" xmlns:p14="http://schemas.microsoft.com/office/powerpoint/2010/main" val="4223807772"/>
      </p:ext>
    </p:extLst>
  </p:cSld>
  <p:clrMapOvr>
    <a:masterClrMapping/>
  </p:clrMapOvr>
  <p:transition>
    <p:randomBar dir="vert"/>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image" Target="../media/image1.png"/><Relationship Id="rId5" Type="http://schemas.openxmlformats.org/officeDocument/2006/relationships/slideLayout" Target="../slideLayouts/slideLayout17.xml"/><Relationship Id="rId10" Type="http://schemas.openxmlformats.org/officeDocument/2006/relationships/theme" Target="../theme/theme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11" cstate="print"/>
          <a:srcRect l="20452" r="17427" b="5390"/>
          <a:stretch>
            <a:fillRect/>
          </a:stretch>
        </p:blipFill>
        <p:spPr>
          <a:xfrm rot="16200000" flipV="1">
            <a:off x="-100248" y="100244"/>
            <a:ext cx="863601" cy="663109"/>
          </a:xfrm>
          <a:custGeom>
            <a:avLst/>
            <a:gdLst>
              <a:gd name="connsiteX0" fmla="*/ 1007279 w 1007279"/>
              <a:gd name="connsiteY0" fmla="*/ 773431 h 773431"/>
              <a:gd name="connsiteX1" fmla="*/ 1007279 w 1007279"/>
              <a:gd name="connsiteY1" fmla="*/ 0 h 773431"/>
              <a:gd name="connsiteX2" fmla="*/ 404691 w 1007279"/>
              <a:gd name="connsiteY2" fmla="*/ 0 h 773431"/>
              <a:gd name="connsiteX3" fmla="*/ 473879 w 1007279"/>
              <a:gd name="connsiteY3" fmla="*/ 45011 h 773431"/>
              <a:gd name="connsiteX4" fmla="*/ 0 w 1007279"/>
              <a:gd name="connsiteY4" fmla="*/ 773431 h 773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7279" h="773431">
                <a:moveTo>
                  <a:pt x="1007279" y="773431"/>
                </a:moveTo>
                <a:lnTo>
                  <a:pt x="1007279" y="0"/>
                </a:lnTo>
                <a:lnTo>
                  <a:pt x="404691" y="0"/>
                </a:lnTo>
                <a:lnTo>
                  <a:pt x="473879" y="45011"/>
                </a:lnTo>
                <a:lnTo>
                  <a:pt x="0" y="773431"/>
                </a:lnTo>
                <a:close/>
              </a:path>
            </a:pathLst>
          </a:custGeom>
        </p:spPr>
      </p:pic>
      <p:sp>
        <p:nvSpPr>
          <p:cNvPr id="9" name="灯片编号占位符 8"/>
          <p:cNvSpPr txBox="1"/>
          <p:nvPr userDrawn="1"/>
        </p:nvSpPr>
        <p:spPr>
          <a:xfrm>
            <a:off x="8795068" y="5897402"/>
            <a:ext cx="2743200" cy="365125"/>
          </a:xfrm>
          <a:prstGeom prst="rect">
            <a:avLst/>
          </a:prstGeom>
        </p:spPr>
        <p:txBody>
          <a:bodyPr/>
          <a:lstStyle>
            <a:lvl1pPr>
              <a:defRPr b="1">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EF906490-237C-474C-BA2E-D98840BC1F8F}" type="slidenum">
              <a:rPr kumimoji="0" lang="zh-CN" altLang="en-US" sz="1800" b="1" i="0" u="none" strike="noStrike" kern="1200" cap="none" spc="0" normalizeH="0" baseline="0" noProof="0" smtClean="0">
                <a:ln>
                  <a:noFill/>
                </a:ln>
                <a:solidFill>
                  <a:schemeClr val="bg1"/>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defRPr/>
              </a:pPr>
              <a:t>‹#›</a:t>
            </a:fld>
            <a:endParaRPr kumimoji="0" lang="zh-CN" altLang="en-US" sz="1800" b="1" i="0" u="none" strike="noStrike" kern="1200" cap="none" spc="0" normalizeH="0" baseline="0" noProof="0">
              <a:ln>
                <a:noFill/>
              </a:ln>
              <a:solidFill>
                <a:schemeClr val="bg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Lst>
  <p:hf hdr="0" ftr="0" dt="0"/>
  <p:txStyles>
    <p:titleStyle>
      <a:lvl1pPr algn="l" rtl="0" eaLnBrk="1" fontAlgn="base" hangingPunct="1">
        <a:lnSpc>
          <a:spcPct val="90000"/>
        </a:lnSpc>
        <a:spcBef>
          <a:spcPct val="0"/>
        </a:spcBef>
        <a:spcAft>
          <a:spcPct val="0"/>
        </a:spcAft>
        <a:defRPr sz="3600" kern="1200">
          <a:solidFill>
            <a:schemeClr val="accent1"/>
          </a:solidFill>
          <a:latin typeface="+mj-lt"/>
          <a:ea typeface="+mj-ea"/>
          <a:cs typeface="+mj-cs"/>
        </a:defRPr>
      </a:lvl1pPr>
      <a:lvl2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2pPr>
      <a:lvl3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3pPr>
      <a:lvl4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4pPr>
      <a:lvl5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5pPr>
      <a:lvl6pPr marL="4572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6pPr>
      <a:lvl7pPr marL="9144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7pPr>
      <a:lvl8pPr marL="13716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8pPr>
      <a:lvl9pPr marL="18288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9pPr>
    </p:titleStyle>
    <p:bodyStyle>
      <a:lvl1pPr marL="0" indent="-179705" algn="l" rtl="0" eaLnBrk="1" fontAlgn="base" hangingPunct="1">
        <a:lnSpc>
          <a:spcPct val="150000"/>
        </a:lnSpc>
        <a:spcBef>
          <a:spcPts val="1800"/>
        </a:spcBef>
        <a:spcAft>
          <a:spcPct val="0"/>
        </a:spcAft>
        <a:buClr>
          <a:schemeClr val="tx1"/>
        </a:buClr>
        <a:buSzPct val="80000"/>
        <a:buFont typeface="Wingdings" panose="05000000000000000000" pitchFamily="2" charset="2"/>
        <a:buChar char="ü"/>
        <a:defRPr sz="2400" kern="1200">
          <a:solidFill>
            <a:schemeClr val="tx1"/>
          </a:solidFill>
          <a:latin typeface="+mn-lt"/>
          <a:ea typeface="+mn-ea"/>
          <a:cs typeface="+mn-cs"/>
        </a:defRPr>
      </a:lvl1pPr>
      <a:lvl2pPr marL="0" indent="0" algn="l" rtl="0" eaLnBrk="1" fontAlgn="base" hangingPunct="1">
        <a:lnSpc>
          <a:spcPct val="130000"/>
        </a:lnSpc>
        <a:spcBef>
          <a:spcPct val="0"/>
        </a:spcBef>
        <a:spcAft>
          <a:spcPct val="0"/>
        </a:spcAft>
        <a:buClr>
          <a:schemeClr val="tx1"/>
        </a:buClr>
        <a:buSzPct val="80000"/>
        <a:buFont typeface="Wingdings" panose="05000000000000000000" pitchFamily="2" charset="2"/>
        <a:buChar char="ü"/>
        <a:defRPr sz="2000" kern="1200">
          <a:solidFill>
            <a:schemeClr val="tx1"/>
          </a:solidFill>
          <a:latin typeface="+mn-lt"/>
          <a:ea typeface="+mn-ea"/>
          <a:cs typeface="+mn-cs"/>
        </a:defRPr>
      </a:lvl2pPr>
      <a:lvl3pPr marL="0" indent="0" algn="l" rtl="0" eaLnBrk="1" fontAlgn="base" hangingPunct="1">
        <a:spcBef>
          <a:spcPts val="500"/>
        </a:spcBef>
        <a:spcAft>
          <a:spcPct val="0"/>
        </a:spcAft>
        <a:buClr>
          <a:schemeClr val="tx1"/>
        </a:buClr>
        <a:buSzPct val="80000"/>
        <a:buFont typeface="Wingdings" panose="05000000000000000000" pitchFamily="2" charset="2"/>
        <a:buChar char="ü"/>
        <a:defRPr sz="1800" kern="1200">
          <a:solidFill>
            <a:srgbClr val="262626"/>
          </a:solidFill>
          <a:latin typeface="+mn-lt"/>
          <a:ea typeface="+mn-ea"/>
          <a:cs typeface="+mn-cs"/>
        </a:defRPr>
      </a:lvl3pPr>
      <a:lvl4pPr marL="0" indent="0" algn="l" rtl="0" eaLnBrk="1" fontAlgn="base" hangingPunct="1">
        <a:spcBef>
          <a:spcPts val="500"/>
        </a:spcBef>
        <a:spcAft>
          <a:spcPct val="0"/>
        </a:spcAft>
        <a:buClr>
          <a:schemeClr val="tx1"/>
        </a:buClr>
        <a:buSzPct val="80000"/>
        <a:buFont typeface="Wingdings" panose="05000000000000000000" pitchFamily="2" charset="2"/>
        <a:buChar char="ü"/>
        <a:defRPr sz="1800" kern="1200">
          <a:solidFill>
            <a:srgbClr val="262626"/>
          </a:solidFill>
          <a:latin typeface="+mn-lt"/>
          <a:ea typeface="+mn-ea"/>
          <a:cs typeface="+mn-cs"/>
        </a:defRPr>
      </a:lvl4pPr>
      <a:lvl5pPr marL="360045" indent="-179705" algn="l" rtl="0" eaLnBrk="1" fontAlgn="base" hangingPunct="1">
        <a:lnSpc>
          <a:spcPct val="150000"/>
        </a:lnSpc>
        <a:spcBef>
          <a:spcPts val="500"/>
        </a:spcBef>
        <a:spcAft>
          <a:spcPct val="0"/>
        </a:spcAft>
        <a:buClr>
          <a:schemeClr val="tx1"/>
        </a:buClr>
        <a:buSzPct val="80000"/>
        <a:buFont typeface="Wingdings" panose="05000000000000000000" pitchFamily="2" charset="2"/>
        <a:buChar char="ü"/>
        <a:defRPr kern="1200">
          <a:solidFill>
            <a:schemeClr val="tx1"/>
          </a:solidFill>
          <a:latin typeface="+mn-lt"/>
          <a:ea typeface="+mn-ea"/>
          <a:cs typeface="+mn-cs"/>
        </a:defRPr>
      </a:lvl5pPr>
      <a:lvl6pPr marL="0" indent="0" algn="l" defTabSz="914400" rtl="0" eaLnBrk="1" latinLnBrk="0" hangingPunct="1">
        <a:lnSpc>
          <a:spcPct val="9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6pPr>
      <a:lvl7pPr marL="720090"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7pPr>
      <a:lvl8pPr marL="1080135"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8pPr>
      <a:lvl9pPr marL="1440180"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image" Target="../media/image2.jpe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Layout" Target="../slideLayouts/slideLayout7.xml"/><Relationship Id="rId5" Type="http://schemas.openxmlformats.org/officeDocument/2006/relationships/tags" Target="../tags/tag16.xml"/><Relationship Id="rId4" Type="http://schemas.openxmlformats.org/officeDocument/2006/relationships/tags" Target="../tags/tag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2.xml"/><Relationship Id="rId3" Type="http://schemas.openxmlformats.org/officeDocument/2006/relationships/tags" Target="../tags/tag19.xml"/><Relationship Id="rId7" Type="http://schemas.openxmlformats.org/officeDocument/2006/relationships/slideLayout" Target="../slideLayouts/slideLayout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11" Type="http://schemas.openxmlformats.org/officeDocument/2006/relationships/image" Target="../media/image5.png"/><Relationship Id="rId5" Type="http://schemas.openxmlformats.org/officeDocument/2006/relationships/tags" Target="../tags/tag21.xml"/><Relationship Id="rId10" Type="http://schemas.openxmlformats.org/officeDocument/2006/relationships/image" Target="../media/image4.png"/><Relationship Id="rId4" Type="http://schemas.openxmlformats.org/officeDocument/2006/relationships/tags" Target="../tags/tag20.xml"/><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8" Type="http://schemas.openxmlformats.org/officeDocument/2006/relationships/tags" Target="../tags/tag31.xml"/><Relationship Id="rId13" Type="http://schemas.openxmlformats.org/officeDocument/2006/relationships/slideLayout" Target="../slideLayouts/slideLayout17.xml"/><Relationship Id="rId3" Type="http://schemas.openxmlformats.org/officeDocument/2006/relationships/tags" Target="../tags/tag26.xml"/><Relationship Id="rId7" Type="http://schemas.openxmlformats.org/officeDocument/2006/relationships/tags" Target="../tags/tag30.xml"/><Relationship Id="rId12" Type="http://schemas.openxmlformats.org/officeDocument/2006/relationships/tags" Target="../tags/tag35.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tags" Target="../tags/tag34.xml"/><Relationship Id="rId5" Type="http://schemas.openxmlformats.org/officeDocument/2006/relationships/tags" Target="../tags/tag28.xml"/><Relationship Id="rId10" Type="http://schemas.openxmlformats.org/officeDocument/2006/relationships/tags" Target="../tags/tag33.xml"/><Relationship Id="rId4" Type="http://schemas.openxmlformats.org/officeDocument/2006/relationships/tags" Target="../tags/tag27.xml"/><Relationship Id="rId9" Type="http://schemas.openxmlformats.org/officeDocument/2006/relationships/tags" Target="../tags/tag3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17.xml"/><Relationship Id="rId1" Type="http://schemas.openxmlformats.org/officeDocument/2006/relationships/tags" Target="../tags/tag36.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ags" Target="../tags/tag37.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8" Type="http://schemas.openxmlformats.org/officeDocument/2006/relationships/tags" Target="../tags/tag45.xml"/><Relationship Id="rId13" Type="http://schemas.openxmlformats.org/officeDocument/2006/relationships/tags" Target="../tags/tag50.xml"/><Relationship Id="rId3" Type="http://schemas.openxmlformats.org/officeDocument/2006/relationships/tags" Target="../tags/tag40.xml"/><Relationship Id="rId7" Type="http://schemas.openxmlformats.org/officeDocument/2006/relationships/tags" Target="../tags/tag44.xml"/><Relationship Id="rId12" Type="http://schemas.openxmlformats.org/officeDocument/2006/relationships/tags" Target="../tags/tag49.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11" Type="http://schemas.openxmlformats.org/officeDocument/2006/relationships/tags" Target="../tags/tag48.xml"/><Relationship Id="rId5" Type="http://schemas.openxmlformats.org/officeDocument/2006/relationships/tags" Target="../tags/tag42.xml"/><Relationship Id="rId15" Type="http://schemas.openxmlformats.org/officeDocument/2006/relationships/slideLayout" Target="../slideLayouts/slideLayout17.xml"/><Relationship Id="rId10" Type="http://schemas.openxmlformats.org/officeDocument/2006/relationships/tags" Target="../tags/tag47.xml"/><Relationship Id="rId4" Type="http://schemas.openxmlformats.org/officeDocument/2006/relationships/tags" Target="../tags/tag41.xml"/><Relationship Id="rId9" Type="http://schemas.openxmlformats.org/officeDocument/2006/relationships/tags" Target="../tags/tag46.xml"/><Relationship Id="rId14" Type="http://schemas.openxmlformats.org/officeDocument/2006/relationships/tags" Target="../tags/tag51.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17.xml"/><Relationship Id="rId1" Type="http://schemas.openxmlformats.org/officeDocument/2006/relationships/tags" Target="../tags/tag52.xml"/></Relationships>
</file>

<file path=ppt/slides/_rels/slide16.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 Id="rId5" Type="http://schemas.openxmlformats.org/officeDocument/2006/relationships/image" Target="../media/image14.jpeg"/><Relationship Id="rId4"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17.xml"/><Relationship Id="rId1" Type="http://schemas.openxmlformats.org/officeDocument/2006/relationships/tags" Target="../tags/tag56.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7.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tags" Target="../tags/tag5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8" Type="http://schemas.openxmlformats.org/officeDocument/2006/relationships/tags" Target="../tags/tag66.xml"/><Relationship Id="rId13" Type="http://schemas.openxmlformats.org/officeDocument/2006/relationships/tags" Target="../tags/tag71.xml"/><Relationship Id="rId3" Type="http://schemas.openxmlformats.org/officeDocument/2006/relationships/tags" Target="../tags/tag61.xml"/><Relationship Id="rId7" Type="http://schemas.openxmlformats.org/officeDocument/2006/relationships/tags" Target="../tags/tag65.xml"/><Relationship Id="rId12" Type="http://schemas.openxmlformats.org/officeDocument/2006/relationships/tags" Target="../tags/tag70.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tags" Target="../tags/tag64.xml"/><Relationship Id="rId11" Type="http://schemas.openxmlformats.org/officeDocument/2006/relationships/tags" Target="../tags/tag69.xml"/><Relationship Id="rId5" Type="http://schemas.openxmlformats.org/officeDocument/2006/relationships/tags" Target="../tags/tag63.xml"/><Relationship Id="rId10" Type="http://schemas.openxmlformats.org/officeDocument/2006/relationships/tags" Target="../tags/tag68.xml"/><Relationship Id="rId4" Type="http://schemas.openxmlformats.org/officeDocument/2006/relationships/tags" Target="../tags/tag62.xml"/><Relationship Id="rId9" Type="http://schemas.openxmlformats.org/officeDocument/2006/relationships/tags" Target="../tags/tag67.xml"/><Relationship Id="rId14"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8" Type="http://schemas.openxmlformats.org/officeDocument/2006/relationships/tags" Target="../tags/tag79.xml"/><Relationship Id="rId3" Type="http://schemas.openxmlformats.org/officeDocument/2006/relationships/tags" Target="../tags/tag74.xml"/><Relationship Id="rId7" Type="http://schemas.openxmlformats.org/officeDocument/2006/relationships/tags" Target="../tags/tag78.xml"/><Relationship Id="rId12" Type="http://schemas.openxmlformats.org/officeDocument/2006/relationships/slideLayout" Target="../slideLayouts/slideLayout17.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tags" Target="../tags/tag77.xml"/><Relationship Id="rId11" Type="http://schemas.openxmlformats.org/officeDocument/2006/relationships/tags" Target="../tags/tag82.xml"/><Relationship Id="rId5" Type="http://schemas.openxmlformats.org/officeDocument/2006/relationships/tags" Target="../tags/tag76.xml"/><Relationship Id="rId10" Type="http://schemas.openxmlformats.org/officeDocument/2006/relationships/tags" Target="../tags/tag81.xml"/><Relationship Id="rId4" Type="http://schemas.openxmlformats.org/officeDocument/2006/relationships/tags" Target="../tags/tag75.xml"/><Relationship Id="rId9" Type="http://schemas.openxmlformats.org/officeDocument/2006/relationships/tags" Target="../tags/tag80.xml"/></Relationships>
</file>

<file path=ppt/slides/_rels/slide32.xml.rels><?xml version="1.0" encoding="UTF-8" standalone="yes"?>
<Relationships xmlns="http://schemas.openxmlformats.org/package/2006/relationships"><Relationship Id="rId8" Type="http://schemas.openxmlformats.org/officeDocument/2006/relationships/tags" Target="../tags/tag90.xml"/><Relationship Id="rId3" Type="http://schemas.openxmlformats.org/officeDocument/2006/relationships/tags" Target="../tags/tag85.xml"/><Relationship Id="rId7" Type="http://schemas.openxmlformats.org/officeDocument/2006/relationships/tags" Target="../tags/tag89.xml"/><Relationship Id="rId12" Type="http://schemas.openxmlformats.org/officeDocument/2006/relationships/slideLayout" Target="../slideLayouts/slideLayout17.xml"/><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tags" Target="../tags/tag88.xml"/><Relationship Id="rId11" Type="http://schemas.openxmlformats.org/officeDocument/2006/relationships/tags" Target="../tags/tag93.xml"/><Relationship Id="rId5" Type="http://schemas.openxmlformats.org/officeDocument/2006/relationships/tags" Target="../tags/tag87.xml"/><Relationship Id="rId10" Type="http://schemas.openxmlformats.org/officeDocument/2006/relationships/tags" Target="../tags/tag92.xml"/><Relationship Id="rId4" Type="http://schemas.openxmlformats.org/officeDocument/2006/relationships/tags" Target="../tags/tag86.xml"/><Relationship Id="rId9" Type="http://schemas.openxmlformats.org/officeDocument/2006/relationships/tags" Target="../tags/tag91.xml"/></Relationships>
</file>

<file path=ppt/slides/_rels/slide33.xml.rels><?xml version="1.0" encoding="UTF-8" standalone="yes"?>
<Relationships xmlns="http://schemas.openxmlformats.org/package/2006/relationships"><Relationship Id="rId8" Type="http://schemas.openxmlformats.org/officeDocument/2006/relationships/tags" Target="../tags/tag101.xml"/><Relationship Id="rId13" Type="http://schemas.openxmlformats.org/officeDocument/2006/relationships/tags" Target="../tags/tag106.xml"/><Relationship Id="rId3" Type="http://schemas.openxmlformats.org/officeDocument/2006/relationships/tags" Target="../tags/tag96.xml"/><Relationship Id="rId7" Type="http://schemas.openxmlformats.org/officeDocument/2006/relationships/tags" Target="../tags/tag100.xml"/><Relationship Id="rId12" Type="http://schemas.openxmlformats.org/officeDocument/2006/relationships/tags" Target="../tags/tag105.xml"/><Relationship Id="rId2" Type="http://schemas.openxmlformats.org/officeDocument/2006/relationships/tags" Target="../tags/tag95.xml"/><Relationship Id="rId16" Type="http://schemas.openxmlformats.org/officeDocument/2006/relationships/slideLayout" Target="../slideLayouts/slideLayout17.xml"/><Relationship Id="rId1" Type="http://schemas.openxmlformats.org/officeDocument/2006/relationships/tags" Target="../tags/tag94.xml"/><Relationship Id="rId6" Type="http://schemas.openxmlformats.org/officeDocument/2006/relationships/tags" Target="../tags/tag99.xml"/><Relationship Id="rId11" Type="http://schemas.openxmlformats.org/officeDocument/2006/relationships/tags" Target="../tags/tag104.xml"/><Relationship Id="rId5" Type="http://schemas.openxmlformats.org/officeDocument/2006/relationships/tags" Target="../tags/tag98.xml"/><Relationship Id="rId15" Type="http://schemas.openxmlformats.org/officeDocument/2006/relationships/tags" Target="../tags/tag108.xml"/><Relationship Id="rId10" Type="http://schemas.openxmlformats.org/officeDocument/2006/relationships/tags" Target="../tags/tag103.xml"/><Relationship Id="rId4" Type="http://schemas.openxmlformats.org/officeDocument/2006/relationships/tags" Target="../tags/tag97.xml"/><Relationship Id="rId9" Type="http://schemas.openxmlformats.org/officeDocument/2006/relationships/tags" Target="../tags/tag102.xml"/><Relationship Id="rId14" Type="http://schemas.openxmlformats.org/officeDocument/2006/relationships/tags" Target="../tags/tag107.xml"/></Relationships>
</file>

<file path=ppt/slides/_rels/slide34.xml.rels><?xml version="1.0" encoding="UTF-8" standalone="yes"?>
<Relationships xmlns="http://schemas.openxmlformats.org/package/2006/relationships"><Relationship Id="rId8" Type="http://schemas.openxmlformats.org/officeDocument/2006/relationships/tags" Target="../tags/tag116.xml"/><Relationship Id="rId13" Type="http://schemas.openxmlformats.org/officeDocument/2006/relationships/tags" Target="../tags/tag121.xml"/><Relationship Id="rId3" Type="http://schemas.openxmlformats.org/officeDocument/2006/relationships/tags" Target="../tags/tag111.xml"/><Relationship Id="rId7" Type="http://schemas.openxmlformats.org/officeDocument/2006/relationships/tags" Target="../tags/tag115.xml"/><Relationship Id="rId12" Type="http://schemas.openxmlformats.org/officeDocument/2006/relationships/tags" Target="../tags/tag120.xml"/><Relationship Id="rId2" Type="http://schemas.openxmlformats.org/officeDocument/2006/relationships/tags" Target="../tags/tag110.xml"/><Relationship Id="rId1" Type="http://schemas.openxmlformats.org/officeDocument/2006/relationships/tags" Target="../tags/tag109.xml"/><Relationship Id="rId6" Type="http://schemas.openxmlformats.org/officeDocument/2006/relationships/tags" Target="../tags/tag114.xml"/><Relationship Id="rId11" Type="http://schemas.openxmlformats.org/officeDocument/2006/relationships/tags" Target="../tags/tag119.xml"/><Relationship Id="rId5" Type="http://schemas.openxmlformats.org/officeDocument/2006/relationships/tags" Target="../tags/tag113.xml"/><Relationship Id="rId15" Type="http://schemas.openxmlformats.org/officeDocument/2006/relationships/slideLayout" Target="../slideLayouts/slideLayout17.xml"/><Relationship Id="rId10" Type="http://schemas.openxmlformats.org/officeDocument/2006/relationships/tags" Target="../tags/tag118.xml"/><Relationship Id="rId4" Type="http://schemas.openxmlformats.org/officeDocument/2006/relationships/tags" Target="../tags/tag112.xml"/><Relationship Id="rId9" Type="http://schemas.openxmlformats.org/officeDocument/2006/relationships/tags" Target="../tags/tag117.xml"/><Relationship Id="rId14" Type="http://schemas.openxmlformats.org/officeDocument/2006/relationships/tags" Target="../tags/tag122.xml"/></Relationships>
</file>

<file path=ppt/slides/_rels/slide35.xml.rels><?xml version="1.0" encoding="UTF-8" standalone="yes"?>
<Relationships xmlns="http://schemas.openxmlformats.org/package/2006/relationships"><Relationship Id="rId8" Type="http://schemas.openxmlformats.org/officeDocument/2006/relationships/tags" Target="../tags/tag130.xml"/><Relationship Id="rId13" Type="http://schemas.openxmlformats.org/officeDocument/2006/relationships/tags" Target="../tags/tag135.xml"/><Relationship Id="rId3" Type="http://schemas.openxmlformats.org/officeDocument/2006/relationships/tags" Target="../tags/tag125.xml"/><Relationship Id="rId7" Type="http://schemas.openxmlformats.org/officeDocument/2006/relationships/tags" Target="../tags/tag129.xml"/><Relationship Id="rId12" Type="http://schemas.openxmlformats.org/officeDocument/2006/relationships/tags" Target="../tags/tag134.xml"/><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tags" Target="../tags/tag128.xml"/><Relationship Id="rId11" Type="http://schemas.openxmlformats.org/officeDocument/2006/relationships/tags" Target="../tags/tag133.xml"/><Relationship Id="rId5" Type="http://schemas.openxmlformats.org/officeDocument/2006/relationships/tags" Target="../tags/tag127.xml"/><Relationship Id="rId15" Type="http://schemas.openxmlformats.org/officeDocument/2006/relationships/slideLayout" Target="../slideLayouts/slideLayout17.xml"/><Relationship Id="rId10" Type="http://schemas.openxmlformats.org/officeDocument/2006/relationships/tags" Target="../tags/tag132.xml"/><Relationship Id="rId4" Type="http://schemas.openxmlformats.org/officeDocument/2006/relationships/tags" Target="../tags/tag126.xml"/><Relationship Id="rId9" Type="http://schemas.openxmlformats.org/officeDocument/2006/relationships/tags" Target="../tags/tag131.xml"/><Relationship Id="rId14" Type="http://schemas.openxmlformats.org/officeDocument/2006/relationships/tags" Target="../tags/tag136.xml"/></Relationships>
</file>

<file path=ppt/slides/_rels/slide36.xml.rels><?xml version="1.0" encoding="UTF-8" standalone="yes"?>
<Relationships xmlns="http://schemas.openxmlformats.org/package/2006/relationships"><Relationship Id="rId8" Type="http://schemas.openxmlformats.org/officeDocument/2006/relationships/tags" Target="../tags/tag144.xml"/><Relationship Id="rId3" Type="http://schemas.openxmlformats.org/officeDocument/2006/relationships/tags" Target="../tags/tag139.xml"/><Relationship Id="rId7" Type="http://schemas.openxmlformats.org/officeDocument/2006/relationships/tags" Target="../tags/tag143.xml"/><Relationship Id="rId12" Type="http://schemas.openxmlformats.org/officeDocument/2006/relationships/slideLayout" Target="../slideLayouts/slideLayout17.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tags" Target="../tags/tag147.xml"/><Relationship Id="rId5" Type="http://schemas.openxmlformats.org/officeDocument/2006/relationships/tags" Target="../tags/tag141.xml"/><Relationship Id="rId10" Type="http://schemas.openxmlformats.org/officeDocument/2006/relationships/tags" Target="../tags/tag146.xml"/><Relationship Id="rId4" Type="http://schemas.openxmlformats.org/officeDocument/2006/relationships/tags" Target="../tags/tag140.xml"/><Relationship Id="rId9" Type="http://schemas.openxmlformats.org/officeDocument/2006/relationships/tags" Target="../tags/tag14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17.xml"/><Relationship Id="rId1" Type="http://schemas.openxmlformats.org/officeDocument/2006/relationships/tags" Target="../tags/tag14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8" Type="http://schemas.openxmlformats.org/officeDocument/2006/relationships/tags" Target="../tags/tag156.xml"/><Relationship Id="rId3" Type="http://schemas.openxmlformats.org/officeDocument/2006/relationships/tags" Target="../tags/tag151.xml"/><Relationship Id="rId7" Type="http://schemas.openxmlformats.org/officeDocument/2006/relationships/tags" Target="../tags/tag155.xml"/><Relationship Id="rId12" Type="http://schemas.openxmlformats.org/officeDocument/2006/relationships/slideLayout" Target="../slideLayouts/slideLayout17.xml"/><Relationship Id="rId2" Type="http://schemas.openxmlformats.org/officeDocument/2006/relationships/tags" Target="../tags/tag150.xml"/><Relationship Id="rId1" Type="http://schemas.openxmlformats.org/officeDocument/2006/relationships/tags" Target="../tags/tag149.xml"/><Relationship Id="rId6" Type="http://schemas.openxmlformats.org/officeDocument/2006/relationships/tags" Target="../tags/tag154.xml"/><Relationship Id="rId11" Type="http://schemas.openxmlformats.org/officeDocument/2006/relationships/tags" Target="../tags/tag159.xml"/><Relationship Id="rId5" Type="http://schemas.openxmlformats.org/officeDocument/2006/relationships/tags" Target="../tags/tag153.xml"/><Relationship Id="rId10" Type="http://schemas.openxmlformats.org/officeDocument/2006/relationships/tags" Target="../tags/tag158.xml"/><Relationship Id="rId4" Type="http://schemas.openxmlformats.org/officeDocument/2006/relationships/tags" Target="../tags/tag152.xml"/><Relationship Id="rId9" Type="http://schemas.openxmlformats.org/officeDocument/2006/relationships/tags" Target="../tags/tag157.xml"/></Relationships>
</file>

<file path=ppt/slides/_rels/slide41.xml.rels><?xml version="1.0" encoding="UTF-8" standalone="yes"?>
<Relationships xmlns="http://schemas.openxmlformats.org/package/2006/relationships"><Relationship Id="rId8" Type="http://schemas.openxmlformats.org/officeDocument/2006/relationships/tags" Target="../tags/tag167.xml"/><Relationship Id="rId13" Type="http://schemas.openxmlformats.org/officeDocument/2006/relationships/tags" Target="../tags/tag172.xml"/><Relationship Id="rId3" Type="http://schemas.openxmlformats.org/officeDocument/2006/relationships/tags" Target="../tags/tag162.xml"/><Relationship Id="rId7" Type="http://schemas.openxmlformats.org/officeDocument/2006/relationships/tags" Target="../tags/tag166.xml"/><Relationship Id="rId12" Type="http://schemas.openxmlformats.org/officeDocument/2006/relationships/tags" Target="../tags/tag171.xml"/><Relationship Id="rId2" Type="http://schemas.openxmlformats.org/officeDocument/2006/relationships/tags" Target="../tags/tag161.xml"/><Relationship Id="rId16" Type="http://schemas.openxmlformats.org/officeDocument/2006/relationships/slideLayout" Target="../slideLayouts/slideLayout17.xml"/><Relationship Id="rId1" Type="http://schemas.openxmlformats.org/officeDocument/2006/relationships/tags" Target="../tags/tag160.xml"/><Relationship Id="rId6" Type="http://schemas.openxmlformats.org/officeDocument/2006/relationships/tags" Target="../tags/tag165.xml"/><Relationship Id="rId11" Type="http://schemas.openxmlformats.org/officeDocument/2006/relationships/tags" Target="../tags/tag170.xml"/><Relationship Id="rId5" Type="http://schemas.openxmlformats.org/officeDocument/2006/relationships/tags" Target="../tags/tag164.xml"/><Relationship Id="rId15" Type="http://schemas.openxmlformats.org/officeDocument/2006/relationships/tags" Target="../tags/tag174.xml"/><Relationship Id="rId10" Type="http://schemas.openxmlformats.org/officeDocument/2006/relationships/tags" Target="../tags/tag169.xml"/><Relationship Id="rId4" Type="http://schemas.openxmlformats.org/officeDocument/2006/relationships/tags" Target="../tags/tag163.xml"/><Relationship Id="rId9" Type="http://schemas.openxmlformats.org/officeDocument/2006/relationships/tags" Target="../tags/tag168.xml"/><Relationship Id="rId14" Type="http://schemas.openxmlformats.org/officeDocument/2006/relationships/tags" Target="../tags/tag173.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17.xml"/><Relationship Id="rId1" Type="http://schemas.openxmlformats.org/officeDocument/2006/relationships/tags" Target="../tags/tag175.xml"/></Relationships>
</file>

<file path=ppt/slides/_rels/slide4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17.xml"/><Relationship Id="rId1" Type="http://schemas.openxmlformats.org/officeDocument/2006/relationships/tags" Target="../tags/tag176.xml"/></Relationships>
</file>

<file path=ppt/slides/_rels/slide4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 Id="rId4"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17.xml"/><Relationship Id="rId1" Type="http://schemas.openxmlformats.org/officeDocument/2006/relationships/tags" Target="../tags/tag180.xml"/></Relationships>
</file>

<file path=ppt/slides/_rels/slide4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3" Type="http://schemas.openxmlformats.org/officeDocument/2006/relationships/tags" Target="../tags/tag183.xml"/><Relationship Id="rId2" Type="http://schemas.openxmlformats.org/officeDocument/2006/relationships/tags" Target="../tags/tag182.xml"/><Relationship Id="rId1" Type="http://schemas.openxmlformats.org/officeDocument/2006/relationships/tags" Target="../tags/tag181.xml"/><Relationship Id="rId6" Type="http://schemas.openxmlformats.org/officeDocument/2006/relationships/image" Target="../media/image28.jpeg"/><Relationship Id="rId5" Type="http://schemas.openxmlformats.org/officeDocument/2006/relationships/slideLayout" Target="../slideLayouts/slideLayout17.xml"/><Relationship Id="rId4" Type="http://schemas.openxmlformats.org/officeDocument/2006/relationships/tags" Target="../tags/tag184.xml"/></Relationships>
</file>

<file path=ppt/slides/_rels/slide50.xml.rels><?xml version="1.0" encoding="UTF-8" standalone="yes"?>
<Relationships xmlns="http://schemas.openxmlformats.org/package/2006/relationships"><Relationship Id="rId3" Type="http://schemas.openxmlformats.org/officeDocument/2006/relationships/tags" Target="../tags/tag187.xml"/><Relationship Id="rId2" Type="http://schemas.openxmlformats.org/officeDocument/2006/relationships/tags" Target="../tags/tag186.xml"/><Relationship Id="rId1" Type="http://schemas.openxmlformats.org/officeDocument/2006/relationships/tags" Target="../tags/tag185.xml"/><Relationship Id="rId6" Type="http://schemas.openxmlformats.org/officeDocument/2006/relationships/image" Target="../media/image29.png"/><Relationship Id="rId5" Type="http://schemas.openxmlformats.org/officeDocument/2006/relationships/slideLayout" Target="../slideLayouts/slideLayout17.xml"/><Relationship Id="rId4" Type="http://schemas.openxmlformats.org/officeDocument/2006/relationships/tags" Target="../tags/tag188.xml"/></Relationships>
</file>

<file path=ppt/slides/_rels/slide51.xml.rels><?xml version="1.0" encoding="UTF-8" standalone="yes"?>
<Relationships xmlns="http://schemas.openxmlformats.org/package/2006/relationships"><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 Id="rId6" Type="http://schemas.openxmlformats.org/officeDocument/2006/relationships/image" Target="../media/image30.jpeg"/><Relationship Id="rId5" Type="http://schemas.openxmlformats.org/officeDocument/2006/relationships/slideLayout" Target="../slideLayouts/slideLayout17.xml"/><Relationship Id="rId4" Type="http://schemas.openxmlformats.org/officeDocument/2006/relationships/tags" Target="../tags/tag192.xml"/></Relationships>
</file>

<file path=ppt/slides/_rels/slide52.xml.rels><?xml version="1.0" encoding="UTF-8" standalone="yes"?>
<Relationships xmlns="http://schemas.openxmlformats.org/package/2006/relationships"><Relationship Id="rId3" Type="http://schemas.openxmlformats.org/officeDocument/2006/relationships/tags" Target="../tags/tag195.xml"/><Relationship Id="rId2" Type="http://schemas.openxmlformats.org/officeDocument/2006/relationships/tags" Target="../tags/tag194.xml"/><Relationship Id="rId1" Type="http://schemas.openxmlformats.org/officeDocument/2006/relationships/tags" Target="../tags/tag193.xml"/><Relationship Id="rId6" Type="http://schemas.openxmlformats.org/officeDocument/2006/relationships/image" Target="../media/image31.jpeg"/><Relationship Id="rId5" Type="http://schemas.openxmlformats.org/officeDocument/2006/relationships/slideLayout" Target="../slideLayouts/slideLayout17.xml"/><Relationship Id="rId4" Type="http://schemas.openxmlformats.org/officeDocument/2006/relationships/tags" Target="../tags/tag196.xml"/></Relationships>
</file>

<file path=ppt/slides/_rels/slide53.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3" Type="http://schemas.openxmlformats.org/officeDocument/2006/relationships/tags" Target="../tags/tag199.xml"/><Relationship Id="rId2" Type="http://schemas.openxmlformats.org/officeDocument/2006/relationships/tags" Target="../tags/tag198.xml"/><Relationship Id="rId1" Type="http://schemas.openxmlformats.org/officeDocument/2006/relationships/tags" Target="../tags/tag197.xml"/><Relationship Id="rId6" Type="http://schemas.openxmlformats.org/officeDocument/2006/relationships/image" Target="../media/image33.jpeg"/><Relationship Id="rId5" Type="http://schemas.openxmlformats.org/officeDocument/2006/relationships/slideLayout" Target="../slideLayouts/slideLayout17.xml"/><Relationship Id="rId4" Type="http://schemas.openxmlformats.org/officeDocument/2006/relationships/tags" Target="../tags/tag200.xml"/></Relationships>
</file>

<file path=ppt/slides/_rels/slide55.xml.rels><?xml version="1.0" encoding="UTF-8" standalone="yes"?>
<Relationships xmlns="http://schemas.openxmlformats.org/package/2006/relationships"><Relationship Id="rId3" Type="http://schemas.openxmlformats.org/officeDocument/2006/relationships/tags" Target="../tags/tag203.xml"/><Relationship Id="rId2" Type="http://schemas.openxmlformats.org/officeDocument/2006/relationships/tags" Target="../tags/tag202.xml"/><Relationship Id="rId1" Type="http://schemas.openxmlformats.org/officeDocument/2006/relationships/tags" Target="../tags/tag201.xml"/><Relationship Id="rId6" Type="http://schemas.openxmlformats.org/officeDocument/2006/relationships/image" Target="../media/image34.jpeg"/><Relationship Id="rId5" Type="http://schemas.openxmlformats.org/officeDocument/2006/relationships/slideLayout" Target="../slideLayouts/slideLayout17.xml"/><Relationship Id="rId4" Type="http://schemas.openxmlformats.org/officeDocument/2006/relationships/tags" Target="../tags/tag20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05.xml"/></Relationships>
</file>

<file path=ppt/slides/_rels/slide6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8" Type="http://schemas.openxmlformats.org/officeDocument/2006/relationships/tags" Target="../tags/tag213.xml"/><Relationship Id="rId13" Type="http://schemas.openxmlformats.org/officeDocument/2006/relationships/notesSlide" Target="../notesSlides/notesSlide4.xml"/><Relationship Id="rId3" Type="http://schemas.openxmlformats.org/officeDocument/2006/relationships/tags" Target="../tags/tag208.xml"/><Relationship Id="rId7" Type="http://schemas.openxmlformats.org/officeDocument/2006/relationships/tags" Target="../tags/tag212.xml"/><Relationship Id="rId12" Type="http://schemas.openxmlformats.org/officeDocument/2006/relationships/slideLayout" Target="../slideLayouts/slideLayout15.xml"/><Relationship Id="rId2" Type="http://schemas.openxmlformats.org/officeDocument/2006/relationships/tags" Target="../tags/tag207.xml"/><Relationship Id="rId1" Type="http://schemas.openxmlformats.org/officeDocument/2006/relationships/tags" Target="../tags/tag206.xml"/><Relationship Id="rId6" Type="http://schemas.openxmlformats.org/officeDocument/2006/relationships/tags" Target="../tags/tag211.xml"/><Relationship Id="rId11" Type="http://schemas.openxmlformats.org/officeDocument/2006/relationships/tags" Target="../tags/tag216.xml"/><Relationship Id="rId5" Type="http://schemas.openxmlformats.org/officeDocument/2006/relationships/tags" Target="../tags/tag210.xml"/><Relationship Id="rId10" Type="http://schemas.openxmlformats.org/officeDocument/2006/relationships/tags" Target="../tags/tag215.xml"/><Relationship Id="rId4" Type="http://schemas.openxmlformats.org/officeDocument/2006/relationships/tags" Target="../tags/tag209.xml"/><Relationship Id="rId9" Type="http://schemas.openxmlformats.org/officeDocument/2006/relationships/tags" Target="../tags/tag214.xml"/></Relationships>
</file>

<file path=ppt/slides/_rels/slide62.xml.rels><?xml version="1.0" encoding="UTF-8" standalone="yes"?>
<Relationships xmlns="http://schemas.openxmlformats.org/package/2006/relationships"><Relationship Id="rId8" Type="http://schemas.openxmlformats.org/officeDocument/2006/relationships/tags" Target="../tags/tag224.xml"/><Relationship Id="rId13" Type="http://schemas.openxmlformats.org/officeDocument/2006/relationships/tags" Target="../tags/tag229.xml"/><Relationship Id="rId18" Type="http://schemas.openxmlformats.org/officeDocument/2006/relationships/notesSlide" Target="../notesSlides/notesSlide5.xml"/><Relationship Id="rId3" Type="http://schemas.openxmlformats.org/officeDocument/2006/relationships/tags" Target="../tags/tag219.xml"/><Relationship Id="rId7" Type="http://schemas.openxmlformats.org/officeDocument/2006/relationships/tags" Target="../tags/tag223.xml"/><Relationship Id="rId12" Type="http://schemas.openxmlformats.org/officeDocument/2006/relationships/tags" Target="../tags/tag228.xml"/><Relationship Id="rId17" Type="http://schemas.openxmlformats.org/officeDocument/2006/relationships/slideLayout" Target="../slideLayouts/slideLayout15.xml"/><Relationship Id="rId2" Type="http://schemas.openxmlformats.org/officeDocument/2006/relationships/tags" Target="../tags/tag218.xml"/><Relationship Id="rId16" Type="http://schemas.openxmlformats.org/officeDocument/2006/relationships/tags" Target="../tags/tag232.xml"/><Relationship Id="rId1" Type="http://schemas.openxmlformats.org/officeDocument/2006/relationships/tags" Target="../tags/tag217.xml"/><Relationship Id="rId6" Type="http://schemas.openxmlformats.org/officeDocument/2006/relationships/tags" Target="../tags/tag222.xml"/><Relationship Id="rId11" Type="http://schemas.openxmlformats.org/officeDocument/2006/relationships/tags" Target="../tags/tag227.xml"/><Relationship Id="rId5" Type="http://schemas.openxmlformats.org/officeDocument/2006/relationships/tags" Target="../tags/tag221.xml"/><Relationship Id="rId15" Type="http://schemas.openxmlformats.org/officeDocument/2006/relationships/tags" Target="../tags/tag231.xml"/><Relationship Id="rId10" Type="http://schemas.openxmlformats.org/officeDocument/2006/relationships/tags" Target="../tags/tag226.xml"/><Relationship Id="rId4" Type="http://schemas.openxmlformats.org/officeDocument/2006/relationships/tags" Target="../tags/tag220.xml"/><Relationship Id="rId9" Type="http://schemas.openxmlformats.org/officeDocument/2006/relationships/tags" Target="../tags/tag225.xml"/><Relationship Id="rId14" Type="http://schemas.openxmlformats.org/officeDocument/2006/relationships/tags" Target="../tags/tag230.xml"/></Relationships>
</file>

<file path=ppt/slides/_rels/slide63.xml.rels><?xml version="1.0" encoding="UTF-8" standalone="yes"?>
<Relationships xmlns="http://schemas.openxmlformats.org/package/2006/relationships"><Relationship Id="rId8" Type="http://schemas.openxmlformats.org/officeDocument/2006/relationships/tags" Target="../tags/tag240.xml"/><Relationship Id="rId13" Type="http://schemas.openxmlformats.org/officeDocument/2006/relationships/notesSlide" Target="../notesSlides/notesSlide6.xml"/><Relationship Id="rId3" Type="http://schemas.openxmlformats.org/officeDocument/2006/relationships/tags" Target="../tags/tag235.xml"/><Relationship Id="rId7" Type="http://schemas.openxmlformats.org/officeDocument/2006/relationships/tags" Target="../tags/tag239.xml"/><Relationship Id="rId12" Type="http://schemas.openxmlformats.org/officeDocument/2006/relationships/slideLayout" Target="../slideLayouts/slideLayout15.xml"/><Relationship Id="rId2" Type="http://schemas.openxmlformats.org/officeDocument/2006/relationships/tags" Target="../tags/tag234.xml"/><Relationship Id="rId1" Type="http://schemas.openxmlformats.org/officeDocument/2006/relationships/tags" Target="../tags/tag233.xml"/><Relationship Id="rId6" Type="http://schemas.openxmlformats.org/officeDocument/2006/relationships/tags" Target="../tags/tag238.xml"/><Relationship Id="rId11" Type="http://schemas.openxmlformats.org/officeDocument/2006/relationships/tags" Target="../tags/tag243.xml"/><Relationship Id="rId5" Type="http://schemas.openxmlformats.org/officeDocument/2006/relationships/tags" Target="../tags/tag237.xml"/><Relationship Id="rId10" Type="http://schemas.openxmlformats.org/officeDocument/2006/relationships/tags" Target="../tags/tag242.xml"/><Relationship Id="rId4" Type="http://schemas.openxmlformats.org/officeDocument/2006/relationships/tags" Target="../tags/tag236.xml"/><Relationship Id="rId9" Type="http://schemas.openxmlformats.org/officeDocument/2006/relationships/tags" Target="../tags/tag241.xml"/></Relationships>
</file>

<file path=ppt/slides/_rels/slide64.xml.rels><?xml version="1.0" encoding="UTF-8" standalone="yes"?>
<Relationships xmlns="http://schemas.openxmlformats.org/package/2006/relationships"><Relationship Id="rId8" Type="http://schemas.openxmlformats.org/officeDocument/2006/relationships/tags" Target="../tags/tag251.xml"/><Relationship Id="rId13" Type="http://schemas.openxmlformats.org/officeDocument/2006/relationships/tags" Target="../tags/tag256.xml"/><Relationship Id="rId3" Type="http://schemas.openxmlformats.org/officeDocument/2006/relationships/tags" Target="../tags/tag246.xml"/><Relationship Id="rId7" Type="http://schemas.openxmlformats.org/officeDocument/2006/relationships/tags" Target="../tags/tag250.xml"/><Relationship Id="rId12" Type="http://schemas.openxmlformats.org/officeDocument/2006/relationships/tags" Target="../tags/tag255.xml"/><Relationship Id="rId2" Type="http://schemas.openxmlformats.org/officeDocument/2006/relationships/tags" Target="../tags/tag245.xml"/><Relationship Id="rId16" Type="http://schemas.openxmlformats.org/officeDocument/2006/relationships/notesSlide" Target="../notesSlides/notesSlide7.xml"/><Relationship Id="rId1" Type="http://schemas.openxmlformats.org/officeDocument/2006/relationships/tags" Target="../tags/tag244.xml"/><Relationship Id="rId6" Type="http://schemas.openxmlformats.org/officeDocument/2006/relationships/tags" Target="../tags/tag249.xml"/><Relationship Id="rId11" Type="http://schemas.openxmlformats.org/officeDocument/2006/relationships/tags" Target="../tags/tag254.xml"/><Relationship Id="rId5" Type="http://schemas.openxmlformats.org/officeDocument/2006/relationships/tags" Target="../tags/tag248.xml"/><Relationship Id="rId15" Type="http://schemas.openxmlformats.org/officeDocument/2006/relationships/slideLayout" Target="../slideLayouts/slideLayout15.xml"/><Relationship Id="rId10" Type="http://schemas.openxmlformats.org/officeDocument/2006/relationships/tags" Target="../tags/tag253.xml"/><Relationship Id="rId4" Type="http://schemas.openxmlformats.org/officeDocument/2006/relationships/tags" Target="../tags/tag247.xml"/><Relationship Id="rId9" Type="http://schemas.openxmlformats.org/officeDocument/2006/relationships/tags" Target="../tags/tag252.xml"/><Relationship Id="rId14" Type="http://schemas.openxmlformats.org/officeDocument/2006/relationships/tags" Target="../tags/tag257.xml"/></Relationships>
</file>

<file path=ppt/slides/_rels/slide65.xml.rels><?xml version="1.0" encoding="UTF-8" standalone="yes"?>
<Relationships xmlns="http://schemas.openxmlformats.org/package/2006/relationships"><Relationship Id="rId8" Type="http://schemas.openxmlformats.org/officeDocument/2006/relationships/tags" Target="../tags/tag265.xml"/><Relationship Id="rId13" Type="http://schemas.openxmlformats.org/officeDocument/2006/relationships/notesSlide" Target="../notesSlides/notesSlide8.xml"/><Relationship Id="rId3" Type="http://schemas.openxmlformats.org/officeDocument/2006/relationships/tags" Target="../tags/tag260.xml"/><Relationship Id="rId7" Type="http://schemas.openxmlformats.org/officeDocument/2006/relationships/tags" Target="../tags/tag264.xml"/><Relationship Id="rId12" Type="http://schemas.openxmlformats.org/officeDocument/2006/relationships/slideLayout" Target="../slideLayouts/slideLayout15.xml"/><Relationship Id="rId2" Type="http://schemas.openxmlformats.org/officeDocument/2006/relationships/tags" Target="../tags/tag259.xml"/><Relationship Id="rId1" Type="http://schemas.openxmlformats.org/officeDocument/2006/relationships/tags" Target="../tags/tag258.xml"/><Relationship Id="rId6" Type="http://schemas.openxmlformats.org/officeDocument/2006/relationships/tags" Target="../tags/tag263.xml"/><Relationship Id="rId11" Type="http://schemas.openxmlformats.org/officeDocument/2006/relationships/tags" Target="../tags/tag268.xml"/><Relationship Id="rId5" Type="http://schemas.openxmlformats.org/officeDocument/2006/relationships/tags" Target="../tags/tag262.xml"/><Relationship Id="rId10" Type="http://schemas.openxmlformats.org/officeDocument/2006/relationships/tags" Target="../tags/tag267.xml"/><Relationship Id="rId4" Type="http://schemas.openxmlformats.org/officeDocument/2006/relationships/tags" Target="../tags/tag261.xml"/><Relationship Id="rId9" Type="http://schemas.openxmlformats.org/officeDocument/2006/relationships/tags" Target="../tags/tag266.xml"/></Relationships>
</file>

<file path=ppt/slides/_rels/slide66.xml.rels><?xml version="1.0" encoding="UTF-8" standalone="yes"?>
<Relationships xmlns="http://schemas.openxmlformats.org/package/2006/relationships"><Relationship Id="rId8" Type="http://schemas.openxmlformats.org/officeDocument/2006/relationships/tags" Target="../tags/tag276.xml"/><Relationship Id="rId13" Type="http://schemas.openxmlformats.org/officeDocument/2006/relationships/notesSlide" Target="../notesSlides/notesSlide9.xml"/><Relationship Id="rId3" Type="http://schemas.openxmlformats.org/officeDocument/2006/relationships/tags" Target="../tags/tag271.xml"/><Relationship Id="rId7" Type="http://schemas.openxmlformats.org/officeDocument/2006/relationships/tags" Target="../tags/tag275.xml"/><Relationship Id="rId12" Type="http://schemas.openxmlformats.org/officeDocument/2006/relationships/slideLayout" Target="../slideLayouts/slideLayout15.xml"/><Relationship Id="rId2" Type="http://schemas.openxmlformats.org/officeDocument/2006/relationships/tags" Target="../tags/tag270.xml"/><Relationship Id="rId1" Type="http://schemas.openxmlformats.org/officeDocument/2006/relationships/tags" Target="../tags/tag269.xml"/><Relationship Id="rId6" Type="http://schemas.openxmlformats.org/officeDocument/2006/relationships/tags" Target="../tags/tag274.xml"/><Relationship Id="rId11" Type="http://schemas.openxmlformats.org/officeDocument/2006/relationships/tags" Target="../tags/tag279.xml"/><Relationship Id="rId5" Type="http://schemas.openxmlformats.org/officeDocument/2006/relationships/tags" Target="../tags/tag273.xml"/><Relationship Id="rId10" Type="http://schemas.openxmlformats.org/officeDocument/2006/relationships/tags" Target="../tags/tag278.xml"/><Relationship Id="rId4" Type="http://schemas.openxmlformats.org/officeDocument/2006/relationships/tags" Target="../tags/tag272.xml"/><Relationship Id="rId9" Type="http://schemas.openxmlformats.org/officeDocument/2006/relationships/tags" Target="../tags/tag277.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28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MH_Picture_1"/>
          <p:cNvSpPr/>
          <p:nvPr>
            <p:custDataLst>
              <p:tags r:id="rId2"/>
            </p:custDataLst>
          </p:nvPr>
        </p:nvSpPr>
        <p:spPr>
          <a:xfrm>
            <a:off x="2397843" y="1061577"/>
            <a:ext cx="9794157" cy="4218037"/>
          </a:xfrm>
          <a:custGeom>
            <a:avLst/>
            <a:gdLst>
              <a:gd name="connsiteX0" fmla="*/ 0 w 7345618"/>
              <a:gd name="connsiteY0" fmla="*/ 0 h 4218037"/>
              <a:gd name="connsiteX1" fmla="*/ 7345618 w 7345618"/>
              <a:gd name="connsiteY1" fmla="*/ 0 h 4218037"/>
              <a:gd name="connsiteX2" fmla="*/ 7345618 w 7345618"/>
              <a:gd name="connsiteY2" fmla="*/ 4218037 h 4218037"/>
              <a:gd name="connsiteX3" fmla="*/ 2604652 w 7345618"/>
              <a:gd name="connsiteY3" fmla="*/ 4218037 h 4218037"/>
            </a:gdLst>
            <a:ahLst/>
            <a:cxnLst>
              <a:cxn ang="0">
                <a:pos x="connsiteX0" y="connsiteY0"/>
              </a:cxn>
              <a:cxn ang="0">
                <a:pos x="connsiteX1" y="connsiteY1"/>
              </a:cxn>
              <a:cxn ang="0">
                <a:pos x="connsiteX2" y="connsiteY2"/>
              </a:cxn>
              <a:cxn ang="0">
                <a:pos x="connsiteX3" y="connsiteY3"/>
              </a:cxn>
            </a:cxnLst>
            <a:rect l="l" t="t" r="r" b="b"/>
            <a:pathLst>
              <a:path w="7345618" h="4218037">
                <a:moveTo>
                  <a:pt x="0" y="0"/>
                </a:moveTo>
                <a:lnTo>
                  <a:pt x="7345618" y="0"/>
                </a:lnTo>
                <a:lnTo>
                  <a:pt x="7345618" y="4218037"/>
                </a:lnTo>
                <a:lnTo>
                  <a:pt x="2604652" y="4218037"/>
                </a:lnTo>
                <a:close/>
              </a:path>
            </a:pathLst>
          </a:custGeom>
          <a:blipFill dpi="0" rotWithShape="1">
            <a:blip r:embed="rId7" cstate="print">
              <a:alphaModFix amt="80000"/>
            </a:blip>
            <a:srcRect/>
            <a:stretch>
              <a:fillRect t="-3066" b="-2835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MH_Text_1"/>
          <p:cNvSpPr/>
          <p:nvPr>
            <p:custDataLst>
              <p:tags r:id="rId3"/>
            </p:custDataLst>
          </p:nvPr>
        </p:nvSpPr>
        <p:spPr>
          <a:xfrm>
            <a:off x="4643" y="1060521"/>
            <a:ext cx="5308601" cy="4234460"/>
          </a:xfrm>
          <a:custGeom>
            <a:avLst/>
            <a:gdLst>
              <a:gd name="connsiteX0" fmla="*/ 0 w 3905250"/>
              <a:gd name="connsiteY0" fmla="*/ 0 h 4204068"/>
              <a:gd name="connsiteX1" fmla="*/ 1314884 w 3905250"/>
              <a:gd name="connsiteY1" fmla="*/ 0 h 4204068"/>
              <a:gd name="connsiteX2" fmla="*/ 3905250 w 3905250"/>
              <a:gd name="connsiteY2" fmla="*/ 4204068 h 4204068"/>
              <a:gd name="connsiteX3" fmla="*/ 0 w 3905250"/>
              <a:gd name="connsiteY3" fmla="*/ 4204068 h 4204068"/>
            </a:gdLst>
            <a:ahLst/>
            <a:cxnLst>
              <a:cxn ang="0">
                <a:pos x="connsiteX0" y="connsiteY0"/>
              </a:cxn>
              <a:cxn ang="0">
                <a:pos x="connsiteX1" y="connsiteY1"/>
              </a:cxn>
              <a:cxn ang="0">
                <a:pos x="connsiteX2" y="connsiteY2"/>
              </a:cxn>
              <a:cxn ang="0">
                <a:pos x="connsiteX3" y="connsiteY3"/>
              </a:cxn>
            </a:cxnLst>
            <a:rect l="l" t="t" r="r" b="b"/>
            <a:pathLst>
              <a:path w="3905250" h="4204068">
                <a:moveTo>
                  <a:pt x="0" y="0"/>
                </a:moveTo>
                <a:lnTo>
                  <a:pt x="1314884" y="0"/>
                </a:lnTo>
                <a:lnTo>
                  <a:pt x="3905250" y="4204068"/>
                </a:lnTo>
                <a:lnTo>
                  <a:pt x="0" y="4204068"/>
                </a:lnTo>
                <a:close/>
              </a:path>
            </a:pathLst>
          </a:custGeom>
          <a:solidFill>
            <a:srgbClr val="0080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0000" tIns="0" rIns="0" bIns="144000" rtlCol="0" anchor="b" anchorCtr="0">
            <a:normAutofit/>
          </a:bodyPr>
          <a:lstStyle/>
          <a:p>
            <a:pPr>
              <a:lnSpc>
                <a:spcPct val="120000"/>
              </a:lnSpc>
            </a:pPr>
            <a:endParaRPr lang="en-US" altLang="zh-CN" sz="2000" dirty="0" smtClean="0">
              <a:solidFill>
                <a:srgbClr val="292929"/>
              </a:solidFill>
              <a:latin typeface="Calibri" panose="020F0502020204030204" charset="0"/>
            </a:endParaRPr>
          </a:p>
        </p:txBody>
      </p:sp>
      <p:cxnSp>
        <p:nvCxnSpPr>
          <p:cNvPr id="9" name="MH_Other_2"/>
          <p:cNvCxnSpPr/>
          <p:nvPr>
            <p:custDataLst>
              <p:tags r:id="rId4"/>
            </p:custDataLst>
          </p:nvPr>
        </p:nvCxnSpPr>
        <p:spPr>
          <a:xfrm>
            <a:off x="1200897" y="0"/>
            <a:ext cx="5683044" cy="685800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2" name="MH_Other_3"/>
          <p:cNvSpPr/>
          <p:nvPr>
            <p:custDataLst>
              <p:tags r:id="rId5"/>
            </p:custDataLst>
          </p:nvPr>
        </p:nvSpPr>
        <p:spPr>
          <a:xfrm>
            <a:off x="5404987" y="4717307"/>
            <a:ext cx="6787015" cy="385547"/>
          </a:xfrm>
          <a:custGeom>
            <a:avLst/>
            <a:gdLst>
              <a:gd name="connsiteX0" fmla="*/ 0 w 5090261"/>
              <a:gd name="connsiteY0" fmla="*/ 0 h 385547"/>
              <a:gd name="connsiteX1" fmla="*/ 5090261 w 5090261"/>
              <a:gd name="connsiteY1" fmla="*/ 0 h 385547"/>
              <a:gd name="connsiteX2" fmla="*/ 5090261 w 5090261"/>
              <a:gd name="connsiteY2" fmla="*/ 385547 h 385547"/>
              <a:gd name="connsiteX3" fmla="*/ 240311 w 5090261"/>
              <a:gd name="connsiteY3" fmla="*/ 385547 h 385547"/>
            </a:gdLst>
            <a:ahLst/>
            <a:cxnLst>
              <a:cxn ang="0">
                <a:pos x="connsiteX0" y="connsiteY0"/>
              </a:cxn>
              <a:cxn ang="0">
                <a:pos x="connsiteX1" y="connsiteY1"/>
              </a:cxn>
              <a:cxn ang="0">
                <a:pos x="connsiteX2" y="connsiteY2"/>
              </a:cxn>
              <a:cxn ang="0">
                <a:pos x="connsiteX3" y="connsiteY3"/>
              </a:cxn>
            </a:cxnLst>
            <a:rect l="l" t="t" r="r" b="b"/>
            <a:pathLst>
              <a:path w="5090261" h="385547">
                <a:moveTo>
                  <a:pt x="0" y="0"/>
                </a:moveTo>
                <a:lnTo>
                  <a:pt x="5090261" y="0"/>
                </a:lnTo>
                <a:lnTo>
                  <a:pt x="5090261" y="385547"/>
                </a:lnTo>
                <a:lnTo>
                  <a:pt x="240311" y="385547"/>
                </a:lnTo>
                <a:close/>
              </a:path>
            </a:pathLst>
          </a:custGeom>
          <a:solidFill>
            <a:srgbClr val="66CC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Ins="324000" rtlCol="0" anchor="ctr"/>
          <a:lstStyle/>
          <a:p>
            <a:pPr algn="r"/>
            <a:endParaRPr lang="zh-CN" altLang="en-US" dirty="0">
              <a:solidFill>
                <a:srgbClr val="292929"/>
              </a:solidFill>
            </a:endParaRPr>
          </a:p>
        </p:txBody>
      </p:sp>
      <p:sp>
        <p:nvSpPr>
          <p:cNvPr id="10" name="TextBox 9"/>
          <p:cNvSpPr txBox="1"/>
          <p:nvPr/>
        </p:nvSpPr>
        <p:spPr>
          <a:xfrm>
            <a:off x="201928" y="2586439"/>
            <a:ext cx="3866607" cy="2616200"/>
          </a:xfrm>
          <a:prstGeom prst="rect">
            <a:avLst/>
          </a:prstGeom>
          <a:noFill/>
        </p:spPr>
        <p:txBody>
          <a:bodyPr wrap="square" rtlCol="0">
            <a:spAutoFit/>
          </a:bodyPr>
          <a:lstStyle/>
          <a:p>
            <a:r>
              <a:rPr lang="zh-CN" altLang="en-US" sz="8000" b="1" spc="50" dirty="0" smtClean="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rPr>
              <a:t>软件</a:t>
            </a:r>
            <a:endParaRPr lang="en-US" altLang="zh-CN" sz="8000" b="1" spc="50" dirty="0" smtClean="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endParaRPr>
          </a:p>
          <a:p>
            <a:pPr algn="r"/>
            <a:r>
              <a:rPr lang="zh-CN" altLang="en-US" sz="8000" b="1" spc="50" dirty="0" smtClean="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rPr>
              <a:t>工程</a:t>
            </a:r>
            <a:endParaRPr lang="zh-CN" altLang="en-US" sz="8000" b="1" spc="50" dirty="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endParaRPr>
          </a:p>
        </p:txBody>
      </p:sp>
    </p:spTree>
    <p:custDataLst>
      <p:tags r:id="rId1"/>
    </p:custDataLst>
  </p:cSld>
  <p:clrMapOvr>
    <a:masterClrMapping/>
  </p:clrMapOvr>
  <p:transition>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solidFill>
                  <a:srgbClr val="FF0000"/>
                </a:solidFill>
              </a:rPr>
              <a:t>9  </a:t>
            </a:r>
            <a:r>
              <a:rPr lang="zh-CN" altLang="zh-CN">
                <a:solidFill>
                  <a:srgbClr val="FF0000"/>
                </a:solidFill>
              </a:rPr>
              <a:t>移动互联网与软件工程</a:t>
            </a:r>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本章概述</a:t>
            </a:r>
          </a:p>
        </p:txBody>
      </p:sp>
      <p:sp>
        <p:nvSpPr>
          <p:cNvPr id="100" name="文本框 99"/>
          <p:cNvSpPr txBox="1"/>
          <p:nvPr/>
        </p:nvSpPr>
        <p:spPr>
          <a:xfrm>
            <a:off x="1463040" y="2057400"/>
            <a:ext cx="10126345" cy="3653790"/>
          </a:xfrm>
          <a:prstGeom prst="rect">
            <a:avLst/>
          </a:prstGeom>
          <a:noFill/>
          <a:ln w="9525">
            <a:noFill/>
          </a:ln>
        </p:spPr>
        <p:txBody>
          <a:bodyPr wrap="square">
            <a:spAutoFit/>
          </a:bodyPr>
          <a:lstStyle/>
          <a:p>
            <a:pPr indent="0" algn="l" fontAlgn="auto">
              <a:lnSpc>
                <a:spcPct val="130000"/>
              </a:lnSpc>
              <a:buClrTx/>
              <a:buNone/>
            </a:pPr>
            <a:r>
              <a:rPr lang="en-US">
                <a:latin typeface="微软雅黑" panose="020B0503020204020204" charset="-122"/>
                <a:ea typeface="微软雅黑" panose="020B0503020204020204" charset="-122"/>
                <a:sym typeface="+mn-ea"/>
              </a:rPr>
              <a:t>       </a:t>
            </a:r>
            <a:r>
              <a:rPr>
                <a:latin typeface="微软雅黑" panose="020B0503020204020204" charset="-122"/>
                <a:ea typeface="微软雅黑" panose="020B0503020204020204" charset="-122"/>
                <a:sym typeface="+mn-ea"/>
              </a:rPr>
              <a:t>互联网和无线通信技术的快速发展给我们的生活带来了巨大变化，人们可以通过计算机与互联网的无线连接获取信息，随时随地交流与沟通。如今，由于移动互联网的高速扩张和普及，越来越多的人因为职业和生活的需要，会通过最新技术随时随地连接无线网络收发电子邮件、查阅信息、浏览新闻、订购各种商品，真正实现了“把互联网装入口袋里”的梦想。在这一互联网技术革命周期的发展之初，财富开始聚集于新周期最先抢占市场份额的赢家手上，并且将会比上一个互联网时代创造出更多的价值。例如，苹果公司发布iPhone，iPad系列智能终端将移动互联网推向了新的高潮，在全球范围内引起了广泛关注。</a:t>
            </a:r>
          </a:p>
          <a:p>
            <a:pPr indent="0" algn="l" fontAlgn="auto">
              <a:lnSpc>
                <a:spcPct val="130000"/>
              </a:lnSpc>
              <a:buClrTx/>
              <a:buNone/>
            </a:pPr>
            <a:r>
              <a:rPr>
                <a:latin typeface="微软雅黑" panose="020B0503020204020204" charset="-122"/>
                <a:ea typeface="微软雅黑" panose="020B0503020204020204" charset="-122"/>
                <a:sym typeface="+mn-ea"/>
              </a:rPr>
              <a:t>       本章主要介绍移动互联网，要求了解并掌握移动互联网的三要素及其所使用的技术，了解移动互联网的安全技术。</a:t>
            </a:r>
          </a:p>
          <a:p>
            <a:pPr indent="0" algn="l" fontAlgn="auto">
              <a:lnSpc>
                <a:spcPct val="130000"/>
              </a:lnSpc>
              <a:buClrTx/>
              <a:buNone/>
            </a:pPr>
            <a:r>
              <a:rPr>
                <a:latin typeface="微软雅黑" panose="020B0503020204020204" charset="-122"/>
                <a:ea typeface="微软雅黑" panose="020B0503020204020204" charset="-122"/>
                <a:sym typeface="+mn-ea"/>
              </a:rPr>
              <a:t>       ★ 本章重点：</a:t>
            </a:r>
            <a:r>
              <a:rPr>
                <a:solidFill>
                  <a:srgbClr val="C00000"/>
                </a:solidFill>
                <a:latin typeface="微软雅黑" panose="020B0503020204020204" charset="-122"/>
                <a:ea typeface="微软雅黑" panose="020B0503020204020204" charset="-122"/>
                <a:sym typeface="+mn-ea"/>
              </a:rPr>
              <a:t>移动互联网的概念；移动互联网的三要素及其使用的技术。</a:t>
            </a:r>
          </a:p>
        </p:txBody>
      </p:sp>
      <p:sp>
        <p:nvSpPr>
          <p:cNvPr id="7" name="文本框 6"/>
          <p:cNvSpPr txBox="1"/>
          <p:nvPr/>
        </p:nvSpPr>
        <p:spPr>
          <a:xfrm>
            <a:off x="754380" y="2711450"/>
            <a:ext cx="476250" cy="258064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移动互联网与软件工程</a:t>
            </a:r>
          </a:p>
        </p:txBody>
      </p:sp>
    </p:spTree>
  </p:cSld>
  <p:clrMapOvr>
    <a:masterClrMapping/>
  </p:clrMapOvr>
  <p:transition>
    <p:randomBar dir="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任意多边形 17"/>
          <p:cNvSpPr/>
          <p:nvPr>
            <p:custDataLst>
              <p:tags r:id="rId2"/>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sp>
        <p:nvSpPr>
          <p:cNvPr id="5123" name="Text Box 20"/>
          <p:cNvSpPr txBox="1">
            <a:spLocks noChangeArrowheads="1"/>
          </p:cNvSpPr>
          <p:nvPr>
            <p:custDataLst>
              <p:tags r:id="rId3"/>
            </p:custDataLst>
          </p:nvPr>
        </p:nvSpPr>
        <p:spPr bwMode="auto">
          <a:xfrm>
            <a:off x="1794269" y="1781267"/>
            <a:ext cx="2415116" cy="489585"/>
          </a:xfrm>
          <a:prstGeom prst="rect">
            <a:avLst/>
          </a:prstGeom>
          <a:noFill/>
          <a:ln w="9525">
            <a:noFill/>
            <a:miter lim="800000"/>
          </a:ln>
          <a:effectLst/>
        </p:spPr>
        <p:txBody>
          <a:bodyPr>
            <a:spAutoFit/>
          </a:bodyPr>
          <a:lstStyle/>
          <a:p>
            <a:pPr algn="dist" eaLnBrk="1" hangingPunct="1">
              <a:buFont typeface="Arial" panose="020B0604020202020204" pitchFamily="34" charset="0"/>
              <a:buNone/>
            </a:pPr>
            <a:r>
              <a:rPr lang="zh-CN" altLang="en-US" sz="2400" dirty="0">
                <a:solidFill>
                  <a:srgbClr val="FFFFFF"/>
                </a:solidFill>
                <a:latin typeface="Arial Black" panose="020B0A04020102020204" pitchFamily="34" charset="0"/>
                <a:ea typeface="华文新魏" panose="02010800040101010101" pitchFamily="2" charset="-122"/>
              </a:rPr>
              <a:t>Contents</a:t>
            </a:r>
          </a:p>
        </p:txBody>
      </p:sp>
      <p:sp>
        <p:nvSpPr>
          <p:cNvPr id="5124" name="文本框 20"/>
          <p:cNvSpPr txBox="1">
            <a:spLocks noChangeArrowheads="1"/>
          </p:cNvSpPr>
          <p:nvPr>
            <p:custDataLst>
              <p:tags r:id="rId4"/>
            </p:custDataLst>
          </p:nvPr>
        </p:nvSpPr>
        <p:spPr bwMode="auto">
          <a:xfrm>
            <a:off x="178820" y="828675"/>
            <a:ext cx="1797049" cy="822960"/>
          </a:xfrm>
          <a:prstGeom prst="rect">
            <a:avLst/>
          </a:prstGeom>
          <a:noFill/>
          <a:ln w="9525">
            <a:noFill/>
            <a:miter lim="800000"/>
          </a:ln>
        </p:spPr>
        <p:txBody>
          <a:bodyPr>
            <a:spAutoFit/>
          </a:bodyPr>
          <a:lstStyle/>
          <a:p>
            <a:pPr algn="ctr" eaLnBrk="1" hangingPunct="1">
              <a:buFont typeface="Arial" panose="020B0604020202020204" pitchFamily="34" charset="0"/>
              <a:buNone/>
            </a:pPr>
            <a:r>
              <a:rPr lang="zh-CN" altLang="en-US" sz="4800" dirty="0">
                <a:solidFill>
                  <a:srgbClr val="FFFFFF"/>
                </a:solidFill>
                <a:latin typeface="微软雅黑" panose="020B0503020204020204" charset="-122"/>
              </a:rPr>
              <a:t>目录</a:t>
            </a:r>
          </a:p>
        </p:txBody>
      </p:sp>
      <p:cxnSp>
        <p:nvCxnSpPr>
          <p:cNvPr id="5125" name="直接连接符 22"/>
          <p:cNvCxnSpPr>
            <a:cxnSpLocks noChangeShapeType="1"/>
          </p:cNvCxnSpPr>
          <p:nvPr>
            <p:custDataLst>
              <p:tags r:id="rId5"/>
            </p:custDataLst>
          </p:nvPr>
        </p:nvCxnSpPr>
        <p:spPr bwMode="auto">
          <a:xfrm>
            <a:off x="762001" y="1628775"/>
            <a:ext cx="3240617" cy="0"/>
          </a:xfrm>
          <a:prstGeom prst="line">
            <a:avLst/>
          </a:prstGeom>
          <a:noFill/>
          <a:ln w="9525">
            <a:solidFill>
              <a:srgbClr val="FFFFFF"/>
            </a:solidFill>
            <a:prstDash val="sysDash"/>
            <a:round/>
          </a:ln>
        </p:spPr>
      </p:cxnSp>
      <p:cxnSp>
        <p:nvCxnSpPr>
          <p:cNvPr id="5126" name="直接连接符 24"/>
          <p:cNvCxnSpPr>
            <a:cxnSpLocks noChangeShapeType="1"/>
          </p:cNvCxnSpPr>
          <p:nvPr>
            <p:custDataLst>
              <p:tags r:id="rId6"/>
            </p:custDataLst>
          </p:nvPr>
        </p:nvCxnSpPr>
        <p:spPr bwMode="auto">
          <a:xfrm>
            <a:off x="1761067" y="534989"/>
            <a:ext cx="0" cy="2124075"/>
          </a:xfrm>
          <a:prstGeom prst="line">
            <a:avLst/>
          </a:prstGeom>
          <a:noFill/>
          <a:ln w="9525">
            <a:solidFill>
              <a:srgbClr val="FFFFFF"/>
            </a:solidFill>
            <a:prstDash val="sysDash"/>
            <a:round/>
          </a:ln>
        </p:spPr>
      </p:cxnSp>
      <p:grpSp>
        <p:nvGrpSpPr>
          <p:cNvPr id="17" name="组合 16"/>
          <p:cNvGrpSpPr/>
          <p:nvPr/>
        </p:nvGrpSpPr>
        <p:grpSpPr>
          <a:xfrm>
            <a:off x="5643245" y="1568450"/>
            <a:ext cx="5085080" cy="611505"/>
            <a:chOff x="8728" y="2565"/>
            <a:chExt cx="8008" cy="963"/>
          </a:xfrm>
        </p:grpSpPr>
        <p:pic>
          <p:nvPicPr>
            <p:cNvPr id="47" name="图片 14"/>
            <p:cNvPicPr>
              <a:picLocks noChangeAspect="1"/>
            </p:cNvPicPr>
            <p:nvPr/>
          </p:nvPicPr>
          <p:blipFill>
            <a:blip r:embed="rId9" cstate="print"/>
            <a:stretch>
              <a:fillRect/>
            </a:stretch>
          </p:blipFill>
          <p:spPr>
            <a:xfrm>
              <a:off x="8728" y="2565"/>
              <a:ext cx="963" cy="963"/>
            </a:xfrm>
            <a:prstGeom prst="rect">
              <a:avLst/>
            </a:prstGeom>
            <a:noFill/>
            <a:ln w="9525">
              <a:noFill/>
            </a:ln>
          </p:spPr>
        </p:pic>
        <p:sp>
          <p:nvSpPr>
            <p:cNvPr id="48" name="椭圆 47"/>
            <p:cNvSpPr/>
            <p:nvPr/>
          </p:nvSpPr>
          <p:spPr>
            <a:xfrm>
              <a:off x="8728" y="2565"/>
              <a:ext cx="963" cy="963"/>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2" name="组合 20"/>
            <p:cNvGrpSpPr/>
            <p:nvPr/>
          </p:nvGrpSpPr>
          <p:grpSpPr>
            <a:xfrm>
              <a:off x="9883" y="2565"/>
              <a:ext cx="6853" cy="960"/>
              <a:chOff x="6004452" y="1971917"/>
              <a:chExt cx="3406249" cy="610204"/>
            </a:xfrm>
          </p:grpSpPr>
          <p:pic>
            <p:nvPicPr>
              <p:cNvPr id="50" name="图片 10"/>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51" name="圆角矩形 50"/>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52" name="文本框 19"/>
            <p:cNvSpPr txBox="1"/>
            <p:nvPr/>
          </p:nvSpPr>
          <p:spPr>
            <a:xfrm>
              <a:off x="10325" y="2660"/>
              <a:ext cx="6217"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移动互联网简介</a:t>
              </a:r>
            </a:p>
          </p:txBody>
        </p:sp>
        <p:sp>
          <p:nvSpPr>
            <p:cNvPr id="53" name="文本框 21"/>
            <p:cNvSpPr txBox="1"/>
            <p:nvPr/>
          </p:nvSpPr>
          <p:spPr>
            <a:xfrm>
              <a:off x="8788" y="2700"/>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01</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16" name="组合 15"/>
          <p:cNvGrpSpPr/>
          <p:nvPr/>
        </p:nvGrpSpPr>
        <p:grpSpPr>
          <a:xfrm>
            <a:off x="4522470" y="3125470"/>
            <a:ext cx="5048250" cy="612775"/>
            <a:chOff x="7754" y="4005"/>
            <a:chExt cx="7781" cy="965"/>
          </a:xfrm>
        </p:grpSpPr>
        <p:pic>
          <p:nvPicPr>
            <p:cNvPr id="54" name="图片 24"/>
            <p:cNvPicPr>
              <a:picLocks noChangeAspect="1"/>
            </p:cNvPicPr>
            <p:nvPr/>
          </p:nvPicPr>
          <p:blipFill>
            <a:blip r:embed="rId9" cstate="print"/>
            <a:stretch>
              <a:fillRect/>
            </a:stretch>
          </p:blipFill>
          <p:spPr>
            <a:xfrm>
              <a:off x="7754" y="4005"/>
              <a:ext cx="963" cy="965"/>
            </a:xfrm>
            <a:prstGeom prst="rect">
              <a:avLst/>
            </a:prstGeom>
            <a:noFill/>
            <a:ln w="9525">
              <a:noFill/>
            </a:ln>
          </p:spPr>
        </p:pic>
        <p:sp>
          <p:nvSpPr>
            <p:cNvPr id="55" name="椭圆 54"/>
            <p:cNvSpPr/>
            <p:nvPr/>
          </p:nvSpPr>
          <p:spPr>
            <a:xfrm>
              <a:off x="7754" y="4005"/>
              <a:ext cx="963" cy="96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3" name="组合 26"/>
            <p:cNvGrpSpPr/>
            <p:nvPr/>
          </p:nvGrpSpPr>
          <p:grpSpPr>
            <a:xfrm>
              <a:off x="8909" y="4005"/>
              <a:ext cx="6360" cy="963"/>
              <a:chOff x="6004452" y="1971917"/>
              <a:chExt cx="3406249" cy="610204"/>
            </a:xfrm>
          </p:grpSpPr>
          <p:pic>
            <p:nvPicPr>
              <p:cNvPr id="57" name="图片 29"/>
              <p:cNvPicPr>
                <a:picLocks noChangeAspect="1"/>
              </p:cNvPicPr>
              <p:nvPr/>
            </p:nvPicPr>
            <p:blipFill>
              <a:blip r:embed="rId11" cstate="print"/>
              <a:stretch>
                <a:fillRect/>
              </a:stretch>
            </p:blipFill>
            <p:spPr>
              <a:xfrm>
                <a:off x="6004452" y="1973117"/>
                <a:ext cx="3406249" cy="609004"/>
              </a:xfrm>
              <a:prstGeom prst="rect">
                <a:avLst/>
              </a:prstGeom>
              <a:noFill/>
              <a:ln w="9525">
                <a:noFill/>
              </a:ln>
            </p:spPr>
          </p:pic>
          <p:sp>
            <p:nvSpPr>
              <p:cNvPr id="58" name="圆角矩形 57"/>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59" name="文本框 27"/>
            <p:cNvSpPr txBox="1"/>
            <p:nvPr/>
          </p:nvSpPr>
          <p:spPr>
            <a:xfrm>
              <a:off x="9352" y="4103"/>
              <a:ext cx="6183"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移动互联网应用技术</a:t>
              </a:r>
            </a:p>
          </p:txBody>
        </p:sp>
        <p:sp>
          <p:nvSpPr>
            <p:cNvPr id="60" name="文本框 28"/>
            <p:cNvSpPr txBox="1"/>
            <p:nvPr/>
          </p:nvSpPr>
          <p:spPr>
            <a:xfrm>
              <a:off x="7814" y="4143"/>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02</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15" name="组合 14"/>
          <p:cNvGrpSpPr/>
          <p:nvPr/>
        </p:nvGrpSpPr>
        <p:grpSpPr>
          <a:xfrm>
            <a:off x="3343910" y="4698365"/>
            <a:ext cx="4770755" cy="612775"/>
            <a:chOff x="6616" y="5448"/>
            <a:chExt cx="7513" cy="965"/>
          </a:xfrm>
        </p:grpSpPr>
        <p:pic>
          <p:nvPicPr>
            <p:cNvPr id="61" name="图片 32"/>
            <p:cNvPicPr>
              <a:picLocks noChangeAspect="1"/>
            </p:cNvPicPr>
            <p:nvPr/>
          </p:nvPicPr>
          <p:blipFill>
            <a:blip r:embed="rId9" cstate="print"/>
            <a:stretch>
              <a:fillRect/>
            </a:stretch>
          </p:blipFill>
          <p:spPr>
            <a:xfrm>
              <a:off x="6616" y="5448"/>
              <a:ext cx="963" cy="965"/>
            </a:xfrm>
            <a:prstGeom prst="rect">
              <a:avLst/>
            </a:prstGeom>
            <a:noFill/>
            <a:ln w="9525">
              <a:noFill/>
            </a:ln>
          </p:spPr>
        </p:pic>
        <p:sp>
          <p:nvSpPr>
            <p:cNvPr id="62" name="椭圆 61"/>
            <p:cNvSpPr/>
            <p:nvPr/>
          </p:nvSpPr>
          <p:spPr>
            <a:xfrm>
              <a:off x="6616" y="5448"/>
              <a:ext cx="963" cy="96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4" name="组合 34"/>
            <p:cNvGrpSpPr/>
            <p:nvPr/>
          </p:nvGrpSpPr>
          <p:grpSpPr>
            <a:xfrm>
              <a:off x="7771" y="5448"/>
              <a:ext cx="6358" cy="962"/>
              <a:chOff x="6004452" y="1971917"/>
              <a:chExt cx="3406249" cy="610204"/>
            </a:xfrm>
          </p:grpSpPr>
          <p:pic>
            <p:nvPicPr>
              <p:cNvPr id="64" name="图片 37"/>
              <p:cNvPicPr>
                <a:picLocks noChangeAspect="1"/>
              </p:cNvPicPr>
              <p:nvPr/>
            </p:nvPicPr>
            <p:blipFill>
              <a:blip r:embed="rId11" cstate="print"/>
              <a:stretch>
                <a:fillRect/>
              </a:stretch>
            </p:blipFill>
            <p:spPr>
              <a:xfrm>
                <a:off x="6004452" y="1973117"/>
                <a:ext cx="3406249" cy="609004"/>
              </a:xfrm>
              <a:prstGeom prst="rect">
                <a:avLst/>
              </a:prstGeom>
              <a:noFill/>
              <a:ln w="9525">
                <a:noFill/>
              </a:ln>
            </p:spPr>
          </p:pic>
          <p:sp>
            <p:nvSpPr>
              <p:cNvPr id="65" name="圆角矩形 64"/>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66" name="文本框 35"/>
            <p:cNvSpPr txBox="1"/>
            <p:nvPr/>
          </p:nvSpPr>
          <p:spPr>
            <a:xfrm>
              <a:off x="8213" y="5545"/>
              <a:ext cx="5916"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移动互联网应用安全技术</a:t>
              </a:r>
            </a:p>
          </p:txBody>
        </p:sp>
        <p:sp>
          <p:nvSpPr>
            <p:cNvPr id="67" name="文本框 36"/>
            <p:cNvSpPr txBox="1"/>
            <p:nvPr/>
          </p:nvSpPr>
          <p:spPr>
            <a:xfrm>
              <a:off x="6676" y="5585"/>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03</a:t>
              </a:r>
              <a:endParaRPr lang="zh-CN" altLang="en-US" sz="2400" b="1" dirty="0">
                <a:solidFill>
                  <a:schemeClr val="bg1"/>
                </a:solidFill>
                <a:latin typeface="微软雅黑" panose="020B0503020204020204" charset="-122"/>
                <a:ea typeface="微软雅黑" panose="020B0503020204020204" charset="-122"/>
              </a:endParaRPr>
            </a:p>
          </p:txBody>
        </p:sp>
      </p:grpSp>
    </p:spTree>
    <p:custDataLst>
      <p:tags r:id="rId1"/>
    </p:custDataLst>
  </p:cSld>
  <p:clrMapOvr>
    <a:masterClrMapping/>
  </p:clrMapOvr>
  <p:transition>
    <p:wipe dir="d"/>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1</a:t>
              </a: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移动互联网简介</a:t>
            </a:r>
          </a:p>
        </p:txBody>
      </p:sp>
      <p:grpSp>
        <p:nvGrpSpPr>
          <p:cNvPr id="11" name="组合 10"/>
          <p:cNvGrpSpPr/>
          <p:nvPr/>
        </p:nvGrpSpPr>
        <p:grpSpPr>
          <a:xfrm>
            <a:off x="6006465" y="4013835"/>
            <a:ext cx="3712845" cy="835660"/>
            <a:chOff x="9459" y="7259"/>
            <a:chExt cx="5847" cy="1316"/>
          </a:xfrm>
        </p:grpSpPr>
        <p:sp>
          <p:nvSpPr>
            <p:cNvPr id="48" name="文本框 47"/>
            <p:cNvSpPr txBox="1"/>
            <p:nvPr/>
          </p:nvSpPr>
          <p:spPr>
            <a:xfrm>
              <a:off x="9459" y="7259"/>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移动互联网的定义</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移动互联网的组成</a:t>
              </a:r>
            </a:p>
          </p:txBody>
        </p:sp>
      </p:grpSp>
      <p:grpSp>
        <p:nvGrpSpPr>
          <p:cNvPr id="3" name="组合 2"/>
          <p:cNvGrpSpPr/>
          <p:nvPr/>
        </p:nvGrpSpPr>
        <p:grpSpPr>
          <a:xfrm>
            <a:off x="6006465" y="4849495"/>
            <a:ext cx="3712845" cy="835660"/>
            <a:chOff x="9459" y="7259"/>
            <a:chExt cx="5847" cy="1316"/>
          </a:xfrm>
        </p:grpSpPr>
        <p:sp>
          <p:nvSpPr>
            <p:cNvPr id="5" name="文本框 4"/>
            <p:cNvSpPr txBox="1"/>
            <p:nvPr/>
          </p:nvSpPr>
          <p:spPr>
            <a:xfrm>
              <a:off x="9459" y="7259"/>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移动通信网络的发展</a:t>
              </a:r>
            </a:p>
          </p:txBody>
        </p:sp>
        <p:sp>
          <p:nvSpPr>
            <p:cNvPr id="6" name="文本框 5"/>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移动互联网的应用领域</a:t>
              </a:r>
            </a:p>
          </p:txBody>
        </p:sp>
      </p:grpSp>
      <p:sp>
        <p:nvSpPr>
          <p:cNvPr id="7" name="文本框 6"/>
          <p:cNvSpPr txBox="1"/>
          <p:nvPr/>
        </p:nvSpPr>
        <p:spPr>
          <a:xfrm>
            <a:off x="6006465" y="5685155"/>
            <a:ext cx="371284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移动互联网的主要特征</a:t>
            </a:r>
          </a:p>
        </p:txBody>
      </p:sp>
    </p:spTree>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dirty="0">
                <a:solidFill>
                  <a:srgbClr val="FF0000"/>
                </a:solidFill>
                <a:sym typeface="+mn-ea"/>
              </a:rPr>
              <a:t>9.1  移动互联网简介</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9.</a:t>
            </a:r>
            <a:r>
              <a:rPr sz="2400" dirty="0" smtClean="0">
                <a:solidFill>
                  <a:schemeClr val="tx1"/>
                </a:solidFill>
              </a:rPr>
              <a:t>1</a:t>
            </a:r>
            <a:r>
              <a:rPr lang="en-US" sz="2400" dirty="0" smtClean="0">
                <a:solidFill>
                  <a:schemeClr val="tx1"/>
                </a:solidFill>
              </a:rPr>
              <a:t>.1</a:t>
            </a:r>
            <a:r>
              <a:rPr sz="2400" dirty="0" smtClean="0">
                <a:solidFill>
                  <a:schemeClr val="tx1"/>
                </a:solidFill>
              </a:rPr>
              <a:t>  移动互联网的定义</a:t>
            </a:r>
          </a:p>
        </p:txBody>
      </p:sp>
      <p:grpSp>
        <p:nvGrpSpPr>
          <p:cNvPr id="5" name="组合 4"/>
          <p:cNvGrpSpPr/>
          <p:nvPr/>
        </p:nvGrpSpPr>
        <p:grpSpPr>
          <a:xfrm>
            <a:off x="1139190" y="2421032"/>
            <a:ext cx="10546080" cy="3353023"/>
            <a:chOff x="2178" y="4942"/>
            <a:chExt cx="16608" cy="4994"/>
          </a:xfrm>
        </p:grpSpPr>
        <p:grpSp>
          <p:nvGrpSpPr>
            <p:cNvPr id="6" name="组合 5"/>
            <p:cNvGrpSpPr>
              <a:grpSpLocks noChangeAspect="1"/>
            </p:cNvGrpSpPr>
            <p:nvPr/>
          </p:nvGrpSpPr>
          <p:grpSpPr>
            <a:xfrm flipH="1">
              <a:off x="12624" y="4942"/>
              <a:ext cx="6162" cy="4994"/>
              <a:chOff x="2025654" y="1562115"/>
              <a:chExt cx="5472117" cy="4437048"/>
            </a:xfrm>
          </p:grpSpPr>
          <p:grpSp>
            <p:nvGrpSpPr>
              <p:cNvPr id="7" name="Group 66"/>
              <p:cNvGrpSpPr/>
              <p:nvPr/>
            </p:nvGrpSpPr>
            <p:grpSpPr bwMode="auto">
              <a:xfrm>
                <a:off x="2025654" y="1562115"/>
                <a:ext cx="5472117" cy="4437048"/>
                <a:chOff x="135" y="1103"/>
                <a:chExt cx="3447" cy="2794"/>
              </a:xfrm>
            </p:grpSpPr>
            <p:grpSp>
              <p:nvGrpSpPr>
                <p:cNvPr id="12" name="Group 47"/>
                <p:cNvGrpSpPr/>
                <p:nvPr/>
              </p:nvGrpSpPr>
              <p:grpSpPr bwMode="auto">
                <a:xfrm>
                  <a:off x="532" y="2919"/>
                  <a:ext cx="3050" cy="978"/>
                  <a:chOff x="2605" y="2725"/>
                  <a:chExt cx="2957" cy="948"/>
                </a:xfrm>
              </p:grpSpPr>
              <p:sp>
                <p:nvSpPr>
                  <p:cNvPr id="26" name="Freeform 48"/>
                  <p:cNvSpPr/>
                  <p:nvPr/>
                </p:nvSpPr>
                <p:spPr bwMode="auto">
                  <a:xfrm>
                    <a:off x="3187" y="2725"/>
                    <a:ext cx="2375" cy="504"/>
                  </a:xfrm>
                  <a:custGeom>
                    <a:avLst/>
                    <a:gdLst>
                      <a:gd name="T0" fmla="*/ 18717 w 1678"/>
                      <a:gd name="T1" fmla="*/ 3 h 1010"/>
                      <a:gd name="T2" fmla="*/ 15864 w 1678"/>
                      <a:gd name="T3" fmla="*/ 0 h 1010"/>
                      <a:gd name="T4" fmla="*/ 1863 w 1678"/>
                      <a:gd name="T5" fmla="*/ 2 h 1010"/>
                      <a:gd name="T6" fmla="*/ 0 w 1678"/>
                      <a:gd name="T7" fmla="*/ 2 h 1010"/>
                      <a:gd name="T8" fmla="*/ 17340 w 1678"/>
                      <a:gd name="T9" fmla="*/ 0 h 1010"/>
                      <a:gd name="T10" fmla="*/ 22904 w 1678"/>
                      <a:gd name="T11" fmla="*/ 3 h 1010"/>
                      <a:gd name="T12" fmla="*/ 18717 w 1678"/>
                      <a:gd name="T13" fmla="*/ 3 h 1010"/>
                      <a:gd name="T14" fmla="*/ 0 60000 65536"/>
                      <a:gd name="T15" fmla="*/ 0 60000 65536"/>
                      <a:gd name="T16" fmla="*/ 0 60000 65536"/>
                      <a:gd name="T17" fmla="*/ 0 60000 65536"/>
                      <a:gd name="T18" fmla="*/ 0 60000 65536"/>
                      <a:gd name="T19" fmla="*/ 0 60000 65536"/>
                      <a:gd name="T20" fmla="*/ 0 60000 65536"/>
                      <a:gd name="T21" fmla="*/ 0 w 1678"/>
                      <a:gd name="T22" fmla="*/ 0 h 1010"/>
                      <a:gd name="T23" fmla="*/ 1678 w 1678"/>
                      <a:gd name="T24" fmla="*/ 1010 h 10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78" h="1010">
                        <a:moveTo>
                          <a:pt x="1162" y="936"/>
                        </a:moveTo>
                        <a:cubicBezTo>
                          <a:pt x="1222" y="836"/>
                          <a:pt x="1371" y="388"/>
                          <a:pt x="985" y="252"/>
                        </a:cubicBezTo>
                        <a:cubicBezTo>
                          <a:pt x="471" y="122"/>
                          <a:pt x="116" y="637"/>
                          <a:pt x="116" y="637"/>
                        </a:cubicBezTo>
                        <a:cubicBezTo>
                          <a:pt x="116" y="637"/>
                          <a:pt x="116" y="637"/>
                          <a:pt x="0" y="603"/>
                        </a:cubicBezTo>
                        <a:cubicBezTo>
                          <a:pt x="272" y="215"/>
                          <a:pt x="727" y="0"/>
                          <a:pt x="1077" y="63"/>
                        </a:cubicBezTo>
                        <a:cubicBezTo>
                          <a:pt x="1416" y="123"/>
                          <a:pt x="1678" y="452"/>
                          <a:pt x="1422" y="1010"/>
                        </a:cubicBezTo>
                        <a:cubicBezTo>
                          <a:pt x="1357" y="994"/>
                          <a:pt x="1209" y="950"/>
                          <a:pt x="1162" y="936"/>
                        </a:cubicBezTo>
                        <a:close/>
                      </a:path>
                    </a:pathLst>
                  </a:custGeom>
                  <a:solidFill>
                    <a:srgbClr val="B4B4B4">
                      <a:alpha val="50195"/>
                    </a:srgbClr>
                  </a:solidFill>
                  <a:ln>
                    <a:noFill/>
                  </a:ln>
                  <a:extLst>
                    <a:ext uri="{91240B29-F687-4F45-9708-019B960494DF}">
                      <a14:hiddenLine xmlns:a14="http://schemas.microsoft.com/office/drawing/2010/main" xmlns="" w="9525">
                        <a:solidFill>
                          <a:srgbClr val="000000"/>
                        </a:solidFill>
                        <a:round/>
                      </a14:hiddenLine>
                    </a:ext>
                  </a:extLst>
                </p:spPr>
                <p:txBody>
                  <a:bodyPr/>
                  <a:lstStyle/>
                  <a:p>
                    <a:pPr>
                      <a:defRPr/>
                    </a:pPr>
                    <a:endParaRPr lang="zh-CN" altLang="en-US" kern="0" dirty="0">
                      <a:solidFill>
                        <a:sysClr val="windowText" lastClr="000000"/>
                      </a:solidFill>
                      <a:latin typeface="Impact" panose="020B0806030902050204" pitchFamily="34" charset="0"/>
                      <a:ea typeface="微软雅黑" panose="020B0503020204020204" charset="-122"/>
                    </a:endParaRPr>
                  </a:p>
                </p:txBody>
              </p:sp>
              <p:sp>
                <p:nvSpPr>
                  <p:cNvPr id="27" name="Freeform 49"/>
                  <p:cNvSpPr/>
                  <p:nvPr/>
                </p:nvSpPr>
                <p:spPr bwMode="auto">
                  <a:xfrm>
                    <a:off x="2605" y="3055"/>
                    <a:ext cx="2521" cy="618"/>
                  </a:xfrm>
                  <a:custGeom>
                    <a:avLst/>
                    <a:gdLst>
                      <a:gd name="T0" fmla="*/ 7838 w 1781"/>
                      <a:gd name="T1" fmla="*/ 1 h 1235"/>
                      <a:gd name="T2" fmla="*/ 9816 w 1781"/>
                      <a:gd name="T3" fmla="*/ 4 h 1235"/>
                      <a:gd name="T4" fmla="*/ 24550 w 1781"/>
                      <a:gd name="T5" fmla="*/ 2 h 1235"/>
                      <a:gd name="T6" fmla="*/ 28696 w 1781"/>
                      <a:gd name="T7" fmla="*/ 2 h 1235"/>
                      <a:gd name="T8" fmla="*/ 7286 w 1781"/>
                      <a:gd name="T9" fmla="*/ 4 h 1235"/>
                      <a:gd name="T10" fmla="*/ 6000 w 1781"/>
                      <a:gd name="T11" fmla="*/ 0 h 1235"/>
                      <a:gd name="T12" fmla="*/ 7838 w 1781"/>
                      <a:gd name="T13" fmla="*/ 1 h 1235"/>
                      <a:gd name="T14" fmla="*/ 0 60000 65536"/>
                      <a:gd name="T15" fmla="*/ 0 60000 65536"/>
                      <a:gd name="T16" fmla="*/ 0 60000 65536"/>
                      <a:gd name="T17" fmla="*/ 0 60000 65536"/>
                      <a:gd name="T18" fmla="*/ 0 60000 65536"/>
                      <a:gd name="T19" fmla="*/ 0 60000 65536"/>
                      <a:gd name="T20" fmla="*/ 0 60000 65536"/>
                      <a:gd name="T21" fmla="*/ 0 w 1781"/>
                      <a:gd name="T22" fmla="*/ 0 h 1235"/>
                      <a:gd name="T23" fmla="*/ 1781 w 1781"/>
                      <a:gd name="T24" fmla="*/ 1235 h 12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81" h="1235">
                        <a:moveTo>
                          <a:pt x="487" y="36"/>
                        </a:moveTo>
                        <a:cubicBezTo>
                          <a:pt x="412" y="169"/>
                          <a:pt x="208" y="597"/>
                          <a:pt x="609" y="785"/>
                        </a:cubicBezTo>
                        <a:cubicBezTo>
                          <a:pt x="830" y="873"/>
                          <a:pt x="1204" y="807"/>
                          <a:pt x="1523" y="363"/>
                        </a:cubicBezTo>
                        <a:cubicBezTo>
                          <a:pt x="1586" y="379"/>
                          <a:pt x="1709" y="419"/>
                          <a:pt x="1781" y="444"/>
                        </a:cubicBezTo>
                        <a:cubicBezTo>
                          <a:pt x="1502" y="949"/>
                          <a:pt x="806" y="1235"/>
                          <a:pt x="452" y="998"/>
                        </a:cubicBezTo>
                        <a:cubicBezTo>
                          <a:pt x="0" y="701"/>
                          <a:pt x="278" y="135"/>
                          <a:pt x="372" y="0"/>
                        </a:cubicBezTo>
                        <a:cubicBezTo>
                          <a:pt x="430" y="17"/>
                          <a:pt x="411" y="11"/>
                          <a:pt x="487" y="36"/>
                        </a:cubicBezTo>
                        <a:close/>
                      </a:path>
                    </a:pathLst>
                  </a:custGeom>
                  <a:solidFill>
                    <a:srgbClr val="B4B4B4">
                      <a:alpha val="50195"/>
                    </a:srgbClr>
                  </a:solidFill>
                  <a:ln>
                    <a:noFill/>
                  </a:ln>
                  <a:extLst>
                    <a:ext uri="{91240B29-F687-4F45-9708-019B960494DF}">
                      <a14:hiddenLine xmlns:a14="http://schemas.microsoft.com/office/drawing/2010/main" xmlns="" w="9525">
                        <a:solidFill>
                          <a:srgbClr val="000000"/>
                        </a:solidFill>
                        <a:round/>
                      </a14:hiddenLine>
                    </a:ext>
                  </a:extLst>
                </p:spPr>
                <p:txBody>
                  <a:bodyPr/>
                  <a:lstStyle/>
                  <a:p>
                    <a:pPr>
                      <a:defRPr/>
                    </a:pPr>
                    <a:endParaRPr lang="zh-CN" altLang="en-US" kern="0" dirty="0">
                      <a:solidFill>
                        <a:sysClr val="windowText" lastClr="000000"/>
                      </a:solidFill>
                      <a:latin typeface="Impact" panose="020B0806030902050204" pitchFamily="34" charset="0"/>
                      <a:ea typeface="微软雅黑" panose="020B0503020204020204" charset="-122"/>
                    </a:endParaRPr>
                  </a:p>
                </p:txBody>
              </p:sp>
            </p:grpSp>
            <p:grpSp>
              <p:nvGrpSpPr>
                <p:cNvPr id="16" name="Group 80"/>
                <p:cNvGrpSpPr/>
                <p:nvPr/>
              </p:nvGrpSpPr>
              <p:grpSpPr bwMode="auto">
                <a:xfrm>
                  <a:off x="135" y="2011"/>
                  <a:ext cx="2598" cy="1818"/>
                  <a:chOff x="135" y="1943"/>
                  <a:chExt cx="2598" cy="1818"/>
                </a:xfrm>
              </p:grpSpPr>
              <p:sp>
                <p:nvSpPr>
                  <p:cNvPr id="23" name="Freeform 51"/>
                  <p:cNvSpPr/>
                  <p:nvPr/>
                </p:nvSpPr>
                <p:spPr bwMode="auto">
                  <a:xfrm>
                    <a:off x="135" y="1943"/>
                    <a:ext cx="2598" cy="1803"/>
                  </a:xfrm>
                  <a:custGeom>
                    <a:avLst/>
                    <a:gdLst>
                      <a:gd name="T0" fmla="*/ 10025 w 1781"/>
                      <a:gd name="T1" fmla="*/ 745 h 1235"/>
                      <a:gd name="T2" fmla="*/ 12527 w 1781"/>
                      <a:gd name="T3" fmla="*/ 16196 h 1235"/>
                      <a:gd name="T4" fmla="*/ 31328 w 1781"/>
                      <a:gd name="T5" fmla="*/ 7497 h 1235"/>
                      <a:gd name="T6" fmla="*/ 36630 w 1781"/>
                      <a:gd name="T7" fmla="*/ 9158 h 1235"/>
                      <a:gd name="T8" fmla="*/ 9297 w 1781"/>
                      <a:gd name="T9" fmla="*/ 20594 h 1235"/>
                      <a:gd name="T10" fmla="*/ 7651 w 1781"/>
                      <a:gd name="T11" fmla="*/ 0 h 1235"/>
                      <a:gd name="T12" fmla="*/ 10025 w 1781"/>
                      <a:gd name="T13" fmla="*/ 745 h 1235"/>
                      <a:gd name="T14" fmla="*/ 0 60000 65536"/>
                      <a:gd name="T15" fmla="*/ 0 60000 65536"/>
                      <a:gd name="T16" fmla="*/ 0 60000 65536"/>
                      <a:gd name="T17" fmla="*/ 0 60000 65536"/>
                      <a:gd name="T18" fmla="*/ 0 60000 65536"/>
                      <a:gd name="T19" fmla="*/ 0 60000 65536"/>
                      <a:gd name="T20" fmla="*/ 0 60000 65536"/>
                      <a:gd name="T21" fmla="*/ 0 w 1781"/>
                      <a:gd name="T22" fmla="*/ 0 h 1235"/>
                      <a:gd name="T23" fmla="*/ 1781 w 1781"/>
                      <a:gd name="T24" fmla="*/ 1235 h 12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81" h="1235">
                        <a:moveTo>
                          <a:pt x="487" y="36"/>
                        </a:moveTo>
                        <a:cubicBezTo>
                          <a:pt x="412" y="169"/>
                          <a:pt x="208" y="597"/>
                          <a:pt x="609" y="785"/>
                        </a:cubicBezTo>
                        <a:cubicBezTo>
                          <a:pt x="830" y="873"/>
                          <a:pt x="1204" y="807"/>
                          <a:pt x="1523" y="363"/>
                        </a:cubicBezTo>
                        <a:cubicBezTo>
                          <a:pt x="1586" y="379"/>
                          <a:pt x="1709" y="419"/>
                          <a:pt x="1781" y="444"/>
                        </a:cubicBezTo>
                        <a:cubicBezTo>
                          <a:pt x="1502" y="949"/>
                          <a:pt x="806" y="1235"/>
                          <a:pt x="452" y="998"/>
                        </a:cubicBezTo>
                        <a:cubicBezTo>
                          <a:pt x="0" y="701"/>
                          <a:pt x="278" y="135"/>
                          <a:pt x="372" y="0"/>
                        </a:cubicBezTo>
                        <a:cubicBezTo>
                          <a:pt x="430" y="17"/>
                          <a:pt x="411" y="11"/>
                          <a:pt x="487" y="36"/>
                        </a:cubicBezTo>
                        <a:close/>
                      </a:path>
                    </a:pathLst>
                  </a:custGeom>
                  <a:gradFill rotWithShape="1">
                    <a:gsLst>
                      <a:gs pos="0">
                        <a:srgbClr val="DDDDDD"/>
                      </a:gs>
                      <a:gs pos="50000">
                        <a:srgbClr val="F6F6F6"/>
                      </a:gs>
                      <a:gs pos="100000">
                        <a:srgbClr val="DDDDDD"/>
                      </a:gs>
                    </a:gsLst>
                    <a:lin ang="0" scaled="1"/>
                  </a:gradFill>
                  <a:ln>
                    <a:noFill/>
                  </a:ln>
                  <a:extLst>
                    <a:ext uri="{91240B29-F687-4F45-9708-019B960494DF}">
                      <a14:hiddenLine xmlns:a14="http://schemas.microsoft.com/office/drawing/2010/main" xmlns="" w="9525">
                        <a:solidFill>
                          <a:srgbClr val="000000"/>
                        </a:solidFill>
                        <a:round/>
                      </a14:hiddenLine>
                    </a:ext>
                  </a:extLst>
                </p:spPr>
                <p:txBody>
                  <a:bodyPr/>
                  <a:lstStyle/>
                  <a:p>
                    <a:pPr>
                      <a:defRPr/>
                    </a:pPr>
                    <a:endParaRPr lang="zh-CN" altLang="en-US" kern="0" dirty="0">
                      <a:solidFill>
                        <a:sysClr val="windowText" lastClr="000000"/>
                      </a:solidFill>
                      <a:latin typeface="Impact" panose="020B0806030902050204" pitchFamily="34" charset="0"/>
                      <a:ea typeface="微软雅黑" panose="020B0503020204020204" charset="-122"/>
                    </a:endParaRPr>
                  </a:p>
                </p:txBody>
              </p:sp>
              <p:sp>
                <p:nvSpPr>
                  <p:cNvPr id="24" name="Freeform 52"/>
                  <p:cNvSpPr/>
                  <p:nvPr/>
                </p:nvSpPr>
                <p:spPr bwMode="auto">
                  <a:xfrm>
                    <a:off x="755" y="2589"/>
                    <a:ext cx="1915" cy="1172"/>
                  </a:xfrm>
                  <a:custGeom>
                    <a:avLst/>
                    <a:gdLst>
                      <a:gd name="T0" fmla="*/ 0 w 1312"/>
                      <a:gd name="T1" fmla="*/ 12136 h 803"/>
                      <a:gd name="T2" fmla="*/ 20383 w 1312"/>
                      <a:gd name="T3" fmla="*/ 6902 h 803"/>
                      <a:gd name="T4" fmla="*/ 26093 w 1312"/>
                      <a:gd name="T5" fmla="*/ 0 h 803"/>
                      <a:gd name="T6" fmla="*/ 27029 w 1312"/>
                      <a:gd name="T7" fmla="*/ 1298 h 803"/>
                      <a:gd name="T8" fmla="*/ 8242 w 1312"/>
                      <a:gd name="T9" fmla="*/ 13966 h 803"/>
                      <a:gd name="T10" fmla="*/ 0 w 1312"/>
                      <a:gd name="T11" fmla="*/ 12136 h 803"/>
                      <a:gd name="T12" fmla="*/ 0 60000 65536"/>
                      <a:gd name="T13" fmla="*/ 0 60000 65536"/>
                      <a:gd name="T14" fmla="*/ 0 60000 65536"/>
                      <a:gd name="T15" fmla="*/ 0 60000 65536"/>
                      <a:gd name="T16" fmla="*/ 0 60000 65536"/>
                      <a:gd name="T17" fmla="*/ 0 60000 65536"/>
                      <a:gd name="T18" fmla="*/ 0 w 1312"/>
                      <a:gd name="T19" fmla="*/ 0 h 803"/>
                      <a:gd name="T20" fmla="*/ 1312 w 1312"/>
                      <a:gd name="T21" fmla="*/ 803 h 803"/>
                    </a:gdLst>
                    <a:ahLst/>
                    <a:cxnLst>
                      <a:cxn ang="T12">
                        <a:pos x="T0" y="T1"/>
                      </a:cxn>
                      <a:cxn ang="T13">
                        <a:pos x="T2" y="T3"/>
                      </a:cxn>
                      <a:cxn ang="T14">
                        <a:pos x="T4" y="T5"/>
                      </a:cxn>
                      <a:cxn ang="T15">
                        <a:pos x="T6" y="T7"/>
                      </a:cxn>
                      <a:cxn ang="T16">
                        <a:pos x="T8" y="T9"/>
                      </a:cxn>
                      <a:cxn ang="T17">
                        <a:pos x="T10" y="T11"/>
                      </a:cxn>
                    </a:cxnLst>
                    <a:rect l="T18" t="T19" r="T20" b="T21"/>
                    <a:pathLst>
                      <a:path w="1312" h="803">
                        <a:moveTo>
                          <a:pt x="0" y="589"/>
                        </a:moveTo>
                        <a:cubicBezTo>
                          <a:pt x="0" y="589"/>
                          <a:pt x="399" y="803"/>
                          <a:pt x="989" y="335"/>
                        </a:cubicBezTo>
                        <a:cubicBezTo>
                          <a:pt x="1163" y="189"/>
                          <a:pt x="1267" y="0"/>
                          <a:pt x="1267" y="0"/>
                        </a:cubicBezTo>
                        <a:cubicBezTo>
                          <a:pt x="1312" y="63"/>
                          <a:pt x="1312" y="63"/>
                          <a:pt x="1312" y="63"/>
                        </a:cubicBezTo>
                        <a:cubicBezTo>
                          <a:pt x="1312" y="63"/>
                          <a:pt x="999" y="633"/>
                          <a:pt x="400" y="678"/>
                        </a:cubicBezTo>
                        <a:cubicBezTo>
                          <a:pt x="148" y="694"/>
                          <a:pt x="0" y="589"/>
                          <a:pt x="0" y="589"/>
                        </a:cubicBezTo>
                        <a:close/>
                      </a:path>
                    </a:pathLst>
                  </a:custGeom>
                  <a:gradFill rotWithShape="1">
                    <a:gsLst>
                      <a:gs pos="0">
                        <a:srgbClr val="C1C1C1"/>
                      </a:gs>
                      <a:gs pos="50000">
                        <a:srgbClr val="B2B2B2"/>
                      </a:gs>
                      <a:gs pos="100000">
                        <a:srgbClr val="C1C1C1"/>
                      </a:gs>
                    </a:gsLst>
                    <a:lin ang="2700000" scaled="1"/>
                  </a:gradFill>
                  <a:ln>
                    <a:noFill/>
                  </a:ln>
                  <a:extLst>
                    <a:ext uri="{91240B29-F687-4F45-9708-019B960494DF}">
                      <a14:hiddenLine xmlns:a14="http://schemas.microsoft.com/office/drawing/2010/main" xmlns="" w="9525">
                        <a:solidFill>
                          <a:srgbClr val="000000"/>
                        </a:solidFill>
                        <a:round/>
                      </a14:hiddenLine>
                    </a:ext>
                  </a:extLst>
                </p:spPr>
                <p:txBody>
                  <a:bodyPr/>
                  <a:lstStyle/>
                  <a:p>
                    <a:pPr>
                      <a:defRPr/>
                    </a:pPr>
                    <a:endParaRPr lang="zh-CN" altLang="en-US" kern="0" dirty="0">
                      <a:solidFill>
                        <a:sysClr val="windowText" lastClr="000000"/>
                      </a:solidFill>
                      <a:latin typeface="Impact" panose="020B0806030902050204" pitchFamily="34" charset="0"/>
                      <a:ea typeface="微软雅黑" panose="020B0503020204020204" charset="-122"/>
                    </a:endParaRPr>
                  </a:p>
                </p:txBody>
              </p:sp>
              <p:sp>
                <p:nvSpPr>
                  <p:cNvPr id="25" name="Freeform 53"/>
                  <p:cNvSpPr/>
                  <p:nvPr/>
                </p:nvSpPr>
                <p:spPr bwMode="auto">
                  <a:xfrm>
                    <a:off x="419" y="1996"/>
                    <a:ext cx="389" cy="1042"/>
                  </a:xfrm>
                  <a:custGeom>
                    <a:avLst/>
                    <a:gdLst>
                      <a:gd name="T0" fmla="*/ 4168 w 267"/>
                      <a:gd name="T1" fmla="*/ 0 h 714"/>
                      <a:gd name="T2" fmla="*/ 5297 w 267"/>
                      <a:gd name="T3" fmla="*/ 1035 h 714"/>
                      <a:gd name="T4" fmla="*/ 5361 w 267"/>
                      <a:gd name="T5" fmla="*/ 14696 h 714"/>
                      <a:gd name="T6" fmla="*/ 1773 w 267"/>
                      <a:gd name="T7" fmla="*/ 7465 h 714"/>
                      <a:gd name="T8" fmla="*/ 4168 w 267"/>
                      <a:gd name="T9" fmla="*/ 0 h 714"/>
                      <a:gd name="T10" fmla="*/ 0 60000 65536"/>
                      <a:gd name="T11" fmla="*/ 0 60000 65536"/>
                      <a:gd name="T12" fmla="*/ 0 60000 65536"/>
                      <a:gd name="T13" fmla="*/ 0 60000 65536"/>
                      <a:gd name="T14" fmla="*/ 0 60000 65536"/>
                      <a:gd name="T15" fmla="*/ 0 w 267"/>
                      <a:gd name="T16" fmla="*/ 0 h 714"/>
                      <a:gd name="T17" fmla="*/ 267 w 267"/>
                      <a:gd name="T18" fmla="*/ 714 h 714"/>
                    </a:gdLst>
                    <a:ahLst/>
                    <a:cxnLst>
                      <a:cxn ang="T10">
                        <a:pos x="T0" y="T1"/>
                      </a:cxn>
                      <a:cxn ang="T11">
                        <a:pos x="T2" y="T3"/>
                      </a:cxn>
                      <a:cxn ang="T12">
                        <a:pos x="T4" y="T5"/>
                      </a:cxn>
                      <a:cxn ang="T13">
                        <a:pos x="T6" y="T7"/>
                      </a:cxn>
                      <a:cxn ang="T14">
                        <a:pos x="T8" y="T9"/>
                      </a:cxn>
                    </a:cxnLst>
                    <a:rect l="T15" t="T16" r="T17" b="T18"/>
                    <a:pathLst>
                      <a:path w="267" h="714">
                        <a:moveTo>
                          <a:pt x="205" y="0"/>
                        </a:moveTo>
                        <a:cubicBezTo>
                          <a:pt x="205" y="0"/>
                          <a:pt x="254" y="45"/>
                          <a:pt x="261" y="50"/>
                        </a:cubicBezTo>
                        <a:cubicBezTo>
                          <a:pt x="267" y="61"/>
                          <a:pt x="0" y="424"/>
                          <a:pt x="264" y="714"/>
                        </a:cubicBezTo>
                        <a:cubicBezTo>
                          <a:pt x="69" y="593"/>
                          <a:pt x="85" y="409"/>
                          <a:pt x="87" y="363"/>
                        </a:cubicBezTo>
                        <a:cubicBezTo>
                          <a:pt x="88" y="197"/>
                          <a:pt x="205" y="0"/>
                          <a:pt x="205" y="0"/>
                        </a:cubicBezTo>
                        <a:close/>
                      </a:path>
                    </a:pathLst>
                  </a:custGeom>
                  <a:gradFill rotWithShape="1">
                    <a:gsLst>
                      <a:gs pos="0">
                        <a:srgbClr val="DDDDDD"/>
                      </a:gs>
                      <a:gs pos="50000">
                        <a:srgbClr val="B2B2B2"/>
                      </a:gs>
                      <a:gs pos="100000">
                        <a:srgbClr val="DDDDDD"/>
                      </a:gs>
                    </a:gsLst>
                    <a:lin ang="18900000" scaled="1"/>
                  </a:gradFill>
                  <a:ln>
                    <a:noFill/>
                  </a:ln>
                  <a:extLst>
                    <a:ext uri="{91240B29-F687-4F45-9708-019B960494DF}">
                      <a14:hiddenLine xmlns:a14="http://schemas.microsoft.com/office/drawing/2010/main" xmlns="" w="9525">
                        <a:solidFill>
                          <a:srgbClr val="000000"/>
                        </a:solidFill>
                        <a:round/>
                      </a14:hiddenLine>
                    </a:ext>
                  </a:extLst>
                </p:spPr>
                <p:txBody>
                  <a:bodyPr/>
                  <a:lstStyle/>
                  <a:p>
                    <a:pPr>
                      <a:defRPr/>
                    </a:pPr>
                    <a:endParaRPr lang="zh-CN" altLang="en-US" kern="0" dirty="0">
                      <a:solidFill>
                        <a:sysClr val="windowText" lastClr="000000"/>
                      </a:solidFill>
                      <a:latin typeface="Impact" panose="020B0806030902050204" pitchFamily="34" charset="0"/>
                      <a:ea typeface="微软雅黑" panose="020B0503020204020204" charset="-122"/>
                    </a:endParaRPr>
                  </a:p>
                </p:txBody>
              </p:sp>
            </p:grpSp>
            <p:grpSp>
              <p:nvGrpSpPr>
                <p:cNvPr id="17" name="Group 79"/>
                <p:cNvGrpSpPr/>
                <p:nvPr/>
              </p:nvGrpSpPr>
              <p:grpSpPr bwMode="auto">
                <a:xfrm>
                  <a:off x="682" y="1103"/>
                  <a:ext cx="2450" cy="1545"/>
                  <a:chOff x="682" y="1035"/>
                  <a:chExt cx="2450" cy="1545"/>
                </a:xfrm>
              </p:grpSpPr>
              <p:sp>
                <p:nvSpPr>
                  <p:cNvPr id="18" name="Freeform 55"/>
                  <p:cNvSpPr/>
                  <p:nvPr/>
                </p:nvSpPr>
                <p:spPr bwMode="auto">
                  <a:xfrm>
                    <a:off x="682" y="1035"/>
                    <a:ext cx="2450" cy="1473"/>
                  </a:xfrm>
                  <a:custGeom>
                    <a:avLst/>
                    <a:gdLst>
                      <a:gd name="T0" fmla="*/ 24075 w 1678"/>
                      <a:gd name="T1" fmla="*/ 19158 h 1010"/>
                      <a:gd name="T2" fmla="*/ 20411 w 1678"/>
                      <a:gd name="T3" fmla="*/ 5169 h 1010"/>
                      <a:gd name="T4" fmla="*/ 2400 w 1678"/>
                      <a:gd name="T5" fmla="*/ 13038 h 1010"/>
                      <a:gd name="T6" fmla="*/ 0 w 1678"/>
                      <a:gd name="T7" fmla="*/ 12337 h 1010"/>
                      <a:gd name="T8" fmla="*/ 22319 w 1678"/>
                      <a:gd name="T9" fmla="*/ 1285 h 1010"/>
                      <a:gd name="T10" fmla="*/ 29469 w 1678"/>
                      <a:gd name="T11" fmla="*/ 20672 h 1010"/>
                      <a:gd name="T12" fmla="*/ 24075 w 1678"/>
                      <a:gd name="T13" fmla="*/ 19158 h 1010"/>
                      <a:gd name="T14" fmla="*/ 0 60000 65536"/>
                      <a:gd name="T15" fmla="*/ 0 60000 65536"/>
                      <a:gd name="T16" fmla="*/ 0 60000 65536"/>
                      <a:gd name="T17" fmla="*/ 0 60000 65536"/>
                      <a:gd name="T18" fmla="*/ 0 60000 65536"/>
                      <a:gd name="T19" fmla="*/ 0 60000 65536"/>
                      <a:gd name="T20" fmla="*/ 0 60000 65536"/>
                      <a:gd name="T21" fmla="*/ 0 w 1678"/>
                      <a:gd name="T22" fmla="*/ 0 h 1010"/>
                      <a:gd name="T23" fmla="*/ 1678 w 1678"/>
                      <a:gd name="T24" fmla="*/ 1010 h 10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78" h="1010">
                        <a:moveTo>
                          <a:pt x="1162" y="936"/>
                        </a:moveTo>
                        <a:cubicBezTo>
                          <a:pt x="1222" y="836"/>
                          <a:pt x="1371" y="388"/>
                          <a:pt x="985" y="252"/>
                        </a:cubicBezTo>
                        <a:cubicBezTo>
                          <a:pt x="471" y="122"/>
                          <a:pt x="116" y="637"/>
                          <a:pt x="116" y="637"/>
                        </a:cubicBezTo>
                        <a:cubicBezTo>
                          <a:pt x="116" y="637"/>
                          <a:pt x="116" y="637"/>
                          <a:pt x="0" y="603"/>
                        </a:cubicBezTo>
                        <a:cubicBezTo>
                          <a:pt x="272" y="215"/>
                          <a:pt x="727" y="0"/>
                          <a:pt x="1077" y="63"/>
                        </a:cubicBezTo>
                        <a:cubicBezTo>
                          <a:pt x="1416" y="123"/>
                          <a:pt x="1678" y="452"/>
                          <a:pt x="1422" y="1010"/>
                        </a:cubicBezTo>
                        <a:cubicBezTo>
                          <a:pt x="1357" y="994"/>
                          <a:pt x="1209" y="950"/>
                          <a:pt x="1162" y="936"/>
                        </a:cubicBezTo>
                        <a:close/>
                      </a:path>
                    </a:pathLst>
                  </a:custGeom>
                  <a:gradFill rotWithShape="1">
                    <a:gsLst>
                      <a:gs pos="0">
                        <a:srgbClr val="6DAA2D"/>
                      </a:gs>
                      <a:gs pos="50000">
                        <a:srgbClr val="6DAA2D">
                          <a:lumMod val="40000"/>
                          <a:lumOff val="60000"/>
                        </a:srgbClr>
                      </a:gs>
                      <a:gs pos="100000">
                        <a:srgbClr val="6DAA2D"/>
                      </a:gs>
                    </a:gsLst>
                    <a:lin ang="0" scaled="1"/>
                  </a:gradFill>
                  <a:ln>
                    <a:noFill/>
                  </a:ln>
                  <a:extLst>
                    <a:ext uri="{91240B29-F687-4F45-9708-019B960494DF}">
                      <a14:hiddenLine xmlns:a14="http://schemas.microsoft.com/office/drawing/2010/main" xmlns="" w="9525">
                        <a:solidFill>
                          <a:srgbClr val="000000"/>
                        </a:solidFill>
                        <a:round/>
                      </a14:hiddenLine>
                    </a:ext>
                  </a:extLst>
                </p:spPr>
                <p:txBody>
                  <a:bodyPr/>
                  <a:lstStyle/>
                  <a:p>
                    <a:pPr>
                      <a:defRPr/>
                    </a:pPr>
                    <a:endParaRPr lang="zh-CN" altLang="en-US" kern="0" dirty="0">
                      <a:solidFill>
                        <a:sysClr val="windowText" lastClr="000000"/>
                      </a:solidFill>
                      <a:latin typeface="Impact" panose="020B0806030902050204" pitchFamily="34" charset="0"/>
                      <a:ea typeface="微软雅黑" panose="020B0503020204020204" charset="-122"/>
                    </a:endParaRPr>
                  </a:p>
                </p:txBody>
              </p:sp>
              <p:sp>
                <p:nvSpPr>
                  <p:cNvPr id="19" name="Freeform 56"/>
                  <p:cNvSpPr/>
                  <p:nvPr/>
                </p:nvSpPr>
                <p:spPr bwMode="auto">
                  <a:xfrm>
                    <a:off x="2683" y="1564"/>
                    <a:ext cx="261" cy="1016"/>
                  </a:xfrm>
                  <a:custGeom>
                    <a:avLst/>
                    <a:gdLst>
                      <a:gd name="T0" fmla="*/ 0 w 179"/>
                      <a:gd name="T1" fmla="*/ 12990 h 696"/>
                      <a:gd name="T2" fmla="*/ 859 w 179"/>
                      <a:gd name="T3" fmla="*/ 14350 h 696"/>
                      <a:gd name="T4" fmla="*/ 2849 w 179"/>
                      <a:gd name="T5" fmla="*/ 6497 h 696"/>
                      <a:gd name="T6" fmla="*/ 1866 w 179"/>
                      <a:gd name="T7" fmla="*/ 1298 h 696"/>
                      <a:gd name="T8" fmla="*/ 1305 w 179"/>
                      <a:gd name="T9" fmla="*/ 0 h 696"/>
                      <a:gd name="T10" fmla="*/ 0 w 179"/>
                      <a:gd name="T11" fmla="*/ 12990 h 696"/>
                      <a:gd name="T12" fmla="*/ 0 60000 65536"/>
                      <a:gd name="T13" fmla="*/ 0 60000 65536"/>
                      <a:gd name="T14" fmla="*/ 0 60000 65536"/>
                      <a:gd name="T15" fmla="*/ 0 60000 65536"/>
                      <a:gd name="T16" fmla="*/ 0 60000 65536"/>
                      <a:gd name="T17" fmla="*/ 0 60000 65536"/>
                      <a:gd name="T18" fmla="*/ 0 w 179"/>
                      <a:gd name="T19" fmla="*/ 0 h 696"/>
                      <a:gd name="T20" fmla="*/ 179 w 179"/>
                      <a:gd name="T21" fmla="*/ 696 h 696"/>
                    </a:gdLst>
                    <a:ahLst/>
                    <a:cxnLst>
                      <a:cxn ang="T12">
                        <a:pos x="T0" y="T1"/>
                      </a:cxn>
                      <a:cxn ang="T13">
                        <a:pos x="T2" y="T3"/>
                      </a:cxn>
                      <a:cxn ang="T14">
                        <a:pos x="T4" y="T5"/>
                      </a:cxn>
                      <a:cxn ang="T15">
                        <a:pos x="T6" y="T7"/>
                      </a:cxn>
                      <a:cxn ang="T16">
                        <a:pos x="T8" y="T9"/>
                      </a:cxn>
                      <a:cxn ang="T17">
                        <a:pos x="T10" y="T11"/>
                      </a:cxn>
                    </a:cxnLst>
                    <a:rect l="T18" t="T19" r="T20" b="T21"/>
                    <a:pathLst>
                      <a:path w="179" h="696">
                        <a:moveTo>
                          <a:pt x="0" y="630"/>
                        </a:moveTo>
                        <a:cubicBezTo>
                          <a:pt x="19" y="659"/>
                          <a:pt x="42" y="696"/>
                          <a:pt x="42" y="696"/>
                        </a:cubicBezTo>
                        <a:cubicBezTo>
                          <a:pt x="42" y="696"/>
                          <a:pt x="134" y="518"/>
                          <a:pt x="139" y="315"/>
                        </a:cubicBezTo>
                        <a:cubicBezTo>
                          <a:pt x="146" y="172"/>
                          <a:pt x="91" y="63"/>
                          <a:pt x="91" y="63"/>
                        </a:cubicBezTo>
                        <a:cubicBezTo>
                          <a:pt x="64" y="0"/>
                          <a:pt x="64" y="0"/>
                          <a:pt x="64" y="0"/>
                        </a:cubicBezTo>
                        <a:cubicBezTo>
                          <a:pt x="64" y="0"/>
                          <a:pt x="179" y="245"/>
                          <a:pt x="0" y="630"/>
                        </a:cubicBezTo>
                        <a:close/>
                      </a:path>
                    </a:pathLst>
                  </a:custGeom>
                  <a:gradFill rotWithShape="1">
                    <a:gsLst>
                      <a:gs pos="0">
                        <a:srgbClr val="6DAA2D"/>
                      </a:gs>
                      <a:gs pos="50000">
                        <a:srgbClr val="6DAA2D">
                          <a:lumMod val="75000"/>
                        </a:srgbClr>
                      </a:gs>
                      <a:gs pos="100000">
                        <a:srgbClr val="6DAA2D"/>
                      </a:gs>
                    </a:gsLst>
                    <a:lin ang="2700000" scaled="1"/>
                  </a:gradFill>
                  <a:ln>
                    <a:noFill/>
                  </a:ln>
                  <a:extLst>
                    <a:ext uri="{91240B29-F687-4F45-9708-019B960494DF}">
                      <a14:hiddenLine xmlns:a14="http://schemas.microsoft.com/office/drawing/2010/main" xmlns="" w="9525">
                        <a:solidFill>
                          <a:srgbClr val="000000"/>
                        </a:solidFill>
                        <a:round/>
                      </a14:hiddenLine>
                    </a:ext>
                  </a:extLst>
                </p:spPr>
                <p:txBody>
                  <a:bodyPr/>
                  <a:lstStyle/>
                  <a:p>
                    <a:pPr>
                      <a:defRPr/>
                    </a:pPr>
                    <a:endParaRPr lang="zh-CN" altLang="en-US" kern="0" dirty="0">
                      <a:solidFill>
                        <a:sysClr val="windowText" lastClr="000000"/>
                      </a:solidFill>
                      <a:latin typeface="Impact" panose="020B0806030902050204" pitchFamily="34" charset="0"/>
                      <a:ea typeface="微软雅黑" panose="020B0503020204020204" charset="-122"/>
                    </a:endParaRPr>
                  </a:p>
                </p:txBody>
              </p:sp>
              <p:sp>
                <p:nvSpPr>
                  <p:cNvPr id="20" name="Freeform 57"/>
                  <p:cNvSpPr/>
                  <p:nvPr/>
                </p:nvSpPr>
                <p:spPr bwMode="auto">
                  <a:xfrm>
                    <a:off x="855" y="1187"/>
                    <a:ext cx="1605" cy="826"/>
                  </a:xfrm>
                  <a:custGeom>
                    <a:avLst/>
                    <a:gdLst>
                      <a:gd name="T0" fmla="*/ 17943 w 1100"/>
                      <a:gd name="T1" fmla="*/ 2712 h 565"/>
                      <a:gd name="T2" fmla="*/ 0 w 1100"/>
                      <a:gd name="T3" fmla="*/ 10753 h 565"/>
                      <a:gd name="T4" fmla="*/ 1115 w 1100"/>
                      <a:gd name="T5" fmla="*/ 11795 h 565"/>
                      <a:gd name="T6" fmla="*/ 17869 w 1100"/>
                      <a:gd name="T7" fmla="*/ 3887 h 565"/>
                      <a:gd name="T8" fmla="*/ 22716 w 1100"/>
                      <a:gd name="T9" fmla="*/ 7231 h 565"/>
                      <a:gd name="T10" fmla="*/ 17943 w 1100"/>
                      <a:gd name="T11" fmla="*/ 2712 h 565"/>
                      <a:gd name="T12" fmla="*/ 0 60000 65536"/>
                      <a:gd name="T13" fmla="*/ 0 60000 65536"/>
                      <a:gd name="T14" fmla="*/ 0 60000 65536"/>
                      <a:gd name="T15" fmla="*/ 0 60000 65536"/>
                      <a:gd name="T16" fmla="*/ 0 60000 65536"/>
                      <a:gd name="T17" fmla="*/ 0 60000 65536"/>
                      <a:gd name="T18" fmla="*/ 0 w 1100"/>
                      <a:gd name="T19" fmla="*/ 0 h 565"/>
                      <a:gd name="T20" fmla="*/ 1100 w 1100"/>
                      <a:gd name="T21" fmla="*/ 565 h 565"/>
                    </a:gdLst>
                    <a:ahLst/>
                    <a:cxnLst>
                      <a:cxn ang="T12">
                        <a:pos x="T0" y="T1"/>
                      </a:cxn>
                      <a:cxn ang="T13">
                        <a:pos x="T2" y="T3"/>
                      </a:cxn>
                      <a:cxn ang="T14">
                        <a:pos x="T4" y="T5"/>
                      </a:cxn>
                      <a:cxn ang="T15">
                        <a:pos x="T6" y="T7"/>
                      </a:cxn>
                      <a:cxn ang="T16">
                        <a:pos x="T8" y="T9"/>
                      </a:cxn>
                      <a:cxn ang="T17">
                        <a:pos x="T10" y="T11"/>
                      </a:cxn>
                    </a:cxnLst>
                    <a:rect l="T18" t="T19" r="T20" b="T21"/>
                    <a:pathLst>
                      <a:path w="1100" h="565">
                        <a:moveTo>
                          <a:pt x="869" y="130"/>
                        </a:moveTo>
                        <a:cubicBezTo>
                          <a:pt x="355" y="0"/>
                          <a:pt x="0" y="515"/>
                          <a:pt x="0" y="515"/>
                        </a:cubicBezTo>
                        <a:cubicBezTo>
                          <a:pt x="0" y="515"/>
                          <a:pt x="0" y="515"/>
                          <a:pt x="54" y="565"/>
                        </a:cubicBezTo>
                        <a:cubicBezTo>
                          <a:pt x="279" y="285"/>
                          <a:pt x="580" y="120"/>
                          <a:pt x="866" y="186"/>
                        </a:cubicBezTo>
                        <a:cubicBezTo>
                          <a:pt x="1050" y="226"/>
                          <a:pt x="1100" y="347"/>
                          <a:pt x="1100" y="347"/>
                        </a:cubicBezTo>
                        <a:cubicBezTo>
                          <a:pt x="1084" y="303"/>
                          <a:pt x="1043" y="192"/>
                          <a:pt x="869" y="130"/>
                        </a:cubicBezTo>
                        <a:close/>
                      </a:path>
                    </a:pathLst>
                  </a:custGeom>
                  <a:gradFill rotWithShape="1">
                    <a:gsLst>
                      <a:gs pos="0">
                        <a:srgbClr val="6DAA2D">
                          <a:lumMod val="40000"/>
                          <a:lumOff val="60000"/>
                        </a:srgbClr>
                      </a:gs>
                      <a:gs pos="50000">
                        <a:srgbClr val="6DAA2D">
                          <a:lumMod val="75000"/>
                        </a:srgbClr>
                      </a:gs>
                      <a:gs pos="100000">
                        <a:srgbClr val="6DAA2D">
                          <a:lumMod val="75000"/>
                        </a:srgbClr>
                      </a:gs>
                    </a:gsLst>
                    <a:lin ang="2700000" scaled="1"/>
                  </a:gradFill>
                  <a:ln>
                    <a:noFill/>
                  </a:ln>
                  <a:extLst>
                    <a:ext uri="{91240B29-F687-4F45-9708-019B960494DF}">
                      <a14:hiddenLine xmlns:a14="http://schemas.microsoft.com/office/drawing/2010/main" xmlns="" w="9525">
                        <a:solidFill>
                          <a:srgbClr val="000000"/>
                        </a:solidFill>
                        <a:round/>
                      </a14:hiddenLine>
                    </a:ext>
                  </a:extLst>
                </p:spPr>
                <p:txBody>
                  <a:bodyPr/>
                  <a:lstStyle/>
                  <a:p>
                    <a:pPr>
                      <a:defRPr/>
                    </a:pPr>
                    <a:endParaRPr lang="zh-CN" altLang="en-US" kern="0" dirty="0">
                      <a:solidFill>
                        <a:sysClr val="windowText" lastClr="000000"/>
                      </a:solidFill>
                      <a:latin typeface="Impact" panose="020B0806030902050204" pitchFamily="34" charset="0"/>
                      <a:ea typeface="微软雅黑" panose="020B0503020204020204" charset="-122"/>
                    </a:endParaRPr>
                  </a:p>
                </p:txBody>
              </p:sp>
              <p:sp>
                <p:nvSpPr>
                  <p:cNvPr id="21" name="Freeform 58"/>
                  <p:cNvSpPr/>
                  <p:nvPr/>
                </p:nvSpPr>
                <p:spPr bwMode="auto">
                  <a:xfrm>
                    <a:off x="2303" y="2376"/>
                    <a:ext cx="440" cy="204"/>
                  </a:xfrm>
                  <a:custGeom>
                    <a:avLst/>
                    <a:gdLst>
                      <a:gd name="T0" fmla="*/ 0 w 469"/>
                      <a:gd name="T1" fmla="*/ 0 h 218"/>
                      <a:gd name="T2" fmla="*/ 243 w 469"/>
                      <a:gd name="T3" fmla="*/ 68 h 218"/>
                      <a:gd name="T4" fmla="*/ 281 w 469"/>
                      <a:gd name="T5" fmla="*/ 129 h 218"/>
                      <a:gd name="T6" fmla="*/ 44 w 469"/>
                      <a:gd name="T7" fmla="*/ 59 h 218"/>
                      <a:gd name="T8" fmla="*/ 0 w 469"/>
                      <a:gd name="T9" fmla="*/ 0 h 218"/>
                      <a:gd name="T10" fmla="*/ 0 60000 65536"/>
                      <a:gd name="T11" fmla="*/ 0 60000 65536"/>
                      <a:gd name="T12" fmla="*/ 0 60000 65536"/>
                      <a:gd name="T13" fmla="*/ 0 60000 65536"/>
                      <a:gd name="T14" fmla="*/ 0 60000 65536"/>
                      <a:gd name="T15" fmla="*/ 0 w 469"/>
                      <a:gd name="T16" fmla="*/ 0 h 218"/>
                      <a:gd name="T17" fmla="*/ 469 w 469"/>
                      <a:gd name="T18" fmla="*/ 218 h 218"/>
                    </a:gdLst>
                    <a:ahLst/>
                    <a:cxnLst>
                      <a:cxn ang="T10">
                        <a:pos x="T0" y="T1"/>
                      </a:cxn>
                      <a:cxn ang="T11">
                        <a:pos x="T2" y="T3"/>
                      </a:cxn>
                      <a:cxn ang="T12">
                        <a:pos x="T4" y="T5"/>
                      </a:cxn>
                      <a:cxn ang="T13">
                        <a:pos x="T6" y="T7"/>
                      </a:cxn>
                      <a:cxn ang="T14">
                        <a:pos x="T8" y="T9"/>
                      </a:cxn>
                    </a:cxnLst>
                    <a:rect l="T15" t="T16" r="T17" b="T18"/>
                    <a:pathLst>
                      <a:path w="469" h="218">
                        <a:moveTo>
                          <a:pt x="0" y="0"/>
                        </a:moveTo>
                        <a:lnTo>
                          <a:pt x="404" y="115"/>
                        </a:lnTo>
                        <a:lnTo>
                          <a:pt x="469" y="218"/>
                        </a:lnTo>
                        <a:lnTo>
                          <a:pt x="73" y="100"/>
                        </a:lnTo>
                        <a:lnTo>
                          <a:pt x="0" y="0"/>
                        </a:lnTo>
                        <a:close/>
                      </a:path>
                    </a:pathLst>
                  </a:custGeom>
                  <a:solidFill>
                    <a:srgbClr val="6DAA2D">
                      <a:lumMod val="75000"/>
                    </a:srgbClr>
                  </a:solidFill>
                  <a:ln>
                    <a:noFill/>
                  </a:ln>
                  <a:extLst>
                    <a:ext uri="{91240B29-F687-4F45-9708-019B960494DF}">
                      <a14:hiddenLine xmlns:a14="http://schemas.microsoft.com/office/drawing/2010/main" xmlns="" w="9525">
                        <a:solidFill>
                          <a:srgbClr val="000000"/>
                        </a:solidFill>
                        <a:round/>
                      </a14:hiddenLine>
                    </a:ext>
                  </a:extLst>
                </p:spPr>
                <p:txBody>
                  <a:bodyPr/>
                  <a:lstStyle/>
                  <a:p>
                    <a:pPr>
                      <a:defRPr/>
                    </a:pPr>
                    <a:endParaRPr lang="zh-CN" altLang="en-US" kern="0" dirty="0">
                      <a:solidFill>
                        <a:sysClr val="windowText" lastClr="000000"/>
                      </a:solidFill>
                      <a:latin typeface="Impact" panose="020B0806030902050204" pitchFamily="34" charset="0"/>
                      <a:ea typeface="微软雅黑" panose="020B0503020204020204" charset="-122"/>
                    </a:endParaRPr>
                  </a:p>
                </p:txBody>
              </p:sp>
              <p:sp>
                <p:nvSpPr>
                  <p:cNvPr id="22" name="Freeform 59"/>
                  <p:cNvSpPr/>
                  <p:nvPr/>
                </p:nvSpPr>
                <p:spPr bwMode="auto">
                  <a:xfrm>
                    <a:off x="682" y="1873"/>
                    <a:ext cx="249" cy="123"/>
                  </a:xfrm>
                  <a:custGeom>
                    <a:avLst/>
                    <a:gdLst>
                      <a:gd name="T0" fmla="*/ 112 w 264"/>
                      <a:gd name="T1" fmla="*/ 32 h 131"/>
                      <a:gd name="T2" fmla="*/ 165 w 264"/>
                      <a:gd name="T3" fmla="*/ 79 h 131"/>
                      <a:gd name="T4" fmla="*/ 52 w 264"/>
                      <a:gd name="T5" fmla="*/ 48 h 131"/>
                      <a:gd name="T6" fmla="*/ 0 w 264"/>
                      <a:gd name="T7" fmla="*/ 0 h 131"/>
                      <a:gd name="T8" fmla="*/ 112 w 264"/>
                      <a:gd name="T9" fmla="*/ 32 h 131"/>
                      <a:gd name="T10" fmla="*/ 0 60000 65536"/>
                      <a:gd name="T11" fmla="*/ 0 60000 65536"/>
                      <a:gd name="T12" fmla="*/ 0 60000 65536"/>
                      <a:gd name="T13" fmla="*/ 0 60000 65536"/>
                      <a:gd name="T14" fmla="*/ 0 60000 65536"/>
                      <a:gd name="T15" fmla="*/ 0 w 264"/>
                      <a:gd name="T16" fmla="*/ 0 h 131"/>
                      <a:gd name="T17" fmla="*/ 264 w 264"/>
                      <a:gd name="T18" fmla="*/ 131 h 131"/>
                    </a:gdLst>
                    <a:ahLst/>
                    <a:cxnLst>
                      <a:cxn ang="T10">
                        <a:pos x="T0" y="T1"/>
                      </a:cxn>
                      <a:cxn ang="T11">
                        <a:pos x="T2" y="T3"/>
                      </a:cxn>
                      <a:cxn ang="T12">
                        <a:pos x="T4" y="T5"/>
                      </a:cxn>
                      <a:cxn ang="T13">
                        <a:pos x="T6" y="T7"/>
                      </a:cxn>
                      <a:cxn ang="T14">
                        <a:pos x="T8" y="T9"/>
                      </a:cxn>
                    </a:cxnLst>
                    <a:rect l="T15" t="T16" r="T17" b="T18"/>
                    <a:pathLst>
                      <a:path w="264" h="131">
                        <a:moveTo>
                          <a:pt x="180" y="53"/>
                        </a:moveTo>
                        <a:lnTo>
                          <a:pt x="264" y="131"/>
                        </a:lnTo>
                        <a:lnTo>
                          <a:pt x="83" y="78"/>
                        </a:lnTo>
                        <a:lnTo>
                          <a:pt x="0" y="0"/>
                        </a:lnTo>
                        <a:lnTo>
                          <a:pt x="180" y="53"/>
                        </a:lnTo>
                        <a:close/>
                      </a:path>
                    </a:pathLst>
                  </a:custGeom>
                  <a:solidFill>
                    <a:srgbClr val="6DAA2D">
                      <a:lumMod val="75000"/>
                    </a:srgbClr>
                  </a:solidFill>
                  <a:ln>
                    <a:noFill/>
                  </a:ln>
                  <a:extLst>
                    <a:ext uri="{91240B29-F687-4F45-9708-019B960494DF}">
                      <a14:hiddenLine xmlns:a14="http://schemas.microsoft.com/office/drawing/2010/main" xmlns="" w="9525">
                        <a:solidFill>
                          <a:srgbClr val="000000"/>
                        </a:solidFill>
                        <a:round/>
                      </a14:hiddenLine>
                    </a:ext>
                  </a:extLst>
                </p:spPr>
                <p:txBody>
                  <a:bodyPr/>
                  <a:lstStyle/>
                  <a:p>
                    <a:pPr>
                      <a:defRPr/>
                    </a:pPr>
                    <a:endParaRPr lang="zh-CN" altLang="en-US" kern="0" dirty="0">
                      <a:solidFill>
                        <a:sysClr val="windowText" lastClr="000000"/>
                      </a:solidFill>
                      <a:latin typeface="Impact" panose="020B0806030902050204" pitchFamily="34" charset="0"/>
                      <a:ea typeface="微软雅黑" panose="020B0503020204020204" charset="-122"/>
                    </a:endParaRPr>
                  </a:p>
                </p:txBody>
              </p:sp>
            </p:grpSp>
          </p:grpSp>
          <p:sp>
            <p:nvSpPr>
              <p:cNvPr id="9" name="Line 29"/>
              <p:cNvSpPr>
                <a:spLocks noChangeShapeType="1"/>
              </p:cNvSpPr>
              <p:nvPr/>
            </p:nvSpPr>
            <p:spPr bwMode="auto">
              <a:xfrm rot="21307710" flipH="1">
                <a:off x="3756323" y="3986190"/>
                <a:ext cx="464933" cy="627062"/>
              </a:xfrm>
              <a:prstGeom prst="line">
                <a:avLst/>
              </a:prstGeom>
              <a:noFill/>
              <a:ln w="76200">
                <a:solidFill>
                  <a:srgbClr val="777777"/>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defRPr/>
                </a:pPr>
                <a:endParaRPr lang="zh-CN" altLang="en-US" kern="0" dirty="0">
                  <a:solidFill>
                    <a:sysClr val="windowText" lastClr="000000"/>
                  </a:solidFill>
                  <a:latin typeface="Impact" panose="020B0806030902050204" pitchFamily="34" charset="0"/>
                  <a:ea typeface="微软雅黑" panose="020B0503020204020204" charset="-122"/>
                </a:endParaRPr>
              </a:p>
            </p:txBody>
          </p:sp>
          <p:sp>
            <p:nvSpPr>
              <p:cNvPr id="10" name="Line 30"/>
              <p:cNvSpPr>
                <a:spLocks noChangeShapeType="1"/>
              </p:cNvSpPr>
              <p:nvPr/>
            </p:nvSpPr>
            <p:spPr bwMode="auto">
              <a:xfrm rot="21307710" flipV="1">
                <a:off x="4469169" y="2439965"/>
                <a:ext cx="392113" cy="584200"/>
              </a:xfrm>
              <a:prstGeom prst="line">
                <a:avLst/>
              </a:prstGeom>
              <a:noFill/>
              <a:ln w="76200">
                <a:solidFill>
                  <a:srgbClr val="275881"/>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defRPr/>
                </a:pPr>
                <a:endParaRPr lang="zh-CN" altLang="en-US" kern="0" dirty="0">
                  <a:solidFill>
                    <a:sysClr val="windowText" lastClr="000000"/>
                  </a:solidFill>
                  <a:latin typeface="Impact" panose="020B0806030902050204" pitchFamily="34" charset="0"/>
                  <a:ea typeface="微软雅黑" panose="020B0503020204020204" charset="-122"/>
                </a:endParaRPr>
              </a:p>
            </p:txBody>
          </p:sp>
          <p:sp>
            <p:nvSpPr>
              <p:cNvPr id="11" name="Text Box 31"/>
              <p:cNvSpPr txBox="1">
                <a:spLocks noChangeArrowheads="1"/>
              </p:cNvSpPr>
              <p:nvPr/>
            </p:nvSpPr>
            <p:spPr bwMode="auto">
              <a:xfrm>
                <a:off x="2673037" y="3352574"/>
                <a:ext cx="3391434" cy="50921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801370">
                  <a:defRPr/>
                </a:pPr>
                <a:r>
                  <a:rPr lang="zh-CN" altLang="en-US" b="1" kern="0">
                    <a:solidFill>
                      <a:srgbClr val="7D7D7D"/>
                    </a:solidFill>
                    <a:latin typeface="Impact" panose="020B0806030902050204" pitchFamily="34" charset="0"/>
                    <a:ea typeface="微软雅黑" panose="020B0503020204020204" charset="-122"/>
                    <a:sym typeface="+mn-ea"/>
                  </a:rPr>
                  <a:t>移动互联网白皮书</a:t>
                </a:r>
                <a:endParaRPr lang="zh-CN" altLang="en-US" b="1" kern="0" noProof="1">
                  <a:solidFill>
                    <a:srgbClr val="7D7D7D"/>
                  </a:solidFill>
                  <a:latin typeface="Impact" panose="020B0806030902050204" pitchFamily="34" charset="0"/>
                  <a:ea typeface="微软雅黑" panose="020B0503020204020204" charset="-122"/>
                </a:endParaRPr>
              </a:p>
            </p:txBody>
          </p:sp>
        </p:grpSp>
        <p:sp>
          <p:nvSpPr>
            <p:cNvPr id="28" name="Text Box 44"/>
            <p:cNvSpPr txBox="1">
              <a:spLocks noChangeArrowheads="1"/>
            </p:cNvSpPr>
            <p:nvPr/>
          </p:nvSpPr>
          <p:spPr bwMode="auto">
            <a:xfrm>
              <a:off x="2178" y="5691"/>
              <a:ext cx="11093" cy="749"/>
            </a:xfrm>
            <a:prstGeom prst="rect">
              <a:avLst/>
            </a:prstGeom>
            <a:noFill/>
            <a:ln>
              <a:noFill/>
            </a:ln>
            <a:effectLst/>
            <a:extLst>
              <a:ext uri="{909E8E84-426E-40DD-AFC4-6F175D3DCCD1}">
                <a14:hiddenFill xmlns:a14="http://schemas.microsoft.com/office/drawing/2010/main" xmlns="">
                  <a:solidFill>
                    <a:srgbClr val="FFFFFF">
                      <a:alpha val="30000"/>
                    </a:srgbClr>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prstTxWarp prst="textDeflate">
                <a:avLst/>
              </a:prstTxWarp>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zh-CN" altLang="en-US" sz="1800" b="1" dirty="0">
                  <a:solidFill>
                    <a:srgbClr val="FF0000"/>
                  </a:solidFill>
                  <a:latin typeface="宋体" panose="02010600030101010101" pitchFamily="2" charset="-122"/>
                  <a:ea typeface="宋体" panose="02010600030101010101" pitchFamily="2" charset="-122"/>
                </a:rPr>
                <a:t>我国工业和信息化部电信研究院发布的《移动互联网白皮书》定义：</a:t>
              </a:r>
            </a:p>
          </p:txBody>
        </p:sp>
        <p:sp>
          <p:nvSpPr>
            <p:cNvPr id="2" name="Text Box 44"/>
            <p:cNvSpPr txBox="1">
              <a:spLocks noChangeArrowheads="1"/>
            </p:cNvSpPr>
            <p:nvPr/>
          </p:nvSpPr>
          <p:spPr bwMode="auto">
            <a:xfrm>
              <a:off x="2913" y="7033"/>
              <a:ext cx="9983" cy="2737"/>
            </a:xfrm>
            <a:prstGeom prst="rect">
              <a:avLst/>
            </a:prstGeom>
            <a:noFill/>
            <a:ln>
              <a:noFill/>
            </a:ln>
            <a:effectLst/>
            <a:extLst>
              <a:ext uri="{909E8E84-426E-40DD-AFC4-6F175D3DCCD1}">
                <a14:hiddenFill xmlns:a14="http://schemas.microsoft.com/office/drawing/2010/main" xmlns="">
                  <a:solidFill>
                    <a:srgbClr val="FFFFFF">
                      <a:alpha val="30000"/>
                    </a:srgbClr>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charset="-122"/>
                  <a:ea typeface="微软雅黑" panose="020B050302020402020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r>
                <a:rPr lang="en-US" altLang="zh-CN" sz="2800" b="1" dirty="0">
                  <a:solidFill>
                    <a:srgbClr val="7BC143"/>
                  </a:solidFill>
                  <a:latin typeface="微软雅黑" panose="020B0503020204020204" charset="-122"/>
                  <a:ea typeface="微软雅黑" panose="020B0503020204020204" charset="-122"/>
                </a:rPr>
                <a:t>    </a:t>
              </a:r>
              <a:r>
                <a:rPr lang="zh-CN" altLang="en-US" sz="2800" b="1" dirty="0">
                  <a:solidFill>
                    <a:schemeClr val="tx1"/>
                  </a:solidFill>
                  <a:latin typeface="微软雅黑" panose="020B0503020204020204" charset="-122"/>
                  <a:ea typeface="微软雅黑" panose="020B0503020204020204" charset="-122"/>
                </a:rPr>
                <a:t>移动互联网是以移动网络作为接入网络的互联网及服务，包括3个要素：移动终端、网络和应用服务。</a:t>
              </a:r>
            </a:p>
          </p:txBody>
        </p:sp>
      </p:grpSp>
    </p:spTree>
  </p:cSld>
  <p:clrMapOvr>
    <a:masterClrMapping/>
  </p:clrMapOvr>
  <p:transition>
    <p:pull di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dirty="0">
                <a:solidFill>
                  <a:srgbClr val="FF0000"/>
                </a:solidFill>
                <a:sym typeface="+mn-ea"/>
              </a:rPr>
              <a:t>9.1  移动互联网简介</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9.1.</a:t>
            </a:r>
            <a:r>
              <a:rPr sz="2400" dirty="0" smtClean="0">
                <a:solidFill>
                  <a:schemeClr val="tx1"/>
                </a:solidFill>
              </a:rPr>
              <a:t>1  移动互联网的定义</a:t>
            </a:r>
          </a:p>
        </p:txBody>
      </p:sp>
      <p:grpSp>
        <p:nvGrpSpPr>
          <p:cNvPr id="15" name="组合 14"/>
          <p:cNvGrpSpPr/>
          <p:nvPr/>
        </p:nvGrpSpPr>
        <p:grpSpPr>
          <a:xfrm>
            <a:off x="491490" y="653415"/>
            <a:ext cx="11015345" cy="5264785"/>
            <a:chOff x="135" y="1310"/>
            <a:chExt cx="17347" cy="7242"/>
          </a:xfrm>
        </p:grpSpPr>
        <p:grpSp>
          <p:nvGrpSpPr>
            <p:cNvPr id="9" name="组合 8"/>
            <p:cNvGrpSpPr/>
            <p:nvPr/>
          </p:nvGrpSpPr>
          <p:grpSpPr>
            <a:xfrm>
              <a:off x="135" y="1310"/>
              <a:ext cx="17347" cy="7242"/>
              <a:chOff x="684587" y="1099955"/>
              <a:chExt cx="11015360" cy="4598538"/>
            </a:xfrm>
          </p:grpSpPr>
          <p:sp>
            <p:nvSpPr>
              <p:cNvPr id="10" name="MH_Other_1"/>
              <p:cNvSpPr/>
              <p:nvPr>
                <p:custDataLst>
                  <p:tags r:id="rId1"/>
                </p:custDataLst>
              </p:nvPr>
            </p:nvSpPr>
            <p:spPr>
              <a:xfrm rot="15013344" flipH="1">
                <a:off x="5732000" y="3022522"/>
                <a:ext cx="3272539" cy="2079403"/>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079403"/>
                  <a:gd name="connsiteX1-123" fmla="*/ 1785607 w 4358007"/>
                  <a:gd name="connsiteY1-124" fmla="*/ 21009 h 2079403"/>
                  <a:gd name="connsiteX2-125" fmla="*/ 4075532 w 4358007"/>
                  <a:gd name="connsiteY2-126" fmla="*/ 1498040 h 2079403"/>
                  <a:gd name="connsiteX3-127" fmla="*/ 4358007 w 4358007"/>
                  <a:gd name="connsiteY3-128" fmla="*/ 1498039 h 2079403"/>
                  <a:gd name="connsiteX4-129" fmla="*/ 3268305 w 4358007"/>
                  <a:gd name="connsiteY4-130" fmla="*/ 1683987 h 2079403"/>
                  <a:gd name="connsiteX5-131" fmla="*/ 3169875 w 4358007"/>
                  <a:gd name="connsiteY5-132" fmla="*/ 1498039 h 2079403"/>
                  <a:gd name="connsiteX6-133" fmla="*/ 3445881 w 4358007"/>
                  <a:gd name="connsiteY6-134" fmla="*/ 1498039 h 2079403"/>
                  <a:gd name="connsiteX7-135" fmla="*/ 1535436 w 4358007"/>
                  <a:gd name="connsiteY7-136" fmla="*/ 463531 h 2079403"/>
                  <a:gd name="connsiteX8-137" fmla="*/ 25655 w 4358007"/>
                  <a:gd name="connsiteY8-138" fmla="*/ 2067046 h 2079403"/>
                  <a:gd name="connsiteX9-139" fmla="*/ 0 w 4358007"/>
                  <a:gd name="connsiteY9-140" fmla="*/ 2079403 h 2079403"/>
                  <a:gd name="connsiteX0-141" fmla="*/ 0 w 4358007"/>
                  <a:gd name="connsiteY0-142" fmla="*/ 2079403 h 2079403"/>
                  <a:gd name="connsiteX1-143" fmla="*/ 1785607 w 4358007"/>
                  <a:gd name="connsiteY1-144" fmla="*/ 21009 h 2079403"/>
                  <a:gd name="connsiteX2-145" fmla="*/ 4075532 w 4358007"/>
                  <a:gd name="connsiteY2-146" fmla="*/ 1498040 h 2079403"/>
                  <a:gd name="connsiteX3-147" fmla="*/ 4358007 w 4358007"/>
                  <a:gd name="connsiteY3-148" fmla="*/ 1498039 h 2079403"/>
                  <a:gd name="connsiteX4-149" fmla="*/ 3268305 w 4358007"/>
                  <a:gd name="connsiteY4-150" fmla="*/ 1683987 h 2079403"/>
                  <a:gd name="connsiteX5-151" fmla="*/ 3251241 w 4358007"/>
                  <a:gd name="connsiteY5-152" fmla="*/ 1673622 h 2079403"/>
                  <a:gd name="connsiteX6-153" fmla="*/ 3169875 w 4358007"/>
                  <a:gd name="connsiteY6-154" fmla="*/ 1498039 h 2079403"/>
                  <a:gd name="connsiteX7-155" fmla="*/ 3445881 w 4358007"/>
                  <a:gd name="connsiteY7-156" fmla="*/ 1498039 h 2079403"/>
                  <a:gd name="connsiteX8-157" fmla="*/ 1535436 w 4358007"/>
                  <a:gd name="connsiteY8-158" fmla="*/ 463531 h 2079403"/>
                  <a:gd name="connsiteX9-159" fmla="*/ 25655 w 4358007"/>
                  <a:gd name="connsiteY9-160" fmla="*/ 2067046 h 2079403"/>
                  <a:gd name="connsiteX10" fmla="*/ 0 w 4358007"/>
                  <a:gd name="connsiteY10" fmla="*/ 2079403 h 2079403"/>
                  <a:gd name="connsiteX0-161" fmla="*/ 0 w 4358007"/>
                  <a:gd name="connsiteY0-162" fmla="*/ 2079403 h 2079403"/>
                  <a:gd name="connsiteX1-163" fmla="*/ 1785607 w 4358007"/>
                  <a:gd name="connsiteY1-164" fmla="*/ 21009 h 2079403"/>
                  <a:gd name="connsiteX2-165" fmla="*/ 4075532 w 4358007"/>
                  <a:gd name="connsiteY2-166" fmla="*/ 1498040 h 2079403"/>
                  <a:gd name="connsiteX3-167" fmla="*/ 4358007 w 4358007"/>
                  <a:gd name="connsiteY3-168" fmla="*/ 1498039 h 2079403"/>
                  <a:gd name="connsiteX4-169" fmla="*/ 3268305 w 4358007"/>
                  <a:gd name="connsiteY4-170" fmla="*/ 1683987 h 2079403"/>
                  <a:gd name="connsiteX5-171" fmla="*/ 3115316 w 4358007"/>
                  <a:gd name="connsiteY5-172" fmla="*/ 1661266 h 2079403"/>
                  <a:gd name="connsiteX6-173" fmla="*/ 3169875 w 4358007"/>
                  <a:gd name="connsiteY6-174" fmla="*/ 1498039 h 2079403"/>
                  <a:gd name="connsiteX7-175" fmla="*/ 3445881 w 4358007"/>
                  <a:gd name="connsiteY7-176" fmla="*/ 1498039 h 2079403"/>
                  <a:gd name="connsiteX8-177" fmla="*/ 1535436 w 4358007"/>
                  <a:gd name="connsiteY8-178" fmla="*/ 463531 h 2079403"/>
                  <a:gd name="connsiteX9-179" fmla="*/ 25655 w 4358007"/>
                  <a:gd name="connsiteY9-180" fmla="*/ 2067046 h 2079403"/>
                  <a:gd name="connsiteX10-181" fmla="*/ 0 w 4358007"/>
                  <a:gd name="connsiteY10-182" fmla="*/ 2079403 h 2079403"/>
                  <a:gd name="connsiteX0-183" fmla="*/ 0 w 4358007"/>
                  <a:gd name="connsiteY0-184" fmla="*/ 2079403 h 2079403"/>
                  <a:gd name="connsiteX1-185" fmla="*/ 1785607 w 4358007"/>
                  <a:gd name="connsiteY1-186" fmla="*/ 21009 h 2079403"/>
                  <a:gd name="connsiteX2-187" fmla="*/ 4075532 w 4358007"/>
                  <a:gd name="connsiteY2-188" fmla="*/ 1498040 h 2079403"/>
                  <a:gd name="connsiteX3-189" fmla="*/ 4358007 w 4358007"/>
                  <a:gd name="connsiteY3-190" fmla="*/ 1498039 h 2079403"/>
                  <a:gd name="connsiteX4-191" fmla="*/ 4355700 w 4358007"/>
                  <a:gd name="connsiteY4-192" fmla="*/ 1683987 h 2079403"/>
                  <a:gd name="connsiteX5-193" fmla="*/ 3115316 w 4358007"/>
                  <a:gd name="connsiteY5-194" fmla="*/ 1661266 h 2079403"/>
                  <a:gd name="connsiteX6-195" fmla="*/ 3169875 w 4358007"/>
                  <a:gd name="connsiteY6-196" fmla="*/ 1498039 h 2079403"/>
                  <a:gd name="connsiteX7-197" fmla="*/ 3445881 w 4358007"/>
                  <a:gd name="connsiteY7-198" fmla="*/ 1498039 h 2079403"/>
                  <a:gd name="connsiteX8-199" fmla="*/ 1535436 w 4358007"/>
                  <a:gd name="connsiteY8-200" fmla="*/ 463531 h 2079403"/>
                  <a:gd name="connsiteX9-201" fmla="*/ 25655 w 4358007"/>
                  <a:gd name="connsiteY9-202" fmla="*/ 2067046 h 2079403"/>
                  <a:gd name="connsiteX10-203" fmla="*/ 0 w 4358007"/>
                  <a:gd name="connsiteY10-204" fmla="*/ 2079403 h 2079403"/>
                  <a:gd name="connsiteX0-205" fmla="*/ 0 w 4358007"/>
                  <a:gd name="connsiteY0-206" fmla="*/ 2079403 h 2079403"/>
                  <a:gd name="connsiteX1-207" fmla="*/ 1785607 w 4358007"/>
                  <a:gd name="connsiteY1-208" fmla="*/ 21009 h 2079403"/>
                  <a:gd name="connsiteX2-209" fmla="*/ 4075532 w 4358007"/>
                  <a:gd name="connsiteY2-210" fmla="*/ 1498040 h 2079403"/>
                  <a:gd name="connsiteX3-211" fmla="*/ 4358007 w 4358007"/>
                  <a:gd name="connsiteY3-212" fmla="*/ 1498039 h 2079403"/>
                  <a:gd name="connsiteX4-213" fmla="*/ 4355700 w 4358007"/>
                  <a:gd name="connsiteY4-214" fmla="*/ 1683987 h 2079403"/>
                  <a:gd name="connsiteX5-215" fmla="*/ 3152386 w 4358007"/>
                  <a:gd name="connsiteY5-216" fmla="*/ 1636552 h 2079403"/>
                  <a:gd name="connsiteX6-217" fmla="*/ 3169875 w 4358007"/>
                  <a:gd name="connsiteY6-218" fmla="*/ 1498039 h 2079403"/>
                  <a:gd name="connsiteX7-219" fmla="*/ 3445881 w 4358007"/>
                  <a:gd name="connsiteY7-220" fmla="*/ 1498039 h 2079403"/>
                  <a:gd name="connsiteX8-221" fmla="*/ 1535436 w 4358007"/>
                  <a:gd name="connsiteY8-222" fmla="*/ 463531 h 2079403"/>
                  <a:gd name="connsiteX9-223" fmla="*/ 25655 w 4358007"/>
                  <a:gd name="connsiteY9-224" fmla="*/ 2067046 h 2079403"/>
                  <a:gd name="connsiteX10-225" fmla="*/ 0 w 4358007"/>
                  <a:gd name="connsiteY10-226" fmla="*/ 2079403 h 2079403"/>
                  <a:gd name="connsiteX0-227" fmla="*/ 0 w 4358007"/>
                  <a:gd name="connsiteY0-228" fmla="*/ 2079403 h 2079403"/>
                  <a:gd name="connsiteX1-229" fmla="*/ 1785607 w 4358007"/>
                  <a:gd name="connsiteY1-230" fmla="*/ 21009 h 2079403"/>
                  <a:gd name="connsiteX2-231" fmla="*/ 4075532 w 4358007"/>
                  <a:gd name="connsiteY2-232" fmla="*/ 1498040 h 2079403"/>
                  <a:gd name="connsiteX3-233" fmla="*/ 4358007 w 4358007"/>
                  <a:gd name="connsiteY3-234" fmla="*/ 1498039 h 2079403"/>
                  <a:gd name="connsiteX4-235" fmla="*/ 4355700 w 4358007"/>
                  <a:gd name="connsiteY4-236" fmla="*/ 1683987 h 2079403"/>
                  <a:gd name="connsiteX5-237" fmla="*/ 3190806 w 4358007"/>
                  <a:gd name="connsiteY5-238" fmla="*/ 1636552 h 2079403"/>
                  <a:gd name="connsiteX6-239" fmla="*/ 3169875 w 4358007"/>
                  <a:gd name="connsiteY6-240" fmla="*/ 1498039 h 2079403"/>
                  <a:gd name="connsiteX7-241" fmla="*/ 3445881 w 4358007"/>
                  <a:gd name="connsiteY7-242" fmla="*/ 1498039 h 2079403"/>
                  <a:gd name="connsiteX8-243" fmla="*/ 1535436 w 4358007"/>
                  <a:gd name="connsiteY8-244" fmla="*/ 463531 h 2079403"/>
                  <a:gd name="connsiteX9-245" fmla="*/ 25655 w 4358007"/>
                  <a:gd name="connsiteY9-246" fmla="*/ 2067046 h 2079403"/>
                  <a:gd name="connsiteX10-247" fmla="*/ 0 w 4358007"/>
                  <a:gd name="connsiteY10-248" fmla="*/ 2079403 h 2079403"/>
                  <a:gd name="connsiteX0-249" fmla="*/ 0 w 4358007"/>
                  <a:gd name="connsiteY0-250" fmla="*/ 2079403 h 2079403"/>
                  <a:gd name="connsiteX1-251" fmla="*/ 1785607 w 4358007"/>
                  <a:gd name="connsiteY1-252" fmla="*/ 21009 h 2079403"/>
                  <a:gd name="connsiteX2-253" fmla="*/ 4075532 w 4358007"/>
                  <a:gd name="connsiteY2-254" fmla="*/ 1498040 h 2079403"/>
                  <a:gd name="connsiteX3-255" fmla="*/ 4358007 w 4358007"/>
                  <a:gd name="connsiteY3-256" fmla="*/ 1498039 h 2079403"/>
                  <a:gd name="connsiteX4-257" fmla="*/ 4340332 w 4358007"/>
                  <a:gd name="connsiteY4-258" fmla="*/ 1614830 h 2079403"/>
                  <a:gd name="connsiteX5-259" fmla="*/ 3190806 w 4358007"/>
                  <a:gd name="connsiteY5-260" fmla="*/ 1636552 h 2079403"/>
                  <a:gd name="connsiteX6-261" fmla="*/ 3169875 w 4358007"/>
                  <a:gd name="connsiteY6-262" fmla="*/ 1498039 h 2079403"/>
                  <a:gd name="connsiteX7-263" fmla="*/ 3445881 w 4358007"/>
                  <a:gd name="connsiteY7-264" fmla="*/ 1498039 h 2079403"/>
                  <a:gd name="connsiteX8-265" fmla="*/ 1535436 w 4358007"/>
                  <a:gd name="connsiteY8-266" fmla="*/ 463531 h 2079403"/>
                  <a:gd name="connsiteX9-267" fmla="*/ 25655 w 4358007"/>
                  <a:gd name="connsiteY9-268" fmla="*/ 2067046 h 2079403"/>
                  <a:gd name="connsiteX10-269" fmla="*/ 0 w 4358007"/>
                  <a:gd name="connsiteY10-270" fmla="*/ 2079403 h 2079403"/>
                  <a:gd name="connsiteX0-271" fmla="*/ 0 w 4358007"/>
                  <a:gd name="connsiteY0-272" fmla="*/ 2079403 h 2079403"/>
                  <a:gd name="connsiteX1-273" fmla="*/ 1785607 w 4358007"/>
                  <a:gd name="connsiteY1-274" fmla="*/ 21009 h 2079403"/>
                  <a:gd name="connsiteX2-275" fmla="*/ 4075532 w 4358007"/>
                  <a:gd name="connsiteY2-276" fmla="*/ 1498040 h 2079403"/>
                  <a:gd name="connsiteX3-277" fmla="*/ 4358007 w 4358007"/>
                  <a:gd name="connsiteY3-278" fmla="*/ 1498039 h 2079403"/>
                  <a:gd name="connsiteX4-279" fmla="*/ 4340332 w 4358007"/>
                  <a:gd name="connsiteY4-280" fmla="*/ 1614830 h 2079403"/>
                  <a:gd name="connsiteX5-281" fmla="*/ 3190806 w 4358007"/>
                  <a:gd name="connsiteY5-282" fmla="*/ 1621184 h 2079403"/>
                  <a:gd name="connsiteX6-283" fmla="*/ 3169875 w 4358007"/>
                  <a:gd name="connsiteY6-284" fmla="*/ 1498039 h 2079403"/>
                  <a:gd name="connsiteX7-285" fmla="*/ 3445881 w 4358007"/>
                  <a:gd name="connsiteY7-286" fmla="*/ 1498039 h 2079403"/>
                  <a:gd name="connsiteX8-287" fmla="*/ 1535436 w 4358007"/>
                  <a:gd name="connsiteY8-288" fmla="*/ 463531 h 2079403"/>
                  <a:gd name="connsiteX9-289" fmla="*/ 25655 w 4358007"/>
                  <a:gd name="connsiteY9-290" fmla="*/ 2067046 h 2079403"/>
                  <a:gd name="connsiteX10-291" fmla="*/ 0 w 4358007"/>
                  <a:gd name="connsiteY10-292" fmla="*/ 2079403 h 2079403"/>
                  <a:gd name="connsiteX0-293" fmla="*/ 0 w 4363385"/>
                  <a:gd name="connsiteY0-294" fmla="*/ 2079403 h 2079403"/>
                  <a:gd name="connsiteX1-295" fmla="*/ 1785607 w 4363385"/>
                  <a:gd name="connsiteY1-296" fmla="*/ 21009 h 2079403"/>
                  <a:gd name="connsiteX2-297" fmla="*/ 4075532 w 4363385"/>
                  <a:gd name="connsiteY2-298" fmla="*/ 1498040 h 2079403"/>
                  <a:gd name="connsiteX3-299" fmla="*/ 4358007 w 4363385"/>
                  <a:gd name="connsiteY3-300" fmla="*/ 1498039 h 2079403"/>
                  <a:gd name="connsiteX4-301" fmla="*/ 4363385 w 4363385"/>
                  <a:gd name="connsiteY4-302" fmla="*/ 1614830 h 2079403"/>
                  <a:gd name="connsiteX5-303" fmla="*/ 3190806 w 4363385"/>
                  <a:gd name="connsiteY5-304" fmla="*/ 1621184 h 2079403"/>
                  <a:gd name="connsiteX6-305" fmla="*/ 3169875 w 4363385"/>
                  <a:gd name="connsiteY6-306" fmla="*/ 1498039 h 2079403"/>
                  <a:gd name="connsiteX7-307" fmla="*/ 3445881 w 4363385"/>
                  <a:gd name="connsiteY7-308" fmla="*/ 1498039 h 2079403"/>
                  <a:gd name="connsiteX8-309" fmla="*/ 1535436 w 4363385"/>
                  <a:gd name="connsiteY8-310" fmla="*/ 463531 h 2079403"/>
                  <a:gd name="connsiteX9-311" fmla="*/ 25655 w 4363385"/>
                  <a:gd name="connsiteY9-312" fmla="*/ 2067046 h 2079403"/>
                  <a:gd name="connsiteX10-313" fmla="*/ 0 w 4363385"/>
                  <a:gd name="connsiteY10-314" fmla="*/ 2079403 h 207940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181" y="connsiteY10-182"/>
                  </a:cxn>
                </a:cxnLst>
                <a:rect l="l" t="t" r="r" b="b"/>
                <a:pathLst>
                  <a:path w="4363385" h="2079403">
                    <a:moveTo>
                      <a:pt x="0" y="2079403"/>
                    </a:moveTo>
                    <a:cubicBezTo>
                      <a:pt x="0" y="1044510"/>
                      <a:pt x="761085" y="167154"/>
                      <a:pt x="1785607" y="21009"/>
                    </a:cubicBezTo>
                    <a:cubicBezTo>
                      <a:pt x="2810128" y="-125136"/>
                      <a:pt x="3786171" y="504424"/>
                      <a:pt x="4075532" y="1498040"/>
                    </a:cubicBezTo>
                    <a:lnTo>
                      <a:pt x="4358007" y="1498039"/>
                    </a:lnTo>
                    <a:lnTo>
                      <a:pt x="4363385" y="1614830"/>
                    </a:lnTo>
                    <a:lnTo>
                      <a:pt x="3190806" y="1621184"/>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flip="none" rotWithShape="1">
                <a:gsLst>
                  <a:gs pos="43000">
                    <a:schemeClr val="tx1">
                      <a:lumMod val="95000"/>
                      <a:lumOff val="5000"/>
                    </a:schemeClr>
                  </a:gs>
                  <a:gs pos="14000">
                    <a:schemeClr val="tx1">
                      <a:lumMod val="50000"/>
                      <a:lumOff val="50000"/>
                    </a:schemeClr>
                  </a:gs>
                  <a:gs pos="100000">
                    <a:schemeClr val="tx1">
                      <a:lumMod val="50000"/>
                      <a:lumOff val="50000"/>
                    </a:schemeClr>
                  </a:gs>
                </a:gsLst>
                <a:lin ang="2700000" scaled="1"/>
                <a:tileRect/>
              </a:gradFill>
              <a:ln>
                <a:noFill/>
              </a:ln>
              <a:effectLst/>
              <a:scene3d>
                <a:camera prst="orthographicFront"/>
                <a:lightRig rig="flat" dir="t">
                  <a:rot lat="0" lon="0" rev="11400000"/>
                </a:lightRig>
              </a:scene3d>
              <a:sp3d extrusionH="1270000" contourW="12700" prstMaterial="softEdge">
                <a:bevelB h="107950"/>
                <a:extrusionClr>
                  <a:schemeClr val="accent2">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solidFill>
                    <a:schemeClr val="tx1"/>
                  </a:solidFill>
                  <a:latin typeface="+mn-ea"/>
                </a:endParaRPr>
              </a:p>
            </p:txBody>
          </p:sp>
          <p:sp>
            <p:nvSpPr>
              <p:cNvPr id="11" name="MH_Other_2"/>
              <p:cNvSpPr/>
              <p:nvPr>
                <p:custDataLst>
                  <p:tags r:id="rId2"/>
                </p:custDataLst>
              </p:nvPr>
            </p:nvSpPr>
            <p:spPr>
              <a:xfrm rot="15013344" flipH="1">
                <a:off x="5923809" y="2890569"/>
                <a:ext cx="3268505" cy="2252397"/>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0000">
                    <a:schemeClr val="accent2">
                      <a:lumMod val="40000"/>
                      <a:lumOff val="60000"/>
                    </a:schemeClr>
                  </a:gs>
                  <a:gs pos="0">
                    <a:schemeClr val="accent2">
                      <a:lumMod val="75000"/>
                    </a:schemeClr>
                  </a:gs>
                  <a:gs pos="100000">
                    <a:schemeClr val="accent2"/>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12" name="MH_Other_3"/>
              <p:cNvSpPr/>
              <p:nvPr>
                <p:custDataLst>
                  <p:tags r:id="rId3"/>
                </p:custDataLst>
              </p:nvPr>
            </p:nvSpPr>
            <p:spPr>
              <a:xfrm rot="14847505" flipV="1">
                <a:off x="3091614" y="2746901"/>
                <a:ext cx="3340388" cy="2442932"/>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 name="connsiteX0-141" fmla="*/ 0 w 4358007"/>
                  <a:gd name="connsiteY0-142" fmla="*/ 2079403 h 2386491"/>
                  <a:gd name="connsiteX1-143" fmla="*/ 1785607 w 4358007"/>
                  <a:gd name="connsiteY1-144" fmla="*/ 21009 h 2386491"/>
                  <a:gd name="connsiteX2-145" fmla="*/ 4075532 w 4358007"/>
                  <a:gd name="connsiteY2-146" fmla="*/ 1498040 h 2386491"/>
                  <a:gd name="connsiteX3-147" fmla="*/ 4358007 w 4358007"/>
                  <a:gd name="connsiteY3-148" fmla="*/ 1498039 h 2386491"/>
                  <a:gd name="connsiteX4-149" fmla="*/ 3782879 w 4358007"/>
                  <a:gd name="connsiteY4-150" fmla="*/ 2386491 h 2386491"/>
                  <a:gd name="connsiteX5-151" fmla="*/ 3169875 w 4358007"/>
                  <a:gd name="connsiteY5-152" fmla="*/ 1498039 h 2386491"/>
                  <a:gd name="connsiteX6-153" fmla="*/ 3445881 w 4358007"/>
                  <a:gd name="connsiteY6-154" fmla="*/ 1498039 h 2386491"/>
                  <a:gd name="connsiteX7-155" fmla="*/ 1535436 w 4358007"/>
                  <a:gd name="connsiteY7-156" fmla="*/ 463531 h 2386491"/>
                  <a:gd name="connsiteX8-157" fmla="*/ 25655 w 4358007"/>
                  <a:gd name="connsiteY8-158" fmla="*/ 2067046 h 2386491"/>
                  <a:gd name="connsiteX9-159" fmla="*/ 0 w 4358007"/>
                  <a:gd name="connsiteY9-160" fmla="*/ 2079403 h 2386491"/>
                  <a:gd name="connsiteX0-161" fmla="*/ 0 w 4401150"/>
                  <a:gd name="connsiteY0-162" fmla="*/ 2079403 h 2386491"/>
                  <a:gd name="connsiteX1-163" fmla="*/ 1785607 w 4401150"/>
                  <a:gd name="connsiteY1-164" fmla="*/ 21009 h 2386491"/>
                  <a:gd name="connsiteX2-165" fmla="*/ 4075532 w 4401150"/>
                  <a:gd name="connsiteY2-166" fmla="*/ 1498040 h 2386491"/>
                  <a:gd name="connsiteX3-167" fmla="*/ 4401150 w 4401150"/>
                  <a:gd name="connsiteY3-168" fmla="*/ 1601982 h 2386491"/>
                  <a:gd name="connsiteX4-169" fmla="*/ 3782879 w 4401150"/>
                  <a:gd name="connsiteY4-170" fmla="*/ 2386491 h 2386491"/>
                  <a:gd name="connsiteX5-171" fmla="*/ 3169875 w 4401150"/>
                  <a:gd name="connsiteY5-172" fmla="*/ 1498039 h 2386491"/>
                  <a:gd name="connsiteX6-173" fmla="*/ 3445881 w 4401150"/>
                  <a:gd name="connsiteY6-174" fmla="*/ 1498039 h 2386491"/>
                  <a:gd name="connsiteX7-175" fmla="*/ 1535436 w 4401150"/>
                  <a:gd name="connsiteY7-176" fmla="*/ 463531 h 2386491"/>
                  <a:gd name="connsiteX8-177" fmla="*/ 25655 w 4401150"/>
                  <a:gd name="connsiteY8-178" fmla="*/ 2067046 h 2386491"/>
                  <a:gd name="connsiteX9-179" fmla="*/ 0 w 4401150"/>
                  <a:gd name="connsiteY9-180" fmla="*/ 2079403 h 2386491"/>
                  <a:gd name="connsiteX0-181" fmla="*/ 0 w 4401150"/>
                  <a:gd name="connsiteY0-182" fmla="*/ 2063451 h 2370539"/>
                  <a:gd name="connsiteX1-183" fmla="*/ 1785607 w 4401150"/>
                  <a:gd name="connsiteY1-184" fmla="*/ 5057 h 2370539"/>
                  <a:gd name="connsiteX2-185" fmla="*/ 4046111 w 4401150"/>
                  <a:gd name="connsiteY2-186" fmla="*/ 1631382 h 2370539"/>
                  <a:gd name="connsiteX3-187" fmla="*/ 4401150 w 4401150"/>
                  <a:gd name="connsiteY3-188" fmla="*/ 1586030 h 2370539"/>
                  <a:gd name="connsiteX4-189" fmla="*/ 3782879 w 4401150"/>
                  <a:gd name="connsiteY4-190" fmla="*/ 2370539 h 2370539"/>
                  <a:gd name="connsiteX5-191" fmla="*/ 3169875 w 4401150"/>
                  <a:gd name="connsiteY5-192" fmla="*/ 1482087 h 2370539"/>
                  <a:gd name="connsiteX6-193" fmla="*/ 3445881 w 4401150"/>
                  <a:gd name="connsiteY6-194" fmla="*/ 1482087 h 2370539"/>
                  <a:gd name="connsiteX7-195" fmla="*/ 1535436 w 4401150"/>
                  <a:gd name="connsiteY7-196" fmla="*/ 447579 h 2370539"/>
                  <a:gd name="connsiteX8-197" fmla="*/ 25655 w 4401150"/>
                  <a:gd name="connsiteY8-198" fmla="*/ 2051094 h 2370539"/>
                  <a:gd name="connsiteX9-199" fmla="*/ 0 w 4401150"/>
                  <a:gd name="connsiteY9-200" fmla="*/ 2063451 h 2370539"/>
                  <a:gd name="connsiteX0-201" fmla="*/ 0 w 4401150"/>
                  <a:gd name="connsiteY0-202" fmla="*/ 2063451 h 2370539"/>
                  <a:gd name="connsiteX1-203" fmla="*/ 1785607 w 4401150"/>
                  <a:gd name="connsiteY1-204" fmla="*/ 5057 h 2370539"/>
                  <a:gd name="connsiteX2-205" fmla="*/ 4046111 w 4401150"/>
                  <a:gd name="connsiteY2-206" fmla="*/ 1631382 h 2370539"/>
                  <a:gd name="connsiteX3-207" fmla="*/ 4401150 w 4401150"/>
                  <a:gd name="connsiteY3-208" fmla="*/ 1586030 h 2370539"/>
                  <a:gd name="connsiteX4-209" fmla="*/ 3782879 w 4401150"/>
                  <a:gd name="connsiteY4-210" fmla="*/ 2370539 h 2370539"/>
                  <a:gd name="connsiteX5-211" fmla="*/ 3186053 w 4401150"/>
                  <a:gd name="connsiteY5-212" fmla="*/ 1521066 h 2370539"/>
                  <a:gd name="connsiteX6-213" fmla="*/ 3445881 w 4401150"/>
                  <a:gd name="connsiteY6-214" fmla="*/ 1482087 h 2370539"/>
                  <a:gd name="connsiteX7-215" fmla="*/ 1535436 w 4401150"/>
                  <a:gd name="connsiteY7-216" fmla="*/ 447579 h 2370539"/>
                  <a:gd name="connsiteX8-217" fmla="*/ 25655 w 4401150"/>
                  <a:gd name="connsiteY8-218" fmla="*/ 2051094 h 2370539"/>
                  <a:gd name="connsiteX9-219" fmla="*/ 0 w 4401150"/>
                  <a:gd name="connsiteY9-220" fmla="*/ 2063451 h 2370539"/>
                  <a:gd name="connsiteX0-221" fmla="*/ 0 w 4401150"/>
                  <a:gd name="connsiteY0-222" fmla="*/ 2063451 h 2444082"/>
                  <a:gd name="connsiteX1-223" fmla="*/ 1785607 w 4401150"/>
                  <a:gd name="connsiteY1-224" fmla="*/ 5057 h 2444082"/>
                  <a:gd name="connsiteX2-225" fmla="*/ 4046111 w 4401150"/>
                  <a:gd name="connsiteY2-226" fmla="*/ 1631382 h 2444082"/>
                  <a:gd name="connsiteX3-227" fmla="*/ 4401150 w 4401150"/>
                  <a:gd name="connsiteY3-228" fmla="*/ 1586030 h 2444082"/>
                  <a:gd name="connsiteX4-229" fmla="*/ 3752478 w 4401150"/>
                  <a:gd name="connsiteY4-230" fmla="*/ 2444082 h 2444082"/>
                  <a:gd name="connsiteX5-231" fmla="*/ 3186053 w 4401150"/>
                  <a:gd name="connsiteY5-232" fmla="*/ 1521066 h 2444082"/>
                  <a:gd name="connsiteX6-233" fmla="*/ 3445881 w 4401150"/>
                  <a:gd name="connsiteY6-234" fmla="*/ 1482087 h 2444082"/>
                  <a:gd name="connsiteX7-235" fmla="*/ 1535436 w 4401150"/>
                  <a:gd name="connsiteY7-236" fmla="*/ 447579 h 2444082"/>
                  <a:gd name="connsiteX8-237" fmla="*/ 25655 w 4401150"/>
                  <a:gd name="connsiteY8-238" fmla="*/ 2051094 h 2444082"/>
                  <a:gd name="connsiteX9-239" fmla="*/ 0 w 4401150"/>
                  <a:gd name="connsiteY9-240" fmla="*/ 2063451 h 2444082"/>
                  <a:gd name="connsiteX0-241" fmla="*/ 0 w 4401150"/>
                  <a:gd name="connsiteY0-242" fmla="*/ 2063451 h 2444082"/>
                  <a:gd name="connsiteX1-243" fmla="*/ 1785607 w 4401150"/>
                  <a:gd name="connsiteY1-244" fmla="*/ 5057 h 2444082"/>
                  <a:gd name="connsiteX2-245" fmla="*/ 4046111 w 4401150"/>
                  <a:gd name="connsiteY2-246" fmla="*/ 1631382 h 2444082"/>
                  <a:gd name="connsiteX3-247" fmla="*/ 4401150 w 4401150"/>
                  <a:gd name="connsiteY3-248" fmla="*/ 1586030 h 2444082"/>
                  <a:gd name="connsiteX4-249" fmla="*/ 3752478 w 4401150"/>
                  <a:gd name="connsiteY4-250" fmla="*/ 2444082 h 2444082"/>
                  <a:gd name="connsiteX5-251" fmla="*/ 3186053 w 4401150"/>
                  <a:gd name="connsiteY5-252" fmla="*/ 1521066 h 2444082"/>
                  <a:gd name="connsiteX6-253" fmla="*/ 3445881 w 4401150"/>
                  <a:gd name="connsiteY6-254" fmla="*/ 1482087 h 2444082"/>
                  <a:gd name="connsiteX7-255" fmla="*/ 1535436 w 4401150"/>
                  <a:gd name="connsiteY7-256" fmla="*/ 447579 h 2444082"/>
                  <a:gd name="connsiteX8-257" fmla="*/ 25655 w 4401150"/>
                  <a:gd name="connsiteY8-258" fmla="*/ 2051094 h 2444082"/>
                  <a:gd name="connsiteX9-259" fmla="*/ 0 w 4401150"/>
                  <a:gd name="connsiteY9-260" fmla="*/ 2063451 h 2444082"/>
                  <a:gd name="connsiteX0-261" fmla="*/ 0 w 4401150"/>
                  <a:gd name="connsiteY0-262" fmla="*/ 2063451 h 2444082"/>
                  <a:gd name="connsiteX1-263" fmla="*/ 1785607 w 4401150"/>
                  <a:gd name="connsiteY1-264" fmla="*/ 5057 h 2444082"/>
                  <a:gd name="connsiteX2-265" fmla="*/ 4046111 w 4401150"/>
                  <a:gd name="connsiteY2-266" fmla="*/ 1631382 h 2444082"/>
                  <a:gd name="connsiteX3-267" fmla="*/ 4401150 w 4401150"/>
                  <a:gd name="connsiteY3-268" fmla="*/ 1586030 h 2444082"/>
                  <a:gd name="connsiteX4-269" fmla="*/ 3752478 w 4401150"/>
                  <a:gd name="connsiteY4-270" fmla="*/ 2444082 h 2444082"/>
                  <a:gd name="connsiteX5-271" fmla="*/ 3115695 w 4401150"/>
                  <a:gd name="connsiteY5-272" fmla="*/ 1535038 h 2444082"/>
                  <a:gd name="connsiteX6-273" fmla="*/ 3445881 w 4401150"/>
                  <a:gd name="connsiteY6-274" fmla="*/ 1482087 h 2444082"/>
                  <a:gd name="connsiteX7-275" fmla="*/ 1535436 w 4401150"/>
                  <a:gd name="connsiteY7-276" fmla="*/ 447579 h 2444082"/>
                  <a:gd name="connsiteX8-277" fmla="*/ 25655 w 4401150"/>
                  <a:gd name="connsiteY8-278" fmla="*/ 2051094 h 2444082"/>
                  <a:gd name="connsiteX9-279" fmla="*/ 0 w 4401150"/>
                  <a:gd name="connsiteY9-280" fmla="*/ 2063451 h 2444082"/>
                  <a:gd name="connsiteX0-281" fmla="*/ 0 w 4401150"/>
                  <a:gd name="connsiteY0-282" fmla="*/ 2071635 h 2452266"/>
                  <a:gd name="connsiteX1-283" fmla="*/ 1785607 w 4401150"/>
                  <a:gd name="connsiteY1-284" fmla="*/ 13241 h 2452266"/>
                  <a:gd name="connsiteX2-285" fmla="*/ 4046111 w 4401150"/>
                  <a:gd name="connsiteY2-286" fmla="*/ 1639566 h 2452266"/>
                  <a:gd name="connsiteX3-287" fmla="*/ 4401150 w 4401150"/>
                  <a:gd name="connsiteY3-288" fmla="*/ 1594214 h 2452266"/>
                  <a:gd name="connsiteX4-289" fmla="*/ 3752478 w 4401150"/>
                  <a:gd name="connsiteY4-290" fmla="*/ 2452266 h 2452266"/>
                  <a:gd name="connsiteX5-291" fmla="*/ 3115695 w 4401150"/>
                  <a:gd name="connsiteY5-292" fmla="*/ 1543222 h 2452266"/>
                  <a:gd name="connsiteX6-293" fmla="*/ 3445881 w 4401150"/>
                  <a:gd name="connsiteY6-294" fmla="*/ 1490271 h 2452266"/>
                  <a:gd name="connsiteX7-295" fmla="*/ 1535436 w 4401150"/>
                  <a:gd name="connsiteY7-296" fmla="*/ 455763 h 2452266"/>
                  <a:gd name="connsiteX8-297" fmla="*/ 25655 w 4401150"/>
                  <a:gd name="connsiteY8-298" fmla="*/ 2059278 h 2452266"/>
                  <a:gd name="connsiteX9-299" fmla="*/ 0 w 4401150"/>
                  <a:gd name="connsiteY9-300" fmla="*/ 2071635 h 2452266"/>
                  <a:gd name="connsiteX0-301" fmla="*/ 0 w 4444293"/>
                  <a:gd name="connsiteY0-302" fmla="*/ 1963235 h 2447810"/>
                  <a:gd name="connsiteX1-303" fmla="*/ 1828750 w 4444293"/>
                  <a:gd name="connsiteY1-304" fmla="*/ 8785 h 2447810"/>
                  <a:gd name="connsiteX2-305" fmla="*/ 4089254 w 4444293"/>
                  <a:gd name="connsiteY2-306" fmla="*/ 1635110 h 2447810"/>
                  <a:gd name="connsiteX3-307" fmla="*/ 4444293 w 4444293"/>
                  <a:gd name="connsiteY3-308" fmla="*/ 1589758 h 2447810"/>
                  <a:gd name="connsiteX4-309" fmla="*/ 3795621 w 4444293"/>
                  <a:gd name="connsiteY4-310" fmla="*/ 2447810 h 2447810"/>
                  <a:gd name="connsiteX5-311" fmla="*/ 3158838 w 4444293"/>
                  <a:gd name="connsiteY5-312" fmla="*/ 1538766 h 2447810"/>
                  <a:gd name="connsiteX6-313" fmla="*/ 3489024 w 4444293"/>
                  <a:gd name="connsiteY6-314" fmla="*/ 1485815 h 2447810"/>
                  <a:gd name="connsiteX7-315" fmla="*/ 1578579 w 4444293"/>
                  <a:gd name="connsiteY7-316" fmla="*/ 451307 h 2447810"/>
                  <a:gd name="connsiteX8-317" fmla="*/ 68798 w 4444293"/>
                  <a:gd name="connsiteY8-318" fmla="*/ 2054822 h 2447810"/>
                  <a:gd name="connsiteX9-319" fmla="*/ 0 w 4444293"/>
                  <a:gd name="connsiteY9-320" fmla="*/ 1963235 h 2447810"/>
                  <a:gd name="connsiteX0-321" fmla="*/ 0 w 4444293"/>
                  <a:gd name="connsiteY0-322" fmla="*/ 1963235 h 2447810"/>
                  <a:gd name="connsiteX1-323" fmla="*/ 1828750 w 4444293"/>
                  <a:gd name="connsiteY1-324" fmla="*/ 8785 h 2447810"/>
                  <a:gd name="connsiteX2-325" fmla="*/ 4089254 w 4444293"/>
                  <a:gd name="connsiteY2-326" fmla="*/ 1635110 h 2447810"/>
                  <a:gd name="connsiteX3-327" fmla="*/ 4444293 w 4444293"/>
                  <a:gd name="connsiteY3-328" fmla="*/ 1589758 h 2447810"/>
                  <a:gd name="connsiteX4-329" fmla="*/ 3795621 w 4444293"/>
                  <a:gd name="connsiteY4-330" fmla="*/ 2447810 h 2447810"/>
                  <a:gd name="connsiteX5-331" fmla="*/ 3158838 w 4444293"/>
                  <a:gd name="connsiteY5-332" fmla="*/ 1538766 h 2447810"/>
                  <a:gd name="connsiteX6-333" fmla="*/ 3489024 w 4444293"/>
                  <a:gd name="connsiteY6-334" fmla="*/ 1485815 h 2447810"/>
                  <a:gd name="connsiteX7-335" fmla="*/ 1578579 w 4444293"/>
                  <a:gd name="connsiteY7-336" fmla="*/ 451307 h 2447810"/>
                  <a:gd name="connsiteX8-337" fmla="*/ 21240 w 4444293"/>
                  <a:gd name="connsiteY8-338" fmla="*/ 2013636 h 2447810"/>
                  <a:gd name="connsiteX9-339" fmla="*/ 0 w 4444293"/>
                  <a:gd name="connsiteY9-340" fmla="*/ 1963235 h 2447810"/>
                  <a:gd name="connsiteX0-341" fmla="*/ 0 w 4453850"/>
                  <a:gd name="connsiteY0-342" fmla="*/ 1825241 h 2442932"/>
                  <a:gd name="connsiteX1-343" fmla="*/ 1838307 w 4453850"/>
                  <a:gd name="connsiteY1-344" fmla="*/ 3907 h 2442932"/>
                  <a:gd name="connsiteX2-345" fmla="*/ 4098811 w 4453850"/>
                  <a:gd name="connsiteY2-346" fmla="*/ 1630232 h 2442932"/>
                  <a:gd name="connsiteX3-347" fmla="*/ 4453850 w 4453850"/>
                  <a:gd name="connsiteY3-348" fmla="*/ 1584880 h 2442932"/>
                  <a:gd name="connsiteX4-349" fmla="*/ 3805178 w 4453850"/>
                  <a:gd name="connsiteY4-350" fmla="*/ 2442932 h 2442932"/>
                  <a:gd name="connsiteX5-351" fmla="*/ 3168395 w 4453850"/>
                  <a:gd name="connsiteY5-352" fmla="*/ 1533888 h 2442932"/>
                  <a:gd name="connsiteX6-353" fmla="*/ 3498581 w 4453850"/>
                  <a:gd name="connsiteY6-354" fmla="*/ 1480937 h 2442932"/>
                  <a:gd name="connsiteX7-355" fmla="*/ 1588136 w 4453850"/>
                  <a:gd name="connsiteY7-356" fmla="*/ 446429 h 2442932"/>
                  <a:gd name="connsiteX8-357" fmla="*/ 30797 w 4453850"/>
                  <a:gd name="connsiteY8-358" fmla="*/ 2008758 h 2442932"/>
                  <a:gd name="connsiteX9-359" fmla="*/ 0 w 4453850"/>
                  <a:gd name="connsiteY9-360" fmla="*/ 1825241 h 244293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453850" h="2442932">
                    <a:moveTo>
                      <a:pt x="0" y="1825241"/>
                    </a:moveTo>
                    <a:cubicBezTo>
                      <a:pt x="0" y="790348"/>
                      <a:pt x="1155172" y="36408"/>
                      <a:pt x="1838307" y="3907"/>
                    </a:cubicBezTo>
                    <a:cubicBezTo>
                      <a:pt x="2521442" y="-28594"/>
                      <a:pt x="3682478" y="110528"/>
                      <a:pt x="4098811" y="1630232"/>
                    </a:cubicBezTo>
                    <a:lnTo>
                      <a:pt x="4453850" y="1584880"/>
                    </a:lnTo>
                    <a:lnTo>
                      <a:pt x="3805178" y="2442932"/>
                    </a:lnTo>
                    <a:cubicBezTo>
                      <a:pt x="3456541" y="1896972"/>
                      <a:pt x="3357203" y="1841560"/>
                      <a:pt x="3168395" y="1533888"/>
                    </a:cubicBezTo>
                    <a:lnTo>
                      <a:pt x="3498581" y="1480937"/>
                    </a:lnTo>
                    <a:cubicBezTo>
                      <a:pt x="3222266" y="831385"/>
                      <a:pt x="2279792" y="305430"/>
                      <a:pt x="1588136" y="446429"/>
                    </a:cubicBezTo>
                    <a:cubicBezTo>
                      <a:pt x="896480" y="587428"/>
                      <a:pt x="30797" y="1302876"/>
                      <a:pt x="30797" y="2008758"/>
                    </a:cubicBezTo>
                    <a:lnTo>
                      <a:pt x="0" y="1825241"/>
                    </a:lnTo>
                    <a:close/>
                  </a:path>
                </a:pathLst>
              </a:custGeom>
              <a:gradFill>
                <a:gsLst>
                  <a:gs pos="56000">
                    <a:schemeClr val="tx1">
                      <a:lumMod val="50000"/>
                      <a:lumOff val="50000"/>
                    </a:schemeClr>
                  </a:gs>
                  <a:gs pos="0">
                    <a:schemeClr val="tx1">
                      <a:lumMod val="95000"/>
                      <a:lumOff val="5000"/>
                    </a:schemeClr>
                  </a:gs>
                  <a:gs pos="100000">
                    <a:schemeClr val="tx1">
                      <a:lumMod val="95000"/>
                      <a:lumOff val="5000"/>
                    </a:schemeClr>
                  </a:gs>
                </a:gsLst>
                <a:lin ang="0" scaled="1"/>
              </a:gradFill>
              <a:ln w="6350">
                <a:noFill/>
              </a:ln>
              <a:scene3d>
                <a:camera prst="orthographicFront"/>
                <a:lightRig rig="flat" dir="t">
                  <a:rot lat="0" lon="0" rev="11400000"/>
                </a:lightRig>
              </a:scene3d>
              <a:sp3d extrusionH="1270000" contourW="12700" prstMaterial="softEdge">
                <a:bevelB h="107950"/>
                <a:extrusionClr>
                  <a:schemeClr val="accent1">
                    <a:lumMod val="50000"/>
                  </a:schemeClr>
                </a:extrusionClr>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sp>
            <p:nvSpPr>
              <p:cNvPr id="13" name="MH_Other_4"/>
              <p:cNvSpPr/>
              <p:nvPr>
                <p:custDataLst>
                  <p:tags r:id="rId4"/>
                </p:custDataLst>
              </p:nvPr>
            </p:nvSpPr>
            <p:spPr>
              <a:xfrm rot="14528313" flipV="1">
                <a:off x="3309772" y="2755420"/>
                <a:ext cx="3268505" cy="2252399"/>
              </a:xfrm>
              <a:custGeom>
                <a:avLst/>
                <a:gdLst>
                  <a:gd name="connsiteX0" fmla="*/ 297033 w 4752528"/>
                  <a:gd name="connsiteY0" fmla="*/ 2376264 h 4752528"/>
                  <a:gd name="connsiteX1" fmla="*/ 2082640 w 4752528"/>
                  <a:gd name="connsiteY1" fmla="*/ 317870 h 4752528"/>
                  <a:gd name="connsiteX2" fmla="*/ 4372565 w 4752528"/>
                  <a:gd name="connsiteY2" fmla="*/ 1794901 h 4752528"/>
                  <a:gd name="connsiteX3" fmla="*/ 4655040 w 4752528"/>
                  <a:gd name="connsiteY3" fmla="*/ 1794900 h 4752528"/>
                  <a:gd name="connsiteX4" fmla="*/ 4158462 w 4752528"/>
                  <a:gd name="connsiteY4" fmla="*/ 2376264 h 4752528"/>
                  <a:gd name="connsiteX5" fmla="*/ 3466908 w 4752528"/>
                  <a:gd name="connsiteY5" fmla="*/ 1794900 h 4752528"/>
                  <a:gd name="connsiteX6" fmla="*/ 3742914 w 4752528"/>
                  <a:gd name="connsiteY6" fmla="*/ 1794900 h 4752528"/>
                  <a:gd name="connsiteX7" fmla="*/ 2079604 w 4752528"/>
                  <a:gd name="connsiteY7" fmla="*/ 921029 h 4752528"/>
                  <a:gd name="connsiteX8" fmla="*/ 891099 w 4752528"/>
                  <a:gd name="connsiteY8" fmla="*/ 2376264 h 4752528"/>
                  <a:gd name="connsiteX9" fmla="*/ 297033 w 4752528"/>
                  <a:gd name="connsiteY9" fmla="*/ 2376264 h 4752528"/>
                  <a:gd name="connsiteX0-1" fmla="*/ 0 w 4358007"/>
                  <a:gd name="connsiteY0-2" fmla="*/ 2079403 h 2079403"/>
                  <a:gd name="connsiteX1-3" fmla="*/ 1785607 w 4358007"/>
                  <a:gd name="connsiteY1-4" fmla="*/ 21009 h 2079403"/>
                  <a:gd name="connsiteX2-5" fmla="*/ 4075532 w 4358007"/>
                  <a:gd name="connsiteY2-6" fmla="*/ 1498040 h 2079403"/>
                  <a:gd name="connsiteX3-7" fmla="*/ 4358007 w 4358007"/>
                  <a:gd name="connsiteY3-8" fmla="*/ 1498039 h 2079403"/>
                  <a:gd name="connsiteX4-9" fmla="*/ 3861429 w 4358007"/>
                  <a:gd name="connsiteY4-10" fmla="*/ 2079403 h 2079403"/>
                  <a:gd name="connsiteX5-11" fmla="*/ 3169875 w 4358007"/>
                  <a:gd name="connsiteY5-12" fmla="*/ 1498039 h 2079403"/>
                  <a:gd name="connsiteX6-13" fmla="*/ 3445881 w 4358007"/>
                  <a:gd name="connsiteY6-14" fmla="*/ 1498039 h 2079403"/>
                  <a:gd name="connsiteX7-15" fmla="*/ 1782571 w 4358007"/>
                  <a:gd name="connsiteY7-16" fmla="*/ 624168 h 2079403"/>
                  <a:gd name="connsiteX8-17" fmla="*/ 62726 w 4358007"/>
                  <a:gd name="connsiteY8-18" fmla="*/ 2079403 h 2079403"/>
                  <a:gd name="connsiteX9-19" fmla="*/ 0 w 4358007"/>
                  <a:gd name="connsiteY9-20" fmla="*/ 2079403 h 2079403"/>
                  <a:gd name="connsiteX0-21" fmla="*/ 0 w 4358007"/>
                  <a:gd name="connsiteY0-22" fmla="*/ 2079403 h 2079403"/>
                  <a:gd name="connsiteX1-23" fmla="*/ 1785607 w 4358007"/>
                  <a:gd name="connsiteY1-24" fmla="*/ 21009 h 2079403"/>
                  <a:gd name="connsiteX2-25" fmla="*/ 4075532 w 4358007"/>
                  <a:gd name="connsiteY2-26" fmla="*/ 1498040 h 2079403"/>
                  <a:gd name="connsiteX3-27" fmla="*/ 4358007 w 4358007"/>
                  <a:gd name="connsiteY3-28" fmla="*/ 1498039 h 2079403"/>
                  <a:gd name="connsiteX4-29" fmla="*/ 3861429 w 4358007"/>
                  <a:gd name="connsiteY4-30" fmla="*/ 2079403 h 2079403"/>
                  <a:gd name="connsiteX5-31" fmla="*/ 3169875 w 4358007"/>
                  <a:gd name="connsiteY5-32" fmla="*/ 1498039 h 2079403"/>
                  <a:gd name="connsiteX6-33" fmla="*/ 3445881 w 4358007"/>
                  <a:gd name="connsiteY6-34" fmla="*/ 1498039 h 2079403"/>
                  <a:gd name="connsiteX7-35" fmla="*/ 1782571 w 4358007"/>
                  <a:gd name="connsiteY7-36" fmla="*/ 624168 h 2079403"/>
                  <a:gd name="connsiteX8-37" fmla="*/ 25655 w 4358007"/>
                  <a:gd name="connsiteY8-38" fmla="*/ 2067046 h 2079403"/>
                  <a:gd name="connsiteX9-39" fmla="*/ 0 w 4358007"/>
                  <a:gd name="connsiteY9-40" fmla="*/ 2079403 h 2079403"/>
                  <a:gd name="connsiteX0-41" fmla="*/ 0 w 4358007"/>
                  <a:gd name="connsiteY0-42" fmla="*/ 2079403 h 2079403"/>
                  <a:gd name="connsiteX1-43" fmla="*/ 1785607 w 4358007"/>
                  <a:gd name="connsiteY1-44" fmla="*/ 21009 h 2079403"/>
                  <a:gd name="connsiteX2-45" fmla="*/ 4075532 w 4358007"/>
                  <a:gd name="connsiteY2-46" fmla="*/ 1498040 h 2079403"/>
                  <a:gd name="connsiteX3-47" fmla="*/ 4358007 w 4358007"/>
                  <a:gd name="connsiteY3-48" fmla="*/ 1498039 h 2079403"/>
                  <a:gd name="connsiteX4-49" fmla="*/ 3861429 w 4358007"/>
                  <a:gd name="connsiteY4-50" fmla="*/ 2079403 h 2079403"/>
                  <a:gd name="connsiteX5-51" fmla="*/ 3169875 w 4358007"/>
                  <a:gd name="connsiteY5-52" fmla="*/ 1498039 h 2079403"/>
                  <a:gd name="connsiteX6-53" fmla="*/ 3445881 w 4358007"/>
                  <a:gd name="connsiteY6-54" fmla="*/ 1498039 h 2079403"/>
                  <a:gd name="connsiteX7-55" fmla="*/ 1782571 w 4358007"/>
                  <a:gd name="connsiteY7-56" fmla="*/ 624168 h 2079403"/>
                  <a:gd name="connsiteX8-57" fmla="*/ 25655 w 4358007"/>
                  <a:gd name="connsiteY8-58" fmla="*/ 2067046 h 2079403"/>
                  <a:gd name="connsiteX9-59" fmla="*/ 0 w 4358007"/>
                  <a:gd name="connsiteY9-60" fmla="*/ 2079403 h 2079403"/>
                  <a:gd name="connsiteX0-61" fmla="*/ 0 w 4358007"/>
                  <a:gd name="connsiteY0-62" fmla="*/ 2079403 h 2079403"/>
                  <a:gd name="connsiteX1-63" fmla="*/ 1785607 w 4358007"/>
                  <a:gd name="connsiteY1-64" fmla="*/ 21009 h 2079403"/>
                  <a:gd name="connsiteX2-65" fmla="*/ 4075532 w 4358007"/>
                  <a:gd name="connsiteY2-66" fmla="*/ 1498040 h 2079403"/>
                  <a:gd name="connsiteX3-67" fmla="*/ 4358007 w 4358007"/>
                  <a:gd name="connsiteY3-68" fmla="*/ 1498039 h 2079403"/>
                  <a:gd name="connsiteX4-69" fmla="*/ 3861429 w 4358007"/>
                  <a:gd name="connsiteY4-70" fmla="*/ 2079403 h 2079403"/>
                  <a:gd name="connsiteX5-71" fmla="*/ 3169875 w 4358007"/>
                  <a:gd name="connsiteY5-72" fmla="*/ 1498039 h 2079403"/>
                  <a:gd name="connsiteX6-73" fmla="*/ 3445881 w 4358007"/>
                  <a:gd name="connsiteY6-74" fmla="*/ 1498039 h 2079403"/>
                  <a:gd name="connsiteX7-75" fmla="*/ 1819641 w 4358007"/>
                  <a:gd name="connsiteY7-76" fmla="*/ 339962 h 2079403"/>
                  <a:gd name="connsiteX8-77" fmla="*/ 25655 w 4358007"/>
                  <a:gd name="connsiteY8-78" fmla="*/ 2067046 h 2079403"/>
                  <a:gd name="connsiteX9-79" fmla="*/ 0 w 4358007"/>
                  <a:gd name="connsiteY9-80" fmla="*/ 2079403 h 2079403"/>
                  <a:gd name="connsiteX0-81" fmla="*/ 0 w 4358007"/>
                  <a:gd name="connsiteY0-82" fmla="*/ 2079403 h 2079403"/>
                  <a:gd name="connsiteX1-83" fmla="*/ 1785607 w 4358007"/>
                  <a:gd name="connsiteY1-84" fmla="*/ 21009 h 2079403"/>
                  <a:gd name="connsiteX2-85" fmla="*/ 4075532 w 4358007"/>
                  <a:gd name="connsiteY2-86" fmla="*/ 1498040 h 2079403"/>
                  <a:gd name="connsiteX3-87" fmla="*/ 4358007 w 4358007"/>
                  <a:gd name="connsiteY3-88" fmla="*/ 1498039 h 2079403"/>
                  <a:gd name="connsiteX4-89" fmla="*/ 3861429 w 4358007"/>
                  <a:gd name="connsiteY4-90" fmla="*/ 2079403 h 2079403"/>
                  <a:gd name="connsiteX5-91" fmla="*/ 3169875 w 4358007"/>
                  <a:gd name="connsiteY5-92" fmla="*/ 1498039 h 2079403"/>
                  <a:gd name="connsiteX6-93" fmla="*/ 3445881 w 4358007"/>
                  <a:gd name="connsiteY6-94" fmla="*/ 1498039 h 2079403"/>
                  <a:gd name="connsiteX7-95" fmla="*/ 1770214 w 4358007"/>
                  <a:gd name="connsiteY7-96" fmla="*/ 525314 h 2079403"/>
                  <a:gd name="connsiteX8-97" fmla="*/ 25655 w 4358007"/>
                  <a:gd name="connsiteY8-98" fmla="*/ 2067046 h 2079403"/>
                  <a:gd name="connsiteX9-99" fmla="*/ 0 w 4358007"/>
                  <a:gd name="connsiteY9-100" fmla="*/ 2079403 h 2079403"/>
                  <a:gd name="connsiteX0-101" fmla="*/ 0 w 4358007"/>
                  <a:gd name="connsiteY0-102" fmla="*/ 2079403 h 2079403"/>
                  <a:gd name="connsiteX1-103" fmla="*/ 1785607 w 4358007"/>
                  <a:gd name="connsiteY1-104" fmla="*/ 21009 h 2079403"/>
                  <a:gd name="connsiteX2-105" fmla="*/ 4075532 w 4358007"/>
                  <a:gd name="connsiteY2-106" fmla="*/ 1498040 h 2079403"/>
                  <a:gd name="connsiteX3-107" fmla="*/ 4358007 w 4358007"/>
                  <a:gd name="connsiteY3-108" fmla="*/ 1498039 h 2079403"/>
                  <a:gd name="connsiteX4-109" fmla="*/ 3861429 w 4358007"/>
                  <a:gd name="connsiteY4-110" fmla="*/ 2079403 h 2079403"/>
                  <a:gd name="connsiteX5-111" fmla="*/ 3169875 w 4358007"/>
                  <a:gd name="connsiteY5-112" fmla="*/ 1498039 h 2079403"/>
                  <a:gd name="connsiteX6-113" fmla="*/ 3445881 w 4358007"/>
                  <a:gd name="connsiteY6-114" fmla="*/ 1498039 h 2079403"/>
                  <a:gd name="connsiteX7-115" fmla="*/ 1535436 w 4358007"/>
                  <a:gd name="connsiteY7-116" fmla="*/ 463531 h 2079403"/>
                  <a:gd name="connsiteX8-117" fmla="*/ 25655 w 4358007"/>
                  <a:gd name="connsiteY8-118" fmla="*/ 2067046 h 2079403"/>
                  <a:gd name="connsiteX9-119" fmla="*/ 0 w 4358007"/>
                  <a:gd name="connsiteY9-120" fmla="*/ 2079403 h 2079403"/>
                  <a:gd name="connsiteX0-121" fmla="*/ 0 w 4358007"/>
                  <a:gd name="connsiteY0-122" fmla="*/ 2079403 h 2252398"/>
                  <a:gd name="connsiteX1-123" fmla="*/ 1785607 w 4358007"/>
                  <a:gd name="connsiteY1-124" fmla="*/ 21009 h 2252398"/>
                  <a:gd name="connsiteX2-125" fmla="*/ 4075532 w 4358007"/>
                  <a:gd name="connsiteY2-126" fmla="*/ 1498040 h 2252398"/>
                  <a:gd name="connsiteX3-127" fmla="*/ 4358007 w 4358007"/>
                  <a:gd name="connsiteY3-128" fmla="*/ 1498039 h 2252398"/>
                  <a:gd name="connsiteX4-129" fmla="*/ 3849072 w 4358007"/>
                  <a:gd name="connsiteY4-130" fmla="*/ 2252398 h 2252398"/>
                  <a:gd name="connsiteX5-131" fmla="*/ 3169875 w 4358007"/>
                  <a:gd name="connsiteY5-132" fmla="*/ 1498039 h 2252398"/>
                  <a:gd name="connsiteX6-133" fmla="*/ 3445881 w 4358007"/>
                  <a:gd name="connsiteY6-134" fmla="*/ 1498039 h 2252398"/>
                  <a:gd name="connsiteX7-135" fmla="*/ 1535436 w 4358007"/>
                  <a:gd name="connsiteY7-136" fmla="*/ 463531 h 2252398"/>
                  <a:gd name="connsiteX8-137" fmla="*/ 25655 w 4358007"/>
                  <a:gd name="connsiteY8-138" fmla="*/ 2067046 h 2252398"/>
                  <a:gd name="connsiteX9-139" fmla="*/ 0 w 4358007"/>
                  <a:gd name="connsiteY9-140" fmla="*/ 2079403 h 225239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4358007" h="2252398">
                    <a:moveTo>
                      <a:pt x="0" y="2079403"/>
                    </a:moveTo>
                    <a:cubicBezTo>
                      <a:pt x="0" y="1044510"/>
                      <a:pt x="761085" y="167154"/>
                      <a:pt x="1785607" y="21009"/>
                    </a:cubicBezTo>
                    <a:cubicBezTo>
                      <a:pt x="2810128" y="-125136"/>
                      <a:pt x="3786171" y="504424"/>
                      <a:pt x="4075532" y="1498040"/>
                    </a:cubicBezTo>
                    <a:lnTo>
                      <a:pt x="4358007" y="1498039"/>
                    </a:lnTo>
                    <a:lnTo>
                      <a:pt x="3849072" y="2252398"/>
                    </a:lnTo>
                    <a:lnTo>
                      <a:pt x="3169875" y="1498039"/>
                    </a:lnTo>
                    <a:lnTo>
                      <a:pt x="3445881" y="1498039"/>
                    </a:lnTo>
                    <a:cubicBezTo>
                      <a:pt x="3169566" y="848487"/>
                      <a:pt x="2227092" y="322532"/>
                      <a:pt x="1535436" y="463531"/>
                    </a:cubicBezTo>
                    <a:cubicBezTo>
                      <a:pt x="843780" y="604530"/>
                      <a:pt x="25655" y="1361164"/>
                      <a:pt x="25655" y="2067046"/>
                    </a:cubicBezTo>
                    <a:lnTo>
                      <a:pt x="0" y="2079403"/>
                    </a:lnTo>
                    <a:close/>
                  </a:path>
                </a:pathLst>
              </a:custGeom>
              <a:gradFill>
                <a:gsLst>
                  <a:gs pos="46000">
                    <a:schemeClr val="accent1">
                      <a:lumMod val="40000"/>
                      <a:lumOff val="60000"/>
                    </a:schemeClr>
                  </a:gs>
                  <a:gs pos="0">
                    <a:schemeClr val="accent1">
                      <a:lumMod val="75000"/>
                    </a:schemeClr>
                  </a:gs>
                  <a:gs pos="100000">
                    <a:schemeClr val="accent1"/>
                  </a:gs>
                </a:gsLst>
                <a:lin ang="0" scaled="1"/>
              </a:gradFill>
              <a:ln w="6350">
                <a:noFill/>
              </a:ln>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chemeClr val="tx1"/>
                  </a:solidFill>
                  <a:latin typeface="+mn-ea"/>
                </a:endParaRPr>
              </a:p>
            </p:txBody>
          </p:sp>
          <p:cxnSp>
            <p:nvCxnSpPr>
              <p:cNvPr id="14" name="MH_Other_6"/>
              <p:cNvCxnSpPr/>
              <p:nvPr>
                <p:custDataLst>
                  <p:tags r:id="rId5"/>
                </p:custDataLst>
              </p:nvPr>
            </p:nvCxnSpPr>
            <p:spPr>
              <a:xfrm>
                <a:off x="7497540" y="2874094"/>
                <a:ext cx="2908284" cy="14605"/>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MH_Text_2"/>
              <p:cNvSpPr txBox="1">
                <a:spLocks noChangeArrowheads="1"/>
              </p:cNvSpPr>
              <p:nvPr>
                <p:custDataLst>
                  <p:tags r:id="rId6"/>
                </p:custDataLst>
              </p:nvPr>
            </p:nvSpPr>
            <p:spPr bwMode="auto">
              <a:xfrm>
                <a:off x="7379431" y="2888698"/>
                <a:ext cx="4320516" cy="13715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indent="457200" algn="just">
                  <a:lnSpc>
                    <a:spcPct val="120000"/>
                  </a:lnSpc>
                  <a:defRPr/>
                </a:pPr>
                <a:r>
                  <a:rPr dirty="0">
                    <a:latin typeface="微软雅黑" panose="020B0503020204020204" charset="-122"/>
                    <a:ea typeface="微软雅黑" panose="020B0503020204020204" charset="-122"/>
                    <a:sym typeface="+mn-ea"/>
                  </a:rPr>
                  <a:t>移动互联网是传统的互联网与移动通信网络的有效融合，移动终端层包括智能手机、平板电脑、电子书、MID、PDA或其他无线终端设备，是通过移动通信网络（如2G，3G，4G，WLAN等）而接入传统互联网的；</a:t>
                </a:r>
              </a:p>
            </p:txBody>
          </p:sp>
          <p:sp>
            <p:nvSpPr>
              <p:cNvPr id="17" name="MH_SubTitle_2"/>
              <p:cNvSpPr txBox="1">
                <a:spLocks noChangeArrowheads="1"/>
              </p:cNvSpPr>
              <p:nvPr>
                <p:custDataLst>
                  <p:tags r:id="rId7"/>
                </p:custDataLst>
              </p:nvPr>
            </p:nvSpPr>
            <p:spPr bwMode="auto">
              <a:xfrm>
                <a:off x="8189687" y="1099955"/>
                <a:ext cx="2371712" cy="7588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18" name="MH_Other_7"/>
              <p:cNvSpPr txBox="1">
                <a:spLocks noChangeArrowheads="1"/>
              </p:cNvSpPr>
              <p:nvPr>
                <p:custDataLst>
                  <p:tags r:id="rId8"/>
                </p:custDataLst>
              </p:nvPr>
            </p:nvSpPr>
            <p:spPr bwMode="auto">
              <a:xfrm>
                <a:off x="7379430" y="2426328"/>
                <a:ext cx="486833" cy="5540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sz="3000" dirty="0" smtClean="0">
                    <a:solidFill>
                      <a:schemeClr val="accent2">
                        <a:lumMod val="75000"/>
                      </a:schemeClr>
                    </a:solidFill>
                    <a:latin typeface="微软雅黑" panose="020B0503020204020204" charset="-122"/>
                    <a:ea typeface="微软雅黑" panose="020B0503020204020204" charset="-122"/>
                  </a:rPr>
                  <a:t>1</a:t>
                </a:r>
              </a:p>
            </p:txBody>
          </p:sp>
          <p:sp>
            <p:nvSpPr>
              <p:cNvPr id="19" name="MH_Text_1"/>
              <p:cNvSpPr txBox="1">
                <a:spLocks noChangeArrowheads="1"/>
              </p:cNvSpPr>
              <p:nvPr>
                <p:custDataLst>
                  <p:tags r:id="rId9"/>
                </p:custDataLst>
              </p:nvPr>
            </p:nvSpPr>
            <p:spPr bwMode="auto">
              <a:xfrm>
                <a:off x="684587" y="3941941"/>
                <a:ext cx="4558289" cy="15208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gn="l" fontAlgn="auto">
                  <a:lnSpc>
                    <a:spcPct val="120000"/>
                  </a:lnSpc>
                </a:pPr>
                <a:r>
                  <a:rPr lang="en-US" dirty="0">
                    <a:latin typeface="微软雅黑" panose="020B0503020204020204" charset="-122"/>
                    <a:ea typeface="微软雅黑" panose="020B0503020204020204" charset="-122"/>
                    <a:sym typeface="+mn-ea"/>
                  </a:rPr>
                  <a:t>       </a:t>
                </a:r>
                <a:r>
                  <a:rPr dirty="0">
                    <a:latin typeface="微软雅黑" panose="020B0503020204020204" charset="-122"/>
                    <a:ea typeface="微软雅黑" panose="020B0503020204020204" charset="-122"/>
                    <a:sym typeface="+mn-ea"/>
                  </a:rPr>
                  <a:t>移动互联网具有数量众多的新型应用服务，包括休闲娱乐类、工具媒体类、商务财经类、物联网等，它结合终端的移动性、可定位及便携性等特点，为移动用户提供具有个性化、多样化的服务。移动互联系统所需的软件包括操作系统、中间件、数据库和安全软件等。</a:t>
                </a:r>
              </a:p>
            </p:txBody>
          </p:sp>
          <p:sp>
            <p:nvSpPr>
              <p:cNvPr id="20" name="MH_SubTitle_1"/>
              <p:cNvSpPr txBox="1">
                <a:spLocks noChangeArrowheads="1"/>
              </p:cNvSpPr>
              <p:nvPr>
                <p:custDataLst>
                  <p:tags r:id="rId10"/>
                </p:custDataLst>
              </p:nvPr>
            </p:nvSpPr>
            <p:spPr bwMode="auto">
              <a:xfrm>
                <a:off x="2187577" y="3388044"/>
                <a:ext cx="2565400" cy="7588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rIns="0" anchor="b">
                <a:norm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a:buNone/>
                </a:pPr>
                <a:endParaRPr lang="zh-CN" altLang="en-US" sz="1800" b="1" dirty="0">
                  <a:latin typeface="+mn-ea"/>
                  <a:ea typeface="+mn-ea"/>
                </a:endParaRPr>
              </a:p>
            </p:txBody>
          </p:sp>
          <p:sp>
            <p:nvSpPr>
              <p:cNvPr id="21" name="MH_Other_8"/>
              <p:cNvSpPr txBox="1">
                <a:spLocks noChangeArrowheads="1"/>
              </p:cNvSpPr>
              <p:nvPr>
                <p:custDataLst>
                  <p:tags r:id="rId11"/>
                </p:custDataLst>
              </p:nvPr>
            </p:nvSpPr>
            <p:spPr bwMode="auto">
              <a:xfrm>
                <a:off x="1894206" y="3387735"/>
                <a:ext cx="486833" cy="554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defRPr/>
                </a:pPr>
                <a:r>
                  <a:rPr lang="en-US" altLang="zh-CN" sz="3000" dirty="0" smtClean="0">
                    <a:solidFill>
                      <a:schemeClr val="accent1">
                        <a:lumMod val="75000"/>
                      </a:schemeClr>
                    </a:solidFill>
                    <a:latin typeface="微软雅黑" panose="020B0503020204020204" charset="-122"/>
                    <a:ea typeface="微软雅黑" panose="020B0503020204020204" charset="-122"/>
                  </a:rPr>
                  <a:t>2</a:t>
                </a:r>
                <a:endParaRPr lang="zh-CN" altLang="en-US" sz="3000" dirty="0" smtClean="0">
                  <a:solidFill>
                    <a:schemeClr val="accent1">
                      <a:lumMod val="75000"/>
                    </a:schemeClr>
                  </a:solidFill>
                  <a:latin typeface="微软雅黑" panose="020B0503020204020204" charset="-122"/>
                  <a:ea typeface="微软雅黑" panose="020B0503020204020204" charset="-122"/>
                </a:endParaRPr>
              </a:p>
            </p:txBody>
          </p:sp>
          <p:cxnSp>
            <p:nvCxnSpPr>
              <p:cNvPr id="22" name="MH_Other_5"/>
              <p:cNvCxnSpPr/>
              <p:nvPr>
                <p:custDataLst>
                  <p:tags r:id="rId12"/>
                </p:custDataLst>
              </p:nvPr>
            </p:nvCxnSpPr>
            <p:spPr>
              <a:xfrm>
                <a:off x="1993901" y="3881128"/>
                <a:ext cx="295275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75457" name="Rectangle 1"/>
            <p:cNvSpPr>
              <a:spLocks noChangeArrowheads="1"/>
            </p:cNvSpPr>
            <p:nvPr/>
          </p:nvSpPr>
          <p:spPr bwMode="auto">
            <a:xfrm>
              <a:off x="6909" y="3270"/>
              <a:ext cx="4640" cy="550"/>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269875" algn="l" defTabSz="914400" rtl="0" eaLnBrk="1" fontAlgn="base" latinLnBrk="0" hangingPunct="1">
                <a:lnSpc>
                  <a:spcPct val="100000"/>
                </a:lnSpc>
                <a:spcBef>
                  <a:spcPct val="0"/>
                </a:spcBef>
                <a:spcAft>
                  <a:spcPct val="0"/>
                </a:spcAft>
                <a:buClrTx/>
                <a:buSzTx/>
                <a:buFontTx/>
                <a:buNone/>
              </a:pPr>
              <a:r>
                <a:rPr lang="zh-CN" altLang="en-US" sz="2000" b="1" dirty="0" smtClean="0">
                  <a:solidFill>
                    <a:schemeClr val="tx1"/>
                  </a:solidFill>
                  <a:latin typeface="微软雅黑" panose="020B0503020204020204" charset="-122"/>
                  <a:ea typeface="微软雅黑" panose="020B0503020204020204" charset="-122"/>
                  <a:sym typeface="+mn-ea"/>
                </a:rPr>
                <a:t>两</a:t>
              </a:r>
              <a:r>
                <a:rPr lang="zh-CN" altLang="en-US" sz="2000" b="1" dirty="0">
                  <a:solidFill>
                    <a:schemeClr val="tx1"/>
                  </a:solidFill>
                  <a:latin typeface="微软雅黑" panose="020B0503020204020204" charset="-122"/>
                  <a:ea typeface="微软雅黑" panose="020B0503020204020204" charset="-122"/>
                  <a:sym typeface="+mn-ea"/>
                </a:rPr>
                <a:t>层</a:t>
              </a:r>
              <a:r>
                <a:rPr lang="zh-CN" altLang="en-US" sz="2000" b="1" dirty="0" smtClean="0">
                  <a:solidFill>
                    <a:schemeClr val="tx1"/>
                  </a:solidFill>
                  <a:latin typeface="微软雅黑" panose="020B0503020204020204" charset="-122"/>
                  <a:ea typeface="微软雅黑" panose="020B0503020204020204" charset="-122"/>
                  <a:sym typeface="+mn-ea"/>
                </a:rPr>
                <a:t>内涵</a:t>
              </a:r>
              <a:endParaRPr kumimoji="0" lang="en-US" sz="2000" b="1" i="0" u="none" strike="noStrike" cap="none" normalizeH="0" baseline="0" dirty="0" smtClean="0">
                <a:ln>
                  <a:noFill/>
                </a:ln>
                <a:solidFill>
                  <a:schemeClr val="tx1"/>
                </a:solidFill>
                <a:effectLst/>
                <a:latin typeface="微软雅黑" panose="020B0503020204020204" charset="-122"/>
                <a:ea typeface="微软雅黑" panose="020B0503020204020204" charset="-122"/>
                <a:cs typeface="宋体" panose="02010600030101010101" pitchFamily="2" charset="-122"/>
                <a:sym typeface="+mn-ea"/>
              </a:endParaRPr>
            </a:p>
          </p:txBody>
        </p:sp>
      </p:grpSp>
    </p:spTree>
  </p:cSld>
  <p:clrMapOvr>
    <a:masterClrMapping/>
  </p:clrMapOvr>
  <p:transition>
    <p:pull dir="d"/>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dirty="0">
                <a:solidFill>
                  <a:srgbClr val="FF0000"/>
                </a:solidFill>
                <a:sym typeface="+mn-ea"/>
              </a:rPr>
              <a:t>9.1  移动互联网简介</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9.1.1  </a:t>
            </a:r>
            <a:r>
              <a:rPr sz="2400" dirty="0" smtClean="0">
                <a:solidFill>
                  <a:schemeClr val="tx1"/>
                </a:solidFill>
              </a:rPr>
              <a:t>移动互联网的定义</a:t>
            </a:r>
          </a:p>
        </p:txBody>
      </p:sp>
      <p:sp>
        <p:nvSpPr>
          <p:cNvPr id="159745" name="Rectangle 1"/>
          <p:cNvSpPr>
            <a:spLocks noChangeArrowheads="1"/>
          </p:cNvSpPr>
          <p:nvPr/>
        </p:nvSpPr>
        <p:spPr bwMode="auto">
          <a:xfrm>
            <a:off x="2853559" y="1967655"/>
            <a:ext cx="5256976" cy="1872615"/>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457200" algn="l" defTabSz="914400" rtl="0" eaLnBrk="1" fontAlgn="base" latinLnBrk="0" hangingPunct="1">
              <a:lnSpc>
                <a:spcPct val="130000"/>
              </a:lnSpc>
              <a:spcBef>
                <a:spcPct val="0"/>
              </a:spcBef>
              <a:spcAft>
                <a:spcPct val="0"/>
              </a:spcAft>
              <a:buClrTx/>
              <a:buSzTx/>
              <a:buFontTx/>
              <a:buNone/>
            </a:pPr>
            <a:r>
              <a:rPr kumimoji="0" lang="zh-CN" i="0" u="none" strike="noStrike" cap="none" normalizeH="0" baseline="0" dirty="0" smtClean="0">
                <a:ln>
                  <a:noFill/>
                </a:ln>
                <a:solidFill>
                  <a:schemeClr val="tx1"/>
                </a:solidFill>
                <a:effectLst/>
                <a:latin typeface="+mn-ea"/>
                <a:cs typeface="Times New Roman" panose="02020603050405020304" pitchFamily="18" charset="0"/>
              </a:rPr>
              <a:t>随着技术和产业的发展，未来LTE（Long Term Evolution，长期演进，4G通信技术标准之一）和NFC（Near Field Communication，近场通信，移动支付的支撑技术）等网络传输层关键技术也将被纳入移动互联网的范畴之内。</a:t>
            </a:r>
          </a:p>
        </p:txBody>
      </p:sp>
      <p:pic>
        <p:nvPicPr>
          <p:cNvPr id="8" name="图片 7" descr="A000220150322G95PPIC.png"/>
          <p:cNvPicPr>
            <a:picLocks noChangeAspect="1"/>
          </p:cNvPicPr>
          <p:nvPr/>
        </p:nvPicPr>
        <p:blipFill>
          <a:blip r:embed="rId2" cstate="print"/>
          <a:stretch>
            <a:fillRect/>
          </a:stretch>
        </p:blipFill>
        <p:spPr>
          <a:xfrm>
            <a:off x="8064500" y="628650"/>
            <a:ext cx="4127500" cy="3188494"/>
          </a:xfrm>
          <a:prstGeom prst="rect">
            <a:avLst/>
          </a:prstGeom>
        </p:spPr>
      </p:pic>
      <p:pic>
        <p:nvPicPr>
          <p:cNvPr id="6" name="图片 5" descr="A000220150322D45PPIC.png"/>
          <p:cNvPicPr>
            <a:picLocks noChangeAspect="1"/>
          </p:cNvPicPr>
          <p:nvPr/>
        </p:nvPicPr>
        <p:blipFill>
          <a:blip r:embed="rId3" cstate="print"/>
          <a:stretch>
            <a:fillRect/>
          </a:stretch>
        </p:blipFill>
        <p:spPr>
          <a:xfrm>
            <a:off x="-121920" y="3188334"/>
            <a:ext cx="3208115" cy="3449583"/>
          </a:xfrm>
          <a:prstGeom prst="rect">
            <a:avLst/>
          </a:prstGeom>
        </p:spPr>
      </p:pic>
      <p:sp>
        <p:nvSpPr>
          <p:cNvPr id="2" name="矩形 1"/>
          <p:cNvSpPr/>
          <p:nvPr/>
        </p:nvSpPr>
        <p:spPr>
          <a:xfrm>
            <a:off x="2853690" y="4037965"/>
            <a:ext cx="8996680" cy="2228850"/>
          </a:xfrm>
          <a:prstGeom prst="rect">
            <a:avLst/>
          </a:prstGeom>
        </p:spPr>
        <p:txBody>
          <a:bodyPr wrap="square">
            <a:spAutoFit/>
          </a:bodyPr>
          <a:lstStyle/>
          <a:p>
            <a:pPr lvl="0" indent="457200" eaLnBrk="0" fontAlgn="base" hangingPunct="0">
              <a:lnSpc>
                <a:spcPct val="130000"/>
              </a:lnSpc>
              <a:spcBef>
                <a:spcPct val="0"/>
              </a:spcBef>
              <a:spcAft>
                <a:spcPct val="0"/>
              </a:spcAft>
            </a:pPr>
            <a:r>
              <a:rPr lang="zh-CN" dirty="0" smtClean="0">
                <a:latin typeface="+mn-ea"/>
                <a:cs typeface="Times New Roman" panose="02020603050405020304" pitchFamily="18" charset="0"/>
              </a:rPr>
              <a:t>通过移动互联网，人们可以利用手机、平板电脑等移动终端设备浏览新闻，还可以使用各种移动互联网应用。例如，在线搜索、在线聊天、移动网游、手机电视、在线阅读、网络社区、收听及下载音乐等。其中，移动环境下的网页浏览、文件下载、位置服务、在线游戏、视频浏览和下载等是其主流应用。同时，绝大多数的市场咨询机构和专家都认为，移动互联网是未来十年内最有创新活力和最具市场潜力的新领域，这一产业已获得全球资金包括各类天使投资的强烈关注。</a:t>
            </a:r>
          </a:p>
        </p:txBody>
      </p:sp>
    </p:spTree>
  </p:cSld>
  <p:clrMapOvr>
    <a:masterClrMapping/>
  </p:clrMapOvr>
  <p:transition>
    <p:pull di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dirty="0">
                <a:solidFill>
                  <a:srgbClr val="FF0000"/>
                </a:solidFill>
                <a:sym typeface="+mn-ea"/>
              </a:rPr>
              <a:t>9.1  移动互联网简介</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9.1.</a:t>
            </a:r>
            <a:r>
              <a:rPr sz="2400" dirty="0" smtClean="0">
                <a:solidFill>
                  <a:schemeClr val="tx1"/>
                </a:solidFill>
              </a:rPr>
              <a:t>2  移动互联网的组成</a:t>
            </a:r>
          </a:p>
        </p:txBody>
      </p:sp>
      <p:sp>
        <p:nvSpPr>
          <p:cNvPr id="34" name="MH_Desc_1"/>
          <p:cNvSpPr/>
          <p:nvPr>
            <p:custDataLst>
              <p:tags r:id="rId1"/>
            </p:custDataLst>
          </p:nvPr>
        </p:nvSpPr>
        <p:spPr>
          <a:xfrm>
            <a:off x="4902835" y="2200275"/>
            <a:ext cx="6574155" cy="366458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endParaRPr lang="en-US" altLang="zh-CN" dirty="0" smtClean="0">
              <a:solidFill>
                <a:schemeClr val="tx1"/>
              </a:solidFill>
              <a:latin typeface="微软雅黑" panose="020B0503020204020204" charset="-122"/>
              <a:ea typeface="微软雅黑" panose="020B0503020204020204" charset="-122"/>
            </a:endParaRPr>
          </a:p>
          <a:p>
            <a:pPr indent="457200" fontAlgn="auto">
              <a:lnSpc>
                <a:spcPct val="150000"/>
              </a:lnSpc>
            </a:pPr>
            <a:endParaRPr lang="en-US" altLang="zh-CN" dirty="0" smtClean="0">
              <a:solidFill>
                <a:schemeClr val="tx1"/>
              </a:solidFill>
              <a:latin typeface="微软雅黑" panose="020B0503020204020204" charset="-122"/>
              <a:ea typeface="微软雅黑" panose="020B0503020204020204" charset="-122"/>
            </a:endParaRPr>
          </a:p>
          <a:p>
            <a:pPr indent="457200" fontAlgn="auto">
              <a:lnSpc>
                <a:spcPct val="130000"/>
              </a:lnSpc>
            </a:pPr>
            <a:r>
              <a:rPr lang="zh-CN" altLang="en-US" dirty="0" smtClean="0">
                <a:solidFill>
                  <a:schemeClr val="tx1"/>
                </a:solidFill>
                <a:latin typeface="微软雅黑" panose="020B0503020204020204" charset="-122"/>
                <a:ea typeface="微软雅黑" panose="020B0503020204020204" charset="-122"/>
              </a:rPr>
              <a:t>相对于传统互联网而言，移动互联网强调可以随时随地，并且可以在高速移动的状态中接入互联网并使用应用服务。移动互联网由三大要素组成，即移动终端、移动互联网络及由于终端和移动通信网络的特性所带来的独特应用。</a:t>
            </a:r>
          </a:p>
          <a:p>
            <a:pPr indent="457200" fontAlgn="auto">
              <a:lnSpc>
                <a:spcPct val="130000"/>
              </a:lnSpc>
            </a:pPr>
            <a:r>
              <a:rPr lang="zh-CN" altLang="en-US" dirty="0" smtClean="0">
                <a:solidFill>
                  <a:schemeClr val="tx1"/>
                </a:solidFill>
                <a:latin typeface="微软雅黑" panose="020B0503020204020204" charset="-122"/>
                <a:ea typeface="微软雅黑" panose="020B0503020204020204" charset="-122"/>
              </a:rPr>
              <a:t>此外，还有类似的无线互联网，一般来说移动互联网与无线互联网并不完全等同：移动互联网强调使用蜂窝移动通信网接入互联网，因此常常特指手机终端采用移动通信网（如3G，4G）接入互联网并使用互联网业务；而无线互联网强调接入互联网的方式是无线接入，除了蜂窝网外还包括各种无线接入技术。</a:t>
            </a:r>
          </a:p>
          <a:p>
            <a:pPr indent="457200" fontAlgn="auto">
              <a:lnSpc>
                <a:spcPct val="130000"/>
              </a:lnSpc>
            </a:pPr>
            <a:endParaRPr lang="zh-CN" altLang="en-US" dirty="0" smtClean="0">
              <a:solidFill>
                <a:schemeClr val="tx1"/>
              </a:solidFill>
              <a:latin typeface="微软雅黑" panose="020B0503020204020204" charset="-122"/>
              <a:ea typeface="微软雅黑" panose="020B0503020204020204" charset="-122"/>
            </a:endParaRPr>
          </a:p>
          <a:p>
            <a:pPr indent="457200" fontAlgn="auto">
              <a:lnSpc>
                <a:spcPct val="130000"/>
              </a:lnSpc>
            </a:pPr>
            <a:endParaRPr lang="zh-CN" altLang="en-US" dirty="0">
              <a:solidFill>
                <a:schemeClr val="tx1"/>
              </a:solidFill>
              <a:latin typeface="微软雅黑" panose="020B0503020204020204" charset="-122"/>
              <a:ea typeface="微软雅黑" panose="020B0503020204020204" charset="-122"/>
            </a:endParaRPr>
          </a:p>
        </p:txBody>
      </p:sp>
      <p:pic>
        <p:nvPicPr>
          <p:cNvPr id="35" name="图片 34" descr="80d93b33cbe3e4ef2a8e61782fae04058ee1c911.jpg"/>
          <p:cNvPicPr>
            <a:picLocks noChangeAspect="1"/>
          </p:cNvPicPr>
          <p:nvPr/>
        </p:nvPicPr>
        <p:blipFill>
          <a:blip r:embed="rId3" cstate="print"/>
          <a:stretch>
            <a:fillRect/>
          </a:stretch>
        </p:blipFill>
        <p:spPr>
          <a:xfrm>
            <a:off x="0" y="2199640"/>
            <a:ext cx="4671060" cy="3617595"/>
          </a:xfrm>
          <a:prstGeom prst="rect">
            <a:avLst/>
          </a:prstGeom>
        </p:spPr>
      </p:pic>
    </p:spTree>
  </p:cSld>
  <p:clrMapOvr>
    <a:masterClrMapping/>
  </p:clrMapOvr>
  <p:transition>
    <p:pull di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dirty="0">
                <a:solidFill>
                  <a:srgbClr val="FF0000"/>
                </a:solidFill>
                <a:sym typeface="+mn-ea"/>
              </a:rPr>
              <a:t>9.1  移动互联网简介</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9.1.</a:t>
            </a:r>
            <a:r>
              <a:rPr sz="2400" dirty="0" smtClean="0">
                <a:solidFill>
                  <a:schemeClr val="tx1"/>
                </a:solidFill>
              </a:rPr>
              <a:t>2  移动互联网的组成</a:t>
            </a:r>
          </a:p>
        </p:txBody>
      </p:sp>
      <p:sp>
        <p:nvSpPr>
          <p:cNvPr id="5" name="MH_Text_1"/>
          <p:cNvSpPr/>
          <p:nvPr>
            <p:custDataLst>
              <p:tags r:id="rId1"/>
            </p:custDataLst>
          </p:nvPr>
        </p:nvSpPr>
        <p:spPr>
          <a:xfrm>
            <a:off x="1506220" y="5050790"/>
            <a:ext cx="9179560" cy="113474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indent="457200">
              <a:lnSpc>
                <a:spcPct val="130000"/>
              </a:lnSpc>
            </a:pPr>
            <a:r>
              <a:rPr dirty="0" smtClean="0">
                <a:solidFill>
                  <a:schemeClr val="tx1"/>
                </a:solidFill>
                <a:latin typeface="+mn-ea"/>
              </a:rPr>
              <a:t>从</a:t>
            </a:r>
            <a:r>
              <a:rPr lang="zh-CN" altLang="en-US" dirty="0" smtClean="0">
                <a:solidFill>
                  <a:schemeClr val="tx1"/>
                </a:solidFill>
                <a:latin typeface="+mn-ea"/>
              </a:rPr>
              <a:t>上图</a:t>
            </a:r>
            <a:r>
              <a:rPr dirty="0" err="1" smtClean="0">
                <a:solidFill>
                  <a:schemeClr val="tx1"/>
                </a:solidFill>
                <a:latin typeface="+mn-ea"/>
              </a:rPr>
              <a:t>可以看出，移动互联网的组成可以归纳为移动互联网终端设备、移动通信网络、移动互联网应用和移动互联网相关技术四大部分</a:t>
            </a:r>
            <a:r>
              <a:rPr dirty="0" smtClean="0">
                <a:solidFill>
                  <a:schemeClr val="tx1"/>
                </a:solidFill>
                <a:latin typeface="+mn-ea"/>
              </a:rPr>
              <a:t>。</a:t>
            </a:r>
          </a:p>
        </p:txBody>
      </p:sp>
      <p:grpSp>
        <p:nvGrpSpPr>
          <p:cNvPr id="1073756700" name="组合 1073756699"/>
          <p:cNvGrpSpPr>
            <a:grpSpLocks noRot="1"/>
          </p:cNvGrpSpPr>
          <p:nvPr/>
        </p:nvGrpSpPr>
        <p:grpSpPr>
          <a:xfrm>
            <a:off x="1507490" y="2328545"/>
            <a:ext cx="9178290" cy="2492375"/>
            <a:chOff x="3443" y="8303"/>
            <a:chExt cx="4144" cy="1874"/>
          </a:xfrm>
        </p:grpSpPr>
        <p:sp>
          <p:nvSpPr>
            <p:cNvPr id="1073756701" name="文本框 1073756700"/>
            <p:cNvSpPr txBox="1"/>
            <p:nvPr/>
          </p:nvSpPr>
          <p:spPr>
            <a:xfrm>
              <a:off x="3443" y="8303"/>
              <a:ext cx="1183" cy="1361"/>
            </a:xfrm>
            <a:prstGeom prst="rect">
              <a:avLst/>
            </a:prstGeom>
            <a:noFill/>
            <a:ln w="9525" cap="flat" cmpd="sng">
              <a:solidFill>
                <a:srgbClr val="000000"/>
              </a:solidFill>
              <a:prstDash val="solid"/>
              <a:miter/>
              <a:headEnd type="none" w="med" len="med"/>
              <a:tailEnd type="none" w="med" len="med"/>
            </a:ln>
          </p:spPr>
          <p:txBody>
            <a:bodyPr wrap="square" lIns="36000" tIns="36000" rIns="36000" bIns="36000"/>
            <a:lstStyle/>
            <a:p>
              <a:pPr algn="ctr"/>
              <a:r>
                <a:rPr lang="zh-CN" altLang="en-US"/>
                <a:t>移动互联网</a:t>
              </a:r>
            </a:p>
            <a:p>
              <a:pPr algn="ctr"/>
              <a:r>
                <a:rPr lang="zh-CN" altLang="en-US"/>
                <a:t>终端设备</a:t>
              </a:r>
            </a:p>
            <a:p>
              <a:pPr algn="ctr"/>
              <a:endParaRPr lang="zh-CN" altLang="en-US"/>
            </a:p>
            <a:p>
              <a:pPr algn="ctr"/>
              <a:r>
                <a:rPr lang="zh-CN" altLang="en-US"/>
                <a:t>智能手机</a:t>
              </a:r>
            </a:p>
            <a:p>
              <a:pPr algn="ctr"/>
              <a:r>
                <a:rPr lang="zh-CN" altLang="en-US"/>
                <a:t>平板电脑</a:t>
              </a:r>
            </a:p>
            <a:p>
              <a:endParaRPr lang="zh-CN" altLang="en-US"/>
            </a:p>
          </p:txBody>
        </p:sp>
        <p:sp>
          <p:nvSpPr>
            <p:cNvPr id="1073756702" name="文本框 1073756701"/>
            <p:cNvSpPr txBox="1"/>
            <p:nvPr/>
          </p:nvSpPr>
          <p:spPr>
            <a:xfrm>
              <a:off x="4760" y="8303"/>
              <a:ext cx="1276" cy="1361"/>
            </a:xfrm>
            <a:prstGeom prst="rect">
              <a:avLst/>
            </a:prstGeom>
            <a:noFill/>
            <a:ln w="9525" cap="flat" cmpd="sng">
              <a:solidFill>
                <a:srgbClr val="000000"/>
              </a:solidFill>
              <a:prstDash val="solid"/>
              <a:miter/>
              <a:headEnd type="none" w="med" len="med"/>
              <a:tailEnd type="none" w="med" len="med"/>
            </a:ln>
          </p:spPr>
          <p:txBody>
            <a:bodyPr wrap="square" lIns="36000" tIns="36000" rIns="36000" bIns="36000"/>
            <a:lstStyle/>
            <a:p>
              <a:pPr algn="ctr">
                <a:spcBef>
                  <a:spcPts val="465"/>
                </a:spcBef>
              </a:pPr>
              <a:r>
                <a:rPr lang="zh-CN" altLang="en-US"/>
                <a:t>移动通信网络</a:t>
              </a:r>
            </a:p>
            <a:p>
              <a:pPr algn="ctr"/>
              <a:endParaRPr lang="zh-CN" altLang="en-US"/>
            </a:p>
            <a:p>
              <a:pPr algn="ctr"/>
              <a:endParaRPr lang="zh-CN" altLang="en-US"/>
            </a:p>
            <a:p>
              <a:pPr algn="ctr"/>
              <a:r>
                <a:rPr lang="zh-CN" altLang="en-US"/>
                <a:t>3G/4G/Wi-Fi</a:t>
              </a:r>
            </a:p>
            <a:p>
              <a:endParaRPr lang="zh-CN" altLang="en-US"/>
            </a:p>
          </p:txBody>
        </p:sp>
        <p:sp>
          <p:nvSpPr>
            <p:cNvPr id="1073756703" name="文本框 1073756702"/>
            <p:cNvSpPr txBox="1"/>
            <p:nvPr/>
          </p:nvSpPr>
          <p:spPr>
            <a:xfrm>
              <a:off x="6170" y="8303"/>
              <a:ext cx="1417" cy="1361"/>
            </a:xfrm>
            <a:prstGeom prst="rect">
              <a:avLst/>
            </a:prstGeom>
            <a:noFill/>
            <a:ln w="9525" cap="flat" cmpd="sng">
              <a:solidFill>
                <a:srgbClr val="000000"/>
              </a:solidFill>
              <a:prstDash val="solid"/>
              <a:miter/>
              <a:headEnd type="none" w="med" len="med"/>
              <a:tailEnd type="none" w="med" len="med"/>
            </a:ln>
          </p:spPr>
          <p:txBody>
            <a:bodyPr wrap="square" lIns="36000" tIns="36000" rIns="36000" bIns="36000"/>
            <a:lstStyle/>
            <a:p>
              <a:pPr algn="ctr">
                <a:spcBef>
                  <a:spcPts val="465"/>
                </a:spcBef>
              </a:pPr>
              <a:r>
                <a:rPr lang="zh-CN" altLang="en-US"/>
                <a:t>移动互联网应用</a:t>
              </a:r>
            </a:p>
            <a:p>
              <a:pPr algn="ctr">
                <a:spcBef>
                  <a:spcPts val="780"/>
                </a:spcBef>
              </a:pPr>
              <a:r>
                <a:rPr lang="zh-CN" altLang="en-US"/>
                <a:t>在线游戏</a:t>
              </a:r>
            </a:p>
            <a:p>
              <a:pPr algn="ctr"/>
              <a:r>
                <a:rPr lang="zh-CN" altLang="en-US"/>
                <a:t>即时通信</a:t>
              </a:r>
            </a:p>
            <a:p>
              <a:pPr algn="ctr"/>
              <a:r>
                <a:rPr lang="zh-CN" altLang="en-US"/>
                <a:t>移动搜索</a:t>
              </a:r>
            </a:p>
            <a:p>
              <a:endParaRPr lang="zh-CN" altLang="en-US"/>
            </a:p>
          </p:txBody>
        </p:sp>
        <p:sp>
          <p:nvSpPr>
            <p:cNvPr id="1073756704" name="文本框 1073756703"/>
            <p:cNvSpPr txBox="1"/>
            <p:nvPr/>
          </p:nvSpPr>
          <p:spPr>
            <a:xfrm>
              <a:off x="3443" y="9791"/>
              <a:ext cx="4144" cy="386"/>
            </a:xfrm>
            <a:prstGeom prst="rect">
              <a:avLst/>
            </a:prstGeom>
            <a:noFill/>
            <a:ln w="9525" cap="flat" cmpd="sng">
              <a:solidFill>
                <a:srgbClr val="000000"/>
              </a:solidFill>
              <a:prstDash val="solid"/>
              <a:miter/>
              <a:headEnd type="none" w="med" len="med"/>
              <a:tailEnd type="none" w="med" len="med"/>
            </a:ln>
          </p:spPr>
          <p:txBody>
            <a:bodyPr wrap="square" lIns="36000" tIns="36000" rIns="36000" bIns="36000"/>
            <a:lstStyle/>
            <a:p>
              <a:pPr algn="ctr"/>
              <a:r>
                <a:rPr lang="zh-CN" altLang="en-US"/>
                <a:t>移动互联网相关技术</a:t>
              </a:r>
            </a:p>
            <a:p>
              <a:endParaRPr lang="zh-CN" altLang="en-US"/>
            </a:p>
          </p:txBody>
        </p:sp>
      </p:grpSp>
    </p:spTree>
  </p:cSld>
  <p:clrMapOvr>
    <a:masterClrMapping/>
  </p:clrMapOvr>
  <p:transition>
    <p:pull di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0" y="2412365"/>
            <a:ext cx="12192000" cy="3074035"/>
            <a:chOff x="0" y="3848"/>
            <a:chExt cx="19200" cy="4841"/>
          </a:xfrm>
        </p:grpSpPr>
        <p:sp>
          <p:nvSpPr>
            <p:cNvPr id="4" name="矩形 3"/>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1266" y="4382"/>
              <a:ext cx="10839" cy="3635"/>
            </a:xfrm>
            <a:prstGeom prst="rect">
              <a:avLst/>
            </a:prstGeom>
          </p:spPr>
          <p:txBody>
            <a:bodyPr wrap="square">
              <a:spAutoFit/>
            </a:bodyPr>
            <a:lstStyle/>
            <a:p>
              <a:pPr indent="457200">
                <a:lnSpc>
                  <a:spcPct val="150000"/>
                </a:lnSpc>
                <a:defRPr/>
              </a:pPr>
              <a:r>
                <a:rPr lang="zh-CN" altLang="en-US" sz="2400"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移动互联网时代无需连接各终端、节点所需要的网线，它是指移动通信技术通过无形网络将网络信号覆盖延伸到每个角落，让我们能随时随地接入所需的移动应用服务。</a:t>
              </a:r>
              <a:endParaRPr lang="en-US" altLang="zh-CN" sz="2400" kern="0" dirty="0" smtClean="0">
                <a:solidFill>
                  <a:schemeClr val="bg1"/>
                </a:solidFill>
                <a:latin typeface="微软雅黑" panose="020B0503020204020204" charset="-122"/>
                <a:ea typeface="微软雅黑" panose="020B0503020204020204" charset="-122"/>
                <a:cs typeface="宋体" panose="02010600030101010101" pitchFamily="2" charset="-122"/>
              </a:endParaRPr>
            </a:p>
          </p:txBody>
        </p:sp>
      </p:grpSp>
      <p:sp>
        <p:nvSpPr>
          <p:cNvPr id="6" name="标题 2"/>
          <p:cNvSpPr>
            <a:spLocks noGrp="1"/>
          </p:cNvSpPr>
          <p:nvPr>
            <p:ph type="title"/>
          </p:nvPr>
        </p:nvSpPr>
        <p:spPr>
          <a:xfrm>
            <a:off x="754063" y="261258"/>
            <a:ext cx="8415337" cy="855290"/>
          </a:xfrm>
        </p:spPr>
        <p:txBody>
          <a:bodyPr/>
          <a:lstStyle/>
          <a:p>
            <a:r>
              <a:rPr lang="zh-CN" dirty="0">
                <a:solidFill>
                  <a:srgbClr val="FF0000"/>
                </a:solidFill>
                <a:sym typeface="+mn-ea"/>
              </a:rPr>
              <a:t>9.1  移动互联网简介</a:t>
            </a:r>
            <a:r>
              <a:rPr lang="zh-CN" dirty="0">
                <a:solidFill>
                  <a:srgbClr val="FF0000"/>
                </a:solidFill>
              </a:rPr>
              <a:t/>
            </a:r>
            <a:br>
              <a:rPr lang="zh-CN" dirty="0">
                <a:solidFill>
                  <a:srgbClr val="FF0000"/>
                </a:solidFill>
              </a:rPr>
            </a:br>
            <a:endParaRPr lang="zh-CN" dirty="0">
              <a:solidFill>
                <a:srgbClr val="FF0000"/>
              </a:solidFill>
            </a:endParaRPr>
          </a:p>
        </p:txBody>
      </p:sp>
      <p:pic>
        <p:nvPicPr>
          <p:cNvPr id="9" name="图片 8" descr="timg (1).jpg"/>
          <p:cNvPicPr>
            <a:picLocks noChangeAspect="1"/>
          </p:cNvPicPr>
          <p:nvPr/>
        </p:nvPicPr>
        <p:blipFill>
          <a:blip r:embed="rId2" cstate="print"/>
          <a:stretch>
            <a:fillRect/>
          </a:stretch>
        </p:blipFill>
        <p:spPr>
          <a:xfrm>
            <a:off x="7678144" y="2143125"/>
            <a:ext cx="3802179" cy="3476809"/>
          </a:xfrm>
          <a:prstGeom prst="star8">
            <a:avLst/>
          </a:prstGeom>
        </p:spPr>
      </p:pic>
      <p:sp>
        <p:nvSpPr>
          <p:cNvPr id="10"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9.1.</a:t>
            </a:r>
            <a:r>
              <a:rPr sz="2400" dirty="0" smtClean="0">
                <a:solidFill>
                  <a:schemeClr val="tx1"/>
                </a:solidFill>
              </a:rPr>
              <a:t>3  移动通信网络的发展</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dirty="0">
                <a:solidFill>
                  <a:srgbClr val="FF0000"/>
                </a:solidFill>
                <a:sym typeface="+mn-ea"/>
              </a:rPr>
              <a:t>9.1  移动互联网简介</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9.1.</a:t>
            </a:r>
            <a:r>
              <a:rPr sz="2400" dirty="0" smtClean="0">
                <a:solidFill>
                  <a:schemeClr val="tx1"/>
                </a:solidFill>
              </a:rPr>
              <a:t>3  移动通信网络的发展</a:t>
            </a:r>
          </a:p>
        </p:txBody>
      </p:sp>
      <p:grpSp>
        <p:nvGrpSpPr>
          <p:cNvPr id="9" name="组合 8"/>
          <p:cNvGrpSpPr/>
          <p:nvPr/>
        </p:nvGrpSpPr>
        <p:grpSpPr>
          <a:xfrm>
            <a:off x="1045210" y="2205355"/>
            <a:ext cx="10795000" cy="4039544"/>
            <a:chOff x="2055" y="3545"/>
            <a:chExt cx="17047" cy="6767"/>
          </a:xfrm>
        </p:grpSpPr>
        <p:sp>
          <p:nvSpPr>
            <p:cNvPr id="11" name="Oval 15"/>
            <p:cNvSpPr>
              <a:spLocks noChangeArrowheads="1"/>
            </p:cNvSpPr>
            <p:nvPr>
              <p:custDataLst>
                <p:tags r:id="rId1"/>
              </p:custDataLst>
            </p:nvPr>
          </p:nvSpPr>
          <p:spPr bwMode="auto">
            <a:xfrm>
              <a:off x="2327" y="4553"/>
              <a:ext cx="4966" cy="5012"/>
            </a:xfrm>
            <a:prstGeom prst="ellipse">
              <a:avLst/>
            </a:prstGeom>
            <a:noFill/>
            <a:ln w="19050">
              <a:solidFill>
                <a:srgbClr val="4F5A71">
                  <a:alpha val="50000"/>
                </a:srgbClr>
              </a:solidFill>
              <a:round/>
            </a:ln>
            <a:effectLst/>
            <a:extLst>
              <a:ext uri="{909E8E84-426E-40DD-AFC4-6F175D3DCCD1}">
                <a14:hiddenFill xmlns:a14="http://schemas.microsoft.com/office/drawing/2010/main" xmlns="">
                  <a:solidFill>
                    <a:srgbClr val="4F5A71"/>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12" name="Line 16"/>
            <p:cNvSpPr>
              <a:spLocks noChangeShapeType="1"/>
            </p:cNvSpPr>
            <p:nvPr>
              <p:custDataLst>
                <p:tags r:id="rId2"/>
              </p:custDataLst>
            </p:nvPr>
          </p:nvSpPr>
          <p:spPr bwMode="gray">
            <a:xfrm>
              <a:off x="2055" y="7070"/>
              <a:ext cx="5486" cy="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13" name="Line 17"/>
            <p:cNvSpPr>
              <a:spLocks noChangeShapeType="1"/>
            </p:cNvSpPr>
            <p:nvPr>
              <p:custDataLst>
                <p:tags r:id="rId3"/>
              </p:custDataLst>
            </p:nvPr>
          </p:nvSpPr>
          <p:spPr bwMode="gray">
            <a:xfrm>
              <a:off x="4798" y="4183"/>
              <a:ext cx="0" cy="5770"/>
            </a:xfrm>
            <a:prstGeom prst="line">
              <a:avLst/>
            </a:prstGeom>
            <a:noFill/>
            <a:ln w="28575">
              <a:solidFill>
                <a:srgbClr val="4F5A71">
                  <a:alpha val="50000"/>
                </a:srgbClr>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14" name="Oval 10"/>
            <p:cNvSpPr>
              <a:spLocks noChangeArrowheads="1"/>
            </p:cNvSpPr>
            <p:nvPr>
              <p:custDataLst>
                <p:tags r:id="rId4"/>
              </p:custDataLst>
            </p:nvPr>
          </p:nvSpPr>
          <p:spPr bwMode="gray">
            <a:xfrm>
              <a:off x="2599" y="4837"/>
              <a:ext cx="4393" cy="4427"/>
            </a:xfrm>
            <a:prstGeom prst="ellipse">
              <a:avLst/>
            </a:prstGeom>
            <a:noFill/>
            <a:ln w="9525">
              <a:solidFill>
                <a:srgbClr val="4F5A71">
                  <a:alpha val="50000"/>
                </a:srgbClr>
              </a:solidFill>
              <a:round/>
            </a:ln>
            <a:effectLst/>
            <a:extLst>
              <a:ext uri="{909E8E84-426E-40DD-AFC4-6F175D3DCCD1}">
                <a14:hiddenFill xmlns:a14="http://schemas.microsoft.com/office/drawing/2010/main" xmlns="">
                  <a:solidFill>
                    <a:srgbClr val="4F5A71">
                      <a:alpha val="64999"/>
                    </a:srgbClr>
                  </a:solidFill>
                </a14:hiddenFill>
              </a:ext>
              <a:ext uri="{AF507438-7753-43E0-B8FC-AC1667EBCBE1}">
                <a14:hiddenEffects xmlns:a14="http://schemas.microsoft.com/office/drawing/2010/main" xmlns="">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15" name="Oval 13"/>
            <p:cNvSpPr>
              <a:spLocks noChangeArrowheads="1"/>
            </p:cNvSpPr>
            <p:nvPr>
              <p:custDataLst>
                <p:tags r:id="rId5"/>
              </p:custDataLst>
            </p:nvPr>
          </p:nvSpPr>
          <p:spPr bwMode="gray">
            <a:xfrm>
              <a:off x="3101" y="5368"/>
              <a:ext cx="3366" cy="3436"/>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16" name="KSO_GT1"/>
            <p:cNvSpPr>
              <a:spLocks noChangeArrowheads="1"/>
            </p:cNvSpPr>
            <p:nvPr>
              <p:custDataLst>
                <p:tags r:id="rId6"/>
              </p:custDataLst>
            </p:nvPr>
          </p:nvSpPr>
          <p:spPr bwMode="gray">
            <a:xfrm>
              <a:off x="3707" y="5986"/>
              <a:ext cx="2155" cy="2201"/>
            </a:xfrm>
            <a:prstGeom prst="ellipse">
              <a:avLst/>
            </a:prstGeom>
            <a:solidFill>
              <a:srgbClr val="4F5A71"/>
            </a:solidFill>
            <a:ln>
              <a:noFill/>
            </a:ln>
            <a:effectLst/>
          </p:spPr>
          <p:txBody>
            <a:bodyPr wrap="square" lIns="0" tIns="0" rIns="0" bIns="0" anchor="ctr">
              <a:normAutofit fontScale="62500" lnSpcReduction="20000"/>
            </a:bodyPr>
            <a:lstStyle/>
            <a:p>
              <a:pPr algn="ctr">
                <a:defRPr/>
              </a:pPr>
              <a:r>
                <a:rPr lang="zh-CN" altLang="en-US" sz="2800" b="1" kern="0" dirty="0" smtClean="0">
                  <a:solidFill>
                    <a:srgbClr val="FFFFFF"/>
                  </a:solidFill>
                  <a:latin typeface="Arial" panose="020B0604020202020204" pitchFamily="34" charset="0"/>
                  <a:ea typeface="宋体" panose="02010600030101010101" pitchFamily="2" charset="-122"/>
                  <a:cs typeface="黑体" panose="02010609060101010101" pitchFamily="49" charset="-122"/>
                </a:rPr>
                <a:t>熟知的移动</a:t>
              </a:r>
              <a:r>
                <a:rPr lang="zh-CN" altLang="en-US" sz="2800" b="1" kern="0" dirty="0">
                  <a:solidFill>
                    <a:srgbClr val="FFFFFF"/>
                  </a:solidFill>
                  <a:latin typeface="Arial" panose="020B0604020202020204" pitchFamily="34" charset="0"/>
                  <a:ea typeface="宋体" panose="02010600030101010101" pitchFamily="2" charset="-122"/>
                  <a:cs typeface="黑体" panose="02010609060101010101" pitchFamily="49" charset="-122"/>
                </a:rPr>
                <a:t>互联网接入网络</a:t>
              </a:r>
            </a:p>
          </p:txBody>
        </p:sp>
        <p:sp>
          <p:nvSpPr>
            <p:cNvPr id="17" name="Oval 19"/>
            <p:cNvSpPr>
              <a:spLocks noChangeArrowheads="1"/>
            </p:cNvSpPr>
            <p:nvPr>
              <p:custDataLst>
                <p:tags r:id="rId7"/>
              </p:custDataLst>
            </p:nvPr>
          </p:nvSpPr>
          <p:spPr bwMode="gray">
            <a:xfrm>
              <a:off x="5461" y="4468"/>
              <a:ext cx="396" cy="396"/>
            </a:xfrm>
            <a:prstGeom prst="ellipse">
              <a:avLst/>
            </a:prstGeom>
            <a:solidFill>
              <a:srgbClr val="4F5A71"/>
            </a:solidFill>
            <a:ln w="12700">
              <a:solidFill>
                <a:srgbClr val="FFFFFF"/>
              </a:solidFill>
              <a:round/>
            </a:ln>
            <a:effectLst/>
          </p:spPr>
          <p:txBody>
            <a:bodyPr wrap="square" anchor="ctr">
              <a:normAutofit fontScale="47500" lnSpcReduction="20000"/>
            </a:bodyPr>
            <a:lstStyle/>
            <a:p>
              <a:pPr>
                <a:defRPr/>
              </a:pPr>
              <a:endParaRPr lang="zh-CN" altLang="en-US" sz="1350" kern="0" dirty="0">
                <a:solidFill>
                  <a:sysClr val="windowText" lastClr="000000"/>
                </a:solidFill>
              </a:endParaRPr>
            </a:p>
          </p:txBody>
        </p:sp>
        <p:sp>
          <p:nvSpPr>
            <p:cNvPr id="42" name="文本框 41"/>
            <p:cNvSpPr txBox="1"/>
            <p:nvPr>
              <p:custDataLst>
                <p:tags r:id="rId8"/>
              </p:custDataLst>
            </p:nvPr>
          </p:nvSpPr>
          <p:spPr>
            <a:xfrm>
              <a:off x="6665" y="3545"/>
              <a:ext cx="11958" cy="2441"/>
            </a:xfrm>
            <a:prstGeom prst="rect">
              <a:avLst/>
            </a:prstGeom>
            <a:noFill/>
          </p:spPr>
          <p:txBody>
            <a:bodyPr wrap="square" lIns="0" rIns="0">
              <a:normAutofit/>
            </a:bodyPr>
            <a:lstStyle/>
            <a:p>
              <a:pPr>
                <a:lnSpc>
                  <a:spcPct val="130000"/>
                </a:lnSpc>
                <a:spcBef>
                  <a:spcPts val="600"/>
                </a:spcBef>
                <a:defRPr/>
              </a:pPr>
              <a:r>
                <a:rPr lang="zh-CN" dirty="0"/>
                <a:t>（</a:t>
              </a:r>
              <a:r>
                <a:rPr lang="en-US" altLang="zh-CN" dirty="0"/>
                <a:t>1</a:t>
              </a:r>
              <a:r>
                <a:rPr lang="zh-CN" altLang="en-US" dirty="0"/>
                <a:t>）</a:t>
              </a:r>
              <a:r>
                <a:rPr dirty="0"/>
                <a:t>GPRS（General Packet Radio Service）：通用分组无线服务技术的简称，它是GSM移动电话用户可用的一种移动数据业务，属于第二代移动通信中的数据传输技术。</a:t>
              </a:r>
            </a:p>
          </p:txBody>
        </p:sp>
        <p:sp>
          <p:nvSpPr>
            <p:cNvPr id="44" name="Oval 19"/>
            <p:cNvSpPr>
              <a:spLocks noChangeArrowheads="1"/>
            </p:cNvSpPr>
            <p:nvPr>
              <p:custDataLst>
                <p:tags r:id="rId9"/>
              </p:custDataLst>
            </p:nvPr>
          </p:nvSpPr>
          <p:spPr bwMode="gray">
            <a:xfrm>
              <a:off x="6665" y="6082"/>
              <a:ext cx="396" cy="396"/>
            </a:xfrm>
            <a:prstGeom prst="ellipse">
              <a:avLst/>
            </a:prstGeom>
            <a:solidFill>
              <a:srgbClr val="4F5A71"/>
            </a:solidFill>
            <a:ln w="12700">
              <a:solidFill>
                <a:srgbClr val="FFFFFF"/>
              </a:solidFill>
              <a:round/>
            </a:ln>
            <a:effectLst/>
          </p:spPr>
          <p:txBody>
            <a:bodyPr wrap="square" anchor="ctr">
              <a:normAutofit fontScale="47500" lnSpcReduction="20000"/>
            </a:bodyPr>
            <a:lstStyle/>
            <a:p>
              <a:pPr>
                <a:defRPr/>
              </a:pPr>
              <a:endParaRPr lang="zh-CN" altLang="en-US" sz="1350" kern="0" dirty="0">
                <a:solidFill>
                  <a:sysClr val="windowText" lastClr="000000"/>
                </a:solidFill>
              </a:endParaRPr>
            </a:p>
          </p:txBody>
        </p:sp>
        <p:sp>
          <p:nvSpPr>
            <p:cNvPr id="18" name="文本框 17"/>
            <p:cNvSpPr txBox="1"/>
            <p:nvPr>
              <p:custDataLst>
                <p:tags r:id="rId10"/>
              </p:custDataLst>
            </p:nvPr>
          </p:nvSpPr>
          <p:spPr>
            <a:xfrm>
              <a:off x="7912" y="5986"/>
              <a:ext cx="10710" cy="1344"/>
            </a:xfrm>
            <a:prstGeom prst="rect">
              <a:avLst/>
            </a:prstGeom>
            <a:noFill/>
          </p:spPr>
          <p:txBody>
            <a:bodyPr wrap="square" lIns="0" rIns="0">
              <a:normAutofit lnSpcReduction="10000"/>
            </a:bodyPr>
            <a:lstStyle/>
            <a:p>
              <a:pPr>
                <a:lnSpc>
                  <a:spcPct val="130000"/>
                </a:lnSpc>
                <a:spcBef>
                  <a:spcPts val="600"/>
                </a:spcBef>
                <a:defRPr/>
              </a:pPr>
              <a:r>
                <a:rPr lang="zh-CN" dirty="0"/>
                <a:t>（</a:t>
              </a:r>
              <a:r>
                <a:rPr lang="en-US" altLang="zh-CN" dirty="0"/>
                <a:t>2</a:t>
              </a:r>
              <a:r>
                <a:rPr lang="zh-CN" altLang="en-US" dirty="0"/>
                <a:t>）</a:t>
              </a:r>
              <a:r>
                <a:rPr dirty="0"/>
                <a:t>Wi-Fi（Wireless Fidelity）：基于IEEE 802.11b标准的无线局域网。</a:t>
              </a:r>
            </a:p>
          </p:txBody>
        </p:sp>
        <p:sp>
          <p:nvSpPr>
            <p:cNvPr id="20" name="Oval 19"/>
            <p:cNvSpPr>
              <a:spLocks noChangeArrowheads="1"/>
            </p:cNvSpPr>
            <p:nvPr>
              <p:custDataLst>
                <p:tags r:id="rId11"/>
              </p:custDataLst>
            </p:nvPr>
          </p:nvSpPr>
          <p:spPr bwMode="gray">
            <a:xfrm>
              <a:off x="6665" y="7699"/>
              <a:ext cx="396" cy="396"/>
            </a:xfrm>
            <a:prstGeom prst="ellipse">
              <a:avLst/>
            </a:prstGeom>
            <a:solidFill>
              <a:srgbClr val="4F5A71"/>
            </a:solidFill>
            <a:ln w="12700">
              <a:solidFill>
                <a:srgbClr val="FFFFFF"/>
              </a:solidFill>
              <a:round/>
            </a:ln>
            <a:effectLst/>
          </p:spPr>
          <p:txBody>
            <a:bodyPr wrap="square" anchor="ctr">
              <a:normAutofit fontScale="47500" lnSpcReduction="20000"/>
            </a:bodyPr>
            <a:lstStyle/>
            <a:p>
              <a:pPr>
                <a:defRPr/>
              </a:pPr>
              <a:endParaRPr lang="zh-CN" altLang="en-US" sz="1350" kern="0" dirty="0">
                <a:solidFill>
                  <a:sysClr val="windowText" lastClr="000000"/>
                </a:solidFill>
              </a:endParaRPr>
            </a:p>
          </p:txBody>
        </p:sp>
        <p:sp>
          <p:nvSpPr>
            <p:cNvPr id="21" name="文本框 20"/>
            <p:cNvSpPr txBox="1"/>
            <p:nvPr>
              <p:custDataLst>
                <p:tags r:id="rId12"/>
              </p:custDataLst>
            </p:nvPr>
          </p:nvSpPr>
          <p:spPr>
            <a:xfrm>
              <a:off x="7912" y="7513"/>
              <a:ext cx="11190" cy="768"/>
            </a:xfrm>
            <a:prstGeom prst="rect">
              <a:avLst/>
            </a:prstGeom>
            <a:noFill/>
          </p:spPr>
          <p:txBody>
            <a:bodyPr wrap="square" lIns="0" rIns="0">
              <a:normAutofit/>
            </a:bodyPr>
            <a:lstStyle/>
            <a:p>
              <a:pPr>
                <a:lnSpc>
                  <a:spcPct val="130000"/>
                </a:lnSpc>
                <a:spcBef>
                  <a:spcPts val="600"/>
                </a:spcBef>
                <a:defRPr/>
              </a:pPr>
              <a:r>
                <a:rPr lang="zh-CN" altLang="en-US" dirty="0"/>
                <a:t>（</a:t>
              </a:r>
              <a:r>
                <a:rPr lang="en-US" altLang="zh-CN" dirty="0"/>
                <a:t>3</a:t>
              </a:r>
              <a:r>
                <a:rPr lang="zh-CN" altLang="en-US" dirty="0"/>
                <a:t>）3G：第三代移动通信技术，它带来了移动宽带。</a:t>
              </a:r>
            </a:p>
          </p:txBody>
        </p:sp>
        <p:sp>
          <p:nvSpPr>
            <p:cNvPr id="22" name="Oval 19"/>
            <p:cNvSpPr>
              <a:spLocks noChangeArrowheads="1"/>
            </p:cNvSpPr>
            <p:nvPr>
              <p:custDataLst>
                <p:tags r:id="rId13"/>
              </p:custDataLst>
            </p:nvPr>
          </p:nvSpPr>
          <p:spPr bwMode="gray">
            <a:xfrm>
              <a:off x="5464" y="9273"/>
              <a:ext cx="396" cy="396"/>
            </a:xfrm>
            <a:prstGeom prst="ellipse">
              <a:avLst/>
            </a:prstGeom>
            <a:solidFill>
              <a:srgbClr val="4F5A71"/>
            </a:solidFill>
            <a:ln w="12700">
              <a:solidFill>
                <a:srgbClr val="FFFFFF"/>
              </a:solidFill>
              <a:round/>
            </a:ln>
            <a:effectLst/>
          </p:spPr>
          <p:txBody>
            <a:bodyPr wrap="square" anchor="ctr">
              <a:normAutofit fontScale="47500" lnSpcReduction="20000"/>
            </a:bodyPr>
            <a:lstStyle/>
            <a:p>
              <a:pPr>
                <a:defRPr/>
              </a:pPr>
              <a:endParaRPr lang="zh-CN" altLang="en-US" sz="1350" kern="0" dirty="0">
                <a:solidFill>
                  <a:sysClr val="windowText" lastClr="000000"/>
                </a:solidFill>
              </a:endParaRPr>
            </a:p>
          </p:txBody>
        </p:sp>
        <p:sp>
          <p:nvSpPr>
            <p:cNvPr id="55" name="文本框 54"/>
            <p:cNvSpPr txBox="1"/>
            <p:nvPr>
              <p:custDataLst>
                <p:tags r:id="rId14"/>
              </p:custDataLst>
            </p:nvPr>
          </p:nvSpPr>
          <p:spPr>
            <a:xfrm>
              <a:off x="6665" y="8805"/>
              <a:ext cx="11958" cy="1507"/>
            </a:xfrm>
            <a:prstGeom prst="rect">
              <a:avLst/>
            </a:prstGeom>
            <a:noFill/>
          </p:spPr>
          <p:txBody>
            <a:bodyPr wrap="square" lIns="0" rIns="0">
              <a:normAutofit/>
            </a:bodyPr>
            <a:lstStyle/>
            <a:p>
              <a:pPr>
                <a:lnSpc>
                  <a:spcPct val="130000"/>
                </a:lnSpc>
                <a:spcBef>
                  <a:spcPts val="600"/>
                </a:spcBef>
                <a:defRPr/>
              </a:pPr>
              <a:r>
                <a:rPr lang="zh-CN" altLang="en-US" dirty="0"/>
                <a:t>（</a:t>
              </a:r>
              <a:r>
                <a:rPr lang="en-US" altLang="zh-CN" dirty="0"/>
                <a:t>4</a:t>
              </a:r>
              <a:r>
                <a:rPr lang="zh-CN" altLang="en-US" dirty="0"/>
                <a:t>）4G：第四代移动通信技术，它是集3G和WLAN于一体并能够传输高质量视频图像以及图像传输质量与高清晰度电视不相上下的技术产品。</a:t>
              </a:r>
            </a:p>
          </p:txBody>
        </p:sp>
      </p:grpSp>
    </p:spTree>
  </p:cSld>
  <p:clrMapOvr>
    <a:masterClrMapping/>
  </p:clrMapOvr>
  <p:transition>
    <p:pull dir="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dirty="0">
                <a:solidFill>
                  <a:srgbClr val="FF0000"/>
                </a:solidFill>
                <a:sym typeface="+mn-ea"/>
              </a:rPr>
              <a:t>9.1  移动互联网简介</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9.1.</a:t>
            </a:r>
            <a:r>
              <a:rPr sz="2400" dirty="0" smtClean="0">
                <a:solidFill>
                  <a:schemeClr val="tx1"/>
                </a:solidFill>
              </a:rPr>
              <a:t>3  移动通信网络的发展</a:t>
            </a:r>
          </a:p>
        </p:txBody>
      </p:sp>
      <p:pic>
        <p:nvPicPr>
          <p:cNvPr id="2" name="图片 1" descr="A000220150319G90PPIC"/>
          <p:cNvPicPr>
            <a:picLocks noChangeAspect="1"/>
          </p:cNvPicPr>
          <p:nvPr/>
        </p:nvPicPr>
        <p:blipFill>
          <a:blip r:embed="rId2" cstate="print"/>
          <a:stretch>
            <a:fillRect/>
          </a:stretch>
        </p:blipFill>
        <p:spPr>
          <a:xfrm flipH="1">
            <a:off x="7864635" y="1685924"/>
            <a:ext cx="2975450" cy="2530475"/>
          </a:xfrm>
          <a:prstGeom prst="rect">
            <a:avLst/>
          </a:prstGeom>
        </p:spPr>
      </p:pic>
      <p:sp>
        <p:nvSpPr>
          <p:cNvPr id="100" name="文本框 99"/>
          <p:cNvSpPr txBox="1"/>
          <p:nvPr/>
        </p:nvSpPr>
        <p:spPr>
          <a:xfrm>
            <a:off x="1014095" y="2480310"/>
            <a:ext cx="6263005" cy="1736090"/>
          </a:xfrm>
          <a:prstGeom prst="rect">
            <a:avLst/>
          </a:prstGeom>
          <a:noFill/>
          <a:ln w="9525">
            <a:noFill/>
          </a:ln>
        </p:spPr>
        <p:txBody>
          <a:bodyPr wrap="square">
            <a:spAutoFit/>
          </a:bodyPr>
          <a:lstStyle/>
          <a:p>
            <a:pPr marL="0" indent="457200" algn="l" fontAlgn="auto">
              <a:lnSpc>
                <a:spcPct val="120000"/>
              </a:lnSpc>
            </a:pPr>
            <a:r>
              <a:rPr b="0" u="none">
                <a:latin typeface="微软雅黑" panose="020B0503020204020204" charset="-122"/>
                <a:ea typeface="微软雅黑" panose="020B0503020204020204" charset="-122"/>
              </a:rPr>
              <a:t>如今的移动终端设备多种多样，视觉体验越来越佳，速度越来越快。很多设备都配有高清显示屏和四核处理器，拥有4G移动网络连接功能，上网速度可达到每秒上百兆，即使是数G大小的电影也能够在几分钟内下载下来甚至直接在线播放。</a:t>
            </a:r>
          </a:p>
        </p:txBody>
      </p:sp>
      <p:sp>
        <p:nvSpPr>
          <p:cNvPr id="4" name="文本框 3"/>
          <p:cNvSpPr txBox="1"/>
          <p:nvPr/>
        </p:nvSpPr>
        <p:spPr>
          <a:xfrm>
            <a:off x="1014095" y="4396740"/>
            <a:ext cx="10360660" cy="1736090"/>
          </a:xfrm>
          <a:prstGeom prst="rect">
            <a:avLst/>
          </a:prstGeom>
          <a:noFill/>
          <a:ln w="9525">
            <a:noFill/>
          </a:ln>
        </p:spPr>
        <p:txBody>
          <a:bodyPr wrap="square">
            <a:spAutoFit/>
          </a:bodyPr>
          <a:lstStyle/>
          <a:p>
            <a:pPr marL="0" indent="457200" algn="l" fontAlgn="auto">
              <a:lnSpc>
                <a:spcPct val="120000"/>
              </a:lnSpc>
            </a:pPr>
            <a:r>
              <a:rPr b="0" u="none">
                <a:latin typeface="微软雅黑" panose="020B0503020204020204" charset="-122"/>
                <a:ea typeface="微软雅黑" panose="020B0503020204020204" charset="-122"/>
              </a:rPr>
              <a:t>智能手机虽然携带方便，但限于屏幕尺寸，很多移动互联应用无法完美实现。为了进一步优化，有了移动互联终端设备的另一个发展方向——平板电脑。在平板电脑之前，上网本也试图在这方面进行尝试。但由于上网本无法做到便携操作，配置较低且易被操作系统占用过多内存而影响性能，最终限制了其在移动互联终端市场的发展。平板电脑通常配备更为强大的处理器和最大10英寸左右的触摸显示屏，这使得其更容易操作，在浏览正常的网页和视频时，较前者都有更佳的视觉体验。</a:t>
            </a:r>
          </a:p>
        </p:txBody>
      </p:sp>
    </p:spTree>
  </p:cSld>
  <p:clrMapOvr>
    <a:masterClrMapping/>
  </p:clrMapOvr>
  <p:transition>
    <p:pull dir="d"/>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dirty="0">
                <a:solidFill>
                  <a:srgbClr val="FF0000"/>
                </a:solidFill>
                <a:sym typeface="+mn-ea"/>
              </a:rPr>
              <a:t>9.1  移动互联网简介</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9.1.</a:t>
            </a:r>
            <a:r>
              <a:rPr sz="2400" dirty="0" smtClean="0">
                <a:solidFill>
                  <a:schemeClr val="tx1"/>
                </a:solidFill>
              </a:rPr>
              <a:t>3  移动通信网络的发展</a:t>
            </a:r>
          </a:p>
        </p:txBody>
      </p:sp>
      <p:sp>
        <p:nvSpPr>
          <p:cNvPr id="19" name="矩形 18"/>
          <p:cNvSpPr/>
          <p:nvPr/>
        </p:nvSpPr>
        <p:spPr>
          <a:xfrm>
            <a:off x="357505" y="2280285"/>
            <a:ext cx="7586980" cy="3383280"/>
          </a:xfrm>
          <a:prstGeom prst="rect">
            <a:avLst/>
          </a:prstGeom>
        </p:spPr>
        <p:txBody>
          <a:bodyPr wrap="square">
            <a:spAutoFit/>
          </a:bodyPr>
          <a:lstStyle/>
          <a:p>
            <a:pPr indent="457200">
              <a:lnSpc>
                <a:spcPct val="150000"/>
              </a:lnSpc>
              <a:defRPr/>
            </a:pPr>
            <a:r>
              <a:rPr lang="en-US" altLang="zh-CN" kern="0" dirty="0" err="1" smtClean="0">
                <a:latin typeface="微软雅黑" panose="020B0503020204020204" charset="-122"/>
                <a:ea typeface="微软雅黑" panose="020B0503020204020204" charset="-122"/>
                <a:cs typeface="宋体" panose="02010600030101010101" pitchFamily="2" charset="-122"/>
              </a:rPr>
              <a:t>有了上述移动互联终端设备，用户的期望也发生了极大的变化</a:t>
            </a:r>
            <a:r>
              <a:rPr lang="en-US" altLang="zh-CN" kern="0" dirty="0" smtClean="0">
                <a:latin typeface="微软雅黑" panose="020B0503020204020204" charset="-122"/>
                <a:ea typeface="微软雅黑" panose="020B0503020204020204" charset="-122"/>
                <a:cs typeface="宋体" panose="02010600030101010101" pitchFamily="2" charset="-122"/>
              </a:rPr>
              <a:t>。</a:t>
            </a:r>
            <a:r>
              <a:rPr lang="en-US" altLang="zh-CN" kern="0" dirty="0" err="1" smtClean="0">
                <a:latin typeface="微软雅黑" panose="020B0503020204020204" charset="-122"/>
                <a:ea typeface="微软雅黑" panose="020B0503020204020204" charset="-122"/>
                <a:cs typeface="宋体" panose="02010600030101010101" pitchFamily="2" charset="-122"/>
              </a:rPr>
              <a:t>今后运营商们需要花费更多的精力和技术投入，来赢取未来更多的发展机会</a:t>
            </a:r>
            <a:r>
              <a:rPr lang="en-US" altLang="zh-CN" kern="0" dirty="0" smtClean="0">
                <a:latin typeface="微软雅黑" panose="020B0503020204020204" charset="-122"/>
                <a:ea typeface="微软雅黑" panose="020B0503020204020204" charset="-122"/>
                <a:cs typeface="宋体" panose="02010600030101010101" pitchFamily="2" charset="-122"/>
              </a:rPr>
              <a:t>。截至2014年底，移动互联网智能终端用户已由过去主要集中在白领、高科技人员和中高产阶级，演变为同时普及于学生、农民工和一般工薪家庭之中。</a:t>
            </a:r>
            <a:r>
              <a:rPr lang="en-US" altLang="zh-CN" kern="0" dirty="0" err="1" smtClean="0">
                <a:latin typeface="微软雅黑" panose="020B0503020204020204" charset="-122"/>
                <a:ea typeface="微软雅黑" panose="020B0503020204020204" charset="-122"/>
                <a:cs typeface="宋体" panose="02010600030101010101" pitchFamily="2" charset="-122"/>
              </a:rPr>
              <a:t>普及面的扩大与移动互联终端的多样化发展息息相关</a:t>
            </a:r>
            <a:r>
              <a:rPr lang="en-US" altLang="zh-CN" kern="0" dirty="0" smtClean="0">
                <a:latin typeface="微软雅黑" panose="020B0503020204020204" charset="-122"/>
                <a:ea typeface="微软雅黑" panose="020B0503020204020204" charset="-122"/>
                <a:cs typeface="宋体" panose="02010600030101010101" pitchFamily="2" charset="-122"/>
              </a:rPr>
              <a:t>。运营商为了推动3G/4G业务的发展，需投入巨资来促进更多的移动应用开发，带动产业链的繁荣，同时做好市场宣传以吸引更多用户群的加入。</a:t>
            </a:r>
            <a:r>
              <a:rPr lang="en-US" altLang="zh-CN" kern="0" dirty="0" err="1" smtClean="0">
                <a:latin typeface="微软雅黑" panose="020B0503020204020204" charset="-122"/>
                <a:ea typeface="微软雅黑" panose="020B0503020204020204" charset="-122"/>
                <a:cs typeface="宋体" panose="02010600030101010101" pitchFamily="2" charset="-122"/>
              </a:rPr>
              <a:t>移动互联网技术和移动互联网设备的不断发展，推动了移动互联网的发展</a:t>
            </a:r>
            <a:r>
              <a:rPr lang="en-US" altLang="zh-CN" kern="0" dirty="0" smtClean="0">
                <a:latin typeface="微软雅黑" panose="020B0503020204020204" charset="-122"/>
                <a:ea typeface="微软雅黑" panose="020B0503020204020204" charset="-122"/>
                <a:cs typeface="宋体" panose="02010600030101010101" pitchFamily="2" charset="-122"/>
              </a:rPr>
              <a:t>。</a:t>
            </a:r>
          </a:p>
        </p:txBody>
      </p:sp>
      <p:pic>
        <p:nvPicPr>
          <p:cNvPr id="2" name="图片 1" descr="A000220150318P96PPIC"/>
          <p:cNvPicPr>
            <a:picLocks noChangeAspect="1"/>
          </p:cNvPicPr>
          <p:nvPr/>
        </p:nvPicPr>
        <p:blipFill>
          <a:blip r:embed="rId2" cstate="print"/>
          <a:stretch>
            <a:fillRect/>
          </a:stretch>
        </p:blipFill>
        <p:spPr>
          <a:xfrm>
            <a:off x="7731125" y="2543175"/>
            <a:ext cx="4460875" cy="3038475"/>
          </a:xfrm>
          <a:prstGeom prst="rect">
            <a:avLst/>
          </a:prstGeom>
        </p:spPr>
      </p:pic>
    </p:spTree>
  </p:cSld>
  <p:clrMapOvr>
    <a:masterClrMapping/>
  </p:clrMapOvr>
  <p:transition>
    <p:pull dir="d"/>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dirty="0">
                <a:solidFill>
                  <a:srgbClr val="FF0000"/>
                </a:solidFill>
                <a:sym typeface="+mn-ea"/>
              </a:rPr>
              <a:t>9.1  移动互联网简介</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9.1.</a:t>
            </a:r>
            <a:r>
              <a:rPr sz="2400" dirty="0" smtClean="0">
                <a:solidFill>
                  <a:schemeClr val="tx1"/>
                </a:solidFill>
              </a:rPr>
              <a:t>3  移动通信网络的发展</a:t>
            </a:r>
          </a:p>
        </p:txBody>
      </p:sp>
      <p:sp>
        <p:nvSpPr>
          <p:cNvPr id="13" name="矩形 12"/>
          <p:cNvSpPr/>
          <p:nvPr/>
        </p:nvSpPr>
        <p:spPr>
          <a:xfrm>
            <a:off x="1080921" y="2110762"/>
            <a:ext cx="10068911" cy="3831818"/>
          </a:xfrm>
          <a:prstGeom prst="rect">
            <a:avLst/>
          </a:prstGeom>
          <a:ln>
            <a:solidFill>
              <a:schemeClr val="bg1">
                <a:lumMod val="50000"/>
              </a:schemeClr>
            </a:solidFill>
          </a:ln>
        </p:spPr>
        <p:txBody>
          <a:bodyPr wrap="square">
            <a:spAutoFit/>
          </a:bodyPr>
          <a:lstStyle/>
          <a:p>
            <a:pPr indent="0" fontAlgn="auto">
              <a:lnSpc>
                <a:spcPct val="150000"/>
              </a:lnSpc>
            </a:pPr>
            <a:r>
              <a:rPr lang="en-US" dirty="0" smtClean="0">
                <a:latin typeface="微软雅黑" panose="020B0503020204020204" charset="-122"/>
                <a:ea typeface="微软雅黑" panose="020B0503020204020204" charset="-122"/>
                <a:cs typeface="宋体" panose="02010600030101010101" pitchFamily="2" charset="-122"/>
                <a:sym typeface="+mn-ea"/>
              </a:rPr>
              <a:t>       </a:t>
            </a:r>
            <a:r>
              <a:rPr dirty="0" smtClean="0">
                <a:latin typeface="微软雅黑" panose="020B0503020204020204" charset="-122"/>
                <a:ea typeface="微软雅黑" panose="020B0503020204020204" charset="-122"/>
                <a:cs typeface="宋体" panose="02010600030101010101" pitchFamily="2" charset="-122"/>
                <a:sym typeface="+mn-ea"/>
              </a:rPr>
              <a:t>2014年，全球移动互联网显现出快速增长的态势。在</a:t>
            </a:r>
          </a:p>
          <a:p>
            <a:pPr indent="0" fontAlgn="auto">
              <a:lnSpc>
                <a:spcPct val="150000"/>
              </a:lnSpc>
            </a:pPr>
            <a:r>
              <a:rPr dirty="0" smtClean="0">
                <a:latin typeface="微软雅黑" panose="020B0503020204020204" charset="-122"/>
                <a:ea typeface="微软雅黑" panose="020B0503020204020204" charset="-122"/>
                <a:cs typeface="宋体" panose="02010600030101010101" pitchFamily="2" charset="-122"/>
                <a:sym typeface="+mn-ea"/>
              </a:rPr>
              <a:t>流量、移动设备拥有率和用户比例方面都出现倍数增长或</a:t>
            </a:r>
          </a:p>
          <a:p>
            <a:pPr indent="0" fontAlgn="auto">
              <a:lnSpc>
                <a:spcPct val="150000"/>
              </a:lnSpc>
            </a:pPr>
            <a:r>
              <a:rPr dirty="0" smtClean="0">
                <a:latin typeface="微软雅黑" panose="020B0503020204020204" charset="-122"/>
                <a:ea typeface="微软雅黑" panose="020B0503020204020204" charset="-122"/>
                <a:cs typeface="宋体" panose="02010600030101010101" pitchFamily="2" charset="-122"/>
                <a:sym typeface="+mn-ea"/>
              </a:rPr>
              <a:t>较快增长。当前全球移动互联网发展呈现出参与者不断增加、</a:t>
            </a:r>
          </a:p>
          <a:p>
            <a:pPr indent="0" fontAlgn="auto">
              <a:lnSpc>
                <a:spcPct val="150000"/>
              </a:lnSpc>
            </a:pPr>
            <a:r>
              <a:rPr dirty="0" err="1" smtClean="0">
                <a:latin typeface="微软雅黑" panose="020B0503020204020204" charset="-122"/>
                <a:ea typeface="微软雅黑" panose="020B0503020204020204" charset="-122"/>
                <a:cs typeface="宋体" panose="02010600030101010101" pitchFamily="2" charset="-122"/>
                <a:sym typeface="+mn-ea"/>
              </a:rPr>
              <a:t>跨界融合成为产业结合的重要趋势、不同国家发展程度千</a:t>
            </a:r>
            <a:r>
              <a:rPr lang="en-US" dirty="0" smtClean="0">
                <a:latin typeface="微软雅黑" panose="020B0503020204020204" charset="-122"/>
                <a:ea typeface="微软雅黑" panose="020B0503020204020204" charset="-122"/>
                <a:cs typeface="宋体" panose="02010600030101010101" pitchFamily="2" charset="-122"/>
                <a:sym typeface="+mn-ea"/>
              </a:rPr>
              <a:t/>
            </a:r>
            <a:br>
              <a:rPr lang="en-US" dirty="0" smtClean="0">
                <a:latin typeface="微软雅黑" panose="020B0503020204020204" charset="-122"/>
                <a:ea typeface="微软雅黑" panose="020B0503020204020204" charset="-122"/>
                <a:cs typeface="宋体" panose="02010600030101010101" pitchFamily="2" charset="-122"/>
                <a:sym typeface="+mn-ea"/>
              </a:rPr>
            </a:br>
            <a:r>
              <a:rPr dirty="0" err="1" smtClean="0">
                <a:latin typeface="微软雅黑" panose="020B0503020204020204" charset="-122"/>
                <a:ea typeface="微软雅黑" panose="020B0503020204020204" charset="-122"/>
                <a:cs typeface="宋体" panose="02010600030101010101" pitchFamily="2" charset="-122"/>
                <a:sym typeface="+mn-ea"/>
              </a:rPr>
              <a:t>差万别和生态体系竞争成为竞争的主流形态等特征</a:t>
            </a:r>
            <a:r>
              <a:rPr dirty="0" smtClean="0">
                <a:latin typeface="微软雅黑" panose="020B0503020204020204" charset="-122"/>
                <a:ea typeface="微软雅黑" panose="020B0503020204020204" charset="-122"/>
                <a:cs typeface="宋体" panose="02010600030101010101" pitchFamily="2" charset="-122"/>
                <a:sym typeface="+mn-ea"/>
              </a:rPr>
              <a:t>。</a:t>
            </a:r>
          </a:p>
          <a:p>
            <a:pPr indent="0" fontAlgn="auto">
              <a:lnSpc>
                <a:spcPct val="150000"/>
              </a:lnSpc>
            </a:pPr>
            <a:r>
              <a:rPr lang="zh-CN" altLang="en-US" dirty="0" smtClean="0">
                <a:latin typeface="微软雅黑" panose="020B0503020204020204" charset="-122"/>
                <a:ea typeface="微软雅黑" panose="020B0503020204020204" charset="-122"/>
                <a:cs typeface="宋体" panose="02010600030101010101" pitchFamily="2" charset="-122"/>
                <a:sym typeface="+mn-ea"/>
              </a:rPr>
              <a:t>       2014年是我国移动互联网发展具有里程碑意义的一年。我国移动互联网规模首次突破千亿元，</a:t>
            </a:r>
            <a:r>
              <a:rPr lang="zh-CN" altLang="en-US" b="1" dirty="0" smtClean="0">
                <a:latin typeface="微软雅黑" panose="020B0503020204020204" charset="-122"/>
                <a:ea typeface="微软雅黑" panose="020B0503020204020204" charset="-122"/>
                <a:cs typeface="宋体" panose="02010600030101010101" pitchFamily="2" charset="-122"/>
                <a:sym typeface="+mn-ea"/>
              </a:rPr>
              <a:t>手机上网用户首次超过PC端用户</a:t>
            </a:r>
            <a:r>
              <a:rPr lang="zh-CN" altLang="en-US" dirty="0" smtClean="0">
                <a:latin typeface="微软雅黑" panose="020B0503020204020204" charset="-122"/>
                <a:ea typeface="微软雅黑" panose="020B0503020204020204" charset="-122"/>
                <a:cs typeface="宋体" panose="02010600030101010101" pitchFamily="2" charset="-122"/>
                <a:sym typeface="+mn-ea"/>
              </a:rPr>
              <a:t>等都是移动互联网发展的标志性事件。国有品牌设备的市场份额大幅增加，新生代用户力量持续崛起。我国移动互联网对传统产业的提升引领作用增强，并且正在成为创新产业的重要工具。</a:t>
            </a:r>
          </a:p>
        </p:txBody>
      </p:sp>
      <p:pic>
        <p:nvPicPr>
          <p:cNvPr id="6" name="图片 5" descr="A000220150322J02PPIC.png"/>
          <p:cNvPicPr>
            <a:picLocks noChangeAspect="1"/>
          </p:cNvPicPr>
          <p:nvPr/>
        </p:nvPicPr>
        <p:blipFill>
          <a:blip r:embed="rId2" cstate="print"/>
          <a:stretch>
            <a:fillRect/>
          </a:stretch>
        </p:blipFill>
        <p:spPr>
          <a:xfrm>
            <a:off x="7064375" y="533400"/>
            <a:ext cx="4195281" cy="3733800"/>
          </a:xfrm>
          <a:prstGeom prst="rect">
            <a:avLst/>
          </a:prstGeom>
        </p:spPr>
      </p:pic>
    </p:spTree>
  </p:cSld>
  <p:clrMapOvr>
    <a:masterClrMapping/>
  </p:clrMapOvr>
  <p:transition>
    <p:pull dir="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dirty="0">
                <a:solidFill>
                  <a:srgbClr val="FF0000"/>
                </a:solidFill>
                <a:sym typeface="+mn-ea"/>
              </a:rPr>
              <a:t>9.1  移动互联网简介</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9.1.</a:t>
            </a:r>
            <a:r>
              <a:rPr sz="2400" dirty="0" smtClean="0">
                <a:solidFill>
                  <a:schemeClr val="tx1"/>
                </a:solidFill>
              </a:rPr>
              <a:t>3  移动通信网络的发展</a:t>
            </a:r>
          </a:p>
        </p:txBody>
      </p:sp>
      <p:sp>
        <p:nvSpPr>
          <p:cNvPr id="2" name="MH_Desc_1"/>
          <p:cNvSpPr/>
          <p:nvPr>
            <p:custDataLst>
              <p:tags r:id="rId1"/>
            </p:custDataLst>
          </p:nvPr>
        </p:nvSpPr>
        <p:spPr>
          <a:xfrm>
            <a:off x="5316855" y="2144395"/>
            <a:ext cx="6176010" cy="3768090"/>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lang="zh-CN" dirty="0" smtClean="0">
                <a:solidFill>
                  <a:schemeClr val="tx1"/>
                </a:solidFill>
                <a:latin typeface="微软雅黑" panose="020B0503020204020204" charset="-122"/>
                <a:ea typeface="微软雅黑" panose="020B0503020204020204" charset="-122"/>
                <a:cs typeface="Times New Roman" panose="02020603050405020304" pitchFamily="18" charset="0"/>
              </a:rPr>
              <a:t>移动互联网的新产品、新模式、新应用层出不穷。在产品方面，可穿戴设备、智能家居产品、智能汽车成为主要突破领域；在发展模式方面，企业组织去中心化模式、以核心优势构建产业生态圈、跨界拓展新领域新业态、引领市场反馈创新模式等特点不断突出；在应用推广方面，打车应用、互联网金融、工业互联网、在线教育、即时通信等方面出现较为成熟的典型应用案例。</a:t>
            </a:r>
          </a:p>
        </p:txBody>
      </p:sp>
      <p:pic>
        <p:nvPicPr>
          <p:cNvPr id="4" name="图片 3" descr="eee0c49440f2d2986695dc8ceb9d0446edc3d2b2.jpg"/>
          <p:cNvPicPr>
            <a:picLocks noChangeAspect="1"/>
          </p:cNvPicPr>
          <p:nvPr/>
        </p:nvPicPr>
        <p:blipFill>
          <a:blip r:embed="rId3" cstate="print"/>
          <a:stretch>
            <a:fillRect/>
          </a:stretch>
        </p:blipFill>
        <p:spPr>
          <a:xfrm>
            <a:off x="0" y="2134870"/>
            <a:ext cx="5177155" cy="3748405"/>
          </a:xfrm>
          <a:prstGeom prst="rect">
            <a:avLst/>
          </a:prstGeom>
        </p:spPr>
      </p:pic>
    </p:spTree>
  </p:cSld>
  <p:clrMapOvr>
    <a:masterClrMapping/>
  </p:clrMapOvr>
  <p:transition>
    <p:pull dir="d"/>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dirty="0">
                <a:solidFill>
                  <a:srgbClr val="FF0000"/>
                </a:solidFill>
                <a:sym typeface="+mn-ea"/>
              </a:rPr>
              <a:t>9.1  移动互联网简介</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9.1.</a:t>
            </a:r>
            <a:r>
              <a:rPr sz="2400" dirty="0" smtClean="0">
                <a:solidFill>
                  <a:schemeClr val="tx1"/>
                </a:solidFill>
              </a:rPr>
              <a:t>3  移动通信网络的发展</a:t>
            </a:r>
          </a:p>
        </p:txBody>
      </p:sp>
      <p:grpSp>
        <p:nvGrpSpPr>
          <p:cNvPr id="27" name="组合 26"/>
          <p:cNvGrpSpPr/>
          <p:nvPr/>
        </p:nvGrpSpPr>
        <p:grpSpPr>
          <a:xfrm>
            <a:off x="781050" y="2061210"/>
            <a:ext cx="10786746" cy="3689547"/>
            <a:chOff x="612785" y="1696968"/>
            <a:chExt cx="10786940" cy="4222525"/>
          </a:xfrm>
        </p:grpSpPr>
        <p:sp>
          <p:nvSpPr>
            <p:cNvPr id="23" name="MH_SubTitle_1"/>
            <p:cNvSpPr txBox="1"/>
            <p:nvPr>
              <p:custDataLst>
                <p:tags r:id="rId2"/>
              </p:custDataLst>
            </p:nvPr>
          </p:nvSpPr>
          <p:spPr>
            <a:xfrm rot="20640000">
              <a:off x="1784342" y="5475384"/>
              <a:ext cx="3528921" cy="444109"/>
            </a:xfrm>
            <a:prstGeom prst="rect">
              <a:avLst/>
            </a:prstGeom>
            <a:noFill/>
          </p:spPr>
          <p:txBody>
            <a:bodyPr vert="horz" wrap="square" lIns="0" tIns="0" rIns="0" bIns="0" rtlCol="0" anchor="ctr" anchorCtr="0">
              <a:normAutofit/>
            </a:bodyPr>
            <a:lstStyle/>
            <a:p>
              <a:pPr algn="ctr"/>
              <a:r>
                <a:rPr lang="en-US" altLang="zh-CN" sz="1400" dirty="0" smtClean="0">
                  <a:solidFill>
                    <a:srgbClr val="4F4F4F"/>
                  </a:solidFill>
                  <a:latin typeface="微软雅黑" panose="020B0503020204020204" charset="-122"/>
                  <a:ea typeface="微软雅黑" panose="020B0503020204020204" charset="-122"/>
                </a:rPr>
                <a:t> </a:t>
              </a:r>
              <a:endParaRPr lang="zh-CN" altLang="en-US" sz="1400" dirty="0">
                <a:solidFill>
                  <a:srgbClr val="4F4F4F"/>
                </a:solidFill>
                <a:latin typeface="微软雅黑" panose="020B0503020204020204" charset="-122"/>
                <a:ea typeface="微软雅黑" panose="020B0503020204020204" charset="-122"/>
              </a:endParaRPr>
            </a:p>
          </p:txBody>
        </p:sp>
        <p:sp>
          <p:nvSpPr>
            <p:cNvPr id="24" name="MH_Text_1"/>
            <p:cNvSpPr txBox="1"/>
            <p:nvPr>
              <p:custDataLst>
                <p:tags r:id="rId3"/>
              </p:custDataLst>
            </p:nvPr>
          </p:nvSpPr>
          <p:spPr>
            <a:xfrm>
              <a:off x="612785" y="1696968"/>
              <a:ext cx="10786940" cy="2906192"/>
            </a:xfrm>
            <a:prstGeom prst="rect">
              <a:avLst/>
            </a:prstGeom>
            <a:noFill/>
          </p:spPr>
          <p:txBody>
            <a:bodyPr wrap="square" lIns="36000" tIns="46800" rIns="36000" rtlCol="0" anchor="t" anchorCtr="0">
              <a:noAutofit/>
            </a:bodyPr>
            <a:lstStyle/>
            <a:p>
              <a:pPr lvl="0" indent="457200" fontAlgn="auto">
                <a:lnSpc>
                  <a:spcPct val="130000"/>
                </a:lnSpc>
              </a:pPr>
              <a:r>
                <a:rPr lang="zh-CN" altLang="en-US" dirty="0" smtClean="0">
                  <a:latin typeface="微软雅黑" panose="020B0503020204020204" charset="-122"/>
                  <a:ea typeface="微软雅黑" panose="020B0503020204020204" charset="-122"/>
                </a:rPr>
                <a:t>2014年，国内外移动互联网巨头向其他行业渗透与整合的能力显著增强。一方面，桌面端优势企业加速移动化转型，微软从被动转型到移动优先，多举措加快“移动+云”战略；Facebook转战移动社交、继续保持社交优势；百度打造开放智能平台，强化多元化移动应用体验。另一方面，移动互联网软硬件企业加快扩张步伐，谷歌旨在提升安卓生态圈活力，向广阔领域延伸影响力；苹果进一步完善iOS生态体系，在智能设备领域广泛蓄力；阿里广泛布局O2O市场，跨界收购完善生态体系；腾讯充分发挥移动社交平台，强化全生态开放式创新；小米打造硬件生态体系，互联网思维延伸至多元化终端。</a:t>
              </a:r>
            </a:p>
          </p:txBody>
        </p:sp>
      </p:grpSp>
      <p:sp>
        <p:nvSpPr>
          <p:cNvPr id="12" name="MH_SubTitle_1"/>
          <p:cNvSpPr/>
          <p:nvPr>
            <p:custDataLst>
              <p:tags r:id="rId1"/>
            </p:custDataLst>
          </p:nvPr>
        </p:nvSpPr>
        <p:spPr>
          <a:xfrm>
            <a:off x="3343275" y="4352925"/>
            <a:ext cx="8848725" cy="1964055"/>
          </a:xfrm>
          <a:prstGeom prst="rect">
            <a:avLst/>
          </a:prstGeom>
          <a:solidFill>
            <a:srgbClr val="FC8474">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0" anchor="ctr"/>
          <a:lstStyle/>
          <a:p>
            <a:pPr indent="457200">
              <a:lnSpc>
                <a:spcPct val="120000"/>
              </a:lnSpc>
            </a:pPr>
            <a:r>
              <a:rPr lang="zh-CN" altLang="en-US" dirty="0" smtClean="0">
                <a:solidFill>
                  <a:schemeClr val="tx2">
                    <a:lumMod val="50000"/>
                  </a:schemeClr>
                </a:solidFill>
              </a:rPr>
              <a:t>移动互联网仍然是资本市场最受青睐的领域之一，2014年，移动互联网领域再次掀起并购浪潮。我国企业并购交易金额创32年最高纪录，而移动互联网成为新一轮并购浪潮的重要推动力和投资领域，呈现出龙头企业加速移动互联网生态圈布局、跨界并购推进融合发展、新兴领域布局逐渐加快等新特征。</a:t>
            </a:r>
          </a:p>
        </p:txBody>
      </p:sp>
      <p:pic>
        <p:nvPicPr>
          <p:cNvPr id="13" name="图片 12" descr="timg (2).jpg"/>
          <p:cNvPicPr>
            <a:picLocks noChangeAspect="1"/>
          </p:cNvPicPr>
          <p:nvPr/>
        </p:nvPicPr>
        <p:blipFill>
          <a:blip r:embed="rId5" cstate="print"/>
          <a:stretch>
            <a:fillRect/>
          </a:stretch>
        </p:blipFill>
        <p:spPr>
          <a:xfrm>
            <a:off x="0" y="4366772"/>
            <a:ext cx="3336925" cy="1932428"/>
          </a:xfrm>
          <a:prstGeom prst="rect">
            <a:avLst/>
          </a:prstGeom>
        </p:spPr>
      </p:pic>
    </p:spTree>
  </p:cSld>
  <p:clrMapOvr>
    <a:masterClrMapping/>
  </p:clrMapOvr>
  <p:transition>
    <p:pull dir="d"/>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dirty="0">
                <a:solidFill>
                  <a:srgbClr val="FF0000"/>
                </a:solidFill>
                <a:sym typeface="+mn-ea"/>
              </a:rPr>
              <a:t>9.1  移动互联网简介</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9.1.</a:t>
            </a:r>
            <a:r>
              <a:rPr sz="2400" dirty="0" smtClean="0">
                <a:solidFill>
                  <a:schemeClr val="tx1"/>
                </a:solidFill>
              </a:rPr>
              <a:t>3  移动通信网络的发展</a:t>
            </a:r>
          </a:p>
        </p:txBody>
      </p:sp>
      <p:sp>
        <p:nvSpPr>
          <p:cNvPr id="10" name="MH_Desc_1"/>
          <p:cNvSpPr/>
          <p:nvPr>
            <p:custDataLst>
              <p:tags r:id="rId1"/>
            </p:custDataLst>
          </p:nvPr>
        </p:nvSpPr>
        <p:spPr>
          <a:xfrm>
            <a:off x="971549" y="2230120"/>
            <a:ext cx="7324725" cy="3961130"/>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fontAlgn="auto">
              <a:lnSpc>
                <a:spcPct val="150000"/>
              </a:lnSpc>
            </a:pPr>
            <a:r>
              <a:rPr lang="zh-CN" altLang="en-US" dirty="0" smtClean="0">
                <a:solidFill>
                  <a:schemeClr val="tx1"/>
                </a:solidFill>
                <a:latin typeface="微软雅黑" panose="020B0503020204020204" charset="-122"/>
                <a:ea typeface="微软雅黑" panose="020B0503020204020204" charset="-122"/>
                <a:cs typeface="Times New Roman" panose="02020603050405020304" pitchFamily="18" charset="0"/>
              </a:rPr>
              <a:t>2014年，以美国、欧盟、德国、日本为代表的主要国家和地区努力占领移动互联网发展的制高点，开始在产业互联网、健康医疗、智慧城市、信息安全等领域制订国家级政策。我国同样高度重视移动互联网相关领域的战略部署，国家层面，布局了移动芯片、云计算、移动即时通信、移动通信转售业务等领域；地方层面，湖南省成为国内首个明确出台以移动互联网为独立产业发展规划的省份，浙江省率先在信息经济领域发力、广东省对云计算发展和贵州省对大数据的高度重视，都体现了各省份正从不同侧面借力移动互联网加速经济转型升级。</a:t>
            </a:r>
          </a:p>
        </p:txBody>
      </p:sp>
      <p:pic>
        <p:nvPicPr>
          <p:cNvPr id="12" name="图片 11" descr="A000220150322J81PPIC.png"/>
          <p:cNvPicPr>
            <a:picLocks noChangeAspect="1"/>
          </p:cNvPicPr>
          <p:nvPr/>
        </p:nvPicPr>
        <p:blipFill>
          <a:blip r:embed="rId3" cstate="print"/>
          <a:stretch>
            <a:fillRect/>
          </a:stretch>
        </p:blipFill>
        <p:spPr>
          <a:xfrm>
            <a:off x="8836025" y="723900"/>
            <a:ext cx="2905086" cy="5454298"/>
          </a:xfrm>
          <a:prstGeom prst="rect">
            <a:avLst/>
          </a:prstGeom>
        </p:spPr>
      </p:pic>
    </p:spTree>
  </p:cSld>
  <p:clrMapOvr>
    <a:masterClrMapping/>
  </p:clrMapOvr>
  <p:transition>
    <p:pull dir="d"/>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dirty="0">
                <a:solidFill>
                  <a:srgbClr val="FF0000"/>
                </a:solidFill>
                <a:sym typeface="+mn-ea"/>
              </a:rPr>
              <a:t>9.1  移动互联网简介</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9.1.</a:t>
            </a:r>
            <a:r>
              <a:rPr sz="2400" dirty="0" smtClean="0">
                <a:solidFill>
                  <a:schemeClr val="tx1"/>
                </a:solidFill>
              </a:rPr>
              <a:t>4  移动互联网的应用领域</a:t>
            </a:r>
          </a:p>
        </p:txBody>
      </p:sp>
      <p:grpSp>
        <p:nvGrpSpPr>
          <p:cNvPr id="7" name="组合 6"/>
          <p:cNvGrpSpPr/>
          <p:nvPr/>
        </p:nvGrpSpPr>
        <p:grpSpPr>
          <a:xfrm>
            <a:off x="0" y="2412365"/>
            <a:ext cx="12192000" cy="3074035"/>
            <a:chOff x="0" y="3848"/>
            <a:chExt cx="19200" cy="4841"/>
          </a:xfrm>
        </p:grpSpPr>
        <p:sp>
          <p:nvSpPr>
            <p:cNvPr id="18" name="矩形 17"/>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876" y="4577"/>
              <a:ext cx="10300" cy="3384"/>
            </a:xfrm>
            <a:prstGeom prst="rect">
              <a:avLst/>
            </a:prstGeom>
          </p:spPr>
          <p:txBody>
            <a:bodyPr wrap="square">
              <a:spAutoFit/>
            </a:bodyPr>
            <a:lstStyle/>
            <a:p>
              <a:pPr indent="457200">
                <a:lnSpc>
                  <a:spcPct val="150000"/>
                </a:lnSpc>
                <a:defRPr/>
              </a:pPr>
              <a:r>
                <a:rPr lang="en-US" altLang="zh-CN" kern="0" smtClean="0">
                  <a:solidFill>
                    <a:schemeClr val="bg1"/>
                  </a:solidFill>
                  <a:latin typeface="微软雅黑" panose="020B0503020204020204" charset="-122"/>
                  <a:ea typeface="微软雅黑" panose="020B0503020204020204" charset="-122"/>
                  <a:cs typeface="宋体" panose="02010600030101010101" pitchFamily="2" charset="-122"/>
                </a:rPr>
                <a:t>中国移动通过“移动梦网”的实践和创新，带动移动互联网不断开辟新的服务领域，提供更多有价值的信息资源，促进移动互联网市场不断壮大，推动通信走向繁荣。在中国移动统一号召和监管下，各个服务提供商充分利用自身的资源优势，开展了众多令人耳目一新的短信应用。</a:t>
              </a:r>
            </a:p>
          </p:txBody>
        </p:sp>
      </p:grpSp>
      <p:pic>
        <p:nvPicPr>
          <p:cNvPr id="2" name="图片 1" descr="00300009066_36a06a8f"/>
          <p:cNvPicPr>
            <a:picLocks noChangeAspect="1"/>
          </p:cNvPicPr>
          <p:nvPr/>
        </p:nvPicPr>
        <p:blipFill>
          <a:blip r:embed="rId2" cstate="print"/>
          <a:stretch>
            <a:fillRect/>
          </a:stretch>
        </p:blipFill>
        <p:spPr>
          <a:xfrm>
            <a:off x="7252335" y="2640330"/>
            <a:ext cx="4571365" cy="2618740"/>
          </a:xfrm>
          <a:prstGeom prst="rect">
            <a:avLst/>
          </a:prstGeom>
        </p:spPr>
      </p:pic>
    </p:spTree>
  </p:cSld>
  <p:clrMapOvr>
    <a:masterClrMapping/>
  </p:clrMapOvr>
  <p:transition>
    <p:pull dir="d"/>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dirty="0">
                <a:solidFill>
                  <a:srgbClr val="FF0000"/>
                </a:solidFill>
                <a:sym typeface="+mn-ea"/>
              </a:rPr>
              <a:t>9.1  移动互联网简介</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9.1.</a:t>
            </a:r>
            <a:r>
              <a:rPr sz="2400" dirty="0" smtClean="0">
                <a:solidFill>
                  <a:schemeClr val="tx1"/>
                </a:solidFill>
              </a:rPr>
              <a:t>4  移动互联网的应用领域</a:t>
            </a:r>
          </a:p>
        </p:txBody>
      </p:sp>
      <p:grpSp>
        <p:nvGrpSpPr>
          <p:cNvPr id="4" name="组合 3"/>
          <p:cNvGrpSpPr/>
          <p:nvPr/>
        </p:nvGrpSpPr>
        <p:grpSpPr>
          <a:xfrm>
            <a:off x="620899" y="2322041"/>
            <a:ext cx="5201920" cy="3308985"/>
            <a:chOff x="1630" y="5726"/>
            <a:chExt cx="8192" cy="5211"/>
          </a:xfrm>
        </p:grpSpPr>
        <p:cxnSp>
          <p:nvCxnSpPr>
            <p:cNvPr id="5" name="MH_Other_1"/>
            <p:cNvCxnSpPr/>
            <p:nvPr/>
          </p:nvCxnSpPr>
          <p:spPr>
            <a:xfrm flipH="1">
              <a:off x="2470" y="6041"/>
              <a:ext cx="1545" cy="145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8" name="MH_SubTitle_1"/>
            <p:cNvSpPr txBox="1">
              <a:spLocks noChangeArrowheads="1"/>
            </p:cNvSpPr>
            <p:nvPr/>
          </p:nvSpPr>
          <p:spPr bwMode="auto">
            <a:xfrm>
              <a:off x="3289" y="6041"/>
              <a:ext cx="6533" cy="4896"/>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2060"/>
                  </a:solidFill>
                </a:rPr>
                <a:t>资讯</a:t>
              </a:r>
            </a:p>
            <a:p>
              <a:pPr indent="457200" fontAlgn="auto">
                <a:lnSpc>
                  <a:spcPct val="130000"/>
                </a:lnSpc>
              </a:pPr>
              <a:r>
                <a:rPr lang="zh-CN" altLang="en-US" dirty="0">
                  <a:ea typeface="微软雅黑" panose="020B0503020204020204" charset="-122"/>
                </a:rPr>
                <a:t>以新闻定制为代表的媒体短信服务，是许多普通用户最早的也是大规模使用的短信服务。对于像搜狐、新浪这样的网站而言，新闻短信几乎是零成本，它们几乎可以提供国内最好的媒体短信服务。这种资讯定制服务已经从新闻走向社会生活的各个领域，股票、天气、商场、保险等。</a:t>
              </a:r>
            </a:p>
          </p:txBody>
        </p:sp>
        <p:sp>
          <p:nvSpPr>
            <p:cNvPr id="9"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2060"/>
                  </a:solidFill>
                  <a:latin typeface="Agency FB" panose="020B0503020202020204" pitchFamily="34" charset="0"/>
                  <a:ea typeface="微软雅黑" panose="020B0503020204020204" charset="-122"/>
                </a:rPr>
                <a:t>1</a:t>
              </a:r>
            </a:p>
          </p:txBody>
        </p:sp>
      </p:grpSp>
      <p:grpSp>
        <p:nvGrpSpPr>
          <p:cNvPr id="10" name="组合 9"/>
          <p:cNvGrpSpPr/>
          <p:nvPr/>
        </p:nvGrpSpPr>
        <p:grpSpPr>
          <a:xfrm>
            <a:off x="6453374" y="1570836"/>
            <a:ext cx="5524500" cy="1719580"/>
            <a:chOff x="1630" y="5726"/>
            <a:chExt cx="8700" cy="2708"/>
          </a:xfrm>
        </p:grpSpPr>
        <p:cxnSp>
          <p:nvCxnSpPr>
            <p:cNvPr id="11"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12"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3" name="MH_SubTitle_1"/>
            <p:cNvSpPr txBox="1">
              <a:spLocks noChangeArrowheads="1"/>
            </p:cNvSpPr>
            <p:nvPr/>
          </p:nvSpPr>
          <p:spPr bwMode="auto">
            <a:xfrm>
              <a:off x="3207" y="5851"/>
              <a:ext cx="7123" cy="2583"/>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B0F0"/>
                  </a:solidFill>
                </a:rPr>
                <a:t>沟通</a:t>
              </a:r>
            </a:p>
            <a:p>
              <a:pPr indent="457200" algn="l" fontAlgn="auto">
                <a:lnSpc>
                  <a:spcPct val="130000"/>
                </a:lnSpc>
              </a:pPr>
              <a:r>
                <a:rPr lang="zh-CN" altLang="en-US" dirty="0">
                  <a:ea typeface="微软雅黑" panose="020B0503020204020204" charset="-122"/>
                </a:rPr>
                <a:t>微信、QQ的使用面越来越大，使手机用户和QQ用户实现双向交流，让即时通信得到新的发展。</a:t>
              </a:r>
            </a:p>
          </p:txBody>
        </p:sp>
        <p:sp>
          <p:nvSpPr>
            <p:cNvPr id="14"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A8E7"/>
                  </a:solidFill>
                  <a:latin typeface="Agency FB" panose="020B0503020202020204" pitchFamily="34" charset="0"/>
                  <a:ea typeface="微软雅黑" panose="020B0503020204020204" charset="-122"/>
                </a:rPr>
                <a:t>2</a:t>
              </a:r>
            </a:p>
          </p:txBody>
        </p:sp>
      </p:grpSp>
      <p:grpSp>
        <p:nvGrpSpPr>
          <p:cNvPr id="15" name="组合 14"/>
          <p:cNvGrpSpPr/>
          <p:nvPr/>
        </p:nvGrpSpPr>
        <p:grpSpPr>
          <a:xfrm>
            <a:off x="6453374" y="3393133"/>
            <a:ext cx="5401945" cy="2851150"/>
            <a:chOff x="1840" y="2871"/>
            <a:chExt cx="8507" cy="4490"/>
          </a:xfrm>
        </p:grpSpPr>
        <p:cxnSp>
          <p:nvCxnSpPr>
            <p:cNvPr id="16" name="MH_Other_4"/>
            <p:cNvCxnSpPr/>
            <p:nvPr/>
          </p:nvCxnSpPr>
          <p:spPr>
            <a:xfrm flipH="1">
              <a:off x="2680" y="3183"/>
              <a:ext cx="1545" cy="1450"/>
            </a:xfrm>
            <a:prstGeom prst="line">
              <a:avLst/>
            </a:prstGeom>
            <a:ln w="381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7"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20" name="MH_SubTitle_2"/>
            <p:cNvSpPr txBox="1">
              <a:spLocks noChangeArrowheads="1"/>
            </p:cNvSpPr>
            <p:nvPr/>
          </p:nvSpPr>
          <p:spPr bwMode="auto">
            <a:xfrm>
              <a:off x="3417" y="3183"/>
              <a:ext cx="6930" cy="4178"/>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6">
                      <a:lumMod val="60000"/>
                      <a:lumOff val="40000"/>
                    </a:schemeClr>
                  </a:solidFill>
                  <a:ea typeface="微软雅黑" panose="020B0503020204020204" charset="-122"/>
                </a:rPr>
                <a:t>手机上网业务</a:t>
              </a:r>
            </a:p>
            <a:p>
              <a:pPr indent="457200" fontAlgn="auto">
                <a:lnSpc>
                  <a:spcPct val="130000"/>
                </a:lnSpc>
              </a:pPr>
              <a:r>
                <a:rPr lang="zh-CN" altLang="en-US" dirty="0">
                  <a:solidFill>
                    <a:schemeClr val="tx1"/>
                  </a:solidFill>
                  <a:ea typeface="微软雅黑" panose="020B0503020204020204" charset="-122"/>
                </a:rPr>
                <a:t>手机上网主要提供两种接入方式：手机+笔记本电脑的移动互联网接入；移动电话用户通过数据套件，将手机与笔记本电脑连接后，拨打接入号，笔记本电脑即可通过移动交换机的网络互联模块IWF，接入移动互联网。</a:t>
              </a:r>
            </a:p>
          </p:txBody>
        </p:sp>
        <p:sp>
          <p:nvSpPr>
            <p:cNvPr id="21"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3600" b="1">
                  <a:solidFill>
                    <a:schemeClr val="accent6">
                      <a:lumMod val="60000"/>
                      <a:lumOff val="40000"/>
                    </a:schemeClr>
                  </a:solidFill>
                  <a:latin typeface="Agency FB" panose="020B0503020202020204" pitchFamily="34" charset="0"/>
                  <a:ea typeface="微软雅黑" panose="020B0503020204020204" charset="-122"/>
                </a:rPr>
                <a:t>3</a:t>
              </a:r>
            </a:p>
          </p:txBody>
        </p:sp>
      </p:grpSp>
    </p:spTree>
  </p:cSld>
  <p:clrMapOvr>
    <a:masterClrMapping/>
  </p:clrMapOvr>
  <p:transition>
    <p:pull dir="d"/>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dirty="0">
                <a:solidFill>
                  <a:srgbClr val="FF0000"/>
                </a:solidFill>
                <a:sym typeface="+mn-ea"/>
              </a:rPr>
              <a:t>9.1  移动互联网简介</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9.1.</a:t>
            </a:r>
            <a:r>
              <a:rPr sz="2400" dirty="0" smtClean="0">
                <a:solidFill>
                  <a:schemeClr val="tx1"/>
                </a:solidFill>
              </a:rPr>
              <a:t>4  移动互联网的应用领域</a:t>
            </a:r>
          </a:p>
        </p:txBody>
      </p:sp>
      <p:grpSp>
        <p:nvGrpSpPr>
          <p:cNvPr id="18" name="组合 17"/>
          <p:cNvGrpSpPr/>
          <p:nvPr/>
        </p:nvGrpSpPr>
        <p:grpSpPr>
          <a:xfrm>
            <a:off x="802509" y="2165196"/>
            <a:ext cx="10521315" cy="3396615"/>
            <a:chOff x="1630" y="5726"/>
            <a:chExt cx="16569" cy="5349"/>
          </a:xfrm>
        </p:grpSpPr>
        <p:cxnSp>
          <p:nvCxnSpPr>
            <p:cNvPr id="19" name="MH_Other_1"/>
            <p:cNvCxnSpPr/>
            <p:nvPr/>
          </p:nvCxnSpPr>
          <p:spPr>
            <a:xfrm flipH="1">
              <a:off x="2470" y="6041"/>
              <a:ext cx="1545" cy="145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0"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21" name="MH_SubTitle_1"/>
            <p:cNvSpPr txBox="1">
              <a:spLocks noChangeArrowheads="1"/>
            </p:cNvSpPr>
            <p:nvPr/>
          </p:nvSpPr>
          <p:spPr bwMode="auto">
            <a:xfrm>
              <a:off x="3229" y="6350"/>
              <a:ext cx="14970" cy="4725"/>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2">
                      <a:lumMod val="60000"/>
                      <a:lumOff val="40000"/>
                    </a:schemeClr>
                  </a:solidFill>
                </a:rPr>
                <a:t>WAP手机上网</a:t>
              </a:r>
            </a:p>
            <a:p>
              <a:pPr indent="457200" fontAlgn="auto">
                <a:lnSpc>
                  <a:spcPct val="130000"/>
                </a:lnSpc>
              </a:pPr>
              <a:r>
                <a:rPr lang="zh-CN" altLang="en-US" dirty="0">
                  <a:ea typeface="微软雅黑" panose="020B0503020204020204" charset="-122"/>
                </a:rPr>
                <a:t>WAP是移动信息化建设中最具个人化特色的电子商务工具。移动用户通过使用WAP手机的菜单提示，可直接通过GSM网接入移动互联网，网上可提供WAP、短消息、E-mail、传真、电子商务、位置信息服务等具有移动特色的互联网服务。</a:t>
              </a:r>
            </a:p>
            <a:p>
              <a:pPr indent="457200" fontAlgn="auto">
                <a:lnSpc>
                  <a:spcPct val="130000"/>
                </a:lnSpc>
              </a:pPr>
              <a:r>
                <a:rPr lang="zh-CN" altLang="en-US" dirty="0">
                  <a:ea typeface="微软雅黑" panose="020B0503020204020204" charset="-122"/>
                </a:rPr>
                <a:t>WAP手机上网，主要是三大方面的应用：公众服务、个人信息服务和商业应用。公众服务可为用户实时提供最新的天气、新闻、交通、股票等信息；个人信息服务包括浏览网页查找信息、查址查号、收发电子邮件和传真、统一传信、电话增值业务等；商业应用除了办公应用外，移动商务是最主要、最有潜力的应用。</a:t>
              </a:r>
            </a:p>
          </p:txBody>
        </p:sp>
        <p:sp>
          <p:nvSpPr>
            <p:cNvPr id="22"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chemeClr val="accent2">
                      <a:lumMod val="60000"/>
                      <a:lumOff val="40000"/>
                    </a:schemeClr>
                  </a:solidFill>
                  <a:latin typeface="Agency FB" panose="020B0503020202020204" pitchFamily="34" charset="0"/>
                  <a:ea typeface="微软雅黑" panose="020B0503020204020204" charset="-122"/>
                </a:rPr>
                <a:t>4</a:t>
              </a:r>
            </a:p>
          </p:txBody>
        </p:sp>
      </p:grpSp>
      <p:pic>
        <p:nvPicPr>
          <p:cNvPr id="9" name="图片 8" descr="u=1964387185,742777218&amp;fm=21&amp;gp=0.jpg"/>
          <p:cNvPicPr>
            <a:picLocks noChangeAspect="1"/>
          </p:cNvPicPr>
          <p:nvPr/>
        </p:nvPicPr>
        <p:blipFill>
          <a:blip r:embed="rId2" cstate="print"/>
          <a:stretch>
            <a:fillRect/>
          </a:stretch>
        </p:blipFill>
        <p:spPr>
          <a:xfrm>
            <a:off x="7519916" y="252200"/>
            <a:ext cx="3585025" cy="2457026"/>
          </a:xfrm>
          <a:prstGeom prst="rect">
            <a:avLst/>
          </a:prstGeom>
        </p:spPr>
      </p:pic>
    </p:spTree>
  </p:cSld>
  <p:clrMapOvr>
    <a:masterClrMapping/>
  </p:clrMapOvr>
  <p:transition>
    <p:pull dir="d"/>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dirty="0">
                <a:solidFill>
                  <a:srgbClr val="FF0000"/>
                </a:solidFill>
                <a:sym typeface="+mn-ea"/>
              </a:rPr>
              <a:t>9.1  移动互联网简介</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9.1.</a:t>
            </a:r>
            <a:r>
              <a:rPr sz="2400" dirty="0" smtClean="0">
                <a:solidFill>
                  <a:schemeClr val="tx1"/>
                </a:solidFill>
              </a:rPr>
              <a:t>4  移动互联网的应用领域</a:t>
            </a:r>
          </a:p>
        </p:txBody>
      </p:sp>
      <p:grpSp>
        <p:nvGrpSpPr>
          <p:cNvPr id="23" name="组合 22"/>
          <p:cNvGrpSpPr/>
          <p:nvPr/>
        </p:nvGrpSpPr>
        <p:grpSpPr>
          <a:xfrm>
            <a:off x="958719" y="2304743"/>
            <a:ext cx="10273665" cy="3272155"/>
            <a:chOff x="1840" y="2871"/>
            <a:chExt cx="16179" cy="5153"/>
          </a:xfrm>
        </p:grpSpPr>
        <p:cxnSp>
          <p:nvCxnSpPr>
            <p:cNvPr id="24" name="MH_Other_4"/>
            <p:cNvCxnSpPr/>
            <p:nvPr/>
          </p:nvCxnSpPr>
          <p:spPr>
            <a:xfrm flipH="1">
              <a:off x="2680" y="3183"/>
              <a:ext cx="1545" cy="1450"/>
            </a:xfrm>
            <a:prstGeom prst="line">
              <a:avLst/>
            </a:prstGeom>
            <a:ln w="38100">
              <a:solidFill>
                <a:srgbClr val="58B933"/>
              </a:solidFill>
            </a:ln>
          </p:spPr>
          <p:style>
            <a:lnRef idx="1">
              <a:schemeClr val="accent1"/>
            </a:lnRef>
            <a:fillRef idx="0">
              <a:schemeClr val="accent1"/>
            </a:fillRef>
            <a:effectRef idx="0">
              <a:schemeClr val="accent1"/>
            </a:effectRef>
            <a:fontRef idx="minor">
              <a:schemeClr val="tx1"/>
            </a:fontRef>
          </p:style>
        </p:cxnSp>
        <p:sp>
          <p:nvSpPr>
            <p:cNvPr id="25"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58B93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26" name="MH_SubTitle_2"/>
            <p:cNvSpPr txBox="1">
              <a:spLocks noChangeArrowheads="1"/>
            </p:cNvSpPr>
            <p:nvPr/>
          </p:nvSpPr>
          <p:spPr bwMode="auto">
            <a:xfrm>
              <a:off x="3035" y="3518"/>
              <a:ext cx="14984" cy="4506"/>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92D050"/>
                  </a:solidFill>
                  <a:ea typeface="微软雅黑" panose="020B0503020204020204" charset="-122"/>
                </a:rPr>
                <a:t>移动电子商务</a:t>
              </a:r>
            </a:p>
            <a:p>
              <a:pPr indent="457200" fontAlgn="auto">
                <a:lnSpc>
                  <a:spcPct val="130000"/>
                </a:lnSpc>
              </a:pPr>
              <a:r>
                <a:rPr lang="zh-CN" altLang="en-US" dirty="0">
                  <a:solidFill>
                    <a:schemeClr val="tx1"/>
                  </a:solidFill>
                  <a:ea typeface="微软雅黑" panose="020B0503020204020204" charset="-122"/>
                </a:rPr>
                <a:t>所谓移动电子商务，是指手机、掌上电脑、笔记本电脑等移动通信设备与无线上网技术结合所构成的一个电子商务体系。到2015年上半年，手机上网量连续6个月翻倍增长。受4G移动电话用户快速增加，4G资费下降，微信等即时通信软件使用等的影响，移动互联网接入流量创历史新高，而同期移动电话通话量和短信业务量下滑。所以，移动数据业务同样具有巨大的市场潜力，对运营商而言，无线网络能否提供有吸引力的数据业务则是吸引高附加值用户的必要条件。</a:t>
              </a:r>
            </a:p>
          </p:txBody>
        </p:sp>
        <p:sp>
          <p:nvSpPr>
            <p:cNvPr id="27"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58B933"/>
                  </a:solidFill>
                  <a:latin typeface="Agency FB" panose="020B0503020202020204" pitchFamily="34" charset="0"/>
                  <a:ea typeface="微软雅黑" panose="020B0503020204020204" charset="-122"/>
                </a:rPr>
                <a:t>5</a:t>
              </a:r>
            </a:p>
          </p:txBody>
        </p:sp>
      </p:grpSp>
      <p:pic>
        <p:nvPicPr>
          <p:cNvPr id="9" name="图片 8" descr="爱谁谁所所所所所所所.png"/>
          <p:cNvPicPr>
            <a:picLocks noChangeAspect="1"/>
          </p:cNvPicPr>
          <p:nvPr/>
        </p:nvPicPr>
        <p:blipFill>
          <a:blip r:embed="rId2" cstate="print"/>
          <a:stretch>
            <a:fillRect/>
          </a:stretch>
        </p:blipFill>
        <p:spPr>
          <a:xfrm>
            <a:off x="7506270" y="204716"/>
            <a:ext cx="3505371" cy="2865756"/>
          </a:xfrm>
          <a:prstGeom prst="rect">
            <a:avLst/>
          </a:prstGeom>
        </p:spPr>
      </p:pic>
    </p:spTree>
  </p:cSld>
  <p:clrMapOvr>
    <a:masterClrMapping/>
  </p:clrMapOvr>
  <p:transition>
    <p:pull dir="d"/>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dirty="0">
                <a:solidFill>
                  <a:srgbClr val="FF0000"/>
                </a:solidFill>
                <a:sym typeface="+mn-ea"/>
              </a:rPr>
              <a:t>9.1  移动互联网简介</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9.1.</a:t>
            </a:r>
            <a:r>
              <a:rPr sz="2400" dirty="0" smtClean="0">
                <a:solidFill>
                  <a:schemeClr val="tx1"/>
                </a:solidFill>
              </a:rPr>
              <a:t>4  移动互联网的应用领域</a:t>
            </a:r>
          </a:p>
        </p:txBody>
      </p:sp>
      <p:grpSp>
        <p:nvGrpSpPr>
          <p:cNvPr id="8" name="组合 7"/>
          <p:cNvGrpSpPr/>
          <p:nvPr/>
        </p:nvGrpSpPr>
        <p:grpSpPr>
          <a:xfrm>
            <a:off x="754249" y="2217748"/>
            <a:ext cx="10819130" cy="3644265"/>
            <a:chOff x="1840" y="2871"/>
            <a:chExt cx="17038" cy="5739"/>
          </a:xfrm>
        </p:grpSpPr>
        <p:cxnSp>
          <p:nvCxnSpPr>
            <p:cNvPr id="9" name="MH_Other_4"/>
            <p:cNvCxnSpPr/>
            <p:nvPr/>
          </p:nvCxnSpPr>
          <p:spPr>
            <a:xfrm flipH="1">
              <a:off x="2680" y="3183"/>
              <a:ext cx="1545" cy="145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1" name="MH_SubTitle_2"/>
            <p:cNvSpPr txBox="1">
              <a:spLocks noChangeArrowheads="1"/>
            </p:cNvSpPr>
            <p:nvPr/>
          </p:nvSpPr>
          <p:spPr bwMode="auto">
            <a:xfrm>
              <a:off x="3455" y="3183"/>
              <a:ext cx="15423" cy="5427"/>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C00000"/>
                  </a:solidFill>
                  <a:ea typeface="微软雅黑" panose="020B0503020204020204" charset="-122"/>
                </a:rPr>
                <a:t>Java技术应用</a:t>
              </a:r>
            </a:p>
            <a:p>
              <a:pPr indent="457200" fontAlgn="auto">
                <a:lnSpc>
                  <a:spcPct val="130000"/>
                </a:lnSpc>
              </a:pPr>
              <a:r>
                <a:rPr lang="zh-CN" altLang="en-US" dirty="0">
                  <a:solidFill>
                    <a:schemeClr val="tx1"/>
                  </a:solidFill>
                  <a:ea typeface="微软雅黑" panose="020B0503020204020204" charset="-122"/>
                </a:rPr>
                <a:t>J2ME是一种Java技术在小型器件上应用的版本，它是将Java技术优化，使之专门为在移动电话和PDA这样内存有限的设备上运行的技术。J2ME技术使交互式服务得以实现，完全超出了今天基于文本的静态的内容服务。它通过对无线器件上易用的、图形化的交互式服务的支持，使消费者有了更为丰富的服务享受。</a:t>
              </a:r>
            </a:p>
            <a:p>
              <a:pPr indent="457200" fontAlgn="auto">
                <a:lnSpc>
                  <a:spcPct val="130000"/>
                </a:lnSpc>
              </a:pPr>
              <a:r>
                <a:rPr lang="zh-CN" altLang="en-US" dirty="0">
                  <a:solidFill>
                    <a:schemeClr val="tx1"/>
                  </a:solidFill>
                  <a:ea typeface="微软雅黑" panose="020B0503020204020204" charset="-122"/>
                </a:rPr>
                <a:t>因此，在采用J2ME技术的手机和其他无线器件上，用户就可在交互的在线状态下和脱机状态下下载新的服务，如个性化股票动态报价、实时天气预报和电子游戏等。据介绍，绝大多数无线开发商都采用J2ME平台编写应用程序软件。可以说，在Java技术的帮助下，小小的无线终端设备才有可能实现诸如游戏、图形等多种信息的下载、传递。</a:t>
              </a:r>
            </a:p>
          </p:txBody>
        </p:sp>
        <p:sp>
          <p:nvSpPr>
            <p:cNvPr id="12"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C00000"/>
                  </a:solidFill>
                  <a:latin typeface="Agency FB" panose="020B0503020202020204" pitchFamily="34" charset="0"/>
                  <a:ea typeface="微软雅黑" panose="020B0503020204020204" charset="-122"/>
                </a:rPr>
                <a:t>6</a:t>
              </a:r>
            </a:p>
          </p:txBody>
        </p:sp>
      </p:grpSp>
      <p:pic>
        <p:nvPicPr>
          <p:cNvPr id="13" name="图片 12" descr="u=2931979037,3275175399&amp;fm=21&amp;gp=0.jpg"/>
          <p:cNvPicPr>
            <a:picLocks noChangeAspect="1"/>
          </p:cNvPicPr>
          <p:nvPr/>
        </p:nvPicPr>
        <p:blipFill>
          <a:blip r:embed="rId2" cstate="print"/>
          <a:srcRect b="5875"/>
          <a:stretch>
            <a:fillRect/>
          </a:stretch>
        </p:blipFill>
        <p:spPr>
          <a:xfrm>
            <a:off x="7174885" y="716223"/>
            <a:ext cx="3219450" cy="1972386"/>
          </a:xfrm>
          <a:prstGeom prst="rect">
            <a:avLst/>
          </a:prstGeom>
        </p:spPr>
      </p:pic>
    </p:spTree>
  </p:cSld>
  <p:clrMapOvr>
    <a:masterClrMapping/>
  </p:clrMapOvr>
  <p:transition>
    <p:pull dir="d"/>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dirty="0">
                <a:solidFill>
                  <a:srgbClr val="FF0000"/>
                </a:solidFill>
                <a:sym typeface="+mn-ea"/>
              </a:rPr>
              <a:t>9.1  移动互联网简介</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9.1.</a:t>
            </a:r>
            <a:r>
              <a:rPr sz="2400" dirty="0" smtClean="0">
                <a:solidFill>
                  <a:schemeClr val="tx1"/>
                </a:solidFill>
              </a:rPr>
              <a:t>4  移动互联网的应用领域</a:t>
            </a:r>
          </a:p>
        </p:txBody>
      </p:sp>
      <p:grpSp>
        <p:nvGrpSpPr>
          <p:cNvPr id="2" name="组合 1"/>
          <p:cNvGrpSpPr/>
          <p:nvPr/>
        </p:nvGrpSpPr>
        <p:grpSpPr>
          <a:xfrm>
            <a:off x="802509" y="2196311"/>
            <a:ext cx="10843260" cy="3914140"/>
            <a:chOff x="1630" y="5726"/>
            <a:chExt cx="17076" cy="6164"/>
          </a:xfrm>
        </p:grpSpPr>
        <p:cxnSp>
          <p:nvCxnSpPr>
            <p:cNvPr id="4" name="MH_Other_1"/>
            <p:cNvCxnSpPr/>
            <p:nvPr/>
          </p:nvCxnSpPr>
          <p:spPr>
            <a:xfrm flipH="1">
              <a:off x="2470" y="6041"/>
              <a:ext cx="1545" cy="1450"/>
            </a:xfrm>
            <a:prstGeom prst="line">
              <a:avLst/>
            </a:prstGeom>
            <a:ln w="381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6" name="MH_SubTitle_1"/>
            <p:cNvSpPr txBox="1">
              <a:spLocks noChangeArrowheads="1"/>
            </p:cNvSpPr>
            <p:nvPr/>
          </p:nvSpPr>
          <p:spPr bwMode="auto">
            <a:xfrm>
              <a:off x="3283" y="6041"/>
              <a:ext cx="15423" cy="584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3">
                      <a:lumMod val="75000"/>
                    </a:schemeClr>
                  </a:solidFill>
                </a:rPr>
                <a:t>物联网</a:t>
              </a:r>
            </a:p>
            <a:p>
              <a:pPr indent="457200" fontAlgn="auto">
                <a:lnSpc>
                  <a:spcPct val="120000"/>
                </a:lnSpc>
              </a:pPr>
              <a:r>
                <a:rPr lang="zh-CN" altLang="en-US" dirty="0">
                  <a:ea typeface="微软雅黑" panose="020B0503020204020204" charset="-122"/>
                </a:rPr>
                <a:t>物联网（Internet of Things，IoT）就是物物相连的互联网，它的核心和基础是互联网。物联网通过各种信息传感设备，实时采集任何需要监控、连接、互动的物体或过程等各种需要的信息，用全球定位系统等与互联网结合，形成一个巨大网络。其目的是形成人与物、物与物相联，实现信息化、远程管理控制和智能化网络。</a:t>
              </a:r>
            </a:p>
            <a:p>
              <a:pPr indent="457200" fontAlgn="auto">
                <a:lnSpc>
                  <a:spcPct val="120000"/>
                </a:lnSpc>
              </a:pPr>
              <a:r>
                <a:rPr lang="zh-CN" altLang="en-US" dirty="0">
                  <a:ea typeface="微软雅黑" panose="020B0503020204020204" charset="-122"/>
                </a:rPr>
                <a:t>物联网基于云计算平台和智能网络，可以依据传感器网络用获取的数据进行决策，改变对象的行为进行控制和反馈。智能化是信息化与工业化“两化融合”的必然途径，其技术核心无疑就是物联网。</a:t>
              </a:r>
            </a:p>
            <a:p>
              <a:pPr indent="457200" fontAlgn="auto">
                <a:lnSpc>
                  <a:spcPct val="120000"/>
                </a:lnSpc>
              </a:pPr>
              <a:r>
                <a:rPr lang="zh-CN" altLang="en-US" dirty="0">
                  <a:ea typeface="微软雅黑" panose="020B0503020204020204" charset="-122"/>
                </a:rPr>
                <a:t>物联网是互联网的延伸，它包括互联网及互联网上所有的资源，兼容互联网所有的应用，但物联网中所有的元素（所有的设备、资源及通信等）都是个性化和私有化的。</a:t>
              </a:r>
            </a:p>
          </p:txBody>
        </p:sp>
        <p:sp>
          <p:nvSpPr>
            <p:cNvPr id="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chemeClr val="accent3">
                      <a:lumMod val="75000"/>
                    </a:schemeClr>
                  </a:solidFill>
                  <a:latin typeface="Agency FB" panose="020B0503020202020204" pitchFamily="34" charset="0"/>
                  <a:ea typeface="微软雅黑" panose="020B0503020204020204" charset="-122"/>
                </a:rPr>
                <a:t>7</a:t>
              </a:r>
            </a:p>
          </p:txBody>
        </p:sp>
      </p:grpSp>
      <p:pic>
        <p:nvPicPr>
          <p:cNvPr id="9" name="图片 8" descr="timg (3).jpg"/>
          <p:cNvPicPr>
            <a:picLocks noChangeAspect="1"/>
          </p:cNvPicPr>
          <p:nvPr/>
        </p:nvPicPr>
        <p:blipFill>
          <a:blip r:embed="rId2" cstate="print"/>
          <a:stretch>
            <a:fillRect/>
          </a:stretch>
        </p:blipFill>
        <p:spPr>
          <a:xfrm>
            <a:off x="8202304" y="226843"/>
            <a:ext cx="2966019" cy="2623550"/>
          </a:xfrm>
          <a:prstGeom prst="rect">
            <a:avLst/>
          </a:prstGeom>
        </p:spPr>
      </p:pic>
    </p:spTree>
  </p:cSld>
  <p:clrMapOvr>
    <a:masterClrMapping/>
  </p:clrMapOvr>
  <p:transition>
    <p:pull dir="d"/>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dirty="0">
                <a:solidFill>
                  <a:srgbClr val="FF0000"/>
                </a:solidFill>
                <a:sym typeface="+mn-ea"/>
              </a:rPr>
              <a:t>9.1  移动互联网简介</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9.1.</a:t>
            </a:r>
            <a:r>
              <a:rPr sz="2400" dirty="0" smtClean="0">
                <a:solidFill>
                  <a:schemeClr val="tx1"/>
                </a:solidFill>
              </a:rPr>
              <a:t>5  移动互联网的主要特征</a:t>
            </a:r>
          </a:p>
        </p:txBody>
      </p:sp>
      <p:grpSp>
        <p:nvGrpSpPr>
          <p:cNvPr id="7" name="组合 6"/>
          <p:cNvGrpSpPr/>
          <p:nvPr/>
        </p:nvGrpSpPr>
        <p:grpSpPr>
          <a:xfrm>
            <a:off x="0" y="2412365"/>
            <a:ext cx="12192000" cy="3074035"/>
            <a:chOff x="0" y="3848"/>
            <a:chExt cx="19200" cy="4841"/>
          </a:xfrm>
        </p:grpSpPr>
        <p:sp>
          <p:nvSpPr>
            <p:cNvPr id="18" name="矩形 17"/>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901" y="4253"/>
              <a:ext cx="10300" cy="4032"/>
            </a:xfrm>
            <a:prstGeom prst="rect">
              <a:avLst/>
            </a:prstGeom>
          </p:spPr>
          <p:txBody>
            <a:bodyPr wrap="square">
              <a:spAutoFit/>
            </a:bodyPr>
            <a:lstStyle/>
            <a:p>
              <a:pPr indent="457200">
                <a:lnSpc>
                  <a:spcPct val="150000"/>
                </a:lnSpc>
                <a:defRPr/>
              </a:pPr>
              <a:r>
                <a:rPr lang="en-US" altLang="zh-CN" kern="0" smtClean="0">
                  <a:solidFill>
                    <a:schemeClr val="bg1"/>
                  </a:solidFill>
                  <a:latin typeface="微软雅黑" panose="020B0503020204020204" charset="-122"/>
                  <a:ea typeface="微软雅黑" panose="020B0503020204020204" charset="-122"/>
                  <a:cs typeface="宋体" panose="02010600030101010101" pitchFamily="2" charset="-122"/>
                </a:rPr>
                <a:t>移动互联网是在传统的互联网基础上发展起来的，它不仅具有传统互联网的特性，而且具有移动通信的特性。移动互联网业务的特点不仅体现在移动性上，可以随时随地随心地享受互联网业务带来的便捷，还表现在更丰富的业务种类、个性化的服务和更高服务质量的保证。当然，移动互联网在终端和网络方面也受到了一定的限制</a:t>
              </a:r>
              <a:r>
                <a:rPr lang="zh-CN" altLang="en-US" kern="0" smtClean="0">
                  <a:solidFill>
                    <a:schemeClr val="bg1"/>
                  </a:solidFill>
                  <a:latin typeface="微软雅黑" panose="020B0503020204020204" charset="-122"/>
                  <a:ea typeface="微软雅黑" panose="020B0503020204020204" charset="-122"/>
                  <a:cs typeface="宋体" panose="02010600030101010101" pitchFamily="2" charset="-122"/>
                </a:rPr>
                <a:t>。</a:t>
              </a:r>
            </a:p>
          </p:txBody>
        </p:sp>
      </p:grpSp>
      <p:pic>
        <p:nvPicPr>
          <p:cNvPr id="5" name="图片 4" descr="u=1919803524,1164694154&amp;fm=214&amp;gp=0"/>
          <p:cNvPicPr>
            <a:picLocks noChangeAspect="1"/>
          </p:cNvPicPr>
          <p:nvPr/>
        </p:nvPicPr>
        <p:blipFill>
          <a:blip r:embed="rId2" cstate="print"/>
          <a:stretch>
            <a:fillRect/>
          </a:stretch>
        </p:blipFill>
        <p:spPr>
          <a:xfrm>
            <a:off x="7430770" y="2622550"/>
            <a:ext cx="4276090" cy="2654300"/>
          </a:xfrm>
          <a:prstGeom prst="rect">
            <a:avLst/>
          </a:prstGeom>
        </p:spPr>
      </p:pic>
    </p:spTree>
  </p:cSld>
  <p:clrMapOvr>
    <a:masterClrMapping/>
  </p:clrMapOvr>
  <p:transition>
    <p:pull dir="d"/>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dirty="0">
                <a:solidFill>
                  <a:srgbClr val="FF0000"/>
                </a:solidFill>
                <a:sym typeface="+mn-ea"/>
              </a:rPr>
              <a:t>9.1  移动互联网简介</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9.1.</a:t>
            </a:r>
            <a:r>
              <a:rPr sz="2400" dirty="0" smtClean="0">
                <a:solidFill>
                  <a:schemeClr val="tx1"/>
                </a:solidFill>
              </a:rPr>
              <a:t>5  移动互联网的主要特征</a:t>
            </a:r>
          </a:p>
        </p:txBody>
      </p:sp>
      <p:grpSp>
        <p:nvGrpSpPr>
          <p:cNvPr id="4" name="组合 3"/>
          <p:cNvGrpSpPr/>
          <p:nvPr/>
        </p:nvGrpSpPr>
        <p:grpSpPr>
          <a:xfrm>
            <a:off x="923290" y="2197100"/>
            <a:ext cx="5064381" cy="1668780"/>
            <a:chOff x="1188" y="3092"/>
            <a:chExt cx="7488" cy="2628"/>
          </a:xfrm>
        </p:grpSpPr>
        <p:grpSp>
          <p:nvGrpSpPr>
            <p:cNvPr id="28" name="组合 27"/>
            <p:cNvGrpSpPr/>
            <p:nvPr/>
          </p:nvGrpSpPr>
          <p:grpSpPr>
            <a:xfrm>
              <a:off x="1188" y="3092"/>
              <a:ext cx="6974" cy="930"/>
              <a:chOff x="508000" y="3196191"/>
              <a:chExt cx="4428470" cy="590550"/>
            </a:xfrm>
          </p:grpSpPr>
          <p:sp>
            <p:nvSpPr>
              <p:cNvPr id="32"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1</a:t>
                </a:r>
              </a:p>
            </p:txBody>
          </p:sp>
          <p:cxnSp>
            <p:nvCxnSpPr>
              <p:cNvPr id="6" name="直接连接符 5"/>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7" name="矩形 6"/>
              <p:cNvSpPr>
                <a:spLocks noChangeArrowheads="1"/>
              </p:cNvSpPr>
              <p:nvPr/>
            </p:nvSpPr>
            <p:spPr bwMode="auto">
              <a:xfrm>
                <a:off x="960505" y="3291441"/>
                <a:ext cx="3975965"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移动性和便携性</a:t>
                </a:r>
              </a:p>
            </p:txBody>
          </p:sp>
        </p:grpSp>
        <p:sp>
          <p:nvSpPr>
            <p:cNvPr id="35" name="矩形 34"/>
            <p:cNvSpPr>
              <a:spLocks noChangeArrowheads="1"/>
            </p:cNvSpPr>
            <p:nvPr/>
          </p:nvSpPr>
          <p:spPr bwMode="auto">
            <a:xfrm>
              <a:off x="1893" y="3848"/>
              <a:ext cx="6783" cy="18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移动互联网业务使得用户可以在移动状态下接入和使用互联网服务，移动终端便于用户随身携带，具有便携性和移动性。</a:t>
              </a:r>
            </a:p>
          </p:txBody>
        </p:sp>
      </p:grpSp>
      <p:grpSp>
        <p:nvGrpSpPr>
          <p:cNvPr id="36" name="组合 35"/>
          <p:cNvGrpSpPr/>
          <p:nvPr/>
        </p:nvGrpSpPr>
        <p:grpSpPr>
          <a:xfrm>
            <a:off x="923290" y="3979545"/>
            <a:ext cx="5235316" cy="1668780"/>
            <a:chOff x="1188" y="3092"/>
            <a:chExt cx="7741" cy="2628"/>
          </a:xfrm>
        </p:grpSpPr>
        <p:grpSp>
          <p:nvGrpSpPr>
            <p:cNvPr id="37" name="组合 36"/>
            <p:cNvGrpSpPr/>
            <p:nvPr/>
          </p:nvGrpSpPr>
          <p:grpSpPr>
            <a:xfrm>
              <a:off x="1188" y="3092"/>
              <a:ext cx="7741" cy="930"/>
              <a:chOff x="508000" y="3196191"/>
              <a:chExt cx="4915730" cy="590550"/>
            </a:xfrm>
          </p:grpSpPr>
          <p:sp>
            <p:nvSpPr>
              <p:cNvPr id="3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2</a:t>
                </a:r>
              </a:p>
            </p:txBody>
          </p:sp>
          <p:cxnSp>
            <p:nvCxnSpPr>
              <p:cNvPr id="39" name="直接连接符 3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0" name="矩形 39"/>
              <p:cNvSpPr>
                <a:spLocks noChangeArrowheads="1"/>
              </p:cNvSpPr>
              <p:nvPr/>
            </p:nvSpPr>
            <p:spPr bwMode="auto">
              <a:xfrm>
                <a:off x="960521" y="3291441"/>
                <a:ext cx="4463209"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强关联性</a:t>
                </a:r>
              </a:p>
            </p:txBody>
          </p:sp>
        </p:grpSp>
        <p:sp>
          <p:nvSpPr>
            <p:cNvPr id="41" name="矩形 40"/>
            <p:cNvSpPr>
              <a:spLocks noChangeArrowheads="1"/>
            </p:cNvSpPr>
            <p:nvPr/>
          </p:nvSpPr>
          <p:spPr bwMode="auto">
            <a:xfrm>
              <a:off x="1893" y="3848"/>
              <a:ext cx="6422" cy="18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由于移动互联网业务受到了网络及终端能力的限制，因而其业务内容和形式也需要适合特定的网络技术规格和终端类型。</a:t>
              </a:r>
            </a:p>
          </p:txBody>
        </p:sp>
      </p:grpSp>
      <p:grpSp>
        <p:nvGrpSpPr>
          <p:cNvPr id="2" name="组合 1"/>
          <p:cNvGrpSpPr/>
          <p:nvPr/>
        </p:nvGrpSpPr>
        <p:grpSpPr>
          <a:xfrm>
            <a:off x="6059805" y="2197100"/>
            <a:ext cx="5025830" cy="1303020"/>
            <a:chOff x="1188" y="3092"/>
            <a:chExt cx="7431" cy="2052"/>
          </a:xfrm>
        </p:grpSpPr>
        <p:grpSp>
          <p:nvGrpSpPr>
            <p:cNvPr id="5" name="组合 4"/>
            <p:cNvGrpSpPr/>
            <p:nvPr/>
          </p:nvGrpSpPr>
          <p:grpSpPr>
            <a:xfrm>
              <a:off x="1188" y="3092"/>
              <a:ext cx="6974" cy="930"/>
              <a:chOff x="508000" y="3196191"/>
              <a:chExt cx="4428470" cy="590550"/>
            </a:xfrm>
          </p:grpSpPr>
          <p:sp>
            <p:nvSpPr>
              <p:cNvPr id="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3</a:t>
                </a:r>
              </a:p>
            </p:txBody>
          </p:sp>
          <p:cxnSp>
            <p:nvCxnSpPr>
              <p:cNvPr id="9" name="直接连接符 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960505" y="3291441"/>
                <a:ext cx="3975965"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私密性</a:t>
                </a:r>
              </a:p>
            </p:txBody>
          </p:sp>
        </p:grpSp>
        <p:sp>
          <p:nvSpPr>
            <p:cNvPr id="11" name="矩形 10"/>
            <p:cNvSpPr>
              <a:spLocks noChangeArrowheads="1"/>
            </p:cNvSpPr>
            <p:nvPr/>
          </p:nvSpPr>
          <p:spPr bwMode="auto">
            <a:xfrm>
              <a:off x="1893" y="3848"/>
              <a:ext cx="6726" cy="12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在使用移动互联网业务时，所使用的内容和服务更私密，如手机支付业务等。</a:t>
              </a:r>
            </a:p>
          </p:txBody>
        </p:sp>
      </p:grpSp>
      <p:grpSp>
        <p:nvGrpSpPr>
          <p:cNvPr id="12" name="组合 11"/>
          <p:cNvGrpSpPr/>
          <p:nvPr/>
        </p:nvGrpSpPr>
        <p:grpSpPr>
          <a:xfrm>
            <a:off x="6059805" y="3489325"/>
            <a:ext cx="5234817" cy="2400300"/>
            <a:chOff x="1188" y="3092"/>
            <a:chExt cx="7740" cy="3780"/>
          </a:xfrm>
        </p:grpSpPr>
        <p:grpSp>
          <p:nvGrpSpPr>
            <p:cNvPr id="13" name="组合 12"/>
            <p:cNvGrpSpPr/>
            <p:nvPr/>
          </p:nvGrpSpPr>
          <p:grpSpPr>
            <a:xfrm>
              <a:off x="1188" y="3092"/>
              <a:ext cx="6974" cy="930"/>
              <a:chOff x="508000" y="3196191"/>
              <a:chExt cx="4428470" cy="590550"/>
            </a:xfrm>
          </p:grpSpPr>
          <p:sp>
            <p:nvSpPr>
              <p:cNvPr id="14"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4</a:t>
                </a:r>
              </a:p>
            </p:txBody>
          </p:sp>
          <p:cxnSp>
            <p:nvCxnSpPr>
              <p:cNvPr id="15" name="直接连接符 14"/>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6" name="矩形 15"/>
              <p:cNvSpPr>
                <a:spLocks noChangeArrowheads="1"/>
              </p:cNvSpPr>
              <p:nvPr/>
            </p:nvSpPr>
            <p:spPr bwMode="auto">
              <a:xfrm>
                <a:off x="960505" y="3291441"/>
                <a:ext cx="3975965"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局限性</a:t>
                </a:r>
              </a:p>
            </p:txBody>
          </p:sp>
        </p:grpSp>
        <p:sp>
          <p:nvSpPr>
            <p:cNvPr id="17" name="矩形 16"/>
            <p:cNvSpPr>
              <a:spLocks noChangeArrowheads="1"/>
            </p:cNvSpPr>
            <p:nvPr/>
          </p:nvSpPr>
          <p:spPr bwMode="auto">
            <a:xfrm>
              <a:off x="1893" y="3848"/>
              <a:ext cx="7035" cy="30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移动互联网业务在便携的同时，也受到了来自网络能力和终端能力的限制。在网络能力方面，受到无线网络传输环境、技术能力等因素的限制，在终端能力方面，受到终端大小、处理能力、电池容量等的限制。</a:t>
              </a:r>
            </a:p>
          </p:txBody>
        </p:sp>
      </p:grpSp>
    </p:spTree>
  </p:cSld>
  <p:clrMapOvr>
    <a:masterClrMapping/>
  </p:clrMapOvr>
  <p:transition>
    <p:pull dir="d"/>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dirty="0">
                <a:solidFill>
                  <a:srgbClr val="FF0000"/>
                </a:solidFill>
                <a:sym typeface="+mn-ea"/>
              </a:rPr>
              <a:t>9.1  移动互联网简介</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72464"/>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9.1.</a:t>
            </a:r>
            <a:r>
              <a:rPr sz="2400" dirty="0" smtClean="0">
                <a:solidFill>
                  <a:schemeClr val="tx1"/>
                </a:solidFill>
              </a:rPr>
              <a:t>5  移动互联网的主要特征</a:t>
            </a:r>
          </a:p>
        </p:txBody>
      </p:sp>
      <p:grpSp>
        <p:nvGrpSpPr>
          <p:cNvPr id="14" name="组合 13"/>
          <p:cNvGrpSpPr/>
          <p:nvPr/>
        </p:nvGrpSpPr>
        <p:grpSpPr>
          <a:xfrm>
            <a:off x="819150" y="2188841"/>
            <a:ext cx="10567035" cy="822951"/>
            <a:chOff x="1188" y="3812"/>
            <a:chExt cx="16641" cy="1296"/>
          </a:xfrm>
        </p:grpSpPr>
        <p:grpSp>
          <p:nvGrpSpPr>
            <p:cNvPr id="5" name="组合 4"/>
            <p:cNvGrpSpPr/>
            <p:nvPr/>
          </p:nvGrpSpPr>
          <p:grpSpPr>
            <a:xfrm>
              <a:off x="1188" y="3812"/>
              <a:ext cx="2907" cy="930"/>
              <a:chOff x="508000" y="3618326"/>
              <a:chExt cx="1845928" cy="586432"/>
            </a:xfrm>
          </p:grpSpPr>
          <p:sp>
            <p:nvSpPr>
              <p:cNvPr id="21" name="TextBox 1"/>
              <p:cNvSpPr txBox="1">
                <a:spLocks noChangeArrowheads="1"/>
              </p:cNvSpPr>
              <p:nvPr/>
            </p:nvSpPr>
            <p:spPr bwMode="auto">
              <a:xfrm>
                <a:off x="508000" y="3618326"/>
                <a:ext cx="374012" cy="5183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5</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22" name="直接连接符 21"/>
              <p:cNvCxnSpPr/>
              <p:nvPr/>
            </p:nvCxnSpPr>
            <p:spPr>
              <a:xfrm flipH="1">
                <a:off x="508000" y="3618326"/>
                <a:ext cx="590551" cy="586432"/>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437" y="3713554"/>
                <a:ext cx="1393491" cy="382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定位性</a:t>
                </a:r>
              </a:p>
            </p:txBody>
          </p:sp>
        </p:grpSp>
        <p:sp>
          <p:nvSpPr>
            <p:cNvPr id="24" name="矩形 8"/>
            <p:cNvSpPr>
              <a:spLocks noChangeArrowheads="1"/>
            </p:cNvSpPr>
            <p:nvPr/>
          </p:nvSpPr>
          <p:spPr bwMode="auto">
            <a:xfrm>
              <a:off x="4341" y="3812"/>
              <a:ext cx="13488" cy="12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50000"/>
                </a:lnSpc>
              </a:pPr>
              <a:r>
                <a:rPr lang="en-US" sz="1600" b="1" dirty="0" smtClean="0">
                  <a:latin typeface="微软雅黑" panose="020B0503020204020204" charset="-122"/>
                  <a:ea typeface="微软雅黑" panose="020B0503020204020204" charset="-122"/>
                </a:rPr>
                <a:t>       </a:t>
              </a:r>
              <a:r>
                <a:rPr sz="1600">
                  <a:latin typeface="微软雅黑" panose="020B0503020204020204" charset="-122"/>
                  <a:ea typeface="微软雅黑" panose="020B0503020204020204" charset="-122"/>
                </a:rPr>
                <a:t>移动终端在使用时具有位置服务，如位置签到、位置分享、导航等应用。越来越多的互联网用户选择位置服务应用，这也是未来移动互联网的发展趋势。</a:t>
              </a:r>
            </a:p>
          </p:txBody>
        </p:sp>
      </p:grpSp>
      <p:grpSp>
        <p:nvGrpSpPr>
          <p:cNvPr id="6" name="组合 5"/>
          <p:cNvGrpSpPr/>
          <p:nvPr/>
        </p:nvGrpSpPr>
        <p:grpSpPr>
          <a:xfrm>
            <a:off x="819150" y="3237861"/>
            <a:ext cx="10568305" cy="821059"/>
            <a:chOff x="1195" y="6440"/>
            <a:chExt cx="16643" cy="1293"/>
          </a:xfrm>
        </p:grpSpPr>
        <p:grpSp>
          <p:nvGrpSpPr>
            <p:cNvPr id="4" name="组合 3"/>
            <p:cNvGrpSpPr/>
            <p:nvPr/>
          </p:nvGrpSpPr>
          <p:grpSpPr>
            <a:xfrm>
              <a:off x="1195" y="6440"/>
              <a:ext cx="2862" cy="930"/>
              <a:chOff x="512763" y="5296233"/>
              <a:chExt cx="1817002" cy="587616"/>
            </a:xfrm>
          </p:grpSpPr>
          <p:sp>
            <p:nvSpPr>
              <p:cNvPr id="25" name="TextBox 10"/>
              <p:cNvSpPr txBox="1">
                <a:spLocks noChangeArrowheads="1"/>
              </p:cNvSpPr>
              <p:nvPr/>
            </p:nvSpPr>
            <p:spPr bwMode="auto">
              <a:xfrm>
                <a:off x="512763" y="5296233"/>
                <a:ext cx="375209" cy="51938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6</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26" name="直接连接符 25"/>
              <p:cNvCxnSpPr/>
              <p:nvPr/>
            </p:nvCxnSpPr>
            <p:spPr>
              <a:xfrm flipH="1">
                <a:off x="512763" y="5296233"/>
                <a:ext cx="590549" cy="587616"/>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7" name="矩形 12"/>
              <p:cNvSpPr>
                <a:spLocks noChangeArrowheads="1"/>
              </p:cNvSpPr>
              <p:nvPr/>
            </p:nvSpPr>
            <p:spPr bwMode="auto">
              <a:xfrm>
                <a:off x="960438" y="5391655"/>
                <a:ext cx="1369327" cy="3829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身份统一性</a:t>
                </a:r>
              </a:p>
            </p:txBody>
          </p:sp>
        </p:grpSp>
        <p:sp>
          <p:nvSpPr>
            <p:cNvPr id="28" name="矩形 9"/>
            <p:cNvSpPr>
              <a:spLocks noChangeArrowheads="1"/>
            </p:cNvSpPr>
            <p:nvPr/>
          </p:nvSpPr>
          <p:spPr bwMode="auto">
            <a:xfrm>
              <a:off x="4252" y="6591"/>
              <a:ext cx="13586" cy="114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30000"/>
                </a:lnSpc>
              </a:pPr>
              <a:r>
                <a:rPr lang="en-US" altLang="zh-CN" sz="1600" b="1" dirty="0">
                  <a:latin typeface="微软雅黑" panose="020B0503020204020204" charset="-122"/>
                  <a:ea typeface="微软雅黑" panose="020B0503020204020204" charset="-122"/>
                </a:rPr>
                <a:t>     </a:t>
              </a:r>
              <a:r>
                <a:rPr lang="en-US" altLang="zh-CN" sz="1600" dirty="0">
                  <a:latin typeface="微软雅黑" panose="020B0503020204020204" charset="-122"/>
                  <a:ea typeface="微软雅黑" panose="020B0503020204020204" charset="-122"/>
                </a:rPr>
                <a:t> </a:t>
              </a:r>
              <a:r>
                <a:rPr lang="zh-CN" altLang="en-US" sz="1600" dirty="0">
                  <a:latin typeface="微软雅黑" panose="020B0503020204020204" charset="-122"/>
                  <a:ea typeface="微软雅黑" panose="020B0503020204020204" charset="-122"/>
                </a:rPr>
                <a:t>这个特性是指移动互联用户的自然身份、社会身份、支付身份通过移动互联网平台得以统一。例如，在网银里绑定手机号和银行卡，支付的时候验证了手机号就可以从银行卡扣钱。</a:t>
              </a:r>
            </a:p>
          </p:txBody>
        </p:sp>
      </p:grpSp>
      <p:grpSp>
        <p:nvGrpSpPr>
          <p:cNvPr id="8" name="组合 7"/>
          <p:cNvGrpSpPr/>
          <p:nvPr/>
        </p:nvGrpSpPr>
        <p:grpSpPr>
          <a:xfrm>
            <a:off x="819150" y="4199255"/>
            <a:ext cx="10568305" cy="820420"/>
            <a:chOff x="1195" y="6290"/>
            <a:chExt cx="16643" cy="1292"/>
          </a:xfrm>
        </p:grpSpPr>
        <p:grpSp>
          <p:nvGrpSpPr>
            <p:cNvPr id="9" name="组合 8"/>
            <p:cNvGrpSpPr/>
            <p:nvPr/>
          </p:nvGrpSpPr>
          <p:grpSpPr>
            <a:xfrm>
              <a:off x="1195" y="6290"/>
              <a:ext cx="3348" cy="930"/>
              <a:chOff x="512763" y="5226603"/>
              <a:chExt cx="2125732" cy="590550"/>
            </a:xfrm>
          </p:grpSpPr>
          <p:sp>
            <p:nvSpPr>
              <p:cNvPr id="10" name="TextBox 10"/>
              <p:cNvSpPr txBox="1">
                <a:spLocks noChangeArrowheads="1"/>
              </p:cNvSpPr>
              <p:nvPr/>
            </p:nvSpPr>
            <p:spPr bwMode="auto">
              <a:xfrm>
                <a:off x="512763" y="5226603"/>
                <a:ext cx="321907"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7</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11" name="直接连接符 10"/>
              <p:cNvCxnSpPr/>
              <p:nvPr/>
            </p:nvCxnSpPr>
            <p:spPr>
              <a:xfrm flipH="1">
                <a:off x="512763" y="522660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2" name="矩形 12"/>
              <p:cNvSpPr>
                <a:spLocks noChangeArrowheads="1"/>
              </p:cNvSpPr>
              <p:nvPr/>
            </p:nvSpPr>
            <p:spPr bwMode="auto">
              <a:xfrm>
                <a:off x="960386" y="5321853"/>
                <a:ext cx="1678109"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开放性</a:t>
                </a:r>
              </a:p>
            </p:txBody>
          </p:sp>
        </p:grpSp>
        <p:sp>
          <p:nvSpPr>
            <p:cNvPr id="13" name="矩形 9"/>
            <p:cNvSpPr>
              <a:spLocks noChangeArrowheads="1"/>
            </p:cNvSpPr>
            <p:nvPr/>
          </p:nvSpPr>
          <p:spPr bwMode="auto">
            <a:xfrm>
              <a:off x="4252" y="6440"/>
              <a:ext cx="13586" cy="114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30000"/>
                </a:lnSpc>
              </a:pPr>
              <a:r>
                <a:rPr lang="en-US" altLang="zh-CN" sz="1600" b="1" dirty="0">
                  <a:latin typeface="微软雅黑" panose="020B0503020204020204" charset="-122"/>
                  <a:ea typeface="微软雅黑" panose="020B0503020204020204" charset="-122"/>
                </a:rPr>
                <a:t>       </a:t>
              </a:r>
              <a:r>
                <a:rPr lang="zh-CN" altLang="en-US" sz="1600" dirty="0">
                  <a:latin typeface="微软雅黑" panose="020B0503020204020204" charset="-122"/>
                  <a:ea typeface="微软雅黑" panose="020B0503020204020204" charset="-122"/>
                </a:rPr>
                <a:t>即技术上具有开放性。移动互联网的业务模式借鉴了SOA和Web的模式，使封闭的电信网络业务对内容提供者和业务开发者开放。</a:t>
              </a:r>
            </a:p>
          </p:txBody>
        </p:sp>
      </p:grpSp>
      <p:grpSp>
        <p:nvGrpSpPr>
          <p:cNvPr id="16" name="组合 15"/>
          <p:cNvGrpSpPr/>
          <p:nvPr/>
        </p:nvGrpSpPr>
        <p:grpSpPr>
          <a:xfrm>
            <a:off x="819150" y="5226050"/>
            <a:ext cx="10567670" cy="820420"/>
            <a:chOff x="1195" y="6290"/>
            <a:chExt cx="16642" cy="1292"/>
          </a:xfrm>
        </p:grpSpPr>
        <p:grpSp>
          <p:nvGrpSpPr>
            <p:cNvPr id="17" name="组合 16"/>
            <p:cNvGrpSpPr/>
            <p:nvPr/>
          </p:nvGrpSpPr>
          <p:grpSpPr>
            <a:xfrm>
              <a:off x="1195" y="6290"/>
              <a:ext cx="3349" cy="930"/>
              <a:chOff x="512763" y="5226603"/>
              <a:chExt cx="2126412" cy="590550"/>
            </a:xfrm>
          </p:grpSpPr>
          <p:sp>
            <p:nvSpPr>
              <p:cNvPr id="20" name="TextBox 10"/>
              <p:cNvSpPr txBox="1">
                <a:spLocks noChangeArrowheads="1"/>
              </p:cNvSpPr>
              <p:nvPr/>
            </p:nvSpPr>
            <p:spPr bwMode="auto">
              <a:xfrm>
                <a:off x="512763" y="5226603"/>
                <a:ext cx="372709" cy="52197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8</a:t>
                </a:r>
              </a:p>
            </p:txBody>
          </p:sp>
          <p:cxnSp>
            <p:nvCxnSpPr>
              <p:cNvPr id="30" name="直接连接符 29"/>
              <p:cNvCxnSpPr/>
              <p:nvPr/>
            </p:nvCxnSpPr>
            <p:spPr>
              <a:xfrm flipH="1">
                <a:off x="512763" y="522660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31" name="矩形 12"/>
              <p:cNvSpPr>
                <a:spLocks noChangeArrowheads="1"/>
              </p:cNvSpPr>
              <p:nvPr/>
            </p:nvSpPr>
            <p:spPr bwMode="auto">
              <a:xfrm>
                <a:off x="960395" y="5321853"/>
                <a:ext cx="1678780" cy="3848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个性化</a:t>
                </a:r>
              </a:p>
            </p:txBody>
          </p:sp>
        </p:grpSp>
        <p:sp>
          <p:nvSpPr>
            <p:cNvPr id="32" name="矩形 9"/>
            <p:cNvSpPr>
              <a:spLocks noChangeArrowheads="1"/>
            </p:cNvSpPr>
            <p:nvPr/>
          </p:nvSpPr>
          <p:spPr bwMode="auto">
            <a:xfrm>
              <a:off x="4348" y="6440"/>
              <a:ext cx="13489" cy="114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ct val="130000"/>
                </a:lnSpc>
              </a:pPr>
              <a:r>
                <a:rPr lang="en-US" altLang="zh-CN" sz="1600" b="1" dirty="0">
                  <a:latin typeface="微软雅黑" panose="020B0503020204020204" charset="-122"/>
                  <a:ea typeface="微软雅黑" panose="020B0503020204020204" charset="-122"/>
                </a:rPr>
                <a:t>      </a:t>
              </a:r>
              <a:r>
                <a:rPr lang="en-US" altLang="zh-CN" sz="1600" dirty="0">
                  <a:latin typeface="微软雅黑" panose="020B0503020204020204" charset="-122"/>
                  <a:ea typeface="微软雅黑" panose="020B0503020204020204" charset="-122"/>
                </a:rPr>
                <a:t> </a:t>
              </a:r>
              <a:r>
                <a:rPr lang="zh-CN" altLang="en-US" sz="1600" dirty="0">
                  <a:latin typeface="微软雅黑" panose="020B0503020204020204" charset="-122"/>
                  <a:ea typeface="微软雅黑" panose="020B0503020204020204" charset="-122"/>
                </a:rPr>
                <a:t>即移动互联网终端、网络和应用服务的个性化。移动终端与个人消费绑定；接入网络能完成不同用户的需求；应用服务采用了社会化网络、微博等新兴个人社交网络技术。</a:t>
              </a:r>
            </a:p>
          </p:txBody>
        </p:sp>
      </p:grpSp>
    </p:spTree>
  </p:cSld>
  <p:clrMapOvr>
    <a:masterClrMapping/>
  </p:clrMapOvr>
  <p:transition>
    <p:pull dir="d"/>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2</a:t>
              </a:r>
            </a:p>
          </p:txBody>
        </p:sp>
      </p:grpSp>
      <p:sp>
        <p:nvSpPr>
          <p:cNvPr id="40" name="文本框 39"/>
          <p:cNvSpPr txBox="1"/>
          <p:nvPr/>
        </p:nvSpPr>
        <p:spPr>
          <a:xfrm>
            <a:off x="6006465" y="2913380"/>
            <a:ext cx="5868670" cy="8743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移动互联网应用技术</a:t>
            </a:r>
          </a:p>
        </p:txBody>
      </p:sp>
      <p:grpSp>
        <p:nvGrpSpPr>
          <p:cNvPr id="11" name="组合 10"/>
          <p:cNvGrpSpPr/>
          <p:nvPr/>
        </p:nvGrpSpPr>
        <p:grpSpPr>
          <a:xfrm>
            <a:off x="6006465" y="4013835"/>
            <a:ext cx="3712845" cy="835660"/>
            <a:chOff x="9459" y="7259"/>
            <a:chExt cx="5847" cy="1316"/>
          </a:xfrm>
        </p:grpSpPr>
        <p:sp>
          <p:nvSpPr>
            <p:cNvPr id="48" name="文本框 47"/>
            <p:cNvSpPr txBox="1"/>
            <p:nvPr/>
          </p:nvSpPr>
          <p:spPr>
            <a:xfrm>
              <a:off x="9459" y="7259"/>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移动互联网的参考模型</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移动互联网的终端技术</a:t>
              </a:r>
            </a:p>
          </p:txBody>
        </p:sp>
      </p:grpSp>
      <p:grpSp>
        <p:nvGrpSpPr>
          <p:cNvPr id="3" name="组合 2"/>
          <p:cNvGrpSpPr/>
          <p:nvPr/>
        </p:nvGrpSpPr>
        <p:grpSpPr>
          <a:xfrm>
            <a:off x="6006465" y="4849495"/>
            <a:ext cx="3712845" cy="835660"/>
            <a:chOff x="9459" y="7259"/>
            <a:chExt cx="5847" cy="1316"/>
          </a:xfrm>
        </p:grpSpPr>
        <p:sp>
          <p:nvSpPr>
            <p:cNvPr id="5" name="文本框 4"/>
            <p:cNvSpPr txBox="1"/>
            <p:nvPr/>
          </p:nvSpPr>
          <p:spPr>
            <a:xfrm>
              <a:off x="9459" y="7259"/>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网络的接入技术</a:t>
              </a:r>
            </a:p>
          </p:txBody>
        </p:sp>
        <p:sp>
          <p:nvSpPr>
            <p:cNvPr id="6" name="文本框 5"/>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移动应用服务技术</a:t>
              </a:r>
            </a:p>
          </p:txBody>
        </p:sp>
      </p:grpSp>
      <p:sp>
        <p:nvSpPr>
          <p:cNvPr id="7" name="文本框 6"/>
          <p:cNvSpPr txBox="1"/>
          <p:nvPr/>
        </p:nvSpPr>
        <p:spPr>
          <a:xfrm>
            <a:off x="6006465" y="5685155"/>
            <a:ext cx="371284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移动互联网的三要素</a:t>
            </a:r>
          </a:p>
        </p:txBody>
      </p:sp>
    </p:spTree>
  </p:cSld>
  <p:clrMapOvr>
    <a:masterClrMapping/>
  </p:clrMapOvr>
  <p:transition spd="slow">
    <p:wip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a:solidFill>
                  <a:srgbClr val="FF0000"/>
                </a:solidFill>
              </a:rPr>
              <a:t>9.2  </a:t>
            </a:r>
            <a:r>
              <a:rPr lang="zh-CN" dirty="0">
                <a:solidFill>
                  <a:srgbClr val="FF0000"/>
                </a:solidFill>
                <a:sym typeface="+mn-ea"/>
              </a:rPr>
              <a:t>移动互联网应用技术</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t>9.2.1  </a:t>
            </a:r>
            <a:r>
              <a:rPr lang="zh-CN" altLang="en-US" sz="2400" dirty="0" smtClean="0"/>
              <a:t>移动互联网的参考模型</a:t>
            </a:r>
            <a:endParaRPr lang="zh-CN" altLang="en-US" sz="2400" dirty="0"/>
          </a:p>
        </p:txBody>
      </p:sp>
      <p:sp>
        <p:nvSpPr>
          <p:cNvPr id="20" name="MH_Text_1"/>
          <p:cNvSpPr/>
          <p:nvPr>
            <p:custDataLst>
              <p:tags r:id="rId1"/>
            </p:custDataLst>
          </p:nvPr>
        </p:nvSpPr>
        <p:spPr>
          <a:xfrm>
            <a:off x="1477645" y="2040890"/>
            <a:ext cx="9179560" cy="113474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zh-CN" altLang="en-US" dirty="0" smtClean="0"/>
              <a:t>        世界无线研究论坛（</a:t>
            </a:r>
            <a:r>
              <a:rPr lang="en-US" dirty="0" smtClean="0"/>
              <a:t>Wireless World Research Forum</a:t>
            </a:r>
            <a:r>
              <a:rPr lang="zh-CN" altLang="en-US" dirty="0" smtClean="0"/>
              <a:t>，</a:t>
            </a:r>
            <a:r>
              <a:rPr lang="en-US" dirty="0" smtClean="0"/>
              <a:t>WWRF</a:t>
            </a:r>
            <a:r>
              <a:rPr lang="zh-CN" altLang="en-US" dirty="0" smtClean="0"/>
              <a:t>）认为移动互联网提供了一种自适应的、多样化的、个性化的、实时感知周边环境的应用服务，并描绘出了移动互联网的参考模型，如下图所示。</a:t>
            </a:r>
            <a:endParaRPr lang="zh-CN" altLang="en-US" dirty="0"/>
          </a:p>
        </p:txBody>
      </p:sp>
      <p:graphicFrame>
        <p:nvGraphicFramePr>
          <p:cNvPr id="35" name="表格 34"/>
          <p:cNvGraphicFramePr>
            <a:graphicFrameLocks noGrp="1"/>
          </p:cNvGraphicFramePr>
          <p:nvPr/>
        </p:nvGraphicFramePr>
        <p:xfrm>
          <a:off x="1596788" y="3423454"/>
          <a:ext cx="8925635" cy="2674962"/>
        </p:xfrm>
        <a:graphic>
          <a:graphicData uri="http://schemas.openxmlformats.org/drawingml/2006/table">
            <a:tbl>
              <a:tblPr/>
              <a:tblGrid>
                <a:gridCol w="3469512"/>
                <a:gridCol w="2685723"/>
                <a:gridCol w="2770400"/>
              </a:tblGrid>
              <a:tr h="445827">
                <a:tc>
                  <a:txBody>
                    <a:bodyPr/>
                    <a:lstStyle/>
                    <a:p>
                      <a:pPr indent="266700" algn="ctr">
                        <a:spcAft>
                          <a:spcPts val="0"/>
                        </a:spcAft>
                      </a:pPr>
                      <a:r>
                        <a:rPr lang="en-US" sz="1800" kern="500">
                          <a:latin typeface="Times New Roman"/>
                          <a:ea typeface="宋体"/>
                          <a:cs typeface="Times New Roman"/>
                        </a:rPr>
                        <a:t>APP</a:t>
                      </a:r>
                      <a:endParaRPr lang="zh-CN" sz="1800" kern="5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800" kern="500">
                          <a:latin typeface="Times New Roman"/>
                          <a:ea typeface="宋体"/>
                          <a:cs typeface="Times New Roman"/>
                        </a:rPr>
                        <a:t>APP</a:t>
                      </a:r>
                      <a:endParaRPr lang="zh-CN" sz="1800" kern="5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800" kern="500">
                          <a:latin typeface="Times New Roman"/>
                          <a:ea typeface="宋体"/>
                          <a:cs typeface="Times New Roman"/>
                        </a:rPr>
                        <a:t>APP</a:t>
                      </a:r>
                      <a:endParaRPr lang="zh-CN" sz="1800" kern="5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5827">
                <a:tc gridSpan="3">
                  <a:txBody>
                    <a:bodyPr/>
                    <a:lstStyle/>
                    <a:p>
                      <a:pPr indent="266700" algn="ctr">
                        <a:spcAft>
                          <a:spcPts val="0"/>
                        </a:spcAft>
                      </a:pPr>
                      <a:r>
                        <a:rPr lang="zh-CN" sz="1800" kern="500">
                          <a:latin typeface="Times New Roman"/>
                          <a:ea typeface="宋体"/>
                          <a:cs typeface="Times New Roman"/>
                        </a:rPr>
                        <a:t>开放</a:t>
                      </a:r>
                      <a:r>
                        <a:rPr lang="en-US" sz="1800" kern="500">
                          <a:latin typeface="Times New Roman"/>
                          <a:ea typeface="宋体"/>
                          <a:cs typeface="Times New Roman"/>
                        </a:rPr>
                        <a:t>API</a:t>
                      </a:r>
                      <a:endParaRPr lang="zh-CN" sz="1800" kern="5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r>
              <a:tr h="445827">
                <a:tc rowSpan="2">
                  <a:txBody>
                    <a:bodyPr/>
                    <a:lstStyle/>
                    <a:p>
                      <a:pPr indent="266700" algn="ctr">
                        <a:spcAft>
                          <a:spcPts val="0"/>
                        </a:spcAft>
                      </a:pPr>
                      <a:r>
                        <a:rPr lang="zh-CN" sz="1800" kern="500">
                          <a:latin typeface="Times New Roman"/>
                          <a:ea typeface="宋体"/>
                          <a:cs typeface="Times New Roman"/>
                        </a:rPr>
                        <a:t>用户交互支持</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indent="342900" algn="just">
                        <a:spcAft>
                          <a:spcPts val="0"/>
                        </a:spcAft>
                      </a:pPr>
                      <a:r>
                        <a:rPr lang="zh-CN" sz="1800" kern="500">
                          <a:latin typeface="Times New Roman"/>
                          <a:ea typeface="宋体"/>
                          <a:cs typeface="Times New Roman"/>
                        </a:rPr>
                        <a:t>移动中间件</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r>
              <a:tr h="445827">
                <a:tc vMerge="1">
                  <a:txBody>
                    <a:bodyPr/>
                    <a:lstStyle/>
                    <a:p>
                      <a:endParaRPr lang="zh-CN" altLang="en-US"/>
                    </a:p>
                  </a:txBody>
                  <a:tcPr/>
                </a:tc>
                <a:tc gridSpan="2">
                  <a:txBody>
                    <a:bodyPr/>
                    <a:lstStyle/>
                    <a:p>
                      <a:pPr indent="342900" algn="just">
                        <a:spcAft>
                          <a:spcPts val="0"/>
                        </a:spcAft>
                      </a:pPr>
                      <a:r>
                        <a:rPr lang="zh-CN" sz="1800" kern="500">
                          <a:latin typeface="Times New Roman"/>
                          <a:ea typeface="宋体"/>
                          <a:cs typeface="Times New Roman"/>
                        </a:rPr>
                        <a:t>互联网协议簇</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r>
              <a:tr h="445827">
                <a:tc gridSpan="3">
                  <a:txBody>
                    <a:bodyPr/>
                    <a:lstStyle/>
                    <a:p>
                      <a:pPr indent="266700" algn="ctr">
                        <a:spcAft>
                          <a:spcPts val="0"/>
                        </a:spcAft>
                      </a:pPr>
                      <a:r>
                        <a:rPr lang="zh-CN" sz="1800" kern="500">
                          <a:latin typeface="Times New Roman"/>
                          <a:ea typeface="宋体"/>
                          <a:cs typeface="Times New Roman"/>
                        </a:rPr>
                        <a:t>操作系统</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r>
              <a:tr h="445827">
                <a:tc gridSpan="3">
                  <a:txBody>
                    <a:bodyPr/>
                    <a:lstStyle/>
                    <a:p>
                      <a:pPr indent="266700" algn="ctr">
                        <a:spcAft>
                          <a:spcPts val="0"/>
                        </a:spcAft>
                      </a:pPr>
                      <a:r>
                        <a:rPr lang="zh-CN" sz="1800" kern="500" dirty="0">
                          <a:latin typeface="Times New Roman"/>
                          <a:ea typeface="宋体"/>
                          <a:cs typeface="Times New Roman"/>
                        </a:rPr>
                        <a:t>计算与通信硬件</a:t>
                      </a:r>
                      <a:r>
                        <a:rPr lang="en-US" sz="1800" kern="500" dirty="0">
                          <a:latin typeface="Times New Roman"/>
                          <a:ea typeface="宋体"/>
                          <a:cs typeface="Times New Roman"/>
                        </a:rPr>
                        <a:t>/</a:t>
                      </a:r>
                      <a:r>
                        <a:rPr lang="zh-CN" sz="1800" kern="500" dirty="0">
                          <a:latin typeface="Times New Roman"/>
                          <a:ea typeface="宋体"/>
                          <a:cs typeface="Times New Roman"/>
                        </a:rPr>
                        <a:t>固件</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r>
            </a:tbl>
          </a:graphicData>
        </a:graphic>
      </p:graphicFrame>
    </p:spTree>
  </p:cSld>
  <p:clrMapOvr>
    <a:masterClrMapping/>
  </p:clrMapOvr>
  <p:transition>
    <p:wheel spokes="3"/>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a:solidFill>
                  <a:srgbClr val="FF0000"/>
                </a:solidFill>
              </a:rPr>
              <a:t>9.2  </a:t>
            </a:r>
            <a:r>
              <a:rPr lang="zh-CN" dirty="0">
                <a:solidFill>
                  <a:srgbClr val="FF0000"/>
                </a:solidFill>
                <a:sym typeface="+mn-ea"/>
              </a:rPr>
              <a:t>移动互联网应用技术</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t>9.2.1  </a:t>
            </a:r>
            <a:r>
              <a:rPr lang="zh-CN" altLang="en-US" sz="2400" dirty="0" smtClean="0"/>
              <a:t>移动互联网的参考模型</a:t>
            </a:r>
            <a:endParaRPr lang="zh-CN" altLang="en-US" sz="2400" dirty="0"/>
          </a:p>
        </p:txBody>
      </p:sp>
      <p:graphicFrame>
        <p:nvGraphicFramePr>
          <p:cNvPr id="35" name="表格 34"/>
          <p:cNvGraphicFramePr>
            <a:graphicFrameLocks noGrp="1"/>
          </p:cNvGraphicFramePr>
          <p:nvPr/>
        </p:nvGraphicFramePr>
        <p:xfrm>
          <a:off x="1050878" y="2361065"/>
          <a:ext cx="4012442" cy="3616656"/>
        </p:xfrm>
        <a:graphic>
          <a:graphicData uri="http://schemas.openxmlformats.org/drawingml/2006/table">
            <a:tbl>
              <a:tblPr/>
              <a:tblGrid>
                <a:gridCol w="1559689"/>
                <a:gridCol w="1207344"/>
                <a:gridCol w="1245409"/>
              </a:tblGrid>
              <a:tr h="602776">
                <a:tc>
                  <a:txBody>
                    <a:bodyPr/>
                    <a:lstStyle/>
                    <a:p>
                      <a:pPr indent="266700" algn="ctr">
                        <a:spcAft>
                          <a:spcPts val="0"/>
                        </a:spcAft>
                      </a:pPr>
                      <a:r>
                        <a:rPr lang="en-US" sz="1800" kern="500" dirty="0">
                          <a:latin typeface="Times New Roman"/>
                          <a:ea typeface="宋体"/>
                          <a:cs typeface="Times New Roman"/>
                        </a:rPr>
                        <a:t>APP</a:t>
                      </a:r>
                      <a:endParaRPr lang="zh-CN" sz="1800" kern="5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800" kern="500" dirty="0">
                          <a:latin typeface="Times New Roman"/>
                          <a:ea typeface="宋体"/>
                          <a:cs typeface="Times New Roman"/>
                        </a:rPr>
                        <a:t>APP</a:t>
                      </a:r>
                      <a:endParaRPr lang="zh-CN" sz="1800" kern="5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ctr">
                        <a:spcAft>
                          <a:spcPts val="0"/>
                        </a:spcAft>
                      </a:pPr>
                      <a:r>
                        <a:rPr lang="en-US" sz="1800" kern="500">
                          <a:latin typeface="Times New Roman"/>
                          <a:ea typeface="宋体"/>
                          <a:cs typeface="Times New Roman"/>
                        </a:rPr>
                        <a:t>APP</a:t>
                      </a:r>
                      <a:endParaRPr lang="zh-CN" sz="1800" kern="5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2776">
                <a:tc gridSpan="3">
                  <a:txBody>
                    <a:bodyPr/>
                    <a:lstStyle/>
                    <a:p>
                      <a:pPr indent="266700" algn="ctr">
                        <a:spcAft>
                          <a:spcPts val="0"/>
                        </a:spcAft>
                      </a:pPr>
                      <a:r>
                        <a:rPr lang="zh-CN" sz="1800" kern="500">
                          <a:latin typeface="Times New Roman"/>
                          <a:ea typeface="宋体"/>
                          <a:cs typeface="Times New Roman"/>
                        </a:rPr>
                        <a:t>开放</a:t>
                      </a:r>
                      <a:r>
                        <a:rPr lang="en-US" sz="1800" kern="500">
                          <a:latin typeface="Times New Roman"/>
                          <a:ea typeface="宋体"/>
                          <a:cs typeface="Times New Roman"/>
                        </a:rPr>
                        <a:t>API</a:t>
                      </a:r>
                      <a:endParaRPr lang="zh-CN" sz="1800" kern="5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r>
              <a:tr h="602776">
                <a:tc rowSpan="2">
                  <a:txBody>
                    <a:bodyPr/>
                    <a:lstStyle/>
                    <a:p>
                      <a:pPr indent="266700" algn="ctr">
                        <a:spcAft>
                          <a:spcPts val="0"/>
                        </a:spcAft>
                      </a:pPr>
                      <a:r>
                        <a:rPr lang="zh-CN" sz="1800" kern="500">
                          <a:latin typeface="Times New Roman"/>
                          <a:ea typeface="宋体"/>
                          <a:cs typeface="Times New Roman"/>
                        </a:rPr>
                        <a:t>用户交互支持</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indent="342900" algn="just">
                        <a:spcAft>
                          <a:spcPts val="0"/>
                        </a:spcAft>
                      </a:pPr>
                      <a:r>
                        <a:rPr lang="zh-CN" sz="1800" kern="500">
                          <a:latin typeface="Times New Roman"/>
                          <a:ea typeface="宋体"/>
                          <a:cs typeface="Times New Roman"/>
                        </a:rPr>
                        <a:t>移动中间件</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r>
              <a:tr h="602776">
                <a:tc vMerge="1">
                  <a:txBody>
                    <a:bodyPr/>
                    <a:lstStyle/>
                    <a:p>
                      <a:endParaRPr lang="zh-CN" altLang="en-US"/>
                    </a:p>
                  </a:txBody>
                  <a:tcPr/>
                </a:tc>
                <a:tc gridSpan="2">
                  <a:txBody>
                    <a:bodyPr/>
                    <a:lstStyle/>
                    <a:p>
                      <a:pPr indent="342900" algn="just">
                        <a:spcAft>
                          <a:spcPts val="0"/>
                        </a:spcAft>
                      </a:pPr>
                      <a:r>
                        <a:rPr lang="zh-CN" sz="1800" kern="500">
                          <a:latin typeface="Times New Roman"/>
                          <a:ea typeface="宋体"/>
                          <a:cs typeface="Times New Roman"/>
                        </a:rPr>
                        <a:t>互联网协议簇</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r>
              <a:tr h="602776">
                <a:tc gridSpan="3">
                  <a:txBody>
                    <a:bodyPr/>
                    <a:lstStyle/>
                    <a:p>
                      <a:pPr indent="266700" algn="ctr">
                        <a:spcAft>
                          <a:spcPts val="0"/>
                        </a:spcAft>
                      </a:pPr>
                      <a:r>
                        <a:rPr lang="zh-CN" sz="1800" kern="500" dirty="0">
                          <a:latin typeface="Times New Roman"/>
                          <a:ea typeface="宋体"/>
                          <a:cs typeface="Times New Roman"/>
                        </a:rPr>
                        <a:t>操作系统</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r>
              <a:tr h="602776">
                <a:tc gridSpan="3">
                  <a:txBody>
                    <a:bodyPr/>
                    <a:lstStyle/>
                    <a:p>
                      <a:pPr indent="266700" algn="ctr">
                        <a:spcAft>
                          <a:spcPts val="0"/>
                        </a:spcAft>
                      </a:pPr>
                      <a:r>
                        <a:rPr lang="zh-CN" sz="1800" kern="500" dirty="0">
                          <a:latin typeface="Times New Roman"/>
                          <a:ea typeface="宋体"/>
                          <a:cs typeface="Times New Roman"/>
                        </a:rPr>
                        <a:t>计算与通信硬件</a:t>
                      </a:r>
                      <a:r>
                        <a:rPr lang="en-US" sz="1800" kern="500" dirty="0">
                          <a:latin typeface="Times New Roman"/>
                          <a:ea typeface="宋体"/>
                          <a:cs typeface="Times New Roman"/>
                        </a:rPr>
                        <a:t>/</a:t>
                      </a:r>
                      <a:r>
                        <a:rPr lang="zh-CN" sz="1800" kern="500" dirty="0">
                          <a:latin typeface="Times New Roman"/>
                          <a:ea typeface="宋体"/>
                          <a:cs typeface="Times New Roman"/>
                        </a:rPr>
                        <a:t>固件</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r>
            </a:tbl>
          </a:graphicData>
        </a:graphic>
      </p:graphicFrame>
      <p:grpSp>
        <p:nvGrpSpPr>
          <p:cNvPr id="6" name="组合 5"/>
          <p:cNvGrpSpPr/>
          <p:nvPr/>
        </p:nvGrpSpPr>
        <p:grpSpPr>
          <a:xfrm>
            <a:off x="5682615" y="2139315"/>
            <a:ext cx="5203825" cy="3947795"/>
            <a:chOff x="9359" y="3147"/>
            <a:chExt cx="8195" cy="6217"/>
          </a:xfrm>
        </p:grpSpPr>
        <p:sp>
          <p:nvSpPr>
            <p:cNvPr id="7" name="矩形 6"/>
            <p:cNvSpPr/>
            <p:nvPr/>
          </p:nvSpPr>
          <p:spPr>
            <a:xfrm>
              <a:off x="9711" y="3377"/>
              <a:ext cx="7532" cy="5753"/>
            </a:xfrm>
            <a:prstGeom prst="rect">
              <a:avLst/>
            </a:prstGeom>
          </p:spPr>
          <p:txBody>
            <a:bodyPr wrap="square">
              <a:spAutoFit/>
            </a:bodyPr>
            <a:lstStyle/>
            <a:p>
              <a:pPr>
                <a:lnSpc>
                  <a:spcPct val="130000"/>
                </a:lnSpc>
              </a:pPr>
              <a:r>
                <a:rPr lang="zh-CN" altLang="en-US" dirty="0" smtClean="0"/>
                <a:t>       其中，</a:t>
              </a:r>
              <a:r>
                <a:rPr lang="en-US" dirty="0" smtClean="0"/>
                <a:t>APP</a:t>
              </a:r>
              <a:r>
                <a:rPr lang="zh-CN" altLang="en-US" dirty="0" smtClean="0"/>
                <a:t>应用通过开放的</a:t>
              </a:r>
              <a:r>
                <a:rPr lang="en-US" dirty="0" smtClean="0"/>
                <a:t>API</a:t>
              </a:r>
              <a:r>
                <a:rPr lang="zh-CN" altLang="en-US" dirty="0" smtClean="0"/>
                <a:t>（应用程序接口）获取用户交互支持和移动中间件或互联网协议的支持；移动中间件由多种通用性服务元素构成，主要包括建模服务、存在服务、配置管理、数据管理、服务发现、事件通知、环境感知等；互联网协议簇主要包括</a:t>
              </a:r>
              <a:r>
                <a:rPr lang="en-US" dirty="0" smtClean="0"/>
                <a:t>IP</a:t>
              </a:r>
              <a:r>
                <a:rPr lang="zh-CN" altLang="en-US" dirty="0" smtClean="0"/>
                <a:t>服务协议、传输协议、联网协议、控制与管理协议等，并且负责网络层到链路层的适配功能；操作系统负责上层软件与下层硬件之间的交互；硬件或固件是指组成终端或设备的器件单元等。</a:t>
              </a:r>
              <a:endParaRPr lang="zh-CN" altLang="en-US" dirty="0"/>
            </a:p>
          </p:txBody>
        </p:sp>
        <p:sp>
          <p:nvSpPr>
            <p:cNvPr id="8" name="圆角矩形 7"/>
            <p:cNvSpPr/>
            <p:nvPr/>
          </p:nvSpPr>
          <p:spPr>
            <a:xfrm>
              <a:off x="9359" y="3147"/>
              <a:ext cx="8195" cy="6217"/>
            </a:xfrm>
            <a:prstGeom prst="roundRect">
              <a:avLst/>
            </a:prstGeom>
            <a:noFill/>
            <a:ln w="28575">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p:wheel spokes="3"/>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a:solidFill>
                  <a:srgbClr val="FF0000"/>
                </a:solidFill>
              </a:rPr>
              <a:t>9.2  </a:t>
            </a:r>
            <a:r>
              <a:rPr lang="zh-CN" dirty="0">
                <a:solidFill>
                  <a:srgbClr val="FF0000"/>
                </a:solidFill>
                <a:sym typeface="+mn-ea"/>
              </a:rPr>
              <a:t>移动互联网应用技术</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9.2.2  移动互联终端技术</a:t>
            </a:r>
          </a:p>
        </p:txBody>
      </p:sp>
      <p:grpSp>
        <p:nvGrpSpPr>
          <p:cNvPr id="2" name="组合 1"/>
          <p:cNvGrpSpPr/>
          <p:nvPr/>
        </p:nvGrpSpPr>
        <p:grpSpPr>
          <a:xfrm>
            <a:off x="880745" y="2127885"/>
            <a:ext cx="10572115" cy="3686810"/>
            <a:chOff x="1387" y="3375"/>
            <a:chExt cx="16649" cy="5806"/>
          </a:xfrm>
        </p:grpSpPr>
        <p:grpSp>
          <p:nvGrpSpPr>
            <p:cNvPr id="14" name="组合 13"/>
            <p:cNvGrpSpPr/>
            <p:nvPr/>
          </p:nvGrpSpPr>
          <p:grpSpPr>
            <a:xfrm>
              <a:off x="6890" y="3375"/>
              <a:ext cx="4510" cy="4163"/>
              <a:chOff x="3519413" y="1886732"/>
              <a:chExt cx="4791165" cy="4042598"/>
            </a:xfrm>
          </p:grpSpPr>
          <p:sp>
            <p:nvSpPr>
              <p:cNvPr id="15" name="MH_SubTitle_1"/>
              <p:cNvSpPr/>
              <p:nvPr>
                <p:custDataLst>
                  <p:tags r:id="rId7"/>
                </p:custDataLst>
              </p:nvPr>
            </p:nvSpPr>
            <p:spPr bwMode="auto">
              <a:xfrm>
                <a:off x="3529044" y="1895601"/>
                <a:ext cx="2566956" cy="3084306"/>
              </a:xfrm>
              <a:custGeom>
                <a:avLst/>
                <a:gdLst>
                  <a:gd name="T0" fmla="*/ 2122 w 5400"/>
                  <a:gd name="T1" fmla="*/ 4573 h 5125"/>
                  <a:gd name="T2" fmla="*/ 1619 w 5400"/>
                  <a:gd name="T3" fmla="*/ 3375 h 5125"/>
                  <a:gd name="T4" fmla="*/ 4640 w 5400"/>
                  <a:gd name="T5" fmla="*/ 1079 h 5125"/>
                  <a:gd name="T6" fmla="*/ 5400 w 5400"/>
                  <a:gd name="T7" fmla="*/ 533 h 5125"/>
                  <a:gd name="T8" fmla="*/ 4660 w 5400"/>
                  <a:gd name="T9" fmla="*/ 0 h 5125"/>
                  <a:gd name="T10" fmla="*/ 0 w 5400"/>
                  <a:gd name="T11" fmla="*/ 3375 h 5125"/>
                  <a:gd name="T12" fmla="*/ 735 w 5400"/>
                  <a:gd name="T13" fmla="*/ 5125 h 5125"/>
                  <a:gd name="T14" fmla="*/ 1069 w 5400"/>
                  <a:gd name="T15" fmla="*/ 4417 h 5125"/>
                  <a:gd name="T16" fmla="*/ 2122 w 5400"/>
                  <a:gd name="T17" fmla="*/ 4573 h 5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00" h="5125">
                    <a:moveTo>
                      <a:pt x="2122" y="4573"/>
                    </a:moveTo>
                    <a:cubicBezTo>
                      <a:pt x="1803" y="4224"/>
                      <a:pt x="1619" y="3813"/>
                      <a:pt x="1619" y="3375"/>
                    </a:cubicBezTo>
                    <a:cubicBezTo>
                      <a:pt x="1619" y="2202"/>
                      <a:pt x="2934" y="1232"/>
                      <a:pt x="4640" y="1079"/>
                    </a:cubicBezTo>
                    <a:lnTo>
                      <a:pt x="5400" y="533"/>
                    </a:lnTo>
                    <a:lnTo>
                      <a:pt x="4660" y="0"/>
                    </a:lnTo>
                    <a:cubicBezTo>
                      <a:pt x="2048" y="152"/>
                      <a:pt x="0" y="1605"/>
                      <a:pt x="0" y="3375"/>
                    </a:cubicBezTo>
                    <a:cubicBezTo>
                      <a:pt x="0" y="4015"/>
                      <a:pt x="269" y="4614"/>
                      <a:pt x="735" y="5125"/>
                    </a:cubicBezTo>
                    <a:lnTo>
                      <a:pt x="1069" y="4417"/>
                    </a:lnTo>
                    <a:lnTo>
                      <a:pt x="2122" y="4573"/>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16" name="MH_SubTitle_3"/>
              <p:cNvSpPr/>
              <p:nvPr>
                <p:custDataLst>
                  <p:tags r:id="rId8"/>
                </p:custDataLst>
              </p:nvPr>
            </p:nvSpPr>
            <p:spPr bwMode="auto">
              <a:xfrm>
                <a:off x="3952860" y="4561024"/>
                <a:ext cx="4124636" cy="1368306"/>
              </a:xfrm>
              <a:custGeom>
                <a:avLst/>
                <a:gdLst>
                  <a:gd name="T0" fmla="*/ 7256 w 8680"/>
                  <a:gd name="T1" fmla="*/ 0 h 2272"/>
                  <a:gd name="T2" fmla="*/ 4190 w 8680"/>
                  <a:gd name="T3" fmla="*/ 1201 h 2272"/>
                  <a:gd name="T4" fmla="*/ 1420 w 8680"/>
                  <a:gd name="T5" fmla="*/ 298 h 2272"/>
                  <a:gd name="T6" fmla="*/ 326 w 8680"/>
                  <a:gd name="T7" fmla="*/ 136 h 2272"/>
                  <a:gd name="T8" fmla="*/ 0 w 8680"/>
                  <a:gd name="T9" fmla="*/ 827 h 2272"/>
                  <a:gd name="T10" fmla="*/ 4190 w 8680"/>
                  <a:gd name="T11" fmla="*/ 2272 h 2272"/>
                  <a:gd name="T12" fmla="*/ 8680 w 8680"/>
                  <a:gd name="T13" fmla="*/ 509 h 2272"/>
                  <a:gd name="T14" fmla="*/ 7574 w 8680"/>
                  <a:gd name="T15" fmla="*/ 673 h 2272"/>
                  <a:gd name="T16" fmla="*/ 7256 w 8680"/>
                  <a:gd name="T17" fmla="*/ 0 h 2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0" h="2272">
                    <a:moveTo>
                      <a:pt x="7256" y="0"/>
                    </a:moveTo>
                    <a:cubicBezTo>
                      <a:pt x="6662" y="716"/>
                      <a:pt x="5512" y="1201"/>
                      <a:pt x="4190" y="1201"/>
                    </a:cubicBezTo>
                    <a:cubicBezTo>
                      <a:pt x="3062" y="1201"/>
                      <a:pt x="2059" y="847"/>
                      <a:pt x="1420" y="298"/>
                    </a:cubicBezTo>
                    <a:lnTo>
                      <a:pt x="326" y="136"/>
                    </a:lnTo>
                    <a:lnTo>
                      <a:pt x="0" y="827"/>
                    </a:lnTo>
                    <a:cubicBezTo>
                      <a:pt x="925" y="1701"/>
                      <a:pt x="2457" y="2272"/>
                      <a:pt x="4190" y="2272"/>
                    </a:cubicBezTo>
                    <a:cubicBezTo>
                      <a:pt x="6126" y="2272"/>
                      <a:pt x="7811" y="1559"/>
                      <a:pt x="8680" y="509"/>
                    </a:cubicBezTo>
                    <a:lnTo>
                      <a:pt x="7574" y="673"/>
                    </a:lnTo>
                    <a:lnTo>
                      <a:pt x="7256" y="0"/>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17" name="MH_Other_1"/>
              <p:cNvSpPr/>
              <p:nvPr>
                <p:custDataLst>
                  <p:tags r:id="rId9"/>
                </p:custDataLst>
              </p:nvPr>
            </p:nvSpPr>
            <p:spPr bwMode="auto">
              <a:xfrm>
                <a:off x="5827579" y="1886732"/>
                <a:ext cx="2482999" cy="2992886"/>
              </a:xfrm>
              <a:custGeom>
                <a:avLst/>
                <a:gdLst>
                  <a:gd name="T0" fmla="*/ 3345 w 5225"/>
                  <a:gd name="T1" fmla="*/ 4269 h 4970"/>
                  <a:gd name="T2" fmla="*/ 3677 w 5225"/>
                  <a:gd name="T3" fmla="*/ 4970 h 4970"/>
                  <a:gd name="T4" fmla="*/ 4755 w 5225"/>
                  <a:gd name="T5" fmla="*/ 4809 h 4970"/>
                  <a:gd name="T6" fmla="*/ 5225 w 5225"/>
                  <a:gd name="T7" fmla="*/ 3389 h 4970"/>
                  <a:gd name="T8" fmla="*/ 109 w 5225"/>
                  <a:gd name="T9" fmla="*/ 0 h 4970"/>
                  <a:gd name="T10" fmla="*/ 0 w 5225"/>
                  <a:gd name="T11" fmla="*/ 1 h 4970"/>
                  <a:gd name="T12" fmla="*/ 758 w 5225"/>
                  <a:gd name="T13" fmla="*/ 547 h 4970"/>
                  <a:gd name="T14" fmla="*/ 27 w 5225"/>
                  <a:gd name="T15" fmla="*/ 1072 h 4970"/>
                  <a:gd name="T16" fmla="*/ 109 w 5225"/>
                  <a:gd name="T17" fmla="*/ 1071 h 4970"/>
                  <a:gd name="T18" fmla="*/ 3607 w 5225"/>
                  <a:gd name="T19" fmla="*/ 3389 h 4970"/>
                  <a:gd name="T20" fmla="*/ 3345 w 5225"/>
                  <a:gd name="T21" fmla="*/ 4269 h 4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5" h="4970">
                    <a:moveTo>
                      <a:pt x="3345" y="4269"/>
                    </a:moveTo>
                    <a:lnTo>
                      <a:pt x="3677" y="4970"/>
                    </a:lnTo>
                    <a:lnTo>
                      <a:pt x="4755" y="4809"/>
                    </a:lnTo>
                    <a:cubicBezTo>
                      <a:pt x="5057" y="4377"/>
                      <a:pt x="5225" y="3896"/>
                      <a:pt x="5225" y="3389"/>
                    </a:cubicBezTo>
                    <a:cubicBezTo>
                      <a:pt x="5225" y="1518"/>
                      <a:pt x="2935" y="0"/>
                      <a:pt x="109" y="0"/>
                    </a:cubicBezTo>
                    <a:cubicBezTo>
                      <a:pt x="73" y="0"/>
                      <a:pt x="36" y="1"/>
                      <a:pt x="0" y="1"/>
                    </a:cubicBezTo>
                    <a:lnTo>
                      <a:pt x="758" y="547"/>
                    </a:lnTo>
                    <a:lnTo>
                      <a:pt x="27" y="1072"/>
                    </a:lnTo>
                    <a:cubicBezTo>
                      <a:pt x="54" y="1072"/>
                      <a:pt x="82" y="1071"/>
                      <a:pt x="109" y="1071"/>
                    </a:cubicBezTo>
                    <a:cubicBezTo>
                      <a:pt x="2042" y="1071"/>
                      <a:pt x="3607" y="2109"/>
                      <a:pt x="3607" y="3389"/>
                    </a:cubicBezTo>
                    <a:cubicBezTo>
                      <a:pt x="3607" y="3700"/>
                      <a:pt x="3514" y="3998"/>
                      <a:pt x="3345" y="4269"/>
                    </a:cubicBez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grpSp>
            <p:nvGrpSpPr>
              <p:cNvPr id="18" name="组合 12"/>
              <p:cNvGrpSpPr/>
              <p:nvPr/>
            </p:nvGrpSpPr>
            <p:grpSpPr>
              <a:xfrm>
                <a:off x="3519413" y="2255891"/>
                <a:ext cx="4757337" cy="3448006"/>
                <a:chOff x="3519413" y="2255891"/>
                <a:chExt cx="4757337" cy="3448006"/>
              </a:xfrm>
            </p:grpSpPr>
            <p:sp>
              <p:nvSpPr>
                <p:cNvPr id="5" name="MH_SubTitle_2"/>
                <p:cNvSpPr/>
                <p:nvPr>
                  <p:custDataLst>
                    <p:tags r:id="rId11"/>
                  </p:custDataLst>
                </p:nvPr>
              </p:nvSpPr>
              <p:spPr>
                <a:xfrm rot="3673167">
                  <a:off x="4060059" y="1846853"/>
                  <a:ext cx="3243870" cy="43251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终端硬件技术</a:t>
                  </a:r>
                </a:p>
              </p:txBody>
            </p:sp>
            <p:sp>
              <p:nvSpPr>
                <p:cNvPr id="21" name="MH_Other_2"/>
                <p:cNvSpPr/>
                <p:nvPr>
                  <p:custDataLst>
                    <p:tags r:id="rId12"/>
                  </p:custDataLst>
                </p:nvPr>
              </p:nvSpPr>
              <p:spPr>
                <a:xfrm rot="10873167">
                  <a:off x="3932990" y="2255891"/>
                  <a:ext cx="3919715" cy="3288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终端软件技术</a:t>
                  </a:r>
                </a:p>
              </p:txBody>
            </p:sp>
            <p:sp>
              <p:nvSpPr>
                <p:cNvPr id="22" name="MH_Other_3"/>
                <p:cNvSpPr/>
                <p:nvPr>
                  <p:custDataLst>
                    <p:tags r:id="rId13"/>
                  </p:custDataLst>
                </p:nvPr>
              </p:nvSpPr>
              <p:spPr>
                <a:xfrm rot="18073167">
                  <a:off x="4492234" y="1919380"/>
                  <a:ext cx="3243872" cy="43251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zh-CN" sz="2000" dirty="0">
                      <a:solidFill>
                        <a:schemeClr val="tx1"/>
                      </a:solidFill>
                      <a:latin typeface="微软雅黑" panose="020B0503020204020204" charset="-122"/>
                      <a:ea typeface="微软雅黑" panose="020B0503020204020204" charset="-122"/>
                    </a:rPr>
                    <a:t>终端制造技术</a:t>
                  </a:r>
                </a:p>
              </p:txBody>
            </p:sp>
          </p:grpSp>
          <p:sp>
            <p:nvSpPr>
              <p:cNvPr id="8" name="MH_Title_1"/>
              <p:cNvSpPr/>
              <p:nvPr>
                <p:custDataLst>
                  <p:tags r:id="rId10"/>
                </p:custDataLst>
              </p:nvPr>
            </p:nvSpPr>
            <p:spPr>
              <a:xfrm>
                <a:off x="4473783" y="2682073"/>
                <a:ext cx="2940298" cy="2466846"/>
              </a:xfrm>
              <a:prstGeom prst="ellipse">
                <a:avLst/>
              </a:prstGeom>
              <a:solidFill>
                <a:srgbClr val="92D050"/>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fontScale="82500" lnSpcReduction="10000"/>
              </a:bodyPr>
              <a:lstStyle/>
              <a:p>
                <a:pPr algn="ctr">
                  <a:lnSpc>
                    <a:spcPct val="120000"/>
                  </a:lnSpc>
                  <a:spcBef>
                    <a:spcPts val="450"/>
                  </a:spcBef>
                  <a:spcAft>
                    <a:spcPts val="450"/>
                  </a:spcAft>
                  <a:defRPr/>
                </a:pPr>
                <a:r>
                  <a:rPr lang="zh-CN" altLang="en-US" sz="2800" b="1" dirty="0" smtClean="0">
                    <a:solidFill>
                      <a:srgbClr val="FFFFFF"/>
                    </a:solidFill>
                    <a:latin typeface="微软雅黑" panose="020B0503020204020204" charset="-122"/>
                    <a:ea typeface="微软雅黑" panose="020B0503020204020204" charset="-122"/>
                    <a:sym typeface="+mn-ea"/>
                  </a:rPr>
                  <a:t>移动互联终端技术</a:t>
                </a:r>
                <a:endParaRPr lang="zh-CN" altLang="en-US" sz="2800" b="1" dirty="0" smtClean="0">
                  <a:solidFill>
                    <a:srgbClr val="FFFFFF"/>
                  </a:solidFill>
                  <a:latin typeface="微软雅黑" panose="020B0503020204020204" charset="-122"/>
                  <a:ea typeface="微软雅黑" panose="020B0503020204020204" charset="-122"/>
                </a:endParaRPr>
              </a:p>
            </p:txBody>
          </p:sp>
        </p:grpSp>
        <p:sp>
          <p:nvSpPr>
            <p:cNvPr id="23" name="MH_Other_2"/>
            <p:cNvSpPr/>
            <p:nvPr>
              <p:custDataLst>
                <p:tags r:id="rId1"/>
              </p:custDataLst>
            </p:nvPr>
          </p:nvSpPr>
          <p:spPr>
            <a:xfrm rot="16200000" flipH="1" flipV="1">
              <a:off x="11314" y="3291"/>
              <a:ext cx="620" cy="1238"/>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24" name="MH_SubTitle_4"/>
            <p:cNvSpPr txBox="1"/>
            <p:nvPr>
              <p:custDataLst>
                <p:tags r:id="rId2"/>
              </p:custDataLst>
            </p:nvPr>
          </p:nvSpPr>
          <p:spPr bwMode="auto">
            <a:xfrm>
              <a:off x="12243" y="3522"/>
              <a:ext cx="5793" cy="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nSpc>
                  <a:spcPct val="130000"/>
                </a:lnSpc>
                <a:defRPr/>
              </a:pPr>
              <a:r>
                <a:rPr lang="zh-CN" altLang="en-US" sz="2000" b="1" dirty="0" smtClean="0">
                  <a:solidFill>
                    <a:srgbClr val="00B0F0"/>
                  </a:solidFill>
                  <a:latin typeface="微软雅黑" panose="020B0503020204020204" charset="-122"/>
                  <a:ea typeface="微软雅黑" panose="020B0503020204020204" charset="-122"/>
                </a:rPr>
                <a:t>终端硬件技术</a:t>
              </a:r>
            </a:p>
            <a:p>
              <a:pPr>
                <a:lnSpc>
                  <a:spcPct val="120000"/>
                </a:lnSpc>
                <a:defRPr/>
              </a:pPr>
              <a:r>
                <a:rPr lang="zh-CN" altLang="en-US" sz="2000" dirty="0" smtClean="0">
                  <a:latin typeface="微软雅黑" pitchFamily="34" charset="-122"/>
                  <a:ea typeface="微软雅黑" pitchFamily="34" charset="-122"/>
                </a:rPr>
                <a:t>        实现移动互联网信息输入、信息输出、信息存储与处理等技术的统称，一般分为处理器芯片技术、人机交互技术、移动终端节能技术和移动定位技术等。</a:t>
              </a:r>
            </a:p>
          </p:txBody>
        </p:sp>
        <p:sp>
          <p:nvSpPr>
            <p:cNvPr id="25" name="MH_Other_2"/>
            <p:cNvSpPr/>
            <p:nvPr>
              <p:custDataLst>
                <p:tags r:id="rId3"/>
              </p:custDataLst>
            </p:nvPr>
          </p:nvSpPr>
          <p:spPr>
            <a:xfrm rot="5400000" flipV="1">
              <a:off x="6534" y="3291"/>
              <a:ext cx="620" cy="1238"/>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26" name="MH_SubTitle_4"/>
            <p:cNvSpPr txBox="1"/>
            <p:nvPr>
              <p:custDataLst>
                <p:tags r:id="rId4"/>
              </p:custDataLst>
            </p:nvPr>
          </p:nvSpPr>
          <p:spPr bwMode="auto">
            <a:xfrm>
              <a:off x="1387" y="3522"/>
              <a:ext cx="4838" cy="3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r">
                <a:lnSpc>
                  <a:spcPct val="130000"/>
                </a:lnSpc>
                <a:defRPr/>
              </a:pPr>
              <a:r>
                <a:rPr lang="zh-CN" altLang="en-US" sz="2000" b="1" dirty="0" smtClean="0">
                  <a:solidFill>
                    <a:srgbClr val="00B0F0"/>
                  </a:solidFill>
                  <a:latin typeface="微软雅黑" panose="020B0503020204020204" charset="-122"/>
                  <a:ea typeface="微软雅黑" panose="020B0503020204020204" charset="-122"/>
                </a:rPr>
                <a:t>终端制造技术</a:t>
              </a:r>
            </a:p>
            <a:p>
              <a:pPr algn="l">
                <a:lnSpc>
                  <a:spcPct val="130000"/>
                </a:lnSpc>
                <a:defRPr/>
              </a:pPr>
              <a:r>
                <a:rPr lang="zh-CN" altLang="en-US" sz="2000" dirty="0" smtClean="0"/>
                <a:t>        </a:t>
              </a:r>
              <a:r>
                <a:rPr lang="zh-CN" altLang="en-US" sz="2000" dirty="0" smtClean="0">
                  <a:latin typeface="微软雅黑" pitchFamily="34" charset="-122"/>
                  <a:ea typeface="微软雅黑" pitchFamily="34" charset="-122"/>
                </a:rPr>
                <a:t>一类集成了机械工程、自动化、信息、电子技术等所形成的技术、设备和系统的统称。</a:t>
              </a:r>
            </a:p>
          </p:txBody>
        </p:sp>
        <p:sp>
          <p:nvSpPr>
            <p:cNvPr id="27" name="MH_Other_2"/>
            <p:cNvSpPr/>
            <p:nvPr>
              <p:custDataLst>
                <p:tags r:id="rId5"/>
              </p:custDataLst>
            </p:nvPr>
          </p:nvSpPr>
          <p:spPr>
            <a:xfrm rot="16200000">
              <a:off x="7518" y="6638"/>
              <a:ext cx="338" cy="2138"/>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28" name="MH_SubTitle_4"/>
            <p:cNvSpPr txBox="1"/>
            <p:nvPr>
              <p:custDataLst>
                <p:tags r:id="rId6"/>
              </p:custDataLst>
            </p:nvPr>
          </p:nvSpPr>
          <p:spPr bwMode="auto">
            <a:xfrm>
              <a:off x="3164" y="7538"/>
              <a:ext cx="11711" cy="16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lnSpc>
                  <a:spcPct val="130000"/>
                </a:lnSpc>
                <a:defRPr/>
              </a:pPr>
              <a:r>
                <a:rPr lang="zh-CN" altLang="en-US" sz="2000" b="1" dirty="0" smtClean="0">
                  <a:solidFill>
                    <a:srgbClr val="00B0F0"/>
                  </a:solidFill>
                  <a:latin typeface="微软雅黑" panose="020B0503020204020204" charset="-122"/>
                  <a:ea typeface="微软雅黑" panose="020B0503020204020204" charset="-122"/>
                </a:rPr>
                <a:t>终端软件技术</a:t>
              </a:r>
              <a:endParaRPr lang="en-US" altLang="zh-CN" sz="2000" dirty="0" smtClean="0"/>
            </a:p>
            <a:p>
              <a:pPr>
                <a:lnSpc>
                  <a:spcPct val="110000"/>
                </a:lnSpc>
                <a:defRPr/>
              </a:pPr>
              <a:r>
                <a:rPr lang="zh-CN" altLang="en-US" sz="2000" dirty="0" smtClean="0"/>
                <a:t>         </a:t>
              </a:r>
              <a:r>
                <a:rPr lang="zh-CN" altLang="en-US" sz="2000" dirty="0" smtClean="0">
                  <a:latin typeface="微软雅黑" pitchFamily="34" charset="-122"/>
                  <a:ea typeface="微软雅黑" pitchFamily="34" charset="-122"/>
                </a:rPr>
                <a:t>通过用户与硬件间的接口界面与移动终端进行数据或信息交换的技术统称，一般分为移动操作系统、移动中间件及移动应用程序等技术。</a:t>
              </a:r>
            </a:p>
          </p:txBody>
        </p:sp>
      </p:grpSp>
    </p:spTree>
  </p:cSld>
  <p:clrMapOvr>
    <a:masterClrMapping/>
  </p:clrMapOvr>
  <p:transition>
    <p:wheel spokes="3"/>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to="" calcmode="lin" valueType="num">
                                      <p:cBhvr>
                                        <p:cTn id="7" dur="1" fill="hold"/>
                                        <p:tgtEl>
                                          <p:spTgt spid="2"/>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a:solidFill>
                  <a:srgbClr val="FF0000"/>
                </a:solidFill>
              </a:rPr>
              <a:t>9.2  </a:t>
            </a:r>
            <a:r>
              <a:rPr lang="zh-CN" dirty="0">
                <a:solidFill>
                  <a:srgbClr val="FF0000"/>
                </a:solidFill>
                <a:sym typeface="+mn-ea"/>
              </a:rPr>
              <a:t>移动互联网应用技术</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9.2.2  移动互联终端技术</a:t>
            </a:r>
          </a:p>
        </p:txBody>
      </p:sp>
      <p:grpSp>
        <p:nvGrpSpPr>
          <p:cNvPr id="9" name="组合 8"/>
          <p:cNvGrpSpPr/>
          <p:nvPr/>
        </p:nvGrpSpPr>
        <p:grpSpPr>
          <a:xfrm>
            <a:off x="15240" y="1725930"/>
            <a:ext cx="12209780" cy="4016375"/>
            <a:chOff x="24" y="2718"/>
            <a:chExt cx="19228" cy="6325"/>
          </a:xfrm>
        </p:grpSpPr>
        <p:grpSp>
          <p:nvGrpSpPr>
            <p:cNvPr id="10" name="组合 9"/>
            <p:cNvGrpSpPr/>
            <p:nvPr/>
          </p:nvGrpSpPr>
          <p:grpSpPr>
            <a:xfrm>
              <a:off x="24" y="4250"/>
              <a:ext cx="18939" cy="4793"/>
              <a:chOff x="0" y="2130426"/>
              <a:chExt cx="21645385" cy="3649762"/>
            </a:xfrm>
          </p:grpSpPr>
          <p:sp>
            <p:nvSpPr>
              <p:cNvPr id="11" name="MH_Other_1"/>
              <p:cNvSpPr/>
              <p:nvPr>
                <p:custDataLst>
                  <p:tags r:id="rId4"/>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2" name="MH_Other_2"/>
              <p:cNvSpPr/>
              <p:nvPr>
                <p:custDataLst>
                  <p:tags r:id="rId5"/>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3"/>
              <p:cNvSpPr/>
              <p:nvPr>
                <p:custDataLst>
                  <p:tags r:id="rId6"/>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4" name="MH_Other_4"/>
              <p:cNvSpPr>
                <a:spLocks noChangeArrowheads="1"/>
              </p:cNvSpPr>
              <p:nvPr>
                <p:custDataLst>
                  <p:tags r:id="rId7"/>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5" name="MH_Other_5"/>
              <p:cNvSpPr>
                <a:spLocks noChangeArrowheads="1"/>
              </p:cNvSpPr>
              <p:nvPr>
                <p:custDataLst>
                  <p:tags r:id="rId8"/>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6" name="MH_Other_6"/>
              <p:cNvSpPr>
                <a:spLocks noChangeArrowheads="1"/>
              </p:cNvSpPr>
              <p:nvPr>
                <p:custDataLst>
                  <p:tags r:id="rId9"/>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7" name="MH_Other_7"/>
              <p:cNvSpPr/>
              <p:nvPr>
                <p:custDataLst>
                  <p:tags r:id="rId10"/>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8" name="MH_Text_1"/>
              <p:cNvSpPr/>
              <p:nvPr>
                <p:custDataLst>
                  <p:tags r:id="rId11"/>
                </p:custDataLst>
              </p:nvPr>
            </p:nvSpPr>
            <p:spPr bwMode="auto">
              <a:xfrm>
                <a:off x="7428851" y="3182027"/>
                <a:ext cx="13165066" cy="149706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sz="2400" dirty="0" smtClean="0">
                    <a:solidFill>
                      <a:schemeClr val="tx1"/>
                    </a:solidFill>
                    <a:latin typeface="微软雅黑" panose="020B0503020204020204" charset="-122"/>
                    <a:ea typeface="微软雅黑" panose="020B0503020204020204" charset="-122"/>
                  </a:rPr>
                  <a:t>处理器芯片技术主要研究移动互联网的核心运算与管理控制技术，负责信息的接收、存储、发送、处理及电源管理等。</a:t>
                </a:r>
              </a:p>
            </p:txBody>
          </p:sp>
        </p:grpSp>
        <p:grpSp>
          <p:nvGrpSpPr>
            <p:cNvPr id="34" name="组合 33"/>
            <p:cNvGrpSpPr/>
            <p:nvPr/>
          </p:nvGrpSpPr>
          <p:grpSpPr>
            <a:xfrm flipH="1">
              <a:off x="11357" y="2718"/>
              <a:ext cx="7895" cy="1533"/>
              <a:chOff x="1" y="3428100"/>
              <a:chExt cx="5013433" cy="973302"/>
            </a:xfrm>
          </p:grpSpPr>
          <p:sp>
            <p:nvSpPr>
              <p:cNvPr id="35" name="MH_SubTitle_2"/>
              <p:cNvSpPr/>
              <p:nvPr>
                <p:custDataLst>
                  <p:tags r:id="rId1"/>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处理器芯片技术</a:t>
                </a:r>
              </a:p>
            </p:txBody>
          </p:sp>
          <p:sp>
            <p:nvSpPr>
              <p:cNvPr id="36" name="MH_Other_5"/>
              <p:cNvSpPr/>
              <p:nvPr>
                <p:custDataLst>
                  <p:tags r:id="rId2"/>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1</a:t>
                </a:r>
              </a:p>
            </p:txBody>
          </p:sp>
          <p:sp>
            <p:nvSpPr>
              <p:cNvPr id="37" name="MH_Other_6"/>
              <p:cNvSpPr/>
              <p:nvPr>
                <p:custDataLst>
                  <p:tags r:id="rId3"/>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grpSp>
    </p:spTree>
  </p:cSld>
  <p:clrMapOvr>
    <a:masterClrMapping/>
  </p:clrMapOvr>
  <p:transition>
    <p:wheel spokes="3"/>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smtClean="0">
                <a:solidFill>
                  <a:srgbClr val="FF0000"/>
                </a:solidFill>
              </a:rPr>
              <a:t>9.2  </a:t>
            </a:r>
            <a:r>
              <a:rPr lang="zh-CN" altLang="en-US" dirty="0" smtClean="0">
                <a:solidFill>
                  <a:srgbClr val="FF0000"/>
                </a:solidFill>
                <a:sym typeface="+mn-ea"/>
              </a:rPr>
              <a:t>移动互联网应用技术</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9.2.2  移动互联终端技术</a:t>
            </a:r>
          </a:p>
        </p:txBody>
      </p:sp>
      <p:grpSp>
        <p:nvGrpSpPr>
          <p:cNvPr id="9" name="组合 8"/>
          <p:cNvGrpSpPr/>
          <p:nvPr/>
        </p:nvGrpSpPr>
        <p:grpSpPr>
          <a:xfrm>
            <a:off x="15240" y="1725930"/>
            <a:ext cx="12209780" cy="4016375"/>
            <a:chOff x="24" y="2718"/>
            <a:chExt cx="19228" cy="6325"/>
          </a:xfrm>
        </p:grpSpPr>
        <p:grpSp>
          <p:nvGrpSpPr>
            <p:cNvPr id="10" name="组合 9"/>
            <p:cNvGrpSpPr/>
            <p:nvPr/>
          </p:nvGrpSpPr>
          <p:grpSpPr>
            <a:xfrm>
              <a:off x="24" y="4250"/>
              <a:ext cx="18939" cy="4793"/>
              <a:chOff x="0" y="2130426"/>
              <a:chExt cx="21645385" cy="3649762"/>
            </a:xfrm>
          </p:grpSpPr>
          <p:sp>
            <p:nvSpPr>
              <p:cNvPr id="11" name="MH_Other_1"/>
              <p:cNvSpPr/>
              <p:nvPr>
                <p:custDataLst>
                  <p:tags r:id="rId4"/>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2" name="MH_Other_2"/>
              <p:cNvSpPr/>
              <p:nvPr>
                <p:custDataLst>
                  <p:tags r:id="rId5"/>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3"/>
              <p:cNvSpPr/>
              <p:nvPr>
                <p:custDataLst>
                  <p:tags r:id="rId6"/>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4" name="MH_Other_4"/>
              <p:cNvSpPr>
                <a:spLocks noChangeArrowheads="1"/>
              </p:cNvSpPr>
              <p:nvPr>
                <p:custDataLst>
                  <p:tags r:id="rId7"/>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5" name="MH_Other_5"/>
              <p:cNvSpPr>
                <a:spLocks noChangeArrowheads="1"/>
              </p:cNvSpPr>
              <p:nvPr>
                <p:custDataLst>
                  <p:tags r:id="rId8"/>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6" name="MH_Other_6"/>
              <p:cNvSpPr>
                <a:spLocks noChangeArrowheads="1"/>
              </p:cNvSpPr>
              <p:nvPr>
                <p:custDataLst>
                  <p:tags r:id="rId9"/>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7" name="MH_Other_7"/>
              <p:cNvSpPr/>
              <p:nvPr>
                <p:custDataLst>
                  <p:tags r:id="rId10"/>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8" name="MH_Text_1"/>
              <p:cNvSpPr/>
              <p:nvPr>
                <p:custDataLst>
                  <p:tags r:id="rId11"/>
                </p:custDataLst>
              </p:nvPr>
            </p:nvSpPr>
            <p:spPr bwMode="auto">
              <a:xfrm>
                <a:off x="7428851" y="2238556"/>
                <a:ext cx="13165066" cy="149706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smtClean="0">
                    <a:solidFill>
                      <a:schemeClr val="tx1"/>
                    </a:solidFill>
                    <a:latin typeface="微软雅黑" panose="020B0503020204020204" charset="-122"/>
                    <a:ea typeface="微软雅黑" panose="020B0503020204020204" charset="-122"/>
                  </a:rPr>
                  <a:t>人机交互是通过输入、输出设备，实现人与终端设备交互的手段，包括人通过输入设备给机器输入交互信息、机器通过输出或显示设备给人提供交互信息，最终实现人机互动。</a:t>
                </a:r>
              </a:p>
              <a:p>
                <a:pPr indent="457200">
                  <a:lnSpc>
                    <a:spcPct val="130000"/>
                  </a:lnSpc>
                  <a:defRPr/>
                </a:pPr>
                <a:r>
                  <a:rPr lang="da-DK" altLang="zh-CN" dirty="0" smtClean="0">
                    <a:solidFill>
                      <a:schemeClr val="tx1"/>
                    </a:solidFill>
                    <a:latin typeface="微软雅黑" panose="020B0503020204020204" charset="-122"/>
                    <a:ea typeface="微软雅黑" panose="020B0503020204020204" charset="-122"/>
                  </a:rPr>
                  <a:t>从iPhone的多点触控技术、Siri语音控制技术到谷歌眼镜。新型人机交互技术彻底颠覆了传统手机的定义，使智能终端具有了“听觉”“视觉”“触觉”，突破了移动终端各种物理局限，掀起了移动互联网的一波又一波发展高潮，极大地改善了移动智能终端的用户体验。</a:t>
                </a:r>
              </a:p>
            </p:txBody>
          </p:sp>
        </p:grpSp>
        <p:grpSp>
          <p:nvGrpSpPr>
            <p:cNvPr id="34" name="组合 33"/>
            <p:cNvGrpSpPr/>
            <p:nvPr/>
          </p:nvGrpSpPr>
          <p:grpSpPr>
            <a:xfrm flipH="1">
              <a:off x="11357" y="2718"/>
              <a:ext cx="7895" cy="1533"/>
              <a:chOff x="1" y="3428100"/>
              <a:chExt cx="5013433" cy="973302"/>
            </a:xfrm>
          </p:grpSpPr>
          <p:sp>
            <p:nvSpPr>
              <p:cNvPr id="35" name="MH_SubTitle_2"/>
              <p:cNvSpPr/>
              <p:nvPr>
                <p:custDataLst>
                  <p:tags r:id="rId1"/>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人机交互技术</a:t>
                </a:r>
              </a:p>
            </p:txBody>
          </p:sp>
          <p:sp>
            <p:nvSpPr>
              <p:cNvPr id="36" name="MH_Other_5"/>
              <p:cNvSpPr/>
              <p:nvPr>
                <p:custDataLst>
                  <p:tags r:id="rId2"/>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2</a:t>
                </a:r>
              </a:p>
            </p:txBody>
          </p:sp>
          <p:sp>
            <p:nvSpPr>
              <p:cNvPr id="37" name="MH_Other_6"/>
              <p:cNvSpPr/>
              <p:nvPr>
                <p:custDataLst>
                  <p:tags r:id="rId3"/>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grpSp>
    </p:spTree>
  </p:cSld>
  <p:clrMapOvr>
    <a:masterClrMapping/>
  </p:clrMapOvr>
  <p:transition>
    <p:wheel spokes="3"/>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smtClean="0">
                <a:solidFill>
                  <a:srgbClr val="FF0000"/>
                </a:solidFill>
              </a:rPr>
              <a:t>9.2  </a:t>
            </a:r>
            <a:r>
              <a:rPr lang="zh-CN" altLang="en-US" dirty="0" smtClean="0">
                <a:solidFill>
                  <a:srgbClr val="FF0000"/>
                </a:solidFill>
                <a:sym typeface="+mn-ea"/>
              </a:rPr>
              <a:t>移动互联网应用技术</a:t>
            </a:r>
            <a:r>
              <a:rPr dirty="0" smtClean="0">
                <a:solidFill>
                  <a:schemeClr val="tx1"/>
                </a:solidFill>
              </a:rPr>
              <a:t/>
            </a:r>
            <a:br>
              <a:rPr dirty="0" smtClean="0">
                <a:solidFill>
                  <a:schemeClr val="tx1"/>
                </a:solidFill>
              </a:rPr>
            </a:b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9.2.2  </a:t>
            </a:r>
            <a:r>
              <a:rPr lang="zh-CN" altLang="en-US" sz="2400" dirty="0" smtClean="0">
                <a:solidFill>
                  <a:schemeClr val="tx1"/>
                </a:solidFill>
              </a:rPr>
              <a:t>移动互联终端技术</a:t>
            </a:r>
          </a:p>
        </p:txBody>
      </p:sp>
      <p:grpSp>
        <p:nvGrpSpPr>
          <p:cNvPr id="27" name="组合 26"/>
          <p:cNvGrpSpPr/>
          <p:nvPr/>
        </p:nvGrpSpPr>
        <p:grpSpPr>
          <a:xfrm>
            <a:off x="693420" y="4105275"/>
            <a:ext cx="10768330" cy="2247900"/>
            <a:chOff x="2842" y="8085"/>
            <a:chExt cx="16958" cy="3540"/>
          </a:xfrm>
        </p:grpSpPr>
        <p:sp>
          <p:nvSpPr>
            <p:cNvPr id="11" name="MH_Other_6"/>
            <p:cNvSpPr>
              <a:spLocks noChangeArrowheads="1"/>
            </p:cNvSpPr>
            <p:nvPr>
              <p:custDataLst>
                <p:tags r:id="rId9"/>
              </p:custDataLst>
            </p:nvPr>
          </p:nvSpPr>
          <p:spPr bwMode="auto">
            <a:xfrm>
              <a:off x="3708" y="8285"/>
              <a:ext cx="747" cy="560"/>
            </a:xfrm>
            <a:prstGeom prst="diamond">
              <a:avLst/>
            </a:prstGeom>
            <a:solidFill>
              <a:srgbClr val="D0EDF8"/>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Other_7"/>
            <p:cNvSpPr>
              <a:spLocks noChangeArrowheads="1"/>
            </p:cNvSpPr>
            <p:nvPr>
              <p:custDataLst>
                <p:tags r:id="rId10"/>
              </p:custDataLst>
            </p:nvPr>
          </p:nvSpPr>
          <p:spPr bwMode="auto">
            <a:xfrm>
              <a:off x="3708" y="8925"/>
              <a:ext cx="747" cy="560"/>
            </a:xfrm>
            <a:prstGeom prst="diamond">
              <a:avLst/>
            </a:prstGeom>
            <a:solidFill>
              <a:srgbClr val="D0EDF8"/>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4" name="MH_Other_8"/>
            <p:cNvSpPr>
              <a:spLocks noChangeArrowheads="1"/>
            </p:cNvSpPr>
            <p:nvPr>
              <p:custDataLst>
                <p:tags r:id="rId11"/>
              </p:custDataLst>
            </p:nvPr>
          </p:nvSpPr>
          <p:spPr bwMode="auto">
            <a:xfrm>
              <a:off x="4138" y="8605"/>
              <a:ext cx="747" cy="560"/>
            </a:xfrm>
            <a:prstGeom prst="diamond">
              <a:avLst/>
            </a:prstGeom>
            <a:solidFill>
              <a:srgbClr val="9AD7F0"/>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5" name="MH_Other_9"/>
            <p:cNvSpPr/>
            <p:nvPr>
              <p:custDataLst>
                <p:tags r:id="rId12"/>
              </p:custDataLst>
            </p:nvPr>
          </p:nvSpPr>
          <p:spPr>
            <a:xfrm>
              <a:off x="2898" y="8085"/>
              <a:ext cx="1127" cy="1603"/>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3">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16" name="MH_Other_10"/>
            <p:cNvSpPr/>
            <p:nvPr>
              <p:custDataLst>
                <p:tags r:id="rId13"/>
              </p:custDataLst>
            </p:nvPr>
          </p:nvSpPr>
          <p:spPr bwMode="auto">
            <a:xfrm>
              <a:off x="2842" y="8085"/>
              <a:ext cx="1070" cy="1603"/>
            </a:xfrm>
            <a:custGeom>
              <a:avLst/>
              <a:gdLst>
                <a:gd name="T0" fmla="*/ 36 w 1806862"/>
                <a:gd name="T1" fmla="*/ 0 h 3612822"/>
                <a:gd name="T2" fmla="*/ 143580 w 1806862"/>
                <a:gd name="T3" fmla="*/ 143357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68C6EA"/>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sp>
          <p:nvSpPr>
            <p:cNvPr id="17" name="MH_Text_3"/>
            <p:cNvSpPr/>
            <p:nvPr>
              <p:custDataLst>
                <p:tags r:id="rId14"/>
              </p:custDataLst>
            </p:nvPr>
          </p:nvSpPr>
          <p:spPr>
            <a:xfrm>
              <a:off x="5034" y="9068"/>
              <a:ext cx="14766" cy="2557"/>
            </a:xfrm>
            <a:prstGeom prst="rect">
              <a:avLst/>
            </a:prstGeom>
          </p:spPr>
          <p:txBody>
            <a:bodyPr>
              <a:normAutofit fontScale="92500" lnSpcReduction="10000"/>
            </a:bodyPr>
            <a:lstStyle/>
            <a:p>
              <a:pPr indent="457200">
                <a:lnSpc>
                  <a:spcPct val="150000"/>
                </a:lnSpc>
              </a:pPr>
              <a:r>
                <a:rPr lang="zh-CN" altLang="en-US" dirty="0" smtClean="0">
                  <a:latin typeface="+mn-ea"/>
                </a:rPr>
                <a:t>指在没有鼠标、键盘等传统输入设备的情况下实现人机交互的技术，用户只需触碰终端显示屏上的图符或文字就能完全操作终端。触控技术分为单点触控和多点触控技术。单点触控技术是指一次只能传达一个触点信息；多点触控技术是指同时传达多点触控信息，终端同时响应用户的多点操作。</a:t>
              </a:r>
            </a:p>
          </p:txBody>
        </p:sp>
        <p:sp>
          <p:nvSpPr>
            <p:cNvPr id="18" name="MH_SubTitle_3"/>
            <p:cNvSpPr/>
            <p:nvPr>
              <p:custDataLst>
                <p:tags r:id="rId15"/>
              </p:custDataLst>
            </p:nvPr>
          </p:nvSpPr>
          <p:spPr>
            <a:xfrm>
              <a:off x="5034" y="8308"/>
              <a:ext cx="7360" cy="845"/>
            </a:xfrm>
            <a:prstGeom prst="rect">
              <a:avLst/>
            </a:prstGeom>
          </p:spPr>
          <p:txBody>
            <a:bodyPr anchor="b">
              <a:normAutofit/>
            </a:bodyPr>
            <a:lstStyle/>
            <a:p>
              <a:r>
                <a:rPr lang="zh-CN" altLang="en-US" b="1" dirty="0" smtClean="0">
                  <a:solidFill>
                    <a:srgbClr val="00B0F0"/>
                  </a:solidFill>
                </a:rPr>
                <a:t>屏幕触控技术</a:t>
              </a:r>
            </a:p>
          </p:txBody>
        </p:sp>
      </p:grpSp>
      <p:grpSp>
        <p:nvGrpSpPr>
          <p:cNvPr id="26" name="组合 25"/>
          <p:cNvGrpSpPr/>
          <p:nvPr/>
        </p:nvGrpSpPr>
        <p:grpSpPr>
          <a:xfrm>
            <a:off x="683895" y="2792730"/>
            <a:ext cx="10805160" cy="1655445"/>
            <a:chOff x="1092" y="3793"/>
            <a:chExt cx="17016" cy="2607"/>
          </a:xfrm>
        </p:grpSpPr>
        <p:sp>
          <p:nvSpPr>
            <p:cNvPr id="9" name="MH_Text_1"/>
            <p:cNvSpPr/>
            <p:nvPr>
              <p:custDataLst>
                <p:tags r:id="rId2"/>
              </p:custDataLst>
            </p:nvPr>
          </p:nvSpPr>
          <p:spPr>
            <a:xfrm>
              <a:off x="3289" y="4752"/>
              <a:ext cx="14819" cy="1648"/>
            </a:xfrm>
            <a:prstGeom prst="rect">
              <a:avLst/>
            </a:prstGeom>
          </p:spPr>
          <p:txBody>
            <a:bodyPr>
              <a:normAutofit/>
            </a:bodyPr>
            <a:lstStyle/>
            <a:p>
              <a:pPr indent="457200">
                <a:lnSpc>
                  <a:spcPct val="150000"/>
                </a:lnSpc>
              </a:pPr>
              <a:r>
                <a:rPr lang="zh-CN" altLang="en-US" dirty="0" smtClean="0">
                  <a:latin typeface="+mn-ea"/>
                </a:rPr>
                <a:t>指利用电子技术实现灵活变换的视觉技术，主要包括超精高亮、平面转换、视网膜、裸眼3D、电子纸和电子墨水等显示技术。</a:t>
              </a:r>
            </a:p>
          </p:txBody>
        </p:sp>
        <p:sp>
          <p:nvSpPr>
            <p:cNvPr id="10" name="MH_SubTitle_1"/>
            <p:cNvSpPr/>
            <p:nvPr>
              <p:custDataLst>
                <p:tags r:id="rId3"/>
              </p:custDataLst>
            </p:nvPr>
          </p:nvSpPr>
          <p:spPr>
            <a:xfrm>
              <a:off x="3265" y="3905"/>
              <a:ext cx="7357" cy="847"/>
            </a:xfrm>
            <a:prstGeom prst="rect">
              <a:avLst/>
            </a:prstGeom>
          </p:spPr>
          <p:txBody>
            <a:bodyPr anchor="b">
              <a:normAutofit/>
            </a:bodyPr>
            <a:lstStyle/>
            <a:p>
              <a:r>
                <a:rPr lang="zh-CN" altLang="en-US" b="1" dirty="0">
                  <a:solidFill>
                    <a:srgbClr val="FF7C80"/>
                  </a:solidFill>
                </a:rPr>
                <a:t>终端显示技术</a:t>
              </a:r>
            </a:p>
          </p:txBody>
        </p:sp>
        <p:sp>
          <p:nvSpPr>
            <p:cNvPr id="19" name="MH_Other_11"/>
            <p:cNvSpPr>
              <a:spLocks noChangeArrowheads="1"/>
            </p:cNvSpPr>
            <p:nvPr>
              <p:custDataLst>
                <p:tags r:id="rId4"/>
              </p:custDataLst>
            </p:nvPr>
          </p:nvSpPr>
          <p:spPr bwMode="auto">
            <a:xfrm>
              <a:off x="1959" y="3993"/>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Other_12"/>
            <p:cNvSpPr>
              <a:spLocks noChangeArrowheads="1"/>
            </p:cNvSpPr>
            <p:nvPr>
              <p:custDataLst>
                <p:tags r:id="rId5"/>
              </p:custDataLst>
            </p:nvPr>
          </p:nvSpPr>
          <p:spPr bwMode="auto">
            <a:xfrm>
              <a:off x="1959" y="4633"/>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1" name="MH_Other_13"/>
            <p:cNvSpPr>
              <a:spLocks noChangeArrowheads="1"/>
            </p:cNvSpPr>
            <p:nvPr>
              <p:custDataLst>
                <p:tags r:id="rId6"/>
              </p:custDataLst>
            </p:nvPr>
          </p:nvSpPr>
          <p:spPr bwMode="auto">
            <a:xfrm>
              <a:off x="2389" y="4313"/>
              <a:ext cx="747" cy="560"/>
            </a:xfrm>
            <a:prstGeom prst="diamond">
              <a:avLst/>
            </a:prstGeom>
            <a:solidFill>
              <a:srgbClr val="FFA093"/>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2" name="MH_Other_14"/>
            <p:cNvSpPr/>
            <p:nvPr>
              <p:custDataLst>
                <p:tags r:id="rId7"/>
              </p:custDataLst>
            </p:nvPr>
          </p:nvSpPr>
          <p:spPr>
            <a:xfrm>
              <a:off x="1149" y="3793"/>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23" name="MH_Other_15"/>
            <p:cNvSpPr/>
            <p:nvPr>
              <p:custDataLst>
                <p:tags r:id="rId8"/>
              </p:custDataLst>
            </p:nvPr>
          </p:nvSpPr>
          <p:spPr bwMode="auto">
            <a:xfrm>
              <a:off x="1092" y="3793"/>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FF6B55"/>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sp>
        <p:nvSpPr>
          <p:cNvPr id="24" name="MH_Text_1"/>
          <p:cNvSpPr/>
          <p:nvPr>
            <p:custDataLst>
              <p:tags r:id="rId1"/>
            </p:custDataLst>
          </p:nvPr>
        </p:nvSpPr>
        <p:spPr bwMode="auto">
          <a:xfrm>
            <a:off x="723265" y="2045970"/>
            <a:ext cx="10316210" cy="1248410"/>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zh-CN" altLang="zh-CN" dirty="0" smtClean="0">
                <a:solidFill>
                  <a:schemeClr val="tx1"/>
                </a:solidFill>
              </a:rPr>
              <a:t>人机交互技术分为终端显示技术、屏幕触控技术、语音交互技术、感应交互技术、虚拟现实技术、传感感应技术等。</a:t>
            </a:r>
            <a:endParaRPr lang="da-DK" altLang="zh-CN" dirty="0" smtClean="0">
              <a:solidFill>
                <a:schemeClr val="tx1"/>
              </a:solidFill>
              <a:latin typeface="微软雅黑" panose="020B0503020204020204" charset="-122"/>
              <a:ea typeface="微软雅黑" panose="020B0503020204020204" charset="-122"/>
            </a:endParaRPr>
          </a:p>
        </p:txBody>
      </p:sp>
    </p:spTree>
  </p:cSld>
  <p:clrMapOvr>
    <a:masterClrMapping/>
  </p:clrMapOvr>
  <p:transition>
    <p:wheel spokes="3"/>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smtClean="0">
                <a:solidFill>
                  <a:srgbClr val="FF0000"/>
                </a:solidFill>
              </a:rPr>
              <a:t>9.2  </a:t>
            </a:r>
            <a:r>
              <a:rPr lang="zh-CN" altLang="en-US" dirty="0" smtClean="0">
                <a:solidFill>
                  <a:srgbClr val="FF0000"/>
                </a:solidFill>
                <a:sym typeface="+mn-ea"/>
              </a:rPr>
              <a:t>移动互联网应用技术</a:t>
            </a:r>
            <a:r>
              <a:rPr dirty="0" smtClean="0">
                <a:solidFill>
                  <a:schemeClr val="tx1"/>
                </a:solidFill>
              </a:rPr>
              <a:t/>
            </a:r>
            <a:br>
              <a:rPr dirty="0" smtClean="0">
                <a:solidFill>
                  <a:schemeClr val="tx1"/>
                </a:solidFill>
              </a:rPr>
            </a:b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9.2.2  </a:t>
            </a:r>
            <a:r>
              <a:rPr lang="zh-CN" altLang="en-US" sz="2400" dirty="0" smtClean="0">
                <a:solidFill>
                  <a:schemeClr val="tx1"/>
                </a:solidFill>
              </a:rPr>
              <a:t>移动互联终端技术</a:t>
            </a:r>
          </a:p>
        </p:txBody>
      </p:sp>
      <p:grpSp>
        <p:nvGrpSpPr>
          <p:cNvPr id="35" name="组合 34"/>
          <p:cNvGrpSpPr/>
          <p:nvPr/>
        </p:nvGrpSpPr>
        <p:grpSpPr>
          <a:xfrm>
            <a:off x="845820" y="4665980"/>
            <a:ext cx="10621645" cy="2292350"/>
            <a:chOff x="964" y="3475"/>
            <a:chExt cx="16727" cy="3610"/>
          </a:xfrm>
        </p:grpSpPr>
        <p:sp>
          <p:nvSpPr>
            <p:cNvPr id="2" name="MH_SubTitle_1"/>
            <p:cNvSpPr/>
            <p:nvPr>
              <p:custDataLst>
                <p:tags r:id="rId8"/>
              </p:custDataLst>
            </p:nvPr>
          </p:nvSpPr>
          <p:spPr>
            <a:xfrm>
              <a:off x="3287" y="3675"/>
              <a:ext cx="3747" cy="847"/>
            </a:xfrm>
            <a:prstGeom prst="rect">
              <a:avLst/>
            </a:prstGeom>
          </p:spPr>
          <p:txBody>
            <a:bodyPr anchor="b">
              <a:normAutofit/>
            </a:bodyPr>
            <a:lstStyle/>
            <a:p>
              <a:r>
                <a:rPr lang="zh-CN" altLang="en-US" b="1" dirty="0" smtClean="0">
                  <a:solidFill>
                    <a:schemeClr val="accent3">
                      <a:lumMod val="75000"/>
                    </a:schemeClr>
                  </a:solidFill>
                </a:rPr>
                <a:t>感应交互技术</a:t>
              </a:r>
            </a:p>
          </p:txBody>
        </p:sp>
        <p:grpSp>
          <p:nvGrpSpPr>
            <p:cNvPr id="34" name="组合 33"/>
            <p:cNvGrpSpPr/>
            <p:nvPr/>
          </p:nvGrpSpPr>
          <p:grpSpPr>
            <a:xfrm>
              <a:off x="964" y="3475"/>
              <a:ext cx="16727" cy="3610"/>
              <a:chOff x="1628" y="3271"/>
              <a:chExt cx="16727" cy="3610"/>
            </a:xfrm>
          </p:grpSpPr>
          <p:sp>
            <p:nvSpPr>
              <p:cNvPr id="4" name="MH_Text_1"/>
              <p:cNvSpPr/>
              <p:nvPr>
                <p:custDataLst>
                  <p:tags r:id="rId9"/>
                </p:custDataLst>
              </p:nvPr>
            </p:nvSpPr>
            <p:spPr>
              <a:xfrm>
                <a:off x="3951" y="4318"/>
                <a:ext cx="14404" cy="2563"/>
              </a:xfrm>
              <a:prstGeom prst="rect">
                <a:avLst/>
              </a:prstGeom>
            </p:spPr>
            <p:txBody>
              <a:bodyPr>
                <a:normAutofit/>
              </a:bodyPr>
              <a:lstStyle/>
              <a:p>
                <a:pPr indent="457200">
                  <a:lnSpc>
                    <a:spcPct val="150000"/>
                  </a:lnSpc>
                </a:pPr>
                <a:r>
                  <a:rPr lang="zh-CN" altLang="en-US" dirty="0" smtClean="0">
                    <a:latin typeface="+mn-ea"/>
                  </a:rPr>
                  <a:t>指通过自动感应技术实现用户与终端的交互功能，例如用移动终端玩游戏时，可以使用传感器来接收玩家的动作或语音信息，自动完成游戏场景的变换。</a:t>
                </a:r>
              </a:p>
            </p:txBody>
          </p:sp>
          <p:sp>
            <p:nvSpPr>
              <p:cNvPr id="25" name="MH_Other_11"/>
              <p:cNvSpPr>
                <a:spLocks noChangeArrowheads="1"/>
              </p:cNvSpPr>
              <p:nvPr>
                <p:custDataLst>
                  <p:tags r:id="rId10"/>
                </p:custDataLst>
              </p:nvPr>
            </p:nvSpPr>
            <p:spPr bwMode="auto">
              <a:xfrm>
                <a:off x="2495" y="3471"/>
                <a:ext cx="747" cy="560"/>
              </a:xfrm>
              <a:prstGeom prst="diamond">
                <a:avLst/>
              </a:prstGeom>
              <a:solidFill>
                <a:schemeClr val="accent3">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5" name="MH_Other_12"/>
              <p:cNvSpPr>
                <a:spLocks noChangeArrowheads="1"/>
              </p:cNvSpPr>
              <p:nvPr>
                <p:custDataLst>
                  <p:tags r:id="rId11"/>
                </p:custDataLst>
              </p:nvPr>
            </p:nvSpPr>
            <p:spPr bwMode="auto">
              <a:xfrm>
                <a:off x="2495" y="4111"/>
                <a:ext cx="747" cy="560"/>
              </a:xfrm>
              <a:prstGeom prst="diamond">
                <a:avLst/>
              </a:prstGeom>
              <a:solidFill>
                <a:schemeClr val="accent3">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6" name="MH_Other_13"/>
              <p:cNvSpPr>
                <a:spLocks noChangeArrowheads="1"/>
              </p:cNvSpPr>
              <p:nvPr>
                <p:custDataLst>
                  <p:tags r:id="rId12"/>
                </p:custDataLst>
              </p:nvPr>
            </p:nvSpPr>
            <p:spPr bwMode="auto">
              <a:xfrm>
                <a:off x="2925" y="3791"/>
                <a:ext cx="747" cy="560"/>
              </a:xfrm>
              <a:prstGeom prst="diamond">
                <a:avLst/>
              </a:prstGeom>
              <a:solidFill>
                <a:schemeClr val="accent3">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14"/>
              <p:cNvSpPr/>
              <p:nvPr>
                <p:custDataLst>
                  <p:tags r:id="rId13"/>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30" name="MH_Other_15"/>
              <p:cNvSpPr/>
              <p:nvPr>
                <p:custDataLst>
                  <p:tags r:id="rId14"/>
                </p:custDataLst>
              </p:nvPr>
            </p:nvSpPr>
            <p:spPr bwMode="auto">
              <a:xfrm>
                <a:off x="1628"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3">
                  <a:lumMod val="75000"/>
                </a:schemeClr>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grpSp>
        <p:nvGrpSpPr>
          <p:cNvPr id="7" name="组合 6"/>
          <p:cNvGrpSpPr/>
          <p:nvPr/>
        </p:nvGrpSpPr>
        <p:grpSpPr>
          <a:xfrm>
            <a:off x="845820" y="1969770"/>
            <a:ext cx="10604500" cy="3295015"/>
            <a:chOff x="1021" y="3475"/>
            <a:chExt cx="16700" cy="5189"/>
          </a:xfrm>
        </p:grpSpPr>
        <p:sp>
          <p:nvSpPr>
            <p:cNvPr id="8" name="MH_SubTitle_1"/>
            <p:cNvSpPr/>
            <p:nvPr>
              <p:custDataLst>
                <p:tags r:id="rId1"/>
              </p:custDataLst>
            </p:nvPr>
          </p:nvSpPr>
          <p:spPr>
            <a:xfrm>
              <a:off x="3287" y="3675"/>
              <a:ext cx="3747" cy="847"/>
            </a:xfrm>
            <a:prstGeom prst="rect">
              <a:avLst/>
            </a:prstGeom>
          </p:spPr>
          <p:txBody>
            <a:bodyPr anchor="b">
              <a:normAutofit/>
            </a:bodyPr>
            <a:lstStyle/>
            <a:p>
              <a:r>
                <a:rPr lang="zh-CN" altLang="en-US" b="1" dirty="0" smtClean="0">
                  <a:solidFill>
                    <a:schemeClr val="accent2">
                      <a:lumMod val="75000"/>
                    </a:schemeClr>
                  </a:solidFill>
                </a:rPr>
                <a:t>语音交互技术</a:t>
              </a:r>
            </a:p>
          </p:txBody>
        </p:sp>
        <p:grpSp>
          <p:nvGrpSpPr>
            <p:cNvPr id="12" name="组合 11"/>
            <p:cNvGrpSpPr/>
            <p:nvPr/>
          </p:nvGrpSpPr>
          <p:grpSpPr>
            <a:xfrm>
              <a:off x="1021" y="3475"/>
              <a:ext cx="16700" cy="5189"/>
              <a:chOff x="1685" y="3271"/>
              <a:chExt cx="16700" cy="5189"/>
            </a:xfrm>
          </p:grpSpPr>
          <p:sp>
            <p:nvSpPr>
              <p:cNvPr id="24" name="MH_Text_1"/>
              <p:cNvSpPr/>
              <p:nvPr>
                <p:custDataLst>
                  <p:tags r:id="rId2"/>
                </p:custDataLst>
              </p:nvPr>
            </p:nvSpPr>
            <p:spPr>
              <a:xfrm>
                <a:off x="3968" y="4448"/>
                <a:ext cx="14417" cy="4012"/>
              </a:xfrm>
              <a:prstGeom prst="rect">
                <a:avLst/>
              </a:prstGeom>
            </p:spPr>
            <p:txBody>
              <a:bodyPr>
                <a:normAutofit/>
              </a:bodyPr>
              <a:lstStyle/>
              <a:p>
                <a:pPr indent="457200">
                  <a:lnSpc>
                    <a:spcPct val="150000"/>
                  </a:lnSpc>
                </a:pPr>
                <a:r>
                  <a:rPr lang="zh-CN" altLang="en-US" dirty="0" smtClean="0">
                    <a:latin typeface="+mn-ea"/>
                  </a:rPr>
                  <a:t>指用户通过语音方式实现与移动终端的互动的技术，主要包括语音识别技术、语音合成技术和语义理解技术。其中，语音识别是指移动终端通过识别和处理分析工具，从语音中提取出语音内容所包含的信息，并以文本或其他形式呈现出来的新型技术；语音合成是将文字或信息转换成语音的技术；语义理解是指终端对语音的内容逻辑进行分析关联，进而正确地还原出讲话内容。</a:t>
                </a:r>
              </a:p>
            </p:txBody>
          </p:sp>
          <p:sp>
            <p:nvSpPr>
              <p:cNvPr id="31" name="MH_Other_11"/>
              <p:cNvSpPr>
                <a:spLocks noChangeArrowheads="1"/>
              </p:cNvSpPr>
              <p:nvPr>
                <p:custDataLst>
                  <p:tags r:id="rId3"/>
                </p:custDataLst>
              </p:nvPr>
            </p:nvSpPr>
            <p:spPr bwMode="auto">
              <a:xfrm>
                <a:off x="2495" y="3471"/>
                <a:ext cx="747" cy="560"/>
              </a:xfrm>
              <a:prstGeom prst="diamond">
                <a:avLst/>
              </a:prstGeom>
              <a:solidFill>
                <a:schemeClr val="accent2">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2" name="MH_Other_12"/>
              <p:cNvSpPr>
                <a:spLocks noChangeArrowheads="1"/>
              </p:cNvSpPr>
              <p:nvPr>
                <p:custDataLst>
                  <p:tags r:id="rId4"/>
                </p:custDataLst>
              </p:nvPr>
            </p:nvSpPr>
            <p:spPr bwMode="auto">
              <a:xfrm>
                <a:off x="2495" y="4111"/>
                <a:ext cx="747" cy="560"/>
              </a:xfrm>
              <a:prstGeom prst="diamond">
                <a:avLst/>
              </a:prstGeom>
              <a:solidFill>
                <a:schemeClr val="accent2">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3" name="MH_Other_13"/>
              <p:cNvSpPr>
                <a:spLocks noChangeArrowheads="1"/>
              </p:cNvSpPr>
              <p:nvPr>
                <p:custDataLst>
                  <p:tags r:id="rId5"/>
                </p:custDataLst>
              </p:nvPr>
            </p:nvSpPr>
            <p:spPr bwMode="auto">
              <a:xfrm>
                <a:off x="2925" y="3791"/>
                <a:ext cx="747" cy="560"/>
              </a:xfrm>
              <a:prstGeom prst="diamond">
                <a:avLst/>
              </a:prstGeom>
              <a:solidFill>
                <a:schemeClr val="accent2">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6" name="MH_Other_14"/>
              <p:cNvSpPr/>
              <p:nvPr>
                <p:custDataLst>
                  <p:tags r:id="rId6"/>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37" name="MH_Other_15"/>
              <p:cNvSpPr/>
              <p:nvPr>
                <p:custDataLst>
                  <p:tags r:id="rId7"/>
                </p:custDataLst>
              </p:nvPr>
            </p:nvSpPr>
            <p:spPr bwMode="auto">
              <a:xfrm>
                <a:off x="1745"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2">
                  <a:lumMod val="75000"/>
                </a:schemeClr>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spTree>
  </p:cSld>
  <p:clrMapOvr>
    <a:masterClrMapping/>
  </p:clrMapOvr>
  <p:transition>
    <p:wheel spokes="3"/>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smtClean="0">
                <a:solidFill>
                  <a:srgbClr val="FF0000"/>
                </a:solidFill>
              </a:rPr>
              <a:t>9.2  </a:t>
            </a:r>
            <a:r>
              <a:rPr lang="zh-CN" altLang="en-US" dirty="0" smtClean="0">
                <a:solidFill>
                  <a:srgbClr val="FF0000"/>
                </a:solidFill>
                <a:sym typeface="+mn-ea"/>
              </a:rPr>
              <a:t>移动互联网应用技术</a:t>
            </a:r>
            <a:r>
              <a:rPr dirty="0" smtClean="0">
                <a:solidFill>
                  <a:schemeClr val="tx1"/>
                </a:solidFill>
              </a:rPr>
              <a:t/>
            </a:r>
            <a:br>
              <a:rPr dirty="0" smtClean="0">
                <a:solidFill>
                  <a:schemeClr val="tx1"/>
                </a:solidFill>
              </a:rPr>
            </a:b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9.2.2  </a:t>
            </a:r>
            <a:r>
              <a:rPr lang="zh-CN" altLang="en-US" sz="2400" dirty="0" smtClean="0">
                <a:solidFill>
                  <a:schemeClr val="tx1"/>
                </a:solidFill>
              </a:rPr>
              <a:t>移动互联终端技术</a:t>
            </a:r>
          </a:p>
        </p:txBody>
      </p:sp>
      <p:grpSp>
        <p:nvGrpSpPr>
          <p:cNvPr id="35" name="组合 34"/>
          <p:cNvGrpSpPr/>
          <p:nvPr/>
        </p:nvGrpSpPr>
        <p:grpSpPr>
          <a:xfrm>
            <a:off x="699770" y="3267075"/>
            <a:ext cx="11111230" cy="2971800"/>
            <a:chOff x="964" y="3475"/>
            <a:chExt cx="17498" cy="4680"/>
          </a:xfrm>
        </p:grpSpPr>
        <p:sp>
          <p:nvSpPr>
            <p:cNvPr id="2" name="MH_SubTitle_1"/>
            <p:cNvSpPr/>
            <p:nvPr>
              <p:custDataLst>
                <p:tags r:id="rId8"/>
              </p:custDataLst>
            </p:nvPr>
          </p:nvSpPr>
          <p:spPr>
            <a:xfrm>
              <a:off x="3287" y="3675"/>
              <a:ext cx="3747" cy="847"/>
            </a:xfrm>
            <a:prstGeom prst="rect">
              <a:avLst/>
            </a:prstGeom>
          </p:spPr>
          <p:txBody>
            <a:bodyPr anchor="b">
              <a:normAutofit/>
            </a:bodyPr>
            <a:lstStyle/>
            <a:p>
              <a:r>
                <a:rPr lang="zh-CN" altLang="en-US" b="1" dirty="0" smtClean="0">
                  <a:solidFill>
                    <a:schemeClr val="accent6">
                      <a:lumMod val="75000"/>
                    </a:schemeClr>
                  </a:solidFill>
                </a:rPr>
                <a:t>虚拟现实技术</a:t>
              </a:r>
            </a:p>
          </p:txBody>
        </p:sp>
        <p:grpSp>
          <p:nvGrpSpPr>
            <p:cNvPr id="34" name="组合 33"/>
            <p:cNvGrpSpPr/>
            <p:nvPr/>
          </p:nvGrpSpPr>
          <p:grpSpPr>
            <a:xfrm>
              <a:off x="964" y="3475"/>
              <a:ext cx="17498" cy="4680"/>
              <a:chOff x="1628" y="3271"/>
              <a:chExt cx="17498" cy="4680"/>
            </a:xfrm>
          </p:grpSpPr>
          <p:sp>
            <p:nvSpPr>
              <p:cNvPr id="4" name="MH_Text_1"/>
              <p:cNvSpPr/>
              <p:nvPr>
                <p:custDataLst>
                  <p:tags r:id="rId9"/>
                </p:custDataLst>
              </p:nvPr>
            </p:nvSpPr>
            <p:spPr>
              <a:xfrm>
                <a:off x="3673" y="4318"/>
                <a:ext cx="15453" cy="3633"/>
              </a:xfrm>
              <a:prstGeom prst="rect">
                <a:avLst/>
              </a:prstGeom>
            </p:spPr>
            <p:txBody>
              <a:bodyPr>
                <a:normAutofit fontScale="92500" lnSpcReduction="10000"/>
              </a:bodyPr>
              <a:lstStyle/>
              <a:p>
                <a:pPr indent="457200">
                  <a:lnSpc>
                    <a:spcPct val="150000"/>
                  </a:lnSpc>
                </a:pPr>
                <a:r>
                  <a:rPr lang="zh-CN" altLang="en-US" dirty="0" smtClean="0">
                    <a:latin typeface="+mn-ea"/>
                  </a:rPr>
                  <a:t>指通过移动互联网技术模拟出一个与现实世界一样逼真的三维空间虚拟世界，在视觉、听觉、触觉上提供给用户真实的模拟环境，随时、无限制地详细观察三维空间。目前正在发展的移动增强现实技术，是一种在虚拟现实技术基础上发展起来的新兴移动人机交互技术。着用户对移动增强现实应用体验要求的日益提高，必将对移动终端、增强现实平台的媒体计算能力提出更大的挑战，在复杂场景（如光线变化、快速运动）下的目标识别技术、将终端摄像头和终端其他多种传感器结合的目标追踪方法将是未来技术研究的方向。</a:t>
                </a:r>
              </a:p>
            </p:txBody>
          </p:sp>
          <p:sp>
            <p:nvSpPr>
              <p:cNvPr id="25" name="MH_Other_11"/>
              <p:cNvSpPr>
                <a:spLocks noChangeArrowheads="1"/>
              </p:cNvSpPr>
              <p:nvPr>
                <p:custDataLst>
                  <p:tags r:id="rId10"/>
                </p:custDataLst>
              </p:nvPr>
            </p:nvSpPr>
            <p:spPr bwMode="auto">
              <a:xfrm>
                <a:off x="2495" y="3471"/>
                <a:ext cx="747" cy="560"/>
              </a:xfrm>
              <a:prstGeom prst="diamond">
                <a:avLst/>
              </a:prstGeom>
              <a:solidFill>
                <a:schemeClr val="accent6">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5" name="MH_Other_12"/>
              <p:cNvSpPr>
                <a:spLocks noChangeArrowheads="1"/>
              </p:cNvSpPr>
              <p:nvPr>
                <p:custDataLst>
                  <p:tags r:id="rId11"/>
                </p:custDataLst>
              </p:nvPr>
            </p:nvSpPr>
            <p:spPr bwMode="auto">
              <a:xfrm>
                <a:off x="2495" y="4111"/>
                <a:ext cx="747" cy="560"/>
              </a:xfrm>
              <a:prstGeom prst="diamond">
                <a:avLst/>
              </a:prstGeom>
              <a:solidFill>
                <a:schemeClr val="accent6">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6" name="MH_Other_13"/>
              <p:cNvSpPr>
                <a:spLocks noChangeArrowheads="1"/>
              </p:cNvSpPr>
              <p:nvPr>
                <p:custDataLst>
                  <p:tags r:id="rId12"/>
                </p:custDataLst>
              </p:nvPr>
            </p:nvSpPr>
            <p:spPr bwMode="auto">
              <a:xfrm>
                <a:off x="2925" y="3791"/>
                <a:ext cx="747" cy="560"/>
              </a:xfrm>
              <a:prstGeom prst="diamond">
                <a:avLst/>
              </a:prstGeom>
              <a:solidFill>
                <a:schemeClr val="accent6">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14"/>
              <p:cNvSpPr/>
              <p:nvPr>
                <p:custDataLst>
                  <p:tags r:id="rId13"/>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30" name="MH_Other_15"/>
              <p:cNvSpPr/>
              <p:nvPr>
                <p:custDataLst>
                  <p:tags r:id="rId14"/>
                </p:custDataLst>
              </p:nvPr>
            </p:nvSpPr>
            <p:spPr bwMode="auto">
              <a:xfrm>
                <a:off x="1628"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6">
                  <a:lumMod val="75000"/>
                </a:schemeClr>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grpSp>
        <p:nvGrpSpPr>
          <p:cNvPr id="7" name="组合 6"/>
          <p:cNvGrpSpPr/>
          <p:nvPr/>
        </p:nvGrpSpPr>
        <p:grpSpPr>
          <a:xfrm>
            <a:off x="742315" y="1854200"/>
            <a:ext cx="10782935" cy="2292350"/>
            <a:chOff x="964" y="3475"/>
            <a:chExt cx="16981" cy="3610"/>
          </a:xfrm>
        </p:grpSpPr>
        <p:sp>
          <p:nvSpPr>
            <p:cNvPr id="8" name="MH_SubTitle_1"/>
            <p:cNvSpPr/>
            <p:nvPr>
              <p:custDataLst>
                <p:tags r:id="rId1"/>
              </p:custDataLst>
            </p:nvPr>
          </p:nvSpPr>
          <p:spPr>
            <a:xfrm>
              <a:off x="3287" y="3675"/>
              <a:ext cx="3747" cy="847"/>
            </a:xfrm>
            <a:prstGeom prst="rect">
              <a:avLst/>
            </a:prstGeom>
          </p:spPr>
          <p:txBody>
            <a:bodyPr anchor="b">
              <a:normAutofit/>
            </a:bodyPr>
            <a:lstStyle/>
            <a:p>
              <a:r>
                <a:rPr lang="zh-CN" altLang="en-US" b="1" dirty="0" smtClean="0">
                  <a:solidFill>
                    <a:schemeClr val="accent5">
                      <a:lumMod val="75000"/>
                    </a:schemeClr>
                  </a:solidFill>
                </a:rPr>
                <a:t>传感感应技术</a:t>
              </a:r>
            </a:p>
          </p:txBody>
        </p:sp>
        <p:grpSp>
          <p:nvGrpSpPr>
            <p:cNvPr id="12" name="组合 11"/>
            <p:cNvGrpSpPr/>
            <p:nvPr/>
          </p:nvGrpSpPr>
          <p:grpSpPr>
            <a:xfrm>
              <a:off x="964" y="3475"/>
              <a:ext cx="16981" cy="3610"/>
              <a:chOff x="1628" y="3271"/>
              <a:chExt cx="16981" cy="3610"/>
            </a:xfrm>
          </p:grpSpPr>
          <p:sp>
            <p:nvSpPr>
              <p:cNvPr id="24" name="MH_Text_1"/>
              <p:cNvSpPr/>
              <p:nvPr>
                <p:custDataLst>
                  <p:tags r:id="rId2"/>
                </p:custDataLst>
              </p:nvPr>
            </p:nvSpPr>
            <p:spPr>
              <a:xfrm>
                <a:off x="3672" y="4318"/>
                <a:ext cx="14937" cy="2563"/>
              </a:xfrm>
              <a:prstGeom prst="rect">
                <a:avLst/>
              </a:prstGeom>
            </p:spPr>
            <p:txBody>
              <a:bodyPr>
                <a:noAutofit/>
              </a:bodyPr>
              <a:lstStyle/>
              <a:p>
                <a:pPr indent="457200">
                  <a:lnSpc>
                    <a:spcPct val="150000"/>
                  </a:lnSpc>
                </a:pPr>
                <a:r>
                  <a:rPr lang="zh-CN" altLang="en-US" dirty="0" smtClean="0">
                    <a:latin typeface="+mn-ea"/>
                  </a:rPr>
                  <a:t>正被逐步引入到智能手机中，目前智能终端中已引入重力感应器、距离传感器、电子罗盘、光线传感器、陀螺仪等多种感应设备。</a:t>
                </a:r>
              </a:p>
            </p:txBody>
          </p:sp>
          <p:sp>
            <p:nvSpPr>
              <p:cNvPr id="31" name="MH_Other_11"/>
              <p:cNvSpPr>
                <a:spLocks noChangeArrowheads="1"/>
              </p:cNvSpPr>
              <p:nvPr>
                <p:custDataLst>
                  <p:tags r:id="rId3"/>
                </p:custDataLst>
              </p:nvPr>
            </p:nvSpPr>
            <p:spPr bwMode="auto">
              <a:xfrm>
                <a:off x="2495" y="3471"/>
                <a:ext cx="747" cy="560"/>
              </a:xfrm>
              <a:prstGeom prst="diamond">
                <a:avLst/>
              </a:prstGeom>
              <a:solidFill>
                <a:schemeClr val="accent5">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2" name="MH_Other_12"/>
              <p:cNvSpPr>
                <a:spLocks noChangeArrowheads="1"/>
              </p:cNvSpPr>
              <p:nvPr>
                <p:custDataLst>
                  <p:tags r:id="rId4"/>
                </p:custDataLst>
              </p:nvPr>
            </p:nvSpPr>
            <p:spPr bwMode="auto">
              <a:xfrm>
                <a:off x="2495" y="4111"/>
                <a:ext cx="747" cy="560"/>
              </a:xfrm>
              <a:prstGeom prst="diamond">
                <a:avLst/>
              </a:prstGeom>
              <a:solidFill>
                <a:schemeClr val="accent5">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3" name="MH_Other_13"/>
              <p:cNvSpPr>
                <a:spLocks noChangeArrowheads="1"/>
              </p:cNvSpPr>
              <p:nvPr>
                <p:custDataLst>
                  <p:tags r:id="rId5"/>
                </p:custDataLst>
              </p:nvPr>
            </p:nvSpPr>
            <p:spPr bwMode="auto">
              <a:xfrm>
                <a:off x="2925" y="3791"/>
                <a:ext cx="747" cy="560"/>
              </a:xfrm>
              <a:prstGeom prst="diamond">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36" name="MH_Other_14"/>
              <p:cNvSpPr/>
              <p:nvPr>
                <p:custDataLst>
                  <p:tags r:id="rId6"/>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37" name="MH_Other_15"/>
              <p:cNvSpPr/>
              <p:nvPr>
                <p:custDataLst>
                  <p:tags r:id="rId7"/>
                </p:custDataLst>
              </p:nvPr>
            </p:nvSpPr>
            <p:spPr bwMode="auto">
              <a:xfrm>
                <a:off x="1628"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5">
                  <a:lumMod val="75000"/>
                </a:schemeClr>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spTree>
  </p:cSld>
  <p:clrMapOvr>
    <a:masterClrMapping/>
  </p:clrMapOvr>
  <p:transition>
    <p:wheel spokes="3"/>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a:solidFill>
                  <a:srgbClr val="FF0000"/>
                </a:solidFill>
              </a:rPr>
              <a:t>9.2  </a:t>
            </a:r>
            <a:r>
              <a:rPr lang="zh-CN" dirty="0">
                <a:solidFill>
                  <a:srgbClr val="FF0000"/>
                </a:solidFill>
                <a:sym typeface="+mn-ea"/>
              </a:rPr>
              <a:t>移动互联网应用技术</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9.2.2  </a:t>
            </a:r>
            <a:r>
              <a:rPr lang="zh-CN" altLang="en-US" sz="2400" dirty="0" smtClean="0">
                <a:solidFill>
                  <a:schemeClr val="tx1"/>
                </a:solidFill>
              </a:rPr>
              <a:t>移动互联终端技术</a:t>
            </a:r>
          </a:p>
        </p:txBody>
      </p:sp>
      <p:grpSp>
        <p:nvGrpSpPr>
          <p:cNvPr id="9" name="组合 8"/>
          <p:cNvGrpSpPr/>
          <p:nvPr/>
        </p:nvGrpSpPr>
        <p:grpSpPr>
          <a:xfrm>
            <a:off x="15240" y="1725930"/>
            <a:ext cx="12209780" cy="4016375"/>
            <a:chOff x="24" y="2718"/>
            <a:chExt cx="19228" cy="6325"/>
          </a:xfrm>
        </p:grpSpPr>
        <p:grpSp>
          <p:nvGrpSpPr>
            <p:cNvPr id="10" name="组合 9"/>
            <p:cNvGrpSpPr/>
            <p:nvPr/>
          </p:nvGrpSpPr>
          <p:grpSpPr>
            <a:xfrm>
              <a:off x="24" y="4250"/>
              <a:ext cx="18939" cy="4793"/>
              <a:chOff x="0" y="2130426"/>
              <a:chExt cx="21645385" cy="3649762"/>
            </a:xfrm>
          </p:grpSpPr>
          <p:sp>
            <p:nvSpPr>
              <p:cNvPr id="11" name="MH_Other_1"/>
              <p:cNvSpPr/>
              <p:nvPr>
                <p:custDataLst>
                  <p:tags r:id="rId4"/>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2" name="MH_Other_2"/>
              <p:cNvSpPr/>
              <p:nvPr>
                <p:custDataLst>
                  <p:tags r:id="rId5"/>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3"/>
              <p:cNvSpPr/>
              <p:nvPr>
                <p:custDataLst>
                  <p:tags r:id="rId6"/>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4" name="MH_Other_4"/>
              <p:cNvSpPr>
                <a:spLocks noChangeArrowheads="1"/>
              </p:cNvSpPr>
              <p:nvPr>
                <p:custDataLst>
                  <p:tags r:id="rId7"/>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5" name="MH_Other_5"/>
              <p:cNvSpPr>
                <a:spLocks noChangeArrowheads="1"/>
              </p:cNvSpPr>
              <p:nvPr>
                <p:custDataLst>
                  <p:tags r:id="rId8"/>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6" name="MH_Other_6"/>
              <p:cNvSpPr>
                <a:spLocks noChangeArrowheads="1"/>
              </p:cNvSpPr>
              <p:nvPr>
                <p:custDataLst>
                  <p:tags r:id="rId9"/>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7" name="MH_Other_7"/>
              <p:cNvSpPr/>
              <p:nvPr>
                <p:custDataLst>
                  <p:tags r:id="rId10"/>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8" name="MH_Text_1"/>
              <p:cNvSpPr/>
              <p:nvPr>
                <p:custDataLst>
                  <p:tags r:id="rId11"/>
                </p:custDataLst>
              </p:nvPr>
            </p:nvSpPr>
            <p:spPr bwMode="auto">
              <a:xfrm>
                <a:off x="7428851" y="3182027"/>
                <a:ext cx="13165066" cy="149706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sz="2400" dirty="0" smtClean="0">
                    <a:solidFill>
                      <a:schemeClr val="tx1"/>
                    </a:solidFill>
                    <a:latin typeface="微软雅黑" panose="020B0503020204020204" charset="-122"/>
                    <a:ea typeface="微软雅黑" panose="020B0503020204020204" charset="-122"/>
                  </a:rPr>
                  <a:t>移动终端节能技术主要包括系统电源管理技术、无线通信节能技术、终端定位节能技术和计算卸载节能技术等。</a:t>
                </a:r>
              </a:p>
            </p:txBody>
          </p:sp>
        </p:grpSp>
        <p:grpSp>
          <p:nvGrpSpPr>
            <p:cNvPr id="34" name="组合 33"/>
            <p:cNvGrpSpPr/>
            <p:nvPr/>
          </p:nvGrpSpPr>
          <p:grpSpPr>
            <a:xfrm flipH="1">
              <a:off x="11357" y="2718"/>
              <a:ext cx="7895" cy="1533"/>
              <a:chOff x="1" y="3428100"/>
              <a:chExt cx="5013433" cy="973302"/>
            </a:xfrm>
          </p:grpSpPr>
          <p:sp>
            <p:nvSpPr>
              <p:cNvPr id="35" name="MH_SubTitle_2"/>
              <p:cNvSpPr/>
              <p:nvPr>
                <p:custDataLst>
                  <p:tags r:id="rId1"/>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移动终端节能技术</a:t>
                </a:r>
              </a:p>
            </p:txBody>
          </p:sp>
          <p:sp>
            <p:nvSpPr>
              <p:cNvPr id="36" name="MH_Other_5"/>
              <p:cNvSpPr/>
              <p:nvPr>
                <p:custDataLst>
                  <p:tags r:id="rId2"/>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3</a:t>
                </a:r>
              </a:p>
            </p:txBody>
          </p:sp>
          <p:sp>
            <p:nvSpPr>
              <p:cNvPr id="37" name="MH_Other_6"/>
              <p:cNvSpPr/>
              <p:nvPr>
                <p:custDataLst>
                  <p:tags r:id="rId3"/>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grpSp>
    </p:spTree>
  </p:cSld>
  <p:clrMapOvr>
    <a:masterClrMapping/>
  </p:clrMapOvr>
  <p:transition>
    <p:wheel spokes="3"/>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smtClean="0">
                <a:solidFill>
                  <a:srgbClr val="FF0000"/>
                </a:solidFill>
              </a:rPr>
              <a:t>9.2  </a:t>
            </a:r>
            <a:r>
              <a:rPr lang="zh-CN" altLang="en-US" dirty="0" smtClean="0">
                <a:solidFill>
                  <a:srgbClr val="FF0000"/>
                </a:solidFill>
                <a:sym typeface="+mn-ea"/>
              </a:rPr>
              <a:t>移动互联网应用技术</a:t>
            </a:r>
            <a:r>
              <a:rPr lang="zh-CN" dirty="0">
                <a:solidFill>
                  <a:srgbClr val="FF0000"/>
                </a:solidFill>
              </a:rPr>
              <a:t/>
            </a:r>
            <a:br>
              <a:rPr lang="zh-CN" dirty="0">
                <a:solidFill>
                  <a:srgbClr val="FF0000"/>
                </a:solidFill>
              </a:rPr>
            </a:b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9.2.2  </a:t>
            </a:r>
            <a:r>
              <a:rPr lang="zh-CN" altLang="en-US" sz="2400" dirty="0" smtClean="0">
                <a:solidFill>
                  <a:schemeClr val="tx1"/>
                </a:solidFill>
              </a:rPr>
              <a:t>移动互联终端技术</a:t>
            </a:r>
          </a:p>
        </p:txBody>
      </p:sp>
      <p:grpSp>
        <p:nvGrpSpPr>
          <p:cNvPr id="6" name="组合 5"/>
          <p:cNvGrpSpPr/>
          <p:nvPr/>
        </p:nvGrpSpPr>
        <p:grpSpPr>
          <a:xfrm>
            <a:off x="1097915" y="2186940"/>
            <a:ext cx="9996170" cy="1652905"/>
            <a:chOff x="1145" y="3666"/>
            <a:chExt cx="15742" cy="2603"/>
          </a:xfrm>
        </p:grpSpPr>
        <p:sp>
          <p:nvSpPr>
            <p:cNvPr id="7" name="Oval 5"/>
            <p:cNvSpPr/>
            <p:nvPr/>
          </p:nvSpPr>
          <p:spPr>
            <a:xfrm>
              <a:off x="1145" y="3736"/>
              <a:ext cx="1223" cy="1220"/>
            </a:xfrm>
            <a:prstGeom prst="ellipse">
              <a:avLst/>
            </a:prstGeom>
            <a:solidFill>
              <a:srgbClr val="58BDA8"/>
            </a:solidFill>
            <a:ln w="25400" cap="flat" cmpd="sng" algn="ctr">
              <a:noFill/>
              <a:prstDash val="solid"/>
            </a:ln>
            <a:effec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sp>
          <p:nvSpPr>
            <p:cNvPr id="2" name="Freeform 7"/>
            <p:cNvSpPr>
              <a:spLocks noEditPoints="1"/>
            </p:cNvSpPr>
            <p:nvPr/>
          </p:nvSpPr>
          <p:spPr bwMode="auto">
            <a:xfrm>
              <a:off x="1437" y="4026"/>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ysClr val="window" lastClr="FFFFFF"/>
            </a:solidFill>
            <a:ln>
              <a:noFill/>
            </a:ln>
          </p:spPr>
          <p:txBody>
            <a:bodyPr lIns="121682" tIns="60841" rIns="121682" bIns="60841"/>
            <a:lstStyle/>
            <a:p>
              <a:pPr marL="0" marR="0" lvl="0" indent="0" algn="l"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srgbClr val="5C5C5C"/>
                </a:solidFill>
                <a:effectLst/>
                <a:uLnTx/>
                <a:uFillTx/>
                <a:latin typeface="微软雅黑" panose="020B0503020204020204" charset="-122"/>
                <a:ea typeface="+mn-ea"/>
                <a:cs typeface="+mn-cs"/>
              </a:endParaRPr>
            </a:p>
          </p:txBody>
        </p:sp>
        <p:sp>
          <p:nvSpPr>
            <p:cNvPr id="4" name="矩形 3"/>
            <p:cNvSpPr/>
            <p:nvPr/>
          </p:nvSpPr>
          <p:spPr>
            <a:xfrm>
              <a:off x="2562" y="4181"/>
              <a:ext cx="14325" cy="2088"/>
            </a:xfrm>
            <a:prstGeom prst="rect">
              <a:avLst/>
            </a:prstGeom>
          </p:spPr>
          <p:txBody>
            <a:bodyPr wrap="square">
              <a:spAutoFit/>
            </a:bodyPr>
            <a:lstStyle/>
            <a:p>
              <a:pPr marL="0" marR="0" lvl="0" indent="0" algn="l" defTabSz="914400" rtl="0" fontAlgn="auto">
                <a:lnSpc>
                  <a:spcPct val="150000"/>
                </a:lnSpc>
                <a:spcBef>
                  <a:spcPts val="0"/>
                </a:spcBef>
                <a:spcAft>
                  <a:spcPts val="0"/>
                </a:spcAft>
                <a:buClrTx/>
                <a:buSzTx/>
                <a:buFontTx/>
                <a:buNone/>
                <a:defRPr/>
              </a:pPr>
              <a:r>
                <a:rPr kumimoji="0" lang="en-US"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        </a:t>
              </a:r>
              <a:r>
                <a:rPr kumimoji="0"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系统电源管理技术是指系统利用动态电源管理工具来提升电池效能，即根据系统中不同组件的负载状态，动态地调整各个组件的工作状态，使之在不影响工作的同时，使用最少的能源，进而减少不必要的能耗。</a:t>
              </a:r>
            </a:p>
          </p:txBody>
        </p:sp>
        <p:sp>
          <p:nvSpPr>
            <p:cNvPr id="35857" name="文本框 18"/>
            <p:cNvSpPr txBox="1"/>
            <p:nvPr/>
          </p:nvSpPr>
          <p:spPr>
            <a:xfrm>
              <a:off x="2562" y="3666"/>
              <a:ext cx="3745" cy="606"/>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rgbClr val="7E7E7D"/>
                  </a:solidFill>
                  <a:latin typeface="微软雅黑" panose="020B0503020204020204" charset="-122"/>
                  <a:ea typeface="微软雅黑" panose="020B0503020204020204" charset="-122"/>
                </a:rPr>
                <a:t>系统电源管理技术</a:t>
              </a:r>
            </a:p>
          </p:txBody>
        </p:sp>
      </p:grpSp>
      <p:grpSp>
        <p:nvGrpSpPr>
          <p:cNvPr id="27" name="组合 26"/>
          <p:cNvGrpSpPr/>
          <p:nvPr/>
        </p:nvGrpSpPr>
        <p:grpSpPr>
          <a:xfrm>
            <a:off x="1097280" y="4406900"/>
            <a:ext cx="10148570" cy="1243330"/>
            <a:chOff x="10037" y="3658"/>
            <a:chExt cx="15982" cy="1958"/>
          </a:xfrm>
        </p:grpSpPr>
        <p:sp>
          <p:nvSpPr>
            <p:cNvPr id="28" name="Oval 26"/>
            <p:cNvSpPr/>
            <p:nvPr/>
          </p:nvSpPr>
          <p:spPr>
            <a:xfrm>
              <a:off x="10037" y="3727"/>
              <a:ext cx="1223" cy="1223"/>
            </a:xfrm>
            <a:prstGeom prst="ellipse">
              <a:avLst/>
            </a:prstGeom>
            <a:solidFill>
              <a:schemeClr val="accent2"/>
            </a:solidFill>
            <a:ln w="25400" cap="flat" cmpd="sng" algn="ctr">
              <a:noFill/>
              <a:prstDash val="solid"/>
            </a:ln>
            <a:effec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sp>
          <p:nvSpPr>
            <p:cNvPr id="30" name="矩形 29"/>
            <p:cNvSpPr/>
            <p:nvPr/>
          </p:nvSpPr>
          <p:spPr>
            <a:xfrm>
              <a:off x="11427" y="4176"/>
              <a:ext cx="14592" cy="1440"/>
            </a:xfrm>
            <a:prstGeom prst="rect">
              <a:avLst/>
            </a:prstGeom>
          </p:spPr>
          <p:txBody>
            <a:bodyPr wrap="square">
              <a:spAutoFit/>
            </a:bodyPr>
            <a:lstStyle/>
            <a:p>
              <a:pPr marL="0" marR="0" lvl="0" indent="0" algn="l" defTabSz="914400" rtl="0" fontAlgn="auto">
                <a:lnSpc>
                  <a:spcPct val="150000"/>
                </a:lnSpc>
                <a:spcBef>
                  <a:spcPts val="0"/>
                </a:spcBef>
                <a:spcAft>
                  <a:spcPts val="0"/>
                </a:spcAft>
                <a:buClrTx/>
                <a:buSzTx/>
                <a:buFontTx/>
                <a:buNone/>
                <a:defRPr/>
              </a:pPr>
              <a:r>
                <a:rPr kumimoji="0" lang="en-US"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       </a:t>
              </a:r>
              <a:r>
                <a:rPr kumimoji="0"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无线通信节能技术是指对无线接口的耗能进行优化的技术，主要包括多种无线通信混合节能技术、基于接入点（AP）下载调度的节能技术和802.11 MAC层协议优化技术。</a:t>
              </a:r>
            </a:p>
          </p:txBody>
        </p:sp>
        <p:sp>
          <p:nvSpPr>
            <p:cNvPr id="35863" name="文本框 24"/>
            <p:cNvSpPr txBox="1"/>
            <p:nvPr/>
          </p:nvSpPr>
          <p:spPr>
            <a:xfrm>
              <a:off x="11427" y="3658"/>
              <a:ext cx="3745" cy="606"/>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rgbClr val="7E7E7D"/>
                  </a:solidFill>
                  <a:latin typeface="微软雅黑" panose="020B0503020204020204" charset="-122"/>
                  <a:ea typeface="微软雅黑" panose="020B0503020204020204" charset="-122"/>
                </a:rPr>
                <a:t>无线通信节能技术</a:t>
              </a:r>
            </a:p>
          </p:txBody>
        </p:sp>
        <p:sp>
          <p:nvSpPr>
            <p:cNvPr id="31" name="Freeform 7"/>
            <p:cNvSpPr>
              <a:spLocks noEditPoints="1"/>
            </p:cNvSpPr>
            <p:nvPr/>
          </p:nvSpPr>
          <p:spPr bwMode="auto">
            <a:xfrm>
              <a:off x="10330" y="4018"/>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ysClr val="window" lastClr="FFFFFF"/>
            </a:solidFill>
            <a:ln>
              <a:noFill/>
            </a:ln>
          </p:spPr>
          <p:txBody>
            <a:bodyPr lIns="121682" tIns="60841" rIns="121682" bIns="60841"/>
            <a:lstStyle/>
            <a:p>
              <a:pPr marL="0" marR="0" lvl="0" indent="0" algn="l"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srgbClr val="5C5C5C"/>
                </a:solidFill>
                <a:effectLst/>
                <a:uLnTx/>
                <a:uFillTx/>
                <a:latin typeface="微软雅黑" panose="020B0503020204020204" charset="-122"/>
                <a:ea typeface="+mn-ea"/>
                <a:cs typeface="+mn-cs"/>
              </a:endParaRPr>
            </a:p>
          </p:txBody>
        </p:sp>
      </p:grpSp>
    </p:spTree>
  </p:cSld>
  <p:clrMapOvr>
    <a:masterClrMapping/>
  </p:clrMapOvr>
  <p:transition>
    <p:wheel spokes="3"/>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to="" calcmode="lin" valueType="num">
                                      <p:cBhvr>
                                        <p:cTn id="7" dur="1" fill="hold"/>
                                        <p:tgtEl>
                                          <p:spTgt spid="6"/>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 to="" calcmode="lin" valueType="num">
                                      <p:cBhvr>
                                        <p:cTn id="12" dur="1" fill="hold"/>
                                        <p:tgtEl>
                                          <p:spTgt spid="27"/>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smtClean="0">
                <a:solidFill>
                  <a:srgbClr val="FF0000"/>
                </a:solidFill>
              </a:rPr>
              <a:t>9.2  </a:t>
            </a:r>
            <a:r>
              <a:rPr lang="zh-CN" altLang="en-US" dirty="0" smtClean="0">
                <a:solidFill>
                  <a:srgbClr val="FF0000"/>
                </a:solidFill>
                <a:sym typeface="+mn-ea"/>
              </a:rPr>
              <a:t>移动互联网应用技术</a:t>
            </a:r>
            <a:r>
              <a:rPr lang="zh-CN" dirty="0">
                <a:solidFill>
                  <a:srgbClr val="FF0000"/>
                </a:solidFill>
              </a:rPr>
              <a:t/>
            </a:r>
            <a:br>
              <a:rPr lang="zh-CN" dirty="0">
                <a:solidFill>
                  <a:srgbClr val="FF0000"/>
                </a:solidFill>
              </a:rPr>
            </a:b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9.2.2  </a:t>
            </a:r>
            <a:r>
              <a:rPr lang="zh-CN" altLang="en-US" sz="2400" dirty="0" smtClean="0">
                <a:solidFill>
                  <a:schemeClr val="tx1"/>
                </a:solidFill>
              </a:rPr>
              <a:t>移动互联终端技术</a:t>
            </a:r>
          </a:p>
        </p:txBody>
      </p:sp>
      <p:sp>
        <p:nvSpPr>
          <p:cNvPr id="13" name="MH_Desc_1"/>
          <p:cNvSpPr/>
          <p:nvPr>
            <p:custDataLst>
              <p:tags r:id="rId1"/>
            </p:custDataLst>
          </p:nvPr>
        </p:nvSpPr>
        <p:spPr>
          <a:xfrm>
            <a:off x="800100" y="2273935"/>
            <a:ext cx="8171181" cy="3602990"/>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marL="285750" indent="-285750">
              <a:lnSpc>
                <a:spcPct val="120000"/>
              </a:lnSpc>
            </a:pPr>
            <a:r>
              <a:rPr lang="zh-CN" altLang="zh-CN" b="1" dirty="0" smtClean="0">
                <a:solidFill>
                  <a:schemeClr val="tx1"/>
                </a:solidFill>
              </a:rPr>
              <a:t>无线通信节能技术</a:t>
            </a:r>
            <a:r>
              <a:rPr lang="zh-CN" altLang="en-US" b="1" dirty="0" smtClean="0">
                <a:solidFill>
                  <a:schemeClr val="tx1"/>
                </a:solidFill>
              </a:rPr>
              <a:t>：</a:t>
            </a:r>
            <a:endParaRPr lang="en-US" dirty="0" smtClean="0">
              <a:solidFill>
                <a:srgbClr val="C00000"/>
              </a:solidFill>
              <a:latin typeface="微软雅黑" panose="020B0503020204020204" charset="-122"/>
              <a:ea typeface="微软雅黑" panose="020B0503020204020204" charset="-122"/>
            </a:endParaRPr>
          </a:p>
          <a:p>
            <a:pPr marL="285750" indent="-285750">
              <a:lnSpc>
                <a:spcPct val="120000"/>
              </a:lnSpc>
              <a:spcBef>
                <a:spcPts val="600"/>
              </a:spcBef>
              <a:buFont typeface="Wingdings" panose="05000000000000000000" charset="0"/>
              <a:buChar char="Ø"/>
            </a:pPr>
            <a:r>
              <a:rPr dirty="0" smtClean="0">
                <a:solidFill>
                  <a:srgbClr val="C00000"/>
                </a:solidFill>
                <a:latin typeface="微软雅黑" panose="020B0503020204020204" charset="-122"/>
                <a:ea typeface="微软雅黑" panose="020B0503020204020204" charset="-122"/>
              </a:rPr>
              <a:t>多种无线通信混合节能技术</a:t>
            </a:r>
            <a:r>
              <a:rPr dirty="0" smtClean="0">
                <a:solidFill>
                  <a:schemeClr val="tx1"/>
                </a:solidFill>
                <a:latin typeface="微软雅黑" panose="020B0503020204020204" charset="-122"/>
                <a:ea typeface="微软雅黑" panose="020B0503020204020204" charset="-122"/>
              </a:rPr>
              <a:t>：指根据多种无线通信技术（如WLAN、蓝牙等）在进行数据传输时的能耗差异，混合运用多种无线通信网络，发挥各自的优点，总体上起到降低能耗的作用。比如利用WLAN的高速率、高能耗和蓝牙的低能耗、低速率特点，在设备识别和连接时运用蓝牙技术，在数据传输时运用WLAN技术，有效发挥了各技术的优势，整体上减少了系统能耗。</a:t>
            </a:r>
          </a:p>
          <a:p>
            <a:pPr marL="285750" indent="-285750">
              <a:lnSpc>
                <a:spcPct val="120000"/>
              </a:lnSpc>
              <a:buFont typeface="Wingdings" panose="05000000000000000000" charset="0"/>
              <a:buChar char="Ø"/>
            </a:pPr>
            <a:r>
              <a:rPr dirty="0" smtClean="0">
                <a:solidFill>
                  <a:srgbClr val="C00000"/>
                </a:solidFill>
                <a:latin typeface="微软雅黑" panose="020B0503020204020204" charset="-122"/>
                <a:ea typeface="微软雅黑" panose="020B0503020204020204" charset="-122"/>
              </a:rPr>
              <a:t>基于接入点（AP）下载调度的节能技术</a:t>
            </a:r>
            <a:r>
              <a:rPr dirty="0" smtClean="0">
                <a:solidFill>
                  <a:schemeClr val="tx1"/>
                </a:solidFill>
                <a:latin typeface="微软雅黑" panose="020B0503020204020204" charset="-122"/>
                <a:ea typeface="微软雅黑" panose="020B0503020204020204" charset="-122"/>
              </a:rPr>
              <a:t>：指通过对进入接入点的终端的下行流量进行集中调度和控制，始终让下行流量通信的总能耗处于最小状态。</a:t>
            </a:r>
          </a:p>
          <a:p>
            <a:pPr marL="285750" indent="-285750">
              <a:lnSpc>
                <a:spcPct val="120000"/>
              </a:lnSpc>
              <a:buFont typeface="Wingdings" panose="05000000000000000000" charset="0"/>
              <a:buChar char="Ø"/>
            </a:pPr>
            <a:r>
              <a:rPr dirty="0" smtClean="0">
                <a:solidFill>
                  <a:srgbClr val="C00000"/>
                </a:solidFill>
                <a:latin typeface="微软雅黑" panose="020B0503020204020204" charset="-122"/>
                <a:ea typeface="微软雅黑" panose="020B0503020204020204" charset="-122"/>
              </a:rPr>
              <a:t>802.11 MAC层协议优化技术</a:t>
            </a:r>
            <a:r>
              <a:rPr dirty="0" smtClean="0">
                <a:solidFill>
                  <a:schemeClr val="tx1"/>
                </a:solidFill>
                <a:latin typeface="微软雅黑" panose="020B0503020204020204" charset="-122"/>
                <a:ea typeface="微软雅黑" panose="020B0503020204020204" charset="-122"/>
              </a:rPr>
              <a:t>：指根据IEEE 802.11标准协议开展的节能技术。</a:t>
            </a:r>
          </a:p>
        </p:txBody>
      </p:sp>
      <p:pic>
        <p:nvPicPr>
          <p:cNvPr id="14" name="图片 13" descr="A000220150821A50PPIC"/>
          <p:cNvPicPr>
            <a:picLocks noChangeAspect="1"/>
          </p:cNvPicPr>
          <p:nvPr/>
        </p:nvPicPr>
        <p:blipFill>
          <a:blip r:embed="rId3" cstate="print"/>
          <a:stretch>
            <a:fillRect/>
          </a:stretch>
        </p:blipFill>
        <p:spPr>
          <a:xfrm>
            <a:off x="8990069" y="2066925"/>
            <a:ext cx="2791721" cy="3809365"/>
          </a:xfrm>
          <a:prstGeom prst="rect">
            <a:avLst/>
          </a:prstGeom>
        </p:spPr>
      </p:pic>
    </p:spTree>
  </p:cSld>
  <p:clrMapOvr>
    <a:masterClrMapping/>
  </p:clrMapOvr>
  <p:transition>
    <p:wheel spokes="3"/>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smtClean="0">
                <a:solidFill>
                  <a:srgbClr val="FF0000"/>
                </a:solidFill>
              </a:rPr>
              <a:t>9.2  </a:t>
            </a:r>
            <a:r>
              <a:rPr lang="zh-CN" altLang="en-US" dirty="0" smtClean="0">
                <a:solidFill>
                  <a:srgbClr val="FF0000"/>
                </a:solidFill>
                <a:sym typeface="+mn-ea"/>
              </a:rPr>
              <a:t>移动互联网应用技术</a:t>
            </a:r>
            <a:r>
              <a:rPr lang="zh-CN" dirty="0">
                <a:solidFill>
                  <a:srgbClr val="FF0000"/>
                </a:solidFill>
              </a:rPr>
              <a:t/>
            </a:r>
            <a:br>
              <a:rPr lang="zh-CN" dirty="0">
                <a:solidFill>
                  <a:srgbClr val="FF0000"/>
                </a:solidFill>
              </a:rPr>
            </a:b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9.2.2  </a:t>
            </a:r>
            <a:r>
              <a:rPr lang="zh-CN" altLang="en-US" sz="2400" dirty="0" smtClean="0">
                <a:solidFill>
                  <a:schemeClr val="tx1"/>
                </a:solidFill>
              </a:rPr>
              <a:t>移动互联终端技术</a:t>
            </a:r>
          </a:p>
        </p:txBody>
      </p:sp>
      <p:grpSp>
        <p:nvGrpSpPr>
          <p:cNvPr id="5" name="组合 4"/>
          <p:cNvGrpSpPr/>
          <p:nvPr/>
        </p:nvGrpSpPr>
        <p:grpSpPr>
          <a:xfrm>
            <a:off x="961390" y="2366645"/>
            <a:ext cx="10307320" cy="1241425"/>
            <a:chOff x="6622" y="7984"/>
            <a:chExt cx="16232" cy="1955"/>
          </a:xfrm>
        </p:grpSpPr>
        <p:grpSp>
          <p:nvGrpSpPr>
            <p:cNvPr id="23" name="组合 22"/>
            <p:cNvGrpSpPr/>
            <p:nvPr/>
          </p:nvGrpSpPr>
          <p:grpSpPr>
            <a:xfrm>
              <a:off x="6622" y="7984"/>
              <a:ext cx="16232" cy="1955"/>
              <a:chOff x="1145" y="5803"/>
              <a:chExt cx="16232" cy="1955"/>
            </a:xfrm>
          </p:grpSpPr>
          <p:sp>
            <p:nvSpPr>
              <p:cNvPr id="24" name="Oval 21"/>
              <p:cNvSpPr/>
              <p:nvPr/>
            </p:nvSpPr>
            <p:spPr>
              <a:xfrm>
                <a:off x="1145" y="5861"/>
                <a:ext cx="1223" cy="1223"/>
              </a:xfrm>
              <a:prstGeom prst="ellipse">
                <a:avLst/>
              </a:prstGeom>
              <a:solidFill>
                <a:srgbClr val="EF4150"/>
              </a:solidFill>
              <a:ln w="25400" cap="flat" cmpd="sng" algn="ctr">
                <a:noFill/>
                <a:prstDash val="solid"/>
              </a:ln>
              <a:effec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sp>
            <p:nvSpPr>
              <p:cNvPr id="25" name="矩形 24"/>
              <p:cNvSpPr/>
              <p:nvPr/>
            </p:nvSpPr>
            <p:spPr>
              <a:xfrm>
                <a:off x="2562" y="6318"/>
                <a:ext cx="14815" cy="1440"/>
              </a:xfrm>
              <a:prstGeom prst="rect">
                <a:avLst/>
              </a:prstGeom>
            </p:spPr>
            <p:txBody>
              <a:bodyPr wrap="square">
                <a:spAutoFit/>
              </a:bodyPr>
              <a:lstStyle/>
              <a:p>
                <a:pPr marL="0" marR="0" lvl="0" indent="0" algn="l" defTabSz="914400" rtl="0" fontAlgn="auto">
                  <a:lnSpc>
                    <a:spcPct val="150000"/>
                  </a:lnSpc>
                  <a:spcBef>
                    <a:spcPts val="0"/>
                  </a:spcBef>
                  <a:spcAft>
                    <a:spcPts val="0"/>
                  </a:spcAft>
                  <a:buClrTx/>
                  <a:buSzTx/>
                  <a:buFontTx/>
                  <a:buNone/>
                  <a:defRPr/>
                </a:pPr>
                <a:r>
                  <a:rPr kumimoji="0" lang="en-US"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       </a:t>
                </a:r>
                <a:r>
                  <a:rPr kumimoji="0"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移动互联网在定位过程中，移动节点的耗能非常严重，终端定位节能技术是利用提高位置信息的更新时间间隔来降低能耗。</a:t>
                </a:r>
              </a:p>
            </p:txBody>
          </p:sp>
          <p:sp>
            <p:nvSpPr>
              <p:cNvPr id="35859" name="文本框 20"/>
              <p:cNvSpPr txBox="1"/>
              <p:nvPr/>
            </p:nvSpPr>
            <p:spPr>
              <a:xfrm>
                <a:off x="2562" y="5803"/>
                <a:ext cx="3745" cy="606"/>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rgbClr val="7E7E7D"/>
                    </a:solidFill>
                    <a:latin typeface="微软雅黑" panose="020B0503020204020204" charset="-122"/>
                    <a:ea typeface="微软雅黑" panose="020B0503020204020204" charset="-122"/>
                  </a:rPr>
                  <a:t>终端定位节能技术</a:t>
                </a:r>
              </a:p>
            </p:txBody>
          </p:sp>
        </p:grpSp>
        <p:sp>
          <p:nvSpPr>
            <p:cNvPr id="26" name="Freeform 7"/>
            <p:cNvSpPr>
              <a:spLocks noEditPoints="1"/>
            </p:cNvSpPr>
            <p:nvPr/>
          </p:nvSpPr>
          <p:spPr bwMode="auto">
            <a:xfrm>
              <a:off x="6915" y="8333"/>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ysClr val="window" lastClr="FFFFFF"/>
            </a:solidFill>
            <a:ln>
              <a:noFill/>
            </a:ln>
          </p:spPr>
          <p:txBody>
            <a:bodyPr lIns="121682" tIns="60841" rIns="121682" bIns="60841"/>
            <a:lstStyle/>
            <a:p>
              <a:pPr marL="0" marR="0" lvl="0" indent="0" algn="l"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srgbClr val="5C5C5C"/>
                </a:solidFill>
                <a:effectLst/>
                <a:uLnTx/>
                <a:uFillTx/>
                <a:latin typeface="微软雅黑" panose="020B0503020204020204" charset="-122"/>
                <a:ea typeface="+mn-ea"/>
                <a:cs typeface="+mn-cs"/>
              </a:endParaRPr>
            </a:p>
          </p:txBody>
        </p:sp>
      </p:grpSp>
      <p:grpSp>
        <p:nvGrpSpPr>
          <p:cNvPr id="8" name="组合 7"/>
          <p:cNvGrpSpPr/>
          <p:nvPr/>
        </p:nvGrpSpPr>
        <p:grpSpPr>
          <a:xfrm>
            <a:off x="1045210" y="4133850"/>
            <a:ext cx="10139680" cy="1241425"/>
            <a:chOff x="1145" y="3666"/>
            <a:chExt cx="15968" cy="1955"/>
          </a:xfrm>
        </p:grpSpPr>
        <p:sp>
          <p:nvSpPr>
            <p:cNvPr id="9" name="Oval 5"/>
            <p:cNvSpPr/>
            <p:nvPr/>
          </p:nvSpPr>
          <p:spPr>
            <a:xfrm>
              <a:off x="1145" y="3736"/>
              <a:ext cx="1223" cy="1220"/>
            </a:xfrm>
            <a:prstGeom prst="ellipse">
              <a:avLst/>
            </a:prstGeom>
            <a:solidFill>
              <a:schemeClr val="accent6">
                <a:lumMod val="75000"/>
              </a:schemeClr>
            </a:solidFill>
            <a:ln w="25400" cap="flat" cmpd="sng" algn="ctr">
              <a:noFill/>
              <a:prstDash val="solid"/>
            </a:ln>
            <a:effec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sp>
          <p:nvSpPr>
            <p:cNvPr id="10" name="Freeform 7"/>
            <p:cNvSpPr>
              <a:spLocks noEditPoints="1"/>
            </p:cNvSpPr>
            <p:nvPr/>
          </p:nvSpPr>
          <p:spPr bwMode="auto">
            <a:xfrm>
              <a:off x="1437" y="4026"/>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ysClr val="window" lastClr="FFFFFF"/>
            </a:solidFill>
            <a:ln>
              <a:noFill/>
            </a:ln>
          </p:spPr>
          <p:txBody>
            <a:bodyPr lIns="121682" tIns="60841" rIns="121682" bIns="60841"/>
            <a:lstStyle/>
            <a:p>
              <a:pPr marL="0" marR="0" lvl="0" indent="0" algn="l"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srgbClr val="5C5C5C"/>
                </a:solidFill>
                <a:effectLst/>
                <a:uLnTx/>
                <a:uFillTx/>
                <a:latin typeface="微软雅黑" panose="020B0503020204020204" charset="-122"/>
                <a:ea typeface="+mn-ea"/>
                <a:cs typeface="+mn-cs"/>
              </a:endParaRPr>
            </a:p>
          </p:txBody>
        </p:sp>
        <p:sp>
          <p:nvSpPr>
            <p:cNvPr id="18" name="矩形 17"/>
            <p:cNvSpPr/>
            <p:nvPr/>
          </p:nvSpPr>
          <p:spPr>
            <a:xfrm>
              <a:off x="2368" y="4181"/>
              <a:ext cx="14745" cy="1440"/>
            </a:xfrm>
            <a:prstGeom prst="rect">
              <a:avLst/>
            </a:prstGeom>
          </p:spPr>
          <p:txBody>
            <a:bodyPr wrap="square">
              <a:spAutoFit/>
            </a:bodyPr>
            <a:lstStyle/>
            <a:p>
              <a:pPr marL="0" marR="0" lvl="0" indent="0" algn="l" defTabSz="914400" rtl="0" fontAlgn="auto">
                <a:lnSpc>
                  <a:spcPct val="150000"/>
                </a:lnSpc>
                <a:spcBef>
                  <a:spcPts val="0"/>
                </a:spcBef>
                <a:spcAft>
                  <a:spcPts val="0"/>
                </a:spcAft>
                <a:buClrTx/>
                <a:buSzTx/>
                <a:buFontTx/>
                <a:buNone/>
                <a:defRPr/>
              </a:pPr>
              <a:r>
                <a:rPr kumimoji="0" lang="en-US"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        </a:t>
              </a:r>
              <a:r>
                <a:rPr kumimoji="0"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计算卸载节能技术是一种基于云计算的节能技术，将原来在移动节点上运行的计算功能迁移到远程服务器运行，进而降低了终端的CPU和内存的能耗。</a:t>
              </a:r>
            </a:p>
          </p:txBody>
        </p:sp>
        <p:sp>
          <p:nvSpPr>
            <p:cNvPr id="11" name="文本框 18"/>
            <p:cNvSpPr txBox="1"/>
            <p:nvPr/>
          </p:nvSpPr>
          <p:spPr>
            <a:xfrm>
              <a:off x="2562" y="3666"/>
              <a:ext cx="3745" cy="606"/>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rgbClr val="7E7E7D"/>
                  </a:solidFill>
                  <a:latin typeface="微软雅黑" panose="020B0503020204020204" charset="-122"/>
                  <a:ea typeface="微软雅黑" panose="020B0503020204020204" charset="-122"/>
                </a:rPr>
                <a:t>计算卸载节能技术</a:t>
              </a:r>
            </a:p>
          </p:txBody>
        </p:sp>
      </p:grpSp>
    </p:spTree>
  </p:cSld>
  <p:clrMapOvr>
    <a:masterClrMapping/>
  </p:clrMapOvr>
  <p:transition>
    <p:wheel spokes="3"/>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to="" calcmode="lin" valueType="num">
                                      <p:cBhvr>
                                        <p:cTn id="7" dur="1" fill="hold"/>
                                        <p:tgtEl>
                                          <p:spTgt spid="5"/>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to="" calcmode="lin" valueType="num">
                                      <p:cBhvr>
                                        <p:cTn id="12" dur="1" fill="hold"/>
                                        <p:tgtEl>
                                          <p:spTgt spid="8"/>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5240" y="1725930"/>
            <a:ext cx="12209780" cy="4016375"/>
            <a:chOff x="24" y="2718"/>
            <a:chExt cx="19228" cy="6325"/>
          </a:xfrm>
        </p:grpSpPr>
        <p:grpSp>
          <p:nvGrpSpPr>
            <p:cNvPr id="4" name="组合 9"/>
            <p:cNvGrpSpPr/>
            <p:nvPr/>
          </p:nvGrpSpPr>
          <p:grpSpPr>
            <a:xfrm>
              <a:off x="24" y="4247"/>
              <a:ext cx="18941" cy="4787"/>
              <a:chOff x="0" y="2130426"/>
              <a:chExt cx="21645385" cy="3649762"/>
            </a:xfrm>
          </p:grpSpPr>
          <p:sp>
            <p:nvSpPr>
              <p:cNvPr id="9" name="MH_Other_1"/>
              <p:cNvSpPr/>
              <p:nvPr>
                <p:custDataLst>
                  <p:tags r:id="rId4"/>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0" name="MH_Other_2"/>
              <p:cNvSpPr/>
              <p:nvPr>
                <p:custDataLst>
                  <p:tags r:id="rId5"/>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6"/>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2" name="MH_Other_4"/>
              <p:cNvSpPr>
                <a:spLocks noChangeArrowheads="1"/>
              </p:cNvSpPr>
              <p:nvPr>
                <p:custDataLst>
                  <p:tags r:id="rId7"/>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8"/>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4" name="MH_Other_6"/>
              <p:cNvSpPr>
                <a:spLocks noChangeArrowheads="1"/>
              </p:cNvSpPr>
              <p:nvPr>
                <p:custDataLst>
                  <p:tags r:id="rId9"/>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5" name="MH_Other_7"/>
              <p:cNvSpPr/>
              <p:nvPr>
                <p:custDataLst>
                  <p:tags r:id="rId10"/>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6" name="MH_Text_1"/>
              <p:cNvSpPr/>
              <p:nvPr>
                <p:custDataLst>
                  <p:tags r:id="rId11"/>
                </p:custDataLst>
              </p:nvPr>
            </p:nvSpPr>
            <p:spPr bwMode="auto">
              <a:xfrm>
                <a:off x="7583486" y="3056226"/>
                <a:ext cx="13370408" cy="149706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a:lnSpc>
                    <a:spcPct val="120000"/>
                  </a:lnSpc>
                </a:pPr>
                <a:r>
                  <a:rPr lang="en-US" altLang="zh-CN" sz="2000" dirty="0" smtClean="0">
                    <a:solidFill>
                      <a:schemeClr val="tx1"/>
                    </a:solidFill>
                  </a:rPr>
                  <a:t>       </a:t>
                </a:r>
                <a:r>
                  <a:rPr lang="zh-CN" altLang="zh-CN" sz="2000" dirty="0" smtClean="0">
                    <a:solidFill>
                      <a:schemeClr val="tx1"/>
                    </a:solidFill>
                  </a:rPr>
                  <a:t>移动定位技术是指利用移动通信网络，对接收到的无线电波参数进行测量，通过特定算法对移动终端在某个时间的地理位置进行测定。移动定位技术主要有卫星辅助定位技术、网络定位技术和感知定位技术</a:t>
                </a:r>
                <a:r>
                  <a:rPr lang="en-US" altLang="zh-CN" sz="2000" dirty="0" smtClean="0">
                    <a:solidFill>
                      <a:schemeClr val="tx1"/>
                    </a:solidFill>
                  </a:rPr>
                  <a:t>3</a:t>
                </a:r>
                <a:r>
                  <a:rPr lang="zh-CN" altLang="zh-CN" sz="2000" dirty="0" smtClean="0">
                    <a:solidFill>
                      <a:schemeClr val="tx1"/>
                    </a:solidFill>
                  </a:rPr>
                  <a:t>种。</a:t>
                </a:r>
                <a:endParaRPr lang="zh-CN" altLang="zh-CN" sz="2000" dirty="0">
                  <a:solidFill>
                    <a:schemeClr val="tx1"/>
                  </a:solidFill>
                </a:endParaRPr>
              </a:p>
            </p:txBody>
          </p:sp>
        </p:grpSp>
        <p:grpSp>
          <p:nvGrpSpPr>
            <p:cNvPr id="5" name="组合 33"/>
            <p:cNvGrpSpPr/>
            <p:nvPr/>
          </p:nvGrpSpPr>
          <p:grpSpPr>
            <a:xfrm flipH="1">
              <a:off x="11357" y="2718"/>
              <a:ext cx="7895" cy="1533"/>
              <a:chOff x="1" y="3428100"/>
              <a:chExt cx="5013433" cy="973302"/>
            </a:xfrm>
          </p:grpSpPr>
          <p:sp>
            <p:nvSpPr>
              <p:cNvPr id="6" name="MH_SubTitle_2"/>
              <p:cNvSpPr/>
              <p:nvPr>
                <p:custDataLst>
                  <p:tags r:id="rId1"/>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rPr>
                  <a:t>移动定位技术</a:t>
                </a:r>
                <a:endParaRPr lang="zh-CN" altLang="en-US" sz="2400" b="1" dirty="0">
                  <a:solidFill>
                    <a:schemeClr val="bg1"/>
                  </a:solidFill>
                  <a:latin typeface="微软雅黑" panose="020B0503020204020204" charset="-122"/>
                  <a:ea typeface="微软雅黑" panose="020B0503020204020204" charset="-122"/>
                </a:endParaRPr>
              </a:p>
            </p:txBody>
          </p:sp>
          <p:sp>
            <p:nvSpPr>
              <p:cNvPr id="7" name="MH_Other_5"/>
              <p:cNvSpPr/>
              <p:nvPr>
                <p:custDataLst>
                  <p:tags r:id="rId2"/>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smtClean="0">
                    <a:solidFill>
                      <a:srgbClr val="FFFFFF"/>
                    </a:solidFill>
                    <a:latin typeface="Impact" panose="020B0806030902050204" pitchFamily="34" charset="0"/>
                    <a:ea typeface="微软雅黑" panose="020B0503020204020204" charset="-122"/>
                  </a:rPr>
                  <a:t>0</a:t>
                </a:r>
                <a:r>
                  <a:rPr lang="en-US" sz="3200" dirty="0" smtClean="0">
                    <a:solidFill>
                      <a:srgbClr val="FFFFFF"/>
                    </a:solidFill>
                    <a:latin typeface="Impact" panose="020B0806030902050204" pitchFamily="34" charset="0"/>
                    <a:ea typeface="微软雅黑" panose="020B0503020204020204" charset="-122"/>
                  </a:rPr>
                  <a:t>4</a:t>
                </a:r>
                <a:endParaRPr lang="en-US" sz="3200" dirty="0">
                  <a:solidFill>
                    <a:srgbClr val="FFFFFF"/>
                  </a:solidFill>
                  <a:latin typeface="Impact" panose="020B0806030902050204" pitchFamily="34" charset="0"/>
                  <a:ea typeface="微软雅黑" panose="020B0503020204020204" charset="-122"/>
                </a:endParaRPr>
              </a:p>
            </p:txBody>
          </p:sp>
          <p:sp>
            <p:nvSpPr>
              <p:cNvPr id="8" name="MH_Other_6"/>
              <p:cNvSpPr/>
              <p:nvPr>
                <p:custDataLst>
                  <p:tags r:id="rId3"/>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grpSp>
      <p:sp>
        <p:nvSpPr>
          <p:cNvPr id="17" name="标题 2"/>
          <p:cNvSpPr>
            <a:spLocks noGrp="1"/>
          </p:cNvSpPr>
          <p:nvPr>
            <p:ph type="title"/>
          </p:nvPr>
        </p:nvSpPr>
        <p:spPr>
          <a:xfrm>
            <a:off x="754063" y="261258"/>
            <a:ext cx="8415337" cy="855290"/>
          </a:xfrm>
        </p:spPr>
        <p:txBody>
          <a:bodyPr/>
          <a:lstStyle/>
          <a:p>
            <a:r>
              <a:rPr lang="en-US" dirty="0" smtClean="0">
                <a:solidFill>
                  <a:srgbClr val="FF0000"/>
                </a:solidFill>
              </a:rPr>
              <a:t>9.2  </a:t>
            </a:r>
            <a:r>
              <a:rPr lang="zh-CN" altLang="en-US" dirty="0" smtClean="0">
                <a:solidFill>
                  <a:srgbClr val="FF0000"/>
                </a:solidFill>
                <a:sym typeface="+mn-ea"/>
              </a:rPr>
              <a:t>移动互联网应用技术</a:t>
            </a:r>
            <a:r>
              <a:rPr lang="zh-CN" dirty="0">
                <a:solidFill>
                  <a:srgbClr val="FF0000"/>
                </a:solidFill>
              </a:rPr>
              <a:t/>
            </a:r>
            <a:br>
              <a:rPr lang="zh-CN" dirty="0">
                <a:solidFill>
                  <a:srgbClr val="FF0000"/>
                </a:solidFill>
              </a:rPr>
            </a:br>
            <a:r>
              <a:rPr lang="zh-CN" dirty="0">
                <a:solidFill>
                  <a:srgbClr val="FF0000"/>
                </a:solidFill>
              </a:rPr>
              <a:t/>
            </a:r>
            <a:br>
              <a:rPr lang="zh-CN" dirty="0">
                <a:solidFill>
                  <a:srgbClr val="FF0000"/>
                </a:solidFill>
              </a:rPr>
            </a:br>
            <a:endParaRPr lang="zh-CN" dirty="0">
              <a:solidFill>
                <a:srgbClr val="FF0000"/>
              </a:solidFill>
            </a:endParaRPr>
          </a:p>
        </p:txBody>
      </p:sp>
      <p:sp>
        <p:nvSpPr>
          <p:cNvPr id="18"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9.2.2  </a:t>
            </a:r>
            <a:r>
              <a:rPr lang="zh-CN" altLang="en-US" sz="2400" dirty="0" smtClean="0">
                <a:solidFill>
                  <a:schemeClr val="tx1"/>
                </a:solidFill>
              </a:rPr>
              <a:t>移动互联终端技术</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smtClean="0">
                <a:solidFill>
                  <a:srgbClr val="FF0000"/>
                </a:solidFill>
              </a:rPr>
              <a:t>9.2  </a:t>
            </a:r>
            <a:r>
              <a:rPr lang="zh-CN" altLang="en-US" dirty="0" smtClean="0">
                <a:solidFill>
                  <a:srgbClr val="FF0000"/>
                </a:solidFill>
                <a:sym typeface="+mn-ea"/>
              </a:rPr>
              <a:t>移动互联网应用技术</a:t>
            </a:r>
            <a:r>
              <a:rPr lang="zh-CN" dirty="0">
                <a:solidFill>
                  <a:srgbClr val="FF0000"/>
                </a:solidFill>
              </a:rPr>
              <a:t/>
            </a:r>
            <a:br>
              <a:rPr lang="zh-CN" dirty="0">
                <a:solidFill>
                  <a:srgbClr val="FF0000"/>
                </a:solidFill>
              </a:rPr>
            </a:b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9.2.2  </a:t>
            </a:r>
            <a:r>
              <a:rPr lang="zh-CN" altLang="en-US" sz="2400" dirty="0" smtClean="0">
                <a:solidFill>
                  <a:schemeClr val="tx1"/>
                </a:solidFill>
              </a:rPr>
              <a:t>移动互联终端技术</a:t>
            </a:r>
          </a:p>
        </p:txBody>
      </p:sp>
      <p:grpSp>
        <p:nvGrpSpPr>
          <p:cNvPr id="23" name="组合 22"/>
          <p:cNvGrpSpPr/>
          <p:nvPr/>
        </p:nvGrpSpPr>
        <p:grpSpPr>
          <a:xfrm>
            <a:off x="3643662" y="2153156"/>
            <a:ext cx="6995763" cy="923925"/>
            <a:chOff x="1308378" y="2238881"/>
            <a:chExt cx="6995763" cy="923925"/>
          </a:xfrm>
        </p:grpSpPr>
        <p:sp>
          <p:nvSpPr>
            <p:cNvPr id="2" name="MH_Other_1"/>
            <p:cNvSpPr>
              <a:spLocks noChangeArrowheads="1"/>
            </p:cNvSpPr>
            <p:nvPr>
              <p:custDataLst>
                <p:tags r:id="rId11"/>
              </p:custDataLst>
            </p:nvPr>
          </p:nvSpPr>
          <p:spPr bwMode="auto">
            <a:xfrm>
              <a:off x="1308378" y="2238881"/>
              <a:ext cx="673100" cy="504825"/>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4" name="MH_Other_2"/>
            <p:cNvSpPr>
              <a:spLocks noChangeArrowheads="1"/>
            </p:cNvSpPr>
            <p:nvPr>
              <p:custDataLst>
                <p:tags r:id="rId12"/>
              </p:custDataLst>
            </p:nvPr>
          </p:nvSpPr>
          <p:spPr bwMode="auto">
            <a:xfrm>
              <a:off x="2019577" y="2343655"/>
              <a:ext cx="533400" cy="400050"/>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6" name="MH_Other_3"/>
            <p:cNvSpPr>
              <a:spLocks noChangeArrowheads="1"/>
            </p:cNvSpPr>
            <p:nvPr>
              <p:custDataLst>
                <p:tags r:id="rId13"/>
              </p:custDataLst>
            </p:nvPr>
          </p:nvSpPr>
          <p:spPr bwMode="auto">
            <a:xfrm>
              <a:off x="1460778" y="2772281"/>
              <a:ext cx="520700" cy="390525"/>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7" name="MH_Other_4"/>
            <p:cNvSpPr>
              <a:spLocks noChangeArrowheads="1"/>
            </p:cNvSpPr>
            <p:nvPr>
              <p:custDataLst>
                <p:tags r:id="rId14"/>
              </p:custDataLst>
            </p:nvPr>
          </p:nvSpPr>
          <p:spPr bwMode="auto">
            <a:xfrm>
              <a:off x="2019578" y="2772281"/>
              <a:ext cx="673100" cy="333375"/>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2" name="MH_SubTitle_1"/>
            <p:cNvSpPr/>
            <p:nvPr>
              <p:custDataLst>
                <p:tags r:id="rId15"/>
              </p:custDataLst>
            </p:nvPr>
          </p:nvSpPr>
          <p:spPr>
            <a:xfrm>
              <a:off x="2974193" y="2294442"/>
              <a:ext cx="5329948" cy="812800"/>
            </a:xfrm>
            <a:prstGeom prst="rect">
              <a:avLst/>
            </a:prstGeom>
          </p:spPr>
          <p:txBody>
            <a:bodyPr lIns="0" tIns="0" rIns="0" bIns="0" anchor="ctr">
              <a:noAutofit/>
            </a:bodyPr>
            <a:lstStyle/>
            <a:p>
              <a:pPr>
                <a:lnSpc>
                  <a:spcPct val="140000"/>
                </a:lnSpc>
                <a:defRPr/>
              </a:pPr>
              <a:r>
                <a:rPr lang="zh-CN" altLang="en-US" sz="1600" dirty="0" smtClean="0">
                  <a:solidFill>
                    <a:srgbClr val="000000"/>
                  </a:solidFill>
                  <a:latin typeface="微软雅黑" panose="020B0503020204020204" charset="-122"/>
                  <a:ea typeface="微软雅黑" panose="020B0503020204020204" charset="-122"/>
                  <a:sym typeface="+mn-ea"/>
                </a:rPr>
                <a:t>       （1）卫星辅助定位技术是利用手机上的GPS定位模块将自己的位置信号发送到定位后台来实现移动手机定位的。</a:t>
              </a:r>
            </a:p>
          </p:txBody>
        </p:sp>
      </p:grpSp>
      <p:grpSp>
        <p:nvGrpSpPr>
          <p:cNvPr id="25" name="组合 24"/>
          <p:cNvGrpSpPr/>
          <p:nvPr/>
        </p:nvGrpSpPr>
        <p:grpSpPr>
          <a:xfrm>
            <a:off x="3643662" y="4721182"/>
            <a:ext cx="7091013" cy="1393868"/>
            <a:chOff x="4652711" y="4806907"/>
            <a:chExt cx="7091013" cy="1393868"/>
          </a:xfrm>
        </p:grpSpPr>
        <p:sp>
          <p:nvSpPr>
            <p:cNvPr id="13" name="MH_Other_5"/>
            <p:cNvSpPr>
              <a:spLocks noChangeArrowheads="1"/>
            </p:cNvSpPr>
            <p:nvPr>
              <p:custDataLst>
                <p:tags r:id="rId6"/>
              </p:custDataLst>
            </p:nvPr>
          </p:nvSpPr>
          <p:spPr bwMode="auto">
            <a:xfrm>
              <a:off x="4652711" y="4806907"/>
              <a:ext cx="673100" cy="504825"/>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14" name="MH_Other_6"/>
            <p:cNvSpPr>
              <a:spLocks noChangeArrowheads="1"/>
            </p:cNvSpPr>
            <p:nvPr>
              <p:custDataLst>
                <p:tags r:id="rId7"/>
              </p:custDataLst>
            </p:nvPr>
          </p:nvSpPr>
          <p:spPr bwMode="auto">
            <a:xfrm>
              <a:off x="5363911" y="4911681"/>
              <a:ext cx="533400" cy="400050"/>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5" name="MH_Other_7"/>
            <p:cNvSpPr>
              <a:spLocks noChangeArrowheads="1"/>
            </p:cNvSpPr>
            <p:nvPr>
              <p:custDataLst>
                <p:tags r:id="rId8"/>
              </p:custDataLst>
            </p:nvPr>
          </p:nvSpPr>
          <p:spPr bwMode="auto">
            <a:xfrm>
              <a:off x="4805111" y="5340307"/>
              <a:ext cx="520700" cy="390525"/>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6" name="MH_Other_8"/>
            <p:cNvSpPr>
              <a:spLocks noChangeArrowheads="1"/>
            </p:cNvSpPr>
            <p:nvPr>
              <p:custDataLst>
                <p:tags r:id="rId9"/>
              </p:custDataLst>
            </p:nvPr>
          </p:nvSpPr>
          <p:spPr bwMode="auto">
            <a:xfrm>
              <a:off x="5363911" y="5340307"/>
              <a:ext cx="673100" cy="333375"/>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7" name="MH_SubTitle_3"/>
            <p:cNvSpPr/>
            <p:nvPr>
              <p:custDataLst>
                <p:tags r:id="rId10"/>
              </p:custDataLst>
            </p:nvPr>
          </p:nvSpPr>
          <p:spPr>
            <a:xfrm>
              <a:off x="6301740" y="4806950"/>
              <a:ext cx="5441984" cy="1393825"/>
            </a:xfrm>
            <a:prstGeom prst="rect">
              <a:avLst/>
            </a:prstGeom>
          </p:spPr>
          <p:txBody>
            <a:bodyPr lIns="0" tIns="0" rIns="0" bIns="0" anchor="ctr">
              <a:noAutofit/>
            </a:bodyPr>
            <a:lstStyle/>
            <a:p>
              <a:pPr>
                <a:lnSpc>
                  <a:spcPct val="130000"/>
                </a:lnSpc>
                <a:defRPr/>
              </a:pPr>
              <a:r>
                <a:rPr lang="zh-CN" altLang="en-US" sz="1600" dirty="0" smtClean="0">
                  <a:solidFill>
                    <a:srgbClr val="000000"/>
                  </a:solidFill>
                  <a:latin typeface="微软雅黑" panose="020B0503020204020204" charset="-122"/>
                  <a:ea typeface="微软雅黑" panose="020B0503020204020204" charset="-122"/>
                  <a:sym typeface="+mn-ea"/>
                </a:rPr>
                <a:t>       （3）感知定位技术是指特定部位安装传感器，当移动终端进入到传感器的感知区域时，测定出移动终端的位置信息，主要包括无线射频识别定位技术、红外感知定位技术、蓝牙感知定位技术等。</a:t>
              </a:r>
            </a:p>
          </p:txBody>
        </p:sp>
      </p:grpSp>
      <p:grpSp>
        <p:nvGrpSpPr>
          <p:cNvPr id="24" name="组合 23"/>
          <p:cNvGrpSpPr/>
          <p:nvPr/>
        </p:nvGrpSpPr>
        <p:grpSpPr>
          <a:xfrm>
            <a:off x="3643662" y="3278505"/>
            <a:ext cx="6976713" cy="1095652"/>
            <a:chOff x="2997478" y="3364230"/>
            <a:chExt cx="6976713" cy="1095652"/>
          </a:xfrm>
        </p:grpSpPr>
        <p:sp>
          <p:nvSpPr>
            <p:cNvPr id="19" name="MH_Other_9"/>
            <p:cNvSpPr>
              <a:spLocks noChangeArrowheads="1"/>
            </p:cNvSpPr>
            <p:nvPr>
              <p:custDataLst>
                <p:tags r:id="rId1"/>
              </p:custDataLst>
            </p:nvPr>
          </p:nvSpPr>
          <p:spPr bwMode="auto">
            <a:xfrm>
              <a:off x="2997478" y="3535956"/>
              <a:ext cx="673100" cy="504825"/>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20" name="MH_Other_10"/>
            <p:cNvSpPr>
              <a:spLocks noChangeArrowheads="1"/>
            </p:cNvSpPr>
            <p:nvPr>
              <p:custDataLst>
                <p:tags r:id="rId2"/>
              </p:custDataLst>
            </p:nvPr>
          </p:nvSpPr>
          <p:spPr bwMode="auto">
            <a:xfrm>
              <a:off x="3708677" y="3640731"/>
              <a:ext cx="533400" cy="400050"/>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1" name="MH_Other_11"/>
            <p:cNvSpPr>
              <a:spLocks noChangeArrowheads="1"/>
            </p:cNvSpPr>
            <p:nvPr>
              <p:custDataLst>
                <p:tags r:id="rId3"/>
              </p:custDataLst>
            </p:nvPr>
          </p:nvSpPr>
          <p:spPr bwMode="auto">
            <a:xfrm>
              <a:off x="3149878" y="4069357"/>
              <a:ext cx="520700" cy="39052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2" name="MH_Other_12"/>
            <p:cNvSpPr>
              <a:spLocks noChangeArrowheads="1"/>
            </p:cNvSpPr>
            <p:nvPr>
              <p:custDataLst>
                <p:tags r:id="rId4"/>
              </p:custDataLst>
            </p:nvPr>
          </p:nvSpPr>
          <p:spPr bwMode="auto">
            <a:xfrm>
              <a:off x="3708678" y="4069356"/>
              <a:ext cx="673100" cy="333375"/>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SubTitle_2"/>
            <p:cNvSpPr/>
            <p:nvPr>
              <p:custDataLst>
                <p:tags r:id="rId5"/>
              </p:custDataLst>
            </p:nvPr>
          </p:nvSpPr>
          <p:spPr>
            <a:xfrm>
              <a:off x="4629150" y="3364230"/>
              <a:ext cx="5345041" cy="1011555"/>
            </a:xfrm>
            <a:prstGeom prst="rect">
              <a:avLst/>
            </a:prstGeom>
          </p:spPr>
          <p:txBody>
            <a:bodyPr lIns="0" tIns="0" rIns="0" bIns="0" anchor="ctr">
              <a:noAutofit/>
            </a:bodyPr>
            <a:lstStyle/>
            <a:p>
              <a:pPr lvl="0" algn="just" fontAlgn="auto">
                <a:lnSpc>
                  <a:spcPct val="130000"/>
                </a:lnSpc>
                <a:spcBef>
                  <a:spcPct val="0"/>
                </a:spcBef>
              </a:pPr>
              <a:r>
                <a:rPr lang="zh-CN" altLang="en-US" sz="1600" dirty="0" smtClean="0">
                  <a:solidFill>
                    <a:srgbClr val="000000"/>
                  </a:solidFill>
                  <a:latin typeface="微软雅黑" panose="020B0503020204020204" charset="-122"/>
                  <a:ea typeface="微软雅黑" panose="020B0503020204020204" charset="-122"/>
                  <a:sym typeface="+mn-ea"/>
                </a:rPr>
                <a:t>      （2）网络定位技术是指移动终端接入到移动通信网络后，利用网络技术感知终端接入的位置数据，通过计算处理，确定位置信息。</a:t>
              </a:r>
            </a:p>
          </p:txBody>
        </p:sp>
      </p:grpSp>
      <p:grpSp>
        <p:nvGrpSpPr>
          <p:cNvPr id="28" name="组合 27"/>
          <p:cNvGrpSpPr/>
          <p:nvPr/>
        </p:nvGrpSpPr>
        <p:grpSpPr>
          <a:xfrm>
            <a:off x="712470" y="2954020"/>
            <a:ext cx="2316834" cy="1473200"/>
            <a:chOff x="881" y="2735"/>
            <a:chExt cx="3412" cy="2320"/>
          </a:xfrm>
        </p:grpSpPr>
        <p:sp>
          <p:nvSpPr>
            <p:cNvPr id="167" name="圆角矩形"/>
            <p:cNvSpPr/>
            <p:nvPr/>
          </p:nvSpPr>
          <p:spPr>
            <a:xfrm>
              <a:off x="1075" y="3071"/>
              <a:ext cx="3218" cy="1984"/>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30"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a14="http://schemas.microsoft.com/office/drawing/2010/main" xmlns=""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43" name="文本框 42"/>
            <p:cNvSpPr txBox="1"/>
            <p:nvPr/>
          </p:nvSpPr>
          <p:spPr>
            <a:xfrm>
              <a:off x="2001" y="3371"/>
              <a:ext cx="2025" cy="1585"/>
            </a:xfrm>
            <a:prstGeom prst="rect">
              <a:avLst/>
            </a:prstGeom>
            <a:noFill/>
          </p:spPr>
          <p:txBody>
            <a:bodyPr wrap="square" rtlCol="0">
              <a:spAutoFit/>
            </a:bodyPr>
            <a:lstStyle/>
            <a:p>
              <a:pPr marL="0" indent="0" algn="l" fontAlgn="auto">
                <a:lnSpc>
                  <a:spcPct val="110000"/>
                </a:lnSpc>
              </a:pPr>
              <a:r>
                <a:rPr dirty="0" err="1" smtClean="0">
                  <a:solidFill>
                    <a:schemeClr val="tx1"/>
                  </a:solidFill>
                  <a:latin typeface="微软雅黑" panose="020B0503020204020204" charset="-122"/>
                  <a:ea typeface="微软雅黑" panose="020B0503020204020204" charset="-122"/>
                  <a:sym typeface="+mn-ea"/>
                </a:rPr>
                <a:t>移动定位技术主要有</a:t>
              </a:r>
              <a:r>
                <a:rPr lang="zh-CN" dirty="0">
                  <a:solidFill>
                    <a:schemeClr val="tx1"/>
                  </a:solidFill>
                  <a:latin typeface="微软雅黑" panose="020B0503020204020204" charset="-122"/>
                  <a:ea typeface="微软雅黑" panose="020B0503020204020204" charset="-122"/>
                  <a:sym typeface="+mn-ea"/>
                </a:rPr>
                <a:t>以下</a:t>
              </a:r>
              <a:r>
                <a:rPr dirty="0">
                  <a:solidFill>
                    <a:schemeClr val="tx1"/>
                  </a:solidFill>
                  <a:latin typeface="微软雅黑" panose="020B0503020204020204" charset="-122"/>
                  <a:ea typeface="微软雅黑" panose="020B0503020204020204" charset="-122"/>
                  <a:sym typeface="+mn-ea"/>
                </a:rPr>
                <a:t>3种。</a:t>
              </a:r>
            </a:p>
          </p:txBody>
        </p:sp>
      </p:grpSp>
    </p:spTree>
  </p:cSld>
  <p:clrMapOvr>
    <a:masterClrMapping/>
  </p:clrMapOvr>
  <p:transition>
    <p:wheel spokes="3"/>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smtClean="0">
                <a:solidFill>
                  <a:srgbClr val="FF0000"/>
                </a:solidFill>
              </a:rPr>
              <a:t>9.2  </a:t>
            </a:r>
            <a:r>
              <a:rPr lang="zh-CN" altLang="en-US" dirty="0" smtClean="0">
                <a:solidFill>
                  <a:srgbClr val="FF0000"/>
                </a:solidFill>
                <a:sym typeface="+mn-ea"/>
              </a:rPr>
              <a:t>移动互联网应用技术</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9.2.3  网络接入技术</a:t>
            </a:r>
          </a:p>
        </p:txBody>
      </p:sp>
      <p:sp>
        <p:nvSpPr>
          <p:cNvPr id="5" name="MH_Text_1"/>
          <p:cNvSpPr/>
          <p:nvPr>
            <p:custDataLst>
              <p:tags r:id="rId1"/>
            </p:custDataLst>
          </p:nvPr>
        </p:nvSpPr>
        <p:spPr>
          <a:xfrm>
            <a:off x="1398386" y="4567057"/>
            <a:ext cx="9179749" cy="165223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indent="457200">
              <a:lnSpc>
                <a:spcPct val="130000"/>
              </a:lnSpc>
            </a:pPr>
            <a:r>
              <a:rPr dirty="0" smtClean="0">
                <a:solidFill>
                  <a:schemeClr val="tx1"/>
                </a:solidFill>
                <a:latin typeface="+mn-ea"/>
              </a:rPr>
              <a:t>接入网络技术一般是指将两台或多台移动终端接入到互联网的技术统称，主要包括网络接入技术、移动组网技术和网络终端管理技术。</a:t>
            </a:r>
          </a:p>
          <a:p>
            <a:pPr indent="457200">
              <a:lnSpc>
                <a:spcPct val="130000"/>
              </a:lnSpc>
            </a:pPr>
            <a:r>
              <a:rPr dirty="0" smtClean="0">
                <a:solidFill>
                  <a:schemeClr val="tx1"/>
                </a:solidFill>
                <a:latin typeface="+mn-ea"/>
              </a:rPr>
              <a:t>移动互联网的网络接入技术，主要包括移动通信网络、无线局域网、无线Mesh网络、异构无线网络等。</a:t>
            </a:r>
          </a:p>
        </p:txBody>
      </p:sp>
      <p:pic>
        <p:nvPicPr>
          <p:cNvPr id="4" name="图片 3" descr="A000220150318F01PPIC.png"/>
          <p:cNvPicPr>
            <a:picLocks noChangeAspect="1"/>
          </p:cNvPicPr>
          <p:nvPr/>
        </p:nvPicPr>
        <p:blipFill>
          <a:blip r:embed="rId3" cstate="print"/>
          <a:stretch>
            <a:fillRect/>
          </a:stretch>
        </p:blipFill>
        <p:spPr>
          <a:xfrm>
            <a:off x="3135017" y="1969748"/>
            <a:ext cx="5705868" cy="2596901"/>
          </a:xfrm>
          <a:prstGeom prst="rect">
            <a:avLst/>
          </a:prstGeom>
        </p:spPr>
      </p:pic>
    </p:spTree>
  </p:cSld>
  <p:clrMapOvr>
    <a:masterClrMapping/>
  </p:clrMapOvr>
  <p:transition>
    <p:wheel spokes="3"/>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smtClean="0">
                <a:solidFill>
                  <a:srgbClr val="FF0000"/>
                </a:solidFill>
              </a:rPr>
              <a:t>9.2  </a:t>
            </a:r>
            <a:r>
              <a:rPr lang="zh-CN" altLang="en-US" dirty="0" smtClean="0">
                <a:solidFill>
                  <a:srgbClr val="FF0000"/>
                </a:solidFill>
                <a:sym typeface="+mn-ea"/>
              </a:rPr>
              <a:t>移动互联网应用技术</a:t>
            </a:r>
            <a:r>
              <a:rPr lang="zh-CN" dirty="0">
                <a:solidFill>
                  <a:srgbClr val="FF0000"/>
                </a:solidFill>
              </a:rPr>
              <a:t/>
            </a:r>
            <a:br>
              <a:rPr lang="zh-CN" dirty="0">
                <a:solidFill>
                  <a:srgbClr val="FF0000"/>
                </a:solidFill>
              </a:rPr>
            </a:b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9.2.3  </a:t>
            </a:r>
            <a:r>
              <a:rPr lang="zh-CN" altLang="en-US" sz="2400" dirty="0" smtClean="0">
                <a:solidFill>
                  <a:schemeClr val="tx1"/>
                </a:solidFill>
              </a:rPr>
              <a:t>网络接入技术</a:t>
            </a:r>
          </a:p>
        </p:txBody>
      </p:sp>
      <p:sp>
        <p:nvSpPr>
          <p:cNvPr id="6" name="MH_Other_1"/>
          <p:cNvSpPr/>
          <p:nvPr>
            <p:custDataLst>
              <p:tags r:id="rId1"/>
            </p:custDataLst>
          </p:nvPr>
        </p:nvSpPr>
        <p:spPr bwMode="auto">
          <a:xfrm>
            <a:off x="814705" y="1939290"/>
            <a:ext cx="9842500" cy="4249420"/>
          </a:xfrm>
          <a:custGeom>
            <a:avLst/>
            <a:gdLst>
              <a:gd name="T0" fmla="*/ 6952593 w 6952593"/>
              <a:gd name="T1" fmla="*/ 3704897 h 4729656"/>
              <a:gd name="T2" fmla="*/ 6952593 w 6952593"/>
              <a:gd name="T3" fmla="*/ 4729656 h 4729656"/>
              <a:gd name="T4" fmla="*/ 0 w 6952593"/>
              <a:gd name="T5" fmla="*/ 4729656 h 4729656"/>
              <a:gd name="T6" fmla="*/ 0 w 6952593"/>
              <a:gd name="T7" fmla="*/ 0 h 4729656"/>
            </a:gdLst>
            <a:ahLst/>
            <a:cxnLst>
              <a:cxn ang="0">
                <a:pos x="T0" y="T1"/>
              </a:cxn>
              <a:cxn ang="0">
                <a:pos x="T2" y="T3"/>
              </a:cxn>
              <a:cxn ang="0">
                <a:pos x="T4" y="T5"/>
              </a:cxn>
              <a:cxn ang="0">
                <a:pos x="T6" y="T7"/>
              </a:cxn>
            </a:cxnLst>
            <a:rect l="0" t="0" r="r" b="b"/>
            <a:pathLst>
              <a:path w="6952593" h="4729656">
                <a:moveTo>
                  <a:pt x="6952593" y="3704897"/>
                </a:moveTo>
                <a:lnTo>
                  <a:pt x="6952593" y="4729656"/>
                </a:lnTo>
                <a:lnTo>
                  <a:pt x="0" y="4729656"/>
                </a:lnTo>
                <a:lnTo>
                  <a:pt x="0" y="0"/>
                </a:lnTo>
              </a:path>
            </a:pathLst>
          </a:custGeom>
          <a:noFill/>
          <a:ln w="12700" cap="flat" cmpd="sng">
            <a:solidFill>
              <a:srgbClr val="35D2FD"/>
            </a:solidFill>
            <a:round/>
          </a:ln>
          <a:extLst>
            <a:ext uri="{909E8E84-426E-40DD-AFC4-6F175D3DCCD1}">
              <a14:hiddenFill xmlns:a14="http://schemas.microsoft.com/office/drawing/2010/main" xmlns="">
                <a:solidFill>
                  <a:srgbClr val="FFFFFF"/>
                </a:solidFill>
              </a14:hiddenFill>
            </a:ext>
          </a:extLst>
        </p:spPr>
        <p:txBody>
          <a:bodyPr anchor="ctr"/>
          <a:lstStyle/>
          <a:p>
            <a:endParaRPr lang="zh-CN" altLang="en-US">
              <a:solidFill>
                <a:srgbClr val="5CABB5"/>
              </a:solidFill>
            </a:endParaRPr>
          </a:p>
        </p:txBody>
      </p:sp>
      <p:sp>
        <p:nvSpPr>
          <p:cNvPr id="2" name="文本框 1"/>
          <p:cNvSpPr txBox="1"/>
          <p:nvPr/>
        </p:nvSpPr>
        <p:spPr>
          <a:xfrm>
            <a:off x="1064260" y="1969770"/>
            <a:ext cx="5674995" cy="2613023"/>
          </a:xfrm>
          <a:prstGeom prst="rect">
            <a:avLst/>
          </a:prstGeom>
          <a:noFill/>
        </p:spPr>
        <p:txBody>
          <a:bodyPr wrap="square" rtlCol="0" anchor="t">
            <a:spAutoFit/>
          </a:bodyPr>
          <a:lstStyle/>
          <a:p>
            <a:pPr fontAlgn="auto">
              <a:lnSpc>
                <a:spcPct val="130000"/>
              </a:lnSpc>
            </a:pPr>
            <a:r>
              <a:rPr lang="en-US" altLang="zh-CN" dirty="0">
                <a:latin typeface="微软雅黑" panose="020B0503020204020204" charset="-122"/>
                <a:ea typeface="微软雅黑" panose="020B0503020204020204" charset="-122"/>
              </a:rPr>
              <a:t>       </a:t>
            </a:r>
            <a:r>
              <a:rPr lang="zh-CN" altLang="en-US" b="1" dirty="0">
                <a:solidFill>
                  <a:srgbClr val="FF0000"/>
                </a:solidFill>
                <a:latin typeface="微软雅黑" panose="020B0503020204020204" charset="-122"/>
                <a:ea typeface="微软雅黑" panose="020B0503020204020204" charset="-122"/>
              </a:rPr>
              <a:t>移动通信网络</a:t>
            </a:r>
            <a:r>
              <a:rPr lang="zh-CN" altLang="en-US" dirty="0">
                <a:latin typeface="微软雅黑" panose="020B0503020204020204" charset="-122"/>
                <a:ea typeface="微软雅黑" panose="020B0503020204020204" charset="-122"/>
              </a:rPr>
              <a:t>是目前多数用户使用的一种上网方式，通常采用3G，4G方式。3G提供的业务包括语音、传真、数据、多媒体娱乐和全球无缝漫游等，4G支持交互多媒体业务、高质量影像、3D动画和宽带互联网接入，是宽带大容量的高速蜂窝系统。4G可以以20 Mbps的速度上传，以100 Mbps的速度下载。</a:t>
            </a:r>
          </a:p>
          <a:p>
            <a:pPr fontAlgn="auto">
              <a:lnSpc>
                <a:spcPct val="130000"/>
              </a:lnSpc>
            </a:pPr>
            <a:r>
              <a:rPr lang="zh-CN" altLang="en-US" dirty="0">
                <a:latin typeface="微软雅黑" panose="020B0503020204020204" charset="-122"/>
                <a:ea typeface="微软雅黑" panose="020B0503020204020204" charset="-122"/>
              </a:rPr>
              <a:t>      </a:t>
            </a:r>
          </a:p>
        </p:txBody>
      </p:sp>
      <p:sp>
        <p:nvSpPr>
          <p:cNvPr id="7" name="文本框 6"/>
          <p:cNvSpPr txBox="1"/>
          <p:nvPr/>
        </p:nvSpPr>
        <p:spPr>
          <a:xfrm>
            <a:off x="1064260" y="4231640"/>
            <a:ext cx="7209155" cy="1872615"/>
          </a:xfrm>
          <a:prstGeom prst="rect">
            <a:avLst/>
          </a:prstGeom>
          <a:noFill/>
        </p:spPr>
        <p:txBody>
          <a:bodyPr wrap="square" rtlCol="0" anchor="t">
            <a:spAutoFit/>
          </a:bodyPr>
          <a:lstStyle/>
          <a:p>
            <a:pPr fontAlgn="auto">
              <a:lnSpc>
                <a:spcPct val="130000"/>
              </a:lnSpc>
            </a:pPr>
            <a:r>
              <a:rPr lang="en-US" altLang="zh-CN">
                <a:latin typeface="微软雅黑" panose="020B0503020204020204" charset="-122"/>
                <a:ea typeface="微软雅黑" panose="020B0503020204020204" charset="-122"/>
                <a:sym typeface="+mn-ea"/>
              </a:rPr>
              <a:t>       </a:t>
            </a:r>
            <a:r>
              <a:rPr lang="zh-CN" altLang="en-US">
                <a:latin typeface="微软雅黑" panose="020B0503020204020204" charset="-122"/>
                <a:ea typeface="微软雅黑" panose="020B0503020204020204" charset="-122"/>
                <a:sym typeface="+mn-ea"/>
              </a:rPr>
              <a:t>移动通信网络采用多址技术如时分多址（TDMA）技术、码分多址（CDMA）技术，话音低码率编码（LRE），数字窄带调制技术如高斯最小频移键控（GMSK）、平滑调频（TFM），以及信道编码和分集接收技术等，使通信质量稳定可靠、保密性能好、抗干扰性强、可显著提高频谱利用率。</a:t>
            </a:r>
            <a:endParaRPr lang="zh-CN" altLang="en-US"/>
          </a:p>
        </p:txBody>
      </p:sp>
      <p:pic>
        <p:nvPicPr>
          <p:cNvPr id="35" name="图片 34" descr="80d93b33cbe3e4ef2a8e61782fae04058ee1c911.jpg"/>
          <p:cNvPicPr>
            <a:picLocks noChangeAspect="1"/>
          </p:cNvPicPr>
          <p:nvPr/>
        </p:nvPicPr>
        <p:blipFill>
          <a:blip r:embed="rId3" cstate="print"/>
          <a:stretch>
            <a:fillRect/>
          </a:stretch>
        </p:blipFill>
        <p:spPr>
          <a:xfrm rot="19680000">
            <a:off x="7971601" y="1516901"/>
            <a:ext cx="3545825" cy="2968174"/>
          </a:xfrm>
          <a:prstGeom prst="rect">
            <a:avLst/>
          </a:prstGeom>
        </p:spPr>
      </p:pic>
    </p:spTree>
  </p:cSld>
  <p:clrMapOvr>
    <a:masterClrMapping/>
  </p:clrMapOvr>
  <p:transition>
    <p:wheel spokes="3"/>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u=1496033706,413101493&amp;fm=23&amp;gp=0"/>
          <p:cNvPicPr>
            <a:picLocks noChangeAspect="1"/>
          </p:cNvPicPr>
          <p:nvPr/>
        </p:nvPicPr>
        <p:blipFill>
          <a:blip r:embed="rId2" cstate="print">
            <a:clrChange>
              <a:clrFrom>
                <a:srgbClr val="FFFFFF"/>
              </a:clrFrom>
              <a:clrTo>
                <a:srgbClr val="FFFFFF">
                  <a:alpha val="0"/>
                </a:srgbClr>
              </a:clrTo>
            </a:clrChange>
          </a:blip>
          <a:srcRect l="9805" r="18623" b="11254"/>
          <a:stretch>
            <a:fillRect/>
          </a:stretch>
        </p:blipFill>
        <p:spPr>
          <a:xfrm>
            <a:off x="7781925" y="1409700"/>
            <a:ext cx="3295650" cy="2724150"/>
          </a:xfrm>
          <a:prstGeom prst="rect">
            <a:avLst/>
          </a:prstGeom>
        </p:spPr>
      </p:pic>
      <p:sp>
        <p:nvSpPr>
          <p:cNvPr id="3" name="标题 2"/>
          <p:cNvSpPr>
            <a:spLocks noGrp="1"/>
          </p:cNvSpPr>
          <p:nvPr>
            <p:ph type="title"/>
          </p:nvPr>
        </p:nvSpPr>
        <p:spPr/>
        <p:txBody>
          <a:bodyPr/>
          <a:lstStyle/>
          <a:p>
            <a:r>
              <a:rPr lang="en-US" dirty="0" smtClean="0">
                <a:solidFill>
                  <a:srgbClr val="FF0000"/>
                </a:solidFill>
              </a:rPr>
              <a:t>9.2  </a:t>
            </a:r>
            <a:r>
              <a:rPr lang="zh-CN" altLang="en-US" dirty="0" smtClean="0">
                <a:solidFill>
                  <a:srgbClr val="FF0000"/>
                </a:solidFill>
                <a:sym typeface="+mn-ea"/>
              </a:rPr>
              <a:t>移动互联网应用技术</a:t>
            </a:r>
            <a:r>
              <a:rPr lang="zh-CN" dirty="0">
                <a:solidFill>
                  <a:srgbClr val="FF0000"/>
                </a:solidFill>
              </a:rPr>
              <a:t/>
            </a:r>
            <a:br>
              <a:rPr lang="zh-CN" dirty="0">
                <a:solidFill>
                  <a:srgbClr val="FF0000"/>
                </a:solidFill>
              </a:rPr>
            </a:b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9.2.3  </a:t>
            </a:r>
            <a:r>
              <a:rPr lang="zh-CN" altLang="en-US" sz="2400" dirty="0" smtClean="0">
                <a:solidFill>
                  <a:schemeClr val="tx1"/>
                </a:solidFill>
              </a:rPr>
              <a:t>网络接入技术</a:t>
            </a:r>
          </a:p>
        </p:txBody>
      </p:sp>
      <p:sp>
        <p:nvSpPr>
          <p:cNvPr id="17" name="矩形 16"/>
          <p:cNvSpPr/>
          <p:nvPr/>
        </p:nvSpPr>
        <p:spPr>
          <a:xfrm>
            <a:off x="1129795" y="2226782"/>
            <a:ext cx="6356855" cy="1754326"/>
          </a:xfrm>
          <a:prstGeom prst="rect">
            <a:avLst/>
          </a:prstGeom>
          <a:ln>
            <a:noFill/>
          </a:ln>
        </p:spPr>
        <p:txBody>
          <a:bodyPr wrap="square">
            <a:spAutoFit/>
          </a:bodyPr>
          <a:lstStyle/>
          <a:p>
            <a:pPr indent="457200">
              <a:lnSpc>
                <a:spcPct val="120000"/>
              </a:lnSpc>
            </a:pPr>
            <a:r>
              <a:rPr lang="zh-CN" altLang="en-US" b="1" dirty="0" smtClean="0">
                <a:solidFill>
                  <a:srgbClr val="FF0000"/>
                </a:solidFill>
                <a:latin typeface="+mn-ea"/>
              </a:rPr>
              <a:t>无线局域网</a:t>
            </a:r>
            <a:r>
              <a:rPr lang="zh-CN" altLang="en-US" dirty="0" smtClean="0">
                <a:latin typeface="+mn-ea"/>
              </a:rPr>
              <a:t>（Wireless Local Area Networks，WLAN），是相当便利的数据传输系统，它利用射频（Radio Frequency，RF）的技术，使用电磁波取代双绞线所构成的局域网络，在空中进行通信连接，使得无线局域网络能利用简单的存取架构让用户透过它，达到“信息随身化、便利走天下”的理想境界。</a:t>
            </a:r>
          </a:p>
        </p:txBody>
      </p:sp>
      <p:sp>
        <p:nvSpPr>
          <p:cNvPr id="6" name="矩形 5"/>
          <p:cNvSpPr/>
          <p:nvPr/>
        </p:nvSpPr>
        <p:spPr>
          <a:xfrm>
            <a:off x="996444" y="4274657"/>
            <a:ext cx="10281155" cy="1710148"/>
          </a:xfrm>
          <a:prstGeom prst="rect">
            <a:avLst/>
          </a:prstGeom>
          <a:ln>
            <a:noFill/>
          </a:ln>
        </p:spPr>
        <p:txBody>
          <a:bodyPr wrap="square">
            <a:spAutoFit/>
          </a:bodyPr>
          <a:lstStyle/>
          <a:p>
            <a:pPr indent="457200">
              <a:lnSpc>
                <a:spcPct val="120000"/>
              </a:lnSpc>
            </a:pPr>
            <a:r>
              <a:rPr lang="zh-CN" altLang="en-US" dirty="0" smtClean="0">
                <a:latin typeface="+mn-ea"/>
              </a:rPr>
              <a:t>家庭中使用的硬件设备比较简单，由无线网卡、无线AP、无线天线组成。无线网卡作为无线局域网的接口，能够实现无线局域网各客户机间的连接与通信。无线AP（Access Point）就是无线局域网的接入点、无线网关，它的作用类似于有线网络中的集线器。当无线网络中各网络设备相距较远时，随着信号的减弱，传输速率会明显下降以致无法实现无线网络的正常通信，无线天线可以对所接收或发送的信号进行增强。</a:t>
            </a:r>
          </a:p>
        </p:txBody>
      </p:sp>
    </p:spTree>
  </p:cSld>
  <p:clrMapOvr>
    <a:masterClrMapping/>
  </p:clrMapOvr>
  <p:transition>
    <p:wheel spokes="3"/>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smtClean="0">
                <a:solidFill>
                  <a:srgbClr val="FF0000"/>
                </a:solidFill>
              </a:rPr>
              <a:t>9.2  </a:t>
            </a:r>
            <a:r>
              <a:rPr lang="zh-CN" altLang="en-US" dirty="0" smtClean="0">
                <a:solidFill>
                  <a:srgbClr val="FF0000"/>
                </a:solidFill>
                <a:sym typeface="+mn-ea"/>
              </a:rPr>
              <a:t>移动互联网应用技术</a:t>
            </a:r>
            <a:r>
              <a:rPr lang="zh-CN" dirty="0">
                <a:solidFill>
                  <a:srgbClr val="FF0000"/>
                </a:solidFill>
              </a:rPr>
              <a:t/>
            </a:r>
            <a:br>
              <a:rPr lang="zh-CN" dirty="0">
                <a:solidFill>
                  <a:srgbClr val="FF0000"/>
                </a:solidFill>
              </a:rPr>
            </a:b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9.2.3  </a:t>
            </a:r>
            <a:r>
              <a:rPr lang="zh-CN" altLang="en-US" sz="2400" dirty="0" smtClean="0">
                <a:solidFill>
                  <a:schemeClr val="tx1"/>
                </a:solidFill>
              </a:rPr>
              <a:t>网络接入技术</a:t>
            </a:r>
          </a:p>
        </p:txBody>
      </p:sp>
      <p:pic>
        <p:nvPicPr>
          <p:cNvPr id="4" name="图片 3" descr="timg"/>
          <p:cNvPicPr>
            <a:picLocks noChangeAspect="1"/>
          </p:cNvPicPr>
          <p:nvPr/>
        </p:nvPicPr>
        <p:blipFill>
          <a:blip r:embed="rId2" cstate="print"/>
          <a:stretch>
            <a:fillRect/>
          </a:stretch>
        </p:blipFill>
        <p:spPr>
          <a:xfrm>
            <a:off x="6579870" y="1637030"/>
            <a:ext cx="5278755" cy="3928745"/>
          </a:xfrm>
          <a:prstGeom prst="rect">
            <a:avLst/>
          </a:prstGeom>
        </p:spPr>
      </p:pic>
      <p:grpSp>
        <p:nvGrpSpPr>
          <p:cNvPr id="14" name="组合 13"/>
          <p:cNvGrpSpPr/>
          <p:nvPr/>
        </p:nvGrpSpPr>
        <p:grpSpPr>
          <a:xfrm>
            <a:off x="753745" y="2200275"/>
            <a:ext cx="5826125" cy="3901440"/>
            <a:chOff x="9733" y="2818"/>
            <a:chExt cx="8760" cy="7384"/>
          </a:xfrm>
        </p:grpSpPr>
        <p:sp>
          <p:nvSpPr>
            <p:cNvPr id="5" name="MH_Desc_1"/>
            <p:cNvSpPr txBox="1">
              <a:spLocks noChangeArrowheads="1"/>
            </p:cNvSpPr>
            <p:nvPr/>
          </p:nvSpPr>
          <p:spPr bwMode="auto">
            <a:xfrm>
              <a:off x="10378" y="3304"/>
              <a:ext cx="7473" cy="66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108000" r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l" fontAlgn="auto">
                <a:lnSpc>
                  <a:spcPct val="120000"/>
                </a:lnSpc>
                <a:spcBef>
                  <a:spcPts val="600"/>
                </a:spcBef>
                <a:spcAft>
                  <a:spcPts val="600"/>
                </a:spcAft>
                <a:defRPr/>
              </a:pPr>
              <a:r>
                <a:rPr lang="en-US" altLang="zh-CN" b="1" dirty="0" err="1">
                  <a:solidFill>
                    <a:srgbClr val="FF0000"/>
                  </a:solidFill>
                  <a:latin typeface="微软雅黑" panose="020B0503020204020204" charset="-122"/>
                  <a:ea typeface="微软雅黑" panose="020B0503020204020204" charset="-122"/>
                </a:rPr>
                <a:t>无线Mesh网络</a:t>
              </a:r>
              <a:r>
                <a:rPr lang="en-US" altLang="zh-CN" dirty="0" err="1">
                  <a:latin typeface="微软雅黑" panose="020B0503020204020204" charset="-122"/>
                  <a:ea typeface="微软雅黑" panose="020B0503020204020204" charset="-122"/>
                </a:rPr>
                <a:t>由路由器（Mesh</a:t>
              </a:r>
              <a:r>
                <a:rPr lang="en-US" altLang="zh-CN" dirty="0">
                  <a:latin typeface="微软雅黑" panose="020B0503020204020204" charset="-122"/>
                  <a:ea typeface="微软雅黑" panose="020B0503020204020204" charset="-122"/>
                </a:rPr>
                <a:t> </a:t>
              </a:r>
              <a:r>
                <a:rPr lang="en-US" altLang="zh-CN" dirty="0" err="1">
                  <a:latin typeface="微软雅黑" panose="020B0503020204020204" charset="-122"/>
                  <a:ea typeface="微软雅黑" panose="020B0503020204020204" charset="-122"/>
                </a:rPr>
                <a:t>Routers）和客户端（Mesh</a:t>
              </a:r>
              <a:r>
                <a:rPr lang="en-US" altLang="zh-CN" dirty="0">
                  <a:latin typeface="微软雅黑" panose="020B0503020204020204" charset="-122"/>
                  <a:ea typeface="微软雅黑" panose="020B0503020204020204" charset="-122"/>
                </a:rPr>
                <a:t> </a:t>
              </a:r>
              <a:r>
                <a:rPr lang="en-US" altLang="zh-CN" dirty="0" err="1">
                  <a:latin typeface="微软雅黑" panose="020B0503020204020204" charset="-122"/>
                  <a:ea typeface="微软雅黑" panose="020B0503020204020204" charset="-122"/>
                </a:rPr>
                <a:t>Clients）组成，其中路由器构成骨干网络，并和有线的Internet相连接，负责为客户端提供多跳的无线Internet连接</a:t>
              </a:r>
              <a:r>
                <a:rPr lang="en-US" altLang="zh-CN" dirty="0">
                  <a:latin typeface="微软雅黑" panose="020B0503020204020204" charset="-122"/>
                  <a:ea typeface="微软雅黑" panose="020B0503020204020204" charset="-122"/>
                </a:rPr>
                <a:t>。</a:t>
              </a:r>
              <a:r>
                <a:rPr lang="en-US" altLang="zh-CN" dirty="0" err="1">
                  <a:latin typeface="微软雅黑" panose="020B0503020204020204" charset="-122"/>
                  <a:ea typeface="微软雅黑" panose="020B0503020204020204" charset="-122"/>
                </a:rPr>
                <a:t>无线Mesh网络（无线网状网络）也称为多跳网络，它是一种与传统无线网络完全不同的新型无线网络技术</a:t>
              </a:r>
              <a:r>
                <a:rPr lang="en-US" altLang="zh-CN" dirty="0">
                  <a:latin typeface="微软雅黑" panose="020B0503020204020204" charset="-122"/>
                  <a:ea typeface="微软雅黑" panose="020B0503020204020204" charset="-122"/>
                </a:rPr>
                <a:t>。</a:t>
              </a:r>
            </a:p>
          </p:txBody>
        </p:sp>
        <p:cxnSp>
          <p:nvCxnSpPr>
            <p:cNvPr id="6" name="MH_Other_13"/>
            <p:cNvCxnSpPr>
              <a:cxnSpLocks noChangeShapeType="1"/>
            </p:cNvCxnSpPr>
            <p:nvPr/>
          </p:nvCxnSpPr>
          <p:spPr bwMode="auto">
            <a:xfrm flipV="1">
              <a:off x="9733" y="3277"/>
              <a:ext cx="7696" cy="27"/>
            </a:xfrm>
            <a:prstGeom prst="line">
              <a:avLst/>
            </a:prstGeom>
            <a:noFill/>
            <a:ln w="12700" algn="ctr">
              <a:solidFill>
                <a:srgbClr val="1CADE4"/>
              </a:solidFill>
              <a:prstDash val="sysDash"/>
              <a:miter lim="800000"/>
            </a:ln>
          </p:spPr>
        </p:cxnSp>
        <p:cxnSp>
          <p:nvCxnSpPr>
            <p:cNvPr id="7" name="MH_Other_14"/>
            <p:cNvCxnSpPr>
              <a:cxnSpLocks noChangeShapeType="1"/>
            </p:cNvCxnSpPr>
            <p:nvPr/>
          </p:nvCxnSpPr>
          <p:spPr bwMode="auto">
            <a:xfrm>
              <a:off x="10393" y="2818"/>
              <a:ext cx="0" cy="1634"/>
            </a:xfrm>
            <a:prstGeom prst="line">
              <a:avLst/>
            </a:prstGeom>
            <a:noFill/>
            <a:ln w="12700" algn="ctr">
              <a:solidFill>
                <a:srgbClr val="1CADE4"/>
              </a:solidFill>
              <a:prstDash val="sysDash"/>
              <a:miter lim="800000"/>
            </a:ln>
          </p:spPr>
        </p:cxnSp>
        <p:cxnSp>
          <p:nvCxnSpPr>
            <p:cNvPr id="8" name="MH_Other_15"/>
            <p:cNvCxnSpPr>
              <a:cxnSpLocks noChangeShapeType="1"/>
            </p:cNvCxnSpPr>
            <p:nvPr/>
          </p:nvCxnSpPr>
          <p:spPr bwMode="auto">
            <a:xfrm>
              <a:off x="9746" y="2818"/>
              <a:ext cx="0" cy="486"/>
            </a:xfrm>
            <a:prstGeom prst="line">
              <a:avLst/>
            </a:prstGeom>
            <a:noFill/>
            <a:ln w="12700" algn="ctr">
              <a:solidFill>
                <a:srgbClr val="1CADE4"/>
              </a:solidFill>
              <a:miter lim="800000"/>
            </a:ln>
          </p:spPr>
        </p:cxnSp>
        <p:cxnSp>
          <p:nvCxnSpPr>
            <p:cNvPr id="9" name="MH_Other_16"/>
            <p:cNvCxnSpPr>
              <a:cxnSpLocks noChangeShapeType="1"/>
            </p:cNvCxnSpPr>
            <p:nvPr/>
          </p:nvCxnSpPr>
          <p:spPr bwMode="auto">
            <a:xfrm>
              <a:off x="9733" y="2818"/>
              <a:ext cx="660" cy="0"/>
            </a:xfrm>
            <a:prstGeom prst="line">
              <a:avLst/>
            </a:prstGeom>
            <a:noFill/>
            <a:ln w="12700" algn="ctr">
              <a:solidFill>
                <a:srgbClr val="1CADE4"/>
              </a:solidFill>
              <a:miter lim="800000"/>
            </a:ln>
          </p:spPr>
        </p:cxnSp>
        <p:cxnSp>
          <p:nvCxnSpPr>
            <p:cNvPr id="10" name="MH_Other_17"/>
            <p:cNvCxnSpPr>
              <a:cxnSpLocks noChangeShapeType="1"/>
            </p:cNvCxnSpPr>
            <p:nvPr/>
          </p:nvCxnSpPr>
          <p:spPr bwMode="auto">
            <a:xfrm rot="10800000">
              <a:off x="10626" y="9708"/>
              <a:ext cx="7866" cy="11"/>
            </a:xfrm>
            <a:prstGeom prst="line">
              <a:avLst/>
            </a:prstGeom>
            <a:noFill/>
            <a:ln w="12700" algn="ctr">
              <a:solidFill>
                <a:srgbClr val="1CADE4"/>
              </a:solidFill>
              <a:prstDash val="sysDash"/>
              <a:miter lim="800000"/>
            </a:ln>
          </p:spPr>
        </p:cxnSp>
        <p:cxnSp>
          <p:nvCxnSpPr>
            <p:cNvPr id="11" name="MH_Other_18"/>
            <p:cNvCxnSpPr>
              <a:cxnSpLocks noChangeShapeType="1"/>
            </p:cNvCxnSpPr>
            <p:nvPr/>
          </p:nvCxnSpPr>
          <p:spPr bwMode="auto">
            <a:xfrm flipH="1" flipV="1">
              <a:off x="17833" y="8568"/>
              <a:ext cx="0" cy="1633"/>
            </a:xfrm>
            <a:prstGeom prst="line">
              <a:avLst/>
            </a:prstGeom>
            <a:noFill/>
            <a:ln w="12700" algn="ctr">
              <a:solidFill>
                <a:srgbClr val="1CADE4"/>
              </a:solidFill>
              <a:prstDash val="sysDash"/>
              <a:miter lim="800000"/>
            </a:ln>
          </p:spPr>
        </p:cxnSp>
        <p:cxnSp>
          <p:nvCxnSpPr>
            <p:cNvPr id="12" name="MH_Other_19"/>
            <p:cNvCxnSpPr>
              <a:cxnSpLocks noChangeShapeType="1"/>
            </p:cNvCxnSpPr>
            <p:nvPr/>
          </p:nvCxnSpPr>
          <p:spPr bwMode="auto">
            <a:xfrm flipH="1" flipV="1">
              <a:off x="18480" y="9718"/>
              <a:ext cx="0" cy="483"/>
            </a:xfrm>
            <a:prstGeom prst="line">
              <a:avLst/>
            </a:prstGeom>
            <a:noFill/>
            <a:ln w="12700" algn="ctr">
              <a:solidFill>
                <a:srgbClr val="1CADE4"/>
              </a:solidFill>
              <a:miter lim="800000"/>
            </a:ln>
          </p:spPr>
        </p:cxnSp>
        <p:cxnSp>
          <p:nvCxnSpPr>
            <p:cNvPr id="13" name="MH_Other_20"/>
            <p:cNvCxnSpPr>
              <a:cxnSpLocks noChangeShapeType="1"/>
            </p:cNvCxnSpPr>
            <p:nvPr/>
          </p:nvCxnSpPr>
          <p:spPr bwMode="auto">
            <a:xfrm flipH="1" flipV="1">
              <a:off x="17833" y="10202"/>
              <a:ext cx="660" cy="0"/>
            </a:xfrm>
            <a:prstGeom prst="line">
              <a:avLst/>
            </a:prstGeom>
            <a:noFill/>
            <a:ln w="12700" algn="ctr">
              <a:solidFill>
                <a:srgbClr val="1CADE4"/>
              </a:solidFill>
              <a:miter lim="800000"/>
            </a:ln>
          </p:spPr>
        </p:cxnSp>
      </p:grpSp>
    </p:spTree>
  </p:cSld>
  <p:clrMapOvr>
    <a:masterClrMapping/>
  </p:clrMapOvr>
  <p:transition>
    <p:wheel spokes="3"/>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smtClean="0">
                <a:solidFill>
                  <a:srgbClr val="FF0000"/>
                </a:solidFill>
              </a:rPr>
              <a:t>9.2  </a:t>
            </a:r>
            <a:r>
              <a:rPr lang="zh-CN" altLang="en-US" dirty="0" smtClean="0">
                <a:solidFill>
                  <a:srgbClr val="FF0000"/>
                </a:solidFill>
                <a:sym typeface="+mn-ea"/>
              </a:rPr>
              <a:t>移动互联网应用技术</a:t>
            </a:r>
            <a:r>
              <a:rPr lang="zh-CN" dirty="0">
                <a:solidFill>
                  <a:srgbClr val="FF0000"/>
                </a:solidFill>
              </a:rPr>
              <a:t/>
            </a:r>
            <a:br>
              <a:rPr lang="zh-CN" dirty="0">
                <a:solidFill>
                  <a:srgbClr val="FF0000"/>
                </a:solidFill>
              </a:rPr>
            </a:b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9.2.3  </a:t>
            </a:r>
            <a:r>
              <a:rPr lang="zh-CN" altLang="en-US" sz="2400" dirty="0" smtClean="0">
                <a:solidFill>
                  <a:schemeClr val="tx1"/>
                </a:solidFill>
              </a:rPr>
              <a:t>网络接入技术</a:t>
            </a:r>
          </a:p>
        </p:txBody>
      </p:sp>
      <p:sp>
        <p:nvSpPr>
          <p:cNvPr id="2" name="MH_Text_1"/>
          <p:cNvSpPr/>
          <p:nvPr>
            <p:custDataLst>
              <p:tags r:id="rId1"/>
            </p:custDataLst>
          </p:nvPr>
        </p:nvSpPr>
        <p:spPr bwMode="auto">
          <a:xfrm>
            <a:off x="2500621" y="2164080"/>
            <a:ext cx="8335434" cy="1500022"/>
          </a:xfrm>
          <a:custGeom>
            <a:avLst/>
            <a:gdLst>
              <a:gd name="T0" fmla="*/ 0 w 3882059"/>
              <a:gd name="T1" fmla="*/ 0 h 805263"/>
              <a:gd name="T2" fmla="*/ 18915162 w 3882059"/>
              <a:gd name="T3" fmla="*/ 0 h 805263"/>
              <a:gd name="T4" fmla="*/ 18915162 w 3882059"/>
              <a:gd name="T5" fmla="*/ 12673249 h 805263"/>
              <a:gd name="T6" fmla="*/ 0 w 3882059"/>
              <a:gd name="T7" fmla="*/ 12673249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108000" tIns="46800" rIns="108000" bIns="46800" anchor="ctr"/>
          <a:lstStyle/>
          <a:p>
            <a:pPr indent="457200">
              <a:lnSpc>
                <a:spcPct val="120000"/>
              </a:lnSpc>
            </a:pPr>
            <a:r>
              <a:rPr smtClean="0">
                <a:latin typeface="+mn-ea"/>
              </a:rPr>
              <a:t>在传统的无线局域网（WLAN）中，每个客户端均通过一条与AP相连的无线链路来访问网络，形成一个局部的基本服务集（Basic Service Set，BSS）。用户如果要进行相互通信的话，必须首先访问一个固定的接入点（AP），这种网络结构被称为单跳网络。</a:t>
            </a:r>
          </a:p>
        </p:txBody>
      </p:sp>
      <p:sp>
        <p:nvSpPr>
          <p:cNvPr id="5" name="MH_Text_2"/>
          <p:cNvSpPr/>
          <p:nvPr>
            <p:custDataLst>
              <p:tags r:id="rId2"/>
            </p:custDataLst>
          </p:nvPr>
        </p:nvSpPr>
        <p:spPr bwMode="auto">
          <a:xfrm>
            <a:off x="2495550" y="3759705"/>
            <a:ext cx="8338973" cy="2317530"/>
          </a:xfrm>
          <a:custGeom>
            <a:avLst/>
            <a:gdLst>
              <a:gd name="T0" fmla="*/ 0 w 3882059"/>
              <a:gd name="T1" fmla="*/ 0 h 805263"/>
              <a:gd name="T2" fmla="*/ 18915162 w 3882059"/>
              <a:gd name="T3" fmla="*/ 0 h 805263"/>
              <a:gd name="T4" fmla="*/ 18915162 w 3882059"/>
              <a:gd name="T5" fmla="*/ 12673192 h 805263"/>
              <a:gd name="T6" fmla="*/ 0 w 3882059"/>
              <a:gd name="T7" fmla="*/ 12673192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360000" tIns="180000" rIns="180000" bIns="180000" anchor="ctr"/>
          <a:lstStyle/>
          <a:p>
            <a:pPr indent="457200">
              <a:lnSpc>
                <a:spcPct val="120000"/>
              </a:lnSpc>
            </a:pPr>
            <a:r>
              <a:rPr smtClean="0">
                <a:latin typeface="+mn-ea"/>
              </a:rPr>
              <a:t>而在无线Mesh网络中，任何无线设备节点都可以同时作为AP和路由器，网络中的每个节点都可以发送和接收信号，每个节点都可以与一个或多个对等节点进行直接通信。这种结构的最大好处在于：如果最近的AP由于流量过大而导致拥塞的话，那么数据可以自动重新路由到一个通信流量较小的邻近节点进行传输。依此类推，数据包还可以根据网络的情况，继续路由到与之最近的下一个节点进行传输，直至到达最终目的地为止。</a:t>
            </a:r>
          </a:p>
        </p:txBody>
      </p:sp>
      <p:sp>
        <p:nvSpPr>
          <p:cNvPr id="9" name="MH_Other_2"/>
          <p:cNvSpPr txBox="1">
            <a:spLocks noChangeArrowheads="1"/>
          </p:cNvSpPr>
          <p:nvPr>
            <p:custDataLst>
              <p:tags r:id="rId3"/>
            </p:custDataLst>
          </p:nvPr>
        </p:nvSpPr>
        <p:spPr bwMode="auto">
          <a:xfrm>
            <a:off x="914401" y="2550160"/>
            <a:ext cx="1596142" cy="2400300"/>
          </a:xfrm>
          <a:prstGeom prst="rect">
            <a:avLst/>
          </a:prstGeom>
          <a:noFill/>
          <a:ln w="9525">
            <a:noFill/>
            <a:miter lim="800000"/>
          </a:ln>
        </p:spPr>
        <p:txBody>
          <a:bodyPr anchor="ctr"/>
          <a:lstStyle/>
          <a:p>
            <a:pPr algn="ctr"/>
            <a:r>
              <a:rPr lang="zh-CN" altLang="zh-CN" sz="4400" dirty="0" smtClean="0"/>
              <a:t>无线</a:t>
            </a:r>
            <a:r>
              <a:rPr lang="en-US" altLang="zh-CN" sz="4400" dirty="0" smtClean="0"/>
              <a:t>Mesh</a:t>
            </a:r>
            <a:r>
              <a:rPr lang="zh-CN" altLang="zh-CN" sz="4400" dirty="0" smtClean="0"/>
              <a:t>网络</a:t>
            </a:r>
            <a:endParaRPr lang="zh-CN" altLang="en-US" sz="4400" b="1" dirty="0">
              <a:solidFill>
                <a:srgbClr val="01AFEE"/>
              </a:solidFill>
              <a:latin typeface="MS PMincho" panose="02020600040205080304" pitchFamily="18" charset="-128"/>
              <a:ea typeface="MS PMincho" panose="02020600040205080304" pitchFamily="18" charset="-128"/>
            </a:endParaRPr>
          </a:p>
        </p:txBody>
      </p:sp>
    </p:spTree>
  </p:cSld>
  <p:clrMapOvr>
    <a:masterClrMapping/>
  </p:clrMapOvr>
  <p:transition>
    <p:wheel spokes="3"/>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smtClean="0">
                <a:solidFill>
                  <a:srgbClr val="FF0000"/>
                </a:solidFill>
              </a:rPr>
              <a:t>9.2  </a:t>
            </a:r>
            <a:r>
              <a:rPr lang="zh-CN" altLang="en-US" dirty="0" smtClean="0">
                <a:solidFill>
                  <a:srgbClr val="FF0000"/>
                </a:solidFill>
                <a:sym typeface="+mn-ea"/>
              </a:rPr>
              <a:t>移动互联网应用技术</a:t>
            </a:r>
            <a:r>
              <a:rPr lang="zh-CN" dirty="0">
                <a:solidFill>
                  <a:srgbClr val="FF0000"/>
                </a:solidFill>
              </a:rPr>
              <a:t/>
            </a:r>
            <a:br>
              <a:rPr lang="zh-CN" dirty="0">
                <a:solidFill>
                  <a:srgbClr val="FF0000"/>
                </a:solidFill>
              </a:rPr>
            </a:b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9.2.3  </a:t>
            </a:r>
            <a:r>
              <a:rPr lang="zh-CN" altLang="en-US" sz="2400" dirty="0" smtClean="0">
                <a:solidFill>
                  <a:schemeClr val="tx1"/>
                </a:solidFill>
              </a:rPr>
              <a:t>网络接入技术</a:t>
            </a:r>
          </a:p>
        </p:txBody>
      </p:sp>
      <p:pic>
        <p:nvPicPr>
          <p:cNvPr id="2" name="图片 1" descr="A000220150320C12PPIC.png"/>
          <p:cNvPicPr>
            <a:picLocks noChangeAspect="1"/>
          </p:cNvPicPr>
          <p:nvPr/>
        </p:nvPicPr>
        <p:blipFill>
          <a:blip r:embed="rId3" cstate="print"/>
          <a:stretch>
            <a:fillRect/>
          </a:stretch>
        </p:blipFill>
        <p:spPr>
          <a:xfrm>
            <a:off x="60960" y="3204210"/>
            <a:ext cx="6018530" cy="1953260"/>
          </a:xfrm>
          <a:prstGeom prst="rect">
            <a:avLst/>
          </a:prstGeom>
        </p:spPr>
      </p:pic>
      <p:sp>
        <p:nvSpPr>
          <p:cNvPr id="34" name="MH_Desc_1"/>
          <p:cNvSpPr/>
          <p:nvPr>
            <p:custDataLst>
              <p:tags r:id="rId1"/>
            </p:custDataLst>
          </p:nvPr>
        </p:nvSpPr>
        <p:spPr>
          <a:xfrm>
            <a:off x="6429375" y="2707005"/>
            <a:ext cx="5179060" cy="308419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50000"/>
              </a:lnSpc>
            </a:pPr>
            <a:r>
              <a:rPr lang="zh-CN" altLang="en-US" sz="2000" b="1" dirty="0" smtClean="0">
                <a:solidFill>
                  <a:srgbClr val="FF0000"/>
                </a:solidFill>
                <a:latin typeface="微软雅黑" panose="020B0503020204020204" charset="-122"/>
                <a:ea typeface="微软雅黑" panose="020B0503020204020204" charset="-122"/>
              </a:rPr>
              <a:t>异构无线网络</a:t>
            </a:r>
            <a:r>
              <a:rPr lang="zh-CN" altLang="en-US" sz="2000" dirty="0" smtClean="0">
                <a:solidFill>
                  <a:schemeClr val="tx1"/>
                </a:solidFill>
                <a:latin typeface="微软雅黑" panose="020B0503020204020204" charset="-122"/>
                <a:ea typeface="微软雅黑" panose="020B0503020204020204" charset="-122"/>
              </a:rPr>
              <a:t>架构分为紧耦合技术和松耦合技术两类。其中，紧耦合技术的网络架构是指无线接入系统之间存在主从关系；松耦合技术的网络架构是指无线接入系统之间不存在主从关系。</a:t>
            </a:r>
          </a:p>
        </p:txBody>
      </p:sp>
    </p:spTree>
  </p:cSld>
  <p:clrMapOvr>
    <a:masterClrMapping/>
  </p:clrMapOvr>
  <p:transition>
    <p:wheel spokes="3"/>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a:solidFill>
                  <a:srgbClr val="FF0000"/>
                </a:solidFill>
              </a:rPr>
              <a:t>9.2  </a:t>
            </a:r>
            <a:r>
              <a:rPr lang="zh-CN" dirty="0">
                <a:solidFill>
                  <a:srgbClr val="FF0000"/>
                </a:solidFill>
                <a:sym typeface="+mn-ea"/>
              </a:rPr>
              <a:t>移动互联网应用技术</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9.2.4  移动应用服务技术</a:t>
            </a:r>
          </a:p>
        </p:txBody>
      </p:sp>
      <p:grpSp>
        <p:nvGrpSpPr>
          <p:cNvPr id="7" name="组合 6"/>
          <p:cNvGrpSpPr/>
          <p:nvPr/>
        </p:nvGrpSpPr>
        <p:grpSpPr>
          <a:xfrm>
            <a:off x="0" y="2412365"/>
            <a:ext cx="12192000" cy="3074035"/>
            <a:chOff x="0" y="3848"/>
            <a:chExt cx="19200" cy="4841"/>
          </a:xfrm>
        </p:grpSpPr>
        <p:sp>
          <p:nvSpPr>
            <p:cNvPr id="4" name="矩形 3"/>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682" y="3928"/>
              <a:ext cx="11828" cy="4680"/>
            </a:xfrm>
            <a:prstGeom prst="rect">
              <a:avLst/>
            </a:prstGeom>
          </p:spPr>
          <p:txBody>
            <a:bodyPr wrap="square">
              <a:spAutoFit/>
            </a:bodyPr>
            <a:lstStyle/>
            <a:p>
              <a:pPr indent="457200">
                <a:lnSpc>
                  <a:spcPct val="150000"/>
                </a:lnSpc>
                <a:defRPr/>
              </a:pP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移动应用服务技术主要分为</a:t>
              </a:r>
              <a:r>
                <a:rPr lang="en-US" altLang="zh-CN" kern="0" dirty="0" smtClean="0">
                  <a:solidFill>
                    <a:srgbClr val="FFFF00"/>
                  </a:solidFill>
                  <a:latin typeface="微软雅黑" panose="020B0503020204020204" charset="-122"/>
                  <a:ea typeface="微软雅黑" panose="020B0503020204020204" charset="-122"/>
                  <a:cs typeface="宋体" panose="02010600030101010101" pitchFamily="2" charset="-122"/>
                </a:rPr>
                <a:t>前端技术、后端技术和应用层网络协议</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3部分。前端技术用于内容展现和逻辑执行，主要包括HTML，DOM，CSS，JavaScript等技术；后端技术用于服务器端的逻辑执行和资源管理，主要包括数据库、动态网页等技术；应用层网络协议用于前端与后端之间的信息交互和数据传送，主要包括HTTP，FTP，SMTP协议等。</a:t>
              </a:r>
            </a:p>
            <a:p>
              <a:pPr indent="457200">
                <a:lnSpc>
                  <a:spcPct val="150000"/>
                </a:lnSpc>
                <a:defRPr/>
              </a:pP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目前正在发展的移动应用服务关键技术主要包括</a:t>
              </a:r>
              <a:r>
                <a:rPr lang="en-US" altLang="zh-CN" b="1" kern="0" dirty="0" smtClean="0">
                  <a:solidFill>
                    <a:srgbClr val="FFFF00"/>
                  </a:solidFill>
                  <a:latin typeface="微软雅黑" panose="020B0503020204020204" charset="-122"/>
                  <a:ea typeface="微软雅黑" panose="020B0503020204020204" charset="-122"/>
                  <a:cs typeface="宋体" panose="02010600030101010101" pitchFamily="2" charset="-122"/>
                </a:rPr>
                <a:t>HTML5、移动搜索、移动社交网络、二维码编码、企业移动设备管理</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等。</a:t>
              </a:r>
            </a:p>
          </p:txBody>
        </p:sp>
      </p:grpSp>
      <p:pic>
        <p:nvPicPr>
          <p:cNvPr id="2" name="图片 1" descr="A000220150319H28PPIC"/>
          <p:cNvPicPr>
            <a:picLocks noChangeAspect="1"/>
          </p:cNvPicPr>
          <p:nvPr/>
        </p:nvPicPr>
        <p:blipFill>
          <a:blip r:embed="rId2" cstate="print"/>
          <a:stretch>
            <a:fillRect/>
          </a:stretch>
        </p:blipFill>
        <p:spPr>
          <a:xfrm>
            <a:off x="7635240" y="1403350"/>
            <a:ext cx="4664075" cy="3835400"/>
          </a:xfrm>
          <a:prstGeom prst="rect">
            <a:avLst/>
          </a:prstGeom>
        </p:spPr>
      </p:pic>
    </p:spTree>
  </p:cSld>
  <p:clrMapOvr>
    <a:masterClrMapping/>
  </p:clrMapOvr>
  <p:transition>
    <p:wheel spokes="3"/>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a:solidFill>
                  <a:srgbClr val="FF0000"/>
                </a:solidFill>
              </a:rPr>
              <a:t>9.2  </a:t>
            </a:r>
            <a:r>
              <a:rPr lang="zh-CN" dirty="0">
                <a:solidFill>
                  <a:srgbClr val="FF0000"/>
                </a:solidFill>
                <a:sym typeface="+mn-ea"/>
              </a:rPr>
              <a:t>移动互联网应用技术</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9.2.4  移动应用服务技术</a:t>
            </a:r>
          </a:p>
        </p:txBody>
      </p:sp>
      <p:grpSp>
        <p:nvGrpSpPr>
          <p:cNvPr id="6" name="组合 5"/>
          <p:cNvGrpSpPr/>
          <p:nvPr/>
        </p:nvGrpSpPr>
        <p:grpSpPr>
          <a:xfrm>
            <a:off x="0" y="2029460"/>
            <a:ext cx="11504930" cy="4276090"/>
            <a:chOff x="0" y="3196"/>
            <a:chExt cx="18118" cy="6734"/>
          </a:xfrm>
        </p:grpSpPr>
        <p:grpSp>
          <p:nvGrpSpPr>
            <p:cNvPr id="7" name="组合 6"/>
            <p:cNvGrpSpPr/>
            <p:nvPr/>
          </p:nvGrpSpPr>
          <p:grpSpPr>
            <a:xfrm>
              <a:off x="0" y="3196"/>
              <a:ext cx="8467" cy="1530"/>
              <a:chOff x="1" y="2565401"/>
              <a:chExt cx="5376660" cy="971723"/>
            </a:xfrm>
          </p:grpSpPr>
          <p:sp>
            <p:nvSpPr>
              <p:cNvPr id="8" name="MH_SubTitle_1"/>
              <p:cNvSpPr/>
              <p:nvPr>
                <p:custDataLst>
                  <p:tags r:id="rId2"/>
                </p:custDataLst>
              </p:nvPr>
            </p:nvSpPr>
            <p:spPr>
              <a:xfrm>
                <a:off x="1501808" y="2688613"/>
                <a:ext cx="3874853" cy="73165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HTML5</a:t>
                </a:r>
              </a:p>
            </p:txBody>
          </p:sp>
          <p:sp>
            <p:nvSpPr>
              <p:cNvPr id="9" name="MH_Other_1"/>
              <p:cNvSpPr/>
              <p:nvPr>
                <p:custDataLst>
                  <p:tags r:id="rId3"/>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a:solidFill>
                      <a:srgbClr val="FFFFFF"/>
                    </a:solidFill>
                    <a:latin typeface="Impact" panose="020B0806030902050204" pitchFamily="34" charset="0"/>
                    <a:ea typeface="微软雅黑" panose="020B0503020204020204" charset="-122"/>
                  </a:rPr>
                  <a:t>01</a:t>
                </a:r>
                <a:endParaRPr lang="zh-CN" altLang="en-US" sz="3200">
                  <a:solidFill>
                    <a:srgbClr val="FFFFFF"/>
                  </a:solidFill>
                  <a:latin typeface="Impact" panose="020B0806030902050204" pitchFamily="34" charset="0"/>
                  <a:ea typeface="微软雅黑" panose="020B0503020204020204" charset="-122"/>
                </a:endParaRPr>
              </a:p>
            </p:txBody>
          </p:sp>
          <p:sp>
            <p:nvSpPr>
              <p:cNvPr id="11" name="MH_Other_2"/>
              <p:cNvSpPr/>
              <p:nvPr>
                <p:custDataLst>
                  <p:tags r:id="rId4"/>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1"/>
              </p:custDataLst>
            </p:nvPr>
          </p:nvSpPr>
          <p:spPr>
            <a:xfrm>
              <a:off x="9048" y="3647"/>
              <a:ext cx="9070" cy="6283"/>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fontAlgn="auto">
                <a:lnSpc>
                  <a:spcPct val="130000"/>
                </a:lnSpc>
              </a:pPr>
              <a:r>
                <a:rPr dirty="0" smtClean="0">
                  <a:solidFill>
                    <a:schemeClr val="tx1"/>
                  </a:solidFill>
                  <a:latin typeface="微软雅黑" panose="020B0503020204020204" charset="-122"/>
                  <a:ea typeface="微软雅黑" panose="020B0503020204020204" charset="-122"/>
                </a:rPr>
                <a:t>HTML5是超文本标记语言（HTML）的第5次重大修改，为“开放Web平台”奠定了基石。HTML5手机应用的最大优势就是可以在网页上直接调试和修改，可以不断地重复编码、调试和运行，开发人员可以轻松调试修改。</a:t>
              </a:r>
            </a:p>
            <a:p>
              <a:pPr indent="457200" fontAlgn="auto">
                <a:lnSpc>
                  <a:spcPct val="130000"/>
                </a:lnSpc>
              </a:pPr>
              <a:r>
                <a:rPr dirty="0" smtClean="0">
                  <a:solidFill>
                    <a:schemeClr val="tx1"/>
                  </a:solidFill>
                  <a:latin typeface="微软雅黑" panose="020B0503020204020204" charset="-122"/>
                  <a:ea typeface="微软雅黑" panose="020B0503020204020204" charset="-122"/>
                </a:rPr>
                <a:t>HTML5使用Canvas绘图，在地理位置、存储、视频与音频、基于Worker的多线程、速度的优化和改进等方面都有很大的提高。HTML5赋予图片图形更多的交互功能，其Canvas标签能够配合JavaScript来利用键盘控制图形图像，为现有的网页游戏提供新的选择和更好的维护性与通用性。脱离了Flash插件的网页游戏，可以使页面获得更多的用户和更大的访问量。</a:t>
              </a:r>
            </a:p>
          </p:txBody>
        </p:sp>
      </p:grpSp>
      <p:pic>
        <p:nvPicPr>
          <p:cNvPr id="2" name="图片 1" descr="html-46495020"/>
          <p:cNvPicPr>
            <a:picLocks noChangeAspect="1"/>
          </p:cNvPicPr>
          <p:nvPr/>
        </p:nvPicPr>
        <p:blipFill>
          <a:blip r:embed="rId6" cstate="print"/>
          <a:srcRect b="9970"/>
          <a:stretch>
            <a:fillRect/>
          </a:stretch>
        </p:blipFill>
        <p:spPr>
          <a:xfrm>
            <a:off x="487045" y="3179445"/>
            <a:ext cx="4517390" cy="2994660"/>
          </a:xfrm>
          <a:prstGeom prst="rect">
            <a:avLst/>
          </a:prstGeom>
        </p:spPr>
      </p:pic>
    </p:spTree>
  </p:cSld>
  <p:clrMapOvr>
    <a:masterClrMapping/>
  </p:clrMapOvr>
  <p:transition>
    <p:wheel spokes="3"/>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a:solidFill>
                  <a:srgbClr val="FF0000"/>
                </a:solidFill>
              </a:rPr>
              <a:t>9.2  </a:t>
            </a:r>
            <a:r>
              <a:rPr lang="zh-CN" dirty="0">
                <a:solidFill>
                  <a:srgbClr val="FF0000"/>
                </a:solidFill>
                <a:sym typeface="+mn-ea"/>
              </a:rPr>
              <a:t>移动互联网应用技术</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9.2.4  移动应用服务技术</a:t>
            </a:r>
          </a:p>
        </p:txBody>
      </p:sp>
      <p:grpSp>
        <p:nvGrpSpPr>
          <p:cNvPr id="6" name="组合 5"/>
          <p:cNvGrpSpPr/>
          <p:nvPr/>
        </p:nvGrpSpPr>
        <p:grpSpPr>
          <a:xfrm>
            <a:off x="0" y="2029460"/>
            <a:ext cx="11609705" cy="3777615"/>
            <a:chOff x="0" y="3196"/>
            <a:chExt cx="18283" cy="5949"/>
          </a:xfrm>
        </p:grpSpPr>
        <p:grpSp>
          <p:nvGrpSpPr>
            <p:cNvPr id="7" name="组合 6"/>
            <p:cNvGrpSpPr/>
            <p:nvPr/>
          </p:nvGrpSpPr>
          <p:grpSpPr>
            <a:xfrm>
              <a:off x="0" y="3196"/>
              <a:ext cx="8467" cy="1530"/>
              <a:chOff x="1" y="2565401"/>
              <a:chExt cx="5376660" cy="971723"/>
            </a:xfrm>
          </p:grpSpPr>
          <p:sp>
            <p:nvSpPr>
              <p:cNvPr id="8" name="MH_SubTitle_1"/>
              <p:cNvSpPr/>
              <p:nvPr>
                <p:custDataLst>
                  <p:tags r:id="rId2"/>
                </p:custDataLst>
              </p:nvPr>
            </p:nvSpPr>
            <p:spPr>
              <a:xfrm>
                <a:off x="1501808" y="2688613"/>
                <a:ext cx="3874853" cy="73165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移动搜索</a:t>
                </a:r>
              </a:p>
            </p:txBody>
          </p:sp>
          <p:sp>
            <p:nvSpPr>
              <p:cNvPr id="9" name="MH_Other_1"/>
              <p:cNvSpPr/>
              <p:nvPr>
                <p:custDataLst>
                  <p:tags r:id="rId3"/>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a:solidFill>
                      <a:srgbClr val="FFFFFF"/>
                    </a:solidFill>
                    <a:latin typeface="Impact" panose="020B0806030902050204" pitchFamily="34" charset="0"/>
                    <a:ea typeface="微软雅黑" panose="020B0503020204020204" charset="-122"/>
                  </a:rPr>
                  <a:t>0</a:t>
                </a:r>
                <a:r>
                  <a:rPr lang="en-US" sz="3200">
                    <a:solidFill>
                      <a:srgbClr val="FFFFFF"/>
                    </a:solidFill>
                    <a:latin typeface="Impact" panose="020B0806030902050204" pitchFamily="34" charset="0"/>
                    <a:ea typeface="微软雅黑" panose="020B0503020204020204" charset="-122"/>
                  </a:rPr>
                  <a:t>2</a:t>
                </a:r>
              </a:p>
            </p:txBody>
          </p:sp>
          <p:sp>
            <p:nvSpPr>
              <p:cNvPr id="11" name="MH_Other_2"/>
              <p:cNvSpPr/>
              <p:nvPr>
                <p:custDataLst>
                  <p:tags r:id="rId4"/>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1"/>
              </p:custDataLst>
            </p:nvPr>
          </p:nvSpPr>
          <p:spPr>
            <a:xfrm>
              <a:off x="8941" y="3647"/>
              <a:ext cx="9342" cy="5498"/>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fontAlgn="auto">
                <a:lnSpc>
                  <a:spcPct val="130000"/>
                </a:lnSpc>
              </a:pPr>
              <a:r>
                <a:rPr dirty="0" smtClean="0">
                  <a:solidFill>
                    <a:schemeClr val="tx1"/>
                  </a:solidFill>
                  <a:latin typeface="微软雅黑" panose="020B0503020204020204" charset="-122"/>
                  <a:ea typeface="微软雅黑" panose="020B0503020204020204" charset="-122"/>
                </a:rPr>
                <a:t>移动搜索技术是移动互联网应用的典型技术，是指移动终端用户通过终端，使用浏览器、短信息、交互式语音等方式对互联网内容进行搜索，获取自己所需的信息和服务。移动搜索具有终端移动性、用户操作便捷性、搜索结果简约化和个性化等特点。</a:t>
              </a:r>
            </a:p>
          </p:txBody>
        </p:sp>
      </p:grpSp>
      <p:pic>
        <p:nvPicPr>
          <p:cNvPr id="2" name="图片 1" descr="A000220150318G70PPIC"/>
          <p:cNvPicPr>
            <a:picLocks noChangeAspect="1"/>
          </p:cNvPicPr>
          <p:nvPr/>
        </p:nvPicPr>
        <p:blipFill>
          <a:blip r:embed="rId6" cstate="print"/>
          <a:stretch>
            <a:fillRect/>
          </a:stretch>
        </p:blipFill>
        <p:spPr>
          <a:xfrm>
            <a:off x="539115" y="3492500"/>
            <a:ext cx="4622800" cy="2207895"/>
          </a:xfrm>
          <a:prstGeom prst="rect">
            <a:avLst/>
          </a:prstGeom>
        </p:spPr>
      </p:pic>
    </p:spTree>
  </p:cSld>
  <p:clrMapOvr>
    <a:masterClrMapping/>
  </p:clrMapOvr>
  <p:transition>
    <p:wheel spokes="3"/>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a:solidFill>
                  <a:srgbClr val="FF0000"/>
                </a:solidFill>
              </a:rPr>
              <a:t>9.2  </a:t>
            </a:r>
            <a:r>
              <a:rPr lang="zh-CN" dirty="0">
                <a:solidFill>
                  <a:srgbClr val="FF0000"/>
                </a:solidFill>
                <a:sym typeface="+mn-ea"/>
              </a:rPr>
              <a:t>移动互联网应用技术</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9.2.4  移动应用服务技术</a:t>
            </a:r>
          </a:p>
        </p:txBody>
      </p:sp>
      <p:grpSp>
        <p:nvGrpSpPr>
          <p:cNvPr id="6" name="组合 5"/>
          <p:cNvGrpSpPr/>
          <p:nvPr/>
        </p:nvGrpSpPr>
        <p:grpSpPr>
          <a:xfrm>
            <a:off x="0" y="2029460"/>
            <a:ext cx="11545570" cy="3729990"/>
            <a:chOff x="0" y="3196"/>
            <a:chExt cx="18182" cy="5874"/>
          </a:xfrm>
        </p:grpSpPr>
        <p:grpSp>
          <p:nvGrpSpPr>
            <p:cNvPr id="7" name="组合 6"/>
            <p:cNvGrpSpPr/>
            <p:nvPr/>
          </p:nvGrpSpPr>
          <p:grpSpPr>
            <a:xfrm>
              <a:off x="0" y="3196"/>
              <a:ext cx="8467" cy="1530"/>
              <a:chOff x="1" y="2565401"/>
              <a:chExt cx="5376660" cy="971723"/>
            </a:xfrm>
          </p:grpSpPr>
          <p:sp>
            <p:nvSpPr>
              <p:cNvPr id="8" name="MH_SubTitle_1"/>
              <p:cNvSpPr/>
              <p:nvPr>
                <p:custDataLst>
                  <p:tags r:id="rId2"/>
                </p:custDataLst>
              </p:nvPr>
            </p:nvSpPr>
            <p:spPr>
              <a:xfrm>
                <a:off x="1501808" y="2688613"/>
                <a:ext cx="3874853" cy="73165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移动社交网络</a:t>
                </a:r>
              </a:p>
            </p:txBody>
          </p:sp>
          <p:sp>
            <p:nvSpPr>
              <p:cNvPr id="9" name="MH_Other_1"/>
              <p:cNvSpPr/>
              <p:nvPr>
                <p:custDataLst>
                  <p:tags r:id="rId3"/>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a:solidFill>
                      <a:srgbClr val="FFFFFF"/>
                    </a:solidFill>
                    <a:latin typeface="Impact" panose="020B0806030902050204" pitchFamily="34" charset="0"/>
                    <a:ea typeface="微软雅黑" panose="020B0503020204020204" charset="-122"/>
                  </a:rPr>
                  <a:t>0</a:t>
                </a:r>
                <a:r>
                  <a:rPr lang="en-US" sz="3200">
                    <a:solidFill>
                      <a:srgbClr val="FFFFFF"/>
                    </a:solidFill>
                    <a:latin typeface="Impact" panose="020B0806030902050204" pitchFamily="34" charset="0"/>
                    <a:ea typeface="微软雅黑" panose="020B0503020204020204" charset="-122"/>
                  </a:rPr>
                  <a:t>3</a:t>
                </a:r>
              </a:p>
            </p:txBody>
          </p:sp>
          <p:sp>
            <p:nvSpPr>
              <p:cNvPr id="11" name="MH_Other_2"/>
              <p:cNvSpPr/>
              <p:nvPr>
                <p:custDataLst>
                  <p:tags r:id="rId4"/>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1"/>
              </p:custDataLst>
            </p:nvPr>
          </p:nvSpPr>
          <p:spPr>
            <a:xfrm>
              <a:off x="8704" y="3647"/>
              <a:ext cx="9478" cy="5423"/>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fontAlgn="auto">
                <a:lnSpc>
                  <a:spcPct val="130000"/>
                </a:lnSpc>
              </a:pPr>
              <a:r>
                <a:rPr sz="2000" dirty="0" smtClean="0">
                  <a:solidFill>
                    <a:schemeClr val="tx1"/>
                  </a:solidFill>
                  <a:latin typeface="微软雅黑" panose="020B0503020204020204" charset="-122"/>
                  <a:ea typeface="微软雅黑" panose="020B0503020204020204" charset="-122"/>
                </a:rPr>
                <a:t>移动社交是指用户以智能手机、平板电脑等移动终端为载体，以在线识别用户及交换信息技术为基础，通过移动网络来实现的社交应用功能。目前很多手机用户通过QQ、微信、新浪微博和Facebook等工具进行沟通。</a:t>
              </a:r>
            </a:p>
          </p:txBody>
        </p:sp>
      </p:grpSp>
      <p:pic>
        <p:nvPicPr>
          <p:cNvPr id="2" name="图片 1" descr="timg"/>
          <p:cNvPicPr>
            <a:picLocks noChangeAspect="1"/>
          </p:cNvPicPr>
          <p:nvPr/>
        </p:nvPicPr>
        <p:blipFill>
          <a:blip r:embed="rId6" cstate="print"/>
          <a:srcRect b="4840"/>
          <a:stretch>
            <a:fillRect/>
          </a:stretch>
        </p:blipFill>
        <p:spPr>
          <a:xfrm>
            <a:off x="1063625" y="3129281"/>
            <a:ext cx="3556000" cy="2792942"/>
          </a:xfrm>
          <a:prstGeom prst="rect">
            <a:avLst/>
          </a:prstGeom>
        </p:spPr>
      </p:pic>
    </p:spTree>
  </p:cSld>
  <p:clrMapOvr>
    <a:masterClrMapping/>
  </p:clrMapOvr>
  <p:transition>
    <p:wheel spokes="3"/>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a:solidFill>
                  <a:srgbClr val="FF0000"/>
                </a:solidFill>
              </a:rPr>
              <a:t>9.2  </a:t>
            </a:r>
            <a:r>
              <a:rPr lang="zh-CN" dirty="0">
                <a:solidFill>
                  <a:srgbClr val="FF0000"/>
                </a:solidFill>
                <a:sym typeface="+mn-ea"/>
              </a:rPr>
              <a:t>移动互联网应用技术</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9.2.4  移动应用服务技术</a:t>
            </a:r>
          </a:p>
        </p:txBody>
      </p:sp>
      <p:grpSp>
        <p:nvGrpSpPr>
          <p:cNvPr id="6" name="组合 5"/>
          <p:cNvGrpSpPr/>
          <p:nvPr/>
        </p:nvGrpSpPr>
        <p:grpSpPr>
          <a:xfrm>
            <a:off x="0" y="2029460"/>
            <a:ext cx="11609705" cy="4252595"/>
            <a:chOff x="0" y="3196"/>
            <a:chExt cx="18283" cy="6697"/>
          </a:xfrm>
        </p:grpSpPr>
        <p:grpSp>
          <p:nvGrpSpPr>
            <p:cNvPr id="7" name="组合 6"/>
            <p:cNvGrpSpPr/>
            <p:nvPr/>
          </p:nvGrpSpPr>
          <p:grpSpPr>
            <a:xfrm>
              <a:off x="0" y="3196"/>
              <a:ext cx="8467" cy="1530"/>
              <a:chOff x="1" y="2565401"/>
              <a:chExt cx="5376660" cy="971723"/>
            </a:xfrm>
          </p:grpSpPr>
          <p:sp>
            <p:nvSpPr>
              <p:cNvPr id="8" name="MH_SubTitle_1"/>
              <p:cNvSpPr/>
              <p:nvPr>
                <p:custDataLst>
                  <p:tags r:id="rId2"/>
                </p:custDataLst>
              </p:nvPr>
            </p:nvSpPr>
            <p:spPr>
              <a:xfrm>
                <a:off x="1501808" y="2688613"/>
                <a:ext cx="3874853" cy="73165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二维码编码</a:t>
                </a:r>
              </a:p>
            </p:txBody>
          </p:sp>
          <p:sp>
            <p:nvSpPr>
              <p:cNvPr id="9" name="MH_Other_1"/>
              <p:cNvSpPr/>
              <p:nvPr>
                <p:custDataLst>
                  <p:tags r:id="rId3"/>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a:solidFill>
                      <a:srgbClr val="FFFFFF"/>
                    </a:solidFill>
                    <a:latin typeface="Impact" panose="020B0806030902050204" pitchFamily="34" charset="0"/>
                    <a:ea typeface="微软雅黑" panose="020B0503020204020204" charset="-122"/>
                  </a:rPr>
                  <a:t>04</a:t>
                </a:r>
                <a:endParaRPr lang="zh-CN" altLang="en-US" sz="3200">
                  <a:solidFill>
                    <a:srgbClr val="FFFFFF"/>
                  </a:solidFill>
                  <a:latin typeface="Impact" panose="020B0806030902050204" pitchFamily="34" charset="0"/>
                  <a:ea typeface="微软雅黑" panose="020B0503020204020204" charset="-122"/>
                </a:endParaRPr>
              </a:p>
            </p:txBody>
          </p:sp>
          <p:sp>
            <p:nvSpPr>
              <p:cNvPr id="11" name="MH_Other_2"/>
              <p:cNvSpPr/>
              <p:nvPr>
                <p:custDataLst>
                  <p:tags r:id="rId4"/>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1"/>
              </p:custDataLst>
            </p:nvPr>
          </p:nvSpPr>
          <p:spPr>
            <a:xfrm>
              <a:off x="9420" y="3647"/>
              <a:ext cx="8863" cy="6246"/>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smtClean="0">
                  <a:solidFill>
                    <a:schemeClr val="tx1"/>
                  </a:solidFill>
                  <a:latin typeface="微软雅黑" panose="020B0503020204020204" charset="-122"/>
                  <a:ea typeface="微软雅黑" panose="020B0503020204020204" charset="-122"/>
                </a:rPr>
                <a:t>二维条码/二维码（2-Dimensional Bar Code）是用某种特定的几何图形按一定规律在平面（二维方向上）分布的黑白相间的图形记录数据符号信息的。它在代码编制上巧妙地利用构成计算机内部逻辑基础的“0”“1”比特流的概念，使用若干个与二进制相对应的几何形体来表示文字数值信息，通过图像输入设备或光电扫描设备自动识别以实现信息自动处理。</a:t>
              </a:r>
            </a:p>
            <a:p>
              <a:pPr indent="457200">
                <a:lnSpc>
                  <a:spcPct val="120000"/>
                </a:lnSpc>
              </a:pPr>
              <a:r>
                <a:rPr dirty="0" smtClean="0">
                  <a:solidFill>
                    <a:schemeClr val="tx1"/>
                  </a:solidFill>
                  <a:latin typeface="微软雅黑" panose="020B0503020204020204" charset="-122"/>
                  <a:ea typeface="微软雅黑" panose="020B0503020204020204" charset="-122"/>
                </a:rPr>
                <a:t>二维码具有条码技术的一些共性：每种码制有其特定的字符集；每个字符占有一定的宽度；具有一定的校验功能等。同时，它还具有对不同行的信息自动识别功能，以及处理图形旋转变化等特点。</a:t>
              </a:r>
            </a:p>
          </p:txBody>
        </p:sp>
      </p:grpSp>
      <p:pic>
        <p:nvPicPr>
          <p:cNvPr id="13" name="图片 12" descr="qrcode_for_gh_dfd5ee112ec2_430.jpg"/>
          <p:cNvPicPr>
            <a:picLocks noChangeAspect="1"/>
          </p:cNvPicPr>
          <p:nvPr/>
        </p:nvPicPr>
        <p:blipFill>
          <a:blip r:embed="rId6" cstate="print"/>
          <a:stretch>
            <a:fillRect/>
          </a:stretch>
        </p:blipFill>
        <p:spPr>
          <a:xfrm>
            <a:off x="1562100" y="2914649"/>
            <a:ext cx="3324225" cy="3324225"/>
          </a:xfrm>
          <a:prstGeom prst="rect">
            <a:avLst/>
          </a:prstGeom>
        </p:spPr>
      </p:pic>
    </p:spTree>
  </p:cSld>
  <p:clrMapOvr>
    <a:masterClrMapping/>
  </p:clrMapOvr>
  <p:transition>
    <p:wheel spokes="3"/>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smtClean="0">
                <a:solidFill>
                  <a:srgbClr val="FF0000"/>
                </a:solidFill>
              </a:rPr>
              <a:t>9.2  </a:t>
            </a:r>
            <a:r>
              <a:rPr lang="zh-CN" altLang="en-US" dirty="0" smtClean="0">
                <a:solidFill>
                  <a:srgbClr val="FF0000"/>
                </a:solidFill>
                <a:sym typeface="+mn-ea"/>
              </a:rPr>
              <a:t>移动互联网应用技术</a:t>
            </a:r>
            <a:r>
              <a:rPr lang="zh-CN" dirty="0">
                <a:solidFill>
                  <a:srgbClr val="FF0000"/>
                </a:solidFill>
              </a:rPr>
              <a:t/>
            </a:r>
            <a:br>
              <a:rPr lang="zh-CN" dirty="0">
                <a:solidFill>
                  <a:srgbClr val="FF0000"/>
                </a:solidFill>
              </a:rPr>
            </a:b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9.2.4  </a:t>
            </a:r>
            <a:r>
              <a:rPr lang="zh-CN" altLang="en-US" sz="2400" dirty="0" smtClean="0">
                <a:solidFill>
                  <a:schemeClr val="tx1"/>
                </a:solidFill>
              </a:rPr>
              <a:t>移动应用服务技术</a:t>
            </a:r>
          </a:p>
        </p:txBody>
      </p:sp>
      <p:grpSp>
        <p:nvGrpSpPr>
          <p:cNvPr id="13" name="组合 12"/>
          <p:cNvGrpSpPr/>
          <p:nvPr/>
        </p:nvGrpSpPr>
        <p:grpSpPr>
          <a:xfrm>
            <a:off x="1339215" y="2263140"/>
            <a:ext cx="5203825" cy="3594735"/>
            <a:chOff x="9359" y="3147"/>
            <a:chExt cx="8195" cy="5661"/>
          </a:xfrm>
        </p:grpSpPr>
        <p:sp>
          <p:nvSpPr>
            <p:cNvPr id="2" name="矩形 1"/>
            <p:cNvSpPr/>
            <p:nvPr/>
          </p:nvSpPr>
          <p:spPr>
            <a:xfrm>
              <a:off x="9732" y="3462"/>
              <a:ext cx="7532" cy="5186"/>
            </a:xfrm>
            <a:prstGeom prst="rect">
              <a:avLst/>
            </a:prstGeom>
          </p:spPr>
          <p:txBody>
            <a:bodyPr wrap="square">
              <a:spAutoFit/>
            </a:bodyPr>
            <a:lstStyle/>
            <a:p>
              <a:pPr indent="457200">
                <a:lnSpc>
                  <a:spcPct val="130000"/>
                </a:lnSpc>
              </a:pPr>
              <a:r>
                <a:rPr sz="2000" dirty="0" smtClean="0">
                  <a:latin typeface="+mn-ea"/>
                </a:rPr>
                <a:t>随着3G/4G移动网络环境下智能手机和平板电脑的普及以及微信的应用，二维码应用越来越普遍。通过移动终端的摄像设备进行采集二维码并进行解码和译码等操作，进而快速获得包含在二维码中的信息，省去了在移动终端输入冗余的网址信息或者其他信息的操作，具有准确、方便、快捷等特点。</a:t>
              </a:r>
            </a:p>
          </p:txBody>
        </p:sp>
        <p:sp>
          <p:nvSpPr>
            <p:cNvPr id="10" name="圆角矩形 9"/>
            <p:cNvSpPr/>
            <p:nvPr/>
          </p:nvSpPr>
          <p:spPr>
            <a:xfrm>
              <a:off x="9359" y="3147"/>
              <a:ext cx="8195" cy="5661"/>
            </a:xfrm>
            <a:prstGeom prst="roundRect">
              <a:avLst/>
            </a:prstGeom>
            <a:noFill/>
            <a:ln w="28575">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1" name="图片 10" descr="timg (1).jpg"/>
          <p:cNvPicPr>
            <a:picLocks noChangeAspect="1"/>
          </p:cNvPicPr>
          <p:nvPr/>
        </p:nvPicPr>
        <p:blipFill>
          <a:blip r:embed="rId2" cstate="print"/>
          <a:srcRect l="22833" r="42333"/>
          <a:stretch>
            <a:fillRect/>
          </a:stretch>
        </p:blipFill>
        <p:spPr>
          <a:xfrm>
            <a:off x="7086600" y="1111250"/>
            <a:ext cx="3981450" cy="4826000"/>
          </a:xfrm>
          <a:prstGeom prst="rect">
            <a:avLst/>
          </a:prstGeom>
        </p:spPr>
      </p:pic>
    </p:spTree>
  </p:cSld>
  <p:clrMapOvr>
    <a:masterClrMapping/>
  </p:clrMapOvr>
  <p:transition>
    <p:wheel spokes="3"/>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a:solidFill>
                  <a:srgbClr val="FF0000"/>
                </a:solidFill>
              </a:rPr>
              <a:t>9.2  </a:t>
            </a:r>
            <a:r>
              <a:rPr lang="zh-CN" dirty="0">
                <a:solidFill>
                  <a:srgbClr val="FF0000"/>
                </a:solidFill>
                <a:sym typeface="+mn-ea"/>
              </a:rPr>
              <a:t>移动互联网应用技术</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9.2.4  移动应用服务技术</a:t>
            </a:r>
          </a:p>
        </p:txBody>
      </p:sp>
      <p:grpSp>
        <p:nvGrpSpPr>
          <p:cNvPr id="6" name="组合 5"/>
          <p:cNvGrpSpPr/>
          <p:nvPr/>
        </p:nvGrpSpPr>
        <p:grpSpPr>
          <a:xfrm>
            <a:off x="0" y="2029460"/>
            <a:ext cx="11368405" cy="4207510"/>
            <a:chOff x="0" y="3196"/>
            <a:chExt cx="17903" cy="6626"/>
          </a:xfrm>
        </p:grpSpPr>
        <p:grpSp>
          <p:nvGrpSpPr>
            <p:cNvPr id="7" name="组合 6"/>
            <p:cNvGrpSpPr/>
            <p:nvPr/>
          </p:nvGrpSpPr>
          <p:grpSpPr>
            <a:xfrm>
              <a:off x="0" y="3196"/>
              <a:ext cx="8467" cy="1530"/>
              <a:chOff x="1" y="2565401"/>
              <a:chExt cx="5376660" cy="971723"/>
            </a:xfrm>
          </p:grpSpPr>
          <p:sp>
            <p:nvSpPr>
              <p:cNvPr id="8" name="MH_SubTitle_1"/>
              <p:cNvSpPr/>
              <p:nvPr>
                <p:custDataLst>
                  <p:tags r:id="rId2"/>
                </p:custDataLst>
              </p:nvPr>
            </p:nvSpPr>
            <p:spPr>
              <a:xfrm>
                <a:off x="1501808" y="2688613"/>
                <a:ext cx="3874853" cy="73165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企业移动设备管理</a:t>
                </a:r>
              </a:p>
            </p:txBody>
          </p:sp>
          <p:sp>
            <p:nvSpPr>
              <p:cNvPr id="9" name="MH_Other_1"/>
              <p:cNvSpPr/>
              <p:nvPr>
                <p:custDataLst>
                  <p:tags r:id="rId3"/>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a:solidFill>
                      <a:srgbClr val="FFFFFF"/>
                    </a:solidFill>
                    <a:latin typeface="Impact" panose="020B0806030902050204" pitchFamily="34" charset="0"/>
                    <a:ea typeface="微软雅黑" panose="020B0503020204020204" charset="-122"/>
                  </a:rPr>
                  <a:t>0</a:t>
                </a:r>
                <a:r>
                  <a:rPr lang="en-US" sz="3200">
                    <a:solidFill>
                      <a:srgbClr val="FFFFFF"/>
                    </a:solidFill>
                    <a:latin typeface="Impact" panose="020B0806030902050204" pitchFamily="34" charset="0"/>
                    <a:ea typeface="微软雅黑" panose="020B0503020204020204" charset="-122"/>
                  </a:rPr>
                  <a:t>5</a:t>
                </a:r>
              </a:p>
            </p:txBody>
          </p:sp>
          <p:sp>
            <p:nvSpPr>
              <p:cNvPr id="11" name="MH_Other_2"/>
              <p:cNvSpPr/>
              <p:nvPr>
                <p:custDataLst>
                  <p:tags r:id="rId4"/>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1"/>
              </p:custDataLst>
            </p:nvPr>
          </p:nvSpPr>
          <p:spPr>
            <a:xfrm>
              <a:off x="8919" y="3647"/>
              <a:ext cx="8984" cy="617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smtClean="0">
                  <a:solidFill>
                    <a:schemeClr val="tx1"/>
                  </a:solidFill>
                  <a:latin typeface="微软雅黑" panose="020B0503020204020204" charset="-122"/>
                  <a:ea typeface="微软雅黑" panose="020B0503020204020204" charset="-122"/>
                </a:rPr>
                <a:t>智能手机已经广泛地应用到我们日常的工作和生活中，自带设备办公（Bring Your Own Device，BYOD）让原本为个人消费者设计的智能手机和平板电脑，不断被企业用于承载关键业务及核心应用。同时，BYOD的策略也被大量引入企业，传统的IT管理在针对不断涌现的BYOD管理方面受到巨大的挑战。BYOD存在大量与安全相关的问题，如恶意软件和窃听（使用公共WI-FI的情况下）是两个可能存在的风险。在采用移动BYOD时，要注意数据安全、策略管理、环境感知、应用隔离、用户与设备认证、移动桌面共享等问题。</a:t>
              </a:r>
            </a:p>
          </p:txBody>
        </p:sp>
      </p:grpSp>
      <p:pic>
        <p:nvPicPr>
          <p:cNvPr id="2" name="图片 1" descr="u=4266521547,562356392&amp;fm=11&amp;gp=0"/>
          <p:cNvPicPr>
            <a:picLocks noChangeAspect="1"/>
          </p:cNvPicPr>
          <p:nvPr/>
        </p:nvPicPr>
        <p:blipFill>
          <a:blip r:embed="rId6" cstate="print"/>
          <a:stretch>
            <a:fillRect/>
          </a:stretch>
        </p:blipFill>
        <p:spPr>
          <a:xfrm>
            <a:off x="802640" y="3118485"/>
            <a:ext cx="4265295" cy="3090545"/>
          </a:xfrm>
          <a:prstGeom prst="rect">
            <a:avLst/>
          </a:prstGeom>
        </p:spPr>
      </p:pic>
    </p:spTree>
  </p:cSld>
  <p:clrMapOvr>
    <a:masterClrMapping/>
  </p:clrMapOvr>
  <p:transition>
    <p:wheel spokes="3"/>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a:solidFill>
                  <a:srgbClr val="FF0000"/>
                </a:solidFill>
              </a:rPr>
              <a:t>9.2  </a:t>
            </a:r>
            <a:r>
              <a:rPr lang="zh-CN" dirty="0">
                <a:solidFill>
                  <a:srgbClr val="FF0000"/>
                </a:solidFill>
                <a:sym typeface="+mn-ea"/>
              </a:rPr>
              <a:t>移动互联网应用技术</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9.2.4  移动应用服务技术</a:t>
            </a:r>
          </a:p>
        </p:txBody>
      </p:sp>
      <p:grpSp>
        <p:nvGrpSpPr>
          <p:cNvPr id="6" name="组合 5"/>
          <p:cNvGrpSpPr/>
          <p:nvPr/>
        </p:nvGrpSpPr>
        <p:grpSpPr>
          <a:xfrm>
            <a:off x="0" y="2029460"/>
            <a:ext cx="11609705" cy="4343400"/>
            <a:chOff x="0" y="3196"/>
            <a:chExt cx="18283" cy="6840"/>
          </a:xfrm>
        </p:grpSpPr>
        <p:grpSp>
          <p:nvGrpSpPr>
            <p:cNvPr id="7" name="组合 6"/>
            <p:cNvGrpSpPr/>
            <p:nvPr/>
          </p:nvGrpSpPr>
          <p:grpSpPr>
            <a:xfrm>
              <a:off x="0" y="3196"/>
              <a:ext cx="8467" cy="1530"/>
              <a:chOff x="1" y="2565401"/>
              <a:chExt cx="5376660" cy="971723"/>
            </a:xfrm>
          </p:grpSpPr>
          <p:sp>
            <p:nvSpPr>
              <p:cNvPr id="8" name="MH_SubTitle_1"/>
              <p:cNvSpPr/>
              <p:nvPr>
                <p:custDataLst>
                  <p:tags r:id="rId2"/>
                </p:custDataLst>
              </p:nvPr>
            </p:nvSpPr>
            <p:spPr>
              <a:xfrm>
                <a:off x="1501808" y="2688613"/>
                <a:ext cx="3874853" cy="73165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物联网技术</a:t>
                </a:r>
              </a:p>
            </p:txBody>
          </p:sp>
          <p:sp>
            <p:nvSpPr>
              <p:cNvPr id="9" name="MH_Other_1"/>
              <p:cNvSpPr/>
              <p:nvPr>
                <p:custDataLst>
                  <p:tags r:id="rId3"/>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a:solidFill>
                      <a:srgbClr val="FFFFFF"/>
                    </a:solidFill>
                    <a:latin typeface="Impact" panose="020B0806030902050204" pitchFamily="34" charset="0"/>
                    <a:ea typeface="微软雅黑" panose="020B0503020204020204" charset="-122"/>
                  </a:rPr>
                  <a:t>0</a:t>
                </a:r>
                <a:r>
                  <a:rPr lang="en-US" sz="3200">
                    <a:solidFill>
                      <a:srgbClr val="FFFFFF"/>
                    </a:solidFill>
                    <a:latin typeface="Impact" panose="020B0806030902050204" pitchFamily="34" charset="0"/>
                    <a:ea typeface="微软雅黑" panose="020B0503020204020204" charset="-122"/>
                  </a:rPr>
                  <a:t>6</a:t>
                </a:r>
              </a:p>
            </p:txBody>
          </p:sp>
          <p:sp>
            <p:nvSpPr>
              <p:cNvPr id="11" name="MH_Other_2"/>
              <p:cNvSpPr/>
              <p:nvPr>
                <p:custDataLst>
                  <p:tags r:id="rId4"/>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1"/>
              </p:custDataLst>
            </p:nvPr>
          </p:nvSpPr>
          <p:spPr>
            <a:xfrm>
              <a:off x="9048" y="3647"/>
              <a:ext cx="9235" cy="6389"/>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smtClean="0">
                  <a:solidFill>
                    <a:schemeClr val="tx1"/>
                  </a:solidFill>
                  <a:latin typeface="微软雅黑" panose="020B0503020204020204" charset="-122"/>
                  <a:ea typeface="微软雅黑" panose="020B0503020204020204" charset="-122"/>
                </a:rPr>
                <a:t>物联网的概念是在1999年提出的，它的定义很简单：把所有物品通过射频识别等信息传感设备与互联网连接起来，实现智能化识别和管理。具体地说，就是把感应器嵌入和装备到各种物体中，然后将“物联网”与现有的互联网整合起来，实现人类社会与物理系统的整合。在这个整合的网络当中，存在能力超级强大的中心计算机群，对网络内的人员、设备和设施进行实时的管理和控制。在此基础上，人类可用更加精细和动态的方式管理生产和生活，达到“智慧”状态，提高资源利用率和生产力水平。</a:t>
              </a:r>
            </a:p>
          </p:txBody>
        </p:sp>
      </p:grpSp>
      <p:pic>
        <p:nvPicPr>
          <p:cNvPr id="2" name="图片 1" descr="timg (1)"/>
          <p:cNvPicPr>
            <a:picLocks noChangeAspect="1"/>
          </p:cNvPicPr>
          <p:nvPr/>
        </p:nvPicPr>
        <p:blipFill>
          <a:blip r:embed="rId6" cstate="print"/>
          <a:stretch>
            <a:fillRect/>
          </a:stretch>
        </p:blipFill>
        <p:spPr>
          <a:xfrm>
            <a:off x="843280" y="3121025"/>
            <a:ext cx="4335145" cy="3251835"/>
          </a:xfrm>
          <a:prstGeom prst="rect">
            <a:avLst/>
          </a:prstGeom>
        </p:spPr>
      </p:pic>
    </p:spTree>
  </p:cSld>
  <p:clrMapOvr>
    <a:masterClrMapping/>
  </p:clrMapOvr>
  <p:transition>
    <p:wheel spokes="3"/>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smtClean="0">
                <a:solidFill>
                  <a:srgbClr val="FF0000"/>
                </a:solidFill>
              </a:rPr>
              <a:t>9.2  </a:t>
            </a:r>
            <a:r>
              <a:rPr lang="zh-CN" altLang="en-US" dirty="0" smtClean="0">
                <a:solidFill>
                  <a:srgbClr val="FF0000"/>
                </a:solidFill>
                <a:sym typeface="+mn-ea"/>
              </a:rPr>
              <a:t>移动互联网应用技术</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9.2.4  </a:t>
            </a:r>
            <a:r>
              <a:rPr lang="zh-CN" altLang="en-US" sz="2400" dirty="0" smtClean="0">
                <a:solidFill>
                  <a:schemeClr val="tx1"/>
                </a:solidFill>
              </a:rPr>
              <a:t>移动应用服务技术</a:t>
            </a:r>
          </a:p>
        </p:txBody>
      </p:sp>
      <p:grpSp>
        <p:nvGrpSpPr>
          <p:cNvPr id="4" name="组合 3"/>
          <p:cNvGrpSpPr/>
          <p:nvPr/>
        </p:nvGrpSpPr>
        <p:grpSpPr>
          <a:xfrm>
            <a:off x="754249" y="2626841"/>
            <a:ext cx="5174615" cy="1736090"/>
            <a:chOff x="1630" y="5726"/>
            <a:chExt cx="8149" cy="2734"/>
          </a:xfrm>
        </p:grpSpPr>
        <p:cxnSp>
          <p:nvCxnSpPr>
            <p:cNvPr id="5" name="MH_Other_1"/>
            <p:cNvCxnSpPr/>
            <p:nvPr/>
          </p:nvCxnSpPr>
          <p:spPr>
            <a:xfrm flipH="1">
              <a:off x="2470" y="6041"/>
              <a:ext cx="1545" cy="145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8" name="MH_SubTitle_1"/>
            <p:cNvSpPr txBox="1">
              <a:spLocks noChangeArrowheads="1"/>
            </p:cNvSpPr>
            <p:nvPr/>
          </p:nvSpPr>
          <p:spPr bwMode="auto">
            <a:xfrm>
              <a:off x="3246" y="5827"/>
              <a:ext cx="6533" cy="2633"/>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2060"/>
                  </a:solidFill>
                </a:rPr>
                <a:t>传感器技术</a:t>
              </a:r>
            </a:p>
            <a:p>
              <a:pPr indent="457200" fontAlgn="auto">
                <a:lnSpc>
                  <a:spcPct val="120000"/>
                </a:lnSpc>
              </a:pPr>
              <a:r>
                <a:rPr lang="zh-CN" altLang="en-US" dirty="0">
                  <a:ea typeface="微软雅黑" panose="020B0503020204020204" charset="-122"/>
                </a:rPr>
                <a:t>这是计算机应用中的关键技术，需要传感器把模拟信号转换成数字信号，计算机才能处理。</a:t>
              </a:r>
            </a:p>
          </p:txBody>
        </p:sp>
        <p:sp>
          <p:nvSpPr>
            <p:cNvPr id="9"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2060"/>
                  </a:solidFill>
                  <a:latin typeface="Agency FB" panose="020B0503020202020204" pitchFamily="34" charset="0"/>
                  <a:ea typeface="微软雅黑" panose="020B0503020204020204" charset="-122"/>
                </a:rPr>
                <a:t>1</a:t>
              </a:r>
            </a:p>
          </p:txBody>
        </p:sp>
      </p:grpSp>
      <p:grpSp>
        <p:nvGrpSpPr>
          <p:cNvPr id="10" name="组合 9"/>
          <p:cNvGrpSpPr/>
          <p:nvPr/>
        </p:nvGrpSpPr>
        <p:grpSpPr>
          <a:xfrm>
            <a:off x="6193024" y="2626841"/>
            <a:ext cx="5662295" cy="1720215"/>
            <a:chOff x="1630" y="5726"/>
            <a:chExt cx="8917" cy="2709"/>
          </a:xfrm>
        </p:grpSpPr>
        <p:cxnSp>
          <p:nvCxnSpPr>
            <p:cNvPr id="11"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12"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3" name="MH_SubTitle_1"/>
            <p:cNvSpPr txBox="1">
              <a:spLocks noChangeArrowheads="1"/>
            </p:cNvSpPr>
            <p:nvPr/>
          </p:nvSpPr>
          <p:spPr bwMode="auto">
            <a:xfrm>
              <a:off x="3424" y="5852"/>
              <a:ext cx="7123" cy="2583"/>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B0F0"/>
                  </a:solidFill>
                </a:rPr>
                <a:t>无线射频识别标签（</a:t>
              </a:r>
              <a:r>
                <a:rPr lang="en-US" altLang="zh-CN" sz="2000" b="1" dirty="0">
                  <a:solidFill>
                    <a:srgbClr val="00B0F0"/>
                  </a:solidFill>
                </a:rPr>
                <a:t>RFID</a:t>
              </a:r>
              <a:r>
                <a:rPr lang="zh-CN" altLang="en-US" sz="2000" b="1" dirty="0">
                  <a:solidFill>
                    <a:srgbClr val="00B0F0"/>
                  </a:solidFill>
                </a:rPr>
                <a:t>）</a:t>
              </a:r>
            </a:p>
            <a:p>
              <a:pPr indent="457200" fontAlgn="auto">
                <a:lnSpc>
                  <a:spcPct val="120000"/>
                </a:lnSpc>
              </a:pPr>
              <a:r>
                <a:rPr lang="zh-CN" altLang="en-US" dirty="0">
                  <a:ea typeface="微软雅黑" panose="020B0503020204020204" charset="-122"/>
                </a:rPr>
                <a:t>一种传感器技术，它是将无线射频技术和嵌入式技术融合为一体的综合技术。RFID在自动识别、物品物流管理方面有着广阔的应用前景。</a:t>
              </a:r>
            </a:p>
          </p:txBody>
        </p:sp>
        <p:sp>
          <p:nvSpPr>
            <p:cNvPr id="14"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A8E7"/>
                  </a:solidFill>
                  <a:latin typeface="Agency FB" panose="020B0503020202020204" pitchFamily="34" charset="0"/>
                  <a:ea typeface="微软雅黑" panose="020B0503020204020204" charset="-122"/>
                </a:rPr>
                <a:t>2</a:t>
              </a:r>
            </a:p>
          </p:txBody>
        </p:sp>
      </p:grpSp>
      <p:grpSp>
        <p:nvGrpSpPr>
          <p:cNvPr id="15" name="组合 14"/>
          <p:cNvGrpSpPr/>
          <p:nvPr/>
        </p:nvGrpSpPr>
        <p:grpSpPr>
          <a:xfrm>
            <a:off x="778379" y="4182438"/>
            <a:ext cx="11199495" cy="1826895"/>
            <a:chOff x="1840" y="2871"/>
            <a:chExt cx="17637" cy="2877"/>
          </a:xfrm>
        </p:grpSpPr>
        <p:cxnSp>
          <p:nvCxnSpPr>
            <p:cNvPr id="16" name="MH_Other_4"/>
            <p:cNvCxnSpPr/>
            <p:nvPr/>
          </p:nvCxnSpPr>
          <p:spPr>
            <a:xfrm flipH="1">
              <a:off x="2680" y="3183"/>
              <a:ext cx="1545" cy="1450"/>
            </a:xfrm>
            <a:prstGeom prst="line">
              <a:avLst/>
            </a:prstGeom>
            <a:ln w="381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7"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20" name="MH_SubTitle_2"/>
            <p:cNvSpPr txBox="1">
              <a:spLocks noChangeArrowheads="1"/>
            </p:cNvSpPr>
            <p:nvPr/>
          </p:nvSpPr>
          <p:spPr bwMode="auto">
            <a:xfrm>
              <a:off x="3418" y="3183"/>
              <a:ext cx="16059" cy="2565"/>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6">
                      <a:lumMod val="60000"/>
                      <a:lumOff val="40000"/>
                    </a:schemeClr>
                  </a:solidFill>
                  <a:ea typeface="微软雅黑" panose="020B0503020204020204" charset="-122"/>
                </a:rPr>
                <a:t>嵌入式系统（Embedded System）技术</a:t>
              </a:r>
            </a:p>
            <a:p>
              <a:pPr indent="457200" fontAlgn="auto">
                <a:lnSpc>
                  <a:spcPct val="120000"/>
                </a:lnSpc>
              </a:pPr>
              <a:r>
                <a:rPr lang="zh-CN" altLang="en-US" dirty="0">
                  <a:solidFill>
                    <a:schemeClr val="tx1"/>
                  </a:solidFill>
                  <a:ea typeface="微软雅黑" panose="020B0503020204020204" charset="-122"/>
                </a:rPr>
                <a:t>它是综合了计算机软硬件、传感器技术、集成电路技术和电子应用技术的一种复杂技术。经过几十年的演变，以嵌入式系统为特征的智能终端产品随处可见，小到人们身边的手机，大到航空航天的卫星系统。嵌入式系统正在改变着人们的生活，推动着工业生产以及国防工业的发展。</a:t>
              </a:r>
            </a:p>
          </p:txBody>
        </p:sp>
        <p:sp>
          <p:nvSpPr>
            <p:cNvPr id="21"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3600" b="1">
                  <a:solidFill>
                    <a:schemeClr val="accent6">
                      <a:lumMod val="60000"/>
                      <a:lumOff val="40000"/>
                    </a:schemeClr>
                  </a:solidFill>
                  <a:latin typeface="Agency FB" panose="020B0503020202020204" pitchFamily="34" charset="0"/>
                  <a:ea typeface="微软雅黑" panose="020B0503020204020204" charset="-122"/>
                </a:rPr>
                <a:t>3</a:t>
              </a:r>
            </a:p>
          </p:txBody>
        </p:sp>
      </p:grpSp>
      <p:sp>
        <p:nvSpPr>
          <p:cNvPr id="19" name="MH_SubTitle_1"/>
          <p:cNvSpPr txBox="1">
            <a:spLocks noChangeArrowheads="1"/>
          </p:cNvSpPr>
          <p:nvPr/>
        </p:nvSpPr>
        <p:spPr bwMode="auto">
          <a:xfrm>
            <a:off x="827909" y="1800225"/>
            <a:ext cx="4148455" cy="1048231"/>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zh-CN" sz="2000" dirty="0" smtClean="0"/>
              <a:t>在物联网应用中有如下</a:t>
            </a:r>
            <a:r>
              <a:rPr lang="en-US" altLang="zh-CN" sz="2000" dirty="0" smtClean="0"/>
              <a:t>3</a:t>
            </a:r>
            <a:r>
              <a:rPr lang="zh-CN" altLang="zh-CN" sz="2000" dirty="0" smtClean="0"/>
              <a:t>项关键技术</a:t>
            </a:r>
            <a:r>
              <a:rPr lang="zh-CN" altLang="en-US" sz="2000" dirty="0" smtClean="0"/>
              <a:t>：</a:t>
            </a:r>
            <a:endParaRPr lang="zh-CN" altLang="zh-CN" sz="2000" dirty="0"/>
          </a:p>
        </p:txBody>
      </p:sp>
    </p:spTree>
  </p:cSld>
  <p:clrMapOvr>
    <a:masterClrMapping/>
  </p:clrMapOvr>
  <p:transition>
    <p:wheel spokes="3"/>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dirty="0">
                <a:solidFill>
                  <a:srgbClr val="FF0000"/>
                </a:solidFill>
              </a:rPr>
              <a:t>9.2  </a:t>
            </a:r>
            <a:r>
              <a:rPr lang="zh-CN" dirty="0">
                <a:solidFill>
                  <a:srgbClr val="FF0000"/>
                </a:solidFill>
                <a:sym typeface="+mn-ea"/>
              </a:rPr>
              <a:t>移动互联网应用技术</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9.2.5  移动互联网的三要素</a:t>
            </a:r>
          </a:p>
        </p:txBody>
      </p:sp>
      <p:grpSp>
        <p:nvGrpSpPr>
          <p:cNvPr id="7" name="组合 6"/>
          <p:cNvGrpSpPr/>
          <p:nvPr/>
        </p:nvGrpSpPr>
        <p:grpSpPr>
          <a:xfrm>
            <a:off x="0" y="2412365"/>
            <a:ext cx="12192000" cy="3074035"/>
            <a:chOff x="0" y="3848"/>
            <a:chExt cx="19200" cy="4841"/>
          </a:xfrm>
        </p:grpSpPr>
        <p:sp>
          <p:nvSpPr>
            <p:cNvPr id="4" name="矩形 3"/>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188" y="4252"/>
              <a:ext cx="10118" cy="4032"/>
            </a:xfrm>
            <a:prstGeom prst="rect">
              <a:avLst/>
            </a:prstGeom>
          </p:spPr>
          <p:txBody>
            <a:bodyPr wrap="square">
              <a:spAutoFit/>
            </a:bodyPr>
            <a:lstStyle/>
            <a:p>
              <a:pPr indent="457200">
                <a:lnSpc>
                  <a:spcPct val="150000"/>
                </a:lnSpc>
                <a:defRPr/>
              </a:pPr>
              <a:r>
                <a:rPr lang="en-US" altLang="zh-CN" kern="0" smtClean="0">
                  <a:solidFill>
                    <a:schemeClr val="bg1"/>
                  </a:solidFill>
                  <a:latin typeface="微软雅黑" panose="020B0503020204020204" charset="-122"/>
                  <a:ea typeface="微软雅黑" panose="020B0503020204020204" charset="-122"/>
                  <a:cs typeface="宋体" panose="02010600030101010101" pitchFamily="2" charset="-122"/>
                </a:rPr>
                <a:t>移动互联网融合了电子信息的多个领域，它有三大要素，即移动互联终端、移动互联网络、由移动互联终端和移动互联网络的特性所带来的独特的移动互联应用。移动互联终端和移动互联网络是移动互联应用的基础，并为移动互联应用提供服务，而移动互联应用直接服务于用户，新应用的不断推出带来用户对终端和网络不断升级的需求。</a:t>
              </a:r>
            </a:p>
          </p:txBody>
        </p:sp>
      </p:grpSp>
      <p:pic>
        <p:nvPicPr>
          <p:cNvPr id="2" name="图片 1" descr="A000220150320J57PPIC"/>
          <p:cNvPicPr>
            <a:picLocks noChangeAspect="1"/>
          </p:cNvPicPr>
          <p:nvPr/>
        </p:nvPicPr>
        <p:blipFill>
          <a:blip r:embed="rId2" cstate="print"/>
          <a:stretch>
            <a:fillRect/>
          </a:stretch>
        </p:blipFill>
        <p:spPr>
          <a:xfrm>
            <a:off x="7179310" y="965835"/>
            <a:ext cx="4863465" cy="4370705"/>
          </a:xfrm>
          <a:prstGeom prst="rect">
            <a:avLst/>
          </a:prstGeom>
        </p:spPr>
      </p:pic>
    </p:spTree>
  </p:cSld>
  <p:clrMapOvr>
    <a:masterClrMapping/>
  </p:clrMapOvr>
  <p:transition>
    <p:wheel spokes="3"/>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54063" y="261258"/>
            <a:ext cx="8415337" cy="1021632"/>
          </a:xfrm>
        </p:spPr>
        <p:txBody>
          <a:bodyPr>
            <a:normAutofit fontScale="90000"/>
          </a:bodyPr>
          <a:lstStyle/>
          <a:p>
            <a:r>
              <a:rPr lang="en-US" sz="4000" dirty="0" smtClean="0">
                <a:solidFill>
                  <a:srgbClr val="FF0000"/>
                </a:solidFill>
              </a:rPr>
              <a:t>9.2  </a:t>
            </a:r>
            <a:r>
              <a:rPr lang="zh-CN" altLang="en-US" sz="4000" dirty="0" smtClean="0">
                <a:solidFill>
                  <a:srgbClr val="FF0000"/>
                </a:solidFill>
                <a:sym typeface="+mn-ea"/>
              </a:rPr>
              <a:t>移动互联网应用技术</a:t>
            </a:r>
            <a:r>
              <a:rPr lang="zh-CN" dirty="0">
                <a:solidFill>
                  <a:srgbClr val="FF0000"/>
                </a:solidFill>
              </a:rPr>
              <a:t/>
            </a:r>
            <a:br>
              <a:rPr lang="zh-CN" dirty="0">
                <a:solidFill>
                  <a:srgbClr val="FF0000"/>
                </a:solidFill>
              </a:rPr>
            </a:br>
            <a:endParaRPr lang="zh-CN" dirty="0">
              <a:solidFill>
                <a:srgbClr val="FF0000"/>
              </a:solidFill>
            </a:endParaRPr>
          </a:p>
        </p:txBody>
      </p:sp>
      <p:sp>
        <p:nvSpPr>
          <p:cNvPr id="29" name="TextBox 6"/>
          <p:cNvSpPr txBox="1"/>
          <p:nvPr/>
        </p:nvSpPr>
        <p:spPr>
          <a:xfrm>
            <a:off x="802640"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sz="2400" dirty="0" smtClean="0">
                <a:solidFill>
                  <a:schemeClr val="tx1"/>
                </a:solidFill>
              </a:rPr>
              <a:t>9.2.5  移动互联网的三要素</a:t>
            </a:r>
          </a:p>
        </p:txBody>
      </p:sp>
      <p:grpSp>
        <p:nvGrpSpPr>
          <p:cNvPr id="8" name="组合 7"/>
          <p:cNvGrpSpPr/>
          <p:nvPr/>
        </p:nvGrpSpPr>
        <p:grpSpPr>
          <a:xfrm>
            <a:off x="632943" y="2234849"/>
            <a:ext cx="5203825" cy="3947795"/>
            <a:chOff x="9359" y="3147"/>
            <a:chExt cx="8195" cy="6217"/>
          </a:xfrm>
        </p:grpSpPr>
        <p:sp>
          <p:nvSpPr>
            <p:cNvPr id="9" name="矩形 8"/>
            <p:cNvSpPr/>
            <p:nvPr/>
          </p:nvSpPr>
          <p:spPr>
            <a:xfrm>
              <a:off x="9711" y="3377"/>
              <a:ext cx="7532" cy="5816"/>
            </a:xfrm>
            <a:prstGeom prst="rect">
              <a:avLst/>
            </a:prstGeom>
          </p:spPr>
          <p:txBody>
            <a:bodyPr wrap="square">
              <a:spAutoFit/>
            </a:bodyPr>
            <a:lstStyle/>
            <a:p>
              <a:pPr>
                <a:lnSpc>
                  <a:spcPct val="130000"/>
                </a:lnSpc>
              </a:pPr>
              <a:r>
                <a:rPr lang="zh-CN" altLang="en-US" dirty="0" smtClean="0"/>
                <a:t>        </a:t>
              </a:r>
              <a:r>
                <a:rPr lang="zh-CN" altLang="en-US" dirty="0" smtClean="0">
                  <a:latin typeface="微软雅黑" pitchFamily="34" charset="-122"/>
                  <a:ea typeface="微软雅黑" pitchFamily="34" charset="-122"/>
                </a:rPr>
                <a:t>移动互联网的三要素组成了一个庞大的技术支撑体系，其关键技术涵盖了信息技术的方方面面，如右图所示。移动智能终端技术主要包括处理器芯片技术、人机交互技术、移动终端节能技术、移动定位技术等；移动互联系统的网络接入技术主要包括移动通信网络、无线局域网技术、无线</a:t>
              </a:r>
              <a:r>
                <a:rPr lang="en-US" dirty="0" smtClean="0">
                  <a:latin typeface="微软雅黑" pitchFamily="34" charset="-122"/>
                  <a:ea typeface="微软雅黑" pitchFamily="34" charset="-122"/>
                </a:rPr>
                <a:t>Mesh</a:t>
              </a:r>
              <a:r>
                <a:rPr lang="zh-CN" altLang="en-US" dirty="0" smtClean="0">
                  <a:latin typeface="微软雅黑" pitchFamily="34" charset="-122"/>
                  <a:ea typeface="微软雅黑" pitchFamily="34" charset="-122"/>
                </a:rPr>
                <a:t>网络技术、异构无线网络技术等；移动互联应用服务关键技术主要包括</a:t>
              </a:r>
              <a:r>
                <a:rPr lang="en-US" dirty="0" smtClean="0">
                  <a:latin typeface="微软雅黑" pitchFamily="34" charset="-122"/>
                  <a:ea typeface="微软雅黑" pitchFamily="34" charset="-122"/>
                </a:rPr>
                <a:t>HTML5</a:t>
              </a:r>
              <a:r>
                <a:rPr lang="zh-CN" altLang="en-US" dirty="0" smtClean="0">
                  <a:latin typeface="微软雅黑" pitchFamily="34" charset="-122"/>
                  <a:ea typeface="微软雅黑" pitchFamily="34" charset="-122"/>
                </a:rPr>
                <a:t>、移动搜索、移动社交网络、二维码编码、企业移动设备管理技术等。</a:t>
              </a:r>
              <a:endParaRPr lang="zh-CN" altLang="en-US" dirty="0">
                <a:latin typeface="微软雅黑" pitchFamily="34" charset="-122"/>
                <a:ea typeface="微软雅黑" pitchFamily="34" charset="-122"/>
              </a:endParaRPr>
            </a:p>
          </p:txBody>
        </p:sp>
        <p:sp>
          <p:nvSpPr>
            <p:cNvPr id="10" name="圆角矩形 9"/>
            <p:cNvSpPr/>
            <p:nvPr/>
          </p:nvSpPr>
          <p:spPr>
            <a:xfrm>
              <a:off x="9359" y="3147"/>
              <a:ext cx="8195" cy="6217"/>
            </a:xfrm>
            <a:prstGeom prst="roundRect">
              <a:avLst/>
            </a:prstGeom>
            <a:noFill/>
            <a:ln w="28575">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01378" name="图片 244" descr="9-3"/>
          <p:cNvPicPr>
            <a:picLocks noChangeAspect="1" noChangeArrowheads="1"/>
          </p:cNvPicPr>
          <p:nvPr/>
        </p:nvPicPr>
        <p:blipFill>
          <a:blip r:embed="rId2" cstate="print"/>
          <a:srcRect/>
          <a:stretch>
            <a:fillRect/>
          </a:stretch>
        </p:blipFill>
        <p:spPr bwMode="auto">
          <a:xfrm>
            <a:off x="6171923" y="2429302"/>
            <a:ext cx="5525060" cy="3302758"/>
          </a:xfrm>
          <a:prstGeom prst="rect">
            <a:avLst/>
          </a:prstGeom>
          <a:noFill/>
          <a:ln w="9525">
            <a:noFill/>
            <a:miter lim="800000"/>
            <a:headEnd/>
            <a:tailEnd/>
          </a:ln>
        </p:spPr>
      </p:pic>
    </p:spTree>
  </p:cSld>
  <p:clrMapOvr>
    <a:masterClrMapping/>
  </p:clrMapOvr>
  <p:transition>
    <p:wheel spokes="3"/>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3</a:t>
              </a:r>
            </a:p>
          </p:txBody>
        </p:sp>
      </p:grpSp>
      <p:sp>
        <p:nvSpPr>
          <p:cNvPr id="40" name="文本框 39"/>
          <p:cNvSpPr txBox="1"/>
          <p:nvPr/>
        </p:nvSpPr>
        <p:spPr>
          <a:xfrm>
            <a:off x="6006465" y="2913380"/>
            <a:ext cx="4845050" cy="160591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移动互联网应用安全技术</a:t>
            </a:r>
          </a:p>
        </p:txBody>
      </p:sp>
      <p:grpSp>
        <p:nvGrpSpPr>
          <p:cNvPr id="11" name="组合 10"/>
          <p:cNvGrpSpPr/>
          <p:nvPr/>
        </p:nvGrpSpPr>
        <p:grpSpPr>
          <a:xfrm>
            <a:off x="5015865" y="4880610"/>
            <a:ext cx="3712845" cy="835660"/>
            <a:chOff x="9459" y="7259"/>
            <a:chExt cx="5847" cy="1316"/>
          </a:xfrm>
        </p:grpSpPr>
        <p:sp>
          <p:nvSpPr>
            <p:cNvPr id="48" name="文本框 47"/>
            <p:cNvSpPr txBox="1"/>
            <p:nvPr/>
          </p:nvSpPr>
          <p:spPr>
            <a:xfrm>
              <a:off x="9459" y="7259"/>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移动终端安全技术</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移动网络安全技术</a:t>
              </a:r>
            </a:p>
          </p:txBody>
        </p:sp>
      </p:grpSp>
      <p:grpSp>
        <p:nvGrpSpPr>
          <p:cNvPr id="3" name="组合 2"/>
          <p:cNvGrpSpPr/>
          <p:nvPr/>
        </p:nvGrpSpPr>
        <p:grpSpPr>
          <a:xfrm>
            <a:off x="7920990" y="4830445"/>
            <a:ext cx="3712845" cy="835660"/>
            <a:chOff x="9459" y="7259"/>
            <a:chExt cx="5847" cy="1316"/>
          </a:xfrm>
        </p:grpSpPr>
        <p:sp>
          <p:nvSpPr>
            <p:cNvPr id="5" name="文本框 4"/>
            <p:cNvSpPr txBox="1"/>
            <p:nvPr/>
          </p:nvSpPr>
          <p:spPr>
            <a:xfrm>
              <a:off x="9459" y="7259"/>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移动互联应用安全技术</a:t>
              </a:r>
            </a:p>
          </p:txBody>
        </p:sp>
        <p:sp>
          <p:nvSpPr>
            <p:cNvPr id="6" name="文本框 5"/>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位置隐私保护技术</a:t>
              </a:r>
            </a:p>
          </p:txBody>
        </p:sp>
      </p:grpSp>
      <p:sp>
        <p:nvSpPr>
          <p:cNvPr id="7" name="文本框 6"/>
          <p:cNvSpPr txBox="1"/>
          <p:nvPr/>
        </p:nvSpPr>
        <p:spPr>
          <a:xfrm>
            <a:off x="7920990" y="5666105"/>
            <a:ext cx="371284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痕迹信息保护技术</a:t>
            </a:r>
          </a:p>
        </p:txBody>
      </p:sp>
    </p:spTree>
  </p:cSld>
  <p:clrMapOvr>
    <a:masterClrMapping/>
  </p:clrMapOvr>
  <p:transition spd="slow">
    <p:wipe/>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9.3  </a:t>
            </a:r>
            <a:r>
              <a:rPr lang="zh-CN" altLang="en-US" dirty="0" smtClean="0">
                <a:solidFill>
                  <a:srgbClr val="FF0000"/>
                </a:solidFill>
                <a:sym typeface="+mn-ea"/>
              </a:rPr>
              <a:t>移动互联网应用安全技术</a:t>
            </a:r>
            <a:br>
              <a:rPr lang="zh-CN" altLang="en-US" dirty="0" smtClean="0">
                <a:solidFill>
                  <a:srgbClr val="FF0000"/>
                </a:solidFill>
                <a:sym typeface="+mn-ea"/>
              </a:rPr>
            </a:br>
            <a:endParaRPr lang="en-US" altLang="zh-CN" dirty="0">
              <a:solidFill>
                <a:srgbClr val="FF0000"/>
              </a:solidFill>
              <a:sym typeface="+mn-ea"/>
            </a:endParaRPr>
          </a:p>
        </p:txBody>
      </p:sp>
      <p:grpSp>
        <p:nvGrpSpPr>
          <p:cNvPr id="7" name="组合 6"/>
          <p:cNvGrpSpPr/>
          <p:nvPr/>
        </p:nvGrpSpPr>
        <p:grpSpPr>
          <a:xfrm>
            <a:off x="0" y="2139410"/>
            <a:ext cx="12192000" cy="3074035"/>
            <a:chOff x="0" y="3848"/>
            <a:chExt cx="19200" cy="4841"/>
          </a:xfrm>
        </p:grpSpPr>
        <p:sp>
          <p:nvSpPr>
            <p:cNvPr id="4" name="矩形 3"/>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188" y="3928"/>
              <a:ext cx="10118" cy="4680"/>
            </a:xfrm>
            <a:prstGeom prst="rect">
              <a:avLst/>
            </a:prstGeom>
          </p:spPr>
          <p:txBody>
            <a:bodyPr wrap="square">
              <a:spAutoFit/>
            </a:bodyPr>
            <a:lstStyle/>
            <a:p>
              <a:pPr indent="457200">
                <a:lnSpc>
                  <a:spcPct val="150000"/>
                </a:lnSpc>
                <a:defRPr/>
              </a:pPr>
              <a:r>
                <a:rPr lang="en-US" altLang="zh-CN" kern="0" smtClean="0">
                  <a:solidFill>
                    <a:schemeClr val="bg1"/>
                  </a:solidFill>
                  <a:latin typeface="微软雅黑" panose="020B0503020204020204" charset="-122"/>
                  <a:ea typeface="微软雅黑" panose="020B0503020204020204" charset="-122"/>
                  <a:cs typeface="宋体" panose="02010600030101010101" pitchFamily="2" charset="-122"/>
                </a:rPr>
                <a:t>移动互联网运行在互联网（Internet）上，通常由一台或多台服务器、终端以及相关的网络设备、网络安全设备组成。移动互联网应用平台接入互联网，网络的安全性要求远远高于一般的PC机，网络的安全性是非常重要的。</a:t>
              </a:r>
            </a:p>
            <a:p>
              <a:pPr indent="457200">
                <a:lnSpc>
                  <a:spcPct val="150000"/>
                </a:lnSpc>
                <a:defRPr/>
              </a:pPr>
              <a:r>
                <a:rPr lang="en-US" altLang="zh-CN" kern="0" smtClean="0">
                  <a:solidFill>
                    <a:schemeClr val="bg1"/>
                  </a:solidFill>
                  <a:latin typeface="微软雅黑" panose="020B0503020204020204" charset="-122"/>
                  <a:ea typeface="微软雅黑" panose="020B0503020204020204" charset="-122"/>
                  <a:cs typeface="宋体" panose="02010600030101010101" pitchFamily="2" charset="-122"/>
                </a:rPr>
                <a:t>移动互联网应用安全技术主要分为移动终端安全技术、移动网络安全技术、移动互联应用安全技术、位置隐私保护技术、痕迹信息保护技术等。</a:t>
              </a:r>
            </a:p>
          </p:txBody>
        </p:sp>
      </p:grpSp>
      <p:pic>
        <p:nvPicPr>
          <p:cNvPr id="2" name="图片 1" descr="u=417264565,937095208&amp;fm=21&amp;gp=0"/>
          <p:cNvPicPr>
            <a:picLocks noChangeAspect="1"/>
          </p:cNvPicPr>
          <p:nvPr/>
        </p:nvPicPr>
        <p:blipFill>
          <a:blip r:embed="rId3" cstate="print"/>
          <a:stretch>
            <a:fillRect/>
          </a:stretch>
        </p:blipFill>
        <p:spPr>
          <a:xfrm>
            <a:off x="7378700" y="2481675"/>
            <a:ext cx="4427220" cy="2491740"/>
          </a:xfrm>
          <a:prstGeom prst="rect">
            <a:avLst/>
          </a:prstGeom>
        </p:spPr>
      </p:pic>
    </p:spTree>
  </p:cSld>
  <p:clrMapOvr>
    <a:masterClrMapping/>
  </p:clrMapOvr>
  <p:transition>
    <p:randomBar dir="vert"/>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9.3  </a:t>
            </a:r>
            <a:r>
              <a:rPr lang="zh-CN" altLang="en-US" dirty="0" smtClean="0">
                <a:solidFill>
                  <a:srgbClr val="FF0000"/>
                </a:solidFill>
                <a:sym typeface="+mn-ea"/>
              </a:rPr>
              <a:t>移动互联网应用安全技术</a:t>
            </a:r>
          </a:p>
        </p:txBody>
      </p:sp>
      <p:grpSp>
        <p:nvGrpSpPr>
          <p:cNvPr id="9" name="组合 8"/>
          <p:cNvGrpSpPr/>
          <p:nvPr/>
        </p:nvGrpSpPr>
        <p:grpSpPr>
          <a:xfrm>
            <a:off x="15240" y="1725930"/>
            <a:ext cx="12209780" cy="4016375"/>
            <a:chOff x="24" y="2718"/>
            <a:chExt cx="19228" cy="6325"/>
          </a:xfrm>
        </p:grpSpPr>
        <p:grpSp>
          <p:nvGrpSpPr>
            <p:cNvPr id="10" name="组合 9"/>
            <p:cNvGrpSpPr/>
            <p:nvPr/>
          </p:nvGrpSpPr>
          <p:grpSpPr>
            <a:xfrm>
              <a:off x="24" y="4250"/>
              <a:ext cx="18939" cy="4793"/>
              <a:chOff x="0" y="2130426"/>
              <a:chExt cx="21645385" cy="3649762"/>
            </a:xfrm>
          </p:grpSpPr>
          <p:sp>
            <p:nvSpPr>
              <p:cNvPr id="11" name="MH_Other_1"/>
              <p:cNvSpPr/>
              <p:nvPr>
                <p:custDataLst>
                  <p:tags r:id="rId4"/>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2" name="MH_Other_2"/>
              <p:cNvSpPr/>
              <p:nvPr>
                <p:custDataLst>
                  <p:tags r:id="rId5"/>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3"/>
              <p:cNvSpPr/>
              <p:nvPr>
                <p:custDataLst>
                  <p:tags r:id="rId6"/>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4" name="MH_Other_4"/>
              <p:cNvSpPr>
                <a:spLocks noChangeArrowheads="1"/>
              </p:cNvSpPr>
              <p:nvPr>
                <p:custDataLst>
                  <p:tags r:id="rId7"/>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5" name="MH_Other_5"/>
              <p:cNvSpPr>
                <a:spLocks noChangeArrowheads="1"/>
              </p:cNvSpPr>
              <p:nvPr>
                <p:custDataLst>
                  <p:tags r:id="rId8"/>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6" name="MH_Other_6"/>
              <p:cNvSpPr>
                <a:spLocks noChangeArrowheads="1"/>
              </p:cNvSpPr>
              <p:nvPr>
                <p:custDataLst>
                  <p:tags r:id="rId9"/>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7" name="MH_Other_7"/>
              <p:cNvSpPr/>
              <p:nvPr>
                <p:custDataLst>
                  <p:tags r:id="rId10"/>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8" name="MH_Text_1"/>
              <p:cNvSpPr/>
              <p:nvPr>
                <p:custDataLst>
                  <p:tags r:id="rId11"/>
                </p:custDataLst>
              </p:nvPr>
            </p:nvSpPr>
            <p:spPr bwMode="auto">
              <a:xfrm>
                <a:off x="7345418" y="2567800"/>
                <a:ext cx="13383360" cy="138633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smtClean="0">
                    <a:solidFill>
                      <a:schemeClr val="tx1"/>
                    </a:solidFill>
                    <a:latin typeface="微软雅黑" panose="020B0503020204020204" charset="-122"/>
                    <a:ea typeface="微软雅黑" panose="020B0503020204020204" charset="-122"/>
                  </a:rPr>
                  <a:t>移动终端安全主要包括终端设备安全及其信息内容的安全，如信息内容被非法篡改和访问，或通过操作系统修改终端的有用信息，使用病毒或恶意代码对系统进行破坏，也可能越权访问各种互联网资源，泄露隐私信息等。移动终端安全技术主要包括用户信息的加密存储技术、软件签名技术、病毒（木马）防护技术、主机防火墙技术等。</a:t>
                </a:r>
              </a:p>
            </p:txBody>
          </p:sp>
        </p:grpSp>
        <p:grpSp>
          <p:nvGrpSpPr>
            <p:cNvPr id="34" name="组合 33"/>
            <p:cNvGrpSpPr/>
            <p:nvPr/>
          </p:nvGrpSpPr>
          <p:grpSpPr>
            <a:xfrm flipH="1">
              <a:off x="11357" y="2718"/>
              <a:ext cx="7895" cy="1533"/>
              <a:chOff x="1" y="3428100"/>
              <a:chExt cx="5013433" cy="973302"/>
            </a:xfrm>
          </p:grpSpPr>
          <p:sp>
            <p:nvSpPr>
              <p:cNvPr id="35" name="MH_SubTitle_2"/>
              <p:cNvSpPr/>
              <p:nvPr>
                <p:custDataLst>
                  <p:tags r:id="rId1"/>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移动终端安全技术</a:t>
                </a:r>
              </a:p>
            </p:txBody>
          </p:sp>
          <p:sp>
            <p:nvSpPr>
              <p:cNvPr id="36" name="MH_Other_5"/>
              <p:cNvSpPr/>
              <p:nvPr>
                <p:custDataLst>
                  <p:tags r:id="rId2"/>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1</a:t>
                </a:r>
              </a:p>
            </p:txBody>
          </p:sp>
          <p:sp>
            <p:nvSpPr>
              <p:cNvPr id="37" name="MH_Other_6"/>
              <p:cNvSpPr/>
              <p:nvPr>
                <p:custDataLst>
                  <p:tags r:id="rId3"/>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grpSp>
    </p:spTree>
  </p:cSld>
  <p:clrMapOvr>
    <a:masterClrMapping/>
  </p:clrMapOvr>
  <p:transition>
    <p:randomBar dir="vert"/>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9.3  </a:t>
            </a:r>
            <a:r>
              <a:rPr lang="zh-CN" altLang="en-US" dirty="0" smtClean="0">
                <a:solidFill>
                  <a:srgbClr val="FF0000"/>
                </a:solidFill>
                <a:sym typeface="+mn-ea"/>
              </a:rPr>
              <a:t>移动互联网应用安全技术</a:t>
            </a:r>
            <a:endParaRPr lang="en-US" altLang="zh-CN" dirty="0">
              <a:solidFill>
                <a:srgbClr val="FF0000"/>
              </a:solidFill>
            </a:endParaRPr>
          </a:p>
        </p:txBody>
      </p:sp>
      <p:sp>
        <p:nvSpPr>
          <p:cNvPr id="2" name="MH_Other_1"/>
          <p:cNvSpPr>
            <a:spLocks noChangeArrowheads="1"/>
          </p:cNvSpPr>
          <p:nvPr>
            <p:custDataLst>
              <p:tags r:id="rId1"/>
            </p:custDataLst>
          </p:nvPr>
        </p:nvSpPr>
        <p:spPr bwMode="auto">
          <a:xfrm>
            <a:off x="829228" y="2084092"/>
            <a:ext cx="673100" cy="504825"/>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4" name="MH_Other_2"/>
          <p:cNvSpPr>
            <a:spLocks noChangeArrowheads="1"/>
          </p:cNvSpPr>
          <p:nvPr>
            <p:custDataLst>
              <p:tags r:id="rId2"/>
            </p:custDataLst>
          </p:nvPr>
        </p:nvSpPr>
        <p:spPr bwMode="auto">
          <a:xfrm>
            <a:off x="1540427" y="2188866"/>
            <a:ext cx="533400" cy="400050"/>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6" name="MH_Other_3"/>
          <p:cNvSpPr>
            <a:spLocks noChangeArrowheads="1"/>
          </p:cNvSpPr>
          <p:nvPr>
            <p:custDataLst>
              <p:tags r:id="rId3"/>
            </p:custDataLst>
          </p:nvPr>
        </p:nvSpPr>
        <p:spPr bwMode="auto">
          <a:xfrm>
            <a:off x="981628" y="2617492"/>
            <a:ext cx="520700" cy="390525"/>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7" name="MH_Other_4"/>
          <p:cNvSpPr>
            <a:spLocks noChangeArrowheads="1"/>
          </p:cNvSpPr>
          <p:nvPr>
            <p:custDataLst>
              <p:tags r:id="rId4"/>
            </p:custDataLst>
          </p:nvPr>
        </p:nvSpPr>
        <p:spPr bwMode="auto">
          <a:xfrm>
            <a:off x="1540428" y="2617492"/>
            <a:ext cx="673100" cy="333375"/>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5" name="MH_SubTitle_1"/>
          <p:cNvSpPr/>
          <p:nvPr>
            <p:custDataLst>
              <p:tags r:id="rId5"/>
            </p:custDataLst>
          </p:nvPr>
        </p:nvSpPr>
        <p:spPr>
          <a:xfrm>
            <a:off x="2495190" y="2139466"/>
            <a:ext cx="9107805" cy="812800"/>
          </a:xfrm>
          <a:prstGeom prst="rect">
            <a:avLst/>
          </a:prstGeom>
        </p:spPr>
        <p:txBody>
          <a:bodyPr lIns="0" tIns="0" rIns="0" bIns="0" anchor="ctr">
            <a:noAutofit/>
          </a:bodyPr>
          <a:lstStyle/>
          <a:p>
            <a:pPr>
              <a:lnSpc>
                <a:spcPct val="140000"/>
              </a:lnSpc>
              <a:defRPr/>
            </a:pPr>
            <a:r>
              <a:rPr lang="zh-CN" altLang="en-US" sz="1600" dirty="0" smtClean="0">
                <a:solidFill>
                  <a:srgbClr val="000000"/>
                </a:solidFill>
                <a:latin typeface="微软雅黑" panose="020B0503020204020204" charset="-122"/>
                <a:ea typeface="微软雅黑" panose="020B0503020204020204" charset="-122"/>
                <a:sym typeface="+mn-ea"/>
              </a:rPr>
              <a:t>       （1）避免遭受DNS篡改攻击，用户应打开路由器设置页面，首先找到DNS设置选项，将其关闭或修改为正常值，其次还应修改设置页面的默认用户名及密码。</a:t>
            </a:r>
          </a:p>
        </p:txBody>
      </p:sp>
      <p:grpSp>
        <p:nvGrpSpPr>
          <p:cNvPr id="28" name="组合 27"/>
          <p:cNvGrpSpPr/>
          <p:nvPr/>
        </p:nvGrpSpPr>
        <p:grpSpPr>
          <a:xfrm>
            <a:off x="829016" y="4789913"/>
            <a:ext cx="10772709" cy="951273"/>
            <a:chOff x="7327" y="7570"/>
            <a:chExt cx="16965" cy="1498"/>
          </a:xfrm>
        </p:grpSpPr>
        <p:sp>
          <p:nvSpPr>
            <p:cNvPr id="8" name="MH_Other_5"/>
            <p:cNvSpPr>
              <a:spLocks noChangeArrowheads="1"/>
            </p:cNvSpPr>
            <p:nvPr>
              <p:custDataLst>
                <p:tags r:id="rId12"/>
              </p:custDataLst>
            </p:nvPr>
          </p:nvSpPr>
          <p:spPr bwMode="auto">
            <a:xfrm>
              <a:off x="7327" y="7570"/>
              <a:ext cx="1060" cy="795"/>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19" name="MH_Other_6"/>
            <p:cNvSpPr>
              <a:spLocks noChangeArrowheads="1"/>
            </p:cNvSpPr>
            <p:nvPr>
              <p:custDataLst>
                <p:tags r:id="rId13"/>
              </p:custDataLst>
            </p:nvPr>
          </p:nvSpPr>
          <p:spPr bwMode="auto">
            <a:xfrm>
              <a:off x="8447" y="7735"/>
              <a:ext cx="840" cy="630"/>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Other_7"/>
            <p:cNvSpPr>
              <a:spLocks noChangeArrowheads="1"/>
            </p:cNvSpPr>
            <p:nvPr>
              <p:custDataLst>
                <p:tags r:id="rId14"/>
              </p:custDataLst>
            </p:nvPr>
          </p:nvSpPr>
          <p:spPr bwMode="auto">
            <a:xfrm>
              <a:off x="7567" y="8410"/>
              <a:ext cx="820" cy="615"/>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1" name="MH_Other_8"/>
            <p:cNvSpPr>
              <a:spLocks noChangeArrowheads="1"/>
            </p:cNvSpPr>
            <p:nvPr>
              <p:custDataLst>
                <p:tags r:id="rId15"/>
              </p:custDataLst>
            </p:nvPr>
          </p:nvSpPr>
          <p:spPr bwMode="auto">
            <a:xfrm>
              <a:off x="8447" y="8410"/>
              <a:ext cx="1060" cy="525"/>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2" name="MH_SubTitle_3"/>
            <p:cNvSpPr/>
            <p:nvPr>
              <p:custDataLst>
                <p:tags r:id="rId16"/>
              </p:custDataLst>
            </p:nvPr>
          </p:nvSpPr>
          <p:spPr>
            <a:xfrm>
              <a:off x="9924" y="7570"/>
              <a:ext cx="14368" cy="1498"/>
            </a:xfrm>
            <a:prstGeom prst="rect">
              <a:avLst/>
            </a:prstGeom>
          </p:spPr>
          <p:txBody>
            <a:bodyPr lIns="0" tIns="0" rIns="0" bIns="0" anchor="ctr">
              <a:noAutofit/>
            </a:bodyPr>
            <a:lstStyle/>
            <a:p>
              <a:pPr>
                <a:lnSpc>
                  <a:spcPct val="130000"/>
                </a:lnSpc>
                <a:defRPr/>
              </a:pPr>
              <a:r>
                <a:rPr lang="zh-CN" altLang="en-US" sz="1600" dirty="0" smtClean="0">
                  <a:solidFill>
                    <a:srgbClr val="000000"/>
                  </a:solidFill>
                  <a:latin typeface="微软雅黑" panose="020B0503020204020204" charset="-122"/>
                  <a:ea typeface="微软雅黑" panose="020B0503020204020204" charset="-122"/>
                  <a:sym typeface="+mn-ea"/>
                </a:rPr>
                <a:t>       （3）对于Wi-Fi密码破解和共享攻击，互联网安全专家建议将Wi-Fi加密方式设置为WPA2，同时将密码设置为一组16位以上由数字、大小写字母混编的字符，以提高安全性。</a:t>
              </a:r>
            </a:p>
          </p:txBody>
        </p:sp>
      </p:grpSp>
      <p:grpSp>
        <p:nvGrpSpPr>
          <p:cNvPr id="30" name="组合 29"/>
          <p:cNvGrpSpPr/>
          <p:nvPr/>
        </p:nvGrpSpPr>
        <p:grpSpPr>
          <a:xfrm>
            <a:off x="828593" y="3378986"/>
            <a:ext cx="10773132" cy="1145540"/>
            <a:chOff x="4720" y="5568"/>
            <a:chExt cx="16966" cy="1804"/>
          </a:xfrm>
        </p:grpSpPr>
        <p:sp>
          <p:nvSpPr>
            <p:cNvPr id="23" name="MH_Other_9"/>
            <p:cNvSpPr>
              <a:spLocks noChangeArrowheads="1"/>
            </p:cNvSpPr>
            <p:nvPr>
              <p:custDataLst>
                <p:tags r:id="rId7"/>
              </p:custDataLst>
            </p:nvPr>
          </p:nvSpPr>
          <p:spPr bwMode="auto">
            <a:xfrm>
              <a:off x="4720" y="5568"/>
              <a:ext cx="1060" cy="795"/>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24" name="MH_Other_10"/>
            <p:cNvSpPr>
              <a:spLocks noChangeArrowheads="1"/>
            </p:cNvSpPr>
            <p:nvPr>
              <p:custDataLst>
                <p:tags r:id="rId8"/>
              </p:custDataLst>
            </p:nvPr>
          </p:nvSpPr>
          <p:spPr bwMode="auto">
            <a:xfrm>
              <a:off x="5840" y="5733"/>
              <a:ext cx="840" cy="630"/>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5" name="MH_Other_11"/>
            <p:cNvSpPr>
              <a:spLocks noChangeArrowheads="1"/>
            </p:cNvSpPr>
            <p:nvPr>
              <p:custDataLst>
                <p:tags r:id="rId9"/>
              </p:custDataLst>
            </p:nvPr>
          </p:nvSpPr>
          <p:spPr bwMode="auto">
            <a:xfrm>
              <a:off x="4960" y="6408"/>
              <a:ext cx="820" cy="61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6" name="MH_Other_12"/>
            <p:cNvSpPr>
              <a:spLocks noChangeArrowheads="1"/>
            </p:cNvSpPr>
            <p:nvPr>
              <p:custDataLst>
                <p:tags r:id="rId10"/>
              </p:custDataLst>
            </p:nvPr>
          </p:nvSpPr>
          <p:spPr bwMode="auto">
            <a:xfrm>
              <a:off x="5840" y="6408"/>
              <a:ext cx="1060" cy="525"/>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SubTitle_2"/>
            <p:cNvSpPr/>
            <p:nvPr>
              <p:custDataLst>
                <p:tags r:id="rId11"/>
              </p:custDataLst>
            </p:nvPr>
          </p:nvSpPr>
          <p:spPr>
            <a:xfrm>
              <a:off x="7290" y="5568"/>
              <a:ext cx="14396" cy="1804"/>
            </a:xfrm>
            <a:prstGeom prst="rect">
              <a:avLst/>
            </a:prstGeom>
          </p:spPr>
          <p:txBody>
            <a:bodyPr lIns="0" tIns="0" rIns="0" bIns="0" anchor="ctr">
              <a:noAutofit/>
            </a:bodyPr>
            <a:lstStyle/>
            <a:p>
              <a:pPr lvl="0" algn="just" fontAlgn="auto">
                <a:lnSpc>
                  <a:spcPct val="130000"/>
                </a:lnSpc>
                <a:spcBef>
                  <a:spcPct val="0"/>
                </a:spcBef>
              </a:pPr>
              <a:r>
                <a:rPr lang="zh-CN" altLang="en-US" sz="1600" dirty="0" smtClean="0">
                  <a:solidFill>
                    <a:srgbClr val="000000"/>
                  </a:solidFill>
                  <a:latin typeface="微软雅黑" panose="020B0503020204020204" charset="-122"/>
                  <a:ea typeface="微软雅黑" panose="020B0503020204020204" charset="-122"/>
                  <a:sym typeface="+mn-ea"/>
                </a:rPr>
                <a:t>      （2）尽量不要盲目使用公共场所的免费Wi-Fi。普通用户很难分辨这些免费Wi-Fi的真伪，同时大多数该类Wi-Fi都无法对用户发送的信息进行加密，因此一旦存在对网络进行监听的攻击者，用户很难保护自己的隐私信息、确保网银账号密码不被泄露。</a:t>
              </a:r>
            </a:p>
          </p:txBody>
        </p:sp>
      </p:grpSp>
      <p:sp>
        <p:nvSpPr>
          <p:cNvPr id="29" name="MH_Text_1"/>
          <p:cNvSpPr/>
          <p:nvPr>
            <p:custDataLst>
              <p:tags r:id="rId6"/>
            </p:custDataLst>
          </p:nvPr>
        </p:nvSpPr>
        <p:spPr bwMode="auto">
          <a:xfrm>
            <a:off x="819784" y="1272778"/>
            <a:ext cx="10534016" cy="575072"/>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r>
              <a:rPr lang="zh-CN" altLang="zh-CN" sz="2000" dirty="0" smtClean="0">
                <a:solidFill>
                  <a:schemeClr val="tx1">
                    <a:lumMod val="50000"/>
                  </a:schemeClr>
                </a:solidFill>
              </a:rPr>
              <a:t>移动终端在使用</a:t>
            </a:r>
            <a:r>
              <a:rPr lang="en-US" altLang="zh-CN" sz="2000" dirty="0" smtClean="0">
                <a:solidFill>
                  <a:schemeClr val="tx1">
                    <a:lumMod val="50000"/>
                  </a:schemeClr>
                </a:solidFill>
              </a:rPr>
              <a:t>Wi-Fi</a:t>
            </a:r>
            <a:r>
              <a:rPr lang="zh-CN" altLang="zh-CN" sz="2000" dirty="0" smtClean="0">
                <a:solidFill>
                  <a:schemeClr val="tx1">
                    <a:lumMod val="50000"/>
                  </a:schemeClr>
                </a:solidFill>
              </a:rPr>
              <a:t>时要注意网络安全，注意</a:t>
            </a:r>
            <a:r>
              <a:rPr lang="en-US" altLang="zh-CN" sz="2000" dirty="0" smtClean="0">
                <a:solidFill>
                  <a:schemeClr val="tx1">
                    <a:lumMod val="50000"/>
                  </a:schemeClr>
                </a:solidFill>
              </a:rPr>
              <a:t>Wi-Fi</a:t>
            </a:r>
            <a:r>
              <a:rPr lang="zh-CN" altLang="zh-CN" sz="2000" dirty="0" smtClean="0">
                <a:solidFill>
                  <a:schemeClr val="tx1">
                    <a:lumMod val="50000"/>
                  </a:schemeClr>
                </a:solidFill>
              </a:rPr>
              <a:t>设备漏洞和黑客攻击的问题。</a:t>
            </a:r>
            <a:endParaRPr lang="zh-CN" altLang="zh-CN" sz="2000" dirty="0">
              <a:solidFill>
                <a:schemeClr val="tx1">
                  <a:lumMod val="50000"/>
                </a:schemeClr>
              </a:solidFill>
            </a:endParaRPr>
          </a:p>
        </p:txBody>
      </p:sp>
    </p:spTree>
  </p:cSld>
  <p:clrMapOvr>
    <a:masterClrMapping/>
  </p:clrMapOvr>
  <p:transition>
    <p:randomBar dir="vert"/>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9.3  </a:t>
            </a:r>
            <a:r>
              <a:rPr lang="zh-CN" altLang="en-US" dirty="0" smtClean="0">
                <a:solidFill>
                  <a:srgbClr val="FF0000"/>
                </a:solidFill>
                <a:sym typeface="+mn-ea"/>
              </a:rPr>
              <a:t>移动互联网应用安全技术</a:t>
            </a:r>
            <a:endParaRPr lang="en-US" altLang="zh-CN" dirty="0">
              <a:solidFill>
                <a:srgbClr val="FF0000"/>
              </a:solidFill>
            </a:endParaRPr>
          </a:p>
        </p:txBody>
      </p:sp>
      <p:grpSp>
        <p:nvGrpSpPr>
          <p:cNvPr id="9" name="组合 8"/>
          <p:cNvGrpSpPr/>
          <p:nvPr/>
        </p:nvGrpSpPr>
        <p:grpSpPr>
          <a:xfrm>
            <a:off x="15240" y="1725930"/>
            <a:ext cx="12209145" cy="4015740"/>
            <a:chOff x="24" y="2718"/>
            <a:chExt cx="19227" cy="6324"/>
          </a:xfrm>
        </p:grpSpPr>
        <p:grpSp>
          <p:nvGrpSpPr>
            <p:cNvPr id="10" name="组合 9"/>
            <p:cNvGrpSpPr/>
            <p:nvPr/>
          </p:nvGrpSpPr>
          <p:grpSpPr>
            <a:xfrm>
              <a:off x="24" y="4250"/>
              <a:ext cx="18939" cy="4793"/>
              <a:chOff x="0" y="2130426"/>
              <a:chExt cx="21645385" cy="3649762"/>
            </a:xfrm>
          </p:grpSpPr>
          <p:sp>
            <p:nvSpPr>
              <p:cNvPr id="11" name="MH_Other_1"/>
              <p:cNvSpPr/>
              <p:nvPr>
                <p:custDataLst>
                  <p:tags r:id="rId4"/>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2" name="MH_Other_2"/>
              <p:cNvSpPr/>
              <p:nvPr>
                <p:custDataLst>
                  <p:tags r:id="rId5"/>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3"/>
              <p:cNvSpPr/>
              <p:nvPr>
                <p:custDataLst>
                  <p:tags r:id="rId6"/>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4" name="MH_Other_4"/>
              <p:cNvSpPr>
                <a:spLocks noChangeArrowheads="1"/>
              </p:cNvSpPr>
              <p:nvPr>
                <p:custDataLst>
                  <p:tags r:id="rId7"/>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5" name="MH_Other_5"/>
              <p:cNvSpPr>
                <a:spLocks noChangeArrowheads="1"/>
              </p:cNvSpPr>
              <p:nvPr>
                <p:custDataLst>
                  <p:tags r:id="rId8"/>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6" name="MH_Other_6"/>
              <p:cNvSpPr>
                <a:spLocks noChangeArrowheads="1"/>
              </p:cNvSpPr>
              <p:nvPr>
                <p:custDataLst>
                  <p:tags r:id="rId9"/>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7" name="MH_Other_7"/>
              <p:cNvSpPr/>
              <p:nvPr>
                <p:custDataLst>
                  <p:tags r:id="rId10"/>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8" name="MH_Text_1"/>
              <p:cNvSpPr/>
              <p:nvPr>
                <p:custDataLst>
                  <p:tags r:id="rId11"/>
                </p:custDataLst>
              </p:nvPr>
            </p:nvSpPr>
            <p:spPr bwMode="auto">
              <a:xfrm>
                <a:off x="7263130" y="3237139"/>
                <a:ext cx="13383360" cy="138633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smtClean="0">
                    <a:solidFill>
                      <a:schemeClr val="tx1"/>
                    </a:solidFill>
                    <a:latin typeface="微软雅黑" panose="020B0503020204020204" charset="-122"/>
                    <a:ea typeface="微软雅黑" panose="020B0503020204020204" charset="-122"/>
                  </a:rPr>
                  <a:t>移动网络安全技术重点关注接入网及IP承载网/互联网的安全，主要关键技术包括数据加密、身份识别认证、异常流量监测与控制、网络隔离与交换、信令及协议过滤、攻防与溯源等。</a:t>
                </a:r>
              </a:p>
            </p:txBody>
          </p:sp>
        </p:grpSp>
        <p:grpSp>
          <p:nvGrpSpPr>
            <p:cNvPr id="34" name="组合 33"/>
            <p:cNvGrpSpPr/>
            <p:nvPr/>
          </p:nvGrpSpPr>
          <p:grpSpPr>
            <a:xfrm flipH="1">
              <a:off x="11357" y="2718"/>
              <a:ext cx="7895" cy="1533"/>
              <a:chOff x="1" y="3428100"/>
              <a:chExt cx="5013433" cy="973302"/>
            </a:xfrm>
          </p:grpSpPr>
          <p:sp>
            <p:nvSpPr>
              <p:cNvPr id="35" name="MH_SubTitle_2"/>
              <p:cNvSpPr/>
              <p:nvPr>
                <p:custDataLst>
                  <p:tags r:id="rId1"/>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移动网络安全技术</a:t>
                </a:r>
              </a:p>
            </p:txBody>
          </p:sp>
          <p:sp>
            <p:nvSpPr>
              <p:cNvPr id="36" name="MH_Other_5"/>
              <p:cNvSpPr/>
              <p:nvPr>
                <p:custDataLst>
                  <p:tags r:id="rId2"/>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2</a:t>
                </a:r>
              </a:p>
            </p:txBody>
          </p:sp>
          <p:sp>
            <p:nvSpPr>
              <p:cNvPr id="37" name="MH_Other_6"/>
              <p:cNvSpPr/>
              <p:nvPr>
                <p:custDataLst>
                  <p:tags r:id="rId3"/>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grpSp>
    </p:spTree>
  </p:cSld>
  <p:clrMapOvr>
    <a:masterClrMapping/>
  </p:clrMapOvr>
  <p:transition>
    <p:randomBar dir="vert"/>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9.3  </a:t>
            </a:r>
            <a:r>
              <a:rPr lang="zh-CN" altLang="en-US" dirty="0" smtClean="0">
                <a:solidFill>
                  <a:srgbClr val="FF0000"/>
                </a:solidFill>
                <a:sym typeface="+mn-ea"/>
              </a:rPr>
              <a:t>移动互联网应用安全技术</a:t>
            </a:r>
            <a:endParaRPr lang="en-US" altLang="zh-CN" dirty="0">
              <a:solidFill>
                <a:srgbClr val="FF0000"/>
              </a:solidFill>
            </a:endParaRPr>
          </a:p>
        </p:txBody>
      </p:sp>
      <p:grpSp>
        <p:nvGrpSpPr>
          <p:cNvPr id="30" name="组合 29"/>
          <p:cNvGrpSpPr/>
          <p:nvPr/>
        </p:nvGrpSpPr>
        <p:grpSpPr>
          <a:xfrm>
            <a:off x="604520" y="2333570"/>
            <a:ext cx="11083925" cy="3809525"/>
            <a:chOff x="1097" y="3547"/>
            <a:chExt cx="17455" cy="6002"/>
          </a:xfrm>
        </p:grpSpPr>
        <p:sp>
          <p:nvSpPr>
            <p:cNvPr id="31" name="MH_Text_2"/>
            <p:cNvSpPr txBox="1">
              <a:spLocks noChangeArrowheads="1"/>
            </p:cNvSpPr>
            <p:nvPr>
              <p:custDataLst>
                <p:tags r:id="rId4"/>
              </p:custDataLst>
            </p:nvPr>
          </p:nvSpPr>
          <p:spPr bwMode="auto">
            <a:xfrm>
              <a:off x="6936" y="6128"/>
              <a:ext cx="5154" cy="33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fontAlgn="auto">
                <a:lnSpc>
                  <a:spcPct val="130000"/>
                </a:lnSpc>
                <a:defRPr/>
              </a:pPr>
              <a:r>
                <a:rPr lang="en-US" altLang="zh-CN" b="1" dirty="0" smtClean="0"/>
                <a:t>          </a:t>
              </a:r>
              <a:r>
                <a:rPr lang="zh-CN" altLang="en-US" b="1" dirty="0" smtClean="0"/>
                <a:t>该技术包括Web内容的过滤、对Web网页关键字及移动代码过滤等，以及通过对邮件地址、附件名等关键字匹配过滤等。</a:t>
              </a:r>
            </a:p>
          </p:txBody>
        </p:sp>
        <p:sp>
          <p:nvSpPr>
            <p:cNvPr id="32" name="MH_Text_3"/>
            <p:cNvSpPr txBox="1">
              <a:spLocks noChangeArrowheads="1"/>
            </p:cNvSpPr>
            <p:nvPr>
              <p:custDataLst>
                <p:tags r:id="rId5"/>
              </p:custDataLst>
            </p:nvPr>
          </p:nvSpPr>
          <p:spPr bwMode="auto">
            <a:xfrm>
              <a:off x="12300" y="6128"/>
              <a:ext cx="6252" cy="34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fontScale="92500" lnSpcReduction="20000"/>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fontAlgn="auto">
                <a:lnSpc>
                  <a:spcPct val="150000"/>
                </a:lnSpc>
                <a:defRPr/>
              </a:pPr>
              <a:r>
                <a:rPr lang="en-US" altLang="zh-CN" b="1" dirty="0" smtClean="0"/>
                <a:t>       </a:t>
              </a:r>
              <a:r>
                <a:rPr lang="zh-CN" altLang="en-US" b="1" dirty="0" smtClean="0"/>
                <a:t>安全审计策略控制分别由系统审计策略控制和应用审计策略控制两类承担。系统审计策略控制包括对主体鉴别、改变特权以及管理安全策略的事件；应用审计策略控制包括应用程序应该审计的事件。</a:t>
              </a:r>
            </a:p>
          </p:txBody>
        </p:sp>
        <p:grpSp>
          <p:nvGrpSpPr>
            <p:cNvPr id="33" name="组合 32"/>
            <p:cNvGrpSpPr/>
            <p:nvPr/>
          </p:nvGrpSpPr>
          <p:grpSpPr>
            <a:xfrm>
              <a:off x="1097" y="3547"/>
              <a:ext cx="15815" cy="5553"/>
              <a:chOff x="1097" y="3547"/>
              <a:chExt cx="15815" cy="5553"/>
            </a:xfrm>
          </p:grpSpPr>
          <p:sp>
            <p:nvSpPr>
              <p:cNvPr id="38" name="MH_SubTitle_3"/>
              <p:cNvSpPr/>
              <p:nvPr>
                <p:custDataLst>
                  <p:tags r:id="rId6"/>
                </p:custDataLst>
              </p:nvPr>
            </p:nvSpPr>
            <p:spPr>
              <a:xfrm>
                <a:off x="12825" y="3848"/>
                <a:ext cx="3300" cy="1955"/>
              </a:xfrm>
              <a:custGeom>
                <a:avLst/>
                <a:gdLst>
                  <a:gd name="connsiteX0" fmla="*/ 692680 w 1385360"/>
                  <a:gd name="connsiteY0" fmla="*/ 0 h 1385360"/>
                  <a:gd name="connsiteX1" fmla="*/ 1385360 w 1385360"/>
                  <a:gd name="connsiteY1" fmla="*/ 692679 h 1385360"/>
                  <a:gd name="connsiteX2" fmla="*/ 692680 w 1385360"/>
                  <a:gd name="connsiteY2" fmla="*/ 1385360 h 1385360"/>
                  <a:gd name="connsiteX3" fmla="*/ 0 w 1385360"/>
                  <a:gd name="connsiteY3" fmla="*/ 692680 h 1385360"/>
                </a:gdLst>
                <a:ahLst/>
                <a:cxnLst>
                  <a:cxn ang="0">
                    <a:pos x="connsiteX0" y="connsiteY0"/>
                  </a:cxn>
                  <a:cxn ang="0">
                    <a:pos x="connsiteX1" y="connsiteY1"/>
                  </a:cxn>
                  <a:cxn ang="0">
                    <a:pos x="connsiteX2" y="connsiteY2"/>
                  </a:cxn>
                  <a:cxn ang="0">
                    <a:pos x="connsiteX3" y="connsiteY3"/>
                  </a:cxn>
                </a:cxnLst>
                <a:rect l="l" t="t" r="r" b="b"/>
                <a:pathLst>
                  <a:path w="1385360" h="1385360">
                    <a:moveTo>
                      <a:pt x="692680" y="0"/>
                    </a:moveTo>
                    <a:lnTo>
                      <a:pt x="1385360" y="692679"/>
                    </a:lnTo>
                    <a:lnTo>
                      <a:pt x="692680" y="1385360"/>
                    </a:lnTo>
                    <a:lnTo>
                      <a:pt x="0" y="692680"/>
                    </a:lnTo>
                    <a:close/>
                  </a:path>
                </a:pathLst>
              </a:cu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fontAlgn="auto" hangingPunct="1">
                  <a:spcBef>
                    <a:spcPts val="0"/>
                  </a:spcBef>
                  <a:spcAft>
                    <a:spcPts val="0"/>
                  </a:spcAft>
                  <a:defRPr/>
                </a:pPr>
                <a:r>
                  <a:rPr sz="2000" b="1" dirty="0" smtClean="0">
                    <a:solidFill>
                      <a:srgbClr val="FFFFFF"/>
                    </a:solidFill>
                    <a:latin typeface="微软雅黑" panose="020B0503020204020204" charset="-122"/>
                    <a:ea typeface="微软雅黑" panose="020B0503020204020204" charset="-122"/>
                  </a:rPr>
                  <a:t>安全审计策略</a:t>
                </a:r>
              </a:p>
              <a:p>
                <a:pPr algn="ctr" eaLnBrk="1" fontAlgn="auto" hangingPunct="1">
                  <a:spcBef>
                    <a:spcPts val="0"/>
                  </a:spcBef>
                  <a:spcAft>
                    <a:spcPts val="0"/>
                  </a:spcAft>
                  <a:defRPr/>
                </a:pPr>
                <a:r>
                  <a:rPr sz="2000" b="1" dirty="0" smtClean="0">
                    <a:solidFill>
                      <a:srgbClr val="FFFFFF"/>
                    </a:solidFill>
                    <a:latin typeface="微软雅黑" panose="020B0503020204020204" charset="-122"/>
                    <a:ea typeface="微软雅黑" panose="020B0503020204020204" charset="-122"/>
                  </a:rPr>
                  <a:t>控制技术</a:t>
                </a:r>
              </a:p>
            </p:txBody>
          </p:sp>
          <p:sp>
            <p:nvSpPr>
              <p:cNvPr id="39" name="MH_SubTitle_2"/>
              <p:cNvSpPr/>
              <p:nvPr>
                <p:custDataLst>
                  <p:tags r:id="rId7"/>
                </p:custDataLst>
              </p:nvPr>
            </p:nvSpPr>
            <p:spPr>
              <a:xfrm>
                <a:off x="8097" y="3848"/>
                <a:ext cx="3303" cy="1955"/>
              </a:xfrm>
              <a:custGeom>
                <a:avLst/>
                <a:gdLst>
                  <a:gd name="connsiteX0" fmla="*/ 692680 w 1385360"/>
                  <a:gd name="connsiteY0" fmla="*/ 0 h 1385360"/>
                  <a:gd name="connsiteX1" fmla="*/ 1385360 w 1385360"/>
                  <a:gd name="connsiteY1" fmla="*/ 692679 h 1385360"/>
                  <a:gd name="connsiteX2" fmla="*/ 692680 w 1385360"/>
                  <a:gd name="connsiteY2" fmla="*/ 1385360 h 1385360"/>
                  <a:gd name="connsiteX3" fmla="*/ 0 w 1385360"/>
                  <a:gd name="connsiteY3" fmla="*/ 692680 h 1385360"/>
                </a:gdLst>
                <a:ahLst/>
                <a:cxnLst>
                  <a:cxn ang="0">
                    <a:pos x="connsiteX0" y="connsiteY0"/>
                  </a:cxn>
                  <a:cxn ang="0">
                    <a:pos x="connsiteX1" y="connsiteY1"/>
                  </a:cxn>
                  <a:cxn ang="0">
                    <a:pos x="connsiteX2" y="connsiteY2"/>
                  </a:cxn>
                  <a:cxn ang="0">
                    <a:pos x="connsiteX3" y="connsiteY3"/>
                  </a:cxn>
                </a:cxnLst>
                <a:rect l="l" t="t" r="r" b="b"/>
                <a:pathLst>
                  <a:path w="1385360" h="1385360">
                    <a:moveTo>
                      <a:pt x="692680" y="0"/>
                    </a:moveTo>
                    <a:lnTo>
                      <a:pt x="1385360" y="692679"/>
                    </a:lnTo>
                    <a:lnTo>
                      <a:pt x="692680" y="1385360"/>
                    </a:lnTo>
                    <a:lnTo>
                      <a:pt x="0" y="692680"/>
                    </a:lnTo>
                    <a:close/>
                  </a:path>
                </a:pathLst>
              </a:custGeom>
              <a:solidFill>
                <a:srgbClr val="01AF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eaLnBrk="1" fontAlgn="auto" hangingPunct="1">
                  <a:spcBef>
                    <a:spcPts val="0"/>
                  </a:spcBef>
                  <a:spcAft>
                    <a:spcPts val="0"/>
                  </a:spcAft>
                  <a:defRPr/>
                </a:pPr>
                <a:r>
                  <a:rPr sz="2000" b="1" dirty="0" smtClean="0">
                    <a:solidFill>
                      <a:srgbClr val="FFFFFF"/>
                    </a:solidFill>
                    <a:latin typeface="微软雅黑" panose="020B0503020204020204" charset="-122"/>
                    <a:ea typeface="微软雅黑" panose="020B0503020204020204" charset="-122"/>
                  </a:rPr>
                  <a:t>内容过滤技术</a:t>
                </a:r>
              </a:p>
            </p:txBody>
          </p:sp>
          <p:sp>
            <p:nvSpPr>
              <p:cNvPr id="40" name="MH_SubTitle_1"/>
              <p:cNvSpPr/>
              <p:nvPr>
                <p:custDataLst>
                  <p:tags r:id="rId8"/>
                </p:custDataLst>
              </p:nvPr>
            </p:nvSpPr>
            <p:spPr>
              <a:xfrm>
                <a:off x="3075" y="3848"/>
                <a:ext cx="3303" cy="1955"/>
              </a:xfrm>
              <a:custGeom>
                <a:avLst/>
                <a:gdLst>
                  <a:gd name="connsiteX0" fmla="*/ 692680 w 1385360"/>
                  <a:gd name="connsiteY0" fmla="*/ 0 h 1385360"/>
                  <a:gd name="connsiteX1" fmla="*/ 1385360 w 1385360"/>
                  <a:gd name="connsiteY1" fmla="*/ 692679 h 1385360"/>
                  <a:gd name="connsiteX2" fmla="*/ 692680 w 1385360"/>
                  <a:gd name="connsiteY2" fmla="*/ 1385360 h 1385360"/>
                  <a:gd name="connsiteX3" fmla="*/ 0 w 1385360"/>
                  <a:gd name="connsiteY3" fmla="*/ 692680 h 1385360"/>
                </a:gdLst>
                <a:ahLst/>
                <a:cxnLst>
                  <a:cxn ang="0">
                    <a:pos x="connsiteX0" y="connsiteY0"/>
                  </a:cxn>
                  <a:cxn ang="0">
                    <a:pos x="connsiteX1" y="connsiteY1"/>
                  </a:cxn>
                  <a:cxn ang="0">
                    <a:pos x="connsiteX2" y="connsiteY2"/>
                  </a:cxn>
                  <a:cxn ang="0">
                    <a:pos x="connsiteX3" y="connsiteY3"/>
                  </a:cxn>
                </a:cxnLst>
                <a:rect l="l" t="t" r="r" b="b"/>
                <a:pathLst>
                  <a:path w="1385360" h="1385360">
                    <a:moveTo>
                      <a:pt x="692680" y="0"/>
                    </a:moveTo>
                    <a:lnTo>
                      <a:pt x="1385360" y="692679"/>
                    </a:lnTo>
                    <a:lnTo>
                      <a:pt x="692680" y="1385360"/>
                    </a:lnTo>
                    <a:lnTo>
                      <a:pt x="0" y="692680"/>
                    </a:lnTo>
                    <a:close/>
                  </a:path>
                </a:pathLst>
              </a:custGeom>
              <a:solidFill>
                <a:srgbClr val="E3366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z="2000" b="1" dirty="0" smtClean="0">
                    <a:solidFill>
                      <a:srgbClr val="FFFFFF"/>
                    </a:solidFill>
                    <a:latin typeface="微软雅黑" panose="020B0503020204020204" charset="-122"/>
                    <a:ea typeface="微软雅黑" panose="020B0503020204020204" charset="-122"/>
                  </a:rPr>
                  <a:t>应用访问管理</a:t>
                </a:r>
              </a:p>
              <a:p>
                <a:pPr algn="ctr">
                  <a:defRPr/>
                </a:pPr>
                <a:r>
                  <a:rPr lang="zh-CN" altLang="en-US" sz="2000" b="1" dirty="0" smtClean="0">
                    <a:solidFill>
                      <a:srgbClr val="FFFFFF"/>
                    </a:solidFill>
                    <a:latin typeface="微软雅黑" panose="020B0503020204020204" charset="-122"/>
                    <a:ea typeface="微软雅黑" panose="020B0503020204020204" charset="-122"/>
                  </a:rPr>
                  <a:t>与控制技术</a:t>
                </a:r>
              </a:p>
            </p:txBody>
          </p:sp>
          <p:sp>
            <p:nvSpPr>
              <p:cNvPr id="41" name="MH_Other_1"/>
              <p:cNvSpPr/>
              <p:nvPr>
                <p:custDataLst>
                  <p:tags r:id="rId9"/>
                </p:custDataLst>
              </p:nvPr>
            </p:nvSpPr>
            <p:spPr bwMode="auto">
              <a:xfrm>
                <a:off x="2400" y="3547"/>
                <a:ext cx="9320" cy="2611"/>
              </a:xfrm>
              <a:custGeom>
                <a:avLst/>
                <a:gdLst/>
                <a:ahLst/>
                <a:cxnLst>
                  <a:cxn ang="0">
                    <a:pos x="1558" y="337"/>
                  </a:cxn>
                  <a:cxn ang="0">
                    <a:pos x="1221" y="0"/>
                  </a:cxn>
                  <a:cxn ang="0">
                    <a:pos x="407" y="814"/>
                  </a:cxn>
                  <a:cxn ang="0">
                    <a:pos x="0" y="407"/>
                  </a:cxn>
                  <a:cxn ang="0">
                    <a:pos x="402" y="5"/>
                  </a:cxn>
                  <a:cxn ang="0">
                    <a:pos x="734" y="337"/>
                  </a:cxn>
                </a:cxnLst>
                <a:rect l="0" t="0" r="r" b="b"/>
                <a:pathLst>
                  <a:path w="1558" h="814">
                    <a:moveTo>
                      <a:pt x="1558" y="337"/>
                    </a:moveTo>
                    <a:lnTo>
                      <a:pt x="1221" y="0"/>
                    </a:lnTo>
                    <a:lnTo>
                      <a:pt x="407" y="814"/>
                    </a:lnTo>
                    <a:lnTo>
                      <a:pt x="0" y="407"/>
                    </a:lnTo>
                    <a:lnTo>
                      <a:pt x="402" y="5"/>
                    </a:lnTo>
                    <a:lnTo>
                      <a:pt x="734" y="337"/>
                    </a:lnTo>
                  </a:path>
                </a:pathLst>
              </a:custGeom>
              <a:noFill/>
              <a:ln w="25400" cap="flat" cmpd="sng">
                <a:solidFill>
                  <a:srgbClr val="E33661"/>
                </a:solidFill>
                <a:prstDash val="solid"/>
                <a:round/>
              </a:ln>
              <a:effectLst/>
            </p:spPr>
            <p:txBody>
              <a:bodyPr wrap="none" lIns="0" tIns="0" rIns="0" bIns="0" anchor="ctr"/>
              <a:lstStyle>
                <a:defPPr>
                  <a:defRPr lang="en-US"/>
                </a:defPPr>
                <a:lvl1pPr algn="l" rtl="0" eaLnBrk="0" fontAlgn="base" hangingPunct="0">
                  <a:spcBef>
                    <a:spcPct val="0"/>
                  </a:spcBef>
                  <a:spcAft>
                    <a:spcPct val="0"/>
                  </a:spcAft>
                  <a:defRPr sz="1300" b="1"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1300" b="1" kern="1200">
                    <a:solidFill>
                      <a:srgbClr val="000000"/>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1300" b="1" kern="1200">
                    <a:solidFill>
                      <a:srgbClr val="000000"/>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1300" b="1" kern="1200">
                    <a:solidFill>
                      <a:srgbClr val="000000"/>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1300" b="1" kern="1200">
                    <a:solidFill>
                      <a:srgbClr val="000000"/>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300" b="1" kern="1200">
                    <a:solidFill>
                      <a:srgbClr val="000000"/>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300" b="1" kern="1200">
                    <a:solidFill>
                      <a:srgbClr val="000000"/>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300" b="1" kern="1200">
                    <a:solidFill>
                      <a:srgbClr val="000000"/>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300" b="1" kern="1200">
                    <a:solidFill>
                      <a:srgbClr val="000000"/>
                    </a:solidFill>
                    <a:latin typeface="Arial" panose="020B0604020202020204" pitchFamily="34" charset="0"/>
                    <a:ea typeface="宋体" panose="02010600030101010101" pitchFamily="2" charset="-122"/>
                    <a:cs typeface="+mn-cs"/>
                  </a:defRPr>
                </a:lvl9pPr>
              </a:lstStyle>
              <a:p>
                <a:pPr>
                  <a:defRPr/>
                </a:pPr>
                <a:endParaRPr lang="zh-CN" altLang="en-US" sz="975"/>
              </a:p>
            </p:txBody>
          </p:sp>
          <p:sp>
            <p:nvSpPr>
              <p:cNvPr id="42" name="MH_Other_2"/>
              <p:cNvSpPr/>
              <p:nvPr>
                <p:custDataLst>
                  <p:tags r:id="rId10"/>
                </p:custDataLst>
              </p:nvPr>
            </p:nvSpPr>
            <p:spPr bwMode="auto">
              <a:xfrm flipH="1" flipV="1">
                <a:off x="7592" y="3547"/>
                <a:ext cx="9320" cy="2611"/>
              </a:xfrm>
              <a:custGeom>
                <a:avLst/>
                <a:gdLst/>
                <a:ahLst/>
                <a:cxnLst>
                  <a:cxn ang="0">
                    <a:pos x="1558" y="337"/>
                  </a:cxn>
                  <a:cxn ang="0">
                    <a:pos x="1221" y="0"/>
                  </a:cxn>
                  <a:cxn ang="0">
                    <a:pos x="407" y="814"/>
                  </a:cxn>
                  <a:cxn ang="0">
                    <a:pos x="0" y="407"/>
                  </a:cxn>
                  <a:cxn ang="0">
                    <a:pos x="402" y="5"/>
                  </a:cxn>
                  <a:cxn ang="0">
                    <a:pos x="734" y="337"/>
                  </a:cxn>
                </a:cxnLst>
                <a:rect l="0" t="0" r="r" b="b"/>
                <a:pathLst>
                  <a:path w="1558" h="814">
                    <a:moveTo>
                      <a:pt x="1558" y="337"/>
                    </a:moveTo>
                    <a:lnTo>
                      <a:pt x="1221" y="0"/>
                    </a:lnTo>
                    <a:lnTo>
                      <a:pt x="407" y="814"/>
                    </a:lnTo>
                    <a:lnTo>
                      <a:pt x="0" y="407"/>
                    </a:lnTo>
                    <a:lnTo>
                      <a:pt x="402" y="5"/>
                    </a:lnTo>
                    <a:lnTo>
                      <a:pt x="734" y="337"/>
                    </a:lnTo>
                  </a:path>
                </a:pathLst>
              </a:custGeom>
              <a:noFill/>
              <a:ln w="25400" cap="flat" cmpd="sng">
                <a:solidFill>
                  <a:srgbClr val="01AFEE"/>
                </a:solidFill>
                <a:prstDash val="solid"/>
                <a:round/>
              </a:ln>
              <a:effectLst/>
            </p:spPr>
            <p:txBody>
              <a:bodyPr wrap="none" lIns="0" tIns="0" rIns="0" bIns="0" anchor="ctr"/>
              <a:lstStyle>
                <a:defPPr>
                  <a:defRPr lang="en-US"/>
                </a:defPPr>
                <a:lvl1pPr algn="l" rtl="0" eaLnBrk="0" fontAlgn="base" hangingPunct="0">
                  <a:spcBef>
                    <a:spcPct val="0"/>
                  </a:spcBef>
                  <a:spcAft>
                    <a:spcPct val="0"/>
                  </a:spcAft>
                  <a:defRPr sz="1300" b="1" kern="1200">
                    <a:solidFill>
                      <a:srgbClr val="000000"/>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1300" b="1" kern="1200">
                    <a:solidFill>
                      <a:srgbClr val="000000"/>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1300" b="1" kern="1200">
                    <a:solidFill>
                      <a:srgbClr val="000000"/>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1300" b="1" kern="1200">
                    <a:solidFill>
                      <a:srgbClr val="000000"/>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1300" b="1" kern="1200">
                    <a:solidFill>
                      <a:srgbClr val="000000"/>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300" b="1" kern="1200">
                    <a:solidFill>
                      <a:srgbClr val="000000"/>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300" b="1" kern="1200">
                    <a:solidFill>
                      <a:srgbClr val="000000"/>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300" b="1" kern="1200">
                    <a:solidFill>
                      <a:srgbClr val="000000"/>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300" b="1" kern="1200">
                    <a:solidFill>
                      <a:srgbClr val="000000"/>
                    </a:solidFill>
                    <a:latin typeface="Arial" panose="020B0604020202020204" pitchFamily="34" charset="0"/>
                    <a:ea typeface="宋体" panose="02010600030101010101" pitchFamily="2" charset="-122"/>
                    <a:cs typeface="+mn-cs"/>
                  </a:defRPr>
                </a:lvl9pPr>
              </a:lstStyle>
              <a:p>
                <a:pPr>
                  <a:defRPr/>
                </a:pPr>
                <a:endParaRPr lang="zh-CN" altLang="en-US" sz="975"/>
              </a:p>
            </p:txBody>
          </p:sp>
          <p:sp>
            <p:nvSpPr>
              <p:cNvPr id="43" name="MH_Text_1"/>
              <p:cNvSpPr txBox="1">
                <a:spLocks noChangeArrowheads="1"/>
              </p:cNvSpPr>
              <p:nvPr>
                <p:custDataLst>
                  <p:tags r:id="rId11"/>
                </p:custDataLst>
              </p:nvPr>
            </p:nvSpPr>
            <p:spPr bwMode="auto">
              <a:xfrm>
                <a:off x="1097" y="6083"/>
                <a:ext cx="5629" cy="301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orm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fontAlgn="auto">
                  <a:lnSpc>
                    <a:spcPct val="130000"/>
                  </a:lnSpc>
                  <a:defRPr/>
                </a:pPr>
                <a:r>
                  <a:rPr lang="en-US" altLang="zh-CN" b="1" dirty="0" smtClean="0"/>
                  <a:t>           </a:t>
                </a:r>
                <a:r>
                  <a:rPr lang="zh-CN" altLang="en-US" b="1" dirty="0" smtClean="0"/>
                  <a:t>一般是利用安全隧道技术，在应用客户端与服务器之间构建一个安全隧道，隔离二者的直接连接，使所有访问都必须经过安全隧道，否则一律拒绝。</a:t>
                </a:r>
              </a:p>
            </p:txBody>
          </p:sp>
          <p:sp>
            <p:nvSpPr>
              <p:cNvPr id="44" name="MH_Other_3"/>
              <p:cNvSpPr/>
              <p:nvPr>
                <p:custDataLst>
                  <p:tags r:id="rId12"/>
                </p:custDataLst>
              </p:nvPr>
            </p:nvSpPr>
            <p:spPr>
              <a:xfrm>
                <a:off x="4425" y="4003"/>
                <a:ext cx="621" cy="368"/>
              </a:xfrm>
              <a:custGeom>
                <a:avLst/>
                <a:gdLst>
                  <a:gd name="connsiteX0" fmla="*/ 130460 w 260920"/>
                  <a:gd name="connsiteY0" fmla="*/ 0 h 260921"/>
                  <a:gd name="connsiteX1" fmla="*/ 260920 w 260920"/>
                  <a:gd name="connsiteY1" fmla="*/ 130461 h 260921"/>
                  <a:gd name="connsiteX2" fmla="*/ 130460 w 260920"/>
                  <a:gd name="connsiteY2" fmla="*/ 260921 h 260921"/>
                  <a:gd name="connsiteX3" fmla="*/ 0 w 260920"/>
                  <a:gd name="connsiteY3" fmla="*/ 130460 h 260921"/>
                </a:gdLst>
                <a:ahLst/>
                <a:cxnLst>
                  <a:cxn ang="0">
                    <a:pos x="connsiteX0" y="connsiteY0"/>
                  </a:cxn>
                  <a:cxn ang="0">
                    <a:pos x="connsiteX1" y="connsiteY1"/>
                  </a:cxn>
                  <a:cxn ang="0">
                    <a:pos x="connsiteX2" y="connsiteY2"/>
                  </a:cxn>
                  <a:cxn ang="0">
                    <a:pos x="connsiteX3" y="connsiteY3"/>
                  </a:cxn>
                </a:cxnLst>
                <a:rect l="l" t="t" r="r" b="b"/>
                <a:pathLst>
                  <a:path w="260920" h="260921">
                    <a:moveTo>
                      <a:pt x="130460" y="0"/>
                    </a:moveTo>
                    <a:lnTo>
                      <a:pt x="260920" y="130461"/>
                    </a:lnTo>
                    <a:lnTo>
                      <a:pt x="130460" y="260921"/>
                    </a:lnTo>
                    <a:lnTo>
                      <a:pt x="0" y="13046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1400" b="1" dirty="0">
                    <a:solidFill>
                      <a:schemeClr val="tx1"/>
                    </a:solidFill>
                    <a:latin typeface="Arial" panose="020B0604020202020204" pitchFamily="34" charset="0"/>
                    <a:cs typeface="Arial" panose="020B0604020202020204" pitchFamily="34" charset="0"/>
                  </a:rPr>
                  <a:t>1</a:t>
                </a:r>
                <a:endParaRPr lang="zh-CN" altLang="en-US" sz="1400" b="1" dirty="0">
                  <a:solidFill>
                    <a:schemeClr val="tx1"/>
                  </a:solidFill>
                  <a:latin typeface="Arial" panose="020B0604020202020204" pitchFamily="34" charset="0"/>
                  <a:cs typeface="Arial" panose="020B0604020202020204" pitchFamily="34" charset="0"/>
                </a:endParaRPr>
              </a:p>
            </p:txBody>
          </p:sp>
          <p:sp>
            <p:nvSpPr>
              <p:cNvPr id="45" name="MH_Other_4"/>
              <p:cNvSpPr/>
              <p:nvPr>
                <p:custDataLst>
                  <p:tags r:id="rId13"/>
                </p:custDataLst>
              </p:nvPr>
            </p:nvSpPr>
            <p:spPr>
              <a:xfrm>
                <a:off x="9429" y="4003"/>
                <a:ext cx="621" cy="368"/>
              </a:xfrm>
              <a:custGeom>
                <a:avLst/>
                <a:gdLst>
                  <a:gd name="connsiteX0" fmla="*/ 130460 w 260920"/>
                  <a:gd name="connsiteY0" fmla="*/ 0 h 260921"/>
                  <a:gd name="connsiteX1" fmla="*/ 260920 w 260920"/>
                  <a:gd name="connsiteY1" fmla="*/ 130461 h 260921"/>
                  <a:gd name="connsiteX2" fmla="*/ 130460 w 260920"/>
                  <a:gd name="connsiteY2" fmla="*/ 260921 h 260921"/>
                  <a:gd name="connsiteX3" fmla="*/ 0 w 260920"/>
                  <a:gd name="connsiteY3" fmla="*/ 130460 h 260921"/>
                </a:gdLst>
                <a:ahLst/>
                <a:cxnLst>
                  <a:cxn ang="0">
                    <a:pos x="connsiteX0" y="connsiteY0"/>
                  </a:cxn>
                  <a:cxn ang="0">
                    <a:pos x="connsiteX1" y="connsiteY1"/>
                  </a:cxn>
                  <a:cxn ang="0">
                    <a:pos x="connsiteX2" y="connsiteY2"/>
                  </a:cxn>
                  <a:cxn ang="0">
                    <a:pos x="connsiteX3" y="connsiteY3"/>
                  </a:cxn>
                </a:cxnLst>
                <a:rect l="l" t="t" r="r" b="b"/>
                <a:pathLst>
                  <a:path w="260920" h="260921">
                    <a:moveTo>
                      <a:pt x="130460" y="0"/>
                    </a:moveTo>
                    <a:lnTo>
                      <a:pt x="260920" y="130461"/>
                    </a:lnTo>
                    <a:lnTo>
                      <a:pt x="130460" y="260921"/>
                    </a:lnTo>
                    <a:lnTo>
                      <a:pt x="0" y="13046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1400" b="1" dirty="0">
                    <a:solidFill>
                      <a:schemeClr val="tx1"/>
                    </a:solidFill>
                    <a:latin typeface="Arial" panose="020B0604020202020204" pitchFamily="34" charset="0"/>
                    <a:cs typeface="Arial" panose="020B0604020202020204" pitchFamily="34" charset="0"/>
                  </a:rPr>
                  <a:t>2</a:t>
                </a:r>
                <a:endParaRPr lang="zh-CN" altLang="en-US" sz="1400" b="1" dirty="0">
                  <a:solidFill>
                    <a:schemeClr val="tx1"/>
                  </a:solidFill>
                  <a:latin typeface="Arial" panose="020B0604020202020204" pitchFamily="34" charset="0"/>
                  <a:cs typeface="Arial" panose="020B0604020202020204" pitchFamily="34" charset="0"/>
                </a:endParaRPr>
              </a:p>
            </p:txBody>
          </p:sp>
          <p:sp>
            <p:nvSpPr>
              <p:cNvPr id="46" name="MH_Other_5"/>
              <p:cNvSpPr/>
              <p:nvPr>
                <p:custDataLst>
                  <p:tags r:id="rId14"/>
                </p:custDataLst>
              </p:nvPr>
            </p:nvSpPr>
            <p:spPr>
              <a:xfrm>
                <a:off x="14152" y="4003"/>
                <a:ext cx="621" cy="368"/>
              </a:xfrm>
              <a:custGeom>
                <a:avLst/>
                <a:gdLst>
                  <a:gd name="connsiteX0" fmla="*/ 130460 w 260920"/>
                  <a:gd name="connsiteY0" fmla="*/ 0 h 260921"/>
                  <a:gd name="connsiteX1" fmla="*/ 260920 w 260920"/>
                  <a:gd name="connsiteY1" fmla="*/ 130461 h 260921"/>
                  <a:gd name="connsiteX2" fmla="*/ 130460 w 260920"/>
                  <a:gd name="connsiteY2" fmla="*/ 260921 h 260921"/>
                  <a:gd name="connsiteX3" fmla="*/ 0 w 260920"/>
                  <a:gd name="connsiteY3" fmla="*/ 130460 h 260921"/>
                </a:gdLst>
                <a:ahLst/>
                <a:cxnLst>
                  <a:cxn ang="0">
                    <a:pos x="connsiteX0" y="connsiteY0"/>
                  </a:cxn>
                  <a:cxn ang="0">
                    <a:pos x="connsiteX1" y="connsiteY1"/>
                  </a:cxn>
                  <a:cxn ang="0">
                    <a:pos x="connsiteX2" y="connsiteY2"/>
                  </a:cxn>
                  <a:cxn ang="0">
                    <a:pos x="connsiteX3" y="connsiteY3"/>
                  </a:cxn>
                </a:cxnLst>
                <a:rect l="l" t="t" r="r" b="b"/>
                <a:pathLst>
                  <a:path w="260920" h="260921">
                    <a:moveTo>
                      <a:pt x="130460" y="0"/>
                    </a:moveTo>
                    <a:lnTo>
                      <a:pt x="260920" y="130461"/>
                    </a:lnTo>
                    <a:lnTo>
                      <a:pt x="130460" y="260921"/>
                    </a:lnTo>
                    <a:lnTo>
                      <a:pt x="0" y="13046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1400" b="1" dirty="0">
                    <a:solidFill>
                      <a:schemeClr val="tx1"/>
                    </a:solidFill>
                    <a:latin typeface="Arial" panose="020B0604020202020204" pitchFamily="34" charset="0"/>
                    <a:cs typeface="Arial" panose="020B0604020202020204" pitchFamily="34" charset="0"/>
                  </a:rPr>
                  <a:t>3</a:t>
                </a:r>
                <a:endParaRPr lang="zh-CN" altLang="en-US" sz="1400" b="1" dirty="0">
                  <a:solidFill>
                    <a:schemeClr val="tx1"/>
                  </a:solidFill>
                  <a:latin typeface="Arial" panose="020B0604020202020204" pitchFamily="34" charset="0"/>
                  <a:cs typeface="Arial" panose="020B0604020202020204" pitchFamily="34" charset="0"/>
                </a:endParaRPr>
              </a:p>
            </p:txBody>
          </p:sp>
        </p:grpSp>
      </p:grpSp>
      <p:sp>
        <p:nvSpPr>
          <p:cNvPr id="50" name="MH_SubTitle_2"/>
          <p:cNvSpPr/>
          <p:nvPr>
            <p:custDataLst>
              <p:tags r:id="rId1"/>
            </p:custDataLst>
          </p:nvPr>
        </p:nvSpPr>
        <p:spPr>
          <a:xfrm flipH="1">
            <a:off x="7211695" y="1506291"/>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zh-CN" sz="2400" b="1" dirty="0" smtClean="0">
                <a:solidFill>
                  <a:schemeClr val="bg1"/>
                </a:solidFill>
                <a:latin typeface="微软雅黑" panose="020B0503020204020204" charset="-122"/>
                <a:ea typeface="微软雅黑" panose="020B0503020204020204" charset="-122"/>
              </a:rPr>
              <a:t>移动互联应用安全技术</a:t>
            </a:r>
            <a:endParaRPr lang="zh-CN" altLang="en-US" sz="2400" b="1" dirty="0">
              <a:solidFill>
                <a:schemeClr val="bg1"/>
              </a:solidFill>
              <a:latin typeface="微软雅黑" panose="020B0503020204020204" charset="-122"/>
              <a:ea typeface="微软雅黑" panose="020B0503020204020204" charset="-122"/>
            </a:endParaRPr>
          </a:p>
        </p:txBody>
      </p:sp>
      <p:sp>
        <p:nvSpPr>
          <p:cNvPr id="51" name="MH_Other_5"/>
          <p:cNvSpPr/>
          <p:nvPr>
            <p:custDataLst>
              <p:tags r:id="rId2"/>
            </p:custDataLst>
          </p:nvPr>
        </p:nvSpPr>
        <p:spPr>
          <a:xfrm flipH="1">
            <a:off x="11218449" y="138461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smtClean="0">
                <a:solidFill>
                  <a:srgbClr val="FFFFFF"/>
                </a:solidFill>
                <a:latin typeface="Impact" panose="020B0806030902050204" pitchFamily="34" charset="0"/>
                <a:ea typeface="微软雅黑" panose="020B0503020204020204" charset="-122"/>
              </a:rPr>
              <a:t>0</a:t>
            </a:r>
            <a:r>
              <a:rPr lang="en-US" sz="3200" dirty="0" smtClean="0">
                <a:solidFill>
                  <a:srgbClr val="FFFFFF"/>
                </a:solidFill>
                <a:latin typeface="Impact" panose="020B0806030902050204" pitchFamily="34" charset="0"/>
                <a:ea typeface="微软雅黑" panose="020B0503020204020204" charset="-122"/>
              </a:rPr>
              <a:t>3</a:t>
            </a:r>
            <a:endParaRPr lang="en-US" sz="3200" dirty="0">
              <a:solidFill>
                <a:srgbClr val="FFFFFF"/>
              </a:solidFill>
              <a:latin typeface="Impact" panose="020B0806030902050204" pitchFamily="34" charset="0"/>
              <a:ea typeface="微软雅黑" panose="020B0503020204020204" charset="-122"/>
            </a:endParaRPr>
          </a:p>
        </p:txBody>
      </p:sp>
      <p:sp>
        <p:nvSpPr>
          <p:cNvPr id="52" name="MH_Other_6"/>
          <p:cNvSpPr/>
          <p:nvPr>
            <p:custDataLst>
              <p:tags r:id="rId3"/>
            </p:custDataLst>
          </p:nvPr>
        </p:nvSpPr>
        <p:spPr>
          <a:xfrm flipH="1">
            <a:off x="10721376" y="138303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Tree>
  </p:cSld>
  <p:clrMapOvr>
    <a:masterClrMapping/>
  </p:clrMapOvr>
  <p:transition>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 to="" calcmode="lin" valueType="num">
                                      <p:cBhvr>
                                        <p:cTn id="7" dur="1" fill="hold"/>
                                        <p:tgtEl>
                                          <p:spTgt spid="30"/>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9.3  </a:t>
            </a:r>
            <a:r>
              <a:rPr lang="zh-CN" altLang="en-US" dirty="0" smtClean="0">
                <a:solidFill>
                  <a:srgbClr val="FF0000"/>
                </a:solidFill>
                <a:sym typeface="+mn-ea"/>
              </a:rPr>
              <a:t>移动互联网应用安全技术</a:t>
            </a:r>
            <a:endParaRPr lang="en-US" altLang="zh-CN" dirty="0">
              <a:solidFill>
                <a:srgbClr val="FF0000"/>
              </a:solidFill>
            </a:endParaRPr>
          </a:p>
        </p:txBody>
      </p:sp>
      <p:grpSp>
        <p:nvGrpSpPr>
          <p:cNvPr id="9" name="组合 8"/>
          <p:cNvGrpSpPr/>
          <p:nvPr/>
        </p:nvGrpSpPr>
        <p:grpSpPr>
          <a:xfrm>
            <a:off x="15240" y="1725930"/>
            <a:ext cx="12209145" cy="4015740"/>
            <a:chOff x="24" y="2718"/>
            <a:chExt cx="19227" cy="6324"/>
          </a:xfrm>
        </p:grpSpPr>
        <p:grpSp>
          <p:nvGrpSpPr>
            <p:cNvPr id="10" name="组合 9"/>
            <p:cNvGrpSpPr/>
            <p:nvPr/>
          </p:nvGrpSpPr>
          <p:grpSpPr>
            <a:xfrm>
              <a:off x="24" y="4250"/>
              <a:ext cx="18939" cy="4793"/>
              <a:chOff x="0" y="2130426"/>
              <a:chExt cx="21645385" cy="3649762"/>
            </a:xfrm>
          </p:grpSpPr>
          <p:sp>
            <p:nvSpPr>
              <p:cNvPr id="11" name="MH_Other_1"/>
              <p:cNvSpPr/>
              <p:nvPr>
                <p:custDataLst>
                  <p:tags r:id="rId4"/>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2" name="MH_Other_2"/>
              <p:cNvSpPr/>
              <p:nvPr>
                <p:custDataLst>
                  <p:tags r:id="rId5"/>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3"/>
              <p:cNvSpPr/>
              <p:nvPr>
                <p:custDataLst>
                  <p:tags r:id="rId6"/>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4" name="MH_Other_4"/>
              <p:cNvSpPr>
                <a:spLocks noChangeArrowheads="1"/>
              </p:cNvSpPr>
              <p:nvPr>
                <p:custDataLst>
                  <p:tags r:id="rId7"/>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5" name="MH_Other_5"/>
              <p:cNvSpPr>
                <a:spLocks noChangeArrowheads="1"/>
              </p:cNvSpPr>
              <p:nvPr>
                <p:custDataLst>
                  <p:tags r:id="rId8"/>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6" name="MH_Other_6"/>
              <p:cNvSpPr>
                <a:spLocks noChangeArrowheads="1"/>
              </p:cNvSpPr>
              <p:nvPr>
                <p:custDataLst>
                  <p:tags r:id="rId9"/>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7" name="MH_Other_7"/>
              <p:cNvSpPr/>
              <p:nvPr>
                <p:custDataLst>
                  <p:tags r:id="rId10"/>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8" name="MH_Text_1"/>
              <p:cNvSpPr/>
              <p:nvPr>
                <p:custDataLst>
                  <p:tags r:id="rId11"/>
                </p:custDataLst>
              </p:nvPr>
            </p:nvSpPr>
            <p:spPr bwMode="auto">
              <a:xfrm>
                <a:off x="7317989" y="2328696"/>
                <a:ext cx="13383360" cy="138633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smtClean="0">
                    <a:solidFill>
                      <a:schemeClr val="tx1"/>
                    </a:solidFill>
                    <a:latin typeface="微软雅黑" panose="020B0503020204020204" charset="-122"/>
                    <a:ea typeface="微软雅黑" panose="020B0503020204020204" charset="-122"/>
                  </a:rPr>
                  <a:t>位置隐私保护是当前移动用户最关心的问题，也是移动互联网安全的重要组成部分。位置隐私保护技术主要包括制定高效的位置信息的存储和访问标准、隐藏用户身份及与位置的关系、位置匿名等。</a:t>
                </a:r>
              </a:p>
              <a:p>
                <a:pPr indent="457200">
                  <a:lnSpc>
                    <a:spcPct val="130000"/>
                  </a:lnSpc>
                  <a:defRPr/>
                </a:pPr>
                <a:r>
                  <a:rPr lang="da-DK" altLang="zh-CN" dirty="0" smtClean="0">
                    <a:solidFill>
                      <a:schemeClr val="tx1"/>
                    </a:solidFill>
                    <a:latin typeface="微软雅黑" panose="020B0503020204020204" charset="-122"/>
                    <a:ea typeface="微软雅黑" panose="020B0503020204020204" charset="-122"/>
                  </a:rPr>
                  <a:t>其中，位置匿名技术是让移动终端或者第三方的可信匿名服务器对移动用户的位置数据信息进行处理，并使它们不能重定位到用户身份，处理完成后，将位置数据信息发送给服务提供者进行位置查询。</a:t>
                </a:r>
              </a:p>
            </p:txBody>
          </p:sp>
        </p:grpSp>
        <p:grpSp>
          <p:nvGrpSpPr>
            <p:cNvPr id="34" name="组合 33"/>
            <p:cNvGrpSpPr/>
            <p:nvPr/>
          </p:nvGrpSpPr>
          <p:grpSpPr>
            <a:xfrm flipH="1">
              <a:off x="11357" y="2718"/>
              <a:ext cx="7895" cy="1533"/>
              <a:chOff x="1" y="3428100"/>
              <a:chExt cx="5013433" cy="973302"/>
            </a:xfrm>
          </p:grpSpPr>
          <p:sp>
            <p:nvSpPr>
              <p:cNvPr id="35" name="MH_SubTitle_2"/>
              <p:cNvSpPr/>
              <p:nvPr>
                <p:custDataLst>
                  <p:tags r:id="rId1"/>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位置隐私保护技术</a:t>
                </a:r>
              </a:p>
            </p:txBody>
          </p:sp>
          <p:sp>
            <p:nvSpPr>
              <p:cNvPr id="36" name="MH_Other_5"/>
              <p:cNvSpPr/>
              <p:nvPr>
                <p:custDataLst>
                  <p:tags r:id="rId2"/>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4</a:t>
                </a:r>
              </a:p>
            </p:txBody>
          </p:sp>
          <p:sp>
            <p:nvSpPr>
              <p:cNvPr id="37" name="MH_Other_6"/>
              <p:cNvSpPr/>
              <p:nvPr>
                <p:custDataLst>
                  <p:tags r:id="rId3"/>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grpSp>
    </p:spTree>
  </p:cSld>
  <p:clrMapOvr>
    <a:masterClrMapping/>
  </p:clrMapOvr>
  <p:transition>
    <p:randomBar dir="vert"/>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olidFill>
                  <a:srgbClr val="FF0000"/>
                </a:solidFill>
                <a:sym typeface="+mn-ea"/>
              </a:rPr>
              <a:t>9.3  </a:t>
            </a:r>
            <a:r>
              <a:rPr lang="zh-CN" altLang="en-US" dirty="0" smtClean="0">
                <a:solidFill>
                  <a:srgbClr val="FF0000"/>
                </a:solidFill>
                <a:sym typeface="+mn-ea"/>
              </a:rPr>
              <a:t>移动互联网应用安全技术</a:t>
            </a:r>
            <a:endParaRPr lang="en-US" altLang="zh-CN" dirty="0">
              <a:solidFill>
                <a:srgbClr val="FF0000"/>
              </a:solidFill>
            </a:endParaRPr>
          </a:p>
        </p:txBody>
      </p:sp>
      <p:grpSp>
        <p:nvGrpSpPr>
          <p:cNvPr id="9" name="组合 8"/>
          <p:cNvGrpSpPr/>
          <p:nvPr/>
        </p:nvGrpSpPr>
        <p:grpSpPr>
          <a:xfrm>
            <a:off x="15240" y="1725930"/>
            <a:ext cx="12209145" cy="4015740"/>
            <a:chOff x="24" y="2718"/>
            <a:chExt cx="19227" cy="6324"/>
          </a:xfrm>
        </p:grpSpPr>
        <p:grpSp>
          <p:nvGrpSpPr>
            <p:cNvPr id="10" name="组合 9"/>
            <p:cNvGrpSpPr/>
            <p:nvPr/>
          </p:nvGrpSpPr>
          <p:grpSpPr>
            <a:xfrm>
              <a:off x="24" y="4250"/>
              <a:ext cx="18939" cy="4793"/>
              <a:chOff x="0" y="2130426"/>
              <a:chExt cx="21645385" cy="3649762"/>
            </a:xfrm>
          </p:grpSpPr>
          <p:sp>
            <p:nvSpPr>
              <p:cNvPr id="11" name="MH_Other_1"/>
              <p:cNvSpPr/>
              <p:nvPr>
                <p:custDataLst>
                  <p:tags r:id="rId4"/>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2" name="MH_Other_2"/>
              <p:cNvSpPr/>
              <p:nvPr>
                <p:custDataLst>
                  <p:tags r:id="rId5"/>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3"/>
              <p:cNvSpPr/>
              <p:nvPr>
                <p:custDataLst>
                  <p:tags r:id="rId6"/>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4" name="MH_Other_4"/>
              <p:cNvSpPr>
                <a:spLocks noChangeArrowheads="1"/>
              </p:cNvSpPr>
              <p:nvPr>
                <p:custDataLst>
                  <p:tags r:id="rId7"/>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5" name="MH_Other_5"/>
              <p:cNvSpPr>
                <a:spLocks noChangeArrowheads="1"/>
              </p:cNvSpPr>
              <p:nvPr>
                <p:custDataLst>
                  <p:tags r:id="rId8"/>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6" name="MH_Other_6"/>
              <p:cNvSpPr>
                <a:spLocks noChangeArrowheads="1"/>
              </p:cNvSpPr>
              <p:nvPr>
                <p:custDataLst>
                  <p:tags r:id="rId9"/>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7" name="MH_Other_7"/>
              <p:cNvSpPr/>
              <p:nvPr>
                <p:custDataLst>
                  <p:tags r:id="rId10"/>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8" name="MH_Text_1"/>
              <p:cNvSpPr/>
              <p:nvPr>
                <p:custDataLst>
                  <p:tags r:id="rId11"/>
                </p:custDataLst>
              </p:nvPr>
            </p:nvSpPr>
            <p:spPr bwMode="auto">
              <a:xfrm>
                <a:off x="7317989" y="2328696"/>
                <a:ext cx="13383360" cy="138633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smtClean="0">
                    <a:solidFill>
                      <a:schemeClr val="tx1"/>
                    </a:solidFill>
                    <a:latin typeface="微软雅黑" panose="020B0503020204020204" charset="-122"/>
                    <a:ea typeface="微软雅黑" panose="020B0503020204020204" charset="-122"/>
                  </a:rPr>
                  <a:t>智能终端在移动通信网和移动互联网中使用时，系统和各种应用软件都会产生大量的应用痕迹信息。对于手机，除了通话记录、短信记录、即时通信类APP的信息交流记录等外，还有很多用户不可见或无法访问的系统和应用软件运行痕迹，这些痕迹信息如上网痕迹、登录痕迹、位置痕迹等，这些数据都是手机安全的隐患。为保护安全，我们要及时删除手机产生的数据，而对于删除后还隐蔽存在的底层数据则需要专门的软件或硬件设备做深层挖掘清除，才能彻底消除隐患。</a:t>
                </a:r>
              </a:p>
            </p:txBody>
          </p:sp>
        </p:grpSp>
        <p:grpSp>
          <p:nvGrpSpPr>
            <p:cNvPr id="34" name="组合 33"/>
            <p:cNvGrpSpPr/>
            <p:nvPr/>
          </p:nvGrpSpPr>
          <p:grpSpPr>
            <a:xfrm flipH="1">
              <a:off x="11357" y="2718"/>
              <a:ext cx="7895" cy="1533"/>
              <a:chOff x="1" y="3428100"/>
              <a:chExt cx="5013433" cy="973302"/>
            </a:xfrm>
          </p:grpSpPr>
          <p:sp>
            <p:nvSpPr>
              <p:cNvPr id="35" name="MH_SubTitle_2"/>
              <p:cNvSpPr/>
              <p:nvPr>
                <p:custDataLst>
                  <p:tags r:id="rId1"/>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痕迹信息保护技术</a:t>
                </a:r>
              </a:p>
            </p:txBody>
          </p:sp>
          <p:sp>
            <p:nvSpPr>
              <p:cNvPr id="36" name="MH_Other_5"/>
              <p:cNvSpPr/>
              <p:nvPr>
                <p:custDataLst>
                  <p:tags r:id="rId2"/>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5</a:t>
                </a:r>
              </a:p>
            </p:txBody>
          </p:sp>
          <p:sp>
            <p:nvSpPr>
              <p:cNvPr id="37" name="MH_Other_6"/>
              <p:cNvSpPr/>
              <p:nvPr>
                <p:custDataLst>
                  <p:tags r:id="rId3"/>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grpSp>
    </p:spTree>
  </p:cSld>
  <p:clrMapOvr>
    <a:masterClrMapping/>
  </p:clrMapOvr>
  <p:transition>
    <p:randomBar dir="vert"/>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solidFill>
                  <a:srgbClr val="FF0000"/>
                </a:solidFill>
              </a:rPr>
              <a:t>本章小结</a:t>
            </a:r>
            <a:endParaRPr lang="zh-CN" altLang="en-US" dirty="0">
              <a:solidFill>
                <a:srgbClr val="FF0000"/>
              </a:solidFill>
            </a:endParaRPr>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本章小结</a:t>
            </a:r>
          </a:p>
        </p:txBody>
      </p:sp>
      <p:sp>
        <p:nvSpPr>
          <p:cNvPr id="100" name="文本框 99"/>
          <p:cNvSpPr txBox="1"/>
          <p:nvPr/>
        </p:nvSpPr>
        <p:spPr>
          <a:xfrm>
            <a:off x="1529080" y="2416810"/>
            <a:ext cx="9427210" cy="2941320"/>
          </a:xfrm>
          <a:prstGeom prst="rect">
            <a:avLst/>
          </a:prstGeom>
          <a:noFill/>
          <a:ln w="9525">
            <a:noFill/>
          </a:ln>
        </p:spPr>
        <p:txBody>
          <a:bodyPr wrap="square">
            <a:spAutoFit/>
          </a:bodyPr>
          <a:lstStyle/>
          <a:p>
            <a:pPr marL="285750" indent="-285750" algn="l" fontAlgn="auto">
              <a:lnSpc>
                <a:spcPct val="130000"/>
              </a:lnSpc>
              <a:buFont typeface="Wingdings" panose="05000000000000000000" charset="0"/>
              <a:buChar char="Ø"/>
            </a:pPr>
            <a:r>
              <a:rPr lang="zh-CN" altLang="en-US" dirty="0">
                <a:latin typeface="微软雅黑" panose="020B0503020204020204" charset="-122"/>
                <a:ea typeface="微软雅黑" panose="020B0503020204020204" charset="-122"/>
                <a:sym typeface="+mn-ea"/>
              </a:rPr>
              <a:t>本章介绍了</a:t>
            </a:r>
            <a:r>
              <a:rPr lang="zh-CN" altLang="en-US" dirty="0">
                <a:solidFill>
                  <a:srgbClr val="00B050"/>
                </a:solidFill>
                <a:latin typeface="微软雅黑" panose="020B0503020204020204" charset="-122"/>
                <a:ea typeface="微软雅黑" panose="020B0503020204020204" charset="-122"/>
                <a:sym typeface="+mn-ea"/>
              </a:rPr>
              <a:t>移动互联网的定义</a:t>
            </a:r>
            <a:r>
              <a:rPr lang="zh-CN" altLang="en-US" dirty="0">
                <a:latin typeface="微软雅黑" panose="020B0503020204020204" charset="-122"/>
                <a:ea typeface="微软雅黑" panose="020B0503020204020204" charset="-122"/>
                <a:sym typeface="+mn-ea"/>
              </a:rPr>
              <a:t>，分析了</a:t>
            </a:r>
            <a:r>
              <a:rPr lang="zh-CN" altLang="en-US" dirty="0">
                <a:solidFill>
                  <a:srgbClr val="00B050"/>
                </a:solidFill>
                <a:latin typeface="微软雅黑" panose="020B0503020204020204" charset="-122"/>
                <a:ea typeface="微软雅黑" panose="020B0503020204020204" charset="-122"/>
                <a:sym typeface="+mn-ea"/>
              </a:rPr>
              <a:t>移动互联网与传统互联网的区别</a:t>
            </a:r>
            <a:r>
              <a:rPr lang="zh-CN" altLang="en-US" dirty="0">
                <a:latin typeface="微软雅黑" panose="020B0503020204020204" charset="-122"/>
                <a:ea typeface="微软雅黑" panose="020B0503020204020204" charset="-122"/>
                <a:sym typeface="+mn-ea"/>
              </a:rPr>
              <a:t>，并介绍了</a:t>
            </a:r>
            <a:r>
              <a:rPr lang="zh-CN" altLang="en-US" dirty="0">
                <a:solidFill>
                  <a:srgbClr val="00B050"/>
                </a:solidFill>
                <a:latin typeface="微软雅黑" panose="020B0503020204020204" charset="-122"/>
                <a:ea typeface="微软雅黑" panose="020B0503020204020204" charset="-122"/>
                <a:sym typeface="+mn-ea"/>
              </a:rPr>
              <a:t>移动互联网的主要特征、应用和发展</a:t>
            </a:r>
            <a:r>
              <a:rPr lang="zh-CN" altLang="en-US" dirty="0">
                <a:latin typeface="微软雅黑" panose="020B0503020204020204" charset="-122"/>
                <a:ea typeface="微软雅黑" panose="020B0503020204020204" charset="-122"/>
                <a:sym typeface="+mn-ea"/>
              </a:rPr>
              <a:t>。</a:t>
            </a:r>
          </a:p>
          <a:p>
            <a:pPr marL="285750" indent="-285750" algn="l" fontAlgn="auto">
              <a:lnSpc>
                <a:spcPct val="130000"/>
              </a:lnSpc>
              <a:buFont typeface="Wingdings" panose="05000000000000000000" charset="0"/>
              <a:buChar char="Ø"/>
            </a:pPr>
            <a:r>
              <a:rPr lang="zh-CN" altLang="en-US" dirty="0">
                <a:latin typeface="微软雅黑" panose="020B0503020204020204" charset="-122"/>
                <a:ea typeface="微软雅黑" panose="020B0503020204020204" charset="-122"/>
                <a:sym typeface="+mn-ea"/>
              </a:rPr>
              <a:t>移动互联网融合了电子信息的多个领域，它有三大要素，即</a:t>
            </a:r>
            <a:r>
              <a:rPr lang="zh-CN" altLang="en-US" dirty="0">
                <a:solidFill>
                  <a:srgbClr val="C00000"/>
                </a:solidFill>
                <a:latin typeface="微软雅黑" panose="020B0503020204020204" charset="-122"/>
                <a:ea typeface="微软雅黑" panose="020B0503020204020204" charset="-122"/>
                <a:sym typeface="+mn-ea"/>
              </a:rPr>
              <a:t>移动互联终端、移动互联网络、由移动互联终端和移动互联网络的特性所带来的独特的移动互联应用。</a:t>
            </a:r>
            <a:r>
              <a:rPr lang="zh-CN" altLang="en-US" dirty="0">
                <a:latin typeface="微软雅黑" panose="020B0503020204020204" charset="-122"/>
                <a:ea typeface="微软雅黑" panose="020B0503020204020204" charset="-122"/>
                <a:sym typeface="+mn-ea"/>
              </a:rPr>
              <a:t>本章从这3个方面讨论了</a:t>
            </a:r>
            <a:r>
              <a:rPr lang="zh-CN" altLang="en-US" dirty="0">
                <a:solidFill>
                  <a:srgbClr val="C00000"/>
                </a:solidFill>
                <a:latin typeface="微软雅黑" panose="020B0503020204020204" charset="-122"/>
                <a:ea typeface="微软雅黑" panose="020B0503020204020204" charset="-122"/>
                <a:sym typeface="+mn-ea"/>
              </a:rPr>
              <a:t>移动终端技术、网络接入技术、移动互联应用服务技术</a:t>
            </a:r>
            <a:r>
              <a:rPr lang="zh-CN" altLang="en-US" dirty="0">
                <a:latin typeface="微软雅黑" panose="020B0503020204020204" charset="-122"/>
                <a:ea typeface="微软雅黑" panose="020B0503020204020204" charset="-122"/>
                <a:sym typeface="+mn-ea"/>
              </a:rPr>
              <a:t>。</a:t>
            </a:r>
          </a:p>
          <a:p>
            <a:pPr marL="285750" indent="-285750" algn="l" fontAlgn="auto">
              <a:lnSpc>
                <a:spcPct val="130000"/>
              </a:lnSpc>
              <a:buFont typeface="Wingdings" panose="05000000000000000000" charset="0"/>
              <a:buChar char="Ø"/>
            </a:pPr>
            <a:r>
              <a:rPr lang="zh-CN" altLang="en-US" dirty="0">
                <a:latin typeface="微软雅黑" panose="020B0503020204020204" charset="-122"/>
                <a:ea typeface="微软雅黑" panose="020B0503020204020204" charset="-122"/>
                <a:sym typeface="+mn-ea"/>
              </a:rPr>
              <a:t>移动互联网应用平台接入互联网，网络的安全性要求远远高于一般的PC机，网络的安全性非常重要。本章最后介绍了</a:t>
            </a:r>
            <a:r>
              <a:rPr lang="zh-CN" altLang="en-US" dirty="0">
                <a:solidFill>
                  <a:srgbClr val="00B0F0"/>
                </a:solidFill>
                <a:latin typeface="微软雅黑" panose="020B0503020204020204" charset="-122"/>
                <a:ea typeface="微软雅黑" panose="020B0503020204020204" charset="-122"/>
                <a:sym typeface="+mn-ea"/>
              </a:rPr>
              <a:t>移动互联网应用安全技术，主要分为移动终端安全技术、移动网络安全技术、移动互联应用安全技术、位置隐私保护技术和痕迹信息保护技术。</a:t>
            </a:r>
          </a:p>
        </p:txBody>
      </p:sp>
      <p:sp>
        <p:nvSpPr>
          <p:cNvPr id="7" name="文本框 6"/>
          <p:cNvSpPr txBox="1"/>
          <p:nvPr/>
        </p:nvSpPr>
        <p:spPr>
          <a:xfrm>
            <a:off x="754380" y="3343910"/>
            <a:ext cx="476250" cy="108712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本章小结</a:t>
            </a:r>
          </a:p>
        </p:txBody>
      </p:sp>
    </p:spTree>
    <p:custDataLst>
      <p:tags r:id="rId1"/>
    </p:custDataLst>
  </p:cSld>
  <p:clrMapOvr>
    <a:masterClrMapping/>
  </p:clrMapOvr>
  <p:transition>
    <p:checker dir="vert"/>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randomBar dir="vert"/>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H" val="20150911154116"/>
  <p:tag name="MH_LIBRARY" val="GRAPHIC"/>
  <p:tag name="MH_ORDER" val="矩形 2"/>
</p:tagLst>
</file>

<file path=ppt/tags/tag2.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2"/>
</p:tagLst>
</file>

<file path=ppt/tags/tag3.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3"/>
</p:tagLst>
</file>

<file path=ppt/tags/tag4.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4"/>
</p:tagLst>
</file>

<file path=ppt/tags/tag5.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6"/>
</p:tagLst>
</file>

<file path=ppt/tags/tag6.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7"/>
</p:tagLst>
</file>

<file path=ppt/tags/tag7.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8"/>
</p:tagLst>
</file>

<file path=ppt/tags/tag8.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9"/>
</p:tagLst>
</file>

<file path=ppt/tags/tag9.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0"/>
</p:tagLst>
</file>

<file path=ppt/tags/tag10.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1"/>
</p:tagLst>
</file>

<file path=ppt/tags/tag11.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2"/>
</p:tagLst>
</file>

<file path=ppt/tags/tag12.xml><?xml version="1.0" encoding="utf-8"?>
<p:tagLst xmlns:a="http://schemas.openxmlformats.org/drawingml/2006/main" xmlns:r="http://schemas.openxmlformats.org/officeDocument/2006/relationships" xmlns:p="http://schemas.openxmlformats.org/presentationml/2006/main">
  <p:tag name="MH_TYPE" val="#NeiR#"/>
  <p:tag name="MH_NUMBER" val="1"/>
  <p:tag name="MH_CATEGORY" val="#TuWHP#"/>
  <p:tag name="MH_LAYOUT" val="SubTitleText"/>
  <p:tag name="MH" val="20161213152808"/>
  <p:tag name="MH_LIBRARY" val="GRAPHIC"/>
</p:tagLst>
</file>

<file path=ppt/tags/tag13.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Picture"/>
  <p:tag name="MH_ORDER" val="1"/>
</p:tagLst>
</file>

<file path=ppt/tags/tag14.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Text"/>
  <p:tag name="MH_ORDER" val="1"/>
</p:tagLst>
</file>

<file path=ppt/tags/tag15.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Other"/>
  <p:tag name="MH_ORDER" val="2"/>
</p:tagLst>
</file>

<file path=ppt/tags/tag16.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Other"/>
  <p:tag name="MH_ORDER" val="3"/>
</p:tagLst>
</file>

<file path=ppt/tags/tag17.xml><?xml version="1.0" encoding="utf-8"?>
<p:tagLst xmlns:a="http://schemas.openxmlformats.org/drawingml/2006/main" xmlns:r="http://schemas.openxmlformats.org/officeDocument/2006/relationships" xmlns:p="http://schemas.openxmlformats.org/presentationml/2006/main">
  <p:tag name="MH" val="20161213153337"/>
  <p:tag name="MH_LIBRARY" val="GRAPHIC"/>
</p:tagLst>
</file>

<file path=ppt/tags/tag18.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19.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Text Box 20"/>
</p:tagLst>
</file>

<file path=ppt/tags/tag20.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文本框 20"/>
</p:tagLst>
</file>

<file path=ppt/tags/tag21.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2"/>
</p:tagLst>
</file>

<file path=ppt/tags/tag22.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4"/>
</p:tagLst>
</file>

<file path=ppt/tags/tag23.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4.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1"/>
</p:tagLst>
</file>

<file path=ppt/tags/tag25.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2"/>
</p:tagLst>
</file>

<file path=ppt/tags/tag26.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3"/>
</p:tagLst>
</file>

<file path=ppt/tags/tag27.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4"/>
</p:tagLst>
</file>

<file path=ppt/tags/tag28.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6"/>
</p:tagLst>
</file>

<file path=ppt/tags/tag29.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2"/>
</p:tagLst>
</file>

<file path=ppt/tags/tag30.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2"/>
</p:tagLst>
</file>

<file path=ppt/tags/tag31.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7"/>
</p:tagLst>
</file>

<file path=ppt/tags/tag32.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Text"/>
  <p:tag name="MH_ORDER" val="1"/>
</p:tagLst>
</file>

<file path=ppt/tags/tag33.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SubTitle"/>
  <p:tag name="MH_ORDER" val="1"/>
</p:tagLst>
</file>

<file path=ppt/tags/tag34.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8"/>
</p:tagLst>
</file>

<file path=ppt/tags/tag35.xml><?xml version="1.0" encoding="utf-8"?>
<p:tagLst xmlns:a="http://schemas.openxmlformats.org/drawingml/2006/main" xmlns:r="http://schemas.openxmlformats.org/officeDocument/2006/relationships" xmlns:p="http://schemas.openxmlformats.org/presentationml/2006/main">
  <p:tag name="MH" val="20161215110048"/>
  <p:tag name="MH_LIBRARY" val="GRAPHIC"/>
  <p:tag name="MH_TYPE" val="Other"/>
  <p:tag name="MH_ORDER" val="5"/>
</p:tagLst>
</file>

<file path=ppt/tags/tag3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37.xml><?xml version="1.0" encoding="utf-8"?>
<p:tagLst xmlns:a="http://schemas.openxmlformats.org/drawingml/2006/main" xmlns:r="http://schemas.openxmlformats.org/officeDocument/2006/relationships" xmlns:p="http://schemas.openxmlformats.org/presentationml/2006/main">
  <p:tag name="MH" val="20161214163846"/>
  <p:tag name="MH_LIBRARY" val="GRAPHIC"/>
  <p:tag name="MH_TYPE" val="Text"/>
  <p:tag name="MH_ORDER" val="1"/>
</p:tagLst>
</file>

<file path=ppt/tags/tag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6*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6*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6*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6*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6*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6*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6*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6*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6*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6*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6*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6*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6*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6*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5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53.xml><?xml version="1.0" encoding="utf-8"?>
<p:tagLst xmlns:a="http://schemas.openxmlformats.org/drawingml/2006/main" xmlns:r="http://schemas.openxmlformats.org/officeDocument/2006/relationships" xmlns:p="http://schemas.openxmlformats.org/presentationml/2006/main">
  <p:tag name="MH" val="20161215102852"/>
  <p:tag name="MH_LIBRARY" val="GRAPHIC"/>
  <p:tag name="MH_TYPE" val="SubTitle"/>
  <p:tag name="MH_ORDER" val="1"/>
</p:tagLst>
</file>

<file path=ppt/tags/tag54.xml><?xml version="1.0" encoding="utf-8"?>
<p:tagLst xmlns:a="http://schemas.openxmlformats.org/drawingml/2006/main" xmlns:r="http://schemas.openxmlformats.org/officeDocument/2006/relationships" xmlns:p="http://schemas.openxmlformats.org/presentationml/2006/main">
  <p:tag name="MH" val="20170104153917"/>
  <p:tag name="MH_LIBRARY" val="GRAPHIC"/>
  <p:tag name="MH_TYPE" val="SubTitle"/>
  <p:tag name="MH_ORDER" val="1"/>
</p:tagLst>
</file>

<file path=ppt/tags/tag55.xml><?xml version="1.0" encoding="utf-8"?>
<p:tagLst xmlns:a="http://schemas.openxmlformats.org/drawingml/2006/main" xmlns:r="http://schemas.openxmlformats.org/officeDocument/2006/relationships" xmlns:p="http://schemas.openxmlformats.org/presentationml/2006/main">
  <p:tag name="MH" val="20170104153917"/>
  <p:tag name="MH_LIBRARY" val="GRAPHIC"/>
  <p:tag name="MH_TYPE" val="Text"/>
  <p:tag name="MH_ORDER" val="1"/>
</p:tagLst>
</file>

<file path=ppt/tags/tag5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57.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58.xml><?xml version="1.0" encoding="utf-8"?>
<p:tagLst xmlns:a="http://schemas.openxmlformats.org/drawingml/2006/main" xmlns:r="http://schemas.openxmlformats.org/officeDocument/2006/relationships" xmlns:p="http://schemas.openxmlformats.org/presentationml/2006/main">
  <p:tag name="MH" val="20161214163846"/>
  <p:tag name="MH_LIBRARY" val="GRAPHIC"/>
  <p:tag name="MH_TYPE" val="Text"/>
  <p:tag name="MH_ORDER" val="1"/>
</p:tagLst>
</file>

<file path=ppt/tags/tag59.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60.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61.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62.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63.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64.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65.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1"/>
</p:tagLst>
</file>

<file path=ppt/tags/tag66.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3"/>
</p:tagLst>
</file>

<file path=ppt/tags/tag67.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1"/>
</p:tagLst>
</file>

<file path=ppt/tags/tag68.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Title"/>
  <p:tag name="MH_ORDER" val="1"/>
</p:tagLst>
</file>

<file path=ppt/tags/tag69.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2"/>
</p:tagLst>
</file>

<file path=ppt/tags/tag70.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2"/>
</p:tagLst>
</file>

<file path=ppt/tags/tag71.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3"/>
</p:tagLst>
</file>

<file path=ppt/tags/tag7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7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7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7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7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7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7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7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8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8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8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8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8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8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8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8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8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8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9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9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9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9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9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9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9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9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9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9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10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10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10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6"/>
</p:tagLst>
</file>

<file path=ppt/tags/tag10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7"/>
</p:tagLst>
</file>

<file path=ppt/tags/tag10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8"/>
</p:tagLst>
</file>

<file path=ppt/tags/tag10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9"/>
</p:tagLst>
</file>

<file path=ppt/tags/tag10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0"/>
</p:tagLst>
</file>

<file path=ppt/tags/tag10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3"/>
</p:tagLst>
</file>

<file path=ppt/tags/tag10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3"/>
</p:tagLst>
</file>

<file path=ppt/tags/tag10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11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11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11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11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11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11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11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11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11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11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12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12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12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12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12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12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12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12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12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12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13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13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13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13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13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13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13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13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3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3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14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14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14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14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14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14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14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14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14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4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15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15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15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15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15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15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15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15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15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15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16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16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16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16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16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16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16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16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16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16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17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17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17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17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17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175.xml><?xml version="1.0" encoding="utf-8"?>
<p:tagLst xmlns:a="http://schemas.openxmlformats.org/drawingml/2006/main" xmlns:r="http://schemas.openxmlformats.org/officeDocument/2006/relationships" xmlns:p="http://schemas.openxmlformats.org/presentationml/2006/main">
  <p:tag name="MH" val="20161214163846"/>
  <p:tag name="MH_LIBRARY" val="GRAPHIC"/>
  <p:tag name="MH_TYPE" val="Text"/>
  <p:tag name="MH_ORDER" val="1"/>
</p:tagLst>
</file>

<file path=ppt/tags/tag176.xml><?xml version="1.0" encoding="utf-8"?>
<p:tagLst xmlns:a="http://schemas.openxmlformats.org/drawingml/2006/main" xmlns:r="http://schemas.openxmlformats.org/officeDocument/2006/relationships" xmlns:p="http://schemas.openxmlformats.org/presentationml/2006/main">
  <p:tag name="MH" val="20170104170807"/>
  <p:tag name="MH_LIBRARY" val="GRAPHIC"/>
  <p:tag name="MH_TYPE" val="Other"/>
  <p:tag name="MH_ORDER" val="1"/>
</p:tagLst>
</file>

<file path=ppt/tags/tag177.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1"/>
</p:tagLst>
</file>

<file path=ppt/tags/tag178.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2"/>
</p:tagLst>
</file>

<file path=ppt/tags/tag179.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Other"/>
  <p:tag name="MH_ORDER" val="2"/>
</p:tagLst>
</file>

<file path=ppt/tags/tag18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8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8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18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18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18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8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18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18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18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9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19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19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19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9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19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19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19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9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19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20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20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20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20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20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205.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0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0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20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0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21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21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21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21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21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21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21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21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21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21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22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22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22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22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22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22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22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22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22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22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23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23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23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23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3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23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3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23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23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23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24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24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24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24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24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4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24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47.xml><?xml version="1.0" encoding="utf-8"?>
<p:tagLst xmlns:a="http://schemas.openxmlformats.org/drawingml/2006/main" xmlns:r="http://schemas.openxmlformats.org/officeDocument/2006/relationships" xmlns:p="http://schemas.openxmlformats.org/presentationml/2006/main">
  <p:tag name="MH" val="20150917161353"/>
  <p:tag name="MH_LIBRARY" val="GRAPHIC"/>
  <p:tag name="MH_TYPE" val="Text"/>
  <p:tag name="MH_ORDER" val="2"/>
</p:tagLst>
</file>

<file path=ppt/tags/tag248.xml><?xml version="1.0" encoding="utf-8"?>
<p:tagLst xmlns:a="http://schemas.openxmlformats.org/drawingml/2006/main" xmlns:r="http://schemas.openxmlformats.org/officeDocument/2006/relationships" xmlns:p="http://schemas.openxmlformats.org/presentationml/2006/main">
  <p:tag name="MH" val="20150917161353"/>
  <p:tag name="MH_LIBRARY" val="GRAPHIC"/>
  <p:tag name="MH_TYPE" val="Text"/>
  <p:tag name="MH_ORDER" val="3"/>
</p:tagLst>
</file>

<file path=ppt/tags/tag249.xml><?xml version="1.0" encoding="utf-8"?>
<p:tagLst xmlns:a="http://schemas.openxmlformats.org/drawingml/2006/main" xmlns:r="http://schemas.openxmlformats.org/officeDocument/2006/relationships" xmlns:p="http://schemas.openxmlformats.org/presentationml/2006/main">
  <p:tag name="MH" val="20150917161353"/>
  <p:tag name="MH_LIBRARY" val="GRAPHIC"/>
  <p:tag name="MH_TYPE" val="SubTitle"/>
  <p:tag name="MH_ORDER" val="3"/>
</p:tagLst>
</file>

<file path=ppt/tags/tag250.xml><?xml version="1.0" encoding="utf-8"?>
<p:tagLst xmlns:a="http://schemas.openxmlformats.org/drawingml/2006/main" xmlns:r="http://schemas.openxmlformats.org/officeDocument/2006/relationships" xmlns:p="http://schemas.openxmlformats.org/presentationml/2006/main">
  <p:tag name="MH" val="20150917161353"/>
  <p:tag name="MH_LIBRARY" val="GRAPHIC"/>
  <p:tag name="MH_TYPE" val="SubTitle"/>
  <p:tag name="MH_ORDER" val="2"/>
</p:tagLst>
</file>

<file path=ppt/tags/tag251.xml><?xml version="1.0" encoding="utf-8"?>
<p:tagLst xmlns:a="http://schemas.openxmlformats.org/drawingml/2006/main" xmlns:r="http://schemas.openxmlformats.org/officeDocument/2006/relationships" xmlns:p="http://schemas.openxmlformats.org/presentationml/2006/main">
  <p:tag name="MH" val="20150917161353"/>
  <p:tag name="MH_LIBRARY" val="GRAPHIC"/>
  <p:tag name="MH_TYPE" val="SubTitle"/>
  <p:tag name="MH_ORDER" val="1"/>
</p:tagLst>
</file>

<file path=ppt/tags/tag252.xml><?xml version="1.0" encoding="utf-8"?>
<p:tagLst xmlns:a="http://schemas.openxmlformats.org/drawingml/2006/main" xmlns:r="http://schemas.openxmlformats.org/officeDocument/2006/relationships" xmlns:p="http://schemas.openxmlformats.org/presentationml/2006/main">
  <p:tag name="MH" val="20150917161353"/>
  <p:tag name="MH_LIBRARY" val="GRAPHIC"/>
  <p:tag name="MH_TYPE" val="Other"/>
  <p:tag name="MH_ORDER" val="1"/>
</p:tagLst>
</file>

<file path=ppt/tags/tag253.xml><?xml version="1.0" encoding="utf-8"?>
<p:tagLst xmlns:a="http://schemas.openxmlformats.org/drawingml/2006/main" xmlns:r="http://schemas.openxmlformats.org/officeDocument/2006/relationships" xmlns:p="http://schemas.openxmlformats.org/presentationml/2006/main">
  <p:tag name="MH" val="20150917161353"/>
  <p:tag name="MH_LIBRARY" val="GRAPHIC"/>
  <p:tag name="MH_TYPE" val="Other"/>
  <p:tag name="MH_ORDER" val="2"/>
</p:tagLst>
</file>

<file path=ppt/tags/tag254.xml><?xml version="1.0" encoding="utf-8"?>
<p:tagLst xmlns:a="http://schemas.openxmlformats.org/drawingml/2006/main" xmlns:r="http://schemas.openxmlformats.org/officeDocument/2006/relationships" xmlns:p="http://schemas.openxmlformats.org/presentationml/2006/main">
  <p:tag name="MH" val="20150917161353"/>
  <p:tag name="MH_LIBRARY" val="GRAPHIC"/>
  <p:tag name="MH_TYPE" val="Text"/>
  <p:tag name="MH_ORDER" val="1"/>
</p:tagLst>
</file>

<file path=ppt/tags/tag255.xml><?xml version="1.0" encoding="utf-8"?>
<p:tagLst xmlns:a="http://schemas.openxmlformats.org/drawingml/2006/main" xmlns:r="http://schemas.openxmlformats.org/officeDocument/2006/relationships" xmlns:p="http://schemas.openxmlformats.org/presentationml/2006/main">
  <p:tag name="MH" val="20150917161353"/>
  <p:tag name="MH_LIBRARY" val="GRAPHIC"/>
  <p:tag name="MH_TYPE" val="Other"/>
  <p:tag name="MH_ORDER" val="3"/>
</p:tagLst>
</file>

<file path=ppt/tags/tag256.xml><?xml version="1.0" encoding="utf-8"?>
<p:tagLst xmlns:a="http://schemas.openxmlformats.org/drawingml/2006/main" xmlns:r="http://schemas.openxmlformats.org/officeDocument/2006/relationships" xmlns:p="http://schemas.openxmlformats.org/presentationml/2006/main">
  <p:tag name="MH" val="20150917161353"/>
  <p:tag name="MH_LIBRARY" val="GRAPHIC"/>
  <p:tag name="MH_TYPE" val="Other"/>
  <p:tag name="MH_ORDER" val="4"/>
</p:tagLst>
</file>

<file path=ppt/tags/tag257.xml><?xml version="1.0" encoding="utf-8"?>
<p:tagLst xmlns:a="http://schemas.openxmlformats.org/drawingml/2006/main" xmlns:r="http://schemas.openxmlformats.org/officeDocument/2006/relationships" xmlns:p="http://schemas.openxmlformats.org/presentationml/2006/main">
  <p:tag name="MH" val="20150917161353"/>
  <p:tag name="MH_LIBRARY" val="GRAPHIC"/>
  <p:tag name="MH_TYPE" val="Other"/>
  <p:tag name="MH_ORDER" val="5"/>
</p:tagLst>
</file>

<file path=ppt/tags/tag25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5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26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6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26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26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26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26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26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26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26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26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27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27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27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27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27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27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27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27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27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27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28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1_A000120141119A01PPBG">
  <a:themeElements>
    <a:clrScheme name="自定义 49">
      <a:dk1>
        <a:srgbClr val="4D4D4D"/>
      </a:dk1>
      <a:lt1>
        <a:srgbClr val="FFFFFF"/>
      </a:lt1>
      <a:dk2>
        <a:srgbClr val="4D4D4D"/>
      </a:dk2>
      <a:lt2>
        <a:srgbClr val="FFFFFF"/>
      </a:lt2>
      <a:accent1>
        <a:srgbClr val="EF4150"/>
      </a:accent1>
      <a:accent2>
        <a:srgbClr val="FBAD24"/>
      </a:accent2>
      <a:accent3>
        <a:srgbClr val="58BDA8"/>
      </a:accent3>
      <a:accent4>
        <a:srgbClr val="E8766A"/>
      </a:accent4>
      <a:accent5>
        <a:srgbClr val="CCD373"/>
      </a:accent5>
      <a:accent6>
        <a:srgbClr val="E86ABB"/>
      </a:accent6>
      <a:hlink>
        <a:srgbClr val="447195"/>
      </a:hlink>
      <a:folHlink>
        <a:srgbClr val="7F7F7F"/>
      </a:folHlink>
    </a:clrScheme>
    <a:fontScheme name="自定义 3">
      <a:majorFont>
        <a:latin typeface="Arial"/>
        <a:ea typeface="黑体"/>
        <a:cs typeface=""/>
      </a:majorFont>
      <a:minorFont>
        <a:latin typeface="Arial"/>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190</TotalTime>
  <Words>5686</Words>
  <Application>WPS 演示</Application>
  <PresentationFormat>自定义</PresentationFormat>
  <Paragraphs>415</Paragraphs>
  <Slides>68</Slides>
  <Notes>9</Notes>
  <HiddenSlides>0</HiddenSlides>
  <MMClips>0</MMClips>
  <ScaleCrop>false</ScaleCrop>
  <HeadingPairs>
    <vt:vector size="4" baseType="variant">
      <vt:variant>
        <vt:lpstr>主题</vt:lpstr>
      </vt:variant>
      <vt:variant>
        <vt:i4>2</vt:i4>
      </vt:variant>
      <vt:variant>
        <vt:lpstr>幻灯片标题</vt:lpstr>
      </vt:variant>
      <vt:variant>
        <vt:i4>68</vt:i4>
      </vt:variant>
    </vt:vector>
  </HeadingPairs>
  <TitlesOfParts>
    <vt:vector size="70" baseType="lpstr">
      <vt:lpstr>Office 主题</vt:lpstr>
      <vt:lpstr>1_A000120141119A01PPBG</vt:lpstr>
      <vt:lpstr>幻灯片 1</vt:lpstr>
      <vt:lpstr>9  移动互联网与软件工程</vt:lpstr>
      <vt:lpstr>幻灯片 3</vt:lpstr>
      <vt:lpstr>幻灯片 4</vt:lpstr>
      <vt:lpstr>9.1  移动互联网简介 </vt:lpstr>
      <vt:lpstr>9.1  移动互联网简介 </vt:lpstr>
      <vt:lpstr>9.1  移动互联网简介 </vt:lpstr>
      <vt:lpstr>9.1  移动互联网简介 </vt:lpstr>
      <vt:lpstr>9.1  移动互联网简介 </vt:lpstr>
      <vt:lpstr>9.1  移动互联网简介 </vt:lpstr>
      <vt:lpstr>9.1  移动互联网简介 </vt:lpstr>
      <vt:lpstr>9.1  移动互联网简介 </vt:lpstr>
      <vt:lpstr>9.1  移动互联网简介 </vt:lpstr>
      <vt:lpstr>9.1  移动互联网简介 </vt:lpstr>
      <vt:lpstr>9.1  移动互联网简介 </vt:lpstr>
      <vt:lpstr>9.1  移动互联网简介 </vt:lpstr>
      <vt:lpstr>9.1  移动互联网简介 </vt:lpstr>
      <vt:lpstr>9.1  移动互联网简介 </vt:lpstr>
      <vt:lpstr>9.1  移动互联网简介 </vt:lpstr>
      <vt:lpstr>9.1  移动互联网简介 </vt:lpstr>
      <vt:lpstr>9.1  移动互联网简介 </vt:lpstr>
      <vt:lpstr>9.1  移动互联网简介 </vt:lpstr>
      <vt:lpstr>9.1  移动互联网简介 </vt:lpstr>
      <vt:lpstr>9.1  移动互联网简介 </vt:lpstr>
      <vt:lpstr>9.1  移动互联网简介 </vt:lpstr>
      <vt:lpstr>9.1  移动互联网简介 </vt:lpstr>
      <vt:lpstr>幻灯片 27</vt:lpstr>
      <vt:lpstr>9.2  移动互联网应用技术 </vt:lpstr>
      <vt:lpstr>9.2  移动互联网应用技术 </vt:lpstr>
      <vt:lpstr>9.2  移动互联网应用技术 </vt:lpstr>
      <vt:lpstr>9.2  移动互联网应用技术 </vt:lpstr>
      <vt:lpstr>9.2  移动互联网应用技术 </vt:lpstr>
      <vt:lpstr>9.2  移动互联网应用技术  </vt:lpstr>
      <vt:lpstr>9.2  移动互联网应用技术  </vt:lpstr>
      <vt:lpstr>9.2  移动互联网应用技术  </vt:lpstr>
      <vt:lpstr>9.2  移动互联网应用技术 </vt:lpstr>
      <vt:lpstr>9.2  移动互联网应用技术  </vt:lpstr>
      <vt:lpstr>9.2  移动互联网应用技术  </vt:lpstr>
      <vt:lpstr>9.2  移动互联网应用技术  </vt:lpstr>
      <vt:lpstr>9.2  移动互联网应用技术  </vt:lpstr>
      <vt:lpstr>9.2  移动互联网应用技术  </vt:lpstr>
      <vt:lpstr>9.2  移动互联网应用技术 </vt:lpstr>
      <vt:lpstr>9.2  移动互联网应用技术  </vt:lpstr>
      <vt:lpstr>9.2  移动互联网应用技术  </vt:lpstr>
      <vt:lpstr>9.2  移动互联网应用技术  </vt:lpstr>
      <vt:lpstr>9.2  移动互联网应用技术  </vt:lpstr>
      <vt:lpstr>9.2  移动互联网应用技术  </vt:lpstr>
      <vt:lpstr>9.2  移动互联网应用技术 </vt:lpstr>
      <vt:lpstr>9.2  移动互联网应用技术 </vt:lpstr>
      <vt:lpstr>9.2  移动互联网应用技术 </vt:lpstr>
      <vt:lpstr>9.2  移动互联网应用技术 </vt:lpstr>
      <vt:lpstr>9.2  移动互联网应用技术 </vt:lpstr>
      <vt:lpstr>9.2  移动互联网应用技术  </vt:lpstr>
      <vt:lpstr>9.2  移动互联网应用技术 </vt:lpstr>
      <vt:lpstr>9.2  移动互联网应用技术 </vt:lpstr>
      <vt:lpstr>9.2  移动互联网应用技术 </vt:lpstr>
      <vt:lpstr>9.2  移动互联网应用技术 </vt:lpstr>
      <vt:lpstr>9.2  移动互联网应用技术 </vt:lpstr>
      <vt:lpstr>幻灯片 59</vt:lpstr>
      <vt:lpstr>9.3  移动互联网应用安全技术 </vt:lpstr>
      <vt:lpstr>9.3  移动互联网应用安全技术</vt:lpstr>
      <vt:lpstr>9.3  移动互联网应用安全技术</vt:lpstr>
      <vt:lpstr>9.3  移动互联网应用安全技术</vt:lpstr>
      <vt:lpstr>9.3  移动互联网应用安全技术</vt:lpstr>
      <vt:lpstr>9.3  移动互联网应用安全技术</vt:lpstr>
      <vt:lpstr>9.3  移动互联网应用安全技术</vt:lpstr>
      <vt:lpstr>本章小结</vt:lpstr>
      <vt:lpstr>幻灯片 68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ZYK</dc:creator>
  <cp:lastModifiedBy>Wu</cp:lastModifiedBy>
  <cp:revision>35</cp:revision>
  <dcterms:created xsi:type="dcterms:W3CDTF">2017-02-04T08:58:00Z</dcterms:created>
  <dcterms:modified xsi:type="dcterms:W3CDTF">2017-03-30T00:37:31Z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2052-10.1.0.6206</vt:lpwstr>
  </property>
</Properties>
</file>