
<file path=[Content_Types].xml><?xml version="1.0" encoding="utf-8"?>
<Types xmlns="http://schemas.openxmlformats.org/package/2006/content-types">
  <Override PartName="/ppt/slides/slide47.xml" ContentType="application/vnd.openxmlformats-officedocument.presentationml.slide+xml"/>
  <Override PartName="/ppt/slides/slide94.xml" ContentType="application/vnd.openxmlformats-officedocument.presentationml.slide+xml"/>
  <Override PartName="/ppt/tags/tag8.xml" ContentType="application/vnd.openxmlformats-officedocument.presentationml.tags+xml"/>
  <Override PartName="/ppt/tags/tag140.xml" ContentType="application/vnd.openxmlformats-officedocument.presentationml.tags+xml"/>
  <Override PartName="/ppt/tags/tag238.xml" ContentType="application/vnd.openxmlformats-officedocument.presentationml.tags+xml"/>
  <Override PartName="/ppt/tags/tag285.xml" ContentType="application/vnd.openxmlformats-officedocument.presentationml.tags+xml"/>
  <Override PartName="/ppt/notesSlides/notesSlide38.xml" ContentType="application/vnd.openxmlformats-officedocument.presentationml.notesSlide+xml"/>
  <Override PartName="/ppt/notesSlides/notesSlide85.xml" ContentType="application/vnd.openxmlformats-officedocument.presentationml.notesSlide+xml"/>
  <Override PartName="/ppt/slides/slide25.xml" ContentType="application/vnd.openxmlformats-officedocument.presentationml.slide+xml"/>
  <Override PartName="/ppt/slides/slide72.xml" ContentType="application/vnd.openxmlformats-officedocument.presentationml.slide+xml"/>
  <Override PartName="/ppt/slideLayouts/slideLayout2.xml" ContentType="application/vnd.openxmlformats-officedocument.presentationml.slideLayout+xml"/>
  <Override PartName="/ppt/tags/tag216.xml" ContentType="application/vnd.openxmlformats-officedocument.presentationml.tags+xml"/>
  <Override PartName="/ppt/tags/tag263.xml" ContentType="application/vnd.openxmlformats-officedocument.presentationml.tags+xml"/>
  <Override PartName="/ppt/tags/tag402.xml" ContentType="application/vnd.openxmlformats-officedocument.presentationml.tags+xml"/>
  <Default Extension="xml" ContentType="application/xml"/>
  <Override PartName="/ppt/slides/slide50.xml" ContentType="application/vnd.openxmlformats-officedocument.presentationml.slide+xml"/>
  <Override PartName="/ppt/slideLayouts/slideLayout24.xml" ContentType="application/vnd.openxmlformats-officedocument.presentationml.slideLayout+xml"/>
  <Override PartName="/ppt/tags/tag38.xml" ContentType="application/vnd.openxmlformats-officedocument.presentationml.tags+xml"/>
  <Override PartName="/ppt/tags/tag85.xml" ContentType="application/vnd.openxmlformats-officedocument.presentationml.tags+xml"/>
  <Override PartName="/ppt/notesSlides/notesSlide16.xml" ContentType="application/vnd.openxmlformats-officedocument.presentationml.notesSlide+xml"/>
  <Override PartName="/ppt/tags/tag241.xml" ContentType="application/vnd.openxmlformats-officedocument.presentationml.tags+xml"/>
  <Override PartName="/ppt/notesSlides/notesSlide63.xml" ContentType="application/vnd.openxmlformats-officedocument.presentationml.notesSlide+xml"/>
  <Override PartName="/ppt/tags/tag339.xml" ContentType="application/vnd.openxmlformats-officedocument.presentationml.tags+xml"/>
  <Override PartName="/ppt/tags/tag386.xml" ContentType="application/vnd.openxmlformats-officedocument.presentationml.tags+xml"/>
  <Override PartName="/ppt/tags/tag16.xml" ContentType="application/vnd.openxmlformats-officedocument.presentationml.tags+xml"/>
  <Override PartName="/ppt/tags/tag63.xml" ContentType="application/vnd.openxmlformats-officedocument.presentationml.tags+xml"/>
  <Override PartName="/ppt/tags/tag178.xml" ContentType="application/vnd.openxmlformats-officedocument.presentationml.tags+xml"/>
  <Override PartName="/ppt/notesSlides/notesSlide41.xml" ContentType="application/vnd.openxmlformats-officedocument.presentationml.notesSlide+xml"/>
  <Override PartName="/ppt/tags/tag317.xml" ContentType="application/vnd.openxmlformats-officedocument.presentationml.tags+xml"/>
  <Override PartName="/ppt/tags/tag364.xml" ContentType="application/vnd.openxmlformats-officedocument.presentationml.tags+xml"/>
  <Override PartName="/ppt/tags/tag109.xml" ContentType="application/vnd.openxmlformats-officedocument.presentationml.tags+xml"/>
  <Override PartName="/ppt/tags/tag156.xml" ContentType="application/vnd.openxmlformats-officedocument.presentationml.tags+xml"/>
  <Override PartName="/ppt/tags/tag41.xml" ContentType="application/vnd.openxmlformats-officedocument.presentationml.tags+xml"/>
  <Override PartName="/ppt/notesSlides/notesSlide7.xml" ContentType="application/vnd.openxmlformats-officedocument.presentationml.notesSlide+xml"/>
  <Override PartName="/ppt/tags/tag279.xml" ContentType="application/vnd.openxmlformats-officedocument.presentationml.tags+xml"/>
  <Override PartName="/ppt/tags/tag342.xml" ContentType="application/vnd.openxmlformats-officedocument.presentationml.tags+xml"/>
  <Override PartName="/ppt/slides/slide88.xml" ContentType="application/vnd.openxmlformats-officedocument.presentationml.slide+xml"/>
  <Override PartName="/ppt/tags/tag134.xml" ContentType="application/vnd.openxmlformats-officedocument.presentationml.tags+xml"/>
  <Override PartName="/ppt/tags/tag181.xml" ContentType="application/vnd.openxmlformats-officedocument.presentationml.tags+xml"/>
  <Override PartName="/ppt/tags/tag320.xml" ContentType="application/vnd.openxmlformats-officedocument.presentationml.tags+xml"/>
  <Override PartName="/ppt/slides/slide19.xml" ContentType="application/vnd.openxmlformats-officedocument.presentationml.slide+xml"/>
  <Override PartName="/ppt/slides/slide66.xml" ContentType="application/vnd.openxmlformats-officedocument.presentationml.slide+xml"/>
  <Default Extension="png" ContentType="image/png"/>
  <Override PartName="/ppt/tags/tag112.xml" ContentType="application/vnd.openxmlformats-officedocument.presentationml.tags+xml"/>
  <Override PartName="/ppt/tags/tag257.xml" ContentType="application/vnd.openxmlformats-officedocument.presentationml.tags+xml"/>
  <Override PartName="/ppt/notesSlides/notesSlide79.xml" ContentType="application/vnd.openxmlformats-officedocument.presentationml.notesSlide+xml"/>
  <Override PartName="/ppt/slideLayouts/slideLayout18.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79.xml" ContentType="application/vnd.openxmlformats-officedocument.presentationml.tags+xml"/>
  <Override PartName="/ppt/notesSlides/notesSlide57.xml" ContentType="application/vnd.openxmlformats-officedocument.presentationml.notesSlide+xml"/>
  <Override PartName="/ppt/slides/slide44.xml" ContentType="application/vnd.openxmlformats-officedocument.presentationml.slide+xml"/>
  <Override PartName="/ppt/slides/slide91.xml" ContentType="application/vnd.openxmlformats-officedocument.presentationml.slide+xml"/>
  <Override PartName="/ppt/tags/tag235.xml" ContentType="application/vnd.openxmlformats-officedocument.presentationml.tags+xml"/>
  <Override PartName="/ppt/tags/tag282.xml" ContentType="application/vnd.openxmlformats-officedocument.presentationml.tags+xml"/>
  <Override PartName="/ppt/slides/slide22.xml" ContentType="application/vnd.openxmlformats-officedocument.presentationml.slide+xml"/>
  <Override PartName="/ppt/tags/tag57.xml" ContentType="application/vnd.openxmlformats-officedocument.presentationml.tags+xml"/>
  <Override PartName="/ppt/tags/tag213.xml" ContentType="application/vnd.openxmlformats-officedocument.presentationml.tags+xml"/>
  <Override PartName="/ppt/notesSlides/notesSlide35.xml" ContentType="application/vnd.openxmlformats-officedocument.presentationml.notesSlide+xml"/>
  <Override PartName="/ppt/tags/tag260.xml" ContentType="application/vnd.openxmlformats-officedocument.presentationml.tags+xml"/>
  <Override PartName="/ppt/notesSlides/notesSlide82.xml" ContentType="application/vnd.openxmlformats-officedocument.presentationml.notesSlide+xml"/>
  <Override PartName="/ppt/tags/tag358.xml" ContentType="application/vnd.openxmlformats-officedocument.presentationml.tags+xml"/>
  <Override PartName="/ppt/slideLayouts/slideLayout21.xml" ContentType="application/vnd.openxmlformats-officedocument.presentationml.slideLayout+xml"/>
  <Override PartName="/ppt/tags/tag35.xml" ContentType="application/vnd.openxmlformats-officedocument.presentationml.tags+xml"/>
  <Override PartName="/ppt/tags/tag82.xml" ContentType="application/vnd.openxmlformats-officedocument.presentationml.tags+xml"/>
  <Override PartName="/ppt/notesSlides/notesSlide13.xml" ContentType="application/vnd.openxmlformats-officedocument.presentationml.notesSlide+xml"/>
  <Override PartName="/ppt/tags/tag197.xml" ContentType="application/vnd.openxmlformats-officedocument.presentationml.tags+xml"/>
  <Override PartName="/ppt/notesSlides/notesSlide60.xml" ContentType="application/vnd.openxmlformats-officedocument.presentationml.notesSlide+xml"/>
  <Override PartName="/ppt/tags/tag336.xml" ContentType="application/vnd.openxmlformats-officedocument.presentationml.tags+xml"/>
  <Override PartName="/ppt/tags/tag383.xml" ContentType="application/vnd.openxmlformats-officedocument.presentationml.tags+xml"/>
  <Override PartName="/ppt/tags/tag128.xml" ContentType="application/vnd.openxmlformats-officedocument.presentationml.tags+xml"/>
  <Override PartName="/ppt/tags/tag175.xml" ContentType="application/vnd.openxmlformats-officedocument.presentationml.tags+xml"/>
  <Override PartName="/ppt/slides/slide108.xml" ContentType="application/vnd.openxmlformats-officedocument.presentationml.slide+xml"/>
  <Override PartName="/ppt/tags/tag13.xml" ContentType="application/vnd.openxmlformats-officedocument.presentationml.tags+xml"/>
  <Override PartName="/ppt/tags/tag60.xml" ContentType="application/vnd.openxmlformats-officedocument.presentationml.tags+xml"/>
  <Override PartName="/ppt/tags/tag298.xml" ContentType="application/vnd.openxmlformats-officedocument.presentationml.tags+xml"/>
  <Override PartName="/ppt/tags/tag314.xml" ContentType="application/vnd.openxmlformats-officedocument.presentationml.tags+xml"/>
  <Override PartName="/ppt/tags/tag361.xml" ContentType="application/vnd.openxmlformats-officedocument.presentationml.tags+xml"/>
  <Override PartName="/ppt/notesSlides/notesSlide4.xml" ContentType="application/vnd.openxmlformats-officedocument.presentationml.notesSlide+xml"/>
  <Override PartName="/ppt/tags/tag106.xml" ContentType="application/vnd.openxmlformats-officedocument.presentationml.tags+xml"/>
  <Override PartName="/ppt/tags/tag153.xml" ContentType="application/vnd.openxmlformats-officedocument.presentationml.tags+xml"/>
  <Override PartName="/ppt/slides/slide38.xml" ContentType="application/vnd.openxmlformats-officedocument.presentationml.slide+xml"/>
  <Override PartName="/ppt/slides/slide85.xml" ContentType="application/vnd.openxmlformats-officedocument.presentationml.slide+xml"/>
  <Override PartName="/ppt/tags/tag131.xml" ContentType="application/vnd.openxmlformats-officedocument.presentationml.tags+xml"/>
  <Override PartName="/ppt/tags/tag229.xml" ContentType="application/vnd.openxmlformats-officedocument.presentationml.tags+xml"/>
  <Override PartName="/ppt/tags/tag276.xml" ContentType="application/vnd.openxmlformats-officedocument.presentationml.tags+xml"/>
  <Override PartName="/ppt/tags/tag415.xml" ContentType="application/vnd.openxmlformats-officedocument.presentationml.tags+xml"/>
  <Override PartName="/ppt/slides/slide111.xml" ContentType="application/vnd.openxmlformats-officedocument.presentationml.slide+xml"/>
  <Override PartName="/ppt/tags/tag98.xml" ContentType="application/vnd.openxmlformats-officedocument.presentationml.tags+xml"/>
  <Override PartName="/ppt/tags/tag207.xml" ContentType="application/vnd.openxmlformats-officedocument.presentationml.tags+xml"/>
  <Override PartName="/ppt/notesSlides/notesSlide29.xml" ContentType="application/vnd.openxmlformats-officedocument.presentationml.notesSlide+xml"/>
  <Override PartName="/ppt/tags/tag254.xml" ContentType="application/vnd.openxmlformats-officedocument.presentationml.tags+xml"/>
  <Override PartName="/ppt/notesSlides/notesSlide76.xml" ContentType="application/vnd.openxmlformats-officedocument.presentationml.notesSlide+xml"/>
  <Override PartName="/ppt/tags/tag399.xml" ContentType="application/vnd.openxmlformats-officedocument.presentationml.tags+xml"/>
  <Override PartName="/ppt/slides/slide16.xml" ContentType="application/vnd.openxmlformats-officedocument.presentationml.slide+xml"/>
  <Override PartName="/ppt/slides/slide63.xml" ContentType="application/vnd.openxmlformats-officedocument.presentationml.slide+xml"/>
  <Override PartName="/ppt/slideLayouts/slideLayout15.xml" ContentType="application/vnd.openxmlformats-officedocument.presentationml.slideLayout+xml"/>
  <Override PartName="/ppt/tags/tag2.xml" ContentType="application/vnd.openxmlformats-officedocument.presentationml.tags+xml"/>
  <Override PartName="/ppt/slides/slide41.xml" ContentType="application/vnd.openxmlformats-officedocument.presentationml.slide+xml"/>
  <Override PartName="/ppt/tags/tag29.xml" ContentType="application/vnd.openxmlformats-officedocument.presentationml.tags+xml"/>
  <Override PartName="/ppt/tags/tag76.xml" ContentType="application/vnd.openxmlformats-officedocument.presentationml.tags+xml"/>
  <Override PartName="/ppt/tags/tag232.xml" ContentType="application/vnd.openxmlformats-officedocument.presentationml.tags+xml"/>
  <Override PartName="/ppt/notesSlides/notesSlide54.xml" ContentType="application/vnd.openxmlformats-officedocument.presentationml.notesSlide+xml"/>
  <Override PartName="/ppt/tags/tag377.xml" ContentType="application/vnd.openxmlformats-officedocument.presentationml.tags+xml"/>
  <Override PartName="/ppt/tags/tag54.xml" ContentType="application/vnd.openxmlformats-officedocument.presentationml.tags+xml"/>
  <Override PartName="/ppt/tags/tag169.xml" ContentType="application/vnd.openxmlformats-officedocument.presentationml.tags+xml"/>
  <Override PartName="/ppt/tags/tag210.xml" ContentType="application/vnd.openxmlformats-officedocument.presentationml.tags+xml"/>
  <Override PartName="/ppt/notesSlides/notesSlide32.xml" ContentType="application/vnd.openxmlformats-officedocument.presentationml.notesSlide+xml"/>
  <Override PartName="/ppt/tags/tag308.xml" ContentType="application/vnd.openxmlformats-officedocument.presentationml.tags+xml"/>
  <Override PartName="/ppt/tags/tag355.xml" ContentType="application/vnd.openxmlformats-officedocument.presentationml.tags+xml"/>
  <Override PartName="/ppt/tags/tag147.xml" ContentType="application/vnd.openxmlformats-officedocument.presentationml.tags+xml"/>
  <Override PartName="/ppt/tags/tag194.xml" ContentType="application/vnd.openxmlformats-officedocument.presentationml.tags+xml"/>
  <Override PartName="/ppt/slides/slide79.xml" ContentType="application/vnd.openxmlformats-officedocument.presentationml.slide+xml"/>
  <Override PartName="/ppt/tags/tag32.xml" ContentType="application/vnd.openxmlformats-officedocument.presentationml.tags+xml"/>
  <Override PartName="/ppt/notesSlides/notesSlide10.xml" ContentType="application/vnd.openxmlformats-officedocument.presentationml.notesSlide+xml"/>
  <Override PartName="/ppt/tags/tag333.xml" ContentType="application/vnd.openxmlformats-officedocument.presentationml.tags+xml"/>
  <Override PartName="/ppt/tags/tag380.xml" ContentType="application/vnd.openxmlformats-officedocument.presentationml.tags+xml"/>
  <Override PartName="/ppt/slides/slide7.xml" ContentType="application/vnd.openxmlformats-officedocument.presentationml.slide+xml"/>
  <Override PartName="/ppt/slideLayouts/slideLayout9.xml" ContentType="application/vnd.openxmlformats-officedocument.presentationml.slideLayout+xml"/>
  <Override PartName="/ppt/tags/tag10.xml" ContentType="application/vnd.openxmlformats-officedocument.presentationml.tags+xml"/>
  <Override PartName="/ppt/tags/tag125.xml" ContentType="application/vnd.openxmlformats-officedocument.presentationml.tags+xml"/>
  <Override PartName="/ppt/tags/tag172.xml" ContentType="application/vnd.openxmlformats-officedocument.presentationml.tags+xml"/>
  <Override PartName="/ppt/tags/tag311.xml" ContentType="application/vnd.openxmlformats-officedocument.presentationml.tags+xml"/>
  <Override PartName="/ppt/tags/tag409.xml" ContentType="application/vnd.openxmlformats-officedocument.presentationml.tags+xml"/>
  <Override PartName="/ppt/slideMasters/slideMaster2.xml" ContentType="application/vnd.openxmlformats-officedocument.presentationml.slideMaster+xml"/>
  <Override PartName="/ppt/slides/slide57.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tags/tag103.xml" ContentType="application/vnd.openxmlformats-officedocument.presentationml.tags+xml"/>
  <Override PartName="/ppt/tags/tag150.xml" ContentType="application/vnd.openxmlformats-officedocument.presentationml.tags+xml"/>
  <Override PartName="/ppt/tags/tag248.xml" ContentType="application/vnd.openxmlformats-officedocument.presentationml.tags+xml"/>
  <Override PartName="/ppt/tags/tag295.xml" ContentType="application/vnd.openxmlformats-officedocument.presentationml.tags+xml"/>
  <Override PartName="/ppt/tags/tag226.xml" ContentType="application/vnd.openxmlformats-officedocument.presentationml.tags+xml"/>
  <Override PartName="/ppt/notesSlides/notesSlide48.xml" ContentType="application/vnd.openxmlformats-officedocument.presentationml.notesSlide+xml"/>
  <Override PartName="/ppt/tags/tag273.xml" ContentType="application/vnd.openxmlformats-officedocument.presentationml.tags+xml"/>
  <Override PartName="/ppt/slides/slide35.xml" ContentType="application/vnd.openxmlformats-officedocument.presentationml.slide+xml"/>
  <Override PartName="/ppt/slides/slide82.xml" ContentType="application/vnd.openxmlformats-officedocument.presentationml.slide+xml"/>
  <Override PartName="/ppt/tags/tag412.xml" ContentType="application/vnd.openxmlformats-officedocument.presentationml.tags+xml"/>
  <Override PartName="/ppt/slides/slide13.xml" ContentType="application/vnd.openxmlformats-officedocument.presentationml.slide+xml"/>
  <Override PartName="/ppt/slides/slide60.xml" ContentType="application/vnd.openxmlformats-officedocument.presentationml.slide+xml"/>
  <Override PartName="/ppt/tags/tag48.xml" ContentType="application/vnd.openxmlformats-officedocument.presentationml.tags+xml"/>
  <Override PartName="/ppt/tags/tag95.xml" ContentType="application/vnd.openxmlformats-officedocument.presentationml.tags+xml"/>
  <Override PartName="/ppt/tags/tag188.xml" ContentType="application/vnd.openxmlformats-officedocument.presentationml.tags+xml"/>
  <Override PartName="/ppt/tags/tag204.xml" ContentType="application/vnd.openxmlformats-officedocument.presentationml.tags+xml"/>
  <Override PartName="/ppt/notesSlides/notesSlide26.xml" ContentType="application/vnd.openxmlformats-officedocument.presentationml.notesSlide+xml"/>
  <Override PartName="/ppt/tags/tag251.xml" ContentType="application/vnd.openxmlformats-officedocument.presentationml.tags+xml"/>
  <Override PartName="/ppt/notesSlides/notesSlide73.xml" ContentType="application/vnd.openxmlformats-officedocument.presentationml.notesSlide+xml"/>
  <Override PartName="/ppt/tags/tag349.xml" ContentType="application/vnd.openxmlformats-officedocument.presentationml.tags+xml"/>
  <Override PartName="/ppt/tags/tag396.xml" ContentType="application/vnd.openxmlformats-officedocument.presentationml.tags+xml"/>
  <Override PartName="/ppt/slideLayouts/slideLayout12.xml" ContentType="application/vnd.openxmlformats-officedocument.presentationml.slideLayout+xml"/>
  <Override PartName="/ppt/tags/tag26.xml" ContentType="application/vnd.openxmlformats-officedocument.presentationml.tags+xml"/>
  <Override PartName="/ppt/tags/tag73.xml" ContentType="application/vnd.openxmlformats-officedocument.presentationml.tags+xml"/>
  <Override PartName="/ppt/notesSlides/notesSlide51.xml" ContentType="application/vnd.openxmlformats-officedocument.presentationml.notesSlide+xml"/>
  <Override PartName="/ppt/tags/tag327.xml" ContentType="application/vnd.openxmlformats-officedocument.presentationml.tags+xml"/>
  <Override PartName="/ppt/tags/tag374.xml" ContentType="application/vnd.openxmlformats-officedocument.presentationml.tags+xml"/>
  <Override PartName="/ppt/tags/tag119.xml" ContentType="application/vnd.openxmlformats-officedocument.presentationml.tags+xml"/>
  <Override PartName="/ppt/tags/tag166.xml" ContentType="application/vnd.openxmlformats-officedocument.presentationml.tags+xml"/>
  <Override PartName="/ppt/slides/slide98.xml" ContentType="application/vnd.openxmlformats-officedocument.presentationml.slide+xml"/>
  <Override PartName="/ppt/tags/tag51.xml" ContentType="application/vnd.openxmlformats-officedocument.presentationml.tags+xml"/>
  <Override PartName="/ppt/tags/tag289.xml" ContentType="application/vnd.openxmlformats-officedocument.presentationml.tags+xml"/>
  <Override PartName="/ppt/tags/tag305.xml" ContentType="application/vnd.openxmlformats-officedocument.presentationml.tags+xml"/>
  <Override PartName="/ppt/tags/tag352.xml" ContentType="application/vnd.openxmlformats-officedocument.presentationml.tags+xml"/>
  <Override PartName="/ppt/tags/tag144.xml" ContentType="application/vnd.openxmlformats-officedocument.presentationml.tags+xml"/>
  <Override PartName="/ppt/tags/tag191.xml" ContentType="application/vnd.openxmlformats-officedocument.presentationml.tags+xml"/>
  <Override PartName="/ppt/tags/tag330.xml" ContentType="application/vnd.openxmlformats-officedocument.presentationml.tags+xml"/>
  <Override PartName="/ppt/notesSlides/notesSlide89.xml" ContentType="application/vnd.openxmlformats-officedocument.presentationml.notesSlide+xml"/>
  <Override PartName="/ppt/slides/slide29.xml" ContentType="application/vnd.openxmlformats-officedocument.presentationml.slide+xml"/>
  <Override PartName="/ppt/slides/slide76.xml" ContentType="application/vnd.openxmlformats-officedocument.presentationml.slide+xml"/>
  <Override PartName="/ppt/tags/tag122.xml" ContentType="application/vnd.openxmlformats-officedocument.presentationml.tags+xml"/>
  <Override PartName="/ppt/tags/tag267.xml" ContentType="application/vnd.openxmlformats-officedocument.presentationml.tags+xml"/>
  <Override PartName="/ppt/tags/tag406.xml" ContentType="application/vnd.openxmlformats-officedocument.presentationml.tags+xml"/>
  <Override PartName="/ppt/slides/slide4.xml" ContentType="application/vnd.openxmlformats-officedocument.presentationml.slide+xml"/>
  <Override PartName="/ppt/slides/slide54.xml" ContentType="application/vnd.openxmlformats-officedocument.presentationml.slide+xml"/>
  <Override PartName="/ppt/slides/slide102.xml" ContentType="application/vnd.openxmlformats-officedocument.presentationml.slide+xml"/>
  <Override PartName="/ppt/slideLayouts/slideLayout6.xml" ContentType="application/vnd.openxmlformats-officedocument.presentationml.slideLayout+xml"/>
  <Override PartName="/ppt/slideLayouts/slideLayout28.xml" ContentType="application/vnd.openxmlformats-officedocument.presentationml.slideLayout+xml"/>
  <Override PartName="/ppt/tags/tag89.xml" ContentType="application/vnd.openxmlformats-officedocument.presentationml.tags+xml"/>
  <Override PartName="/ppt/tags/tag245.xml" ContentType="application/vnd.openxmlformats-officedocument.presentationml.tags+xml"/>
  <Override PartName="/ppt/notesSlides/notesSlide67.xml" ContentType="application/vnd.openxmlformats-officedocument.presentationml.notesSlide+xml"/>
  <Override PartName="/ppt/tags/tag292.xml" ContentType="application/vnd.openxmlformats-officedocument.presentationml.tags+xml"/>
  <Override PartName="/ppt/tags/tag100.xml" ContentType="application/vnd.openxmlformats-officedocument.presentationml.tags+xml"/>
  <Override PartName="/ppt/notesSlides/notesSlide45.xml" ContentType="application/vnd.openxmlformats-officedocument.presentationml.notesSlide+xml"/>
  <Override PartName="/ppt/tags/tag368.xml" ContentType="application/vnd.openxmlformats-officedocument.presentationml.tags+xml"/>
  <Override PartName="/ppt/notesSlides/notesSlide92.xml" ContentType="application/vnd.openxmlformats-officedocument.presentationml.notesSlide+xml"/>
  <Override PartName="/ppt/slides/slide32.xml" ContentType="application/vnd.openxmlformats-officedocument.presentationml.slide+xml"/>
  <Override PartName="/ppt/tags/tag67.xml" ContentType="application/vnd.openxmlformats-officedocument.presentationml.tags+xml"/>
  <Override PartName="/ppt/tags/tag223.xml" ContentType="application/vnd.openxmlformats-officedocument.presentationml.tags+xml"/>
  <Override PartName="/ppt/tags/tag270.xml" ContentType="application/vnd.openxmlformats-officedocument.presentationml.tags+xml"/>
  <Override PartName="/ppt/slides/slide10.xml" ContentType="application/vnd.openxmlformats-officedocument.presentationml.slide+xml"/>
  <Override PartName="/ppt/slideLayouts/slideLayout31.xml" ContentType="application/vnd.openxmlformats-officedocument.presentationml.slideLayout+xml"/>
  <Override PartName="/ppt/tags/tag45.xml" ContentType="application/vnd.openxmlformats-officedocument.presentationml.tags+xml"/>
  <Override PartName="/ppt/tags/tag92.xml" ContentType="application/vnd.openxmlformats-officedocument.presentationml.tags+xml"/>
  <Override PartName="/ppt/tags/tag201.xml" ContentType="application/vnd.openxmlformats-officedocument.presentationml.tags+xml"/>
  <Override PartName="/ppt/notesSlides/notesSlide23.xml" ContentType="application/vnd.openxmlformats-officedocument.presentationml.notesSlide+xml"/>
  <Override PartName="/ppt/notesSlides/notesSlide70.xml" ContentType="application/vnd.openxmlformats-officedocument.presentationml.notesSlide+xml"/>
  <Override PartName="/ppt/tags/tag346.xml" ContentType="application/vnd.openxmlformats-officedocument.presentationml.tags+xml"/>
  <Override PartName="/ppt/tags/tag393.xml" ContentType="application/vnd.openxmlformats-officedocument.presentationml.tags+xml"/>
  <Override PartName="/ppt/tags/tag138.xml" ContentType="application/vnd.openxmlformats-officedocument.presentationml.tags+xml"/>
  <Override PartName="/ppt/tags/tag185.xml" ContentType="application/vnd.openxmlformats-officedocument.presentationml.tags+xml"/>
  <Override PartName="/ppt/tags/tag324.xml" ContentType="application/vnd.openxmlformats-officedocument.presentationml.tags+xml"/>
  <Override PartName="/ppt/tags/tag371.xml" ContentType="application/vnd.openxmlformats-officedocument.presentationml.tags+xml"/>
  <Override PartName="/ppt/tags/tag23.xml" ContentType="application/vnd.openxmlformats-officedocument.presentationml.tags+xml"/>
  <Override PartName="/ppt/tags/tag70.xml" ContentType="application/vnd.openxmlformats-officedocument.presentationml.tags+xml"/>
  <Override PartName="/ppt/tags/tag116.xml" ContentType="application/vnd.openxmlformats-officedocument.presentationml.tags+xml"/>
  <Override PartName="/ppt/tags/tag163.xml" ContentType="application/vnd.openxmlformats-officedocument.presentationml.tags+xml"/>
  <Override PartName="/ppt/tags/tag9.xml" ContentType="application/vnd.openxmlformats-officedocument.presentationml.tags+xml"/>
  <Override PartName="/ppt/tags/tag302.xml" ContentType="application/vnd.openxmlformats-officedocument.presentationml.tags+xml"/>
  <Override PartName="/ppt/slides/slide48.xml" ContentType="application/vnd.openxmlformats-officedocument.presentationml.slide+xml"/>
  <Override PartName="/ppt/slides/slide95.xml" ContentType="application/vnd.openxmlformats-officedocument.presentationml.slide+xml"/>
  <Override PartName="/ppt/tags/tag141.xml" ContentType="application/vnd.openxmlformats-officedocument.presentationml.tags+xml"/>
  <Default Extension="bin" ContentType="application/vnd.openxmlformats-officedocument.oleObject"/>
  <Override PartName="/ppt/tags/tag239.xml" ContentType="application/vnd.openxmlformats-officedocument.presentationml.tags+xml"/>
  <Override PartName="/ppt/tags/tag286.xml" ContentType="application/vnd.openxmlformats-officedocument.presentationml.tags+xml"/>
  <Override PartName="/ppt/slides/slide26.xml" ContentType="application/vnd.openxmlformats-officedocument.presentationml.slide+xml"/>
  <Override PartName="/ppt/slides/slide73.xml" ContentType="application/vnd.openxmlformats-officedocument.presentationml.slide+xml"/>
  <Override PartName="/ppt/tags/tag217.xml" ContentType="application/vnd.openxmlformats-officedocument.presentationml.tags+xml"/>
  <Override PartName="/ppt/tags/tag264.xml" ContentType="application/vnd.openxmlformats-officedocument.presentationml.tags+xml"/>
  <Override PartName="/ppt/notesSlides/notesSlide39.xml" ContentType="application/vnd.openxmlformats-officedocument.presentationml.notesSlide+xml"/>
  <Override PartName="/ppt/notesSlides/notesSlide86.xml" ContentType="application/vnd.openxmlformats-officedocument.presentationml.notesSlide+xml"/>
  <Override PartName="/ppt/slides/slide1.xml" ContentType="application/vnd.openxmlformats-officedocument.presentationml.slide+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tags/tag39.xml" ContentType="application/vnd.openxmlformats-officedocument.presentationml.tags+xml"/>
  <Override PartName="/ppt/tags/tag86.xml" ContentType="application/vnd.openxmlformats-officedocument.presentationml.tags+xml"/>
  <Override PartName="/ppt/notesSlides/notesSlide17.xml" ContentType="application/vnd.openxmlformats-officedocument.presentationml.notesSlide+xml"/>
  <Override PartName="/ppt/notesSlides/notesSlide64.xml" ContentType="application/vnd.openxmlformats-officedocument.presentationml.notesSlide+xml"/>
  <Override PartName="/ppt/tags/tag387.xml" ContentType="application/vnd.openxmlformats-officedocument.presentationml.tags+xml"/>
  <Override PartName="/ppt/tags/tag403.xml" ContentType="application/vnd.openxmlformats-officedocument.presentationml.tags+xml"/>
  <Override PartName="/ppt/slides/slide51.xml" ContentType="application/vnd.openxmlformats-officedocument.presentationml.slide+xml"/>
  <Override PartName="/ppt/tags/tag179.xml" ContentType="application/vnd.openxmlformats-officedocument.presentationml.tags+xml"/>
  <Override PartName="/ppt/tags/tag242.xml" ContentType="application/vnd.openxmlformats-officedocument.presentationml.tags+xml"/>
  <Override PartName="/ppt/tags/tag17.xml" ContentType="application/vnd.openxmlformats-officedocument.presentationml.tags+xml"/>
  <Override PartName="/ppt/tags/tag64.xml" ContentType="application/vnd.openxmlformats-officedocument.presentationml.tags+xml"/>
  <Override PartName="/ppt/tags/tag220.xml" ContentType="application/vnd.openxmlformats-officedocument.presentationml.tags+xml"/>
  <Override PartName="/ppt/notesSlides/notesSlide42.xml" ContentType="application/vnd.openxmlformats-officedocument.presentationml.notesSlide+xml"/>
  <Override PartName="/ppt/tags/tag318.xml" ContentType="application/vnd.openxmlformats-officedocument.presentationml.tags+xml"/>
  <Override PartName="/ppt/tags/tag365.xml" ContentType="application/vnd.openxmlformats-officedocument.presentationml.tags+xml"/>
  <Override PartName="/ppt/notesSlides/notesSlide8.xml" ContentType="application/vnd.openxmlformats-officedocument.presentationml.notesSlide+xml"/>
  <Override PartName="/ppt/tags/tag157.xml" ContentType="application/vnd.openxmlformats-officedocument.presentationml.tags+xml"/>
  <Override PartName="/ppt/notesSlides/notesSlide20.xml" ContentType="application/vnd.openxmlformats-officedocument.presentationml.notesSlide+xml"/>
  <Override PartName="/ppt/tags/tag343.xml" ContentType="application/vnd.openxmlformats-officedocument.presentationml.tags+xml"/>
  <Override PartName="/ppt/tags/tag390.xml" ContentType="application/vnd.openxmlformats-officedocument.presentationml.tags+xml"/>
  <Override PartName="/ppt/slides/slide89.xml" ContentType="application/vnd.openxmlformats-officedocument.presentationml.slide+xml"/>
  <Override PartName="/ppt/tags/tag42.xml" ContentType="application/vnd.openxmlformats-officedocument.presentationml.tags+xml"/>
  <Override PartName="/ppt/tags/tag135.xml" ContentType="application/vnd.openxmlformats-officedocument.presentationml.tags+xml"/>
  <Override PartName="/ppt/tags/tag182.xml" ContentType="application/vnd.openxmlformats-officedocument.presentationml.tags+xml"/>
  <Override PartName="/ppt/tags/tag20.xml" ContentType="application/vnd.openxmlformats-officedocument.presentationml.tags+xml"/>
  <Override PartName="/ppt/tags/tag321.xml" ContentType="application/vnd.openxmlformats-officedocument.presentationml.tags+xml"/>
  <Override PartName="/ppt/slides/slide67.xml" ContentType="application/vnd.openxmlformats-officedocument.presentationml.slide+xml"/>
  <Override PartName="/ppt/slideLayouts/slideLayout19.xml" ContentType="application/vnd.openxmlformats-officedocument.presentationml.slideLayout+xml"/>
  <Override PartName="/ppt/tags/tag6.xml" ContentType="application/vnd.openxmlformats-officedocument.presentationml.tags+xml"/>
  <Override PartName="/ppt/tags/tag113.xml" ContentType="application/vnd.openxmlformats-officedocument.presentationml.tags+xml"/>
  <Override PartName="/ppt/tags/tag160.xml" ContentType="application/vnd.openxmlformats-officedocument.presentationml.tags+xml"/>
  <Override PartName="/ppt/tags/tag258.xml" ContentType="application/vnd.openxmlformats-officedocument.presentationml.tags+xml"/>
  <Override PartName="/ppt/slideMasters/slideMaster1.xml" ContentType="application/vnd.openxmlformats-officedocument.presentationml.slideMaster+xml"/>
  <Override PartName="/ppt/slides/slide45.xml" ContentType="application/vnd.openxmlformats-officedocument.presentationml.slide+xml"/>
  <Override PartName="/ppt/slides/slide92.xml" ContentType="application/vnd.openxmlformats-officedocument.presentationml.slide+xml"/>
  <Override PartName="/ppt/theme/theme3.xml" ContentType="application/vnd.openxmlformats-officedocument.theme+xml"/>
  <Override PartName="/ppt/tags/tag102.xml" ContentType="application/vnd.openxmlformats-officedocument.presentationml.tags+xml"/>
  <Override PartName="/ppt/tags/tag236.xml" ContentType="application/vnd.openxmlformats-officedocument.presentationml.tags+xml"/>
  <Override PartName="/ppt/notesSlides/notesSlide47.xml" ContentType="application/vnd.openxmlformats-officedocument.presentationml.notesSlide+xml"/>
  <Override PartName="/ppt/notesSlides/notesSlide58.xml" ContentType="application/vnd.openxmlformats-officedocument.presentationml.notesSlide+xml"/>
  <Override PartName="/ppt/tags/tag283.xml" ContentType="application/vnd.openxmlformats-officedocument.presentationml.tags+xml"/>
  <Override PartName="/ppt/slides/slide34.xml" ContentType="application/vnd.openxmlformats-officedocument.presentationml.slide+xml"/>
  <Override PartName="/ppt/slides/slide81.xml" ContentType="application/vnd.openxmlformats-officedocument.presentationml.slide+xml"/>
  <Override PartName="/ppt/tags/tag58.xml" ContentType="application/vnd.openxmlformats-officedocument.presentationml.tags+xml"/>
  <Override PartName="/ppt/tags/tag69.xml" ContentType="application/vnd.openxmlformats-officedocument.presentationml.tags+xml"/>
  <Override PartName="/ppt/tags/tag225.xml" ContentType="application/vnd.openxmlformats-officedocument.presentationml.tags+xml"/>
  <Override PartName="/ppt/notesSlides/notesSlide36.xml" ContentType="application/vnd.openxmlformats-officedocument.presentationml.notesSlide+xml"/>
  <Override PartName="/ppt/tags/tag272.xml" ContentType="application/vnd.openxmlformats-officedocument.presentationml.tags+xml"/>
  <Override PartName="/ppt/notesSlides/notesSlide83.xml" ContentType="application/vnd.openxmlformats-officedocument.presentationml.notesSlide+xml"/>
  <Override PartName="/ppt/tags/tag359.xml" ContentType="application/vnd.openxmlformats-officedocument.presentationml.tags+xml"/>
  <Override PartName="/ppt/tags/tag411.xml" ContentType="application/vnd.openxmlformats-officedocument.presentationml.tags+xml"/>
  <Default Extension="rels" ContentType="application/vnd.openxmlformats-package.relationships+xml"/>
  <Override PartName="/ppt/slides/slide23.xml" ContentType="application/vnd.openxmlformats-officedocument.presentationml.slide+xml"/>
  <Override PartName="/ppt/slides/slide70.xml" ContentType="application/vnd.openxmlformats-officedocument.presentationml.slide+xml"/>
  <Override PartName="/ppt/slideLayouts/slideLayout22.xml" ContentType="application/vnd.openxmlformats-officedocument.presentationml.slideLayout+xml"/>
  <Override PartName="/ppt/tags/tag47.xml" ContentType="application/vnd.openxmlformats-officedocument.presentationml.tags+xml"/>
  <Override PartName="/ppt/tags/tag94.xml" ContentType="application/vnd.openxmlformats-officedocument.presentationml.tags+xml"/>
  <Override PartName="/ppt/tags/tag198.xml" ContentType="application/vnd.openxmlformats-officedocument.presentationml.tags+xml"/>
  <Override PartName="/ppt/tags/tag203.xml" ContentType="application/vnd.openxmlformats-officedocument.presentationml.tags+xml"/>
  <Override PartName="/ppt/tags/tag214.xml" ContentType="application/vnd.openxmlformats-officedocument.presentationml.tags+xml"/>
  <Override PartName="/ppt/notesSlides/notesSlide25.xml" ContentType="application/vnd.openxmlformats-officedocument.presentationml.notesSlide+xml"/>
  <Override PartName="/ppt/tags/tag250.xml" ContentType="application/vnd.openxmlformats-officedocument.presentationml.tags+xml"/>
  <Override PartName="/ppt/tags/tag261.xml" ContentType="application/vnd.openxmlformats-officedocument.presentationml.tags+xml"/>
  <Override PartName="/ppt/notesSlides/notesSlide72.xml" ContentType="application/vnd.openxmlformats-officedocument.presentationml.notesSlide+xml"/>
  <Override PartName="/ppt/tags/tag348.xml" ContentType="application/vnd.openxmlformats-officedocument.presentationml.tags+xml"/>
  <Override PartName="/ppt/tags/tag395.xml" ContentType="application/vnd.openxmlformats-officedocument.presentationml.tags+xml"/>
  <Override PartName="/ppt/tags/tag400.xml" ContentType="application/vnd.openxmlformats-officedocument.presentationml.tags+xml"/>
  <Override PartName="/ppt/slides/slide12.xml" ContentType="application/vnd.openxmlformats-officedocument.presentationml.slide+xml"/>
  <Override PartName="/ppt/slideLayouts/slideLayout11.xml" ContentType="application/vnd.openxmlformats-officedocument.presentationml.slideLayout+xml"/>
  <Override PartName="/ppt/tags/tag36.xml" ContentType="application/vnd.openxmlformats-officedocument.presentationml.tags+xml"/>
  <Override PartName="/ppt/tags/tag83.xml" ContentType="application/vnd.openxmlformats-officedocument.presentationml.tags+xml"/>
  <Override PartName="/ppt/notesSlides/notesSlide14.xml" ContentType="application/vnd.openxmlformats-officedocument.presentationml.notesSlide+xml"/>
  <Override PartName="/ppt/tags/tag187.xml" ContentType="application/vnd.openxmlformats-officedocument.presentationml.tags+xml"/>
  <Override PartName="/ppt/notesSlides/notesSlide61.xml" ContentType="application/vnd.openxmlformats-officedocument.presentationml.notesSlide+xml"/>
  <Override PartName="/ppt/tags/tag337.xml" ContentType="application/vnd.openxmlformats-officedocument.presentationml.tags+xml"/>
  <Override PartName="/ppt/tags/tag384.xml" ContentType="application/vnd.openxmlformats-officedocument.presentationml.tags+xml"/>
  <Override PartName="/ppt/tags/tag14.xml" ContentType="application/vnd.openxmlformats-officedocument.presentationml.tags+xml"/>
  <Override PartName="/ppt/tags/tag25.xml" ContentType="application/vnd.openxmlformats-officedocument.presentationml.tags+xml"/>
  <Override PartName="/ppt/tags/tag61.xml" ContentType="application/vnd.openxmlformats-officedocument.presentationml.tags+xml"/>
  <Override PartName="/ppt/tags/tag72.xml" ContentType="application/vnd.openxmlformats-officedocument.presentationml.tags+xml"/>
  <Override PartName="/ppt/tags/tag118.xml" ContentType="application/vnd.openxmlformats-officedocument.presentationml.tags+xml"/>
  <Override PartName="/ppt/tags/tag129.xml" ContentType="application/vnd.openxmlformats-officedocument.presentationml.tags+xml"/>
  <Override PartName="/ppt/tags/tag165.xml" ContentType="application/vnd.openxmlformats-officedocument.presentationml.tags+xml"/>
  <Override PartName="/ppt/tags/tag176.xml" ContentType="application/vnd.openxmlformats-officedocument.presentationml.tags+xml"/>
  <Override PartName="/ppt/notesSlides/notesSlide50.xml" ContentType="application/vnd.openxmlformats-officedocument.presentationml.notesSlide+xml"/>
  <Override PartName="/ppt/tags/tag315.xml" ContentType="application/vnd.openxmlformats-officedocument.presentationml.tags+xml"/>
  <Override PartName="/ppt/tags/tag326.xml" ContentType="application/vnd.openxmlformats-officedocument.presentationml.tags+xml"/>
  <Override PartName="/ppt/tags/tag362.xml" ContentType="application/vnd.openxmlformats-officedocument.presentationml.tags+xml"/>
  <Override PartName="/ppt/tags/tag373.xml" ContentType="application/vnd.openxmlformats-officedocument.presentationml.tags+xml"/>
  <Override PartName="/ppt/slides/slide109.xml" ContentType="application/vnd.openxmlformats-officedocument.presentationml.slide+xml"/>
  <Override PartName="/ppt/tags/tag50.xml" ContentType="application/vnd.openxmlformats-officedocument.presentationml.tags+xml"/>
  <Override PartName="/ppt/tags/tag107.xml" ContentType="application/vnd.openxmlformats-officedocument.presentationml.tags+xml"/>
  <Override PartName="/ppt/tags/tag154.xml" ContentType="application/vnd.openxmlformats-officedocument.presentationml.tags+xml"/>
  <Override PartName="/ppt/tags/tag299.xml" ContentType="application/vnd.openxmlformats-officedocument.presentationml.tags+xml"/>
  <Override PartName="/ppt/tags/tag304.xml" ContentType="application/vnd.openxmlformats-officedocument.presentationml.tags+xml"/>
  <Override PartName="/ppt/tags/tag351.xml" ContentType="application/vnd.openxmlformats-officedocument.presentationml.tags+xml"/>
  <Override PartName="/ppt/slides/slide97.xml" ContentType="application/vnd.openxmlformats-officedocument.presentationml.slide+xml"/>
  <Override PartName="/ppt/notesSlides/notesSlide5.xml" ContentType="application/vnd.openxmlformats-officedocument.presentationml.notesSlide+xml"/>
  <Override PartName="/ppt/tags/tag143.xml" ContentType="application/vnd.openxmlformats-officedocument.presentationml.tags+xml"/>
  <Override PartName="/ppt/tags/tag190.xml" ContentType="application/vnd.openxmlformats-officedocument.presentationml.tags+xml"/>
  <Override PartName="/ppt/tags/tag277.xml" ContentType="application/vnd.openxmlformats-officedocument.presentationml.tags+xml"/>
  <Override PartName="/ppt/tags/tag288.xml" ContentType="application/vnd.openxmlformats-officedocument.presentationml.tags+xml"/>
  <Override PartName="/ppt/tags/tag340.xml" ContentType="application/vnd.openxmlformats-officedocument.presentationml.tags+xml"/>
  <Override PartName="/ppt/slides/slide28.xml" ContentType="application/vnd.openxmlformats-officedocument.presentationml.slide+xml"/>
  <Override PartName="/ppt/slides/slide39.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tags/tag132.xml" ContentType="application/vnd.openxmlformats-officedocument.presentationml.tags+xml"/>
  <Override PartName="/ppt/tags/tag219.xml" ContentType="application/vnd.openxmlformats-officedocument.presentationml.tags+xml"/>
  <Override PartName="/ppt/tags/tag266.xml" ContentType="application/vnd.openxmlformats-officedocument.presentationml.tags+xml"/>
  <Override PartName="/ppt/notesSlides/notesSlide88.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64.xml" ContentType="application/vnd.openxmlformats-officedocument.presentationml.slide+xml"/>
  <Override PartName="/ppt/slides/slide101.xml" ContentType="application/vnd.openxmlformats-officedocument.presentationml.slide+xml"/>
  <Override PartName="/ppt/slides/slide112.xml" ContentType="application/vnd.openxmlformats-officedocument.presentationml.slide+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tags/tag99.xml" ContentType="application/vnd.openxmlformats-officedocument.presentationml.tags+xml"/>
  <Override PartName="/ppt/tags/tag110.xml" ContentType="application/vnd.openxmlformats-officedocument.presentationml.tags+xml"/>
  <Override PartName="/ppt/tags/tag121.xml" ContentType="application/vnd.openxmlformats-officedocument.presentationml.tags+xml"/>
  <Override PartName="/ppt/tags/tag208.xml" ContentType="application/vnd.openxmlformats-officedocument.presentationml.tags+xml"/>
  <Override PartName="/ppt/notesSlides/notesSlide19.xml" ContentType="application/vnd.openxmlformats-officedocument.presentationml.notesSlide+xml"/>
  <Override PartName="/ppt/tags/tag255.xml" ContentType="application/vnd.openxmlformats-officedocument.presentationml.tags+xml"/>
  <Override PartName="/ppt/notesSlides/notesSlide66.xml" ContentType="application/vnd.openxmlformats-officedocument.presentationml.notesSlide+xml"/>
  <Override PartName="/ppt/notesSlides/notesSlide77.xml" ContentType="application/vnd.openxmlformats-officedocument.presentationml.notesSlide+xml"/>
  <Override PartName="/ppt/tags/tag389.xml" ContentType="application/vnd.openxmlformats-officedocument.presentationml.tags+xml"/>
  <Override PartName="/ppt/tags/tag405.xml" ContentType="application/vnd.openxmlformats-officedocument.presentationml.tags+xml"/>
  <Override PartName="/ppt/slides/slide53.xml" ContentType="application/vnd.openxmlformats-officedocument.presentationml.slide+xml"/>
  <Override PartName="/ppt/slideLayouts/slideLayout16.xml" ContentType="application/vnd.openxmlformats-officedocument.presentationml.slideLayout+xml"/>
  <Override PartName="/ppt/tags/tag3.xml" ContentType="application/vnd.openxmlformats-officedocument.presentationml.tags+xml"/>
  <Default Extension="jpeg" ContentType="image/jpeg"/>
  <Override PartName="/ppt/tags/tag77.xml" ContentType="application/vnd.openxmlformats-officedocument.presentationml.tags+xml"/>
  <Override PartName="/ppt/tags/tag88.xml" ContentType="application/vnd.openxmlformats-officedocument.presentationml.tags+xml"/>
  <Override PartName="/ppt/tags/tag233.xml" ContentType="application/vnd.openxmlformats-officedocument.presentationml.tags+xml"/>
  <Override PartName="/ppt/tags/tag244.xml" ContentType="application/vnd.openxmlformats-officedocument.presentationml.tags+xml"/>
  <Override PartName="/ppt/notesSlides/notesSlide55.xml" ContentType="application/vnd.openxmlformats-officedocument.presentationml.notesSlide+xml"/>
  <Override PartName="/ppt/tags/tag280.xml" ContentType="application/vnd.openxmlformats-officedocument.presentationml.tags+xml"/>
  <Override PartName="/ppt/tags/tag291.xml" ContentType="application/vnd.openxmlformats-officedocument.presentationml.tags+xml"/>
  <Override PartName="/ppt/tags/tag378.xml" ContentType="application/vnd.openxmlformats-officedocument.presentationml.tags+xml"/>
  <Override PartName="/ppt/slides/slide31.xml" ContentType="application/vnd.openxmlformats-officedocument.presentationml.slide+xml"/>
  <Override PartName="/ppt/slides/slide42.xml" ContentType="application/vnd.openxmlformats-officedocument.presentationml.slide+xml"/>
  <Override PartName="/ppt/tags/tag19.xml" ContentType="application/vnd.openxmlformats-officedocument.presentationml.tags+xml"/>
  <Override PartName="/ppt/tags/tag66.xml" ContentType="application/vnd.openxmlformats-officedocument.presentationml.tags+xml"/>
  <Override PartName="/ppt/tags/tag222.xml" ContentType="application/vnd.openxmlformats-officedocument.presentationml.tags+xml"/>
  <Override PartName="/ppt/notesSlides/notesSlide44.xml" ContentType="application/vnd.openxmlformats-officedocument.presentationml.notesSlide+xml"/>
  <Override PartName="/ppt/tags/tag367.xml" ContentType="application/vnd.openxmlformats-officedocument.presentationml.tags+xml"/>
  <Override PartName="/ppt/notesSlides/notesSlide91.xml" ContentType="application/vnd.openxmlformats-officedocument.presentationml.notesSlide+xml"/>
  <Override PartName="/ppt/slides/slide20.xml" ContentType="application/vnd.openxmlformats-officedocument.presentationml.slide+xml"/>
  <Override PartName="/ppt/slideLayouts/slideLayout30.xml" ContentType="application/vnd.openxmlformats-officedocument.presentationml.slideLayout+xml"/>
  <Override PartName="/ppt/tags/tag55.xml" ContentType="application/vnd.openxmlformats-officedocument.presentationml.tags+xml"/>
  <Override PartName="/ppt/tags/tag159.xml" ContentType="application/vnd.openxmlformats-officedocument.presentationml.tags+xml"/>
  <Override PartName="/ppt/tags/tag211.xml" ContentType="application/vnd.openxmlformats-officedocument.presentationml.tags+xml"/>
  <Override PartName="/ppt/notesSlides/notesSlide22.xml" ContentType="application/vnd.openxmlformats-officedocument.presentationml.notesSlide+xml"/>
  <Override PartName="/ppt/notesSlides/notesSlide33.xml" ContentType="application/vnd.openxmlformats-officedocument.presentationml.notesSlide+xml"/>
  <Override PartName="/ppt/notesSlides/notesSlide80.xml" ContentType="application/vnd.openxmlformats-officedocument.presentationml.notesSlide+xml"/>
  <Override PartName="/ppt/tags/tag309.xml" ContentType="application/vnd.openxmlformats-officedocument.presentationml.tags+xml"/>
  <Override PartName="/ppt/tags/tag345.xml" ContentType="application/vnd.openxmlformats-officedocument.presentationml.tags+xml"/>
  <Override PartName="/ppt/tags/tag356.xml" ContentType="application/vnd.openxmlformats-officedocument.presentationml.tags+xml"/>
  <Override PartName="/ppt/tags/tag392.xml" ContentType="application/vnd.openxmlformats-officedocument.presentationml.tags+xml"/>
  <Override PartName="/ppt/tags/tag33.xml" ContentType="application/vnd.openxmlformats-officedocument.presentationml.tags+xml"/>
  <Override PartName="/ppt/tags/tag44.xml" ContentType="application/vnd.openxmlformats-officedocument.presentationml.tags+xml"/>
  <Override PartName="/ppt/tags/tag80.xml" ContentType="application/vnd.openxmlformats-officedocument.presentationml.tags+xml"/>
  <Override PartName="/ppt/tags/tag91.xml" ContentType="application/vnd.openxmlformats-officedocument.presentationml.tags+xml"/>
  <Override PartName="/ppt/notesSlides/notesSlide11.xml" ContentType="application/vnd.openxmlformats-officedocument.presentationml.notesSlide+xml"/>
  <Override PartName="/ppt/tags/tag137.xml" ContentType="application/vnd.openxmlformats-officedocument.presentationml.tags+xml"/>
  <Override PartName="/ppt/tags/tag148.xml" ContentType="application/vnd.openxmlformats-officedocument.presentationml.tags+xml"/>
  <Override PartName="/ppt/tags/tag184.xml" ContentType="application/vnd.openxmlformats-officedocument.presentationml.tags+xml"/>
  <Override PartName="/ppt/tags/tag195.xml" ContentType="application/vnd.openxmlformats-officedocument.presentationml.tags+xml"/>
  <Override PartName="/ppt/tags/tag200.xml" ContentType="application/vnd.openxmlformats-officedocument.presentationml.tags+xml"/>
  <Override PartName="/ppt/tags/tag334.xml" ContentType="application/vnd.openxmlformats-officedocument.presentationml.tags+xml"/>
  <Override PartName="/ppt/tags/tag381.xml" ContentType="application/vnd.openxmlformats-officedocument.presentationml.tags+xml"/>
  <Override PartName="/ppt/tags/tag22.xml" ContentType="application/vnd.openxmlformats-officedocument.presentationml.tags+xml"/>
  <Override PartName="/ppt/tags/tag126.xml" ContentType="application/vnd.openxmlformats-officedocument.presentationml.tags+xml"/>
  <Override PartName="/ppt/tags/tag173.xml" ContentType="application/vnd.openxmlformats-officedocument.presentationml.tags+xml"/>
  <Override PartName="/ppt/tags/tag323.xml" ContentType="application/vnd.openxmlformats-officedocument.presentationml.tags+xml"/>
  <Override PartName="/ppt/tags/tag370.xml" ContentType="application/vnd.openxmlformats-officedocument.presentationml.tags+xml"/>
  <Override PartName="/ppt/slides/slide8.xml" ContentType="application/vnd.openxmlformats-officedocument.presentationml.slide+xml"/>
  <Override PartName="/ppt/slides/slide69.xml" ContentType="application/vnd.openxmlformats-officedocument.presentationml.slide+xml"/>
  <Override PartName="/ppt/slides/slide106.xml" ContentType="application/vnd.openxmlformats-officedocument.presentationml.slide+xml"/>
  <Override PartName="/ppt/tags/tag11.xml" ContentType="application/vnd.openxmlformats-officedocument.presentationml.tags+xml"/>
  <Override PartName="/ppt/tags/tag115.xml" ContentType="application/vnd.openxmlformats-officedocument.presentationml.tags+xml"/>
  <Override PartName="/ppt/tags/tag162.xml" ContentType="application/vnd.openxmlformats-officedocument.presentationml.tags+xml"/>
  <Override PartName="/ppt/tags/tag249.xml" ContentType="application/vnd.openxmlformats-officedocument.presentationml.tags+xml"/>
  <Override PartName="/ppt/tags/tag296.xml" ContentType="application/vnd.openxmlformats-officedocument.presentationml.tags+xml"/>
  <Override PartName="/ppt/tags/tag301.xml" ContentType="application/vnd.openxmlformats-officedocument.presentationml.tags+xml"/>
  <Override PartName="/ppt/tags/tag312.xml" ContentType="application/vnd.openxmlformats-officedocument.presentationml.tags+xml"/>
  <Override PartName="/ppt/slideMasters/slideMaster3.xml" ContentType="application/vnd.openxmlformats-officedocument.presentationml.slideMaster+xml"/>
  <Override PartName="/ppt/slides/slide58.xml" ContentType="application/vnd.openxmlformats-officedocument.presentationml.slide+xml"/>
  <Override PartName="/ppt/notesSlides/notesSlide2.xml" ContentType="application/vnd.openxmlformats-officedocument.presentationml.notesSlide+xml"/>
  <Override PartName="/ppt/tags/tag104.xml" ContentType="application/vnd.openxmlformats-officedocument.presentationml.tags+xml"/>
  <Override PartName="/ppt/tags/tag151.xml" ContentType="application/vnd.openxmlformats-officedocument.presentationml.tags+xml"/>
  <Override PartName="/ppt/slides/slide36.xml" ContentType="application/vnd.openxmlformats-officedocument.presentationml.slide+xml"/>
  <Override PartName="/ppt/slides/slide83.xml" ContentType="application/vnd.openxmlformats-officedocument.presentationml.slide+xml"/>
  <Override PartName="/ppt/tags/tag227.xml" ContentType="application/vnd.openxmlformats-officedocument.presentationml.tags+xml"/>
  <Override PartName="/ppt/notesSlides/notesSlide49.xml" ContentType="application/vnd.openxmlformats-officedocument.presentationml.notesSlide+xml"/>
  <Override PartName="/ppt/tags/tag274.xml" ContentType="application/vnd.openxmlformats-officedocument.presentationml.tags+xml"/>
  <Override PartName="/ppt/tags/tag413.xml" ContentType="application/vnd.openxmlformats-officedocument.presentationml.tags+xml"/>
  <Override PartName="/ppt/tags/tag49.xml" ContentType="application/vnd.openxmlformats-officedocument.presentationml.tags+xml"/>
  <Override PartName="/ppt/tags/tag96.xml" ContentType="application/vnd.openxmlformats-officedocument.presentationml.tags+xml"/>
  <Override PartName="/ppt/tags/tag205.xml" ContentType="application/vnd.openxmlformats-officedocument.presentationml.tags+xml"/>
  <Override PartName="/ppt/notesSlides/notesSlide27.xml" ContentType="application/vnd.openxmlformats-officedocument.presentationml.notesSlide+xml"/>
  <Override PartName="/ppt/tags/tag252.xml" ContentType="application/vnd.openxmlformats-officedocument.presentationml.tags+xml"/>
  <Override PartName="/ppt/notesSlides/notesSlide74.xml" ContentType="application/vnd.openxmlformats-officedocument.presentationml.notesSlide+xml"/>
  <Override PartName="/ppt/tags/tag397.xml" ContentType="application/vnd.openxmlformats-officedocument.presentationml.tags+xml"/>
  <Override PartName="/ppt/slides/slide14.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Layouts/slideLayout13.xml" ContentType="application/vnd.openxmlformats-officedocument.presentationml.slideLayout+xml"/>
  <Override PartName="/ppt/tags/tag189.xml" ContentType="application/vnd.openxmlformats-officedocument.presentationml.tags+xml"/>
  <Override PartName="/ppt/tableStyles.xml" ContentType="application/vnd.openxmlformats-officedocument.presentationml.tableStyles+xml"/>
  <Override PartName="/ppt/tags/tag27.xml" ContentType="application/vnd.openxmlformats-officedocument.presentationml.tags+xml"/>
  <Override PartName="/ppt/tags/tag74.xml" ContentType="application/vnd.openxmlformats-officedocument.presentationml.tags+xml"/>
  <Override PartName="/ppt/tags/tag230.xml" ContentType="application/vnd.openxmlformats-officedocument.presentationml.tags+xml"/>
  <Override PartName="/ppt/notesSlides/notesSlide52.xml" ContentType="application/vnd.openxmlformats-officedocument.presentationml.notesSlide+xml"/>
  <Override PartName="/ppt/tags/tag328.xml" ContentType="application/vnd.openxmlformats-officedocument.presentationml.tags+xml"/>
  <Override PartName="/ppt/tags/tag375.xml" ContentType="application/vnd.openxmlformats-officedocument.presentationml.tags+xml"/>
  <Override PartName="/ppt/tags/tag52.xml" ContentType="application/vnd.openxmlformats-officedocument.presentationml.tags+xml"/>
  <Override PartName="/ppt/tags/tag167.xml" ContentType="application/vnd.openxmlformats-officedocument.presentationml.tags+xml"/>
  <Override PartName="/ppt/notesSlides/notesSlide30.xml" ContentType="application/vnd.openxmlformats-officedocument.presentationml.notesSlide+xml"/>
  <Override PartName="/ppt/tags/tag306.xml" ContentType="application/vnd.openxmlformats-officedocument.presentationml.tags+xml"/>
  <Override PartName="/ppt/tags/tag353.xml" ContentType="application/vnd.openxmlformats-officedocument.presentationml.tags+xml"/>
  <Override PartName="/ppt/slides/slide99.xml" ContentType="application/vnd.openxmlformats-officedocument.presentationml.slide+xml"/>
  <Override PartName="/ppt/tags/tag145.xml" ContentType="application/vnd.openxmlformats-officedocument.presentationml.tags+xml"/>
  <Override PartName="/ppt/tags/tag192.xml" ContentType="application/vnd.openxmlformats-officedocument.presentationml.tags+xml"/>
  <Override PartName="/ppt/slides/slide77.xml" ContentType="application/vnd.openxmlformats-officedocument.presentationml.slide+xml"/>
  <Override PartName="/ppt/tags/tag30.xml" ContentType="application/vnd.openxmlformats-officedocument.presentationml.tags+xml"/>
  <Override PartName="/ppt/tags/tag268.xml" ContentType="application/vnd.openxmlformats-officedocument.presentationml.tags+xml"/>
  <Override PartName="/ppt/tags/tag331.xml" ContentType="application/vnd.openxmlformats-officedocument.presentationml.tags+xml"/>
  <Override PartName="/ppt/slides/slide5.xml" ContentType="application/vnd.openxmlformats-officedocument.presentationml.slide+xml"/>
  <Override PartName="/ppt/slides/slide103.xml" ContentType="application/vnd.openxmlformats-officedocument.presentationml.slide+xml"/>
  <Override PartName="/ppt/slideLayouts/slideLayout7.xml" ContentType="application/vnd.openxmlformats-officedocument.presentationml.slideLayout+xml"/>
  <Override PartName="/ppt/slideLayouts/slideLayout29.xml" ContentType="application/vnd.openxmlformats-officedocument.presentationml.slideLayout+xml"/>
  <Override PartName="/ppt/tags/tag123.xml" ContentType="application/vnd.openxmlformats-officedocument.presentationml.tags+xml"/>
  <Override PartName="/ppt/tags/tag170.xml" ContentType="application/vnd.openxmlformats-officedocument.presentationml.tags+xml"/>
  <Override PartName="/ppt/notesSlides/notesSlide68.xml" ContentType="application/vnd.openxmlformats-officedocument.presentationml.notesSlide+xml"/>
  <Override PartName="/ppt/tags/tag407.xml" ContentType="application/vnd.openxmlformats-officedocument.presentationml.tags+xml"/>
  <Override PartName="/ppt/slides/slide55.xml" ContentType="application/vnd.openxmlformats-officedocument.presentationml.slide+xml"/>
  <Override PartName="/ppt/tags/tag101.xml" ContentType="application/vnd.openxmlformats-officedocument.presentationml.tags+xml"/>
  <Override PartName="/ppt/tags/tag246.xml" ContentType="application/vnd.openxmlformats-officedocument.presentationml.tags+xml"/>
  <Override PartName="/ppt/tags/tag293.xml" ContentType="application/vnd.openxmlformats-officedocument.presentationml.tags+xml"/>
  <Override PartName="/ppt/slides/slide33.xml" ContentType="application/vnd.openxmlformats-officedocument.presentationml.slide+xml"/>
  <Override PartName="/ppt/slides/slide80.xml" ContentType="application/vnd.openxmlformats-officedocument.presentationml.slide+xml"/>
  <Override PartName="/ppt/tags/tag68.xml" ContentType="application/vnd.openxmlformats-officedocument.presentationml.tags+xml"/>
  <Override PartName="/ppt/tags/tag224.xml" ContentType="application/vnd.openxmlformats-officedocument.presentationml.tags+xml"/>
  <Override PartName="/ppt/tags/tag271.xml" ContentType="application/vnd.openxmlformats-officedocument.presentationml.tags+xml"/>
  <Override PartName="/ppt/notesSlides/notesSlide46.xml" ContentType="application/vnd.openxmlformats-officedocument.presentationml.notesSlide+xml"/>
  <Override PartName="/ppt/tags/tag369.xml" ContentType="application/vnd.openxmlformats-officedocument.presentationml.tags+xml"/>
  <Override PartName="/ppt/notesSlides/notesSlide93.xml" ContentType="application/vnd.openxmlformats-officedocument.presentationml.notesSlide+xml"/>
  <Override PartName="/ppt/presentation.xml" ContentType="application/vnd.openxmlformats-officedocument.presentationml.presentation.main+xml"/>
  <Override PartName="/ppt/slideLayouts/slideLayout32.xml" ContentType="application/vnd.openxmlformats-officedocument.presentationml.slideLayout+xml"/>
  <Override PartName="/ppt/notesSlides/notesSlide24.xml" ContentType="application/vnd.openxmlformats-officedocument.presentationml.notesSlide+xml"/>
  <Override PartName="/ppt/notesSlides/notesSlide71.xml" ContentType="application/vnd.openxmlformats-officedocument.presentationml.notesSlide+xml"/>
  <Override PartName="/ppt/tags/tag347.xml" ContentType="application/vnd.openxmlformats-officedocument.presentationml.tags+xml"/>
  <Override PartName="/ppt/tags/tag394.xml" ContentType="application/vnd.openxmlformats-officedocument.presentationml.tags+xml"/>
  <Override PartName="/ppt/tags/tag410.xml" ContentType="application/vnd.openxmlformats-officedocument.presentationml.tags+xml"/>
  <Override PartName="/docProps/app.xml" ContentType="application/vnd.openxmlformats-officedocument.extended-properties+xml"/>
  <Override PartName="/ppt/slides/slide11.xml" ContentType="application/vnd.openxmlformats-officedocument.presentationml.slide+xml"/>
  <Override PartName="/ppt/tags/tag46.xml" ContentType="application/vnd.openxmlformats-officedocument.presentationml.tags+xml"/>
  <Override PartName="/ppt/tags/tag93.xml" ContentType="application/vnd.openxmlformats-officedocument.presentationml.tags+xml"/>
  <Override PartName="/ppt/tags/tag139.xml" ContentType="application/vnd.openxmlformats-officedocument.presentationml.tags+xml"/>
  <Override PartName="/ppt/tags/tag186.xml" ContentType="application/vnd.openxmlformats-officedocument.presentationml.tags+xml"/>
  <Override PartName="/ppt/tags/tag202.xml" ContentType="application/vnd.openxmlformats-officedocument.presentationml.tags+xml"/>
  <Override PartName="/ppt/slideLayouts/slideLayout10.xml" ContentType="application/vnd.openxmlformats-officedocument.presentationml.slideLayout+xml"/>
  <Override PartName="/ppt/tags/tag24.xml" ContentType="application/vnd.openxmlformats-officedocument.presentationml.tags+xml"/>
  <Override PartName="/ppt/tags/tag71.xml" ContentType="application/vnd.openxmlformats-officedocument.presentationml.tags+xml"/>
  <Override PartName="/ppt/tags/tag325.xml" ContentType="application/vnd.openxmlformats-officedocument.presentationml.tags+xml"/>
  <Override PartName="/ppt/tags/tag372.xml" ContentType="application/vnd.openxmlformats-officedocument.presentationml.tags+xml"/>
  <Override PartName="/ppt/tags/tag117.xml" ContentType="application/vnd.openxmlformats-officedocument.presentationml.tags+xml"/>
  <Override PartName="/ppt/tags/tag164.xml" ContentType="application/vnd.openxmlformats-officedocument.presentationml.tags+xml"/>
  <Override PartName="/ppt/slides/slide49.xml" ContentType="application/vnd.openxmlformats-officedocument.presentationml.slide+xml"/>
  <Override PartName="/ppt/slides/slide96.xml" ContentType="application/vnd.openxmlformats-officedocument.presentationml.slide+xml"/>
  <Override PartName="/ppt/tags/tag142.xml" ContentType="application/vnd.openxmlformats-officedocument.presentationml.tags+xml"/>
  <Override PartName="/ppt/tags/tag287.xml" ContentType="application/vnd.openxmlformats-officedocument.presentationml.tags+xml"/>
  <Override PartName="/ppt/tags/tag303.xml" ContentType="application/vnd.openxmlformats-officedocument.presentationml.tags+xml"/>
  <Override PartName="/ppt/tags/tag350.xml" ContentType="application/vnd.openxmlformats-officedocument.presentationml.tags+xml"/>
  <Override PartName="/ppt/notesSlides/notesSlide87.xml" ContentType="application/vnd.openxmlformats-officedocument.presentationml.notesSlide+xml"/>
  <Override PartName="/ppt/slides/slide27.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tags/tag120.xml" ContentType="application/vnd.openxmlformats-officedocument.presentationml.tags+xml"/>
  <Override PartName="/ppt/tags/tag218.xml" ContentType="application/vnd.openxmlformats-officedocument.presentationml.tags+xml"/>
  <Override PartName="/ppt/tags/tag265.xml" ContentType="application/vnd.openxmlformats-officedocument.presentationml.tags+xml"/>
  <Override PartName="/ppt/tags/tag404.xml" ContentType="application/vnd.openxmlformats-officedocument.presentationml.tags+xml"/>
  <Override PartName="/ppt/slides/slide2.xml" ContentType="application/vnd.openxmlformats-officedocument.presentationml.slide+xml"/>
  <Override PartName="/ppt/slides/slide52.xml" ContentType="application/vnd.openxmlformats-officedocument.presentationml.slide+xml"/>
  <Override PartName="/ppt/slides/slide100.xml" ContentType="application/vnd.openxmlformats-officedocument.presentationml.slide+xml"/>
  <Override PartName="/ppt/slideLayouts/slideLayout26.xml" ContentType="application/vnd.openxmlformats-officedocument.presentationml.slideLayout+xml"/>
  <Override PartName="/ppt/tags/tag87.xml" ContentType="application/vnd.openxmlformats-officedocument.presentationml.tags+xml"/>
  <Default Extension="wmf" ContentType="image/x-wmf"/>
  <Override PartName="/ppt/notesSlides/notesSlide18.xml" ContentType="application/vnd.openxmlformats-officedocument.presentationml.notesSlide+xml"/>
  <Override PartName="/ppt/tags/tag243.xml" ContentType="application/vnd.openxmlformats-officedocument.presentationml.tags+xml"/>
  <Override PartName="/ppt/notesSlides/notesSlide65.xml" ContentType="application/vnd.openxmlformats-officedocument.presentationml.notesSlide+xml"/>
  <Override PartName="/ppt/tags/tag290.xml" ContentType="application/vnd.openxmlformats-officedocument.presentationml.tags+xml"/>
  <Override PartName="/ppt/tags/tag388.xml" ContentType="application/vnd.openxmlformats-officedocument.presentationml.tags+xml"/>
  <Override PartName="/ppt/notesSlides/notesSlide43.xml" ContentType="application/vnd.openxmlformats-officedocument.presentationml.notesSlide+xml"/>
  <Override PartName="/ppt/tags/tag319.xml" ContentType="application/vnd.openxmlformats-officedocument.presentationml.tags+xml"/>
  <Override PartName="/ppt/tags/tag366.xml" ContentType="application/vnd.openxmlformats-officedocument.presentationml.tags+xml"/>
  <Override PartName="/ppt/notesSlides/notesSlide90.xml" ContentType="application/vnd.openxmlformats-officedocument.presentationml.notesSlide+xml"/>
  <Override PartName="/ppt/slides/slide30.xml" ContentType="application/vnd.openxmlformats-officedocument.presentationml.slide+xml"/>
  <Override PartName="/ppt/tags/tag18.xml" ContentType="application/vnd.openxmlformats-officedocument.presentationml.tags+xml"/>
  <Override PartName="/ppt/tags/tag65.xml" ContentType="application/vnd.openxmlformats-officedocument.presentationml.tags+xml"/>
  <Override PartName="/ppt/tags/tag158.xml" ContentType="application/vnd.openxmlformats-officedocument.presentationml.tags+xml"/>
  <Override PartName="/ppt/tags/tag221.xml" ContentType="application/vnd.openxmlformats-officedocument.presentationml.tags+xml"/>
  <Override PartName="/ppt/tags/tag43.xml" ContentType="application/vnd.openxmlformats-officedocument.presentationml.tags+xml"/>
  <Override PartName="/ppt/tags/tag90.xml" ContentType="application/vnd.openxmlformats-officedocument.presentationml.tags+xml"/>
  <Override PartName="/ppt/notesSlides/notesSlide9.xml" ContentType="application/vnd.openxmlformats-officedocument.presentationml.notesSlide+xml"/>
  <Override PartName="/ppt/notesSlides/notesSlide21.xml" ContentType="application/vnd.openxmlformats-officedocument.presentationml.notesSlide+xml"/>
  <Override PartName="/ppt/tags/tag344.xml" ContentType="application/vnd.openxmlformats-officedocument.presentationml.tags+xml"/>
  <Override PartName="/ppt/tags/tag391.xml" ContentType="application/vnd.openxmlformats-officedocument.presentationml.tags+xml"/>
  <Override PartName="/ppt/tags/tag136.xml" ContentType="application/vnd.openxmlformats-officedocument.presentationml.tags+xml"/>
  <Override PartName="/ppt/tags/tag183.xml" ContentType="application/vnd.openxmlformats-officedocument.presentationml.tags+xml"/>
  <Override PartName="/ppt/tags/tag322.xml" ContentType="application/vnd.openxmlformats-officedocument.presentationml.tags+xml"/>
  <Override PartName="/ppt/slides/slide68.xml" ContentType="application/vnd.openxmlformats-officedocument.presentationml.slide+xml"/>
  <Override PartName="/ppt/tags/tag21.xml" ContentType="application/vnd.openxmlformats-officedocument.presentationml.tags+xml"/>
  <Override PartName="/ppt/tags/tag114.xml" ContentType="application/vnd.openxmlformats-officedocument.presentationml.tags+xml"/>
  <Override PartName="/ppt/tags/tag161.xml" ContentType="application/vnd.openxmlformats-officedocument.presentationml.tags+xml"/>
  <Override PartName="/ppt/tags/tag259.xml" ContentType="application/vnd.openxmlformats-officedocument.presentationml.tags+xml"/>
  <Override PartName="/ppt/tags/tag7.xml" ContentType="application/vnd.openxmlformats-officedocument.presentationml.tags+xml"/>
  <Override PartName="/ppt/theme/theme4.xml" ContentType="application/vnd.openxmlformats-officedocument.theme+xml"/>
  <Override PartName="/ppt/notesSlides/notesSlide59.xml" ContentType="application/vnd.openxmlformats-officedocument.presentationml.notesSlide+xml"/>
  <Override PartName="/ppt/tags/tag300.xml" ContentType="application/vnd.openxmlformats-officedocument.presentationml.tags+xml"/>
  <Override PartName="/ppt/slides/slide46.xml" ContentType="application/vnd.openxmlformats-officedocument.presentationml.slide+xml"/>
  <Override PartName="/ppt/slides/slide93.xml" ContentType="application/vnd.openxmlformats-officedocument.presentationml.slide+xml"/>
  <Override PartName="/ppt/tags/tag237.xml" ContentType="application/vnd.openxmlformats-officedocument.presentationml.tags+xml"/>
  <Override PartName="/ppt/tags/tag284.xml" ContentType="application/vnd.openxmlformats-officedocument.presentationml.tags+xml"/>
  <Override PartName="/ppt/slides/slide24.xml" ContentType="application/vnd.openxmlformats-officedocument.presentationml.slide+xml"/>
  <Override PartName="/ppt/slides/slide71.xml" ContentType="application/vnd.openxmlformats-officedocument.presentationml.slide+xml"/>
  <Override PartName="/ppt/tags/tag59.xml" ContentType="application/vnd.openxmlformats-officedocument.presentationml.tags+xml"/>
  <Override PartName="/ppt/tags/tag215.xml" ContentType="application/vnd.openxmlformats-officedocument.presentationml.tags+xml"/>
  <Override PartName="/ppt/notesSlides/notesSlide37.xml" ContentType="application/vnd.openxmlformats-officedocument.presentationml.notesSlide+xml"/>
  <Override PartName="/ppt/tags/tag262.xml" ContentType="application/vnd.openxmlformats-officedocument.presentationml.tags+xml"/>
  <Override PartName="/ppt/notesSlides/notesSlide84.xml" ContentType="application/vnd.openxmlformats-officedocument.presentationml.notesSlide+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tags/tag37.xml" ContentType="application/vnd.openxmlformats-officedocument.presentationml.tags+xml"/>
  <Override PartName="/ppt/tags/tag84.xml" ContentType="application/vnd.openxmlformats-officedocument.presentationml.tags+xml"/>
  <Override PartName="/ppt/notesSlides/notesSlide15.xml" ContentType="application/vnd.openxmlformats-officedocument.presentationml.notesSlide+xml"/>
  <Override PartName="/ppt/tags/tag199.xml" ContentType="application/vnd.openxmlformats-officedocument.presentationml.tags+xml"/>
  <Override PartName="/ppt/notesSlides/notesSlide62.xml" ContentType="application/vnd.openxmlformats-officedocument.presentationml.notesSlide+xml"/>
  <Override PartName="/ppt/tags/tag338.xml" ContentType="application/vnd.openxmlformats-officedocument.presentationml.tags+xml"/>
  <Override PartName="/ppt/tags/tag385.xml" ContentType="application/vnd.openxmlformats-officedocument.presentationml.tags+xml"/>
  <Override PartName="/ppt/tags/tag401.xml" ContentType="application/vnd.openxmlformats-officedocument.presentationml.tags+xml"/>
  <Override PartName="/ppt/tags/tag177.xml" ContentType="application/vnd.openxmlformats-officedocument.presentationml.tags+xml"/>
  <Override PartName="/ppt/tags/tag240.xml" ContentType="application/vnd.openxmlformats-officedocument.presentationml.tags+xml"/>
  <Override PartName="/ppt/tags/tag15.xml" ContentType="application/vnd.openxmlformats-officedocument.presentationml.tags+xml"/>
  <Override PartName="/ppt/tags/tag62.xml" ContentType="application/vnd.openxmlformats-officedocument.presentationml.tags+xml"/>
  <Override PartName="/ppt/notesSlides/notesSlide40.xml" ContentType="application/vnd.openxmlformats-officedocument.presentationml.notesSlide+xml"/>
  <Override PartName="/ppt/tags/tag316.xml" ContentType="application/vnd.openxmlformats-officedocument.presentationml.tags+xml"/>
  <Override PartName="/ppt/tags/tag363.xml" ContentType="application/vnd.openxmlformats-officedocument.presentationml.tags+xml"/>
  <Override PartName="/ppt/tags/tag40.xml" ContentType="application/vnd.openxmlformats-officedocument.presentationml.tags+xml"/>
  <Override PartName="/ppt/notesSlides/notesSlide6.xml" ContentType="application/vnd.openxmlformats-officedocument.presentationml.notesSlide+xml"/>
  <Override PartName="/ppt/tags/tag108.xml" ContentType="application/vnd.openxmlformats-officedocument.presentationml.tags+xml"/>
  <Override PartName="/ppt/tags/tag155.xml" ContentType="application/vnd.openxmlformats-officedocument.presentationml.tags+xml"/>
  <Override PartName="/ppt/tags/tag341.xml" ContentType="application/vnd.openxmlformats-officedocument.presentationml.tags+xml"/>
  <Override PartName="/ppt/slides/slide87.xml" ContentType="application/vnd.openxmlformats-officedocument.presentationml.slide+xml"/>
  <Override PartName="/ppt/tags/tag133.xml" ContentType="application/vnd.openxmlformats-officedocument.presentationml.tags+xml"/>
  <Override PartName="/ppt/tags/tag180.xml" ContentType="application/vnd.openxmlformats-officedocument.presentationml.tags+xml"/>
  <Override PartName="/ppt/tags/tag278.xml" ContentType="application/vnd.openxmlformats-officedocument.presentationml.tags+xml"/>
  <Override PartName="/ppt/slides/slide113.xml" ContentType="application/vnd.openxmlformats-officedocument.presentationml.slide+xml"/>
  <Override PartName="/ppt/tags/tag209.xml" ContentType="application/vnd.openxmlformats-officedocument.presentationml.tags+xml"/>
  <Override PartName="/ppt/tags/tag256.xml" ContentType="application/vnd.openxmlformats-officedocument.presentationml.tags+xml"/>
  <Override PartName="/ppt/notesSlides/notesSlide78.xml" ContentType="application/vnd.openxmlformats-officedocument.presentationml.notesSlide+xml"/>
  <Override PartName="/ppt/slides/slide18.xml" ContentType="application/vnd.openxmlformats-officedocument.presentationml.slide+xml"/>
  <Override PartName="/ppt/slides/slide65.xml" ContentType="application/vnd.openxmlformats-officedocument.presentationml.slide+xml"/>
  <Override PartName="/ppt/slideLayouts/slideLayout17.xml" ContentType="application/vnd.openxmlformats-officedocument.presentationml.slideLayout+xml"/>
  <Override PartName="/ppt/tags/tag4.xml" ContentType="application/vnd.openxmlformats-officedocument.presentationml.tags+xml"/>
  <Override PartName="/ppt/tags/tag111.xml" ContentType="application/vnd.openxmlformats-officedocument.presentationml.tags+xml"/>
  <Override PartName="/ppt/slides/slide43.xml" ContentType="application/vnd.openxmlformats-officedocument.presentationml.slide+xml"/>
  <Override PartName="/ppt/slides/slide90.xml" ContentType="application/vnd.openxmlformats-officedocument.presentationml.slide+xml"/>
  <Override PartName="/ppt/theme/theme1.xml" ContentType="application/vnd.openxmlformats-officedocument.theme+xml"/>
  <Override PartName="/ppt/tags/tag78.xml" ContentType="application/vnd.openxmlformats-officedocument.presentationml.tags+xml"/>
  <Override PartName="/ppt/tags/tag234.xml" ContentType="application/vnd.openxmlformats-officedocument.presentationml.tags+xml"/>
  <Override PartName="/ppt/notesSlides/notesSlide56.xml" ContentType="application/vnd.openxmlformats-officedocument.presentationml.notesSlide+xml"/>
  <Override PartName="/ppt/tags/tag281.xml" ContentType="application/vnd.openxmlformats-officedocument.presentationml.tags+xml"/>
  <Override PartName="/ppt/tags/tag379.xml" ContentType="application/vnd.openxmlformats-officedocument.presentationml.tags+xml"/>
  <Override PartName="/ppt/tags/tag56.xml" ContentType="application/vnd.openxmlformats-officedocument.presentationml.tags+xml"/>
  <Override PartName="/ppt/notesSlides/notesSlide34.xml" ContentType="application/vnd.openxmlformats-officedocument.presentationml.notesSlide+xml"/>
  <Override PartName="/ppt/notesSlides/notesSlide81.xml" ContentType="application/vnd.openxmlformats-officedocument.presentationml.notesSlide+xml"/>
  <Override PartName="/ppt/tags/tag357.xml" ContentType="application/vnd.openxmlformats-officedocument.presentationml.tags+xml"/>
  <Override PartName="/ppt/slides/slide21.xml" ContentType="application/vnd.openxmlformats-officedocument.presentationml.slide+xml"/>
  <Override PartName="/ppt/slideLayouts/slideLayout20.xml" ContentType="application/vnd.openxmlformats-officedocument.presentationml.slideLayout+xml"/>
  <Override PartName="/ppt/tags/tag149.xml" ContentType="application/vnd.openxmlformats-officedocument.presentationml.tags+xml"/>
  <Override PartName="/ppt/tags/tag196.xml" ContentType="application/vnd.openxmlformats-officedocument.presentationml.tags+xml"/>
  <Override PartName="/ppt/tags/tag212.xml" ContentType="application/vnd.openxmlformats-officedocument.presentationml.tags+xml"/>
  <Override PartName="/docProps/custom.xml" ContentType="application/vnd.openxmlformats-officedocument.custom-properties+xml"/>
  <Override PartName="/ppt/tags/tag34.xml" ContentType="application/vnd.openxmlformats-officedocument.presentationml.tags+xml"/>
  <Override PartName="/ppt/tags/tag81.xml" ContentType="application/vnd.openxmlformats-officedocument.presentationml.tags+xml"/>
  <Override PartName="/ppt/notesSlides/notesSlide12.xml" ContentType="application/vnd.openxmlformats-officedocument.presentationml.notesSlide+xml"/>
  <Override PartName="/ppt/tags/tag335.xml" ContentType="application/vnd.openxmlformats-officedocument.presentationml.tags+xml"/>
  <Override PartName="/ppt/tags/tag382.xml" ContentType="application/vnd.openxmlformats-officedocument.presentationml.tags+xml"/>
  <Override PartName="/ppt/tags/tag12.xml" ContentType="application/vnd.openxmlformats-officedocument.presentationml.tags+xml"/>
  <Override PartName="/ppt/tags/tag127.xml" ContentType="application/vnd.openxmlformats-officedocument.presentationml.tags+xml"/>
  <Override PartName="/ppt/tags/tag174.xml" ContentType="application/vnd.openxmlformats-officedocument.presentationml.tags+xml"/>
  <Override PartName="/ppt/tags/tag313.xml" ContentType="application/vnd.openxmlformats-officedocument.presentationml.tags+xml"/>
  <Override PartName="/ppt/tags/tag360.xml" ContentType="application/vnd.openxmlformats-officedocument.presentationml.tags+xml"/>
  <Override PartName="/ppt/slides/slide9.xml" ContentType="application/vnd.openxmlformats-officedocument.presentationml.slide+xml"/>
  <Override PartName="/ppt/slides/slide59.xml" ContentType="application/vnd.openxmlformats-officedocument.presentationml.slide+xml"/>
  <Override PartName="/ppt/slides/slide107.xml" ContentType="application/vnd.openxmlformats-officedocument.presentationml.slide+xml"/>
  <Override PartName="/ppt/viewProps.xml" ContentType="application/vnd.openxmlformats-officedocument.presentationml.viewProps+xml"/>
  <Override PartName="/ppt/tags/tag105.xml" ContentType="application/vnd.openxmlformats-officedocument.presentationml.tags+xml"/>
  <Override PartName="/ppt/tags/tag152.xml" ContentType="application/vnd.openxmlformats-officedocument.presentationml.tags+xml"/>
  <Override PartName="/ppt/tags/tag297.xml" ContentType="application/vnd.openxmlformats-officedocument.presentationml.tags+xml"/>
  <Override PartName="/ppt/notesSlides/notesSlide3.xml" ContentType="application/vnd.openxmlformats-officedocument.presentationml.notesSlide+xml"/>
  <Override PartName="/ppt/tags/tag228.xml" ContentType="application/vnd.openxmlformats-officedocument.presentationml.tags+xml"/>
  <Override PartName="/ppt/tags/tag275.xml" ContentType="application/vnd.openxmlformats-officedocument.presentationml.tags+xml"/>
  <Override PartName="/ppt/slides/slide37.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tags/tag130.xml" ContentType="application/vnd.openxmlformats-officedocument.presentationml.tags+xml"/>
  <Override PartName="/ppt/tags/tag414.xml" ContentType="application/vnd.openxmlformats-officedocument.presentationml.tags+xml"/>
  <Override PartName="/ppt/slides/slide15.xml" ContentType="application/vnd.openxmlformats-officedocument.presentationml.slide+xml"/>
  <Override PartName="/ppt/slides/slide62.xml" ContentType="application/vnd.openxmlformats-officedocument.presentationml.slide+xml"/>
  <Override PartName="/ppt/slides/slide110.xml" ContentType="application/vnd.openxmlformats-officedocument.presentationml.slide+xml"/>
  <Override PartName="/ppt/tags/tag97.xml" ContentType="application/vnd.openxmlformats-officedocument.presentationml.tags+xml"/>
  <Override PartName="/ppt/tags/tag206.xml" ContentType="application/vnd.openxmlformats-officedocument.presentationml.tags+xml"/>
  <Override PartName="/ppt/notesSlides/notesSlide28.xml" ContentType="application/vnd.openxmlformats-officedocument.presentationml.notesSlide+xml"/>
  <Override PartName="/ppt/tags/tag253.xml" ContentType="application/vnd.openxmlformats-officedocument.presentationml.tags+xml"/>
  <Override PartName="/ppt/notesSlides/notesSlide75.xml" ContentType="application/vnd.openxmlformats-officedocument.presentationml.notesSlide+xml"/>
  <Override PartName="/ppt/tags/tag398.xml" ContentType="application/vnd.openxmlformats-officedocument.presentationml.tags+xml"/>
  <Override PartName="/ppt/slideLayouts/slideLayout14.xml" ContentType="application/vnd.openxmlformats-officedocument.presentationml.slideLayout+xml"/>
  <Override PartName="/ppt/tags/tag1.xml" ContentType="application/vnd.openxmlformats-officedocument.presentationml.tags+xml"/>
  <Override PartName="/ppt/tags/tag28.xml" ContentType="application/vnd.openxmlformats-officedocument.presentationml.tags+xml"/>
  <Override PartName="/ppt/tags/tag75.xml" ContentType="application/vnd.openxmlformats-officedocument.presentationml.tags+xml"/>
  <Override PartName="/ppt/tags/tag231.xml" ContentType="application/vnd.openxmlformats-officedocument.presentationml.tags+xml"/>
  <Override PartName="/ppt/notesSlides/notesSlide53.xml" ContentType="application/vnd.openxmlformats-officedocument.presentationml.notesSlide+xml"/>
  <Override PartName="/ppt/tags/tag329.xml" ContentType="application/vnd.openxmlformats-officedocument.presentationml.tags+xml"/>
  <Override PartName="/ppt/tags/tag376.xml" ContentType="application/vnd.openxmlformats-officedocument.presentationml.tags+xml"/>
  <Override PartName="/ppt/slides/slide40.xml" ContentType="application/vnd.openxmlformats-officedocument.presentationml.slide+xml"/>
  <Override PartName="/ppt/tags/tag168.xml" ContentType="application/vnd.openxmlformats-officedocument.presentationml.tags+xml"/>
  <Override PartName="/ppt/tags/tag53.xml" ContentType="application/vnd.openxmlformats-officedocument.presentationml.tags+xml"/>
  <Default Extension="vml" ContentType="application/vnd.openxmlformats-officedocument.vmlDrawing"/>
  <Override PartName="/ppt/notesSlides/notesSlide31.xml" ContentType="application/vnd.openxmlformats-officedocument.presentationml.notesSlide+xml"/>
  <Override PartName="/ppt/tags/tag307.xml" ContentType="application/vnd.openxmlformats-officedocument.presentationml.tags+xml"/>
  <Override PartName="/ppt/tags/tag354.xml" ContentType="application/vnd.openxmlformats-officedocument.presentationml.tags+xml"/>
  <Override PartName="/ppt/tags/tag31.xml" ContentType="application/vnd.openxmlformats-officedocument.presentationml.tags+xml"/>
  <Override PartName="/ppt/tags/tag146.xml" ContentType="application/vnd.openxmlformats-officedocument.presentationml.tags+xml"/>
  <Override PartName="/ppt/tags/tag193.xml" ContentType="application/vnd.openxmlformats-officedocument.presentationml.tags+xml"/>
  <Override PartName="/ppt/tags/tag332.xml" ContentType="application/vnd.openxmlformats-officedocument.presentationml.tags+xml"/>
  <Override PartName="/ppt/slides/slide78.xml" ContentType="application/vnd.openxmlformats-officedocument.presentationml.slide+xml"/>
  <Override PartName="/ppt/tags/tag124.xml" ContentType="application/vnd.openxmlformats-officedocument.presentationml.tags+xml"/>
  <Override PartName="/ppt/tags/tag171.xml" ContentType="application/vnd.openxmlformats-officedocument.presentationml.tags+xml"/>
  <Override PartName="/ppt/tags/tag269.xml" ContentType="application/vnd.openxmlformats-officedocument.presentationml.tags+xml"/>
  <Override PartName="/ppt/tags/tag408.xml" ContentType="application/vnd.openxmlformats-officedocument.presentationml.tags+xml"/>
  <Override PartName="/docProps/core.xml" ContentType="application/vnd.openxmlformats-package.core-properties+xml"/>
  <Override PartName="/ppt/slides/slide6.xml" ContentType="application/vnd.openxmlformats-officedocument.presentationml.slide+xml"/>
  <Override PartName="/ppt/slides/slide56.xml" ContentType="application/vnd.openxmlformats-officedocument.presentationml.slide+xml"/>
  <Override PartName="/ppt/slides/slide104.xml" ContentType="application/vnd.openxmlformats-officedocument.presentationml.slide+xml"/>
  <Override PartName="/ppt/slideLayouts/slideLayout8.xml" ContentType="application/vnd.openxmlformats-officedocument.presentationml.slideLayout+xml"/>
  <Override PartName="/ppt/tags/tag247.xml" ContentType="application/vnd.openxmlformats-officedocument.presentationml.tags+xml"/>
  <Override PartName="/ppt/notesSlides/notesSlide69.xml" ContentType="application/vnd.openxmlformats-officedocument.presentationml.notesSlide+xml"/>
  <Override PartName="/ppt/tags/tag294.xml" ContentType="application/vnd.openxmlformats-officedocument.presentationml.tags+xml"/>
  <Override PartName="/ppt/tags/tag310.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10">
  <p:sldMasterIdLst>
    <p:sldMasterId id="2147483648" r:id="rId1"/>
    <p:sldMasterId id="2147483662" r:id="rId2"/>
    <p:sldMasterId id="2147483672" r:id="rId3"/>
  </p:sldMasterIdLst>
  <p:notesMasterIdLst>
    <p:notesMasterId r:id="rId117"/>
  </p:notesMasterIdLst>
  <p:sldIdLst>
    <p:sldId id="256" r:id="rId4"/>
    <p:sldId id="257" r:id="rId5"/>
    <p:sldId id="259" r:id="rId6"/>
    <p:sldId id="258" r:id="rId7"/>
    <p:sldId id="268" r:id="rId8"/>
    <p:sldId id="271" r:id="rId9"/>
    <p:sldId id="272" r:id="rId10"/>
    <p:sldId id="269" r:id="rId11"/>
    <p:sldId id="454" r:id="rId12"/>
    <p:sldId id="273" r:id="rId13"/>
    <p:sldId id="275" r:id="rId14"/>
    <p:sldId id="277" r:id="rId15"/>
    <p:sldId id="278" r:id="rId16"/>
    <p:sldId id="279" r:id="rId17"/>
    <p:sldId id="274" r:id="rId18"/>
    <p:sldId id="280" r:id="rId19"/>
    <p:sldId id="281" r:id="rId20"/>
    <p:sldId id="282" r:id="rId21"/>
    <p:sldId id="283" r:id="rId22"/>
    <p:sldId id="284" r:id="rId23"/>
    <p:sldId id="260" r:id="rId24"/>
    <p:sldId id="291" r:id="rId25"/>
    <p:sldId id="285" r:id="rId26"/>
    <p:sldId id="261" r:id="rId27"/>
    <p:sldId id="286" r:id="rId28"/>
    <p:sldId id="292" r:id="rId29"/>
    <p:sldId id="262" r:id="rId30"/>
    <p:sldId id="293" r:id="rId31"/>
    <p:sldId id="294" r:id="rId32"/>
    <p:sldId id="455" r:id="rId33"/>
    <p:sldId id="456" r:id="rId34"/>
    <p:sldId id="458" r:id="rId35"/>
    <p:sldId id="457" r:id="rId36"/>
    <p:sldId id="459" r:id="rId37"/>
    <p:sldId id="461" r:id="rId38"/>
    <p:sldId id="460" r:id="rId39"/>
    <p:sldId id="462" r:id="rId40"/>
    <p:sldId id="463" r:id="rId41"/>
    <p:sldId id="464" r:id="rId42"/>
    <p:sldId id="469" r:id="rId43"/>
    <p:sldId id="467" r:id="rId44"/>
    <p:sldId id="468" r:id="rId45"/>
    <p:sldId id="306" r:id="rId46"/>
    <p:sldId id="263" r:id="rId47"/>
    <p:sldId id="307" r:id="rId48"/>
    <p:sldId id="308" r:id="rId49"/>
    <p:sldId id="309" r:id="rId50"/>
    <p:sldId id="310" r:id="rId51"/>
    <p:sldId id="311" r:id="rId52"/>
    <p:sldId id="453" r:id="rId53"/>
    <p:sldId id="313" r:id="rId54"/>
    <p:sldId id="315" r:id="rId55"/>
    <p:sldId id="314" r:id="rId56"/>
    <p:sldId id="316" r:id="rId57"/>
    <p:sldId id="317" r:id="rId58"/>
    <p:sldId id="318" r:id="rId59"/>
    <p:sldId id="319" r:id="rId60"/>
    <p:sldId id="320" r:id="rId61"/>
    <p:sldId id="321" r:id="rId62"/>
    <p:sldId id="322" r:id="rId63"/>
    <p:sldId id="364" r:id="rId64"/>
    <p:sldId id="323" r:id="rId65"/>
    <p:sldId id="324" r:id="rId66"/>
    <p:sldId id="325" r:id="rId67"/>
    <p:sldId id="326" r:id="rId68"/>
    <p:sldId id="327" r:id="rId69"/>
    <p:sldId id="365" r:id="rId70"/>
    <p:sldId id="366" r:id="rId71"/>
    <p:sldId id="367" r:id="rId72"/>
    <p:sldId id="368" r:id="rId73"/>
    <p:sldId id="328" r:id="rId74"/>
    <p:sldId id="330" r:id="rId75"/>
    <p:sldId id="329" r:id="rId76"/>
    <p:sldId id="331" r:id="rId77"/>
    <p:sldId id="332" r:id="rId78"/>
    <p:sldId id="333" r:id="rId79"/>
    <p:sldId id="334" r:id="rId80"/>
    <p:sldId id="335" r:id="rId81"/>
    <p:sldId id="336" r:id="rId82"/>
    <p:sldId id="337" r:id="rId83"/>
    <p:sldId id="338" r:id="rId84"/>
    <p:sldId id="339" r:id="rId85"/>
    <p:sldId id="340" r:id="rId86"/>
    <p:sldId id="341" r:id="rId87"/>
    <p:sldId id="343" r:id="rId88"/>
    <p:sldId id="344" r:id="rId89"/>
    <p:sldId id="345" r:id="rId90"/>
    <p:sldId id="369" r:id="rId91"/>
    <p:sldId id="370" r:id="rId92"/>
    <p:sldId id="371" r:id="rId93"/>
    <p:sldId id="346" r:id="rId94"/>
    <p:sldId id="372" r:id="rId95"/>
    <p:sldId id="373" r:id="rId96"/>
    <p:sldId id="264" r:id="rId97"/>
    <p:sldId id="435" r:id="rId98"/>
    <p:sldId id="348" r:id="rId99"/>
    <p:sldId id="265" r:id="rId100"/>
    <p:sldId id="350" r:id="rId101"/>
    <p:sldId id="421" r:id="rId102"/>
    <p:sldId id="422" r:id="rId103"/>
    <p:sldId id="423" r:id="rId104"/>
    <p:sldId id="351" r:id="rId105"/>
    <p:sldId id="419" r:id="rId106"/>
    <p:sldId id="424" r:id="rId107"/>
    <p:sldId id="356" r:id="rId108"/>
    <p:sldId id="266" r:id="rId109"/>
    <p:sldId id="363" r:id="rId110"/>
    <p:sldId id="357" r:id="rId111"/>
    <p:sldId id="417" r:id="rId112"/>
    <p:sldId id="358" r:id="rId113"/>
    <p:sldId id="360" r:id="rId114"/>
    <p:sldId id="361" r:id="rId115"/>
    <p:sldId id="470" r:id="rId11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horzBarState="maximized">
    <p:restoredLeft sz="15987" autoAdjust="0"/>
    <p:restoredTop sz="94660"/>
  </p:normalViewPr>
  <p:slideViewPr>
    <p:cSldViewPr snapToGrid="0">
      <p:cViewPr>
        <p:scale>
          <a:sx n="70" d="100"/>
          <a:sy n="70" d="100"/>
        </p:scale>
        <p:origin x="-1890" y="-1428"/>
      </p:cViewPr>
      <p:guideLst>
        <p:guide orient="horz" pos="2174"/>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117" Type="http://schemas.openxmlformats.org/officeDocument/2006/relationships/notesMaster" Target="notesMasters/notesMaster1.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12" Type="http://schemas.openxmlformats.org/officeDocument/2006/relationships/slide" Target="slides/slide109.xml"/><Relationship Id="rId16" Type="http://schemas.openxmlformats.org/officeDocument/2006/relationships/slide" Target="slides/slide13.xml"/><Relationship Id="rId107" Type="http://schemas.openxmlformats.org/officeDocument/2006/relationships/slide" Target="slides/slide104.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5" Type="http://schemas.openxmlformats.org/officeDocument/2006/relationships/slide" Target="slides/slide2.xml"/><Relationship Id="rId61" Type="http://schemas.openxmlformats.org/officeDocument/2006/relationships/slide" Target="slides/slide58.xml"/><Relationship Id="rId82" Type="http://schemas.openxmlformats.org/officeDocument/2006/relationships/slide" Target="slides/slide79.xml"/><Relationship Id="rId90" Type="http://schemas.openxmlformats.org/officeDocument/2006/relationships/slide" Target="slides/slide87.xml"/><Relationship Id="rId95" Type="http://schemas.openxmlformats.org/officeDocument/2006/relationships/slide" Target="slides/slide92.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slide" Target="slides/slide102.xml"/><Relationship Id="rId113" Type="http://schemas.openxmlformats.org/officeDocument/2006/relationships/slide" Target="slides/slide110.xml"/><Relationship Id="rId118" Type="http://schemas.openxmlformats.org/officeDocument/2006/relationships/presProps" Target="pres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slide" Target="slides/slide77.xml"/><Relationship Id="rId85" Type="http://schemas.openxmlformats.org/officeDocument/2006/relationships/slide" Target="slides/slide82.xml"/><Relationship Id="rId93" Type="http://schemas.openxmlformats.org/officeDocument/2006/relationships/slide" Target="slides/slide90.xml"/><Relationship Id="rId98" Type="http://schemas.openxmlformats.org/officeDocument/2006/relationships/slide" Target="slides/slide95.xml"/><Relationship Id="rId121"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103" Type="http://schemas.openxmlformats.org/officeDocument/2006/relationships/slide" Target="slides/slide100.xml"/><Relationship Id="rId108" Type="http://schemas.openxmlformats.org/officeDocument/2006/relationships/slide" Target="slides/slide105.xml"/><Relationship Id="rId116" Type="http://schemas.openxmlformats.org/officeDocument/2006/relationships/slide" Target="slides/slide11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slide" Target="slides/slide88.xml"/><Relationship Id="rId96" Type="http://schemas.openxmlformats.org/officeDocument/2006/relationships/slide" Target="slides/slide93.xml"/><Relationship Id="rId111" Type="http://schemas.openxmlformats.org/officeDocument/2006/relationships/slide" Target="slides/slide108.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6" Type="http://schemas.openxmlformats.org/officeDocument/2006/relationships/slide" Target="slides/slide103.xml"/><Relationship Id="rId114" Type="http://schemas.openxmlformats.org/officeDocument/2006/relationships/slide" Target="slides/slide111.xml"/><Relationship Id="rId119" Type="http://schemas.openxmlformats.org/officeDocument/2006/relationships/viewProps" Target="viewProps.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slide" Target="slides/slide10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slide" Target="slides/slide101.xml"/><Relationship Id="rId120" Type="http://schemas.openxmlformats.org/officeDocument/2006/relationships/theme" Target="theme/theme1.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110" Type="http://schemas.openxmlformats.org/officeDocument/2006/relationships/slide" Target="slides/slide107.xml"/><Relationship Id="rId115" Type="http://schemas.openxmlformats.org/officeDocument/2006/relationships/slide" Target="slides/slide11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1.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image" Target="../media/image26.wmf"/><Relationship Id="rId1" Type="http://schemas.openxmlformats.org/officeDocument/2006/relationships/image" Target="../media/image25.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29.wmf"/><Relationship Id="rId2" Type="http://schemas.openxmlformats.org/officeDocument/2006/relationships/image" Target="../media/image28.wmf"/><Relationship Id="rId1" Type="http://schemas.openxmlformats.org/officeDocument/2006/relationships/image" Target="../media/image25.wmf"/></Relationships>
</file>

<file path=ppt/drawings/_rels/vmlDrawing4.v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image" Target="../media/image31.wmf"/></Relationships>
</file>

<file path=ppt/drawings/_rels/vmlDrawing5.v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image" Target="../media/image44.wmf"/><Relationship Id="rId1" Type="http://schemas.openxmlformats.org/officeDocument/2006/relationships/image" Target="../media/image43.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pPr/>
              <a:t>2017/3/30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0660" y="1279525"/>
            <a:ext cx="6141156"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smtClean="0">
                <a:ea typeface="宋体" panose="02010600030101010101" pitchFamily="2" charset="-122"/>
              </a:rPr>
              <a:t>模板来自于 </a:t>
            </a:r>
            <a:r>
              <a:rPr lang="en-US" altLang="zh-CN" dirty="0" smtClean="0">
                <a:ea typeface="宋体" panose="02010600030101010101" pitchFamily="2" charset="-122"/>
              </a:rPr>
              <a:t>http://docer.wps.cn</a:t>
            </a:r>
            <a:endParaRPr lang="zh-CN" altLang="en-US" smtClean="0">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宋体" panose="02010600030101010101" pitchFamily="2" charset="-122"/>
              </a:rPr>
              <a:pPr algn="r" eaLnBrk="1" hangingPunct="1">
                <a:buFont typeface="Arial" panose="020B0604020202020204" pitchFamily="34" charset="0"/>
                <a:buNone/>
              </a:pPr>
              <a:t>2</a:t>
            </a:fld>
            <a:endParaRPr lang="zh-CN" altLang="en-US" sz="1300" dirty="0">
              <a:latin typeface="Calibri" panose="020F0502020204030204"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0660" y="1279525"/>
            <a:ext cx="6141156"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smtClean="0">
                <a:ea typeface="宋体" panose="02010600030101010101" pitchFamily="2" charset="-122"/>
              </a:rPr>
              <a:t>模板来自于 </a:t>
            </a:r>
            <a:r>
              <a:rPr lang="en-US" altLang="zh-CN" dirty="0" smtClean="0">
                <a:ea typeface="宋体" panose="02010600030101010101" pitchFamily="2" charset="-122"/>
              </a:rPr>
              <a:t>http://docer.wps.cn</a:t>
            </a:r>
            <a:endParaRPr lang="zh-CN" altLang="en-US" smtClean="0">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宋体" panose="02010600030101010101" pitchFamily="2" charset="-122"/>
              </a:rPr>
              <a:pPr algn="r" eaLnBrk="1" hangingPunct="1">
                <a:buFont typeface="Arial" panose="020B0604020202020204" pitchFamily="34" charset="0"/>
                <a:buNone/>
              </a:pPr>
              <a:t>3</a:t>
            </a:fld>
            <a:endParaRPr lang="zh-CN" altLang="en-US" sz="1300" dirty="0">
              <a:latin typeface="Calibri" panose="020F0502020204030204"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pPr/>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1_图片与标题">
    <p:spTree>
      <p:nvGrpSpPr>
        <p:cNvPr id="1" name=""/>
        <p:cNvGrpSpPr/>
        <p:nvPr/>
      </p:nvGrpSpPr>
      <p:grpSpPr>
        <a:xfrm>
          <a:off x="0" y="0"/>
          <a:ext cx="0" cy="0"/>
          <a:chOff x="0" y="0"/>
          <a:chExt cx="0" cy="0"/>
        </a:xfrm>
      </p:grpSpPr>
      <p:sp>
        <p:nvSpPr>
          <p:cNvPr id="8" name="矩形 7"/>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4"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7"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754063" y="6373017"/>
            <a:ext cx="2743200" cy="365125"/>
          </a:xfrm>
          <a:prstGeom prst="rect">
            <a:avLst/>
          </a:prstGeom>
        </p:spPr>
        <p:txBody>
          <a:bodyPr/>
          <a:lstStyle/>
          <a:p>
            <a:fld id="{13D0CE79-49FB-443D-BEF8-6B709DE8FD0C}" type="datetimeFigureOut">
              <a:rPr lang="zh-CN" altLang="en-US" smtClean="0"/>
              <a:pPr/>
              <a:t>2017/3/30</a:t>
            </a:fld>
            <a:endParaRPr lang="zh-CN" altLang="en-US"/>
          </a:p>
        </p:txBody>
      </p:sp>
      <p:sp>
        <p:nvSpPr>
          <p:cNvPr id="4" name="页脚占位符 3"/>
          <p:cNvSpPr>
            <a:spLocks noGrp="1"/>
          </p:cNvSpPr>
          <p:nvPr>
            <p:ph type="ftr" sz="quarter" idx="11"/>
          </p:nvPr>
        </p:nvSpPr>
        <p:spPr>
          <a:xfrm>
            <a:off x="4037013" y="6373017"/>
            <a:ext cx="4114800" cy="365125"/>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8691563" y="6373017"/>
            <a:ext cx="2743200" cy="365125"/>
          </a:xfrm>
          <a:prstGeom prst="rect">
            <a:avLst/>
          </a:prstGeom>
        </p:spPr>
        <p:txBody>
          <a:bodyPr/>
          <a:lstStyle/>
          <a:p>
            <a:fld id="{EF906490-237C-474C-BA2E-D98840BC1F8F}" type="slidenum">
              <a:rPr lang="zh-CN" altLang="en-US" smtClean="0"/>
              <a:pPr/>
              <a:t>‹#›</a:t>
            </a:fld>
            <a:endParaRPr lang="zh-CN" altLang="en-US"/>
          </a:p>
        </p:txBody>
      </p:sp>
      <p:sp>
        <p:nvSpPr>
          <p:cNvPr id="7" name="内容占位符 6"/>
          <p:cNvSpPr>
            <a:spLocks noGrp="1"/>
          </p:cNvSpPr>
          <p:nvPr>
            <p:ph sz="quarter" idx="13"/>
          </p:nvPr>
        </p:nvSpPr>
        <p:spPr>
          <a:xfrm>
            <a:off x="754063" y="477520"/>
            <a:ext cx="10680700" cy="5635413"/>
          </a:xfrm>
          <a:prstGeom prst="rect">
            <a:avLst/>
          </a:prstGeom>
        </p:spPr>
        <p:txBody>
          <a:bodyPr/>
          <a:lstStyle>
            <a:lvl1pPr marL="0" indent="0">
              <a:buNone/>
              <a:defRPr/>
            </a:lvl1pPr>
          </a:lstStyle>
          <a:p>
            <a:pPr lvl="0"/>
            <a:r>
              <a:rPr lang="zh-CN" altLang="en-US" dirty="0" smtClean="0"/>
              <a:t>单击此处编辑母版文本样式</a:t>
            </a:r>
          </a:p>
          <a:p>
            <a:pPr lvl="4"/>
            <a:r>
              <a:rPr lang="zh-CN" altLang="en-US" dirty="0" smtClean="0"/>
              <a:t>第二级</a:t>
            </a:r>
          </a:p>
          <a:p>
            <a:pPr lvl="6"/>
            <a:r>
              <a:rPr lang="zh-CN" altLang="en-US" dirty="0" smtClean="0"/>
              <a:t>第三级</a:t>
            </a:r>
          </a:p>
          <a:p>
            <a:pPr lvl="7"/>
            <a:r>
              <a:rPr lang="zh-CN" altLang="en-US" dirty="0" smtClean="0"/>
              <a:t>第四级</a:t>
            </a:r>
          </a:p>
          <a:p>
            <a:pPr lvl="8"/>
            <a:r>
              <a:rPr lang="zh-CN" altLang="en-US" dirty="0" smtClean="0"/>
              <a:t>第五级</a:t>
            </a:r>
          </a:p>
        </p:txBody>
      </p:sp>
      <p:sp>
        <p:nvSpPr>
          <p:cNvPr id="6"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xmlns="" val="4223807772"/>
      </p:ext>
    </p:extLst>
  </p:cSld>
  <p:clrMapOvr>
    <a:masterClrMapping/>
  </p:clrMapOvr>
  <p:transition>
    <p:randomBar dir="vert"/>
  </p:transition>
  <p:timing>
    <p:tnLst>
      <p:par>
        <p:cTn id="1" dur="indefinite" restart="never" nodeType="tmRoot"/>
      </p:par>
    </p:tn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grpSp>
        <p:nvGrpSpPr>
          <p:cNvPr id="2051" name="Group 3" descr="#wm#_34_1_*Z"/>
          <p:cNvGrpSpPr/>
          <p:nvPr/>
        </p:nvGrpSpPr>
        <p:grpSpPr bwMode="auto">
          <a:xfrm>
            <a:off x="3012018" y="2514600"/>
            <a:ext cx="6165849" cy="1343025"/>
            <a:chOff x="0" y="0"/>
            <a:chExt cx="7282" cy="1730"/>
          </a:xfrm>
        </p:grpSpPr>
        <p:sp>
          <p:nvSpPr>
            <p:cNvPr id="2052" name="Rectangle 4" descr="#wm#_34_01_100_1001_a_1_10#clear#"/>
            <p:cNvSpPr>
              <a:spLocks noChangeArrowheads="1"/>
            </p:cNvSpPr>
            <p:nvPr/>
          </p:nvSpPr>
          <p:spPr bwMode="auto">
            <a:xfrm>
              <a:off x="0" y="0"/>
              <a:ext cx="7282" cy="1610"/>
            </a:xfrm>
            <a:prstGeom prst="rect">
              <a:avLst/>
            </a:prstGeom>
            <a:solidFill>
              <a:srgbClr val="475F77"/>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en-AU" altLang="en-US" sz="1600"/>
            </a:p>
          </p:txBody>
        </p:sp>
        <p:sp>
          <p:nvSpPr>
            <p:cNvPr id="2053" name="Rectangle 5"/>
            <p:cNvSpPr>
              <a:spLocks noChangeArrowheads="1"/>
            </p:cNvSpPr>
            <p:nvPr/>
          </p:nvSpPr>
          <p:spPr bwMode="auto">
            <a:xfrm>
              <a:off x="0" y="1610"/>
              <a:ext cx="7282" cy="120"/>
            </a:xfrm>
            <a:prstGeom prst="rect">
              <a:avLst/>
            </a:prstGeom>
            <a:solidFill>
              <a:srgbClr val="D74B4B"/>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p>
          </p:txBody>
        </p:sp>
      </p:grpSp>
      <p:sp>
        <p:nvSpPr>
          <p:cNvPr id="2054" name="Rectangle 6"/>
          <p:cNvSpPr>
            <a:spLocks noGrp="1" noChangeArrowheads="1"/>
          </p:cNvSpPr>
          <p:nvPr>
            <p:ph type="ctrTitle" hasCustomPrompt="1"/>
          </p:nvPr>
        </p:nvSpPr>
        <p:spPr>
          <a:xfrm>
            <a:off x="3012018" y="2514600"/>
            <a:ext cx="6165849" cy="1246189"/>
          </a:xfrm>
        </p:spPr>
        <p:txBody>
          <a:bodyPr/>
          <a:lstStyle>
            <a:lvl1pPr algn="ctr">
              <a:defRPr sz="3600">
                <a:solidFill>
                  <a:schemeClr val="bg1"/>
                </a:solidFill>
              </a:defRPr>
            </a:lvl1pPr>
          </a:lstStyle>
          <a:p>
            <a:pPr lvl="0"/>
            <a:r>
              <a:rPr lang="zh-CN" altLang="en-US" noProof="0" dirty="0" smtClean="0">
                <a:sym typeface="Arial" panose="020B0604020202020204" pitchFamily="34" charset="0"/>
              </a:rPr>
              <a:t>编辑标题</a:t>
            </a:r>
            <a:endParaRPr lang="zh-CN" noProof="0" dirty="0" smtClean="0">
              <a:sym typeface="Arial" panose="020B0604020202020204" pitchFamily="34" charset="0"/>
            </a:endParaRPr>
          </a:p>
        </p:txBody>
      </p:sp>
      <p:sp>
        <p:nvSpPr>
          <p:cNvPr id="2055" name="Rectangle 7"/>
          <p:cNvSpPr>
            <a:spLocks noGrp="1" noChangeArrowheads="1"/>
          </p:cNvSpPr>
          <p:nvPr>
            <p:ph type="subTitle" idx="1"/>
          </p:nvPr>
        </p:nvSpPr>
        <p:spPr>
          <a:xfrm>
            <a:off x="3012018" y="3878262"/>
            <a:ext cx="6165849" cy="686536"/>
          </a:xfrm>
        </p:spPr>
        <p:txBody>
          <a:bodyPr anchor="b" anchorCtr="0"/>
          <a:lstStyle>
            <a:lvl1pPr marL="0" indent="0" algn="ctr">
              <a:buFontTx/>
              <a:buNone/>
              <a:defRPr sz="1800"/>
            </a:lvl1pPr>
          </a:lstStyle>
          <a:p>
            <a:pPr lvl="0"/>
            <a:r>
              <a:rPr lang="zh-CN" noProof="0" dirty="0" smtClean="0">
                <a:sym typeface="Arial" panose="020B0604020202020204" pitchFamily="34" charset="0"/>
              </a:rPr>
              <a:t>单击此处编辑母版副标题样式</a:t>
            </a:r>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pic>
        <p:nvPicPr>
          <p:cNvPr id="5" name="图片 4"/>
          <p:cNvPicPr>
            <a:picLocks noChangeAspect="1"/>
          </p:cNvPicPr>
          <p:nvPr/>
        </p:nvPicPr>
        <p:blipFill>
          <a:blip r:embed="rId2" cstate="print">
            <a:extLst>
              <a:ext uri="{28A0092B-C50C-407E-A947-70E740481C1C}">
                <a14:useLocalDpi xmlns:a14="http://schemas.microsoft.com/office/drawing/2010/main" xmlns="" val="0"/>
              </a:ext>
            </a:extLst>
          </a:blip>
          <a:stretch>
            <a:fillRect/>
          </a:stretch>
        </p:blipFill>
        <p:spPr>
          <a:xfrm>
            <a:off x="295179" y="-224876"/>
            <a:ext cx="3238095" cy="3238095"/>
          </a:xfrm>
          <a:prstGeom prst="rect">
            <a:avLst/>
          </a:prstGeom>
        </p:spPr>
      </p:pic>
      <p:pic>
        <p:nvPicPr>
          <p:cNvPr id="6" name="图片 5"/>
          <p:cNvPicPr>
            <a:picLocks noChangeAspect="1"/>
          </p:cNvPicPr>
          <p:nvPr/>
        </p:nvPicPr>
        <p:blipFill>
          <a:blip r:embed="rId3" cstate="print">
            <a:extLst>
              <a:ext uri="{28A0092B-C50C-407E-A947-70E740481C1C}">
                <a14:useLocalDpi xmlns:a14="http://schemas.microsoft.com/office/drawing/2010/main" xmlns="" val="0"/>
              </a:ext>
            </a:extLst>
          </a:blip>
          <a:stretch>
            <a:fillRect/>
          </a:stretch>
        </p:blipFill>
        <p:spPr>
          <a:xfrm>
            <a:off x="8535604" y="3547549"/>
            <a:ext cx="3238095" cy="3238095"/>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1" y="341314"/>
            <a:ext cx="10765367" cy="581025"/>
          </a:xfrm>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endParaRPr lang="zh-CN" altLang="en-US" dirty="0"/>
          </a:p>
        </p:txBody>
      </p:sp>
      <p:sp>
        <p:nvSpPr>
          <p:cNvPr id="4" name="Rectangle 23"/>
          <p:cNvSpPr>
            <a:spLocks noChangeArrowheads="1"/>
          </p:cNvSpPr>
          <p:nvPr/>
        </p:nvSpPr>
        <p:spPr bwMode="auto">
          <a:xfrm flipH="1">
            <a:off x="1" y="339726"/>
            <a:ext cx="251884" cy="581025"/>
          </a:xfrm>
          <a:prstGeom prst="rect">
            <a:avLst/>
          </a:prstGeom>
          <a:solidFill>
            <a:srgbClr val="D74B4B"/>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marL="14605" indent="-14605">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buFontTx/>
              <a:buChar char="•"/>
            </a:pPr>
            <a:endParaRPr lang="zh-CN" altLang="zh-CN" sz="1600">
              <a:latin typeface="Arial" panose="020B0604020202020204" pitchFamily="34" charset="0"/>
              <a:ea typeface="黑体" panose="02010609060101010101" pitchFamily="49" charset="-122"/>
              <a:sym typeface="Arial" panose="020B0604020202020204" pitchFamily="34" charset="0"/>
            </a:endParaRPr>
          </a:p>
        </p:txBody>
      </p:sp>
      <p:sp>
        <p:nvSpPr>
          <p:cNvPr id="5" name="日期占位符 4"/>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7" name="Rectangle 2"/>
          <p:cNvSpPr>
            <a:spLocks noGrp="1" noChangeArrowheads="1"/>
          </p:cNvSpPr>
          <p:nvPr>
            <p:ph type="ctrTitle" hasCustomPrompt="1"/>
          </p:nvPr>
        </p:nvSpPr>
        <p:spPr>
          <a:xfrm>
            <a:off x="1667934" y="4262438"/>
            <a:ext cx="10513484" cy="457200"/>
          </a:xfrm>
        </p:spPr>
        <p:txBody>
          <a:bodyPr/>
          <a:lstStyle>
            <a:lvl1pPr algn="r">
              <a:defRPr sz="2400"/>
            </a:lvl1pPr>
          </a:lstStyle>
          <a:p>
            <a:pPr lvl="0"/>
            <a:r>
              <a:rPr lang="zh-CN" altLang="en-US" noProof="0" dirty="0" smtClean="0">
                <a:sym typeface="Arial" panose="020B0604020202020204" pitchFamily="34" charset="0"/>
              </a:rPr>
              <a:t>编辑标题</a:t>
            </a:r>
            <a:endParaRPr lang="zh-CN" noProof="0" dirty="0" smtClean="0">
              <a:sym typeface="Arial" panose="020B0604020202020204" pitchFamily="34" charset="0"/>
            </a:endParaRPr>
          </a:p>
        </p:txBody>
      </p:sp>
      <p:sp>
        <p:nvSpPr>
          <p:cNvPr id="15" name="Line 10"/>
          <p:cNvSpPr>
            <a:spLocks noChangeShapeType="1"/>
          </p:cNvSpPr>
          <p:nvPr/>
        </p:nvSpPr>
        <p:spPr bwMode="auto">
          <a:xfrm>
            <a:off x="1667934" y="4792663"/>
            <a:ext cx="10513484" cy="0"/>
          </a:xfrm>
          <a:prstGeom prst="line">
            <a:avLst/>
          </a:prstGeom>
          <a:noFill/>
          <a:ln w="38100" cap="flat" cmpd="sng">
            <a:solidFill>
              <a:srgbClr val="D74B4B"/>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16" name="Oval 2" descr="#wm#_34_6_*Z"/>
          <p:cNvSpPr>
            <a:spLocks noChangeArrowheads="1"/>
          </p:cNvSpPr>
          <p:nvPr/>
        </p:nvSpPr>
        <p:spPr bwMode="auto">
          <a:xfrm>
            <a:off x="3130662" y="2042349"/>
            <a:ext cx="2213060" cy="2215167"/>
          </a:xfrm>
          <a:prstGeom prst="ellipse">
            <a:avLst/>
          </a:prstGeom>
          <a:solidFill>
            <a:srgbClr val="D74B4B"/>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en-US" sz="1600">
              <a:solidFill>
                <a:srgbClr val="475F77"/>
              </a:solidFill>
            </a:endParaRPr>
          </a:p>
        </p:txBody>
      </p:sp>
      <p:grpSp>
        <p:nvGrpSpPr>
          <p:cNvPr id="17" name="Group 3" descr="#wm#_34_6_*Z"/>
          <p:cNvGrpSpPr/>
          <p:nvPr/>
        </p:nvGrpSpPr>
        <p:grpSpPr bwMode="auto">
          <a:xfrm>
            <a:off x="5073939" y="2668328"/>
            <a:ext cx="961101" cy="961100"/>
            <a:chOff x="0" y="0"/>
            <a:chExt cx="1140" cy="1140"/>
          </a:xfrm>
        </p:grpSpPr>
        <p:sp>
          <p:nvSpPr>
            <p:cNvPr id="18" name="Oval 4"/>
            <p:cNvSpPr>
              <a:spLocks noChangeArrowheads="1"/>
            </p:cNvSpPr>
            <p:nvPr/>
          </p:nvSpPr>
          <p:spPr bwMode="auto">
            <a:xfrm>
              <a:off x="0" y="0"/>
              <a:ext cx="1140" cy="1140"/>
            </a:xfrm>
            <a:prstGeom prst="ellipse">
              <a:avLst/>
            </a:prstGeom>
            <a:solidFill>
              <a:srgbClr val="475F77">
                <a:alpha val="73999"/>
              </a:srgb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solidFill>
                  <a:srgbClr val="475F77"/>
                </a:solidFill>
              </a:endParaRPr>
            </a:p>
          </p:txBody>
        </p:sp>
        <p:grpSp>
          <p:nvGrpSpPr>
            <p:cNvPr id="19" name="Group 5"/>
            <p:cNvGrpSpPr/>
            <p:nvPr/>
          </p:nvGrpSpPr>
          <p:grpSpPr bwMode="auto">
            <a:xfrm>
              <a:off x="490" y="358"/>
              <a:ext cx="228" cy="405"/>
              <a:chOff x="0" y="0"/>
              <a:chExt cx="228" cy="405"/>
            </a:xfrm>
          </p:grpSpPr>
          <p:sp>
            <p:nvSpPr>
              <p:cNvPr id="20" name="Line 6"/>
              <p:cNvSpPr>
                <a:spLocks noChangeShapeType="1"/>
              </p:cNvSpPr>
              <p:nvPr/>
            </p:nvSpPr>
            <p:spPr bwMode="auto">
              <a:xfrm>
                <a:off x="0" y="0"/>
                <a:ext cx="229" cy="229"/>
              </a:xfrm>
              <a:prstGeom prst="line">
                <a:avLst/>
              </a:prstGeom>
              <a:noFill/>
              <a:ln w="19050" cap="flat" cmpd="sng">
                <a:solidFill>
                  <a:schemeClr val="bg1"/>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p>
            </p:txBody>
          </p:sp>
          <p:sp>
            <p:nvSpPr>
              <p:cNvPr id="21" name="Line 7"/>
              <p:cNvSpPr>
                <a:spLocks noChangeShapeType="1"/>
              </p:cNvSpPr>
              <p:nvPr/>
            </p:nvSpPr>
            <p:spPr bwMode="auto">
              <a:xfrm flipH="1">
                <a:off x="28" y="203"/>
                <a:ext cx="201" cy="202"/>
              </a:xfrm>
              <a:prstGeom prst="line">
                <a:avLst/>
              </a:prstGeom>
              <a:noFill/>
              <a:ln w="19050" cap="flat" cmpd="sng">
                <a:solidFill>
                  <a:schemeClr val="bg1"/>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p>
            </p:txBody>
          </p:sp>
        </p:grpSp>
      </p:grpSp>
      <p:sp>
        <p:nvSpPr>
          <p:cNvPr id="22" name="Oval 8" descr="#wm#_34_6_*Z"/>
          <p:cNvSpPr>
            <a:spLocks noChangeArrowheads="1"/>
          </p:cNvSpPr>
          <p:nvPr/>
        </p:nvSpPr>
        <p:spPr bwMode="auto">
          <a:xfrm>
            <a:off x="1667934" y="2668328"/>
            <a:ext cx="961101" cy="961100"/>
          </a:xfrm>
          <a:prstGeom prst="ellipse">
            <a:avLst/>
          </a:prstGeom>
          <a:solidFill>
            <a:srgbClr val="475F77"/>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lgn="ctr">
              <a:spcBef>
                <a:spcPct val="20000"/>
              </a:spcBef>
              <a:defRPr sz="6000">
                <a:solidFill>
                  <a:schemeClr val="bg1"/>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en-US" sz="1600">
              <a:solidFill>
                <a:srgbClr val="475F77"/>
              </a:solidFil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838199" y="1335088"/>
            <a:ext cx="5178279" cy="4749800"/>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endParaRPr lang="zh-CN" altLang="en-US" dirty="0"/>
          </a:p>
        </p:txBody>
      </p:sp>
      <p:sp>
        <p:nvSpPr>
          <p:cNvPr id="4" name="内容占位符 3"/>
          <p:cNvSpPr>
            <a:spLocks noGrp="1"/>
          </p:cNvSpPr>
          <p:nvPr>
            <p:ph sz="half" idx="2"/>
          </p:nvPr>
        </p:nvSpPr>
        <p:spPr>
          <a:xfrm>
            <a:off x="6175522" y="1335088"/>
            <a:ext cx="5178278" cy="4749800"/>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8" name="标题 7"/>
          <p:cNvSpPr>
            <a:spLocks noGrp="1"/>
          </p:cNvSpPr>
          <p:nvPr>
            <p:ph type="title"/>
          </p:nvPr>
        </p:nvSpPr>
        <p:spPr/>
        <p:txBody>
          <a:bodyPr/>
          <a:lstStyle/>
          <a:p>
            <a:r>
              <a:rPr lang="zh-CN" altLang="en-US" smtClean="0"/>
              <a:t>单击此处编辑母版标题样式</a:t>
            </a:r>
            <a:endParaRPr lang="zh-CN" altLang="en-US"/>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40317" y="365126"/>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40318"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内容占位符 3"/>
          <p:cNvSpPr>
            <a:spLocks noGrp="1"/>
          </p:cNvSpPr>
          <p:nvPr>
            <p:ph sz="half" idx="2"/>
          </p:nvPr>
        </p:nvSpPr>
        <p:spPr>
          <a:xfrm>
            <a:off x="840318" y="2505075"/>
            <a:ext cx="5158316" cy="3684588"/>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内容占位符 5"/>
          <p:cNvSpPr>
            <a:spLocks noGrp="1"/>
          </p:cNvSpPr>
          <p:nvPr>
            <p:ph sz="quarter" idx="4"/>
          </p:nvPr>
        </p:nvSpPr>
        <p:spPr>
          <a:xfrm>
            <a:off x="6172200" y="2505075"/>
            <a:ext cx="5183717" cy="3684588"/>
          </a:xfrm>
        </p:spPr>
        <p:txBody>
          <a:bodyPr/>
          <a:lstStyle>
            <a:lvl1pPr marL="342900" indent="-342900">
              <a:buFont typeface="Arial" panose="020B0604020202020204" pitchFamily="34" charset="0"/>
              <a:buChar char="•"/>
              <a:defRPr/>
            </a:lvl1pPr>
            <a:lvl2pPr marL="800100" indent="-342900">
              <a:buFont typeface="Arial" panose="020B0604020202020204" pitchFamily="34" charset="0"/>
              <a:buChar char="•"/>
              <a:defRPr/>
            </a:lvl2pPr>
            <a:lvl3pPr marL="1200150" indent="-285750">
              <a:buFont typeface="Arial" panose="020B0604020202020204" pitchFamily="34" charset="0"/>
              <a:buChar char="•"/>
              <a:defRPr/>
            </a:lvl3pPr>
            <a:lvl4pPr marL="1657350" indent="-285750">
              <a:buFont typeface="Arial" panose="020B0604020202020204" pitchFamily="34" charset="0"/>
              <a:buChar char="•"/>
              <a:defRPr/>
            </a:lvl4pPr>
            <a:lvl5pPr marL="2114550" indent="-285750">
              <a:buFont typeface="Arial" panose="020B0604020202020204" pitchFamily="34" charset="0"/>
              <a:buChar char="•"/>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grpSp>
        <p:nvGrpSpPr>
          <p:cNvPr id="5" name="Group 3" descr="#wm#_34_1_*Z"/>
          <p:cNvGrpSpPr/>
          <p:nvPr/>
        </p:nvGrpSpPr>
        <p:grpSpPr bwMode="auto">
          <a:xfrm>
            <a:off x="4178400" y="2759075"/>
            <a:ext cx="3835200" cy="1098550"/>
            <a:chOff x="0" y="0"/>
            <a:chExt cx="7282" cy="1730"/>
          </a:xfrm>
        </p:grpSpPr>
        <p:sp>
          <p:nvSpPr>
            <p:cNvPr id="6" name="Rectangle 4" descr="#wm#_34_01_100_1001_a_1_10#clear#"/>
            <p:cNvSpPr>
              <a:spLocks noChangeArrowheads="1"/>
            </p:cNvSpPr>
            <p:nvPr/>
          </p:nvSpPr>
          <p:spPr bwMode="auto">
            <a:xfrm>
              <a:off x="0" y="0"/>
              <a:ext cx="7282" cy="1610"/>
            </a:xfrm>
            <a:prstGeom prst="rect">
              <a:avLst/>
            </a:prstGeom>
            <a:solidFill>
              <a:srgbClr val="475F77"/>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en-AU" altLang="en-US" sz="1600"/>
            </a:p>
          </p:txBody>
        </p:sp>
        <p:sp>
          <p:nvSpPr>
            <p:cNvPr id="7" name="Rectangle 5"/>
            <p:cNvSpPr>
              <a:spLocks noChangeArrowheads="1"/>
            </p:cNvSpPr>
            <p:nvPr/>
          </p:nvSpPr>
          <p:spPr bwMode="auto">
            <a:xfrm>
              <a:off x="0" y="1610"/>
              <a:ext cx="7282" cy="120"/>
            </a:xfrm>
            <a:prstGeom prst="rect">
              <a:avLst/>
            </a:prstGeom>
            <a:solidFill>
              <a:srgbClr val="D74B4B"/>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algn="r">
                <a:spcBef>
                  <a:spcPct val="20000"/>
                </a:spcBef>
                <a:defRPr>
                  <a:solidFill>
                    <a:srgbClr val="475F77"/>
                  </a:solidFill>
                  <a:latin typeface="Arial" panose="020B0604020202020204" pitchFamily="34" charset="0"/>
                  <a:ea typeface="黑体" panose="02010609060101010101" pitchFamily="49" charset="-122"/>
                  <a:sym typeface="Arial" panose="020B0604020202020204" pitchFamily="34" charset="0"/>
                </a:defRPr>
              </a:lvl1pPr>
              <a:lvl2pPr algn="ctr">
                <a:spcBef>
                  <a:spcPct val="20000"/>
                </a:spcBef>
                <a:defRPr sz="2800">
                  <a:solidFill>
                    <a:schemeClr val="tx1"/>
                  </a:solidFill>
                  <a:latin typeface="Arial" panose="020B0604020202020204" pitchFamily="34" charset="0"/>
                  <a:ea typeface="宋体" panose="02010600030101010101" pitchFamily="2" charset="-122"/>
                  <a:sym typeface="Arial" panose="020B0604020202020204" pitchFamily="34" charset="0"/>
                </a:defRPr>
              </a:lvl2pPr>
              <a:lvl3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ctr">
                <a:spcBef>
                  <a:spcPct val="20000"/>
                </a:spcBef>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algn="ctr" eaLnBrk="0" fontAlgn="base" hangingPunct="0">
                <a:spcBef>
                  <a:spcPct val="20000"/>
                </a:spcBef>
                <a:spcAft>
                  <a:spcPct val="0"/>
                </a:spcAft>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marL="14605" indent="-14605" algn="l">
                <a:buFontTx/>
                <a:buChar char="•"/>
              </a:pPr>
              <a:endParaRPr lang="zh-CN" altLang="zh-CN" sz="1600"/>
            </a:p>
          </p:txBody>
        </p:sp>
      </p:grpSp>
      <p:sp>
        <p:nvSpPr>
          <p:cNvPr id="8" name="Rectangle 6"/>
          <p:cNvSpPr>
            <a:spLocks noGrp="1" noChangeArrowheads="1"/>
          </p:cNvSpPr>
          <p:nvPr>
            <p:ph type="ctrTitle" hasCustomPrompt="1"/>
          </p:nvPr>
        </p:nvSpPr>
        <p:spPr>
          <a:xfrm>
            <a:off x="4178400" y="2779714"/>
            <a:ext cx="3835200" cy="981075"/>
          </a:xfrm>
        </p:spPr>
        <p:txBody>
          <a:bodyPr/>
          <a:lstStyle>
            <a:lvl1pPr algn="ctr">
              <a:defRPr sz="3600">
                <a:solidFill>
                  <a:schemeClr val="bg1"/>
                </a:solidFill>
              </a:defRPr>
            </a:lvl1pPr>
          </a:lstStyle>
          <a:p>
            <a:pPr lvl="0"/>
            <a:r>
              <a:rPr lang="zh-CN" noProof="0" dirty="0" smtClean="0">
                <a:sym typeface="Arial" panose="020B0604020202020204" pitchFamily="34" charset="0"/>
              </a:rPr>
              <a:t>编辑</a:t>
            </a:r>
            <a:r>
              <a:rPr lang="zh-CN" altLang="en-US" noProof="0" dirty="0" smtClean="0">
                <a:sym typeface="Arial" panose="020B0604020202020204" pitchFamily="34" charset="0"/>
              </a:rPr>
              <a:t>标题</a:t>
            </a:r>
            <a:endParaRPr lang="zh-CN" noProof="0" dirty="0" smtClean="0">
              <a:sym typeface="Arial" panose="020B0604020202020204" pitchFamily="34" charset="0"/>
            </a:endParaRPr>
          </a:p>
        </p:txBody>
      </p:sp>
      <p:sp>
        <p:nvSpPr>
          <p:cNvPr id="2" name="日期占位符 1"/>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pic>
        <p:nvPicPr>
          <p:cNvPr id="10" name="图片 9"/>
          <p:cNvPicPr>
            <a:picLocks noChangeAspect="1"/>
          </p:cNvPicPr>
          <p:nvPr/>
        </p:nvPicPr>
        <p:blipFill>
          <a:blip r:embed="rId2" cstate="print">
            <a:extLst>
              <a:ext uri="{28A0092B-C50C-407E-A947-70E740481C1C}">
                <a14:useLocalDpi xmlns:a14="http://schemas.microsoft.com/office/drawing/2010/main" xmlns="" val="0"/>
              </a:ext>
            </a:extLst>
          </a:blip>
          <a:stretch>
            <a:fillRect/>
          </a:stretch>
        </p:blipFill>
        <p:spPr>
          <a:xfrm>
            <a:off x="295179" y="-224876"/>
            <a:ext cx="3238095" cy="3238095"/>
          </a:xfrm>
          <a:prstGeom prst="rect">
            <a:avLst/>
          </a:prstGeom>
        </p:spPr>
      </p:pic>
      <p:pic>
        <p:nvPicPr>
          <p:cNvPr id="11" name="图片 10"/>
          <p:cNvPicPr>
            <a:picLocks noChangeAspect="1"/>
          </p:cNvPicPr>
          <p:nvPr/>
        </p:nvPicPr>
        <p:blipFill>
          <a:blip r:embed="rId3" cstate="print">
            <a:extLst>
              <a:ext uri="{28A0092B-C50C-407E-A947-70E740481C1C}">
                <a14:useLocalDpi xmlns:a14="http://schemas.microsoft.com/office/drawing/2010/main" xmlns="" val="0"/>
              </a:ext>
            </a:extLst>
          </a:blip>
          <a:stretch>
            <a:fillRect/>
          </a:stretch>
        </p:blipFill>
        <p:spPr>
          <a:xfrm>
            <a:off x="8535604" y="3547549"/>
            <a:ext cx="3238095" cy="3238095"/>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55099" y="335280"/>
            <a:ext cx="11396900" cy="579600"/>
          </a:xfrm>
        </p:spPr>
        <p:txBody>
          <a:bodyPr anchor="b"/>
          <a:lstStyle>
            <a:lvl1pPr>
              <a:defRPr sz="3200"/>
            </a:lvl1pPr>
          </a:lstStyle>
          <a:p>
            <a:r>
              <a:rPr lang="zh-CN" altLang="en-US" dirty="0" smtClean="0"/>
              <a:t>单击此处编辑母版标题样式</a:t>
            </a:r>
            <a:endParaRPr lang="zh-CN" altLang="en-US" dirty="0"/>
          </a:p>
        </p:txBody>
      </p:sp>
      <p:sp>
        <p:nvSpPr>
          <p:cNvPr id="3" name="图片占位符 2"/>
          <p:cNvSpPr>
            <a:spLocks noGrp="1"/>
          </p:cNvSpPr>
          <p:nvPr>
            <p:ph type="pic" idx="1"/>
          </p:nvPr>
        </p:nvSpPr>
        <p:spPr>
          <a:xfrm>
            <a:off x="540000" y="4462145"/>
            <a:ext cx="11112000" cy="20016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540000" y="1264920"/>
            <a:ext cx="11112000" cy="3038400"/>
          </a:xfrm>
        </p:spPr>
        <p:txBody>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p>
        </p:txBody>
      </p:sp>
      <p:sp>
        <p:nvSpPr>
          <p:cNvPr id="5" name="Rectangle 23"/>
          <p:cNvSpPr>
            <a:spLocks noChangeArrowheads="1"/>
          </p:cNvSpPr>
          <p:nvPr/>
        </p:nvSpPr>
        <p:spPr bwMode="auto">
          <a:xfrm flipH="1">
            <a:off x="1" y="339726"/>
            <a:ext cx="251884" cy="581025"/>
          </a:xfrm>
          <a:prstGeom prst="rect">
            <a:avLst/>
          </a:prstGeom>
          <a:solidFill>
            <a:srgbClr val="D74B4B"/>
          </a:solidFill>
          <a:ln>
            <a:noFill/>
          </a:ln>
          <a:effectLst/>
          <a:extLs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nchor="ctr"/>
          <a:lstStyle>
            <a:lvl1pPr marL="14605" indent="-14605">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buFontTx/>
              <a:buChar char="•"/>
            </a:pPr>
            <a:endParaRPr lang="zh-CN" altLang="zh-CN" sz="1600">
              <a:latin typeface="Arial" panose="020B0604020202020204" pitchFamily="34" charset="0"/>
              <a:ea typeface="黑体" panose="02010609060101010101" pitchFamily="49" charset="-122"/>
              <a:sym typeface="Arial" panose="020B0604020202020204" pitchFamily="34" charset="0"/>
            </a:endParaRPr>
          </a:p>
        </p:txBody>
      </p:sp>
      <p:sp>
        <p:nvSpPr>
          <p:cNvPr id="6" name="日期占位符 5"/>
          <p:cNvSpPr>
            <a:spLocks noGrp="1"/>
          </p:cNvSpPr>
          <p:nvPr>
            <p:ph type="dt" sz="half" idx="10"/>
          </p:nvPr>
        </p:nvSpPr>
        <p:spPr>
          <a:xfrm>
            <a:off x="838200" y="6560289"/>
            <a:ext cx="2743200" cy="182452"/>
          </a:xfrm>
        </p:spPr>
        <p:txBody>
          <a:bodyPr/>
          <a:lstStyle/>
          <a:p>
            <a:fld id="{4ED1EB09-2F7F-4678-88FC-6C392734DEF4}" type="datetimeFigureOut">
              <a:rPr lang="zh-CN" altLang="en-US" smtClean="0"/>
              <a:pPr/>
              <a:t>2017/3/30</a:t>
            </a:fld>
            <a:endParaRPr lang="zh-CN" altLang="en-US"/>
          </a:p>
        </p:txBody>
      </p:sp>
      <p:sp>
        <p:nvSpPr>
          <p:cNvPr id="7" name="页脚占位符 6"/>
          <p:cNvSpPr>
            <a:spLocks noGrp="1"/>
          </p:cNvSpPr>
          <p:nvPr>
            <p:ph type="ftr" sz="quarter" idx="11"/>
          </p:nvPr>
        </p:nvSpPr>
        <p:spPr>
          <a:xfrm>
            <a:off x="4038600" y="6560289"/>
            <a:ext cx="4114800" cy="182452"/>
          </a:xfrm>
        </p:spPr>
        <p:txBody>
          <a:bodyPr/>
          <a:lstStyle/>
          <a:p>
            <a:endParaRPr lang="zh-CN" altLang="en-US"/>
          </a:p>
        </p:txBody>
      </p:sp>
      <p:sp>
        <p:nvSpPr>
          <p:cNvPr id="8" name="灯片编号占位符 7"/>
          <p:cNvSpPr>
            <a:spLocks noGrp="1"/>
          </p:cNvSpPr>
          <p:nvPr>
            <p:ph type="sldNum" sz="quarter" idx="12"/>
          </p:nvPr>
        </p:nvSpPr>
        <p:spPr>
          <a:xfrm>
            <a:off x="8610600" y="6560289"/>
            <a:ext cx="2743200" cy="182452"/>
          </a:xfrm>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503229" y="341314"/>
            <a:ext cx="1871739" cy="5743575"/>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41314"/>
            <a:ext cx="8469086" cy="574357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DD57E961-763F-4F3B-99B4-B7F9E54DE58C}" type="slidenum">
              <a:rPr lang="zh-CN" altLang="en-US" smtClean="0"/>
              <a:pPr/>
              <a:t>‹#›</a:t>
            </a:fld>
            <a:endParaRPr lang="zh-CN" alt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4ED1EB09-2F7F-4678-88FC-6C392734DEF4}"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DD57E961-763F-4F3B-99B4-B7F9E54DE58C}" type="slidenum">
              <a:rPr lang="zh-CN" altLang="en-US" smtClean="0"/>
              <a:pPr/>
              <a:t>‹#›</a:t>
            </a:fld>
            <a:endParaRPr lang="zh-CN" altLang="en-US"/>
          </a:p>
        </p:txBody>
      </p:sp>
      <p:sp>
        <p:nvSpPr>
          <p:cNvPr id="6" name="内容占位符 6"/>
          <p:cNvSpPr>
            <a:spLocks noGrp="1"/>
          </p:cNvSpPr>
          <p:nvPr>
            <p:ph sz="quarter" idx="13"/>
          </p:nvPr>
        </p:nvSpPr>
        <p:spPr>
          <a:xfrm>
            <a:off x="838200" y="412955"/>
            <a:ext cx="10515600" cy="5575095"/>
          </a:xfrm>
        </p:spPr>
        <p:txBody>
          <a:bodyPr/>
          <a:lstStyle/>
          <a:p>
            <a:pPr lvl="0"/>
            <a:r>
              <a:rPr lang="zh-CN" altLang="en-US" dirty="0" smtClean="0"/>
              <a:t>单击此处编辑母版文本样式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image" Target="../media/image1.png"/><Relationship Id="rId5" Type="http://schemas.openxmlformats.org/officeDocument/2006/relationships/slideLayout" Target="../slideLayouts/slideLayout18.xml"/><Relationship Id="rId10" Type="http://schemas.openxmlformats.org/officeDocument/2006/relationships/theme" Target="../theme/theme2.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pPr/>
              <a:t>2017/3/30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11"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1" r:id="rId8"/>
    <p:sldLayoutId id="2147483683" r:id="rId9"/>
  </p:sldLayoutIdLst>
  <p:hf hdr="0" ftr="0" dt="0"/>
  <p:txStyles>
    <p:titleStyle>
      <a:lvl1pPr algn="l" rtl="0" eaLnBrk="1" fontAlgn="base" hangingPunct="1">
        <a:lnSpc>
          <a:spcPct val="90000"/>
        </a:lnSpc>
        <a:spcBef>
          <a:spcPct val="0"/>
        </a:spcBef>
        <a:spcAft>
          <a:spcPct val="0"/>
        </a:spcAft>
        <a:defRPr sz="36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1800"/>
        </a:spcBef>
        <a:spcAft>
          <a:spcPct val="0"/>
        </a:spcAft>
        <a:buClr>
          <a:schemeClr val="tx1"/>
        </a:buClr>
        <a:buSzPct val="80000"/>
        <a:buFont typeface="Wingdings" panose="05000000000000000000" pitchFamily="2" charset="2"/>
        <a:buChar char="ü"/>
        <a:defRPr sz="2400" kern="1200">
          <a:solidFill>
            <a:schemeClr val="tx1"/>
          </a:solidFill>
          <a:latin typeface="+mn-lt"/>
          <a:ea typeface="+mn-ea"/>
          <a:cs typeface="+mn-cs"/>
        </a:defRPr>
      </a:lvl1pPr>
      <a:lvl2pPr marL="0" indent="0" algn="l" rtl="0" eaLnBrk="1" fontAlgn="base" hangingPunct="1">
        <a:lnSpc>
          <a:spcPct val="130000"/>
        </a:lnSpc>
        <a:spcBef>
          <a:spcPct val="0"/>
        </a:spcBef>
        <a:spcAft>
          <a:spcPct val="0"/>
        </a:spcAft>
        <a:buClr>
          <a:schemeClr val="tx1"/>
        </a:buClr>
        <a:buSzPct val="80000"/>
        <a:buFont typeface="Wingdings" panose="05000000000000000000" pitchFamily="2" charset="2"/>
        <a:buChar char="ü"/>
        <a:defRPr sz="2000" kern="1200">
          <a:solidFill>
            <a:schemeClr val="tx1"/>
          </a:solidFill>
          <a:latin typeface="+mn-lt"/>
          <a:ea typeface="+mn-ea"/>
          <a:cs typeface="+mn-cs"/>
        </a:defRPr>
      </a:lvl2pPr>
      <a:lvl3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3pPr>
      <a:lvl4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Wingdings" panose="05000000000000000000" pitchFamily="2" charset="2"/>
        <a:buChar char="ü"/>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auto">
      <p:bgPr>
        <a:solidFill>
          <a:srgbClr val="ECECEC"/>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38200" y="341314"/>
            <a:ext cx="10515600" cy="85067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ctr" anchorCtr="0" compatLnSpc="1">
            <a:normAutofit/>
          </a:bodyPr>
          <a:lstStyle/>
          <a:p>
            <a:pPr lvl="0"/>
            <a:r>
              <a:rPr lang="zh-CN" smtClean="0">
                <a:sym typeface="Arial" panose="020B0604020202020204" pitchFamily="34" charset="0"/>
              </a:rPr>
              <a:t>单击此处编辑母版标题样式</a:t>
            </a:r>
          </a:p>
        </p:txBody>
      </p:sp>
      <p:sp>
        <p:nvSpPr>
          <p:cNvPr id="1031" name="Rectangle 3"/>
          <p:cNvSpPr>
            <a:spLocks noGrp="1" noChangeArrowheads="1"/>
          </p:cNvSpPr>
          <p:nvPr>
            <p:ph type="body" idx="1"/>
          </p:nvPr>
        </p:nvSpPr>
        <p:spPr bwMode="auto">
          <a:xfrm>
            <a:off x="838200" y="1335088"/>
            <a:ext cx="10515600" cy="4749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p>
            <a:pPr lvl="0"/>
            <a:r>
              <a:rPr lang="zh-CN" dirty="0" smtClean="0">
                <a:sym typeface="Arial" panose="020B0604020202020204" pitchFamily="34" charset="0"/>
              </a:rPr>
              <a:t>单击此处编辑母版文本样式</a:t>
            </a:r>
          </a:p>
          <a:p>
            <a:pPr lvl="1"/>
            <a:r>
              <a:rPr lang="zh-CN" dirty="0" smtClean="0">
                <a:sym typeface="Arial" panose="020B0604020202020204" pitchFamily="34" charset="0"/>
              </a:rPr>
              <a:t>第二级</a:t>
            </a:r>
          </a:p>
          <a:p>
            <a:pPr lvl="2"/>
            <a:r>
              <a:rPr lang="zh-CN" dirty="0" smtClean="0">
                <a:sym typeface="Arial" panose="020B0604020202020204" pitchFamily="34" charset="0"/>
              </a:rPr>
              <a:t>第三级</a:t>
            </a:r>
          </a:p>
          <a:p>
            <a:pPr lvl="3"/>
            <a:r>
              <a:rPr lang="zh-CN" dirty="0" smtClean="0">
                <a:sym typeface="Arial" panose="020B0604020202020204" pitchFamily="34" charset="0"/>
              </a:rPr>
              <a:t>第四级</a:t>
            </a:r>
          </a:p>
          <a:p>
            <a:pPr lvl="4"/>
            <a:r>
              <a:rPr lang="zh-CN" dirty="0" smtClean="0">
                <a:sym typeface="Arial" panose="020B0604020202020204" pitchFamily="34" charset="0"/>
              </a:rPr>
              <a:t>第五级</a:t>
            </a:r>
          </a:p>
        </p:txBody>
      </p:sp>
      <p:sp>
        <p:nvSpPr>
          <p:cNvPr id="2" name="日期占位符 1"/>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D1EB09-2F7F-4678-88FC-6C392734DEF4}" type="datetimeFigureOut">
              <a:rPr lang="zh-CN" altLang="en-US" smtClean="0"/>
              <a:pPr/>
              <a:t>2017/3/30</a:t>
            </a:fld>
            <a:endParaRPr lang="zh-CN" altLang="en-US"/>
          </a:p>
        </p:txBody>
      </p:sp>
      <p:sp>
        <p:nvSpPr>
          <p:cNvPr id="3" name="页脚占位符 2"/>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4" name="灯片编号占位符 3"/>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57E961-763F-4F3B-99B4-B7F9E54DE58C}"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Lst>
  <p:txStyles>
    <p:titleStyle>
      <a:lvl1pPr algn="l" rtl="0" eaLnBrk="0" fontAlgn="base" hangingPunct="0">
        <a:spcBef>
          <a:spcPct val="0"/>
        </a:spcBef>
        <a:spcAft>
          <a:spcPct val="0"/>
        </a:spcAft>
        <a:defRPr sz="3600" kern="1200">
          <a:solidFill>
            <a:srgbClr val="475F77"/>
          </a:solidFill>
          <a:latin typeface="Arial" panose="020B0604020202020204" pitchFamily="34" charset="0"/>
          <a:ea typeface="黑体" panose="02010609060101010101" pitchFamily="49" charset="-122"/>
          <a:cs typeface="+mj-cs"/>
          <a:sym typeface="Arial" panose="020B0604020202020204" pitchFamily="34" charset="0"/>
        </a:defRPr>
      </a:lvl1pPr>
      <a:lvl2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4572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9144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13716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1828800" algn="l" rtl="0" eaLnBrk="0" fontAlgn="base" hangingPunct="0">
        <a:spcBef>
          <a:spcPct val="0"/>
        </a:spcBef>
        <a:spcAft>
          <a:spcPct val="0"/>
        </a:spcAft>
        <a:defRPr sz="3200">
          <a:solidFill>
            <a:srgbClr val="475F77"/>
          </a:solidFill>
          <a:latin typeface="Arial" panose="020B0604020202020204" pitchFamily="34" charset="0"/>
          <a:ea typeface="黑体" panose="02010609060101010101" pitchFamily="49" charset="-122"/>
          <a:sym typeface="Arial" panose="020B0604020202020204" pitchFamily="34" charset="0"/>
        </a:defRPr>
      </a:lvl9pPr>
    </p:titleStyle>
    <p:bodyStyle>
      <a:lvl1pPr marL="14605" indent="-14605" algn="l" rtl="0" eaLnBrk="0" fontAlgn="base" hangingPunct="0">
        <a:spcBef>
          <a:spcPct val="20000"/>
        </a:spcBef>
        <a:spcAft>
          <a:spcPct val="0"/>
        </a:spcAft>
        <a:buChar char="•"/>
        <a:defRPr sz="24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1pPr>
      <a:lvl2pPr marL="742950" indent="-285750" algn="l" rtl="0" eaLnBrk="0" fontAlgn="base" hangingPunct="0">
        <a:spcBef>
          <a:spcPct val="20000"/>
        </a:spcBef>
        <a:spcAft>
          <a:spcPct val="0"/>
        </a:spcAft>
        <a:buFont typeface="Arial" panose="020B0604020202020204" pitchFamily="34" charset="0"/>
        <a:buChar char="•"/>
        <a:defRPr sz="20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2pPr>
      <a:lvl3pPr marL="12001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3pPr>
      <a:lvl4pPr marL="16573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4pPr>
      <a:lvl5pPr marL="2114550" indent="-285750" algn="l" rtl="0" eaLnBrk="0" fontAlgn="base" hangingPunct="0">
        <a:spcBef>
          <a:spcPct val="20000"/>
        </a:spcBef>
        <a:spcAft>
          <a:spcPct val="0"/>
        </a:spcAft>
        <a:buFont typeface="Arial" panose="020B0604020202020204" pitchFamily="34" charset="0"/>
        <a:buChar char="•"/>
        <a:defRPr sz="1800" kern="1200">
          <a:solidFill>
            <a:srgbClr val="475F77"/>
          </a:solidFill>
          <a:latin typeface="Arial" panose="020B0604020202020204" pitchFamily="34" charset="0"/>
          <a:ea typeface="黑体" panose="02010609060101010101" pitchFamily="49" charset="-122"/>
          <a:cs typeface="+mn-cs"/>
          <a:sym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4.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7.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7.png"/><Relationship Id="rId5" Type="http://schemas.openxmlformats.org/officeDocument/2006/relationships/tags" Target="../tags/tag21.xml"/><Relationship Id="rId10" Type="http://schemas.openxmlformats.org/officeDocument/2006/relationships/image" Target="../media/image6.png"/><Relationship Id="rId4" Type="http://schemas.openxmlformats.org/officeDocument/2006/relationships/tags" Target="../tags/tag20.xml"/><Relationship Id="rId9"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2.xml"/><Relationship Id="rId3" Type="http://schemas.openxmlformats.org/officeDocument/2006/relationships/tags" Target="../tags/tag25.xml"/><Relationship Id="rId7" Type="http://schemas.openxmlformats.org/officeDocument/2006/relationships/slideLayout" Target="../slideLayouts/slideLayout1.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7.png"/><Relationship Id="rId5" Type="http://schemas.openxmlformats.org/officeDocument/2006/relationships/tags" Target="../tags/tag27.xml"/><Relationship Id="rId10" Type="http://schemas.openxmlformats.org/officeDocument/2006/relationships/image" Target="../media/image6.png"/><Relationship Id="rId4" Type="http://schemas.openxmlformats.org/officeDocument/2006/relationships/tags" Target="../tags/tag26.xml"/><Relationship Id="rId9"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9.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8" Type="http://schemas.openxmlformats.org/officeDocument/2006/relationships/tags" Target="../tags/tag37.xml"/><Relationship Id="rId13" Type="http://schemas.openxmlformats.org/officeDocument/2006/relationships/tags" Target="../tags/tag42.xml"/><Relationship Id="rId3" Type="http://schemas.openxmlformats.org/officeDocument/2006/relationships/tags" Target="../tags/tag32.xml"/><Relationship Id="rId7" Type="http://schemas.openxmlformats.org/officeDocument/2006/relationships/tags" Target="../tags/tag36.xml"/><Relationship Id="rId12" Type="http://schemas.openxmlformats.org/officeDocument/2006/relationships/tags" Target="../tags/tag41.xml"/><Relationship Id="rId17" Type="http://schemas.openxmlformats.org/officeDocument/2006/relationships/slideLayout" Target="../slideLayouts/slideLayout16.xml"/><Relationship Id="rId2" Type="http://schemas.openxmlformats.org/officeDocument/2006/relationships/tags" Target="../tags/tag31.xml"/><Relationship Id="rId16" Type="http://schemas.openxmlformats.org/officeDocument/2006/relationships/tags" Target="../tags/tag45.xml"/><Relationship Id="rId1" Type="http://schemas.openxmlformats.org/officeDocument/2006/relationships/tags" Target="../tags/tag30.xml"/><Relationship Id="rId6" Type="http://schemas.openxmlformats.org/officeDocument/2006/relationships/tags" Target="../tags/tag35.xml"/><Relationship Id="rId11" Type="http://schemas.openxmlformats.org/officeDocument/2006/relationships/tags" Target="../tags/tag40.xml"/><Relationship Id="rId5" Type="http://schemas.openxmlformats.org/officeDocument/2006/relationships/tags" Target="../tags/tag34.xml"/><Relationship Id="rId15" Type="http://schemas.openxmlformats.org/officeDocument/2006/relationships/tags" Target="../tags/tag44.xml"/><Relationship Id="rId10" Type="http://schemas.openxmlformats.org/officeDocument/2006/relationships/tags" Target="../tags/tag39.xml"/><Relationship Id="rId4" Type="http://schemas.openxmlformats.org/officeDocument/2006/relationships/tags" Target="../tags/tag33.xml"/><Relationship Id="rId9" Type="http://schemas.openxmlformats.org/officeDocument/2006/relationships/tags" Target="../tags/tag38.xml"/><Relationship Id="rId14" Type="http://schemas.openxmlformats.org/officeDocument/2006/relationships/tags" Target="../tags/tag43.xml"/></Relationships>
</file>

<file path=ppt/slides/_rels/slide8.xml.rels><?xml version="1.0" encoding="UTF-8" standalone="yes"?>
<Relationships xmlns="http://schemas.openxmlformats.org/package/2006/relationships"><Relationship Id="rId3" Type="http://schemas.openxmlformats.org/officeDocument/2006/relationships/tags" Target="../tags/tag48.xml"/><Relationship Id="rId7" Type="http://schemas.openxmlformats.org/officeDocument/2006/relationships/slideLayout" Target="../slideLayouts/slideLayout18.xml"/><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tags" Target="../tags/tag51.xml"/><Relationship Id="rId5" Type="http://schemas.openxmlformats.org/officeDocument/2006/relationships/tags" Target="../tags/tag50.xml"/><Relationship Id="rId4" Type="http://schemas.openxmlformats.org/officeDocument/2006/relationships/tags" Target="../tags/tag49.xml"/></Relationships>
</file>

<file path=ppt/slides/_rels/slide9.xml.rels><?xml version="1.0" encoding="UTF-8" standalone="yes"?>
<Relationships xmlns="http://schemas.openxmlformats.org/package/2006/relationships"><Relationship Id="rId8" Type="http://schemas.openxmlformats.org/officeDocument/2006/relationships/tags" Target="../tags/tag59.xml"/><Relationship Id="rId13" Type="http://schemas.openxmlformats.org/officeDocument/2006/relationships/tags" Target="../tags/tag64.xml"/><Relationship Id="rId3" Type="http://schemas.openxmlformats.org/officeDocument/2006/relationships/tags" Target="../tags/tag54.xml"/><Relationship Id="rId7" Type="http://schemas.openxmlformats.org/officeDocument/2006/relationships/tags" Target="../tags/tag58.xml"/><Relationship Id="rId12" Type="http://schemas.openxmlformats.org/officeDocument/2006/relationships/tags" Target="../tags/tag63.xml"/><Relationship Id="rId2" Type="http://schemas.openxmlformats.org/officeDocument/2006/relationships/tags" Target="../tags/tag53.xml"/><Relationship Id="rId16" Type="http://schemas.openxmlformats.org/officeDocument/2006/relationships/slideLayout" Target="../slideLayouts/slideLayout18.xml"/><Relationship Id="rId1" Type="http://schemas.openxmlformats.org/officeDocument/2006/relationships/tags" Target="../tags/tag52.xml"/><Relationship Id="rId6" Type="http://schemas.openxmlformats.org/officeDocument/2006/relationships/tags" Target="../tags/tag57.xml"/><Relationship Id="rId11" Type="http://schemas.openxmlformats.org/officeDocument/2006/relationships/tags" Target="../tags/tag62.xml"/><Relationship Id="rId5" Type="http://schemas.openxmlformats.org/officeDocument/2006/relationships/tags" Target="../tags/tag56.xml"/><Relationship Id="rId15" Type="http://schemas.openxmlformats.org/officeDocument/2006/relationships/tags" Target="../tags/tag66.xml"/><Relationship Id="rId10" Type="http://schemas.openxmlformats.org/officeDocument/2006/relationships/tags" Target="../tags/tag61.xml"/><Relationship Id="rId4" Type="http://schemas.openxmlformats.org/officeDocument/2006/relationships/tags" Target="../tags/tag55.xml"/><Relationship Id="rId9" Type="http://schemas.openxmlformats.org/officeDocument/2006/relationships/tags" Target="../tags/tag60.xml"/><Relationship Id="rId14" Type="http://schemas.openxmlformats.org/officeDocument/2006/relationships/tags" Target="../tags/tag6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8" Type="http://schemas.openxmlformats.org/officeDocument/2006/relationships/tags" Target="../tags/tag74.xml"/><Relationship Id="rId13" Type="http://schemas.openxmlformats.org/officeDocument/2006/relationships/slideLayout" Target="../slideLayouts/slideLayout18.xml"/><Relationship Id="rId3" Type="http://schemas.openxmlformats.org/officeDocument/2006/relationships/tags" Target="../tags/tag69.xml"/><Relationship Id="rId7" Type="http://schemas.openxmlformats.org/officeDocument/2006/relationships/tags" Target="../tags/tag73.xml"/><Relationship Id="rId12" Type="http://schemas.openxmlformats.org/officeDocument/2006/relationships/tags" Target="../tags/tag78.xml"/><Relationship Id="rId2" Type="http://schemas.openxmlformats.org/officeDocument/2006/relationships/tags" Target="../tags/tag68.xml"/><Relationship Id="rId1" Type="http://schemas.openxmlformats.org/officeDocument/2006/relationships/tags" Target="../tags/tag67.xml"/><Relationship Id="rId6" Type="http://schemas.openxmlformats.org/officeDocument/2006/relationships/tags" Target="../tags/tag72.xml"/><Relationship Id="rId11" Type="http://schemas.openxmlformats.org/officeDocument/2006/relationships/tags" Target="../tags/tag77.xml"/><Relationship Id="rId5" Type="http://schemas.openxmlformats.org/officeDocument/2006/relationships/tags" Target="../tags/tag71.xml"/><Relationship Id="rId10" Type="http://schemas.openxmlformats.org/officeDocument/2006/relationships/tags" Target="../tags/tag76.xml"/><Relationship Id="rId4" Type="http://schemas.openxmlformats.org/officeDocument/2006/relationships/tags" Target="../tags/tag70.xml"/><Relationship Id="rId9" Type="http://schemas.openxmlformats.org/officeDocument/2006/relationships/tags" Target="../tags/tag75.xml"/><Relationship Id="rId14"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8" Type="http://schemas.openxmlformats.org/officeDocument/2006/relationships/tags" Target="../tags/tag86.xml"/><Relationship Id="rId13" Type="http://schemas.openxmlformats.org/officeDocument/2006/relationships/slideLayout" Target="../slideLayouts/slideLayout18.xml"/><Relationship Id="rId3" Type="http://schemas.openxmlformats.org/officeDocument/2006/relationships/tags" Target="../tags/tag81.xml"/><Relationship Id="rId7" Type="http://schemas.openxmlformats.org/officeDocument/2006/relationships/tags" Target="../tags/tag85.xml"/><Relationship Id="rId12" Type="http://schemas.openxmlformats.org/officeDocument/2006/relationships/tags" Target="../tags/tag90.xml"/><Relationship Id="rId2" Type="http://schemas.openxmlformats.org/officeDocument/2006/relationships/tags" Target="../tags/tag80.xml"/><Relationship Id="rId1" Type="http://schemas.openxmlformats.org/officeDocument/2006/relationships/tags" Target="../tags/tag79.xml"/><Relationship Id="rId6" Type="http://schemas.openxmlformats.org/officeDocument/2006/relationships/tags" Target="../tags/tag84.xml"/><Relationship Id="rId11" Type="http://schemas.openxmlformats.org/officeDocument/2006/relationships/tags" Target="../tags/tag89.xml"/><Relationship Id="rId5" Type="http://schemas.openxmlformats.org/officeDocument/2006/relationships/tags" Target="../tags/tag83.xml"/><Relationship Id="rId10" Type="http://schemas.openxmlformats.org/officeDocument/2006/relationships/tags" Target="../tags/tag88.xml"/><Relationship Id="rId4" Type="http://schemas.openxmlformats.org/officeDocument/2006/relationships/tags" Target="../tags/tag82.xml"/><Relationship Id="rId9" Type="http://schemas.openxmlformats.org/officeDocument/2006/relationships/tags" Target="../tags/tag87.xml"/><Relationship Id="rId14"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8" Type="http://schemas.openxmlformats.org/officeDocument/2006/relationships/tags" Target="../tags/tag98.xml"/><Relationship Id="rId13" Type="http://schemas.openxmlformats.org/officeDocument/2006/relationships/tags" Target="../tags/tag103.xml"/><Relationship Id="rId3" Type="http://schemas.openxmlformats.org/officeDocument/2006/relationships/tags" Target="../tags/tag93.xml"/><Relationship Id="rId7" Type="http://schemas.openxmlformats.org/officeDocument/2006/relationships/tags" Target="../tags/tag97.xml"/><Relationship Id="rId12" Type="http://schemas.openxmlformats.org/officeDocument/2006/relationships/tags" Target="../tags/tag102.xml"/><Relationship Id="rId2" Type="http://schemas.openxmlformats.org/officeDocument/2006/relationships/tags" Target="../tags/tag92.xml"/><Relationship Id="rId16" Type="http://schemas.openxmlformats.org/officeDocument/2006/relationships/notesSlide" Target="../notesSlides/notesSlide10.xml"/><Relationship Id="rId1" Type="http://schemas.openxmlformats.org/officeDocument/2006/relationships/tags" Target="../tags/tag91.xml"/><Relationship Id="rId6" Type="http://schemas.openxmlformats.org/officeDocument/2006/relationships/tags" Target="../tags/tag96.xml"/><Relationship Id="rId11" Type="http://schemas.openxmlformats.org/officeDocument/2006/relationships/tags" Target="../tags/tag101.xml"/><Relationship Id="rId5" Type="http://schemas.openxmlformats.org/officeDocument/2006/relationships/tags" Target="../tags/tag95.xml"/><Relationship Id="rId15" Type="http://schemas.openxmlformats.org/officeDocument/2006/relationships/slideLayout" Target="../slideLayouts/slideLayout18.xml"/><Relationship Id="rId10" Type="http://schemas.openxmlformats.org/officeDocument/2006/relationships/tags" Target="../tags/tag100.xml"/><Relationship Id="rId4" Type="http://schemas.openxmlformats.org/officeDocument/2006/relationships/tags" Target="../tags/tag94.xml"/><Relationship Id="rId9" Type="http://schemas.openxmlformats.org/officeDocument/2006/relationships/tags" Target="../tags/tag99.xml"/><Relationship Id="rId14" Type="http://schemas.openxmlformats.org/officeDocument/2006/relationships/tags" Target="../tags/tag104.xml"/></Relationships>
</file>

<file path=ppt/slides/_rels/slide18.xml.rels><?xml version="1.0" encoding="UTF-8" standalone="yes"?>
<Relationships xmlns="http://schemas.openxmlformats.org/package/2006/relationships"><Relationship Id="rId8" Type="http://schemas.openxmlformats.org/officeDocument/2006/relationships/tags" Target="../tags/tag112.xml"/><Relationship Id="rId13" Type="http://schemas.openxmlformats.org/officeDocument/2006/relationships/tags" Target="../tags/tag117.xml"/><Relationship Id="rId18" Type="http://schemas.openxmlformats.org/officeDocument/2006/relationships/tags" Target="../tags/tag122.xml"/><Relationship Id="rId3" Type="http://schemas.openxmlformats.org/officeDocument/2006/relationships/tags" Target="../tags/tag107.xml"/><Relationship Id="rId7" Type="http://schemas.openxmlformats.org/officeDocument/2006/relationships/tags" Target="../tags/tag111.xml"/><Relationship Id="rId12" Type="http://schemas.openxmlformats.org/officeDocument/2006/relationships/tags" Target="../tags/tag116.xml"/><Relationship Id="rId17" Type="http://schemas.openxmlformats.org/officeDocument/2006/relationships/tags" Target="../tags/tag121.xml"/><Relationship Id="rId2" Type="http://schemas.openxmlformats.org/officeDocument/2006/relationships/tags" Target="../tags/tag106.xml"/><Relationship Id="rId16" Type="http://schemas.openxmlformats.org/officeDocument/2006/relationships/tags" Target="../tags/tag120.xml"/><Relationship Id="rId20" Type="http://schemas.openxmlformats.org/officeDocument/2006/relationships/notesSlide" Target="../notesSlides/notesSlide11.xml"/><Relationship Id="rId1" Type="http://schemas.openxmlformats.org/officeDocument/2006/relationships/tags" Target="../tags/tag105.xml"/><Relationship Id="rId6" Type="http://schemas.openxmlformats.org/officeDocument/2006/relationships/tags" Target="../tags/tag110.xml"/><Relationship Id="rId11" Type="http://schemas.openxmlformats.org/officeDocument/2006/relationships/tags" Target="../tags/tag115.xml"/><Relationship Id="rId5" Type="http://schemas.openxmlformats.org/officeDocument/2006/relationships/tags" Target="../tags/tag109.xml"/><Relationship Id="rId15" Type="http://schemas.openxmlformats.org/officeDocument/2006/relationships/tags" Target="../tags/tag119.xml"/><Relationship Id="rId10" Type="http://schemas.openxmlformats.org/officeDocument/2006/relationships/tags" Target="../tags/tag114.xml"/><Relationship Id="rId19" Type="http://schemas.openxmlformats.org/officeDocument/2006/relationships/slideLayout" Target="../slideLayouts/slideLayout18.xml"/><Relationship Id="rId4" Type="http://schemas.openxmlformats.org/officeDocument/2006/relationships/tags" Target="../tags/tag108.xml"/><Relationship Id="rId9" Type="http://schemas.openxmlformats.org/officeDocument/2006/relationships/tags" Target="../tags/tag113.xml"/><Relationship Id="rId14" Type="http://schemas.openxmlformats.org/officeDocument/2006/relationships/tags" Target="../tags/tag118.xml"/></Relationships>
</file>

<file path=ppt/slides/_rels/slide19.xml.rels><?xml version="1.0" encoding="UTF-8" standalone="yes"?>
<Relationships xmlns="http://schemas.openxmlformats.org/package/2006/relationships"><Relationship Id="rId8" Type="http://schemas.openxmlformats.org/officeDocument/2006/relationships/tags" Target="../tags/tag130.xml"/><Relationship Id="rId13" Type="http://schemas.openxmlformats.org/officeDocument/2006/relationships/tags" Target="../tags/tag135.xml"/><Relationship Id="rId18" Type="http://schemas.openxmlformats.org/officeDocument/2006/relationships/tags" Target="../tags/tag140.xml"/><Relationship Id="rId3" Type="http://schemas.openxmlformats.org/officeDocument/2006/relationships/tags" Target="../tags/tag125.xml"/><Relationship Id="rId21" Type="http://schemas.openxmlformats.org/officeDocument/2006/relationships/slideLayout" Target="../slideLayouts/slideLayout18.xml"/><Relationship Id="rId7" Type="http://schemas.openxmlformats.org/officeDocument/2006/relationships/tags" Target="../tags/tag129.xml"/><Relationship Id="rId12" Type="http://schemas.openxmlformats.org/officeDocument/2006/relationships/tags" Target="../tags/tag134.xml"/><Relationship Id="rId17" Type="http://schemas.openxmlformats.org/officeDocument/2006/relationships/tags" Target="../tags/tag139.xml"/><Relationship Id="rId2" Type="http://schemas.openxmlformats.org/officeDocument/2006/relationships/tags" Target="../tags/tag124.xml"/><Relationship Id="rId16" Type="http://schemas.openxmlformats.org/officeDocument/2006/relationships/tags" Target="../tags/tag138.xml"/><Relationship Id="rId20" Type="http://schemas.openxmlformats.org/officeDocument/2006/relationships/tags" Target="../tags/tag142.xml"/><Relationship Id="rId1" Type="http://schemas.openxmlformats.org/officeDocument/2006/relationships/tags" Target="../tags/tag123.xml"/><Relationship Id="rId6" Type="http://schemas.openxmlformats.org/officeDocument/2006/relationships/tags" Target="../tags/tag128.xml"/><Relationship Id="rId11" Type="http://schemas.openxmlformats.org/officeDocument/2006/relationships/tags" Target="../tags/tag133.xml"/><Relationship Id="rId5" Type="http://schemas.openxmlformats.org/officeDocument/2006/relationships/tags" Target="../tags/tag127.xml"/><Relationship Id="rId15" Type="http://schemas.openxmlformats.org/officeDocument/2006/relationships/tags" Target="../tags/tag137.xml"/><Relationship Id="rId10" Type="http://schemas.openxmlformats.org/officeDocument/2006/relationships/tags" Target="../tags/tag132.xml"/><Relationship Id="rId19" Type="http://schemas.openxmlformats.org/officeDocument/2006/relationships/tags" Target="../tags/tag141.xml"/><Relationship Id="rId4" Type="http://schemas.openxmlformats.org/officeDocument/2006/relationships/tags" Target="../tags/tag126.xml"/><Relationship Id="rId9" Type="http://schemas.openxmlformats.org/officeDocument/2006/relationships/tags" Target="../tags/tag131.xml"/><Relationship Id="rId14" Type="http://schemas.openxmlformats.org/officeDocument/2006/relationships/tags" Target="../tags/tag136.xml"/><Relationship Id="rId2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8" Type="http://schemas.openxmlformats.org/officeDocument/2006/relationships/tags" Target="../tags/tag150.xml"/><Relationship Id="rId3" Type="http://schemas.openxmlformats.org/officeDocument/2006/relationships/tags" Target="../tags/tag145.xml"/><Relationship Id="rId7" Type="http://schemas.openxmlformats.org/officeDocument/2006/relationships/tags" Target="../tags/tag149.xml"/><Relationship Id="rId12" Type="http://schemas.openxmlformats.org/officeDocument/2006/relationships/notesSlide" Target="../notesSlides/notesSlide13.xml"/><Relationship Id="rId2" Type="http://schemas.openxmlformats.org/officeDocument/2006/relationships/tags" Target="../tags/tag144.xml"/><Relationship Id="rId1" Type="http://schemas.openxmlformats.org/officeDocument/2006/relationships/tags" Target="../tags/tag143.xml"/><Relationship Id="rId6" Type="http://schemas.openxmlformats.org/officeDocument/2006/relationships/tags" Target="../tags/tag148.xml"/><Relationship Id="rId11" Type="http://schemas.openxmlformats.org/officeDocument/2006/relationships/slideLayout" Target="../slideLayouts/slideLayout18.xml"/><Relationship Id="rId5" Type="http://schemas.openxmlformats.org/officeDocument/2006/relationships/tags" Target="../tags/tag147.xml"/><Relationship Id="rId10" Type="http://schemas.openxmlformats.org/officeDocument/2006/relationships/tags" Target="../tags/tag152.xml"/><Relationship Id="rId4" Type="http://schemas.openxmlformats.org/officeDocument/2006/relationships/tags" Target="../tags/tag146.xml"/><Relationship Id="rId9" Type="http://schemas.openxmlformats.org/officeDocument/2006/relationships/tags" Target="../tags/tag151.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5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8" Type="http://schemas.openxmlformats.org/officeDocument/2006/relationships/tags" Target="../tags/tag161.xml"/><Relationship Id="rId13" Type="http://schemas.openxmlformats.org/officeDocument/2006/relationships/tags" Target="../tags/tag166.xml"/><Relationship Id="rId3" Type="http://schemas.openxmlformats.org/officeDocument/2006/relationships/tags" Target="../tags/tag156.xml"/><Relationship Id="rId7" Type="http://schemas.openxmlformats.org/officeDocument/2006/relationships/tags" Target="../tags/tag160.xml"/><Relationship Id="rId12" Type="http://schemas.openxmlformats.org/officeDocument/2006/relationships/tags" Target="../tags/tag165.xml"/><Relationship Id="rId2" Type="http://schemas.openxmlformats.org/officeDocument/2006/relationships/tags" Target="../tags/tag155.xml"/><Relationship Id="rId1" Type="http://schemas.openxmlformats.org/officeDocument/2006/relationships/tags" Target="../tags/tag154.xml"/><Relationship Id="rId6" Type="http://schemas.openxmlformats.org/officeDocument/2006/relationships/tags" Target="../tags/tag159.xml"/><Relationship Id="rId11" Type="http://schemas.openxmlformats.org/officeDocument/2006/relationships/tags" Target="../tags/tag164.xml"/><Relationship Id="rId5" Type="http://schemas.openxmlformats.org/officeDocument/2006/relationships/tags" Target="../tags/tag158.xml"/><Relationship Id="rId15" Type="http://schemas.openxmlformats.org/officeDocument/2006/relationships/notesSlide" Target="../notesSlides/notesSlide14.xml"/><Relationship Id="rId10" Type="http://schemas.openxmlformats.org/officeDocument/2006/relationships/tags" Target="../tags/tag163.xml"/><Relationship Id="rId4" Type="http://schemas.openxmlformats.org/officeDocument/2006/relationships/tags" Target="../tags/tag157.xml"/><Relationship Id="rId9" Type="http://schemas.openxmlformats.org/officeDocument/2006/relationships/tags" Target="../tags/tag162.xml"/><Relationship Id="rId14"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67.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68.xml"/></Relationships>
</file>

<file path=ppt/slides/_rels/slide28.xml.rels><?xml version="1.0" encoding="UTF-8" standalone="yes"?>
<Relationships xmlns="http://schemas.openxmlformats.org/package/2006/relationships"><Relationship Id="rId8" Type="http://schemas.openxmlformats.org/officeDocument/2006/relationships/tags" Target="../tags/tag176.xml"/><Relationship Id="rId13" Type="http://schemas.openxmlformats.org/officeDocument/2006/relationships/tags" Target="../tags/tag181.xml"/><Relationship Id="rId18" Type="http://schemas.openxmlformats.org/officeDocument/2006/relationships/tags" Target="../tags/tag186.xml"/><Relationship Id="rId26" Type="http://schemas.openxmlformats.org/officeDocument/2006/relationships/tags" Target="../tags/tag194.xml"/><Relationship Id="rId3" Type="http://schemas.openxmlformats.org/officeDocument/2006/relationships/tags" Target="../tags/tag171.xml"/><Relationship Id="rId21" Type="http://schemas.openxmlformats.org/officeDocument/2006/relationships/tags" Target="../tags/tag189.xml"/><Relationship Id="rId34" Type="http://schemas.openxmlformats.org/officeDocument/2006/relationships/tags" Target="../tags/tag202.xml"/><Relationship Id="rId7" Type="http://schemas.openxmlformats.org/officeDocument/2006/relationships/tags" Target="../tags/tag175.xml"/><Relationship Id="rId12" Type="http://schemas.openxmlformats.org/officeDocument/2006/relationships/tags" Target="../tags/tag180.xml"/><Relationship Id="rId17" Type="http://schemas.openxmlformats.org/officeDocument/2006/relationships/tags" Target="../tags/tag185.xml"/><Relationship Id="rId25" Type="http://schemas.openxmlformats.org/officeDocument/2006/relationships/tags" Target="../tags/tag193.xml"/><Relationship Id="rId33" Type="http://schemas.openxmlformats.org/officeDocument/2006/relationships/tags" Target="../tags/tag201.xml"/><Relationship Id="rId38" Type="http://schemas.openxmlformats.org/officeDocument/2006/relationships/notesSlide" Target="../notesSlides/notesSlide17.xml"/><Relationship Id="rId2" Type="http://schemas.openxmlformats.org/officeDocument/2006/relationships/tags" Target="../tags/tag170.xml"/><Relationship Id="rId16" Type="http://schemas.openxmlformats.org/officeDocument/2006/relationships/tags" Target="../tags/tag184.xml"/><Relationship Id="rId20" Type="http://schemas.openxmlformats.org/officeDocument/2006/relationships/tags" Target="../tags/tag188.xml"/><Relationship Id="rId29" Type="http://schemas.openxmlformats.org/officeDocument/2006/relationships/tags" Target="../tags/tag197.xml"/><Relationship Id="rId1" Type="http://schemas.openxmlformats.org/officeDocument/2006/relationships/tags" Target="../tags/tag169.xml"/><Relationship Id="rId6" Type="http://schemas.openxmlformats.org/officeDocument/2006/relationships/tags" Target="../tags/tag174.xml"/><Relationship Id="rId11" Type="http://schemas.openxmlformats.org/officeDocument/2006/relationships/tags" Target="../tags/tag179.xml"/><Relationship Id="rId24" Type="http://schemas.openxmlformats.org/officeDocument/2006/relationships/tags" Target="../tags/tag192.xml"/><Relationship Id="rId32" Type="http://schemas.openxmlformats.org/officeDocument/2006/relationships/tags" Target="../tags/tag200.xml"/><Relationship Id="rId37" Type="http://schemas.openxmlformats.org/officeDocument/2006/relationships/slideLayout" Target="../slideLayouts/slideLayout16.xml"/><Relationship Id="rId5" Type="http://schemas.openxmlformats.org/officeDocument/2006/relationships/tags" Target="../tags/tag173.xml"/><Relationship Id="rId15" Type="http://schemas.openxmlformats.org/officeDocument/2006/relationships/tags" Target="../tags/tag183.xml"/><Relationship Id="rId23" Type="http://schemas.openxmlformats.org/officeDocument/2006/relationships/tags" Target="../tags/tag191.xml"/><Relationship Id="rId28" Type="http://schemas.openxmlformats.org/officeDocument/2006/relationships/tags" Target="../tags/tag196.xml"/><Relationship Id="rId36" Type="http://schemas.openxmlformats.org/officeDocument/2006/relationships/tags" Target="../tags/tag204.xml"/><Relationship Id="rId10" Type="http://schemas.openxmlformats.org/officeDocument/2006/relationships/tags" Target="../tags/tag178.xml"/><Relationship Id="rId19" Type="http://schemas.openxmlformats.org/officeDocument/2006/relationships/tags" Target="../tags/tag187.xml"/><Relationship Id="rId31" Type="http://schemas.openxmlformats.org/officeDocument/2006/relationships/tags" Target="../tags/tag199.xml"/><Relationship Id="rId4" Type="http://schemas.openxmlformats.org/officeDocument/2006/relationships/tags" Target="../tags/tag172.xml"/><Relationship Id="rId9" Type="http://schemas.openxmlformats.org/officeDocument/2006/relationships/tags" Target="../tags/tag177.xml"/><Relationship Id="rId14" Type="http://schemas.openxmlformats.org/officeDocument/2006/relationships/tags" Target="../tags/tag182.xml"/><Relationship Id="rId22" Type="http://schemas.openxmlformats.org/officeDocument/2006/relationships/tags" Target="../tags/tag190.xml"/><Relationship Id="rId27" Type="http://schemas.openxmlformats.org/officeDocument/2006/relationships/tags" Target="../tags/tag195.xml"/><Relationship Id="rId30" Type="http://schemas.openxmlformats.org/officeDocument/2006/relationships/tags" Target="../tags/tag198.xml"/><Relationship Id="rId35" Type="http://schemas.openxmlformats.org/officeDocument/2006/relationships/tags" Target="../tags/tag203.xml"/></Relationships>
</file>

<file path=ppt/slides/_rels/slide29.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tags" Target="../tags/tag206.xml"/><Relationship Id="rId7" Type="http://schemas.openxmlformats.org/officeDocument/2006/relationships/oleObject" Target="../embeddings/oleObject1.bin"/><Relationship Id="rId2" Type="http://schemas.openxmlformats.org/officeDocument/2006/relationships/tags" Target="../tags/tag205.xml"/><Relationship Id="rId1" Type="http://schemas.openxmlformats.org/officeDocument/2006/relationships/vmlDrawing" Target="../drawings/vmlDrawing1.vml"/><Relationship Id="rId6" Type="http://schemas.openxmlformats.org/officeDocument/2006/relationships/image" Target="../media/image12.png"/><Relationship Id="rId5" Type="http://schemas.openxmlformats.org/officeDocument/2006/relationships/notesSlide" Target="../notesSlides/notesSlide18.xml"/><Relationship Id="rId4"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208.xml"/><Relationship Id="rId1" Type="http://schemas.openxmlformats.org/officeDocument/2006/relationships/tags" Target="../tags/tag207.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8" Type="http://schemas.openxmlformats.org/officeDocument/2006/relationships/tags" Target="../tags/tag216.xml"/><Relationship Id="rId13" Type="http://schemas.openxmlformats.org/officeDocument/2006/relationships/slideLayout" Target="../slideLayouts/slideLayout18.xml"/><Relationship Id="rId3" Type="http://schemas.openxmlformats.org/officeDocument/2006/relationships/tags" Target="../tags/tag211.xml"/><Relationship Id="rId7" Type="http://schemas.openxmlformats.org/officeDocument/2006/relationships/tags" Target="../tags/tag215.xml"/><Relationship Id="rId12" Type="http://schemas.openxmlformats.org/officeDocument/2006/relationships/tags" Target="../tags/tag220.xml"/><Relationship Id="rId2" Type="http://schemas.openxmlformats.org/officeDocument/2006/relationships/tags" Target="../tags/tag210.xml"/><Relationship Id="rId1" Type="http://schemas.openxmlformats.org/officeDocument/2006/relationships/tags" Target="../tags/tag209.xml"/><Relationship Id="rId6" Type="http://schemas.openxmlformats.org/officeDocument/2006/relationships/tags" Target="../tags/tag214.xml"/><Relationship Id="rId11" Type="http://schemas.openxmlformats.org/officeDocument/2006/relationships/tags" Target="../tags/tag219.xml"/><Relationship Id="rId5" Type="http://schemas.openxmlformats.org/officeDocument/2006/relationships/tags" Target="../tags/tag213.xml"/><Relationship Id="rId10" Type="http://schemas.openxmlformats.org/officeDocument/2006/relationships/tags" Target="../tags/tag218.xml"/><Relationship Id="rId4" Type="http://schemas.openxmlformats.org/officeDocument/2006/relationships/tags" Target="../tags/tag212.xml"/><Relationship Id="rId9" Type="http://schemas.openxmlformats.org/officeDocument/2006/relationships/tags" Target="../tags/tag217.xml"/><Relationship Id="rId14" Type="http://schemas.openxmlformats.org/officeDocument/2006/relationships/notesSlide" Target="../notesSlides/notesSlide21.xml"/></Relationships>
</file>

<file path=ppt/slides/_rels/slide33.xml.rels><?xml version="1.0" encoding="UTF-8" standalone="yes"?>
<Relationships xmlns="http://schemas.openxmlformats.org/package/2006/relationships"><Relationship Id="rId8" Type="http://schemas.openxmlformats.org/officeDocument/2006/relationships/notesSlide" Target="../notesSlides/notesSlide22.xml"/><Relationship Id="rId3" Type="http://schemas.openxmlformats.org/officeDocument/2006/relationships/tags" Target="../tags/tag223.xml"/><Relationship Id="rId7" Type="http://schemas.openxmlformats.org/officeDocument/2006/relationships/slideLayout" Target="../slideLayouts/slideLayout18.xml"/><Relationship Id="rId2" Type="http://schemas.openxmlformats.org/officeDocument/2006/relationships/tags" Target="../tags/tag222.xml"/><Relationship Id="rId1" Type="http://schemas.openxmlformats.org/officeDocument/2006/relationships/tags" Target="../tags/tag221.xml"/><Relationship Id="rId6" Type="http://schemas.openxmlformats.org/officeDocument/2006/relationships/tags" Target="../tags/tag226.xml"/><Relationship Id="rId5" Type="http://schemas.openxmlformats.org/officeDocument/2006/relationships/tags" Target="../tags/tag225.xml"/><Relationship Id="rId4" Type="http://schemas.openxmlformats.org/officeDocument/2006/relationships/tags" Target="../tags/tag224.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18.xml"/><Relationship Id="rId1" Type="http://schemas.openxmlformats.org/officeDocument/2006/relationships/tags" Target="../tags/tag227.xml"/><Relationship Id="rId4" Type="http://schemas.openxmlformats.org/officeDocument/2006/relationships/image" Target="../media/image14.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18.xml"/><Relationship Id="rId1" Type="http://schemas.openxmlformats.org/officeDocument/2006/relationships/tags" Target="../tags/tag228.xml"/><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18.xml"/><Relationship Id="rId1" Type="http://schemas.openxmlformats.org/officeDocument/2006/relationships/tags" Target="../tags/tag229.xml"/><Relationship Id="rId4" Type="http://schemas.openxmlformats.org/officeDocument/2006/relationships/image" Target="../media/image16.jpe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18.xml"/><Relationship Id="rId1" Type="http://schemas.openxmlformats.org/officeDocument/2006/relationships/tags" Target="../tags/tag230.xml"/><Relationship Id="rId4" Type="http://schemas.openxmlformats.org/officeDocument/2006/relationships/image" Target="../media/image17.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8.xml"/><Relationship Id="rId1" Type="http://schemas.openxmlformats.org/officeDocument/2006/relationships/tags" Target="../tags/tag231.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233.xml"/><Relationship Id="rId1" Type="http://schemas.openxmlformats.org/officeDocument/2006/relationships/tags" Target="../tags/tag232.xml"/><Relationship Id="rId4"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235.xml"/><Relationship Id="rId1" Type="http://schemas.openxmlformats.org/officeDocument/2006/relationships/tags" Target="../tags/tag234.xml"/><Relationship Id="rId4" Type="http://schemas.openxmlformats.org/officeDocument/2006/relationships/notesSlide" Target="../notesSlides/notesSlide29.xml"/></Relationships>
</file>

<file path=ppt/slides/_rels/slide41.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tags" Target="../tags/tag237.xml"/><Relationship Id="rId1" Type="http://schemas.openxmlformats.org/officeDocument/2006/relationships/tags" Target="../tags/tag236.xml"/><Relationship Id="rId4"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38.xml"/></Relationships>
</file>

<file path=ppt/slides/_rels/slide45.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33.xml"/><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8" Type="http://schemas.openxmlformats.org/officeDocument/2006/relationships/tags" Target="../tags/tag246.xml"/><Relationship Id="rId13" Type="http://schemas.openxmlformats.org/officeDocument/2006/relationships/tags" Target="../tags/tag251.xml"/><Relationship Id="rId18" Type="http://schemas.openxmlformats.org/officeDocument/2006/relationships/tags" Target="../tags/tag256.xml"/><Relationship Id="rId3" Type="http://schemas.openxmlformats.org/officeDocument/2006/relationships/tags" Target="../tags/tag241.xml"/><Relationship Id="rId21" Type="http://schemas.openxmlformats.org/officeDocument/2006/relationships/slideLayout" Target="../slideLayouts/slideLayout18.xml"/><Relationship Id="rId7" Type="http://schemas.openxmlformats.org/officeDocument/2006/relationships/tags" Target="../tags/tag245.xml"/><Relationship Id="rId12" Type="http://schemas.openxmlformats.org/officeDocument/2006/relationships/tags" Target="../tags/tag250.xml"/><Relationship Id="rId17" Type="http://schemas.openxmlformats.org/officeDocument/2006/relationships/tags" Target="../tags/tag255.xml"/><Relationship Id="rId2" Type="http://schemas.openxmlformats.org/officeDocument/2006/relationships/tags" Target="../tags/tag240.xml"/><Relationship Id="rId16" Type="http://schemas.openxmlformats.org/officeDocument/2006/relationships/tags" Target="../tags/tag254.xml"/><Relationship Id="rId20" Type="http://schemas.openxmlformats.org/officeDocument/2006/relationships/tags" Target="../tags/tag258.xml"/><Relationship Id="rId1" Type="http://schemas.openxmlformats.org/officeDocument/2006/relationships/tags" Target="../tags/tag239.xml"/><Relationship Id="rId6" Type="http://schemas.openxmlformats.org/officeDocument/2006/relationships/tags" Target="../tags/tag244.xml"/><Relationship Id="rId11" Type="http://schemas.openxmlformats.org/officeDocument/2006/relationships/tags" Target="../tags/tag249.xml"/><Relationship Id="rId5" Type="http://schemas.openxmlformats.org/officeDocument/2006/relationships/tags" Target="../tags/tag243.xml"/><Relationship Id="rId15" Type="http://schemas.openxmlformats.org/officeDocument/2006/relationships/tags" Target="../tags/tag253.xml"/><Relationship Id="rId10" Type="http://schemas.openxmlformats.org/officeDocument/2006/relationships/tags" Target="../tags/tag248.xml"/><Relationship Id="rId19" Type="http://schemas.openxmlformats.org/officeDocument/2006/relationships/tags" Target="../tags/tag257.xml"/><Relationship Id="rId4" Type="http://schemas.openxmlformats.org/officeDocument/2006/relationships/tags" Target="../tags/tag242.xml"/><Relationship Id="rId9" Type="http://schemas.openxmlformats.org/officeDocument/2006/relationships/tags" Target="../tags/tag247.xml"/><Relationship Id="rId14" Type="http://schemas.openxmlformats.org/officeDocument/2006/relationships/tags" Target="../tags/tag252.xml"/><Relationship Id="rId22" Type="http://schemas.openxmlformats.org/officeDocument/2006/relationships/notesSlide" Target="../notesSlides/notesSlide35.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7.xml"/></Relationships>
</file>

<file path=ppt/slides/_rels/slide50.xml.rels><?xml version="1.0" encoding="UTF-8" standalone="yes"?>
<Relationships xmlns="http://schemas.openxmlformats.org/package/2006/relationships"><Relationship Id="rId8" Type="http://schemas.openxmlformats.org/officeDocument/2006/relationships/tags" Target="../tags/tag266.xml"/><Relationship Id="rId13" Type="http://schemas.openxmlformats.org/officeDocument/2006/relationships/tags" Target="../tags/tag271.xml"/><Relationship Id="rId3" Type="http://schemas.openxmlformats.org/officeDocument/2006/relationships/tags" Target="../tags/tag261.xml"/><Relationship Id="rId7" Type="http://schemas.openxmlformats.org/officeDocument/2006/relationships/tags" Target="../tags/tag265.xml"/><Relationship Id="rId12" Type="http://schemas.openxmlformats.org/officeDocument/2006/relationships/tags" Target="../tags/tag270.xml"/><Relationship Id="rId2" Type="http://schemas.openxmlformats.org/officeDocument/2006/relationships/tags" Target="../tags/tag260.xml"/><Relationship Id="rId1" Type="http://schemas.openxmlformats.org/officeDocument/2006/relationships/tags" Target="../tags/tag259.xml"/><Relationship Id="rId6" Type="http://schemas.openxmlformats.org/officeDocument/2006/relationships/tags" Target="../tags/tag264.xml"/><Relationship Id="rId11" Type="http://schemas.openxmlformats.org/officeDocument/2006/relationships/tags" Target="../tags/tag269.xml"/><Relationship Id="rId5" Type="http://schemas.openxmlformats.org/officeDocument/2006/relationships/tags" Target="../tags/tag263.xml"/><Relationship Id="rId15" Type="http://schemas.openxmlformats.org/officeDocument/2006/relationships/notesSlide" Target="../notesSlides/notesSlide38.xml"/><Relationship Id="rId10" Type="http://schemas.openxmlformats.org/officeDocument/2006/relationships/tags" Target="../tags/tag268.xml"/><Relationship Id="rId4" Type="http://schemas.openxmlformats.org/officeDocument/2006/relationships/tags" Target="../tags/tag262.xml"/><Relationship Id="rId9" Type="http://schemas.openxmlformats.org/officeDocument/2006/relationships/tags" Target="../tags/tag267.xml"/><Relationship Id="rId14"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40.xml"/><Relationship Id="rId1" Type="http://schemas.openxmlformats.org/officeDocument/2006/relationships/slideLayout" Target="../slideLayouts/slideLayout18.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8.xml"/></Relationships>
</file>

<file path=ppt/slides/_rels/slide5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3.xml"/><Relationship Id="rId1" Type="http://schemas.openxmlformats.org/officeDocument/2006/relationships/slideLayout" Target="../slideLayouts/slideLayout18.xml"/></Relationships>
</file>

<file path=ppt/slides/_rels/slide5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4.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5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5.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5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6.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7.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8.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9.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0.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1.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2.xml"/><Relationship Id="rId1" Type="http://schemas.openxmlformats.org/officeDocument/2006/relationships/slideLayout" Target="../slideLayouts/slideLayout18.xml"/><Relationship Id="rId4" Type="http://schemas.openxmlformats.org/officeDocument/2006/relationships/image" Target="../media/image23.png"/></Relationships>
</file>

<file path=ppt/slides/_rels/slide6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3.xml"/><Relationship Id="rId1" Type="http://schemas.openxmlformats.org/officeDocument/2006/relationships/slideLayout" Target="../slideLayouts/slideLayout18.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7.xml"/></Relationships>
</file>

<file path=ppt/slides/_rels/slide6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5.xml"/><Relationship Id="rId1" Type="http://schemas.openxmlformats.org/officeDocument/2006/relationships/slideLayout" Target="../slideLayouts/slideLayout17.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17.xml"/><Relationship Id="rId1" Type="http://schemas.openxmlformats.org/officeDocument/2006/relationships/vmlDrawing" Target="../drawings/vmlDrawing2.vml"/><Relationship Id="rId6" Type="http://schemas.openxmlformats.org/officeDocument/2006/relationships/oleObject" Target="../embeddings/oleObject4.bin"/><Relationship Id="rId5" Type="http://schemas.openxmlformats.org/officeDocument/2006/relationships/oleObject" Target="../embeddings/oleObject3.bin"/><Relationship Id="rId4" Type="http://schemas.openxmlformats.org/officeDocument/2006/relationships/oleObject" Target="../embeddings/oleObject2.bin"/></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7.xml"/></Relationships>
</file>

<file path=ppt/slides/_rels/slide70.xml.rels><?xml version="1.0" encoding="UTF-8" standalone="yes"?>
<Relationships xmlns="http://schemas.openxmlformats.org/package/2006/relationships"><Relationship Id="rId8" Type="http://schemas.openxmlformats.org/officeDocument/2006/relationships/oleObject" Target="../embeddings/oleObject9.bin"/><Relationship Id="rId3" Type="http://schemas.openxmlformats.org/officeDocument/2006/relationships/notesSlide" Target="../notesSlides/notesSlide58.xml"/><Relationship Id="rId7" Type="http://schemas.openxmlformats.org/officeDocument/2006/relationships/oleObject" Target="../embeddings/oleObject8.bin"/><Relationship Id="rId2" Type="http://schemas.openxmlformats.org/officeDocument/2006/relationships/slideLayout" Target="../slideLayouts/slideLayout17.xml"/><Relationship Id="rId1" Type="http://schemas.openxmlformats.org/officeDocument/2006/relationships/vmlDrawing" Target="../drawings/vmlDrawing3.vml"/><Relationship Id="rId6" Type="http://schemas.openxmlformats.org/officeDocument/2006/relationships/oleObject" Target="../embeddings/oleObject7.bin"/><Relationship Id="rId5" Type="http://schemas.openxmlformats.org/officeDocument/2006/relationships/oleObject" Target="../embeddings/oleObject6.bin"/><Relationship Id="rId4" Type="http://schemas.openxmlformats.org/officeDocument/2006/relationships/oleObject" Target="../embeddings/oleObject5.bin"/></Relationships>
</file>

<file path=ppt/slides/_rels/slide7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59.xml"/><Relationship Id="rId1" Type="http://schemas.openxmlformats.org/officeDocument/2006/relationships/slideLayout" Target="../slideLayouts/slideLayout18.xml"/></Relationships>
</file>

<file path=ppt/slides/_rels/slide7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0.xml"/><Relationship Id="rId1" Type="http://schemas.openxmlformats.org/officeDocument/2006/relationships/slideLayout" Target="../slideLayouts/slideLayout18.xml"/><Relationship Id="rId5" Type="http://schemas.openxmlformats.org/officeDocument/2006/relationships/image" Target="../media/image24.png"/><Relationship Id="rId4" Type="http://schemas.openxmlformats.org/officeDocument/2006/relationships/image" Target="../media/image30.png"/></Relationships>
</file>

<file path=ppt/slides/_rels/slide73.xml.rels><?xml version="1.0" encoding="UTF-8" standalone="yes"?>
<Relationships xmlns="http://schemas.openxmlformats.org/package/2006/relationships"><Relationship Id="rId3" Type="http://schemas.openxmlformats.org/officeDocument/2006/relationships/notesSlide" Target="../notesSlides/notesSlide61.xml"/><Relationship Id="rId2" Type="http://schemas.openxmlformats.org/officeDocument/2006/relationships/slideLayout" Target="../slideLayouts/slideLayout18.xml"/><Relationship Id="rId1" Type="http://schemas.openxmlformats.org/officeDocument/2006/relationships/vmlDrawing" Target="../drawings/vmlDrawing4.vml"/><Relationship Id="rId6" Type="http://schemas.openxmlformats.org/officeDocument/2006/relationships/oleObject" Target="../embeddings/oleObject11.bin"/><Relationship Id="rId5" Type="http://schemas.openxmlformats.org/officeDocument/2006/relationships/oleObject" Target="../embeddings/oleObject10.bin"/><Relationship Id="rId4" Type="http://schemas.openxmlformats.org/officeDocument/2006/relationships/image" Target="../media/image22.png"/></Relationships>
</file>

<file path=ppt/slides/_rels/slide7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2.xml"/><Relationship Id="rId1" Type="http://schemas.openxmlformats.org/officeDocument/2006/relationships/slideLayout" Target="../slideLayouts/slideLayout18.xml"/></Relationships>
</file>

<file path=ppt/slides/_rels/slide75.xml.rels><?xml version="1.0" encoding="UTF-8" standalone="yes"?>
<Relationships xmlns="http://schemas.openxmlformats.org/package/2006/relationships"><Relationship Id="rId8" Type="http://schemas.openxmlformats.org/officeDocument/2006/relationships/tags" Target="../tags/tag279.xml"/><Relationship Id="rId13" Type="http://schemas.openxmlformats.org/officeDocument/2006/relationships/tags" Target="../tags/tag284.xml"/><Relationship Id="rId18" Type="http://schemas.openxmlformats.org/officeDocument/2006/relationships/notesSlide" Target="../notesSlides/notesSlide63.xml"/><Relationship Id="rId3" Type="http://schemas.openxmlformats.org/officeDocument/2006/relationships/tags" Target="../tags/tag274.xml"/><Relationship Id="rId7" Type="http://schemas.openxmlformats.org/officeDocument/2006/relationships/tags" Target="../tags/tag278.xml"/><Relationship Id="rId12" Type="http://schemas.openxmlformats.org/officeDocument/2006/relationships/tags" Target="../tags/tag283.xml"/><Relationship Id="rId17" Type="http://schemas.openxmlformats.org/officeDocument/2006/relationships/slideLayout" Target="../slideLayouts/slideLayout18.xml"/><Relationship Id="rId2" Type="http://schemas.openxmlformats.org/officeDocument/2006/relationships/tags" Target="../tags/tag273.xml"/><Relationship Id="rId16" Type="http://schemas.openxmlformats.org/officeDocument/2006/relationships/tags" Target="../tags/tag287.xml"/><Relationship Id="rId1" Type="http://schemas.openxmlformats.org/officeDocument/2006/relationships/tags" Target="../tags/tag272.xml"/><Relationship Id="rId6" Type="http://schemas.openxmlformats.org/officeDocument/2006/relationships/tags" Target="../tags/tag277.xml"/><Relationship Id="rId11" Type="http://schemas.openxmlformats.org/officeDocument/2006/relationships/tags" Target="../tags/tag282.xml"/><Relationship Id="rId5" Type="http://schemas.openxmlformats.org/officeDocument/2006/relationships/tags" Target="../tags/tag276.xml"/><Relationship Id="rId15" Type="http://schemas.openxmlformats.org/officeDocument/2006/relationships/tags" Target="../tags/tag286.xml"/><Relationship Id="rId10" Type="http://schemas.openxmlformats.org/officeDocument/2006/relationships/tags" Target="../tags/tag281.xml"/><Relationship Id="rId4" Type="http://schemas.openxmlformats.org/officeDocument/2006/relationships/tags" Target="../tags/tag275.xml"/><Relationship Id="rId9" Type="http://schemas.openxmlformats.org/officeDocument/2006/relationships/tags" Target="../tags/tag280.xml"/><Relationship Id="rId14" Type="http://schemas.openxmlformats.org/officeDocument/2006/relationships/tags" Target="../tags/tag285.xml"/></Relationships>
</file>

<file path=ppt/slides/_rels/slide7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4.xml"/><Relationship Id="rId1" Type="http://schemas.openxmlformats.org/officeDocument/2006/relationships/slideLayout" Target="../slideLayouts/slideLayout18.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77.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18.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7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6.xml"/><Relationship Id="rId1" Type="http://schemas.openxmlformats.org/officeDocument/2006/relationships/slideLayout" Target="../slideLayouts/slideLayout18.xml"/></Relationships>
</file>

<file path=ppt/slides/_rels/slide7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7.xml"/><Relationship Id="rId1" Type="http://schemas.openxmlformats.org/officeDocument/2006/relationships/slideLayout" Target="../slideLayouts/slideLayout18.xml"/></Relationships>
</file>

<file path=ppt/slides/_rels/slide8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8.xml"/><Relationship Id="rId1" Type="http://schemas.openxmlformats.org/officeDocument/2006/relationships/slideLayout" Target="../slideLayouts/slideLayout18.xml"/><Relationship Id="rId4" Type="http://schemas.openxmlformats.org/officeDocument/2006/relationships/image" Target="../media/image42.png"/></Relationships>
</file>

<file path=ppt/slides/_rels/slide8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9.xml"/><Relationship Id="rId1" Type="http://schemas.openxmlformats.org/officeDocument/2006/relationships/slideLayout" Target="../slideLayouts/slideLayout18.xml"/></Relationships>
</file>

<file path=ppt/slides/_rels/slide8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0.xml"/><Relationship Id="rId1" Type="http://schemas.openxmlformats.org/officeDocument/2006/relationships/slideLayout" Target="../slideLayouts/slideLayout18.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7.xm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2.xml"/><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3.xml"/><Relationship Id="rId1" Type="http://schemas.openxmlformats.org/officeDocument/2006/relationships/slideLayout" Target="../slideLayouts/slideLayout18.xml"/></Relationships>
</file>

<file path=ppt/slides/_rels/slide86.xml.rels><?xml version="1.0" encoding="UTF-8" standalone="yes"?>
<Relationships xmlns="http://schemas.openxmlformats.org/package/2006/relationships"><Relationship Id="rId3" Type="http://schemas.openxmlformats.org/officeDocument/2006/relationships/notesSlide" Target="../notesSlides/notesSlide74.xml"/><Relationship Id="rId7" Type="http://schemas.openxmlformats.org/officeDocument/2006/relationships/oleObject" Target="../embeddings/oleObject14.bin"/><Relationship Id="rId2" Type="http://schemas.openxmlformats.org/officeDocument/2006/relationships/slideLayout" Target="../slideLayouts/slideLayout18.xml"/><Relationship Id="rId1" Type="http://schemas.openxmlformats.org/officeDocument/2006/relationships/vmlDrawing" Target="../drawings/vmlDrawing5.vml"/><Relationship Id="rId6" Type="http://schemas.openxmlformats.org/officeDocument/2006/relationships/oleObject" Target="../embeddings/oleObject13.bin"/><Relationship Id="rId5" Type="http://schemas.openxmlformats.org/officeDocument/2006/relationships/oleObject" Target="../embeddings/oleObject12.bin"/><Relationship Id="rId4" Type="http://schemas.openxmlformats.org/officeDocument/2006/relationships/image" Target="../media/image22.png"/></Relationships>
</file>

<file path=ppt/slides/_rels/slide8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5.xml"/><Relationship Id="rId1" Type="http://schemas.openxmlformats.org/officeDocument/2006/relationships/slideLayout" Target="../slideLayouts/slideLayout18.xml"/></Relationships>
</file>

<file path=ppt/slides/_rels/slide8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18.xml"/></Relationships>
</file>

<file path=ppt/slides/_rels/slide8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7.xml"/><Relationship Id="rId1" Type="http://schemas.openxmlformats.org/officeDocument/2006/relationships/slideLayout" Target="../slideLayouts/slideLayout18.xml"/></Relationships>
</file>

<file path=ppt/slides/_rels/slide9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8.xml"/><Relationship Id="rId1" Type="http://schemas.openxmlformats.org/officeDocument/2006/relationships/slideLayout" Target="../slideLayouts/slideLayout18.xml"/></Relationships>
</file>

<file path=ppt/slides/_rels/slide9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9.xml"/><Relationship Id="rId1" Type="http://schemas.openxmlformats.org/officeDocument/2006/relationships/slideLayout" Target="../slideLayouts/slideLayout18.xml"/></Relationships>
</file>

<file path=ppt/slides/_rels/slide9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0.xml"/><Relationship Id="rId1" Type="http://schemas.openxmlformats.org/officeDocument/2006/relationships/slideLayout" Target="../slideLayouts/slideLayout18.xml"/></Relationships>
</file>

<file path=ppt/slides/_rels/slide9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1.xml"/><Relationship Id="rId1" Type="http://schemas.openxmlformats.org/officeDocument/2006/relationships/slideLayout" Target="../slideLayouts/slideLayout18.xml"/></Relationships>
</file>

<file path=ppt/slides/_rels/slide9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88.xml"/></Relationships>
</file>

<file path=ppt/slides/_rels/slide95.xml.rels><?xml version="1.0" encoding="UTF-8" standalone="yes"?>
<Relationships xmlns="http://schemas.openxmlformats.org/package/2006/relationships"><Relationship Id="rId8" Type="http://schemas.openxmlformats.org/officeDocument/2006/relationships/tags" Target="../tags/tag296.xml"/><Relationship Id="rId13" Type="http://schemas.openxmlformats.org/officeDocument/2006/relationships/tags" Target="../tags/tag301.xml"/><Relationship Id="rId18" Type="http://schemas.openxmlformats.org/officeDocument/2006/relationships/tags" Target="../tags/tag306.xml"/><Relationship Id="rId26" Type="http://schemas.openxmlformats.org/officeDocument/2006/relationships/tags" Target="../tags/tag314.xml"/><Relationship Id="rId3" Type="http://schemas.openxmlformats.org/officeDocument/2006/relationships/tags" Target="../tags/tag291.xml"/><Relationship Id="rId21" Type="http://schemas.openxmlformats.org/officeDocument/2006/relationships/tags" Target="../tags/tag309.xml"/><Relationship Id="rId7" Type="http://schemas.openxmlformats.org/officeDocument/2006/relationships/tags" Target="../tags/tag295.xml"/><Relationship Id="rId12" Type="http://schemas.openxmlformats.org/officeDocument/2006/relationships/tags" Target="../tags/tag300.xml"/><Relationship Id="rId17" Type="http://schemas.openxmlformats.org/officeDocument/2006/relationships/tags" Target="../tags/tag305.xml"/><Relationship Id="rId25" Type="http://schemas.openxmlformats.org/officeDocument/2006/relationships/tags" Target="../tags/tag313.xml"/><Relationship Id="rId2" Type="http://schemas.openxmlformats.org/officeDocument/2006/relationships/tags" Target="../tags/tag290.xml"/><Relationship Id="rId16" Type="http://schemas.openxmlformats.org/officeDocument/2006/relationships/tags" Target="../tags/tag304.xml"/><Relationship Id="rId20" Type="http://schemas.openxmlformats.org/officeDocument/2006/relationships/tags" Target="../tags/tag308.xml"/><Relationship Id="rId1" Type="http://schemas.openxmlformats.org/officeDocument/2006/relationships/tags" Target="../tags/tag289.xml"/><Relationship Id="rId6" Type="http://schemas.openxmlformats.org/officeDocument/2006/relationships/tags" Target="../tags/tag294.xml"/><Relationship Id="rId11" Type="http://schemas.openxmlformats.org/officeDocument/2006/relationships/tags" Target="../tags/tag299.xml"/><Relationship Id="rId24" Type="http://schemas.openxmlformats.org/officeDocument/2006/relationships/tags" Target="../tags/tag312.xml"/><Relationship Id="rId5" Type="http://schemas.openxmlformats.org/officeDocument/2006/relationships/tags" Target="../tags/tag293.xml"/><Relationship Id="rId15" Type="http://schemas.openxmlformats.org/officeDocument/2006/relationships/tags" Target="../tags/tag303.xml"/><Relationship Id="rId23" Type="http://schemas.openxmlformats.org/officeDocument/2006/relationships/tags" Target="../tags/tag311.xml"/><Relationship Id="rId10" Type="http://schemas.openxmlformats.org/officeDocument/2006/relationships/tags" Target="../tags/tag298.xml"/><Relationship Id="rId19" Type="http://schemas.openxmlformats.org/officeDocument/2006/relationships/tags" Target="../tags/tag307.xml"/><Relationship Id="rId4" Type="http://schemas.openxmlformats.org/officeDocument/2006/relationships/tags" Target="../tags/tag292.xml"/><Relationship Id="rId9" Type="http://schemas.openxmlformats.org/officeDocument/2006/relationships/tags" Target="../tags/tag297.xml"/><Relationship Id="rId14" Type="http://schemas.openxmlformats.org/officeDocument/2006/relationships/tags" Target="../tags/tag302.xml"/><Relationship Id="rId22" Type="http://schemas.openxmlformats.org/officeDocument/2006/relationships/tags" Target="../tags/tag310.xml"/><Relationship Id="rId27" Type="http://schemas.openxmlformats.org/officeDocument/2006/relationships/slideLayout" Target="../slideLayouts/slideLayout18.xml"/></Relationships>
</file>

<file path=ppt/slides/_rels/slide96.xml.rels><?xml version="1.0" encoding="UTF-8" standalone="yes"?>
<Relationships xmlns="http://schemas.openxmlformats.org/package/2006/relationships"><Relationship Id="rId8" Type="http://schemas.openxmlformats.org/officeDocument/2006/relationships/tags" Target="../tags/tag322.xml"/><Relationship Id="rId13" Type="http://schemas.openxmlformats.org/officeDocument/2006/relationships/tags" Target="../tags/tag327.xml"/><Relationship Id="rId18" Type="http://schemas.openxmlformats.org/officeDocument/2006/relationships/tags" Target="../tags/tag332.xml"/><Relationship Id="rId26" Type="http://schemas.openxmlformats.org/officeDocument/2006/relationships/slideLayout" Target="../slideLayouts/slideLayout18.xml"/><Relationship Id="rId3" Type="http://schemas.openxmlformats.org/officeDocument/2006/relationships/tags" Target="../tags/tag317.xml"/><Relationship Id="rId21" Type="http://schemas.openxmlformats.org/officeDocument/2006/relationships/tags" Target="../tags/tag335.xml"/><Relationship Id="rId7" Type="http://schemas.openxmlformats.org/officeDocument/2006/relationships/tags" Target="../tags/tag321.xml"/><Relationship Id="rId12" Type="http://schemas.openxmlformats.org/officeDocument/2006/relationships/tags" Target="../tags/tag326.xml"/><Relationship Id="rId17" Type="http://schemas.openxmlformats.org/officeDocument/2006/relationships/tags" Target="../tags/tag331.xml"/><Relationship Id="rId25" Type="http://schemas.openxmlformats.org/officeDocument/2006/relationships/tags" Target="../tags/tag339.xml"/><Relationship Id="rId2" Type="http://schemas.openxmlformats.org/officeDocument/2006/relationships/tags" Target="../tags/tag316.xml"/><Relationship Id="rId16" Type="http://schemas.openxmlformats.org/officeDocument/2006/relationships/tags" Target="../tags/tag330.xml"/><Relationship Id="rId20" Type="http://schemas.openxmlformats.org/officeDocument/2006/relationships/tags" Target="../tags/tag334.xml"/><Relationship Id="rId1" Type="http://schemas.openxmlformats.org/officeDocument/2006/relationships/tags" Target="../tags/tag315.xml"/><Relationship Id="rId6" Type="http://schemas.openxmlformats.org/officeDocument/2006/relationships/tags" Target="../tags/tag320.xml"/><Relationship Id="rId11" Type="http://schemas.openxmlformats.org/officeDocument/2006/relationships/tags" Target="../tags/tag325.xml"/><Relationship Id="rId24" Type="http://schemas.openxmlformats.org/officeDocument/2006/relationships/tags" Target="../tags/tag338.xml"/><Relationship Id="rId5" Type="http://schemas.openxmlformats.org/officeDocument/2006/relationships/tags" Target="../tags/tag319.xml"/><Relationship Id="rId15" Type="http://schemas.openxmlformats.org/officeDocument/2006/relationships/tags" Target="../tags/tag329.xml"/><Relationship Id="rId23" Type="http://schemas.openxmlformats.org/officeDocument/2006/relationships/tags" Target="../tags/tag337.xml"/><Relationship Id="rId10" Type="http://schemas.openxmlformats.org/officeDocument/2006/relationships/tags" Target="../tags/tag324.xml"/><Relationship Id="rId19" Type="http://schemas.openxmlformats.org/officeDocument/2006/relationships/tags" Target="../tags/tag333.xml"/><Relationship Id="rId4" Type="http://schemas.openxmlformats.org/officeDocument/2006/relationships/tags" Target="../tags/tag318.xml"/><Relationship Id="rId9" Type="http://schemas.openxmlformats.org/officeDocument/2006/relationships/tags" Target="../tags/tag323.xml"/><Relationship Id="rId14" Type="http://schemas.openxmlformats.org/officeDocument/2006/relationships/tags" Target="../tags/tag328.xml"/><Relationship Id="rId22" Type="http://schemas.openxmlformats.org/officeDocument/2006/relationships/tags" Target="../tags/tag336.xml"/><Relationship Id="rId27" Type="http://schemas.openxmlformats.org/officeDocument/2006/relationships/notesSlide" Target="../notesSlides/notesSlide82.xml"/></Relationships>
</file>

<file path=ppt/slides/_rels/slide9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340.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7.xml"/></Relationships>
</file>

<file path=ppt/slides/_rels/slide103.xml.rels><?xml version="1.0" encoding="UTF-8" standalone="yes"?>
<Relationships xmlns="http://schemas.openxmlformats.org/package/2006/relationships"><Relationship Id="rId8" Type="http://schemas.openxmlformats.org/officeDocument/2006/relationships/tags" Target="../tags/tag348.xml"/><Relationship Id="rId13" Type="http://schemas.openxmlformats.org/officeDocument/2006/relationships/tags" Target="../tags/tag353.xml"/><Relationship Id="rId18" Type="http://schemas.openxmlformats.org/officeDocument/2006/relationships/tags" Target="../tags/tag358.xml"/><Relationship Id="rId3" Type="http://schemas.openxmlformats.org/officeDocument/2006/relationships/tags" Target="../tags/tag343.xml"/><Relationship Id="rId21" Type="http://schemas.openxmlformats.org/officeDocument/2006/relationships/slideLayout" Target="../slideLayouts/slideLayout18.xml"/><Relationship Id="rId7" Type="http://schemas.openxmlformats.org/officeDocument/2006/relationships/tags" Target="../tags/tag347.xml"/><Relationship Id="rId12" Type="http://schemas.openxmlformats.org/officeDocument/2006/relationships/tags" Target="../tags/tag352.xml"/><Relationship Id="rId17" Type="http://schemas.openxmlformats.org/officeDocument/2006/relationships/tags" Target="../tags/tag357.xml"/><Relationship Id="rId2" Type="http://schemas.openxmlformats.org/officeDocument/2006/relationships/tags" Target="../tags/tag342.xml"/><Relationship Id="rId16" Type="http://schemas.openxmlformats.org/officeDocument/2006/relationships/tags" Target="../tags/tag356.xml"/><Relationship Id="rId20" Type="http://schemas.openxmlformats.org/officeDocument/2006/relationships/tags" Target="../tags/tag360.xml"/><Relationship Id="rId1" Type="http://schemas.openxmlformats.org/officeDocument/2006/relationships/tags" Target="../tags/tag341.xml"/><Relationship Id="rId6" Type="http://schemas.openxmlformats.org/officeDocument/2006/relationships/tags" Target="../tags/tag346.xml"/><Relationship Id="rId11" Type="http://schemas.openxmlformats.org/officeDocument/2006/relationships/tags" Target="../tags/tag351.xml"/><Relationship Id="rId5" Type="http://schemas.openxmlformats.org/officeDocument/2006/relationships/tags" Target="../tags/tag345.xml"/><Relationship Id="rId15" Type="http://schemas.openxmlformats.org/officeDocument/2006/relationships/tags" Target="../tags/tag355.xml"/><Relationship Id="rId10" Type="http://schemas.openxmlformats.org/officeDocument/2006/relationships/tags" Target="../tags/tag350.xml"/><Relationship Id="rId19" Type="http://schemas.openxmlformats.org/officeDocument/2006/relationships/tags" Target="../tags/tag359.xml"/><Relationship Id="rId4" Type="http://schemas.openxmlformats.org/officeDocument/2006/relationships/tags" Target="../tags/tag344.xml"/><Relationship Id="rId9" Type="http://schemas.openxmlformats.org/officeDocument/2006/relationships/tags" Target="../tags/tag349.xml"/><Relationship Id="rId14" Type="http://schemas.openxmlformats.org/officeDocument/2006/relationships/tags" Target="../tags/tag354.xml"/><Relationship Id="rId22" Type="http://schemas.openxmlformats.org/officeDocument/2006/relationships/notesSlide" Target="../notesSlides/notesSlide85.xml"/></Relationships>
</file>

<file path=ppt/slides/_rels/slide104.xml.rels><?xml version="1.0" encoding="UTF-8" standalone="yes"?>
<Relationships xmlns="http://schemas.openxmlformats.org/package/2006/relationships"><Relationship Id="rId8" Type="http://schemas.openxmlformats.org/officeDocument/2006/relationships/tags" Target="../tags/tag368.xml"/><Relationship Id="rId3" Type="http://schemas.openxmlformats.org/officeDocument/2006/relationships/tags" Target="../tags/tag363.xml"/><Relationship Id="rId7" Type="http://schemas.openxmlformats.org/officeDocument/2006/relationships/tags" Target="../tags/tag367.xml"/><Relationship Id="rId2" Type="http://schemas.openxmlformats.org/officeDocument/2006/relationships/tags" Target="../tags/tag362.xml"/><Relationship Id="rId1" Type="http://schemas.openxmlformats.org/officeDocument/2006/relationships/tags" Target="../tags/tag361.xml"/><Relationship Id="rId6" Type="http://schemas.openxmlformats.org/officeDocument/2006/relationships/tags" Target="../tags/tag366.xml"/><Relationship Id="rId5" Type="http://schemas.openxmlformats.org/officeDocument/2006/relationships/tags" Target="../tags/tag365.xml"/><Relationship Id="rId10" Type="http://schemas.openxmlformats.org/officeDocument/2006/relationships/notesSlide" Target="../notesSlides/notesSlide86.xml"/><Relationship Id="rId4" Type="http://schemas.openxmlformats.org/officeDocument/2006/relationships/tags" Target="../tags/tag364.xml"/><Relationship Id="rId9" Type="http://schemas.openxmlformats.org/officeDocument/2006/relationships/slideLayout" Target="../slideLayouts/slideLayout18.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7.xml"/></Relationships>
</file>

<file path=ppt/slides/_rels/slide10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369.xml"/></Relationships>
</file>

<file path=ppt/slides/_rels/slide10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8.xml"/><Relationship Id="rId1" Type="http://schemas.openxmlformats.org/officeDocument/2006/relationships/slideLayout" Target="../slideLayouts/slideLayout16.xml"/></Relationships>
</file>

<file path=ppt/slides/_rels/slide108.xml.rels><?xml version="1.0" encoding="UTF-8" standalone="yes"?>
<Relationships xmlns="http://schemas.openxmlformats.org/package/2006/relationships"><Relationship Id="rId8" Type="http://schemas.openxmlformats.org/officeDocument/2006/relationships/tags" Target="../tags/tag377.xml"/><Relationship Id="rId13" Type="http://schemas.openxmlformats.org/officeDocument/2006/relationships/tags" Target="../tags/tag382.xml"/><Relationship Id="rId18" Type="http://schemas.openxmlformats.org/officeDocument/2006/relationships/tags" Target="../tags/tag387.xml"/><Relationship Id="rId3" Type="http://schemas.openxmlformats.org/officeDocument/2006/relationships/tags" Target="../tags/tag372.xml"/><Relationship Id="rId21" Type="http://schemas.openxmlformats.org/officeDocument/2006/relationships/slideLayout" Target="../slideLayouts/slideLayout18.xml"/><Relationship Id="rId7" Type="http://schemas.openxmlformats.org/officeDocument/2006/relationships/tags" Target="../tags/tag376.xml"/><Relationship Id="rId12" Type="http://schemas.openxmlformats.org/officeDocument/2006/relationships/tags" Target="../tags/tag381.xml"/><Relationship Id="rId17" Type="http://schemas.openxmlformats.org/officeDocument/2006/relationships/tags" Target="../tags/tag386.xml"/><Relationship Id="rId2" Type="http://schemas.openxmlformats.org/officeDocument/2006/relationships/tags" Target="../tags/tag371.xml"/><Relationship Id="rId16" Type="http://schemas.openxmlformats.org/officeDocument/2006/relationships/tags" Target="../tags/tag385.xml"/><Relationship Id="rId20" Type="http://schemas.openxmlformats.org/officeDocument/2006/relationships/tags" Target="../tags/tag389.xml"/><Relationship Id="rId1" Type="http://schemas.openxmlformats.org/officeDocument/2006/relationships/tags" Target="../tags/tag370.xml"/><Relationship Id="rId6" Type="http://schemas.openxmlformats.org/officeDocument/2006/relationships/tags" Target="../tags/tag375.xml"/><Relationship Id="rId11" Type="http://schemas.openxmlformats.org/officeDocument/2006/relationships/tags" Target="../tags/tag380.xml"/><Relationship Id="rId5" Type="http://schemas.openxmlformats.org/officeDocument/2006/relationships/tags" Target="../tags/tag374.xml"/><Relationship Id="rId15" Type="http://schemas.openxmlformats.org/officeDocument/2006/relationships/tags" Target="../tags/tag384.xml"/><Relationship Id="rId10" Type="http://schemas.openxmlformats.org/officeDocument/2006/relationships/tags" Target="../tags/tag379.xml"/><Relationship Id="rId19" Type="http://schemas.openxmlformats.org/officeDocument/2006/relationships/tags" Target="../tags/tag388.xml"/><Relationship Id="rId4" Type="http://schemas.openxmlformats.org/officeDocument/2006/relationships/tags" Target="../tags/tag373.xml"/><Relationship Id="rId9" Type="http://schemas.openxmlformats.org/officeDocument/2006/relationships/tags" Target="../tags/tag378.xml"/><Relationship Id="rId14" Type="http://schemas.openxmlformats.org/officeDocument/2006/relationships/tags" Target="../tags/tag383.xml"/><Relationship Id="rId22" Type="http://schemas.openxmlformats.org/officeDocument/2006/relationships/notesSlide" Target="../notesSlides/notesSlide89.xml"/></Relationships>
</file>

<file path=ppt/slides/_rels/slide109.xml.rels><?xml version="1.0" encoding="UTF-8" standalone="yes"?>
<Relationships xmlns="http://schemas.openxmlformats.org/package/2006/relationships"><Relationship Id="rId8" Type="http://schemas.openxmlformats.org/officeDocument/2006/relationships/tags" Target="../tags/tag397.xml"/><Relationship Id="rId13" Type="http://schemas.openxmlformats.org/officeDocument/2006/relationships/notesSlide" Target="../notesSlides/notesSlide90.xml"/><Relationship Id="rId3" Type="http://schemas.openxmlformats.org/officeDocument/2006/relationships/tags" Target="../tags/tag392.xml"/><Relationship Id="rId7" Type="http://schemas.openxmlformats.org/officeDocument/2006/relationships/tags" Target="../tags/tag396.xml"/><Relationship Id="rId12" Type="http://schemas.openxmlformats.org/officeDocument/2006/relationships/slideLayout" Target="../slideLayouts/slideLayout18.xml"/><Relationship Id="rId2" Type="http://schemas.openxmlformats.org/officeDocument/2006/relationships/tags" Target="../tags/tag391.xml"/><Relationship Id="rId1" Type="http://schemas.openxmlformats.org/officeDocument/2006/relationships/tags" Target="../tags/tag390.xml"/><Relationship Id="rId6" Type="http://schemas.openxmlformats.org/officeDocument/2006/relationships/tags" Target="../tags/tag395.xml"/><Relationship Id="rId11" Type="http://schemas.openxmlformats.org/officeDocument/2006/relationships/tags" Target="../tags/tag400.xml"/><Relationship Id="rId5" Type="http://schemas.openxmlformats.org/officeDocument/2006/relationships/tags" Target="../tags/tag394.xml"/><Relationship Id="rId10" Type="http://schemas.openxmlformats.org/officeDocument/2006/relationships/tags" Target="../tags/tag399.xml"/><Relationship Id="rId4" Type="http://schemas.openxmlformats.org/officeDocument/2006/relationships/tags" Target="../tags/tag393.xml"/><Relationship Id="rId9" Type="http://schemas.openxmlformats.org/officeDocument/2006/relationships/tags" Target="../tags/tag398.xml"/></Relationships>
</file>

<file path=ppt/slides/_rels/slide110.xml.rels><?xml version="1.0" encoding="UTF-8" standalone="yes"?>
<Relationships xmlns="http://schemas.openxmlformats.org/package/2006/relationships"><Relationship Id="rId8" Type="http://schemas.openxmlformats.org/officeDocument/2006/relationships/tags" Target="../tags/tag408.xml"/><Relationship Id="rId13" Type="http://schemas.openxmlformats.org/officeDocument/2006/relationships/tags" Target="../tags/tag413.xml"/><Relationship Id="rId3" Type="http://schemas.openxmlformats.org/officeDocument/2006/relationships/tags" Target="../tags/tag403.xml"/><Relationship Id="rId7" Type="http://schemas.openxmlformats.org/officeDocument/2006/relationships/tags" Target="../tags/tag407.xml"/><Relationship Id="rId12" Type="http://schemas.openxmlformats.org/officeDocument/2006/relationships/tags" Target="../tags/tag412.xml"/><Relationship Id="rId17" Type="http://schemas.openxmlformats.org/officeDocument/2006/relationships/notesSlide" Target="../notesSlides/notesSlide91.xml"/><Relationship Id="rId2" Type="http://schemas.openxmlformats.org/officeDocument/2006/relationships/tags" Target="../tags/tag402.xml"/><Relationship Id="rId16" Type="http://schemas.openxmlformats.org/officeDocument/2006/relationships/slideLayout" Target="../slideLayouts/slideLayout18.xml"/><Relationship Id="rId1" Type="http://schemas.openxmlformats.org/officeDocument/2006/relationships/tags" Target="../tags/tag401.xml"/><Relationship Id="rId6" Type="http://schemas.openxmlformats.org/officeDocument/2006/relationships/tags" Target="../tags/tag406.xml"/><Relationship Id="rId11" Type="http://schemas.openxmlformats.org/officeDocument/2006/relationships/tags" Target="../tags/tag411.xml"/><Relationship Id="rId5" Type="http://schemas.openxmlformats.org/officeDocument/2006/relationships/tags" Target="../tags/tag405.xml"/><Relationship Id="rId15" Type="http://schemas.openxmlformats.org/officeDocument/2006/relationships/tags" Target="../tags/tag415.xml"/><Relationship Id="rId10" Type="http://schemas.openxmlformats.org/officeDocument/2006/relationships/tags" Target="../tags/tag410.xml"/><Relationship Id="rId4" Type="http://schemas.openxmlformats.org/officeDocument/2006/relationships/tags" Target="../tags/tag404.xml"/><Relationship Id="rId9" Type="http://schemas.openxmlformats.org/officeDocument/2006/relationships/tags" Target="../tags/tag409.xml"/><Relationship Id="rId14" Type="http://schemas.openxmlformats.org/officeDocument/2006/relationships/tags" Target="../tags/tag41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smtClean="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endPar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p:txBody>
      </p:sp>
    </p:spTree>
    <p:custDataLst>
      <p:tags r:id="rId1"/>
    </p:custData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69255" y="1536700"/>
            <a:ext cx="5084445" cy="610870"/>
            <a:chOff x="8728" y="2565"/>
            <a:chExt cx="8007" cy="962"/>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结构化程序设计</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735830" y="2659380"/>
            <a:ext cx="4772025" cy="612140"/>
            <a:chOff x="7754" y="4005"/>
            <a:chExt cx="7515" cy="964"/>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软件测试目标</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02405" y="3767455"/>
            <a:ext cx="4770755" cy="612140"/>
            <a:chOff x="6616" y="5448"/>
            <a:chExt cx="7513" cy="964"/>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软件测试方法</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216910" y="486918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软件测试步骤</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dissolv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4784725" y="2654935"/>
            <a:ext cx="4796119"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软件测试原则和策略</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6</a:t>
              </a:r>
            </a:p>
          </p:txBody>
        </p:sp>
      </p:grpSp>
      <p:grpSp>
        <p:nvGrpSpPr>
          <p:cNvPr id="16" name="组合 15"/>
          <p:cNvGrpSpPr/>
          <p:nvPr/>
        </p:nvGrpSpPr>
        <p:grpSpPr>
          <a:xfrm>
            <a:off x="3968115" y="3734435"/>
            <a:ext cx="4772025" cy="612775"/>
            <a:chOff x="7754" y="4005"/>
            <a:chExt cx="7515"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软件调试、验证与确认</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7</a:t>
              </a:r>
            </a:p>
          </p:txBody>
        </p:sp>
      </p:grpSp>
      <p:grpSp>
        <p:nvGrpSpPr>
          <p:cNvPr id="15" name="组合 14"/>
          <p:cNvGrpSpPr/>
          <p:nvPr/>
        </p:nvGrpSpPr>
        <p:grpSpPr>
          <a:xfrm>
            <a:off x="3173095" y="4809490"/>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软件测试文档</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a:t>
              </a:r>
              <a:r>
                <a:rPr lang="en-US" sz="2400" b="1" dirty="0">
                  <a:solidFill>
                    <a:schemeClr val="bg1"/>
                  </a:solidFill>
                  <a:latin typeface="微软雅黑" panose="020B0503020204020204" charset="-122"/>
                  <a:ea typeface="微软雅黑" panose="020B0503020204020204" charset="-122"/>
                </a:rPr>
                <a:t>8</a:t>
              </a:r>
            </a:p>
          </p:txBody>
        </p:sp>
      </p:grpSp>
      <p:grpSp>
        <p:nvGrpSpPr>
          <p:cNvPr id="20" name="组合 19"/>
          <p:cNvGrpSpPr/>
          <p:nvPr/>
        </p:nvGrpSpPr>
        <p:grpSpPr>
          <a:xfrm>
            <a:off x="5518150" y="1628775"/>
            <a:ext cx="4666637" cy="611505"/>
            <a:chOff x="5228" y="7274"/>
            <a:chExt cx="7100" cy="963"/>
          </a:xfrm>
        </p:grpSpPr>
        <p:pic>
          <p:nvPicPr>
            <p:cNvPr id="21"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22" name="椭圆 21"/>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3" name="组合 42"/>
            <p:cNvGrpSpPr/>
            <p:nvPr/>
          </p:nvGrpSpPr>
          <p:grpSpPr>
            <a:xfrm>
              <a:off x="6383" y="7274"/>
              <a:ext cx="5945" cy="960"/>
              <a:chOff x="6004452" y="1971917"/>
              <a:chExt cx="3406249" cy="610204"/>
            </a:xfrm>
          </p:grpSpPr>
          <p:pic>
            <p:nvPicPr>
              <p:cNvPr id="24"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25" name="圆角矩形 2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26"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设计软件测试方案</a:t>
              </a:r>
            </a:p>
          </p:txBody>
        </p:sp>
        <p:sp>
          <p:nvSpPr>
            <p:cNvPr id="27"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05</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dissolv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结构化程序设计</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程序设计语言的选择</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程序设计风格</a:t>
              </a:r>
            </a:p>
          </p:txBody>
        </p:sp>
      </p:grpSp>
    </p:spTree>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4.1 </a:t>
            </a:r>
            <a:r>
              <a:rPr lang="zh-CN" dirty="0">
                <a:solidFill>
                  <a:srgbClr val="FF0000"/>
                </a:solidFill>
              </a:rPr>
              <a:t>结构化程序设计</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程序设计</a:t>
            </a:r>
          </a:p>
        </p:txBody>
      </p:sp>
      <p:sp>
        <p:nvSpPr>
          <p:cNvPr id="100" name="文本框 99"/>
          <p:cNvSpPr txBox="1"/>
          <p:nvPr/>
        </p:nvSpPr>
        <p:spPr>
          <a:xfrm>
            <a:off x="1391920" y="1856740"/>
            <a:ext cx="6050915" cy="4410075"/>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zh-CN" altLang="en-US" sz="2000">
                <a:latin typeface="微软雅黑" panose="020B0503020204020204" charset="-122"/>
                <a:ea typeface="微软雅黑" panose="020B0503020204020204" charset="-122"/>
                <a:sym typeface="+mn-ea"/>
              </a:rPr>
              <a:t>把软件设计的结果用程序设计语言书写为计算机程序，称为</a:t>
            </a:r>
            <a:r>
              <a:rPr lang="zh-CN" altLang="en-US" sz="2000">
                <a:solidFill>
                  <a:srgbClr val="0070C0"/>
                </a:solidFill>
                <a:latin typeface="微软雅黑" panose="020B0503020204020204" charset="-122"/>
                <a:ea typeface="微软雅黑" panose="020B0503020204020204" charset="-122"/>
                <a:sym typeface="+mn-ea"/>
              </a:rPr>
              <a:t>编码</a:t>
            </a:r>
            <a:r>
              <a:rPr lang="zh-CN" altLang="en-US" sz="2000">
                <a:latin typeface="微软雅黑" panose="020B0503020204020204" charset="-122"/>
                <a:ea typeface="微软雅黑" panose="020B0503020204020204" charset="-122"/>
                <a:sym typeface="+mn-ea"/>
              </a:rPr>
              <a:t>。软件测试是指由人工或计算机来验证软件是否满足规定的需求或识别期望的结果和实际结果之间有无差别。</a:t>
            </a:r>
            <a:endParaRPr lang="zh-CN" altLang="en-US" sz="2000">
              <a:latin typeface="微软雅黑" panose="020B0503020204020204" charset="-122"/>
              <a:ea typeface="微软雅黑" panose="020B0503020204020204" charset="-122"/>
            </a:endParaRPr>
          </a:p>
          <a:p>
            <a:pPr marL="0" indent="0" algn="l" fontAlgn="auto">
              <a:lnSpc>
                <a:spcPct val="130000"/>
              </a:lnSpc>
            </a:pPr>
            <a:r>
              <a:rPr lang="zh-CN" altLang="en-US" sz="2000">
                <a:latin typeface="微软雅黑" panose="020B0503020204020204" charset="-122"/>
                <a:ea typeface="微软雅黑" panose="020B0503020204020204" charset="-122"/>
                <a:sym typeface="+mn-ea"/>
              </a:rPr>
              <a:t>        一般地，在软件编码的同时要进行模块测试，然后在模块集成时进行多种方法的综合测试，因而软件编码和软件测试统称为软件实现。良好的编码风格有利于写出高质量的程序，高效的测试和调试能发现错误、改正错误，保证软件的质量。</a:t>
            </a:r>
            <a:endParaRPr lang="zh-CN" altLang="en-US" sz="2000">
              <a:latin typeface="微软雅黑" panose="020B0503020204020204" charset="-122"/>
              <a:ea typeface="微软雅黑" panose="020B0503020204020204" charset="-122"/>
            </a:endParaRPr>
          </a:p>
          <a:p>
            <a:pPr marL="0" indent="0" algn="l" fontAlgn="auto">
              <a:lnSpc>
                <a:spcPct val="130000"/>
              </a:lnSpc>
            </a:pPr>
            <a:r>
              <a:rPr lang="zh-CN" altLang="en-US" sz="2000">
                <a:latin typeface="微软雅黑" panose="020B0503020204020204" charset="-122"/>
                <a:ea typeface="微软雅黑" panose="020B0503020204020204" charset="-122"/>
                <a:sym typeface="+mn-ea"/>
              </a:rPr>
              <a:t>★ 本章重点：</a:t>
            </a:r>
            <a:r>
              <a:rPr lang="zh-CN" altLang="en-US" sz="2000">
                <a:solidFill>
                  <a:srgbClr val="C00000"/>
                </a:solidFill>
                <a:latin typeface="微软雅黑" panose="020B0503020204020204" charset="-122"/>
                <a:ea typeface="微软雅黑" panose="020B0503020204020204" charset="-122"/>
                <a:sym typeface="+mn-ea"/>
              </a:rPr>
              <a:t>程序设计风格</a:t>
            </a:r>
            <a:r>
              <a:rPr lang="zh-CN" altLang="en-US" sz="2000">
                <a:latin typeface="微软雅黑" panose="020B0503020204020204" charset="-122"/>
                <a:ea typeface="微软雅黑" panose="020B0503020204020204" charset="-122"/>
                <a:sym typeface="+mn-ea"/>
              </a:rPr>
              <a:t>；</a:t>
            </a:r>
            <a:r>
              <a:rPr lang="zh-CN" altLang="en-US" sz="2000">
                <a:solidFill>
                  <a:srgbClr val="C00000"/>
                </a:solidFill>
                <a:latin typeface="微软雅黑" panose="020B0503020204020204" charset="-122"/>
                <a:ea typeface="微软雅黑" panose="020B0503020204020204" charset="-122"/>
                <a:sym typeface="+mn-ea"/>
              </a:rPr>
              <a:t>设计软件测试方案</a:t>
            </a:r>
            <a:r>
              <a:rPr lang="zh-CN" altLang="en-US" sz="2000">
                <a:latin typeface="微软雅黑" panose="020B0503020204020204" charset="-122"/>
                <a:ea typeface="微软雅黑" panose="020B0503020204020204" charset="-122"/>
                <a:sym typeface="+mn-ea"/>
              </a:rPr>
              <a:t>。</a:t>
            </a:r>
            <a:endParaRPr lang="zh-CN" altLang="en-US" sz="2000">
              <a:latin typeface="微软雅黑" panose="020B0503020204020204" charset="-122"/>
              <a:ea typeface="微软雅黑" panose="020B0503020204020204" charset="-122"/>
            </a:endParaRPr>
          </a:p>
          <a:p>
            <a:pPr marL="0" indent="0" algn="l" fontAlgn="auto">
              <a:lnSpc>
                <a:spcPct val="130000"/>
              </a:lnSpc>
            </a:pPr>
            <a:endParaRPr lang="zh-CN" altLang="en-US" dirty="0">
              <a:latin typeface="微软雅黑" panose="020B0503020204020204" charset="-122"/>
              <a:ea typeface="微软雅黑" panose="020B0503020204020204" charset="-122"/>
            </a:endParaRP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smtClean="0">
                <a:solidFill>
                  <a:schemeClr val="bg1"/>
                </a:solidFill>
                <a:latin typeface="微软雅黑" panose="020B0503020204020204" charset="-122"/>
                <a:ea typeface="微软雅黑" panose="020B0503020204020204" charset="-122"/>
              </a:rPr>
              <a:t>结构化程序设计</a:t>
            </a:r>
            <a:endParaRPr lang="zh-CN" altLang="en-US" spc="160" dirty="0">
              <a:solidFill>
                <a:schemeClr val="bg1"/>
              </a:solidFill>
              <a:latin typeface="微软雅黑" panose="020B0503020204020204" charset="-122"/>
              <a:ea typeface="微软雅黑" panose="020B0503020204020204" charset="-122"/>
            </a:endParaRPr>
          </a:p>
        </p:txBody>
      </p:sp>
      <p:pic>
        <p:nvPicPr>
          <p:cNvPr id="8" name="图片 7" descr="20150912095423385.jpg"/>
          <p:cNvPicPr>
            <a:picLocks noChangeAspect="1"/>
          </p:cNvPicPr>
          <p:nvPr/>
        </p:nvPicPr>
        <p:blipFill>
          <a:blip r:embed="rId2" cstate="print"/>
          <a:stretch>
            <a:fillRect/>
          </a:stretch>
        </p:blipFill>
        <p:spPr>
          <a:xfrm>
            <a:off x="7564755" y="2575560"/>
            <a:ext cx="4147820" cy="2544445"/>
          </a:xfrm>
          <a:prstGeom prst="rect">
            <a:avLst/>
          </a:prstGeom>
        </p:spPr>
      </p:pic>
    </p:spTree>
  </p:cSld>
  <p:clrMapOvr>
    <a:masterClrMapping/>
  </p:clrMapOvr>
  <p:transition>
    <p:pull dir="d"/>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4.1 </a:t>
            </a:r>
            <a:r>
              <a:rPr lang="zh-CN" dirty="0">
                <a:solidFill>
                  <a:srgbClr val="FF0000"/>
                </a:solidFill>
              </a:rPr>
              <a:t>结构化程序设计</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程序设计</a:t>
            </a:r>
          </a:p>
        </p:txBody>
      </p:sp>
      <p:sp>
        <p:nvSpPr>
          <p:cNvPr id="100" name="文本框 99"/>
          <p:cNvSpPr txBox="1"/>
          <p:nvPr/>
        </p:nvSpPr>
        <p:spPr>
          <a:xfrm>
            <a:off x="1681480" y="2237740"/>
            <a:ext cx="9505950" cy="3261360"/>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zh-CN" altLang="en-US" sz="2000">
                <a:latin typeface="微软雅黑" panose="020B0503020204020204" charset="-122"/>
                <a:ea typeface="微软雅黑" panose="020B0503020204020204" charset="-122"/>
                <a:sym typeface="+mn-ea"/>
              </a:rPr>
              <a:t>软件需求分析阶段和系统设计阶段所产生的文档，都不能直接在计算机上执行。</a:t>
            </a:r>
            <a:r>
              <a:rPr lang="zh-CN" altLang="en-US" sz="2000">
                <a:solidFill>
                  <a:srgbClr val="C00000"/>
                </a:solidFill>
                <a:latin typeface="微软雅黑" panose="020B0503020204020204" charset="-122"/>
                <a:ea typeface="微软雅黑" panose="020B0503020204020204" charset="-122"/>
                <a:sym typeface="+mn-ea"/>
              </a:rPr>
              <a:t>只有完成了程序设计、产生可执行代码后，才能使系统的需求真正实现</a:t>
            </a:r>
            <a:r>
              <a:rPr lang="zh-CN" altLang="en-US" sz="2000">
                <a:latin typeface="微软雅黑" panose="020B0503020204020204" charset="-122"/>
                <a:ea typeface="微软雅黑" panose="020B0503020204020204" charset="-122"/>
                <a:sym typeface="+mn-ea"/>
              </a:rPr>
              <a:t>。</a:t>
            </a:r>
          </a:p>
          <a:p>
            <a:pPr marL="0" indent="0" algn="l" fontAlgn="auto">
              <a:lnSpc>
                <a:spcPct val="130000"/>
              </a:lnSpc>
            </a:pPr>
            <a:r>
              <a:rPr lang="zh-CN" altLang="en-US" sz="2000">
                <a:latin typeface="微软雅黑" panose="020B0503020204020204" charset="-122"/>
                <a:ea typeface="微软雅黑" panose="020B0503020204020204" charset="-122"/>
                <a:sym typeface="+mn-ea"/>
              </a:rPr>
              <a:t>       软件系统的分析和设计是程序设计（编码）的前导，实践表明，编码中出现的问题主要是由设计中存在的问题引起的。因而我们主张</a:t>
            </a:r>
            <a:r>
              <a:rPr lang="zh-CN" altLang="en-US" sz="2000">
                <a:solidFill>
                  <a:srgbClr val="C00000"/>
                </a:solidFill>
                <a:latin typeface="微软雅黑" panose="020B0503020204020204" charset="-122"/>
                <a:ea typeface="微软雅黑" panose="020B0503020204020204" charset="-122"/>
                <a:sym typeface="+mn-ea"/>
              </a:rPr>
              <a:t>在编码之前进行分析、设计，尽可能在编码之前保证设计的正确性、高质量。</a:t>
            </a:r>
            <a:r>
              <a:rPr lang="zh-CN" altLang="en-US" sz="2000">
                <a:solidFill>
                  <a:srgbClr val="7030A0"/>
                </a:solidFill>
                <a:latin typeface="微软雅黑" panose="020B0503020204020204" charset="-122"/>
                <a:ea typeface="微软雅黑" panose="020B0503020204020204" charset="-122"/>
                <a:sym typeface="+mn-ea"/>
              </a:rPr>
              <a:t>然而这并不是说编码阶段无足轻重。</a:t>
            </a:r>
            <a:r>
              <a:rPr lang="zh-CN" altLang="en-US" sz="2000">
                <a:solidFill>
                  <a:schemeClr val="tx1"/>
                </a:solidFill>
                <a:latin typeface="微软雅黑" panose="020B0503020204020204" charset="-122"/>
                <a:ea typeface="微软雅黑" panose="020B0503020204020204" charset="-122"/>
                <a:sym typeface="+mn-ea"/>
              </a:rPr>
              <a:t>相</a:t>
            </a:r>
            <a:r>
              <a:rPr lang="zh-CN" altLang="en-US" sz="2000">
                <a:latin typeface="微软雅黑" panose="020B0503020204020204" charset="-122"/>
                <a:ea typeface="微软雅黑" panose="020B0503020204020204" charset="-122"/>
                <a:sym typeface="+mn-ea"/>
              </a:rPr>
              <a:t>反，程序员应该能像优秀的翻译员，在编码时简明、清晰、高质量地将系统设计付诸实施。否则，软件工程前期阶段分析、设计的质量再高，如果在程序设计时质量不高的话，最后得到的软件质量仍得不到保证。</a:t>
            </a:r>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Tree>
  </p:cSld>
  <p:clrMapOvr>
    <a:masterClrMapping/>
  </p:clrMapOvr>
  <p:transition>
    <p:pull dir="d"/>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4.1 </a:t>
            </a:r>
            <a:r>
              <a:rPr lang="zh-CN">
                <a:solidFill>
                  <a:srgbClr val="FF0000"/>
                </a:solidFill>
              </a:rPr>
              <a:t>结构化程序设计</a:t>
            </a:r>
          </a:p>
        </p:txBody>
      </p:sp>
      <p:sp>
        <p:nvSpPr>
          <p:cNvPr id="7" name="文本框 6"/>
          <p:cNvSpPr txBox="1"/>
          <p:nvPr/>
        </p:nvSpPr>
        <p:spPr>
          <a:xfrm>
            <a:off x="525780" y="282448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39" name="文本框 38"/>
          <p:cNvSpPr txBox="1"/>
          <p:nvPr>
            <p:custDataLst>
              <p:tags r:id="rId1"/>
            </p:custDataLst>
          </p:nvPr>
        </p:nvSpPr>
        <p:spPr>
          <a:xfrm>
            <a:off x="7213600" y="4662170"/>
            <a:ext cx="3658870" cy="1089660"/>
          </a:xfrm>
          <a:prstGeom prst="rect">
            <a:avLst/>
          </a:prstGeom>
          <a:noFill/>
        </p:spPr>
        <p:txBody>
          <a:bodyPr wrap="square" rtlCol="0">
            <a:normAutofit/>
          </a:bodyPr>
          <a:lstStyle/>
          <a:p>
            <a:pPr algn="just" eaLnBrk="1" hangingPunct="1">
              <a:lnSpc>
                <a:spcPct val="120000"/>
              </a:lnSpc>
              <a:spcBef>
                <a:spcPts val="0"/>
              </a:spcBef>
              <a:spcAft>
                <a:spcPts val="0"/>
              </a:spcAft>
              <a:defRPr/>
            </a:pPr>
            <a:r>
              <a:rPr lang="en-US" altLang="zh-CN">
                <a:solidFill>
                  <a:schemeClr val="tx1"/>
                </a:solidFill>
                <a:latin typeface="微软雅黑" panose="020B0503020204020204" charset="-122"/>
                <a:ea typeface="微软雅黑" panose="020B0503020204020204" charset="-122"/>
                <a:sym typeface="+mn-ea"/>
              </a:rPr>
              <a:t>3) </a:t>
            </a:r>
            <a:r>
              <a:rPr lang="zh-CN" altLang="en-US">
                <a:solidFill>
                  <a:schemeClr val="tx1"/>
                </a:solidFill>
                <a:latin typeface="微软雅黑" panose="020B0503020204020204" charset="-122"/>
                <a:ea typeface="微软雅黑" panose="020B0503020204020204" charset="-122"/>
                <a:sym typeface="+mn-ea"/>
              </a:rPr>
              <a:t>采用主程序员组的组织形式。用经验多、能力强、技术好的程序员作为主程序员。</a:t>
            </a:r>
            <a:endParaRPr lang="zh-CN" altLang="en-US" dirty="0" smtClean="0">
              <a:solidFill>
                <a:schemeClr val="tx1"/>
              </a:solidFill>
              <a:latin typeface="微软雅黑" panose="020B0503020204020204" charset="-122"/>
              <a:ea typeface="微软雅黑" panose="020B0503020204020204" charset="-122"/>
              <a:sym typeface="+mn-ea"/>
            </a:endParaRPr>
          </a:p>
        </p:txBody>
      </p:sp>
      <p:grpSp>
        <p:nvGrpSpPr>
          <p:cNvPr id="6" name="组合 5"/>
          <p:cNvGrpSpPr/>
          <p:nvPr>
            <p:custDataLst>
              <p:tags r:id="rId2"/>
            </p:custDataLst>
          </p:nvPr>
        </p:nvGrpSpPr>
        <p:grpSpPr>
          <a:xfrm>
            <a:off x="4258955" y="2502062"/>
            <a:ext cx="3357880" cy="3361055"/>
            <a:chOff x="4545541" y="1813445"/>
            <a:chExt cx="3358094" cy="3360852"/>
          </a:xfrm>
        </p:grpSpPr>
        <p:grpSp>
          <p:nvGrpSpPr>
            <p:cNvPr id="31" name="组合 30"/>
            <p:cNvGrpSpPr/>
            <p:nvPr/>
          </p:nvGrpSpPr>
          <p:grpSpPr>
            <a:xfrm rot="19780964">
              <a:off x="4545541" y="1813445"/>
              <a:ext cx="3358094" cy="3360852"/>
              <a:chOff x="4292600" y="1528763"/>
              <a:chExt cx="3863975" cy="3867151"/>
            </a:xfrm>
          </p:grpSpPr>
          <p:sp>
            <p:nvSpPr>
              <p:cNvPr id="8" name="Freeform 5"/>
              <p:cNvSpPr/>
              <p:nvPr>
                <p:custDataLst>
                  <p:tags r:id="rId14"/>
                </p:custDataLst>
              </p:nvPr>
            </p:nvSpPr>
            <p:spPr bwMode="auto">
              <a:xfrm>
                <a:off x="6096000" y="1528763"/>
                <a:ext cx="2060575" cy="2708275"/>
              </a:xfrm>
              <a:custGeom>
                <a:avLst/>
                <a:gdLst>
                  <a:gd name="T0" fmla="*/ 0 w 10817"/>
                  <a:gd name="T1" fmla="*/ 9470 h 14205"/>
                  <a:gd name="T2" fmla="*/ 8202 w 10817"/>
                  <a:gd name="T3" fmla="*/ 14205 h 14205"/>
                  <a:gd name="T4" fmla="*/ 4736 w 10817"/>
                  <a:gd name="T5" fmla="*/ 1268 h 14205"/>
                  <a:gd name="T6" fmla="*/ 0 w 10817"/>
                  <a:gd name="T7" fmla="*/ 0 h 14205"/>
                  <a:gd name="T8" fmla="*/ 0 w 10817"/>
                  <a:gd name="T9" fmla="*/ 9470 h 14205"/>
                </a:gdLst>
                <a:ahLst/>
                <a:cxnLst>
                  <a:cxn ang="0">
                    <a:pos x="T0" y="T1"/>
                  </a:cxn>
                  <a:cxn ang="0">
                    <a:pos x="T2" y="T3"/>
                  </a:cxn>
                  <a:cxn ang="0">
                    <a:pos x="T4" y="T5"/>
                  </a:cxn>
                  <a:cxn ang="0">
                    <a:pos x="T6" y="T7"/>
                  </a:cxn>
                  <a:cxn ang="0">
                    <a:pos x="T8" y="T9"/>
                  </a:cxn>
                </a:cxnLst>
                <a:rect l="0" t="0" r="r" b="b"/>
                <a:pathLst>
                  <a:path w="10817" h="14205">
                    <a:moveTo>
                      <a:pt x="0" y="9470"/>
                    </a:moveTo>
                    <a:lnTo>
                      <a:pt x="8202" y="14205"/>
                    </a:lnTo>
                    <a:cubicBezTo>
                      <a:pt x="10817" y="9675"/>
                      <a:pt x="9265" y="3884"/>
                      <a:pt x="4736" y="1268"/>
                    </a:cubicBezTo>
                    <a:cubicBezTo>
                      <a:pt x="3296" y="437"/>
                      <a:pt x="1663" y="0"/>
                      <a:pt x="0" y="0"/>
                    </a:cubicBezTo>
                    <a:lnTo>
                      <a:pt x="0" y="9470"/>
                    </a:lnTo>
                    <a:close/>
                  </a:path>
                </a:pathLst>
              </a:custGeom>
              <a:solidFill>
                <a:srgbClr val="A4C47E"/>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26" name="Freeform 7"/>
              <p:cNvSpPr/>
              <p:nvPr>
                <p:custDataLst>
                  <p:tags r:id="rId15"/>
                </p:custDataLst>
              </p:nvPr>
            </p:nvSpPr>
            <p:spPr bwMode="auto">
              <a:xfrm>
                <a:off x="4533900" y="3333751"/>
                <a:ext cx="3124200" cy="2062163"/>
              </a:xfrm>
              <a:custGeom>
                <a:avLst/>
                <a:gdLst>
                  <a:gd name="T0" fmla="*/ 8201 w 16403"/>
                  <a:gd name="T1" fmla="*/ 0 h 10816"/>
                  <a:gd name="T2" fmla="*/ 0 w 16403"/>
                  <a:gd name="T3" fmla="*/ 4735 h 10816"/>
                  <a:gd name="T4" fmla="*/ 12937 w 16403"/>
                  <a:gd name="T5" fmla="*/ 8201 h 10816"/>
                  <a:gd name="T6" fmla="*/ 16403 w 16403"/>
                  <a:gd name="T7" fmla="*/ 4735 h 10816"/>
                  <a:gd name="T8" fmla="*/ 8201 w 16403"/>
                  <a:gd name="T9" fmla="*/ 0 h 10816"/>
                </a:gdLst>
                <a:ahLst/>
                <a:cxnLst>
                  <a:cxn ang="0">
                    <a:pos x="T0" y="T1"/>
                  </a:cxn>
                  <a:cxn ang="0">
                    <a:pos x="T2" y="T3"/>
                  </a:cxn>
                  <a:cxn ang="0">
                    <a:pos x="T4" y="T5"/>
                  </a:cxn>
                  <a:cxn ang="0">
                    <a:pos x="T6" y="T7"/>
                  </a:cxn>
                  <a:cxn ang="0">
                    <a:pos x="T8" y="T9"/>
                  </a:cxn>
                </a:cxnLst>
                <a:rect l="0" t="0" r="r" b="b"/>
                <a:pathLst>
                  <a:path w="16403" h="10816">
                    <a:moveTo>
                      <a:pt x="8201" y="0"/>
                    </a:moveTo>
                    <a:lnTo>
                      <a:pt x="0" y="4735"/>
                    </a:lnTo>
                    <a:cubicBezTo>
                      <a:pt x="2615" y="9265"/>
                      <a:pt x="8407" y="10816"/>
                      <a:pt x="12937" y="8201"/>
                    </a:cubicBezTo>
                    <a:cubicBezTo>
                      <a:pt x="14376" y="7370"/>
                      <a:pt x="15572" y="6175"/>
                      <a:pt x="16403" y="4735"/>
                    </a:cubicBezTo>
                    <a:lnTo>
                      <a:pt x="8201" y="0"/>
                    </a:lnTo>
                    <a:close/>
                  </a:path>
                </a:pathLst>
              </a:custGeom>
              <a:solidFill>
                <a:srgbClr val="4D91BF"/>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sp>
            <p:nvSpPr>
              <p:cNvPr id="28" name="Freeform 9"/>
              <p:cNvSpPr/>
              <p:nvPr>
                <p:custDataLst>
                  <p:tags r:id="rId16"/>
                </p:custDataLst>
              </p:nvPr>
            </p:nvSpPr>
            <p:spPr bwMode="auto">
              <a:xfrm>
                <a:off x="4292600" y="1528763"/>
                <a:ext cx="1803400" cy="2708275"/>
              </a:xfrm>
              <a:custGeom>
                <a:avLst/>
                <a:gdLst>
                  <a:gd name="T0" fmla="*/ 18940 w 18940"/>
                  <a:gd name="T1" fmla="*/ 18940 h 28411"/>
                  <a:gd name="T2" fmla="*/ 18940 w 18940"/>
                  <a:gd name="T3" fmla="*/ 0 h 28411"/>
                  <a:gd name="T4" fmla="*/ 0 w 18940"/>
                  <a:gd name="T5" fmla="*/ 18940 h 28411"/>
                  <a:gd name="T6" fmla="*/ 2537 w 18940"/>
                  <a:gd name="T7" fmla="*/ 28411 h 28411"/>
                  <a:gd name="T8" fmla="*/ 18940 w 18940"/>
                  <a:gd name="T9" fmla="*/ 18940 h 28411"/>
                </a:gdLst>
                <a:ahLst/>
                <a:cxnLst>
                  <a:cxn ang="0">
                    <a:pos x="T0" y="T1"/>
                  </a:cxn>
                  <a:cxn ang="0">
                    <a:pos x="T2" y="T3"/>
                  </a:cxn>
                  <a:cxn ang="0">
                    <a:pos x="T4" y="T5"/>
                  </a:cxn>
                  <a:cxn ang="0">
                    <a:pos x="T6" y="T7"/>
                  </a:cxn>
                  <a:cxn ang="0">
                    <a:pos x="T8" y="T9"/>
                  </a:cxn>
                </a:cxnLst>
                <a:rect l="0" t="0" r="r" b="b"/>
                <a:pathLst>
                  <a:path w="18940" h="28411">
                    <a:moveTo>
                      <a:pt x="18940" y="18940"/>
                    </a:moveTo>
                    <a:lnTo>
                      <a:pt x="18940" y="0"/>
                    </a:lnTo>
                    <a:cubicBezTo>
                      <a:pt x="8480" y="0"/>
                      <a:pt x="0" y="8480"/>
                      <a:pt x="0" y="18940"/>
                    </a:cubicBezTo>
                    <a:cubicBezTo>
                      <a:pt x="0" y="22265"/>
                      <a:pt x="875" y="25531"/>
                      <a:pt x="2537" y="28411"/>
                    </a:cubicBezTo>
                    <a:lnTo>
                      <a:pt x="18940" y="18940"/>
                    </a:lnTo>
                    <a:close/>
                  </a:path>
                </a:pathLst>
              </a:custGeom>
              <a:solidFill>
                <a:srgbClr val="0FA1AB"/>
              </a:solidFill>
              <a:ln w="0">
                <a:noFill/>
                <a:prstDash val="solid"/>
                <a:round/>
              </a:ln>
            </p:spPr>
            <p:txBody>
              <a:bodyPr vert="horz" wrap="square" lIns="91440" tIns="45720" rIns="91440" bIns="45720" numCol="1" anchor="t" anchorCtr="0" compatLnSpc="1">
                <a:normAutofit/>
              </a:bodyPr>
              <a:lstStyle/>
              <a:p>
                <a:endParaRPr lang="zh-CN" altLang="en-US">
                  <a:sym typeface="Arial" panose="020B0604020202020204" pitchFamily="34" charset="0"/>
                </a:endParaRPr>
              </a:p>
            </p:txBody>
          </p:sp>
        </p:grpSp>
        <p:grpSp>
          <p:nvGrpSpPr>
            <p:cNvPr id="10" name="组合 9"/>
            <p:cNvGrpSpPr/>
            <p:nvPr/>
          </p:nvGrpSpPr>
          <p:grpSpPr>
            <a:xfrm>
              <a:off x="7117751" y="2851667"/>
              <a:ext cx="642223" cy="844731"/>
              <a:chOff x="7269873" y="3048000"/>
              <a:chExt cx="484632" cy="637448"/>
            </a:xfrm>
          </p:grpSpPr>
          <p:sp>
            <p:nvSpPr>
              <p:cNvPr id="19" name="任意多边形 18"/>
              <p:cNvSpPr/>
              <p:nvPr>
                <p:custDataLst>
                  <p:tags r:id="rId12"/>
                </p:custDataLst>
              </p:nvPr>
            </p:nvSpPr>
            <p:spPr>
              <a:xfrm>
                <a:off x="7269873"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A4C47E"/>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25" name="任意多边形 24"/>
              <p:cNvSpPr/>
              <p:nvPr>
                <p:custDataLst>
                  <p:tags r:id="rId13"/>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53000">
                    <a:srgbClr val="A4C47E">
                      <a:lumMod val="75000"/>
                    </a:srgbClr>
                  </a:gs>
                  <a:gs pos="0">
                    <a:srgbClr val="A4C47E">
                      <a:lumMod val="75000"/>
                      <a:alpha val="0"/>
                    </a:srgbClr>
                  </a:gs>
                  <a:gs pos="100000">
                    <a:srgbClr val="A4C47E">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27" name="组合 26"/>
            <p:cNvGrpSpPr/>
            <p:nvPr/>
          </p:nvGrpSpPr>
          <p:grpSpPr>
            <a:xfrm rot="7200000">
              <a:off x="5228836" y="4295958"/>
              <a:ext cx="642222" cy="844731"/>
              <a:chOff x="7237791" y="3049926"/>
              <a:chExt cx="484632" cy="637448"/>
            </a:xfrm>
          </p:grpSpPr>
          <p:sp>
            <p:nvSpPr>
              <p:cNvPr id="30" name="任意多边形 29"/>
              <p:cNvSpPr/>
              <p:nvPr>
                <p:custDataLst>
                  <p:tags r:id="rId10"/>
                </p:custDataLst>
              </p:nvPr>
            </p:nvSpPr>
            <p:spPr>
              <a:xfrm>
                <a:off x="7237791" y="3049926"/>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4D91BF"/>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32" name="任意多边形 31"/>
              <p:cNvSpPr/>
              <p:nvPr>
                <p:custDataLst>
                  <p:tags r:id="rId11"/>
                </p:custDataLst>
              </p:nvPr>
            </p:nvSpPr>
            <p:spPr>
              <a:xfrm>
                <a:off x="7237791" y="3049926"/>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4D91BF">
                      <a:lumMod val="75000"/>
                    </a:srgbClr>
                  </a:gs>
                  <a:gs pos="29000">
                    <a:srgbClr val="4D91BF">
                      <a:lumMod val="75000"/>
                      <a:alpha val="31000"/>
                    </a:srgbClr>
                  </a:gs>
                  <a:gs pos="0">
                    <a:srgbClr val="4D91BF">
                      <a:lumMod val="75000"/>
                      <a:alpha val="0"/>
                    </a:srgbClr>
                  </a:gs>
                  <a:gs pos="100000">
                    <a:srgbClr val="4D91BF">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nvGrpSpPr>
            <p:cNvPr id="33" name="组合 32"/>
            <p:cNvGrpSpPr/>
            <p:nvPr/>
          </p:nvGrpSpPr>
          <p:grpSpPr>
            <a:xfrm rot="14400000">
              <a:off x="4930608" y="1940029"/>
              <a:ext cx="642223" cy="844731"/>
              <a:chOff x="7269877" y="3048000"/>
              <a:chExt cx="484632" cy="637448"/>
            </a:xfrm>
          </p:grpSpPr>
          <p:sp>
            <p:nvSpPr>
              <p:cNvPr id="34" name="任意多边形 33"/>
              <p:cNvSpPr/>
              <p:nvPr>
                <p:custDataLst>
                  <p:tags r:id="rId8"/>
                </p:custDataLst>
              </p:nvPr>
            </p:nvSpPr>
            <p:spPr>
              <a:xfrm>
                <a:off x="7269877" y="3048000"/>
                <a:ext cx="484632" cy="637448"/>
              </a:xfrm>
              <a:custGeom>
                <a:avLst/>
                <a:gdLst>
                  <a:gd name="connsiteX0" fmla="*/ 17934 w 484632"/>
                  <a:gd name="connsiteY0" fmla="*/ 0 h 637448"/>
                  <a:gd name="connsiteX1" fmla="*/ 273387 w 484632"/>
                  <a:gd name="connsiteY1" fmla="*/ 0 h 637448"/>
                  <a:gd name="connsiteX2" fmla="*/ 280433 w 484632"/>
                  <a:gd name="connsiteY2" fmla="*/ 17210 h 637448"/>
                  <a:gd name="connsiteX3" fmla="*/ 318373 w 484632"/>
                  <a:gd name="connsiteY3" fmla="*/ 120650 h 637448"/>
                  <a:gd name="connsiteX4" fmla="*/ 363474 w 484632"/>
                  <a:gd name="connsiteY4" fmla="*/ 395132 h 637448"/>
                  <a:gd name="connsiteX5" fmla="*/ 484632 w 484632"/>
                  <a:gd name="connsiteY5" fmla="*/ 395132 h 637448"/>
                  <a:gd name="connsiteX6" fmla="*/ 242316 w 484632"/>
                  <a:gd name="connsiteY6" fmla="*/ 637448 h 637448"/>
                  <a:gd name="connsiteX7" fmla="*/ 0 w 484632"/>
                  <a:gd name="connsiteY7" fmla="*/ 395132 h 637448"/>
                  <a:gd name="connsiteX8" fmla="*/ 121158 w 484632"/>
                  <a:gd name="connsiteY8" fmla="*/ 395132 h 637448"/>
                  <a:gd name="connsiteX9" fmla="*/ 89773 w 484632"/>
                  <a:gd name="connsiteY9" fmla="*/ 171450 h 637448"/>
                  <a:gd name="connsiteX10" fmla="*/ 48941 w 484632"/>
                  <a:gd name="connsiteY10" fmla="*/ 69243 h 637448"/>
                  <a:gd name="connsiteX0-1" fmla="*/ 17934 w 484632"/>
                  <a:gd name="connsiteY0-2" fmla="*/ 0 h 637448"/>
                  <a:gd name="connsiteX1-3" fmla="*/ 273387 w 484632"/>
                  <a:gd name="connsiteY1-4" fmla="*/ 0 h 637448"/>
                  <a:gd name="connsiteX2-5" fmla="*/ 280433 w 484632"/>
                  <a:gd name="connsiteY2-6" fmla="*/ 17210 h 637448"/>
                  <a:gd name="connsiteX3-7" fmla="*/ 337423 w 484632"/>
                  <a:gd name="connsiteY3-8" fmla="*/ 120650 h 637448"/>
                  <a:gd name="connsiteX4-9" fmla="*/ 363474 w 484632"/>
                  <a:gd name="connsiteY4-10" fmla="*/ 395132 h 637448"/>
                  <a:gd name="connsiteX5-11" fmla="*/ 484632 w 484632"/>
                  <a:gd name="connsiteY5-12" fmla="*/ 395132 h 637448"/>
                  <a:gd name="connsiteX6-13" fmla="*/ 242316 w 484632"/>
                  <a:gd name="connsiteY6-14" fmla="*/ 637448 h 637448"/>
                  <a:gd name="connsiteX7-15" fmla="*/ 0 w 484632"/>
                  <a:gd name="connsiteY7-16" fmla="*/ 395132 h 637448"/>
                  <a:gd name="connsiteX8-17" fmla="*/ 121158 w 484632"/>
                  <a:gd name="connsiteY8-18" fmla="*/ 395132 h 637448"/>
                  <a:gd name="connsiteX9-19" fmla="*/ 89773 w 484632"/>
                  <a:gd name="connsiteY9-20" fmla="*/ 171450 h 637448"/>
                  <a:gd name="connsiteX10-21" fmla="*/ 48941 w 484632"/>
                  <a:gd name="connsiteY10-22" fmla="*/ 69243 h 637448"/>
                  <a:gd name="connsiteX11" fmla="*/ 17934 w 484632"/>
                  <a:gd name="connsiteY11" fmla="*/ 0 h 637448"/>
                  <a:gd name="connsiteX0-23" fmla="*/ 17934 w 484632"/>
                  <a:gd name="connsiteY0-24" fmla="*/ 0 h 637448"/>
                  <a:gd name="connsiteX1-25" fmla="*/ 273387 w 484632"/>
                  <a:gd name="connsiteY1-26" fmla="*/ 0 h 637448"/>
                  <a:gd name="connsiteX2-27" fmla="*/ 280433 w 484632"/>
                  <a:gd name="connsiteY2-28" fmla="*/ 17210 h 637448"/>
                  <a:gd name="connsiteX3-29" fmla="*/ 337423 w 484632"/>
                  <a:gd name="connsiteY3-30" fmla="*/ 120650 h 637448"/>
                  <a:gd name="connsiteX4-31" fmla="*/ 363474 w 484632"/>
                  <a:gd name="connsiteY4-32" fmla="*/ 395132 h 637448"/>
                  <a:gd name="connsiteX5-33" fmla="*/ 484632 w 484632"/>
                  <a:gd name="connsiteY5-34" fmla="*/ 395132 h 637448"/>
                  <a:gd name="connsiteX6-35" fmla="*/ 242316 w 484632"/>
                  <a:gd name="connsiteY6-36" fmla="*/ 637448 h 637448"/>
                  <a:gd name="connsiteX7-37" fmla="*/ 0 w 484632"/>
                  <a:gd name="connsiteY7-38" fmla="*/ 395132 h 637448"/>
                  <a:gd name="connsiteX8-39" fmla="*/ 121158 w 484632"/>
                  <a:gd name="connsiteY8-40" fmla="*/ 395132 h 637448"/>
                  <a:gd name="connsiteX9-41" fmla="*/ 89773 w 484632"/>
                  <a:gd name="connsiteY9-42" fmla="*/ 171450 h 637448"/>
                  <a:gd name="connsiteX10-43" fmla="*/ 48941 w 484632"/>
                  <a:gd name="connsiteY10-44" fmla="*/ 69243 h 637448"/>
                  <a:gd name="connsiteX11-45" fmla="*/ 17934 w 484632"/>
                  <a:gd name="connsiteY11-46" fmla="*/ 0 h 637448"/>
                  <a:gd name="connsiteX0-47" fmla="*/ 17934 w 484632"/>
                  <a:gd name="connsiteY0-48" fmla="*/ 0 h 637448"/>
                  <a:gd name="connsiteX1-49" fmla="*/ 273387 w 484632"/>
                  <a:gd name="connsiteY1-50" fmla="*/ 0 h 637448"/>
                  <a:gd name="connsiteX2-51" fmla="*/ 280433 w 484632"/>
                  <a:gd name="connsiteY2-52" fmla="*/ 17210 h 637448"/>
                  <a:gd name="connsiteX3-53" fmla="*/ 337423 w 484632"/>
                  <a:gd name="connsiteY3-54" fmla="*/ 120650 h 637448"/>
                  <a:gd name="connsiteX4-55" fmla="*/ 363474 w 484632"/>
                  <a:gd name="connsiteY4-56" fmla="*/ 395132 h 637448"/>
                  <a:gd name="connsiteX5-57" fmla="*/ 484632 w 484632"/>
                  <a:gd name="connsiteY5-58" fmla="*/ 395132 h 637448"/>
                  <a:gd name="connsiteX6-59" fmla="*/ 242316 w 484632"/>
                  <a:gd name="connsiteY6-60" fmla="*/ 637448 h 637448"/>
                  <a:gd name="connsiteX7-61" fmla="*/ 0 w 484632"/>
                  <a:gd name="connsiteY7-62" fmla="*/ 395132 h 637448"/>
                  <a:gd name="connsiteX8-63" fmla="*/ 121158 w 484632"/>
                  <a:gd name="connsiteY8-64" fmla="*/ 395132 h 637448"/>
                  <a:gd name="connsiteX9-65" fmla="*/ 89773 w 484632"/>
                  <a:gd name="connsiteY9-66" fmla="*/ 171450 h 637448"/>
                  <a:gd name="connsiteX10-67" fmla="*/ 48941 w 484632"/>
                  <a:gd name="connsiteY10-68" fmla="*/ 69243 h 637448"/>
                  <a:gd name="connsiteX11-69" fmla="*/ 17934 w 484632"/>
                  <a:gd name="connsiteY11-70" fmla="*/ 0 h 637448"/>
                  <a:gd name="connsiteX0-71" fmla="*/ 17934 w 484632"/>
                  <a:gd name="connsiteY0-72" fmla="*/ 0 h 637448"/>
                  <a:gd name="connsiteX1-73" fmla="*/ 273387 w 484632"/>
                  <a:gd name="connsiteY1-74" fmla="*/ 0 h 637448"/>
                  <a:gd name="connsiteX2-75" fmla="*/ 305833 w 484632"/>
                  <a:gd name="connsiteY2-76" fmla="*/ 10860 h 637448"/>
                  <a:gd name="connsiteX3-77" fmla="*/ 337423 w 484632"/>
                  <a:gd name="connsiteY3-78" fmla="*/ 120650 h 637448"/>
                  <a:gd name="connsiteX4-79" fmla="*/ 363474 w 484632"/>
                  <a:gd name="connsiteY4-80" fmla="*/ 395132 h 637448"/>
                  <a:gd name="connsiteX5-81" fmla="*/ 484632 w 484632"/>
                  <a:gd name="connsiteY5-82" fmla="*/ 395132 h 637448"/>
                  <a:gd name="connsiteX6-83" fmla="*/ 242316 w 484632"/>
                  <a:gd name="connsiteY6-84" fmla="*/ 637448 h 637448"/>
                  <a:gd name="connsiteX7-85" fmla="*/ 0 w 484632"/>
                  <a:gd name="connsiteY7-86" fmla="*/ 395132 h 637448"/>
                  <a:gd name="connsiteX8-87" fmla="*/ 121158 w 484632"/>
                  <a:gd name="connsiteY8-88" fmla="*/ 395132 h 637448"/>
                  <a:gd name="connsiteX9-89" fmla="*/ 89773 w 484632"/>
                  <a:gd name="connsiteY9-90" fmla="*/ 171450 h 637448"/>
                  <a:gd name="connsiteX10-91" fmla="*/ 48941 w 484632"/>
                  <a:gd name="connsiteY10-92" fmla="*/ 69243 h 637448"/>
                  <a:gd name="connsiteX11-93" fmla="*/ 17934 w 484632"/>
                  <a:gd name="connsiteY11-94" fmla="*/ 0 h 637448"/>
                  <a:gd name="connsiteX0-95" fmla="*/ 17934 w 484632"/>
                  <a:gd name="connsiteY0-96" fmla="*/ 0 h 637448"/>
                  <a:gd name="connsiteX1-97" fmla="*/ 273387 w 484632"/>
                  <a:gd name="connsiteY1-98" fmla="*/ 0 h 637448"/>
                  <a:gd name="connsiteX2-99" fmla="*/ 305833 w 484632"/>
                  <a:gd name="connsiteY2-100" fmla="*/ 10860 h 637448"/>
                  <a:gd name="connsiteX3-101" fmla="*/ 337423 w 484632"/>
                  <a:gd name="connsiteY3-102" fmla="*/ 120650 h 637448"/>
                  <a:gd name="connsiteX4-103" fmla="*/ 363474 w 484632"/>
                  <a:gd name="connsiteY4-104" fmla="*/ 395132 h 637448"/>
                  <a:gd name="connsiteX5-105" fmla="*/ 484632 w 484632"/>
                  <a:gd name="connsiteY5-106" fmla="*/ 395132 h 637448"/>
                  <a:gd name="connsiteX6-107" fmla="*/ 242316 w 484632"/>
                  <a:gd name="connsiteY6-108" fmla="*/ 637448 h 637448"/>
                  <a:gd name="connsiteX7-109" fmla="*/ 0 w 484632"/>
                  <a:gd name="connsiteY7-110" fmla="*/ 395132 h 637448"/>
                  <a:gd name="connsiteX8-111" fmla="*/ 121158 w 484632"/>
                  <a:gd name="connsiteY8-112" fmla="*/ 395132 h 637448"/>
                  <a:gd name="connsiteX9-113" fmla="*/ 121523 w 484632"/>
                  <a:gd name="connsiteY9-114" fmla="*/ 165100 h 637448"/>
                  <a:gd name="connsiteX10-115" fmla="*/ 48941 w 484632"/>
                  <a:gd name="connsiteY10-116" fmla="*/ 69243 h 637448"/>
                  <a:gd name="connsiteX11-117" fmla="*/ 17934 w 484632"/>
                  <a:gd name="connsiteY11-118" fmla="*/ 0 h 637448"/>
                  <a:gd name="connsiteX0-119" fmla="*/ 17934 w 484632"/>
                  <a:gd name="connsiteY0-120" fmla="*/ 0 h 637448"/>
                  <a:gd name="connsiteX1-121" fmla="*/ 273387 w 484632"/>
                  <a:gd name="connsiteY1-122" fmla="*/ 0 h 637448"/>
                  <a:gd name="connsiteX2-123" fmla="*/ 305833 w 484632"/>
                  <a:gd name="connsiteY2-124" fmla="*/ 10860 h 637448"/>
                  <a:gd name="connsiteX3-125" fmla="*/ 337423 w 484632"/>
                  <a:gd name="connsiteY3-126" fmla="*/ 120650 h 637448"/>
                  <a:gd name="connsiteX4-127" fmla="*/ 363474 w 484632"/>
                  <a:gd name="connsiteY4-128" fmla="*/ 395132 h 637448"/>
                  <a:gd name="connsiteX5-129" fmla="*/ 484632 w 484632"/>
                  <a:gd name="connsiteY5-130" fmla="*/ 395132 h 637448"/>
                  <a:gd name="connsiteX6-131" fmla="*/ 242316 w 484632"/>
                  <a:gd name="connsiteY6-132" fmla="*/ 637448 h 637448"/>
                  <a:gd name="connsiteX7-133" fmla="*/ 0 w 484632"/>
                  <a:gd name="connsiteY7-134" fmla="*/ 395132 h 637448"/>
                  <a:gd name="connsiteX8-135" fmla="*/ 121158 w 484632"/>
                  <a:gd name="connsiteY8-136" fmla="*/ 395132 h 637448"/>
                  <a:gd name="connsiteX9-137" fmla="*/ 121523 w 484632"/>
                  <a:gd name="connsiteY9-138" fmla="*/ 165100 h 637448"/>
                  <a:gd name="connsiteX10-139" fmla="*/ 106091 w 484632"/>
                  <a:gd name="connsiteY10-140" fmla="*/ 62893 h 637448"/>
                  <a:gd name="connsiteX11-141" fmla="*/ 17934 w 484632"/>
                  <a:gd name="connsiteY11-142" fmla="*/ 0 h 637448"/>
                  <a:gd name="connsiteX0-143" fmla="*/ 87784 w 484632"/>
                  <a:gd name="connsiteY0-144" fmla="*/ 0 h 637448"/>
                  <a:gd name="connsiteX1-145" fmla="*/ 273387 w 484632"/>
                  <a:gd name="connsiteY1-146" fmla="*/ 0 h 637448"/>
                  <a:gd name="connsiteX2-147" fmla="*/ 305833 w 484632"/>
                  <a:gd name="connsiteY2-148" fmla="*/ 10860 h 637448"/>
                  <a:gd name="connsiteX3-149" fmla="*/ 337423 w 484632"/>
                  <a:gd name="connsiteY3-150" fmla="*/ 120650 h 637448"/>
                  <a:gd name="connsiteX4-151" fmla="*/ 363474 w 484632"/>
                  <a:gd name="connsiteY4-152" fmla="*/ 395132 h 637448"/>
                  <a:gd name="connsiteX5-153" fmla="*/ 484632 w 484632"/>
                  <a:gd name="connsiteY5-154" fmla="*/ 395132 h 637448"/>
                  <a:gd name="connsiteX6-155" fmla="*/ 242316 w 484632"/>
                  <a:gd name="connsiteY6-156" fmla="*/ 637448 h 637448"/>
                  <a:gd name="connsiteX7-157" fmla="*/ 0 w 484632"/>
                  <a:gd name="connsiteY7-158" fmla="*/ 395132 h 637448"/>
                  <a:gd name="connsiteX8-159" fmla="*/ 121158 w 484632"/>
                  <a:gd name="connsiteY8-160" fmla="*/ 395132 h 637448"/>
                  <a:gd name="connsiteX9-161" fmla="*/ 121523 w 484632"/>
                  <a:gd name="connsiteY9-162" fmla="*/ 165100 h 637448"/>
                  <a:gd name="connsiteX10-163" fmla="*/ 106091 w 484632"/>
                  <a:gd name="connsiteY10-164" fmla="*/ 62893 h 637448"/>
                  <a:gd name="connsiteX11-165" fmla="*/ 87784 w 484632"/>
                  <a:gd name="connsiteY11-166" fmla="*/ 0 h 637448"/>
                  <a:gd name="connsiteX0-167" fmla="*/ 87784 w 484632"/>
                  <a:gd name="connsiteY0-168" fmla="*/ 6350 h 637448"/>
                  <a:gd name="connsiteX1-169" fmla="*/ 273387 w 484632"/>
                  <a:gd name="connsiteY1-170" fmla="*/ 0 h 637448"/>
                  <a:gd name="connsiteX2-171" fmla="*/ 305833 w 484632"/>
                  <a:gd name="connsiteY2-172" fmla="*/ 10860 h 637448"/>
                  <a:gd name="connsiteX3-173" fmla="*/ 337423 w 484632"/>
                  <a:gd name="connsiteY3-174" fmla="*/ 120650 h 637448"/>
                  <a:gd name="connsiteX4-175" fmla="*/ 363474 w 484632"/>
                  <a:gd name="connsiteY4-176" fmla="*/ 395132 h 637448"/>
                  <a:gd name="connsiteX5-177" fmla="*/ 484632 w 484632"/>
                  <a:gd name="connsiteY5-178" fmla="*/ 395132 h 637448"/>
                  <a:gd name="connsiteX6-179" fmla="*/ 242316 w 484632"/>
                  <a:gd name="connsiteY6-180" fmla="*/ 637448 h 637448"/>
                  <a:gd name="connsiteX7-181" fmla="*/ 0 w 484632"/>
                  <a:gd name="connsiteY7-182" fmla="*/ 395132 h 637448"/>
                  <a:gd name="connsiteX8-183" fmla="*/ 121158 w 484632"/>
                  <a:gd name="connsiteY8-184" fmla="*/ 395132 h 637448"/>
                  <a:gd name="connsiteX9-185" fmla="*/ 121523 w 484632"/>
                  <a:gd name="connsiteY9-186" fmla="*/ 165100 h 637448"/>
                  <a:gd name="connsiteX10-187" fmla="*/ 106091 w 484632"/>
                  <a:gd name="connsiteY10-188" fmla="*/ 62893 h 637448"/>
                  <a:gd name="connsiteX11-189" fmla="*/ 87784 w 484632"/>
                  <a:gd name="connsiteY11-190" fmla="*/ 6350 h 637448"/>
                  <a:gd name="connsiteX0-191" fmla="*/ 87784 w 484632"/>
                  <a:gd name="connsiteY0-192" fmla="*/ 6350 h 637448"/>
                  <a:gd name="connsiteX1-193" fmla="*/ 273387 w 484632"/>
                  <a:gd name="connsiteY1-194" fmla="*/ 0 h 637448"/>
                  <a:gd name="connsiteX2-195" fmla="*/ 337583 w 484632"/>
                  <a:gd name="connsiteY2-196" fmla="*/ 10860 h 637448"/>
                  <a:gd name="connsiteX3-197" fmla="*/ 337423 w 484632"/>
                  <a:gd name="connsiteY3-198" fmla="*/ 120650 h 637448"/>
                  <a:gd name="connsiteX4-199" fmla="*/ 363474 w 484632"/>
                  <a:gd name="connsiteY4-200" fmla="*/ 395132 h 637448"/>
                  <a:gd name="connsiteX5-201" fmla="*/ 484632 w 484632"/>
                  <a:gd name="connsiteY5-202" fmla="*/ 395132 h 637448"/>
                  <a:gd name="connsiteX6-203" fmla="*/ 242316 w 484632"/>
                  <a:gd name="connsiteY6-204" fmla="*/ 637448 h 637448"/>
                  <a:gd name="connsiteX7-205" fmla="*/ 0 w 484632"/>
                  <a:gd name="connsiteY7-206" fmla="*/ 395132 h 637448"/>
                  <a:gd name="connsiteX8-207" fmla="*/ 121158 w 484632"/>
                  <a:gd name="connsiteY8-208" fmla="*/ 395132 h 637448"/>
                  <a:gd name="connsiteX9-209" fmla="*/ 121523 w 484632"/>
                  <a:gd name="connsiteY9-210" fmla="*/ 165100 h 637448"/>
                  <a:gd name="connsiteX10-211" fmla="*/ 106091 w 484632"/>
                  <a:gd name="connsiteY10-212" fmla="*/ 62893 h 637448"/>
                  <a:gd name="connsiteX11-213" fmla="*/ 87784 w 484632"/>
                  <a:gd name="connsiteY11-214" fmla="*/ 6350 h 637448"/>
                  <a:gd name="connsiteX0-215" fmla="*/ 87784 w 484632"/>
                  <a:gd name="connsiteY0-216" fmla="*/ 6350 h 637448"/>
                  <a:gd name="connsiteX1-217" fmla="*/ 273387 w 484632"/>
                  <a:gd name="connsiteY1-218" fmla="*/ 0 h 637448"/>
                  <a:gd name="connsiteX2-219" fmla="*/ 305833 w 484632"/>
                  <a:gd name="connsiteY2-220" fmla="*/ 23560 h 637448"/>
                  <a:gd name="connsiteX3-221" fmla="*/ 337423 w 484632"/>
                  <a:gd name="connsiteY3-222" fmla="*/ 120650 h 637448"/>
                  <a:gd name="connsiteX4-223" fmla="*/ 363474 w 484632"/>
                  <a:gd name="connsiteY4-224" fmla="*/ 395132 h 637448"/>
                  <a:gd name="connsiteX5-225" fmla="*/ 484632 w 484632"/>
                  <a:gd name="connsiteY5-226" fmla="*/ 395132 h 637448"/>
                  <a:gd name="connsiteX6-227" fmla="*/ 242316 w 484632"/>
                  <a:gd name="connsiteY6-228" fmla="*/ 637448 h 637448"/>
                  <a:gd name="connsiteX7-229" fmla="*/ 0 w 484632"/>
                  <a:gd name="connsiteY7-230" fmla="*/ 395132 h 637448"/>
                  <a:gd name="connsiteX8-231" fmla="*/ 121158 w 484632"/>
                  <a:gd name="connsiteY8-232" fmla="*/ 395132 h 637448"/>
                  <a:gd name="connsiteX9-233" fmla="*/ 121523 w 484632"/>
                  <a:gd name="connsiteY9-234" fmla="*/ 165100 h 637448"/>
                  <a:gd name="connsiteX10-235" fmla="*/ 106091 w 484632"/>
                  <a:gd name="connsiteY10-236" fmla="*/ 62893 h 637448"/>
                  <a:gd name="connsiteX11-237" fmla="*/ 87784 w 484632"/>
                  <a:gd name="connsiteY11-238" fmla="*/ 6350 h 637448"/>
                  <a:gd name="connsiteX0-239" fmla="*/ 87784 w 484632"/>
                  <a:gd name="connsiteY0-240" fmla="*/ 6350 h 637448"/>
                  <a:gd name="connsiteX1-241" fmla="*/ 273387 w 484632"/>
                  <a:gd name="connsiteY1-242" fmla="*/ 0 h 637448"/>
                  <a:gd name="connsiteX2-243" fmla="*/ 305833 w 484632"/>
                  <a:gd name="connsiteY2-244" fmla="*/ 23560 h 637448"/>
                  <a:gd name="connsiteX3-245" fmla="*/ 337423 w 484632"/>
                  <a:gd name="connsiteY3-246" fmla="*/ 120650 h 637448"/>
                  <a:gd name="connsiteX4-247" fmla="*/ 350123 w 484632"/>
                  <a:gd name="connsiteY4-248" fmla="*/ 292100 h 637448"/>
                  <a:gd name="connsiteX5-249" fmla="*/ 363474 w 484632"/>
                  <a:gd name="connsiteY5-250" fmla="*/ 395132 h 637448"/>
                  <a:gd name="connsiteX6-251" fmla="*/ 484632 w 484632"/>
                  <a:gd name="connsiteY6-252" fmla="*/ 395132 h 637448"/>
                  <a:gd name="connsiteX7-253" fmla="*/ 242316 w 484632"/>
                  <a:gd name="connsiteY7-254" fmla="*/ 637448 h 637448"/>
                  <a:gd name="connsiteX8-255" fmla="*/ 0 w 484632"/>
                  <a:gd name="connsiteY8-256" fmla="*/ 395132 h 637448"/>
                  <a:gd name="connsiteX9-257" fmla="*/ 121158 w 484632"/>
                  <a:gd name="connsiteY9-258" fmla="*/ 395132 h 637448"/>
                  <a:gd name="connsiteX10-259" fmla="*/ 121523 w 484632"/>
                  <a:gd name="connsiteY10-260" fmla="*/ 165100 h 637448"/>
                  <a:gd name="connsiteX11-261" fmla="*/ 106091 w 484632"/>
                  <a:gd name="connsiteY11-262" fmla="*/ 62893 h 637448"/>
                  <a:gd name="connsiteX12" fmla="*/ 87784 w 484632"/>
                  <a:gd name="connsiteY12" fmla="*/ 6350 h 637448"/>
                  <a:gd name="connsiteX0-263" fmla="*/ 87784 w 484632"/>
                  <a:gd name="connsiteY0-264" fmla="*/ 6350 h 637448"/>
                  <a:gd name="connsiteX1-265" fmla="*/ 273387 w 484632"/>
                  <a:gd name="connsiteY1-266" fmla="*/ 0 h 637448"/>
                  <a:gd name="connsiteX2-267" fmla="*/ 305833 w 484632"/>
                  <a:gd name="connsiteY2-268" fmla="*/ 23560 h 637448"/>
                  <a:gd name="connsiteX3-269" fmla="*/ 337423 w 484632"/>
                  <a:gd name="connsiteY3-270" fmla="*/ 120650 h 637448"/>
                  <a:gd name="connsiteX4-271" fmla="*/ 350123 w 484632"/>
                  <a:gd name="connsiteY4-272" fmla="*/ 292100 h 637448"/>
                  <a:gd name="connsiteX5-273" fmla="*/ 363474 w 484632"/>
                  <a:gd name="connsiteY5-274" fmla="*/ 395132 h 637448"/>
                  <a:gd name="connsiteX6-275" fmla="*/ 484632 w 484632"/>
                  <a:gd name="connsiteY6-276" fmla="*/ 395132 h 637448"/>
                  <a:gd name="connsiteX7-277" fmla="*/ 242316 w 484632"/>
                  <a:gd name="connsiteY7-278" fmla="*/ 637448 h 637448"/>
                  <a:gd name="connsiteX8-279" fmla="*/ 0 w 484632"/>
                  <a:gd name="connsiteY8-280" fmla="*/ 395132 h 637448"/>
                  <a:gd name="connsiteX9-281" fmla="*/ 121158 w 484632"/>
                  <a:gd name="connsiteY9-282" fmla="*/ 395132 h 637448"/>
                  <a:gd name="connsiteX10-283" fmla="*/ 128666 w 484632"/>
                  <a:gd name="connsiteY10-284" fmla="*/ 165100 h 637448"/>
                  <a:gd name="connsiteX11-285" fmla="*/ 106091 w 484632"/>
                  <a:gd name="connsiteY11-286" fmla="*/ 62893 h 637448"/>
                  <a:gd name="connsiteX12-287" fmla="*/ 87784 w 484632"/>
                  <a:gd name="connsiteY12-288" fmla="*/ 6350 h 637448"/>
                  <a:gd name="connsiteX0-289" fmla="*/ 87784 w 484632"/>
                  <a:gd name="connsiteY0-290" fmla="*/ 6350 h 637448"/>
                  <a:gd name="connsiteX1-291" fmla="*/ 273387 w 484632"/>
                  <a:gd name="connsiteY1-292" fmla="*/ 0 h 637448"/>
                  <a:gd name="connsiteX2-293" fmla="*/ 305833 w 484632"/>
                  <a:gd name="connsiteY2-294" fmla="*/ 23560 h 637448"/>
                  <a:gd name="connsiteX3-295" fmla="*/ 337423 w 484632"/>
                  <a:gd name="connsiteY3-296" fmla="*/ 120650 h 637448"/>
                  <a:gd name="connsiteX4-297" fmla="*/ 350123 w 484632"/>
                  <a:gd name="connsiteY4-298" fmla="*/ 292100 h 637448"/>
                  <a:gd name="connsiteX5-299" fmla="*/ 363474 w 484632"/>
                  <a:gd name="connsiteY5-300" fmla="*/ 395132 h 637448"/>
                  <a:gd name="connsiteX6-301" fmla="*/ 484632 w 484632"/>
                  <a:gd name="connsiteY6-302" fmla="*/ 395132 h 637448"/>
                  <a:gd name="connsiteX7-303" fmla="*/ 242316 w 484632"/>
                  <a:gd name="connsiteY7-304" fmla="*/ 637448 h 637448"/>
                  <a:gd name="connsiteX8-305" fmla="*/ 0 w 484632"/>
                  <a:gd name="connsiteY8-306" fmla="*/ 395132 h 637448"/>
                  <a:gd name="connsiteX9-307" fmla="*/ 121158 w 484632"/>
                  <a:gd name="connsiteY9-308" fmla="*/ 395132 h 637448"/>
                  <a:gd name="connsiteX10-309" fmla="*/ 128666 w 484632"/>
                  <a:gd name="connsiteY10-310" fmla="*/ 165100 h 637448"/>
                  <a:gd name="connsiteX11-311" fmla="*/ 106091 w 484632"/>
                  <a:gd name="connsiteY11-312" fmla="*/ 62893 h 637448"/>
                  <a:gd name="connsiteX12-313" fmla="*/ 87784 w 484632"/>
                  <a:gd name="connsiteY12-314" fmla="*/ 6350 h 637448"/>
                  <a:gd name="connsiteX0-315" fmla="*/ 87784 w 484632"/>
                  <a:gd name="connsiteY0-316" fmla="*/ 6350 h 637448"/>
                  <a:gd name="connsiteX1-317" fmla="*/ 273387 w 484632"/>
                  <a:gd name="connsiteY1-318" fmla="*/ 0 h 637448"/>
                  <a:gd name="connsiteX2-319" fmla="*/ 305833 w 484632"/>
                  <a:gd name="connsiteY2-320" fmla="*/ 23560 h 637448"/>
                  <a:gd name="connsiteX3-321" fmla="*/ 337423 w 484632"/>
                  <a:gd name="connsiteY3-322" fmla="*/ 120650 h 637448"/>
                  <a:gd name="connsiteX4-323" fmla="*/ 350123 w 484632"/>
                  <a:gd name="connsiteY4-324" fmla="*/ 292100 h 637448"/>
                  <a:gd name="connsiteX5-325" fmla="*/ 363474 w 484632"/>
                  <a:gd name="connsiteY5-326" fmla="*/ 395132 h 637448"/>
                  <a:gd name="connsiteX6-327" fmla="*/ 484632 w 484632"/>
                  <a:gd name="connsiteY6-328" fmla="*/ 395132 h 637448"/>
                  <a:gd name="connsiteX7-329" fmla="*/ 242316 w 484632"/>
                  <a:gd name="connsiteY7-330" fmla="*/ 637448 h 637448"/>
                  <a:gd name="connsiteX8-331" fmla="*/ 0 w 484632"/>
                  <a:gd name="connsiteY8-332" fmla="*/ 395132 h 637448"/>
                  <a:gd name="connsiteX9-333" fmla="*/ 121158 w 484632"/>
                  <a:gd name="connsiteY9-334" fmla="*/ 395132 h 637448"/>
                  <a:gd name="connsiteX10-335" fmla="*/ 128666 w 484632"/>
                  <a:gd name="connsiteY10-336" fmla="*/ 165100 h 637448"/>
                  <a:gd name="connsiteX11-337" fmla="*/ 106091 w 484632"/>
                  <a:gd name="connsiteY11-338" fmla="*/ 62893 h 637448"/>
                  <a:gd name="connsiteX12-339" fmla="*/ 87784 w 484632"/>
                  <a:gd name="connsiteY12-340" fmla="*/ 6350 h 637448"/>
                  <a:gd name="connsiteX0-341" fmla="*/ 87784 w 484632"/>
                  <a:gd name="connsiteY0-342" fmla="*/ 6350 h 637448"/>
                  <a:gd name="connsiteX1-343" fmla="*/ 273387 w 484632"/>
                  <a:gd name="connsiteY1-344" fmla="*/ 0 h 637448"/>
                  <a:gd name="connsiteX2-345" fmla="*/ 305833 w 484632"/>
                  <a:gd name="connsiteY2-346" fmla="*/ 23560 h 637448"/>
                  <a:gd name="connsiteX3-347" fmla="*/ 337423 w 484632"/>
                  <a:gd name="connsiteY3-348" fmla="*/ 120650 h 637448"/>
                  <a:gd name="connsiteX4-349" fmla="*/ 350123 w 484632"/>
                  <a:gd name="connsiteY4-350" fmla="*/ 292100 h 637448"/>
                  <a:gd name="connsiteX5-351" fmla="*/ 363474 w 484632"/>
                  <a:gd name="connsiteY5-352" fmla="*/ 395132 h 637448"/>
                  <a:gd name="connsiteX6-353" fmla="*/ 484632 w 484632"/>
                  <a:gd name="connsiteY6-354" fmla="*/ 395132 h 637448"/>
                  <a:gd name="connsiteX7-355" fmla="*/ 242316 w 484632"/>
                  <a:gd name="connsiteY7-356" fmla="*/ 637448 h 637448"/>
                  <a:gd name="connsiteX8-357" fmla="*/ 0 w 484632"/>
                  <a:gd name="connsiteY8-358" fmla="*/ 395132 h 637448"/>
                  <a:gd name="connsiteX9-359" fmla="*/ 121158 w 484632"/>
                  <a:gd name="connsiteY9-360" fmla="*/ 395132 h 637448"/>
                  <a:gd name="connsiteX10-361" fmla="*/ 128666 w 484632"/>
                  <a:gd name="connsiteY10-362" fmla="*/ 165100 h 637448"/>
                  <a:gd name="connsiteX11-363" fmla="*/ 106091 w 484632"/>
                  <a:gd name="connsiteY11-364" fmla="*/ 62893 h 637448"/>
                  <a:gd name="connsiteX12-365" fmla="*/ 87784 w 484632"/>
                  <a:gd name="connsiteY12-366" fmla="*/ 6350 h 637448"/>
                  <a:gd name="connsiteX0-367" fmla="*/ 87784 w 484632"/>
                  <a:gd name="connsiteY0-368" fmla="*/ 6350 h 637448"/>
                  <a:gd name="connsiteX1-369" fmla="*/ 273387 w 484632"/>
                  <a:gd name="connsiteY1-370" fmla="*/ 0 h 637448"/>
                  <a:gd name="connsiteX2-371" fmla="*/ 305833 w 484632"/>
                  <a:gd name="connsiteY2-372" fmla="*/ 23560 h 637448"/>
                  <a:gd name="connsiteX3-373" fmla="*/ 337423 w 484632"/>
                  <a:gd name="connsiteY3-374" fmla="*/ 120650 h 637448"/>
                  <a:gd name="connsiteX4-375" fmla="*/ 350123 w 484632"/>
                  <a:gd name="connsiteY4-376" fmla="*/ 292100 h 637448"/>
                  <a:gd name="connsiteX5-377" fmla="*/ 363474 w 484632"/>
                  <a:gd name="connsiteY5-378" fmla="*/ 395132 h 637448"/>
                  <a:gd name="connsiteX6-379" fmla="*/ 484632 w 484632"/>
                  <a:gd name="connsiteY6-380" fmla="*/ 395132 h 637448"/>
                  <a:gd name="connsiteX7-381" fmla="*/ 242316 w 484632"/>
                  <a:gd name="connsiteY7-382" fmla="*/ 637448 h 637448"/>
                  <a:gd name="connsiteX8-383" fmla="*/ 0 w 484632"/>
                  <a:gd name="connsiteY8-384" fmla="*/ 395132 h 637448"/>
                  <a:gd name="connsiteX9-385" fmla="*/ 121158 w 484632"/>
                  <a:gd name="connsiteY9-386" fmla="*/ 395132 h 637448"/>
                  <a:gd name="connsiteX10-387" fmla="*/ 128666 w 484632"/>
                  <a:gd name="connsiteY10-388" fmla="*/ 165100 h 637448"/>
                  <a:gd name="connsiteX11-389" fmla="*/ 106091 w 484632"/>
                  <a:gd name="connsiteY11-390" fmla="*/ 62893 h 637448"/>
                  <a:gd name="connsiteX12-391" fmla="*/ 87784 w 484632"/>
                  <a:gd name="connsiteY12-392" fmla="*/ 6350 h 637448"/>
                  <a:gd name="connsiteX0-393" fmla="*/ 87784 w 484632"/>
                  <a:gd name="connsiteY0-394" fmla="*/ 6350 h 637448"/>
                  <a:gd name="connsiteX1-395" fmla="*/ 273387 w 484632"/>
                  <a:gd name="connsiteY1-396" fmla="*/ 0 h 637448"/>
                  <a:gd name="connsiteX2-397" fmla="*/ 305833 w 484632"/>
                  <a:gd name="connsiteY2-398" fmla="*/ 23560 h 637448"/>
                  <a:gd name="connsiteX3-399" fmla="*/ 337423 w 484632"/>
                  <a:gd name="connsiteY3-400" fmla="*/ 120650 h 637448"/>
                  <a:gd name="connsiteX4-401" fmla="*/ 350123 w 484632"/>
                  <a:gd name="connsiteY4-402" fmla="*/ 292100 h 637448"/>
                  <a:gd name="connsiteX5-403" fmla="*/ 363474 w 484632"/>
                  <a:gd name="connsiteY5-404" fmla="*/ 395132 h 637448"/>
                  <a:gd name="connsiteX6-405" fmla="*/ 484632 w 484632"/>
                  <a:gd name="connsiteY6-406" fmla="*/ 395132 h 637448"/>
                  <a:gd name="connsiteX7-407" fmla="*/ 242316 w 484632"/>
                  <a:gd name="connsiteY7-408" fmla="*/ 637448 h 637448"/>
                  <a:gd name="connsiteX8-409" fmla="*/ 0 w 484632"/>
                  <a:gd name="connsiteY8-410" fmla="*/ 395132 h 637448"/>
                  <a:gd name="connsiteX9-411" fmla="*/ 121158 w 484632"/>
                  <a:gd name="connsiteY9-412" fmla="*/ 395132 h 637448"/>
                  <a:gd name="connsiteX10-413" fmla="*/ 128666 w 484632"/>
                  <a:gd name="connsiteY10-414" fmla="*/ 165100 h 637448"/>
                  <a:gd name="connsiteX11-415" fmla="*/ 106091 w 484632"/>
                  <a:gd name="connsiteY11-416" fmla="*/ 62893 h 637448"/>
                  <a:gd name="connsiteX12-417" fmla="*/ 87784 w 484632"/>
                  <a:gd name="connsiteY12-418" fmla="*/ 6350 h 637448"/>
                </a:gdLst>
                <a:ahLst/>
                <a:cxnLst>
                  <a:cxn ang="0">
                    <a:pos x="connsiteX0-393" y="connsiteY0-394"/>
                  </a:cxn>
                  <a:cxn ang="0">
                    <a:pos x="connsiteX1-395" y="connsiteY1-396"/>
                  </a:cxn>
                  <a:cxn ang="0">
                    <a:pos x="connsiteX2-397" y="connsiteY2-398"/>
                  </a:cxn>
                  <a:cxn ang="0">
                    <a:pos x="connsiteX3-399" y="connsiteY3-400"/>
                  </a:cxn>
                  <a:cxn ang="0">
                    <a:pos x="connsiteX4-401" y="connsiteY4-402"/>
                  </a:cxn>
                  <a:cxn ang="0">
                    <a:pos x="connsiteX5-403" y="connsiteY5-404"/>
                  </a:cxn>
                  <a:cxn ang="0">
                    <a:pos x="connsiteX6-405" y="connsiteY6-406"/>
                  </a:cxn>
                  <a:cxn ang="0">
                    <a:pos x="connsiteX7-407" y="connsiteY7-408"/>
                  </a:cxn>
                  <a:cxn ang="0">
                    <a:pos x="connsiteX8-409" y="connsiteY8-410"/>
                  </a:cxn>
                  <a:cxn ang="0">
                    <a:pos x="connsiteX9-411" y="connsiteY9-412"/>
                  </a:cxn>
                  <a:cxn ang="0">
                    <a:pos x="connsiteX10-413" y="connsiteY10-414"/>
                  </a:cxn>
                  <a:cxn ang="0">
                    <a:pos x="connsiteX11-415" y="connsiteY11-416"/>
                  </a:cxn>
                  <a:cxn ang="0">
                    <a:pos x="connsiteX12-417" y="connsiteY12-418"/>
                  </a:cxn>
                </a:cxnLst>
                <a:rect l="l" t="t" r="r" b="b"/>
                <a:pathLst>
                  <a:path w="484632" h="637448">
                    <a:moveTo>
                      <a:pt x="87784" y="6350"/>
                    </a:moveTo>
                    <a:lnTo>
                      <a:pt x="273387" y="0"/>
                    </a:lnTo>
                    <a:lnTo>
                      <a:pt x="305833" y="23560"/>
                    </a:lnTo>
                    <a:cubicBezTo>
                      <a:pt x="320733" y="62310"/>
                      <a:pt x="327369" y="91832"/>
                      <a:pt x="337423" y="120650"/>
                    </a:cubicBezTo>
                    <a:cubicBezTo>
                      <a:pt x="343746" y="167523"/>
                      <a:pt x="345781" y="246353"/>
                      <a:pt x="350123" y="292100"/>
                    </a:cubicBezTo>
                    <a:cubicBezTo>
                      <a:pt x="354465" y="337847"/>
                      <a:pt x="339997" y="380077"/>
                      <a:pt x="363474" y="395132"/>
                    </a:cubicBezTo>
                    <a:lnTo>
                      <a:pt x="484632" y="395132"/>
                    </a:lnTo>
                    <a:lnTo>
                      <a:pt x="242316" y="637448"/>
                    </a:lnTo>
                    <a:lnTo>
                      <a:pt x="0" y="395132"/>
                    </a:lnTo>
                    <a:lnTo>
                      <a:pt x="121158" y="395132"/>
                    </a:lnTo>
                    <a:cubicBezTo>
                      <a:pt x="130828" y="357852"/>
                      <a:pt x="141570" y="242067"/>
                      <a:pt x="128666" y="165100"/>
                    </a:cubicBezTo>
                    <a:cubicBezTo>
                      <a:pt x="118643" y="119472"/>
                      <a:pt x="112573" y="101136"/>
                      <a:pt x="106091" y="62893"/>
                    </a:cubicBezTo>
                    <a:lnTo>
                      <a:pt x="87784" y="6350"/>
                    </a:lnTo>
                    <a:close/>
                  </a:path>
                </a:pathLst>
              </a:custGeom>
              <a:solidFill>
                <a:srgbClr val="0FA1AB"/>
              </a:soli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sp>
            <p:nvSpPr>
              <p:cNvPr id="35" name="任意多边形 34"/>
              <p:cNvSpPr/>
              <p:nvPr>
                <p:custDataLst>
                  <p:tags r:id="rId9"/>
                </p:custDataLst>
              </p:nvPr>
            </p:nvSpPr>
            <p:spPr>
              <a:xfrm>
                <a:off x="7269877" y="3048000"/>
                <a:ext cx="249630" cy="637448"/>
              </a:xfrm>
              <a:custGeom>
                <a:avLst/>
                <a:gdLst>
                  <a:gd name="connsiteX0" fmla="*/ 17934 w 249630"/>
                  <a:gd name="connsiteY0" fmla="*/ 0 h 637448"/>
                  <a:gd name="connsiteX1" fmla="*/ 125448 w 249630"/>
                  <a:gd name="connsiteY1" fmla="*/ 0 h 637448"/>
                  <a:gd name="connsiteX2" fmla="*/ 153677 w 249630"/>
                  <a:gd name="connsiteY2" fmla="*/ 56382 h 637448"/>
                  <a:gd name="connsiteX3" fmla="*/ 244011 w 249630"/>
                  <a:gd name="connsiteY3" fmla="*/ 628536 h 637448"/>
                  <a:gd name="connsiteX4" fmla="*/ 242721 w 249630"/>
                  <a:gd name="connsiteY4" fmla="*/ 637044 h 637448"/>
                  <a:gd name="connsiteX5" fmla="*/ 242316 w 249630"/>
                  <a:gd name="connsiteY5" fmla="*/ 637448 h 637448"/>
                  <a:gd name="connsiteX6" fmla="*/ 0 w 249630"/>
                  <a:gd name="connsiteY6" fmla="*/ 395132 h 637448"/>
                  <a:gd name="connsiteX7" fmla="*/ 121158 w 249630"/>
                  <a:gd name="connsiteY7" fmla="*/ 395132 h 637448"/>
                  <a:gd name="connsiteX8" fmla="*/ 89773 w 249630"/>
                  <a:gd name="connsiteY8" fmla="*/ 171450 h 637448"/>
                  <a:gd name="connsiteX9" fmla="*/ 48941 w 249630"/>
                  <a:gd name="connsiteY9" fmla="*/ 69243 h 6374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9630" h="637448">
                    <a:moveTo>
                      <a:pt x="17934" y="0"/>
                    </a:moveTo>
                    <a:lnTo>
                      <a:pt x="125448" y="0"/>
                    </a:lnTo>
                    <a:lnTo>
                      <a:pt x="153677" y="56382"/>
                    </a:lnTo>
                    <a:cubicBezTo>
                      <a:pt x="232580" y="236753"/>
                      <a:pt x="263370" y="433895"/>
                      <a:pt x="244011" y="628536"/>
                    </a:cubicBezTo>
                    <a:lnTo>
                      <a:pt x="242721" y="637044"/>
                    </a:lnTo>
                    <a:lnTo>
                      <a:pt x="242316" y="637448"/>
                    </a:lnTo>
                    <a:lnTo>
                      <a:pt x="0" y="395132"/>
                    </a:lnTo>
                    <a:lnTo>
                      <a:pt x="121158" y="395132"/>
                    </a:lnTo>
                    <a:cubicBezTo>
                      <a:pt x="130828" y="357852"/>
                      <a:pt x="109821" y="243655"/>
                      <a:pt x="89773" y="171450"/>
                    </a:cubicBezTo>
                    <a:cubicBezTo>
                      <a:pt x="79750" y="135348"/>
                      <a:pt x="64948" y="102723"/>
                      <a:pt x="48941" y="69243"/>
                    </a:cubicBezTo>
                    <a:close/>
                  </a:path>
                </a:pathLst>
              </a:custGeom>
              <a:gradFill>
                <a:gsLst>
                  <a:gs pos="61000">
                    <a:srgbClr val="0FA1AB">
                      <a:lumMod val="75000"/>
                    </a:srgbClr>
                  </a:gs>
                  <a:gs pos="29000">
                    <a:srgbClr val="0FA1AB">
                      <a:lumMod val="75000"/>
                      <a:alpha val="22000"/>
                    </a:srgbClr>
                  </a:gs>
                  <a:gs pos="0">
                    <a:srgbClr val="0FA1AB">
                      <a:lumMod val="75000"/>
                      <a:alpha val="0"/>
                    </a:srgbClr>
                  </a:gs>
                  <a:gs pos="100000">
                    <a:srgbClr val="0FA1AB">
                      <a:lumMod val="75000"/>
                    </a:srgbClr>
                  </a:gs>
                </a:gsLst>
                <a:lin ang="5400000" scaled="1"/>
              </a:gradFill>
              <a:ln>
                <a:noFill/>
              </a:ln>
            </p:spPr>
            <p:style>
              <a:lnRef idx="2">
                <a:srgbClr val="0FA1AB">
                  <a:shade val="50000"/>
                </a:srgbClr>
              </a:lnRef>
              <a:fillRef idx="1">
                <a:srgbClr val="0FA1AB"/>
              </a:fillRef>
              <a:effectRef idx="0">
                <a:srgbClr val="0FA1AB"/>
              </a:effectRef>
              <a:fontRef idx="minor">
                <a:srgbClr val="FFFFFF"/>
              </a:fontRef>
            </p:style>
            <p:txBody>
              <a:bodyPr rtlCol="0" anchor="ctr">
                <a:normAutofit/>
              </a:bodyPr>
              <a:lstStyle/>
              <a:p>
                <a:pPr algn="ctr"/>
                <a:endParaRPr lang="zh-CN" altLang="en-US">
                  <a:sym typeface="Arial" panose="020B0604020202020204" pitchFamily="34" charset="0"/>
                </a:endParaRPr>
              </a:p>
            </p:txBody>
          </p:sp>
        </p:grpSp>
      </p:grpSp>
      <p:sp>
        <p:nvSpPr>
          <p:cNvPr id="36" name="文本框 35"/>
          <p:cNvSpPr txBox="1"/>
          <p:nvPr>
            <p:custDataLst>
              <p:tags r:id="rId3"/>
            </p:custDataLst>
          </p:nvPr>
        </p:nvSpPr>
        <p:spPr>
          <a:xfrm>
            <a:off x="801693" y="3684071"/>
            <a:ext cx="3236595" cy="1100455"/>
          </a:xfrm>
          <a:prstGeom prst="rect">
            <a:avLst/>
          </a:prstGeom>
          <a:noFill/>
        </p:spPr>
        <p:txBody>
          <a:bodyPr wrap="square" rtlCol="0">
            <a:normAutofit/>
          </a:bodyPr>
          <a:lstStyle/>
          <a:p>
            <a:pPr algn="just" eaLnBrk="1" hangingPunct="1">
              <a:lnSpc>
                <a:spcPct val="120000"/>
              </a:lnSpc>
              <a:spcBef>
                <a:spcPts val="0"/>
              </a:spcBef>
              <a:spcAft>
                <a:spcPts val="0"/>
              </a:spcAft>
              <a:defRPr/>
            </a:pPr>
            <a:r>
              <a:rPr lang="en-US" altLang="zh-CN" dirty="0">
                <a:latin typeface="微软雅黑" panose="020B0503020204020204" charset="-122"/>
                <a:ea typeface="微软雅黑" panose="020B0503020204020204" charset="-122"/>
                <a:sym typeface="+mn-ea"/>
              </a:rPr>
              <a:t>1) </a:t>
            </a:r>
            <a:r>
              <a:rPr lang="en-US" altLang="zh-CN" dirty="0" err="1">
                <a:latin typeface="微软雅黑" panose="020B0503020204020204" charset="-122"/>
                <a:ea typeface="微软雅黑" panose="020B0503020204020204" charset="-122"/>
                <a:sym typeface="+mn-ea"/>
              </a:rPr>
              <a:t>结构化程序设计采用自顶向下、逐步求精的程序设计方法</a:t>
            </a:r>
            <a:r>
              <a:rPr lang="en-US" altLang="zh-CN" dirty="0">
                <a:latin typeface="微软雅黑" panose="020B0503020204020204" charset="-122"/>
                <a:ea typeface="微软雅黑" panose="020B0503020204020204" charset="-122"/>
                <a:sym typeface="+mn-ea"/>
              </a:rPr>
              <a:t>。</a:t>
            </a:r>
            <a:endParaRPr lang="en-US" altLang="zh-CN" dirty="0">
              <a:latin typeface="微软雅黑" panose="020B0503020204020204" charset="-122"/>
              <a:ea typeface="微软雅黑" panose="020B0503020204020204" charset="-122"/>
              <a:sym typeface="Arial" panose="020B0604020202020204" pitchFamily="34" charset="0"/>
            </a:endParaRPr>
          </a:p>
        </p:txBody>
      </p:sp>
      <p:sp>
        <p:nvSpPr>
          <p:cNvPr id="37" name="文本框 36"/>
          <p:cNvSpPr txBox="1"/>
          <p:nvPr>
            <p:custDataLst>
              <p:tags r:id="rId4"/>
            </p:custDataLst>
          </p:nvPr>
        </p:nvSpPr>
        <p:spPr>
          <a:xfrm>
            <a:off x="7350077" y="2402281"/>
            <a:ext cx="3658235" cy="1331595"/>
          </a:xfrm>
          <a:prstGeom prst="rect">
            <a:avLst/>
          </a:prstGeom>
          <a:noFill/>
        </p:spPr>
        <p:txBody>
          <a:bodyPr wrap="square" rtlCol="0">
            <a:normAutofit/>
          </a:bodyPr>
          <a:lstStyle/>
          <a:p>
            <a:pPr algn="just" eaLnBrk="1" hangingPunct="1">
              <a:lnSpc>
                <a:spcPct val="120000"/>
              </a:lnSpc>
              <a:spcBef>
                <a:spcPts val="0"/>
              </a:spcBef>
              <a:spcAft>
                <a:spcPts val="0"/>
              </a:spcAft>
              <a:defRPr/>
            </a:pPr>
            <a:r>
              <a:rPr lang="en-US" altLang="zh-CN" dirty="0">
                <a:latin typeface="微软雅黑" panose="020B0503020204020204" charset="-122"/>
                <a:ea typeface="微软雅黑" panose="020B0503020204020204" charset="-122"/>
              </a:rPr>
              <a:t>2) </a:t>
            </a:r>
            <a:r>
              <a:rPr lang="en-US" altLang="zh-CN" dirty="0">
                <a:latin typeface="微软雅黑" panose="020B0503020204020204" charset="-122"/>
                <a:ea typeface="微软雅黑" panose="020B0503020204020204" charset="-122"/>
                <a:sym typeface="+mn-ea"/>
              </a:rPr>
              <a:t>结构化程序设计的定义是：只使用顺序、选择和循环3种基本控制结构来构造程序。</a:t>
            </a:r>
            <a:endParaRPr lang="en-US" altLang="zh-CN" dirty="0">
              <a:latin typeface="微软雅黑" panose="020B0503020204020204" charset="-122"/>
              <a:ea typeface="微软雅黑" panose="020B0503020204020204" charset="-122"/>
            </a:endParaRPr>
          </a:p>
        </p:txBody>
      </p:sp>
      <p:sp>
        <p:nvSpPr>
          <p:cNvPr id="38" name="文本框 37"/>
          <p:cNvSpPr txBox="1"/>
          <p:nvPr>
            <p:custDataLst>
              <p:tags r:id="rId5"/>
            </p:custDataLst>
          </p:nvPr>
        </p:nvSpPr>
        <p:spPr>
          <a:xfrm>
            <a:off x="4691380" y="3379470"/>
            <a:ext cx="458470" cy="584835"/>
          </a:xfrm>
          <a:prstGeom prst="rect">
            <a:avLst/>
          </a:prstGeom>
          <a:noFill/>
        </p:spPr>
        <p:txBody>
          <a:bodyPr wrap="none" rtlCol="0">
            <a:normAutofit/>
          </a:bodyPr>
          <a:lstStyle/>
          <a:p>
            <a:r>
              <a:rPr lang="en-US" altLang="zh-CN" sz="3200" smtClean="0">
                <a:solidFill>
                  <a:srgbClr val="FFFFFF"/>
                </a:solidFill>
                <a:sym typeface="Arial" panose="020B0604020202020204" pitchFamily="34" charset="0"/>
              </a:rPr>
              <a:t>A</a:t>
            </a:r>
            <a:endParaRPr lang="zh-CN" altLang="en-US" sz="3200">
              <a:solidFill>
                <a:srgbClr val="FFFFFF"/>
              </a:solidFill>
              <a:sym typeface="Arial" panose="020B0604020202020204" pitchFamily="34" charset="0"/>
            </a:endParaRPr>
          </a:p>
        </p:txBody>
      </p:sp>
      <p:sp>
        <p:nvSpPr>
          <p:cNvPr id="40" name="文本框 39"/>
          <p:cNvSpPr txBox="1"/>
          <p:nvPr>
            <p:custDataLst>
              <p:tags r:id="rId6"/>
            </p:custDataLst>
          </p:nvPr>
        </p:nvSpPr>
        <p:spPr>
          <a:xfrm>
            <a:off x="6076315" y="4211320"/>
            <a:ext cx="481330" cy="584835"/>
          </a:xfrm>
          <a:prstGeom prst="rect">
            <a:avLst/>
          </a:prstGeom>
          <a:noFill/>
        </p:spPr>
        <p:txBody>
          <a:bodyPr wrap="none" rtlCol="0">
            <a:normAutofit/>
          </a:bodyPr>
          <a:lstStyle/>
          <a:p>
            <a:r>
              <a:rPr lang="en-US" altLang="zh-CN" sz="3200" smtClean="0">
                <a:solidFill>
                  <a:srgbClr val="FFFFFF"/>
                </a:solidFill>
                <a:sym typeface="Arial" panose="020B0604020202020204" pitchFamily="34" charset="0"/>
              </a:rPr>
              <a:t>C</a:t>
            </a:r>
            <a:endParaRPr lang="zh-CN" altLang="en-US" sz="3200">
              <a:solidFill>
                <a:srgbClr val="FFFFFF"/>
              </a:solidFill>
              <a:sym typeface="Arial" panose="020B0604020202020204" pitchFamily="34" charset="0"/>
            </a:endParaRPr>
          </a:p>
        </p:txBody>
      </p:sp>
      <p:sp>
        <p:nvSpPr>
          <p:cNvPr id="41" name="文本框 40"/>
          <p:cNvSpPr txBox="1"/>
          <p:nvPr>
            <p:custDataLst>
              <p:tags r:id="rId7"/>
            </p:custDataLst>
          </p:nvPr>
        </p:nvSpPr>
        <p:spPr>
          <a:xfrm>
            <a:off x="6026785" y="2577465"/>
            <a:ext cx="458470" cy="584835"/>
          </a:xfrm>
          <a:prstGeom prst="rect">
            <a:avLst/>
          </a:prstGeom>
          <a:noFill/>
        </p:spPr>
        <p:txBody>
          <a:bodyPr wrap="none" rtlCol="0">
            <a:normAutofit/>
          </a:bodyPr>
          <a:lstStyle/>
          <a:p>
            <a:r>
              <a:rPr lang="en-US" altLang="zh-CN" sz="3200" smtClean="0">
                <a:solidFill>
                  <a:srgbClr val="FFFFFF"/>
                </a:solidFill>
                <a:sym typeface="Arial" panose="020B0604020202020204" pitchFamily="34" charset="0"/>
              </a:rPr>
              <a:t>B</a:t>
            </a:r>
            <a:endParaRPr lang="zh-CN" altLang="en-US" sz="3200">
              <a:solidFill>
                <a:srgbClr val="FFFFFF"/>
              </a:solidFill>
              <a:sym typeface="Arial" panose="020B0604020202020204" pitchFamily="34" charset="0"/>
            </a:endParaRPr>
          </a:p>
        </p:txBody>
      </p:sp>
      <p:sp>
        <p:nvSpPr>
          <p:cNvPr id="24" name="文本框 99"/>
          <p:cNvSpPr txBox="1"/>
          <p:nvPr/>
        </p:nvSpPr>
        <p:spPr>
          <a:xfrm>
            <a:off x="630602" y="1528056"/>
            <a:ext cx="9505950" cy="853567"/>
          </a:xfrm>
          <a:prstGeom prst="rect">
            <a:avLst/>
          </a:prstGeom>
          <a:noFill/>
          <a:ln w="9525">
            <a:noFill/>
          </a:ln>
        </p:spPr>
        <p:txBody>
          <a:bodyPr wrap="square">
            <a:spAutoFit/>
          </a:bodyPr>
          <a:lstStyle/>
          <a:p>
            <a:pPr>
              <a:lnSpc>
                <a:spcPct val="130000"/>
              </a:lnSpc>
            </a:pPr>
            <a:r>
              <a:rPr lang="zh-CN" altLang="en-US" sz="2000" dirty="0" smtClean="0"/>
              <a:t>结构化程序设计（</a:t>
            </a:r>
            <a:r>
              <a:rPr lang="en-US" sz="2000" dirty="0" smtClean="0"/>
              <a:t>Structured Programming</a:t>
            </a:r>
            <a:r>
              <a:rPr lang="zh-CN" altLang="en-US" sz="2000" dirty="0" smtClean="0"/>
              <a:t>，</a:t>
            </a:r>
            <a:r>
              <a:rPr lang="en-US" sz="2000" dirty="0" smtClean="0"/>
              <a:t>SP</a:t>
            </a:r>
            <a:r>
              <a:rPr lang="zh-CN" altLang="en-US" sz="2000" dirty="0" smtClean="0"/>
              <a:t>）有</a:t>
            </a:r>
            <a:r>
              <a:rPr lang="en-US" sz="2000" dirty="0" smtClean="0"/>
              <a:t>3</a:t>
            </a:r>
            <a:r>
              <a:rPr lang="zh-CN" altLang="en-US" sz="2000" dirty="0" smtClean="0"/>
              <a:t>个基本要点。</a:t>
            </a:r>
          </a:p>
          <a:p>
            <a:pPr marL="0" indent="0" algn="l" fontAlgn="auto">
              <a:lnSpc>
                <a:spcPct val="130000"/>
              </a:lnSpc>
            </a:pPr>
            <a:endParaRPr lang="zh-CN" altLang="en-US" sz="2000" dirty="0">
              <a:latin typeface="微软雅黑" panose="020B0503020204020204" charset="-122"/>
              <a:ea typeface="微软雅黑" panose="020B0503020204020204" charset="-122"/>
              <a:sym typeface="+mn-ea"/>
            </a:endParaRPr>
          </a:p>
        </p:txBody>
      </p:sp>
    </p:spTree>
  </p:cSld>
  <p:clrMapOvr>
    <a:masterClrMapping/>
  </p:clrMapOvr>
  <p:transition>
    <p:pull dir="d"/>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4.1.1 </a:t>
            </a:r>
            <a:r>
              <a:rPr lang="zh-CN" altLang="en-US" sz="2400" dirty="0" smtClean="0"/>
              <a:t>程序设计语言的选择</a:t>
            </a:r>
            <a:endParaRPr lang="zh-CN" altLang="en-US" sz="2400" dirty="0" smtClean="0">
              <a:solidFill>
                <a:schemeClr val="tx1"/>
              </a:solidFill>
            </a:endParaRPr>
          </a:p>
        </p:txBody>
      </p:sp>
      <p:grpSp>
        <p:nvGrpSpPr>
          <p:cNvPr id="5" name="组合 4"/>
          <p:cNvGrpSpPr/>
          <p:nvPr/>
        </p:nvGrpSpPr>
        <p:grpSpPr>
          <a:xfrm>
            <a:off x="650240" y="2835158"/>
            <a:ext cx="10728960" cy="3161665"/>
            <a:chOff x="-972" y="3725"/>
            <a:chExt cx="16896" cy="4979"/>
          </a:xfrm>
        </p:grpSpPr>
        <p:sp>
          <p:nvSpPr>
            <p:cNvPr id="17" name="MH_Other_1"/>
            <p:cNvSpPr/>
            <p:nvPr>
              <p:custDataLst>
                <p:tags r:id="rId1"/>
              </p:custDataLst>
            </p:nvPr>
          </p:nvSpPr>
          <p:spPr>
            <a:xfrm>
              <a:off x="-972" y="3725"/>
              <a:ext cx="849" cy="812"/>
            </a:xfrm>
            <a:prstGeom prst="ellipse">
              <a:avLst/>
            </a:prstGeom>
            <a:solidFill>
              <a:schemeClr val="accent5">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en-US" altLang="zh-CN" sz="2000" dirty="0">
                  <a:solidFill>
                    <a:srgbClr val="FFFFFF"/>
                  </a:solidFill>
                  <a:latin typeface="Arial" panose="020B0604020202020204" pitchFamily="34" charset="0"/>
                  <a:cs typeface="Arial" panose="020B0604020202020204" pitchFamily="34" charset="0"/>
                </a:rPr>
                <a:t>1</a:t>
              </a:r>
              <a:endParaRPr lang="zh-CN" altLang="en-US" sz="2000" dirty="0">
                <a:solidFill>
                  <a:srgbClr val="FFFFFF"/>
                </a:solidFill>
                <a:latin typeface="Arial" panose="020B0604020202020204" pitchFamily="34" charset="0"/>
                <a:cs typeface="Arial" panose="020B0604020202020204" pitchFamily="34" charset="0"/>
              </a:endParaRPr>
            </a:p>
          </p:txBody>
        </p:sp>
        <p:sp>
          <p:nvSpPr>
            <p:cNvPr id="18" name="MH_Other_2"/>
            <p:cNvSpPr/>
            <p:nvPr>
              <p:custDataLst>
                <p:tags r:id="rId2"/>
              </p:custDataLst>
            </p:nvPr>
          </p:nvSpPr>
          <p:spPr>
            <a:xfrm>
              <a:off x="15179" y="7894"/>
              <a:ext cx="745" cy="810"/>
            </a:xfrm>
            <a:prstGeom prst="ellipse">
              <a:avLst/>
            </a:prstGeom>
            <a:solidFill>
              <a:schemeClr val="accent6">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en-US" altLang="zh-CN" sz="2000" dirty="0">
                  <a:solidFill>
                    <a:srgbClr val="FFFFFF"/>
                  </a:solidFill>
                  <a:latin typeface="Arial" panose="020B0604020202020204" pitchFamily="34" charset="0"/>
                  <a:cs typeface="Arial" panose="020B0604020202020204" pitchFamily="34" charset="0"/>
                </a:rPr>
                <a:t>2</a:t>
              </a:r>
              <a:endParaRPr lang="zh-CN" altLang="en-US" sz="2000" dirty="0">
                <a:solidFill>
                  <a:srgbClr val="FFFFFF"/>
                </a:solidFill>
                <a:latin typeface="Arial" panose="020B0604020202020204" pitchFamily="34" charset="0"/>
                <a:cs typeface="Arial" panose="020B0604020202020204" pitchFamily="34" charset="0"/>
              </a:endParaRPr>
            </a:p>
          </p:txBody>
        </p:sp>
        <p:sp>
          <p:nvSpPr>
            <p:cNvPr id="19" name="MH_SubTitle_1"/>
            <p:cNvSpPr/>
            <p:nvPr>
              <p:custDataLst>
                <p:tags r:id="rId3"/>
              </p:custDataLst>
            </p:nvPr>
          </p:nvSpPr>
          <p:spPr>
            <a:xfrm>
              <a:off x="5044" y="3869"/>
              <a:ext cx="3322" cy="4725"/>
            </a:xfrm>
            <a:custGeom>
              <a:avLst/>
              <a:gdLst>
                <a:gd name="connsiteX0" fmla="*/ 1265321 w 1906929"/>
                <a:gd name="connsiteY0" fmla="*/ 445512 h 2868483"/>
                <a:gd name="connsiteX1" fmla="*/ 1007156 w 1906929"/>
                <a:gd name="connsiteY1" fmla="*/ 703677 h 2868483"/>
                <a:gd name="connsiteX2" fmla="*/ 1265321 w 1906929"/>
                <a:gd name="connsiteY2" fmla="*/ 961842 h 2868483"/>
                <a:gd name="connsiteX3" fmla="*/ 1523486 w 1906929"/>
                <a:gd name="connsiteY3" fmla="*/ 703677 h 2868483"/>
                <a:gd name="connsiteX4" fmla="*/ 1265321 w 1906929"/>
                <a:gd name="connsiteY4" fmla="*/ 445512 h 2868483"/>
                <a:gd name="connsiteX5" fmla="*/ 1182626 w 1906929"/>
                <a:gd name="connsiteY5" fmla="*/ 0 h 2868483"/>
                <a:gd name="connsiteX6" fmla="*/ 1292282 w 1906929"/>
                <a:gd name="connsiteY6" fmla="*/ 10950 h 2868483"/>
                <a:gd name="connsiteX7" fmla="*/ 1364655 w 1906929"/>
                <a:gd name="connsiteY7" fmla="*/ 28471 h 2868483"/>
                <a:gd name="connsiteX8" fmla="*/ 1704587 w 1906929"/>
                <a:gd name="connsiteY8" fmla="*/ 208061 h 2868483"/>
                <a:gd name="connsiteX9" fmla="*/ 1880036 w 1906929"/>
                <a:gd name="connsiteY9" fmla="*/ 891376 h 2868483"/>
                <a:gd name="connsiteX10" fmla="*/ 1682656 w 1906929"/>
                <a:gd name="connsiteY10" fmla="*/ 1202372 h 2868483"/>
                <a:gd name="connsiteX11" fmla="*/ 1344917 w 1906929"/>
                <a:gd name="connsiteY11" fmla="*/ 1447665 h 2868483"/>
                <a:gd name="connsiteX12" fmla="*/ 1002791 w 1906929"/>
                <a:gd name="connsiteY12" fmla="*/ 1793703 h 2868483"/>
                <a:gd name="connsiteX13" fmla="*/ 926032 w 1906929"/>
                <a:gd name="connsiteY13" fmla="*/ 2054327 h 2868483"/>
                <a:gd name="connsiteX14" fmla="*/ 1276930 w 1906929"/>
                <a:gd name="connsiteY14" fmla="*/ 2744213 h 2868483"/>
                <a:gd name="connsiteX15" fmla="*/ 1432641 w 1906929"/>
                <a:gd name="connsiteY15" fmla="*/ 2818677 h 2868483"/>
                <a:gd name="connsiteX16" fmla="*/ 1594931 w 1906929"/>
                <a:gd name="connsiteY16" fmla="*/ 2853718 h 2868483"/>
                <a:gd name="connsiteX17" fmla="*/ 1597125 w 1906929"/>
                <a:gd name="connsiteY17" fmla="*/ 2858099 h 2868483"/>
                <a:gd name="connsiteX18" fmla="*/ 1149730 w 1906929"/>
                <a:gd name="connsiteY18" fmla="*/ 2836197 h 2868483"/>
                <a:gd name="connsiteX19" fmla="*/ 213270 w 1906929"/>
                <a:gd name="connsiteY19" fmla="*/ 2168213 h 2868483"/>
                <a:gd name="connsiteX20" fmla="*/ 156250 w 1906929"/>
                <a:gd name="connsiteY20" fmla="*/ 2067467 h 2868483"/>
                <a:gd name="connsiteX21" fmla="*/ 132125 w 1906929"/>
                <a:gd name="connsiteY21" fmla="*/ 803772 h 2868483"/>
                <a:gd name="connsiteX22" fmla="*/ 787866 w 1906929"/>
                <a:gd name="connsiteY22" fmla="*/ 113886 h 2868483"/>
                <a:gd name="connsiteX23" fmla="*/ 1059812 w 1906929"/>
                <a:gd name="connsiteY23" fmla="*/ 10950 h 2868483"/>
                <a:gd name="connsiteX24" fmla="*/ 1182626 w 1906929"/>
                <a:gd name="connsiteY24" fmla="*/ 0 h 2868483"/>
                <a:gd name="connsiteX0-1" fmla="*/ 1265321 w 1906929"/>
                <a:gd name="connsiteY0-2" fmla="*/ 445512 h 2868483"/>
                <a:gd name="connsiteX1-3" fmla="*/ 1007156 w 1906929"/>
                <a:gd name="connsiteY1-4" fmla="*/ 703677 h 2868483"/>
                <a:gd name="connsiteX2-5" fmla="*/ 1265321 w 1906929"/>
                <a:gd name="connsiteY2-6" fmla="*/ 961842 h 2868483"/>
                <a:gd name="connsiteX3-7" fmla="*/ 1523486 w 1906929"/>
                <a:gd name="connsiteY3-8" fmla="*/ 703677 h 2868483"/>
                <a:gd name="connsiteX4-9" fmla="*/ 1265321 w 1906929"/>
                <a:gd name="connsiteY4-10" fmla="*/ 445512 h 2868483"/>
                <a:gd name="connsiteX5-11" fmla="*/ 1182626 w 1906929"/>
                <a:gd name="connsiteY5-12" fmla="*/ 0 h 2868483"/>
                <a:gd name="connsiteX6-13" fmla="*/ 1364655 w 1906929"/>
                <a:gd name="connsiteY6-14" fmla="*/ 28471 h 2868483"/>
                <a:gd name="connsiteX7-15" fmla="*/ 1704587 w 1906929"/>
                <a:gd name="connsiteY7-16" fmla="*/ 208061 h 2868483"/>
                <a:gd name="connsiteX8-17" fmla="*/ 1880036 w 1906929"/>
                <a:gd name="connsiteY8-18" fmla="*/ 891376 h 2868483"/>
                <a:gd name="connsiteX9-19" fmla="*/ 1682656 w 1906929"/>
                <a:gd name="connsiteY9-20" fmla="*/ 1202372 h 2868483"/>
                <a:gd name="connsiteX10-21" fmla="*/ 1344917 w 1906929"/>
                <a:gd name="connsiteY10-22" fmla="*/ 1447665 h 2868483"/>
                <a:gd name="connsiteX11-23" fmla="*/ 1002791 w 1906929"/>
                <a:gd name="connsiteY11-24" fmla="*/ 1793703 h 2868483"/>
                <a:gd name="connsiteX12-25" fmla="*/ 926032 w 1906929"/>
                <a:gd name="connsiteY12-26" fmla="*/ 2054327 h 2868483"/>
                <a:gd name="connsiteX13-27" fmla="*/ 1276930 w 1906929"/>
                <a:gd name="connsiteY13-28" fmla="*/ 2744213 h 2868483"/>
                <a:gd name="connsiteX14-29" fmla="*/ 1432641 w 1906929"/>
                <a:gd name="connsiteY14-30" fmla="*/ 2818677 h 2868483"/>
                <a:gd name="connsiteX15-31" fmla="*/ 1594931 w 1906929"/>
                <a:gd name="connsiteY15-32" fmla="*/ 2853718 h 2868483"/>
                <a:gd name="connsiteX16-33" fmla="*/ 1597125 w 1906929"/>
                <a:gd name="connsiteY16-34" fmla="*/ 2858099 h 2868483"/>
                <a:gd name="connsiteX17-35" fmla="*/ 1149730 w 1906929"/>
                <a:gd name="connsiteY17-36" fmla="*/ 2836197 h 2868483"/>
                <a:gd name="connsiteX18-37" fmla="*/ 213270 w 1906929"/>
                <a:gd name="connsiteY18-38" fmla="*/ 2168213 h 2868483"/>
                <a:gd name="connsiteX19-39" fmla="*/ 156250 w 1906929"/>
                <a:gd name="connsiteY19-40" fmla="*/ 2067467 h 2868483"/>
                <a:gd name="connsiteX20-41" fmla="*/ 132125 w 1906929"/>
                <a:gd name="connsiteY20-42" fmla="*/ 803772 h 2868483"/>
                <a:gd name="connsiteX21-43" fmla="*/ 787866 w 1906929"/>
                <a:gd name="connsiteY21-44" fmla="*/ 113886 h 2868483"/>
                <a:gd name="connsiteX22-45" fmla="*/ 1059812 w 1906929"/>
                <a:gd name="connsiteY22-46" fmla="*/ 10950 h 2868483"/>
                <a:gd name="connsiteX23-47" fmla="*/ 1182626 w 1906929"/>
                <a:gd name="connsiteY23-48" fmla="*/ 0 h 2868483"/>
                <a:gd name="connsiteX0-49" fmla="*/ 1265321 w 1906929"/>
                <a:gd name="connsiteY0-50" fmla="*/ 445512 h 2868483"/>
                <a:gd name="connsiteX1-51" fmla="*/ 1007156 w 1906929"/>
                <a:gd name="connsiteY1-52" fmla="*/ 703677 h 2868483"/>
                <a:gd name="connsiteX2-53" fmla="*/ 1265321 w 1906929"/>
                <a:gd name="connsiteY2-54" fmla="*/ 961842 h 2868483"/>
                <a:gd name="connsiteX3-55" fmla="*/ 1523486 w 1906929"/>
                <a:gd name="connsiteY3-56" fmla="*/ 703677 h 2868483"/>
                <a:gd name="connsiteX4-57" fmla="*/ 1265321 w 1906929"/>
                <a:gd name="connsiteY4-58" fmla="*/ 445512 h 2868483"/>
                <a:gd name="connsiteX5-59" fmla="*/ 1182626 w 1906929"/>
                <a:gd name="connsiteY5-60" fmla="*/ 0 h 2868483"/>
                <a:gd name="connsiteX6-61" fmla="*/ 1364655 w 1906929"/>
                <a:gd name="connsiteY6-62" fmla="*/ 28471 h 2868483"/>
                <a:gd name="connsiteX7-63" fmla="*/ 1704587 w 1906929"/>
                <a:gd name="connsiteY7-64" fmla="*/ 208061 h 2868483"/>
                <a:gd name="connsiteX8-65" fmla="*/ 1880036 w 1906929"/>
                <a:gd name="connsiteY8-66" fmla="*/ 891376 h 2868483"/>
                <a:gd name="connsiteX9-67" fmla="*/ 1682656 w 1906929"/>
                <a:gd name="connsiteY9-68" fmla="*/ 1202372 h 2868483"/>
                <a:gd name="connsiteX10-69" fmla="*/ 1344917 w 1906929"/>
                <a:gd name="connsiteY10-70" fmla="*/ 1447665 h 2868483"/>
                <a:gd name="connsiteX11-71" fmla="*/ 1002791 w 1906929"/>
                <a:gd name="connsiteY11-72" fmla="*/ 1793703 h 2868483"/>
                <a:gd name="connsiteX12-73" fmla="*/ 926032 w 1906929"/>
                <a:gd name="connsiteY12-74" fmla="*/ 2054327 h 2868483"/>
                <a:gd name="connsiteX13-75" fmla="*/ 1276930 w 1906929"/>
                <a:gd name="connsiteY13-76" fmla="*/ 2744213 h 2868483"/>
                <a:gd name="connsiteX14-77" fmla="*/ 1432641 w 1906929"/>
                <a:gd name="connsiteY14-78" fmla="*/ 2818677 h 2868483"/>
                <a:gd name="connsiteX15-79" fmla="*/ 1594931 w 1906929"/>
                <a:gd name="connsiteY15-80" fmla="*/ 2853718 h 2868483"/>
                <a:gd name="connsiteX16-81" fmla="*/ 1597125 w 1906929"/>
                <a:gd name="connsiteY16-82" fmla="*/ 2858099 h 2868483"/>
                <a:gd name="connsiteX17-83" fmla="*/ 1149730 w 1906929"/>
                <a:gd name="connsiteY17-84" fmla="*/ 2836197 h 2868483"/>
                <a:gd name="connsiteX18-85" fmla="*/ 213270 w 1906929"/>
                <a:gd name="connsiteY18-86" fmla="*/ 2168213 h 2868483"/>
                <a:gd name="connsiteX19-87" fmla="*/ 156250 w 1906929"/>
                <a:gd name="connsiteY19-88" fmla="*/ 2067467 h 2868483"/>
                <a:gd name="connsiteX20-89" fmla="*/ 132125 w 1906929"/>
                <a:gd name="connsiteY20-90" fmla="*/ 803772 h 2868483"/>
                <a:gd name="connsiteX21-91" fmla="*/ 787866 w 1906929"/>
                <a:gd name="connsiteY21-92" fmla="*/ 113886 h 2868483"/>
                <a:gd name="connsiteX22-93" fmla="*/ 1059812 w 1906929"/>
                <a:gd name="connsiteY22-94" fmla="*/ 10950 h 2868483"/>
                <a:gd name="connsiteX23-95" fmla="*/ 1182626 w 1906929"/>
                <a:gd name="connsiteY23-96" fmla="*/ 0 h 2868483"/>
                <a:gd name="connsiteX0-97" fmla="*/ 1265321 w 1906929"/>
                <a:gd name="connsiteY0-98" fmla="*/ 444012 h 2866983"/>
                <a:gd name="connsiteX1-99" fmla="*/ 1007156 w 1906929"/>
                <a:gd name="connsiteY1-100" fmla="*/ 702177 h 2866983"/>
                <a:gd name="connsiteX2-101" fmla="*/ 1265321 w 1906929"/>
                <a:gd name="connsiteY2-102" fmla="*/ 960342 h 2866983"/>
                <a:gd name="connsiteX3-103" fmla="*/ 1523486 w 1906929"/>
                <a:gd name="connsiteY3-104" fmla="*/ 702177 h 2866983"/>
                <a:gd name="connsiteX4-105" fmla="*/ 1265321 w 1906929"/>
                <a:gd name="connsiteY4-106" fmla="*/ 444012 h 2866983"/>
                <a:gd name="connsiteX5-107" fmla="*/ 1059812 w 1906929"/>
                <a:gd name="connsiteY5-108" fmla="*/ 9450 h 2866983"/>
                <a:gd name="connsiteX6-109" fmla="*/ 1364655 w 1906929"/>
                <a:gd name="connsiteY6-110" fmla="*/ 26971 h 2866983"/>
                <a:gd name="connsiteX7-111" fmla="*/ 1704587 w 1906929"/>
                <a:gd name="connsiteY7-112" fmla="*/ 206561 h 2866983"/>
                <a:gd name="connsiteX8-113" fmla="*/ 1880036 w 1906929"/>
                <a:gd name="connsiteY8-114" fmla="*/ 889876 h 2866983"/>
                <a:gd name="connsiteX9-115" fmla="*/ 1682656 w 1906929"/>
                <a:gd name="connsiteY9-116" fmla="*/ 1200872 h 2866983"/>
                <a:gd name="connsiteX10-117" fmla="*/ 1344917 w 1906929"/>
                <a:gd name="connsiteY10-118" fmla="*/ 1446165 h 2866983"/>
                <a:gd name="connsiteX11-119" fmla="*/ 1002791 w 1906929"/>
                <a:gd name="connsiteY11-120" fmla="*/ 1792203 h 2866983"/>
                <a:gd name="connsiteX12-121" fmla="*/ 926032 w 1906929"/>
                <a:gd name="connsiteY12-122" fmla="*/ 2052827 h 2866983"/>
                <a:gd name="connsiteX13-123" fmla="*/ 1276930 w 1906929"/>
                <a:gd name="connsiteY13-124" fmla="*/ 2742713 h 2866983"/>
                <a:gd name="connsiteX14-125" fmla="*/ 1432641 w 1906929"/>
                <a:gd name="connsiteY14-126" fmla="*/ 2817177 h 2866983"/>
                <a:gd name="connsiteX15-127" fmla="*/ 1594931 w 1906929"/>
                <a:gd name="connsiteY15-128" fmla="*/ 2852218 h 2866983"/>
                <a:gd name="connsiteX16-129" fmla="*/ 1597125 w 1906929"/>
                <a:gd name="connsiteY16-130" fmla="*/ 2856599 h 2866983"/>
                <a:gd name="connsiteX17-131" fmla="*/ 1149730 w 1906929"/>
                <a:gd name="connsiteY17-132" fmla="*/ 2834697 h 2866983"/>
                <a:gd name="connsiteX18-133" fmla="*/ 213270 w 1906929"/>
                <a:gd name="connsiteY18-134" fmla="*/ 2166713 h 2866983"/>
                <a:gd name="connsiteX19-135" fmla="*/ 156250 w 1906929"/>
                <a:gd name="connsiteY19-136" fmla="*/ 2065967 h 2866983"/>
                <a:gd name="connsiteX20-137" fmla="*/ 132125 w 1906929"/>
                <a:gd name="connsiteY20-138" fmla="*/ 802272 h 2866983"/>
                <a:gd name="connsiteX21-139" fmla="*/ 787866 w 1906929"/>
                <a:gd name="connsiteY21-140" fmla="*/ 112386 h 2866983"/>
                <a:gd name="connsiteX22-141" fmla="*/ 1059812 w 1906929"/>
                <a:gd name="connsiteY22-142" fmla="*/ 9450 h 2866983"/>
                <a:gd name="connsiteX0-143" fmla="*/ 1265321 w 1906929"/>
                <a:gd name="connsiteY0-144" fmla="*/ 431003 h 2853974"/>
                <a:gd name="connsiteX1-145" fmla="*/ 1007156 w 1906929"/>
                <a:gd name="connsiteY1-146" fmla="*/ 689168 h 2853974"/>
                <a:gd name="connsiteX2-147" fmla="*/ 1265321 w 1906929"/>
                <a:gd name="connsiteY2-148" fmla="*/ 947333 h 2853974"/>
                <a:gd name="connsiteX3-149" fmla="*/ 1523486 w 1906929"/>
                <a:gd name="connsiteY3-150" fmla="*/ 689168 h 2853974"/>
                <a:gd name="connsiteX4-151" fmla="*/ 1265321 w 1906929"/>
                <a:gd name="connsiteY4-152" fmla="*/ 431003 h 2853974"/>
                <a:gd name="connsiteX5-153" fmla="*/ 787866 w 1906929"/>
                <a:gd name="connsiteY5-154" fmla="*/ 99377 h 2853974"/>
                <a:gd name="connsiteX6-155" fmla="*/ 1364655 w 1906929"/>
                <a:gd name="connsiteY6-156" fmla="*/ 13962 h 2853974"/>
                <a:gd name="connsiteX7-157" fmla="*/ 1704587 w 1906929"/>
                <a:gd name="connsiteY7-158" fmla="*/ 193552 h 2853974"/>
                <a:gd name="connsiteX8-159" fmla="*/ 1880036 w 1906929"/>
                <a:gd name="connsiteY8-160" fmla="*/ 876867 h 2853974"/>
                <a:gd name="connsiteX9-161" fmla="*/ 1682656 w 1906929"/>
                <a:gd name="connsiteY9-162" fmla="*/ 1187863 h 2853974"/>
                <a:gd name="connsiteX10-163" fmla="*/ 1344917 w 1906929"/>
                <a:gd name="connsiteY10-164" fmla="*/ 1433156 h 2853974"/>
                <a:gd name="connsiteX11-165" fmla="*/ 1002791 w 1906929"/>
                <a:gd name="connsiteY11-166" fmla="*/ 1779194 h 2853974"/>
                <a:gd name="connsiteX12-167" fmla="*/ 926032 w 1906929"/>
                <a:gd name="connsiteY12-168" fmla="*/ 2039818 h 2853974"/>
                <a:gd name="connsiteX13-169" fmla="*/ 1276930 w 1906929"/>
                <a:gd name="connsiteY13-170" fmla="*/ 2729704 h 2853974"/>
                <a:gd name="connsiteX14-171" fmla="*/ 1432641 w 1906929"/>
                <a:gd name="connsiteY14-172" fmla="*/ 2804168 h 2853974"/>
                <a:gd name="connsiteX15-173" fmla="*/ 1594931 w 1906929"/>
                <a:gd name="connsiteY15-174" fmla="*/ 2839209 h 2853974"/>
                <a:gd name="connsiteX16-175" fmla="*/ 1597125 w 1906929"/>
                <a:gd name="connsiteY16-176" fmla="*/ 2843590 h 2853974"/>
                <a:gd name="connsiteX17-177" fmla="*/ 1149730 w 1906929"/>
                <a:gd name="connsiteY17-178" fmla="*/ 2821688 h 2853974"/>
                <a:gd name="connsiteX18-179" fmla="*/ 213270 w 1906929"/>
                <a:gd name="connsiteY18-180" fmla="*/ 2153704 h 2853974"/>
                <a:gd name="connsiteX19-181" fmla="*/ 156250 w 1906929"/>
                <a:gd name="connsiteY19-182" fmla="*/ 2052958 h 2853974"/>
                <a:gd name="connsiteX20-183" fmla="*/ 132125 w 1906929"/>
                <a:gd name="connsiteY20-184" fmla="*/ 789263 h 2853974"/>
                <a:gd name="connsiteX21-185" fmla="*/ 787866 w 1906929"/>
                <a:gd name="connsiteY21-186" fmla="*/ 99377 h 2853974"/>
                <a:gd name="connsiteX0-187" fmla="*/ 1265321 w 1906929"/>
                <a:gd name="connsiteY0-188" fmla="*/ 432757 h 2855728"/>
                <a:gd name="connsiteX1-189" fmla="*/ 1007156 w 1906929"/>
                <a:gd name="connsiteY1-190" fmla="*/ 690922 h 2855728"/>
                <a:gd name="connsiteX2-191" fmla="*/ 1265321 w 1906929"/>
                <a:gd name="connsiteY2-192" fmla="*/ 949087 h 2855728"/>
                <a:gd name="connsiteX3-193" fmla="*/ 1523486 w 1906929"/>
                <a:gd name="connsiteY3-194" fmla="*/ 690922 h 2855728"/>
                <a:gd name="connsiteX4-195" fmla="*/ 1265321 w 1906929"/>
                <a:gd name="connsiteY4-196" fmla="*/ 432757 h 2855728"/>
                <a:gd name="connsiteX5-197" fmla="*/ 787866 w 1906929"/>
                <a:gd name="connsiteY5-198" fmla="*/ 101131 h 2855728"/>
                <a:gd name="connsiteX6-199" fmla="*/ 1364655 w 1906929"/>
                <a:gd name="connsiteY6-200" fmla="*/ 15716 h 2855728"/>
                <a:gd name="connsiteX7-201" fmla="*/ 1704587 w 1906929"/>
                <a:gd name="connsiteY7-202" fmla="*/ 195306 h 2855728"/>
                <a:gd name="connsiteX8-203" fmla="*/ 1880036 w 1906929"/>
                <a:gd name="connsiteY8-204" fmla="*/ 878621 h 2855728"/>
                <a:gd name="connsiteX9-205" fmla="*/ 1682656 w 1906929"/>
                <a:gd name="connsiteY9-206" fmla="*/ 1189617 h 2855728"/>
                <a:gd name="connsiteX10-207" fmla="*/ 1344917 w 1906929"/>
                <a:gd name="connsiteY10-208" fmla="*/ 1434910 h 2855728"/>
                <a:gd name="connsiteX11-209" fmla="*/ 1002791 w 1906929"/>
                <a:gd name="connsiteY11-210" fmla="*/ 1780948 h 2855728"/>
                <a:gd name="connsiteX12-211" fmla="*/ 926032 w 1906929"/>
                <a:gd name="connsiteY12-212" fmla="*/ 2041572 h 2855728"/>
                <a:gd name="connsiteX13-213" fmla="*/ 1276930 w 1906929"/>
                <a:gd name="connsiteY13-214" fmla="*/ 2731458 h 2855728"/>
                <a:gd name="connsiteX14-215" fmla="*/ 1432641 w 1906929"/>
                <a:gd name="connsiteY14-216" fmla="*/ 2805922 h 2855728"/>
                <a:gd name="connsiteX15-217" fmla="*/ 1594931 w 1906929"/>
                <a:gd name="connsiteY15-218" fmla="*/ 2840963 h 2855728"/>
                <a:gd name="connsiteX16-219" fmla="*/ 1597125 w 1906929"/>
                <a:gd name="connsiteY16-220" fmla="*/ 2845344 h 2855728"/>
                <a:gd name="connsiteX17-221" fmla="*/ 1149730 w 1906929"/>
                <a:gd name="connsiteY17-222" fmla="*/ 2823442 h 2855728"/>
                <a:gd name="connsiteX18-223" fmla="*/ 213270 w 1906929"/>
                <a:gd name="connsiteY18-224" fmla="*/ 2155458 h 2855728"/>
                <a:gd name="connsiteX19-225" fmla="*/ 156250 w 1906929"/>
                <a:gd name="connsiteY19-226" fmla="*/ 2054712 h 2855728"/>
                <a:gd name="connsiteX20-227" fmla="*/ 132125 w 1906929"/>
                <a:gd name="connsiteY20-228" fmla="*/ 791017 h 2855728"/>
                <a:gd name="connsiteX21-229" fmla="*/ 787866 w 1906929"/>
                <a:gd name="connsiteY21-230" fmla="*/ 101131 h 285572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 ang="0">
                  <a:pos x="connsiteX13-27" y="connsiteY13-28"/>
                </a:cxn>
                <a:cxn ang="0">
                  <a:pos x="connsiteX14-29" y="connsiteY14-30"/>
                </a:cxn>
                <a:cxn ang="0">
                  <a:pos x="connsiteX15-31" y="connsiteY15-32"/>
                </a:cxn>
                <a:cxn ang="0">
                  <a:pos x="connsiteX16-33" y="connsiteY16-34"/>
                </a:cxn>
                <a:cxn ang="0">
                  <a:pos x="connsiteX17-35" y="connsiteY17-36"/>
                </a:cxn>
                <a:cxn ang="0">
                  <a:pos x="connsiteX18-37" y="connsiteY18-38"/>
                </a:cxn>
                <a:cxn ang="0">
                  <a:pos x="connsiteX19-39" y="connsiteY19-40"/>
                </a:cxn>
                <a:cxn ang="0">
                  <a:pos x="connsiteX20-41" y="connsiteY20-42"/>
                </a:cxn>
                <a:cxn ang="0">
                  <a:pos x="connsiteX21-43" y="connsiteY21-44"/>
                </a:cxn>
              </a:cxnLst>
              <a:rect l="l" t="t" r="r" b="b"/>
              <a:pathLst>
                <a:path w="1906929" h="2855728">
                  <a:moveTo>
                    <a:pt x="1265321" y="432757"/>
                  </a:moveTo>
                  <a:cubicBezTo>
                    <a:pt x="1122740" y="432757"/>
                    <a:pt x="1007156" y="548341"/>
                    <a:pt x="1007156" y="690922"/>
                  </a:cubicBezTo>
                  <a:cubicBezTo>
                    <a:pt x="1007156" y="833503"/>
                    <a:pt x="1122740" y="949087"/>
                    <a:pt x="1265321" y="949087"/>
                  </a:cubicBezTo>
                  <a:cubicBezTo>
                    <a:pt x="1407902" y="949087"/>
                    <a:pt x="1523486" y="833503"/>
                    <a:pt x="1523486" y="690922"/>
                  </a:cubicBezTo>
                  <a:cubicBezTo>
                    <a:pt x="1523486" y="548341"/>
                    <a:pt x="1407902" y="432757"/>
                    <a:pt x="1265321" y="432757"/>
                  </a:cubicBezTo>
                  <a:close/>
                  <a:moveTo>
                    <a:pt x="787866" y="101131"/>
                  </a:moveTo>
                  <a:cubicBezTo>
                    <a:pt x="993288" y="-28086"/>
                    <a:pt x="1237455" y="-3995"/>
                    <a:pt x="1364655" y="15716"/>
                  </a:cubicBezTo>
                  <a:cubicBezTo>
                    <a:pt x="1491855" y="35427"/>
                    <a:pt x="1608090" y="103321"/>
                    <a:pt x="1704587" y="195306"/>
                  </a:cubicBezTo>
                  <a:cubicBezTo>
                    <a:pt x="1880036" y="374895"/>
                    <a:pt x="1950216" y="644279"/>
                    <a:pt x="1880036" y="878621"/>
                  </a:cubicBezTo>
                  <a:cubicBezTo>
                    <a:pt x="1844946" y="994697"/>
                    <a:pt x="1774767" y="1106393"/>
                    <a:pt x="1682656" y="1189617"/>
                  </a:cubicBezTo>
                  <a:cubicBezTo>
                    <a:pt x="1568614" y="1268462"/>
                    <a:pt x="1454572" y="1342925"/>
                    <a:pt x="1344917" y="1434910"/>
                  </a:cubicBezTo>
                  <a:cubicBezTo>
                    <a:pt x="1213330" y="1529085"/>
                    <a:pt x="1066391" y="1629830"/>
                    <a:pt x="1002791" y="1780948"/>
                  </a:cubicBezTo>
                  <a:cubicBezTo>
                    <a:pt x="952350" y="1857602"/>
                    <a:pt x="943577" y="1949587"/>
                    <a:pt x="926032" y="2041572"/>
                  </a:cubicBezTo>
                  <a:cubicBezTo>
                    <a:pt x="897522" y="2310956"/>
                    <a:pt x="1031302" y="2589100"/>
                    <a:pt x="1276930" y="2731458"/>
                  </a:cubicBezTo>
                  <a:cubicBezTo>
                    <a:pt x="1325179" y="2764309"/>
                    <a:pt x="1382200" y="2779640"/>
                    <a:pt x="1432641" y="2805922"/>
                  </a:cubicBezTo>
                  <a:cubicBezTo>
                    <a:pt x="1489662" y="2816872"/>
                    <a:pt x="1540104" y="2840963"/>
                    <a:pt x="1594931" y="2840963"/>
                  </a:cubicBezTo>
                  <a:cubicBezTo>
                    <a:pt x="1599318" y="2843153"/>
                    <a:pt x="1592738" y="2843153"/>
                    <a:pt x="1597125" y="2845344"/>
                  </a:cubicBezTo>
                  <a:cubicBezTo>
                    <a:pt x="1463345" y="2867245"/>
                    <a:pt x="1290089" y="2851914"/>
                    <a:pt x="1149730" y="2823442"/>
                  </a:cubicBezTo>
                  <a:cubicBezTo>
                    <a:pt x="772514" y="2744598"/>
                    <a:pt x="412844" y="2492735"/>
                    <a:pt x="213270" y="2155458"/>
                  </a:cubicBezTo>
                  <a:lnTo>
                    <a:pt x="156250" y="2054712"/>
                  </a:lnTo>
                  <a:cubicBezTo>
                    <a:pt x="-43324" y="1680203"/>
                    <a:pt x="-52096" y="1165526"/>
                    <a:pt x="132125" y="791017"/>
                  </a:cubicBezTo>
                  <a:cubicBezTo>
                    <a:pt x="252746" y="506302"/>
                    <a:pt x="507148" y="234728"/>
                    <a:pt x="787866" y="101131"/>
                  </a:cubicBezTo>
                  <a:close/>
                </a:path>
              </a:pathLst>
            </a:custGeom>
            <a:solidFill>
              <a:schemeClr val="accent5">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80000" bIns="108000" anchor="ctr">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l">
                <a:defRPr/>
              </a:pPr>
              <a:r>
                <a:rPr lang="zh-CN" altLang="en-US" dirty="0">
                  <a:solidFill>
                    <a:schemeClr val="tx1"/>
                  </a:solidFill>
                  <a:latin typeface="微软雅黑" panose="020B0503020204020204" charset="-122"/>
                  <a:ea typeface="微软雅黑" panose="020B0503020204020204" charset="-122"/>
                </a:rPr>
                <a:t>面向机器</a:t>
              </a:r>
            </a:p>
            <a:p>
              <a:pPr algn="l">
                <a:defRPr/>
              </a:pPr>
              <a:r>
                <a:rPr lang="zh-CN" altLang="en-US" dirty="0">
                  <a:solidFill>
                    <a:schemeClr val="tx1"/>
                  </a:solidFill>
                  <a:latin typeface="微软雅黑" panose="020B0503020204020204" charset="-122"/>
                  <a:ea typeface="微软雅黑" panose="020B0503020204020204" charset="-122"/>
                </a:rPr>
                <a:t>语言</a:t>
              </a:r>
            </a:p>
          </p:txBody>
        </p:sp>
        <p:sp>
          <p:nvSpPr>
            <p:cNvPr id="20" name="MH_SubTitle_2"/>
            <p:cNvSpPr/>
            <p:nvPr>
              <p:custDataLst>
                <p:tags r:id="rId4"/>
              </p:custDataLst>
            </p:nvPr>
          </p:nvSpPr>
          <p:spPr>
            <a:xfrm>
              <a:off x="6998" y="3869"/>
              <a:ext cx="3319" cy="4725"/>
            </a:xfrm>
            <a:custGeom>
              <a:avLst/>
              <a:gdLst>
                <a:gd name="connsiteX0" fmla="*/ 641609 w 1906929"/>
                <a:gd name="connsiteY0" fmla="*/ 1906640 h 2855727"/>
                <a:gd name="connsiteX1" fmla="*/ 383444 w 1906929"/>
                <a:gd name="connsiteY1" fmla="*/ 2164805 h 2855727"/>
                <a:gd name="connsiteX2" fmla="*/ 641609 w 1906929"/>
                <a:gd name="connsiteY2" fmla="*/ 2422970 h 2855727"/>
                <a:gd name="connsiteX3" fmla="*/ 899774 w 1906929"/>
                <a:gd name="connsiteY3" fmla="*/ 2164805 h 2855727"/>
                <a:gd name="connsiteX4" fmla="*/ 641609 w 1906929"/>
                <a:gd name="connsiteY4" fmla="*/ 1906640 h 2855727"/>
                <a:gd name="connsiteX5" fmla="*/ 416411 w 1906929"/>
                <a:gd name="connsiteY5" fmla="*/ 562 h 2855727"/>
                <a:gd name="connsiteX6" fmla="*/ 757200 w 1906929"/>
                <a:gd name="connsiteY6" fmla="*/ 32285 h 2855727"/>
                <a:gd name="connsiteX7" fmla="*/ 1693660 w 1906929"/>
                <a:gd name="connsiteY7" fmla="*/ 700269 h 2855727"/>
                <a:gd name="connsiteX8" fmla="*/ 1750680 w 1906929"/>
                <a:gd name="connsiteY8" fmla="*/ 801015 h 2855727"/>
                <a:gd name="connsiteX9" fmla="*/ 1774805 w 1906929"/>
                <a:gd name="connsiteY9" fmla="*/ 2064710 h 2855727"/>
                <a:gd name="connsiteX10" fmla="*/ 1119064 w 1906929"/>
                <a:gd name="connsiteY10" fmla="*/ 2754596 h 2855727"/>
                <a:gd name="connsiteX11" fmla="*/ 542275 w 1906929"/>
                <a:gd name="connsiteY11" fmla="*/ 2840011 h 2855727"/>
                <a:gd name="connsiteX12" fmla="*/ 202343 w 1906929"/>
                <a:gd name="connsiteY12" fmla="*/ 2660421 h 2855727"/>
                <a:gd name="connsiteX13" fmla="*/ 26894 w 1906929"/>
                <a:gd name="connsiteY13" fmla="*/ 1977106 h 2855727"/>
                <a:gd name="connsiteX14" fmla="*/ 224274 w 1906929"/>
                <a:gd name="connsiteY14" fmla="*/ 1666110 h 2855727"/>
                <a:gd name="connsiteX15" fmla="*/ 562013 w 1906929"/>
                <a:gd name="connsiteY15" fmla="*/ 1420817 h 2855727"/>
                <a:gd name="connsiteX16" fmla="*/ 904139 w 1906929"/>
                <a:gd name="connsiteY16" fmla="*/ 1074779 h 2855727"/>
                <a:gd name="connsiteX17" fmla="*/ 980898 w 1906929"/>
                <a:gd name="connsiteY17" fmla="*/ 814155 h 2855727"/>
                <a:gd name="connsiteX18" fmla="*/ 630000 w 1906929"/>
                <a:gd name="connsiteY18" fmla="*/ 124269 h 2855727"/>
                <a:gd name="connsiteX19" fmla="*/ 474289 w 1906929"/>
                <a:gd name="connsiteY19" fmla="*/ 49805 h 2855727"/>
                <a:gd name="connsiteX20" fmla="*/ 311999 w 1906929"/>
                <a:gd name="connsiteY20" fmla="*/ 14764 h 2855727"/>
                <a:gd name="connsiteX21" fmla="*/ 309805 w 1906929"/>
                <a:gd name="connsiteY21" fmla="*/ 10383 h 2855727"/>
                <a:gd name="connsiteX22" fmla="*/ 416411 w 1906929"/>
                <a:gd name="connsiteY22" fmla="*/ 562 h 28557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906929" h="2855727">
                  <a:moveTo>
                    <a:pt x="641609" y="1906640"/>
                  </a:moveTo>
                  <a:cubicBezTo>
                    <a:pt x="499028" y="1906640"/>
                    <a:pt x="383444" y="2022224"/>
                    <a:pt x="383444" y="2164805"/>
                  </a:cubicBezTo>
                  <a:cubicBezTo>
                    <a:pt x="383444" y="2307386"/>
                    <a:pt x="499028" y="2422970"/>
                    <a:pt x="641609" y="2422970"/>
                  </a:cubicBezTo>
                  <a:cubicBezTo>
                    <a:pt x="784190" y="2422970"/>
                    <a:pt x="899774" y="2307386"/>
                    <a:pt x="899774" y="2164805"/>
                  </a:cubicBezTo>
                  <a:cubicBezTo>
                    <a:pt x="899774" y="2022224"/>
                    <a:pt x="784190" y="1906640"/>
                    <a:pt x="641609" y="1906640"/>
                  </a:cubicBezTo>
                  <a:close/>
                  <a:moveTo>
                    <a:pt x="416411" y="562"/>
                  </a:moveTo>
                  <a:cubicBezTo>
                    <a:pt x="528157" y="-3031"/>
                    <a:pt x="651931" y="10931"/>
                    <a:pt x="757200" y="32285"/>
                  </a:cubicBezTo>
                  <a:cubicBezTo>
                    <a:pt x="1134416" y="111129"/>
                    <a:pt x="1494086" y="362992"/>
                    <a:pt x="1693660" y="700269"/>
                  </a:cubicBezTo>
                  <a:lnTo>
                    <a:pt x="1750680" y="801015"/>
                  </a:lnTo>
                  <a:cubicBezTo>
                    <a:pt x="1950254" y="1175524"/>
                    <a:pt x="1959026" y="1690201"/>
                    <a:pt x="1774805" y="2064710"/>
                  </a:cubicBezTo>
                  <a:cubicBezTo>
                    <a:pt x="1654184" y="2349425"/>
                    <a:pt x="1399782" y="2620999"/>
                    <a:pt x="1119064" y="2754596"/>
                  </a:cubicBezTo>
                  <a:cubicBezTo>
                    <a:pt x="913642" y="2883813"/>
                    <a:pt x="669475" y="2859722"/>
                    <a:pt x="542275" y="2840011"/>
                  </a:cubicBezTo>
                  <a:cubicBezTo>
                    <a:pt x="415075" y="2820300"/>
                    <a:pt x="298840" y="2752406"/>
                    <a:pt x="202343" y="2660421"/>
                  </a:cubicBezTo>
                  <a:cubicBezTo>
                    <a:pt x="26894" y="2480832"/>
                    <a:pt x="-43286" y="2211448"/>
                    <a:pt x="26894" y="1977106"/>
                  </a:cubicBezTo>
                  <a:cubicBezTo>
                    <a:pt x="61984" y="1861030"/>
                    <a:pt x="132163" y="1749334"/>
                    <a:pt x="224274" y="1666110"/>
                  </a:cubicBezTo>
                  <a:cubicBezTo>
                    <a:pt x="338316" y="1587265"/>
                    <a:pt x="452358" y="1512802"/>
                    <a:pt x="562013" y="1420817"/>
                  </a:cubicBezTo>
                  <a:cubicBezTo>
                    <a:pt x="693600" y="1326642"/>
                    <a:pt x="840539" y="1225897"/>
                    <a:pt x="904139" y="1074779"/>
                  </a:cubicBezTo>
                  <a:cubicBezTo>
                    <a:pt x="954580" y="998125"/>
                    <a:pt x="963353" y="906140"/>
                    <a:pt x="980898" y="814155"/>
                  </a:cubicBezTo>
                  <a:cubicBezTo>
                    <a:pt x="1009408" y="544771"/>
                    <a:pt x="875628" y="266627"/>
                    <a:pt x="630000" y="124269"/>
                  </a:cubicBezTo>
                  <a:cubicBezTo>
                    <a:pt x="581751" y="91418"/>
                    <a:pt x="524730" y="76087"/>
                    <a:pt x="474289" y="49805"/>
                  </a:cubicBezTo>
                  <a:cubicBezTo>
                    <a:pt x="417268" y="38855"/>
                    <a:pt x="366826" y="14764"/>
                    <a:pt x="311999" y="14764"/>
                  </a:cubicBezTo>
                  <a:cubicBezTo>
                    <a:pt x="307612" y="12574"/>
                    <a:pt x="314192" y="12574"/>
                    <a:pt x="309805" y="10383"/>
                  </a:cubicBezTo>
                  <a:cubicBezTo>
                    <a:pt x="343250" y="4908"/>
                    <a:pt x="379163" y="1759"/>
                    <a:pt x="416411" y="562"/>
                  </a:cubicBezTo>
                  <a:close/>
                </a:path>
              </a:pathLst>
            </a:custGeom>
            <a:solidFill>
              <a:schemeClr val="accent6">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Ins="180000" bIns="0" anchor="ctr">
              <a:normAutofit/>
            </a:bodyPr>
            <a:lstStyle/>
            <a:p>
              <a:pPr algn="r" eaLnBrk="1" hangingPunct="1">
                <a:defRPr/>
              </a:pPr>
              <a:r>
                <a:rPr lang="zh-CN" altLang="en-US" dirty="0">
                  <a:solidFill>
                    <a:schemeClr val="tx1"/>
                  </a:solidFill>
                  <a:latin typeface="微软雅黑" panose="020B0503020204020204" charset="-122"/>
                  <a:ea typeface="微软雅黑" panose="020B0503020204020204" charset="-122"/>
                </a:rPr>
                <a:t>高级程序</a:t>
              </a:r>
            </a:p>
            <a:p>
              <a:pPr algn="r" eaLnBrk="1" hangingPunct="1">
                <a:defRPr/>
              </a:pPr>
              <a:r>
                <a:rPr lang="zh-CN" altLang="en-US" dirty="0">
                  <a:solidFill>
                    <a:schemeClr val="tx1"/>
                  </a:solidFill>
                  <a:latin typeface="微软雅黑" panose="020B0503020204020204" charset="-122"/>
                  <a:ea typeface="微软雅黑" panose="020B0503020204020204" charset="-122"/>
                </a:rPr>
                <a:t>设计语言</a:t>
              </a:r>
            </a:p>
          </p:txBody>
        </p:sp>
        <p:sp>
          <p:nvSpPr>
            <p:cNvPr id="23" name="MH_Text_1"/>
            <p:cNvSpPr>
              <a:spLocks noChangeArrowheads="1"/>
            </p:cNvSpPr>
            <p:nvPr>
              <p:custDataLst>
                <p:tags r:id="rId5"/>
              </p:custDataLst>
            </p:nvPr>
          </p:nvSpPr>
          <p:spPr bwMode="auto">
            <a:xfrm>
              <a:off x="2105" y="4129"/>
              <a:ext cx="3263" cy="1325"/>
            </a:xfrm>
            <a:prstGeom prst="rect">
              <a:avLst/>
            </a:prstGeom>
            <a:noFill/>
            <a:ln w="9525">
              <a:noFill/>
              <a:miter lim="800000"/>
            </a:ln>
          </p:spPr>
          <p:txBody>
            <a:bodyPr/>
            <a:lstStyle/>
            <a:p>
              <a:pPr>
                <a:lnSpc>
                  <a:spcPct val="130000"/>
                </a:lnSpc>
              </a:pPr>
              <a:endParaRPr lang="zh-CN" altLang="en-US" dirty="0">
                <a:latin typeface="微软雅黑" panose="020B0503020204020204" charset="-122"/>
                <a:ea typeface="微软雅黑" panose="020B0503020204020204" charset="-122"/>
              </a:endParaRPr>
            </a:p>
          </p:txBody>
        </p:sp>
        <p:sp>
          <p:nvSpPr>
            <p:cNvPr id="24" name="MH_Text_2"/>
            <p:cNvSpPr>
              <a:spLocks noChangeArrowheads="1"/>
            </p:cNvSpPr>
            <p:nvPr>
              <p:custDataLst>
                <p:tags r:id="rId6"/>
              </p:custDataLst>
            </p:nvPr>
          </p:nvSpPr>
          <p:spPr bwMode="auto">
            <a:xfrm>
              <a:off x="10317" y="6579"/>
              <a:ext cx="5326" cy="1600"/>
            </a:xfrm>
            <a:prstGeom prst="rect">
              <a:avLst/>
            </a:prstGeom>
            <a:noFill/>
            <a:ln w="9525">
              <a:noFill/>
              <a:miter lim="800000"/>
            </a:ln>
          </p:spPr>
          <p:txBody>
            <a:bodyPr anchor="b"/>
            <a:lstStyle/>
            <a:p>
              <a:pPr fontAlgn="auto">
                <a:lnSpc>
                  <a:spcPct val="120000"/>
                </a:lnSpc>
              </a:pPr>
              <a:r>
                <a:rPr lang="en-US" altLang="zh-CN" dirty="0" smtClean="0">
                  <a:latin typeface="微软雅黑" panose="020B0503020204020204" charset="-122"/>
                  <a:ea typeface="微软雅黑" panose="020B0503020204020204" charset="-122"/>
                </a:rPr>
                <a:t>       </a:t>
              </a:r>
              <a:endParaRPr lang="zh-CN" altLang="en-US" dirty="0" smtClean="0">
                <a:latin typeface="微软雅黑" panose="020B0503020204020204" charset="-122"/>
                <a:ea typeface="微软雅黑" panose="020B0503020204020204" charset="-122"/>
              </a:endParaRPr>
            </a:p>
          </p:txBody>
        </p:sp>
        <p:sp>
          <p:nvSpPr>
            <p:cNvPr id="26" name="任意多边形 25"/>
            <p:cNvSpPr/>
            <p:nvPr/>
          </p:nvSpPr>
          <p:spPr>
            <a:xfrm>
              <a:off x="-123" y="4162"/>
              <a:ext cx="7403" cy="842"/>
            </a:xfrm>
            <a:custGeom>
              <a:avLst/>
              <a:gdLst>
                <a:gd name="connsiteX0" fmla="*/ 3336967 w 3336967"/>
                <a:gd name="connsiteY0" fmla="*/ 534390 h 534390"/>
                <a:gd name="connsiteX1" fmla="*/ 2315689 w 3336967"/>
                <a:gd name="connsiteY1" fmla="*/ 0 h 534390"/>
                <a:gd name="connsiteX2" fmla="*/ 0 w 3336967"/>
                <a:gd name="connsiteY2" fmla="*/ 0 h 534390"/>
              </a:gdLst>
              <a:ahLst/>
              <a:cxnLst>
                <a:cxn ang="0">
                  <a:pos x="connsiteX0" y="connsiteY0"/>
                </a:cxn>
                <a:cxn ang="0">
                  <a:pos x="connsiteX1" y="connsiteY1"/>
                </a:cxn>
                <a:cxn ang="0">
                  <a:pos x="connsiteX2" y="connsiteY2"/>
                </a:cxn>
              </a:cxnLst>
              <a:rect l="l" t="t" r="r" b="b"/>
              <a:pathLst>
                <a:path w="3336967" h="534390">
                  <a:moveTo>
                    <a:pt x="3336967" y="534390"/>
                  </a:moveTo>
                  <a:lnTo>
                    <a:pt x="2315689" y="0"/>
                  </a:lnTo>
                  <a:lnTo>
                    <a:pt x="0" y="0"/>
                  </a:lnTo>
                </a:path>
              </a:pathLst>
            </a:custGeom>
            <a:ln w="28575">
              <a:solidFill>
                <a:schemeClr val="accent5">
                  <a:lumMod val="75000"/>
                </a:schemeClr>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smtClean="0">
                <a:latin typeface="微软雅黑" panose="020B0503020204020204" charset="-122"/>
                <a:ea typeface="微软雅黑" panose="020B0503020204020204" charset="-122"/>
                <a:sym typeface="+mn-ea"/>
              </a:endParaRPr>
            </a:p>
          </p:txBody>
        </p:sp>
        <p:sp>
          <p:nvSpPr>
            <p:cNvPr id="27" name="任意多边形 26"/>
            <p:cNvSpPr/>
            <p:nvPr/>
          </p:nvSpPr>
          <p:spPr>
            <a:xfrm flipH="1" flipV="1">
              <a:off x="8067" y="7425"/>
              <a:ext cx="7112" cy="842"/>
            </a:xfrm>
            <a:custGeom>
              <a:avLst/>
              <a:gdLst>
                <a:gd name="connsiteX0" fmla="*/ 3336967 w 3336967"/>
                <a:gd name="connsiteY0" fmla="*/ 534390 h 534390"/>
                <a:gd name="connsiteX1" fmla="*/ 2315689 w 3336967"/>
                <a:gd name="connsiteY1" fmla="*/ 0 h 534390"/>
                <a:gd name="connsiteX2" fmla="*/ 0 w 3336967"/>
                <a:gd name="connsiteY2" fmla="*/ 0 h 534390"/>
              </a:gdLst>
              <a:ahLst/>
              <a:cxnLst>
                <a:cxn ang="0">
                  <a:pos x="connsiteX0" y="connsiteY0"/>
                </a:cxn>
                <a:cxn ang="0">
                  <a:pos x="connsiteX1" y="connsiteY1"/>
                </a:cxn>
                <a:cxn ang="0">
                  <a:pos x="connsiteX2" y="connsiteY2"/>
                </a:cxn>
              </a:cxnLst>
              <a:rect l="l" t="t" r="r" b="b"/>
              <a:pathLst>
                <a:path w="3336967" h="534390">
                  <a:moveTo>
                    <a:pt x="3336967" y="534390"/>
                  </a:moveTo>
                  <a:lnTo>
                    <a:pt x="2315689" y="0"/>
                  </a:lnTo>
                  <a:lnTo>
                    <a:pt x="0" y="0"/>
                  </a:lnTo>
                </a:path>
              </a:pathLst>
            </a:custGeom>
            <a:ln w="28575">
              <a:solidFill>
                <a:schemeClr val="accent6">
                  <a:lumMod val="75000"/>
                </a:schemeClr>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TextBox 29"/>
            <p:cNvSpPr txBox="1"/>
            <p:nvPr/>
          </p:nvSpPr>
          <p:spPr>
            <a:xfrm>
              <a:off x="7461" y="4928"/>
              <a:ext cx="905" cy="3339"/>
            </a:xfrm>
            <a:prstGeom prst="rect">
              <a:avLst/>
            </a:prstGeom>
            <a:noFill/>
          </p:spPr>
          <p:txBody>
            <a:bodyPr vert="eaVert" wrap="square" rtlCol="0">
              <a:spAutoFit/>
            </a:bodyPr>
            <a:lstStyle/>
            <a:p>
              <a:r>
                <a:rPr lang="zh-CN" altLang="en-US" sz="2400" b="1" dirty="0" smtClean="0">
                  <a:latin typeface="微软雅黑" panose="020B0503020204020204" charset="-122"/>
                  <a:ea typeface="微软雅黑" panose="020B0503020204020204" charset="-122"/>
                </a:rPr>
                <a:t>程序设计语言</a:t>
              </a:r>
            </a:p>
          </p:txBody>
        </p:sp>
      </p:grpSp>
      <p:sp>
        <p:nvSpPr>
          <p:cNvPr id="7" name="文本框 6"/>
          <p:cNvSpPr txBox="1"/>
          <p:nvPr/>
        </p:nvSpPr>
        <p:spPr>
          <a:xfrm>
            <a:off x="1052830" y="3293932"/>
            <a:ext cx="3184525" cy="2722880"/>
          </a:xfrm>
          <a:prstGeom prst="rect">
            <a:avLst/>
          </a:prstGeom>
          <a:noFill/>
        </p:spPr>
        <p:txBody>
          <a:bodyPr wrap="square" rtlCol="0">
            <a:spAutoFit/>
          </a:bodyPr>
          <a:lstStyle/>
          <a:p>
            <a:pPr algn="l" fontAlgn="auto">
              <a:lnSpc>
                <a:spcPct val="120000"/>
              </a:lnSpc>
            </a:pPr>
            <a:r>
              <a:rPr lang="en-US" altLang="zh-CN" dirty="0" smtClean="0">
                <a:latin typeface="微软雅黑" panose="020B0503020204020204" charset="-122"/>
                <a:ea typeface="微软雅黑" panose="020B0503020204020204" charset="-122"/>
                <a:sym typeface="+mn-ea"/>
              </a:rPr>
              <a:t>       </a:t>
            </a:r>
            <a:r>
              <a:rPr lang="zh-CN" altLang="en-US" dirty="0" smtClean="0">
                <a:latin typeface="微软雅黑" panose="020B0503020204020204" charset="-122"/>
                <a:ea typeface="微软雅黑" panose="020B0503020204020204" charset="-122"/>
                <a:sym typeface="+mn-ea"/>
              </a:rPr>
              <a:t>面向机器语言包括机器语言和汇编语言。机器语言和汇编语言都依赖于计算机硬件结构，指令系统因机器而异，难学难用。其缺点是编程效率低、容易出错、维护困难；其优点是易于实现系统接口，执行效率高。</a:t>
            </a:r>
            <a:endParaRPr lang="zh-CN" altLang="en-US" dirty="0"/>
          </a:p>
        </p:txBody>
      </p:sp>
      <p:sp>
        <p:nvSpPr>
          <p:cNvPr id="13" name="文本框 12"/>
          <p:cNvSpPr txBox="1"/>
          <p:nvPr/>
        </p:nvSpPr>
        <p:spPr>
          <a:xfrm>
            <a:off x="7917180" y="3377198"/>
            <a:ext cx="3185160" cy="2065020"/>
          </a:xfrm>
          <a:prstGeom prst="rect">
            <a:avLst/>
          </a:prstGeom>
          <a:noFill/>
        </p:spPr>
        <p:txBody>
          <a:bodyPr wrap="square" rtlCol="0">
            <a:spAutoFit/>
          </a:bodyPr>
          <a:lstStyle/>
          <a:p>
            <a:pPr fontAlgn="auto">
              <a:lnSpc>
                <a:spcPct val="120000"/>
              </a:lnSpc>
            </a:pPr>
            <a:r>
              <a:rPr lang="en-US" altLang="zh-CN" dirty="0" smtClean="0">
                <a:latin typeface="微软雅黑" panose="020B0503020204020204" charset="-122"/>
                <a:ea typeface="微软雅黑" panose="020B0503020204020204" charset="-122"/>
                <a:sym typeface="+mn-ea"/>
              </a:rPr>
              <a:t>       </a:t>
            </a:r>
            <a:r>
              <a:rPr lang="zh-CN" altLang="en-US" dirty="0" smtClean="0">
                <a:latin typeface="微软雅黑" panose="020B0503020204020204" charset="-122"/>
                <a:ea typeface="微软雅黑" panose="020B0503020204020204" charset="-122"/>
                <a:sym typeface="+mn-ea"/>
              </a:rPr>
              <a:t>高级程序设计语言使用的概念和符号与人们通常使用的概念和符号比较接近，它的一个语句往往对应若干条机器指令，高级语言的特性一般不依赖于计算机，通用性强。</a:t>
            </a:r>
            <a:endParaRPr lang="zh-CN" altLang="en-US" dirty="0"/>
          </a:p>
        </p:txBody>
      </p:sp>
      <p:grpSp>
        <p:nvGrpSpPr>
          <p:cNvPr id="16" name="组合 6"/>
          <p:cNvGrpSpPr/>
          <p:nvPr/>
        </p:nvGrpSpPr>
        <p:grpSpPr>
          <a:xfrm>
            <a:off x="809625" y="2145646"/>
            <a:ext cx="3141345" cy="590550"/>
            <a:chOff x="508000" y="3196191"/>
            <a:chExt cx="314131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5" name="矩形 7"/>
            <p:cNvSpPr>
              <a:spLocks noChangeArrowheads="1"/>
            </p:cNvSpPr>
            <p:nvPr/>
          </p:nvSpPr>
          <p:spPr bwMode="auto">
            <a:xfrm>
              <a:off x="960437" y="3291441"/>
              <a:ext cx="268887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程序设计语言的分类</a:t>
              </a:r>
              <a:endParaRPr lang="zh-CN" altLang="en-US" b="1" dirty="0">
                <a:solidFill>
                  <a:srgbClr val="E67819"/>
                </a:solidFill>
                <a:latin typeface="微软雅黑" panose="020B0503020204020204" charset="-122"/>
                <a:ea typeface="微软雅黑" panose="020B0503020204020204" charset="-122"/>
              </a:endParaRPr>
            </a:p>
          </p:txBody>
        </p:sp>
      </p:grpSp>
    </p:spTree>
  </p:cSld>
  <p:clrMapOvr>
    <a:masterClrMapping/>
  </p:clrMapOvr>
  <p:transition>
    <p:pull dir="d"/>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solidFill>
                <a:srgbClr val="FF0000"/>
              </a:solidFill>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4.1.1 </a:t>
            </a:r>
            <a:r>
              <a:rPr lang="zh-CN" altLang="en-US" sz="2400" dirty="0" smtClean="0"/>
              <a:t>程序设计语言的选择</a:t>
            </a:r>
            <a:endParaRPr lang="zh-CN" altLang="en-US" sz="2400" dirty="0" smtClean="0">
              <a:solidFill>
                <a:schemeClr val="tx1"/>
              </a:solidFill>
            </a:endParaRPr>
          </a:p>
        </p:txBody>
      </p:sp>
      <p:grpSp>
        <p:nvGrpSpPr>
          <p:cNvPr id="8" name="组合 7"/>
          <p:cNvGrpSpPr/>
          <p:nvPr/>
        </p:nvGrpSpPr>
        <p:grpSpPr>
          <a:xfrm>
            <a:off x="754380" y="2766515"/>
            <a:ext cx="9697720" cy="905510"/>
            <a:chOff x="1923" y="3755"/>
            <a:chExt cx="15272" cy="1426"/>
          </a:xfrm>
        </p:grpSpPr>
        <p:sp>
          <p:nvSpPr>
            <p:cNvPr id="9"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15"/>
              </p:custDataLst>
            </p:nvPr>
          </p:nvSpPr>
          <p:spPr>
            <a:xfrm>
              <a:off x="4693" y="3840"/>
              <a:ext cx="12502" cy="1254"/>
            </a:xfrm>
            <a:prstGeom prst="rect">
              <a:avLst/>
            </a:prstGeom>
          </p:spPr>
          <p:txBody>
            <a:bodyPr lIns="0" tIns="0" rIns="0" bIns="0" anchor="ctr">
              <a:noAutofit/>
            </a:bodyPr>
            <a:lstStyle/>
            <a:p>
              <a:pPr>
                <a:lnSpc>
                  <a:spcPct val="140000"/>
                </a:lnSpc>
                <a:defRPr/>
              </a:pPr>
              <a:r>
                <a:rPr lang="zh-CN" altLang="en-US" dirty="0">
                  <a:latin typeface="微软雅黑" panose="020B0503020204020204" charset="-122"/>
                  <a:ea typeface="微软雅黑" panose="020B0503020204020204" charset="-122"/>
                  <a:sym typeface="+mn-ea"/>
                </a:rPr>
                <a:t>软件系统对程序执行时间和使用空间都有严格限制。</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22" name="组合 21"/>
          <p:cNvGrpSpPr/>
          <p:nvPr/>
        </p:nvGrpSpPr>
        <p:grpSpPr>
          <a:xfrm>
            <a:off x="2891790" y="4903479"/>
            <a:ext cx="8906510" cy="905510"/>
            <a:chOff x="7484" y="7718"/>
            <a:chExt cx="14026" cy="1426"/>
          </a:xfrm>
        </p:grpSpPr>
        <p:sp>
          <p:nvSpPr>
            <p:cNvPr id="18" name="MH_Other_5"/>
            <p:cNvSpPr>
              <a:spLocks noChangeArrowheads="1"/>
            </p:cNvSpPr>
            <p:nvPr>
              <p:custDataLst>
                <p:tags r:id="rId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0"/>
              </p:custDataLst>
            </p:nvPr>
          </p:nvSpPr>
          <p:spPr>
            <a:xfrm>
              <a:off x="10226" y="7718"/>
              <a:ext cx="11284" cy="1254"/>
            </a:xfrm>
            <a:prstGeom prst="rect">
              <a:avLst/>
            </a:prstGeom>
          </p:spPr>
          <p:txBody>
            <a:bodyPr lIns="0" tIns="0" rIns="0" bIns="0" anchor="ctr">
              <a:noAutofit/>
            </a:bodyPr>
            <a:lstStyle/>
            <a:p>
              <a:pPr indent="0" fontAlgn="auto">
                <a:lnSpc>
                  <a:spcPct val="130000"/>
                </a:lnSpc>
                <a:buClrTx/>
                <a:buNone/>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大型系统中某一部分，其执行时间非常关键，或直接依赖于硬件，这部分用汇编语言编写。其余部分用高级程序设计语言编写。</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32" name="组合 31"/>
          <p:cNvGrpSpPr/>
          <p:nvPr/>
        </p:nvGrpSpPr>
        <p:grpSpPr>
          <a:xfrm>
            <a:off x="1680845" y="3768045"/>
            <a:ext cx="10117455" cy="905510"/>
            <a:chOff x="4731" y="5756"/>
            <a:chExt cx="15933" cy="1426"/>
          </a:xfrm>
        </p:grpSpPr>
        <p:sp>
          <p:nvSpPr>
            <p:cNvPr id="33" name="MH_Other_9"/>
            <p:cNvSpPr>
              <a:spLocks noChangeArrowheads="1"/>
            </p:cNvSpPr>
            <p:nvPr>
              <p:custDataLst>
                <p:tags r:id="rId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5"/>
              </p:custDataLst>
            </p:nvPr>
          </p:nvSpPr>
          <p:spPr>
            <a:xfrm>
              <a:off x="7445" y="5798"/>
              <a:ext cx="13219" cy="1254"/>
            </a:xfrm>
            <a:prstGeom prst="rect">
              <a:avLst/>
            </a:prstGeom>
          </p:spPr>
          <p:txBody>
            <a:bodyPr lIns="0" tIns="0" rIns="0" bIns="0" anchor="ctr">
              <a:noAutofit/>
            </a:bodyPr>
            <a:lstStyle/>
            <a:p>
              <a:pPr lvl="0" algn="just">
                <a:lnSpc>
                  <a:spcPct val="120000"/>
                </a:lnSpc>
                <a:spcBef>
                  <a:spcPct val="0"/>
                </a:spcBef>
              </a:pPr>
              <a:r>
                <a:rPr lang="zh-CN" altLang="en-US">
                  <a:latin typeface="微软雅黑" panose="020B0503020204020204" charset="-122"/>
                  <a:ea typeface="微软雅黑" panose="020B0503020204020204" charset="-122"/>
                  <a:sym typeface="+mn-ea"/>
                </a:rPr>
                <a:t>系统硬件是特殊的微处理机，不能使用高级程序设计语言。</a:t>
              </a:r>
              <a:endParaRPr lang="zh-CN" altLang="en-US" dirty="0" smtClean="0">
                <a:solidFill>
                  <a:srgbClr val="000000"/>
                </a:solidFill>
                <a:latin typeface="微软雅黑" panose="020B0503020204020204" charset="-122"/>
                <a:ea typeface="微软雅黑" panose="020B0503020204020204" charset="-122"/>
                <a:sym typeface="+mn-ea"/>
              </a:endParaRPr>
            </a:p>
          </p:txBody>
        </p:sp>
      </p:grpSp>
      <p:sp>
        <p:nvSpPr>
          <p:cNvPr id="23" name="文本框 99"/>
          <p:cNvSpPr txBox="1"/>
          <p:nvPr/>
        </p:nvSpPr>
        <p:spPr>
          <a:xfrm>
            <a:off x="848970" y="1992088"/>
            <a:ext cx="10492323" cy="707886"/>
          </a:xfrm>
          <a:prstGeom prst="rect">
            <a:avLst/>
          </a:prstGeom>
          <a:noFill/>
          <a:ln w="9525">
            <a:noFill/>
          </a:ln>
        </p:spPr>
        <p:txBody>
          <a:bodyPr wrap="square">
            <a:spAutoFit/>
          </a:bodyPr>
          <a:lstStyle/>
          <a:p>
            <a:r>
              <a:rPr lang="zh-CN" altLang="en-US" sz="2000" dirty="0" smtClean="0"/>
              <a:t>        一般在设计应用软件时，应当优先选用高级程序设计语言，只有下列</a:t>
            </a:r>
            <a:r>
              <a:rPr lang="en-US" sz="2000" dirty="0" smtClean="0"/>
              <a:t>3</a:t>
            </a:r>
            <a:r>
              <a:rPr lang="zh-CN" altLang="en-US" sz="2000" dirty="0" smtClean="0"/>
              <a:t>种情况选用汇编语言。</a:t>
            </a:r>
            <a:endParaRPr lang="zh-CN" altLang="en-US" sz="2000" dirty="0">
              <a:latin typeface="微软雅黑" panose="020B0503020204020204" charset="-122"/>
              <a:ea typeface="微软雅黑" panose="020B0503020204020204" charset="-122"/>
              <a:sym typeface="+mn-ea"/>
            </a:endParaRPr>
          </a:p>
        </p:txBody>
      </p:sp>
    </p:spTree>
  </p:cSld>
  <p:clrMapOvr>
    <a:masterClrMapping/>
  </p:clrMapOvr>
  <p:transition>
    <p:pull dir="d"/>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4.1.1 </a:t>
            </a:r>
            <a:r>
              <a:rPr lang="zh-CN" altLang="en-US" sz="2400" dirty="0" smtClean="0"/>
              <a:t>程序设计语言的选择</a:t>
            </a:r>
            <a:endParaRPr lang="zh-CN" altLang="en-US" sz="2400" dirty="0" smtClean="0">
              <a:solidFill>
                <a:schemeClr val="tx1"/>
              </a:solidFill>
            </a:endParaRPr>
          </a:p>
        </p:txBody>
      </p:sp>
      <p:grpSp>
        <p:nvGrpSpPr>
          <p:cNvPr id="2" name="组合 78"/>
          <p:cNvGrpSpPr/>
          <p:nvPr/>
        </p:nvGrpSpPr>
        <p:grpSpPr>
          <a:xfrm>
            <a:off x="3824453" y="2106299"/>
            <a:ext cx="7371716" cy="4149725"/>
            <a:chOff x="6007" y="2932"/>
            <a:chExt cx="11609" cy="6535"/>
          </a:xfrm>
        </p:grpSpPr>
        <p:sp>
          <p:nvSpPr>
            <p:cNvPr id="36" name="任意多边形 35"/>
            <p:cNvSpPr/>
            <p:nvPr/>
          </p:nvSpPr>
          <p:spPr>
            <a:xfrm rot="10800000">
              <a:off x="14158" y="293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669" y="814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6017" y="8138"/>
              <a:ext cx="8817"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13908" y="80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6032" y="6972"/>
              <a:ext cx="9774"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4900" y="690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6031" y="5814"/>
              <a:ext cx="10010"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6031" y="4606"/>
              <a:ext cx="982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6007" y="3441"/>
              <a:ext cx="8861"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13940" y="337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14130" y="348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5090" y="4631"/>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5318" y="5889"/>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5090" y="705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14108" y="822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6688" y="3548"/>
              <a:ext cx="6842"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项目的应用领域</a:t>
              </a:r>
            </a:p>
          </p:txBody>
        </p:sp>
        <p:sp>
          <p:nvSpPr>
            <p:cNvPr id="72" name="文本框 60"/>
            <p:cNvSpPr txBox="1"/>
            <p:nvPr/>
          </p:nvSpPr>
          <p:spPr>
            <a:xfrm>
              <a:off x="6688" y="4708"/>
              <a:ext cx="704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软件开发的方法</a:t>
              </a:r>
            </a:p>
          </p:txBody>
        </p:sp>
        <p:sp>
          <p:nvSpPr>
            <p:cNvPr id="73" name="文本框 61"/>
            <p:cNvSpPr txBox="1"/>
            <p:nvPr/>
          </p:nvSpPr>
          <p:spPr>
            <a:xfrm>
              <a:off x="6688" y="5922"/>
              <a:ext cx="588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软件开发环境</a:t>
              </a:r>
            </a:p>
          </p:txBody>
        </p:sp>
        <p:sp>
          <p:nvSpPr>
            <p:cNvPr id="74" name="文本框 62"/>
            <p:cNvSpPr txBox="1"/>
            <p:nvPr/>
          </p:nvSpPr>
          <p:spPr>
            <a:xfrm>
              <a:off x="6688" y="7059"/>
              <a:ext cx="4766"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用户的要求</a:t>
              </a:r>
            </a:p>
          </p:txBody>
        </p:sp>
        <p:sp>
          <p:nvSpPr>
            <p:cNvPr id="75" name="文本框 63"/>
            <p:cNvSpPr txBox="1"/>
            <p:nvPr/>
          </p:nvSpPr>
          <p:spPr>
            <a:xfrm>
              <a:off x="6688" y="8224"/>
              <a:ext cx="6371"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程序员的知识</a:t>
              </a:r>
            </a:p>
          </p:txBody>
        </p:sp>
        <p:sp>
          <p:nvSpPr>
            <p:cNvPr id="76" name="椭圆 75"/>
            <p:cNvSpPr/>
            <p:nvPr/>
          </p:nvSpPr>
          <p:spPr>
            <a:xfrm rot="10800000">
              <a:off x="15145" y="577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5318" y="5814"/>
              <a:ext cx="83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28" name="组合 6"/>
          <p:cNvGrpSpPr/>
          <p:nvPr/>
        </p:nvGrpSpPr>
        <p:grpSpPr>
          <a:xfrm>
            <a:off x="809625" y="2145646"/>
            <a:ext cx="2247473" cy="741581"/>
            <a:chOff x="508000" y="3196191"/>
            <a:chExt cx="2247450" cy="741581"/>
          </a:xfrm>
        </p:grpSpPr>
        <p:sp>
          <p:nvSpPr>
            <p:cNvPr id="3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1" name="直接连接符 3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960435" y="3291441"/>
              <a:ext cx="1795015"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程序设计语言的选用标准</a:t>
              </a:r>
            </a:p>
          </p:txBody>
        </p:sp>
      </p:grpSp>
    </p:spTree>
  </p:cSld>
  <p:clrMapOvr>
    <a:masterClrMapping/>
  </p:clrMapOvr>
  <p:transition>
    <p:pull dir="d"/>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项目的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应用领域</a:t>
            </a:r>
          </a:p>
        </p:txBody>
      </p:sp>
      <p:sp>
        <p:nvSpPr>
          <p:cNvPr id="100" name="文本框 99"/>
          <p:cNvSpPr txBox="1"/>
          <p:nvPr/>
        </p:nvSpPr>
        <p:spPr>
          <a:xfrm>
            <a:off x="1422400" y="1930400"/>
            <a:ext cx="10329545" cy="447675"/>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endParaRPr lang="zh-CN" altLang="en-US" dirty="0"/>
          </a:p>
        </p:txBody>
      </p:sp>
      <p:sp>
        <p:nvSpPr>
          <p:cNvPr id="7" name="文本框 6"/>
          <p:cNvSpPr txBox="1"/>
          <p:nvPr/>
        </p:nvSpPr>
        <p:spPr>
          <a:xfrm>
            <a:off x="768972" y="2397760"/>
            <a:ext cx="461665" cy="3062698"/>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4.1.1 </a:t>
            </a:r>
            <a:r>
              <a:rPr lang="zh-CN" altLang="en-US" spc="160" dirty="0" smtClean="0">
                <a:solidFill>
                  <a:schemeClr val="bg1"/>
                </a:solidFill>
                <a:latin typeface="微软雅黑" panose="020B0503020204020204" charset="-122"/>
                <a:ea typeface="微软雅黑" panose="020B0503020204020204" charset="-122"/>
              </a:rPr>
              <a:t>程序设计语言的选择</a:t>
            </a:r>
          </a:p>
        </p:txBody>
      </p:sp>
      <p:sp>
        <p:nvSpPr>
          <p:cNvPr id="2" name="文本框 1"/>
          <p:cNvSpPr txBox="1"/>
          <p:nvPr/>
        </p:nvSpPr>
        <p:spPr>
          <a:xfrm>
            <a:off x="1631950" y="2378075"/>
            <a:ext cx="9935210" cy="3305520"/>
          </a:xfrm>
          <a:prstGeom prst="rect">
            <a:avLst/>
          </a:prstGeom>
          <a:noFill/>
        </p:spPr>
        <p:txBody>
          <a:bodyPr wrap="square" rtlCol="0" anchor="t">
            <a:spAutoFit/>
          </a:bodyPr>
          <a:lstStyle/>
          <a:p>
            <a:pPr fontAlgn="auto">
              <a:lnSpc>
                <a:spcPct val="130000"/>
              </a:lnSpc>
            </a:pPr>
            <a:r>
              <a:rPr dirty="0">
                <a:latin typeface="微软雅黑" panose="020B0503020204020204" charset="-122"/>
                <a:ea typeface="微软雅黑" panose="020B0503020204020204" charset="-122"/>
              </a:rPr>
              <a:t>（1）</a:t>
            </a:r>
            <a:r>
              <a:rPr dirty="0">
                <a:solidFill>
                  <a:srgbClr val="C00000"/>
                </a:solidFill>
                <a:latin typeface="微软雅黑" panose="020B0503020204020204" charset="-122"/>
                <a:ea typeface="微软雅黑" panose="020B0503020204020204" charset="-122"/>
              </a:rPr>
              <a:t>科学工程计算。</a:t>
            </a:r>
            <a:r>
              <a:rPr dirty="0">
                <a:latin typeface="微软雅黑" panose="020B0503020204020204" charset="-122"/>
                <a:ea typeface="微软雅黑" panose="020B0503020204020204" charset="-122"/>
              </a:rPr>
              <a:t>需要大量的标准库函数，以便处理复杂的数值计算，可供选用的语言有Fortran，Pascal，C等。Pascal语言是第一个体现结构化编程思想的语言，用其编程有助于培养良好的编程风格，它广泛应用于教学、管理、系统软件的开发。</a:t>
            </a:r>
          </a:p>
          <a:p>
            <a:pPr fontAlgn="auto">
              <a:lnSpc>
                <a:spcPct val="130000"/>
              </a:lnSpc>
            </a:pPr>
            <a:r>
              <a:rPr dirty="0">
                <a:latin typeface="微软雅黑" panose="020B0503020204020204" charset="-122"/>
                <a:ea typeface="微软雅黑" panose="020B0503020204020204" charset="-122"/>
              </a:rPr>
              <a:t>（2）</a:t>
            </a:r>
            <a:r>
              <a:rPr dirty="0">
                <a:solidFill>
                  <a:srgbClr val="C00000"/>
                </a:solidFill>
                <a:latin typeface="微软雅黑" panose="020B0503020204020204" charset="-122"/>
                <a:ea typeface="微软雅黑" panose="020B0503020204020204" charset="-122"/>
              </a:rPr>
              <a:t>数据处理与数据库应用。</a:t>
            </a:r>
            <a:r>
              <a:rPr dirty="0">
                <a:latin typeface="微软雅黑" panose="020B0503020204020204" charset="-122"/>
                <a:ea typeface="微软雅黑" panose="020B0503020204020204" charset="-122"/>
              </a:rPr>
              <a:t>COBOL语言广泛用于商业数据处理。</a:t>
            </a:r>
            <a:r>
              <a:rPr dirty="0" smtClean="0">
                <a:latin typeface="微软雅黑" panose="020B0503020204020204" charset="-122"/>
                <a:ea typeface="微软雅黑" panose="020B0503020204020204" charset="-122"/>
              </a:rPr>
              <a:t>SQL</a:t>
            </a:r>
            <a:r>
              <a:rPr dirty="0">
                <a:latin typeface="微软雅黑" panose="020B0503020204020204" charset="-122"/>
                <a:ea typeface="微软雅黑" panose="020B0503020204020204" charset="-122"/>
              </a:rPr>
              <a:t>是一种数据库查询和程序设计语言</a:t>
            </a:r>
            <a:r>
              <a:rPr dirty="0" smtClean="0">
                <a:latin typeface="微软雅黑" panose="020B0503020204020204" charset="-122"/>
                <a:ea typeface="微软雅黑" panose="020B0503020204020204" charset="-122"/>
              </a:rPr>
              <a:t>，</a:t>
            </a:r>
            <a:r>
              <a:rPr dirty="0">
                <a:latin typeface="微软雅黑" panose="020B0503020204020204" charset="-122"/>
                <a:ea typeface="微软雅黑" panose="020B0503020204020204" charset="-122"/>
              </a:rPr>
              <a:t>用于存取数据以及查询、更新和管理关系数据库系统，它属于第4代语言（4GL）。4GL是描述性语言，编码时只需说明“做什么”，无需具体指明“怎么做”，最初为数据库查询语言，只支持简单的数值运算，适合于对数据库进行操作。dBASE，FoxBASE，FoxPro，Visual FoxPro，Access，Delphi，PowerBuilder都是数据库语言。</a:t>
            </a:r>
          </a:p>
          <a:p>
            <a:pPr fontAlgn="auto">
              <a:lnSpc>
                <a:spcPct val="120000"/>
              </a:lnSpc>
            </a:pPr>
            <a:endParaRPr dirty="0">
              <a:latin typeface="微软雅黑" panose="020B0503020204020204" charset="-122"/>
              <a:ea typeface="微软雅黑" panose="020B0503020204020204" charset="-122"/>
            </a:endParaRPr>
          </a:p>
        </p:txBody>
      </p:sp>
    </p:spTree>
  </p:cSld>
  <p:clrMapOvr>
    <a:masterClrMapping/>
  </p:clrMapOvr>
  <p:transition>
    <p:pull dir="d"/>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项目的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应用领域</a:t>
            </a:r>
          </a:p>
        </p:txBody>
      </p:sp>
      <p:sp>
        <p:nvSpPr>
          <p:cNvPr id="100" name="文本框 99"/>
          <p:cNvSpPr txBox="1"/>
          <p:nvPr/>
        </p:nvSpPr>
        <p:spPr>
          <a:xfrm>
            <a:off x="1422400" y="1930400"/>
            <a:ext cx="10329545" cy="447675"/>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endParaRPr lang="zh-CN" altLang="en-US" dirty="0"/>
          </a:p>
        </p:txBody>
      </p:sp>
      <p:sp>
        <p:nvSpPr>
          <p:cNvPr id="2" name="文本框 1"/>
          <p:cNvSpPr txBox="1"/>
          <p:nvPr/>
        </p:nvSpPr>
        <p:spPr>
          <a:xfrm>
            <a:off x="1422400" y="2052320"/>
            <a:ext cx="10022840" cy="3693319"/>
          </a:xfrm>
          <a:prstGeom prst="rect">
            <a:avLst/>
          </a:prstGeom>
          <a:noFill/>
        </p:spPr>
        <p:txBody>
          <a:bodyPr wrap="square" rtlCol="0" anchor="t">
            <a:spAutoFit/>
          </a:bodyPr>
          <a:lstStyle/>
          <a:p>
            <a:pPr fontAlgn="auto">
              <a:lnSpc>
                <a:spcPct val="130000"/>
              </a:lnSpc>
            </a:pPr>
            <a:r>
              <a:rPr dirty="0">
                <a:latin typeface="微软雅黑" panose="020B0503020204020204" charset="-122"/>
                <a:ea typeface="微软雅黑" panose="020B0503020204020204" charset="-122"/>
                <a:sym typeface="+mn-ea"/>
              </a:rPr>
              <a:t>（3）</a:t>
            </a:r>
            <a:r>
              <a:rPr dirty="0">
                <a:solidFill>
                  <a:srgbClr val="C00000"/>
                </a:solidFill>
                <a:latin typeface="微软雅黑" panose="020B0503020204020204" charset="-122"/>
                <a:ea typeface="微软雅黑" panose="020B0503020204020204" charset="-122"/>
                <a:sym typeface="+mn-ea"/>
              </a:rPr>
              <a:t>实时处理。</a:t>
            </a:r>
            <a:r>
              <a:rPr dirty="0">
                <a:latin typeface="微软雅黑" panose="020B0503020204020204" charset="-122"/>
                <a:ea typeface="微软雅黑" panose="020B0503020204020204" charset="-122"/>
                <a:sym typeface="+mn-ea"/>
              </a:rPr>
              <a:t>实时处理软件一般对性能的要求很高，可选用的语言有汇编语言、Ada语言等。其中，汇编语言是面向机器的语言，可以对外部设备的一些接口进行操作；Ada适合于实时并行系统。此外还有Mesa，Occam，Fortran 90，Linda，以及用于通讯领域的程序设计语言都有实时功能，如Gypsy，CHILL。</a:t>
            </a:r>
            <a:endParaRPr dirty="0">
              <a:latin typeface="微软雅黑" panose="020B0503020204020204" charset="-122"/>
              <a:ea typeface="微软雅黑" panose="020B0503020204020204" charset="-122"/>
            </a:endParaRPr>
          </a:p>
          <a:p>
            <a:pPr fontAlgn="auto">
              <a:lnSpc>
                <a:spcPct val="130000"/>
              </a:lnSpc>
            </a:pPr>
            <a:r>
              <a:rPr dirty="0">
                <a:latin typeface="微软雅黑" panose="020B0503020204020204" charset="-122"/>
                <a:ea typeface="微软雅黑" panose="020B0503020204020204" charset="-122"/>
              </a:rPr>
              <a:t>（4）</a:t>
            </a:r>
            <a:r>
              <a:rPr dirty="0">
                <a:solidFill>
                  <a:srgbClr val="C00000"/>
                </a:solidFill>
                <a:latin typeface="微软雅黑" panose="020B0503020204020204" charset="-122"/>
                <a:ea typeface="微软雅黑" panose="020B0503020204020204" charset="-122"/>
              </a:rPr>
              <a:t>系统软件。</a:t>
            </a:r>
            <a:r>
              <a:rPr dirty="0">
                <a:latin typeface="微软雅黑" panose="020B0503020204020204" charset="-122"/>
                <a:ea typeface="微软雅黑" panose="020B0503020204020204" charset="-122"/>
              </a:rPr>
              <a:t>此类软件支持与硬件相关的低级操作。编写系统软件（如操作系统，编译、解释器，数据库管理系统，网络接口程序）时，可以选用C语言、BLISS语言、Forth语言、汇编语言、Pascal语言和Ada语言。</a:t>
            </a:r>
          </a:p>
          <a:p>
            <a:pPr fontAlgn="auto">
              <a:lnSpc>
                <a:spcPct val="130000"/>
              </a:lnSpc>
            </a:pPr>
            <a:r>
              <a:rPr dirty="0">
                <a:latin typeface="微软雅黑" panose="020B0503020204020204" charset="-122"/>
                <a:ea typeface="微软雅黑" panose="020B0503020204020204" charset="-122"/>
              </a:rPr>
              <a:t>（5）</a:t>
            </a:r>
            <a:r>
              <a:rPr dirty="0">
                <a:solidFill>
                  <a:srgbClr val="C00000"/>
                </a:solidFill>
                <a:latin typeface="微软雅黑" panose="020B0503020204020204" charset="-122"/>
                <a:ea typeface="微软雅黑" panose="020B0503020204020204" charset="-122"/>
              </a:rPr>
              <a:t>人工智能。</a:t>
            </a:r>
            <a:r>
              <a:rPr dirty="0">
                <a:latin typeface="微软雅黑" panose="020B0503020204020204" charset="-122"/>
                <a:ea typeface="微软雅黑" panose="020B0503020204020204" charset="-122"/>
              </a:rPr>
              <a:t>如果要完成知识库系统、专家系统、决策支持系统、推理工程、语言识别、模式识别等人工智能领域内的系统，应选择Prolog，Lisp等语言。</a:t>
            </a:r>
          </a:p>
          <a:p>
            <a:pPr fontAlgn="auto">
              <a:lnSpc>
                <a:spcPct val="130000"/>
              </a:lnSpc>
            </a:pPr>
            <a:r>
              <a:rPr dirty="0">
                <a:latin typeface="微软雅黑" panose="020B0503020204020204" charset="-122"/>
                <a:ea typeface="微软雅黑" panose="020B0503020204020204" charset="-122"/>
              </a:rPr>
              <a:t>（6）</a:t>
            </a:r>
            <a:r>
              <a:rPr dirty="0">
                <a:solidFill>
                  <a:srgbClr val="C00000"/>
                </a:solidFill>
                <a:latin typeface="微软雅黑" panose="020B0503020204020204" charset="-122"/>
                <a:ea typeface="微软雅黑" panose="020B0503020204020204" charset="-122"/>
              </a:rPr>
              <a:t>网络应用系统。</a:t>
            </a:r>
            <a:r>
              <a:rPr dirty="0">
                <a:latin typeface="微软雅黑" panose="020B0503020204020204" charset="-122"/>
                <a:ea typeface="微软雅黑" panose="020B0503020204020204" charset="-122"/>
              </a:rPr>
              <a:t>Java在网络上应用广泛，可编制跨平台的软件。</a:t>
            </a:r>
          </a:p>
        </p:txBody>
      </p:sp>
      <p:sp>
        <p:nvSpPr>
          <p:cNvPr id="8" name="文本框 6"/>
          <p:cNvSpPr txBox="1"/>
          <p:nvPr/>
        </p:nvSpPr>
        <p:spPr>
          <a:xfrm>
            <a:off x="768972" y="2397760"/>
            <a:ext cx="461665" cy="3062698"/>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4.1.1 </a:t>
            </a:r>
            <a:r>
              <a:rPr lang="zh-CN" altLang="en-US" spc="160" dirty="0" smtClean="0">
                <a:solidFill>
                  <a:schemeClr val="bg1"/>
                </a:solidFill>
                <a:latin typeface="微软雅黑" panose="020B0503020204020204" charset="-122"/>
                <a:ea typeface="微软雅黑" panose="020B0503020204020204" charset="-122"/>
              </a:rPr>
              <a:t>程序设计语言的选择</a:t>
            </a:r>
          </a:p>
        </p:txBody>
      </p:sp>
    </p:spTree>
  </p:cSld>
  <p:clrMapOvr>
    <a:masterClrMapping/>
  </p:clrMapOvr>
  <p:transition>
    <p:pull dir="d"/>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软件的</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开发方法</a:t>
            </a:r>
          </a:p>
        </p:txBody>
      </p:sp>
      <p:sp>
        <p:nvSpPr>
          <p:cNvPr id="100" name="文本框 99"/>
          <p:cNvSpPr txBox="1"/>
          <p:nvPr/>
        </p:nvSpPr>
        <p:spPr>
          <a:xfrm>
            <a:off x="1422400" y="1930400"/>
            <a:ext cx="10329545" cy="447675"/>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endParaRPr lang="zh-CN" altLang="en-US" dirty="0"/>
          </a:p>
        </p:txBody>
      </p:sp>
      <p:sp>
        <p:nvSpPr>
          <p:cNvPr id="2" name="文本框 1"/>
          <p:cNvSpPr txBox="1"/>
          <p:nvPr/>
        </p:nvSpPr>
        <p:spPr>
          <a:xfrm>
            <a:off x="1712595" y="2753360"/>
            <a:ext cx="9507220" cy="1676400"/>
          </a:xfrm>
          <a:prstGeom prst="rect">
            <a:avLst/>
          </a:prstGeom>
          <a:noFill/>
        </p:spPr>
        <p:txBody>
          <a:bodyPr wrap="square" rtlCol="0" anchor="t">
            <a:spAutoFit/>
          </a:bodyPr>
          <a:lstStyle/>
          <a:p>
            <a:pPr fontAlgn="auto">
              <a:lnSpc>
                <a:spcPct val="130000"/>
              </a:lnSpc>
            </a:pPr>
            <a:r>
              <a:rPr lang="en-US" sz="2000" dirty="0">
                <a:latin typeface="微软雅黑" panose="020B0503020204020204" charset="-122"/>
                <a:ea typeface="微软雅黑" panose="020B0503020204020204" charset="-122"/>
                <a:sym typeface="+mn-ea"/>
              </a:rPr>
              <a:t>       </a:t>
            </a:r>
            <a:r>
              <a:rPr sz="2000" dirty="0">
                <a:latin typeface="微软雅黑" panose="020B0503020204020204" charset="-122"/>
                <a:ea typeface="微软雅黑" panose="020B0503020204020204" charset="-122"/>
                <a:sym typeface="+mn-ea"/>
              </a:rPr>
              <a:t>有时编程语言的选择依赖于开发的方法，如果要用快速原型模型来开发，会要求能快速实现原型，因此宜采用4GL。</a:t>
            </a:r>
            <a:r>
              <a:rPr sz="2000" dirty="0">
                <a:solidFill>
                  <a:srgbClr val="C00000"/>
                </a:solidFill>
                <a:latin typeface="微软雅黑" panose="020B0503020204020204" charset="-122"/>
                <a:ea typeface="微软雅黑" panose="020B0503020204020204" charset="-122"/>
                <a:sym typeface="+mn-ea"/>
              </a:rPr>
              <a:t>如果是面向对象方法，宜采用面向对象的语言编程</a:t>
            </a:r>
            <a:r>
              <a:rPr sz="2000" dirty="0">
                <a:solidFill>
                  <a:srgbClr val="FF0000"/>
                </a:solidFill>
                <a:latin typeface="微软雅黑" panose="020B0503020204020204" charset="-122"/>
                <a:ea typeface="微软雅黑" panose="020B0503020204020204" charset="-122"/>
                <a:sym typeface="+mn-ea"/>
              </a:rPr>
              <a:t>。</a:t>
            </a:r>
            <a:r>
              <a:rPr sz="2000" dirty="0">
                <a:latin typeface="微软雅黑" panose="020B0503020204020204" charset="-122"/>
                <a:ea typeface="微软雅黑" panose="020B0503020204020204" charset="-122"/>
                <a:sym typeface="+mn-ea"/>
              </a:rPr>
              <a:t>例如，C++，Smalltalk，Eiffel，Actor，Ada，Simula-67都是面向对象型语言。Object Pascal，Objective-C是混合型面向对象语言。</a:t>
            </a:r>
          </a:p>
        </p:txBody>
      </p:sp>
      <p:sp>
        <p:nvSpPr>
          <p:cNvPr id="8" name="文本框 6"/>
          <p:cNvSpPr txBox="1"/>
          <p:nvPr/>
        </p:nvSpPr>
        <p:spPr>
          <a:xfrm>
            <a:off x="768972" y="2397760"/>
            <a:ext cx="461665" cy="3062698"/>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4.1.1 </a:t>
            </a:r>
            <a:r>
              <a:rPr lang="zh-CN" altLang="en-US" spc="160" dirty="0" smtClean="0">
                <a:solidFill>
                  <a:schemeClr val="bg1"/>
                </a:solidFill>
                <a:latin typeface="微软雅黑" panose="020B0503020204020204" charset="-122"/>
                <a:ea typeface="微软雅黑" panose="020B0503020204020204" charset="-122"/>
              </a:rPr>
              <a:t>程序设计语言的选择</a:t>
            </a:r>
          </a:p>
        </p:txBody>
      </p:sp>
    </p:spTree>
  </p:cSld>
  <p:clrMapOvr>
    <a:masterClrMapping/>
  </p:clrMapOvr>
  <p:transition>
    <p:pull dir="d"/>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软件开发环境</a:t>
            </a:r>
          </a:p>
        </p:txBody>
      </p:sp>
      <p:sp>
        <p:nvSpPr>
          <p:cNvPr id="100" name="文本框 99"/>
          <p:cNvSpPr txBox="1"/>
          <p:nvPr/>
        </p:nvSpPr>
        <p:spPr>
          <a:xfrm>
            <a:off x="1422400" y="1930400"/>
            <a:ext cx="10329545" cy="447675"/>
          </a:xfrm>
          <a:prstGeom prst="rect">
            <a:avLst/>
          </a:prstGeom>
          <a:noFill/>
          <a:ln w="9525">
            <a:noFill/>
          </a:ln>
        </p:spPr>
        <p:txBody>
          <a:bodyPr wrap="square">
            <a:spAutoFit/>
          </a:bodyPr>
          <a:lstStyle/>
          <a:p>
            <a:pPr marL="0" indent="0" algn="l" fontAlgn="auto">
              <a:lnSpc>
                <a:spcPct val="130000"/>
              </a:lnSpc>
            </a:pPr>
            <a:r>
              <a:rPr lang="en-US" altLang="zh-CN" b="0" u="none" dirty="0">
                <a:latin typeface="宋体" panose="02010600030101010101" pitchFamily="2" charset="-122"/>
                <a:ea typeface="宋体" panose="02010600030101010101" pitchFamily="2" charset="-122"/>
                <a:cs typeface="宋体" panose="02010600030101010101" pitchFamily="2" charset="-122"/>
              </a:rPr>
              <a:t>    </a:t>
            </a:r>
            <a:endParaRPr lang="zh-CN" altLang="en-US" dirty="0"/>
          </a:p>
        </p:txBody>
      </p:sp>
      <p:sp>
        <p:nvSpPr>
          <p:cNvPr id="2" name="文本框 1"/>
          <p:cNvSpPr txBox="1"/>
          <p:nvPr/>
        </p:nvSpPr>
        <p:spPr>
          <a:xfrm>
            <a:off x="1520824" y="2209800"/>
            <a:ext cx="10168256" cy="3293209"/>
          </a:xfrm>
          <a:prstGeom prst="rect">
            <a:avLst/>
          </a:prstGeom>
          <a:noFill/>
        </p:spPr>
        <p:txBody>
          <a:bodyPr wrap="square" rtlCol="0" anchor="t">
            <a:spAutoFit/>
          </a:bodyPr>
          <a:lstStyle/>
          <a:p>
            <a:pPr fontAlgn="auto">
              <a:lnSpc>
                <a:spcPct val="130000"/>
              </a:lnSpc>
            </a:pPr>
            <a:r>
              <a:rPr lang="en-US" sz="2000" dirty="0">
                <a:latin typeface="微软雅黑" panose="020B0503020204020204" charset="-122"/>
                <a:ea typeface="微软雅黑" panose="020B0503020204020204" charset="-122"/>
                <a:sym typeface="+mn-ea"/>
              </a:rPr>
              <a:t>       </a:t>
            </a:r>
            <a:r>
              <a:rPr sz="2000" dirty="0">
                <a:latin typeface="微软雅黑" panose="020B0503020204020204" charset="-122"/>
                <a:ea typeface="微软雅黑" panose="020B0503020204020204" charset="-122"/>
                <a:sym typeface="+mn-ea"/>
              </a:rPr>
              <a:t>软件开发环境不同，所使用的编程语言也不同。Visual Basic，Visual C，Visual FoxPro（VFP），Delphi等都是可视化的软件开发工具，它们提供了强有力的调试功能，可以提高软件生产率，减少错误，有效提高软件质量。</a:t>
            </a:r>
          </a:p>
          <a:p>
            <a:pPr fontAlgn="auto">
              <a:lnSpc>
                <a:spcPct val="130000"/>
              </a:lnSpc>
            </a:pPr>
            <a:r>
              <a:rPr sz="2000" dirty="0">
                <a:latin typeface="微软雅黑" panose="020B0503020204020204" charset="-122"/>
                <a:ea typeface="微软雅黑" panose="020B0503020204020204" charset="-122"/>
                <a:sym typeface="+mn-ea"/>
              </a:rPr>
              <a:t>       开发移动应用软件时，如果基于的</a:t>
            </a:r>
            <a:r>
              <a:rPr sz="2000" dirty="0">
                <a:solidFill>
                  <a:srgbClr val="C00000"/>
                </a:solidFill>
                <a:latin typeface="微软雅黑" panose="020B0503020204020204" charset="-122"/>
                <a:ea typeface="微软雅黑" panose="020B0503020204020204" charset="-122"/>
                <a:sym typeface="+mn-ea"/>
              </a:rPr>
              <a:t>操作系统不同</a:t>
            </a:r>
            <a:r>
              <a:rPr sz="2000" dirty="0">
                <a:latin typeface="微软雅黑" panose="020B0503020204020204" charset="-122"/>
                <a:ea typeface="微软雅黑" panose="020B0503020204020204" charset="-122"/>
                <a:sym typeface="+mn-ea"/>
              </a:rPr>
              <a:t>，</a:t>
            </a:r>
            <a:r>
              <a:rPr sz="2000" dirty="0">
                <a:solidFill>
                  <a:srgbClr val="C00000"/>
                </a:solidFill>
                <a:latin typeface="微软雅黑" panose="020B0503020204020204" charset="-122"/>
                <a:ea typeface="微软雅黑" panose="020B0503020204020204" charset="-122"/>
                <a:sym typeface="+mn-ea"/>
              </a:rPr>
              <a:t>可采用的编程语言也会有所不同</a:t>
            </a:r>
            <a:r>
              <a:rPr sz="2000" dirty="0">
                <a:latin typeface="微软雅黑" panose="020B0503020204020204" charset="-122"/>
                <a:ea typeface="微软雅黑" panose="020B0503020204020204" charset="-122"/>
                <a:sym typeface="+mn-ea"/>
              </a:rPr>
              <a:t>。</a:t>
            </a:r>
          </a:p>
          <a:p>
            <a:pPr marL="342900" indent="-342900" fontAlgn="auto">
              <a:lnSpc>
                <a:spcPct val="130000"/>
              </a:lnSpc>
              <a:buClrTx/>
              <a:buFont typeface="Wingdings" panose="05000000000000000000" charset="0"/>
              <a:buChar char="Ø"/>
            </a:pPr>
            <a:r>
              <a:rPr sz="2000" dirty="0">
                <a:latin typeface="微软雅黑" panose="020B0503020204020204" charset="-122"/>
                <a:ea typeface="微软雅黑" panose="020B0503020204020204" charset="-122"/>
                <a:sym typeface="+mn-ea"/>
              </a:rPr>
              <a:t>Android是一种基于Linux内核、开放源代码的操作系统，主要用于移动设备，如智能手机、平板电脑、智能电视等。Android平台需要使用Java编程语言。</a:t>
            </a:r>
          </a:p>
          <a:p>
            <a:pPr marL="342900" indent="-342900" fontAlgn="auto">
              <a:lnSpc>
                <a:spcPct val="130000"/>
              </a:lnSpc>
              <a:buClrTx/>
              <a:buFont typeface="Wingdings" panose="05000000000000000000" charset="0"/>
              <a:buChar char="Ø"/>
            </a:pPr>
            <a:r>
              <a:rPr sz="2000" dirty="0">
                <a:latin typeface="微软雅黑" panose="020B0503020204020204" charset="-122"/>
                <a:ea typeface="微软雅黑" panose="020B0503020204020204" charset="-122"/>
                <a:sym typeface="+mn-ea"/>
              </a:rPr>
              <a:t>Apple公司的iOS移动操作系统需要使用Objective-C语言，新发布的语言是Swift。</a:t>
            </a:r>
          </a:p>
          <a:p>
            <a:pPr marL="342900" indent="-342900" fontAlgn="auto">
              <a:lnSpc>
                <a:spcPct val="130000"/>
              </a:lnSpc>
              <a:buClrTx/>
              <a:buFont typeface="Wingdings" panose="05000000000000000000" charset="0"/>
              <a:buChar char="Ø"/>
            </a:pPr>
            <a:r>
              <a:rPr sz="2000" dirty="0">
                <a:latin typeface="微软雅黑" panose="020B0503020204020204" charset="-122"/>
                <a:ea typeface="微软雅黑" panose="020B0503020204020204" charset="-122"/>
                <a:sym typeface="+mn-ea"/>
              </a:rPr>
              <a:t>Microsoft公司的Windows Phone操作系统所用的编程语言是C，C++，C#等。</a:t>
            </a:r>
          </a:p>
        </p:txBody>
      </p:sp>
      <p:sp>
        <p:nvSpPr>
          <p:cNvPr id="8" name="文本框 6"/>
          <p:cNvSpPr txBox="1"/>
          <p:nvPr/>
        </p:nvSpPr>
        <p:spPr>
          <a:xfrm>
            <a:off x="768972" y="2397760"/>
            <a:ext cx="461665" cy="3062698"/>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4.1.1 </a:t>
            </a:r>
            <a:r>
              <a:rPr lang="zh-CN" altLang="en-US" spc="160" dirty="0" smtClean="0">
                <a:solidFill>
                  <a:schemeClr val="bg1"/>
                </a:solidFill>
                <a:latin typeface="微软雅黑" panose="020B0503020204020204" charset="-122"/>
                <a:ea typeface="微软雅黑" panose="020B0503020204020204" charset="-122"/>
              </a:rPr>
              <a:t>程序设计语言的选择</a:t>
            </a:r>
          </a:p>
        </p:txBody>
      </p:sp>
    </p:spTree>
  </p:cSld>
  <p:clrMapOvr>
    <a:masterClrMapping/>
  </p:clrMapOvr>
  <p:transition>
    <p:pull dir="d"/>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grpSp>
        <p:nvGrpSpPr>
          <p:cNvPr id="12" name="组合 11"/>
          <p:cNvGrpSpPr/>
          <p:nvPr/>
        </p:nvGrpSpPr>
        <p:grpSpPr>
          <a:xfrm>
            <a:off x="689212" y="2445047"/>
            <a:ext cx="10828020" cy="4010660"/>
            <a:chOff x="733" y="3743"/>
            <a:chExt cx="17052" cy="6316"/>
          </a:xfrm>
        </p:grpSpPr>
        <p:sp>
          <p:nvSpPr>
            <p:cNvPr id="20" name="Oval 15"/>
            <p:cNvSpPr>
              <a:spLocks noChangeArrowheads="1"/>
            </p:cNvSpPr>
            <p:nvPr>
              <p:custDataLst>
                <p:tags r:id="rId1"/>
              </p:custDataLst>
            </p:nvPr>
          </p:nvSpPr>
          <p:spPr bwMode="auto">
            <a:xfrm>
              <a:off x="1005" y="411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2" name="Line 16"/>
            <p:cNvSpPr>
              <a:spLocks noChangeShapeType="1"/>
            </p:cNvSpPr>
            <p:nvPr>
              <p:custDataLst>
                <p:tags r:id="rId2"/>
              </p:custDataLst>
            </p:nvPr>
          </p:nvSpPr>
          <p:spPr bwMode="gray">
            <a:xfrm>
              <a:off x="733" y="663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3" name="Line 17"/>
            <p:cNvSpPr>
              <a:spLocks noChangeShapeType="1"/>
            </p:cNvSpPr>
            <p:nvPr>
              <p:custDataLst>
                <p:tags r:id="rId3"/>
              </p:custDataLst>
            </p:nvPr>
          </p:nvSpPr>
          <p:spPr bwMode="gray">
            <a:xfrm>
              <a:off x="3476" y="374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6" name="Oval 10"/>
            <p:cNvSpPr>
              <a:spLocks noChangeArrowheads="1"/>
            </p:cNvSpPr>
            <p:nvPr>
              <p:custDataLst>
                <p:tags r:id="rId4"/>
              </p:custDataLst>
            </p:nvPr>
          </p:nvSpPr>
          <p:spPr bwMode="gray">
            <a:xfrm>
              <a:off x="1277" y="439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7" name="Oval 13"/>
            <p:cNvSpPr>
              <a:spLocks noChangeArrowheads="1"/>
            </p:cNvSpPr>
            <p:nvPr>
              <p:custDataLst>
                <p:tags r:id="rId5"/>
              </p:custDataLst>
            </p:nvPr>
          </p:nvSpPr>
          <p:spPr bwMode="gray">
            <a:xfrm>
              <a:off x="1779" y="492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8" name="KSO_GT1"/>
            <p:cNvSpPr>
              <a:spLocks noChangeArrowheads="1"/>
            </p:cNvSpPr>
            <p:nvPr>
              <p:custDataLst>
                <p:tags r:id="rId6"/>
              </p:custDataLst>
            </p:nvPr>
          </p:nvSpPr>
          <p:spPr bwMode="gray">
            <a:xfrm>
              <a:off x="2385" y="5546"/>
              <a:ext cx="2155" cy="2201"/>
            </a:xfrm>
            <a:prstGeom prst="ellipse">
              <a:avLst/>
            </a:prstGeom>
            <a:solidFill>
              <a:srgbClr val="4F5A71"/>
            </a:solidFill>
            <a:ln>
              <a:noFill/>
            </a:ln>
            <a:effectLst/>
          </p:spPr>
          <p:txBody>
            <a:bodyPr wrap="square" lIns="0" tIns="0" rIns="0" bIns="0" anchor="ctr">
              <a:normAutofit fontScale="90000" lnSpcReduction="20000"/>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mn-ea"/>
                </a:rPr>
                <a:t>结构化程序</a:t>
              </a:r>
            </a:p>
            <a:p>
              <a:pPr algn="ctr">
                <a:defRPr/>
              </a:pPr>
              <a:r>
                <a:rPr lang="zh-CN" altLang="en-US" sz="2800" kern="0" dirty="0">
                  <a:solidFill>
                    <a:srgbClr val="FFFFFF"/>
                  </a:solidFill>
                  <a:latin typeface="Arial" panose="020B0604020202020204" pitchFamily="34" charset="0"/>
                  <a:ea typeface="宋体" panose="02010600030101010101" pitchFamily="2" charset="-122"/>
                  <a:cs typeface="+mn-ea"/>
                </a:rPr>
                <a:t>设计</a:t>
              </a:r>
            </a:p>
          </p:txBody>
        </p:sp>
        <p:sp>
          <p:nvSpPr>
            <p:cNvPr id="9" name="Oval 19"/>
            <p:cNvSpPr>
              <a:spLocks noChangeArrowheads="1"/>
            </p:cNvSpPr>
            <p:nvPr>
              <p:custDataLst>
                <p:tags r:id="rId7"/>
              </p:custDataLst>
            </p:nvPr>
          </p:nvSpPr>
          <p:spPr bwMode="gray">
            <a:xfrm>
              <a:off x="4184" y="398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6462" y="3900"/>
              <a:ext cx="11143" cy="2511"/>
            </a:xfrm>
            <a:prstGeom prst="rect">
              <a:avLst/>
            </a:prstGeom>
            <a:noFill/>
          </p:spPr>
          <p:txBody>
            <a:bodyPr wrap="square" lIns="0" rIns="0">
              <a:normAutofit/>
            </a:bodyPr>
            <a:lstStyle/>
            <a:p>
              <a:pPr>
                <a:lnSpc>
                  <a:spcPct val="130000"/>
                </a:lnSpc>
                <a:spcBef>
                  <a:spcPts val="600"/>
                </a:spcBef>
                <a:defRPr/>
              </a:pPr>
              <a:r>
                <a:rPr lang="en-US" altLang="zh-CN" dirty="0"/>
                <a:t> </a:t>
              </a:r>
              <a:r>
                <a:rPr lang="zh-CN" altLang="en-US" dirty="0"/>
                <a:t>（</a:t>
              </a:r>
              <a:r>
                <a:rPr lang="en-US" altLang="zh-CN" dirty="0"/>
                <a:t>1</a:t>
              </a:r>
              <a:r>
                <a:rPr lang="zh-CN" altLang="en-US" dirty="0"/>
                <a:t>）结构化程序设计（SP）强调模块采用自上而下、逐步求精的设计方法，只使用顺序、选择和循环3种基本控制结构构造程序。</a:t>
              </a:r>
            </a:p>
          </p:txBody>
        </p:sp>
        <p:sp>
          <p:nvSpPr>
            <p:cNvPr id="40" name="Oval 19"/>
            <p:cNvSpPr>
              <a:spLocks noChangeArrowheads="1"/>
            </p:cNvSpPr>
            <p:nvPr>
              <p:custDataLst>
                <p:tags r:id="rId9"/>
              </p:custDataLst>
            </p:nvPr>
          </p:nvSpPr>
          <p:spPr bwMode="gray">
            <a:xfrm>
              <a:off x="5755" y="643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0"/>
              </p:custDataLst>
            </p:nvPr>
          </p:nvSpPr>
          <p:spPr>
            <a:xfrm>
              <a:off x="7290" y="6218"/>
              <a:ext cx="10495" cy="2146"/>
            </a:xfrm>
            <a:prstGeom prst="rect">
              <a:avLst/>
            </a:prstGeom>
            <a:noFill/>
          </p:spPr>
          <p:txBody>
            <a:bodyPr wrap="square" lIns="0" rIns="0">
              <a:normAutofit/>
            </a:bodyPr>
            <a:lstStyle/>
            <a:p>
              <a:pPr>
                <a:lnSpc>
                  <a:spcPct val="130000"/>
                </a:lnSpc>
                <a:spcBef>
                  <a:spcPts val="600"/>
                </a:spcBef>
                <a:defRPr/>
              </a:pPr>
              <a:r>
                <a:rPr lang="en-US" altLang="zh-CN" dirty="0"/>
                <a:t> </a:t>
              </a:r>
              <a:r>
                <a:rPr lang="zh-CN" altLang="en-US" dirty="0"/>
                <a:t>（</a:t>
              </a:r>
              <a:r>
                <a:rPr lang="en-US" altLang="zh-CN" dirty="0"/>
                <a:t>2</a:t>
              </a:r>
              <a:r>
                <a:rPr lang="zh-CN" altLang="en-US" dirty="0"/>
                <a:t>）结构化程序设计用顺序、选择和循环3种结构的有限次组合或嵌套，设计出每个模块都是单入口、单出口的结构化程序。</a:t>
              </a:r>
            </a:p>
          </p:txBody>
        </p:sp>
        <p:sp>
          <p:nvSpPr>
            <p:cNvPr id="46" name="Oval 19"/>
            <p:cNvSpPr>
              <a:spLocks noChangeArrowheads="1"/>
            </p:cNvSpPr>
            <p:nvPr>
              <p:custDataLst>
                <p:tags r:id="rId11"/>
              </p:custDataLst>
            </p:nvPr>
          </p:nvSpPr>
          <p:spPr bwMode="gray">
            <a:xfrm>
              <a:off x="4186" y="878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2"/>
              </p:custDataLst>
            </p:nvPr>
          </p:nvSpPr>
          <p:spPr>
            <a:xfrm>
              <a:off x="6157" y="8760"/>
              <a:ext cx="11178" cy="1299"/>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3</a:t>
              </a:r>
              <a:r>
                <a:rPr lang="zh-CN" altLang="en-US" dirty="0"/>
                <a:t>）结构化程序设计主张避免使用GOTO语句进行程序设计。</a:t>
              </a:r>
            </a:p>
          </p:txBody>
        </p:sp>
      </p:grpSp>
    </p:spTree>
  </p:cSld>
  <p:clrMapOvr>
    <a:masterClrMapping/>
  </p:clrMapOvr>
  <p:transition>
    <p:pull dir="d"/>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grpSp>
        <p:nvGrpSpPr>
          <p:cNvPr id="5" name="组合 4"/>
          <p:cNvGrpSpPr/>
          <p:nvPr/>
        </p:nvGrpSpPr>
        <p:grpSpPr>
          <a:xfrm>
            <a:off x="754380" y="2346325"/>
            <a:ext cx="10516235" cy="4384675"/>
            <a:chOff x="733" y="3743"/>
            <a:chExt cx="16561" cy="6905"/>
          </a:xfrm>
        </p:grpSpPr>
        <p:sp>
          <p:nvSpPr>
            <p:cNvPr id="6" name="Oval 15"/>
            <p:cNvSpPr>
              <a:spLocks noChangeArrowheads="1"/>
            </p:cNvSpPr>
            <p:nvPr>
              <p:custDataLst>
                <p:tags r:id="rId1"/>
              </p:custDataLst>
            </p:nvPr>
          </p:nvSpPr>
          <p:spPr bwMode="auto">
            <a:xfrm>
              <a:off x="1005" y="411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3" name="Line 16"/>
            <p:cNvSpPr>
              <a:spLocks noChangeShapeType="1"/>
            </p:cNvSpPr>
            <p:nvPr>
              <p:custDataLst>
                <p:tags r:id="rId2"/>
              </p:custDataLst>
            </p:nvPr>
          </p:nvSpPr>
          <p:spPr bwMode="gray">
            <a:xfrm>
              <a:off x="733" y="663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4" name="Line 17"/>
            <p:cNvSpPr>
              <a:spLocks noChangeShapeType="1"/>
            </p:cNvSpPr>
            <p:nvPr>
              <p:custDataLst>
                <p:tags r:id="rId3"/>
              </p:custDataLst>
            </p:nvPr>
          </p:nvSpPr>
          <p:spPr bwMode="gray">
            <a:xfrm>
              <a:off x="3476" y="374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15" name="Oval 10"/>
            <p:cNvSpPr>
              <a:spLocks noChangeArrowheads="1"/>
            </p:cNvSpPr>
            <p:nvPr>
              <p:custDataLst>
                <p:tags r:id="rId4"/>
              </p:custDataLst>
            </p:nvPr>
          </p:nvSpPr>
          <p:spPr bwMode="gray">
            <a:xfrm>
              <a:off x="1277" y="439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6" name="Oval 13"/>
            <p:cNvSpPr>
              <a:spLocks noChangeArrowheads="1"/>
            </p:cNvSpPr>
            <p:nvPr>
              <p:custDataLst>
                <p:tags r:id="rId5"/>
              </p:custDataLst>
            </p:nvPr>
          </p:nvSpPr>
          <p:spPr bwMode="gray">
            <a:xfrm>
              <a:off x="1779" y="492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7" name="KSO_GT1"/>
            <p:cNvSpPr>
              <a:spLocks noChangeArrowheads="1"/>
            </p:cNvSpPr>
            <p:nvPr>
              <p:custDataLst>
                <p:tags r:id="rId6"/>
              </p:custDataLst>
            </p:nvPr>
          </p:nvSpPr>
          <p:spPr bwMode="gray">
            <a:xfrm>
              <a:off x="2385" y="5546"/>
              <a:ext cx="2155" cy="2201"/>
            </a:xfrm>
            <a:prstGeom prst="ellipse">
              <a:avLst/>
            </a:prstGeom>
            <a:solidFill>
              <a:srgbClr val="4F5A71"/>
            </a:solidFill>
            <a:ln>
              <a:noFill/>
            </a:ln>
            <a:effectLst/>
          </p:spPr>
          <p:txBody>
            <a:bodyPr wrap="square" lIns="0" tIns="0" rIns="0" bIns="0" anchor="ctr">
              <a:normAutofit fontScale="90000"/>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mn-ea"/>
                </a:rPr>
                <a:t>文档书写规则</a:t>
              </a:r>
            </a:p>
          </p:txBody>
        </p:sp>
        <p:sp>
          <p:nvSpPr>
            <p:cNvPr id="18" name="Oval 19"/>
            <p:cNvSpPr>
              <a:spLocks noChangeArrowheads="1"/>
            </p:cNvSpPr>
            <p:nvPr>
              <p:custDataLst>
                <p:tags r:id="rId7"/>
              </p:custDataLst>
            </p:nvPr>
          </p:nvSpPr>
          <p:spPr bwMode="gray">
            <a:xfrm>
              <a:off x="4184" y="398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9" name="文本框 18"/>
            <p:cNvSpPr txBox="1"/>
            <p:nvPr>
              <p:custDataLst>
                <p:tags r:id="rId8"/>
              </p:custDataLst>
            </p:nvPr>
          </p:nvSpPr>
          <p:spPr>
            <a:xfrm>
              <a:off x="6151" y="3743"/>
              <a:ext cx="11143" cy="2511"/>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1</a:t>
              </a:r>
              <a:r>
                <a:rPr lang="zh-CN" altLang="en-US" dirty="0"/>
                <a:t>）</a:t>
              </a:r>
              <a:r>
                <a:rPr dirty="0"/>
                <a:t>选用含义鲜明的标识符。</a:t>
              </a:r>
            </a:p>
          </p:txBody>
        </p:sp>
        <p:sp>
          <p:nvSpPr>
            <p:cNvPr id="21" name="Oval 19"/>
            <p:cNvSpPr>
              <a:spLocks noChangeArrowheads="1"/>
            </p:cNvSpPr>
            <p:nvPr>
              <p:custDataLst>
                <p:tags r:id="rId9"/>
              </p:custDataLst>
            </p:nvPr>
          </p:nvSpPr>
          <p:spPr bwMode="gray">
            <a:xfrm>
              <a:off x="5755" y="643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4" name="文本框 23"/>
            <p:cNvSpPr txBox="1"/>
            <p:nvPr>
              <p:custDataLst>
                <p:tags r:id="rId10"/>
              </p:custDataLst>
            </p:nvPr>
          </p:nvSpPr>
          <p:spPr>
            <a:xfrm>
              <a:off x="6978" y="5442"/>
              <a:ext cx="10135" cy="2697"/>
            </a:xfrm>
            <a:prstGeom prst="rect">
              <a:avLst/>
            </a:prstGeom>
            <a:noFill/>
          </p:spPr>
          <p:txBody>
            <a:bodyPr wrap="square" lIns="0" rIns="0">
              <a:normAutofit fontScale="92500" lnSpcReduction="20000"/>
            </a:bodyPr>
            <a:lstStyle/>
            <a:p>
              <a:pPr>
                <a:lnSpc>
                  <a:spcPct val="130000"/>
                </a:lnSpc>
                <a:spcBef>
                  <a:spcPts val="600"/>
                </a:spcBef>
                <a:defRPr/>
              </a:pPr>
              <a:r>
                <a:rPr lang="zh-CN" dirty="0"/>
                <a:t>（</a:t>
              </a:r>
              <a:r>
                <a:rPr lang="en-US" altLang="zh-CN" dirty="0"/>
                <a:t>2</a:t>
              </a:r>
              <a:r>
                <a:rPr lang="zh-CN" altLang="en-US" dirty="0"/>
                <a:t>）</a:t>
              </a:r>
              <a:r>
                <a:rPr dirty="0"/>
                <a:t>适当的注解</a:t>
              </a:r>
              <a:r>
                <a:rPr dirty="0" smtClean="0"/>
                <a:t>。</a:t>
              </a:r>
              <a:endParaRPr lang="en-US" dirty="0" smtClean="0"/>
            </a:p>
            <a:p>
              <a:pPr>
                <a:lnSpc>
                  <a:spcPct val="130000"/>
                </a:lnSpc>
                <a:spcBef>
                  <a:spcPts val="600"/>
                </a:spcBef>
                <a:defRPr/>
              </a:pPr>
              <a:r>
                <a:rPr lang="en-US" dirty="0" smtClean="0"/>
                <a:t>        </a:t>
              </a:r>
              <a:r>
                <a:rPr dirty="0" smtClean="0"/>
                <a:t>注解是程序员和程序读者之间通信的重要手段</a:t>
              </a:r>
              <a:r>
                <a:rPr dirty="0"/>
                <a:t>。通常在每个模块开始处用注解简述模块的功能、主要算法、接口特点、重要数据含义、开发简史等。注解内容一定要正确，程序有变动时，注解要与程序始终保持一致性。要用空格或空行区分注解和程序。</a:t>
              </a:r>
            </a:p>
          </p:txBody>
        </p:sp>
        <p:sp>
          <p:nvSpPr>
            <p:cNvPr id="25" name="Oval 19"/>
            <p:cNvSpPr>
              <a:spLocks noChangeArrowheads="1"/>
            </p:cNvSpPr>
            <p:nvPr>
              <p:custDataLst>
                <p:tags r:id="rId11"/>
              </p:custDataLst>
            </p:nvPr>
          </p:nvSpPr>
          <p:spPr bwMode="gray">
            <a:xfrm>
              <a:off x="4186" y="878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30" name="文本框 29"/>
            <p:cNvSpPr txBox="1"/>
            <p:nvPr>
              <p:custDataLst>
                <p:tags r:id="rId12"/>
              </p:custDataLst>
            </p:nvPr>
          </p:nvSpPr>
          <p:spPr>
            <a:xfrm>
              <a:off x="6157" y="8824"/>
              <a:ext cx="10764" cy="1824"/>
            </a:xfrm>
            <a:prstGeom prst="rect">
              <a:avLst/>
            </a:prstGeom>
            <a:noFill/>
          </p:spPr>
          <p:txBody>
            <a:bodyPr wrap="square" lIns="0" rIns="0">
              <a:normAutofit/>
            </a:bodyPr>
            <a:lstStyle/>
            <a:p>
              <a:pPr>
                <a:lnSpc>
                  <a:spcPct val="130000"/>
                </a:lnSpc>
                <a:spcBef>
                  <a:spcPts val="600"/>
                </a:spcBef>
                <a:defRPr/>
              </a:pPr>
              <a:r>
                <a:rPr lang="en-US" altLang="zh-CN" dirty="0"/>
                <a:t> </a:t>
              </a:r>
              <a:r>
                <a:rPr lang="zh-CN" altLang="en-US" dirty="0"/>
                <a:t>（</a:t>
              </a:r>
              <a:r>
                <a:rPr lang="en-US" altLang="zh-CN" dirty="0"/>
                <a:t>3</a:t>
              </a:r>
              <a:r>
                <a:rPr lang="zh-CN" altLang="en-US" dirty="0"/>
                <a:t>）程序布局阶梯式。适当利用阶梯形式，使程序的层次结构清晰明显。</a:t>
              </a:r>
            </a:p>
          </p:txBody>
        </p:sp>
      </p:grpSp>
    </p:spTree>
  </p:cSld>
  <p:clrMapOvr>
    <a:masterClrMapping/>
  </p:clrMapOvr>
  <p:transition>
    <p:pull dir="d"/>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grpSp>
        <p:nvGrpSpPr>
          <p:cNvPr id="4" name="组合 3"/>
          <p:cNvGrpSpPr/>
          <p:nvPr/>
        </p:nvGrpSpPr>
        <p:grpSpPr>
          <a:xfrm>
            <a:off x="785898" y="2205355"/>
            <a:ext cx="11053992" cy="3825240"/>
            <a:chOff x="2055" y="3545"/>
            <a:chExt cx="17456" cy="6408"/>
          </a:xfrm>
        </p:grpSpPr>
        <p:sp>
          <p:nvSpPr>
            <p:cNvPr id="27" name="Oval 15"/>
            <p:cNvSpPr>
              <a:spLocks noChangeArrowheads="1"/>
            </p:cNvSpPr>
            <p:nvPr>
              <p:custDataLst>
                <p:tags r:id="rId1"/>
              </p:custDataLst>
            </p:nvPr>
          </p:nvSpPr>
          <p:spPr bwMode="auto">
            <a:xfrm>
              <a:off x="2327" y="455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8" name="Line 16"/>
            <p:cNvSpPr>
              <a:spLocks noChangeShapeType="1"/>
            </p:cNvSpPr>
            <p:nvPr>
              <p:custDataLst>
                <p:tags r:id="rId2"/>
              </p:custDataLst>
            </p:nvPr>
          </p:nvSpPr>
          <p:spPr bwMode="gray">
            <a:xfrm>
              <a:off x="2055" y="707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 name="Line 17"/>
            <p:cNvSpPr>
              <a:spLocks noChangeShapeType="1"/>
            </p:cNvSpPr>
            <p:nvPr>
              <p:custDataLst>
                <p:tags r:id="rId3"/>
              </p:custDataLst>
            </p:nvPr>
          </p:nvSpPr>
          <p:spPr bwMode="gray">
            <a:xfrm>
              <a:off x="4798" y="418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2599" y="483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32" name="Oval 13"/>
            <p:cNvSpPr>
              <a:spLocks noChangeArrowheads="1"/>
            </p:cNvSpPr>
            <p:nvPr>
              <p:custDataLst>
                <p:tags r:id="rId5"/>
              </p:custDataLst>
            </p:nvPr>
          </p:nvSpPr>
          <p:spPr bwMode="gray">
            <a:xfrm>
              <a:off x="3101" y="536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36" name="KSO_GT1"/>
            <p:cNvSpPr>
              <a:spLocks noChangeArrowheads="1"/>
            </p:cNvSpPr>
            <p:nvPr>
              <p:custDataLst>
                <p:tags r:id="rId6"/>
              </p:custDataLst>
            </p:nvPr>
          </p:nvSpPr>
          <p:spPr bwMode="gray">
            <a:xfrm>
              <a:off x="3707" y="5986"/>
              <a:ext cx="2155" cy="2201"/>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黑体" panose="02010609060101010101" pitchFamily="49" charset="-122"/>
                </a:rPr>
                <a:t>数据说明</a:t>
              </a:r>
            </a:p>
          </p:txBody>
        </p:sp>
        <p:sp>
          <p:nvSpPr>
            <p:cNvPr id="41" name="Oval 19"/>
            <p:cNvSpPr>
              <a:spLocks noChangeArrowheads="1"/>
            </p:cNvSpPr>
            <p:nvPr>
              <p:custDataLst>
                <p:tags r:id="rId7"/>
              </p:custDataLst>
            </p:nvPr>
          </p:nvSpPr>
          <p:spPr bwMode="gray">
            <a:xfrm>
              <a:off x="5461" y="4468"/>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7074" y="3545"/>
              <a:ext cx="11958" cy="2441"/>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1</a:t>
              </a:r>
              <a:r>
                <a:rPr lang="zh-CN" altLang="en-US" dirty="0"/>
                <a:t>）</a:t>
              </a:r>
              <a:r>
                <a:rPr dirty="0"/>
                <a:t>数据说明的次序应标准化。例如，按数据类型或数据结构来确定数据说明的次序。次序的规则在数据字典中加以说明，以便在测试调试阶段和维护阶段方便地查找数据说明情况。</a:t>
              </a:r>
            </a:p>
          </p:txBody>
        </p:sp>
        <p:sp>
          <p:nvSpPr>
            <p:cNvPr id="44" name="Oval 19"/>
            <p:cNvSpPr>
              <a:spLocks noChangeArrowheads="1"/>
            </p:cNvSpPr>
            <p:nvPr>
              <p:custDataLst>
                <p:tags r:id="rId9"/>
              </p:custDataLst>
            </p:nvPr>
          </p:nvSpPr>
          <p:spPr bwMode="gray">
            <a:xfrm>
              <a:off x="6665" y="6082"/>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8321" y="5986"/>
              <a:ext cx="10710" cy="1344"/>
            </a:xfrm>
            <a:prstGeom prst="rect">
              <a:avLst/>
            </a:prstGeom>
            <a:noFill/>
          </p:spPr>
          <p:txBody>
            <a:bodyPr wrap="square" lIns="0" rIns="0">
              <a:normAutofit lnSpcReduction="10000"/>
            </a:bodyPr>
            <a:lstStyle/>
            <a:p>
              <a:pPr>
                <a:lnSpc>
                  <a:spcPct val="130000"/>
                </a:lnSpc>
                <a:spcBef>
                  <a:spcPts val="600"/>
                </a:spcBef>
                <a:defRPr/>
              </a:pPr>
              <a:r>
                <a:rPr lang="zh-CN" dirty="0"/>
                <a:t>（</a:t>
              </a:r>
              <a:r>
                <a:rPr lang="en-US" altLang="zh-CN" dirty="0"/>
                <a:t>2</a:t>
              </a:r>
              <a:r>
                <a:rPr lang="zh-CN" altLang="en-US" dirty="0"/>
                <a:t>）</a:t>
              </a:r>
              <a:r>
                <a:rPr dirty="0"/>
                <a:t>在对同一语句中的多个变量加以说明时，应按英文字母的顺序排列。</a:t>
              </a:r>
            </a:p>
          </p:txBody>
        </p:sp>
        <p:sp>
          <p:nvSpPr>
            <p:cNvPr id="50" name="Oval 19"/>
            <p:cNvSpPr>
              <a:spLocks noChangeArrowheads="1"/>
            </p:cNvSpPr>
            <p:nvPr>
              <p:custDataLst>
                <p:tags r:id="rId11"/>
              </p:custDataLst>
            </p:nvPr>
          </p:nvSpPr>
          <p:spPr bwMode="gray">
            <a:xfrm>
              <a:off x="6665" y="7699"/>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8321" y="7513"/>
              <a:ext cx="11190" cy="768"/>
            </a:xfrm>
            <a:prstGeom prst="rect">
              <a:avLst/>
            </a:prstGeom>
            <a:noFill/>
          </p:spPr>
          <p:txBody>
            <a:bodyPr wrap="square" lIns="0" rIns="0">
              <a:normAutofit/>
            </a:bodyPr>
            <a:lstStyle/>
            <a:p>
              <a:pPr>
                <a:lnSpc>
                  <a:spcPct val="130000"/>
                </a:lnSpc>
                <a:spcBef>
                  <a:spcPts val="600"/>
                </a:spcBef>
                <a:defRPr/>
              </a:pPr>
              <a:r>
                <a:rPr lang="zh-CN" altLang="en-US" dirty="0"/>
                <a:t>（</a:t>
              </a:r>
              <a:r>
                <a:rPr lang="en-US" altLang="zh-CN" dirty="0"/>
                <a:t>3</a:t>
              </a:r>
              <a:r>
                <a:rPr lang="zh-CN" altLang="en-US" dirty="0"/>
                <a:t>）在使用一个复杂的数据结构时，最好加注释语句。</a:t>
              </a:r>
            </a:p>
          </p:txBody>
        </p:sp>
        <p:sp>
          <p:nvSpPr>
            <p:cNvPr id="54" name="Oval 19"/>
            <p:cNvSpPr>
              <a:spLocks noChangeArrowheads="1"/>
            </p:cNvSpPr>
            <p:nvPr>
              <p:custDataLst>
                <p:tags r:id="rId13"/>
              </p:custDataLst>
            </p:nvPr>
          </p:nvSpPr>
          <p:spPr bwMode="gray">
            <a:xfrm>
              <a:off x="5464" y="9273"/>
              <a:ext cx="396" cy="396"/>
            </a:xfrm>
            <a:prstGeom prst="ellipse">
              <a:avLst/>
            </a:prstGeom>
            <a:solidFill>
              <a:srgbClr val="4F5A71"/>
            </a:solidFill>
            <a:ln w="12700">
              <a:solidFill>
                <a:srgbClr val="FFFFFF"/>
              </a:solidFill>
              <a:round/>
            </a:ln>
            <a:effectLst/>
          </p:spPr>
          <p:txBody>
            <a:bodyPr wrap="square" anchor="ctr">
              <a:normAutofit fontScale="475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7074" y="9185"/>
              <a:ext cx="11669" cy="768"/>
            </a:xfrm>
            <a:prstGeom prst="rect">
              <a:avLst/>
            </a:prstGeom>
            <a:noFill/>
          </p:spPr>
          <p:txBody>
            <a:bodyPr wrap="square" lIns="0" rIns="0">
              <a:normAutofit fontScale="97500"/>
            </a:bodyPr>
            <a:lstStyle/>
            <a:p>
              <a:pPr>
                <a:lnSpc>
                  <a:spcPct val="130000"/>
                </a:lnSpc>
                <a:spcBef>
                  <a:spcPts val="600"/>
                </a:spcBef>
                <a:defRPr/>
              </a:pPr>
              <a:r>
                <a:rPr lang="zh-CN" altLang="en-US" dirty="0"/>
                <a:t>（</a:t>
              </a:r>
              <a:r>
                <a:rPr lang="en-US" altLang="zh-CN" dirty="0"/>
                <a:t>4</a:t>
              </a:r>
              <a:r>
                <a:rPr lang="zh-CN" altLang="en-US" dirty="0"/>
                <a:t>）变量说明不要遗漏，变量的类型、长度、存储及初始化要正确。</a:t>
              </a:r>
            </a:p>
          </p:txBody>
        </p:sp>
      </p:grpSp>
    </p:spTree>
  </p:cSld>
  <p:clrMapOvr>
    <a:masterClrMapping/>
  </p:clrMapOvr>
  <p:transition>
    <p:pull dir="d"/>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grpSp>
        <p:nvGrpSpPr>
          <p:cNvPr id="17" name="组合 16"/>
          <p:cNvGrpSpPr/>
          <p:nvPr/>
        </p:nvGrpSpPr>
        <p:grpSpPr>
          <a:xfrm>
            <a:off x="694690" y="2321560"/>
            <a:ext cx="12310745" cy="4238625"/>
            <a:chOff x="1094" y="3656"/>
            <a:chExt cx="19387" cy="6675"/>
          </a:xfrm>
        </p:grpSpPr>
        <p:sp>
          <p:nvSpPr>
            <p:cNvPr id="5" name="Oval 15"/>
            <p:cNvSpPr>
              <a:spLocks noChangeArrowheads="1"/>
            </p:cNvSpPr>
            <p:nvPr>
              <p:custDataLst>
                <p:tags r:id="rId1"/>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4"/>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6"/>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黑体" panose="02010609060101010101" pitchFamily="49" charset="-122"/>
                </a:rPr>
                <a:t>语句构造</a:t>
              </a:r>
            </a:p>
          </p:txBody>
        </p:sp>
        <p:sp>
          <p:nvSpPr>
            <p:cNvPr id="43" name="Oval 19"/>
            <p:cNvSpPr>
              <a:spLocks noChangeArrowheads="1"/>
            </p:cNvSpPr>
            <p:nvPr>
              <p:custDataLst>
                <p:tags r:id="rId7"/>
              </p:custDataLst>
            </p:nvPr>
          </p:nvSpPr>
          <p:spPr bwMode="gray">
            <a:xfrm>
              <a:off x="4107" y="415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5721" y="3656"/>
              <a:ext cx="14760" cy="1867"/>
            </a:xfrm>
            <a:prstGeom prst="rect">
              <a:avLst/>
            </a:prstGeom>
            <a:noFill/>
          </p:spPr>
          <p:txBody>
            <a:bodyPr wrap="square" lIns="0" rIns="0">
              <a:normAutofit/>
            </a:bodyPr>
            <a:lstStyle/>
            <a:p>
              <a:pPr>
                <a:lnSpc>
                  <a:spcPct val="130000"/>
                </a:lnSpc>
                <a:spcBef>
                  <a:spcPts val="600"/>
                </a:spcBef>
                <a:defRPr/>
              </a:pPr>
              <a:r>
                <a:rPr dirty="0"/>
                <a:t>（1）不要为了节省空间而把多个语句写在同一行。</a:t>
              </a:r>
            </a:p>
            <a:p>
              <a:pPr>
                <a:lnSpc>
                  <a:spcPct val="130000"/>
                </a:lnSpc>
                <a:spcBef>
                  <a:spcPts val="600"/>
                </a:spcBef>
                <a:defRPr/>
              </a:pPr>
              <a:endParaRPr dirty="0"/>
            </a:p>
            <a:p>
              <a:pPr>
                <a:lnSpc>
                  <a:spcPct val="130000"/>
                </a:lnSpc>
                <a:spcBef>
                  <a:spcPts val="600"/>
                </a:spcBef>
                <a:defRPr/>
              </a:pPr>
              <a:endParaRPr dirty="0"/>
            </a:p>
          </p:txBody>
        </p:sp>
        <p:sp>
          <p:nvSpPr>
            <p:cNvPr id="46" name="Oval 19"/>
            <p:cNvSpPr>
              <a:spLocks noChangeArrowheads="1"/>
            </p:cNvSpPr>
            <p:nvPr>
              <p:custDataLst>
                <p:tags r:id="rId9"/>
              </p:custDataLst>
            </p:nvPr>
          </p:nvSpPr>
          <p:spPr bwMode="gray">
            <a:xfrm>
              <a:off x="5110" y="487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7127" y="5209"/>
              <a:ext cx="13038" cy="1097"/>
            </a:xfrm>
            <a:prstGeom prst="rect">
              <a:avLst/>
            </a:prstGeom>
            <a:noFill/>
          </p:spPr>
          <p:txBody>
            <a:bodyPr wrap="square" lIns="0" rIns="0">
              <a:normAutofit/>
            </a:bodyPr>
            <a:lstStyle/>
            <a:p>
              <a:pPr>
                <a:lnSpc>
                  <a:spcPct val="130000"/>
                </a:lnSpc>
                <a:spcBef>
                  <a:spcPts val="600"/>
                </a:spcBef>
                <a:defRPr/>
              </a:pPr>
              <a:r>
                <a:rPr dirty="0"/>
                <a:t>（3）尽量减少对“非”条件的测试。</a:t>
              </a:r>
            </a:p>
            <a:p>
              <a:pPr>
                <a:lnSpc>
                  <a:spcPct val="130000"/>
                </a:lnSpc>
                <a:spcBef>
                  <a:spcPts val="600"/>
                </a:spcBef>
                <a:defRPr/>
              </a:pPr>
              <a:endParaRPr dirty="0"/>
            </a:p>
          </p:txBody>
        </p:sp>
        <p:sp>
          <p:nvSpPr>
            <p:cNvPr id="49" name="Oval 19"/>
            <p:cNvSpPr>
              <a:spLocks noChangeArrowheads="1"/>
            </p:cNvSpPr>
            <p:nvPr>
              <p:custDataLst>
                <p:tags r:id="rId11"/>
              </p:custDataLst>
            </p:nvPr>
          </p:nvSpPr>
          <p:spPr bwMode="gray">
            <a:xfrm>
              <a:off x="5721"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2"/>
              </p:custDataLst>
            </p:nvPr>
          </p:nvSpPr>
          <p:spPr>
            <a:xfrm>
              <a:off x="7127" y="7330"/>
              <a:ext cx="11405" cy="759"/>
            </a:xfrm>
            <a:prstGeom prst="rect">
              <a:avLst/>
            </a:prstGeom>
            <a:noFill/>
          </p:spPr>
          <p:txBody>
            <a:bodyPr wrap="square" lIns="0" rIns="0">
              <a:normAutofit/>
            </a:bodyPr>
            <a:lstStyle/>
            <a:p>
              <a:pPr>
                <a:lnSpc>
                  <a:spcPct val="130000"/>
                </a:lnSpc>
                <a:spcBef>
                  <a:spcPts val="600"/>
                </a:spcBef>
                <a:defRPr/>
              </a:pPr>
              <a:r>
                <a:rPr lang="zh-CN" altLang="en-US" dirty="0"/>
                <a:t>（5）避免大量使用循环嵌套语句和条件嵌套语句。</a:t>
              </a:r>
            </a:p>
            <a:p>
              <a:pPr>
                <a:lnSpc>
                  <a:spcPct val="130000"/>
                </a:lnSpc>
                <a:spcBef>
                  <a:spcPts val="600"/>
                </a:spcBef>
                <a:defRPr/>
              </a:pPr>
              <a:endParaRPr lang="zh-CN" altLang="en-US" dirty="0"/>
            </a:p>
          </p:txBody>
        </p:sp>
        <p:sp>
          <p:nvSpPr>
            <p:cNvPr id="53" name="Oval 19"/>
            <p:cNvSpPr>
              <a:spLocks noChangeArrowheads="1"/>
            </p:cNvSpPr>
            <p:nvPr>
              <p:custDataLst>
                <p:tags r:id="rId13"/>
              </p:custDataLst>
            </p:nvPr>
          </p:nvSpPr>
          <p:spPr bwMode="gray">
            <a:xfrm>
              <a:off x="5110" y="81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4"/>
              </p:custDataLst>
            </p:nvPr>
          </p:nvSpPr>
          <p:spPr>
            <a:xfrm>
              <a:off x="5506" y="8979"/>
              <a:ext cx="12811" cy="1353"/>
            </a:xfrm>
            <a:prstGeom prst="rect">
              <a:avLst/>
            </a:prstGeom>
            <a:noFill/>
          </p:spPr>
          <p:txBody>
            <a:bodyPr wrap="square" lIns="0" rIns="0">
              <a:normAutofit/>
            </a:bodyPr>
            <a:lstStyle/>
            <a:p>
              <a:pPr>
                <a:lnSpc>
                  <a:spcPct val="130000"/>
                </a:lnSpc>
                <a:spcBef>
                  <a:spcPts val="600"/>
                </a:spcBef>
                <a:defRPr/>
              </a:pPr>
              <a:r>
                <a:rPr lang="zh-CN" altLang="en-US" dirty="0"/>
                <a:t>（7）每个循环要有终止条件，不要有死循环，也要避免不可能被执行的循环。</a:t>
              </a:r>
            </a:p>
          </p:txBody>
        </p:sp>
        <p:sp>
          <p:nvSpPr>
            <p:cNvPr id="56" name="Oval 19"/>
            <p:cNvSpPr>
              <a:spLocks noChangeArrowheads="1"/>
            </p:cNvSpPr>
            <p:nvPr>
              <p:custDataLst>
                <p:tags r:id="rId15"/>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7127" y="6141"/>
              <a:ext cx="9960" cy="1249"/>
            </a:xfrm>
            <a:prstGeom prst="rect">
              <a:avLst/>
            </a:prstGeom>
            <a:noFill/>
          </p:spPr>
          <p:txBody>
            <a:bodyPr wrap="square" lIns="0" rIns="0">
              <a:normAutofit lnSpcReduction="10000"/>
            </a:bodyPr>
            <a:lstStyle/>
            <a:p>
              <a:pPr>
                <a:lnSpc>
                  <a:spcPct val="130000"/>
                </a:lnSpc>
                <a:spcBef>
                  <a:spcPts val="600"/>
                </a:spcBef>
                <a:defRPr/>
              </a:pPr>
              <a:r>
                <a:rPr dirty="0">
                  <a:sym typeface="+mn-ea"/>
                </a:rPr>
                <a:t>（4）对于多分支语句，尽量把出现可能性大的情况放在前面，把较少出现的分支放在后面，可以加快运算时间。</a:t>
              </a:r>
              <a:endParaRPr dirty="0"/>
            </a:p>
            <a:p>
              <a:pPr>
                <a:lnSpc>
                  <a:spcPct val="130000"/>
                </a:lnSpc>
                <a:spcBef>
                  <a:spcPts val="600"/>
                </a:spcBef>
                <a:defRPr/>
              </a:pPr>
              <a:endParaRPr lang="zh-CN" altLang="en-US" dirty="0"/>
            </a:p>
          </p:txBody>
        </p:sp>
        <p:sp>
          <p:nvSpPr>
            <p:cNvPr id="13" name="Oval 19"/>
            <p:cNvSpPr>
              <a:spLocks noChangeArrowheads="1"/>
            </p:cNvSpPr>
            <p:nvPr>
              <p:custDataLst>
                <p:tags r:id="rId17"/>
              </p:custDataLst>
            </p:nvPr>
          </p:nvSpPr>
          <p:spPr bwMode="gray">
            <a:xfrm>
              <a:off x="5975" y="55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8"/>
              </p:custDataLst>
            </p:nvPr>
          </p:nvSpPr>
          <p:spPr bwMode="gray">
            <a:xfrm>
              <a:off x="5936" y="77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332" y="4507"/>
              <a:ext cx="5528" cy="576"/>
            </a:xfrm>
            <a:prstGeom prst="rect">
              <a:avLst/>
            </a:prstGeom>
            <a:noFill/>
          </p:spPr>
          <p:txBody>
            <a:bodyPr wrap="none" rtlCol="0" anchor="t">
              <a:spAutoFit/>
            </a:bodyPr>
            <a:lstStyle/>
            <a:p>
              <a:r>
                <a:rPr dirty="0">
                  <a:sym typeface="+mn-ea"/>
                </a:rPr>
                <a:t>（2）尽量避免复杂的条件测试。</a:t>
              </a:r>
              <a:endParaRPr lang="zh-CN" altLang="en-US"/>
            </a:p>
          </p:txBody>
        </p:sp>
        <p:sp>
          <p:nvSpPr>
            <p:cNvPr id="16" name="文本框 15"/>
            <p:cNvSpPr txBox="1"/>
            <p:nvPr/>
          </p:nvSpPr>
          <p:spPr>
            <a:xfrm>
              <a:off x="6371" y="8123"/>
              <a:ext cx="10568" cy="705"/>
            </a:xfrm>
            <a:prstGeom prst="rect">
              <a:avLst/>
            </a:prstGeom>
            <a:noFill/>
          </p:spPr>
          <p:txBody>
            <a:bodyPr wrap="none" rtlCol="0" anchor="t">
              <a:spAutoFit/>
            </a:bodyPr>
            <a:lstStyle/>
            <a:p>
              <a:pPr>
                <a:lnSpc>
                  <a:spcPct val="130000"/>
                </a:lnSpc>
                <a:spcBef>
                  <a:spcPts val="600"/>
                </a:spcBef>
                <a:defRPr/>
              </a:pPr>
              <a:r>
                <a:rPr lang="zh-CN" altLang="en-US" dirty="0">
                  <a:sym typeface="+mn-ea"/>
                </a:rPr>
                <a:t>（6）利用括号使逻辑表达式或算术表达式的运算次序清晰直观。</a:t>
              </a:r>
              <a:endParaRPr lang="zh-CN" altLang="en-US"/>
            </a:p>
          </p:txBody>
        </p:sp>
      </p:grpSp>
    </p:spTree>
  </p:cSld>
  <p:clrMapOvr>
    <a:masterClrMapping/>
  </p:clrMapOvr>
  <p:transition>
    <p:pull dir="d"/>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grpSp>
        <p:nvGrpSpPr>
          <p:cNvPr id="17" name="组合 16"/>
          <p:cNvGrpSpPr/>
          <p:nvPr/>
        </p:nvGrpSpPr>
        <p:grpSpPr>
          <a:xfrm>
            <a:off x="746760" y="1969770"/>
            <a:ext cx="12041505" cy="3877945"/>
            <a:chOff x="1094" y="3561"/>
            <a:chExt cx="18963" cy="6107"/>
          </a:xfrm>
        </p:grpSpPr>
        <p:sp>
          <p:nvSpPr>
            <p:cNvPr id="5" name="Oval 15"/>
            <p:cNvSpPr>
              <a:spLocks noChangeArrowheads="1"/>
            </p:cNvSpPr>
            <p:nvPr>
              <p:custDataLst>
                <p:tags r:id="rId3"/>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4"/>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5"/>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6"/>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7"/>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8"/>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黑体" panose="02010609060101010101" pitchFamily="49" charset="-122"/>
                </a:rPr>
                <a:t>输入输出</a:t>
              </a:r>
            </a:p>
          </p:txBody>
        </p:sp>
        <p:sp>
          <p:nvSpPr>
            <p:cNvPr id="43" name="Oval 19"/>
            <p:cNvSpPr>
              <a:spLocks noChangeArrowheads="1"/>
            </p:cNvSpPr>
            <p:nvPr>
              <p:custDataLst>
                <p:tags r:id="rId9"/>
              </p:custDataLst>
            </p:nvPr>
          </p:nvSpPr>
          <p:spPr bwMode="gray">
            <a:xfrm>
              <a:off x="4107" y="4111"/>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10"/>
              </p:custDataLst>
            </p:nvPr>
          </p:nvSpPr>
          <p:spPr>
            <a:xfrm>
              <a:off x="5297" y="3561"/>
              <a:ext cx="14760" cy="832"/>
            </a:xfrm>
            <a:prstGeom prst="rect">
              <a:avLst/>
            </a:prstGeom>
            <a:noFill/>
          </p:spPr>
          <p:txBody>
            <a:bodyPr wrap="square" lIns="0" rIns="0">
              <a:normAutofit/>
            </a:bodyPr>
            <a:lstStyle/>
            <a:p>
              <a:pPr>
                <a:lnSpc>
                  <a:spcPct val="130000"/>
                </a:lnSpc>
                <a:spcBef>
                  <a:spcPts val="600"/>
                </a:spcBef>
                <a:defRPr/>
              </a:pPr>
              <a:r>
                <a:rPr dirty="0"/>
                <a:t>（1）对输入数据加校验可以避免用户误输入。</a:t>
              </a:r>
            </a:p>
            <a:p>
              <a:pPr>
                <a:lnSpc>
                  <a:spcPct val="130000"/>
                </a:lnSpc>
                <a:spcBef>
                  <a:spcPts val="600"/>
                </a:spcBef>
                <a:defRPr/>
              </a:pPr>
              <a:endParaRPr dirty="0"/>
            </a:p>
          </p:txBody>
        </p:sp>
        <p:sp>
          <p:nvSpPr>
            <p:cNvPr id="46" name="Oval 19"/>
            <p:cNvSpPr>
              <a:spLocks noChangeArrowheads="1"/>
            </p:cNvSpPr>
            <p:nvPr>
              <p:custDataLst>
                <p:tags r:id="rId11"/>
              </p:custDataLst>
            </p:nvPr>
          </p:nvSpPr>
          <p:spPr bwMode="gray">
            <a:xfrm>
              <a:off x="4901" y="439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2"/>
              </p:custDataLst>
            </p:nvPr>
          </p:nvSpPr>
          <p:spPr>
            <a:xfrm>
              <a:off x="6766" y="4788"/>
              <a:ext cx="13038" cy="1097"/>
            </a:xfrm>
            <a:prstGeom prst="rect">
              <a:avLst/>
            </a:prstGeom>
            <a:noFill/>
          </p:spPr>
          <p:txBody>
            <a:bodyPr wrap="square" lIns="0" rIns="0">
              <a:normAutofit/>
            </a:bodyPr>
            <a:lstStyle/>
            <a:p>
              <a:pPr>
                <a:lnSpc>
                  <a:spcPct val="130000"/>
                </a:lnSpc>
                <a:spcBef>
                  <a:spcPts val="600"/>
                </a:spcBef>
                <a:defRPr/>
              </a:pPr>
              <a:r>
                <a:rPr dirty="0"/>
                <a:t>（3）提示输入的请求，并简明地说明可用的选择或边界数值。</a:t>
              </a:r>
            </a:p>
          </p:txBody>
        </p:sp>
        <p:sp>
          <p:nvSpPr>
            <p:cNvPr id="49" name="Oval 19"/>
            <p:cNvSpPr>
              <a:spLocks noChangeArrowheads="1"/>
            </p:cNvSpPr>
            <p:nvPr>
              <p:custDataLst>
                <p:tags r:id="rId13"/>
              </p:custDataLst>
            </p:nvPr>
          </p:nvSpPr>
          <p:spPr bwMode="gray">
            <a:xfrm>
              <a:off x="6184"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4"/>
              </p:custDataLst>
            </p:nvPr>
          </p:nvSpPr>
          <p:spPr>
            <a:xfrm>
              <a:off x="7806" y="6605"/>
              <a:ext cx="11405" cy="759"/>
            </a:xfrm>
            <a:prstGeom prst="rect">
              <a:avLst/>
            </a:prstGeom>
            <a:noFill/>
          </p:spPr>
          <p:txBody>
            <a:bodyPr wrap="square" lIns="0" rIns="0">
              <a:normAutofit/>
            </a:bodyPr>
            <a:lstStyle/>
            <a:p>
              <a:pPr>
                <a:lnSpc>
                  <a:spcPct val="130000"/>
                </a:lnSpc>
                <a:spcBef>
                  <a:spcPts val="600"/>
                </a:spcBef>
                <a:defRPr/>
              </a:pPr>
              <a:r>
                <a:rPr lang="zh-CN" altLang="en-US" dirty="0"/>
                <a:t>（5）尽量保持输入格式的一致性。</a:t>
              </a:r>
            </a:p>
            <a:p>
              <a:pPr>
                <a:lnSpc>
                  <a:spcPct val="130000"/>
                </a:lnSpc>
                <a:spcBef>
                  <a:spcPts val="600"/>
                </a:spcBef>
                <a:defRPr/>
              </a:pPr>
              <a:endParaRPr lang="zh-CN" altLang="en-US" dirty="0"/>
            </a:p>
          </p:txBody>
        </p:sp>
        <p:sp>
          <p:nvSpPr>
            <p:cNvPr id="53" name="Oval 19"/>
            <p:cNvSpPr>
              <a:spLocks noChangeArrowheads="1"/>
            </p:cNvSpPr>
            <p:nvPr>
              <p:custDataLst>
                <p:tags r:id="rId15"/>
              </p:custDataLst>
            </p:nvPr>
          </p:nvSpPr>
          <p:spPr bwMode="gray">
            <a:xfrm>
              <a:off x="4901" y="8828"/>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6"/>
              </p:custDataLst>
            </p:nvPr>
          </p:nvSpPr>
          <p:spPr>
            <a:xfrm>
              <a:off x="6766" y="7891"/>
              <a:ext cx="12811" cy="909"/>
            </a:xfrm>
            <a:prstGeom prst="rect">
              <a:avLst/>
            </a:prstGeom>
            <a:noFill/>
          </p:spPr>
          <p:txBody>
            <a:bodyPr wrap="square" lIns="0" rIns="0">
              <a:normAutofit/>
            </a:bodyPr>
            <a:lstStyle/>
            <a:p>
              <a:pPr>
                <a:lnSpc>
                  <a:spcPct val="130000"/>
                </a:lnSpc>
                <a:spcBef>
                  <a:spcPts val="600"/>
                </a:spcBef>
                <a:defRPr/>
              </a:pPr>
              <a:r>
                <a:rPr lang="zh-CN" altLang="en-US" dirty="0"/>
                <a:t>（7）输出信息中不要有文字错误，要保证输出结果的正确性。</a:t>
              </a:r>
            </a:p>
          </p:txBody>
        </p:sp>
        <p:sp>
          <p:nvSpPr>
            <p:cNvPr id="56" name="Oval 19"/>
            <p:cNvSpPr>
              <a:spLocks noChangeArrowheads="1"/>
            </p:cNvSpPr>
            <p:nvPr>
              <p:custDataLst>
                <p:tags r:id="rId17"/>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8"/>
              </p:custDataLst>
            </p:nvPr>
          </p:nvSpPr>
          <p:spPr>
            <a:xfrm>
              <a:off x="7613" y="5536"/>
              <a:ext cx="10611" cy="1249"/>
            </a:xfrm>
            <a:prstGeom prst="rect">
              <a:avLst/>
            </a:prstGeom>
            <a:noFill/>
          </p:spPr>
          <p:txBody>
            <a:bodyPr wrap="square" lIns="0" rIns="0">
              <a:normAutofit lnSpcReduction="10000"/>
            </a:bodyPr>
            <a:lstStyle/>
            <a:p>
              <a:pPr>
                <a:lnSpc>
                  <a:spcPct val="130000"/>
                </a:lnSpc>
                <a:spcBef>
                  <a:spcPts val="600"/>
                </a:spcBef>
                <a:defRPr/>
              </a:pPr>
              <a:r>
                <a:rPr dirty="0">
                  <a:sym typeface="+mn-ea"/>
                </a:rPr>
                <a:t>（4）输入格式简单，并可在提示中加以说明或用表格方式提供输入位置，方便用户使用。</a:t>
              </a:r>
              <a:endParaRPr lang="zh-CN" altLang="en-US" dirty="0"/>
            </a:p>
          </p:txBody>
        </p:sp>
        <p:sp>
          <p:nvSpPr>
            <p:cNvPr id="13" name="Oval 19"/>
            <p:cNvSpPr>
              <a:spLocks noChangeArrowheads="1"/>
            </p:cNvSpPr>
            <p:nvPr>
              <p:custDataLst>
                <p:tags r:id="rId19"/>
              </p:custDataLst>
            </p:nvPr>
          </p:nvSpPr>
          <p:spPr bwMode="gray">
            <a:xfrm>
              <a:off x="5936" y="563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20"/>
              </p:custDataLst>
            </p:nvPr>
          </p:nvSpPr>
          <p:spPr bwMode="gray">
            <a:xfrm>
              <a:off x="6031" y="736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031" y="4302"/>
              <a:ext cx="8048" cy="576"/>
            </a:xfrm>
            <a:prstGeom prst="rect">
              <a:avLst/>
            </a:prstGeom>
            <a:noFill/>
          </p:spPr>
          <p:txBody>
            <a:bodyPr wrap="none" rtlCol="0" anchor="t">
              <a:spAutoFit/>
            </a:bodyPr>
            <a:lstStyle/>
            <a:p>
              <a:pPr algn="l"/>
              <a:r>
                <a:rPr dirty="0">
                  <a:sym typeface="+mn-ea"/>
                </a:rPr>
                <a:t>（2）对重要的输入项组合的合法性加检查语句。</a:t>
              </a:r>
            </a:p>
          </p:txBody>
        </p:sp>
        <p:sp>
          <p:nvSpPr>
            <p:cNvPr id="16" name="文本框 15"/>
            <p:cNvSpPr txBox="1"/>
            <p:nvPr/>
          </p:nvSpPr>
          <p:spPr>
            <a:xfrm>
              <a:off x="7471" y="7210"/>
              <a:ext cx="5168" cy="705"/>
            </a:xfrm>
            <a:prstGeom prst="rect">
              <a:avLst/>
            </a:prstGeom>
            <a:noFill/>
          </p:spPr>
          <p:txBody>
            <a:bodyPr wrap="none" rtlCol="0" anchor="t">
              <a:spAutoFit/>
            </a:bodyPr>
            <a:lstStyle/>
            <a:p>
              <a:pPr algn="l">
                <a:lnSpc>
                  <a:spcPct val="130000"/>
                </a:lnSpc>
                <a:spcBef>
                  <a:spcPts val="600"/>
                </a:spcBef>
                <a:defRPr/>
              </a:pPr>
              <a:r>
                <a:rPr lang="zh-CN" altLang="en-US" dirty="0">
                  <a:sym typeface="+mn-ea"/>
                </a:rPr>
                <a:t>（6）使用数据输入结束标志。</a:t>
              </a:r>
            </a:p>
          </p:txBody>
        </p:sp>
      </p:grpSp>
      <p:sp>
        <p:nvSpPr>
          <p:cNvPr id="18" name="文本框 17"/>
          <p:cNvSpPr txBox="1"/>
          <p:nvPr/>
        </p:nvSpPr>
        <p:spPr>
          <a:xfrm>
            <a:off x="3978910" y="5215890"/>
            <a:ext cx="7646035" cy="640080"/>
          </a:xfrm>
          <a:prstGeom prst="rect">
            <a:avLst/>
          </a:prstGeom>
          <a:noFill/>
        </p:spPr>
        <p:txBody>
          <a:bodyPr wrap="square" rtlCol="0" anchor="t">
            <a:spAutoFit/>
          </a:bodyPr>
          <a:lstStyle/>
          <a:p>
            <a:r>
              <a:rPr lang="zh-CN" altLang="en-US"/>
              <a:t>（8）输出报表的设计要符合用户要求，在因输出设备的条件有限不能满足用户要求时，应提出可行的方案供用户选择，用户满意时再采用某种方案。</a:t>
            </a:r>
          </a:p>
        </p:txBody>
      </p:sp>
      <p:sp>
        <p:nvSpPr>
          <p:cNvPr id="19" name="文本框 18"/>
          <p:cNvSpPr txBox="1"/>
          <p:nvPr/>
        </p:nvSpPr>
        <p:spPr>
          <a:xfrm>
            <a:off x="3415665" y="5954395"/>
            <a:ext cx="8478520" cy="365760"/>
          </a:xfrm>
          <a:prstGeom prst="rect">
            <a:avLst/>
          </a:prstGeom>
          <a:noFill/>
        </p:spPr>
        <p:txBody>
          <a:bodyPr wrap="square" rtlCol="0" anchor="t">
            <a:spAutoFit/>
          </a:bodyPr>
          <a:lstStyle/>
          <a:p>
            <a:r>
              <a:rPr lang="zh-CN" altLang="en-US"/>
              <a:t>（9）给所有的输出数据加注标志。</a:t>
            </a:r>
          </a:p>
        </p:txBody>
      </p:sp>
      <p:sp>
        <p:nvSpPr>
          <p:cNvPr id="20" name="Oval 19"/>
          <p:cNvSpPr>
            <a:spLocks noChangeArrowheads="1"/>
          </p:cNvSpPr>
          <p:nvPr>
            <p:custDataLst>
              <p:tags r:id="rId1"/>
            </p:custDataLst>
          </p:nvPr>
        </p:nvSpPr>
        <p:spPr bwMode="gray">
          <a:xfrm>
            <a:off x="3548380" y="283718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21" name="Oval 19"/>
          <p:cNvSpPr>
            <a:spLocks noChangeArrowheads="1"/>
          </p:cNvSpPr>
          <p:nvPr>
            <p:custDataLst>
              <p:tags r:id="rId2"/>
            </p:custDataLst>
          </p:nvPr>
        </p:nvSpPr>
        <p:spPr bwMode="gray">
          <a:xfrm>
            <a:off x="3565525" y="488188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Tree>
  </p:cSld>
  <p:clrMapOvr>
    <a:masterClrMapping/>
  </p:clrMapOvr>
  <p:transition>
    <p:pull dir="d"/>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4.1 </a:t>
            </a:r>
            <a:r>
              <a:rPr lang="zh-CN" altLang="en-US" dirty="0" smtClean="0">
                <a:solidFill>
                  <a:srgbClr val="FF0000"/>
                </a:solidFill>
              </a:rPr>
              <a:t>结构化程序设计</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t>4.1.2 </a:t>
            </a:r>
            <a:r>
              <a:rPr lang="zh-CN" altLang="en-US" sz="2400" dirty="0" smtClean="0"/>
              <a:t>程序设计风格</a:t>
            </a:r>
            <a:endParaRPr lang="zh-CN" altLang="en-US" sz="2400" dirty="0" smtClean="0">
              <a:solidFill>
                <a:schemeClr val="tx1"/>
              </a:solidFill>
            </a:endParaRPr>
          </a:p>
        </p:txBody>
      </p:sp>
      <p:sp>
        <p:nvSpPr>
          <p:cNvPr id="18" name="Oval 15"/>
          <p:cNvSpPr>
            <a:spLocks noChangeArrowheads="1"/>
          </p:cNvSpPr>
          <p:nvPr>
            <p:custDataLst>
              <p:tags r:id="rId1"/>
            </p:custDataLst>
          </p:nvPr>
        </p:nvSpPr>
        <p:spPr bwMode="auto">
          <a:xfrm>
            <a:off x="1089133" y="255206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19" name="Line 16"/>
          <p:cNvSpPr>
            <a:spLocks noChangeShapeType="1"/>
          </p:cNvSpPr>
          <p:nvPr>
            <p:custDataLst>
              <p:tags r:id="rId2"/>
            </p:custDataLst>
          </p:nvPr>
        </p:nvSpPr>
        <p:spPr bwMode="gray">
          <a:xfrm>
            <a:off x="916413" y="414274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0" name="Line 17"/>
          <p:cNvSpPr>
            <a:spLocks noChangeShapeType="1"/>
          </p:cNvSpPr>
          <p:nvPr>
            <p:custDataLst>
              <p:tags r:id="rId3"/>
            </p:custDataLst>
          </p:nvPr>
        </p:nvSpPr>
        <p:spPr bwMode="gray">
          <a:xfrm>
            <a:off x="2658218" y="2316480"/>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2" name="Oval 10"/>
          <p:cNvSpPr>
            <a:spLocks noChangeArrowheads="1"/>
          </p:cNvSpPr>
          <p:nvPr>
            <p:custDataLst>
              <p:tags r:id="rId4"/>
            </p:custDataLst>
          </p:nvPr>
        </p:nvSpPr>
        <p:spPr bwMode="gray">
          <a:xfrm>
            <a:off x="1261853" y="273240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3" name="Oval 13"/>
          <p:cNvSpPr>
            <a:spLocks noChangeArrowheads="1"/>
          </p:cNvSpPr>
          <p:nvPr>
            <p:custDataLst>
              <p:tags r:id="rId5"/>
            </p:custDataLst>
          </p:nvPr>
        </p:nvSpPr>
        <p:spPr bwMode="gray">
          <a:xfrm>
            <a:off x="1580623" y="306959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24" name="KSO_GT1"/>
          <p:cNvSpPr>
            <a:spLocks noChangeArrowheads="1"/>
          </p:cNvSpPr>
          <p:nvPr>
            <p:custDataLst>
              <p:tags r:id="rId6"/>
            </p:custDataLst>
          </p:nvPr>
        </p:nvSpPr>
        <p:spPr bwMode="gray">
          <a:xfrm>
            <a:off x="1965433" y="346202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黑体" panose="02010609060101010101" pitchFamily="49" charset="-122"/>
              </a:rPr>
              <a:t>程序效率</a:t>
            </a:r>
          </a:p>
        </p:txBody>
      </p:sp>
      <p:sp>
        <p:nvSpPr>
          <p:cNvPr id="5" name="Oval 19"/>
          <p:cNvSpPr>
            <a:spLocks noChangeArrowheads="1"/>
          </p:cNvSpPr>
          <p:nvPr>
            <p:custDataLst>
              <p:tags r:id="rId7"/>
            </p:custDataLst>
          </p:nvPr>
        </p:nvSpPr>
        <p:spPr bwMode="gray">
          <a:xfrm>
            <a:off x="3712953" y="290385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6" name="文本框 5"/>
          <p:cNvSpPr txBox="1"/>
          <p:nvPr>
            <p:custDataLst>
              <p:tags r:id="rId8"/>
            </p:custDataLst>
          </p:nvPr>
        </p:nvSpPr>
        <p:spPr>
          <a:xfrm>
            <a:off x="4938395" y="2552065"/>
            <a:ext cx="5764530" cy="1188085"/>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1</a:t>
            </a:r>
            <a:r>
              <a:rPr lang="zh-CN" altLang="en-US" dirty="0"/>
              <a:t>）</a:t>
            </a:r>
            <a:r>
              <a:rPr dirty="0"/>
              <a:t>程序效率主要指处理机工作时间和内存容量这两方面的利用率，在前面各规则符合的前提下，提高效率也是必要的。</a:t>
            </a:r>
          </a:p>
        </p:txBody>
      </p:sp>
      <p:sp>
        <p:nvSpPr>
          <p:cNvPr id="38" name="Oval 19"/>
          <p:cNvSpPr>
            <a:spLocks noChangeArrowheads="1"/>
          </p:cNvSpPr>
          <p:nvPr>
            <p:custDataLst>
              <p:tags r:id="rId9"/>
            </p:custDataLst>
          </p:nvPr>
        </p:nvSpPr>
        <p:spPr bwMode="gray">
          <a:xfrm>
            <a:off x="3714223" y="510794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0" name="文本框 39"/>
          <p:cNvSpPr txBox="1"/>
          <p:nvPr>
            <p:custDataLst>
              <p:tags r:id="rId10"/>
            </p:custDataLst>
          </p:nvPr>
        </p:nvSpPr>
        <p:spPr>
          <a:xfrm>
            <a:off x="4938395" y="4545965"/>
            <a:ext cx="5932170" cy="1188720"/>
          </a:xfrm>
          <a:prstGeom prst="rect">
            <a:avLst/>
          </a:prstGeom>
          <a:noFill/>
        </p:spPr>
        <p:txBody>
          <a:bodyPr wrap="square" lIns="0" rIns="0">
            <a:normAutofit/>
          </a:bodyPr>
          <a:lstStyle/>
          <a:p>
            <a:pPr>
              <a:lnSpc>
                <a:spcPct val="130000"/>
              </a:lnSpc>
              <a:spcBef>
                <a:spcPts val="600"/>
              </a:spcBef>
              <a:defRPr/>
            </a:pPr>
            <a:r>
              <a:rPr lang="zh-CN" dirty="0"/>
              <a:t>（</a:t>
            </a:r>
            <a:r>
              <a:rPr lang="en-US" altLang="zh-CN" dirty="0"/>
              <a:t>2</a:t>
            </a:r>
            <a:r>
              <a:rPr lang="zh-CN" altLang="en-US" dirty="0"/>
              <a:t>）</a:t>
            </a:r>
            <a:r>
              <a:rPr dirty="0"/>
              <a:t>在目前计算机硬件设备运算速度大大提高、内存容量增加的情况下，提高效率不是主要的，程序设计主要应考虑的是程序的正确性、可理解性、可测试性和可维护性。</a:t>
            </a:r>
          </a:p>
        </p:txBody>
      </p:sp>
    </p:spTree>
  </p:cSld>
  <p:clrMapOvr>
    <a:masterClrMapping/>
  </p:clrMapOvr>
  <p:transition>
    <p:pull dir="d"/>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软件测试目标</a:t>
            </a:r>
          </a:p>
        </p:txBody>
      </p:sp>
    </p:spTree>
  </p:cSld>
  <p:clrMapOvr>
    <a:masterClrMapping/>
  </p:clrMapOvr>
  <p:transition spd="slow">
    <p:wip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4.2 </a:t>
            </a:r>
            <a:r>
              <a:rPr lang="zh-CN" altLang="en-US" dirty="0">
                <a:solidFill>
                  <a:srgbClr val="FF0000"/>
                </a:solidFill>
              </a:rPr>
              <a:t>软件测试目标</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软件测试目标</a:t>
            </a:r>
          </a:p>
        </p:txBody>
      </p:sp>
      <p:sp>
        <p:nvSpPr>
          <p:cNvPr id="100" name="文本框 99"/>
          <p:cNvSpPr txBox="1"/>
          <p:nvPr/>
        </p:nvSpPr>
        <p:spPr>
          <a:xfrm>
            <a:off x="1594485" y="2313940"/>
            <a:ext cx="9691370" cy="3297555"/>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软件分析、设计过程中难免有各种各样的错误，需要通过测试查找错误，以保证软件的质量。</a:t>
            </a:r>
            <a:r>
              <a:rPr lang="zh-CN" altLang="en-US">
                <a:solidFill>
                  <a:srgbClr val="C00000"/>
                </a:solidFill>
                <a:latin typeface="微软雅黑" panose="020B0503020204020204" charset="-122"/>
                <a:ea typeface="微软雅黑" panose="020B0503020204020204" charset="-122"/>
                <a:sym typeface="+mn-ea"/>
              </a:rPr>
              <a:t>软件测试（Software Testing）是由人工或计算机来执行或评价软件的过程，以验证软件是否满足规定的需求或识别期望的结果和实际结果之间有无差别</a:t>
            </a:r>
            <a:r>
              <a:rPr lang="zh-CN" altLang="en-US">
                <a:latin typeface="微软雅黑" panose="020B0503020204020204" charset="-122"/>
                <a:ea typeface="微软雅黑" panose="020B0503020204020204" charset="-122"/>
                <a:sym typeface="+mn-ea"/>
              </a:rPr>
              <a:t>。</a:t>
            </a:r>
          </a:p>
          <a:p>
            <a:pPr marL="0" indent="0" algn="l" fontAlgn="auto">
              <a:lnSpc>
                <a:spcPct val="130000"/>
              </a:lnSpc>
            </a:pPr>
            <a:r>
              <a:rPr lang="zh-CN" altLang="en-US">
                <a:latin typeface="微软雅黑" panose="020B0503020204020204" charset="-122"/>
                <a:ea typeface="微软雅黑" panose="020B0503020204020204" charset="-122"/>
                <a:sym typeface="+mn-ea"/>
              </a:rPr>
              <a:t>       大量统计资料表明，软件测试工作量往往占软件开发总工作量的40%以上，在极端情况下，如测试有关人的生命安全的软件所花费的成本，可能会高达软件工程其他阶段总成本的3～5倍。软件测试首先要明确目标，然后要掌握测试方法策略，确实做到尽可能地将软件中存在的问题找出来，以保证软件</a:t>
            </a:r>
          </a:p>
          <a:p>
            <a:pPr marL="0" indent="0" algn="l" fontAlgn="auto">
              <a:lnSpc>
                <a:spcPct val="130000"/>
              </a:lnSpc>
            </a:pPr>
            <a:r>
              <a:rPr lang="zh-CN" altLang="en-US">
                <a:latin typeface="微软雅黑" panose="020B0503020204020204" charset="-122"/>
                <a:ea typeface="微软雅黑" panose="020B0503020204020204" charset="-122"/>
                <a:sym typeface="+mn-ea"/>
              </a:rPr>
              <a:t>       总之，</a:t>
            </a:r>
            <a:r>
              <a:rPr lang="zh-CN" altLang="en-US">
                <a:solidFill>
                  <a:srgbClr val="C00000"/>
                </a:solidFill>
                <a:latin typeface="微软雅黑" panose="020B0503020204020204" charset="-122"/>
                <a:ea typeface="微软雅黑" panose="020B0503020204020204" charset="-122"/>
                <a:sym typeface="+mn-ea"/>
              </a:rPr>
              <a:t>软件测试是指通过人工或计算机执行程序，来有意识地发现程序中的设计错误和编码错误的过程。</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软件测试目标</a:t>
            </a:r>
          </a:p>
        </p:txBody>
      </p:sp>
    </p:spTree>
  </p:cSld>
  <p:clrMapOvr>
    <a:masterClrMapping/>
  </p:clrMapOvr>
  <p:transition>
    <p:wipe dir="u"/>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en-US" dirty="0" smtClean="0">
                <a:solidFill>
                  <a:srgbClr val="FF0000"/>
                </a:solidFill>
              </a:rPr>
              <a:t>4.2 </a:t>
            </a:r>
            <a:r>
              <a:rPr lang="zh-CN" altLang="en-US" dirty="0" smtClean="0">
                <a:solidFill>
                  <a:srgbClr val="FF0000"/>
                </a:solidFill>
              </a:rPr>
              <a:t>软件测试目标</a:t>
            </a:r>
            <a:endParaRPr lang="zh-CN" altLang="en-US" dirty="0">
              <a:solidFill>
                <a:srgbClr val="FF0000"/>
              </a:solidFill>
            </a:endParaRPr>
          </a:p>
        </p:txBody>
      </p:sp>
      <p:grpSp>
        <p:nvGrpSpPr>
          <p:cNvPr id="12" name="组合 11"/>
          <p:cNvGrpSpPr/>
          <p:nvPr/>
        </p:nvGrpSpPr>
        <p:grpSpPr>
          <a:xfrm>
            <a:off x="1264920" y="1289757"/>
            <a:ext cx="9619137" cy="2231362"/>
            <a:chOff x="733" y="3743"/>
            <a:chExt cx="18130" cy="5770"/>
          </a:xfrm>
        </p:grpSpPr>
        <p:sp>
          <p:nvSpPr>
            <p:cNvPr id="20" name="Oval 15"/>
            <p:cNvSpPr>
              <a:spLocks noChangeArrowheads="1"/>
            </p:cNvSpPr>
            <p:nvPr>
              <p:custDataLst>
                <p:tags r:id="rId2"/>
              </p:custDataLst>
            </p:nvPr>
          </p:nvSpPr>
          <p:spPr bwMode="auto">
            <a:xfrm>
              <a:off x="1005" y="4113"/>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22" name="Line 16"/>
            <p:cNvSpPr>
              <a:spLocks noChangeShapeType="1"/>
            </p:cNvSpPr>
            <p:nvPr>
              <p:custDataLst>
                <p:tags r:id="rId3"/>
              </p:custDataLst>
            </p:nvPr>
          </p:nvSpPr>
          <p:spPr bwMode="gray">
            <a:xfrm>
              <a:off x="733" y="6630"/>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3" name="Line 17"/>
            <p:cNvSpPr>
              <a:spLocks noChangeShapeType="1"/>
            </p:cNvSpPr>
            <p:nvPr>
              <p:custDataLst>
                <p:tags r:id="rId4"/>
              </p:custDataLst>
            </p:nvPr>
          </p:nvSpPr>
          <p:spPr bwMode="gray">
            <a:xfrm>
              <a:off x="3476" y="3743"/>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26" name="Oval 10"/>
            <p:cNvSpPr>
              <a:spLocks noChangeArrowheads="1"/>
            </p:cNvSpPr>
            <p:nvPr>
              <p:custDataLst>
                <p:tags r:id="rId5"/>
              </p:custDataLst>
            </p:nvPr>
          </p:nvSpPr>
          <p:spPr bwMode="gray">
            <a:xfrm>
              <a:off x="1277" y="4397"/>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7" name="Oval 13"/>
            <p:cNvSpPr>
              <a:spLocks noChangeArrowheads="1"/>
            </p:cNvSpPr>
            <p:nvPr>
              <p:custDataLst>
                <p:tags r:id="rId6"/>
              </p:custDataLst>
            </p:nvPr>
          </p:nvSpPr>
          <p:spPr bwMode="gray">
            <a:xfrm>
              <a:off x="1779" y="4928"/>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8" name="KSO_GT1"/>
            <p:cNvSpPr>
              <a:spLocks noChangeArrowheads="1"/>
            </p:cNvSpPr>
            <p:nvPr>
              <p:custDataLst>
                <p:tags r:id="rId7"/>
              </p:custDataLst>
            </p:nvPr>
          </p:nvSpPr>
          <p:spPr bwMode="gray">
            <a:xfrm>
              <a:off x="2385" y="5546"/>
              <a:ext cx="2155" cy="2201"/>
            </a:xfrm>
            <a:prstGeom prst="ellipse">
              <a:avLst/>
            </a:prstGeom>
            <a:solidFill>
              <a:srgbClr val="4F5A71"/>
            </a:solidFill>
            <a:ln>
              <a:noFill/>
            </a:ln>
            <a:effectLst/>
          </p:spPr>
          <p:txBody>
            <a:bodyPr wrap="square" lIns="0" tIns="0" rIns="0" bIns="0" anchor="ctr">
              <a:normAutofit fontScale="72500" lnSpcReduction="20000"/>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mn-ea"/>
                </a:rPr>
                <a:t>软件测试目标</a:t>
              </a:r>
            </a:p>
          </p:txBody>
        </p:sp>
        <p:sp>
          <p:nvSpPr>
            <p:cNvPr id="9" name="Oval 19"/>
            <p:cNvSpPr>
              <a:spLocks noChangeArrowheads="1"/>
            </p:cNvSpPr>
            <p:nvPr>
              <p:custDataLst>
                <p:tags r:id="rId8"/>
              </p:custDataLst>
            </p:nvPr>
          </p:nvSpPr>
          <p:spPr bwMode="gray">
            <a:xfrm>
              <a:off x="4184" y="3984"/>
              <a:ext cx="396" cy="396"/>
            </a:xfrm>
            <a:prstGeom prst="ellipse">
              <a:avLst/>
            </a:prstGeom>
            <a:solidFill>
              <a:srgbClr val="4F5A71"/>
            </a:solidFill>
            <a:ln w="12700">
              <a:solidFill>
                <a:srgbClr val="FFFFFF"/>
              </a:solidFill>
              <a:round/>
            </a:ln>
            <a:effectLst/>
          </p:spPr>
          <p:txBody>
            <a:bodyPr wrap="square" anchor="ctr">
              <a:normAutofit fontScale="2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9"/>
              </p:custDataLst>
            </p:nvPr>
          </p:nvSpPr>
          <p:spPr>
            <a:xfrm>
              <a:off x="6669" y="3918"/>
              <a:ext cx="12155" cy="999"/>
            </a:xfrm>
            <a:prstGeom prst="rect">
              <a:avLst/>
            </a:prstGeom>
            <a:noFill/>
          </p:spPr>
          <p:txBody>
            <a:bodyPr wrap="square" lIns="0" rIns="0">
              <a:noAutofit/>
            </a:bodyPr>
            <a:lstStyle/>
            <a:p>
              <a:pPr>
                <a:lnSpc>
                  <a:spcPct val="130000"/>
                </a:lnSpc>
                <a:spcBef>
                  <a:spcPts val="600"/>
                </a:spcBef>
                <a:defRPr/>
              </a:pPr>
              <a:r>
                <a:rPr lang="en-US" altLang="zh-CN" sz="2000" dirty="0"/>
                <a:t> </a:t>
              </a:r>
              <a:r>
                <a:rPr sz="2000" dirty="0"/>
                <a:t>（1）测试是为了发现程序中的错误而执行程序的过程。</a:t>
              </a:r>
            </a:p>
          </p:txBody>
        </p:sp>
        <p:sp>
          <p:nvSpPr>
            <p:cNvPr id="40" name="Oval 19"/>
            <p:cNvSpPr>
              <a:spLocks noChangeArrowheads="1"/>
            </p:cNvSpPr>
            <p:nvPr>
              <p:custDataLst>
                <p:tags r:id="rId10"/>
              </p:custDataLst>
            </p:nvPr>
          </p:nvSpPr>
          <p:spPr bwMode="gray">
            <a:xfrm>
              <a:off x="5755" y="6434"/>
              <a:ext cx="396" cy="396"/>
            </a:xfrm>
            <a:prstGeom prst="ellipse">
              <a:avLst/>
            </a:prstGeom>
            <a:solidFill>
              <a:srgbClr val="4F5A71"/>
            </a:solidFill>
            <a:ln w="12700">
              <a:solidFill>
                <a:srgbClr val="FFFFFF"/>
              </a:solidFill>
              <a:round/>
            </a:ln>
            <a:effectLst/>
          </p:spPr>
          <p:txBody>
            <a:bodyPr wrap="square" anchor="ctr">
              <a:normAutofit fontScale="2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1"/>
              </p:custDataLst>
            </p:nvPr>
          </p:nvSpPr>
          <p:spPr>
            <a:xfrm>
              <a:off x="7290" y="6138"/>
              <a:ext cx="11449" cy="1018"/>
            </a:xfrm>
            <a:prstGeom prst="rect">
              <a:avLst/>
            </a:prstGeom>
            <a:noFill/>
          </p:spPr>
          <p:txBody>
            <a:bodyPr wrap="square" lIns="0" rIns="0">
              <a:normAutofit fontScale="85000" lnSpcReduction="20000"/>
            </a:bodyPr>
            <a:lstStyle/>
            <a:p>
              <a:pPr>
                <a:lnSpc>
                  <a:spcPct val="130000"/>
                </a:lnSpc>
                <a:spcBef>
                  <a:spcPts val="600"/>
                </a:spcBef>
                <a:defRPr/>
              </a:pPr>
              <a:r>
                <a:rPr lang="en-US" altLang="zh-CN" sz="2000" dirty="0"/>
                <a:t> </a:t>
              </a:r>
              <a:r>
                <a:rPr sz="2000" dirty="0"/>
                <a:t>（2）好的测试方案能够发现尚未发现的错误。</a:t>
              </a:r>
            </a:p>
          </p:txBody>
        </p:sp>
        <p:sp>
          <p:nvSpPr>
            <p:cNvPr id="46" name="Oval 19"/>
            <p:cNvSpPr>
              <a:spLocks noChangeArrowheads="1"/>
            </p:cNvSpPr>
            <p:nvPr>
              <p:custDataLst>
                <p:tags r:id="rId12"/>
              </p:custDataLst>
            </p:nvPr>
          </p:nvSpPr>
          <p:spPr bwMode="gray">
            <a:xfrm>
              <a:off x="4186" y="8789"/>
              <a:ext cx="396" cy="396"/>
            </a:xfrm>
            <a:prstGeom prst="ellipse">
              <a:avLst/>
            </a:prstGeom>
            <a:solidFill>
              <a:srgbClr val="4F5A71"/>
            </a:solidFill>
            <a:ln w="12700">
              <a:solidFill>
                <a:srgbClr val="FFFFFF"/>
              </a:solidFill>
              <a:round/>
            </a:ln>
            <a:effectLst/>
          </p:spPr>
          <p:txBody>
            <a:bodyPr wrap="square" anchor="ctr">
              <a:normAutofit fontScale="2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3"/>
              </p:custDataLst>
            </p:nvPr>
          </p:nvSpPr>
          <p:spPr>
            <a:xfrm>
              <a:off x="6669" y="8430"/>
              <a:ext cx="12194" cy="937"/>
            </a:xfrm>
            <a:prstGeom prst="rect">
              <a:avLst/>
            </a:prstGeom>
            <a:noFill/>
          </p:spPr>
          <p:txBody>
            <a:bodyPr wrap="square" lIns="0" rIns="0">
              <a:normAutofit fontScale="77500" lnSpcReduction="20000"/>
            </a:bodyPr>
            <a:lstStyle/>
            <a:p>
              <a:pPr>
                <a:lnSpc>
                  <a:spcPct val="130000"/>
                </a:lnSpc>
                <a:spcBef>
                  <a:spcPts val="600"/>
                </a:spcBef>
                <a:defRPr/>
              </a:pPr>
              <a:r>
                <a:rPr sz="2000" dirty="0"/>
                <a:t>（3）成功的测试是发现了尚未发现的错误的测试。</a:t>
              </a:r>
            </a:p>
          </p:txBody>
        </p:sp>
      </p:grpSp>
      <p:sp>
        <p:nvSpPr>
          <p:cNvPr id="18" name="MH_Text_1"/>
          <p:cNvSpPr/>
          <p:nvPr>
            <p:custDataLst>
              <p:tags r:id="rId1"/>
            </p:custDataLst>
          </p:nvPr>
        </p:nvSpPr>
        <p:spPr>
          <a:xfrm>
            <a:off x="666463" y="3712189"/>
            <a:ext cx="11070610" cy="2477524"/>
          </a:xfrm>
          <a:prstGeom prst="rect">
            <a:avLst/>
          </a:prstGeom>
        </p:spPr>
        <p:style>
          <a:lnRef idx="1">
            <a:schemeClr val="accent5"/>
          </a:lnRef>
          <a:fillRef idx="2">
            <a:schemeClr val="accent5"/>
          </a:fillRef>
          <a:effectRef idx="1">
            <a:schemeClr val="accent5"/>
          </a:effectRef>
          <a:fontRef idx="minor">
            <a:schemeClr val="dk1"/>
          </a:fontRef>
        </p:style>
        <p:txBody>
          <a:bodyPr anchor="ctr"/>
          <a:lstStyle/>
          <a:p>
            <a:pPr indent="457200">
              <a:lnSpc>
                <a:spcPct val="120000"/>
              </a:lnSpc>
            </a:pPr>
            <a:endParaRPr lang="en-US" altLang="zh-CN" dirty="0" smtClean="0">
              <a:solidFill>
                <a:schemeClr val="tx1"/>
              </a:solidFill>
              <a:latin typeface="+mn-ea"/>
            </a:endParaRPr>
          </a:p>
          <a:p>
            <a:r>
              <a:rPr lang="zh-CN" altLang="en-US" dirty="0" smtClean="0"/>
              <a:t>如果认为测试是为了表明程序是正确的，那么从主观上不是为了查找错误而进行测试，这样的测试是不大会发现错误的，测试者没有发现错误的愿望。</a:t>
            </a:r>
          </a:p>
          <a:p>
            <a:r>
              <a:rPr lang="zh-CN" altLang="en-US" dirty="0" smtClean="0"/>
              <a:t>如果认为“成功的测试是没有发现错误的测试”，则很可能存在着没有发现的错误而自以为测试成功了，就像医生没有查出病人的病就自以为此人无病。</a:t>
            </a:r>
          </a:p>
          <a:p>
            <a:pPr indent="457200">
              <a:lnSpc>
                <a:spcPct val="120000"/>
              </a:lnSpc>
            </a:pPr>
            <a:r>
              <a:rPr lang="zh-CN" altLang="en-US" dirty="0" smtClean="0">
                <a:solidFill>
                  <a:schemeClr val="tx1"/>
                </a:solidFill>
                <a:latin typeface="+mn-ea"/>
              </a:rPr>
              <a:t>人类的活动具有高度的目的性，如果我们测试的目的是要证明程序中有错，就会选择一些容易发现程序错误的测试数据来进行测试。相反，如果测试的目的是要证明程序无错，我们就会选择使程序不易出错的数据来进行测试。</a:t>
            </a:r>
            <a:endParaRPr lang="en-US" altLang="zh-CN" dirty="0" smtClean="0">
              <a:solidFill>
                <a:schemeClr val="tx1"/>
              </a:solidFill>
              <a:latin typeface="+mn-ea"/>
            </a:endParaRPr>
          </a:p>
          <a:p>
            <a:pPr indent="457200">
              <a:lnSpc>
                <a:spcPct val="120000"/>
              </a:lnSpc>
            </a:pPr>
            <a:r>
              <a:rPr lang="zh-CN" altLang="en-US" dirty="0" smtClean="0"/>
              <a:t>总之，软件测试是指通过人工或计算机执行程序，来有意识地发现程序中的设计错误和编码错误的过程。</a:t>
            </a:r>
          </a:p>
          <a:p>
            <a:pPr indent="457200">
              <a:lnSpc>
                <a:spcPct val="130000"/>
              </a:lnSpc>
            </a:pPr>
            <a:endParaRPr lang="zh-CN" altLang="en-US" dirty="0" smtClean="0">
              <a:solidFill>
                <a:schemeClr val="tx1"/>
              </a:solidFill>
              <a:latin typeface="+mn-ea"/>
            </a:endParaRPr>
          </a:p>
        </p:txBody>
      </p:sp>
    </p:spTree>
  </p:cSld>
  <p:clrMapOvr>
    <a:masterClrMapping/>
  </p:clrMapOvr>
  <p:transition>
    <p:wipe dir="u"/>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软件测试方法</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静态分析与动态测试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黑盒法与白盒法</a:t>
              </a:r>
            </a:p>
          </p:txBody>
        </p:sp>
      </p:grpSp>
    </p:spTree>
  </p:cSld>
  <p:clrMapOvr>
    <a:masterClrMapping/>
  </p:clrMapOvr>
  <p:transition spd="slow">
    <p:wip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4.3 </a:t>
            </a:r>
            <a:r>
              <a:rPr lang="zh-CN" altLang="en-US" dirty="0">
                <a:solidFill>
                  <a:srgbClr val="FF0000"/>
                </a:solidFill>
              </a:rPr>
              <a:t>软件测试方法</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4.3.1 </a:t>
            </a:r>
            <a:r>
              <a:rPr lang="zh-CN" altLang="en-US" sz="2400" dirty="0" smtClean="0">
                <a:solidFill>
                  <a:schemeClr val="tx1"/>
                </a:solidFill>
              </a:rPr>
              <a:t>静态分析与动态测试</a:t>
            </a:r>
          </a:p>
        </p:txBody>
      </p:sp>
      <p:grpSp>
        <p:nvGrpSpPr>
          <p:cNvPr id="2" name="组合 1"/>
          <p:cNvGrpSpPr/>
          <p:nvPr/>
        </p:nvGrpSpPr>
        <p:grpSpPr>
          <a:xfrm>
            <a:off x="525780" y="1969770"/>
            <a:ext cx="4462780" cy="3966950"/>
            <a:chOff x="979" y="3044"/>
            <a:chExt cx="7028" cy="6223"/>
          </a:xfrm>
        </p:grpSpPr>
        <p:sp>
          <p:nvSpPr>
            <p:cNvPr id="43" name="矩形 42"/>
            <p:cNvSpPr/>
            <p:nvPr/>
          </p:nvSpPr>
          <p:spPr>
            <a:xfrm>
              <a:off x="979" y="3508"/>
              <a:ext cx="7028" cy="5759"/>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52" name="图片 51"/>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xmlns="" val="0"/>
                </a:ext>
              </a:extLst>
            </a:blip>
            <a:stretch>
              <a:fillRect/>
            </a:stretch>
          </p:blipFill>
          <p:spPr>
            <a:xfrm>
              <a:off x="979" y="3508"/>
              <a:ext cx="2290" cy="2277"/>
            </a:xfrm>
            <a:prstGeom prst="rect">
              <a:avLst/>
            </a:prstGeom>
          </p:spPr>
        </p:pic>
        <p:sp>
          <p:nvSpPr>
            <p:cNvPr id="45" name="Text Box 44"/>
            <p:cNvSpPr txBox="1">
              <a:spLocks noChangeArrowheads="1"/>
            </p:cNvSpPr>
            <p:nvPr/>
          </p:nvSpPr>
          <p:spPr bwMode="auto">
            <a:xfrm>
              <a:off x="1339" y="4509"/>
              <a:ext cx="6591" cy="3078"/>
            </a:xfrm>
            <a:prstGeom prst="rect">
              <a:avLst/>
            </a:prstGeom>
            <a:noFill/>
            <a:ln>
              <a:noFill/>
            </a:ln>
            <a:effectLst/>
            <a:extLst>
              <a:ext uri="{909E8E84-426E-40DD-AFC4-6F175D3DCCD1}">
                <a14:hiddenFill xmlns:a14="http://schemas.microsoft.com/office/drawing/2010/main" xmlns="">
                  <a:solidFill>
                    <a:srgbClr val="FFFFFF">
                      <a:alpha val="30000"/>
                    </a:srgbClr>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lang="zh-CN" altLang="en-US" sz="1800" dirty="0"/>
                <a:t>静态分析不执行被测试软件，通过</a:t>
              </a:r>
              <a:r>
                <a:rPr lang="zh-CN" altLang="en-US" sz="1800" dirty="0">
                  <a:solidFill>
                    <a:srgbClr val="C00000"/>
                  </a:solidFill>
                </a:rPr>
                <a:t>对需求分析说明书、软件设计说明书及源程序做结构检查、流程图分析、编码分析</a:t>
              </a:r>
              <a:r>
                <a:rPr lang="zh-CN" altLang="en-US" sz="1800" dirty="0"/>
                <a:t>等来找出软件错误，这是十分有效的软件质量控制方法。</a:t>
              </a:r>
            </a:p>
          </p:txBody>
        </p:sp>
        <p:sp>
          <p:nvSpPr>
            <p:cNvPr id="4" name="TextBox 6"/>
            <p:cNvSpPr txBox="1"/>
            <p:nvPr/>
          </p:nvSpPr>
          <p:spPr>
            <a:xfrm rot="18836568">
              <a:off x="935" y="4012"/>
              <a:ext cx="1728" cy="606"/>
            </a:xfrm>
            <a:prstGeom prst="rect">
              <a:avLst/>
            </a:prstGeom>
            <a:noFill/>
          </p:spPr>
          <p:txBody>
            <a:bodyPr wrap="square" rtlCol="0">
              <a:spAutoFit/>
            </a:bodyPr>
            <a:lstStyle/>
            <a:p>
              <a:pPr algn="l"/>
              <a:r>
                <a:rPr lang="zh-CN" altLang="en-US" b="1" dirty="0">
                  <a:solidFill>
                    <a:schemeClr val="bg1"/>
                  </a:solidFill>
                  <a:latin typeface="微软雅黑" panose="020B0503020204020204" charset="-122"/>
                  <a:ea typeface="微软雅黑" panose="020B0503020204020204" charset="-122"/>
                </a:rPr>
                <a:t>静态分析</a:t>
              </a:r>
            </a:p>
          </p:txBody>
        </p:sp>
        <p:sp>
          <p:nvSpPr>
            <p:cNvPr id="5" name="TextBox 26"/>
            <p:cNvSpPr txBox="1"/>
            <p:nvPr/>
          </p:nvSpPr>
          <p:spPr>
            <a:xfrm>
              <a:off x="6917" y="3044"/>
              <a:ext cx="1089" cy="1703"/>
            </a:xfrm>
            <a:prstGeom prst="rect">
              <a:avLst/>
            </a:prstGeom>
            <a:noFill/>
          </p:spPr>
          <p:txBody>
            <a:bodyPr wrap="squar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1</a:t>
              </a:r>
            </a:p>
          </p:txBody>
        </p:sp>
      </p:grpSp>
      <p:grpSp>
        <p:nvGrpSpPr>
          <p:cNvPr id="6" name="组合 5"/>
          <p:cNvGrpSpPr/>
          <p:nvPr/>
        </p:nvGrpSpPr>
        <p:grpSpPr>
          <a:xfrm>
            <a:off x="5189220" y="1818005"/>
            <a:ext cx="6791325" cy="4174118"/>
            <a:chOff x="924" y="3019"/>
            <a:chExt cx="8560" cy="6339"/>
          </a:xfrm>
        </p:grpSpPr>
        <p:sp>
          <p:nvSpPr>
            <p:cNvPr id="7" name="矩形 6"/>
            <p:cNvSpPr/>
            <p:nvPr/>
          </p:nvSpPr>
          <p:spPr>
            <a:xfrm>
              <a:off x="979" y="3699"/>
              <a:ext cx="8505" cy="5576"/>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8" name="图片 7"/>
            <p:cNvPicPr>
              <a:picLocks noChangeAspect="1"/>
            </p:cNvPicPr>
            <p:nvPr/>
          </p:nvPicPr>
          <p:blipFill>
            <a:blip r:embed="rId4" cstate="print">
              <a:duotone>
                <a:prstClr val="black"/>
                <a:schemeClr val="accent3">
                  <a:tint val="45000"/>
                  <a:satMod val="400000"/>
                </a:schemeClr>
              </a:duotone>
              <a:extLst>
                <a:ext uri="{28A0092B-C50C-407E-A947-70E740481C1C}">
                  <a14:useLocalDpi xmlns:a14="http://schemas.microsoft.com/office/drawing/2010/main" xmlns="" val="0"/>
                </a:ext>
              </a:extLst>
            </a:blip>
            <a:stretch>
              <a:fillRect/>
            </a:stretch>
          </p:blipFill>
          <p:spPr>
            <a:xfrm>
              <a:off x="924" y="3655"/>
              <a:ext cx="1773" cy="2092"/>
            </a:xfrm>
            <a:prstGeom prst="rect">
              <a:avLst/>
            </a:prstGeom>
          </p:spPr>
        </p:pic>
        <p:sp>
          <p:nvSpPr>
            <p:cNvPr id="9" name="Text Box 44"/>
            <p:cNvSpPr txBox="1">
              <a:spLocks noChangeArrowheads="1"/>
            </p:cNvSpPr>
            <p:nvPr/>
          </p:nvSpPr>
          <p:spPr bwMode="auto">
            <a:xfrm>
              <a:off x="1304" y="4107"/>
              <a:ext cx="7856" cy="5251"/>
            </a:xfrm>
            <a:prstGeom prst="rect">
              <a:avLst/>
            </a:prstGeom>
            <a:noFill/>
            <a:ln>
              <a:noFill/>
            </a:ln>
            <a:effectLst/>
            <a:extLst>
              <a:ext uri="{909E8E84-426E-40DD-AFC4-6F175D3DCCD1}">
                <a14:hiddenFill xmlns:a14="http://schemas.microsoft.com/office/drawing/2010/main" xmlns="">
                  <a:solidFill>
                    <a:srgbClr val="FFFFFF">
                      <a:alpha val="30000"/>
                    </a:srgbClr>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lang="zh-CN" altLang="en-US" sz="1800" dirty="0">
                  <a:solidFill>
                    <a:srgbClr val="C00000"/>
                  </a:solidFill>
                </a:rPr>
                <a:t>动态测试以执行程序并分析程序来查错。</a:t>
              </a:r>
            </a:p>
            <a:p>
              <a:pPr indent="0"/>
              <a:r>
                <a:rPr lang="zh-CN" altLang="en-US" sz="1800" dirty="0"/>
                <a:t>       为了进行软件测试，需要预先准备好两种数据：输入数据和预期的输出结果。</a:t>
              </a:r>
            </a:p>
            <a:p>
              <a:pPr indent="0"/>
              <a:r>
                <a:rPr lang="zh-CN" altLang="en-US" sz="1800" dirty="0"/>
                <a:t>       我们把以发现错误为目标的用于软件测试的输入数据及与之对应的预期输出结果称为测试用例。怎样设计测试用例是动态测试的关键。一个设计良好的测试用例，应对发现错误具有较高的概率。</a:t>
              </a:r>
            </a:p>
            <a:p>
              <a:pPr indent="0"/>
              <a:r>
                <a:rPr lang="zh-CN" altLang="en-US" sz="1800" dirty="0"/>
                <a:t>      如果想要查出程序中所有的错误，就要把所有可能的输入情况都作为测试情况来进行，这就是所谓的穷尽测试。</a:t>
              </a:r>
            </a:p>
          </p:txBody>
        </p:sp>
        <p:sp>
          <p:nvSpPr>
            <p:cNvPr id="10" name="TextBox 6"/>
            <p:cNvSpPr txBox="1"/>
            <p:nvPr/>
          </p:nvSpPr>
          <p:spPr>
            <a:xfrm rot="18836568">
              <a:off x="732" y="4079"/>
              <a:ext cx="1728" cy="485"/>
            </a:xfrm>
            <a:prstGeom prst="rect">
              <a:avLst/>
            </a:prstGeom>
            <a:noFill/>
          </p:spPr>
          <p:txBody>
            <a:bodyPr wrap="square" rtlCol="0">
              <a:spAutoFit/>
            </a:bodyPr>
            <a:lstStyle/>
            <a:p>
              <a:pPr algn="l"/>
              <a:r>
                <a:rPr lang="zh-CN" altLang="en-US" b="1" dirty="0">
                  <a:solidFill>
                    <a:schemeClr val="bg1"/>
                  </a:solidFill>
                  <a:latin typeface="微软雅黑" panose="020B0503020204020204" charset="-122"/>
                  <a:ea typeface="微软雅黑" panose="020B0503020204020204" charset="-122"/>
                </a:rPr>
                <a:t>动态测试</a:t>
              </a:r>
            </a:p>
          </p:txBody>
        </p:sp>
        <p:sp>
          <p:nvSpPr>
            <p:cNvPr id="11" name="TextBox 26"/>
            <p:cNvSpPr txBox="1"/>
            <p:nvPr/>
          </p:nvSpPr>
          <p:spPr>
            <a:xfrm>
              <a:off x="8350" y="3019"/>
              <a:ext cx="1089" cy="1649"/>
            </a:xfrm>
            <a:prstGeom prst="rect">
              <a:avLst/>
            </a:prstGeom>
            <a:noFill/>
          </p:spPr>
          <p:txBody>
            <a:bodyPr wrap="squar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2</a:t>
              </a:r>
            </a:p>
          </p:txBody>
        </p:sp>
      </p:grpSp>
      <p:grpSp>
        <p:nvGrpSpPr>
          <p:cNvPr id="41" name="组合 40"/>
          <p:cNvGrpSpPr/>
          <p:nvPr/>
        </p:nvGrpSpPr>
        <p:grpSpPr>
          <a:xfrm>
            <a:off x="6152036" y="491282"/>
            <a:ext cx="5318760" cy="1226820"/>
            <a:chOff x="1188" y="3071"/>
            <a:chExt cx="8376" cy="1932"/>
          </a:xfrm>
        </p:grpSpPr>
        <p:sp>
          <p:nvSpPr>
            <p:cNvPr id="167" name="圆角矩形"/>
            <p:cNvSpPr/>
            <p:nvPr/>
          </p:nvSpPr>
          <p:spPr>
            <a:xfrm>
              <a:off x="1188" y="3479"/>
              <a:ext cx="8376" cy="152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2"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2" name="文本框 11"/>
            <p:cNvSpPr txBox="1"/>
            <p:nvPr/>
          </p:nvSpPr>
          <p:spPr>
            <a:xfrm>
              <a:off x="1236" y="3491"/>
              <a:ext cx="8312" cy="1440"/>
            </a:xfrm>
            <a:prstGeom prst="rect">
              <a:avLst/>
            </a:prstGeom>
            <a:noFill/>
          </p:spPr>
          <p:txBody>
            <a:bodyPr wrap="square" rtlCol="0">
              <a:spAutoFit/>
            </a:bodyPr>
            <a:lstStyle/>
            <a:p>
              <a:pPr indent="0"/>
              <a:r>
                <a:rPr lang="en-US" altLang="zh-CN" dirty="0">
                  <a:solidFill>
                    <a:schemeClr val="bg2">
                      <a:lumMod val="50000"/>
                    </a:schemeClr>
                  </a:solidFill>
                  <a:sym typeface="+mn-ea"/>
                </a:rPr>
                <a:t>       </a:t>
              </a:r>
              <a:r>
                <a:rPr lang="zh-CN" altLang="en-US" dirty="0">
                  <a:sym typeface="+mn-ea"/>
                </a:rPr>
                <a:t>穷尽测试往往是做不到的，因此必须设法用有限次的测试获得最大的收益，用尽可能少的测试次数尽量多地找出程序中潜在的各个错误。</a:t>
              </a:r>
            </a:p>
          </p:txBody>
        </p:sp>
      </p:grpSp>
    </p:spTree>
  </p:cSld>
  <p:clrMapOvr>
    <a:masterClrMapping/>
  </p:clrMapOvr>
  <p:transition>
    <p:wipe dir="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4.3 </a:t>
            </a:r>
            <a:r>
              <a:rPr lang="zh-CN" altLang="en-US" dirty="0">
                <a:solidFill>
                  <a:srgbClr val="FF0000"/>
                </a:solidFill>
              </a:rPr>
              <a:t>软件测试方法</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4.3.2 </a:t>
            </a:r>
            <a:r>
              <a:rPr lang="zh-CN" altLang="en-US" sz="2400" dirty="0" smtClean="0">
                <a:solidFill>
                  <a:schemeClr val="tx1"/>
                </a:solidFill>
              </a:rPr>
              <a:t>黑盒测试与百合测试</a:t>
            </a:r>
          </a:p>
        </p:txBody>
      </p:sp>
      <p:grpSp>
        <p:nvGrpSpPr>
          <p:cNvPr id="2" name="组合 1"/>
          <p:cNvGrpSpPr/>
          <p:nvPr/>
        </p:nvGrpSpPr>
        <p:grpSpPr>
          <a:xfrm>
            <a:off x="617220" y="1739900"/>
            <a:ext cx="6916420" cy="3964940"/>
            <a:chOff x="924" y="2933"/>
            <a:chExt cx="10892" cy="6244"/>
          </a:xfrm>
        </p:grpSpPr>
        <p:sp>
          <p:nvSpPr>
            <p:cNvPr id="43" name="矩形 42"/>
            <p:cNvSpPr/>
            <p:nvPr/>
          </p:nvSpPr>
          <p:spPr>
            <a:xfrm>
              <a:off x="979" y="3699"/>
              <a:ext cx="10837" cy="5478"/>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52" name="图片 51"/>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xmlns="" val="0"/>
                </a:ext>
              </a:extLst>
            </a:blip>
            <a:stretch>
              <a:fillRect/>
            </a:stretch>
          </p:blipFill>
          <p:spPr>
            <a:xfrm>
              <a:off x="924" y="3655"/>
              <a:ext cx="2290" cy="2277"/>
            </a:xfrm>
            <a:prstGeom prst="rect">
              <a:avLst/>
            </a:prstGeom>
          </p:spPr>
        </p:pic>
        <p:sp>
          <p:nvSpPr>
            <p:cNvPr id="45" name="Text Box 44"/>
            <p:cNvSpPr txBox="1">
              <a:spLocks noChangeArrowheads="1"/>
            </p:cNvSpPr>
            <p:nvPr/>
          </p:nvSpPr>
          <p:spPr bwMode="auto">
            <a:xfrm>
              <a:off x="1475" y="4663"/>
              <a:ext cx="10169" cy="4268"/>
            </a:xfrm>
            <a:prstGeom prst="rect">
              <a:avLst/>
            </a:prstGeom>
            <a:noFill/>
            <a:ln>
              <a:noFill/>
            </a:ln>
            <a:effectLst/>
            <a:extLst>
              <a:ext uri="{909E8E84-426E-40DD-AFC4-6F175D3DCCD1}">
                <a14:hiddenFill xmlns:a14="http://schemas.microsoft.com/office/drawing/2010/main" xmlns="">
                  <a:solidFill>
                    <a:srgbClr val="FFFFFF">
                      <a:alpha val="30000"/>
                    </a:srgbClr>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lang="zh-CN" altLang="en-US" sz="1800" dirty="0">
                  <a:solidFill>
                    <a:schemeClr val="accent5">
                      <a:lumMod val="50000"/>
                    </a:schemeClr>
                  </a:solidFill>
                </a:rPr>
                <a:t>黑盒法（Black-box Testing）又称功能测试，其测试用例完全是根据程序的功能说明来设计的。在应用这种测试法时，测试者完全不考虑程序的内部结构和内部特性，而是把软件看成是一个黑盒，测试时仅关心如何寻找出可能使程序不按要求运行的情况，因而测试是在程序接口进行的。</a:t>
              </a:r>
            </a:p>
            <a:p>
              <a:pPr indent="0"/>
              <a:r>
                <a:rPr lang="zh-CN" altLang="en-US" sz="1800" dirty="0"/>
                <a:t>     黑盒法是最基本的测试法，主要测试软件能否满足功能要求，检查输入能否被正确地接收，软件能否正确地输出结果。</a:t>
              </a:r>
            </a:p>
          </p:txBody>
        </p:sp>
        <p:sp>
          <p:nvSpPr>
            <p:cNvPr id="4" name="TextBox 6"/>
            <p:cNvSpPr txBox="1"/>
            <p:nvPr/>
          </p:nvSpPr>
          <p:spPr>
            <a:xfrm rot="18836568">
              <a:off x="800" y="4291"/>
              <a:ext cx="1728" cy="606"/>
            </a:xfrm>
            <a:prstGeom prst="rect">
              <a:avLst/>
            </a:prstGeom>
            <a:noFill/>
          </p:spPr>
          <p:txBody>
            <a:bodyPr wrap="none" rtlCol="0">
              <a:spAutoFit/>
            </a:bodyPr>
            <a:lstStyle/>
            <a:p>
              <a:pPr algn="l"/>
              <a:r>
                <a:rPr lang="zh-CN" altLang="en-US" b="1" dirty="0">
                  <a:solidFill>
                    <a:schemeClr val="bg1"/>
                  </a:solidFill>
                  <a:latin typeface="微软雅黑" panose="020B0503020204020204" charset="-122"/>
                  <a:ea typeface="微软雅黑" panose="020B0503020204020204" charset="-122"/>
                </a:rPr>
                <a:t>黑盒测试</a:t>
              </a:r>
            </a:p>
          </p:txBody>
        </p:sp>
        <p:sp>
          <p:nvSpPr>
            <p:cNvPr id="5" name="TextBox 26"/>
            <p:cNvSpPr txBox="1"/>
            <p:nvPr/>
          </p:nvSpPr>
          <p:spPr>
            <a:xfrm>
              <a:off x="9110" y="2933"/>
              <a:ext cx="1089" cy="1710"/>
            </a:xfrm>
            <a:prstGeom prst="rect">
              <a:avLst/>
            </a:prstGeom>
            <a:noFill/>
          </p:spPr>
          <p:txBody>
            <a:bodyPr wrap="non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1</a:t>
              </a:r>
            </a:p>
          </p:txBody>
        </p:sp>
      </p:grpSp>
      <p:grpSp>
        <p:nvGrpSpPr>
          <p:cNvPr id="6" name="组合 5"/>
          <p:cNvGrpSpPr/>
          <p:nvPr/>
        </p:nvGrpSpPr>
        <p:grpSpPr>
          <a:xfrm>
            <a:off x="7729270" y="1795468"/>
            <a:ext cx="4462730" cy="3895646"/>
            <a:chOff x="924" y="3019"/>
            <a:chExt cx="7518" cy="6347"/>
          </a:xfrm>
        </p:grpSpPr>
        <p:sp>
          <p:nvSpPr>
            <p:cNvPr id="7" name="矩形 6"/>
            <p:cNvSpPr/>
            <p:nvPr/>
          </p:nvSpPr>
          <p:spPr>
            <a:xfrm>
              <a:off x="979" y="3699"/>
              <a:ext cx="7463" cy="5667"/>
            </a:xfrm>
            <a:prstGeom prst="rect">
              <a:avLst/>
            </a:prstGeom>
            <a:solidFill>
              <a:schemeClr val="bg1"/>
            </a:solidFill>
            <a:ln w="9525">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p>
          </p:txBody>
        </p:sp>
        <p:pic>
          <p:nvPicPr>
            <p:cNvPr id="8" name="图片 7"/>
            <p:cNvPicPr>
              <a:picLocks noChangeAspect="1"/>
            </p:cNvPicPr>
            <p:nvPr/>
          </p:nvPicPr>
          <p:blipFill>
            <a:blip r:embed="rId3" cstate="print">
              <a:duotone>
                <a:prstClr val="black"/>
                <a:schemeClr val="accent3">
                  <a:tint val="45000"/>
                  <a:satMod val="400000"/>
                </a:schemeClr>
              </a:duotone>
              <a:extLst>
                <a:ext uri="{28A0092B-C50C-407E-A947-70E740481C1C}">
                  <a14:useLocalDpi xmlns:a14="http://schemas.microsoft.com/office/drawing/2010/main" xmlns="" val="0"/>
                </a:ext>
              </a:extLst>
            </a:blip>
            <a:stretch>
              <a:fillRect/>
            </a:stretch>
          </p:blipFill>
          <p:spPr>
            <a:xfrm>
              <a:off x="924" y="3655"/>
              <a:ext cx="2290" cy="2277"/>
            </a:xfrm>
            <a:prstGeom prst="rect">
              <a:avLst/>
            </a:prstGeom>
          </p:spPr>
        </p:pic>
        <p:sp>
          <p:nvSpPr>
            <p:cNvPr id="9" name="Text Box 44"/>
            <p:cNvSpPr txBox="1">
              <a:spLocks noChangeArrowheads="1"/>
            </p:cNvSpPr>
            <p:nvPr/>
          </p:nvSpPr>
          <p:spPr bwMode="auto">
            <a:xfrm>
              <a:off x="1683" y="5453"/>
              <a:ext cx="6483" cy="3806"/>
            </a:xfrm>
            <a:prstGeom prst="rect">
              <a:avLst/>
            </a:prstGeom>
            <a:noFill/>
            <a:ln>
              <a:noFill/>
            </a:ln>
            <a:effectLst/>
            <a:extLst>
              <a:ext uri="{909E8E84-426E-40DD-AFC4-6F175D3DCCD1}">
                <a14:hiddenFill xmlns:a14="http://schemas.microsoft.com/office/drawing/2010/main" xmlns="">
                  <a:solidFill>
                    <a:srgbClr val="FFFFFF">
                      <a:alpha val="30000"/>
                    </a:srgbClr>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square">
              <a:spAutoFit/>
            </a:bodyPr>
            <a:lstStyle>
              <a:defPPr>
                <a:defRPr lang="en-US"/>
              </a:defPPr>
              <a:lvl1pPr indent="457200" defTabSz="720725">
                <a:lnSpc>
                  <a:spcPct val="135000"/>
                </a:lnSpc>
                <a:defRPr sz="1600">
                  <a:solidFill>
                    <a:schemeClr val="bg1">
                      <a:lumMod val="50000"/>
                    </a:schemeClr>
                  </a:solidFill>
                  <a:latin typeface="微软雅黑" panose="020B0503020204020204" charset="-122"/>
                  <a:ea typeface="微软雅黑" panose="020B0503020204020204" charset="-122"/>
                </a:defRPr>
              </a:lvl1pPr>
              <a:lvl2pPr defTabSz="720725" eaLnBrk="0" hangingPunct="0">
                <a:defRPr sz="1600">
                  <a:latin typeface="Arial" panose="020B0604020202020204" pitchFamily="34" charset="0"/>
                  <a:ea typeface="宋体" panose="02010600030101010101" pitchFamily="2" charset="-122"/>
                </a:defRPr>
              </a:lvl2pPr>
              <a:lvl3pPr defTabSz="720725" eaLnBrk="0" hangingPunct="0">
                <a:defRPr sz="1600">
                  <a:latin typeface="Arial" panose="020B0604020202020204" pitchFamily="34" charset="0"/>
                  <a:ea typeface="宋体" panose="02010600030101010101" pitchFamily="2" charset="-122"/>
                </a:defRPr>
              </a:lvl3pPr>
              <a:lvl4pPr defTabSz="720725" eaLnBrk="0" hangingPunct="0">
                <a:defRPr sz="1600">
                  <a:latin typeface="Arial" panose="020B0604020202020204" pitchFamily="34" charset="0"/>
                  <a:ea typeface="宋体" panose="02010600030101010101" pitchFamily="2" charset="-122"/>
                </a:defRPr>
              </a:lvl4pPr>
              <a:lvl5pPr defTabSz="720725" eaLnBrk="0" hangingPunct="0">
                <a:defRPr sz="1600">
                  <a:latin typeface="Arial" panose="020B0604020202020204" pitchFamily="34" charset="0"/>
                  <a:ea typeface="宋体" panose="02010600030101010101" pitchFamily="2" charset="-122"/>
                </a:defRPr>
              </a:lvl5pPr>
              <a:lvl6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6pPr>
              <a:lvl7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7pPr>
              <a:lvl8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8pPr>
              <a:lvl9pPr defTabSz="720725" eaLnBrk="0" fontAlgn="base" hangingPunct="0">
                <a:spcBef>
                  <a:spcPct val="0"/>
                </a:spcBef>
                <a:spcAft>
                  <a:spcPct val="0"/>
                </a:spcAft>
                <a:defRPr sz="1600">
                  <a:latin typeface="Arial" panose="020B0604020202020204" pitchFamily="34" charset="0"/>
                  <a:ea typeface="宋体" panose="02010600030101010101" pitchFamily="2" charset="-122"/>
                </a:defRPr>
              </a:lvl9pPr>
            </a:lstStyle>
            <a:p>
              <a:pPr indent="0"/>
              <a:r>
                <a:rPr lang="en-US" altLang="zh-CN" sz="1800" b="1" dirty="0">
                  <a:solidFill>
                    <a:srgbClr val="00B050"/>
                  </a:solidFill>
                </a:rPr>
                <a:t>       </a:t>
              </a:r>
              <a:r>
                <a:rPr lang="zh-CN" altLang="en-US" sz="1800" dirty="0">
                  <a:solidFill>
                    <a:schemeClr val="accent5">
                      <a:lumMod val="50000"/>
                    </a:schemeClr>
                  </a:solidFill>
                </a:rPr>
                <a:t>白盒法（White-box Testing）又称结构测试，其测试用例是根据程序内部的逻辑结构和执行路径来设计的。</a:t>
              </a:r>
              <a:r>
                <a:rPr lang="zh-CN" altLang="en-US" sz="1800" dirty="0"/>
                <a:t>用白盒法测试时，从检查程序的逻辑着手。</a:t>
              </a:r>
            </a:p>
            <a:p>
              <a:pPr indent="0"/>
              <a:endParaRPr lang="zh-CN" altLang="en-US" sz="1800" dirty="0"/>
            </a:p>
          </p:txBody>
        </p:sp>
        <p:sp>
          <p:nvSpPr>
            <p:cNvPr id="10" name="TextBox 6"/>
            <p:cNvSpPr txBox="1"/>
            <p:nvPr/>
          </p:nvSpPr>
          <p:spPr>
            <a:xfrm rot="18836568">
              <a:off x="734" y="4122"/>
              <a:ext cx="2198" cy="648"/>
            </a:xfrm>
            <a:prstGeom prst="rect">
              <a:avLst/>
            </a:prstGeom>
            <a:noFill/>
          </p:spPr>
          <p:txBody>
            <a:bodyPr wrap="square" rtlCol="0">
              <a:spAutoFit/>
            </a:bodyPr>
            <a:lstStyle/>
            <a:p>
              <a:pPr algn="l"/>
              <a:r>
                <a:rPr lang="zh-CN" altLang="en-US" b="1" dirty="0">
                  <a:solidFill>
                    <a:schemeClr val="bg1"/>
                  </a:solidFill>
                  <a:latin typeface="微软雅黑" panose="020B0503020204020204" charset="-122"/>
                  <a:ea typeface="微软雅黑" panose="020B0503020204020204" charset="-122"/>
                </a:rPr>
                <a:t>白盒测试</a:t>
              </a:r>
            </a:p>
          </p:txBody>
        </p:sp>
        <p:sp>
          <p:nvSpPr>
            <p:cNvPr id="11" name="TextBox 26"/>
            <p:cNvSpPr txBox="1"/>
            <p:nvPr/>
          </p:nvSpPr>
          <p:spPr>
            <a:xfrm>
              <a:off x="7062" y="3019"/>
              <a:ext cx="1089" cy="1769"/>
            </a:xfrm>
            <a:prstGeom prst="rect">
              <a:avLst/>
            </a:prstGeom>
            <a:noFill/>
          </p:spPr>
          <p:txBody>
            <a:bodyPr wrap="square" rtlCol="0">
              <a:spAutoFit/>
            </a:bodyPr>
            <a:lstStyle/>
            <a:p>
              <a:r>
                <a:rPr lang="en-US" sz="6000" b="1" dirty="0">
                  <a:ln>
                    <a:solidFill>
                      <a:schemeClr val="tx2"/>
                    </a:solidFill>
                  </a:ln>
                  <a:solidFill>
                    <a:schemeClr val="bg1"/>
                  </a:solidFill>
                  <a:effectLst>
                    <a:reflection blurRad="6350" stA="55000" endA="300" endPos="45500" dir="5400000" sy="-100000" algn="bl" rotWithShape="0"/>
                  </a:effectLst>
                  <a:latin typeface="Arial Black" panose="020B0A04020102020204" pitchFamily="34" charset="0"/>
                </a:rPr>
                <a:t>2</a:t>
              </a:r>
            </a:p>
          </p:txBody>
        </p:sp>
      </p:grpSp>
      <p:grpSp>
        <p:nvGrpSpPr>
          <p:cNvPr id="41" name="组合 40"/>
          <p:cNvGrpSpPr/>
          <p:nvPr/>
        </p:nvGrpSpPr>
        <p:grpSpPr>
          <a:xfrm>
            <a:off x="6152036" y="567482"/>
            <a:ext cx="5427980" cy="1049655"/>
            <a:chOff x="1164" y="3311"/>
            <a:chExt cx="8548" cy="1653"/>
          </a:xfrm>
        </p:grpSpPr>
        <p:sp>
          <p:nvSpPr>
            <p:cNvPr id="167" name="圆角矩形"/>
            <p:cNvSpPr/>
            <p:nvPr/>
          </p:nvSpPr>
          <p:spPr>
            <a:xfrm>
              <a:off x="1336" y="3815"/>
              <a:ext cx="8376" cy="1149"/>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2" name="学士帽"/>
            <p:cNvSpPr/>
            <p:nvPr/>
          </p:nvSpPr>
          <p:spPr bwMode="auto">
            <a:xfrm>
              <a:off x="1164" y="331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2" name="文本框 11"/>
            <p:cNvSpPr txBox="1"/>
            <p:nvPr/>
          </p:nvSpPr>
          <p:spPr>
            <a:xfrm>
              <a:off x="1308" y="3803"/>
              <a:ext cx="8312" cy="1008"/>
            </a:xfrm>
            <a:prstGeom prst="rect">
              <a:avLst/>
            </a:prstGeom>
            <a:noFill/>
          </p:spPr>
          <p:txBody>
            <a:bodyPr wrap="square" rtlCol="0">
              <a:spAutoFit/>
            </a:bodyPr>
            <a:lstStyle/>
            <a:p>
              <a:pPr indent="0"/>
              <a:r>
                <a:rPr lang="en-US" altLang="zh-CN" dirty="0">
                  <a:solidFill>
                    <a:schemeClr val="bg2">
                      <a:lumMod val="50000"/>
                    </a:schemeClr>
                  </a:solidFill>
                  <a:sym typeface="+mn-ea"/>
                </a:rPr>
                <a:t>       </a:t>
              </a:r>
              <a:r>
                <a:rPr lang="zh-CN" altLang="en-US" dirty="0">
                  <a:sym typeface="+mn-ea"/>
                </a:rPr>
                <a:t>在软件测试时，常把黑盒法和白盒法结合起来进行，这也称为灰盒法。</a:t>
              </a:r>
            </a:p>
          </p:txBody>
        </p:sp>
      </p:grpSp>
    </p:spTree>
  </p:cSld>
  <p:clrMapOvr>
    <a:masterClrMapping/>
  </p:clrMapOvr>
  <p:transition>
    <p:wipe dir="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软件测试步骤</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模块测试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集成测试</a:t>
              </a:r>
            </a:p>
          </p:txBody>
        </p:sp>
      </p:grpSp>
      <p:grpSp>
        <p:nvGrpSpPr>
          <p:cNvPr id="3" name="组合 2"/>
          <p:cNvGrpSpPr/>
          <p:nvPr/>
        </p:nvGrpSpPr>
        <p:grpSpPr>
          <a:xfrm>
            <a:off x="818515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确认测试</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平行运行</a:t>
              </a:r>
            </a:p>
          </p:txBody>
        </p:sp>
      </p:grpSp>
      <p:sp>
        <p:nvSpPr>
          <p:cNvPr id="8" name="文本框 7"/>
          <p:cNvSpPr txBox="1"/>
          <p:nvPr/>
        </p:nvSpPr>
        <p:spPr>
          <a:xfrm>
            <a:off x="6006465" y="515620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程序审查会和人工运行</a:t>
            </a:r>
          </a:p>
        </p:txBody>
      </p:sp>
    </p:spTree>
  </p:cSld>
  <p:clrMapOvr>
    <a:masterClrMapping/>
  </p:clrMapOvr>
  <p:transition spd="slow">
    <p:wipe/>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altLang="zh-CN" dirty="0">
                <a:solidFill>
                  <a:srgbClr val="FF0000"/>
                </a:solidFill>
              </a:rPr>
              <a:t>4.4 </a:t>
            </a:r>
            <a:r>
              <a:rPr lang="zh-CN" altLang="en-US" dirty="0">
                <a:solidFill>
                  <a:srgbClr val="FF0000"/>
                </a:solidFill>
              </a:rPr>
              <a:t>软件测试步骤</a:t>
            </a:r>
          </a:p>
        </p:txBody>
      </p:sp>
      <p:grpSp>
        <p:nvGrpSpPr>
          <p:cNvPr id="13" name="组合 12"/>
          <p:cNvGrpSpPr/>
          <p:nvPr/>
        </p:nvGrpSpPr>
        <p:grpSpPr>
          <a:xfrm>
            <a:off x="1935489" y="1814089"/>
            <a:ext cx="7980852" cy="4183486"/>
            <a:chOff x="2647" y="2309"/>
            <a:chExt cx="14645" cy="8096"/>
          </a:xfrm>
        </p:grpSpPr>
        <p:cxnSp>
          <p:nvCxnSpPr>
            <p:cNvPr id="36" name="直接连接符 35"/>
            <p:cNvCxnSpPr/>
            <p:nvPr>
              <p:custDataLst>
                <p:tags r:id="rId1"/>
              </p:custDataLst>
            </p:nvPr>
          </p:nvCxnSpPr>
          <p:spPr>
            <a:xfrm flipH="1">
              <a:off x="12605" y="5245"/>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custDataLst>
                <p:tags r:id="rId2"/>
              </p:custDataLst>
            </p:nvPr>
          </p:nvSpPr>
          <p:spPr>
            <a:xfrm>
              <a:off x="13891" y="4853"/>
              <a:ext cx="3002" cy="1192"/>
            </a:xfrm>
            <a:prstGeom prst="rect">
              <a:avLst/>
            </a:prstGeom>
            <a:noFill/>
          </p:spPr>
          <p:txBody>
            <a:bodyPr>
              <a:normAutofit/>
            </a:bodyPr>
            <a:lstStyle/>
            <a:p>
              <a:pPr algn="l" eaLnBrk="1" hangingPunct="1">
                <a:lnSpc>
                  <a:spcPct val="100000"/>
                </a:lnSpc>
                <a:spcBef>
                  <a:spcPts val="0"/>
                </a:spcBef>
                <a:spcAft>
                  <a:spcPts val="0"/>
                </a:spcAft>
                <a:defRPr/>
              </a:pPr>
              <a:r>
                <a:rPr lang="zh-CN" altLang="en-US" sz="2000" b="1" dirty="0">
                  <a:latin typeface="微软雅黑" panose="020B0503020204020204" charset="-122"/>
                  <a:ea typeface="微软雅黑" panose="020B0503020204020204" charset="-122"/>
                </a:rPr>
                <a:t>集成测试</a:t>
              </a:r>
            </a:p>
          </p:txBody>
        </p:sp>
        <p:cxnSp>
          <p:nvCxnSpPr>
            <p:cNvPr id="38" name="直接连接符 37"/>
            <p:cNvCxnSpPr/>
            <p:nvPr>
              <p:custDataLst>
                <p:tags r:id="rId3"/>
              </p:custDataLst>
            </p:nvPr>
          </p:nvCxnSpPr>
          <p:spPr>
            <a:xfrm flipH="1">
              <a:off x="12605" y="7405"/>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文本框 38"/>
            <p:cNvSpPr txBox="1"/>
            <p:nvPr>
              <p:custDataLst>
                <p:tags r:id="rId4"/>
              </p:custDataLst>
            </p:nvPr>
          </p:nvSpPr>
          <p:spPr>
            <a:xfrm>
              <a:off x="13891" y="7090"/>
              <a:ext cx="3086" cy="1192"/>
            </a:xfrm>
            <a:prstGeom prst="rect">
              <a:avLst/>
            </a:prstGeom>
            <a:noFill/>
          </p:spPr>
          <p:txBody>
            <a:bodyPr>
              <a:normAutofit/>
            </a:bodyPr>
            <a:lstStyle/>
            <a:p>
              <a:pPr algn="l" eaLnBrk="1" hangingPunct="1">
                <a:lnSpc>
                  <a:spcPct val="100000"/>
                </a:lnSpc>
                <a:spcBef>
                  <a:spcPts val="0"/>
                </a:spcBef>
                <a:spcAft>
                  <a:spcPts val="0"/>
                </a:spcAft>
                <a:defRPr/>
              </a:pPr>
              <a:r>
                <a:rPr lang="zh-CN" altLang="en-US" sz="2000" b="1" dirty="0">
                  <a:latin typeface="微软雅黑" panose="020B0503020204020204" charset="-122"/>
                  <a:ea typeface="微软雅黑" panose="020B0503020204020204" charset="-122"/>
                </a:rPr>
                <a:t>程序审查会</a:t>
              </a:r>
            </a:p>
          </p:txBody>
        </p:sp>
        <p:grpSp>
          <p:nvGrpSpPr>
            <p:cNvPr id="40" name="组合 10"/>
            <p:cNvGrpSpPr/>
            <p:nvPr>
              <p:custDataLst>
                <p:tags r:id="rId5"/>
              </p:custDataLst>
            </p:nvPr>
          </p:nvGrpSpPr>
          <p:grpSpPr bwMode="auto">
            <a:xfrm flipH="1" flipV="1">
              <a:off x="10120" y="9295"/>
              <a:ext cx="2373" cy="413"/>
              <a:chOff x="4255294" y="1661160"/>
              <a:chExt cx="1505426" cy="262890"/>
            </a:xfrm>
          </p:grpSpPr>
          <p:cxnSp>
            <p:nvCxnSpPr>
              <p:cNvPr id="14" name="Straight Connector 31@|9FFC:0|FBC:0|LFC:6905428|LBC:16777215"/>
              <p:cNvCxnSpPr/>
              <p:nvPr>
                <p:custDataLst>
                  <p:tags r:id="rId35"/>
                </p:custDataLst>
              </p:nvPr>
            </p:nvCxnSpPr>
            <p:spPr>
              <a:xfrm flipH="1" flipV="1">
                <a:off x="5410141" y="1661160"/>
                <a:ext cx="350579" cy="26289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32@|9FFC:0|FBC:0|LFC:6905428|LBC:16777215"/>
              <p:cNvCxnSpPr/>
              <p:nvPr>
                <p:custDataLst>
                  <p:tags r:id="rId36"/>
                </p:custDataLst>
              </p:nvPr>
            </p:nvCxnSpPr>
            <p:spPr>
              <a:xfrm flipH="1">
                <a:off x="4255294" y="1662754"/>
                <a:ext cx="11580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6" name="文本框 15"/>
            <p:cNvSpPr txBox="1"/>
            <p:nvPr>
              <p:custDataLst>
                <p:tags r:id="rId6"/>
              </p:custDataLst>
            </p:nvPr>
          </p:nvSpPr>
          <p:spPr>
            <a:xfrm>
              <a:off x="12669" y="9213"/>
              <a:ext cx="4623" cy="1192"/>
            </a:xfrm>
            <a:prstGeom prst="rect">
              <a:avLst/>
            </a:prstGeom>
            <a:noFill/>
          </p:spPr>
          <p:txBody>
            <a:bodyPr>
              <a:normAutofit/>
            </a:bodyPr>
            <a:lstStyle/>
            <a:p>
              <a:pPr algn="l" eaLnBrk="1" hangingPunct="1">
                <a:lnSpc>
                  <a:spcPct val="100000"/>
                </a:lnSpc>
                <a:spcBef>
                  <a:spcPts val="0"/>
                </a:spcBef>
                <a:spcAft>
                  <a:spcPts val="0"/>
                </a:spcAft>
                <a:defRPr/>
              </a:pPr>
              <a:r>
                <a:rPr lang="zh-CN" altLang="en-US" sz="2000" b="1" dirty="0">
                  <a:latin typeface="微软雅黑" panose="020B0503020204020204" charset="-122"/>
                  <a:ea typeface="微软雅黑" panose="020B0503020204020204" charset="-122"/>
                </a:rPr>
                <a:t>人工运行</a:t>
              </a:r>
            </a:p>
          </p:txBody>
        </p:sp>
        <p:cxnSp>
          <p:nvCxnSpPr>
            <p:cNvPr id="44" name="直接连接符 43"/>
            <p:cNvCxnSpPr/>
            <p:nvPr>
              <p:custDataLst>
                <p:tags r:id="rId7"/>
              </p:custDataLst>
            </p:nvPr>
          </p:nvCxnSpPr>
          <p:spPr>
            <a:xfrm flipH="1">
              <a:off x="5593" y="7408"/>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文本框 16"/>
            <p:cNvSpPr txBox="1"/>
            <p:nvPr>
              <p:custDataLst>
                <p:tags r:id="rId8"/>
              </p:custDataLst>
            </p:nvPr>
          </p:nvSpPr>
          <p:spPr>
            <a:xfrm>
              <a:off x="2647" y="7066"/>
              <a:ext cx="2699" cy="1166"/>
            </a:xfrm>
            <a:prstGeom prst="rect">
              <a:avLst/>
            </a:prstGeom>
            <a:noFill/>
          </p:spPr>
          <p:txBody>
            <a:bodyPr>
              <a:normAutofit/>
            </a:bodyPr>
            <a:lstStyle/>
            <a:p>
              <a:pPr eaLnBrk="1" hangingPunct="1">
                <a:spcBef>
                  <a:spcPts val="0"/>
                </a:spcBef>
                <a:spcAft>
                  <a:spcPts val="0"/>
                </a:spcAft>
                <a:defRPr/>
              </a:pPr>
              <a:r>
                <a:rPr lang="zh-CN" altLang="en-US" sz="2000" b="1" dirty="0">
                  <a:latin typeface="微软雅黑" panose="020B0503020204020204" charset="-122"/>
                  <a:ea typeface="微软雅黑" panose="020B0503020204020204" charset="-122"/>
                </a:rPr>
                <a:t>确认测试</a:t>
              </a:r>
            </a:p>
          </p:txBody>
        </p:sp>
        <p:cxnSp>
          <p:nvCxnSpPr>
            <p:cNvPr id="46" name="直接连接符 45"/>
            <p:cNvCxnSpPr/>
            <p:nvPr>
              <p:custDataLst>
                <p:tags r:id="rId9"/>
              </p:custDataLst>
            </p:nvPr>
          </p:nvCxnSpPr>
          <p:spPr>
            <a:xfrm rot="10800000" flipV="1">
              <a:off x="5053" y="5245"/>
              <a:ext cx="1505" cy="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文本框 46"/>
            <p:cNvSpPr txBox="1"/>
            <p:nvPr>
              <p:custDataLst>
                <p:tags r:id="rId10"/>
              </p:custDataLst>
            </p:nvPr>
          </p:nvSpPr>
          <p:spPr>
            <a:xfrm>
              <a:off x="2647" y="4878"/>
              <a:ext cx="2946" cy="1018"/>
            </a:xfrm>
            <a:prstGeom prst="rect">
              <a:avLst/>
            </a:prstGeom>
            <a:noFill/>
          </p:spPr>
          <p:txBody>
            <a:bodyPr>
              <a:normAutofit/>
            </a:bodyPr>
            <a:lstStyle/>
            <a:p>
              <a:pPr eaLnBrk="1" hangingPunct="1">
                <a:spcBef>
                  <a:spcPts val="0"/>
                </a:spcBef>
                <a:spcAft>
                  <a:spcPts val="0"/>
                </a:spcAft>
                <a:defRPr/>
              </a:pPr>
              <a:r>
                <a:rPr lang="zh-CN" altLang="en-US" sz="2000" b="1" dirty="0">
                  <a:latin typeface="微软雅黑" panose="020B0503020204020204" charset="-122"/>
                  <a:ea typeface="微软雅黑" panose="020B0503020204020204" charset="-122"/>
                </a:rPr>
                <a:t>平行运行</a:t>
              </a:r>
            </a:p>
          </p:txBody>
        </p:sp>
        <p:grpSp>
          <p:nvGrpSpPr>
            <p:cNvPr id="48" name="组合 21"/>
            <p:cNvGrpSpPr/>
            <p:nvPr>
              <p:custDataLst>
                <p:tags r:id="rId11"/>
              </p:custDataLst>
            </p:nvPr>
          </p:nvGrpSpPr>
          <p:grpSpPr bwMode="auto">
            <a:xfrm>
              <a:off x="10143" y="2806"/>
              <a:ext cx="3427" cy="417"/>
              <a:chOff x="6483375" y="1659892"/>
              <a:chExt cx="2176860" cy="264158"/>
            </a:xfrm>
          </p:grpSpPr>
          <p:cxnSp>
            <p:nvCxnSpPr>
              <p:cNvPr id="49" name="Straight Connector 39@|9FFC:0|FBC:0|LFC:6905428|LBC:16777215"/>
              <p:cNvCxnSpPr/>
              <p:nvPr>
                <p:custDataLst>
                  <p:tags r:id="rId33"/>
                </p:custDataLst>
              </p:nvPr>
            </p:nvCxnSpPr>
            <p:spPr>
              <a:xfrm flipV="1">
                <a:off x="6483375" y="1659892"/>
                <a:ext cx="454738" cy="2641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0@|9FFC:0|FBC:0|LFC:6905428|LBC:16777215"/>
              <p:cNvCxnSpPr/>
              <p:nvPr>
                <p:custDataLst>
                  <p:tags r:id="rId34"/>
                </p:custDataLst>
              </p:nvPr>
            </p:nvCxnSpPr>
            <p:spPr>
              <a:xfrm flipH="1">
                <a:off x="6893637" y="1659894"/>
                <a:ext cx="1766598" cy="1520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1" name="文本框 50"/>
            <p:cNvSpPr txBox="1"/>
            <p:nvPr>
              <p:custDataLst>
                <p:tags r:id="rId12"/>
              </p:custDataLst>
            </p:nvPr>
          </p:nvSpPr>
          <p:spPr>
            <a:xfrm>
              <a:off x="13900" y="2309"/>
              <a:ext cx="3076" cy="1017"/>
            </a:xfrm>
            <a:prstGeom prst="rect">
              <a:avLst/>
            </a:prstGeom>
            <a:noFill/>
          </p:spPr>
          <p:txBody>
            <a:bodyPr>
              <a:normAutofit/>
            </a:bodyPr>
            <a:lstStyle/>
            <a:p>
              <a:pPr eaLnBrk="1" hangingPunct="1">
                <a:spcBef>
                  <a:spcPts val="0"/>
                </a:spcBef>
                <a:spcAft>
                  <a:spcPts val="0"/>
                </a:spcAft>
                <a:defRPr/>
              </a:pPr>
              <a:r>
                <a:rPr lang="zh-CN" altLang="en-US" sz="2000" b="1" dirty="0">
                  <a:latin typeface="微软雅黑" panose="020B0503020204020204" charset="-122"/>
                  <a:ea typeface="微软雅黑" panose="020B0503020204020204" charset="-122"/>
                </a:rPr>
                <a:t>模块测试</a:t>
              </a:r>
            </a:p>
          </p:txBody>
        </p:sp>
        <p:sp>
          <p:nvSpPr>
            <p:cNvPr id="18" name="六边形 17"/>
            <p:cNvSpPr/>
            <p:nvPr>
              <p:custDataLst>
                <p:tags r:id="rId13"/>
              </p:custDataLst>
            </p:nvPr>
          </p:nvSpPr>
          <p:spPr>
            <a:xfrm>
              <a:off x="10710" y="4415"/>
              <a:ext cx="1895" cy="16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3" name="文本框 27"/>
            <p:cNvSpPr txBox="1">
              <a:spLocks noChangeArrowheads="1"/>
            </p:cNvSpPr>
            <p:nvPr>
              <p:custDataLst>
                <p:tags r:id="rId14"/>
              </p:custDataLst>
            </p:nvPr>
          </p:nvSpPr>
          <p:spPr bwMode="auto">
            <a:xfrm>
              <a:off x="10995" y="4888"/>
              <a:ext cx="1293" cy="72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8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02</a:t>
              </a:r>
              <a:endParaRPr lang="zh-CN" altLang="en-US" sz="2400" b="1" baseline="-3000" dirty="0">
                <a:latin typeface="+mn-lt"/>
                <a:ea typeface="+mn-ea"/>
              </a:endParaRPr>
            </a:p>
          </p:txBody>
        </p:sp>
        <p:sp>
          <p:nvSpPr>
            <p:cNvPr id="54" name="六边形 53"/>
            <p:cNvSpPr/>
            <p:nvPr>
              <p:custDataLst>
                <p:tags r:id="rId15"/>
              </p:custDataLst>
            </p:nvPr>
          </p:nvSpPr>
          <p:spPr>
            <a:xfrm>
              <a:off x="8635" y="3223"/>
              <a:ext cx="1898" cy="1655"/>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5" name="文本框 30"/>
            <p:cNvSpPr txBox="1">
              <a:spLocks noChangeArrowheads="1"/>
            </p:cNvSpPr>
            <p:nvPr>
              <p:custDataLst>
                <p:tags r:id="rId16"/>
              </p:custDataLst>
            </p:nvPr>
          </p:nvSpPr>
          <p:spPr bwMode="auto">
            <a:xfrm>
              <a:off x="8980" y="3595"/>
              <a:ext cx="1210" cy="9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2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01</a:t>
              </a:r>
              <a:endParaRPr lang="zh-CN" altLang="en-US" sz="2400" b="1" dirty="0">
                <a:latin typeface="+mn-lt"/>
                <a:ea typeface="+mn-ea"/>
              </a:endParaRPr>
            </a:p>
          </p:txBody>
        </p:sp>
        <p:sp>
          <p:nvSpPr>
            <p:cNvPr id="56" name="六边形 55"/>
            <p:cNvSpPr/>
            <p:nvPr>
              <p:custDataLst>
                <p:tags r:id="rId17"/>
              </p:custDataLst>
            </p:nvPr>
          </p:nvSpPr>
          <p:spPr>
            <a:xfrm>
              <a:off x="10710" y="6575"/>
              <a:ext cx="1895" cy="1658"/>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7" name="文本框 33"/>
            <p:cNvSpPr txBox="1">
              <a:spLocks noChangeArrowheads="1"/>
            </p:cNvSpPr>
            <p:nvPr>
              <p:custDataLst>
                <p:tags r:id="rId18"/>
              </p:custDataLst>
            </p:nvPr>
          </p:nvSpPr>
          <p:spPr bwMode="auto">
            <a:xfrm>
              <a:off x="11033" y="6950"/>
              <a:ext cx="1210" cy="9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2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03</a:t>
              </a:r>
              <a:endParaRPr lang="zh-CN" altLang="en-US" sz="2400" b="1">
                <a:latin typeface="+mn-lt"/>
                <a:ea typeface="+mn-ea"/>
              </a:endParaRPr>
            </a:p>
          </p:txBody>
        </p:sp>
        <p:sp>
          <p:nvSpPr>
            <p:cNvPr id="58" name="六边形 57"/>
            <p:cNvSpPr/>
            <p:nvPr>
              <p:custDataLst>
                <p:tags r:id="rId19"/>
              </p:custDataLst>
            </p:nvPr>
          </p:nvSpPr>
          <p:spPr>
            <a:xfrm>
              <a:off x="6558" y="6575"/>
              <a:ext cx="1895" cy="1658"/>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9" name="文本框 36"/>
            <p:cNvSpPr txBox="1">
              <a:spLocks noChangeArrowheads="1"/>
            </p:cNvSpPr>
            <p:nvPr>
              <p:custDataLst>
                <p:tags r:id="rId20"/>
              </p:custDataLst>
            </p:nvPr>
          </p:nvSpPr>
          <p:spPr bwMode="auto">
            <a:xfrm>
              <a:off x="6898" y="6950"/>
              <a:ext cx="1210" cy="9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2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05</a:t>
              </a:r>
              <a:endParaRPr lang="zh-CN" altLang="en-US" sz="2400" b="1" dirty="0">
                <a:latin typeface="+mn-lt"/>
                <a:ea typeface="+mn-ea"/>
              </a:endParaRPr>
            </a:p>
          </p:txBody>
        </p:sp>
        <p:sp>
          <p:nvSpPr>
            <p:cNvPr id="60" name="六边形 59"/>
            <p:cNvSpPr/>
            <p:nvPr>
              <p:custDataLst>
                <p:tags r:id="rId21"/>
              </p:custDataLst>
            </p:nvPr>
          </p:nvSpPr>
          <p:spPr>
            <a:xfrm>
              <a:off x="6558" y="4415"/>
              <a:ext cx="1895" cy="16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1" name="文本框 39"/>
            <p:cNvSpPr txBox="1">
              <a:spLocks noChangeArrowheads="1"/>
            </p:cNvSpPr>
            <p:nvPr>
              <p:custDataLst>
                <p:tags r:id="rId22"/>
              </p:custDataLst>
            </p:nvPr>
          </p:nvSpPr>
          <p:spPr bwMode="auto">
            <a:xfrm>
              <a:off x="6843" y="4888"/>
              <a:ext cx="1292" cy="72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8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06</a:t>
              </a:r>
              <a:endParaRPr lang="zh-CN" altLang="en-US" sz="2400" b="1" dirty="0">
                <a:latin typeface="+mn-lt"/>
                <a:ea typeface="+mn-ea"/>
              </a:endParaRPr>
            </a:p>
          </p:txBody>
        </p:sp>
        <p:sp>
          <p:nvSpPr>
            <p:cNvPr id="62" name="六边形 61"/>
            <p:cNvSpPr/>
            <p:nvPr>
              <p:custDataLst>
                <p:tags r:id="rId23"/>
              </p:custDataLst>
            </p:nvPr>
          </p:nvSpPr>
          <p:spPr>
            <a:xfrm>
              <a:off x="8635" y="7638"/>
              <a:ext cx="1898" cy="1657"/>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3" name="文本框 42"/>
            <p:cNvSpPr txBox="1">
              <a:spLocks noChangeArrowheads="1"/>
            </p:cNvSpPr>
            <p:nvPr>
              <p:custDataLst>
                <p:tags r:id="rId24"/>
              </p:custDataLst>
            </p:nvPr>
          </p:nvSpPr>
          <p:spPr bwMode="auto">
            <a:xfrm>
              <a:off x="8900" y="8108"/>
              <a:ext cx="1293" cy="72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8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04</a:t>
              </a:r>
              <a:endParaRPr lang="zh-CN" altLang="en-US" sz="2400" b="1" dirty="0">
                <a:latin typeface="+mn-lt"/>
                <a:ea typeface="+mn-ea"/>
              </a:endParaRPr>
            </a:p>
          </p:txBody>
        </p:sp>
        <p:sp>
          <p:nvSpPr>
            <p:cNvPr id="64" name="六边形 63"/>
            <p:cNvSpPr/>
            <p:nvPr>
              <p:custDataLst>
                <p:tags r:id="rId25"/>
              </p:custDataLst>
            </p:nvPr>
          </p:nvSpPr>
          <p:spPr>
            <a:xfrm>
              <a:off x="8098" y="5028"/>
              <a:ext cx="2972" cy="2507"/>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26"/>
              </p:custDataLst>
            </p:nvPr>
          </p:nvGrpSpPr>
          <p:grpSpPr>
            <a:xfrm>
              <a:off x="8800" y="5725"/>
              <a:ext cx="1521" cy="1020"/>
              <a:chOff x="3784600" y="1525588"/>
              <a:chExt cx="935038" cy="568325"/>
            </a:xfrm>
            <a:solidFill>
              <a:schemeClr val="bg1"/>
            </a:solidFill>
          </p:grpSpPr>
          <p:sp>
            <p:nvSpPr>
              <p:cNvPr id="66" name="Freeform 8@|5FFC:16777215|FBC:16777215|LFC:11960852|LBC:16777215"/>
              <p:cNvSpPr/>
              <p:nvPr>
                <p:custDataLst>
                  <p:tags r:id="rId27"/>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28"/>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400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29"/>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77500" lnSpcReduction="2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30"/>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31"/>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lnSpcReduction="10000"/>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32"/>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grpSp>
      <p:sp>
        <p:nvSpPr>
          <p:cNvPr id="41"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t>软件测试一般包括以下几个步骤：</a:t>
            </a:r>
            <a:endParaRPr lang="zh-CN" altLang="en-US" sz="2400" dirty="0" smtClean="0">
              <a:solidFill>
                <a:schemeClr val="tx1"/>
              </a:solidFill>
            </a:endParaRPr>
          </a:p>
        </p:txBody>
      </p:sp>
    </p:spTree>
  </p:cSld>
  <p:clrMapOvr>
    <a:masterClrMapping/>
  </p:clrMapOvr>
  <p:transition>
    <p:wedge/>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grpSp>
        <p:nvGrpSpPr>
          <p:cNvPr id="2" name="组合 1"/>
          <p:cNvGrpSpPr/>
          <p:nvPr/>
        </p:nvGrpSpPr>
        <p:grpSpPr>
          <a:xfrm>
            <a:off x="-11428" y="2025409"/>
            <a:ext cx="12216719" cy="3497356"/>
            <a:chOff x="-296" y="2822"/>
            <a:chExt cx="15876" cy="4044"/>
          </a:xfrm>
        </p:grpSpPr>
        <p:sp>
          <p:nvSpPr>
            <p:cNvPr id="4" name="矩形 3"/>
            <p:cNvSpPr/>
            <p:nvPr>
              <p:custDataLst>
                <p:tags r:id="rId2"/>
              </p:custDataLst>
            </p:nvPr>
          </p:nvSpPr>
          <p:spPr>
            <a:xfrm>
              <a:off x="-296" y="3032"/>
              <a:ext cx="15857" cy="3834"/>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pic>
          <p:nvPicPr>
            <p:cNvPr id="9" name="图片 8"/>
            <p:cNvPicPr>
              <a:picLocks noChangeAspect="1"/>
            </p:cNvPicPr>
            <p:nvPr>
              <p:custDataLst>
                <p:tags r:id="rId3"/>
              </p:custDataLst>
            </p:nvPr>
          </p:nvPicPr>
          <p:blipFill>
            <a:blip r:embed="rId6" cstate="print"/>
            <a:stretch>
              <a:fillRect/>
            </a:stretch>
          </p:blipFill>
          <p:spPr>
            <a:xfrm>
              <a:off x="11181" y="2822"/>
              <a:ext cx="4399" cy="3927"/>
            </a:xfrm>
            <a:prstGeom prst="rect">
              <a:avLst/>
            </a:prstGeom>
            <a:effectLst>
              <a:outerShdw blurRad="76200" dir="13500000" sy="23000" kx="1200000" algn="br" rotWithShape="0">
                <a:prstClr val="black">
                  <a:alpha val="20000"/>
                </a:prstClr>
              </a:outerShdw>
            </a:effectLst>
          </p:spPr>
        </p:pic>
      </p:gr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4.4.1 </a:t>
            </a:r>
            <a:r>
              <a:rPr lang="zh-CN" altLang="en-US" sz="2400" dirty="0" smtClean="0">
                <a:solidFill>
                  <a:schemeClr val="tx1"/>
                </a:solidFill>
              </a:rPr>
              <a:t>模块测试</a:t>
            </a:r>
          </a:p>
        </p:txBody>
      </p:sp>
      <p:sp>
        <p:nvSpPr>
          <p:cNvPr id="100" name="文本框 99"/>
          <p:cNvSpPr txBox="1"/>
          <p:nvPr/>
        </p:nvSpPr>
        <p:spPr>
          <a:xfrm>
            <a:off x="201930" y="2375812"/>
            <a:ext cx="8518525" cy="294132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模块测试也称</a:t>
            </a:r>
            <a:r>
              <a:rPr lang="zh-CN" altLang="en-US" dirty="0">
                <a:solidFill>
                  <a:srgbClr val="C00000"/>
                </a:solidFill>
                <a:latin typeface="微软雅黑" panose="020B0503020204020204" charset="-122"/>
                <a:ea typeface="微软雅黑" panose="020B0503020204020204" charset="-122"/>
                <a:sym typeface="+mn-ea"/>
              </a:rPr>
              <a:t>单元测试</a:t>
            </a:r>
            <a:r>
              <a:rPr lang="zh-CN" altLang="en-US" dirty="0">
                <a:latin typeface="微软雅黑" panose="020B0503020204020204" charset="-122"/>
                <a:ea typeface="微软雅黑" panose="020B0503020204020204" charset="-122"/>
                <a:sym typeface="+mn-ea"/>
              </a:rPr>
              <a:t>，其目的是集中检验软件设计的</a:t>
            </a:r>
            <a:r>
              <a:rPr lang="zh-CN" altLang="en-US" dirty="0">
                <a:solidFill>
                  <a:srgbClr val="C00000"/>
                </a:solidFill>
                <a:latin typeface="微软雅黑" panose="020B0503020204020204" charset="-122"/>
                <a:ea typeface="微软雅黑" panose="020B0503020204020204" charset="-122"/>
                <a:sym typeface="+mn-ea"/>
              </a:rPr>
              <a:t>最小单元——模块</a:t>
            </a:r>
            <a:r>
              <a:rPr lang="zh-CN" altLang="en-US" dirty="0">
                <a:latin typeface="微软雅黑" panose="020B0503020204020204" charset="-122"/>
                <a:ea typeface="微软雅黑" panose="020B0503020204020204" charset="-122"/>
                <a:sym typeface="+mn-ea"/>
              </a:rPr>
              <a:t>，</a:t>
            </a:r>
            <a:r>
              <a:rPr lang="zh-CN" altLang="en-US" dirty="0">
                <a:solidFill>
                  <a:srgbClr val="C00000"/>
                </a:solidFill>
                <a:latin typeface="微软雅黑" panose="020B0503020204020204" charset="-122"/>
                <a:ea typeface="微软雅黑" panose="020B0503020204020204" charset="-122"/>
                <a:sym typeface="+mn-ea"/>
              </a:rPr>
              <a:t>检查每个模块是否能独立、正确地运行</a:t>
            </a:r>
            <a:r>
              <a:rPr lang="zh-CN" altLang="en-US" dirty="0">
                <a:latin typeface="微软雅黑" panose="020B0503020204020204" charset="-122"/>
                <a:ea typeface="微软雅黑" panose="020B0503020204020204" charset="-122"/>
                <a:sym typeface="+mn-ea"/>
              </a:rPr>
              <a:t>。在这个阶段所发现的错误往往是在编码和详细设计时产生的。通常，在编码阶段就进行模块测试。</a:t>
            </a:r>
          </a:p>
          <a:p>
            <a:pPr marL="0" indent="0" algn="l" fontAlgn="auto">
              <a:lnSpc>
                <a:spcPct val="130000"/>
              </a:lnSpc>
            </a:pPr>
            <a:r>
              <a:rPr lang="zh-CN" altLang="en-US" dirty="0">
                <a:latin typeface="微软雅黑" panose="020B0503020204020204" charset="-122"/>
                <a:ea typeface="微软雅黑" panose="020B0503020204020204" charset="-122"/>
                <a:sym typeface="+mn-ea"/>
              </a:rPr>
              <a:t>       单元测试时，在正式测试之前必须先通过编译程序检查并且改正所有语法错误，然后用详细设计描述作指南，对重要的执行通路进行测试，以便发现模块内部的错误。单元测试常用</a:t>
            </a:r>
            <a:r>
              <a:rPr lang="zh-CN" altLang="en-US" dirty="0">
                <a:solidFill>
                  <a:srgbClr val="C00000"/>
                </a:solidFill>
                <a:latin typeface="微软雅黑" panose="020B0503020204020204" charset="-122"/>
                <a:ea typeface="微软雅黑" panose="020B0503020204020204" charset="-122"/>
                <a:sym typeface="+mn-ea"/>
              </a:rPr>
              <a:t>白盒法测试</a:t>
            </a:r>
            <a:r>
              <a:rPr lang="zh-CN" altLang="en-US" dirty="0">
                <a:latin typeface="微软雅黑" panose="020B0503020204020204" charset="-122"/>
                <a:ea typeface="微软雅黑" panose="020B0503020204020204" charset="-122"/>
                <a:sym typeface="+mn-ea"/>
              </a:rPr>
              <a:t>，而且对多个模块的测试可以并行地进行。在单元测试期间，主要评价模块的下述5个特性：</a:t>
            </a:r>
            <a:r>
              <a:rPr lang="zh-CN" altLang="en-US" dirty="0">
                <a:solidFill>
                  <a:srgbClr val="C00000"/>
                </a:solidFill>
                <a:latin typeface="微软雅黑" panose="020B0503020204020204" charset="-122"/>
                <a:ea typeface="微软雅黑" panose="020B0503020204020204" charset="-122"/>
                <a:sym typeface="+mn-ea"/>
              </a:rPr>
              <a:t>① 模块接口；② 局部数据结构；③ 重要的执行通路；④ 出错处理通路；⑤ 影响上述各方面特性的边界条件。</a:t>
            </a:r>
          </a:p>
        </p:txBody>
      </p:sp>
      <p:graphicFrame>
        <p:nvGraphicFramePr>
          <p:cNvPr id="10" name="对象 9">
            <a:hlinkClick r:id="" action="ppaction://ole?verb=0"/>
          </p:cNvPr>
          <p:cNvGraphicFramePr>
            <a:graphicFrameLocks/>
          </p:cNvGraphicFramePr>
          <p:nvPr/>
        </p:nvGraphicFramePr>
        <p:xfrm>
          <a:off x="5638800" y="3321050"/>
          <a:ext cx="914400" cy="215900"/>
        </p:xfrm>
        <a:graphic>
          <a:graphicData uri="http://schemas.openxmlformats.org/presentationml/2006/ole">
            <p:oleObj spid="_x0000_s1025" r:id="rId7" imgW="914400" imgH="215640" progId="Equation.3">
              <p:embed/>
            </p:oleObj>
          </a:graphicData>
        </a:graphic>
      </p:graphicFrame>
      <p:sp>
        <p:nvSpPr>
          <p:cNvPr id="15" name="矩形 14"/>
          <p:cNvSpPr/>
          <p:nvPr/>
        </p:nvSpPr>
        <p:spPr>
          <a:xfrm>
            <a:off x="9169400" y="2834640"/>
            <a:ext cx="2519680" cy="1188720"/>
          </a:xfrm>
          <a:prstGeom prst="rect">
            <a:avLst/>
          </a:prstGeom>
          <a:noFill/>
          <a:ln>
            <a:noFill/>
          </a:ln>
        </p:spPr>
        <p:txBody>
          <a:bodyPr wrap="none" rtlCol="0" anchor="t">
            <a:prstTxWarp prst="textSlantUp">
              <a:avLst/>
            </a:prstTxWarp>
            <a:spAutoFit/>
            <a:scene3d>
              <a:camera prst="perspectiveRelaxedModerately"/>
              <a:lightRig rig="flat" dir="t">
                <a:rot lat="0" lon="0" rev="600000"/>
              </a:lightRig>
            </a:scene3d>
            <a:sp3d extrusionH="215900"/>
          </a:bodyPr>
          <a:lstStyle/>
          <a:p>
            <a:pPr algn="ctr"/>
            <a:r>
              <a:rPr lang="en-US" altLang="zh-CN" sz="6600" b="1">
                <a:blipFill>
                  <a:blip r:embed="rId8"/>
                  <a:stretch>
                    <a:fillRect/>
                  </a:stretch>
                </a:blipFill>
                <a:effectLst>
                  <a:glow rad="228600">
                    <a:srgbClr val="A5A5A5">
                      <a:alpha val="40000"/>
                      <a:satMod val="175000"/>
                    </a:srgbClr>
                  </a:glow>
                  <a:outerShdw blurRad="50800" dir="5400000" algn="ctr" rotWithShape="0">
                    <a:srgbClr val="000000">
                      <a:alpha val="43000"/>
                    </a:srgbClr>
                  </a:outerShdw>
                </a:effectLst>
              </a:rPr>
              <a:t>TEST</a:t>
            </a:r>
          </a:p>
        </p:txBody>
      </p:sp>
    </p:spTree>
  </p:cSld>
  <p:clrMapOvr>
    <a:masterClrMapping/>
  </p:clrMapOvr>
  <p:transition>
    <p:wedge/>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grpSp>
        <p:nvGrpSpPr>
          <p:cNvPr id="2" name="组合 1"/>
          <p:cNvGrpSpPr/>
          <p:nvPr/>
        </p:nvGrpSpPr>
        <p:grpSpPr>
          <a:xfrm>
            <a:off x="-12063" y="2156223"/>
            <a:ext cx="12204407" cy="3507734"/>
            <a:chOff x="-296" y="3032"/>
            <a:chExt cx="15860" cy="4056"/>
          </a:xfrm>
        </p:grpSpPr>
        <p:sp>
          <p:nvSpPr>
            <p:cNvPr id="4" name="矩形 3"/>
            <p:cNvSpPr/>
            <p:nvPr>
              <p:custDataLst>
                <p:tags r:id="rId1"/>
              </p:custDataLst>
            </p:nvPr>
          </p:nvSpPr>
          <p:spPr>
            <a:xfrm>
              <a:off x="-296" y="3032"/>
              <a:ext cx="15857" cy="405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pic>
          <p:nvPicPr>
            <p:cNvPr id="9" name="图片 8"/>
            <p:cNvPicPr>
              <a:picLocks noChangeAspect="1"/>
            </p:cNvPicPr>
            <p:nvPr>
              <p:custDataLst>
                <p:tags r:id="rId2"/>
              </p:custDataLst>
            </p:nvPr>
          </p:nvPicPr>
          <p:blipFill>
            <a:blip r:embed="rId5" cstate="print"/>
            <a:stretch>
              <a:fillRect/>
            </a:stretch>
          </p:blipFill>
          <p:spPr>
            <a:xfrm>
              <a:off x="11165" y="3074"/>
              <a:ext cx="4399" cy="3927"/>
            </a:xfrm>
            <a:prstGeom prst="rect">
              <a:avLst/>
            </a:prstGeom>
            <a:effectLst>
              <a:outerShdw blurRad="76200" dir="13500000" sy="23000" kx="1200000" algn="br" rotWithShape="0">
                <a:prstClr val="black">
                  <a:alpha val="20000"/>
                </a:prstClr>
              </a:outerShdw>
            </a:effectLst>
          </p:spPr>
        </p:pic>
      </p:gr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4.4.1 </a:t>
            </a:r>
            <a:r>
              <a:rPr lang="zh-CN" altLang="en-US" sz="2400" dirty="0" smtClean="0">
                <a:solidFill>
                  <a:schemeClr val="tx1"/>
                </a:solidFill>
              </a:rPr>
              <a:t>模块测试</a:t>
            </a:r>
          </a:p>
        </p:txBody>
      </p:sp>
      <p:sp>
        <p:nvSpPr>
          <p:cNvPr id="100" name="文本框 99"/>
          <p:cNvSpPr txBox="1"/>
          <p:nvPr/>
        </p:nvSpPr>
        <p:spPr>
          <a:xfrm>
            <a:off x="201930" y="2215819"/>
            <a:ext cx="8518525" cy="3297555"/>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dirty="0">
                <a:solidFill>
                  <a:schemeClr val="accent1">
                    <a:lumMod val="50000"/>
                  </a:schemeClr>
                </a:solidFill>
                <a:latin typeface="微软雅黑" panose="020B0503020204020204" charset="-122"/>
                <a:ea typeface="微软雅黑" panose="020B0503020204020204" charset="-122"/>
                <a:sym typeface="+mn-ea"/>
              </a:rPr>
              <a:t>由于模块并不是独立的程序，模块测试时，要增加少量程序段，使模块能够接收数据，或输出一些数据来代替模块之间的接口。</a:t>
            </a:r>
            <a:r>
              <a:rPr dirty="0">
                <a:latin typeface="微软雅黑" panose="020B0503020204020204" charset="-122"/>
                <a:ea typeface="微软雅黑" panose="020B0503020204020204" charset="-122"/>
                <a:sym typeface="+mn-ea"/>
              </a:rPr>
              <a:t>在模块连接后再将这些临时增加的程序段去掉。这些临时性程序段可称为测试模块，这需要增加软件成本，但也是必不可少的成本。</a:t>
            </a:r>
          </a:p>
          <a:p>
            <a:pPr marL="0" indent="0" algn="l" fontAlgn="auto">
              <a:lnSpc>
                <a:spcPct val="130000"/>
              </a:lnSpc>
            </a:pPr>
            <a:r>
              <a:rPr dirty="0">
                <a:latin typeface="微软雅黑" panose="020B0503020204020204" charset="-122"/>
                <a:ea typeface="微软雅黑" panose="020B0503020204020204" charset="-122"/>
                <a:sym typeface="+mn-ea"/>
              </a:rPr>
              <a:t>       测试模块主要有</a:t>
            </a:r>
            <a:r>
              <a:rPr dirty="0">
                <a:solidFill>
                  <a:srgbClr val="C00000"/>
                </a:solidFill>
                <a:latin typeface="微软雅黑" panose="020B0503020204020204" charset="-122"/>
                <a:ea typeface="微软雅黑" panose="020B0503020204020204" charset="-122"/>
                <a:sym typeface="+mn-ea"/>
              </a:rPr>
              <a:t>测试驱动程序（也称驱动模块）和存根程序（也称桩模块）两种</a:t>
            </a:r>
            <a:r>
              <a:rPr dirty="0">
                <a:latin typeface="微软雅黑" panose="020B0503020204020204" charset="-122"/>
                <a:ea typeface="微软雅黑" panose="020B0503020204020204" charset="-122"/>
                <a:sym typeface="+mn-ea"/>
              </a:rPr>
              <a:t>。</a:t>
            </a:r>
            <a:r>
              <a:rPr dirty="0">
                <a:solidFill>
                  <a:schemeClr val="accent6">
                    <a:lumMod val="50000"/>
                  </a:schemeClr>
                </a:solidFill>
                <a:latin typeface="微软雅黑" panose="020B0503020204020204" charset="-122"/>
                <a:ea typeface="微软雅黑" panose="020B0503020204020204" charset="-122"/>
                <a:sym typeface="+mn-ea"/>
              </a:rPr>
              <a:t>驱动程序相当于主程序，主要用来接收测试数据，调用被测试模块，输出测试结果。</a:t>
            </a:r>
            <a:r>
              <a:rPr dirty="0">
                <a:solidFill>
                  <a:schemeClr val="accent5">
                    <a:lumMod val="50000"/>
                  </a:schemeClr>
                </a:solidFill>
                <a:latin typeface="微软雅黑" panose="020B0503020204020204" charset="-122"/>
                <a:ea typeface="微软雅黑" panose="020B0503020204020204" charset="-122"/>
                <a:sym typeface="+mn-ea"/>
              </a:rPr>
              <a:t>存根程序也称“虚拟子程序”，它使用被它代替的模块的接口，做最少量的数据操作，输出对入口的检验或操作结果，并把控制还给调用的模块，是被测试模块调用的模块。</a:t>
            </a:r>
            <a:r>
              <a:rPr dirty="0">
                <a:latin typeface="微软雅黑" panose="020B0503020204020204" charset="-122"/>
                <a:ea typeface="微软雅黑" panose="020B0503020204020204" charset="-122"/>
                <a:sym typeface="+mn-ea"/>
              </a:rPr>
              <a:t>驱动程序和存根程序是模块测试中的主要成本开销，不交给用户。</a:t>
            </a:r>
            <a:endParaRPr lang="zh-CN" altLang="en-US" dirty="0">
              <a:solidFill>
                <a:srgbClr val="C00000"/>
              </a:solidFill>
              <a:latin typeface="微软雅黑" panose="020B0503020204020204" charset="-122"/>
              <a:ea typeface="微软雅黑" panose="020B0503020204020204" charset="-122"/>
              <a:sym typeface="+mn-ea"/>
            </a:endParaRPr>
          </a:p>
        </p:txBody>
      </p:sp>
      <p:sp>
        <p:nvSpPr>
          <p:cNvPr id="15" name="矩形 14"/>
          <p:cNvSpPr/>
          <p:nvPr/>
        </p:nvSpPr>
        <p:spPr>
          <a:xfrm>
            <a:off x="9169400" y="2834640"/>
            <a:ext cx="2519680" cy="1188720"/>
          </a:xfrm>
          <a:prstGeom prst="rect">
            <a:avLst/>
          </a:prstGeom>
          <a:noFill/>
          <a:ln>
            <a:noFill/>
          </a:ln>
        </p:spPr>
        <p:txBody>
          <a:bodyPr wrap="none" rtlCol="0" anchor="t">
            <a:prstTxWarp prst="textSlantUp">
              <a:avLst/>
            </a:prstTxWarp>
            <a:spAutoFit/>
            <a:scene3d>
              <a:camera prst="perspectiveRelaxedModerately"/>
              <a:lightRig rig="flat" dir="t">
                <a:rot lat="0" lon="0" rev="600000"/>
              </a:lightRig>
            </a:scene3d>
            <a:sp3d extrusionH="215900"/>
          </a:bodyPr>
          <a:lstStyle/>
          <a:p>
            <a:pPr algn="ctr"/>
            <a:r>
              <a:rPr lang="en-US" altLang="zh-CN" sz="6600" b="1">
                <a:blipFill>
                  <a:blip r:embed="rId6"/>
                  <a:stretch>
                    <a:fillRect/>
                  </a:stretch>
                </a:blipFill>
                <a:effectLst>
                  <a:glow rad="228600">
                    <a:srgbClr val="A5A5A5">
                      <a:alpha val="40000"/>
                      <a:satMod val="175000"/>
                    </a:srgbClr>
                  </a:glow>
                  <a:outerShdw blurRad="50800" dir="5400000" algn="ctr" rotWithShape="0">
                    <a:srgbClr val="000000">
                      <a:alpha val="43000"/>
                    </a:srgbClr>
                  </a:outerShdw>
                </a:effectLst>
              </a:rPr>
              <a:t>TEST</a:t>
            </a:r>
          </a:p>
        </p:txBody>
      </p:sp>
    </p:spTree>
  </p:cSld>
  <p:clrMapOvr>
    <a:masterClrMapping/>
  </p:clrMapOvr>
  <p:transition>
    <p:wedge/>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4.4.2 </a:t>
            </a:r>
            <a:r>
              <a:rPr lang="zh-CN" altLang="en-US" sz="2400" dirty="0" smtClean="0">
                <a:solidFill>
                  <a:schemeClr val="tx1"/>
                </a:solidFill>
              </a:rPr>
              <a:t>集成测试</a:t>
            </a:r>
          </a:p>
        </p:txBody>
      </p:sp>
      <p:grpSp>
        <p:nvGrpSpPr>
          <p:cNvPr id="5" name="组合 4"/>
          <p:cNvGrpSpPr/>
          <p:nvPr/>
        </p:nvGrpSpPr>
        <p:grpSpPr>
          <a:xfrm>
            <a:off x="3851275" y="1750695"/>
            <a:ext cx="4345305" cy="4619625"/>
            <a:chOff x="5793" y="3525"/>
            <a:chExt cx="6843" cy="7275"/>
          </a:xfrm>
        </p:grpSpPr>
        <p:sp>
          <p:nvSpPr>
            <p:cNvPr id="6" name="任意多边形 5"/>
            <p:cNvSpPr/>
            <p:nvPr/>
          </p:nvSpPr>
          <p:spPr>
            <a:xfrm>
              <a:off x="7663" y="6005"/>
              <a:ext cx="2933" cy="4795"/>
            </a:xfrm>
            <a:custGeom>
              <a:avLst/>
              <a:gdLst>
                <a:gd name="connsiteX0" fmla="*/ 1765957 w 2699190"/>
                <a:gd name="connsiteY0" fmla="*/ 0 h 4903695"/>
                <a:gd name="connsiteX1" fmla="*/ 1829831 w 2699190"/>
                <a:gd name="connsiteY1" fmla="*/ 1176758 h 4903695"/>
                <a:gd name="connsiteX2" fmla="*/ 1834101 w 2699190"/>
                <a:gd name="connsiteY2" fmla="*/ 1263858 h 4903695"/>
                <a:gd name="connsiteX3" fmla="*/ 2473452 w 2699190"/>
                <a:gd name="connsiteY3" fmla="*/ 689619 h 4903695"/>
                <a:gd name="connsiteX4" fmla="*/ 2699190 w 2699190"/>
                <a:gd name="connsiteY4" fmla="*/ 894834 h 4903695"/>
                <a:gd name="connsiteX5" fmla="*/ 1862408 w 2699190"/>
                <a:gd name="connsiteY5" fmla="*/ 1820725 h 4903695"/>
                <a:gd name="connsiteX6" fmla="*/ 1893704 w 2699190"/>
                <a:gd name="connsiteY6" fmla="*/ 2320739 h 4903695"/>
                <a:gd name="connsiteX7" fmla="*/ 2276944 w 2699190"/>
                <a:gd name="connsiteY7" fmla="*/ 4903695 h 4903695"/>
                <a:gd name="connsiteX8" fmla="*/ 1021885 w 2699190"/>
                <a:gd name="connsiteY8" fmla="*/ 4903695 h 4903695"/>
                <a:gd name="connsiteX9" fmla="*/ 1220230 w 2699190"/>
                <a:gd name="connsiteY9" fmla="*/ 3148644 h 4903695"/>
                <a:gd name="connsiteX10" fmla="*/ 1247089 w 2699190"/>
                <a:gd name="connsiteY10" fmla="*/ 2823912 h 4903695"/>
                <a:gd name="connsiteX11" fmla="*/ 0 w 2699190"/>
                <a:gd name="connsiteY11" fmla="*/ 1922885 h 4903695"/>
                <a:gd name="connsiteX12" fmla="*/ 99789 w 2699190"/>
                <a:gd name="connsiteY12" fmla="*/ 1745151 h 4903695"/>
                <a:gd name="connsiteX13" fmla="*/ 1271036 w 2699190"/>
                <a:gd name="connsiteY13" fmla="*/ 2501827 h 4903695"/>
                <a:gd name="connsiteX14" fmla="*/ 1276749 w 2699190"/>
                <a:gd name="connsiteY14" fmla="*/ 2423370 h 4903695"/>
                <a:gd name="connsiteX15" fmla="*/ 1452191 w 2699190"/>
                <a:gd name="connsiteY15" fmla="*/ 35860 h 4903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699190" h="4903695">
                  <a:moveTo>
                    <a:pt x="1765957" y="0"/>
                  </a:moveTo>
                  <a:cubicBezTo>
                    <a:pt x="1794346" y="408641"/>
                    <a:pt x="1812088" y="795431"/>
                    <a:pt x="1829831" y="1176758"/>
                  </a:cubicBezTo>
                  <a:lnTo>
                    <a:pt x="1834101" y="1263858"/>
                  </a:lnTo>
                  <a:lnTo>
                    <a:pt x="2473452" y="689619"/>
                  </a:lnTo>
                  <a:lnTo>
                    <a:pt x="2699190" y="894834"/>
                  </a:lnTo>
                  <a:lnTo>
                    <a:pt x="1862408" y="1820725"/>
                  </a:lnTo>
                  <a:lnTo>
                    <a:pt x="1893704" y="2320739"/>
                  </a:lnTo>
                  <a:cubicBezTo>
                    <a:pt x="1950480" y="3094318"/>
                    <a:pt x="2049838" y="3911601"/>
                    <a:pt x="2276944" y="4903695"/>
                  </a:cubicBezTo>
                  <a:lnTo>
                    <a:pt x="1021885" y="4903695"/>
                  </a:lnTo>
                  <a:cubicBezTo>
                    <a:pt x="1112280" y="4246283"/>
                    <a:pt x="1174846" y="3664418"/>
                    <a:pt x="1220230" y="3148644"/>
                  </a:cubicBezTo>
                  <a:lnTo>
                    <a:pt x="1247089" y="2823912"/>
                  </a:lnTo>
                  <a:lnTo>
                    <a:pt x="0" y="1922885"/>
                  </a:lnTo>
                  <a:lnTo>
                    <a:pt x="99789" y="1745151"/>
                  </a:lnTo>
                  <a:lnTo>
                    <a:pt x="1271036" y="2501827"/>
                  </a:lnTo>
                  <a:lnTo>
                    <a:pt x="1276749" y="2423370"/>
                  </a:lnTo>
                  <a:cubicBezTo>
                    <a:pt x="1353907" y="1293253"/>
                    <a:pt x="1356941" y="546662"/>
                    <a:pt x="1452191" y="3586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椭圆 7"/>
            <p:cNvSpPr/>
            <p:nvPr/>
          </p:nvSpPr>
          <p:spPr>
            <a:xfrm>
              <a:off x="7895" y="3525"/>
              <a:ext cx="2865" cy="2868"/>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0" name="椭圆 9"/>
            <p:cNvSpPr/>
            <p:nvPr/>
          </p:nvSpPr>
          <p:spPr>
            <a:xfrm>
              <a:off x="10298" y="5538"/>
              <a:ext cx="2338" cy="2338"/>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椭圆 10"/>
            <p:cNvSpPr/>
            <p:nvPr/>
          </p:nvSpPr>
          <p:spPr>
            <a:xfrm>
              <a:off x="9863" y="7808"/>
              <a:ext cx="1305" cy="1303"/>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2" name="椭圆 11"/>
            <p:cNvSpPr/>
            <p:nvPr/>
          </p:nvSpPr>
          <p:spPr>
            <a:xfrm>
              <a:off x="10860" y="3830"/>
              <a:ext cx="1598" cy="1600"/>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 name="椭圆 12"/>
            <p:cNvSpPr/>
            <p:nvPr/>
          </p:nvSpPr>
          <p:spPr>
            <a:xfrm>
              <a:off x="6155" y="6005"/>
              <a:ext cx="2125" cy="2128"/>
            </a:xfrm>
            <a:prstGeom prst="ellipse">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4" name="椭圆 13"/>
            <p:cNvSpPr/>
            <p:nvPr/>
          </p:nvSpPr>
          <p:spPr>
            <a:xfrm>
              <a:off x="6205" y="4265"/>
              <a:ext cx="1638" cy="1635"/>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7305" y="3565"/>
              <a:ext cx="768" cy="768"/>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椭圆 15"/>
            <p:cNvSpPr/>
            <p:nvPr/>
          </p:nvSpPr>
          <p:spPr>
            <a:xfrm>
              <a:off x="5793" y="5700"/>
              <a:ext cx="613" cy="613"/>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10515" y="3645"/>
              <a:ext cx="478" cy="478"/>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椭圆 17"/>
            <p:cNvSpPr/>
            <p:nvPr/>
          </p:nvSpPr>
          <p:spPr>
            <a:xfrm>
              <a:off x="11468" y="8015"/>
              <a:ext cx="478" cy="478"/>
            </a:xfrm>
            <a:prstGeom prst="ellipse">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4836" name="文本框 22"/>
            <p:cNvSpPr txBox="1"/>
            <p:nvPr/>
          </p:nvSpPr>
          <p:spPr>
            <a:xfrm>
              <a:off x="8298" y="4265"/>
              <a:ext cx="2060" cy="1337"/>
            </a:xfrm>
            <a:prstGeom prst="rect">
              <a:avLst/>
            </a:prstGeom>
            <a:noFill/>
            <a:ln w="9525">
              <a:noFill/>
            </a:ln>
          </p:spPr>
          <p:txBody>
            <a:bodyPr anchor="t">
              <a:spAutoFit/>
            </a:bodyPr>
            <a:lstStyle/>
            <a:p>
              <a:pPr lvl="0" indent="0" algn="ctr" eaLnBrk="1" hangingPunct="1">
                <a:buFont typeface="Arial" panose="020B0604020202020204" pitchFamily="34" charset="0"/>
                <a:buNone/>
              </a:pPr>
              <a:r>
                <a:rPr lang="zh-CN" altLang="en-US" sz="2400" b="1" dirty="0">
                  <a:solidFill>
                    <a:schemeClr val="bg1"/>
                  </a:solidFill>
                  <a:latin typeface="微软雅黑" panose="020B0503020204020204" charset="-122"/>
                  <a:ea typeface="微软雅黑" panose="020B0503020204020204" charset="-122"/>
                </a:rPr>
                <a:t>子系统测试</a:t>
              </a:r>
            </a:p>
          </p:txBody>
        </p:sp>
        <p:sp>
          <p:nvSpPr>
            <p:cNvPr id="34837" name="文本框 23"/>
            <p:cNvSpPr txBox="1"/>
            <p:nvPr/>
          </p:nvSpPr>
          <p:spPr>
            <a:xfrm>
              <a:off x="6468" y="6780"/>
              <a:ext cx="1605" cy="658"/>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sz="2000" b="1" dirty="0">
                  <a:solidFill>
                    <a:schemeClr val="bg1"/>
                  </a:solidFill>
                  <a:latin typeface="微软雅黑" panose="020B0503020204020204" charset="-122"/>
                  <a:ea typeface="微软雅黑" panose="020B0503020204020204" charset="-122"/>
                </a:rPr>
                <a:t>集成化</a:t>
              </a:r>
            </a:p>
          </p:txBody>
        </p:sp>
        <p:sp>
          <p:nvSpPr>
            <p:cNvPr id="34838" name="文本框 24"/>
            <p:cNvSpPr txBox="1"/>
            <p:nvPr/>
          </p:nvSpPr>
          <p:spPr>
            <a:xfrm>
              <a:off x="10515" y="6438"/>
              <a:ext cx="1943" cy="658"/>
            </a:xfrm>
            <a:prstGeom prst="rect">
              <a:avLst/>
            </a:prstGeom>
            <a:noFill/>
            <a:ln w="9525">
              <a:noFill/>
            </a:ln>
          </p:spPr>
          <p:txBody>
            <a:bodyPr wrap="square" anchor="t">
              <a:spAutoFit/>
            </a:bodyPr>
            <a:lstStyle/>
            <a:p>
              <a:pPr lvl="0" indent="0" eaLnBrk="1" hangingPunct="1">
                <a:buFont typeface="Arial" panose="020B0604020202020204" pitchFamily="34" charset="0"/>
                <a:buNone/>
              </a:pPr>
              <a:r>
                <a:rPr lang="zh-CN" altLang="en-US" sz="2000" b="1" dirty="0">
                  <a:solidFill>
                    <a:schemeClr val="bg1"/>
                  </a:solidFill>
                  <a:latin typeface="微软雅黑" panose="020B0503020204020204" charset="-122"/>
                  <a:ea typeface="微软雅黑" panose="020B0503020204020204" charset="-122"/>
                </a:rPr>
                <a:t>系统测试</a:t>
              </a:r>
            </a:p>
          </p:txBody>
        </p:sp>
      </p:grpSp>
      <p:grpSp>
        <p:nvGrpSpPr>
          <p:cNvPr id="19" name="组合 18"/>
          <p:cNvGrpSpPr/>
          <p:nvPr/>
        </p:nvGrpSpPr>
        <p:grpSpPr>
          <a:xfrm>
            <a:off x="384810" y="2954020"/>
            <a:ext cx="3653790" cy="2604135"/>
            <a:chOff x="825" y="7070"/>
            <a:chExt cx="5754" cy="4101"/>
          </a:xfrm>
        </p:grpSpPr>
        <p:sp>
          <p:nvSpPr>
            <p:cNvPr id="34830" name="矩形 16"/>
            <p:cNvSpPr/>
            <p:nvPr/>
          </p:nvSpPr>
          <p:spPr>
            <a:xfrm>
              <a:off x="825" y="7623"/>
              <a:ext cx="5754" cy="3548"/>
            </a:xfrm>
            <a:prstGeom prst="rect">
              <a:avLst/>
            </a:prstGeom>
            <a:noFill/>
            <a:ln w="9525">
              <a:noFill/>
            </a:ln>
          </p:spPr>
          <p:txBody>
            <a:bodyPr wrap="square" anchor="t">
              <a:spAutoFit/>
            </a:bodyPr>
            <a:lstStyle/>
            <a:p>
              <a:pPr marL="0" indent="0" algn="l" fontAlgn="auto">
                <a:lnSpc>
                  <a:spcPct val="130000"/>
                </a:lnSpc>
              </a:pPr>
              <a:r>
                <a:rPr lang="en-US" dirty="0">
                  <a:solidFill>
                    <a:srgbClr val="C00000"/>
                  </a:solidFill>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子系统的组装称为集成化</a:t>
              </a:r>
              <a:r>
                <a:rPr dirty="0">
                  <a:latin typeface="微软雅黑" panose="020B0503020204020204" charset="-122"/>
                  <a:ea typeface="微软雅黑" panose="020B0503020204020204" charset="-122"/>
                  <a:sym typeface="+mn-ea"/>
                </a:rPr>
                <a:t>。集成测试是测试和组装软件的系统化技术，在把模块按照设计要求组装起来的同时进行测试，主要目标是发现与接口有关的问题。集成测试分为子</a:t>
              </a:r>
              <a:r>
                <a:rPr dirty="0">
                  <a:solidFill>
                    <a:srgbClr val="C00000"/>
                  </a:solidFill>
                  <a:latin typeface="微软雅黑" panose="020B0503020204020204" charset="-122"/>
                  <a:ea typeface="微软雅黑" panose="020B0503020204020204" charset="-122"/>
                  <a:sym typeface="+mn-ea"/>
                </a:rPr>
                <a:t>系统测试</a:t>
              </a:r>
              <a:r>
                <a:rPr dirty="0">
                  <a:latin typeface="微软雅黑" panose="020B0503020204020204" charset="-122"/>
                  <a:ea typeface="微软雅黑" panose="020B0503020204020204" charset="-122"/>
                  <a:sym typeface="+mn-ea"/>
                </a:rPr>
                <a:t>和</a:t>
              </a:r>
              <a:r>
                <a:rPr dirty="0">
                  <a:solidFill>
                    <a:srgbClr val="C00000"/>
                  </a:solidFill>
                  <a:latin typeface="微软雅黑" panose="020B0503020204020204" charset="-122"/>
                  <a:ea typeface="微软雅黑" panose="020B0503020204020204" charset="-122"/>
                  <a:sym typeface="+mn-ea"/>
                </a:rPr>
                <a:t>系统测试</a:t>
              </a:r>
              <a:r>
                <a:rPr dirty="0">
                  <a:latin typeface="微软雅黑" panose="020B0503020204020204" charset="-122"/>
                  <a:ea typeface="微软雅黑" panose="020B0503020204020204" charset="-122"/>
                  <a:sym typeface="+mn-ea"/>
                </a:rPr>
                <a:t>两种。</a:t>
              </a:r>
              <a:endParaRPr lang="zh-CN" altLang="en-US" dirty="0">
                <a:latin typeface="微软雅黑" panose="020B0503020204020204" charset="-122"/>
                <a:ea typeface="微软雅黑" panose="020B0503020204020204" charset="-122"/>
              </a:endParaRPr>
            </a:p>
          </p:txBody>
        </p:sp>
        <p:sp>
          <p:nvSpPr>
            <p:cNvPr id="34831" name="文本框 17"/>
            <p:cNvSpPr txBox="1"/>
            <p:nvPr/>
          </p:nvSpPr>
          <p:spPr>
            <a:xfrm>
              <a:off x="1185" y="7070"/>
              <a:ext cx="3263" cy="606"/>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58BDA8"/>
                  </a:solidFill>
                  <a:latin typeface="微软雅黑" panose="020B0503020204020204" charset="-122"/>
                  <a:ea typeface="微软雅黑" panose="020B0503020204020204" charset="-122"/>
                </a:rPr>
                <a:t>集成化</a:t>
              </a:r>
            </a:p>
          </p:txBody>
        </p:sp>
      </p:grpSp>
      <p:grpSp>
        <p:nvGrpSpPr>
          <p:cNvPr id="20" name="组合 19"/>
          <p:cNvGrpSpPr/>
          <p:nvPr/>
        </p:nvGrpSpPr>
        <p:grpSpPr>
          <a:xfrm>
            <a:off x="8153271" y="1096010"/>
            <a:ext cx="3796793" cy="2263140"/>
            <a:chOff x="13410" y="2745"/>
            <a:chExt cx="5410" cy="3564"/>
          </a:xfrm>
        </p:grpSpPr>
        <p:sp>
          <p:nvSpPr>
            <p:cNvPr id="34832" name="矩形 18"/>
            <p:cNvSpPr/>
            <p:nvPr/>
          </p:nvSpPr>
          <p:spPr>
            <a:xfrm>
              <a:off x="13410" y="3328"/>
              <a:ext cx="5410" cy="2981"/>
            </a:xfrm>
            <a:prstGeom prst="rect">
              <a:avLst/>
            </a:prstGeom>
            <a:noFill/>
            <a:ln w="9525">
              <a:noFill/>
            </a:ln>
          </p:spPr>
          <p:txBody>
            <a:bodyPr wrap="square" anchor="t">
              <a:spAutoFit/>
            </a:bodyPr>
            <a:lstStyle/>
            <a:p>
              <a:pPr marL="0" indent="0" algn="l" fontAlgn="auto">
                <a:lnSpc>
                  <a:spcPct val="130000"/>
                </a:lnSpc>
              </a:pPr>
              <a:r>
                <a:rPr lang="en-US" dirty="0">
                  <a:solidFill>
                    <a:srgbClr val="0070C0"/>
                  </a:solidFill>
                  <a:latin typeface="微软雅黑" panose="020B0503020204020204" charset="-122"/>
                  <a:ea typeface="微软雅黑" panose="020B0503020204020204" charset="-122"/>
                  <a:sym typeface="+mn-ea"/>
                </a:rPr>
                <a:t>      </a:t>
              </a:r>
              <a:r>
                <a:rPr dirty="0">
                  <a:solidFill>
                    <a:srgbClr val="0070C0"/>
                  </a:solidFill>
                  <a:latin typeface="微软雅黑" panose="020B0503020204020204" charset="-122"/>
                  <a:ea typeface="微软雅黑" panose="020B0503020204020204" charset="-122"/>
                  <a:sym typeface="+mn-ea"/>
                </a:rPr>
                <a:t>子系统测试是把经过模块测试、运行正确的模块放在一起形成子系统后再测试</a:t>
              </a:r>
              <a:r>
                <a:rPr dirty="0">
                  <a:latin typeface="微软雅黑" panose="020B0503020204020204" charset="-122"/>
                  <a:ea typeface="微软雅黑" panose="020B0503020204020204" charset="-122"/>
                  <a:sym typeface="+mn-ea"/>
                </a:rPr>
                <a:t>。这个步骤着重测试模块的接口，测试模块之间能否相互协调及通信时有没有问题。</a:t>
              </a:r>
              <a:endParaRPr lang="zh-CN" altLang="en-US" dirty="0">
                <a:latin typeface="微软雅黑" panose="020B0503020204020204" charset="-122"/>
                <a:ea typeface="微软雅黑" panose="020B0503020204020204" charset="-122"/>
              </a:endParaRPr>
            </a:p>
          </p:txBody>
        </p:sp>
        <p:sp>
          <p:nvSpPr>
            <p:cNvPr id="34833" name="文本框 19"/>
            <p:cNvSpPr txBox="1"/>
            <p:nvPr/>
          </p:nvSpPr>
          <p:spPr>
            <a:xfrm>
              <a:off x="13583" y="2745"/>
              <a:ext cx="3262" cy="606"/>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FBAD24"/>
                  </a:solidFill>
                  <a:latin typeface="微软雅黑" panose="020B0503020204020204" charset="-122"/>
                  <a:ea typeface="微软雅黑" panose="020B0503020204020204" charset="-122"/>
                </a:rPr>
                <a:t>子系统测试</a:t>
              </a:r>
            </a:p>
          </p:txBody>
        </p:sp>
      </p:grpSp>
      <p:grpSp>
        <p:nvGrpSpPr>
          <p:cNvPr id="21" name="组合 20"/>
          <p:cNvGrpSpPr/>
          <p:nvPr/>
        </p:nvGrpSpPr>
        <p:grpSpPr>
          <a:xfrm>
            <a:off x="8214172" y="3779520"/>
            <a:ext cx="3736598" cy="2229485"/>
            <a:chOff x="13496" y="6030"/>
            <a:chExt cx="5372" cy="3511"/>
          </a:xfrm>
        </p:grpSpPr>
        <p:sp>
          <p:nvSpPr>
            <p:cNvPr id="34834" name="矩形 20"/>
            <p:cNvSpPr/>
            <p:nvPr/>
          </p:nvSpPr>
          <p:spPr>
            <a:xfrm>
              <a:off x="13496" y="6560"/>
              <a:ext cx="5372" cy="2981"/>
            </a:xfrm>
            <a:prstGeom prst="rect">
              <a:avLst/>
            </a:prstGeom>
            <a:noFill/>
            <a:ln w="9525">
              <a:noFill/>
            </a:ln>
          </p:spPr>
          <p:txBody>
            <a:bodyPr wrap="square" anchor="t">
              <a:spAutoFit/>
            </a:bodyPr>
            <a:lstStyle/>
            <a:p>
              <a:pPr marL="0" indent="0" algn="l" fontAlgn="auto">
                <a:lnSpc>
                  <a:spcPct val="130000"/>
                </a:lnSpc>
              </a:pPr>
              <a:r>
                <a:rPr lang="en-US" dirty="0" smtClean="0">
                  <a:solidFill>
                    <a:srgbClr val="0070C0"/>
                  </a:solidFill>
                  <a:latin typeface="微软雅黑" panose="020B0503020204020204" charset="-122"/>
                  <a:ea typeface="微软雅黑" panose="020B0503020204020204" charset="-122"/>
                  <a:sym typeface="+mn-ea"/>
                </a:rPr>
                <a:t>       </a:t>
              </a:r>
              <a:r>
                <a:rPr dirty="0" smtClean="0">
                  <a:solidFill>
                    <a:srgbClr val="0070C0"/>
                  </a:solidFill>
                  <a:latin typeface="微软雅黑" panose="020B0503020204020204" charset="-122"/>
                  <a:ea typeface="微软雅黑" panose="020B0503020204020204" charset="-122"/>
                  <a:sym typeface="+mn-ea"/>
                </a:rPr>
                <a:t>系统测试就是把经过测试</a:t>
              </a:r>
              <a:r>
                <a:rPr dirty="0">
                  <a:solidFill>
                    <a:srgbClr val="0070C0"/>
                  </a:solidFill>
                  <a:latin typeface="微软雅黑" panose="020B0503020204020204" charset="-122"/>
                  <a:ea typeface="微软雅黑" panose="020B0503020204020204" charset="-122"/>
                  <a:sym typeface="+mn-ea"/>
                </a:rPr>
                <a:t>、运行正确的子系统组装成完整的系统后再进行测试</a:t>
              </a:r>
              <a:r>
                <a:rPr dirty="0">
                  <a:latin typeface="微软雅黑" panose="020B0503020204020204" charset="-122"/>
                  <a:ea typeface="微软雅黑" panose="020B0503020204020204" charset="-122"/>
                  <a:sym typeface="+mn-ea"/>
                </a:rPr>
                <a:t>。系统测试的目的是测试整个硬件和软件系统，验证系统是否满足规定的需求。</a:t>
              </a:r>
              <a:endParaRPr lang="zh-CN" altLang="en-US" dirty="0">
                <a:latin typeface="微软雅黑" panose="020B0503020204020204" charset="-122"/>
                <a:ea typeface="微软雅黑" panose="020B0503020204020204" charset="-122"/>
              </a:endParaRPr>
            </a:p>
          </p:txBody>
        </p:sp>
        <p:sp>
          <p:nvSpPr>
            <p:cNvPr id="34835" name="文本框 21"/>
            <p:cNvSpPr txBox="1"/>
            <p:nvPr/>
          </p:nvSpPr>
          <p:spPr>
            <a:xfrm>
              <a:off x="13583" y="6030"/>
              <a:ext cx="3262" cy="606"/>
            </a:xfrm>
            <a:prstGeom prst="rect">
              <a:avLst/>
            </a:prstGeom>
            <a:noFill/>
            <a:ln w="9525">
              <a:noFill/>
            </a:ln>
          </p:spPr>
          <p:txBody>
            <a:bodyPr anchor="t">
              <a:spAutoFit/>
            </a:bodyPr>
            <a:lstStyle/>
            <a:p>
              <a:pPr lvl="0" indent="0" eaLnBrk="1" hangingPunct="1">
                <a:buFont typeface="Arial" panose="020B0604020202020204" pitchFamily="34" charset="0"/>
                <a:buNone/>
              </a:pPr>
              <a:r>
                <a:rPr lang="zh-CN" altLang="en-US" b="1" dirty="0">
                  <a:solidFill>
                    <a:srgbClr val="EF4150"/>
                  </a:solidFill>
                  <a:latin typeface="微软雅黑" panose="020B0503020204020204" charset="-122"/>
                  <a:ea typeface="微软雅黑" panose="020B0503020204020204" charset="-122"/>
                </a:rPr>
                <a:t>系统测试</a:t>
              </a:r>
            </a:p>
          </p:txBody>
        </p:sp>
      </p:grpSp>
    </p:spTree>
  </p:cSld>
  <p:clrMapOvr>
    <a:masterClrMapping/>
  </p:clrMapOvr>
  <p:transition>
    <p:wedge/>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4.4.2 </a:t>
            </a:r>
            <a:r>
              <a:rPr lang="zh-CN" altLang="en-US" sz="2400" dirty="0" smtClean="0">
                <a:solidFill>
                  <a:schemeClr val="tx1"/>
                </a:solidFill>
              </a:rPr>
              <a:t>集成测试</a:t>
            </a:r>
          </a:p>
        </p:txBody>
      </p:sp>
      <p:grpSp>
        <p:nvGrpSpPr>
          <p:cNvPr id="15" name="组合 14"/>
          <p:cNvGrpSpPr/>
          <p:nvPr/>
        </p:nvGrpSpPr>
        <p:grpSpPr>
          <a:xfrm>
            <a:off x="614045" y="1718310"/>
            <a:ext cx="10572115" cy="3980180"/>
            <a:chOff x="343" y="2320"/>
            <a:chExt cx="16649" cy="6268"/>
          </a:xfrm>
        </p:grpSpPr>
        <p:grpSp>
          <p:nvGrpSpPr>
            <p:cNvPr id="2" name="组合 1"/>
            <p:cNvGrpSpPr/>
            <p:nvPr/>
          </p:nvGrpSpPr>
          <p:grpSpPr>
            <a:xfrm>
              <a:off x="343" y="3117"/>
              <a:ext cx="16649" cy="5471"/>
              <a:chOff x="816742" y="2247367"/>
              <a:chExt cx="10572056" cy="3473984"/>
            </a:xfrm>
          </p:grpSpPr>
          <p:sp>
            <p:nvSpPr>
              <p:cNvPr id="4"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5"/>
                </p:custDataLst>
              </p:nvPr>
            </p:nvCxnSpPr>
            <p:spPr>
              <a:xfrm>
                <a:off x="7482199" y="2980559"/>
                <a:ext cx="2950633" cy="0"/>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6"/>
                </p:custDataLst>
              </p:nvPr>
            </p:nvSpPr>
            <p:spPr bwMode="auto">
              <a:xfrm>
                <a:off x="7283546" y="2979501"/>
                <a:ext cx="4105252" cy="13715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solidFill>
                      <a:schemeClr val="accent5">
                        <a:lumMod val="50000"/>
                      </a:schemeClr>
                    </a:solidFill>
                    <a:latin typeface="微软雅黑" panose="020B0503020204020204" charset="-122"/>
                    <a:ea typeface="微软雅黑" panose="020B0503020204020204" charset="-122"/>
                    <a:sym typeface="+mn-ea"/>
                  </a:rPr>
                  <a:t>先分别测试每个模块，再把所有模块按设计要求放在一起结合成所要的程序，这种方法称为非渐增式测试</a:t>
                </a:r>
                <a:r>
                  <a:rPr dirty="0">
                    <a:latin typeface="微软雅黑" panose="020B0503020204020204" charset="-122"/>
                    <a:ea typeface="微软雅黑" panose="020B0503020204020204" charset="-122"/>
                    <a:sym typeface="+mn-ea"/>
                  </a:rPr>
                  <a:t>；</a:t>
                </a:r>
                <a:endParaRPr lang="zh-CN" altLang="en-US" dirty="0">
                  <a:latin typeface="+mn-ea"/>
                  <a:ea typeface="+mn-ea"/>
                </a:endParaRPr>
              </a:p>
            </p:txBody>
          </p:sp>
          <p:sp>
            <p:nvSpPr>
              <p:cNvPr id="11" name="MH_SubTitle_2"/>
              <p:cNvSpPr txBox="1">
                <a:spLocks noChangeArrowheads="1"/>
              </p:cNvSpPr>
              <p:nvPr>
                <p:custDataLst>
                  <p:tags r:id="rId7"/>
                </p:custDataLst>
              </p:nvPr>
            </p:nvSpPr>
            <p:spPr bwMode="auto">
              <a:xfrm>
                <a:off x="7803421" y="2251789"/>
                <a:ext cx="2567516" cy="758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8"/>
                </p:custDataLst>
              </p:nvPr>
            </p:nvSpPr>
            <p:spPr bwMode="auto">
              <a:xfrm>
                <a:off x="7379430" y="2487286"/>
                <a:ext cx="486833" cy="5540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smtClean="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9"/>
                </p:custDataLst>
              </p:nvPr>
            </p:nvSpPr>
            <p:spPr bwMode="auto">
              <a:xfrm>
                <a:off x="816742" y="4200570"/>
                <a:ext cx="4070327" cy="152078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solidFill>
                      <a:srgbClr val="C00000"/>
                    </a:solidFill>
                    <a:latin typeface="微软雅黑" panose="020B0503020204020204" charset="-122"/>
                    <a:ea typeface="微软雅黑" panose="020B0503020204020204" charset="-122"/>
                    <a:sym typeface="+mn-ea"/>
                  </a:rPr>
                  <a:t>把下一个要测试的模块同已经测试好的那些模块结合起来进行测试，测试完以后再把下一个应该测试的模块结合进来测试。这种每次增加一个模块的方法称为渐增式测试，</a:t>
                </a:r>
                <a:r>
                  <a:rPr dirty="0">
                    <a:latin typeface="微软雅黑" panose="020B0503020204020204" charset="-122"/>
                    <a:ea typeface="微软雅黑" panose="020B0503020204020204" charset="-122"/>
                    <a:sym typeface="+mn-ea"/>
                  </a:rPr>
                  <a:t>这种方法实际上同时完成单元测试和集成测试。</a:t>
                </a:r>
                <a:endParaRPr lang="zh-CN" altLang="en-US" dirty="0">
                  <a:latin typeface="+mn-ea"/>
                  <a:ea typeface="+mn-ea"/>
                </a:endParaRPr>
              </a:p>
              <a:p>
                <a:pPr indent="457200" algn="just">
                  <a:lnSpc>
                    <a:spcPct val="120000"/>
                  </a:lnSpc>
                  <a:defRPr/>
                </a:pPr>
                <a:endParaRPr lang="en-US" altLang="zh-CN" dirty="0" smtClean="0">
                  <a:latin typeface="+mn-ea"/>
                  <a:ea typeface="+mn-ea"/>
                </a:endParaRPr>
              </a:p>
            </p:txBody>
          </p:sp>
          <p:sp>
            <p:nvSpPr>
              <p:cNvPr id="14" name="MH_SubTitle_1"/>
              <p:cNvSpPr txBox="1">
                <a:spLocks noChangeArrowheads="1"/>
              </p:cNvSpPr>
              <p:nvPr>
                <p:custDataLst>
                  <p:tags r:id="rId10"/>
                </p:custDataLst>
              </p:nvPr>
            </p:nvSpPr>
            <p:spPr bwMode="auto">
              <a:xfrm>
                <a:off x="2381251" y="3402014"/>
                <a:ext cx="2565400" cy="7588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1"/>
                </p:custDataLst>
              </p:nvPr>
            </p:nvSpPr>
            <p:spPr bwMode="auto">
              <a:xfrm>
                <a:off x="1905001" y="3669667"/>
                <a:ext cx="486833" cy="554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smtClean="0">
                    <a:solidFill>
                      <a:schemeClr val="accent1">
                        <a:lumMod val="75000"/>
                      </a:schemeClr>
                    </a:solidFill>
                    <a:latin typeface="微软雅黑" panose="020B0503020204020204" charset="-122"/>
                    <a:ea typeface="微软雅黑" panose="020B0503020204020204" charset="-122"/>
                  </a:rPr>
                  <a:t>2</a:t>
                </a:r>
                <a:endParaRPr lang="zh-CN" altLang="en-US" sz="3000" dirty="0" smtClean="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2"/>
                </p:custDataLst>
              </p:nvPr>
            </p:nvCxnSpPr>
            <p:spPr>
              <a:xfrm>
                <a:off x="1993901" y="4146550"/>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4891" y="2320"/>
              <a:ext cx="8094" cy="658"/>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r>
                <a:rPr sz="2000" b="1">
                  <a:solidFill>
                    <a:schemeClr val="tx1"/>
                  </a:solidFill>
                  <a:latin typeface="微软雅黑" panose="020B0503020204020204" charset="-122"/>
                  <a:ea typeface="微软雅黑" panose="020B0503020204020204" charset="-122"/>
                  <a:sym typeface="+mn-ea"/>
                </a:rPr>
                <a:t>模块组装成程序时有两种方法</a:t>
              </a:r>
              <a:r>
                <a:rPr lang="en-US" sz="2000" b="1">
                  <a:solidFill>
                    <a:schemeClr val="tx1"/>
                  </a:solidFill>
                  <a:latin typeface="微软雅黑" panose="020B0503020204020204" charset="-122"/>
                  <a:ea typeface="微软雅黑" panose="020B0503020204020204" charset="-122"/>
                  <a:sym typeface="+mn-ea"/>
                </a:rPr>
                <a:t>:</a:t>
              </a:r>
              <a:endParaRPr kumimoji="0" lang="en-US" sz="2000" b="1" i="0" u="none" strike="noStrike" cap="none" normalizeH="0" baseline="0" dirty="0" smtClean="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wedge/>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8000365" y="700405"/>
            <a:ext cx="3733800" cy="1036320"/>
          </a:xfrm>
          <a:prstGeom prst="rect">
            <a:avLst/>
          </a:prstGeom>
          <a:noFill/>
          <a:ln w="28575" cmpd="dbl">
            <a:solidFill>
              <a:schemeClr val="accent1">
                <a:shade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a:xfrm>
            <a:off x="754063" y="246018"/>
            <a:ext cx="8415337" cy="855290"/>
          </a:xfrm>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4.4.2 </a:t>
            </a:r>
            <a:r>
              <a:rPr lang="zh-CN" altLang="en-US" sz="2400" dirty="0" smtClean="0">
                <a:solidFill>
                  <a:schemeClr val="tx1"/>
                </a:solidFill>
              </a:rPr>
              <a:t>集成测试</a:t>
            </a:r>
          </a:p>
        </p:txBody>
      </p:sp>
      <p:grpSp>
        <p:nvGrpSpPr>
          <p:cNvPr id="2" name="组合 1"/>
          <p:cNvGrpSpPr/>
          <p:nvPr/>
        </p:nvGrpSpPr>
        <p:grpSpPr>
          <a:xfrm>
            <a:off x="802640" y="2164715"/>
            <a:ext cx="10447020" cy="4331970"/>
            <a:chOff x="717" y="2925"/>
            <a:chExt cx="16452" cy="6822"/>
          </a:xfrm>
        </p:grpSpPr>
        <p:sp>
          <p:nvSpPr>
            <p:cNvPr id="5" name="MH_Other_1"/>
            <p:cNvSpPr/>
            <p:nvPr>
              <p:custDataLst>
                <p:tags r:id="rId1"/>
              </p:custDataLst>
            </p:nvPr>
          </p:nvSpPr>
          <p:spPr>
            <a:xfrm>
              <a:off x="3621" y="4345"/>
              <a:ext cx="10704" cy="140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6953" y="2925"/>
              <a:ext cx="3772" cy="246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集成测试</a:t>
              </a:r>
            </a:p>
          </p:txBody>
        </p:sp>
        <p:sp>
          <p:nvSpPr>
            <p:cNvPr id="10" name="MH_SubTitle_1"/>
            <p:cNvSpPr/>
            <p:nvPr>
              <p:custDataLst>
                <p:tags r:id="rId3"/>
              </p:custDataLst>
            </p:nvPr>
          </p:nvSpPr>
          <p:spPr>
            <a:xfrm>
              <a:off x="2175" y="3732"/>
              <a:ext cx="4060" cy="1118"/>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smtClean="0">
                  <a:solidFill>
                    <a:schemeClr val="tx2">
                      <a:lumMod val="75000"/>
                    </a:schemeClr>
                  </a:solidFill>
                  <a:latin typeface="微软雅黑" panose="020B0503020204020204" charset="-122"/>
                  <a:ea typeface="微软雅黑" panose="020B0503020204020204" charset="-122"/>
                </a:rPr>
                <a:t>非渐增式</a:t>
              </a:r>
            </a:p>
          </p:txBody>
        </p:sp>
        <p:sp>
          <p:nvSpPr>
            <p:cNvPr id="11" name="MH_Text_1"/>
            <p:cNvSpPr txBox="1">
              <a:spLocks noChangeArrowheads="1"/>
            </p:cNvSpPr>
            <p:nvPr>
              <p:custDataLst>
                <p:tags r:id="rId4"/>
              </p:custDataLst>
            </p:nvPr>
          </p:nvSpPr>
          <p:spPr bwMode="auto">
            <a:xfrm>
              <a:off x="717" y="5750"/>
              <a:ext cx="5828" cy="399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0" tIns="0" rIns="0" bIns="0">
              <a:norm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marL="0" indent="0" algn="l" fontAlgn="auto">
                <a:lnSpc>
                  <a:spcPct val="130000"/>
                </a:lnSpc>
              </a:pPr>
              <a:r>
                <a:rPr lang="en-US" altLang="zh-CN" sz="2000" dirty="0" smtClean="0"/>
                <a:t>        </a:t>
              </a:r>
              <a:r>
                <a:rPr sz="2000">
                  <a:solidFill>
                    <a:srgbClr val="C00000"/>
                  </a:solidFill>
                  <a:latin typeface="微软雅黑" panose="020B0503020204020204" charset="-122"/>
                  <a:ea typeface="微软雅黑" panose="020B0503020204020204" charset="-122"/>
                  <a:sym typeface="+mn-ea"/>
                </a:rPr>
                <a:t>非渐增式集成测试</a:t>
              </a:r>
              <a:r>
                <a:rPr sz="2000">
                  <a:latin typeface="微软雅黑" panose="020B0503020204020204" charset="-122"/>
                  <a:ea typeface="微软雅黑" panose="020B0503020204020204" charset="-122"/>
                  <a:sym typeface="+mn-ea"/>
                </a:rPr>
                <a:t>时用于开发测试软件的</a:t>
              </a:r>
              <a:r>
                <a:rPr sz="2000">
                  <a:solidFill>
                    <a:srgbClr val="C00000"/>
                  </a:solidFill>
                  <a:latin typeface="微软雅黑" panose="020B0503020204020204" charset="-122"/>
                  <a:ea typeface="微软雅黑" panose="020B0503020204020204" charset="-122"/>
                  <a:sym typeface="+mn-ea"/>
                </a:rPr>
                <a:t>开销要少一些</a:t>
              </a:r>
              <a:r>
                <a:rPr sz="2000">
                  <a:latin typeface="微软雅黑" panose="020B0503020204020204" charset="-122"/>
                  <a:ea typeface="微软雅黑" panose="020B0503020204020204" charset="-122"/>
                  <a:sym typeface="+mn-ea"/>
                </a:rPr>
                <a:t>，但发现问题后要找到产生问题的原因比较困难。</a:t>
              </a:r>
              <a:endParaRPr lang="zh-CN" altLang="en-US" sz="2000" dirty="0" smtClean="0"/>
            </a:p>
          </p:txBody>
        </p:sp>
        <p:sp>
          <p:nvSpPr>
            <p:cNvPr id="12" name="MH_SubTitle_1"/>
            <p:cNvSpPr/>
            <p:nvPr>
              <p:custDataLst>
                <p:tags r:id="rId5"/>
              </p:custDataLst>
            </p:nvPr>
          </p:nvSpPr>
          <p:spPr>
            <a:xfrm>
              <a:off x="11400" y="3732"/>
              <a:ext cx="4163" cy="1118"/>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smtClean="0">
                  <a:solidFill>
                    <a:schemeClr val="tx2">
                      <a:lumMod val="75000"/>
                    </a:schemeClr>
                  </a:solidFill>
                  <a:latin typeface="微软雅黑" panose="020B0503020204020204" charset="-122"/>
                  <a:ea typeface="微软雅黑" panose="020B0503020204020204" charset="-122"/>
                  <a:sym typeface="+mn-ea"/>
                </a:rPr>
                <a:t>渐增式</a:t>
              </a:r>
              <a:endParaRPr lang="zh-CN" altLang="en-US" sz="2800" b="1" dirty="0" smtClean="0">
                <a:solidFill>
                  <a:schemeClr val="tx2">
                    <a:lumMod val="75000"/>
                  </a:schemeClr>
                </a:solidFill>
                <a:latin typeface="微软雅黑" panose="020B0503020204020204" charset="-122"/>
                <a:ea typeface="微软雅黑" panose="020B0503020204020204" charset="-122"/>
              </a:endParaRPr>
            </a:p>
          </p:txBody>
        </p:sp>
        <p:sp>
          <p:nvSpPr>
            <p:cNvPr id="13" name="MH_Text_1"/>
            <p:cNvSpPr txBox="1">
              <a:spLocks noChangeArrowheads="1"/>
            </p:cNvSpPr>
            <p:nvPr>
              <p:custDataLst>
                <p:tags r:id="rId6"/>
              </p:custDataLst>
            </p:nvPr>
          </p:nvSpPr>
          <p:spPr bwMode="auto">
            <a:xfrm>
              <a:off x="11399" y="5463"/>
              <a:ext cx="5770" cy="30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0" tIns="0" rIns="0" bIns="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lang="en-US" sz="2000" dirty="0" smtClean="0"/>
                <a:t>        </a:t>
              </a:r>
              <a:r>
                <a:rPr sz="2000">
                  <a:solidFill>
                    <a:srgbClr val="C00000"/>
                  </a:solidFill>
                  <a:latin typeface="微软雅黑" panose="020B0503020204020204" charset="-122"/>
                  <a:ea typeface="微软雅黑" panose="020B0503020204020204" charset="-122"/>
                  <a:sym typeface="+mn-ea"/>
                </a:rPr>
                <a:t>渐增式集成测试</a:t>
              </a:r>
              <a:r>
                <a:rPr sz="2000">
                  <a:latin typeface="微软雅黑" panose="020B0503020204020204" charset="-122"/>
                  <a:ea typeface="微软雅黑" panose="020B0503020204020204" charset="-122"/>
                  <a:sym typeface="+mn-ea"/>
                </a:rPr>
                <a:t>所需要开发的测试软件要多一些，但可及时发现接口错误，已测试的软件在增加新模块时，也受到测试，</a:t>
              </a:r>
              <a:r>
                <a:rPr sz="2000">
                  <a:solidFill>
                    <a:srgbClr val="C00000"/>
                  </a:solidFill>
                  <a:effectLst/>
                  <a:latin typeface="微软雅黑" panose="020B0503020204020204" charset="-122"/>
                  <a:ea typeface="微软雅黑" panose="020B0503020204020204" charset="-122"/>
                  <a:sym typeface="+mn-ea"/>
                </a:rPr>
                <a:t>测试较彻底。</a:t>
              </a:r>
              <a:endParaRPr sz="2000" dirty="0" smtClean="0">
                <a:solidFill>
                  <a:schemeClr val="accent2">
                    <a:lumMod val="75000"/>
                  </a:schemeClr>
                </a:solidFill>
              </a:endParaRPr>
            </a:p>
          </p:txBody>
        </p:sp>
      </p:grpSp>
      <p:sp>
        <p:nvSpPr>
          <p:cNvPr id="4" name="文本框 3"/>
          <p:cNvSpPr txBox="1"/>
          <p:nvPr/>
        </p:nvSpPr>
        <p:spPr>
          <a:xfrm>
            <a:off x="8076565" y="763905"/>
            <a:ext cx="3575685" cy="883920"/>
          </a:xfrm>
          <a:prstGeom prst="rect">
            <a:avLst/>
          </a:prstGeom>
          <a:noFill/>
        </p:spPr>
        <p:txBody>
          <a:bodyPr wrap="square" rtlCol="0" anchor="t">
            <a:spAutoFit/>
          </a:bodyPr>
          <a:lstStyle/>
          <a:p>
            <a:pPr marL="0" indent="0" algn="l" fontAlgn="auto">
              <a:lnSpc>
                <a:spcPct val="130000"/>
              </a:lnSpc>
            </a:pPr>
            <a:r>
              <a:rPr lang="en-US" sz="2000">
                <a:latin typeface="微软雅黑" panose="020B0503020204020204" charset="-122"/>
                <a:ea typeface="微软雅黑" panose="020B0503020204020204" charset="-122"/>
                <a:sym typeface="+mn-ea"/>
              </a:rPr>
              <a:t>       </a:t>
            </a:r>
            <a:r>
              <a:rPr sz="2000">
                <a:latin typeface="微软雅黑" panose="020B0503020204020204" charset="-122"/>
                <a:ea typeface="微软雅黑" panose="020B0503020204020204" charset="-122"/>
                <a:sym typeface="+mn-ea"/>
              </a:rPr>
              <a:t>因此，在进行</a:t>
            </a:r>
            <a:r>
              <a:rPr sz="2000">
                <a:solidFill>
                  <a:srgbClr val="C00000"/>
                </a:solidFill>
                <a:latin typeface="微软雅黑" panose="020B0503020204020204" charset="-122"/>
                <a:ea typeface="微软雅黑" panose="020B0503020204020204" charset="-122"/>
                <a:sym typeface="+mn-ea"/>
              </a:rPr>
              <a:t>集成测试时普遍使用渐增式测试方法</a:t>
            </a:r>
            <a:r>
              <a:rPr>
                <a:solidFill>
                  <a:srgbClr val="C00000"/>
                </a:solidFill>
                <a:latin typeface="微软雅黑" panose="020B0503020204020204" charset="-122"/>
                <a:ea typeface="微软雅黑" panose="020B0503020204020204" charset="-122"/>
                <a:sym typeface="+mn-ea"/>
              </a:rPr>
              <a:t>。</a:t>
            </a:r>
            <a:endParaRPr lang="zh-CN" altLang="en-US"/>
          </a:p>
        </p:txBody>
      </p:sp>
    </p:spTree>
  </p:cSld>
  <p:clrMapOvr>
    <a:masterClrMapping/>
  </p:clrMapOvr>
  <p:transition>
    <p:wedge/>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4.4.2 </a:t>
            </a:r>
            <a:r>
              <a:rPr lang="zh-CN" altLang="en-US" sz="2400" dirty="0" smtClean="0">
                <a:solidFill>
                  <a:schemeClr val="tx1"/>
                </a:solidFill>
              </a:rPr>
              <a:t>集成测试</a:t>
            </a:r>
          </a:p>
        </p:txBody>
      </p:sp>
      <p:pic>
        <p:nvPicPr>
          <p:cNvPr id="18" name="图片 17" descr="A000220150321F33PPIC"/>
          <p:cNvPicPr>
            <a:picLocks noChangeAspect="1"/>
          </p:cNvPicPr>
          <p:nvPr/>
        </p:nvPicPr>
        <p:blipFill>
          <a:blip r:embed="rId4" cstate="print"/>
          <a:stretch>
            <a:fillRect/>
          </a:stretch>
        </p:blipFill>
        <p:spPr>
          <a:xfrm>
            <a:off x="175260" y="2104390"/>
            <a:ext cx="3244215" cy="4189730"/>
          </a:xfrm>
          <a:prstGeom prst="rect">
            <a:avLst/>
          </a:prstGeom>
        </p:spPr>
      </p:pic>
      <p:sp>
        <p:nvSpPr>
          <p:cNvPr id="19" name="MH_Text_1"/>
          <p:cNvSpPr/>
          <p:nvPr>
            <p:custDataLst>
              <p:tags r:id="rId1"/>
            </p:custDataLst>
          </p:nvPr>
        </p:nvSpPr>
        <p:spPr bwMode="auto">
          <a:xfrm>
            <a:off x="2592705" y="2104390"/>
            <a:ext cx="8335645" cy="419036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marL="0" indent="0" algn="l" fontAlgn="auto">
              <a:lnSpc>
                <a:spcPct val="130000"/>
              </a:lnSpc>
            </a:pPr>
            <a:r>
              <a:rPr dirty="0">
                <a:solidFill>
                  <a:srgbClr val="C00000"/>
                </a:solidFill>
                <a:latin typeface="微软雅黑" panose="020B0503020204020204" charset="-122"/>
                <a:ea typeface="微软雅黑" panose="020B0503020204020204" charset="-122"/>
                <a:sym typeface="+mn-ea"/>
              </a:rPr>
              <a:t>1）自顶向下集成</a:t>
            </a:r>
          </a:p>
          <a:p>
            <a:pPr marL="0" indent="0" algn="l" fontAlgn="auto">
              <a:lnSpc>
                <a:spcPct val="130000"/>
              </a:lnSpc>
            </a:pPr>
            <a:r>
              <a:rPr dirty="0">
                <a:latin typeface="微软雅黑" panose="020B0503020204020204" charset="-122"/>
                <a:ea typeface="微软雅黑" panose="020B0503020204020204" charset="-122"/>
                <a:sym typeface="+mn-ea"/>
              </a:rPr>
              <a:t>       从主控模块开始，把附属的模块组装到软件结构中去，可使用深度优先的策略，或使用宽度优先的策略。在组装模块的同时进行测试，能在早期实现和验证系统主要功能，早期发现上层模块的接口错误，低层模块中的错误发现较晚，需要使用存根程序，不需要驱动程序。</a:t>
            </a:r>
          </a:p>
          <a:p>
            <a:pPr marL="0" indent="0" algn="l" fontAlgn="auto">
              <a:lnSpc>
                <a:spcPct val="130000"/>
              </a:lnSpc>
            </a:pPr>
            <a:r>
              <a:rPr dirty="0">
                <a:latin typeface="微软雅黑" panose="020B0503020204020204" charset="-122"/>
                <a:ea typeface="微软雅黑" panose="020B0503020204020204" charset="-122"/>
                <a:sym typeface="+mn-ea"/>
              </a:rPr>
              <a:t>       在众多模块中我们分析出一种可称为</a:t>
            </a:r>
            <a:r>
              <a:rPr dirty="0">
                <a:solidFill>
                  <a:srgbClr val="C00000"/>
                </a:solidFill>
                <a:latin typeface="微软雅黑" panose="020B0503020204020204" charset="-122"/>
                <a:ea typeface="微软雅黑" panose="020B0503020204020204" charset="-122"/>
                <a:sym typeface="+mn-ea"/>
              </a:rPr>
              <a:t>关键模块</a:t>
            </a:r>
            <a:r>
              <a:rPr dirty="0">
                <a:latin typeface="微软雅黑" panose="020B0503020204020204" charset="-122"/>
                <a:ea typeface="微软雅黑" panose="020B0503020204020204" charset="-122"/>
                <a:sym typeface="+mn-ea"/>
              </a:rPr>
              <a:t>的程序段，</a:t>
            </a:r>
            <a:r>
              <a:rPr dirty="0">
                <a:solidFill>
                  <a:srgbClr val="C00000"/>
                </a:solidFill>
                <a:latin typeface="微软雅黑" panose="020B0503020204020204" charset="-122"/>
                <a:ea typeface="微软雅黑" panose="020B0503020204020204" charset="-122"/>
                <a:sym typeface="+mn-ea"/>
              </a:rPr>
              <a:t>关键模块的设计质量对系统影响较大。</a:t>
            </a:r>
          </a:p>
          <a:p>
            <a:pPr marL="0" indent="0" algn="l" fontAlgn="auto">
              <a:lnSpc>
                <a:spcPct val="130000"/>
              </a:lnSpc>
            </a:pPr>
            <a:r>
              <a:rPr dirty="0">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每当新的模块加进来时，系统发生了变化，有可能产生新的错误。重新执行已经做过测试的某个子集，以保证集成没有带来错误，称为回归测试。</a:t>
            </a:r>
            <a:r>
              <a:rPr dirty="0">
                <a:latin typeface="微软雅黑" panose="020B0503020204020204" charset="-122"/>
                <a:ea typeface="微软雅黑" panose="020B0503020204020204" charset="-122"/>
                <a:sym typeface="+mn-ea"/>
              </a:rPr>
              <a:t>回归测试时，测试用例应设计成能测试程序每个主要功能中的一类或多类错误，并着重测试关键模块。</a:t>
            </a:r>
            <a:endParaRPr lang="zh-CN" altLang="en-US" dirty="0">
              <a:latin typeface="+mn-ea"/>
            </a:endParaRPr>
          </a:p>
        </p:txBody>
      </p:sp>
      <p:sp>
        <p:nvSpPr>
          <p:cNvPr id="8" name="TextBox 6"/>
          <p:cNvSpPr txBox="1"/>
          <p:nvPr/>
        </p:nvSpPr>
        <p:spPr>
          <a:xfrm>
            <a:off x="3450304" y="1580773"/>
            <a:ext cx="7194949" cy="45243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1800" dirty="0" smtClean="0"/>
              <a:t>有两种不同的渐增式集成策略：自顶向下集成和自底向上集成。</a:t>
            </a:r>
            <a:endParaRPr lang="zh-CN" altLang="en-US" sz="1800" dirty="0"/>
          </a:p>
        </p:txBody>
      </p:sp>
    </p:spTree>
  </p:cSld>
  <p:clrMapOvr>
    <a:masterClrMapping/>
  </p:clrMapOvr>
  <p:transition>
    <p:wedge/>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4.4.2 </a:t>
            </a:r>
            <a:r>
              <a:rPr lang="zh-CN" altLang="en-US" sz="2400" dirty="0" smtClean="0">
                <a:solidFill>
                  <a:schemeClr val="tx1"/>
                </a:solidFill>
              </a:rPr>
              <a:t>集成测试</a:t>
            </a:r>
          </a:p>
        </p:txBody>
      </p:sp>
      <p:sp>
        <p:nvSpPr>
          <p:cNvPr id="19" name="MH_Text_1"/>
          <p:cNvSpPr/>
          <p:nvPr>
            <p:custDataLst>
              <p:tags r:id="rId1"/>
            </p:custDataLst>
          </p:nvPr>
        </p:nvSpPr>
        <p:spPr bwMode="auto">
          <a:xfrm>
            <a:off x="4584700" y="3133725"/>
            <a:ext cx="6202680" cy="260794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marL="0" indent="0" algn="l" fontAlgn="auto">
              <a:lnSpc>
                <a:spcPct val="150000"/>
              </a:lnSpc>
            </a:pPr>
            <a:r>
              <a:rPr dirty="0">
                <a:solidFill>
                  <a:srgbClr val="C00000"/>
                </a:solidFill>
                <a:latin typeface="微软雅黑" panose="020B0503020204020204" charset="-122"/>
                <a:ea typeface="微软雅黑" panose="020B0503020204020204" charset="-122"/>
                <a:sym typeface="+mn-ea"/>
              </a:rPr>
              <a:t>2）自底向上集成</a:t>
            </a:r>
          </a:p>
          <a:p>
            <a:pPr marL="0" indent="0" algn="l" fontAlgn="auto">
              <a:lnSpc>
                <a:spcPct val="150000"/>
              </a:lnSpc>
            </a:pPr>
            <a:r>
              <a:rPr dirty="0">
                <a:latin typeface="微软雅黑" panose="020B0503020204020204" charset="-122"/>
                <a:ea typeface="微软雅黑" panose="020B0503020204020204" charset="-122"/>
                <a:sym typeface="+mn-ea"/>
              </a:rPr>
              <a:t>       从软件结构最底层的模块开始组装和测试。不需要存根程序，需要驱动程序。优缺点与自顶向下集成刚好相反。</a:t>
            </a:r>
          </a:p>
          <a:p>
            <a:pPr marL="0" indent="0" algn="l" fontAlgn="auto">
              <a:lnSpc>
                <a:spcPct val="130000"/>
              </a:lnSpc>
            </a:pPr>
            <a:r>
              <a:rPr lang="en-US" dirty="0">
                <a:latin typeface="微软雅黑" panose="020B0503020204020204" charset="-122"/>
                <a:ea typeface="微软雅黑" panose="020B0503020204020204" charset="-122"/>
                <a:sym typeface="+mn-ea"/>
              </a:rPr>
              <a:t> </a:t>
            </a:r>
            <a:endParaRPr lang="zh-CN" altLang="en-US" dirty="0">
              <a:latin typeface="+mn-ea"/>
            </a:endParaRPr>
          </a:p>
        </p:txBody>
      </p:sp>
      <p:pic>
        <p:nvPicPr>
          <p:cNvPr id="2" name="图片 1" descr="A000220150318N48PPIC"/>
          <p:cNvPicPr>
            <a:picLocks noChangeAspect="1"/>
          </p:cNvPicPr>
          <p:nvPr/>
        </p:nvPicPr>
        <p:blipFill>
          <a:blip r:embed="rId4" cstate="print"/>
          <a:stretch>
            <a:fillRect/>
          </a:stretch>
        </p:blipFill>
        <p:spPr>
          <a:xfrm>
            <a:off x="802640" y="1969770"/>
            <a:ext cx="3919220" cy="3898265"/>
          </a:xfrm>
          <a:prstGeom prst="rect">
            <a:avLst/>
          </a:prstGeom>
        </p:spPr>
      </p:pic>
    </p:spTree>
  </p:cSld>
  <p:clrMapOvr>
    <a:masterClrMapping/>
  </p:clrMapOvr>
  <p:transition>
    <p:wedge/>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4.4.3 </a:t>
            </a:r>
            <a:r>
              <a:rPr lang="zh-CN" altLang="en-US" sz="2400" dirty="0" smtClean="0">
                <a:solidFill>
                  <a:schemeClr val="tx1"/>
                </a:solidFill>
              </a:rPr>
              <a:t>程序审查会和人工运行</a:t>
            </a:r>
          </a:p>
        </p:txBody>
      </p:sp>
      <p:pic>
        <p:nvPicPr>
          <p:cNvPr id="2" name="图片 1" descr="A000220150821C45PPIC"/>
          <p:cNvPicPr>
            <a:picLocks noChangeAspect="1"/>
          </p:cNvPicPr>
          <p:nvPr/>
        </p:nvPicPr>
        <p:blipFill>
          <a:blip r:embed="rId4" cstate="print"/>
          <a:stretch>
            <a:fillRect/>
          </a:stretch>
        </p:blipFill>
        <p:spPr>
          <a:xfrm>
            <a:off x="6776291" y="3694795"/>
            <a:ext cx="3632060" cy="2421373"/>
          </a:xfrm>
          <a:prstGeom prst="rect">
            <a:avLst/>
          </a:prstGeom>
        </p:spPr>
      </p:pic>
      <p:sp>
        <p:nvSpPr>
          <p:cNvPr id="6" name="MH_Other_1"/>
          <p:cNvSpPr/>
          <p:nvPr>
            <p:custDataLst>
              <p:tags r:id="rId1"/>
            </p:custDataLst>
          </p:nvPr>
        </p:nvSpPr>
        <p:spPr bwMode="auto">
          <a:xfrm>
            <a:off x="802640" y="1969135"/>
            <a:ext cx="9842500" cy="436689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xmlns="">
                <a:solidFill>
                  <a:srgbClr val="FFFFFF"/>
                </a:solidFill>
              </a14:hiddenFill>
            </a:ext>
          </a:extLst>
        </p:spPr>
        <p:txBody>
          <a:bodyPr anchor="ctr"/>
          <a:lstStyle/>
          <a:p>
            <a:endParaRPr lang="zh-CN" altLang="en-US">
              <a:solidFill>
                <a:srgbClr val="5CABB5"/>
              </a:solidFill>
            </a:endParaRPr>
          </a:p>
        </p:txBody>
      </p:sp>
      <p:sp>
        <p:nvSpPr>
          <p:cNvPr id="100" name="文本框 99"/>
          <p:cNvSpPr txBox="1"/>
          <p:nvPr/>
        </p:nvSpPr>
        <p:spPr>
          <a:xfrm>
            <a:off x="972819" y="2502042"/>
            <a:ext cx="10191049" cy="1172629"/>
          </a:xfrm>
          <a:prstGeom prst="rect">
            <a:avLst/>
          </a:prstGeom>
          <a:noFill/>
          <a:ln w="9525">
            <a:noFill/>
          </a:ln>
        </p:spPr>
        <p:txBody>
          <a:bodyPr wrap="square">
            <a:spAutoFit/>
          </a:bodyPr>
          <a:lstStyle/>
          <a:p>
            <a:pPr marL="0" indent="0" algn="l" fontAlgn="auto">
              <a:lnSpc>
                <a:spcPct val="130000"/>
              </a:lnSpc>
            </a:pP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参加程序审查会的成员通常由</a:t>
            </a:r>
            <a:r>
              <a:rPr b="1" dirty="0">
                <a:solidFill>
                  <a:srgbClr val="002060"/>
                </a:solidFill>
                <a:latin typeface="微软雅黑" panose="020B0503020204020204" charset="-122"/>
                <a:ea typeface="微软雅黑" panose="020B0503020204020204" charset="-122"/>
                <a:sym typeface="+mn-ea"/>
              </a:rPr>
              <a:t>软件程序员</a:t>
            </a:r>
            <a:r>
              <a:rPr dirty="0">
                <a:solidFill>
                  <a:schemeClr val="tx1"/>
                </a:solidFill>
                <a:latin typeface="微软雅黑" panose="020B0503020204020204" charset="-122"/>
                <a:ea typeface="微软雅黑" panose="020B0503020204020204" charset="-122"/>
                <a:sym typeface="+mn-ea"/>
              </a:rPr>
              <a:t>和</a:t>
            </a:r>
            <a:r>
              <a:rPr b="1" dirty="0">
                <a:solidFill>
                  <a:srgbClr val="002060"/>
                </a:solidFill>
                <a:latin typeface="微软雅黑" panose="020B0503020204020204" charset="-122"/>
                <a:ea typeface="微软雅黑" panose="020B0503020204020204" charset="-122"/>
                <a:sym typeface="+mn-ea"/>
              </a:rPr>
              <a:t>不参加设计的测试专家及调解员</a:t>
            </a:r>
            <a:r>
              <a:rPr dirty="0">
                <a:solidFill>
                  <a:schemeClr val="tx1"/>
                </a:solidFill>
                <a:latin typeface="微软雅黑" panose="020B0503020204020204" charset="-122"/>
                <a:ea typeface="微软雅黑" panose="020B0503020204020204" charset="-122"/>
                <a:sym typeface="+mn-ea"/>
              </a:rPr>
              <a:t>（当程序员与测试专家意见有分歧时，从中进行调解、裁决）组成，开会之前先把</a:t>
            </a:r>
            <a:r>
              <a:rPr dirty="0">
                <a:solidFill>
                  <a:srgbClr val="C00000"/>
                </a:solidFill>
                <a:latin typeface="微软雅黑" panose="020B0503020204020204" charset="-122"/>
                <a:ea typeface="微软雅黑" panose="020B0503020204020204" charset="-122"/>
                <a:sym typeface="+mn-ea"/>
              </a:rPr>
              <a:t>程序清单和设计文档</a:t>
            </a:r>
            <a:r>
              <a:rPr dirty="0">
                <a:solidFill>
                  <a:schemeClr val="tx1"/>
                </a:solidFill>
                <a:latin typeface="微软雅黑" panose="020B0503020204020204" charset="-122"/>
                <a:ea typeface="微软雅黑" panose="020B0503020204020204" charset="-122"/>
                <a:sym typeface="+mn-ea"/>
              </a:rPr>
              <a:t>分发给审查小组成员。会议内容如下</a:t>
            </a:r>
            <a:r>
              <a:rPr dirty="0" smtClean="0">
                <a:solidFill>
                  <a:schemeClr val="tx1"/>
                </a:solidFill>
                <a:latin typeface="微软雅黑" panose="020B0503020204020204" charset="-122"/>
                <a:ea typeface="微软雅黑" panose="020B0503020204020204" charset="-122"/>
                <a:sym typeface="+mn-ea"/>
              </a:rPr>
              <a:t>：</a:t>
            </a:r>
            <a:endParaRPr dirty="0">
              <a:solidFill>
                <a:schemeClr val="tx1"/>
              </a:solidFill>
              <a:latin typeface="微软雅黑" panose="020B0503020204020204" charset="-122"/>
              <a:ea typeface="微软雅黑" panose="020B0503020204020204" charset="-122"/>
              <a:sym typeface="+mn-ea"/>
            </a:endParaRPr>
          </a:p>
        </p:txBody>
      </p:sp>
      <p:sp>
        <p:nvSpPr>
          <p:cNvPr id="8" name="文本框 99"/>
          <p:cNvSpPr txBox="1"/>
          <p:nvPr/>
        </p:nvSpPr>
        <p:spPr>
          <a:xfrm>
            <a:off x="988740" y="3678042"/>
            <a:ext cx="5607050" cy="2577950"/>
          </a:xfrm>
          <a:prstGeom prst="rect">
            <a:avLst/>
          </a:prstGeom>
          <a:noFill/>
          <a:ln w="9525">
            <a:noFill/>
          </a:ln>
        </p:spPr>
        <p:txBody>
          <a:bodyPr wrap="square">
            <a:spAutoFit/>
          </a:bodyPr>
          <a:lstStyle/>
          <a:p>
            <a:pPr marL="0" indent="0" algn="l" fontAlgn="auto">
              <a:lnSpc>
                <a:spcPct val="130000"/>
              </a:lnSpc>
            </a:pPr>
            <a:r>
              <a:rPr dirty="0" smtClean="0">
                <a:solidFill>
                  <a:schemeClr val="tx1"/>
                </a:solidFill>
                <a:latin typeface="微软雅黑" panose="020B0503020204020204" charset="-122"/>
                <a:ea typeface="微软雅黑" panose="020B0503020204020204" charset="-122"/>
                <a:sym typeface="+mn-ea"/>
              </a:rPr>
              <a:t>（</a:t>
            </a:r>
            <a:r>
              <a:rPr dirty="0">
                <a:solidFill>
                  <a:schemeClr val="tx1"/>
                </a:solidFill>
                <a:latin typeface="微软雅黑" panose="020B0503020204020204" charset="-122"/>
                <a:ea typeface="微软雅黑" panose="020B0503020204020204" charset="-122"/>
                <a:sym typeface="+mn-ea"/>
              </a:rPr>
              <a:t>1）</a:t>
            </a:r>
            <a:r>
              <a:rPr b="1" dirty="0">
                <a:solidFill>
                  <a:srgbClr val="00B050"/>
                </a:solidFill>
                <a:latin typeface="微软雅黑" panose="020B0503020204020204" charset="-122"/>
                <a:ea typeface="微软雅黑" panose="020B0503020204020204" charset="-122"/>
                <a:sym typeface="+mn-ea"/>
              </a:rPr>
              <a:t>程序员逐句讲述程序的逻辑结构，然后由大家提问研究，判断是否有错误存在</a:t>
            </a:r>
            <a:r>
              <a:rPr lang="zh-CN" b="1" dirty="0">
                <a:solidFill>
                  <a:srgbClr val="00B050"/>
                </a:solidFill>
                <a:latin typeface="微软雅黑" panose="020B0503020204020204" charset="-122"/>
                <a:ea typeface="微软雅黑" panose="020B0503020204020204" charset="-122"/>
                <a:sym typeface="+mn-ea"/>
              </a:rPr>
              <a:t>。</a:t>
            </a:r>
          </a:p>
          <a:p>
            <a:pPr marL="0" indent="0" algn="l" fontAlgn="auto">
              <a:lnSpc>
                <a:spcPct val="130000"/>
              </a:lnSpc>
            </a:pPr>
            <a:r>
              <a:rPr dirty="0">
                <a:solidFill>
                  <a:schemeClr val="tx1"/>
                </a:solidFill>
                <a:latin typeface="微软雅黑" panose="020B0503020204020204" charset="-122"/>
                <a:ea typeface="微软雅黑" panose="020B0503020204020204" charset="-122"/>
                <a:sym typeface="+mn-ea"/>
              </a:rPr>
              <a:t>（2）</a:t>
            </a:r>
            <a:r>
              <a:rPr b="1" dirty="0">
                <a:solidFill>
                  <a:srgbClr val="00B050"/>
                </a:solidFill>
                <a:latin typeface="微软雅黑" panose="020B0503020204020204" charset="-122"/>
                <a:ea typeface="微软雅黑" panose="020B0503020204020204" charset="-122"/>
                <a:sym typeface="+mn-ea"/>
              </a:rPr>
              <a:t>程序审查会成员根据常见程序错误来分析程序。</a:t>
            </a:r>
            <a:endParaRPr b="1" dirty="0">
              <a:solidFill>
                <a:schemeClr val="tx1"/>
              </a:solidFill>
              <a:latin typeface="微软雅黑" panose="020B0503020204020204" charset="-122"/>
              <a:ea typeface="微软雅黑" panose="020B0503020204020204" charset="-122"/>
              <a:sym typeface="+mn-ea"/>
            </a:endParaRPr>
          </a:p>
          <a:p>
            <a:pPr marL="0" indent="0" algn="l" fontAlgn="auto">
              <a:lnSpc>
                <a:spcPct val="130000"/>
              </a:lnSpc>
            </a:pPr>
            <a:r>
              <a:rPr b="1"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程序审查会的优点是一次审查会可以发现许多错误。而用计算机测试方法发现错误时，通常需要先改正这个错误才能继续测试，因此，错误是一个一个地被发现并改正的。</a:t>
            </a:r>
          </a:p>
        </p:txBody>
      </p:sp>
      <p:grpSp>
        <p:nvGrpSpPr>
          <p:cNvPr id="9" name="组合 6"/>
          <p:cNvGrpSpPr/>
          <p:nvPr/>
        </p:nvGrpSpPr>
        <p:grpSpPr>
          <a:xfrm>
            <a:off x="809625" y="2091054"/>
            <a:ext cx="5795891" cy="741581"/>
            <a:chOff x="508000" y="3196191"/>
            <a:chExt cx="5795832" cy="741581"/>
          </a:xfrm>
        </p:grpSpPr>
        <p:sp>
          <p:nvSpPr>
            <p:cNvPr id="10"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1" name="直接连接符 1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7"/>
            <p:cNvSpPr>
              <a:spLocks noChangeArrowheads="1"/>
            </p:cNvSpPr>
            <p:nvPr/>
          </p:nvSpPr>
          <p:spPr bwMode="auto">
            <a:xfrm>
              <a:off x="960435" y="3291441"/>
              <a:ext cx="5343397"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程序审查会（</a:t>
              </a:r>
              <a:r>
                <a:rPr lang="en-US" altLang="en-US" b="1" dirty="0" smtClean="0">
                  <a:solidFill>
                    <a:srgbClr val="E67819"/>
                  </a:solidFill>
                  <a:latin typeface="微软雅黑" panose="020B0503020204020204" charset="-122"/>
                  <a:ea typeface="微软雅黑" panose="020B0503020204020204" charset="-122"/>
                </a:rPr>
                <a:t>Program Inspections</a:t>
              </a:r>
              <a:r>
                <a:rPr lang="zh-CN" altLang="en-US" b="1" dirty="0" smtClean="0">
                  <a:solidFill>
                    <a:srgbClr val="E67819"/>
                  </a:solidFill>
                  <a:latin typeface="微软雅黑" panose="020B0503020204020204" charset="-122"/>
                  <a:ea typeface="微软雅黑" panose="020B0503020204020204" charset="-122"/>
                </a:rPr>
                <a:t>）</a:t>
              </a:r>
            </a:p>
            <a:p>
              <a:endParaRPr lang="zh-CN" altLang="en-US" b="1" dirty="0" smtClean="0">
                <a:solidFill>
                  <a:srgbClr val="E67819"/>
                </a:solidFill>
                <a:latin typeface="微软雅黑" panose="020B0503020204020204" charset="-122"/>
                <a:ea typeface="微软雅黑" panose="020B0503020204020204" charset="-122"/>
              </a:endParaRPr>
            </a:p>
          </p:txBody>
        </p:sp>
      </p:grpSp>
    </p:spTree>
  </p:cSld>
  <p:clrMapOvr>
    <a:masterClrMapping/>
  </p:clrMapOvr>
  <p:transition>
    <p:wedge/>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4.4.3 </a:t>
            </a:r>
            <a:r>
              <a:rPr lang="zh-CN" altLang="en-US" sz="2400" dirty="0" smtClean="0">
                <a:solidFill>
                  <a:schemeClr val="tx1"/>
                </a:solidFill>
                <a:sym typeface="+mn-ea"/>
              </a:rPr>
              <a:t>程序审查会和人工运行</a:t>
            </a:r>
            <a:endParaRPr lang="zh-CN" altLang="en-US" sz="2400" dirty="0" smtClean="0">
              <a:solidFill>
                <a:schemeClr val="tx1"/>
              </a:solidFill>
            </a:endParaRPr>
          </a:p>
        </p:txBody>
      </p:sp>
      <p:pic>
        <p:nvPicPr>
          <p:cNvPr id="11" name="图片 10" descr="A000220151021B28PPSH.png"/>
          <p:cNvPicPr>
            <a:picLocks noChangeAspect="1"/>
          </p:cNvPicPr>
          <p:nvPr/>
        </p:nvPicPr>
        <p:blipFill>
          <a:blip r:embed="rId4" cstate="print"/>
          <a:stretch>
            <a:fillRect/>
          </a:stretch>
        </p:blipFill>
        <p:spPr>
          <a:xfrm>
            <a:off x="334142" y="2246485"/>
            <a:ext cx="3780659" cy="3803642"/>
          </a:xfrm>
          <a:prstGeom prst="rect">
            <a:avLst/>
          </a:prstGeom>
        </p:spPr>
      </p:pic>
      <p:sp>
        <p:nvSpPr>
          <p:cNvPr id="4" name="MH_Text_1"/>
          <p:cNvSpPr/>
          <p:nvPr>
            <p:custDataLst>
              <p:tags r:id="rId1"/>
            </p:custDataLst>
          </p:nvPr>
        </p:nvSpPr>
        <p:spPr bwMode="auto">
          <a:xfrm>
            <a:off x="4114800" y="2074460"/>
            <a:ext cx="7268845" cy="4025287"/>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marL="0" indent="0" algn="l" fontAlgn="auto">
              <a:lnSpc>
                <a:spcPct val="130000"/>
              </a:lnSpc>
            </a:pPr>
            <a:r>
              <a:rPr lang="en-US" dirty="0">
                <a:latin typeface="微软雅黑" panose="020B0503020204020204" charset="-122"/>
                <a:ea typeface="微软雅黑" panose="020B0503020204020204" charset="-122"/>
                <a:sym typeface="+mn-ea"/>
              </a:rPr>
              <a:t> </a:t>
            </a:r>
          </a:p>
          <a:p>
            <a:pPr marL="0" indent="0" algn="l" fontAlgn="auto">
              <a:lnSpc>
                <a:spcPct val="130000"/>
              </a:lnSpc>
            </a:pPr>
            <a:r>
              <a:rPr lang="en-US" dirty="0">
                <a:latin typeface="微软雅黑" panose="020B0503020204020204" charset="-122"/>
                <a:ea typeface="微软雅黑" panose="020B0503020204020204" charset="-122"/>
                <a:sym typeface="+mn-ea"/>
              </a:rPr>
              <a:t>       </a:t>
            </a:r>
            <a:endParaRPr lang="en-US" dirty="0" smtClean="0">
              <a:latin typeface="微软雅黑" panose="020B0503020204020204" charset="-122"/>
              <a:ea typeface="微软雅黑" panose="020B0503020204020204" charset="-122"/>
              <a:sym typeface="+mn-ea"/>
            </a:endParaRPr>
          </a:p>
          <a:p>
            <a:pPr marL="0" indent="0" algn="l" fontAlgn="auto">
              <a:lnSpc>
                <a:spcPct val="130000"/>
              </a:lnSpc>
            </a:pPr>
            <a:r>
              <a:rPr dirty="0" smtClean="0">
                <a:solidFill>
                  <a:srgbClr val="C00000"/>
                </a:solidFill>
                <a:latin typeface="微软雅黑" panose="020B0503020204020204" charset="-122"/>
                <a:ea typeface="微软雅黑" panose="020B0503020204020204" charset="-122"/>
                <a:sym typeface="+mn-ea"/>
              </a:rPr>
              <a:t>人工运行也是阅读程序查错的一种方法</a:t>
            </a:r>
            <a:r>
              <a:rPr dirty="0">
                <a:solidFill>
                  <a:srgbClr val="C00000"/>
                </a:solidFill>
                <a:latin typeface="微软雅黑" panose="020B0503020204020204" charset="-122"/>
                <a:ea typeface="微软雅黑" panose="020B0503020204020204" charset="-122"/>
                <a:sym typeface="+mn-ea"/>
              </a:rPr>
              <a:t>，开会之前先分发程序和文档。</a:t>
            </a:r>
            <a:r>
              <a:rPr dirty="0">
                <a:latin typeface="微软雅黑" panose="020B0503020204020204" charset="-122"/>
                <a:ea typeface="微软雅黑" panose="020B0503020204020204" charset="-122"/>
                <a:sym typeface="+mn-ea"/>
              </a:rPr>
              <a:t>人工运行小组的成员由编程人员及其他有丰富经验的程序员、其他项目的参加者等人员组成。</a:t>
            </a:r>
            <a:endParaRPr dirty="0">
              <a:solidFill>
                <a:schemeClr val="tx1"/>
              </a:solidFill>
              <a:latin typeface="微软雅黑" panose="020B0503020204020204" charset="-122"/>
              <a:ea typeface="微软雅黑" panose="020B0503020204020204" charset="-122"/>
              <a:sym typeface="+mn-ea"/>
            </a:endParaRPr>
          </a:p>
          <a:p>
            <a:pPr marL="0" indent="0" algn="l" fontAlgn="auto">
              <a:lnSpc>
                <a:spcPct val="130000"/>
              </a:lnSpc>
            </a:pPr>
            <a:r>
              <a:rPr dirty="0">
                <a:latin typeface="微软雅黑" panose="020B0503020204020204" charset="-122"/>
                <a:ea typeface="微软雅黑" panose="020B0503020204020204" charset="-122"/>
                <a:sym typeface="+mn-ea"/>
              </a:rPr>
              <a:t>      人工运行时，要求与会者模拟计算机运行程序，把各种测试情况沿着程序逻辑走一遍，通过向程序员询问程序的逻辑设计情况来发现错误，与会者应该评论程序，不要把错误看成是由于程序员的弱点而造成的，而应看成是由于程序开发困难而造成的。人工运行对与会者在程序设计风格、技巧方面的经验积累是很有益的。</a:t>
            </a:r>
            <a:endParaRPr dirty="0">
              <a:solidFill>
                <a:schemeClr val="tx1"/>
              </a:solidFill>
              <a:latin typeface="微软雅黑" panose="020B0503020204020204" charset="-122"/>
              <a:ea typeface="微软雅黑" panose="020B0503020204020204" charset="-122"/>
              <a:sym typeface="+mn-ea"/>
            </a:endParaRPr>
          </a:p>
          <a:p>
            <a:pPr marL="0" indent="0" algn="l" fontAlgn="auto">
              <a:lnSpc>
                <a:spcPct val="130000"/>
              </a:lnSpc>
            </a:pPr>
            <a:r>
              <a:rPr lang="en-US" dirty="0">
                <a:latin typeface="微软雅黑" panose="020B0503020204020204" charset="-122"/>
                <a:ea typeface="微软雅黑" panose="020B0503020204020204" charset="-122"/>
                <a:sym typeface="+mn-ea"/>
              </a:rPr>
              <a:t> </a:t>
            </a:r>
            <a:endParaRPr lang="zh-CN" altLang="en-US" dirty="0">
              <a:latin typeface="+mn-ea"/>
            </a:endParaRPr>
          </a:p>
        </p:txBody>
      </p:sp>
      <p:grpSp>
        <p:nvGrpSpPr>
          <p:cNvPr id="8" name="组合 6"/>
          <p:cNvGrpSpPr/>
          <p:nvPr/>
        </p:nvGrpSpPr>
        <p:grpSpPr>
          <a:xfrm>
            <a:off x="4003201" y="2227531"/>
            <a:ext cx="5795891" cy="741581"/>
            <a:chOff x="508000" y="3196191"/>
            <a:chExt cx="5795832" cy="741581"/>
          </a:xfrm>
        </p:grpSpPr>
        <p:sp>
          <p:nvSpPr>
            <p:cNvPr id="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2" name="矩形 7"/>
            <p:cNvSpPr>
              <a:spLocks noChangeArrowheads="1"/>
            </p:cNvSpPr>
            <p:nvPr/>
          </p:nvSpPr>
          <p:spPr bwMode="auto">
            <a:xfrm>
              <a:off x="960435" y="3291441"/>
              <a:ext cx="5343397"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人工运行（</a:t>
              </a:r>
              <a:r>
                <a:rPr lang="en-US" altLang="en-US" b="1" dirty="0" smtClean="0">
                  <a:solidFill>
                    <a:srgbClr val="E67819"/>
                  </a:solidFill>
                  <a:latin typeface="微软雅黑" panose="020B0503020204020204" charset="-122"/>
                  <a:ea typeface="微软雅黑" panose="020B0503020204020204" charset="-122"/>
                </a:rPr>
                <a:t>Walkthroughs</a:t>
              </a:r>
              <a:r>
                <a:rPr lang="zh-CN" altLang="en-US" b="1" dirty="0" smtClean="0">
                  <a:solidFill>
                    <a:srgbClr val="E67819"/>
                  </a:solidFill>
                  <a:latin typeface="微软雅黑" panose="020B0503020204020204" charset="-122"/>
                  <a:ea typeface="微软雅黑" panose="020B0503020204020204" charset="-122"/>
                </a:rPr>
                <a:t>）</a:t>
              </a:r>
            </a:p>
            <a:p>
              <a:endParaRPr lang="zh-CN" altLang="en-US" b="1" dirty="0" smtClean="0">
                <a:solidFill>
                  <a:srgbClr val="E67819"/>
                </a:solidFill>
                <a:latin typeface="微软雅黑" panose="020B0503020204020204" charset="-122"/>
                <a:ea typeface="微软雅黑" panose="020B0503020204020204" charset="-122"/>
              </a:endParaRPr>
            </a:p>
          </p:txBody>
        </p:sp>
      </p:grpSp>
    </p:spTree>
  </p:cSld>
  <p:clrMapOvr>
    <a:masterClrMapping/>
  </p:clrMapOvr>
  <p:transition>
    <p:wedge/>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4.4.4 </a:t>
            </a:r>
            <a:r>
              <a:rPr lang="zh-CN" altLang="en-US" sz="2400" dirty="0" smtClean="0">
                <a:solidFill>
                  <a:schemeClr val="tx1"/>
                </a:solidFill>
              </a:rPr>
              <a:t>确认测试</a:t>
            </a:r>
          </a:p>
        </p:txBody>
      </p:sp>
      <p:sp>
        <p:nvSpPr>
          <p:cNvPr id="4" name="MH_Text_1"/>
          <p:cNvSpPr/>
          <p:nvPr>
            <p:custDataLst>
              <p:tags r:id="rId1"/>
            </p:custDataLst>
          </p:nvPr>
        </p:nvSpPr>
        <p:spPr bwMode="auto">
          <a:xfrm>
            <a:off x="4330700" y="2542540"/>
            <a:ext cx="7268845" cy="236283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b="1">
                <a:solidFill>
                  <a:srgbClr val="C00000"/>
                </a:solidFill>
                <a:latin typeface="微软雅黑" panose="020B0503020204020204" charset="-122"/>
                <a:ea typeface="微软雅黑" panose="020B0503020204020204" charset="-122"/>
                <a:sym typeface="+mn-ea"/>
              </a:rPr>
              <a:t>确认测试的目的是验证所有的软件需求是否均被正确的实现。</a:t>
            </a:r>
            <a:r>
              <a:rPr>
                <a:latin typeface="微软雅黑" panose="020B0503020204020204" charset="-122"/>
                <a:ea typeface="微软雅黑" panose="020B0503020204020204" charset="-122"/>
                <a:sym typeface="+mn-ea"/>
              </a:rPr>
              <a:t>它是在软件开发过程结束时对软件进行评价，以确认它和软件需求分析阶段确定的指标是否一致。软件确认（Validation）测试也称验收（Verification）测试，其目标是验证软件的有效性。</a:t>
            </a:r>
            <a:endParaRPr lang="zh-CN" altLang="en-US" dirty="0">
              <a:latin typeface="+mn-ea"/>
            </a:endParaRPr>
          </a:p>
        </p:txBody>
      </p:sp>
      <p:pic>
        <p:nvPicPr>
          <p:cNvPr id="2" name="图片 1" descr="A000220150318R98PPIC"/>
          <p:cNvPicPr>
            <a:picLocks noChangeAspect="1"/>
          </p:cNvPicPr>
          <p:nvPr/>
        </p:nvPicPr>
        <p:blipFill>
          <a:blip r:embed="rId4" cstate="print"/>
          <a:stretch>
            <a:fillRect/>
          </a:stretch>
        </p:blipFill>
        <p:spPr>
          <a:xfrm>
            <a:off x="535305" y="2077085"/>
            <a:ext cx="3392805" cy="3923030"/>
          </a:xfrm>
          <a:prstGeom prst="rect">
            <a:avLst/>
          </a:prstGeom>
        </p:spPr>
      </p:pic>
    </p:spTree>
  </p:cSld>
  <p:clrMapOvr>
    <a:masterClrMapping/>
  </p:clrMapOvr>
  <p:transition>
    <p:wedge/>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4.4.4 </a:t>
            </a:r>
            <a:r>
              <a:rPr lang="zh-CN" altLang="en-US" sz="2400" dirty="0" smtClean="0">
                <a:solidFill>
                  <a:schemeClr val="tx1"/>
                </a:solidFill>
              </a:rPr>
              <a:t>确认测试</a:t>
            </a:r>
          </a:p>
        </p:txBody>
      </p:sp>
      <p:grpSp>
        <p:nvGrpSpPr>
          <p:cNvPr id="20" name="组合 19"/>
          <p:cNvGrpSpPr/>
          <p:nvPr/>
        </p:nvGrpSpPr>
        <p:grpSpPr>
          <a:xfrm>
            <a:off x="868680" y="2595508"/>
            <a:ext cx="10347960" cy="3262313"/>
            <a:chOff x="1471085" y="2264433"/>
            <a:chExt cx="9531761" cy="3262313"/>
          </a:xfrm>
        </p:grpSpPr>
        <p:sp>
          <p:nvSpPr>
            <p:cNvPr id="21" name="MH_Text_1"/>
            <p:cNvSpPr/>
            <p:nvPr>
              <p:custDataLst>
                <p:tags r:id="rId1"/>
              </p:custDataLst>
            </p:nvPr>
          </p:nvSpPr>
          <p:spPr>
            <a:xfrm>
              <a:off x="1471085" y="2824821"/>
              <a:ext cx="9531761" cy="2701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程序员经过反复测试检查不出问题后，在交付给用户使用之前，应该在用户的参与下进行确认测试。为了使用户能积极主动地参与确认测试，特别是为了让用户能有效地使用系统，通常在软件验收之前由开发部门对用户进行操作培训。</a:t>
              </a:r>
            </a:p>
            <a:p>
              <a:pPr marL="0" indent="0" algn="l" fontAlgn="auto">
                <a:lnSpc>
                  <a:spcPct val="130000"/>
                </a:lnSpc>
              </a:pPr>
              <a:r>
                <a:rPr>
                  <a:latin typeface="微软雅黑" panose="020B0503020204020204" charset="-122"/>
                  <a:ea typeface="微软雅黑" panose="020B0503020204020204" charset="-122"/>
                  <a:sym typeface="+mn-ea"/>
                </a:rPr>
                <a:t>       确认测试常使用黑盒法测试。确认测试时，主要使用实际数据进行系统运行，目的是验证系统能否满足用户的需求。这里常常会发现需求说明书中的一些错误，应当及时改正。确认测试若不能满足用户需要，需在与用户充分协商后，确定解决问题的方案，在修改软件后仍需再次进行确认测试。只有在确认测试通过后才能进入下一阶段工作。</a:t>
              </a:r>
              <a:endParaRPr lang="zh-CN" altLang="en-US" dirty="0" smtClean="0">
                <a:latin typeface="+mn-ea"/>
                <a:cs typeface="宋体" panose="02010600030101010101" pitchFamily="2" charset="-122"/>
              </a:endParaRPr>
            </a:p>
          </p:txBody>
        </p:sp>
        <p:sp>
          <p:nvSpPr>
            <p:cNvPr id="22" name="MH_SubTitle_1"/>
            <p:cNvSpPr/>
            <p:nvPr>
              <p:custDataLst>
                <p:tags r:id="rId2"/>
              </p:custDataLst>
            </p:nvPr>
          </p:nvSpPr>
          <p:spPr>
            <a:xfrm>
              <a:off x="1471085" y="2264433"/>
              <a:ext cx="7047046"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fontScale="95000"/>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1.</a:t>
              </a: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sym typeface="+mn-ea"/>
                </a:rPr>
                <a:t>确认测试必须有用户积极参与，或以用户为主进行</a:t>
              </a:r>
              <a:endPar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Sld>
  <p:clrMapOvr>
    <a:masterClrMapping/>
  </p:clrMapOvr>
  <p:transition>
    <p:wedge/>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4.4.4 </a:t>
            </a:r>
            <a:r>
              <a:rPr lang="zh-CN" altLang="en-US" sz="2400" dirty="0" smtClean="0">
                <a:solidFill>
                  <a:schemeClr val="tx1"/>
                </a:solidFill>
              </a:rPr>
              <a:t>确认测试</a:t>
            </a:r>
          </a:p>
        </p:txBody>
      </p:sp>
      <p:grpSp>
        <p:nvGrpSpPr>
          <p:cNvPr id="20" name="组合 19"/>
          <p:cNvGrpSpPr/>
          <p:nvPr/>
        </p:nvGrpSpPr>
        <p:grpSpPr>
          <a:xfrm>
            <a:off x="955343" y="2609155"/>
            <a:ext cx="10345003" cy="2733040"/>
            <a:chOff x="1471085" y="2264433"/>
            <a:chExt cx="9314646" cy="2733040"/>
          </a:xfrm>
        </p:grpSpPr>
        <p:sp>
          <p:nvSpPr>
            <p:cNvPr id="21" name="MH_Text_1"/>
            <p:cNvSpPr/>
            <p:nvPr>
              <p:custDataLst>
                <p:tags r:id="rId1"/>
              </p:custDataLst>
            </p:nvPr>
          </p:nvSpPr>
          <p:spPr>
            <a:xfrm>
              <a:off x="1477959" y="2825138"/>
              <a:ext cx="9307772" cy="217233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dirty="0">
                  <a:latin typeface="微软雅黑" panose="020B0503020204020204" charset="-122"/>
                  <a:ea typeface="微软雅黑" panose="020B0503020204020204" charset="-122"/>
                  <a:sym typeface="+mn-ea"/>
                </a:rPr>
                <a:t>       确认测试的一个重要内容是复审软件配置。复审的目的是保证软件配置的所有成分都齐全，各方面的质量都符合要求，文档与程序一致，要编排好文档目录，以利于维护。</a:t>
              </a:r>
            </a:p>
            <a:p>
              <a:pPr marL="0" indent="0" algn="l" fontAlgn="auto">
                <a:lnSpc>
                  <a:spcPct val="130000"/>
                </a:lnSpc>
              </a:pPr>
              <a:r>
                <a:rPr dirty="0">
                  <a:latin typeface="微软雅黑" panose="020B0503020204020204" charset="-122"/>
                  <a:ea typeface="微软雅黑" panose="020B0503020204020204" charset="-122"/>
                  <a:sym typeface="+mn-ea"/>
                </a:rPr>
                <a:t>确认测试过程要严格遵循用户手册及其他操作程序，以便仔细检验用户手册的完整性和正确性。一旦发现遗漏或错误必须记录下来，并进行补充或改正。</a:t>
              </a:r>
            </a:p>
          </p:txBody>
        </p:sp>
        <p:sp>
          <p:nvSpPr>
            <p:cNvPr id="22" name="MH_SubTitle_1"/>
            <p:cNvSpPr/>
            <p:nvPr>
              <p:custDataLst>
                <p:tags r:id="rId2"/>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2.</a:t>
              </a: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sym typeface="+mn-ea"/>
                </a:rPr>
                <a:t>软件配置复审</a:t>
              </a:r>
            </a:p>
          </p:txBody>
        </p:sp>
      </p:grpSp>
    </p:spTree>
  </p:cSld>
  <p:clrMapOvr>
    <a:masterClrMapping/>
  </p:clrMapOvr>
  <p:transition>
    <p:wedge/>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4.4.4 </a:t>
            </a:r>
            <a:r>
              <a:rPr lang="zh-CN" altLang="en-US" sz="2400" dirty="0" smtClean="0">
                <a:solidFill>
                  <a:schemeClr val="tx1"/>
                </a:solidFill>
              </a:rPr>
              <a:t>确认测试</a:t>
            </a:r>
          </a:p>
        </p:txBody>
      </p:sp>
      <p:grpSp>
        <p:nvGrpSpPr>
          <p:cNvPr id="20" name="组合 19"/>
          <p:cNvGrpSpPr/>
          <p:nvPr/>
        </p:nvGrpSpPr>
        <p:grpSpPr>
          <a:xfrm>
            <a:off x="1101581" y="2214508"/>
            <a:ext cx="9989185" cy="3810000"/>
            <a:chOff x="1471085" y="2264433"/>
            <a:chExt cx="9989185" cy="3810000"/>
          </a:xfrm>
        </p:grpSpPr>
        <p:sp>
          <p:nvSpPr>
            <p:cNvPr id="21" name="MH_Text_1"/>
            <p:cNvSpPr/>
            <p:nvPr>
              <p:custDataLst>
                <p:tags r:id="rId1"/>
              </p:custDataLst>
            </p:nvPr>
          </p:nvSpPr>
          <p:spPr>
            <a:xfrm>
              <a:off x="1471085" y="2825138"/>
              <a:ext cx="9989185" cy="324929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如果软件是为一个客户开发的，则由用户进行一系列确认测试，以便用户确认所有的需求都得到了满足。</a:t>
              </a:r>
            </a:p>
            <a:p>
              <a:pPr marL="0" indent="0" algn="l" fontAlgn="auto">
                <a:lnSpc>
                  <a:spcPct val="130000"/>
                </a:lnSpc>
              </a:pPr>
              <a:r>
                <a:rPr>
                  <a:latin typeface="微软雅黑" panose="020B0503020204020204" charset="-122"/>
                  <a:ea typeface="微软雅黑" panose="020B0503020204020204" charset="-122"/>
                  <a:sym typeface="+mn-ea"/>
                </a:rPr>
                <a:t>       如果一个软件是为许多客户开发的，要让每一个用户都进行正式的确认测试是不切实际的。大多数软件厂商使用Alpha测试和Beta测试的过程来发现往往只有最终用户才能发现的错误。</a:t>
              </a:r>
            </a:p>
            <a:p>
              <a:pPr marL="0" indent="0" algn="l" fontAlgn="auto">
                <a:lnSpc>
                  <a:spcPct val="130000"/>
                </a:lnSpc>
              </a:pPr>
              <a:r>
                <a:rPr>
                  <a:latin typeface="微软雅黑" panose="020B0503020204020204" charset="-122"/>
                  <a:ea typeface="微软雅黑" panose="020B0503020204020204" charset="-122"/>
                  <a:sym typeface="+mn-ea"/>
                </a:rPr>
                <a:t>      </a:t>
              </a:r>
              <a:r>
                <a:rPr>
                  <a:solidFill>
                    <a:srgbClr val="7030A0"/>
                  </a:solidFill>
                  <a:latin typeface="微软雅黑" panose="020B0503020204020204" charset="-122"/>
                  <a:ea typeface="微软雅黑" panose="020B0503020204020204" charset="-122"/>
                  <a:sym typeface="+mn-ea"/>
                </a:rPr>
                <a:t> Alpha测试由用户在开发者的场地进行，在开发者的指导下进行测试。开发者负责记录运行错误和运行中遇到的问题。</a:t>
              </a:r>
            </a:p>
            <a:p>
              <a:pPr marL="0" indent="0" algn="l" fontAlgn="auto">
                <a:lnSpc>
                  <a:spcPct val="130000"/>
                </a:lnSpc>
              </a:pPr>
              <a:r>
                <a:rPr>
                  <a:latin typeface="微软雅黑" panose="020B0503020204020204" charset="-122"/>
                  <a:ea typeface="微软雅黑" panose="020B0503020204020204" charset="-122"/>
                  <a:sym typeface="+mn-ea"/>
                </a:rPr>
                <a:t>      </a:t>
              </a:r>
              <a:r>
                <a:rPr>
                  <a:solidFill>
                    <a:srgbClr val="0070C0"/>
                  </a:solidFill>
                  <a:latin typeface="微软雅黑" panose="020B0503020204020204" charset="-122"/>
                  <a:ea typeface="微软雅黑" panose="020B0503020204020204" charset="-122"/>
                  <a:sym typeface="+mn-ea"/>
                </a:rPr>
                <a:t> Beta测试由软件的最终用户在客户场所进行。用户记录测试过程遇到的一切问题，并定期报告开发者。开发者对软件进行修改，准备发布最终产品。</a:t>
              </a:r>
              <a:endParaRPr lang="zh-CN" altLang="en-US" dirty="0" smtClean="0">
                <a:latin typeface="+mn-ea"/>
                <a:cs typeface="宋体" panose="02010600030101010101" pitchFamily="2" charset="-122"/>
              </a:endParaRPr>
            </a:p>
          </p:txBody>
        </p:sp>
        <p:sp>
          <p:nvSpPr>
            <p:cNvPr id="22" name="MH_SubTitle_1"/>
            <p:cNvSpPr/>
            <p:nvPr>
              <p:custDataLst>
                <p:tags r:id="rId2"/>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3.</a:t>
              </a: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sym typeface="+mn-ea"/>
                </a:rPr>
                <a:t>Alpha测试和Beta测试</a:t>
              </a:r>
              <a:endPar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Sld>
  <p:clrMapOvr>
    <a:masterClrMapping/>
  </p:clrMapOvr>
  <p:transition>
    <p:wedge/>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dirty="0">
                <a:solidFill>
                  <a:srgbClr val="FF0000"/>
                </a:solidFill>
              </a:rPr>
              <a:t>软件测试步骤</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4.4.5 </a:t>
            </a:r>
            <a:r>
              <a:rPr lang="zh-CN" altLang="en-US" sz="2400" dirty="0" smtClean="0">
                <a:solidFill>
                  <a:schemeClr val="tx1"/>
                </a:solidFill>
              </a:rPr>
              <a:t>平行运行</a:t>
            </a:r>
          </a:p>
        </p:txBody>
      </p:sp>
      <p:grpSp>
        <p:nvGrpSpPr>
          <p:cNvPr id="2" name="组合 1"/>
          <p:cNvGrpSpPr/>
          <p:nvPr/>
        </p:nvGrpSpPr>
        <p:grpSpPr>
          <a:xfrm>
            <a:off x="1053815" y="1912221"/>
            <a:ext cx="10170160" cy="4106862"/>
            <a:chOff x="3814" y="5139"/>
            <a:chExt cx="16016" cy="6467"/>
          </a:xfrm>
        </p:grpSpPr>
        <p:sp>
          <p:nvSpPr>
            <p:cNvPr id="25" name="MH_SubTitle_2"/>
            <p:cNvSpPr/>
            <p:nvPr/>
          </p:nvSpPr>
          <p:spPr>
            <a:xfrm>
              <a:off x="3814" y="6756"/>
              <a:ext cx="7662" cy="1615"/>
            </a:xfrm>
            <a:prstGeom prst="rect">
              <a:avLst/>
            </a:prstGeom>
            <a:solidFill>
              <a:srgbClr val="FFF6D9"/>
            </a:solidFill>
            <a:ln w="25400" cap="flat" cmpd="sng" algn="ctr">
              <a:noFill/>
              <a:prstDash val="solid"/>
            </a:ln>
            <a:effectLst/>
          </p:spPr>
          <p:txBody>
            <a:bodyPr rIns="216000"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fontAlgn="auto">
                <a:lnSpc>
                  <a:spcPct val="130000"/>
                </a:lnSpc>
                <a:buClrTx/>
                <a:buFont typeface="Wingdings" panose="05000000000000000000" charset="0"/>
                <a:buChar char="Ø"/>
              </a:pPr>
              <a:r>
                <a:rPr>
                  <a:solidFill>
                    <a:schemeClr val="accent5">
                      <a:lumMod val="50000"/>
                    </a:schemeClr>
                  </a:solidFill>
                  <a:latin typeface="微软雅黑" panose="020B0503020204020204" charset="-122"/>
                  <a:ea typeface="微软雅黑" panose="020B0503020204020204" charset="-122"/>
                  <a:sym typeface="+mn-ea"/>
                </a:rPr>
                <a:t>让用户熟悉系统运行情况，并验证用户手册的正确性。</a:t>
              </a:r>
              <a:endParaRPr lang="zh-CN" altLang="en-US" dirty="0"/>
            </a:p>
          </p:txBody>
        </p:sp>
        <p:sp>
          <p:nvSpPr>
            <p:cNvPr id="26" name="MH_Other_1"/>
            <p:cNvSpPr/>
            <p:nvPr/>
          </p:nvSpPr>
          <p:spPr>
            <a:xfrm flipH="1">
              <a:off x="11161" y="6756"/>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02</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27" name="MH_SubTitle_1"/>
            <p:cNvSpPr/>
            <p:nvPr/>
          </p:nvSpPr>
          <p:spPr>
            <a:xfrm>
              <a:off x="11369" y="5139"/>
              <a:ext cx="8461" cy="1617"/>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fontAlgn="auto" hangingPunct="1">
                <a:spcBef>
                  <a:spcPts val="0"/>
                </a:spcBef>
                <a:spcAft>
                  <a:spcPts val="0"/>
                </a:spcAft>
                <a:defRPr/>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比较重要的软件要有一段</a:t>
              </a:r>
              <a:r>
                <a:rPr b="1">
                  <a:solidFill>
                    <a:srgbClr val="C00000"/>
                  </a:solidFill>
                  <a:latin typeface="微软雅黑" panose="020B0503020204020204" charset="-122"/>
                  <a:ea typeface="微软雅黑" panose="020B0503020204020204" charset="-122"/>
                  <a:sym typeface="+mn-ea"/>
                </a:rPr>
                <a:t>试运行时间</a:t>
              </a:r>
              <a:r>
                <a:rPr>
                  <a:latin typeface="微软雅黑" panose="020B0503020204020204" charset="-122"/>
                  <a:ea typeface="微软雅黑" panose="020B0503020204020204" charset="-122"/>
                  <a:sym typeface="+mn-ea"/>
                </a:rPr>
                <a:t>。</a:t>
              </a:r>
              <a:r>
                <a:rPr b="1">
                  <a:solidFill>
                    <a:srgbClr val="00B050"/>
                  </a:solidFill>
                  <a:latin typeface="微软雅黑" panose="020B0503020204020204" charset="-122"/>
                  <a:ea typeface="微软雅黑" panose="020B0503020204020204" charset="-122"/>
                  <a:sym typeface="+mn-ea"/>
                </a:rPr>
                <a:t>此时新开发的系统与原先的老系统（或手工操作）同时运行，这称为平行运行</a:t>
              </a:r>
              <a:r>
                <a:rPr>
                  <a:latin typeface="微软雅黑" panose="020B0503020204020204" charset="-122"/>
                  <a:ea typeface="微软雅黑" panose="020B0503020204020204" charset="-122"/>
                  <a:sym typeface="+mn-ea"/>
                </a:rPr>
                <a:t>。</a:t>
              </a:r>
              <a:r>
                <a:rPr lang="zh-CN">
                  <a:latin typeface="微软雅黑" panose="020B0503020204020204" charset="-122"/>
                  <a:ea typeface="微软雅黑" panose="020B0503020204020204" charset="-122"/>
                  <a:sym typeface="+mn-ea"/>
                </a:rPr>
                <a:t>运行的优点如下：</a:t>
              </a:r>
              <a:endParaRPr lang="zh-CN" kern="0" dirty="0">
                <a:solidFill>
                  <a:srgbClr val="383838"/>
                </a:solidFill>
                <a:latin typeface="微软雅黑" panose="020B0503020204020204" charset="-122"/>
                <a:ea typeface="微软雅黑" panose="020B0503020204020204" charset="-122"/>
                <a:sym typeface="+mn-ea"/>
              </a:endParaRPr>
            </a:p>
          </p:txBody>
        </p:sp>
        <p:sp>
          <p:nvSpPr>
            <p:cNvPr id="28" name="MH_Other_2"/>
            <p:cNvSpPr/>
            <p:nvPr/>
          </p:nvSpPr>
          <p:spPr>
            <a:xfrm>
              <a:off x="9669" y="5139"/>
              <a:ext cx="2077" cy="1617"/>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01</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5126" name="MH_SubTitle_4"/>
            <p:cNvSpPr>
              <a:spLocks noChangeArrowheads="1"/>
            </p:cNvSpPr>
            <p:nvPr/>
          </p:nvSpPr>
          <p:spPr bwMode="auto">
            <a:xfrm>
              <a:off x="3815" y="9991"/>
              <a:ext cx="7662" cy="1615"/>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fontAlgn="auto">
                <a:lnSpc>
                  <a:spcPct val="130000"/>
                </a:lnSpc>
                <a:buClrTx/>
                <a:buFont typeface="Wingdings" panose="05000000000000000000" charset="0"/>
                <a:buChar char="Ø"/>
              </a:pPr>
              <a:r>
                <a:rPr>
                  <a:solidFill>
                    <a:schemeClr val="accent5">
                      <a:lumMod val="50000"/>
                    </a:schemeClr>
                  </a:solidFill>
                  <a:latin typeface="微软雅黑" panose="020B0503020204020204" charset="-122"/>
                  <a:ea typeface="微软雅黑" panose="020B0503020204020204" charset="-122"/>
                  <a:sym typeface="+mn-ea"/>
                </a:rPr>
                <a:t>对系统的性能指标进行全面测试，以保证系统的质量。</a:t>
              </a:r>
              <a:endParaRPr lang="zh-CN" altLang="en-US" dirty="0"/>
            </a:p>
          </p:txBody>
        </p:sp>
        <p:sp>
          <p:nvSpPr>
            <p:cNvPr id="36" name="MH_Other_3"/>
            <p:cNvSpPr/>
            <p:nvPr/>
          </p:nvSpPr>
          <p:spPr>
            <a:xfrm flipH="1">
              <a:off x="11161" y="9991"/>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04</a:t>
              </a:r>
              <a:endParaRPr lang="zh-CN" altLang="en-US" sz="3200" kern="0" dirty="0">
                <a:solidFill>
                  <a:srgbClr val="FFFFFF"/>
                </a:solidFill>
                <a:latin typeface="Arial Black" panose="020B0A04020102020204" pitchFamily="34" charset="0"/>
                <a:ea typeface="宋体" panose="02010600030101010101" pitchFamily="2" charset="-122"/>
              </a:endParaRPr>
            </a:p>
          </p:txBody>
        </p:sp>
        <p:sp>
          <p:nvSpPr>
            <p:cNvPr id="5128" name="MH_SubTitle_3"/>
            <p:cNvSpPr>
              <a:spLocks noChangeArrowheads="1"/>
            </p:cNvSpPr>
            <p:nvPr/>
          </p:nvSpPr>
          <p:spPr bwMode="auto">
            <a:xfrm>
              <a:off x="11369" y="8376"/>
              <a:ext cx="8461" cy="1615"/>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gn="l" fontAlgn="auto">
                <a:lnSpc>
                  <a:spcPct val="130000"/>
                </a:lnSpc>
                <a:buClrTx/>
                <a:buFont typeface="Wingdings" panose="05000000000000000000" charset="0"/>
                <a:buChar char="Ø"/>
              </a:pPr>
              <a:r>
                <a:rPr>
                  <a:solidFill>
                    <a:schemeClr val="accent5">
                      <a:lumMod val="50000"/>
                    </a:schemeClr>
                  </a:solidFill>
                  <a:latin typeface="微软雅黑" panose="020B0503020204020204" charset="-122"/>
                  <a:ea typeface="微软雅黑" panose="020B0503020204020204" charset="-122"/>
                  <a:sym typeface="+mn-ea"/>
                </a:rPr>
                <a:t>若发现问题，及时对系统进行修改。</a:t>
              </a:r>
              <a:endParaRPr lang="zh-CN" altLang="en-US" dirty="0"/>
            </a:p>
          </p:txBody>
        </p:sp>
        <p:sp>
          <p:nvSpPr>
            <p:cNvPr id="38" name="MH_Other_4"/>
            <p:cNvSpPr/>
            <p:nvPr/>
          </p:nvSpPr>
          <p:spPr>
            <a:xfrm>
              <a:off x="9669" y="8376"/>
              <a:ext cx="2077"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Arial Black" panose="020B0A04020102020204" pitchFamily="34" charset="0"/>
                  <a:ea typeface="宋体" panose="02010600030101010101" pitchFamily="2" charset="-122"/>
                </a:rPr>
                <a:t>03</a:t>
              </a:r>
              <a:endParaRPr lang="zh-CN" altLang="en-US" sz="3200" kern="0" dirty="0">
                <a:solidFill>
                  <a:srgbClr val="FFFFFF"/>
                </a:solidFill>
                <a:latin typeface="Arial Black" panose="020B0A04020102020204" pitchFamily="34" charset="0"/>
                <a:ea typeface="宋体" panose="02010600030101010101" pitchFamily="2" charset="-122"/>
              </a:endParaRPr>
            </a:p>
          </p:txBody>
        </p:sp>
      </p:grpSp>
    </p:spTree>
  </p:cSld>
  <p:clrMapOvr>
    <a:masterClrMapping/>
  </p:clrMapOvr>
  <p:transition>
    <p:wedge/>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a:solidFill>
                  <a:srgbClr val="FF0000"/>
                </a:solidFill>
              </a:rPr>
              <a:t>4.4 </a:t>
            </a:r>
            <a:r>
              <a:rPr lang="zh-CN" altLang="en-US">
                <a:solidFill>
                  <a:srgbClr val="FF0000"/>
                </a:solidFill>
              </a:rPr>
              <a:t>软件测试步骤</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测试步骤总结</a:t>
            </a:r>
          </a:p>
        </p:txBody>
      </p:sp>
      <p:sp>
        <p:nvSpPr>
          <p:cNvPr id="100" name="文本框 99"/>
          <p:cNvSpPr txBox="1"/>
          <p:nvPr/>
        </p:nvSpPr>
        <p:spPr>
          <a:xfrm>
            <a:off x="1746885" y="2054225"/>
            <a:ext cx="9598660" cy="3693319"/>
          </a:xfrm>
          <a:prstGeom prst="rect">
            <a:avLst/>
          </a:prstGeom>
          <a:noFill/>
          <a:ln w="9525">
            <a:noFill/>
          </a:ln>
        </p:spPr>
        <p:txBody>
          <a:bodyPr wrap="square">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G．M．Weinberg在《计算机程序设计心理学》（The Psychology of Computer Programming）一书中提出了读程序的必要性，20世纪70年代后，人们不仅在机器上测试程序，而且进行人工测试，即用程序审查会和人工运行的方法查找错误。实践证明，这两种基本的人工测试方法相当有效。对逻辑设计和编码，上述方法能有效地发现30%～70%的错误，有的程序审查会能查出程序中80%的错误</a:t>
            </a:r>
            <a:r>
              <a:rPr dirty="0" smtClean="0">
                <a:latin typeface="微软雅黑" panose="020B0503020204020204" charset="-122"/>
                <a:ea typeface="微软雅黑" panose="020B0503020204020204" charset="-122"/>
                <a:sym typeface="+mn-ea"/>
              </a:rPr>
              <a:t>。</a:t>
            </a:r>
            <a:endParaRPr lang="en-US" dirty="0" smtClean="0">
              <a:latin typeface="微软雅黑" panose="020B0503020204020204" charset="-122"/>
              <a:ea typeface="微软雅黑" panose="020B0503020204020204" charset="-122"/>
              <a:sym typeface="+mn-ea"/>
            </a:endParaRPr>
          </a:p>
          <a:p>
            <a:pPr marL="0" indent="0" algn="l" fontAlgn="auto">
              <a:lnSpc>
                <a:spcPct val="130000"/>
              </a:lnSpc>
            </a:pPr>
            <a:endParaRPr dirty="0">
              <a:latin typeface="微软雅黑" panose="020B0503020204020204" charset="-122"/>
              <a:ea typeface="微软雅黑" panose="020B0503020204020204" charset="-122"/>
              <a:sym typeface="+mn-ea"/>
            </a:endParaRPr>
          </a:p>
          <a:p>
            <a:pPr marL="0" indent="0" algn="l" fontAlgn="auto">
              <a:lnSpc>
                <a:spcPct val="130000"/>
              </a:lnSpc>
            </a:pPr>
            <a:r>
              <a:rPr dirty="0">
                <a:latin typeface="微软雅黑" panose="020B0503020204020204" charset="-122"/>
                <a:ea typeface="微软雅黑" panose="020B0503020204020204" charset="-122"/>
                <a:sym typeface="+mn-ea"/>
              </a:rPr>
              <a:t>       以上介绍的测试步骤，可根据系统的规模大小、复杂程度来适当选用。</a:t>
            </a:r>
            <a:r>
              <a:rPr b="1" dirty="0">
                <a:solidFill>
                  <a:schemeClr val="accent2">
                    <a:lumMod val="50000"/>
                  </a:schemeClr>
                </a:solidFill>
                <a:latin typeface="微软雅黑" panose="020B0503020204020204" charset="-122"/>
                <a:ea typeface="微软雅黑" panose="020B0503020204020204" charset="-122"/>
                <a:sym typeface="+mn-ea"/>
              </a:rPr>
              <a:t>一般先进行模块测试再进行集成测试。对规模较小的系统，子系统测试可与系统测试合并；人工运行可在模块测试及系统测试过程中进行。</a:t>
            </a:r>
            <a:r>
              <a:rPr dirty="0">
                <a:latin typeface="微软雅黑" panose="020B0503020204020204" charset="-122"/>
                <a:ea typeface="微软雅黑" panose="020B0503020204020204" charset="-122"/>
                <a:sym typeface="+mn-ea"/>
              </a:rPr>
              <a:t>对于任何系统，验收测试都是必不可少的。对于较大的系统，应召开程序审查会；对于重要的软件系统，应采用平行运行，以免因软件的错误造成不良后果。</a:t>
            </a:r>
          </a:p>
        </p:txBody>
      </p:sp>
      <p:sp>
        <p:nvSpPr>
          <p:cNvPr id="7" name="文本框 6"/>
          <p:cNvSpPr txBox="1"/>
          <p:nvPr/>
        </p:nvSpPr>
        <p:spPr>
          <a:xfrm>
            <a:off x="754380" y="2931160"/>
            <a:ext cx="476250" cy="208280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软件测试步骤总结</a:t>
            </a:r>
          </a:p>
        </p:txBody>
      </p:sp>
    </p:spTree>
  </p:cSld>
  <p:clrMapOvr>
    <a:masterClrMapping/>
  </p:clrMapOvr>
  <p:transition>
    <p:wedge/>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5</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设计软件测试方案</a:t>
            </a:r>
          </a:p>
        </p:txBody>
      </p:sp>
      <p:grpSp>
        <p:nvGrpSpPr>
          <p:cNvPr id="11" name="组合 10"/>
          <p:cNvGrpSpPr/>
          <p:nvPr/>
        </p:nvGrpSpPr>
        <p:grpSpPr>
          <a:xfrm>
            <a:off x="5502910" y="4224020"/>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等价类划分法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边界值分析法</a:t>
              </a:r>
            </a:p>
          </p:txBody>
        </p:sp>
      </p:grpSp>
      <p:grpSp>
        <p:nvGrpSpPr>
          <p:cNvPr id="3" name="组合 2"/>
          <p:cNvGrpSpPr/>
          <p:nvPr/>
        </p:nvGrpSpPr>
        <p:grpSpPr>
          <a:xfrm>
            <a:off x="5502910" y="5229860"/>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错误推测法</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逻辑覆盖法</a:t>
              </a:r>
            </a:p>
          </p:txBody>
        </p:sp>
      </p:grpSp>
      <p:grpSp>
        <p:nvGrpSpPr>
          <p:cNvPr id="7" name="组合 6"/>
          <p:cNvGrpSpPr/>
          <p:nvPr/>
        </p:nvGrpSpPr>
        <p:grpSpPr>
          <a:xfrm>
            <a:off x="7882255" y="4224020"/>
            <a:ext cx="3712845" cy="913130"/>
            <a:chOff x="9459" y="7137"/>
            <a:chExt cx="5847" cy="1438"/>
          </a:xfrm>
        </p:grpSpPr>
        <p:sp>
          <p:nvSpPr>
            <p:cNvPr id="8" name="文本框 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程序环形复杂程度的度量</a:t>
              </a:r>
            </a:p>
          </p:txBody>
        </p:sp>
        <p:sp>
          <p:nvSpPr>
            <p:cNvPr id="9" name="文本框 8"/>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因果图法</a:t>
              </a:r>
            </a:p>
          </p:txBody>
        </p:sp>
      </p:grpSp>
      <p:sp>
        <p:nvSpPr>
          <p:cNvPr id="13" name="文本框 12"/>
          <p:cNvSpPr txBox="1"/>
          <p:nvPr/>
        </p:nvSpPr>
        <p:spPr>
          <a:xfrm>
            <a:off x="7882255" y="5229860"/>
            <a:ext cx="418782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用基本路径覆盖法设计测试用例</a:t>
            </a:r>
          </a:p>
        </p:txBody>
      </p:sp>
    </p:spTree>
  </p:cSld>
  <p:clrMapOvr>
    <a:masterClrMapping/>
  </p:clrMapOvr>
  <p:transition spd="slow">
    <p:wipe/>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a:solidFill>
                  <a:srgbClr val="FF0000"/>
                </a:solidFill>
              </a:rPr>
              <a:t>4.5 </a:t>
            </a:r>
            <a:r>
              <a:rPr lang="zh-CN" altLang="en-US" dirty="0">
                <a:solidFill>
                  <a:srgbClr val="FF0000"/>
                </a:solidFill>
              </a:rPr>
              <a:t>设计软件测试方案</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软件测试方案</a:t>
            </a:r>
          </a:p>
        </p:txBody>
      </p:sp>
      <p:sp>
        <p:nvSpPr>
          <p:cNvPr id="100" name="文本框 99"/>
          <p:cNvSpPr txBox="1"/>
          <p:nvPr/>
        </p:nvSpPr>
        <p:spPr>
          <a:xfrm>
            <a:off x="1473200" y="1886585"/>
            <a:ext cx="5386705" cy="3617595"/>
          </a:xfrm>
          <a:prstGeom prst="rect">
            <a:avLst/>
          </a:prstGeom>
          <a:noFill/>
          <a:ln w="9525">
            <a:noFill/>
          </a:ln>
        </p:spPr>
        <p:txBody>
          <a:bodyPr wrap="square">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lang="en-US" sz="2000" dirty="0">
                <a:latin typeface="微软雅黑" panose="020B0503020204020204" charset="-122"/>
                <a:ea typeface="微软雅黑" panose="020B0503020204020204" charset="-122"/>
                <a:sym typeface="+mn-ea"/>
              </a:rPr>
              <a:t> </a:t>
            </a:r>
            <a:r>
              <a:rPr sz="2000">
                <a:latin typeface="微软雅黑" panose="020B0503020204020204" charset="-122"/>
                <a:ea typeface="微软雅黑" panose="020B0503020204020204" charset="-122"/>
                <a:sym typeface="+mn-ea"/>
              </a:rPr>
              <a:t>软件测试阶段最关键的技术问题是设计测试方案。测试方案包括3方面的内容：</a:t>
            </a:r>
            <a:r>
              <a:rPr sz="2000">
                <a:solidFill>
                  <a:srgbClr val="C00000"/>
                </a:solidFill>
                <a:latin typeface="微软雅黑" panose="020B0503020204020204" charset="-122"/>
                <a:ea typeface="微软雅黑" panose="020B0503020204020204" charset="-122"/>
                <a:sym typeface="+mn-ea"/>
              </a:rPr>
              <a:t>要测试的功能</a:t>
            </a:r>
            <a:r>
              <a:rPr sz="2000">
                <a:latin typeface="微软雅黑" panose="020B0503020204020204" charset="-122"/>
                <a:ea typeface="微软雅黑" panose="020B0503020204020204" charset="-122"/>
                <a:sym typeface="+mn-ea"/>
              </a:rPr>
              <a:t>、</a:t>
            </a:r>
            <a:r>
              <a:rPr sz="2000">
                <a:solidFill>
                  <a:srgbClr val="C00000"/>
                </a:solidFill>
                <a:latin typeface="微软雅黑" panose="020B0503020204020204" charset="-122"/>
                <a:ea typeface="微软雅黑" panose="020B0503020204020204" charset="-122"/>
                <a:sym typeface="+mn-ea"/>
              </a:rPr>
              <a:t>准备输入的数据</a:t>
            </a:r>
            <a:r>
              <a:rPr sz="2000">
                <a:latin typeface="微软雅黑" panose="020B0503020204020204" charset="-122"/>
                <a:ea typeface="微软雅黑" panose="020B0503020204020204" charset="-122"/>
                <a:sym typeface="+mn-ea"/>
              </a:rPr>
              <a:t>及其</a:t>
            </a:r>
            <a:r>
              <a:rPr sz="2000">
                <a:solidFill>
                  <a:srgbClr val="C00000"/>
                </a:solidFill>
                <a:latin typeface="微软雅黑" panose="020B0503020204020204" charset="-122"/>
                <a:ea typeface="微软雅黑" panose="020B0503020204020204" charset="-122"/>
                <a:sym typeface="+mn-ea"/>
              </a:rPr>
              <a:t>对应的预期输出结果</a:t>
            </a:r>
            <a:r>
              <a:rPr sz="2000">
                <a:latin typeface="微软雅黑" panose="020B0503020204020204" charset="-122"/>
                <a:ea typeface="微软雅黑" panose="020B0503020204020204" charset="-122"/>
                <a:sym typeface="+mn-ea"/>
              </a:rPr>
              <a:t>。</a:t>
            </a:r>
          </a:p>
          <a:p>
            <a:pPr marL="0" indent="0" algn="l" fontAlgn="auto">
              <a:lnSpc>
                <a:spcPct val="130000"/>
              </a:lnSpc>
            </a:pPr>
            <a:r>
              <a:rPr sz="2000">
                <a:latin typeface="微软雅黑" panose="020B0503020204020204" charset="-122"/>
                <a:ea typeface="微软雅黑" panose="020B0503020204020204" charset="-122"/>
                <a:sym typeface="+mn-ea"/>
              </a:rPr>
              <a:t>       不同的测试数据在发现程序错误上所起的作用差别很大。由于不可能进行穷尽测试，因而要选用少量高效的测试数据，尽可能完善地进行测试。</a:t>
            </a:r>
          </a:p>
          <a:p>
            <a:pPr marL="0" indent="0" algn="l" fontAlgn="auto">
              <a:lnSpc>
                <a:spcPct val="130000"/>
              </a:lnSpc>
            </a:pPr>
            <a:r>
              <a:rPr>
                <a:latin typeface="微软雅黑" panose="020B0503020204020204" charset="-122"/>
                <a:ea typeface="微软雅黑" panose="020B0503020204020204" charset="-122"/>
                <a:sym typeface="+mn-ea"/>
              </a:rPr>
              <a:t>       </a:t>
            </a:r>
          </a:p>
        </p:txBody>
      </p:sp>
      <p:sp>
        <p:nvSpPr>
          <p:cNvPr id="7" name="文本框 6"/>
          <p:cNvSpPr txBox="1"/>
          <p:nvPr/>
        </p:nvSpPr>
        <p:spPr>
          <a:xfrm>
            <a:off x="754380" y="2931160"/>
            <a:ext cx="476250" cy="208280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设计软件测试方案</a:t>
            </a:r>
          </a:p>
        </p:txBody>
      </p:sp>
      <p:pic>
        <p:nvPicPr>
          <p:cNvPr id="109570" name="图片 1" descr="指挥.jpg"/>
          <p:cNvPicPr>
            <a:picLocks noGrp="1" noChangeAspect="1"/>
          </p:cNvPicPr>
          <p:nvPr/>
        </p:nvPicPr>
        <p:blipFill>
          <a:blip r:embed="rId3" cstate="print"/>
          <a:stretch>
            <a:fillRect/>
          </a:stretch>
        </p:blipFill>
        <p:spPr>
          <a:xfrm>
            <a:off x="6859270" y="2057400"/>
            <a:ext cx="4730750" cy="2956560"/>
          </a:xfrm>
          <a:prstGeom prst="rect">
            <a:avLst/>
          </a:prstGeom>
          <a:noFill/>
          <a:ln w="9525">
            <a:noFill/>
          </a:ln>
        </p:spPr>
      </p:pic>
      <p:sp>
        <p:nvSpPr>
          <p:cNvPr id="4" name="文本框 3"/>
          <p:cNvSpPr txBox="1"/>
          <p:nvPr/>
        </p:nvSpPr>
        <p:spPr>
          <a:xfrm>
            <a:off x="1473200" y="5036185"/>
            <a:ext cx="10253345" cy="1158240"/>
          </a:xfrm>
          <a:prstGeom prst="rect">
            <a:avLst/>
          </a:prstGeom>
          <a:noFill/>
        </p:spPr>
        <p:txBody>
          <a:bodyPr wrap="square" rtlCol="0">
            <a:spAutoFit/>
          </a:bodyPr>
          <a:lstStyle/>
          <a:p>
            <a:pPr fontAlgn="auto">
              <a:lnSpc>
                <a:spcPct val="130000"/>
              </a:lnSpc>
            </a:pPr>
            <a:r>
              <a:rPr lang="en-US" sz="2000">
                <a:latin typeface="微软雅黑" panose="020B0503020204020204" charset="-122"/>
                <a:ea typeface="微软雅黑" panose="020B0503020204020204" charset="-122"/>
                <a:sym typeface="+mn-ea"/>
              </a:rPr>
              <a:t>       </a:t>
            </a:r>
            <a:r>
              <a:rPr sz="2000">
                <a:latin typeface="微软雅黑" panose="020B0503020204020204" charset="-122"/>
                <a:ea typeface="微软雅黑" panose="020B0503020204020204" charset="-122"/>
                <a:sym typeface="+mn-ea"/>
              </a:rPr>
              <a:t>本节介绍适用于</a:t>
            </a:r>
            <a:r>
              <a:rPr sz="2000">
                <a:solidFill>
                  <a:srgbClr val="C00000"/>
                </a:solidFill>
                <a:latin typeface="微软雅黑" panose="020B0503020204020204" charset="-122"/>
                <a:ea typeface="微软雅黑" panose="020B0503020204020204" charset="-122"/>
                <a:sym typeface="+mn-ea"/>
              </a:rPr>
              <a:t>黑盒法测试</a:t>
            </a:r>
            <a:r>
              <a:rPr sz="2000">
                <a:latin typeface="微软雅黑" panose="020B0503020204020204" charset="-122"/>
                <a:ea typeface="微软雅黑" panose="020B0503020204020204" charset="-122"/>
                <a:sym typeface="+mn-ea"/>
              </a:rPr>
              <a:t>的</a:t>
            </a:r>
            <a:r>
              <a:rPr sz="2000">
                <a:solidFill>
                  <a:schemeClr val="accent6">
                    <a:lumMod val="50000"/>
                  </a:schemeClr>
                </a:solidFill>
                <a:latin typeface="微软雅黑" panose="020B0503020204020204" charset="-122"/>
                <a:ea typeface="微软雅黑" panose="020B0503020204020204" charset="-122"/>
                <a:sym typeface="+mn-ea"/>
              </a:rPr>
              <a:t>等价类划分法</a:t>
            </a:r>
            <a:r>
              <a:rPr sz="2000">
                <a:latin typeface="微软雅黑" panose="020B0503020204020204" charset="-122"/>
                <a:ea typeface="微软雅黑" panose="020B0503020204020204" charset="-122"/>
                <a:sym typeface="+mn-ea"/>
              </a:rPr>
              <a:t>、</a:t>
            </a:r>
            <a:r>
              <a:rPr sz="2000">
                <a:solidFill>
                  <a:schemeClr val="accent6">
                    <a:lumMod val="50000"/>
                  </a:schemeClr>
                </a:solidFill>
                <a:latin typeface="微软雅黑" panose="020B0503020204020204" charset="-122"/>
                <a:ea typeface="微软雅黑" panose="020B0503020204020204" charset="-122"/>
                <a:sym typeface="+mn-ea"/>
              </a:rPr>
              <a:t>边界值分析法</a:t>
            </a:r>
            <a:r>
              <a:rPr sz="2000">
                <a:latin typeface="微软雅黑" panose="020B0503020204020204" charset="-122"/>
                <a:ea typeface="微软雅黑" panose="020B0503020204020204" charset="-122"/>
                <a:sym typeface="+mn-ea"/>
              </a:rPr>
              <a:t>、</a:t>
            </a:r>
            <a:r>
              <a:rPr sz="2000">
                <a:solidFill>
                  <a:schemeClr val="accent6">
                    <a:lumMod val="50000"/>
                  </a:schemeClr>
                </a:solidFill>
                <a:latin typeface="微软雅黑" panose="020B0503020204020204" charset="-122"/>
                <a:ea typeface="微软雅黑" panose="020B0503020204020204" charset="-122"/>
                <a:sym typeface="+mn-ea"/>
              </a:rPr>
              <a:t>错误推测法</a:t>
            </a:r>
            <a:r>
              <a:rPr sz="2000">
                <a:latin typeface="微软雅黑" panose="020B0503020204020204" charset="-122"/>
                <a:ea typeface="微软雅黑" panose="020B0503020204020204" charset="-122"/>
                <a:sym typeface="+mn-ea"/>
              </a:rPr>
              <a:t>及适用于</a:t>
            </a:r>
            <a:r>
              <a:rPr sz="2000">
                <a:solidFill>
                  <a:srgbClr val="C00000"/>
                </a:solidFill>
                <a:latin typeface="微软雅黑" panose="020B0503020204020204" charset="-122"/>
                <a:ea typeface="微软雅黑" panose="020B0503020204020204" charset="-122"/>
                <a:sym typeface="+mn-ea"/>
              </a:rPr>
              <a:t>白盒法测试</a:t>
            </a:r>
            <a:r>
              <a:rPr sz="2000">
                <a:latin typeface="微软雅黑" panose="020B0503020204020204" charset="-122"/>
                <a:ea typeface="微软雅黑" panose="020B0503020204020204" charset="-122"/>
                <a:sym typeface="+mn-ea"/>
              </a:rPr>
              <a:t>的</a:t>
            </a:r>
            <a:r>
              <a:rPr sz="2000">
                <a:solidFill>
                  <a:schemeClr val="accent6">
                    <a:lumMod val="50000"/>
                  </a:schemeClr>
                </a:solidFill>
                <a:latin typeface="微软雅黑" panose="020B0503020204020204" charset="-122"/>
                <a:ea typeface="微软雅黑" panose="020B0503020204020204" charset="-122"/>
                <a:sym typeface="+mn-ea"/>
              </a:rPr>
              <a:t>逻辑覆盖法</a:t>
            </a:r>
            <a:r>
              <a:rPr sz="2000">
                <a:latin typeface="微软雅黑" panose="020B0503020204020204" charset="-122"/>
                <a:ea typeface="微软雅黑" panose="020B0503020204020204" charset="-122"/>
                <a:sym typeface="+mn-ea"/>
              </a:rPr>
              <a:t>、</a:t>
            </a:r>
            <a:r>
              <a:rPr sz="2000">
                <a:solidFill>
                  <a:schemeClr val="accent6">
                    <a:lumMod val="50000"/>
                  </a:schemeClr>
                </a:solidFill>
                <a:latin typeface="微软雅黑" panose="020B0503020204020204" charset="-122"/>
                <a:ea typeface="微软雅黑" panose="020B0503020204020204" charset="-122"/>
                <a:sym typeface="+mn-ea"/>
              </a:rPr>
              <a:t>因果图法</a:t>
            </a:r>
            <a:r>
              <a:rPr sz="2000">
                <a:latin typeface="微软雅黑" panose="020B0503020204020204" charset="-122"/>
                <a:ea typeface="微软雅黑" panose="020B0503020204020204" charset="-122"/>
                <a:sym typeface="+mn-ea"/>
              </a:rPr>
              <a:t>。通常先用黑盒法设计基本测试方案，再用白盒法补充。</a:t>
            </a:r>
          </a:p>
          <a:p>
            <a:endParaRPr lang="zh-CN" altLang="en-US"/>
          </a:p>
        </p:txBody>
      </p:sp>
    </p:spTree>
  </p:cSld>
  <p:clrMapOvr>
    <a:masterClrMapping/>
  </p:clrMapOvr>
  <p:transition>
    <p:pull dir="rd"/>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972675" cy="5443220"/>
          </a:xfrm>
          <a:prstGeom prst="rect">
            <a:avLst/>
          </a:prstGeom>
          <a:noFill/>
          <a:ln w="9525">
            <a:noFill/>
          </a:ln>
        </p:spPr>
      </p:pic>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4.5.1 </a:t>
            </a:r>
            <a:r>
              <a:rPr lang="zh-CN" altLang="en-US" sz="2400" dirty="0" smtClean="0">
                <a:solidFill>
                  <a:schemeClr val="tx1"/>
                </a:solidFill>
              </a:rPr>
              <a:t>等价类划分法</a:t>
            </a:r>
          </a:p>
        </p:txBody>
      </p:sp>
      <p:sp>
        <p:nvSpPr>
          <p:cNvPr id="35" name="文本框 34"/>
          <p:cNvSpPr txBox="1"/>
          <p:nvPr/>
        </p:nvSpPr>
        <p:spPr>
          <a:xfrm>
            <a:off x="2366645" y="2727960"/>
            <a:ext cx="5983605" cy="2651760"/>
          </a:xfrm>
          <a:prstGeom prst="rect">
            <a:avLst/>
          </a:prstGeom>
          <a:noFill/>
        </p:spPr>
        <p:txBody>
          <a:bodyPr wrap="square" rtlCol="0" anchor="t">
            <a:spAutoFit/>
          </a:bodyPr>
          <a:lstStyle/>
          <a:p>
            <a:r>
              <a:rPr lang="en-US" altLang="zh-CN" sz="2400" b="1" dirty="0">
                <a:solidFill>
                  <a:srgbClr val="00B050"/>
                </a:solidFill>
              </a:rPr>
              <a:t>      </a:t>
            </a:r>
            <a:r>
              <a:rPr lang="zh-CN" altLang="en-US" sz="2400" b="1">
                <a:solidFill>
                  <a:srgbClr val="00B050"/>
                </a:solidFill>
              </a:rPr>
              <a:t>等价类划分法</a:t>
            </a:r>
            <a:r>
              <a:rPr lang="zh-CN" altLang="en-US" sz="2400"/>
              <a:t>（Equivalence Partitioning）是用黑盒法设计测试方案的一种。它把所有可能的输入数据划分成若干等价类，每类中的一个典型值在测试中的作用与这一类中所有其他值的作用相同，因此在每个等价类中只用一组数据作为代表进行测试来发现程序中的错误。</a:t>
            </a:r>
          </a:p>
        </p:txBody>
      </p:sp>
    </p:spTree>
  </p:cSld>
  <p:clrMapOvr>
    <a:masterClrMapping/>
  </p:clrMapOvr>
  <p:transition>
    <p:pull dir="rd"/>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4.5.1 </a:t>
            </a:r>
            <a:r>
              <a:rPr lang="zh-CN" altLang="en-US" sz="2400" dirty="0" smtClean="0">
                <a:solidFill>
                  <a:schemeClr val="tx1"/>
                </a:solidFill>
              </a:rPr>
              <a:t>等价类划分法</a:t>
            </a:r>
          </a:p>
        </p:txBody>
      </p:sp>
      <p:grpSp>
        <p:nvGrpSpPr>
          <p:cNvPr id="21" name="组合 20"/>
          <p:cNvGrpSpPr/>
          <p:nvPr/>
        </p:nvGrpSpPr>
        <p:grpSpPr>
          <a:xfrm>
            <a:off x="754380" y="3062693"/>
            <a:ext cx="4786630" cy="923925"/>
            <a:chOff x="2060" y="3526"/>
            <a:chExt cx="753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4045"/>
              <a:ext cx="5188" cy="571"/>
            </a:xfrm>
            <a:prstGeom prst="rect">
              <a:avLst/>
            </a:prstGeom>
          </p:spPr>
          <p:txBody>
            <a:bodyPr lIns="0" tIns="0" rIns="0" bIns="0" anchor="ctr">
              <a:noAutofit/>
            </a:bodyPr>
            <a:lstStyle/>
            <a:p>
              <a:pPr>
                <a:lnSpc>
                  <a:spcPct val="14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如果输入数据有规定的范围，则范围内的数据为一个有效等价类，小于最小值或大于最大值分别为两个无效等价类。</a:t>
              </a:r>
            </a:p>
          </p:txBody>
        </p:sp>
      </p:grpSp>
      <p:grpSp>
        <p:nvGrpSpPr>
          <p:cNvPr id="22" name="组合 21"/>
          <p:cNvGrpSpPr/>
          <p:nvPr/>
        </p:nvGrpSpPr>
        <p:grpSpPr>
          <a:xfrm>
            <a:off x="6207760" y="3062693"/>
            <a:ext cx="5053965" cy="923925"/>
            <a:chOff x="7327" y="7570"/>
            <a:chExt cx="7959" cy="1455"/>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3"/>
            <p:cNvSpPr/>
            <p:nvPr>
              <p:custDataLst>
                <p:tags r:id="rId15"/>
              </p:custDataLst>
            </p:nvPr>
          </p:nvSpPr>
          <p:spPr>
            <a:xfrm>
              <a:off x="9768" y="7735"/>
              <a:ext cx="5518" cy="128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如果输入数据有一个规定的集合，而且程序对不同的输入数据有不同的处理，则集合中的元素是一个有效等价类，集合外的元素是一个无效等价类。</a:t>
              </a:r>
            </a:p>
          </p:txBody>
        </p:sp>
      </p:grpSp>
      <p:grpSp>
        <p:nvGrpSpPr>
          <p:cNvPr id="20" name="组合 19"/>
          <p:cNvGrpSpPr/>
          <p:nvPr/>
        </p:nvGrpSpPr>
        <p:grpSpPr>
          <a:xfrm>
            <a:off x="754380" y="4887773"/>
            <a:ext cx="4785995" cy="923925"/>
            <a:chOff x="4720" y="5568"/>
            <a:chExt cx="7537" cy="1455"/>
          </a:xfrm>
        </p:grpSpPr>
        <p:sp>
          <p:nvSpPr>
            <p:cNvPr id="23"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0"/>
              </p:custDataLst>
            </p:nvPr>
          </p:nvSpPr>
          <p:spPr>
            <a:xfrm>
              <a:off x="7070" y="5733"/>
              <a:ext cx="5187" cy="1280"/>
            </a:xfrm>
            <a:prstGeom prst="rect">
              <a:avLst/>
            </a:prstGeom>
          </p:spPr>
          <p:txBody>
            <a:bodyPr lIns="0" tIns="0" rIns="0" bIns="0" anchor="ctr">
              <a:noAutofit/>
            </a:bodyPr>
            <a:lstStyle/>
            <a:p>
              <a:pPr lvl="0" algn="just">
                <a:lnSpc>
                  <a:spcPct val="120000"/>
                </a:lnSpc>
                <a:spcBef>
                  <a:spcPct val="0"/>
                </a:spcBef>
              </a:pPr>
              <a:r>
                <a:rPr lang="zh-CN" altLang="en-US" sz="1600" dirty="0" smtClean="0">
                  <a:solidFill>
                    <a:srgbClr val="000000"/>
                  </a:solidFill>
                  <a:latin typeface="微软雅黑" panose="020B0503020204020204" charset="-122"/>
                  <a:ea typeface="微软雅黑" panose="020B0503020204020204" charset="-122"/>
                  <a:sym typeface="+mn-ea"/>
                </a:rPr>
                <a:t>       如果输入数据有规定的个数，则符合规定个数是一个有效等价类，不输入数据或输入超出规定个数是两个无效等价类。</a:t>
              </a:r>
            </a:p>
          </p:txBody>
        </p:sp>
      </p:grpSp>
      <p:grpSp>
        <p:nvGrpSpPr>
          <p:cNvPr id="28" name="组合 27"/>
          <p:cNvGrpSpPr/>
          <p:nvPr/>
        </p:nvGrpSpPr>
        <p:grpSpPr>
          <a:xfrm>
            <a:off x="6207760" y="4887773"/>
            <a:ext cx="5053965" cy="923925"/>
            <a:chOff x="7327" y="7570"/>
            <a:chExt cx="7959" cy="1455"/>
          </a:xfrm>
        </p:grpSpPr>
        <p:sp>
          <p:nvSpPr>
            <p:cNvPr id="30"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31"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SubTitle_3"/>
            <p:cNvSpPr/>
            <p:nvPr>
              <p:custDataLst>
                <p:tags r:id="rId5"/>
              </p:custDataLst>
            </p:nvPr>
          </p:nvSpPr>
          <p:spPr>
            <a:xfrm>
              <a:off x="9768" y="7745"/>
              <a:ext cx="5518" cy="128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sz="1600" dirty="0" smtClean="0">
                  <a:solidFill>
                    <a:srgbClr val="000000"/>
                  </a:solidFill>
                  <a:latin typeface="微软雅黑" panose="020B0503020204020204" charset="-122"/>
                  <a:ea typeface="微软雅黑" panose="020B0503020204020204" charset="-122"/>
                  <a:sym typeface="+mn-ea"/>
                </a:rPr>
                <a:t>如果输入数据有一定的规则，则符合规则的数据组成一个有效等价类，各种不符合规则的数据组成不同的无效等价类。</a:t>
              </a:r>
            </a:p>
          </p:txBody>
        </p:sp>
      </p:grpSp>
      <p:grpSp>
        <p:nvGrpSpPr>
          <p:cNvPr id="13" name="组合 12"/>
          <p:cNvGrpSpPr/>
          <p:nvPr/>
        </p:nvGrpSpPr>
        <p:grpSpPr>
          <a:xfrm>
            <a:off x="6373807" y="1182522"/>
            <a:ext cx="5410835" cy="1112520"/>
            <a:chOff x="1188" y="3071"/>
            <a:chExt cx="8521" cy="1752"/>
          </a:xfrm>
        </p:grpSpPr>
        <p:sp>
          <p:nvSpPr>
            <p:cNvPr id="167" name="圆角矩形"/>
            <p:cNvSpPr/>
            <p:nvPr/>
          </p:nvSpPr>
          <p:spPr>
            <a:xfrm>
              <a:off x="1188" y="3479"/>
              <a:ext cx="8376" cy="134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14" name="学士帽"/>
            <p:cNvSpPr/>
            <p:nvPr/>
          </p:nvSpPr>
          <p:spPr bwMode="auto">
            <a:xfrm>
              <a:off x="1188" y="3071"/>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188" y="3647"/>
              <a:ext cx="8521"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如果一个等价类中的数据是有效的，则称这个等价类是有效等价类；反之，就是无效等价类。</a:t>
              </a:r>
            </a:p>
          </p:txBody>
        </p:sp>
      </p:grpSp>
      <p:sp>
        <p:nvSpPr>
          <p:cNvPr id="39" name="矩形 7"/>
          <p:cNvSpPr>
            <a:spLocks noChangeArrowheads="1"/>
          </p:cNvSpPr>
          <p:nvPr/>
        </p:nvSpPr>
        <p:spPr bwMode="auto">
          <a:xfrm>
            <a:off x="702497" y="2186304"/>
            <a:ext cx="5343451"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等价类划分的规则：</a:t>
            </a:r>
          </a:p>
          <a:p>
            <a:endParaRPr lang="zh-CN" altLang="en-US" b="1" dirty="0" smtClean="0">
              <a:solidFill>
                <a:srgbClr val="E67819"/>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4.5.1 </a:t>
            </a:r>
            <a:r>
              <a:rPr lang="zh-CN" altLang="en-US" sz="2400" dirty="0" smtClean="0">
                <a:solidFill>
                  <a:schemeClr val="tx1"/>
                </a:solidFill>
              </a:rPr>
              <a:t>等价类划分法</a:t>
            </a:r>
          </a:p>
        </p:txBody>
      </p:sp>
      <p:pic>
        <p:nvPicPr>
          <p:cNvPr id="13" name="图片 12"/>
          <p:cNvPicPr>
            <a:picLocks noChangeAspect="1"/>
          </p:cNvPicPr>
          <p:nvPr/>
        </p:nvPicPr>
        <p:blipFill>
          <a:blip r:embed="rId3" cstate="print"/>
          <a:stretch>
            <a:fillRect/>
          </a:stretch>
        </p:blipFill>
        <p:spPr>
          <a:xfrm>
            <a:off x="6019550" y="1494723"/>
            <a:ext cx="6171183" cy="2440117"/>
          </a:xfrm>
          <a:prstGeom prst="rect">
            <a:avLst/>
          </a:prstGeom>
        </p:spPr>
      </p:pic>
      <p:sp>
        <p:nvSpPr>
          <p:cNvPr id="14" name="文本框 13"/>
          <p:cNvSpPr txBox="1"/>
          <p:nvPr/>
        </p:nvSpPr>
        <p:spPr>
          <a:xfrm>
            <a:off x="1062355" y="4404360"/>
            <a:ext cx="10662285" cy="1005840"/>
          </a:xfrm>
          <a:prstGeom prst="rect">
            <a:avLst/>
          </a:prstGeom>
          <a:noFill/>
        </p:spPr>
        <p:txBody>
          <a:bodyPr wrap="square" rtlCol="0" anchor="t">
            <a:spAutoFit/>
          </a:bodyPr>
          <a:lstStyle/>
          <a:p>
            <a:pPr marL="285750" indent="-285750" fontAlgn="auto">
              <a:lnSpc>
                <a:spcPct val="150000"/>
              </a:lnSpc>
              <a:buClrTx/>
              <a:buFont typeface="Arial" panose="020B0604020202020204" pitchFamily="34" charset="0"/>
              <a:buChar char="•"/>
            </a:pPr>
            <a:r>
              <a:rPr lang="zh-CN" altLang="en-US" sz="2000">
                <a:latin typeface="微软雅黑" panose="020B0503020204020204" charset="-122"/>
                <a:ea typeface="微软雅黑" panose="020B0503020204020204" charset="-122"/>
              </a:rPr>
              <a:t>研究程序的功能说明，以确定输入数据是有效等价类还是无效等价类。</a:t>
            </a:r>
          </a:p>
          <a:p>
            <a:pPr marL="285750" indent="-285750" fontAlgn="auto">
              <a:lnSpc>
                <a:spcPct val="150000"/>
              </a:lnSpc>
              <a:buClrTx/>
              <a:buFont typeface="Arial" panose="020B0604020202020204" pitchFamily="34" charset="0"/>
              <a:buChar char="•"/>
            </a:pPr>
            <a:r>
              <a:rPr lang="zh-CN" altLang="en-US" sz="2000">
                <a:latin typeface="微软雅黑" panose="020B0503020204020204" charset="-122"/>
                <a:ea typeface="微软雅黑" panose="020B0503020204020204" charset="-122"/>
              </a:rPr>
              <a:t>分析输出数据的等价类，以便根据输出数据的等价类导出相应的输入数据等价类。</a:t>
            </a:r>
          </a:p>
        </p:txBody>
      </p:sp>
      <p:sp>
        <p:nvSpPr>
          <p:cNvPr id="6" name="矩形 7"/>
          <p:cNvSpPr>
            <a:spLocks noChangeArrowheads="1"/>
          </p:cNvSpPr>
          <p:nvPr/>
        </p:nvSpPr>
        <p:spPr bwMode="auto">
          <a:xfrm>
            <a:off x="702497" y="2186304"/>
            <a:ext cx="5343451"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等价类划分法的步骤：</a:t>
            </a:r>
          </a:p>
          <a:p>
            <a:endParaRPr lang="zh-CN" altLang="en-US" b="1" dirty="0" smtClean="0">
              <a:solidFill>
                <a:srgbClr val="E67819"/>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边界值</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分析法</a:t>
            </a:r>
          </a:p>
        </p:txBody>
      </p:sp>
      <p:sp>
        <p:nvSpPr>
          <p:cNvPr id="100" name="文本框 99"/>
          <p:cNvSpPr txBox="1"/>
          <p:nvPr/>
        </p:nvSpPr>
        <p:spPr>
          <a:xfrm>
            <a:off x="1488440" y="2645852"/>
            <a:ext cx="9972040" cy="2973122"/>
          </a:xfrm>
          <a:prstGeom prst="rect">
            <a:avLst/>
          </a:prstGeom>
          <a:noFill/>
          <a:ln w="9525">
            <a:noFill/>
          </a:ln>
        </p:spPr>
        <p:txBody>
          <a:bodyPr wrap="square">
            <a:spAutoFit/>
          </a:bodyPr>
          <a:lstStyle/>
          <a:p>
            <a:pPr marL="0" indent="0" algn="l" fontAlgn="auto">
              <a:lnSpc>
                <a:spcPct val="130000"/>
              </a:lnSpc>
            </a:pPr>
            <a:r>
              <a:rPr lang="en-US" sz="2400" dirty="0">
                <a:latin typeface="微软雅黑" panose="020B0503020204020204" charset="-122"/>
                <a:ea typeface="微软雅黑" panose="020B0503020204020204" charset="-122"/>
                <a:sym typeface="+mn-ea"/>
              </a:rPr>
              <a:t>       </a:t>
            </a:r>
            <a:r>
              <a:rPr sz="2400" dirty="0">
                <a:latin typeface="微软雅黑" panose="020B0503020204020204" charset="-122"/>
                <a:ea typeface="微软雅黑" panose="020B0503020204020204" charset="-122"/>
                <a:sym typeface="+mn-ea"/>
              </a:rPr>
              <a:t>实践表明，处理边界情况时程序最易发生错误。这里的边界是指输入与输出等价类直接在边界值上及稍大于边界值和稍小于边界值的数据。</a:t>
            </a:r>
          </a:p>
          <a:p>
            <a:pPr marL="0" indent="0" algn="l" fontAlgn="auto">
              <a:lnSpc>
                <a:spcPct val="130000"/>
              </a:lnSpc>
            </a:pPr>
            <a:r>
              <a:rPr sz="2400" dirty="0">
                <a:latin typeface="微软雅黑" panose="020B0503020204020204" charset="-122"/>
                <a:ea typeface="微软雅黑" panose="020B0503020204020204" charset="-122"/>
                <a:sym typeface="+mn-ea"/>
              </a:rPr>
              <a:t>       边界值分析法（Boundary Value Analysis）与等价类划分法的</a:t>
            </a:r>
            <a:r>
              <a:rPr sz="2400" dirty="0">
                <a:solidFill>
                  <a:srgbClr val="C00000"/>
                </a:solidFill>
                <a:latin typeface="微软雅黑" panose="020B0503020204020204" charset="-122"/>
                <a:ea typeface="微软雅黑" panose="020B0503020204020204" charset="-122"/>
                <a:sym typeface="+mn-ea"/>
              </a:rPr>
              <a:t>区别</a:t>
            </a:r>
            <a:r>
              <a:rPr sz="2400" dirty="0">
                <a:latin typeface="微软雅黑" panose="020B0503020204020204" charset="-122"/>
                <a:ea typeface="微软雅黑" panose="020B0503020204020204" charset="-122"/>
                <a:sym typeface="+mn-ea"/>
              </a:rPr>
              <a:t>为：</a:t>
            </a:r>
            <a:r>
              <a:rPr sz="2400" b="1" dirty="0">
                <a:solidFill>
                  <a:srgbClr val="00B050"/>
                </a:solidFill>
                <a:latin typeface="微软雅黑" panose="020B0503020204020204" charset="-122"/>
                <a:ea typeface="微软雅黑" panose="020B0503020204020204" charset="-122"/>
                <a:sym typeface="+mn-ea"/>
              </a:rPr>
              <a:t>边界值分析法要把等价类的每个边界都作为测试数据，而等价类划分法只要在每一个等价类中任选一个作为代表进行测试。</a:t>
            </a:r>
          </a:p>
          <a:p>
            <a:pPr marL="0" indent="0" algn="l" fontAlgn="auto">
              <a:lnSpc>
                <a:spcPct val="130000"/>
              </a:lnSpc>
            </a:pPr>
            <a:r>
              <a:rPr sz="2400" dirty="0">
                <a:latin typeface="微软雅黑" panose="020B0503020204020204" charset="-122"/>
                <a:ea typeface="微软雅黑" panose="020B0503020204020204" charset="-122"/>
                <a:sym typeface="+mn-ea"/>
              </a:rPr>
              <a:t>       </a:t>
            </a:r>
          </a:p>
        </p:txBody>
      </p:sp>
      <p:sp>
        <p:nvSpPr>
          <p:cNvPr id="7" name="文本框 6"/>
          <p:cNvSpPr txBox="1"/>
          <p:nvPr/>
        </p:nvSpPr>
        <p:spPr>
          <a:xfrm>
            <a:off x="738500" y="2485390"/>
            <a:ext cx="461665" cy="248754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4.5.2   </a:t>
            </a:r>
            <a:r>
              <a:rPr lang="zh-CN" altLang="en-US" spc="160" dirty="0" smtClean="0">
                <a:solidFill>
                  <a:schemeClr val="bg1"/>
                </a:solidFill>
                <a:latin typeface="微软雅黑" panose="020B0503020204020204" charset="-122"/>
                <a:ea typeface="微软雅黑" panose="020B0503020204020204" charset="-122"/>
              </a:rPr>
              <a:t>边界值分析法</a:t>
            </a:r>
          </a:p>
        </p:txBody>
      </p:sp>
    </p:spTree>
  </p:cSld>
  <p:clrMapOvr>
    <a:masterClrMapping/>
  </p:clrMapOvr>
  <p:transition>
    <p:pull dir="rd"/>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4.5.2 </a:t>
            </a:r>
            <a:r>
              <a:rPr lang="zh-CN" altLang="en-US" sz="2400" dirty="0" smtClean="0">
                <a:solidFill>
                  <a:schemeClr val="tx1"/>
                </a:solidFill>
              </a:rPr>
              <a:t>边界值分析法</a:t>
            </a:r>
            <a:endParaRPr lang="zh-CN" altLang="zh-CN" sz="2400" dirty="0" smtClean="0">
              <a:solidFill>
                <a:schemeClr val="tx1"/>
              </a:solidFill>
            </a:endParaRPr>
          </a:p>
        </p:txBody>
      </p:sp>
      <p:grpSp>
        <p:nvGrpSpPr>
          <p:cNvPr id="11" name="组合 10"/>
          <p:cNvGrpSpPr/>
          <p:nvPr/>
        </p:nvGrpSpPr>
        <p:grpSpPr>
          <a:xfrm>
            <a:off x="4455160" y="2805671"/>
            <a:ext cx="3101975" cy="2908935"/>
            <a:chOff x="6718" y="4218"/>
            <a:chExt cx="4517" cy="4053"/>
          </a:xfrm>
        </p:grpSpPr>
        <p:sp>
          <p:nvSpPr>
            <p:cNvPr id="19" name="椭圆 18"/>
            <p:cNvSpPr/>
            <p:nvPr>
              <p:custDataLst>
                <p:tags r:id="rId1"/>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6" name="文本框 22"/>
            <p:cNvSpPr txBox="1">
              <a:spLocks noChangeArrowheads="1"/>
            </p:cNvSpPr>
            <p:nvPr>
              <p:custDataLst>
                <p:tags r:id="rId2"/>
              </p:custDataLst>
            </p:nvPr>
          </p:nvSpPr>
          <p:spPr bwMode="auto">
            <a:xfrm>
              <a:off x="7293" y="6686"/>
              <a:ext cx="878"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D</a:t>
              </a:r>
              <a:endParaRPr lang="zh-CN" altLang="en-US" sz="6600" b="1" dirty="0">
                <a:solidFill>
                  <a:schemeClr val="bg1"/>
                </a:solidFill>
                <a:latin typeface="+mn-lt"/>
                <a:ea typeface="+mn-ea"/>
              </a:endParaRPr>
            </a:p>
          </p:txBody>
        </p:sp>
        <p:sp>
          <p:nvSpPr>
            <p:cNvPr id="39" name="椭圆 38"/>
            <p:cNvSpPr/>
            <p:nvPr>
              <p:custDataLst>
                <p:tags r:id="rId3"/>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4"/>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5"/>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8" name="组合 7"/>
            <p:cNvGrpSpPr/>
            <p:nvPr>
              <p:custDataLst>
                <p:tags r:id="rId6"/>
              </p:custDataLst>
            </p:nvPr>
          </p:nvGrpSpPr>
          <p:grpSpPr>
            <a:xfrm>
              <a:off x="7093" y="4579"/>
              <a:ext cx="3761" cy="3313"/>
              <a:chOff x="4933659" y="1528513"/>
              <a:chExt cx="3096541" cy="3006076"/>
            </a:xfrm>
            <a:solidFill>
              <a:schemeClr val="bg1"/>
            </a:solidFill>
          </p:grpSpPr>
          <p:sp>
            <p:nvSpPr>
              <p:cNvPr id="44" name="Freeform 16@|5FFC:0|FBC:0|LFC:16777215|LBC:16777215"/>
              <p:cNvSpPr/>
              <p:nvPr>
                <p:custDataLst>
                  <p:tags r:id="rId10"/>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9" name="Freeform 17@|5FFC:0|FBC:0|LFC:16777215|LBC:16777215"/>
              <p:cNvSpPr/>
              <p:nvPr>
                <p:custDataLst>
                  <p:tags r:id="rId11"/>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2"/>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3"/>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7"/>
              </p:custDataLst>
            </p:nvPr>
          </p:nvSpPr>
          <p:spPr bwMode="auto">
            <a:xfrm>
              <a:off x="7293" y="4615"/>
              <a:ext cx="878"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A</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8"/>
              </p:custDataLst>
            </p:nvPr>
          </p:nvSpPr>
          <p:spPr bwMode="auto">
            <a:xfrm>
              <a:off x="9499" y="4579"/>
              <a:ext cx="876"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B</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9"/>
              </p:custDataLst>
            </p:nvPr>
          </p:nvSpPr>
          <p:spPr bwMode="auto">
            <a:xfrm>
              <a:off x="9660" y="6686"/>
              <a:ext cx="876"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C</a:t>
              </a:r>
              <a:endParaRPr lang="zh-CN" altLang="en-US" sz="6600" b="1" dirty="0">
                <a:solidFill>
                  <a:schemeClr val="bg1"/>
                </a:solidFill>
                <a:latin typeface="+mn-lt"/>
                <a:ea typeface="+mn-ea"/>
              </a:endParaRPr>
            </a:p>
          </p:txBody>
        </p:sp>
      </p:grpSp>
      <p:sp>
        <p:nvSpPr>
          <p:cNvPr id="2" name="文本框 1"/>
          <p:cNvSpPr txBox="1"/>
          <p:nvPr/>
        </p:nvSpPr>
        <p:spPr>
          <a:xfrm>
            <a:off x="655320" y="2733916"/>
            <a:ext cx="3459480" cy="1532727"/>
          </a:xfrm>
          <a:prstGeom prst="rect">
            <a:avLst/>
          </a:prstGeom>
          <a:noFill/>
        </p:spPr>
        <p:txBody>
          <a:bodyPr wrap="square" rtlCol="0" anchor="t">
            <a:spAutoFit/>
          </a:bodyPr>
          <a:lstStyle/>
          <a:p>
            <a:pPr fontAlgn="auto">
              <a:lnSpc>
                <a:spcPct val="130000"/>
              </a:lnSpc>
            </a:pPr>
            <a:r>
              <a:rPr dirty="0">
                <a:solidFill>
                  <a:schemeClr val="tx1"/>
                </a:solidFill>
                <a:latin typeface="微软雅黑" panose="020B0503020204020204" charset="-122"/>
                <a:ea typeface="微软雅黑" panose="020B0503020204020204" charset="-122"/>
                <a:sym typeface="+mn-ea"/>
              </a:rPr>
              <a:t>（1）如果输入值有规定范围，则测试这个范围内，以及两个边界情况和刚刚超出范围的两个无效情况。</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4" name="文本框 3"/>
          <p:cNvSpPr txBox="1"/>
          <p:nvPr/>
        </p:nvSpPr>
        <p:spPr>
          <a:xfrm>
            <a:off x="8001000" y="2523096"/>
            <a:ext cx="3749040" cy="1532727"/>
          </a:xfrm>
          <a:prstGeom prst="rect">
            <a:avLst/>
          </a:prstGeom>
          <a:noFill/>
        </p:spPr>
        <p:txBody>
          <a:bodyPr wrap="square" rtlCol="0" anchor="t">
            <a:spAutoFit/>
          </a:bodyPr>
          <a:lstStyle/>
          <a:p>
            <a:pPr fontAlgn="auto">
              <a:lnSpc>
                <a:spcPct val="130000"/>
              </a:lnSpc>
            </a:pPr>
            <a:r>
              <a:rPr dirty="0">
                <a:solidFill>
                  <a:schemeClr val="tx1"/>
                </a:solidFill>
                <a:latin typeface="微软雅黑" panose="020B0503020204020204" charset="-122"/>
                <a:ea typeface="微软雅黑" panose="020B0503020204020204" charset="-122"/>
                <a:sym typeface="+mn-ea"/>
              </a:rPr>
              <a:t>（2）如果输入数据有规定的个数，分别对最多个数、最少个数、稍大于最多个数和稍小于最少个数的情况进行测试。</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5" name="文本框 4"/>
          <p:cNvSpPr txBox="1"/>
          <p:nvPr/>
        </p:nvSpPr>
        <p:spPr>
          <a:xfrm>
            <a:off x="8122920" y="4264266"/>
            <a:ext cx="3688080" cy="1892826"/>
          </a:xfrm>
          <a:prstGeom prst="rect">
            <a:avLst/>
          </a:prstGeom>
          <a:noFill/>
        </p:spPr>
        <p:txBody>
          <a:bodyPr wrap="square" rtlCol="0" anchor="t">
            <a:spAutoFit/>
          </a:bodyPr>
          <a:lstStyle/>
          <a:p>
            <a:pPr marL="0" indent="0" algn="l" fontAlgn="auto">
              <a:lnSpc>
                <a:spcPct val="130000"/>
              </a:lnSpc>
            </a:pPr>
            <a:r>
              <a:rPr dirty="0">
                <a:solidFill>
                  <a:schemeClr val="tx1"/>
                </a:solidFill>
                <a:latin typeface="微软雅黑" panose="020B0503020204020204" charset="-122"/>
                <a:ea typeface="微软雅黑" panose="020B0503020204020204" charset="-122"/>
                <a:sym typeface="+mn-ea"/>
              </a:rPr>
              <a:t>（3）在输入值有一定规则或有规定的集合时，要多动脑筋，找出各种边界条件，对它们进行测试，尽量不要遗漏对可能产生错误的情况进行测试。</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7" name="文本框 6"/>
          <p:cNvSpPr txBox="1"/>
          <p:nvPr/>
        </p:nvSpPr>
        <p:spPr>
          <a:xfrm>
            <a:off x="670560" y="4597006"/>
            <a:ext cx="3398520" cy="1172629"/>
          </a:xfrm>
          <a:prstGeom prst="rect">
            <a:avLst/>
          </a:prstGeom>
          <a:noFill/>
        </p:spPr>
        <p:txBody>
          <a:bodyPr wrap="square" rtlCol="0" anchor="t">
            <a:spAutoFit/>
          </a:bodyPr>
          <a:lstStyle/>
          <a:p>
            <a:pPr fontAlgn="auto">
              <a:lnSpc>
                <a:spcPct val="130000"/>
              </a:lnSpc>
            </a:pPr>
            <a:r>
              <a:rPr dirty="0">
                <a:solidFill>
                  <a:schemeClr val="tx1"/>
                </a:solidFill>
                <a:latin typeface="微软雅黑" panose="020B0503020204020204" charset="-122"/>
                <a:ea typeface="微软雅黑" panose="020B0503020204020204" charset="-122"/>
                <a:sym typeface="+mn-ea"/>
              </a:rPr>
              <a:t>（4）对输出数据等价类的边界情况，要分析出与其对应的输入数据，对它们也应进行测试。</a:t>
            </a:r>
            <a:endParaRPr lang="zh-CN" altLang="en-US" dirty="0">
              <a:solidFill>
                <a:schemeClr val="tx1"/>
              </a:solidFill>
              <a:latin typeface="微软雅黑" panose="020B0503020204020204" charset="-122"/>
              <a:ea typeface="微软雅黑" panose="020B0503020204020204" charset="-122"/>
              <a:sym typeface="+mn-ea"/>
            </a:endParaRPr>
          </a:p>
        </p:txBody>
      </p:sp>
      <p:sp>
        <p:nvSpPr>
          <p:cNvPr id="22" name="矩形 7"/>
          <p:cNvSpPr>
            <a:spLocks noChangeArrowheads="1"/>
          </p:cNvSpPr>
          <p:nvPr/>
        </p:nvSpPr>
        <p:spPr bwMode="auto">
          <a:xfrm>
            <a:off x="702497" y="2186304"/>
            <a:ext cx="10939043"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等价类划分法的步骤：联合使用等价类划分和边界值分析这两种技术。</a:t>
            </a:r>
          </a:p>
        </p:txBody>
      </p:sp>
    </p:spTree>
  </p:cSld>
  <p:clrMapOvr>
    <a:masterClrMapping/>
  </p:clrMapOvr>
  <p:transition>
    <p:pull dir="rd"/>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错误</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推测法</a:t>
            </a:r>
          </a:p>
        </p:txBody>
      </p:sp>
      <p:sp>
        <p:nvSpPr>
          <p:cNvPr id="100" name="文本框 99"/>
          <p:cNvSpPr txBox="1"/>
          <p:nvPr/>
        </p:nvSpPr>
        <p:spPr>
          <a:xfrm>
            <a:off x="1473200" y="2150110"/>
            <a:ext cx="9857105" cy="3261360"/>
          </a:xfrm>
          <a:prstGeom prst="rect">
            <a:avLst/>
          </a:prstGeom>
          <a:noFill/>
          <a:ln w="9525">
            <a:noFill/>
          </a:ln>
        </p:spPr>
        <p:txBody>
          <a:bodyPr wrap="square">
            <a:spAutoFit/>
          </a:bodyPr>
          <a:lstStyle/>
          <a:p>
            <a:pPr marL="0" indent="0" algn="l" fontAlgn="auto">
              <a:lnSpc>
                <a:spcPct val="130000"/>
              </a:lnSpc>
            </a:pPr>
            <a:r>
              <a:rPr lang="en-US" sz="2000" dirty="0">
                <a:latin typeface="微软雅黑" panose="020B0503020204020204" charset="-122"/>
                <a:ea typeface="微软雅黑" panose="020B0503020204020204" charset="-122"/>
                <a:sym typeface="+mn-ea"/>
              </a:rPr>
              <a:t>       </a:t>
            </a:r>
            <a:r>
              <a:rPr sz="2000">
                <a:solidFill>
                  <a:srgbClr val="C00000"/>
                </a:solidFill>
                <a:latin typeface="微软雅黑" panose="020B0503020204020204" charset="-122"/>
                <a:ea typeface="微软雅黑" panose="020B0503020204020204" charset="-122"/>
                <a:sym typeface="+mn-ea"/>
              </a:rPr>
              <a:t>错误推测法主要是列出某些容易发生错误的特殊情况来选择测试方案。</a:t>
            </a:r>
            <a:r>
              <a:rPr sz="2000">
                <a:latin typeface="微软雅黑" panose="020B0503020204020204" charset="-122"/>
                <a:ea typeface="微软雅黑" panose="020B0503020204020204" charset="-122"/>
                <a:sym typeface="+mn-ea"/>
              </a:rPr>
              <a:t>错误推测法主要靠直觉和经验进行，没有确定的步骤。</a:t>
            </a:r>
          </a:p>
          <a:p>
            <a:pPr marL="0" indent="0" algn="l" fontAlgn="auto">
              <a:lnSpc>
                <a:spcPct val="130000"/>
              </a:lnSpc>
            </a:pPr>
            <a:r>
              <a:rPr sz="2000">
                <a:latin typeface="微软雅黑" panose="020B0503020204020204" charset="-122"/>
                <a:ea typeface="微软雅黑" panose="020B0503020204020204" charset="-122"/>
                <a:sym typeface="+mn-ea"/>
              </a:rPr>
              <a:t>       </a:t>
            </a:r>
            <a:r>
              <a:rPr sz="2000">
                <a:solidFill>
                  <a:schemeClr val="accent5">
                    <a:lumMod val="50000"/>
                  </a:schemeClr>
                </a:solidFill>
                <a:latin typeface="微软雅黑" panose="020B0503020204020204" charset="-122"/>
                <a:ea typeface="微软雅黑" panose="020B0503020204020204" charset="-122"/>
                <a:sym typeface="+mn-ea"/>
              </a:rPr>
              <a:t>等价类划分法和边界值分析法都只孤立地考虑单个数据输入后的测试效果，而没有考虑多个数据输入时不同的组合所产生的后果，有时可能会遗漏容易出错的输入数据的组合情况。</a:t>
            </a:r>
            <a:r>
              <a:rPr sz="2000" b="1">
                <a:solidFill>
                  <a:schemeClr val="accent3">
                    <a:lumMod val="75000"/>
                  </a:schemeClr>
                </a:solidFill>
                <a:latin typeface="微软雅黑" panose="020B0503020204020204" charset="-122"/>
                <a:ea typeface="微软雅黑" panose="020B0503020204020204" charset="-122"/>
                <a:sym typeface="+mn-ea"/>
              </a:rPr>
              <a:t>有效的办法是用判定表或判定树把输入数据各种组合与对应的处理结果列出来，进行测试。</a:t>
            </a:r>
          </a:p>
          <a:p>
            <a:pPr marL="0" indent="0" algn="l" fontAlgn="auto">
              <a:lnSpc>
                <a:spcPct val="130000"/>
              </a:lnSpc>
            </a:pPr>
            <a:r>
              <a:rPr sz="2000">
                <a:latin typeface="微软雅黑" panose="020B0503020204020204" charset="-122"/>
                <a:ea typeface="微软雅黑" panose="020B0503020204020204" charset="-122"/>
                <a:sym typeface="+mn-ea"/>
              </a:rPr>
              <a:t>       还可以把人工检查代码与计算机测试结合起来，特别是几个模块共享数据时，应检查在一个模块中改变共享数据时，其他共享这些数据的模块是否能正确处理。</a:t>
            </a:r>
          </a:p>
        </p:txBody>
      </p:sp>
      <p:sp>
        <p:nvSpPr>
          <p:cNvPr id="7" name="文本框 6"/>
          <p:cNvSpPr txBox="1"/>
          <p:nvPr/>
        </p:nvSpPr>
        <p:spPr>
          <a:xfrm>
            <a:off x="768973" y="2713990"/>
            <a:ext cx="461665" cy="223619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4.5.3   </a:t>
            </a:r>
            <a:r>
              <a:rPr lang="zh-CN" altLang="en-US" spc="160" dirty="0" smtClean="0">
                <a:solidFill>
                  <a:schemeClr val="bg1"/>
                </a:solidFill>
                <a:latin typeface="微软雅黑" panose="020B0503020204020204" charset="-122"/>
                <a:ea typeface="微软雅黑" panose="020B0503020204020204" charset="-122"/>
              </a:rPr>
              <a:t>错误推测法</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ym typeface="+mn-ea"/>
              </a:rPr>
              <a:t>4.5.4 </a:t>
            </a:r>
            <a:r>
              <a:rPr lang="zh-CN" altLang="en-US" sz="2400" dirty="0" smtClean="0">
                <a:sym typeface="+mn-ea"/>
              </a:rPr>
              <a:t>逻辑覆盖法</a:t>
            </a:r>
            <a:endParaRPr lang="zh-CN" altLang="en-US" sz="2400" dirty="0" smtClean="0">
              <a:solidFill>
                <a:schemeClr val="tx1"/>
              </a:solidFill>
            </a:endParaRPr>
          </a:p>
        </p:txBody>
      </p:sp>
      <p:sp>
        <p:nvSpPr>
          <p:cNvPr id="14" name="文本框 13"/>
          <p:cNvSpPr txBox="1"/>
          <p:nvPr/>
        </p:nvSpPr>
        <p:spPr>
          <a:xfrm>
            <a:off x="2393315" y="2621280"/>
            <a:ext cx="5846445" cy="2834640"/>
          </a:xfrm>
          <a:prstGeom prst="rect">
            <a:avLst/>
          </a:prstGeom>
          <a:noFill/>
        </p:spPr>
        <p:txBody>
          <a:bodyPr wrap="square" rtlCol="0" anchor="t">
            <a:spAutoFit/>
          </a:bodyPr>
          <a:lstStyle/>
          <a:p>
            <a:pPr indent="0" fontAlgn="auto">
              <a:lnSpc>
                <a:spcPct val="150000"/>
              </a:lnSpc>
              <a:buClrTx/>
              <a:buNone/>
            </a:pPr>
            <a:r>
              <a:rPr lang="en-US" altLang="zh-CN" sz="2000" dirty="0">
                <a:latin typeface="微软雅黑" panose="020B0503020204020204" charset="-122"/>
                <a:ea typeface="微软雅黑" panose="020B0503020204020204" charset="-122"/>
              </a:rPr>
              <a:t>        </a:t>
            </a:r>
            <a:r>
              <a:rPr lang="zh-CN" altLang="en-US" sz="2000">
                <a:latin typeface="微软雅黑" panose="020B0503020204020204" charset="-122"/>
                <a:ea typeface="微软雅黑" panose="020B0503020204020204" charset="-122"/>
              </a:rPr>
              <a:t>白盒法根据程序逻辑结构进行测试，</a:t>
            </a:r>
            <a:r>
              <a:rPr lang="zh-CN" altLang="en-US" sz="2000">
                <a:solidFill>
                  <a:schemeClr val="accent3">
                    <a:lumMod val="75000"/>
                  </a:schemeClr>
                </a:solidFill>
                <a:latin typeface="微软雅黑" panose="020B0503020204020204" charset="-122"/>
                <a:ea typeface="微软雅黑" panose="020B0503020204020204" charset="-122"/>
              </a:rPr>
              <a:t>逻辑覆盖法</a:t>
            </a:r>
            <a:r>
              <a:rPr lang="zh-CN" altLang="en-US" sz="2000">
                <a:latin typeface="微软雅黑" panose="020B0503020204020204" charset="-122"/>
                <a:ea typeface="微软雅黑" panose="020B0503020204020204" charset="-122"/>
              </a:rPr>
              <a:t>（Logic Coverage Testing）是一系列测试过程的总称，这些测试是逐渐地、越来越完整地进行通路测试。要想穷尽路径测试往往做不到，但是尽可能选择最有代表性的通路，尽量完整地进行各种通路测试是可以做到的。</a:t>
            </a:r>
          </a:p>
        </p:txBody>
      </p:sp>
    </p:spTree>
  </p:cSld>
  <p:clrMapOvr>
    <a:masterClrMapping/>
  </p:clrMapOvr>
  <p:transition>
    <p:pull dir="rd"/>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ym typeface="+mn-ea"/>
              </a:rPr>
              <a:t>4.5.4 </a:t>
            </a:r>
            <a:r>
              <a:rPr lang="zh-CN" altLang="en-US" sz="2400" dirty="0" smtClean="0">
                <a:sym typeface="+mn-ea"/>
              </a:rPr>
              <a:t>逻辑覆盖法</a:t>
            </a:r>
            <a:endParaRPr lang="zh-CN" altLang="en-US" sz="2400" dirty="0" smtClean="0">
              <a:solidFill>
                <a:schemeClr val="tx1"/>
              </a:solidFill>
            </a:endParaRPr>
          </a:p>
        </p:txBody>
      </p:sp>
      <p:grpSp>
        <p:nvGrpSpPr>
          <p:cNvPr id="37" name="组合 36"/>
          <p:cNvGrpSpPr/>
          <p:nvPr/>
        </p:nvGrpSpPr>
        <p:grpSpPr>
          <a:xfrm>
            <a:off x="956612" y="2872466"/>
            <a:ext cx="4679913" cy="1158875"/>
            <a:chOff x="1188" y="3092"/>
            <a:chExt cx="13581" cy="1825"/>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charset="-128"/>
                  </a:rPr>
                  <a:t>1</a:t>
                </a:r>
                <a:endParaRPr lang="zh-CN" altLang="en-US" sz="2800" dirty="0">
                  <a:solidFill>
                    <a:srgbClr val="E67819"/>
                  </a:solidFill>
                  <a:latin typeface="Impact" panose="020B0806030902050204" pitchFamily="34" charset="0"/>
                  <a:ea typeface="MS UI Gothic" panose="020B060007020508020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语句覆盖</a:t>
                </a:r>
              </a:p>
            </p:txBody>
          </p:sp>
        </p:grpSp>
        <p:sp>
          <p:nvSpPr>
            <p:cNvPr id="42" name="矩形 8"/>
            <p:cNvSpPr>
              <a:spLocks noChangeArrowheads="1"/>
            </p:cNvSpPr>
            <p:nvPr/>
          </p:nvSpPr>
          <p:spPr bwMode="auto">
            <a:xfrm>
              <a:off x="1901" y="3608"/>
              <a:ext cx="12868" cy="130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选择足够多的测试数据，使被测试的程序中每个语句至少执行一次。</a:t>
              </a:r>
            </a:p>
          </p:txBody>
        </p:sp>
      </p:grpSp>
      <p:grpSp>
        <p:nvGrpSpPr>
          <p:cNvPr id="49" name="组合 48"/>
          <p:cNvGrpSpPr/>
          <p:nvPr/>
        </p:nvGrpSpPr>
        <p:grpSpPr>
          <a:xfrm>
            <a:off x="937261" y="4367022"/>
            <a:ext cx="4731258" cy="1134110"/>
            <a:chOff x="1195" y="5840"/>
            <a:chExt cx="13730" cy="1786"/>
          </a:xfrm>
        </p:grpSpPr>
        <p:grpSp>
          <p:nvGrpSpPr>
            <p:cNvPr id="50" name="组合 49"/>
            <p:cNvGrpSpPr/>
            <p:nvPr/>
          </p:nvGrpSpPr>
          <p:grpSpPr>
            <a:xfrm>
              <a:off x="1195" y="5840"/>
              <a:ext cx="5313" cy="930"/>
              <a:chOff x="512763" y="4940853"/>
              <a:chExt cx="3373429"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charset="-128"/>
                  </a:rPr>
                  <a:t>2</a:t>
                </a:r>
                <a:endParaRPr lang="zh-CN" altLang="en-US" sz="2800" dirty="0">
                  <a:solidFill>
                    <a:srgbClr val="E67819"/>
                  </a:solidFill>
                  <a:latin typeface="Impact" panose="020B0806030902050204" pitchFamily="34" charset="0"/>
                  <a:ea typeface="MS UI Gothic" panose="020B060007020508020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438" y="5036103"/>
                <a:ext cx="2925754"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判定覆盖（又叫分支覆盖）</a:t>
                </a:r>
              </a:p>
            </p:txBody>
          </p:sp>
        </p:grpSp>
        <p:sp>
          <p:nvSpPr>
            <p:cNvPr id="54" name="矩形 9"/>
            <p:cNvSpPr>
              <a:spLocks noChangeArrowheads="1"/>
            </p:cNvSpPr>
            <p:nvPr/>
          </p:nvSpPr>
          <p:spPr bwMode="auto">
            <a:xfrm>
              <a:off x="1938" y="6472"/>
              <a:ext cx="12987" cy="11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不仅每个语句都必须至少执行一次，而且每个判定的可能结果都至少执行一次，即每个分支都至少执行一次。</a:t>
              </a:r>
            </a:p>
          </p:txBody>
        </p:sp>
      </p:grpSp>
      <p:grpSp>
        <p:nvGrpSpPr>
          <p:cNvPr id="5" name="组合 4"/>
          <p:cNvGrpSpPr/>
          <p:nvPr/>
        </p:nvGrpSpPr>
        <p:grpSpPr>
          <a:xfrm>
            <a:off x="5932341" y="2832189"/>
            <a:ext cx="5539246" cy="1150620"/>
            <a:chOff x="1188" y="3092"/>
            <a:chExt cx="13581" cy="1812"/>
          </a:xfrm>
        </p:grpSpPr>
        <p:grpSp>
          <p:nvGrpSpPr>
            <p:cNvPr id="6" name="组合 5"/>
            <p:cNvGrpSpPr/>
            <p:nvPr/>
          </p:nvGrpSpPr>
          <p:grpSpPr>
            <a:xfrm>
              <a:off x="1188" y="3092"/>
              <a:ext cx="4947" cy="930"/>
              <a:chOff x="508000" y="3196191"/>
              <a:chExt cx="3141314" cy="590550"/>
            </a:xfrm>
          </p:grpSpPr>
          <p:sp>
            <p:nvSpPr>
              <p:cNvPr id="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3</a:t>
                </a:r>
              </a:p>
            </p:txBody>
          </p:sp>
          <p:cxnSp>
            <p:nvCxnSpPr>
              <p:cNvPr id="8" name="直接连接符 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条件覆盖</a:t>
                </a:r>
              </a:p>
            </p:txBody>
          </p:sp>
        </p:grpSp>
        <p:sp>
          <p:nvSpPr>
            <p:cNvPr id="10" name="矩形 8"/>
            <p:cNvSpPr>
              <a:spLocks noChangeArrowheads="1"/>
            </p:cNvSpPr>
            <p:nvPr/>
          </p:nvSpPr>
          <p:spPr bwMode="auto">
            <a:xfrm>
              <a:off x="1901" y="3608"/>
              <a:ext cx="12868" cy="12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不仅每个语句都至少执行一次，而且使每个判定表达式中的每个条件都取到各种可能的值，从而可测试比较复杂的路径。</a:t>
              </a:r>
            </a:p>
          </p:txBody>
        </p:sp>
      </p:grpSp>
      <p:grpSp>
        <p:nvGrpSpPr>
          <p:cNvPr id="11" name="组合 10"/>
          <p:cNvGrpSpPr/>
          <p:nvPr/>
        </p:nvGrpSpPr>
        <p:grpSpPr>
          <a:xfrm>
            <a:off x="5932341" y="4351305"/>
            <a:ext cx="5600018" cy="1454150"/>
            <a:chOff x="1195" y="5840"/>
            <a:chExt cx="13730" cy="2290"/>
          </a:xfrm>
        </p:grpSpPr>
        <p:grpSp>
          <p:nvGrpSpPr>
            <p:cNvPr id="12" name="组合 11"/>
            <p:cNvGrpSpPr/>
            <p:nvPr/>
          </p:nvGrpSpPr>
          <p:grpSpPr>
            <a:xfrm>
              <a:off x="1195" y="5840"/>
              <a:ext cx="6671" cy="930"/>
              <a:chOff x="512763" y="4940853"/>
              <a:chExt cx="4235450" cy="590550"/>
            </a:xfrm>
          </p:grpSpPr>
          <p:sp>
            <p:nvSpPr>
              <p:cNvPr id="15" name="TextBox 10"/>
              <p:cNvSpPr txBox="1">
                <a:spLocks noChangeArrowheads="1"/>
              </p:cNvSpPr>
              <p:nvPr/>
            </p:nvSpPr>
            <p:spPr bwMode="auto">
              <a:xfrm>
                <a:off x="512763" y="4940853"/>
                <a:ext cx="360645"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4</a:t>
                </a:r>
              </a:p>
            </p:txBody>
          </p:sp>
          <p:cxnSp>
            <p:nvCxnSpPr>
              <p:cNvPr id="16" name="直接连接符 1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2"/>
              <p:cNvSpPr>
                <a:spLocks noChangeArrowheads="1"/>
              </p:cNvSpPr>
              <p:nvPr/>
            </p:nvSpPr>
            <p:spPr bwMode="auto">
              <a:xfrm>
                <a:off x="960438" y="5036103"/>
                <a:ext cx="3787775"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判定/条件覆盖</a:t>
                </a:r>
              </a:p>
            </p:txBody>
          </p:sp>
        </p:grpSp>
        <p:sp>
          <p:nvSpPr>
            <p:cNvPr id="18" name="矩形 9"/>
            <p:cNvSpPr>
              <a:spLocks noChangeArrowheads="1"/>
            </p:cNvSpPr>
            <p:nvPr/>
          </p:nvSpPr>
          <p:spPr bwMode="auto">
            <a:xfrm>
              <a:off x="1938" y="6472"/>
              <a:ext cx="12987" cy="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判定/条件覆盖要求选取足够多的测试数据，使每个判定表达式都取到各种可能的结果，并使每个判定表达式中的每个条件都取到各种可能的值。</a:t>
              </a:r>
            </a:p>
          </p:txBody>
        </p:sp>
      </p:grpSp>
      <p:sp>
        <p:nvSpPr>
          <p:cNvPr id="30" name="矩形 7"/>
          <p:cNvSpPr>
            <a:spLocks noChangeArrowheads="1"/>
          </p:cNvSpPr>
          <p:nvPr/>
        </p:nvSpPr>
        <p:spPr bwMode="auto">
          <a:xfrm>
            <a:off x="1043691" y="2145360"/>
            <a:ext cx="9287664"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dirty="0" smtClean="0"/>
              <a:t>从覆盖程序的详细程度来考虑，逻辑覆盖有以下几种不同的测试过程。</a:t>
            </a:r>
          </a:p>
          <a:p>
            <a:endParaRPr lang="zh-CN" altLang="en-US" b="1" dirty="0" smtClean="0">
              <a:solidFill>
                <a:srgbClr val="E67819"/>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ym typeface="+mn-ea"/>
              </a:rPr>
              <a:t>4.5.4 </a:t>
            </a:r>
            <a:r>
              <a:rPr lang="zh-CN" altLang="en-US" sz="2400" dirty="0" smtClean="0">
                <a:sym typeface="+mn-ea"/>
              </a:rPr>
              <a:t>逻辑覆盖法</a:t>
            </a:r>
            <a:endParaRPr lang="zh-CN" altLang="en-US" sz="2400" dirty="0" smtClean="0">
              <a:solidFill>
                <a:schemeClr val="tx1"/>
              </a:solidFill>
            </a:endParaRPr>
          </a:p>
        </p:txBody>
      </p:sp>
      <p:grpSp>
        <p:nvGrpSpPr>
          <p:cNvPr id="2" name="组合 1"/>
          <p:cNvGrpSpPr/>
          <p:nvPr/>
        </p:nvGrpSpPr>
        <p:grpSpPr>
          <a:xfrm>
            <a:off x="982980" y="1969770"/>
            <a:ext cx="9995535" cy="4224655"/>
            <a:chOff x="1188" y="3124"/>
            <a:chExt cx="15741" cy="6653"/>
          </a:xfrm>
        </p:grpSpPr>
        <p:grpSp>
          <p:nvGrpSpPr>
            <p:cNvPr id="37" name="组合 36"/>
            <p:cNvGrpSpPr/>
            <p:nvPr/>
          </p:nvGrpSpPr>
          <p:grpSpPr>
            <a:xfrm>
              <a:off x="1188" y="3124"/>
              <a:ext cx="15732" cy="1812"/>
              <a:chOff x="1188" y="3092"/>
              <a:chExt cx="15732" cy="1812"/>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charset="-128"/>
                    </a:rPr>
                    <a:t>5</a:t>
                  </a:r>
                  <a:endParaRPr lang="zh-CN" altLang="en-US" sz="2800" dirty="0">
                    <a:solidFill>
                      <a:srgbClr val="E67819"/>
                    </a:solidFill>
                    <a:latin typeface="Impact" panose="020B0806030902050204" pitchFamily="34" charset="0"/>
                    <a:ea typeface="MS UI Gothic" panose="020B060007020508020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条件组合覆盖</a:t>
                  </a:r>
                </a:p>
              </p:txBody>
            </p:sp>
          </p:grpSp>
          <p:sp>
            <p:nvSpPr>
              <p:cNvPr id="42" name="矩形 8"/>
              <p:cNvSpPr>
                <a:spLocks noChangeArrowheads="1"/>
              </p:cNvSpPr>
              <p:nvPr/>
            </p:nvSpPr>
            <p:spPr bwMode="auto">
              <a:xfrm>
                <a:off x="1901" y="3608"/>
                <a:ext cx="15019" cy="129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条件组合覆盖要求选取更多的测试数据，使每个判定表达式中条件的各种可能组合都至少出现一次，从而达到更强的逻辑覆盖标准。</a:t>
                </a:r>
              </a:p>
            </p:txBody>
          </p:sp>
        </p:grpSp>
        <p:grpSp>
          <p:nvGrpSpPr>
            <p:cNvPr id="49" name="组合 48"/>
            <p:cNvGrpSpPr/>
            <p:nvPr/>
          </p:nvGrpSpPr>
          <p:grpSpPr>
            <a:xfrm>
              <a:off x="1188" y="4936"/>
              <a:ext cx="15636" cy="2290"/>
              <a:chOff x="1195" y="5840"/>
              <a:chExt cx="15636" cy="2290"/>
            </a:xfrm>
          </p:grpSpPr>
          <p:grpSp>
            <p:nvGrpSpPr>
              <p:cNvPr id="50" name="组合 49"/>
              <p:cNvGrpSpPr/>
              <p:nvPr/>
            </p:nvGrpSpPr>
            <p:grpSpPr>
              <a:xfrm>
                <a:off x="1195" y="5840"/>
                <a:ext cx="2073" cy="930"/>
                <a:chOff x="512763" y="4940853"/>
                <a:chExt cx="1316271" cy="590550"/>
              </a:xfrm>
            </p:grpSpPr>
            <p:sp>
              <p:nvSpPr>
                <p:cNvPr id="51" name="TextBox 10"/>
                <p:cNvSpPr txBox="1">
                  <a:spLocks noChangeArrowheads="1"/>
                </p:cNvSpPr>
                <p:nvPr/>
              </p:nvSpPr>
              <p:spPr bwMode="auto">
                <a:xfrm>
                  <a:off x="512763" y="4940853"/>
                  <a:ext cx="375249"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charset="-128"/>
                    </a:rPr>
                    <a:t>6</a:t>
                  </a:r>
                  <a:endParaRPr lang="zh-CN" altLang="en-US" sz="2800" dirty="0">
                    <a:solidFill>
                      <a:srgbClr val="E67819"/>
                    </a:solidFill>
                    <a:latin typeface="Impact" panose="020B0806030902050204" pitchFamily="34" charset="0"/>
                    <a:ea typeface="MS UI Gothic" panose="020B060007020508020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438" y="5036103"/>
                  <a:ext cx="868596"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点覆盖</a:t>
                  </a:r>
                </a:p>
              </p:txBody>
            </p:sp>
          </p:grpSp>
          <p:sp>
            <p:nvSpPr>
              <p:cNvPr id="54" name="矩形 9"/>
              <p:cNvSpPr>
                <a:spLocks noChangeArrowheads="1"/>
              </p:cNvSpPr>
              <p:nvPr/>
            </p:nvSpPr>
            <p:spPr bwMode="auto">
              <a:xfrm>
                <a:off x="1938" y="6472"/>
                <a:ext cx="14893" cy="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把程序流程图中的每个符号看成一个点，原来连接不同处理符号的箭头改为连接不同点的有向弧，就可得到一个有向图，称之为程序图。点覆盖测试要求选取足够多的数据，使得程序执行时至少经过程序图中的每个点一次。显然，点覆盖和语句覆盖的要求是相同的。</a:t>
                </a:r>
              </a:p>
            </p:txBody>
          </p:sp>
        </p:grpSp>
        <p:grpSp>
          <p:nvGrpSpPr>
            <p:cNvPr id="5" name="组合 4"/>
            <p:cNvGrpSpPr/>
            <p:nvPr/>
          </p:nvGrpSpPr>
          <p:grpSpPr>
            <a:xfrm>
              <a:off x="1188" y="7196"/>
              <a:ext cx="15574" cy="1007"/>
              <a:chOff x="1188" y="3092"/>
              <a:chExt cx="15574" cy="1007"/>
            </a:xfrm>
          </p:grpSpPr>
          <p:grpSp>
            <p:nvGrpSpPr>
              <p:cNvPr id="6" name="组合 5"/>
              <p:cNvGrpSpPr/>
              <p:nvPr/>
            </p:nvGrpSpPr>
            <p:grpSpPr>
              <a:xfrm>
                <a:off x="1188" y="3092"/>
                <a:ext cx="4947" cy="930"/>
                <a:chOff x="508000" y="3196191"/>
                <a:chExt cx="3141314" cy="590550"/>
              </a:xfrm>
            </p:grpSpPr>
            <p:sp>
              <p:nvSpPr>
                <p:cNvPr id="7" name="TextBox 1"/>
                <p:cNvSpPr txBox="1">
                  <a:spLocks noChangeArrowheads="1"/>
                </p:cNvSpPr>
                <p:nvPr/>
              </p:nvSpPr>
              <p:spPr bwMode="auto">
                <a:xfrm>
                  <a:off x="508000" y="3196191"/>
                  <a:ext cx="32194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7</a:t>
                  </a:r>
                </a:p>
              </p:txBody>
            </p:sp>
            <p:cxnSp>
              <p:nvCxnSpPr>
                <p:cNvPr id="8" name="直接连接符 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9"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边覆盖</a:t>
                  </a:r>
                </a:p>
              </p:txBody>
            </p:sp>
          </p:grpSp>
          <p:sp>
            <p:nvSpPr>
              <p:cNvPr id="10" name="矩形 8"/>
              <p:cNvSpPr>
                <a:spLocks noChangeArrowheads="1"/>
              </p:cNvSpPr>
              <p:nvPr/>
            </p:nvSpPr>
            <p:spPr bwMode="auto">
              <a:xfrm>
                <a:off x="1901" y="3608"/>
                <a:ext cx="14861" cy="4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边覆盖要求选取足够多的测试数据，使程序执行路径至少经过程序图中的每条边一次。</a:t>
                </a:r>
              </a:p>
            </p:txBody>
          </p:sp>
        </p:grpSp>
        <p:grpSp>
          <p:nvGrpSpPr>
            <p:cNvPr id="11" name="组合 10"/>
            <p:cNvGrpSpPr/>
            <p:nvPr/>
          </p:nvGrpSpPr>
          <p:grpSpPr>
            <a:xfrm>
              <a:off x="1188" y="8502"/>
              <a:ext cx="15741" cy="1275"/>
              <a:chOff x="1195" y="5840"/>
              <a:chExt cx="15741" cy="1275"/>
            </a:xfrm>
          </p:grpSpPr>
          <p:grpSp>
            <p:nvGrpSpPr>
              <p:cNvPr id="12" name="组合 11"/>
              <p:cNvGrpSpPr/>
              <p:nvPr/>
            </p:nvGrpSpPr>
            <p:grpSpPr>
              <a:xfrm>
                <a:off x="1195" y="5840"/>
                <a:ext cx="6846" cy="930"/>
                <a:chOff x="512763" y="4940853"/>
                <a:chExt cx="4346526" cy="590550"/>
              </a:xfrm>
            </p:grpSpPr>
            <p:sp>
              <p:nvSpPr>
                <p:cNvPr id="15" name="TextBox 10"/>
                <p:cNvSpPr txBox="1">
                  <a:spLocks noChangeArrowheads="1"/>
                </p:cNvSpPr>
                <p:nvPr/>
              </p:nvSpPr>
              <p:spPr bwMode="auto">
                <a:xfrm>
                  <a:off x="512763" y="4940853"/>
                  <a:ext cx="372689"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8</a:t>
                  </a:r>
                </a:p>
              </p:txBody>
            </p:sp>
            <p:cxnSp>
              <p:nvCxnSpPr>
                <p:cNvPr id="16" name="直接连接符 1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7" name="矩形 12"/>
                <p:cNvSpPr>
                  <a:spLocks noChangeArrowheads="1"/>
                </p:cNvSpPr>
                <p:nvPr/>
              </p:nvSpPr>
              <p:spPr bwMode="auto">
                <a:xfrm>
                  <a:off x="960438" y="5036103"/>
                  <a:ext cx="3898851"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基本路径覆盖</a:t>
                  </a:r>
                </a:p>
              </p:txBody>
            </p:sp>
          </p:grpSp>
          <p:sp>
            <p:nvSpPr>
              <p:cNvPr id="18" name="矩形 9"/>
              <p:cNvSpPr>
                <a:spLocks noChangeArrowheads="1"/>
              </p:cNvSpPr>
              <p:nvPr/>
            </p:nvSpPr>
            <p:spPr bwMode="auto">
              <a:xfrm>
                <a:off x="1938" y="6472"/>
                <a:ext cx="14998" cy="6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基本路径覆盖法要求选取足够多的测试数据，使程序的每条可能执行路径都至少执行一次。</a:t>
                </a:r>
              </a:p>
            </p:txBody>
          </p:sp>
        </p:grpSp>
      </p:grpSp>
    </p:spTree>
  </p:cSld>
  <p:clrMapOvr>
    <a:masterClrMapping/>
  </p:clrMapOvr>
  <p:transition>
    <p:pull dir="rd"/>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441190"/>
            <a:chOff x="1275" y="2210"/>
            <a:chExt cx="16654" cy="699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054"/>
              <a:chOff x="1500" y="3150"/>
              <a:chExt cx="16429" cy="605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492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2724785" y="3434080"/>
            <a:ext cx="6181725" cy="1554480"/>
          </a:xfrm>
          <a:prstGeom prst="rect">
            <a:avLst/>
          </a:prstGeom>
          <a:noFill/>
        </p:spPr>
        <p:txBody>
          <a:bodyPr wrap="square" rtlCol="0" anchor="t">
            <a:spAutoFit/>
          </a:bodyPr>
          <a:lstStyle/>
          <a:p>
            <a:r>
              <a:rPr lang="zh-CN" altLang="en-US" sz="2400"/>
              <a:t>Begin</a:t>
            </a:r>
          </a:p>
          <a:p>
            <a:r>
              <a:rPr lang="zh-CN" altLang="en-US" sz="2400"/>
              <a:t>    IF (A=3)  OR  (B&gt;1)  Then  X:=A*B  Endif</a:t>
            </a:r>
          </a:p>
          <a:p>
            <a:r>
              <a:rPr lang="zh-CN" altLang="en-US" sz="2400"/>
              <a:t>    IF (A&gt;2)  AND  (B=0)  Then  X:=A-3  Endif</a:t>
            </a:r>
          </a:p>
          <a:p>
            <a:r>
              <a:rPr lang="zh-CN" altLang="en-US" sz="2400"/>
              <a:t>End</a:t>
            </a:r>
          </a:p>
        </p:txBody>
      </p:sp>
    </p:spTree>
  </p:cSld>
  <p:clrMapOvr>
    <a:masterClrMapping/>
  </p:clrMapOvr>
  <p:transition>
    <p:pull dir="rd"/>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707255"/>
            <a:chOff x="1275" y="2210"/>
            <a:chExt cx="16654" cy="7413"/>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473"/>
              <a:chOff x="1500" y="3150"/>
              <a:chExt cx="16429" cy="6473"/>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34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857"/>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239520" y="3030220"/>
            <a:ext cx="4627880" cy="2865120"/>
          </a:xfrm>
          <a:prstGeom prst="rect">
            <a:avLst/>
          </a:prstGeom>
          <a:noFill/>
        </p:spPr>
        <p:txBody>
          <a:bodyPr wrap="square" rtlCol="0" anchor="t">
            <a:spAutoFit/>
          </a:bodyPr>
          <a:lstStyle/>
          <a:p>
            <a:pPr fontAlgn="auto">
              <a:lnSpc>
                <a:spcPct val="130000"/>
              </a:lnSpc>
            </a:pPr>
            <a:r>
              <a:rPr lang="en-US" altLang="zh-CN" sz="2000" dirty="0">
                <a:latin typeface="微软雅黑" panose="020B0503020204020204" charset="-122"/>
                <a:ea typeface="微软雅黑" panose="020B0503020204020204" charset="-122"/>
              </a:rPr>
              <a:t>       </a:t>
            </a:r>
            <a:r>
              <a:rPr lang="zh-CN" altLang="en-US" sz="2000" dirty="0">
                <a:latin typeface="微软雅黑" panose="020B0503020204020204" charset="-122"/>
                <a:ea typeface="微软雅黑" panose="020B0503020204020204" charset="-122"/>
              </a:rPr>
              <a:t>先画出程序流程图，把每个框都用字母标注（即s，a，b，c，d，e），如图所示。其中，“y”表示条件成立时的程序流向，“n”表示条件不成立时的程序流向。再按不同逻辑覆盖法设计测试数据，写出不同测试数据所执行的路径。</a:t>
            </a:r>
          </a:p>
        </p:txBody>
      </p:sp>
      <p:pic>
        <p:nvPicPr>
          <p:cNvPr id="1026" name="图片 124"/>
          <p:cNvPicPr>
            <a:picLocks noChangeAspect="1" noChangeArrowheads="1"/>
          </p:cNvPicPr>
          <p:nvPr/>
        </p:nvPicPr>
        <p:blipFill>
          <a:blip r:embed="rId4" cstate="print"/>
          <a:srcRect/>
          <a:stretch>
            <a:fillRect/>
          </a:stretch>
        </p:blipFill>
        <p:spPr bwMode="auto">
          <a:xfrm>
            <a:off x="6019800" y="2910840"/>
            <a:ext cx="4993005" cy="3108960"/>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441190"/>
            <a:chOff x="1275" y="2210"/>
            <a:chExt cx="16654" cy="699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054"/>
              <a:chOff x="1500" y="3150"/>
              <a:chExt cx="16429" cy="605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492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163320" y="3016250"/>
            <a:ext cx="9864725" cy="2585085"/>
          </a:xfrm>
          <a:prstGeom prst="rect">
            <a:avLst/>
          </a:prstGeom>
          <a:noFill/>
        </p:spPr>
        <p:txBody>
          <a:bodyPr wrap="square" rtlCol="0" anchor="t">
            <a:spAutoFit/>
          </a:bodyPr>
          <a:lstStyle/>
          <a:p>
            <a:pPr fontAlgn="auto">
              <a:lnSpc>
                <a:spcPct val="130000"/>
              </a:lnSpc>
            </a:pPr>
            <a:r>
              <a:rPr lang="zh-CN" altLang="en-US"/>
              <a:t>（1）语句覆盖。</a:t>
            </a:r>
          </a:p>
          <a:p>
            <a:pPr fontAlgn="auto">
              <a:lnSpc>
                <a:spcPct val="130000"/>
              </a:lnSpc>
            </a:pPr>
            <a:r>
              <a:rPr lang="zh-CN" altLang="en-US"/>
              <a:t>       测试数据为A=3，B=0时，执行路径为s→a→c→b→d→e，所有语句都执行一次。</a:t>
            </a:r>
          </a:p>
          <a:p>
            <a:pPr fontAlgn="auto">
              <a:lnSpc>
                <a:spcPct val="130000"/>
              </a:lnSpc>
            </a:pPr>
            <a:r>
              <a:rPr lang="zh-CN" altLang="en-US"/>
              <a:t>（2）判定覆盖。</a:t>
            </a:r>
          </a:p>
          <a:p>
            <a:pPr fontAlgn="auto">
              <a:lnSpc>
                <a:spcPct val="130000"/>
              </a:lnSpc>
            </a:pPr>
            <a:r>
              <a:rPr lang="zh-CN" altLang="en-US"/>
              <a:t>       可用两组测试数据，当测试数据为A=3，B=0时，执行路径为s→a→c→b→d→e；当测试数据为A=2，B=0时，执行路径为s→a→b→e。</a:t>
            </a:r>
          </a:p>
          <a:p>
            <a:pPr fontAlgn="auto">
              <a:lnSpc>
                <a:spcPct val="130000"/>
              </a:lnSpc>
            </a:pPr>
            <a:r>
              <a:rPr lang="zh-CN" altLang="en-US"/>
              <a:t>这样，分支a→c，a→b，b→d及b→e都执行了一次，符合判定覆盖要求，也符合语句覆盖条件，但其中B&gt;1的条件没有满足过。</a:t>
            </a:r>
          </a:p>
        </p:txBody>
      </p:sp>
      <p:pic>
        <p:nvPicPr>
          <p:cNvPr id="144385"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441190"/>
            <a:chOff x="1275" y="2210"/>
            <a:chExt cx="16654" cy="699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054"/>
              <a:chOff x="1500" y="3150"/>
              <a:chExt cx="16429" cy="605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492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322705" y="3002280"/>
            <a:ext cx="9123045" cy="2585085"/>
          </a:xfrm>
          <a:prstGeom prst="rect">
            <a:avLst/>
          </a:prstGeom>
          <a:noFill/>
        </p:spPr>
        <p:txBody>
          <a:bodyPr wrap="square" rtlCol="0" anchor="t">
            <a:spAutoFit/>
          </a:bodyPr>
          <a:lstStyle/>
          <a:p>
            <a:pPr fontAlgn="auto">
              <a:lnSpc>
                <a:spcPct val="130000"/>
              </a:lnSpc>
            </a:pPr>
            <a:r>
              <a:rPr lang="zh-CN" altLang="en-US"/>
              <a:t>（3）条件覆盖。</a:t>
            </a:r>
          </a:p>
          <a:p>
            <a:pPr fontAlgn="auto">
              <a:lnSpc>
                <a:spcPct val="130000"/>
              </a:lnSpc>
            </a:pPr>
            <a:r>
              <a:rPr lang="zh-CN" altLang="en-US"/>
              <a:t>       要求每个判定表达式中每个条件都取到不同可能情况，一般来讲要比判定覆盖强，但有时会不如判定覆盖所经过的路径多，如本题条件为A=3或A≠3，B&gt;1或B≤1，A&gt;2或A≤2，B=0或B≠0。</a:t>
            </a:r>
          </a:p>
          <a:p>
            <a:pPr fontAlgn="auto">
              <a:lnSpc>
                <a:spcPct val="130000"/>
              </a:lnSpc>
            </a:pPr>
            <a:r>
              <a:rPr lang="zh-CN" altLang="en-US"/>
              <a:t>       当测试数据为A=2，B=2时（A≠3，B&gt;1，A≤2，B≠0），执行路径为s→a→c→b→e；当测试数据为A=3，B=0时（A=3，B≤1，A&gt;2，B=0），执行路径为s→a→c→b→d→e。</a:t>
            </a:r>
          </a:p>
          <a:p>
            <a:pPr fontAlgn="auto">
              <a:lnSpc>
                <a:spcPct val="130000"/>
              </a:lnSpc>
            </a:pPr>
            <a:r>
              <a:rPr lang="zh-CN" altLang="en-US"/>
              <a:t>这里a→b这条路径未走，比判定覆盖少走了一条路径。</a:t>
            </a:r>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895850"/>
            <a:chOff x="1275" y="2210"/>
            <a:chExt cx="16654" cy="771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770"/>
              <a:chOff x="1500" y="3150"/>
              <a:chExt cx="16429" cy="6770"/>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64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324"/>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266825" y="2933700"/>
            <a:ext cx="9761855" cy="3380740"/>
          </a:xfrm>
          <a:prstGeom prst="rect">
            <a:avLst/>
          </a:prstGeom>
          <a:noFill/>
        </p:spPr>
        <p:txBody>
          <a:bodyPr wrap="square" rtlCol="0" anchor="t">
            <a:spAutoFit/>
          </a:bodyPr>
          <a:lstStyle/>
          <a:p>
            <a:pPr fontAlgn="auto">
              <a:lnSpc>
                <a:spcPct val="120000"/>
              </a:lnSpc>
            </a:pPr>
            <a:r>
              <a:rPr lang="zh-CN" altLang="en-US"/>
              <a:t>（4）判定/条件覆盖。</a:t>
            </a:r>
          </a:p>
          <a:p>
            <a:pPr fontAlgn="auto">
              <a:lnSpc>
                <a:spcPct val="120000"/>
              </a:lnSpc>
            </a:pPr>
            <a:r>
              <a:rPr lang="zh-CN" altLang="en-US"/>
              <a:t>       从例子中可以看出，判定覆盖不一定包含条件覆盖，条件覆盖也不一定包含判定覆盖。判定/条件覆盖选取足够多的测试数据，使每个判定表达式都取到各种可能的结果，并使每个判定表达式中的每个条件都取到各种可能的值。这样一来，既做到了判定覆盖，也做到了条件覆盖。      如上例可取测试数据为：</a:t>
            </a:r>
          </a:p>
          <a:p>
            <a:pPr marL="285750" indent="-285750" fontAlgn="auto">
              <a:lnSpc>
                <a:spcPct val="120000"/>
              </a:lnSpc>
              <a:buClrTx/>
              <a:buFont typeface="Wingdings" panose="05000000000000000000" charset="0"/>
              <a:buChar char="Ø"/>
            </a:pPr>
            <a:r>
              <a:rPr lang="zh-CN" altLang="en-US"/>
              <a:t>A=3，B=0（A=3，B≤1，A&gt;2，B=0）时，执行路径为s→a→c→b→d→e；</a:t>
            </a:r>
          </a:p>
          <a:p>
            <a:pPr marL="285750" indent="-285750" fontAlgn="auto">
              <a:lnSpc>
                <a:spcPct val="120000"/>
              </a:lnSpc>
              <a:buClrTx/>
              <a:buFont typeface="Wingdings" panose="05000000000000000000" charset="0"/>
              <a:buChar char="Ø"/>
            </a:pPr>
            <a:r>
              <a:rPr lang="zh-CN" altLang="en-US"/>
              <a:t>A=2，B=0（A≠3，B≤1，A≤2，B=0）时，执行路径为s→a→b→e；</a:t>
            </a:r>
          </a:p>
          <a:p>
            <a:pPr marL="285750" indent="-285750" fontAlgn="auto">
              <a:lnSpc>
                <a:spcPct val="120000"/>
              </a:lnSpc>
              <a:buClrTx/>
              <a:buFont typeface="Wingdings" panose="05000000000000000000" charset="0"/>
              <a:buChar char="Ø"/>
            </a:pPr>
            <a:r>
              <a:rPr lang="zh-CN" altLang="en-US"/>
              <a:t>A=2，B=2（A≠3，B&gt;1，A≤2，B≠0）时，执行路径为s→a→c→b→e。</a:t>
            </a:r>
          </a:p>
          <a:p>
            <a:pPr fontAlgn="auto">
              <a:lnSpc>
                <a:spcPct val="120000"/>
              </a:lnSpc>
            </a:pPr>
            <a:r>
              <a:rPr lang="zh-CN" altLang="en-US"/>
              <a:t>       此时判定覆盖和条件覆盖都满足了，从而语句覆盖肯定也是满足的。有时满足条件覆盖标准时，各种判定情况也都包含了，也就符合了判定/条件覆盖的条件。</a:t>
            </a:r>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441190"/>
            <a:chOff x="1275" y="2210"/>
            <a:chExt cx="16654" cy="699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054"/>
              <a:chOff x="1500" y="3150"/>
              <a:chExt cx="16429" cy="605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492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353820" y="3002915"/>
            <a:ext cx="9338945" cy="2585085"/>
          </a:xfrm>
          <a:prstGeom prst="rect">
            <a:avLst/>
          </a:prstGeom>
          <a:noFill/>
        </p:spPr>
        <p:txBody>
          <a:bodyPr wrap="square" rtlCol="0" anchor="t">
            <a:spAutoFit/>
          </a:bodyPr>
          <a:lstStyle/>
          <a:p>
            <a:pPr fontAlgn="auto">
              <a:lnSpc>
                <a:spcPct val="130000"/>
              </a:lnSpc>
            </a:pPr>
            <a:r>
              <a:rPr lang="zh-CN" altLang="en-US" dirty="0"/>
              <a:t>（5）条件组合覆盖。</a:t>
            </a:r>
          </a:p>
          <a:p>
            <a:pPr fontAlgn="auto">
              <a:lnSpc>
                <a:spcPct val="130000"/>
              </a:lnSpc>
            </a:pPr>
            <a:r>
              <a:rPr lang="zh-CN" altLang="en-US" dirty="0"/>
              <a:t>       条件组合覆盖要求选取更多的测试数据，使每个判定表达式中条件的各种可能组合都至少出现一次，从而达到更强的逻辑覆盖标准（见表4-1）。</a:t>
            </a:r>
          </a:p>
          <a:p>
            <a:pPr fontAlgn="auto">
              <a:lnSpc>
                <a:spcPct val="130000"/>
              </a:lnSpc>
            </a:pPr>
            <a:r>
              <a:rPr lang="zh-CN" altLang="en-US" dirty="0"/>
              <a:t>       显然，满足条件组合覆盖要求的测试数据，也一定满足判定覆盖、条件覆盖和判定/条件覆盖的要求。可见，条件组合覆盖是前面介绍的几种覆盖中最强的逻辑覆盖。在满足条件组合覆盖要求的测试进行后，仍需检查一下执行路径，确认是否遗漏测试路径。</a:t>
            </a:r>
          </a:p>
          <a:p>
            <a:pPr fontAlgn="auto">
              <a:lnSpc>
                <a:spcPct val="130000"/>
              </a:lnSpc>
            </a:pPr>
            <a:r>
              <a:rPr lang="zh-CN" altLang="en-US" dirty="0"/>
              <a:t>      测试数据可以检测的程序路径的多少，也是对程序测试详尽程度的反映。</a:t>
            </a:r>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19225"/>
            <a:ext cx="10575290" cy="4441190"/>
            <a:chOff x="1275" y="2210"/>
            <a:chExt cx="16654" cy="699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500" y="3150"/>
              <a:ext cx="16429" cy="6054"/>
              <a:chOff x="1500" y="3150"/>
              <a:chExt cx="16429" cy="605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492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288"/>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graphicFrame>
        <p:nvGraphicFramePr>
          <p:cNvPr id="15" name="表格 14"/>
          <p:cNvGraphicFramePr>
            <a:graphicFrameLocks noGrp="1"/>
          </p:cNvGraphicFramePr>
          <p:nvPr/>
        </p:nvGraphicFramePr>
        <p:xfrm>
          <a:off x="1188720" y="3482336"/>
          <a:ext cx="9814559" cy="2141223"/>
        </p:xfrm>
        <a:graphic>
          <a:graphicData uri="http://schemas.openxmlformats.org/drawingml/2006/table">
            <a:tbl>
              <a:tblPr/>
              <a:tblGrid>
                <a:gridCol w="1097904"/>
                <a:gridCol w="1707984"/>
                <a:gridCol w="2057814"/>
                <a:gridCol w="1097904"/>
                <a:gridCol w="1899241"/>
                <a:gridCol w="1953712"/>
              </a:tblGrid>
              <a:tr h="305889">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序号</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条件组合</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执行路径</a:t>
                      </a: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序号</a:t>
                      </a: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条件组合</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c>
                  <a:txBody>
                    <a:bodyPr/>
                    <a:lstStyle/>
                    <a:p>
                      <a:pPr algn="ctr">
                        <a:spcAft>
                          <a:spcPts val="0"/>
                        </a:spcAft>
                      </a:pPr>
                      <a:r>
                        <a:rPr lang="zh-CN" sz="1600" kern="500">
                          <a:latin typeface="Times New Roman" panose="02020603050405020304"/>
                          <a:ea typeface="宋体" panose="02010600030101010101" pitchFamily="2" charset="-122"/>
                          <a:cs typeface="Times New Roman" panose="02020603050405020304"/>
                        </a:rPr>
                        <a:t>执行路径</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ADCE9"/>
                    </a:solidFill>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A&gt;3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B&lt;0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7</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2&lt;A&lt;3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B&lt;0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2</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A&gt;3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d</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8</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2&lt;A&lt;3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d</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3</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A&gt;3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0&lt;B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9</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2&lt;A&lt;3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0&lt;B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4</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A&gt;3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B&gt;1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c</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10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2&lt;A&lt;3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B&gt;1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c</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5</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c</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a:noFill/>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11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2</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a:noFill/>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a:noFill/>
                    </a:lnB>
                  </a:tcPr>
                </a:tc>
              </a:tr>
              <a:tr h="305889">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6</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A=3</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B=0</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c</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d</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9050" cap="flat" cmpd="dbl"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600" kern="500" dirty="0">
                          <a:latin typeface="Times New Roman" panose="02020603050405020304"/>
                          <a:ea typeface="宋体" panose="02010600030101010101" pitchFamily="2" charset="-122"/>
                          <a:cs typeface="Times New Roman" panose="02020603050405020304"/>
                        </a:rPr>
                        <a:t>12</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9050" cap="flat" cmpd="dbl"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just">
                        <a:spcAft>
                          <a:spcPts val="0"/>
                        </a:spcAft>
                      </a:pPr>
                      <a:r>
                        <a:rPr lang="en-US" sz="1600" kern="500" dirty="0">
                          <a:latin typeface="Times New Roman" panose="02020603050405020304"/>
                          <a:ea typeface="宋体" panose="02010600030101010101" pitchFamily="2" charset="-122"/>
                          <a:cs typeface="Times New Roman" panose="02020603050405020304"/>
                        </a:rPr>
                        <a:t>A</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2</a:t>
                      </a:r>
                      <a:r>
                        <a:rPr lang="zh-CN" sz="1600" kern="50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B&gt;1</a:t>
                      </a:r>
                      <a:endParaRPr lang="zh-CN" sz="1600" kern="50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tcPr>
                </a:tc>
                <a:tc>
                  <a:txBody>
                    <a:bodyPr/>
                    <a:lstStyle/>
                    <a:p>
                      <a:pPr indent="57150" algn="l">
                        <a:spcAft>
                          <a:spcPts val="0"/>
                        </a:spcAft>
                      </a:pPr>
                      <a:r>
                        <a:rPr lang="en-US" sz="1600" kern="500" dirty="0">
                          <a:latin typeface="Times New Roman" panose="02020603050405020304"/>
                          <a:ea typeface="宋体" panose="02010600030101010101" pitchFamily="2" charset="-122"/>
                          <a:cs typeface="Times New Roman" panose="02020603050405020304"/>
                        </a:rPr>
                        <a:t>s</a:t>
                      </a:r>
                      <a:r>
                        <a:rPr lang="zh-CN" sz="1600" kern="500" dirty="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a</a:t>
                      </a:r>
                      <a:r>
                        <a:rPr lang="zh-CN" sz="1600" kern="500" dirty="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c</a:t>
                      </a:r>
                      <a:r>
                        <a:rPr lang="zh-CN" sz="1600" kern="500" dirty="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b</a:t>
                      </a:r>
                      <a:r>
                        <a:rPr lang="zh-CN" sz="1600" kern="500" dirty="0">
                          <a:latin typeface="Times New Roman" panose="02020603050405020304"/>
                          <a:ea typeface="宋体" panose="02010600030101010101" pitchFamily="2" charset="-122"/>
                          <a:cs typeface="Times New Roman" panose="02020603050405020304"/>
                        </a:rPr>
                        <a:t>→</a:t>
                      </a:r>
                      <a:r>
                        <a:rPr lang="en-US" sz="1600" kern="500" dirty="0">
                          <a:latin typeface="Times New Roman" panose="02020603050405020304"/>
                          <a:ea typeface="宋体" panose="02010600030101010101" pitchFamily="2" charset="-122"/>
                          <a:cs typeface="Times New Roman" panose="02020603050405020304"/>
                        </a:rPr>
                        <a:t>e</a:t>
                      </a:r>
                      <a:endParaRPr lang="zh-CN" sz="1600" kern="500" dirty="0">
                        <a:latin typeface="Times New Roman" panose="02020603050405020304"/>
                        <a:ea typeface="宋体" panose="02010600030101010101" pitchFamily="2" charset="-122"/>
                        <a:cs typeface="Times New Roman" panose="02020603050405020304"/>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tcPr>
                </a:tc>
              </a:tr>
            </a:tbl>
          </a:graphicData>
        </a:graphic>
      </p:graphicFrame>
      <p:sp>
        <p:nvSpPr>
          <p:cNvPr id="17" name="矩形 16"/>
          <p:cNvSpPr/>
          <p:nvPr/>
        </p:nvSpPr>
        <p:spPr>
          <a:xfrm>
            <a:off x="3397974" y="3061454"/>
            <a:ext cx="5365571" cy="369332"/>
          </a:xfrm>
          <a:prstGeom prst="rect">
            <a:avLst/>
          </a:prstGeom>
        </p:spPr>
        <p:txBody>
          <a:bodyPr wrap="none">
            <a:spAutoFit/>
          </a:bodyPr>
          <a:lstStyle/>
          <a:p>
            <a:r>
              <a:rPr lang="zh-CN" altLang="en-US" dirty="0" smtClean="0">
                <a:solidFill>
                  <a:srgbClr val="002060"/>
                </a:solidFill>
              </a:rPr>
              <a:t>表</a:t>
            </a:r>
            <a:r>
              <a:rPr lang="en-US" dirty="0" smtClean="0">
                <a:solidFill>
                  <a:srgbClr val="002060"/>
                </a:solidFill>
              </a:rPr>
              <a:t>4-1  </a:t>
            </a:r>
            <a:r>
              <a:rPr lang="zh-CN" altLang="en-US" dirty="0" smtClean="0">
                <a:solidFill>
                  <a:srgbClr val="002060"/>
                </a:solidFill>
              </a:rPr>
              <a:t>例</a:t>
            </a:r>
            <a:r>
              <a:rPr lang="en-US" dirty="0" smtClean="0">
                <a:solidFill>
                  <a:srgbClr val="002060"/>
                </a:solidFill>
              </a:rPr>
              <a:t>4-1</a:t>
            </a:r>
            <a:r>
              <a:rPr lang="zh-CN" altLang="en-US" dirty="0" smtClean="0">
                <a:solidFill>
                  <a:srgbClr val="002060"/>
                </a:solidFill>
              </a:rPr>
              <a:t>测试数据的条件组合及对应的执行路径</a:t>
            </a:r>
            <a:endParaRPr lang="zh-CN" altLang="en-US" dirty="0">
              <a:solidFill>
                <a:srgbClr val="002060"/>
              </a:solidFill>
            </a:endParaRPr>
          </a:p>
        </p:txBody>
      </p:sp>
    </p:spTree>
  </p:cSld>
  <p:clrMapOvr>
    <a:masterClrMapping/>
  </p:clrMapOvr>
  <p:transition>
    <p:pull dir="rd"/>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5290" cy="4737735"/>
            <a:chOff x="1275" y="2210"/>
            <a:chExt cx="16654" cy="746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521"/>
              <a:chOff x="1500" y="3150"/>
              <a:chExt cx="16429" cy="652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39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857"/>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414145" y="3276600"/>
            <a:ext cx="6556375" cy="2252924"/>
          </a:xfrm>
          <a:prstGeom prst="rect">
            <a:avLst/>
          </a:prstGeom>
          <a:noFill/>
        </p:spPr>
        <p:txBody>
          <a:bodyPr wrap="square" rtlCol="0" anchor="t">
            <a:spAutoFit/>
          </a:bodyPr>
          <a:lstStyle/>
          <a:p>
            <a:pPr fontAlgn="auto">
              <a:lnSpc>
                <a:spcPct val="130000"/>
              </a:lnSpc>
            </a:pPr>
            <a:r>
              <a:rPr lang="zh-CN" altLang="en-US" dirty="0"/>
              <a:t>（6）点覆盖。</a:t>
            </a:r>
          </a:p>
          <a:p>
            <a:pPr fontAlgn="auto">
              <a:lnSpc>
                <a:spcPct val="130000"/>
              </a:lnSpc>
            </a:pPr>
            <a:r>
              <a:rPr lang="zh-CN" altLang="en-US" dirty="0"/>
              <a:t>       把程序</a:t>
            </a:r>
            <a:r>
              <a:rPr lang="zh-CN" altLang="en-US" dirty="0" smtClean="0"/>
              <a:t>流程图中</a:t>
            </a:r>
            <a:r>
              <a:rPr lang="zh-CN" altLang="en-US" dirty="0"/>
              <a:t>的每个框看成一个点，把原来连接不同处理符号的箭头改为连接不同点的有向弧，就可以得到程序图，如</a:t>
            </a:r>
            <a:r>
              <a:rPr lang="zh-CN" altLang="en-US" dirty="0" smtClean="0"/>
              <a:t>图所</a:t>
            </a:r>
            <a:r>
              <a:rPr lang="zh-CN" altLang="en-US" dirty="0"/>
              <a:t>示。点覆盖测试要求选取足够多的数据，使得程序执行时至少经过程序图中的每个点一次。如本题选A=3，B=0即可。显然，点覆盖和语句覆盖的要求是相同的。</a:t>
            </a:r>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
        <p:nvSpPr>
          <p:cNvPr id="136220" name="Rectangle 28"/>
          <p:cNvSpPr>
            <a:spLocks noChangeArrowheads="1"/>
          </p:cNvSpPr>
          <p:nvPr/>
        </p:nvSpPr>
        <p:spPr bwMode="auto">
          <a:xfrm>
            <a:off x="0" y="0"/>
            <a:ext cx="12192000" cy="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136193" name="组合 8732"/>
          <p:cNvGrpSpPr/>
          <p:nvPr/>
        </p:nvGrpSpPr>
        <p:grpSpPr bwMode="auto">
          <a:xfrm>
            <a:off x="8412480" y="2941320"/>
            <a:ext cx="2407920" cy="3048000"/>
            <a:chOff x="4113" y="5043"/>
            <a:chExt cx="1402" cy="2379"/>
          </a:xfrm>
        </p:grpSpPr>
        <p:sp>
          <p:nvSpPr>
            <p:cNvPr id="136219" name="椭圆 8733"/>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8" name="椭圆 8734"/>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7" name="椭圆 8735"/>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6" name="椭圆 8736"/>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36215" name="自选图形 8737"/>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4" name="自选图形 8738"/>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3" name="自选图形 8739"/>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2" name="自选图形 8740"/>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1" name="自选图形 8741"/>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210" name="文本框 8742"/>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s</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9" name="文本框 8743"/>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a</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8" name="文本框 8744"/>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b</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7" name="文本框 8745"/>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e</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6" name="文本框 8746"/>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c</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5" name="文本框 8747"/>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d</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4" name="文本框 8748"/>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1</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3" name="文本框 8749"/>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2</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2" name="文本框 8750"/>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3</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1" name="文本框 8751"/>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4</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200" name="文本框 8752"/>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5</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199" name="文本框 8753"/>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6</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198" name="文本框 8754"/>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7</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136197" name="弧形 8755"/>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196" name="椭圆 8756"/>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136195" name="弧形 8757"/>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136194" name="椭圆 8758"/>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5290" cy="4895850"/>
            <a:chOff x="1275" y="2210"/>
            <a:chExt cx="16654" cy="7710"/>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770"/>
              <a:chOff x="1500" y="3150"/>
              <a:chExt cx="16429" cy="6770"/>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64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01"/>
                <a:ext cx="15536" cy="5324"/>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307465" y="2858770"/>
            <a:ext cx="9721850" cy="3297555"/>
          </a:xfrm>
          <a:prstGeom prst="rect">
            <a:avLst/>
          </a:prstGeom>
          <a:noFill/>
        </p:spPr>
        <p:txBody>
          <a:bodyPr wrap="square" rtlCol="0" anchor="t">
            <a:spAutoFit/>
          </a:bodyPr>
          <a:lstStyle/>
          <a:p>
            <a:pPr fontAlgn="auto">
              <a:lnSpc>
                <a:spcPct val="130000"/>
              </a:lnSpc>
            </a:pPr>
            <a:r>
              <a:rPr lang="zh-CN" altLang="en-US"/>
              <a:t>（7）边覆盖。</a:t>
            </a:r>
          </a:p>
          <a:p>
            <a:pPr fontAlgn="auto">
              <a:lnSpc>
                <a:spcPct val="130000"/>
              </a:lnSpc>
            </a:pPr>
            <a:r>
              <a:rPr lang="zh-CN" altLang="en-US"/>
              <a:t>       边覆盖要求选取足够多的测试数据，使程序执行路径至少经过程序图中的每条边一次。在程序图中把每条弧都标注序号，可写出测试路径，如图4-2所示。例如，选取测试数据为：</a:t>
            </a:r>
          </a:p>
          <a:p>
            <a:pPr marL="285750" indent="-285750" fontAlgn="auto">
              <a:lnSpc>
                <a:spcPct val="130000"/>
              </a:lnSpc>
              <a:buClrTx/>
              <a:buFont typeface="Wingdings" panose="05000000000000000000" charset="0"/>
              <a:buChar char="Ø"/>
            </a:pPr>
            <a:r>
              <a:rPr lang="zh-CN" altLang="en-US"/>
              <a:t>A=3，B=0时，执行路径为1→4→5→6→7；</a:t>
            </a:r>
          </a:p>
          <a:p>
            <a:pPr marL="285750" indent="-285750" fontAlgn="auto">
              <a:lnSpc>
                <a:spcPct val="130000"/>
              </a:lnSpc>
              <a:buClrTx/>
              <a:buFont typeface="Wingdings" panose="05000000000000000000" charset="0"/>
              <a:buChar char="Ø"/>
            </a:pPr>
            <a:r>
              <a:rPr lang="zh-CN" altLang="en-US"/>
              <a:t>A=2，B= –1时，执行路径为1→2→3。 </a:t>
            </a:r>
          </a:p>
          <a:p>
            <a:pPr fontAlgn="auto">
              <a:lnSpc>
                <a:spcPct val="130000"/>
              </a:lnSpc>
            </a:pPr>
            <a:r>
              <a:rPr lang="zh-CN" altLang="en-US"/>
              <a:t>或选取测试数据为：</a:t>
            </a:r>
          </a:p>
          <a:p>
            <a:pPr marL="285750" indent="-285750" fontAlgn="auto">
              <a:lnSpc>
                <a:spcPct val="130000"/>
              </a:lnSpc>
              <a:buClrTx/>
              <a:buFont typeface="Wingdings" panose="05000000000000000000" charset="0"/>
              <a:buChar char="Ø"/>
            </a:pPr>
            <a:r>
              <a:rPr lang="zh-CN" altLang="en-US"/>
              <a:t>A=3，B=2时，执行路径为1→4→5→3；</a:t>
            </a:r>
          </a:p>
          <a:p>
            <a:pPr marL="285750" indent="-285750" fontAlgn="auto">
              <a:lnSpc>
                <a:spcPct val="130000"/>
              </a:lnSpc>
              <a:buClrTx/>
              <a:buFont typeface="Wingdings" panose="05000000000000000000" charset="0"/>
              <a:buChar char="Ø"/>
            </a:pPr>
            <a:r>
              <a:rPr lang="zh-CN" altLang="en-US"/>
              <a:t>A=4，B=0时，执行路径为1→2→6→7。</a:t>
            </a:r>
          </a:p>
          <a:p>
            <a:pPr fontAlgn="auto">
              <a:lnSpc>
                <a:spcPct val="130000"/>
              </a:lnSpc>
            </a:pPr>
            <a:r>
              <a:rPr lang="zh-CN" altLang="en-US"/>
              <a:t>这样可使程序执行路径至少经过程序图（见图4-2）中的每条边一次。</a:t>
            </a:r>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5290" cy="4684395"/>
            <a:chOff x="1275" y="2210"/>
            <a:chExt cx="16654" cy="7377"/>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437"/>
              <a:chOff x="1500" y="3150"/>
              <a:chExt cx="16429" cy="6437"/>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312"/>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7" y="4595"/>
                <a:ext cx="15536" cy="4806"/>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337945" y="2918460"/>
            <a:ext cx="9123045" cy="3297555"/>
          </a:xfrm>
          <a:prstGeom prst="rect">
            <a:avLst/>
          </a:prstGeom>
          <a:noFill/>
        </p:spPr>
        <p:txBody>
          <a:bodyPr wrap="square" rtlCol="0" anchor="t">
            <a:spAutoFit/>
          </a:bodyPr>
          <a:lstStyle/>
          <a:p>
            <a:pPr fontAlgn="auto">
              <a:lnSpc>
                <a:spcPct val="130000"/>
              </a:lnSpc>
            </a:pPr>
            <a:r>
              <a:rPr lang="zh-CN" altLang="en-US"/>
              <a:t>（8）基本路径覆盖。</a:t>
            </a:r>
          </a:p>
          <a:p>
            <a:pPr fontAlgn="auto">
              <a:lnSpc>
                <a:spcPct val="130000"/>
              </a:lnSpc>
            </a:pPr>
            <a:r>
              <a:rPr lang="zh-CN" altLang="en-US"/>
              <a:t>       基本路径覆盖要求选取足够多的测试数据，使程序的每条可能执行路径都至少执行一次。图中可能执行的路径有4条：1→2→3，1→2→6→7，1→4→5→3，1→4→5→6→7。为了做到路径覆盖，须设计4组测试数据，如：</a:t>
            </a:r>
          </a:p>
          <a:p>
            <a:pPr marL="285750" indent="-285750" fontAlgn="auto">
              <a:lnSpc>
                <a:spcPct val="130000"/>
              </a:lnSpc>
              <a:buClrTx/>
              <a:buFont typeface="Wingdings" panose="05000000000000000000" charset="0"/>
              <a:buChar char="Ø"/>
            </a:pPr>
            <a:r>
              <a:rPr lang="zh-CN" altLang="en-US"/>
              <a:t>A=1，B=1（执行路径为1→2→3）；</a:t>
            </a:r>
          </a:p>
          <a:p>
            <a:pPr marL="285750" indent="-285750" fontAlgn="auto">
              <a:lnSpc>
                <a:spcPct val="130000"/>
              </a:lnSpc>
              <a:buClrTx/>
              <a:buFont typeface="Wingdings" panose="05000000000000000000" charset="0"/>
              <a:buChar char="Ø"/>
            </a:pPr>
            <a:r>
              <a:rPr lang="zh-CN" altLang="en-US"/>
              <a:t>A=4，B=0（执行路径为1→2→6→7）；</a:t>
            </a:r>
          </a:p>
          <a:p>
            <a:pPr marL="285750" indent="-285750" fontAlgn="auto">
              <a:lnSpc>
                <a:spcPct val="130000"/>
              </a:lnSpc>
              <a:buClrTx/>
              <a:buFont typeface="Wingdings" panose="05000000000000000000" charset="0"/>
              <a:buChar char="Ø"/>
            </a:pPr>
            <a:r>
              <a:rPr lang="zh-CN" altLang="en-US"/>
              <a:t>A=1，B=2（执行路径为1→4→5→3）；</a:t>
            </a:r>
          </a:p>
          <a:p>
            <a:pPr marL="285750" indent="-285750" fontAlgn="auto">
              <a:lnSpc>
                <a:spcPct val="130000"/>
              </a:lnSpc>
              <a:buClrTx/>
              <a:buFont typeface="Wingdings" panose="05000000000000000000" charset="0"/>
              <a:buChar char="Ø"/>
            </a:pPr>
            <a:r>
              <a:rPr lang="zh-CN" altLang="en-US"/>
              <a:t>A=3，B=0（执行路径为1→4→5→6→7）。</a:t>
            </a:r>
          </a:p>
          <a:p>
            <a:pPr fontAlgn="auto">
              <a:lnSpc>
                <a:spcPct val="130000"/>
              </a:lnSpc>
            </a:pPr>
            <a:endParaRPr lang="zh-CN" altLang="en-US"/>
          </a:p>
        </p:txBody>
      </p:sp>
      <p:pic>
        <p:nvPicPr>
          <p:cNvPr id="14" name="图片 124"/>
          <p:cNvPicPr>
            <a:picLocks noChangeAspect="1" noChangeArrowheads="1"/>
          </p:cNvPicPr>
          <p:nvPr/>
        </p:nvPicPr>
        <p:blipFill>
          <a:blip r:embed="rId4" cstate="print"/>
          <a:srcRect/>
          <a:stretch>
            <a:fillRect/>
          </a:stretch>
        </p:blipFill>
        <p:spPr bwMode="auto">
          <a:xfrm>
            <a:off x="8290560" y="198120"/>
            <a:ext cx="2935605" cy="2424006"/>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5290" cy="5004435"/>
            <a:chOff x="1275" y="2210"/>
            <a:chExt cx="16654" cy="78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941"/>
              <a:chOff x="1500" y="3150"/>
              <a:chExt cx="16429" cy="694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对以下用PDL表示的程序进行测试。</a:t>
                </a:r>
              </a:p>
            </p:txBody>
          </p:sp>
          <p:sp>
            <p:nvSpPr>
              <p:cNvPr id="24" name="矩形 23"/>
              <p:cNvSpPr>
                <a:spLocks noChangeAspect="1"/>
              </p:cNvSpPr>
              <p:nvPr/>
            </p:nvSpPr>
            <p:spPr>
              <a:xfrm>
                <a:off x="1500" y="4275"/>
                <a:ext cx="16429" cy="58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4-1</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324"/>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189355" y="2918460"/>
            <a:ext cx="9839325" cy="3693319"/>
          </a:xfrm>
          <a:prstGeom prst="rect">
            <a:avLst/>
          </a:prstGeom>
          <a:noFill/>
        </p:spPr>
        <p:txBody>
          <a:bodyPr wrap="square" rtlCol="0" anchor="t">
            <a:spAutoFit/>
          </a:bodyPr>
          <a:lstStyle/>
          <a:p>
            <a:pPr fontAlgn="auto">
              <a:lnSpc>
                <a:spcPct val="130000"/>
              </a:lnSpc>
            </a:pPr>
            <a:r>
              <a:rPr lang="en-US" altLang="zh-CN" dirty="0"/>
              <a:t>        </a:t>
            </a:r>
            <a:r>
              <a:rPr lang="zh-CN" altLang="en-US" dirty="0">
                <a:solidFill>
                  <a:srgbClr val="0070C0"/>
                </a:solidFill>
              </a:rPr>
              <a:t>基本路径覆盖是相当强的逻辑覆盖测试标准，用这个标准测试程序可保证程序中每条可能的路径都至少执行一次，因而测试数据有代表性，检错能力较强。</a:t>
            </a:r>
            <a:r>
              <a:rPr lang="zh-CN" altLang="en-US" dirty="0"/>
              <a:t>但路径覆盖只考虑每个判定表达式的取值，并不考虑表达式中各种可能的组合情况。基本路径覆盖测试技术设计测试用例的步骤如下：① 根据过程设计结果画出程序图。</a:t>
            </a:r>
          </a:p>
          <a:p>
            <a:pPr fontAlgn="auto">
              <a:lnSpc>
                <a:spcPct val="130000"/>
              </a:lnSpc>
            </a:pPr>
            <a:r>
              <a:rPr lang="zh-CN" altLang="en-US" dirty="0"/>
              <a:t>           ② 计算程序图的环形复杂度（第4.5.5节介绍）。</a:t>
            </a:r>
          </a:p>
          <a:p>
            <a:pPr fontAlgn="auto">
              <a:lnSpc>
                <a:spcPct val="130000"/>
              </a:lnSpc>
            </a:pPr>
            <a:r>
              <a:rPr lang="zh-CN" altLang="en-US" dirty="0"/>
              <a:t>           ③ 确定线性独立路径的基本集合。</a:t>
            </a:r>
          </a:p>
          <a:p>
            <a:pPr fontAlgn="auto">
              <a:lnSpc>
                <a:spcPct val="130000"/>
              </a:lnSpc>
            </a:pPr>
            <a:r>
              <a:rPr lang="zh-CN" altLang="en-US" dirty="0"/>
              <a:t>           ④ 设计可强行执行基本集合中每条路径的测试用例。</a:t>
            </a:r>
          </a:p>
          <a:p>
            <a:pPr fontAlgn="auto">
              <a:lnSpc>
                <a:spcPct val="130000"/>
              </a:lnSpc>
            </a:pPr>
            <a:r>
              <a:rPr lang="zh-CN" altLang="en-US" dirty="0"/>
              <a:t>           ⑤ 执行每个测试用例，并把实际输出结果与预期结果相比较。</a:t>
            </a:r>
          </a:p>
          <a:p>
            <a:pPr fontAlgn="auto">
              <a:lnSpc>
                <a:spcPct val="130000"/>
              </a:lnSpc>
            </a:pPr>
            <a:r>
              <a:rPr lang="zh-CN" altLang="en-US" dirty="0"/>
              <a:t>        若把基本路径覆盖和条件组合覆盖相结合，可以设计出更完善的测试方案。</a:t>
            </a:r>
          </a:p>
          <a:p>
            <a:pPr fontAlgn="auto">
              <a:lnSpc>
                <a:spcPct val="130000"/>
              </a:lnSpc>
            </a:pPr>
            <a:endParaRPr lang="zh-CN" altLang="en-US" dirty="0"/>
          </a:p>
        </p:txBody>
      </p:sp>
    </p:spTree>
  </p:cSld>
  <p:clrMapOvr>
    <a:masterClrMapping/>
  </p:clrMapOvr>
  <p:transition>
    <p:pull dir="rd"/>
  </p:transition>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00" name="文本框 99"/>
          <p:cNvSpPr txBox="1"/>
          <p:nvPr/>
        </p:nvSpPr>
        <p:spPr>
          <a:xfrm>
            <a:off x="1473200" y="2378710"/>
            <a:ext cx="9799851" cy="3293209"/>
          </a:xfrm>
          <a:prstGeom prst="rect">
            <a:avLst/>
          </a:prstGeom>
          <a:noFill/>
          <a:ln w="9525">
            <a:noFill/>
          </a:ln>
        </p:spPr>
        <p:txBody>
          <a:bodyPr wrap="square">
            <a:spAutoFit/>
          </a:bodyPr>
          <a:lstStyle/>
          <a:p>
            <a:pPr marL="0" indent="0" algn="l" fontAlgn="auto">
              <a:lnSpc>
                <a:spcPct val="130000"/>
              </a:lnSpc>
            </a:pPr>
            <a:r>
              <a:rPr lang="en-US" sz="2000" dirty="0">
                <a:latin typeface="微软雅黑" panose="020B0503020204020204" charset="-122"/>
                <a:ea typeface="微软雅黑" panose="020B0503020204020204" charset="-122"/>
                <a:sym typeface="+mn-ea"/>
              </a:rPr>
              <a:t>       </a:t>
            </a:r>
            <a:r>
              <a:rPr sz="2000" dirty="0">
                <a:latin typeface="微软雅黑" panose="020B0503020204020204" charset="-122"/>
                <a:ea typeface="微软雅黑" panose="020B0503020204020204" charset="-122"/>
                <a:sym typeface="+mn-ea"/>
              </a:rPr>
              <a:t>详细设计阶段设计出的模块质量不仅可以用前面介绍的基本原理进行衡量，还可以用比较可行的定量度量的方法进行衡量。目前许多定量度量软件复杂程度的方法还处在研究之中，本节介绍比较成熟的、使用比较广泛的McCabe方法</a:t>
            </a:r>
            <a:r>
              <a:rPr sz="2000" dirty="0" smtClean="0">
                <a:latin typeface="微软雅黑" panose="020B0503020204020204" charset="-122"/>
                <a:ea typeface="微软雅黑" panose="020B0503020204020204" charset="-122"/>
                <a:sym typeface="+mn-ea"/>
              </a:rPr>
              <a:t>。</a:t>
            </a:r>
            <a:endParaRPr lang="en-US" sz="2000" dirty="0" smtClean="0">
              <a:latin typeface="微软雅黑" panose="020B0503020204020204" charset="-122"/>
              <a:ea typeface="微软雅黑" panose="020B0503020204020204" charset="-122"/>
              <a:sym typeface="+mn-ea"/>
            </a:endParaRPr>
          </a:p>
          <a:p>
            <a:pPr marL="0" indent="0" algn="l" fontAlgn="auto">
              <a:lnSpc>
                <a:spcPct val="130000"/>
              </a:lnSpc>
            </a:pPr>
            <a:endParaRPr sz="2000" dirty="0">
              <a:latin typeface="微软雅黑" panose="020B0503020204020204" charset="-122"/>
              <a:ea typeface="微软雅黑" panose="020B0503020204020204" charset="-122"/>
              <a:sym typeface="+mn-ea"/>
            </a:endParaRPr>
          </a:p>
          <a:p>
            <a:pPr marL="0" indent="0" algn="l" fontAlgn="auto">
              <a:lnSpc>
                <a:spcPct val="130000"/>
              </a:lnSpc>
            </a:pPr>
            <a:r>
              <a:rPr sz="2000" dirty="0">
                <a:latin typeface="微软雅黑" panose="020B0503020204020204" charset="-122"/>
                <a:ea typeface="微软雅黑" panose="020B0503020204020204" charset="-122"/>
                <a:sym typeface="+mn-ea"/>
              </a:rPr>
              <a:t>       </a:t>
            </a:r>
            <a:r>
              <a:rPr sz="2000" dirty="0">
                <a:solidFill>
                  <a:srgbClr val="C00000"/>
                </a:solidFill>
                <a:latin typeface="微软雅黑" panose="020B0503020204020204" charset="-122"/>
                <a:ea typeface="微软雅黑" panose="020B0503020204020204" charset="-122"/>
                <a:sym typeface="+mn-ea"/>
              </a:rPr>
              <a:t>McCabe方法根据程序控制流的复杂程度，定量度量程序的复杂程度。</a:t>
            </a:r>
            <a:r>
              <a:rPr sz="2000" dirty="0">
                <a:solidFill>
                  <a:srgbClr val="00B050"/>
                </a:solidFill>
                <a:latin typeface="微软雅黑" panose="020B0503020204020204" charset="-122"/>
                <a:ea typeface="微软雅黑" panose="020B0503020204020204" charset="-122"/>
                <a:sym typeface="+mn-ea"/>
              </a:rPr>
              <a:t>首先画出程序图，然后计算程序的环形复杂度。</a:t>
            </a:r>
            <a:r>
              <a:rPr sz="2000" dirty="0">
                <a:latin typeface="微软雅黑" panose="020B0503020204020204" charset="-122"/>
                <a:ea typeface="微软雅黑" panose="020B0503020204020204" charset="-122"/>
                <a:sym typeface="+mn-ea"/>
              </a:rPr>
              <a:t>由于程序的环形复杂度决定了程序的独立路径个数，因而在进行路径测试前，可以先计算程序的环形复杂度。经验表明，程序越复杂，越容易出错，测试和维护起来也越难。</a:t>
            </a:r>
          </a:p>
        </p:txBody>
      </p:sp>
      <p:sp>
        <p:nvSpPr>
          <p:cNvPr id="7"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4.5.5 </a:t>
            </a:r>
            <a:r>
              <a:rPr lang="zh-CN" altLang="en-US" spc="160" dirty="0" smtClean="0">
                <a:solidFill>
                  <a:schemeClr val="bg1"/>
                </a:solidFill>
                <a:latin typeface="微软雅黑" panose="020B0503020204020204" charset="-122"/>
                <a:ea typeface="微软雅黑" panose="020B0503020204020204" charset="-122"/>
              </a:rPr>
              <a:t>程序环形复杂程度的度量</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lang="zh-CN" altLang="en-US" b="1" kern="0" dirty="0" smtClean="0">
                <a:latin typeface="微软雅黑" panose="020B0503020204020204" charset="-122"/>
                <a:ea typeface="微软雅黑" panose="020B0503020204020204" charset="-122"/>
              </a:rPr>
              <a:t>程序图</a:t>
            </a:r>
            <a:endParaRPr kumimoji="0" lang="zh-CN" altLang="en-US" sz="1800" b="1" i="0" u="none" strike="noStrike" kern="0" cap="none" spc="0" normalizeH="0" baseline="0" dirty="0">
              <a:ln>
                <a:noFill/>
              </a:ln>
              <a:solidFill>
                <a:schemeClr val="tx1"/>
              </a:solidFill>
              <a:effectLst/>
              <a:uLnTx/>
              <a:uFillTx/>
              <a:latin typeface="微软雅黑" panose="020B0503020204020204" charset="-122"/>
              <a:ea typeface="微软雅黑" panose="020B0503020204020204" charset="-122"/>
            </a:endParaRPr>
          </a:p>
        </p:txBody>
      </p:sp>
      <p:sp>
        <p:nvSpPr>
          <p:cNvPr id="100" name="文本框 99"/>
          <p:cNvSpPr txBox="1"/>
          <p:nvPr/>
        </p:nvSpPr>
        <p:spPr>
          <a:xfrm>
            <a:off x="1457961" y="2150110"/>
            <a:ext cx="5278119" cy="3293209"/>
          </a:xfrm>
          <a:prstGeom prst="rect">
            <a:avLst/>
          </a:prstGeom>
          <a:noFill/>
          <a:ln w="9525">
            <a:noFill/>
          </a:ln>
        </p:spPr>
        <p:txBody>
          <a:bodyPr wrap="square">
            <a:spAutoFit/>
          </a:bodyPr>
          <a:lstStyle/>
          <a:p>
            <a:pPr>
              <a:lnSpc>
                <a:spcPct val="130000"/>
              </a:lnSpc>
            </a:pPr>
            <a:r>
              <a:rPr lang="en-US" sz="2000" dirty="0">
                <a:latin typeface="微软雅黑" panose="020B0503020204020204" charset="-122"/>
                <a:ea typeface="微软雅黑" panose="020B0503020204020204" charset="-122"/>
                <a:sym typeface="+mn-ea"/>
              </a:rPr>
              <a:t>       </a:t>
            </a:r>
            <a:r>
              <a:rPr lang="en-US" altLang="zh-CN" sz="2000" dirty="0" smtClean="0">
                <a:latin typeface="微软雅黑" panose="020B0503020204020204" charset="-122"/>
                <a:ea typeface="微软雅黑" panose="020B0503020204020204" charset="-122"/>
                <a:sym typeface="+mn-ea"/>
              </a:rPr>
              <a:t>McCabe</a:t>
            </a:r>
            <a:r>
              <a:rPr lang="zh-CN" altLang="en-US" sz="2000" dirty="0" smtClean="0">
                <a:latin typeface="微软雅黑" panose="020B0503020204020204" charset="-122"/>
                <a:ea typeface="微软雅黑" panose="020B0503020204020204" charset="-122"/>
                <a:sym typeface="+mn-ea"/>
              </a:rPr>
              <a:t>方法首先画出程序图（也称流图）。这是一种简化了的流程图，</a:t>
            </a:r>
            <a:r>
              <a:rPr lang="zh-CN" altLang="en-US" sz="2000" dirty="0" smtClean="0">
                <a:solidFill>
                  <a:srgbClr val="C00000"/>
                </a:solidFill>
                <a:latin typeface="微软雅黑" panose="020B0503020204020204" charset="-122"/>
                <a:ea typeface="微软雅黑" panose="020B0503020204020204" charset="-122"/>
                <a:sym typeface="+mn-ea"/>
              </a:rPr>
              <a:t>把程序流程图中的每个框都画成一个圆圈</a:t>
            </a:r>
            <a:r>
              <a:rPr lang="zh-CN" altLang="en-US" sz="2000" dirty="0" smtClean="0">
                <a:latin typeface="微软雅黑" panose="020B0503020204020204" charset="-122"/>
                <a:ea typeface="微软雅黑" panose="020B0503020204020204" charset="-122"/>
                <a:sym typeface="+mn-ea"/>
              </a:rPr>
              <a:t>（见图</a:t>
            </a:r>
            <a:r>
              <a:rPr lang="en-US" altLang="zh-CN" sz="2000" dirty="0" smtClean="0">
                <a:latin typeface="微软雅黑" panose="020B0503020204020204" charset="-122"/>
                <a:ea typeface="微软雅黑" panose="020B0503020204020204" charset="-122"/>
                <a:sym typeface="+mn-ea"/>
              </a:rPr>
              <a:t>4-2</a:t>
            </a:r>
            <a:r>
              <a:rPr lang="zh-CN" altLang="en-US" sz="2000" dirty="0" smtClean="0">
                <a:latin typeface="微软雅黑" panose="020B0503020204020204" charset="-122"/>
                <a:ea typeface="微软雅黑" panose="020B0503020204020204" charset="-122"/>
                <a:sym typeface="+mn-ea"/>
              </a:rPr>
              <a:t>）；</a:t>
            </a:r>
            <a:r>
              <a:rPr lang="zh-CN" altLang="en-US" sz="2000" dirty="0" smtClean="0">
                <a:solidFill>
                  <a:srgbClr val="C00000"/>
                </a:solidFill>
                <a:latin typeface="微软雅黑" panose="020B0503020204020204" charset="-122"/>
                <a:ea typeface="微软雅黑" panose="020B0503020204020204" charset="-122"/>
                <a:sym typeface="+mn-ea"/>
              </a:rPr>
              <a:t>把流程图中连接不同框的箭头变成程序图中的有向弧，这样得到的有向图称为程序图，</a:t>
            </a:r>
            <a:r>
              <a:rPr lang="zh-CN" altLang="en-US" sz="2000" dirty="0" smtClean="0">
                <a:latin typeface="微软雅黑" panose="020B0503020204020204" charset="-122"/>
                <a:ea typeface="微软雅黑" panose="020B0503020204020204" charset="-122"/>
                <a:sym typeface="+mn-ea"/>
              </a:rPr>
              <a:t>如图</a:t>
            </a:r>
            <a:r>
              <a:rPr lang="en-US" altLang="zh-CN" sz="2000" dirty="0" smtClean="0">
                <a:latin typeface="微软雅黑" panose="020B0503020204020204" charset="-122"/>
                <a:ea typeface="微软雅黑" panose="020B0503020204020204" charset="-122"/>
                <a:sym typeface="+mn-ea"/>
              </a:rPr>
              <a:t>4-2</a:t>
            </a:r>
            <a:r>
              <a:rPr lang="zh-CN" altLang="en-US" sz="2000" dirty="0" smtClean="0">
                <a:latin typeface="微软雅黑" panose="020B0503020204020204" charset="-122"/>
                <a:ea typeface="微软雅黑" panose="020B0503020204020204" charset="-122"/>
                <a:sym typeface="+mn-ea"/>
              </a:rPr>
              <a:t>、图</a:t>
            </a:r>
            <a:r>
              <a:rPr lang="en-US" altLang="zh-CN" sz="2000" dirty="0" smtClean="0">
                <a:latin typeface="微软雅黑" panose="020B0503020204020204" charset="-122"/>
                <a:ea typeface="微软雅黑" panose="020B0503020204020204" charset="-122"/>
                <a:sym typeface="+mn-ea"/>
              </a:rPr>
              <a:t>4-4</a:t>
            </a:r>
            <a:r>
              <a:rPr lang="zh-CN" altLang="en-US" sz="2000" dirty="0" smtClean="0">
                <a:latin typeface="微软雅黑" panose="020B0503020204020204" charset="-122"/>
                <a:ea typeface="微软雅黑" panose="020B0503020204020204" charset="-122"/>
                <a:sym typeface="+mn-ea"/>
              </a:rPr>
              <a:t>所示。</a:t>
            </a:r>
          </a:p>
          <a:p>
            <a:pPr>
              <a:lnSpc>
                <a:spcPct val="130000"/>
              </a:lnSpc>
            </a:pPr>
            <a:r>
              <a:rPr lang="zh-CN" altLang="en-US" sz="2000" dirty="0" smtClean="0">
                <a:latin typeface="微软雅黑" panose="020B0503020204020204" charset="-122"/>
                <a:ea typeface="微软雅黑" panose="020B0503020204020204" charset="-122"/>
                <a:sym typeface="+mn-ea"/>
              </a:rPr>
              <a:t>程序图仅描述程序内部的控制流程，完全不表现对数据的具体操作及分支或循环的具体条件。</a:t>
            </a:r>
          </a:p>
        </p:txBody>
      </p:sp>
      <p:sp>
        <p:nvSpPr>
          <p:cNvPr id="223260" name="Rectangle 28"/>
          <p:cNvSpPr>
            <a:spLocks noChangeArrowheads="1"/>
          </p:cNvSpPr>
          <p:nvPr/>
        </p:nvSpPr>
        <p:spPr bwMode="auto">
          <a:xfrm>
            <a:off x="0" y="0"/>
            <a:ext cx="12192000" cy="0"/>
          </a:xfrm>
          <a:prstGeom prst="rect">
            <a:avLst/>
          </a:prstGeom>
          <a:noFill/>
          <a:ln w="9525">
            <a:noFill/>
            <a:miter lim="800000"/>
          </a:ln>
          <a:effectLst/>
        </p:spPr>
        <p:txBody>
          <a:bodyPr vert="horz" wrap="none" lIns="91440" tIns="45720" rIns="91440" bIns="45720" numCol="1" anchor="ctr" anchorCtr="0" compatLnSpc="1">
            <a:spAutoFit/>
          </a:bodyPr>
          <a:lstStyle/>
          <a:p>
            <a:endParaRPr lang="zh-CN" altLang="en-US"/>
          </a:p>
        </p:txBody>
      </p:sp>
      <p:grpSp>
        <p:nvGrpSpPr>
          <p:cNvPr id="223233" name="组合 8732"/>
          <p:cNvGrpSpPr/>
          <p:nvPr/>
        </p:nvGrpSpPr>
        <p:grpSpPr bwMode="auto">
          <a:xfrm>
            <a:off x="6827520" y="2560320"/>
            <a:ext cx="1713548" cy="2468880"/>
            <a:chOff x="4113" y="5043"/>
            <a:chExt cx="1402" cy="2379"/>
          </a:xfrm>
        </p:grpSpPr>
        <p:sp>
          <p:nvSpPr>
            <p:cNvPr id="223259" name="椭圆 8733"/>
            <p:cNvSpPr>
              <a:spLocks noChangeArrowheads="1"/>
            </p:cNvSpPr>
            <p:nvPr/>
          </p:nvSpPr>
          <p:spPr bwMode="auto">
            <a:xfrm>
              <a:off x="4296" y="5121"/>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8" name="椭圆 8734"/>
            <p:cNvSpPr>
              <a:spLocks noChangeArrowheads="1"/>
            </p:cNvSpPr>
            <p:nvPr/>
          </p:nvSpPr>
          <p:spPr bwMode="auto">
            <a:xfrm>
              <a:off x="4296" y="5825"/>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7" name="椭圆 8735"/>
            <p:cNvSpPr>
              <a:spLocks noChangeArrowheads="1"/>
            </p:cNvSpPr>
            <p:nvPr/>
          </p:nvSpPr>
          <p:spPr bwMode="auto">
            <a:xfrm>
              <a:off x="4296" y="6529"/>
              <a:ext cx="119" cy="119"/>
            </a:xfrm>
            <a:prstGeom prst="ellipse">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6" name="椭圆 8736"/>
            <p:cNvSpPr>
              <a:spLocks noChangeArrowheads="1"/>
            </p:cNvSpPr>
            <p:nvPr/>
          </p:nvSpPr>
          <p:spPr bwMode="auto">
            <a:xfrm>
              <a:off x="4296" y="7234"/>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223255" name="自选图形 8737"/>
            <p:cNvSpPr>
              <a:spLocks noChangeShapeType="1"/>
            </p:cNvSpPr>
            <p:nvPr/>
          </p:nvSpPr>
          <p:spPr bwMode="auto">
            <a:xfrm>
              <a:off x="4358" y="5240"/>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4" name="自选图形 8738"/>
            <p:cNvSpPr>
              <a:spLocks noChangeShapeType="1"/>
            </p:cNvSpPr>
            <p:nvPr/>
          </p:nvSpPr>
          <p:spPr bwMode="auto">
            <a:xfrm>
              <a:off x="4358" y="5944"/>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3" name="自选图形 8739"/>
            <p:cNvSpPr>
              <a:spLocks noChangeShapeType="1"/>
            </p:cNvSpPr>
            <p:nvPr/>
          </p:nvSpPr>
          <p:spPr bwMode="auto">
            <a:xfrm>
              <a:off x="4358" y="6651"/>
              <a:ext cx="0" cy="585"/>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2" name="自选图形 8740"/>
            <p:cNvSpPr>
              <a:spLocks noChangeShapeType="1"/>
            </p:cNvSpPr>
            <p:nvPr/>
          </p:nvSpPr>
          <p:spPr bwMode="auto">
            <a:xfrm flipH="1">
              <a:off x="4415" y="5888"/>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1" name="自选图形 8741"/>
            <p:cNvSpPr>
              <a:spLocks noChangeShapeType="1"/>
            </p:cNvSpPr>
            <p:nvPr/>
          </p:nvSpPr>
          <p:spPr bwMode="auto">
            <a:xfrm flipH="1">
              <a:off x="4415" y="6594"/>
              <a:ext cx="805" cy="0"/>
            </a:xfrm>
            <a:prstGeom prst="straightConnector1">
              <a:avLst/>
            </a:pr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50" name="文本框 8742"/>
            <p:cNvSpPr txBox="1">
              <a:spLocks noChangeArrowheads="1"/>
            </p:cNvSpPr>
            <p:nvPr/>
          </p:nvSpPr>
          <p:spPr bwMode="auto">
            <a:xfrm>
              <a:off x="4113" y="5043"/>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s</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9" name="文本框 8743"/>
            <p:cNvSpPr txBox="1">
              <a:spLocks noChangeArrowheads="1"/>
            </p:cNvSpPr>
            <p:nvPr/>
          </p:nvSpPr>
          <p:spPr bwMode="auto">
            <a:xfrm>
              <a:off x="4113" y="575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a</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8" name="文本框 8744"/>
            <p:cNvSpPr txBox="1">
              <a:spLocks noChangeArrowheads="1"/>
            </p:cNvSpPr>
            <p:nvPr/>
          </p:nvSpPr>
          <p:spPr bwMode="auto">
            <a:xfrm>
              <a:off x="4113" y="6467"/>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b</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7" name="文本框 8745"/>
            <p:cNvSpPr txBox="1">
              <a:spLocks noChangeArrowheads="1"/>
            </p:cNvSpPr>
            <p:nvPr/>
          </p:nvSpPr>
          <p:spPr bwMode="auto">
            <a:xfrm>
              <a:off x="4113" y="717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e</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6" name="文本框 8746"/>
            <p:cNvSpPr txBox="1">
              <a:spLocks noChangeArrowheads="1"/>
            </p:cNvSpPr>
            <p:nvPr/>
          </p:nvSpPr>
          <p:spPr bwMode="auto">
            <a:xfrm>
              <a:off x="5369" y="574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c</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5" name="文本框 8747"/>
            <p:cNvSpPr txBox="1">
              <a:spLocks noChangeArrowheads="1"/>
            </p:cNvSpPr>
            <p:nvPr/>
          </p:nvSpPr>
          <p:spPr bwMode="auto">
            <a:xfrm>
              <a:off x="5366" y="645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d</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4" name="文本框 8748"/>
            <p:cNvSpPr txBox="1">
              <a:spLocks noChangeArrowheads="1"/>
            </p:cNvSpPr>
            <p:nvPr/>
          </p:nvSpPr>
          <p:spPr bwMode="auto">
            <a:xfrm>
              <a:off x="4194" y="5390"/>
              <a:ext cx="146" cy="22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1</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3" name="文本框 8749"/>
            <p:cNvSpPr txBox="1">
              <a:spLocks noChangeArrowheads="1"/>
            </p:cNvSpPr>
            <p:nvPr/>
          </p:nvSpPr>
          <p:spPr bwMode="auto">
            <a:xfrm>
              <a:off x="4194" y="6088"/>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2</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2" name="文本框 8750"/>
            <p:cNvSpPr txBox="1">
              <a:spLocks noChangeArrowheads="1"/>
            </p:cNvSpPr>
            <p:nvPr/>
          </p:nvSpPr>
          <p:spPr bwMode="auto">
            <a:xfrm>
              <a:off x="4194" y="6801"/>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3</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1" name="文本框 8751"/>
            <p:cNvSpPr txBox="1">
              <a:spLocks noChangeArrowheads="1"/>
            </p:cNvSpPr>
            <p:nvPr/>
          </p:nvSpPr>
          <p:spPr bwMode="auto">
            <a:xfrm>
              <a:off x="4710" y="566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4</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40" name="文本框 8752"/>
            <p:cNvSpPr txBox="1">
              <a:spLocks noChangeArrowheads="1"/>
            </p:cNvSpPr>
            <p:nvPr/>
          </p:nvSpPr>
          <p:spPr bwMode="auto">
            <a:xfrm>
              <a:off x="4936" y="6185"/>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5</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39" name="文本框 8753"/>
            <p:cNvSpPr txBox="1">
              <a:spLocks noChangeArrowheads="1"/>
            </p:cNvSpPr>
            <p:nvPr/>
          </p:nvSpPr>
          <p:spPr bwMode="auto">
            <a:xfrm>
              <a:off x="4784" y="6582"/>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6</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38" name="文本框 8754"/>
            <p:cNvSpPr txBox="1">
              <a:spLocks noChangeArrowheads="1"/>
            </p:cNvSpPr>
            <p:nvPr/>
          </p:nvSpPr>
          <p:spPr bwMode="auto">
            <a:xfrm>
              <a:off x="5005" y="7106"/>
              <a:ext cx="146" cy="247"/>
            </a:xfrm>
            <a:prstGeom prst="rect">
              <a:avLst/>
            </a:prstGeom>
            <a:noFill/>
            <a:ln w="9525">
              <a:noFill/>
              <a:miter lim="800000"/>
            </a:ln>
          </p:spPr>
          <p:txBody>
            <a:bodyPr vert="horz" wrap="square" lIns="0" tIns="0" rIns="0" bIns="0" numCol="1" anchor="t" anchorCtr="0" compatLnSpc="1"/>
            <a:lstStyle/>
            <a:p>
              <a:pPr marL="0" marR="0" lvl="0" indent="0" algn="ctr" defTabSz="914400" rtl="0" eaLnBrk="1" fontAlgn="base" latinLnBrk="0" hangingPunct="1">
                <a:lnSpc>
                  <a:spcPct val="100000"/>
                </a:lnSpc>
                <a:spcBef>
                  <a:spcPct val="0"/>
                </a:spcBef>
                <a:spcAft>
                  <a:spcPct val="0"/>
                </a:spcAft>
                <a:buClrTx/>
                <a:buSzTx/>
                <a:buFontTx/>
                <a:buNone/>
              </a:pPr>
              <a:r>
                <a:rPr kumimoji="0" lang="en-US" altLang="zh-CN" b="0" i="0" u="none" strike="noStrike" cap="none" normalizeH="0" baseline="0" dirty="0" smtClean="0">
                  <a:ln>
                    <a:noFill/>
                  </a:ln>
                  <a:solidFill>
                    <a:schemeClr val="tx1"/>
                  </a:solidFill>
                  <a:effectLst/>
                  <a:latin typeface="Times New Roman" panose="02020603050405020304" charset="0"/>
                  <a:ea typeface="宋体" panose="02010600030101010101" pitchFamily="2" charset="-122"/>
                  <a:cs typeface="Times New Roman" panose="02020603050405020304" charset="0"/>
                </a:rPr>
                <a:t>7</a:t>
              </a:r>
              <a:endParaRPr kumimoji="0" lang="en-US" altLang="zh-CN" b="0" i="0" u="none" strike="noStrike" cap="none" normalizeH="0" baseline="0" dirty="0" smtClean="0">
                <a:ln>
                  <a:noFill/>
                </a:ln>
                <a:solidFill>
                  <a:schemeClr val="tx1"/>
                </a:solidFill>
                <a:effectLst/>
                <a:latin typeface="Arial" panose="020B0604020202020204" pitchFamily="34" charset="0"/>
                <a:ea typeface="宋体" panose="02010600030101010101" pitchFamily="2" charset="-122"/>
                <a:cs typeface="宋体" panose="02010600030101010101" pitchFamily="2" charset="-122"/>
              </a:endParaRPr>
            </a:p>
          </p:txBody>
        </p:sp>
        <p:sp>
          <p:nvSpPr>
            <p:cNvPr id="223237" name="弧形 8755"/>
            <p:cNvSpPr/>
            <p:nvPr/>
          </p:nvSpPr>
          <p:spPr bwMode="auto">
            <a:xfrm flipV="1">
              <a:off x="4415" y="5916"/>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36" name="椭圆 8756"/>
            <p:cNvSpPr>
              <a:spLocks noChangeArrowheads="1"/>
            </p:cNvSpPr>
            <p:nvPr/>
          </p:nvSpPr>
          <p:spPr bwMode="auto">
            <a:xfrm>
              <a:off x="5226" y="5822"/>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sp>
          <p:nvSpPr>
            <p:cNvPr id="223235" name="弧形 8757"/>
            <p:cNvSpPr/>
            <p:nvPr/>
          </p:nvSpPr>
          <p:spPr bwMode="auto">
            <a:xfrm flipV="1">
              <a:off x="4415" y="6629"/>
              <a:ext cx="871" cy="667"/>
            </a:xfrm>
            <a:custGeom>
              <a:avLst/>
              <a:gdLst>
                <a:gd name="G0" fmla="+- 568 0 0"/>
                <a:gd name="G1" fmla="+- 21600 0 0"/>
                <a:gd name="G2" fmla="+- 21600 0 0"/>
                <a:gd name="T0" fmla="*/ 0 w 22168"/>
                <a:gd name="T1" fmla="*/ 7 h 24043"/>
                <a:gd name="T2" fmla="*/ 22029 w 22168"/>
                <a:gd name="T3" fmla="*/ 24043 h 24043"/>
                <a:gd name="T4" fmla="*/ 568 w 22168"/>
                <a:gd name="T5" fmla="*/ 21600 h 24043"/>
              </a:gdLst>
              <a:ahLst/>
              <a:cxnLst>
                <a:cxn ang="0">
                  <a:pos x="T0" y="T1"/>
                </a:cxn>
                <a:cxn ang="0">
                  <a:pos x="T2" y="T3"/>
                </a:cxn>
                <a:cxn ang="0">
                  <a:pos x="T4" y="T5"/>
                </a:cxn>
              </a:cxnLst>
              <a:rect l="0" t="0" r="r" b="b"/>
              <a:pathLst>
                <a:path w="22168" h="24043" fill="none" extrusionOk="0">
                  <a:moveTo>
                    <a:pt x="0" y="7"/>
                  </a:moveTo>
                  <a:cubicBezTo>
                    <a:pt x="189" y="2"/>
                    <a:pt x="378" y="-1"/>
                    <a:pt x="568" y="0"/>
                  </a:cubicBezTo>
                  <a:cubicBezTo>
                    <a:pt x="12497" y="0"/>
                    <a:pt x="22168" y="9670"/>
                    <a:pt x="22168" y="21600"/>
                  </a:cubicBezTo>
                  <a:cubicBezTo>
                    <a:pt x="22168" y="22416"/>
                    <a:pt x="22121" y="23231"/>
                    <a:pt x="22029" y="24043"/>
                  </a:cubicBezTo>
                </a:path>
                <a:path w="22168" h="24043" stroke="0" extrusionOk="0">
                  <a:moveTo>
                    <a:pt x="0" y="7"/>
                  </a:moveTo>
                  <a:cubicBezTo>
                    <a:pt x="189" y="2"/>
                    <a:pt x="378" y="-1"/>
                    <a:pt x="568" y="0"/>
                  </a:cubicBezTo>
                  <a:cubicBezTo>
                    <a:pt x="12497" y="0"/>
                    <a:pt x="22168" y="9670"/>
                    <a:pt x="22168" y="21600"/>
                  </a:cubicBezTo>
                  <a:cubicBezTo>
                    <a:pt x="22168" y="22416"/>
                    <a:pt x="22121" y="23231"/>
                    <a:pt x="22029" y="24043"/>
                  </a:cubicBezTo>
                  <a:lnTo>
                    <a:pt x="568" y="21600"/>
                  </a:lnTo>
                  <a:close/>
                </a:path>
              </a:pathLst>
            </a:custGeom>
            <a:noFill/>
            <a:ln w="9525">
              <a:solidFill>
                <a:srgbClr val="000000"/>
              </a:solidFill>
              <a:round/>
            </a:ln>
          </p:spPr>
          <p:txBody>
            <a:bodyPr vert="horz" wrap="square" lIns="91440" tIns="45720" rIns="91440" bIns="45720" numCol="1" anchor="t" anchorCtr="0" compatLnSpc="1"/>
            <a:lstStyle/>
            <a:p>
              <a:endParaRPr lang="zh-CN" altLang="en-US"/>
            </a:p>
          </p:txBody>
        </p:sp>
        <p:sp>
          <p:nvSpPr>
            <p:cNvPr id="223234" name="椭圆 8758"/>
            <p:cNvSpPr>
              <a:spLocks noChangeArrowheads="1"/>
            </p:cNvSpPr>
            <p:nvPr/>
          </p:nvSpPr>
          <p:spPr bwMode="auto">
            <a:xfrm>
              <a:off x="5226" y="6529"/>
              <a:ext cx="119" cy="119"/>
            </a:xfrm>
            <a:prstGeom prst="ellipse">
              <a:avLst/>
            </a:prstGeom>
            <a:solidFill>
              <a:srgbClr val="FFFFFF"/>
            </a:solidFill>
            <a:ln w="9525">
              <a:solidFill>
                <a:srgbClr val="000000"/>
              </a:solidFill>
              <a:round/>
            </a:ln>
          </p:spPr>
          <p:txBody>
            <a:bodyPr vert="horz" wrap="square" lIns="91440" tIns="45720" rIns="91440" bIns="45720" numCol="1" anchor="t" anchorCtr="0" compatLnSpc="1"/>
            <a:lstStyle/>
            <a:p>
              <a:endParaRPr lang="zh-CN" altLang="en-US"/>
            </a:p>
          </p:txBody>
        </p:sp>
      </p:grpSp>
      <p:sp>
        <p:nvSpPr>
          <p:cNvPr id="34" name="TextBox 33"/>
          <p:cNvSpPr txBox="1"/>
          <p:nvPr/>
        </p:nvSpPr>
        <p:spPr>
          <a:xfrm>
            <a:off x="7025640" y="5227320"/>
            <a:ext cx="4312920" cy="369332"/>
          </a:xfrm>
          <a:prstGeom prst="rect">
            <a:avLst/>
          </a:prstGeom>
          <a:noFill/>
        </p:spPr>
        <p:txBody>
          <a:bodyPr wrap="square" rtlCol="0">
            <a:spAutoFit/>
          </a:bodyPr>
          <a:lstStyle/>
          <a:p>
            <a:r>
              <a:rPr lang="zh-CN" altLang="en-US" dirty="0" smtClean="0"/>
              <a:t>图</a:t>
            </a:r>
            <a:r>
              <a:rPr lang="en-US" altLang="zh-CN" dirty="0" smtClean="0"/>
              <a:t>4-2                                    </a:t>
            </a:r>
            <a:r>
              <a:rPr lang="zh-CN" altLang="en-US" dirty="0" smtClean="0"/>
              <a:t>图</a:t>
            </a:r>
            <a:r>
              <a:rPr lang="en-US" altLang="zh-CN" dirty="0" smtClean="0"/>
              <a:t>4-4      </a:t>
            </a:r>
            <a:endParaRPr lang="zh-CN" altLang="en-US" dirty="0"/>
          </a:p>
        </p:txBody>
      </p:sp>
      <p:pic>
        <p:nvPicPr>
          <p:cNvPr id="223274" name="图片 136"/>
          <p:cNvPicPr>
            <a:picLocks noChangeAspect="1" noChangeArrowheads="1"/>
          </p:cNvPicPr>
          <p:nvPr/>
        </p:nvPicPr>
        <p:blipFill>
          <a:blip r:embed="rId3" cstate="print"/>
          <a:srcRect/>
          <a:stretch>
            <a:fillRect/>
          </a:stretch>
        </p:blipFill>
        <p:spPr bwMode="auto">
          <a:xfrm>
            <a:off x="8680539" y="2331720"/>
            <a:ext cx="3051894" cy="2880359"/>
          </a:xfrm>
          <a:prstGeom prst="rect">
            <a:avLst/>
          </a:prstGeom>
          <a:noFill/>
          <a:ln w="9525">
            <a:noFill/>
            <a:miter lim="800000"/>
            <a:headEnd/>
            <a:tailEnd/>
          </a:ln>
        </p:spPr>
      </p:pic>
      <p:sp>
        <p:nvSpPr>
          <p:cNvPr id="36"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4.5.5 </a:t>
            </a:r>
            <a:r>
              <a:rPr lang="zh-CN" altLang="en-US" spc="160" dirty="0" smtClean="0">
                <a:solidFill>
                  <a:schemeClr val="bg1"/>
                </a:solidFill>
                <a:latin typeface="微软雅黑" panose="020B0503020204020204" charset="-122"/>
                <a:ea typeface="微软雅黑" panose="020B0503020204020204" charset="-122"/>
              </a:rPr>
              <a:t>程序环形复杂程度的度量</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环形</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复杂度</a:t>
            </a:r>
          </a:p>
        </p:txBody>
      </p:sp>
      <p:sp>
        <p:nvSpPr>
          <p:cNvPr id="100" name="文本框 99"/>
          <p:cNvSpPr txBox="1"/>
          <p:nvPr/>
        </p:nvSpPr>
        <p:spPr>
          <a:xfrm>
            <a:off x="1412240" y="1906270"/>
            <a:ext cx="9857105" cy="4093428"/>
          </a:xfrm>
          <a:prstGeom prst="rect">
            <a:avLst/>
          </a:prstGeom>
          <a:noFill/>
          <a:ln w="9525">
            <a:noFill/>
          </a:ln>
        </p:spPr>
        <p:txBody>
          <a:bodyPr wrap="square">
            <a:spAutoFit/>
          </a:bodyPr>
          <a:lstStyle/>
          <a:p>
            <a:pPr>
              <a:lnSpc>
                <a:spcPct val="130000"/>
              </a:lnSpc>
            </a:pPr>
            <a:r>
              <a:rPr lang="zh-CN" altLang="en-US" sz="2000" dirty="0" smtClean="0">
                <a:latin typeface="微软雅黑" panose="020B0503020204020204" charset="-122"/>
                <a:ea typeface="微软雅黑" panose="020B0503020204020204" charset="-122"/>
                <a:sym typeface="+mn-ea"/>
              </a:rPr>
              <a:t>       用</a:t>
            </a:r>
            <a:r>
              <a:rPr lang="en-US" sz="2000" dirty="0" smtClean="0">
                <a:latin typeface="微软雅黑" panose="020B0503020204020204" charset="-122"/>
                <a:ea typeface="微软雅黑" panose="020B0503020204020204" charset="-122"/>
                <a:sym typeface="+mn-ea"/>
              </a:rPr>
              <a:t>McCabe</a:t>
            </a:r>
            <a:r>
              <a:rPr lang="zh-CN" altLang="en-US" sz="2000" dirty="0" smtClean="0">
                <a:latin typeface="微软雅黑" panose="020B0503020204020204" charset="-122"/>
                <a:ea typeface="微软雅黑" panose="020B0503020204020204" charset="-122"/>
                <a:sym typeface="+mn-ea"/>
              </a:rPr>
              <a:t>方法度量得出的结果称为程序的环形复杂度。程序环形复杂度的计算方法有</a:t>
            </a:r>
            <a:r>
              <a:rPr lang="en-US" sz="2000" dirty="0" smtClean="0">
                <a:latin typeface="微软雅黑" panose="020B0503020204020204" charset="-122"/>
                <a:ea typeface="微软雅黑" panose="020B0503020204020204" charset="-122"/>
                <a:sym typeface="+mn-ea"/>
              </a:rPr>
              <a:t>3</a:t>
            </a:r>
            <a:r>
              <a:rPr lang="zh-CN" altLang="en-US" sz="2000" dirty="0" smtClean="0">
                <a:latin typeface="微软雅黑" panose="020B0503020204020204" charset="-122"/>
                <a:ea typeface="微软雅黑" panose="020B0503020204020204" charset="-122"/>
                <a:sym typeface="+mn-ea"/>
              </a:rPr>
              <a:t>种。</a:t>
            </a:r>
          </a:p>
          <a:p>
            <a:pPr>
              <a:lnSpc>
                <a:spcPct val="130000"/>
              </a:lnSpc>
            </a:pPr>
            <a:r>
              <a:rPr lang="zh-CN" altLang="en-US" sz="2000" dirty="0" smtClean="0">
                <a:latin typeface="微软雅黑" panose="020B0503020204020204" charset="-122"/>
                <a:ea typeface="微软雅黑" panose="020B0503020204020204" charset="-122"/>
                <a:sym typeface="+mn-ea"/>
              </a:rPr>
              <a:t>（</a:t>
            </a:r>
            <a:r>
              <a:rPr lang="en-US" sz="2000" dirty="0" smtClean="0">
                <a:latin typeface="微软雅黑" panose="020B0503020204020204" charset="-122"/>
                <a:ea typeface="微软雅黑" panose="020B0503020204020204" charset="-122"/>
                <a:sym typeface="+mn-ea"/>
              </a:rPr>
              <a:t>1</a:t>
            </a:r>
            <a:r>
              <a:rPr lang="zh-CN" altLang="en-US" sz="2000" dirty="0" smtClean="0">
                <a:latin typeface="微软雅黑" panose="020B0503020204020204" charset="-122"/>
                <a:ea typeface="微软雅黑" panose="020B0503020204020204" charset="-122"/>
                <a:sym typeface="+mn-ea"/>
              </a:rPr>
              <a:t>）</a:t>
            </a:r>
            <a:r>
              <a:rPr lang="zh-CN" altLang="en-US" sz="2000" dirty="0" smtClean="0">
                <a:solidFill>
                  <a:srgbClr val="0070C0"/>
                </a:solidFill>
                <a:latin typeface="微软雅黑" panose="020B0503020204020204" charset="-122"/>
                <a:ea typeface="微软雅黑" panose="020B0503020204020204" charset="-122"/>
                <a:sym typeface="+mn-ea"/>
              </a:rPr>
              <a:t>程序的环形复杂度计算公式为</a:t>
            </a:r>
          </a:p>
          <a:p>
            <a:pPr>
              <a:lnSpc>
                <a:spcPct val="130000"/>
              </a:lnSpc>
            </a:pPr>
            <a:r>
              <a:rPr lang="zh-CN" altLang="en-US" sz="2000" dirty="0" smtClean="0">
                <a:latin typeface="微软雅黑" panose="020B0503020204020204" charset="-122"/>
                <a:ea typeface="微软雅黑" panose="020B0503020204020204" charset="-122"/>
                <a:sym typeface="+mn-ea"/>
              </a:rPr>
              <a:t>        其中，</a:t>
            </a:r>
            <a:r>
              <a:rPr lang="en-US" sz="2000" dirty="0" smtClean="0">
                <a:latin typeface="微软雅黑" panose="020B0503020204020204" charset="-122"/>
                <a:ea typeface="微软雅黑" panose="020B0503020204020204" charset="-122"/>
                <a:sym typeface="+mn-ea"/>
              </a:rPr>
              <a:t>m</a:t>
            </a:r>
            <a:r>
              <a:rPr lang="zh-CN" altLang="en-US" sz="2000" dirty="0" smtClean="0">
                <a:latin typeface="微软雅黑" panose="020B0503020204020204" charset="-122"/>
                <a:ea typeface="微软雅黑" panose="020B0503020204020204" charset="-122"/>
                <a:sym typeface="+mn-ea"/>
              </a:rPr>
              <a:t>是程序图</a:t>
            </a:r>
            <a:r>
              <a:rPr lang="en-US"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中的弧数（即边的条数），</a:t>
            </a:r>
            <a:r>
              <a:rPr lang="en-US" sz="2000" dirty="0" smtClean="0">
                <a:latin typeface="微软雅黑" panose="020B0503020204020204" charset="-122"/>
                <a:ea typeface="微软雅黑" panose="020B0503020204020204" charset="-122"/>
                <a:sym typeface="+mn-ea"/>
              </a:rPr>
              <a:t>n</a:t>
            </a:r>
            <a:r>
              <a:rPr lang="zh-CN" altLang="en-US" sz="2000" dirty="0" smtClean="0">
                <a:latin typeface="微软雅黑" panose="020B0503020204020204" charset="-122"/>
                <a:ea typeface="微软雅黑" panose="020B0503020204020204" charset="-122"/>
                <a:sym typeface="+mn-ea"/>
              </a:rPr>
              <a:t>是程序图</a:t>
            </a:r>
            <a:r>
              <a:rPr lang="en-US"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中的结点数。</a:t>
            </a:r>
          </a:p>
          <a:p>
            <a:pPr>
              <a:lnSpc>
                <a:spcPct val="130000"/>
              </a:lnSpc>
            </a:pPr>
            <a:r>
              <a:rPr lang="zh-CN" altLang="en-US" sz="2000" dirty="0" smtClean="0">
                <a:latin typeface="微软雅黑" panose="020B0503020204020204" charset="-122"/>
                <a:ea typeface="微软雅黑" panose="020B0503020204020204" charset="-122"/>
                <a:sym typeface="+mn-ea"/>
              </a:rPr>
              <a:t>（</a:t>
            </a:r>
            <a:r>
              <a:rPr lang="en-US" sz="2000" dirty="0" smtClean="0">
                <a:latin typeface="微软雅黑" panose="020B0503020204020204" charset="-122"/>
                <a:ea typeface="微软雅黑" panose="020B0503020204020204" charset="-122"/>
                <a:sym typeface="+mn-ea"/>
              </a:rPr>
              <a:t>2</a:t>
            </a:r>
            <a:r>
              <a:rPr lang="zh-CN" altLang="en-US" sz="2000" dirty="0" smtClean="0">
                <a:latin typeface="微软雅黑" panose="020B0503020204020204" charset="-122"/>
                <a:ea typeface="微软雅黑" panose="020B0503020204020204" charset="-122"/>
                <a:sym typeface="+mn-ea"/>
              </a:rPr>
              <a:t>）</a:t>
            </a:r>
            <a:r>
              <a:rPr lang="zh-CN" altLang="en-US" sz="2000" dirty="0" smtClean="0">
                <a:solidFill>
                  <a:srgbClr val="0070C0"/>
                </a:solidFill>
                <a:latin typeface="微软雅黑" panose="020B0503020204020204" charset="-122"/>
                <a:ea typeface="微软雅黑" panose="020B0503020204020204" charset="-122"/>
                <a:sym typeface="+mn-ea"/>
              </a:rPr>
              <a:t>如果</a:t>
            </a:r>
            <a:r>
              <a:rPr lang="en-US" sz="2000" dirty="0" smtClean="0">
                <a:solidFill>
                  <a:srgbClr val="0070C0"/>
                </a:solidFill>
                <a:latin typeface="微软雅黑" panose="020B0503020204020204" charset="-122"/>
                <a:ea typeface="微软雅黑" panose="020B0503020204020204" charset="-122"/>
                <a:sym typeface="+mn-ea"/>
              </a:rPr>
              <a:t>P</a:t>
            </a:r>
            <a:r>
              <a:rPr lang="zh-CN" altLang="en-US" sz="2000" dirty="0" smtClean="0">
                <a:solidFill>
                  <a:srgbClr val="0070C0"/>
                </a:solidFill>
                <a:latin typeface="微软雅黑" panose="020B0503020204020204" charset="-122"/>
                <a:ea typeface="微软雅黑" panose="020B0503020204020204" charset="-122"/>
                <a:sym typeface="+mn-ea"/>
              </a:rPr>
              <a:t>是程序图中判定结点的个数，则程序图</a:t>
            </a:r>
            <a:r>
              <a:rPr lang="en-US" sz="2000" dirty="0" smtClean="0">
                <a:solidFill>
                  <a:srgbClr val="0070C0"/>
                </a:solidFill>
                <a:latin typeface="微软雅黑" panose="020B0503020204020204" charset="-122"/>
                <a:ea typeface="微软雅黑" panose="020B0503020204020204" charset="-122"/>
                <a:sym typeface="+mn-ea"/>
              </a:rPr>
              <a:t>G</a:t>
            </a:r>
            <a:r>
              <a:rPr lang="zh-CN" altLang="en-US" sz="2000" dirty="0" smtClean="0">
                <a:solidFill>
                  <a:srgbClr val="0070C0"/>
                </a:solidFill>
                <a:latin typeface="微软雅黑" panose="020B0503020204020204" charset="-122"/>
                <a:ea typeface="微软雅黑" panose="020B0503020204020204" charset="-122"/>
                <a:sym typeface="+mn-ea"/>
              </a:rPr>
              <a:t>的环形复杂度为：</a:t>
            </a:r>
          </a:p>
          <a:p>
            <a:pPr>
              <a:lnSpc>
                <a:spcPct val="130000"/>
              </a:lnSpc>
            </a:pPr>
            <a:r>
              <a:rPr lang="zh-CN" altLang="en-US" sz="2000" dirty="0" smtClean="0">
                <a:latin typeface="微软雅黑" panose="020B0503020204020204" charset="-122"/>
                <a:ea typeface="微软雅黑" panose="020B0503020204020204" charset="-122"/>
                <a:sym typeface="+mn-ea"/>
              </a:rPr>
              <a:t>       源代码中</a:t>
            </a:r>
            <a:r>
              <a:rPr lang="en-US" sz="2000" dirty="0" smtClean="0">
                <a:latin typeface="微软雅黑" panose="020B0503020204020204" charset="-122"/>
                <a:ea typeface="微软雅黑" panose="020B0503020204020204" charset="-122"/>
                <a:sym typeface="+mn-ea"/>
              </a:rPr>
              <a:t>IF</a:t>
            </a:r>
            <a:r>
              <a:rPr lang="zh-CN" altLang="en-US" sz="2000" dirty="0" smtClean="0">
                <a:latin typeface="微软雅黑" panose="020B0503020204020204" charset="-122"/>
                <a:ea typeface="微软雅黑" panose="020B0503020204020204" charset="-122"/>
                <a:sym typeface="+mn-ea"/>
              </a:rPr>
              <a:t>语句及</a:t>
            </a:r>
            <a:r>
              <a:rPr lang="en-US" sz="2000" dirty="0" smtClean="0">
                <a:latin typeface="微软雅黑" panose="020B0503020204020204" charset="-122"/>
                <a:ea typeface="微软雅黑" panose="020B0503020204020204" charset="-122"/>
                <a:sym typeface="+mn-ea"/>
              </a:rPr>
              <a:t>While</a:t>
            </a:r>
            <a:r>
              <a:rPr lang="zh-CN" altLang="en-US" sz="2000" dirty="0" smtClean="0">
                <a:latin typeface="微软雅黑" panose="020B0503020204020204" charset="-122"/>
                <a:ea typeface="微软雅黑" panose="020B0503020204020204" charset="-122"/>
                <a:sym typeface="+mn-ea"/>
              </a:rPr>
              <a:t>、</a:t>
            </a:r>
            <a:r>
              <a:rPr lang="en-US" sz="2000" dirty="0" smtClean="0">
                <a:latin typeface="微软雅黑" panose="020B0503020204020204" charset="-122"/>
                <a:ea typeface="微软雅黑" panose="020B0503020204020204" charset="-122"/>
                <a:sym typeface="+mn-ea"/>
              </a:rPr>
              <a:t>For</a:t>
            </a:r>
            <a:r>
              <a:rPr lang="zh-CN" altLang="en-US" sz="2000" dirty="0" smtClean="0">
                <a:latin typeface="微软雅黑" panose="020B0503020204020204" charset="-122"/>
                <a:ea typeface="微软雅黑" panose="020B0503020204020204" charset="-122"/>
                <a:sym typeface="+mn-ea"/>
              </a:rPr>
              <a:t>或</a:t>
            </a:r>
            <a:r>
              <a:rPr lang="en-US" sz="2000" dirty="0" smtClean="0">
                <a:latin typeface="微软雅黑" panose="020B0503020204020204" charset="-122"/>
                <a:ea typeface="微软雅黑" panose="020B0503020204020204" charset="-122"/>
                <a:sym typeface="+mn-ea"/>
              </a:rPr>
              <a:t>Repeat</a:t>
            </a:r>
            <a:r>
              <a:rPr lang="zh-CN" altLang="en-US" sz="2000" dirty="0" smtClean="0">
                <a:latin typeface="微软雅黑" panose="020B0503020204020204" charset="-122"/>
                <a:ea typeface="微软雅黑" panose="020B0503020204020204" charset="-122"/>
                <a:sym typeface="+mn-ea"/>
              </a:rPr>
              <a:t>循环语句的判定结点数为</a:t>
            </a:r>
            <a:r>
              <a:rPr lang="en-US" sz="2000" dirty="0" smtClean="0">
                <a:latin typeface="微软雅黑" panose="020B0503020204020204" charset="-122"/>
                <a:ea typeface="微软雅黑" panose="020B0503020204020204" charset="-122"/>
                <a:sym typeface="+mn-ea"/>
              </a:rPr>
              <a:t>1</a:t>
            </a:r>
            <a:r>
              <a:rPr lang="zh-CN" altLang="en-US" sz="2000" dirty="0" smtClean="0">
                <a:latin typeface="微软雅黑" panose="020B0503020204020204" charset="-122"/>
                <a:ea typeface="微软雅黑" panose="020B0503020204020204" charset="-122"/>
                <a:sym typeface="+mn-ea"/>
              </a:rPr>
              <a:t>，而</a:t>
            </a:r>
            <a:r>
              <a:rPr lang="en-US" sz="2000" dirty="0" smtClean="0">
                <a:latin typeface="微软雅黑" panose="020B0503020204020204" charset="-122"/>
                <a:ea typeface="微软雅黑" panose="020B0503020204020204" charset="-122"/>
                <a:sym typeface="+mn-ea"/>
              </a:rPr>
              <a:t>Case</a:t>
            </a:r>
            <a:r>
              <a:rPr lang="zh-CN" altLang="en-US" sz="2000" dirty="0" smtClean="0">
                <a:latin typeface="微软雅黑" panose="020B0503020204020204" charset="-122"/>
                <a:ea typeface="微软雅黑" panose="020B0503020204020204" charset="-122"/>
                <a:sym typeface="+mn-ea"/>
              </a:rPr>
              <a:t>型等多分支语句的判定结点数等于可能的分支数减去</a:t>
            </a:r>
            <a:r>
              <a:rPr lang="en-US" sz="2000" dirty="0" smtClean="0">
                <a:latin typeface="微软雅黑" panose="020B0503020204020204" charset="-122"/>
                <a:ea typeface="微软雅黑" panose="020B0503020204020204" charset="-122"/>
                <a:sym typeface="+mn-ea"/>
              </a:rPr>
              <a:t>1</a:t>
            </a:r>
            <a:r>
              <a:rPr lang="zh-CN" altLang="en-US" sz="2000" dirty="0" smtClean="0">
                <a:latin typeface="微软雅黑" panose="020B0503020204020204" charset="-122"/>
                <a:ea typeface="微软雅黑" panose="020B0503020204020204" charset="-122"/>
                <a:sym typeface="+mn-ea"/>
              </a:rPr>
              <a:t>。</a:t>
            </a:r>
          </a:p>
          <a:p>
            <a:pPr>
              <a:lnSpc>
                <a:spcPct val="130000"/>
              </a:lnSpc>
            </a:pPr>
            <a:r>
              <a:rPr lang="zh-CN" altLang="en-US" sz="2000" dirty="0" smtClean="0">
                <a:latin typeface="微软雅黑" panose="020B0503020204020204" charset="-122"/>
                <a:ea typeface="微软雅黑" panose="020B0503020204020204" charset="-122"/>
                <a:sym typeface="+mn-ea"/>
              </a:rPr>
              <a:t>（</a:t>
            </a:r>
            <a:r>
              <a:rPr lang="en-US" sz="2000" dirty="0" smtClean="0">
                <a:latin typeface="微软雅黑" panose="020B0503020204020204" charset="-122"/>
                <a:ea typeface="微软雅黑" panose="020B0503020204020204" charset="-122"/>
                <a:sym typeface="+mn-ea"/>
              </a:rPr>
              <a:t>3</a:t>
            </a:r>
            <a:r>
              <a:rPr lang="zh-CN" altLang="en-US" sz="2000" dirty="0" smtClean="0">
                <a:latin typeface="微软雅黑" panose="020B0503020204020204" charset="-122"/>
                <a:ea typeface="微软雅黑" panose="020B0503020204020204" charset="-122"/>
                <a:sym typeface="+mn-ea"/>
              </a:rPr>
              <a:t>）</a:t>
            </a:r>
            <a:r>
              <a:rPr lang="zh-CN" altLang="en-US" sz="2000" dirty="0" smtClean="0">
                <a:solidFill>
                  <a:srgbClr val="0070C0"/>
                </a:solidFill>
                <a:latin typeface="微软雅黑" panose="020B0503020204020204" charset="-122"/>
                <a:ea typeface="微软雅黑" panose="020B0503020204020204" charset="-122"/>
                <a:sym typeface="+mn-ea"/>
              </a:rPr>
              <a:t>环形复杂度等于强连通的程序图中线性无关的有向环的个数。</a:t>
            </a:r>
          </a:p>
          <a:p>
            <a:pPr>
              <a:lnSpc>
                <a:spcPct val="130000"/>
              </a:lnSpc>
            </a:pPr>
            <a:r>
              <a:rPr lang="zh-CN" altLang="en-US" sz="2000" dirty="0" smtClean="0">
                <a:latin typeface="微软雅黑" panose="020B0503020204020204" charset="-122"/>
                <a:ea typeface="微软雅黑" panose="020B0503020204020204" charset="-122"/>
                <a:sym typeface="+mn-ea"/>
              </a:rPr>
              <a:t>        根据图论，在一个强连通的程序图中，线性无关环的个数按下式计算：</a:t>
            </a:r>
          </a:p>
          <a:p>
            <a:pPr>
              <a:lnSpc>
                <a:spcPct val="130000"/>
              </a:lnSpc>
            </a:pPr>
            <a:r>
              <a:rPr lang="zh-CN" altLang="en-US" sz="2000" dirty="0" smtClean="0">
                <a:latin typeface="微软雅黑" panose="020B0503020204020204" charset="-122"/>
                <a:ea typeface="微软雅黑" panose="020B0503020204020204" charset="-122"/>
                <a:sym typeface="+mn-ea"/>
              </a:rPr>
              <a:t>其中，</a:t>
            </a:r>
            <a:r>
              <a:rPr lang="en-US" sz="2000" dirty="0" smtClean="0">
                <a:latin typeface="微软雅黑" panose="020B0503020204020204" charset="-122"/>
                <a:ea typeface="微软雅黑" panose="020B0503020204020204" charset="-122"/>
                <a:sym typeface="+mn-ea"/>
              </a:rPr>
              <a:t> </a:t>
            </a:r>
            <a:r>
              <a:rPr lang="zh-CN" altLang="en-US" sz="2000" dirty="0" smtClean="0">
                <a:latin typeface="微软雅黑" panose="020B0503020204020204" charset="-122"/>
                <a:ea typeface="微软雅黑" panose="020B0503020204020204" charset="-122"/>
                <a:sym typeface="+mn-ea"/>
              </a:rPr>
              <a:t>是强连通的程序图</a:t>
            </a:r>
            <a:r>
              <a:rPr lang="en-US"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中的环数，</a:t>
            </a:r>
            <a:r>
              <a:rPr lang="en-US" sz="2000" dirty="0" smtClean="0">
                <a:latin typeface="微软雅黑" panose="020B0503020204020204" charset="-122"/>
                <a:ea typeface="微软雅黑" panose="020B0503020204020204" charset="-122"/>
                <a:sym typeface="+mn-ea"/>
              </a:rPr>
              <a:t>m</a:t>
            </a:r>
            <a:r>
              <a:rPr lang="zh-CN" altLang="en-US" sz="2000" dirty="0" smtClean="0">
                <a:latin typeface="微软雅黑" panose="020B0503020204020204" charset="-122"/>
                <a:ea typeface="微软雅黑" panose="020B0503020204020204" charset="-122"/>
                <a:sym typeface="+mn-ea"/>
              </a:rPr>
              <a:t>是程序图</a:t>
            </a:r>
            <a:r>
              <a:rPr lang="en-US"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中的弧数，</a:t>
            </a:r>
            <a:r>
              <a:rPr lang="en-US" sz="2000" dirty="0" smtClean="0">
                <a:latin typeface="微软雅黑" panose="020B0503020204020204" charset="-122"/>
                <a:ea typeface="微软雅黑" panose="020B0503020204020204" charset="-122"/>
                <a:sym typeface="+mn-ea"/>
              </a:rPr>
              <a:t>n</a:t>
            </a:r>
            <a:r>
              <a:rPr lang="zh-CN" altLang="en-US" sz="2000" dirty="0" smtClean="0">
                <a:latin typeface="微软雅黑" panose="020B0503020204020204" charset="-122"/>
                <a:ea typeface="微软雅黑" panose="020B0503020204020204" charset="-122"/>
                <a:sym typeface="+mn-ea"/>
              </a:rPr>
              <a:t>是程序图</a:t>
            </a:r>
            <a:r>
              <a:rPr lang="en-US"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中的结点数。</a:t>
            </a:r>
            <a:endParaRPr lang="zh-CN" altLang="en-US" sz="2000" dirty="0">
              <a:latin typeface="微软雅黑" panose="020B0503020204020204" charset="-122"/>
              <a:ea typeface="微软雅黑" panose="020B0503020204020204" charset="-122"/>
              <a:sym typeface="+mn-ea"/>
            </a:endParaRPr>
          </a:p>
        </p:txBody>
      </p:sp>
      <p:graphicFrame>
        <p:nvGraphicFramePr>
          <p:cNvPr id="6" name="对象 5"/>
          <p:cNvGraphicFramePr>
            <a:graphicFrameLocks noChangeAspect="1"/>
          </p:cNvGraphicFramePr>
          <p:nvPr/>
        </p:nvGraphicFramePr>
        <p:xfrm>
          <a:off x="5737895" y="2819400"/>
          <a:ext cx="1762725" cy="365443"/>
        </p:xfrm>
        <a:graphic>
          <a:graphicData uri="http://schemas.openxmlformats.org/presentationml/2006/ole">
            <p:oleObj spid="_x0000_s84995" name="公式" r:id="rId4" imgW="24993600" imgH="5181600" progId="">
              <p:embed/>
            </p:oleObj>
          </a:graphicData>
        </a:graphic>
      </p:graphicFrame>
      <p:graphicFrame>
        <p:nvGraphicFramePr>
          <p:cNvPr id="8" name="对象 7"/>
          <p:cNvGraphicFramePr>
            <a:graphicFrameLocks noChangeAspect="1"/>
          </p:cNvGraphicFramePr>
          <p:nvPr/>
        </p:nvGraphicFramePr>
        <p:xfrm>
          <a:off x="9407971" y="3611880"/>
          <a:ext cx="1166049" cy="319723"/>
        </p:xfrm>
        <a:graphic>
          <a:graphicData uri="http://schemas.openxmlformats.org/presentationml/2006/ole">
            <p:oleObj spid="_x0000_s84994" name="公式" r:id="rId5" imgW="18897600" imgH="5181600" progId="">
              <p:embed/>
            </p:oleObj>
          </a:graphicData>
        </a:graphic>
      </p:graphicFrame>
      <p:graphicFrame>
        <p:nvGraphicFramePr>
          <p:cNvPr id="221187" name="Object 3"/>
          <p:cNvGraphicFramePr>
            <a:graphicFrameLocks noChangeAspect="1"/>
          </p:cNvGraphicFramePr>
          <p:nvPr/>
        </p:nvGraphicFramePr>
        <p:xfrm>
          <a:off x="9967278" y="5153343"/>
          <a:ext cx="1720850" cy="366712"/>
        </p:xfrm>
        <a:graphic>
          <a:graphicData uri="http://schemas.openxmlformats.org/presentationml/2006/ole">
            <p:oleObj spid="_x0000_s84993" name="公式" r:id="rId6" imgW="24384000" imgH="5181600" progId="">
              <p:embed/>
            </p:oleObj>
          </a:graphicData>
        </a:graphic>
      </p:graphicFrame>
      <p:sp>
        <p:nvSpPr>
          <p:cNvPr id="9"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4.5.5 </a:t>
            </a:r>
            <a:r>
              <a:rPr lang="zh-CN" altLang="en-US" spc="160" dirty="0" smtClean="0">
                <a:solidFill>
                  <a:schemeClr val="bg1"/>
                </a:solidFill>
                <a:latin typeface="微软雅黑" panose="020B0503020204020204" charset="-122"/>
                <a:ea typeface="微软雅黑" panose="020B0503020204020204" charset="-122"/>
              </a:rPr>
              <a:t>程序环形复杂程度的度量</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环形</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复杂度</a:t>
            </a:r>
          </a:p>
        </p:txBody>
      </p:sp>
      <p:sp>
        <p:nvSpPr>
          <p:cNvPr id="100" name="文本框 99"/>
          <p:cNvSpPr txBox="1"/>
          <p:nvPr/>
        </p:nvSpPr>
        <p:spPr>
          <a:xfrm>
            <a:off x="1503680" y="2378710"/>
            <a:ext cx="9857105" cy="2893100"/>
          </a:xfrm>
          <a:prstGeom prst="rect">
            <a:avLst/>
          </a:prstGeom>
          <a:noFill/>
          <a:ln w="9525">
            <a:noFill/>
          </a:ln>
        </p:spPr>
        <p:txBody>
          <a:bodyPr wrap="square">
            <a:spAutoFit/>
          </a:bodyPr>
          <a:lstStyle/>
          <a:p>
            <a:pPr>
              <a:lnSpc>
                <a:spcPct val="130000"/>
              </a:lnSpc>
            </a:pPr>
            <a:r>
              <a:rPr lang="zh-CN" altLang="en-US" sz="2000" dirty="0" smtClean="0">
                <a:latin typeface="微软雅黑" panose="020B0503020204020204" charset="-122"/>
                <a:ea typeface="微软雅黑" panose="020B0503020204020204" charset="-122"/>
                <a:sym typeface="+mn-ea"/>
              </a:rPr>
              <a:t>       所谓</a:t>
            </a:r>
            <a:r>
              <a:rPr lang="zh-CN" altLang="en-US" sz="2000" dirty="0" smtClean="0">
                <a:solidFill>
                  <a:srgbClr val="C00000"/>
                </a:solidFill>
                <a:latin typeface="微软雅黑" panose="020B0503020204020204" charset="-122"/>
                <a:ea typeface="微软雅黑" panose="020B0503020204020204" charset="-122"/>
                <a:sym typeface="+mn-ea"/>
              </a:rPr>
              <a:t>强连通图</a:t>
            </a:r>
            <a:r>
              <a:rPr lang="zh-CN" altLang="en-US" sz="2000" dirty="0" smtClean="0">
                <a:latin typeface="微软雅黑" panose="020B0503020204020204" charset="-122"/>
                <a:ea typeface="微软雅黑" panose="020B0503020204020204" charset="-122"/>
                <a:sym typeface="+mn-ea"/>
              </a:rPr>
              <a:t>，</a:t>
            </a:r>
            <a:r>
              <a:rPr lang="zh-CN" altLang="en-US" sz="2000" dirty="0" smtClean="0">
                <a:solidFill>
                  <a:srgbClr val="0070C0"/>
                </a:solidFill>
                <a:latin typeface="微软雅黑" panose="020B0503020204020204" charset="-122"/>
                <a:ea typeface="微软雅黑" panose="020B0503020204020204" charset="-122"/>
                <a:sym typeface="+mn-ea"/>
              </a:rPr>
              <a:t>是指从图中任一结点出发都可以到达所有其他结点。</a:t>
            </a:r>
            <a:r>
              <a:rPr lang="zh-CN" altLang="en-US" sz="2000" dirty="0" smtClean="0">
                <a:solidFill>
                  <a:srgbClr val="00B050"/>
                </a:solidFill>
                <a:latin typeface="微软雅黑" panose="020B0503020204020204" charset="-122"/>
                <a:ea typeface="微软雅黑" panose="020B0503020204020204" charset="-122"/>
                <a:sym typeface="+mn-ea"/>
              </a:rPr>
              <a:t>通常将程序图中开始点后面的结点称为入口点，将停止点前面的结点称为出口点。程序图通常不是强连通的，从靠近出口的结点往往不能到达较高的结点。如果从出口点到入口点画一条虚弧，则程序图必然成为强连通的</a:t>
            </a:r>
            <a:r>
              <a:rPr lang="zh-CN" altLang="en-US" sz="2000" dirty="0" smtClean="0">
                <a:latin typeface="微软雅黑" panose="020B0503020204020204" charset="-122"/>
                <a:ea typeface="微软雅黑" panose="020B0503020204020204" charset="-122"/>
                <a:sym typeface="+mn-ea"/>
              </a:rPr>
              <a:t>，其理由如下：</a:t>
            </a:r>
          </a:p>
          <a:p>
            <a:pPr>
              <a:lnSpc>
                <a:spcPct val="130000"/>
              </a:lnSpc>
              <a:buFont typeface="Wingdings" panose="05000000000000000000" pitchFamily="2" charset="2"/>
              <a:buChar char="Ø"/>
            </a:pPr>
            <a:r>
              <a:rPr lang="zh-CN" altLang="en-US" sz="2000" dirty="0" smtClean="0">
                <a:latin typeface="微软雅黑" panose="020B0503020204020204" charset="-122"/>
                <a:ea typeface="微软雅黑" panose="020B0503020204020204" charset="-122"/>
                <a:sym typeface="+mn-ea"/>
              </a:rPr>
              <a:t> 从入口点总能到达图中任何一点。</a:t>
            </a:r>
          </a:p>
          <a:p>
            <a:pPr>
              <a:lnSpc>
                <a:spcPct val="130000"/>
              </a:lnSpc>
              <a:buFont typeface="Wingdings" panose="05000000000000000000" pitchFamily="2" charset="2"/>
              <a:buChar char="Ø"/>
            </a:pPr>
            <a:r>
              <a:rPr lang="zh-CN" altLang="en-US" sz="2000" dirty="0" smtClean="0">
                <a:latin typeface="微软雅黑" panose="020B0503020204020204" charset="-122"/>
                <a:ea typeface="微软雅黑" panose="020B0503020204020204" charset="-122"/>
                <a:sym typeface="+mn-ea"/>
              </a:rPr>
              <a:t> 从图中任何一点总能到达出口点。</a:t>
            </a:r>
          </a:p>
          <a:p>
            <a:pPr>
              <a:lnSpc>
                <a:spcPct val="130000"/>
              </a:lnSpc>
              <a:buFont typeface="Wingdings" panose="05000000000000000000" pitchFamily="2" charset="2"/>
              <a:buChar char="Ø"/>
            </a:pPr>
            <a:r>
              <a:rPr lang="zh-CN" altLang="en-US" sz="2000" dirty="0" smtClean="0">
                <a:latin typeface="微软雅黑" panose="020B0503020204020204" charset="-122"/>
                <a:ea typeface="微软雅黑" panose="020B0503020204020204" charset="-122"/>
                <a:sym typeface="+mn-ea"/>
              </a:rPr>
              <a:t> 经过从出口点到入口点的弧，可以从出口点到达入口点。</a:t>
            </a:r>
          </a:p>
        </p:txBody>
      </p:sp>
      <p:sp>
        <p:nvSpPr>
          <p:cNvPr id="6"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4.5.5 </a:t>
            </a:r>
            <a:r>
              <a:rPr lang="zh-CN" altLang="en-US" spc="160" dirty="0" smtClean="0">
                <a:solidFill>
                  <a:schemeClr val="bg1"/>
                </a:solidFill>
                <a:latin typeface="微软雅黑" panose="020B0503020204020204" charset="-122"/>
                <a:ea typeface="微软雅黑" panose="020B0503020204020204" charset="-122"/>
              </a:rPr>
              <a:t>程序环形复杂程度的度量</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环形</a:t>
            </a:r>
          </a:p>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复杂度</a:t>
            </a:r>
          </a:p>
        </p:txBody>
      </p:sp>
      <p:sp>
        <p:nvSpPr>
          <p:cNvPr id="100" name="文本框 99"/>
          <p:cNvSpPr txBox="1"/>
          <p:nvPr/>
        </p:nvSpPr>
        <p:spPr>
          <a:xfrm>
            <a:off x="1412240" y="2195830"/>
            <a:ext cx="9857105" cy="2893100"/>
          </a:xfrm>
          <a:prstGeom prst="rect">
            <a:avLst/>
          </a:prstGeom>
          <a:noFill/>
          <a:ln w="9525">
            <a:noFill/>
          </a:ln>
        </p:spPr>
        <p:txBody>
          <a:bodyPr wrap="square">
            <a:spAutoFit/>
          </a:bodyPr>
          <a:lstStyle/>
          <a:p>
            <a:pPr>
              <a:lnSpc>
                <a:spcPct val="130000"/>
              </a:lnSpc>
            </a:pPr>
            <a:r>
              <a:rPr lang="zh-CN" altLang="en-US" sz="2000" dirty="0" smtClean="0">
                <a:latin typeface="微软雅黑" panose="020B0503020204020204" charset="-122"/>
                <a:ea typeface="微软雅黑" panose="020B0503020204020204" charset="-122"/>
                <a:sym typeface="+mn-ea"/>
              </a:rPr>
              <a:t>       由于要从程序图构成线性无关有向环，需要添加一条虚弧，所以实际计算环形复杂度的计算公式为</a:t>
            </a:r>
            <a:endParaRPr lang="en-US" altLang="zh-CN" sz="2000" dirty="0" smtClean="0">
              <a:latin typeface="微软雅黑" panose="020B0503020204020204" charset="-122"/>
              <a:ea typeface="微软雅黑" panose="020B0503020204020204" charset="-122"/>
              <a:sym typeface="+mn-ea"/>
            </a:endParaRPr>
          </a:p>
          <a:p>
            <a:pPr>
              <a:lnSpc>
                <a:spcPct val="130000"/>
              </a:lnSpc>
            </a:pPr>
            <a:endParaRPr lang="zh-CN" altLang="en-US" sz="2000" dirty="0" smtClean="0">
              <a:latin typeface="微软雅黑" panose="020B0503020204020204" charset="-122"/>
              <a:ea typeface="微软雅黑" panose="020B0503020204020204" charset="-122"/>
              <a:sym typeface="+mn-ea"/>
            </a:endParaRPr>
          </a:p>
          <a:p>
            <a:pPr>
              <a:lnSpc>
                <a:spcPct val="130000"/>
              </a:lnSpc>
            </a:pPr>
            <a:r>
              <a:rPr lang="zh-CN" altLang="en-US" sz="2000" dirty="0" smtClean="0">
                <a:latin typeface="微软雅黑" panose="020B0503020204020204" charset="-122"/>
                <a:ea typeface="微软雅黑" panose="020B0503020204020204" charset="-122"/>
                <a:sym typeface="+mn-ea"/>
              </a:rPr>
              <a:t>       其中，        是强连通的程序图</a:t>
            </a:r>
            <a:r>
              <a:rPr lang="en-US" altLang="zh-CN"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中的环数，</a:t>
            </a:r>
            <a:r>
              <a:rPr lang="en-US" altLang="zh-CN" sz="2000" dirty="0" smtClean="0">
                <a:latin typeface="微软雅黑" panose="020B0503020204020204" charset="-122"/>
                <a:ea typeface="微软雅黑" panose="020B0503020204020204" charset="-122"/>
                <a:sym typeface="+mn-ea"/>
              </a:rPr>
              <a:t>m</a:t>
            </a:r>
            <a:r>
              <a:rPr lang="zh-CN" altLang="en-US" sz="2000" dirty="0" smtClean="0">
                <a:latin typeface="微软雅黑" panose="020B0503020204020204" charset="-122"/>
                <a:ea typeface="微软雅黑" panose="020B0503020204020204" charset="-122"/>
                <a:sym typeface="+mn-ea"/>
              </a:rPr>
              <a:t>是程序图</a:t>
            </a:r>
            <a:r>
              <a:rPr lang="en-US" altLang="zh-CN"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中的弧数，</a:t>
            </a:r>
            <a:r>
              <a:rPr lang="en-US" altLang="zh-CN" sz="2000" dirty="0" smtClean="0">
                <a:latin typeface="微软雅黑" panose="020B0503020204020204" charset="-122"/>
                <a:ea typeface="微软雅黑" panose="020B0503020204020204" charset="-122"/>
                <a:sym typeface="+mn-ea"/>
              </a:rPr>
              <a:t>n</a:t>
            </a:r>
            <a:r>
              <a:rPr lang="zh-CN" altLang="en-US" sz="2000" dirty="0" smtClean="0">
                <a:latin typeface="微软雅黑" panose="020B0503020204020204" charset="-122"/>
                <a:ea typeface="微软雅黑" panose="020B0503020204020204" charset="-122"/>
                <a:sym typeface="+mn-ea"/>
              </a:rPr>
              <a:t>是程序图</a:t>
            </a:r>
            <a:r>
              <a:rPr lang="en-US" altLang="zh-CN" sz="2000" dirty="0" smtClean="0">
                <a:latin typeface="微软雅黑" panose="020B0503020204020204" charset="-122"/>
                <a:ea typeface="微软雅黑" panose="020B0503020204020204" charset="-122"/>
                <a:sym typeface="+mn-ea"/>
              </a:rPr>
              <a:t>G</a:t>
            </a:r>
            <a:r>
              <a:rPr lang="zh-CN" altLang="en-US" sz="2000" dirty="0" smtClean="0">
                <a:latin typeface="微软雅黑" panose="020B0503020204020204" charset="-122"/>
                <a:ea typeface="微软雅黑" panose="020B0503020204020204" charset="-122"/>
                <a:sym typeface="+mn-ea"/>
              </a:rPr>
              <a:t>中的结点数。</a:t>
            </a:r>
          </a:p>
          <a:p>
            <a:pPr>
              <a:lnSpc>
                <a:spcPct val="130000"/>
              </a:lnSpc>
            </a:pPr>
            <a:r>
              <a:rPr lang="zh-CN" altLang="en-US" sz="2000" dirty="0" smtClean="0">
                <a:latin typeface="微软雅黑" panose="020B0503020204020204" charset="-122"/>
                <a:ea typeface="微软雅黑" panose="020B0503020204020204" charset="-122"/>
                <a:sym typeface="+mn-ea"/>
              </a:rPr>
              <a:t>              越大，表明该程序越复杂。</a:t>
            </a:r>
            <a:r>
              <a:rPr lang="en-US" altLang="zh-CN" sz="2000" dirty="0" smtClean="0">
                <a:latin typeface="微软雅黑" panose="020B0503020204020204" charset="-122"/>
                <a:ea typeface="微软雅黑" panose="020B0503020204020204" charset="-122"/>
                <a:sym typeface="+mn-ea"/>
              </a:rPr>
              <a:t>McCabe</a:t>
            </a:r>
            <a:r>
              <a:rPr lang="zh-CN" altLang="en-US" sz="2000" dirty="0" smtClean="0">
                <a:latin typeface="微软雅黑" panose="020B0503020204020204" charset="-122"/>
                <a:ea typeface="微软雅黑" panose="020B0503020204020204" charset="-122"/>
                <a:sym typeface="+mn-ea"/>
              </a:rPr>
              <a:t>研究了大量程序后发现，         越大，程序越容易出错，测试难，维护也难。实践证明，模块规模以                  为宜。</a:t>
            </a:r>
          </a:p>
        </p:txBody>
      </p:sp>
      <p:graphicFrame>
        <p:nvGraphicFramePr>
          <p:cNvPr id="6" name="对象 5"/>
          <p:cNvGraphicFramePr>
            <a:graphicFrameLocks noChangeAspect="1"/>
          </p:cNvGraphicFramePr>
          <p:nvPr/>
        </p:nvGraphicFramePr>
        <p:xfrm>
          <a:off x="5265455" y="2987040"/>
          <a:ext cx="1762725" cy="365443"/>
        </p:xfrm>
        <a:graphic>
          <a:graphicData uri="http://schemas.openxmlformats.org/presentationml/2006/ole">
            <p:oleObj spid="_x0000_s163845" name="公式" r:id="rId4" imgW="24993600" imgH="5181600" progId="">
              <p:embed/>
            </p:oleObj>
          </a:graphicData>
        </a:graphic>
      </p:graphicFrame>
      <p:graphicFrame>
        <p:nvGraphicFramePr>
          <p:cNvPr id="225285" name="Object 5"/>
          <p:cNvGraphicFramePr>
            <a:graphicFrameLocks noChangeAspect="1"/>
          </p:cNvGraphicFramePr>
          <p:nvPr/>
        </p:nvGraphicFramePr>
        <p:xfrm>
          <a:off x="1932623" y="4267200"/>
          <a:ext cx="601662" cy="352425"/>
        </p:xfrm>
        <a:graphic>
          <a:graphicData uri="http://schemas.openxmlformats.org/presentationml/2006/ole">
            <p:oleObj spid="_x0000_s163844" name="公式" r:id="rId5" imgW="8534400" imgH="5181600" progId="">
              <p:embed/>
            </p:oleObj>
          </a:graphicData>
        </a:graphic>
      </p:graphicFrame>
      <p:graphicFrame>
        <p:nvGraphicFramePr>
          <p:cNvPr id="225286" name="Object 6"/>
          <p:cNvGraphicFramePr>
            <a:graphicFrameLocks noChangeAspect="1"/>
          </p:cNvGraphicFramePr>
          <p:nvPr/>
        </p:nvGraphicFramePr>
        <p:xfrm>
          <a:off x="2742248" y="3431223"/>
          <a:ext cx="601662" cy="352425"/>
        </p:xfrm>
        <a:graphic>
          <a:graphicData uri="http://schemas.openxmlformats.org/presentationml/2006/ole">
            <p:oleObj spid="_x0000_s163843" name="公式" r:id="rId6" imgW="8534400" imgH="5181600" progId="">
              <p:embed/>
            </p:oleObj>
          </a:graphicData>
        </a:graphic>
      </p:graphicFrame>
      <p:graphicFrame>
        <p:nvGraphicFramePr>
          <p:cNvPr id="225287" name="Object 7"/>
          <p:cNvGraphicFramePr>
            <a:graphicFrameLocks noChangeAspect="1"/>
          </p:cNvGraphicFramePr>
          <p:nvPr/>
        </p:nvGraphicFramePr>
        <p:xfrm>
          <a:off x="9371648" y="4284663"/>
          <a:ext cx="601662" cy="352425"/>
        </p:xfrm>
        <a:graphic>
          <a:graphicData uri="http://schemas.openxmlformats.org/presentationml/2006/ole">
            <p:oleObj spid="_x0000_s163842" name="公式" r:id="rId7" imgW="8534400" imgH="5181600" progId="">
              <p:embed/>
            </p:oleObj>
          </a:graphicData>
        </a:graphic>
      </p:graphicFrame>
      <p:graphicFrame>
        <p:nvGraphicFramePr>
          <p:cNvPr id="225288" name="Object 8"/>
          <p:cNvGraphicFramePr>
            <a:graphicFrameLocks noChangeAspect="1"/>
          </p:cNvGraphicFramePr>
          <p:nvPr/>
        </p:nvGraphicFramePr>
        <p:xfrm>
          <a:off x="8267065" y="4680903"/>
          <a:ext cx="1074738" cy="352425"/>
        </p:xfrm>
        <a:graphic>
          <a:graphicData uri="http://schemas.openxmlformats.org/presentationml/2006/ole">
            <p:oleObj spid="_x0000_s163841" name="公式" r:id="rId8" imgW="15240000" imgH="5181600" progId="">
              <p:embed/>
            </p:oleObj>
          </a:graphicData>
        </a:graphic>
      </p:graphicFrame>
      <p:sp>
        <p:nvSpPr>
          <p:cNvPr id="11" name="文本框 6"/>
          <p:cNvSpPr txBox="1"/>
          <p:nvPr/>
        </p:nvSpPr>
        <p:spPr>
          <a:xfrm>
            <a:off x="738491" y="2272030"/>
            <a:ext cx="461665" cy="3565400"/>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4.5.5 </a:t>
            </a:r>
            <a:r>
              <a:rPr lang="zh-CN" altLang="en-US" spc="160" dirty="0" smtClean="0">
                <a:solidFill>
                  <a:schemeClr val="bg1"/>
                </a:solidFill>
                <a:latin typeface="微软雅黑" panose="020B0503020204020204" charset="-122"/>
                <a:ea typeface="微软雅黑" panose="020B0503020204020204" charset="-122"/>
              </a:rPr>
              <a:t>程序环形复杂程度的度量</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87990" cy="3577590"/>
            <a:chOff x="1275" y="2210"/>
            <a:chExt cx="16674" cy="5634"/>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49" cy="4694"/>
              <a:chOff x="1500" y="3150"/>
              <a:chExt cx="16449" cy="4694"/>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计算程序环形复杂度。</a:t>
                </a:r>
              </a:p>
            </p:txBody>
          </p:sp>
          <p:sp>
            <p:nvSpPr>
              <p:cNvPr id="24" name="矩形 23"/>
              <p:cNvSpPr>
                <a:spLocks noChangeAspect="1"/>
              </p:cNvSpPr>
              <p:nvPr/>
            </p:nvSpPr>
            <p:spPr>
              <a:xfrm>
                <a:off x="1520" y="4595"/>
                <a:ext cx="16429" cy="324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853"/>
                <a:ext cx="15536" cy="2734"/>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189355" y="3138170"/>
            <a:ext cx="9839325" cy="1516380"/>
          </a:xfrm>
          <a:prstGeom prst="rect">
            <a:avLst/>
          </a:prstGeom>
          <a:noFill/>
        </p:spPr>
        <p:txBody>
          <a:bodyPr wrap="square" rtlCol="0" anchor="t">
            <a:spAutoFit/>
          </a:bodyPr>
          <a:lstStyle/>
          <a:p>
            <a:pPr fontAlgn="auto">
              <a:lnSpc>
                <a:spcPct val="130000"/>
              </a:lnSpc>
            </a:pPr>
            <a:r>
              <a:rPr lang="en-US" altLang="zh-CN" dirty="0"/>
              <a:t>       </a:t>
            </a:r>
            <a:r>
              <a:rPr lang="zh-CN" altLang="en-US" dirty="0"/>
              <a:t>拟设计一个对计算机应用能力考试成绩进行统计的程序。数据输入要求：连续输入考试成绩，最后以输入0分或负分为结束。规定：成绩在60分以下的为不及格、60分以上的为及格、80分以上的属于优秀。要求该程序能统计并分别输出成绩“不及格”、“及格”、“优秀”的人数及总人数。先画出本例的程序流程图（见图4-3），再画出对应的程序图，如图4-4所示。</a:t>
            </a:r>
          </a:p>
        </p:txBody>
      </p:sp>
    </p:spTree>
  </p:cSld>
  <p:clrMapOvr>
    <a:masterClrMapping/>
  </p:clrMapOvr>
  <p:transition>
    <p:pull dir="rd"/>
  </p:transition>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TextBox 20"/>
          <p:cNvSpPr txBox="1"/>
          <p:nvPr/>
        </p:nvSpPr>
        <p:spPr>
          <a:xfrm>
            <a:off x="6177280" y="1905000"/>
            <a:ext cx="4551680" cy="4413516"/>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5004435"/>
            <a:chOff x="1275" y="2210"/>
            <a:chExt cx="15678" cy="78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338" y="3150"/>
              <a:ext cx="15615" cy="6941"/>
              <a:chOff x="1338" y="3150"/>
              <a:chExt cx="15615" cy="694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计算程序环形复杂度。</a:t>
                </a:r>
              </a:p>
            </p:txBody>
          </p:sp>
          <p:sp>
            <p:nvSpPr>
              <p:cNvPr id="24" name="矩形 23"/>
              <p:cNvSpPr>
                <a:spLocks noChangeAspect="1"/>
              </p:cNvSpPr>
              <p:nvPr/>
            </p:nvSpPr>
            <p:spPr>
              <a:xfrm>
                <a:off x="1338" y="4275"/>
                <a:ext cx="8136" cy="58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746" y="4547"/>
                <a:ext cx="7392" cy="5380"/>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pic>
        <p:nvPicPr>
          <p:cNvPr id="123907" name="图片 135"/>
          <p:cNvPicPr>
            <a:picLocks noChangeAspect="1" noChangeArrowheads="1"/>
          </p:cNvPicPr>
          <p:nvPr/>
        </p:nvPicPr>
        <p:blipFill>
          <a:blip r:embed="rId4" cstate="print"/>
          <a:srcRect/>
          <a:stretch>
            <a:fillRect/>
          </a:stretch>
        </p:blipFill>
        <p:spPr bwMode="auto">
          <a:xfrm>
            <a:off x="1432560" y="2946175"/>
            <a:ext cx="3992880" cy="2981627"/>
          </a:xfrm>
          <a:prstGeom prst="rect">
            <a:avLst/>
          </a:prstGeom>
          <a:noFill/>
          <a:ln w="9525">
            <a:noFill/>
            <a:miter lim="800000"/>
            <a:headEnd/>
            <a:tailEnd/>
          </a:ln>
        </p:spPr>
      </p:pic>
      <p:pic>
        <p:nvPicPr>
          <p:cNvPr id="123908" name="图片 136"/>
          <p:cNvPicPr>
            <a:picLocks noChangeAspect="1" noChangeArrowheads="1"/>
          </p:cNvPicPr>
          <p:nvPr/>
        </p:nvPicPr>
        <p:blipFill>
          <a:blip r:embed="rId5" cstate="print"/>
          <a:srcRect/>
          <a:stretch>
            <a:fillRect/>
          </a:stretch>
        </p:blipFill>
        <p:spPr bwMode="auto">
          <a:xfrm>
            <a:off x="6370320" y="2011680"/>
            <a:ext cx="4067175" cy="3838575"/>
          </a:xfrm>
          <a:prstGeom prst="rect">
            <a:avLst/>
          </a:prstGeom>
          <a:noFill/>
          <a:ln w="9525">
            <a:noFill/>
            <a:miter lim="800000"/>
            <a:headEnd/>
            <a:tailEnd/>
          </a:ln>
        </p:spPr>
      </p:pic>
      <p:sp>
        <p:nvSpPr>
          <p:cNvPr id="17" name="矩形 16"/>
          <p:cNvSpPr/>
          <p:nvPr/>
        </p:nvSpPr>
        <p:spPr>
          <a:xfrm>
            <a:off x="1893872" y="5941814"/>
            <a:ext cx="2826415" cy="369332"/>
          </a:xfrm>
          <a:prstGeom prst="rect">
            <a:avLst/>
          </a:prstGeom>
        </p:spPr>
        <p:txBody>
          <a:bodyPr wrap="none">
            <a:spAutoFit/>
          </a:bodyPr>
          <a:lstStyle/>
          <a:p>
            <a:r>
              <a:rPr lang="zh-CN" altLang="en-US" dirty="0" smtClean="0"/>
              <a:t>图</a:t>
            </a:r>
            <a:r>
              <a:rPr lang="en-US" dirty="0" smtClean="0"/>
              <a:t>4-3  </a:t>
            </a:r>
            <a:r>
              <a:rPr lang="zh-CN" altLang="en-US" dirty="0" smtClean="0"/>
              <a:t>例</a:t>
            </a:r>
            <a:r>
              <a:rPr lang="en-US" dirty="0" smtClean="0"/>
              <a:t>4-2</a:t>
            </a:r>
            <a:r>
              <a:rPr lang="zh-CN" altLang="en-US" dirty="0" smtClean="0"/>
              <a:t>的程序流程图</a:t>
            </a:r>
            <a:endParaRPr lang="zh-CN" altLang="en-US" dirty="0"/>
          </a:p>
        </p:txBody>
      </p:sp>
      <p:sp>
        <p:nvSpPr>
          <p:cNvPr id="18" name="矩形 17"/>
          <p:cNvSpPr/>
          <p:nvPr/>
        </p:nvSpPr>
        <p:spPr>
          <a:xfrm>
            <a:off x="7105952" y="5896094"/>
            <a:ext cx="2826415" cy="369332"/>
          </a:xfrm>
          <a:prstGeom prst="rect">
            <a:avLst/>
          </a:prstGeom>
        </p:spPr>
        <p:txBody>
          <a:bodyPr wrap="none">
            <a:spAutoFit/>
          </a:bodyPr>
          <a:lstStyle/>
          <a:p>
            <a:r>
              <a:rPr lang="zh-CN" altLang="en-US" dirty="0" smtClean="0"/>
              <a:t>图</a:t>
            </a:r>
            <a:r>
              <a:rPr lang="en-US" dirty="0" smtClean="0"/>
              <a:t>4-4  </a:t>
            </a:r>
            <a:r>
              <a:rPr lang="zh-CN" altLang="en-US" dirty="0" smtClean="0"/>
              <a:t>例</a:t>
            </a:r>
            <a:r>
              <a:rPr lang="en-US" dirty="0" smtClean="0"/>
              <a:t>4-2</a:t>
            </a:r>
            <a:r>
              <a:rPr lang="zh-CN" altLang="en-US" dirty="0" smtClean="0"/>
              <a:t>对应的程序图</a:t>
            </a:r>
            <a:endParaRPr lang="zh-CN" altLang="en-US" dirty="0"/>
          </a:p>
        </p:txBody>
      </p:sp>
      <p:sp>
        <p:nvSpPr>
          <p:cNvPr id="20" name="矩形 19"/>
          <p:cNvSpPr>
            <a:spLocks noChangeAspect="1"/>
          </p:cNvSpPr>
          <p:nvPr/>
        </p:nvSpPr>
        <p:spPr>
          <a:xfrm>
            <a:off x="6046471" y="1785620"/>
            <a:ext cx="4834889" cy="461518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Tree>
  </p:cSld>
  <p:clrMapOvr>
    <a:masterClrMapping/>
  </p:clrMapOvr>
  <p:transition>
    <p:pull dir="rd"/>
  </p:transition>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5290" cy="5004435"/>
            <a:chOff x="1275" y="2210"/>
            <a:chExt cx="16654" cy="78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500" y="3150"/>
              <a:ext cx="16429" cy="6941"/>
              <a:chOff x="1500" y="3150"/>
              <a:chExt cx="16429" cy="694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计算程序环形复杂度。</a:t>
                </a:r>
              </a:p>
            </p:txBody>
          </p:sp>
          <p:sp>
            <p:nvSpPr>
              <p:cNvPr id="24" name="矩形 23"/>
              <p:cNvSpPr>
                <a:spLocks noChangeAspect="1"/>
              </p:cNvSpPr>
              <p:nvPr/>
            </p:nvSpPr>
            <p:spPr>
              <a:xfrm>
                <a:off x="1500" y="4275"/>
                <a:ext cx="16429" cy="58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324"/>
              </a:xfrm>
              <a:prstGeom prst="rect">
                <a:avLst/>
              </a:prstGeom>
              <a:solidFill>
                <a:schemeClr val="bg1">
                  <a:lumMod val="95000"/>
                </a:schemeClr>
              </a:solidFill>
            </p:spPr>
            <p:txBody>
              <a:bodyPr wrap="square">
                <a:spAutoFit/>
              </a:bodyPr>
              <a:lstStyle/>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a:p>
                <a:pPr fontAlgn="auto">
                  <a:lnSpc>
                    <a:spcPct val="120000"/>
                  </a:lnSpc>
                </a:pPr>
                <a:endParaRPr lang="en-US" altLang="en-US" dirty="0" smtClean="0">
                  <a:latin typeface="Times New Roman" panose="02020603050405020304" charset="0"/>
                  <a:ea typeface="宋体" panose="02010600030101010101" pitchFamily="2" charset="-122"/>
                </a:endParaRPr>
              </a:p>
            </p:txBody>
          </p:sp>
        </p:grpSp>
      </p:grpSp>
      <p:sp>
        <p:nvSpPr>
          <p:cNvPr id="6" name="文本框 5"/>
          <p:cNvSpPr txBox="1"/>
          <p:nvPr/>
        </p:nvSpPr>
        <p:spPr>
          <a:xfrm>
            <a:off x="1189355" y="2918460"/>
            <a:ext cx="9935845" cy="3333220"/>
          </a:xfrm>
          <a:prstGeom prst="rect">
            <a:avLst/>
          </a:prstGeom>
          <a:noFill/>
        </p:spPr>
        <p:txBody>
          <a:bodyPr wrap="square" rtlCol="0" anchor="t">
            <a:spAutoFit/>
          </a:bodyPr>
          <a:lstStyle/>
          <a:p>
            <a:pPr fontAlgn="auto">
              <a:lnSpc>
                <a:spcPct val="130000"/>
              </a:lnSpc>
            </a:pPr>
            <a:r>
              <a:rPr lang="en-US" dirty="0" smtClean="0"/>
              <a:t>       </a:t>
            </a:r>
            <a:r>
              <a:rPr dirty="0" smtClean="0"/>
              <a:t>计算此程序的环形复杂度</a:t>
            </a:r>
            <a:r>
              <a:rPr dirty="0"/>
              <a:t>。</a:t>
            </a:r>
          </a:p>
          <a:p>
            <a:pPr fontAlgn="auto">
              <a:lnSpc>
                <a:spcPct val="130000"/>
              </a:lnSpc>
            </a:pPr>
            <a:r>
              <a:rPr lang="en-US" dirty="0" smtClean="0"/>
              <a:t>       </a:t>
            </a:r>
            <a:r>
              <a:rPr dirty="0" smtClean="0"/>
              <a:t>方法</a:t>
            </a:r>
            <a:r>
              <a:rPr dirty="0"/>
              <a:t>1：图4-4中，实线弧数为14，结点数为12。因此，环形复杂度为</a:t>
            </a:r>
          </a:p>
          <a:p>
            <a:pPr fontAlgn="auto">
              <a:lnSpc>
                <a:spcPct val="130000"/>
              </a:lnSpc>
            </a:pPr>
            <a:r>
              <a:rPr dirty="0"/>
              <a:t> </a:t>
            </a:r>
          </a:p>
          <a:p>
            <a:pPr fontAlgn="auto">
              <a:lnSpc>
                <a:spcPct val="130000"/>
              </a:lnSpc>
            </a:pPr>
            <a:r>
              <a:rPr lang="en-US" dirty="0" smtClean="0"/>
              <a:t>       </a:t>
            </a:r>
            <a:r>
              <a:rPr dirty="0" smtClean="0"/>
              <a:t>方法</a:t>
            </a:r>
            <a:r>
              <a:rPr dirty="0"/>
              <a:t>2：图4-4中，判定结点的个数为3，环形复杂度为</a:t>
            </a:r>
          </a:p>
          <a:p>
            <a:pPr fontAlgn="auto">
              <a:lnSpc>
                <a:spcPct val="130000"/>
              </a:lnSpc>
            </a:pPr>
            <a:r>
              <a:rPr dirty="0"/>
              <a:t> </a:t>
            </a:r>
          </a:p>
          <a:p>
            <a:pPr fontAlgn="auto">
              <a:lnSpc>
                <a:spcPct val="130000"/>
              </a:lnSpc>
            </a:pPr>
            <a:r>
              <a:rPr lang="en-US" dirty="0" smtClean="0"/>
              <a:t>       </a:t>
            </a:r>
            <a:r>
              <a:rPr dirty="0" smtClean="0"/>
              <a:t>方法</a:t>
            </a:r>
            <a:r>
              <a:rPr dirty="0"/>
              <a:t>3：先画出该题的程序流程图，如图4-3所示；进而得出程序图，如图4-4所示。图4-4中增加了一条从出口点到入口点的虚线有向弧。可见，图中有4个线性无关的有向环，即R1，R2，R3，R4，因而环形复杂度为4。</a:t>
            </a:r>
          </a:p>
          <a:p>
            <a:pPr fontAlgn="auto">
              <a:lnSpc>
                <a:spcPct val="130000"/>
              </a:lnSpc>
            </a:pPr>
            <a:r>
              <a:rPr lang="en-US" dirty="0" smtClean="0"/>
              <a:t>       </a:t>
            </a:r>
            <a:r>
              <a:rPr dirty="0" smtClean="0"/>
              <a:t>由此可见</a:t>
            </a:r>
            <a:r>
              <a:rPr dirty="0"/>
              <a:t>，利用3种环形复杂度计算公式得到的计算结果相同。</a:t>
            </a:r>
          </a:p>
        </p:txBody>
      </p:sp>
      <p:graphicFrame>
        <p:nvGraphicFramePr>
          <p:cNvPr id="160769" name="Object 1"/>
          <p:cNvGraphicFramePr>
            <a:graphicFrameLocks noChangeAspect="1"/>
          </p:cNvGraphicFramePr>
          <p:nvPr/>
        </p:nvGraphicFramePr>
        <p:xfrm>
          <a:off x="4658043" y="3702685"/>
          <a:ext cx="2276475" cy="365125"/>
        </p:xfrm>
        <a:graphic>
          <a:graphicData uri="http://schemas.openxmlformats.org/presentationml/2006/ole">
            <p:oleObj spid="_x0000_s167938" name="公式" r:id="rId5" imgW="32308800" imgH="5181600" progId="">
              <p:embed/>
            </p:oleObj>
          </a:graphicData>
        </a:graphic>
      </p:graphicFrame>
      <p:graphicFrame>
        <p:nvGraphicFramePr>
          <p:cNvPr id="160770" name="Object 2"/>
          <p:cNvGraphicFramePr>
            <a:graphicFrameLocks noChangeAspect="1"/>
          </p:cNvGraphicFramePr>
          <p:nvPr/>
        </p:nvGraphicFramePr>
        <p:xfrm>
          <a:off x="5037138" y="4405313"/>
          <a:ext cx="1674812" cy="365125"/>
        </p:xfrm>
        <a:graphic>
          <a:graphicData uri="http://schemas.openxmlformats.org/presentationml/2006/ole">
            <p:oleObj spid="_x0000_s167937" name="公式" r:id="rId6" imgW="23774400" imgH="5181600" progId="">
              <p:embed/>
            </p:oleObj>
          </a:graphicData>
        </a:graphic>
      </p:graphicFrame>
    </p:spTree>
  </p:cSld>
  <p:clrMapOvr>
    <a:masterClrMapping/>
  </p:clrMapOvr>
  <p:transition>
    <p:pull dir="rd"/>
  </p:transition>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4.5.6 </a:t>
            </a:r>
            <a:r>
              <a:rPr lang="zh-CN" altLang="en-US" sz="2400" dirty="0" smtClean="0">
                <a:solidFill>
                  <a:schemeClr val="tx1"/>
                </a:solidFill>
              </a:rPr>
              <a:t>因果图法</a:t>
            </a:r>
          </a:p>
        </p:txBody>
      </p:sp>
      <p:sp>
        <p:nvSpPr>
          <p:cNvPr id="14" name="文本框 13"/>
          <p:cNvSpPr txBox="1"/>
          <p:nvPr/>
        </p:nvSpPr>
        <p:spPr>
          <a:xfrm>
            <a:off x="2393315" y="2575560"/>
            <a:ext cx="5846445" cy="3017520"/>
          </a:xfrm>
          <a:prstGeom prst="rect">
            <a:avLst/>
          </a:prstGeom>
          <a:noFill/>
        </p:spPr>
        <p:txBody>
          <a:bodyPr wrap="square" rtlCol="0" anchor="t">
            <a:spAutoFit/>
          </a:bodyPr>
          <a:lstStyle/>
          <a:p>
            <a:pPr indent="0" fontAlgn="auto">
              <a:lnSpc>
                <a:spcPct val="150000"/>
              </a:lnSpc>
              <a:buClrTx/>
              <a:buNone/>
            </a:pPr>
            <a:r>
              <a:rPr lang="en-US" altLang="zh-CN" sz="2000" dirty="0">
                <a:latin typeface="微软雅黑" panose="020B0503020204020204" charset="-122"/>
                <a:ea typeface="微软雅黑" panose="020B0503020204020204" charset="-122"/>
              </a:rPr>
              <a:t>      </a:t>
            </a:r>
            <a:r>
              <a:rPr lang="zh-CN" altLang="en-US" dirty="0">
                <a:solidFill>
                  <a:srgbClr val="00B050"/>
                </a:solidFill>
                <a:latin typeface="微软雅黑" panose="020B0503020204020204" charset="-122"/>
                <a:ea typeface="微软雅黑" panose="020B0503020204020204" charset="-122"/>
              </a:rPr>
              <a:t>等价类划分法和边界值分析法的测试用例还不能检查组合输入条件可能引起的软件错误。而因果图法可弥补这个不足。</a:t>
            </a:r>
          </a:p>
          <a:p>
            <a:pPr indent="0" fontAlgn="auto">
              <a:lnSpc>
                <a:spcPct val="150000"/>
              </a:lnSpc>
              <a:buClrTx/>
              <a:buNone/>
            </a:pPr>
            <a:r>
              <a:rPr lang="zh-CN" altLang="en-US" dirty="0">
                <a:latin typeface="微软雅黑" panose="020B0503020204020204" charset="-122"/>
                <a:ea typeface="微软雅黑" panose="020B0503020204020204" charset="-122"/>
              </a:rPr>
              <a:t>       在因果图中，原因和结果分别写在一个圆圈中。通常，</a:t>
            </a:r>
            <a:r>
              <a:rPr lang="zh-CN" altLang="en-US" dirty="0">
                <a:solidFill>
                  <a:srgbClr val="C00000"/>
                </a:solidFill>
                <a:latin typeface="微软雅黑" panose="020B0503020204020204" charset="-122"/>
                <a:ea typeface="微软雅黑" panose="020B0503020204020204" charset="-122"/>
              </a:rPr>
              <a:t>在左边的圆圈中写原因，在右边的圆圈中写结果，</a:t>
            </a:r>
            <a:r>
              <a:rPr lang="zh-CN" altLang="en-US" dirty="0">
                <a:latin typeface="微软雅黑" panose="020B0503020204020204" charset="-122"/>
                <a:ea typeface="微软雅黑" panose="020B0503020204020204" charset="-122"/>
              </a:rPr>
              <a:t>中间以直线连接，连接线上再加符号表示因与果的不同关系。</a:t>
            </a:r>
          </a:p>
        </p:txBody>
      </p:sp>
    </p:spTree>
  </p:cSld>
  <p:clrMapOvr>
    <a:masterClrMapping/>
  </p:clrMapOvr>
  <p:transition>
    <p:pull dir="rd"/>
  </p:transition>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4.5.6 </a:t>
            </a:r>
            <a:r>
              <a:rPr lang="zh-CN" altLang="en-US" sz="2400" dirty="0" smtClean="0">
                <a:solidFill>
                  <a:schemeClr val="tx1"/>
                </a:solidFill>
              </a:rPr>
              <a:t>因果图法</a:t>
            </a:r>
          </a:p>
        </p:txBody>
      </p:sp>
      <p:grpSp>
        <p:nvGrpSpPr>
          <p:cNvPr id="6" name="组合 5"/>
          <p:cNvGrpSpPr/>
          <p:nvPr/>
        </p:nvGrpSpPr>
        <p:grpSpPr>
          <a:xfrm>
            <a:off x="2370142" y="2138045"/>
            <a:ext cx="9115425" cy="4057015"/>
            <a:chOff x="9622" y="2668"/>
            <a:chExt cx="15385" cy="7323"/>
          </a:xfrm>
        </p:grpSpPr>
        <p:sp>
          <p:nvSpPr>
            <p:cNvPr id="12" name="任意多边形 11"/>
            <p:cNvSpPr/>
            <p:nvPr>
              <p:custDataLst>
                <p:tags r:id="rId1"/>
              </p:custDataLst>
            </p:nvPr>
          </p:nvSpPr>
          <p:spPr>
            <a:xfrm>
              <a:off x="9622" y="2668"/>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圆角矩形 7"/>
            <p:cNvSpPr/>
            <p:nvPr>
              <p:custDataLst>
                <p:tags r:id="rId2"/>
              </p:custDataLst>
            </p:nvPr>
          </p:nvSpPr>
          <p:spPr>
            <a:xfrm>
              <a:off x="11539" y="3231"/>
              <a:ext cx="1343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9" name="椭圆 8"/>
            <p:cNvSpPr/>
            <p:nvPr>
              <p:custDataLst>
                <p:tags r:id="rId3"/>
              </p:custDataLst>
            </p:nvPr>
          </p:nvSpPr>
          <p:spPr>
            <a:xfrm>
              <a:off x="11502" y="315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Autofit/>
            </a:bodyPr>
            <a:lstStyle/>
            <a:p>
              <a:pPr algn="ctr" eaLnBrk="1" hangingPunct="1">
                <a:spcBef>
                  <a:spcPts val="0"/>
                </a:spcBef>
                <a:spcAft>
                  <a:spcPts val="0"/>
                </a:spcAft>
                <a:defRPr/>
              </a:pPr>
              <a:r>
                <a:rPr lang="en-US" altLang="zh-CN" sz="2400" dirty="0">
                  <a:solidFill>
                    <a:schemeClr val="bg1"/>
                  </a:solidFill>
                </a:rPr>
                <a:t>1</a:t>
              </a:r>
            </a:p>
          </p:txBody>
        </p:sp>
        <p:sp>
          <p:nvSpPr>
            <p:cNvPr id="16" name="圆角矩形 15"/>
            <p:cNvSpPr/>
            <p:nvPr>
              <p:custDataLst>
                <p:tags r:id="rId4"/>
              </p:custDataLst>
            </p:nvPr>
          </p:nvSpPr>
          <p:spPr>
            <a:xfrm>
              <a:off x="10426" y="4537"/>
              <a:ext cx="1371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5"/>
              </p:custDataLst>
            </p:nvPr>
          </p:nvSpPr>
          <p:spPr>
            <a:xfrm>
              <a:off x="10393" y="446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rPr>
                <a:t>2</a:t>
              </a:r>
            </a:p>
          </p:txBody>
        </p:sp>
        <p:sp>
          <p:nvSpPr>
            <p:cNvPr id="11" name="圆角矩形 10"/>
            <p:cNvSpPr/>
            <p:nvPr>
              <p:custDataLst>
                <p:tags r:id="rId6"/>
              </p:custDataLst>
            </p:nvPr>
          </p:nvSpPr>
          <p:spPr>
            <a:xfrm>
              <a:off x="10171" y="5867"/>
              <a:ext cx="13276"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7"/>
              </p:custDataLst>
            </p:nvPr>
          </p:nvSpPr>
          <p:spPr>
            <a:xfrm>
              <a:off x="10135" y="5792"/>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rPr>
                <a:t>3</a:t>
              </a:r>
            </a:p>
          </p:txBody>
        </p:sp>
        <p:sp>
          <p:nvSpPr>
            <p:cNvPr id="13" name="圆角矩形 12"/>
            <p:cNvSpPr/>
            <p:nvPr>
              <p:custDataLst>
                <p:tags r:id="rId8"/>
              </p:custDataLst>
            </p:nvPr>
          </p:nvSpPr>
          <p:spPr>
            <a:xfrm>
              <a:off x="10426" y="7265"/>
              <a:ext cx="1371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30" name="椭圆 29"/>
            <p:cNvSpPr/>
            <p:nvPr>
              <p:custDataLst>
                <p:tags r:id="rId9"/>
              </p:custDataLst>
            </p:nvPr>
          </p:nvSpPr>
          <p:spPr>
            <a:xfrm>
              <a:off x="10393" y="7187"/>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rPr>
                <a:t>4</a:t>
              </a:r>
            </a:p>
          </p:txBody>
        </p:sp>
        <p:sp>
          <p:nvSpPr>
            <p:cNvPr id="31" name="圆角矩形 30"/>
            <p:cNvSpPr/>
            <p:nvPr>
              <p:custDataLst>
                <p:tags r:id="rId10"/>
              </p:custDataLst>
            </p:nvPr>
          </p:nvSpPr>
          <p:spPr>
            <a:xfrm>
              <a:off x="11539" y="8571"/>
              <a:ext cx="13468"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endParaRPr lang="zh-CN" altLang="en-US" sz="1800">
                <a:solidFill>
                  <a:schemeClr val="tx1"/>
                </a:solidFill>
              </a:endParaRPr>
            </a:p>
          </p:txBody>
        </p:sp>
        <p:sp>
          <p:nvSpPr>
            <p:cNvPr id="32" name="椭圆 31"/>
            <p:cNvSpPr/>
            <p:nvPr>
              <p:custDataLst>
                <p:tags r:id="rId11"/>
              </p:custDataLst>
            </p:nvPr>
          </p:nvSpPr>
          <p:spPr>
            <a:xfrm>
              <a:off x="11538" y="8494"/>
              <a:ext cx="1073"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62500" lnSpcReduction="20000"/>
            </a:bodyPr>
            <a:lstStyle/>
            <a:p>
              <a:pPr algn="ctr" eaLnBrk="1" hangingPunct="1">
                <a:spcBef>
                  <a:spcPts val="0"/>
                </a:spcBef>
                <a:spcAft>
                  <a:spcPts val="0"/>
                </a:spcAft>
                <a:defRPr/>
              </a:pPr>
              <a:r>
                <a:rPr lang="en-US" altLang="zh-CN" sz="4000" dirty="0">
                  <a:solidFill>
                    <a:schemeClr val="bg1"/>
                  </a:solidFill>
                </a:rPr>
                <a:t>5</a:t>
              </a:r>
            </a:p>
          </p:txBody>
        </p:sp>
        <p:sp>
          <p:nvSpPr>
            <p:cNvPr id="47" name="文本框 54"/>
            <p:cNvSpPr txBox="1">
              <a:spLocks noChangeArrowheads="1"/>
            </p:cNvSpPr>
            <p:nvPr>
              <p:custDataLst>
                <p:tags r:id="rId12"/>
              </p:custDataLst>
            </p:nvPr>
          </p:nvSpPr>
          <p:spPr bwMode="auto">
            <a:xfrm>
              <a:off x="13017" y="3367"/>
              <a:ext cx="8670"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 将规格说明中的输入作为因，输出作为果；</a:t>
              </a:r>
            </a:p>
          </p:txBody>
        </p:sp>
        <p:sp>
          <p:nvSpPr>
            <p:cNvPr id="48" name="文本框 55"/>
            <p:cNvSpPr txBox="1">
              <a:spLocks noChangeArrowheads="1"/>
            </p:cNvSpPr>
            <p:nvPr>
              <p:custDataLst>
                <p:tags r:id="rId13"/>
              </p:custDataLst>
            </p:nvPr>
          </p:nvSpPr>
          <p:spPr bwMode="auto">
            <a:xfrm>
              <a:off x="13017" y="4672"/>
              <a:ext cx="10430" cy="6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画出因果图；</a:t>
              </a:r>
            </a:p>
          </p:txBody>
        </p:sp>
        <p:sp>
          <p:nvSpPr>
            <p:cNvPr id="49" name="文本框 56"/>
            <p:cNvSpPr txBox="1">
              <a:spLocks noChangeArrowheads="1"/>
            </p:cNvSpPr>
            <p:nvPr>
              <p:custDataLst>
                <p:tags r:id="rId14"/>
              </p:custDataLst>
            </p:nvPr>
          </p:nvSpPr>
          <p:spPr bwMode="auto">
            <a:xfrm>
              <a:off x="13017" y="6003"/>
              <a:ext cx="10332"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a:latin typeface="+mn-lt"/>
                  <a:ea typeface="+mn-ea"/>
                </a:rPr>
                <a:t>标出因果图的约束条件；</a:t>
              </a:r>
            </a:p>
          </p:txBody>
        </p:sp>
        <p:sp>
          <p:nvSpPr>
            <p:cNvPr id="50" name="文本框 57"/>
            <p:cNvSpPr txBox="1">
              <a:spLocks noChangeArrowheads="1"/>
            </p:cNvSpPr>
            <p:nvPr>
              <p:custDataLst>
                <p:tags r:id="rId15"/>
              </p:custDataLst>
            </p:nvPr>
          </p:nvSpPr>
          <p:spPr bwMode="auto">
            <a:xfrm>
              <a:off x="13017" y="7401"/>
              <a:ext cx="11239"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把因果图转化为判定表；</a:t>
              </a:r>
            </a:p>
          </p:txBody>
        </p:sp>
        <p:sp>
          <p:nvSpPr>
            <p:cNvPr id="51" name="文本框 58"/>
            <p:cNvSpPr txBox="1">
              <a:spLocks noChangeArrowheads="1"/>
            </p:cNvSpPr>
            <p:nvPr>
              <p:custDataLst>
                <p:tags r:id="rId16"/>
              </p:custDataLst>
            </p:nvPr>
          </p:nvSpPr>
          <p:spPr bwMode="auto">
            <a:xfrm>
              <a:off x="13017" y="8706"/>
              <a:ext cx="9748" cy="6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n-lt"/>
                  <a:ea typeface="+mn-ea"/>
                </a:rPr>
                <a:t>在判定表的每一列设计一个测试用例。</a:t>
              </a:r>
            </a:p>
          </p:txBody>
        </p:sp>
      </p:grpSp>
      <p:sp>
        <p:nvSpPr>
          <p:cNvPr id="21" name="矩形 7"/>
          <p:cNvSpPr>
            <a:spLocks noChangeArrowheads="1"/>
          </p:cNvSpPr>
          <p:nvPr/>
        </p:nvSpPr>
        <p:spPr bwMode="auto">
          <a:xfrm>
            <a:off x="675201" y="3578375"/>
            <a:ext cx="1467497" cy="92333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因果图测试用例的设计步骤为：</a:t>
            </a:r>
          </a:p>
        </p:txBody>
      </p:sp>
    </p:spTree>
  </p:cSld>
  <p:clrMapOvr>
    <a:masterClrMapping/>
  </p:clrMapOvr>
  <p:transition>
    <p:pull dir="rd"/>
  </p:transition>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4.5.6 </a:t>
            </a:r>
            <a:r>
              <a:rPr lang="zh-CN" altLang="en-US" sz="2400" dirty="0" smtClean="0">
                <a:solidFill>
                  <a:schemeClr val="tx1"/>
                </a:solidFill>
              </a:rPr>
              <a:t>因果图法</a:t>
            </a:r>
          </a:p>
        </p:txBody>
      </p:sp>
      <p:graphicFrame>
        <p:nvGraphicFramePr>
          <p:cNvPr id="6" name="表格 5"/>
          <p:cNvGraphicFramePr>
            <a:graphicFrameLocks noGrp="1"/>
          </p:cNvGraphicFramePr>
          <p:nvPr/>
        </p:nvGraphicFramePr>
        <p:xfrm>
          <a:off x="941184" y="2151628"/>
          <a:ext cx="10026921" cy="4108268"/>
        </p:xfrm>
        <a:graphic>
          <a:graphicData uri="http://schemas.openxmlformats.org/drawingml/2006/table">
            <a:tbl>
              <a:tblPr firstRow="1" firstCol="1" bandRow="1">
                <a:tableStyleId>{F5AB1C69-6EDB-4FF4-983F-18BD219EF322}</a:tableStyleId>
              </a:tblPr>
              <a:tblGrid>
                <a:gridCol w="2930783"/>
                <a:gridCol w="7096138"/>
              </a:tblGrid>
              <a:tr h="610688">
                <a:tc>
                  <a:txBody>
                    <a:bodyPr/>
                    <a:lstStyle/>
                    <a:p>
                      <a:pPr algn="ctr">
                        <a:lnSpc>
                          <a:spcPct val="115000"/>
                        </a:lnSpc>
                        <a:spcAft>
                          <a:spcPts val="0"/>
                        </a:spcAft>
                      </a:pPr>
                      <a:r>
                        <a:rPr lang="zh-CN" altLang="en-US" sz="2000" kern="100" dirty="0" smtClean="0">
                          <a:effectLst/>
                        </a:rPr>
                        <a:t>符号</a:t>
                      </a:r>
                      <a:endParaRPr lang="zh-CN" altLang="en-US" sz="2000" kern="100" dirty="0" smtClean="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tr>
              <a:tr h="681924">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2000" kern="100" dirty="0" smtClean="0">
                          <a:effectLst/>
                        </a:rPr>
                        <a:t>恒等：</a:t>
                      </a:r>
                      <a:r>
                        <a:rPr sz="2000" kern="100" dirty="0" smtClean="0">
                          <a:effectLst/>
                        </a:rPr>
                        <a:t>若c1是1，则e1也是1，否则e1为0。</a:t>
                      </a:r>
                      <a:endParaRPr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70104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2000" kern="100" dirty="0" smtClean="0">
                          <a:effectLst/>
                        </a:rPr>
                        <a:t>非（相反）：</a:t>
                      </a:r>
                      <a:r>
                        <a:rPr sz="2000" kern="100" dirty="0" smtClean="0">
                          <a:effectLst/>
                        </a:rPr>
                        <a:t>若c1是1，则e1是0，否则e1为1。</a:t>
                      </a:r>
                      <a:endParaRPr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1173480">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或：若c1或c2或c3是1，则e1是1，否则e1为0。</a:t>
                      </a:r>
                      <a:endParaRPr lang="zh-CN" altLang="en-US"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941136">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与：若c1和c2都是1，则e1是1，否则e1为0。</a:t>
                      </a:r>
                      <a:endParaRPr lang="zh-CN" altLang="en-US"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bl>
          </a:graphicData>
        </a:graphic>
      </p:graphicFrame>
      <p:pic>
        <p:nvPicPr>
          <p:cNvPr id="154625" name="Picture 1"/>
          <p:cNvPicPr>
            <a:picLocks noChangeAspect="1" noChangeArrowheads="1"/>
          </p:cNvPicPr>
          <p:nvPr/>
        </p:nvPicPr>
        <p:blipFill>
          <a:blip r:embed="rId3" cstate="print"/>
          <a:srcRect/>
          <a:stretch>
            <a:fillRect/>
          </a:stretch>
        </p:blipFill>
        <p:spPr bwMode="auto">
          <a:xfrm>
            <a:off x="1836420" y="2808923"/>
            <a:ext cx="1143000" cy="600075"/>
          </a:xfrm>
          <a:prstGeom prst="rect">
            <a:avLst/>
          </a:prstGeom>
          <a:noFill/>
          <a:ln w="9525">
            <a:noFill/>
            <a:miter lim="800000"/>
            <a:headEnd/>
            <a:tailEnd/>
          </a:ln>
          <a:effectLst/>
        </p:spPr>
      </p:pic>
      <p:pic>
        <p:nvPicPr>
          <p:cNvPr id="154626" name="Picture 2"/>
          <p:cNvPicPr>
            <a:picLocks noChangeAspect="1" noChangeArrowheads="1"/>
          </p:cNvPicPr>
          <p:nvPr/>
        </p:nvPicPr>
        <p:blipFill>
          <a:blip r:embed="rId4" cstate="print"/>
          <a:srcRect/>
          <a:stretch>
            <a:fillRect/>
          </a:stretch>
        </p:blipFill>
        <p:spPr bwMode="auto">
          <a:xfrm>
            <a:off x="1645920" y="3503295"/>
            <a:ext cx="1524000" cy="552450"/>
          </a:xfrm>
          <a:prstGeom prst="rect">
            <a:avLst/>
          </a:prstGeom>
          <a:noFill/>
          <a:ln w="9525">
            <a:noFill/>
            <a:miter lim="800000"/>
            <a:headEnd/>
            <a:tailEnd/>
          </a:ln>
          <a:effectLst/>
        </p:spPr>
      </p:pic>
      <p:pic>
        <p:nvPicPr>
          <p:cNvPr id="154627" name="Picture 3"/>
          <p:cNvPicPr>
            <a:picLocks noChangeAspect="1" noChangeArrowheads="1"/>
          </p:cNvPicPr>
          <p:nvPr/>
        </p:nvPicPr>
        <p:blipFill>
          <a:blip r:embed="rId5" cstate="print"/>
          <a:srcRect/>
          <a:stretch>
            <a:fillRect/>
          </a:stretch>
        </p:blipFill>
        <p:spPr bwMode="auto">
          <a:xfrm>
            <a:off x="1907859" y="4193859"/>
            <a:ext cx="1079181" cy="1079181"/>
          </a:xfrm>
          <a:prstGeom prst="rect">
            <a:avLst/>
          </a:prstGeom>
          <a:noFill/>
          <a:ln w="9525">
            <a:noFill/>
            <a:miter lim="800000"/>
            <a:headEnd/>
            <a:tailEnd/>
          </a:ln>
          <a:effectLst/>
        </p:spPr>
      </p:pic>
      <p:pic>
        <p:nvPicPr>
          <p:cNvPr id="154628" name="Picture 4"/>
          <p:cNvPicPr>
            <a:picLocks noChangeAspect="1" noChangeArrowheads="1"/>
          </p:cNvPicPr>
          <p:nvPr/>
        </p:nvPicPr>
        <p:blipFill>
          <a:blip r:embed="rId6" cstate="print"/>
          <a:srcRect/>
          <a:stretch>
            <a:fillRect/>
          </a:stretch>
        </p:blipFill>
        <p:spPr bwMode="auto">
          <a:xfrm>
            <a:off x="1973580" y="5367338"/>
            <a:ext cx="937260" cy="820103"/>
          </a:xfrm>
          <a:prstGeom prst="rect">
            <a:avLst/>
          </a:prstGeom>
          <a:noFill/>
          <a:ln w="9525">
            <a:noFill/>
            <a:miter lim="800000"/>
            <a:headEnd/>
            <a:tailEnd/>
          </a:ln>
          <a:effectLst/>
        </p:spPr>
      </p:pic>
      <p:sp>
        <p:nvSpPr>
          <p:cNvPr id="10" name="矩形 7"/>
          <p:cNvSpPr>
            <a:spLocks noChangeArrowheads="1"/>
          </p:cNvSpPr>
          <p:nvPr/>
        </p:nvSpPr>
        <p:spPr bwMode="auto">
          <a:xfrm>
            <a:off x="3213685" y="1476619"/>
            <a:ext cx="751345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因果图中的</a:t>
            </a:r>
            <a:r>
              <a:rPr lang="en-US" altLang="en-US" b="1" dirty="0" smtClean="0">
                <a:solidFill>
                  <a:srgbClr val="E67819"/>
                </a:solidFill>
                <a:latin typeface="微软雅黑" panose="020B0503020204020204" charset="-122"/>
                <a:ea typeface="微软雅黑" panose="020B0503020204020204" charset="-122"/>
              </a:rPr>
              <a:t>4</a:t>
            </a:r>
            <a:r>
              <a:rPr lang="zh-CN" altLang="en-US" b="1" dirty="0" smtClean="0">
                <a:solidFill>
                  <a:srgbClr val="E67819"/>
                </a:solidFill>
                <a:latin typeface="微软雅黑" panose="020B0503020204020204" charset="-122"/>
                <a:ea typeface="微软雅黑" panose="020B0503020204020204" charset="-122"/>
              </a:rPr>
              <a:t>种逻辑关系：</a:t>
            </a:r>
          </a:p>
        </p:txBody>
      </p:sp>
    </p:spTree>
  </p:cSld>
  <p:clrMapOvr>
    <a:masterClrMapping/>
  </p:clrMapOvr>
  <p:transition>
    <p:pull dir="rd"/>
  </p:transition>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ym typeface="+mn-ea"/>
            </a:endParaRP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4.5.6 </a:t>
            </a:r>
            <a:r>
              <a:rPr lang="zh-CN" altLang="en-US" sz="2400" dirty="0" smtClean="0">
                <a:solidFill>
                  <a:schemeClr val="tx1"/>
                </a:solidFill>
              </a:rPr>
              <a:t>因果图法</a:t>
            </a:r>
          </a:p>
        </p:txBody>
      </p:sp>
      <p:graphicFrame>
        <p:nvGraphicFramePr>
          <p:cNvPr id="6" name="表格 5"/>
          <p:cNvGraphicFramePr>
            <a:graphicFrameLocks noGrp="1"/>
          </p:cNvGraphicFramePr>
          <p:nvPr/>
        </p:nvGraphicFramePr>
        <p:xfrm>
          <a:off x="944880" y="2087880"/>
          <a:ext cx="10026650" cy="4130040"/>
        </p:xfrm>
        <a:graphic>
          <a:graphicData uri="http://schemas.openxmlformats.org/drawingml/2006/table">
            <a:tbl>
              <a:tblPr firstRow="1" firstCol="1" bandRow="1">
                <a:tableStyleId>{F5AB1C69-6EDB-4FF4-983F-18BD219EF322}</a:tableStyleId>
              </a:tblPr>
              <a:tblGrid>
                <a:gridCol w="1932305"/>
                <a:gridCol w="3477895"/>
                <a:gridCol w="1928495"/>
                <a:gridCol w="2687955"/>
              </a:tblGrid>
              <a:tr h="563880">
                <a:tc>
                  <a:txBody>
                    <a:bodyPr/>
                    <a:lstStyle/>
                    <a:p>
                      <a:pPr algn="ctr">
                        <a:lnSpc>
                          <a:spcPct val="115000"/>
                        </a:lnSpc>
                        <a:spcAft>
                          <a:spcPts val="0"/>
                        </a:spcAft>
                      </a:pPr>
                      <a:r>
                        <a:rPr lang="zh-CN" altLang="en-US" sz="2000" kern="100" dirty="0" smtClean="0">
                          <a:effectLst/>
                        </a:rPr>
                        <a:t>符号</a:t>
                      </a:r>
                      <a:endParaRPr lang="zh-CN" altLang="en-US" sz="2000" kern="100" dirty="0" smtClean="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buNone/>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buNone/>
                      </a:pPr>
                      <a:r>
                        <a:rPr lang="zh-CN" altLang="en-US" sz="2000" kern="100" dirty="0">
                          <a:effectLst/>
                        </a:rPr>
                        <a:t>表示内容</a:t>
                      </a:r>
                      <a:endParaRPr lang="zh-CN" altLang="en-US" sz="2000" kern="100" dirty="0">
                        <a:effectLst/>
                        <a:latin typeface="微软雅黑" panose="020B0503020204020204" charset="-122"/>
                        <a:ea typeface="微软雅黑" panose="020B0503020204020204" charset="-122"/>
                      </a:endParaRPr>
                    </a:p>
                  </a:txBody>
                  <a:tcPr marL="68580" marR="68580" marT="0" marB="0" anchor="ctr"/>
                </a:tc>
              </a:tr>
              <a:tr h="1096051">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marR="0" indent="-285750" algn="just" defTabSz="914400" rtl="0" eaLnBrk="1" fontAlgn="auto" latinLnBrk="0" hangingPunct="1">
                        <a:lnSpc>
                          <a:spcPct val="120000"/>
                        </a:lnSpc>
                        <a:spcBef>
                          <a:spcPts val="0"/>
                        </a:spcBef>
                        <a:spcAft>
                          <a:spcPts val="0"/>
                        </a:spcAft>
                        <a:buClrTx/>
                        <a:buSzTx/>
                        <a:buFont typeface="Arial" panose="020B0604020202020204" pitchFamily="34" charset="0"/>
                        <a:buChar char="•"/>
                        <a:defRPr/>
                      </a:pPr>
                      <a:r>
                        <a:rPr lang="zh-CN" altLang="en-US" sz="2000" kern="100" dirty="0" smtClean="0">
                          <a:effectLst/>
                        </a:rPr>
                        <a:t>异约束：</a:t>
                      </a:r>
                      <a:r>
                        <a:rPr sz="2000" kern="100" dirty="0" smtClean="0">
                          <a:effectLst/>
                        </a:rPr>
                        <a:t>a和b只有一个可能为1，不能同时为1。</a:t>
                      </a:r>
                      <a:endParaRPr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要求约束：a是1时，b必须是1，不可能为0。</a:t>
                      </a:r>
                      <a:endParaRPr lang="zh-CN" altLang="en-US"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1311869">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或约束：</a:t>
                      </a:r>
                      <a:r>
                        <a:rPr sz="2000" kern="100" dirty="0" smtClean="0">
                          <a:effectLst/>
                        </a:rPr>
                        <a:t>a，b，c中至少有一个必须为1，即a，b，c不能同时为0。</a:t>
                      </a:r>
                      <a:endParaRPr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强制约束：若结果a是1，则结果b强制为0。</a:t>
                      </a:r>
                      <a:endParaRPr lang="zh-CN" altLang="en-US"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r h="115824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2000" kern="100" dirty="0" smtClean="0">
                          <a:effectLst/>
                        </a:rPr>
                        <a:t>唯一约束：a和b中必须有一个为1，且只有一个为1。</a:t>
                      </a:r>
                      <a:endParaRPr lang="zh-CN" altLang="en-US" sz="20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endParaRPr lang="zh-CN" altLang="en-US" sz="1600" kern="100" dirty="0" smtClean="0">
                        <a:solidFill>
                          <a:srgbClr val="5F5E5C"/>
                        </a:solidFill>
                        <a:effectLst/>
                        <a:latin typeface="微软雅黑" panose="020B0503020204020204" charset="-122"/>
                        <a:ea typeface="微软雅黑" panose="020B0503020204020204" charset="-122"/>
                      </a:endParaRPr>
                    </a:p>
                  </a:txBody>
                  <a:tcPr marL="68580" marR="68580" marT="0" marB="0" anchor="ctr"/>
                </a:tc>
              </a:tr>
            </a:tbl>
          </a:graphicData>
        </a:graphic>
      </p:graphicFrame>
      <p:pic>
        <p:nvPicPr>
          <p:cNvPr id="152577" name="Picture 1"/>
          <p:cNvPicPr>
            <a:picLocks noChangeAspect="1" noChangeArrowheads="1"/>
          </p:cNvPicPr>
          <p:nvPr/>
        </p:nvPicPr>
        <p:blipFill>
          <a:blip r:embed="rId3" cstate="print"/>
          <a:srcRect/>
          <a:stretch>
            <a:fillRect/>
          </a:stretch>
        </p:blipFill>
        <p:spPr bwMode="auto">
          <a:xfrm>
            <a:off x="1359218" y="2695575"/>
            <a:ext cx="1304925" cy="1009650"/>
          </a:xfrm>
          <a:prstGeom prst="rect">
            <a:avLst/>
          </a:prstGeom>
          <a:noFill/>
          <a:ln w="9525">
            <a:noFill/>
            <a:miter lim="800000"/>
            <a:headEnd/>
            <a:tailEnd/>
          </a:ln>
          <a:effectLst/>
        </p:spPr>
      </p:pic>
      <p:pic>
        <p:nvPicPr>
          <p:cNvPr id="152578" name="Picture 2"/>
          <p:cNvPicPr>
            <a:picLocks noChangeAspect="1" noChangeArrowheads="1"/>
          </p:cNvPicPr>
          <p:nvPr/>
        </p:nvPicPr>
        <p:blipFill>
          <a:blip r:embed="rId4" cstate="print"/>
          <a:srcRect/>
          <a:stretch>
            <a:fillRect/>
          </a:stretch>
        </p:blipFill>
        <p:spPr bwMode="auto">
          <a:xfrm>
            <a:off x="1508759" y="3788846"/>
            <a:ext cx="1064895" cy="1231782"/>
          </a:xfrm>
          <a:prstGeom prst="rect">
            <a:avLst/>
          </a:prstGeom>
          <a:noFill/>
          <a:ln w="9525">
            <a:noFill/>
            <a:miter lim="800000"/>
            <a:headEnd/>
            <a:tailEnd/>
          </a:ln>
          <a:effectLst/>
        </p:spPr>
      </p:pic>
      <p:pic>
        <p:nvPicPr>
          <p:cNvPr id="152579" name="Picture 3"/>
          <p:cNvPicPr>
            <a:picLocks noChangeAspect="1" noChangeArrowheads="1"/>
          </p:cNvPicPr>
          <p:nvPr/>
        </p:nvPicPr>
        <p:blipFill>
          <a:blip r:embed="rId5" cstate="print"/>
          <a:srcRect/>
          <a:stretch>
            <a:fillRect/>
          </a:stretch>
        </p:blipFill>
        <p:spPr bwMode="auto">
          <a:xfrm>
            <a:off x="1503045" y="5067300"/>
            <a:ext cx="1047750" cy="1143000"/>
          </a:xfrm>
          <a:prstGeom prst="rect">
            <a:avLst/>
          </a:prstGeom>
          <a:noFill/>
          <a:ln w="9525">
            <a:noFill/>
            <a:miter lim="800000"/>
            <a:headEnd/>
            <a:tailEnd/>
          </a:ln>
          <a:effectLst/>
        </p:spPr>
      </p:pic>
      <p:pic>
        <p:nvPicPr>
          <p:cNvPr id="152580" name="Picture 4"/>
          <p:cNvPicPr>
            <a:picLocks noChangeAspect="1" noChangeArrowheads="1"/>
          </p:cNvPicPr>
          <p:nvPr/>
        </p:nvPicPr>
        <p:blipFill>
          <a:blip r:embed="rId6" cstate="print"/>
          <a:srcRect/>
          <a:stretch>
            <a:fillRect/>
          </a:stretch>
        </p:blipFill>
        <p:spPr bwMode="auto">
          <a:xfrm>
            <a:off x="6672263" y="2709863"/>
            <a:ext cx="1133475" cy="993457"/>
          </a:xfrm>
          <a:prstGeom prst="rect">
            <a:avLst/>
          </a:prstGeom>
          <a:noFill/>
          <a:ln w="9525">
            <a:noFill/>
            <a:miter lim="800000"/>
            <a:headEnd/>
            <a:tailEnd/>
          </a:ln>
          <a:effectLst/>
        </p:spPr>
      </p:pic>
      <p:pic>
        <p:nvPicPr>
          <p:cNvPr id="152581" name="Picture 5"/>
          <p:cNvPicPr>
            <a:picLocks noChangeAspect="1" noChangeArrowheads="1"/>
          </p:cNvPicPr>
          <p:nvPr/>
        </p:nvPicPr>
        <p:blipFill>
          <a:blip r:embed="rId7" cstate="print"/>
          <a:srcRect/>
          <a:stretch>
            <a:fillRect/>
          </a:stretch>
        </p:blipFill>
        <p:spPr bwMode="auto">
          <a:xfrm>
            <a:off x="6805613" y="3798570"/>
            <a:ext cx="866775" cy="1181100"/>
          </a:xfrm>
          <a:prstGeom prst="rect">
            <a:avLst/>
          </a:prstGeom>
          <a:noFill/>
          <a:ln w="9525">
            <a:noFill/>
            <a:miter lim="800000"/>
            <a:headEnd/>
            <a:tailEnd/>
          </a:ln>
          <a:effectLst/>
        </p:spPr>
      </p:pic>
      <p:sp>
        <p:nvSpPr>
          <p:cNvPr id="11" name="矩形 7"/>
          <p:cNvSpPr>
            <a:spLocks noChangeArrowheads="1"/>
          </p:cNvSpPr>
          <p:nvPr/>
        </p:nvSpPr>
        <p:spPr bwMode="auto">
          <a:xfrm>
            <a:off x="3213685" y="1476619"/>
            <a:ext cx="7513456"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输入条件的约束有以下几种：</a:t>
            </a:r>
          </a:p>
        </p:txBody>
      </p:sp>
    </p:spTree>
  </p:cSld>
  <p:clrMapOvr>
    <a:masterClrMapping/>
  </p:clrMapOvr>
  <p:transition>
    <p:pull dir="rd"/>
  </p:transition>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4655" cy="3609975"/>
            <a:chOff x="1275" y="2210"/>
            <a:chExt cx="16653" cy="5685"/>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6429" cy="4745"/>
              <a:chOff x="1499" y="3150"/>
              <a:chExt cx="16429" cy="4745"/>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用因果图法设计测试用例。</a:t>
                </a:r>
              </a:p>
            </p:txBody>
          </p:sp>
          <p:sp>
            <p:nvSpPr>
              <p:cNvPr id="24" name="矩形 23"/>
              <p:cNvSpPr>
                <a:spLocks noChangeAspect="1"/>
              </p:cNvSpPr>
              <p:nvPr/>
            </p:nvSpPr>
            <p:spPr>
              <a:xfrm>
                <a:off x="1499" y="4275"/>
                <a:ext cx="16429" cy="362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2981"/>
              </a:xfrm>
              <a:prstGeom prst="rect">
                <a:avLst/>
              </a:prstGeom>
              <a:solidFill>
                <a:schemeClr val="bg1">
                  <a:lumMod val="95000"/>
                </a:schemeClr>
              </a:solidFill>
            </p:spPr>
            <p:txBody>
              <a:bodyPr wrap="square">
                <a:spAutoFit/>
              </a:bodyPr>
              <a:lstStyle/>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grpSp>
      <p:sp>
        <p:nvSpPr>
          <p:cNvPr id="13" name="矩形 12"/>
          <p:cNvSpPr/>
          <p:nvPr/>
        </p:nvSpPr>
        <p:spPr>
          <a:xfrm>
            <a:off x="1402080" y="3214107"/>
            <a:ext cx="9220200" cy="1172629"/>
          </a:xfrm>
          <a:prstGeom prst="rect">
            <a:avLst/>
          </a:prstGeom>
        </p:spPr>
        <p:txBody>
          <a:bodyPr wrap="square">
            <a:spAutoFit/>
          </a:bodyPr>
          <a:lstStyle/>
          <a:p>
            <a:pPr fontAlgn="auto">
              <a:lnSpc>
                <a:spcPct val="130000"/>
              </a:lnSpc>
            </a:pPr>
            <a:r>
              <a:rPr lang="zh-CN" altLang="en-US" dirty="0" smtClean="0">
                <a:latin typeface="Times New Roman" panose="02020603050405020304" charset="0"/>
                <a:ea typeface="宋体" panose="02010600030101010101" pitchFamily="2" charset="-122"/>
              </a:rPr>
              <a:t>        某规格说明如下：输入的第一列字符必须是</a:t>
            </a:r>
            <a:r>
              <a:rPr lang="en-US" altLang="zh-CN" dirty="0" smtClean="0">
                <a:latin typeface="Times New Roman" panose="02020603050405020304" charset="0"/>
                <a:ea typeface="宋体" panose="02010600030101010101" pitchFamily="2" charset="-122"/>
              </a:rPr>
              <a:t>A</a:t>
            </a:r>
            <a:r>
              <a:rPr lang="zh-CN" altLang="en-US" dirty="0" smtClean="0">
                <a:latin typeface="Times New Roman" panose="02020603050405020304" charset="0"/>
                <a:ea typeface="宋体" panose="02010600030101010101" pitchFamily="2" charset="-122"/>
              </a:rPr>
              <a:t>或</a:t>
            </a:r>
            <a:r>
              <a:rPr lang="en-US" altLang="zh-CN" dirty="0" smtClean="0">
                <a:latin typeface="Times New Roman" panose="02020603050405020304" charset="0"/>
                <a:ea typeface="宋体" panose="02010600030101010101" pitchFamily="2" charset="-122"/>
              </a:rPr>
              <a:t>B</a:t>
            </a:r>
            <a:r>
              <a:rPr lang="zh-CN" altLang="en-US" dirty="0" smtClean="0">
                <a:latin typeface="Times New Roman" panose="02020603050405020304" charset="0"/>
                <a:ea typeface="宋体" panose="02010600030101010101" pitchFamily="2" charset="-122"/>
              </a:rPr>
              <a:t>，第二列字符必须是一个数字。第一、二列都满足条件时执行操作</a:t>
            </a:r>
            <a:r>
              <a:rPr lang="en-US" altLang="zh-CN" dirty="0" smtClean="0">
                <a:latin typeface="Times New Roman" panose="02020603050405020304" charset="0"/>
                <a:ea typeface="宋体" panose="02010600030101010101" pitchFamily="2" charset="-122"/>
              </a:rPr>
              <a:t>H</a:t>
            </a:r>
            <a:r>
              <a:rPr lang="zh-CN" altLang="en-US" dirty="0" smtClean="0">
                <a:latin typeface="Times New Roman" panose="02020603050405020304" charset="0"/>
                <a:ea typeface="宋体" panose="02010600030101010101" pitchFamily="2" charset="-122"/>
              </a:rPr>
              <a:t>；如果第一列字符不正确，则给出信息</a:t>
            </a:r>
            <a:r>
              <a:rPr lang="en-US" altLang="zh-CN" dirty="0" smtClean="0">
                <a:latin typeface="Times New Roman" panose="02020603050405020304" charset="0"/>
                <a:ea typeface="宋体" panose="02010600030101010101" pitchFamily="2" charset="-122"/>
              </a:rPr>
              <a:t>L</a:t>
            </a:r>
            <a:r>
              <a:rPr lang="zh-CN" altLang="en-US" dirty="0" smtClean="0">
                <a:latin typeface="Times New Roman" panose="02020603050405020304" charset="0"/>
                <a:ea typeface="宋体" panose="02010600030101010101" pitchFamily="2" charset="-122"/>
              </a:rPr>
              <a:t>；如果第二列字符不正确，则给出信息</a:t>
            </a:r>
            <a:r>
              <a:rPr lang="en-US" altLang="zh-CN" dirty="0" smtClean="0">
                <a:latin typeface="Times New Roman" panose="02020603050405020304" charset="0"/>
                <a:ea typeface="宋体" panose="02010600030101010101" pitchFamily="2" charset="-122"/>
              </a:rPr>
              <a:t>R</a:t>
            </a:r>
            <a:r>
              <a:rPr lang="zh-CN" altLang="en-US" dirty="0" smtClean="0">
                <a:latin typeface="Times New Roman" panose="02020603050405020304" charset="0"/>
                <a:ea typeface="宋体" panose="02010600030101010101" pitchFamily="2" charset="-122"/>
              </a:rPr>
              <a:t>。根据上述要求画出因果图，并设计测试用例。</a:t>
            </a:r>
          </a:p>
        </p:txBody>
      </p:sp>
    </p:spTree>
  </p:cSld>
  <p:clrMapOvr>
    <a:masterClrMapping/>
  </p:clrMapOvr>
  <p:transition>
    <p:pull dir="rd"/>
  </p:transition>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4655" cy="4295775"/>
            <a:chOff x="1275" y="2210"/>
            <a:chExt cx="16653" cy="6765"/>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6429" cy="5825"/>
              <a:chOff x="1499" y="3150"/>
              <a:chExt cx="16429" cy="5825"/>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用因果图法设计测试用例。</a:t>
                </a:r>
              </a:p>
            </p:txBody>
          </p:sp>
          <p:sp>
            <p:nvSpPr>
              <p:cNvPr id="24" name="矩形 23"/>
              <p:cNvSpPr>
                <a:spLocks noChangeAspect="1"/>
              </p:cNvSpPr>
              <p:nvPr/>
            </p:nvSpPr>
            <p:spPr>
              <a:xfrm>
                <a:off x="1499" y="4275"/>
                <a:ext cx="16429" cy="470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115"/>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（1）分析因果。</a:t>
                </a:r>
              </a:p>
              <a:p>
                <a:pPr fontAlgn="auto">
                  <a:lnSpc>
                    <a:spcPct val="130000"/>
                  </a:lnSpc>
                </a:pPr>
                <a:r>
                  <a:rPr lang="en-US" altLang="en-US" dirty="0" smtClean="0">
                    <a:latin typeface="Times New Roman" panose="02020603050405020304" charset="0"/>
                    <a:ea typeface="宋体" panose="02010600030101010101" pitchFamily="2" charset="-122"/>
                  </a:rPr>
                  <a:t>先列出原因并编号：</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条件原因1：第一列字符是A。</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条件原因2：第一列字符是B。</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条件原因3：第二列字符是一个数字。</a:t>
                </a:r>
              </a:p>
              <a:p>
                <a:pPr fontAlgn="auto">
                  <a:lnSpc>
                    <a:spcPct val="130000"/>
                  </a:lnSpc>
                </a:pPr>
                <a:r>
                  <a:rPr lang="en-US" altLang="en-US" dirty="0" smtClean="0">
                    <a:latin typeface="Times New Roman" panose="02020603050405020304" charset="0"/>
                    <a:ea typeface="宋体" panose="02010600030101010101" pitchFamily="2" charset="-122"/>
                  </a:rPr>
                  <a:t>由于原因1和原因2不可能同时成立，可</a:t>
                </a:r>
              </a:p>
              <a:p>
                <a:pPr fontAlgn="auto">
                  <a:lnSpc>
                    <a:spcPct val="130000"/>
                  </a:lnSpc>
                </a:pPr>
                <a:r>
                  <a:rPr lang="en-US" altLang="en-US" dirty="0" err="1" smtClean="0">
                    <a:latin typeface="Times New Roman" panose="02020603050405020304" charset="0"/>
                    <a:ea typeface="宋体" panose="02010600030101010101" pitchFamily="2" charset="-122"/>
                  </a:rPr>
                  <a:t>用E约束或O约束</a:t>
                </a:r>
                <a:r>
                  <a:rPr lang="en-US" altLang="en-US" dirty="0" smtClean="0">
                    <a:latin typeface="Times New Roman" panose="02020603050405020304" charset="0"/>
                    <a:ea typeface="宋体" panose="02010600030101010101" pitchFamily="2" charset="-122"/>
                  </a:rPr>
                  <a:t>。</a:t>
                </a:r>
              </a:p>
            </p:txBody>
          </p:sp>
        </p:grpSp>
      </p:grpSp>
      <p:sp>
        <p:nvSpPr>
          <p:cNvPr id="13" name="矩形 12"/>
          <p:cNvSpPr/>
          <p:nvPr/>
        </p:nvSpPr>
        <p:spPr>
          <a:xfrm>
            <a:off x="5577840" y="3263802"/>
            <a:ext cx="5501640" cy="2252924"/>
          </a:xfrm>
          <a:prstGeom prst="rect">
            <a:avLst/>
          </a:prstGeom>
        </p:spPr>
        <p:txBody>
          <a:bodyPr wrap="square">
            <a:spAutoFit/>
          </a:bodyPr>
          <a:lstStyle/>
          <a:p>
            <a:pPr fontAlgn="auto">
              <a:lnSpc>
                <a:spcPct val="130000"/>
              </a:lnSpc>
            </a:pPr>
            <a:r>
              <a:rPr lang="en-US" altLang="en-US" dirty="0" err="1" smtClean="0">
                <a:latin typeface="Times New Roman" panose="02020603050405020304" charset="0"/>
                <a:ea typeface="宋体" panose="02010600030101010101" pitchFamily="2" charset="-122"/>
              </a:rPr>
              <a:t>再列出结果并编号</a:t>
            </a:r>
            <a:r>
              <a:rPr lang="en-US" altLang="en-US" dirty="0" smtClean="0">
                <a:latin typeface="Times New Roman" panose="02020603050405020304" charset="0"/>
                <a:ea typeface="宋体" panose="02010600030101010101" pitchFamily="2" charset="-122"/>
              </a:rPr>
              <a:t>：</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结果21：执行操作H。</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结果22：给出信息L。</a:t>
            </a:r>
          </a:p>
          <a:p>
            <a:pPr marL="285750" indent="-285750" fontAlgn="auto">
              <a:lnSpc>
                <a:spcPct val="130000"/>
              </a:lnSpc>
              <a:buClrTx/>
              <a:buFont typeface="Wingdings" panose="05000000000000000000" charset="0"/>
              <a:buChar char="Ø"/>
            </a:pPr>
            <a:r>
              <a:rPr lang="en-US" altLang="en-US" dirty="0" smtClean="0">
                <a:latin typeface="Times New Roman" panose="02020603050405020304" charset="0"/>
                <a:ea typeface="宋体" panose="02010600030101010101" pitchFamily="2" charset="-122"/>
              </a:rPr>
              <a:t>结果23：给出信息R。</a:t>
            </a:r>
          </a:p>
          <a:p>
            <a:pPr fontAlgn="auto">
              <a:lnSpc>
                <a:spcPct val="130000"/>
              </a:lnSpc>
            </a:pPr>
            <a:r>
              <a:rPr lang="en-US" altLang="en-US" dirty="0" err="1" smtClean="0">
                <a:latin typeface="Times New Roman" panose="02020603050405020304" charset="0"/>
                <a:ea typeface="宋体" panose="02010600030101010101" pitchFamily="2" charset="-122"/>
              </a:rPr>
              <a:t>如果第一列符合条件，还应检查第二列是否正确</a:t>
            </a:r>
            <a:r>
              <a:rPr lang="en-US" altLang="en-US" dirty="0" smtClean="0">
                <a:latin typeface="Times New Roman" panose="02020603050405020304" charset="0"/>
                <a:ea typeface="宋体" panose="02010600030101010101" pitchFamily="2" charset="-122"/>
              </a:rPr>
              <a:t>。这里将第一列正确的情况编号为11，作为中间结果。</a:t>
            </a:r>
          </a:p>
        </p:txBody>
      </p:sp>
    </p:spTree>
  </p:cSld>
  <p:clrMapOvr>
    <a:masterClrMapping/>
  </p:clrMapOvr>
  <p:transition>
    <p:pull dir="rd"/>
  </p:transition>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4655" cy="5004435"/>
            <a:chOff x="1275" y="2210"/>
            <a:chExt cx="16653" cy="78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6429" cy="6941"/>
              <a:chOff x="1499" y="3150"/>
              <a:chExt cx="16429" cy="694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用因果图法设计测试用例。</a:t>
                </a:r>
              </a:p>
            </p:txBody>
          </p:sp>
          <p:sp>
            <p:nvSpPr>
              <p:cNvPr id="24" name="矩形 23"/>
              <p:cNvSpPr>
                <a:spLocks noChangeAspect="1"/>
              </p:cNvSpPr>
              <p:nvPr/>
            </p:nvSpPr>
            <p:spPr>
              <a:xfrm>
                <a:off x="1499" y="4275"/>
                <a:ext cx="16429" cy="58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（2）画出因果图，如图所示。</a:t>
                </a: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grpSp>
      <p:pic>
        <p:nvPicPr>
          <p:cNvPr id="146434" name="图片 142"/>
          <p:cNvPicPr>
            <a:picLocks noChangeAspect="1" noChangeArrowheads="1"/>
          </p:cNvPicPr>
          <p:nvPr/>
        </p:nvPicPr>
        <p:blipFill>
          <a:blip r:embed="rId4" cstate="print"/>
          <a:srcRect/>
          <a:stretch>
            <a:fillRect/>
          </a:stretch>
        </p:blipFill>
        <p:spPr bwMode="auto">
          <a:xfrm>
            <a:off x="2360471" y="3337560"/>
            <a:ext cx="6836870" cy="2758440"/>
          </a:xfrm>
          <a:prstGeom prst="rect">
            <a:avLst/>
          </a:prstGeom>
          <a:noFill/>
          <a:ln w="9525">
            <a:noFill/>
            <a:miter lim="800000"/>
            <a:headEnd/>
            <a:tailEnd/>
          </a:ln>
        </p:spPr>
      </p:pic>
    </p:spTree>
  </p:cSld>
  <p:clrMapOvr>
    <a:masterClrMapping/>
  </p:clrMapOvr>
  <p:transition>
    <p:pull dir="rd"/>
  </p:transition>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5" name="组合 4"/>
          <p:cNvGrpSpPr/>
          <p:nvPr/>
        </p:nvGrpSpPr>
        <p:grpSpPr>
          <a:xfrm>
            <a:off x="879475" y="1482261"/>
            <a:ext cx="10432415" cy="4891405"/>
            <a:chOff x="1499" y="3150"/>
            <a:chExt cx="16429" cy="7703"/>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用因果图法设计测试用例。</a:t>
              </a:r>
            </a:p>
          </p:txBody>
        </p:sp>
        <p:sp>
          <p:nvSpPr>
            <p:cNvPr id="24" name="矩形 23"/>
            <p:cNvSpPr>
              <a:spLocks noChangeAspect="1"/>
            </p:cNvSpPr>
            <p:nvPr/>
          </p:nvSpPr>
          <p:spPr>
            <a:xfrm>
              <a:off x="1499" y="4275"/>
              <a:ext cx="16429" cy="657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6172"/>
            </a:xfrm>
            <a:prstGeom prst="rect">
              <a:avLst/>
            </a:prstGeom>
            <a:solidFill>
              <a:schemeClr val="bg1">
                <a:lumMod val="95000"/>
              </a:schemeClr>
            </a:solidFill>
          </p:spPr>
          <p:txBody>
            <a:bodyPr wrap="square">
              <a:noAutofit/>
            </a:bodyPr>
            <a:lstStyle/>
            <a:p>
              <a:pPr fontAlgn="auto">
                <a:lnSpc>
                  <a:spcPct val="130000"/>
                </a:lnSpc>
              </a:pPr>
              <a:r>
                <a:rPr lang="en-US" altLang="en-US" dirty="0" smtClean="0">
                  <a:latin typeface="Times New Roman" panose="02020603050405020304" charset="0"/>
                  <a:ea typeface="宋体" panose="02010600030101010101" pitchFamily="2" charset="-122"/>
                </a:rPr>
                <a:t>        （3）根据因果图建立判定表，如表所示。</a:t>
              </a: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graphicFrame>
        <p:nvGraphicFramePr>
          <p:cNvPr id="4" name="表格 -1"/>
          <p:cNvGraphicFramePr/>
          <p:nvPr/>
        </p:nvGraphicFramePr>
        <p:xfrm>
          <a:off x="1261110" y="2920612"/>
          <a:ext cx="9668510" cy="3321914"/>
        </p:xfrm>
        <a:graphic>
          <a:graphicData uri="http://schemas.openxmlformats.org/drawingml/2006/table">
            <a:tbl>
              <a:tblPr firstRow="1" bandRow="1">
                <a:tableStyleId>{5940675A-B579-460E-94D1-54222C63F5DA}</a:tableStyleId>
              </a:tblPr>
              <a:tblGrid>
                <a:gridCol w="1150620"/>
                <a:gridCol w="844550"/>
                <a:gridCol w="959485"/>
                <a:gridCol w="956945"/>
                <a:gridCol w="959485"/>
                <a:gridCol w="959485"/>
                <a:gridCol w="961390"/>
                <a:gridCol w="959485"/>
                <a:gridCol w="957580"/>
                <a:gridCol w="959485"/>
              </a:tblGrid>
              <a:tr h="700836">
                <a:tc gridSpan="2">
                  <a:txBody>
                    <a:bodyPr/>
                    <a:lstStyle/>
                    <a:p>
                      <a:pPr marL="0" indent="0" algn="ctr">
                        <a:buNone/>
                      </a:pPr>
                      <a:r>
                        <a:rPr lang="zh-CN" altLang="en-US"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组合条件</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hMerge="1">
                  <a:txBody>
                    <a:bodyPr/>
                    <a:lstStyle/>
                    <a:p>
                      <a:endParaRPr lang="zh-CN"/>
                    </a:p>
                  </a:txBody>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1</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2</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3</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4</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5</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6</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7</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en-US" altLang="zh-CN" sz="1800" b="0" u="none" dirty="0">
                          <a:highlight>
                            <a:srgbClr val="FADCE9"/>
                          </a:highlight>
                          <a:latin typeface="宋体" panose="02010600030101010101" pitchFamily="2" charset="-122"/>
                          <a:ea typeface="宋体" panose="02010600030101010101" pitchFamily="2" charset="-122"/>
                          <a:cs typeface="宋体" panose="02010600030101010101" pitchFamily="2" charset="-122"/>
                        </a:rPr>
                        <a:t>8</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r>
              <a:tr h="701567">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条件原因</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2</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3</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 </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 </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700836">
                <a:tc>
                  <a:txBody>
                    <a:bodyPr/>
                    <a:lstStyle/>
                    <a:p>
                      <a:pPr marL="0" indent="0" algn="ctr">
                        <a:buNone/>
                      </a:pPr>
                      <a:r>
                        <a:rPr lang="zh-CN" altLang="en-US" sz="1800" b="0" u="none">
                          <a:latin typeface="宋体" panose="02010600030101010101" pitchFamily="2" charset="-122"/>
                          <a:ea typeface="宋体" panose="02010600030101010101" pitchFamily="2" charset="-122"/>
                          <a:cs typeface="宋体" panose="02010600030101010101" pitchFamily="2" charset="-122"/>
                        </a:rPr>
                        <a:t>结果</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22</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21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23</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0</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1</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r h="700836">
                <a:tc gridSpan="2">
                  <a:txBody>
                    <a:bodyPr/>
                    <a:lstStyle/>
                    <a:p>
                      <a:pPr marL="0" indent="0" algn="ctr">
                        <a:buNone/>
                      </a:pPr>
                      <a:r>
                        <a:rPr lang="zh-CN" altLang="en-US" sz="1800" b="0" u="none" dirty="0">
                          <a:latin typeface="宋体" panose="02010600030101010101" pitchFamily="2" charset="-122"/>
                          <a:ea typeface="宋体" panose="02010600030101010101" pitchFamily="2" charset="-122"/>
                          <a:cs typeface="宋体" panose="02010600030101010101" pitchFamily="2" charset="-122"/>
                        </a:rPr>
                        <a:t>测试用例</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hMerge="1">
                  <a:txBody>
                    <a:bodyPr/>
                    <a:lstStyle/>
                    <a:p>
                      <a:endParaRPr lang="zh-CN"/>
                    </a:p>
                  </a:txBody>
                  <a:tcPr>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tcPr>
                </a:tc>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 </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A5</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A3</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a:latin typeface="宋体" panose="02010600030101010101" pitchFamily="2" charset="-122"/>
                          <a:ea typeface="宋体" panose="02010600030101010101" pitchFamily="2" charset="-122"/>
                          <a:cs typeface="宋体" panose="02010600030101010101" pitchFamily="2" charset="-122"/>
                        </a:rPr>
                        <a:t>A</a:t>
                      </a: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AC</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B2</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B7</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BN</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B</a:t>
                      </a:r>
                      <a:r>
                        <a:rPr lang="en-US" altLang="zh-CN" sz="1800" b="0" u="none" dirty="0">
                          <a:latin typeface="宋体" panose="02010600030101010101" pitchFamily="2" charset="-122"/>
                          <a:ea typeface="宋体" panose="02010600030101010101" pitchFamily="2" charset="-122"/>
                          <a:cs typeface="宋体" panose="02010600030101010101" pitchFamily="2" charset="-122"/>
                        </a:rPr>
                        <a:t>!</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C1</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F6</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DA</a:t>
                      </a:r>
                    </a:p>
                    <a:p>
                      <a:pPr marL="0" indent="0" algn="ctr">
                        <a:buNone/>
                      </a:pPr>
                      <a:r>
                        <a:rPr lang="en-US" altLang="zh-CN" sz="1800" b="0" u="none" dirty="0" smtClean="0">
                          <a:latin typeface="宋体" panose="02010600030101010101" pitchFamily="2" charset="-122"/>
                          <a:ea typeface="宋体" panose="02010600030101010101" pitchFamily="2" charset="-122"/>
                          <a:cs typeface="宋体" panose="02010600030101010101" pitchFamily="2" charset="-122"/>
                        </a:rPr>
                        <a:t>PE</a:t>
                      </a:r>
                      <a:endParaRPr lang="en-US" altLang="zh-CN" sz="1800" b="0" u="none" dirty="0">
                        <a:latin typeface="宋体" panose="02010600030101010101" pitchFamily="2" charset="-122"/>
                        <a:ea typeface="宋体" panose="02010600030101010101" pitchFamily="2" charset="-122"/>
                        <a:cs typeface="宋体" panose="02010600030101010101" pitchFamily="2" charset="-122"/>
                      </a:endParaRP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r>
            </a:tbl>
          </a:graphicData>
        </a:graphic>
      </p:graphicFrame>
    </p:spTree>
  </p:cSld>
  <p:clrMapOvr>
    <a:masterClrMapping/>
  </p:clrMapOvr>
  <p:transition>
    <p:pull dir="rd"/>
  </p:transition>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10574655" cy="4487545"/>
            <a:chOff x="1275" y="2210"/>
            <a:chExt cx="16653" cy="7067"/>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6429" cy="6127"/>
              <a:chOff x="1499" y="3150"/>
              <a:chExt cx="16429" cy="6127"/>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用因果图法设计测试用例。</a:t>
                </a:r>
              </a:p>
            </p:txBody>
          </p:sp>
          <p:sp>
            <p:nvSpPr>
              <p:cNvPr id="24" name="矩形 23"/>
              <p:cNvSpPr>
                <a:spLocks noChangeAspect="1"/>
              </p:cNvSpPr>
              <p:nvPr/>
            </p:nvSpPr>
            <p:spPr>
              <a:xfrm>
                <a:off x="1499" y="4275"/>
                <a:ext cx="16429" cy="495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4-3</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536" cy="4682"/>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在</a:t>
                </a:r>
                <a:r>
                  <a:rPr lang="zh-CN" altLang="en-US" dirty="0" smtClean="0">
                    <a:latin typeface="Times New Roman" panose="02020603050405020304" charset="0"/>
                    <a:ea typeface="宋体" panose="02010600030101010101" pitchFamily="2" charset="-122"/>
                  </a:rPr>
                  <a:t>上表</a:t>
                </a:r>
                <a:r>
                  <a:rPr lang="en-US" altLang="en-US" dirty="0" smtClean="0">
                    <a:latin typeface="Times New Roman" panose="02020603050405020304" charset="0"/>
                    <a:ea typeface="宋体" panose="02010600030101010101" pitchFamily="2" charset="-122"/>
                  </a:rPr>
                  <a:t>中，用1表示条件成立，用0表示条件不成立。</a:t>
                </a:r>
              </a:p>
              <a:p>
                <a:pPr fontAlgn="auto">
                  <a:lnSpc>
                    <a:spcPct val="130000"/>
                  </a:lnSpc>
                </a:pPr>
                <a:r>
                  <a:rPr lang="en-US" altLang="en-US" dirty="0" smtClean="0">
                    <a:latin typeface="Times New Roman" panose="02020603050405020304" charset="0"/>
                    <a:ea typeface="宋体" panose="02010600030101010101" pitchFamily="2" charset="-122"/>
                  </a:rPr>
                  <a:t>        条件原因1为第一列字符是A；条件原因2为第一列字符是B；条件原因3为第二列字符是一个数字；条件原因11为第一列是A或B。</a:t>
                </a:r>
              </a:p>
              <a:p>
                <a:pPr fontAlgn="auto">
                  <a:lnSpc>
                    <a:spcPct val="130000"/>
                  </a:lnSpc>
                </a:pPr>
                <a:r>
                  <a:rPr lang="en-US" altLang="en-US" dirty="0" smtClean="0">
                    <a:latin typeface="Times New Roman" panose="02020603050405020304" charset="0"/>
                    <a:ea typeface="宋体" panose="02010600030101010101" pitchFamily="2" charset="-122"/>
                  </a:rPr>
                  <a:t>        结果22，给出信息L；结果21，执行操作H；结果23，给出信息R。</a:t>
                </a:r>
              </a:p>
              <a:p>
                <a:pPr fontAlgn="auto">
                  <a:lnSpc>
                    <a:spcPct val="130000"/>
                  </a:lnSpc>
                </a:pPr>
                <a:r>
                  <a:rPr lang="en-US" altLang="en-US" dirty="0" smtClean="0">
                    <a:latin typeface="Times New Roman" panose="02020603050405020304" charset="0"/>
                    <a:ea typeface="宋体" panose="02010600030101010101" pitchFamily="2" charset="-122"/>
                  </a:rPr>
                  <a:t>        判定表中原因1和原因2不可能同时成立，因而无需测试。表的下方列出针对可能出现的6种情况而设计的测试用例：A5，A?，B2，BN，C1，DA或者A3，AC，B7，B!，F6，PE。</a:t>
                </a:r>
              </a:p>
              <a:p>
                <a:pPr fontAlgn="auto">
                  <a:lnSpc>
                    <a:spcPct val="130000"/>
                  </a:lnSpc>
                </a:pPr>
                <a:r>
                  <a:rPr lang="en-US" altLang="en-US" dirty="0" smtClean="0">
                    <a:latin typeface="Times New Roman" panose="02020603050405020304" charset="0"/>
                    <a:ea typeface="宋体" panose="02010600030101010101" pitchFamily="2" charset="-122"/>
                  </a:rPr>
                  <a:t>        请注意，这是软件工程中判定表的第二个用法。判定表的第一个用法见3.5.4节详细设计工具判定表。</a:t>
                </a:r>
              </a:p>
            </p:txBody>
          </p:sp>
        </p:grpSp>
      </p:grpSp>
    </p:spTree>
  </p:cSld>
  <p:clrMapOvr>
    <a:masterClrMapping/>
  </p:clrMapOvr>
  <p:transition>
    <p:pull dir="rd"/>
  </p:transition>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754063" y="246018"/>
            <a:ext cx="8415337" cy="855290"/>
          </a:xfrm>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solidFill>
                <a:schemeClr val="accent1"/>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基本路径覆盖法</a:t>
            </a:r>
          </a:p>
        </p:txBody>
      </p:sp>
      <p:sp>
        <p:nvSpPr>
          <p:cNvPr id="100" name="文本框 99"/>
          <p:cNvSpPr txBox="1"/>
          <p:nvPr/>
        </p:nvSpPr>
        <p:spPr>
          <a:xfrm>
            <a:off x="1473200" y="2436718"/>
            <a:ext cx="10048240" cy="3293209"/>
          </a:xfrm>
          <a:prstGeom prst="rect">
            <a:avLst/>
          </a:prstGeom>
          <a:noFill/>
          <a:ln w="9525">
            <a:noFill/>
          </a:ln>
        </p:spPr>
        <p:txBody>
          <a:bodyPr wrap="square">
            <a:spAutoFit/>
          </a:bodyPr>
          <a:lstStyle/>
          <a:p>
            <a:pPr marL="0" indent="0" algn="l" fontAlgn="auto">
              <a:lnSpc>
                <a:spcPct val="130000"/>
              </a:lnSpc>
            </a:pPr>
            <a:r>
              <a:rPr lang="en-US" sz="2000" dirty="0">
                <a:latin typeface="微软雅黑" panose="020B0503020204020204" charset="-122"/>
                <a:ea typeface="微软雅黑" panose="020B0503020204020204" charset="-122"/>
                <a:sym typeface="+mn-ea"/>
              </a:rPr>
              <a:t>       </a:t>
            </a:r>
            <a:r>
              <a:rPr sz="2000" dirty="0">
                <a:solidFill>
                  <a:srgbClr val="C00000"/>
                </a:solidFill>
                <a:latin typeface="微软雅黑" panose="020B0503020204020204" charset="-122"/>
                <a:ea typeface="微软雅黑" panose="020B0503020204020204" charset="-122"/>
                <a:sym typeface="+mn-ea"/>
              </a:rPr>
              <a:t>基本路径覆盖测试</a:t>
            </a:r>
            <a:r>
              <a:rPr sz="2000" dirty="0">
                <a:latin typeface="微软雅黑" panose="020B0503020204020204" charset="-122"/>
                <a:ea typeface="微软雅黑" panose="020B0503020204020204" charset="-122"/>
                <a:sym typeface="+mn-ea"/>
              </a:rPr>
              <a:t>是Tom McCabe提出的一种白盒法测试技术。使用这种技术设计测试用例时，</a:t>
            </a:r>
            <a:r>
              <a:rPr sz="2000" dirty="0">
                <a:solidFill>
                  <a:schemeClr val="accent5">
                    <a:lumMod val="50000"/>
                  </a:schemeClr>
                </a:solidFill>
                <a:latin typeface="微软雅黑" panose="020B0503020204020204" charset="-122"/>
                <a:ea typeface="微软雅黑" panose="020B0503020204020204" charset="-122"/>
                <a:sym typeface="+mn-ea"/>
              </a:rPr>
              <a:t>首先计算程序的环形复杂度，然后以此复杂度为指南，定义执行路径的基本集合。从该基本集合导出的测试用例，可以保证程序中的每条语句至少执行一次，而且每个条件在执行时，都将分别取true（真）和false（假）值</a:t>
            </a:r>
            <a:r>
              <a:rPr sz="2000" dirty="0" smtClean="0">
                <a:solidFill>
                  <a:schemeClr val="accent5">
                    <a:lumMod val="50000"/>
                  </a:schemeClr>
                </a:solidFill>
                <a:latin typeface="微软雅黑" panose="020B0503020204020204" charset="-122"/>
                <a:ea typeface="微软雅黑" panose="020B0503020204020204" charset="-122"/>
                <a:sym typeface="+mn-ea"/>
              </a:rPr>
              <a:t>。</a:t>
            </a:r>
            <a:endParaRPr lang="en-US" sz="2000" dirty="0" smtClean="0">
              <a:solidFill>
                <a:schemeClr val="accent5">
                  <a:lumMod val="50000"/>
                </a:schemeClr>
              </a:solidFill>
              <a:latin typeface="微软雅黑" panose="020B0503020204020204" charset="-122"/>
              <a:ea typeface="微软雅黑" panose="020B0503020204020204" charset="-122"/>
              <a:sym typeface="+mn-ea"/>
            </a:endParaRPr>
          </a:p>
          <a:p>
            <a:pPr marL="0" indent="0" algn="l" fontAlgn="auto">
              <a:lnSpc>
                <a:spcPct val="130000"/>
              </a:lnSpc>
            </a:pPr>
            <a:endParaRPr sz="2000" dirty="0">
              <a:solidFill>
                <a:schemeClr val="accent5">
                  <a:lumMod val="50000"/>
                </a:schemeClr>
              </a:solidFill>
              <a:latin typeface="微软雅黑" panose="020B0503020204020204" charset="-122"/>
              <a:ea typeface="微软雅黑" panose="020B0503020204020204" charset="-122"/>
              <a:sym typeface="+mn-ea"/>
            </a:endParaRPr>
          </a:p>
          <a:p>
            <a:pPr marL="0" indent="0" algn="l" fontAlgn="auto">
              <a:lnSpc>
                <a:spcPct val="130000"/>
              </a:lnSpc>
            </a:pPr>
            <a:r>
              <a:rPr sz="2000" dirty="0">
                <a:latin typeface="微软雅黑" panose="020B0503020204020204" charset="-122"/>
                <a:ea typeface="微软雅黑" panose="020B0503020204020204" charset="-122"/>
                <a:sym typeface="+mn-ea"/>
              </a:rPr>
              <a:t>      下面以一个用PDL描述的过程average为例，说明如何画出流图、计算环形复杂度、确定线性独立路径的基本集合，最后设计可强制执行基本集合中每条路径的测试用例。该题的算法虽然很简单，但其中包含了复合条件与循环。</a:t>
            </a:r>
          </a:p>
        </p:txBody>
      </p:sp>
      <p:sp>
        <p:nvSpPr>
          <p:cNvPr id="7" name="文本框 6"/>
          <p:cNvSpPr txBox="1"/>
          <p:nvPr/>
        </p:nvSpPr>
        <p:spPr>
          <a:xfrm>
            <a:off x="753731" y="1814830"/>
            <a:ext cx="461665" cy="4319452"/>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4.5.7 </a:t>
            </a:r>
            <a:r>
              <a:rPr lang="zh-CN" altLang="en-US" spc="160" dirty="0" smtClean="0">
                <a:solidFill>
                  <a:schemeClr val="bg1"/>
                </a:solidFill>
                <a:latin typeface="微软雅黑" panose="020B0503020204020204" charset="-122"/>
                <a:ea typeface="微软雅黑" panose="020B0503020204020204" charset="-122"/>
              </a:rPr>
              <a:t>用基本路径覆盖法设计测试用例</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pull dir="rd"/>
  </p:transition>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562"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8223" cy="5320"/>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下面这个过程，用来计算不超过100个在规定值域内的有效数字的平均值；同时计算有效数字的总和及个数</a:t>
                </a:r>
              </a:p>
              <a:p>
                <a:pPr fontAlgn="auto">
                  <a:lnSpc>
                    <a:spcPct val="130000"/>
                  </a:lnSpc>
                </a:pPr>
                <a:r>
                  <a:rPr lang="en-US" altLang="en-US" sz="1600" dirty="0" smtClean="0">
                    <a:latin typeface="Times New Roman" panose="02020603050405020304" charset="0"/>
                    <a:ea typeface="宋体" panose="02010600030101010101" pitchFamily="2" charset="-122"/>
                    <a:sym typeface="+mn-ea"/>
                  </a:rPr>
                  <a:t>PROCEDURE average;</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INTERFACE RETURNS average,total.input,total.valid;</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INTERFACE ACCEPTS value,minimum,maximum;</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TYPE value[1...100] IS SCALAR ARRAY;</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TYPE average,total.input,total.valid;</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minimum,maximum,sum IS SCALAR;</a:t>
                </a:r>
                <a:endParaRPr lang="en-US" altLang="en-US" sz="1600" dirty="0" smtClean="0">
                  <a:latin typeface="Times New Roman" panose="02020603050405020304" charset="0"/>
                  <a:ea typeface="宋体" panose="02010600030101010101" pitchFamily="2" charset="-122"/>
                </a:endParaRPr>
              </a:p>
              <a:p>
                <a:pPr fontAlgn="auto">
                  <a:lnSpc>
                    <a:spcPct val="130000"/>
                  </a:lnSpc>
                </a:pPr>
                <a:r>
                  <a:rPr lang="en-US" altLang="en-US" sz="1600" dirty="0" smtClean="0">
                    <a:latin typeface="Times New Roman" panose="02020603050405020304" charset="0"/>
                    <a:ea typeface="宋体" panose="02010600030101010101" pitchFamily="2" charset="-122"/>
                    <a:sym typeface="+mn-ea"/>
                  </a:rPr>
                  <a:t>TYPE i IS INTEGER;</a:t>
                </a: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842125" y="807719"/>
            <a:ext cx="4414520" cy="5592445"/>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7001510" y="868680"/>
            <a:ext cx="4064635" cy="5533823"/>
          </a:xfrm>
          <a:prstGeom prst="rect">
            <a:avLst/>
          </a:prstGeom>
          <a:solidFill>
            <a:schemeClr val="bg1">
              <a:lumMod val="95000"/>
            </a:schemeClr>
          </a:solidFill>
        </p:spPr>
        <p:txBody>
          <a:bodyPr wrap="square">
            <a:spAutoFit/>
          </a:bodyPr>
          <a:lstStyle/>
          <a:p>
            <a:pPr fontAlgn="auto">
              <a:lnSpc>
                <a:spcPct val="130000"/>
              </a:lnSpc>
            </a:pPr>
            <a:r>
              <a:rPr lang="en-US" altLang="en-US" sz="1600" dirty="0" smtClean="0">
                <a:latin typeface="Times New Roman" panose="02020603050405020304" charset="0"/>
                <a:ea typeface="宋体" panose="02010600030101010101" pitchFamily="2" charset="-122"/>
              </a:rPr>
              <a:t>1:i=1;</a:t>
            </a:r>
          </a:p>
          <a:p>
            <a:pPr fontAlgn="auto">
              <a:lnSpc>
                <a:spcPct val="130000"/>
              </a:lnSpc>
            </a:pPr>
            <a:r>
              <a:rPr lang="en-US" altLang="en-US" sz="1600" dirty="0" smtClean="0">
                <a:latin typeface="Times New Roman" panose="02020603050405020304" charset="0"/>
                <a:ea typeface="宋体" panose="02010600030101010101" pitchFamily="2" charset="-122"/>
              </a:rPr>
              <a:t>   total.input=total.valid=0;sum=0;</a:t>
            </a:r>
          </a:p>
          <a:p>
            <a:pPr fontAlgn="auto">
              <a:lnSpc>
                <a:spcPct val="130000"/>
              </a:lnSpc>
            </a:pPr>
            <a:r>
              <a:rPr lang="en-US" altLang="en-US" sz="1600" dirty="0" smtClean="0">
                <a:latin typeface="Times New Roman" panose="02020603050405020304" charset="0"/>
                <a:ea typeface="宋体" panose="02010600030101010101" pitchFamily="2" charset="-122"/>
              </a:rPr>
              <a:t>2:DO WHILE value[i]&lt;&gt;-999</a:t>
            </a:r>
          </a:p>
          <a:p>
            <a:pPr fontAlgn="auto">
              <a:lnSpc>
                <a:spcPct val="130000"/>
              </a:lnSpc>
            </a:pPr>
            <a:r>
              <a:rPr lang="en-US" altLang="en-US" sz="1600" dirty="0" smtClean="0">
                <a:latin typeface="Times New Roman" panose="02020603050405020304" charset="0"/>
                <a:ea typeface="宋体" panose="02010600030101010101" pitchFamily="2" charset="-122"/>
              </a:rPr>
              <a:t>3:AND total.input&lt;100</a:t>
            </a:r>
          </a:p>
          <a:p>
            <a:pPr fontAlgn="auto">
              <a:lnSpc>
                <a:spcPct val="130000"/>
              </a:lnSpc>
            </a:pPr>
            <a:r>
              <a:rPr lang="en-US" altLang="en-US" sz="1600" dirty="0" smtClean="0">
                <a:latin typeface="Times New Roman" panose="02020603050405020304" charset="0"/>
                <a:ea typeface="宋体" panose="02010600030101010101" pitchFamily="2" charset="-122"/>
              </a:rPr>
              <a:t>4:increment total.input by 1;</a:t>
            </a:r>
          </a:p>
          <a:p>
            <a:pPr fontAlgn="auto">
              <a:lnSpc>
                <a:spcPct val="130000"/>
              </a:lnSpc>
            </a:pPr>
            <a:r>
              <a:rPr lang="en-US" altLang="en-US" sz="1600" dirty="0" smtClean="0">
                <a:latin typeface="Times New Roman" panose="02020603050405020304" charset="0"/>
                <a:ea typeface="宋体" panose="02010600030101010101" pitchFamily="2" charset="-122"/>
              </a:rPr>
              <a:t>5:IF value[i]&gt;=minimum</a:t>
            </a:r>
          </a:p>
          <a:p>
            <a:pPr fontAlgn="auto">
              <a:lnSpc>
                <a:spcPct val="130000"/>
              </a:lnSpc>
            </a:pPr>
            <a:r>
              <a:rPr lang="en-US" altLang="en-US" sz="1600" dirty="0" smtClean="0">
                <a:latin typeface="Times New Roman" panose="02020603050405020304" charset="0"/>
                <a:ea typeface="宋体" panose="02010600030101010101" pitchFamily="2" charset="-122"/>
              </a:rPr>
              <a:t>6:AND value[i]&lt;=maximum</a:t>
            </a:r>
          </a:p>
          <a:p>
            <a:pPr fontAlgn="auto">
              <a:lnSpc>
                <a:spcPct val="130000"/>
              </a:lnSpc>
            </a:pPr>
            <a:r>
              <a:rPr lang="en-US" altLang="en-US" sz="1600" dirty="0" smtClean="0">
                <a:latin typeface="Times New Roman" panose="02020603050405020304" charset="0"/>
                <a:ea typeface="宋体" panose="02010600030101010101" pitchFamily="2" charset="-122"/>
              </a:rPr>
              <a:t>7:THEN increment total.valid by 1;</a:t>
            </a:r>
          </a:p>
          <a:p>
            <a:pPr fontAlgn="auto">
              <a:lnSpc>
                <a:spcPct val="130000"/>
              </a:lnSpc>
            </a:pPr>
            <a:r>
              <a:rPr lang="en-US" altLang="en-US" sz="1600" dirty="0" smtClean="0">
                <a:latin typeface="Times New Roman" panose="02020603050405020304" charset="0"/>
                <a:ea typeface="宋体" panose="02010600030101010101" pitchFamily="2" charset="-122"/>
              </a:rPr>
              <a:t>   sum=sum+value[i];</a:t>
            </a:r>
          </a:p>
          <a:p>
            <a:pPr fontAlgn="auto">
              <a:lnSpc>
                <a:spcPct val="130000"/>
              </a:lnSpc>
            </a:pPr>
            <a:r>
              <a:rPr lang="en-US" altLang="en-US" sz="1600" dirty="0" smtClean="0">
                <a:latin typeface="Times New Roman" panose="02020603050405020304" charset="0"/>
                <a:ea typeface="宋体" panose="02010600030101010101" pitchFamily="2" charset="-122"/>
              </a:rPr>
              <a:t>8:ENDIF</a:t>
            </a:r>
          </a:p>
          <a:p>
            <a:pPr fontAlgn="auto">
              <a:lnSpc>
                <a:spcPct val="130000"/>
              </a:lnSpc>
            </a:pPr>
            <a:r>
              <a:rPr lang="en-US" altLang="en-US" sz="1600" dirty="0" smtClean="0">
                <a:latin typeface="Times New Roman" panose="02020603050405020304" charset="0"/>
                <a:ea typeface="宋体" panose="02010600030101010101" pitchFamily="2" charset="-122"/>
              </a:rPr>
              <a:t>   increment i by 1;</a:t>
            </a:r>
          </a:p>
          <a:p>
            <a:pPr fontAlgn="auto">
              <a:lnSpc>
                <a:spcPct val="130000"/>
              </a:lnSpc>
            </a:pPr>
            <a:r>
              <a:rPr lang="en-US" altLang="en-US" sz="1600" dirty="0" smtClean="0">
                <a:latin typeface="Times New Roman" panose="02020603050405020304" charset="0"/>
                <a:ea typeface="宋体" panose="02010600030101010101" pitchFamily="2" charset="-122"/>
              </a:rPr>
              <a:t>9:ENDDO</a:t>
            </a:r>
          </a:p>
          <a:p>
            <a:pPr fontAlgn="auto">
              <a:lnSpc>
                <a:spcPct val="130000"/>
              </a:lnSpc>
            </a:pPr>
            <a:r>
              <a:rPr lang="en-US" altLang="en-US" sz="1600" dirty="0" smtClean="0">
                <a:latin typeface="Times New Roman" panose="02020603050405020304" charset="0"/>
                <a:ea typeface="宋体" panose="02010600030101010101" pitchFamily="2" charset="-122"/>
              </a:rPr>
              <a:t>10:IF total.valid&gt;0</a:t>
            </a:r>
          </a:p>
          <a:p>
            <a:pPr fontAlgn="auto">
              <a:lnSpc>
                <a:spcPct val="130000"/>
              </a:lnSpc>
            </a:pPr>
            <a:r>
              <a:rPr lang="en-US" altLang="en-US" sz="1600" dirty="0" smtClean="0">
                <a:latin typeface="Times New Roman" panose="02020603050405020304" charset="0"/>
                <a:ea typeface="宋体" panose="02010600030101010101" pitchFamily="2" charset="-122"/>
              </a:rPr>
              <a:t>11:THEN average=sum/total.valid;</a:t>
            </a:r>
          </a:p>
          <a:p>
            <a:pPr fontAlgn="auto">
              <a:lnSpc>
                <a:spcPct val="130000"/>
              </a:lnSpc>
            </a:pPr>
            <a:r>
              <a:rPr lang="en-US" altLang="en-US" sz="1600" dirty="0" smtClean="0">
                <a:latin typeface="Times New Roman" panose="02020603050405020304" charset="0"/>
                <a:ea typeface="宋体" panose="02010600030101010101" pitchFamily="2" charset="-122"/>
              </a:rPr>
              <a:t>12:ELSE average=-999;</a:t>
            </a:r>
          </a:p>
          <a:p>
            <a:pPr fontAlgn="auto">
              <a:lnSpc>
                <a:spcPct val="130000"/>
              </a:lnSpc>
            </a:pPr>
            <a:r>
              <a:rPr lang="en-US" altLang="en-US" sz="1600" dirty="0" smtClean="0">
                <a:latin typeface="Times New Roman" panose="02020603050405020304" charset="0"/>
                <a:ea typeface="宋体" panose="02010600030101010101" pitchFamily="2" charset="-122"/>
              </a:rPr>
              <a:t>13:ENDIF</a:t>
            </a:r>
          </a:p>
          <a:p>
            <a:pPr fontAlgn="auto">
              <a:lnSpc>
                <a:spcPct val="130000"/>
              </a:lnSpc>
            </a:pPr>
            <a:r>
              <a:rPr lang="en-US" altLang="en-US" sz="1600" dirty="0" smtClean="0">
                <a:latin typeface="Times New Roman" panose="02020603050405020304" charset="0"/>
                <a:ea typeface="宋体" panose="02010600030101010101" pitchFamily="2" charset="-122"/>
              </a:rPr>
              <a:t>END average</a:t>
            </a:r>
          </a:p>
        </p:txBody>
      </p:sp>
    </p:spTree>
  </p:cSld>
  <p:clrMapOvr>
    <a:masterClrMapping/>
  </p:clrMapOvr>
  <p:transition>
    <p:pull dir="rd"/>
  </p:transition>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74260"/>
            <a:chOff x="1275" y="2210"/>
            <a:chExt cx="15678" cy="7676"/>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5454" cy="6736"/>
              <a:chOff x="1499" y="3150"/>
              <a:chExt cx="15454" cy="6736"/>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1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02"/>
              </a:xfrm>
              <a:prstGeom prst="rect">
                <a:avLst/>
              </a:prstGeom>
              <a:solidFill>
                <a:schemeClr val="bg1">
                  <a:lumMod val="95000"/>
                </a:schemeClr>
              </a:solidFill>
            </p:spPr>
            <p:txBody>
              <a:bodyPr wrap="square">
                <a:noAutofit/>
              </a:bodyPr>
              <a:lstStyle/>
              <a:p>
                <a:pPr fontAlgn="auto">
                  <a:lnSpc>
                    <a:spcPct val="130000"/>
                  </a:lnSpc>
                </a:pPr>
                <a:r>
                  <a:rPr lang="en-US" altLang="en-US" dirty="0" smtClean="0">
                    <a:latin typeface="Times New Roman" panose="02020603050405020304" charset="0"/>
                    <a:ea typeface="宋体" panose="02010600030101010101" pitchFamily="2" charset="-122"/>
                  </a:rPr>
                  <a:t>1．根据过程设计结果画出相应的流图       </a:t>
                </a:r>
              </a:p>
              <a:p>
                <a:pPr fontAlgn="auto">
                  <a:lnSpc>
                    <a:spcPct val="130000"/>
                  </a:lnSpc>
                </a:pPr>
                <a:r>
                  <a:rPr lang="en-US" altLang="en-US" dirty="0" smtClean="0">
                    <a:latin typeface="Times New Roman" panose="02020603050405020304" charset="0"/>
                    <a:ea typeface="宋体" panose="02010600030101010101" pitchFamily="2" charset="-122"/>
                  </a:rPr>
                  <a:t>        </a:t>
                </a:r>
                <a:r>
                  <a:rPr lang="en-US" altLang="en-US" dirty="0" smtClean="0">
                    <a:latin typeface="Times New Roman" panose="02020603050405020304" charset="0"/>
                    <a:ea typeface="宋体" panose="02010600030101010101" pitchFamily="2" charset="-122"/>
                    <a:sym typeface="+mn-ea"/>
                  </a:rPr>
                  <a:t>为了正确地画出流图，我们把映射为流图结点的PDL语句都编了号。由此可画出流图，如图所示。</a:t>
                </a: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1073752572" name="组合 1073752571"/>
          <p:cNvGrpSpPr>
            <a:grpSpLocks noRot="1"/>
          </p:cNvGrpSpPr>
          <p:nvPr/>
        </p:nvGrpSpPr>
        <p:grpSpPr>
          <a:xfrm>
            <a:off x="6686550" y="1630680"/>
            <a:ext cx="4200525" cy="4587240"/>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dirty="0"/>
                <a:t>10</a:t>
              </a:r>
            </a:p>
            <a:p>
              <a:endParaRPr lang="zh-CN" altLang="en-US" dirty="0"/>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4"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2．计算流图的环形复杂度</a:t>
                </a:r>
              </a:p>
              <a:p>
                <a:pPr fontAlgn="auto">
                  <a:lnSpc>
                    <a:spcPct val="130000"/>
                  </a:lnSpc>
                </a:pPr>
                <a:r>
                  <a:rPr lang="en-US" altLang="en-US" dirty="0" smtClean="0">
                    <a:latin typeface="Times New Roman" panose="02020603050405020304" charset="0"/>
                    <a:ea typeface="宋体" panose="02010600030101010101" pitchFamily="2" charset="-122"/>
                  </a:rPr>
                  <a:t>用环形复杂度来定量度量程序的逻辑复杂性。有了描绘程序控制流的流图之后，可知流图的边数为17，结点数为13，判定结点数为5。可以用下述三种方法之一来计算环形复杂度，结果相同，程序的环形复杂度为6。</a:t>
                </a: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graphicFrame>
        <p:nvGraphicFramePr>
          <p:cNvPr id="207873" name="Object 1"/>
          <p:cNvGraphicFramePr>
            <a:graphicFrameLocks noChangeAspect="1"/>
          </p:cNvGraphicFramePr>
          <p:nvPr/>
        </p:nvGraphicFramePr>
        <p:xfrm>
          <a:off x="1444625" y="4999038"/>
          <a:ext cx="3825875" cy="365125"/>
        </p:xfrm>
        <a:graphic>
          <a:graphicData uri="http://schemas.openxmlformats.org/presentationml/2006/ole">
            <p:oleObj spid="_x0000_s174083" name="公式" r:id="rId5" imgW="54254400" imgH="5181600" progId="">
              <p:embed/>
            </p:oleObj>
          </a:graphicData>
        </a:graphic>
      </p:graphicFrame>
      <p:graphicFrame>
        <p:nvGraphicFramePr>
          <p:cNvPr id="207874" name="Object 2"/>
          <p:cNvGraphicFramePr>
            <a:graphicFrameLocks noChangeAspect="1"/>
          </p:cNvGraphicFramePr>
          <p:nvPr/>
        </p:nvGraphicFramePr>
        <p:xfrm>
          <a:off x="1433513" y="5383213"/>
          <a:ext cx="3094037" cy="365125"/>
        </p:xfrm>
        <a:graphic>
          <a:graphicData uri="http://schemas.openxmlformats.org/presentationml/2006/ole">
            <p:oleObj spid="_x0000_s174082" name="公式" r:id="rId6" imgW="43891200" imgH="5181600" progId="">
              <p:embed/>
            </p:oleObj>
          </a:graphicData>
        </a:graphic>
      </p:graphicFrame>
      <p:graphicFrame>
        <p:nvGraphicFramePr>
          <p:cNvPr id="207875" name="Object 3"/>
          <p:cNvGraphicFramePr>
            <a:graphicFrameLocks noChangeAspect="1"/>
          </p:cNvGraphicFramePr>
          <p:nvPr/>
        </p:nvGraphicFramePr>
        <p:xfrm>
          <a:off x="1446848" y="5775960"/>
          <a:ext cx="2149475" cy="368300"/>
        </p:xfrm>
        <a:graphic>
          <a:graphicData uri="http://schemas.openxmlformats.org/presentationml/2006/ole">
            <p:oleObj spid="_x0000_s174081" name="公式" r:id="rId7" imgW="30480000" imgH="5181600" progId="">
              <p:embed/>
            </p:oleObj>
          </a:graphicData>
        </a:graphic>
      </p:graphicFrame>
    </p:spTree>
  </p:cSld>
  <p:clrMapOvr>
    <a:masterClrMapping/>
  </p:clrMapOvr>
  <p:transition>
    <p:pull dir="rd"/>
  </p:transition>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6"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3．确定线性独立路径的基本集合</a:t>
                </a:r>
              </a:p>
              <a:p>
                <a:pPr fontAlgn="auto">
                  <a:lnSpc>
                    <a:spcPct val="130000"/>
                  </a:lnSpc>
                </a:pPr>
                <a:r>
                  <a:rPr lang="en-US" altLang="en-US" dirty="0" smtClean="0">
                    <a:latin typeface="Times New Roman" panose="02020603050405020304" charset="0"/>
                    <a:ea typeface="宋体" panose="02010600030101010101" pitchFamily="2" charset="-122"/>
                  </a:rPr>
                  <a:t>         </a:t>
                </a:r>
                <a:r>
                  <a:rPr lang="en-US" altLang="en-US" dirty="0" err="1" smtClean="0">
                    <a:latin typeface="Times New Roman" panose="02020603050405020304" charset="0"/>
                    <a:ea typeface="宋体" panose="02010600030101010101" pitchFamily="2" charset="-122"/>
                  </a:rPr>
                  <a:t>使用基本路径覆盖测试法设计测试用例</a:t>
                </a:r>
                <a:r>
                  <a:rPr lang="zh-CN" altLang="en-US" dirty="0" smtClean="0">
                    <a:latin typeface="Times New Roman" panose="02020603050405020304" charset="0"/>
                    <a:ea typeface="宋体" panose="02010600030101010101" pitchFamily="2" charset="-122"/>
                  </a:rPr>
                  <a:t>的</a:t>
                </a:r>
                <a:r>
                  <a:rPr lang="en-US" altLang="en-US" dirty="0" smtClean="0">
                    <a:latin typeface="Times New Roman" panose="02020603050405020304" charset="0"/>
                    <a:ea typeface="宋体" panose="02010600030101010101" pitchFamily="2" charset="-122"/>
                  </a:rPr>
                  <a:t>时</a:t>
                </a:r>
                <a:r>
                  <a:rPr lang="zh-CN" altLang="en-US" dirty="0" smtClean="0">
                    <a:latin typeface="Times New Roman" panose="02020603050405020304" charset="0"/>
                    <a:ea typeface="宋体" panose="02010600030101010101" pitchFamily="2" charset="-122"/>
                  </a:rPr>
                  <a:t>候</a:t>
                </a:r>
                <a:r>
                  <a:rPr lang="en-US" altLang="en-US" dirty="0" smtClean="0">
                    <a:latin typeface="Times New Roman" panose="02020603050405020304" charset="0"/>
                    <a:ea typeface="宋体" panose="02010600030101010101" pitchFamily="2" charset="-122"/>
                  </a:rPr>
                  <a:t>，程序的环形复杂度决定了程序中独立路径的数量，而且这个数是确保程序中所有语句至少被执行一次所需的测试数量的上界。</a:t>
                </a:r>
              </a:p>
              <a:p>
                <a:pPr>
                  <a:lnSpc>
                    <a:spcPct val="130000"/>
                  </a:lnSpc>
                </a:pPr>
                <a:r>
                  <a:rPr lang="zh-CN" altLang="en-US" dirty="0" smtClean="0">
                    <a:latin typeface="Times New Roman" panose="02020603050405020304" charset="0"/>
                    <a:ea typeface="宋体" panose="02010600030101010101" pitchFamily="2" charset="-122"/>
                  </a:rPr>
                  <a:t>         通常在导出测试用例时，识别流图中的判定结点是很有必要的。本例中结点</a:t>
                </a:r>
                <a:r>
                  <a:rPr lang="en-US" altLang="zh-CN" dirty="0" smtClean="0">
                    <a:latin typeface="Times New Roman" panose="02020603050405020304" charset="0"/>
                    <a:ea typeface="宋体" panose="02010600030101010101" pitchFamily="2" charset="-122"/>
                  </a:rPr>
                  <a:t>2</a:t>
                </a:r>
                <a:r>
                  <a:rPr lang="zh-CN" altLang="en-US" dirty="0" smtClean="0">
                    <a:latin typeface="Times New Roman" panose="02020603050405020304" charset="0"/>
                    <a:ea typeface="宋体" panose="02010600030101010101" pitchFamily="2" charset="-122"/>
                  </a:rPr>
                  <a:t>，</a:t>
                </a:r>
                <a:r>
                  <a:rPr lang="en-US" altLang="zh-CN" dirty="0" smtClean="0">
                    <a:latin typeface="Times New Roman" panose="02020603050405020304" charset="0"/>
                    <a:ea typeface="宋体" panose="02010600030101010101" pitchFamily="2" charset="-122"/>
                  </a:rPr>
                  <a:t>3</a:t>
                </a:r>
                <a:r>
                  <a:rPr lang="zh-CN" altLang="en-US" dirty="0" smtClean="0">
                    <a:latin typeface="Times New Roman" panose="02020603050405020304" charset="0"/>
                    <a:ea typeface="宋体" panose="02010600030101010101" pitchFamily="2" charset="-122"/>
                  </a:rPr>
                  <a:t>，</a:t>
                </a:r>
                <a:r>
                  <a:rPr lang="en-US" altLang="zh-CN" dirty="0" smtClean="0">
                    <a:latin typeface="Times New Roman" panose="02020603050405020304" charset="0"/>
                    <a:ea typeface="宋体" panose="02010600030101010101" pitchFamily="2" charset="-122"/>
                  </a:rPr>
                  <a:t>5</a:t>
                </a:r>
                <a:r>
                  <a:rPr lang="zh-CN" altLang="en-US" dirty="0" smtClean="0">
                    <a:latin typeface="Times New Roman" panose="02020603050405020304" charset="0"/>
                    <a:ea typeface="宋体" panose="02010600030101010101" pitchFamily="2" charset="-122"/>
                  </a:rPr>
                  <a:t>，</a:t>
                </a:r>
                <a:r>
                  <a:rPr lang="en-US" altLang="zh-CN" dirty="0" smtClean="0">
                    <a:latin typeface="Times New Roman" panose="02020603050405020304" charset="0"/>
                    <a:ea typeface="宋体" panose="02010600030101010101" pitchFamily="2" charset="-122"/>
                  </a:rPr>
                  <a:t>6</a:t>
                </a:r>
                <a:r>
                  <a:rPr lang="zh-CN" altLang="en-US" dirty="0" smtClean="0">
                    <a:latin typeface="Times New Roman" panose="02020603050405020304" charset="0"/>
                    <a:ea typeface="宋体" panose="02010600030101010101" pitchFamily="2" charset="-122"/>
                  </a:rPr>
                  <a:t>和</a:t>
                </a:r>
                <a:r>
                  <a:rPr lang="en-US" altLang="zh-CN" dirty="0" smtClean="0">
                    <a:latin typeface="Times New Roman" panose="02020603050405020304" charset="0"/>
                    <a:ea typeface="宋体" panose="02010600030101010101" pitchFamily="2" charset="-122"/>
                  </a:rPr>
                  <a:t>10</a:t>
                </a:r>
                <a:r>
                  <a:rPr lang="zh-CN" altLang="en-US" dirty="0" smtClean="0">
                    <a:latin typeface="Times New Roman" panose="02020603050405020304" charset="0"/>
                    <a:ea typeface="宋体" panose="02010600030101010101" pitchFamily="2" charset="-122"/>
                  </a:rPr>
                  <a:t>是判定结点。从流图中找出的路径，有时实际情况可能并不会走，需要进一步核对。</a:t>
                </a: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对于图4-8所描述的求平均值过程来说，下面列出的是程序的独立路径：</a:t>
                </a:r>
              </a:p>
              <a:p>
                <a:pPr fontAlgn="auto">
                  <a:lnSpc>
                    <a:spcPct val="130000"/>
                  </a:lnSpc>
                </a:pPr>
                <a:r>
                  <a:rPr lang="en-US" altLang="en-US" dirty="0" smtClean="0">
                    <a:latin typeface="Times New Roman" panose="02020603050405020304" charset="0"/>
                    <a:ea typeface="宋体" panose="02010600030101010101" pitchFamily="2" charset="-122"/>
                  </a:rPr>
                  <a:t>	路径1：1→2→10→11→13；</a:t>
                </a:r>
              </a:p>
              <a:p>
                <a:pPr fontAlgn="auto">
                  <a:lnSpc>
                    <a:spcPct val="130000"/>
                  </a:lnSpc>
                </a:pPr>
                <a:r>
                  <a:rPr lang="en-US" altLang="en-US" dirty="0" smtClean="0">
                    <a:latin typeface="Times New Roman" panose="02020603050405020304" charset="0"/>
                    <a:ea typeface="宋体" panose="02010600030101010101" pitchFamily="2" charset="-122"/>
                  </a:rPr>
                  <a:t>	路径2：1→2→10→12→13；</a:t>
                </a:r>
              </a:p>
              <a:p>
                <a:pPr fontAlgn="auto">
                  <a:lnSpc>
                    <a:spcPct val="130000"/>
                  </a:lnSpc>
                </a:pPr>
                <a:r>
                  <a:rPr lang="en-US" altLang="en-US" dirty="0" smtClean="0">
                    <a:latin typeface="Times New Roman" panose="02020603050405020304" charset="0"/>
                    <a:ea typeface="宋体" panose="02010600030101010101" pitchFamily="2" charset="-122"/>
                  </a:rPr>
                  <a:t>	路径3：1→2→3→10→11→13；</a:t>
                </a:r>
              </a:p>
              <a:p>
                <a:pPr fontAlgn="auto">
                  <a:lnSpc>
                    <a:spcPct val="130000"/>
                  </a:lnSpc>
                </a:pPr>
                <a:r>
                  <a:rPr lang="en-US" altLang="en-US" dirty="0" smtClean="0">
                    <a:latin typeface="Times New Roman" panose="02020603050405020304" charset="0"/>
                    <a:ea typeface="宋体" panose="02010600030101010101" pitchFamily="2" charset="-122"/>
                  </a:rPr>
                  <a:t>	路径4：1→2→3→10→12→13；</a:t>
                </a:r>
              </a:p>
              <a:p>
                <a:pPr fontAlgn="auto">
                  <a:lnSpc>
                    <a:spcPct val="130000"/>
                  </a:lnSpc>
                </a:pPr>
                <a:r>
                  <a:rPr lang="en-US" altLang="en-US" dirty="0" smtClean="0">
                    <a:latin typeface="Times New Roman" panose="02020603050405020304" charset="0"/>
                    <a:ea typeface="宋体" panose="02010600030101010101" pitchFamily="2" charset="-122"/>
                  </a:rPr>
                  <a:t>	路径5：1→2→3→4→5→8→9；</a:t>
                </a:r>
              </a:p>
              <a:p>
                <a:pPr fontAlgn="auto">
                  <a:lnSpc>
                    <a:spcPct val="130000"/>
                  </a:lnSpc>
                </a:pPr>
                <a:r>
                  <a:rPr lang="en-US" altLang="en-US" dirty="0" smtClean="0">
                    <a:latin typeface="Times New Roman" panose="02020603050405020304" charset="0"/>
                    <a:ea typeface="宋体" panose="02010600030101010101" pitchFamily="2" charset="-122"/>
                  </a:rPr>
                  <a:t>	路径6：1→2→3→4→5→6→8→9；</a:t>
                </a:r>
              </a:p>
              <a:p>
                <a:pPr fontAlgn="auto">
                  <a:lnSpc>
                    <a:spcPct val="130000"/>
                  </a:lnSpc>
                </a:pPr>
                <a:r>
                  <a:rPr lang="en-US" altLang="en-US" dirty="0" smtClean="0">
                    <a:latin typeface="Times New Roman" panose="02020603050405020304" charset="0"/>
                    <a:ea typeface="宋体" panose="02010600030101010101" pitchFamily="2" charset="-122"/>
                  </a:rPr>
                  <a:t>	路径7：1→2→3→4→5→6→7→8→9。</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13935"/>
            <a:chOff x="1275" y="2210"/>
            <a:chExt cx="15678" cy="758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499" y="3150"/>
              <a:ext cx="15454" cy="6641"/>
              <a:chOff x="1499" y="3150"/>
              <a:chExt cx="15454" cy="664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51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56" y="4330"/>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4．设计可强制执行集合中每条路径的测试用例</a:t>
                </a:r>
              </a:p>
              <a:p>
                <a:pPr>
                  <a:lnSpc>
                    <a:spcPct val="130000"/>
                  </a:lnSpc>
                </a:pPr>
                <a:r>
                  <a:rPr lang="zh-CN" altLang="en-US" dirty="0" smtClean="0">
                    <a:latin typeface="Times New Roman" panose="02020603050405020304" charset="0"/>
                    <a:ea typeface="宋体" panose="02010600030101010101" pitchFamily="2" charset="-122"/>
                  </a:rPr>
                  <a:t>        在选取测试数据时，应该使每条测试路径都适当地设置好了各个判定结点的条件。</a:t>
                </a:r>
                <a:r>
                  <a:rPr lang="en-US" altLang="en-US" dirty="0" err="1" smtClean="0">
                    <a:latin typeface="Times New Roman" panose="02020603050405020304" charset="0"/>
                    <a:ea typeface="宋体" panose="02010600030101010101" pitchFamily="2" charset="-122"/>
                  </a:rPr>
                  <a:t>可以设计上述基本集合的测试用例如下</a:t>
                </a:r>
                <a:r>
                  <a:rPr lang="en-US" altLang="en-US" dirty="0" smtClean="0">
                    <a:latin typeface="Times New Roman" panose="02020603050405020304" charset="0"/>
                    <a:ea typeface="宋体" panose="02010600030101010101" pitchFamily="2" charset="-122"/>
                  </a:rPr>
                  <a:t>：</a:t>
                </a:r>
              </a:p>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路径1的测试用例</a:t>
                </a:r>
              </a:p>
              <a:p>
                <a:pPr fontAlgn="auto">
                  <a:lnSpc>
                    <a:spcPct val="130000"/>
                  </a:lnSpc>
                </a:pPr>
                <a:r>
                  <a:rPr lang="en-US" altLang="en-US" dirty="0" smtClean="0">
                    <a:latin typeface="Times New Roman" panose="02020603050405020304" charset="0"/>
                    <a:ea typeface="宋体" panose="02010600030101010101" pitchFamily="2" charset="-122"/>
                  </a:rPr>
                  <a:t>value[i]=-999，其中2≤i≤100</a:t>
                </a:r>
              </a:p>
              <a:p>
                <a:pPr fontAlgn="auto">
                  <a:lnSpc>
                    <a:spcPct val="130000"/>
                  </a:lnSpc>
                </a:pPr>
                <a:r>
                  <a:rPr lang="en-US" altLang="en-US" dirty="0" smtClean="0">
                    <a:latin typeface="Times New Roman" panose="02020603050405020304" charset="0"/>
                    <a:ea typeface="宋体" panose="02010600030101010101" pitchFamily="2" charset="-122"/>
                  </a:rPr>
                  <a:t>Value[k]=有效输入值，其中k&lt;i</a:t>
                </a:r>
              </a:p>
              <a:p>
                <a:pPr fontAlgn="auto">
                  <a:lnSpc>
                    <a:spcPct val="130000"/>
                  </a:lnSpc>
                </a:pPr>
                <a:r>
                  <a:rPr lang="zh-CN" altLang="en-US" dirty="0" smtClean="0">
                    <a:latin typeface="Times New Roman" panose="02020603050405020304" charset="0"/>
                    <a:ea typeface="宋体" panose="02010600030101010101" pitchFamily="2" charset="-122"/>
                  </a:rPr>
                  <a:t>         预期的执行结果：基于</a:t>
                </a:r>
                <a:r>
                  <a:rPr lang="en-US" altLang="zh-CN" dirty="0" smtClean="0">
                    <a:latin typeface="Times New Roman" panose="02020603050405020304" charset="0"/>
                    <a:ea typeface="宋体" panose="02010600030101010101" pitchFamily="2" charset="-122"/>
                  </a:rPr>
                  <a:t>k</a:t>
                </a:r>
                <a:r>
                  <a:rPr lang="zh-CN" altLang="en-US" dirty="0" smtClean="0">
                    <a:latin typeface="Times New Roman" panose="02020603050405020304" charset="0"/>
                    <a:ea typeface="宋体" panose="02010600030101010101" pitchFamily="2" charset="-122"/>
                  </a:rPr>
                  <a:t>的输入正确数据的平均值、总和及个数。</a:t>
                </a: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a:lnSpc>
                    <a:spcPct val="130000"/>
                  </a:lnSpc>
                </a:pPr>
                <a:r>
                  <a:rPr lang="en-US" altLang="en-US" dirty="0" smtClean="0">
                    <a:latin typeface="Times New Roman" panose="02020603050405020304" charset="0"/>
                    <a:ea typeface="宋体" panose="02010600030101010101" pitchFamily="2" charset="-122"/>
                  </a:rPr>
                  <a:t>4．设计可强制执行集合中每条路径的测试用例</a:t>
                </a:r>
              </a:p>
              <a:p>
                <a:pPr>
                  <a:lnSpc>
                    <a:spcPct val="130000"/>
                  </a:lnSpc>
                </a:pPr>
                <a:endParaRPr lang="en-US" altLang="en-US" dirty="0" smtClean="0">
                  <a:latin typeface="Times New Roman" panose="02020603050405020304" charset="0"/>
                  <a:ea typeface="宋体" panose="02010600030101010101" pitchFamily="2" charset="-122"/>
                </a:endParaRPr>
              </a:p>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 路径2的测试用例</a:t>
                </a:r>
              </a:p>
              <a:p>
                <a:pPr fontAlgn="auto">
                  <a:lnSpc>
                    <a:spcPct val="130000"/>
                  </a:lnSpc>
                </a:pPr>
                <a:r>
                  <a:rPr lang="en-US" altLang="en-US" dirty="0" smtClean="0">
                    <a:latin typeface="Times New Roman" panose="02020603050405020304" charset="0"/>
                    <a:ea typeface="宋体" panose="02010600030101010101" pitchFamily="2" charset="-122"/>
                  </a:rPr>
                  <a:t>         value[1]=-999</a:t>
                </a:r>
              </a:p>
              <a:p>
                <a:pPr>
                  <a:lnSpc>
                    <a:spcPct val="130000"/>
                  </a:lnSpc>
                </a:pPr>
                <a:r>
                  <a:rPr lang="zh-CN" altLang="en-US" dirty="0" smtClean="0">
                    <a:latin typeface="Times New Roman" panose="02020603050405020304" charset="0"/>
                    <a:ea typeface="宋体" panose="02010600030101010101" pitchFamily="2" charset="-122"/>
                  </a:rPr>
                  <a:t>         预期的测试结果：</a:t>
                </a:r>
                <a:r>
                  <a:rPr lang="en-US" altLang="zh-CN" dirty="0" smtClean="0">
                    <a:latin typeface="Times New Roman" panose="02020603050405020304" charset="0"/>
                    <a:ea typeface="宋体" panose="02010600030101010101" pitchFamily="2" charset="-122"/>
                  </a:rPr>
                  <a:t>average=-999</a:t>
                </a:r>
                <a:r>
                  <a:rPr lang="zh-CN" altLang="en-US" dirty="0" smtClean="0">
                    <a:latin typeface="Times New Roman" panose="02020603050405020304" charset="0"/>
                    <a:ea typeface="宋体" panose="02010600030101010101" pitchFamily="2" charset="-122"/>
                  </a:rPr>
                  <a:t>。</a:t>
                </a:r>
                <a:endParaRPr lang="en-US" altLang="en-US" dirty="0" smtClean="0">
                  <a:latin typeface="Times New Roman" panose="02020603050405020304" charset="0"/>
                  <a:ea typeface="宋体" panose="02010600030101010101" pitchFamily="2" charset="-122"/>
                </a:endParaRPr>
              </a:p>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路径3的测试用例</a:t>
                </a:r>
              </a:p>
              <a:p>
                <a:pPr fontAlgn="auto">
                  <a:lnSpc>
                    <a:spcPct val="130000"/>
                  </a:lnSpc>
                </a:pPr>
                <a:r>
                  <a:rPr lang="en-US" altLang="en-US" dirty="0" smtClean="0">
                    <a:latin typeface="Times New Roman" panose="02020603050405020304" charset="0"/>
                    <a:ea typeface="宋体" panose="02010600030101010101" pitchFamily="2" charset="-122"/>
                  </a:rPr>
                  <a:t>        试图处理101个或者更多个值，前100个数值应该是有效输入值。</a:t>
                </a:r>
              </a:p>
              <a:p>
                <a:pPr fontAlgn="auto">
                  <a:lnSpc>
                    <a:spcPct val="130000"/>
                  </a:lnSpc>
                </a:pPr>
                <a:r>
                  <a:rPr lang="en-US" altLang="en-US" dirty="0" smtClean="0">
                    <a:latin typeface="Times New Roman" panose="02020603050405020304" charset="0"/>
                    <a:ea typeface="宋体" panose="02010600030101010101" pitchFamily="2" charset="-122"/>
                  </a:rPr>
                  <a:t>        预期测试结果：与测试用例1相同。</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5"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路径4的测试用例</a:t>
                </a:r>
              </a:p>
              <a:p>
                <a:pPr fontAlgn="auto">
                  <a:lnSpc>
                    <a:spcPct val="130000"/>
                  </a:lnSpc>
                </a:pPr>
                <a:r>
                  <a:rPr lang="en-US" altLang="en-US" dirty="0" smtClean="0">
                    <a:latin typeface="Times New Roman" panose="02020603050405020304" charset="0"/>
                    <a:ea typeface="宋体" panose="02010600030101010101" pitchFamily="2" charset="-122"/>
                  </a:rPr>
                  <a:t>        试图处理101个或者更多个值，前100个数值应该是有效输入值。</a:t>
                </a:r>
              </a:p>
              <a:p>
                <a:pPr fontAlgn="auto">
                  <a:lnSpc>
                    <a:spcPct val="130000"/>
                  </a:lnSpc>
                </a:pPr>
                <a:r>
                  <a:rPr lang="zh-CN" altLang="en-US" dirty="0" smtClean="0">
                    <a:latin typeface="Times New Roman" panose="02020603050405020304" charset="0"/>
                    <a:ea typeface="宋体" panose="02010600030101010101" pitchFamily="2" charset="-122"/>
                  </a:rPr>
                  <a:t>         预期测试结果：</a:t>
                </a:r>
                <a:r>
                  <a:rPr lang="en-US" altLang="zh-CN" dirty="0" smtClean="0">
                    <a:latin typeface="Times New Roman" panose="02020603050405020304" charset="0"/>
                    <a:ea typeface="宋体" panose="02010600030101010101" pitchFamily="2" charset="-122"/>
                  </a:rPr>
                  <a:t>average=-999</a:t>
                </a:r>
                <a:r>
                  <a:rPr lang="zh-CN" altLang="en-US" dirty="0" smtClean="0">
                    <a:latin typeface="Times New Roman" panose="02020603050405020304" charset="0"/>
                    <a:ea typeface="宋体" panose="02010600030101010101" pitchFamily="2" charset="-122"/>
                  </a:rPr>
                  <a:t>。</a:t>
                </a:r>
              </a:p>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路径5的测试用例</a:t>
                </a:r>
              </a:p>
              <a:p>
                <a:pPr fontAlgn="auto">
                  <a:lnSpc>
                    <a:spcPct val="130000"/>
                  </a:lnSpc>
                </a:pPr>
                <a:r>
                  <a:rPr lang="en-US" altLang="en-US" dirty="0" smtClean="0">
                    <a:latin typeface="Times New Roman" panose="02020603050405020304" charset="0"/>
                    <a:ea typeface="宋体" panose="02010600030101010101" pitchFamily="2" charset="-122"/>
                  </a:rPr>
                  <a:t>         value[</a:t>
                </a:r>
                <a:r>
                  <a:rPr lang="en-US" altLang="en-US" dirty="0" err="1" smtClean="0">
                    <a:latin typeface="Times New Roman" panose="02020603050405020304" charset="0"/>
                    <a:ea typeface="宋体" panose="02010600030101010101" pitchFamily="2" charset="-122"/>
                  </a:rPr>
                  <a:t>i</a:t>
                </a:r>
                <a:r>
                  <a:rPr lang="en-US" altLang="en-US" dirty="0" smtClean="0">
                    <a:latin typeface="Times New Roman" panose="02020603050405020304" charset="0"/>
                    <a:ea typeface="宋体" panose="02010600030101010101" pitchFamily="2" charset="-122"/>
                  </a:rPr>
                  <a:t>]=有效输入值，其中i&lt;100。</a:t>
                </a:r>
              </a:p>
              <a:p>
                <a:pPr fontAlgn="auto">
                  <a:lnSpc>
                    <a:spcPct val="130000"/>
                  </a:lnSpc>
                </a:pPr>
                <a:r>
                  <a:rPr lang="en-US" altLang="en-US" dirty="0" smtClean="0">
                    <a:latin typeface="Times New Roman" panose="02020603050405020304" charset="0"/>
                    <a:ea typeface="宋体" panose="02010600030101010101" pitchFamily="2" charset="-122"/>
                  </a:rPr>
                  <a:t>         value[k]&lt;minimum，其中k&lt;i。</a:t>
                </a:r>
              </a:p>
              <a:p>
                <a:pPr fontAlgn="auto">
                  <a:lnSpc>
                    <a:spcPct val="130000"/>
                  </a:lnSpc>
                </a:pPr>
                <a:r>
                  <a:rPr lang="zh-CN" altLang="en-US" dirty="0" smtClean="0">
                    <a:latin typeface="Times New Roman" panose="02020603050405020304" charset="0"/>
                    <a:ea typeface="宋体" panose="02010600030101010101" pitchFamily="2" charset="-122"/>
                  </a:rPr>
                  <a:t>         预期的测试结果：基于</a:t>
                </a:r>
                <a:r>
                  <a:rPr lang="en-US" altLang="zh-CN" dirty="0" smtClean="0">
                    <a:latin typeface="Times New Roman" panose="02020603050405020304" charset="0"/>
                    <a:ea typeface="宋体" panose="02010600030101010101" pitchFamily="2" charset="-122"/>
                  </a:rPr>
                  <a:t>k</a:t>
                </a:r>
                <a:r>
                  <a:rPr lang="zh-CN" altLang="en-US" dirty="0" smtClean="0">
                    <a:latin typeface="Times New Roman" panose="02020603050405020304" charset="0"/>
                    <a:ea typeface="宋体" panose="02010600030101010101" pitchFamily="2" charset="-122"/>
                  </a:rPr>
                  <a:t>的输入数据的正确平均值、总和及个数。</a:t>
                </a: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1073752572"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890135"/>
            <a:chOff x="1275" y="2210"/>
            <a:chExt cx="15678" cy="7701"/>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499" y="3150"/>
              <a:ext cx="15454" cy="6761"/>
              <a:chOff x="1499" y="3150"/>
              <a:chExt cx="15454" cy="6761"/>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路径6的测试用例</a:t>
                </a:r>
              </a:p>
              <a:p>
                <a:pPr fontAlgn="auto">
                  <a:lnSpc>
                    <a:spcPct val="130000"/>
                  </a:lnSpc>
                </a:pPr>
                <a:r>
                  <a:rPr lang="en-US" altLang="en-US" dirty="0" smtClean="0">
                    <a:latin typeface="Times New Roman" panose="02020603050405020304" charset="0"/>
                    <a:ea typeface="宋体" panose="02010600030101010101" pitchFamily="2" charset="-122"/>
                  </a:rPr>
                  <a:t>         value[</a:t>
                </a:r>
                <a:r>
                  <a:rPr lang="en-US" altLang="en-US" dirty="0" err="1" smtClean="0">
                    <a:latin typeface="Times New Roman" panose="02020603050405020304" charset="0"/>
                    <a:ea typeface="宋体" panose="02010600030101010101" pitchFamily="2" charset="-122"/>
                  </a:rPr>
                  <a:t>i</a:t>
                </a:r>
                <a:r>
                  <a:rPr lang="en-US" altLang="en-US" dirty="0" smtClean="0">
                    <a:latin typeface="Times New Roman" panose="02020603050405020304" charset="0"/>
                    <a:ea typeface="宋体" panose="02010600030101010101" pitchFamily="2" charset="-122"/>
                  </a:rPr>
                  <a:t>]=有效输入值，其中i&lt;100；</a:t>
                </a:r>
              </a:p>
              <a:p>
                <a:pPr fontAlgn="auto">
                  <a:lnSpc>
                    <a:spcPct val="130000"/>
                  </a:lnSpc>
                </a:pPr>
                <a:r>
                  <a:rPr lang="en-US" altLang="en-US" dirty="0" smtClean="0">
                    <a:latin typeface="Times New Roman" panose="02020603050405020304" charset="0"/>
                    <a:ea typeface="宋体" panose="02010600030101010101" pitchFamily="2" charset="-122"/>
                  </a:rPr>
                  <a:t>         value[k]&gt;maximum，其中k&lt;i。</a:t>
                </a:r>
              </a:p>
              <a:p>
                <a:pPr>
                  <a:lnSpc>
                    <a:spcPct val="130000"/>
                  </a:lnSpc>
                </a:pPr>
                <a:r>
                  <a:rPr lang="zh-CN" altLang="en-US" dirty="0" smtClean="0">
                    <a:latin typeface="Times New Roman" panose="02020603050405020304" charset="0"/>
                    <a:ea typeface="宋体" panose="02010600030101010101" pitchFamily="2" charset="-122"/>
                  </a:rPr>
                  <a:t>         预期的测试结果：基于</a:t>
                </a:r>
                <a:r>
                  <a:rPr lang="en-US" altLang="zh-CN" dirty="0" smtClean="0">
                    <a:latin typeface="Times New Roman" panose="02020603050405020304" charset="0"/>
                    <a:ea typeface="宋体" panose="02010600030101010101" pitchFamily="2" charset="-122"/>
                  </a:rPr>
                  <a:t>k</a:t>
                </a:r>
                <a:r>
                  <a:rPr lang="zh-CN" altLang="en-US" dirty="0" smtClean="0">
                    <a:latin typeface="Times New Roman" panose="02020603050405020304" charset="0"/>
                    <a:ea typeface="宋体" panose="02010600030101010101" pitchFamily="2" charset="-122"/>
                  </a:rPr>
                  <a:t>的输入正确数据的平均值、总和及个数。</a:t>
                </a:r>
                <a:endParaRPr lang="en-US" altLang="en-US" dirty="0" smtClean="0">
                  <a:latin typeface="Times New Roman" panose="02020603050405020304" charset="0"/>
                  <a:ea typeface="宋体" panose="02010600030101010101" pitchFamily="2" charset="-122"/>
                </a:endParaRPr>
              </a:p>
              <a:p>
                <a:pPr fontAlgn="auto">
                  <a:lnSpc>
                    <a:spcPct val="130000"/>
                  </a:lnSpc>
                  <a:buFont typeface="Wingdings" panose="05000000000000000000" pitchFamily="2" charset="2"/>
                  <a:buChar char="Ø"/>
                </a:pPr>
                <a:r>
                  <a:rPr lang="en-US" altLang="en-US" dirty="0" smtClean="0">
                    <a:latin typeface="Times New Roman" panose="02020603050405020304" charset="0"/>
                    <a:ea typeface="宋体" panose="02010600030101010101" pitchFamily="2" charset="-122"/>
                  </a:rPr>
                  <a:t>路径7的测试用例</a:t>
                </a:r>
              </a:p>
              <a:p>
                <a:pPr fontAlgn="auto">
                  <a:lnSpc>
                    <a:spcPct val="130000"/>
                  </a:lnSpc>
                </a:pPr>
                <a:r>
                  <a:rPr lang="en-US" altLang="en-US" dirty="0" smtClean="0">
                    <a:latin typeface="Times New Roman" panose="02020603050405020304" charset="0"/>
                    <a:ea typeface="宋体" panose="02010600030101010101" pitchFamily="2" charset="-122"/>
                  </a:rPr>
                  <a:t>         value[</a:t>
                </a:r>
                <a:r>
                  <a:rPr lang="en-US" altLang="en-US" dirty="0" err="1" smtClean="0">
                    <a:latin typeface="Times New Roman" panose="02020603050405020304" charset="0"/>
                    <a:ea typeface="宋体" panose="02010600030101010101" pitchFamily="2" charset="-122"/>
                  </a:rPr>
                  <a:t>i</a:t>
                </a:r>
                <a:r>
                  <a:rPr lang="en-US" altLang="en-US" dirty="0" smtClean="0">
                    <a:latin typeface="Times New Roman" panose="02020603050405020304" charset="0"/>
                    <a:ea typeface="宋体" panose="02010600030101010101" pitchFamily="2" charset="-122"/>
                  </a:rPr>
                  <a:t>]=有效输入值，其中i&lt;100。</a:t>
                </a:r>
              </a:p>
              <a:p>
                <a:pPr fontAlgn="auto">
                  <a:lnSpc>
                    <a:spcPct val="130000"/>
                  </a:lnSpc>
                </a:pPr>
                <a:r>
                  <a:rPr lang="zh-CN" altLang="en-US" dirty="0" smtClean="0">
                    <a:latin typeface="Times New Roman" panose="02020603050405020304" charset="0"/>
                    <a:ea typeface="宋体" panose="02010600030101010101" pitchFamily="2" charset="-122"/>
                  </a:rPr>
                  <a:t>        预期的测试结果：输入正确数据的平均值、总和及个数。</a:t>
                </a: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4.5 </a:t>
            </a:r>
            <a:r>
              <a:rPr lang="zh-CN" altLang="en-US" dirty="0" smtClean="0">
                <a:solidFill>
                  <a:srgbClr val="FF0000"/>
                </a:solidFill>
              </a:rPr>
              <a:t>设计软件测试方案</a:t>
            </a:r>
            <a:endParaRPr lang="zh-CN" altLang="en-US" dirty="0"/>
          </a:p>
        </p:txBody>
      </p:sp>
      <p:grpSp>
        <p:nvGrpSpPr>
          <p:cNvPr id="2" name="组合 1"/>
          <p:cNvGrpSpPr/>
          <p:nvPr/>
        </p:nvGrpSpPr>
        <p:grpSpPr>
          <a:xfrm>
            <a:off x="737235" y="1403985"/>
            <a:ext cx="9955530" cy="4768215"/>
            <a:chOff x="1275" y="2210"/>
            <a:chExt cx="15678" cy="7509"/>
          </a:xfrm>
        </p:grpSpPr>
        <p:sp>
          <p:nvSpPr>
            <p:cNvPr id="19" name="TextBox 6"/>
            <p:cNvSpPr txBox="1"/>
            <p:nvPr/>
          </p:nvSpPr>
          <p:spPr>
            <a:xfrm>
              <a:off x="1275" y="2210"/>
              <a:ext cx="13695" cy="892"/>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smtClean="0">
                  <a:solidFill>
                    <a:schemeClr val="tx1"/>
                  </a:solidFill>
                </a:rPr>
                <a:t>案例</a:t>
              </a:r>
            </a:p>
          </p:txBody>
        </p:sp>
        <p:grpSp>
          <p:nvGrpSpPr>
            <p:cNvPr id="4" name="组合 4"/>
            <p:cNvGrpSpPr/>
            <p:nvPr/>
          </p:nvGrpSpPr>
          <p:grpSpPr>
            <a:xfrm>
              <a:off x="1499" y="3150"/>
              <a:ext cx="15454" cy="6569"/>
              <a:chOff x="1499" y="3150"/>
              <a:chExt cx="15454" cy="6569"/>
            </a:xfrm>
          </p:grpSpPr>
          <p:sp>
            <p:nvSpPr>
              <p:cNvPr id="22" name="TextBox 21"/>
              <p:cNvSpPr txBox="1"/>
              <p:nvPr/>
            </p:nvSpPr>
            <p:spPr>
              <a:xfrm>
                <a:off x="3431" y="3419"/>
                <a:ext cx="13522" cy="624"/>
              </a:xfrm>
              <a:prstGeom prst="rect">
                <a:avLst/>
              </a:prstGeom>
              <a:noFill/>
            </p:spPr>
            <p:txBody>
              <a:bodyPr wrap="square">
                <a:spAutoFit/>
              </a:bodyPr>
              <a:lstStyle/>
              <a:p>
                <a:r>
                  <a:rPr sz="2000" dirty="0" smtClean="0">
                    <a:sym typeface="+mn-ea"/>
                  </a:rPr>
                  <a:t>用基本路径覆盖法设计测试用例。</a:t>
                </a:r>
              </a:p>
            </p:txBody>
          </p:sp>
          <p:sp>
            <p:nvSpPr>
              <p:cNvPr id="24" name="矩形 23"/>
              <p:cNvSpPr>
                <a:spLocks noChangeAspect="1"/>
              </p:cNvSpPr>
              <p:nvPr/>
            </p:nvSpPr>
            <p:spPr>
              <a:xfrm>
                <a:off x="1499" y="4275"/>
                <a:ext cx="8213" cy="54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例 </a:t>
                  </a:r>
                  <a:r>
                    <a:rPr lang="en-US" altLang="zh-CN" sz="2400" dirty="0" smtClean="0">
                      <a:solidFill>
                        <a:schemeClr val="bg1"/>
                      </a:solidFill>
                      <a:sym typeface="+mn-ea"/>
                    </a:rPr>
                    <a:t>4-4</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968" y="4666"/>
                <a:ext cx="7194" cy="4682"/>
              </a:xfrm>
              <a:prstGeom prst="rect">
                <a:avLst/>
              </a:prstGeom>
              <a:solidFill>
                <a:schemeClr val="bg1">
                  <a:lumMod val="95000"/>
                </a:schemeClr>
              </a:solidFill>
            </p:spPr>
            <p:txBody>
              <a:bodyPr wrap="square">
                <a:spAutoFit/>
              </a:bodyPr>
              <a:lstStyle/>
              <a:p>
                <a:pPr fontAlgn="auto">
                  <a:lnSpc>
                    <a:spcPct val="130000"/>
                  </a:lnSpc>
                </a:pPr>
                <a:r>
                  <a:rPr lang="zh-CN" altLang="en-US" dirty="0" smtClean="0">
                    <a:latin typeface="Times New Roman" panose="02020603050405020304" charset="0"/>
                    <a:ea typeface="宋体" panose="02010600030101010101" pitchFamily="2" charset="-122"/>
                  </a:rPr>
                  <a:t>        </a:t>
                </a:r>
                <a:endParaRPr lang="en-US" altLang="zh-CN" dirty="0" smtClean="0">
                  <a:latin typeface="Times New Roman" panose="02020603050405020304" charset="0"/>
                  <a:ea typeface="宋体" panose="02010600030101010101" pitchFamily="2" charset="-122"/>
                </a:endParaRPr>
              </a:p>
              <a:p>
                <a:pPr fontAlgn="auto">
                  <a:lnSpc>
                    <a:spcPct val="130000"/>
                  </a:lnSpc>
                </a:pPr>
                <a:endParaRPr lang="en-US" altLang="zh-CN" dirty="0" smtClean="0">
                  <a:latin typeface="Times New Roman" panose="02020603050405020304" charset="0"/>
                  <a:ea typeface="宋体" panose="02010600030101010101" pitchFamily="2" charset="-122"/>
                </a:endParaRPr>
              </a:p>
              <a:p>
                <a:pPr fontAlgn="auto">
                  <a:lnSpc>
                    <a:spcPct val="130000"/>
                  </a:lnSpc>
                </a:pPr>
                <a:r>
                  <a:rPr lang="zh-CN" altLang="en-US" dirty="0" smtClean="0">
                    <a:latin typeface="Times New Roman" panose="02020603050405020304" charset="0"/>
                    <a:ea typeface="宋体" panose="02010600030101010101" pitchFamily="2" charset="-122"/>
                  </a:rPr>
                  <a:t>在测试过程中，执行每个测试用例并把实际输出结果与预期结果相比较。一旦执行完所有测试用例，就可以确保程序中所有语句都至少被执行了一次，而且每个条件都分别取过</a:t>
                </a:r>
                <a:r>
                  <a:rPr lang="en-US" altLang="zh-CN" dirty="0" smtClean="0">
                    <a:latin typeface="Times New Roman" panose="02020603050405020304" charset="0"/>
                    <a:ea typeface="宋体" panose="02010600030101010101" pitchFamily="2" charset="-122"/>
                  </a:rPr>
                  <a:t>true</a:t>
                </a:r>
                <a:r>
                  <a:rPr lang="zh-CN" altLang="en-US" dirty="0" smtClean="0">
                    <a:latin typeface="Times New Roman" panose="02020603050405020304" charset="0"/>
                    <a:ea typeface="宋体" panose="02010600030101010101" pitchFamily="2" charset="-122"/>
                  </a:rPr>
                  <a:t>值和</a:t>
                </a:r>
                <a:r>
                  <a:rPr lang="en-US" altLang="zh-CN" dirty="0" smtClean="0">
                    <a:latin typeface="Times New Roman" panose="02020603050405020304" charset="0"/>
                    <a:ea typeface="宋体" panose="02010600030101010101" pitchFamily="2" charset="-122"/>
                  </a:rPr>
                  <a:t>false</a:t>
                </a:r>
                <a:r>
                  <a:rPr lang="zh-CN" altLang="en-US" dirty="0" smtClean="0">
                    <a:latin typeface="Times New Roman" panose="02020603050405020304" charset="0"/>
                    <a:ea typeface="宋体" panose="02010600030101010101" pitchFamily="2" charset="-122"/>
                  </a:rPr>
                  <a:t>值。</a:t>
                </a:r>
                <a:endParaRPr lang="en-US" altLang="en-US" dirty="0" smtClean="0">
                  <a:latin typeface="Times New Roman" panose="02020603050405020304" charset="0"/>
                  <a:ea typeface="宋体" panose="02010600030101010101" pitchFamily="2" charset="-122"/>
                </a:endParaRPr>
              </a:p>
              <a:p>
                <a:pPr fontAlgn="auto">
                  <a:lnSpc>
                    <a:spcPct val="130000"/>
                  </a:lnSpc>
                </a:pPr>
                <a:endParaRPr lang="en-US" altLang="en-US" dirty="0" smtClean="0">
                  <a:latin typeface="Times New Roman" panose="02020603050405020304" charset="0"/>
                  <a:ea typeface="宋体" panose="02010600030101010101" pitchFamily="2" charset="-122"/>
                </a:endParaRPr>
              </a:p>
            </p:txBody>
          </p:sp>
        </p:gr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grpSp>
        <p:nvGrpSpPr>
          <p:cNvPr id="6" name="组合 1073752571"/>
          <p:cNvGrpSpPr>
            <a:grpSpLocks noRot="1"/>
          </p:cNvGrpSpPr>
          <p:nvPr/>
        </p:nvGrpSpPr>
        <p:grpSpPr>
          <a:xfrm>
            <a:off x="6686550" y="2171700"/>
            <a:ext cx="4200525" cy="3578225"/>
            <a:chOff x="4223" y="7325"/>
            <a:chExt cx="5259" cy="5691"/>
          </a:xfrm>
        </p:grpSpPr>
        <p:sp>
          <p:nvSpPr>
            <p:cNvPr id="1073752573" name="直接连接符 1073752572"/>
            <p:cNvSpPr/>
            <p:nvPr/>
          </p:nvSpPr>
          <p:spPr>
            <a:xfrm>
              <a:off x="7631" y="7728"/>
              <a:ext cx="0" cy="380"/>
            </a:xfrm>
            <a:prstGeom prst="line">
              <a:avLst/>
            </a:prstGeom>
            <a:ln w="9525" cap="flat" cmpd="sng">
              <a:solidFill>
                <a:srgbClr val="000000"/>
              </a:solidFill>
              <a:prstDash val="solid"/>
              <a:headEnd type="none" w="med" len="med"/>
              <a:tailEnd type="triangle" w="med" len="med"/>
            </a:ln>
          </p:spPr>
        </p:sp>
        <p:sp>
          <p:nvSpPr>
            <p:cNvPr id="1073752574" name="椭圆 1073752573"/>
            <p:cNvSpPr/>
            <p:nvPr/>
          </p:nvSpPr>
          <p:spPr>
            <a:xfrm>
              <a:off x="7427" y="732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a:t>
              </a:r>
            </a:p>
            <a:p>
              <a:endParaRPr lang="zh-CN" altLang="en-US"/>
            </a:p>
          </p:txBody>
        </p:sp>
        <p:sp>
          <p:nvSpPr>
            <p:cNvPr id="1073752575" name="椭圆 1073752574"/>
            <p:cNvSpPr/>
            <p:nvPr/>
          </p:nvSpPr>
          <p:spPr>
            <a:xfrm>
              <a:off x="7427" y="8111"/>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2</a:t>
              </a:r>
            </a:p>
            <a:p>
              <a:endParaRPr lang="zh-CN" altLang="en-US"/>
            </a:p>
          </p:txBody>
        </p:sp>
        <p:sp>
          <p:nvSpPr>
            <p:cNvPr id="1073752576" name="椭圆 1073752575"/>
            <p:cNvSpPr/>
            <p:nvPr/>
          </p:nvSpPr>
          <p:spPr>
            <a:xfrm>
              <a:off x="7424" y="8885"/>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3</a:t>
              </a:r>
            </a:p>
            <a:p>
              <a:endParaRPr lang="zh-CN" altLang="en-US"/>
            </a:p>
          </p:txBody>
        </p:sp>
        <p:sp>
          <p:nvSpPr>
            <p:cNvPr id="1073752577" name="椭圆 1073752576"/>
            <p:cNvSpPr/>
            <p:nvPr/>
          </p:nvSpPr>
          <p:spPr>
            <a:xfrm>
              <a:off x="7427" y="9667"/>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4</a:t>
              </a:r>
            </a:p>
            <a:p>
              <a:endParaRPr lang="zh-CN" altLang="en-US"/>
            </a:p>
          </p:txBody>
        </p:sp>
        <p:sp>
          <p:nvSpPr>
            <p:cNvPr id="1073752578" name="椭圆 1073752577"/>
            <p:cNvSpPr/>
            <p:nvPr/>
          </p:nvSpPr>
          <p:spPr>
            <a:xfrm>
              <a:off x="7427" y="1045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5</a:t>
              </a:r>
            </a:p>
            <a:p>
              <a:endParaRPr lang="zh-CN" altLang="en-US"/>
            </a:p>
          </p:txBody>
        </p:sp>
        <p:sp>
          <p:nvSpPr>
            <p:cNvPr id="1073752579" name="椭圆 1073752578"/>
            <p:cNvSpPr/>
            <p:nvPr/>
          </p:nvSpPr>
          <p:spPr>
            <a:xfrm>
              <a:off x="7421" y="1123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6</a:t>
              </a:r>
            </a:p>
            <a:p>
              <a:endParaRPr lang="zh-CN" altLang="en-US"/>
            </a:p>
          </p:txBody>
        </p:sp>
        <p:sp>
          <p:nvSpPr>
            <p:cNvPr id="1073752580" name="椭圆 1073752579"/>
            <p:cNvSpPr/>
            <p:nvPr/>
          </p:nvSpPr>
          <p:spPr>
            <a:xfrm>
              <a:off x="7991" y="11923"/>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7</a:t>
              </a:r>
            </a:p>
            <a:p>
              <a:endParaRPr lang="zh-CN" altLang="en-US"/>
            </a:p>
          </p:txBody>
        </p:sp>
        <p:sp>
          <p:nvSpPr>
            <p:cNvPr id="1073752581" name="椭圆 1073752580"/>
            <p:cNvSpPr/>
            <p:nvPr/>
          </p:nvSpPr>
          <p:spPr>
            <a:xfrm>
              <a:off x="6854" y="1192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8</a:t>
              </a:r>
            </a:p>
            <a:p>
              <a:endParaRPr lang="zh-CN" altLang="en-US"/>
            </a:p>
          </p:txBody>
        </p:sp>
        <p:sp>
          <p:nvSpPr>
            <p:cNvPr id="1073752582" name="椭圆 1073752581"/>
            <p:cNvSpPr/>
            <p:nvPr/>
          </p:nvSpPr>
          <p:spPr>
            <a:xfrm>
              <a:off x="7424" y="12616"/>
              <a:ext cx="402"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9</a:t>
              </a:r>
            </a:p>
            <a:p>
              <a:endParaRPr lang="zh-CN" altLang="en-US"/>
            </a:p>
          </p:txBody>
        </p:sp>
        <p:sp>
          <p:nvSpPr>
            <p:cNvPr id="1073752583" name="椭圆 1073752582"/>
            <p:cNvSpPr/>
            <p:nvPr/>
          </p:nvSpPr>
          <p:spPr>
            <a:xfrm>
              <a:off x="5147" y="9286"/>
              <a:ext cx="622" cy="468"/>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10</a:t>
              </a:r>
            </a:p>
            <a:p>
              <a:endParaRPr lang="zh-CN" altLang="en-US"/>
            </a:p>
          </p:txBody>
        </p:sp>
        <p:sp>
          <p:nvSpPr>
            <p:cNvPr id="1073752584" name="椭圆 1073752583"/>
            <p:cNvSpPr/>
            <p:nvPr/>
          </p:nvSpPr>
          <p:spPr>
            <a:xfrm>
              <a:off x="5933" y="10047"/>
              <a:ext cx="630" cy="394"/>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11</a:t>
              </a:r>
            </a:p>
            <a:p>
              <a:endParaRPr lang="zh-CN" altLang="en-US"/>
            </a:p>
          </p:txBody>
        </p:sp>
        <p:sp>
          <p:nvSpPr>
            <p:cNvPr id="1073752585" name="椭圆 1073752584"/>
            <p:cNvSpPr/>
            <p:nvPr/>
          </p:nvSpPr>
          <p:spPr>
            <a:xfrm>
              <a:off x="4590" y="10047"/>
              <a:ext cx="611" cy="400"/>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12</a:t>
              </a:r>
            </a:p>
            <a:p>
              <a:endParaRPr lang="zh-CN" altLang="en-US"/>
            </a:p>
          </p:txBody>
        </p:sp>
        <p:sp>
          <p:nvSpPr>
            <p:cNvPr id="1073752586" name="椭圆 1073752585"/>
            <p:cNvSpPr/>
            <p:nvPr/>
          </p:nvSpPr>
          <p:spPr>
            <a:xfrm>
              <a:off x="5201" y="10737"/>
              <a:ext cx="732" cy="497"/>
            </a:xfrm>
            <a:prstGeom prst="ellipse">
              <a:avLst/>
            </a:prstGeom>
            <a:noFill/>
            <a:ln w="9525" cap="flat" cmpd="sng">
              <a:solidFill>
                <a:srgbClr val="000000"/>
              </a:solidFill>
              <a:prstDash val="solid"/>
              <a:headEnd type="none" w="med" len="med"/>
              <a:tailEnd type="none" w="med" len="med"/>
            </a:ln>
          </p:spPr>
          <p:txBody>
            <a:bodyPr wrap="square" lIns="36000" tIns="36000" rIns="36000" bIns="36000"/>
            <a:lstStyle/>
            <a:p>
              <a:pPr algn="ctr">
                <a:lnSpc>
                  <a:spcPts val="1000"/>
                </a:lnSpc>
              </a:pPr>
              <a:r>
                <a:rPr lang="zh-CN" altLang="en-US"/>
                <a:t>13</a:t>
              </a:r>
            </a:p>
            <a:p>
              <a:endParaRPr lang="zh-CN" altLang="en-US"/>
            </a:p>
          </p:txBody>
        </p:sp>
        <p:sp>
          <p:nvSpPr>
            <p:cNvPr id="1073752587" name="直接连接符 1073752586"/>
            <p:cNvSpPr/>
            <p:nvPr/>
          </p:nvSpPr>
          <p:spPr>
            <a:xfrm>
              <a:off x="7631" y="8511"/>
              <a:ext cx="0" cy="380"/>
            </a:xfrm>
            <a:prstGeom prst="line">
              <a:avLst/>
            </a:prstGeom>
            <a:ln w="9525" cap="flat" cmpd="sng">
              <a:solidFill>
                <a:srgbClr val="000000"/>
              </a:solidFill>
              <a:prstDash val="solid"/>
              <a:headEnd type="none" w="med" len="med"/>
              <a:tailEnd type="triangle" w="med" len="med"/>
            </a:ln>
          </p:spPr>
        </p:sp>
        <p:sp>
          <p:nvSpPr>
            <p:cNvPr id="1073752588" name="直接连接符 1073752587"/>
            <p:cNvSpPr/>
            <p:nvPr/>
          </p:nvSpPr>
          <p:spPr>
            <a:xfrm>
              <a:off x="7631" y="9285"/>
              <a:ext cx="0" cy="380"/>
            </a:xfrm>
            <a:prstGeom prst="line">
              <a:avLst/>
            </a:prstGeom>
            <a:ln w="9525" cap="flat" cmpd="sng">
              <a:solidFill>
                <a:srgbClr val="000000"/>
              </a:solidFill>
              <a:prstDash val="solid"/>
              <a:headEnd type="none" w="med" len="med"/>
              <a:tailEnd type="triangle" w="med" len="med"/>
            </a:ln>
          </p:spPr>
        </p:sp>
        <p:sp>
          <p:nvSpPr>
            <p:cNvPr id="1073752589" name="直接连接符 1073752588"/>
            <p:cNvSpPr/>
            <p:nvPr/>
          </p:nvSpPr>
          <p:spPr>
            <a:xfrm>
              <a:off x="7628" y="10068"/>
              <a:ext cx="0" cy="380"/>
            </a:xfrm>
            <a:prstGeom prst="line">
              <a:avLst/>
            </a:prstGeom>
            <a:ln w="9525" cap="flat" cmpd="sng">
              <a:solidFill>
                <a:srgbClr val="000000"/>
              </a:solidFill>
              <a:prstDash val="solid"/>
              <a:headEnd type="none" w="med" len="med"/>
              <a:tailEnd type="triangle" w="med" len="med"/>
            </a:ln>
          </p:spPr>
        </p:sp>
        <p:sp>
          <p:nvSpPr>
            <p:cNvPr id="1073752590" name="直接连接符 1073752589"/>
            <p:cNvSpPr/>
            <p:nvPr/>
          </p:nvSpPr>
          <p:spPr>
            <a:xfrm>
              <a:off x="7631" y="10852"/>
              <a:ext cx="0" cy="380"/>
            </a:xfrm>
            <a:prstGeom prst="line">
              <a:avLst/>
            </a:prstGeom>
            <a:ln w="9525" cap="flat" cmpd="sng">
              <a:solidFill>
                <a:srgbClr val="000000"/>
              </a:solidFill>
              <a:prstDash val="solid"/>
              <a:headEnd type="none" w="med" len="med"/>
              <a:tailEnd type="triangle" w="med" len="med"/>
            </a:ln>
          </p:spPr>
        </p:sp>
        <p:sp>
          <p:nvSpPr>
            <p:cNvPr id="1073752591" name="直接连接符 1073752590"/>
            <p:cNvSpPr/>
            <p:nvPr/>
          </p:nvSpPr>
          <p:spPr>
            <a:xfrm flipH="1">
              <a:off x="7061" y="10821"/>
              <a:ext cx="453" cy="1102"/>
            </a:xfrm>
            <a:prstGeom prst="line">
              <a:avLst/>
            </a:prstGeom>
            <a:ln w="9525" cap="flat" cmpd="sng">
              <a:solidFill>
                <a:srgbClr val="000000"/>
              </a:solidFill>
              <a:prstDash val="solid"/>
              <a:headEnd type="none" w="med" len="med"/>
              <a:tailEnd type="triangle" w="med" len="med"/>
            </a:ln>
          </p:spPr>
        </p:sp>
        <p:sp>
          <p:nvSpPr>
            <p:cNvPr id="1073752592" name="直接连接符 1073752591"/>
            <p:cNvSpPr/>
            <p:nvPr/>
          </p:nvSpPr>
          <p:spPr>
            <a:xfrm flipH="1">
              <a:off x="7217" y="11608"/>
              <a:ext cx="297" cy="380"/>
            </a:xfrm>
            <a:prstGeom prst="line">
              <a:avLst/>
            </a:prstGeom>
            <a:ln w="9525" cap="flat" cmpd="sng">
              <a:solidFill>
                <a:srgbClr val="000000"/>
              </a:solidFill>
              <a:prstDash val="solid"/>
              <a:headEnd type="none" w="med" len="med"/>
              <a:tailEnd type="triangle" w="med" len="med"/>
            </a:ln>
          </p:spPr>
        </p:sp>
        <p:sp>
          <p:nvSpPr>
            <p:cNvPr id="1073752593" name="直接连接符 1073752592"/>
            <p:cNvSpPr/>
            <p:nvPr/>
          </p:nvSpPr>
          <p:spPr>
            <a:xfrm>
              <a:off x="7724" y="11608"/>
              <a:ext cx="315" cy="380"/>
            </a:xfrm>
            <a:prstGeom prst="line">
              <a:avLst/>
            </a:prstGeom>
            <a:ln w="9525" cap="flat" cmpd="sng">
              <a:solidFill>
                <a:srgbClr val="000000"/>
              </a:solidFill>
              <a:prstDash val="solid"/>
              <a:headEnd type="none" w="med" len="med"/>
              <a:tailEnd type="triangle" w="med" len="med"/>
            </a:ln>
          </p:spPr>
        </p:sp>
        <p:sp>
          <p:nvSpPr>
            <p:cNvPr id="1073752594" name="直接连接符 1073752593"/>
            <p:cNvSpPr/>
            <p:nvPr/>
          </p:nvSpPr>
          <p:spPr>
            <a:xfrm flipH="1">
              <a:off x="7259" y="12123"/>
              <a:ext cx="726" cy="0"/>
            </a:xfrm>
            <a:prstGeom prst="line">
              <a:avLst/>
            </a:prstGeom>
            <a:ln w="9525" cap="flat" cmpd="sng">
              <a:solidFill>
                <a:srgbClr val="000000"/>
              </a:solidFill>
              <a:prstDash val="solid"/>
              <a:headEnd type="none" w="med" len="med"/>
              <a:tailEnd type="triangle" w="med" len="med"/>
            </a:ln>
          </p:spPr>
        </p:sp>
        <p:sp>
          <p:nvSpPr>
            <p:cNvPr id="1073752595" name="直接连接符 1073752594"/>
            <p:cNvSpPr/>
            <p:nvPr/>
          </p:nvSpPr>
          <p:spPr>
            <a:xfrm>
              <a:off x="7181" y="12279"/>
              <a:ext cx="315" cy="380"/>
            </a:xfrm>
            <a:prstGeom prst="line">
              <a:avLst/>
            </a:prstGeom>
            <a:ln w="9525" cap="flat" cmpd="sng">
              <a:solidFill>
                <a:srgbClr val="000000"/>
              </a:solidFill>
              <a:prstDash val="solid"/>
              <a:headEnd type="none" w="med" len="med"/>
              <a:tailEnd type="triangle" w="med" len="med"/>
            </a:ln>
          </p:spPr>
        </p:sp>
        <p:sp>
          <p:nvSpPr>
            <p:cNvPr id="1073752596" name="直接连接符 1073752595"/>
            <p:cNvSpPr/>
            <p:nvPr/>
          </p:nvSpPr>
          <p:spPr>
            <a:xfrm flipH="1">
              <a:off x="5726" y="8388"/>
              <a:ext cx="1707" cy="1029"/>
            </a:xfrm>
            <a:prstGeom prst="line">
              <a:avLst/>
            </a:prstGeom>
            <a:ln w="9525" cap="flat" cmpd="sng">
              <a:solidFill>
                <a:srgbClr val="000000"/>
              </a:solidFill>
              <a:prstDash val="solid"/>
              <a:headEnd type="none" w="med" len="med"/>
              <a:tailEnd type="triangle" w="med" len="med"/>
            </a:ln>
          </p:spPr>
        </p:sp>
        <p:sp>
          <p:nvSpPr>
            <p:cNvPr id="1073752597" name="直接连接符 1073752596"/>
            <p:cNvSpPr/>
            <p:nvPr/>
          </p:nvSpPr>
          <p:spPr>
            <a:xfrm flipH="1">
              <a:off x="5768" y="9117"/>
              <a:ext cx="1656" cy="390"/>
            </a:xfrm>
            <a:prstGeom prst="line">
              <a:avLst/>
            </a:prstGeom>
            <a:ln w="9525" cap="flat" cmpd="sng">
              <a:solidFill>
                <a:srgbClr val="000000"/>
              </a:solidFill>
              <a:prstDash val="solid"/>
              <a:headEnd type="none" w="med" len="med"/>
              <a:tailEnd type="triangle" w="med" len="med"/>
            </a:ln>
          </p:spPr>
        </p:sp>
        <p:sp>
          <p:nvSpPr>
            <p:cNvPr id="1073752598" name="直接连接符 1073752597"/>
            <p:cNvSpPr/>
            <p:nvPr/>
          </p:nvSpPr>
          <p:spPr>
            <a:xfrm flipH="1">
              <a:off x="5147" y="9711"/>
              <a:ext cx="288" cy="390"/>
            </a:xfrm>
            <a:prstGeom prst="line">
              <a:avLst/>
            </a:prstGeom>
            <a:ln w="9525" cap="flat" cmpd="sng">
              <a:solidFill>
                <a:srgbClr val="000000"/>
              </a:solidFill>
              <a:prstDash val="solid"/>
              <a:headEnd type="none" w="med" len="med"/>
              <a:tailEnd type="triangle" w="med" len="med"/>
            </a:ln>
          </p:spPr>
        </p:sp>
        <p:sp>
          <p:nvSpPr>
            <p:cNvPr id="1073752599" name="直接连接符 1073752598"/>
            <p:cNvSpPr/>
            <p:nvPr/>
          </p:nvSpPr>
          <p:spPr>
            <a:xfrm>
              <a:off x="5678" y="9735"/>
              <a:ext cx="327" cy="351"/>
            </a:xfrm>
            <a:prstGeom prst="line">
              <a:avLst/>
            </a:prstGeom>
            <a:ln w="9525" cap="flat" cmpd="sng">
              <a:solidFill>
                <a:srgbClr val="000000"/>
              </a:solidFill>
              <a:prstDash val="solid"/>
              <a:headEnd type="none" w="med" len="med"/>
              <a:tailEnd type="triangle" w="med" len="med"/>
            </a:ln>
          </p:spPr>
        </p:sp>
        <p:sp>
          <p:nvSpPr>
            <p:cNvPr id="1073752600" name="直接连接符 1073752599"/>
            <p:cNvSpPr/>
            <p:nvPr/>
          </p:nvSpPr>
          <p:spPr>
            <a:xfrm>
              <a:off x="5126" y="10410"/>
              <a:ext cx="327" cy="351"/>
            </a:xfrm>
            <a:prstGeom prst="line">
              <a:avLst/>
            </a:prstGeom>
            <a:ln w="9525" cap="flat" cmpd="sng">
              <a:solidFill>
                <a:srgbClr val="000000"/>
              </a:solidFill>
              <a:prstDash val="solid"/>
              <a:headEnd type="none" w="med" len="med"/>
              <a:tailEnd type="triangle" w="med" len="med"/>
            </a:ln>
          </p:spPr>
        </p:sp>
        <p:sp>
          <p:nvSpPr>
            <p:cNvPr id="1073752601" name="直接连接符 1073752600"/>
            <p:cNvSpPr/>
            <p:nvPr/>
          </p:nvSpPr>
          <p:spPr>
            <a:xfrm flipH="1">
              <a:off x="5660" y="10371"/>
              <a:ext cx="324" cy="390"/>
            </a:xfrm>
            <a:prstGeom prst="line">
              <a:avLst/>
            </a:prstGeom>
            <a:ln w="9525" cap="flat" cmpd="sng">
              <a:solidFill>
                <a:srgbClr val="000000"/>
              </a:solidFill>
              <a:prstDash val="solid"/>
              <a:headEnd type="none" w="med" len="med"/>
              <a:tailEnd type="triangle" w="med" len="med"/>
            </a:ln>
          </p:spPr>
        </p:sp>
        <p:sp>
          <p:nvSpPr>
            <p:cNvPr id="1073752602" name="任意多边形 1073752601"/>
            <p:cNvSpPr/>
            <p:nvPr/>
          </p:nvSpPr>
          <p:spPr>
            <a:xfrm>
              <a:off x="7829" y="8358"/>
              <a:ext cx="1653" cy="4457"/>
            </a:xfrm>
            <a:custGeom>
              <a:avLst/>
              <a:gdLst/>
              <a:ahLst/>
              <a:cxnLst/>
              <a:rect l="0" t="0" r="0" b="0"/>
              <a:pathLst>
                <a:path w="1653" h="4457">
                  <a:moveTo>
                    <a:pt x="0" y="4457"/>
                  </a:moveTo>
                  <a:cubicBezTo>
                    <a:pt x="168" y="4406"/>
                    <a:pt x="722" y="4363"/>
                    <a:pt x="1011" y="4149"/>
                  </a:cubicBezTo>
                  <a:cubicBezTo>
                    <a:pt x="1300" y="3935"/>
                    <a:pt x="1429" y="3780"/>
                    <a:pt x="1541" y="3367"/>
                  </a:cubicBezTo>
                  <a:cubicBezTo>
                    <a:pt x="1653" y="2954"/>
                    <a:pt x="1575" y="2609"/>
                    <a:pt x="1530" y="2292"/>
                  </a:cubicBezTo>
                  <a:cubicBezTo>
                    <a:pt x="1485" y="1975"/>
                    <a:pt x="1377" y="1710"/>
                    <a:pt x="1268" y="1462"/>
                  </a:cubicBezTo>
                  <a:cubicBezTo>
                    <a:pt x="1159" y="1214"/>
                    <a:pt x="1016" y="991"/>
                    <a:pt x="877" y="803"/>
                  </a:cubicBezTo>
                  <a:cubicBezTo>
                    <a:pt x="738" y="615"/>
                    <a:pt x="577" y="466"/>
                    <a:pt x="433" y="332"/>
                  </a:cubicBezTo>
                  <a:cubicBezTo>
                    <a:pt x="289" y="198"/>
                    <a:pt x="98" y="69"/>
                    <a:pt x="10" y="0"/>
                  </a:cubicBezTo>
                </a:path>
              </a:pathLst>
            </a:custGeom>
            <a:noFill/>
            <a:ln w="9525" cap="flat" cmpd="sng">
              <a:solidFill>
                <a:srgbClr val="000000"/>
              </a:solidFill>
              <a:prstDash val="solid"/>
              <a:headEnd type="none" w="med" len="med"/>
              <a:tailEnd type="triangle" w="med" len="med"/>
            </a:ln>
          </p:spPr>
          <p:txBody>
            <a:bodyPr/>
            <a:lstStyle/>
            <a:p>
              <a:endParaRPr lang="zh-CN" altLang="en-US"/>
            </a:p>
          </p:txBody>
        </p:sp>
        <p:sp>
          <p:nvSpPr>
            <p:cNvPr id="1073752603" name="任意多边形 1073752602"/>
            <p:cNvSpPr/>
            <p:nvPr/>
          </p:nvSpPr>
          <p:spPr>
            <a:xfrm>
              <a:off x="4223" y="7467"/>
              <a:ext cx="3204" cy="3441"/>
            </a:xfrm>
            <a:custGeom>
              <a:avLst/>
              <a:gdLst/>
              <a:ahLst/>
              <a:cxnLst/>
              <a:rect l="0" t="0" r="0" b="0"/>
              <a:pathLst>
                <a:path w="3204" h="3441">
                  <a:moveTo>
                    <a:pt x="1147" y="3441"/>
                  </a:moveTo>
                  <a:cubicBezTo>
                    <a:pt x="998" y="3355"/>
                    <a:pt x="510" y="3292"/>
                    <a:pt x="255" y="2924"/>
                  </a:cubicBezTo>
                  <a:cubicBezTo>
                    <a:pt x="0" y="2556"/>
                    <a:pt x="31" y="1916"/>
                    <a:pt x="195" y="1506"/>
                  </a:cubicBezTo>
                  <a:cubicBezTo>
                    <a:pt x="359" y="1096"/>
                    <a:pt x="547" y="726"/>
                    <a:pt x="1147" y="351"/>
                  </a:cubicBezTo>
                  <a:cubicBezTo>
                    <a:pt x="1613" y="118"/>
                    <a:pt x="2477" y="54"/>
                    <a:pt x="2832" y="27"/>
                  </a:cubicBezTo>
                  <a:cubicBezTo>
                    <a:pt x="3187" y="0"/>
                    <a:pt x="3127" y="16"/>
                    <a:pt x="3204" y="13"/>
                  </a:cubicBezTo>
                </a:path>
              </a:pathLst>
            </a:custGeom>
            <a:noFill/>
            <a:ln w="9525" cap="flat" cmpd="sng">
              <a:solidFill>
                <a:srgbClr val="000000"/>
              </a:solidFill>
              <a:prstDash val="dash"/>
              <a:headEnd type="none" w="med" len="med"/>
              <a:tailEnd type="triangle" w="med" len="med"/>
            </a:ln>
          </p:spPr>
          <p:txBody>
            <a:bodyPr/>
            <a:lstStyle/>
            <a:p>
              <a:endParaRPr lang="zh-CN" altLang="en-US"/>
            </a:p>
          </p:txBody>
        </p:sp>
      </p:grpSp>
    </p:spTree>
  </p:cSld>
  <p:clrMapOvr>
    <a:masterClrMapping/>
  </p:clrMapOvr>
  <p:transition>
    <p:pull dir="rd"/>
  </p:transition>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6</a:t>
              </a:r>
            </a:p>
          </p:txBody>
        </p:sp>
      </p:grpSp>
      <p:sp>
        <p:nvSpPr>
          <p:cNvPr id="40" name="文本框 39"/>
          <p:cNvSpPr txBox="1"/>
          <p:nvPr/>
        </p:nvSpPr>
        <p:spPr>
          <a:xfrm>
            <a:off x="6006465" y="2913380"/>
            <a:ext cx="5995670" cy="87439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软件测试原则和策略</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软件测试原则</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实用测试策略</a:t>
              </a:r>
            </a:p>
          </p:txBody>
        </p:sp>
      </p:grpSp>
    </p:spTree>
  </p:cSld>
  <p:clrMapOvr>
    <a:masterClrMapping/>
  </p:clrMapOvr>
  <p:transition spd="slow">
    <p:wipe/>
  </p:transition>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4.6 </a:t>
            </a:r>
            <a:r>
              <a:rPr lang="zh-CN" altLang="en-US" dirty="0">
                <a:solidFill>
                  <a:srgbClr val="FF0000"/>
                </a:solidFill>
                <a:sym typeface="+mn-ea"/>
              </a:rPr>
              <a:t>软件测试</a:t>
            </a:r>
            <a:r>
              <a:rPr lang="zh-CN" altLang="en-US" dirty="0" smtClean="0">
                <a:solidFill>
                  <a:srgbClr val="FF0000"/>
                </a:solidFill>
                <a:sym typeface="+mn-ea"/>
              </a:rPr>
              <a:t>原则和策略</a:t>
            </a:r>
            <a:endParaRPr lang="zh-CN" altLang="en-US" dirty="0">
              <a:solidFill>
                <a:srgbClr val="FF0000"/>
              </a:solidFill>
            </a:endParaRPr>
          </a:p>
        </p:txBody>
      </p:sp>
      <p:sp>
        <p:nvSpPr>
          <p:cNvPr id="23" name="文本框 44"/>
          <p:cNvSpPr txBox="1"/>
          <p:nvPr/>
        </p:nvSpPr>
        <p:spPr>
          <a:xfrm>
            <a:off x="-158115" y="3863340"/>
            <a:ext cx="309880"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2400" b="1" dirty="0">
                <a:solidFill>
                  <a:schemeClr val="bg1"/>
                </a:solidFill>
                <a:latin typeface="微软雅黑" panose="020B0503020204020204" charset="-122"/>
                <a:ea typeface="微软雅黑" panose="020B0503020204020204" charset="-122"/>
              </a:rPr>
              <a:t>2</a:t>
            </a:r>
          </a:p>
        </p:txBody>
      </p:sp>
      <p:grpSp>
        <p:nvGrpSpPr>
          <p:cNvPr id="81" name="组合 80"/>
          <p:cNvGrpSpPr/>
          <p:nvPr/>
        </p:nvGrpSpPr>
        <p:grpSpPr>
          <a:xfrm>
            <a:off x="213360" y="1859280"/>
            <a:ext cx="11978640" cy="4257756"/>
            <a:chOff x="-21" y="2136"/>
            <a:chExt cx="18345" cy="7323"/>
          </a:xfrm>
        </p:grpSpPr>
        <p:sp>
          <p:nvSpPr>
            <p:cNvPr id="66" name="文本框 44"/>
            <p:cNvSpPr txBox="1"/>
            <p:nvPr/>
          </p:nvSpPr>
          <p:spPr>
            <a:xfrm>
              <a:off x="1010" y="4518"/>
              <a:ext cx="488" cy="730"/>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010" y="7613"/>
              <a:ext cx="488" cy="730"/>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9347" y="2136"/>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5473" y="2136"/>
              <a:ext cx="3874"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11264" y="2776"/>
              <a:ext cx="6835"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11227" y="2698"/>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5</a:t>
              </a:r>
            </a:p>
          </p:txBody>
        </p:sp>
        <p:sp>
          <p:nvSpPr>
            <p:cNvPr id="57" name="文本框 54"/>
            <p:cNvSpPr txBox="1">
              <a:spLocks noChangeArrowheads="1"/>
            </p:cNvSpPr>
            <p:nvPr>
              <p:custDataLst>
                <p:tags r:id="rId5"/>
              </p:custDataLst>
            </p:nvPr>
          </p:nvSpPr>
          <p:spPr bwMode="auto">
            <a:xfrm>
              <a:off x="12390" y="2829"/>
              <a:ext cx="5934" cy="139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穷尽测试不可能，要精心设计测试方案，尽量把软件中的错误测试出来。</a:t>
              </a:r>
              <a:endParaRPr lang="zh-CN" altLang="en-US" sz="1600" dirty="0" smtClean="0">
                <a:latin typeface="Arial" panose="020B0604020202020204" pitchFamily="34" charset="0"/>
                <a:ea typeface="黑体" panose="02010609060101010101" pitchFamily="49" charset="-122"/>
              </a:endParaRPr>
            </a:p>
          </p:txBody>
        </p:sp>
        <p:sp>
          <p:nvSpPr>
            <p:cNvPr id="58" name="圆角矩形 57"/>
            <p:cNvSpPr/>
            <p:nvPr>
              <p:custDataLst>
                <p:tags r:id="rId6"/>
              </p:custDataLst>
            </p:nvPr>
          </p:nvSpPr>
          <p:spPr>
            <a:xfrm>
              <a:off x="10169" y="4467"/>
              <a:ext cx="735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10135" y="439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6</a:t>
              </a:r>
            </a:p>
          </p:txBody>
        </p:sp>
        <p:sp>
          <p:nvSpPr>
            <p:cNvPr id="60" name="文本框 55"/>
            <p:cNvSpPr txBox="1">
              <a:spLocks noChangeArrowheads="1"/>
            </p:cNvSpPr>
            <p:nvPr>
              <p:custDataLst>
                <p:tags r:id="rId8"/>
              </p:custDataLst>
            </p:nvPr>
          </p:nvSpPr>
          <p:spPr bwMode="auto">
            <a:xfrm>
              <a:off x="11211" y="4471"/>
              <a:ext cx="6706" cy="1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Pareto原理：测试发现的错误中的80%很可能是由程序中20%的模块造成的。</a:t>
              </a:r>
              <a:endParaRPr lang="zh-CN" altLang="en-US" sz="1600" dirty="0" smtClean="0">
                <a:latin typeface="Arial" panose="020B0604020202020204" pitchFamily="34" charset="0"/>
                <a:ea typeface="黑体" panose="02010609060101010101" pitchFamily="49" charset="-122"/>
              </a:endParaRPr>
            </a:p>
          </p:txBody>
        </p:sp>
        <p:sp>
          <p:nvSpPr>
            <p:cNvPr id="61" name="圆角矩形 60"/>
            <p:cNvSpPr/>
            <p:nvPr>
              <p:custDataLst>
                <p:tags r:id="rId9"/>
              </p:custDataLst>
            </p:nvPr>
          </p:nvSpPr>
          <p:spPr>
            <a:xfrm>
              <a:off x="9997" y="6168"/>
              <a:ext cx="7523"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9961" y="609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7</a:t>
              </a:r>
            </a:p>
          </p:txBody>
        </p:sp>
        <p:sp>
          <p:nvSpPr>
            <p:cNvPr id="63" name="文本框 56"/>
            <p:cNvSpPr txBox="1">
              <a:spLocks noChangeArrowheads="1"/>
            </p:cNvSpPr>
            <p:nvPr>
              <p:custDataLst>
                <p:tags r:id="rId11"/>
              </p:custDataLst>
            </p:nvPr>
          </p:nvSpPr>
          <p:spPr bwMode="auto">
            <a:xfrm>
              <a:off x="11212" y="6355"/>
              <a:ext cx="6365" cy="1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在软件需求分析阶段，就应制订测试计划。</a:t>
              </a:r>
              <a:endParaRPr lang="zh-CN" altLang="en-US" sz="1600" dirty="0" smtClean="0">
                <a:latin typeface="Arial" panose="020B0604020202020204" pitchFamily="34" charset="0"/>
                <a:ea typeface="黑体" panose="02010609060101010101" pitchFamily="49" charset="-122"/>
              </a:endParaRPr>
            </a:p>
          </p:txBody>
        </p:sp>
        <p:sp>
          <p:nvSpPr>
            <p:cNvPr id="64" name="圆角矩形 63"/>
            <p:cNvSpPr/>
            <p:nvPr>
              <p:custDataLst>
                <p:tags r:id="rId12"/>
              </p:custDataLst>
            </p:nvPr>
          </p:nvSpPr>
          <p:spPr>
            <a:xfrm>
              <a:off x="11384" y="7959"/>
              <a:ext cx="6714"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11350" y="788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8</a:t>
              </a:r>
            </a:p>
          </p:txBody>
        </p:sp>
        <p:sp>
          <p:nvSpPr>
            <p:cNvPr id="67" name="文本框 57"/>
            <p:cNvSpPr txBox="1">
              <a:spLocks noChangeArrowheads="1"/>
            </p:cNvSpPr>
            <p:nvPr>
              <p:custDataLst>
                <p:tags r:id="rId14"/>
              </p:custDataLst>
            </p:nvPr>
          </p:nvSpPr>
          <p:spPr bwMode="auto">
            <a:xfrm>
              <a:off x="12492" y="8033"/>
              <a:ext cx="5426" cy="13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应长期保存所有的测试用例，直至该程序被废弃。</a:t>
              </a:r>
              <a:endParaRPr lang="zh-CN" altLang="en-US" sz="1600" b="1" dirty="0">
                <a:latin typeface="+mn-lt"/>
                <a:ea typeface="+mn-ea"/>
              </a:endParaRPr>
            </a:p>
          </p:txBody>
        </p:sp>
        <p:sp>
          <p:nvSpPr>
            <p:cNvPr id="68" name="圆角矩形 67"/>
            <p:cNvSpPr/>
            <p:nvPr>
              <p:custDataLst>
                <p:tags r:id="rId15"/>
              </p:custDataLst>
            </p:nvPr>
          </p:nvSpPr>
          <p:spPr>
            <a:xfrm rot="10800000">
              <a:off x="164" y="2777"/>
              <a:ext cx="7248"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6372" y="2698"/>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1</a:t>
              </a:r>
            </a:p>
          </p:txBody>
        </p:sp>
        <p:sp>
          <p:nvSpPr>
            <p:cNvPr id="70" name="文本框 59"/>
            <p:cNvSpPr txBox="1">
              <a:spLocks noChangeArrowheads="1"/>
            </p:cNvSpPr>
            <p:nvPr>
              <p:custDataLst>
                <p:tags r:id="rId17"/>
              </p:custDataLst>
            </p:nvPr>
          </p:nvSpPr>
          <p:spPr bwMode="auto">
            <a:xfrm>
              <a:off x="323" y="2776"/>
              <a:ext cx="6048" cy="99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fontAlgn="auto">
                <a:lnSpc>
                  <a:spcPct val="100000"/>
                </a:lnSpc>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最好不要由设计、编写某个软件的部门来测试该软件系统。</a:t>
              </a:r>
              <a:endParaRPr lang="zh-CN" altLang="en-US" sz="1600" dirty="0" smtClean="0">
                <a:latin typeface="Arial" panose="020B0604020202020204" pitchFamily="34" charset="0"/>
                <a:ea typeface="黑体" panose="02010609060101010101" pitchFamily="49" charset="-122"/>
              </a:endParaRPr>
            </a:p>
          </p:txBody>
        </p:sp>
        <p:sp>
          <p:nvSpPr>
            <p:cNvPr id="71" name="圆角矩形 70"/>
            <p:cNvSpPr/>
            <p:nvPr>
              <p:custDataLst>
                <p:tags r:id="rId18"/>
              </p:custDataLst>
            </p:nvPr>
          </p:nvSpPr>
          <p:spPr>
            <a:xfrm rot="10800000">
              <a:off x="1270" y="4471"/>
              <a:ext cx="7236"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7465" y="439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2</a:t>
              </a:r>
            </a:p>
          </p:txBody>
        </p:sp>
        <p:sp>
          <p:nvSpPr>
            <p:cNvPr id="73" name="文本框 60"/>
            <p:cNvSpPr txBox="1">
              <a:spLocks noChangeArrowheads="1"/>
            </p:cNvSpPr>
            <p:nvPr>
              <p:custDataLst>
                <p:tags r:id="rId20"/>
              </p:custDataLst>
            </p:nvPr>
          </p:nvSpPr>
          <p:spPr bwMode="auto">
            <a:xfrm>
              <a:off x="1640" y="4541"/>
              <a:ext cx="5787" cy="1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测试用例既要有输入数据，又要有对应的预期结果。</a:t>
              </a:r>
              <a:endParaRPr lang="zh-CN" altLang="en-US" sz="1600" dirty="0" smtClean="0">
                <a:latin typeface="Arial" panose="020B0604020202020204" pitchFamily="34" charset="0"/>
                <a:ea typeface="黑体" panose="02010609060101010101" pitchFamily="49" charset="-122"/>
              </a:endParaRPr>
            </a:p>
          </p:txBody>
        </p:sp>
        <p:sp>
          <p:nvSpPr>
            <p:cNvPr id="74" name="圆角矩形 73"/>
            <p:cNvSpPr/>
            <p:nvPr>
              <p:custDataLst>
                <p:tags r:id="rId21"/>
              </p:custDataLst>
            </p:nvPr>
          </p:nvSpPr>
          <p:spPr>
            <a:xfrm rot="10800000">
              <a:off x="1270" y="6171"/>
              <a:ext cx="747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7703" y="6093"/>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3</a:t>
              </a:r>
            </a:p>
          </p:txBody>
        </p:sp>
        <p:sp>
          <p:nvSpPr>
            <p:cNvPr id="76" name="文本框 61"/>
            <p:cNvSpPr txBox="1">
              <a:spLocks noChangeArrowheads="1"/>
            </p:cNvSpPr>
            <p:nvPr>
              <p:custDataLst>
                <p:tags r:id="rId23"/>
              </p:custDataLst>
            </p:nvPr>
          </p:nvSpPr>
          <p:spPr bwMode="auto">
            <a:xfrm>
              <a:off x="1640" y="6172"/>
              <a:ext cx="5929" cy="14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不仅要输入合理的输入数据，还应选用不合理的输入作为测试用例。</a:t>
              </a:r>
              <a:endParaRPr lang="zh-CN" altLang="en-US" sz="1600" dirty="0" smtClean="0">
                <a:latin typeface="Arial" panose="020B0604020202020204" pitchFamily="34" charset="0"/>
                <a:ea typeface="黑体" panose="02010609060101010101" pitchFamily="49" charset="-122"/>
              </a:endParaRPr>
            </a:p>
          </p:txBody>
        </p:sp>
        <p:sp>
          <p:nvSpPr>
            <p:cNvPr id="77" name="圆角矩形 76"/>
            <p:cNvSpPr/>
            <p:nvPr>
              <p:custDataLst>
                <p:tags r:id="rId24"/>
              </p:custDataLst>
            </p:nvPr>
          </p:nvSpPr>
          <p:spPr>
            <a:xfrm rot="10800000">
              <a:off x="-21" y="7956"/>
              <a:ext cx="734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6282" y="788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lnSpcReduction="1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4</a:t>
              </a:r>
            </a:p>
          </p:txBody>
        </p:sp>
        <p:sp>
          <p:nvSpPr>
            <p:cNvPr id="79" name="文本框 62"/>
            <p:cNvSpPr txBox="1">
              <a:spLocks noChangeArrowheads="1"/>
            </p:cNvSpPr>
            <p:nvPr>
              <p:custDataLst>
                <p:tags r:id="rId26"/>
              </p:custDataLst>
            </p:nvPr>
          </p:nvSpPr>
          <p:spPr bwMode="auto">
            <a:xfrm>
              <a:off x="329" y="8037"/>
              <a:ext cx="5998" cy="120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600" dirty="0">
                  <a:solidFill>
                    <a:schemeClr val="accent6">
                      <a:lumMod val="50000"/>
                    </a:schemeClr>
                  </a:solidFill>
                  <a:latin typeface="微软雅黑" panose="020B0503020204020204" charset="-122"/>
                  <a:ea typeface="微软雅黑" panose="020B0503020204020204" charset="-122"/>
                  <a:sym typeface="+mn-ea"/>
                </a:rPr>
                <a:t>除了检查程序是否做了应做的工作，还应检查程序是否做了它不应做的工作。</a:t>
              </a:r>
              <a:endParaRPr lang="zh-CN" altLang="en-US" sz="1600" b="1" dirty="0">
                <a:latin typeface="+mn-lt"/>
                <a:ea typeface="+mn-ea"/>
              </a:endParaRPr>
            </a:p>
          </p:txBody>
        </p:sp>
      </p:grpSp>
      <p:sp>
        <p:nvSpPr>
          <p:cNvPr id="33"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4.6.1 </a:t>
            </a:r>
            <a:r>
              <a:rPr lang="zh-CN" altLang="en-US" sz="2400" dirty="0" smtClean="0">
                <a:solidFill>
                  <a:schemeClr val="tx1"/>
                </a:solidFill>
              </a:rPr>
              <a:t>软件测试原则</a:t>
            </a:r>
          </a:p>
        </p:txBody>
      </p:sp>
    </p:spTree>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4.6 </a:t>
            </a:r>
            <a:r>
              <a:rPr lang="zh-CN" altLang="en-US" dirty="0" smtClean="0">
                <a:solidFill>
                  <a:srgbClr val="FF0000"/>
                </a:solidFill>
                <a:sym typeface="+mn-ea"/>
              </a:rPr>
              <a:t>软件测试原则和策略</a:t>
            </a:r>
            <a:endParaRPr lang="zh-CN" altLang="en-US" dirty="0">
              <a:solidFill>
                <a:srgbClr val="FF0000"/>
              </a:solidFill>
            </a:endParaRPr>
          </a:p>
        </p:txBody>
      </p:sp>
      <p:sp>
        <p:nvSpPr>
          <p:cNvPr id="7" name="文本框 6"/>
          <p:cNvSpPr txBox="1"/>
          <p:nvPr/>
        </p:nvSpPr>
        <p:spPr>
          <a:xfrm>
            <a:off x="754380" y="293116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实用测试策略</a:t>
            </a:r>
          </a:p>
        </p:txBody>
      </p:sp>
      <p:grpSp>
        <p:nvGrpSpPr>
          <p:cNvPr id="23" name="组合 22"/>
          <p:cNvGrpSpPr/>
          <p:nvPr/>
        </p:nvGrpSpPr>
        <p:grpSpPr>
          <a:xfrm>
            <a:off x="784860" y="2171065"/>
            <a:ext cx="4896485" cy="905510"/>
            <a:chOff x="1923" y="3755"/>
            <a:chExt cx="7711" cy="1426"/>
          </a:xfrm>
        </p:grpSpPr>
        <p:sp>
          <p:nvSpPr>
            <p:cNvPr id="6" name="MH_Other_1"/>
            <p:cNvSpPr>
              <a:spLocks noChangeArrowheads="1"/>
            </p:cNvSpPr>
            <p:nvPr>
              <p:custDataLst>
                <p:tags r:id="rId2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4" name="MH_Other_2"/>
            <p:cNvSpPr>
              <a:spLocks noChangeArrowheads="1"/>
            </p:cNvSpPr>
            <p:nvPr>
              <p:custDataLst>
                <p:tags r:id="rId2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2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2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25"/>
              </p:custDataLst>
            </p:nvPr>
          </p:nvSpPr>
          <p:spPr>
            <a:xfrm>
              <a:off x="4723" y="3838"/>
              <a:ext cx="4911" cy="1254"/>
            </a:xfrm>
            <a:prstGeom prst="rect">
              <a:avLst/>
            </a:prstGeom>
          </p:spPr>
          <p:txBody>
            <a:bodyPr lIns="0" tIns="0" rIns="0" bIns="0" anchor="ctr">
              <a:noAutofit/>
            </a:bodyPr>
            <a:lstStyle/>
            <a:p>
              <a:pPr marL="0" indent="0" algn="l" fontAlgn="auto">
                <a:lnSpc>
                  <a:spcPct val="130000"/>
                </a:lnSpc>
              </a:pPr>
              <a:r>
                <a:rPr lang="zh-CN" altLang="en-US" sz="1600" dirty="0" smtClean="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用因果图法检查规范。</a:t>
              </a:r>
              <a:endParaRPr lang="zh-CN" altLang="en-US" dirty="0" smtClean="0">
                <a:solidFill>
                  <a:schemeClr val="tx1"/>
                </a:solidFill>
                <a:latin typeface="微软雅黑" panose="020B0503020204020204" charset="-122"/>
                <a:ea typeface="微软雅黑" panose="020B0503020204020204" charset="-122"/>
                <a:sym typeface="+mn-ea"/>
              </a:endParaRPr>
            </a:p>
          </p:txBody>
        </p:sp>
      </p:grpSp>
      <p:grpSp>
        <p:nvGrpSpPr>
          <p:cNvPr id="22" name="组合 21"/>
          <p:cNvGrpSpPr/>
          <p:nvPr/>
        </p:nvGrpSpPr>
        <p:grpSpPr>
          <a:xfrm>
            <a:off x="788120" y="4981414"/>
            <a:ext cx="4822190" cy="905510"/>
            <a:chOff x="7484" y="7718"/>
            <a:chExt cx="7594" cy="1426"/>
          </a:xfrm>
        </p:grpSpPr>
        <p:sp>
          <p:nvSpPr>
            <p:cNvPr id="11" name="MH_Other_5"/>
            <p:cNvSpPr>
              <a:spLocks noChangeArrowheads="1"/>
            </p:cNvSpPr>
            <p:nvPr>
              <p:custDataLst>
                <p:tags r:id="rId1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1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1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1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20"/>
              </p:custDataLst>
            </p:nvPr>
          </p:nvSpPr>
          <p:spPr>
            <a:xfrm>
              <a:off x="10226" y="7801"/>
              <a:ext cx="4852" cy="1254"/>
            </a:xfrm>
            <a:prstGeom prst="rect">
              <a:avLst/>
            </a:prstGeom>
          </p:spPr>
          <p:txBody>
            <a:bodyPr lIns="0" tIns="0" rIns="0" bIns="0" anchor="ctr">
              <a:noAutofit/>
            </a:bodyPr>
            <a:lstStyle/>
            <a:p>
              <a:pPr marL="0" indent="0" algn="l" fontAlgn="auto">
                <a:lnSpc>
                  <a:spcPct val="130000"/>
                </a:lnSpc>
              </a:pPr>
              <a:r>
                <a:rPr lang="en-US" altLang="zh-CN" dirty="0" smtClean="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使用边界值分析方法，既测试输入数据的边界情况又检查输出数据的边界情况。</a:t>
              </a:r>
              <a:endParaRPr lang="zh-CN" altLang="en-US" dirty="0" smtClean="0">
                <a:solidFill>
                  <a:schemeClr val="tx1"/>
                </a:solidFill>
                <a:latin typeface="微软雅黑" panose="020B0503020204020204" charset="-122"/>
                <a:ea typeface="微软雅黑" panose="020B0503020204020204" charset="-122"/>
                <a:sym typeface="+mn-ea"/>
              </a:endParaRPr>
            </a:p>
          </p:txBody>
        </p:sp>
      </p:grpSp>
      <p:grpSp>
        <p:nvGrpSpPr>
          <p:cNvPr id="21" name="组合 20"/>
          <p:cNvGrpSpPr/>
          <p:nvPr/>
        </p:nvGrpSpPr>
        <p:grpSpPr>
          <a:xfrm>
            <a:off x="784860" y="3528060"/>
            <a:ext cx="4899660" cy="905510"/>
            <a:chOff x="4731" y="5756"/>
            <a:chExt cx="7716" cy="1426"/>
          </a:xfrm>
        </p:grpSpPr>
        <p:sp>
          <p:nvSpPr>
            <p:cNvPr id="5" name="MH_Other_9"/>
            <p:cNvSpPr>
              <a:spLocks noChangeArrowheads="1"/>
            </p:cNvSpPr>
            <p:nvPr>
              <p:custDataLst>
                <p:tags r:id="rId1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1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5"/>
              </p:custDataLst>
            </p:nvPr>
          </p:nvSpPr>
          <p:spPr>
            <a:xfrm>
              <a:off x="7560" y="5839"/>
              <a:ext cx="4887" cy="1254"/>
            </a:xfrm>
            <a:prstGeom prst="rect">
              <a:avLst/>
            </a:prstGeom>
          </p:spPr>
          <p:txBody>
            <a:bodyPr lIns="0" tIns="0" rIns="0" bIns="0" anchor="ctr">
              <a:noAutofit/>
            </a:bodyPr>
            <a:lstStyle/>
            <a:p>
              <a:pPr marL="0" indent="0" algn="l" fontAlgn="auto">
                <a:lnSpc>
                  <a:spcPct val="130000"/>
                </a:lnSpc>
              </a:pPr>
              <a:r>
                <a:rPr lang="en-US" altLang="zh-CN" dirty="0" smtClean="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用等价类划分法补充测试方案。</a:t>
              </a:r>
              <a:endParaRPr lang="zh-CN" altLang="en-US" dirty="0" smtClean="0">
                <a:solidFill>
                  <a:schemeClr val="tx1"/>
                </a:solidFill>
                <a:latin typeface="微软雅黑" panose="020B0503020204020204" charset="-122"/>
                <a:ea typeface="微软雅黑" panose="020B0503020204020204" charset="-122"/>
                <a:sym typeface="+mn-ea"/>
              </a:endParaRPr>
            </a:p>
          </p:txBody>
        </p:sp>
      </p:grpSp>
      <p:grpSp>
        <p:nvGrpSpPr>
          <p:cNvPr id="24" name="组合 23"/>
          <p:cNvGrpSpPr/>
          <p:nvPr/>
        </p:nvGrpSpPr>
        <p:grpSpPr>
          <a:xfrm>
            <a:off x="6167613" y="2756839"/>
            <a:ext cx="4711700" cy="905510"/>
            <a:chOff x="7484" y="7718"/>
            <a:chExt cx="7420" cy="1426"/>
          </a:xfrm>
        </p:grpSpPr>
        <p:sp>
          <p:nvSpPr>
            <p:cNvPr id="25" name="MH_Other_5"/>
            <p:cNvSpPr>
              <a:spLocks noChangeArrowheads="1"/>
            </p:cNvSpPr>
            <p:nvPr>
              <p:custDataLst>
                <p:tags r:id="rId6"/>
              </p:custDataLst>
            </p:nvPr>
          </p:nvSpPr>
          <p:spPr bwMode="auto">
            <a:xfrm>
              <a:off x="7484" y="7718"/>
              <a:ext cx="1119" cy="779"/>
            </a:xfrm>
            <a:prstGeom prst="rect">
              <a:avLst/>
            </a:prstGeom>
            <a:solidFill>
              <a:schemeClr val="accent6">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7"/>
              </p:custDataLst>
            </p:nvPr>
          </p:nvSpPr>
          <p:spPr bwMode="auto">
            <a:xfrm>
              <a:off x="8666" y="7880"/>
              <a:ext cx="887" cy="617"/>
            </a:xfrm>
            <a:prstGeom prst="rect">
              <a:avLst/>
            </a:prstGeom>
            <a:solidFill>
              <a:schemeClr val="accent6">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8"/>
              </p:custDataLst>
            </p:nvPr>
          </p:nvSpPr>
          <p:spPr bwMode="auto">
            <a:xfrm>
              <a:off x="7737" y="8541"/>
              <a:ext cx="866" cy="603"/>
            </a:xfrm>
            <a:prstGeom prst="rect">
              <a:avLst/>
            </a:prstGeom>
            <a:solidFill>
              <a:schemeClr val="accent6">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9"/>
              </p:custDataLst>
            </p:nvPr>
          </p:nvSpPr>
          <p:spPr bwMode="auto">
            <a:xfrm>
              <a:off x="8666" y="8541"/>
              <a:ext cx="1119" cy="514"/>
            </a:xfrm>
            <a:prstGeom prst="rect">
              <a:avLst/>
            </a:prstGeom>
            <a:solidFill>
              <a:schemeClr val="accent6">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9" name="MH_SubTitle_3"/>
            <p:cNvSpPr/>
            <p:nvPr>
              <p:custDataLst>
                <p:tags r:id="rId10"/>
              </p:custDataLst>
            </p:nvPr>
          </p:nvSpPr>
          <p:spPr>
            <a:xfrm>
              <a:off x="10226" y="7718"/>
              <a:ext cx="4678" cy="1254"/>
            </a:xfrm>
            <a:prstGeom prst="rect">
              <a:avLst/>
            </a:prstGeom>
          </p:spPr>
          <p:txBody>
            <a:bodyPr lIns="0" tIns="0" rIns="0" bIns="0" anchor="ctr">
              <a:noAutofit/>
            </a:bodyPr>
            <a:lstStyle/>
            <a:p>
              <a:pPr>
                <a:lnSpc>
                  <a:spcPct val="130000"/>
                </a:lnSpc>
                <a:defRPr/>
              </a:pPr>
              <a:r>
                <a:rPr lang="en-US" altLang="zh-CN" dirty="0" smtClean="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必要时用错误推断法补充测试方案。</a:t>
              </a:r>
              <a:endParaRPr lang="zh-CN" altLang="en-US" dirty="0" smtClean="0">
                <a:solidFill>
                  <a:schemeClr val="tx1"/>
                </a:solidFill>
                <a:latin typeface="微软雅黑" panose="020B0503020204020204" charset="-122"/>
                <a:ea typeface="微软雅黑" panose="020B0503020204020204" charset="-122"/>
                <a:sym typeface="+mn-ea"/>
              </a:endParaRPr>
            </a:p>
          </p:txBody>
        </p:sp>
      </p:grpSp>
      <p:grpSp>
        <p:nvGrpSpPr>
          <p:cNvPr id="30" name="组合 29"/>
          <p:cNvGrpSpPr/>
          <p:nvPr/>
        </p:nvGrpSpPr>
        <p:grpSpPr>
          <a:xfrm>
            <a:off x="6227786" y="4487070"/>
            <a:ext cx="5225415" cy="905510"/>
            <a:chOff x="7484" y="7718"/>
            <a:chExt cx="8229" cy="1426"/>
          </a:xfrm>
        </p:grpSpPr>
        <p:sp>
          <p:nvSpPr>
            <p:cNvPr id="31" name="MH_Other_5"/>
            <p:cNvSpPr>
              <a:spLocks noChangeArrowheads="1"/>
            </p:cNvSpPr>
            <p:nvPr>
              <p:custDataLst>
                <p:tags r:id="rId1"/>
              </p:custDataLst>
            </p:nvPr>
          </p:nvSpPr>
          <p:spPr bwMode="auto">
            <a:xfrm>
              <a:off x="7484" y="7718"/>
              <a:ext cx="1119" cy="779"/>
            </a:xfrm>
            <a:prstGeom prst="rect">
              <a:avLst/>
            </a:prstGeom>
            <a:solidFill>
              <a:schemeClr val="accent2">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5</a:t>
              </a:r>
            </a:p>
          </p:txBody>
        </p:sp>
        <p:sp>
          <p:nvSpPr>
            <p:cNvPr id="32" name="MH_Other_6"/>
            <p:cNvSpPr>
              <a:spLocks noChangeArrowheads="1"/>
            </p:cNvSpPr>
            <p:nvPr>
              <p:custDataLst>
                <p:tags r:id="rId2"/>
              </p:custDataLst>
            </p:nvPr>
          </p:nvSpPr>
          <p:spPr bwMode="auto">
            <a:xfrm>
              <a:off x="8666" y="7880"/>
              <a:ext cx="887" cy="617"/>
            </a:xfrm>
            <a:prstGeom prst="rect">
              <a:avLst/>
            </a:prstGeom>
            <a:solidFill>
              <a:schemeClr val="accent2">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7"/>
            <p:cNvSpPr>
              <a:spLocks noChangeArrowheads="1"/>
            </p:cNvSpPr>
            <p:nvPr>
              <p:custDataLst>
                <p:tags r:id="rId3"/>
              </p:custDataLst>
            </p:nvPr>
          </p:nvSpPr>
          <p:spPr bwMode="auto">
            <a:xfrm>
              <a:off x="7737" y="8541"/>
              <a:ext cx="866" cy="603"/>
            </a:xfrm>
            <a:prstGeom prst="rect">
              <a:avLst/>
            </a:prstGeom>
            <a:solidFill>
              <a:schemeClr val="accent2">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8"/>
            <p:cNvSpPr>
              <a:spLocks noChangeArrowheads="1"/>
            </p:cNvSpPr>
            <p:nvPr>
              <p:custDataLst>
                <p:tags r:id="rId4"/>
              </p:custDataLst>
            </p:nvPr>
          </p:nvSpPr>
          <p:spPr bwMode="auto">
            <a:xfrm>
              <a:off x="8666" y="8541"/>
              <a:ext cx="1119" cy="514"/>
            </a:xfrm>
            <a:prstGeom prst="rect">
              <a:avLst/>
            </a:prstGeom>
            <a:solidFill>
              <a:schemeClr val="accent2">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SubTitle_3"/>
            <p:cNvSpPr/>
            <p:nvPr>
              <p:custDataLst>
                <p:tags r:id="rId5"/>
              </p:custDataLst>
            </p:nvPr>
          </p:nvSpPr>
          <p:spPr>
            <a:xfrm>
              <a:off x="10226" y="7718"/>
              <a:ext cx="5487" cy="1254"/>
            </a:xfrm>
            <a:prstGeom prst="rect">
              <a:avLst/>
            </a:prstGeom>
          </p:spPr>
          <p:txBody>
            <a:bodyPr lIns="0" tIns="0" rIns="0" bIns="0" anchor="ctr">
              <a:noAutofit/>
            </a:bodyPr>
            <a:lstStyle/>
            <a:p>
              <a:pPr marL="0" indent="0" algn="l" fontAlgn="auto">
                <a:lnSpc>
                  <a:spcPct val="130000"/>
                </a:lnSpc>
              </a:pPr>
              <a:r>
                <a:rPr lang="en-US" altLang="zh-CN" dirty="0" smtClean="0">
                  <a:solidFill>
                    <a:srgbClr val="000000"/>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用逻辑覆盖法检查现有测试方案，若没有达到逻辑覆盖标准，应再补充一些测试方案。</a:t>
              </a:r>
              <a:endParaRPr lang="zh-CN" altLang="en-US" dirty="0" smtClean="0">
                <a:solidFill>
                  <a:schemeClr val="tx1"/>
                </a:solidFill>
                <a:latin typeface="微软雅黑" panose="020B0503020204020204" charset="-122"/>
                <a:ea typeface="微软雅黑" panose="020B0503020204020204" charset="-122"/>
                <a:sym typeface="+mn-ea"/>
              </a:endParaRPr>
            </a:p>
          </p:txBody>
        </p:sp>
      </p:grpSp>
      <p:sp>
        <p:nvSpPr>
          <p:cNvPr id="3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4.6.2 </a:t>
            </a:r>
            <a:r>
              <a:rPr lang="zh-CN" altLang="en-US" sz="2400" dirty="0" smtClean="0">
                <a:solidFill>
                  <a:schemeClr val="tx1"/>
                </a:solidFill>
              </a:rPr>
              <a:t>实用测试策略</a:t>
            </a:r>
          </a:p>
        </p:txBody>
      </p:sp>
    </p:spTree>
  </p:cSld>
  <p:clrMapOvr>
    <a:masterClrMapping/>
  </p:clrMapOvr>
  <p:transition>
    <p:wheel spokes="3"/>
  </p:transition>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7</a:t>
              </a:r>
            </a:p>
          </p:txBody>
        </p:sp>
      </p:grpSp>
      <p:sp>
        <p:nvSpPr>
          <p:cNvPr id="40" name="文本框 39"/>
          <p:cNvSpPr txBox="1"/>
          <p:nvPr/>
        </p:nvSpPr>
        <p:spPr>
          <a:xfrm>
            <a:off x="6006555" y="2913198"/>
            <a:ext cx="5137150" cy="160591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软件调试、验证与确认</a:t>
            </a:r>
          </a:p>
        </p:txBody>
      </p:sp>
      <p:grpSp>
        <p:nvGrpSpPr>
          <p:cNvPr id="11" name="组合 10"/>
          <p:cNvGrpSpPr/>
          <p:nvPr/>
        </p:nvGrpSpPr>
        <p:grpSpPr>
          <a:xfrm>
            <a:off x="6006465" y="4734560"/>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软件调试方法和技术</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软件验证</a:t>
              </a:r>
            </a:p>
          </p:txBody>
        </p:sp>
      </p:grpSp>
      <p:sp>
        <p:nvSpPr>
          <p:cNvPr id="3" name="文本框 2"/>
          <p:cNvSpPr txBox="1"/>
          <p:nvPr/>
        </p:nvSpPr>
        <p:spPr>
          <a:xfrm>
            <a:off x="6006465" y="573976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软件确认</a:t>
            </a:r>
          </a:p>
        </p:txBody>
      </p:sp>
    </p:spTree>
  </p:cSld>
  <p:clrMapOvr>
    <a:masterClrMapping/>
  </p:clrMapOvr>
  <p:transition spd="slow">
    <p:wipe/>
  </p:transition>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en-US" dirty="0">
              <a:solidFill>
                <a:srgbClr val="FF0000"/>
              </a:solidFill>
              <a:sym typeface="+mn-ea"/>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软件调试</a:t>
            </a:r>
          </a:p>
        </p:txBody>
      </p:sp>
      <p:sp>
        <p:nvSpPr>
          <p:cNvPr id="100" name="文本框 99"/>
          <p:cNvSpPr txBox="1"/>
          <p:nvPr/>
        </p:nvSpPr>
        <p:spPr>
          <a:xfrm>
            <a:off x="1579245" y="2131060"/>
            <a:ext cx="9691370" cy="3333220"/>
          </a:xfrm>
          <a:prstGeom prst="rect">
            <a:avLst/>
          </a:prstGeom>
          <a:noFill/>
          <a:ln w="9525">
            <a:noFill/>
          </a:ln>
        </p:spPr>
        <p:txBody>
          <a:bodyPr wrap="square">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软件调试往往在软件测试后进行。</a:t>
            </a:r>
            <a:r>
              <a:rPr dirty="0">
                <a:solidFill>
                  <a:srgbClr val="C00000"/>
                </a:solidFill>
                <a:latin typeface="微软雅黑" panose="020B0503020204020204" charset="-122"/>
                <a:ea typeface="微软雅黑" panose="020B0503020204020204" charset="-122"/>
                <a:sym typeface="+mn-ea"/>
              </a:rPr>
              <a:t>软件调试是查找、分析和纠正程序中错误的过程。</a:t>
            </a:r>
          </a:p>
          <a:p>
            <a:pPr marL="0" indent="0" algn="l" fontAlgn="auto">
              <a:lnSpc>
                <a:spcPct val="130000"/>
              </a:lnSpc>
            </a:pPr>
            <a:r>
              <a:rPr dirty="0">
                <a:latin typeface="微软雅黑" panose="020B0503020204020204" charset="-122"/>
                <a:ea typeface="微软雅黑" panose="020B0503020204020204" charset="-122"/>
                <a:sym typeface="+mn-ea"/>
              </a:rPr>
              <a:t>       软件调试可将软件测试和纠错结合起来。</a:t>
            </a:r>
            <a:r>
              <a:rPr dirty="0">
                <a:solidFill>
                  <a:srgbClr val="00B050"/>
                </a:solidFill>
                <a:latin typeface="微软雅黑" panose="020B0503020204020204" charset="-122"/>
                <a:ea typeface="微软雅黑" panose="020B0503020204020204" charset="-122"/>
                <a:sym typeface="+mn-ea"/>
              </a:rPr>
              <a:t>首先进行软件测试，找出错误所在的“面”，发现哪个模块、哪段程序有错；第二步是纠错，要确定错误发生的“点”，确定错误的确切位置和错误的原因并改正错误。</a:t>
            </a:r>
          </a:p>
          <a:p>
            <a:pPr marL="0" indent="0" algn="l" fontAlgn="auto">
              <a:lnSpc>
                <a:spcPct val="130000"/>
              </a:lnSpc>
            </a:pPr>
            <a:r>
              <a:rPr dirty="0">
                <a:latin typeface="微软雅黑" panose="020B0503020204020204" charset="-122"/>
                <a:ea typeface="微软雅黑" panose="020B0503020204020204" charset="-122"/>
                <a:sym typeface="+mn-ea"/>
              </a:rPr>
              <a:t>       纠错主要靠分析与错误有关的信息。可对已查出的错误，先列出所有可能的错误原因，利用测试数据排除一些原因，然后证明、确定错误原因。也可把错误情况收集起来，分析它们之间的相互关系，找出其中的规律，以便找出错误原因。如果没有找到错误的原因，调试人员可以猜想一个原因，然后验证这个假设，反复此过程，直到找到原因。纠错也可采用一些自动纠错工具作为辅助手段。</a:t>
            </a:r>
          </a:p>
        </p:txBody>
      </p:sp>
      <p:sp>
        <p:nvSpPr>
          <p:cNvPr id="7" name="文本框 6"/>
          <p:cNvSpPr txBox="1"/>
          <p:nvPr/>
        </p:nvSpPr>
        <p:spPr>
          <a:xfrm>
            <a:off x="768971" y="2334895"/>
            <a:ext cx="461665" cy="3062698"/>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4.7.1 </a:t>
            </a:r>
            <a:r>
              <a:rPr lang="zh-CN" altLang="en-US" spc="160" dirty="0" smtClean="0">
                <a:solidFill>
                  <a:schemeClr val="bg1"/>
                </a:solidFill>
                <a:latin typeface="微软雅黑" panose="020B0503020204020204" charset="-122"/>
                <a:ea typeface="微软雅黑" panose="020B0503020204020204" charset="-122"/>
              </a:rPr>
              <a:t>软件调试方法和技术</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diamond/>
  </p:transition>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4.7.1 </a:t>
            </a:r>
            <a:r>
              <a:rPr lang="zh-CN" altLang="en-US" sz="2400" dirty="0" smtClean="0">
                <a:solidFill>
                  <a:schemeClr val="tx1"/>
                </a:solidFill>
              </a:rPr>
              <a:t>软件调试方法和技术</a:t>
            </a:r>
          </a:p>
        </p:txBody>
      </p:sp>
      <p:grpSp>
        <p:nvGrpSpPr>
          <p:cNvPr id="14" name="组合 13"/>
          <p:cNvGrpSpPr/>
          <p:nvPr/>
        </p:nvGrpSpPr>
        <p:grpSpPr>
          <a:xfrm>
            <a:off x="869315" y="2603732"/>
            <a:ext cx="10019665" cy="982980"/>
            <a:chOff x="1188" y="3092"/>
            <a:chExt cx="15779" cy="1548"/>
          </a:xfrm>
        </p:grpSpPr>
        <p:grpSp>
          <p:nvGrpSpPr>
            <p:cNvPr id="5" name="组合 4"/>
            <p:cNvGrpSpPr/>
            <p:nvPr/>
          </p:nvGrpSpPr>
          <p:grpSpPr>
            <a:xfrm>
              <a:off x="1188" y="3092"/>
              <a:ext cx="12242" cy="930"/>
              <a:chOff x="508000" y="3196191"/>
              <a:chExt cx="777359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1</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732084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sym typeface="+mn-ea"/>
                  </a:rPr>
                  <a:t>对计算机工作过程进行模仿或跟踪</a:t>
                </a:r>
                <a:endParaRPr lang="zh-CN" altLang="en-US" b="1" dirty="0">
                  <a:solidFill>
                    <a:srgbClr val="E67819"/>
                  </a:solidFill>
                  <a:latin typeface="微软雅黑" panose="020B0503020204020204" charset="-122"/>
                  <a:ea typeface="微软雅黑" panose="020B0503020204020204" charset="-122"/>
                </a:endParaRPr>
              </a:p>
            </p:txBody>
          </p:sp>
        </p:grpSp>
        <p:sp>
          <p:nvSpPr>
            <p:cNvPr id="24" name="矩形 8"/>
            <p:cNvSpPr>
              <a:spLocks noChangeArrowheads="1"/>
            </p:cNvSpPr>
            <p:nvPr/>
          </p:nvSpPr>
          <p:spPr bwMode="auto">
            <a:xfrm>
              <a:off x="1893" y="3848"/>
              <a:ext cx="15074" cy="7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zh-CN" altLang="en-US" sz="1600"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sym typeface="+mn-ea"/>
                </a:rPr>
                <a:t>记录中间结果，发现错误立即纠正。</a:t>
              </a:r>
              <a:endParaRPr lang="zh-CN" altLang="en-US" dirty="0">
                <a:latin typeface="微软雅黑" panose="020B0503020204020204" charset="-122"/>
                <a:ea typeface="微软雅黑" panose="020B0503020204020204" charset="-122"/>
              </a:endParaRPr>
            </a:p>
          </p:txBody>
        </p:sp>
      </p:grpSp>
      <p:grpSp>
        <p:nvGrpSpPr>
          <p:cNvPr id="6" name="组合 5"/>
          <p:cNvGrpSpPr/>
          <p:nvPr/>
        </p:nvGrpSpPr>
        <p:grpSpPr>
          <a:xfrm>
            <a:off x="869315" y="3475990"/>
            <a:ext cx="10019665" cy="2396490"/>
            <a:chOff x="1195" y="5840"/>
            <a:chExt cx="15779" cy="3774"/>
          </a:xfrm>
        </p:grpSpPr>
        <p:grpSp>
          <p:nvGrpSpPr>
            <p:cNvPr id="29" name="组合 28"/>
            <p:cNvGrpSpPr/>
            <p:nvPr/>
          </p:nvGrpSpPr>
          <p:grpSpPr>
            <a:xfrm>
              <a:off x="1195" y="5840"/>
              <a:ext cx="3153" cy="930"/>
              <a:chOff x="512763" y="4940853"/>
              <a:chExt cx="2002081" cy="590550"/>
            </a:xfrm>
          </p:grpSpPr>
          <p:sp>
            <p:nvSpPr>
              <p:cNvPr id="25" name="TextBox 10"/>
              <p:cNvSpPr txBox="1">
                <a:spLocks noChangeArrowheads="1"/>
              </p:cNvSpPr>
              <p:nvPr/>
            </p:nvSpPr>
            <p:spPr bwMode="auto">
              <a:xfrm>
                <a:off x="512763" y="4940853"/>
                <a:ext cx="361298"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2</a:t>
                </a: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1554406"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sym typeface="+mn-ea"/>
                  </a:rPr>
                  <a:t>设置打印语句</a:t>
                </a:r>
                <a:endParaRPr lang="zh-CN" altLang="en-US" b="1" dirty="0">
                  <a:solidFill>
                    <a:srgbClr val="E67819"/>
                  </a:solidFill>
                  <a:latin typeface="微软雅黑" panose="020B0503020204020204" charset="-122"/>
                  <a:ea typeface="微软雅黑" panose="020B0503020204020204" charset="-122"/>
                </a:endParaRPr>
              </a:p>
            </p:txBody>
          </p:sp>
        </p:grpSp>
        <p:sp>
          <p:nvSpPr>
            <p:cNvPr id="28" name="矩形 9"/>
            <p:cNvSpPr>
              <a:spLocks noChangeArrowheads="1"/>
            </p:cNvSpPr>
            <p:nvPr/>
          </p:nvSpPr>
          <p:spPr bwMode="auto">
            <a:xfrm>
              <a:off x="1900" y="6665"/>
              <a:ext cx="15074" cy="294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在程序中设置打印语句，可打印某些标记或变量值以确定错误的位置。</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在调用其他模块或函数之前、之后打印信息，以便确定错误发生在调用之前还是之后。</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在程序循环体内的第一个语句前设置打印信息，用以检查循环执行情况。</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在分支点之前打印标记或变量的当前值。</a:t>
              </a:r>
            </a:p>
            <a:p>
              <a:pPr marL="285750" indent="-285750" algn="l" fontAlgn="auto">
                <a:lnSpc>
                  <a:spcPct val="130000"/>
                </a:lnSpc>
                <a:buClrTx/>
                <a:buFont typeface="Wingdings" panose="05000000000000000000" charset="0"/>
                <a:buChar char="Ø"/>
              </a:pPr>
              <a:r>
                <a:rPr lang="zh-CN" altLang="en-US" dirty="0">
                  <a:latin typeface="微软雅黑" panose="020B0503020204020204" charset="-122"/>
                  <a:ea typeface="微软雅黑" panose="020B0503020204020204" charset="-122"/>
                  <a:sym typeface="+mn-ea"/>
                </a:rPr>
                <a:t>抽点打印，在程序员认为必要的地方设置打印语句。</a:t>
              </a:r>
              <a:endParaRPr lang="zh-CN" altLang="en-US" dirty="0">
                <a:latin typeface="微软雅黑" panose="020B0503020204020204" charset="-122"/>
                <a:ea typeface="微软雅黑" panose="020B0503020204020204" charset="-122"/>
              </a:endParaRPr>
            </a:p>
          </p:txBody>
        </p:sp>
      </p:grpSp>
      <p:sp>
        <p:nvSpPr>
          <p:cNvPr id="16" name="矩形 7"/>
          <p:cNvSpPr>
            <a:spLocks noChangeArrowheads="1"/>
          </p:cNvSpPr>
          <p:nvPr/>
        </p:nvSpPr>
        <p:spPr bwMode="auto">
          <a:xfrm>
            <a:off x="702497" y="2036176"/>
            <a:ext cx="10939043"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latin typeface="微软雅黑" panose="020B0503020204020204" charset="-122"/>
                <a:ea typeface="微软雅黑" panose="020B0503020204020204" charset="-122"/>
              </a:rPr>
              <a:t>常用软件调试的辅助方法如下：</a:t>
            </a:r>
          </a:p>
        </p:txBody>
      </p:sp>
    </p:spTree>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4.7.1 </a:t>
            </a:r>
            <a:r>
              <a:rPr lang="zh-CN" altLang="en-US" sz="2400" dirty="0" smtClean="0">
                <a:solidFill>
                  <a:schemeClr val="tx1"/>
                </a:solidFill>
              </a:rPr>
              <a:t>软件调试方法和技术</a:t>
            </a:r>
          </a:p>
        </p:txBody>
      </p:sp>
      <p:grpSp>
        <p:nvGrpSpPr>
          <p:cNvPr id="14" name="组合 13"/>
          <p:cNvGrpSpPr/>
          <p:nvPr/>
        </p:nvGrpSpPr>
        <p:grpSpPr>
          <a:xfrm>
            <a:off x="869315" y="2344420"/>
            <a:ext cx="10019665" cy="927735"/>
            <a:chOff x="1188" y="3092"/>
            <a:chExt cx="15779" cy="1461"/>
          </a:xfrm>
        </p:grpSpPr>
        <p:grpSp>
          <p:nvGrpSpPr>
            <p:cNvPr id="5" name="组合 4"/>
            <p:cNvGrpSpPr/>
            <p:nvPr/>
          </p:nvGrpSpPr>
          <p:grpSpPr>
            <a:xfrm>
              <a:off x="1188" y="3092"/>
              <a:ext cx="12242" cy="930"/>
              <a:chOff x="508000" y="3196191"/>
              <a:chExt cx="7773594" cy="590550"/>
            </a:xfrm>
          </p:grpSpPr>
          <p:sp>
            <p:nvSpPr>
              <p:cNvPr id="21"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3</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732084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sym typeface="+mn-ea"/>
                  </a:rPr>
                  <a:t>逐层分块调试</a:t>
                </a:r>
                <a:endParaRPr lang="zh-CN" altLang="en-US" b="1" dirty="0">
                  <a:solidFill>
                    <a:srgbClr val="E67819"/>
                  </a:solidFill>
                  <a:latin typeface="微软雅黑" panose="020B0503020204020204" charset="-122"/>
                  <a:ea typeface="微软雅黑" panose="020B0503020204020204" charset="-122"/>
                </a:endParaRPr>
              </a:p>
            </p:txBody>
          </p:sp>
        </p:grpSp>
        <p:sp>
          <p:nvSpPr>
            <p:cNvPr id="24" name="矩形 8"/>
            <p:cNvSpPr>
              <a:spLocks noChangeArrowheads="1"/>
            </p:cNvSpPr>
            <p:nvPr/>
          </p:nvSpPr>
          <p:spPr bwMode="auto">
            <a:xfrm>
              <a:off x="1893" y="3848"/>
              <a:ext cx="15074" cy="70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marL="0" indent="0" algn="l" fontAlgn="auto">
                <a:lnSpc>
                  <a:spcPct val="130000"/>
                </a:lnSpc>
              </a:pPr>
              <a:r>
                <a:rPr lang="zh-CN" altLang="en-US" sz="1600"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sym typeface="+mn-ea"/>
                </a:rPr>
                <a:t>软件调试可先调试底层小模块，再调试上层模块，最后调试整个程序。</a:t>
              </a:r>
              <a:endParaRPr lang="zh-CN" altLang="en-US" dirty="0">
                <a:latin typeface="微软雅黑" panose="020B0503020204020204" charset="-122"/>
                <a:ea typeface="微软雅黑" panose="020B0503020204020204" charset="-122"/>
              </a:endParaRPr>
            </a:p>
          </p:txBody>
        </p:sp>
      </p:grpSp>
      <p:grpSp>
        <p:nvGrpSpPr>
          <p:cNvPr id="6" name="组合 5"/>
          <p:cNvGrpSpPr/>
          <p:nvPr/>
        </p:nvGrpSpPr>
        <p:grpSpPr>
          <a:xfrm>
            <a:off x="869315" y="3475990"/>
            <a:ext cx="10210165" cy="2056765"/>
            <a:chOff x="1195" y="5840"/>
            <a:chExt cx="16079" cy="3239"/>
          </a:xfrm>
        </p:grpSpPr>
        <p:grpSp>
          <p:nvGrpSpPr>
            <p:cNvPr id="29" name="组合 28"/>
            <p:cNvGrpSpPr/>
            <p:nvPr/>
          </p:nvGrpSpPr>
          <p:grpSpPr>
            <a:xfrm>
              <a:off x="1195" y="5840"/>
              <a:ext cx="3153" cy="930"/>
              <a:chOff x="512763" y="4940853"/>
              <a:chExt cx="2002098" cy="590550"/>
            </a:xfrm>
          </p:grpSpPr>
          <p:sp>
            <p:nvSpPr>
              <p:cNvPr id="25" name="TextBox 10"/>
              <p:cNvSpPr txBox="1">
                <a:spLocks noChangeArrowheads="1"/>
              </p:cNvSpPr>
              <p:nvPr/>
            </p:nvSpPr>
            <p:spPr bwMode="auto">
              <a:xfrm>
                <a:off x="512763" y="4940853"/>
                <a:ext cx="360667"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4</a:t>
                </a:r>
              </a:p>
            </p:txBody>
          </p:sp>
          <p:cxnSp>
            <p:nvCxnSpPr>
              <p:cNvPr id="26" name="直接连接符 25"/>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036103"/>
                <a:ext cx="155442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sym typeface="+mn-ea"/>
                  </a:rPr>
                  <a:t>对分查找调试</a:t>
                </a:r>
                <a:endParaRPr lang="zh-CN" altLang="en-US" b="1" dirty="0">
                  <a:solidFill>
                    <a:srgbClr val="E67819"/>
                  </a:solidFill>
                  <a:latin typeface="微软雅黑" panose="020B0503020204020204" charset="-122"/>
                  <a:ea typeface="微软雅黑" panose="020B0503020204020204" charset="-122"/>
                </a:endParaRPr>
              </a:p>
            </p:txBody>
          </p:sp>
        </p:grpSp>
        <p:sp>
          <p:nvSpPr>
            <p:cNvPr id="28" name="矩形 9"/>
            <p:cNvSpPr>
              <a:spLocks noChangeArrowheads="1"/>
            </p:cNvSpPr>
            <p:nvPr/>
          </p:nvSpPr>
          <p:spPr bwMode="auto">
            <a:xfrm>
              <a:off x="1900" y="6665"/>
              <a:ext cx="15374" cy="241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如果已知程序内若干关键部位的某些变量的正确值，则可在程序的中点附近用赋值语句或输入语句对这些变量赋以正确值，然后检查程序的输出结果。如果输出结果正确，则可认为程序的后半段无错，接着到程序前半段查找错误，否则应在程序的后半段查错。反复使用此法，缩小查找范围，直到找出错误位置</a:t>
              </a:r>
              <a:r>
                <a:rPr dirty="0" smtClean="0">
                  <a:latin typeface="微软雅黑" panose="020B0503020204020204" charset="-122"/>
                  <a:ea typeface="微软雅黑" panose="020B0503020204020204" charset="-122"/>
                  <a:sym typeface="+mn-ea"/>
                </a:rPr>
                <a:t>。</a:t>
              </a:r>
              <a:endParaRPr lang="zh-CN" altLang="en-US" dirty="0">
                <a:latin typeface="微软雅黑" panose="020B0503020204020204" charset="-122"/>
                <a:ea typeface="微软雅黑" panose="020B0503020204020204" charset="-122"/>
              </a:endParaRPr>
            </a:p>
          </p:txBody>
        </p:sp>
      </p:grpSp>
    </p:spTree>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zh-CN" dirty="0">
              <a:solidFill>
                <a:srgbClr val="FF0000"/>
              </a:solidFill>
              <a:sym typeface="+mn-ea"/>
            </a:endParaRPr>
          </a:p>
        </p:txBody>
      </p:sp>
      <p:sp>
        <p:nvSpPr>
          <p:cNvPr id="4" name="TextBox 6"/>
          <p:cNvSpPr txBox="1"/>
          <p:nvPr/>
        </p:nvSpPr>
        <p:spPr>
          <a:xfrm>
            <a:off x="809625" y="1403350"/>
            <a:ext cx="964311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4.7.1 </a:t>
            </a:r>
            <a:r>
              <a:rPr lang="zh-CN" altLang="en-US" sz="2400" dirty="0" smtClean="0">
                <a:solidFill>
                  <a:schemeClr val="tx1"/>
                </a:solidFill>
              </a:rPr>
              <a:t>软件调试方法和技术</a:t>
            </a:r>
          </a:p>
        </p:txBody>
      </p:sp>
      <p:grpSp>
        <p:nvGrpSpPr>
          <p:cNvPr id="14" name="组合 13"/>
          <p:cNvGrpSpPr/>
          <p:nvPr/>
        </p:nvGrpSpPr>
        <p:grpSpPr>
          <a:xfrm>
            <a:off x="4929505" y="2787650"/>
            <a:ext cx="8337550" cy="2352675"/>
            <a:chOff x="1188" y="3092"/>
            <a:chExt cx="12242" cy="3705"/>
          </a:xfrm>
        </p:grpSpPr>
        <p:grpSp>
          <p:nvGrpSpPr>
            <p:cNvPr id="5" name="组合 4"/>
            <p:cNvGrpSpPr/>
            <p:nvPr/>
          </p:nvGrpSpPr>
          <p:grpSpPr>
            <a:xfrm>
              <a:off x="1188" y="3092"/>
              <a:ext cx="12242" cy="930"/>
              <a:chOff x="508000" y="3196191"/>
              <a:chExt cx="7773594" cy="590550"/>
            </a:xfrm>
          </p:grpSpPr>
          <p:sp>
            <p:nvSpPr>
              <p:cNvPr id="21"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Impact" panose="020B0806030902050204" pitchFamily="34" charset="0"/>
                    <a:ea typeface="MS UI Gothic" panose="020B0600070205080204" charset="-128"/>
                  </a:rPr>
                  <a:t>5</a:t>
                </a: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7320843"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回溯法</a:t>
                </a:r>
              </a:p>
            </p:txBody>
          </p:sp>
        </p:grpSp>
        <p:sp>
          <p:nvSpPr>
            <p:cNvPr id="24" name="矩形 8"/>
            <p:cNvSpPr>
              <a:spLocks noChangeArrowheads="1"/>
            </p:cNvSpPr>
            <p:nvPr/>
          </p:nvSpPr>
          <p:spPr bwMode="auto">
            <a:xfrm>
              <a:off x="1893" y="3848"/>
              <a:ext cx="8498" cy="294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marL="0" indent="0" algn="l" fontAlgn="auto">
                <a:lnSpc>
                  <a:spcPct val="130000"/>
                </a:lnSpc>
              </a:pPr>
              <a:r>
                <a:rPr lang="zh-CN" altLang="en-US" sz="1600" dirty="0">
                  <a:latin typeface="微软雅黑" panose="020B0503020204020204" charset="-122"/>
                  <a:ea typeface="微软雅黑" panose="020B0503020204020204" charset="-122"/>
                </a:rPr>
                <a:t>       </a:t>
              </a:r>
              <a:r>
                <a:rPr dirty="0">
                  <a:latin typeface="微软雅黑" panose="020B0503020204020204" charset="-122"/>
                  <a:ea typeface="微软雅黑" panose="020B0503020204020204" charset="-122"/>
                  <a:sym typeface="+mn-ea"/>
                </a:rPr>
                <a:t>回溯法是相当常用的调试方法，调试小程序时这种方法比较有效。具体做法是，从发现问题的地方开始，人工沿程序的控制流往回追踪源程序代码，直到找出错误原因为止。但是当程序规模扩大后，应该回溯的路径数目变大，回溯就变得不可能了。</a:t>
              </a:r>
              <a:endParaRPr lang="zh-CN" altLang="en-US" dirty="0">
                <a:latin typeface="微软雅黑" panose="020B0503020204020204" charset="-122"/>
                <a:ea typeface="微软雅黑" panose="020B0503020204020204" charset="-122"/>
              </a:endParaRPr>
            </a:p>
          </p:txBody>
        </p:sp>
      </p:grpSp>
      <p:grpSp>
        <p:nvGrpSpPr>
          <p:cNvPr id="33" name="组合 32"/>
          <p:cNvGrpSpPr/>
          <p:nvPr/>
        </p:nvGrpSpPr>
        <p:grpSpPr>
          <a:xfrm>
            <a:off x="809625" y="3111500"/>
            <a:ext cx="3716655" cy="1856740"/>
            <a:chOff x="881" y="2735"/>
            <a:chExt cx="5853" cy="2924"/>
          </a:xfrm>
        </p:grpSpPr>
        <p:sp>
          <p:nvSpPr>
            <p:cNvPr id="167" name="圆角矩形"/>
            <p:cNvSpPr/>
            <p:nvPr/>
          </p:nvSpPr>
          <p:spPr>
            <a:xfrm>
              <a:off x="1188" y="3071"/>
              <a:ext cx="5522" cy="258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156" y="3112"/>
              <a:ext cx="5578"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软件测试计划描述测试活动的范围、方法、资源和进度。它规定被测试的项、特性、应完成的测试任务、承担各项工作的人员职责及与本计划有关的风险等。</a:t>
              </a:r>
              <a:endParaRPr dirty="0">
                <a:sym typeface="+mn-ea"/>
              </a:endParaRPr>
            </a:p>
          </p:txBody>
        </p:sp>
      </p:grpSp>
    </p:spTree>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软件验证</a:t>
            </a:r>
          </a:p>
        </p:txBody>
      </p:sp>
      <p:sp>
        <p:nvSpPr>
          <p:cNvPr id="100" name="文本框 99"/>
          <p:cNvSpPr txBox="1"/>
          <p:nvPr/>
        </p:nvSpPr>
        <p:spPr>
          <a:xfrm>
            <a:off x="1579245" y="2312285"/>
            <a:ext cx="9691370" cy="3653308"/>
          </a:xfrm>
          <a:prstGeom prst="rect">
            <a:avLst/>
          </a:prstGeom>
          <a:noFill/>
          <a:ln w="9525">
            <a:noFill/>
          </a:ln>
        </p:spPr>
        <p:txBody>
          <a:bodyPr wrap="square">
            <a:spAutoFit/>
          </a:bodyPr>
          <a:lstStyle/>
          <a:p>
            <a:pPr marL="0" indent="0" algn="l" fontAlgn="auto">
              <a:lnSpc>
                <a:spcPct val="130000"/>
              </a:lnSpc>
            </a:pPr>
            <a:r>
              <a:rPr lang="en-US" sz="2000" dirty="0">
                <a:latin typeface="微软雅黑" panose="020B0503020204020204" charset="-122"/>
                <a:ea typeface="微软雅黑" panose="020B0503020204020204" charset="-122"/>
                <a:sym typeface="+mn-ea"/>
              </a:rPr>
              <a:t>       </a:t>
            </a:r>
            <a:r>
              <a:rPr sz="2000" dirty="0">
                <a:latin typeface="微软雅黑" panose="020B0503020204020204" charset="-122"/>
                <a:ea typeface="微软雅黑" panose="020B0503020204020204" charset="-122"/>
                <a:sym typeface="+mn-ea"/>
              </a:rPr>
              <a:t>为了保证软件质量，在软件开发的整个过程中要坚持遵守软件开发的规范，</a:t>
            </a:r>
            <a:r>
              <a:rPr sz="2000" dirty="0">
                <a:solidFill>
                  <a:schemeClr val="accent2">
                    <a:lumMod val="75000"/>
                  </a:schemeClr>
                </a:solidFill>
                <a:latin typeface="微软雅黑" panose="020B0503020204020204" charset="-122"/>
                <a:ea typeface="微软雅黑" panose="020B0503020204020204" charset="-122"/>
                <a:sym typeface="+mn-ea"/>
              </a:rPr>
              <a:t>自始至终重视保证软件质量的问题。在软件生存期每一阶段结束时都要进行复审，在软件测试的每一阶段都要对软件进行验证</a:t>
            </a:r>
            <a:r>
              <a:rPr sz="2000" dirty="0" smtClean="0">
                <a:solidFill>
                  <a:schemeClr val="accent2">
                    <a:lumMod val="75000"/>
                  </a:schemeClr>
                </a:solidFill>
                <a:latin typeface="微软雅黑" panose="020B0503020204020204" charset="-122"/>
                <a:ea typeface="微软雅黑" panose="020B0503020204020204" charset="-122"/>
                <a:sym typeface="+mn-ea"/>
              </a:rPr>
              <a:t>。</a:t>
            </a:r>
            <a:endParaRPr lang="en-US" sz="2000" dirty="0" smtClean="0">
              <a:solidFill>
                <a:schemeClr val="accent2">
                  <a:lumMod val="75000"/>
                </a:schemeClr>
              </a:solidFill>
              <a:latin typeface="微软雅黑" panose="020B0503020204020204" charset="-122"/>
              <a:ea typeface="微软雅黑" panose="020B0503020204020204" charset="-122"/>
              <a:sym typeface="+mn-ea"/>
            </a:endParaRPr>
          </a:p>
          <a:p>
            <a:pPr marL="0" indent="0" algn="l" fontAlgn="auto">
              <a:lnSpc>
                <a:spcPct val="130000"/>
              </a:lnSpc>
            </a:pPr>
            <a:endParaRPr sz="2000" dirty="0">
              <a:solidFill>
                <a:schemeClr val="accent2">
                  <a:lumMod val="75000"/>
                </a:schemeClr>
              </a:solidFill>
              <a:latin typeface="微软雅黑" panose="020B0503020204020204" charset="-122"/>
              <a:ea typeface="微软雅黑" panose="020B0503020204020204" charset="-122"/>
              <a:sym typeface="+mn-ea"/>
            </a:endParaRPr>
          </a:p>
          <a:p>
            <a:pPr marL="0" indent="0" algn="l" fontAlgn="auto">
              <a:lnSpc>
                <a:spcPct val="130000"/>
              </a:lnSpc>
            </a:pPr>
            <a:r>
              <a:rPr sz="2000" dirty="0">
                <a:latin typeface="微软雅黑" panose="020B0503020204020204" charset="-122"/>
                <a:ea typeface="微软雅黑" panose="020B0503020204020204" charset="-122"/>
                <a:sym typeface="+mn-ea"/>
              </a:rPr>
              <a:t>       软件的测试可以发现程序中的错误，但不能证明程序中没有错误，也就是说不能证明程序的正确性。因而要保证软件的可靠性，测试技术是一种重要的技术，但也是一种不完善的技术。如果能研制一种行之有效的程序正确性证明技术，那么软件测试的工作量将显著地减少。</a:t>
            </a:r>
          </a:p>
          <a:p>
            <a:pPr marL="0" indent="0" algn="l" fontAlgn="auto">
              <a:lnSpc>
                <a:spcPct val="130000"/>
              </a:lnSpc>
            </a:pPr>
            <a:endParaRPr dirty="0">
              <a:latin typeface="微软雅黑" panose="020B0503020204020204" charset="-122"/>
              <a:ea typeface="微软雅黑" panose="020B0503020204020204" charset="-122"/>
              <a:sym typeface="+mn-ea"/>
            </a:endParaRPr>
          </a:p>
        </p:txBody>
      </p:sp>
      <p:sp>
        <p:nvSpPr>
          <p:cNvPr id="7" name="文本框 6"/>
          <p:cNvSpPr txBox="1"/>
          <p:nvPr/>
        </p:nvSpPr>
        <p:spPr>
          <a:xfrm>
            <a:off x="738491" y="2824480"/>
            <a:ext cx="461665" cy="1805944"/>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4.7.2 </a:t>
            </a:r>
            <a:r>
              <a:rPr lang="zh-CN" altLang="en-US" spc="160" dirty="0" smtClean="0">
                <a:solidFill>
                  <a:schemeClr val="bg1"/>
                </a:solidFill>
                <a:latin typeface="微软雅黑" panose="020B0503020204020204" charset="-122"/>
                <a:ea typeface="微软雅黑" panose="020B0503020204020204" charset="-122"/>
              </a:rPr>
              <a:t>软件验证</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diamond/>
  </p:transition>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en-US" dirty="0">
              <a:solidFill>
                <a:srgbClr val="FF0000"/>
              </a:solidFill>
            </a:endParaRPr>
          </a:p>
        </p:txBody>
      </p:sp>
      <p:sp>
        <p:nvSpPr>
          <p:cNvPr id="100" name="文本框 99"/>
          <p:cNvSpPr txBox="1"/>
          <p:nvPr/>
        </p:nvSpPr>
        <p:spPr>
          <a:xfrm>
            <a:off x="561975" y="4924058"/>
            <a:ext cx="11068685" cy="1137556"/>
          </a:xfrm>
          <a:prstGeom prst="rect">
            <a:avLst/>
          </a:prstGeom>
          <a:noFill/>
          <a:ln w="9525">
            <a:noFill/>
          </a:ln>
        </p:spPr>
        <p:txBody>
          <a:bodyPr wrap="square">
            <a:spAutoFit/>
          </a:bodyPr>
          <a:lstStyle/>
          <a:p>
            <a:pPr marL="285750" indent="-285750" algn="l" fontAlgn="auto">
              <a:lnSpc>
                <a:spcPct val="130000"/>
              </a:lnSpc>
              <a:buClrTx/>
              <a:buFont typeface="Arial" panose="020B0604020202020204" pitchFamily="34" charset="0"/>
              <a:buChar char="•"/>
            </a:pPr>
            <a:r>
              <a:rPr dirty="0" smtClean="0">
                <a:latin typeface="微软雅黑" panose="020B0503020204020204" charset="-122"/>
                <a:ea typeface="微软雅黑" panose="020B0503020204020204" charset="-122"/>
                <a:sym typeface="+mn-ea"/>
              </a:rPr>
              <a:t>在软件测试</a:t>
            </a:r>
            <a:r>
              <a:rPr dirty="0">
                <a:latin typeface="微软雅黑" panose="020B0503020204020204" charset="-122"/>
                <a:ea typeface="微软雅黑" panose="020B0503020204020204" charset="-122"/>
                <a:sym typeface="+mn-ea"/>
              </a:rPr>
              <a:t>（模块测试、集成测试）阶段，</a:t>
            </a:r>
            <a:r>
              <a:rPr dirty="0">
                <a:solidFill>
                  <a:schemeClr val="accent5">
                    <a:lumMod val="50000"/>
                  </a:schemeClr>
                </a:solidFill>
                <a:latin typeface="微软雅黑" panose="020B0503020204020204" charset="-122"/>
                <a:ea typeface="微软雅黑" panose="020B0503020204020204" charset="-122"/>
                <a:sym typeface="+mn-ea"/>
              </a:rPr>
              <a:t>软件开发人员用尽可能少的测试数据，尽可能多地发现程序中的错误。</a:t>
            </a:r>
            <a:r>
              <a:rPr dirty="0">
                <a:latin typeface="微软雅黑" panose="020B0503020204020204" charset="-122"/>
                <a:ea typeface="微软雅黑" panose="020B0503020204020204" charset="-122"/>
                <a:sym typeface="+mn-ea"/>
              </a:rPr>
              <a:t>软件验证要进行评审、审查、测试、检查、审计等活动，或对某些项、处理、服务或文件等是否和规定的需求相一致进行判断并提出报告。</a:t>
            </a:r>
          </a:p>
        </p:txBody>
      </p:sp>
      <p:sp>
        <p:nvSpPr>
          <p:cNvPr id="7" name="文本框 6"/>
          <p:cNvSpPr txBox="1"/>
          <p:nvPr/>
        </p:nvSpPr>
        <p:spPr>
          <a:xfrm>
            <a:off x="791210" y="2847759"/>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软件验证</a:t>
            </a: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4.7.2 </a:t>
            </a:r>
            <a:r>
              <a:rPr lang="zh-CN" altLang="en-US" sz="2400" dirty="0" smtClean="0">
                <a:solidFill>
                  <a:schemeClr val="tx1"/>
                </a:solidFill>
              </a:rPr>
              <a:t>软件验证</a:t>
            </a:r>
          </a:p>
        </p:txBody>
      </p:sp>
      <p:grpSp>
        <p:nvGrpSpPr>
          <p:cNvPr id="21" name="组合 20"/>
          <p:cNvGrpSpPr/>
          <p:nvPr/>
        </p:nvGrpSpPr>
        <p:grpSpPr>
          <a:xfrm>
            <a:off x="1215890" y="2761354"/>
            <a:ext cx="4715510" cy="923925"/>
            <a:chOff x="2060" y="3526"/>
            <a:chExt cx="7426" cy="1455"/>
          </a:xfrm>
        </p:grpSpPr>
        <p:sp>
          <p:nvSpPr>
            <p:cNvPr id="5"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4"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SubTitle_1"/>
            <p:cNvSpPr/>
            <p:nvPr>
              <p:custDataLst>
                <p:tags r:id="rId20"/>
              </p:custDataLst>
            </p:nvPr>
          </p:nvSpPr>
          <p:spPr>
            <a:xfrm>
              <a:off x="4148" y="3968"/>
              <a:ext cx="5338" cy="571"/>
            </a:xfrm>
            <a:prstGeom prst="rect">
              <a:avLst/>
            </a:prstGeom>
          </p:spPr>
          <p:txBody>
            <a:bodyPr lIns="0" tIns="0" rIns="0" bIns="0" anchor="ctr">
              <a:noAutofit/>
            </a:bodyPr>
            <a:lstStyle/>
            <a:p>
              <a:pPr>
                <a:lnSpc>
                  <a:spcPct val="140000"/>
                </a:lnSpc>
                <a:defRPr/>
              </a:pPr>
              <a:r>
                <a:rPr lang="zh-CN" altLang="en-US" dirty="0" smtClean="0">
                  <a:solidFill>
                    <a:srgbClr val="000000"/>
                  </a:solidFill>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断定软件操作正确。</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22" name="组合 21"/>
          <p:cNvGrpSpPr/>
          <p:nvPr/>
        </p:nvGrpSpPr>
        <p:grpSpPr>
          <a:xfrm>
            <a:off x="6000518" y="2761354"/>
            <a:ext cx="5566410" cy="923925"/>
            <a:chOff x="7327" y="7570"/>
            <a:chExt cx="8766" cy="1455"/>
          </a:xfrm>
        </p:grpSpPr>
        <p:sp>
          <p:nvSpPr>
            <p:cNvPr id="10"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1"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SubTitle_3"/>
            <p:cNvSpPr/>
            <p:nvPr>
              <p:custDataLst>
                <p:tags r:id="rId15"/>
              </p:custDataLst>
            </p:nvPr>
          </p:nvSpPr>
          <p:spPr>
            <a:xfrm>
              <a:off x="9924" y="7570"/>
              <a:ext cx="6169" cy="1280"/>
            </a:xfrm>
            <a:prstGeom prst="rect">
              <a:avLst/>
            </a:prstGeom>
          </p:spPr>
          <p:txBody>
            <a:bodyPr lIns="0" tIns="0" rIns="0" bIns="0" anchor="ctr">
              <a:noAutofit/>
            </a:bodyPr>
            <a:lstStyle/>
            <a:p>
              <a:pPr>
                <a:lnSpc>
                  <a:spcPct val="13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指示软件执行时产生错误的原因。</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20" name="组合 19"/>
          <p:cNvGrpSpPr/>
          <p:nvPr/>
        </p:nvGrpSpPr>
        <p:grpSpPr>
          <a:xfrm>
            <a:off x="1215890" y="3921947"/>
            <a:ext cx="4585970" cy="923925"/>
            <a:chOff x="4720" y="5568"/>
            <a:chExt cx="7222" cy="1455"/>
          </a:xfrm>
        </p:grpSpPr>
        <p:sp>
          <p:nvSpPr>
            <p:cNvPr id="15"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3" name="MH_SubTitle_2"/>
            <p:cNvSpPr/>
            <p:nvPr>
              <p:custDataLst>
                <p:tags r:id="rId10"/>
              </p:custDataLst>
            </p:nvPr>
          </p:nvSpPr>
          <p:spPr>
            <a:xfrm>
              <a:off x="6754" y="5733"/>
              <a:ext cx="5188" cy="1280"/>
            </a:xfrm>
            <a:prstGeom prst="rect">
              <a:avLst/>
            </a:prstGeom>
          </p:spPr>
          <p:txBody>
            <a:bodyPr lIns="0" tIns="0" rIns="0" bIns="0" anchor="ctr">
              <a:noAutofit/>
            </a:bodyPr>
            <a:lstStyle/>
            <a:p>
              <a:pPr lvl="0" algn="just">
                <a:lnSpc>
                  <a:spcPct val="120000"/>
                </a:lnSpc>
                <a:spcBef>
                  <a:spcPct val="0"/>
                </a:spcBef>
              </a:pPr>
              <a:r>
                <a:rPr lang="zh-CN" altLang="en-US" dirty="0" smtClean="0">
                  <a:solidFill>
                    <a:srgbClr val="000000"/>
                  </a:solidFill>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指示软件操作错误。</a:t>
              </a:r>
              <a:endParaRPr lang="zh-CN" altLang="en-US" dirty="0" smtClean="0">
                <a:solidFill>
                  <a:srgbClr val="000000"/>
                </a:solidFill>
                <a:latin typeface="微软雅黑" panose="020B0503020204020204" charset="-122"/>
                <a:ea typeface="微软雅黑" panose="020B0503020204020204" charset="-122"/>
                <a:sym typeface="+mn-ea"/>
              </a:endParaRPr>
            </a:p>
          </p:txBody>
        </p:sp>
      </p:grpSp>
      <p:grpSp>
        <p:nvGrpSpPr>
          <p:cNvPr id="24" name="组合 23"/>
          <p:cNvGrpSpPr/>
          <p:nvPr/>
        </p:nvGrpSpPr>
        <p:grpSpPr>
          <a:xfrm>
            <a:off x="6000518" y="3921947"/>
            <a:ext cx="5221605" cy="923925"/>
            <a:chOff x="7327" y="7570"/>
            <a:chExt cx="8223" cy="1455"/>
          </a:xfrm>
        </p:grpSpPr>
        <p:sp>
          <p:nvSpPr>
            <p:cNvPr id="25"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a:t>
              </a:r>
              <a:r>
                <a:rPr lang="en-US" sz="2400" b="1">
                  <a:solidFill>
                    <a:srgbClr val="FFFFFF"/>
                  </a:solidFill>
                  <a:ea typeface="微软雅黑" panose="020B0503020204020204" charset="-122"/>
                </a:rPr>
                <a:t>4</a:t>
              </a:r>
            </a:p>
          </p:txBody>
        </p:sp>
        <p:sp>
          <p:nvSpPr>
            <p:cNvPr id="26"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SubTitle_3"/>
            <p:cNvSpPr/>
            <p:nvPr>
              <p:custDataLst>
                <p:tags r:id="rId5"/>
              </p:custDataLst>
            </p:nvPr>
          </p:nvSpPr>
          <p:spPr>
            <a:xfrm>
              <a:off x="9924" y="7570"/>
              <a:ext cx="5626" cy="1280"/>
            </a:xfrm>
            <a:prstGeom prst="rect">
              <a:avLst/>
            </a:prstGeom>
          </p:spPr>
          <p:txBody>
            <a:bodyPr lIns="0" tIns="0" rIns="0" bIns="0" anchor="ctr">
              <a:noAutofit/>
            </a:bodyPr>
            <a:lstStyle/>
            <a:p>
              <a:pPr>
                <a:lnSpc>
                  <a:spcPct val="130000"/>
                </a:lnSpc>
                <a:defRPr/>
              </a:pPr>
              <a:r>
                <a:rPr lang="en-US" altLang="zh-CN" dirty="0" smtClean="0">
                  <a:solidFill>
                    <a:srgbClr val="000000"/>
                  </a:solidFill>
                  <a:latin typeface="微软雅黑" panose="020B0503020204020204" charset="-122"/>
                  <a:ea typeface="微软雅黑" panose="020B0503020204020204" charset="-122"/>
                  <a:sym typeface="+mn-ea"/>
                </a:rPr>
                <a:t>       </a:t>
              </a:r>
              <a:r>
                <a:rPr dirty="0">
                  <a:solidFill>
                    <a:srgbClr val="C00000"/>
                  </a:solidFill>
                  <a:latin typeface="微软雅黑" panose="020B0503020204020204" charset="-122"/>
                  <a:ea typeface="微软雅黑" panose="020B0503020204020204" charset="-122"/>
                  <a:sym typeface="+mn-ea"/>
                </a:rPr>
                <a:t>把源程序和软件配置的其他成分自动输入系统。</a:t>
              </a:r>
              <a:endParaRPr lang="zh-CN" altLang="en-US" dirty="0" smtClean="0">
                <a:solidFill>
                  <a:srgbClr val="000000"/>
                </a:solidFill>
                <a:latin typeface="微软雅黑" panose="020B0503020204020204" charset="-122"/>
                <a:ea typeface="微软雅黑" panose="020B0503020204020204" charset="-122"/>
                <a:sym typeface="+mn-ea"/>
              </a:endParaRPr>
            </a:p>
          </p:txBody>
        </p:sp>
      </p:grpSp>
      <p:sp>
        <p:nvSpPr>
          <p:cNvPr id="31" name="文本框 99"/>
          <p:cNvSpPr txBox="1"/>
          <p:nvPr/>
        </p:nvSpPr>
        <p:spPr>
          <a:xfrm>
            <a:off x="564247" y="2073898"/>
            <a:ext cx="11068685" cy="414344"/>
          </a:xfrm>
          <a:prstGeom prst="rect">
            <a:avLst/>
          </a:prstGeom>
          <a:noFill/>
          <a:ln w="9525">
            <a:noFill/>
          </a:ln>
        </p:spPr>
        <p:txBody>
          <a:bodyPr wrap="square">
            <a:spAutoFit/>
          </a:bodyPr>
          <a:lstStyle/>
          <a:p>
            <a:pPr marL="285750" indent="-285750">
              <a:lnSpc>
                <a:spcPct val="130000"/>
              </a:lnSpc>
              <a:buFont typeface="Arial" panose="020B0604020202020204" pitchFamily="34" charset="0"/>
              <a:buChar char="•"/>
            </a:pPr>
            <a:r>
              <a:rPr dirty="0">
                <a:solidFill>
                  <a:schemeClr val="accent6">
                    <a:lumMod val="50000"/>
                  </a:schemeClr>
                </a:solidFill>
                <a:latin typeface="微软雅黑" panose="020B0503020204020204" charset="-122"/>
                <a:ea typeface="微软雅黑" panose="020B0503020204020204" charset="-122"/>
                <a:sym typeface="+mn-ea"/>
              </a:rPr>
              <a:t>软件验证是确定软件开发周期中的一个给定阶段的产品是否达到需求的过程</a:t>
            </a:r>
            <a:r>
              <a:rPr dirty="0" smtClean="0">
                <a:solidFill>
                  <a:schemeClr val="accent6">
                    <a:lumMod val="50000"/>
                  </a:schemeClr>
                </a:solidFill>
                <a:latin typeface="微软雅黑" panose="020B0503020204020204" charset="-122"/>
                <a:ea typeface="微软雅黑" panose="020B0503020204020204" charset="-122"/>
                <a:sym typeface="+mn-ea"/>
              </a:rPr>
              <a:t>。</a:t>
            </a:r>
            <a:r>
              <a:rPr lang="zh-CN" altLang="en-US" dirty="0" smtClean="0"/>
              <a:t>软件验证的方法如下：</a:t>
            </a:r>
          </a:p>
        </p:txBody>
      </p:sp>
    </p:spTree>
  </p:cSld>
  <p:clrMapOvr>
    <a:masterClrMapping/>
  </p:clrMapOvr>
  <p:transition>
    <p:diamond/>
  </p:transition>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en-US" dirty="0">
              <a:solidFill>
                <a:srgbClr val="FF0000"/>
              </a:solidFill>
            </a:endParaRPr>
          </a:p>
        </p:txBody>
      </p:sp>
      <p:sp>
        <p:nvSpPr>
          <p:cNvPr id="7" name="文本框 6"/>
          <p:cNvSpPr txBox="1"/>
          <p:nvPr/>
        </p:nvSpPr>
        <p:spPr>
          <a:xfrm>
            <a:off x="754380" y="319024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软件测试说明</a:t>
            </a:r>
          </a:p>
        </p:txBody>
      </p:sp>
      <p:sp>
        <p:nvSpPr>
          <p:cNvPr id="29" name="TextBox 6"/>
          <p:cNvSpPr txBox="1"/>
          <p:nvPr/>
        </p:nvSpPr>
        <p:spPr>
          <a:xfrm>
            <a:off x="802640"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sym typeface="+mn-ea"/>
              </a:rPr>
              <a:t>4.7.3 </a:t>
            </a:r>
            <a:r>
              <a:rPr lang="zh-CN" altLang="en-US" sz="2400" dirty="0" smtClean="0">
                <a:solidFill>
                  <a:schemeClr val="tx1"/>
                </a:solidFill>
                <a:sym typeface="+mn-ea"/>
              </a:rPr>
              <a:t>软件确认</a:t>
            </a:r>
            <a:endParaRPr lang="zh-CN" altLang="zh-CN" sz="2400" dirty="0" smtClean="0">
              <a:solidFill>
                <a:schemeClr val="tx1"/>
              </a:solidFill>
            </a:endParaRPr>
          </a:p>
        </p:txBody>
      </p:sp>
      <p:grpSp>
        <p:nvGrpSpPr>
          <p:cNvPr id="2" name="组合 1"/>
          <p:cNvGrpSpPr/>
          <p:nvPr/>
        </p:nvGrpSpPr>
        <p:grpSpPr>
          <a:xfrm>
            <a:off x="1854994" y="2061210"/>
            <a:ext cx="9113479" cy="3337675"/>
            <a:chOff x="2054" y="2256"/>
            <a:chExt cx="16562" cy="6514"/>
          </a:xfrm>
        </p:grpSpPr>
        <p:grpSp>
          <p:nvGrpSpPr>
            <p:cNvPr id="6" name="组合 5"/>
            <p:cNvGrpSpPr/>
            <p:nvPr/>
          </p:nvGrpSpPr>
          <p:grpSpPr>
            <a:xfrm>
              <a:off x="2054" y="2256"/>
              <a:ext cx="15060" cy="2487"/>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5" name="文本框 4"/>
            <p:cNvSpPr txBox="1"/>
            <p:nvPr>
              <p:custDataLst>
                <p:tags r:id="rId2"/>
              </p:custDataLst>
            </p:nvPr>
          </p:nvSpPr>
          <p:spPr>
            <a:xfrm>
              <a:off x="7303" y="5319"/>
              <a:ext cx="5765" cy="3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完成测试计划中的所有要求，分析测试结果，并书写测试分析报告和开发总结。</a:t>
              </a:r>
            </a:p>
            <a:p>
              <a:pPr marL="0" indent="0" algn="l" fontAlgn="auto">
                <a:lnSpc>
                  <a:spcPct val="130000"/>
                </a:lnSpc>
              </a:pPr>
              <a:endParaRPr dirty="0">
                <a:latin typeface="微软雅黑" panose="020B0503020204020204" charset="-122"/>
                <a:ea typeface="微软雅黑" panose="020B0503020204020204" charset="-122"/>
              </a:endParaRPr>
            </a:p>
          </p:txBody>
        </p:sp>
        <p:sp>
          <p:nvSpPr>
            <p:cNvPr id="8" name="文本框 7"/>
            <p:cNvSpPr txBox="1"/>
            <p:nvPr>
              <p:custDataLst>
                <p:tags r:id="rId3"/>
              </p:custDataLst>
            </p:nvPr>
          </p:nvSpPr>
          <p:spPr>
            <a:xfrm>
              <a:off x="13125" y="5320"/>
              <a:ext cx="5491" cy="3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按用户手册和操作手册进行软件实际运行，验证软件的实用性和有效性并修正所发现的错误。</a:t>
              </a:r>
              <a:endParaRPr lang="zh-CN" altLang="en-US" dirty="0"/>
            </a:p>
          </p:txBody>
        </p:sp>
      </p:grpSp>
      <p:sp>
        <p:nvSpPr>
          <p:cNvPr id="9" name="文本框 8"/>
          <p:cNvSpPr txBox="1"/>
          <p:nvPr>
            <p:custDataLst>
              <p:tags r:id="rId1"/>
            </p:custDataLst>
          </p:nvPr>
        </p:nvSpPr>
        <p:spPr>
          <a:xfrm>
            <a:off x="704215" y="3630930"/>
            <a:ext cx="3670300" cy="34493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algn="l" fontAlgn="auto">
              <a:lnSpc>
                <a:spcPct val="130000"/>
              </a:lnSpc>
              <a:spcBef>
                <a:spcPct val="20000"/>
              </a:spcBef>
            </a:pPr>
            <a:r>
              <a:rPr lang="en-US" altLang="zh-CN"/>
              <a:t>       </a:t>
            </a:r>
            <a:r>
              <a:rPr dirty="0">
                <a:latin typeface="微软雅黑" panose="020B0503020204020204" charset="-122"/>
                <a:ea typeface="微软雅黑" panose="020B0503020204020204" charset="-122"/>
                <a:sym typeface="+mn-ea"/>
              </a:rPr>
              <a:t>软件确认工作应在用户直接参与下，在最终用户环境中进行软件的强度测试，即在事先规定的时期内运行软件的全部功能，考查软件运行有无严重错误。系统功能和性能满足需求说明书中的全部要求，得到用户认可。</a:t>
            </a:r>
            <a:endParaRPr dirty="0">
              <a:latin typeface="微软雅黑" panose="020B0503020204020204" charset="-122"/>
              <a:ea typeface="微软雅黑" panose="020B0503020204020204" charset="-122"/>
            </a:endParaRPr>
          </a:p>
        </p:txBody>
      </p:sp>
      <p:grpSp>
        <p:nvGrpSpPr>
          <p:cNvPr id="33" name="组合 32"/>
          <p:cNvGrpSpPr/>
          <p:nvPr/>
        </p:nvGrpSpPr>
        <p:grpSpPr>
          <a:xfrm>
            <a:off x="4929903" y="5152343"/>
            <a:ext cx="5865495" cy="1219835"/>
            <a:chOff x="881" y="2735"/>
            <a:chExt cx="9237" cy="1921"/>
          </a:xfrm>
        </p:grpSpPr>
        <p:sp>
          <p:nvSpPr>
            <p:cNvPr id="167" name="圆角矩形"/>
            <p:cNvSpPr/>
            <p:nvPr/>
          </p:nvSpPr>
          <p:spPr>
            <a:xfrm>
              <a:off x="1188" y="3071"/>
              <a:ext cx="8376"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0"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252" y="3071"/>
              <a:ext cx="8866" cy="158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软件确认是指在软件开发过程结束时，对所开发的软件进行评价，以确定它是否和软件需求相一致的过程。</a:t>
              </a:r>
            </a:p>
          </p:txBody>
        </p:sp>
      </p:grpSp>
    </p:spTree>
  </p:cSld>
  <p:clrMapOvr>
    <a:masterClrMapping/>
  </p:clrMapOvr>
  <p:transition>
    <p:randomBar dir="vert"/>
  </p:transition>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4.7 </a:t>
            </a:r>
            <a:r>
              <a:rPr lang="zh-CN" altLang="en-US" dirty="0" smtClean="0">
                <a:solidFill>
                  <a:srgbClr val="FF0000"/>
                </a:solidFill>
                <a:sym typeface="+mn-ea"/>
              </a:rPr>
              <a:t>软件调试、验证与确认</a:t>
            </a:r>
            <a:endParaRPr lang="zh-CN" altLang="en-US"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软件确认</a:t>
            </a:r>
          </a:p>
        </p:txBody>
      </p:sp>
      <p:sp>
        <p:nvSpPr>
          <p:cNvPr id="100" name="文本框 99"/>
          <p:cNvSpPr txBox="1"/>
          <p:nvPr/>
        </p:nvSpPr>
        <p:spPr>
          <a:xfrm>
            <a:off x="1594485" y="2369820"/>
            <a:ext cx="9691370" cy="2941320"/>
          </a:xfrm>
          <a:prstGeom prst="rect">
            <a:avLst/>
          </a:prstGeom>
          <a:noFill/>
          <a:ln w="9525">
            <a:noFill/>
          </a:ln>
        </p:spPr>
        <p:txBody>
          <a:bodyPr wrap="square">
            <a:spAutoFit/>
          </a:bodyPr>
          <a:lstStyle/>
          <a:p>
            <a:pPr marL="0" indent="0" algn="l" fontAlgn="auto">
              <a:lnSpc>
                <a:spcPct val="130000"/>
              </a:lnSpc>
            </a:pPr>
            <a:r>
              <a:rPr dirty="0">
                <a:latin typeface="微软雅黑" panose="020B0503020204020204" charset="-122"/>
                <a:ea typeface="微软雅黑" panose="020B0503020204020204" charset="-122"/>
                <a:sym typeface="+mn-ea"/>
              </a:rPr>
              <a:t>       软件确认结束时应完成的文档有：</a:t>
            </a:r>
            <a:r>
              <a:rPr dirty="0">
                <a:solidFill>
                  <a:srgbClr val="C00000"/>
                </a:solidFill>
                <a:latin typeface="微软雅黑" panose="020B0503020204020204" charset="-122"/>
                <a:ea typeface="微软雅黑" panose="020B0503020204020204" charset="-122"/>
                <a:sym typeface="+mn-ea"/>
              </a:rPr>
              <a:t>① 软件测试报告；② 经修改并确认的用户手册和操作手册；③ 软件开发总结。</a:t>
            </a:r>
          </a:p>
          <a:p>
            <a:pPr marL="0" indent="0" algn="l" fontAlgn="auto">
              <a:lnSpc>
                <a:spcPct val="130000"/>
              </a:lnSpc>
            </a:pPr>
            <a:r>
              <a:rPr dirty="0">
                <a:latin typeface="微软雅黑" panose="020B0503020204020204" charset="-122"/>
                <a:ea typeface="微软雅黑" panose="020B0503020204020204" charset="-122"/>
                <a:sym typeface="+mn-ea"/>
              </a:rPr>
              <a:t>       软件确认工作最好</a:t>
            </a:r>
            <a:r>
              <a:rPr dirty="0">
                <a:solidFill>
                  <a:srgbClr val="C00000"/>
                </a:solidFill>
                <a:latin typeface="微软雅黑" panose="020B0503020204020204" charset="-122"/>
                <a:ea typeface="微软雅黑" panose="020B0503020204020204" charset="-122"/>
                <a:sym typeface="+mn-ea"/>
              </a:rPr>
              <a:t>由不参加设计或实现该软件的人员来进行并有用户及领导人士参加</a:t>
            </a:r>
            <a:r>
              <a:rPr dirty="0">
                <a:latin typeface="微软雅黑" panose="020B0503020204020204" charset="-122"/>
                <a:ea typeface="微软雅黑" panose="020B0503020204020204" charset="-122"/>
                <a:sym typeface="+mn-ea"/>
              </a:rPr>
              <a:t>。为了使用户能有效地操作软件系统，通常由开发部门对用户进行操作培训，以便使用户积极地参加确认工作。</a:t>
            </a:r>
          </a:p>
          <a:p>
            <a:pPr marL="0" indent="0" algn="l" fontAlgn="auto">
              <a:lnSpc>
                <a:spcPct val="130000"/>
              </a:lnSpc>
            </a:pPr>
            <a:r>
              <a:rPr dirty="0">
                <a:latin typeface="微软雅黑" panose="020B0503020204020204" charset="-122"/>
                <a:ea typeface="微软雅黑" panose="020B0503020204020204" charset="-122"/>
                <a:sym typeface="+mn-ea"/>
              </a:rPr>
              <a:t>       软件确认必须从</a:t>
            </a:r>
            <a:r>
              <a:rPr dirty="0">
                <a:solidFill>
                  <a:srgbClr val="C00000"/>
                </a:solidFill>
                <a:latin typeface="微软雅黑" panose="020B0503020204020204" charset="-122"/>
                <a:ea typeface="微软雅黑" panose="020B0503020204020204" charset="-122"/>
                <a:sym typeface="+mn-ea"/>
              </a:rPr>
              <a:t>用户的立场</a:t>
            </a:r>
            <a:r>
              <a:rPr dirty="0">
                <a:latin typeface="微软雅黑" panose="020B0503020204020204" charset="-122"/>
                <a:ea typeface="微软雅黑" panose="020B0503020204020204" charset="-122"/>
                <a:sym typeface="+mn-ea"/>
              </a:rPr>
              <a:t>出发，对测试结果进行评审，看软件是否确实满足用户需要。还要评审软件配置，这是软件生存周期中维护阶段的主要依据。要确保软件配置齐全、正确、符合要求。软件确认评审通过，意味着软件产品可以移交。</a:t>
            </a:r>
          </a:p>
        </p:txBody>
      </p:sp>
      <p:sp>
        <p:nvSpPr>
          <p:cNvPr id="7" name="文本框 6"/>
          <p:cNvSpPr txBox="1"/>
          <p:nvPr/>
        </p:nvSpPr>
        <p:spPr>
          <a:xfrm>
            <a:off x="784211" y="2824480"/>
            <a:ext cx="461665" cy="1805944"/>
          </a:xfrm>
          <a:prstGeom prst="rect">
            <a:avLst/>
          </a:prstGeom>
          <a:noFill/>
        </p:spPr>
        <p:txBody>
          <a:bodyPr vert="eaVert" wrap="none" rtlCol="0">
            <a:spAutoFit/>
          </a:bodyPr>
          <a:lstStyle/>
          <a:p>
            <a:r>
              <a:rPr lang="en-US" altLang="zh-CN" spc="160" dirty="0" smtClean="0">
                <a:solidFill>
                  <a:schemeClr val="bg1"/>
                </a:solidFill>
                <a:latin typeface="微软雅黑" panose="020B0503020204020204" charset="-122"/>
                <a:ea typeface="微软雅黑" panose="020B0503020204020204" charset="-122"/>
              </a:rPr>
              <a:t>4.7.3 </a:t>
            </a:r>
            <a:r>
              <a:rPr lang="zh-CN" altLang="en-US" spc="160" dirty="0" smtClean="0">
                <a:solidFill>
                  <a:schemeClr val="bg1"/>
                </a:solidFill>
                <a:latin typeface="微软雅黑" panose="020B0503020204020204" charset="-122"/>
                <a:ea typeface="微软雅黑" panose="020B0503020204020204" charset="-122"/>
              </a:rPr>
              <a:t>软件确认</a:t>
            </a:r>
            <a:endParaRPr lang="zh-CN" altLang="en-US" spc="160" dirty="0">
              <a:solidFill>
                <a:schemeClr val="bg1"/>
              </a:solidFill>
              <a:latin typeface="微软雅黑" panose="020B0503020204020204" charset="-122"/>
              <a:ea typeface="微软雅黑" panose="020B0503020204020204" charset="-122"/>
            </a:endParaRPr>
          </a:p>
        </p:txBody>
      </p:sp>
    </p:spTree>
  </p:cSld>
  <p:clrMapOvr>
    <a:masterClrMapping/>
  </p:clrMapOvr>
  <p:transition>
    <p:diamond/>
  </p:transition>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8</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软件测试文档</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软件测试计划</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软件测试说明</a:t>
              </a:r>
            </a:p>
          </p:txBody>
        </p:sp>
      </p:grpSp>
      <p:sp>
        <p:nvSpPr>
          <p:cNvPr id="3" name="文本框 2"/>
          <p:cNvSpPr txBox="1"/>
          <p:nvPr/>
        </p:nvSpPr>
        <p:spPr>
          <a:xfrm>
            <a:off x="6006465" y="51415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软件测试报告</a:t>
            </a:r>
          </a:p>
        </p:txBody>
      </p:sp>
    </p:spTree>
  </p:cSld>
  <p:clrMapOvr>
    <a:masterClrMapping/>
  </p:clrMapOvr>
  <p:transition spd="slow">
    <p:wipe/>
  </p:transition>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3" cstate="print"/>
          <a:srcRect r="5298"/>
          <a:stretch>
            <a:fillRect/>
          </a:stretch>
        </p:blipFill>
        <p:spPr>
          <a:xfrm>
            <a:off x="1211580" y="794385"/>
            <a:ext cx="9866630" cy="5443220"/>
          </a:xfrm>
          <a:prstGeom prst="rect">
            <a:avLst/>
          </a:prstGeom>
          <a:noFill/>
          <a:ln w="9525">
            <a:noFill/>
          </a:ln>
        </p:spPr>
      </p:pic>
      <p:sp>
        <p:nvSpPr>
          <p:cNvPr id="3" name="标题 2"/>
          <p:cNvSpPr>
            <a:spLocks noGrp="1"/>
          </p:cNvSpPr>
          <p:nvPr>
            <p:ph type="title"/>
          </p:nvPr>
        </p:nvSpPr>
        <p:spPr/>
        <p:txBody>
          <a:bodyPr/>
          <a:lstStyle/>
          <a:p>
            <a:r>
              <a:rPr lang="zh-CN" altLang="en-US">
                <a:solidFill>
                  <a:srgbClr val="FF0000"/>
                </a:solidFill>
                <a:sym typeface="+mn-ea"/>
              </a:rPr>
              <a:t>4.8 软件测试文档</a:t>
            </a:r>
          </a:p>
        </p:txBody>
      </p:sp>
      <p:sp>
        <p:nvSpPr>
          <p:cNvPr id="14" name="文本框 13"/>
          <p:cNvSpPr txBox="1"/>
          <p:nvPr/>
        </p:nvSpPr>
        <p:spPr>
          <a:xfrm>
            <a:off x="2408555" y="2727960"/>
            <a:ext cx="5846445" cy="2606040"/>
          </a:xfrm>
          <a:prstGeom prst="rect">
            <a:avLst/>
          </a:prstGeom>
          <a:noFill/>
        </p:spPr>
        <p:txBody>
          <a:bodyPr wrap="square" rtlCol="0" anchor="t">
            <a:spAutoFit/>
          </a:bodyPr>
          <a:lstStyle/>
          <a:p>
            <a:pPr indent="0" fontAlgn="auto">
              <a:lnSpc>
                <a:spcPct val="150000"/>
              </a:lnSpc>
              <a:buClrTx/>
              <a:buNone/>
            </a:pPr>
            <a:r>
              <a:rPr lang="en-US" altLang="zh-CN" sz="2000" dirty="0">
                <a:latin typeface="微软雅黑" panose="020B0503020204020204" charset="-122"/>
                <a:ea typeface="微软雅黑" panose="020B0503020204020204" charset="-122"/>
              </a:rPr>
              <a:t>      </a:t>
            </a:r>
            <a:r>
              <a:rPr lang="zh-CN" altLang="en-US" dirty="0">
                <a:latin typeface="微软雅黑" panose="020B0503020204020204" charset="-122"/>
                <a:ea typeface="微软雅黑" panose="020B0503020204020204" charset="-122"/>
              </a:rPr>
              <a:t>国家标准GB/T 8567—2006《计算机软件文档编制规范》，规定了有关测试的文件有：</a:t>
            </a:r>
            <a:r>
              <a:rPr lang="zh-CN" altLang="en-US" dirty="0">
                <a:solidFill>
                  <a:srgbClr val="C00000"/>
                </a:solidFill>
                <a:latin typeface="微软雅黑" panose="020B0503020204020204" charset="-122"/>
                <a:ea typeface="微软雅黑" panose="020B0503020204020204" charset="-122"/>
              </a:rPr>
              <a:t>软件测试计划、软件测试说明和软件测试报告</a:t>
            </a:r>
            <a:r>
              <a:rPr lang="zh-CN" altLang="en-US" dirty="0">
                <a:latin typeface="微软雅黑" panose="020B0503020204020204" charset="-122"/>
                <a:ea typeface="微软雅黑" panose="020B0503020204020204" charset="-122"/>
              </a:rPr>
              <a:t>。每个软件项目可以根据需要选择文件的种类。软件测试计划和软件测试说明在需求分析阶段制订，在软件设计阶段进一步完善；软件测试报告在软件实现阶段完成。</a:t>
            </a:r>
          </a:p>
        </p:txBody>
      </p:sp>
    </p:spTree>
  </p:cSld>
  <p:clrMapOvr>
    <a:masterClrMapping/>
  </p:clrMapOvr>
  <p:transition>
    <p:randomBar dir="vert"/>
  </p:transition>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dirty="0">
                <a:solidFill>
                  <a:srgbClr val="FF0000"/>
                </a:solidFill>
                <a:sym typeface="+mn-ea"/>
              </a:rPr>
              <a:t>4.8 软件测试文档</a:t>
            </a:r>
            <a:endParaRPr lang="zh-CN" altLang="en-US" dirty="0">
              <a:solidFill>
                <a:srgbClr val="FF0000"/>
              </a:solidFill>
            </a:endParaRPr>
          </a:p>
        </p:txBody>
      </p:sp>
      <p:sp>
        <p:nvSpPr>
          <p:cNvPr id="7" name="文本框 6"/>
          <p:cNvSpPr txBox="1"/>
          <p:nvPr/>
        </p:nvSpPr>
        <p:spPr>
          <a:xfrm>
            <a:off x="754380" y="319024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软件测试计划</a:t>
            </a:r>
          </a:p>
        </p:txBody>
      </p:sp>
      <p:grpSp>
        <p:nvGrpSpPr>
          <p:cNvPr id="11" name="组合 10"/>
          <p:cNvGrpSpPr/>
          <p:nvPr/>
        </p:nvGrpSpPr>
        <p:grpSpPr>
          <a:xfrm>
            <a:off x="1430750" y="3446961"/>
            <a:ext cx="9505112" cy="2694532"/>
            <a:chOff x="3934" y="3954"/>
            <a:chExt cx="14970" cy="4961"/>
          </a:xfrm>
        </p:grpSpPr>
        <p:sp>
          <p:nvSpPr>
            <p:cNvPr id="42" name="Freeform 5"/>
            <p:cNvSpPr/>
            <p:nvPr>
              <p:custDataLst>
                <p:tags r:id="rId1"/>
              </p:custDataLst>
            </p:nvPr>
          </p:nvSpPr>
          <p:spPr bwMode="auto">
            <a:xfrm>
              <a:off x="9377" y="4091"/>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1"/>
            </a:solidFill>
            <a:ln>
              <a:noFill/>
            </a:ln>
          </p:spPr>
          <p:txBody>
            <a:bodyPr>
              <a:normAutofit fontScale="67500" lnSpcReduction="20000"/>
            </a:bodyPr>
            <a:lstStyle/>
            <a:p>
              <a:endParaRPr lang="zh-CN" altLang="en-US"/>
            </a:p>
          </p:txBody>
        </p:sp>
        <p:sp>
          <p:nvSpPr>
            <p:cNvPr id="43" name="Freeform 6"/>
            <p:cNvSpPr/>
            <p:nvPr>
              <p:custDataLst>
                <p:tags r:id="rId2"/>
              </p:custDataLst>
            </p:nvPr>
          </p:nvSpPr>
          <p:spPr bwMode="auto">
            <a:xfrm>
              <a:off x="9311" y="456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1"/>
            </a:solidFill>
            <a:ln>
              <a:noFill/>
            </a:ln>
          </p:spPr>
          <p:txBody>
            <a:bodyPr>
              <a:normAutofit/>
            </a:bodyPr>
            <a:lstStyle/>
            <a:p>
              <a:endParaRPr lang="zh-CN" altLang="en-US"/>
            </a:p>
          </p:txBody>
        </p:sp>
        <p:sp>
          <p:nvSpPr>
            <p:cNvPr id="44" name="Freeform 5"/>
            <p:cNvSpPr/>
            <p:nvPr>
              <p:custDataLst>
                <p:tags r:id="rId3"/>
              </p:custDataLst>
            </p:nvPr>
          </p:nvSpPr>
          <p:spPr bwMode="auto">
            <a:xfrm rot="10800000">
              <a:off x="9368" y="8067"/>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2"/>
            </a:solidFill>
            <a:ln>
              <a:noFill/>
            </a:ln>
          </p:spPr>
          <p:txBody>
            <a:bodyPr>
              <a:normAutofit fontScale="67500" lnSpcReduction="20000"/>
            </a:bodyPr>
            <a:lstStyle/>
            <a:p>
              <a:endParaRPr lang="zh-CN" altLang="en-US"/>
            </a:p>
          </p:txBody>
        </p:sp>
        <p:sp>
          <p:nvSpPr>
            <p:cNvPr id="45" name="Freeform 6"/>
            <p:cNvSpPr/>
            <p:nvPr>
              <p:custDataLst>
                <p:tags r:id="rId4"/>
              </p:custDataLst>
            </p:nvPr>
          </p:nvSpPr>
          <p:spPr bwMode="auto">
            <a:xfrm rot="10800000">
              <a:off x="9311" y="6703"/>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2"/>
            </a:solidFill>
            <a:ln>
              <a:noFill/>
            </a:ln>
          </p:spPr>
          <p:txBody>
            <a:bodyPr>
              <a:normAutofit/>
            </a:bodyPr>
            <a:lstStyle/>
            <a:p>
              <a:endParaRPr lang="zh-CN" altLang="en-US"/>
            </a:p>
          </p:txBody>
        </p:sp>
        <p:sp>
          <p:nvSpPr>
            <p:cNvPr id="59" name="Freeform 5"/>
            <p:cNvSpPr/>
            <p:nvPr>
              <p:custDataLst>
                <p:tags r:id="rId5"/>
              </p:custDataLst>
            </p:nvPr>
          </p:nvSpPr>
          <p:spPr bwMode="auto">
            <a:xfrm rot="5400000">
              <a:off x="11361" y="6083"/>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3"/>
            </a:solidFill>
            <a:ln>
              <a:noFill/>
            </a:ln>
          </p:spPr>
          <p:txBody>
            <a:bodyPr>
              <a:normAutofit fontScale="82500" lnSpcReduction="20000"/>
            </a:bodyPr>
            <a:lstStyle/>
            <a:p>
              <a:endParaRPr lang="zh-CN" altLang="en-US"/>
            </a:p>
          </p:txBody>
        </p:sp>
        <p:sp>
          <p:nvSpPr>
            <p:cNvPr id="60" name="Freeform 6"/>
            <p:cNvSpPr/>
            <p:nvPr>
              <p:custDataLst>
                <p:tags r:id="rId6"/>
              </p:custDataLst>
            </p:nvPr>
          </p:nvSpPr>
          <p:spPr bwMode="auto">
            <a:xfrm rot="5400000">
              <a:off x="10380"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3"/>
            </a:solidFill>
            <a:ln>
              <a:noFill/>
            </a:ln>
          </p:spPr>
          <p:txBody>
            <a:bodyPr>
              <a:normAutofit/>
            </a:bodyPr>
            <a:lstStyle/>
            <a:p>
              <a:endParaRPr lang="zh-CN" altLang="en-US"/>
            </a:p>
          </p:txBody>
        </p:sp>
        <p:sp>
          <p:nvSpPr>
            <p:cNvPr id="61" name="Freeform 5"/>
            <p:cNvSpPr/>
            <p:nvPr>
              <p:custDataLst>
                <p:tags r:id="rId7"/>
              </p:custDataLst>
            </p:nvPr>
          </p:nvSpPr>
          <p:spPr bwMode="auto">
            <a:xfrm rot="16200000">
              <a:off x="7385" y="6075"/>
              <a:ext cx="454" cy="454"/>
            </a:xfrm>
            <a:custGeom>
              <a:avLst/>
              <a:gdLst>
                <a:gd name="T0" fmla="*/ 2147483646 w 48"/>
                <a:gd name="T1" fmla="*/ 2147483646 h 48"/>
                <a:gd name="T2" fmla="*/ 2147483646 w 48"/>
                <a:gd name="T3" fmla="*/ 2147483646 h 48"/>
                <a:gd name="T4" fmla="*/ 0 w 48"/>
                <a:gd name="T5" fmla="*/ 2147483646 h 48"/>
                <a:gd name="T6" fmla="*/ 2147483646 w 48"/>
                <a:gd name="T7" fmla="*/ 0 h 48"/>
                <a:gd name="T8" fmla="*/ 2147483646 w 48"/>
                <a:gd name="T9" fmla="*/ 2147483646 h 4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48">
                  <a:moveTo>
                    <a:pt x="48" y="24"/>
                  </a:moveTo>
                  <a:cubicBezTo>
                    <a:pt x="48" y="37"/>
                    <a:pt x="37" y="48"/>
                    <a:pt x="24" y="48"/>
                  </a:cubicBezTo>
                  <a:cubicBezTo>
                    <a:pt x="11" y="48"/>
                    <a:pt x="0" y="38"/>
                    <a:pt x="0" y="24"/>
                  </a:cubicBezTo>
                  <a:cubicBezTo>
                    <a:pt x="0" y="11"/>
                    <a:pt x="10" y="0"/>
                    <a:pt x="24" y="0"/>
                  </a:cubicBezTo>
                  <a:cubicBezTo>
                    <a:pt x="37" y="0"/>
                    <a:pt x="48" y="11"/>
                    <a:pt x="48" y="24"/>
                  </a:cubicBezTo>
                  <a:close/>
                </a:path>
              </a:pathLst>
            </a:custGeom>
            <a:solidFill>
              <a:schemeClr val="accent5"/>
            </a:solidFill>
            <a:ln>
              <a:noFill/>
            </a:ln>
          </p:spPr>
          <p:txBody>
            <a:bodyPr>
              <a:normAutofit fontScale="82500" lnSpcReduction="20000"/>
            </a:bodyPr>
            <a:lstStyle/>
            <a:p>
              <a:endParaRPr lang="zh-CN" altLang="en-US"/>
            </a:p>
          </p:txBody>
        </p:sp>
        <p:sp>
          <p:nvSpPr>
            <p:cNvPr id="62" name="Freeform 6"/>
            <p:cNvSpPr/>
            <p:nvPr>
              <p:custDataLst>
                <p:tags r:id="rId8"/>
              </p:custDataLst>
            </p:nvPr>
          </p:nvSpPr>
          <p:spPr bwMode="auto">
            <a:xfrm rot="16200000">
              <a:off x="8241" y="5634"/>
              <a:ext cx="578" cy="1345"/>
            </a:xfrm>
            <a:custGeom>
              <a:avLst/>
              <a:gdLst>
                <a:gd name="T0" fmla="*/ 2147483646 w 61"/>
                <a:gd name="T1" fmla="*/ 2147483646 h 142"/>
                <a:gd name="T2" fmla="*/ 2147483646 w 61"/>
                <a:gd name="T3" fmla="*/ 2147483646 h 142"/>
                <a:gd name="T4" fmla="*/ 2147483646 w 61"/>
                <a:gd name="T5" fmla="*/ 2147483646 h 142"/>
                <a:gd name="T6" fmla="*/ 2147483646 w 61"/>
                <a:gd name="T7" fmla="*/ 2147483646 h 142"/>
                <a:gd name="T8" fmla="*/ 2147483646 w 61"/>
                <a:gd name="T9" fmla="*/ 2147483646 h 142"/>
                <a:gd name="T10" fmla="*/ 0 w 61"/>
                <a:gd name="T11" fmla="*/ 2147483646 h 142"/>
                <a:gd name="T12" fmla="*/ 2147483646 w 61"/>
                <a:gd name="T13" fmla="*/ 0 h 142"/>
                <a:gd name="T14" fmla="*/ 2147483646 w 61"/>
                <a:gd name="T15" fmla="*/ 0 h 142"/>
                <a:gd name="T16" fmla="*/ 2147483646 w 61"/>
                <a:gd name="T17" fmla="*/ 2147483646 h 142"/>
                <a:gd name="T18" fmla="*/ 2147483646 w 61"/>
                <a:gd name="T19" fmla="*/ 2147483646 h 142"/>
                <a:gd name="T20" fmla="*/ 2147483646 w 61"/>
                <a:gd name="T21" fmla="*/ 2147483646 h 14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61" h="142">
                  <a:moveTo>
                    <a:pt x="54" y="129"/>
                  </a:moveTo>
                  <a:cubicBezTo>
                    <a:pt x="54" y="141"/>
                    <a:pt x="43" y="51"/>
                    <a:pt x="31" y="52"/>
                  </a:cubicBezTo>
                  <a:cubicBezTo>
                    <a:pt x="31" y="52"/>
                    <a:pt x="31" y="52"/>
                    <a:pt x="31" y="52"/>
                  </a:cubicBezTo>
                  <a:cubicBezTo>
                    <a:pt x="19" y="52"/>
                    <a:pt x="9" y="142"/>
                    <a:pt x="9" y="129"/>
                  </a:cubicBezTo>
                  <a:cubicBezTo>
                    <a:pt x="15" y="24"/>
                    <a:pt x="15" y="24"/>
                    <a:pt x="15" y="24"/>
                  </a:cubicBezTo>
                  <a:cubicBezTo>
                    <a:pt x="0" y="44"/>
                    <a:pt x="0" y="44"/>
                    <a:pt x="0" y="44"/>
                  </a:cubicBezTo>
                  <a:cubicBezTo>
                    <a:pt x="0" y="41"/>
                    <a:pt x="21" y="0"/>
                    <a:pt x="31" y="0"/>
                  </a:cubicBezTo>
                  <a:cubicBezTo>
                    <a:pt x="31" y="0"/>
                    <a:pt x="31" y="0"/>
                    <a:pt x="31" y="0"/>
                  </a:cubicBezTo>
                  <a:cubicBezTo>
                    <a:pt x="41" y="0"/>
                    <a:pt x="61" y="43"/>
                    <a:pt x="61" y="45"/>
                  </a:cubicBezTo>
                  <a:cubicBezTo>
                    <a:pt x="47" y="24"/>
                    <a:pt x="47" y="24"/>
                    <a:pt x="47" y="24"/>
                  </a:cubicBezTo>
                  <a:lnTo>
                    <a:pt x="54" y="129"/>
                  </a:lnTo>
                  <a:close/>
                </a:path>
              </a:pathLst>
            </a:custGeom>
            <a:solidFill>
              <a:schemeClr val="accent5"/>
            </a:solidFill>
            <a:ln>
              <a:noFill/>
            </a:ln>
          </p:spPr>
          <p:txBody>
            <a:bodyPr>
              <a:normAutofit/>
            </a:bodyPr>
            <a:lstStyle/>
            <a:p>
              <a:endParaRPr lang="zh-CN" altLang="en-US"/>
            </a:p>
          </p:txBody>
        </p:sp>
        <p:sp>
          <p:nvSpPr>
            <p:cNvPr id="65" name="Freeform 13"/>
            <p:cNvSpPr/>
            <p:nvPr>
              <p:custDataLst>
                <p:tags r:id="rId9"/>
              </p:custDataLst>
            </p:nvPr>
          </p:nvSpPr>
          <p:spPr bwMode="auto">
            <a:xfrm rot="13352992">
              <a:off x="10435" y="4379"/>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1"/>
            </a:solidFill>
            <a:ln>
              <a:noFill/>
            </a:ln>
          </p:spPr>
          <p:txBody>
            <a:bodyPr>
              <a:normAutofit fontScale="62500" lnSpcReduction="20000"/>
            </a:bodyPr>
            <a:lstStyle/>
            <a:p>
              <a:endParaRPr lang="zh-CN" altLang="en-US"/>
            </a:p>
          </p:txBody>
        </p:sp>
        <p:sp>
          <p:nvSpPr>
            <p:cNvPr id="66" name="Freeform 14"/>
            <p:cNvSpPr/>
            <p:nvPr>
              <p:custDataLst>
                <p:tags r:id="rId10"/>
              </p:custDataLst>
            </p:nvPr>
          </p:nvSpPr>
          <p:spPr bwMode="auto">
            <a:xfrm rot="13352992">
              <a:off x="11306" y="4964"/>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1"/>
            </a:solidFill>
            <a:ln>
              <a:noFill/>
            </a:ln>
          </p:spPr>
          <p:txBody>
            <a:bodyPr>
              <a:normAutofit fontScale="25000" lnSpcReduction="20000"/>
            </a:bodyPr>
            <a:lstStyle/>
            <a:p>
              <a:endParaRPr lang="zh-CN" altLang="en-US"/>
            </a:p>
          </p:txBody>
        </p:sp>
        <p:sp>
          <p:nvSpPr>
            <p:cNvPr id="67" name="Freeform 13"/>
            <p:cNvSpPr/>
            <p:nvPr>
              <p:custDataLst>
                <p:tags r:id="rId11"/>
              </p:custDataLst>
            </p:nvPr>
          </p:nvSpPr>
          <p:spPr bwMode="auto">
            <a:xfrm rot="2552992">
              <a:off x="7354" y="7613"/>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2"/>
            </a:solidFill>
            <a:ln>
              <a:noFill/>
            </a:ln>
          </p:spPr>
          <p:txBody>
            <a:bodyPr>
              <a:normAutofit fontScale="62500" lnSpcReduction="20000"/>
            </a:bodyPr>
            <a:lstStyle/>
            <a:p>
              <a:endParaRPr lang="zh-CN" altLang="en-US"/>
            </a:p>
          </p:txBody>
        </p:sp>
        <p:sp>
          <p:nvSpPr>
            <p:cNvPr id="70" name="Freeform 14"/>
            <p:cNvSpPr/>
            <p:nvPr>
              <p:custDataLst>
                <p:tags r:id="rId12"/>
              </p:custDataLst>
            </p:nvPr>
          </p:nvSpPr>
          <p:spPr bwMode="auto">
            <a:xfrm rot="2552992">
              <a:off x="7558" y="7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2"/>
            </a:solidFill>
            <a:ln>
              <a:noFill/>
            </a:ln>
          </p:spPr>
          <p:txBody>
            <a:bodyPr>
              <a:normAutofit fontScale="25000" lnSpcReduction="20000"/>
            </a:bodyPr>
            <a:lstStyle/>
            <a:p>
              <a:endParaRPr lang="zh-CN" altLang="en-US"/>
            </a:p>
          </p:txBody>
        </p:sp>
        <p:sp>
          <p:nvSpPr>
            <p:cNvPr id="72" name="Freeform 13"/>
            <p:cNvSpPr/>
            <p:nvPr>
              <p:custDataLst>
                <p:tags r:id="rId13"/>
              </p:custDataLst>
            </p:nvPr>
          </p:nvSpPr>
          <p:spPr bwMode="auto">
            <a:xfrm rot="18752992">
              <a:off x="10511" y="753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3"/>
            </a:solidFill>
            <a:ln>
              <a:noFill/>
            </a:ln>
          </p:spPr>
          <p:txBody>
            <a:bodyPr>
              <a:normAutofit fontScale="85000" lnSpcReduction="20000"/>
            </a:bodyPr>
            <a:lstStyle/>
            <a:p>
              <a:endParaRPr lang="zh-CN" altLang="en-US"/>
            </a:p>
          </p:txBody>
        </p:sp>
        <p:sp>
          <p:nvSpPr>
            <p:cNvPr id="75" name="Freeform 14"/>
            <p:cNvSpPr/>
            <p:nvPr>
              <p:custDataLst>
                <p:tags r:id="rId14"/>
              </p:custDataLst>
            </p:nvPr>
          </p:nvSpPr>
          <p:spPr bwMode="auto">
            <a:xfrm rot="18752992">
              <a:off x="10558" y="7965"/>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3"/>
            </a:solidFill>
            <a:ln>
              <a:noFill/>
            </a:ln>
          </p:spPr>
          <p:txBody>
            <a:bodyPr>
              <a:normAutofit fontScale="32500" lnSpcReduction="20000"/>
            </a:bodyPr>
            <a:lstStyle/>
            <a:p>
              <a:endParaRPr lang="zh-CN" altLang="en-US"/>
            </a:p>
          </p:txBody>
        </p:sp>
        <p:sp>
          <p:nvSpPr>
            <p:cNvPr id="76" name="Freeform 13"/>
            <p:cNvSpPr/>
            <p:nvPr>
              <p:custDataLst>
                <p:tags r:id="rId15"/>
              </p:custDataLst>
            </p:nvPr>
          </p:nvSpPr>
          <p:spPr bwMode="auto">
            <a:xfrm rot="7952992">
              <a:off x="7278" y="4456"/>
              <a:ext cx="1346" cy="451"/>
            </a:xfrm>
            <a:custGeom>
              <a:avLst/>
              <a:gdLst>
                <a:gd name="T0" fmla="*/ 2147483646 w 134"/>
                <a:gd name="T1" fmla="*/ 2147483646 h 45"/>
                <a:gd name="T2" fmla="*/ 0 w 134"/>
                <a:gd name="T3" fmla="*/ 858130801 h 45"/>
                <a:gd name="T4" fmla="*/ 717286263 w 134"/>
                <a:gd name="T5" fmla="*/ 0 h 45"/>
                <a:gd name="T6" fmla="*/ 2147483646 w 134"/>
                <a:gd name="T7" fmla="*/ 572091187 h 45"/>
                <a:gd name="T8" fmla="*/ 2147483646 w 134"/>
                <a:gd name="T9" fmla="*/ 1430221989 h 45"/>
                <a:gd name="T10" fmla="*/ 2147483646 w 134"/>
                <a:gd name="T11" fmla="*/ 2147483646 h 4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34" h="45">
                  <a:moveTo>
                    <a:pt x="69" y="32"/>
                  </a:moveTo>
                  <a:cubicBezTo>
                    <a:pt x="37" y="32"/>
                    <a:pt x="12" y="16"/>
                    <a:pt x="0" y="6"/>
                  </a:cubicBezTo>
                  <a:cubicBezTo>
                    <a:pt x="5" y="0"/>
                    <a:pt x="5" y="0"/>
                    <a:pt x="5" y="0"/>
                  </a:cubicBezTo>
                  <a:cubicBezTo>
                    <a:pt x="23" y="15"/>
                    <a:pt x="70" y="45"/>
                    <a:pt x="129" y="4"/>
                  </a:cubicBezTo>
                  <a:cubicBezTo>
                    <a:pt x="134" y="10"/>
                    <a:pt x="134" y="10"/>
                    <a:pt x="134" y="10"/>
                  </a:cubicBezTo>
                  <a:cubicBezTo>
                    <a:pt x="110" y="26"/>
                    <a:pt x="88" y="32"/>
                    <a:pt x="69" y="32"/>
                  </a:cubicBezTo>
                  <a:close/>
                </a:path>
              </a:pathLst>
            </a:custGeom>
            <a:solidFill>
              <a:schemeClr val="accent5"/>
            </a:solidFill>
            <a:ln>
              <a:noFill/>
            </a:ln>
          </p:spPr>
          <p:txBody>
            <a:bodyPr>
              <a:normAutofit fontScale="85000" lnSpcReduction="20000"/>
            </a:bodyPr>
            <a:lstStyle/>
            <a:p>
              <a:endParaRPr lang="zh-CN" altLang="en-US"/>
            </a:p>
          </p:txBody>
        </p:sp>
        <p:sp>
          <p:nvSpPr>
            <p:cNvPr id="77" name="Freeform 14"/>
            <p:cNvSpPr/>
            <p:nvPr>
              <p:custDataLst>
                <p:tags r:id="rId16"/>
              </p:custDataLst>
            </p:nvPr>
          </p:nvSpPr>
          <p:spPr bwMode="auto">
            <a:xfrm rot="7952992">
              <a:off x="8306" y="4217"/>
              <a:ext cx="270" cy="262"/>
            </a:xfrm>
            <a:custGeom>
              <a:avLst/>
              <a:gdLst>
                <a:gd name="T0" fmla="*/ 171370359 w 203"/>
                <a:gd name="T1" fmla="*/ 496469194 h 197"/>
                <a:gd name="T2" fmla="*/ 151209140 w 203"/>
                <a:gd name="T3" fmla="*/ 153728492 h 197"/>
                <a:gd name="T4" fmla="*/ 511590131 w 203"/>
                <a:gd name="T5" fmla="*/ 133567274 h 197"/>
                <a:gd name="T6" fmla="*/ 342740718 w 203"/>
                <a:gd name="T7" fmla="*/ 0 h 197"/>
                <a:gd name="T8" fmla="*/ 0 w 203"/>
                <a:gd name="T9" fmla="*/ 20161218 h 197"/>
                <a:gd name="T10" fmla="*/ 17640273 w 203"/>
                <a:gd name="T11" fmla="*/ 362901920 h 197"/>
                <a:gd name="T12" fmla="*/ 171370359 w 203"/>
                <a:gd name="T13" fmla="*/ 496469194 h 19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3" h="197">
                  <a:moveTo>
                    <a:pt x="68" y="197"/>
                  </a:moveTo>
                  <a:lnTo>
                    <a:pt x="60" y="61"/>
                  </a:lnTo>
                  <a:lnTo>
                    <a:pt x="203" y="53"/>
                  </a:lnTo>
                  <a:lnTo>
                    <a:pt x="136" y="0"/>
                  </a:lnTo>
                  <a:lnTo>
                    <a:pt x="0" y="8"/>
                  </a:lnTo>
                  <a:lnTo>
                    <a:pt x="7" y="144"/>
                  </a:lnTo>
                  <a:lnTo>
                    <a:pt x="68" y="197"/>
                  </a:lnTo>
                  <a:close/>
                </a:path>
              </a:pathLst>
            </a:custGeom>
            <a:solidFill>
              <a:schemeClr val="accent5"/>
            </a:solidFill>
            <a:ln>
              <a:noFill/>
            </a:ln>
          </p:spPr>
          <p:txBody>
            <a:bodyPr>
              <a:normAutofit fontScale="32500" lnSpcReduction="20000"/>
            </a:bodyPr>
            <a:lstStyle/>
            <a:p>
              <a:endParaRPr lang="zh-CN" altLang="en-US"/>
            </a:p>
          </p:txBody>
        </p:sp>
        <p:sp>
          <p:nvSpPr>
            <p:cNvPr id="47" name="文本框 17"/>
            <p:cNvSpPr txBox="1">
              <a:spLocks noChangeArrowheads="1"/>
            </p:cNvSpPr>
            <p:nvPr>
              <p:custDataLst>
                <p:tags r:id="rId17"/>
              </p:custDataLst>
            </p:nvPr>
          </p:nvSpPr>
          <p:spPr bwMode="auto">
            <a:xfrm>
              <a:off x="4102" y="4057"/>
              <a:ext cx="3403" cy="5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smtClean="0">
                  <a:latin typeface="+mj-lt"/>
                  <a:ea typeface="+mj-ea"/>
                  <a:cs typeface="+mj-cs"/>
                </a:rPr>
                <a:t>（</a:t>
              </a:r>
              <a:r>
                <a:rPr lang="en-US" altLang="zh-CN" sz="1800" b="1" dirty="0" smtClean="0">
                  <a:latin typeface="+mj-lt"/>
                  <a:ea typeface="+mj-ea"/>
                  <a:cs typeface="+mj-cs"/>
                </a:rPr>
                <a:t>1</a:t>
              </a:r>
              <a:r>
                <a:rPr lang="zh-CN" altLang="en-US" sz="1800" b="1" dirty="0" smtClean="0">
                  <a:latin typeface="+mj-lt"/>
                  <a:ea typeface="+mj-ea"/>
                  <a:cs typeface="+mj-cs"/>
                </a:rPr>
                <a:t>）</a:t>
              </a:r>
              <a:r>
                <a:rPr sz="1800" b="1" dirty="0">
                  <a:latin typeface="微软雅黑" panose="020B0503020204020204" charset="-122"/>
                  <a:ea typeface="微软雅黑" panose="020B0503020204020204" charset="-122"/>
                  <a:sym typeface="+mn-ea"/>
                </a:rPr>
                <a:t>测试内容</a:t>
              </a:r>
              <a:endParaRPr lang="zh-CN" altLang="en-US" sz="1800" b="1" dirty="0" smtClean="0">
                <a:latin typeface="+mj-lt"/>
                <a:ea typeface="+mj-ea"/>
                <a:cs typeface="+mj-cs"/>
              </a:endParaRPr>
            </a:p>
          </p:txBody>
        </p:sp>
        <p:sp>
          <p:nvSpPr>
            <p:cNvPr id="51" name="文本框 23"/>
            <p:cNvSpPr txBox="1">
              <a:spLocks noChangeArrowheads="1"/>
            </p:cNvSpPr>
            <p:nvPr>
              <p:custDataLst>
                <p:tags r:id="rId18"/>
              </p:custDataLst>
            </p:nvPr>
          </p:nvSpPr>
          <p:spPr bwMode="auto">
            <a:xfrm>
              <a:off x="3934" y="7876"/>
              <a:ext cx="3738" cy="58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dirty="0" smtClean="0">
                  <a:latin typeface="+mj-lt"/>
                  <a:ea typeface="+mj-ea"/>
                  <a:cs typeface="+mj-cs"/>
                </a:rPr>
                <a:t>（</a:t>
              </a:r>
              <a:r>
                <a:rPr lang="en-US" altLang="zh-CN" sz="1800" b="1" dirty="0" smtClean="0">
                  <a:latin typeface="+mj-lt"/>
                  <a:ea typeface="+mj-ea"/>
                  <a:cs typeface="+mj-cs"/>
                </a:rPr>
                <a:t>3</a:t>
              </a:r>
              <a:r>
                <a:rPr lang="zh-CN" altLang="en-US" sz="1800" b="1" dirty="0" smtClean="0">
                  <a:latin typeface="+mj-lt"/>
                  <a:ea typeface="+mj-ea"/>
                  <a:cs typeface="+mj-cs"/>
                </a:rPr>
                <a:t>）</a:t>
              </a:r>
              <a:r>
                <a:rPr sz="1800" b="1" dirty="0">
                  <a:latin typeface="微软雅黑" panose="020B0503020204020204" charset="-122"/>
                  <a:ea typeface="微软雅黑" panose="020B0503020204020204" charset="-122"/>
                  <a:sym typeface="+mn-ea"/>
                </a:rPr>
                <a:t>设计考虑</a:t>
              </a:r>
              <a:endParaRPr lang="zh-CN" altLang="en-US" sz="1800" b="1" dirty="0" smtClean="0">
                <a:latin typeface="+mj-lt"/>
                <a:ea typeface="+mj-ea"/>
                <a:cs typeface="+mj-cs"/>
              </a:endParaRPr>
            </a:p>
          </p:txBody>
        </p:sp>
        <p:sp>
          <p:nvSpPr>
            <p:cNvPr id="86" name="文本框 17"/>
            <p:cNvSpPr txBox="1">
              <a:spLocks noChangeArrowheads="1"/>
            </p:cNvSpPr>
            <p:nvPr>
              <p:custDataLst>
                <p:tags r:id="rId19"/>
              </p:custDataLst>
            </p:nvPr>
          </p:nvSpPr>
          <p:spPr bwMode="auto">
            <a:xfrm>
              <a:off x="11815" y="3954"/>
              <a:ext cx="3468" cy="58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75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a:t>
              </a:r>
              <a:r>
                <a:rPr lang="en-US" altLang="zh-CN" sz="1800" b="1" smtClean="0">
                  <a:latin typeface="+mj-lt"/>
                  <a:ea typeface="+mj-ea"/>
                  <a:cs typeface="+mj-cs"/>
                </a:rPr>
                <a:t>2</a:t>
              </a:r>
              <a:r>
                <a:rPr lang="zh-CN" altLang="en-US" sz="1800" b="1" smtClean="0">
                  <a:latin typeface="+mj-lt"/>
                  <a:ea typeface="+mj-ea"/>
                  <a:cs typeface="+mj-cs"/>
                </a:rPr>
                <a:t>）</a:t>
              </a:r>
              <a:r>
                <a:rPr sz="1800" b="1">
                  <a:latin typeface="微软雅黑" panose="020B0503020204020204" charset="-122"/>
                  <a:ea typeface="微软雅黑" panose="020B0503020204020204" charset="-122"/>
                  <a:sym typeface="+mn-ea"/>
                </a:rPr>
                <a:t>进度安排</a:t>
              </a:r>
              <a:endParaRPr lang="zh-CN" altLang="en-US" sz="1800" b="1" smtClean="0">
                <a:latin typeface="+mj-lt"/>
                <a:ea typeface="+mj-ea"/>
                <a:cs typeface="+mj-cs"/>
              </a:endParaRPr>
            </a:p>
          </p:txBody>
        </p:sp>
        <p:sp>
          <p:nvSpPr>
            <p:cNvPr id="84" name="文本框 23"/>
            <p:cNvSpPr txBox="1">
              <a:spLocks noChangeArrowheads="1"/>
            </p:cNvSpPr>
            <p:nvPr>
              <p:custDataLst>
                <p:tags r:id="rId20"/>
              </p:custDataLst>
            </p:nvPr>
          </p:nvSpPr>
          <p:spPr bwMode="auto">
            <a:xfrm>
              <a:off x="11757" y="7876"/>
              <a:ext cx="7147" cy="10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smtClean="0">
                  <a:latin typeface="+mj-lt"/>
                  <a:ea typeface="+mj-ea"/>
                  <a:cs typeface="+mj-cs"/>
                </a:rPr>
                <a:t>（</a:t>
              </a:r>
              <a:r>
                <a:rPr lang="en-US" altLang="zh-CN" sz="1800" b="1" smtClean="0">
                  <a:latin typeface="+mj-lt"/>
                  <a:ea typeface="+mj-ea"/>
                  <a:cs typeface="+mj-cs"/>
                </a:rPr>
                <a:t>4</a:t>
              </a:r>
              <a:r>
                <a:rPr lang="zh-CN" altLang="en-US" sz="1800" b="1" smtClean="0">
                  <a:latin typeface="+mj-lt"/>
                  <a:ea typeface="+mj-ea"/>
                  <a:cs typeface="+mj-cs"/>
                </a:rPr>
                <a:t>）</a:t>
              </a:r>
              <a:r>
                <a:rPr sz="1800" b="1">
                  <a:latin typeface="微软雅黑" panose="020B0503020204020204" charset="-122"/>
                  <a:ea typeface="微软雅黑" panose="020B0503020204020204" charset="-122"/>
                  <a:sym typeface="+mn-ea"/>
                </a:rPr>
                <a:t>测试数据的整理方法及评价准则等</a:t>
              </a:r>
              <a:endParaRPr lang="zh-CN" altLang="en-US" sz="1800" b="1" smtClean="0">
                <a:latin typeface="+mj-lt"/>
                <a:ea typeface="+mj-ea"/>
                <a:cs typeface="+mj-cs"/>
              </a:endParaRPr>
            </a:p>
          </p:txBody>
        </p:sp>
      </p:grpSp>
      <p:sp>
        <p:nvSpPr>
          <p:cNvPr id="29" name="TextBox 6"/>
          <p:cNvSpPr txBox="1"/>
          <p:nvPr/>
        </p:nvSpPr>
        <p:spPr>
          <a:xfrm>
            <a:off x="802640" y="1403350"/>
            <a:ext cx="5777230" cy="572464"/>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4.8.1 </a:t>
            </a:r>
            <a:r>
              <a:rPr lang="zh-CN" sz="2400" dirty="0" smtClean="0">
                <a:solidFill>
                  <a:schemeClr val="tx1"/>
                </a:solidFill>
              </a:rPr>
              <a:t>软件测试计划</a:t>
            </a:r>
          </a:p>
        </p:txBody>
      </p:sp>
      <p:sp>
        <p:nvSpPr>
          <p:cNvPr id="30" name="文本框 13"/>
          <p:cNvSpPr txBox="1"/>
          <p:nvPr/>
        </p:nvSpPr>
        <p:spPr>
          <a:xfrm>
            <a:off x="825415" y="2127459"/>
            <a:ext cx="10502227" cy="707886"/>
          </a:xfrm>
          <a:prstGeom prst="rect">
            <a:avLst/>
          </a:prstGeom>
          <a:noFill/>
        </p:spPr>
        <p:txBody>
          <a:bodyPr wrap="square" rtlCol="0" anchor="t">
            <a:spAutoFit/>
          </a:bodyPr>
          <a:lstStyle/>
          <a:p>
            <a:r>
              <a:rPr lang="zh-CN" altLang="en-US" sz="2000" dirty="0" smtClean="0"/>
              <a:t>        软件测试计划描述测试活动的范围、方法、资源和进度。它规定被测试的项、特性、应完成的测试任务、承担各项工作的人员职责及与本计划有关的风险等。</a:t>
            </a:r>
            <a:endParaRPr lang="zh-CN" altLang="en-US" sz="2000" dirty="0"/>
          </a:p>
        </p:txBody>
      </p:sp>
    </p:spTree>
  </p:cSld>
  <p:clrMapOvr>
    <a:masterClrMapping/>
  </p:clrMapOvr>
  <p:transition>
    <p:randomBar dir="vert"/>
  </p:transition>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solidFill>
                  <a:srgbClr val="FF0000"/>
                </a:solidFill>
                <a:sym typeface="+mn-ea"/>
              </a:rPr>
              <a:t>4.8 软件测试文档</a:t>
            </a:r>
            <a:endParaRPr lang="zh-CN" altLang="en-US">
              <a:solidFill>
                <a:srgbClr val="FF0000"/>
              </a:solidFill>
            </a:endParaRPr>
          </a:p>
        </p:txBody>
      </p:sp>
      <p:sp>
        <p:nvSpPr>
          <p:cNvPr id="7" name="文本框 6"/>
          <p:cNvSpPr txBox="1"/>
          <p:nvPr/>
        </p:nvSpPr>
        <p:spPr>
          <a:xfrm>
            <a:off x="754380" y="319024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软件测试说明</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4.8.2 </a:t>
            </a:r>
            <a:r>
              <a:rPr lang="zh-CN" sz="2400" dirty="0" smtClean="0">
                <a:solidFill>
                  <a:schemeClr val="tx1"/>
                </a:solidFill>
              </a:rPr>
              <a:t>软件测试说明</a:t>
            </a:r>
          </a:p>
        </p:txBody>
      </p:sp>
      <p:grpSp>
        <p:nvGrpSpPr>
          <p:cNvPr id="2" name="组合 1"/>
          <p:cNvGrpSpPr/>
          <p:nvPr/>
        </p:nvGrpSpPr>
        <p:grpSpPr>
          <a:xfrm>
            <a:off x="1007745" y="2061210"/>
            <a:ext cx="9939976" cy="4006850"/>
            <a:chOff x="677" y="2256"/>
            <a:chExt cx="18064" cy="7820"/>
          </a:xfrm>
        </p:grpSpPr>
        <p:grpSp>
          <p:nvGrpSpPr>
            <p:cNvPr id="6" name="组合 5"/>
            <p:cNvGrpSpPr/>
            <p:nvPr/>
          </p:nvGrpSpPr>
          <p:grpSpPr>
            <a:xfrm>
              <a:off x="677" y="2256"/>
              <a:ext cx="17811" cy="4369"/>
              <a:chOff x="677" y="2256"/>
              <a:chExt cx="17811" cy="4369"/>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20" name="Text Box 10"/>
              <p:cNvSpPr txBox="1">
                <a:spLocks noChangeArrowheads="1"/>
              </p:cNvSpPr>
              <p:nvPr>
                <p:custDataLst>
                  <p:tags r:id="rId9"/>
                </p:custDataLst>
              </p:nvPr>
            </p:nvSpPr>
            <p:spPr bwMode="auto">
              <a:xfrm>
                <a:off x="677" y="5283"/>
                <a:ext cx="5244" cy="134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latin typeface="微软雅黑" panose="020B0503020204020204" charset="-122"/>
                    <a:ea typeface="微软雅黑" panose="020B0503020204020204" charset="-122"/>
                    <a:sym typeface="+mn-ea"/>
                  </a:rPr>
                  <a:t>测试设计说明</a:t>
                </a:r>
                <a:endParaRPr lang="zh-CN" altLang="zh-CN" sz="2400" b="1" dirty="0">
                  <a:solidFill>
                    <a:schemeClr val="tx2"/>
                  </a:solidFill>
                  <a:latin typeface="+mj-lt"/>
                  <a:ea typeface="+mj-ea"/>
                  <a:cs typeface="+mj-cs"/>
                </a:endParaRPr>
              </a:p>
            </p:txBody>
          </p:sp>
          <p:sp>
            <p:nvSpPr>
              <p:cNvPr id="17421" name="Text Box 11"/>
              <p:cNvSpPr txBox="1">
                <a:spLocks noChangeArrowheads="1"/>
              </p:cNvSpPr>
              <p:nvPr>
                <p:custDataLst>
                  <p:tags r:id="rId10"/>
                </p:custDataLst>
              </p:nvPr>
            </p:nvSpPr>
            <p:spPr bwMode="auto">
              <a:xfrm>
                <a:off x="6961" y="5283"/>
                <a:ext cx="5244" cy="134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latin typeface="微软雅黑" panose="020B0503020204020204" charset="-122"/>
                    <a:ea typeface="微软雅黑" panose="020B0503020204020204" charset="-122"/>
                    <a:sym typeface="+mn-ea"/>
                  </a:rPr>
                  <a:t>测试用例说明</a:t>
                </a:r>
                <a:endParaRPr lang="zh-CN" altLang="zh-CN" sz="2400" b="1" dirty="0">
                  <a:solidFill>
                    <a:schemeClr val="tx2"/>
                  </a:solidFill>
                  <a:latin typeface="+mj-lt"/>
                  <a:ea typeface="+mj-ea"/>
                  <a:cs typeface="+mj-cs"/>
                </a:endParaRPr>
              </a:p>
            </p:txBody>
          </p:sp>
          <p:sp>
            <p:nvSpPr>
              <p:cNvPr id="17422" name="Text Box 12"/>
              <p:cNvSpPr txBox="1">
                <a:spLocks noChangeArrowheads="1"/>
              </p:cNvSpPr>
              <p:nvPr>
                <p:custDataLst>
                  <p:tags r:id="rId11"/>
                </p:custDataLst>
              </p:nvPr>
            </p:nvSpPr>
            <p:spPr bwMode="auto">
              <a:xfrm>
                <a:off x="13244" y="5283"/>
                <a:ext cx="5244" cy="1343"/>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latin typeface="微软雅黑" panose="020B0503020204020204" charset="-122"/>
                    <a:ea typeface="微软雅黑" panose="020B0503020204020204" charset="-122"/>
                    <a:sym typeface="+mn-ea"/>
                  </a:rPr>
                  <a:t>测试规程说明</a:t>
                </a:r>
                <a:endParaRPr lang="zh-CN" altLang="zh-CN" sz="2400" b="1" dirty="0">
                  <a:solidFill>
                    <a:schemeClr val="tx2"/>
                  </a:solidFill>
                  <a:latin typeface="+mj-lt"/>
                  <a:ea typeface="+mj-ea"/>
                  <a:cs typeface="+mj-cs"/>
                </a:endParaRPr>
              </a:p>
            </p:txBody>
          </p:sp>
        </p:grpSp>
        <p:sp>
          <p:nvSpPr>
            <p:cNvPr id="4" name="文本框 3"/>
            <p:cNvSpPr txBox="1"/>
            <p:nvPr>
              <p:custDataLst>
                <p:tags r:id="rId1"/>
              </p:custDataLst>
            </p:nvPr>
          </p:nvSpPr>
          <p:spPr>
            <a:xfrm>
              <a:off x="677" y="6626"/>
              <a:ext cx="5241" cy="3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a:t>        </a:t>
              </a:r>
              <a:r>
                <a:rPr>
                  <a:latin typeface="微软雅黑" panose="020B0503020204020204" charset="-122"/>
                  <a:ea typeface="微软雅黑" panose="020B0503020204020204" charset="-122"/>
                  <a:sym typeface="+mn-ea"/>
                </a:rPr>
                <a:t>每项测试的控制、输入、输出、过程，评价准则、范围、数据整理、评价尺度等。</a:t>
              </a:r>
              <a:endParaRPr lang="zh-CN" altLang="en-US"/>
            </a:p>
          </p:txBody>
        </p:sp>
        <p:sp>
          <p:nvSpPr>
            <p:cNvPr id="5" name="文本框 4"/>
            <p:cNvSpPr txBox="1"/>
            <p:nvPr>
              <p:custDataLst>
                <p:tags r:id="rId2"/>
              </p:custDataLst>
            </p:nvPr>
          </p:nvSpPr>
          <p:spPr>
            <a:xfrm>
              <a:off x="6964" y="6626"/>
              <a:ext cx="5241" cy="3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a:t>       </a:t>
              </a:r>
              <a:r>
                <a:rPr>
                  <a:latin typeface="微软雅黑" panose="020B0503020204020204" charset="-122"/>
                  <a:ea typeface="微软雅黑" panose="020B0503020204020204" charset="-122"/>
                  <a:sym typeface="+mn-ea"/>
                </a:rPr>
                <a:t>输入值以及对应的输出结果，在使用具体测试用例时对测试规程的限制。</a:t>
              </a:r>
              <a:endParaRPr lang="zh-CN" altLang="en-US"/>
            </a:p>
          </p:txBody>
        </p:sp>
        <p:sp>
          <p:nvSpPr>
            <p:cNvPr id="8" name="文本框 7"/>
            <p:cNvSpPr txBox="1"/>
            <p:nvPr>
              <p:custDataLst>
                <p:tags r:id="rId3"/>
              </p:custDataLst>
            </p:nvPr>
          </p:nvSpPr>
          <p:spPr>
            <a:xfrm>
              <a:off x="13250" y="6626"/>
              <a:ext cx="5491" cy="34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buClrTx/>
              </a:pPr>
              <a:r>
                <a:rPr lang="en-US" altLang="zh-CN"/>
                <a:t>       </a:t>
              </a:r>
              <a:r>
                <a:rPr>
                  <a:latin typeface="微软雅黑" panose="020B0503020204020204" charset="-122"/>
                  <a:ea typeface="微软雅黑" panose="020B0503020204020204" charset="-122"/>
                  <a:sym typeface="+mn-ea"/>
                </a:rPr>
                <a:t>规定对于系统和执行指定的测试用例来实现测试设计所要求的所有步骤。</a:t>
              </a:r>
              <a:endParaRPr lang="zh-CN" altLang="en-US"/>
            </a:p>
          </p:txBody>
        </p:sp>
      </p:grpSp>
    </p:spTree>
  </p:cSld>
  <p:clrMapOvr>
    <a:masterClrMapping/>
  </p:clrMapOvr>
  <p:transition>
    <p:randomBar dir="vert"/>
  </p:transition>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solidFill>
                  <a:srgbClr val="FF0000"/>
                </a:solidFill>
                <a:sym typeface="+mn-ea"/>
              </a:rPr>
              <a:t>4.8 软件测试文档</a:t>
            </a:r>
            <a:endParaRPr lang="zh-CN" altLang="en-US">
              <a:solidFill>
                <a:srgbClr val="FF0000"/>
              </a:solidFill>
            </a:endParaRPr>
          </a:p>
        </p:txBody>
      </p:sp>
      <p:sp>
        <p:nvSpPr>
          <p:cNvPr id="7" name="文本框 6"/>
          <p:cNvSpPr txBox="1"/>
          <p:nvPr/>
        </p:nvSpPr>
        <p:spPr>
          <a:xfrm>
            <a:off x="754380" y="3190240"/>
            <a:ext cx="476250" cy="158496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软件测试说明</a:t>
            </a:r>
          </a:p>
        </p:txBody>
      </p:sp>
      <p:sp>
        <p:nvSpPr>
          <p:cNvPr id="29" name="TextBox 6"/>
          <p:cNvSpPr txBox="1"/>
          <p:nvPr/>
        </p:nvSpPr>
        <p:spPr>
          <a:xfrm>
            <a:off x="802640"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4.8.3 </a:t>
            </a:r>
            <a:r>
              <a:rPr lang="zh-CN" altLang="en-US" sz="2400" dirty="0" smtClean="0">
                <a:solidFill>
                  <a:schemeClr val="tx1"/>
                </a:solidFill>
              </a:rPr>
              <a:t>软件测试报告</a:t>
            </a:r>
          </a:p>
        </p:txBody>
      </p:sp>
      <p:sp>
        <p:nvSpPr>
          <p:cNvPr id="18440" name="Line 5"/>
          <p:cNvSpPr>
            <a:spLocks noChangeShapeType="1"/>
          </p:cNvSpPr>
          <p:nvPr>
            <p:custDataLst>
              <p:tags r:id="rId1"/>
            </p:custDataLst>
          </p:nvPr>
        </p:nvSpPr>
        <p:spPr bwMode="auto">
          <a:xfrm flipV="1">
            <a:off x="5408295" y="2970530"/>
            <a:ext cx="956945" cy="1905"/>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8441" name="Oval 6"/>
          <p:cNvSpPr>
            <a:spLocks noChangeArrowheads="1"/>
          </p:cNvSpPr>
          <p:nvPr>
            <p:custDataLst>
              <p:tags r:id="rId2"/>
            </p:custDataLst>
          </p:nvPr>
        </p:nvSpPr>
        <p:spPr bwMode="auto">
          <a:xfrm>
            <a:off x="6495415" y="2201545"/>
            <a:ext cx="1388745" cy="1388745"/>
          </a:xfrm>
          <a:prstGeom prst="ellipse">
            <a:avLst/>
          </a:prstGeom>
          <a:solidFill>
            <a:srgbClr val="D74B4B"/>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03</a:t>
            </a:r>
            <a:endParaRPr lang="zh-CN" altLang="zh-CN" sz="1800">
              <a:latin typeface="Arial" panose="020B0604020202020204" pitchFamily="34" charset="0"/>
              <a:ea typeface="黑体" panose="02010609060101010101" pitchFamily="49" charset="-122"/>
            </a:endParaRPr>
          </a:p>
        </p:txBody>
      </p:sp>
      <p:sp>
        <p:nvSpPr>
          <p:cNvPr id="18442" name="Oval 7"/>
          <p:cNvSpPr>
            <a:spLocks noChangeArrowheads="1"/>
          </p:cNvSpPr>
          <p:nvPr>
            <p:custDataLst>
              <p:tags r:id="rId3"/>
            </p:custDataLst>
          </p:nvPr>
        </p:nvSpPr>
        <p:spPr bwMode="auto">
          <a:xfrm>
            <a:off x="1281430" y="2201545"/>
            <a:ext cx="1388745" cy="1388745"/>
          </a:xfrm>
          <a:prstGeom prst="ellipse">
            <a:avLst/>
          </a:prstGeom>
          <a:solidFill>
            <a:srgbClr val="D74B4B"/>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01</a:t>
            </a:r>
            <a:endParaRPr lang="zh-CN" altLang="zh-CN" sz="1800">
              <a:latin typeface="Arial" panose="020B0604020202020204" pitchFamily="34" charset="0"/>
              <a:ea typeface="黑体" panose="02010609060101010101" pitchFamily="49" charset="-122"/>
            </a:endParaRPr>
          </a:p>
        </p:txBody>
      </p:sp>
      <p:sp>
        <p:nvSpPr>
          <p:cNvPr id="18443" name="Line 8"/>
          <p:cNvSpPr>
            <a:spLocks noChangeShapeType="1"/>
          </p:cNvSpPr>
          <p:nvPr>
            <p:custDataLst>
              <p:tags r:id="rId4"/>
            </p:custDataLst>
          </p:nvPr>
        </p:nvSpPr>
        <p:spPr bwMode="auto">
          <a:xfrm>
            <a:off x="2800350" y="2970530"/>
            <a:ext cx="956945" cy="0"/>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8444" name="Text Box 9"/>
          <p:cNvSpPr txBox="1">
            <a:spLocks noChangeArrowheads="1"/>
          </p:cNvSpPr>
          <p:nvPr>
            <p:custDataLst>
              <p:tags r:id="rId5"/>
            </p:custDataLst>
          </p:nvPr>
        </p:nvSpPr>
        <p:spPr bwMode="auto">
          <a:xfrm>
            <a:off x="853440" y="3933190"/>
            <a:ext cx="2245995" cy="708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90170" tIns="46990" rIns="90170" bIns="46990" anchor="ctr">
            <a:normAutofit fontScale="97500"/>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测试项传递报告</a:t>
            </a:r>
            <a:endParaRPr sz="2400" b="1" smtClean="0">
              <a:solidFill>
                <a:schemeClr val="tx1"/>
              </a:solidFill>
              <a:latin typeface="微软雅黑" panose="020B0503020204020204" charset="-122"/>
              <a:ea typeface="微软雅黑" panose="020B0503020204020204" charset="-122"/>
              <a:sym typeface="+mn-ea"/>
            </a:endParaRPr>
          </a:p>
        </p:txBody>
      </p:sp>
      <p:sp>
        <p:nvSpPr>
          <p:cNvPr id="18445" name="Text Box 10"/>
          <p:cNvSpPr txBox="1">
            <a:spLocks noChangeArrowheads="1"/>
          </p:cNvSpPr>
          <p:nvPr>
            <p:custDataLst>
              <p:tags r:id="rId6"/>
            </p:custDataLst>
          </p:nvPr>
        </p:nvSpPr>
        <p:spPr bwMode="auto">
          <a:xfrm>
            <a:off x="6067425" y="3933190"/>
            <a:ext cx="2245995" cy="7086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测试事件报告</a:t>
            </a:r>
            <a:endParaRPr sz="2400" b="1" smtClean="0">
              <a:solidFill>
                <a:schemeClr val="tx1"/>
              </a:solidFill>
              <a:latin typeface="微软雅黑" panose="020B0503020204020204" charset="-122"/>
              <a:ea typeface="微软雅黑" panose="020B0503020204020204" charset="-122"/>
              <a:sym typeface="+mn-ea"/>
            </a:endParaRPr>
          </a:p>
        </p:txBody>
      </p:sp>
      <p:sp>
        <p:nvSpPr>
          <p:cNvPr id="18446" name="Text Box 11"/>
          <p:cNvSpPr txBox="1">
            <a:spLocks noChangeArrowheads="1"/>
          </p:cNvSpPr>
          <p:nvPr>
            <p:custDataLst>
              <p:tags r:id="rId7"/>
            </p:custDataLst>
          </p:nvPr>
        </p:nvSpPr>
        <p:spPr bwMode="auto">
          <a:xfrm>
            <a:off x="8673465" y="3933190"/>
            <a:ext cx="2245995" cy="7086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测试总结报告</a:t>
            </a:r>
            <a:endParaRPr lang="zh-CN" altLang="en-US" sz="2400" b="1" smtClean="0">
              <a:solidFill>
                <a:srgbClr val="D74B4B"/>
              </a:solidFill>
              <a:latin typeface="Arial" panose="020B0604020202020204" pitchFamily="34" charset="0"/>
              <a:ea typeface="黑体" panose="02010609060101010101" pitchFamily="49" charset="-122"/>
              <a:cs typeface="+mn-ea"/>
            </a:endParaRPr>
          </a:p>
        </p:txBody>
      </p:sp>
      <p:sp>
        <p:nvSpPr>
          <p:cNvPr id="18447" name="Oval 12"/>
          <p:cNvSpPr>
            <a:spLocks noChangeArrowheads="1"/>
          </p:cNvSpPr>
          <p:nvPr>
            <p:custDataLst>
              <p:tags r:id="rId8"/>
            </p:custDataLst>
          </p:nvPr>
        </p:nvSpPr>
        <p:spPr bwMode="auto">
          <a:xfrm>
            <a:off x="9101455" y="2201545"/>
            <a:ext cx="1386840" cy="1388745"/>
          </a:xfrm>
          <a:prstGeom prst="ellipse">
            <a:avLst/>
          </a:prstGeom>
          <a:solidFill>
            <a:srgbClr val="D74B4B"/>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rgbClr val="FFFFFF"/>
                </a:solidFill>
                <a:latin typeface="Arial" panose="020B0604020202020204" pitchFamily="34" charset="0"/>
                <a:ea typeface="黑体" panose="02010609060101010101" pitchFamily="49" charset="-122"/>
              </a:rPr>
              <a:t>04</a:t>
            </a:r>
            <a:endParaRPr lang="zh-CN" altLang="zh-CN" sz="1800">
              <a:latin typeface="Arial" panose="020B0604020202020204" pitchFamily="34" charset="0"/>
              <a:ea typeface="黑体" panose="02010609060101010101" pitchFamily="49" charset="-122"/>
            </a:endParaRPr>
          </a:p>
        </p:txBody>
      </p:sp>
      <p:sp>
        <p:nvSpPr>
          <p:cNvPr id="18448" name="Oval 13"/>
          <p:cNvSpPr>
            <a:spLocks noChangeArrowheads="1"/>
          </p:cNvSpPr>
          <p:nvPr>
            <p:custDataLst>
              <p:tags r:id="rId9"/>
            </p:custDataLst>
          </p:nvPr>
        </p:nvSpPr>
        <p:spPr bwMode="auto">
          <a:xfrm>
            <a:off x="3889375" y="2201545"/>
            <a:ext cx="1386840" cy="1388745"/>
          </a:xfrm>
          <a:prstGeom prst="ellipse">
            <a:avLst/>
          </a:prstGeom>
          <a:solidFill>
            <a:srgbClr val="D74B4B"/>
          </a:solidFill>
          <a:ln>
            <a:noFill/>
          </a:ln>
          <a:effectLst/>
          <a:extLst>
            <a:ext uri="{91240B29-F687-4F45-9708-019B960494DF}">
              <a14:hiddenLine xmlns:a14="http://schemas.microsoft.com/office/drawing/2010/main" xmlns="" w="9525">
                <a:solidFill>
                  <a:srgbClr val="000000"/>
                </a:solidFill>
                <a:rou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rgbClr val="FFFFFF"/>
                </a:solidFill>
                <a:latin typeface="Arial" panose="020B0604020202020204" pitchFamily="34" charset="0"/>
                <a:ea typeface="黑体" panose="02010609060101010101" pitchFamily="49" charset="-122"/>
              </a:rPr>
              <a:t>02</a:t>
            </a:r>
            <a:endParaRPr lang="zh-CN" altLang="zh-CN" sz="1800" dirty="0">
              <a:latin typeface="Arial" panose="020B0604020202020204" pitchFamily="34" charset="0"/>
              <a:ea typeface="黑体" panose="02010609060101010101" pitchFamily="49" charset="-122"/>
            </a:endParaRPr>
          </a:p>
        </p:txBody>
      </p:sp>
      <p:sp>
        <p:nvSpPr>
          <p:cNvPr id="18449" name="Line 14"/>
          <p:cNvSpPr>
            <a:spLocks noChangeShapeType="1"/>
          </p:cNvSpPr>
          <p:nvPr>
            <p:custDataLst>
              <p:tags r:id="rId10"/>
            </p:custDataLst>
          </p:nvPr>
        </p:nvSpPr>
        <p:spPr bwMode="auto">
          <a:xfrm flipV="1">
            <a:off x="8014335" y="2970530"/>
            <a:ext cx="956945" cy="1905"/>
          </a:xfrm>
          <a:prstGeom prst="line">
            <a:avLst/>
          </a:prstGeom>
          <a:noFill/>
          <a:ln w="28575" cmpd="sng">
            <a:solidFill>
              <a:srgbClr val="D74B4B"/>
            </a:solidFill>
            <a:prstDash val="lgDash"/>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a:lstStyle/>
          <a:p>
            <a:endParaRPr lang="zh-CN" altLang="en-US">
              <a:latin typeface="Arial" panose="020B0604020202020204" pitchFamily="34" charset="0"/>
              <a:ea typeface="黑体" panose="02010609060101010101" pitchFamily="49" charset="-122"/>
              <a:sym typeface="Arial" panose="020B0604020202020204" pitchFamily="34" charset="0"/>
            </a:endParaRPr>
          </a:p>
        </p:txBody>
      </p:sp>
      <p:sp>
        <p:nvSpPr>
          <p:cNvPr id="18450" name="Text Box 15"/>
          <p:cNvSpPr txBox="1">
            <a:spLocks noChangeArrowheads="1"/>
          </p:cNvSpPr>
          <p:nvPr>
            <p:custDataLst>
              <p:tags r:id="rId11"/>
            </p:custDataLst>
          </p:nvPr>
        </p:nvSpPr>
        <p:spPr bwMode="auto">
          <a:xfrm>
            <a:off x="3461385" y="3933190"/>
            <a:ext cx="2245995" cy="70866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wrap="square" lIns="90170" tIns="46990" rIns="90170" bIns="46990" anchor="ctr">
            <a:normAutofit/>
          </a:bodyP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sz="2400" b="1">
                <a:solidFill>
                  <a:schemeClr val="tx1"/>
                </a:solidFill>
                <a:latin typeface="微软雅黑" panose="020B0503020204020204" charset="-122"/>
                <a:ea typeface="微软雅黑" panose="020B0503020204020204" charset="-122"/>
                <a:sym typeface="+mn-ea"/>
              </a:rPr>
              <a:t>测试日志</a:t>
            </a:r>
            <a:endParaRPr sz="2400" b="1" smtClean="0">
              <a:solidFill>
                <a:schemeClr val="tx1"/>
              </a:solidFill>
              <a:latin typeface="微软雅黑" panose="020B0503020204020204" charset="-122"/>
              <a:ea typeface="微软雅黑" panose="020B0503020204020204" charset="-122"/>
              <a:sym typeface="+mn-ea"/>
            </a:endParaRPr>
          </a:p>
        </p:txBody>
      </p:sp>
      <p:sp>
        <p:nvSpPr>
          <p:cNvPr id="9" name="文本框 8"/>
          <p:cNvSpPr txBox="1"/>
          <p:nvPr>
            <p:custDataLst>
              <p:tags r:id="rId12"/>
            </p:custDataLst>
          </p:nvPr>
        </p:nvSpPr>
        <p:spPr>
          <a:xfrm>
            <a:off x="685800" y="4643755"/>
            <a:ext cx="2419985" cy="12541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dirty="0"/>
              <a:t>        </a:t>
            </a:r>
            <a:r>
              <a:rPr dirty="0">
                <a:latin typeface="微软雅黑" panose="020B0503020204020204" charset="-122"/>
                <a:ea typeface="微软雅黑" panose="020B0503020204020204" charset="-122"/>
                <a:sym typeface="+mn-ea"/>
              </a:rPr>
              <a:t>测试项的位置、状态等。</a:t>
            </a:r>
            <a:endParaRPr dirty="0">
              <a:latin typeface="微软雅黑" panose="020B0503020204020204" charset="-122"/>
              <a:ea typeface="微软雅黑" panose="020B0503020204020204" charset="-122"/>
              <a:sym typeface="黑体" panose="02010609060101010101" pitchFamily="49" charset="-122"/>
            </a:endParaRPr>
          </a:p>
        </p:txBody>
      </p:sp>
      <p:sp>
        <p:nvSpPr>
          <p:cNvPr id="10" name="文本框 9"/>
          <p:cNvSpPr txBox="1"/>
          <p:nvPr>
            <p:custDataLst>
              <p:tags r:id="rId13"/>
            </p:custDataLst>
          </p:nvPr>
        </p:nvSpPr>
        <p:spPr>
          <a:xfrm>
            <a:off x="3242945" y="4643755"/>
            <a:ext cx="2470150" cy="29000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a:t>       </a:t>
            </a:r>
            <a:r>
              <a:rPr>
                <a:latin typeface="微软雅黑" panose="020B0503020204020204" charset="-122"/>
                <a:ea typeface="微软雅黑" panose="020B0503020204020204" charset="-122"/>
                <a:sym typeface="+mn-ea"/>
              </a:rPr>
              <a:t>记录测试执行过程发生的情况，如活动和事件的条目、描述。</a:t>
            </a:r>
            <a:endParaRPr>
              <a:latin typeface="微软雅黑" panose="020B0503020204020204" charset="-122"/>
              <a:ea typeface="微软雅黑" panose="020B0503020204020204" charset="-122"/>
              <a:sym typeface="黑体" panose="02010609060101010101" pitchFamily="49" charset="-122"/>
            </a:endParaRPr>
          </a:p>
        </p:txBody>
      </p:sp>
      <p:sp>
        <p:nvSpPr>
          <p:cNvPr id="11" name="文本框 10"/>
          <p:cNvSpPr txBox="1"/>
          <p:nvPr>
            <p:custDataLst>
              <p:tags r:id="rId14"/>
            </p:custDataLst>
          </p:nvPr>
        </p:nvSpPr>
        <p:spPr>
          <a:xfrm>
            <a:off x="6055995" y="4643755"/>
            <a:ext cx="2257425" cy="29000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marL="0" indent="0" algn="l" fontAlgn="auto">
              <a:lnSpc>
                <a:spcPct val="130000"/>
              </a:lnSpc>
              <a:buClrTx/>
            </a:pPr>
            <a:r>
              <a:rPr lang="en-US" altLang="zh-CN"/>
              <a:t>       </a:t>
            </a:r>
            <a:r>
              <a:rPr>
                <a:latin typeface="微软雅黑" panose="020B0503020204020204" charset="-122"/>
                <a:ea typeface="微软雅黑" panose="020B0503020204020204" charset="-122"/>
                <a:sym typeface="+mn-ea"/>
              </a:rPr>
              <a:t>测试执行期间发生的一切事件的描述和影响。</a:t>
            </a:r>
            <a:endParaRPr>
              <a:latin typeface="微软雅黑" panose="020B0503020204020204" charset="-122"/>
              <a:ea typeface="微软雅黑" panose="020B0503020204020204" charset="-122"/>
              <a:sym typeface="黑体" panose="02010609060101010101" pitchFamily="49" charset="-122"/>
            </a:endParaRPr>
          </a:p>
        </p:txBody>
      </p:sp>
      <p:sp>
        <p:nvSpPr>
          <p:cNvPr id="12" name="文本框 11"/>
          <p:cNvSpPr txBox="1"/>
          <p:nvPr>
            <p:custDataLst>
              <p:tags r:id="rId15"/>
            </p:custDataLst>
          </p:nvPr>
        </p:nvSpPr>
        <p:spPr>
          <a:xfrm>
            <a:off x="8511540" y="4643755"/>
            <a:ext cx="3080385" cy="290004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6pPr>
            <a:lvl7pPr marL="29718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7pPr>
            <a:lvl8pPr marL="34290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8pPr>
            <a:lvl9pPr marL="3886200" indent="-228600">
              <a:lnSpc>
                <a:spcPct val="90000"/>
              </a:lnSpc>
              <a:spcBef>
                <a:spcPts val="500"/>
              </a:spcBef>
              <a:buFont typeface="Arial" panose="020B0604020202020204" pitchFamily="34" charset="0"/>
              <a:buChar char="•"/>
              <a:defRPr sz="1800">
                <a:latin typeface="Arial" panose="020B0604020202020204" pitchFamily="34" charset="0"/>
                <a:ea typeface="黑体" panose="02010609060101010101" pitchFamily="49" charset="-122"/>
              </a:defRPr>
            </a:lvl9pPr>
          </a:lstStyle>
          <a:p>
            <a:pPr fontAlgn="auto">
              <a:lnSpc>
                <a:spcPct val="130000"/>
              </a:lnSpc>
              <a:spcBef>
                <a:spcPts val="0"/>
              </a:spcBef>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总结与测试设计说明有关的测试活动、差异、测试充分性、结果概述、评价、活动总结、批准者等。</a:t>
            </a:r>
            <a:endParaRPr>
              <a:latin typeface="微软雅黑" panose="020B0503020204020204" charset="-122"/>
              <a:ea typeface="微软雅黑" panose="020B0503020204020204" charset="-122"/>
            </a:endParaRPr>
          </a:p>
        </p:txBody>
      </p:sp>
    </p:spTree>
  </p:cSld>
  <p:clrMapOvr>
    <a:masterClrMapping/>
  </p:clrMapOvr>
  <p:transition>
    <p:randomBar dir="vert"/>
  </p:transition>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solidFill>
                  <a:srgbClr val="FF0000"/>
                </a:solidFill>
              </a:rPr>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84961" y="2115820"/>
            <a:ext cx="9601199" cy="3693319"/>
          </a:xfrm>
          <a:prstGeom prst="rect">
            <a:avLst/>
          </a:prstGeom>
          <a:noFill/>
          <a:ln w="9525">
            <a:noFill/>
          </a:ln>
        </p:spPr>
        <p:txBody>
          <a:bodyPr wrap="square">
            <a:spAutoFit/>
          </a:bodyPr>
          <a:lstStyle/>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在设计应用软件时，</a:t>
            </a:r>
            <a:r>
              <a:rPr dirty="0">
                <a:solidFill>
                  <a:srgbClr val="C00000"/>
                </a:solidFill>
                <a:latin typeface="微软雅黑" panose="020B0503020204020204" charset="-122"/>
                <a:ea typeface="微软雅黑" panose="020B0503020204020204" charset="-122"/>
                <a:sym typeface="+mn-ea"/>
              </a:rPr>
              <a:t>应优先选用高级程序设计语言</a:t>
            </a:r>
            <a:r>
              <a:rPr dirty="0">
                <a:latin typeface="微软雅黑" panose="020B0503020204020204" charset="-122"/>
                <a:ea typeface="微软雅黑" panose="020B0503020204020204" charset="-122"/>
                <a:sym typeface="+mn-ea"/>
              </a:rPr>
              <a:t>，只有3种情况选用汇编语言。</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结构化程序设计将</a:t>
            </a:r>
            <a:r>
              <a:rPr dirty="0">
                <a:solidFill>
                  <a:srgbClr val="C00000"/>
                </a:solidFill>
                <a:latin typeface="微软雅黑" panose="020B0503020204020204" charset="-122"/>
                <a:ea typeface="微软雅黑" panose="020B0503020204020204" charset="-122"/>
                <a:sym typeface="+mn-ea"/>
              </a:rPr>
              <a:t>顺序、选择和循环3种基本控制结构进行组合和嵌套</a:t>
            </a:r>
            <a:r>
              <a:rPr dirty="0">
                <a:latin typeface="微软雅黑" panose="020B0503020204020204" charset="-122"/>
                <a:ea typeface="微软雅黑" panose="020B0503020204020204" charset="-122"/>
                <a:sym typeface="+mn-ea"/>
              </a:rPr>
              <a:t>，以容易理解的形式和避免使用GOTO语句等原则，进行程序设计。</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结构化程序设计使软件</a:t>
            </a:r>
            <a:r>
              <a:rPr dirty="0">
                <a:solidFill>
                  <a:srgbClr val="C00000"/>
                </a:solidFill>
                <a:latin typeface="微软雅黑" panose="020B0503020204020204" charset="-122"/>
                <a:ea typeface="微软雅黑" panose="020B0503020204020204" charset="-122"/>
                <a:sym typeface="+mn-ea"/>
              </a:rPr>
              <a:t>易于理解，易于修改，便于重复使用</a:t>
            </a:r>
            <a:r>
              <a:rPr dirty="0">
                <a:latin typeface="微软雅黑" panose="020B0503020204020204" charset="-122"/>
                <a:ea typeface="微软雅黑" panose="020B0503020204020204" charset="-122"/>
                <a:sym typeface="+mn-ea"/>
              </a:rPr>
              <a:t>。</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软件设计风格直接影响</a:t>
            </a:r>
            <a:r>
              <a:rPr dirty="0">
                <a:solidFill>
                  <a:srgbClr val="C00000"/>
                </a:solidFill>
                <a:latin typeface="微软雅黑" panose="020B0503020204020204" charset="-122"/>
                <a:ea typeface="微软雅黑" panose="020B0503020204020204" charset="-122"/>
                <a:sym typeface="+mn-ea"/>
              </a:rPr>
              <a:t>软件的质量</a:t>
            </a:r>
            <a:r>
              <a:rPr dirty="0">
                <a:latin typeface="微软雅黑" panose="020B0503020204020204" charset="-122"/>
                <a:ea typeface="微软雅黑" panose="020B0503020204020204" charset="-122"/>
                <a:sym typeface="+mn-ea"/>
              </a:rPr>
              <a:t>，影响</a:t>
            </a:r>
            <a:r>
              <a:rPr dirty="0">
                <a:solidFill>
                  <a:srgbClr val="C00000"/>
                </a:solidFill>
                <a:latin typeface="微软雅黑" panose="020B0503020204020204" charset="-122"/>
                <a:ea typeface="微软雅黑" panose="020B0503020204020204" charset="-122"/>
                <a:sym typeface="+mn-ea"/>
              </a:rPr>
              <a:t>软件的可维护性和可移植性。</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软件编码阶段应对源程序进行</a:t>
            </a:r>
            <a:r>
              <a:rPr dirty="0">
                <a:solidFill>
                  <a:srgbClr val="C00000"/>
                </a:solidFill>
                <a:latin typeface="微软雅黑" panose="020B0503020204020204" charset="-122"/>
                <a:ea typeface="微软雅黑" panose="020B0503020204020204" charset="-122"/>
                <a:sym typeface="+mn-ea"/>
              </a:rPr>
              <a:t>静态分析和模块测试</a:t>
            </a:r>
            <a:r>
              <a:rPr dirty="0">
                <a:latin typeface="微软雅黑" panose="020B0503020204020204" charset="-122"/>
                <a:ea typeface="微软雅黑" panose="020B0503020204020204" charset="-122"/>
                <a:sym typeface="+mn-ea"/>
              </a:rPr>
              <a:t>，以保证程序的正确性。</a:t>
            </a:r>
          </a:p>
          <a:p>
            <a:pPr marL="342900" indent="-342900" algn="l" fontAlgn="auto">
              <a:lnSpc>
                <a:spcPct val="130000"/>
              </a:lnSpc>
              <a:buClrTx/>
              <a:buFont typeface="+mj-ea"/>
              <a:buAutoNum type="circleNumDbPlain"/>
            </a:pPr>
            <a:r>
              <a:rPr dirty="0">
                <a:solidFill>
                  <a:srgbClr val="C00000"/>
                </a:solidFill>
                <a:latin typeface="微软雅黑" panose="020B0503020204020204" charset="-122"/>
                <a:ea typeface="微软雅黑" panose="020B0503020204020204" charset="-122"/>
                <a:sym typeface="+mn-ea"/>
              </a:rPr>
              <a:t>软件测试</a:t>
            </a:r>
            <a:r>
              <a:rPr dirty="0">
                <a:latin typeface="微软雅黑" panose="020B0503020204020204" charset="-122"/>
                <a:ea typeface="微软雅黑" panose="020B0503020204020204" charset="-122"/>
                <a:sym typeface="+mn-ea"/>
              </a:rPr>
              <a:t>是由人工或计算机来执行或评价系统的过程，以验证它是否满足规定的需求。</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测试的</a:t>
            </a:r>
            <a:r>
              <a:rPr dirty="0">
                <a:solidFill>
                  <a:srgbClr val="C00000"/>
                </a:solidFill>
                <a:latin typeface="微软雅黑" panose="020B0503020204020204" charset="-122"/>
                <a:ea typeface="微软雅黑" panose="020B0503020204020204" charset="-122"/>
                <a:sym typeface="+mn-ea"/>
              </a:rPr>
              <a:t>根本任务是发现软件中的错误</a:t>
            </a:r>
            <a:r>
              <a:rPr dirty="0">
                <a:latin typeface="微软雅黑" panose="020B0503020204020204" charset="-122"/>
                <a:ea typeface="微软雅黑" panose="020B0503020204020204" charset="-122"/>
                <a:sym typeface="+mn-ea"/>
              </a:rPr>
              <a:t>。测试过程的早期使用</a:t>
            </a:r>
            <a:r>
              <a:rPr b="1" dirty="0">
                <a:solidFill>
                  <a:schemeClr val="accent5">
                    <a:lumMod val="50000"/>
                  </a:schemeClr>
                </a:solidFill>
                <a:latin typeface="微软雅黑" panose="020B0503020204020204" charset="-122"/>
                <a:ea typeface="微软雅黑" panose="020B0503020204020204" charset="-122"/>
                <a:sym typeface="+mn-ea"/>
              </a:rPr>
              <a:t>白盒法</a:t>
            </a:r>
            <a:r>
              <a:rPr dirty="0">
                <a:latin typeface="微软雅黑" panose="020B0503020204020204" charset="-122"/>
                <a:ea typeface="微软雅黑" panose="020B0503020204020204" charset="-122"/>
                <a:sym typeface="+mn-ea"/>
              </a:rPr>
              <a:t>，后期使用</a:t>
            </a:r>
            <a:r>
              <a:rPr b="1" dirty="0">
                <a:solidFill>
                  <a:schemeClr val="accent5">
                    <a:lumMod val="50000"/>
                  </a:schemeClr>
                </a:solidFill>
                <a:latin typeface="微软雅黑" panose="020B0503020204020204" charset="-122"/>
                <a:ea typeface="微软雅黑" panose="020B0503020204020204" charset="-122"/>
                <a:sym typeface="+mn-ea"/>
              </a:rPr>
              <a:t>黑盒法</a:t>
            </a:r>
            <a:r>
              <a:rPr dirty="0">
                <a:latin typeface="微软雅黑" panose="020B0503020204020204" charset="-122"/>
                <a:ea typeface="微软雅黑" panose="020B0503020204020204" charset="-122"/>
                <a:sym typeface="+mn-ea"/>
              </a:rPr>
              <a:t>。</a:t>
            </a:r>
          </a:p>
          <a:p>
            <a:pPr marL="342900" indent="-342900" algn="l" fontAlgn="auto">
              <a:lnSpc>
                <a:spcPct val="130000"/>
              </a:lnSpc>
              <a:buClrTx/>
              <a:buFont typeface="+mj-ea"/>
              <a:buAutoNum type="circleNumDbPlain"/>
            </a:pPr>
            <a:r>
              <a:rPr dirty="0">
                <a:latin typeface="微软雅黑" panose="020B0503020204020204" charset="-122"/>
                <a:ea typeface="微软雅黑" panose="020B0503020204020204" charset="-122"/>
                <a:sym typeface="+mn-ea"/>
              </a:rPr>
              <a:t>设计测试方案的</a:t>
            </a:r>
            <a:r>
              <a:rPr dirty="0">
                <a:solidFill>
                  <a:srgbClr val="C00000"/>
                </a:solidFill>
                <a:latin typeface="微软雅黑" panose="020B0503020204020204" charset="-122"/>
                <a:ea typeface="微软雅黑" panose="020B0503020204020204" charset="-122"/>
                <a:sym typeface="+mn-ea"/>
              </a:rPr>
              <a:t>基本目标</a:t>
            </a:r>
            <a:r>
              <a:rPr dirty="0">
                <a:latin typeface="微软雅黑" panose="020B0503020204020204" charset="-122"/>
                <a:ea typeface="微软雅黑" panose="020B0503020204020204" charset="-122"/>
                <a:sym typeface="+mn-ea"/>
              </a:rPr>
              <a:t>是选用尽可能少的高效测试数据，从而尽可能多地发现软件中的错误</a:t>
            </a:r>
            <a:r>
              <a:rPr dirty="0" smtClean="0">
                <a:latin typeface="微软雅黑" panose="020B0503020204020204" charset="-122"/>
                <a:ea typeface="微软雅黑" panose="020B0503020204020204" charset="-122"/>
                <a:sym typeface="+mn-ea"/>
              </a:rPr>
              <a:t>。</a:t>
            </a:r>
            <a:endParaRPr dirty="0">
              <a:latin typeface="微软雅黑" panose="020B0503020204020204" charset="-122"/>
              <a:ea typeface="微软雅黑" panose="020B0503020204020204" charset="-122"/>
              <a:sym typeface="+mn-ea"/>
            </a:endParaRP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timing>
    <p:tnLst>
      <p:par>
        <p:cT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solidFill>
                  <a:srgbClr val="FF0000"/>
                </a:solidFill>
              </a:rPr>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79245" y="2131060"/>
            <a:ext cx="9691370" cy="3653790"/>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使用</a:t>
            </a:r>
            <a:r>
              <a:rPr dirty="0">
                <a:solidFill>
                  <a:srgbClr val="C00000"/>
                </a:solidFill>
                <a:latin typeface="微软雅黑" panose="020B0503020204020204" charset="-122"/>
                <a:ea typeface="微软雅黑" panose="020B0503020204020204" charset="-122"/>
                <a:sym typeface="+mn-ea"/>
              </a:rPr>
              <a:t>边界值分析方法</a:t>
            </a:r>
            <a:r>
              <a:rPr dirty="0">
                <a:latin typeface="微软雅黑" panose="020B0503020204020204" charset="-122"/>
                <a:ea typeface="微软雅黑" panose="020B0503020204020204" charset="-122"/>
                <a:sym typeface="+mn-ea"/>
              </a:rPr>
              <a:t>，既测试输入数据的边界情况又检查输出数据的边界情况。</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用</a:t>
            </a:r>
            <a:r>
              <a:rPr dirty="0">
                <a:solidFill>
                  <a:srgbClr val="C00000"/>
                </a:solidFill>
                <a:latin typeface="微软雅黑" panose="020B0503020204020204" charset="-122"/>
                <a:ea typeface="微软雅黑" panose="020B0503020204020204" charset="-122"/>
                <a:sym typeface="+mn-ea"/>
              </a:rPr>
              <a:t>等价类划分法</a:t>
            </a:r>
            <a:r>
              <a:rPr dirty="0">
                <a:latin typeface="微软雅黑" panose="020B0503020204020204" charset="-122"/>
                <a:ea typeface="微软雅黑" panose="020B0503020204020204" charset="-122"/>
                <a:sym typeface="+mn-ea"/>
              </a:rPr>
              <a:t>补充测试方案。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必要时用</a:t>
            </a:r>
            <a:r>
              <a:rPr dirty="0">
                <a:solidFill>
                  <a:srgbClr val="C00000"/>
                </a:solidFill>
                <a:latin typeface="微软雅黑" panose="020B0503020204020204" charset="-122"/>
                <a:ea typeface="微软雅黑" panose="020B0503020204020204" charset="-122"/>
                <a:sym typeface="+mn-ea"/>
              </a:rPr>
              <a:t>错误推断法</a:t>
            </a:r>
            <a:r>
              <a:rPr dirty="0">
                <a:latin typeface="微软雅黑" panose="020B0503020204020204" charset="-122"/>
                <a:ea typeface="微软雅黑" panose="020B0503020204020204" charset="-122"/>
                <a:sym typeface="+mn-ea"/>
              </a:rPr>
              <a:t>补充测试方案。</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用</a:t>
            </a:r>
            <a:r>
              <a:rPr dirty="0">
                <a:solidFill>
                  <a:srgbClr val="C00000"/>
                </a:solidFill>
                <a:latin typeface="微软雅黑" panose="020B0503020204020204" charset="-122"/>
                <a:ea typeface="微软雅黑" panose="020B0503020204020204" charset="-122"/>
                <a:sym typeface="+mn-ea"/>
              </a:rPr>
              <a:t>逻辑覆盖法</a:t>
            </a:r>
            <a:r>
              <a:rPr dirty="0">
                <a:latin typeface="微软雅黑" panose="020B0503020204020204" charset="-122"/>
                <a:ea typeface="微软雅黑" panose="020B0503020204020204" charset="-122"/>
                <a:sym typeface="+mn-ea"/>
              </a:rPr>
              <a:t>检查现有测试方案，若没有达到逻辑覆盖标准，应再补充一些测试方案。</a:t>
            </a: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软件调试是查找、分析和纠正程序中错误的过程。</a:t>
            </a:r>
            <a:r>
              <a:rPr dirty="0">
                <a:latin typeface="微软雅黑" panose="020B0503020204020204" charset="-122"/>
                <a:ea typeface="微软雅黑" panose="020B0503020204020204" charset="-122"/>
                <a:sym typeface="+mn-ea"/>
              </a:rPr>
              <a:t>调试不仅修改软件产品，还应改进软件过程，避免今后程序中可能出现的错误。</a:t>
            </a: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软件测试和软件调试常常交替进行</a:t>
            </a:r>
            <a:r>
              <a:rPr dirty="0" smtClean="0">
                <a:solidFill>
                  <a:srgbClr val="C00000"/>
                </a:solidFill>
                <a:latin typeface="微软雅黑" panose="020B0503020204020204" charset="-122"/>
                <a:ea typeface="微软雅黑" panose="020B0503020204020204" charset="-122"/>
                <a:sym typeface="+mn-ea"/>
              </a:rPr>
              <a:t>。</a:t>
            </a:r>
            <a:endParaRPr dirty="0">
              <a:solidFill>
                <a:srgbClr val="C00000"/>
              </a:solidFill>
              <a:latin typeface="微软雅黑" panose="020B0503020204020204" charset="-122"/>
              <a:ea typeface="微软雅黑" panose="020B0503020204020204" charset="-122"/>
              <a:sym typeface="+mn-ea"/>
            </a:endParaRPr>
          </a:p>
          <a:p>
            <a:pPr marL="342900" indent="-342900" algn="l" fontAlgn="auto">
              <a:lnSpc>
                <a:spcPct val="130000"/>
              </a:lnSpc>
              <a:buClrTx/>
              <a:buFont typeface="+mj-ea"/>
              <a:buAutoNum type="circleNumDbPlain" startAt="9"/>
            </a:pPr>
            <a:r>
              <a:rPr dirty="0">
                <a:solidFill>
                  <a:srgbClr val="C00000"/>
                </a:solidFill>
                <a:latin typeface="微软雅黑" panose="020B0503020204020204" charset="-122"/>
                <a:ea typeface="微软雅黑" panose="020B0503020204020204" charset="-122"/>
                <a:sym typeface="+mn-ea"/>
              </a:rPr>
              <a:t>软件确认</a:t>
            </a:r>
            <a:r>
              <a:rPr dirty="0">
                <a:latin typeface="微软雅黑" panose="020B0503020204020204" charset="-122"/>
                <a:ea typeface="微软雅黑" panose="020B0503020204020204" charset="-122"/>
                <a:sym typeface="+mn-ea"/>
              </a:rPr>
              <a:t>是指在软件开发过程结束时，对所开发的软件进行评价，以确定它是否和软件需求相一致的过程。</a:t>
            </a:r>
          </a:p>
          <a:p>
            <a:pPr marL="0" indent="0" algn="l" fontAlgn="auto">
              <a:lnSpc>
                <a:spcPct val="130000"/>
              </a:lnSpc>
            </a:pPr>
            <a:endParaRPr dirty="0">
              <a:latin typeface="微软雅黑" panose="020B0503020204020204" charset="-122"/>
              <a:ea typeface="微软雅黑" panose="020B0503020204020204" charset="-122"/>
              <a:sym typeface="+mn-ea"/>
            </a:endParaRP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randomBar dir="vert"/>
  </p:transition>
  <p:timing>
    <p:tnLst>
      <p:par>
        <p:cT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6.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2_1"/>
  <p:tag name="KSO_WM_UNIT_ID" val="diagram781_4*q_h_f*1_2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TEXT_FILL_FORE_SCHEMECOLOR_INDEX" val="13"/>
  <p:tag name="KSO_WM_UNIT_TEXT_FILL_TYPE" val="1"/>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diagram781_4*i*2"/>
  <p:tag name="KSO_WM_TEMPLATE_CATEGORY" val="diagram"/>
  <p:tag name="KSO_WM_TEMPLATE_INDEX" val="781"/>
  <p:tag name="KSO_WM_UNIT_INDEX" val="2"/>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3_1"/>
  <p:tag name="KSO_WM_UNIT_ID" val="diagram781_4*q_h_f*1_3_1"/>
  <p:tag name="KSO_WM_UNIT_CLEAR" val="1"/>
  <p:tag name="KSO_WM_UNIT_LAYERLEVEL" val="1_1_1"/>
  <p:tag name="KSO_WM_UNIT_VALUE" val="32"/>
  <p:tag name="KSO_WM_UNIT_HIGHLIGHT" val="0"/>
  <p:tag name="KSO_WM_UNIT_COMPATIBLE" val="0"/>
  <p:tag name="KSO_WM_UNIT_PRESET_TEXT_INDEX" val="4"/>
  <p:tag name="KSO_WM_UNIT_PRESET_TEXT_LEN" val="57"/>
  <p:tag name="KSO_WM_DIAGRAM_GROUP_CODE" val="q1-1"/>
  <p:tag name="KSO_WM_UNIT_TEXT_FILL_FORE_SCHEMECOLOR_INDEX" val="13"/>
  <p:tag name="KSO_WM_UNIT_TEXT_FILL_TYPE" val="1"/>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h_f"/>
  <p:tag name="KSO_WM_UNIT_INDEX" val="1_1_1"/>
  <p:tag name="KSO_WM_UNIT_ID" val="diagram781_4*q_h_f*1_1_1"/>
  <p:tag name="KSO_WM_UNIT_CLEAR" val="1"/>
  <p:tag name="KSO_WM_UNIT_LAYERLEVEL" val="1_1_1"/>
  <p:tag name="KSO_WM_UNIT_VALUE" val="24"/>
  <p:tag name="KSO_WM_UNIT_HIGHLIGHT" val="0"/>
  <p:tag name="KSO_WM_UNIT_COMPATIBLE" val="0"/>
  <p:tag name="KSO_WM_UNIT_PRESET_TEXT_INDEX" val="4"/>
  <p:tag name="KSO_WM_UNIT_PRESET_TEXT_LEN" val="40"/>
  <p:tag name="KSO_WM_DIAGRAM_GROUP_CODE" val="q1-1"/>
  <p:tag name="KSO_WM_UNIT_TEXT_FILL_FORE_SCHEMECOLOR_INDEX" val="13"/>
  <p:tag name="KSO_WM_UNIT_TEXT_FILL_TYPE" val="1"/>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0"/>
  <p:tag name="KSO_WM_UNIT_ID" val="diagram781_4*q_i*1_10"/>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1"/>
  <p:tag name="KSO_WM_UNIT_ID" val="diagram781_4*q_i*1_11"/>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2"/>
  <p:tag name="KSO_WM_UNIT_ID" val="diagram781_4*q_i*1_12"/>
  <p:tag name="KSO_WM_UNIT_CLEAR" val="1"/>
  <p:tag name="KSO_WM_UNIT_LAYERLEVEL" val="1_1"/>
  <p:tag name="KSO_WM_DIAGRAM_GROUP_CODE" val="q1-1"/>
  <p:tag name="KSO_WM_UNIT_TEXT_FILL_FORE_SCHEMECOLOR_INDEX" val="14"/>
  <p:tag name="KSO_WM_UNIT_TEXT_FILL_TYPE" val="1"/>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8"/>
  <p:tag name="KSO_WM_UNIT_ID" val="diagram781_4*q_i*1_8"/>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9"/>
  <p:tag name="KSO_WM_UNIT_ID" val="diagram781_4*q_i*1_9"/>
  <p:tag name="KSO_WM_UNIT_CLEAR" val="1"/>
  <p:tag name="KSO_WM_UNIT_LAYERLEVEL" val="1_1"/>
  <p:tag name="KSO_WM_DIAGRAM_GROUP_CODE" val="q1-1"/>
  <p:tag name="KSO_WM_UNIT_FILL_FORE_SCHEMECOLOR_INDEX" val="5"/>
  <p:tag name="KSO_WM_UNIT_FILL_TYPE" val="1"/>
  <p:tag name="KSO_WM_UNIT_TEXT_FILL_FORE_SCHEMECOLOR_INDEX" val="2"/>
  <p:tag name="KSO_WM_UNIT_TEXT_FILL_TYPE" val="1"/>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6"/>
  <p:tag name="KSO_WM_UNIT_ID" val="diagram781_4*q_i*1_6"/>
  <p:tag name="KSO_WM_UNIT_CLEAR" val="1"/>
  <p:tag name="KSO_WM_UNIT_LAYERLEVEL" val="1_1"/>
  <p:tag name="KSO_WM_DIAGRAM_GROUP_CODE" val="q1-1"/>
  <p:tag name="KSO_WM_UNIT_FILL_FORE_SCHEMECOLOR_INDEX" val="7"/>
  <p:tag name="KSO_WM_UNIT_FILL_TYPE" val="1"/>
  <p:tag name="KSO_WM_UNIT_TEXT_FILL_FORE_SCHEMECOLOR_INDEX" val="2"/>
  <p:tag name="KSO_WM_UNIT_TEXT_FILL_TYPE" val="1"/>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7"/>
  <p:tag name="KSO_WM_UNIT_ID" val="diagram781_4*q_i*1_7"/>
  <p:tag name="KSO_WM_UNIT_CLEAR" val="1"/>
  <p:tag name="KSO_WM_UNIT_LAYERLEVEL" val="1_1"/>
  <p:tag name="KSO_WM_DIAGRAM_GROUP_CODE" val="q1-1"/>
  <p:tag name="KSO_WM_UNIT_FILL_FORE_SCHEMECOLOR_INDEX" val="7"/>
  <p:tag name="KSO_WM_UNIT_FILL_TYPE" val="1"/>
  <p:tag name="KSO_WM_UNIT_TEXT_FILL_FORE_SCHEMECOLOR_INDEX" val="2"/>
  <p:tag name="KSO_WM_UNIT_TEXT_FILL_TYPE" val="1"/>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4"/>
  <p:tag name="KSO_WM_UNIT_ID" val="diagram781_4*q_i*1_4"/>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5"/>
  <p:tag name="KSO_WM_UNIT_ID" val="diagram781_4*q_i*1_5"/>
  <p:tag name="KSO_WM_UNIT_CLEAR" val="1"/>
  <p:tag name="KSO_WM_UNIT_LAYERLEVEL" val="1_1"/>
  <p:tag name="KSO_WM_DIAGRAM_GROUP_CODE" val="q1-1"/>
  <p:tag name="KSO_WM_UNIT_FILL_FORE_SCHEMECOLOR_INDEX" val="6"/>
  <p:tag name="KSO_WM_UNIT_FILL_TYPE" val="1"/>
  <p:tag name="KSO_WM_UNIT_TEXT_FILL_FORE_SCHEMECOLOR_INDEX" val="2"/>
  <p:tag name="KSO_WM_UNIT_TEXT_FILL_TYPE" val="1"/>
  <p:tag name="KSO_WM_UNIT_USESOURCEFORMAT_APPLY" val="1"/>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1"/>
  <p:tag name="KSO_WM_UNIT_ID" val="diagram781_4*q_i*1_1"/>
  <p:tag name="KSO_WM_UNIT_CLEAR" val="1"/>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2"/>
  <p:tag name="KSO_WM_UNIT_ID" val="diagram781_4*q_i*1_2"/>
  <p:tag name="KSO_WM_UNIT_CLEAR" val="1"/>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diagram"/>
  <p:tag name="KSO_WM_TEMPLATE_INDEX" val="781"/>
  <p:tag name="KSO_WM_UNIT_TYPE" val="q_i"/>
  <p:tag name="KSO_WM_UNIT_INDEX" val="1_3"/>
  <p:tag name="KSO_WM_UNIT_ID" val="diagram781_4*q_i*1_3"/>
  <p:tag name="KSO_WM_UNIT_CLEAR" val="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Other"/>
  <p:tag name="MH_ORDER" val="1"/>
</p:tagLst>
</file>

<file path=ppt/tags/tag47.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Other"/>
  <p:tag name="MH_ORDER" val="2"/>
</p:tagLst>
</file>

<file path=ppt/tags/tag48.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SubTitle"/>
  <p:tag name="MH_ORDER" val="1"/>
</p:tagLst>
</file>

<file path=ppt/tags/tag49.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SubTitle"/>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Text"/>
  <p:tag name="MH_ORDER" val="1"/>
</p:tagLst>
</file>

<file path=ppt/tags/tag51.xml><?xml version="1.0" encoding="utf-8"?>
<p:tagLst xmlns:a="http://schemas.openxmlformats.org/drawingml/2006/main" xmlns:r="http://schemas.openxmlformats.org/officeDocument/2006/relationships" xmlns:p="http://schemas.openxmlformats.org/presentationml/2006/main">
  <p:tag name="MH" val="20150917094253"/>
  <p:tag name="MH_LIBRARY" val="GRAPHIC"/>
  <p:tag name="MH_TYPE" val="Text"/>
  <p:tag name="MH_ORDER" val="2"/>
</p:tagLst>
</file>

<file path=ppt/tags/tag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6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6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6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6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6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6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4*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4*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4*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4*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4*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4*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4*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4*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4*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4*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5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54.xml><?xml version="1.0" encoding="utf-8"?>
<p:tagLst xmlns:a="http://schemas.openxmlformats.org/drawingml/2006/main" xmlns:r="http://schemas.openxmlformats.org/officeDocument/2006/relationships" xmlns:p="http://schemas.openxmlformats.org/presentationml/2006/main">
  <p:tag name="MH" val="20161214163846"/>
  <p:tag name="MH_LIBRARY" val="GRAPHIC"/>
  <p:tag name="MH_TYPE" val="Text"/>
  <p:tag name="MH_ORDER" val="1"/>
</p:tagLst>
</file>

<file path=ppt/tags/tag1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5*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5*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5*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5*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5*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5*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5*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5*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5*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5*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5*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5*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6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70*q_i*1_1"/>
  <p:tag name="KSO_WM_UNIT_LAYERLEVEL" val="1_1"/>
  <p:tag name="KSO_WM_DIAGRAM_GROUP_CODE" val="q1-1"/>
  <p:tag name="KSO_WM_UNIT_LINE_FORE_SCHEMECOLOR_INDEX" val="13"/>
  <p:tag name="KSO_WM_UNIT_LINE_FILL_TYPE" val="2"/>
  <p:tag name="KSO_WM_UNIT_USESOURCEFORMAT_APPLY"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70*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70*q_i*1_2"/>
  <p:tag name="KSO_WM_UNIT_LAYERLEVEL" val="1_1"/>
  <p:tag name="KSO_WM_DIAGRAM_GROUP_CODE" val="q1-1"/>
  <p:tag name="KSO_WM_UNIT_LINE_FORE_SCHEMECOLOR_INDEX" val="13"/>
  <p:tag name="KSO_WM_UNIT_LINE_FILL_TYPE" val="2"/>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70*q_h_f*1_3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4"/>
  <p:tag name="KSO_WM_TEMPLATE_CATEGORY" val="custom"/>
  <p:tag name="KSO_WM_TEMPLATE_INDEX" val="160596"/>
  <p:tag name="KSO_WM_UNIT_INDEX" val="4"/>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4_1"/>
  <p:tag name="KSO_WM_UNIT_ID" val="custom160596_70*q_h_f*1_4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70*q_i*1_5"/>
  <p:tag name="KSO_WM_UNIT_LAYERLEVEL" val="1_1"/>
  <p:tag name="KSO_WM_DIAGRAM_GROUP_CODE" val="q1-1"/>
  <p:tag name="KSO_WM_UNIT_LINE_FORE_SCHEMECOLOR_INDEX" val="13"/>
  <p:tag name="KSO_WM_UNIT_LINE_FILL_TYPE" val="2"/>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70*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70*q_i*1_6"/>
  <p:tag name="KSO_WM_UNIT_LAYERLEVEL" val="1_1"/>
  <p:tag name="KSO_WM_DIAGRAM_GROUP_CODE" val="q1-1"/>
  <p:tag name="KSO_WM_UNIT_LINE_FORE_SCHEMECOLOR_INDEX" val="13"/>
  <p:tag name="KSO_WM_UNIT_LINE_FILL_TYPE" val="2"/>
  <p:tag name="KSO_WM_UNIT_USESOURCEFORMAT_APPLY" val="1"/>
</p:tagLst>
</file>

<file path=ppt/tags/tag1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6_1"/>
  <p:tag name="KSO_WM_UNIT_ID" val="custom160596_70*q_h_f*1_6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14"/>
  <p:tag name="KSO_WM_TEMPLATE_CATEGORY" val="custom"/>
  <p:tag name="KSO_WM_TEMPLATE_INDEX" val="160596"/>
  <p:tag name="KSO_WM_UNIT_INDEX" val="14"/>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70*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70*q_i*1_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70*q_i*1_10"/>
  <p:tag name="KSO_WM_UNIT_LAYERLEVEL" val="1_1"/>
  <p:tag name="KSO_WM_DIAGRAM_GROUP_CODE" val="q1-1"/>
  <p:tag name="KSO_WM_UNIT_TEXT_FILL_FORE_SCHEMECOLOR_INDEX" val="13"/>
  <p:tag name="KSO_WM_UNIT_TEXT_FILL_TYPE" val="1"/>
  <p:tag name="KSO_WM_UNIT_USESOURCEFORMAT_APPLY" val="1"/>
</p:tagLst>
</file>

<file path=ppt/tags/tag1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70*q_i*1_11"/>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70*q_i*1_12"/>
  <p:tag name="KSO_WM_UNIT_LAYERLEVEL" val="1_1"/>
  <p:tag name="KSO_WM_DIAGRAM_GROUP_CODE" val="q1-1"/>
  <p:tag name="KSO_WM_UNIT_TEXT_FILL_FORE_SCHEMECOLOR_INDEX" val="13"/>
  <p:tag name="KSO_WM_UNIT_TEXT_FILL_TYPE" val="1"/>
  <p:tag name="KSO_WM_UNIT_USESOURCEFORMAT_APPLY" val="1"/>
</p:tagLst>
</file>

<file path=ppt/tags/tag1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70*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4"/>
  <p:tag name="KSO_WM_UNIT_ID" val="custom160596_70*q_i*1_14"/>
  <p:tag name="KSO_WM_UNIT_LAYERLEVEL" val="1_1"/>
  <p:tag name="KSO_WM_DIAGRAM_GROUP_CODE" val="q1-1"/>
  <p:tag name="KSO_WM_UNIT_TEXT_FILL_FORE_SCHEMECOLOR_INDEX" val="13"/>
  <p:tag name="KSO_WM_UNIT_TEXT_FILL_TYPE" val="1"/>
  <p:tag name="KSO_WM_UNIT_USESOURCEFORMAT_APPLY" val="1"/>
</p:tagLst>
</file>

<file path=ppt/tags/tag1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5"/>
  <p:tag name="KSO_WM_UNIT_ID" val="custom160596_70*q_i*1_15"/>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1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6"/>
  <p:tag name="KSO_WM_UNIT_ID" val="custom160596_70*q_i*1_16"/>
  <p:tag name="KSO_WM_UNIT_LAYERLEVEL" val="1_1"/>
  <p:tag name="KSO_WM_DIAGRAM_GROUP_CODE" val="q1-1"/>
  <p:tag name="KSO_WM_UNIT_TEXT_FILL_FORE_SCHEMECOLOR_INDEX" val="13"/>
  <p:tag name="KSO_WM_UNIT_TEXT_FILL_TYPE" val="1"/>
  <p:tag name="KSO_WM_UNIT_USESOURCEFORMAT_APPLY" val="1"/>
</p:tagLst>
</file>

<file path=ppt/tags/tag1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7"/>
  <p:tag name="KSO_WM_UNIT_ID" val="custom160596_70*q_i*1_17"/>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8"/>
  <p:tag name="KSO_WM_UNIT_ID" val="custom160596_70*q_i*1_18"/>
  <p:tag name="KSO_WM_UNIT_LAYERLEVEL" val="1_1"/>
  <p:tag name="KSO_WM_DIAGRAM_GROUP_CODE" val="q1-1"/>
  <p:tag name="KSO_WM_UNIT_TEXT_FILL_FORE_SCHEMECOLOR_INDEX" val="13"/>
  <p:tag name="KSO_WM_UNIT_TEXT_FILL_TYPE" val="1"/>
  <p:tag name="KSO_WM_UNIT_USESOURCEFORMAT_APPLY" val="1"/>
</p:tagLst>
</file>

<file path=ppt/tags/tag1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9"/>
  <p:tag name="KSO_WM_UNIT_ID" val="custom160596_70*q_i*1_19"/>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1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0"/>
  <p:tag name="KSO_WM_UNIT_ID" val="custom160596_70*q_i*1_20"/>
  <p:tag name="KSO_WM_UNIT_LAYERLEVEL" val="1_1"/>
  <p:tag name="KSO_WM_DIAGRAM_GROUP_CODE" val="q1-1"/>
  <p:tag name="KSO_WM_UNIT_TEXT_FILL_FORE_SCHEMECOLOR_INDEX" val="13"/>
  <p:tag name="KSO_WM_UNIT_TEXT_FILL_TYPE" val="1"/>
  <p:tag name="KSO_WM_UNIT_USESOURCEFORMAT_APPLY" val="1"/>
</p:tagLst>
</file>

<file path=ppt/tags/tag1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1"/>
  <p:tag name="KSO_WM_UNIT_ID" val="custom160596_70*q_i*1_21"/>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1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70*i*33"/>
  <p:tag name="KSO_WM_TEMPLATE_CATEGORY" val="custom"/>
  <p:tag name="KSO_WM_TEMPLATE_INDEX" val="160596"/>
  <p:tag name="KSO_WM_UNIT_INDEX" val="33"/>
</p:tagLst>
</file>

<file path=ppt/tags/tag1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2"/>
  <p:tag name="KSO_WM_UNIT_ID" val="custom160596_70*q_i*1_2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1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3"/>
  <p:tag name="KSO_WM_UNIT_ID" val="custom160596_70*q_i*1_23"/>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1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4"/>
  <p:tag name="KSO_WM_UNIT_ID" val="custom160596_70*q_i*1_24"/>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1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5"/>
  <p:tag name="KSO_WM_UNIT_ID" val="custom160596_70*q_i*1_25"/>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1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6"/>
  <p:tag name="KSO_WM_UNIT_ID" val="custom160596_70*q_i*1_26"/>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2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7"/>
  <p:tag name="KSO_WM_UNIT_ID" val="custom160596_70*q_i*1_2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2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70*q_i*1_7"/>
  <p:tag name="KSO_WM_UNIT_LAYERLEVEL" val="1_1"/>
  <p:tag name="KSO_WM_DIAGRAM_GROUP_CODE" val="q1-1"/>
  <p:tag name="KSO_WM_UNIT_LINE_FORE_SCHEMECOLOR_INDEX" val="13"/>
  <p:tag name="KSO_WM_UNIT_LINE_FILL_TYPE" val="2"/>
  <p:tag name="KSO_WM_UNIT_USESOURCEFORMAT_APPLY" val="1"/>
</p:tagLst>
</file>

<file path=ppt/tags/tag2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70*q_i*1_8"/>
  <p:tag name="KSO_WM_UNIT_LAYERLEVEL" val="1_1"/>
  <p:tag name="KSO_WM_DIAGRAM_GROUP_CODE" val="q1-1"/>
  <p:tag name="KSO_WM_UNIT_LINE_FORE_SCHEMECOLOR_INDEX" val="13"/>
  <p:tag name="KSO_WM_UNIT_LINE_FILL_TYPE" val="2"/>
  <p:tag name="KSO_WM_UNIT_USESOURCEFORMAT_APPLY" val="1"/>
</p:tagLst>
</file>

<file path=ppt/tags/tag2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70*q_i*1_3"/>
  <p:tag name="KSO_WM_UNIT_LAYERLEVEL" val="1_1"/>
  <p:tag name="KSO_WM_DIAGRAM_GROUP_CODE" val="q1-1"/>
  <p:tag name="KSO_WM_UNIT_LINE_FORE_SCHEMECOLOR_INDEX" val="13"/>
  <p:tag name="KSO_WM_UNIT_LINE_FILL_TYPE" val="2"/>
  <p:tag name="KSO_WM_UNIT_USESOURCEFORMAT_APPLY" val="1"/>
</p:tagLst>
</file>

<file path=ppt/tags/tag2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70*q_i*1_4"/>
  <p:tag name="KSO_WM_UNIT_LAYERLEVEL" val="1_1"/>
  <p:tag name="KSO_WM_DIAGRAM_GROUP_CODE" val="q1-1"/>
  <p:tag name="KSO_WM_UNIT_LINE_FORE_SCHEMECOLOR_INDEX" val="13"/>
  <p:tag name="KSO_WM_UNIT_LINE_FILL_TYPE" val="2"/>
  <p:tag name="KSO_WM_UNIT_USESOURCEFORMAT_APPLY" val="1"/>
</p:tagLst>
</file>

<file path=ppt/tags/tag2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2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2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0"/>
  <p:tag name="KSO_WM_TEMPLATE_CATEGORY" val="custom"/>
  <p:tag name="KSO_WM_TEMPLATE_INDEX" val="160596"/>
  <p:tag name="KSO_WM_UNIT_INDEX" val="0"/>
</p:tagLst>
</file>

<file path=ppt/tags/tag2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40*i*8"/>
  <p:tag name="KSO_WM_TEMPLATE_CATEGORY" val="custom"/>
  <p:tag name="KSO_WM_TEMPLATE_INDEX" val="160596"/>
  <p:tag name="KSO_WM_UNIT_INDEX" val="8"/>
</p:tagLst>
</file>

<file path=ppt/tags/tag20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1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1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1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1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1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21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21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21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21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22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221.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223.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225.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22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ext"/>
  <p:tag name="MH_ORDER" val="1"/>
</p:tagLst>
</file>

<file path=ppt/tags/tag22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22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229.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230.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231.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23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23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23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23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23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23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23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3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4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4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4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4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2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2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24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24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9*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9*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9*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9*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9*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9*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9*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9*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9*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1"/>
  <p:tag name="KSO_WM_UNIT_ID" val="custom160596_39*r_i*1_1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2"/>
  <p:tag name="KSO_WM_UNIT_ID" val="custom160596_39*r_i*1_12"/>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9*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9*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9*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9*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0"/>
  <p:tag name="KSO_WM_UNIT_ID" val="custom160596_39*r_v*1_10"/>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3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3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3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3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3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3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3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3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3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3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3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2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2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2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2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3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3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3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3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3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3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3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3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3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3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4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4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4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4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34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34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3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3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3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3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3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3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3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3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3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3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35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36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6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3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25*l_i*1_1"/>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25*l_i*1_2"/>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25*l_i*1_3"/>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25*l_i*1_4"/>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25*l_i*1_5"/>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25*l_i*1_6"/>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25*l_i*1_7"/>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25*l_i*1_8"/>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25*l_i*1_9"/>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25*l_i*1_10"/>
  <p:tag name="KSO_WM_UNIT_LAYERLEVEL" val="1_1"/>
  <p:tag name="KSO_WM_DIAGRAM_GROUP_CODE" val="l1-8"/>
  <p:tag name="KSO_WM_UNIT_FILL_FORE_SCHEMECOLOR_INDEX" val="5"/>
  <p:tag name="KSO_WM_UNIT_FILL_TYPE" val="1"/>
  <p:tag name="KSO_WM_UNIT_TEXT_FILL_FORE_SCHEMECOLOR_INDEX" val="13"/>
  <p:tag name="KSO_WM_UNIT_TEXT_FILL_TYPE" val="1"/>
  <p:tag name="KSO_WM_UNIT_USESOURCEFORMAT_APPLY" val="1"/>
</p:tagLst>
</file>

<file path=ppt/tags/tag3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25*l_i*1_11"/>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25*l_i*1_12"/>
  <p:tag name="KSO_WM_UNIT_LAYERLEVEL" val="1_1"/>
  <p:tag name="KSO_WM_DIAGRAM_GROUP_CODE" val="l1-8"/>
  <p:tag name="KSO_WM_UNIT_FILL_FORE_SCHEMECOLOR_INDEX" val="6"/>
  <p:tag name="KSO_WM_UNIT_FILL_TYPE" val="1"/>
  <p:tag name="KSO_WM_UNIT_TEXT_FILL_FORE_SCHEMECOLOR_INDEX" val="13"/>
  <p:tag name="KSO_WM_UNIT_TEXT_FILL_TYPE" val="1"/>
  <p:tag name="KSO_WM_UNIT_USESOURCEFORMAT_APPLY" val="1"/>
</p:tagLst>
</file>

<file path=ppt/tags/tag3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25*l_i*1_13"/>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25*l_i*1_14"/>
  <p:tag name="KSO_WM_UNIT_LAYERLEVEL" val="1_1"/>
  <p:tag name="KSO_WM_DIAGRAM_GROUP_CODE" val="l1-8"/>
  <p:tag name="KSO_WM_UNIT_FILL_FORE_SCHEMECOLOR_INDEX" val="7"/>
  <p:tag name="KSO_WM_UNIT_FILL_TYPE" val="1"/>
  <p:tag name="KSO_WM_UNIT_TEXT_FILL_FORE_SCHEMECOLOR_INDEX" val="13"/>
  <p:tag name="KSO_WM_UNIT_TEXT_FILL_TYPE" val="1"/>
  <p:tag name="KSO_WM_UNIT_USESOURCEFORMAT_APPLY" val="1"/>
</p:tagLst>
</file>

<file path=ppt/tags/tag3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5"/>
  <p:tag name="KSO_WM_UNIT_ID" val="custom160596_25*l_i*1_15"/>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6"/>
  <p:tag name="KSO_WM_UNIT_ID" val="custom160596_25*l_i*1_16"/>
  <p:tag name="KSO_WM_UNIT_LAYERLEVEL" val="1_1"/>
  <p:tag name="KSO_WM_DIAGRAM_GROUP_CODE" val="l1-8"/>
  <p:tag name="KSO_WM_UNIT_FILL_FORE_SCHEMECOLOR_INDEX" val="9"/>
  <p:tag name="KSO_WM_UNIT_FILL_TYPE" val="1"/>
  <p:tag name="KSO_WM_UNIT_TEXT_FILL_FORE_SCHEMECOLOR_INDEX" val="13"/>
  <p:tag name="KSO_WM_UNIT_TEXT_FILL_TYPE" val="1"/>
  <p:tag name="KSO_WM_UNIT_USESOURCEFORMAT_APPLY" val="1"/>
</p:tagLst>
</file>

<file path=ppt/tags/tag3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25*l_h_a*1_4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25*l_h_a*1_3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25*l_h_a*1_1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25*l_h_a*1_2_1"/>
  <p:tag name="KSO_WM_UNIT_LAYERLEVEL" val="1_1_1"/>
  <p:tag name="KSO_WM_UNIT_VALUE" val="6"/>
  <p:tag name="KSO_WM_UNIT_HIGHLIGHT" val="0"/>
  <p:tag name="KSO_WM_UNIT_COMPATIBLE" val="0"/>
  <p:tag name="KSO_WM_UNIT_CLEAR" val="0"/>
  <p:tag name="KSO_WM_DIAGRAM_GROUP_CODE" val="l1-8"/>
  <p:tag name="KSO_WM_UNIT_PRESET_TEXT" val="添加您的文字"/>
  <p:tag name="KSO_WM_UNIT_TEXT_FILL_FORE_SCHEMECOLOR_INDEX" val="13"/>
  <p:tag name="KSO_WM_UNIT_TEXT_FILL_TYPE" val="1"/>
  <p:tag name="KSO_WM_UNIT_USESOURCEFORMAT_APPLY" val="1"/>
</p:tagLst>
</file>

<file path=ppt/tags/tag3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1"/>
  <p:tag name="KSO_WM_UNIT_HIGHLIGHT" val="0"/>
  <p:tag name="KSO_WM_UNIT_COMPATIBLE" val="0"/>
  <p:tag name="KSO_WM_UNIT_ID" val="custom160034_20*m_h_f*1_1_1"/>
  <p:tag name="KSO_WM_UNIT_PRESET_TEXT_INDEX" val="2"/>
  <p:tag name="KSO_WM_UNIT_PRESET_TEXT_LEN" val="20"/>
  <p:tag name="KSO_WM_DIAGRAM_GROUP_CODE" val="m1-1"/>
  <p:tag name="KSO_WM_UNIT_USESOURCEFORMAT_APPLY" val="1"/>
</p:tagLst>
</file>

<file path=ppt/tags/tag3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1_1"/>
  <p:tag name="KSO_WM_UNIT_CLEAR" val="1"/>
  <p:tag name="KSO_WM_UNIT_LAYERLEVEL" val="1_1_1"/>
  <p:tag name="KSO_WM_UNIT_VALUE" val="24"/>
  <p:tag name="KSO_WM_UNIT_HIGHLIGHT" val="0"/>
  <p:tag name="KSO_WM_UNIT_COMPATIBLE" val="0"/>
  <p:tag name="KSO_WM_UNIT_ID" val="custom160034_20*m_h_a*1_1_1"/>
  <p:tag name="KSO_WM_UNIT_PRESET_TEXT_INDEX" val="0"/>
  <p:tag name="KSO_WM_UNIT_PRESET_TEXT_LEN" val="9"/>
  <p:tag name="KSO_WM_DIAGRAM_GROUP_CODE" val="m1-1"/>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2_1"/>
  <p:tag name="KSO_WM_UNIT_CLEAR" val="1"/>
  <p:tag name="KSO_WM_UNIT_LAYERLEVEL" val="1_1_1"/>
  <p:tag name="KSO_WM_UNIT_VALUE" val="24"/>
  <p:tag name="KSO_WM_UNIT_HIGHLIGHT" val="0"/>
  <p:tag name="KSO_WM_UNIT_COMPATIBLE" val="0"/>
  <p:tag name="KSO_WM_UNIT_ID" val="custom160034_20*m_h_a*1_2_1"/>
  <p:tag name="KSO_WM_UNIT_PRESET_TEXT_INDEX" val="0"/>
  <p:tag name="KSO_WM_UNIT_PRESET_TEXT_LEN" val="9"/>
  <p:tag name="KSO_WM_DIAGRAM_GROUP_CODE" val="m1-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3_1"/>
  <p:tag name="KSO_WM_UNIT_CLEAR" val="1"/>
  <p:tag name="KSO_WM_UNIT_LAYERLEVEL" val="1_1_1"/>
  <p:tag name="KSO_WM_UNIT_VALUE" val="24"/>
  <p:tag name="KSO_WM_UNIT_HIGHLIGHT" val="0"/>
  <p:tag name="KSO_WM_UNIT_COMPATIBLE" val="0"/>
  <p:tag name="KSO_WM_UNIT_ID" val="custom160034_20*m_h_a*1_3_1"/>
  <p:tag name="KSO_WM_UNIT_PRESET_TEXT_INDEX" val="0"/>
  <p:tag name="KSO_WM_UNIT_PRESET_TEXT_LEN" val="9"/>
  <p:tag name="KSO_WM_DIAGRAM_GROUP_CODE" val="m1-1"/>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1*m_i*1_1"/>
  <p:tag name="KSO_WM_DIAGRAM_GROUP_CODE" val="m1-1"/>
  <p:tag name="KSO_WM_UNIT_SHADOW_SCHEMECOLOR_INDEX" val="16"/>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1*m_i*1_2"/>
  <p:tag name="KSO_WM_DIAGRAM_GROUP_CODE" val="m1-1"/>
  <p:tag name="KSO_WM_UNIT_SHADOW_SCHEMECOLOR_INDEX" val="16"/>
  <p:tag name="KSO_WM_UNIT_TEXT_FILL_FORE_SCHEMECOLOR_INDEX" val="14"/>
  <p:tag name="KSO_WM_UNIT_TEXT_FILL_TYPE" val="1"/>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1*m_i*1_3"/>
  <p:tag name="KSO_WM_DIAGRAM_GROUP_CODE" val="m1-1"/>
  <p:tag name="KSO_WM_UNIT_SHADOW_SCHEMECOLOR_INDEX" val="16"/>
  <p:tag name="KSO_WM_UNIT_TEXT_FILL_FORE_SCHEMECOLOR_INDEX" val="14"/>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1*m_i*1_4"/>
  <p:tag name="KSO_WM_DIAGRAM_GROUP_CODE" val="m1-1"/>
  <p:tag name="KSO_WM_UNIT_SHADOW_SCHEMECOLOR_INDEX" val="16"/>
  <p:tag name="KSO_WM_UNIT_TEXT_FILL_FORE_SCHEMECOLOR_INDEX" val="13"/>
  <p:tag name="KSO_WM_UNIT_TEXT_FILL_TYPE" val="1"/>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1_1"/>
  <p:tag name="KSO_WM_UNIT_CLEAR" val="1"/>
  <p:tag name="KSO_WM_UNIT_LAYERLEVEL" val="1_1_1"/>
  <p:tag name="KSO_WM_UNIT_VALUE" val="8"/>
  <p:tag name="KSO_WM_UNIT_HIGHLIGHT" val="0"/>
  <p:tag name="KSO_WM_UNIT_COMPATIBLE" val="0"/>
  <p:tag name="KSO_WM_UNIT_ID" val="custom160034_21*m_h_a*1_1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3_1"/>
  <p:tag name="KSO_WM_UNIT_CLEAR" val="1"/>
  <p:tag name="KSO_WM_UNIT_LAYERLEVEL" val="1_1_1"/>
  <p:tag name="KSO_WM_UNIT_VALUE" val="8"/>
  <p:tag name="KSO_WM_UNIT_HIGHLIGHT" val="0"/>
  <p:tag name="KSO_WM_UNIT_COMPATIBLE" val="0"/>
  <p:tag name="KSO_WM_UNIT_ID" val="custom160034_21*m_h_a*1_3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4_1"/>
  <p:tag name="KSO_WM_UNIT_CLEAR" val="1"/>
  <p:tag name="KSO_WM_UNIT_LAYERLEVEL" val="1_1_1"/>
  <p:tag name="KSO_WM_UNIT_VALUE" val="8"/>
  <p:tag name="KSO_WM_UNIT_HIGHLIGHT" val="0"/>
  <p:tag name="KSO_WM_UNIT_COMPATIBLE" val="0"/>
  <p:tag name="KSO_WM_UNIT_ID" val="custom160034_21*m_h_a*1_4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1*m_i*1_5"/>
  <p:tag name="KSO_WM_DIAGRAM_GROUP_CODE" val="m1-1"/>
  <p:tag name="KSO_WM_UNIT_SHADOW_SCHEMECOLOR_INDEX" val="16"/>
  <p:tag name="KSO_WM_UNIT_TEXT_FILL_FORE_SCHEMECOLOR_INDEX" val="14"/>
  <p:tag name="KSO_WM_UNIT_TEXT_FILL_TYPE" val="1"/>
  <p:tag name="KSO_WM_UNIT_USESOURCEFORMAT_APPLY" val="1"/>
</p:tagLst>
</file>

<file path=ppt/tags/tag4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6"/>
  <p:tag name="KSO_WM_UNIT_CLEAR" val="1"/>
  <p:tag name="KSO_WM_UNIT_LAYERLEVEL" val="1_1"/>
  <p:tag name="KSO_WM_UNIT_ID" val="custom160034_21*m_i*1_6"/>
  <p:tag name="KSO_WM_DIAGRAM_GROUP_CODE" val="m1-1"/>
  <p:tag name="KSO_WM_UNIT_SHADOW_SCHEMECOLOR_INDEX" val="16"/>
  <p:tag name="KSO_WM_UNIT_TEXT_FILL_FORE_SCHEMECOLOR_INDEX" val="14"/>
  <p:tag name="KSO_WM_UNIT_TEXT_FILL_TYPE" val="1"/>
  <p:tag name="KSO_WM_UNIT_USESOURCEFORMAT_APPLY" val="1"/>
</p:tagLst>
</file>

<file path=ppt/tags/tag4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7"/>
  <p:tag name="KSO_WM_UNIT_CLEAR" val="1"/>
  <p:tag name="KSO_WM_UNIT_LAYERLEVEL" val="1_1"/>
  <p:tag name="KSO_WM_UNIT_ID" val="custom160034_21*m_i*1_7"/>
  <p:tag name="KSO_WM_DIAGRAM_GROUP_CODE" val="m1-1"/>
  <p:tag name="KSO_WM_UNIT_SHADOW_SCHEMECOLOR_INDEX" val="16"/>
  <p:tag name="KSO_WM_UNIT_TEXT_FILL_FORE_SCHEMECOLOR_INDEX" val="13"/>
  <p:tag name="KSO_WM_UNIT_TEXT_FILL_TYPE" val="1"/>
  <p:tag name="KSO_WM_UNIT_USESOURCEFORMAT_APPLY" val="1"/>
</p:tagLst>
</file>

<file path=ppt/tags/tag4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a"/>
  <p:tag name="KSO_WM_UNIT_INDEX" val="1_2_1"/>
  <p:tag name="KSO_WM_UNIT_CLEAR" val="1"/>
  <p:tag name="KSO_WM_UNIT_LAYERLEVEL" val="1_1_1"/>
  <p:tag name="KSO_WM_UNIT_VALUE" val="8"/>
  <p:tag name="KSO_WM_UNIT_HIGHLIGHT" val="0"/>
  <p:tag name="KSO_WM_UNIT_COMPATIBLE" val="0"/>
  <p:tag name="KSO_WM_UNIT_ID" val="custom160034_21*m_h_a*1_2_1"/>
  <p:tag name="KSO_WM_DIAGRAM_GROUP_CODE" val="m1-1"/>
  <p:tag name="KSO_WM_UNIT_PRESET_TEXT" val="在此编辑标题"/>
  <p:tag name="KSO_WM_UNIT_TEXT_FILL_FORE_SCHEMECOLOR_INDEX" val="15"/>
  <p:tag name="KSO_WM_UNIT_TEXT_FILL_TYPE" val="1"/>
  <p:tag name="KSO_WM_UNIT_USESOURCEFORMAT_APPLY" val="1"/>
</p:tagLst>
</file>

<file path=ppt/tags/tag4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1_1"/>
  <p:tag name="KSO_WM_UNIT_CLEAR" val="1"/>
  <p:tag name="KSO_WM_UNIT_LAYERLEVEL" val="1_1_1"/>
  <p:tag name="KSO_WM_UNIT_VALUE" val="90"/>
  <p:tag name="KSO_WM_UNIT_HIGHLIGHT" val="0"/>
  <p:tag name="KSO_WM_UNIT_COMPATIBLE" val="0"/>
  <p:tag name="KSO_WM_UNIT_ID" val="custom160034_21*m_h_f*1_1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4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0"/>
  <p:tag name="KSO_WM_UNIT_HIGHLIGHT" val="0"/>
  <p:tag name="KSO_WM_UNIT_COMPATIBLE" val="0"/>
  <p:tag name="KSO_WM_UNIT_ID" val="custom160034_21*m_h_f*1_2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4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0"/>
  <p:tag name="KSO_WM_UNIT_HIGHLIGHT" val="0"/>
  <p:tag name="KSO_WM_UNIT_COMPATIBLE" val="0"/>
  <p:tag name="KSO_WM_UNIT_ID" val="custom160034_21*m_h_f*1_3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ags/tag4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4_1"/>
  <p:tag name="KSO_WM_UNIT_CLEAR" val="1"/>
  <p:tag name="KSO_WM_UNIT_LAYERLEVEL" val="1_1_1"/>
  <p:tag name="KSO_WM_UNIT_VALUE" val="90"/>
  <p:tag name="KSO_WM_UNIT_HIGHLIGHT" val="0"/>
  <p:tag name="KSO_WM_UNIT_COMPATIBLE" val="0"/>
  <p:tag name="KSO_WM_UNIT_ID" val="custom160034_21*m_h_f*1_4_1"/>
  <p:tag name="KSO_WM_UNIT_PRESET_TEXT_INDEX" val="2"/>
  <p:tag name="KSO_WM_UNIT_PRESET_TEXT_LEN" val="20"/>
  <p:tag name="KSO_WM_DIAGRAM_GROUP_CODE" val="m1-1"/>
  <p:tag name="KSO_WM_UNIT_TEXT_FILL_FORE_SCHEMECOLOR_INDEX" val="13"/>
  <p:tag name="KSO_WM_UNIT_TEXT_FILL_TYPE" val="1"/>
  <p:tag name="KSO_WM_UNIT_USESOURCEFORMAT_APPLY"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自定义 3">
      <a:majorFont>
        <a:latin typeface="Arial"/>
        <a:ea typeface="黑体"/>
        <a:cs typeface=""/>
      </a:majorFont>
      <a:minorFont>
        <a:latin typeface="Arial"/>
        <a:ea typeface="黑体"/>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默认设计模板">
  <a:themeElements>
    <a:clrScheme name="自定义 1">
      <a:dk1>
        <a:srgbClr val="475F77"/>
      </a:dk1>
      <a:lt1>
        <a:srgbClr val="FFFFFF"/>
      </a:lt1>
      <a:dk2>
        <a:srgbClr val="D74B4B"/>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fontScheme name="默认设计模板">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黑体" panose="02010609060101010101" pitchFamily="49"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0" fontAlgn="base" latinLnBrk="0" hangingPunct="0">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黑体" panose="02010609060101010101" pitchFamily="49" charset="-122"/>
          </a:defRPr>
        </a:defPPr>
      </a:lstStyle>
    </a:lnDef>
  </a:objectDefaults>
  <a:extraClrSchemeLst>
    <a:extraClrScheme>
      <a:clrScheme name="默认设计模板 1">
        <a:dk1>
          <a:srgbClr val="000000"/>
        </a:dk1>
        <a:lt1>
          <a:srgbClr val="FFFFFF"/>
        </a:lt1>
        <a:dk2>
          <a:srgbClr val="000000"/>
        </a:dk2>
        <a:lt2>
          <a:srgbClr val="808080"/>
        </a:lt2>
        <a:accent1>
          <a:srgbClr val="CFDEF3"/>
        </a:accent1>
        <a:accent2>
          <a:srgbClr val="333399"/>
        </a:accent2>
        <a:accent3>
          <a:srgbClr val="FFFFFF"/>
        </a:accent3>
        <a:accent4>
          <a:srgbClr val="000000"/>
        </a:accent4>
        <a:accent5>
          <a:srgbClr val="E4ECF8"/>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默认设计模板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默认设计模板 3">
        <a:dk1>
          <a:srgbClr val="000000"/>
        </a:dk1>
        <a:lt1>
          <a:srgbClr val="FFFFFF"/>
        </a:lt1>
        <a:dk2>
          <a:srgbClr val="000000"/>
        </a:dk2>
        <a:lt2>
          <a:srgbClr val="808080"/>
        </a:lt2>
        <a:accent1>
          <a:srgbClr val="97CCFF"/>
        </a:accent1>
        <a:accent2>
          <a:srgbClr val="CCCCFF"/>
        </a:accent2>
        <a:accent3>
          <a:srgbClr val="FFFFFF"/>
        </a:accent3>
        <a:accent4>
          <a:srgbClr val="000000"/>
        </a:accent4>
        <a:accent5>
          <a:srgbClr val="C9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默认设计模板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默认设计模板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默认设计模板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默认设计模板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默认设计模板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默认设计模板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默认设计模板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默认设计模板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默认设计模板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TotalTime>
  <Words>8787</Words>
  <Application>WPS 演示</Application>
  <PresentationFormat>自定义</PresentationFormat>
  <Paragraphs>1468</Paragraphs>
  <Slides>113</Slides>
  <Notes>93</Notes>
  <HiddenSlides>0</HiddenSlides>
  <MMClips>0</MMClips>
  <ScaleCrop>false</ScaleCrop>
  <HeadingPairs>
    <vt:vector size="6" baseType="variant">
      <vt:variant>
        <vt:lpstr>主题</vt:lpstr>
      </vt:variant>
      <vt:variant>
        <vt:i4>3</vt:i4>
      </vt:variant>
      <vt:variant>
        <vt:lpstr>嵌入 OLE 服务器</vt:lpstr>
      </vt:variant>
      <vt:variant>
        <vt:i4>2</vt:i4>
      </vt:variant>
      <vt:variant>
        <vt:lpstr>幻灯片标题</vt:lpstr>
      </vt:variant>
      <vt:variant>
        <vt:i4>113</vt:i4>
      </vt:variant>
    </vt:vector>
  </HeadingPairs>
  <TitlesOfParts>
    <vt:vector size="118" baseType="lpstr">
      <vt:lpstr>Office 主题</vt:lpstr>
      <vt:lpstr>1_A000120141119A01PPBG</vt:lpstr>
      <vt:lpstr>默认设计模板</vt:lpstr>
      <vt:lpstr>Microsoft 公式 3.0</vt:lpstr>
      <vt:lpstr>公式</vt:lpstr>
      <vt:lpstr>幻灯片 1</vt:lpstr>
      <vt:lpstr>幻灯片 2</vt:lpstr>
      <vt:lpstr>幻灯片 3</vt:lpstr>
      <vt:lpstr>幻灯片 4</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4.1 结构化程序设计</vt:lpstr>
      <vt:lpstr>幻灯片 21</vt:lpstr>
      <vt:lpstr>4.2 软件测试目标</vt:lpstr>
      <vt:lpstr>4.2 软件测试目标</vt:lpstr>
      <vt:lpstr>幻灯片 24</vt:lpstr>
      <vt:lpstr>4.3 软件测试方法</vt:lpstr>
      <vt:lpstr>4.3 软件测试方法</vt:lpstr>
      <vt:lpstr>幻灯片 27</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4.4 软件测试步骤</vt:lpstr>
      <vt:lpstr>幻灯片 44</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4.5 设计软件测试方案</vt:lpstr>
      <vt:lpstr>幻灯片 94</vt:lpstr>
      <vt:lpstr>4.6 软件测试原则和策略</vt:lpstr>
      <vt:lpstr>4.6 软件测试原则和策略</vt:lpstr>
      <vt:lpstr>幻灯片 97</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4.7 软件调试、验证与确认</vt:lpstr>
      <vt:lpstr>幻灯片 106</vt:lpstr>
      <vt:lpstr>4.8 软件测试文档</vt:lpstr>
      <vt:lpstr>4.8 软件测试文档</vt:lpstr>
      <vt:lpstr>4.8 软件测试文档</vt:lpstr>
      <vt:lpstr>4.8 软件测试文档</vt:lpstr>
      <vt:lpstr>本章小结</vt:lpstr>
      <vt:lpstr>本章小结</vt:lpstr>
      <vt:lpstr>幻灯片 113</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ZYK</dc:creator>
  <cp:lastModifiedBy>Wu</cp:lastModifiedBy>
  <cp:revision>43</cp:revision>
  <dcterms:created xsi:type="dcterms:W3CDTF">2015-05-05T08:02:00Z</dcterms:created>
  <dcterms:modified xsi:type="dcterms:W3CDTF">2017-03-30T00:40:37Z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2052-10.1.0.6135</vt:lpwstr>
  </property>
</Properties>
</file>