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heme/theme2.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1.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2.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notesSlides/notesSlide8.xml" ContentType="application/vnd.openxmlformats-officedocument.presentationml.notesSlide+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notesSlides/notesSlide9.xml" ContentType="application/vnd.openxmlformats-officedocument.presentationml.notesSlide+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notesSlides/notesSlide10.xml" ContentType="application/vnd.openxmlformats-officedocument.presentationml.notesSlide+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notesSlides/notesSlide11.xml" ContentType="application/vnd.openxmlformats-officedocument.presentationml.notesSlide+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notesSlides/notesSlide12.xml" ContentType="application/vnd.openxmlformats-officedocument.presentationml.notesSlide+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notesSlides/notesSlide13.xml" ContentType="application/vnd.openxmlformats-officedocument.presentationml.notesSlide+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notesSlides/notesSlide14.xml" ContentType="application/vnd.openxmlformats-officedocument.presentationml.notesSlide+xml"/>
  <Override PartName="/ppt/tags/tag159.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notesSlides/notesSlide17.xml" ContentType="application/vnd.openxmlformats-officedocument.presentationml.notesSlide+xml"/>
  <Override PartName="/ppt/tags/tag174.xml" ContentType="application/vnd.openxmlformats-officedocument.presentationml.tags+xml"/>
  <Override PartName="/ppt/tags/tag175.xml" ContentType="application/vnd.openxmlformats-officedocument.presentationml.tags+xml"/>
  <Override PartName="/ppt/notesSlides/notesSlide18.xml" ContentType="application/vnd.openxmlformats-officedocument.presentationml.notesSlide+xml"/>
  <Override PartName="/ppt/tags/tag176.xml" ContentType="application/vnd.openxmlformats-officedocument.presentationml.tags+xml"/>
  <Override PartName="/ppt/tags/tag177.xml" ContentType="application/vnd.openxmlformats-officedocument.presentationml.tags+xml"/>
  <Override PartName="/ppt/notesSlides/notesSlide19.xml" ContentType="application/vnd.openxmlformats-officedocument.presentationml.notesSlide+xml"/>
  <Override PartName="/ppt/tags/tag178.xml" ContentType="application/vnd.openxmlformats-officedocument.presentationml.tags+xml"/>
  <Override PartName="/ppt/tags/tag179.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notesSlides/notesSlide22.xml" ContentType="application/vnd.openxmlformats-officedocument.presentationml.notesSlide+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192.xml" ContentType="application/vnd.openxmlformats-officedocument.presentationml.tags+xml"/>
  <Override PartName="/ppt/tags/tag193.xml" ContentType="application/vnd.openxmlformats-officedocument.presentationml.tags+xml"/>
  <Override PartName="/ppt/notesSlides/notesSlide29.xml" ContentType="application/vnd.openxmlformats-officedocument.presentationml.notesSlide+xml"/>
  <Override PartName="/ppt/tags/tag194.xml" ContentType="application/vnd.openxmlformats-officedocument.presentationml.tags+xml"/>
  <Override PartName="/ppt/tags/tag195.xml" ContentType="application/vnd.openxmlformats-officedocument.presentationml.tags+xml"/>
  <Override PartName="/ppt/notesSlides/notesSlide30.xml" ContentType="application/vnd.openxmlformats-officedocument.presentationml.notesSlide+xml"/>
  <Override PartName="/ppt/tags/tag196.xml" ContentType="application/vnd.openxmlformats-officedocument.presentationml.tags+xml"/>
  <Override PartName="/ppt/tags/tag197.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198.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notesSlides/notesSlide82.xml" ContentType="application/vnd.openxmlformats-officedocument.presentationml.notesSlide+xml"/>
  <Override PartName="/ppt/tags/tag292.xml" ContentType="application/vnd.openxmlformats-officedocument.presentationml.tags+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notesSlides/notesSlide85.xml" ContentType="application/vnd.openxmlformats-officedocument.presentationml.notesSlide+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tags/tag319.xml" ContentType="application/vnd.openxmlformats-officedocument.presentationml.tags+xml"/>
  <Override PartName="/ppt/notesSlides/notesSlide88.xml" ContentType="application/vnd.openxmlformats-officedocument.presentationml.notesSlide+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notesSlides/notesSlide89.xml" ContentType="application/vnd.openxmlformats-officedocument.presentationml.notesSlide+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notesSlides/notesSlide90.xml" ContentType="application/vnd.openxmlformats-officedocument.presentationml.notesSlide+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10">
  <p:sldMasterIdLst>
    <p:sldMasterId id="2147483648" r:id="rId1"/>
  </p:sldMasterIdLst>
  <p:notesMasterIdLst>
    <p:notesMasterId r:id="rId119"/>
  </p:notesMasterIdLst>
  <p:sldIdLst>
    <p:sldId id="256" r:id="rId2"/>
    <p:sldId id="257" r:id="rId3"/>
    <p:sldId id="259" r:id="rId4"/>
    <p:sldId id="258" r:id="rId5"/>
    <p:sldId id="268" r:id="rId6"/>
    <p:sldId id="271" r:id="rId7"/>
    <p:sldId id="272" r:id="rId8"/>
    <p:sldId id="269" r:id="rId9"/>
    <p:sldId id="454" r:id="rId10"/>
    <p:sldId id="273" r:id="rId11"/>
    <p:sldId id="275" r:id="rId12"/>
    <p:sldId id="277" r:id="rId13"/>
    <p:sldId id="278" r:id="rId14"/>
    <p:sldId id="279" r:id="rId15"/>
    <p:sldId id="274" r:id="rId16"/>
    <p:sldId id="280" r:id="rId17"/>
    <p:sldId id="281" r:id="rId18"/>
    <p:sldId id="282" r:id="rId19"/>
    <p:sldId id="283" r:id="rId20"/>
    <p:sldId id="284" r:id="rId21"/>
    <p:sldId id="260" r:id="rId22"/>
    <p:sldId id="291" r:id="rId23"/>
    <p:sldId id="285" r:id="rId24"/>
    <p:sldId id="261" r:id="rId25"/>
    <p:sldId id="286" r:id="rId26"/>
    <p:sldId id="292" r:id="rId27"/>
    <p:sldId id="262" r:id="rId28"/>
    <p:sldId id="293" r:id="rId29"/>
    <p:sldId id="471" r:id="rId30"/>
    <p:sldId id="294" r:id="rId31"/>
    <p:sldId id="455" r:id="rId32"/>
    <p:sldId id="456" r:id="rId33"/>
    <p:sldId id="472" r:id="rId34"/>
    <p:sldId id="458" r:id="rId35"/>
    <p:sldId id="457" r:id="rId36"/>
    <p:sldId id="459" r:id="rId37"/>
    <p:sldId id="461" r:id="rId38"/>
    <p:sldId id="460" r:id="rId39"/>
    <p:sldId id="462" r:id="rId40"/>
    <p:sldId id="463" r:id="rId41"/>
    <p:sldId id="464" r:id="rId42"/>
    <p:sldId id="469" r:id="rId43"/>
    <p:sldId id="467" r:id="rId44"/>
    <p:sldId id="468" r:id="rId45"/>
    <p:sldId id="306" r:id="rId46"/>
    <p:sldId id="263" r:id="rId47"/>
    <p:sldId id="307" r:id="rId48"/>
    <p:sldId id="308" r:id="rId49"/>
    <p:sldId id="309" r:id="rId50"/>
    <p:sldId id="310" r:id="rId51"/>
    <p:sldId id="311" r:id="rId52"/>
    <p:sldId id="453" r:id="rId53"/>
    <p:sldId id="313" r:id="rId54"/>
    <p:sldId id="473" r:id="rId55"/>
    <p:sldId id="315" r:id="rId56"/>
    <p:sldId id="475" r:id="rId57"/>
    <p:sldId id="314" r:id="rId58"/>
    <p:sldId id="477" r:id="rId59"/>
    <p:sldId id="483" r:id="rId60"/>
    <p:sldId id="476" r:id="rId61"/>
    <p:sldId id="316" r:id="rId62"/>
    <p:sldId id="481" r:id="rId63"/>
    <p:sldId id="478" r:id="rId64"/>
    <p:sldId id="479" r:id="rId65"/>
    <p:sldId id="480" r:id="rId66"/>
    <p:sldId id="482" r:id="rId67"/>
    <p:sldId id="327" r:id="rId68"/>
    <p:sldId id="365" r:id="rId69"/>
    <p:sldId id="366" r:id="rId70"/>
    <p:sldId id="367" r:id="rId71"/>
    <p:sldId id="368" r:id="rId72"/>
    <p:sldId id="328" r:id="rId73"/>
    <p:sldId id="330" r:id="rId74"/>
    <p:sldId id="329" r:id="rId75"/>
    <p:sldId id="331" r:id="rId76"/>
    <p:sldId id="332" r:id="rId77"/>
    <p:sldId id="333" r:id="rId78"/>
    <p:sldId id="334" r:id="rId79"/>
    <p:sldId id="335" r:id="rId80"/>
    <p:sldId id="336" r:id="rId81"/>
    <p:sldId id="337" r:id="rId82"/>
    <p:sldId id="338" r:id="rId83"/>
    <p:sldId id="339" r:id="rId84"/>
    <p:sldId id="340" r:id="rId85"/>
    <p:sldId id="341" r:id="rId86"/>
    <p:sldId id="343" r:id="rId87"/>
    <p:sldId id="344" r:id="rId88"/>
    <p:sldId id="345" r:id="rId89"/>
    <p:sldId id="369" r:id="rId90"/>
    <p:sldId id="370" r:id="rId91"/>
    <p:sldId id="371" r:id="rId92"/>
    <p:sldId id="346" r:id="rId93"/>
    <p:sldId id="372" r:id="rId94"/>
    <p:sldId id="373" r:id="rId95"/>
    <p:sldId id="264" r:id="rId96"/>
    <p:sldId id="435" r:id="rId97"/>
    <p:sldId id="348" r:id="rId98"/>
    <p:sldId id="265" r:id="rId99"/>
    <p:sldId id="350" r:id="rId100"/>
    <p:sldId id="421" r:id="rId101"/>
    <p:sldId id="422" r:id="rId102"/>
    <p:sldId id="423" r:id="rId103"/>
    <p:sldId id="351" r:id="rId104"/>
    <p:sldId id="419" r:id="rId105"/>
    <p:sldId id="424" r:id="rId106"/>
    <p:sldId id="356" r:id="rId107"/>
    <p:sldId id="266" r:id="rId108"/>
    <p:sldId id="363" r:id="rId109"/>
    <p:sldId id="357" r:id="rId110"/>
    <p:sldId id="417" r:id="rId111"/>
    <p:sldId id="358" r:id="rId112"/>
    <p:sldId id="484" r:id="rId113"/>
    <p:sldId id="486" r:id="rId114"/>
    <p:sldId id="487" r:id="rId115"/>
    <p:sldId id="360" r:id="rId116"/>
    <p:sldId id="361" r:id="rId117"/>
    <p:sldId id="470" r:id="rId1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4">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008080"/>
    <a:srgbClr val="77BA27"/>
    <a:srgbClr val="00B0F0"/>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8389" autoAdjust="0"/>
  </p:normalViewPr>
  <p:slideViewPr>
    <p:cSldViewPr snapToGrid="0">
      <p:cViewPr varScale="1">
        <p:scale>
          <a:sx n="96" d="100"/>
          <a:sy n="96" d="100"/>
        </p:scale>
        <p:origin x="378" y="90"/>
      </p:cViewPr>
      <p:guideLst>
        <p:guide orient="horz" pos="2174"/>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notesMaster" Target="notesMasters/notesMaster1.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Times New Roman" panose="02020603050405020304" pitchFamily="18" charset="0"/>
                <a:ea typeface="微软雅黑 Light" panose="020B0502040204020203"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Times New Roman" panose="02020603050405020304" pitchFamily="18" charset="0"/>
                <a:ea typeface="微软雅黑 Light" panose="020B0502040204020203" pitchFamily="34" charset="-122"/>
              </a:defRPr>
            </a:lvl1pPr>
          </a:lstStyle>
          <a:p>
            <a:fld id="{D2A48B96-639E-45A3-A0BA-2464DFDB1FAA}" type="datetimeFigureOut">
              <a:rPr lang="zh-CN" altLang="en-US" smtClean="0"/>
              <a:pPr/>
              <a:t>2026/5/6</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Times New Roman" panose="02020603050405020304" pitchFamily="18" charset="0"/>
                <a:ea typeface="微软雅黑 Light" panose="020B0502040204020203"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Times New Roman" panose="02020603050405020304" pitchFamily="18" charset="0"/>
                <a:ea typeface="微软雅黑 Light" panose="020B0502040204020203" pitchFamily="34" charset="-122"/>
              </a:defRPr>
            </a:lvl1pPr>
          </a:lstStyle>
          <a:p>
            <a:fld id="{A6837353-30EB-4A48-80EB-173D804AEFBD}" type="slidenum">
              <a:rPr lang="zh-CN" altLang="en-US" smtClean="0"/>
              <a:pPr/>
              <a:t>‹#›</a:t>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imes New Roman" panose="02020603050405020304" pitchFamily="18" charset="0"/>
        <a:ea typeface="微软雅黑 Light" panose="020B0502040204020203" pitchFamily="34" charset="-122"/>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481013" y="1279525"/>
            <a:ext cx="6140450" cy="3454400"/>
          </a:xfrm>
        </p:spPr>
        <p:txBody>
          <a:bodyPr/>
          <a:lstStyle/>
          <a:p>
            <a:endParaRPr lang="zh-CN" altLang="en-US"/>
          </a:p>
        </p:txBody>
      </p:sp>
      <p:sp>
        <p:nvSpPr>
          <p:cNvPr id="6147" name="备注占位符 2"/>
          <p:cNvSpPr>
            <a:spLocks noGrp="1"/>
          </p:cNvSpPr>
          <p:nvPr>
            <p:ph type="body" idx="1"/>
          </p:nvPr>
        </p:nvSpPr>
        <p:spPr>
          <a:noFill/>
        </p:spPr>
        <p:txBody>
          <a:bodyPr anchor="t"/>
          <a:lstStyle/>
          <a:p>
            <a:pPr eaLnBrk="1" hangingPunct="1">
              <a:spcBef>
                <a:spcPct val="0"/>
              </a:spcBef>
            </a:pPr>
            <a:r>
              <a:rPr lang="zh-CN" altLang="en-US" dirty="0"/>
              <a:t>模板来自于 </a:t>
            </a:r>
            <a:r>
              <a:rPr lang="en-US" altLang="zh-CN" dirty="0"/>
              <a:t>http://docer.wps.cn</a:t>
            </a:r>
            <a:endParaRPr lang="zh-CN" altLang="en-US" dirty="0"/>
          </a:p>
        </p:txBody>
      </p:sp>
      <p:sp>
        <p:nvSpPr>
          <p:cNvPr id="6148" name="灯片编号占位符 3"/>
          <p:cNvSpPr txBox="1">
            <a:spLocks noGrp="1" noChangeArrowheads="1"/>
          </p:cNvSpPr>
          <p:nvPr/>
        </p:nvSpPr>
        <p:spPr bwMode="auto">
          <a:xfrm>
            <a:off x="4023992" y="9721107"/>
            <a:ext cx="3078427" cy="513507"/>
          </a:xfrm>
          <a:prstGeom prst="rect">
            <a:avLst/>
          </a:prstGeom>
          <a:noFill/>
          <a:ln w="9525">
            <a:noFill/>
            <a:miter lim="800000"/>
          </a:ln>
        </p:spPr>
        <p:txBody>
          <a:bodyPr lIns="99075" tIns="49538" rIns="99075" bIns="49538" anchor="b"/>
          <a:lstStyle/>
          <a:p>
            <a:pPr algn="r" eaLnBrk="1" hangingPunct="1">
              <a:buFont typeface="Arial" panose="020B0604020202020204" pitchFamily="34" charset="0"/>
              <a:buNone/>
            </a:pPr>
            <a:fld id="{AAED0429-06AC-4391-B511-C2D4F3A38C12}" type="slidenum">
              <a:rPr lang="zh-CN" altLang="en-US" sz="1300">
                <a:latin typeface="Times New Roman" panose="02020603050405020304" pitchFamily="18" charset="0"/>
                <a:ea typeface="微软雅黑 Light" panose="020B0502040204020203" pitchFamily="34" charset="-122"/>
              </a:rPr>
              <a:pPr algn="r" eaLnBrk="1" hangingPunct="1">
                <a:buFont typeface="Arial" panose="020B0604020202020204" pitchFamily="34" charset="0"/>
                <a:buNone/>
              </a:pPr>
              <a:t>2</a:t>
            </a:fld>
            <a:endParaRPr lang="zh-CN" altLang="en-US" sz="1300" dirty="0">
              <a:latin typeface="Times New Roman" panose="02020603050405020304" pitchFamily="18" charset="0"/>
              <a:ea typeface="微软雅黑 Light" panose="020B0502040204020203" pitchFamily="34"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481013" y="1279525"/>
            <a:ext cx="6140450" cy="3454400"/>
          </a:xfrm>
        </p:spPr>
        <p:txBody>
          <a:bodyPr/>
          <a:lstStyle/>
          <a:p>
            <a:endParaRPr lang="zh-CN" altLang="en-US"/>
          </a:p>
        </p:txBody>
      </p:sp>
      <p:sp>
        <p:nvSpPr>
          <p:cNvPr id="6147" name="备注占位符 2"/>
          <p:cNvSpPr>
            <a:spLocks noGrp="1"/>
          </p:cNvSpPr>
          <p:nvPr>
            <p:ph type="body" idx="1"/>
          </p:nvPr>
        </p:nvSpPr>
        <p:spPr>
          <a:noFill/>
        </p:spPr>
        <p:txBody>
          <a:bodyPr anchor="t"/>
          <a:lstStyle/>
          <a:p>
            <a:pPr eaLnBrk="1" hangingPunct="1">
              <a:spcBef>
                <a:spcPct val="0"/>
              </a:spcBef>
            </a:pPr>
            <a:r>
              <a:rPr lang="zh-CN" altLang="en-US" dirty="0"/>
              <a:t>模板来自于 </a:t>
            </a:r>
            <a:r>
              <a:rPr lang="en-US" altLang="zh-CN" dirty="0"/>
              <a:t>http://docer.wps.cn</a:t>
            </a:r>
            <a:endParaRPr lang="zh-CN" altLang="en-US" dirty="0"/>
          </a:p>
        </p:txBody>
      </p:sp>
      <p:sp>
        <p:nvSpPr>
          <p:cNvPr id="6148" name="灯片编号占位符 3"/>
          <p:cNvSpPr txBox="1">
            <a:spLocks noGrp="1" noChangeArrowheads="1"/>
          </p:cNvSpPr>
          <p:nvPr/>
        </p:nvSpPr>
        <p:spPr bwMode="auto">
          <a:xfrm>
            <a:off x="4023992" y="9721107"/>
            <a:ext cx="3078427" cy="513507"/>
          </a:xfrm>
          <a:prstGeom prst="rect">
            <a:avLst/>
          </a:prstGeom>
          <a:noFill/>
          <a:ln w="9525">
            <a:noFill/>
            <a:miter lim="800000"/>
          </a:ln>
        </p:spPr>
        <p:txBody>
          <a:bodyPr lIns="99075" tIns="49538" rIns="99075" bIns="49538" anchor="b"/>
          <a:lstStyle/>
          <a:p>
            <a:pPr algn="r" eaLnBrk="1" hangingPunct="1">
              <a:buFont typeface="Arial" panose="020B0604020202020204" pitchFamily="34" charset="0"/>
              <a:buNone/>
            </a:pPr>
            <a:fld id="{AAED0429-06AC-4391-B511-C2D4F3A38C12}" type="slidenum">
              <a:rPr lang="zh-CN" altLang="en-US" sz="1300">
                <a:latin typeface="Times New Roman" panose="02020603050405020304" pitchFamily="18" charset="0"/>
                <a:ea typeface="微软雅黑 Light" panose="020B0502040204020203" pitchFamily="34" charset="-122"/>
              </a:rPr>
              <a:pPr algn="r" eaLnBrk="1" hangingPunct="1">
                <a:buFont typeface="Arial" panose="020B0604020202020204" pitchFamily="34" charset="0"/>
                <a:buNone/>
              </a:pPr>
              <a:t>3</a:t>
            </a:fld>
            <a:endParaRPr lang="zh-CN" altLang="en-US" sz="1300" dirty="0">
              <a:latin typeface="Times New Roman" panose="02020603050405020304" pitchFamily="18" charset="0"/>
              <a:ea typeface="微软雅黑 Light" panose="020B0502040204020203" pitchFamily="34"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pPr indent="457200">
              <a:lnSpc>
                <a:spcPct val="120000"/>
              </a:lnSpc>
            </a:pPr>
            <a:endParaRPr lang="en-US" altLang="zh-CN" dirty="0">
              <a:solidFill>
                <a:schemeClr val="tx1"/>
              </a:solidFill>
              <a:latin typeface="+mn-ea"/>
            </a:endParaRPr>
          </a:p>
          <a:p>
            <a:r>
              <a:rPr lang="zh-CN" altLang="en-US" dirty="0">
                <a:latin typeface="Times New Roman" panose="02020603050405020304" pitchFamily="18" charset="0"/>
              </a:rPr>
              <a:t>如果认为测试是为了表明程序是正确的，那么从主观上不是为了查找错误而进行测试，这样的测试是不大会发现错误的，测试者没有发现错误的愿望。</a:t>
            </a:r>
          </a:p>
          <a:p>
            <a:r>
              <a:rPr lang="zh-CN" altLang="en-US" dirty="0">
                <a:latin typeface="Times New Roman" panose="02020603050405020304" pitchFamily="18" charset="0"/>
              </a:rPr>
              <a:t>如果认为“成功的测试是没有发现错误的测试”，则很可能存在着没有发现的错误而自以为测试成功了，就像医生没有查出病人的病就自以为此人无病。</a:t>
            </a:r>
          </a:p>
          <a:p>
            <a:pPr indent="457200">
              <a:lnSpc>
                <a:spcPct val="120000"/>
              </a:lnSpc>
            </a:pPr>
            <a:r>
              <a:rPr lang="zh-CN" altLang="en-US" dirty="0">
                <a:solidFill>
                  <a:schemeClr val="tx1"/>
                </a:solidFill>
                <a:latin typeface="+mn-ea"/>
              </a:rPr>
              <a:t>人类的活动具有高度的目的性，如果我们测试的目的是要证明程序中有错，就会选择一些容易发现程序错误的测试数据来进行测试。相反，如果测试的目的是要证明程序无错，我们就会选择使程序不易出错的数据来进行测试。</a:t>
            </a:r>
            <a:endParaRPr lang="en-US" altLang="zh-CN" dirty="0">
              <a:solidFill>
                <a:schemeClr val="tx1"/>
              </a:solidFill>
              <a:latin typeface="+mn-ea"/>
            </a:endParaRPr>
          </a:p>
          <a:p>
            <a:pPr indent="457200">
              <a:lnSpc>
                <a:spcPct val="120000"/>
              </a:lnSpc>
            </a:pPr>
            <a:r>
              <a:rPr lang="zh-CN" altLang="en-US" dirty="0">
                <a:latin typeface="Times New Roman" panose="02020603050405020304" pitchFamily="18" charset="0"/>
              </a:rPr>
              <a:t>总之，软件测试是指通过人工或计算机执行程序，来有意识地发现程序中的设计错误和编码错误的过程。</a:t>
            </a:r>
          </a:p>
          <a:p>
            <a:pPr indent="457200">
              <a:lnSpc>
                <a:spcPct val="130000"/>
              </a:lnSpc>
            </a:pPr>
            <a:endParaRPr lang="zh-CN" altLang="en-US" dirty="0">
              <a:solidFill>
                <a:schemeClr val="tx1"/>
              </a:solidFill>
              <a:latin typeface="+mn-ea"/>
            </a:endParaRPr>
          </a:p>
          <a:p>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r>
              <a:rPr lang="en-US" altLang="zh-CN" dirty="0">
                <a:solidFill>
                  <a:schemeClr val="bg2">
                    <a:lumMod val="50000"/>
                  </a:schemeClr>
                </a:solidFill>
                <a:sym typeface="+mn-ea"/>
              </a:rPr>
              <a:t> </a:t>
            </a:r>
            <a:r>
              <a:rPr lang="zh-CN" altLang="en-US" dirty="0">
                <a:sym typeface="+mn-ea"/>
              </a:rPr>
              <a:t>穷尽测试往往是做不到的，因此必须设法用有限次的测试获得最大的收益，用尽可能少的测试次数尽量多地找出程序中潜在的各个错误。</a:t>
            </a:r>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668B4-46C8-4A71-85C7-75913EF86E7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17260EB-351D-ED25-4F50-6A21FDCC7862}"/>
              </a:ext>
            </a:extLst>
          </p:cNvPr>
          <p:cNvSpPr>
            <a:spLocks noGrp="1" noRot="1" noChangeAspect="1"/>
          </p:cNvSpPr>
          <p:nvPr>
            <p:ph type="sldImg" idx="2"/>
          </p:nvPr>
        </p:nvSpPr>
        <p:spPr/>
        <p:txBody>
          <a:bodyPr/>
          <a:lstStyle/>
          <a:p>
            <a:endParaRPr lang="zh-CN" altLang="en-US"/>
          </a:p>
        </p:txBody>
      </p:sp>
      <p:sp>
        <p:nvSpPr>
          <p:cNvPr id="3" name="文本占位符 2">
            <a:extLst>
              <a:ext uri="{FF2B5EF4-FFF2-40B4-BE49-F238E27FC236}">
                <a16:creationId xmlns:a16="http://schemas.microsoft.com/office/drawing/2014/main" id="{FF5E23C5-52F2-28C8-A318-3D83AC9DF015}"/>
              </a:ext>
            </a:extLst>
          </p:cNvPr>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2951235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r>
              <a:rPr lang="en-US" altLang="zh-CN" dirty="0"/>
              <a:t>Console.log()</a:t>
            </a:r>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集成不是一步到位的，它是分层次的</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代码逻辑</a:t>
            </a:r>
            <a:r>
              <a:rPr lang="en-US" altLang="zh-CN" dirty="0"/>
              <a:t>/</a:t>
            </a:r>
            <a:r>
              <a:rPr lang="zh-CN" altLang="en-US" dirty="0"/>
              <a:t>接口与依赖</a:t>
            </a:r>
            <a:r>
              <a:rPr lang="en-US" altLang="zh-CN" dirty="0"/>
              <a:t>-</a:t>
            </a:r>
            <a:r>
              <a:rPr lang="zh-CN" altLang="en-US" dirty="0"/>
              <a:t>可访问</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t>
            </a:r>
            <a:r>
              <a:rPr lang="zh-CN" altLang="en-US" dirty="0"/>
              <a:t>模块交互</a:t>
            </a:r>
            <a:r>
              <a:rPr lang="en-US" altLang="zh-CN" dirty="0"/>
              <a:t>/</a:t>
            </a:r>
            <a:r>
              <a:rPr lang="zh-CN" altLang="en-US" dirty="0"/>
              <a:t>功能</a:t>
            </a:r>
            <a:r>
              <a:rPr lang="en-US" altLang="zh-CN" dirty="0"/>
              <a:t>-</a:t>
            </a:r>
            <a:r>
              <a:rPr lang="zh-CN" altLang="en-US" dirty="0"/>
              <a:t>可使用</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t>
            </a:r>
            <a:r>
              <a:rPr lang="zh-CN" altLang="en-US" dirty="0"/>
              <a:t>业务价值逻辑</a:t>
            </a:r>
            <a:r>
              <a:rPr lang="en-US" altLang="zh-CN" dirty="0"/>
              <a:t>-</a:t>
            </a:r>
            <a:r>
              <a:rPr lang="zh-CN" altLang="en-US" dirty="0"/>
              <a:t>可工作</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r>
              <a:rPr lang="zh-CN" altLang="en-US" dirty="0"/>
              <a:t>做咖啡的流程</a:t>
            </a:r>
            <a:endParaRPr lang="en-US" altLang="zh-CN" dirty="0"/>
          </a:p>
          <a:p>
            <a:r>
              <a:rPr lang="zh-CN" altLang="en-US" dirty="0"/>
              <a:t>做咖啡的品质</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r>
              <a:rPr lang="zh-CN" altLang="en-US" dirty="0"/>
              <a:t>双重验证</a:t>
            </a:r>
            <a:endParaRPr lang="en-US" altLang="zh-CN" dirty="0"/>
          </a:p>
          <a:p>
            <a:endParaRPr lang="en-US" altLang="zh-CN" dirty="0"/>
          </a:p>
          <a:p>
            <a:r>
              <a:rPr lang="zh-CN" altLang="en-US" dirty="0"/>
              <a:t>在会计专业术语中，还有一个叫“平行登记”的概念，它的含义略有不同，你可以了解一下以防混淆：</a:t>
            </a:r>
          </a:p>
          <a:p>
            <a:r>
              <a:rPr lang="zh-CN" altLang="en-US" dirty="0"/>
              <a:t>平行登记（会计术语）：是指在同一套账务体系下，总分类账（大账）和明细分类账（小账）要同时登记。</a:t>
            </a:r>
          </a:p>
          <a:p>
            <a:r>
              <a:rPr lang="zh-CN" altLang="en-US" dirty="0"/>
              <a:t>例子：你买了一瓶水和一支笔（明细），既要记入“管理费用”这个大类的总账，也要记入具体的明细账。要求是“同依据、同方向、同金额”。</a:t>
            </a:r>
          </a:p>
          <a:p>
            <a:r>
              <a:rPr lang="zh-CN" altLang="en-US" dirty="0"/>
              <a:t>平行运行（系统术语）：是指两套不同的记账方式（手工 </a:t>
            </a:r>
            <a:r>
              <a:rPr lang="en-US" altLang="zh-CN" dirty="0"/>
              <a:t>vs </a:t>
            </a:r>
            <a:r>
              <a:rPr lang="zh-CN" altLang="en-US" dirty="0"/>
              <a:t>软件）同时跑。</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r>
              <a:rPr lang="zh-CN" altLang="en-US" dirty="0"/>
              <a:t>偷懒”智慧。它的核心思想是：既然没法把所有情况都测一遍，那就把无穷无尽的数据分成几个“类”，从每个类里挑一个代表来测</a:t>
            </a:r>
            <a:endParaRPr lang="en-US" altLang="zh-CN" dirty="0"/>
          </a:p>
          <a:p>
            <a:r>
              <a:rPr lang="zh-CN" altLang="en-US" dirty="0"/>
              <a:t>只要这个代表测过了，我们就认为整个“类”的数据都能通过</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r>
              <a:rPr lang="zh-CN" altLang="en-US" dirty="0"/>
              <a:t>范围：购物车数量</a:t>
            </a:r>
            <a:r>
              <a:rPr lang="en-US" altLang="zh-CN" dirty="0"/>
              <a:t>1-99</a:t>
            </a:r>
            <a:r>
              <a:rPr lang="zh-CN" altLang="en-US" dirty="0"/>
              <a:t>；</a:t>
            </a:r>
            <a:r>
              <a:rPr lang="en-US" altLang="zh-CN" dirty="0"/>
              <a:t>0</a:t>
            </a:r>
            <a:r>
              <a:rPr lang="zh-CN" altLang="en-US" dirty="0"/>
              <a:t>的时候会怎么样？</a:t>
            </a:r>
            <a:r>
              <a:rPr lang="en-US" altLang="zh-CN" dirty="0"/>
              <a:t>100</a:t>
            </a:r>
            <a:r>
              <a:rPr lang="zh-CN" altLang="en-US" dirty="0"/>
              <a:t>的时候会怎么样？</a:t>
            </a:r>
            <a:endParaRPr lang="en-US" altLang="zh-CN" dirty="0"/>
          </a:p>
          <a:p>
            <a:r>
              <a:rPr lang="zh-CN" altLang="en-US" dirty="0"/>
              <a:t>个数：验证码长度、密码长度</a:t>
            </a:r>
            <a:endParaRPr lang="en-US" altLang="zh-CN" dirty="0"/>
          </a:p>
          <a:p>
            <a:r>
              <a:rPr lang="zh-CN" altLang="en-US" dirty="0"/>
              <a:t>集合：支付方式。只支持微信</a:t>
            </a:r>
            <a:r>
              <a:rPr lang="en-US" altLang="zh-CN" dirty="0"/>
              <a:t>, </a:t>
            </a:r>
            <a:r>
              <a:rPr lang="zh-CN" altLang="en-US" dirty="0"/>
              <a:t>支付宝</a:t>
            </a:r>
            <a:r>
              <a:rPr lang="en-US" altLang="zh-CN" dirty="0"/>
              <a:t>, </a:t>
            </a:r>
            <a:r>
              <a:rPr lang="zh-CN" altLang="en-US" dirty="0"/>
              <a:t>银行卡；</a:t>
            </a:r>
            <a:r>
              <a:rPr lang="en-US" altLang="zh-CN" dirty="0"/>
              <a:t>switch-case</a:t>
            </a:r>
          </a:p>
          <a:p>
            <a:r>
              <a:rPr lang="zh-CN" altLang="en-US" dirty="0"/>
              <a:t>测试的目的就是验证：当后端收到一个“设计里不存在”的支付类型时，系统是会优雅地报错（“不支持该支付方式”），还是会直接崩溃（系统报错 </a:t>
            </a:r>
            <a:r>
              <a:rPr lang="en-US" altLang="zh-CN" dirty="0"/>
              <a:t>500</a:t>
            </a:r>
            <a:r>
              <a:rPr lang="zh-CN" altLang="en-US" dirty="0"/>
              <a:t>）。</a:t>
            </a:r>
            <a:endParaRPr lang="en-US" altLang="zh-CN" dirty="0"/>
          </a:p>
          <a:p>
            <a:r>
              <a:rPr lang="zh-CN" altLang="en-US" dirty="0"/>
              <a:t>规则型：格式匹配，注册时的密码设置</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r>
              <a:rPr lang="zh-CN" altLang="en-US" dirty="0"/>
              <a:t>购物车数量</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r>
              <a:rPr lang="zh-CN" altLang="en-US" dirty="0"/>
              <a:t>测试人员利用自己对系统的理解，或者以前踩过的坑，去猜测“这里最容易出错”</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现实中，往往是多个条件组合在一起才触发</a:t>
            </a:r>
            <a:r>
              <a:rPr lang="en-US" altLang="zh-CN" dirty="0"/>
              <a:t>Bug</a:t>
            </a:r>
            <a:r>
              <a:rPr lang="zh-CN" altLang="en-US" dirty="0"/>
              <a:t>。这时候就要用判定表</a:t>
            </a:r>
            <a:endParaRPr lang="en-US" altLang="zh-CN" dirty="0"/>
          </a:p>
          <a:p>
            <a:r>
              <a:rPr lang="zh-CN" altLang="en-US" dirty="0"/>
              <a:t>第一步（基础）：用等价类，测正常数据（比如买</a:t>
            </a:r>
            <a:r>
              <a:rPr lang="en-US" altLang="zh-CN" dirty="0"/>
              <a:t>5</a:t>
            </a:r>
            <a:r>
              <a:rPr lang="zh-CN" altLang="en-US" dirty="0"/>
              <a:t>个）。</a:t>
            </a:r>
          </a:p>
          <a:p>
            <a:r>
              <a:rPr lang="zh-CN" altLang="en-US" dirty="0"/>
              <a:t>第二步（进阶）：用边界值，测边缘数据（比如买</a:t>
            </a:r>
            <a:r>
              <a:rPr lang="en-US" altLang="zh-CN" dirty="0"/>
              <a:t>0</a:t>
            </a:r>
            <a:r>
              <a:rPr lang="zh-CN" altLang="en-US" dirty="0"/>
              <a:t>个、买</a:t>
            </a:r>
            <a:r>
              <a:rPr lang="en-US" altLang="zh-CN" dirty="0"/>
              <a:t>1</a:t>
            </a:r>
            <a:r>
              <a:rPr lang="zh-CN" altLang="en-US" dirty="0"/>
              <a:t>个、买</a:t>
            </a:r>
            <a:r>
              <a:rPr lang="en-US" altLang="zh-CN" dirty="0"/>
              <a:t>99</a:t>
            </a:r>
            <a:r>
              <a:rPr lang="zh-CN" altLang="en-US" dirty="0"/>
              <a:t>个）。</a:t>
            </a:r>
          </a:p>
          <a:p>
            <a:r>
              <a:rPr lang="zh-CN" altLang="en-US" dirty="0"/>
              <a:t>第三步（高阶）：用判定表，测组合数据（比如“没登录”且“库存不足”时点击购买）。</a:t>
            </a:r>
          </a:p>
          <a:p>
            <a:r>
              <a:rPr lang="zh-CN" altLang="en-US" dirty="0"/>
              <a:t>第四步（专家）：用错误推测和代码走查，测复杂场景（比如“并发抢库存”或“跨模块数据同步”）。</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pPr/>
              <a:t>54</a:t>
            </a:fld>
            <a:endParaRPr lang="zh-CN" altLang="en-US" dirty="0"/>
          </a:p>
        </p:txBody>
      </p:sp>
    </p:spTree>
    <p:extLst>
      <p:ext uri="{BB962C8B-B14F-4D97-AF65-F5344CB8AC3E}">
        <p14:creationId xmlns:p14="http://schemas.microsoft.com/office/powerpoint/2010/main" val="261031076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D213F-D576-4837-16E4-D37B08B7A9C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1444BCE-1249-D99A-6898-FB836F2CE1B7}"/>
              </a:ext>
            </a:extLst>
          </p:cNvPr>
          <p:cNvSpPr>
            <a:spLocks noGrp="1" noRot="1" noChangeAspect="1"/>
          </p:cNvSpPr>
          <p:nvPr>
            <p:ph type="sldImg" idx="2"/>
          </p:nvPr>
        </p:nvSpPr>
        <p:spPr/>
        <p:txBody>
          <a:bodyPr/>
          <a:lstStyle/>
          <a:p>
            <a:endParaRPr lang="zh-CN" altLang="en-US"/>
          </a:p>
        </p:txBody>
      </p:sp>
      <p:sp>
        <p:nvSpPr>
          <p:cNvPr id="3" name="文本占位符 2">
            <a:extLst>
              <a:ext uri="{FF2B5EF4-FFF2-40B4-BE49-F238E27FC236}">
                <a16:creationId xmlns:a16="http://schemas.microsoft.com/office/drawing/2014/main" id="{F7447245-0F01-A3AC-7B98-40E2CA277871}"/>
              </a:ext>
            </a:extLst>
          </p:cNvPr>
          <p:cNvSpPr>
            <a:spLocks noGrp="1"/>
          </p:cNvSpPr>
          <p:nvPr>
            <p:ph type="body" idx="3"/>
          </p:nvPr>
        </p:nvSpPr>
        <p:spPr/>
        <p:txBody>
          <a:bodyPr/>
          <a:lstStyle/>
          <a:p>
            <a:r>
              <a:rPr lang="zh-CN" altLang="en-US" dirty="0"/>
              <a:t>赋值语句：如 </a:t>
            </a:r>
            <a:r>
              <a:rPr lang="en-US" altLang="zh-CN" dirty="0"/>
              <a:t>a = b + 1;</a:t>
            </a:r>
            <a:r>
              <a:rPr lang="zh-CN" altLang="en-US" dirty="0"/>
              <a:t>（计算并赋值）</a:t>
            </a:r>
          </a:p>
          <a:p>
            <a:r>
              <a:rPr lang="zh-CN" altLang="en-US" dirty="0"/>
              <a:t>调用语句：如 </a:t>
            </a:r>
            <a:r>
              <a:rPr lang="en-US" altLang="zh-CN" dirty="0"/>
              <a:t>print("Hello");</a:t>
            </a:r>
            <a:r>
              <a:rPr lang="zh-CN" altLang="en-US" dirty="0"/>
              <a:t>（执行一个函数）</a:t>
            </a:r>
          </a:p>
          <a:p>
            <a:r>
              <a:rPr lang="zh-CN" altLang="en-US" dirty="0"/>
              <a:t>控制语句：如 </a:t>
            </a:r>
            <a:r>
              <a:rPr lang="en-US" altLang="zh-CN" dirty="0"/>
              <a:t>if, for, while</a:t>
            </a:r>
            <a:r>
              <a:rPr lang="zh-CN" altLang="en-US" dirty="0"/>
              <a:t>（控制流程）</a:t>
            </a:r>
          </a:p>
          <a:p>
            <a:r>
              <a:rPr lang="zh-CN" altLang="en-US" dirty="0"/>
              <a:t>声明语句：如 </a:t>
            </a:r>
            <a:r>
              <a:rPr lang="en-US" altLang="zh-CN" dirty="0"/>
              <a:t>int x;</a:t>
            </a:r>
            <a:r>
              <a:rPr lang="zh-CN" altLang="en-US" dirty="0"/>
              <a:t>（定义变量）</a:t>
            </a:r>
          </a:p>
        </p:txBody>
      </p:sp>
    </p:spTree>
    <p:extLst>
      <p:ext uri="{BB962C8B-B14F-4D97-AF65-F5344CB8AC3E}">
        <p14:creationId xmlns:p14="http://schemas.microsoft.com/office/powerpoint/2010/main" val="156029241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03A4F-E4B5-F1A7-967F-20931500F1D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D8D71E1-EA3B-53E6-592C-9BAA9BB98BF0}"/>
              </a:ext>
            </a:extLst>
          </p:cNvPr>
          <p:cNvSpPr>
            <a:spLocks noGrp="1" noRot="1" noChangeAspect="1"/>
          </p:cNvSpPr>
          <p:nvPr>
            <p:ph type="sldImg" idx="2"/>
          </p:nvPr>
        </p:nvSpPr>
        <p:spPr/>
        <p:txBody>
          <a:bodyPr/>
          <a:lstStyle/>
          <a:p>
            <a:endParaRPr lang="zh-CN" altLang="en-US"/>
          </a:p>
        </p:txBody>
      </p:sp>
      <p:sp>
        <p:nvSpPr>
          <p:cNvPr id="3" name="文本占位符 2">
            <a:extLst>
              <a:ext uri="{FF2B5EF4-FFF2-40B4-BE49-F238E27FC236}">
                <a16:creationId xmlns:a16="http://schemas.microsoft.com/office/drawing/2014/main" id="{B3E6FFD4-9FA7-A484-A0AA-A9C09BB1965A}"/>
              </a:ext>
            </a:extLst>
          </p:cNvPr>
          <p:cNvSpPr>
            <a:spLocks noGrp="1"/>
          </p:cNvSpPr>
          <p:nvPr>
            <p:ph type="body" idx="3"/>
          </p:nvPr>
        </p:nvSpPr>
        <p:spPr/>
        <p:txBody>
          <a:bodyPr/>
          <a:lstStyle/>
          <a:p>
            <a:r>
              <a:rPr lang="zh-CN" altLang="en-US" dirty="0"/>
              <a:t>短路发生时：</a:t>
            </a:r>
            <a:r>
              <a:rPr lang="en-US" altLang="zh-CN" dirty="0"/>
              <a:t>CPU </a:t>
            </a:r>
            <a:r>
              <a:rPr lang="zh-CN" altLang="en-US" dirty="0"/>
              <a:t>或解释器跳过了对第二个条件的判断</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Times New Roman" panose="02020603050405020304" pitchFamily="18" charset="0"/>
                <a:ea typeface="微软雅黑 Light" panose="020B0502040204020203" pitchFamily="34" charset="-122"/>
                <a:cs typeface="+mn-cs"/>
              </a:rPr>
              <a:t>陷阱：如果你选了 </a:t>
            </a:r>
            <a:r>
              <a:rPr lang="en-US" altLang="zh-CN" sz="1200" b="0" i="0" kern="1200" dirty="0">
                <a:solidFill>
                  <a:schemeClr val="tx1"/>
                </a:solidFill>
                <a:effectLst/>
                <a:latin typeface="Times New Roman" panose="02020603050405020304" pitchFamily="18" charset="0"/>
                <a:ea typeface="微软雅黑 Light" panose="020B0502040204020203" pitchFamily="34" charset="-122"/>
                <a:cs typeface="+mn-cs"/>
              </a:rPr>
              <a:t>A=3, B=2</a:t>
            </a:r>
            <a:r>
              <a:rPr lang="zh-CN" altLang="en-US" sz="1200" b="0" i="0" kern="1200" dirty="0">
                <a:solidFill>
                  <a:schemeClr val="tx1"/>
                </a:solidFill>
                <a:effectLst/>
                <a:latin typeface="Times New Roman" panose="02020603050405020304" pitchFamily="18" charset="0"/>
                <a:ea typeface="微软雅黑 Light" panose="020B0502040204020203" pitchFamily="34" charset="-122"/>
                <a:cs typeface="+mn-cs"/>
              </a:rPr>
              <a:t>。因为 </a:t>
            </a:r>
            <a:r>
              <a:rPr lang="en-US" altLang="zh-CN" sz="1200" b="0" i="0" kern="1200" dirty="0">
                <a:solidFill>
                  <a:schemeClr val="tx1"/>
                </a:solidFill>
                <a:effectLst/>
                <a:latin typeface="Times New Roman" panose="02020603050405020304" pitchFamily="18" charset="0"/>
                <a:ea typeface="微软雅黑 Light" panose="020B0502040204020203" pitchFamily="34" charset="-122"/>
                <a:cs typeface="+mn-cs"/>
              </a:rPr>
              <a:t>A=3</a:t>
            </a:r>
            <a:r>
              <a:rPr lang="zh-CN" altLang="en-US" sz="1200" b="0" i="0" kern="1200" dirty="0">
                <a:solidFill>
                  <a:schemeClr val="tx1"/>
                </a:solidFill>
                <a:effectLst/>
                <a:latin typeface="Times New Roman" panose="02020603050405020304" pitchFamily="18" charset="0"/>
                <a:ea typeface="微软雅黑 Light" panose="020B0502040204020203" pitchFamily="34" charset="-122"/>
                <a:cs typeface="+mn-cs"/>
              </a:rPr>
              <a:t> 为真，计算机在 </a:t>
            </a:r>
            <a:r>
              <a:rPr lang="en-US" altLang="zh-CN" sz="1200" b="0" i="0" kern="1200" dirty="0">
                <a:solidFill>
                  <a:schemeClr val="tx1"/>
                </a:solidFill>
                <a:effectLst/>
                <a:latin typeface="Times New Roman" panose="02020603050405020304" pitchFamily="18" charset="0"/>
                <a:ea typeface="微软雅黑 Light" panose="020B0502040204020203" pitchFamily="34" charset="-122"/>
                <a:cs typeface="+mn-cs"/>
              </a:rPr>
              <a:t>OR</a:t>
            </a:r>
            <a:r>
              <a:rPr lang="zh-CN" altLang="en-US" sz="1200" b="0" i="0" kern="1200" dirty="0">
                <a:solidFill>
                  <a:schemeClr val="tx1"/>
                </a:solidFill>
                <a:effectLst/>
                <a:latin typeface="Times New Roman" panose="02020603050405020304" pitchFamily="18" charset="0"/>
                <a:ea typeface="微软雅黑 Light" panose="020B0502040204020203" pitchFamily="34" charset="-122"/>
                <a:cs typeface="+mn-cs"/>
              </a:rPr>
              <a:t> 运算中只要看到第一个为真，就不会再去判断后面的 </a:t>
            </a:r>
            <a:r>
              <a:rPr lang="en-US" altLang="zh-CN" sz="1200" b="0" i="0" kern="1200" dirty="0">
                <a:solidFill>
                  <a:schemeClr val="tx1"/>
                </a:solidFill>
                <a:effectLst/>
                <a:latin typeface="Times New Roman" panose="02020603050405020304" pitchFamily="18" charset="0"/>
                <a:ea typeface="微软雅黑 Light" panose="020B0502040204020203" pitchFamily="34" charset="-122"/>
                <a:cs typeface="+mn-cs"/>
              </a:rPr>
              <a:t>B&gt;1</a:t>
            </a:r>
            <a:r>
              <a:rPr lang="zh-CN" altLang="en-US" sz="1200" b="0" i="0" kern="1200" dirty="0">
                <a:solidFill>
                  <a:schemeClr val="tx1"/>
                </a:solidFill>
                <a:effectLst/>
                <a:latin typeface="Times New Roman" panose="02020603050405020304" pitchFamily="18" charset="0"/>
                <a:ea typeface="微软雅黑 Light" panose="020B0502040204020203" pitchFamily="34" charset="-122"/>
                <a:cs typeface="+mn-cs"/>
              </a:rPr>
              <a:t> 了。这样 </a:t>
            </a:r>
            <a:r>
              <a:rPr lang="en-US" altLang="zh-CN" sz="1200" b="0" i="0" kern="1200" dirty="0">
                <a:solidFill>
                  <a:schemeClr val="tx1"/>
                </a:solidFill>
                <a:effectLst/>
                <a:latin typeface="Times New Roman" panose="02020603050405020304" pitchFamily="18" charset="0"/>
                <a:ea typeface="微软雅黑 Light" panose="020B0502040204020203" pitchFamily="34" charset="-122"/>
                <a:cs typeface="+mn-cs"/>
              </a:rPr>
              <a:t>B&gt;1</a:t>
            </a:r>
            <a:r>
              <a:rPr lang="zh-CN" altLang="en-US" sz="1200" b="0" i="0" kern="1200" dirty="0">
                <a:solidFill>
                  <a:schemeClr val="tx1"/>
                </a:solidFill>
                <a:effectLst/>
                <a:latin typeface="Times New Roman" panose="02020603050405020304" pitchFamily="18" charset="0"/>
                <a:ea typeface="微软雅黑 Light" panose="020B0502040204020203" pitchFamily="34" charset="-122"/>
                <a:cs typeface="+mn-cs"/>
              </a:rPr>
              <a:t> 这个条件实际上没被测试到。</a:t>
            </a:r>
          </a:p>
          <a:p>
            <a:endParaRPr lang="zh-CN" altLang="en-US" dirty="0"/>
          </a:p>
        </p:txBody>
      </p:sp>
    </p:spTree>
    <p:extLst>
      <p:ext uri="{BB962C8B-B14F-4D97-AF65-F5344CB8AC3E}">
        <p14:creationId xmlns:p14="http://schemas.microsoft.com/office/powerpoint/2010/main" val="324219491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CA755-7B98-81ED-E57E-349DD0E1BCB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F1D0633-33A3-B32C-34F2-D49D4E133C75}"/>
              </a:ext>
            </a:extLst>
          </p:cNvPr>
          <p:cNvSpPr>
            <a:spLocks noGrp="1" noRot="1" noChangeAspect="1"/>
          </p:cNvSpPr>
          <p:nvPr>
            <p:ph type="sldImg" idx="2"/>
          </p:nvPr>
        </p:nvSpPr>
        <p:spPr/>
        <p:txBody>
          <a:bodyPr/>
          <a:lstStyle/>
          <a:p>
            <a:endParaRPr lang="zh-CN" altLang="en-US"/>
          </a:p>
        </p:txBody>
      </p:sp>
      <p:sp>
        <p:nvSpPr>
          <p:cNvPr id="3" name="文本占位符 2">
            <a:extLst>
              <a:ext uri="{FF2B5EF4-FFF2-40B4-BE49-F238E27FC236}">
                <a16:creationId xmlns:a16="http://schemas.microsoft.com/office/drawing/2014/main" id="{9ECF8663-A4A7-1F9D-1F42-F79DF3358B66}"/>
              </a:ext>
            </a:extLst>
          </p:cNvPr>
          <p:cNvSpPr>
            <a:spLocks noGrp="1"/>
          </p:cNvSpPr>
          <p:nvPr>
            <p:ph type="body" idx="3"/>
          </p:nvPr>
        </p:nvSpPr>
        <p:spPr/>
        <p:txBody>
          <a:bodyPr/>
          <a:lstStyle/>
          <a:p>
            <a:r>
              <a:rPr lang="zh-CN" altLang="en-US" sz="1200" b="0" i="0" kern="1200" dirty="0">
                <a:solidFill>
                  <a:schemeClr val="tx1"/>
                </a:solidFill>
                <a:effectLst/>
                <a:latin typeface="Times New Roman" panose="02020603050405020304" pitchFamily="18" charset="0"/>
                <a:ea typeface="微软雅黑 Light" panose="020B0502040204020203" pitchFamily="34" charset="-122"/>
                <a:cs typeface="+mn-cs"/>
              </a:rPr>
              <a:t>测试数据 </a:t>
            </a:r>
            <a:r>
              <a:rPr lang="en-US" altLang="zh-CN" sz="1200" b="0" i="0" kern="1200" dirty="0">
                <a:solidFill>
                  <a:schemeClr val="tx1"/>
                </a:solidFill>
                <a:effectLst/>
                <a:latin typeface="Times New Roman" panose="02020603050405020304" pitchFamily="18" charset="0"/>
                <a:ea typeface="微软雅黑 Light" panose="020B0502040204020203" pitchFamily="34" charset="-122"/>
                <a:cs typeface="+mn-cs"/>
              </a:rPr>
              <a:t>1 (A=2, B=2)</a:t>
            </a:r>
            <a:r>
              <a:rPr lang="zh-CN" altLang="en-US" sz="1200" b="0" i="0" kern="1200" dirty="0">
                <a:solidFill>
                  <a:schemeClr val="tx1"/>
                </a:solidFill>
                <a:effectLst/>
                <a:latin typeface="Times New Roman" panose="02020603050405020304" pitchFamily="18" charset="0"/>
                <a:ea typeface="微软雅黑 Light" panose="020B0502040204020203" pitchFamily="34" charset="-122"/>
                <a:cs typeface="+mn-cs"/>
              </a:rPr>
              <a:t>：覆盖了 </a:t>
            </a:r>
            <a:r>
              <a:rPr lang="en-US" altLang="zh-CN" sz="1200" b="0" i="0" kern="1200" dirty="0">
                <a:solidFill>
                  <a:schemeClr val="tx1"/>
                </a:solidFill>
                <a:effectLst/>
                <a:latin typeface="Times New Roman" panose="02020603050405020304" pitchFamily="18" charset="0"/>
                <a:ea typeface="微软雅黑 Light" panose="020B0502040204020203" pitchFamily="34" charset="-122"/>
                <a:cs typeface="+mn-cs"/>
              </a:rPr>
              <a:t>False, True, False, False</a:t>
            </a:r>
            <a:r>
              <a:rPr lang="zh-CN" altLang="en-US" sz="1200" b="0" i="0" kern="1200" dirty="0">
                <a:solidFill>
                  <a:schemeClr val="tx1"/>
                </a:solidFill>
                <a:effectLst/>
                <a:latin typeface="Times New Roman" panose="02020603050405020304" pitchFamily="18" charset="0"/>
                <a:ea typeface="微软雅黑 Light" panose="020B0502040204020203" pitchFamily="34" charset="-122"/>
                <a:cs typeface="+mn-cs"/>
              </a:rPr>
              <a:t>。</a:t>
            </a:r>
          </a:p>
          <a:p>
            <a:r>
              <a:rPr lang="zh-CN" altLang="en-US" sz="1200" b="0" i="0" kern="1200" dirty="0">
                <a:solidFill>
                  <a:schemeClr val="tx1"/>
                </a:solidFill>
                <a:effectLst/>
                <a:latin typeface="Times New Roman" panose="02020603050405020304" pitchFamily="18" charset="0"/>
                <a:ea typeface="微软雅黑 Light" panose="020B0502040204020203" pitchFamily="34" charset="-122"/>
                <a:cs typeface="+mn-cs"/>
              </a:rPr>
              <a:t>测试数据 </a:t>
            </a:r>
            <a:r>
              <a:rPr lang="en-US" altLang="zh-CN" sz="1200" b="0" i="0" kern="1200" dirty="0">
                <a:solidFill>
                  <a:schemeClr val="tx1"/>
                </a:solidFill>
                <a:effectLst/>
                <a:latin typeface="Times New Roman" panose="02020603050405020304" pitchFamily="18" charset="0"/>
                <a:ea typeface="微软雅黑 Light" panose="020B0502040204020203" pitchFamily="34" charset="-122"/>
                <a:cs typeface="+mn-cs"/>
              </a:rPr>
              <a:t>2 (A=3, B=0)</a:t>
            </a:r>
            <a:r>
              <a:rPr lang="zh-CN" altLang="en-US" sz="1200" b="0" i="0" kern="1200" dirty="0">
                <a:solidFill>
                  <a:schemeClr val="tx1"/>
                </a:solidFill>
                <a:effectLst/>
                <a:latin typeface="Times New Roman" panose="02020603050405020304" pitchFamily="18" charset="0"/>
                <a:ea typeface="微软雅黑 Light" panose="020B0502040204020203" pitchFamily="34" charset="-122"/>
                <a:cs typeface="+mn-cs"/>
              </a:rPr>
              <a:t>：覆盖了 </a:t>
            </a:r>
            <a:r>
              <a:rPr lang="en-US" altLang="zh-CN" sz="1200" b="0" i="0" kern="1200" dirty="0">
                <a:solidFill>
                  <a:schemeClr val="tx1"/>
                </a:solidFill>
                <a:effectLst/>
                <a:latin typeface="Times New Roman" panose="02020603050405020304" pitchFamily="18" charset="0"/>
                <a:ea typeface="微软雅黑 Light" panose="020B0502040204020203" pitchFamily="34" charset="-122"/>
                <a:cs typeface="+mn-cs"/>
              </a:rPr>
              <a:t>True, False, True, True</a:t>
            </a:r>
            <a:r>
              <a:rPr lang="zh-CN" altLang="en-US" sz="1200" b="0" i="0" kern="1200" dirty="0">
                <a:solidFill>
                  <a:schemeClr val="tx1"/>
                </a:solidFill>
                <a:effectLst/>
                <a:latin typeface="Times New Roman" panose="02020603050405020304" pitchFamily="18" charset="0"/>
                <a:ea typeface="微软雅黑 Light" panose="020B0502040204020203" pitchFamily="34" charset="-122"/>
                <a:cs typeface="+mn-cs"/>
              </a:rPr>
              <a:t>。</a:t>
            </a:r>
          </a:p>
          <a:p>
            <a:endParaRPr lang="zh-CN" altLang="en-US" dirty="0"/>
          </a:p>
        </p:txBody>
      </p:sp>
    </p:spTree>
    <p:extLst>
      <p:ext uri="{BB962C8B-B14F-4D97-AF65-F5344CB8AC3E}">
        <p14:creationId xmlns:p14="http://schemas.microsoft.com/office/powerpoint/2010/main" val="23600806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6F63D-D573-E2CB-599E-9386420DF80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F37CB44-168A-BCC1-8A0A-EAA6711B92E4}"/>
              </a:ext>
            </a:extLst>
          </p:cNvPr>
          <p:cNvSpPr>
            <a:spLocks noGrp="1" noRot="1" noChangeAspect="1"/>
          </p:cNvSpPr>
          <p:nvPr>
            <p:ph type="sldImg" idx="2"/>
          </p:nvPr>
        </p:nvSpPr>
        <p:spPr/>
        <p:txBody>
          <a:bodyPr/>
          <a:lstStyle/>
          <a:p>
            <a:endParaRPr lang="zh-CN" altLang="en-US"/>
          </a:p>
        </p:txBody>
      </p:sp>
      <p:sp>
        <p:nvSpPr>
          <p:cNvPr id="3" name="文本占位符 2">
            <a:extLst>
              <a:ext uri="{FF2B5EF4-FFF2-40B4-BE49-F238E27FC236}">
                <a16:creationId xmlns:a16="http://schemas.microsoft.com/office/drawing/2014/main" id="{6ACC39FD-D342-CAE4-2ED6-7C13945DCEA1}"/>
              </a:ext>
            </a:extLst>
          </p:cNvPr>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63922334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7E9C9-D466-C942-A3EF-61DBF07686C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A36EADF-69A6-FE32-F9C2-13BA87156F37}"/>
              </a:ext>
            </a:extLst>
          </p:cNvPr>
          <p:cNvSpPr>
            <a:spLocks noGrp="1" noRot="1" noChangeAspect="1"/>
          </p:cNvSpPr>
          <p:nvPr>
            <p:ph type="sldImg" idx="2"/>
          </p:nvPr>
        </p:nvSpPr>
        <p:spPr/>
        <p:txBody>
          <a:bodyPr/>
          <a:lstStyle/>
          <a:p>
            <a:endParaRPr lang="zh-CN" altLang="en-US"/>
          </a:p>
        </p:txBody>
      </p:sp>
      <p:sp>
        <p:nvSpPr>
          <p:cNvPr id="3" name="文本占位符 2">
            <a:extLst>
              <a:ext uri="{FF2B5EF4-FFF2-40B4-BE49-F238E27FC236}">
                <a16:creationId xmlns:a16="http://schemas.microsoft.com/office/drawing/2014/main" id="{959819AD-D55B-BCFF-9538-C22418793B78}"/>
              </a:ext>
            </a:extLst>
          </p:cNvPr>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32742881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5F5BC-4F1D-2300-DCDA-7858DE9B9A7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AA980F2-561B-5FC4-1AC3-297F7974C4D2}"/>
              </a:ext>
            </a:extLst>
          </p:cNvPr>
          <p:cNvSpPr>
            <a:spLocks noGrp="1" noRot="1" noChangeAspect="1"/>
          </p:cNvSpPr>
          <p:nvPr>
            <p:ph type="sldImg" idx="2"/>
          </p:nvPr>
        </p:nvSpPr>
        <p:spPr/>
        <p:txBody>
          <a:bodyPr/>
          <a:lstStyle/>
          <a:p>
            <a:endParaRPr lang="zh-CN" altLang="en-US"/>
          </a:p>
        </p:txBody>
      </p:sp>
      <p:sp>
        <p:nvSpPr>
          <p:cNvPr id="3" name="文本占位符 2">
            <a:extLst>
              <a:ext uri="{FF2B5EF4-FFF2-40B4-BE49-F238E27FC236}">
                <a16:creationId xmlns:a16="http://schemas.microsoft.com/office/drawing/2014/main" id="{8A732B4A-9A47-FDE4-D0F6-7B1C9DD00995}"/>
              </a:ext>
            </a:extLst>
          </p:cNvPr>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82622046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B8762-FC86-4B83-B2F0-EDD8790CBEA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5ED42CC-02F9-4AF3-AAEA-715A1664FA1A}"/>
              </a:ext>
            </a:extLst>
          </p:cNvPr>
          <p:cNvSpPr>
            <a:spLocks noGrp="1" noRot="1" noChangeAspect="1"/>
          </p:cNvSpPr>
          <p:nvPr>
            <p:ph type="sldImg" idx="2"/>
          </p:nvPr>
        </p:nvSpPr>
        <p:spPr/>
        <p:txBody>
          <a:bodyPr/>
          <a:lstStyle/>
          <a:p>
            <a:endParaRPr lang="zh-CN" altLang="en-US"/>
          </a:p>
        </p:txBody>
      </p:sp>
      <p:sp>
        <p:nvSpPr>
          <p:cNvPr id="3" name="文本占位符 2">
            <a:extLst>
              <a:ext uri="{FF2B5EF4-FFF2-40B4-BE49-F238E27FC236}">
                <a16:creationId xmlns:a16="http://schemas.microsoft.com/office/drawing/2014/main" id="{F4A0D3DD-5BE8-3CBC-7EC1-19E3E658BB08}"/>
              </a:ext>
            </a:extLst>
          </p:cNvPr>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45695585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A33A9-391F-6C10-2195-386BB5EB024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541CC97-9537-3F95-3A6A-25F2F91BE6BB}"/>
              </a:ext>
            </a:extLst>
          </p:cNvPr>
          <p:cNvSpPr>
            <a:spLocks noGrp="1" noRot="1" noChangeAspect="1"/>
          </p:cNvSpPr>
          <p:nvPr>
            <p:ph type="sldImg" idx="2"/>
          </p:nvPr>
        </p:nvSpPr>
        <p:spPr/>
        <p:txBody>
          <a:bodyPr/>
          <a:lstStyle/>
          <a:p>
            <a:endParaRPr lang="zh-CN" altLang="en-US"/>
          </a:p>
        </p:txBody>
      </p:sp>
      <p:sp>
        <p:nvSpPr>
          <p:cNvPr id="3" name="文本占位符 2">
            <a:extLst>
              <a:ext uri="{FF2B5EF4-FFF2-40B4-BE49-F238E27FC236}">
                <a16:creationId xmlns:a16="http://schemas.microsoft.com/office/drawing/2014/main" id="{77852738-7474-4AED-FA30-8E9B6352475B}"/>
              </a:ext>
            </a:extLst>
          </p:cNvPr>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45810315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816E9-762E-EC5E-A9F3-8A1910E7004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F4C746F-A278-C6AC-69EC-71647B114E7D}"/>
              </a:ext>
            </a:extLst>
          </p:cNvPr>
          <p:cNvSpPr>
            <a:spLocks noGrp="1" noRot="1" noChangeAspect="1"/>
          </p:cNvSpPr>
          <p:nvPr>
            <p:ph type="sldImg" idx="2"/>
          </p:nvPr>
        </p:nvSpPr>
        <p:spPr/>
        <p:txBody>
          <a:bodyPr/>
          <a:lstStyle/>
          <a:p>
            <a:endParaRPr lang="zh-CN" altLang="en-US"/>
          </a:p>
        </p:txBody>
      </p:sp>
      <p:sp>
        <p:nvSpPr>
          <p:cNvPr id="3" name="文本占位符 2">
            <a:extLst>
              <a:ext uri="{FF2B5EF4-FFF2-40B4-BE49-F238E27FC236}">
                <a16:creationId xmlns:a16="http://schemas.microsoft.com/office/drawing/2014/main" id="{F985B1C2-1E2E-B231-8C9A-1E5B1D952AD8}"/>
              </a:ext>
            </a:extLst>
          </p:cNvPr>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63642584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2752833"/>
            <a:ext cx="9144000" cy="757130"/>
          </a:xfrm>
        </p:spPr>
        <p:txBody>
          <a:bodyPr anchor="b"/>
          <a:lstStyle>
            <a:lvl1pPr algn="ctr">
              <a:defRPr sz="48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
    <p:spTree>
      <p:nvGrpSpPr>
        <p:cNvPr id="1" name=""/>
        <p:cNvGrpSpPr/>
        <p:nvPr/>
      </p:nvGrpSpPr>
      <p:grpSpPr>
        <a:xfrm>
          <a:off x="0" y="0"/>
          <a:ext cx="0" cy="0"/>
          <a:chOff x="0" y="0"/>
          <a:chExt cx="0" cy="0"/>
        </a:xfrm>
      </p:grpSpPr>
      <p:sp>
        <p:nvSpPr>
          <p:cNvPr id="2" name="标题 1"/>
          <p:cNvSpPr>
            <a:spLocks noGrp="1"/>
          </p:cNvSpPr>
          <p:nvPr>
            <p:ph type="title"/>
          </p:nvPr>
        </p:nvSpPr>
        <p:spPr>
          <a:xfrm>
            <a:off x="336000" y="360000"/>
            <a:ext cx="5760000" cy="535531"/>
          </a:xfrm>
          <a:prstGeom prst="rect">
            <a:avLst/>
          </a:prstGeom>
        </p:spPr>
        <p:txBody>
          <a:bodyPr wrap="square">
            <a:spAutoFit/>
          </a:bodyPr>
          <a:lstStyle>
            <a:lvl1pPr>
              <a:defRPr lang="zh-CN" altLang="en-US" dirty="0">
                <a:solidFill>
                  <a:srgbClr val="FF0000"/>
                </a:solidFill>
              </a:defRPr>
            </a:lvl1pPr>
          </a:lstStyle>
          <a:p>
            <a:r>
              <a:rPr lang="zh-CN" altLang="en-US" dirty="0"/>
              <a:t>单击此处编辑母版标题样式</a:t>
            </a:r>
          </a:p>
        </p:txBody>
      </p:sp>
      <p:sp>
        <p:nvSpPr>
          <p:cNvPr id="18" name="任意多边形 17"/>
          <p:cNvSpPr/>
          <p:nvPr/>
        </p:nvSpPr>
        <p:spPr>
          <a:xfrm>
            <a:off x="336000" y="1080000"/>
            <a:ext cx="714380" cy="642942"/>
          </a:xfrm>
          <a:custGeom>
            <a:avLst/>
            <a:gdLst>
              <a:gd name="connsiteX0" fmla="*/ 0 w 864000"/>
              <a:gd name="connsiteY0" fmla="*/ 0 h 864000"/>
              <a:gd name="connsiteX1" fmla="*/ 864000 w 864000"/>
              <a:gd name="connsiteY1" fmla="*/ 0 h 864000"/>
              <a:gd name="connsiteX2" fmla="*/ 864000 w 864000"/>
              <a:gd name="connsiteY2" fmla="*/ 261737 h 864000"/>
              <a:gd name="connsiteX3" fmla="*/ 751007 w 864000"/>
              <a:gd name="connsiteY3" fmla="*/ 261737 h 864000"/>
              <a:gd name="connsiteX4" fmla="*/ 751007 w 864000"/>
              <a:gd name="connsiteY4" fmla="*/ 112993 h 864000"/>
              <a:gd name="connsiteX5" fmla="*/ 112993 w 864000"/>
              <a:gd name="connsiteY5" fmla="*/ 112993 h 864000"/>
              <a:gd name="connsiteX6" fmla="*/ 112993 w 864000"/>
              <a:gd name="connsiteY6" fmla="*/ 751007 h 864000"/>
              <a:gd name="connsiteX7" fmla="*/ 246681 w 864000"/>
              <a:gd name="connsiteY7" fmla="*/ 751007 h 864000"/>
              <a:gd name="connsiteX8" fmla="*/ 246681 w 864000"/>
              <a:gd name="connsiteY8" fmla="*/ 864000 h 864000"/>
              <a:gd name="connsiteX9" fmla="*/ 0 w 864000"/>
              <a:gd name="connsiteY9" fmla="*/ 86400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4000" h="864000">
                <a:moveTo>
                  <a:pt x="0" y="0"/>
                </a:moveTo>
                <a:lnTo>
                  <a:pt x="864000" y="0"/>
                </a:lnTo>
                <a:lnTo>
                  <a:pt x="864000" y="261737"/>
                </a:lnTo>
                <a:lnTo>
                  <a:pt x="751007" y="261737"/>
                </a:lnTo>
                <a:lnTo>
                  <a:pt x="751007" y="112993"/>
                </a:lnTo>
                <a:lnTo>
                  <a:pt x="112993" y="112993"/>
                </a:lnTo>
                <a:lnTo>
                  <a:pt x="112993" y="751007"/>
                </a:lnTo>
                <a:lnTo>
                  <a:pt x="246681" y="751007"/>
                </a:lnTo>
                <a:lnTo>
                  <a:pt x="246681" y="864000"/>
                </a:lnTo>
                <a:lnTo>
                  <a:pt x="0" y="86400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ndParaRPr>
          </a:p>
        </p:txBody>
      </p:sp>
      <p:sp>
        <p:nvSpPr>
          <p:cNvPr id="6" name="文本占位符 5">
            <a:extLst>
              <a:ext uri="{FF2B5EF4-FFF2-40B4-BE49-F238E27FC236}">
                <a16:creationId xmlns:a16="http://schemas.microsoft.com/office/drawing/2014/main" id="{9D7D58B2-D066-8574-13EF-38BA2BBBDE41}"/>
              </a:ext>
            </a:extLst>
          </p:cNvPr>
          <p:cNvSpPr>
            <a:spLocks noGrp="1"/>
          </p:cNvSpPr>
          <p:nvPr>
            <p:ph type="body" sz="quarter" idx="10"/>
          </p:nvPr>
        </p:nvSpPr>
        <p:spPr>
          <a:xfrm>
            <a:off x="696000" y="1322832"/>
            <a:ext cx="5400000" cy="400110"/>
          </a:xfrm>
        </p:spPr>
        <p:txBody>
          <a:bodyPr wrap="square">
            <a:spAutoFit/>
          </a:bodyPr>
          <a:lstStyle>
            <a:lvl1pPr marL="0" indent="0">
              <a:lnSpc>
                <a:spcPct val="100000"/>
              </a:lnSpc>
              <a:spcAft>
                <a:spcPts val="0"/>
              </a:spcAft>
              <a:buNone/>
              <a:defRPr>
                <a:latin typeface="微软雅黑" panose="020B0503020204020204" pitchFamily="34" charset="-122"/>
                <a:ea typeface="微软雅黑" panose="020B0503020204020204" pitchFamily="34" charset="-122"/>
              </a:defRPr>
            </a:lvl1pPr>
          </a:lstStyle>
          <a:p>
            <a:pPr lvl="0"/>
            <a:r>
              <a:rPr lang="zh-CN" altLang="en-US" dirty="0"/>
              <a:t>单击此处编辑母版文本样式</a:t>
            </a:r>
          </a:p>
        </p:txBody>
      </p:sp>
      <p:sp>
        <p:nvSpPr>
          <p:cNvPr id="10" name="文本占位符 9">
            <a:extLst>
              <a:ext uri="{FF2B5EF4-FFF2-40B4-BE49-F238E27FC236}">
                <a16:creationId xmlns:a16="http://schemas.microsoft.com/office/drawing/2014/main" id="{7A03BA7E-1CDD-2353-ED4F-A4C3BF117755}"/>
              </a:ext>
            </a:extLst>
          </p:cNvPr>
          <p:cNvSpPr>
            <a:spLocks noGrp="1"/>
          </p:cNvSpPr>
          <p:nvPr>
            <p:ph type="body" sz="quarter" idx="11"/>
          </p:nvPr>
        </p:nvSpPr>
        <p:spPr>
          <a:xfrm>
            <a:off x="6096000" y="360128"/>
            <a:ext cx="5760000" cy="400110"/>
          </a:xfrm>
        </p:spPr>
        <p:txBody>
          <a:bodyPr wrap="square">
            <a:spAutoFit/>
          </a:bodyPr>
          <a:lstStyle>
            <a:lvl1pPr marL="0" indent="0" algn="r">
              <a:lnSpc>
                <a:spcPct val="100000"/>
              </a:lnSpc>
              <a:spcAft>
                <a:spcPts val="0"/>
              </a:spcAft>
              <a:buNone/>
              <a:defRPr baseline="0"/>
            </a:lvl1pPr>
            <a:lvl2pPr>
              <a:buNone/>
              <a:defRPr/>
            </a:lvl2pPr>
            <a:lvl3pPr>
              <a:buNone/>
              <a:defRPr/>
            </a:lvl3pPr>
            <a:lvl4pPr>
              <a:buNone/>
              <a:defRPr/>
            </a:lvl4pPr>
            <a:lvl5pPr>
              <a:buNone/>
              <a:defRPr/>
            </a:lvl5pPr>
          </a:lstStyle>
          <a:p>
            <a:pPr lvl="0"/>
            <a:r>
              <a:rPr lang="zh-CN" altLang="en-US" dirty="0"/>
              <a:t>单击此处编辑母版文本样式</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1_首页">
    <p:bg>
      <p:bgPr>
        <a:solidFill>
          <a:schemeClr val="bg1"/>
        </a:solidFill>
        <a:effectLst/>
      </p:bgPr>
    </p:bg>
    <p:spTree>
      <p:nvGrpSpPr>
        <p:cNvPr id="1" name=""/>
        <p:cNvGrpSpPr/>
        <p:nvPr/>
      </p:nvGrpSpPr>
      <p:grpSpPr>
        <a:xfrm>
          <a:off x="0" y="0"/>
          <a:ext cx="0" cy="0"/>
          <a:chOff x="0" y="0"/>
          <a:chExt cx="0" cy="0"/>
        </a:xfrm>
      </p:grpSpPr>
      <p:sp>
        <p:nvSpPr>
          <p:cNvPr id="31" name="矩形 30"/>
          <p:cNvSpPr/>
          <p:nvPr userDrawn="1">
            <p:custDataLst>
              <p:tags r:id="rId1"/>
            </p:custDataLst>
          </p:nvPr>
        </p:nvSpPr>
        <p:spPr>
          <a:xfrm>
            <a:off x="0" y="-1"/>
            <a:ext cx="12192000" cy="35528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ndParaRPr>
          </a:p>
        </p:txBody>
      </p:sp>
      <p:sp>
        <p:nvSpPr>
          <p:cNvPr id="20" name="TextBox 2"/>
          <p:cNvSpPr txBox="1">
            <a:spLocks noChangeArrowheads="1"/>
          </p:cNvSpPr>
          <p:nvPr userDrawn="1">
            <p:custDataLst>
              <p:tags r:id="rId2"/>
            </p:custDataLst>
          </p:nvPr>
        </p:nvSpPr>
        <p:spPr bwMode="auto">
          <a:xfrm>
            <a:off x="2254956" y="1411817"/>
            <a:ext cx="4670777" cy="3073400"/>
          </a:xfrm>
          <a:prstGeom prst="rect">
            <a:avLst/>
          </a:prstGeom>
          <a:noFill/>
          <a:ln w="9525">
            <a:noFill/>
            <a:miter lim="800000"/>
            <a:headEnd/>
            <a:tailEnd/>
          </a:ln>
        </p:spPr>
        <p:txBody>
          <a:bodyPr lIns="145143" tIns="72571" rIns="145143" bIns="72571"/>
          <a:lstStyle/>
          <a:p>
            <a:pPr eaLnBrk="1" hangingPunct="1"/>
            <a:r>
              <a:rPr lang="en-US" altLang="zh-CN" sz="21400" dirty="0">
                <a:latin typeface="Times New Roman" panose="02020603050405020304" pitchFamily="18" charset="0"/>
                <a:cs typeface="Times New Roman" panose="02020603050405020304" pitchFamily="18" charset="0"/>
              </a:rPr>
              <a:t>T</a:t>
            </a:r>
            <a:endParaRPr lang="zh-CN" altLang="en-US" sz="21400" dirty="0">
              <a:latin typeface="Times New Roman" panose="02020603050405020304" pitchFamily="18" charset="0"/>
              <a:cs typeface="Times New Roman" panose="02020603050405020304" pitchFamily="18" charset="0"/>
            </a:endParaRPr>
          </a:p>
        </p:txBody>
      </p:sp>
      <p:sp>
        <p:nvSpPr>
          <p:cNvPr id="21" name="TextBox 20"/>
          <p:cNvSpPr txBox="1"/>
          <p:nvPr userDrawn="1">
            <p:custDataLst>
              <p:tags r:id="rId3"/>
            </p:custDataLst>
          </p:nvPr>
        </p:nvSpPr>
        <p:spPr>
          <a:xfrm>
            <a:off x="4591757" y="1873252"/>
            <a:ext cx="6019799" cy="1299633"/>
          </a:xfrm>
          <a:prstGeom prst="rect">
            <a:avLst/>
          </a:prstGeom>
          <a:noFill/>
        </p:spPr>
        <p:txBody>
          <a:bodyPr lIns="145143" tIns="72571" rIns="145143" bIns="72571">
            <a:normAutofit lnSpcReduction="10000"/>
          </a:bodyPr>
          <a:lstStyle/>
          <a:p>
            <a:pPr>
              <a:defRPr/>
            </a:pPr>
            <a:r>
              <a:rPr lang="zh-CN" altLang="en-US" sz="7600" dirty="0">
                <a:solidFill>
                  <a:srgbClr val="FF0080"/>
                </a:solidFill>
                <a:latin typeface="+mj-ea"/>
                <a:ea typeface="+mj-ea"/>
              </a:rPr>
              <a:t>谢</a:t>
            </a:r>
            <a:r>
              <a:rPr lang="zh-CN" altLang="en-US" sz="7600" dirty="0">
                <a:solidFill>
                  <a:srgbClr val="FF8000"/>
                </a:solidFill>
                <a:latin typeface="+mj-ea"/>
                <a:ea typeface="+mj-ea"/>
              </a:rPr>
              <a:t>谢</a:t>
            </a:r>
            <a:r>
              <a:rPr lang="zh-CN" altLang="en-US" sz="7600" dirty="0">
                <a:solidFill>
                  <a:srgbClr val="FFC000"/>
                </a:solidFill>
                <a:latin typeface="+mj-ea"/>
                <a:ea typeface="+mj-ea"/>
              </a:rPr>
              <a:t>观</a:t>
            </a:r>
            <a:r>
              <a:rPr lang="zh-CN" altLang="en-US" sz="7600" dirty="0">
                <a:solidFill>
                  <a:srgbClr val="92D050"/>
                </a:solidFill>
                <a:latin typeface="+mj-ea"/>
                <a:ea typeface="+mj-ea"/>
              </a:rPr>
              <a:t>看</a:t>
            </a:r>
          </a:p>
        </p:txBody>
      </p:sp>
      <p:sp>
        <p:nvSpPr>
          <p:cNvPr id="22" name="TextBox 4"/>
          <p:cNvSpPr txBox="1">
            <a:spLocks noChangeArrowheads="1"/>
          </p:cNvSpPr>
          <p:nvPr userDrawn="1">
            <p:custDataLst>
              <p:tags r:id="rId4"/>
            </p:custDataLst>
          </p:nvPr>
        </p:nvSpPr>
        <p:spPr bwMode="auto">
          <a:xfrm>
            <a:off x="3483813" y="2980267"/>
            <a:ext cx="6268156" cy="984251"/>
          </a:xfrm>
          <a:prstGeom prst="rect">
            <a:avLst/>
          </a:prstGeom>
          <a:noFill/>
          <a:ln w="9525">
            <a:noFill/>
            <a:miter lim="800000"/>
            <a:headEnd/>
            <a:tailEnd/>
          </a:ln>
        </p:spPr>
        <p:txBody>
          <a:bodyPr lIns="145143" tIns="72571" rIns="145143" bIns="72571"/>
          <a:lstStyle/>
          <a:p>
            <a:pPr eaLnBrk="1" hangingPunct="1"/>
            <a:r>
              <a:rPr lang="en-US" altLang="zh-CN" sz="5700" b="1" dirty="0">
                <a:latin typeface="Times New Roman" panose="02020603050405020304" pitchFamily="18" charset="0"/>
                <a:cs typeface="Times New Roman" panose="02020603050405020304" pitchFamily="18" charset="0"/>
              </a:rPr>
              <a:t>HANK   YOU!</a:t>
            </a:r>
            <a:endParaRPr lang="zh-CN" altLang="en-US" sz="5700" b="1" dirty="0">
              <a:latin typeface="Times New Roman" panose="02020603050405020304" pitchFamily="18" charset="0"/>
              <a:cs typeface="Times New Roman" panose="02020603050405020304" pitchFamily="18" charset="0"/>
            </a:endParaRPr>
          </a:p>
        </p:txBody>
      </p:sp>
      <p:sp>
        <p:nvSpPr>
          <p:cNvPr id="23" name="直角三角形 22"/>
          <p:cNvSpPr/>
          <p:nvPr userDrawn="1">
            <p:custDataLst>
              <p:tags r:id="rId5"/>
            </p:custDataLst>
          </p:nvPr>
        </p:nvSpPr>
        <p:spPr>
          <a:xfrm rot="1665221">
            <a:off x="10301111" y="4826000"/>
            <a:ext cx="259644" cy="391584"/>
          </a:xfrm>
          <a:prstGeom prst="r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latin typeface="Times New Roman" panose="02020603050405020304" pitchFamily="18" charset="0"/>
            </a:endParaRPr>
          </a:p>
        </p:txBody>
      </p:sp>
      <p:sp>
        <p:nvSpPr>
          <p:cNvPr id="24" name="直角三角形 23"/>
          <p:cNvSpPr/>
          <p:nvPr userDrawn="1">
            <p:custDataLst>
              <p:tags r:id="rId6"/>
            </p:custDataLst>
          </p:nvPr>
        </p:nvSpPr>
        <p:spPr>
          <a:xfrm rot="9441503">
            <a:off x="10947401" y="4068233"/>
            <a:ext cx="496711" cy="745067"/>
          </a:xfrm>
          <a:prstGeom prst="rtTriangle">
            <a:avLst/>
          </a:prstGeom>
          <a:solidFill>
            <a:srgbClr val="FF008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latin typeface="Times New Roman" panose="02020603050405020304" pitchFamily="18" charset="0"/>
            </a:endParaRPr>
          </a:p>
        </p:txBody>
      </p:sp>
      <p:sp>
        <p:nvSpPr>
          <p:cNvPr id="25" name="直角三角形 24"/>
          <p:cNvSpPr/>
          <p:nvPr userDrawn="1">
            <p:custDataLst>
              <p:tags r:id="rId7"/>
            </p:custDataLst>
          </p:nvPr>
        </p:nvSpPr>
        <p:spPr>
          <a:xfrm rot="14258978">
            <a:off x="7802740" y="4298951"/>
            <a:ext cx="376767" cy="1007532"/>
          </a:xfrm>
          <a:prstGeom prst="rtTriangle">
            <a:avLst/>
          </a:prstGeom>
          <a:solidFill>
            <a:srgbClr val="FF8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latin typeface="Times New Roman" panose="02020603050405020304" pitchFamily="18" charset="0"/>
            </a:endParaRPr>
          </a:p>
        </p:txBody>
      </p:sp>
      <p:sp>
        <p:nvSpPr>
          <p:cNvPr id="26" name="直角三角形 25"/>
          <p:cNvSpPr/>
          <p:nvPr userDrawn="1">
            <p:custDataLst>
              <p:tags r:id="rId8"/>
            </p:custDataLst>
          </p:nvPr>
        </p:nvSpPr>
        <p:spPr>
          <a:xfrm rot="1312468">
            <a:off x="9214556" y="4974167"/>
            <a:ext cx="406400" cy="609600"/>
          </a:xfrm>
          <a:prstGeom prst="r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latin typeface="Times New Roman" panose="02020603050405020304" pitchFamily="18" charset="0"/>
            </a:endParaRPr>
          </a:p>
        </p:txBody>
      </p:sp>
      <p:sp>
        <p:nvSpPr>
          <p:cNvPr id="27" name="直角三角形 26"/>
          <p:cNvSpPr/>
          <p:nvPr userDrawn="1">
            <p:custDataLst>
              <p:tags r:id="rId9"/>
            </p:custDataLst>
          </p:nvPr>
        </p:nvSpPr>
        <p:spPr>
          <a:xfrm rot="14258978">
            <a:off x="1666170" y="4439710"/>
            <a:ext cx="378884" cy="1007532"/>
          </a:xfrm>
          <a:prstGeom prst="rtTriangle">
            <a:avLst/>
          </a:prstGeom>
          <a:solidFill>
            <a:srgbClr val="FF8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latin typeface="Times New Roman" panose="02020603050405020304" pitchFamily="18" charset="0"/>
            </a:endParaRPr>
          </a:p>
        </p:txBody>
      </p:sp>
      <p:sp>
        <p:nvSpPr>
          <p:cNvPr id="28" name="直角三角形 27"/>
          <p:cNvSpPr/>
          <p:nvPr userDrawn="1">
            <p:custDataLst>
              <p:tags r:id="rId10"/>
            </p:custDataLst>
          </p:nvPr>
        </p:nvSpPr>
        <p:spPr>
          <a:xfrm rot="4526379">
            <a:off x="3207104" y="5064125"/>
            <a:ext cx="141816" cy="381001"/>
          </a:xfrm>
          <a:prstGeom prst="r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latin typeface="Times New Roman" panose="02020603050405020304" pitchFamily="18" charset="0"/>
            </a:endParaRPr>
          </a:p>
        </p:txBody>
      </p:sp>
      <p:sp>
        <p:nvSpPr>
          <p:cNvPr id="29" name="直角三角形 28"/>
          <p:cNvSpPr/>
          <p:nvPr userDrawn="1">
            <p:custDataLst>
              <p:tags r:id="rId11"/>
            </p:custDataLst>
          </p:nvPr>
        </p:nvSpPr>
        <p:spPr>
          <a:xfrm rot="1665221">
            <a:off x="5012267" y="4514851"/>
            <a:ext cx="632178" cy="952500"/>
          </a:xfrm>
          <a:prstGeom prst="r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latin typeface="Times New Roman" panose="02020603050405020304" pitchFamily="18" charset="0"/>
            </a:endParaRPr>
          </a:p>
        </p:txBody>
      </p:sp>
    </p:spTree>
    <p:extLst>
      <p:ext uri="{BB962C8B-B14F-4D97-AF65-F5344CB8AC3E}">
        <p14:creationId xmlns:p14="http://schemas.microsoft.com/office/powerpoint/2010/main" val="4223807772"/>
      </p:ext>
    </p:extLst>
  </p:cSld>
  <p:clrMapOvr>
    <a:masterClrMapping/>
  </p:clrMapOvr>
  <p:transition>
    <p:randomBar dir="vert"/>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274949"/>
            <a:ext cx="10515600" cy="535531"/>
          </a:xfrm>
          <a:prstGeom prst="rect">
            <a:avLst/>
          </a:prstGeom>
        </p:spPr>
        <p:txBody>
          <a:bodyPr vert="horz" lIns="91440" tIns="45720" rIns="91440" bIns="45720" rtlCol="0" anchor="ctr">
            <a:spAutoFit/>
          </a:bodyPr>
          <a:lstStyle/>
          <a:p>
            <a:r>
              <a:rPr lang="zh-CN" altLang="en-US" dirty="0"/>
              <a:t>单击此处编辑母版标题样式</a:t>
            </a:r>
          </a:p>
        </p:txBody>
      </p:sp>
      <p:sp>
        <p:nvSpPr>
          <p:cNvPr id="3" name="文本占位符 2"/>
          <p:cNvSpPr>
            <a:spLocks noGrp="1"/>
          </p:cNvSpPr>
          <p:nvPr>
            <p:ph type="body" idx="1"/>
          </p:nvPr>
        </p:nvSpPr>
        <p:spPr>
          <a:xfrm>
            <a:off x="838200" y="863600"/>
            <a:ext cx="10515600" cy="5313364"/>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ea typeface="微软雅黑 Light" panose="020B0502040204020203" pitchFamily="34" charset="-122"/>
              </a:defRPr>
            </a:lvl1pPr>
          </a:lstStyle>
          <a:p>
            <a:fld id="{D997B5FA-0921-464F-AAE1-844C04324D75}" type="datetimeFigureOut">
              <a:rPr lang="zh-CN" altLang="en-US" smtClean="0"/>
              <a:pPr/>
              <a:t>2026/5/6</a:t>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ea typeface="微软雅黑 Light" panose="020B0502040204020203" pitchFamily="34" charset="-122"/>
              </a:defRPr>
            </a:lvl1pPr>
          </a:lstStyle>
          <a:p>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ea typeface="微软雅黑 Light" panose="020B0502040204020203" pitchFamily="34" charset="-122"/>
              </a:defRPr>
            </a:lvl1pPr>
          </a:lstStyle>
          <a:p>
            <a:fld id="{565CE74E-AB26-4998-AD42-012C4C1AD076}" type="slidenum">
              <a:rPr lang="zh-CN" altLang="en-US" smtClean="0"/>
              <a:pPr/>
              <a:t>‹#›</a:t>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67" r:id="rId2"/>
    <p:sldLayoutId id="2147483655" r:id="rId3"/>
    <p:sldLayoutId id="2147483683" r:id="rId4"/>
  </p:sldLayoutIdLst>
  <p:txStyles>
    <p:titleStyle>
      <a:lvl1pPr algn="l" defTabSz="914400" rtl="0" eaLnBrk="1" latinLnBrk="0" hangingPunct="1">
        <a:lnSpc>
          <a:spcPct val="90000"/>
        </a:lnSpc>
        <a:spcBef>
          <a:spcPct val="0"/>
        </a:spcBef>
        <a:buNone/>
        <a:defRPr lang="zh-CN" altLang="en-US" sz="3200" kern="1200" baseline="0" dirty="0">
          <a:solidFill>
            <a:schemeClr val="tx1"/>
          </a:solidFill>
          <a:latin typeface="Times New Roman" panose="02020603050405020304" pitchFamily="18" charset="0"/>
          <a:ea typeface="微软雅黑" panose="020B0503020204020204" pitchFamily="34" charset="-122"/>
          <a:cs typeface="+mj-cs"/>
        </a:defRPr>
      </a:lvl1pPr>
    </p:titleStyle>
    <p:bodyStyle>
      <a:lvl1pPr marL="180000" indent="-180000" algn="l" defTabSz="914400" rtl="0" eaLnBrk="1" latinLnBrk="0" hangingPunct="1">
        <a:lnSpc>
          <a:spcPct val="150000"/>
        </a:lnSpc>
        <a:spcBef>
          <a:spcPts val="0"/>
        </a:spcBef>
        <a:spcAft>
          <a:spcPts val="600"/>
        </a:spcAft>
        <a:buFont typeface="Arial" panose="020B0604020202020204" pitchFamily="34" charset="0"/>
        <a:buChar char="•"/>
        <a:defRPr sz="2000" kern="1200" baseline="0">
          <a:solidFill>
            <a:schemeClr val="tx1"/>
          </a:solidFill>
          <a:latin typeface="Times New Roman" panose="02020603050405020304" pitchFamily="18" charset="0"/>
          <a:ea typeface="微软雅黑 Light" panose="020B0502040204020203" pitchFamily="34" charset="-122"/>
          <a:cs typeface="+mn-cs"/>
        </a:defRPr>
      </a:lvl1pPr>
      <a:lvl2pPr marL="540000" indent="-180000" algn="l" defTabSz="914400" rtl="0" eaLnBrk="1" latinLnBrk="0" hangingPunct="1">
        <a:lnSpc>
          <a:spcPct val="150000"/>
        </a:lnSpc>
        <a:spcBef>
          <a:spcPts val="0"/>
        </a:spcBef>
        <a:spcAft>
          <a:spcPts val="600"/>
        </a:spcAft>
        <a:buFont typeface="Arial" panose="020B0604020202020204" pitchFamily="34" charset="0"/>
        <a:buChar char="•"/>
        <a:defRPr sz="1800" kern="1200" baseline="0">
          <a:solidFill>
            <a:schemeClr val="tx1"/>
          </a:solidFill>
          <a:latin typeface="Times New Roman" panose="02020603050405020304" pitchFamily="18" charset="0"/>
          <a:ea typeface="微软雅黑 Light" panose="020B0502040204020203" pitchFamily="34" charset="-122"/>
          <a:cs typeface="+mn-cs"/>
        </a:defRPr>
      </a:lvl2pPr>
      <a:lvl3pPr marL="1080000" indent="-180000" algn="l" defTabSz="914400" rtl="0" eaLnBrk="1" latinLnBrk="0" hangingPunct="1">
        <a:lnSpc>
          <a:spcPct val="150000"/>
        </a:lnSpc>
        <a:spcBef>
          <a:spcPts val="0"/>
        </a:spcBef>
        <a:spcAft>
          <a:spcPts val="600"/>
        </a:spcAft>
        <a:buFont typeface="Arial" panose="020B0604020202020204" pitchFamily="34" charset="0"/>
        <a:buChar char="•"/>
        <a:defRPr sz="1600" kern="1200" baseline="0">
          <a:solidFill>
            <a:schemeClr val="tx1"/>
          </a:solidFill>
          <a:latin typeface="Times New Roman" panose="02020603050405020304" pitchFamily="18" charset="0"/>
          <a:ea typeface="微软雅黑 Light" panose="020B0502040204020203" pitchFamily="34" charset="-122"/>
          <a:cs typeface="+mn-cs"/>
        </a:defRPr>
      </a:lvl3pPr>
      <a:lvl4pPr marL="1440000" indent="-180000" algn="l" defTabSz="914400" rtl="0" eaLnBrk="1" latinLnBrk="0" hangingPunct="1">
        <a:lnSpc>
          <a:spcPct val="150000"/>
        </a:lnSpc>
        <a:spcBef>
          <a:spcPts val="0"/>
        </a:spcBef>
        <a:spcAft>
          <a:spcPts val="600"/>
        </a:spcAft>
        <a:buFont typeface="Arial" panose="020B0604020202020204" pitchFamily="34" charset="0"/>
        <a:buChar char="•"/>
        <a:defRPr sz="1400" kern="1200" baseline="0">
          <a:solidFill>
            <a:schemeClr val="tx1"/>
          </a:solidFill>
          <a:latin typeface="Times New Roman" panose="02020603050405020304" pitchFamily="18" charset="0"/>
          <a:ea typeface="微软雅黑 Light" panose="020B0502040204020203" pitchFamily="34" charset="-122"/>
          <a:cs typeface="+mn-cs"/>
        </a:defRPr>
      </a:lvl4pPr>
      <a:lvl5pPr marL="1800000" indent="-180000" algn="l" defTabSz="914400" rtl="0" eaLnBrk="1" latinLnBrk="0" hangingPunct="1">
        <a:lnSpc>
          <a:spcPct val="150000"/>
        </a:lnSpc>
        <a:spcBef>
          <a:spcPts val="0"/>
        </a:spcBef>
        <a:spcAft>
          <a:spcPts val="600"/>
        </a:spcAft>
        <a:buFont typeface="Arial" panose="020B0604020202020204" pitchFamily="34" charset="0"/>
        <a:buChar char="•"/>
        <a:defRPr sz="1200" kern="1200" baseline="0">
          <a:solidFill>
            <a:schemeClr val="tx1"/>
          </a:solidFill>
          <a:latin typeface="Times New Roman" panose="02020603050405020304" pitchFamily="18" charset="0"/>
          <a:ea typeface="微软雅黑 Light" panose="020B0502040204020203"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4.xml"/><Relationship Id="rId7" Type="http://schemas.openxmlformats.org/officeDocument/2006/relationships/image" Target="../media/image1.jpe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Layout" Target="../slideLayouts/slideLayout3.xml"/><Relationship Id="rId5" Type="http://schemas.openxmlformats.org/officeDocument/2006/relationships/tags" Target="../tags/tag16.xml"/><Relationship Id="rId4" Type="http://schemas.openxmlformats.org/officeDocument/2006/relationships/tags" Target="../tags/tag15.xml"/></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1.xml"/><Relationship Id="rId3" Type="http://schemas.openxmlformats.org/officeDocument/2006/relationships/tags" Target="../tags/tag19.xml"/><Relationship Id="rId7" Type="http://schemas.openxmlformats.org/officeDocument/2006/relationships/slideLayout" Target="../slideLayouts/slideLayout3.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2.xml"/><Relationship Id="rId3" Type="http://schemas.openxmlformats.org/officeDocument/2006/relationships/tags" Target="../tags/tag25.xml"/><Relationship Id="rId7" Type="http://schemas.openxmlformats.org/officeDocument/2006/relationships/slideLayout" Target="../slideLayouts/slideLayout3.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9.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tags" Target="../tags/tag37.xml"/><Relationship Id="rId13" Type="http://schemas.openxmlformats.org/officeDocument/2006/relationships/tags" Target="../tags/tag42.xml"/><Relationship Id="rId3" Type="http://schemas.openxmlformats.org/officeDocument/2006/relationships/tags" Target="../tags/tag32.xml"/><Relationship Id="rId7" Type="http://schemas.openxmlformats.org/officeDocument/2006/relationships/tags" Target="../tags/tag36.xml"/><Relationship Id="rId12" Type="http://schemas.openxmlformats.org/officeDocument/2006/relationships/tags" Target="../tags/tag41.xml"/><Relationship Id="rId17" Type="http://schemas.openxmlformats.org/officeDocument/2006/relationships/slideLayout" Target="../slideLayouts/slideLayout2.xml"/><Relationship Id="rId2" Type="http://schemas.openxmlformats.org/officeDocument/2006/relationships/tags" Target="../tags/tag31.xml"/><Relationship Id="rId16" Type="http://schemas.openxmlformats.org/officeDocument/2006/relationships/tags" Target="../tags/tag45.xml"/><Relationship Id="rId1" Type="http://schemas.openxmlformats.org/officeDocument/2006/relationships/tags" Target="../tags/tag30.xml"/><Relationship Id="rId6" Type="http://schemas.openxmlformats.org/officeDocument/2006/relationships/tags" Target="../tags/tag35.xml"/><Relationship Id="rId11" Type="http://schemas.openxmlformats.org/officeDocument/2006/relationships/tags" Target="../tags/tag40.xml"/><Relationship Id="rId5" Type="http://schemas.openxmlformats.org/officeDocument/2006/relationships/tags" Target="../tags/tag34.xml"/><Relationship Id="rId15" Type="http://schemas.openxmlformats.org/officeDocument/2006/relationships/tags" Target="../tags/tag44.xml"/><Relationship Id="rId10" Type="http://schemas.openxmlformats.org/officeDocument/2006/relationships/tags" Target="../tags/tag39.xml"/><Relationship Id="rId4" Type="http://schemas.openxmlformats.org/officeDocument/2006/relationships/tags" Target="../tags/tag33.xml"/><Relationship Id="rId9" Type="http://schemas.openxmlformats.org/officeDocument/2006/relationships/tags" Target="../tags/tag38.xml"/><Relationship Id="rId14" Type="http://schemas.openxmlformats.org/officeDocument/2006/relationships/tags" Target="../tags/tag43.xml"/></Relationships>
</file>

<file path=ppt/slides/_rels/slide8.xml.rels><?xml version="1.0" encoding="UTF-8" standalone="yes"?>
<Relationships xmlns="http://schemas.openxmlformats.org/package/2006/relationships"><Relationship Id="rId3" Type="http://schemas.openxmlformats.org/officeDocument/2006/relationships/tags" Target="../tags/tag48.xml"/><Relationship Id="rId7" Type="http://schemas.openxmlformats.org/officeDocument/2006/relationships/slideLayout" Target="../slideLayouts/slideLayout2.xm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s>
</file>

<file path=ppt/slides/_rels/slide9.xml.rels><?xml version="1.0" encoding="UTF-8" standalone="yes"?>
<Relationships xmlns="http://schemas.openxmlformats.org/package/2006/relationships"><Relationship Id="rId8" Type="http://schemas.openxmlformats.org/officeDocument/2006/relationships/tags" Target="../tags/tag59.xml"/><Relationship Id="rId13" Type="http://schemas.openxmlformats.org/officeDocument/2006/relationships/tags" Target="../tags/tag64.xml"/><Relationship Id="rId3" Type="http://schemas.openxmlformats.org/officeDocument/2006/relationships/tags" Target="../tags/tag54.xml"/><Relationship Id="rId7" Type="http://schemas.openxmlformats.org/officeDocument/2006/relationships/tags" Target="../tags/tag58.xml"/><Relationship Id="rId12" Type="http://schemas.openxmlformats.org/officeDocument/2006/relationships/tags" Target="../tags/tag63.xml"/><Relationship Id="rId2" Type="http://schemas.openxmlformats.org/officeDocument/2006/relationships/tags" Target="../tags/tag53.xml"/><Relationship Id="rId16" Type="http://schemas.openxmlformats.org/officeDocument/2006/relationships/slideLayout" Target="../slideLayouts/slideLayout2.xml"/><Relationship Id="rId1" Type="http://schemas.openxmlformats.org/officeDocument/2006/relationships/tags" Target="../tags/tag52.xml"/><Relationship Id="rId6" Type="http://schemas.openxmlformats.org/officeDocument/2006/relationships/tags" Target="../tags/tag57.xml"/><Relationship Id="rId11" Type="http://schemas.openxmlformats.org/officeDocument/2006/relationships/tags" Target="../tags/tag62.xml"/><Relationship Id="rId5" Type="http://schemas.openxmlformats.org/officeDocument/2006/relationships/tags" Target="../tags/tag56.xml"/><Relationship Id="rId15" Type="http://schemas.openxmlformats.org/officeDocument/2006/relationships/tags" Target="../tags/tag66.xml"/><Relationship Id="rId10" Type="http://schemas.openxmlformats.org/officeDocument/2006/relationships/tags" Target="../tags/tag61.xml"/><Relationship Id="rId4" Type="http://schemas.openxmlformats.org/officeDocument/2006/relationships/tags" Target="../tags/tag55.xml"/><Relationship Id="rId9" Type="http://schemas.openxmlformats.org/officeDocument/2006/relationships/tags" Target="../tags/tag60.xml"/><Relationship Id="rId14" Type="http://schemas.openxmlformats.org/officeDocument/2006/relationships/tags" Target="../tags/tag6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tags" Target="../tags/tag74.xml"/><Relationship Id="rId3" Type="http://schemas.openxmlformats.org/officeDocument/2006/relationships/tags" Target="../tags/tag69.xml"/><Relationship Id="rId7" Type="http://schemas.openxmlformats.org/officeDocument/2006/relationships/tags" Target="../tags/tag73.xml"/><Relationship Id="rId12" Type="http://schemas.openxmlformats.org/officeDocument/2006/relationships/notesSlide" Target="../notesSlides/notesSlide8.xml"/><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tags" Target="../tags/tag72.xml"/><Relationship Id="rId11" Type="http://schemas.openxmlformats.org/officeDocument/2006/relationships/slideLayout" Target="../slideLayouts/slideLayout2.xml"/><Relationship Id="rId5" Type="http://schemas.openxmlformats.org/officeDocument/2006/relationships/tags" Target="../tags/tag71.xml"/><Relationship Id="rId10" Type="http://schemas.openxmlformats.org/officeDocument/2006/relationships/tags" Target="../tags/tag76.xml"/><Relationship Id="rId4" Type="http://schemas.openxmlformats.org/officeDocument/2006/relationships/tags" Target="../tags/tag70.xml"/><Relationship Id="rId9" Type="http://schemas.openxmlformats.org/officeDocument/2006/relationships/tags" Target="../tags/tag75.xml"/></Relationships>
</file>

<file path=ppt/slides/_rels/slide16.xml.rels><?xml version="1.0" encoding="UTF-8" standalone="yes"?>
<Relationships xmlns="http://schemas.openxmlformats.org/package/2006/relationships"><Relationship Id="rId8" Type="http://schemas.openxmlformats.org/officeDocument/2006/relationships/tags" Target="../tags/tag84.xml"/><Relationship Id="rId13" Type="http://schemas.openxmlformats.org/officeDocument/2006/relationships/notesSlide" Target="../notesSlides/notesSlide9.xml"/><Relationship Id="rId3" Type="http://schemas.openxmlformats.org/officeDocument/2006/relationships/tags" Target="../tags/tag79.xml"/><Relationship Id="rId7" Type="http://schemas.openxmlformats.org/officeDocument/2006/relationships/tags" Target="../tags/tag83.xml"/><Relationship Id="rId12" Type="http://schemas.openxmlformats.org/officeDocument/2006/relationships/slideLayout" Target="../slideLayouts/slideLayout2.xml"/><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tags" Target="../tags/tag82.xml"/><Relationship Id="rId11" Type="http://schemas.openxmlformats.org/officeDocument/2006/relationships/tags" Target="../tags/tag87.xml"/><Relationship Id="rId5" Type="http://schemas.openxmlformats.org/officeDocument/2006/relationships/tags" Target="../tags/tag81.xml"/><Relationship Id="rId10" Type="http://schemas.openxmlformats.org/officeDocument/2006/relationships/tags" Target="../tags/tag86.xml"/><Relationship Id="rId4" Type="http://schemas.openxmlformats.org/officeDocument/2006/relationships/tags" Target="../tags/tag80.xml"/><Relationship Id="rId9" Type="http://schemas.openxmlformats.org/officeDocument/2006/relationships/tags" Target="../tags/tag85.xml"/></Relationships>
</file>

<file path=ppt/slides/_rels/slide17.xml.rels><?xml version="1.0" encoding="UTF-8" standalone="yes"?>
<Relationships xmlns="http://schemas.openxmlformats.org/package/2006/relationships"><Relationship Id="rId8" Type="http://schemas.openxmlformats.org/officeDocument/2006/relationships/tags" Target="../tags/tag95.xml"/><Relationship Id="rId13" Type="http://schemas.openxmlformats.org/officeDocument/2006/relationships/tags" Target="../tags/tag100.xml"/><Relationship Id="rId3" Type="http://schemas.openxmlformats.org/officeDocument/2006/relationships/tags" Target="../tags/tag90.xml"/><Relationship Id="rId7" Type="http://schemas.openxmlformats.org/officeDocument/2006/relationships/tags" Target="../tags/tag94.xml"/><Relationship Id="rId12" Type="http://schemas.openxmlformats.org/officeDocument/2006/relationships/tags" Target="../tags/tag99.xml"/><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tags" Target="../tags/tag93.xml"/><Relationship Id="rId11" Type="http://schemas.openxmlformats.org/officeDocument/2006/relationships/tags" Target="../tags/tag98.xml"/><Relationship Id="rId5" Type="http://schemas.openxmlformats.org/officeDocument/2006/relationships/tags" Target="../tags/tag92.xml"/><Relationship Id="rId15" Type="http://schemas.openxmlformats.org/officeDocument/2006/relationships/notesSlide" Target="../notesSlides/notesSlide10.xml"/><Relationship Id="rId10" Type="http://schemas.openxmlformats.org/officeDocument/2006/relationships/tags" Target="../tags/tag97.xml"/><Relationship Id="rId4" Type="http://schemas.openxmlformats.org/officeDocument/2006/relationships/tags" Target="../tags/tag91.xml"/><Relationship Id="rId9" Type="http://schemas.openxmlformats.org/officeDocument/2006/relationships/tags" Target="../tags/tag96.xml"/><Relationship Id="rId14"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tags" Target="../tags/tag108.xml"/><Relationship Id="rId13" Type="http://schemas.openxmlformats.org/officeDocument/2006/relationships/tags" Target="../tags/tag113.xml"/><Relationship Id="rId3" Type="http://schemas.openxmlformats.org/officeDocument/2006/relationships/tags" Target="../tags/tag103.xml"/><Relationship Id="rId7" Type="http://schemas.openxmlformats.org/officeDocument/2006/relationships/tags" Target="../tags/tag107.xml"/><Relationship Id="rId12" Type="http://schemas.openxmlformats.org/officeDocument/2006/relationships/tags" Target="../tags/tag112.xml"/><Relationship Id="rId17" Type="http://schemas.openxmlformats.org/officeDocument/2006/relationships/notesSlide" Target="../notesSlides/notesSlide11.xml"/><Relationship Id="rId2" Type="http://schemas.openxmlformats.org/officeDocument/2006/relationships/tags" Target="../tags/tag102.xml"/><Relationship Id="rId16" Type="http://schemas.openxmlformats.org/officeDocument/2006/relationships/slideLayout" Target="../slideLayouts/slideLayout2.xml"/><Relationship Id="rId1" Type="http://schemas.openxmlformats.org/officeDocument/2006/relationships/tags" Target="../tags/tag101.xml"/><Relationship Id="rId6" Type="http://schemas.openxmlformats.org/officeDocument/2006/relationships/tags" Target="../tags/tag106.xml"/><Relationship Id="rId11" Type="http://schemas.openxmlformats.org/officeDocument/2006/relationships/tags" Target="../tags/tag111.xml"/><Relationship Id="rId5" Type="http://schemas.openxmlformats.org/officeDocument/2006/relationships/tags" Target="../tags/tag105.xml"/><Relationship Id="rId15" Type="http://schemas.openxmlformats.org/officeDocument/2006/relationships/tags" Target="../tags/tag115.xml"/><Relationship Id="rId10" Type="http://schemas.openxmlformats.org/officeDocument/2006/relationships/tags" Target="../tags/tag110.xml"/><Relationship Id="rId4" Type="http://schemas.openxmlformats.org/officeDocument/2006/relationships/tags" Target="../tags/tag104.xml"/><Relationship Id="rId9" Type="http://schemas.openxmlformats.org/officeDocument/2006/relationships/tags" Target="../tags/tag109.xml"/><Relationship Id="rId14" Type="http://schemas.openxmlformats.org/officeDocument/2006/relationships/tags" Target="../tags/tag114.xml"/></Relationships>
</file>

<file path=ppt/slides/_rels/slide19.xml.rels><?xml version="1.0" encoding="UTF-8" standalone="yes"?>
<Relationships xmlns="http://schemas.openxmlformats.org/package/2006/relationships"><Relationship Id="rId8" Type="http://schemas.openxmlformats.org/officeDocument/2006/relationships/tags" Target="../tags/tag123.xml"/><Relationship Id="rId13" Type="http://schemas.openxmlformats.org/officeDocument/2006/relationships/tags" Target="../tags/tag128.xml"/><Relationship Id="rId18" Type="http://schemas.openxmlformats.org/officeDocument/2006/relationships/notesSlide" Target="../notesSlides/notesSlide12.xml"/><Relationship Id="rId3" Type="http://schemas.openxmlformats.org/officeDocument/2006/relationships/tags" Target="../tags/tag118.xml"/><Relationship Id="rId7" Type="http://schemas.openxmlformats.org/officeDocument/2006/relationships/tags" Target="../tags/tag122.xml"/><Relationship Id="rId12" Type="http://schemas.openxmlformats.org/officeDocument/2006/relationships/tags" Target="../tags/tag127.xml"/><Relationship Id="rId17" Type="http://schemas.openxmlformats.org/officeDocument/2006/relationships/slideLayout" Target="../slideLayouts/slideLayout2.xml"/><Relationship Id="rId2" Type="http://schemas.openxmlformats.org/officeDocument/2006/relationships/tags" Target="../tags/tag117.xml"/><Relationship Id="rId16" Type="http://schemas.openxmlformats.org/officeDocument/2006/relationships/tags" Target="../tags/tag131.xml"/><Relationship Id="rId1" Type="http://schemas.openxmlformats.org/officeDocument/2006/relationships/tags" Target="../tags/tag116.xml"/><Relationship Id="rId6" Type="http://schemas.openxmlformats.org/officeDocument/2006/relationships/tags" Target="../tags/tag121.xml"/><Relationship Id="rId11" Type="http://schemas.openxmlformats.org/officeDocument/2006/relationships/tags" Target="../tags/tag126.xml"/><Relationship Id="rId5" Type="http://schemas.openxmlformats.org/officeDocument/2006/relationships/tags" Target="../tags/tag120.xml"/><Relationship Id="rId15" Type="http://schemas.openxmlformats.org/officeDocument/2006/relationships/tags" Target="../tags/tag130.xml"/><Relationship Id="rId10" Type="http://schemas.openxmlformats.org/officeDocument/2006/relationships/tags" Target="../tags/tag125.xml"/><Relationship Id="rId4" Type="http://schemas.openxmlformats.org/officeDocument/2006/relationships/tags" Target="../tags/tag119.xml"/><Relationship Id="rId9" Type="http://schemas.openxmlformats.org/officeDocument/2006/relationships/tags" Target="../tags/tag124.xml"/><Relationship Id="rId14" Type="http://schemas.openxmlformats.org/officeDocument/2006/relationships/tags" Target="../tags/tag129.xml"/></Relationships>
</file>

<file path=ppt/slides/_rels/slide20.xml.rels><?xml version="1.0" encoding="UTF-8" standalone="yes"?>
<Relationships xmlns="http://schemas.openxmlformats.org/package/2006/relationships"><Relationship Id="rId8" Type="http://schemas.openxmlformats.org/officeDocument/2006/relationships/tags" Target="../tags/tag139.xml"/><Relationship Id="rId13" Type="http://schemas.openxmlformats.org/officeDocument/2006/relationships/tags" Target="../tags/tag144.xml"/><Relationship Id="rId3" Type="http://schemas.openxmlformats.org/officeDocument/2006/relationships/tags" Target="../tags/tag134.xml"/><Relationship Id="rId7" Type="http://schemas.openxmlformats.org/officeDocument/2006/relationships/tags" Target="../tags/tag138.xml"/><Relationship Id="rId12" Type="http://schemas.openxmlformats.org/officeDocument/2006/relationships/tags" Target="../tags/tag143.xml"/><Relationship Id="rId2" Type="http://schemas.openxmlformats.org/officeDocument/2006/relationships/tags" Target="../tags/tag133.xml"/><Relationship Id="rId16" Type="http://schemas.openxmlformats.org/officeDocument/2006/relationships/notesSlide" Target="../notesSlides/notesSlide13.xml"/><Relationship Id="rId1" Type="http://schemas.openxmlformats.org/officeDocument/2006/relationships/tags" Target="../tags/tag132.xml"/><Relationship Id="rId6" Type="http://schemas.openxmlformats.org/officeDocument/2006/relationships/tags" Target="../tags/tag137.xml"/><Relationship Id="rId11" Type="http://schemas.openxmlformats.org/officeDocument/2006/relationships/tags" Target="../tags/tag142.xml"/><Relationship Id="rId5" Type="http://schemas.openxmlformats.org/officeDocument/2006/relationships/tags" Target="../tags/tag136.xml"/><Relationship Id="rId15" Type="http://schemas.openxmlformats.org/officeDocument/2006/relationships/slideLayout" Target="../slideLayouts/slideLayout2.xml"/><Relationship Id="rId10" Type="http://schemas.openxmlformats.org/officeDocument/2006/relationships/tags" Target="../tags/tag141.xml"/><Relationship Id="rId4" Type="http://schemas.openxmlformats.org/officeDocument/2006/relationships/tags" Target="../tags/tag135.xml"/><Relationship Id="rId9" Type="http://schemas.openxmlformats.org/officeDocument/2006/relationships/tags" Target="../tags/tag140.xml"/><Relationship Id="rId14" Type="http://schemas.openxmlformats.org/officeDocument/2006/relationships/tags" Target="../tags/tag145.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4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tags" Target="../tags/tag154.xml"/><Relationship Id="rId13" Type="http://schemas.openxmlformats.org/officeDocument/2006/relationships/slideLayout" Target="../slideLayouts/slideLayout2.xml"/><Relationship Id="rId3" Type="http://schemas.openxmlformats.org/officeDocument/2006/relationships/tags" Target="../tags/tag149.xml"/><Relationship Id="rId7" Type="http://schemas.openxmlformats.org/officeDocument/2006/relationships/tags" Target="../tags/tag153.xml"/><Relationship Id="rId12" Type="http://schemas.openxmlformats.org/officeDocument/2006/relationships/tags" Target="../tags/tag158.xml"/><Relationship Id="rId2" Type="http://schemas.openxmlformats.org/officeDocument/2006/relationships/tags" Target="../tags/tag148.xml"/><Relationship Id="rId1" Type="http://schemas.openxmlformats.org/officeDocument/2006/relationships/tags" Target="../tags/tag147.xml"/><Relationship Id="rId6" Type="http://schemas.openxmlformats.org/officeDocument/2006/relationships/tags" Target="../tags/tag152.xml"/><Relationship Id="rId11" Type="http://schemas.openxmlformats.org/officeDocument/2006/relationships/tags" Target="../tags/tag157.xml"/><Relationship Id="rId5" Type="http://schemas.openxmlformats.org/officeDocument/2006/relationships/tags" Target="../tags/tag151.xml"/><Relationship Id="rId10" Type="http://schemas.openxmlformats.org/officeDocument/2006/relationships/tags" Target="../tags/tag156.xml"/><Relationship Id="rId4" Type="http://schemas.openxmlformats.org/officeDocument/2006/relationships/tags" Target="../tags/tag150.xml"/><Relationship Id="rId9" Type="http://schemas.openxmlformats.org/officeDocument/2006/relationships/tags" Target="../tags/tag155.xml"/><Relationship Id="rId14" Type="http://schemas.openxmlformats.org/officeDocument/2006/relationships/notesSlide" Target="../notesSlides/notesSlide14.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59.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60.xml"/></Relationships>
</file>

<file path=ppt/slides/_rels/slide28.xml.rels><?xml version="1.0" encoding="UTF-8" standalone="yes"?>
<Relationships xmlns="http://schemas.openxmlformats.org/package/2006/relationships"><Relationship Id="rId8" Type="http://schemas.openxmlformats.org/officeDocument/2006/relationships/tags" Target="../tags/tag168.xml"/><Relationship Id="rId13" Type="http://schemas.openxmlformats.org/officeDocument/2006/relationships/tags" Target="../tags/tag173.xml"/><Relationship Id="rId3" Type="http://schemas.openxmlformats.org/officeDocument/2006/relationships/tags" Target="../tags/tag163.xml"/><Relationship Id="rId7" Type="http://schemas.openxmlformats.org/officeDocument/2006/relationships/tags" Target="../tags/tag167.xml"/><Relationship Id="rId12" Type="http://schemas.openxmlformats.org/officeDocument/2006/relationships/tags" Target="../tags/tag172.xml"/><Relationship Id="rId2" Type="http://schemas.openxmlformats.org/officeDocument/2006/relationships/tags" Target="../tags/tag162.xml"/><Relationship Id="rId16" Type="http://schemas.openxmlformats.org/officeDocument/2006/relationships/image" Target="../media/image7.svg"/><Relationship Id="rId1" Type="http://schemas.openxmlformats.org/officeDocument/2006/relationships/tags" Target="../tags/tag161.xml"/><Relationship Id="rId6" Type="http://schemas.openxmlformats.org/officeDocument/2006/relationships/tags" Target="../tags/tag166.xml"/><Relationship Id="rId11" Type="http://schemas.openxmlformats.org/officeDocument/2006/relationships/tags" Target="../tags/tag171.xml"/><Relationship Id="rId5" Type="http://schemas.openxmlformats.org/officeDocument/2006/relationships/tags" Target="../tags/tag165.xml"/><Relationship Id="rId15" Type="http://schemas.openxmlformats.org/officeDocument/2006/relationships/notesSlide" Target="../notesSlides/notesSlide17.xml"/><Relationship Id="rId10" Type="http://schemas.openxmlformats.org/officeDocument/2006/relationships/tags" Target="../tags/tag170.xml"/><Relationship Id="rId4" Type="http://schemas.openxmlformats.org/officeDocument/2006/relationships/tags" Target="../tags/tag164.xml"/><Relationship Id="rId9" Type="http://schemas.openxmlformats.org/officeDocument/2006/relationships/tags" Target="../tags/tag169.xml"/><Relationship Id="rId14"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slideLayout" Target="../slideLayouts/slideLayout2.xml"/><Relationship Id="rId7" Type="http://schemas.openxmlformats.org/officeDocument/2006/relationships/image" Target="../media/image9.wmf"/><Relationship Id="rId2" Type="http://schemas.openxmlformats.org/officeDocument/2006/relationships/tags" Target="../tags/tag175.xml"/><Relationship Id="rId1" Type="http://schemas.openxmlformats.org/officeDocument/2006/relationships/tags" Target="../tags/tag174.xml"/><Relationship Id="rId6" Type="http://schemas.openxmlformats.org/officeDocument/2006/relationships/oleObject" Target="../embeddings/oleObject1.bin"/><Relationship Id="rId5" Type="http://schemas.openxmlformats.org/officeDocument/2006/relationships/image" Target="../media/image8.png"/><Relationship Id="rId4" Type="http://schemas.openxmlformats.org/officeDocument/2006/relationships/notesSlide" Target="../notesSlides/notesSlide18.xml"/></Relationships>
</file>

<file path=ppt/slides/_rels/slide30.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slideLayout" Target="../slideLayouts/slideLayout2.xml"/><Relationship Id="rId7" Type="http://schemas.openxmlformats.org/officeDocument/2006/relationships/image" Target="../media/image9.wmf"/><Relationship Id="rId2" Type="http://schemas.openxmlformats.org/officeDocument/2006/relationships/tags" Target="../tags/tag177.xml"/><Relationship Id="rId1" Type="http://schemas.openxmlformats.org/officeDocument/2006/relationships/tags" Target="../tags/tag176.xml"/><Relationship Id="rId6" Type="http://schemas.openxmlformats.org/officeDocument/2006/relationships/oleObject" Target="../embeddings/oleObject1.bin"/><Relationship Id="rId5" Type="http://schemas.openxmlformats.org/officeDocument/2006/relationships/image" Target="../media/image8.png"/><Relationship Id="rId4" Type="http://schemas.openxmlformats.org/officeDocument/2006/relationships/notesSlide" Target="../notesSlides/notesSlide19.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9.xml"/><Relationship Id="rId1" Type="http://schemas.openxmlformats.org/officeDocument/2006/relationships/tags" Target="../tags/tag178.xml"/><Relationship Id="rId6" Type="http://schemas.openxmlformats.org/officeDocument/2006/relationships/image" Target="../media/image10.jpeg"/><Relationship Id="rId5" Type="http://schemas.openxmlformats.org/officeDocument/2006/relationships/image" Target="../media/image8.png"/><Relationship Id="rId4" Type="http://schemas.openxmlformats.org/officeDocument/2006/relationships/notesSlide" Target="../notesSlides/notesSlide2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tags" Target="../tags/tag187.xml"/><Relationship Id="rId3" Type="http://schemas.openxmlformats.org/officeDocument/2006/relationships/tags" Target="../tags/tag182.xml"/><Relationship Id="rId7" Type="http://schemas.openxmlformats.org/officeDocument/2006/relationships/tags" Target="../tags/tag186.xml"/><Relationship Id="rId2" Type="http://schemas.openxmlformats.org/officeDocument/2006/relationships/tags" Target="../tags/tag181.xml"/><Relationship Id="rId1" Type="http://schemas.openxmlformats.org/officeDocument/2006/relationships/tags" Target="../tags/tag180.xml"/><Relationship Id="rId6" Type="http://schemas.openxmlformats.org/officeDocument/2006/relationships/tags" Target="../tags/tag185.xml"/><Relationship Id="rId5" Type="http://schemas.openxmlformats.org/officeDocument/2006/relationships/tags" Target="../tags/tag184.xml"/><Relationship Id="rId10" Type="http://schemas.openxmlformats.org/officeDocument/2006/relationships/notesSlide" Target="../notesSlides/notesSlide22.xml"/><Relationship Id="rId4" Type="http://schemas.openxmlformats.org/officeDocument/2006/relationships/tags" Target="../tags/tag183.xml"/><Relationship Id="rId9"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tags" Target="../tags/tag190.xml"/><Relationship Id="rId2" Type="http://schemas.openxmlformats.org/officeDocument/2006/relationships/tags" Target="../tags/tag189.xml"/><Relationship Id="rId1" Type="http://schemas.openxmlformats.org/officeDocument/2006/relationships/tags" Target="../tags/tag188.xml"/><Relationship Id="rId6" Type="http://schemas.openxmlformats.org/officeDocument/2006/relationships/notesSlide" Target="../notesSlides/notesSlide23.xml"/><Relationship Id="rId5" Type="http://schemas.openxmlformats.org/officeDocument/2006/relationships/slideLayout" Target="../slideLayouts/slideLayout2.xml"/><Relationship Id="rId4" Type="http://schemas.openxmlformats.org/officeDocument/2006/relationships/tags" Target="../tags/tag191.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3.xml"/><Relationship Id="rId1" Type="http://schemas.openxmlformats.org/officeDocument/2006/relationships/tags" Target="../tags/tag192.xml"/><Relationship Id="rId4" Type="http://schemas.openxmlformats.org/officeDocument/2006/relationships/notesSlide" Target="../notesSlides/notesSlide29.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5.xml"/><Relationship Id="rId1" Type="http://schemas.openxmlformats.org/officeDocument/2006/relationships/tags" Target="../tags/tag194.xml"/><Relationship Id="rId4" Type="http://schemas.openxmlformats.org/officeDocument/2006/relationships/notesSlide" Target="../notesSlides/notesSlide30.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7.xml"/><Relationship Id="rId1" Type="http://schemas.openxmlformats.org/officeDocument/2006/relationships/tags" Target="../tags/tag196.xml"/><Relationship Id="rId4" Type="http://schemas.openxmlformats.org/officeDocument/2006/relationships/notesSlide" Target="../notesSlides/notesSlide3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98.xml"/></Relationships>
</file>

<file path=ppt/slides/_rels/slide4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8" Type="http://schemas.openxmlformats.org/officeDocument/2006/relationships/tags" Target="../tags/tag206.xml"/><Relationship Id="rId13" Type="http://schemas.openxmlformats.org/officeDocument/2006/relationships/tags" Target="../tags/tag211.xml"/><Relationship Id="rId18" Type="http://schemas.openxmlformats.org/officeDocument/2006/relationships/tags" Target="../tags/tag216.xml"/><Relationship Id="rId3" Type="http://schemas.openxmlformats.org/officeDocument/2006/relationships/tags" Target="../tags/tag201.xml"/><Relationship Id="rId21" Type="http://schemas.openxmlformats.org/officeDocument/2006/relationships/slideLayout" Target="../slideLayouts/slideLayout2.xml"/><Relationship Id="rId7" Type="http://schemas.openxmlformats.org/officeDocument/2006/relationships/tags" Target="../tags/tag205.xml"/><Relationship Id="rId12" Type="http://schemas.openxmlformats.org/officeDocument/2006/relationships/tags" Target="../tags/tag210.xml"/><Relationship Id="rId17" Type="http://schemas.openxmlformats.org/officeDocument/2006/relationships/tags" Target="../tags/tag215.xml"/><Relationship Id="rId2" Type="http://schemas.openxmlformats.org/officeDocument/2006/relationships/tags" Target="../tags/tag200.xml"/><Relationship Id="rId16" Type="http://schemas.openxmlformats.org/officeDocument/2006/relationships/tags" Target="../tags/tag214.xml"/><Relationship Id="rId20" Type="http://schemas.openxmlformats.org/officeDocument/2006/relationships/tags" Target="../tags/tag218.xml"/><Relationship Id="rId1" Type="http://schemas.openxmlformats.org/officeDocument/2006/relationships/tags" Target="../tags/tag199.xml"/><Relationship Id="rId6" Type="http://schemas.openxmlformats.org/officeDocument/2006/relationships/tags" Target="../tags/tag204.xml"/><Relationship Id="rId11" Type="http://schemas.openxmlformats.org/officeDocument/2006/relationships/tags" Target="../tags/tag209.xml"/><Relationship Id="rId5" Type="http://schemas.openxmlformats.org/officeDocument/2006/relationships/tags" Target="../tags/tag203.xml"/><Relationship Id="rId15" Type="http://schemas.openxmlformats.org/officeDocument/2006/relationships/tags" Target="../tags/tag213.xml"/><Relationship Id="rId10" Type="http://schemas.openxmlformats.org/officeDocument/2006/relationships/tags" Target="../tags/tag208.xml"/><Relationship Id="rId19" Type="http://schemas.openxmlformats.org/officeDocument/2006/relationships/tags" Target="../tags/tag217.xml"/><Relationship Id="rId4" Type="http://schemas.openxmlformats.org/officeDocument/2006/relationships/tags" Target="../tags/tag202.xml"/><Relationship Id="rId9" Type="http://schemas.openxmlformats.org/officeDocument/2006/relationships/tags" Target="../tags/tag207.xml"/><Relationship Id="rId14" Type="http://schemas.openxmlformats.org/officeDocument/2006/relationships/tags" Target="../tags/tag212.xml"/><Relationship Id="rId22" Type="http://schemas.openxmlformats.org/officeDocument/2006/relationships/notesSlide" Target="../notesSlides/notesSlide36.xml"/></Relationships>
</file>

<file path=ppt/slides/_rels/slide5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8" Type="http://schemas.openxmlformats.org/officeDocument/2006/relationships/tags" Target="../tags/tag226.xml"/><Relationship Id="rId13" Type="http://schemas.openxmlformats.org/officeDocument/2006/relationships/tags" Target="../tags/tag231.xml"/><Relationship Id="rId3" Type="http://schemas.openxmlformats.org/officeDocument/2006/relationships/tags" Target="../tags/tag221.xml"/><Relationship Id="rId7" Type="http://schemas.openxmlformats.org/officeDocument/2006/relationships/tags" Target="../tags/tag225.xml"/><Relationship Id="rId12" Type="http://schemas.openxmlformats.org/officeDocument/2006/relationships/tags" Target="../tags/tag230.xml"/><Relationship Id="rId2" Type="http://schemas.openxmlformats.org/officeDocument/2006/relationships/tags" Target="../tags/tag220.xml"/><Relationship Id="rId1" Type="http://schemas.openxmlformats.org/officeDocument/2006/relationships/tags" Target="../tags/tag219.xml"/><Relationship Id="rId6" Type="http://schemas.openxmlformats.org/officeDocument/2006/relationships/tags" Target="../tags/tag224.xml"/><Relationship Id="rId11" Type="http://schemas.openxmlformats.org/officeDocument/2006/relationships/tags" Target="../tags/tag229.xml"/><Relationship Id="rId5" Type="http://schemas.openxmlformats.org/officeDocument/2006/relationships/tags" Target="../tags/tag223.xml"/><Relationship Id="rId15" Type="http://schemas.openxmlformats.org/officeDocument/2006/relationships/notesSlide" Target="../notesSlides/notesSlide39.xml"/><Relationship Id="rId10" Type="http://schemas.openxmlformats.org/officeDocument/2006/relationships/tags" Target="../tags/tag228.xml"/><Relationship Id="rId4" Type="http://schemas.openxmlformats.org/officeDocument/2006/relationships/tags" Target="../tags/tag222.xml"/><Relationship Id="rId9" Type="http://schemas.openxmlformats.org/officeDocument/2006/relationships/tags" Target="../tags/tag227.xml"/><Relationship Id="rId14"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image" Target="../media/image22.wmf"/><Relationship Id="rId5" Type="http://schemas.openxmlformats.org/officeDocument/2006/relationships/oleObject" Target="../embeddings/oleObject3.bin"/><Relationship Id="rId4" Type="http://schemas.openxmlformats.org/officeDocument/2006/relationships/image" Target="../media/image21.wmf"/></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8" Type="http://schemas.openxmlformats.org/officeDocument/2006/relationships/image" Target="../media/image25.w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image24.wmf"/><Relationship Id="rId5" Type="http://schemas.openxmlformats.org/officeDocument/2006/relationships/oleObject" Target="../embeddings/oleObject6.bin"/><Relationship Id="rId4" Type="http://schemas.openxmlformats.org/officeDocument/2006/relationships/image" Target="../media/image21.wmf"/></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image" Target="../media/image28.wmf"/><Relationship Id="rId5" Type="http://schemas.openxmlformats.org/officeDocument/2006/relationships/oleObject" Target="../embeddings/oleObject9.bin"/><Relationship Id="rId4" Type="http://schemas.openxmlformats.org/officeDocument/2006/relationships/image" Target="../media/image27.wmf"/></Relationships>
</file>

<file path=ppt/slides/_rels/slide7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8" Type="http://schemas.openxmlformats.org/officeDocument/2006/relationships/tags" Target="../tags/tag239.xml"/><Relationship Id="rId13" Type="http://schemas.openxmlformats.org/officeDocument/2006/relationships/tags" Target="../tags/tag244.xml"/><Relationship Id="rId18" Type="http://schemas.openxmlformats.org/officeDocument/2006/relationships/notesSlide" Target="../notesSlides/notesSlide63.xml"/><Relationship Id="rId3" Type="http://schemas.openxmlformats.org/officeDocument/2006/relationships/tags" Target="../tags/tag234.xml"/><Relationship Id="rId7" Type="http://schemas.openxmlformats.org/officeDocument/2006/relationships/tags" Target="../tags/tag238.xml"/><Relationship Id="rId12" Type="http://schemas.openxmlformats.org/officeDocument/2006/relationships/tags" Target="../tags/tag243.xml"/><Relationship Id="rId17" Type="http://schemas.openxmlformats.org/officeDocument/2006/relationships/slideLayout" Target="../slideLayouts/slideLayout2.xml"/><Relationship Id="rId2" Type="http://schemas.openxmlformats.org/officeDocument/2006/relationships/tags" Target="../tags/tag233.xml"/><Relationship Id="rId16" Type="http://schemas.openxmlformats.org/officeDocument/2006/relationships/tags" Target="../tags/tag247.xml"/><Relationship Id="rId1" Type="http://schemas.openxmlformats.org/officeDocument/2006/relationships/tags" Target="../tags/tag232.xml"/><Relationship Id="rId6" Type="http://schemas.openxmlformats.org/officeDocument/2006/relationships/tags" Target="../tags/tag237.xml"/><Relationship Id="rId11" Type="http://schemas.openxmlformats.org/officeDocument/2006/relationships/tags" Target="../tags/tag242.xml"/><Relationship Id="rId5" Type="http://schemas.openxmlformats.org/officeDocument/2006/relationships/tags" Target="../tags/tag236.xml"/><Relationship Id="rId15" Type="http://schemas.openxmlformats.org/officeDocument/2006/relationships/tags" Target="../tags/tag246.xml"/><Relationship Id="rId10" Type="http://schemas.openxmlformats.org/officeDocument/2006/relationships/tags" Target="../tags/tag241.xml"/><Relationship Id="rId4" Type="http://schemas.openxmlformats.org/officeDocument/2006/relationships/tags" Target="../tags/tag235.xml"/><Relationship Id="rId9" Type="http://schemas.openxmlformats.org/officeDocument/2006/relationships/tags" Target="../tags/tag240.xml"/><Relationship Id="rId14" Type="http://schemas.openxmlformats.org/officeDocument/2006/relationships/tags" Target="../tags/tag245.xml"/></Relationships>
</file>

<file path=ppt/slides/_rels/slide7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4.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78.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65.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7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8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8" Type="http://schemas.openxmlformats.org/officeDocument/2006/relationships/oleObject" Target="../embeddings/oleObject12.bin"/><Relationship Id="rId3" Type="http://schemas.openxmlformats.org/officeDocument/2006/relationships/image" Target="../media/image38.png"/><Relationship Id="rId7" Type="http://schemas.openxmlformats.org/officeDocument/2006/relationships/image" Target="../media/image41.wmf"/><Relationship Id="rId2" Type="http://schemas.openxmlformats.org/officeDocument/2006/relationships/notesSlide" Target="../notesSlides/notesSlide74.xml"/><Relationship Id="rId1" Type="http://schemas.openxmlformats.org/officeDocument/2006/relationships/slideLayout" Target="../slideLayouts/slideLayout2.xml"/><Relationship Id="rId6" Type="http://schemas.openxmlformats.org/officeDocument/2006/relationships/oleObject" Target="../embeddings/oleObject11.bin"/><Relationship Id="rId5" Type="http://schemas.openxmlformats.org/officeDocument/2006/relationships/image" Target="../media/image40.wmf"/><Relationship Id="rId4" Type="http://schemas.openxmlformats.org/officeDocument/2006/relationships/oleObject" Target="../embeddings/oleObject10.bin"/><Relationship Id="rId9" Type="http://schemas.openxmlformats.org/officeDocument/2006/relationships/image" Target="../media/image42.wmf"/></Relationships>
</file>

<file path=ppt/slides/_rels/slide8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48.xml"/></Relationships>
</file>

<file path=ppt/slides/_rels/slide96.xml.rels><?xml version="1.0" encoding="UTF-8" standalone="yes"?>
<Relationships xmlns="http://schemas.openxmlformats.org/package/2006/relationships"><Relationship Id="rId8" Type="http://schemas.openxmlformats.org/officeDocument/2006/relationships/tags" Target="../tags/tag256.xml"/><Relationship Id="rId13" Type="http://schemas.openxmlformats.org/officeDocument/2006/relationships/tags" Target="../tags/tag261.xml"/><Relationship Id="rId18" Type="http://schemas.openxmlformats.org/officeDocument/2006/relationships/tags" Target="../tags/tag266.xml"/><Relationship Id="rId3" Type="http://schemas.openxmlformats.org/officeDocument/2006/relationships/tags" Target="../tags/tag251.xml"/><Relationship Id="rId7" Type="http://schemas.openxmlformats.org/officeDocument/2006/relationships/tags" Target="../tags/tag255.xml"/><Relationship Id="rId12" Type="http://schemas.openxmlformats.org/officeDocument/2006/relationships/tags" Target="../tags/tag260.xml"/><Relationship Id="rId17" Type="http://schemas.openxmlformats.org/officeDocument/2006/relationships/tags" Target="../tags/tag265.xml"/><Relationship Id="rId2" Type="http://schemas.openxmlformats.org/officeDocument/2006/relationships/tags" Target="../tags/tag250.xml"/><Relationship Id="rId16" Type="http://schemas.openxmlformats.org/officeDocument/2006/relationships/tags" Target="../tags/tag264.xml"/><Relationship Id="rId1" Type="http://schemas.openxmlformats.org/officeDocument/2006/relationships/tags" Target="../tags/tag249.xml"/><Relationship Id="rId6" Type="http://schemas.openxmlformats.org/officeDocument/2006/relationships/tags" Target="../tags/tag254.xml"/><Relationship Id="rId11" Type="http://schemas.openxmlformats.org/officeDocument/2006/relationships/tags" Target="../tags/tag259.xml"/><Relationship Id="rId5" Type="http://schemas.openxmlformats.org/officeDocument/2006/relationships/tags" Target="../tags/tag253.xml"/><Relationship Id="rId15" Type="http://schemas.openxmlformats.org/officeDocument/2006/relationships/tags" Target="../tags/tag263.xml"/><Relationship Id="rId10" Type="http://schemas.openxmlformats.org/officeDocument/2006/relationships/tags" Target="../tags/tag258.xml"/><Relationship Id="rId19" Type="http://schemas.openxmlformats.org/officeDocument/2006/relationships/slideLayout" Target="../slideLayouts/slideLayout2.xml"/><Relationship Id="rId4" Type="http://schemas.openxmlformats.org/officeDocument/2006/relationships/tags" Target="../tags/tag252.xml"/><Relationship Id="rId9" Type="http://schemas.openxmlformats.org/officeDocument/2006/relationships/tags" Target="../tags/tag257.xml"/><Relationship Id="rId14" Type="http://schemas.openxmlformats.org/officeDocument/2006/relationships/tags" Target="../tags/tag262.xml"/></Relationships>
</file>

<file path=ppt/slides/_rels/slide97.xml.rels><?xml version="1.0" encoding="UTF-8" standalone="yes"?>
<Relationships xmlns="http://schemas.openxmlformats.org/package/2006/relationships"><Relationship Id="rId8" Type="http://schemas.openxmlformats.org/officeDocument/2006/relationships/tags" Target="../tags/tag274.xml"/><Relationship Id="rId13" Type="http://schemas.openxmlformats.org/officeDocument/2006/relationships/tags" Target="../tags/tag279.xml"/><Relationship Id="rId18" Type="http://schemas.openxmlformats.org/officeDocument/2006/relationships/tags" Target="../tags/tag284.xml"/><Relationship Id="rId26" Type="http://schemas.openxmlformats.org/officeDocument/2006/relationships/slideLayout" Target="../slideLayouts/slideLayout2.xml"/><Relationship Id="rId3" Type="http://schemas.openxmlformats.org/officeDocument/2006/relationships/tags" Target="../tags/tag269.xml"/><Relationship Id="rId21" Type="http://schemas.openxmlformats.org/officeDocument/2006/relationships/tags" Target="../tags/tag287.xml"/><Relationship Id="rId7" Type="http://schemas.openxmlformats.org/officeDocument/2006/relationships/tags" Target="../tags/tag273.xml"/><Relationship Id="rId12" Type="http://schemas.openxmlformats.org/officeDocument/2006/relationships/tags" Target="../tags/tag278.xml"/><Relationship Id="rId17" Type="http://schemas.openxmlformats.org/officeDocument/2006/relationships/tags" Target="../tags/tag283.xml"/><Relationship Id="rId25" Type="http://schemas.openxmlformats.org/officeDocument/2006/relationships/tags" Target="../tags/tag291.xml"/><Relationship Id="rId2" Type="http://schemas.openxmlformats.org/officeDocument/2006/relationships/tags" Target="../tags/tag268.xml"/><Relationship Id="rId16" Type="http://schemas.openxmlformats.org/officeDocument/2006/relationships/tags" Target="../tags/tag282.xml"/><Relationship Id="rId20" Type="http://schemas.openxmlformats.org/officeDocument/2006/relationships/tags" Target="../tags/tag286.xml"/><Relationship Id="rId1" Type="http://schemas.openxmlformats.org/officeDocument/2006/relationships/tags" Target="../tags/tag267.xml"/><Relationship Id="rId6" Type="http://schemas.openxmlformats.org/officeDocument/2006/relationships/tags" Target="../tags/tag272.xml"/><Relationship Id="rId11" Type="http://schemas.openxmlformats.org/officeDocument/2006/relationships/tags" Target="../tags/tag277.xml"/><Relationship Id="rId24" Type="http://schemas.openxmlformats.org/officeDocument/2006/relationships/tags" Target="../tags/tag290.xml"/><Relationship Id="rId5" Type="http://schemas.openxmlformats.org/officeDocument/2006/relationships/tags" Target="../tags/tag271.xml"/><Relationship Id="rId15" Type="http://schemas.openxmlformats.org/officeDocument/2006/relationships/tags" Target="../tags/tag281.xml"/><Relationship Id="rId23" Type="http://schemas.openxmlformats.org/officeDocument/2006/relationships/tags" Target="../tags/tag289.xml"/><Relationship Id="rId10" Type="http://schemas.openxmlformats.org/officeDocument/2006/relationships/tags" Target="../tags/tag276.xml"/><Relationship Id="rId19" Type="http://schemas.openxmlformats.org/officeDocument/2006/relationships/tags" Target="../tags/tag285.xml"/><Relationship Id="rId4" Type="http://schemas.openxmlformats.org/officeDocument/2006/relationships/tags" Target="../tags/tag270.xml"/><Relationship Id="rId9" Type="http://schemas.openxmlformats.org/officeDocument/2006/relationships/tags" Target="../tags/tag275.xml"/><Relationship Id="rId14" Type="http://schemas.openxmlformats.org/officeDocument/2006/relationships/tags" Target="../tags/tag280.xml"/><Relationship Id="rId22" Type="http://schemas.openxmlformats.org/officeDocument/2006/relationships/tags" Target="../tags/tag288.xml"/><Relationship Id="rId27" Type="http://schemas.openxmlformats.org/officeDocument/2006/relationships/notesSlide" Target="../notesSlides/notesSlide82.xml"/></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9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8" Type="http://schemas.openxmlformats.org/officeDocument/2006/relationships/tags" Target="../tags/tag300.xml"/><Relationship Id="rId13" Type="http://schemas.openxmlformats.org/officeDocument/2006/relationships/tags" Target="../tags/tag305.xml"/><Relationship Id="rId18" Type="http://schemas.openxmlformats.org/officeDocument/2006/relationships/tags" Target="../tags/tag310.xml"/><Relationship Id="rId3" Type="http://schemas.openxmlformats.org/officeDocument/2006/relationships/tags" Target="../tags/tag295.xml"/><Relationship Id="rId21" Type="http://schemas.openxmlformats.org/officeDocument/2006/relationships/slideLayout" Target="../slideLayouts/slideLayout2.xml"/><Relationship Id="rId7" Type="http://schemas.openxmlformats.org/officeDocument/2006/relationships/tags" Target="../tags/tag299.xml"/><Relationship Id="rId12" Type="http://schemas.openxmlformats.org/officeDocument/2006/relationships/tags" Target="../tags/tag304.xml"/><Relationship Id="rId17" Type="http://schemas.openxmlformats.org/officeDocument/2006/relationships/tags" Target="../tags/tag309.xml"/><Relationship Id="rId2" Type="http://schemas.openxmlformats.org/officeDocument/2006/relationships/tags" Target="../tags/tag294.xml"/><Relationship Id="rId16" Type="http://schemas.openxmlformats.org/officeDocument/2006/relationships/tags" Target="../tags/tag308.xml"/><Relationship Id="rId20" Type="http://schemas.openxmlformats.org/officeDocument/2006/relationships/tags" Target="../tags/tag312.xml"/><Relationship Id="rId1" Type="http://schemas.openxmlformats.org/officeDocument/2006/relationships/tags" Target="../tags/tag293.xml"/><Relationship Id="rId6" Type="http://schemas.openxmlformats.org/officeDocument/2006/relationships/tags" Target="../tags/tag298.xml"/><Relationship Id="rId11" Type="http://schemas.openxmlformats.org/officeDocument/2006/relationships/tags" Target="../tags/tag303.xml"/><Relationship Id="rId5" Type="http://schemas.openxmlformats.org/officeDocument/2006/relationships/tags" Target="../tags/tag297.xml"/><Relationship Id="rId15" Type="http://schemas.openxmlformats.org/officeDocument/2006/relationships/tags" Target="../tags/tag307.xml"/><Relationship Id="rId10" Type="http://schemas.openxmlformats.org/officeDocument/2006/relationships/tags" Target="../tags/tag302.xml"/><Relationship Id="rId19" Type="http://schemas.openxmlformats.org/officeDocument/2006/relationships/tags" Target="../tags/tag311.xml"/><Relationship Id="rId4" Type="http://schemas.openxmlformats.org/officeDocument/2006/relationships/tags" Target="../tags/tag296.xml"/><Relationship Id="rId9" Type="http://schemas.openxmlformats.org/officeDocument/2006/relationships/tags" Target="../tags/tag301.xml"/><Relationship Id="rId14" Type="http://schemas.openxmlformats.org/officeDocument/2006/relationships/tags" Target="../tags/tag306.xml"/><Relationship Id="rId22" Type="http://schemas.openxmlformats.org/officeDocument/2006/relationships/notesSlide" Target="../notesSlides/notesSlide85.xml"/></Relationships>
</file>

<file path=ppt/slides/_rels/slide105.xml.rels><?xml version="1.0" encoding="UTF-8" standalone="yes"?>
<Relationships xmlns="http://schemas.openxmlformats.org/package/2006/relationships"><Relationship Id="rId8" Type="http://schemas.openxmlformats.org/officeDocument/2006/relationships/notesSlide" Target="../notesSlides/notesSlide86.xml"/><Relationship Id="rId3" Type="http://schemas.openxmlformats.org/officeDocument/2006/relationships/tags" Target="../tags/tag315.xml"/><Relationship Id="rId7" Type="http://schemas.openxmlformats.org/officeDocument/2006/relationships/slideLayout" Target="../slideLayouts/slideLayout2.xml"/><Relationship Id="rId2" Type="http://schemas.openxmlformats.org/officeDocument/2006/relationships/tags" Target="../tags/tag314.xml"/><Relationship Id="rId1" Type="http://schemas.openxmlformats.org/officeDocument/2006/relationships/tags" Target="../tags/tag313.xml"/><Relationship Id="rId6" Type="http://schemas.openxmlformats.org/officeDocument/2006/relationships/tags" Target="../tags/tag318.xml"/><Relationship Id="rId5" Type="http://schemas.openxmlformats.org/officeDocument/2006/relationships/tags" Target="../tags/tag317.xml"/><Relationship Id="rId4" Type="http://schemas.openxmlformats.org/officeDocument/2006/relationships/tags" Target="../tags/tag316.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19.xml"/></Relationships>
</file>

<file path=ppt/slides/_rels/slide10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8" Type="http://schemas.openxmlformats.org/officeDocument/2006/relationships/tags" Target="../tags/tag327.xml"/><Relationship Id="rId13" Type="http://schemas.openxmlformats.org/officeDocument/2006/relationships/tags" Target="../tags/tag332.xml"/><Relationship Id="rId18" Type="http://schemas.openxmlformats.org/officeDocument/2006/relationships/tags" Target="../tags/tag337.xml"/><Relationship Id="rId3" Type="http://schemas.openxmlformats.org/officeDocument/2006/relationships/tags" Target="../tags/tag322.xml"/><Relationship Id="rId21" Type="http://schemas.openxmlformats.org/officeDocument/2006/relationships/slideLayout" Target="../slideLayouts/slideLayout2.xml"/><Relationship Id="rId7" Type="http://schemas.openxmlformats.org/officeDocument/2006/relationships/tags" Target="../tags/tag326.xml"/><Relationship Id="rId12" Type="http://schemas.openxmlformats.org/officeDocument/2006/relationships/tags" Target="../tags/tag331.xml"/><Relationship Id="rId17" Type="http://schemas.openxmlformats.org/officeDocument/2006/relationships/tags" Target="../tags/tag336.xml"/><Relationship Id="rId2" Type="http://schemas.openxmlformats.org/officeDocument/2006/relationships/tags" Target="../tags/tag321.xml"/><Relationship Id="rId16" Type="http://schemas.openxmlformats.org/officeDocument/2006/relationships/tags" Target="../tags/tag335.xml"/><Relationship Id="rId20" Type="http://schemas.openxmlformats.org/officeDocument/2006/relationships/tags" Target="../tags/tag339.xml"/><Relationship Id="rId1" Type="http://schemas.openxmlformats.org/officeDocument/2006/relationships/tags" Target="../tags/tag320.xml"/><Relationship Id="rId6" Type="http://schemas.openxmlformats.org/officeDocument/2006/relationships/tags" Target="../tags/tag325.xml"/><Relationship Id="rId11" Type="http://schemas.openxmlformats.org/officeDocument/2006/relationships/tags" Target="../tags/tag330.xml"/><Relationship Id="rId5" Type="http://schemas.openxmlformats.org/officeDocument/2006/relationships/tags" Target="../tags/tag324.xml"/><Relationship Id="rId15" Type="http://schemas.openxmlformats.org/officeDocument/2006/relationships/tags" Target="../tags/tag334.xml"/><Relationship Id="rId10" Type="http://schemas.openxmlformats.org/officeDocument/2006/relationships/tags" Target="../tags/tag329.xml"/><Relationship Id="rId19" Type="http://schemas.openxmlformats.org/officeDocument/2006/relationships/tags" Target="../tags/tag338.xml"/><Relationship Id="rId4" Type="http://schemas.openxmlformats.org/officeDocument/2006/relationships/tags" Target="../tags/tag323.xml"/><Relationship Id="rId9" Type="http://schemas.openxmlformats.org/officeDocument/2006/relationships/tags" Target="../tags/tag328.xml"/><Relationship Id="rId14" Type="http://schemas.openxmlformats.org/officeDocument/2006/relationships/tags" Target="../tags/tag333.xml"/><Relationship Id="rId22" Type="http://schemas.openxmlformats.org/officeDocument/2006/relationships/notesSlide" Target="../notesSlides/notesSlide89.xml"/></Relationships>
</file>

<file path=ppt/slides/_rels/slide110.xml.rels><?xml version="1.0" encoding="UTF-8" standalone="yes"?>
<Relationships xmlns="http://schemas.openxmlformats.org/package/2006/relationships"><Relationship Id="rId8" Type="http://schemas.openxmlformats.org/officeDocument/2006/relationships/tags" Target="../tags/tag347.xml"/><Relationship Id="rId13" Type="http://schemas.openxmlformats.org/officeDocument/2006/relationships/notesSlide" Target="../notesSlides/notesSlide90.xml"/><Relationship Id="rId3" Type="http://schemas.openxmlformats.org/officeDocument/2006/relationships/tags" Target="../tags/tag342.xml"/><Relationship Id="rId7" Type="http://schemas.openxmlformats.org/officeDocument/2006/relationships/tags" Target="../tags/tag346.xml"/><Relationship Id="rId12" Type="http://schemas.openxmlformats.org/officeDocument/2006/relationships/slideLayout" Target="../slideLayouts/slideLayout2.xml"/><Relationship Id="rId2" Type="http://schemas.openxmlformats.org/officeDocument/2006/relationships/tags" Target="../tags/tag341.xml"/><Relationship Id="rId1" Type="http://schemas.openxmlformats.org/officeDocument/2006/relationships/tags" Target="../tags/tag340.xml"/><Relationship Id="rId6" Type="http://schemas.openxmlformats.org/officeDocument/2006/relationships/tags" Target="../tags/tag345.xml"/><Relationship Id="rId11" Type="http://schemas.openxmlformats.org/officeDocument/2006/relationships/tags" Target="../tags/tag350.xml"/><Relationship Id="rId5" Type="http://schemas.openxmlformats.org/officeDocument/2006/relationships/tags" Target="../tags/tag344.xml"/><Relationship Id="rId10" Type="http://schemas.openxmlformats.org/officeDocument/2006/relationships/tags" Target="../tags/tag349.xml"/><Relationship Id="rId4" Type="http://schemas.openxmlformats.org/officeDocument/2006/relationships/tags" Target="../tags/tag343.xml"/><Relationship Id="rId9" Type="http://schemas.openxmlformats.org/officeDocument/2006/relationships/tags" Target="../tags/tag348.xml"/></Relationships>
</file>

<file path=ppt/slides/_rels/slide111.xml.rels><?xml version="1.0" encoding="UTF-8" standalone="yes"?>
<Relationships xmlns="http://schemas.openxmlformats.org/package/2006/relationships"><Relationship Id="rId8" Type="http://schemas.openxmlformats.org/officeDocument/2006/relationships/tags" Target="../tags/tag358.xml"/><Relationship Id="rId13" Type="http://schemas.openxmlformats.org/officeDocument/2006/relationships/tags" Target="../tags/tag363.xml"/><Relationship Id="rId3" Type="http://schemas.openxmlformats.org/officeDocument/2006/relationships/tags" Target="../tags/tag353.xml"/><Relationship Id="rId7" Type="http://schemas.openxmlformats.org/officeDocument/2006/relationships/tags" Target="../tags/tag357.xml"/><Relationship Id="rId12" Type="http://schemas.openxmlformats.org/officeDocument/2006/relationships/tags" Target="../tags/tag362.xml"/><Relationship Id="rId17" Type="http://schemas.openxmlformats.org/officeDocument/2006/relationships/notesSlide" Target="../notesSlides/notesSlide91.xml"/><Relationship Id="rId2" Type="http://schemas.openxmlformats.org/officeDocument/2006/relationships/tags" Target="../tags/tag352.xml"/><Relationship Id="rId16" Type="http://schemas.openxmlformats.org/officeDocument/2006/relationships/slideLayout" Target="../slideLayouts/slideLayout2.xml"/><Relationship Id="rId1" Type="http://schemas.openxmlformats.org/officeDocument/2006/relationships/tags" Target="../tags/tag351.xml"/><Relationship Id="rId6" Type="http://schemas.openxmlformats.org/officeDocument/2006/relationships/tags" Target="../tags/tag356.xml"/><Relationship Id="rId11" Type="http://schemas.openxmlformats.org/officeDocument/2006/relationships/tags" Target="../tags/tag361.xml"/><Relationship Id="rId5" Type="http://schemas.openxmlformats.org/officeDocument/2006/relationships/tags" Target="../tags/tag355.xml"/><Relationship Id="rId15" Type="http://schemas.openxmlformats.org/officeDocument/2006/relationships/tags" Target="../tags/tag365.xml"/><Relationship Id="rId10" Type="http://schemas.openxmlformats.org/officeDocument/2006/relationships/tags" Target="../tags/tag360.xml"/><Relationship Id="rId4" Type="http://schemas.openxmlformats.org/officeDocument/2006/relationships/tags" Target="../tags/tag354.xml"/><Relationship Id="rId9" Type="http://schemas.openxmlformats.org/officeDocument/2006/relationships/tags" Target="../tags/tag359.xml"/><Relationship Id="rId14" Type="http://schemas.openxmlformats.org/officeDocument/2006/relationships/tags" Target="../tags/tag364.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MH_Picture_1"/>
          <p:cNvSpPr/>
          <p:nvPr>
            <p:custDataLst>
              <p:tags r:id="rId2"/>
            </p:custDataLst>
          </p:nvPr>
        </p:nvSpPr>
        <p:spPr>
          <a:xfrm>
            <a:off x="2397843" y="1061577"/>
            <a:ext cx="9794157" cy="4218037"/>
          </a:xfrm>
          <a:custGeom>
            <a:avLst/>
            <a:gdLst>
              <a:gd name="connsiteX0" fmla="*/ 0 w 7345618"/>
              <a:gd name="connsiteY0" fmla="*/ 0 h 4218037"/>
              <a:gd name="connsiteX1" fmla="*/ 7345618 w 7345618"/>
              <a:gd name="connsiteY1" fmla="*/ 0 h 4218037"/>
              <a:gd name="connsiteX2" fmla="*/ 7345618 w 7345618"/>
              <a:gd name="connsiteY2" fmla="*/ 4218037 h 4218037"/>
              <a:gd name="connsiteX3" fmla="*/ 2604652 w 7345618"/>
              <a:gd name="connsiteY3" fmla="*/ 4218037 h 4218037"/>
            </a:gdLst>
            <a:ahLst/>
            <a:cxnLst>
              <a:cxn ang="0">
                <a:pos x="connsiteX0" y="connsiteY0"/>
              </a:cxn>
              <a:cxn ang="0">
                <a:pos x="connsiteX1" y="connsiteY1"/>
              </a:cxn>
              <a:cxn ang="0">
                <a:pos x="connsiteX2" y="connsiteY2"/>
              </a:cxn>
              <a:cxn ang="0">
                <a:pos x="connsiteX3" y="connsiteY3"/>
              </a:cxn>
            </a:cxnLst>
            <a:rect l="l" t="t" r="r" b="b"/>
            <a:pathLst>
              <a:path w="7345618" h="4218037">
                <a:moveTo>
                  <a:pt x="0" y="0"/>
                </a:moveTo>
                <a:lnTo>
                  <a:pt x="7345618" y="0"/>
                </a:lnTo>
                <a:lnTo>
                  <a:pt x="7345618" y="4218037"/>
                </a:lnTo>
                <a:lnTo>
                  <a:pt x="2604652" y="4218037"/>
                </a:lnTo>
                <a:close/>
              </a:path>
            </a:pathLst>
          </a:custGeom>
          <a:blipFill dpi="0" rotWithShape="1">
            <a:blip r:embed="rId7" cstate="print">
              <a:alphaModFix amt="80000"/>
            </a:blip>
            <a:srcRect/>
            <a:stretch>
              <a:fillRect t="-3066" b="-2835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a typeface="微软雅黑 Light" panose="020B0502040204020203" pitchFamily="34" charset="-122"/>
            </a:endParaRPr>
          </a:p>
        </p:txBody>
      </p:sp>
      <p:sp>
        <p:nvSpPr>
          <p:cNvPr id="24" name="MH_Text_1"/>
          <p:cNvSpPr/>
          <p:nvPr>
            <p:custDataLst>
              <p:tags r:id="rId3"/>
            </p:custDataLst>
          </p:nvPr>
        </p:nvSpPr>
        <p:spPr>
          <a:xfrm>
            <a:off x="4643" y="1060521"/>
            <a:ext cx="5308601" cy="4234460"/>
          </a:xfrm>
          <a:custGeom>
            <a:avLst/>
            <a:gdLst>
              <a:gd name="connsiteX0" fmla="*/ 0 w 3905250"/>
              <a:gd name="connsiteY0" fmla="*/ 0 h 4204068"/>
              <a:gd name="connsiteX1" fmla="*/ 1314884 w 3905250"/>
              <a:gd name="connsiteY1" fmla="*/ 0 h 4204068"/>
              <a:gd name="connsiteX2" fmla="*/ 3905250 w 3905250"/>
              <a:gd name="connsiteY2" fmla="*/ 4204068 h 4204068"/>
              <a:gd name="connsiteX3" fmla="*/ 0 w 3905250"/>
              <a:gd name="connsiteY3" fmla="*/ 4204068 h 4204068"/>
            </a:gdLst>
            <a:ahLst/>
            <a:cxnLst>
              <a:cxn ang="0">
                <a:pos x="connsiteX0" y="connsiteY0"/>
              </a:cxn>
              <a:cxn ang="0">
                <a:pos x="connsiteX1" y="connsiteY1"/>
              </a:cxn>
              <a:cxn ang="0">
                <a:pos x="connsiteX2" y="connsiteY2"/>
              </a:cxn>
              <a:cxn ang="0">
                <a:pos x="connsiteX3" y="connsiteY3"/>
              </a:cxn>
            </a:cxnLst>
            <a:rect l="l" t="t" r="r" b="b"/>
            <a:pathLst>
              <a:path w="3905250" h="4204068">
                <a:moveTo>
                  <a:pt x="0" y="0"/>
                </a:moveTo>
                <a:lnTo>
                  <a:pt x="1314884" y="0"/>
                </a:lnTo>
                <a:lnTo>
                  <a:pt x="3905250" y="4204068"/>
                </a:lnTo>
                <a:lnTo>
                  <a:pt x="0" y="4204068"/>
                </a:lnTo>
                <a:close/>
              </a:path>
            </a:pathLst>
          </a:custGeom>
          <a:solidFill>
            <a:srgbClr val="0080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0000" tIns="0" rIns="0" bIns="144000" rtlCol="0" anchor="b" anchorCtr="0">
            <a:normAutofit/>
          </a:bodyPr>
          <a:lstStyle/>
          <a:p>
            <a:pPr>
              <a:lnSpc>
                <a:spcPct val="120000"/>
              </a:lnSpc>
            </a:pPr>
            <a:endParaRPr lang="en-US" altLang="zh-CN" sz="2000" dirty="0">
              <a:solidFill>
                <a:srgbClr val="292929"/>
              </a:solidFill>
              <a:latin typeface="Times New Roman" panose="02020603050405020304" pitchFamily="18" charset="0"/>
              <a:ea typeface="微软雅黑 Light" panose="020B0502040204020203" pitchFamily="34" charset="-122"/>
            </a:endParaRPr>
          </a:p>
        </p:txBody>
      </p:sp>
      <p:cxnSp>
        <p:nvCxnSpPr>
          <p:cNvPr id="9" name="MH_Other_2"/>
          <p:cNvCxnSpPr/>
          <p:nvPr>
            <p:custDataLst>
              <p:tags r:id="rId4"/>
            </p:custDataLst>
          </p:nvPr>
        </p:nvCxnSpPr>
        <p:spPr>
          <a:xfrm>
            <a:off x="1200897" y="0"/>
            <a:ext cx="5683044" cy="685800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2" name="MH_Other_3"/>
          <p:cNvSpPr/>
          <p:nvPr>
            <p:custDataLst>
              <p:tags r:id="rId5"/>
            </p:custDataLst>
          </p:nvPr>
        </p:nvSpPr>
        <p:spPr>
          <a:xfrm>
            <a:off x="5404987" y="4717307"/>
            <a:ext cx="6787015" cy="385547"/>
          </a:xfrm>
          <a:custGeom>
            <a:avLst/>
            <a:gdLst>
              <a:gd name="connsiteX0" fmla="*/ 0 w 5090261"/>
              <a:gd name="connsiteY0" fmla="*/ 0 h 385547"/>
              <a:gd name="connsiteX1" fmla="*/ 5090261 w 5090261"/>
              <a:gd name="connsiteY1" fmla="*/ 0 h 385547"/>
              <a:gd name="connsiteX2" fmla="*/ 5090261 w 5090261"/>
              <a:gd name="connsiteY2" fmla="*/ 385547 h 385547"/>
              <a:gd name="connsiteX3" fmla="*/ 240311 w 5090261"/>
              <a:gd name="connsiteY3" fmla="*/ 385547 h 385547"/>
            </a:gdLst>
            <a:ahLst/>
            <a:cxnLst>
              <a:cxn ang="0">
                <a:pos x="connsiteX0" y="connsiteY0"/>
              </a:cxn>
              <a:cxn ang="0">
                <a:pos x="connsiteX1" y="connsiteY1"/>
              </a:cxn>
              <a:cxn ang="0">
                <a:pos x="connsiteX2" y="connsiteY2"/>
              </a:cxn>
              <a:cxn ang="0">
                <a:pos x="connsiteX3" y="connsiteY3"/>
              </a:cxn>
            </a:cxnLst>
            <a:rect l="l" t="t" r="r" b="b"/>
            <a:pathLst>
              <a:path w="5090261" h="385547">
                <a:moveTo>
                  <a:pt x="0" y="0"/>
                </a:moveTo>
                <a:lnTo>
                  <a:pt x="5090261" y="0"/>
                </a:lnTo>
                <a:lnTo>
                  <a:pt x="5090261" y="385547"/>
                </a:lnTo>
                <a:lnTo>
                  <a:pt x="240311" y="385547"/>
                </a:lnTo>
                <a:close/>
              </a:path>
            </a:pathLst>
          </a:custGeom>
          <a:solidFill>
            <a:srgbClr val="66CC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rIns="324000" rtlCol="0" anchor="ctr"/>
          <a:lstStyle/>
          <a:p>
            <a:pPr algn="r"/>
            <a:endParaRPr lang="zh-CN" altLang="en-US" dirty="0">
              <a:solidFill>
                <a:srgbClr val="292929"/>
              </a:solidFill>
              <a:latin typeface="Times New Roman" panose="02020603050405020304" pitchFamily="18" charset="0"/>
              <a:ea typeface="微软雅黑 Light" panose="020B0502040204020203" pitchFamily="34" charset="-122"/>
            </a:endParaRPr>
          </a:p>
        </p:txBody>
      </p:sp>
      <p:sp>
        <p:nvSpPr>
          <p:cNvPr id="10" name="TextBox 9"/>
          <p:cNvSpPr txBox="1"/>
          <p:nvPr/>
        </p:nvSpPr>
        <p:spPr>
          <a:xfrm>
            <a:off x="201928" y="2586439"/>
            <a:ext cx="3866607" cy="2616200"/>
          </a:xfrm>
          <a:prstGeom prst="rect">
            <a:avLst/>
          </a:prstGeom>
          <a:noFill/>
        </p:spPr>
        <p:txBody>
          <a:bodyPr wrap="square" rtlCol="0">
            <a:spAutoFit/>
          </a:bodyPr>
          <a:lstStyle/>
          <a:p>
            <a:r>
              <a:rPr lang="zh-CN" altLang="en-US" sz="8000" b="1" spc="50" dirty="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rPr>
              <a:t>软件</a:t>
            </a:r>
            <a:endParaRPr lang="en-US" altLang="zh-CN" sz="8000" b="1" spc="50" dirty="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endParaRPr>
          </a:p>
          <a:p>
            <a:pPr algn="r"/>
            <a:r>
              <a:rPr lang="zh-CN" altLang="en-US" sz="8000" b="1" spc="50" dirty="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rPr>
              <a:t>工程</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任意多边形 17"/>
          <p:cNvSpPr/>
          <p:nvPr>
            <p:custDataLst>
              <p:tags r:id="rId2"/>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dirty="0">
              <a:latin typeface="Times New Roman" panose="02020603050405020304" pitchFamily="18" charset="0"/>
              <a:ea typeface="微软雅黑 Light" panose="020B0502040204020203" pitchFamily="34" charset="-122"/>
            </a:endParaRPr>
          </a:p>
        </p:txBody>
      </p:sp>
      <p:sp>
        <p:nvSpPr>
          <p:cNvPr id="5123" name="Text Box 20"/>
          <p:cNvSpPr txBox="1">
            <a:spLocks noChangeArrowheads="1"/>
          </p:cNvSpPr>
          <p:nvPr>
            <p:custDataLst>
              <p:tags r:id="rId3"/>
            </p:custDataLst>
          </p:nvPr>
        </p:nvSpPr>
        <p:spPr bwMode="auto">
          <a:xfrm>
            <a:off x="1794269" y="1781267"/>
            <a:ext cx="2415116" cy="461665"/>
          </a:xfrm>
          <a:prstGeom prst="rect">
            <a:avLst/>
          </a:prstGeom>
          <a:noFill/>
          <a:ln w="9525">
            <a:noFill/>
            <a:miter lim="800000"/>
          </a:ln>
          <a:effectLst/>
        </p:spPr>
        <p:txBody>
          <a:bodyPr>
            <a:spAutoFit/>
          </a:bodyPr>
          <a:lstStyle/>
          <a:p>
            <a:pPr algn="dist" eaLnBrk="1" hangingPunct="1">
              <a:buFont typeface="Arial" panose="020B0604020202020204" pitchFamily="34" charset="0"/>
              <a:buNone/>
            </a:pPr>
            <a:r>
              <a:rPr lang="zh-CN" altLang="en-US" sz="2400" dirty="0">
                <a:solidFill>
                  <a:srgbClr val="FFFFFF"/>
                </a:solidFill>
                <a:latin typeface="+mj-lt"/>
                <a:ea typeface="+mj-ea"/>
              </a:rPr>
              <a:t>Contents</a:t>
            </a:r>
          </a:p>
        </p:txBody>
      </p:sp>
      <p:sp>
        <p:nvSpPr>
          <p:cNvPr id="5124" name="文本框 20"/>
          <p:cNvSpPr txBox="1">
            <a:spLocks noChangeArrowheads="1"/>
          </p:cNvSpPr>
          <p:nvPr>
            <p:custDataLst>
              <p:tags r:id="rId4"/>
            </p:custDataLst>
          </p:nvPr>
        </p:nvSpPr>
        <p:spPr bwMode="auto">
          <a:xfrm>
            <a:off x="178820" y="828675"/>
            <a:ext cx="1797049" cy="822960"/>
          </a:xfrm>
          <a:prstGeom prst="rect">
            <a:avLst/>
          </a:prstGeom>
          <a:noFill/>
          <a:ln w="9525">
            <a:noFill/>
            <a:miter lim="800000"/>
          </a:ln>
        </p:spPr>
        <p:txBody>
          <a:bodyPr>
            <a:spAutoFit/>
          </a:bodyPr>
          <a:lstStyle/>
          <a:p>
            <a:pPr algn="ctr" eaLnBrk="1" hangingPunct="1">
              <a:buFont typeface="Arial" panose="020B0604020202020204" pitchFamily="34" charset="0"/>
              <a:buNone/>
            </a:pPr>
            <a:r>
              <a:rPr lang="zh-CN" altLang="en-US" sz="4800" dirty="0">
                <a:solidFill>
                  <a:srgbClr val="FFFFFF"/>
                </a:solidFill>
                <a:latin typeface="+mj-ea"/>
                <a:ea typeface="+mj-ea"/>
              </a:rPr>
              <a:t>目录</a:t>
            </a:r>
          </a:p>
        </p:txBody>
      </p:sp>
      <p:cxnSp>
        <p:nvCxnSpPr>
          <p:cNvPr id="5125" name="直接连接符 22"/>
          <p:cNvCxnSpPr>
            <a:cxnSpLocks noChangeShapeType="1"/>
          </p:cNvCxnSpPr>
          <p:nvPr>
            <p:custDataLst>
              <p:tags r:id="rId5"/>
            </p:custDataLst>
          </p:nvPr>
        </p:nvCxnSpPr>
        <p:spPr bwMode="auto">
          <a:xfrm>
            <a:off x="762001" y="1628775"/>
            <a:ext cx="3240617" cy="0"/>
          </a:xfrm>
          <a:prstGeom prst="line">
            <a:avLst/>
          </a:prstGeom>
          <a:noFill/>
          <a:ln w="9525">
            <a:solidFill>
              <a:srgbClr val="FFFFFF"/>
            </a:solidFill>
            <a:prstDash val="sysDash"/>
            <a:round/>
          </a:ln>
        </p:spPr>
      </p:cxnSp>
      <p:cxnSp>
        <p:nvCxnSpPr>
          <p:cNvPr id="5126" name="直接连接符 24"/>
          <p:cNvCxnSpPr>
            <a:cxnSpLocks noChangeShapeType="1"/>
          </p:cNvCxnSpPr>
          <p:nvPr>
            <p:custDataLst>
              <p:tags r:id="rId6"/>
            </p:custDataLst>
          </p:nvPr>
        </p:nvCxnSpPr>
        <p:spPr bwMode="auto">
          <a:xfrm>
            <a:off x="1761067" y="534989"/>
            <a:ext cx="0" cy="2124075"/>
          </a:xfrm>
          <a:prstGeom prst="line">
            <a:avLst/>
          </a:prstGeom>
          <a:noFill/>
          <a:ln w="9525">
            <a:solidFill>
              <a:srgbClr val="FFFFFF"/>
            </a:solidFill>
            <a:prstDash val="sysDash"/>
            <a:round/>
          </a:ln>
        </p:spPr>
      </p:cxnSp>
      <p:grpSp>
        <p:nvGrpSpPr>
          <p:cNvPr id="9" name="组合 8">
            <a:extLst>
              <a:ext uri="{FF2B5EF4-FFF2-40B4-BE49-F238E27FC236}">
                <a16:creationId xmlns:a16="http://schemas.microsoft.com/office/drawing/2014/main" id="{DA6D02A7-D5A9-9DF0-3C4D-935DF29BB2C2}"/>
              </a:ext>
            </a:extLst>
          </p:cNvPr>
          <p:cNvGrpSpPr/>
          <p:nvPr/>
        </p:nvGrpSpPr>
        <p:grpSpPr>
          <a:xfrm>
            <a:off x="5511242" y="1555099"/>
            <a:ext cx="5026419" cy="576000"/>
            <a:chOff x="5511242" y="1555099"/>
            <a:chExt cx="5026419" cy="576000"/>
          </a:xfrm>
        </p:grpSpPr>
        <p:sp>
          <p:nvSpPr>
            <p:cNvPr id="7" name="矩形: 圆角 6">
              <a:extLst>
                <a:ext uri="{FF2B5EF4-FFF2-40B4-BE49-F238E27FC236}">
                  <a16:creationId xmlns:a16="http://schemas.microsoft.com/office/drawing/2014/main" id="{1018BA90-ED9E-985D-DC60-AA3E34A6C29B}"/>
                </a:ext>
              </a:extLst>
            </p:cNvPr>
            <p:cNvSpPr/>
            <p:nvPr/>
          </p:nvSpPr>
          <p:spPr>
            <a:xfrm>
              <a:off x="6217661" y="1555099"/>
              <a:ext cx="4320000" cy="576000"/>
            </a:xfrm>
            <a:prstGeom prst="roundRect">
              <a:avLst>
                <a:gd name="adj" fmla="val 50000"/>
              </a:avLst>
            </a:prstGeom>
            <a:noFill/>
            <a:ln w="12700">
              <a:solidFill>
                <a:srgbClr val="0080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solidFill>
                    <a:srgbClr val="008080"/>
                  </a:solidFill>
                  <a:latin typeface="+mj-lt"/>
                  <a:ea typeface="+mj-ea"/>
                </a:rPr>
                <a:t>结构化程序设计</a:t>
              </a:r>
            </a:p>
          </p:txBody>
        </p:sp>
        <p:sp>
          <p:nvSpPr>
            <p:cNvPr id="8" name="椭圆 7">
              <a:extLst>
                <a:ext uri="{FF2B5EF4-FFF2-40B4-BE49-F238E27FC236}">
                  <a16:creationId xmlns:a16="http://schemas.microsoft.com/office/drawing/2014/main" id="{8156D231-A815-53B0-A0B4-1A75D3999E5F}"/>
                </a:ext>
              </a:extLst>
            </p:cNvPr>
            <p:cNvSpPr/>
            <p:nvPr/>
          </p:nvSpPr>
          <p:spPr>
            <a:xfrm>
              <a:off x="5511242" y="1555099"/>
              <a:ext cx="576000" cy="576000"/>
            </a:xfrm>
            <a:prstGeom prst="ellipse">
              <a:avLst/>
            </a:prstGeom>
            <a:ln>
              <a:noFill/>
            </a:ln>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sz="2400" dirty="0">
                  <a:latin typeface="+mj-lt"/>
                  <a:ea typeface="+mj-ea"/>
                </a:rPr>
                <a:t>01</a:t>
              </a:r>
              <a:endParaRPr lang="zh-CN" altLang="en-US" sz="2400" dirty="0">
                <a:latin typeface="+mj-lt"/>
                <a:ea typeface="+mj-ea"/>
              </a:endParaRPr>
            </a:p>
          </p:txBody>
        </p:sp>
      </p:grpSp>
      <p:grpSp>
        <p:nvGrpSpPr>
          <p:cNvPr id="11" name="组合 10">
            <a:extLst>
              <a:ext uri="{FF2B5EF4-FFF2-40B4-BE49-F238E27FC236}">
                <a16:creationId xmlns:a16="http://schemas.microsoft.com/office/drawing/2014/main" id="{E4251DC8-0D6F-D73F-0B38-5810A9EFCCF6}"/>
              </a:ext>
            </a:extLst>
          </p:cNvPr>
          <p:cNvGrpSpPr/>
          <p:nvPr/>
        </p:nvGrpSpPr>
        <p:grpSpPr>
          <a:xfrm>
            <a:off x="4740526" y="2637441"/>
            <a:ext cx="5026419" cy="576000"/>
            <a:chOff x="5511242" y="1555099"/>
            <a:chExt cx="5026419" cy="576000"/>
          </a:xfrm>
        </p:grpSpPr>
        <p:sp>
          <p:nvSpPr>
            <p:cNvPr id="12" name="矩形: 圆角 11">
              <a:extLst>
                <a:ext uri="{FF2B5EF4-FFF2-40B4-BE49-F238E27FC236}">
                  <a16:creationId xmlns:a16="http://schemas.microsoft.com/office/drawing/2014/main" id="{89AE0257-D156-1C74-C73D-C2350997C9EC}"/>
                </a:ext>
              </a:extLst>
            </p:cNvPr>
            <p:cNvSpPr/>
            <p:nvPr/>
          </p:nvSpPr>
          <p:spPr>
            <a:xfrm>
              <a:off x="6217661" y="1555099"/>
              <a:ext cx="4320000" cy="576000"/>
            </a:xfrm>
            <a:prstGeom prst="roundRect">
              <a:avLst>
                <a:gd name="adj" fmla="val 50000"/>
              </a:avLst>
            </a:prstGeom>
            <a:noFill/>
            <a:ln w="12700">
              <a:solidFill>
                <a:srgbClr val="0080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solidFill>
                    <a:srgbClr val="008080"/>
                  </a:solidFill>
                  <a:latin typeface="+mj-lt"/>
                  <a:ea typeface="+mj-ea"/>
                </a:rPr>
                <a:t>软件测试目标</a:t>
              </a:r>
            </a:p>
          </p:txBody>
        </p:sp>
        <p:sp>
          <p:nvSpPr>
            <p:cNvPr id="13" name="椭圆 12">
              <a:extLst>
                <a:ext uri="{FF2B5EF4-FFF2-40B4-BE49-F238E27FC236}">
                  <a16:creationId xmlns:a16="http://schemas.microsoft.com/office/drawing/2014/main" id="{36D8CDEA-838C-EDED-2DD0-8AAB8908C74A}"/>
                </a:ext>
              </a:extLst>
            </p:cNvPr>
            <p:cNvSpPr/>
            <p:nvPr/>
          </p:nvSpPr>
          <p:spPr>
            <a:xfrm>
              <a:off x="5511242" y="1555099"/>
              <a:ext cx="576000" cy="576000"/>
            </a:xfrm>
            <a:prstGeom prst="ellipse">
              <a:avLst/>
            </a:prstGeom>
            <a:ln>
              <a:noFill/>
            </a:ln>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sz="2400" dirty="0">
                  <a:latin typeface="+mj-lt"/>
                  <a:ea typeface="+mj-ea"/>
                </a:rPr>
                <a:t>02</a:t>
              </a:r>
              <a:endParaRPr lang="zh-CN" altLang="en-US" sz="2400" dirty="0">
                <a:latin typeface="+mj-lt"/>
                <a:ea typeface="+mj-ea"/>
              </a:endParaRPr>
            </a:p>
          </p:txBody>
        </p:sp>
      </p:grpSp>
      <p:grpSp>
        <p:nvGrpSpPr>
          <p:cNvPr id="14" name="组合 13">
            <a:extLst>
              <a:ext uri="{FF2B5EF4-FFF2-40B4-BE49-F238E27FC236}">
                <a16:creationId xmlns:a16="http://schemas.microsoft.com/office/drawing/2014/main" id="{AFABA13E-90C7-615D-983A-CD267E55792C}"/>
              </a:ext>
            </a:extLst>
          </p:cNvPr>
          <p:cNvGrpSpPr/>
          <p:nvPr/>
        </p:nvGrpSpPr>
        <p:grpSpPr>
          <a:xfrm>
            <a:off x="3969809" y="3719783"/>
            <a:ext cx="5026419" cy="576000"/>
            <a:chOff x="5511242" y="1555099"/>
            <a:chExt cx="5026419" cy="576000"/>
          </a:xfrm>
        </p:grpSpPr>
        <p:sp>
          <p:nvSpPr>
            <p:cNvPr id="18" name="矩形: 圆角 17">
              <a:extLst>
                <a:ext uri="{FF2B5EF4-FFF2-40B4-BE49-F238E27FC236}">
                  <a16:creationId xmlns:a16="http://schemas.microsoft.com/office/drawing/2014/main" id="{E980734D-D883-2B26-7A92-3606A7696AFB}"/>
                </a:ext>
              </a:extLst>
            </p:cNvPr>
            <p:cNvSpPr/>
            <p:nvPr/>
          </p:nvSpPr>
          <p:spPr>
            <a:xfrm>
              <a:off x="6217661" y="1555099"/>
              <a:ext cx="4320000" cy="576000"/>
            </a:xfrm>
            <a:prstGeom prst="roundRect">
              <a:avLst>
                <a:gd name="adj" fmla="val 50000"/>
              </a:avLst>
            </a:prstGeom>
            <a:noFill/>
            <a:ln w="12700">
              <a:solidFill>
                <a:srgbClr val="0080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solidFill>
                    <a:srgbClr val="008080"/>
                  </a:solidFill>
                  <a:latin typeface="+mj-lt"/>
                  <a:ea typeface="+mj-ea"/>
                </a:rPr>
                <a:t>软件测试方法</a:t>
              </a:r>
            </a:p>
          </p:txBody>
        </p:sp>
        <p:sp>
          <p:nvSpPr>
            <p:cNvPr id="19" name="椭圆 18">
              <a:extLst>
                <a:ext uri="{FF2B5EF4-FFF2-40B4-BE49-F238E27FC236}">
                  <a16:creationId xmlns:a16="http://schemas.microsoft.com/office/drawing/2014/main" id="{242C0459-E3CF-FD88-436D-206DA40A137A}"/>
                </a:ext>
              </a:extLst>
            </p:cNvPr>
            <p:cNvSpPr/>
            <p:nvPr/>
          </p:nvSpPr>
          <p:spPr>
            <a:xfrm>
              <a:off x="5511242" y="1555099"/>
              <a:ext cx="576000" cy="576000"/>
            </a:xfrm>
            <a:prstGeom prst="ellipse">
              <a:avLst/>
            </a:prstGeom>
            <a:ln>
              <a:noFill/>
            </a:ln>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sz="2400" dirty="0">
                  <a:latin typeface="+mj-lt"/>
                  <a:ea typeface="+mj-ea"/>
                </a:rPr>
                <a:t>03</a:t>
              </a:r>
              <a:endParaRPr lang="zh-CN" altLang="en-US" sz="2400" dirty="0">
                <a:latin typeface="+mj-lt"/>
                <a:ea typeface="+mj-ea"/>
              </a:endParaRPr>
            </a:p>
          </p:txBody>
        </p:sp>
      </p:grpSp>
      <p:grpSp>
        <p:nvGrpSpPr>
          <p:cNvPr id="20" name="组合 19">
            <a:extLst>
              <a:ext uri="{FF2B5EF4-FFF2-40B4-BE49-F238E27FC236}">
                <a16:creationId xmlns:a16="http://schemas.microsoft.com/office/drawing/2014/main" id="{9ADBC591-5AF3-01B5-9CB9-A01CA6A6F329}"/>
              </a:ext>
            </a:extLst>
          </p:cNvPr>
          <p:cNvGrpSpPr/>
          <p:nvPr/>
        </p:nvGrpSpPr>
        <p:grpSpPr>
          <a:xfrm>
            <a:off x="3199092" y="4802125"/>
            <a:ext cx="5026419" cy="576000"/>
            <a:chOff x="5511242" y="1555099"/>
            <a:chExt cx="5026419" cy="576000"/>
          </a:xfrm>
        </p:grpSpPr>
        <p:sp>
          <p:nvSpPr>
            <p:cNvPr id="21" name="矩形: 圆角 20">
              <a:extLst>
                <a:ext uri="{FF2B5EF4-FFF2-40B4-BE49-F238E27FC236}">
                  <a16:creationId xmlns:a16="http://schemas.microsoft.com/office/drawing/2014/main" id="{A0DD6A1B-B938-AC5A-38B9-1CD3D040EA8F}"/>
                </a:ext>
              </a:extLst>
            </p:cNvPr>
            <p:cNvSpPr/>
            <p:nvPr/>
          </p:nvSpPr>
          <p:spPr>
            <a:xfrm>
              <a:off x="6217661" y="1555099"/>
              <a:ext cx="4320000" cy="576000"/>
            </a:xfrm>
            <a:prstGeom prst="roundRect">
              <a:avLst>
                <a:gd name="adj" fmla="val 50000"/>
              </a:avLst>
            </a:prstGeom>
            <a:noFill/>
            <a:ln w="12700">
              <a:solidFill>
                <a:srgbClr val="0080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solidFill>
                    <a:srgbClr val="008080"/>
                  </a:solidFill>
                  <a:latin typeface="+mj-lt"/>
                  <a:ea typeface="+mj-ea"/>
                </a:rPr>
                <a:t>软件测试步骤</a:t>
              </a:r>
            </a:p>
          </p:txBody>
        </p:sp>
        <p:sp>
          <p:nvSpPr>
            <p:cNvPr id="22" name="椭圆 21">
              <a:extLst>
                <a:ext uri="{FF2B5EF4-FFF2-40B4-BE49-F238E27FC236}">
                  <a16:creationId xmlns:a16="http://schemas.microsoft.com/office/drawing/2014/main" id="{0EA1595E-60AA-0CFD-A4F4-C01D5A80CCE1}"/>
                </a:ext>
              </a:extLst>
            </p:cNvPr>
            <p:cNvSpPr/>
            <p:nvPr/>
          </p:nvSpPr>
          <p:spPr>
            <a:xfrm>
              <a:off x="5511242" y="1555099"/>
              <a:ext cx="576000" cy="576000"/>
            </a:xfrm>
            <a:prstGeom prst="ellipse">
              <a:avLst/>
            </a:prstGeom>
            <a:ln>
              <a:noFill/>
            </a:ln>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sz="2400" dirty="0">
                  <a:latin typeface="+mj-lt"/>
                  <a:ea typeface="+mj-ea"/>
                </a:rPr>
                <a:t>04</a:t>
              </a:r>
              <a:endParaRPr lang="zh-CN" altLang="en-US" sz="2400" dirty="0">
                <a:latin typeface="+mj-lt"/>
                <a:ea typeface="+mj-ea"/>
              </a:endParaRPr>
            </a:p>
          </p:txBody>
        </p:sp>
      </p:grpSp>
    </p:spTree>
    <p:custDataLst>
      <p:tags r:id="rId1"/>
    </p:custDataLst>
  </p:cSld>
  <p:clrMapOvr>
    <a:masterClrMapping/>
  </p:clrMapOvr>
  <p:transition>
    <p:dissolv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任意多边形 17"/>
          <p:cNvSpPr/>
          <p:nvPr>
            <p:custDataLst>
              <p:tags r:id="rId2"/>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dirty="0">
              <a:latin typeface="Times New Roman" panose="02020603050405020304" pitchFamily="18" charset="0"/>
              <a:ea typeface="微软雅黑 Light" panose="020B0502040204020203" pitchFamily="34" charset="-122"/>
            </a:endParaRPr>
          </a:p>
        </p:txBody>
      </p:sp>
      <p:sp>
        <p:nvSpPr>
          <p:cNvPr id="5" name="Text Box 20">
            <a:extLst>
              <a:ext uri="{FF2B5EF4-FFF2-40B4-BE49-F238E27FC236}">
                <a16:creationId xmlns:a16="http://schemas.microsoft.com/office/drawing/2014/main" id="{14D8EAE1-6F55-0D8B-53B4-A68142E383D1}"/>
              </a:ext>
            </a:extLst>
          </p:cNvPr>
          <p:cNvSpPr txBox="1">
            <a:spLocks noChangeArrowheads="1"/>
          </p:cNvSpPr>
          <p:nvPr>
            <p:custDataLst>
              <p:tags r:id="rId3"/>
            </p:custDataLst>
          </p:nvPr>
        </p:nvSpPr>
        <p:spPr bwMode="auto">
          <a:xfrm>
            <a:off x="1794269" y="1781267"/>
            <a:ext cx="2415116" cy="461665"/>
          </a:xfrm>
          <a:prstGeom prst="rect">
            <a:avLst/>
          </a:prstGeom>
          <a:noFill/>
          <a:ln w="9525">
            <a:noFill/>
            <a:miter lim="800000"/>
          </a:ln>
          <a:effectLst/>
        </p:spPr>
        <p:txBody>
          <a:bodyPr>
            <a:spAutoFit/>
          </a:bodyPr>
          <a:lstStyle/>
          <a:p>
            <a:pPr algn="dist" eaLnBrk="1" hangingPunct="1">
              <a:buFont typeface="Arial" panose="020B0604020202020204" pitchFamily="34" charset="0"/>
              <a:buNone/>
            </a:pPr>
            <a:r>
              <a:rPr lang="zh-CN" altLang="en-US" sz="2400" dirty="0">
                <a:solidFill>
                  <a:srgbClr val="FFFFFF"/>
                </a:solidFill>
                <a:latin typeface="+mj-lt"/>
                <a:ea typeface="+mj-ea"/>
              </a:rPr>
              <a:t>Contents</a:t>
            </a:r>
          </a:p>
        </p:txBody>
      </p:sp>
      <p:sp>
        <p:nvSpPr>
          <p:cNvPr id="6" name="文本框 20">
            <a:extLst>
              <a:ext uri="{FF2B5EF4-FFF2-40B4-BE49-F238E27FC236}">
                <a16:creationId xmlns:a16="http://schemas.microsoft.com/office/drawing/2014/main" id="{FDBFD955-1A53-DDC1-6294-5C00F70EA32C}"/>
              </a:ext>
            </a:extLst>
          </p:cNvPr>
          <p:cNvSpPr txBox="1">
            <a:spLocks noChangeArrowheads="1"/>
          </p:cNvSpPr>
          <p:nvPr>
            <p:custDataLst>
              <p:tags r:id="rId4"/>
            </p:custDataLst>
          </p:nvPr>
        </p:nvSpPr>
        <p:spPr bwMode="auto">
          <a:xfrm>
            <a:off x="178820" y="828675"/>
            <a:ext cx="1797049" cy="822960"/>
          </a:xfrm>
          <a:prstGeom prst="rect">
            <a:avLst/>
          </a:prstGeom>
          <a:noFill/>
          <a:ln w="9525">
            <a:noFill/>
            <a:miter lim="800000"/>
          </a:ln>
        </p:spPr>
        <p:txBody>
          <a:bodyPr>
            <a:spAutoFit/>
          </a:bodyPr>
          <a:lstStyle/>
          <a:p>
            <a:pPr algn="ctr" eaLnBrk="1" hangingPunct="1">
              <a:buFont typeface="Arial" panose="020B0604020202020204" pitchFamily="34" charset="0"/>
              <a:buNone/>
            </a:pPr>
            <a:r>
              <a:rPr lang="zh-CN" altLang="en-US" sz="4800" dirty="0">
                <a:solidFill>
                  <a:srgbClr val="FFFFFF"/>
                </a:solidFill>
                <a:latin typeface="+mj-ea"/>
                <a:ea typeface="+mj-ea"/>
              </a:rPr>
              <a:t>目录</a:t>
            </a:r>
          </a:p>
        </p:txBody>
      </p:sp>
      <p:cxnSp>
        <p:nvCxnSpPr>
          <p:cNvPr id="7" name="直接连接符 22">
            <a:extLst>
              <a:ext uri="{FF2B5EF4-FFF2-40B4-BE49-F238E27FC236}">
                <a16:creationId xmlns:a16="http://schemas.microsoft.com/office/drawing/2014/main" id="{B46DDB7C-A41A-004C-AEEA-D63E0B75AC00}"/>
              </a:ext>
            </a:extLst>
          </p:cNvPr>
          <p:cNvCxnSpPr>
            <a:cxnSpLocks noChangeShapeType="1"/>
          </p:cNvCxnSpPr>
          <p:nvPr>
            <p:custDataLst>
              <p:tags r:id="rId5"/>
            </p:custDataLst>
          </p:nvPr>
        </p:nvCxnSpPr>
        <p:spPr bwMode="auto">
          <a:xfrm>
            <a:off x="762001" y="1628775"/>
            <a:ext cx="3240617" cy="0"/>
          </a:xfrm>
          <a:prstGeom prst="line">
            <a:avLst/>
          </a:prstGeom>
          <a:noFill/>
          <a:ln w="9525">
            <a:solidFill>
              <a:srgbClr val="FFFFFF"/>
            </a:solidFill>
            <a:prstDash val="sysDash"/>
            <a:round/>
          </a:ln>
        </p:spPr>
      </p:cxnSp>
      <p:cxnSp>
        <p:nvCxnSpPr>
          <p:cNvPr id="8" name="直接连接符 24">
            <a:extLst>
              <a:ext uri="{FF2B5EF4-FFF2-40B4-BE49-F238E27FC236}">
                <a16:creationId xmlns:a16="http://schemas.microsoft.com/office/drawing/2014/main" id="{2F6AA6CA-15DB-70D0-53D5-64A94DD4027C}"/>
              </a:ext>
            </a:extLst>
          </p:cNvPr>
          <p:cNvCxnSpPr>
            <a:cxnSpLocks noChangeShapeType="1"/>
          </p:cNvCxnSpPr>
          <p:nvPr>
            <p:custDataLst>
              <p:tags r:id="rId6"/>
            </p:custDataLst>
          </p:nvPr>
        </p:nvCxnSpPr>
        <p:spPr bwMode="auto">
          <a:xfrm>
            <a:off x="1761067" y="534989"/>
            <a:ext cx="0" cy="2124075"/>
          </a:xfrm>
          <a:prstGeom prst="line">
            <a:avLst/>
          </a:prstGeom>
          <a:noFill/>
          <a:ln w="9525">
            <a:solidFill>
              <a:srgbClr val="FFFFFF"/>
            </a:solidFill>
            <a:prstDash val="sysDash"/>
            <a:round/>
          </a:ln>
        </p:spPr>
      </p:cxnSp>
      <p:grpSp>
        <p:nvGrpSpPr>
          <p:cNvPr id="45" name="组合 44">
            <a:extLst>
              <a:ext uri="{FF2B5EF4-FFF2-40B4-BE49-F238E27FC236}">
                <a16:creationId xmlns:a16="http://schemas.microsoft.com/office/drawing/2014/main" id="{A3626986-EF03-9F89-05D0-D2763AFD9778}"/>
              </a:ext>
            </a:extLst>
          </p:cNvPr>
          <p:cNvGrpSpPr/>
          <p:nvPr/>
        </p:nvGrpSpPr>
        <p:grpSpPr>
          <a:xfrm>
            <a:off x="5511242" y="1555099"/>
            <a:ext cx="5026419" cy="576000"/>
            <a:chOff x="5511242" y="1555099"/>
            <a:chExt cx="5026419" cy="576000"/>
          </a:xfrm>
        </p:grpSpPr>
        <p:sp>
          <p:nvSpPr>
            <p:cNvPr id="46" name="矩形: 圆角 45">
              <a:extLst>
                <a:ext uri="{FF2B5EF4-FFF2-40B4-BE49-F238E27FC236}">
                  <a16:creationId xmlns:a16="http://schemas.microsoft.com/office/drawing/2014/main" id="{BC6BDA4B-FE10-C0BA-A9BF-6E72407D9925}"/>
                </a:ext>
              </a:extLst>
            </p:cNvPr>
            <p:cNvSpPr/>
            <p:nvPr/>
          </p:nvSpPr>
          <p:spPr>
            <a:xfrm>
              <a:off x="6217661" y="1555099"/>
              <a:ext cx="4320000" cy="576000"/>
            </a:xfrm>
            <a:prstGeom prst="roundRect">
              <a:avLst>
                <a:gd name="adj" fmla="val 50000"/>
              </a:avLst>
            </a:prstGeom>
            <a:noFill/>
            <a:ln w="12700">
              <a:solidFill>
                <a:srgbClr val="0080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solidFill>
                    <a:srgbClr val="008080"/>
                  </a:solidFill>
                  <a:latin typeface="+mj-lt"/>
                  <a:ea typeface="+mj-ea"/>
                </a:rPr>
                <a:t>设计软件测试方案</a:t>
              </a:r>
            </a:p>
          </p:txBody>
        </p:sp>
        <p:sp>
          <p:nvSpPr>
            <p:cNvPr id="49" name="椭圆 48">
              <a:extLst>
                <a:ext uri="{FF2B5EF4-FFF2-40B4-BE49-F238E27FC236}">
                  <a16:creationId xmlns:a16="http://schemas.microsoft.com/office/drawing/2014/main" id="{53E29390-40D0-EF2D-E872-0BE85E81A7CF}"/>
                </a:ext>
              </a:extLst>
            </p:cNvPr>
            <p:cNvSpPr/>
            <p:nvPr/>
          </p:nvSpPr>
          <p:spPr>
            <a:xfrm>
              <a:off x="5511242" y="1555099"/>
              <a:ext cx="576000" cy="576000"/>
            </a:xfrm>
            <a:prstGeom prst="ellipse">
              <a:avLst/>
            </a:prstGeom>
            <a:solidFill>
              <a:schemeClr val="accent4"/>
            </a:solidFill>
            <a:ln>
              <a:noFill/>
            </a:ln>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sz="2400" dirty="0">
                  <a:latin typeface="+mj-lt"/>
                  <a:ea typeface="+mj-ea"/>
                </a:rPr>
                <a:t>05</a:t>
              </a:r>
              <a:endParaRPr lang="zh-CN" altLang="en-US" sz="2400" dirty="0">
                <a:latin typeface="+mj-lt"/>
                <a:ea typeface="+mj-ea"/>
              </a:endParaRPr>
            </a:p>
          </p:txBody>
        </p:sp>
      </p:grpSp>
      <p:grpSp>
        <p:nvGrpSpPr>
          <p:cNvPr id="56" name="组合 55">
            <a:extLst>
              <a:ext uri="{FF2B5EF4-FFF2-40B4-BE49-F238E27FC236}">
                <a16:creationId xmlns:a16="http://schemas.microsoft.com/office/drawing/2014/main" id="{1A722ECB-6C9F-AEBD-2BA2-CBBB49D0AEAF}"/>
              </a:ext>
            </a:extLst>
          </p:cNvPr>
          <p:cNvGrpSpPr/>
          <p:nvPr/>
        </p:nvGrpSpPr>
        <p:grpSpPr>
          <a:xfrm>
            <a:off x="4740526" y="2637441"/>
            <a:ext cx="5026419" cy="576000"/>
            <a:chOff x="5511242" y="1555099"/>
            <a:chExt cx="5026419" cy="576000"/>
          </a:xfrm>
        </p:grpSpPr>
        <p:sp>
          <p:nvSpPr>
            <p:cNvPr id="63" name="矩形: 圆角 62">
              <a:extLst>
                <a:ext uri="{FF2B5EF4-FFF2-40B4-BE49-F238E27FC236}">
                  <a16:creationId xmlns:a16="http://schemas.microsoft.com/office/drawing/2014/main" id="{5597FAD7-E65D-7081-586D-5D52DA5623B2}"/>
                </a:ext>
              </a:extLst>
            </p:cNvPr>
            <p:cNvSpPr/>
            <p:nvPr/>
          </p:nvSpPr>
          <p:spPr>
            <a:xfrm>
              <a:off x="6217661" y="1555099"/>
              <a:ext cx="4320000" cy="576000"/>
            </a:xfrm>
            <a:prstGeom prst="roundRect">
              <a:avLst>
                <a:gd name="adj" fmla="val 50000"/>
              </a:avLst>
            </a:prstGeom>
            <a:noFill/>
            <a:ln w="12700">
              <a:solidFill>
                <a:srgbClr val="0080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solidFill>
                    <a:srgbClr val="008080"/>
                  </a:solidFill>
                  <a:latin typeface="+mj-lt"/>
                  <a:ea typeface="+mj-ea"/>
                </a:rPr>
                <a:t>软件测试原则和策略</a:t>
              </a:r>
            </a:p>
          </p:txBody>
        </p:sp>
        <p:sp>
          <p:nvSpPr>
            <p:cNvPr id="68" name="椭圆 67">
              <a:extLst>
                <a:ext uri="{FF2B5EF4-FFF2-40B4-BE49-F238E27FC236}">
                  <a16:creationId xmlns:a16="http://schemas.microsoft.com/office/drawing/2014/main" id="{344DA138-62CC-D724-AD32-7EDE7B0C4370}"/>
                </a:ext>
              </a:extLst>
            </p:cNvPr>
            <p:cNvSpPr/>
            <p:nvPr/>
          </p:nvSpPr>
          <p:spPr>
            <a:xfrm>
              <a:off x="5511242" y="1555099"/>
              <a:ext cx="576000" cy="576000"/>
            </a:xfrm>
            <a:prstGeom prst="ellipse">
              <a:avLst/>
            </a:prstGeom>
            <a:ln>
              <a:noFill/>
            </a:ln>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sz="2400" dirty="0">
                  <a:latin typeface="+mj-lt"/>
                  <a:ea typeface="+mj-ea"/>
                </a:rPr>
                <a:t>06</a:t>
              </a:r>
              <a:endParaRPr lang="zh-CN" altLang="en-US" sz="2400" dirty="0">
                <a:latin typeface="+mj-lt"/>
                <a:ea typeface="+mj-ea"/>
              </a:endParaRPr>
            </a:p>
          </p:txBody>
        </p:sp>
      </p:grpSp>
      <p:grpSp>
        <p:nvGrpSpPr>
          <p:cNvPr id="69" name="组合 68">
            <a:extLst>
              <a:ext uri="{FF2B5EF4-FFF2-40B4-BE49-F238E27FC236}">
                <a16:creationId xmlns:a16="http://schemas.microsoft.com/office/drawing/2014/main" id="{AC7E4B12-7FA2-CF52-198D-AD8311B8379B}"/>
              </a:ext>
            </a:extLst>
          </p:cNvPr>
          <p:cNvGrpSpPr/>
          <p:nvPr/>
        </p:nvGrpSpPr>
        <p:grpSpPr>
          <a:xfrm>
            <a:off x="3969809" y="3719783"/>
            <a:ext cx="5026419" cy="576000"/>
            <a:chOff x="5511242" y="1555099"/>
            <a:chExt cx="5026419" cy="576000"/>
          </a:xfrm>
        </p:grpSpPr>
        <p:sp>
          <p:nvSpPr>
            <p:cNvPr id="70" name="矩形: 圆角 69">
              <a:extLst>
                <a:ext uri="{FF2B5EF4-FFF2-40B4-BE49-F238E27FC236}">
                  <a16:creationId xmlns:a16="http://schemas.microsoft.com/office/drawing/2014/main" id="{6C67D574-D63F-7B42-374C-C7A8D8A79D9B}"/>
                </a:ext>
              </a:extLst>
            </p:cNvPr>
            <p:cNvSpPr/>
            <p:nvPr/>
          </p:nvSpPr>
          <p:spPr>
            <a:xfrm>
              <a:off x="6217661" y="1555099"/>
              <a:ext cx="4320000" cy="576000"/>
            </a:xfrm>
            <a:prstGeom prst="roundRect">
              <a:avLst>
                <a:gd name="adj" fmla="val 50000"/>
              </a:avLst>
            </a:prstGeom>
            <a:noFill/>
            <a:ln w="12700">
              <a:solidFill>
                <a:srgbClr val="0080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solidFill>
                    <a:srgbClr val="008080"/>
                  </a:solidFill>
                  <a:latin typeface="+mj-lt"/>
                  <a:ea typeface="+mj-ea"/>
                </a:rPr>
                <a:t>软件调试、验证与确认</a:t>
              </a:r>
            </a:p>
          </p:txBody>
        </p:sp>
        <p:sp>
          <p:nvSpPr>
            <p:cNvPr id="71" name="椭圆 70">
              <a:extLst>
                <a:ext uri="{FF2B5EF4-FFF2-40B4-BE49-F238E27FC236}">
                  <a16:creationId xmlns:a16="http://schemas.microsoft.com/office/drawing/2014/main" id="{00F32F3B-0F9B-D39B-E0FA-B9261656FC12}"/>
                </a:ext>
              </a:extLst>
            </p:cNvPr>
            <p:cNvSpPr/>
            <p:nvPr/>
          </p:nvSpPr>
          <p:spPr>
            <a:xfrm>
              <a:off x="5511242" y="1555099"/>
              <a:ext cx="576000" cy="576000"/>
            </a:xfrm>
            <a:prstGeom prst="ellipse">
              <a:avLst/>
            </a:prstGeom>
            <a:ln>
              <a:noFill/>
            </a:ln>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sz="2400" dirty="0">
                  <a:latin typeface="+mj-lt"/>
                  <a:ea typeface="+mj-ea"/>
                </a:rPr>
                <a:t>07</a:t>
              </a:r>
              <a:endParaRPr lang="zh-CN" altLang="en-US" sz="2400" dirty="0">
                <a:latin typeface="+mj-lt"/>
                <a:ea typeface="+mj-ea"/>
              </a:endParaRPr>
            </a:p>
          </p:txBody>
        </p:sp>
      </p:grpSp>
      <p:grpSp>
        <p:nvGrpSpPr>
          <p:cNvPr id="72" name="组合 71">
            <a:extLst>
              <a:ext uri="{FF2B5EF4-FFF2-40B4-BE49-F238E27FC236}">
                <a16:creationId xmlns:a16="http://schemas.microsoft.com/office/drawing/2014/main" id="{5365D8D9-0A75-69E9-EAA3-89FBD3056B07}"/>
              </a:ext>
            </a:extLst>
          </p:cNvPr>
          <p:cNvGrpSpPr/>
          <p:nvPr/>
        </p:nvGrpSpPr>
        <p:grpSpPr>
          <a:xfrm>
            <a:off x="3199092" y="4802125"/>
            <a:ext cx="5026419" cy="576000"/>
            <a:chOff x="5511242" y="1555099"/>
            <a:chExt cx="5026419" cy="576000"/>
          </a:xfrm>
        </p:grpSpPr>
        <p:sp>
          <p:nvSpPr>
            <p:cNvPr id="73" name="矩形: 圆角 72">
              <a:extLst>
                <a:ext uri="{FF2B5EF4-FFF2-40B4-BE49-F238E27FC236}">
                  <a16:creationId xmlns:a16="http://schemas.microsoft.com/office/drawing/2014/main" id="{26991D6C-E89D-6438-5061-51EA27DE9D75}"/>
                </a:ext>
              </a:extLst>
            </p:cNvPr>
            <p:cNvSpPr/>
            <p:nvPr/>
          </p:nvSpPr>
          <p:spPr>
            <a:xfrm>
              <a:off x="6217661" y="1555099"/>
              <a:ext cx="4320000" cy="576000"/>
            </a:xfrm>
            <a:prstGeom prst="roundRect">
              <a:avLst>
                <a:gd name="adj" fmla="val 50000"/>
              </a:avLst>
            </a:prstGeom>
            <a:noFill/>
            <a:ln w="12700">
              <a:solidFill>
                <a:srgbClr val="0080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solidFill>
                    <a:srgbClr val="008080"/>
                  </a:solidFill>
                  <a:latin typeface="+mj-lt"/>
                  <a:ea typeface="+mj-ea"/>
                </a:rPr>
                <a:t>软件测试文档</a:t>
              </a:r>
            </a:p>
          </p:txBody>
        </p:sp>
        <p:sp>
          <p:nvSpPr>
            <p:cNvPr id="74" name="椭圆 73">
              <a:extLst>
                <a:ext uri="{FF2B5EF4-FFF2-40B4-BE49-F238E27FC236}">
                  <a16:creationId xmlns:a16="http://schemas.microsoft.com/office/drawing/2014/main" id="{F5976CC3-8DD0-1E8F-6A6A-77BDF6E3EDF7}"/>
                </a:ext>
              </a:extLst>
            </p:cNvPr>
            <p:cNvSpPr/>
            <p:nvPr/>
          </p:nvSpPr>
          <p:spPr>
            <a:xfrm>
              <a:off x="5511242" y="1555099"/>
              <a:ext cx="576000" cy="576000"/>
            </a:xfrm>
            <a:prstGeom prst="ellipse">
              <a:avLst/>
            </a:prstGeom>
            <a:ln>
              <a:noFill/>
            </a:ln>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sz="2400" dirty="0">
                  <a:latin typeface="+mj-lt"/>
                  <a:ea typeface="+mj-ea"/>
                </a:rPr>
                <a:t>08</a:t>
              </a:r>
              <a:endParaRPr lang="zh-CN" altLang="en-US" sz="2400" dirty="0">
                <a:latin typeface="+mj-lt"/>
                <a:ea typeface="+mj-ea"/>
              </a:endParaRPr>
            </a:p>
          </p:txBody>
        </p:sp>
      </p:grpSp>
    </p:spTree>
    <p:custDataLst>
      <p:tags r:id="rId1"/>
    </p:custDataLst>
  </p:cSld>
  <p:clrMapOvr>
    <a:masterClrMapping/>
  </p:clrMapOvr>
  <p:transition>
    <p:dissolv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dirty="0">
              <a:latin typeface="Times New Roman" panose="02020603050405020304" pitchFamily="18" charset="0"/>
              <a:ea typeface="微软雅黑 Light" panose="020B0502040204020203" pitchFamily="34" charset="-122"/>
            </a:endParaRPr>
          </a:p>
        </p:txBody>
      </p:sp>
      <p:sp>
        <p:nvSpPr>
          <p:cNvPr id="2" name="椭圆 1"/>
          <p:cNvSpPr/>
          <p:nvPr/>
        </p:nvSpPr>
        <p:spPr>
          <a:xfrm>
            <a:off x="3428455" y="2169500"/>
            <a:ext cx="2362200" cy="23622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600" b="0" i="0" u="none" strike="noStrike" kern="1200" cap="none" spc="0" normalizeH="0" noProof="0" dirty="0">
                <a:ln>
                  <a:noFill/>
                </a:ln>
                <a:solidFill>
                  <a:schemeClr val="lt1"/>
                </a:solidFill>
                <a:effectLst/>
                <a:uLnTx/>
                <a:uFillTx/>
                <a:latin typeface="+mj-lt"/>
                <a:ea typeface="+mj-ea"/>
                <a:cs typeface="+mn-cs"/>
              </a:rPr>
              <a:t>01</a:t>
            </a:r>
            <a:endParaRPr kumimoji="0" lang="zh-CN" altLang="en-US" sz="9600" b="0" i="0" u="none" strike="noStrike" kern="1200" cap="none" spc="0" normalizeH="0" noProof="0" dirty="0">
              <a:ln>
                <a:noFill/>
              </a:ln>
              <a:solidFill>
                <a:schemeClr val="lt1"/>
              </a:solidFill>
              <a:effectLst/>
              <a:uLnTx/>
              <a:uFillTx/>
              <a:latin typeface="+mj-lt"/>
              <a:ea typeface="+mj-ea"/>
              <a:cs typeface="+mn-cs"/>
            </a:endParaRPr>
          </a:p>
        </p:txBody>
      </p:sp>
      <p:sp>
        <p:nvSpPr>
          <p:cNvPr id="40" name="文本框 39"/>
          <p:cNvSpPr txBox="1"/>
          <p:nvPr/>
        </p:nvSpPr>
        <p:spPr>
          <a:xfrm>
            <a:off x="6006555" y="2935102"/>
            <a:ext cx="5137150" cy="830997"/>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i="0" u="none" strike="noStrike" kern="1200" cap="none" spc="0" normalizeH="0" baseline="0" noProof="0" dirty="0">
                <a:ln>
                  <a:noFill/>
                </a:ln>
                <a:effectLst/>
                <a:uLnTx/>
                <a:uFillTx/>
                <a:latin typeface="+mj-ea"/>
                <a:ea typeface="+mj-ea"/>
                <a:cs typeface="+mn-cs"/>
              </a:rPr>
              <a:t>结构化程序设计</a:t>
            </a:r>
          </a:p>
        </p:txBody>
      </p:sp>
      <p:sp>
        <p:nvSpPr>
          <p:cNvPr id="48" name="文本框 47"/>
          <p:cNvSpPr txBox="1"/>
          <p:nvPr/>
        </p:nvSpPr>
        <p:spPr>
          <a:xfrm>
            <a:off x="6006465" y="4135755"/>
            <a:ext cx="3712845" cy="400110"/>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effectLst/>
                <a:uLnTx/>
                <a:uFillTx/>
                <a:latin typeface="+mj-ea"/>
                <a:ea typeface="+mj-ea"/>
                <a:cs typeface="+mn-cs"/>
              </a:rPr>
              <a:t>程序设计语言的选择</a:t>
            </a:r>
          </a:p>
        </p:txBody>
      </p:sp>
      <p:sp>
        <p:nvSpPr>
          <p:cNvPr id="50" name="文本框 49"/>
          <p:cNvSpPr txBox="1"/>
          <p:nvPr/>
        </p:nvSpPr>
        <p:spPr>
          <a:xfrm>
            <a:off x="6006465" y="4631055"/>
            <a:ext cx="3712845" cy="400110"/>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effectLst/>
                <a:uLnTx/>
                <a:uFillTx/>
                <a:latin typeface="+mj-ea"/>
                <a:ea typeface="+mj-ea"/>
                <a:cs typeface="+mn-cs"/>
              </a:rPr>
              <a:t>程序设计风格</a:t>
            </a:r>
          </a:p>
        </p:txBody>
      </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en-US"/>
              <a:t>4.1 </a:t>
            </a:r>
            <a:r>
              <a:rPr lang="zh-CN" altLang="en-US"/>
              <a:t>结构化程序设计</a:t>
            </a:r>
            <a:endParaRPr lang="zh-CN" altLang="en-US" dirty="0"/>
          </a:p>
        </p:txBody>
      </p:sp>
      <p:sp>
        <p:nvSpPr>
          <p:cNvPr id="11" name="文本占位符 10">
            <a:extLst>
              <a:ext uri="{FF2B5EF4-FFF2-40B4-BE49-F238E27FC236}">
                <a16:creationId xmlns:a16="http://schemas.microsoft.com/office/drawing/2014/main" id="{603DF81E-65FB-2B92-E9DC-7FADB7A92570}"/>
              </a:ext>
            </a:extLst>
          </p:cNvPr>
          <p:cNvSpPr>
            <a:spLocks noGrp="1"/>
          </p:cNvSpPr>
          <p:nvPr>
            <p:ph type="body" sz="quarter" idx="10"/>
          </p:nvPr>
        </p:nvSpPr>
        <p:spPr>
          <a:xfrm>
            <a:off x="696000" y="1322832"/>
            <a:ext cx="5400000" cy="400110"/>
          </a:xfrm>
        </p:spPr>
        <p:txBody>
          <a:bodyPr/>
          <a:lstStyle/>
          <a:p>
            <a:r>
              <a:rPr lang="zh-CN" altLang="en-US" dirty="0"/>
              <a:t>引言</a:t>
            </a:r>
          </a:p>
        </p:txBody>
      </p:sp>
      <p:sp>
        <p:nvSpPr>
          <p:cNvPr id="12" name="文本占位符 11">
            <a:extLst>
              <a:ext uri="{FF2B5EF4-FFF2-40B4-BE49-F238E27FC236}">
                <a16:creationId xmlns:a16="http://schemas.microsoft.com/office/drawing/2014/main" id="{F24A6FE2-18C0-C881-F253-40807C222096}"/>
              </a:ext>
            </a:extLst>
          </p:cNvPr>
          <p:cNvSpPr>
            <a:spLocks noGrp="1"/>
          </p:cNvSpPr>
          <p:nvPr>
            <p:ph type="body" sz="quarter" idx="11"/>
          </p:nvPr>
        </p:nvSpPr>
        <p:spPr/>
        <p:txBody>
          <a:bodyPr/>
          <a:lstStyle/>
          <a:p>
            <a:endParaRPr lang="zh-CN" altLang="en-US"/>
          </a:p>
        </p:txBody>
      </p:sp>
      <p:sp>
        <p:nvSpPr>
          <p:cNvPr id="100" name="文本框 99"/>
          <p:cNvSpPr txBox="1"/>
          <p:nvPr/>
        </p:nvSpPr>
        <p:spPr>
          <a:xfrm>
            <a:off x="695326" y="1856740"/>
            <a:ext cx="6747510" cy="3093219"/>
          </a:xfrm>
          <a:prstGeom prst="rect">
            <a:avLst/>
          </a:prstGeom>
          <a:noFill/>
          <a:ln w="9525">
            <a:noFill/>
          </a:ln>
        </p:spPr>
        <p:txBody>
          <a:bodyPr wrap="square">
            <a:spAutoFit/>
          </a:bodyPr>
          <a:lstStyle/>
          <a:p>
            <a:pPr marL="0" indent="0" algn="just" fontAlgn="auto">
              <a:lnSpc>
                <a:spcPct val="130000"/>
              </a:lnSpc>
              <a:spcAft>
                <a:spcPts val="600"/>
              </a:spcAft>
            </a:pPr>
            <a:r>
              <a:rPr lang="en-US" altLang="zh-CN" dirty="0">
                <a:sym typeface="+mn-ea"/>
              </a:rPr>
              <a:t>       </a:t>
            </a:r>
            <a:r>
              <a:rPr lang="zh-CN" altLang="en-US" dirty="0">
                <a:sym typeface="+mn-ea"/>
              </a:rPr>
              <a:t>把软件设计的结果用程序设计语言书写为计算机程序，称为</a:t>
            </a:r>
            <a:r>
              <a:rPr lang="zh-CN" altLang="en-US" dirty="0">
                <a:solidFill>
                  <a:srgbClr val="0070C0"/>
                </a:solidFill>
                <a:sym typeface="+mn-ea"/>
              </a:rPr>
              <a:t>编码</a:t>
            </a:r>
            <a:r>
              <a:rPr lang="zh-CN" altLang="en-US" dirty="0">
                <a:sym typeface="+mn-ea"/>
              </a:rPr>
              <a:t>。软件测试是指由人工或计算机来验证软件是否满足规定的需求或识别期望的结果和实际结果之间有无差别。</a:t>
            </a:r>
            <a:endParaRPr lang="zh-CN" altLang="en-US" dirty="0"/>
          </a:p>
          <a:p>
            <a:pPr marL="0" indent="0" algn="just" fontAlgn="auto">
              <a:lnSpc>
                <a:spcPct val="130000"/>
              </a:lnSpc>
              <a:spcAft>
                <a:spcPts val="600"/>
              </a:spcAft>
            </a:pPr>
            <a:r>
              <a:rPr lang="zh-CN" altLang="en-US" dirty="0">
                <a:sym typeface="+mn-ea"/>
              </a:rPr>
              <a:t>        一般地，在软件编码的同时要进行模块测试，然后在模块集成时进行多种方法的综合测试，因而软件编码和软件测试统称为软件实现。良好的编码风格有利于写出高质量的程序，高效的测试和调试能发现错误、改正错误，保证软件的质量。</a:t>
            </a:r>
            <a:endParaRPr lang="zh-CN" altLang="en-US" dirty="0"/>
          </a:p>
          <a:p>
            <a:pPr marL="0" indent="0" algn="just" fontAlgn="auto">
              <a:lnSpc>
                <a:spcPct val="130000"/>
              </a:lnSpc>
              <a:spcAft>
                <a:spcPts val="600"/>
              </a:spcAft>
            </a:pPr>
            <a:r>
              <a:rPr lang="zh-CN" altLang="en-US" dirty="0">
                <a:sym typeface="+mn-ea"/>
              </a:rPr>
              <a:t>★ 本章重点：程序设计风格；设计软件测试方案。</a:t>
            </a:r>
            <a:endParaRPr lang="zh-CN" altLang="en-US" dirty="0"/>
          </a:p>
        </p:txBody>
      </p:sp>
      <p:pic>
        <p:nvPicPr>
          <p:cNvPr id="8" name="图片 7" descr="20150912095423385.jpg"/>
          <p:cNvPicPr>
            <a:picLocks noChangeAspect="1"/>
          </p:cNvPicPr>
          <p:nvPr/>
        </p:nvPicPr>
        <p:blipFill>
          <a:blip r:embed="rId2" cstate="print"/>
          <a:stretch>
            <a:fillRect/>
          </a:stretch>
        </p:blipFill>
        <p:spPr>
          <a:xfrm>
            <a:off x="7564755" y="2575560"/>
            <a:ext cx="4147820" cy="2544445"/>
          </a:xfrm>
          <a:prstGeom prst="rect">
            <a:avLst/>
          </a:prstGeom>
        </p:spPr>
      </p:pic>
    </p:spTree>
  </p:cSld>
  <p:clrMapOvr>
    <a:masterClrMapping/>
  </p:clrMapOvr>
  <p:transition>
    <p:pull di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en-US" dirty="0"/>
              <a:t>4.1 </a:t>
            </a:r>
            <a:r>
              <a:rPr lang="zh-CN" dirty="0"/>
              <a:t>结构化程序设计</a:t>
            </a:r>
          </a:p>
        </p:txBody>
      </p:sp>
      <p:sp>
        <p:nvSpPr>
          <p:cNvPr id="6" name="文本占位符 5">
            <a:extLst>
              <a:ext uri="{FF2B5EF4-FFF2-40B4-BE49-F238E27FC236}">
                <a16:creationId xmlns:a16="http://schemas.microsoft.com/office/drawing/2014/main" id="{8B2816CA-BCA5-BDD5-8D23-13658003AB7D}"/>
              </a:ext>
            </a:extLst>
          </p:cNvPr>
          <p:cNvSpPr>
            <a:spLocks noGrp="1"/>
          </p:cNvSpPr>
          <p:nvPr>
            <p:ph type="body" sz="quarter" idx="10"/>
          </p:nvPr>
        </p:nvSpPr>
        <p:spPr>
          <a:xfrm>
            <a:off x="696000" y="1322832"/>
            <a:ext cx="5400000" cy="400110"/>
          </a:xfrm>
        </p:spPr>
        <p:txBody>
          <a:bodyPr/>
          <a:lstStyle/>
          <a:p>
            <a:r>
              <a:rPr lang="zh-CN" altLang="en-US" dirty="0"/>
              <a:t>引言</a:t>
            </a:r>
          </a:p>
        </p:txBody>
      </p:sp>
      <p:sp>
        <p:nvSpPr>
          <p:cNvPr id="11" name="文本占位符 10">
            <a:extLst>
              <a:ext uri="{FF2B5EF4-FFF2-40B4-BE49-F238E27FC236}">
                <a16:creationId xmlns:a16="http://schemas.microsoft.com/office/drawing/2014/main" id="{3693496B-668C-FEDD-C3E6-BBDBEA1635F4}"/>
              </a:ext>
            </a:extLst>
          </p:cNvPr>
          <p:cNvSpPr>
            <a:spLocks noGrp="1"/>
          </p:cNvSpPr>
          <p:nvPr>
            <p:ph type="body" sz="quarter" idx="11"/>
          </p:nvPr>
        </p:nvSpPr>
        <p:spPr>
          <a:xfrm>
            <a:off x="6096000" y="360128"/>
            <a:ext cx="5760000" cy="400110"/>
          </a:xfrm>
        </p:spPr>
        <p:txBody>
          <a:bodyPr>
            <a:normAutofit/>
          </a:bodyPr>
          <a:lstStyle/>
          <a:p>
            <a:r>
              <a:rPr lang="en-US" altLang="zh-CN" dirty="0"/>
              <a:t>Structured Programming</a:t>
            </a:r>
            <a:endParaRPr lang="zh-CN" altLang="en-US" dirty="0"/>
          </a:p>
        </p:txBody>
      </p:sp>
      <p:sp>
        <p:nvSpPr>
          <p:cNvPr id="100" name="文本框 99"/>
          <p:cNvSpPr txBox="1"/>
          <p:nvPr/>
        </p:nvSpPr>
        <p:spPr>
          <a:xfrm>
            <a:off x="695323" y="2237740"/>
            <a:ext cx="10800000" cy="2656176"/>
          </a:xfrm>
          <a:prstGeom prst="rect">
            <a:avLst/>
          </a:prstGeom>
          <a:noFill/>
          <a:ln w="9525">
            <a:noFill/>
          </a:ln>
        </p:spPr>
        <p:txBody>
          <a:bodyPr wrap="square">
            <a:spAutoFit/>
          </a:bodyPr>
          <a:lstStyle>
            <a:defPPr>
              <a:defRPr lang="zh-CN"/>
            </a:defPPr>
            <a:lvl1pPr indent="0" algn="just" fontAlgn="auto">
              <a:lnSpc>
                <a:spcPct val="130000"/>
              </a:lnSpc>
              <a:spcAft>
                <a:spcPts val="600"/>
              </a:spcAft>
            </a:lvl1pPr>
          </a:lstStyle>
          <a:p>
            <a:r>
              <a:rPr lang="en-US" altLang="zh-CN" dirty="0">
                <a:sym typeface="+mn-ea"/>
              </a:rPr>
              <a:t>       </a:t>
            </a:r>
            <a:r>
              <a:rPr lang="zh-CN" altLang="en-US" dirty="0">
                <a:sym typeface="+mn-ea"/>
              </a:rPr>
              <a:t>软件需求分析阶段和系统设计阶段所产生的文档，都不能直接在计算机上执行。只有完成了程序设计、产生可执行代码后，才能使系统的需求真正实现。</a:t>
            </a:r>
          </a:p>
          <a:p>
            <a:r>
              <a:rPr lang="zh-CN" altLang="en-US" dirty="0">
                <a:sym typeface="+mn-ea"/>
              </a:rPr>
              <a:t>       软件系统的分析和设计是程序设计（编码）的前导。实践表明，编码中出现的问题主要是由设计中存在的问题引起的。因而我们主张在编码之前进行分析、设计，尽可能在编码之前保证设计的正确性、高质量。然而这并不是说编码阶段无足轻重。相反，程序员应该能像优秀的翻译员，在编码时简明、清晰、高质量地将系统设计付诸实施。否则，软件工程前期阶段分析、设计的质量再高，如果在程序设计时质量不高的话，最后得到的软件质量仍得不到保证。</a:t>
            </a:r>
          </a:p>
        </p:txBody>
      </p:sp>
    </p:spTree>
  </p:cSld>
  <p:clrMapOvr>
    <a:masterClrMapping/>
  </p:clrMapOvr>
  <p:transition>
    <p:pull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en-US" dirty="0"/>
              <a:t>4.1 </a:t>
            </a:r>
            <a:r>
              <a:rPr lang="zh-CN" dirty="0"/>
              <a:t>结构化程序设计</a:t>
            </a:r>
          </a:p>
        </p:txBody>
      </p:sp>
      <p:sp>
        <p:nvSpPr>
          <p:cNvPr id="7" name="文本占位符 6">
            <a:extLst>
              <a:ext uri="{FF2B5EF4-FFF2-40B4-BE49-F238E27FC236}">
                <a16:creationId xmlns:a16="http://schemas.microsoft.com/office/drawing/2014/main" id="{CD318617-13E3-DA08-7125-EB70DE24081E}"/>
              </a:ext>
            </a:extLst>
          </p:cNvPr>
          <p:cNvSpPr>
            <a:spLocks noGrp="1"/>
          </p:cNvSpPr>
          <p:nvPr>
            <p:ph type="body" sz="quarter" idx="10"/>
          </p:nvPr>
        </p:nvSpPr>
        <p:spPr>
          <a:xfrm>
            <a:off x="696000" y="1322832"/>
            <a:ext cx="5400000" cy="400110"/>
          </a:xfrm>
        </p:spPr>
        <p:txBody>
          <a:bodyPr/>
          <a:lstStyle/>
          <a:p>
            <a:r>
              <a:rPr lang="zh-CN" altLang="en-US" dirty="0"/>
              <a:t>引言</a:t>
            </a:r>
            <a:r>
              <a:rPr lang="en-US" altLang="zh-CN" dirty="0"/>
              <a:t>-</a:t>
            </a:r>
            <a:r>
              <a:rPr lang="zh-CN" altLang="en-US" dirty="0"/>
              <a:t>基本要点</a:t>
            </a:r>
          </a:p>
        </p:txBody>
      </p:sp>
      <p:sp>
        <p:nvSpPr>
          <p:cNvPr id="20" name="文本占位符 19">
            <a:extLst>
              <a:ext uri="{FF2B5EF4-FFF2-40B4-BE49-F238E27FC236}">
                <a16:creationId xmlns:a16="http://schemas.microsoft.com/office/drawing/2014/main" id="{914E7CE5-6EEF-8A95-E619-7940F2B68E6E}"/>
              </a:ext>
            </a:extLst>
          </p:cNvPr>
          <p:cNvSpPr>
            <a:spLocks noGrp="1"/>
          </p:cNvSpPr>
          <p:nvPr>
            <p:ph type="body" sz="quarter" idx="11"/>
          </p:nvPr>
        </p:nvSpPr>
        <p:spPr>
          <a:xfrm>
            <a:off x="6096000" y="360128"/>
            <a:ext cx="5760000" cy="400110"/>
          </a:xfrm>
        </p:spPr>
        <p:txBody>
          <a:bodyPr>
            <a:noAutofit/>
          </a:bodyPr>
          <a:lstStyle/>
          <a:p>
            <a:r>
              <a:rPr lang="en-US" altLang="zh-CN" dirty="0"/>
              <a:t>Structured Design</a:t>
            </a:r>
            <a:endParaRPr lang="zh-CN" altLang="en-US" dirty="0"/>
          </a:p>
        </p:txBody>
      </p:sp>
      <p:sp>
        <p:nvSpPr>
          <p:cNvPr id="39" name="文本框 38"/>
          <p:cNvSpPr txBox="1"/>
          <p:nvPr>
            <p:custDataLst>
              <p:tags r:id="rId1"/>
            </p:custDataLst>
          </p:nvPr>
        </p:nvSpPr>
        <p:spPr>
          <a:xfrm>
            <a:off x="7213600" y="4662170"/>
            <a:ext cx="3658870" cy="1089660"/>
          </a:xfrm>
          <a:prstGeom prst="rect">
            <a:avLst/>
          </a:prstGeom>
          <a:noFill/>
        </p:spPr>
        <p:txBody>
          <a:bodyPr wrap="square" rtlCol="0">
            <a:normAutofit/>
          </a:bodyPr>
          <a:lstStyle/>
          <a:p>
            <a:pPr algn="just" eaLnBrk="1" hangingPunct="1">
              <a:lnSpc>
                <a:spcPct val="120000"/>
              </a:lnSpc>
              <a:spcBef>
                <a:spcPts val="0"/>
              </a:spcBef>
              <a:spcAft>
                <a:spcPts val="0"/>
              </a:spcAft>
              <a:defRPr/>
            </a:pPr>
            <a:r>
              <a:rPr lang="zh-CN" altLang="en-US" dirty="0">
                <a:sym typeface="+mn-ea"/>
              </a:rPr>
              <a:t>采用主程序员组的组织形式。</a:t>
            </a:r>
            <a:endParaRPr lang="en-US" altLang="zh-CN" dirty="0">
              <a:sym typeface="+mn-ea"/>
            </a:endParaRPr>
          </a:p>
          <a:p>
            <a:pPr algn="just" eaLnBrk="1" hangingPunct="1">
              <a:lnSpc>
                <a:spcPct val="120000"/>
              </a:lnSpc>
              <a:spcBef>
                <a:spcPts val="0"/>
              </a:spcBef>
              <a:spcAft>
                <a:spcPts val="0"/>
              </a:spcAft>
              <a:defRPr/>
            </a:pPr>
            <a:r>
              <a:rPr lang="zh-CN" altLang="en-US" dirty="0">
                <a:sym typeface="+mn-ea"/>
              </a:rPr>
              <a:t>用经验多、能力强、技术好的程序员作为主程序员。</a:t>
            </a:r>
          </a:p>
        </p:txBody>
      </p:sp>
      <p:grpSp>
        <p:nvGrpSpPr>
          <p:cNvPr id="6" name="组合 5"/>
          <p:cNvGrpSpPr/>
          <p:nvPr>
            <p:custDataLst>
              <p:tags r:id="rId2"/>
            </p:custDataLst>
          </p:nvPr>
        </p:nvGrpSpPr>
        <p:grpSpPr>
          <a:xfrm>
            <a:off x="4258955" y="2502062"/>
            <a:ext cx="3357880" cy="3361055"/>
            <a:chOff x="4545541" y="1813445"/>
            <a:chExt cx="3358094" cy="3360852"/>
          </a:xfrm>
        </p:grpSpPr>
        <p:grpSp>
          <p:nvGrpSpPr>
            <p:cNvPr id="31" name="组合 30"/>
            <p:cNvGrpSpPr/>
            <p:nvPr/>
          </p:nvGrpSpPr>
          <p:grpSpPr>
            <a:xfrm rot="19780964">
              <a:off x="4545541" y="1813445"/>
              <a:ext cx="3358094" cy="3360852"/>
              <a:chOff x="4292600" y="1528763"/>
              <a:chExt cx="3863975" cy="3867151"/>
            </a:xfrm>
          </p:grpSpPr>
          <p:sp>
            <p:nvSpPr>
              <p:cNvPr id="8" name="Freeform 5"/>
              <p:cNvSpPr/>
              <p:nvPr>
                <p:custDataLst>
                  <p:tags r:id="rId14"/>
                </p:custDataLst>
              </p:nvPr>
            </p:nvSpPr>
            <p:spPr bwMode="auto">
              <a:xfrm>
                <a:off x="6096000" y="1528763"/>
                <a:ext cx="2060575" cy="2708275"/>
              </a:xfrm>
              <a:custGeom>
                <a:avLst/>
                <a:gdLst>
                  <a:gd name="T0" fmla="*/ 0 w 10817"/>
                  <a:gd name="T1" fmla="*/ 9470 h 14205"/>
                  <a:gd name="T2" fmla="*/ 8202 w 10817"/>
                  <a:gd name="T3" fmla="*/ 14205 h 14205"/>
                  <a:gd name="T4" fmla="*/ 4736 w 10817"/>
                  <a:gd name="T5" fmla="*/ 1268 h 14205"/>
                  <a:gd name="T6" fmla="*/ 0 w 10817"/>
                  <a:gd name="T7" fmla="*/ 0 h 14205"/>
                  <a:gd name="T8" fmla="*/ 0 w 10817"/>
                  <a:gd name="T9" fmla="*/ 9470 h 14205"/>
                </a:gdLst>
                <a:ahLst/>
                <a:cxnLst>
                  <a:cxn ang="0">
                    <a:pos x="T0" y="T1"/>
                  </a:cxn>
                  <a:cxn ang="0">
                    <a:pos x="T2" y="T3"/>
                  </a:cxn>
                  <a:cxn ang="0">
                    <a:pos x="T4" y="T5"/>
                  </a:cxn>
                  <a:cxn ang="0">
                    <a:pos x="T6" y="T7"/>
                  </a:cxn>
                  <a:cxn ang="0">
                    <a:pos x="T8" y="T9"/>
                  </a:cxn>
                </a:cxnLst>
                <a:rect l="0" t="0" r="r" b="b"/>
                <a:pathLst>
                  <a:path w="10817" h="14205">
                    <a:moveTo>
                      <a:pt x="0" y="9470"/>
                    </a:moveTo>
                    <a:lnTo>
                      <a:pt x="8202" y="14205"/>
                    </a:lnTo>
                    <a:cubicBezTo>
                      <a:pt x="10817" y="9675"/>
                      <a:pt x="9265" y="3884"/>
                      <a:pt x="4736" y="1268"/>
                    </a:cubicBezTo>
                    <a:cubicBezTo>
                      <a:pt x="3296" y="437"/>
                      <a:pt x="1663" y="0"/>
                      <a:pt x="0" y="0"/>
                    </a:cubicBezTo>
                    <a:lnTo>
                      <a:pt x="0" y="9470"/>
                    </a:lnTo>
                    <a:close/>
                  </a:path>
                </a:pathLst>
              </a:custGeom>
              <a:solidFill>
                <a:srgbClr val="A4C47E"/>
              </a:solidFill>
              <a:ln w="0">
                <a:noFill/>
                <a:prstDash val="solid"/>
                <a:round/>
              </a:ln>
            </p:spPr>
            <p:txBody>
              <a:bodyPr vert="horz" wrap="square" lIns="91440" tIns="45720" rIns="91440" bIns="45720" numCol="1" anchor="t" anchorCtr="0" compatLnSpc="1">
                <a:normAutofit/>
              </a:bodyPr>
              <a:lstStyle/>
              <a:p>
                <a:endParaRPr lang="zh-CN" altLang="en-US" dirty="0">
                  <a:latin typeface="Times New Roman" panose="02020603050405020304" pitchFamily="18" charset="0"/>
                  <a:sym typeface="Arial" panose="020B0604020202020204" pitchFamily="34" charset="0"/>
                </a:endParaRPr>
              </a:p>
            </p:txBody>
          </p:sp>
          <p:sp>
            <p:nvSpPr>
              <p:cNvPr id="26" name="Freeform 7"/>
              <p:cNvSpPr/>
              <p:nvPr>
                <p:custDataLst>
                  <p:tags r:id="rId15"/>
                </p:custDataLst>
              </p:nvPr>
            </p:nvSpPr>
            <p:spPr bwMode="auto">
              <a:xfrm>
                <a:off x="4533900" y="3333751"/>
                <a:ext cx="3124200" cy="2062163"/>
              </a:xfrm>
              <a:custGeom>
                <a:avLst/>
                <a:gdLst>
                  <a:gd name="T0" fmla="*/ 8201 w 16403"/>
                  <a:gd name="T1" fmla="*/ 0 h 10816"/>
                  <a:gd name="T2" fmla="*/ 0 w 16403"/>
                  <a:gd name="T3" fmla="*/ 4735 h 10816"/>
                  <a:gd name="T4" fmla="*/ 12937 w 16403"/>
                  <a:gd name="T5" fmla="*/ 8201 h 10816"/>
                  <a:gd name="T6" fmla="*/ 16403 w 16403"/>
                  <a:gd name="T7" fmla="*/ 4735 h 10816"/>
                  <a:gd name="T8" fmla="*/ 8201 w 16403"/>
                  <a:gd name="T9" fmla="*/ 0 h 10816"/>
                </a:gdLst>
                <a:ahLst/>
                <a:cxnLst>
                  <a:cxn ang="0">
                    <a:pos x="T0" y="T1"/>
                  </a:cxn>
                  <a:cxn ang="0">
                    <a:pos x="T2" y="T3"/>
                  </a:cxn>
                  <a:cxn ang="0">
                    <a:pos x="T4" y="T5"/>
                  </a:cxn>
                  <a:cxn ang="0">
                    <a:pos x="T6" y="T7"/>
                  </a:cxn>
                  <a:cxn ang="0">
                    <a:pos x="T8" y="T9"/>
                  </a:cxn>
                </a:cxnLst>
                <a:rect l="0" t="0" r="r" b="b"/>
                <a:pathLst>
                  <a:path w="16403" h="10816">
                    <a:moveTo>
                      <a:pt x="8201" y="0"/>
                    </a:moveTo>
                    <a:lnTo>
                      <a:pt x="0" y="4735"/>
                    </a:lnTo>
                    <a:cubicBezTo>
                      <a:pt x="2615" y="9265"/>
                      <a:pt x="8407" y="10816"/>
                      <a:pt x="12937" y="8201"/>
                    </a:cubicBezTo>
                    <a:cubicBezTo>
                      <a:pt x="14376" y="7370"/>
                      <a:pt x="15572" y="6175"/>
                      <a:pt x="16403" y="4735"/>
                    </a:cubicBezTo>
                    <a:lnTo>
                      <a:pt x="8201" y="0"/>
                    </a:lnTo>
                    <a:close/>
                  </a:path>
                </a:pathLst>
              </a:custGeom>
              <a:solidFill>
                <a:srgbClr val="4D91BF"/>
              </a:solidFill>
              <a:ln w="0">
                <a:noFill/>
                <a:prstDash val="solid"/>
                <a:round/>
              </a:ln>
            </p:spPr>
            <p:txBody>
              <a:bodyPr vert="horz" wrap="square" lIns="91440" tIns="45720" rIns="91440" bIns="45720" numCol="1" anchor="t" anchorCtr="0" compatLnSpc="1">
                <a:normAutofit/>
              </a:bodyPr>
              <a:lstStyle/>
              <a:p>
                <a:endParaRPr lang="zh-CN" altLang="en-US" dirty="0">
                  <a:latin typeface="Times New Roman" panose="02020603050405020304" pitchFamily="18" charset="0"/>
                  <a:sym typeface="Arial" panose="020B0604020202020204" pitchFamily="34" charset="0"/>
                </a:endParaRPr>
              </a:p>
            </p:txBody>
          </p:sp>
          <p:sp>
            <p:nvSpPr>
              <p:cNvPr id="28" name="Freeform 9"/>
              <p:cNvSpPr/>
              <p:nvPr>
                <p:custDataLst>
                  <p:tags r:id="rId16"/>
                </p:custDataLst>
              </p:nvPr>
            </p:nvSpPr>
            <p:spPr bwMode="auto">
              <a:xfrm>
                <a:off x="4292600" y="1528763"/>
                <a:ext cx="1803400" cy="2708275"/>
              </a:xfrm>
              <a:custGeom>
                <a:avLst/>
                <a:gdLst>
                  <a:gd name="T0" fmla="*/ 18940 w 18940"/>
                  <a:gd name="T1" fmla="*/ 18940 h 28411"/>
                  <a:gd name="T2" fmla="*/ 18940 w 18940"/>
                  <a:gd name="T3" fmla="*/ 0 h 28411"/>
                  <a:gd name="T4" fmla="*/ 0 w 18940"/>
                  <a:gd name="T5" fmla="*/ 18940 h 28411"/>
                  <a:gd name="T6" fmla="*/ 2537 w 18940"/>
                  <a:gd name="T7" fmla="*/ 28411 h 28411"/>
                  <a:gd name="T8" fmla="*/ 18940 w 18940"/>
                  <a:gd name="T9" fmla="*/ 18940 h 28411"/>
                </a:gdLst>
                <a:ahLst/>
                <a:cxnLst>
                  <a:cxn ang="0">
                    <a:pos x="T0" y="T1"/>
                  </a:cxn>
                  <a:cxn ang="0">
                    <a:pos x="T2" y="T3"/>
                  </a:cxn>
                  <a:cxn ang="0">
                    <a:pos x="T4" y="T5"/>
                  </a:cxn>
                  <a:cxn ang="0">
                    <a:pos x="T6" y="T7"/>
                  </a:cxn>
                  <a:cxn ang="0">
                    <a:pos x="T8" y="T9"/>
                  </a:cxn>
                </a:cxnLst>
                <a:rect l="0" t="0" r="r" b="b"/>
                <a:pathLst>
                  <a:path w="18940" h="28411">
                    <a:moveTo>
                      <a:pt x="18940" y="18940"/>
                    </a:moveTo>
                    <a:lnTo>
                      <a:pt x="18940" y="0"/>
                    </a:lnTo>
                    <a:cubicBezTo>
                      <a:pt x="8480" y="0"/>
                      <a:pt x="0" y="8480"/>
                      <a:pt x="0" y="18940"/>
                    </a:cubicBezTo>
                    <a:cubicBezTo>
                      <a:pt x="0" y="22265"/>
                      <a:pt x="875" y="25531"/>
                      <a:pt x="2537" y="28411"/>
                    </a:cubicBezTo>
                    <a:lnTo>
                      <a:pt x="18940" y="18940"/>
                    </a:lnTo>
                    <a:close/>
                  </a:path>
                </a:pathLst>
              </a:custGeom>
              <a:solidFill>
                <a:srgbClr val="0FA1AB"/>
              </a:solidFill>
              <a:ln w="0">
                <a:noFill/>
                <a:prstDash val="solid"/>
                <a:round/>
              </a:ln>
            </p:spPr>
            <p:txBody>
              <a:bodyPr vert="horz" wrap="square" lIns="91440" tIns="45720" rIns="91440" bIns="45720" numCol="1" anchor="t" anchorCtr="0" compatLnSpc="1">
                <a:normAutofit/>
              </a:bodyPr>
              <a:lstStyle/>
              <a:p>
                <a:endParaRPr lang="zh-CN" altLang="en-US" dirty="0">
                  <a:latin typeface="Times New Roman" panose="02020603050405020304" pitchFamily="18" charset="0"/>
                  <a:sym typeface="Arial" panose="020B0604020202020204" pitchFamily="34" charset="0"/>
                </a:endParaRPr>
              </a:p>
            </p:txBody>
          </p:sp>
        </p:grpSp>
        <p:grpSp>
          <p:nvGrpSpPr>
            <p:cNvPr id="10" name="组合 9"/>
            <p:cNvGrpSpPr/>
            <p:nvPr/>
          </p:nvGrpSpPr>
          <p:grpSpPr>
            <a:xfrm>
              <a:off x="7117751" y="2851667"/>
              <a:ext cx="642223" cy="844731"/>
              <a:chOff x="7269873" y="3048000"/>
              <a:chExt cx="484632" cy="637448"/>
            </a:xfrm>
          </p:grpSpPr>
          <p:sp>
            <p:nvSpPr>
              <p:cNvPr id="19" name="任意多边形 18"/>
              <p:cNvSpPr/>
              <p:nvPr>
                <p:custDataLst>
                  <p:tags r:id="rId12"/>
                </p:custDataLst>
              </p:nvPr>
            </p:nvSpPr>
            <p:spPr>
              <a:xfrm>
                <a:off x="7269873" y="3048000"/>
                <a:ext cx="484632" cy="637448"/>
              </a:xfrm>
              <a:custGeom>
                <a:avLst/>
                <a:gdLst>
                  <a:gd name="connsiteX0" fmla="*/ 17934 w 484632"/>
                  <a:gd name="connsiteY0" fmla="*/ 0 h 637448"/>
                  <a:gd name="connsiteX1" fmla="*/ 273387 w 484632"/>
                  <a:gd name="connsiteY1" fmla="*/ 0 h 637448"/>
                  <a:gd name="connsiteX2" fmla="*/ 280433 w 484632"/>
                  <a:gd name="connsiteY2" fmla="*/ 17210 h 637448"/>
                  <a:gd name="connsiteX3" fmla="*/ 318373 w 484632"/>
                  <a:gd name="connsiteY3" fmla="*/ 120650 h 637448"/>
                  <a:gd name="connsiteX4" fmla="*/ 363474 w 484632"/>
                  <a:gd name="connsiteY4" fmla="*/ 395132 h 637448"/>
                  <a:gd name="connsiteX5" fmla="*/ 484632 w 484632"/>
                  <a:gd name="connsiteY5" fmla="*/ 395132 h 637448"/>
                  <a:gd name="connsiteX6" fmla="*/ 242316 w 484632"/>
                  <a:gd name="connsiteY6" fmla="*/ 637448 h 637448"/>
                  <a:gd name="connsiteX7" fmla="*/ 0 w 484632"/>
                  <a:gd name="connsiteY7" fmla="*/ 395132 h 637448"/>
                  <a:gd name="connsiteX8" fmla="*/ 121158 w 484632"/>
                  <a:gd name="connsiteY8" fmla="*/ 395132 h 637448"/>
                  <a:gd name="connsiteX9" fmla="*/ 89773 w 484632"/>
                  <a:gd name="connsiteY9" fmla="*/ 171450 h 637448"/>
                  <a:gd name="connsiteX10" fmla="*/ 48941 w 484632"/>
                  <a:gd name="connsiteY10" fmla="*/ 69243 h 637448"/>
                  <a:gd name="connsiteX0-1" fmla="*/ 17934 w 484632"/>
                  <a:gd name="connsiteY0-2" fmla="*/ 0 h 637448"/>
                  <a:gd name="connsiteX1-3" fmla="*/ 273387 w 484632"/>
                  <a:gd name="connsiteY1-4" fmla="*/ 0 h 637448"/>
                  <a:gd name="connsiteX2-5" fmla="*/ 280433 w 484632"/>
                  <a:gd name="connsiteY2-6" fmla="*/ 17210 h 637448"/>
                  <a:gd name="connsiteX3-7" fmla="*/ 337423 w 484632"/>
                  <a:gd name="connsiteY3-8" fmla="*/ 120650 h 637448"/>
                  <a:gd name="connsiteX4-9" fmla="*/ 363474 w 484632"/>
                  <a:gd name="connsiteY4-10" fmla="*/ 395132 h 637448"/>
                  <a:gd name="connsiteX5-11" fmla="*/ 484632 w 484632"/>
                  <a:gd name="connsiteY5-12" fmla="*/ 395132 h 637448"/>
                  <a:gd name="connsiteX6-13" fmla="*/ 242316 w 484632"/>
                  <a:gd name="connsiteY6-14" fmla="*/ 637448 h 637448"/>
                  <a:gd name="connsiteX7-15" fmla="*/ 0 w 484632"/>
                  <a:gd name="connsiteY7-16" fmla="*/ 395132 h 637448"/>
                  <a:gd name="connsiteX8-17" fmla="*/ 121158 w 484632"/>
                  <a:gd name="connsiteY8-18" fmla="*/ 395132 h 637448"/>
                  <a:gd name="connsiteX9-19" fmla="*/ 89773 w 484632"/>
                  <a:gd name="connsiteY9-20" fmla="*/ 171450 h 637448"/>
                  <a:gd name="connsiteX10-21" fmla="*/ 48941 w 484632"/>
                  <a:gd name="connsiteY10-22" fmla="*/ 69243 h 637448"/>
                  <a:gd name="connsiteX11" fmla="*/ 17934 w 484632"/>
                  <a:gd name="connsiteY11" fmla="*/ 0 h 637448"/>
                  <a:gd name="connsiteX0-23" fmla="*/ 17934 w 484632"/>
                  <a:gd name="connsiteY0-24" fmla="*/ 0 h 637448"/>
                  <a:gd name="connsiteX1-25" fmla="*/ 273387 w 484632"/>
                  <a:gd name="connsiteY1-26" fmla="*/ 0 h 637448"/>
                  <a:gd name="connsiteX2-27" fmla="*/ 280433 w 484632"/>
                  <a:gd name="connsiteY2-28" fmla="*/ 17210 h 637448"/>
                  <a:gd name="connsiteX3-29" fmla="*/ 337423 w 484632"/>
                  <a:gd name="connsiteY3-30" fmla="*/ 120650 h 637448"/>
                  <a:gd name="connsiteX4-31" fmla="*/ 363474 w 484632"/>
                  <a:gd name="connsiteY4-32" fmla="*/ 395132 h 637448"/>
                  <a:gd name="connsiteX5-33" fmla="*/ 484632 w 484632"/>
                  <a:gd name="connsiteY5-34" fmla="*/ 395132 h 637448"/>
                  <a:gd name="connsiteX6-35" fmla="*/ 242316 w 484632"/>
                  <a:gd name="connsiteY6-36" fmla="*/ 637448 h 637448"/>
                  <a:gd name="connsiteX7-37" fmla="*/ 0 w 484632"/>
                  <a:gd name="connsiteY7-38" fmla="*/ 395132 h 637448"/>
                  <a:gd name="connsiteX8-39" fmla="*/ 121158 w 484632"/>
                  <a:gd name="connsiteY8-40" fmla="*/ 395132 h 637448"/>
                  <a:gd name="connsiteX9-41" fmla="*/ 89773 w 484632"/>
                  <a:gd name="connsiteY9-42" fmla="*/ 171450 h 637448"/>
                  <a:gd name="connsiteX10-43" fmla="*/ 48941 w 484632"/>
                  <a:gd name="connsiteY10-44" fmla="*/ 69243 h 637448"/>
                  <a:gd name="connsiteX11-45" fmla="*/ 17934 w 484632"/>
                  <a:gd name="connsiteY11-46" fmla="*/ 0 h 637448"/>
                  <a:gd name="connsiteX0-47" fmla="*/ 17934 w 484632"/>
                  <a:gd name="connsiteY0-48" fmla="*/ 0 h 637448"/>
                  <a:gd name="connsiteX1-49" fmla="*/ 273387 w 484632"/>
                  <a:gd name="connsiteY1-50" fmla="*/ 0 h 637448"/>
                  <a:gd name="connsiteX2-51" fmla="*/ 280433 w 484632"/>
                  <a:gd name="connsiteY2-52" fmla="*/ 17210 h 637448"/>
                  <a:gd name="connsiteX3-53" fmla="*/ 337423 w 484632"/>
                  <a:gd name="connsiteY3-54" fmla="*/ 120650 h 637448"/>
                  <a:gd name="connsiteX4-55" fmla="*/ 363474 w 484632"/>
                  <a:gd name="connsiteY4-56" fmla="*/ 395132 h 637448"/>
                  <a:gd name="connsiteX5-57" fmla="*/ 484632 w 484632"/>
                  <a:gd name="connsiteY5-58" fmla="*/ 395132 h 637448"/>
                  <a:gd name="connsiteX6-59" fmla="*/ 242316 w 484632"/>
                  <a:gd name="connsiteY6-60" fmla="*/ 637448 h 637448"/>
                  <a:gd name="connsiteX7-61" fmla="*/ 0 w 484632"/>
                  <a:gd name="connsiteY7-62" fmla="*/ 395132 h 637448"/>
                  <a:gd name="connsiteX8-63" fmla="*/ 121158 w 484632"/>
                  <a:gd name="connsiteY8-64" fmla="*/ 395132 h 637448"/>
                  <a:gd name="connsiteX9-65" fmla="*/ 89773 w 484632"/>
                  <a:gd name="connsiteY9-66" fmla="*/ 171450 h 637448"/>
                  <a:gd name="connsiteX10-67" fmla="*/ 48941 w 484632"/>
                  <a:gd name="connsiteY10-68" fmla="*/ 69243 h 637448"/>
                  <a:gd name="connsiteX11-69" fmla="*/ 17934 w 484632"/>
                  <a:gd name="connsiteY11-70" fmla="*/ 0 h 637448"/>
                  <a:gd name="connsiteX0-71" fmla="*/ 17934 w 484632"/>
                  <a:gd name="connsiteY0-72" fmla="*/ 0 h 637448"/>
                  <a:gd name="connsiteX1-73" fmla="*/ 273387 w 484632"/>
                  <a:gd name="connsiteY1-74" fmla="*/ 0 h 637448"/>
                  <a:gd name="connsiteX2-75" fmla="*/ 305833 w 484632"/>
                  <a:gd name="connsiteY2-76" fmla="*/ 10860 h 637448"/>
                  <a:gd name="connsiteX3-77" fmla="*/ 337423 w 484632"/>
                  <a:gd name="connsiteY3-78" fmla="*/ 120650 h 637448"/>
                  <a:gd name="connsiteX4-79" fmla="*/ 363474 w 484632"/>
                  <a:gd name="connsiteY4-80" fmla="*/ 395132 h 637448"/>
                  <a:gd name="connsiteX5-81" fmla="*/ 484632 w 484632"/>
                  <a:gd name="connsiteY5-82" fmla="*/ 395132 h 637448"/>
                  <a:gd name="connsiteX6-83" fmla="*/ 242316 w 484632"/>
                  <a:gd name="connsiteY6-84" fmla="*/ 637448 h 637448"/>
                  <a:gd name="connsiteX7-85" fmla="*/ 0 w 484632"/>
                  <a:gd name="connsiteY7-86" fmla="*/ 395132 h 637448"/>
                  <a:gd name="connsiteX8-87" fmla="*/ 121158 w 484632"/>
                  <a:gd name="connsiteY8-88" fmla="*/ 395132 h 637448"/>
                  <a:gd name="connsiteX9-89" fmla="*/ 89773 w 484632"/>
                  <a:gd name="connsiteY9-90" fmla="*/ 171450 h 637448"/>
                  <a:gd name="connsiteX10-91" fmla="*/ 48941 w 484632"/>
                  <a:gd name="connsiteY10-92" fmla="*/ 69243 h 637448"/>
                  <a:gd name="connsiteX11-93" fmla="*/ 17934 w 484632"/>
                  <a:gd name="connsiteY11-94" fmla="*/ 0 h 637448"/>
                  <a:gd name="connsiteX0-95" fmla="*/ 17934 w 484632"/>
                  <a:gd name="connsiteY0-96" fmla="*/ 0 h 637448"/>
                  <a:gd name="connsiteX1-97" fmla="*/ 273387 w 484632"/>
                  <a:gd name="connsiteY1-98" fmla="*/ 0 h 637448"/>
                  <a:gd name="connsiteX2-99" fmla="*/ 305833 w 484632"/>
                  <a:gd name="connsiteY2-100" fmla="*/ 10860 h 637448"/>
                  <a:gd name="connsiteX3-101" fmla="*/ 337423 w 484632"/>
                  <a:gd name="connsiteY3-102" fmla="*/ 120650 h 637448"/>
                  <a:gd name="connsiteX4-103" fmla="*/ 363474 w 484632"/>
                  <a:gd name="connsiteY4-104" fmla="*/ 395132 h 637448"/>
                  <a:gd name="connsiteX5-105" fmla="*/ 484632 w 484632"/>
                  <a:gd name="connsiteY5-106" fmla="*/ 395132 h 637448"/>
                  <a:gd name="connsiteX6-107" fmla="*/ 242316 w 484632"/>
                  <a:gd name="connsiteY6-108" fmla="*/ 637448 h 637448"/>
                  <a:gd name="connsiteX7-109" fmla="*/ 0 w 484632"/>
                  <a:gd name="connsiteY7-110" fmla="*/ 395132 h 637448"/>
                  <a:gd name="connsiteX8-111" fmla="*/ 121158 w 484632"/>
                  <a:gd name="connsiteY8-112" fmla="*/ 395132 h 637448"/>
                  <a:gd name="connsiteX9-113" fmla="*/ 121523 w 484632"/>
                  <a:gd name="connsiteY9-114" fmla="*/ 165100 h 637448"/>
                  <a:gd name="connsiteX10-115" fmla="*/ 48941 w 484632"/>
                  <a:gd name="connsiteY10-116" fmla="*/ 69243 h 637448"/>
                  <a:gd name="connsiteX11-117" fmla="*/ 17934 w 484632"/>
                  <a:gd name="connsiteY11-118" fmla="*/ 0 h 637448"/>
                  <a:gd name="connsiteX0-119" fmla="*/ 17934 w 484632"/>
                  <a:gd name="connsiteY0-120" fmla="*/ 0 h 637448"/>
                  <a:gd name="connsiteX1-121" fmla="*/ 273387 w 484632"/>
                  <a:gd name="connsiteY1-122" fmla="*/ 0 h 637448"/>
                  <a:gd name="connsiteX2-123" fmla="*/ 305833 w 484632"/>
                  <a:gd name="connsiteY2-124" fmla="*/ 10860 h 637448"/>
                  <a:gd name="connsiteX3-125" fmla="*/ 337423 w 484632"/>
                  <a:gd name="connsiteY3-126" fmla="*/ 120650 h 637448"/>
                  <a:gd name="connsiteX4-127" fmla="*/ 363474 w 484632"/>
                  <a:gd name="connsiteY4-128" fmla="*/ 395132 h 637448"/>
                  <a:gd name="connsiteX5-129" fmla="*/ 484632 w 484632"/>
                  <a:gd name="connsiteY5-130" fmla="*/ 395132 h 637448"/>
                  <a:gd name="connsiteX6-131" fmla="*/ 242316 w 484632"/>
                  <a:gd name="connsiteY6-132" fmla="*/ 637448 h 637448"/>
                  <a:gd name="connsiteX7-133" fmla="*/ 0 w 484632"/>
                  <a:gd name="connsiteY7-134" fmla="*/ 395132 h 637448"/>
                  <a:gd name="connsiteX8-135" fmla="*/ 121158 w 484632"/>
                  <a:gd name="connsiteY8-136" fmla="*/ 395132 h 637448"/>
                  <a:gd name="connsiteX9-137" fmla="*/ 121523 w 484632"/>
                  <a:gd name="connsiteY9-138" fmla="*/ 165100 h 637448"/>
                  <a:gd name="connsiteX10-139" fmla="*/ 106091 w 484632"/>
                  <a:gd name="connsiteY10-140" fmla="*/ 62893 h 637448"/>
                  <a:gd name="connsiteX11-141" fmla="*/ 17934 w 484632"/>
                  <a:gd name="connsiteY11-142" fmla="*/ 0 h 637448"/>
                  <a:gd name="connsiteX0-143" fmla="*/ 87784 w 484632"/>
                  <a:gd name="connsiteY0-144" fmla="*/ 0 h 637448"/>
                  <a:gd name="connsiteX1-145" fmla="*/ 273387 w 484632"/>
                  <a:gd name="connsiteY1-146" fmla="*/ 0 h 637448"/>
                  <a:gd name="connsiteX2-147" fmla="*/ 305833 w 484632"/>
                  <a:gd name="connsiteY2-148" fmla="*/ 10860 h 637448"/>
                  <a:gd name="connsiteX3-149" fmla="*/ 337423 w 484632"/>
                  <a:gd name="connsiteY3-150" fmla="*/ 120650 h 637448"/>
                  <a:gd name="connsiteX4-151" fmla="*/ 363474 w 484632"/>
                  <a:gd name="connsiteY4-152" fmla="*/ 395132 h 637448"/>
                  <a:gd name="connsiteX5-153" fmla="*/ 484632 w 484632"/>
                  <a:gd name="connsiteY5-154" fmla="*/ 395132 h 637448"/>
                  <a:gd name="connsiteX6-155" fmla="*/ 242316 w 484632"/>
                  <a:gd name="connsiteY6-156" fmla="*/ 637448 h 637448"/>
                  <a:gd name="connsiteX7-157" fmla="*/ 0 w 484632"/>
                  <a:gd name="connsiteY7-158" fmla="*/ 395132 h 637448"/>
                  <a:gd name="connsiteX8-159" fmla="*/ 121158 w 484632"/>
                  <a:gd name="connsiteY8-160" fmla="*/ 395132 h 637448"/>
                  <a:gd name="connsiteX9-161" fmla="*/ 121523 w 484632"/>
                  <a:gd name="connsiteY9-162" fmla="*/ 165100 h 637448"/>
                  <a:gd name="connsiteX10-163" fmla="*/ 106091 w 484632"/>
                  <a:gd name="connsiteY10-164" fmla="*/ 62893 h 637448"/>
                  <a:gd name="connsiteX11-165" fmla="*/ 87784 w 484632"/>
                  <a:gd name="connsiteY11-166" fmla="*/ 0 h 637448"/>
                  <a:gd name="connsiteX0-167" fmla="*/ 87784 w 484632"/>
                  <a:gd name="connsiteY0-168" fmla="*/ 6350 h 637448"/>
                  <a:gd name="connsiteX1-169" fmla="*/ 273387 w 484632"/>
                  <a:gd name="connsiteY1-170" fmla="*/ 0 h 637448"/>
                  <a:gd name="connsiteX2-171" fmla="*/ 305833 w 484632"/>
                  <a:gd name="connsiteY2-172" fmla="*/ 10860 h 637448"/>
                  <a:gd name="connsiteX3-173" fmla="*/ 337423 w 484632"/>
                  <a:gd name="connsiteY3-174" fmla="*/ 120650 h 637448"/>
                  <a:gd name="connsiteX4-175" fmla="*/ 363474 w 484632"/>
                  <a:gd name="connsiteY4-176" fmla="*/ 395132 h 637448"/>
                  <a:gd name="connsiteX5-177" fmla="*/ 484632 w 484632"/>
                  <a:gd name="connsiteY5-178" fmla="*/ 395132 h 637448"/>
                  <a:gd name="connsiteX6-179" fmla="*/ 242316 w 484632"/>
                  <a:gd name="connsiteY6-180" fmla="*/ 637448 h 637448"/>
                  <a:gd name="connsiteX7-181" fmla="*/ 0 w 484632"/>
                  <a:gd name="connsiteY7-182" fmla="*/ 395132 h 637448"/>
                  <a:gd name="connsiteX8-183" fmla="*/ 121158 w 484632"/>
                  <a:gd name="connsiteY8-184" fmla="*/ 395132 h 637448"/>
                  <a:gd name="connsiteX9-185" fmla="*/ 121523 w 484632"/>
                  <a:gd name="connsiteY9-186" fmla="*/ 165100 h 637448"/>
                  <a:gd name="connsiteX10-187" fmla="*/ 106091 w 484632"/>
                  <a:gd name="connsiteY10-188" fmla="*/ 62893 h 637448"/>
                  <a:gd name="connsiteX11-189" fmla="*/ 87784 w 484632"/>
                  <a:gd name="connsiteY11-190" fmla="*/ 6350 h 637448"/>
                  <a:gd name="connsiteX0-191" fmla="*/ 87784 w 484632"/>
                  <a:gd name="connsiteY0-192" fmla="*/ 6350 h 637448"/>
                  <a:gd name="connsiteX1-193" fmla="*/ 273387 w 484632"/>
                  <a:gd name="connsiteY1-194" fmla="*/ 0 h 637448"/>
                  <a:gd name="connsiteX2-195" fmla="*/ 337583 w 484632"/>
                  <a:gd name="connsiteY2-196" fmla="*/ 10860 h 637448"/>
                  <a:gd name="connsiteX3-197" fmla="*/ 337423 w 484632"/>
                  <a:gd name="connsiteY3-198" fmla="*/ 120650 h 637448"/>
                  <a:gd name="connsiteX4-199" fmla="*/ 363474 w 484632"/>
                  <a:gd name="connsiteY4-200" fmla="*/ 395132 h 637448"/>
                  <a:gd name="connsiteX5-201" fmla="*/ 484632 w 484632"/>
                  <a:gd name="connsiteY5-202" fmla="*/ 395132 h 637448"/>
                  <a:gd name="connsiteX6-203" fmla="*/ 242316 w 484632"/>
                  <a:gd name="connsiteY6-204" fmla="*/ 637448 h 637448"/>
                  <a:gd name="connsiteX7-205" fmla="*/ 0 w 484632"/>
                  <a:gd name="connsiteY7-206" fmla="*/ 395132 h 637448"/>
                  <a:gd name="connsiteX8-207" fmla="*/ 121158 w 484632"/>
                  <a:gd name="connsiteY8-208" fmla="*/ 395132 h 637448"/>
                  <a:gd name="connsiteX9-209" fmla="*/ 121523 w 484632"/>
                  <a:gd name="connsiteY9-210" fmla="*/ 165100 h 637448"/>
                  <a:gd name="connsiteX10-211" fmla="*/ 106091 w 484632"/>
                  <a:gd name="connsiteY10-212" fmla="*/ 62893 h 637448"/>
                  <a:gd name="connsiteX11-213" fmla="*/ 87784 w 484632"/>
                  <a:gd name="connsiteY11-214" fmla="*/ 6350 h 637448"/>
                  <a:gd name="connsiteX0-215" fmla="*/ 87784 w 484632"/>
                  <a:gd name="connsiteY0-216" fmla="*/ 6350 h 637448"/>
                  <a:gd name="connsiteX1-217" fmla="*/ 273387 w 484632"/>
                  <a:gd name="connsiteY1-218" fmla="*/ 0 h 637448"/>
                  <a:gd name="connsiteX2-219" fmla="*/ 305833 w 484632"/>
                  <a:gd name="connsiteY2-220" fmla="*/ 23560 h 637448"/>
                  <a:gd name="connsiteX3-221" fmla="*/ 337423 w 484632"/>
                  <a:gd name="connsiteY3-222" fmla="*/ 120650 h 637448"/>
                  <a:gd name="connsiteX4-223" fmla="*/ 363474 w 484632"/>
                  <a:gd name="connsiteY4-224" fmla="*/ 395132 h 637448"/>
                  <a:gd name="connsiteX5-225" fmla="*/ 484632 w 484632"/>
                  <a:gd name="connsiteY5-226" fmla="*/ 395132 h 637448"/>
                  <a:gd name="connsiteX6-227" fmla="*/ 242316 w 484632"/>
                  <a:gd name="connsiteY6-228" fmla="*/ 637448 h 637448"/>
                  <a:gd name="connsiteX7-229" fmla="*/ 0 w 484632"/>
                  <a:gd name="connsiteY7-230" fmla="*/ 395132 h 637448"/>
                  <a:gd name="connsiteX8-231" fmla="*/ 121158 w 484632"/>
                  <a:gd name="connsiteY8-232" fmla="*/ 395132 h 637448"/>
                  <a:gd name="connsiteX9-233" fmla="*/ 121523 w 484632"/>
                  <a:gd name="connsiteY9-234" fmla="*/ 165100 h 637448"/>
                  <a:gd name="connsiteX10-235" fmla="*/ 106091 w 484632"/>
                  <a:gd name="connsiteY10-236" fmla="*/ 62893 h 637448"/>
                  <a:gd name="connsiteX11-237" fmla="*/ 87784 w 484632"/>
                  <a:gd name="connsiteY11-238" fmla="*/ 6350 h 637448"/>
                  <a:gd name="connsiteX0-239" fmla="*/ 87784 w 484632"/>
                  <a:gd name="connsiteY0-240" fmla="*/ 6350 h 637448"/>
                  <a:gd name="connsiteX1-241" fmla="*/ 273387 w 484632"/>
                  <a:gd name="connsiteY1-242" fmla="*/ 0 h 637448"/>
                  <a:gd name="connsiteX2-243" fmla="*/ 305833 w 484632"/>
                  <a:gd name="connsiteY2-244" fmla="*/ 23560 h 637448"/>
                  <a:gd name="connsiteX3-245" fmla="*/ 337423 w 484632"/>
                  <a:gd name="connsiteY3-246" fmla="*/ 120650 h 637448"/>
                  <a:gd name="connsiteX4-247" fmla="*/ 350123 w 484632"/>
                  <a:gd name="connsiteY4-248" fmla="*/ 292100 h 637448"/>
                  <a:gd name="connsiteX5-249" fmla="*/ 363474 w 484632"/>
                  <a:gd name="connsiteY5-250" fmla="*/ 395132 h 637448"/>
                  <a:gd name="connsiteX6-251" fmla="*/ 484632 w 484632"/>
                  <a:gd name="connsiteY6-252" fmla="*/ 395132 h 637448"/>
                  <a:gd name="connsiteX7-253" fmla="*/ 242316 w 484632"/>
                  <a:gd name="connsiteY7-254" fmla="*/ 637448 h 637448"/>
                  <a:gd name="connsiteX8-255" fmla="*/ 0 w 484632"/>
                  <a:gd name="connsiteY8-256" fmla="*/ 395132 h 637448"/>
                  <a:gd name="connsiteX9-257" fmla="*/ 121158 w 484632"/>
                  <a:gd name="connsiteY9-258" fmla="*/ 395132 h 637448"/>
                  <a:gd name="connsiteX10-259" fmla="*/ 121523 w 484632"/>
                  <a:gd name="connsiteY10-260" fmla="*/ 165100 h 637448"/>
                  <a:gd name="connsiteX11-261" fmla="*/ 106091 w 484632"/>
                  <a:gd name="connsiteY11-262" fmla="*/ 62893 h 637448"/>
                  <a:gd name="connsiteX12" fmla="*/ 87784 w 484632"/>
                  <a:gd name="connsiteY12" fmla="*/ 6350 h 637448"/>
                  <a:gd name="connsiteX0-263" fmla="*/ 87784 w 484632"/>
                  <a:gd name="connsiteY0-264" fmla="*/ 6350 h 637448"/>
                  <a:gd name="connsiteX1-265" fmla="*/ 273387 w 484632"/>
                  <a:gd name="connsiteY1-266" fmla="*/ 0 h 637448"/>
                  <a:gd name="connsiteX2-267" fmla="*/ 305833 w 484632"/>
                  <a:gd name="connsiteY2-268" fmla="*/ 23560 h 637448"/>
                  <a:gd name="connsiteX3-269" fmla="*/ 337423 w 484632"/>
                  <a:gd name="connsiteY3-270" fmla="*/ 120650 h 637448"/>
                  <a:gd name="connsiteX4-271" fmla="*/ 350123 w 484632"/>
                  <a:gd name="connsiteY4-272" fmla="*/ 292100 h 637448"/>
                  <a:gd name="connsiteX5-273" fmla="*/ 363474 w 484632"/>
                  <a:gd name="connsiteY5-274" fmla="*/ 395132 h 637448"/>
                  <a:gd name="connsiteX6-275" fmla="*/ 484632 w 484632"/>
                  <a:gd name="connsiteY6-276" fmla="*/ 395132 h 637448"/>
                  <a:gd name="connsiteX7-277" fmla="*/ 242316 w 484632"/>
                  <a:gd name="connsiteY7-278" fmla="*/ 637448 h 637448"/>
                  <a:gd name="connsiteX8-279" fmla="*/ 0 w 484632"/>
                  <a:gd name="connsiteY8-280" fmla="*/ 395132 h 637448"/>
                  <a:gd name="connsiteX9-281" fmla="*/ 121158 w 484632"/>
                  <a:gd name="connsiteY9-282" fmla="*/ 395132 h 637448"/>
                  <a:gd name="connsiteX10-283" fmla="*/ 128666 w 484632"/>
                  <a:gd name="connsiteY10-284" fmla="*/ 165100 h 637448"/>
                  <a:gd name="connsiteX11-285" fmla="*/ 106091 w 484632"/>
                  <a:gd name="connsiteY11-286" fmla="*/ 62893 h 637448"/>
                  <a:gd name="connsiteX12-287" fmla="*/ 87784 w 484632"/>
                  <a:gd name="connsiteY12-288" fmla="*/ 6350 h 637448"/>
                  <a:gd name="connsiteX0-289" fmla="*/ 87784 w 484632"/>
                  <a:gd name="connsiteY0-290" fmla="*/ 6350 h 637448"/>
                  <a:gd name="connsiteX1-291" fmla="*/ 273387 w 484632"/>
                  <a:gd name="connsiteY1-292" fmla="*/ 0 h 637448"/>
                  <a:gd name="connsiteX2-293" fmla="*/ 305833 w 484632"/>
                  <a:gd name="connsiteY2-294" fmla="*/ 23560 h 637448"/>
                  <a:gd name="connsiteX3-295" fmla="*/ 337423 w 484632"/>
                  <a:gd name="connsiteY3-296" fmla="*/ 120650 h 637448"/>
                  <a:gd name="connsiteX4-297" fmla="*/ 350123 w 484632"/>
                  <a:gd name="connsiteY4-298" fmla="*/ 292100 h 637448"/>
                  <a:gd name="connsiteX5-299" fmla="*/ 363474 w 484632"/>
                  <a:gd name="connsiteY5-300" fmla="*/ 395132 h 637448"/>
                  <a:gd name="connsiteX6-301" fmla="*/ 484632 w 484632"/>
                  <a:gd name="connsiteY6-302" fmla="*/ 395132 h 637448"/>
                  <a:gd name="connsiteX7-303" fmla="*/ 242316 w 484632"/>
                  <a:gd name="connsiteY7-304" fmla="*/ 637448 h 637448"/>
                  <a:gd name="connsiteX8-305" fmla="*/ 0 w 484632"/>
                  <a:gd name="connsiteY8-306" fmla="*/ 395132 h 637448"/>
                  <a:gd name="connsiteX9-307" fmla="*/ 121158 w 484632"/>
                  <a:gd name="connsiteY9-308" fmla="*/ 395132 h 637448"/>
                  <a:gd name="connsiteX10-309" fmla="*/ 128666 w 484632"/>
                  <a:gd name="connsiteY10-310" fmla="*/ 165100 h 637448"/>
                  <a:gd name="connsiteX11-311" fmla="*/ 106091 w 484632"/>
                  <a:gd name="connsiteY11-312" fmla="*/ 62893 h 637448"/>
                  <a:gd name="connsiteX12-313" fmla="*/ 87784 w 484632"/>
                  <a:gd name="connsiteY12-314" fmla="*/ 6350 h 637448"/>
                  <a:gd name="connsiteX0-315" fmla="*/ 87784 w 484632"/>
                  <a:gd name="connsiteY0-316" fmla="*/ 6350 h 637448"/>
                  <a:gd name="connsiteX1-317" fmla="*/ 273387 w 484632"/>
                  <a:gd name="connsiteY1-318" fmla="*/ 0 h 637448"/>
                  <a:gd name="connsiteX2-319" fmla="*/ 305833 w 484632"/>
                  <a:gd name="connsiteY2-320" fmla="*/ 23560 h 637448"/>
                  <a:gd name="connsiteX3-321" fmla="*/ 337423 w 484632"/>
                  <a:gd name="connsiteY3-322" fmla="*/ 120650 h 637448"/>
                  <a:gd name="connsiteX4-323" fmla="*/ 350123 w 484632"/>
                  <a:gd name="connsiteY4-324" fmla="*/ 292100 h 637448"/>
                  <a:gd name="connsiteX5-325" fmla="*/ 363474 w 484632"/>
                  <a:gd name="connsiteY5-326" fmla="*/ 395132 h 637448"/>
                  <a:gd name="connsiteX6-327" fmla="*/ 484632 w 484632"/>
                  <a:gd name="connsiteY6-328" fmla="*/ 395132 h 637448"/>
                  <a:gd name="connsiteX7-329" fmla="*/ 242316 w 484632"/>
                  <a:gd name="connsiteY7-330" fmla="*/ 637448 h 637448"/>
                  <a:gd name="connsiteX8-331" fmla="*/ 0 w 484632"/>
                  <a:gd name="connsiteY8-332" fmla="*/ 395132 h 637448"/>
                  <a:gd name="connsiteX9-333" fmla="*/ 121158 w 484632"/>
                  <a:gd name="connsiteY9-334" fmla="*/ 395132 h 637448"/>
                  <a:gd name="connsiteX10-335" fmla="*/ 128666 w 484632"/>
                  <a:gd name="connsiteY10-336" fmla="*/ 165100 h 637448"/>
                  <a:gd name="connsiteX11-337" fmla="*/ 106091 w 484632"/>
                  <a:gd name="connsiteY11-338" fmla="*/ 62893 h 637448"/>
                  <a:gd name="connsiteX12-339" fmla="*/ 87784 w 484632"/>
                  <a:gd name="connsiteY12-340" fmla="*/ 6350 h 637448"/>
                  <a:gd name="connsiteX0-341" fmla="*/ 87784 w 484632"/>
                  <a:gd name="connsiteY0-342" fmla="*/ 6350 h 637448"/>
                  <a:gd name="connsiteX1-343" fmla="*/ 273387 w 484632"/>
                  <a:gd name="connsiteY1-344" fmla="*/ 0 h 637448"/>
                  <a:gd name="connsiteX2-345" fmla="*/ 305833 w 484632"/>
                  <a:gd name="connsiteY2-346" fmla="*/ 23560 h 637448"/>
                  <a:gd name="connsiteX3-347" fmla="*/ 337423 w 484632"/>
                  <a:gd name="connsiteY3-348" fmla="*/ 120650 h 637448"/>
                  <a:gd name="connsiteX4-349" fmla="*/ 350123 w 484632"/>
                  <a:gd name="connsiteY4-350" fmla="*/ 292100 h 637448"/>
                  <a:gd name="connsiteX5-351" fmla="*/ 363474 w 484632"/>
                  <a:gd name="connsiteY5-352" fmla="*/ 395132 h 637448"/>
                  <a:gd name="connsiteX6-353" fmla="*/ 484632 w 484632"/>
                  <a:gd name="connsiteY6-354" fmla="*/ 395132 h 637448"/>
                  <a:gd name="connsiteX7-355" fmla="*/ 242316 w 484632"/>
                  <a:gd name="connsiteY7-356" fmla="*/ 637448 h 637448"/>
                  <a:gd name="connsiteX8-357" fmla="*/ 0 w 484632"/>
                  <a:gd name="connsiteY8-358" fmla="*/ 395132 h 637448"/>
                  <a:gd name="connsiteX9-359" fmla="*/ 121158 w 484632"/>
                  <a:gd name="connsiteY9-360" fmla="*/ 395132 h 637448"/>
                  <a:gd name="connsiteX10-361" fmla="*/ 128666 w 484632"/>
                  <a:gd name="connsiteY10-362" fmla="*/ 165100 h 637448"/>
                  <a:gd name="connsiteX11-363" fmla="*/ 106091 w 484632"/>
                  <a:gd name="connsiteY11-364" fmla="*/ 62893 h 637448"/>
                  <a:gd name="connsiteX12-365" fmla="*/ 87784 w 484632"/>
                  <a:gd name="connsiteY12-366" fmla="*/ 6350 h 637448"/>
                  <a:gd name="connsiteX0-367" fmla="*/ 87784 w 484632"/>
                  <a:gd name="connsiteY0-368" fmla="*/ 6350 h 637448"/>
                  <a:gd name="connsiteX1-369" fmla="*/ 273387 w 484632"/>
                  <a:gd name="connsiteY1-370" fmla="*/ 0 h 637448"/>
                  <a:gd name="connsiteX2-371" fmla="*/ 305833 w 484632"/>
                  <a:gd name="connsiteY2-372" fmla="*/ 23560 h 637448"/>
                  <a:gd name="connsiteX3-373" fmla="*/ 337423 w 484632"/>
                  <a:gd name="connsiteY3-374" fmla="*/ 120650 h 637448"/>
                  <a:gd name="connsiteX4-375" fmla="*/ 350123 w 484632"/>
                  <a:gd name="connsiteY4-376" fmla="*/ 292100 h 637448"/>
                  <a:gd name="connsiteX5-377" fmla="*/ 363474 w 484632"/>
                  <a:gd name="connsiteY5-378" fmla="*/ 395132 h 637448"/>
                  <a:gd name="connsiteX6-379" fmla="*/ 484632 w 484632"/>
                  <a:gd name="connsiteY6-380" fmla="*/ 395132 h 637448"/>
                  <a:gd name="connsiteX7-381" fmla="*/ 242316 w 484632"/>
                  <a:gd name="connsiteY7-382" fmla="*/ 637448 h 637448"/>
                  <a:gd name="connsiteX8-383" fmla="*/ 0 w 484632"/>
                  <a:gd name="connsiteY8-384" fmla="*/ 395132 h 637448"/>
                  <a:gd name="connsiteX9-385" fmla="*/ 121158 w 484632"/>
                  <a:gd name="connsiteY9-386" fmla="*/ 395132 h 637448"/>
                  <a:gd name="connsiteX10-387" fmla="*/ 128666 w 484632"/>
                  <a:gd name="connsiteY10-388" fmla="*/ 165100 h 637448"/>
                  <a:gd name="connsiteX11-389" fmla="*/ 106091 w 484632"/>
                  <a:gd name="connsiteY11-390" fmla="*/ 62893 h 637448"/>
                  <a:gd name="connsiteX12-391" fmla="*/ 87784 w 484632"/>
                  <a:gd name="connsiteY12-392" fmla="*/ 6350 h 637448"/>
                  <a:gd name="connsiteX0-393" fmla="*/ 87784 w 484632"/>
                  <a:gd name="connsiteY0-394" fmla="*/ 6350 h 637448"/>
                  <a:gd name="connsiteX1-395" fmla="*/ 273387 w 484632"/>
                  <a:gd name="connsiteY1-396" fmla="*/ 0 h 637448"/>
                  <a:gd name="connsiteX2-397" fmla="*/ 305833 w 484632"/>
                  <a:gd name="connsiteY2-398" fmla="*/ 23560 h 637448"/>
                  <a:gd name="connsiteX3-399" fmla="*/ 337423 w 484632"/>
                  <a:gd name="connsiteY3-400" fmla="*/ 120650 h 637448"/>
                  <a:gd name="connsiteX4-401" fmla="*/ 350123 w 484632"/>
                  <a:gd name="connsiteY4-402" fmla="*/ 292100 h 637448"/>
                  <a:gd name="connsiteX5-403" fmla="*/ 363474 w 484632"/>
                  <a:gd name="connsiteY5-404" fmla="*/ 395132 h 637448"/>
                  <a:gd name="connsiteX6-405" fmla="*/ 484632 w 484632"/>
                  <a:gd name="connsiteY6-406" fmla="*/ 395132 h 637448"/>
                  <a:gd name="connsiteX7-407" fmla="*/ 242316 w 484632"/>
                  <a:gd name="connsiteY7-408" fmla="*/ 637448 h 637448"/>
                  <a:gd name="connsiteX8-409" fmla="*/ 0 w 484632"/>
                  <a:gd name="connsiteY8-410" fmla="*/ 395132 h 637448"/>
                  <a:gd name="connsiteX9-411" fmla="*/ 121158 w 484632"/>
                  <a:gd name="connsiteY9-412" fmla="*/ 395132 h 637448"/>
                  <a:gd name="connsiteX10-413" fmla="*/ 128666 w 484632"/>
                  <a:gd name="connsiteY10-414" fmla="*/ 165100 h 637448"/>
                  <a:gd name="connsiteX11-415" fmla="*/ 106091 w 484632"/>
                  <a:gd name="connsiteY11-416" fmla="*/ 62893 h 637448"/>
                  <a:gd name="connsiteX12-417" fmla="*/ 87784 w 484632"/>
                  <a:gd name="connsiteY12-418" fmla="*/ 6350 h 637448"/>
                </a:gdLst>
                <a:ahLst/>
                <a:cxnLst>
                  <a:cxn ang="0">
                    <a:pos x="connsiteX0-393" y="connsiteY0-394"/>
                  </a:cxn>
                  <a:cxn ang="0">
                    <a:pos x="connsiteX1-395" y="connsiteY1-396"/>
                  </a:cxn>
                  <a:cxn ang="0">
                    <a:pos x="connsiteX2-397" y="connsiteY2-398"/>
                  </a:cxn>
                  <a:cxn ang="0">
                    <a:pos x="connsiteX3-399" y="connsiteY3-400"/>
                  </a:cxn>
                  <a:cxn ang="0">
                    <a:pos x="connsiteX4-401" y="connsiteY4-402"/>
                  </a:cxn>
                  <a:cxn ang="0">
                    <a:pos x="connsiteX5-403" y="connsiteY5-404"/>
                  </a:cxn>
                  <a:cxn ang="0">
                    <a:pos x="connsiteX6-405" y="connsiteY6-406"/>
                  </a:cxn>
                  <a:cxn ang="0">
                    <a:pos x="connsiteX7-407" y="connsiteY7-408"/>
                  </a:cxn>
                  <a:cxn ang="0">
                    <a:pos x="connsiteX8-409" y="connsiteY8-410"/>
                  </a:cxn>
                  <a:cxn ang="0">
                    <a:pos x="connsiteX9-411" y="connsiteY9-412"/>
                  </a:cxn>
                  <a:cxn ang="0">
                    <a:pos x="connsiteX10-413" y="connsiteY10-414"/>
                  </a:cxn>
                  <a:cxn ang="0">
                    <a:pos x="connsiteX11-415" y="connsiteY11-416"/>
                  </a:cxn>
                  <a:cxn ang="0">
                    <a:pos x="connsiteX12-417" y="connsiteY12-418"/>
                  </a:cxn>
                </a:cxnLst>
                <a:rect l="l" t="t" r="r" b="b"/>
                <a:pathLst>
                  <a:path w="484632" h="637448">
                    <a:moveTo>
                      <a:pt x="87784" y="6350"/>
                    </a:moveTo>
                    <a:lnTo>
                      <a:pt x="273387" y="0"/>
                    </a:lnTo>
                    <a:lnTo>
                      <a:pt x="305833" y="23560"/>
                    </a:lnTo>
                    <a:cubicBezTo>
                      <a:pt x="320733" y="62310"/>
                      <a:pt x="327369" y="91832"/>
                      <a:pt x="337423" y="120650"/>
                    </a:cubicBezTo>
                    <a:cubicBezTo>
                      <a:pt x="343746" y="167523"/>
                      <a:pt x="345781" y="246353"/>
                      <a:pt x="350123" y="292100"/>
                    </a:cubicBezTo>
                    <a:cubicBezTo>
                      <a:pt x="354465" y="337847"/>
                      <a:pt x="339997" y="380077"/>
                      <a:pt x="363474" y="395132"/>
                    </a:cubicBezTo>
                    <a:lnTo>
                      <a:pt x="484632" y="395132"/>
                    </a:lnTo>
                    <a:lnTo>
                      <a:pt x="242316" y="637448"/>
                    </a:lnTo>
                    <a:lnTo>
                      <a:pt x="0" y="395132"/>
                    </a:lnTo>
                    <a:lnTo>
                      <a:pt x="121158" y="395132"/>
                    </a:lnTo>
                    <a:cubicBezTo>
                      <a:pt x="130828" y="357852"/>
                      <a:pt x="141570" y="242067"/>
                      <a:pt x="128666" y="165100"/>
                    </a:cubicBezTo>
                    <a:cubicBezTo>
                      <a:pt x="118643" y="119472"/>
                      <a:pt x="112573" y="101136"/>
                      <a:pt x="106091" y="62893"/>
                    </a:cubicBezTo>
                    <a:lnTo>
                      <a:pt x="87784" y="6350"/>
                    </a:lnTo>
                    <a:close/>
                  </a:path>
                </a:pathLst>
              </a:custGeom>
              <a:solidFill>
                <a:srgbClr val="A4C47E"/>
              </a:solidFill>
              <a:ln>
                <a:noFill/>
              </a:ln>
            </p:spPr>
            <p:style>
              <a:lnRef idx="2">
                <a:srgbClr val="0FA1AB">
                  <a:shade val="50000"/>
                </a:srgbClr>
              </a:lnRef>
              <a:fillRef idx="1">
                <a:srgbClr val="0FA1AB"/>
              </a:fillRef>
              <a:effectRef idx="0">
                <a:srgbClr val="0FA1AB"/>
              </a:effectRef>
              <a:fontRef idx="minor">
                <a:srgbClr val="FFFFFF"/>
              </a:fontRef>
            </p:style>
            <p:txBody>
              <a:bodyPr rtlCol="0" anchor="ctr">
                <a:normAutofit/>
              </a:bodyPr>
              <a:lstStyle/>
              <a:p>
                <a:pPr algn="ctr"/>
                <a:endParaRPr lang="zh-CN" altLang="en-US" dirty="0">
                  <a:latin typeface="Times New Roman" panose="02020603050405020304" pitchFamily="18" charset="0"/>
                  <a:sym typeface="Arial" panose="020B0604020202020204" pitchFamily="34" charset="0"/>
                </a:endParaRPr>
              </a:p>
            </p:txBody>
          </p:sp>
          <p:sp>
            <p:nvSpPr>
              <p:cNvPr id="25" name="任意多边形 24"/>
              <p:cNvSpPr/>
              <p:nvPr>
                <p:custDataLst>
                  <p:tags r:id="rId13"/>
                </p:custDataLst>
              </p:nvPr>
            </p:nvSpPr>
            <p:spPr>
              <a:xfrm>
                <a:off x="7269877" y="3048000"/>
                <a:ext cx="249630" cy="637448"/>
              </a:xfrm>
              <a:custGeom>
                <a:avLst/>
                <a:gdLst>
                  <a:gd name="connsiteX0" fmla="*/ 17934 w 249630"/>
                  <a:gd name="connsiteY0" fmla="*/ 0 h 637448"/>
                  <a:gd name="connsiteX1" fmla="*/ 125448 w 249630"/>
                  <a:gd name="connsiteY1" fmla="*/ 0 h 637448"/>
                  <a:gd name="connsiteX2" fmla="*/ 153677 w 249630"/>
                  <a:gd name="connsiteY2" fmla="*/ 56382 h 637448"/>
                  <a:gd name="connsiteX3" fmla="*/ 244011 w 249630"/>
                  <a:gd name="connsiteY3" fmla="*/ 628536 h 637448"/>
                  <a:gd name="connsiteX4" fmla="*/ 242721 w 249630"/>
                  <a:gd name="connsiteY4" fmla="*/ 637044 h 637448"/>
                  <a:gd name="connsiteX5" fmla="*/ 242316 w 249630"/>
                  <a:gd name="connsiteY5" fmla="*/ 637448 h 637448"/>
                  <a:gd name="connsiteX6" fmla="*/ 0 w 249630"/>
                  <a:gd name="connsiteY6" fmla="*/ 395132 h 637448"/>
                  <a:gd name="connsiteX7" fmla="*/ 121158 w 249630"/>
                  <a:gd name="connsiteY7" fmla="*/ 395132 h 637448"/>
                  <a:gd name="connsiteX8" fmla="*/ 89773 w 249630"/>
                  <a:gd name="connsiteY8" fmla="*/ 171450 h 637448"/>
                  <a:gd name="connsiteX9" fmla="*/ 48941 w 249630"/>
                  <a:gd name="connsiteY9" fmla="*/ 69243 h 637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9630" h="637448">
                    <a:moveTo>
                      <a:pt x="17934" y="0"/>
                    </a:moveTo>
                    <a:lnTo>
                      <a:pt x="125448" y="0"/>
                    </a:lnTo>
                    <a:lnTo>
                      <a:pt x="153677" y="56382"/>
                    </a:lnTo>
                    <a:cubicBezTo>
                      <a:pt x="232580" y="236753"/>
                      <a:pt x="263370" y="433895"/>
                      <a:pt x="244011" y="628536"/>
                    </a:cubicBezTo>
                    <a:lnTo>
                      <a:pt x="242721" y="637044"/>
                    </a:lnTo>
                    <a:lnTo>
                      <a:pt x="242316" y="637448"/>
                    </a:lnTo>
                    <a:lnTo>
                      <a:pt x="0" y="395132"/>
                    </a:lnTo>
                    <a:lnTo>
                      <a:pt x="121158" y="395132"/>
                    </a:lnTo>
                    <a:cubicBezTo>
                      <a:pt x="130828" y="357852"/>
                      <a:pt x="109821" y="243655"/>
                      <a:pt x="89773" y="171450"/>
                    </a:cubicBezTo>
                    <a:cubicBezTo>
                      <a:pt x="79750" y="135348"/>
                      <a:pt x="64948" y="102723"/>
                      <a:pt x="48941" y="69243"/>
                    </a:cubicBezTo>
                    <a:close/>
                  </a:path>
                </a:pathLst>
              </a:custGeom>
              <a:gradFill>
                <a:gsLst>
                  <a:gs pos="53000">
                    <a:srgbClr val="A4C47E">
                      <a:lumMod val="75000"/>
                    </a:srgbClr>
                  </a:gs>
                  <a:gs pos="0">
                    <a:srgbClr val="A4C47E">
                      <a:lumMod val="75000"/>
                      <a:alpha val="0"/>
                    </a:srgbClr>
                  </a:gs>
                  <a:gs pos="100000">
                    <a:srgbClr val="A4C47E">
                      <a:lumMod val="75000"/>
                    </a:srgbClr>
                  </a:gs>
                </a:gsLst>
                <a:lin ang="5400000" scaled="1"/>
              </a:gradFill>
              <a:ln>
                <a:noFill/>
              </a:ln>
            </p:spPr>
            <p:style>
              <a:lnRef idx="2">
                <a:srgbClr val="0FA1AB">
                  <a:shade val="50000"/>
                </a:srgbClr>
              </a:lnRef>
              <a:fillRef idx="1">
                <a:srgbClr val="0FA1AB"/>
              </a:fillRef>
              <a:effectRef idx="0">
                <a:srgbClr val="0FA1AB"/>
              </a:effectRef>
              <a:fontRef idx="minor">
                <a:srgbClr val="FFFFFF"/>
              </a:fontRef>
            </p:style>
            <p:txBody>
              <a:bodyPr rtlCol="0" anchor="ctr">
                <a:normAutofit/>
              </a:bodyPr>
              <a:lstStyle/>
              <a:p>
                <a:pPr algn="ctr"/>
                <a:endParaRPr lang="zh-CN" altLang="en-US" dirty="0">
                  <a:latin typeface="Times New Roman" panose="02020603050405020304" pitchFamily="18" charset="0"/>
                  <a:sym typeface="Arial" panose="020B0604020202020204" pitchFamily="34" charset="0"/>
                </a:endParaRPr>
              </a:p>
            </p:txBody>
          </p:sp>
        </p:grpSp>
        <p:grpSp>
          <p:nvGrpSpPr>
            <p:cNvPr id="27" name="组合 26"/>
            <p:cNvGrpSpPr/>
            <p:nvPr/>
          </p:nvGrpSpPr>
          <p:grpSpPr>
            <a:xfrm rot="7200000">
              <a:off x="5228836" y="4295958"/>
              <a:ext cx="642222" cy="844731"/>
              <a:chOff x="7237791" y="3049926"/>
              <a:chExt cx="484632" cy="637448"/>
            </a:xfrm>
          </p:grpSpPr>
          <p:sp>
            <p:nvSpPr>
              <p:cNvPr id="30" name="任意多边形 29"/>
              <p:cNvSpPr/>
              <p:nvPr>
                <p:custDataLst>
                  <p:tags r:id="rId10"/>
                </p:custDataLst>
              </p:nvPr>
            </p:nvSpPr>
            <p:spPr>
              <a:xfrm>
                <a:off x="7237791" y="3049926"/>
                <a:ext cx="484632" cy="637448"/>
              </a:xfrm>
              <a:custGeom>
                <a:avLst/>
                <a:gdLst>
                  <a:gd name="connsiteX0" fmla="*/ 17934 w 484632"/>
                  <a:gd name="connsiteY0" fmla="*/ 0 h 637448"/>
                  <a:gd name="connsiteX1" fmla="*/ 273387 w 484632"/>
                  <a:gd name="connsiteY1" fmla="*/ 0 h 637448"/>
                  <a:gd name="connsiteX2" fmla="*/ 280433 w 484632"/>
                  <a:gd name="connsiteY2" fmla="*/ 17210 h 637448"/>
                  <a:gd name="connsiteX3" fmla="*/ 318373 w 484632"/>
                  <a:gd name="connsiteY3" fmla="*/ 120650 h 637448"/>
                  <a:gd name="connsiteX4" fmla="*/ 363474 w 484632"/>
                  <a:gd name="connsiteY4" fmla="*/ 395132 h 637448"/>
                  <a:gd name="connsiteX5" fmla="*/ 484632 w 484632"/>
                  <a:gd name="connsiteY5" fmla="*/ 395132 h 637448"/>
                  <a:gd name="connsiteX6" fmla="*/ 242316 w 484632"/>
                  <a:gd name="connsiteY6" fmla="*/ 637448 h 637448"/>
                  <a:gd name="connsiteX7" fmla="*/ 0 w 484632"/>
                  <a:gd name="connsiteY7" fmla="*/ 395132 h 637448"/>
                  <a:gd name="connsiteX8" fmla="*/ 121158 w 484632"/>
                  <a:gd name="connsiteY8" fmla="*/ 395132 h 637448"/>
                  <a:gd name="connsiteX9" fmla="*/ 89773 w 484632"/>
                  <a:gd name="connsiteY9" fmla="*/ 171450 h 637448"/>
                  <a:gd name="connsiteX10" fmla="*/ 48941 w 484632"/>
                  <a:gd name="connsiteY10" fmla="*/ 69243 h 637448"/>
                  <a:gd name="connsiteX0-1" fmla="*/ 17934 w 484632"/>
                  <a:gd name="connsiteY0-2" fmla="*/ 0 h 637448"/>
                  <a:gd name="connsiteX1-3" fmla="*/ 273387 w 484632"/>
                  <a:gd name="connsiteY1-4" fmla="*/ 0 h 637448"/>
                  <a:gd name="connsiteX2-5" fmla="*/ 280433 w 484632"/>
                  <a:gd name="connsiteY2-6" fmla="*/ 17210 h 637448"/>
                  <a:gd name="connsiteX3-7" fmla="*/ 337423 w 484632"/>
                  <a:gd name="connsiteY3-8" fmla="*/ 120650 h 637448"/>
                  <a:gd name="connsiteX4-9" fmla="*/ 363474 w 484632"/>
                  <a:gd name="connsiteY4-10" fmla="*/ 395132 h 637448"/>
                  <a:gd name="connsiteX5-11" fmla="*/ 484632 w 484632"/>
                  <a:gd name="connsiteY5-12" fmla="*/ 395132 h 637448"/>
                  <a:gd name="connsiteX6-13" fmla="*/ 242316 w 484632"/>
                  <a:gd name="connsiteY6-14" fmla="*/ 637448 h 637448"/>
                  <a:gd name="connsiteX7-15" fmla="*/ 0 w 484632"/>
                  <a:gd name="connsiteY7-16" fmla="*/ 395132 h 637448"/>
                  <a:gd name="connsiteX8-17" fmla="*/ 121158 w 484632"/>
                  <a:gd name="connsiteY8-18" fmla="*/ 395132 h 637448"/>
                  <a:gd name="connsiteX9-19" fmla="*/ 89773 w 484632"/>
                  <a:gd name="connsiteY9-20" fmla="*/ 171450 h 637448"/>
                  <a:gd name="connsiteX10-21" fmla="*/ 48941 w 484632"/>
                  <a:gd name="connsiteY10-22" fmla="*/ 69243 h 637448"/>
                  <a:gd name="connsiteX11" fmla="*/ 17934 w 484632"/>
                  <a:gd name="connsiteY11" fmla="*/ 0 h 637448"/>
                  <a:gd name="connsiteX0-23" fmla="*/ 17934 w 484632"/>
                  <a:gd name="connsiteY0-24" fmla="*/ 0 h 637448"/>
                  <a:gd name="connsiteX1-25" fmla="*/ 273387 w 484632"/>
                  <a:gd name="connsiteY1-26" fmla="*/ 0 h 637448"/>
                  <a:gd name="connsiteX2-27" fmla="*/ 280433 w 484632"/>
                  <a:gd name="connsiteY2-28" fmla="*/ 17210 h 637448"/>
                  <a:gd name="connsiteX3-29" fmla="*/ 337423 w 484632"/>
                  <a:gd name="connsiteY3-30" fmla="*/ 120650 h 637448"/>
                  <a:gd name="connsiteX4-31" fmla="*/ 363474 w 484632"/>
                  <a:gd name="connsiteY4-32" fmla="*/ 395132 h 637448"/>
                  <a:gd name="connsiteX5-33" fmla="*/ 484632 w 484632"/>
                  <a:gd name="connsiteY5-34" fmla="*/ 395132 h 637448"/>
                  <a:gd name="connsiteX6-35" fmla="*/ 242316 w 484632"/>
                  <a:gd name="connsiteY6-36" fmla="*/ 637448 h 637448"/>
                  <a:gd name="connsiteX7-37" fmla="*/ 0 w 484632"/>
                  <a:gd name="connsiteY7-38" fmla="*/ 395132 h 637448"/>
                  <a:gd name="connsiteX8-39" fmla="*/ 121158 w 484632"/>
                  <a:gd name="connsiteY8-40" fmla="*/ 395132 h 637448"/>
                  <a:gd name="connsiteX9-41" fmla="*/ 89773 w 484632"/>
                  <a:gd name="connsiteY9-42" fmla="*/ 171450 h 637448"/>
                  <a:gd name="connsiteX10-43" fmla="*/ 48941 w 484632"/>
                  <a:gd name="connsiteY10-44" fmla="*/ 69243 h 637448"/>
                  <a:gd name="connsiteX11-45" fmla="*/ 17934 w 484632"/>
                  <a:gd name="connsiteY11-46" fmla="*/ 0 h 637448"/>
                  <a:gd name="connsiteX0-47" fmla="*/ 17934 w 484632"/>
                  <a:gd name="connsiteY0-48" fmla="*/ 0 h 637448"/>
                  <a:gd name="connsiteX1-49" fmla="*/ 273387 w 484632"/>
                  <a:gd name="connsiteY1-50" fmla="*/ 0 h 637448"/>
                  <a:gd name="connsiteX2-51" fmla="*/ 280433 w 484632"/>
                  <a:gd name="connsiteY2-52" fmla="*/ 17210 h 637448"/>
                  <a:gd name="connsiteX3-53" fmla="*/ 337423 w 484632"/>
                  <a:gd name="connsiteY3-54" fmla="*/ 120650 h 637448"/>
                  <a:gd name="connsiteX4-55" fmla="*/ 363474 w 484632"/>
                  <a:gd name="connsiteY4-56" fmla="*/ 395132 h 637448"/>
                  <a:gd name="connsiteX5-57" fmla="*/ 484632 w 484632"/>
                  <a:gd name="connsiteY5-58" fmla="*/ 395132 h 637448"/>
                  <a:gd name="connsiteX6-59" fmla="*/ 242316 w 484632"/>
                  <a:gd name="connsiteY6-60" fmla="*/ 637448 h 637448"/>
                  <a:gd name="connsiteX7-61" fmla="*/ 0 w 484632"/>
                  <a:gd name="connsiteY7-62" fmla="*/ 395132 h 637448"/>
                  <a:gd name="connsiteX8-63" fmla="*/ 121158 w 484632"/>
                  <a:gd name="connsiteY8-64" fmla="*/ 395132 h 637448"/>
                  <a:gd name="connsiteX9-65" fmla="*/ 89773 w 484632"/>
                  <a:gd name="connsiteY9-66" fmla="*/ 171450 h 637448"/>
                  <a:gd name="connsiteX10-67" fmla="*/ 48941 w 484632"/>
                  <a:gd name="connsiteY10-68" fmla="*/ 69243 h 637448"/>
                  <a:gd name="connsiteX11-69" fmla="*/ 17934 w 484632"/>
                  <a:gd name="connsiteY11-70" fmla="*/ 0 h 637448"/>
                  <a:gd name="connsiteX0-71" fmla="*/ 17934 w 484632"/>
                  <a:gd name="connsiteY0-72" fmla="*/ 0 h 637448"/>
                  <a:gd name="connsiteX1-73" fmla="*/ 273387 w 484632"/>
                  <a:gd name="connsiteY1-74" fmla="*/ 0 h 637448"/>
                  <a:gd name="connsiteX2-75" fmla="*/ 305833 w 484632"/>
                  <a:gd name="connsiteY2-76" fmla="*/ 10860 h 637448"/>
                  <a:gd name="connsiteX3-77" fmla="*/ 337423 w 484632"/>
                  <a:gd name="connsiteY3-78" fmla="*/ 120650 h 637448"/>
                  <a:gd name="connsiteX4-79" fmla="*/ 363474 w 484632"/>
                  <a:gd name="connsiteY4-80" fmla="*/ 395132 h 637448"/>
                  <a:gd name="connsiteX5-81" fmla="*/ 484632 w 484632"/>
                  <a:gd name="connsiteY5-82" fmla="*/ 395132 h 637448"/>
                  <a:gd name="connsiteX6-83" fmla="*/ 242316 w 484632"/>
                  <a:gd name="connsiteY6-84" fmla="*/ 637448 h 637448"/>
                  <a:gd name="connsiteX7-85" fmla="*/ 0 w 484632"/>
                  <a:gd name="connsiteY7-86" fmla="*/ 395132 h 637448"/>
                  <a:gd name="connsiteX8-87" fmla="*/ 121158 w 484632"/>
                  <a:gd name="connsiteY8-88" fmla="*/ 395132 h 637448"/>
                  <a:gd name="connsiteX9-89" fmla="*/ 89773 w 484632"/>
                  <a:gd name="connsiteY9-90" fmla="*/ 171450 h 637448"/>
                  <a:gd name="connsiteX10-91" fmla="*/ 48941 w 484632"/>
                  <a:gd name="connsiteY10-92" fmla="*/ 69243 h 637448"/>
                  <a:gd name="connsiteX11-93" fmla="*/ 17934 w 484632"/>
                  <a:gd name="connsiteY11-94" fmla="*/ 0 h 637448"/>
                  <a:gd name="connsiteX0-95" fmla="*/ 17934 w 484632"/>
                  <a:gd name="connsiteY0-96" fmla="*/ 0 h 637448"/>
                  <a:gd name="connsiteX1-97" fmla="*/ 273387 w 484632"/>
                  <a:gd name="connsiteY1-98" fmla="*/ 0 h 637448"/>
                  <a:gd name="connsiteX2-99" fmla="*/ 305833 w 484632"/>
                  <a:gd name="connsiteY2-100" fmla="*/ 10860 h 637448"/>
                  <a:gd name="connsiteX3-101" fmla="*/ 337423 w 484632"/>
                  <a:gd name="connsiteY3-102" fmla="*/ 120650 h 637448"/>
                  <a:gd name="connsiteX4-103" fmla="*/ 363474 w 484632"/>
                  <a:gd name="connsiteY4-104" fmla="*/ 395132 h 637448"/>
                  <a:gd name="connsiteX5-105" fmla="*/ 484632 w 484632"/>
                  <a:gd name="connsiteY5-106" fmla="*/ 395132 h 637448"/>
                  <a:gd name="connsiteX6-107" fmla="*/ 242316 w 484632"/>
                  <a:gd name="connsiteY6-108" fmla="*/ 637448 h 637448"/>
                  <a:gd name="connsiteX7-109" fmla="*/ 0 w 484632"/>
                  <a:gd name="connsiteY7-110" fmla="*/ 395132 h 637448"/>
                  <a:gd name="connsiteX8-111" fmla="*/ 121158 w 484632"/>
                  <a:gd name="connsiteY8-112" fmla="*/ 395132 h 637448"/>
                  <a:gd name="connsiteX9-113" fmla="*/ 121523 w 484632"/>
                  <a:gd name="connsiteY9-114" fmla="*/ 165100 h 637448"/>
                  <a:gd name="connsiteX10-115" fmla="*/ 48941 w 484632"/>
                  <a:gd name="connsiteY10-116" fmla="*/ 69243 h 637448"/>
                  <a:gd name="connsiteX11-117" fmla="*/ 17934 w 484632"/>
                  <a:gd name="connsiteY11-118" fmla="*/ 0 h 637448"/>
                  <a:gd name="connsiteX0-119" fmla="*/ 17934 w 484632"/>
                  <a:gd name="connsiteY0-120" fmla="*/ 0 h 637448"/>
                  <a:gd name="connsiteX1-121" fmla="*/ 273387 w 484632"/>
                  <a:gd name="connsiteY1-122" fmla="*/ 0 h 637448"/>
                  <a:gd name="connsiteX2-123" fmla="*/ 305833 w 484632"/>
                  <a:gd name="connsiteY2-124" fmla="*/ 10860 h 637448"/>
                  <a:gd name="connsiteX3-125" fmla="*/ 337423 w 484632"/>
                  <a:gd name="connsiteY3-126" fmla="*/ 120650 h 637448"/>
                  <a:gd name="connsiteX4-127" fmla="*/ 363474 w 484632"/>
                  <a:gd name="connsiteY4-128" fmla="*/ 395132 h 637448"/>
                  <a:gd name="connsiteX5-129" fmla="*/ 484632 w 484632"/>
                  <a:gd name="connsiteY5-130" fmla="*/ 395132 h 637448"/>
                  <a:gd name="connsiteX6-131" fmla="*/ 242316 w 484632"/>
                  <a:gd name="connsiteY6-132" fmla="*/ 637448 h 637448"/>
                  <a:gd name="connsiteX7-133" fmla="*/ 0 w 484632"/>
                  <a:gd name="connsiteY7-134" fmla="*/ 395132 h 637448"/>
                  <a:gd name="connsiteX8-135" fmla="*/ 121158 w 484632"/>
                  <a:gd name="connsiteY8-136" fmla="*/ 395132 h 637448"/>
                  <a:gd name="connsiteX9-137" fmla="*/ 121523 w 484632"/>
                  <a:gd name="connsiteY9-138" fmla="*/ 165100 h 637448"/>
                  <a:gd name="connsiteX10-139" fmla="*/ 106091 w 484632"/>
                  <a:gd name="connsiteY10-140" fmla="*/ 62893 h 637448"/>
                  <a:gd name="connsiteX11-141" fmla="*/ 17934 w 484632"/>
                  <a:gd name="connsiteY11-142" fmla="*/ 0 h 637448"/>
                  <a:gd name="connsiteX0-143" fmla="*/ 87784 w 484632"/>
                  <a:gd name="connsiteY0-144" fmla="*/ 0 h 637448"/>
                  <a:gd name="connsiteX1-145" fmla="*/ 273387 w 484632"/>
                  <a:gd name="connsiteY1-146" fmla="*/ 0 h 637448"/>
                  <a:gd name="connsiteX2-147" fmla="*/ 305833 w 484632"/>
                  <a:gd name="connsiteY2-148" fmla="*/ 10860 h 637448"/>
                  <a:gd name="connsiteX3-149" fmla="*/ 337423 w 484632"/>
                  <a:gd name="connsiteY3-150" fmla="*/ 120650 h 637448"/>
                  <a:gd name="connsiteX4-151" fmla="*/ 363474 w 484632"/>
                  <a:gd name="connsiteY4-152" fmla="*/ 395132 h 637448"/>
                  <a:gd name="connsiteX5-153" fmla="*/ 484632 w 484632"/>
                  <a:gd name="connsiteY5-154" fmla="*/ 395132 h 637448"/>
                  <a:gd name="connsiteX6-155" fmla="*/ 242316 w 484632"/>
                  <a:gd name="connsiteY6-156" fmla="*/ 637448 h 637448"/>
                  <a:gd name="connsiteX7-157" fmla="*/ 0 w 484632"/>
                  <a:gd name="connsiteY7-158" fmla="*/ 395132 h 637448"/>
                  <a:gd name="connsiteX8-159" fmla="*/ 121158 w 484632"/>
                  <a:gd name="connsiteY8-160" fmla="*/ 395132 h 637448"/>
                  <a:gd name="connsiteX9-161" fmla="*/ 121523 w 484632"/>
                  <a:gd name="connsiteY9-162" fmla="*/ 165100 h 637448"/>
                  <a:gd name="connsiteX10-163" fmla="*/ 106091 w 484632"/>
                  <a:gd name="connsiteY10-164" fmla="*/ 62893 h 637448"/>
                  <a:gd name="connsiteX11-165" fmla="*/ 87784 w 484632"/>
                  <a:gd name="connsiteY11-166" fmla="*/ 0 h 637448"/>
                  <a:gd name="connsiteX0-167" fmla="*/ 87784 w 484632"/>
                  <a:gd name="connsiteY0-168" fmla="*/ 6350 h 637448"/>
                  <a:gd name="connsiteX1-169" fmla="*/ 273387 w 484632"/>
                  <a:gd name="connsiteY1-170" fmla="*/ 0 h 637448"/>
                  <a:gd name="connsiteX2-171" fmla="*/ 305833 w 484632"/>
                  <a:gd name="connsiteY2-172" fmla="*/ 10860 h 637448"/>
                  <a:gd name="connsiteX3-173" fmla="*/ 337423 w 484632"/>
                  <a:gd name="connsiteY3-174" fmla="*/ 120650 h 637448"/>
                  <a:gd name="connsiteX4-175" fmla="*/ 363474 w 484632"/>
                  <a:gd name="connsiteY4-176" fmla="*/ 395132 h 637448"/>
                  <a:gd name="connsiteX5-177" fmla="*/ 484632 w 484632"/>
                  <a:gd name="connsiteY5-178" fmla="*/ 395132 h 637448"/>
                  <a:gd name="connsiteX6-179" fmla="*/ 242316 w 484632"/>
                  <a:gd name="connsiteY6-180" fmla="*/ 637448 h 637448"/>
                  <a:gd name="connsiteX7-181" fmla="*/ 0 w 484632"/>
                  <a:gd name="connsiteY7-182" fmla="*/ 395132 h 637448"/>
                  <a:gd name="connsiteX8-183" fmla="*/ 121158 w 484632"/>
                  <a:gd name="connsiteY8-184" fmla="*/ 395132 h 637448"/>
                  <a:gd name="connsiteX9-185" fmla="*/ 121523 w 484632"/>
                  <a:gd name="connsiteY9-186" fmla="*/ 165100 h 637448"/>
                  <a:gd name="connsiteX10-187" fmla="*/ 106091 w 484632"/>
                  <a:gd name="connsiteY10-188" fmla="*/ 62893 h 637448"/>
                  <a:gd name="connsiteX11-189" fmla="*/ 87784 w 484632"/>
                  <a:gd name="connsiteY11-190" fmla="*/ 6350 h 637448"/>
                  <a:gd name="connsiteX0-191" fmla="*/ 87784 w 484632"/>
                  <a:gd name="connsiteY0-192" fmla="*/ 6350 h 637448"/>
                  <a:gd name="connsiteX1-193" fmla="*/ 273387 w 484632"/>
                  <a:gd name="connsiteY1-194" fmla="*/ 0 h 637448"/>
                  <a:gd name="connsiteX2-195" fmla="*/ 337583 w 484632"/>
                  <a:gd name="connsiteY2-196" fmla="*/ 10860 h 637448"/>
                  <a:gd name="connsiteX3-197" fmla="*/ 337423 w 484632"/>
                  <a:gd name="connsiteY3-198" fmla="*/ 120650 h 637448"/>
                  <a:gd name="connsiteX4-199" fmla="*/ 363474 w 484632"/>
                  <a:gd name="connsiteY4-200" fmla="*/ 395132 h 637448"/>
                  <a:gd name="connsiteX5-201" fmla="*/ 484632 w 484632"/>
                  <a:gd name="connsiteY5-202" fmla="*/ 395132 h 637448"/>
                  <a:gd name="connsiteX6-203" fmla="*/ 242316 w 484632"/>
                  <a:gd name="connsiteY6-204" fmla="*/ 637448 h 637448"/>
                  <a:gd name="connsiteX7-205" fmla="*/ 0 w 484632"/>
                  <a:gd name="connsiteY7-206" fmla="*/ 395132 h 637448"/>
                  <a:gd name="connsiteX8-207" fmla="*/ 121158 w 484632"/>
                  <a:gd name="connsiteY8-208" fmla="*/ 395132 h 637448"/>
                  <a:gd name="connsiteX9-209" fmla="*/ 121523 w 484632"/>
                  <a:gd name="connsiteY9-210" fmla="*/ 165100 h 637448"/>
                  <a:gd name="connsiteX10-211" fmla="*/ 106091 w 484632"/>
                  <a:gd name="connsiteY10-212" fmla="*/ 62893 h 637448"/>
                  <a:gd name="connsiteX11-213" fmla="*/ 87784 w 484632"/>
                  <a:gd name="connsiteY11-214" fmla="*/ 6350 h 637448"/>
                  <a:gd name="connsiteX0-215" fmla="*/ 87784 w 484632"/>
                  <a:gd name="connsiteY0-216" fmla="*/ 6350 h 637448"/>
                  <a:gd name="connsiteX1-217" fmla="*/ 273387 w 484632"/>
                  <a:gd name="connsiteY1-218" fmla="*/ 0 h 637448"/>
                  <a:gd name="connsiteX2-219" fmla="*/ 305833 w 484632"/>
                  <a:gd name="connsiteY2-220" fmla="*/ 23560 h 637448"/>
                  <a:gd name="connsiteX3-221" fmla="*/ 337423 w 484632"/>
                  <a:gd name="connsiteY3-222" fmla="*/ 120650 h 637448"/>
                  <a:gd name="connsiteX4-223" fmla="*/ 363474 w 484632"/>
                  <a:gd name="connsiteY4-224" fmla="*/ 395132 h 637448"/>
                  <a:gd name="connsiteX5-225" fmla="*/ 484632 w 484632"/>
                  <a:gd name="connsiteY5-226" fmla="*/ 395132 h 637448"/>
                  <a:gd name="connsiteX6-227" fmla="*/ 242316 w 484632"/>
                  <a:gd name="connsiteY6-228" fmla="*/ 637448 h 637448"/>
                  <a:gd name="connsiteX7-229" fmla="*/ 0 w 484632"/>
                  <a:gd name="connsiteY7-230" fmla="*/ 395132 h 637448"/>
                  <a:gd name="connsiteX8-231" fmla="*/ 121158 w 484632"/>
                  <a:gd name="connsiteY8-232" fmla="*/ 395132 h 637448"/>
                  <a:gd name="connsiteX9-233" fmla="*/ 121523 w 484632"/>
                  <a:gd name="connsiteY9-234" fmla="*/ 165100 h 637448"/>
                  <a:gd name="connsiteX10-235" fmla="*/ 106091 w 484632"/>
                  <a:gd name="connsiteY10-236" fmla="*/ 62893 h 637448"/>
                  <a:gd name="connsiteX11-237" fmla="*/ 87784 w 484632"/>
                  <a:gd name="connsiteY11-238" fmla="*/ 6350 h 637448"/>
                  <a:gd name="connsiteX0-239" fmla="*/ 87784 w 484632"/>
                  <a:gd name="connsiteY0-240" fmla="*/ 6350 h 637448"/>
                  <a:gd name="connsiteX1-241" fmla="*/ 273387 w 484632"/>
                  <a:gd name="connsiteY1-242" fmla="*/ 0 h 637448"/>
                  <a:gd name="connsiteX2-243" fmla="*/ 305833 w 484632"/>
                  <a:gd name="connsiteY2-244" fmla="*/ 23560 h 637448"/>
                  <a:gd name="connsiteX3-245" fmla="*/ 337423 w 484632"/>
                  <a:gd name="connsiteY3-246" fmla="*/ 120650 h 637448"/>
                  <a:gd name="connsiteX4-247" fmla="*/ 350123 w 484632"/>
                  <a:gd name="connsiteY4-248" fmla="*/ 292100 h 637448"/>
                  <a:gd name="connsiteX5-249" fmla="*/ 363474 w 484632"/>
                  <a:gd name="connsiteY5-250" fmla="*/ 395132 h 637448"/>
                  <a:gd name="connsiteX6-251" fmla="*/ 484632 w 484632"/>
                  <a:gd name="connsiteY6-252" fmla="*/ 395132 h 637448"/>
                  <a:gd name="connsiteX7-253" fmla="*/ 242316 w 484632"/>
                  <a:gd name="connsiteY7-254" fmla="*/ 637448 h 637448"/>
                  <a:gd name="connsiteX8-255" fmla="*/ 0 w 484632"/>
                  <a:gd name="connsiteY8-256" fmla="*/ 395132 h 637448"/>
                  <a:gd name="connsiteX9-257" fmla="*/ 121158 w 484632"/>
                  <a:gd name="connsiteY9-258" fmla="*/ 395132 h 637448"/>
                  <a:gd name="connsiteX10-259" fmla="*/ 121523 w 484632"/>
                  <a:gd name="connsiteY10-260" fmla="*/ 165100 h 637448"/>
                  <a:gd name="connsiteX11-261" fmla="*/ 106091 w 484632"/>
                  <a:gd name="connsiteY11-262" fmla="*/ 62893 h 637448"/>
                  <a:gd name="connsiteX12" fmla="*/ 87784 w 484632"/>
                  <a:gd name="connsiteY12" fmla="*/ 6350 h 637448"/>
                  <a:gd name="connsiteX0-263" fmla="*/ 87784 w 484632"/>
                  <a:gd name="connsiteY0-264" fmla="*/ 6350 h 637448"/>
                  <a:gd name="connsiteX1-265" fmla="*/ 273387 w 484632"/>
                  <a:gd name="connsiteY1-266" fmla="*/ 0 h 637448"/>
                  <a:gd name="connsiteX2-267" fmla="*/ 305833 w 484632"/>
                  <a:gd name="connsiteY2-268" fmla="*/ 23560 h 637448"/>
                  <a:gd name="connsiteX3-269" fmla="*/ 337423 w 484632"/>
                  <a:gd name="connsiteY3-270" fmla="*/ 120650 h 637448"/>
                  <a:gd name="connsiteX4-271" fmla="*/ 350123 w 484632"/>
                  <a:gd name="connsiteY4-272" fmla="*/ 292100 h 637448"/>
                  <a:gd name="connsiteX5-273" fmla="*/ 363474 w 484632"/>
                  <a:gd name="connsiteY5-274" fmla="*/ 395132 h 637448"/>
                  <a:gd name="connsiteX6-275" fmla="*/ 484632 w 484632"/>
                  <a:gd name="connsiteY6-276" fmla="*/ 395132 h 637448"/>
                  <a:gd name="connsiteX7-277" fmla="*/ 242316 w 484632"/>
                  <a:gd name="connsiteY7-278" fmla="*/ 637448 h 637448"/>
                  <a:gd name="connsiteX8-279" fmla="*/ 0 w 484632"/>
                  <a:gd name="connsiteY8-280" fmla="*/ 395132 h 637448"/>
                  <a:gd name="connsiteX9-281" fmla="*/ 121158 w 484632"/>
                  <a:gd name="connsiteY9-282" fmla="*/ 395132 h 637448"/>
                  <a:gd name="connsiteX10-283" fmla="*/ 128666 w 484632"/>
                  <a:gd name="connsiteY10-284" fmla="*/ 165100 h 637448"/>
                  <a:gd name="connsiteX11-285" fmla="*/ 106091 w 484632"/>
                  <a:gd name="connsiteY11-286" fmla="*/ 62893 h 637448"/>
                  <a:gd name="connsiteX12-287" fmla="*/ 87784 w 484632"/>
                  <a:gd name="connsiteY12-288" fmla="*/ 6350 h 637448"/>
                  <a:gd name="connsiteX0-289" fmla="*/ 87784 w 484632"/>
                  <a:gd name="connsiteY0-290" fmla="*/ 6350 h 637448"/>
                  <a:gd name="connsiteX1-291" fmla="*/ 273387 w 484632"/>
                  <a:gd name="connsiteY1-292" fmla="*/ 0 h 637448"/>
                  <a:gd name="connsiteX2-293" fmla="*/ 305833 w 484632"/>
                  <a:gd name="connsiteY2-294" fmla="*/ 23560 h 637448"/>
                  <a:gd name="connsiteX3-295" fmla="*/ 337423 w 484632"/>
                  <a:gd name="connsiteY3-296" fmla="*/ 120650 h 637448"/>
                  <a:gd name="connsiteX4-297" fmla="*/ 350123 w 484632"/>
                  <a:gd name="connsiteY4-298" fmla="*/ 292100 h 637448"/>
                  <a:gd name="connsiteX5-299" fmla="*/ 363474 w 484632"/>
                  <a:gd name="connsiteY5-300" fmla="*/ 395132 h 637448"/>
                  <a:gd name="connsiteX6-301" fmla="*/ 484632 w 484632"/>
                  <a:gd name="connsiteY6-302" fmla="*/ 395132 h 637448"/>
                  <a:gd name="connsiteX7-303" fmla="*/ 242316 w 484632"/>
                  <a:gd name="connsiteY7-304" fmla="*/ 637448 h 637448"/>
                  <a:gd name="connsiteX8-305" fmla="*/ 0 w 484632"/>
                  <a:gd name="connsiteY8-306" fmla="*/ 395132 h 637448"/>
                  <a:gd name="connsiteX9-307" fmla="*/ 121158 w 484632"/>
                  <a:gd name="connsiteY9-308" fmla="*/ 395132 h 637448"/>
                  <a:gd name="connsiteX10-309" fmla="*/ 128666 w 484632"/>
                  <a:gd name="connsiteY10-310" fmla="*/ 165100 h 637448"/>
                  <a:gd name="connsiteX11-311" fmla="*/ 106091 w 484632"/>
                  <a:gd name="connsiteY11-312" fmla="*/ 62893 h 637448"/>
                  <a:gd name="connsiteX12-313" fmla="*/ 87784 w 484632"/>
                  <a:gd name="connsiteY12-314" fmla="*/ 6350 h 637448"/>
                  <a:gd name="connsiteX0-315" fmla="*/ 87784 w 484632"/>
                  <a:gd name="connsiteY0-316" fmla="*/ 6350 h 637448"/>
                  <a:gd name="connsiteX1-317" fmla="*/ 273387 w 484632"/>
                  <a:gd name="connsiteY1-318" fmla="*/ 0 h 637448"/>
                  <a:gd name="connsiteX2-319" fmla="*/ 305833 w 484632"/>
                  <a:gd name="connsiteY2-320" fmla="*/ 23560 h 637448"/>
                  <a:gd name="connsiteX3-321" fmla="*/ 337423 w 484632"/>
                  <a:gd name="connsiteY3-322" fmla="*/ 120650 h 637448"/>
                  <a:gd name="connsiteX4-323" fmla="*/ 350123 w 484632"/>
                  <a:gd name="connsiteY4-324" fmla="*/ 292100 h 637448"/>
                  <a:gd name="connsiteX5-325" fmla="*/ 363474 w 484632"/>
                  <a:gd name="connsiteY5-326" fmla="*/ 395132 h 637448"/>
                  <a:gd name="connsiteX6-327" fmla="*/ 484632 w 484632"/>
                  <a:gd name="connsiteY6-328" fmla="*/ 395132 h 637448"/>
                  <a:gd name="connsiteX7-329" fmla="*/ 242316 w 484632"/>
                  <a:gd name="connsiteY7-330" fmla="*/ 637448 h 637448"/>
                  <a:gd name="connsiteX8-331" fmla="*/ 0 w 484632"/>
                  <a:gd name="connsiteY8-332" fmla="*/ 395132 h 637448"/>
                  <a:gd name="connsiteX9-333" fmla="*/ 121158 w 484632"/>
                  <a:gd name="connsiteY9-334" fmla="*/ 395132 h 637448"/>
                  <a:gd name="connsiteX10-335" fmla="*/ 128666 w 484632"/>
                  <a:gd name="connsiteY10-336" fmla="*/ 165100 h 637448"/>
                  <a:gd name="connsiteX11-337" fmla="*/ 106091 w 484632"/>
                  <a:gd name="connsiteY11-338" fmla="*/ 62893 h 637448"/>
                  <a:gd name="connsiteX12-339" fmla="*/ 87784 w 484632"/>
                  <a:gd name="connsiteY12-340" fmla="*/ 6350 h 637448"/>
                  <a:gd name="connsiteX0-341" fmla="*/ 87784 w 484632"/>
                  <a:gd name="connsiteY0-342" fmla="*/ 6350 h 637448"/>
                  <a:gd name="connsiteX1-343" fmla="*/ 273387 w 484632"/>
                  <a:gd name="connsiteY1-344" fmla="*/ 0 h 637448"/>
                  <a:gd name="connsiteX2-345" fmla="*/ 305833 w 484632"/>
                  <a:gd name="connsiteY2-346" fmla="*/ 23560 h 637448"/>
                  <a:gd name="connsiteX3-347" fmla="*/ 337423 w 484632"/>
                  <a:gd name="connsiteY3-348" fmla="*/ 120650 h 637448"/>
                  <a:gd name="connsiteX4-349" fmla="*/ 350123 w 484632"/>
                  <a:gd name="connsiteY4-350" fmla="*/ 292100 h 637448"/>
                  <a:gd name="connsiteX5-351" fmla="*/ 363474 w 484632"/>
                  <a:gd name="connsiteY5-352" fmla="*/ 395132 h 637448"/>
                  <a:gd name="connsiteX6-353" fmla="*/ 484632 w 484632"/>
                  <a:gd name="connsiteY6-354" fmla="*/ 395132 h 637448"/>
                  <a:gd name="connsiteX7-355" fmla="*/ 242316 w 484632"/>
                  <a:gd name="connsiteY7-356" fmla="*/ 637448 h 637448"/>
                  <a:gd name="connsiteX8-357" fmla="*/ 0 w 484632"/>
                  <a:gd name="connsiteY8-358" fmla="*/ 395132 h 637448"/>
                  <a:gd name="connsiteX9-359" fmla="*/ 121158 w 484632"/>
                  <a:gd name="connsiteY9-360" fmla="*/ 395132 h 637448"/>
                  <a:gd name="connsiteX10-361" fmla="*/ 128666 w 484632"/>
                  <a:gd name="connsiteY10-362" fmla="*/ 165100 h 637448"/>
                  <a:gd name="connsiteX11-363" fmla="*/ 106091 w 484632"/>
                  <a:gd name="connsiteY11-364" fmla="*/ 62893 h 637448"/>
                  <a:gd name="connsiteX12-365" fmla="*/ 87784 w 484632"/>
                  <a:gd name="connsiteY12-366" fmla="*/ 6350 h 637448"/>
                  <a:gd name="connsiteX0-367" fmla="*/ 87784 w 484632"/>
                  <a:gd name="connsiteY0-368" fmla="*/ 6350 h 637448"/>
                  <a:gd name="connsiteX1-369" fmla="*/ 273387 w 484632"/>
                  <a:gd name="connsiteY1-370" fmla="*/ 0 h 637448"/>
                  <a:gd name="connsiteX2-371" fmla="*/ 305833 w 484632"/>
                  <a:gd name="connsiteY2-372" fmla="*/ 23560 h 637448"/>
                  <a:gd name="connsiteX3-373" fmla="*/ 337423 w 484632"/>
                  <a:gd name="connsiteY3-374" fmla="*/ 120650 h 637448"/>
                  <a:gd name="connsiteX4-375" fmla="*/ 350123 w 484632"/>
                  <a:gd name="connsiteY4-376" fmla="*/ 292100 h 637448"/>
                  <a:gd name="connsiteX5-377" fmla="*/ 363474 w 484632"/>
                  <a:gd name="connsiteY5-378" fmla="*/ 395132 h 637448"/>
                  <a:gd name="connsiteX6-379" fmla="*/ 484632 w 484632"/>
                  <a:gd name="connsiteY6-380" fmla="*/ 395132 h 637448"/>
                  <a:gd name="connsiteX7-381" fmla="*/ 242316 w 484632"/>
                  <a:gd name="connsiteY7-382" fmla="*/ 637448 h 637448"/>
                  <a:gd name="connsiteX8-383" fmla="*/ 0 w 484632"/>
                  <a:gd name="connsiteY8-384" fmla="*/ 395132 h 637448"/>
                  <a:gd name="connsiteX9-385" fmla="*/ 121158 w 484632"/>
                  <a:gd name="connsiteY9-386" fmla="*/ 395132 h 637448"/>
                  <a:gd name="connsiteX10-387" fmla="*/ 128666 w 484632"/>
                  <a:gd name="connsiteY10-388" fmla="*/ 165100 h 637448"/>
                  <a:gd name="connsiteX11-389" fmla="*/ 106091 w 484632"/>
                  <a:gd name="connsiteY11-390" fmla="*/ 62893 h 637448"/>
                  <a:gd name="connsiteX12-391" fmla="*/ 87784 w 484632"/>
                  <a:gd name="connsiteY12-392" fmla="*/ 6350 h 637448"/>
                  <a:gd name="connsiteX0-393" fmla="*/ 87784 w 484632"/>
                  <a:gd name="connsiteY0-394" fmla="*/ 6350 h 637448"/>
                  <a:gd name="connsiteX1-395" fmla="*/ 273387 w 484632"/>
                  <a:gd name="connsiteY1-396" fmla="*/ 0 h 637448"/>
                  <a:gd name="connsiteX2-397" fmla="*/ 305833 w 484632"/>
                  <a:gd name="connsiteY2-398" fmla="*/ 23560 h 637448"/>
                  <a:gd name="connsiteX3-399" fmla="*/ 337423 w 484632"/>
                  <a:gd name="connsiteY3-400" fmla="*/ 120650 h 637448"/>
                  <a:gd name="connsiteX4-401" fmla="*/ 350123 w 484632"/>
                  <a:gd name="connsiteY4-402" fmla="*/ 292100 h 637448"/>
                  <a:gd name="connsiteX5-403" fmla="*/ 363474 w 484632"/>
                  <a:gd name="connsiteY5-404" fmla="*/ 395132 h 637448"/>
                  <a:gd name="connsiteX6-405" fmla="*/ 484632 w 484632"/>
                  <a:gd name="connsiteY6-406" fmla="*/ 395132 h 637448"/>
                  <a:gd name="connsiteX7-407" fmla="*/ 242316 w 484632"/>
                  <a:gd name="connsiteY7-408" fmla="*/ 637448 h 637448"/>
                  <a:gd name="connsiteX8-409" fmla="*/ 0 w 484632"/>
                  <a:gd name="connsiteY8-410" fmla="*/ 395132 h 637448"/>
                  <a:gd name="connsiteX9-411" fmla="*/ 121158 w 484632"/>
                  <a:gd name="connsiteY9-412" fmla="*/ 395132 h 637448"/>
                  <a:gd name="connsiteX10-413" fmla="*/ 128666 w 484632"/>
                  <a:gd name="connsiteY10-414" fmla="*/ 165100 h 637448"/>
                  <a:gd name="connsiteX11-415" fmla="*/ 106091 w 484632"/>
                  <a:gd name="connsiteY11-416" fmla="*/ 62893 h 637448"/>
                  <a:gd name="connsiteX12-417" fmla="*/ 87784 w 484632"/>
                  <a:gd name="connsiteY12-418" fmla="*/ 6350 h 637448"/>
                </a:gdLst>
                <a:ahLst/>
                <a:cxnLst>
                  <a:cxn ang="0">
                    <a:pos x="connsiteX0-393" y="connsiteY0-394"/>
                  </a:cxn>
                  <a:cxn ang="0">
                    <a:pos x="connsiteX1-395" y="connsiteY1-396"/>
                  </a:cxn>
                  <a:cxn ang="0">
                    <a:pos x="connsiteX2-397" y="connsiteY2-398"/>
                  </a:cxn>
                  <a:cxn ang="0">
                    <a:pos x="connsiteX3-399" y="connsiteY3-400"/>
                  </a:cxn>
                  <a:cxn ang="0">
                    <a:pos x="connsiteX4-401" y="connsiteY4-402"/>
                  </a:cxn>
                  <a:cxn ang="0">
                    <a:pos x="connsiteX5-403" y="connsiteY5-404"/>
                  </a:cxn>
                  <a:cxn ang="0">
                    <a:pos x="connsiteX6-405" y="connsiteY6-406"/>
                  </a:cxn>
                  <a:cxn ang="0">
                    <a:pos x="connsiteX7-407" y="connsiteY7-408"/>
                  </a:cxn>
                  <a:cxn ang="0">
                    <a:pos x="connsiteX8-409" y="connsiteY8-410"/>
                  </a:cxn>
                  <a:cxn ang="0">
                    <a:pos x="connsiteX9-411" y="connsiteY9-412"/>
                  </a:cxn>
                  <a:cxn ang="0">
                    <a:pos x="connsiteX10-413" y="connsiteY10-414"/>
                  </a:cxn>
                  <a:cxn ang="0">
                    <a:pos x="connsiteX11-415" y="connsiteY11-416"/>
                  </a:cxn>
                  <a:cxn ang="0">
                    <a:pos x="connsiteX12-417" y="connsiteY12-418"/>
                  </a:cxn>
                </a:cxnLst>
                <a:rect l="l" t="t" r="r" b="b"/>
                <a:pathLst>
                  <a:path w="484632" h="637448">
                    <a:moveTo>
                      <a:pt x="87784" y="6350"/>
                    </a:moveTo>
                    <a:lnTo>
                      <a:pt x="273387" y="0"/>
                    </a:lnTo>
                    <a:lnTo>
                      <a:pt x="305833" y="23560"/>
                    </a:lnTo>
                    <a:cubicBezTo>
                      <a:pt x="320733" y="62310"/>
                      <a:pt x="327369" y="91832"/>
                      <a:pt x="337423" y="120650"/>
                    </a:cubicBezTo>
                    <a:cubicBezTo>
                      <a:pt x="343746" y="167523"/>
                      <a:pt x="345781" y="246353"/>
                      <a:pt x="350123" y="292100"/>
                    </a:cubicBezTo>
                    <a:cubicBezTo>
                      <a:pt x="354465" y="337847"/>
                      <a:pt x="339997" y="380077"/>
                      <a:pt x="363474" y="395132"/>
                    </a:cubicBezTo>
                    <a:lnTo>
                      <a:pt x="484632" y="395132"/>
                    </a:lnTo>
                    <a:lnTo>
                      <a:pt x="242316" y="637448"/>
                    </a:lnTo>
                    <a:lnTo>
                      <a:pt x="0" y="395132"/>
                    </a:lnTo>
                    <a:lnTo>
                      <a:pt x="121158" y="395132"/>
                    </a:lnTo>
                    <a:cubicBezTo>
                      <a:pt x="130828" y="357852"/>
                      <a:pt x="141570" y="242067"/>
                      <a:pt x="128666" y="165100"/>
                    </a:cubicBezTo>
                    <a:cubicBezTo>
                      <a:pt x="118643" y="119472"/>
                      <a:pt x="112573" y="101136"/>
                      <a:pt x="106091" y="62893"/>
                    </a:cubicBezTo>
                    <a:lnTo>
                      <a:pt x="87784" y="6350"/>
                    </a:lnTo>
                    <a:close/>
                  </a:path>
                </a:pathLst>
              </a:custGeom>
              <a:solidFill>
                <a:srgbClr val="4D91BF"/>
              </a:solidFill>
              <a:ln>
                <a:noFill/>
              </a:ln>
            </p:spPr>
            <p:style>
              <a:lnRef idx="2">
                <a:srgbClr val="0FA1AB">
                  <a:shade val="50000"/>
                </a:srgbClr>
              </a:lnRef>
              <a:fillRef idx="1">
                <a:srgbClr val="0FA1AB"/>
              </a:fillRef>
              <a:effectRef idx="0">
                <a:srgbClr val="0FA1AB"/>
              </a:effectRef>
              <a:fontRef idx="minor">
                <a:srgbClr val="FFFFFF"/>
              </a:fontRef>
            </p:style>
            <p:txBody>
              <a:bodyPr rtlCol="0" anchor="ctr">
                <a:normAutofit/>
              </a:bodyPr>
              <a:lstStyle/>
              <a:p>
                <a:pPr algn="ctr"/>
                <a:endParaRPr lang="zh-CN" altLang="en-US" dirty="0">
                  <a:latin typeface="Times New Roman" panose="02020603050405020304" pitchFamily="18" charset="0"/>
                  <a:sym typeface="Arial" panose="020B0604020202020204" pitchFamily="34" charset="0"/>
                </a:endParaRPr>
              </a:p>
            </p:txBody>
          </p:sp>
          <p:sp>
            <p:nvSpPr>
              <p:cNvPr id="32" name="任意多边形 31"/>
              <p:cNvSpPr/>
              <p:nvPr>
                <p:custDataLst>
                  <p:tags r:id="rId11"/>
                </p:custDataLst>
              </p:nvPr>
            </p:nvSpPr>
            <p:spPr>
              <a:xfrm>
                <a:off x="7237791" y="3049926"/>
                <a:ext cx="249630" cy="637448"/>
              </a:xfrm>
              <a:custGeom>
                <a:avLst/>
                <a:gdLst>
                  <a:gd name="connsiteX0" fmla="*/ 17934 w 249630"/>
                  <a:gd name="connsiteY0" fmla="*/ 0 h 637448"/>
                  <a:gd name="connsiteX1" fmla="*/ 125448 w 249630"/>
                  <a:gd name="connsiteY1" fmla="*/ 0 h 637448"/>
                  <a:gd name="connsiteX2" fmla="*/ 153677 w 249630"/>
                  <a:gd name="connsiteY2" fmla="*/ 56382 h 637448"/>
                  <a:gd name="connsiteX3" fmla="*/ 244011 w 249630"/>
                  <a:gd name="connsiteY3" fmla="*/ 628536 h 637448"/>
                  <a:gd name="connsiteX4" fmla="*/ 242721 w 249630"/>
                  <a:gd name="connsiteY4" fmla="*/ 637044 h 637448"/>
                  <a:gd name="connsiteX5" fmla="*/ 242316 w 249630"/>
                  <a:gd name="connsiteY5" fmla="*/ 637448 h 637448"/>
                  <a:gd name="connsiteX6" fmla="*/ 0 w 249630"/>
                  <a:gd name="connsiteY6" fmla="*/ 395132 h 637448"/>
                  <a:gd name="connsiteX7" fmla="*/ 121158 w 249630"/>
                  <a:gd name="connsiteY7" fmla="*/ 395132 h 637448"/>
                  <a:gd name="connsiteX8" fmla="*/ 89773 w 249630"/>
                  <a:gd name="connsiteY8" fmla="*/ 171450 h 637448"/>
                  <a:gd name="connsiteX9" fmla="*/ 48941 w 249630"/>
                  <a:gd name="connsiteY9" fmla="*/ 69243 h 637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9630" h="637448">
                    <a:moveTo>
                      <a:pt x="17934" y="0"/>
                    </a:moveTo>
                    <a:lnTo>
                      <a:pt x="125448" y="0"/>
                    </a:lnTo>
                    <a:lnTo>
                      <a:pt x="153677" y="56382"/>
                    </a:lnTo>
                    <a:cubicBezTo>
                      <a:pt x="232580" y="236753"/>
                      <a:pt x="263370" y="433895"/>
                      <a:pt x="244011" y="628536"/>
                    </a:cubicBezTo>
                    <a:lnTo>
                      <a:pt x="242721" y="637044"/>
                    </a:lnTo>
                    <a:lnTo>
                      <a:pt x="242316" y="637448"/>
                    </a:lnTo>
                    <a:lnTo>
                      <a:pt x="0" y="395132"/>
                    </a:lnTo>
                    <a:lnTo>
                      <a:pt x="121158" y="395132"/>
                    </a:lnTo>
                    <a:cubicBezTo>
                      <a:pt x="130828" y="357852"/>
                      <a:pt x="109821" y="243655"/>
                      <a:pt x="89773" y="171450"/>
                    </a:cubicBezTo>
                    <a:cubicBezTo>
                      <a:pt x="79750" y="135348"/>
                      <a:pt x="64948" y="102723"/>
                      <a:pt x="48941" y="69243"/>
                    </a:cubicBezTo>
                    <a:close/>
                  </a:path>
                </a:pathLst>
              </a:custGeom>
              <a:gradFill>
                <a:gsLst>
                  <a:gs pos="61000">
                    <a:srgbClr val="4D91BF">
                      <a:lumMod val="75000"/>
                    </a:srgbClr>
                  </a:gs>
                  <a:gs pos="29000">
                    <a:srgbClr val="4D91BF">
                      <a:lumMod val="75000"/>
                      <a:alpha val="31000"/>
                    </a:srgbClr>
                  </a:gs>
                  <a:gs pos="0">
                    <a:srgbClr val="4D91BF">
                      <a:lumMod val="75000"/>
                      <a:alpha val="0"/>
                    </a:srgbClr>
                  </a:gs>
                  <a:gs pos="100000">
                    <a:srgbClr val="4D91BF">
                      <a:lumMod val="75000"/>
                    </a:srgbClr>
                  </a:gs>
                </a:gsLst>
                <a:lin ang="5400000" scaled="1"/>
              </a:gradFill>
              <a:ln>
                <a:noFill/>
              </a:ln>
            </p:spPr>
            <p:style>
              <a:lnRef idx="2">
                <a:srgbClr val="0FA1AB">
                  <a:shade val="50000"/>
                </a:srgbClr>
              </a:lnRef>
              <a:fillRef idx="1">
                <a:srgbClr val="0FA1AB"/>
              </a:fillRef>
              <a:effectRef idx="0">
                <a:srgbClr val="0FA1AB"/>
              </a:effectRef>
              <a:fontRef idx="minor">
                <a:srgbClr val="FFFFFF"/>
              </a:fontRef>
            </p:style>
            <p:txBody>
              <a:bodyPr rtlCol="0" anchor="ctr">
                <a:normAutofit/>
              </a:bodyPr>
              <a:lstStyle/>
              <a:p>
                <a:pPr algn="ctr"/>
                <a:endParaRPr lang="zh-CN" altLang="en-US" dirty="0">
                  <a:latin typeface="Times New Roman" panose="02020603050405020304" pitchFamily="18" charset="0"/>
                  <a:sym typeface="Arial" panose="020B0604020202020204" pitchFamily="34" charset="0"/>
                </a:endParaRPr>
              </a:p>
            </p:txBody>
          </p:sp>
        </p:grpSp>
        <p:grpSp>
          <p:nvGrpSpPr>
            <p:cNvPr id="33" name="组合 32"/>
            <p:cNvGrpSpPr/>
            <p:nvPr/>
          </p:nvGrpSpPr>
          <p:grpSpPr>
            <a:xfrm rot="14400000">
              <a:off x="4930608" y="1940029"/>
              <a:ext cx="642223" cy="844731"/>
              <a:chOff x="7269877" y="3048000"/>
              <a:chExt cx="484632" cy="637448"/>
            </a:xfrm>
          </p:grpSpPr>
          <p:sp>
            <p:nvSpPr>
              <p:cNvPr id="34" name="任意多边形 33"/>
              <p:cNvSpPr/>
              <p:nvPr>
                <p:custDataLst>
                  <p:tags r:id="rId8"/>
                </p:custDataLst>
              </p:nvPr>
            </p:nvSpPr>
            <p:spPr>
              <a:xfrm>
                <a:off x="7269877" y="3048000"/>
                <a:ext cx="484632" cy="637448"/>
              </a:xfrm>
              <a:custGeom>
                <a:avLst/>
                <a:gdLst>
                  <a:gd name="connsiteX0" fmla="*/ 17934 w 484632"/>
                  <a:gd name="connsiteY0" fmla="*/ 0 h 637448"/>
                  <a:gd name="connsiteX1" fmla="*/ 273387 w 484632"/>
                  <a:gd name="connsiteY1" fmla="*/ 0 h 637448"/>
                  <a:gd name="connsiteX2" fmla="*/ 280433 w 484632"/>
                  <a:gd name="connsiteY2" fmla="*/ 17210 h 637448"/>
                  <a:gd name="connsiteX3" fmla="*/ 318373 w 484632"/>
                  <a:gd name="connsiteY3" fmla="*/ 120650 h 637448"/>
                  <a:gd name="connsiteX4" fmla="*/ 363474 w 484632"/>
                  <a:gd name="connsiteY4" fmla="*/ 395132 h 637448"/>
                  <a:gd name="connsiteX5" fmla="*/ 484632 w 484632"/>
                  <a:gd name="connsiteY5" fmla="*/ 395132 h 637448"/>
                  <a:gd name="connsiteX6" fmla="*/ 242316 w 484632"/>
                  <a:gd name="connsiteY6" fmla="*/ 637448 h 637448"/>
                  <a:gd name="connsiteX7" fmla="*/ 0 w 484632"/>
                  <a:gd name="connsiteY7" fmla="*/ 395132 h 637448"/>
                  <a:gd name="connsiteX8" fmla="*/ 121158 w 484632"/>
                  <a:gd name="connsiteY8" fmla="*/ 395132 h 637448"/>
                  <a:gd name="connsiteX9" fmla="*/ 89773 w 484632"/>
                  <a:gd name="connsiteY9" fmla="*/ 171450 h 637448"/>
                  <a:gd name="connsiteX10" fmla="*/ 48941 w 484632"/>
                  <a:gd name="connsiteY10" fmla="*/ 69243 h 637448"/>
                  <a:gd name="connsiteX0-1" fmla="*/ 17934 w 484632"/>
                  <a:gd name="connsiteY0-2" fmla="*/ 0 h 637448"/>
                  <a:gd name="connsiteX1-3" fmla="*/ 273387 w 484632"/>
                  <a:gd name="connsiteY1-4" fmla="*/ 0 h 637448"/>
                  <a:gd name="connsiteX2-5" fmla="*/ 280433 w 484632"/>
                  <a:gd name="connsiteY2-6" fmla="*/ 17210 h 637448"/>
                  <a:gd name="connsiteX3-7" fmla="*/ 337423 w 484632"/>
                  <a:gd name="connsiteY3-8" fmla="*/ 120650 h 637448"/>
                  <a:gd name="connsiteX4-9" fmla="*/ 363474 w 484632"/>
                  <a:gd name="connsiteY4-10" fmla="*/ 395132 h 637448"/>
                  <a:gd name="connsiteX5-11" fmla="*/ 484632 w 484632"/>
                  <a:gd name="connsiteY5-12" fmla="*/ 395132 h 637448"/>
                  <a:gd name="connsiteX6-13" fmla="*/ 242316 w 484632"/>
                  <a:gd name="connsiteY6-14" fmla="*/ 637448 h 637448"/>
                  <a:gd name="connsiteX7-15" fmla="*/ 0 w 484632"/>
                  <a:gd name="connsiteY7-16" fmla="*/ 395132 h 637448"/>
                  <a:gd name="connsiteX8-17" fmla="*/ 121158 w 484632"/>
                  <a:gd name="connsiteY8-18" fmla="*/ 395132 h 637448"/>
                  <a:gd name="connsiteX9-19" fmla="*/ 89773 w 484632"/>
                  <a:gd name="connsiteY9-20" fmla="*/ 171450 h 637448"/>
                  <a:gd name="connsiteX10-21" fmla="*/ 48941 w 484632"/>
                  <a:gd name="connsiteY10-22" fmla="*/ 69243 h 637448"/>
                  <a:gd name="connsiteX11" fmla="*/ 17934 w 484632"/>
                  <a:gd name="connsiteY11" fmla="*/ 0 h 637448"/>
                  <a:gd name="connsiteX0-23" fmla="*/ 17934 w 484632"/>
                  <a:gd name="connsiteY0-24" fmla="*/ 0 h 637448"/>
                  <a:gd name="connsiteX1-25" fmla="*/ 273387 w 484632"/>
                  <a:gd name="connsiteY1-26" fmla="*/ 0 h 637448"/>
                  <a:gd name="connsiteX2-27" fmla="*/ 280433 w 484632"/>
                  <a:gd name="connsiteY2-28" fmla="*/ 17210 h 637448"/>
                  <a:gd name="connsiteX3-29" fmla="*/ 337423 w 484632"/>
                  <a:gd name="connsiteY3-30" fmla="*/ 120650 h 637448"/>
                  <a:gd name="connsiteX4-31" fmla="*/ 363474 w 484632"/>
                  <a:gd name="connsiteY4-32" fmla="*/ 395132 h 637448"/>
                  <a:gd name="connsiteX5-33" fmla="*/ 484632 w 484632"/>
                  <a:gd name="connsiteY5-34" fmla="*/ 395132 h 637448"/>
                  <a:gd name="connsiteX6-35" fmla="*/ 242316 w 484632"/>
                  <a:gd name="connsiteY6-36" fmla="*/ 637448 h 637448"/>
                  <a:gd name="connsiteX7-37" fmla="*/ 0 w 484632"/>
                  <a:gd name="connsiteY7-38" fmla="*/ 395132 h 637448"/>
                  <a:gd name="connsiteX8-39" fmla="*/ 121158 w 484632"/>
                  <a:gd name="connsiteY8-40" fmla="*/ 395132 h 637448"/>
                  <a:gd name="connsiteX9-41" fmla="*/ 89773 w 484632"/>
                  <a:gd name="connsiteY9-42" fmla="*/ 171450 h 637448"/>
                  <a:gd name="connsiteX10-43" fmla="*/ 48941 w 484632"/>
                  <a:gd name="connsiteY10-44" fmla="*/ 69243 h 637448"/>
                  <a:gd name="connsiteX11-45" fmla="*/ 17934 w 484632"/>
                  <a:gd name="connsiteY11-46" fmla="*/ 0 h 637448"/>
                  <a:gd name="connsiteX0-47" fmla="*/ 17934 w 484632"/>
                  <a:gd name="connsiteY0-48" fmla="*/ 0 h 637448"/>
                  <a:gd name="connsiteX1-49" fmla="*/ 273387 w 484632"/>
                  <a:gd name="connsiteY1-50" fmla="*/ 0 h 637448"/>
                  <a:gd name="connsiteX2-51" fmla="*/ 280433 w 484632"/>
                  <a:gd name="connsiteY2-52" fmla="*/ 17210 h 637448"/>
                  <a:gd name="connsiteX3-53" fmla="*/ 337423 w 484632"/>
                  <a:gd name="connsiteY3-54" fmla="*/ 120650 h 637448"/>
                  <a:gd name="connsiteX4-55" fmla="*/ 363474 w 484632"/>
                  <a:gd name="connsiteY4-56" fmla="*/ 395132 h 637448"/>
                  <a:gd name="connsiteX5-57" fmla="*/ 484632 w 484632"/>
                  <a:gd name="connsiteY5-58" fmla="*/ 395132 h 637448"/>
                  <a:gd name="connsiteX6-59" fmla="*/ 242316 w 484632"/>
                  <a:gd name="connsiteY6-60" fmla="*/ 637448 h 637448"/>
                  <a:gd name="connsiteX7-61" fmla="*/ 0 w 484632"/>
                  <a:gd name="connsiteY7-62" fmla="*/ 395132 h 637448"/>
                  <a:gd name="connsiteX8-63" fmla="*/ 121158 w 484632"/>
                  <a:gd name="connsiteY8-64" fmla="*/ 395132 h 637448"/>
                  <a:gd name="connsiteX9-65" fmla="*/ 89773 w 484632"/>
                  <a:gd name="connsiteY9-66" fmla="*/ 171450 h 637448"/>
                  <a:gd name="connsiteX10-67" fmla="*/ 48941 w 484632"/>
                  <a:gd name="connsiteY10-68" fmla="*/ 69243 h 637448"/>
                  <a:gd name="connsiteX11-69" fmla="*/ 17934 w 484632"/>
                  <a:gd name="connsiteY11-70" fmla="*/ 0 h 637448"/>
                  <a:gd name="connsiteX0-71" fmla="*/ 17934 w 484632"/>
                  <a:gd name="connsiteY0-72" fmla="*/ 0 h 637448"/>
                  <a:gd name="connsiteX1-73" fmla="*/ 273387 w 484632"/>
                  <a:gd name="connsiteY1-74" fmla="*/ 0 h 637448"/>
                  <a:gd name="connsiteX2-75" fmla="*/ 305833 w 484632"/>
                  <a:gd name="connsiteY2-76" fmla="*/ 10860 h 637448"/>
                  <a:gd name="connsiteX3-77" fmla="*/ 337423 w 484632"/>
                  <a:gd name="connsiteY3-78" fmla="*/ 120650 h 637448"/>
                  <a:gd name="connsiteX4-79" fmla="*/ 363474 w 484632"/>
                  <a:gd name="connsiteY4-80" fmla="*/ 395132 h 637448"/>
                  <a:gd name="connsiteX5-81" fmla="*/ 484632 w 484632"/>
                  <a:gd name="connsiteY5-82" fmla="*/ 395132 h 637448"/>
                  <a:gd name="connsiteX6-83" fmla="*/ 242316 w 484632"/>
                  <a:gd name="connsiteY6-84" fmla="*/ 637448 h 637448"/>
                  <a:gd name="connsiteX7-85" fmla="*/ 0 w 484632"/>
                  <a:gd name="connsiteY7-86" fmla="*/ 395132 h 637448"/>
                  <a:gd name="connsiteX8-87" fmla="*/ 121158 w 484632"/>
                  <a:gd name="connsiteY8-88" fmla="*/ 395132 h 637448"/>
                  <a:gd name="connsiteX9-89" fmla="*/ 89773 w 484632"/>
                  <a:gd name="connsiteY9-90" fmla="*/ 171450 h 637448"/>
                  <a:gd name="connsiteX10-91" fmla="*/ 48941 w 484632"/>
                  <a:gd name="connsiteY10-92" fmla="*/ 69243 h 637448"/>
                  <a:gd name="connsiteX11-93" fmla="*/ 17934 w 484632"/>
                  <a:gd name="connsiteY11-94" fmla="*/ 0 h 637448"/>
                  <a:gd name="connsiteX0-95" fmla="*/ 17934 w 484632"/>
                  <a:gd name="connsiteY0-96" fmla="*/ 0 h 637448"/>
                  <a:gd name="connsiteX1-97" fmla="*/ 273387 w 484632"/>
                  <a:gd name="connsiteY1-98" fmla="*/ 0 h 637448"/>
                  <a:gd name="connsiteX2-99" fmla="*/ 305833 w 484632"/>
                  <a:gd name="connsiteY2-100" fmla="*/ 10860 h 637448"/>
                  <a:gd name="connsiteX3-101" fmla="*/ 337423 w 484632"/>
                  <a:gd name="connsiteY3-102" fmla="*/ 120650 h 637448"/>
                  <a:gd name="connsiteX4-103" fmla="*/ 363474 w 484632"/>
                  <a:gd name="connsiteY4-104" fmla="*/ 395132 h 637448"/>
                  <a:gd name="connsiteX5-105" fmla="*/ 484632 w 484632"/>
                  <a:gd name="connsiteY5-106" fmla="*/ 395132 h 637448"/>
                  <a:gd name="connsiteX6-107" fmla="*/ 242316 w 484632"/>
                  <a:gd name="connsiteY6-108" fmla="*/ 637448 h 637448"/>
                  <a:gd name="connsiteX7-109" fmla="*/ 0 w 484632"/>
                  <a:gd name="connsiteY7-110" fmla="*/ 395132 h 637448"/>
                  <a:gd name="connsiteX8-111" fmla="*/ 121158 w 484632"/>
                  <a:gd name="connsiteY8-112" fmla="*/ 395132 h 637448"/>
                  <a:gd name="connsiteX9-113" fmla="*/ 121523 w 484632"/>
                  <a:gd name="connsiteY9-114" fmla="*/ 165100 h 637448"/>
                  <a:gd name="connsiteX10-115" fmla="*/ 48941 w 484632"/>
                  <a:gd name="connsiteY10-116" fmla="*/ 69243 h 637448"/>
                  <a:gd name="connsiteX11-117" fmla="*/ 17934 w 484632"/>
                  <a:gd name="connsiteY11-118" fmla="*/ 0 h 637448"/>
                  <a:gd name="connsiteX0-119" fmla="*/ 17934 w 484632"/>
                  <a:gd name="connsiteY0-120" fmla="*/ 0 h 637448"/>
                  <a:gd name="connsiteX1-121" fmla="*/ 273387 w 484632"/>
                  <a:gd name="connsiteY1-122" fmla="*/ 0 h 637448"/>
                  <a:gd name="connsiteX2-123" fmla="*/ 305833 w 484632"/>
                  <a:gd name="connsiteY2-124" fmla="*/ 10860 h 637448"/>
                  <a:gd name="connsiteX3-125" fmla="*/ 337423 w 484632"/>
                  <a:gd name="connsiteY3-126" fmla="*/ 120650 h 637448"/>
                  <a:gd name="connsiteX4-127" fmla="*/ 363474 w 484632"/>
                  <a:gd name="connsiteY4-128" fmla="*/ 395132 h 637448"/>
                  <a:gd name="connsiteX5-129" fmla="*/ 484632 w 484632"/>
                  <a:gd name="connsiteY5-130" fmla="*/ 395132 h 637448"/>
                  <a:gd name="connsiteX6-131" fmla="*/ 242316 w 484632"/>
                  <a:gd name="connsiteY6-132" fmla="*/ 637448 h 637448"/>
                  <a:gd name="connsiteX7-133" fmla="*/ 0 w 484632"/>
                  <a:gd name="connsiteY7-134" fmla="*/ 395132 h 637448"/>
                  <a:gd name="connsiteX8-135" fmla="*/ 121158 w 484632"/>
                  <a:gd name="connsiteY8-136" fmla="*/ 395132 h 637448"/>
                  <a:gd name="connsiteX9-137" fmla="*/ 121523 w 484632"/>
                  <a:gd name="connsiteY9-138" fmla="*/ 165100 h 637448"/>
                  <a:gd name="connsiteX10-139" fmla="*/ 106091 w 484632"/>
                  <a:gd name="connsiteY10-140" fmla="*/ 62893 h 637448"/>
                  <a:gd name="connsiteX11-141" fmla="*/ 17934 w 484632"/>
                  <a:gd name="connsiteY11-142" fmla="*/ 0 h 637448"/>
                  <a:gd name="connsiteX0-143" fmla="*/ 87784 w 484632"/>
                  <a:gd name="connsiteY0-144" fmla="*/ 0 h 637448"/>
                  <a:gd name="connsiteX1-145" fmla="*/ 273387 w 484632"/>
                  <a:gd name="connsiteY1-146" fmla="*/ 0 h 637448"/>
                  <a:gd name="connsiteX2-147" fmla="*/ 305833 w 484632"/>
                  <a:gd name="connsiteY2-148" fmla="*/ 10860 h 637448"/>
                  <a:gd name="connsiteX3-149" fmla="*/ 337423 w 484632"/>
                  <a:gd name="connsiteY3-150" fmla="*/ 120650 h 637448"/>
                  <a:gd name="connsiteX4-151" fmla="*/ 363474 w 484632"/>
                  <a:gd name="connsiteY4-152" fmla="*/ 395132 h 637448"/>
                  <a:gd name="connsiteX5-153" fmla="*/ 484632 w 484632"/>
                  <a:gd name="connsiteY5-154" fmla="*/ 395132 h 637448"/>
                  <a:gd name="connsiteX6-155" fmla="*/ 242316 w 484632"/>
                  <a:gd name="connsiteY6-156" fmla="*/ 637448 h 637448"/>
                  <a:gd name="connsiteX7-157" fmla="*/ 0 w 484632"/>
                  <a:gd name="connsiteY7-158" fmla="*/ 395132 h 637448"/>
                  <a:gd name="connsiteX8-159" fmla="*/ 121158 w 484632"/>
                  <a:gd name="connsiteY8-160" fmla="*/ 395132 h 637448"/>
                  <a:gd name="connsiteX9-161" fmla="*/ 121523 w 484632"/>
                  <a:gd name="connsiteY9-162" fmla="*/ 165100 h 637448"/>
                  <a:gd name="connsiteX10-163" fmla="*/ 106091 w 484632"/>
                  <a:gd name="connsiteY10-164" fmla="*/ 62893 h 637448"/>
                  <a:gd name="connsiteX11-165" fmla="*/ 87784 w 484632"/>
                  <a:gd name="connsiteY11-166" fmla="*/ 0 h 637448"/>
                  <a:gd name="connsiteX0-167" fmla="*/ 87784 w 484632"/>
                  <a:gd name="connsiteY0-168" fmla="*/ 6350 h 637448"/>
                  <a:gd name="connsiteX1-169" fmla="*/ 273387 w 484632"/>
                  <a:gd name="connsiteY1-170" fmla="*/ 0 h 637448"/>
                  <a:gd name="connsiteX2-171" fmla="*/ 305833 w 484632"/>
                  <a:gd name="connsiteY2-172" fmla="*/ 10860 h 637448"/>
                  <a:gd name="connsiteX3-173" fmla="*/ 337423 w 484632"/>
                  <a:gd name="connsiteY3-174" fmla="*/ 120650 h 637448"/>
                  <a:gd name="connsiteX4-175" fmla="*/ 363474 w 484632"/>
                  <a:gd name="connsiteY4-176" fmla="*/ 395132 h 637448"/>
                  <a:gd name="connsiteX5-177" fmla="*/ 484632 w 484632"/>
                  <a:gd name="connsiteY5-178" fmla="*/ 395132 h 637448"/>
                  <a:gd name="connsiteX6-179" fmla="*/ 242316 w 484632"/>
                  <a:gd name="connsiteY6-180" fmla="*/ 637448 h 637448"/>
                  <a:gd name="connsiteX7-181" fmla="*/ 0 w 484632"/>
                  <a:gd name="connsiteY7-182" fmla="*/ 395132 h 637448"/>
                  <a:gd name="connsiteX8-183" fmla="*/ 121158 w 484632"/>
                  <a:gd name="connsiteY8-184" fmla="*/ 395132 h 637448"/>
                  <a:gd name="connsiteX9-185" fmla="*/ 121523 w 484632"/>
                  <a:gd name="connsiteY9-186" fmla="*/ 165100 h 637448"/>
                  <a:gd name="connsiteX10-187" fmla="*/ 106091 w 484632"/>
                  <a:gd name="connsiteY10-188" fmla="*/ 62893 h 637448"/>
                  <a:gd name="connsiteX11-189" fmla="*/ 87784 w 484632"/>
                  <a:gd name="connsiteY11-190" fmla="*/ 6350 h 637448"/>
                  <a:gd name="connsiteX0-191" fmla="*/ 87784 w 484632"/>
                  <a:gd name="connsiteY0-192" fmla="*/ 6350 h 637448"/>
                  <a:gd name="connsiteX1-193" fmla="*/ 273387 w 484632"/>
                  <a:gd name="connsiteY1-194" fmla="*/ 0 h 637448"/>
                  <a:gd name="connsiteX2-195" fmla="*/ 337583 w 484632"/>
                  <a:gd name="connsiteY2-196" fmla="*/ 10860 h 637448"/>
                  <a:gd name="connsiteX3-197" fmla="*/ 337423 w 484632"/>
                  <a:gd name="connsiteY3-198" fmla="*/ 120650 h 637448"/>
                  <a:gd name="connsiteX4-199" fmla="*/ 363474 w 484632"/>
                  <a:gd name="connsiteY4-200" fmla="*/ 395132 h 637448"/>
                  <a:gd name="connsiteX5-201" fmla="*/ 484632 w 484632"/>
                  <a:gd name="connsiteY5-202" fmla="*/ 395132 h 637448"/>
                  <a:gd name="connsiteX6-203" fmla="*/ 242316 w 484632"/>
                  <a:gd name="connsiteY6-204" fmla="*/ 637448 h 637448"/>
                  <a:gd name="connsiteX7-205" fmla="*/ 0 w 484632"/>
                  <a:gd name="connsiteY7-206" fmla="*/ 395132 h 637448"/>
                  <a:gd name="connsiteX8-207" fmla="*/ 121158 w 484632"/>
                  <a:gd name="connsiteY8-208" fmla="*/ 395132 h 637448"/>
                  <a:gd name="connsiteX9-209" fmla="*/ 121523 w 484632"/>
                  <a:gd name="connsiteY9-210" fmla="*/ 165100 h 637448"/>
                  <a:gd name="connsiteX10-211" fmla="*/ 106091 w 484632"/>
                  <a:gd name="connsiteY10-212" fmla="*/ 62893 h 637448"/>
                  <a:gd name="connsiteX11-213" fmla="*/ 87784 w 484632"/>
                  <a:gd name="connsiteY11-214" fmla="*/ 6350 h 637448"/>
                  <a:gd name="connsiteX0-215" fmla="*/ 87784 w 484632"/>
                  <a:gd name="connsiteY0-216" fmla="*/ 6350 h 637448"/>
                  <a:gd name="connsiteX1-217" fmla="*/ 273387 w 484632"/>
                  <a:gd name="connsiteY1-218" fmla="*/ 0 h 637448"/>
                  <a:gd name="connsiteX2-219" fmla="*/ 305833 w 484632"/>
                  <a:gd name="connsiteY2-220" fmla="*/ 23560 h 637448"/>
                  <a:gd name="connsiteX3-221" fmla="*/ 337423 w 484632"/>
                  <a:gd name="connsiteY3-222" fmla="*/ 120650 h 637448"/>
                  <a:gd name="connsiteX4-223" fmla="*/ 363474 w 484632"/>
                  <a:gd name="connsiteY4-224" fmla="*/ 395132 h 637448"/>
                  <a:gd name="connsiteX5-225" fmla="*/ 484632 w 484632"/>
                  <a:gd name="connsiteY5-226" fmla="*/ 395132 h 637448"/>
                  <a:gd name="connsiteX6-227" fmla="*/ 242316 w 484632"/>
                  <a:gd name="connsiteY6-228" fmla="*/ 637448 h 637448"/>
                  <a:gd name="connsiteX7-229" fmla="*/ 0 w 484632"/>
                  <a:gd name="connsiteY7-230" fmla="*/ 395132 h 637448"/>
                  <a:gd name="connsiteX8-231" fmla="*/ 121158 w 484632"/>
                  <a:gd name="connsiteY8-232" fmla="*/ 395132 h 637448"/>
                  <a:gd name="connsiteX9-233" fmla="*/ 121523 w 484632"/>
                  <a:gd name="connsiteY9-234" fmla="*/ 165100 h 637448"/>
                  <a:gd name="connsiteX10-235" fmla="*/ 106091 w 484632"/>
                  <a:gd name="connsiteY10-236" fmla="*/ 62893 h 637448"/>
                  <a:gd name="connsiteX11-237" fmla="*/ 87784 w 484632"/>
                  <a:gd name="connsiteY11-238" fmla="*/ 6350 h 637448"/>
                  <a:gd name="connsiteX0-239" fmla="*/ 87784 w 484632"/>
                  <a:gd name="connsiteY0-240" fmla="*/ 6350 h 637448"/>
                  <a:gd name="connsiteX1-241" fmla="*/ 273387 w 484632"/>
                  <a:gd name="connsiteY1-242" fmla="*/ 0 h 637448"/>
                  <a:gd name="connsiteX2-243" fmla="*/ 305833 w 484632"/>
                  <a:gd name="connsiteY2-244" fmla="*/ 23560 h 637448"/>
                  <a:gd name="connsiteX3-245" fmla="*/ 337423 w 484632"/>
                  <a:gd name="connsiteY3-246" fmla="*/ 120650 h 637448"/>
                  <a:gd name="connsiteX4-247" fmla="*/ 350123 w 484632"/>
                  <a:gd name="connsiteY4-248" fmla="*/ 292100 h 637448"/>
                  <a:gd name="connsiteX5-249" fmla="*/ 363474 w 484632"/>
                  <a:gd name="connsiteY5-250" fmla="*/ 395132 h 637448"/>
                  <a:gd name="connsiteX6-251" fmla="*/ 484632 w 484632"/>
                  <a:gd name="connsiteY6-252" fmla="*/ 395132 h 637448"/>
                  <a:gd name="connsiteX7-253" fmla="*/ 242316 w 484632"/>
                  <a:gd name="connsiteY7-254" fmla="*/ 637448 h 637448"/>
                  <a:gd name="connsiteX8-255" fmla="*/ 0 w 484632"/>
                  <a:gd name="connsiteY8-256" fmla="*/ 395132 h 637448"/>
                  <a:gd name="connsiteX9-257" fmla="*/ 121158 w 484632"/>
                  <a:gd name="connsiteY9-258" fmla="*/ 395132 h 637448"/>
                  <a:gd name="connsiteX10-259" fmla="*/ 121523 w 484632"/>
                  <a:gd name="connsiteY10-260" fmla="*/ 165100 h 637448"/>
                  <a:gd name="connsiteX11-261" fmla="*/ 106091 w 484632"/>
                  <a:gd name="connsiteY11-262" fmla="*/ 62893 h 637448"/>
                  <a:gd name="connsiteX12" fmla="*/ 87784 w 484632"/>
                  <a:gd name="connsiteY12" fmla="*/ 6350 h 637448"/>
                  <a:gd name="connsiteX0-263" fmla="*/ 87784 w 484632"/>
                  <a:gd name="connsiteY0-264" fmla="*/ 6350 h 637448"/>
                  <a:gd name="connsiteX1-265" fmla="*/ 273387 w 484632"/>
                  <a:gd name="connsiteY1-266" fmla="*/ 0 h 637448"/>
                  <a:gd name="connsiteX2-267" fmla="*/ 305833 w 484632"/>
                  <a:gd name="connsiteY2-268" fmla="*/ 23560 h 637448"/>
                  <a:gd name="connsiteX3-269" fmla="*/ 337423 w 484632"/>
                  <a:gd name="connsiteY3-270" fmla="*/ 120650 h 637448"/>
                  <a:gd name="connsiteX4-271" fmla="*/ 350123 w 484632"/>
                  <a:gd name="connsiteY4-272" fmla="*/ 292100 h 637448"/>
                  <a:gd name="connsiteX5-273" fmla="*/ 363474 w 484632"/>
                  <a:gd name="connsiteY5-274" fmla="*/ 395132 h 637448"/>
                  <a:gd name="connsiteX6-275" fmla="*/ 484632 w 484632"/>
                  <a:gd name="connsiteY6-276" fmla="*/ 395132 h 637448"/>
                  <a:gd name="connsiteX7-277" fmla="*/ 242316 w 484632"/>
                  <a:gd name="connsiteY7-278" fmla="*/ 637448 h 637448"/>
                  <a:gd name="connsiteX8-279" fmla="*/ 0 w 484632"/>
                  <a:gd name="connsiteY8-280" fmla="*/ 395132 h 637448"/>
                  <a:gd name="connsiteX9-281" fmla="*/ 121158 w 484632"/>
                  <a:gd name="connsiteY9-282" fmla="*/ 395132 h 637448"/>
                  <a:gd name="connsiteX10-283" fmla="*/ 128666 w 484632"/>
                  <a:gd name="connsiteY10-284" fmla="*/ 165100 h 637448"/>
                  <a:gd name="connsiteX11-285" fmla="*/ 106091 w 484632"/>
                  <a:gd name="connsiteY11-286" fmla="*/ 62893 h 637448"/>
                  <a:gd name="connsiteX12-287" fmla="*/ 87784 w 484632"/>
                  <a:gd name="connsiteY12-288" fmla="*/ 6350 h 637448"/>
                  <a:gd name="connsiteX0-289" fmla="*/ 87784 w 484632"/>
                  <a:gd name="connsiteY0-290" fmla="*/ 6350 h 637448"/>
                  <a:gd name="connsiteX1-291" fmla="*/ 273387 w 484632"/>
                  <a:gd name="connsiteY1-292" fmla="*/ 0 h 637448"/>
                  <a:gd name="connsiteX2-293" fmla="*/ 305833 w 484632"/>
                  <a:gd name="connsiteY2-294" fmla="*/ 23560 h 637448"/>
                  <a:gd name="connsiteX3-295" fmla="*/ 337423 w 484632"/>
                  <a:gd name="connsiteY3-296" fmla="*/ 120650 h 637448"/>
                  <a:gd name="connsiteX4-297" fmla="*/ 350123 w 484632"/>
                  <a:gd name="connsiteY4-298" fmla="*/ 292100 h 637448"/>
                  <a:gd name="connsiteX5-299" fmla="*/ 363474 w 484632"/>
                  <a:gd name="connsiteY5-300" fmla="*/ 395132 h 637448"/>
                  <a:gd name="connsiteX6-301" fmla="*/ 484632 w 484632"/>
                  <a:gd name="connsiteY6-302" fmla="*/ 395132 h 637448"/>
                  <a:gd name="connsiteX7-303" fmla="*/ 242316 w 484632"/>
                  <a:gd name="connsiteY7-304" fmla="*/ 637448 h 637448"/>
                  <a:gd name="connsiteX8-305" fmla="*/ 0 w 484632"/>
                  <a:gd name="connsiteY8-306" fmla="*/ 395132 h 637448"/>
                  <a:gd name="connsiteX9-307" fmla="*/ 121158 w 484632"/>
                  <a:gd name="connsiteY9-308" fmla="*/ 395132 h 637448"/>
                  <a:gd name="connsiteX10-309" fmla="*/ 128666 w 484632"/>
                  <a:gd name="connsiteY10-310" fmla="*/ 165100 h 637448"/>
                  <a:gd name="connsiteX11-311" fmla="*/ 106091 w 484632"/>
                  <a:gd name="connsiteY11-312" fmla="*/ 62893 h 637448"/>
                  <a:gd name="connsiteX12-313" fmla="*/ 87784 w 484632"/>
                  <a:gd name="connsiteY12-314" fmla="*/ 6350 h 637448"/>
                  <a:gd name="connsiteX0-315" fmla="*/ 87784 w 484632"/>
                  <a:gd name="connsiteY0-316" fmla="*/ 6350 h 637448"/>
                  <a:gd name="connsiteX1-317" fmla="*/ 273387 w 484632"/>
                  <a:gd name="connsiteY1-318" fmla="*/ 0 h 637448"/>
                  <a:gd name="connsiteX2-319" fmla="*/ 305833 w 484632"/>
                  <a:gd name="connsiteY2-320" fmla="*/ 23560 h 637448"/>
                  <a:gd name="connsiteX3-321" fmla="*/ 337423 w 484632"/>
                  <a:gd name="connsiteY3-322" fmla="*/ 120650 h 637448"/>
                  <a:gd name="connsiteX4-323" fmla="*/ 350123 w 484632"/>
                  <a:gd name="connsiteY4-324" fmla="*/ 292100 h 637448"/>
                  <a:gd name="connsiteX5-325" fmla="*/ 363474 w 484632"/>
                  <a:gd name="connsiteY5-326" fmla="*/ 395132 h 637448"/>
                  <a:gd name="connsiteX6-327" fmla="*/ 484632 w 484632"/>
                  <a:gd name="connsiteY6-328" fmla="*/ 395132 h 637448"/>
                  <a:gd name="connsiteX7-329" fmla="*/ 242316 w 484632"/>
                  <a:gd name="connsiteY7-330" fmla="*/ 637448 h 637448"/>
                  <a:gd name="connsiteX8-331" fmla="*/ 0 w 484632"/>
                  <a:gd name="connsiteY8-332" fmla="*/ 395132 h 637448"/>
                  <a:gd name="connsiteX9-333" fmla="*/ 121158 w 484632"/>
                  <a:gd name="connsiteY9-334" fmla="*/ 395132 h 637448"/>
                  <a:gd name="connsiteX10-335" fmla="*/ 128666 w 484632"/>
                  <a:gd name="connsiteY10-336" fmla="*/ 165100 h 637448"/>
                  <a:gd name="connsiteX11-337" fmla="*/ 106091 w 484632"/>
                  <a:gd name="connsiteY11-338" fmla="*/ 62893 h 637448"/>
                  <a:gd name="connsiteX12-339" fmla="*/ 87784 w 484632"/>
                  <a:gd name="connsiteY12-340" fmla="*/ 6350 h 637448"/>
                  <a:gd name="connsiteX0-341" fmla="*/ 87784 w 484632"/>
                  <a:gd name="connsiteY0-342" fmla="*/ 6350 h 637448"/>
                  <a:gd name="connsiteX1-343" fmla="*/ 273387 w 484632"/>
                  <a:gd name="connsiteY1-344" fmla="*/ 0 h 637448"/>
                  <a:gd name="connsiteX2-345" fmla="*/ 305833 w 484632"/>
                  <a:gd name="connsiteY2-346" fmla="*/ 23560 h 637448"/>
                  <a:gd name="connsiteX3-347" fmla="*/ 337423 w 484632"/>
                  <a:gd name="connsiteY3-348" fmla="*/ 120650 h 637448"/>
                  <a:gd name="connsiteX4-349" fmla="*/ 350123 w 484632"/>
                  <a:gd name="connsiteY4-350" fmla="*/ 292100 h 637448"/>
                  <a:gd name="connsiteX5-351" fmla="*/ 363474 w 484632"/>
                  <a:gd name="connsiteY5-352" fmla="*/ 395132 h 637448"/>
                  <a:gd name="connsiteX6-353" fmla="*/ 484632 w 484632"/>
                  <a:gd name="connsiteY6-354" fmla="*/ 395132 h 637448"/>
                  <a:gd name="connsiteX7-355" fmla="*/ 242316 w 484632"/>
                  <a:gd name="connsiteY7-356" fmla="*/ 637448 h 637448"/>
                  <a:gd name="connsiteX8-357" fmla="*/ 0 w 484632"/>
                  <a:gd name="connsiteY8-358" fmla="*/ 395132 h 637448"/>
                  <a:gd name="connsiteX9-359" fmla="*/ 121158 w 484632"/>
                  <a:gd name="connsiteY9-360" fmla="*/ 395132 h 637448"/>
                  <a:gd name="connsiteX10-361" fmla="*/ 128666 w 484632"/>
                  <a:gd name="connsiteY10-362" fmla="*/ 165100 h 637448"/>
                  <a:gd name="connsiteX11-363" fmla="*/ 106091 w 484632"/>
                  <a:gd name="connsiteY11-364" fmla="*/ 62893 h 637448"/>
                  <a:gd name="connsiteX12-365" fmla="*/ 87784 w 484632"/>
                  <a:gd name="connsiteY12-366" fmla="*/ 6350 h 637448"/>
                  <a:gd name="connsiteX0-367" fmla="*/ 87784 w 484632"/>
                  <a:gd name="connsiteY0-368" fmla="*/ 6350 h 637448"/>
                  <a:gd name="connsiteX1-369" fmla="*/ 273387 w 484632"/>
                  <a:gd name="connsiteY1-370" fmla="*/ 0 h 637448"/>
                  <a:gd name="connsiteX2-371" fmla="*/ 305833 w 484632"/>
                  <a:gd name="connsiteY2-372" fmla="*/ 23560 h 637448"/>
                  <a:gd name="connsiteX3-373" fmla="*/ 337423 w 484632"/>
                  <a:gd name="connsiteY3-374" fmla="*/ 120650 h 637448"/>
                  <a:gd name="connsiteX4-375" fmla="*/ 350123 w 484632"/>
                  <a:gd name="connsiteY4-376" fmla="*/ 292100 h 637448"/>
                  <a:gd name="connsiteX5-377" fmla="*/ 363474 w 484632"/>
                  <a:gd name="connsiteY5-378" fmla="*/ 395132 h 637448"/>
                  <a:gd name="connsiteX6-379" fmla="*/ 484632 w 484632"/>
                  <a:gd name="connsiteY6-380" fmla="*/ 395132 h 637448"/>
                  <a:gd name="connsiteX7-381" fmla="*/ 242316 w 484632"/>
                  <a:gd name="connsiteY7-382" fmla="*/ 637448 h 637448"/>
                  <a:gd name="connsiteX8-383" fmla="*/ 0 w 484632"/>
                  <a:gd name="connsiteY8-384" fmla="*/ 395132 h 637448"/>
                  <a:gd name="connsiteX9-385" fmla="*/ 121158 w 484632"/>
                  <a:gd name="connsiteY9-386" fmla="*/ 395132 h 637448"/>
                  <a:gd name="connsiteX10-387" fmla="*/ 128666 w 484632"/>
                  <a:gd name="connsiteY10-388" fmla="*/ 165100 h 637448"/>
                  <a:gd name="connsiteX11-389" fmla="*/ 106091 w 484632"/>
                  <a:gd name="connsiteY11-390" fmla="*/ 62893 h 637448"/>
                  <a:gd name="connsiteX12-391" fmla="*/ 87784 w 484632"/>
                  <a:gd name="connsiteY12-392" fmla="*/ 6350 h 637448"/>
                  <a:gd name="connsiteX0-393" fmla="*/ 87784 w 484632"/>
                  <a:gd name="connsiteY0-394" fmla="*/ 6350 h 637448"/>
                  <a:gd name="connsiteX1-395" fmla="*/ 273387 w 484632"/>
                  <a:gd name="connsiteY1-396" fmla="*/ 0 h 637448"/>
                  <a:gd name="connsiteX2-397" fmla="*/ 305833 w 484632"/>
                  <a:gd name="connsiteY2-398" fmla="*/ 23560 h 637448"/>
                  <a:gd name="connsiteX3-399" fmla="*/ 337423 w 484632"/>
                  <a:gd name="connsiteY3-400" fmla="*/ 120650 h 637448"/>
                  <a:gd name="connsiteX4-401" fmla="*/ 350123 w 484632"/>
                  <a:gd name="connsiteY4-402" fmla="*/ 292100 h 637448"/>
                  <a:gd name="connsiteX5-403" fmla="*/ 363474 w 484632"/>
                  <a:gd name="connsiteY5-404" fmla="*/ 395132 h 637448"/>
                  <a:gd name="connsiteX6-405" fmla="*/ 484632 w 484632"/>
                  <a:gd name="connsiteY6-406" fmla="*/ 395132 h 637448"/>
                  <a:gd name="connsiteX7-407" fmla="*/ 242316 w 484632"/>
                  <a:gd name="connsiteY7-408" fmla="*/ 637448 h 637448"/>
                  <a:gd name="connsiteX8-409" fmla="*/ 0 w 484632"/>
                  <a:gd name="connsiteY8-410" fmla="*/ 395132 h 637448"/>
                  <a:gd name="connsiteX9-411" fmla="*/ 121158 w 484632"/>
                  <a:gd name="connsiteY9-412" fmla="*/ 395132 h 637448"/>
                  <a:gd name="connsiteX10-413" fmla="*/ 128666 w 484632"/>
                  <a:gd name="connsiteY10-414" fmla="*/ 165100 h 637448"/>
                  <a:gd name="connsiteX11-415" fmla="*/ 106091 w 484632"/>
                  <a:gd name="connsiteY11-416" fmla="*/ 62893 h 637448"/>
                  <a:gd name="connsiteX12-417" fmla="*/ 87784 w 484632"/>
                  <a:gd name="connsiteY12-418" fmla="*/ 6350 h 637448"/>
                </a:gdLst>
                <a:ahLst/>
                <a:cxnLst>
                  <a:cxn ang="0">
                    <a:pos x="connsiteX0-393" y="connsiteY0-394"/>
                  </a:cxn>
                  <a:cxn ang="0">
                    <a:pos x="connsiteX1-395" y="connsiteY1-396"/>
                  </a:cxn>
                  <a:cxn ang="0">
                    <a:pos x="connsiteX2-397" y="connsiteY2-398"/>
                  </a:cxn>
                  <a:cxn ang="0">
                    <a:pos x="connsiteX3-399" y="connsiteY3-400"/>
                  </a:cxn>
                  <a:cxn ang="0">
                    <a:pos x="connsiteX4-401" y="connsiteY4-402"/>
                  </a:cxn>
                  <a:cxn ang="0">
                    <a:pos x="connsiteX5-403" y="connsiteY5-404"/>
                  </a:cxn>
                  <a:cxn ang="0">
                    <a:pos x="connsiteX6-405" y="connsiteY6-406"/>
                  </a:cxn>
                  <a:cxn ang="0">
                    <a:pos x="connsiteX7-407" y="connsiteY7-408"/>
                  </a:cxn>
                  <a:cxn ang="0">
                    <a:pos x="connsiteX8-409" y="connsiteY8-410"/>
                  </a:cxn>
                  <a:cxn ang="0">
                    <a:pos x="connsiteX9-411" y="connsiteY9-412"/>
                  </a:cxn>
                  <a:cxn ang="0">
                    <a:pos x="connsiteX10-413" y="connsiteY10-414"/>
                  </a:cxn>
                  <a:cxn ang="0">
                    <a:pos x="connsiteX11-415" y="connsiteY11-416"/>
                  </a:cxn>
                  <a:cxn ang="0">
                    <a:pos x="connsiteX12-417" y="connsiteY12-418"/>
                  </a:cxn>
                </a:cxnLst>
                <a:rect l="l" t="t" r="r" b="b"/>
                <a:pathLst>
                  <a:path w="484632" h="637448">
                    <a:moveTo>
                      <a:pt x="87784" y="6350"/>
                    </a:moveTo>
                    <a:lnTo>
                      <a:pt x="273387" y="0"/>
                    </a:lnTo>
                    <a:lnTo>
                      <a:pt x="305833" y="23560"/>
                    </a:lnTo>
                    <a:cubicBezTo>
                      <a:pt x="320733" y="62310"/>
                      <a:pt x="327369" y="91832"/>
                      <a:pt x="337423" y="120650"/>
                    </a:cubicBezTo>
                    <a:cubicBezTo>
                      <a:pt x="343746" y="167523"/>
                      <a:pt x="345781" y="246353"/>
                      <a:pt x="350123" y="292100"/>
                    </a:cubicBezTo>
                    <a:cubicBezTo>
                      <a:pt x="354465" y="337847"/>
                      <a:pt x="339997" y="380077"/>
                      <a:pt x="363474" y="395132"/>
                    </a:cubicBezTo>
                    <a:lnTo>
                      <a:pt x="484632" y="395132"/>
                    </a:lnTo>
                    <a:lnTo>
                      <a:pt x="242316" y="637448"/>
                    </a:lnTo>
                    <a:lnTo>
                      <a:pt x="0" y="395132"/>
                    </a:lnTo>
                    <a:lnTo>
                      <a:pt x="121158" y="395132"/>
                    </a:lnTo>
                    <a:cubicBezTo>
                      <a:pt x="130828" y="357852"/>
                      <a:pt x="141570" y="242067"/>
                      <a:pt x="128666" y="165100"/>
                    </a:cubicBezTo>
                    <a:cubicBezTo>
                      <a:pt x="118643" y="119472"/>
                      <a:pt x="112573" y="101136"/>
                      <a:pt x="106091" y="62893"/>
                    </a:cubicBezTo>
                    <a:lnTo>
                      <a:pt x="87784" y="6350"/>
                    </a:lnTo>
                    <a:close/>
                  </a:path>
                </a:pathLst>
              </a:custGeom>
              <a:solidFill>
                <a:srgbClr val="0FA1AB"/>
              </a:solidFill>
              <a:ln>
                <a:noFill/>
              </a:ln>
            </p:spPr>
            <p:style>
              <a:lnRef idx="2">
                <a:srgbClr val="0FA1AB">
                  <a:shade val="50000"/>
                </a:srgbClr>
              </a:lnRef>
              <a:fillRef idx="1">
                <a:srgbClr val="0FA1AB"/>
              </a:fillRef>
              <a:effectRef idx="0">
                <a:srgbClr val="0FA1AB"/>
              </a:effectRef>
              <a:fontRef idx="minor">
                <a:srgbClr val="FFFFFF"/>
              </a:fontRef>
            </p:style>
            <p:txBody>
              <a:bodyPr rtlCol="0" anchor="ctr">
                <a:normAutofit/>
              </a:bodyPr>
              <a:lstStyle/>
              <a:p>
                <a:pPr algn="ctr"/>
                <a:endParaRPr lang="zh-CN" altLang="en-US" dirty="0">
                  <a:latin typeface="Times New Roman" panose="02020603050405020304" pitchFamily="18" charset="0"/>
                  <a:sym typeface="Arial" panose="020B0604020202020204" pitchFamily="34" charset="0"/>
                </a:endParaRPr>
              </a:p>
            </p:txBody>
          </p:sp>
          <p:sp>
            <p:nvSpPr>
              <p:cNvPr id="35" name="任意多边形 34"/>
              <p:cNvSpPr/>
              <p:nvPr>
                <p:custDataLst>
                  <p:tags r:id="rId9"/>
                </p:custDataLst>
              </p:nvPr>
            </p:nvSpPr>
            <p:spPr>
              <a:xfrm>
                <a:off x="7269877" y="3048000"/>
                <a:ext cx="249630" cy="637448"/>
              </a:xfrm>
              <a:custGeom>
                <a:avLst/>
                <a:gdLst>
                  <a:gd name="connsiteX0" fmla="*/ 17934 w 249630"/>
                  <a:gd name="connsiteY0" fmla="*/ 0 h 637448"/>
                  <a:gd name="connsiteX1" fmla="*/ 125448 w 249630"/>
                  <a:gd name="connsiteY1" fmla="*/ 0 h 637448"/>
                  <a:gd name="connsiteX2" fmla="*/ 153677 w 249630"/>
                  <a:gd name="connsiteY2" fmla="*/ 56382 h 637448"/>
                  <a:gd name="connsiteX3" fmla="*/ 244011 w 249630"/>
                  <a:gd name="connsiteY3" fmla="*/ 628536 h 637448"/>
                  <a:gd name="connsiteX4" fmla="*/ 242721 w 249630"/>
                  <a:gd name="connsiteY4" fmla="*/ 637044 h 637448"/>
                  <a:gd name="connsiteX5" fmla="*/ 242316 w 249630"/>
                  <a:gd name="connsiteY5" fmla="*/ 637448 h 637448"/>
                  <a:gd name="connsiteX6" fmla="*/ 0 w 249630"/>
                  <a:gd name="connsiteY6" fmla="*/ 395132 h 637448"/>
                  <a:gd name="connsiteX7" fmla="*/ 121158 w 249630"/>
                  <a:gd name="connsiteY7" fmla="*/ 395132 h 637448"/>
                  <a:gd name="connsiteX8" fmla="*/ 89773 w 249630"/>
                  <a:gd name="connsiteY8" fmla="*/ 171450 h 637448"/>
                  <a:gd name="connsiteX9" fmla="*/ 48941 w 249630"/>
                  <a:gd name="connsiteY9" fmla="*/ 69243 h 637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9630" h="637448">
                    <a:moveTo>
                      <a:pt x="17934" y="0"/>
                    </a:moveTo>
                    <a:lnTo>
                      <a:pt x="125448" y="0"/>
                    </a:lnTo>
                    <a:lnTo>
                      <a:pt x="153677" y="56382"/>
                    </a:lnTo>
                    <a:cubicBezTo>
                      <a:pt x="232580" y="236753"/>
                      <a:pt x="263370" y="433895"/>
                      <a:pt x="244011" y="628536"/>
                    </a:cubicBezTo>
                    <a:lnTo>
                      <a:pt x="242721" y="637044"/>
                    </a:lnTo>
                    <a:lnTo>
                      <a:pt x="242316" y="637448"/>
                    </a:lnTo>
                    <a:lnTo>
                      <a:pt x="0" y="395132"/>
                    </a:lnTo>
                    <a:lnTo>
                      <a:pt x="121158" y="395132"/>
                    </a:lnTo>
                    <a:cubicBezTo>
                      <a:pt x="130828" y="357852"/>
                      <a:pt x="109821" y="243655"/>
                      <a:pt x="89773" y="171450"/>
                    </a:cubicBezTo>
                    <a:cubicBezTo>
                      <a:pt x="79750" y="135348"/>
                      <a:pt x="64948" y="102723"/>
                      <a:pt x="48941" y="69243"/>
                    </a:cubicBezTo>
                    <a:close/>
                  </a:path>
                </a:pathLst>
              </a:custGeom>
              <a:gradFill>
                <a:gsLst>
                  <a:gs pos="61000">
                    <a:srgbClr val="0FA1AB">
                      <a:lumMod val="75000"/>
                    </a:srgbClr>
                  </a:gs>
                  <a:gs pos="29000">
                    <a:srgbClr val="0FA1AB">
                      <a:lumMod val="75000"/>
                      <a:alpha val="22000"/>
                    </a:srgbClr>
                  </a:gs>
                  <a:gs pos="0">
                    <a:srgbClr val="0FA1AB">
                      <a:lumMod val="75000"/>
                      <a:alpha val="0"/>
                    </a:srgbClr>
                  </a:gs>
                  <a:gs pos="100000">
                    <a:srgbClr val="0FA1AB">
                      <a:lumMod val="75000"/>
                    </a:srgbClr>
                  </a:gs>
                </a:gsLst>
                <a:lin ang="5400000" scaled="1"/>
              </a:gradFill>
              <a:ln>
                <a:noFill/>
              </a:ln>
            </p:spPr>
            <p:style>
              <a:lnRef idx="2">
                <a:srgbClr val="0FA1AB">
                  <a:shade val="50000"/>
                </a:srgbClr>
              </a:lnRef>
              <a:fillRef idx="1">
                <a:srgbClr val="0FA1AB"/>
              </a:fillRef>
              <a:effectRef idx="0">
                <a:srgbClr val="0FA1AB"/>
              </a:effectRef>
              <a:fontRef idx="minor">
                <a:srgbClr val="FFFFFF"/>
              </a:fontRef>
            </p:style>
            <p:txBody>
              <a:bodyPr rtlCol="0" anchor="ctr">
                <a:normAutofit/>
              </a:bodyPr>
              <a:lstStyle/>
              <a:p>
                <a:pPr algn="ctr"/>
                <a:endParaRPr lang="zh-CN" altLang="en-US" dirty="0">
                  <a:latin typeface="Times New Roman" panose="02020603050405020304" pitchFamily="18" charset="0"/>
                  <a:sym typeface="Arial" panose="020B0604020202020204" pitchFamily="34" charset="0"/>
                </a:endParaRPr>
              </a:p>
            </p:txBody>
          </p:sp>
        </p:grpSp>
      </p:grpSp>
      <p:sp>
        <p:nvSpPr>
          <p:cNvPr id="36" name="文本框 35"/>
          <p:cNvSpPr txBox="1"/>
          <p:nvPr>
            <p:custDataLst>
              <p:tags r:id="rId3"/>
            </p:custDataLst>
          </p:nvPr>
        </p:nvSpPr>
        <p:spPr>
          <a:xfrm>
            <a:off x="801693" y="3684071"/>
            <a:ext cx="3236595" cy="1100455"/>
          </a:xfrm>
          <a:prstGeom prst="rect">
            <a:avLst/>
          </a:prstGeom>
          <a:noFill/>
        </p:spPr>
        <p:txBody>
          <a:bodyPr wrap="square" rtlCol="0">
            <a:normAutofit/>
          </a:bodyPr>
          <a:lstStyle/>
          <a:p>
            <a:pPr algn="just" eaLnBrk="1" hangingPunct="1">
              <a:lnSpc>
                <a:spcPct val="120000"/>
              </a:lnSpc>
              <a:spcBef>
                <a:spcPts val="0"/>
              </a:spcBef>
              <a:spcAft>
                <a:spcPts val="0"/>
              </a:spcAft>
              <a:defRPr/>
            </a:pPr>
            <a:r>
              <a:rPr lang="en-US" altLang="zh-CN" dirty="0" err="1">
                <a:sym typeface="+mn-ea"/>
              </a:rPr>
              <a:t>结构化程序设计采用</a:t>
            </a:r>
            <a:r>
              <a:rPr lang="zh-CN" altLang="en-US" dirty="0">
                <a:sym typeface="+mn-ea"/>
              </a:rPr>
              <a:t>：</a:t>
            </a:r>
            <a:endParaRPr lang="en-US" altLang="zh-CN" dirty="0">
              <a:sym typeface="+mn-ea"/>
            </a:endParaRPr>
          </a:p>
          <a:p>
            <a:pPr algn="just" eaLnBrk="1" hangingPunct="1">
              <a:lnSpc>
                <a:spcPct val="120000"/>
              </a:lnSpc>
              <a:spcBef>
                <a:spcPts val="0"/>
              </a:spcBef>
              <a:spcAft>
                <a:spcPts val="0"/>
              </a:spcAft>
              <a:defRPr/>
            </a:pPr>
            <a:r>
              <a:rPr lang="en-US" altLang="zh-CN" dirty="0" err="1">
                <a:sym typeface="+mn-ea"/>
              </a:rPr>
              <a:t>自顶向下、逐步求精的程序设计方法</a:t>
            </a:r>
            <a:r>
              <a:rPr lang="en-US" altLang="zh-CN" dirty="0">
                <a:sym typeface="+mn-ea"/>
              </a:rPr>
              <a:t>。</a:t>
            </a:r>
            <a:endParaRPr lang="en-US" altLang="zh-CN" dirty="0">
              <a:sym typeface="Arial" panose="020B0604020202020204" pitchFamily="34" charset="0"/>
            </a:endParaRPr>
          </a:p>
        </p:txBody>
      </p:sp>
      <p:sp>
        <p:nvSpPr>
          <p:cNvPr id="37" name="文本框 36"/>
          <p:cNvSpPr txBox="1"/>
          <p:nvPr>
            <p:custDataLst>
              <p:tags r:id="rId4"/>
            </p:custDataLst>
          </p:nvPr>
        </p:nvSpPr>
        <p:spPr>
          <a:xfrm>
            <a:off x="7350077" y="2402281"/>
            <a:ext cx="3658235" cy="1331595"/>
          </a:xfrm>
          <a:prstGeom prst="rect">
            <a:avLst/>
          </a:prstGeom>
          <a:noFill/>
        </p:spPr>
        <p:txBody>
          <a:bodyPr wrap="square" rtlCol="0">
            <a:normAutofit/>
          </a:bodyPr>
          <a:lstStyle/>
          <a:p>
            <a:pPr algn="just" eaLnBrk="1" hangingPunct="1">
              <a:lnSpc>
                <a:spcPct val="120000"/>
              </a:lnSpc>
              <a:spcBef>
                <a:spcPts val="0"/>
              </a:spcBef>
              <a:spcAft>
                <a:spcPts val="0"/>
              </a:spcAft>
              <a:defRPr/>
            </a:pPr>
            <a:r>
              <a:rPr lang="en-US" altLang="zh-CN" dirty="0" err="1">
                <a:sym typeface="+mn-ea"/>
              </a:rPr>
              <a:t>结构化程序设计的定义</a:t>
            </a:r>
            <a:r>
              <a:rPr lang="en-US" altLang="zh-CN" dirty="0">
                <a:sym typeface="+mn-ea"/>
              </a:rPr>
              <a:t>：</a:t>
            </a:r>
          </a:p>
          <a:p>
            <a:pPr algn="just" eaLnBrk="1" hangingPunct="1">
              <a:lnSpc>
                <a:spcPct val="120000"/>
              </a:lnSpc>
              <a:spcBef>
                <a:spcPts val="0"/>
              </a:spcBef>
              <a:spcAft>
                <a:spcPts val="0"/>
              </a:spcAft>
              <a:defRPr/>
            </a:pPr>
            <a:r>
              <a:rPr lang="en-US" altLang="zh-CN" dirty="0">
                <a:sym typeface="+mn-ea"/>
              </a:rPr>
              <a:t>只使用顺序、选择和循环3种基本控制结构来构造程序。</a:t>
            </a:r>
            <a:endParaRPr lang="en-US" altLang="zh-CN" dirty="0"/>
          </a:p>
        </p:txBody>
      </p:sp>
      <p:sp>
        <p:nvSpPr>
          <p:cNvPr id="38" name="文本框 37"/>
          <p:cNvSpPr txBox="1"/>
          <p:nvPr>
            <p:custDataLst>
              <p:tags r:id="rId5"/>
            </p:custDataLst>
          </p:nvPr>
        </p:nvSpPr>
        <p:spPr>
          <a:xfrm>
            <a:off x="4597818" y="3757492"/>
            <a:ext cx="458470" cy="584835"/>
          </a:xfrm>
          <a:prstGeom prst="rect">
            <a:avLst/>
          </a:prstGeom>
          <a:noFill/>
        </p:spPr>
        <p:txBody>
          <a:bodyPr wrap="none" rtlCol="0">
            <a:normAutofit/>
          </a:bodyPr>
          <a:lstStyle/>
          <a:p>
            <a:r>
              <a:rPr lang="en-US" altLang="zh-CN" sz="3200" dirty="0">
                <a:solidFill>
                  <a:srgbClr val="FFFFFF"/>
                </a:solidFill>
                <a:latin typeface="Times New Roman" panose="02020603050405020304" pitchFamily="18" charset="0"/>
                <a:sym typeface="Arial" panose="020B0604020202020204" pitchFamily="34" charset="0"/>
              </a:rPr>
              <a:t>2</a:t>
            </a:r>
            <a:endParaRPr lang="zh-CN" altLang="en-US" sz="3200" dirty="0">
              <a:solidFill>
                <a:srgbClr val="FFFFFF"/>
              </a:solidFill>
              <a:latin typeface="Times New Roman" panose="02020603050405020304" pitchFamily="18" charset="0"/>
              <a:sym typeface="Arial" panose="020B0604020202020204" pitchFamily="34" charset="0"/>
            </a:endParaRPr>
          </a:p>
        </p:txBody>
      </p:sp>
      <p:sp>
        <p:nvSpPr>
          <p:cNvPr id="40" name="文本框 39"/>
          <p:cNvSpPr txBox="1"/>
          <p:nvPr>
            <p:custDataLst>
              <p:tags r:id="rId6"/>
            </p:custDataLst>
          </p:nvPr>
        </p:nvSpPr>
        <p:spPr>
          <a:xfrm>
            <a:off x="5982753" y="4589342"/>
            <a:ext cx="481330" cy="584835"/>
          </a:xfrm>
          <a:prstGeom prst="rect">
            <a:avLst/>
          </a:prstGeom>
          <a:noFill/>
        </p:spPr>
        <p:txBody>
          <a:bodyPr wrap="none" rtlCol="0">
            <a:normAutofit/>
          </a:bodyPr>
          <a:lstStyle/>
          <a:p>
            <a:r>
              <a:rPr lang="en-US" altLang="zh-CN" sz="3200" dirty="0">
                <a:solidFill>
                  <a:srgbClr val="FFFFFF"/>
                </a:solidFill>
                <a:latin typeface="Times New Roman" panose="02020603050405020304" pitchFamily="18" charset="0"/>
                <a:sym typeface="Arial" panose="020B0604020202020204" pitchFamily="34" charset="0"/>
              </a:rPr>
              <a:t>3</a:t>
            </a:r>
            <a:endParaRPr lang="zh-CN" altLang="en-US" sz="3200" dirty="0">
              <a:solidFill>
                <a:srgbClr val="FFFFFF"/>
              </a:solidFill>
              <a:latin typeface="Times New Roman" panose="02020603050405020304" pitchFamily="18" charset="0"/>
              <a:sym typeface="Arial" panose="020B0604020202020204" pitchFamily="34" charset="0"/>
            </a:endParaRPr>
          </a:p>
        </p:txBody>
      </p:sp>
      <p:sp>
        <p:nvSpPr>
          <p:cNvPr id="41" name="文本框 40"/>
          <p:cNvSpPr txBox="1"/>
          <p:nvPr>
            <p:custDataLst>
              <p:tags r:id="rId7"/>
            </p:custDataLst>
          </p:nvPr>
        </p:nvSpPr>
        <p:spPr>
          <a:xfrm>
            <a:off x="5933223" y="2955487"/>
            <a:ext cx="458470" cy="584835"/>
          </a:xfrm>
          <a:prstGeom prst="rect">
            <a:avLst/>
          </a:prstGeom>
          <a:noFill/>
        </p:spPr>
        <p:txBody>
          <a:bodyPr wrap="none" rtlCol="0">
            <a:normAutofit/>
          </a:bodyPr>
          <a:lstStyle/>
          <a:p>
            <a:r>
              <a:rPr lang="en-US" altLang="zh-CN" sz="3200" dirty="0">
                <a:solidFill>
                  <a:srgbClr val="FFFFFF"/>
                </a:solidFill>
                <a:latin typeface="Times New Roman" panose="02020603050405020304" pitchFamily="18" charset="0"/>
                <a:sym typeface="Arial" panose="020B0604020202020204" pitchFamily="34" charset="0"/>
              </a:rPr>
              <a:t>1</a:t>
            </a:r>
            <a:endParaRPr lang="zh-CN" altLang="en-US" sz="3200" dirty="0">
              <a:solidFill>
                <a:srgbClr val="FFFFFF"/>
              </a:solidFill>
              <a:latin typeface="Times New Roman" panose="02020603050405020304" pitchFamily="18" charset="0"/>
              <a:sym typeface="Arial" panose="020B0604020202020204" pitchFamily="34" charset="0"/>
            </a:endParaRPr>
          </a:p>
        </p:txBody>
      </p:sp>
    </p:spTree>
  </p:cSld>
  <p:clrMapOvr>
    <a:masterClrMapping/>
  </p:clrMapOvr>
  <p:transition>
    <p:pull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en-US" dirty="0"/>
              <a:t>4.1 </a:t>
            </a:r>
            <a:r>
              <a:rPr lang="zh-CN" altLang="en-US" dirty="0"/>
              <a:t>结构化程序设计</a:t>
            </a:r>
          </a:p>
        </p:txBody>
      </p:sp>
      <p:sp>
        <p:nvSpPr>
          <p:cNvPr id="6" name="文本占位符 5">
            <a:extLst>
              <a:ext uri="{FF2B5EF4-FFF2-40B4-BE49-F238E27FC236}">
                <a16:creationId xmlns:a16="http://schemas.microsoft.com/office/drawing/2014/main" id="{6255BE3C-E309-03DC-6174-8357BC0D8982}"/>
              </a:ext>
            </a:extLst>
          </p:cNvPr>
          <p:cNvSpPr>
            <a:spLocks noGrp="1"/>
          </p:cNvSpPr>
          <p:nvPr>
            <p:ph type="body" sz="quarter" idx="10"/>
          </p:nvPr>
        </p:nvSpPr>
        <p:spPr>
          <a:xfrm>
            <a:off x="696000" y="1322832"/>
            <a:ext cx="5400000" cy="400110"/>
          </a:xfrm>
        </p:spPr>
        <p:txBody>
          <a:bodyPr/>
          <a:lstStyle/>
          <a:p>
            <a:r>
              <a:rPr lang="en-US" altLang="zh-CN" dirty="0"/>
              <a:t>4.1.1 </a:t>
            </a:r>
            <a:r>
              <a:rPr lang="zh-CN" altLang="en-US" dirty="0"/>
              <a:t>程序设计语言的选择</a:t>
            </a:r>
          </a:p>
        </p:txBody>
      </p:sp>
      <p:sp>
        <p:nvSpPr>
          <p:cNvPr id="38" name="文本占位符 37">
            <a:extLst>
              <a:ext uri="{FF2B5EF4-FFF2-40B4-BE49-F238E27FC236}">
                <a16:creationId xmlns:a16="http://schemas.microsoft.com/office/drawing/2014/main" id="{FC1E6E4D-DB63-E58C-59C7-A0A6857A2161}"/>
              </a:ext>
            </a:extLst>
          </p:cNvPr>
          <p:cNvSpPr>
            <a:spLocks noGrp="1"/>
          </p:cNvSpPr>
          <p:nvPr>
            <p:ph type="body" sz="quarter" idx="11"/>
          </p:nvPr>
        </p:nvSpPr>
        <p:spPr>
          <a:xfrm>
            <a:off x="6096000" y="360128"/>
            <a:ext cx="5760000" cy="400110"/>
          </a:xfrm>
        </p:spPr>
        <p:txBody>
          <a:bodyPr/>
          <a:lstStyle/>
          <a:p>
            <a:r>
              <a:rPr lang="en-US" altLang="zh-CN" dirty="0"/>
              <a:t>Structured Design</a:t>
            </a:r>
            <a:endParaRPr lang="zh-CN" altLang="en-US" dirty="0"/>
          </a:p>
        </p:txBody>
      </p:sp>
      <p:grpSp>
        <p:nvGrpSpPr>
          <p:cNvPr id="5" name="组合 4"/>
          <p:cNvGrpSpPr/>
          <p:nvPr/>
        </p:nvGrpSpPr>
        <p:grpSpPr>
          <a:xfrm>
            <a:off x="650240" y="2835158"/>
            <a:ext cx="10728960" cy="3161665"/>
            <a:chOff x="-972" y="3725"/>
            <a:chExt cx="16896" cy="4979"/>
          </a:xfrm>
        </p:grpSpPr>
        <p:sp>
          <p:nvSpPr>
            <p:cNvPr id="17" name="MH_Other_1"/>
            <p:cNvSpPr/>
            <p:nvPr>
              <p:custDataLst>
                <p:tags r:id="rId1"/>
              </p:custDataLst>
            </p:nvPr>
          </p:nvSpPr>
          <p:spPr>
            <a:xfrm>
              <a:off x="-972" y="3725"/>
              <a:ext cx="849" cy="812"/>
            </a:xfrm>
            <a:prstGeom prst="ellipse">
              <a:avLst/>
            </a:prstGeom>
            <a:solidFill>
              <a:schemeClr val="accent5">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2000" dirty="0">
                  <a:solidFill>
                    <a:srgbClr val="FFFFFF"/>
                  </a:solidFill>
                  <a:latin typeface="Times New Roman" panose="02020603050405020304" pitchFamily="18" charset="0"/>
                  <a:cs typeface="Times New Roman" panose="02020603050405020304" pitchFamily="18" charset="0"/>
                </a:rPr>
                <a:t>1</a:t>
              </a:r>
              <a:endParaRPr lang="zh-CN" altLang="en-US" sz="2000" dirty="0">
                <a:solidFill>
                  <a:srgbClr val="FFFFFF"/>
                </a:solidFill>
                <a:latin typeface="Times New Roman" panose="02020603050405020304" pitchFamily="18" charset="0"/>
                <a:cs typeface="Times New Roman" panose="02020603050405020304" pitchFamily="18" charset="0"/>
              </a:endParaRPr>
            </a:p>
          </p:txBody>
        </p:sp>
        <p:sp>
          <p:nvSpPr>
            <p:cNvPr id="18" name="MH_Other_2"/>
            <p:cNvSpPr/>
            <p:nvPr>
              <p:custDataLst>
                <p:tags r:id="rId2"/>
              </p:custDataLst>
            </p:nvPr>
          </p:nvSpPr>
          <p:spPr>
            <a:xfrm>
              <a:off x="15179" y="7894"/>
              <a:ext cx="745" cy="810"/>
            </a:xfrm>
            <a:prstGeom prst="ellipse">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2000" dirty="0">
                  <a:solidFill>
                    <a:srgbClr val="FFFFFF"/>
                  </a:solidFill>
                  <a:latin typeface="Times New Roman" panose="02020603050405020304" pitchFamily="18" charset="0"/>
                  <a:cs typeface="Times New Roman" panose="02020603050405020304" pitchFamily="18" charset="0"/>
                </a:rPr>
                <a:t>2</a:t>
              </a:r>
              <a:endParaRPr lang="zh-CN" altLang="en-US" sz="2000" dirty="0">
                <a:solidFill>
                  <a:srgbClr val="FFFFFF"/>
                </a:solidFill>
                <a:latin typeface="Times New Roman" panose="02020603050405020304" pitchFamily="18" charset="0"/>
                <a:cs typeface="Times New Roman" panose="02020603050405020304" pitchFamily="18" charset="0"/>
              </a:endParaRPr>
            </a:p>
          </p:txBody>
        </p:sp>
        <p:sp>
          <p:nvSpPr>
            <p:cNvPr id="19" name="MH_SubTitle_1"/>
            <p:cNvSpPr/>
            <p:nvPr>
              <p:custDataLst>
                <p:tags r:id="rId3"/>
              </p:custDataLst>
            </p:nvPr>
          </p:nvSpPr>
          <p:spPr>
            <a:xfrm>
              <a:off x="5044" y="3869"/>
              <a:ext cx="3322" cy="4725"/>
            </a:xfrm>
            <a:custGeom>
              <a:avLst/>
              <a:gdLst>
                <a:gd name="connsiteX0" fmla="*/ 1265321 w 1906929"/>
                <a:gd name="connsiteY0" fmla="*/ 445512 h 2868483"/>
                <a:gd name="connsiteX1" fmla="*/ 1007156 w 1906929"/>
                <a:gd name="connsiteY1" fmla="*/ 703677 h 2868483"/>
                <a:gd name="connsiteX2" fmla="*/ 1265321 w 1906929"/>
                <a:gd name="connsiteY2" fmla="*/ 961842 h 2868483"/>
                <a:gd name="connsiteX3" fmla="*/ 1523486 w 1906929"/>
                <a:gd name="connsiteY3" fmla="*/ 703677 h 2868483"/>
                <a:gd name="connsiteX4" fmla="*/ 1265321 w 1906929"/>
                <a:gd name="connsiteY4" fmla="*/ 445512 h 2868483"/>
                <a:gd name="connsiteX5" fmla="*/ 1182626 w 1906929"/>
                <a:gd name="connsiteY5" fmla="*/ 0 h 2868483"/>
                <a:gd name="connsiteX6" fmla="*/ 1292282 w 1906929"/>
                <a:gd name="connsiteY6" fmla="*/ 10950 h 2868483"/>
                <a:gd name="connsiteX7" fmla="*/ 1364655 w 1906929"/>
                <a:gd name="connsiteY7" fmla="*/ 28471 h 2868483"/>
                <a:gd name="connsiteX8" fmla="*/ 1704587 w 1906929"/>
                <a:gd name="connsiteY8" fmla="*/ 208061 h 2868483"/>
                <a:gd name="connsiteX9" fmla="*/ 1880036 w 1906929"/>
                <a:gd name="connsiteY9" fmla="*/ 891376 h 2868483"/>
                <a:gd name="connsiteX10" fmla="*/ 1682656 w 1906929"/>
                <a:gd name="connsiteY10" fmla="*/ 1202372 h 2868483"/>
                <a:gd name="connsiteX11" fmla="*/ 1344917 w 1906929"/>
                <a:gd name="connsiteY11" fmla="*/ 1447665 h 2868483"/>
                <a:gd name="connsiteX12" fmla="*/ 1002791 w 1906929"/>
                <a:gd name="connsiteY12" fmla="*/ 1793703 h 2868483"/>
                <a:gd name="connsiteX13" fmla="*/ 926032 w 1906929"/>
                <a:gd name="connsiteY13" fmla="*/ 2054327 h 2868483"/>
                <a:gd name="connsiteX14" fmla="*/ 1276930 w 1906929"/>
                <a:gd name="connsiteY14" fmla="*/ 2744213 h 2868483"/>
                <a:gd name="connsiteX15" fmla="*/ 1432641 w 1906929"/>
                <a:gd name="connsiteY15" fmla="*/ 2818677 h 2868483"/>
                <a:gd name="connsiteX16" fmla="*/ 1594931 w 1906929"/>
                <a:gd name="connsiteY16" fmla="*/ 2853718 h 2868483"/>
                <a:gd name="connsiteX17" fmla="*/ 1597125 w 1906929"/>
                <a:gd name="connsiteY17" fmla="*/ 2858099 h 2868483"/>
                <a:gd name="connsiteX18" fmla="*/ 1149730 w 1906929"/>
                <a:gd name="connsiteY18" fmla="*/ 2836197 h 2868483"/>
                <a:gd name="connsiteX19" fmla="*/ 213270 w 1906929"/>
                <a:gd name="connsiteY19" fmla="*/ 2168213 h 2868483"/>
                <a:gd name="connsiteX20" fmla="*/ 156250 w 1906929"/>
                <a:gd name="connsiteY20" fmla="*/ 2067467 h 2868483"/>
                <a:gd name="connsiteX21" fmla="*/ 132125 w 1906929"/>
                <a:gd name="connsiteY21" fmla="*/ 803772 h 2868483"/>
                <a:gd name="connsiteX22" fmla="*/ 787866 w 1906929"/>
                <a:gd name="connsiteY22" fmla="*/ 113886 h 2868483"/>
                <a:gd name="connsiteX23" fmla="*/ 1059812 w 1906929"/>
                <a:gd name="connsiteY23" fmla="*/ 10950 h 2868483"/>
                <a:gd name="connsiteX24" fmla="*/ 1182626 w 1906929"/>
                <a:gd name="connsiteY24" fmla="*/ 0 h 2868483"/>
                <a:gd name="connsiteX0-1" fmla="*/ 1265321 w 1906929"/>
                <a:gd name="connsiteY0-2" fmla="*/ 445512 h 2868483"/>
                <a:gd name="connsiteX1-3" fmla="*/ 1007156 w 1906929"/>
                <a:gd name="connsiteY1-4" fmla="*/ 703677 h 2868483"/>
                <a:gd name="connsiteX2-5" fmla="*/ 1265321 w 1906929"/>
                <a:gd name="connsiteY2-6" fmla="*/ 961842 h 2868483"/>
                <a:gd name="connsiteX3-7" fmla="*/ 1523486 w 1906929"/>
                <a:gd name="connsiteY3-8" fmla="*/ 703677 h 2868483"/>
                <a:gd name="connsiteX4-9" fmla="*/ 1265321 w 1906929"/>
                <a:gd name="connsiteY4-10" fmla="*/ 445512 h 2868483"/>
                <a:gd name="connsiteX5-11" fmla="*/ 1182626 w 1906929"/>
                <a:gd name="connsiteY5-12" fmla="*/ 0 h 2868483"/>
                <a:gd name="connsiteX6-13" fmla="*/ 1364655 w 1906929"/>
                <a:gd name="connsiteY6-14" fmla="*/ 28471 h 2868483"/>
                <a:gd name="connsiteX7-15" fmla="*/ 1704587 w 1906929"/>
                <a:gd name="connsiteY7-16" fmla="*/ 208061 h 2868483"/>
                <a:gd name="connsiteX8-17" fmla="*/ 1880036 w 1906929"/>
                <a:gd name="connsiteY8-18" fmla="*/ 891376 h 2868483"/>
                <a:gd name="connsiteX9-19" fmla="*/ 1682656 w 1906929"/>
                <a:gd name="connsiteY9-20" fmla="*/ 1202372 h 2868483"/>
                <a:gd name="connsiteX10-21" fmla="*/ 1344917 w 1906929"/>
                <a:gd name="connsiteY10-22" fmla="*/ 1447665 h 2868483"/>
                <a:gd name="connsiteX11-23" fmla="*/ 1002791 w 1906929"/>
                <a:gd name="connsiteY11-24" fmla="*/ 1793703 h 2868483"/>
                <a:gd name="connsiteX12-25" fmla="*/ 926032 w 1906929"/>
                <a:gd name="connsiteY12-26" fmla="*/ 2054327 h 2868483"/>
                <a:gd name="connsiteX13-27" fmla="*/ 1276930 w 1906929"/>
                <a:gd name="connsiteY13-28" fmla="*/ 2744213 h 2868483"/>
                <a:gd name="connsiteX14-29" fmla="*/ 1432641 w 1906929"/>
                <a:gd name="connsiteY14-30" fmla="*/ 2818677 h 2868483"/>
                <a:gd name="connsiteX15-31" fmla="*/ 1594931 w 1906929"/>
                <a:gd name="connsiteY15-32" fmla="*/ 2853718 h 2868483"/>
                <a:gd name="connsiteX16-33" fmla="*/ 1597125 w 1906929"/>
                <a:gd name="connsiteY16-34" fmla="*/ 2858099 h 2868483"/>
                <a:gd name="connsiteX17-35" fmla="*/ 1149730 w 1906929"/>
                <a:gd name="connsiteY17-36" fmla="*/ 2836197 h 2868483"/>
                <a:gd name="connsiteX18-37" fmla="*/ 213270 w 1906929"/>
                <a:gd name="connsiteY18-38" fmla="*/ 2168213 h 2868483"/>
                <a:gd name="connsiteX19-39" fmla="*/ 156250 w 1906929"/>
                <a:gd name="connsiteY19-40" fmla="*/ 2067467 h 2868483"/>
                <a:gd name="connsiteX20-41" fmla="*/ 132125 w 1906929"/>
                <a:gd name="connsiteY20-42" fmla="*/ 803772 h 2868483"/>
                <a:gd name="connsiteX21-43" fmla="*/ 787866 w 1906929"/>
                <a:gd name="connsiteY21-44" fmla="*/ 113886 h 2868483"/>
                <a:gd name="connsiteX22-45" fmla="*/ 1059812 w 1906929"/>
                <a:gd name="connsiteY22-46" fmla="*/ 10950 h 2868483"/>
                <a:gd name="connsiteX23-47" fmla="*/ 1182626 w 1906929"/>
                <a:gd name="connsiteY23-48" fmla="*/ 0 h 2868483"/>
                <a:gd name="connsiteX0-49" fmla="*/ 1265321 w 1906929"/>
                <a:gd name="connsiteY0-50" fmla="*/ 445512 h 2868483"/>
                <a:gd name="connsiteX1-51" fmla="*/ 1007156 w 1906929"/>
                <a:gd name="connsiteY1-52" fmla="*/ 703677 h 2868483"/>
                <a:gd name="connsiteX2-53" fmla="*/ 1265321 w 1906929"/>
                <a:gd name="connsiteY2-54" fmla="*/ 961842 h 2868483"/>
                <a:gd name="connsiteX3-55" fmla="*/ 1523486 w 1906929"/>
                <a:gd name="connsiteY3-56" fmla="*/ 703677 h 2868483"/>
                <a:gd name="connsiteX4-57" fmla="*/ 1265321 w 1906929"/>
                <a:gd name="connsiteY4-58" fmla="*/ 445512 h 2868483"/>
                <a:gd name="connsiteX5-59" fmla="*/ 1182626 w 1906929"/>
                <a:gd name="connsiteY5-60" fmla="*/ 0 h 2868483"/>
                <a:gd name="connsiteX6-61" fmla="*/ 1364655 w 1906929"/>
                <a:gd name="connsiteY6-62" fmla="*/ 28471 h 2868483"/>
                <a:gd name="connsiteX7-63" fmla="*/ 1704587 w 1906929"/>
                <a:gd name="connsiteY7-64" fmla="*/ 208061 h 2868483"/>
                <a:gd name="connsiteX8-65" fmla="*/ 1880036 w 1906929"/>
                <a:gd name="connsiteY8-66" fmla="*/ 891376 h 2868483"/>
                <a:gd name="connsiteX9-67" fmla="*/ 1682656 w 1906929"/>
                <a:gd name="connsiteY9-68" fmla="*/ 1202372 h 2868483"/>
                <a:gd name="connsiteX10-69" fmla="*/ 1344917 w 1906929"/>
                <a:gd name="connsiteY10-70" fmla="*/ 1447665 h 2868483"/>
                <a:gd name="connsiteX11-71" fmla="*/ 1002791 w 1906929"/>
                <a:gd name="connsiteY11-72" fmla="*/ 1793703 h 2868483"/>
                <a:gd name="connsiteX12-73" fmla="*/ 926032 w 1906929"/>
                <a:gd name="connsiteY12-74" fmla="*/ 2054327 h 2868483"/>
                <a:gd name="connsiteX13-75" fmla="*/ 1276930 w 1906929"/>
                <a:gd name="connsiteY13-76" fmla="*/ 2744213 h 2868483"/>
                <a:gd name="connsiteX14-77" fmla="*/ 1432641 w 1906929"/>
                <a:gd name="connsiteY14-78" fmla="*/ 2818677 h 2868483"/>
                <a:gd name="connsiteX15-79" fmla="*/ 1594931 w 1906929"/>
                <a:gd name="connsiteY15-80" fmla="*/ 2853718 h 2868483"/>
                <a:gd name="connsiteX16-81" fmla="*/ 1597125 w 1906929"/>
                <a:gd name="connsiteY16-82" fmla="*/ 2858099 h 2868483"/>
                <a:gd name="connsiteX17-83" fmla="*/ 1149730 w 1906929"/>
                <a:gd name="connsiteY17-84" fmla="*/ 2836197 h 2868483"/>
                <a:gd name="connsiteX18-85" fmla="*/ 213270 w 1906929"/>
                <a:gd name="connsiteY18-86" fmla="*/ 2168213 h 2868483"/>
                <a:gd name="connsiteX19-87" fmla="*/ 156250 w 1906929"/>
                <a:gd name="connsiteY19-88" fmla="*/ 2067467 h 2868483"/>
                <a:gd name="connsiteX20-89" fmla="*/ 132125 w 1906929"/>
                <a:gd name="connsiteY20-90" fmla="*/ 803772 h 2868483"/>
                <a:gd name="connsiteX21-91" fmla="*/ 787866 w 1906929"/>
                <a:gd name="connsiteY21-92" fmla="*/ 113886 h 2868483"/>
                <a:gd name="connsiteX22-93" fmla="*/ 1059812 w 1906929"/>
                <a:gd name="connsiteY22-94" fmla="*/ 10950 h 2868483"/>
                <a:gd name="connsiteX23-95" fmla="*/ 1182626 w 1906929"/>
                <a:gd name="connsiteY23-96" fmla="*/ 0 h 2868483"/>
                <a:gd name="connsiteX0-97" fmla="*/ 1265321 w 1906929"/>
                <a:gd name="connsiteY0-98" fmla="*/ 444012 h 2866983"/>
                <a:gd name="connsiteX1-99" fmla="*/ 1007156 w 1906929"/>
                <a:gd name="connsiteY1-100" fmla="*/ 702177 h 2866983"/>
                <a:gd name="connsiteX2-101" fmla="*/ 1265321 w 1906929"/>
                <a:gd name="connsiteY2-102" fmla="*/ 960342 h 2866983"/>
                <a:gd name="connsiteX3-103" fmla="*/ 1523486 w 1906929"/>
                <a:gd name="connsiteY3-104" fmla="*/ 702177 h 2866983"/>
                <a:gd name="connsiteX4-105" fmla="*/ 1265321 w 1906929"/>
                <a:gd name="connsiteY4-106" fmla="*/ 444012 h 2866983"/>
                <a:gd name="connsiteX5-107" fmla="*/ 1059812 w 1906929"/>
                <a:gd name="connsiteY5-108" fmla="*/ 9450 h 2866983"/>
                <a:gd name="connsiteX6-109" fmla="*/ 1364655 w 1906929"/>
                <a:gd name="connsiteY6-110" fmla="*/ 26971 h 2866983"/>
                <a:gd name="connsiteX7-111" fmla="*/ 1704587 w 1906929"/>
                <a:gd name="connsiteY7-112" fmla="*/ 206561 h 2866983"/>
                <a:gd name="connsiteX8-113" fmla="*/ 1880036 w 1906929"/>
                <a:gd name="connsiteY8-114" fmla="*/ 889876 h 2866983"/>
                <a:gd name="connsiteX9-115" fmla="*/ 1682656 w 1906929"/>
                <a:gd name="connsiteY9-116" fmla="*/ 1200872 h 2866983"/>
                <a:gd name="connsiteX10-117" fmla="*/ 1344917 w 1906929"/>
                <a:gd name="connsiteY10-118" fmla="*/ 1446165 h 2866983"/>
                <a:gd name="connsiteX11-119" fmla="*/ 1002791 w 1906929"/>
                <a:gd name="connsiteY11-120" fmla="*/ 1792203 h 2866983"/>
                <a:gd name="connsiteX12-121" fmla="*/ 926032 w 1906929"/>
                <a:gd name="connsiteY12-122" fmla="*/ 2052827 h 2866983"/>
                <a:gd name="connsiteX13-123" fmla="*/ 1276930 w 1906929"/>
                <a:gd name="connsiteY13-124" fmla="*/ 2742713 h 2866983"/>
                <a:gd name="connsiteX14-125" fmla="*/ 1432641 w 1906929"/>
                <a:gd name="connsiteY14-126" fmla="*/ 2817177 h 2866983"/>
                <a:gd name="connsiteX15-127" fmla="*/ 1594931 w 1906929"/>
                <a:gd name="connsiteY15-128" fmla="*/ 2852218 h 2866983"/>
                <a:gd name="connsiteX16-129" fmla="*/ 1597125 w 1906929"/>
                <a:gd name="connsiteY16-130" fmla="*/ 2856599 h 2866983"/>
                <a:gd name="connsiteX17-131" fmla="*/ 1149730 w 1906929"/>
                <a:gd name="connsiteY17-132" fmla="*/ 2834697 h 2866983"/>
                <a:gd name="connsiteX18-133" fmla="*/ 213270 w 1906929"/>
                <a:gd name="connsiteY18-134" fmla="*/ 2166713 h 2866983"/>
                <a:gd name="connsiteX19-135" fmla="*/ 156250 w 1906929"/>
                <a:gd name="connsiteY19-136" fmla="*/ 2065967 h 2866983"/>
                <a:gd name="connsiteX20-137" fmla="*/ 132125 w 1906929"/>
                <a:gd name="connsiteY20-138" fmla="*/ 802272 h 2866983"/>
                <a:gd name="connsiteX21-139" fmla="*/ 787866 w 1906929"/>
                <a:gd name="connsiteY21-140" fmla="*/ 112386 h 2866983"/>
                <a:gd name="connsiteX22-141" fmla="*/ 1059812 w 1906929"/>
                <a:gd name="connsiteY22-142" fmla="*/ 9450 h 2866983"/>
                <a:gd name="connsiteX0-143" fmla="*/ 1265321 w 1906929"/>
                <a:gd name="connsiteY0-144" fmla="*/ 431003 h 2853974"/>
                <a:gd name="connsiteX1-145" fmla="*/ 1007156 w 1906929"/>
                <a:gd name="connsiteY1-146" fmla="*/ 689168 h 2853974"/>
                <a:gd name="connsiteX2-147" fmla="*/ 1265321 w 1906929"/>
                <a:gd name="connsiteY2-148" fmla="*/ 947333 h 2853974"/>
                <a:gd name="connsiteX3-149" fmla="*/ 1523486 w 1906929"/>
                <a:gd name="connsiteY3-150" fmla="*/ 689168 h 2853974"/>
                <a:gd name="connsiteX4-151" fmla="*/ 1265321 w 1906929"/>
                <a:gd name="connsiteY4-152" fmla="*/ 431003 h 2853974"/>
                <a:gd name="connsiteX5-153" fmla="*/ 787866 w 1906929"/>
                <a:gd name="connsiteY5-154" fmla="*/ 99377 h 2853974"/>
                <a:gd name="connsiteX6-155" fmla="*/ 1364655 w 1906929"/>
                <a:gd name="connsiteY6-156" fmla="*/ 13962 h 2853974"/>
                <a:gd name="connsiteX7-157" fmla="*/ 1704587 w 1906929"/>
                <a:gd name="connsiteY7-158" fmla="*/ 193552 h 2853974"/>
                <a:gd name="connsiteX8-159" fmla="*/ 1880036 w 1906929"/>
                <a:gd name="connsiteY8-160" fmla="*/ 876867 h 2853974"/>
                <a:gd name="connsiteX9-161" fmla="*/ 1682656 w 1906929"/>
                <a:gd name="connsiteY9-162" fmla="*/ 1187863 h 2853974"/>
                <a:gd name="connsiteX10-163" fmla="*/ 1344917 w 1906929"/>
                <a:gd name="connsiteY10-164" fmla="*/ 1433156 h 2853974"/>
                <a:gd name="connsiteX11-165" fmla="*/ 1002791 w 1906929"/>
                <a:gd name="connsiteY11-166" fmla="*/ 1779194 h 2853974"/>
                <a:gd name="connsiteX12-167" fmla="*/ 926032 w 1906929"/>
                <a:gd name="connsiteY12-168" fmla="*/ 2039818 h 2853974"/>
                <a:gd name="connsiteX13-169" fmla="*/ 1276930 w 1906929"/>
                <a:gd name="connsiteY13-170" fmla="*/ 2729704 h 2853974"/>
                <a:gd name="connsiteX14-171" fmla="*/ 1432641 w 1906929"/>
                <a:gd name="connsiteY14-172" fmla="*/ 2804168 h 2853974"/>
                <a:gd name="connsiteX15-173" fmla="*/ 1594931 w 1906929"/>
                <a:gd name="connsiteY15-174" fmla="*/ 2839209 h 2853974"/>
                <a:gd name="connsiteX16-175" fmla="*/ 1597125 w 1906929"/>
                <a:gd name="connsiteY16-176" fmla="*/ 2843590 h 2853974"/>
                <a:gd name="connsiteX17-177" fmla="*/ 1149730 w 1906929"/>
                <a:gd name="connsiteY17-178" fmla="*/ 2821688 h 2853974"/>
                <a:gd name="connsiteX18-179" fmla="*/ 213270 w 1906929"/>
                <a:gd name="connsiteY18-180" fmla="*/ 2153704 h 2853974"/>
                <a:gd name="connsiteX19-181" fmla="*/ 156250 w 1906929"/>
                <a:gd name="connsiteY19-182" fmla="*/ 2052958 h 2853974"/>
                <a:gd name="connsiteX20-183" fmla="*/ 132125 w 1906929"/>
                <a:gd name="connsiteY20-184" fmla="*/ 789263 h 2853974"/>
                <a:gd name="connsiteX21-185" fmla="*/ 787866 w 1906929"/>
                <a:gd name="connsiteY21-186" fmla="*/ 99377 h 2853974"/>
                <a:gd name="connsiteX0-187" fmla="*/ 1265321 w 1906929"/>
                <a:gd name="connsiteY0-188" fmla="*/ 432757 h 2855728"/>
                <a:gd name="connsiteX1-189" fmla="*/ 1007156 w 1906929"/>
                <a:gd name="connsiteY1-190" fmla="*/ 690922 h 2855728"/>
                <a:gd name="connsiteX2-191" fmla="*/ 1265321 w 1906929"/>
                <a:gd name="connsiteY2-192" fmla="*/ 949087 h 2855728"/>
                <a:gd name="connsiteX3-193" fmla="*/ 1523486 w 1906929"/>
                <a:gd name="connsiteY3-194" fmla="*/ 690922 h 2855728"/>
                <a:gd name="connsiteX4-195" fmla="*/ 1265321 w 1906929"/>
                <a:gd name="connsiteY4-196" fmla="*/ 432757 h 2855728"/>
                <a:gd name="connsiteX5-197" fmla="*/ 787866 w 1906929"/>
                <a:gd name="connsiteY5-198" fmla="*/ 101131 h 2855728"/>
                <a:gd name="connsiteX6-199" fmla="*/ 1364655 w 1906929"/>
                <a:gd name="connsiteY6-200" fmla="*/ 15716 h 2855728"/>
                <a:gd name="connsiteX7-201" fmla="*/ 1704587 w 1906929"/>
                <a:gd name="connsiteY7-202" fmla="*/ 195306 h 2855728"/>
                <a:gd name="connsiteX8-203" fmla="*/ 1880036 w 1906929"/>
                <a:gd name="connsiteY8-204" fmla="*/ 878621 h 2855728"/>
                <a:gd name="connsiteX9-205" fmla="*/ 1682656 w 1906929"/>
                <a:gd name="connsiteY9-206" fmla="*/ 1189617 h 2855728"/>
                <a:gd name="connsiteX10-207" fmla="*/ 1344917 w 1906929"/>
                <a:gd name="connsiteY10-208" fmla="*/ 1434910 h 2855728"/>
                <a:gd name="connsiteX11-209" fmla="*/ 1002791 w 1906929"/>
                <a:gd name="connsiteY11-210" fmla="*/ 1780948 h 2855728"/>
                <a:gd name="connsiteX12-211" fmla="*/ 926032 w 1906929"/>
                <a:gd name="connsiteY12-212" fmla="*/ 2041572 h 2855728"/>
                <a:gd name="connsiteX13-213" fmla="*/ 1276930 w 1906929"/>
                <a:gd name="connsiteY13-214" fmla="*/ 2731458 h 2855728"/>
                <a:gd name="connsiteX14-215" fmla="*/ 1432641 w 1906929"/>
                <a:gd name="connsiteY14-216" fmla="*/ 2805922 h 2855728"/>
                <a:gd name="connsiteX15-217" fmla="*/ 1594931 w 1906929"/>
                <a:gd name="connsiteY15-218" fmla="*/ 2840963 h 2855728"/>
                <a:gd name="connsiteX16-219" fmla="*/ 1597125 w 1906929"/>
                <a:gd name="connsiteY16-220" fmla="*/ 2845344 h 2855728"/>
                <a:gd name="connsiteX17-221" fmla="*/ 1149730 w 1906929"/>
                <a:gd name="connsiteY17-222" fmla="*/ 2823442 h 2855728"/>
                <a:gd name="connsiteX18-223" fmla="*/ 213270 w 1906929"/>
                <a:gd name="connsiteY18-224" fmla="*/ 2155458 h 2855728"/>
                <a:gd name="connsiteX19-225" fmla="*/ 156250 w 1906929"/>
                <a:gd name="connsiteY19-226" fmla="*/ 2054712 h 2855728"/>
                <a:gd name="connsiteX20-227" fmla="*/ 132125 w 1906929"/>
                <a:gd name="connsiteY20-228" fmla="*/ 791017 h 2855728"/>
                <a:gd name="connsiteX21-229" fmla="*/ 787866 w 1906929"/>
                <a:gd name="connsiteY21-230" fmla="*/ 101131 h 285572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Lst>
              <a:rect l="l" t="t" r="r" b="b"/>
              <a:pathLst>
                <a:path w="1906929" h="2855728">
                  <a:moveTo>
                    <a:pt x="1265321" y="432757"/>
                  </a:moveTo>
                  <a:cubicBezTo>
                    <a:pt x="1122740" y="432757"/>
                    <a:pt x="1007156" y="548341"/>
                    <a:pt x="1007156" y="690922"/>
                  </a:cubicBezTo>
                  <a:cubicBezTo>
                    <a:pt x="1007156" y="833503"/>
                    <a:pt x="1122740" y="949087"/>
                    <a:pt x="1265321" y="949087"/>
                  </a:cubicBezTo>
                  <a:cubicBezTo>
                    <a:pt x="1407902" y="949087"/>
                    <a:pt x="1523486" y="833503"/>
                    <a:pt x="1523486" y="690922"/>
                  </a:cubicBezTo>
                  <a:cubicBezTo>
                    <a:pt x="1523486" y="548341"/>
                    <a:pt x="1407902" y="432757"/>
                    <a:pt x="1265321" y="432757"/>
                  </a:cubicBezTo>
                  <a:close/>
                  <a:moveTo>
                    <a:pt x="787866" y="101131"/>
                  </a:moveTo>
                  <a:cubicBezTo>
                    <a:pt x="993288" y="-28086"/>
                    <a:pt x="1237455" y="-3995"/>
                    <a:pt x="1364655" y="15716"/>
                  </a:cubicBezTo>
                  <a:cubicBezTo>
                    <a:pt x="1491855" y="35427"/>
                    <a:pt x="1608090" y="103321"/>
                    <a:pt x="1704587" y="195306"/>
                  </a:cubicBezTo>
                  <a:cubicBezTo>
                    <a:pt x="1880036" y="374895"/>
                    <a:pt x="1950216" y="644279"/>
                    <a:pt x="1880036" y="878621"/>
                  </a:cubicBezTo>
                  <a:cubicBezTo>
                    <a:pt x="1844946" y="994697"/>
                    <a:pt x="1774767" y="1106393"/>
                    <a:pt x="1682656" y="1189617"/>
                  </a:cubicBezTo>
                  <a:cubicBezTo>
                    <a:pt x="1568614" y="1268462"/>
                    <a:pt x="1454572" y="1342925"/>
                    <a:pt x="1344917" y="1434910"/>
                  </a:cubicBezTo>
                  <a:cubicBezTo>
                    <a:pt x="1213330" y="1529085"/>
                    <a:pt x="1066391" y="1629830"/>
                    <a:pt x="1002791" y="1780948"/>
                  </a:cubicBezTo>
                  <a:cubicBezTo>
                    <a:pt x="952350" y="1857602"/>
                    <a:pt x="943577" y="1949587"/>
                    <a:pt x="926032" y="2041572"/>
                  </a:cubicBezTo>
                  <a:cubicBezTo>
                    <a:pt x="897522" y="2310956"/>
                    <a:pt x="1031302" y="2589100"/>
                    <a:pt x="1276930" y="2731458"/>
                  </a:cubicBezTo>
                  <a:cubicBezTo>
                    <a:pt x="1325179" y="2764309"/>
                    <a:pt x="1382200" y="2779640"/>
                    <a:pt x="1432641" y="2805922"/>
                  </a:cubicBezTo>
                  <a:cubicBezTo>
                    <a:pt x="1489662" y="2816872"/>
                    <a:pt x="1540104" y="2840963"/>
                    <a:pt x="1594931" y="2840963"/>
                  </a:cubicBezTo>
                  <a:cubicBezTo>
                    <a:pt x="1599318" y="2843153"/>
                    <a:pt x="1592738" y="2843153"/>
                    <a:pt x="1597125" y="2845344"/>
                  </a:cubicBezTo>
                  <a:cubicBezTo>
                    <a:pt x="1463345" y="2867245"/>
                    <a:pt x="1290089" y="2851914"/>
                    <a:pt x="1149730" y="2823442"/>
                  </a:cubicBezTo>
                  <a:cubicBezTo>
                    <a:pt x="772514" y="2744598"/>
                    <a:pt x="412844" y="2492735"/>
                    <a:pt x="213270" y="2155458"/>
                  </a:cubicBezTo>
                  <a:lnTo>
                    <a:pt x="156250" y="2054712"/>
                  </a:lnTo>
                  <a:cubicBezTo>
                    <a:pt x="-43324" y="1680203"/>
                    <a:pt x="-52096" y="1165526"/>
                    <a:pt x="132125" y="791017"/>
                  </a:cubicBezTo>
                  <a:cubicBezTo>
                    <a:pt x="252746" y="506302"/>
                    <a:pt x="507148" y="234728"/>
                    <a:pt x="787866" y="101131"/>
                  </a:cubicBezTo>
                  <a:close/>
                </a:path>
              </a:pathLst>
            </a:custGeom>
            <a:solidFill>
              <a:schemeClr val="accent5">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0000" bIns="10800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defRPr/>
              </a:pPr>
              <a:r>
                <a:rPr lang="zh-CN" altLang="en-US" dirty="0">
                  <a:solidFill>
                    <a:schemeClr val="tx1"/>
                  </a:solidFill>
                  <a:latin typeface="微软雅黑" panose="020B0503020204020204" charset="-122"/>
                  <a:ea typeface="微软雅黑" panose="020B0503020204020204" charset="-122"/>
                </a:rPr>
                <a:t>面向机器</a:t>
              </a:r>
            </a:p>
            <a:p>
              <a:pPr algn="l">
                <a:defRPr/>
              </a:pPr>
              <a:r>
                <a:rPr lang="zh-CN" altLang="en-US" dirty="0">
                  <a:solidFill>
                    <a:schemeClr val="tx1"/>
                  </a:solidFill>
                  <a:latin typeface="微软雅黑" panose="020B0503020204020204" charset="-122"/>
                  <a:ea typeface="微软雅黑" panose="020B0503020204020204" charset="-122"/>
                </a:rPr>
                <a:t>语言</a:t>
              </a:r>
            </a:p>
          </p:txBody>
        </p:sp>
        <p:sp>
          <p:nvSpPr>
            <p:cNvPr id="20" name="MH_SubTitle_2"/>
            <p:cNvSpPr/>
            <p:nvPr>
              <p:custDataLst>
                <p:tags r:id="rId4"/>
              </p:custDataLst>
            </p:nvPr>
          </p:nvSpPr>
          <p:spPr>
            <a:xfrm>
              <a:off x="6998" y="3869"/>
              <a:ext cx="3319" cy="4725"/>
            </a:xfrm>
            <a:custGeom>
              <a:avLst/>
              <a:gdLst>
                <a:gd name="connsiteX0" fmla="*/ 641609 w 1906929"/>
                <a:gd name="connsiteY0" fmla="*/ 1906640 h 2855727"/>
                <a:gd name="connsiteX1" fmla="*/ 383444 w 1906929"/>
                <a:gd name="connsiteY1" fmla="*/ 2164805 h 2855727"/>
                <a:gd name="connsiteX2" fmla="*/ 641609 w 1906929"/>
                <a:gd name="connsiteY2" fmla="*/ 2422970 h 2855727"/>
                <a:gd name="connsiteX3" fmla="*/ 899774 w 1906929"/>
                <a:gd name="connsiteY3" fmla="*/ 2164805 h 2855727"/>
                <a:gd name="connsiteX4" fmla="*/ 641609 w 1906929"/>
                <a:gd name="connsiteY4" fmla="*/ 1906640 h 2855727"/>
                <a:gd name="connsiteX5" fmla="*/ 416411 w 1906929"/>
                <a:gd name="connsiteY5" fmla="*/ 562 h 2855727"/>
                <a:gd name="connsiteX6" fmla="*/ 757200 w 1906929"/>
                <a:gd name="connsiteY6" fmla="*/ 32285 h 2855727"/>
                <a:gd name="connsiteX7" fmla="*/ 1693660 w 1906929"/>
                <a:gd name="connsiteY7" fmla="*/ 700269 h 2855727"/>
                <a:gd name="connsiteX8" fmla="*/ 1750680 w 1906929"/>
                <a:gd name="connsiteY8" fmla="*/ 801015 h 2855727"/>
                <a:gd name="connsiteX9" fmla="*/ 1774805 w 1906929"/>
                <a:gd name="connsiteY9" fmla="*/ 2064710 h 2855727"/>
                <a:gd name="connsiteX10" fmla="*/ 1119064 w 1906929"/>
                <a:gd name="connsiteY10" fmla="*/ 2754596 h 2855727"/>
                <a:gd name="connsiteX11" fmla="*/ 542275 w 1906929"/>
                <a:gd name="connsiteY11" fmla="*/ 2840011 h 2855727"/>
                <a:gd name="connsiteX12" fmla="*/ 202343 w 1906929"/>
                <a:gd name="connsiteY12" fmla="*/ 2660421 h 2855727"/>
                <a:gd name="connsiteX13" fmla="*/ 26894 w 1906929"/>
                <a:gd name="connsiteY13" fmla="*/ 1977106 h 2855727"/>
                <a:gd name="connsiteX14" fmla="*/ 224274 w 1906929"/>
                <a:gd name="connsiteY14" fmla="*/ 1666110 h 2855727"/>
                <a:gd name="connsiteX15" fmla="*/ 562013 w 1906929"/>
                <a:gd name="connsiteY15" fmla="*/ 1420817 h 2855727"/>
                <a:gd name="connsiteX16" fmla="*/ 904139 w 1906929"/>
                <a:gd name="connsiteY16" fmla="*/ 1074779 h 2855727"/>
                <a:gd name="connsiteX17" fmla="*/ 980898 w 1906929"/>
                <a:gd name="connsiteY17" fmla="*/ 814155 h 2855727"/>
                <a:gd name="connsiteX18" fmla="*/ 630000 w 1906929"/>
                <a:gd name="connsiteY18" fmla="*/ 124269 h 2855727"/>
                <a:gd name="connsiteX19" fmla="*/ 474289 w 1906929"/>
                <a:gd name="connsiteY19" fmla="*/ 49805 h 2855727"/>
                <a:gd name="connsiteX20" fmla="*/ 311999 w 1906929"/>
                <a:gd name="connsiteY20" fmla="*/ 14764 h 2855727"/>
                <a:gd name="connsiteX21" fmla="*/ 309805 w 1906929"/>
                <a:gd name="connsiteY21" fmla="*/ 10383 h 2855727"/>
                <a:gd name="connsiteX22" fmla="*/ 416411 w 1906929"/>
                <a:gd name="connsiteY22" fmla="*/ 562 h 2855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906929" h="2855727">
                  <a:moveTo>
                    <a:pt x="641609" y="1906640"/>
                  </a:moveTo>
                  <a:cubicBezTo>
                    <a:pt x="499028" y="1906640"/>
                    <a:pt x="383444" y="2022224"/>
                    <a:pt x="383444" y="2164805"/>
                  </a:cubicBezTo>
                  <a:cubicBezTo>
                    <a:pt x="383444" y="2307386"/>
                    <a:pt x="499028" y="2422970"/>
                    <a:pt x="641609" y="2422970"/>
                  </a:cubicBezTo>
                  <a:cubicBezTo>
                    <a:pt x="784190" y="2422970"/>
                    <a:pt x="899774" y="2307386"/>
                    <a:pt x="899774" y="2164805"/>
                  </a:cubicBezTo>
                  <a:cubicBezTo>
                    <a:pt x="899774" y="2022224"/>
                    <a:pt x="784190" y="1906640"/>
                    <a:pt x="641609" y="1906640"/>
                  </a:cubicBezTo>
                  <a:close/>
                  <a:moveTo>
                    <a:pt x="416411" y="562"/>
                  </a:moveTo>
                  <a:cubicBezTo>
                    <a:pt x="528157" y="-3031"/>
                    <a:pt x="651931" y="10931"/>
                    <a:pt x="757200" y="32285"/>
                  </a:cubicBezTo>
                  <a:cubicBezTo>
                    <a:pt x="1134416" y="111129"/>
                    <a:pt x="1494086" y="362992"/>
                    <a:pt x="1693660" y="700269"/>
                  </a:cubicBezTo>
                  <a:lnTo>
                    <a:pt x="1750680" y="801015"/>
                  </a:lnTo>
                  <a:cubicBezTo>
                    <a:pt x="1950254" y="1175524"/>
                    <a:pt x="1959026" y="1690201"/>
                    <a:pt x="1774805" y="2064710"/>
                  </a:cubicBezTo>
                  <a:cubicBezTo>
                    <a:pt x="1654184" y="2349425"/>
                    <a:pt x="1399782" y="2620999"/>
                    <a:pt x="1119064" y="2754596"/>
                  </a:cubicBezTo>
                  <a:cubicBezTo>
                    <a:pt x="913642" y="2883813"/>
                    <a:pt x="669475" y="2859722"/>
                    <a:pt x="542275" y="2840011"/>
                  </a:cubicBezTo>
                  <a:cubicBezTo>
                    <a:pt x="415075" y="2820300"/>
                    <a:pt x="298840" y="2752406"/>
                    <a:pt x="202343" y="2660421"/>
                  </a:cubicBezTo>
                  <a:cubicBezTo>
                    <a:pt x="26894" y="2480832"/>
                    <a:pt x="-43286" y="2211448"/>
                    <a:pt x="26894" y="1977106"/>
                  </a:cubicBezTo>
                  <a:cubicBezTo>
                    <a:pt x="61984" y="1861030"/>
                    <a:pt x="132163" y="1749334"/>
                    <a:pt x="224274" y="1666110"/>
                  </a:cubicBezTo>
                  <a:cubicBezTo>
                    <a:pt x="338316" y="1587265"/>
                    <a:pt x="452358" y="1512802"/>
                    <a:pt x="562013" y="1420817"/>
                  </a:cubicBezTo>
                  <a:cubicBezTo>
                    <a:pt x="693600" y="1326642"/>
                    <a:pt x="840539" y="1225897"/>
                    <a:pt x="904139" y="1074779"/>
                  </a:cubicBezTo>
                  <a:cubicBezTo>
                    <a:pt x="954580" y="998125"/>
                    <a:pt x="963353" y="906140"/>
                    <a:pt x="980898" y="814155"/>
                  </a:cubicBezTo>
                  <a:cubicBezTo>
                    <a:pt x="1009408" y="544771"/>
                    <a:pt x="875628" y="266627"/>
                    <a:pt x="630000" y="124269"/>
                  </a:cubicBezTo>
                  <a:cubicBezTo>
                    <a:pt x="581751" y="91418"/>
                    <a:pt x="524730" y="76087"/>
                    <a:pt x="474289" y="49805"/>
                  </a:cubicBezTo>
                  <a:cubicBezTo>
                    <a:pt x="417268" y="38855"/>
                    <a:pt x="366826" y="14764"/>
                    <a:pt x="311999" y="14764"/>
                  </a:cubicBezTo>
                  <a:cubicBezTo>
                    <a:pt x="307612" y="12574"/>
                    <a:pt x="314192" y="12574"/>
                    <a:pt x="309805" y="10383"/>
                  </a:cubicBezTo>
                  <a:cubicBezTo>
                    <a:pt x="343250" y="4908"/>
                    <a:pt x="379163" y="1759"/>
                    <a:pt x="416411" y="562"/>
                  </a:cubicBezTo>
                  <a:close/>
                </a:path>
              </a:pathLst>
            </a:cu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Ins="180000" bIns="0" anchor="ctr">
              <a:normAutofit/>
            </a:bodyPr>
            <a:lstStyle/>
            <a:p>
              <a:pPr algn="r" eaLnBrk="1" hangingPunct="1">
                <a:defRPr/>
              </a:pPr>
              <a:r>
                <a:rPr lang="zh-CN" altLang="en-US" dirty="0">
                  <a:solidFill>
                    <a:schemeClr val="tx1"/>
                  </a:solidFill>
                  <a:latin typeface="微软雅黑" panose="020B0503020204020204" charset="-122"/>
                  <a:ea typeface="微软雅黑" panose="020B0503020204020204" charset="-122"/>
                </a:rPr>
                <a:t>高级程序</a:t>
              </a:r>
            </a:p>
            <a:p>
              <a:pPr algn="r" eaLnBrk="1" hangingPunct="1">
                <a:defRPr/>
              </a:pPr>
              <a:r>
                <a:rPr lang="zh-CN" altLang="en-US" dirty="0">
                  <a:solidFill>
                    <a:schemeClr val="tx1"/>
                  </a:solidFill>
                  <a:latin typeface="微软雅黑" panose="020B0503020204020204" charset="-122"/>
                  <a:ea typeface="微软雅黑" panose="020B0503020204020204" charset="-122"/>
                </a:rPr>
                <a:t>设计语言</a:t>
              </a:r>
            </a:p>
          </p:txBody>
        </p:sp>
        <p:sp>
          <p:nvSpPr>
            <p:cNvPr id="23" name="MH_Text_1"/>
            <p:cNvSpPr>
              <a:spLocks noChangeArrowheads="1"/>
            </p:cNvSpPr>
            <p:nvPr>
              <p:custDataLst>
                <p:tags r:id="rId5"/>
              </p:custDataLst>
            </p:nvPr>
          </p:nvSpPr>
          <p:spPr bwMode="auto">
            <a:xfrm>
              <a:off x="2105" y="4129"/>
              <a:ext cx="3263" cy="1325"/>
            </a:xfrm>
            <a:prstGeom prst="rect">
              <a:avLst/>
            </a:prstGeom>
            <a:noFill/>
            <a:ln w="9525">
              <a:noFill/>
              <a:miter lim="800000"/>
            </a:ln>
          </p:spPr>
          <p:txBody>
            <a:bodyPr/>
            <a:lstStyle/>
            <a:p>
              <a:pPr>
                <a:lnSpc>
                  <a:spcPct val="130000"/>
                </a:lnSpc>
              </a:pPr>
              <a:endParaRPr lang="zh-CN" altLang="en-US" dirty="0">
                <a:latin typeface="微软雅黑" panose="020B0503020204020204" charset="-122"/>
                <a:ea typeface="微软雅黑" panose="020B0503020204020204" charset="-122"/>
              </a:endParaRPr>
            </a:p>
          </p:txBody>
        </p:sp>
        <p:sp>
          <p:nvSpPr>
            <p:cNvPr id="24" name="MH_Text_2"/>
            <p:cNvSpPr>
              <a:spLocks noChangeArrowheads="1"/>
            </p:cNvSpPr>
            <p:nvPr>
              <p:custDataLst>
                <p:tags r:id="rId6"/>
              </p:custDataLst>
            </p:nvPr>
          </p:nvSpPr>
          <p:spPr bwMode="auto">
            <a:xfrm>
              <a:off x="10317" y="6579"/>
              <a:ext cx="5326" cy="1600"/>
            </a:xfrm>
            <a:prstGeom prst="rect">
              <a:avLst/>
            </a:prstGeom>
            <a:noFill/>
            <a:ln w="9525">
              <a:noFill/>
              <a:miter lim="800000"/>
            </a:ln>
          </p:spPr>
          <p:txBody>
            <a:bodyPr anchor="b"/>
            <a:lstStyle/>
            <a:p>
              <a:pPr fontAlgn="auto">
                <a:lnSpc>
                  <a:spcPct val="120000"/>
                </a:lnSpc>
              </a:pPr>
              <a:r>
                <a:rPr lang="en-US" altLang="zh-CN" dirty="0">
                  <a:latin typeface="微软雅黑" panose="020B0503020204020204" charset="-122"/>
                  <a:ea typeface="微软雅黑" panose="020B0503020204020204" charset="-122"/>
                </a:rPr>
                <a:t>       </a:t>
              </a:r>
              <a:endParaRPr lang="zh-CN" altLang="en-US" dirty="0">
                <a:latin typeface="微软雅黑" panose="020B0503020204020204" charset="-122"/>
                <a:ea typeface="微软雅黑" panose="020B0503020204020204" charset="-122"/>
              </a:endParaRPr>
            </a:p>
          </p:txBody>
        </p:sp>
        <p:sp>
          <p:nvSpPr>
            <p:cNvPr id="26" name="任意多边形 25"/>
            <p:cNvSpPr/>
            <p:nvPr/>
          </p:nvSpPr>
          <p:spPr>
            <a:xfrm>
              <a:off x="-123" y="4162"/>
              <a:ext cx="7403" cy="842"/>
            </a:xfrm>
            <a:custGeom>
              <a:avLst/>
              <a:gdLst>
                <a:gd name="connsiteX0" fmla="*/ 3336967 w 3336967"/>
                <a:gd name="connsiteY0" fmla="*/ 534390 h 534390"/>
                <a:gd name="connsiteX1" fmla="*/ 2315689 w 3336967"/>
                <a:gd name="connsiteY1" fmla="*/ 0 h 534390"/>
                <a:gd name="connsiteX2" fmla="*/ 0 w 3336967"/>
                <a:gd name="connsiteY2" fmla="*/ 0 h 534390"/>
              </a:gdLst>
              <a:ahLst/>
              <a:cxnLst>
                <a:cxn ang="0">
                  <a:pos x="connsiteX0" y="connsiteY0"/>
                </a:cxn>
                <a:cxn ang="0">
                  <a:pos x="connsiteX1" y="connsiteY1"/>
                </a:cxn>
                <a:cxn ang="0">
                  <a:pos x="connsiteX2" y="connsiteY2"/>
                </a:cxn>
              </a:cxnLst>
              <a:rect l="l" t="t" r="r" b="b"/>
              <a:pathLst>
                <a:path w="3336967" h="534390">
                  <a:moveTo>
                    <a:pt x="3336967" y="534390"/>
                  </a:moveTo>
                  <a:lnTo>
                    <a:pt x="2315689" y="0"/>
                  </a:lnTo>
                  <a:lnTo>
                    <a:pt x="0" y="0"/>
                  </a:lnTo>
                </a:path>
              </a:pathLst>
            </a:custGeom>
            <a:ln w="28575">
              <a:solidFill>
                <a:schemeClr val="accent5">
                  <a:lumMod val="75000"/>
                </a:schemeClr>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微软雅黑" panose="020B0503020204020204" charset="-122"/>
                <a:ea typeface="微软雅黑" panose="020B0503020204020204" charset="-122"/>
                <a:sym typeface="+mn-ea"/>
              </a:endParaRPr>
            </a:p>
          </p:txBody>
        </p:sp>
        <p:sp>
          <p:nvSpPr>
            <p:cNvPr id="27" name="任意多边形 26"/>
            <p:cNvSpPr/>
            <p:nvPr/>
          </p:nvSpPr>
          <p:spPr>
            <a:xfrm flipH="1" flipV="1">
              <a:off x="8067" y="7425"/>
              <a:ext cx="7112" cy="842"/>
            </a:xfrm>
            <a:custGeom>
              <a:avLst/>
              <a:gdLst>
                <a:gd name="connsiteX0" fmla="*/ 3336967 w 3336967"/>
                <a:gd name="connsiteY0" fmla="*/ 534390 h 534390"/>
                <a:gd name="connsiteX1" fmla="*/ 2315689 w 3336967"/>
                <a:gd name="connsiteY1" fmla="*/ 0 h 534390"/>
                <a:gd name="connsiteX2" fmla="*/ 0 w 3336967"/>
                <a:gd name="connsiteY2" fmla="*/ 0 h 534390"/>
              </a:gdLst>
              <a:ahLst/>
              <a:cxnLst>
                <a:cxn ang="0">
                  <a:pos x="connsiteX0" y="connsiteY0"/>
                </a:cxn>
                <a:cxn ang="0">
                  <a:pos x="connsiteX1" y="connsiteY1"/>
                </a:cxn>
                <a:cxn ang="0">
                  <a:pos x="connsiteX2" y="connsiteY2"/>
                </a:cxn>
              </a:cxnLst>
              <a:rect l="l" t="t" r="r" b="b"/>
              <a:pathLst>
                <a:path w="3336967" h="534390">
                  <a:moveTo>
                    <a:pt x="3336967" y="534390"/>
                  </a:moveTo>
                  <a:lnTo>
                    <a:pt x="2315689" y="0"/>
                  </a:lnTo>
                  <a:lnTo>
                    <a:pt x="0" y="0"/>
                  </a:lnTo>
                </a:path>
              </a:pathLst>
            </a:custGeom>
            <a:ln w="28575">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Times New Roman" panose="02020603050405020304" pitchFamily="18" charset="0"/>
              </a:endParaRPr>
            </a:p>
          </p:txBody>
        </p:sp>
        <p:sp>
          <p:nvSpPr>
            <p:cNvPr id="30" name="TextBox 29"/>
            <p:cNvSpPr txBox="1"/>
            <p:nvPr/>
          </p:nvSpPr>
          <p:spPr>
            <a:xfrm>
              <a:off x="7461" y="4928"/>
              <a:ext cx="905" cy="3339"/>
            </a:xfrm>
            <a:prstGeom prst="rect">
              <a:avLst/>
            </a:prstGeom>
            <a:noFill/>
          </p:spPr>
          <p:txBody>
            <a:bodyPr vert="eaVert" wrap="square" rtlCol="0">
              <a:spAutoFit/>
            </a:bodyPr>
            <a:lstStyle/>
            <a:p>
              <a:r>
                <a:rPr lang="zh-CN" altLang="en-US" sz="2400" b="1" dirty="0">
                  <a:latin typeface="微软雅黑" panose="020B0503020204020204" charset="-122"/>
                  <a:ea typeface="微软雅黑" panose="020B0503020204020204" charset="-122"/>
                </a:rPr>
                <a:t>程序设计语言</a:t>
              </a:r>
            </a:p>
          </p:txBody>
        </p:sp>
      </p:grpSp>
      <p:sp>
        <p:nvSpPr>
          <p:cNvPr id="7" name="文本框 6"/>
          <p:cNvSpPr txBox="1"/>
          <p:nvPr/>
        </p:nvSpPr>
        <p:spPr>
          <a:xfrm>
            <a:off x="1052830" y="3293932"/>
            <a:ext cx="3184525" cy="2722880"/>
          </a:xfrm>
          <a:prstGeom prst="rect">
            <a:avLst/>
          </a:prstGeom>
          <a:noFill/>
        </p:spPr>
        <p:txBody>
          <a:bodyPr wrap="square" rtlCol="0">
            <a:spAutoFit/>
          </a:bodyPr>
          <a:lstStyle/>
          <a:p>
            <a:pPr algn="l" fontAlgn="auto">
              <a:lnSpc>
                <a:spcPct val="120000"/>
              </a:lnSpc>
            </a:pPr>
            <a:r>
              <a:rPr lang="en-US" altLang="zh-CN" dirty="0">
                <a:sym typeface="+mn-ea"/>
              </a:rPr>
              <a:t>       </a:t>
            </a:r>
            <a:r>
              <a:rPr lang="zh-CN" altLang="en-US" dirty="0">
                <a:sym typeface="+mn-ea"/>
              </a:rPr>
              <a:t>面向机器语言包括机器语言和汇编语言。机器语言和汇编语言都依赖于计算机硬件结构，指令系统因机器而异，难学难用。其缺点是编程效率低、容易出错、维护困难；其优点是易于实现系统接口，执行效率高。</a:t>
            </a:r>
            <a:endParaRPr lang="zh-CN" altLang="en-US" dirty="0"/>
          </a:p>
        </p:txBody>
      </p:sp>
      <p:sp>
        <p:nvSpPr>
          <p:cNvPr id="13" name="文本框 12"/>
          <p:cNvSpPr txBox="1"/>
          <p:nvPr/>
        </p:nvSpPr>
        <p:spPr>
          <a:xfrm>
            <a:off x="7917180" y="3377198"/>
            <a:ext cx="3185160" cy="2065020"/>
          </a:xfrm>
          <a:prstGeom prst="rect">
            <a:avLst/>
          </a:prstGeom>
          <a:noFill/>
        </p:spPr>
        <p:txBody>
          <a:bodyPr wrap="square" rtlCol="0">
            <a:spAutoFit/>
          </a:bodyPr>
          <a:lstStyle/>
          <a:p>
            <a:pPr fontAlgn="auto">
              <a:lnSpc>
                <a:spcPct val="120000"/>
              </a:lnSpc>
            </a:pPr>
            <a:r>
              <a:rPr lang="en-US" altLang="zh-CN" dirty="0">
                <a:sym typeface="+mn-ea"/>
              </a:rPr>
              <a:t>       </a:t>
            </a:r>
            <a:r>
              <a:rPr lang="zh-CN" altLang="en-US" dirty="0">
                <a:sym typeface="+mn-ea"/>
              </a:rPr>
              <a:t>高级程序设计语言使用的概念和符号与人们通常使用的概念和符号比较接近，它的一个语句往往对应若干条机器指令，高级语言的特性一般不依赖于计算机，通用性强。</a:t>
            </a:r>
            <a:endParaRPr lang="zh-CN" altLang="en-US" dirty="0"/>
          </a:p>
        </p:txBody>
      </p:sp>
      <p:grpSp>
        <p:nvGrpSpPr>
          <p:cNvPr id="16" name="组合 6"/>
          <p:cNvGrpSpPr/>
          <p:nvPr/>
        </p:nvGrpSpPr>
        <p:grpSpPr>
          <a:xfrm>
            <a:off x="809625" y="2145646"/>
            <a:ext cx="3141345" cy="590550"/>
            <a:chOff x="508000" y="3196191"/>
            <a:chExt cx="3141314" cy="590550"/>
          </a:xfrm>
        </p:grpSpPr>
        <p:sp>
          <p:nvSpPr>
            <p:cNvPr id="21" name="TextBox 1"/>
            <p:cNvSpPr txBox="1">
              <a:spLocks noChangeArrowheads="1"/>
            </p:cNvSpPr>
            <p:nvPr/>
          </p:nvSpPr>
          <p:spPr bwMode="auto">
            <a:xfrm>
              <a:off x="508000" y="3196191"/>
              <a:ext cx="36419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1</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22" name="直接连接符 21"/>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5" name="矩形 7"/>
            <p:cNvSpPr>
              <a:spLocks noChangeArrowheads="1"/>
            </p:cNvSpPr>
            <p:nvPr/>
          </p:nvSpPr>
          <p:spPr bwMode="auto">
            <a:xfrm>
              <a:off x="960437" y="3291441"/>
              <a:ext cx="26888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程序设计语言的分类</a:t>
              </a:r>
            </a:p>
          </p:txBody>
        </p:sp>
      </p:grpSp>
    </p:spTree>
  </p:cSld>
  <p:clrMapOvr>
    <a:masterClrMapping/>
  </p:clrMapOvr>
  <p:transition>
    <p:pull di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en-US" dirty="0"/>
              <a:t>4.1 </a:t>
            </a:r>
            <a:r>
              <a:rPr lang="zh-CN" altLang="en-US" dirty="0"/>
              <a:t>结构化程序设计</a:t>
            </a:r>
          </a:p>
        </p:txBody>
      </p:sp>
      <p:sp>
        <p:nvSpPr>
          <p:cNvPr id="5" name="文本占位符 4">
            <a:extLst>
              <a:ext uri="{FF2B5EF4-FFF2-40B4-BE49-F238E27FC236}">
                <a16:creationId xmlns:a16="http://schemas.microsoft.com/office/drawing/2014/main" id="{4FF3F1CF-E92C-C49E-979A-DCB4A7456C90}"/>
              </a:ext>
            </a:extLst>
          </p:cNvPr>
          <p:cNvSpPr>
            <a:spLocks noGrp="1"/>
          </p:cNvSpPr>
          <p:nvPr>
            <p:ph type="body" sz="quarter" idx="10"/>
          </p:nvPr>
        </p:nvSpPr>
        <p:spPr>
          <a:xfrm>
            <a:off x="696000" y="1322832"/>
            <a:ext cx="5400000" cy="400110"/>
          </a:xfrm>
        </p:spPr>
        <p:txBody>
          <a:bodyPr/>
          <a:lstStyle/>
          <a:p>
            <a:r>
              <a:rPr lang="en-US" altLang="zh-CN" dirty="0"/>
              <a:t>4.1.1 </a:t>
            </a:r>
            <a:r>
              <a:rPr lang="zh-CN" altLang="en-US" dirty="0"/>
              <a:t>程序设计语言的选择</a:t>
            </a:r>
          </a:p>
        </p:txBody>
      </p:sp>
      <p:sp>
        <p:nvSpPr>
          <p:cNvPr id="7" name="文本占位符 6">
            <a:extLst>
              <a:ext uri="{FF2B5EF4-FFF2-40B4-BE49-F238E27FC236}">
                <a16:creationId xmlns:a16="http://schemas.microsoft.com/office/drawing/2014/main" id="{E0DB8B58-7D8D-7FA3-044E-0D0841890C22}"/>
              </a:ext>
            </a:extLst>
          </p:cNvPr>
          <p:cNvSpPr>
            <a:spLocks noGrp="1"/>
          </p:cNvSpPr>
          <p:nvPr>
            <p:ph type="body" sz="quarter" idx="11"/>
          </p:nvPr>
        </p:nvSpPr>
        <p:spPr>
          <a:xfrm>
            <a:off x="6096000" y="360128"/>
            <a:ext cx="5760000" cy="400110"/>
          </a:xfrm>
        </p:spPr>
        <p:txBody>
          <a:bodyPr/>
          <a:lstStyle/>
          <a:p>
            <a:r>
              <a:rPr lang="en-US" altLang="zh-CN" dirty="0"/>
              <a:t>Structured Design</a:t>
            </a:r>
            <a:endParaRPr lang="zh-CN" altLang="en-US" dirty="0"/>
          </a:p>
        </p:txBody>
      </p:sp>
      <p:sp>
        <p:nvSpPr>
          <p:cNvPr id="9" name="MH_Other_1"/>
          <p:cNvSpPr>
            <a:spLocks noChangeArrowheads="1"/>
          </p:cNvSpPr>
          <p:nvPr>
            <p:custDataLst>
              <p:tags r:id="rId1"/>
            </p:custDataLst>
          </p:nvPr>
        </p:nvSpPr>
        <p:spPr bwMode="auto">
          <a:xfrm>
            <a:off x="754380" y="2766515"/>
            <a:ext cx="710565" cy="494665"/>
          </a:xfrm>
          <a:prstGeom prst="rect">
            <a:avLst/>
          </a:prstGeom>
          <a:solidFill>
            <a:srgbClr val="25B4E9"/>
          </a:solidFill>
          <a:ln w="9525">
            <a:noFill/>
            <a:miter lim="800000"/>
          </a:ln>
        </p:spPr>
        <p:txBody>
          <a:bodyPr anchor="ctr"/>
          <a:lstStyle/>
          <a:p>
            <a:pPr algn="ctr" eaLnBrk="1" hangingPunct="1"/>
            <a:r>
              <a:rPr lang="en-US" altLang="zh-CN" sz="2400" b="1">
                <a:solidFill>
                  <a:srgbClr val="FFFFFF"/>
                </a:solidFill>
                <a:latin typeface="Times New Roman" panose="02020603050405020304" pitchFamily="18" charset="0"/>
                <a:ea typeface="微软雅黑" panose="020B0503020204020204" charset="-122"/>
              </a:rPr>
              <a:t>01</a:t>
            </a:r>
            <a:endParaRPr lang="zh-CN" altLang="en-US" sz="2400" b="1" dirty="0">
              <a:solidFill>
                <a:srgbClr val="FFFFFF"/>
              </a:solidFill>
              <a:latin typeface="Times New Roman" panose="02020603050405020304" pitchFamily="18" charset="0"/>
              <a:ea typeface="微软雅黑" panose="020B0503020204020204" charset="-122"/>
            </a:endParaRPr>
          </a:p>
        </p:txBody>
      </p:sp>
      <p:sp>
        <p:nvSpPr>
          <p:cNvPr id="10" name="MH_Other_2"/>
          <p:cNvSpPr>
            <a:spLocks noChangeArrowheads="1"/>
          </p:cNvSpPr>
          <p:nvPr>
            <p:custDataLst>
              <p:tags r:id="rId2"/>
            </p:custDataLst>
          </p:nvPr>
        </p:nvSpPr>
        <p:spPr bwMode="auto">
          <a:xfrm>
            <a:off x="1504950" y="2869385"/>
            <a:ext cx="563245" cy="391795"/>
          </a:xfrm>
          <a:prstGeom prst="rect">
            <a:avLst/>
          </a:prstGeom>
          <a:solidFill>
            <a:srgbClr val="ACE3F6"/>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11" name="MH_Other_3"/>
          <p:cNvSpPr>
            <a:spLocks noChangeArrowheads="1"/>
          </p:cNvSpPr>
          <p:nvPr>
            <p:custDataLst>
              <p:tags r:id="rId3"/>
            </p:custDataLst>
          </p:nvPr>
        </p:nvSpPr>
        <p:spPr bwMode="auto">
          <a:xfrm>
            <a:off x="915035" y="3289120"/>
            <a:ext cx="549910" cy="382905"/>
          </a:xfrm>
          <a:prstGeom prst="rect">
            <a:avLst/>
          </a:prstGeom>
          <a:solidFill>
            <a:srgbClr val="67CBEF"/>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12" name="MH_Other_4"/>
          <p:cNvSpPr>
            <a:spLocks noChangeArrowheads="1"/>
          </p:cNvSpPr>
          <p:nvPr>
            <p:custDataLst>
              <p:tags r:id="rId4"/>
            </p:custDataLst>
          </p:nvPr>
        </p:nvSpPr>
        <p:spPr bwMode="auto">
          <a:xfrm>
            <a:off x="1504950" y="3289120"/>
            <a:ext cx="710565" cy="326390"/>
          </a:xfrm>
          <a:prstGeom prst="rect">
            <a:avLst/>
          </a:prstGeom>
          <a:solidFill>
            <a:srgbClr val="D9F2FB"/>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13" name="MH_SubTitle_1"/>
          <p:cNvSpPr/>
          <p:nvPr>
            <p:custDataLst>
              <p:tags r:id="rId5"/>
            </p:custDataLst>
          </p:nvPr>
        </p:nvSpPr>
        <p:spPr>
          <a:xfrm>
            <a:off x="2513330" y="2820490"/>
            <a:ext cx="7938770" cy="796290"/>
          </a:xfrm>
          <a:prstGeom prst="rect">
            <a:avLst/>
          </a:prstGeom>
        </p:spPr>
        <p:txBody>
          <a:bodyPr lIns="0" tIns="0" rIns="0" bIns="0" anchor="ctr">
            <a:noAutofit/>
          </a:bodyPr>
          <a:lstStyle/>
          <a:p>
            <a:pPr>
              <a:lnSpc>
                <a:spcPct val="140000"/>
              </a:lnSpc>
              <a:defRPr/>
            </a:pPr>
            <a:r>
              <a:rPr lang="zh-CN" altLang="en-US" dirty="0">
                <a:sym typeface="+mn-ea"/>
              </a:rPr>
              <a:t>软件系统对程序执行时间和使用空间都有严格限制。</a:t>
            </a:r>
          </a:p>
        </p:txBody>
      </p:sp>
      <p:sp>
        <p:nvSpPr>
          <p:cNvPr id="18" name="MH_Other_5"/>
          <p:cNvSpPr>
            <a:spLocks noChangeArrowheads="1"/>
          </p:cNvSpPr>
          <p:nvPr>
            <p:custDataLst>
              <p:tags r:id="rId6"/>
            </p:custDataLst>
          </p:nvPr>
        </p:nvSpPr>
        <p:spPr bwMode="auto">
          <a:xfrm>
            <a:off x="2891790" y="4903479"/>
            <a:ext cx="710565" cy="494665"/>
          </a:xfrm>
          <a:prstGeom prst="rect">
            <a:avLst/>
          </a:prstGeom>
          <a:solidFill>
            <a:srgbClr val="4FB469"/>
          </a:solidFill>
          <a:ln w="9525">
            <a:noFill/>
            <a:miter lim="800000"/>
          </a:ln>
        </p:spPr>
        <p:txBody>
          <a:bodyPr anchor="ctr"/>
          <a:lstStyle/>
          <a:p>
            <a:pPr algn="ctr" eaLnBrk="1" hangingPunct="1"/>
            <a:r>
              <a:rPr lang="en-US" altLang="zh-CN" sz="2400" b="1">
                <a:solidFill>
                  <a:srgbClr val="FFFFFF"/>
                </a:solidFill>
                <a:latin typeface="Times New Roman" panose="02020603050405020304" pitchFamily="18" charset="0"/>
                <a:ea typeface="微软雅黑" panose="020B0503020204020204" charset="-122"/>
              </a:rPr>
              <a:t>03</a:t>
            </a:r>
            <a:endParaRPr lang="zh-CN" altLang="en-US" sz="2400" b="1" dirty="0">
              <a:solidFill>
                <a:srgbClr val="FFFFFF"/>
              </a:solidFill>
              <a:latin typeface="Times New Roman" panose="02020603050405020304" pitchFamily="18" charset="0"/>
              <a:ea typeface="微软雅黑" panose="020B0503020204020204" charset="-122"/>
            </a:endParaRPr>
          </a:p>
        </p:txBody>
      </p:sp>
      <p:sp>
        <p:nvSpPr>
          <p:cNvPr id="27" name="MH_Other_6"/>
          <p:cNvSpPr>
            <a:spLocks noChangeArrowheads="1"/>
          </p:cNvSpPr>
          <p:nvPr>
            <p:custDataLst>
              <p:tags r:id="rId7"/>
            </p:custDataLst>
          </p:nvPr>
        </p:nvSpPr>
        <p:spPr bwMode="auto">
          <a:xfrm>
            <a:off x="3642360" y="5006349"/>
            <a:ext cx="563245" cy="391795"/>
          </a:xfrm>
          <a:prstGeom prst="rect">
            <a:avLst/>
          </a:prstGeom>
          <a:solidFill>
            <a:srgbClr val="B6E0C1"/>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28" name="MH_Other_7"/>
          <p:cNvSpPr>
            <a:spLocks noChangeArrowheads="1"/>
          </p:cNvSpPr>
          <p:nvPr>
            <p:custDataLst>
              <p:tags r:id="rId8"/>
            </p:custDataLst>
          </p:nvPr>
        </p:nvSpPr>
        <p:spPr bwMode="auto">
          <a:xfrm>
            <a:off x="3052445" y="5426084"/>
            <a:ext cx="549910" cy="382905"/>
          </a:xfrm>
          <a:prstGeom prst="rect">
            <a:avLst/>
          </a:prstGeom>
          <a:solidFill>
            <a:srgbClr val="8DCF9E"/>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30" name="MH_Other_8"/>
          <p:cNvSpPr>
            <a:spLocks noChangeArrowheads="1"/>
          </p:cNvSpPr>
          <p:nvPr>
            <p:custDataLst>
              <p:tags r:id="rId9"/>
            </p:custDataLst>
          </p:nvPr>
        </p:nvSpPr>
        <p:spPr bwMode="auto">
          <a:xfrm>
            <a:off x="3642360" y="5426084"/>
            <a:ext cx="710565" cy="326390"/>
          </a:xfrm>
          <a:prstGeom prst="rect">
            <a:avLst/>
          </a:prstGeom>
          <a:solidFill>
            <a:srgbClr val="E1F3E5"/>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31" name="MH_SubTitle_3"/>
          <p:cNvSpPr/>
          <p:nvPr>
            <p:custDataLst>
              <p:tags r:id="rId10"/>
            </p:custDataLst>
          </p:nvPr>
        </p:nvSpPr>
        <p:spPr>
          <a:xfrm>
            <a:off x="4632960" y="4903479"/>
            <a:ext cx="7165340" cy="796290"/>
          </a:xfrm>
          <a:prstGeom prst="rect">
            <a:avLst/>
          </a:prstGeom>
        </p:spPr>
        <p:txBody>
          <a:bodyPr lIns="0" tIns="0" rIns="0" bIns="0" anchor="ctr">
            <a:noAutofit/>
          </a:bodyPr>
          <a:lstStyle/>
          <a:p>
            <a:pPr indent="0" fontAlgn="auto">
              <a:lnSpc>
                <a:spcPct val="130000"/>
              </a:lnSpc>
              <a:buClrTx/>
              <a:buNone/>
            </a:pPr>
            <a:r>
              <a:rPr lang="en-US" altLang="zh-CN" dirty="0">
                <a:sym typeface="+mn-ea"/>
              </a:rPr>
              <a:t>      </a:t>
            </a:r>
            <a:r>
              <a:rPr lang="zh-CN" altLang="en-US" dirty="0">
                <a:sym typeface="+mn-ea"/>
              </a:rPr>
              <a:t>大型系统中某一部分，其执行时间非常关键，或直接依赖于硬件，这部分用汇编语言编写。其余部分用高级程序设计语言编写。</a:t>
            </a:r>
          </a:p>
        </p:txBody>
      </p:sp>
      <p:sp>
        <p:nvSpPr>
          <p:cNvPr id="33" name="MH_Other_9"/>
          <p:cNvSpPr>
            <a:spLocks noChangeArrowheads="1"/>
          </p:cNvSpPr>
          <p:nvPr>
            <p:custDataLst>
              <p:tags r:id="rId11"/>
            </p:custDataLst>
          </p:nvPr>
        </p:nvSpPr>
        <p:spPr bwMode="auto">
          <a:xfrm>
            <a:off x="1680845" y="3768045"/>
            <a:ext cx="710565" cy="494665"/>
          </a:xfrm>
          <a:prstGeom prst="rect">
            <a:avLst/>
          </a:prstGeom>
          <a:solidFill>
            <a:schemeClr val="accent5">
              <a:lumMod val="75000"/>
            </a:schemeClr>
          </a:solidFill>
          <a:ln w="9525">
            <a:noFill/>
            <a:miter lim="800000"/>
          </a:ln>
        </p:spPr>
        <p:txBody>
          <a:bodyPr anchor="ctr"/>
          <a:lstStyle/>
          <a:p>
            <a:pPr algn="ctr" eaLnBrk="1" hangingPunct="1"/>
            <a:r>
              <a:rPr lang="en-US" altLang="zh-CN" sz="2400" b="1">
                <a:solidFill>
                  <a:srgbClr val="FFFFFF"/>
                </a:solidFill>
                <a:latin typeface="Times New Roman" panose="02020603050405020304" pitchFamily="18" charset="0"/>
                <a:ea typeface="微软雅黑" panose="020B0503020204020204" charset="-122"/>
              </a:rPr>
              <a:t>02</a:t>
            </a:r>
            <a:endParaRPr lang="zh-CN" altLang="en-US" sz="2400" b="1" dirty="0">
              <a:solidFill>
                <a:srgbClr val="FFFFFF"/>
              </a:solidFill>
              <a:latin typeface="Times New Roman" panose="02020603050405020304" pitchFamily="18" charset="0"/>
              <a:ea typeface="微软雅黑" panose="020B0503020204020204" charset="-122"/>
            </a:endParaRPr>
          </a:p>
        </p:txBody>
      </p:sp>
      <p:sp>
        <p:nvSpPr>
          <p:cNvPr id="34" name="MH_Other_10"/>
          <p:cNvSpPr>
            <a:spLocks noChangeArrowheads="1"/>
          </p:cNvSpPr>
          <p:nvPr>
            <p:custDataLst>
              <p:tags r:id="rId12"/>
            </p:custDataLst>
          </p:nvPr>
        </p:nvSpPr>
        <p:spPr bwMode="auto">
          <a:xfrm>
            <a:off x="2432050" y="3870915"/>
            <a:ext cx="563245" cy="391795"/>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35" name="MH_Other_11"/>
          <p:cNvSpPr>
            <a:spLocks noChangeArrowheads="1"/>
          </p:cNvSpPr>
          <p:nvPr>
            <p:custDataLst>
              <p:tags r:id="rId13"/>
            </p:custDataLst>
          </p:nvPr>
        </p:nvSpPr>
        <p:spPr bwMode="auto">
          <a:xfrm>
            <a:off x="1842135" y="4290650"/>
            <a:ext cx="549910" cy="382905"/>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36" name="MH_Other_12"/>
          <p:cNvSpPr>
            <a:spLocks noChangeArrowheads="1"/>
          </p:cNvSpPr>
          <p:nvPr>
            <p:custDataLst>
              <p:tags r:id="rId14"/>
            </p:custDataLst>
          </p:nvPr>
        </p:nvSpPr>
        <p:spPr bwMode="auto">
          <a:xfrm>
            <a:off x="2432050" y="4290650"/>
            <a:ext cx="710565" cy="326390"/>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37" name="MH_SubTitle_2"/>
          <p:cNvSpPr/>
          <p:nvPr>
            <p:custDataLst>
              <p:tags r:id="rId15"/>
            </p:custDataLst>
          </p:nvPr>
        </p:nvSpPr>
        <p:spPr>
          <a:xfrm>
            <a:off x="3404235" y="3794715"/>
            <a:ext cx="8394065" cy="796290"/>
          </a:xfrm>
          <a:prstGeom prst="rect">
            <a:avLst/>
          </a:prstGeom>
        </p:spPr>
        <p:txBody>
          <a:bodyPr lIns="0" tIns="0" rIns="0" bIns="0" anchor="ctr">
            <a:noAutofit/>
          </a:bodyPr>
          <a:lstStyle/>
          <a:p>
            <a:pPr lvl="0" algn="just">
              <a:lnSpc>
                <a:spcPct val="120000"/>
              </a:lnSpc>
              <a:spcBef>
                <a:spcPct val="0"/>
              </a:spcBef>
            </a:pPr>
            <a:r>
              <a:rPr lang="zh-CN" altLang="en-US" dirty="0">
                <a:sym typeface="+mn-ea"/>
              </a:rPr>
              <a:t>系统硬件是特殊的微处理机，不能使用高级程序设计语言。</a:t>
            </a:r>
          </a:p>
        </p:txBody>
      </p:sp>
      <p:sp>
        <p:nvSpPr>
          <p:cNvPr id="23" name="文本框 99"/>
          <p:cNvSpPr txBox="1"/>
          <p:nvPr/>
        </p:nvSpPr>
        <p:spPr>
          <a:xfrm>
            <a:off x="848970" y="1992088"/>
            <a:ext cx="10492323" cy="707886"/>
          </a:xfrm>
          <a:prstGeom prst="rect">
            <a:avLst/>
          </a:prstGeom>
          <a:noFill/>
          <a:ln w="9525">
            <a:noFill/>
          </a:ln>
        </p:spPr>
        <p:txBody>
          <a:bodyPr wrap="square">
            <a:spAutoFit/>
          </a:bodyPr>
          <a:lstStyle/>
          <a:p>
            <a:r>
              <a:rPr lang="zh-CN" altLang="en-US" sz="2000" dirty="0">
                <a:latin typeface="Times New Roman" panose="02020603050405020304" pitchFamily="18" charset="0"/>
              </a:rPr>
              <a:t>        一般在设计应用软件时，应当优先选用高级程序设计语言，只有下列</a:t>
            </a:r>
            <a:r>
              <a:rPr lang="en-US" sz="2000">
                <a:latin typeface="Times New Roman" panose="02020603050405020304" pitchFamily="18" charset="0"/>
              </a:rPr>
              <a:t>3</a:t>
            </a:r>
            <a:r>
              <a:rPr lang="zh-CN" altLang="en-US" sz="2000">
                <a:latin typeface="Times New Roman" panose="02020603050405020304" pitchFamily="18" charset="0"/>
              </a:rPr>
              <a:t>种</a:t>
            </a:r>
            <a:r>
              <a:rPr lang="zh-CN" altLang="en-US" sz="2000" dirty="0">
                <a:latin typeface="Times New Roman" panose="02020603050405020304" pitchFamily="18" charset="0"/>
              </a:rPr>
              <a:t>情况选用汇编语言。</a:t>
            </a:r>
            <a:endParaRPr lang="zh-CN" altLang="en-US" sz="2000" dirty="0">
              <a:latin typeface="微软雅黑" panose="020B0503020204020204" charset="-122"/>
              <a:ea typeface="微软雅黑" panose="020B0503020204020204" charset="-122"/>
              <a:sym typeface="+mn-ea"/>
            </a:endParaRPr>
          </a:p>
        </p:txBody>
      </p:sp>
    </p:spTree>
  </p:cSld>
  <p:clrMapOvr>
    <a:masterClrMapping/>
  </p:clrMapOvr>
  <p:transition>
    <p:pull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en-US" dirty="0"/>
              <a:t>4.1 </a:t>
            </a:r>
            <a:r>
              <a:rPr lang="zh-CN" altLang="en-US" dirty="0"/>
              <a:t>结构化程序设计</a:t>
            </a:r>
          </a:p>
        </p:txBody>
      </p:sp>
      <p:sp>
        <p:nvSpPr>
          <p:cNvPr id="5" name="文本占位符 4">
            <a:extLst>
              <a:ext uri="{FF2B5EF4-FFF2-40B4-BE49-F238E27FC236}">
                <a16:creationId xmlns:a16="http://schemas.microsoft.com/office/drawing/2014/main" id="{26D52A4D-196A-DA81-046C-ACDEBB48B208}"/>
              </a:ext>
            </a:extLst>
          </p:cNvPr>
          <p:cNvSpPr>
            <a:spLocks noGrp="1"/>
          </p:cNvSpPr>
          <p:nvPr>
            <p:ph type="body" sz="quarter" idx="10"/>
          </p:nvPr>
        </p:nvSpPr>
        <p:spPr>
          <a:xfrm>
            <a:off x="696000" y="1322832"/>
            <a:ext cx="5400000" cy="400110"/>
          </a:xfrm>
        </p:spPr>
        <p:txBody>
          <a:bodyPr/>
          <a:lstStyle/>
          <a:p>
            <a:r>
              <a:rPr lang="en-US" altLang="zh-CN" dirty="0"/>
              <a:t>4.1.1 </a:t>
            </a:r>
            <a:r>
              <a:rPr lang="zh-CN" altLang="en-US" dirty="0"/>
              <a:t>程序设计语言的选择</a:t>
            </a:r>
          </a:p>
        </p:txBody>
      </p:sp>
      <p:sp>
        <p:nvSpPr>
          <p:cNvPr id="6" name="文本占位符 5">
            <a:extLst>
              <a:ext uri="{FF2B5EF4-FFF2-40B4-BE49-F238E27FC236}">
                <a16:creationId xmlns:a16="http://schemas.microsoft.com/office/drawing/2014/main" id="{2514FBD5-6AD2-F8B5-ED0C-9424CB203FD8}"/>
              </a:ext>
            </a:extLst>
          </p:cNvPr>
          <p:cNvSpPr>
            <a:spLocks noGrp="1"/>
          </p:cNvSpPr>
          <p:nvPr>
            <p:ph type="body" sz="quarter" idx="11"/>
          </p:nvPr>
        </p:nvSpPr>
        <p:spPr>
          <a:xfrm>
            <a:off x="6096000" y="360128"/>
            <a:ext cx="5760000" cy="400110"/>
          </a:xfrm>
        </p:spPr>
        <p:txBody>
          <a:bodyPr/>
          <a:lstStyle/>
          <a:p>
            <a:r>
              <a:rPr lang="en-US" altLang="zh-CN" dirty="0"/>
              <a:t>Structured Design</a:t>
            </a:r>
            <a:endParaRPr lang="zh-CN" altLang="en-US" dirty="0"/>
          </a:p>
        </p:txBody>
      </p:sp>
      <p:sp>
        <p:nvSpPr>
          <p:cNvPr id="36" name="任意多边形 35"/>
          <p:cNvSpPr/>
          <p:nvPr/>
        </p:nvSpPr>
        <p:spPr>
          <a:xfrm rot="10800000">
            <a:off x="9000339" y="2106299"/>
            <a:ext cx="2195830" cy="4149725"/>
          </a:xfrm>
          <a:custGeom>
            <a:avLst/>
            <a:gdLst>
              <a:gd name="connsiteX0" fmla="*/ 2075543 w 2194909"/>
              <a:gd name="connsiteY0" fmla="*/ 0 h 4151086"/>
              <a:gd name="connsiteX1" fmla="*/ 2194909 w 2194909"/>
              <a:gd name="connsiteY1" fmla="*/ 6028 h 4151086"/>
              <a:gd name="connsiteX2" fmla="*/ 2102063 w 2194909"/>
              <a:gd name="connsiteY2" fmla="*/ 10716 h 4151086"/>
              <a:gd name="connsiteX3" fmla="*/ 238732 w 2194909"/>
              <a:gd name="connsiteY3" fmla="*/ 2075543 h 4151086"/>
              <a:gd name="connsiteX4" fmla="*/ 2102063 w 2194909"/>
              <a:gd name="connsiteY4" fmla="*/ 4140370 h 4151086"/>
              <a:gd name="connsiteX5" fmla="*/ 2194909 w 2194909"/>
              <a:gd name="connsiteY5" fmla="*/ 4145059 h 4151086"/>
              <a:gd name="connsiteX6" fmla="*/ 2075543 w 2194909"/>
              <a:gd name="connsiteY6" fmla="*/ 4151086 h 4151086"/>
              <a:gd name="connsiteX7" fmla="*/ 0 w 2194909"/>
              <a:gd name="connsiteY7" fmla="*/ 2075543 h 4151086"/>
              <a:gd name="connsiteX8" fmla="*/ 2075543 w 2194909"/>
              <a:gd name="connsiteY8" fmla="*/ 0 h 4151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4909" h="4151086">
                <a:moveTo>
                  <a:pt x="2075543" y="0"/>
                </a:moveTo>
                <a:lnTo>
                  <a:pt x="2194909" y="6028"/>
                </a:lnTo>
                <a:lnTo>
                  <a:pt x="2102063" y="10716"/>
                </a:lnTo>
                <a:cubicBezTo>
                  <a:pt x="1055458" y="117004"/>
                  <a:pt x="238732" y="1000895"/>
                  <a:pt x="238732" y="2075543"/>
                </a:cubicBezTo>
                <a:cubicBezTo>
                  <a:pt x="238732" y="3150191"/>
                  <a:pt x="1055458" y="4034082"/>
                  <a:pt x="2102063" y="4140370"/>
                </a:cubicBezTo>
                <a:lnTo>
                  <a:pt x="2194909" y="4145059"/>
                </a:lnTo>
                <a:lnTo>
                  <a:pt x="2075543" y="4151086"/>
                </a:lnTo>
                <a:cubicBezTo>
                  <a:pt x="929252" y="4151086"/>
                  <a:pt x="0" y="3221834"/>
                  <a:pt x="0" y="2075543"/>
                </a:cubicBezTo>
                <a:cubicBezTo>
                  <a:pt x="0" y="929252"/>
                  <a:pt x="929252" y="0"/>
                  <a:pt x="2075543" y="0"/>
                </a:cubicBezTo>
                <a:close/>
              </a:path>
            </a:pathLst>
          </a:cu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Times New Roman" panose="02020603050405020304" pitchFamily="18" charset="0"/>
              <a:ea typeface="+mn-ea"/>
              <a:cs typeface="+mn-cs"/>
            </a:endParaRPr>
          </a:p>
        </p:txBody>
      </p:sp>
      <p:sp>
        <p:nvSpPr>
          <p:cNvPr id="19485" name="文本框 47"/>
          <p:cNvSpPr txBox="1"/>
          <p:nvPr/>
        </p:nvSpPr>
        <p:spPr>
          <a:xfrm>
            <a:off x="9324824" y="5414649"/>
            <a:ext cx="309880" cy="48323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4</a:t>
            </a:r>
            <a:endParaRPr lang="zh-CN" altLang="en-US" sz="2400" b="1" dirty="0">
              <a:solidFill>
                <a:schemeClr val="bg1"/>
              </a:solidFill>
              <a:latin typeface="微软雅黑" panose="020B0503020204020204" charset="-122"/>
              <a:ea typeface="微软雅黑" panose="020B0503020204020204" charset="-122"/>
            </a:endParaRPr>
          </a:p>
        </p:txBody>
      </p:sp>
      <p:sp>
        <p:nvSpPr>
          <p:cNvPr id="57" name="圆角矩形 56"/>
          <p:cNvSpPr/>
          <p:nvPr/>
        </p:nvSpPr>
        <p:spPr>
          <a:xfrm rot="10800000">
            <a:off x="3830803" y="5412109"/>
            <a:ext cx="5598796" cy="522605"/>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Times New Roman" panose="02020603050405020304" pitchFamily="18" charset="0"/>
              <a:ea typeface="+mn-ea"/>
              <a:cs typeface="+mn-cs"/>
            </a:endParaRPr>
          </a:p>
        </p:txBody>
      </p:sp>
      <p:sp>
        <p:nvSpPr>
          <p:cNvPr id="58" name="椭圆 57"/>
          <p:cNvSpPr/>
          <p:nvPr/>
        </p:nvSpPr>
        <p:spPr>
          <a:xfrm rot="10800000">
            <a:off x="8841589" y="5368294"/>
            <a:ext cx="609600" cy="60960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Times New Roman" panose="02020603050405020304" pitchFamily="18" charset="0"/>
              <a:ea typeface="+mn-ea"/>
              <a:cs typeface="+mn-cs"/>
            </a:endParaRPr>
          </a:p>
        </p:txBody>
      </p:sp>
      <p:sp>
        <p:nvSpPr>
          <p:cNvPr id="59" name="圆角矩形 58"/>
          <p:cNvSpPr/>
          <p:nvPr/>
        </p:nvSpPr>
        <p:spPr>
          <a:xfrm rot="10800000">
            <a:off x="3840328" y="4671699"/>
            <a:ext cx="6206491" cy="522605"/>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Times New Roman" panose="02020603050405020304" pitchFamily="18" charset="0"/>
              <a:ea typeface="+mn-ea"/>
              <a:cs typeface="+mn-cs"/>
            </a:endParaRPr>
          </a:p>
        </p:txBody>
      </p:sp>
      <p:sp>
        <p:nvSpPr>
          <p:cNvPr id="60" name="椭圆 59"/>
          <p:cNvSpPr/>
          <p:nvPr/>
        </p:nvSpPr>
        <p:spPr>
          <a:xfrm rot="10800000">
            <a:off x="9471509" y="4628519"/>
            <a:ext cx="609600" cy="60960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Times New Roman" panose="02020603050405020304" pitchFamily="18" charset="0"/>
              <a:ea typeface="+mn-ea"/>
              <a:cs typeface="+mn-cs"/>
            </a:endParaRPr>
          </a:p>
        </p:txBody>
      </p:sp>
      <p:sp>
        <p:nvSpPr>
          <p:cNvPr id="61" name="圆角矩形 60"/>
          <p:cNvSpPr/>
          <p:nvPr/>
        </p:nvSpPr>
        <p:spPr>
          <a:xfrm rot="10800000">
            <a:off x="3839693" y="3936369"/>
            <a:ext cx="6356351" cy="522605"/>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Times New Roman" panose="02020603050405020304" pitchFamily="18" charset="0"/>
              <a:ea typeface="+mn-ea"/>
              <a:cs typeface="+mn-cs"/>
            </a:endParaRPr>
          </a:p>
        </p:txBody>
      </p:sp>
      <p:sp>
        <p:nvSpPr>
          <p:cNvPr id="62" name="圆角矩形 61"/>
          <p:cNvSpPr/>
          <p:nvPr/>
        </p:nvSpPr>
        <p:spPr>
          <a:xfrm rot="10800000">
            <a:off x="3839693" y="3169289"/>
            <a:ext cx="6236336" cy="522605"/>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Times New Roman" panose="02020603050405020304" pitchFamily="18" charset="0"/>
              <a:ea typeface="+mn-ea"/>
              <a:cs typeface="+mn-cs"/>
            </a:endParaRPr>
          </a:p>
        </p:txBody>
      </p:sp>
      <p:sp>
        <p:nvSpPr>
          <p:cNvPr id="63" name="椭圆 62"/>
          <p:cNvSpPr/>
          <p:nvPr/>
        </p:nvSpPr>
        <p:spPr>
          <a:xfrm rot="10800000">
            <a:off x="9512149" y="3122934"/>
            <a:ext cx="609600" cy="60960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Times New Roman" panose="02020603050405020304" pitchFamily="18" charset="0"/>
              <a:ea typeface="+mn-ea"/>
              <a:cs typeface="+mn-cs"/>
            </a:endParaRPr>
          </a:p>
        </p:txBody>
      </p:sp>
      <p:sp>
        <p:nvSpPr>
          <p:cNvPr id="64" name="圆角矩形 63"/>
          <p:cNvSpPr/>
          <p:nvPr/>
        </p:nvSpPr>
        <p:spPr>
          <a:xfrm rot="10800000">
            <a:off x="3824453" y="2429514"/>
            <a:ext cx="5626736" cy="522605"/>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Times New Roman" panose="02020603050405020304" pitchFamily="18" charset="0"/>
              <a:ea typeface="+mn-ea"/>
              <a:cs typeface="+mn-cs"/>
            </a:endParaRPr>
          </a:p>
        </p:txBody>
      </p:sp>
      <p:sp>
        <p:nvSpPr>
          <p:cNvPr id="65" name="椭圆 64"/>
          <p:cNvSpPr/>
          <p:nvPr/>
        </p:nvSpPr>
        <p:spPr>
          <a:xfrm rot="10800000">
            <a:off x="8861909" y="2385064"/>
            <a:ext cx="609600" cy="60960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Times New Roman" panose="02020603050405020304" pitchFamily="18" charset="0"/>
              <a:ea typeface="+mn-ea"/>
              <a:cs typeface="+mn-cs"/>
            </a:endParaRPr>
          </a:p>
        </p:txBody>
      </p:sp>
      <p:sp>
        <p:nvSpPr>
          <p:cNvPr id="66" name="文本框 44"/>
          <p:cNvSpPr txBox="1"/>
          <p:nvPr/>
        </p:nvSpPr>
        <p:spPr>
          <a:xfrm>
            <a:off x="8982559" y="2459994"/>
            <a:ext cx="309880" cy="48323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1</a:t>
            </a:r>
            <a:endParaRPr lang="zh-CN" altLang="en-US" sz="2400" b="1" dirty="0">
              <a:solidFill>
                <a:schemeClr val="bg1"/>
              </a:solidFill>
              <a:latin typeface="微软雅黑" panose="020B0503020204020204" charset="-122"/>
              <a:ea typeface="微软雅黑" panose="020B0503020204020204" charset="-122"/>
            </a:endParaRPr>
          </a:p>
        </p:txBody>
      </p:sp>
      <p:sp>
        <p:nvSpPr>
          <p:cNvPr id="67" name="文本框 45"/>
          <p:cNvSpPr txBox="1"/>
          <p:nvPr/>
        </p:nvSpPr>
        <p:spPr>
          <a:xfrm>
            <a:off x="9592159" y="3185164"/>
            <a:ext cx="309880" cy="48323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2</a:t>
            </a:r>
            <a:endParaRPr lang="zh-CN" altLang="en-US" sz="2400" b="1" dirty="0">
              <a:solidFill>
                <a:schemeClr val="bg1"/>
              </a:solidFill>
              <a:latin typeface="微软雅黑" panose="020B0503020204020204" charset="-122"/>
              <a:ea typeface="微软雅黑" panose="020B0503020204020204" charset="-122"/>
            </a:endParaRPr>
          </a:p>
        </p:txBody>
      </p:sp>
      <p:sp>
        <p:nvSpPr>
          <p:cNvPr id="68" name="文本框 46"/>
          <p:cNvSpPr txBox="1"/>
          <p:nvPr/>
        </p:nvSpPr>
        <p:spPr>
          <a:xfrm>
            <a:off x="9736939" y="3983994"/>
            <a:ext cx="309245" cy="48323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3</a:t>
            </a:r>
            <a:endParaRPr lang="zh-CN" altLang="en-US" sz="2400" b="1" dirty="0">
              <a:solidFill>
                <a:schemeClr val="bg1"/>
              </a:solidFill>
              <a:latin typeface="微软雅黑" panose="020B0503020204020204" charset="-122"/>
              <a:ea typeface="微软雅黑" panose="020B0503020204020204" charset="-122"/>
            </a:endParaRPr>
          </a:p>
        </p:txBody>
      </p:sp>
      <p:sp>
        <p:nvSpPr>
          <p:cNvPr id="69" name="文本框 47"/>
          <p:cNvSpPr txBox="1"/>
          <p:nvPr/>
        </p:nvSpPr>
        <p:spPr>
          <a:xfrm>
            <a:off x="9592159" y="4726944"/>
            <a:ext cx="309880" cy="48323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4</a:t>
            </a:r>
            <a:endParaRPr lang="zh-CN" altLang="en-US" sz="2400" b="1" dirty="0">
              <a:solidFill>
                <a:schemeClr val="bg1"/>
              </a:solidFill>
              <a:latin typeface="微软雅黑" panose="020B0503020204020204" charset="-122"/>
              <a:ea typeface="微软雅黑" panose="020B0503020204020204" charset="-122"/>
            </a:endParaRPr>
          </a:p>
        </p:txBody>
      </p:sp>
      <p:sp>
        <p:nvSpPr>
          <p:cNvPr id="70" name="文本框 48"/>
          <p:cNvSpPr txBox="1"/>
          <p:nvPr/>
        </p:nvSpPr>
        <p:spPr>
          <a:xfrm>
            <a:off x="8968589" y="5466719"/>
            <a:ext cx="309245" cy="48323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5</a:t>
            </a:r>
            <a:endParaRPr lang="zh-CN" altLang="en-US" sz="2400" b="1" dirty="0">
              <a:solidFill>
                <a:schemeClr val="bg1"/>
              </a:solidFill>
              <a:latin typeface="微软雅黑" panose="020B0503020204020204" charset="-122"/>
              <a:ea typeface="微软雅黑" panose="020B0503020204020204" charset="-122"/>
            </a:endParaRPr>
          </a:p>
        </p:txBody>
      </p:sp>
      <p:sp>
        <p:nvSpPr>
          <p:cNvPr id="71" name="文本框 59"/>
          <p:cNvSpPr txBox="1"/>
          <p:nvPr/>
        </p:nvSpPr>
        <p:spPr>
          <a:xfrm>
            <a:off x="4256888" y="2497459"/>
            <a:ext cx="4344671" cy="369570"/>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dirty="0">
                <a:latin typeface="微软雅黑" panose="020B0503020204020204" charset="-122"/>
                <a:ea typeface="微软雅黑" panose="020B0503020204020204" charset="-122"/>
              </a:rPr>
              <a:t>项目的应用领域</a:t>
            </a:r>
          </a:p>
        </p:txBody>
      </p:sp>
      <p:sp>
        <p:nvSpPr>
          <p:cNvPr id="72" name="文本框 60"/>
          <p:cNvSpPr txBox="1"/>
          <p:nvPr/>
        </p:nvSpPr>
        <p:spPr>
          <a:xfrm>
            <a:off x="4256888" y="3234059"/>
            <a:ext cx="4471036" cy="369332"/>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dirty="0">
                <a:latin typeface="微软雅黑" panose="020B0503020204020204" charset="-122"/>
                <a:ea typeface="微软雅黑" panose="020B0503020204020204" charset="-122"/>
              </a:rPr>
              <a:t>软件开发的方法</a:t>
            </a:r>
          </a:p>
        </p:txBody>
      </p:sp>
      <p:sp>
        <p:nvSpPr>
          <p:cNvPr id="73" name="文本框 61"/>
          <p:cNvSpPr txBox="1"/>
          <p:nvPr/>
        </p:nvSpPr>
        <p:spPr>
          <a:xfrm>
            <a:off x="4256888" y="4004949"/>
            <a:ext cx="3737611" cy="369332"/>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dirty="0">
                <a:latin typeface="微软雅黑" panose="020B0503020204020204" charset="-122"/>
                <a:ea typeface="微软雅黑" panose="020B0503020204020204" charset="-122"/>
              </a:rPr>
              <a:t>软件开发环境</a:t>
            </a:r>
          </a:p>
        </p:txBody>
      </p:sp>
      <p:sp>
        <p:nvSpPr>
          <p:cNvPr id="74" name="文本框 62"/>
          <p:cNvSpPr txBox="1"/>
          <p:nvPr/>
        </p:nvSpPr>
        <p:spPr>
          <a:xfrm>
            <a:off x="4256888" y="4726944"/>
            <a:ext cx="3026410" cy="369332"/>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dirty="0">
                <a:latin typeface="微软雅黑" panose="020B0503020204020204" charset="-122"/>
                <a:ea typeface="微软雅黑" panose="020B0503020204020204" charset="-122"/>
              </a:rPr>
              <a:t>用户的要求</a:t>
            </a:r>
          </a:p>
        </p:txBody>
      </p:sp>
      <p:sp>
        <p:nvSpPr>
          <p:cNvPr id="75" name="文本框 63"/>
          <p:cNvSpPr txBox="1"/>
          <p:nvPr/>
        </p:nvSpPr>
        <p:spPr>
          <a:xfrm>
            <a:off x="4256888" y="5466719"/>
            <a:ext cx="4045586" cy="369332"/>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dirty="0">
                <a:latin typeface="微软雅黑" panose="020B0503020204020204" charset="-122"/>
                <a:ea typeface="微软雅黑" panose="020B0503020204020204" charset="-122"/>
              </a:rPr>
              <a:t>程序员的知识</a:t>
            </a:r>
          </a:p>
        </p:txBody>
      </p:sp>
      <p:sp>
        <p:nvSpPr>
          <p:cNvPr id="76" name="椭圆 75"/>
          <p:cNvSpPr/>
          <p:nvPr/>
        </p:nvSpPr>
        <p:spPr>
          <a:xfrm rot="10800000">
            <a:off x="9627084" y="3914144"/>
            <a:ext cx="609600" cy="60960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Times New Roman" panose="02020603050405020304" pitchFamily="18" charset="0"/>
              <a:ea typeface="+mn-ea"/>
              <a:cs typeface="+mn-cs"/>
            </a:endParaRPr>
          </a:p>
        </p:txBody>
      </p:sp>
      <p:sp>
        <p:nvSpPr>
          <p:cNvPr id="77" name="文本框 46"/>
          <p:cNvSpPr txBox="1"/>
          <p:nvPr/>
        </p:nvSpPr>
        <p:spPr>
          <a:xfrm>
            <a:off x="9736939" y="3936369"/>
            <a:ext cx="531495" cy="483235"/>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3</a:t>
            </a:r>
            <a:endParaRPr lang="zh-CN" altLang="en-US" sz="2400" b="1" dirty="0">
              <a:solidFill>
                <a:schemeClr val="bg1"/>
              </a:solidFill>
              <a:latin typeface="微软雅黑" panose="020B0503020204020204" charset="-122"/>
              <a:ea typeface="微软雅黑" panose="020B0503020204020204" charset="-122"/>
            </a:endParaRPr>
          </a:p>
        </p:txBody>
      </p:sp>
      <p:grpSp>
        <p:nvGrpSpPr>
          <p:cNvPr id="28" name="组合 6"/>
          <p:cNvGrpSpPr/>
          <p:nvPr/>
        </p:nvGrpSpPr>
        <p:grpSpPr>
          <a:xfrm>
            <a:off x="809625" y="2145646"/>
            <a:ext cx="2247473" cy="741581"/>
            <a:chOff x="508000" y="3196191"/>
            <a:chExt cx="2247450" cy="741581"/>
          </a:xfrm>
        </p:grpSpPr>
        <p:sp>
          <p:nvSpPr>
            <p:cNvPr id="30" name="TextBox 1"/>
            <p:cNvSpPr txBox="1">
              <a:spLocks noChangeArrowheads="1"/>
            </p:cNvSpPr>
            <p:nvPr/>
          </p:nvSpPr>
          <p:spPr bwMode="auto">
            <a:xfrm>
              <a:off x="508000" y="3196191"/>
              <a:ext cx="36419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2</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31" name="直接连接符 30"/>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32" name="矩形 7"/>
            <p:cNvSpPr>
              <a:spLocks noChangeArrowheads="1"/>
            </p:cNvSpPr>
            <p:nvPr/>
          </p:nvSpPr>
          <p:spPr bwMode="auto">
            <a:xfrm>
              <a:off x="960435" y="3291441"/>
              <a:ext cx="179501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程序设计语言的选用标准</a:t>
              </a:r>
            </a:p>
          </p:txBody>
        </p:sp>
      </p:grpSp>
    </p:spTree>
  </p:cSld>
  <p:clrMapOvr>
    <a:masterClrMapping/>
  </p:clrMapOvr>
  <p:transition>
    <p:pull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en-US" dirty="0"/>
              <a:t>4.1 </a:t>
            </a:r>
            <a:r>
              <a:rPr lang="zh-CN" altLang="en-US" dirty="0"/>
              <a:t>结构化程序设计</a:t>
            </a:r>
          </a:p>
        </p:txBody>
      </p:sp>
      <p:sp>
        <p:nvSpPr>
          <p:cNvPr id="8" name="文本占位符 7">
            <a:extLst>
              <a:ext uri="{FF2B5EF4-FFF2-40B4-BE49-F238E27FC236}">
                <a16:creationId xmlns:a16="http://schemas.microsoft.com/office/drawing/2014/main" id="{5FF05712-6C50-B357-FAD3-B117F61D51A8}"/>
              </a:ext>
            </a:extLst>
          </p:cNvPr>
          <p:cNvSpPr>
            <a:spLocks noGrp="1"/>
          </p:cNvSpPr>
          <p:nvPr>
            <p:ph type="body" sz="quarter" idx="10"/>
          </p:nvPr>
        </p:nvSpPr>
        <p:spPr>
          <a:xfrm>
            <a:off x="696000" y="1322832"/>
            <a:ext cx="5400000" cy="400110"/>
          </a:xfrm>
        </p:spPr>
        <p:txBody>
          <a:bodyPr/>
          <a:lstStyle/>
          <a:p>
            <a:r>
              <a:rPr lang="en-US" altLang="zh-CN" dirty="0"/>
              <a:t>4.1.1 </a:t>
            </a:r>
            <a:r>
              <a:rPr lang="zh-CN" altLang="en-US" dirty="0"/>
              <a:t>程序设计语言的选择</a:t>
            </a:r>
            <a:r>
              <a:rPr lang="en-US" altLang="zh-CN" dirty="0"/>
              <a:t>-</a:t>
            </a:r>
            <a:r>
              <a:rPr lang="zh-CN" altLang="en-US" dirty="0"/>
              <a:t>应用领域</a:t>
            </a:r>
          </a:p>
        </p:txBody>
      </p:sp>
      <p:sp>
        <p:nvSpPr>
          <p:cNvPr id="6" name="文本占位符 5">
            <a:extLst>
              <a:ext uri="{FF2B5EF4-FFF2-40B4-BE49-F238E27FC236}">
                <a16:creationId xmlns:a16="http://schemas.microsoft.com/office/drawing/2014/main" id="{B3664F7C-4E3B-1DDB-FCA3-2D5226A3B0FC}"/>
              </a:ext>
            </a:extLst>
          </p:cNvPr>
          <p:cNvSpPr>
            <a:spLocks noGrp="1"/>
          </p:cNvSpPr>
          <p:nvPr>
            <p:ph type="body" sz="quarter" idx="11"/>
          </p:nvPr>
        </p:nvSpPr>
        <p:spPr>
          <a:xfrm>
            <a:off x="6096000" y="360128"/>
            <a:ext cx="5760000" cy="400110"/>
          </a:xfrm>
        </p:spPr>
        <p:txBody>
          <a:bodyPr/>
          <a:lstStyle/>
          <a:p>
            <a:r>
              <a:rPr lang="en-US" altLang="zh-CN" dirty="0"/>
              <a:t>Structured Design</a:t>
            </a:r>
            <a:endParaRPr lang="zh-CN" altLang="en-US" dirty="0"/>
          </a:p>
        </p:txBody>
      </p:sp>
      <p:sp>
        <p:nvSpPr>
          <p:cNvPr id="100" name="文本框 99"/>
          <p:cNvSpPr txBox="1"/>
          <p:nvPr/>
        </p:nvSpPr>
        <p:spPr>
          <a:xfrm>
            <a:off x="1422400" y="1930400"/>
            <a:ext cx="10329545" cy="418320"/>
          </a:xfrm>
          <a:prstGeom prst="rect">
            <a:avLst/>
          </a:prstGeom>
          <a:noFill/>
          <a:ln w="9525">
            <a:noFill/>
          </a:ln>
        </p:spPr>
        <p:txBody>
          <a:bodyPr wrap="square">
            <a:spAutoFit/>
          </a:bodyPr>
          <a:lstStyle/>
          <a:p>
            <a:pPr marL="0" indent="0" algn="l" fontAlgn="auto">
              <a:lnSpc>
                <a:spcPct val="130000"/>
              </a:lnSpc>
            </a:pPr>
            <a:r>
              <a:rPr lang="en-US" altLang="zh-CN" b="0" u="none" dirty="0">
                <a:latin typeface="微软雅黑 Light" panose="020B0502040204020203" pitchFamily="34" charset="-122"/>
                <a:ea typeface="微软雅黑 Light" panose="020B0502040204020203" pitchFamily="34" charset="-122"/>
                <a:cs typeface="宋体" panose="02010600030101010101" pitchFamily="2" charset="-122"/>
              </a:rPr>
              <a:t>    </a:t>
            </a:r>
            <a:endParaRPr lang="zh-CN" altLang="en-US" dirty="0">
              <a:latin typeface="Times New Roman" panose="02020603050405020304" pitchFamily="18" charset="0"/>
            </a:endParaRPr>
          </a:p>
        </p:txBody>
      </p:sp>
      <p:sp>
        <p:nvSpPr>
          <p:cNvPr id="7" name="文本框 6"/>
          <p:cNvSpPr txBox="1"/>
          <p:nvPr/>
        </p:nvSpPr>
        <p:spPr>
          <a:xfrm>
            <a:off x="768972" y="2397760"/>
            <a:ext cx="461665" cy="3062698"/>
          </a:xfrm>
          <a:prstGeom prst="rect">
            <a:avLst/>
          </a:prstGeom>
          <a:noFill/>
        </p:spPr>
        <p:txBody>
          <a:bodyPr vert="eaVert" wrap="none" rtlCol="0">
            <a:spAutoFit/>
          </a:bodyPr>
          <a:lstStyle/>
          <a:p>
            <a:r>
              <a:rPr lang="en-US" altLang="zh-CN" spc="160" dirty="0">
                <a:solidFill>
                  <a:schemeClr val="bg1"/>
                </a:solidFill>
                <a:latin typeface="微软雅黑" panose="020B0503020204020204" charset="-122"/>
                <a:ea typeface="微软雅黑" panose="020B0503020204020204" charset="-122"/>
              </a:rPr>
              <a:t>4.1.1 </a:t>
            </a:r>
            <a:r>
              <a:rPr lang="zh-CN" altLang="en-US" spc="160" dirty="0">
                <a:solidFill>
                  <a:schemeClr val="bg1"/>
                </a:solidFill>
                <a:latin typeface="微软雅黑" panose="020B0503020204020204" charset="-122"/>
                <a:ea typeface="微软雅黑" panose="020B0503020204020204" charset="-122"/>
              </a:rPr>
              <a:t>程序设计语言的选择</a:t>
            </a:r>
          </a:p>
        </p:txBody>
      </p:sp>
      <p:sp>
        <p:nvSpPr>
          <p:cNvPr id="2" name="文本框 1"/>
          <p:cNvSpPr txBox="1"/>
          <p:nvPr/>
        </p:nvSpPr>
        <p:spPr>
          <a:xfrm>
            <a:off x="754063" y="1918475"/>
            <a:ext cx="10798188" cy="3299429"/>
          </a:xfrm>
          <a:prstGeom prst="rect">
            <a:avLst/>
          </a:prstGeom>
          <a:noFill/>
        </p:spPr>
        <p:txBody>
          <a:bodyPr wrap="square" rtlCol="0" anchor="t">
            <a:spAutoFit/>
          </a:bodyPr>
          <a:lstStyle/>
          <a:p>
            <a:pPr fontAlgn="auto">
              <a:lnSpc>
                <a:spcPct val="130000"/>
              </a:lnSpc>
            </a:pPr>
            <a:r>
              <a:rPr dirty="0" err="1">
                <a:solidFill>
                  <a:srgbClr val="0070C0"/>
                </a:solidFill>
              </a:rPr>
              <a:t>科学工程计算</a:t>
            </a:r>
            <a:endParaRPr lang="en-US" dirty="0"/>
          </a:p>
          <a:p>
            <a:pPr fontAlgn="auto">
              <a:lnSpc>
                <a:spcPct val="130000"/>
              </a:lnSpc>
            </a:pPr>
            <a:r>
              <a:rPr dirty="0"/>
              <a:t>需要大量的标准库函数，以便处理复杂的数值计算，可供选用的语言有Fortran，Pascal，C等。Pascal语言是第一个体现结构化编程思想的语言，用其编程有助于培养良好的编程风格，它广泛应用于教学、管理、系统软件的开发。</a:t>
            </a:r>
          </a:p>
          <a:p>
            <a:pPr fontAlgn="auto">
              <a:lnSpc>
                <a:spcPct val="130000"/>
              </a:lnSpc>
            </a:pPr>
            <a:r>
              <a:rPr dirty="0" err="1">
                <a:solidFill>
                  <a:srgbClr val="0070C0"/>
                </a:solidFill>
              </a:rPr>
              <a:t>数据处理与数据库应用</a:t>
            </a:r>
            <a:endParaRPr lang="en-US" dirty="0"/>
          </a:p>
          <a:p>
            <a:pPr fontAlgn="auto">
              <a:lnSpc>
                <a:spcPct val="130000"/>
              </a:lnSpc>
            </a:pPr>
            <a:r>
              <a:rPr dirty="0"/>
              <a:t>COBOL语言广泛用于商业数据处理。SQL是一种数据库查询和程序设计语言，用于存取数据以及查询、更新和管理关系数据库系统，它属于第4代语言（4GL）。4GL是描述性语言，编码时只需说明“做什么”，无需具体指明“怎么做”，最初为数据库查询语言，只支持简单的数值运算，适合于对数据库进行操作。dBASE，FoxBASE，FoxPro，Visual </a:t>
            </a:r>
            <a:r>
              <a:rPr dirty="0" err="1"/>
              <a:t>FoxPro，Access，Delphi，PowerBuilder都是数据库语言</a:t>
            </a:r>
            <a:r>
              <a:rPr dirty="0"/>
              <a:t>。</a:t>
            </a:r>
          </a:p>
        </p:txBody>
      </p:sp>
    </p:spTree>
  </p:cSld>
  <p:clrMapOvr>
    <a:masterClrMapping/>
  </p:clrMapOvr>
  <p:transition>
    <p:pull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en-US" dirty="0"/>
              <a:t>4.1 </a:t>
            </a:r>
            <a:r>
              <a:rPr lang="zh-CN" altLang="en-US" dirty="0"/>
              <a:t>结构化程序设计</a:t>
            </a:r>
          </a:p>
        </p:txBody>
      </p:sp>
      <p:sp>
        <p:nvSpPr>
          <p:cNvPr id="7" name="文本占位符 6">
            <a:extLst>
              <a:ext uri="{FF2B5EF4-FFF2-40B4-BE49-F238E27FC236}">
                <a16:creationId xmlns:a16="http://schemas.microsoft.com/office/drawing/2014/main" id="{53004D5A-D65E-F292-9F5E-33F63B6F0901}"/>
              </a:ext>
            </a:extLst>
          </p:cNvPr>
          <p:cNvSpPr>
            <a:spLocks noGrp="1"/>
          </p:cNvSpPr>
          <p:nvPr>
            <p:ph type="body" sz="quarter" idx="10"/>
          </p:nvPr>
        </p:nvSpPr>
        <p:spPr>
          <a:xfrm>
            <a:off x="696000" y="1322832"/>
            <a:ext cx="5400000" cy="400110"/>
          </a:xfrm>
        </p:spPr>
        <p:txBody>
          <a:bodyPr/>
          <a:lstStyle/>
          <a:p>
            <a:r>
              <a:rPr lang="en-US" altLang="zh-CN" dirty="0"/>
              <a:t>4.1.1 </a:t>
            </a:r>
            <a:r>
              <a:rPr lang="zh-CN" altLang="en-US" dirty="0"/>
              <a:t>程序设计语言的选择</a:t>
            </a:r>
            <a:r>
              <a:rPr lang="en-US" altLang="zh-CN" dirty="0"/>
              <a:t>-</a:t>
            </a:r>
            <a:r>
              <a:rPr lang="zh-CN" altLang="en-US" dirty="0"/>
              <a:t>应用领域</a:t>
            </a:r>
          </a:p>
        </p:txBody>
      </p:sp>
      <p:sp>
        <p:nvSpPr>
          <p:cNvPr id="6" name="文本占位符 5">
            <a:extLst>
              <a:ext uri="{FF2B5EF4-FFF2-40B4-BE49-F238E27FC236}">
                <a16:creationId xmlns:a16="http://schemas.microsoft.com/office/drawing/2014/main" id="{0AA49379-BD9C-EA44-9530-7FED88C263A0}"/>
              </a:ext>
            </a:extLst>
          </p:cNvPr>
          <p:cNvSpPr>
            <a:spLocks noGrp="1"/>
          </p:cNvSpPr>
          <p:nvPr>
            <p:ph type="body" sz="quarter" idx="11"/>
          </p:nvPr>
        </p:nvSpPr>
        <p:spPr/>
        <p:txBody>
          <a:bodyPr/>
          <a:lstStyle/>
          <a:p>
            <a:r>
              <a:rPr lang="en-US" altLang="zh-CN" dirty="0"/>
              <a:t>Structured Design</a:t>
            </a:r>
            <a:endParaRPr lang="zh-CN" altLang="en-US" dirty="0"/>
          </a:p>
        </p:txBody>
      </p:sp>
      <p:sp>
        <p:nvSpPr>
          <p:cNvPr id="100" name="文本框 99"/>
          <p:cNvSpPr txBox="1"/>
          <p:nvPr/>
        </p:nvSpPr>
        <p:spPr>
          <a:xfrm>
            <a:off x="1422400" y="1930400"/>
            <a:ext cx="10329545" cy="418320"/>
          </a:xfrm>
          <a:prstGeom prst="rect">
            <a:avLst/>
          </a:prstGeom>
          <a:noFill/>
          <a:ln w="9525">
            <a:noFill/>
          </a:ln>
        </p:spPr>
        <p:txBody>
          <a:bodyPr wrap="square">
            <a:spAutoFit/>
          </a:bodyPr>
          <a:lstStyle/>
          <a:p>
            <a:pPr marL="0" indent="0" algn="l" fontAlgn="auto">
              <a:lnSpc>
                <a:spcPct val="130000"/>
              </a:lnSpc>
            </a:pPr>
            <a:r>
              <a:rPr lang="en-US" altLang="zh-CN" b="0" u="none" dirty="0">
                <a:latin typeface="微软雅黑 Light" panose="020B0502040204020203" pitchFamily="34" charset="-122"/>
                <a:ea typeface="微软雅黑 Light" panose="020B0502040204020203" pitchFamily="34" charset="-122"/>
                <a:cs typeface="宋体" panose="02010600030101010101" pitchFamily="2" charset="-122"/>
              </a:rPr>
              <a:t>    </a:t>
            </a:r>
            <a:endParaRPr lang="zh-CN" altLang="en-US" dirty="0">
              <a:latin typeface="Times New Roman" panose="02020603050405020304" pitchFamily="18" charset="0"/>
            </a:endParaRPr>
          </a:p>
        </p:txBody>
      </p:sp>
      <p:sp>
        <p:nvSpPr>
          <p:cNvPr id="2" name="文本框 1"/>
          <p:cNvSpPr txBox="1"/>
          <p:nvPr/>
        </p:nvSpPr>
        <p:spPr>
          <a:xfrm>
            <a:off x="754063" y="1930400"/>
            <a:ext cx="10691177" cy="4379725"/>
          </a:xfrm>
          <a:prstGeom prst="rect">
            <a:avLst/>
          </a:prstGeom>
          <a:noFill/>
        </p:spPr>
        <p:txBody>
          <a:bodyPr wrap="square" rtlCol="0" anchor="t">
            <a:spAutoFit/>
          </a:bodyPr>
          <a:lstStyle/>
          <a:p>
            <a:pPr fontAlgn="auto">
              <a:lnSpc>
                <a:spcPct val="130000"/>
              </a:lnSpc>
            </a:pPr>
            <a:r>
              <a:rPr dirty="0" err="1">
                <a:solidFill>
                  <a:srgbClr val="0070C0"/>
                </a:solidFill>
                <a:sym typeface="+mn-ea"/>
              </a:rPr>
              <a:t>实时处理</a:t>
            </a:r>
            <a:endParaRPr lang="en-US" dirty="0">
              <a:sym typeface="+mn-ea"/>
            </a:endParaRPr>
          </a:p>
          <a:p>
            <a:pPr fontAlgn="auto">
              <a:lnSpc>
                <a:spcPct val="130000"/>
              </a:lnSpc>
            </a:pPr>
            <a:r>
              <a:rPr dirty="0">
                <a:sym typeface="+mn-ea"/>
              </a:rPr>
              <a:t>实时处理软件一般对性能的要求很高，可选用的语言有汇编语言、Ada语言等。其中，汇编语言是面向机器的语言，可以对外部设备的一些接口进行操作；Ada适合于实时并行系统。此外还有Mesa，Occam，Fortran 90，Linda，以及用于通讯领域的程序设计语言都有实时功能，如Gypsy，CHILL。</a:t>
            </a:r>
            <a:endParaRPr dirty="0"/>
          </a:p>
          <a:p>
            <a:pPr fontAlgn="auto">
              <a:lnSpc>
                <a:spcPct val="130000"/>
              </a:lnSpc>
            </a:pPr>
            <a:r>
              <a:rPr dirty="0" err="1"/>
              <a:t>系统软件</a:t>
            </a:r>
            <a:endParaRPr lang="en-US" dirty="0"/>
          </a:p>
          <a:p>
            <a:pPr fontAlgn="auto">
              <a:lnSpc>
                <a:spcPct val="130000"/>
              </a:lnSpc>
            </a:pPr>
            <a:r>
              <a:rPr dirty="0"/>
              <a:t>此类软件支持与硬件相关的低级操作。编写系统软件（如操作系统，编译、解释器，数据库管理系统，网络接口程序）时，可以选用C语言、BLISS语言、Forth语言、汇编语言、Pascal语言和Ada语言。</a:t>
            </a:r>
          </a:p>
          <a:p>
            <a:pPr fontAlgn="auto">
              <a:lnSpc>
                <a:spcPct val="130000"/>
              </a:lnSpc>
            </a:pPr>
            <a:r>
              <a:rPr dirty="0" err="1"/>
              <a:t>人工智能</a:t>
            </a:r>
            <a:endParaRPr lang="en-US" dirty="0"/>
          </a:p>
          <a:p>
            <a:pPr fontAlgn="auto">
              <a:lnSpc>
                <a:spcPct val="130000"/>
              </a:lnSpc>
            </a:pPr>
            <a:r>
              <a:rPr dirty="0"/>
              <a:t>如果要完成知识库系统、专家系统、决策支持系统、推理工程、语言识别、模式识别等人工智能领域内的系统，应选择Prolog，Lisp等语言。</a:t>
            </a:r>
          </a:p>
          <a:p>
            <a:pPr fontAlgn="auto">
              <a:lnSpc>
                <a:spcPct val="130000"/>
              </a:lnSpc>
            </a:pPr>
            <a:r>
              <a:rPr dirty="0" err="1"/>
              <a:t>网络应用系统</a:t>
            </a:r>
            <a:endParaRPr lang="en-US" dirty="0"/>
          </a:p>
          <a:p>
            <a:pPr fontAlgn="auto">
              <a:lnSpc>
                <a:spcPct val="130000"/>
              </a:lnSpc>
            </a:pPr>
            <a:r>
              <a:rPr dirty="0" err="1"/>
              <a:t>Java在网络上应用广泛，可编制跨平台的软件</a:t>
            </a:r>
            <a:r>
              <a:rPr dirty="0"/>
              <a:t>。</a:t>
            </a:r>
          </a:p>
        </p:txBody>
      </p:sp>
    </p:spTree>
  </p:cSld>
  <p:clrMapOvr>
    <a:masterClrMapping/>
  </p:clrMapOvr>
  <p:transition>
    <p:pull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en-US" dirty="0"/>
              <a:t>4.1 </a:t>
            </a:r>
            <a:r>
              <a:rPr lang="zh-CN" altLang="en-US" dirty="0"/>
              <a:t>结构化程序设计</a:t>
            </a:r>
          </a:p>
        </p:txBody>
      </p:sp>
      <p:sp>
        <p:nvSpPr>
          <p:cNvPr id="7" name="文本占位符 6">
            <a:extLst>
              <a:ext uri="{FF2B5EF4-FFF2-40B4-BE49-F238E27FC236}">
                <a16:creationId xmlns:a16="http://schemas.microsoft.com/office/drawing/2014/main" id="{210177CD-F14C-8EAC-FF59-449B4EE8D962}"/>
              </a:ext>
            </a:extLst>
          </p:cNvPr>
          <p:cNvSpPr>
            <a:spLocks noGrp="1"/>
          </p:cNvSpPr>
          <p:nvPr>
            <p:ph type="body" sz="quarter" idx="10"/>
          </p:nvPr>
        </p:nvSpPr>
        <p:spPr>
          <a:xfrm>
            <a:off x="696000" y="1322832"/>
            <a:ext cx="5400000" cy="400110"/>
          </a:xfrm>
        </p:spPr>
        <p:txBody>
          <a:bodyPr/>
          <a:lstStyle/>
          <a:p>
            <a:r>
              <a:rPr lang="en-US" altLang="zh-CN" dirty="0"/>
              <a:t>4.1.1 </a:t>
            </a:r>
            <a:r>
              <a:rPr lang="zh-CN" altLang="en-US" dirty="0"/>
              <a:t>程序设计语言的选择</a:t>
            </a:r>
            <a:r>
              <a:rPr lang="en-US" altLang="zh-CN" dirty="0"/>
              <a:t>-</a:t>
            </a:r>
            <a:r>
              <a:rPr lang="zh-CN" altLang="en-US" dirty="0"/>
              <a:t>开发方法</a:t>
            </a:r>
          </a:p>
        </p:txBody>
      </p:sp>
      <p:sp>
        <p:nvSpPr>
          <p:cNvPr id="8" name="文本占位符 7">
            <a:extLst>
              <a:ext uri="{FF2B5EF4-FFF2-40B4-BE49-F238E27FC236}">
                <a16:creationId xmlns:a16="http://schemas.microsoft.com/office/drawing/2014/main" id="{BF77C286-DC2D-D35A-0CC5-A8DC527423D3}"/>
              </a:ext>
            </a:extLst>
          </p:cNvPr>
          <p:cNvSpPr>
            <a:spLocks noGrp="1"/>
          </p:cNvSpPr>
          <p:nvPr>
            <p:ph type="body" sz="quarter" idx="11"/>
          </p:nvPr>
        </p:nvSpPr>
        <p:spPr>
          <a:xfrm>
            <a:off x="6096000" y="360128"/>
            <a:ext cx="5760000" cy="400110"/>
          </a:xfrm>
        </p:spPr>
        <p:txBody>
          <a:bodyPr/>
          <a:lstStyle/>
          <a:p>
            <a:r>
              <a:rPr lang="en-US" altLang="zh-CN" dirty="0"/>
              <a:t>Structured Design</a:t>
            </a:r>
            <a:endParaRPr lang="zh-CN" altLang="en-US" dirty="0"/>
          </a:p>
        </p:txBody>
      </p:sp>
      <p:sp>
        <p:nvSpPr>
          <p:cNvPr id="100" name="文本框 99"/>
          <p:cNvSpPr txBox="1"/>
          <p:nvPr/>
        </p:nvSpPr>
        <p:spPr>
          <a:xfrm>
            <a:off x="1422400" y="1930400"/>
            <a:ext cx="10329545" cy="418320"/>
          </a:xfrm>
          <a:prstGeom prst="rect">
            <a:avLst/>
          </a:prstGeom>
          <a:noFill/>
          <a:ln w="9525">
            <a:noFill/>
          </a:ln>
        </p:spPr>
        <p:txBody>
          <a:bodyPr wrap="square">
            <a:spAutoFit/>
          </a:bodyPr>
          <a:lstStyle/>
          <a:p>
            <a:pPr marL="0" indent="0" algn="l" fontAlgn="auto">
              <a:lnSpc>
                <a:spcPct val="130000"/>
              </a:lnSpc>
            </a:pPr>
            <a:r>
              <a:rPr lang="en-US" altLang="zh-CN" b="0" u="none" dirty="0">
                <a:latin typeface="微软雅黑 Light" panose="020B0502040204020203" pitchFamily="34" charset="-122"/>
                <a:ea typeface="微软雅黑 Light" panose="020B0502040204020203" pitchFamily="34" charset="-122"/>
                <a:cs typeface="宋体" panose="02010600030101010101" pitchFamily="2" charset="-122"/>
              </a:rPr>
              <a:t>    </a:t>
            </a:r>
            <a:endParaRPr lang="zh-CN" altLang="en-US" dirty="0">
              <a:latin typeface="Times New Roman" panose="02020603050405020304" pitchFamily="18" charset="0"/>
            </a:endParaRPr>
          </a:p>
        </p:txBody>
      </p:sp>
      <p:sp>
        <p:nvSpPr>
          <p:cNvPr id="2" name="文本框 1"/>
          <p:cNvSpPr txBox="1"/>
          <p:nvPr/>
        </p:nvSpPr>
        <p:spPr>
          <a:xfrm>
            <a:off x="802640" y="2753360"/>
            <a:ext cx="10417175" cy="1138838"/>
          </a:xfrm>
          <a:prstGeom prst="rect">
            <a:avLst/>
          </a:prstGeom>
          <a:noFill/>
        </p:spPr>
        <p:txBody>
          <a:bodyPr wrap="square" rtlCol="0" anchor="t">
            <a:spAutoFit/>
          </a:bodyPr>
          <a:lstStyle/>
          <a:p>
            <a:pPr fontAlgn="auto">
              <a:lnSpc>
                <a:spcPct val="130000"/>
              </a:lnSpc>
            </a:pPr>
            <a:r>
              <a:rPr lang="en-US" dirty="0">
                <a:sym typeface="+mn-ea"/>
              </a:rPr>
              <a:t>       </a:t>
            </a:r>
            <a:r>
              <a:rPr dirty="0">
                <a:sym typeface="+mn-ea"/>
              </a:rPr>
              <a:t>有时编程语言的选择依赖于开发的方法，如果要用快速原型模型来开发，会要求能快速实现原型，因此宜采用4GL。如果是面向对象方法，宜采用面向对象的语言编程。例如，C++，Smalltalk，Eiffel，Actor，Ada，Simula-67都是面向对象型语言。Object Pascal，Objective-C是混合型面向对象语言。</a:t>
            </a:r>
          </a:p>
        </p:txBody>
      </p:sp>
    </p:spTree>
  </p:cSld>
  <p:clrMapOvr>
    <a:masterClrMapping/>
  </p:clrMapOvr>
  <p:transition>
    <p:pull di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en-US" dirty="0"/>
              <a:t>4.1 </a:t>
            </a:r>
            <a:r>
              <a:rPr lang="zh-CN" altLang="en-US" dirty="0"/>
              <a:t>结构化程序设计</a:t>
            </a:r>
          </a:p>
        </p:txBody>
      </p:sp>
      <p:sp>
        <p:nvSpPr>
          <p:cNvPr id="7" name="文本占位符 6">
            <a:extLst>
              <a:ext uri="{FF2B5EF4-FFF2-40B4-BE49-F238E27FC236}">
                <a16:creationId xmlns:a16="http://schemas.microsoft.com/office/drawing/2014/main" id="{801362F8-FCDE-C634-1181-4EE5D008D5B5}"/>
              </a:ext>
            </a:extLst>
          </p:cNvPr>
          <p:cNvSpPr>
            <a:spLocks noGrp="1"/>
          </p:cNvSpPr>
          <p:nvPr>
            <p:ph type="body" sz="quarter" idx="10"/>
          </p:nvPr>
        </p:nvSpPr>
        <p:spPr>
          <a:xfrm>
            <a:off x="696000" y="1322832"/>
            <a:ext cx="5400000" cy="400110"/>
          </a:xfrm>
        </p:spPr>
        <p:txBody>
          <a:bodyPr/>
          <a:lstStyle/>
          <a:p>
            <a:r>
              <a:rPr lang="en-US" altLang="zh-CN" dirty="0"/>
              <a:t>4.1.1 </a:t>
            </a:r>
            <a:r>
              <a:rPr lang="zh-CN" altLang="en-US" dirty="0"/>
              <a:t>程序设计语言的选择</a:t>
            </a:r>
            <a:r>
              <a:rPr lang="en-US" altLang="zh-CN" dirty="0"/>
              <a:t>-</a:t>
            </a:r>
            <a:r>
              <a:rPr lang="zh-CN" altLang="en-US" dirty="0"/>
              <a:t>开发环境</a:t>
            </a:r>
          </a:p>
        </p:txBody>
      </p:sp>
      <p:sp>
        <p:nvSpPr>
          <p:cNvPr id="11" name="文本占位符 10">
            <a:extLst>
              <a:ext uri="{FF2B5EF4-FFF2-40B4-BE49-F238E27FC236}">
                <a16:creationId xmlns:a16="http://schemas.microsoft.com/office/drawing/2014/main" id="{34CD536C-82C8-E7E8-526C-B714CA734356}"/>
              </a:ext>
            </a:extLst>
          </p:cNvPr>
          <p:cNvSpPr>
            <a:spLocks noGrp="1"/>
          </p:cNvSpPr>
          <p:nvPr>
            <p:ph type="body" sz="quarter" idx="11"/>
          </p:nvPr>
        </p:nvSpPr>
        <p:spPr>
          <a:xfrm>
            <a:off x="6096000" y="360128"/>
            <a:ext cx="5760000" cy="400110"/>
          </a:xfrm>
        </p:spPr>
        <p:txBody>
          <a:bodyPr/>
          <a:lstStyle/>
          <a:p>
            <a:r>
              <a:rPr lang="en-US" altLang="zh-CN" dirty="0"/>
              <a:t>Structured Design</a:t>
            </a:r>
            <a:endParaRPr lang="zh-CN" altLang="en-US" dirty="0"/>
          </a:p>
        </p:txBody>
      </p:sp>
      <p:sp>
        <p:nvSpPr>
          <p:cNvPr id="100" name="文本框 99"/>
          <p:cNvSpPr txBox="1"/>
          <p:nvPr/>
        </p:nvSpPr>
        <p:spPr>
          <a:xfrm>
            <a:off x="1422400" y="1930400"/>
            <a:ext cx="10329545" cy="418320"/>
          </a:xfrm>
          <a:prstGeom prst="rect">
            <a:avLst/>
          </a:prstGeom>
          <a:noFill/>
          <a:ln w="9525">
            <a:noFill/>
          </a:ln>
        </p:spPr>
        <p:txBody>
          <a:bodyPr wrap="square">
            <a:spAutoFit/>
          </a:bodyPr>
          <a:lstStyle/>
          <a:p>
            <a:pPr marL="0" indent="0" algn="l" fontAlgn="auto">
              <a:lnSpc>
                <a:spcPct val="130000"/>
              </a:lnSpc>
            </a:pPr>
            <a:r>
              <a:rPr lang="en-US" altLang="zh-CN" b="0" u="none" dirty="0">
                <a:latin typeface="微软雅黑 Light" panose="020B0502040204020203" pitchFamily="34" charset="-122"/>
                <a:ea typeface="微软雅黑 Light" panose="020B0502040204020203" pitchFamily="34" charset="-122"/>
                <a:cs typeface="宋体" panose="02010600030101010101" pitchFamily="2" charset="-122"/>
              </a:rPr>
              <a:t>    </a:t>
            </a:r>
            <a:endParaRPr lang="zh-CN" altLang="en-US" dirty="0">
              <a:latin typeface="Times New Roman" panose="02020603050405020304" pitchFamily="18" charset="0"/>
            </a:endParaRPr>
          </a:p>
        </p:txBody>
      </p:sp>
      <p:sp>
        <p:nvSpPr>
          <p:cNvPr id="2" name="文本框 1"/>
          <p:cNvSpPr txBox="1"/>
          <p:nvPr/>
        </p:nvSpPr>
        <p:spPr>
          <a:xfrm>
            <a:off x="768972" y="2209800"/>
            <a:ext cx="10920108" cy="2974148"/>
          </a:xfrm>
          <a:prstGeom prst="rect">
            <a:avLst/>
          </a:prstGeom>
          <a:noFill/>
        </p:spPr>
        <p:txBody>
          <a:bodyPr wrap="square" rtlCol="0" anchor="t">
            <a:spAutoFit/>
          </a:bodyPr>
          <a:lstStyle/>
          <a:p>
            <a:pPr fontAlgn="auto">
              <a:lnSpc>
                <a:spcPct val="130000"/>
              </a:lnSpc>
            </a:pPr>
            <a:r>
              <a:rPr lang="en-US" dirty="0">
                <a:sym typeface="+mn-ea"/>
              </a:rPr>
              <a:t>       </a:t>
            </a:r>
            <a:r>
              <a:rPr dirty="0">
                <a:sym typeface="+mn-ea"/>
              </a:rPr>
              <a:t>软件开发环境不同，所使用的编程语言也不同。Visual Basic，Visual C，Visual FoxPro（VFP），Delphi等都是可视化的软件开发工具，它们提供了强有力的调试功能，可以提高软件生产率，减少错误，有效提高软件质量。</a:t>
            </a:r>
          </a:p>
          <a:p>
            <a:pPr fontAlgn="auto">
              <a:lnSpc>
                <a:spcPct val="130000"/>
              </a:lnSpc>
            </a:pPr>
            <a:r>
              <a:rPr dirty="0">
                <a:sym typeface="+mn-ea"/>
              </a:rPr>
              <a:t>       开发移动应用软件时，如果基于的操作系统不同，可采用的编程语言也会有所不同。</a:t>
            </a:r>
          </a:p>
          <a:p>
            <a:pPr marL="342900" indent="-342900" fontAlgn="auto">
              <a:lnSpc>
                <a:spcPct val="130000"/>
              </a:lnSpc>
              <a:buClrTx/>
              <a:buFont typeface="Wingdings" panose="05000000000000000000" charset="0"/>
              <a:buChar char="Ø"/>
            </a:pPr>
            <a:r>
              <a:rPr dirty="0">
                <a:sym typeface="+mn-ea"/>
              </a:rPr>
              <a:t>Android是一种基于Linux内核、开放源代码的操作系统，主要用于移动设备，如智能手机、平板电脑、智能电视等。Android平台需要使用Java编程语言。</a:t>
            </a:r>
          </a:p>
          <a:p>
            <a:pPr marL="342900" indent="-342900" fontAlgn="auto">
              <a:lnSpc>
                <a:spcPct val="130000"/>
              </a:lnSpc>
              <a:buClrTx/>
              <a:buFont typeface="Wingdings" panose="05000000000000000000" charset="0"/>
              <a:buChar char="Ø"/>
            </a:pPr>
            <a:r>
              <a:rPr dirty="0">
                <a:sym typeface="+mn-ea"/>
              </a:rPr>
              <a:t>Apple公司的iOS移动操作系统需要使用Objective-C语言，新发布的语言是Swift。</a:t>
            </a:r>
          </a:p>
          <a:p>
            <a:pPr marL="342900" indent="-342900" fontAlgn="auto">
              <a:lnSpc>
                <a:spcPct val="130000"/>
              </a:lnSpc>
              <a:buClrTx/>
              <a:buFont typeface="Wingdings" panose="05000000000000000000" charset="0"/>
              <a:buChar char="Ø"/>
            </a:pPr>
            <a:r>
              <a:rPr dirty="0">
                <a:sym typeface="+mn-ea"/>
              </a:rPr>
              <a:t>Microsoft公司的Windows Phone操作系统所用的编程语言是C，C++，C#等。</a:t>
            </a:r>
          </a:p>
        </p:txBody>
      </p:sp>
    </p:spTree>
  </p:cSld>
  <p:clrMapOvr>
    <a:masterClrMapping/>
  </p:clrMapOvr>
  <p:transition>
    <p:pull di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en-US" dirty="0"/>
              <a:t>4.1 </a:t>
            </a:r>
            <a:r>
              <a:rPr lang="zh-CN" altLang="en-US" dirty="0"/>
              <a:t>结构化程序设计</a:t>
            </a:r>
          </a:p>
        </p:txBody>
      </p:sp>
      <p:sp>
        <p:nvSpPr>
          <p:cNvPr id="5" name="文本占位符 4">
            <a:extLst>
              <a:ext uri="{FF2B5EF4-FFF2-40B4-BE49-F238E27FC236}">
                <a16:creationId xmlns:a16="http://schemas.microsoft.com/office/drawing/2014/main" id="{7C7B4BF3-19DF-629A-12E6-D8AF53A3F27E}"/>
              </a:ext>
            </a:extLst>
          </p:cNvPr>
          <p:cNvSpPr>
            <a:spLocks noGrp="1"/>
          </p:cNvSpPr>
          <p:nvPr>
            <p:ph type="body" sz="quarter" idx="10"/>
          </p:nvPr>
        </p:nvSpPr>
        <p:spPr>
          <a:xfrm>
            <a:off x="696000" y="1322832"/>
            <a:ext cx="5400000" cy="400110"/>
          </a:xfrm>
        </p:spPr>
        <p:txBody>
          <a:bodyPr/>
          <a:lstStyle/>
          <a:p>
            <a:r>
              <a:rPr lang="en-US" altLang="zh-CN" dirty="0"/>
              <a:t>4.1.2 </a:t>
            </a:r>
            <a:r>
              <a:rPr lang="zh-CN" altLang="en-US" dirty="0"/>
              <a:t>程序设计风格</a:t>
            </a:r>
          </a:p>
        </p:txBody>
      </p:sp>
      <p:sp>
        <p:nvSpPr>
          <p:cNvPr id="6" name="文本占位符 5">
            <a:extLst>
              <a:ext uri="{FF2B5EF4-FFF2-40B4-BE49-F238E27FC236}">
                <a16:creationId xmlns:a16="http://schemas.microsoft.com/office/drawing/2014/main" id="{1F0ABD0E-0157-0125-D483-B57AB8CD920C}"/>
              </a:ext>
            </a:extLst>
          </p:cNvPr>
          <p:cNvSpPr>
            <a:spLocks noGrp="1"/>
          </p:cNvSpPr>
          <p:nvPr>
            <p:ph type="body" sz="quarter" idx="11"/>
          </p:nvPr>
        </p:nvSpPr>
        <p:spPr/>
        <p:txBody>
          <a:bodyPr/>
          <a:lstStyle/>
          <a:p>
            <a:endParaRPr lang="zh-CN" altLang="en-US"/>
          </a:p>
        </p:txBody>
      </p:sp>
      <p:sp>
        <p:nvSpPr>
          <p:cNvPr id="10" name="文本框 9"/>
          <p:cNvSpPr txBox="1"/>
          <p:nvPr>
            <p:custDataLst>
              <p:tags r:id="rId1"/>
            </p:custDataLst>
          </p:nvPr>
        </p:nvSpPr>
        <p:spPr>
          <a:xfrm>
            <a:off x="3888587" y="2544742"/>
            <a:ext cx="7075805" cy="778739"/>
          </a:xfrm>
          <a:prstGeom prst="rect">
            <a:avLst/>
          </a:prstGeom>
          <a:noFill/>
        </p:spPr>
        <p:txBody>
          <a:bodyPr wrap="square" lIns="36000" rIns="36000">
            <a:spAutoFit/>
          </a:bodyPr>
          <a:lstStyle/>
          <a:p>
            <a:pPr algn="just">
              <a:lnSpc>
                <a:spcPct val="130000"/>
              </a:lnSpc>
              <a:spcBef>
                <a:spcPts val="600"/>
              </a:spcBef>
              <a:defRPr/>
            </a:pPr>
            <a:r>
              <a:rPr lang="zh-CN" altLang="en-US" dirty="0"/>
              <a:t>结构化程序设计（SP）强调模块采用自上而下、逐步求精的设计方法，只使用顺序、选择和循环3种基本控制结构构造程序</a:t>
            </a:r>
          </a:p>
        </p:txBody>
      </p:sp>
      <p:sp>
        <p:nvSpPr>
          <p:cNvPr id="11" name="文本框 10"/>
          <p:cNvSpPr txBox="1"/>
          <p:nvPr>
            <p:custDataLst>
              <p:tags r:id="rId2"/>
            </p:custDataLst>
          </p:nvPr>
        </p:nvSpPr>
        <p:spPr>
          <a:xfrm>
            <a:off x="4414367" y="4016672"/>
            <a:ext cx="6664325" cy="778739"/>
          </a:xfrm>
          <a:prstGeom prst="rect">
            <a:avLst/>
          </a:prstGeom>
          <a:noFill/>
        </p:spPr>
        <p:txBody>
          <a:bodyPr wrap="square" lIns="36000" rIns="36000">
            <a:spAutoFit/>
          </a:bodyPr>
          <a:lstStyle/>
          <a:p>
            <a:pPr algn="just">
              <a:lnSpc>
                <a:spcPct val="130000"/>
              </a:lnSpc>
              <a:spcBef>
                <a:spcPts val="600"/>
              </a:spcBef>
              <a:defRPr/>
            </a:pPr>
            <a:r>
              <a:rPr lang="zh-CN" altLang="en-US" dirty="0"/>
              <a:t>结构化程序设计用顺序、选择和循环3种结构的有限次组合或嵌套，设计出每个模块都是单入口、单出口的结构化程序</a:t>
            </a:r>
          </a:p>
        </p:txBody>
      </p:sp>
      <p:grpSp>
        <p:nvGrpSpPr>
          <p:cNvPr id="12" name="组合 11">
            <a:extLst>
              <a:ext uri="{FF2B5EF4-FFF2-40B4-BE49-F238E27FC236}">
                <a16:creationId xmlns:a16="http://schemas.microsoft.com/office/drawing/2014/main" id="{903AA65F-3136-94BB-5FCD-BF09FC023F5A}"/>
              </a:ext>
            </a:extLst>
          </p:cNvPr>
          <p:cNvGrpSpPr/>
          <p:nvPr/>
        </p:nvGrpSpPr>
        <p:grpSpPr>
          <a:xfrm>
            <a:off x="689212" y="2445047"/>
            <a:ext cx="3483610" cy="3663950"/>
            <a:chOff x="689212" y="2445047"/>
            <a:chExt cx="3483610" cy="3663950"/>
          </a:xfrm>
        </p:grpSpPr>
        <p:sp>
          <p:nvSpPr>
            <p:cNvPr id="20" name="Oval 15"/>
            <p:cNvSpPr>
              <a:spLocks noChangeArrowheads="1"/>
            </p:cNvSpPr>
            <p:nvPr>
              <p:custDataLst>
                <p:tags r:id="rId4"/>
              </p:custDataLst>
            </p:nvPr>
          </p:nvSpPr>
          <p:spPr bwMode="auto">
            <a:xfrm>
              <a:off x="861932" y="2679997"/>
              <a:ext cx="3153410" cy="3182620"/>
            </a:xfrm>
            <a:prstGeom prst="ellipse">
              <a:avLst/>
            </a:prstGeom>
            <a:noFill/>
            <a:ln w="19050">
              <a:solidFill>
                <a:srgbClr val="00B0F0"/>
              </a:solidFill>
              <a:round/>
            </a:ln>
            <a:effectLst/>
            <a:extLst>
              <a:ext uri="{909E8E84-426E-40DD-AFC4-6F175D3DCCD1}">
                <a14:hiddenFill xmlns:a14="http://schemas.microsoft.com/office/drawing/2010/main">
                  <a:solidFill>
                    <a:srgbClr val="4F5A71"/>
                  </a:solid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22" name="Line 16"/>
            <p:cNvSpPr>
              <a:spLocks noChangeShapeType="1"/>
            </p:cNvSpPr>
            <p:nvPr>
              <p:custDataLst>
                <p:tags r:id="rId5"/>
              </p:custDataLst>
            </p:nvPr>
          </p:nvSpPr>
          <p:spPr bwMode="gray">
            <a:xfrm>
              <a:off x="689212" y="4278292"/>
              <a:ext cx="3483610" cy="0"/>
            </a:xfrm>
            <a:prstGeom prst="line">
              <a:avLst/>
            </a:prstGeom>
            <a:noFill/>
            <a:ln w="28575">
              <a:solidFill>
                <a:srgbClr val="4F5A71">
                  <a:alpha val="50000"/>
                </a:srgb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23" name="Line 17"/>
            <p:cNvSpPr>
              <a:spLocks noChangeShapeType="1"/>
            </p:cNvSpPr>
            <p:nvPr>
              <p:custDataLst>
                <p:tags r:id="rId6"/>
              </p:custDataLst>
            </p:nvPr>
          </p:nvSpPr>
          <p:spPr bwMode="gray">
            <a:xfrm>
              <a:off x="2431017" y="2445047"/>
              <a:ext cx="0" cy="3663950"/>
            </a:xfrm>
            <a:prstGeom prst="line">
              <a:avLst/>
            </a:prstGeom>
            <a:noFill/>
            <a:ln w="28575">
              <a:solidFill>
                <a:srgbClr val="4F5A71">
                  <a:alpha val="50000"/>
                </a:srgb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26" name="Oval 10"/>
            <p:cNvSpPr>
              <a:spLocks noChangeArrowheads="1"/>
            </p:cNvSpPr>
            <p:nvPr>
              <p:custDataLst>
                <p:tags r:id="rId7"/>
              </p:custDataLst>
            </p:nvPr>
          </p:nvSpPr>
          <p:spPr bwMode="gray">
            <a:xfrm>
              <a:off x="1034652" y="2860337"/>
              <a:ext cx="2789555" cy="2811145"/>
            </a:xfrm>
            <a:prstGeom prst="ellipse">
              <a:avLst/>
            </a:prstGeom>
            <a:noFill/>
            <a:ln w="9525">
              <a:solidFill>
                <a:srgbClr val="00B0F0">
                  <a:alpha val="50000"/>
                </a:srgbClr>
              </a:solidFill>
              <a:round/>
            </a:ln>
            <a:effectLst/>
            <a:extLst>
              <a:ext uri="{909E8E84-426E-40DD-AFC4-6F175D3DCCD1}">
                <a14:hiddenFill xmlns:a14="http://schemas.microsoft.com/office/drawing/2010/main">
                  <a:solidFill>
                    <a:srgbClr val="4F5A71">
                      <a:alpha val="64999"/>
                    </a:srgbClr>
                  </a:solid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7" name="Oval 13"/>
            <p:cNvSpPr>
              <a:spLocks noChangeArrowheads="1"/>
            </p:cNvSpPr>
            <p:nvPr>
              <p:custDataLst>
                <p:tags r:id="rId8"/>
              </p:custDataLst>
            </p:nvPr>
          </p:nvSpPr>
          <p:spPr bwMode="gray">
            <a:xfrm>
              <a:off x="1353422" y="3197522"/>
              <a:ext cx="2137410" cy="2181860"/>
            </a:xfrm>
            <a:prstGeom prst="ellipse">
              <a:avLst/>
            </a:prstGeom>
            <a:solidFill>
              <a:srgbClr val="00B0F0"/>
            </a:solidFill>
            <a:ln w="0">
              <a:noFill/>
            </a:ln>
            <a:effectLst/>
          </p:spPr>
          <p:txBody>
            <a:bodyPr wrap="square" anchor="ctr">
              <a:normAutofit/>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8" name="KSO_GT1"/>
            <p:cNvSpPr>
              <a:spLocks noChangeArrowheads="1"/>
            </p:cNvSpPr>
            <p:nvPr>
              <p:custDataLst>
                <p:tags r:id="rId9"/>
              </p:custDataLst>
            </p:nvPr>
          </p:nvSpPr>
          <p:spPr bwMode="gray">
            <a:xfrm>
              <a:off x="1738232" y="3589952"/>
              <a:ext cx="1368425" cy="1397635"/>
            </a:xfrm>
            <a:prstGeom prst="ellipse">
              <a:avLst/>
            </a:prstGeom>
            <a:solidFill>
              <a:schemeClr val="accent5"/>
            </a:solidFill>
            <a:ln>
              <a:noFill/>
            </a:ln>
            <a:effectLst/>
          </p:spPr>
          <p:txBody>
            <a:bodyPr wrap="square" lIns="0" tIns="0" rIns="0" bIns="0" anchor="ctr">
              <a:normAutofit fontScale="90000" lnSpcReduction="20000"/>
            </a:bodyPr>
            <a:lstStyle/>
            <a:p>
              <a:pPr algn="ctr">
                <a:defRPr/>
              </a:pPr>
              <a:r>
                <a:rPr lang="zh-CN" altLang="en-US" sz="2800" kern="0" dirty="0">
                  <a:solidFill>
                    <a:srgbClr val="FFFFFF"/>
                  </a:solidFill>
                  <a:latin typeface="Times New Roman" panose="02020603050405020304" pitchFamily="18" charset="0"/>
                  <a:ea typeface="微软雅黑 Light" panose="020B0502040204020203" pitchFamily="34" charset="-122"/>
                  <a:cs typeface="+mn-ea"/>
                </a:rPr>
                <a:t>结构化程序</a:t>
              </a:r>
            </a:p>
            <a:p>
              <a:pPr algn="ctr">
                <a:defRPr/>
              </a:pPr>
              <a:r>
                <a:rPr lang="zh-CN" altLang="en-US" sz="2800" kern="0" dirty="0">
                  <a:solidFill>
                    <a:srgbClr val="FFFFFF"/>
                  </a:solidFill>
                  <a:latin typeface="Times New Roman" panose="02020603050405020304" pitchFamily="18" charset="0"/>
                  <a:ea typeface="微软雅黑 Light" panose="020B0502040204020203" pitchFamily="34" charset="-122"/>
                  <a:cs typeface="+mn-ea"/>
                </a:rPr>
                <a:t>设计</a:t>
              </a:r>
            </a:p>
          </p:txBody>
        </p:sp>
        <p:sp>
          <p:nvSpPr>
            <p:cNvPr id="9" name="Oval 19"/>
            <p:cNvSpPr>
              <a:spLocks noChangeArrowheads="1"/>
            </p:cNvSpPr>
            <p:nvPr>
              <p:custDataLst>
                <p:tags r:id="rId10"/>
              </p:custDataLst>
            </p:nvPr>
          </p:nvSpPr>
          <p:spPr bwMode="gray">
            <a:xfrm>
              <a:off x="2880597" y="2598082"/>
              <a:ext cx="251460" cy="251460"/>
            </a:xfrm>
            <a:prstGeom prst="ellipse">
              <a:avLst/>
            </a:prstGeom>
            <a:solidFill>
              <a:srgbClr val="00B0F0"/>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latin typeface="Times New Roman" panose="02020603050405020304" pitchFamily="18" charset="0"/>
              </a:endParaRPr>
            </a:p>
          </p:txBody>
        </p:sp>
      </p:grpSp>
      <p:sp>
        <p:nvSpPr>
          <p:cNvPr id="47" name="文本框 46"/>
          <p:cNvSpPr txBox="1"/>
          <p:nvPr>
            <p:custDataLst>
              <p:tags r:id="rId3"/>
            </p:custDataLst>
          </p:nvPr>
        </p:nvSpPr>
        <p:spPr>
          <a:xfrm>
            <a:off x="3694912" y="5630842"/>
            <a:ext cx="7098030" cy="418641"/>
          </a:xfrm>
          <a:prstGeom prst="rect">
            <a:avLst/>
          </a:prstGeom>
          <a:noFill/>
        </p:spPr>
        <p:txBody>
          <a:bodyPr wrap="square" lIns="36000" rIns="36000">
            <a:spAutoFit/>
          </a:bodyPr>
          <a:lstStyle/>
          <a:p>
            <a:pPr algn="just">
              <a:lnSpc>
                <a:spcPct val="130000"/>
              </a:lnSpc>
              <a:spcBef>
                <a:spcPts val="600"/>
              </a:spcBef>
              <a:defRPr/>
            </a:pPr>
            <a:r>
              <a:rPr lang="zh-CN" altLang="en-US" dirty="0"/>
              <a:t>结构化程序设计主张避免使用GOTO语句进行程序设计</a:t>
            </a:r>
          </a:p>
        </p:txBody>
      </p:sp>
    </p:spTree>
  </p:cSld>
  <p:clrMapOvr>
    <a:masterClrMapping/>
  </p:clrMapOvr>
  <p:transition>
    <p:pull di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en-US" dirty="0"/>
              <a:t>4.1 </a:t>
            </a:r>
            <a:r>
              <a:rPr lang="zh-CN" altLang="en-US" dirty="0"/>
              <a:t>结构化程序设计</a:t>
            </a:r>
          </a:p>
        </p:txBody>
      </p:sp>
      <p:sp>
        <p:nvSpPr>
          <p:cNvPr id="4" name="文本占位符 3">
            <a:extLst>
              <a:ext uri="{FF2B5EF4-FFF2-40B4-BE49-F238E27FC236}">
                <a16:creationId xmlns:a16="http://schemas.microsoft.com/office/drawing/2014/main" id="{AED25E1A-409A-31A3-4AEF-6D0BD66F1BC5}"/>
              </a:ext>
            </a:extLst>
          </p:cNvPr>
          <p:cNvSpPr>
            <a:spLocks noGrp="1"/>
          </p:cNvSpPr>
          <p:nvPr>
            <p:ph type="body" sz="quarter" idx="10"/>
          </p:nvPr>
        </p:nvSpPr>
        <p:spPr>
          <a:xfrm>
            <a:off x="696000" y="1322832"/>
            <a:ext cx="5400000" cy="400110"/>
          </a:xfrm>
        </p:spPr>
        <p:txBody>
          <a:bodyPr/>
          <a:lstStyle/>
          <a:p>
            <a:r>
              <a:rPr lang="en-US" altLang="zh-CN" dirty="0"/>
              <a:t>4.1.2 </a:t>
            </a:r>
            <a:r>
              <a:rPr lang="zh-CN" altLang="en-US" dirty="0"/>
              <a:t>程序设计风格</a:t>
            </a:r>
          </a:p>
        </p:txBody>
      </p:sp>
      <p:sp>
        <p:nvSpPr>
          <p:cNvPr id="9" name="文本占位符 8">
            <a:extLst>
              <a:ext uri="{FF2B5EF4-FFF2-40B4-BE49-F238E27FC236}">
                <a16:creationId xmlns:a16="http://schemas.microsoft.com/office/drawing/2014/main" id="{B2249690-2892-BC80-D6B1-CE607F44CF79}"/>
              </a:ext>
            </a:extLst>
          </p:cNvPr>
          <p:cNvSpPr>
            <a:spLocks noGrp="1"/>
          </p:cNvSpPr>
          <p:nvPr>
            <p:ph type="body" sz="quarter" idx="11"/>
          </p:nvPr>
        </p:nvSpPr>
        <p:spPr/>
        <p:txBody>
          <a:bodyPr/>
          <a:lstStyle/>
          <a:p>
            <a:endParaRPr lang="zh-CN" altLang="en-US"/>
          </a:p>
        </p:txBody>
      </p:sp>
      <p:sp>
        <p:nvSpPr>
          <p:cNvPr id="19" name="文本框 18"/>
          <p:cNvSpPr txBox="1"/>
          <p:nvPr>
            <p:custDataLst>
              <p:tags r:id="rId1"/>
            </p:custDataLst>
          </p:nvPr>
        </p:nvSpPr>
        <p:spPr>
          <a:xfrm>
            <a:off x="3653637" y="2346325"/>
            <a:ext cx="7075805" cy="418641"/>
          </a:xfrm>
          <a:prstGeom prst="rect">
            <a:avLst/>
          </a:prstGeom>
          <a:noFill/>
        </p:spPr>
        <p:txBody>
          <a:bodyPr wrap="square" lIns="36000" rIns="36000">
            <a:spAutoFit/>
          </a:bodyPr>
          <a:lstStyle/>
          <a:p>
            <a:pPr>
              <a:lnSpc>
                <a:spcPct val="130000"/>
              </a:lnSpc>
              <a:spcBef>
                <a:spcPts val="600"/>
              </a:spcBef>
              <a:defRPr/>
            </a:pPr>
            <a:r>
              <a:rPr dirty="0" err="1"/>
              <a:t>选用含义鲜明的标识符</a:t>
            </a:r>
            <a:r>
              <a:rPr dirty="0"/>
              <a:t>。</a:t>
            </a:r>
          </a:p>
        </p:txBody>
      </p:sp>
      <p:sp>
        <p:nvSpPr>
          <p:cNvPr id="24" name="文本框 23"/>
          <p:cNvSpPr txBox="1"/>
          <p:nvPr>
            <p:custDataLst>
              <p:tags r:id="rId2"/>
            </p:custDataLst>
          </p:nvPr>
        </p:nvSpPr>
        <p:spPr>
          <a:xfrm>
            <a:off x="4178782" y="3425190"/>
            <a:ext cx="7324006" cy="1935979"/>
          </a:xfrm>
          <a:prstGeom prst="rect">
            <a:avLst/>
          </a:prstGeom>
          <a:noFill/>
        </p:spPr>
        <p:txBody>
          <a:bodyPr wrap="square" lIns="36000" rIns="36000">
            <a:spAutoFit/>
          </a:bodyPr>
          <a:lstStyle/>
          <a:p>
            <a:pPr>
              <a:lnSpc>
                <a:spcPct val="130000"/>
              </a:lnSpc>
              <a:spcBef>
                <a:spcPts val="600"/>
              </a:spcBef>
              <a:defRPr/>
            </a:pPr>
            <a:r>
              <a:rPr dirty="0" err="1"/>
              <a:t>适当的注解</a:t>
            </a:r>
            <a:r>
              <a:rPr dirty="0"/>
              <a:t>。</a:t>
            </a:r>
            <a:endParaRPr lang="en-US" dirty="0"/>
          </a:p>
          <a:p>
            <a:pPr>
              <a:lnSpc>
                <a:spcPct val="130000"/>
              </a:lnSpc>
              <a:spcBef>
                <a:spcPts val="600"/>
              </a:spcBef>
              <a:defRPr/>
            </a:pPr>
            <a:r>
              <a:rPr dirty="0"/>
              <a:t>注解是程序员和程序读者之间通信的重要手段。通常在每个模块开始处用注解简述模块的功能、主要算法、接口特点、重要数据含义、开发简史等。注解内容一定要正确，程序有变动时，注解要与程序始终保持一致性。要用空格或空行区分注解和程序。</a:t>
            </a:r>
          </a:p>
        </p:txBody>
      </p:sp>
      <p:sp>
        <p:nvSpPr>
          <p:cNvPr id="30" name="文本框 29"/>
          <p:cNvSpPr txBox="1"/>
          <p:nvPr>
            <p:custDataLst>
              <p:tags r:id="rId3"/>
            </p:custDataLst>
          </p:nvPr>
        </p:nvSpPr>
        <p:spPr>
          <a:xfrm>
            <a:off x="3657446" y="5572760"/>
            <a:ext cx="7996395" cy="418641"/>
          </a:xfrm>
          <a:prstGeom prst="rect">
            <a:avLst/>
          </a:prstGeom>
          <a:noFill/>
        </p:spPr>
        <p:txBody>
          <a:bodyPr wrap="square" lIns="0" rIns="0">
            <a:spAutoFit/>
          </a:bodyPr>
          <a:lstStyle/>
          <a:p>
            <a:pPr>
              <a:lnSpc>
                <a:spcPct val="130000"/>
              </a:lnSpc>
              <a:spcBef>
                <a:spcPts val="600"/>
              </a:spcBef>
              <a:defRPr/>
            </a:pPr>
            <a:r>
              <a:rPr lang="zh-CN" altLang="en-US" dirty="0"/>
              <a:t>程序布局阶梯式。适当利用阶梯形式，使程序的层次结构清晰明显。</a:t>
            </a:r>
          </a:p>
        </p:txBody>
      </p:sp>
      <p:grpSp>
        <p:nvGrpSpPr>
          <p:cNvPr id="10" name="组合 9">
            <a:extLst>
              <a:ext uri="{FF2B5EF4-FFF2-40B4-BE49-F238E27FC236}">
                <a16:creationId xmlns:a16="http://schemas.microsoft.com/office/drawing/2014/main" id="{EA38F7CA-788D-2609-43E3-436BFD36A53D}"/>
              </a:ext>
            </a:extLst>
          </p:cNvPr>
          <p:cNvGrpSpPr/>
          <p:nvPr/>
        </p:nvGrpSpPr>
        <p:grpSpPr>
          <a:xfrm>
            <a:off x="689212" y="2445047"/>
            <a:ext cx="3483610" cy="3663950"/>
            <a:chOff x="689212" y="2445047"/>
            <a:chExt cx="3483610" cy="3663950"/>
          </a:xfrm>
        </p:grpSpPr>
        <p:sp>
          <p:nvSpPr>
            <p:cNvPr id="11" name="Oval 15">
              <a:extLst>
                <a:ext uri="{FF2B5EF4-FFF2-40B4-BE49-F238E27FC236}">
                  <a16:creationId xmlns:a16="http://schemas.microsoft.com/office/drawing/2014/main" id="{AE92595B-B055-7BBD-BC73-51274EC58C06}"/>
                </a:ext>
              </a:extLst>
            </p:cNvPr>
            <p:cNvSpPr>
              <a:spLocks noChangeArrowheads="1"/>
            </p:cNvSpPr>
            <p:nvPr>
              <p:custDataLst>
                <p:tags r:id="rId4"/>
              </p:custDataLst>
            </p:nvPr>
          </p:nvSpPr>
          <p:spPr bwMode="auto">
            <a:xfrm>
              <a:off x="861932" y="2679997"/>
              <a:ext cx="3153410" cy="3182620"/>
            </a:xfrm>
            <a:prstGeom prst="ellipse">
              <a:avLst/>
            </a:prstGeom>
            <a:noFill/>
            <a:ln w="19050">
              <a:solidFill>
                <a:srgbClr val="00B0F0"/>
              </a:solidFill>
              <a:round/>
            </a:ln>
            <a:effectLst/>
            <a:extLst>
              <a:ext uri="{909E8E84-426E-40DD-AFC4-6F175D3DCCD1}">
                <a14:hiddenFill xmlns:a14="http://schemas.microsoft.com/office/drawing/2010/main">
                  <a:solidFill>
                    <a:srgbClr val="4F5A71"/>
                  </a:solid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12" name="Line 16">
              <a:extLst>
                <a:ext uri="{FF2B5EF4-FFF2-40B4-BE49-F238E27FC236}">
                  <a16:creationId xmlns:a16="http://schemas.microsoft.com/office/drawing/2014/main" id="{909DB966-986C-25DF-793B-3E0F4F836210}"/>
                </a:ext>
              </a:extLst>
            </p:cNvPr>
            <p:cNvSpPr>
              <a:spLocks noChangeShapeType="1"/>
            </p:cNvSpPr>
            <p:nvPr>
              <p:custDataLst>
                <p:tags r:id="rId5"/>
              </p:custDataLst>
            </p:nvPr>
          </p:nvSpPr>
          <p:spPr bwMode="gray">
            <a:xfrm>
              <a:off x="689212" y="4278292"/>
              <a:ext cx="3483610" cy="0"/>
            </a:xfrm>
            <a:prstGeom prst="line">
              <a:avLst/>
            </a:prstGeom>
            <a:noFill/>
            <a:ln w="28575">
              <a:solidFill>
                <a:srgbClr val="4F5A71">
                  <a:alpha val="50000"/>
                </a:srgb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20" name="Line 17">
              <a:extLst>
                <a:ext uri="{FF2B5EF4-FFF2-40B4-BE49-F238E27FC236}">
                  <a16:creationId xmlns:a16="http://schemas.microsoft.com/office/drawing/2014/main" id="{9EE446A2-866F-6890-555B-2FF47637A410}"/>
                </a:ext>
              </a:extLst>
            </p:cNvPr>
            <p:cNvSpPr>
              <a:spLocks noChangeShapeType="1"/>
            </p:cNvSpPr>
            <p:nvPr>
              <p:custDataLst>
                <p:tags r:id="rId6"/>
              </p:custDataLst>
            </p:nvPr>
          </p:nvSpPr>
          <p:spPr bwMode="gray">
            <a:xfrm>
              <a:off x="2431017" y="2445047"/>
              <a:ext cx="0" cy="3663950"/>
            </a:xfrm>
            <a:prstGeom prst="line">
              <a:avLst/>
            </a:prstGeom>
            <a:noFill/>
            <a:ln w="28575">
              <a:solidFill>
                <a:srgbClr val="4F5A71">
                  <a:alpha val="50000"/>
                </a:srgb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22" name="Oval 10">
              <a:extLst>
                <a:ext uri="{FF2B5EF4-FFF2-40B4-BE49-F238E27FC236}">
                  <a16:creationId xmlns:a16="http://schemas.microsoft.com/office/drawing/2014/main" id="{4A9D474B-C4FA-2364-4582-8F093A20708A}"/>
                </a:ext>
              </a:extLst>
            </p:cNvPr>
            <p:cNvSpPr>
              <a:spLocks noChangeArrowheads="1"/>
            </p:cNvSpPr>
            <p:nvPr>
              <p:custDataLst>
                <p:tags r:id="rId7"/>
              </p:custDataLst>
            </p:nvPr>
          </p:nvSpPr>
          <p:spPr bwMode="gray">
            <a:xfrm>
              <a:off x="1034652" y="2860337"/>
              <a:ext cx="2789555" cy="2811145"/>
            </a:xfrm>
            <a:prstGeom prst="ellipse">
              <a:avLst/>
            </a:prstGeom>
            <a:noFill/>
            <a:ln w="9525">
              <a:solidFill>
                <a:srgbClr val="00B0F0">
                  <a:alpha val="50000"/>
                </a:srgbClr>
              </a:solidFill>
              <a:round/>
            </a:ln>
            <a:effectLst/>
            <a:extLst>
              <a:ext uri="{909E8E84-426E-40DD-AFC4-6F175D3DCCD1}">
                <a14:hiddenFill xmlns:a14="http://schemas.microsoft.com/office/drawing/2010/main">
                  <a:solidFill>
                    <a:srgbClr val="4F5A71">
                      <a:alpha val="64999"/>
                    </a:srgbClr>
                  </a:solid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23" name="Oval 13">
              <a:extLst>
                <a:ext uri="{FF2B5EF4-FFF2-40B4-BE49-F238E27FC236}">
                  <a16:creationId xmlns:a16="http://schemas.microsoft.com/office/drawing/2014/main" id="{DCE2CFF4-A639-C15E-7C30-8BDAA1B5C8CB}"/>
                </a:ext>
              </a:extLst>
            </p:cNvPr>
            <p:cNvSpPr>
              <a:spLocks noChangeArrowheads="1"/>
            </p:cNvSpPr>
            <p:nvPr>
              <p:custDataLst>
                <p:tags r:id="rId8"/>
              </p:custDataLst>
            </p:nvPr>
          </p:nvSpPr>
          <p:spPr bwMode="gray">
            <a:xfrm>
              <a:off x="1353422" y="3197522"/>
              <a:ext cx="2137410" cy="2181860"/>
            </a:xfrm>
            <a:prstGeom prst="ellipse">
              <a:avLst/>
            </a:prstGeom>
            <a:solidFill>
              <a:srgbClr val="00B0F0"/>
            </a:solidFill>
            <a:ln w="0">
              <a:noFill/>
            </a:ln>
            <a:effectLst/>
          </p:spPr>
          <p:txBody>
            <a:bodyPr wrap="square" anchor="ctr">
              <a:normAutofit/>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26" name="KSO_GT1">
              <a:extLst>
                <a:ext uri="{FF2B5EF4-FFF2-40B4-BE49-F238E27FC236}">
                  <a16:creationId xmlns:a16="http://schemas.microsoft.com/office/drawing/2014/main" id="{6ADF2C4B-9266-B1FE-FD4D-CFDC7DE7ACEA}"/>
                </a:ext>
              </a:extLst>
            </p:cNvPr>
            <p:cNvSpPr>
              <a:spLocks noChangeArrowheads="1"/>
            </p:cNvSpPr>
            <p:nvPr>
              <p:custDataLst>
                <p:tags r:id="rId9"/>
              </p:custDataLst>
            </p:nvPr>
          </p:nvSpPr>
          <p:spPr bwMode="gray">
            <a:xfrm>
              <a:off x="1738232" y="3589952"/>
              <a:ext cx="1368425" cy="1397635"/>
            </a:xfrm>
            <a:prstGeom prst="ellipse">
              <a:avLst/>
            </a:prstGeom>
            <a:solidFill>
              <a:schemeClr val="accent5"/>
            </a:solidFill>
            <a:ln>
              <a:noFill/>
            </a:ln>
            <a:effectLst/>
          </p:spPr>
          <p:txBody>
            <a:bodyPr wrap="square" lIns="0" tIns="0" rIns="0" bIns="0" anchor="ctr">
              <a:normAutofit fontScale="90000" lnSpcReduction="20000"/>
            </a:bodyPr>
            <a:lstStyle/>
            <a:p>
              <a:pPr algn="ctr">
                <a:defRPr/>
              </a:pPr>
              <a:r>
                <a:rPr lang="zh-CN" altLang="en-US" sz="2800" kern="0" dirty="0">
                  <a:solidFill>
                    <a:srgbClr val="FFFFFF"/>
                  </a:solidFill>
                  <a:latin typeface="Times New Roman" panose="02020603050405020304" pitchFamily="18" charset="0"/>
                  <a:ea typeface="微软雅黑 Light" panose="020B0502040204020203" pitchFamily="34" charset="-122"/>
                  <a:cs typeface="+mn-ea"/>
                </a:rPr>
                <a:t>文档</a:t>
              </a:r>
              <a:endParaRPr lang="en-US" altLang="zh-CN" sz="2800" kern="0" dirty="0">
                <a:solidFill>
                  <a:srgbClr val="FFFFFF"/>
                </a:solidFill>
                <a:latin typeface="Times New Roman" panose="02020603050405020304" pitchFamily="18" charset="0"/>
                <a:ea typeface="微软雅黑 Light" panose="020B0502040204020203" pitchFamily="34" charset="-122"/>
                <a:cs typeface="+mn-ea"/>
              </a:endParaRPr>
            </a:p>
            <a:p>
              <a:pPr algn="ctr">
                <a:defRPr/>
              </a:pPr>
              <a:r>
                <a:rPr lang="zh-CN" altLang="en-US" sz="2800" kern="0" dirty="0">
                  <a:solidFill>
                    <a:srgbClr val="FFFFFF"/>
                  </a:solidFill>
                  <a:latin typeface="Times New Roman" panose="02020603050405020304" pitchFamily="18" charset="0"/>
                  <a:ea typeface="微软雅黑 Light" panose="020B0502040204020203" pitchFamily="34" charset="-122"/>
                  <a:cs typeface="+mn-ea"/>
                </a:rPr>
                <a:t>书写</a:t>
              </a:r>
              <a:endParaRPr lang="en-US" altLang="zh-CN" sz="2800" kern="0" dirty="0">
                <a:solidFill>
                  <a:srgbClr val="FFFFFF"/>
                </a:solidFill>
                <a:latin typeface="Times New Roman" panose="02020603050405020304" pitchFamily="18" charset="0"/>
                <a:ea typeface="微软雅黑 Light" panose="020B0502040204020203" pitchFamily="34" charset="-122"/>
                <a:cs typeface="+mn-ea"/>
              </a:endParaRPr>
            </a:p>
            <a:p>
              <a:pPr algn="ctr">
                <a:defRPr/>
              </a:pPr>
              <a:r>
                <a:rPr lang="zh-CN" altLang="en-US" sz="2800" kern="0" dirty="0">
                  <a:solidFill>
                    <a:srgbClr val="FFFFFF"/>
                  </a:solidFill>
                  <a:latin typeface="Times New Roman" panose="02020603050405020304" pitchFamily="18" charset="0"/>
                  <a:ea typeface="微软雅黑 Light" panose="020B0502040204020203" pitchFamily="34" charset="-122"/>
                  <a:cs typeface="+mn-ea"/>
                </a:rPr>
                <a:t>规则</a:t>
              </a:r>
            </a:p>
          </p:txBody>
        </p:sp>
        <p:sp>
          <p:nvSpPr>
            <p:cNvPr id="27" name="Oval 19">
              <a:extLst>
                <a:ext uri="{FF2B5EF4-FFF2-40B4-BE49-F238E27FC236}">
                  <a16:creationId xmlns:a16="http://schemas.microsoft.com/office/drawing/2014/main" id="{A2A6C56A-89FB-4A50-B52E-F4B902123D65}"/>
                </a:ext>
              </a:extLst>
            </p:cNvPr>
            <p:cNvSpPr>
              <a:spLocks noChangeArrowheads="1"/>
            </p:cNvSpPr>
            <p:nvPr>
              <p:custDataLst>
                <p:tags r:id="rId10"/>
              </p:custDataLst>
            </p:nvPr>
          </p:nvSpPr>
          <p:spPr bwMode="gray">
            <a:xfrm>
              <a:off x="2880597" y="2598082"/>
              <a:ext cx="251460" cy="251460"/>
            </a:xfrm>
            <a:prstGeom prst="ellipse">
              <a:avLst/>
            </a:prstGeom>
            <a:solidFill>
              <a:srgbClr val="00B0F0"/>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31" name="Oval 19">
              <a:extLst>
                <a:ext uri="{FF2B5EF4-FFF2-40B4-BE49-F238E27FC236}">
                  <a16:creationId xmlns:a16="http://schemas.microsoft.com/office/drawing/2014/main" id="{CF4BE46C-26AB-8F6C-ED48-0A064BBA2289}"/>
                </a:ext>
              </a:extLst>
            </p:cNvPr>
            <p:cNvSpPr>
              <a:spLocks noChangeArrowheads="1"/>
            </p:cNvSpPr>
            <p:nvPr>
              <p:custDataLst>
                <p:tags r:id="rId11"/>
              </p:custDataLst>
            </p:nvPr>
          </p:nvSpPr>
          <p:spPr bwMode="gray">
            <a:xfrm>
              <a:off x="3599735" y="3227685"/>
              <a:ext cx="251460" cy="251460"/>
            </a:xfrm>
            <a:prstGeom prst="ellipse">
              <a:avLst/>
            </a:prstGeom>
            <a:solidFill>
              <a:schemeClr val="accent6"/>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latin typeface="Times New Roman" panose="02020603050405020304" pitchFamily="18" charset="0"/>
              </a:endParaRPr>
            </a:p>
          </p:txBody>
        </p:sp>
      </p:grpSp>
    </p:spTree>
  </p:cSld>
  <p:clrMapOvr>
    <a:masterClrMapping/>
  </p:clrMapOvr>
  <p:transition>
    <p:pull di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en-US" dirty="0"/>
              <a:t>4.1 </a:t>
            </a:r>
            <a:r>
              <a:rPr lang="zh-CN" altLang="en-US" dirty="0"/>
              <a:t>结构化程序设计</a:t>
            </a:r>
          </a:p>
        </p:txBody>
      </p:sp>
      <p:sp>
        <p:nvSpPr>
          <p:cNvPr id="5" name="文本占位符 4">
            <a:extLst>
              <a:ext uri="{FF2B5EF4-FFF2-40B4-BE49-F238E27FC236}">
                <a16:creationId xmlns:a16="http://schemas.microsoft.com/office/drawing/2014/main" id="{527B666E-1855-5BE3-F5C7-FBE0EFAF7374}"/>
              </a:ext>
            </a:extLst>
          </p:cNvPr>
          <p:cNvSpPr>
            <a:spLocks noGrp="1"/>
          </p:cNvSpPr>
          <p:nvPr>
            <p:ph type="body" sz="quarter" idx="10"/>
          </p:nvPr>
        </p:nvSpPr>
        <p:spPr>
          <a:xfrm>
            <a:off x="696000" y="1322832"/>
            <a:ext cx="5400000" cy="400110"/>
          </a:xfrm>
        </p:spPr>
        <p:txBody>
          <a:bodyPr/>
          <a:lstStyle/>
          <a:p>
            <a:r>
              <a:rPr lang="en-US" altLang="zh-CN" dirty="0"/>
              <a:t>4.1.2 </a:t>
            </a:r>
            <a:r>
              <a:rPr lang="zh-CN" altLang="en-US" dirty="0"/>
              <a:t>程序设计风格</a:t>
            </a:r>
          </a:p>
        </p:txBody>
      </p:sp>
      <p:sp>
        <p:nvSpPr>
          <p:cNvPr id="9" name="文本占位符 8">
            <a:extLst>
              <a:ext uri="{FF2B5EF4-FFF2-40B4-BE49-F238E27FC236}">
                <a16:creationId xmlns:a16="http://schemas.microsoft.com/office/drawing/2014/main" id="{3CC70274-9F8B-7BE2-1E4A-918C3C0E6CB4}"/>
              </a:ext>
            </a:extLst>
          </p:cNvPr>
          <p:cNvSpPr>
            <a:spLocks noGrp="1"/>
          </p:cNvSpPr>
          <p:nvPr>
            <p:ph type="body" sz="quarter" idx="11"/>
          </p:nvPr>
        </p:nvSpPr>
        <p:spPr/>
        <p:txBody>
          <a:bodyPr/>
          <a:lstStyle/>
          <a:p>
            <a:endParaRPr lang="zh-CN" altLang="en-US"/>
          </a:p>
        </p:txBody>
      </p:sp>
      <p:sp>
        <p:nvSpPr>
          <p:cNvPr id="42" name="文本框 41"/>
          <p:cNvSpPr txBox="1"/>
          <p:nvPr>
            <p:custDataLst>
              <p:tags r:id="rId1"/>
            </p:custDataLst>
          </p:nvPr>
        </p:nvSpPr>
        <p:spPr>
          <a:xfrm>
            <a:off x="3628268" y="2205355"/>
            <a:ext cx="7572390" cy="923330"/>
          </a:xfrm>
          <a:prstGeom prst="rect">
            <a:avLst/>
          </a:prstGeom>
          <a:noFill/>
        </p:spPr>
        <p:txBody>
          <a:bodyPr wrap="square" lIns="36000" rIns="36000">
            <a:spAutoFit/>
          </a:bodyPr>
          <a:lstStyle/>
          <a:p>
            <a:pPr algn="just">
              <a:defRPr/>
            </a:pPr>
            <a:r>
              <a:rPr dirty="0"/>
              <a:t>数据说明的次序应标准化。例如，按数据类型或数据结构来确定数据说明的次序。次序的规则在数据字典中加以说明，以便在测试调试阶段和维护阶段方便地查找数据说明情况。</a:t>
            </a:r>
          </a:p>
        </p:txBody>
      </p:sp>
      <p:sp>
        <p:nvSpPr>
          <p:cNvPr id="45" name="文本框 44"/>
          <p:cNvSpPr txBox="1"/>
          <p:nvPr>
            <p:custDataLst>
              <p:tags r:id="rId2"/>
            </p:custDataLst>
          </p:nvPr>
        </p:nvSpPr>
        <p:spPr>
          <a:xfrm>
            <a:off x="4240646" y="3662504"/>
            <a:ext cx="7487932" cy="369332"/>
          </a:xfrm>
          <a:prstGeom prst="rect">
            <a:avLst/>
          </a:prstGeom>
          <a:noFill/>
        </p:spPr>
        <p:txBody>
          <a:bodyPr wrap="square" lIns="36000" rIns="36000">
            <a:spAutoFit/>
          </a:bodyPr>
          <a:lstStyle/>
          <a:p>
            <a:pPr algn="just">
              <a:defRPr/>
            </a:pPr>
            <a:r>
              <a:rPr dirty="0" err="1"/>
              <a:t>在对同一语句中的多个变量加以说明时，应按英文字母的顺序排列</a:t>
            </a:r>
            <a:r>
              <a:rPr dirty="0"/>
              <a:t>。</a:t>
            </a:r>
          </a:p>
        </p:txBody>
      </p:sp>
      <p:sp>
        <p:nvSpPr>
          <p:cNvPr id="52" name="文本框 51"/>
          <p:cNvSpPr txBox="1"/>
          <p:nvPr>
            <p:custDataLst>
              <p:tags r:id="rId3"/>
            </p:custDataLst>
          </p:nvPr>
        </p:nvSpPr>
        <p:spPr>
          <a:xfrm>
            <a:off x="4240646" y="4574043"/>
            <a:ext cx="7086055" cy="369332"/>
          </a:xfrm>
          <a:prstGeom prst="rect">
            <a:avLst/>
          </a:prstGeom>
          <a:noFill/>
        </p:spPr>
        <p:txBody>
          <a:bodyPr wrap="square" lIns="36000" rIns="36000">
            <a:spAutoFit/>
          </a:bodyPr>
          <a:lstStyle/>
          <a:p>
            <a:pPr algn="just">
              <a:defRPr/>
            </a:pPr>
            <a:r>
              <a:rPr lang="zh-CN" altLang="en-US" dirty="0"/>
              <a:t>在使用一个复杂的数据结构时，最好加注释语句。</a:t>
            </a:r>
          </a:p>
        </p:txBody>
      </p:sp>
      <p:sp>
        <p:nvSpPr>
          <p:cNvPr id="55" name="文本框 54"/>
          <p:cNvSpPr txBox="1"/>
          <p:nvPr>
            <p:custDataLst>
              <p:tags r:id="rId4"/>
            </p:custDataLst>
          </p:nvPr>
        </p:nvSpPr>
        <p:spPr>
          <a:xfrm>
            <a:off x="3572283" y="5572139"/>
            <a:ext cx="7389381" cy="369332"/>
          </a:xfrm>
          <a:prstGeom prst="rect">
            <a:avLst/>
          </a:prstGeom>
          <a:noFill/>
        </p:spPr>
        <p:txBody>
          <a:bodyPr wrap="square" lIns="36000" rIns="36000">
            <a:spAutoFit/>
          </a:bodyPr>
          <a:lstStyle/>
          <a:p>
            <a:pPr algn="just">
              <a:defRPr/>
            </a:pPr>
            <a:r>
              <a:rPr lang="zh-CN" altLang="en-US" dirty="0"/>
              <a:t>变量说明不要遗漏，变量的类型、长度、存储及初始化要正确。</a:t>
            </a:r>
          </a:p>
        </p:txBody>
      </p:sp>
      <p:grpSp>
        <p:nvGrpSpPr>
          <p:cNvPr id="10" name="组合 9">
            <a:extLst>
              <a:ext uri="{FF2B5EF4-FFF2-40B4-BE49-F238E27FC236}">
                <a16:creationId xmlns:a16="http://schemas.microsoft.com/office/drawing/2014/main" id="{3C17941E-4C8D-008A-C2B1-A29CB2A966E9}"/>
              </a:ext>
            </a:extLst>
          </p:cNvPr>
          <p:cNvGrpSpPr/>
          <p:nvPr/>
        </p:nvGrpSpPr>
        <p:grpSpPr>
          <a:xfrm>
            <a:off x="689212" y="2445047"/>
            <a:ext cx="3483610" cy="3663950"/>
            <a:chOff x="689212" y="2445047"/>
            <a:chExt cx="3483610" cy="3663950"/>
          </a:xfrm>
        </p:grpSpPr>
        <p:sp>
          <p:nvSpPr>
            <p:cNvPr id="11" name="Oval 15">
              <a:extLst>
                <a:ext uri="{FF2B5EF4-FFF2-40B4-BE49-F238E27FC236}">
                  <a16:creationId xmlns:a16="http://schemas.microsoft.com/office/drawing/2014/main" id="{A12E58B3-6042-2B6A-D6EC-49A2F272ABC2}"/>
                </a:ext>
              </a:extLst>
            </p:cNvPr>
            <p:cNvSpPr>
              <a:spLocks noChangeArrowheads="1"/>
            </p:cNvSpPr>
            <p:nvPr>
              <p:custDataLst>
                <p:tags r:id="rId5"/>
              </p:custDataLst>
            </p:nvPr>
          </p:nvSpPr>
          <p:spPr bwMode="auto">
            <a:xfrm>
              <a:off x="861932" y="2679997"/>
              <a:ext cx="3153410" cy="3182620"/>
            </a:xfrm>
            <a:prstGeom prst="ellipse">
              <a:avLst/>
            </a:prstGeom>
            <a:noFill/>
            <a:ln w="19050">
              <a:solidFill>
                <a:srgbClr val="00B0F0"/>
              </a:solidFill>
              <a:round/>
            </a:ln>
            <a:effectLst/>
            <a:extLst>
              <a:ext uri="{909E8E84-426E-40DD-AFC4-6F175D3DCCD1}">
                <a14:hiddenFill xmlns:a14="http://schemas.microsoft.com/office/drawing/2010/main">
                  <a:solidFill>
                    <a:srgbClr val="4F5A71"/>
                  </a:solid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12" name="Line 16">
              <a:extLst>
                <a:ext uri="{FF2B5EF4-FFF2-40B4-BE49-F238E27FC236}">
                  <a16:creationId xmlns:a16="http://schemas.microsoft.com/office/drawing/2014/main" id="{08A2F693-9F23-4FA1-6413-3B01B7E9D27B}"/>
                </a:ext>
              </a:extLst>
            </p:cNvPr>
            <p:cNvSpPr>
              <a:spLocks noChangeShapeType="1"/>
            </p:cNvSpPr>
            <p:nvPr>
              <p:custDataLst>
                <p:tags r:id="rId6"/>
              </p:custDataLst>
            </p:nvPr>
          </p:nvSpPr>
          <p:spPr bwMode="gray">
            <a:xfrm>
              <a:off x="689212" y="4278292"/>
              <a:ext cx="3483610" cy="0"/>
            </a:xfrm>
            <a:prstGeom prst="line">
              <a:avLst/>
            </a:prstGeom>
            <a:noFill/>
            <a:ln w="28575">
              <a:solidFill>
                <a:srgbClr val="4F5A71">
                  <a:alpha val="50000"/>
                </a:srgb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13" name="Line 17">
              <a:extLst>
                <a:ext uri="{FF2B5EF4-FFF2-40B4-BE49-F238E27FC236}">
                  <a16:creationId xmlns:a16="http://schemas.microsoft.com/office/drawing/2014/main" id="{66C096E1-D387-52D0-3814-88942F615204}"/>
                </a:ext>
              </a:extLst>
            </p:cNvPr>
            <p:cNvSpPr>
              <a:spLocks noChangeShapeType="1"/>
            </p:cNvSpPr>
            <p:nvPr>
              <p:custDataLst>
                <p:tags r:id="rId7"/>
              </p:custDataLst>
            </p:nvPr>
          </p:nvSpPr>
          <p:spPr bwMode="gray">
            <a:xfrm>
              <a:off x="2431017" y="2445047"/>
              <a:ext cx="0" cy="3663950"/>
            </a:xfrm>
            <a:prstGeom prst="line">
              <a:avLst/>
            </a:prstGeom>
            <a:noFill/>
            <a:ln w="28575">
              <a:solidFill>
                <a:srgbClr val="4F5A71">
                  <a:alpha val="50000"/>
                </a:srgb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14" name="Oval 10">
              <a:extLst>
                <a:ext uri="{FF2B5EF4-FFF2-40B4-BE49-F238E27FC236}">
                  <a16:creationId xmlns:a16="http://schemas.microsoft.com/office/drawing/2014/main" id="{F8305DB1-A18E-E7B5-66E9-357150530E1A}"/>
                </a:ext>
              </a:extLst>
            </p:cNvPr>
            <p:cNvSpPr>
              <a:spLocks noChangeArrowheads="1"/>
            </p:cNvSpPr>
            <p:nvPr>
              <p:custDataLst>
                <p:tags r:id="rId8"/>
              </p:custDataLst>
            </p:nvPr>
          </p:nvSpPr>
          <p:spPr bwMode="gray">
            <a:xfrm>
              <a:off x="1034652" y="2860337"/>
              <a:ext cx="2789555" cy="2811145"/>
            </a:xfrm>
            <a:prstGeom prst="ellipse">
              <a:avLst/>
            </a:prstGeom>
            <a:noFill/>
            <a:ln w="9525">
              <a:solidFill>
                <a:srgbClr val="00B0F0">
                  <a:alpha val="50000"/>
                </a:srgbClr>
              </a:solidFill>
              <a:round/>
            </a:ln>
            <a:effectLst/>
            <a:extLst>
              <a:ext uri="{909E8E84-426E-40DD-AFC4-6F175D3DCCD1}">
                <a14:hiddenFill xmlns:a14="http://schemas.microsoft.com/office/drawing/2010/main">
                  <a:solidFill>
                    <a:srgbClr val="4F5A71">
                      <a:alpha val="64999"/>
                    </a:srgbClr>
                  </a:solid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15" name="Oval 13">
              <a:extLst>
                <a:ext uri="{FF2B5EF4-FFF2-40B4-BE49-F238E27FC236}">
                  <a16:creationId xmlns:a16="http://schemas.microsoft.com/office/drawing/2014/main" id="{DCE1B2A0-CD14-538A-C1B0-E5899970B00C}"/>
                </a:ext>
              </a:extLst>
            </p:cNvPr>
            <p:cNvSpPr>
              <a:spLocks noChangeArrowheads="1"/>
            </p:cNvSpPr>
            <p:nvPr>
              <p:custDataLst>
                <p:tags r:id="rId9"/>
              </p:custDataLst>
            </p:nvPr>
          </p:nvSpPr>
          <p:spPr bwMode="gray">
            <a:xfrm>
              <a:off x="1353422" y="3197522"/>
              <a:ext cx="2137410" cy="2181860"/>
            </a:xfrm>
            <a:prstGeom prst="ellipse">
              <a:avLst/>
            </a:prstGeom>
            <a:solidFill>
              <a:srgbClr val="00B0F0"/>
            </a:solidFill>
            <a:ln w="0">
              <a:noFill/>
            </a:ln>
            <a:effectLst/>
          </p:spPr>
          <p:txBody>
            <a:bodyPr wrap="square" anchor="ctr">
              <a:normAutofit/>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16" name="KSO_GT1">
              <a:extLst>
                <a:ext uri="{FF2B5EF4-FFF2-40B4-BE49-F238E27FC236}">
                  <a16:creationId xmlns:a16="http://schemas.microsoft.com/office/drawing/2014/main" id="{8E2A6E3E-74B5-B655-33E2-BD1BFD853768}"/>
                </a:ext>
              </a:extLst>
            </p:cNvPr>
            <p:cNvSpPr>
              <a:spLocks noChangeArrowheads="1"/>
            </p:cNvSpPr>
            <p:nvPr>
              <p:custDataLst>
                <p:tags r:id="rId10"/>
              </p:custDataLst>
            </p:nvPr>
          </p:nvSpPr>
          <p:spPr bwMode="gray">
            <a:xfrm>
              <a:off x="1738232" y="3589952"/>
              <a:ext cx="1368425" cy="1397635"/>
            </a:xfrm>
            <a:prstGeom prst="ellipse">
              <a:avLst/>
            </a:prstGeom>
            <a:solidFill>
              <a:schemeClr val="accent5"/>
            </a:solidFill>
            <a:ln>
              <a:noFill/>
            </a:ln>
            <a:effectLst/>
          </p:spPr>
          <p:txBody>
            <a:bodyPr wrap="square" lIns="0" tIns="0" rIns="0" bIns="0" anchor="ctr">
              <a:normAutofit fontScale="97500"/>
            </a:bodyPr>
            <a:lstStyle/>
            <a:p>
              <a:pPr algn="ctr">
                <a:defRPr/>
              </a:pPr>
              <a:r>
                <a:rPr lang="zh-CN" altLang="en-US" sz="2800" kern="0" dirty="0">
                  <a:solidFill>
                    <a:srgbClr val="FFFFFF"/>
                  </a:solidFill>
                  <a:latin typeface="Times New Roman" panose="02020603050405020304" pitchFamily="18" charset="0"/>
                  <a:ea typeface="微软雅黑 Light" panose="020B0502040204020203" pitchFamily="34" charset="-122"/>
                  <a:cs typeface="+mn-ea"/>
                </a:rPr>
                <a:t>数据说明</a:t>
              </a:r>
            </a:p>
          </p:txBody>
        </p:sp>
        <p:sp>
          <p:nvSpPr>
            <p:cNvPr id="17" name="Oval 19">
              <a:extLst>
                <a:ext uri="{FF2B5EF4-FFF2-40B4-BE49-F238E27FC236}">
                  <a16:creationId xmlns:a16="http://schemas.microsoft.com/office/drawing/2014/main" id="{8AEA97EB-0781-76FF-F988-5B05EDEB8A94}"/>
                </a:ext>
              </a:extLst>
            </p:cNvPr>
            <p:cNvSpPr>
              <a:spLocks noChangeArrowheads="1"/>
            </p:cNvSpPr>
            <p:nvPr>
              <p:custDataLst>
                <p:tags r:id="rId11"/>
              </p:custDataLst>
            </p:nvPr>
          </p:nvSpPr>
          <p:spPr bwMode="gray">
            <a:xfrm>
              <a:off x="2880597" y="2598082"/>
              <a:ext cx="251460" cy="251460"/>
            </a:xfrm>
            <a:prstGeom prst="ellipse">
              <a:avLst/>
            </a:prstGeom>
            <a:solidFill>
              <a:srgbClr val="00B0F0"/>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18" name="Oval 19">
              <a:extLst>
                <a:ext uri="{FF2B5EF4-FFF2-40B4-BE49-F238E27FC236}">
                  <a16:creationId xmlns:a16="http://schemas.microsoft.com/office/drawing/2014/main" id="{5C9C8D07-E409-F009-7EDF-76C83060255E}"/>
                </a:ext>
              </a:extLst>
            </p:cNvPr>
            <p:cNvSpPr>
              <a:spLocks noChangeArrowheads="1"/>
            </p:cNvSpPr>
            <p:nvPr>
              <p:custDataLst>
                <p:tags r:id="rId12"/>
              </p:custDataLst>
            </p:nvPr>
          </p:nvSpPr>
          <p:spPr bwMode="gray">
            <a:xfrm>
              <a:off x="3878182" y="4153832"/>
              <a:ext cx="251460" cy="251460"/>
            </a:xfrm>
            <a:prstGeom prst="ellipse">
              <a:avLst/>
            </a:prstGeom>
            <a:solidFill>
              <a:schemeClr val="accent4"/>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19" name="Oval 19">
              <a:extLst>
                <a:ext uri="{FF2B5EF4-FFF2-40B4-BE49-F238E27FC236}">
                  <a16:creationId xmlns:a16="http://schemas.microsoft.com/office/drawing/2014/main" id="{6D3B38D0-F844-595A-F9E0-A6E6B63BB69B}"/>
                </a:ext>
              </a:extLst>
            </p:cNvPr>
            <p:cNvSpPr>
              <a:spLocks noChangeArrowheads="1"/>
            </p:cNvSpPr>
            <p:nvPr>
              <p:custDataLst>
                <p:tags r:id="rId13"/>
              </p:custDataLst>
            </p:nvPr>
          </p:nvSpPr>
          <p:spPr bwMode="gray">
            <a:xfrm>
              <a:off x="3599735" y="3227685"/>
              <a:ext cx="251460" cy="251460"/>
            </a:xfrm>
            <a:prstGeom prst="ellipse">
              <a:avLst/>
            </a:prstGeom>
            <a:solidFill>
              <a:schemeClr val="accent6"/>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latin typeface="Times New Roman" panose="02020603050405020304" pitchFamily="18" charset="0"/>
              </a:endParaRPr>
            </a:p>
          </p:txBody>
        </p:sp>
      </p:grpSp>
    </p:spTree>
  </p:cSld>
  <p:clrMapOvr>
    <a:masterClrMapping/>
  </p:clrMapOvr>
  <p:transition>
    <p:pull di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en-US" dirty="0"/>
              <a:t>4.1 </a:t>
            </a:r>
            <a:r>
              <a:rPr lang="zh-CN" altLang="en-US" dirty="0"/>
              <a:t>结构化程序设计</a:t>
            </a:r>
          </a:p>
        </p:txBody>
      </p:sp>
      <p:sp>
        <p:nvSpPr>
          <p:cNvPr id="4" name="文本占位符 3">
            <a:extLst>
              <a:ext uri="{FF2B5EF4-FFF2-40B4-BE49-F238E27FC236}">
                <a16:creationId xmlns:a16="http://schemas.microsoft.com/office/drawing/2014/main" id="{CC55D67B-1B07-481F-E6AE-EC021A746570}"/>
              </a:ext>
            </a:extLst>
          </p:cNvPr>
          <p:cNvSpPr>
            <a:spLocks noGrp="1"/>
          </p:cNvSpPr>
          <p:nvPr>
            <p:ph type="body" sz="quarter" idx="10"/>
          </p:nvPr>
        </p:nvSpPr>
        <p:spPr>
          <a:xfrm>
            <a:off x="696000" y="1322832"/>
            <a:ext cx="5400000" cy="400110"/>
          </a:xfrm>
        </p:spPr>
        <p:txBody>
          <a:bodyPr/>
          <a:lstStyle/>
          <a:p>
            <a:r>
              <a:rPr lang="en-US" altLang="zh-CN" dirty="0"/>
              <a:t>4.1.2 </a:t>
            </a:r>
            <a:r>
              <a:rPr lang="zh-CN" altLang="en-US" dirty="0"/>
              <a:t>程序设计风格</a:t>
            </a:r>
          </a:p>
        </p:txBody>
      </p:sp>
      <p:sp>
        <p:nvSpPr>
          <p:cNvPr id="20" name="文本占位符 19">
            <a:extLst>
              <a:ext uri="{FF2B5EF4-FFF2-40B4-BE49-F238E27FC236}">
                <a16:creationId xmlns:a16="http://schemas.microsoft.com/office/drawing/2014/main" id="{286754AC-44F7-95F2-8FA1-8AB264C059EF}"/>
              </a:ext>
            </a:extLst>
          </p:cNvPr>
          <p:cNvSpPr>
            <a:spLocks noGrp="1"/>
          </p:cNvSpPr>
          <p:nvPr>
            <p:ph type="body" sz="quarter" idx="11"/>
          </p:nvPr>
        </p:nvSpPr>
        <p:spPr/>
        <p:txBody>
          <a:bodyPr/>
          <a:lstStyle/>
          <a:p>
            <a:endParaRPr lang="zh-CN" altLang="en-US"/>
          </a:p>
        </p:txBody>
      </p:sp>
      <p:sp>
        <p:nvSpPr>
          <p:cNvPr id="10" name="文本框 9"/>
          <p:cNvSpPr txBox="1"/>
          <p:nvPr>
            <p:custDataLst>
              <p:tags r:id="rId1"/>
            </p:custDataLst>
          </p:nvPr>
        </p:nvSpPr>
        <p:spPr>
          <a:xfrm>
            <a:off x="3632835" y="2321560"/>
            <a:ext cx="6763385" cy="369332"/>
          </a:xfrm>
          <a:prstGeom prst="rect">
            <a:avLst/>
          </a:prstGeom>
          <a:noFill/>
        </p:spPr>
        <p:txBody>
          <a:bodyPr wrap="square" lIns="0" rIns="0">
            <a:spAutoFit/>
          </a:bodyPr>
          <a:lstStyle/>
          <a:p>
            <a:pPr>
              <a:defRPr/>
            </a:pPr>
            <a:r>
              <a:rPr dirty="0" err="1"/>
              <a:t>不要为了节省空间而把多个语句写在同一行</a:t>
            </a:r>
            <a:r>
              <a:rPr dirty="0"/>
              <a:t>。</a:t>
            </a:r>
          </a:p>
        </p:txBody>
      </p:sp>
      <p:sp>
        <p:nvSpPr>
          <p:cNvPr id="47" name="文本框 46"/>
          <p:cNvSpPr txBox="1"/>
          <p:nvPr>
            <p:custDataLst>
              <p:tags r:id="rId2"/>
            </p:custDataLst>
          </p:nvPr>
        </p:nvSpPr>
        <p:spPr>
          <a:xfrm>
            <a:off x="4525645" y="3307715"/>
            <a:ext cx="7066914" cy="369332"/>
          </a:xfrm>
          <a:prstGeom prst="rect">
            <a:avLst/>
          </a:prstGeom>
          <a:noFill/>
        </p:spPr>
        <p:txBody>
          <a:bodyPr wrap="square" lIns="0" rIns="0">
            <a:spAutoFit/>
          </a:bodyPr>
          <a:lstStyle/>
          <a:p>
            <a:pPr>
              <a:defRPr/>
            </a:pPr>
            <a:r>
              <a:rPr dirty="0" err="1"/>
              <a:t>尽量减少对“非”条件的测试</a:t>
            </a:r>
            <a:r>
              <a:rPr dirty="0"/>
              <a:t>。</a:t>
            </a:r>
          </a:p>
        </p:txBody>
      </p:sp>
      <p:sp>
        <p:nvSpPr>
          <p:cNvPr id="11" name="文本框 10"/>
          <p:cNvSpPr txBox="1"/>
          <p:nvPr>
            <p:custDataLst>
              <p:tags r:id="rId3"/>
            </p:custDataLst>
          </p:nvPr>
        </p:nvSpPr>
        <p:spPr>
          <a:xfrm>
            <a:off x="4525645" y="4654550"/>
            <a:ext cx="7242175" cy="481965"/>
          </a:xfrm>
          <a:prstGeom prst="rect">
            <a:avLst/>
          </a:prstGeom>
          <a:noFill/>
        </p:spPr>
        <p:txBody>
          <a:bodyPr wrap="square" lIns="0" rIns="0">
            <a:normAutofit/>
          </a:bodyPr>
          <a:lstStyle/>
          <a:p>
            <a:pPr>
              <a:defRPr/>
            </a:pPr>
            <a:r>
              <a:rPr lang="zh-CN" altLang="en-US" dirty="0"/>
              <a:t>避免大量使用循环嵌套语句和条件嵌套语句。</a:t>
            </a:r>
          </a:p>
          <a:p>
            <a:pPr>
              <a:defRPr/>
            </a:pPr>
            <a:endParaRPr lang="zh-CN" altLang="en-US" dirty="0"/>
          </a:p>
        </p:txBody>
      </p:sp>
      <p:sp>
        <p:nvSpPr>
          <p:cNvPr id="12" name="文本框 11"/>
          <p:cNvSpPr txBox="1"/>
          <p:nvPr>
            <p:custDataLst>
              <p:tags r:id="rId4"/>
            </p:custDataLst>
          </p:nvPr>
        </p:nvSpPr>
        <p:spPr>
          <a:xfrm>
            <a:off x="3496310" y="5701665"/>
            <a:ext cx="8134985" cy="369332"/>
          </a:xfrm>
          <a:prstGeom prst="rect">
            <a:avLst/>
          </a:prstGeom>
          <a:noFill/>
        </p:spPr>
        <p:txBody>
          <a:bodyPr wrap="square" lIns="0" rIns="0">
            <a:spAutoFit/>
          </a:bodyPr>
          <a:lstStyle/>
          <a:p>
            <a:pPr>
              <a:defRPr/>
            </a:pPr>
            <a:r>
              <a:rPr lang="zh-CN" altLang="en-US" dirty="0"/>
              <a:t>每个循环要有终止条件，不要有死循环，也要避免不可能被执行的循环。</a:t>
            </a:r>
          </a:p>
        </p:txBody>
      </p:sp>
      <p:sp>
        <p:nvSpPr>
          <p:cNvPr id="57" name="文本框 56"/>
          <p:cNvSpPr txBox="1"/>
          <p:nvPr>
            <p:custDataLst>
              <p:tags r:id="rId5"/>
            </p:custDataLst>
          </p:nvPr>
        </p:nvSpPr>
        <p:spPr>
          <a:xfrm>
            <a:off x="4525645" y="3899535"/>
            <a:ext cx="6324600" cy="646331"/>
          </a:xfrm>
          <a:prstGeom prst="rect">
            <a:avLst/>
          </a:prstGeom>
          <a:noFill/>
        </p:spPr>
        <p:txBody>
          <a:bodyPr wrap="square" lIns="0" rIns="0">
            <a:spAutoFit/>
          </a:bodyPr>
          <a:lstStyle/>
          <a:p>
            <a:pPr>
              <a:defRPr/>
            </a:pPr>
            <a:r>
              <a:rPr dirty="0" err="1">
                <a:sym typeface="+mn-ea"/>
              </a:rPr>
              <a:t>对于多分支语句，尽量把出现可能性大的情况放在前面，把较少出现的分支放在后面，可以加快运算时间</a:t>
            </a:r>
            <a:r>
              <a:rPr dirty="0">
                <a:sym typeface="+mn-ea"/>
              </a:rPr>
              <a:t>。</a:t>
            </a:r>
            <a:endParaRPr dirty="0"/>
          </a:p>
        </p:txBody>
      </p:sp>
      <p:sp>
        <p:nvSpPr>
          <p:cNvPr id="15" name="文本框 14"/>
          <p:cNvSpPr txBox="1"/>
          <p:nvPr/>
        </p:nvSpPr>
        <p:spPr>
          <a:xfrm>
            <a:off x="4020820" y="2861945"/>
            <a:ext cx="2954655" cy="369332"/>
          </a:xfrm>
          <a:prstGeom prst="rect">
            <a:avLst/>
          </a:prstGeom>
          <a:noFill/>
        </p:spPr>
        <p:txBody>
          <a:bodyPr wrap="none" rtlCol="0" anchor="t">
            <a:spAutoFit/>
          </a:bodyPr>
          <a:lstStyle/>
          <a:p>
            <a:r>
              <a:rPr dirty="0" err="1">
                <a:sym typeface="+mn-ea"/>
              </a:rPr>
              <a:t>尽量避免复杂的条件测试</a:t>
            </a:r>
            <a:r>
              <a:rPr dirty="0">
                <a:sym typeface="+mn-ea"/>
              </a:rPr>
              <a:t>。</a:t>
            </a:r>
            <a:endParaRPr lang="zh-CN" altLang="en-US" dirty="0"/>
          </a:p>
        </p:txBody>
      </p:sp>
      <p:sp>
        <p:nvSpPr>
          <p:cNvPr id="16" name="文本框 15"/>
          <p:cNvSpPr txBox="1"/>
          <p:nvPr/>
        </p:nvSpPr>
        <p:spPr>
          <a:xfrm>
            <a:off x="4045585" y="5158105"/>
            <a:ext cx="6186309" cy="369332"/>
          </a:xfrm>
          <a:prstGeom prst="rect">
            <a:avLst/>
          </a:prstGeom>
          <a:noFill/>
        </p:spPr>
        <p:txBody>
          <a:bodyPr wrap="none" rtlCol="0" anchor="t">
            <a:spAutoFit/>
          </a:bodyPr>
          <a:lstStyle/>
          <a:p>
            <a:pPr>
              <a:defRPr/>
            </a:pPr>
            <a:r>
              <a:rPr lang="zh-CN" altLang="en-US" dirty="0">
                <a:sym typeface="+mn-ea"/>
              </a:rPr>
              <a:t>利用括号使逻辑表达式或算术表达式的运算次序清晰直观。</a:t>
            </a:r>
            <a:endParaRPr lang="zh-CN" altLang="en-US" dirty="0"/>
          </a:p>
        </p:txBody>
      </p:sp>
      <p:grpSp>
        <p:nvGrpSpPr>
          <p:cNvPr id="33" name="组合 32">
            <a:extLst>
              <a:ext uri="{FF2B5EF4-FFF2-40B4-BE49-F238E27FC236}">
                <a16:creationId xmlns:a16="http://schemas.microsoft.com/office/drawing/2014/main" id="{DE663970-164C-4735-4722-A22D082A5B61}"/>
              </a:ext>
            </a:extLst>
          </p:cNvPr>
          <p:cNvGrpSpPr/>
          <p:nvPr/>
        </p:nvGrpSpPr>
        <p:grpSpPr>
          <a:xfrm>
            <a:off x="689212" y="2445047"/>
            <a:ext cx="3483610" cy="3663950"/>
            <a:chOff x="689212" y="2445047"/>
            <a:chExt cx="3483610" cy="3663950"/>
          </a:xfrm>
        </p:grpSpPr>
        <p:sp>
          <p:nvSpPr>
            <p:cNvPr id="22" name="Oval 15">
              <a:extLst>
                <a:ext uri="{FF2B5EF4-FFF2-40B4-BE49-F238E27FC236}">
                  <a16:creationId xmlns:a16="http://schemas.microsoft.com/office/drawing/2014/main" id="{A0F346FE-E2B1-017B-8EE6-C0673E07A3D9}"/>
                </a:ext>
              </a:extLst>
            </p:cNvPr>
            <p:cNvSpPr>
              <a:spLocks noChangeArrowheads="1"/>
            </p:cNvSpPr>
            <p:nvPr>
              <p:custDataLst>
                <p:tags r:id="rId6"/>
              </p:custDataLst>
            </p:nvPr>
          </p:nvSpPr>
          <p:spPr bwMode="auto">
            <a:xfrm>
              <a:off x="861932" y="2679997"/>
              <a:ext cx="3153410" cy="3182620"/>
            </a:xfrm>
            <a:prstGeom prst="ellipse">
              <a:avLst/>
            </a:prstGeom>
            <a:noFill/>
            <a:ln w="19050">
              <a:solidFill>
                <a:srgbClr val="00B0F0"/>
              </a:solidFill>
              <a:round/>
            </a:ln>
            <a:effectLst/>
            <a:extLst>
              <a:ext uri="{909E8E84-426E-40DD-AFC4-6F175D3DCCD1}">
                <a14:hiddenFill xmlns:a14="http://schemas.microsoft.com/office/drawing/2010/main">
                  <a:solidFill>
                    <a:srgbClr val="4F5A71"/>
                  </a:solid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23" name="Line 16">
              <a:extLst>
                <a:ext uri="{FF2B5EF4-FFF2-40B4-BE49-F238E27FC236}">
                  <a16:creationId xmlns:a16="http://schemas.microsoft.com/office/drawing/2014/main" id="{9C518E34-95F6-9FEA-3AF6-D3B373EEB69C}"/>
                </a:ext>
              </a:extLst>
            </p:cNvPr>
            <p:cNvSpPr>
              <a:spLocks noChangeShapeType="1"/>
            </p:cNvSpPr>
            <p:nvPr>
              <p:custDataLst>
                <p:tags r:id="rId7"/>
              </p:custDataLst>
            </p:nvPr>
          </p:nvSpPr>
          <p:spPr bwMode="gray">
            <a:xfrm>
              <a:off x="689212" y="4278292"/>
              <a:ext cx="3483610" cy="0"/>
            </a:xfrm>
            <a:prstGeom prst="line">
              <a:avLst/>
            </a:prstGeom>
            <a:noFill/>
            <a:ln w="28575">
              <a:solidFill>
                <a:srgbClr val="4F5A71">
                  <a:alpha val="50000"/>
                </a:srgb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24" name="Line 17">
              <a:extLst>
                <a:ext uri="{FF2B5EF4-FFF2-40B4-BE49-F238E27FC236}">
                  <a16:creationId xmlns:a16="http://schemas.microsoft.com/office/drawing/2014/main" id="{380168E4-1BE2-BA1A-B0A7-A70698B5DBD4}"/>
                </a:ext>
              </a:extLst>
            </p:cNvPr>
            <p:cNvSpPr>
              <a:spLocks noChangeShapeType="1"/>
            </p:cNvSpPr>
            <p:nvPr>
              <p:custDataLst>
                <p:tags r:id="rId8"/>
              </p:custDataLst>
            </p:nvPr>
          </p:nvSpPr>
          <p:spPr bwMode="gray">
            <a:xfrm>
              <a:off x="2431017" y="2445047"/>
              <a:ext cx="0" cy="3663950"/>
            </a:xfrm>
            <a:prstGeom prst="line">
              <a:avLst/>
            </a:prstGeom>
            <a:noFill/>
            <a:ln w="28575">
              <a:solidFill>
                <a:srgbClr val="4F5A71">
                  <a:alpha val="50000"/>
                </a:srgb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25" name="Oval 10">
              <a:extLst>
                <a:ext uri="{FF2B5EF4-FFF2-40B4-BE49-F238E27FC236}">
                  <a16:creationId xmlns:a16="http://schemas.microsoft.com/office/drawing/2014/main" id="{84B46B22-989A-9123-A2AB-1F6D32697E3C}"/>
                </a:ext>
              </a:extLst>
            </p:cNvPr>
            <p:cNvSpPr>
              <a:spLocks noChangeArrowheads="1"/>
            </p:cNvSpPr>
            <p:nvPr>
              <p:custDataLst>
                <p:tags r:id="rId9"/>
              </p:custDataLst>
            </p:nvPr>
          </p:nvSpPr>
          <p:spPr bwMode="gray">
            <a:xfrm>
              <a:off x="1034652" y="2860337"/>
              <a:ext cx="2789555" cy="2811145"/>
            </a:xfrm>
            <a:prstGeom prst="ellipse">
              <a:avLst/>
            </a:prstGeom>
            <a:noFill/>
            <a:ln w="9525">
              <a:solidFill>
                <a:srgbClr val="00B0F0">
                  <a:alpha val="50000"/>
                </a:srgbClr>
              </a:solidFill>
              <a:round/>
            </a:ln>
            <a:effectLst/>
            <a:extLst>
              <a:ext uri="{909E8E84-426E-40DD-AFC4-6F175D3DCCD1}">
                <a14:hiddenFill xmlns:a14="http://schemas.microsoft.com/office/drawing/2010/main">
                  <a:solidFill>
                    <a:srgbClr val="4F5A71">
                      <a:alpha val="64999"/>
                    </a:srgbClr>
                  </a:solid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26" name="Oval 13">
              <a:extLst>
                <a:ext uri="{FF2B5EF4-FFF2-40B4-BE49-F238E27FC236}">
                  <a16:creationId xmlns:a16="http://schemas.microsoft.com/office/drawing/2014/main" id="{9395CB64-654E-EF03-A954-628C49B27C73}"/>
                </a:ext>
              </a:extLst>
            </p:cNvPr>
            <p:cNvSpPr>
              <a:spLocks noChangeArrowheads="1"/>
            </p:cNvSpPr>
            <p:nvPr>
              <p:custDataLst>
                <p:tags r:id="rId10"/>
              </p:custDataLst>
            </p:nvPr>
          </p:nvSpPr>
          <p:spPr bwMode="gray">
            <a:xfrm>
              <a:off x="1353422" y="3197522"/>
              <a:ext cx="2137410" cy="2181860"/>
            </a:xfrm>
            <a:prstGeom prst="ellipse">
              <a:avLst/>
            </a:prstGeom>
            <a:solidFill>
              <a:srgbClr val="00B0F0"/>
            </a:solidFill>
            <a:ln w="0">
              <a:noFill/>
            </a:ln>
            <a:effectLst/>
          </p:spPr>
          <p:txBody>
            <a:bodyPr wrap="square" anchor="ctr">
              <a:normAutofit/>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27" name="KSO_GT1">
              <a:extLst>
                <a:ext uri="{FF2B5EF4-FFF2-40B4-BE49-F238E27FC236}">
                  <a16:creationId xmlns:a16="http://schemas.microsoft.com/office/drawing/2014/main" id="{BBC7426F-57E0-AD02-5365-88CF092FE8B5}"/>
                </a:ext>
              </a:extLst>
            </p:cNvPr>
            <p:cNvSpPr>
              <a:spLocks noChangeArrowheads="1"/>
            </p:cNvSpPr>
            <p:nvPr>
              <p:custDataLst>
                <p:tags r:id="rId11"/>
              </p:custDataLst>
            </p:nvPr>
          </p:nvSpPr>
          <p:spPr bwMode="gray">
            <a:xfrm>
              <a:off x="1738232" y="3589952"/>
              <a:ext cx="1368425" cy="1397635"/>
            </a:xfrm>
            <a:prstGeom prst="ellipse">
              <a:avLst/>
            </a:prstGeom>
            <a:solidFill>
              <a:schemeClr val="accent5"/>
            </a:solidFill>
            <a:ln>
              <a:noFill/>
            </a:ln>
            <a:effectLst/>
          </p:spPr>
          <p:txBody>
            <a:bodyPr wrap="square" lIns="0" tIns="0" rIns="0" bIns="0" anchor="ctr">
              <a:normAutofit fontScale="97500"/>
            </a:bodyPr>
            <a:lstStyle/>
            <a:p>
              <a:pPr algn="ctr">
                <a:defRPr/>
              </a:pPr>
              <a:r>
                <a:rPr lang="zh-CN" altLang="en-US" sz="2800" kern="0" dirty="0">
                  <a:solidFill>
                    <a:srgbClr val="FFFFFF"/>
                  </a:solidFill>
                  <a:latin typeface="Times New Roman" panose="02020603050405020304" pitchFamily="18" charset="0"/>
                  <a:ea typeface="微软雅黑 Light" panose="020B0502040204020203" pitchFamily="34" charset="-122"/>
                  <a:cs typeface="+mn-ea"/>
                </a:rPr>
                <a:t>语句构造</a:t>
              </a:r>
            </a:p>
          </p:txBody>
        </p:sp>
        <p:sp>
          <p:nvSpPr>
            <p:cNvPr id="28" name="Oval 19">
              <a:extLst>
                <a:ext uri="{FF2B5EF4-FFF2-40B4-BE49-F238E27FC236}">
                  <a16:creationId xmlns:a16="http://schemas.microsoft.com/office/drawing/2014/main" id="{9C501C40-E79D-943A-D304-797D5F9510BC}"/>
                </a:ext>
              </a:extLst>
            </p:cNvPr>
            <p:cNvSpPr>
              <a:spLocks noChangeArrowheads="1"/>
            </p:cNvSpPr>
            <p:nvPr>
              <p:custDataLst>
                <p:tags r:id="rId12"/>
              </p:custDataLst>
            </p:nvPr>
          </p:nvSpPr>
          <p:spPr bwMode="gray">
            <a:xfrm>
              <a:off x="2880597" y="2598082"/>
              <a:ext cx="251460" cy="251460"/>
            </a:xfrm>
            <a:prstGeom prst="ellipse">
              <a:avLst/>
            </a:prstGeom>
            <a:solidFill>
              <a:srgbClr val="00B0F0"/>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30" name="Oval 19">
              <a:extLst>
                <a:ext uri="{FF2B5EF4-FFF2-40B4-BE49-F238E27FC236}">
                  <a16:creationId xmlns:a16="http://schemas.microsoft.com/office/drawing/2014/main" id="{2D310A67-69BA-77CD-BAB3-C4C3AA7360B7}"/>
                </a:ext>
              </a:extLst>
            </p:cNvPr>
            <p:cNvSpPr>
              <a:spLocks noChangeArrowheads="1"/>
            </p:cNvSpPr>
            <p:nvPr>
              <p:custDataLst>
                <p:tags r:id="rId13"/>
              </p:custDataLst>
            </p:nvPr>
          </p:nvSpPr>
          <p:spPr bwMode="gray">
            <a:xfrm>
              <a:off x="3878182" y="4153832"/>
              <a:ext cx="251460" cy="251460"/>
            </a:xfrm>
            <a:prstGeom prst="ellipse">
              <a:avLst/>
            </a:prstGeom>
            <a:solidFill>
              <a:schemeClr val="accent4"/>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31" name="Oval 19">
              <a:extLst>
                <a:ext uri="{FF2B5EF4-FFF2-40B4-BE49-F238E27FC236}">
                  <a16:creationId xmlns:a16="http://schemas.microsoft.com/office/drawing/2014/main" id="{FD856B1D-0144-7D35-82B2-6775267A62E5}"/>
                </a:ext>
              </a:extLst>
            </p:cNvPr>
            <p:cNvSpPr>
              <a:spLocks noChangeArrowheads="1"/>
            </p:cNvSpPr>
            <p:nvPr>
              <p:custDataLst>
                <p:tags r:id="rId14"/>
              </p:custDataLst>
            </p:nvPr>
          </p:nvSpPr>
          <p:spPr bwMode="gray">
            <a:xfrm>
              <a:off x="3599735" y="3227685"/>
              <a:ext cx="251460" cy="251460"/>
            </a:xfrm>
            <a:prstGeom prst="ellipse">
              <a:avLst/>
            </a:prstGeom>
            <a:solidFill>
              <a:schemeClr val="accent6"/>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32" name="Oval 19">
              <a:extLst>
                <a:ext uri="{FF2B5EF4-FFF2-40B4-BE49-F238E27FC236}">
                  <a16:creationId xmlns:a16="http://schemas.microsoft.com/office/drawing/2014/main" id="{C4E4F744-03FC-8B40-B9DB-681592AF600A}"/>
                </a:ext>
              </a:extLst>
            </p:cNvPr>
            <p:cNvSpPr>
              <a:spLocks noChangeArrowheads="1"/>
            </p:cNvSpPr>
            <p:nvPr>
              <p:custDataLst>
                <p:tags r:id="rId15"/>
              </p:custDataLst>
            </p:nvPr>
          </p:nvSpPr>
          <p:spPr bwMode="gray">
            <a:xfrm>
              <a:off x="3649501" y="4976156"/>
              <a:ext cx="251460" cy="251460"/>
            </a:xfrm>
            <a:prstGeom prst="ellipse">
              <a:avLst/>
            </a:prstGeom>
            <a:solidFill>
              <a:schemeClr val="accent2"/>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latin typeface="Times New Roman" panose="02020603050405020304" pitchFamily="18" charset="0"/>
              </a:endParaRPr>
            </a:p>
          </p:txBody>
        </p:sp>
      </p:grpSp>
    </p:spTree>
  </p:cSld>
  <p:clrMapOvr>
    <a:masterClrMapping/>
  </p:clrMapOvr>
  <p:transition>
    <p:pull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en-US" dirty="0"/>
              <a:t>4.1 </a:t>
            </a:r>
            <a:r>
              <a:rPr lang="zh-CN" altLang="en-US" dirty="0"/>
              <a:t>结构化程序设计</a:t>
            </a:r>
          </a:p>
        </p:txBody>
      </p:sp>
      <p:sp>
        <p:nvSpPr>
          <p:cNvPr id="4" name="文本占位符 3">
            <a:extLst>
              <a:ext uri="{FF2B5EF4-FFF2-40B4-BE49-F238E27FC236}">
                <a16:creationId xmlns:a16="http://schemas.microsoft.com/office/drawing/2014/main" id="{49097535-B31D-D820-D093-F4FDC48A1FF9}"/>
              </a:ext>
            </a:extLst>
          </p:cNvPr>
          <p:cNvSpPr>
            <a:spLocks noGrp="1"/>
          </p:cNvSpPr>
          <p:nvPr>
            <p:ph type="body" sz="quarter" idx="10"/>
          </p:nvPr>
        </p:nvSpPr>
        <p:spPr>
          <a:xfrm>
            <a:off x="696000" y="1322832"/>
            <a:ext cx="5400000" cy="400110"/>
          </a:xfrm>
        </p:spPr>
        <p:txBody>
          <a:bodyPr/>
          <a:lstStyle/>
          <a:p>
            <a:r>
              <a:rPr lang="en-US" altLang="zh-CN" dirty="0"/>
              <a:t>4.1.2 </a:t>
            </a:r>
            <a:r>
              <a:rPr lang="zh-CN" altLang="en-US" dirty="0"/>
              <a:t>程序设计风格</a:t>
            </a:r>
          </a:p>
        </p:txBody>
      </p:sp>
      <p:sp>
        <p:nvSpPr>
          <p:cNvPr id="24" name="文本占位符 23">
            <a:extLst>
              <a:ext uri="{FF2B5EF4-FFF2-40B4-BE49-F238E27FC236}">
                <a16:creationId xmlns:a16="http://schemas.microsoft.com/office/drawing/2014/main" id="{E05491CA-1638-7004-03CA-F01289A1521C}"/>
              </a:ext>
            </a:extLst>
          </p:cNvPr>
          <p:cNvSpPr>
            <a:spLocks noGrp="1"/>
          </p:cNvSpPr>
          <p:nvPr>
            <p:ph type="body" sz="quarter" idx="11"/>
          </p:nvPr>
        </p:nvSpPr>
        <p:spPr/>
        <p:txBody>
          <a:bodyPr/>
          <a:lstStyle/>
          <a:p>
            <a:endParaRPr lang="zh-CN" altLang="en-US"/>
          </a:p>
        </p:txBody>
      </p:sp>
      <p:sp>
        <p:nvSpPr>
          <p:cNvPr id="10" name="文本框 9"/>
          <p:cNvSpPr txBox="1"/>
          <p:nvPr>
            <p:custDataLst>
              <p:tags r:id="rId1"/>
            </p:custDataLst>
          </p:nvPr>
        </p:nvSpPr>
        <p:spPr>
          <a:xfrm>
            <a:off x="3415665" y="1969770"/>
            <a:ext cx="8126301" cy="369332"/>
          </a:xfrm>
          <a:prstGeom prst="rect">
            <a:avLst/>
          </a:prstGeom>
          <a:noFill/>
        </p:spPr>
        <p:txBody>
          <a:bodyPr wrap="square" lIns="0" rIns="0">
            <a:spAutoFit/>
          </a:bodyPr>
          <a:lstStyle/>
          <a:p>
            <a:pPr>
              <a:defRPr/>
            </a:pPr>
            <a:r>
              <a:rPr dirty="0" err="1"/>
              <a:t>对输入数据加校验可以避免用户误输入</a:t>
            </a:r>
            <a:r>
              <a:rPr dirty="0"/>
              <a:t>。</a:t>
            </a:r>
          </a:p>
        </p:txBody>
      </p:sp>
      <p:sp>
        <p:nvSpPr>
          <p:cNvPr id="47" name="文本框 46"/>
          <p:cNvSpPr txBox="1"/>
          <p:nvPr>
            <p:custDataLst>
              <p:tags r:id="rId2"/>
            </p:custDataLst>
          </p:nvPr>
        </p:nvSpPr>
        <p:spPr>
          <a:xfrm>
            <a:off x="4348480" y="2748915"/>
            <a:ext cx="7545705" cy="369332"/>
          </a:xfrm>
          <a:prstGeom prst="rect">
            <a:avLst/>
          </a:prstGeom>
          <a:noFill/>
        </p:spPr>
        <p:txBody>
          <a:bodyPr wrap="square" lIns="0" rIns="0">
            <a:spAutoFit/>
          </a:bodyPr>
          <a:lstStyle/>
          <a:p>
            <a:pPr>
              <a:defRPr/>
            </a:pPr>
            <a:r>
              <a:rPr dirty="0" err="1"/>
              <a:t>提示输入的请求，并简明地说明可用的选择或边界数值</a:t>
            </a:r>
            <a:r>
              <a:rPr dirty="0"/>
              <a:t>。</a:t>
            </a:r>
          </a:p>
        </p:txBody>
      </p:sp>
      <p:sp>
        <p:nvSpPr>
          <p:cNvPr id="11" name="文本框 10"/>
          <p:cNvSpPr txBox="1"/>
          <p:nvPr>
            <p:custDataLst>
              <p:tags r:id="rId3"/>
            </p:custDataLst>
          </p:nvPr>
        </p:nvSpPr>
        <p:spPr>
          <a:xfrm>
            <a:off x="4866005" y="3902710"/>
            <a:ext cx="4354195" cy="369332"/>
          </a:xfrm>
          <a:prstGeom prst="rect">
            <a:avLst/>
          </a:prstGeom>
          <a:noFill/>
        </p:spPr>
        <p:txBody>
          <a:bodyPr wrap="square" lIns="0" rIns="0">
            <a:spAutoFit/>
          </a:bodyPr>
          <a:lstStyle/>
          <a:p>
            <a:pPr>
              <a:defRPr/>
            </a:pPr>
            <a:r>
              <a:rPr lang="zh-CN" altLang="en-US" dirty="0"/>
              <a:t>尽量保持输入格式的一致性。</a:t>
            </a:r>
          </a:p>
        </p:txBody>
      </p:sp>
      <p:sp>
        <p:nvSpPr>
          <p:cNvPr id="12" name="文本框 11"/>
          <p:cNvSpPr txBox="1"/>
          <p:nvPr>
            <p:custDataLst>
              <p:tags r:id="rId4"/>
            </p:custDataLst>
          </p:nvPr>
        </p:nvSpPr>
        <p:spPr>
          <a:xfrm>
            <a:off x="4348480" y="4719320"/>
            <a:ext cx="7545705" cy="369332"/>
          </a:xfrm>
          <a:prstGeom prst="rect">
            <a:avLst/>
          </a:prstGeom>
          <a:noFill/>
        </p:spPr>
        <p:txBody>
          <a:bodyPr wrap="square" lIns="0" rIns="0">
            <a:spAutoFit/>
          </a:bodyPr>
          <a:lstStyle/>
          <a:p>
            <a:pPr>
              <a:defRPr/>
            </a:pPr>
            <a:r>
              <a:rPr lang="zh-CN" altLang="en-US" dirty="0"/>
              <a:t>输出信息中不要有文字错误，要保证输出结果的正确性。</a:t>
            </a:r>
          </a:p>
        </p:txBody>
      </p:sp>
      <p:sp>
        <p:nvSpPr>
          <p:cNvPr id="57" name="文本框 56"/>
          <p:cNvSpPr txBox="1"/>
          <p:nvPr>
            <p:custDataLst>
              <p:tags r:id="rId5"/>
            </p:custDataLst>
          </p:nvPr>
        </p:nvSpPr>
        <p:spPr>
          <a:xfrm>
            <a:off x="4743450" y="3223895"/>
            <a:ext cx="6029325" cy="646331"/>
          </a:xfrm>
          <a:prstGeom prst="rect">
            <a:avLst/>
          </a:prstGeom>
          <a:noFill/>
        </p:spPr>
        <p:txBody>
          <a:bodyPr wrap="square" lIns="0" rIns="0">
            <a:spAutoFit/>
          </a:bodyPr>
          <a:lstStyle/>
          <a:p>
            <a:pPr>
              <a:defRPr/>
            </a:pPr>
            <a:r>
              <a:rPr dirty="0" err="1">
                <a:sym typeface="+mn-ea"/>
              </a:rPr>
              <a:t>输入格式简单，并可在提示中加以说明或用表格方式提供输入位置，方便用户使用</a:t>
            </a:r>
            <a:r>
              <a:rPr dirty="0">
                <a:sym typeface="+mn-ea"/>
              </a:rPr>
              <a:t>。</a:t>
            </a:r>
            <a:endParaRPr lang="zh-CN" altLang="en-US" dirty="0"/>
          </a:p>
        </p:txBody>
      </p:sp>
      <p:sp>
        <p:nvSpPr>
          <p:cNvPr id="15" name="文本框 14"/>
          <p:cNvSpPr txBox="1"/>
          <p:nvPr/>
        </p:nvSpPr>
        <p:spPr>
          <a:xfrm>
            <a:off x="3881755" y="2440305"/>
            <a:ext cx="4570482" cy="369332"/>
          </a:xfrm>
          <a:prstGeom prst="rect">
            <a:avLst/>
          </a:prstGeom>
          <a:noFill/>
        </p:spPr>
        <p:txBody>
          <a:bodyPr wrap="none" rtlCol="0" anchor="t">
            <a:spAutoFit/>
          </a:bodyPr>
          <a:lstStyle/>
          <a:p>
            <a:pPr algn="l"/>
            <a:r>
              <a:rPr dirty="0" err="1">
                <a:sym typeface="+mn-ea"/>
              </a:rPr>
              <a:t>对重要的输入项组合的合法性加检查语句</a:t>
            </a:r>
            <a:r>
              <a:rPr dirty="0">
                <a:sym typeface="+mn-ea"/>
              </a:rPr>
              <a:t>。</a:t>
            </a:r>
          </a:p>
        </p:txBody>
      </p:sp>
      <p:sp>
        <p:nvSpPr>
          <p:cNvPr id="16" name="文本框 15"/>
          <p:cNvSpPr txBox="1"/>
          <p:nvPr/>
        </p:nvSpPr>
        <p:spPr>
          <a:xfrm>
            <a:off x="4653280" y="4286885"/>
            <a:ext cx="2723823" cy="369332"/>
          </a:xfrm>
          <a:prstGeom prst="rect">
            <a:avLst/>
          </a:prstGeom>
          <a:noFill/>
        </p:spPr>
        <p:txBody>
          <a:bodyPr wrap="none" rtlCol="0" anchor="t">
            <a:spAutoFit/>
          </a:bodyPr>
          <a:lstStyle/>
          <a:p>
            <a:pPr algn="l">
              <a:defRPr/>
            </a:pPr>
            <a:r>
              <a:rPr lang="zh-CN" altLang="en-US" dirty="0">
                <a:sym typeface="+mn-ea"/>
              </a:rPr>
              <a:t>使用数据输入结束标志。</a:t>
            </a:r>
          </a:p>
        </p:txBody>
      </p:sp>
      <p:sp>
        <p:nvSpPr>
          <p:cNvPr id="18" name="文本框 17"/>
          <p:cNvSpPr txBox="1"/>
          <p:nvPr/>
        </p:nvSpPr>
        <p:spPr>
          <a:xfrm>
            <a:off x="3978910" y="5215890"/>
            <a:ext cx="7646035" cy="640080"/>
          </a:xfrm>
          <a:prstGeom prst="rect">
            <a:avLst/>
          </a:prstGeom>
          <a:noFill/>
        </p:spPr>
        <p:txBody>
          <a:bodyPr wrap="square" rtlCol="0" anchor="t">
            <a:spAutoFit/>
          </a:bodyPr>
          <a:lstStyle/>
          <a:p>
            <a:r>
              <a:rPr lang="zh-CN" altLang="en-US" dirty="0"/>
              <a:t>输出报表的设计要符合用户要求，在因输出设备的条件有限不能满足用户要求时，应提出可行的方案供用户选择，用户满意时再采用某种方案。</a:t>
            </a:r>
          </a:p>
        </p:txBody>
      </p:sp>
      <p:sp>
        <p:nvSpPr>
          <p:cNvPr id="19" name="文本框 18"/>
          <p:cNvSpPr txBox="1"/>
          <p:nvPr/>
        </p:nvSpPr>
        <p:spPr>
          <a:xfrm>
            <a:off x="3415665" y="5954395"/>
            <a:ext cx="4585334" cy="365760"/>
          </a:xfrm>
          <a:prstGeom prst="rect">
            <a:avLst/>
          </a:prstGeom>
          <a:noFill/>
        </p:spPr>
        <p:txBody>
          <a:bodyPr wrap="square" rtlCol="0" anchor="t">
            <a:spAutoFit/>
          </a:bodyPr>
          <a:lstStyle/>
          <a:p>
            <a:r>
              <a:rPr lang="zh-CN" altLang="en-US" dirty="0"/>
              <a:t>给所有的输出数据加注标志。</a:t>
            </a:r>
          </a:p>
        </p:txBody>
      </p:sp>
      <p:grpSp>
        <p:nvGrpSpPr>
          <p:cNvPr id="55" name="组合 54">
            <a:extLst>
              <a:ext uri="{FF2B5EF4-FFF2-40B4-BE49-F238E27FC236}">
                <a16:creationId xmlns:a16="http://schemas.microsoft.com/office/drawing/2014/main" id="{E9FCDD52-DAEE-6F2A-81CB-BB74C4CFB5C5}"/>
              </a:ext>
            </a:extLst>
          </p:cNvPr>
          <p:cNvGrpSpPr/>
          <p:nvPr/>
        </p:nvGrpSpPr>
        <p:grpSpPr>
          <a:xfrm>
            <a:off x="689212" y="2445047"/>
            <a:ext cx="3483610" cy="3663950"/>
            <a:chOff x="689212" y="2445047"/>
            <a:chExt cx="3483610" cy="3663950"/>
          </a:xfrm>
        </p:grpSpPr>
        <p:sp>
          <p:nvSpPr>
            <p:cNvPr id="38" name="Oval 15">
              <a:extLst>
                <a:ext uri="{FF2B5EF4-FFF2-40B4-BE49-F238E27FC236}">
                  <a16:creationId xmlns:a16="http://schemas.microsoft.com/office/drawing/2014/main" id="{C09CEF1D-B6B4-F48C-D43B-5B3F052050F1}"/>
                </a:ext>
              </a:extLst>
            </p:cNvPr>
            <p:cNvSpPr>
              <a:spLocks noChangeArrowheads="1"/>
            </p:cNvSpPr>
            <p:nvPr>
              <p:custDataLst>
                <p:tags r:id="rId6"/>
              </p:custDataLst>
            </p:nvPr>
          </p:nvSpPr>
          <p:spPr bwMode="auto">
            <a:xfrm>
              <a:off x="861932" y="2679997"/>
              <a:ext cx="3153410" cy="3182620"/>
            </a:xfrm>
            <a:prstGeom prst="ellipse">
              <a:avLst/>
            </a:prstGeom>
            <a:noFill/>
            <a:ln w="19050">
              <a:solidFill>
                <a:srgbClr val="00B0F0"/>
              </a:solidFill>
              <a:round/>
            </a:ln>
            <a:effectLst/>
            <a:extLst>
              <a:ext uri="{909E8E84-426E-40DD-AFC4-6F175D3DCCD1}">
                <a14:hiddenFill xmlns:a14="http://schemas.microsoft.com/office/drawing/2010/main">
                  <a:solidFill>
                    <a:srgbClr val="4F5A71"/>
                  </a:solid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39" name="Line 16">
              <a:extLst>
                <a:ext uri="{FF2B5EF4-FFF2-40B4-BE49-F238E27FC236}">
                  <a16:creationId xmlns:a16="http://schemas.microsoft.com/office/drawing/2014/main" id="{C7F07DA3-8FB8-C9B3-2006-0095E52FCD13}"/>
                </a:ext>
              </a:extLst>
            </p:cNvPr>
            <p:cNvSpPr>
              <a:spLocks noChangeShapeType="1"/>
            </p:cNvSpPr>
            <p:nvPr>
              <p:custDataLst>
                <p:tags r:id="rId7"/>
              </p:custDataLst>
            </p:nvPr>
          </p:nvSpPr>
          <p:spPr bwMode="gray">
            <a:xfrm>
              <a:off x="689212" y="4278292"/>
              <a:ext cx="3483610" cy="0"/>
            </a:xfrm>
            <a:prstGeom prst="line">
              <a:avLst/>
            </a:prstGeom>
            <a:noFill/>
            <a:ln w="28575">
              <a:solidFill>
                <a:srgbClr val="4F5A71">
                  <a:alpha val="50000"/>
                </a:srgb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41" name="Line 17">
              <a:extLst>
                <a:ext uri="{FF2B5EF4-FFF2-40B4-BE49-F238E27FC236}">
                  <a16:creationId xmlns:a16="http://schemas.microsoft.com/office/drawing/2014/main" id="{75F15144-B41A-FAE2-A1B4-F5C3F5F658F5}"/>
                </a:ext>
              </a:extLst>
            </p:cNvPr>
            <p:cNvSpPr>
              <a:spLocks noChangeShapeType="1"/>
            </p:cNvSpPr>
            <p:nvPr>
              <p:custDataLst>
                <p:tags r:id="rId8"/>
              </p:custDataLst>
            </p:nvPr>
          </p:nvSpPr>
          <p:spPr bwMode="gray">
            <a:xfrm>
              <a:off x="2431017" y="2445047"/>
              <a:ext cx="0" cy="3663950"/>
            </a:xfrm>
            <a:prstGeom prst="line">
              <a:avLst/>
            </a:prstGeom>
            <a:noFill/>
            <a:ln w="28575">
              <a:solidFill>
                <a:srgbClr val="4F5A71">
                  <a:alpha val="50000"/>
                </a:srgb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42" name="Oval 10">
              <a:extLst>
                <a:ext uri="{FF2B5EF4-FFF2-40B4-BE49-F238E27FC236}">
                  <a16:creationId xmlns:a16="http://schemas.microsoft.com/office/drawing/2014/main" id="{5A757AA3-4993-6363-531B-2379DA05918B}"/>
                </a:ext>
              </a:extLst>
            </p:cNvPr>
            <p:cNvSpPr>
              <a:spLocks noChangeArrowheads="1"/>
            </p:cNvSpPr>
            <p:nvPr>
              <p:custDataLst>
                <p:tags r:id="rId9"/>
              </p:custDataLst>
            </p:nvPr>
          </p:nvSpPr>
          <p:spPr bwMode="gray">
            <a:xfrm>
              <a:off x="1034652" y="2860337"/>
              <a:ext cx="2789555" cy="2811145"/>
            </a:xfrm>
            <a:prstGeom prst="ellipse">
              <a:avLst/>
            </a:prstGeom>
            <a:noFill/>
            <a:ln w="9525">
              <a:solidFill>
                <a:srgbClr val="00B0F0">
                  <a:alpha val="50000"/>
                </a:srgbClr>
              </a:solidFill>
              <a:round/>
            </a:ln>
            <a:effectLst/>
            <a:extLst>
              <a:ext uri="{909E8E84-426E-40DD-AFC4-6F175D3DCCD1}">
                <a14:hiddenFill xmlns:a14="http://schemas.microsoft.com/office/drawing/2010/main">
                  <a:solidFill>
                    <a:srgbClr val="4F5A71">
                      <a:alpha val="64999"/>
                    </a:srgbClr>
                  </a:solid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44" name="Oval 13">
              <a:extLst>
                <a:ext uri="{FF2B5EF4-FFF2-40B4-BE49-F238E27FC236}">
                  <a16:creationId xmlns:a16="http://schemas.microsoft.com/office/drawing/2014/main" id="{F7612D66-94D4-1EB2-8F08-DD0A3C85078C}"/>
                </a:ext>
              </a:extLst>
            </p:cNvPr>
            <p:cNvSpPr>
              <a:spLocks noChangeArrowheads="1"/>
            </p:cNvSpPr>
            <p:nvPr>
              <p:custDataLst>
                <p:tags r:id="rId10"/>
              </p:custDataLst>
            </p:nvPr>
          </p:nvSpPr>
          <p:spPr bwMode="gray">
            <a:xfrm>
              <a:off x="1353422" y="3197522"/>
              <a:ext cx="2137410" cy="2181860"/>
            </a:xfrm>
            <a:prstGeom prst="ellipse">
              <a:avLst/>
            </a:prstGeom>
            <a:solidFill>
              <a:srgbClr val="00B0F0"/>
            </a:solidFill>
            <a:ln w="0">
              <a:noFill/>
            </a:ln>
            <a:effectLst/>
          </p:spPr>
          <p:txBody>
            <a:bodyPr wrap="square" anchor="ctr">
              <a:normAutofit/>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45" name="KSO_GT1">
              <a:extLst>
                <a:ext uri="{FF2B5EF4-FFF2-40B4-BE49-F238E27FC236}">
                  <a16:creationId xmlns:a16="http://schemas.microsoft.com/office/drawing/2014/main" id="{38DDD241-DC1B-336D-4021-1C7A63B52B00}"/>
                </a:ext>
              </a:extLst>
            </p:cNvPr>
            <p:cNvSpPr>
              <a:spLocks noChangeArrowheads="1"/>
            </p:cNvSpPr>
            <p:nvPr>
              <p:custDataLst>
                <p:tags r:id="rId11"/>
              </p:custDataLst>
            </p:nvPr>
          </p:nvSpPr>
          <p:spPr bwMode="gray">
            <a:xfrm>
              <a:off x="1738232" y="3589952"/>
              <a:ext cx="1368425" cy="1397635"/>
            </a:xfrm>
            <a:prstGeom prst="ellipse">
              <a:avLst/>
            </a:prstGeom>
            <a:solidFill>
              <a:schemeClr val="accent5"/>
            </a:solidFill>
            <a:ln>
              <a:noFill/>
            </a:ln>
            <a:effectLst/>
          </p:spPr>
          <p:txBody>
            <a:bodyPr wrap="square" lIns="0" tIns="0" rIns="0" bIns="0" anchor="ctr">
              <a:normAutofit fontScale="97500"/>
            </a:bodyPr>
            <a:lstStyle/>
            <a:p>
              <a:pPr algn="ctr">
                <a:defRPr/>
              </a:pPr>
              <a:r>
                <a:rPr lang="zh-CN" altLang="en-US" sz="2800" kern="0" dirty="0">
                  <a:solidFill>
                    <a:srgbClr val="FFFFFF"/>
                  </a:solidFill>
                  <a:latin typeface="Times New Roman" panose="02020603050405020304" pitchFamily="18" charset="0"/>
                  <a:ea typeface="微软雅黑 Light" panose="020B0502040204020203" pitchFamily="34" charset="-122"/>
                  <a:cs typeface="+mn-ea"/>
                </a:rPr>
                <a:t>语句构造</a:t>
              </a:r>
            </a:p>
          </p:txBody>
        </p:sp>
        <p:sp>
          <p:nvSpPr>
            <p:cNvPr id="48" name="Oval 19">
              <a:extLst>
                <a:ext uri="{FF2B5EF4-FFF2-40B4-BE49-F238E27FC236}">
                  <a16:creationId xmlns:a16="http://schemas.microsoft.com/office/drawing/2014/main" id="{5BF26A63-DF07-4165-7ED7-2A08F72A8A0A}"/>
                </a:ext>
              </a:extLst>
            </p:cNvPr>
            <p:cNvSpPr>
              <a:spLocks noChangeArrowheads="1"/>
            </p:cNvSpPr>
            <p:nvPr>
              <p:custDataLst>
                <p:tags r:id="rId12"/>
              </p:custDataLst>
            </p:nvPr>
          </p:nvSpPr>
          <p:spPr bwMode="gray">
            <a:xfrm>
              <a:off x="2880597" y="2598082"/>
              <a:ext cx="251460" cy="251460"/>
            </a:xfrm>
            <a:prstGeom prst="ellipse">
              <a:avLst/>
            </a:prstGeom>
            <a:solidFill>
              <a:srgbClr val="00B0F0"/>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50" name="Oval 19">
              <a:extLst>
                <a:ext uri="{FF2B5EF4-FFF2-40B4-BE49-F238E27FC236}">
                  <a16:creationId xmlns:a16="http://schemas.microsoft.com/office/drawing/2014/main" id="{0C289F0D-D985-D744-3A2D-BF48B422B5F9}"/>
                </a:ext>
              </a:extLst>
            </p:cNvPr>
            <p:cNvSpPr>
              <a:spLocks noChangeArrowheads="1"/>
            </p:cNvSpPr>
            <p:nvPr>
              <p:custDataLst>
                <p:tags r:id="rId13"/>
              </p:custDataLst>
            </p:nvPr>
          </p:nvSpPr>
          <p:spPr bwMode="gray">
            <a:xfrm>
              <a:off x="3878182" y="4153832"/>
              <a:ext cx="251460" cy="251460"/>
            </a:xfrm>
            <a:prstGeom prst="ellipse">
              <a:avLst/>
            </a:prstGeom>
            <a:solidFill>
              <a:schemeClr val="accent4"/>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51" name="Oval 19">
              <a:extLst>
                <a:ext uri="{FF2B5EF4-FFF2-40B4-BE49-F238E27FC236}">
                  <a16:creationId xmlns:a16="http://schemas.microsoft.com/office/drawing/2014/main" id="{545D59AD-FD67-CAEA-C663-27EFFE5FD316}"/>
                </a:ext>
              </a:extLst>
            </p:cNvPr>
            <p:cNvSpPr>
              <a:spLocks noChangeArrowheads="1"/>
            </p:cNvSpPr>
            <p:nvPr>
              <p:custDataLst>
                <p:tags r:id="rId14"/>
              </p:custDataLst>
            </p:nvPr>
          </p:nvSpPr>
          <p:spPr bwMode="gray">
            <a:xfrm>
              <a:off x="3599735" y="3227685"/>
              <a:ext cx="251460" cy="251460"/>
            </a:xfrm>
            <a:prstGeom prst="ellipse">
              <a:avLst/>
            </a:prstGeom>
            <a:solidFill>
              <a:schemeClr val="accent6"/>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52" name="Oval 19">
              <a:extLst>
                <a:ext uri="{FF2B5EF4-FFF2-40B4-BE49-F238E27FC236}">
                  <a16:creationId xmlns:a16="http://schemas.microsoft.com/office/drawing/2014/main" id="{D345D523-2CA0-3D90-799F-FFAA2EB52231}"/>
                </a:ext>
              </a:extLst>
            </p:cNvPr>
            <p:cNvSpPr>
              <a:spLocks noChangeArrowheads="1"/>
            </p:cNvSpPr>
            <p:nvPr>
              <p:custDataLst>
                <p:tags r:id="rId15"/>
              </p:custDataLst>
            </p:nvPr>
          </p:nvSpPr>
          <p:spPr bwMode="gray">
            <a:xfrm>
              <a:off x="3649501" y="4976156"/>
              <a:ext cx="251460" cy="251460"/>
            </a:xfrm>
            <a:prstGeom prst="ellipse">
              <a:avLst/>
            </a:prstGeom>
            <a:solidFill>
              <a:schemeClr val="accent2"/>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54" name="Oval 19">
              <a:extLst>
                <a:ext uri="{FF2B5EF4-FFF2-40B4-BE49-F238E27FC236}">
                  <a16:creationId xmlns:a16="http://schemas.microsoft.com/office/drawing/2014/main" id="{1C15B21C-D274-E017-0341-10E22E63FAF0}"/>
                </a:ext>
              </a:extLst>
            </p:cNvPr>
            <p:cNvSpPr>
              <a:spLocks noChangeArrowheads="1"/>
            </p:cNvSpPr>
            <p:nvPr>
              <p:custDataLst>
                <p:tags r:id="rId16"/>
              </p:custDataLst>
            </p:nvPr>
          </p:nvSpPr>
          <p:spPr bwMode="gray">
            <a:xfrm>
              <a:off x="3223260" y="5450502"/>
              <a:ext cx="251460" cy="251460"/>
            </a:xfrm>
            <a:prstGeom prst="ellipse">
              <a:avLst/>
            </a:prstGeom>
            <a:solidFill>
              <a:srgbClr val="008080"/>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latin typeface="Times New Roman" panose="02020603050405020304" pitchFamily="18" charset="0"/>
              </a:endParaRPr>
            </a:p>
          </p:txBody>
        </p:sp>
      </p:grpSp>
    </p:spTree>
  </p:cSld>
  <p:clrMapOvr>
    <a:masterClrMapping/>
  </p:clrMapOvr>
  <p:transition>
    <p:pull di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en-US" dirty="0"/>
              <a:t>4.1 </a:t>
            </a:r>
            <a:r>
              <a:rPr lang="zh-CN" altLang="en-US" dirty="0"/>
              <a:t>结构化程序设计</a:t>
            </a:r>
          </a:p>
        </p:txBody>
      </p:sp>
      <p:sp>
        <p:nvSpPr>
          <p:cNvPr id="4" name="文本占位符 3">
            <a:extLst>
              <a:ext uri="{FF2B5EF4-FFF2-40B4-BE49-F238E27FC236}">
                <a16:creationId xmlns:a16="http://schemas.microsoft.com/office/drawing/2014/main" id="{89482643-B1AD-F80E-B623-03B10B33A9A6}"/>
              </a:ext>
            </a:extLst>
          </p:cNvPr>
          <p:cNvSpPr>
            <a:spLocks noGrp="1"/>
          </p:cNvSpPr>
          <p:nvPr>
            <p:ph type="body" sz="quarter" idx="10"/>
          </p:nvPr>
        </p:nvSpPr>
        <p:spPr>
          <a:xfrm>
            <a:off x="696000" y="1322832"/>
            <a:ext cx="5400000" cy="400110"/>
          </a:xfrm>
        </p:spPr>
        <p:txBody>
          <a:bodyPr/>
          <a:lstStyle/>
          <a:p>
            <a:r>
              <a:rPr lang="en-US" altLang="zh-CN" dirty="0"/>
              <a:t>4.1.2 </a:t>
            </a:r>
            <a:r>
              <a:rPr lang="zh-CN" altLang="en-US" dirty="0"/>
              <a:t>程序设计风格</a:t>
            </a:r>
          </a:p>
        </p:txBody>
      </p:sp>
      <p:sp>
        <p:nvSpPr>
          <p:cNvPr id="10" name="文本占位符 9">
            <a:extLst>
              <a:ext uri="{FF2B5EF4-FFF2-40B4-BE49-F238E27FC236}">
                <a16:creationId xmlns:a16="http://schemas.microsoft.com/office/drawing/2014/main" id="{8104A30A-A694-A32D-3077-838E732D632D}"/>
              </a:ext>
            </a:extLst>
          </p:cNvPr>
          <p:cNvSpPr>
            <a:spLocks noGrp="1"/>
          </p:cNvSpPr>
          <p:nvPr>
            <p:ph type="body" sz="quarter" idx="11"/>
          </p:nvPr>
        </p:nvSpPr>
        <p:spPr/>
        <p:txBody>
          <a:bodyPr/>
          <a:lstStyle/>
          <a:p>
            <a:endParaRPr lang="zh-CN" altLang="en-US"/>
          </a:p>
        </p:txBody>
      </p:sp>
      <p:sp>
        <p:nvSpPr>
          <p:cNvPr id="6" name="文本框 5"/>
          <p:cNvSpPr txBox="1"/>
          <p:nvPr>
            <p:custDataLst>
              <p:tags r:id="rId1"/>
            </p:custDataLst>
          </p:nvPr>
        </p:nvSpPr>
        <p:spPr>
          <a:xfrm>
            <a:off x="4081144" y="2552065"/>
            <a:ext cx="6091549" cy="646331"/>
          </a:xfrm>
          <a:prstGeom prst="rect">
            <a:avLst/>
          </a:prstGeom>
          <a:noFill/>
        </p:spPr>
        <p:txBody>
          <a:bodyPr wrap="square" lIns="72000" rIns="72000">
            <a:spAutoFit/>
          </a:bodyPr>
          <a:lstStyle/>
          <a:p>
            <a:pPr algn="just">
              <a:defRPr/>
            </a:pPr>
            <a:r>
              <a:rPr dirty="0" err="1"/>
              <a:t>程序效率主要指处理机工作时间和内存容量这两方面的利用率，在前面各规则符合的前提下，提高效率也是必要的</a:t>
            </a:r>
            <a:r>
              <a:rPr dirty="0"/>
              <a:t>。</a:t>
            </a:r>
          </a:p>
        </p:txBody>
      </p:sp>
      <p:sp>
        <p:nvSpPr>
          <p:cNvPr id="40" name="文本框 39"/>
          <p:cNvSpPr txBox="1"/>
          <p:nvPr>
            <p:custDataLst>
              <p:tags r:id="rId2"/>
            </p:custDataLst>
          </p:nvPr>
        </p:nvSpPr>
        <p:spPr>
          <a:xfrm>
            <a:off x="4081145" y="4545965"/>
            <a:ext cx="6091548" cy="923330"/>
          </a:xfrm>
          <a:prstGeom prst="rect">
            <a:avLst/>
          </a:prstGeom>
          <a:noFill/>
        </p:spPr>
        <p:txBody>
          <a:bodyPr wrap="square" lIns="72000" rIns="72000">
            <a:spAutoFit/>
          </a:bodyPr>
          <a:lstStyle/>
          <a:p>
            <a:pPr algn="just">
              <a:defRPr/>
            </a:pPr>
            <a:r>
              <a:rPr dirty="0"/>
              <a:t>在目前计算机硬件设备运算速度大大提高、内存容量增加的情况下，提高效率不是主要的，程序设计主要应考虑的是程序的正确性、可理解性、可测试性和可维护性。</a:t>
            </a:r>
          </a:p>
        </p:txBody>
      </p:sp>
      <p:grpSp>
        <p:nvGrpSpPr>
          <p:cNvPr id="44" name="组合 43">
            <a:extLst>
              <a:ext uri="{FF2B5EF4-FFF2-40B4-BE49-F238E27FC236}">
                <a16:creationId xmlns:a16="http://schemas.microsoft.com/office/drawing/2014/main" id="{CEE6CE17-9863-3061-8DB8-8E19AA886F1F}"/>
              </a:ext>
            </a:extLst>
          </p:cNvPr>
          <p:cNvGrpSpPr/>
          <p:nvPr/>
        </p:nvGrpSpPr>
        <p:grpSpPr>
          <a:xfrm>
            <a:off x="689212" y="2445047"/>
            <a:ext cx="3483610" cy="3663950"/>
            <a:chOff x="689212" y="2445047"/>
            <a:chExt cx="3483610" cy="3663950"/>
          </a:xfrm>
        </p:grpSpPr>
        <p:sp>
          <p:nvSpPr>
            <p:cNvPr id="30" name="Oval 15">
              <a:extLst>
                <a:ext uri="{FF2B5EF4-FFF2-40B4-BE49-F238E27FC236}">
                  <a16:creationId xmlns:a16="http://schemas.microsoft.com/office/drawing/2014/main" id="{B9201ED7-6106-7759-2BE3-9ED5025ED1EF}"/>
                </a:ext>
              </a:extLst>
            </p:cNvPr>
            <p:cNvSpPr>
              <a:spLocks noChangeArrowheads="1"/>
            </p:cNvSpPr>
            <p:nvPr>
              <p:custDataLst>
                <p:tags r:id="rId3"/>
              </p:custDataLst>
            </p:nvPr>
          </p:nvSpPr>
          <p:spPr bwMode="auto">
            <a:xfrm>
              <a:off x="861932" y="2679997"/>
              <a:ext cx="3153410" cy="3182620"/>
            </a:xfrm>
            <a:prstGeom prst="ellipse">
              <a:avLst/>
            </a:prstGeom>
            <a:noFill/>
            <a:ln w="19050">
              <a:solidFill>
                <a:srgbClr val="00B0F0"/>
              </a:solidFill>
              <a:round/>
            </a:ln>
            <a:effectLst/>
            <a:extLst>
              <a:ext uri="{909E8E84-426E-40DD-AFC4-6F175D3DCCD1}">
                <a14:hiddenFill xmlns:a14="http://schemas.microsoft.com/office/drawing/2010/main">
                  <a:solidFill>
                    <a:srgbClr val="4F5A71"/>
                  </a:solid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31" name="Line 16">
              <a:extLst>
                <a:ext uri="{FF2B5EF4-FFF2-40B4-BE49-F238E27FC236}">
                  <a16:creationId xmlns:a16="http://schemas.microsoft.com/office/drawing/2014/main" id="{24147CDC-0C0B-C837-C21D-A66C4D15F458}"/>
                </a:ext>
              </a:extLst>
            </p:cNvPr>
            <p:cNvSpPr>
              <a:spLocks noChangeShapeType="1"/>
            </p:cNvSpPr>
            <p:nvPr>
              <p:custDataLst>
                <p:tags r:id="rId4"/>
              </p:custDataLst>
            </p:nvPr>
          </p:nvSpPr>
          <p:spPr bwMode="gray">
            <a:xfrm>
              <a:off x="689212" y="4278292"/>
              <a:ext cx="3483610" cy="0"/>
            </a:xfrm>
            <a:prstGeom prst="line">
              <a:avLst/>
            </a:prstGeom>
            <a:noFill/>
            <a:ln w="28575">
              <a:solidFill>
                <a:srgbClr val="4F5A71">
                  <a:alpha val="50000"/>
                </a:srgb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32" name="Line 17">
              <a:extLst>
                <a:ext uri="{FF2B5EF4-FFF2-40B4-BE49-F238E27FC236}">
                  <a16:creationId xmlns:a16="http://schemas.microsoft.com/office/drawing/2014/main" id="{50017A04-989D-B8CF-0DB7-69033D43CC8A}"/>
                </a:ext>
              </a:extLst>
            </p:cNvPr>
            <p:cNvSpPr>
              <a:spLocks noChangeShapeType="1"/>
            </p:cNvSpPr>
            <p:nvPr>
              <p:custDataLst>
                <p:tags r:id="rId5"/>
              </p:custDataLst>
            </p:nvPr>
          </p:nvSpPr>
          <p:spPr bwMode="gray">
            <a:xfrm>
              <a:off x="2431017" y="2445047"/>
              <a:ext cx="0" cy="3663950"/>
            </a:xfrm>
            <a:prstGeom prst="line">
              <a:avLst/>
            </a:prstGeom>
            <a:noFill/>
            <a:ln w="28575">
              <a:solidFill>
                <a:srgbClr val="4F5A71">
                  <a:alpha val="50000"/>
                </a:srgb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33" name="Oval 10">
              <a:extLst>
                <a:ext uri="{FF2B5EF4-FFF2-40B4-BE49-F238E27FC236}">
                  <a16:creationId xmlns:a16="http://schemas.microsoft.com/office/drawing/2014/main" id="{468AD1D5-D635-54E8-D831-8CD1C6238613}"/>
                </a:ext>
              </a:extLst>
            </p:cNvPr>
            <p:cNvSpPr>
              <a:spLocks noChangeArrowheads="1"/>
            </p:cNvSpPr>
            <p:nvPr>
              <p:custDataLst>
                <p:tags r:id="rId6"/>
              </p:custDataLst>
            </p:nvPr>
          </p:nvSpPr>
          <p:spPr bwMode="gray">
            <a:xfrm>
              <a:off x="1034652" y="2860337"/>
              <a:ext cx="2789555" cy="2811145"/>
            </a:xfrm>
            <a:prstGeom prst="ellipse">
              <a:avLst/>
            </a:prstGeom>
            <a:noFill/>
            <a:ln w="9525">
              <a:solidFill>
                <a:srgbClr val="00B0F0">
                  <a:alpha val="50000"/>
                </a:srgbClr>
              </a:solidFill>
              <a:round/>
            </a:ln>
            <a:effectLst/>
            <a:extLst>
              <a:ext uri="{909E8E84-426E-40DD-AFC4-6F175D3DCCD1}">
                <a14:hiddenFill xmlns:a14="http://schemas.microsoft.com/office/drawing/2010/main">
                  <a:solidFill>
                    <a:srgbClr val="4F5A71">
                      <a:alpha val="64999"/>
                    </a:srgbClr>
                  </a:solid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34" name="Oval 13">
              <a:extLst>
                <a:ext uri="{FF2B5EF4-FFF2-40B4-BE49-F238E27FC236}">
                  <a16:creationId xmlns:a16="http://schemas.microsoft.com/office/drawing/2014/main" id="{E813D5A3-DEF5-28AD-C853-3D687B7398E7}"/>
                </a:ext>
              </a:extLst>
            </p:cNvPr>
            <p:cNvSpPr>
              <a:spLocks noChangeArrowheads="1"/>
            </p:cNvSpPr>
            <p:nvPr>
              <p:custDataLst>
                <p:tags r:id="rId7"/>
              </p:custDataLst>
            </p:nvPr>
          </p:nvSpPr>
          <p:spPr bwMode="gray">
            <a:xfrm>
              <a:off x="1353422" y="3197522"/>
              <a:ext cx="2137410" cy="2181860"/>
            </a:xfrm>
            <a:prstGeom prst="ellipse">
              <a:avLst/>
            </a:prstGeom>
            <a:solidFill>
              <a:srgbClr val="00B0F0"/>
            </a:solidFill>
            <a:ln w="0">
              <a:noFill/>
            </a:ln>
            <a:effectLst/>
          </p:spPr>
          <p:txBody>
            <a:bodyPr wrap="square" anchor="ctr">
              <a:normAutofit/>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35" name="KSO_GT1">
              <a:extLst>
                <a:ext uri="{FF2B5EF4-FFF2-40B4-BE49-F238E27FC236}">
                  <a16:creationId xmlns:a16="http://schemas.microsoft.com/office/drawing/2014/main" id="{1534F2F3-015B-0A68-0F17-5BDE1B0CED28}"/>
                </a:ext>
              </a:extLst>
            </p:cNvPr>
            <p:cNvSpPr>
              <a:spLocks noChangeArrowheads="1"/>
            </p:cNvSpPr>
            <p:nvPr>
              <p:custDataLst>
                <p:tags r:id="rId8"/>
              </p:custDataLst>
            </p:nvPr>
          </p:nvSpPr>
          <p:spPr bwMode="gray">
            <a:xfrm>
              <a:off x="1738232" y="3589952"/>
              <a:ext cx="1368425" cy="1397635"/>
            </a:xfrm>
            <a:prstGeom prst="ellipse">
              <a:avLst/>
            </a:prstGeom>
            <a:solidFill>
              <a:schemeClr val="accent5"/>
            </a:solidFill>
            <a:ln>
              <a:noFill/>
            </a:ln>
            <a:effectLst/>
          </p:spPr>
          <p:txBody>
            <a:bodyPr wrap="square" lIns="0" tIns="0" rIns="0" bIns="0" anchor="ctr">
              <a:normAutofit fontScale="97500"/>
            </a:bodyPr>
            <a:lstStyle/>
            <a:p>
              <a:pPr algn="ctr">
                <a:defRPr/>
              </a:pPr>
              <a:r>
                <a:rPr lang="zh-CN" altLang="en-US" sz="2800" kern="0" dirty="0">
                  <a:solidFill>
                    <a:srgbClr val="FFFFFF"/>
                  </a:solidFill>
                  <a:latin typeface="Times New Roman" panose="02020603050405020304" pitchFamily="18" charset="0"/>
                  <a:ea typeface="微软雅黑 Light" panose="020B0502040204020203" pitchFamily="34" charset="-122"/>
                  <a:cs typeface="+mn-ea"/>
                </a:rPr>
                <a:t>语句构造</a:t>
              </a:r>
            </a:p>
          </p:txBody>
        </p:sp>
        <p:sp>
          <p:nvSpPr>
            <p:cNvPr id="36" name="Oval 19">
              <a:extLst>
                <a:ext uri="{FF2B5EF4-FFF2-40B4-BE49-F238E27FC236}">
                  <a16:creationId xmlns:a16="http://schemas.microsoft.com/office/drawing/2014/main" id="{1B45AE53-9FFD-BE0F-AEA5-FE6F3F22D2B3}"/>
                </a:ext>
              </a:extLst>
            </p:cNvPr>
            <p:cNvSpPr>
              <a:spLocks noChangeArrowheads="1"/>
            </p:cNvSpPr>
            <p:nvPr>
              <p:custDataLst>
                <p:tags r:id="rId9"/>
              </p:custDataLst>
            </p:nvPr>
          </p:nvSpPr>
          <p:spPr bwMode="gray">
            <a:xfrm>
              <a:off x="2880597" y="2598082"/>
              <a:ext cx="251460" cy="251460"/>
            </a:xfrm>
            <a:prstGeom prst="ellipse">
              <a:avLst/>
            </a:prstGeom>
            <a:solidFill>
              <a:srgbClr val="00B0F0"/>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37" name="Oval 19">
              <a:extLst>
                <a:ext uri="{FF2B5EF4-FFF2-40B4-BE49-F238E27FC236}">
                  <a16:creationId xmlns:a16="http://schemas.microsoft.com/office/drawing/2014/main" id="{8F7248FD-8A2F-1241-F080-B5DEE7C50332}"/>
                </a:ext>
              </a:extLst>
            </p:cNvPr>
            <p:cNvSpPr>
              <a:spLocks noChangeArrowheads="1"/>
            </p:cNvSpPr>
            <p:nvPr>
              <p:custDataLst>
                <p:tags r:id="rId10"/>
              </p:custDataLst>
            </p:nvPr>
          </p:nvSpPr>
          <p:spPr bwMode="gray">
            <a:xfrm>
              <a:off x="3878182" y="4153832"/>
              <a:ext cx="251460" cy="251460"/>
            </a:xfrm>
            <a:prstGeom prst="ellipse">
              <a:avLst/>
            </a:prstGeom>
            <a:solidFill>
              <a:schemeClr val="accent4"/>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39" name="Oval 19">
              <a:extLst>
                <a:ext uri="{FF2B5EF4-FFF2-40B4-BE49-F238E27FC236}">
                  <a16:creationId xmlns:a16="http://schemas.microsoft.com/office/drawing/2014/main" id="{07B9BF38-BC5F-6321-506D-810B3DB9D3E5}"/>
                </a:ext>
              </a:extLst>
            </p:cNvPr>
            <p:cNvSpPr>
              <a:spLocks noChangeArrowheads="1"/>
            </p:cNvSpPr>
            <p:nvPr>
              <p:custDataLst>
                <p:tags r:id="rId11"/>
              </p:custDataLst>
            </p:nvPr>
          </p:nvSpPr>
          <p:spPr bwMode="gray">
            <a:xfrm>
              <a:off x="3599735" y="3227685"/>
              <a:ext cx="251460" cy="251460"/>
            </a:xfrm>
            <a:prstGeom prst="ellipse">
              <a:avLst/>
            </a:prstGeom>
            <a:solidFill>
              <a:schemeClr val="accent6"/>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41" name="Oval 19">
              <a:extLst>
                <a:ext uri="{FF2B5EF4-FFF2-40B4-BE49-F238E27FC236}">
                  <a16:creationId xmlns:a16="http://schemas.microsoft.com/office/drawing/2014/main" id="{13A3D93F-391C-58EE-508D-1D86251308F9}"/>
                </a:ext>
              </a:extLst>
            </p:cNvPr>
            <p:cNvSpPr>
              <a:spLocks noChangeArrowheads="1"/>
            </p:cNvSpPr>
            <p:nvPr>
              <p:custDataLst>
                <p:tags r:id="rId12"/>
              </p:custDataLst>
            </p:nvPr>
          </p:nvSpPr>
          <p:spPr bwMode="gray">
            <a:xfrm>
              <a:off x="3649501" y="4976156"/>
              <a:ext cx="251460" cy="251460"/>
            </a:xfrm>
            <a:prstGeom prst="ellipse">
              <a:avLst/>
            </a:prstGeom>
            <a:solidFill>
              <a:schemeClr val="accent2"/>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42" name="Oval 19">
              <a:extLst>
                <a:ext uri="{FF2B5EF4-FFF2-40B4-BE49-F238E27FC236}">
                  <a16:creationId xmlns:a16="http://schemas.microsoft.com/office/drawing/2014/main" id="{850CCEC4-37E4-D5E4-043F-C58C35A89EF6}"/>
                </a:ext>
              </a:extLst>
            </p:cNvPr>
            <p:cNvSpPr>
              <a:spLocks noChangeArrowheads="1"/>
            </p:cNvSpPr>
            <p:nvPr>
              <p:custDataLst>
                <p:tags r:id="rId13"/>
              </p:custDataLst>
            </p:nvPr>
          </p:nvSpPr>
          <p:spPr bwMode="gray">
            <a:xfrm>
              <a:off x="3223260" y="5450502"/>
              <a:ext cx="251460" cy="251460"/>
            </a:xfrm>
            <a:prstGeom prst="ellipse">
              <a:avLst/>
            </a:prstGeom>
            <a:solidFill>
              <a:srgbClr val="008080"/>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43" name="Oval 19">
              <a:extLst>
                <a:ext uri="{FF2B5EF4-FFF2-40B4-BE49-F238E27FC236}">
                  <a16:creationId xmlns:a16="http://schemas.microsoft.com/office/drawing/2014/main" id="{487C69B1-E953-E67F-00C0-6D021205C013}"/>
                </a:ext>
              </a:extLst>
            </p:cNvPr>
            <p:cNvSpPr>
              <a:spLocks noChangeArrowheads="1"/>
            </p:cNvSpPr>
            <p:nvPr>
              <p:custDataLst>
                <p:tags r:id="rId14"/>
              </p:custDataLst>
            </p:nvPr>
          </p:nvSpPr>
          <p:spPr bwMode="gray">
            <a:xfrm>
              <a:off x="2312907" y="5706725"/>
              <a:ext cx="251460" cy="251460"/>
            </a:xfrm>
            <a:prstGeom prst="ellipse">
              <a:avLst/>
            </a:prstGeom>
            <a:solidFill>
              <a:srgbClr val="FF33CC"/>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latin typeface="Times New Roman" panose="02020603050405020304" pitchFamily="18" charset="0"/>
              </a:endParaRPr>
            </a:p>
          </p:txBody>
        </p:sp>
      </p:grpSp>
    </p:spTree>
  </p:cSld>
  <p:clrMapOvr>
    <a:masterClrMapping/>
  </p:clrMapOvr>
  <p:transition>
    <p:pull di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dirty="0">
              <a:latin typeface="Times New Roman" panose="02020603050405020304" pitchFamily="18" charset="0"/>
              <a:ea typeface="微软雅黑 Light" panose="020B0502040204020203" pitchFamily="34" charset="-122"/>
            </a:endParaRPr>
          </a:p>
        </p:txBody>
      </p:sp>
      <p:sp>
        <p:nvSpPr>
          <p:cNvPr id="40" name="文本框 39"/>
          <p:cNvSpPr txBox="1"/>
          <p:nvPr/>
        </p:nvSpPr>
        <p:spPr>
          <a:xfrm>
            <a:off x="6006555" y="2935102"/>
            <a:ext cx="5137150" cy="830997"/>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i="0" u="none" strike="noStrike" kern="1200" cap="none" spc="0" normalizeH="0" baseline="0" noProof="0" dirty="0">
                <a:ln>
                  <a:noFill/>
                </a:ln>
                <a:effectLst/>
                <a:uLnTx/>
                <a:uFillTx/>
                <a:latin typeface="+mj-ea"/>
                <a:ea typeface="+mj-ea"/>
                <a:cs typeface="+mn-cs"/>
              </a:rPr>
              <a:t>软件测试目标</a:t>
            </a:r>
          </a:p>
        </p:txBody>
      </p:sp>
      <p:sp>
        <p:nvSpPr>
          <p:cNvPr id="3" name="椭圆 2">
            <a:extLst>
              <a:ext uri="{FF2B5EF4-FFF2-40B4-BE49-F238E27FC236}">
                <a16:creationId xmlns:a16="http://schemas.microsoft.com/office/drawing/2014/main" id="{331FEF10-EDA1-6CF8-7C8E-0B3FF0C85A29}"/>
              </a:ext>
            </a:extLst>
          </p:cNvPr>
          <p:cNvSpPr/>
          <p:nvPr/>
        </p:nvSpPr>
        <p:spPr>
          <a:xfrm>
            <a:off x="3428455" y="2169500"/>
            <a:ext cx="2362200" cy="23622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600" b="0" i="0" u="none" strike="noStrike" kern="1200" cap="none" spc="0" normalizeH="0" noProof="0" dirty="0">
                <a:ln>
                  <a:noFill/>
                </a:ln>
                <a:solidFill>
                  <a:schemeClr val="lt1"/>
                </a:solidFill>
                <a:effectLst/>
                <a:uLnTx/>
                <a:uFillTx/>
                <a:latin typeface="+mj-lt"/>
                <a:ea typeface="+mj-ea"/>
                <a:cs typeface="+mn-cs"/>
              </a:rPr>
              <a:t>02</a:t>
            </a:r>
            <a:endParaRPr kumimoji="0" lang="zh-CN" altLang="en-US" sz="9600" b="0" i="0" u="none" strike="noStrike" kern="1200" cap="none" spc="0" normalizeH="0" noProof="0" dirty="0">
              <a:ln>
                <a:noFill/>
              </a:ln>
              <a:solidFill>
                <a:schemeClr val="lt1"/>
              </a:solidFill>
              <a:effectLst/>
              <a:uLnTx/>
              <a:uFillTx/>
              <a:latin typeface="+mj-lt"/>
              <a:ea typeface="+mj-ea"/>
              <a:cs typeface="+mn-cs"/>
            </a:endParaRPr>
          </a:p>
        </p:txBody>
      </p:sp>
    </p:spTree>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en-US" dirty="0"/>
              <a:t>4.2 </a:t>
            </a:r>
            <a:r>
              <a:rPr lang="zh-CN" altLang="en-US" dirty="0"/>
              <a:t>软件测试目标</a:t>
            </a:r>
          </a:p>
        </p:txBody>
      </p:sp>
      <p:sp>
        <p:nvSpPr>
          <p:cNvPr id="4" name="文本占位符 3">
            <a:extLst>
              <a:ext uri="{FF2B5EF4-FFF2-40B4-BE49-F238E27FC236}">
                <a16:creationId xmlns:a16="http://schemas.microsoft.com/office/drawing/2014/main" id="{253938EF-213C-C95A-D2C1-01255CD4B869}"/>
              </a:ext>
            </a:extLst>
          </p:cNvPr>
          <p:cNvSpPr>
            <a:spLocks noGrp="1"/>
          </p:cNvSpPr>
          <p:nvPr>
            <p:ph type="body" sz="quarter" idx="10"/>
          </p:nvPr>
        </p:nvSpPr>
        <p:spPr>
          <a:xfrm>
            <a:off x="696000" y="1322832"/>
            <a:ext cx="5400000" cy="400110"/>
          </a:xfrm>
        </p:spPr>
        <p:txBody>
          <a:bodyPr/>
          <a:lstStyle/>
          <a:p>
            <a:r>
              <a:rPr lang="zh-CN" altLang="en-US" dirty="0"/>
              <a:t>引言</a:t>
            </a:r>
          </a:p>
        </p:txBody>
      </p:sp>
      <p:sp>
        <p:nvSpPr>
          <p:cNvPr id="10" name="文本占位符 9">
            <a:extLst>
              <a:ext uri="{FF2B5EF4-FFF2-40B4-BE49-F238E27FC236}">
                <a16:creationId xmlns:a16="http://schemas.microsoft.com/office/drawing/2014/main" id="{86BB9ACC-C080-1208-1DE9-7273CE7370D6}"/>
              </a:ext>
            </a:extLst>
          </p:cNvPr>
          <p:cNvSpPr>
            <a:spLocks noGrp="1"/>
          </p:cNvSpPr>
          <p:nvPr>
            <p:ph type="body" sz="quarter" idx="11"/>
          </p:nvPr>
        </p:nvSpPr>
        <p:spPr>
          <a:xfrm>
            <a:off x="6096000" y="360128"/>
            <a:ext cx="5760000" cy="400110"/>
          </a:xfrm>
        </p:spPr>
        <p:txBody>
          <a:bodyPr/>
          <a:lstStyle/>
          <a:p>
            <a:r>
              <a:rPr lang="zh-CN" altLang="en-US" dirty="0">
                <a:sym typeface="+mn-ea"/>
              </a:rPr>
              <a:t>Software Testing</a:t>
            </a:r>
            <a:endParaRPr lang="zh-CN" altLang="en-US" dirty="0"/>
          </a:p>
        </p:txBody>
      </p:sp>
      <p:sp>
        <p:nvSpPr>
          <p:cNvPr id="100" name="文本框 99"/>
          <p:cNvSpPr txBox="1"/>
          <p:nvPr/>
        </p:nvSpPr>
        <p:spPr>
          <a:xfrm>
            <a:off x="2208000" y="2313940"/>
            <a:ext cx="7776000" cy="3093219"/>
          </a:xfrm>
          <a:prstGeom prst="rect">
            <a:avLst/>
          </a:prstGeom>
          <a:noFill/>
          <a:ln w="9525">
            <a:noFill/>
          </a:ln>
        </p:spPr>
        <p:txBody>
          <a:bodyPr wrap="square">
            <a:spAutoFit/>
          </a:bodyPr>
          <a:lstStyle/>
          <a:p>
            <a:pPr indent="457200" algn="just">
              <a:lnSpc>
                <a:spcPct val="130000"/>
              </a:lnSpc>
              <a:spcAft>
                <a:spcPts val="600"/>
              </a:spcAft>
            </a:pPr>
            <a:r>
              <a:rPr lang="zh-CN" altLang="en-US" dirty="0">
                <a:sym typeface="+mn-ea"/>
              </a:rPr>
              <a:t>软件测试是指通过人工或计算机执行程序，通过有意识地发现程序中的设计错误和编码错误，以验证软件是否</a:t>
            </a:r>
            <a:r>
              <a:rPr lang="zh-CN" altLang="en-US" dirty="0">
                <a:solidFill>
                  <a:srgbClr val="FF0000"/>
                </a:solidFill>
                <a:sym typeface="+mn-ea"/>
              </a:rPr>
              <a:t>满足</a:t>
            </a:r>
            <a:r>
              <a:rPr lang="zh-CN" altLang="en-US" dirty="0">
                <a:sym typeface="+mn-ea"/>
              </a:rPr>
              <a:t>规定的需求或识别期望的结果和实际结果之间有无差别的过程。</a:t>
            </a:r>
            <a:endParaRPr lang="en-US" altLang="zh-CN" dirty="0">
              <a:sym typeface="+mn-ea"/>
            </a:endParaRPr>
          </a:p>
          <a:p>
            <a:pPr indent="457200" algn="just">
              <a:lnSpc>
                <a:spcPct val="130000"/>
              </a:lnSpc>
              <a:spcAft>
                <a:spcPts val="600"/>
              </a:spcAft>
            </a:pPr>
            <a:r>
              <a:rPr lang="zh-CN" altLang="en-US" dirty="0">
                <a:sym typeface="+mn-ea"/>
              </a:rPr>
              <a:t>首先要明确目标，然后要掌握测试方法策略，确实做到尽可能地将软件中存在的问题找出来，以保证软件质量。</a:t>
            </a:r>
          </a:p>
          <a:p>
            <a:pPr marL="0" indent="457200" algn="just" fontAlgn="auto">
              <a:lnSpc>
                <a:spcPct val="130000"/>
              </a:lnSpc>
              <a:spcAft>
                <a:spcPts val="600"/>
              </a:spcAft>
            </a:pPr>
            <a:r>
              <a:rPr lang="zh-CN" altLang="en-US" dirty="0">
                <a:sym typeface="+mn-ea"/>
              </a:rPr>
              <a:t>大量统计资料表明，软件测试工作量往往占软件开发总工作量的40% 以上。极端情况下，如测试有关人的生命安全的软件所花费的成本，可能会高达软件工程其他阶段总成本的3～5倍。</a:t>
            </a:r>
            <a:endParaRPr lang="en-US" altLang="zh-CN" dirty="0">
              <a:sym typeface="+mn-ea"/>
            </a:endParaRPr>
          </a:p>
        </p:txBody>
      </p:sp>
    </p:spTree>
  </p:cSld>
  <p:clrMapOvr>
    <a:masterClrMapping/>
  </p:clrMapOvr>
  <p:transition>
    <p:wipe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en-US" altLang="en-US" dirty="0"/>
              <a:t>4.2 </a:t>
            </a:r>
            <a:r>
              <a:rPr lang="zh-CN" altLang="en-US" dirty="0"/>
              <a:t>软件测试目标</a:t>
            </a:r>
          </a:p>
        </p:txBody>
      </p:sp>
      <p:sp>
        <p:nvSpPr>
          <p:cNvPr id="29" name="文本占位符 28">
            <a:extLst>
              <a:ext uri="{FF2B5EF4-FFF2-40B4-BE49-F238E27FC236}">
                <a16:creationId xmlns:a16="http://schemas.microsoft.com/office/drawing/2014/main" id="{6FE6815A-B47D-72F4-9EE5-D635932780EA}"/>
              </a:ext>
            </a:extLst>
          </p:cNvPr>
          <p:cNvSpPr>
            <a:spLocks noGrp="1"/>
          </p:cNvSpPr>
          <p:nvPr>
            <p:ph type="body" sz="quarter" idx="10"/>
          </p:nvPr>
        </p:nvSpPr>
        <p:spPr>
          <a:xfrm>
            <a:off x="696000" y="1322832"/>
            <a:ext cx="5400000" cy="400110"/>
          </a:xfrm>
        </p:spPr>
        <p:txBody>
          <a:bodyPr/>
          <a:lstStyle/>
          <a:p>
            <a:r>
              <a:rPr lang="zh-CN" altLang="en-US" dirty="0"/>
              <a:t>软件测试目标</a:t>
            </a:r>
          </a:p>
        </p:txBody>
      </p:sp>
      <p:sp>
        <p:nvSpPr>
          <p:cNvPr id="33" name="文本占位符 32">
            <a:extLst>
              <a:ext uri="{FF2B5EF4-FFF2-40B4-BE49-F238E27FC236}">
                <a16:creationId xmlns:a16="http://schemas.microsoft.com/office/drawing/2014/main" id="{7BCDF443-49D8-E9E7-8D19-1EB649A1756C}"/>
              </a:ext>
            </a:extLst>
          </p:cNvPr>
          <p:cNvSpPr>
            <a:spLocks noGrp="1"/>
          </p:cNvSpPr>
          <p:nvPr>
            <p:ph type="body" sz="quarter" idx="11"/>
          </p:nvPr>
        </p:nvSpPr>
        <p:spPr/>
        <p:txBody>
          <a:bodyPr/>
          <a:lstStyle/>
          <a:p>
            <a:endParaRPr lang="zh-CN" altLang="en-US"/>
          </a:p>
        </p:txBody>
      </p:sp>
      <p:sp>
        <p:nvSpPr>
          <p:cNvPr id="10" name="文本框 9"/>
          <p:cNvSpPr txBox="1"/>
          <p:nvPr>
            <p:custDataLst>
              <p:tags r:id="rId1"/>
            </p:custDataLst>
          </p:nvPr>
        </p:nvSpPr>
        <p:spPr>
          <a:xfrm>
            <a:off x="4016062" y="3166704"/>
            <a:ext cx="6449013" cy="386331"/>
          </a:xfrm>
          <a:prstGeom prst="rect">
            <a:avLst/>
          </a:prstGeom>
          <a:noFill/>
        </p:spPr>
        <p:txBody>
          <a:bodyPr wrap="square" lIns="0" rIns="0">
            <a:noAutofit/>
          </a:bodyPr>
          <a:lstStyle/>
          <a:p>
            <a:pPr>
              <a:defRPr/>
            </a:pPr>
            <a:r>
              <a:rPr sz="2000" dirty="0" err="1"/>
              <a:t>测试是为了发现程序中的错误而执行程序的过程</a:t>
            </a:r>
            <a:r>
              <a:rPr sz="2000" dirty="0"/>
              <a:t>。</a:t>
            </a:r>
          </a:p>
        </p:txBody>
      </p:sp>
      <p:sp>
        <p:nvSpPr>
          <p:cNvPr id="11" name="文本框 10"/>
          <p:cNvSpPr txBox="1"/>
          <p:nvPr>
            <p:custDataLst>
              <p:tags r:id="rId2"/>
            </p:custDataLst>
          </p:nvPr>
        </p:nvSpPr>
        <p:spPr>
          <a:xfrm>
            <a:off x="4345542" y="4025217"/>
            <a:ext cx="6074435" cy="393679"/>
          </a:xfrm>
          <a:prstGeom prst="rect">
            <a:avLst/>
          </a:prstGeom>
          <a:noFill/>
        </p:spPr>
        <p:txBody>
          <a:bodyPr wrap="square" lIns="0" rIns="0">
            <a:normAutofit fontScale="92500" lnSpcReduction="10000"/>
          </a:bodyPr>
          <a:lstStyle/>
          <a:p>
            <a:pPr>
              <a:lnSpc>
                <a:spcPct val="120000"/>
              </a:lnSpc>
              <a:defRPr/>
            </a:pPr>
            <a:r>
              <a:rPr sz="2000" dirty="0" err="1"/>
              <a:t>好的测试方案能够发现尚未发现的错误</a:t>
            </a:r>
            <a:r>
              <a:rPr lang="en-US" sz="2000" dirty="0"/>
              <a:t> – </a:t>
            </a:r>
            <a:r>
              <a:rPr lang="zh-CN" altLang="en-US" sz="2000" dirty="0"/>
              <a:t>设计准则</a:t>
            </a:r>
            <a:endParaRPr sz="2000" dirty="0"/>
          </a:p>
        </p:txBody>
      </p:sp>
      <p:sp>
        <p:nvSpPr>
          <p:cNvPr id="47" name="文本框 46"/>
          <p:cNvSpPr txBox="1"/>
          <p:nvPr>
            <p:custDataLst>
              <p:tags r:id="rId3"/>
            </p:custDataLst>
          </p:nvPr>
        </p:nvSpPr>
        <p:spPr>
          <a:xfrm>
            <a:off x="4016062" y="4911575"/>
            <a:ext cx="6469705" cy="362355"/>
          </a:xfrm>
          <a:prstGeom prst="rect">
            <a:avLst/>
          </a:prstGeom>
          <a:noFill/>
        </p:spPr>
        <p:txBody>
          <a:bodyPr wrap="square" lIns="0" rIns="0">
            <a:normAutofit fontScale="85000" lnSpcReduction="10000"/>
          </a:bodyPr>
          <a:lstStyle/>
          <a:p>
            <a:pPr>
              <a:lnSpc>
                <a:spcPct val="120000"/>
              </a:lnSpc>
              <a:defRPr/>
            </a:pPr>
            <a:r>
              <a:rPr sz="2000" dirty="0" err="1"/>
              <a:t>成功的测试是发现了尚未发现的错误的测试</a:t>
            </a:r>
            <a:r>
              <a:rPr lang="en-US" sz="2000" dirty="0"/>
              <a:t> – </a:t>
            </a:r>
            <a:r>
              <a:rPr lang="zh-CN" altLang="en-US" sz="2000" dirty="0"/>
              <a:t>价值定义</a:t>
            </a:r>
            <a:endParaRPr sz="2000" dirty="0"/>
          </a:p>
        </p:txBody>
      </p:sp>
      <p:grpSp>
        <p:nvGrpSpPr>
          <p:cNvPr id="2" name="组合 1">
            <a:extLst>
              <a:ext uri="{FF2B5EF4-FFF2-40B4-BE49-F238E27FC236}">
                <a16:creationId xmlns:a16="http://schemas.microsoft.com/office/drawing/2014/main" id="{7DB14C63-496A-2947-CA6F-FB441149DCB0}"/>
              </a:ext>
            </a:extLst>
          </p:cNvPr>
          <p:cNvGrpSpPr/>
          <p:nvPr/>
        </p:nvGrpSpPr>
        <p:grpSpPr>
          <a:xfrm>
            <a:off x="689212" y="2445047"/>
            <a:ext cx="3483610" cy="3663950"/>
            <a:chOff x="689212" y="2445047"/>
            <a:chExt cx="3483610" cy="3663950"/>
          </a:xfrm>
        </p:grpSpPr>
        <p:sp>
          <p:nvSpPr>
            <p:cNvPr id="4" name="Oval 15">
              <a:extLst>
                <a:ext uri="{FF2B5EF4-FFF2-40B4-BE49-F238E27FC236}">
                  <a16:creationId xmlns:a16="http://schemas.microsoft.com/office/drawing/2014/main" id="{5B7E9E9C-EA6E-9734-FBB8-25BE1A80F023}"/>
                </a:ext>
              </a:extLst>
            </p:cNvPr>
            <p:cNvSpPr>
              <a:spLocks noChangeArrowheads="1"/>
            </p:cNvSpPr>
            <p:nvPr>
              <p:custDataLst>
                <p:tags r:id="rId4"/>
              </p:custDataLst>
            </p:nvPr>
          </p:nvSpPr>
          <p:spPr bwMode="auto">
            <a:xfrm>
              <a:off x="861932" y="2679997"/>
              <a:ext cx="3153410" cy="3182620"/>
            </a:xfrm>
            <a:prstGeom prst="ellipse">
              <a:avLst/>
            </a:prstGeom>
            <a:noFill/>
            <a:ln w="19050">
              <a:solidFill>
                <a:srgbClr val="00B0F0"/>
              </a:solidFill>
              <a:round/>
            </a:ln>
            <a:effectLst/>
            <a:extLst>
              <a:ext uri="{909E8E84-426E-40DD-AFC4-6F175D3DCCD1}">
                <a14:hiddenFill xmlns:a14="http://schemas.microsoft.com/office/drawing/2010/main">
                  <a:solidFill>
                    <a:srgbClr val="4F5A71"/>
                  </a:solid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5" name="Line 16">
              <a:extLst>
                <a:ext uri="{FF2B5EF4-FFF2-40B4-BE49-F238E27FC236}">
                  <a16:creationId xmlns:a16="http://schemas.microsoft.com/office/drawing/2014/main" id="{E56C6CD2-1902-1743-E384-02BBD11A282B}"/>
                </a:ext>
              </a:extLst>
            </p:cNvPr>
            <p:cNvSpPr>
              <a:spLocks noChangeShapeType="1"/>
            </p:cNvSpPr>
            <p:nvPr>
              <p:custDataLst>
                <p:tags r:id="rId5"/>
              </p:custDataLst>
            </p:nvPr>
          </p:nvSpPr>
          <p:spPr bwMode="gray">
            <a:xfrm>
              <a:off x="689212" y="4278292"/>
              <a:ext cx="3483610" cy="0"/>
            </a:xfrm>
            <a:prstGeom prst="line">
              <a:avLst/>
            </a:prstGeom>
            <a:noFill/>
            <a:ln w="28575">
              <a:solidFill>
                <a:srgbClr val="4F5A71">
                  <a:alpha val="50000"/>
                </a:srgb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6" name="Line 17">
              <a:extLst>
                <a:ext uri="{FF2B5EF4-FFF2-40B4-BE49-F238E27FC236}">
                  <a16:creationId xmlns:a16="http://schemas.microsoft.com/office/drawing/2014/main" id="{18F7246E-2EC3-58B4-D33B-D019DB3AF181}"/>
                </a:ext>
              </a:extLst>
            </p:cNvPr>
            <p:cNvSpPr>
              <a:spLocks noChangeShapeType="1"/>
            </p:cNvSpPr>
            <p:nvPr>
              <p:custDataLst>
                <p:tags r:id="rId6"/>
              </p:custDataLst>
            </p:nvPr>
          </p:nvSpPr>
          <p:spPr bwMode="gray">
            <a:xfrm>
              <a:off x="2431017" y="2445047"/>
              <a:ext cx="0" cy="3663950"/>
            </a:xfrm>
            <a:prstGeom prst="line">
              <a:avLst/>
            </a:prstGeom>
            <a:noFill/>
            <a:ln w="28575">
              <a:solidFill>
                <a:srgbClr val="4F5A71">
                  <a:alpha val="50000"/>
                </a:srgb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13" name="Oval 10">
              <a:extLst>
                <a:ext uri="{FF2B5EF4-FFF2-40B4-BE49-F238E27FC236}">
                  <a16:creationId xmlns:a16="http://schemas.microsoft.com/office/drawing/2014/main" id="{BBFC7F66-BA9C-D153-B75E-2252EAF78E69}"/>
                </a:ext>
              </a:extLst>
            </p:cNvPr>
            <p:cNvSpPr>
              <a:spLocks noChangeArrowheads="1"/>
            </p:cNvSpPr>
            <p:nvPr>
              <p:custDataLst>
                <p:tags r:id="rId7"/>
              </p:custDataLst>
            </p:nvPr>
          </p:nvSpPr>
          <p:spPr bwMode="gray">
            <a:xfrm>
              <a:off x="1034652" y="2860337"/>
              <a:ext cx="2789555" cy="2811145"/>
            </a:xfrm>
            <a:prstGeom prst="ellipse">
              <a:avLst/>
            </a:prstGeom>
            <a:noFill/>
            <a:ln w="9525">
              <a:solidFill>
                <a:srgbClr val="00B0F0">
                  <a:alpha val="50000"/>
                </a:srgbClr>
              </a:solidFill>
              <a:round/>
            </a:ln>
            <a:effectLst/>
            <a:extLst>
              <a:ext uri="{909E8E84-426E-40DD-AFC4-6F175D3DCCD1}">
                <a14:hiddenFill xmlns:a14="http://schemas.microsoft.com/office/drawing/2010/main">
                  <a:solidFill>
                    <a:srgbClr val="4F5A71">
                      <a:alpha val="64999"/>
                    </a:srgbClr>
                  </a:solid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14" name="Oval 13">
              <a:extLst>
                <a:ext uri="{FF2B5EF4-FFF2-40B4-BE49-F238E27FC236}">
                  <a16:creationId xmlns:a16="http://schemas.microsoft.com/office/drawing/2014/main" id="{4C650DC5-A34B-5843-182F-40B608C0A16A}"/>
                </a:ext>
              </a:extLst>
            </p:cNvPr>
            <p:cNvSpPr>
              <a:spLocks noChangeArrowheads="1"/>
            </p:cNvSpPr>
            <p:nvPr>
              <p:custDataLst>
                <p:tags r:id="rId8"/>
              </p:custDataLst>
            </p:nvPr>
          </p:nvSpPr>
          <p:spPr bwMode="gray">
            <a:xfrm>
              <a:off x="1353422" y="3197522"/>
              <a:ext cx="2137410" cy="2181860"/>
            </a:xfrm>
            <a:prstGeom prst="ellipse">
              <a:avLst/>
            </a:prstGeom>
            <a:solidFill>
              <a:srgbClr val="00B0F0"/>
            </a:solidFill>
            <a:ln w="0">
              <a:noFill/>
            </a:ln>
            <a:effectLst/>
          </p:spPr>
          <p:txBody>
            <a:bodyPr wrap="square" anchor="ctr">
              <a:normAutofit/>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15" name="KSO_GT1">
              <a:extLst>
                <a:ext uri="{FF2B5EF4-FFF2-40B4-BE49-F238E27FC236}">
                  <a16:creationId xmlns:a16="http://schemas.microsoft.com/office/drawing/2014/main" id="{6458EEA8-8E22-F314-AEB3-E9904F833015}"/>
                </a:ext>
              </a:extLst>
            </p:cNvPr>
            <p:cNvSpPr>
              <a:spLocks noChangeArrowheads="1"/>
            </p:cNvSpPr>
            <p:nvPr>
              <p:custDataLst>
                <p:tags r:id="rId9"/>
              </p:custDataLst>
            </p:nvPr>
          </p:nvSpPr>
          <p:spPr bwMode="gray">
            <a:xfrm>
              <a:off x="1738232" y="3589952"/>
              <a:ext cx="1368425" cy="1397635"/>
            </a:xfrm>
            <a:prstGeom prst="ellipse">
              <a:avLst/>
            </a:prstGeom>
            <a:solidFill>
              <a:schemeClr val="accent5"/>
            </a:solidFill>
            <a:ln>
              <a:noFill/>
            </a:ln>
            <a:effectLst/>
          </p:spPr>
          <p:txBody>
            <a:bodyPr wrap="square" lIns="0" tIns="0" rIns="0" bIns="0" anchor="ctr">
              <a:normAutofit fontScale="90000"/>
            </a:bodyPr>
            <a:lstStyle/>
            <a:p>
              <a:pPr algn="ctr">
                <a:defRPr/>
              </a:pPr>
              <a:r>
                <a:rPr lang="zh-CN" altLang="en-US" sz="2800" kern="0" dirty="0">
                  <a:solidFill>
                    <a:srgbClr val="FFFFFF"/>
                  </a:solidFill>
                  <a:latin typeface="Times New Roman" panose="02020603050405020304" pitchFamily="18" charset="0"/>
                  <a:ea typeface="微软雅黑 Light" panose="020B0502040204020203" pitchFamily="34" charset="-122"/>
                  <a:cs typeface="+mn-ea"/>
                </a:rPr>
                <a:t>软件测试目标</a:t>
              </a:r>
            </a:p>
          </p:txBody>
        </p:sp>
        <p:sp>
          <p:nvSpPr>
            <p:cNvPr id="16" name="Oval 19">
              <a:extLst>
                <a:ext uri="{FF2B5EF4-FFF2-40B4-BE49-F238E27FC236}">
                  <a16:creationId xmlns:a16="http://schemas.microsoft.com/office/drawing/2014/main" id="{4E177C7B-2C07-B92F-2241-36261F1CCB09}"/>
                </a:ext>
              </a:extLst>
            </p:cNvPr>
            <p:cNvSpPr>
              <a:spLocks noChangeArrowheads="1"/>
            </p:cNvSpPr>
            <p:nvPr>
              <p:custDataLst>
                <p:tags r:id="rId10"/>
              </p:custDataLst>
            </p:nvPr>
          </p:nvSpPr>
          <p:spPr bwMode="gray">
            <a:xfrm>
              <a:off x="2880597" y="2598082"/>
              <a:ext cx="251460" cy="251460"/>
            </a:xfrm>
            <a:prstGeom prst="ellipse">
              <a:avLst/>
            </a:prstGeom>
            <a:solidFill>
              <a:srgbClr val="00B0F0"/>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19" name="Oval 19">
              <a:extLst>
                <a:ext uri="{FF2B5EF4-FFF2-40B4-BE49-F238E27FC236}">
                  <a16:creationId xmlns:a16="http://schemas.microsoft.com/office/drawing/2014/main" id="{7038524A-F714-0AB3-00AE-BC27EC098ECF}"/>
                </a:ext>
              </a:extLst>
            </p:cNvPr>
            <p:cNvSpPr>
              <a:spLocks noChangeArrowheads="1"/>
            </p:cNvSpPr>
            <p:nvPr>
              <p:custDataLst>
                <p:tags r:id="rId11"/>
              </p:custDataLst>
            </p:nvPr>
          </p:nvSpPr>
          <p:spPr bwMode="gray">
            <a:xfrm>
              <a:off x="3599735" y="3227685"/>
              <a:ext cx="251460" cy="251460"/>
            </a:xfrm>
            <a:prstGeom prst="ellipse">
              <a:avLst/>
            </a:prstGeom>
            <a:solidFill>
              <a:schemeClr val="accent6"/>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latin typeface="Times New Roman" panose="02020603050405020304" pitchFamily="18" charset="0"/>
              </a:endParaRPr>
            </a:p>
          </p:txBody>
        </p:sp>
        <p:sp>
          <p:nvSpPr>
            <p:cNvPr id="24" name="Oval 19">
              <a:extLst>
                <a:ext uri="{FF2B5EF4-FFF2-40B4-BE49-F238E27FC236}">
                  <a16:creationId xmlns:a16="http://schemas.microsoft.com/office/drawing/2014/main" id="{2D83C6B5-0BE9-6F6D-1EF4-6CF2373AFECD}"/>
                </a:ext>
              </a:extLst>
            </p:cNvPr>
            <p:cNvSpPr>
              <a:spLocks noChangeArrowheads="1"/>
            </p:cNvSpPr>
            <p:nvPr>
              <p:custDataLst>
                <p:tags r:id="rId12"/>
              </p:custDataLst>
            </p:nvPr>
          </p:nvSpPr>
          <p:spPr bwMode="gray">
            <a:xfrm>
              <a:off x="3257153" y="2880657"/>
              <a:ext cx="251460" cy="251460"/>
            </a:xfrm>
            <a:prstGeom prst="ellipse">
              <a:avLst/>
            </a:prstGeom>
            <a:solidFill>
              <a:srgbClr val="008080"/>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latin typeface="Times New Roman" panose="02020603050405020304" pitchFamily="18" charset="0"/>
              </a:endParaRPr>
            </a:p>
          </p:txBody>
        </p:sp>
      </p:grpSp>
    </p:spTree>
  </p:cSld>
  <p:clrMapOvr>
    <a:masterClrMapping/>
  </p:clrMapOvr>
  <p:transition>
    <p:wipe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dirty="0">
              <a:latin typeface="Times New Roman" panose="02020603050405020304" pitchFamily="18" charset="0"/>
              <a:ea typeface="微软雅黑 Light" panose="020B0502040204020203" pitchFamily="34" charset="-122"/>
            </a:endParaRPr>
          </a:p>
        </p:txBody>
      </p:sp>
      <p:sp>
        <p:nvSpPr>
          <p:cNvPr id="40" name="文本框 39"/>
          <p:cNvSpPr txBox="1"/>
          <p:nvPr/>
        </p:nvSpPr>
        <p:spPr>
          <a:xfrm>
            <a:off x="6006555" y="2935102"/>
            <a:ext cx="5137150" cy="830997"/>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i="0" u="none" strike="noStrike" kern="1200" cap="none" spc="0" normalizeH="0" baseline="0" noProof="0" dirty="0">
                <a:ln>
                  <a:noFill/>
                </a:ln>
                <a:effectLst/>
                <a:uLnTx/>
                <a:uFillTx/>
                <a:latin typeface="+mj-ea"/>
                <a:ea typeface="+mj-ea"/>
                <a:cs typeface="+mn-cs"/>
              </a:rPr>
              <a:t>软件测试方法</a:t>
            </a:r>
          </a:p>
        </p:txBody>
      </p:sp>
      <p:sp>
        <p:nvSpPr>
          <p:cNvPr id="48" name="文本框 47"/>
          <p:cNvSpPr txBox="1"/>
          <p:nvPr/>
        </p:nvSpPr>
        <p:spPr>
          <a:xfrm>
            <a:off x="6006465" y="4135755"/>
            <a:ext cx="3712845" cy="400050"/>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effectLst/>
                <a:uLnTx/>
                <a:uFillTx/>
                <a:latin typeface="+mj-ea"/>
                <a:ea typeface="+mj-ea"/>
                <a:cs typeface="+mn-cs"/>
              </a:rPr>
              <a:t>静态分析与动态测试</a:t>
            </a:r>
          </a:p>
        </p:txBody>
      </p:sp>
      <p:sp>
        <p:nvSpPr>
          <p:cNvPr id="50" name="文本框 49"/>
          <p:cNvSpPr txBox="1"/>
          <p:nvPr/>
        </p:nvSpPr>
        <p:spPr>
          <a:xfrm>
            <a:off x="6006465" y="4631055"/>
            <a:ext cx="3712845" cy="400050"/>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effectLst/>
                <a:uLnTx/>
                <a:uFillTx/>
                <a:latin typeface="+mj-ea"/>
                <a:ea typeface="+mj-ea"/>
                <a:cs typeface="+mn-cs"/>
              </a:rPr>
              <a:t>黑盒法与白盒法</a:t>
            </a:r>
          </a:p>
        </p:txBody>
      </p:sp>
      <p:sp>
        <p:nvSpPr>
          <p:cNvPr id="3" name="椭圆 2">
            <a:extLst>
              <a:ext uri="{FF2B5EF4-FFF2-40B4-BE49-F238E27FC236}">
                <a16:creationId xmlns:a16="http://schemas.microsoft.com/office/drawing/2014/main" id="{181E459F-67F7-CF91-9237-27EF2F563692}"/>
              </a:ext>
            </a:extLst>
          </p:cNvPr>
          <p:cNvSpPr/>
          <p:nvPr/>
        </p:nvSpPr>
        <p:spPr>
          <a:xfrm>
            <a:off x="3428455" y="2169500"/>
            <a:ext cx="2362200" cy="23622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600" b="0" i="0" u="none" strike="noStrike" kern="1200" cap="none" spc="0" normalizeH="0" noProof="0" dirty="0">
                <a:ln>
                  <a:noFill/>
                </a:ln>
                <a:solidFill>
                  <a:schemeClr val="lt1"/>
                </a:solidFill>
                <a:effectLst/>
                <a:uLnTx/>
                <a:uFillTx/>
                <a:latin typeface="+mj-lt"/>
                <a:ea typeface="+mj-ea"/>
                <a:cs typeface="+mn-cs"/>
              </a:rPr>
              <a:t>03</a:t>
            </a:r>
            <a:endParaRPr kumimoji="0" lang="zh-CN" altLang="en-US" sz="9600" b="0" i="0" u="none" strike="noStrike" kern="1200" cap="none" spc="0" normalizeH="0" noProof="0" dirty="0">
              <a:ln>
                <a:noFill/>
              </a:ln>
              <a:solidFill>
                <a:schemeClr val="lt1"/>
              </a:solidFill>
              <a:effectLst/>
              <a:uLnTx/>
              <a:uFillTx/>
              <a:latin typeface="+mj-lt"/>
              <a:ea typeface="+mj-ea"/>
              <a:cs typeface="+mn-cs"/>
            </a:endParaRPr>
          </a:p>
        </p:txBody>
      </p:sp>
    </p:spTree>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en-US" altLang="zh-CN" dirty="0"/>
              <a:t>4.3 </a:t>
            </a:r>
            <a:r>
              <a:rPr lang="zh-CN" altLang="en-US" dirty="0"/>
              <a:t>软件测试方法</a:t>
            </a:r>
          </a:p>
        </p:txBody>
      </p:sp>
      <p:sp>
        <p:nvSpPr>
          <p:cNvPr id="14" name="文本占位符 13">
            <a:extLst>
              <a:ext uri="{FF2B5EF4-FFF2-40B4-BE49-F238E27FC236}">
                <a16:creationId xmlns:a16="http://schemas.microsoft.com/office/drawing/2014/main" id="{9ADD4557-897A-5C9F-A3B9-7CF833B16EB1}"/>
              </a:ext>
            </a:extLst>
          </p:cNvPr>
          <p:cNvSpPr>
            <a:spLocks noGrp="1"/>
          </p:cNvSpPr>
          <p:nvPr>
            <p:ph type="body" sz="quarter" idx="10"/>
          </p:nvPr>
        </p:nvSpPr>
        <p:spPr>
          <a:xfrm>
            <a:off x="696000" y="1322832"/>
            <a:ext cx="5400000" cy="400110"/>
          </a:xfrm>
        </p:spPr>
        <p:txBody>
          <a:bodyPr/>
          <a:lstStyle/>
          <a:p>
            <a:r>
              <a:rPr lang="en-US" altLang="zh-CN" dirty="0"/>
              <a:t>4.3.1 </a:t>
            </a:r>
            <a:r>
              <a:rPr lang="zh-CN" altLang="en-US" dirty="0"/>
              <a:t>静态分析与动态测试</a:t>
            </a:r>
          </a:p>
        </p:txBody>
      </p:sp>
      <p:sp>
        <p:nvSpPr>
          <p:cNvPr id="15" name="文本占位符 14">
            <a:extLst>
              <a:ext uri="{FF2B5EF4-FFF2-40B4-BE49-F238E27FC236}">
                <a16:creationId xmlns:a16="http://schemas.microsoft.com/office/drawing/2014/main" id="{D057CDAF-A186-7142-8A71-F38AEDFC6969}"/>
              </a:ext>
            </a:extLst>
          </p:cNvPr>
          <p:cNvSpPr>
            <a:spLocks noGrp="1"/>
          </p:cNvSpPr>
          <p:nvPr>
            <p:ph type="body" sz="quarter" idx="11"/>
          </p:nvPr>
        </p:nvSpPr>
        <p:spPr/>
        <p:txBody>
          <a:bodyPr/>
          <a:lstStyle/>
          <a:p>
            <a:endParaRPr lang="zh-CN" altLang="en-US"/>
          </a:p>
        </p:txBody>
      </p:sp>
      <p:sp>
        <p:nvSpPr>
          <p:cNvPr id="43" name="矩形 42"/>
          <p:cNvSpPr/>
          <p:nvPr/>
        </p:nvSpPr>
        <p:spPr>
          <a:xfrm>
            <a:off x="525780" y="2265554"/>
            <a:ext cx="4320000" cy="3671166"/>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Times New Roman" panose="02020603050405020304" pitchFamily="18" charset="0"/>
            </a:endParaRPr>
          </a:p>
        </p:txBody>
      </p:sp>
      <p:pic>
        <p:nvPicPr>
          <p:cNvPr id="52" name="图片 51"/>
          <p:cNvPicPr>
            <a:picLocks noChangeAspect="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525780" y="2265554"/>
            <a:ext cx="1454150" cy="1451510"/>
          </a:xfrm>
          <a:prstGeom prst="rect">
            <a:avLst/>
          </a:prstGeom>
        </p:spPr>
      </p:pic>
      <p:sp>
        <p:nvSpPr>
          <p:cNvPr id="4" name="TextBox 6"/>
          <p:cNvSpPr txBox="1"/>
          <p:nvPr/>
        </p:nvSpPr>
        <p:spPr>
          <a:xfrm rot="18836568">
            <a:off x="495710" y="2595323"/>
            <a:ext cx="1101541" cy="369332"/>
          </a:xfrm>
          <a:prstGeom prst="rect">
            <a:avLst/>
          </a:prstGeom>
          <a:noFill/>
        </p:spPr>
        <p:txBody>
          <a:bodyPr wrap="square" rtlCol="0">
            <a:spAutoFit/>
          </a:bodyPr>
          <a:lstStyle/>
          <a:p>
            <a:pPr algn="l"/>
            <a:r>
              <a:rPr lang="zh-CN" altLang="en-US" dirty="0">
                <a:solidFill>
                  <a:schemeClr val="bg1"/>
                </a:solidFill>
                <a:latin typeface="+mj-ea"/>
                <a:ea typeface="+mj-ea"/>
              </a:rPr>
              <a:t>静态分析</a:t>
            </a:r>
          </a:p>
        </p:txBody>
      </p:sp>
      <p:sp>
        <p:nvSpPr>
          <p:cNvPr id="5" name="TextBox 26"/>
          <p:cNvSpPr txBox="1"/>
          <p:nvPr/>
        </p:nvSpPr>
        <p:spPr>
          <a:xfrm>
            <a:off x="4296410" y="1818005"/>
            <a:ext cx="691515" cy="1015483"/>
          </a:xfrm>
          <a:prstGeom prst="rect">
            <a:avLst/>
          </a:prstGeom>
          <a:noFill/>
        </p:spPr>
        <p:txBody>
          <a:bodyPr wrap="square" rtlCol="0">
            <a:spAutoFit/>
          </a:bodyPr>
          <a:lstStyle/>
          <a:p>
            <a:pPr algn="ctr"/>
            <a:r>
              <a:rPr lang="en-US" sz="6000" dirty="0">
                <a:ln>
                  <a:solidFill>
                    <a:schemeClr val="tx2"/>
                  </a:solidFill>
                </a:ln>
                <a:solidFill>
                  <a:schemeClr val="bg1"/>
                </a:solidFill>
                <a:effectLst>
                  <a:reflection blurRad="6350" stA="55000" endA="300" endPos="45500" dir="5400000" sy="-100000" algn="bl" rotWithShape="0"/>
                </a:effectLst>
                <a:latin typeface="Times New Roman" panose="02020603050405020304" pitchFamily="18" charset="0"/>
              </a:rPr>
              <a:t>1</a:t>
            </a:r>
          </a:p>
        </p:txBody>
      </p:sp>
      <p:sp>
        <p:nvSpPr>
          <p:cNvPr id="7" name="矩形 6"/>
          <p:cNvSpPr/>
          <p:nvPr/>
        </p:nvSpPr>
        <p:spPr>
          <a:xfrm>
            <a:off x="5232856" y="2265773"/>
            <a:ext cx="6480000" cy="3671696"/>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Times New Roman" panose="02020603050405020304" pitchFamily="18" charset="0"/>
            </a:endParaRPr>
          </a:p>
        </p:txBody>
      </p:sp>
      <p:pic>
        <p:nvPicPr>
          <p:cNvPr id="8" name="图片 7"/>
          <p:cNvPicPr>
            <a:picLocks noChangeAspect="1"/>
          </p:cNvPicPr>
          <p:nvPr/>
        </p:nvPicPr>
        <p:blipFill>
          <a:blip r:embed="rId4"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5189220" y="2236800"/>
            <a:ext cx="1406661" cy="1377545"/>
          </a:xfrm>
          <a:prstGeom prst="rect">
            <a:avLst/>
          </a:prstGeom>
        </p:spPr>
      </p:pic>
      <p:sp>
        <p:nvSpPr>
          <p:cNvPr id="10" name="TextBox 6"/>
          <p:cNvSpPr txBox="1"/>
          <p:nvPr/>
        </p:nvSpPr>
        <p:spPr>
          <a:xfrm rot="18836568">
            <a:off x="5153442" y="2491011"/>
            <a:ext cx="1137857" cy="369332"/>
          </a:xfrm>
          <a:prstGeom prst="rect">
            <a:avLst/>
          </a:prstGeom>
          <a:noFill/>
        </p:spPr>
        <p:txBody>
          <a:bodyPr wrap="square" rtlCol="0">
            <a:spAutoFit/>
          </a:bodyPr>
          <a:lstStyle/>
          <a:p>
            <a:pPr algn="l"/>
            <a:r>
              <a:rPr lang="zh-CN" altLang="en-US" dirty="0">
                <a:solidFill>
                  <a:schemeClr val="bg1"/>
                </a:solidFill>
                <a:latin typeface="+mj-ea"/>
                <a:ea typeface="+mj-ea"/>
              </a:rPr>
              <a:t>动态测试</a:t>
            </a:r>
          </a:p>
        </p:txBody>
      </p:sp>
      <p:sp>
        <p:nvSpPr>
          <p:cNvPr id="11" name="TextBox 26"/>
          <p:cNvSpPr txBox="1"/>
          <p:nvPr/>
        </p:nvSpPr>
        <p:spPr>
          <a:xfrm>
            <a:off x="11080853" y="1818005"/>
            <a:ext cx="863990" cy="1015379"/>
          </a:xfrm>
          <a:prstGeom prst="rect">
            <a:avLst/>
          </a:prstGeom>
          <a:noFill/>
        </p:spPr>
        <p:txBody>
          <a:bodyPr wrap="square" rtlCol="0">
            <a:spAutoFit/>
          </a:bodyPr>
          <a:lstStyle/>
          <a:p>
            <a:pPr algn="ctr"/>
            <a:r>
              <a:rPr lang="en-US" sz="6000" dirty="0">
                <a:ln>
                  <a:solidFill>
                    <a:schemeClr val="tx2"/>
                  </a:solidFill>
                </a:ln>
                <a:solidFill>
                  <a:schemeClr val="bg1"/>
                </a:solidFill>
                <a:effectLst>
                  <a:reflection blurRad="6350" stA="55000" endA="300" endPos="45500" dir="5400000" sy="-100000" algn="bl" rotWithShape="0"/>
                </a:effectLst>
                <a:latin typeface="Times New Roman" panose="02020603050405020304" pitchFamily="18" charset="0"/>
              </a:rPr>
              <a:t>2</a:t>
            </a:r>
          </a:p>
        </p:txBody>
      </p:sp>
      <p:sp>
        <p:nvSpPr>
          <p:cNvPr id="16" name="文本框 15">
            <a:extLst>
              <a:ext uri="{FF2B5EF4-FFF2-40B4-BE49-F238E27FC236}">
                <a16:creationId xmlns:a16="http://schemas.microsoft.com/office/drawing/2014/main" id="{47F3480B-A411-884A-145E-935D20A67733}"/>
              </a:ext>
            </a:extLst>
          </p:cNvPr>
          <p:cNvSpPr txBox="1"/>
          <p:nvPr/>
        </p:nvSpPr>
        <p:spPr>
          <a:xfrm>
            <a:off x="5873122" y="2901981"/>
            <a:ext cx="5787565" cy="2816156"/>
          </a:xfrm>
          <a:prstGeom prst="rect">
            <a:avLst/>
          </a:prstGeom>
          <a:noFill/>
        </p:spPr>
        <p:txBody>
          <a:bodyPr wrap="square" rtlCol="0">
            <a:spAutoFit/>
          </a:bodyPr>
          <a:lstStyle/>
          <a:p>
            <a:pPr algn="just">
              <a:spcAft>
                <a:spcPts val="600"/>
              </a:spcAft>
            </a:pPr>
            <a:r>
              <a:rPr lang="zh-CN" altLang="en-US" dirty="0">
                <a:sym typeface="+mn-ea"/>
              </a:rPr>
              <a:t>动态测试</a:t>
            </a:r>
            <a:r>
              <a:rPr lang="zh-CN" altLang="en-US" dirty="0">
                <a:latin typeface="+mj-ea"/>
                <a:ea typeface="+mj-ea"/>
                <a:sym typeface="+mn-ea"/>
              </a:rPr>
              <a:t>以执行程序并分析程序</a:t>
            </a:r>
            <a:r>
              <a:rPr lang="zh-CN" altLang="en-US" dirty="0">
                <a:sym typeface="+mn-ea"/>
              </a:rPr>
              <a:t>来查错。</a:t>
            </a:r>
          </a:p>
          <a:p>
            <a:pPr algn="just">
              <a:spcAft>
                <a:spcPts val="600"/>
              </a:spcAft>
            </a:pPr>
            <a:r>
              <a:rPr lang="zh-CN" altLang="en-US" dirty="0">
                <a:sym typeface="+mn-ea"/>
              </a:rPr>
              <a:t>为了进行软件测试，需要预先准备好两种数据：输入数据和预期的输出结果。</a:t>
            </a:r>
          </a:p>
          <a:p>
            <a:pPr algn="just">
              <a:spcAft>
                <a:spcPts val="600"/>
              </a:spcAft>
            </a:pPr>
            <a:r>
              <a:rPr lang="zh-CN" altLang="en-US" dirty="0">
                <a:sym typeface="+mn-ea"/>
              </a:rPr>
              <a:t>我们把以发现错误为目标的用于软件测试的输入数据及与之对应的预期输出结果称为</a:t>
            </a:r>
            <a:r>
              <a:rPr lang="zh-CN" altLang="en-US" dirty="0">
                <a:latin typeface="+mj-ea"/>
                <a:ea typeface="+mj-ea"/>
                <a:sym typeface="+mn-ea"/>
              </a:rPr>
              <a:t>测试用例</a:t>
            </a:r>
            <a:r>
              <a:rPr lang="zh-CN" altLang="en-US" dirty="0">
                <a:sym typeface="+mn-ea"/>
              </a:rPr>
              <a:t>。怎样设计测试用例是动态测试的关键。一个设计良好的测试用例，应对发现错误具有较高的概率。</a:t>
            </a:r>
          </a:p>
          <a:p>
            <a:pPr algn="just">
              <a:spcAft>
                <a:spcPts val="600"/>
              </a:spcAft>
            </a:pPr>
            <a:r>
              <a:rPr lang="zh-CN" altLang="en-US" dirty="0">
                <a:sym typeface="+mn-ea"/>
              </a:rPr>
              <a:t>如果想要查出程序中所有的错误，就要把所有可能的输入情况都作为测试情况来进行，即</a:t>
            </a:r>
            <a:r>
              <a:rPr lang="zh-CN" altLang="en-US" dirty="0">
                <a:latin typeface="+mj-ea"/>
                <a:ea typeface="+mj-ea"/>
                <a:sym typeface="+mn-ea"/>
              </a:rPr>
              <a:t>穷尽测试</a:t>
            </a:r>
            <a:r>
              <a:rPr lang="zh-CN" altLang="en-US" dirty="0">
                <a:sym typeface="+mn-ea"/>
              </a:rPr>
              <a:t>。</a:t>
            </a:r>
          </a:p>
        </p:txBody>
      </p:sp>
      <p:sp>
        <p:nvSpPr>
          <p:cNvPr id="17" name="文本框 16">
            <a:extLst>
              <a:ext uri="{FF2B5EF4-FFF2-40B4-BE49-F238E27FC236}">
                <a16:creationId xmlns:a16="http://schemas.microsoft.com/office/drawing/2014/main" id="{2619676B-AA17-946B-9539-553954FF29AC}"/>
              </a:ext>
            </a:extLst>
          </p:cNvPr>
          <p:cNvSpPr txBox="1"/>
          <p:nvPr/>
        </p:nvSpPr>
        <p:spPr>
          <a:xfrm>
            <a:off x="1160444" y="2962054"/>
            <a:ext cx="3402031" cy="1754326"/>
          </a:xfrm>
          <a:prstGeom prst="rect">
            <a:avLst/>
          </a:prstGeom>
          <a:noFill/>
        </p:spPr>
        <p:txBody>
          <a:bodyPr wrap="square" rtlCol="0">
            <a:spAutoFit/>
          </a:bodyPr>
          <a:lstStyle/>
          <a:p>
            <a:pPr algn="just">
              <a:spcAft>
                <a:spcPts val="600"/>
              </a:spcAft>
            </a:pPr>
            <a:r>
              <a:rPr lang="zh-CN" altLang="en-US" dirty="0"/>
              <a:t>静态分析</a:t>
            </a:r>
            <a:r>
              <a:rPr lang="zh-CN" altLang="en-US" dirty="0">
                <a:latin typeface="+mj-ea"/>
                <a:ea typeface="+mj-ea"/>
              </a:rPr>
              <a:t>不执行</a:t>
            </a:r>
            <a:r>
              <a:rPr lang="zh-CN" altLang="en-US" dirty="0"/>
              <a:t>被测试软件，通过对需求分析说明书、软件设计说明书及源程序做结构检查、流程图分析、编码分析等来找出软件错误，这是十分有效的软件质量控制方法。</a:t>
            </a:r>
            <a:endParaRPr lang="zh-CN" altLang="en-US" dirty="0">
              <a:sym typeface="+mn-ea"/>
            </a:endParaRPr>
          </a:p>
        </p:txBody>
      </p:sp>
    </p:spTree>
  </p:cSld>
  <p:clrMapOvr>
    <a:masterClrMapping/>
  </p:clrMapOvr>
  <p:transition>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en-US" altLang="zh-CN" dirty="0"/>
              <a:t>4.3 </a:t>
            </a:r>
            <a:r>
              <a:rPr lang="zh-CN" altLang="en-US" dirty="0"/>
              <a:t>软件测试方法</a:t>
            </a:r>
          </a:p>
        </p:txBody>
      </p:sp>
      <p:sp>
        <p:nvSpPr>
          <p:cNvPr id="14" name="文本占位符 13">
            <a:extLst>
              <a:ext uri="{FF2B5EF4-FFF2-40B4-BE49-F238E27FC236}">
                <a16:creationId xmlns:a16="http://schemas.microsoft.com/office/drawing/2014/main" id="{ABD65C0E-5D17-957D-1321-EED65F39B1A7}"/>
              </a:ext>
            </a:extLst>
          </p:cNvPr>
          <p:cNvSpPr>
            <a:spLocks noGrp="1"/>
          </p:cNvSpPr>
          <p:nvPr>
            <p:ph type="body" sz="quarter" idx="10"/>
          </p:nvPr>
        </p:nvSpPr>
        <p:spPr>
          <a:xfrm>
            <a:off x="696000" y="1322832"/>
            <a:ext cx="5400000" cy="400110"/>
          </a:xfrm>
        </p:spPr>
        <p:txBody>
          <a:bodyPr/>
          <a:lstStyle/>
          <a:p>
            <a:r>
              <a:rPr lang="en-US" altLang="zh-CN" dirty="0"/>
              <a:t>4.3.2 </a:t>
            </a:r>
            <a:r>
              <a:rPr lang="zh-CN" altLang="en-US" dirty="0"/>
              <a:t>黑盒测试与百合测试</a:t>
            </a:r>
          </a:p>
        </p:txBody>
      </p:sp>
      <p:sp>
        <p:nvSpPr>
          <p:cNvPr id="23" name="文本占位符 22">
            <a:extLst>
              <a:ext uri="{FF2B5EF4-FFF2-40B4-BE49-F238E27FC236}">
                <a16:creationId xmlns:a16="http://schemas.microsoft.com/office/drawing/2014/main" id="{D246905E-DD79-C494-1DE4-129D787B447F}"/>
              </a:ext>
            </a:extLst>
          </p:cNvPr>
          <p:cNvSpPr>
            <a:spLocks noGrp="1"/>
          </p:cNvSpPr>
          <p:nvPr>
            <p:ph type="body" sz="quarter" idx="11"/>
          </p:nvPr>
        </p:nvSpPr>
        <p:spPr/>
        <p:txBody>
          <a:bodyPr/>
          <a:lstStyle/>
          <a:p>
            <a:endParaRPr lang="zh-CN" altLang="en-US"/>
          </a:p>
        </p:txBody>
      </p:sp>
      <p:sp>
        <p:nvSpPr>
          <p:cNvPr id="43" name="矩形 42"/>
          <p:cNvSpPr/>
          <p:nvPr/>
        </p:nvSpPr>
        <p:spPr>
          <a:xfrm>
            <a:off x="465332" y="2226310"/>
            <a:ext cx="6480000" cy="3478530"/>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Times New Roman" panose="02020603050405020304" pitchFamily="18" charset="0"/>
            </a:endParaRPr>
          </a:p>
        </p:txBody>
      </p:sp>
      <p:pic>
        <p:nvPicPr>
          <p:cNvPr id="52" name="图片 51"/>
          <p:cNvPicPr>
            <a:picLocks noChangeAspect="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430407" y="2198370"/>
            <a:ext cx="1454150" cy="1445895"/>
          </a:xfrm>
          <a:prstGeom prst="rect">
            <a:avLst/>
          </a:prstGeom>
        </p:spPr>
      </p:pic>
      <p:sp>
        <p:nvSpPr>
          <p:cNvPr id="4" name="TextBox 6"/>
          <p:cNvSpPr txBox="1"/>
          <p:nvPr/>
        </p:nvSpPr>
        <p:spPr>
          <a:xfrm rot="18836568">
            <a:off x="346309" y="2609969"/>
            <a:ext cx="1107996" cy="369332"/>
          </a:xfrm>
          <a:prstGeom prst="rect">
            <a:avLst/>
          </a:prstGeom>
          <a:noFill/>
        </p:spPr>
        <p:txBody>
          <a:bodyPr wrap="none" rtlCol="0">
            <a:spAutoFit/>
          </a:bodyPr>
          <a:lstStyle/>
          <a:p>
            <a:pPr algn="l"/>
            <a:r>
              <a:rPr lang="zh-CN" altLang="en-US" dirty="0">
                <a:solidFill>
                  <a:schemeClr val="bg1"/>
                </a:solidFill>
                <a:latin typeface="+mj-ea"/>
                <a:ea typeface="+mj-ea"/>
              </a:rPr>
              <a:t>黑盒测试</a:t>
            </a:r>
          </a:p>
        </p:txBody>
      </p:sp>
      <p:sp>
        <p:nvSpPr>
          <p:cNvPr id="5" name="TextBox 26"/>
          <p:cNvSpPr txBox="1"/>
          <p:nvPr/>
        </p:nvSpPr>
        <p:spPr>
          <a:xfrm>
            <a:off x="5815330" y="1739900"/>
            <a:ext cx="569595" cy="1015365"/>
          </a:xfrm>
          <a:prstGeom prst="rect">
            <a:avLst/>
          </a:prstGeom>
          <a:noFill/>
        </p:spPr>
        <p:txBody>
          <a:bodyPr wrap="none" rtlCol="0">
            <a:spAutoFit/>
          </a:bodyPr>
          <a:lstStyle/>
          <a:p>
            <a:r>
              <a:rPr lang="en-US" sz="6000" b="1" dirty="0">
                <a:ln>
                  <a:solidFill>
                    <a:schemeClr val="tx2"/>
                  </a:solidFill>
                </a:ln>
                <a:solidFill>
                  <a:schemeClr val="bg1"/>
                </a:solidFill>
                <a:effectLst>
                  <a:reflection blurRad="6350" stA="55000" endA="300" endPos="45500" dir="5400000" sy="-100000" algn="bl" rotWithShape="0"/>
                </a:effectLst>
                <a:latin typeface="Times New Roman" panose="02020603050405020304" pitchFamily="18" charset="0"/>
              </a:rPr>
              <a:t>1</a:t>
            </a:r>
          </a:p>
        </p:txBody>
      </p:sp>
      <p:sp>
        <p:nvSpPr>
          <p:cNvPr id="7" name="矩形 6"/>
          <p:cNvSpPr/>
          <p:nvPr/>
        </p:nvSpPr>
        <p:spPr>
          <a:xfrm>
            <a:off x="7575105" y="2212837"/>
            <a:ext cx="4320000" cy="3478277"/>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Times New Roman" panose="02020603050405020304" pitchFamily="18" charset="0"/>
            </a:endParaRPr>
          </a:p>
        </p:txBody>
      </p:sp>
      <p:pic>
        <p:nvPicPr>
          <p:cNvPr id="8" name="图片 7"/>
          <p:cNvPicPr>
            <a:picLocks noChangeAspect="1"/>
          </p:cNvPicPr>
          <p:nvPr/>
        </p:nvPicPr>
        <p:blipFill>
          <a:blip r:embed="rId4"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7542457" y="2185831"/>
            <a:ext cx="1359358" cy="1397571"/>
          </a:xfrm>
          <a:prstGeom prst="rect">
            <a:avLst/>
          </a:prstGeom>
        </p:spPr>
      </p:pic>
      <p:sp>
        <p:nvSpPr>
          <p:cNvPr id="10" name="TextBox 6"/>
          <p:cNvSpPr txBox="1"/>
          <p:nvPr/>
        </p:nvSpPr>
        <p:spPr>
          <a:xfrm rot="18836568">
            <a:off x="7407503" y="2486662"/>
            <a:ext cx="1349083" cy="369332"/>
          </a:xfrm>
          <a:prstGeom prst="rect">
            <a:avLst/>
          </a:prstGeom>
          <a:noFill/>
        </p:spPr>
        <p:txBody>
          <a:bodyPr wrap="square" rtlCol="0">
            <a:spAutoFit/>
          </a:bodyPr>
          <a:lstStyle/>
          <a:p>
            <a:pPr algn="l"/>
            <a:r>
              <a:rPr lang="zh-CN" altLang="en-US" dirty="0">
                <a:solidFill>
                  <a:schemeClr val="bg1"/>
                </a:solidFill>
                <a:latin typeface="+mj-ea"/>
                <a:ea typeface="+mj-ea"/>
              </a:rPr>
              <a:t>白盒测试</a:t>
            </a:r>
          </a:p>
        </p:txBody>
      </p:sp>
      <p:sp>
        <p:nvSpPr>
          <p:cNvPr id="11" name="TextBox 26"/>
          <p:cNvSpPr txBox="1"/>
          <p:nvPr/>
        </p:nvSpPr>
        <p:spPr>
          <a:xfrm>
            <a:off x="11372824" y="1739900"/>
            <a:ext cx="646437" cy="1015802"/>
          </a:xfrm>
          <a:prstGeom prst="rect">
            <a:avLst/>
          </a:prstGeom>
          <a:noFill/>
        </p:spPr>
        <p:txBody>
          <a:bodyPr wrap="square" rtlCol="0">
            <a:spAutoFit/>
          </a:bodyPr>
          <a:lstStyle/>
          <a:p>
            <a:r>
              <a:rPr lang="en-US" sz="6000" b="1" dirty="0">
                <a:ln>
                  <a:solidFill>
                    <a:schemeClr val="tx2"/>
                  </a:solidFill>
                </a:ln>
                <a:solidFill>
                  <a:schemeClr val="bg1"/>
                </a:solidFill>
                <a:effectLst>
                  <a:reflection blurRad="6350" stA="55000" endA="300" endPos="45500" dir="5400000" sy="-100000" algn="bl" rotWithShape="0"/>
                </a:effectLst>
                <a:latin typeface="Times New Roman" panose="02020603050405020304" pitchFamily="18" charset="0"/>
              </a:rPr>
              <a:t>2</a:t>
            </a:r>
          </a:p>
        </p:txBody>
      </p:sp>
      <p:grpSp>
        <p:nvGrpSpPr>
          <p:cNvPr id="41" name="组合 40"/>
          <p:cNvGrpSpPr/>
          <p:nvPr/>
        </p:nvGrpSpPr>
        <p:grpSpPr>
          <a:xfrm>
            <a:off x="6152036" y="567482"/>
            <a:ext cx="5427980" cy="1049655"/>
            <a:chOff x="1164" y="3311"/>
            <a:chExt cx="8548" cy="1653"/>
          </a:xfrm>
        </p:grpSpPr>
        <p:sp>
          <p:nvSpPr>
            <p:cNvPr id="167" name="圆角矩形"/>
            <p:cNvSpPr/>
            <p:nvPr/>
          </p:nvSpPr>
          <p:spPr>
            <a:xfrm>
              <a:off x="1336" y="3815"/>
              <a:ext cx="8376" cy="1149"/>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dirty="0">
                  <a:solidFill>
                    <a:schemeClr val="bg2">
                      <a:lumMod val="50000"/>
                    </a:schemeClr>
                  </a:solidFill>
                  <a:latin typeface="Times New Roman" panose="02020603050405020304" pitchFamily="18" charset="0"/>
                </a:rPr>
                <a:t>   </a:t>
              </a:r>
              <a:endParaRPr lang="zh-CN" altLang="en-US" dirty="0">
                <a:solidFill>
                  <a:schemeClr val="bg2">
                    <a:lumMod val="50000"/>
                  </a:schemeClr>
                </a:solidFill>
                <a:latin typeface="Times New Roman" panose="02020603050405020304" pitchFamily="18" charset="0"/>
              </a:endParaRPr>
            </a:p>
          </p:txBody>
        </p:sp>
        <p:sp>
          <p:nvSpPr>
            <p:cNvPr id="42" name="学士帽"/>
            <p:cNvSpPr/>
            <p:nvPr/>
          </p:nvSpPr>
          <p:spPr bwMode="auto">
            <a:xfrm>
              <a:off x="1164" y="3311"/>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latin typeface="Times New Roman" panose="02020603050405020304" pitchFamily="18" charset="0"/>
                <a:ea typeface="微软雅黑 Light" panose="020B0502040204020203" pitchFamily="34" charset="-122"/>
              </a:endParaRPr>
            </a:p>
          </p:txBody>
        </p:sp>
        <p:sp>
          <p:nvSpPr>
            <p:cNvPr id="12" name="文本框 11"/>
            <p:cNvSpPr txBox="1"/>
            <p:nvPr/>
          </p:nvSpPr>
          <p:spPr>
            <a:xfrm>
              <a:off x="1308" y="3803"/>
              <a:ext cx="8312" cy="1008"/>
            </a:xfrm>
            <a:prstGeom prst="rect">
              <a:avLst/>
            </a:prstGeom>
            <a:noFill/>
          </p:spPr>
          <p:txBody>
            <a:bodyPr wrap="square" rtlCol="0">
              <a:spAutoFit/>
            </a:bodyPr>
            <a:lstStyle/>
            <a:p>
              <a:pPr indent="0"/>
              <a:r>
                <a:rPr lang="en-US" altLang="zh-CN" dirty="0">
                  <a:solidFill>
                    <a:schemeClr val="bg2">
                      <a:lumMod val="50000"/>
                    </a:schemeClr>
                  </a:solidFill>
                  <a:latin typeface="Times New Roman" panose="02020603050405020304" pitchFamily="18" charset="0"/>
                  <a:sym typeface="+mn-ea"/>
                </a:rPr>
                <a:t>       </a:t>
              </a:r>
              <a:r>
                <a:rPr lang="zh-CN" altLang="en-US" dirty="0">
                  <a:latin typeface="Times New Roman" panose="02020603050405020304" pitchFamily="18" charset="0"/>
                  <a:sym typeface="+mn-ea"/>
                </a:rPr>
                <a:t>在软件测试时，常把黑盒法和白盒法结合起来进行，这也称为灰盒法。</a:t>
              </a:r>
            </a:p>
          </p:txBody>
        </p:sp>
      </p:grpSp>
      <p:sp>
        <p:nvSpPr>
          <p:cNvPr id="19" name="文本框 18">
            <a:extLst>
              <a:ext uri="{FF2B5EF4-FFF2-40B4-BE49-F238E27FC236}">
                <a16:creationId xmlns:a16="http://schemas.microsoft.com/office/drawing/2014/main" id="{C1D24911-A396-41D2-4073-E9B9515919EC}"/>
              </a:ext>
            </a:extLst>
          </p:cNvPr>
          <p:cNvSpPr txBox="1"/>
          <p:nvPr/>
        </p:nvSpPr>
        <p:spPr>
          <a:xfrm>
            <a:off x="1109856" y="2972668"/>
            <a:ext cx="5227443" cy="2585323"/>
          </a:xfrm>
          <a:prstGeom prst="rect">
            <a:avLst/>
          </a:prstGeom>
          <a:noFill/>
        </p:spPr>
        <p:txBody>
          <a:bodyPr wrap="square" rtlCol="0">
            <a:spAutoFit/>
          </a:bodyPr>
          <a:lstStyle/>
          <a:p>
            <a:pPr algn="just"/>
            <a:r>
              <a:rPr lang="zh-CN" altLang="en-US" dirty="0">
                <a:sym typeface="+mn-ea"/>
              </a:rPr>
              <a:t>黑盒法（</a:t>
            </a:r>
            <a:r>
              <a:rPr lang="en-US" altLang="zh-CN" dirty="0">
                <a:sym typeface="+mn-ea"/>
              </a:rPr>
              <a:t>Black-box Testing</a:t>
            </a:r>
            <a:r>
              <a:rPr lang="zh-CN" altLang="en-US" dirty="0">
                <a:sym typeface="+mn-ea"/>
              </a:rPr>
              <a:t>）又称</a:t>
            </a:r>
            <a:r>
              <a:rPr lang="zh-CN" altLang="en-US" dirty="0">
                <a:latin typeface="+mj-ea"/>
                <a:ea typeface="+mj-ea"/>
                <a:sym typeface="+mn-ea"/>
              </a:rPr>
              <a:t>功能</a:t>
            </a:r>
            <a:r>
              <a:rPr lang="zh-CN" altLang="en-US" dirty="0">
                <a:sym typeface="+mn-ea"/>
              </a:rPr>
              <a:t>测试。</a:t>
            </a:r>
            <a:endParaRPr lang="en-US" altLang="zh-CN" dirty="0">
              <a:sym typeface="+mn-ea"/>
            </a:endParaRPr>
          </a:p>
          <a:p>
            <a:pPr algn="just"/>
            <a:r>
              <a:rPr lang="zh-CN" altLang="en-US" dirty="0">
                <a:sym typeface="+mn-ea"/>
              </a:rPr>
              <a:t>测试用例完全是根据程序的功能说明来设计的。测试者完全不考虑程序的内部结构和内部特性，而是把软件看成是一个黑盒，仅关心如何寻找出可能使程序不按要求运行的情况；因而测试是在程序接口进行。</a:t>
            </a:r>
          </a:p>
          <a:p>
            <a:pPr algn="just"/>
            <a:r>
              <a:rPr lang="zh-CN" altLang="en-US" dirty="0">
                <a:sym typeface="+mn-ea"/>
              </a:rPr>
              <a:t>黑盒法是最基本的测试法；主要测试软件能否满足功能要求，检查输入能否被正确地接收，软件能否正确地输出结果。</a:t>
            </a:r>
          </a:p>
        </p:txBody>
      </p:sp>
      <p:sp>
        <p:nvSpPr>
          <p:cNvPr id="20" name="文本框 19">
            <a:extLst>
              <a:ext uri="{FF2B5EF4-FFF2-40B4-BE49-F238E27FC236}">
                <a16:creationId xmlns:a16="http://schemas.microsoft.com/office/drawing/2014/main" id="{1CB03594-2186-30B3-D18A-629BA559DD06}"/>
              </a:ext>
            </a:extLst>
          </p:cNvPr>
          <p:cNvSpPr txBox="1"/>
          <p:nvPr/>
        </p:nvSpPr>
        <p:spPr>
          <a:xfrm>
            <a:off x="8019748" y="2972668"/>
            <a:ext cx="3649440" cy="1477328"/>
          </a:xfrm>
          <a:prstGeom prst="rect">
            <a:avLst/>
          </a:prstGeom>
          <a:noFill/>
        </p:spPr>
        <p:txBody>
          <a:bodyPr wrap="square" rtlCol="0">
            <a:spAutoFit/>
          </a:bodyPr>
          <a:lstStyle/>
          <a:p>
            <a:pPr algn="just"/>
            <a:r>
              <a:rPr lang="zh-CN" altLang="en-US" dirty="0">
                <a:sym typeface="+mn-ea"/>
              </a:rPr>
              <a:t> 白盒法（</a:t>
            </a:r>
            <a:r>
              <a:rPr lang="en-US" altLang="zh-CN" dirty="0">
                <a:sym typeface="+mn-ea"/>
              </a:rPr>
              <a:t>White-box Testing</a:t>
            </a:r>
            <a:r>
              <a:rPr lang="zh-CN" altLang="en-US" dirty="0">
                <a:sym typeface="+mn-ea"/>
              </a:rPr>
              <a:t>）又称结构测试，其测试用例是根据程序内部的逻辑结构和执行路径来设计的。用白盒法测试时，从检查程序的逻辑着手。</a:t>
            </a:r>
          </a:p>
        </p:txBody>
      </p:sp>
    </p:spTree>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dirty="0">
              <a:latin typeface="Times New Roman" panose="02020603050405020304" pitchFamily="18" charset="0"/>
              <a:ea typeface="微软雅黑 Light" panose="020B0502040204020203" pitchFamily="34" charset="-122"/>
            </a:endParaRPr>
          </a:p>
        </p:txBody>
      </p:sp>
      <p:sp>
        <p:nvSpPr>
          <p:cNvPr id="40" name="文本框 39"/>
          <p:cNvSpPr txBox="1"/>
          <p:nvPr/>
        </p:nvSpPr>
        <p:spPr>
          <a:xfrm>
            <a:off x="6006555" y="2935102"/>
            <a:ext cx="5137150" cy="830997"/>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i="0" u="none" strike="noStrike" kern="1200" cap="none" spc="0" normalizeH="0" baseline="0" noProof="0" dirty="0">
                <a:ln>
                  <a:noFill/>
                </a:ln>
                <a:effectLst/>
                <a:uLnTx/>
                <a:uFillTx/>
                <a:latin typeface="+mj-ea"/>
                <a:ea typeface="+mj-ea"/>
                <a:cs typeface="+mn-cs"/>
              </a:rPr>
              <a:t>软件测试步骤</a:t>
            </a:r>
          </a:p>
        </p:txBody>
      </p:sp>
      <p:sp>
        <p:nvSpPr>
          <p:cNvPr id="48" name="文本框 47"/>
          <p:cNvSpPr txBox="1"/>
          <p:nvPr/>
        </p:nvSpPr>
        <p:spPr>
          <a:xfrm>
            <a:off x="6006465" y="4135755"/>
            <a:ext cx="2178685" cy="400050"/>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effectLst/>
                <a:uLnTx/>
                <a:uFillTx/>
                <a:latin typeface="+mj-ea"/>
                <a:ea typeface="+mj-ea"/>
                <a:cs typeface="+mn-cs"/>
              </a:rPr>
              <a:t>模块测试</a:t>
            </a:r>
          </a:p>
        </p:txBody>
      </p:sp>
      <p:sp>
        <p:nvSpPr>
          <p:cNvPr id="50" name="文本框 49"/>
          <p:cNvSpPr txBox="1"/>
          <p:nvPr/>
        </p:nvSpPr>
        <p:spPr>
          <a:xfrm>
            <a:off x="6006466" y="4631055"/>
            <a:ext cx="2053802" cy="400050"/>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effectLst/>
                <a:uLnTx/>
                <a:uFillTx/>
                <a:latin typeface="+mj-ea"/>
                <a:ea typeface="+mj-ea"/>
                <a:cs typeface="+mn-cs"/>
              </a:rPr>
              <a:t>集成测试</a:t>
            </a:r>
          </a:p>
        </p:txBody>
      </p:sp>
      <p:sp>
        <p:nvSpPr>
          <p:cNvPr id="5" name="文本框 4"/>
          <p:cNvSpPr txBox="1"/>
          <p:nvPr/>
        </p:nvSpPr>
        <p:spPr>
          <a:xfrm>
            <a:off x="8185150" y="4135755"/>
            <a:ext cx="2492889" cy="400110"/>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effectLst/>
                <a:uLnTx/>
                <a:uFillTx/>
                <a:latin typeface="+mj-ea"/>
                <a:ea typeface="+mj-ea"/>
                <a:cs typeface="+mn-cs"/>
              </a:rPr>
              <a:t>确认测试</a:t>
            </a:r>
          </a:p>
        </p:txBody>
      </p:sp>
      <p:sp>
        <p:nvSpPr>
          <p:cNvPr id="6" name="文本框 5"/>
          <p:cNvSpPr txBox="1"/>
          <p:nvPr/>
        </p:nvSpPr>
        <p:spPr>
          <a:xfrm>
            <a:off x="8185150" y="4631055"/>
            <a:ext cx="2492889" cy="400110"/>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effectLst/>
                <a:uLnTx/>
                <a:uFillTx/>
                <a:latin typeface="+mj-ea"/>
                <a:ea typeface="+mj-ea"/>
                <a:cs typeface="+mn-cs"/>
              </a:rPr>
              <a:t>平行运行</a:t>
            </a:r>
          </a:p>
        </p:txBody>
      </p:sp>
      <p:sp>
        <p:nvSpPr>
          <p:cNvPr id="8" name="文本框 7"/>
          <p:cNvSpPr txBox="1"/>
          <p:nvPr/>
        </p:nvSpPr>
        <p:spPr>
          <a:xfrm>
            <a:off x="6006465" y="5156200"/>
            <a:ext cx="3712845" cy="400110"/>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effectLst/>
                <a:uLnTx/>
                <a:uFillTx/>
                <a:latin typeface="+mj-ea"/>
                <a:ea typeface="+mj-ea"/>
                <a:cs typeface="+mn-cs"/>
              </a:rPr>
              <a:t>程序审查会和人工运行</a:t>
            </a:r>
          </a:p>
        </p:txBody>
      </p:sp>
      <p:sp>
        <p:nvSpPr>
          <p:cNvPr id="3" name="椭圆 2">
            <a:extLst>
              <a:ext uri="{FF2B5EF4-FFF2-40B4-BE49-F238E27FC236}">
                <a16:creationId xmlns:a16="http://schemas.microsoft.com/office/drawing/2014/main" id="{CF1F5488-0D99-8497-372E-B41F7946CD0E}"/>
              </a:ext>
            </a:extLst>
          </p:cNvPr>
          <p:cNvSpPr/>
          <p:nvPr/>
        </p:nvSpPr>
        <p:spPr>
          <a:xfrm>
            <a:off x="3428455" y="2169500"/>
            <a:ext cx="2362200" cy="23622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600" b="0" i="0" u="none" strike="noStrike" kern="1200" cap="none" spc="0" normalizeH="0" noProof="0" dirty="0">
                <a:ln>
                  <a:noFill/>
                </a:ln>
                <a:solidFill>
                  <a:schemeClr val="lt1"/>
                </a:solidFill>
                <a:effectLst/>
                <a:uLnTx/>
                <a:uFillTx/>
                <a:latin typeface="+mj-lt"/>
                <a:ea typeface="+mj-ea"/>
                <a:cs typeface="+mn-cs"/>
              </a:rPr>
              <a:t>04</a:t>
            </a:r>
            <a:endParaRPr kumimoji="0" lang="zh-CN" altLang="en-US" sz="9600" b="0" i="0" u="none" strike="noStrike" kern="1200" cap="none" spc="0" normalizeH="0" noProof="0" dirty="0">
              <a:ln>
                <a:noFill/>
              </a:ln>
              <a:solidFill>
                <a:schemeClr val="lt1"/>
              </a:solidFill>
              <a:effectLst/>
              <a:uLnTx/>
              <a:uFillTx/>
              <a:latin typeface="+mj-lt"/>
              <a:ea typeface="+mj-ea"/>
              <a:cs typeface="+mn-cs"/>
            </a:endParaRPr>
          </a:p>
        </p:txBody>
      </p:sp>
    </p:spTree>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en-US" altLang="zh-CN" dirty="0"/>
              <a:t>4.4 </a:t>
            </a:r>
            <a:r>
              <a:rPr lang="zh-CN" altLang="en-US" dirty="0"/>
              <a:t>软件测试步骤</a:t>
            </a:r>
          </a:p>
        </p:txBody>
      </p:sp>
      <p:sp>
        <p:nvSpPr>
          <p:cNvPr id="5" name="文本占位符 4">
            <a:extLst>
              <a:ext uri="{FF2B5EF4-FFF2-40B4-BE49-F238E27FC236}">
                <a16:creationId xmlns:a16="http://schemas.microsoft.com/office/drawing/2014/main" id="{544EAE4D-3871-CAEC-9A79-6A12FEAFFA1E}"/>
              </a:ext>
            </a:extLst>
          </p:cNvPr>
          <p:cNvSpPr>
            <a:spLocks noGrp="1"/>
          </p:cNvSpPr>
          <p:nvPr>
            <p:ph type="body" sz="quarter" idx="10"/>
          </p:nvPr>
        </p:nvSpPr>
        <p:spPr>
          <a:xfrm>
            <a:off x="696000" y="1322832"/>
            <a:ext cx="5400000" cy="400110"/>
          </a:xfrm>
        </p:spPr>
        <p:txBody>
          <a:bodyPr/>
          <a:lstStyle/>
          <a:p>
            <a:r>
              <a:rPr lang="zh-CN" altLang="en-US" dirty="0"/>
              <a:t>基本步骤</a:t>
            </a:r>
          </a:p>
        </p:txBody>
      </p:sp>
      <p:sp>
        <p:nvSpPr>
          <p:cNvPr id="9" name="文本占位符 8">
            <a:extLst>
              <a:ext uri="{FF2B5EF4-FFF2-40B4-BE49-F238E27FC236}">
                <a16:creationId xmlns:a16="http://schemas.microsoft.com/office/drawing/2014/main" id="{74614211-CF23-99F9-54D4-33FF46910526}"/>
              </a:ext>
            </a:extLst>
          </p:cNvPr>
          <p:cNvSpPr>
            <a:spLocks noGrp="1"/>
          </p:cNvSpPr>
          <p:nvPr>
            <p:ph type="body" sz="quarter" idx="11"/>
          </p:nvPr>
        </p:nvSpPr>
        <p:spPr>
          <a:xfrm>
            <a:off x="6096000" y="360128"/>
            <a:ext cx="5760000" cy="400110"/>
          </a:xfrm>
        </p:spPr>
        <p:txBody>
          <a:bodyPr/>
          <a:lstStyle/>
          <a:p>
            <a:r>
              <a:rPr lang="en-US" altLang="zh-CN" dirty="0"/>
              <a:t>Procedure</a:t>
            </a:r>
            <a:endParaRPr lang="zh-CN" altLang="en-US" dirty="0"/>
          </a:p>
        </p:txBody>
      </p:sp>
      <p:sp>
        <p:nvSpPr>
          <p:cNvPr id="37" name="文本框 36"/>
          <p:cNvSpPr txBox="1"/>
          <p:nvPr>
            <p:custDataLst>
              <p:tags r:id="rId1"/>
            </p:custDataLst>
          </p:nvPr>
        </p:nvSpPr>
        <p:spPr>
          <a:xfrm>
            <a:off x="8233037" y="3130651"/>
            <a:ext cx="1635952" cy="400110"/>
          </a:xfrm>
          <a:prstGeom prst="rect">
            <a:avLst/>
          </a:prstGeom>
          <a:noFill/>
        </p:spPr>
        <p:txBody>
          <a:bodyPr>
            <a:spAutoFit/>
          </a:bodyPr>
          <a:lstStyle/>
          <a:p>
            <a:pPr algn="l" eaLnBrk="1" hangingPunct="1">
              <a:lnSpc>
                <a:spcPct val="100000"/>
              </a:lnSpc>
              <a:spcBef>
                <a:spcPts val="0"/>
              </a:spcBef>
              <a:spcAft>
                <a:spcPts val="0"/>
              </a:spcAft>
              <a:defRPr/>
            </a:pPr>
            <a:r>
              <a:rPr lang="zh-CN" altLang="en-US" sz="2000" dirty="0">
                <a:latin typeface="+mj-ea"/>
                <a:ea typeface="+mj-ea"/>
              </a:rPr>
              <a:t>集成测试</a:t>
            </a:r>
          </a:p>
        </p:txBody>
      </p:sp>
      <p:sp>
        <p:nvSpPr>
          <p:cNvPr id="39" name="文本框 38"/>
          <p:cNvSpPr txBox="1"/>
          <p:nvPr>
            <p:custDataLst>
              <p:tags r:id="rId2"/>
            </p:custDataLst>
          </p:nvPr>
        </p:nvSpPr>
        <p:spPr>
          <a:xfrm>
            <a:off x="8233037" y="4246798"/>
            <a:ext cx="1681728" cy="400110"/>
          </a:xfrm>
          <a:prstGeom prst="rect">
            <a:avLst/>
          </a:prstGeom>
          <a:noFill/>
        </p:spPr>
        <p:txBody>
          <a:bodyPr>
            <a:spAutoFit/>
          </a:bodyPr>
          <a:lstStyle/>
          <a:p>
            <a:pPr algn="l" eaLnBrk="1" hangingPunct="1">
              <a:lnSpc>
                <a:spcPct val="100000"/>
              </a:lnSpc>
              <a:spcBef>
                <a:spcPts val="0"/>
              </a:spcBef>
              <a:spcAft>
                <a:spcPts val="0"/>
              </a:spcAft>
              <a:defRPr/>
            </a:pPr>
            <a:r>
              <a:rPr lang="zh-CN" altLang="en-US" sz="2000" dirty="0">
                <a:latin typeface="+mj-ea"/>
                <a:ea typeface="+mj-ea"/>
              </a:rPr>
              <a:t>程序审查会</a:t>
            </a:r>
          </a:p>
        </p:txBody>
      </p:sp>
      <p:sp>
        <p:nvSpPr>
          <p:cNvPr id="16" name="文本框 15"/>
          <p:cNvSpPr txBox="1"/>
          <p:nvPr>
            <p:custDataLst>
              <p:tags r:id="rId3"/>
            </p:custDataLst>
          </p:nvPr>
        </p:nvSpPr>
        <p:spPr>
          <a:xfrm>
            <a:off x="6904629" y="5381627"/>
            <a:ext cx="2519323" cy="400110"/>
          </a:xfrm>
          <a:prstGeom prst="rect">
            <a:avLst/>
          </a:prstGeom>
          <a:noFill/>
        </p:spPr>
        <p:txBody>
          <a:bodyPr>
            <a:spAutoFit/>
          </a:bodyPr>
          <a:lstStyle/>
          <a:p>
            <a:pPr algn="l" eaLnBrk="1" hangingPunct="1">
              <a:lnSpc>
                <a:spcPct val="100000"/>
              </a:lnSpc>
              <a:spcBef>
                <a:spcPts val="0"/>
              </a:spcBef>
              <a:spcAft>
                <a:spcPts val="0"/>
              </a:spcAft>
              <a:defRPr/>
            </a:pPr>
            <a:r>
              <a:rPr lang="zh-CN" altLang="en-US" sz="2000" dirty="0">
                <a:latin typeface="+mj-ea"/>
                <a:ea typeface="+mj-ea"/>
              </a:rPr>
              <a:t>人工运行</a:t>
            </a:r>
          </a:p>
        </p:txBody>
      </p:sp>
      <p:sp>
        <p:nvSpPr>
          <p:cNvPr id="17" name="文本框 16"/>
          <p:cNvSpPr txBox="1"/>
          <p:nvPr>
            <p:custDataLst>
              <p:tags r:id="rId4"/>
            </p:custDataLst>
          </p:nvPr>
        </p:nvSpPr>
        <p:spPr>
          <a:xfrm>
            <a:off x="2105574" y="4246798"/>
            <a:ext cx="1470831" cy="400110"/>
          </a:xfrm>
          <a:prstGeom prst="rect">
            <a:avLst/>
          </a:prstGeom>
          <a:noFill/>
        </p:spPr>
        <p:txBody>
          <a:bodyPr>
            <a:spAutoFit/>
          </a:bodyPr>
          <a:lstStyle/>
          <a:p>
            <a:pPr algn="r" eaLnBrk="1" hangingPunct="1">
              <a:spcBef>
                <a:spcPts val="0"/>
              </a:spcBef>
              <a:spcAft>
                <a:spcPts val="0"/>
              </a:spcAft>
              <a:defRPr/>
            </a:pPr>
            <a:r>
              <a:rPr lang="zh-CN" altLang="en-US" sz="2000" dirty="0">
                <a:latin typeface="+mj-ea"/>
                <a:ea typeface="+mj-ea"/>
              </a:rPr>
              <a:t>确认测试</a:t>
            </a:r>
          </a:p>
        </p:txBody>
      </p:sp>
      <p:sp>
        <p:nvSpPr>
          <p:cNvPr id="47" name="文本框 46"/>
          <p:cNvSpPr txBox="1"/>
          <p:nvPr>
            <p:custDataLst>
              <p:tags r:id="rId5"/>
            </p:custDataLst>
          </p:nvPr>
        </p:nvSpPr>
        <p:spPr>
          <a:xfrm>
            <a:off x="2105574" y="3130651"/>
            <a:ext cx="1605435" cy="400110"/>
          </a:xfrm>
          <a:prstGeom prst="rect">
            <a:avLst/>
          </a:prstGeom>
          <a:noFill/>
        </p:spPr>
        <p:txBody>
          <a:bodyPr>
            <a:spAutoFit/>
          </a:bodyPr>
          <a:lstStyle/>
          <a:p>
            <a:pPr algn="r" eaLnBrk="1" hangingPunct="1">
              <a:spcBef>
                <a:spcPts val="0"/>
              </a:spcBef>
              <a:spcAft>
                <a:spcPts val="0"/>
              </a:spcAft>
              <a:defRPr/>
            </a:pPr>
            <a:r>
              <a:rPr lang="zh-CN" altLang="en-US" sz="2000" dirty="0">
                <a:latin typeface="+mj-ea"/>
                <a:ea typeface="+mj-ea"/>
              </a:rPr>
              <a:t>平行运行</a:t>
            </a:r>
          </a:p>
        </p:txBody>
      </p:sp>
      <p:sp>
        <p:nvSpPr>
          <p:cNvPr id="51" name="文本框 50"/>
          <p:cNvSpPr txBox="1"/>
          <p:nvPr>
            <p:custDataLst>
              <p:tags r:id="rId6"/>
            </p:custDataLst>
          </p:nvPr>
        </p:nvSpPr>
        <p:spPr>
          <a:xfrm>
            <a:off x="7220905" y="1814089"/>
            <a:ext cx="1676279" cy="400110"/>
          </a:xfrm>
          <a:prstGeom prst="rect">
            <a:avLst/>
          </a:prstGeom>
          <a:noFill/>
        </p:spPr>
        <p:txBody>
          <a:bodyPr>
            <a:spAutoFit/>
          </a:bodyPr>
          <a:lstStyle/>
          <a:p>
            <a:pPr eaLnBrk="1" hangingPunct="1">
              <a:spcBef>
                <a:spcPts val="0"/>
              </a:spcBef>
              <a:spcAft>
                <a:spcPts val="0"/>
              </a:spcAft>
              <a:defRPr/>
            </a:pPr>
            <a:r>
              <a:rPr lang="zh-CN" altLang="en-US" sz="2000" dirty="0">
                <a:latin typeface="+mj-ea"/>
                <a:ea typeface="+mj-ea"/>
              </a:rPr>
              <a:t>模块测试</a:t>
            </a:r>
          </a:p>
        </p:txBody>
      </p:sp>
      <p:sp>
        <p:nvSpPr>
          <p:cNvPr id="18" name="六边形 17"/>
          <p:cNvSpPr/>
          <p:nvPr>
            <p:custDataLst>
              <p:tags r:id="rId7"/>
            </p:custDataLst>
          </p:nvPr>
        </p:nvSpPr>
        <p:spPr>
          <a:xfrm>
            <a:off x="6499538" y="2902333"/>
            <a:ext cx="1032688" cy="856747"/>
          </a:xfrm>
          <a:prstGeom prst="hexagon">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r>
              <a:rPr lang="en-US" altLang="zh-CN" sz="2400" b="1" dirty="0">
                <a:solidFill>
                  <a:schemeClr val="bg1"/>
                </a:solidFill>
                <a:latin typeface="Times New Roman" panose="02020603050405020304" pitchFamily="18" charset="0"/>
              </a:rPr>
              <a:t>02</a:t>
            </a:r>
            <a:endParaRPr lang="zh-CN" altLang="en-US" sz="2400" b="1" dirty="0">
              <a:solidFill>
                <a:schemeClr val="bg1"/>
              </a:solidFill>
              <a:latin typeface="Times New Roman" panose="02020603050405020304" pitchFamily="18" charset="0"/>
            </a:endParaRPr>
          </a:p>
        </p:txBody>
      </p:sp>
      <p:sp>
        <p:nvSpPr>
          <p:cNvPr id="54" name="六边形 53"/>
          <p:cNvSpPr/>
          <p:nvPr>
            <p:custDataLst>
              <p:tags r:id="rId8"/>
            </p:custDataLst>
          </p:nvPr>
        </p:nvSpPr>
        <p:spPr>
          <a:xfrm>
            <a:off x="5368759" y="2286385"/>
            <a:ext cx="1034323" cy="855196"/>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r>
              <a:rPr lang="en-US" altLang="zh-CN" sz="2400" b="1" dirty="0">
                <a:solidFill>
                  <a:schemeClr val="bg1"/>
                </a:solidFill>
                <a:latin typeface="Times New Roman" panose="02020603050405020304" pitchFamily="18" charset="0"/>
              </a:rPr>
              <a:t>01</a:t>
            </a:r>
            <a:endParaRPr lang="zh-CN" altLang="en-US" sz="2400" b="1" dirty="0">
              <a:solidFill>
                <a:schemeClr val="bg1"/>
              </a:solidFill>
              <a:latin typeface="Times New Roman" panose="02020603050405020304" pitchFamily="18" charset="0"/>
            </a:endParaRPr>
          </a:p>
        </p:txBody>
      </p:sp>
      <p:sp>
        <p:nvSpPr>
          <p:cNvPr id="56" name="六边形 55"/>
          <p:cNvSpPr/>
          <p:nvPr>
            <p:custDataLst>
              <p:tags r:id="rId9"/>
            </p:custDataLst>
          </p:nvPr>
        </p:nvSpPr>
        <p:spPr>
          <a:xfrm>
            <a:off x="6499538" y="4018480"/>
            <a:ext cx="1032688" cy="856747"/>
          </a:xfrm>
          <a:prstGeom prst="hexag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r>
              <a:rPr lang="en-US" altLang="zh-CN" sz="2400" b="1" dirty="0">
                <a:solidFill>
                  <a:schemeClr val="bg1"/>
                </a:solidFill>
                <a:latin typeface="Times New Roman" panose="02020603050405020304" pitchFamily="18" charset="0"/>
              </a:rPr>
              <a:t>03</a:t>
            </a:r>
            <a:endParaRPr lang="zh-CN" altLang="en-US" sz="2400" b="1" dirty="0">
              <a:solidFill>
                <a:schemeClr val="bg1"/>
              </a:solidFill>
              <a:latin typeface="Times New Roman" panose="02020603050405020304" pitchFamily="18" charset="0"/>
            </a:endParaRPr>
          </a:p>
        </p:txBody>
      </p:sp>
      <p:sp>
        <p:nvSpPr>
          <p:cNvPr id="58" name="六边形 57"/>
          <p:cNvSpPr/>
          <p:nvPr>
            <p:custDataLst>
              <p:tags r:id="rId10"/>
            </p:custDataLst>
          </p:nvPr>
        </p:nvSpPr>
        <p:spPr>
          <a:xfrm>
            <a:off x="4236889" y="4018480"/>
            <a:ext cx="1032688" cy="856747"/>
          </a:xfrm>
          <a:prstGeom prst="hexagon">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r>
              <a:rPr lang="en-US" altLang="zh-CN" sz="2400" b="1" dirty="0">
                <a:solidFill>
                  <a:schemeClr val="bg1"/>
                </a:solidFill>
                <a:latin typeface="Times New Roman" panose="02020603050405020304" pitchFamily="18" charset="0"/>
              </a:rPr>
              <a:t>05</a:t>
            </a:r>
            <a:endParaRPr lang="zh-CN" altLang="en-US" sz="2400" b="1" dirty="0">
              <a:solidFill>
                <a:schemeClr val="bg1"/>
              </a:solidFill>
              <a:latin typeface="Times New Roman" panose="02020603050405020304" pitchFamily="18" charset="0"/>
            </a:endParaRPr>
          </a:p>
        </p:txBody>
      </p:sp>
      <p:sp>
        <p:nvSpPr>
          <p:cNvPr id="60" name="六边形 59"/>
          <p:cNvSpPr/>
          <p:nvPr>
            <p:custDataLst>
              <p:tags r:id="rId11"/>
            </p:custDataLst>
          </p:nvPr>
        </p:nvSpPr>
        <p:spPr>
          <a:xfrm>
            <a:off x="4236889" y="2902333"/>
            <a:ext cx="1032688" cy="856747"/>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r>
              <a:rPr lang="en-US" altLang="zh-CN" sz="2400" b="1" dirty="0">
                <a:solidFill>
                  <a:schemeClr val="bg1"/>
                </a:solidFill>
                <a:latin typeface="Times New Roman" panose="02020603050405020304" pitchFamily="18" charset="0"/>
              </a:rPr>
              <a:t>06</a:t>
            </a:r>
            <a:endParaRPr lang="zh-CN" altLang="en-US" sz="2400" b="1" dirty="0">
              <a:solidFill>
                <a:schemeClr val="bg1"/>
              </a:solidFill>
              <a:latin typeface="Times New Roman" panose="02020603050405020304" pitchFamily="18" charset="0"/>
            </a:endParaRPr>
          </a:p>
        </p:txBody>
      </p:sp>
      <p:sp>
        <p:nvSpPr>
          <p:cNvPr id="62" name="六边形 61"/>
          <p:cNvSpPr/>
          <p:nvPr>
            <p:custDataLst>
              <p:tags r:id="rId12"/>
            </p:custDataLst>
          </p:nvPr>
        </p:nvSpPr>
        <p:spPr>
          <a:xfrm>
            <a:off x="5368759" y="4567769"/>
            <a:ext cx="1034323" cy="856230"/>
          </a:xfrm>
          <a:prstGeom prst="hexagon">
            <a:avLst/>
          </a:prstGeom>
          <a:solidFill>
            <a:srgbClr val="00808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r>
              <a:rPr lang="en-US" altLang="zh-CN" sz="2400" b="1" dirty="0">
                <a:solidFill>
                  <a:schemeClr val="bg1"/>
                </a:solidFill>
                <a:latin typeface="Times New Roman" panose="02020603050405020304" pitchFamily="18" charset="0"/>
              </a:rPr>
              <a:t>04</a:t>
            </a:r>
          </a:p>
        </p:txBody>
      </p:sp>
      <p:sp>
        <p:nvSpPr>
          <p:cNvPr id="64" name="六边形 63"/>
          <p:cNvSpPr/>
          <p:nvPr>
            <p:custDataLst>
              <p:tags r:id="rId13"/>
            </p:custDataLst>
          </p:nvPr>
        </p:nvSpPr>
        <p:spPr>
          <a:xfrm>
            <a:off x="5076119" y="3219091"/>
            <a:ext cx="1619603" cy="1295454"/>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dirty="0">
              <a:solidFill>
                <a:schemeClr val="tx1"/>
              </a:solidFill>
              <a:latin typeface="Times New Roman" panose="02020603050405020304" pitchFamily="18" charset="0"/>
            </a:endParaRPr>
          </a:p>
        </p:txBody>
      </p:sp>
      <p:pic>
        <p:nvPicPr>
          <p:cNvPr id="21" name="图形 20" descr="上升趋势条形图">
            <a:extLst>
              <a:ext uri="{FF2B5EF4-FFF2-40B4-BE49-F238E27FC236}">
                <a16:creationId xmlns:a16="http://schemas.microsoft.com/office/drawing/2014/main" id="{8C9A9149-12E1-B10D-3C9A-0EF9ADC940A2}"/>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5428720" y="3409618"/>
            <a:ext cx="914400" cy="914400"/>
          </a:xfrm>
          <a:prstGeom prst="rect">
            <a:avLst/>
          </a:prstGeom>
        </p:spPr>
      </p:pic>
      <p:cxnSp>
        <p:nvCxnSpPr>
          <p:cNvPr id="23" name="连接符: 肘形 22">
            <a:extLst>
              <a:ext uri="{FF2B5EF4-FFF2-40B4-BE49-F238E27FC236}">
                <a16:creationId xmlns:a16="http://schemas.microsoft.com/office/drawing/2014/main" id="{D212E97B-8C5A-B602-F755-AB81CF474F39}"/>
              </a:ext>
            </a:extLst>
          </p:cNvPr>
          <p:cNvCxnSpPr>
            <a:cxnSpLocks/>
            <a:stCxn id="54" idx="5"/>
            <a:endCxn id="51" idx="1"/>
          </p:cNvCxnSpPr>
          <p:nvPr/>
        </p:nvCxnSpPr>
        <p:spPr>
          <a:xfrm rot="5400000" flipH="1" flipV="1">
            <a:off x="6568974" y="1634454"/>
            <a:ext cx="272241" cy="1031622"/>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86290DDC-1793-1E87-D7CE-E9E5F9A7F5E6}"/>
              </a:ext>
            </a:extLst>
          </p:cNvPr>
          <p:cNvCxnSpPr>
            <a:stCxn id="60" idx="3"/>
            <a:endCxn id="47" idx="3"/>
          </p:cNvCxnSpPr>
          <p:nvPr/>
        </p:nvCxnSpPr>
        <p:spPr>
          <a:xfrm flipH="1" flipV="1">
            <a:off x="3711009" y="3330706"/>
            <a:ext cx="525880"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AB1B0EEA-F0CC-178C-15D9-75023230E44F}"/>
              </a:ext>
            </a:extLst>
          </p:cNvPr>
          <p:cNvCxnSpPr>
            <a:stCxn id="58" idx="3"/>
            <a:endCxn id="17" idx="3"/>
          </p:cNvCxnSpPr>
          <p:nvPr/>
        </p:nvCxnSpPr>
        <p:spPr>
          <a:xfrm flipH="1" flipV="1">
            <a:off x="3576405" y="4446853"/>
            <a:ext cx="660484"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连接符: 肘形 32">
            <a:extLst>
              <a:ext uri="{FF2B5EF4-FFF2-40B4-BE49-F238E27FC236}">
                <a16:creationId xmlns:a16="http://schemas.microsoft.com/office/drawing/2014/main" id="{4B5C1A04-1A3A-76E6-B2EB-70CD00E7FEEE}"/>
              </a:ext>
            </a:extLst>
          </p:cNvPr>
          <p:cNvCxnSpPr>
            <a:cxnSpLocks/>
            <a:stCxn id="62" idx="1"/>
            <a:endCxn id="16" idx="1"/>
          </p:cNvCxnSpPr>
          <p:nvPr/>
        </p:nvCxnSpPr>
        <p:spPr>
          <a:xfrm rot="16200000" flipH="1">
            <a:off x="6467986" y="5145038"/>
            <a:ext cx="157683" cy="715604"/>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E0E42713-1E6B-CAFD-C495-19F7DCD13912}"/>
              </a:ext>
            </a:extLst>
          </p:cNvPr>
          <p:cNvCxnSpPr>
            <a:stCxn id="18" idx="0"/>
            <a:endCxn id="37" idx="1"/>
          </p:cNvCxnSpPr>
          <p:nvPr/>
        </p:nvCxnSpPr>
        <p:spPr>
          <a:xfrm flipV="1">
            <a:off x="7532226" y="3330706"/>
            <a:ext cx="700811"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a:extLst>
              <a:ext uri="{FF2B5EF4-FFF2-40B4-BE49-F238E27FC236}">
                <a16:creationId xmlns:a16="http://schemas.microsoft.com/office/drawing/2014/main" id="{F3EDF786-E807-7B57-82A9-A5088B28F75C}"/>
              </a:ext>
            </a:extLst>
          </p:cNvPr>
          <p:cNvCxnSpPr>
            <a:stCxn id="56" idx="0"/>
            <a:endCxn id="39" idx="1"/>
          </p:cNvCxnSpPr>
          <p:nvPr/>
        </p:nvCxnSpPr>
        <p:spPr>
          <a:xfrm flipV="1">
            <a:off x="7532226" y="4446853"/>
            <a:ext cx="700811"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wedg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3BB71-36AD-CF63-6D63-4D90C3695078}"/>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05452C05-2EF6-E1A5-F278-16DC24AC5B69}"/>
              </a:ext>
            </a:extLst>
          </p:cNvPr>
          <p:cNvSpPr>
            <a:spLocks noGrp="1"/>
          </p:cNvSpPr>
          <p:nvPr>
            <p:ph type="title"/>
          </p:nvPr>
        </p:nvSpPr>
        <p:spPr>
          <a:xfrm>
            <a:off x="336000" y="360000"/>
            <a:ext cx="5760000" cy="535531"/>
          </a:xfrm>
        </p:spPr>
        <p:txBody>
          <a:bodyPr/>
          <a:lstStyle/>
          <a:p>
            <a:r>
              <a:rPr lang="en-US" dirty="0"/>
              <a:t>4.4 </a:t>
            </a:r>
            <a:r>
              <a:rPr lang="zh-CN" altLang="en-US" dirty="0"/>
              <a:t>软件测试步骤</a:t>
            </a:r>
          </a:p>
        </p:txBody>
      </p:sp>
      <p:sp>
        <p:nvSpPr>
          <p:cNvPr id="8" name="文本占位符 7">
            <a:extLst>
              <a:ext uri="{FF2B5EF4-FFF2-40B4-BE49-F238E27FC236}">
                <a16:creationId xmlns:a16="http://schemas.microsoft.com/office/drawing/2014/main" id="{AE363DE0-6ADC-7926-A60E-9B92EA4BA8A6}"/>
              </a:ext>
            </a:extLst>
          </p:cNvPr>
          <p:cNvSpPr>
            <a:spLocks noGrp="1"/>
          </p:cNvSpPr>
          <p:nvPr>
            <p:ph type="body" sz="quarter" idx="10"/>
          </p:nvPr>
        </p:nvSpPr>
        <p:spPr>
          <a:xfrm>
            <a:off x="696000" y="1322832"/>
            <a:ext cx="5400000" cy="400110"/>
          </a:xfrm>
        </p:spPr>
        <p:txBody>
          <a:bodyPr/>
          <a:lstStyle/>
          <a:p>
            <a:r>
              <a:rPr lang="en-US" altLang="zh-CN" dirty="0"/>
              <a:t>4.4.1 </a:t>
            </a:r>
            <a:r>
              <a:rPr lang="zh-CN" altLang="en-US" dirty="0"/>
              <a:t>模块测试</a:t>
            </a:r>
          </a:p>
        </p:txBody>
      </p:sp>
      <p:sp>
        <p:nvSpPr>
          <p:cNvPr id="6" name="文本占位符 5">
            <a:extLst>
              <a:ext uri="{FF2B5EF4-FFF2-40B4-BE49-F238E27FC236}">
                <a16:creationId xmlns:a16="http://schemas.microsoft.com/office/drawing/2014/main" id="{6EC10EBA-EF40-DEF3-4067-33AC6BDD964C}"/>
              </a:ext>
            </a:extLst>
          </p:cNvPr>
          <p:cNvSpPr>
            <a:spLocks noGrp="1"/>
          </p:cNvSpPr>
          <p:nvPr>
            <p:ph type="body" sz="quarter" idx="11"/>
          </p:nvPr>
        </p:nvSpPr>
        <p:spPr/>
        <p:txBody>
          <a:bodyPr/>
          <a:lstStyle/>
          <a:p>
            <a:endParaRPr lang="zh-CN" altLang="en-US"/>
          </a:p>
        </p:txBody>
      </p:sp>
      <p:sp>
        <p:nvSpPr>
          <p:cNvPr id="4" name="矩形 3">
            <a:extLst>
              <a:ext uri="{FF2B5EF4-FFF2-40B4-BE49-F238E27FC236}">
                <a16:creationId xmlns:a16="http://schemas.microsoft.com/office/drawing/2014/main" id="{D01F6A99-77DD-D103-FA42-B357FF2FCB4C}"/>
              </a:ext>
            </a:extLst>
          </p:cNvPr>
          <p:cNvSpPr/>
          <p:nvPr>
            <p:custDataLst>
              <p:tags r:id="rId1"/>
            </p:custDataLst>
          </p:nvPr>
        </p:nvSpPr>
        <p:spPr>
          <a:xfrm>
            <a:off x="-11428" y="2149476"/>
            <a:ext cx="12203428" cy="3600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dirty="0">
              <a:solidFill>
                <a:schemeClr val="bg1"/>
              </a:solidFill>
              <a:latin typeface="Times New Roman" panose="02020603050405020304" pitchFamily="18" charset="0"/>
            </a:endParaRPr>
          </a:p>
        </p:txBody>
      </p:sp>
      <p:pic>
        <p:nvPicPr>
          <p:cNvPr id="9" name="图片 8">
            <a:extLst>
              <a:ext uri="{FF2B5EF4-FFF2-40B4-BE49-F238E27FC236}">
                <a16:creationId xmlns:a16="http://schemas.microsoft.com/office/drawing/2014/main" id="{4A5DF330-270D-D71F-594A-FB221C3DF694}"/>
              </a:ext>
            </a:extLst>
          </p:cNvPr>
          <p:cNvPicPr>
            <a:picLocks noChangeAspect="1"/>
          </p:cNvPicPr>
          <p:nvPr>
            <p:custDataLst>
              <p:tags r:id="rId2"/>
            </p:custDataLst>
          </p:nvPr>
        </p:nvPicPr>
        <p:blipFill>
          <a:blip r:embed="rId5" cstate="print"/>
          <a:stretch>
            <a:fillRect/>
          </a:stretch>
        </p:blipFill>
        <p:spPr>
          <a:xfrm>
            <a:off x="8806932" y="2277788"/>
            <a:ext cx="3385068" cy="3396171"/>
          </a:xfrm>
          <a:prstGeom prst="rect">
            <a:avLst/>
          </a:prstGeom>
          <a:effectLst>
            <a:outerShdw blurRad="76200" dir="13500000" sy="23000" kx="1200000" algn="br" rotWithShape="0">
              <a:prstClr val="black">
                <a:alpha val="20000"/>
              </a:prstClr>
            </a:outerShdw>
          </a:effectLst>
        </p:spPr>
      </p:pic>
      <p:sp>
        <p:nvSpPr>
          <p:cNvPr id="100" name="文本框 99">
            <a:extLst>
              <a:ext uri="{FF2B5EF4-FFF2-40B4-BE49-F238E27FC236}">
                <a16:creationId xmlns:a16="http://schemas.microsoft.com/office/drawing/2014/main" id="{4BD86EEE-DD7D-2B45-B7E9-E161C4A74944}"/>
              </a:ext>
            </a:extLst>
          </p:cNvPr>
          <p:cNvSpPr txBox="1"/>
          <p:nvPr/>
        </p:nvSpPr>
        <p:spPr>
          <a:xfrm>
            <a:off x="695325" y="2520000"/>
            <a:ext cx="8025130" cy="2656689"/>
          </a:xfrm>
          <a:prstGeom prst="rect">
            <a:avLst/>
          </a:prstGeom>
          <a:noFill/>
          <a:ln w="9525">
            <a:noFill/>
          </a:ln>
        </p:spPr>
        <p:txBody>
          <a:bodyPr wrap="square">
            <a:spAutoFit/>
          </a:bodyPr>
          <a:lstStyle/>
          <a:p>
            <a:pPr marL="0" indent="457200" algn="l" fontAlgn="auto">
              <a:lnSpc>
                <a:spcPct val="130000"/>
              </a:lnSpc>
              <a:spcAft>
                <a:spcPts val="600"/>
              </a:spcAft>
            </a:pPr>
            <a:r>
              <a:rPr lang="zh-CN" altLang="en-US" dirty="0">
                <a:sym typeface="+mn-ea"/>
              </a:rPr>
              <a:t>模块测试也称</a:t>
            </a:r>
            <a:r>
              <a:rPr lang="zh-CN" altLang="en-US" dirty="0">
                <a:solidFill>
                  <a:srgbClr val="FF0000"/>
                </a:solidFill>
                <a:sym typeface="+mn-ea"/>
              </a:rPr>
              <a:t>单元</a:t>
            </a:r>
            <a:r>
              <a:rPr lang="zh-CN" altLang="en-US" dirty="0">
                <a:sym typeface="+mn-ea"/>
              </a:rPr>
              <a:t>测试，其目的是集中检验软件设计的最小单元——模块，检查每个模块是否能独立、正确地运行。在这个阶段所发现的错误往往是在编码和详细设计时产生的。通常，在编码阶段就进行模块测试。</a:t>
            </a:r>
          </a:p>
          <a:p>
            <a:pPr marL="0" indent="457200" algn="l" fontAlgn="auto">
              <a:lnSpc>
                <a:spcPct val="130000"/>
              </a:lnSpc>
              <a:spcAft>
                <a:spcPts val="600"/>
              </a:spcAft>
            </a:pPr>
            <a:r>
              <a:rPr lang="zh-CN" altLang="en-US" dirty="0">
                <a:sym typeface="+mn-ea"/>
              </a:rPr>
              <a:t>单元测试时，在正式测试之前必须先通过编译程序检查并且改正所有语法错误，然后用详细设计描述作指南，对重要的执行通路进行测试，以便发现模块内部的错误。单元测试常用白盒法测试，而且对多个模块的测试可以并行地进行。</a:t>
            </a:r>
          </a:p>
        </p:txBody>
      </p:sp>
      <p:graphicFrame>
        <p:nvGraphicFramePr>
          <p:cNvPr id="10" name="对象 9">
            <a:hlinkClick r:id="" action="ppaction://ole?verb=0"/>
            <a:extLst>
              <a:ext uri="{FF2B5EF4-FFF2-40B4-BE49-F238E27FC236}">
                <a16:creationId xmlns:a16="http://schemas.microsoft.com/office/drawing/2014/main" id="{164B6C3A-963A-CBEB-E6C3-0988EEDC628A}"/>
              </a:ext>
            </a:extLst>
          </p:cNvPr>
          <p:cNvGraphicFramePr>
            <a:graphicFrameLocks/>
          </p:cNvGraphicFramePr>
          <p:nvPr/>
        </p:nvGraphicFramePr>
        <p:xfrm>
          <a:off x="5638800" y="3321050"/>
          <a:ext cx="914400" cy="215900"/>
        </p:xfrm>
        <a:graphic>
          <a:graphicData uri="http://schemas.openxmlformats.org/presentationml/2006/ole">
            <mc:AlternateContent xmlns:mc="http://schemas.openxmlformats.org/markup-compatibility/2006">
              <mc:Choice xmlns:v="urn:schemas-microsoft-com:vml" Requires="v">
                <p:oleObj r:id="rId6" imgW="914400" imgH="215640" progId="Equation.3">
                  <p:embed/>
                </p:oleObj>
              </mc:Choice>
              <mc:Fallback>
                <p:oleObj r:id="rId6" imgW="914400" imgH="215640" progId="Equation.3">
                  <p:embed/>
                  <p:pic>
                    <p:nvPicPr>
                      <p:cNvPr id="10" name="对象 9">
                        <a:hlinkClick r:id="" action="ppaction://ole?verb=0"/>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38800" y="3321050"/>
                        <a:ext cx="9144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矩形 14">
            <a:extLst>
              <a:ext uri="{FF2B5EF4-FFF2-40B4-BE49-F238E27FC236}">
                <a16:creationId xmlns:a16="http://schemas.microsoft.com/office/drawing/2014/main" id="{065AEC7D-B8A8-ECEF-D068-8BCDD0F4E781}"/>
              </a:ext>
            </a:extLst>
          </p:cNvPr>
          <p:cNvSpPr/>
          <p:nvPr/>
        </p:nvSpPr>
        <p:spPr>
          <a:xfrm>
            <a:off x="9169400" y="2834640"/>
            <a:ext cx="2519680" cy="1188720"/>
          </a:xfrm>
          <a:prstGeom prst="rect">
            <a:avLst/>
          </a:prstGeom>
          <a:noFill/>
          <a:ln>
            <a:noFill/>
          </a:ln>
        </p:spPr>
        <p:txBody>
          <a:bodyPr wrap="none" rtlCol="0" anchor="t">
            <a:prstTxWarp prst="textSlantUp">
              <a:avLst/>
            </a:prstTxWarp>
            <a:spAutoFit/>
            <a:scene3d>
              <a:camera prst="perspectiveRelaxedModerately"/>
              <a:lightRig rig="flat" dir="t">
                <a:rot lat="0" lon="0" rev="600000"/>
              </a:lightRig>
            </a:scene3d>
            <a:sp3d extrusionH="215900"/>
          </a:bodyPr>
          <a:lstStyle/>
          <a:p>
            <a:pPr algn="ctr"/>
            <a:r>
              <a:rPr lang="en-US" altLang="zh-CN" sz="6600" b="1" dirty="0">
                <a:blipFill>
                  <a:blip r:embed="rId8"/>
                  <a:stretch>
                    <a:fillRect/>
                  </a:stretch>
                </a:blipFill>
                <a:effectLst>
                  <a:glow rad="228600">
                    <a:srgbClr val="A5A5A5">
                      <a:alpha val="40000"/>
                      <a:satMod val="175000"/>
                    </a:srgbClr>
                  </a:glow>
                  <a:outerShdw blurRad="50800" dir="5400000" algn="ctr" rotWithShape="0">
                    <a:srgbClr val="000000">
                      <a:alpha val="43000"/>
                    </a:srgbClr>
                  </a:outerShdw>
                </a:effectLst>
                <a:latin typeface="Times New Roman" panose="02020603050405020304" pitchFamily="18" charset="0"/>
              </a:rPr>
              <a:t>TEST</a:t>
            </a:r>
          </a:p>
        </p:txBody>
      </p:sp>
    </p:spTree>
    <p:extLst>
      <p:ext uri="{BB962C8B-B14F-4D97-AF65-F5344CB8AC3E}">
        <p14:creationId xmlns:p14="http://schemas.microsoft.com/office/powerpoint/2010/main" val="159146632"/>
      </p:ext>
    </p:extLst>
  </p:cSld>
  <p:clrMapOvr>
    <a:masterClrMapping/>
  </p:clrMapOvr>
  <p:transition>
    <p:wedg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en-US" dirty="0"/>
              <a:t>4.4 </a:t>
            </a:r>
            <a:r>
              <a:rPr lang="zh-CN" altLang="en-US" dirty="0"/>
              <a:t>软件测试步骤</a:t>
            </a:r>
          </a:p>
        </p:txBody>
      </p:sp>
      <p:sp>
        <p:nvSpPr>
          <p:cNvPr id="8" name="文本占位符 7">
            <a:extLst>
              <a:ext uri="{FF2B5EF4-FFF2-40B4-BE49-F238E27FC236}">
                <a16:creationId xmlns:a16="http://schemas.microsoft.com/office/drawing/2014/main" id="{C0B70517-99E6-1C55-CC78-25AB29C77302}"/>
              </a:ext>
            </a:extLst>
          </p:cNvPr>
          <p:cNvSpPr>
            <a:spLocks noGrp="1"/>
          </p:cNvSpPr>
          <p:nvPr>
            <p:ph type="body" sz="quarter" idx="10"/>
          </p:nvPr>
        </p:nvSpPr>
        <p:spPr>
          <a:xfrm>
            <a:off x="696000" y="1322832"/>
            <a:ext cx="5400000" cy="400110"/>
          </a:xfrm>
        </p:spPr>
        <p:txBody>
          <a:bodyPr/>
          <a:lstStyle/>
          <a:p>
            <a:r>
              <a:rPr lang="en-US" altLang="zh-CN" dirty="0"/>
              <a:t>4.4.1 </a:t>
            </a:r>
            <a:r>
              <a:rPr lang="zh-CN" altLang="en-US" dirty="0"/>
              <a:t>模块测试</a:t>
            </a:r>
          </a:p>
        </p:txBody>
      </p:sp>
      <p:sp>
        <p:nvSpPr>
          <p:cNvPr id="12" name="文本占位符 11">
            <a:extLst>
              <a:ext uri="{FF2B5EF4-FFF2-40B4-BE49-F238E27FC236}">
                <a16:creationId xmlns:a16="http://schemas.microsoft.com/office/drawing/2014/main" id="{2EEF8D1A-1B50-A06D-A952-8F243F1C426B}"/>
              </a:ext>
            </a:extLst>
          </p:cNvPr>
          <p:cNvSpPr>
            <a:spLocks noGrp="1"/>
          </p:cNvSpPr>
          <p:nvPr>
            <p:ph type="body" sz="quarter" idx="11"/>
          </p:nvPr>
        </p:nvSpPr>
        <p:spPr/>
        <p:txBody>
          <a:bodyPr/>
          <a:lstStyle/>
          <a:p>
            <a:endParaRPr lang="zh-CN" altLang="en-US"/>
          </a:p>
        </p:txBody>
      </p:sp>
      <p:sp>
        <p:nvSpPr>
          <p:cNvPr id="4" name="矩形 3"/>
          <p:cNvSpPr/>
          <p:nvPr>
            <p:custDataLst>
              <p:tags r:id="rId1"/>
            </p:custDataLst>
          </p:nvPr>
        </p:nvSpPr>
        <p:spPr>
          <a:xfrm>
            <a:off x="-11428" y="2160000"/>
            <a:ext cx="12202098" cy="3600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dirty="0">
              <a:solidFill>
                <a:schemeClr val="bg1"/>
              </a:solidFill>
              <a:latin typeface="Times New Roman" panose="02020603050405020304" pitchFamily="18" charset="0"/>
            </a:endParaRPr>
          </a:p>
        </p:txBody>
      </p:sp>
      <p:pic>
        <p:nvPicPr>
          <p:cNvPr id="9" name="图片 8"/>
          <p:cNvPicPr>
            <a:picLocks noChangeAspect="1"/>
          </p:cNvPicPr>
          <p:nvPr>
            <p:custDataLst>
              <p:tags r:id="rId2"/>
            </p:custDataLst>
          </p:nvPr>
        </p:nvPicPr>
        <p:blipFill>
          <a:blip r:embed="rId5" cstate="print"/>
          <a:stretch>
            <a:fillRect/>
          </a:stretch>
        </p:blipFill>
        <p:spPr>
          <a:xfrm>
            <a:off x="8806932" y="2277788"/>
            <a:ext cx="3385068" cy="3396171"/>
          </a:xfrm>
          <a:prstGeom prst="rect">
            <a:avLst/>
          </a:prstGeom>
          <a:effectLst>
            <a:outerShdw blurRad="76200" dir="13500000" sy="23000" kx="1200000" algn="br" rotWithShape="0">
              <a:prstClr val="black">
                <a:alpha val="20000"/>
              </a:prstClr>
            </a:outerShdw>
          </a:effectLst>
        </p:spPr>
      </p:pic>
      <p:sp>
        <p:nvSpPr>
          <p:cNvPr id="100" name="文本框 99"/>
          <p:cNvSpPr txBox="1"/>
          <p:nvPr/>
        </p:nvSpPr>
        <p:spPr>
          <a:xfrm>
            <a:off x="695325" y="2520000"/>
            <a:ext cx="8025130" cy="2604367"/>
          </a:xfrm>
          <a:prstGeom prst="rect">
            <a:avLst/>
          </a:prstGeom>
          <a:noFill/>
          <a:ln w="9525">
            <a:noFill/>
          </a:ln>
        </p:spPr>
        <p:txBody>
          <a:bodyPr wrap="square">
            <a:spAutoFit/>
          </a:bodyPr>
          <a:lstStyle/>
          <a:p>
            <a:pPr marL="0" algn="l" fontAlgn="auto">
              <a:lnSpc>
                <a:spcPct val="130000"/>
              </a:lnSpc>
              <a:spcAft>
                <a:spcPts val="600"/>
              </a:spcAft>
            </a:pPr>
            <a:r>
              <a:rPr lang="zh-CN" altLang="en-US" dirty="0">
                <a:sym typeface="+mn-ea"/>
              </a:rPr>
              <a:t>在单元测试期间，主要评价模块的下述5个特性：</a:t>
            </a:r>
            <a:endParaRPr lang="en-US" altLang="zh-CN" dirty="0">
              <a:sym typeface="+mn-ea"/>
            </a:endParaRPr>
          </a:p>
          <a:p>
            <a:pPr marL="360000" indent="-180000" algn="l" fontAlgn="auto">
              <a:lnSpc>
                <a:spcPct val="130000"/>
              </a:lnSpc>
              <a:spcAft>
                <a:spcPts val="600"/>
              </a:spcAft>
              <a:buFont typeface="+mj-lt"/>
              <a:buAutoNum type="arabicPeriod"/>
            </a:pPr>
            <a:r>
              <a:rPr lang="zh-CN" altLang="en-US" dirty="0">
                <a:sym typeface="+mn-ea"/>
              </a:rPr>
              <a:t> 模块接口；</a:t>
            </a:r>
            <a:endParaRPr lang="en-US" altLang="zh-CN" dirty="0">
              <a:sym typeface="+mn-ea"/>
            </a:endParaRPr>
          </a:p>
          <a:p>
            <a:pPr marL="360000" indent="-180000" algn="l" fontAlgn="auto">
              <a:lnSpc>
                <a:spcPct val="130000"/>
              </a:lnSpc>
              <a:spcAft>
                <a:spcPts val="600"/>
              </a:spcAft>
              <a:buFont typeface="+mj-lt"/>
              <a:buAutoNum type="arabicPeriod"/>
            </a:pPr>
            <a:r>
              <a:rPr lang="zh-CN" altLang="en-US" dirty="0">
                <a:sym typeface="+mn-ea"/>
              </a:rPr>
              <a:t> 局部数据结构；</a:t>
            </a:r>
            <a:endParaRPr lang="en-US" altLang="zh-CN" dirty="0">
              <a:sym typeface="+mn-ea"/>
            </a:endParaRPr>
          </a:p>
          <a:p>
            <a:pPr marL="360000" indent="-180000" algn="l" fontAlgn="auto">
              <a:lnSpc>
                <a:spcPct val="130000"/>
              </a:lnSpc>
              <a:spcAft>
                <a:spcPts val="600"/>
              </a:spcAft>
              <a:buFont typeface="+mj-lt"/>
              <a:buAutoNum type="arabicPeriod"/>
            </a:pPr>
            <a:r>
              <a:rPr lang="zh-CN" altLang="en-US" dirty="0">
                <a:sym typeface="+mn-ea"/>
              </a:rPr>
              <a:t> 重要的执行通路；</a:t>
            </a:r>
            <a:endParaRPr lang="en-US" altLang="zh-CN" dirty="0">
              <a:sym typeface="+mn-ea"/>
            </a:endParaRPr>
          </a:p>
          <a:p>
            <a:pPr marL="360000" indent="-180000" algn="l" fontAlgn="auto">
              <a:lnSpc>
                <a:spcPct val="130000"/>
              </a:lnSpc>
              <a:spcAft>
                <a:spcPts val="600"/>
              </a:spcAft>
              <a:buFont typeface="+mj-lt"/>
              <a:buAutoNum type="arabicPeriod"/>
            </a:pPr>
            <a:r>
              <a:rPr lang="zh-CN" altLang="en-US" dirty="0">
                <a:sym typeface="+mn-ea"/>
              </a:rPr>
              <a:t> 出错处理通路；</a:t>
            </a:r>
            <a:endParaRPr lang="en-US" altLang="zh-CN" dirty="0">
              <a:sym typeface="+mn-ea"/>
            </a:endParaRPr>
          </a:p>
          <a:p>
            <a:pPr marL="360000" indent="-180000" algn="l" fontAlgn="auto">
              <a:lnSpc>
                <a:spcPct val="130000"/>
              </a:lnSpc>
              <a:spcAft>
                <a:spcPts val="600"/>
              </a:spcAft>
              <a:buFont typeface="+mj-lt"/>
              <a:buAutoNum type="arabicPeriod"/>
            </a:pPr>
            <a:r>
              <a:rPr lang="zh-CN" altLang="en-US" dirty="0">
                <a:sym typeface="+mn-ea"/>
              </a:rPr>
              <a:t> 影响上述各方面特性的边界条件。</a:t>
            </a:r>
          </a:p>
        </p:txBody>
      </p:sp>
      <p:graphicFrame>
        <p:nvGraphicFramePr>
          <p:cNvPr id="10" name="对象 9">
            <a:hlinkClick r:id="" action="ppaction://ole?verb=0"/>
          </p:cNvPr>
          <p:cNvGraphicFramePr>
            <a:graphicFrameLocks/>
          </p:cNvGraphicFramePr>
          <p:nvPr/>
        </p:nvGraphicFramePr>
        <p:xfrm>
          <a:off x="5638800" y="3321050"/>
          <a:ext cx="914400" cy="215900"/>
        </p:xfrm>
        <a:graphic>
          <a:graphicData uri="http://schemas.openxmlformats.org/presentationml/2006/ole">
            <mc:AlternateContent xmlns:mc="http://schemas.openxmlformats.org/markup-compatibility/2006">
              <mc:Choice xmlns:v="urn:schemas-microsoft-com:vml" Requires="v">
                <p:oleObj r:id="rId6" imgW="914400" imgH="215640" progId="Equation.3">
                  <p:embed/>
                </p:oleObj>
              </mc:Choice>
              <mc:Fallback>
                <p:oleObj r:id="rId6" imgW="914400" imgH="215640" progId="Equation.3">
                  <p:embed/>
                  <p:pic>
                    <p:nvPicPr>
                      <p:cNvPr id="0" name="Picture 1"/>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38800" y="3321050"/>
                        <a:ext cx="9144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矩形 14"/>
          <p:cNvSpPr/>
          <p:nvPr/>
        </p:nvSpPr>
        <p:spPr>
          <a:xfrm>
            <a:off x="9169400" y="2834640"/>
            <a:ext cx="2519680" cy="1188720"/>
          </a:xfrm>
          <a:prstGeom prst="rect">
            <a:avLst/>
          </a:prstGeom>
          <a:noFill/>
          <a:ln>
            <a:noFill/>
          </a:ln>
        </p:spPr>
        <p:txBody>
          <a:bodyPr wrap="none" rtlCol="0" anchor="t">
            <a:prstTxWarp prst="textSlantUp">
              <a:avLst/>
            </a:prstTxWarp>
            <a:spAutoFit/>
            <a:scene3d>
              <a:camera prst="perspectiveRelaxedModerately"/>
              <a:lightRig rig="flat" dir="t">
                <a:rot lat="0" lon="0" rev="600000"/>
              </a:lightRig>
            </a:scene3d>
            <a:sp3d extrusionH="215900"/>
          </a:bodyPr>
          <a:lstStyle/>
          <a:p>
            <a:pPr algn="ctr"/>
            <a:r>
              <a:rPr lang="en-US" altLang="zh-CN" sz="6600" b="1" dirty="0">
                <a:blipFill>
                  <a:blip r:embed="rId8"/>
                  <a:stretch>
                    <a:fillRect/>
                  </a:stretch>
                </a:blipFill>
                <a:effectLst>
                  <a:glow rad="228600">
                    <a:srgbClr val="A5A5A5">
                      <a:alpha val="40000"/>
                      <a:satMod val="175000"/>
                    </a:srgbClr>
                  </a:glow>
                  <a:outerShdw blurRad="50800" dir="5400000" algn="ctr" rotWithShape="0">
                    <a:srgbClr val="000000">
                      <a:alpha val="43000"/>
                    </a:srgbClr>
                  </a:outerShdw>
                </a:effectLst>
                <a:latin typeface="Times New Roman" panose="02020603050405020304" pitchFamily="18" charset="0"/>
              </a:rPr>
              <a:t>TEST</a:t>
            </a:r>
          </a:p>
        </p:txBody>
      </p:sp>
    </p:spTree>
  </p:cSld>
  <p:clrMapOvr>
    <a:masterClrMapping/>
  </p:clrMapOvr>
  <p:transition>
    <p:wedg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A7E3C5F3-2DB4-E7FA-EDD0-E6ECBFD54CB6}"/>
              </a:ext>
            </a:extLst>
          </p:cNvPr>
          <p:cNvSpPr/>
          <p:nvPr>
            <p:custDataLst>
              <p:tags r:id="rId1"/>
            </p:custDataLst>
          </p:nvPr>
        </p:nvSpPr>
        <p:spPr>
          <a:xfrm>
            <a:off x="-11428" y="2160000"/>
            <a:ext cx="12202098" cy="3600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dirty="0">
              <a:solidFill>
                <a:schemeClr val="bg1"/>
              </a:solidFill>
              <a:latin typeface="Times New Roman" panose="02020603050405020304" pitchFamily="18" charset="0"/>
            </a:endParaRPr>
          </a:p>
        </p:txBody>
      </p:sp>
      <p:pic>
        <p:nvPicPr>
          <p:cNvPr id="16" name="图片 15">
            <a:extLst>
              <a:ext uri="{FF2B5EF4-FFF2-40B4-BE49-F238E27FC236}">
                <a16:creationId xmlns:a16="http://schemas.microsoft.com/office/drawing/2014/main" id="{2DB37297-ADE4-4544-3896-258CCC386F58}"/>
              </a:ext>
            </a:extLst>
          </p:cNvPr>
          <p:cNvPicPr>
            <a:picLocks noChangeAspect="1"/>
          </p:cNvPicPr>
          <p:nvPr>
            <p:custDataLst>
              <p:tags r:id="rId2"/>
            </p:custDataLst>
          </p:nvPr>
        </p:nvPicPr>
        <p:blipFill>
          <a:blip r:embed="rId5" cstate="print"/>
          <a:stretch>
            <a:fillRect/>
          </a:stretch>
        </p:blipFill>
        <p:spPr>
          <a:xfrm>
            <a:off x="8806932" y="2277788"/>
            <a:ext cx="3385068" cy="3396171"/>
          </a:xfrm>
          <a:prstGeom prst="rect">
            <a:avLst/>
          </a:prstGeom>
          <a:effectLst>
            <a:outerShdw blurRad="76200" dir="13500000" sy="23000" kx="1200000" algn="br" rotWithShape="0">
              <a:prstClr val="black">
                <a:alpha val="20000"/>
              </a:prstClr>
            </a:outerShdw>
          </a:effectLst>
        </p:spPr>
      </p:pic>
      <p:sp>
        <p:nvSpPr>
          <p:cNvPr id="3" name="标题 2"/>
          <p:cNvSpPr>
            <a:spLocks noGrp="1"/>
          </p:cNvSpPr>
          <p:nvPr>
            <p:ph type="title"/>
          </p:nvPr>
        </p:nvSpPr>
        <p:spPr>
          <a:xfrm>
            <a:off x="336000" y="360000"/>
            <a:ext cx="5760000" cy="535531"/>
          </a:xfrm>
        </p:spPr>
        <p:txBody>
          <a:bodyPr/>
          <a:lstStyle/>
          <a:p>
            <a:r>
              <a:rPr lang="en-US" dirty="0"/>
              <a:t>4.4 </a:t>
            </a:r>
            <a:r>
              <a:rPr lang="zh-CN" altLang="en-US" dirty="0"/>
              <a:t>软件测试步骤</a:t>
            </a:r>
          </a:p>
        </p:txBody>
      </p:sp>
      <p:sp>
        <p:nvSpPr>
          <p:cNvPr id="8" name="文本占位符 7">
            <a:extLst>
              <a:ext uri="{FF2B5EF4-FFF2-40B4-BE49-F238E27FC236}">
                <a16:creationId xmlns:a16="http://schemas.microsoft.com/office/drawing/2014/main" id="{F1563DAF-45D9-B7A4-A915-DA0605E53B39}"/>
              </a:ext>
            </a:extLst>
          </p:cNvPr>
          <p:cNvSpPr>
            <a:spLocks noGrp="1"/>
          </p:cNvSpPr>
          <p:nvPr>
            <p:ph type="body" sz="quarter" idx="10"/>
          </p:nvPr>
        </p:nvSpPr>
        <p:spPr>
          <a:xfrm>
            <a:off x="696000" y="1322832"/>
            <a:ext cx="5400000" cy="400110"/>
          </a:xfrm>
        </p:spPr>
        <p:txBody>
          <a:bodyPr/>
          <a:lstStyle/>
          <a:p>
            <a:r>
              <a:rPr lang="en-US" altLang="zh-CN" dirty="0"/>
              <a:t>4.4.1 </a:t>
            </a:r>
            <a:r>
              <a:rPr lang="zh-CN" altLang="en-US" dirty="0"/>
              <a:t>模块测试</a:t>
            </a:r>
          </a:p>
        </p:txBody>
      </p:sp>
      <p:sp>
        <p:nvSpPr>
          <p:cNvPr id="5" name="文本占位符 4">
            <a:extLst>
              <a:ext uri="{FF2B5EF4-FFF2-40B4-BE49-F238E27FC236}">
                <a16:creationId xmlns:a16="http://schemas.microsoft.com/office/drawing/2014/main" id="{CDFFC605-28DD-9E7A-B1A5-6DCB04999699}"/>
              </a:ext>
            </a:extLst>
          </p:cNvPr>
          <p:cNvSpPr>
            <a:spLocks noGrp="1"/>
          </p:cNvSpPr>
          <p:nvPr>
            <p:ph type="body" sz="quarter" idx="11"/>
          </p:nvPr>
        </p:nvSpPr>
        <p:spPr/>
        <p:txBody>
          <a:bodyPr/>
          <a:lstStyle/>
          <a:p>
            <a:endParaRPr lang="zh-CN" altLang="en-US"/>
          </a:p>
        </p:txBody>
      </p:sp>
      <p:sp>
        <p:nvSpPr>
          <p:cNvPr id="100" name="文本框 99"/>
          <p:cNvSpPr txBox="1"/>
          <p:nvPr/>
        </p:nvSpPr>
        <p:spPr>
          <a:xfrm>
            <a:off x="201930" y="2215819"/>
            <a:ext cx="8518525" cy="3376886"/>
          </a:xfrm>
          <a:prstGeom prst="rect">
            <a:avLst/>
          </a:prstGeom>
          <a:noFill/>
          <a:ln w="9525">
            <a:noFill/>
          </a:ln>
        </p:spPr>
        <p:txBody>
          <a:bodyPr wrap="square">
            <a:spAutoFit/>
          </a:bodyPr>
          <a:lstStyle/>
          <a:p>
            <a:pPr marL="0" indent="457200" algn="l" fontAlgn="auto">
              <a:lnSpc>
                <a:spcPct val="130000"/>
              </a:lnSpc>
              <a:spcAft>
                <a:spcPts val="600"/>
              </a:spcAft>
            </a:pPr>
            <a:r>
              <a:rPr dirty="0">
                <a:sym typeface="+mn-ea"/>
              </a:rPr>
              <a:t>由于模块并不是独立的程序，模块测试时，要</a:t>
            </a:r>
            <a:r>
              <a:rPr dirty="0">
                <a:solidFill>
                  <a:srgbClr val="FF0000"/>
                </a:solidFill>
                <a:sym typeface="+mn-ea"/>
              </a:rPr>
              <a:t>增加少量程序段</a:t>
            </a:r>
            <a:r>
              <a:rPr dirty="0">
                <a:sym typeface="+mn-ea"/>
              </a:rPr>
              <a:t>，使模块能够接收数据，或输出一些数据来代替模块之间的接口。在模块连接后再将这些临时增加的程序段去掉。这些临时性程序段可称为测试模块，这需要增加软件成本，但也是必不可少的成本。</a:t>
            </a:r>
          </a:p>
          <a:p>
            <a:pPr marL="0" indent="457200" algn="l" fontAlgn="auto">
              <a:lnSpc>
                <a:spcPct val="130000"/>
              </a:lnSpc>
              <a:spcAft>
                <a:spcPts val="600"/>
              </a:spcAft>
            </a:pPr>
            <a:r>
              <a:rPr dirty="0">
                <a:sym typeface="+mn-ea"/>
              </a:rPr>
              <a:t>测试模块主要有测试驱动程序（也称驱动模块）和存根程序（也称桩模块）两种。驱动程序相当于主程序，主要用来接收测试数据，调用被测试模块，输出测试结果。存根程序也称“虚拟子程序”，它使用被它代替的模块的接口，做最少量的数据操作，输出对入口的检验或操作结果，并把控制还给调用的模块，是被测试模块调用的模块。驱动程序和存根程序是模块测试中的主要成本开销，不交给用户。</a:t>
            </a:r>
            <a:endParaRPr lang="zh-CN" altLang="en-US" dirty="0">
              <a:sym typeface="+mn-ea"/>
            </a:endParaRPr>
          </a:p>
        </p:txBody>
      </p:sp>
      <p:sp>
        <p:nvSpPr>
          <p:cNvPr id="17" name="矩形 16">
            <a:extLst>
              <a:ext uri="{FF2B5EF4-FFF2-40B4-BE49-F238E27FC236}">
                <a16:creationId xmlns:a16="http://schemas.microsoft.com/office/drawing/2014/main" id="{1BC3F0D6-817A-29B1-3301-DBADD4BE4455}"/>
              </a:ext>
            </a:extLst>
          </p:cNvPr>
          <p:cNvSpPr/>
          <p:nvPr/>
        </p:nvSpPr>
        <p:spPr>
          <a:xfrm>
            <a:off x="9169400" y="2834640"/>
            <a:ext cx="2519680" cy="1188720"/>
          </a:xfrm>
          <a:prstGeom prst="rect">
            <a:avLst/>
          </a:prstGeom>
          <a:noFill/>
          <a:ln>
            <a:noFill/>
          </a:ln>
        </p:spPr>
        <p:txBody>
          <a:bodyPr wrap="none" rtlCol="0" anchor="t">
            <a:prstTxWarp prst="textSlantUp">
              <a:avLst/>
            </a:prstTxWarp>
            <a:spAutoFit/>
            <a:scene3d>
              <a:camera prst="perspectiveRelaxedModerately"/>
              <a:lightRig rig="flat" dir="t">
                <a:rot lat="0" lon="0" rev="600000"/>
              </a:lightRig>
            </a:scene3d>
            <a:sp3d extrusionH="215900"/>
          </a:bodyPr>
          <a:lstStyle/>
          <a:p>
            <a:pPr algn="ctr"/>
            <a:r>
              <a:rPr lang="en-US" altLang="zh-CN" sz="6600" b="1" dirty="0">
                <a:blipFill>
                  <a:blip r:embed="rId6"/>
                  <a:stretch>
                    <a:fillRect/>
                  </a:stretch>
                </a:blipFill>
                <a:effectLst>
                  <a:glow rad="228600">
                    <a:srgbClr val="A5A5A5">
                      <a:alpha val="40000"/>
                      <a:satMod val="175000"/>
                    </a:srgbClr>
                  </a:glow>
                  <a:outerShdw blurRad="50800" dir="5400000" algn="ctr" rotWithShape="0">
                    <a:srgbClr val="000000">
                      <a:alpha val="43000"/>
                    </a:srgbClr>
                  </a:outerShdw>
                </a:effectLst>
                <a:latin typeface="Times New Roman" panose="02020603050405020304" pitchFamily="18" charset="0"/>
              </a:rPr>
              <a:t>TEST</a:t>
            </a:r>
          </a:p>
        </p:txBody>
      </p:sp>
    </p:spTree>
  </p:cSld>
  <p:clrMapOvr>
    <a:masterClrMapping/>
  </p:clrMapOvr>
  <p:transition>
    <p:wedg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11520000" cy="535531"/>
          </a:xfrm>
        </p:spPr>
        <p:txBody>
          <a:bodyPr/>
          <a:lstStyle/>
          <a:p>
            <a:r>
              <a:rPr lang="en-US" dirty="0"/>
              <a:t>4.4 </a:t>
            </a:r>
            <a:r>
              <a:rPr lang="zh-CN" altLang="en-US" dirty="0"/>
              <a:t>软件测试步骤</a:t>
            </a:r>
          </a:p>
        </p:txBody>
      </p:sp>
      <p:sp>
        <p:nvSpPr>
          <p:cNvPr id="9" name="文本占位符 8">
            <a:extLst>
              <a:ext uri="{FF2B5EF4-FFF2-40B4-BE49-F238E27FC236}">
                <a16:creationId xmlns:a16="http://schemas.microsoft.com/office/drawing/2014/main" id="{C5E0DE7B-141D-6204-3438-55EE554B1662}"/>
              </a:ext>
            </a:extLst>
          </p:cNvPr>
          <p:cNvSpPr>
            <a:spLocks noGrp="1"/>
          </p:cNvSpPr>
          <p:nvPr>
            <p:ph type="body" sz="quarter" idx="10"/>
          </p:nvPr>
        </p:nvSpPr>
        <p:spPr>
          <a:xfrm>
            <a:off x="696000" y="1322832"/>
            <a:ext cx="11160000" cy="400110"/>
          </a:xfrm>
        </p:spPr>
        <p:txBody>
          <a:bodyPr/>
          <a:lstStyle/>
          <a:p>
            <a:r>
              <a:rPr lang="en-US" altLang="zh-CN" dirty="0"/>
              <a:t>4.4.2 </a:t>
            </a:r>
            <a:r>
              <a:rPr lang="zh-CN" altLang="en-US" dirty="0"/>
              <a:t>集成测试</a:t>
            </a:r>
          </a:p>
        </p:txBody>
      </p:sp>
      <p:sp>
        <p:nvSpPr>
          <p:cNvPr id="25" name="文本占位符 24">
            <a:extLst>
              <a:ext uri="{FF2B5EF4-FFF2-40B4-BE49-F238E27FC236}">
                <a16:creationId xmlns:a16="http://schemas.microsoft.com/office/drawing/2014/main" id="{7A8D1988-7393-3F2F-9918-D9076FB3E25A}"/>
              </a:ext>
            </a:extLst>
          </p:cNvPr>
          <p:cNvSpPr>
            <a:spLocks noGrp="1"/>
          </p:cNvSpPr>
          <p:nvPr>
            <p:ph type="body" sz="quarter" idx="11"/>
          </p:nvPr>
        </p:nvSpPr>
        <p:spPr/>
        <p:txBody>
          <a:bodyPr/>
          <a:lstStyle/>
          <a:p>
            <a:endParaRPr lang="zh-CN" altLang="en-US"/>
          </a:p>
        </p:txBody>
      </p:sp>
      <p:sp>
        <p:nvSpPr>
          <p:cNvPr id="6" name="任意多边形 5"/>
          <p:cNvSpPr/>
          <p:nvPr/>
        </p:nvSpPr>
        <p:spPr>
          <a:xfrm>
            <a:off x="5038725" y="3325495"/>
            <a:ext cx="1862455" cy="3044825"/>
          </a:xfrm>
          <a:custGeom>
            <a:avLst/>
            <a:gdLst>
              <a:gd name="connsiteX0" fmla="*/ 1765957 w 2699190"/>
              <a:gd name="connsiteY0" fmla="*/ 0 h 4903695"/>
              <a:gd name="connsiteX1" fmla="*/ 1829831 w 2699190"/>
              <a:gd name="connsiteY1" fmla="*/ 1176758 h 4903695"/>
              <a:gd name="connsiteX2" fmla="*/ 1834101 w 2699190"/>
              <a:gd name="connsiteY2" fmla="*/ 1263858 h 4903695"/>
              <a:gd name="connsiteX3" fmla="*/ 2473452 w 2699190"/>
              <a:gd name="connsiteY3" fmla="*/ 689619 h 4903695"/>
              <a:gd name="connsiteX4" fmla="*/ 2699190 w 2699190"/>
              <a:gd name="connsiteY4" fmla="*/ 894834 h 4903695"/>
              <a:gd name="connsiteX5" fmla="*/ 1862408 w 2699190"/>
              <a:gd name="connsiteY5" fmla="*/ 1820725 h 4903695"/>
              <a:gd name="connsiteX6" fmla="*/ 1893704 w 2699190"/>
              <a:gd name="connsiteY6" fmla="*/ 2320739 h 4903695"/>
              <a:gd name="connsiteX7" fmla="*/ 2276944 w 2699190"/>
              <a:gd name="connsiteY7" fmla="*/ 4903695 h 4903695"/>
              <a:gd name="connsiteX8" fmla="*/ 1021885 w 2699190"/>
              <a:gd name="connsiteY8" fmla="*/ 4903695 h 4903695"/>
              <a:gd name="connsiteX9" fmla="*/ 1220230 w 2699190"/>
              <a:gd name="connsiteY9" fmla="*/ 3148644 h 4903695"/>
              <a:gd name="connsiteX10" fmla="*/ 1247089 w 2699190"/>
              <a:gd name="connsiteY10" fmla="*/ 2823912 h 4903695"/>
              <a:gd name="connsiteX11" fmla="*/ 0 w 2699190"/>
              <a:gd name="connsiteY11" fmla="*/ 1922885 h 4903695"/>
              <a:gd name="connsiteX12" fmla="*/ 99789 w 2699190"/>
              <a:gd name="connsiteY12" fmla="*/ 1745151 h 4903695"/>
              <a:gd name="connsiteX13" fmla="*/ 1271036 w 2699190"/>
              <a:gd name="connsiteY13" fmla="*/ 2501827 h 4903695"/>
              <a:gd name="connsiteX14" fmla="*/ 1276749 w 2699190"/>
              <a:gd name="connsiteY14" fmla="*/ 2423370 h 4903695"/>
              <a:gd name="connsiteX15" fmla="*/ 1452191 w 2699190"/>
              <a:gd name="connsiteY15" fmla="*/ 35860 h 4903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99190" h="4903695">
                <a:moveTo>
                  <a:pt x="1765957" y="0"/>
                </a:moveTo>
                <a:cubicBezTo>
                  <a:pt x="1794346" y="408641"/>
                  <a:pt x="1812088" y="795431"/>
                  <a:pt x="1829831" y="1176758"/>
                </a:cubicBezTo>
                <a:lnTo>
                  <a:pt x="1834101" y="1263858"/>
                </a:lnTo>
                <a:lnTo>
                  <a:pt x="2473452" y="689619"/>
                </a:lnTo>
                <a:lnTo>
                  <a:pt x="2699190" y="894834"/>
                </a:lnTo>
                <a:lnTo>
                  <a:pt x="1862408" y="1820725"/>
                </a:lnTo>
                <a:lnTo>
                  <a:pt x="1893704" y="2320739"/>
                </a:lnTo>
                <a:cubicBezTo>
                  <a:pt x="1950480" y="3094318"/>
                  <a:pt x="2049838" y="3911601"/>
                  <a:pt x="2276944" y="4903695"/>
                </a:cubicBezTo>
                <a:lnTo>
                  <a:pt x="1021885" y="4903695"/>
                </a:lnTo>
                <a:cubicBezTo>
                  <a:pt x="1112280" y="4246283"/>
                  <a:pt x="1174846" y="3664418"/>
                  <a:pt x="1220230" y="3148644"/>
                </a:cubicBezTo>
                <a:lnTo>
                  <a:pt x="1247089" y="2823912"/>
                </a:lnTo>
                <a:lnTo>
                  <a:pt x="0" y="1922885"/>
                </a:lnTo>
                <a:lnTo>
                  <a:pt x="99789" y="1745151"/>
                </a:lnTo>
                <a:lnTo>
                  <a:pt x="1271036" y="2501827"/>
                </a:lnTo>
                <a:lnTo>
                  <a:pt x="1276749" y="2423370"/>
                </a:lnTo>
                <a:cubicBezTo>
                  <a:pt x="1353907" y="1293253"/>
                  <a:pt x="1356941" y="546662"/>
                  <a:pt x="1452191" y="35860"/>
                </a:cubicBezTo>
                <a:close/>
              </a:path>
            </a:pathLst>
          </a:cu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Times New Roman" panose="02020603050405020304" pitchFamily="18" charset="0"/>
              <a:ea typeface="+mn-ea"/>
              <a:cs typeface="+mn-cs"/>
            </a:endParaRPr>
          </a:p>
        </p:txBody>
      </p:sp>
      <p:sp>
        <p:nvSpPr>
          <p:cNvPr id="8" name="椭圆 7"/>
          <p:cNvSpPr/>
          <p:nvPr/>
        </p:nvSpPr>
        <p:spPr>
          <a:xfrm>
            <a:off x="5186045" y="1750695"/>
            <a:ext cx="1819275" cy="1821180"/>
          </a:xfrm>
          <a:prstGeom prst="ellipse">
            <a:avLst/>
          </a:prstGeom>
          <a:solidFill>
            <a:srgbClr val="EF415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anchor="ctr"/>
          <a:lstStyle/>
          <a:p>
            <a:pPr algn="ctr">
              <a:defRPr/>
            </a:pPr>
            <a:r>
              <a:rPr lang="zh-CN" altLang="en-US" b="1" dirty="0">
                <a:solidFill>
                  <a:schemeClr val="bg1"/>
                </a:solidFill>
                <a:latin typeface="微软雅黑" panose="020B0503020204020204" charset="-122"/>
                <a:ea typeface="微软雅黑" panose="020B0503020204020204" charset="-122"/>
              </a:rPr>
              <a:t>子系统测试</a:t>
            </a:r>
          </a:p>
        </p:txBody>
      </p:sp>
      <p:sp>
        <p:nvSpPr>
          <p:cNvPr id="10" name="椭圆 9"/>
          <p:cNvSpPr/>
          <p:nvPr/>
        </p:nvSpPr>
        <p:spPr>
          <a:xfrm>
            <a:off x="6711950" y="3028950"/>
            <a:ext cx="1484630" cy="1484630"/>
          </a:xfrm>
          <a:prstGeom prst="ellipse">
            <a:avLst/>
          </a:prstGeom>
          <a:solidFill>
            <a:srgbClr val="EF415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anchor="ctr"/>
          <a:lstStyle/>
          <a:p>
            <a:pPr algn="ctr">
              <a:defRPr/>
            </a:pPr>
            <a:r>
              <a:rPr lang="zh-CN" altLang="en-US" b="1" dirty="0">
                <a:solidFill>
                  <a:schemeClr val="bg1"/>
                </a:solidFill>
                <a:latin typeface="微软雅黑" panose="020B0503020204020204" charset="-122"/>
                <a:ea typeface="微软雅黑" panose="020B0503020204020204" charset="-122"/>
              </a:rPr>
              <a:t>系统测试</a:t>
            </a:r>
          </a:p>
        </p:txBody>
      </p:sp>
      <p:sp>
        <p:nvSpPr>
          <p:cNvPr id="11" name="椭圆 10"/>
          <p:cNvSpPr/>
          <p:nvPr/>
        </p:nvSpPr>
        <p:spPr>
          <a:xfrm>
            <a:off x="6435725" y="4470400"/>
            <a:ext cx="828675" cy="827405"/>
          </a:xfrm>
          <a:prstGeom prst="ellipse">
            <a:avLst/>
          </a:prstGeom>
          <a:solidFill>
            <a:srgbClr val="FBAD2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Times New Roman" panose="02020603050405020304" pitchFamily="18" charset="0"/>
              <a:ea typeface="+mn-ea"/>
              <a:cs typeface="+mn-cs"/>
            </a:endParaRPr>
          </a:p>
        </p:txBody>
      </p:sp>
      <p:sp>
        <p:nvSpPr>
          <p:cNvPr id="12" name="椭圆 11"/>
          <p:cNvSpPr/>
          <p:nvPr/>
        </p:nvSpPr>
        <p:spPr>
          <a:xfrm>
            <a:off x="7068820" y="1944370"/>
            <a:ext cx="1014730" cy="1016000"/>
          </a:xfrm>
          <a:prstGeom prst="ellipse">
            <a:avLst/>
          </a:prstGeom>
          <a:solidFill>
            <a:srgbClr val="FBAD2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Times New Roman" panose="02020603050405020304" pitchFamily="18" charset="0"/>
              <a:ea typeface="+mn-ea"/>
              <a:cs typeface="+mn-cs"/>
            </a:endParaRPr>
          </a:p>
        </p:txBody>
      </p:sp>
      <p:sp>
        <p:nvSpPr>
          <p:cNvPr id="13" name="椭圆 12"/>
          <p:cNvSpPr/>
          <p:nvPr/>
        </p:nvSpPr>
        <p:spPr>
          <a:xfrm>
            <a:off x="4081145" y="3325495"/>
            <a:ext cx="1349375" cy="1351280"/>
          </a:xfrm>
          <a:prstGeom prst="ellipse">
            <a:avLst/>
          </a:prstGeom>
          <a:solidFill>
            <a:srgbClr val="EF415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anchor="ctr"/>
          <a:lstStyle/>
          <a:p>
            <a:pPr algn="ctr">
              <a:defRPr/>
            </a:pPr>
            <a:r>
              <a:rPr lang="zh-CN" altLang="en-US" b="1" dirty="0">
                <a:solidFill>
                  <a:schemeClr val="bg1"/>
                </a:solidFill>
                <a:latin typeface="微软雅黑" panose="020B0503020204020204" charset="-122"/>
                <a:ea typeface="微软雅黑" panose="020B0503020204020204" charset="-122"/>
              </a:rPr>
              <a:t>集成化</a:t>
            </a:r>
          </a:p>
        </p:txBody>
      </p:sp>
      <p:sp>
        <p:nvSpPr>
          <p:cNvPr id="14" name="椭圆 13"/>
          <p:cNvSpPr/>
          <p:nvPr/>
        </p:nvSpPr>
        <p:spPr>
          <a:xfrm>
            <a:off x="4112895" y="2220595"/>
            <a:ext cx="1040130" cy="1038225"/>
          </a:xfrm>
          <a:prstGeom prst="ellipse">
            <a:avLst/>
          </a:prstGeom>
          <a:solidFill>
            <a:srgbClr val="FBAD2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Times New Roman" panose="02020603050405020304" pitchFamily="18" charset="0"/>
              <a:ea typeface="+mn-ea"/>
              <a:cs typeface="+mn-cs"/>
            </a:endParaRPr>
          </a:p>
        </p:txBody>
      </p:sp>
      <p:sp>
        <p:nvSpPr>
          <p:cNvPr id="15" name="椭圆 14"/>
          <p:cNvSpPr/>
          <p:nvPr/>
        </p:nvSpPr>
        <p:spPr>
          <a:xfrm>
            <a:off x="4811395" y="1776095"/>
            <a:ext cx="487680" cy="487680"/>
          </a:xfrm>
          <a:prstGeom prst="ellipse">
            <a:avLst/>
          </a:prstGeom>
          <a:solidFill>
            <a:srgbClr val="FBAD2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Times New Roman" panose="02020603050405020304" pitchFamily="18" charset="0"/>
              <a:ea typeface="+mn-ea"/>
              <a:cs typeface="+mn-cs"/>
            </a:endParaRPr>
          </a:p>
        </p:txBody>
      </p:sp>
      <p:sp>
        <p:nvSpPr>
          <p:cNvPr id="16" name="椭圆 15"/>
          <p:cNvSpPr/>
          <p:nvPr/>
        </p:nvSpPr>
        <p:spPr>
          <a:xfrm>
            <a:off x="3851275" y="3131820"/>
            <a:ext cx="389255" cy="389255"/>
          </a:xfrm>
          <a:prstGeom prst="ellipse">
            <a:avLst/>
          </a:prstGeom>
          <a:solidFill>
            <a:srgbClr val="FBAD2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Times New Roman" panose="02020603050405020304" pitchFamily="18" charset="0"/>
              <a:ea typeface="+mn-ea"/>
              <a:cs typeface="+mn-cs"/>
            </a:endParaRPr>
          </a:p>
        </p:txBody>
      </p:sp>
      <p:sp>
        <p:nvSpPr>
          <p:cNvPr id="17" name="椭圆 16"/>
          <p:cNvSpPr/>
          <p:nvPr/>
        </p:nvSpPr>
        <p:spPr>
          <a:xfrm>
            <a:off x="6849745" y="1826895"/>
            <a:ext cx="303530" cy="303530"/>
          </a:xfrm>
          <a:prstGeom prst="ellipse">
            <a:avLst/>
          </a:prstGeom>
          <a:solidFill>
            <a:srgbClr val="FBAD2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Times New Roman" panose="02020603050405020304" pitchFamily="18" charset="0"/>
              <a:ea typeface="+mn-ea"/>
              <a:cs typeface="+mn-cs"/>
            </a:endParaRPr>
          </a:p>
        </p:txBody>
      </p:sp>
      <p:sp>
        <p:nvSpPr>
          <p:cNvPr id="18" name="椭圆 17"/>
          <p:cNvSpPr/>
          <p:nvPr/>
        </p:nvSpPr>
        <p:spPr>
          <a:xfrm>
            <a:off x="7454900" y="4601845"/>
            <a:ext cx="303530" cy="303530"/>
          </a:xfrm>
          <a:prstGeom prst="ellipse">
            <a:avLst/>
          </a:prstGeom>
          <a:solidFill>
            <a:srgbClr val="FBAD2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Times New Roman" panose="02020603050405020304" pitchFamily="18" charset="0"/>
              <a:ea typeface="+mn-ea"/>
              <a:cs typeface="+mn-cs"/>
            </a:endParaRPr>
          </a:p>
        </p:txBody>
      </p:sp>
      <p:sp>
        <p:nvSpPr>
          <p:cNvPr id="34836" name="文本框 22"/>
          <p:cNvSpPr txBox="1"/>
          <p:nvPr/>
        </p:nvSpPr>
        <p:spPr>
          <a:xfrm>
            <a:off x="5441950" y="2220595"/>
            <a:ext cx="1308100" cy="461645"/>
          </a:xfrm>
          <a:prstGeom prst="rect">
            <a:avLst/>
          </a:prstGeom>
          <a:noFill/>
          <a:ln w="9525">
            <a:noFill/>
          </a:ln>
        </p:spPr>
        <p:txBody>
          <a:bodyPr anchor="t">
            <a:spAutoFit/>
          </a:bodyPr>
          <a:lstStyle/>
          <a:p>
            <a:pPr lvl="0" indent="0" algn="ctr" eaLnBrk="1" hangingPunct="1">
              <a:buFont typeface="Arial" panose="020B0604020202020204" pitchFamily="34" charset="0"/>
              <a:buNone/>
            </a:pPr>
            <a:endParaRPr lang="zh-CN" altLang="en-US" sz="2400" b="1" dirty="0">
              <a:solidFill>
                <a:schemeClr val="bg1"/>
              </a:solidFill>
              <a:latin typeface="微软雅黑" panose="020B0503020204020204" charset="-122"/>
              <a:ea typeface="微软雅黑" panose="020B0503020204020204" charset="-122"/>
            </a:endParaRPr>
          </a:p>
        </p:txBody>
      </p:sp>
      <p:sp>
        <p:nvSpPr>
          <p:cNvPr id="34838" name="文本框 24"/>
          <p:cNvSpPr txBox="1"/>
          <p:nvPr/>
        </p:nvSpPr>
        <p:spPr>
          <a:xfrm>
            <a:off x="6849745" y="3600450"/>
            <a:ext cx="1233805" cy="400050"/>
          </a:xfrm>
          <a:prstGeom prst="rect">
            <a:avLst/>
          </a:prstGeom>
          <a:noFill/>
          <a:ln w="9525">
            <a:noFill/>
          </a:ln>
        </p:spPr>
        <p:txBody>
          <a:bodyPr wrap="square" anchor="t">
            <a:spAutoFit/>
          </a:bodyPr>
          <a:lstStyle/>
          <a:p>
            <a:pPr lvl="0" indent="0" eaLnBrk="1" hangingPunct="1">
              <a:buFont typeface="Arial" panose="020B0604020202020204" pitchFamily="34" charset="0"/>
              <a:buNone/>
            </a:pPr>
            <a:endParaRPr lang="zh-CN" altLang="en-US" sz="2000" b="1" dirty="0">
              <a:solidFill>
                <a:schemeClr val="bg1"/>
              </a:solidFill>
              <a:latin typeface="微软雅黑" panose="020B0503020204020204" charset="-122"/>
              <a:ea typeface="微软雅黑" panose="020B0503020204020204" charset="-122"/>
            </a:endParaRPr>
          </a:p>
        </p:txBody>
      </p:sp>
      <p:sp>
        <p:nvSpPr>
          <p:cNvPr id="34830" name="矩形 16"/>
          <p:cNvSpPr/>
          <p:nvPr/>
        </p:nvSpPr>
        <p:spPr>
          <a:xfrm>
            <a:off x="384810" y="3305175"/>
            <a:ext cx="3384000" cy="1859035"/>
          </a:xfrm>
          <a:prstGeom prst="rect">
            <a:avLst/>
          </a:prstGeom>
          <a:noFill/>
          <a:ln w="9525">
            <a:noFill/>
          </a:ln>
        </p:spPr>
        <p:txBody>
          <a:bodyPr wrap="square" anchor="t">
            <a:spAutoFit/>
          </a:bodyPr>
          <a:lstStyle/>
          <a:p>
            <a:pPr marL="0" algn="just" fontAlgn="auto">
              <a:lnSpc>
                <a:spcPct val="130000"/>
              </a:lnSpc>
            </a:pPr>
            <a:r>
              <a:rPr dirty="0" err="1">
                <a:sym typeface="+mn-ea"/>
              </a:rPr>
              <a:t>集成测试是测试和组装软件的系统化技术</a:t>
            </a:r>
            <a:r>
              <a:rPr lang="zh-CN" altLang="en-US" dirty="0">
                <a:sym typeface="+mn-ea"/>
              </a:rPr>
              <a:t>。</a:t>
            </a:r>
            <a:r>
              <a:rPr dirty="0" err="1">
                <a:sym typeface="+mn-ea"/>
              </a:rPr>
              <a:t>在把模块按照设计要求组装起来的同时进行测试</a:t>
            </a:r>
            <a:r>
              <a:rPr lang="zh-CN" altLang="en-US" dirty="0">
                <a:sym typeface="+mn-ea"/>
              </a:rPr>
              <a:t>；</a:t>
            </a:r>
            <a:endParaRPr lang="en-US" altLang="zh-CN" dirty="0">
              <a:sym typeface="+mn-ea"/>
            </a:endParaRPr>
          </a:p>
          <a:p>
            <a:pPr marL="0" algn="just" fontAlgn="auto">
              <a:lnSpc>
                <a:spcPct val="130000"/>
              </a:lnSpc>
            </a:pPr>
            <a:r>
              <a:rPr dirty="0" err="1">
                <a:sym typeface="+mn-ea"/>
              </a:rPr>
              <a:t>主要目标是发现</a:t>
            </a:r>
            <a:r>
              <a:rPr dirty="0" err="1">
                <a:solidFill>
                  <a:srgbClr val="FF0000"/>
                </a:solidFill>
                <a:sym typeface="+mn-ea"/>
              </a:rPr>
              <a:t>与接口有关</a:t>
            </a:r>
            <a:r>
              <a:rPr dirty="0" err="1">
                <a:sym typeface="+mn-ea"/>
              </a:rPr>
              <a:t>的问题</a:t>
            </a:r>
            <a:r>
              <a:rPr dirty="0">
                <a:sym typeface="+mn-ea"/>
              </a:rPr>
              <a:t>。</a:t>
            </a:r>
            <a:endParaRPr lang="zh-CN" altLang="en-US" dirty="0"/>
          </a:p>
        </p:txBody>
      </p:sp>
      <p:sp>
        <p:nvSpPr>
          <p:cNvPr id="34831" name="文本框 17"/>
          <p:cNvSpPr txBox="1"/>
          <p:nvPr/>
        </p:nvSpPr>
        <p:spPr>
          <a:xfrm>
            <a:off x="384810" y="2954020"/>
            <a:ext cx="3318510" cy="369332"/>
          </a:xfrm>
          <a:prstGeom prst="rect">
            <a:avLst/>
          </a:prstGeom>
          <a:noFill/>
          <a:ln w="9525">
            <a:noFill/>
          </a:ln>
        </p:spPr>
        <p:txBody>
          <a:bodyPr wrap="square" anchor="t">
            <a:spAutoFit/>
          </a:bodyPr>
          <a:lstStyle/>
          <a:p>
            <a:pPr lvl="0" indent="0" eaLnBrk="1" hangingPunct="1">
              <a:buFont typeface="Arial" panose="020B0604020202020204" pitchFamily="34" charset="0"/>
              <a:buNone/>
            </a:pPr>
            <a:r>
              <a:rPr lang="en-US" altLang="zh-CN" dirty="0">
                <a:solidFill>
                  <a:srgbClr val="58BDA8"/>
                </a:solidFill>
                <a:latin typeface="+mj-ea"/>
                <a:ea typeface="+mj-ea"/>
              </a:rPr>
              <a:t>1. </a:t>
            </a:r>
            <a:r>
              <a:rPr lang="zh-CN" altLang="en-US" dirty="0">
                <a:solidFill>
                  <a:srgbClr val="58BDA8"/>
                </a:solidFill>
                <a:latin typeface="+mj-ea"/>
                <a:ea typeface="+mj-ea"/>
              </a:rPr>
              <a:t>集成化</a:t>
            </a:r>
            <a:endParaRPr lang="zh-CN" altLang="en-US" b="1" dirty="0">
              <a:solidFill>
                <a:srgbClr val="58BDA8"/>
              </a:solidFill>
              <a:latin typeface="+mj-ea"/>
              <a:ea typeface="+mj-ea"/>
            </a:endParaRPr>
          </a:p>
        </p:txBody>
      </p:sp>
      <p:sp>
        <p:nvSpPr>
          <p:cNvPr id="34832" name="矩形 18"/>
          <p:cNvSpPr/>
          <p:nvPr/>
        </p:nvSpPr>
        <p:spPr>
          <a:xfrm>
            <a:off x="8153271" y="1466215"/>
            <a:ext cx="3384000" cy="2219134"/>
          </a:xfrm>
          <a:prstGeom prst="rect">
            <a:avLst/>
          </a:prstGeom>
          <a:noFill/>
          <a:ln w="9525">
            <a:noFill/>
          </a:ln>
        </p:spPr>
        <p:txBody>
          <a:bodyPr wrap="square" anchor="t">
            <a:spAutoFit/>
          </a:bodyPr>
          <a:lstStyle/>
          <a:p>
            <a:pPr algn="just">
              <a:lnSpc>
                <a:spcPct val="130000"/>
              </a:lnSpc>
            </a:pPr>
            <a:r>
              <a:rPr dirty="0" err="1">
                <a:sym typeface="+mn-ea"/>
              </a:rPr>
              <a:t>把经过模块测试、运行正确的模块放在一起形成子系统后</a:t>
            </a:r>
            <a:r>
              <a:rPr lang="zh-CN" altLang="en-US" dirty="0">
                <a:sym typeface="+mn-ea"/>
              </a:rPr>
              <a:t>，即集成化后</a:t>
            </a:r>
            <a:r>
              <a:rPr dirty="0" err="1">
                <a:sym typeface="+mn-ea"/>
              </a:rPr>
              <a:t>再测试</a:t>
            </a:r>
            <a:r>
              <a:rPr dirty="0">
                <a:sym typeface="+mn-ea"/>
              </a:rPr>
              <a:t>。</a:t>
            </a:r>
            <a:endParaRPr lang="en-US" dirty="0">
              <a:sym typeface="+mn-ea"/>
            </a:endParaRPr>
          </a:p>
          <a:p>
            <a:pPr marL="0" algn="just" fontAlgn="auto">
              <a:lnSpc>
                <a:spcPct val="130000"/>
              </a:lnSpc>
            </a:pPr>
            <a:r>
              <a:rPr dirty="0" err="1">
                <a:sym typeface="+mn-ea"/>
              </a:rPr>
              <a:t>着重测试模块的接口，测试模块之间能否相互协调及通信时有没有问题</a:t>
            </a:r>
            <a:r>
              <a:rPr dirty="0">
                <a:sym typeface="+mn-ea"/>
              </a:rPr>
              <a:t>。</a:t>
            </a:r>
            <a:endParaRPr lang="zh-CN" altLang="en-US" dirty="0"/>
          </a:p>
        </p:txBody>
      </p:sp>
      <p:sp>
        <p:nvSpPr>
          <p:cNvPr id="34833" name="文本框 19"/>
          <p:cNvSpPr txBox="1"/>
          <p:nvPr/>
        </p:nvSpPr>
        <p:spPr>
          <a:xfrm>
            <a:off x="8153270" y="1096010"/>
            <a:ext cx="4038729" cy="369332"/>
          </a:xfrm>
          <a:prstGeom prst="rect">
            <a:avLst/>
          </a:prstGeom>
          <a:noFill/>
          <a:ln w="9525">
            <a:noFill/>
          </a:ln>
        </p:spPr>
        <p:txBody>
          <a:bodyPr wrap="square" anchor="t">
            <a:spAutoFit/>
          </a:bodyPr>
          <a:lstStyle/>
          <a:p>
            <a:pPr lvl="0" indent="0" eaLnBrk="1" hangingPunct="1">
              <a:buFont typeface="Arial" panose="020B0604020202020204" pitchFamily="34" charset="0"/>
              <a:buNone/>
            </a:pPr>
            <a:r>
              <a:rPr lang="en-US" altLang="zh-CN" dirty="0">
                <a:solidFill>
                  <a:srgbClr val="FBAD24"/>
                </a:solidFill>
                <a:latin typeface="+mj-ea"/>
                <a:ea typeface="+mj-ea"/>
              </a:rPr>
              <a:t>2. </a:t>
            </a:r>
            <a:r>
              <a:rPr lang="zh-CN" altLang="en-US" dirty="0">
                <a:solidFill>
                  <a:srgbClr val="FBAD24"/>
                </a:solidFill>
                <a:latin typeface="+mj-ea"/>
                <a:ea typeface="+mj-ea"/>
              </a:rPr>
              <a:t>子系统测试</a:t>
            </a:r>
            <a:endParaRPr lang="zh-CN" altLang="en-US" b="1" dirty="0">
              <a:solidFill>
                <a:srgbClr val="FBAD24"/>
              </a:solidFill>
              <a:latin typeface="+mj-ea"/>
              <a:ea typeface="+mj-ea"/>
            </a:endParaRPr>
          </a:p>
        </p:txBody>
      </p:sp>
      <p:sp>
        <p:nvSpPr>
          <p:cNvPr id="34834" name="矩形 20"/>
          <p:cNvSpPr/>
          <p:nvPr/>
        </p:nvSpPr>
        <p:spPr>
          <a:xfrm>
            <a:off x="8214172" y="4116070"/>
            <a:ext cx="3384000" cy="2296591"/>
          </a:xfrm>
          <a:prstGeom prst="rect">
            <a:avLst/>
          </a:prstGeom>
          <a:noFill/>
          <a:ln w="9525">
            <a:noFill/>
          </a:ln>
        </p:spPr>
        <p:txBody>
          <a:bodyPr wrap="square" anchor="t">
            <a:spAutoFit/>
          </a:bodyPr>
          <a:lstStyle/>
          <a:p>
            <a:pPr marL="0" algn="just" fontAlgn="auto">
              <a:lnSpc>
                <a:spcPct val="130000"/>
              </a:lnSpc>
            </a:pPr>
            <a:r>
              <a:rPr dirty="0" err="1">
                <a:sym typeface="+mn-ea"/>
              </a:rPr>
              <a:t>系统测试就是把经过测试、</a:t>
            </a:r>
            <a:r>
              <a:rPr err="1">
                <a:sym typeface="+mn-ea"/>
              </a:rPr>
              <a:t>运行正确的子系统组装成完整的系统后再进行测试</a:t>
            </a:r>
            <a:r>
              <a:rPr>
                <a:sym typeface="+mn-ea"/>
              </a:rPr>
              <a:t>。</a:t>
            </a:r>
            <a:endParaRPr lang="en-US" dirty="0">
              <a:sym typeface="+mn-ea"/>
            </a:endParaRPr>
          </a:p>
          <a:p>
            <a:pPr marL="0" algn="just" fontAlgn="auto">
              <a:lnSpc>
                <a:spcPct val="130000"/>
              </a:lnSpc>
            </a:pPr>
            <a:r>
              <a:rPr dirty="0" err="1">
                <a:sym typeface="+mn-ea"/>
              </a:rPr>
              <a:t>系统测试的目的是测试整个硬件和软件系统，验证系统是否满足规定的需求</a:t>
            </a:r>
            <a:r>
              <a:rPr dirty="0">
                <a:sym typeface="+mn-ea"/>
              </a:rPr>
              <a:t>。</a:t>
            </a:r>
            <a:endParaRPr lang="zh-CN" altLang="en-US" dirty="0"/>
          </a:p>
        </p:txBody>
      </p:sp>
      <p:sp>
        <p:nvSpPr>
          <p:cNvPr id="34835" name="文本框 21"/>
          <p:cNvSpPr txBox="1"/>
          <p:nvPr/>
        </p:nvSpPr>
        <p:spPr>
          <a:xfrm>
            <a:off x="8214172" y="3779520"/>
            <a:ext cx="3323099" cy="369332"/>
          </a:xfrm>
          <a:prstGeom prst="rect">
            <a:avLst/>
          </a:prstGeom>
          <a:noFill/>
          <a:ln w="9525">
            <a:noFill/>
          </a:ln>
        </p:spPr>
        <p:txBody>
          <a:bodyPr wrap="square" anchor="t">
            <a:spAutoFit/>
          </a:bodyPr>
          <a:lstStyle/>
          <a:p>
            <a:pPr lvl="0" indent="0" eaLnBrk="1" hangingPunct="1">
              <a:buFont typeface="Arial" panose="020B0604020202020204" pitchFamily="34" charset="0"/>
              <a:buNone/>
            </a:pPr>
            <a:r>
              <a:rPr lang="en-US" altLang="zh-CN" dirty="0">
                <a:solidFill>
                  <a:srgbClr val="EF4150"/>
                </a:solidFill>
                <a:latin typeface="+mj-ea"/>
                <a:ea typeface="+mj-ea"/>
              </a:rPr>
              <a:t>3. </a:t>
            </a:r>
            <a:r>
              <a:rPr lang="zh-CN" altLang="en-US" dirty="0">
                <a:solidFill>
                  <a:srgbClr val="EF4150"/>
                </a:solidFill>
                <a:latin typeface="+mj-ea"/>
                <a:ea typeface="+mj-ea"/>
              </a:rPr>
              <a:t>系统测试</a:t>
            </a:r>
            <a:endParaRPr lang="zh-CN" altLang="en-US" b="1" dirty="0">
              <a:solidFill>
                <a:srgbClr val="EF4150"/>
              </a:solidFill>
              <a:latin typeface="+mj-ea"/>
              <a:ea typeface="+mj-ea"/>
            </a:endParaRPr>
          </a:p>
        </p:txBody>
      </p:sp>
    </p:spTree>
  </p:cSld>
  <p:clrMapOvr>
    <a:masterClrMapping/>
  </p:clrMapOvr>
  <p:transition>
    <p:wedg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DA89A768-FAE7-56A8-33A2-D5DBBCFFA613}"/>
              </a:ext>
            </a:extLst>
          </p:cNvPr>
          <p:cNvSpPr/>
          <p:nvPr/>
        </p:nvSpPr>
        <p:spPr>
          <a:xfrm>
            <a:off x="2486025" y="2228850"/>
            <a:ext cx="4238625" cy="24003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r"/>
            <a:r>
              <a:rPr lang="en-US" altLang="zh-CN" sz="2400" dirty="0">
                <a:solidFill>
                  <a:schemeClr val="tx1"/>
                </a:solidFill>
              </a:rPr>
              <a:t>App</a:t>
            </a:r>
            <a:endParaRPr lang="zh-CN" altLang="en-US" sz="2400" dirty="0">
              <a:solidFill>
                <a:schemeClr val="tx1"/>
              </a:solidFill>
            </a:endParaRPr>
          </a:p>
        </p:txBody>
      </p:sp>
      <p:sp>
        <p:nvSpPr>
          <p:cNvPr id="2" name="标题 1">
            <a:extLst>
              <a:ext uri="{FF2B5EF4-FFF2-40B4-BE49-F238E27FC236}">
                <a16:creationId xmlns:a16="http://schemas.microsoft.com/office/drawing/2014/main" id="{3D4850B1-34D4-3F5A-819F-550C23A99D86}"/>
              </a:ext>
            </a:extLst>
          </p:cNvPr>
          <p:cNvSpPr>
            <a:spLocks noGrp="1"/>
          </p:cNvSpPr>
          <p:nvPr>
            <p:ph type="title"/>
          </p:nvPr>
        </p:nvSpPr>
        <p:spPr/>
        <p:txBody>
          <a:bodyPr/>
          <a:lstStyle/>
          <a:p>
            <a:endParaRPr lang="zh-CN" altLang="en-US"/>
          </a:p>
        </p:txBody>
      </p:sp>
      <p:sp>
        <p:nvSpPr>
          <p:cNvPr id="3" name="文本占位符 2">
            <a:extLst>
              <a:ext uri="{FF2B5EF4-FFF2-40B4-BE49-F238E27FC236}">
                <a16:creationId xmlns:a16="http://schemas.microsoft.com/office/drawing/2014/main" id="{01F2DEBC-AFF7-9B47-D1D0-78AFCC3636AE}"/>
              </a:ext>
            </a:extLst>
          </p:cNvPr>
          <p:cNvSpPr>
            <a:spLocks noGrp="1"/>
          </p:cNvSpPr>
          <p:nvPr>
            <p:ph type="body" sz="quarter" idx="10"/>
          </p:nvPr>
        </p:nvSpPr>
        <p:spPr/>
        <p:txBody>
          <a:bodyPr/>
          <a:lstStyle/>
          <a:p>
            <a:r>
              <a:rPr lang="zh-CN" altLang="en-US" dirty="0"/>
              <a:t>集成测试案例</a:t>
            </a:r>
          </a:p>
        </p:txBody>
      </p:sp>
      <p:sp>
        <p:nvSpPr>
          <p:cNvPr id="4" name="文本占位符 3">
            <a:extLst>
              <a:ext uri="{FF2B5EF4-FFF2-40B4-BE49-F238E27FC236}">
                <a16:creationId xmlns:a16="http://schemas.microsoft.com/office/drawing/2014/main" id="{BF165DEB-9621-600C-1D66-5F6B3489DE1B}"/>
              </a:ext>
            </a:extLst>
          </p:cNvPr>
          <p:cNvSpPr>
            <a:spLocks noGrp="1"/>
          </p:cNvSpPr>
          <p:nvPr>
            <p:ph type="body" sz="quarter" idx="11"/>
          </p:nvPr>
        </p:nvSpPr>
        <p:spPr/>
        <p:txBody>
          <a:bodyPr/>
          <a:lstStyle/>
          <a:p>
            <a:endParaRPr lang="zh-CN" altLang="en-US"/>
          </a:p>
        </p:txBody>
      </p:sp>
      <p:sp>
        <p:nvSpPr>
          <p:cNvPr id="9" name="矩形 8">
            <a:extLst>
              <a:ext uri="{FF2B5EF4-FFF2-40B4-BE49-F238E27FC236}">
                <a16:creationId xmlns:a16="http://schemas.microsoft.com/office/drawing/2014/main" id="{53B2E526-2E25-1D75-3297-B1437CE60A96}"/>
              </a:ext>
            </a:extLst>
          </p:cNvPr>
          <p:cNvSpPr/>
          <p:nvPr/>
        </p:nvSpPr>
        <p:spPr>
          <a:xfrm>
            <a:off x="2638425" y="2381250"/>
            <a:ext cx="2124075" cy="120284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altLang="zh-CN" dirty="0">
                <a:solidFill>
                  <a:schemeClr val="tx1"/>
                </a:solidFill>
              </a:rPr>
              <a:t>goods</a:t>
            </a:r>
            <a:endParaRPr lang="zh-CN" altLang="en-US" dirty="0">
              <a:solidFill>
                <a:schemeClr val="tx1"/>
              </a:solidFill>
            </a:endParaRPr>
          </a:p>
        </p:txBody>
      </p:sp>
      <p:sp>
        <p:nvSpPr>
          <p:cNvPr id="10" name="文本框 9">
            <a:extLst>
              <a:ext uri="{FF2B5EF4-FFF2-40B4-BE49-F238E27FC236}">
                <a16:creationId xmlns:a16="http://schemas.microsoft.com/office/drawing/2014/main" id="{9A357513-0BC9-0660-3A87-EBC06FAC2970}"/>
              </a:ext>
            </a:extLst>
          </p:cNvPr>
          <p:cNvSpPr txBox="1"/>
          <p:nvPr/>
        </p:nvSpPr>
        <p:spPr>
          <a:xfrm>
            <a:off x="3747410" y="3056261"/>
            <a:ext cx="857927" cy="369332"/>
          </a:xfrm>
          <a:prstGeom prst="rect">
            <a:avLst/>
          </a:prstGeom>
          <a:solidFill>
            <a:schemeClr val="accent6"/>
          </a:solidFill>
          <a:ln>
            <a:solidFill>
              <a:schemeClr val="accent6"/>
            </a:solidFill>
          </a:ln>
        </p:spPr>
        <p:txBody>
          <a:bodyPr wrap="none" rtlCol="0">
            <a:spAutoFit/>
          </a:bodyPr>
          <a:lstStyle/>
          <a:p>
            <a:pPr algn="just"/>
            <a:r>
              <a:rPr lang="en-US" altLang="zh-CN" dirty="0">
                <a:solidFill>
                  <a:schemeClr val="bg1"/>
                </a:solidFill>
                <a:sym typeface="+mn-ea"/>
              </a:rPr>
              <a:t>fetch.js</a:t>
            </a:r>
          </a:p>
        </p:txBody>
      </p:sp>
    </p:spTree>
    <p:extLst>
      <p:ext uri="{BB962C8B-B14F-4D97-AF65-F5344CB8AC3E}">
        <p14:creationId xmlns:p14="http://schemas.microsoft.com/office/powerpoint/2010/main" val="37658016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11520000" cy="535531"/>
          </a:xfrm>
        </p:spPr>
        <p:txBody>
          <a:bodyPr/>
          <a:lstStyle/>
          <a:p>
            <a:r>
              <a:rPr lang="en-US" dirty="0"/>
              <a:t>4.4 </a:t>
            </a:r>
            <a:r>
              <a:rPr lang="zh-CN" altLang="en-US" dirty="0"/>
              <a:t>软件测试步骤</a:t>
            </a:r>
          </a:p>
        </p:txBody>
      </p:sp>
      <p:sp>
        <p:nvSpPr>
          <p:cNvPr id="20" name="文本占位符 19">
            <a:extLst>
              <a:ext uri="{FF2B5EF4-FFF2-40B4-BE49-F238E27FC236}">
                <a16:creationId xmlns:a16="http://schemas.microsoft.com/office/drawing/2014/main" id="{B604B861-E17E-839B-73D5-18D791D58578}"/>
              </a:ext>
            </a:extLst>
          </p:cNvPr>
          <p:cNvSpPr>
            <a:spLocks noGrp="1"/>
          </p:cNvSpPr>
          <p:nvPr>
            <p:ph type="body" sz="quarter" idx="10"/>
          </p:nvPr>
        </p:nvSpPr>
        <p:spPr>
          <a:xfrm>
            <a:off x="696000" y="1322832"/>
            <a:ext cx="11160000" cy="400110"/>
          </a:xfrm>
        </p:spPr>
        <p:txBody>
          <a:bodyPr/>
          <a:lstStyle/>
          <a:p>
            <a:r>
              <a:rPr lang="en-US" altLang="zh-CN" dirty="0"/>
              <a:t>4.4.2 </a:t>
            </a:r>
            <a:r>
              <a:rPr lang="zh-CN" altLang="en-US" dirty="0"/>
              <a:t>集成测试</a:t>
            </a:r>
          </a:p>
        </p:txBody>
      </p:sp>
      <p:sp>
        <p:nvSpPr>
          <p:cNvPr id="27" name="文本占位符 26">
            <a:extLst>
              <a:ext uri="{FF2B5EF4-FFF2-40B4-BE49-F238E27FC236}">
                <a16:creationId xmlns:a16="http://schemas.microsoft.com/office/drawing/2014/main" id="{2E1E03C6-4791-8AFF-5DB9-11223DB81381}"/>
              </a:ext>
            </a:extLst>
          </p:cNvPr>
          <p:cNvSpPr>
            <a:spLocks noGrp="1"/>
          </p:cNvSpPr>
          <p:nvPr>
            <p:ph type="body" sz="quarter" idx="11"/>
          </p:nvPr>
        </p:nvSpPr>
        <p:spPr/>
        <p:txBody>
          <a:bodyPr/>
          <a:lstStyle/>
          <a:p>
            <a:endParaRPr lang="zh-CN" altLang="en-US"/>
          </a:p>
        </p:txBody>
      </p:sp>
      <p:sp>
        <p:nvSpPr>
          <p:cNvPr id="4" name="MH_Other_1"/>
          <p:cNvSpPr/>
          <p:nvPr>
            <p:custDataLst>
              <p:tags r:id="rId1"/>
            </p:custDataLst>
          </p:nvPr>
        </p:nvSpPr>
        <p:spPr>
          <a:xfrm rot="15013344" flipH="1">
            <a:off x="5529292" y="2999607"/>
            <a:ext cx="3272634" cy="2079415"/>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079403"/>
              <a:gd name="connsiteX1-123" fmla="*/ 1785607 w 4358007"/>
              <a:gd name="connsiteY1-124" fmla="*/ 21009 h 2079403"/>
              <a:gd name="connsiteX2-125" fmla="*/ 4075532 w 4358007"/>
              <a:gd name="connsiteY2-126" fmla="*/ 1498040 h 2079403"/>
              <a:gd name="connsiteX3-127" fmla="*/ 4358007 w 4358007"/>
              <a:gd name="connsiteY3-128" fmla="*/ 1498039 h 2079403"/>
              <a:gd name="connsiteX4-129" fmla="*/ 3268305 w 4358007"/>
              <a:gd name="connsiteY4-130" fmla="*/ 1683987 h 2079403"/>
              <a:gd name="connsiteX5-131" fmla="*/ 3169875 w 4358007"/>
              <a:gd name="connsiteY5-132" fmla="*/ 1498039 h 2079403"/>
              <a:gd name="connsiteX6-133" fmla="*/ 3445881 w 4358007"/>
              <a:gd name="connsiteY6-134" fmla="*/ 1498039 h 2079403"/>
              <a:gd name="connsiteX7-135" fmla="*/ 1535436 w 4358007"/>
              <a:gd name="connsiteY7-136" fmla="*/ 463531 h 2079403"/>
              <a:gd name="connsiteX8-137" fmla="*/ 25655 w 4358007"/>
              <a:gd name="connsiteY8-138" fmla="*/ 2067046 h 2079403"/>
              <a:gd name="connsiteX9-139" fmla="*/ 0 w 4358007"/>
              <a:gd name="connsiteY9-140" fmla="*/ 2079403 h 2079403"/>
              <a:gd name="connsiteX0-141" fmla="*/ 0 w 4358007"/>
              <a:gd name="connsiteY0-142" fmla="*/ 2079403 h 2079403"/>
              <a:gd name="connsiteX1-143" fmla="*/ 1785607 w 4358007"/>
              <a:gd name="connsiteY1-144" fmla="*/ 21009 h 2079403"/>
              <a:gd name="connsiteX2-145" fmla="*/ 4075532 w 4358007"/>
              <a:gd name="connsiteY2-146" fmla="*/ 1498040 h 2079403"/>
              <a:gd name="connsiteX3-147" fmla="*/ 4358007 w 4358007"/>
              <a:gd name="connsiteY3-148" fmla="*/ 1498039 h 2079403"/>
              <a:gd name="connsiteX4-149" fmla="*/ 3268305 w 4358007"/>
              <a:gd name="connsiteY4-150" fmla="*/ 1683987 h 2079403"/>
              <a:gd name="connsiteX5-151" fmla="*/ 3251241 w 4358007"/>
              <a:gd name="connsiteY5-152" fmla="*/ 1673622 h 2079403"/>
              <a:gd name="connsiteX6-153" fmla="*/ 3169875 w 4358007"/>
              <a:gd name="connsiteY6-154" fmla="*/ 1498039 h 2079403"/>
              <a:gd name="connsiteX7-155" fmla="*/ 3445881 w 4358007"/>
              <a:gd name="connsiteY7-156" fmla="*/ 1498039 h 2079403"/>
              <a:gd name="connsiteX8-157" fmla="*/ 1535436 w 4358007"/>
              <a:gd name="connsiteY8-158" fmla="*/ 463531 h 2079403"/>
              <a:gd name="connsiteX9-159" fmla="*/ 25655 w 4358007"/>
              <a:gd name="connsiteY9-160" fmla="*/ 2067046 h 2079403"/>
              <a:gd name="connsiteX10" fmla="*/ 0 w 4358007"/>
              <a:gd name="connsiteY10" fmla="*/ 2079403 h 2079403"/>
              <a:gd name="connsiteX0-161" fmla="*/ 0 w 4358007"/>
              <a:gd name="connsiteY0-162" fmla="*/ 2079403 h 2079403"/>
              <a:gd name="connsiteX1-163" fmla="*/ 1785607 w 4358007"/>
              <a:gd name="connsiteY1-164" fmla="*/ 21009 h 2079403"/>
              <a:gd name="connsiteX2-165" fmla="*/ 4075532 w 4358007"/>
              <a:gd name="connsiteY2-166" fmla="*/ 1498040 h 2079403"/>
              <a:gd name="connsiteX3-167" fmla="*/ 4358007 w 4358007"/>
              <a:gd name="connsiteY3-168" fmla="*/ 1498039 h 2079403"/>
              <a:gd name="connsiteX4-169" fmla="*/ 3268305 w 4358007"/>
              <a:gd name="connsiteY4-170" fmla="*/ 1683987 h 2079403"/>
              <a:gd name="connsiteX5-171" fmla="*/ 3115316 w 4358007"/>
              <a:gd name="connsiteY5-172" fmla="*/ 1661266 h 2079403"/>
              <a:gd name="connsiteX6-173" fmla="*/ 3169875 w 4358007"/>
              <a:gd name="connsiteY6-174" fmla="*/ 1498039 h 2079403"/>
              <a:gd name="connsiteX7-175" fmla="*/ 3445881 w 4358007"/>
              <a:gd name="connsiteY7-176" fmla="*/ 1498039 h 2079403"/>
              <a:gd name="connsiteX8-177" fmla="*/ 1535436 w 4358007"/>
              <a:gd name="connsiteY8-178" fmla="*/ 463531 h 2079403"/>
              <a:gd name="connsiteX9-179" fmla="*/ 25655 w 4358007"/>
              <a:gd name="connsiteY9-180" fmla="*/ 2067046 h 2079403"/>
              <a:gd name="connsiteX10-181" fmla="*/ 0 w 4358007"/>
              <a:gd name="connsiteY10-182" fmla="*/ 2079403 h 2079403"/>
              <a:gd name="connsiteX0-183" fmla="*/ 0 w 4358007"/>
              <a:gd name="connsiteY0-184" fmla="*/ 2079403 h 2079403"/>
              <a:gd name="connsiteX1-185" fmla="*/ 1785607 w 4358007"/>
              <a:gd name="connsiteY1-186" fmla="*/ 21009 h 2079403"/>
              <a:gd name="connsiteX2-187" fmla="*/ 4075532 w 4358007"/>
              <a:gd name="connsiteY2-188" fmla="*/ 1498040 h 2079403"/>
              <a:gd name="connsiteX3-189" fmla="*/ 4358007 w 4358007"/>
              <a:gd name="connsiteY3-190" fmla="*/ 1498039 h 2079403"/>
              <a:gd name="connsiteX4-191" fmla="*/ 4355700 w 4358007"/>
              <a:gd name="connsiteY4-192" fmla="*/ 1683987 h 2079403"/>
              <a:gd name="connsiteX5-193" fmla="*/ 3115316 w 4358007"/>
              <a:gd name="connsiteY5-194" fmla="*/ 1661266 h 2079403"/>
              <a:gd name="connsiteX6-195" fmla="*/ 3169875 w 4358007"/>
              <a:gd name="connsiteY6-196" fmla="*/ 1498039 h 2079403"/>
              <a:gd name="connsiteX7-197" fmla="*/ 3445881 w 4358007"/>
              <a:gd name="connsiteY7-198" fmla="*/ 1498039 h 2079403"/>
              <a:gd name="connsiteX8-199" fmla="*/ 1535436 w 4358007"/>
              <a:gd name="connsiteY8-200" fmla="*/ 463531 h 2079403"/>
              <a:gd name="connsiteX9-201" fmla="*/ 25655 w 4358007"/>
              <a:gd name="connsiteY9-202" fmla="*/ 2067046 h 2079403"/>
              <a:gd name="connsiteX10-203" fmla="*/ 0 w 4358007"/>
              <a:gd name="connsiteY10-204" fmla="*/ 2079403 h 2079403"/>
              <a:gd name="connsiteX0-205" fmla="*/ 0 w 4358007"/>
              <a:gd name="connsiteY0-206" fmla="*/ 2079403 h 2079403"/>
              <a:gd name="connsiteX1-207" fmla="*/ 1785607 w 4358007"/>
              <a:gd name="connsiteY1-208" fmla="*/ 21009 h 2079403"/>
              <a:gd name="connsiteX2-209" fmla="*/ 4075532 w 4358007"/>
              <a:gd name="connsiteY2-210" fmla="*/ 1498040 h 2079403"/>
              <a:gd name="connsiteX3-211" fmla="*/ 4358007 w 4358007"/>
              <a:gd name="connsiteY3-212" fmla="*/ 1498039 h 2079403"/>
              <a:gd name="connsiteX4-213" fmla="*/ 4355700 w 4358007"/>
              <a:gd name="connsiteY4-214" fmla="*/ 1683987 h 2079403"/>
              <a:gd name="connsiteX5-215" fmla="*/ 3152386 w 4358007"/>
              <a:gd name="connsiteY5-216" fmla="*/ 1636552 h 2079403"/>
              <a:gd name="connsiteX6-217" fmla="*/ 3169875 w 4358007"/>
              <a:gd name="connsiteY6-218" fmla="*/ 1498039 h 2079403"/>
              <a:gd name="connsiteX7-219" fmla="*/ 3445881 w 4358007"/>
              <a:gd name="connsiteY7-220" fmla="*/ 1498039 h 2079403"/>
              <a:gd name="connsiteX8-221" fmla="*/ 1535436 w 4358007"/>
              <a:gd name="connsiteY8-222" fmla="*/ 463531 h 2079403"/>
              <a:gd name="connsiteX9-223" fmla="*/ 25655 w 4358007"/>
              <a:gd name="connsiteY9-224" fmla="*/ 2067046 h 2079403"/>
              <a:gd name="connsiteX10-225" fmla="*/ 0 w 4358007"/>
              <a:gd name="connsiteY10-226" fmla="*/ 2079403 h 2079403"/>
              <a:gd name="connsiteX0-227" fmla="*/ 0 w 4358007"/>
              <a:gd name="connsiteY0-228" fmla="*/ 2079403 h 2079403"/>
              <a:gd name="connsiteX1-229" fmla="*/ 1785607 w 4358007"/>
              <a:gd name="connsiteY1-230" fmla="*/ 21009 h 2079403"/>
              <a:gd name="connsiteX2-231" fmla="*/ 4075532 w 4358007"/>
              <a:gd name="connsiteY2-232" fmla="*/ 1498040 h 2079403"/>
              <a:gd name="connsiteX3-233" fmla="*/ 4358007 w 4358007"/>
              <a:gd name="connsiteY3-234" fmla="*/ 1498039 h 2079403"/>
              <a:gd name="connsiteX4-235" fmla="*/ 4355700 w 4358007"/>
              <a:gd name="connsiteY4-236" fmla="*/ 1683987 h 2079403"/>
              <a:gd name="connsiteX5-237" fmla="*/ 3190806 w 4358007"/>
              <a:gd name="connsiteY5-238" fmla="*/ 1636552 h 2079403"/>
              <a:gd name="connsiteX6-239" fmla="*/ 3169875 w 4358007"/>
              <a:gd name="connsiteY6-240" fmla="*/ 1498039 h 2079403"/>
              <a:gd name="connsiteX7-241" fmla="*/ 3445881 w 4358007"/>
              <a:gd name="connsiteY7-242" fmla="*/ 1498039 h 2079403"/>
              <a:gd name="connsiteX8-243" fmla="*/ 1535436 w 4358007"/>
              <a:gd name="connsiteY8-244" fmla="*/ 463531 h 2079403"/>
              <a:gd name="connsiteX9-245" fmla="*/ 25655 w 4358007"/>
              <a:gd name="connsiteY9-246" fmla="*/ 2067046 h 2079403"/>
              <a:gd name="connsiteX10-247" fmla="*/ 0 w 4358007"/>
              <a:gd name="connsiteY10-248" fmla="*/ 2079403 h 2079403"/>
              <a:gd name="connsiteX0-249" fmla="*/ 0 w 4358007"/>
              <a:gd name="connsiteY0-250" fmla="*/ 2079403 h 2079403"/>
              <a:gd name="connsiteX1-251" fmla="*/ 1785607 w 4358007"/>
              <a:gd name="connsiteY1-252" fmla="*/ 21009 h 2079403"/>
              <a:gd name="connsiteX2-253" fmla="*/ 4075532 w 4358007"/>
              <a:gd name="connsiteY2-254" fmla="*/ 1498040 h 2079403"/>
              <a:gd name="connsiteX3-255" fmla="*/ 4358007 w 4358007"/>
              <a:gd name="connsiteY3-256" fmla="*/ 1498039 h 2079403"/>
              <a:gd name="connsiteX4-257" fmla="*/ 4340332 w 4358007"/>
              <a:gd name="connsiteY4-258" fmla="*/ 1614830 h 2079403"/>
              <a:gd name="connsiteX5-259" fmla="*/ 3190806 w 4358007"/>
              <a:gd name="connsiteY5-260" fmla="*/ 1636552 h 2079403"/>
              <a:gd name="connsiteX6-261" fmla="*/ 3169875 w 4358007"/>
              <a:gd name="connsiteY6-262" fmla="*/ 1498039 h 2079403"/>
              <a:gd name="connsiteX7-263" fmla="*/ 3445881 w 4358007"/>
              <a:gd name="connsiteY7-264" fmla="*/ 1498039 h 2079403"/>
              <a:gd name="connsiteX8-265" fmla="*/ 1535436 w 4358007"/>
              <a:gd name="connsiteY8-266" fmla="*/ 463531 h 2079403"/>
              <a:gd name="connsiteX9-267" fmla="*/ 25655 w 4358007"/>
              <a:gd name="connsiteY9-268" fmla="*/ 2067046 h 2079403"/>
              <a:gd name="connsiteX10-269" fmla="*/ 0 w 4358007"/>
              <a:gd name="connsiteY10-270" fmla="*/ 2079403 h 2079403"/>
              <a:gd name="connsiteX0-271" fmla="*/ 0 w 4358007"/>
              <a:gd name="connsiteY0-272" fmla="*/ 2079403 h 2079403"/>
              <a:gd name="connsiteX1-273" fmla="*/ 1785607 w 4358007"/>
              <a:gd name="connsiteY1-274" fmla="*/ 21009 h 2079403"/>
              <a:gd name="connsiteX2-275" fmla="*/ 4075532 w 4358007"/>
              <a:gd name="connsiteY2-276" fmla="*/ 1498040 h 2079403"/>
              <a:gd name="connsiteX3-277" fmla="*/ 4358007 w 4358007"/>
              <a:gd name="connsiteY3-278" fmla="*/ 1498039 h 2079403"/>
              <a:gd name="connsiteX4-279" fmla="*/ 4340332 w 4358007"/>
              <a:gd name="connsiteY4-280" fmla="*/ 1614830 h 2079403"/>
              <a:gd name="connsiteX5-281" fmla="*/ 3190806 w 4358007"/>
              <a:gd name="connsiteY5-282" fmla="*/ 1621184 h 2079403"/>
              <a:gd name="connsiteX6-283" fmla="*/ 3169875 w 4358007"/>
              <a:gd name="connsiteY6-284" fmla="*/ 1498039 h 2079403"/>
              <a:gd name="connsiteX7-285" fmla="*/ 3445881 w 4358007"/>
              <a:gd name="connsiteY7-286" fmla="*/ 1498039 h 2079403"/>
              <a:gd name="connsiteX8-287" fmla="*/ 1535436 w 4358007"/>
              <a:gd name="connsiteY8-288" fmla="*/ 463531 h 2079403"/>
              <a:gd name="connsiteX9-289" fmla="*/ 25655 w 4358007"/>
              <a:gd name="connsiteY9-290" fmla="*/ 2067046 h 2079403"/>
              <a:gd name="connsiteX10-291" fmla="*/ 0 w 4358007"/>
              <a:gd name="connsiteY10-292" fmla="*/ 2079403 h 2079403"/>
              <a:gd name="connsiteX0-293" fmla="*/ 0 w 4363385"/>
              <a:gd name="connsiteY0-294" fmla="*/ 2079403 h 2079403"/>
              <a:gd name="connsiteX1-295" fmla="*/ 1785607 w 4363385"/>
              <a:gd name="connsiteY1-296" fmla="*/ 21009 h 2079403"/>
              <a:gd name="connsiteX2-297" fmla="*/ 4075532 w 4363385"/>
              <a:gd name="connsiteY2-298" fmla="*/ 1498040 h 2079403"/>
              <a:gd name="connsiteX3-299" fmla="*/ 4358007 w 4363385"/>
              <a:gd name="connsiteY3-300" fmla="*/ 1498039 h 2079403"/>
              <a:gd name="connsiteX4-301" fmla="*/ 4363385 w 4363385"/>
              <a:gd name="connsiteY4-302" fmla="*/ 1614830 h 2079403"/>
              <a:gd name="connsiteX5-303" fmla="*/ 3190806 w 4363385"/>
              <a:gd name="connsiteY5-304" fmla="*/ 1621184 h 2079403"/>
              <a:gd name="connsiteX6-305" fmla="*/ 3169875 w 4363385"/>
              <a:gd name="connsiteY6-306" fmla="*/ 1498039 h 2079403"/>
              <a:gd name="connsiteX7-307" fmla="*/ 3445881 w 4363385"/>
              <a:gd name="connsiteY7-308" fmla="*/ 1498039 h 2079403"/>
              <a:gd name="connsiteX8-309" fmla="*/ 1535436 w 4363385"/>
              <a:gd name="connsiteY8-310" fmla="*/ 463531 h 2079403"/>
              <a:gd name="connsiteX9-311" fmla="*/ 25655 w 4363385"/>
              <a:gd name="connsiteY9-312" fmla="*/ 2067046 h 2079403"/>
              <a:gd name="connsiteX10-313" fmla="*/ 0 w 4363385"/>
              <a:gd name="connsiteY10-314" fmla="*/ 2079403 h 207940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181" y="connsiteY10-182"/>
              </a:cxn>
            </a:cxnLst>
            <a:rect l="l" t="t" r="r" b="b"/>
            <a:pathLst>
              <a:path w="4363385" h="2079403">
                <a:moveTo>
                  <a:pt x="0" y="2079403"/>
                </a:moveTo>
                <a:cubicBezTo>
                  <a:pt x="0" y="1044510"/>
                  <a:pt x="761085" y="167154"/>
                  <a:pt x="1785607" y="21009"/>
                </a:cubicBezTo>
                <a:cubicBezTo>
                  <a:pt x="2810128" y="-125136"/>
                  <a:pt x="3786171" y="504424"/>
                  <a:pt x="4075532" y="1498040"/>
                </a:cubicBezTo>
                <a:lnTo>
                  <a:pt x="4358007" y="1498039"/>
                </a:lnTo>
                <a:lnTo>
                  <a:pt x="4363385" y="1614830"/>
                </a:lnTo>
                <a:lnTo>
                  <a:pt x="3190806" y="1621184"/>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flip="none" rotWithShape="1">
            <a:gsLst>
              <a:gs pos="43000">
                <a:schemeClr val="tx1">
                  <a:lumMod val="95000"/>
                  <a:lumOff val="5000"/>
                </a:schemeClr>
              </a:gs>
              <a:gs pos="14000">
                <a:schemeClr val="tx1">
                  <a:lumMod val="50000"/>
                  <a:lumOff val="50000"/>
                </a:schemeClr>
              </a:gs>
              <a:gs pos="100000">
                <a:schemeClr val="tx1">
                  <a:lumMod val="50000"/>
                  <a:lumOff val="50000"/>
                </a:schemeClr>
              </a:gs>
            </a:gsLst>
            <a:lin ang="2700000" scaled="1"/>
            <a:tileRect/>
          </a:gradFill>
          <a:ln>
            <a:noFill/>
          </a:ln>
          <a:effectLst/>
          <a:scene3d>
            <a:camera prst="orthographicFront"/>
            <a:lightRig rig="flat" dir="t">
              <a:rot lat="0" lon="0" rev="11400000"/>
            </a:lightRig>
          </a:scene3d>
          <a:sp3d extrusionH="1270000" contourW="12700" prstMaterial="softEdge">
            <a:bevelB h="107950"/>
            <a:extrusionClr>
              <a:schemeClr val="accent2">
                <a:lumMod val="50000"/>
              </a:schemeClr>
            </a:extrusionClr>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dirty="0">
              <a:solidFill>
                <a:schemeClr val="tx1"/>
              </a:solidFill>
              <a:ea typeface="+mj-ea"/>
            </a:endParaRPr>
          </a:p>
        </p:txBody>
      </p:sp>
      <p:sp>
        <p:nvSpPr>
          <p:cNvPr id="5" name="MH_Other_2"/>
          <p:cNvSpPr/>
          <p:nvPr>
            <p:custDataLst>
              <p:tags r:id="rId2"/>
            </p:custDataLst>
          </p:nvPr>
        </p:nvSpPr>
        <p:spPr>
          <a:xfrm rot="15013344" flipH="1">
            <a:off x="5721102" y="2867652"/>
            <a:ext cx="3268600" cy="2252410"/>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358007" h="2252398">
                <a:moveTo>
                  <a:pt x="0" y="2079403"/>
                </a:moveTo>
                <a:cubicBezTo>
                  <a:pt x="0" y="1044510"/>
                  <a:pt x="761085" y="167154"/>
                  <a:pt x="1785607" y="21009"/>
                </a:cubicBezTo>
                <a:cubicBezTo>
                  <a:pt x="2810128" y="-125136"/>
                  <a:pt x="3786171" y="504424"/>
                  <a:pt x="4075532" y="1498040"/>
                </a:cubicBezTo>
                <a:lnTo>
                  <a:pt x="4358007" y="1498039"/>
                </a:lnTo>
                <a:lnTo>
                  <a:pt x="3849072" y="2252398"/>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ln/>
        </p:spPr>
        <p:style>
          <a:lnRef idx="0">
            <a:schemeClr val="accent2"/>
          </a:lnRef>
          <a:fillRef idx="3">
            <a:schemeClr val="accent2"/>
          </a:fillRef>
          <a:effectRef idx="3">
            <a:schemeClr val="accent2"/>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ea typeface="+mj-ea"/>
            </a:endParaRPr>
          </a:p>
        </p:txBody>
      </p:sp>
      <p:sp>
        <p:nvSpPr>
          <p:cNvPr id="6" name="MH_Other_3"/>
          <p:cNvSpPr/>
          <p:nvPr>
            <p:custDataLst>
              <p:tags r:id="rId3"/>
            </p:custDataLst>
          </p:nvPr>
        </p:nvSpPr>
        <p:spPr>
          <a:xfrm rot="14847505" flipV="1">
            <a:off x="2888890" y="2723982"/>
            <a:ext cx="3340485" cy="2442946"/>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 name="connsiteX0-141" fmla="*/ 0 w 4358007"/>
              <a:gd name="connsiteY0-142" fmla="*/ 2079403 h 2386491"/>
              <a:gd name="connsiteX1-143" fmla="*/ 1785607 w 4358007"/>
              <a:gd name="connsiteY1-144" fmla="*/ 21009 h 2386491"/>
              <a:gd name="connsiteX2-145" fmla="*/ 4075532 w 4358007"/>
              <a:gd name="connsiteY2-146" fmla="*/ 1498040 h 2386491"/>
              <a:gd name="connsiteX3-147" fmla="*/ 4358007 w 4358007"/>
              <a:gd name="connsiteY3-148" fmla="*/ 1498039 h 2386491"/>
              <a:gd name="connsiteX4-149" fmla="*/ 3782879 w 4358007"/>
              <a:gd name="connsiteY4-150" fmla="*/ 2386491 h 2386491"/>
              <a:gd name="connsiteX5-151" fmla="*/ 3169875 w 4358007"/>
              <a:gd name="connsiteY5-152" fmla="*/ 1498039 h 2386491"/>
              <a:gd name="connsiteX6-153" fmla="*/ 3445881 w 4358007"/>
              <a:gd name="connsiteY6-154" fmla="*/ 1498039 h 2386491"/>
              <a:gd name="connsiteX7-155" fmla="*/ 1535436 w 4358007"/>
              <a:gd name="connsiteY7-156" fmla="*/ 463531 h 2386491"/>
              <a:gd name="connsiteX8-157" fmla="*/ 25655 w 4358007"/>
              <a:gd name="connsiteY8-158" fmla="*/ 2067046 h 2386491"/>
              <a:gd name="connsiteX9-159" fmla="*/ 0 w 4358007"/>
              <a:gd name="connsiteY9-160" fmla="*/ 2079403 h 2386491"/>
              <a:gd name="connsiteX0-161" fmla="*/ 0 w 4401150"/>
              <a:gd name="connsiteY0-162" fmla="*/ 2079403 h 2386491"/>
              <a:gd name="connsiteX1-163" fmla="*/ 1785607 w 4401150"/>
              <a:gd name="connsiteY1-164" fmla="*/ 21009 h 2386491"/>
              <a:gd name="connsiteX2-165" fmla="*/ 4075532 w 4401150"/>
              <a:gd name="connsiteY2-166" fmla="*/ 1498040 h 2386491"/>
              <a:gd name="connsiteX3-167" fmla="*/ 4401150 w 4401150"/>
              <a:gd name="connsiteY3-168" fmla="*/ 1601982 h 2386491"/>
              <a:gd name="connsiteX4-169" fmla="*/ 3782879 w 4401150"/>
              <a:gd name="connsiteY4-170" fmla="*/ 2386491 h 2386491"/>
              <a:gd name="connsiteX5-171" fmla="*/ 3169875 w 4401150"/>
              <a:gd name="connsiteY5-172" fmla="*/ 1498039 h 2386491"/>
              <a:gd name="connsiteX6-173" fmla="*/ 3445881 w 4401150"/>
              <a:gd name="connsiteY6-174" fmla="*/ 1498039 h 2386491"/>
              <a:gd name="connsiteX7-175" fmla="*/ 1535436 w 4401150"/>
              <a:gd name="connsiteY7-176" fmla="*/ 463531 h 2386491"/>
              <a:gd name="connsiteX8-177" fmla="*/ 25655 w 4401150"/>
              <a:gd name="connsiteY8-178" fmla="*/ 2067046 h 2386491"/>
              <a:gd name="connsiteX9-179" fmla="*/ 0 w 4401150"/>
              <a:gd name="connsiteY9-180" fmla="*/ 2079403 h 2386491"/>
              <a:gd name="connsiteX0-181" fmla="*/ 0 w 4401150"/>
              <a:gd name="connsiteY0-182" fmla="*/ 2063451 h 2370539"/>
              <a:gd name="connsiteX1-183" fmla="*/ 1785607 w 4401150"/>
              <a:gd name="connsiteY1-184" fmla="*/ 5057 h 2370539"/>
              <a:gd name="connsiteX2-185" fmla="*/ 4046111 w 4401150"/>
              <a:gd name="connsiteY2-186" fmla="*/ 1631382 h 2370539"/>
              <a:gd name="connsiteX3-187" fmla="*/ 4401150 w 4401150"/>
              <a:gd name="connsiteY3-188" fmla="*/ 1586030 h 2370539"/>
              <a:gd name="connsiteX4-189" fmla="*/ 3782879 w 4401150"/>
              <a:gd name="connsiteY4-190" fmla="*/ 2370539 h 2370539"/>
              <a:gd name="connsiteX5-191" fmla="*/ 3169875 w 4401150"/>
              <a:gd name="connsiteY5-192" fmla="*/ 1482087 h 2370539"/>
              <a:gd name="connsiteX6-193" fmla="*/ 3445881 w 4401150"/>
              <a:gd name="connsiteY6-194" fmla="*/ 1482087 h 2370539"/>
              <a:gd name="connsiteX7-195" fmla="*/ 1535436 w 4401150"/>
              <a:gd name="connsiteY7-196" fmla="*/ 447579 h 2370539"/>
              <a:gd name="connsiteX8-197" fmla="*/ 25655 w 4401150"/>
              <a:gd name="connsiteY8-198" fmla="*/ 2051094 h 2370539"/>
              <a:gd name="connsiteX9-199" fmla="*/ 0 w 4401150"/>
              <a:gd name="connsiteY9-200" fmla="*/ 2063451 h 2370539"/>
              <a:gd name="connsiteX0-201" fmla="*/ 0 w 4401150"/>
              <a:gd name="connsiteY0-202" fmla="*/ 2063451 h 2370539"/>
              <a:gd name="connsiteX1-203" fmla="*/ 1785607 w 4401150"/>
              <a:gd name="connsiteY1-204" fmla="*/ 5057 h 2370539"/>
              <a:gd name="connsiteX2-205" fmla="*/ 4046111 w 4401150"/>
              <a:gd name="connsiteY2-206" fmla="*/ 1631382 h 2370539"/>
              <a:gd name="connsiteX3-207" fmla="*/ 4401150 w 4401150"/>
              <a:gd name="connsiteY3-208" fmla="*/ 1586030 h 2370539"/>
              <a:gd name="connsiteX4-209" fmla="*/ 3782879 w 4401150"/>
              <a:gd name="connsiteY4-210" fmla="*/ 2370539 h 2370539"/>
              <a:gd name="connsiteX5-211" fmla="*/ 3186053 w 4401150"/>
              <a:gd name="connsiteY5-212" fmla="*/ 1521066 h 2370539"/>
              <a:gd name="connsiteX6-213" fmla="*/ 3445881 w 4401150"/>
              <a:gd name="connsiteY6-214" fmla="*/ 1482087 h 2370539"/>
              <a:gd name="connsiteX7-215" fmla="*/ 1535436 w 4401150"/>
              <a:gd name="connsiteY7-216" fmla="*/ 447579 h 2370539"/>
              <a:gd name="connsiteX8-217" fmla="*/ 25655 w 4401150"/>
              <a:gd name="connsiteY8-218" fmla="*/ 2051094 h 2370539"/>
              <a:gd name="connsiteX9-219" fmla="*/ 0 w 4401150"/>
              <a:gd name="connsiteY9-220" fmla="*/ 2063451 h 2370539"/>
              <a:gd name="connsiteX0-221" fmla="*/ 0 w 4401150"/>
              <a:gd name="connsiteY0-222" fmla="*/ 2063451 h 2444082"/>
              <a:gd name="connsiteX1-223" fmla="*/ 1785607 w 4401150"/>
              <a:gd name="connsiteY1-224" fmla="*/ 5057 h 2444082"/>
              <a:gd name="connsiteX2-225" fmla="*/ 4046111 w 4401150"/>
              <a:gd name="connsiteY2-226" fmla="*/ 1631382 h 2444082"/>
              <a:gd name="connsiteX3-227" fmla="*/ 4401150 w 4401150"/>
              <a:gd name="connsiteY3-228" fmla="*/ 1586030 h 2444082"/>
              <a:gd name="connsiteX4-229" fmla="*/ 3752478 w 4401150"/>
              <a:gd name="connsiteY4-230" fmla="*/ 2444082 h 2444082"/>
              <a:gd name="connsiteX5-231" fmla="*/ 3186053 w 4401150"/>
              <a:gd name="connsiteY5-232" fmla="*/ 1521066 h 2444082"/>
              <a:gd name="connsiteX6-233" fmla="*/ 3445881 w 4401150"/>
              <a:gd name="connsiteY6-234" fmla="*/ 1482087 h 2444082"/>
              <a:gd name="connsiteX7-235" fmla="*/ 1535436 w 4401150"/>
              <a:gd name="connsiteY7-236" fmla="*/ 447579 h 2444082"/>
              <a:gd name="connsiteX8-237" fmla="*/ 25655 w 4401150"/>
              <a:gd name="connsiteY8-238" fmla="*/ 2051094 h 2444082"/>
              <a:gd name="connsiteX9-239" fmla="*/ 0 w 4401150"/>
              <a:gd name="connsiteY9-240" fmla="*/ 2063451 h 2444082"/>
              <a:gd name="connsiteX0-241" fmla="*/ 0 w 4401150"/>
              <a:gd name="connsiteY0-242" fmla="*/ 2063451 h 2444082"/>
              <a:gd name="connsiteX1-243" fmla="*/ 1785607 w 4401150"/>
              <a:gd name="connsiteY1-244" fmla="*/ 5057 h 2444082"/>
              <a:gd name="connsiteX2-245" fmla="*/ 4046111 w 4401150"/>
              <a:gd name="connsiteY2-246" fmla="*/ 1631382 h 2444082"/>
              <a:gd name="connsiteX3-247" fmla="*/ 4401150 w 4401150"/>
              <a:gd name="connsiteY3-248" fmla="*/ 1586030 h 2444082"/>
              <a:gd name="connsiteX4-249" fmla="*/ 3752478 w 4401150"/>
              <a:gd name="connsiteY4-250" fmla="*/ 2444082 h 2444082"/>
              <a:gd name="connsiteX5-251" fmla="*/ 3186053 w 4401150"/>
              <a:gd name="connsiteY5-252" fmla="*/ 1521066 h 2444082"/>
              <a:gd name="connsiteX6-253" fmla="*/ 3445881 w 4401150"/>
              <a:gd name="connsiteY6-254" fmla="*/ 1482087 h 2444082"/>
              <a:gd name="connsiteX7-255" fmla="*/ 1535436 w 4401150"/>
              <a:gd name="connsiteY7-256" fmla="*/ 447579 h 2444082"/>
              <a:gd name="connsiteX8-257" fmla="*/ 25655 w 4401150"/>
              <a:gd name="connsiteY8-258" fmla="*/ 2051094 h 2444082"/>
              <a:gd name="connsiteX9-259" fmla="*/ 0 w 4401150"/>
              <a:gd name="connsiteY9-260" fmla="*/ 2063451 h 2444082"/>
              <a:gd name="connsiteX0-261" fmla="*/ 0 w 4401150"/>
              <a:gd name="connsiteY0-262" fmla="*/ 2063451 h 2444082"/>
              <a:gd name="connsiteX1-263" fmla="*/ 1785607 w 4401150"/>
              <a:gd name="connsiteY1-264" fmla="*/ 5057 h 2444082"/>
              <a:gd name="connsiteX2-265" fmla="*/ 4046111 w 4401150"/>
              <a:gd name="connsiteY2-266" fmla="*/ 1631382 h 2444082"/>
              <a:gd name="connsiteX3-267" fmla="*/ 4401150 w 4401150"/>
              <a:gd name="connsiteY3-268" fmla="*/ 1586030 h 2444082"/>
              <a:gd name="connsiteX4-269" fmla="*/ 3752478 w 4401150"/>
              <a:gd name="connsiteY4-270" fmla="*/ 2444082 h 2444082"/>
              <a:gd name="connsiteX5-271" fmla="*/ 3115695 w 4401150"/>
              <a:gd name="connsiteY5-272" fmla="*/ 1535038 h 2444082"/>
              <a:gd name="connsiteX6-273" fmla="*/ 3445881 w 4401150"/>
              <a:gd name="connsiteY6-274" fmla="*/ 1482087 h 2444082"/>
              <a:gd name="connsiteX7-275" fmla="*/ 1535436 w 4401150"/>
              <a:gd name="connsiteY7-276" fmla="*/ 447579 h 2444082"/>
              <a:gd name="connsiteX8-277" fmla="*/ 25655 w 4401150"/>
              <a:gd name="connsiteY8-278" fmla="*/ 2051094 h 2444082"/>
              <a:gd name="connsiteX9-279" fmla="*/ 0 w 4401150"/>
              <a:gd name="connsiteY9-280" fmla="*/ 2063451 h 2444082"/>
              <a:gd name="connsiteX0-281" fmla="*/ 0 w 4401150"/>
              <a:gd name="connsiteY0-282" fmla="*/ 2071635 h 2452266"/>
              <a:gd name="connsiteX1-283" fmla="*/ 1785607 w 4401150"/>
              <a:gd name="connsiteY1-284" fmla="*/ 13241 h 2452266"/>
              <a:gd name="connsiteX2-285" fmla="*/ 4046111 w 4401150"/>
              <a:gd name="connsiteY2-286" fmla="*/ 1639566 h 2452266"/>
              <a:gd name="connsiteX3-287" fmla="*/ 4401150 w 4401150"/>
              <a:gd name="connsiteY3-288" fmla="*/ 1594214 h 2452266"/>
              <a:gd name="connsiteX4-289" fmla="*/ 3752478 w 4401150"/>
              <a:gd name="connsiteY4-290" fmla="*/ 2452266 h 2452266"/>
              <a:gd name="connsiteX5-291" fmla="*/ 3115695 w 4401150"/>
              <a:gd name="connsiteY5-292" fmla="*/ 1543222 h 2452266"/>
              <a:gd name="connsiteX6-293" fmla="*/ 3445881 w 4401150"/>
              <a:gd name="connsiteY6-294" fmla="*/ 1490271 h 2452266"/>
              <a:gd name="connsiteX7-295" fmla="*/ 1535436 w 4401150"/>
              <a:gd name="connsiteY7-296" fmla="*/ 455763 h 2452266"/>
              <a:gd name="connsiteX8-297" fmla="*/ 25655 w 4401150"/>
              <a:gd name="connsiteY8-298" fmla="*/ 2059278 h 2452266"/>
              <a:gd name="connsiteX9-299" fmla="*/ 0 w 4401150"/>
              <a:gd name="connsiteY9-300" fmla="*/ 2071635 h 2452266"/>
              <a:gd name="connsiteX0-301" fmla="*/ 0 w 4444293"/>
              <a:gd name="connsiteY0-302" fmla="*/ 1963235 h 2447810"/>
              <a:gd name="connsiteX1-303" fmla="*/ 1828750 w 4444293"/>
              <a:gd name="connsiteY1-304" fmla="*/ 8785 h 2447810"/>
              <a:gd name="connsiteX2-305" fmla="*/ 4089254 w 4444293"/>
              <a:gd name="connsiteY2-306" fmla="*/ 1635110 h 2447810"/>
              <a:gd name="connsiteX3-307" fmla="*/ 4444293 w 4444293"/>
              <a:gd name="connsiteY3-308" fmla="*/ 1589758 h 2447810"/>
              <a:gd name="connsiteX4-309" fmla="*/ 3795621 w 4444293"/>
              <a:gd name="connsiteY4-310" fmla="*/ 2447810 h 2447810"/>
              <a:gd name="connsiteX5-311" fmla="*/ 3158838 w 4444293"/>
              <a:gd name="connsiteY5-312" fmla="*/ 1538766 h 2447810"/>
              <a:gd name="connsiteX6-313" fmla="*/ 3489024 w 4444293"/>
              <a:gd name="connsiteY6-314" fmla="*/ 1485815 h 2447810"/>
              <a:gd name="connsiteX7-315" fmla="*/ 1578579 w 4444293"/>
              <a:gd name="connsiteY7-316" fmla="*/ 451307 h 2447810"/>
              <a:gd name="connsiteX8-317" fmla="*/ 68798 w 4444293"/>
              <a:gd name="connsiteY8-318" fmla="*/ 2054822 h 2447810"/>
              <a:gd name="connsiteX9-319" fmla="*/ 0 w 4444293"/>
              <a:gd name="connsiteY9-320" fmla="*/ 1963235 h 2447810"/>
              <a:gd name="connsiteX0-321" fmla="*/ 0 w 4444293"/>
              <a:gd name="connsiteY0-322" fmla="*/ 1963235 h 2447810"/>
              <a:gd name="connsiteX1-323" fmla="*/ 1828750 w 4444293"/>
              <a:gd name="connsiteY1-324" fmla="*/ 8785 h 2447810"/>
              <a:gd name="connsiteX2-325" fmla="*/ 4089254 w 4444293"/>
              <a:gd name="connsiteY2-326" fmla="*/ 1635110 h 2447810"/>
              <a:gd name="connsiteX3-327" fmla="*/ 4444293 w 4444293"/>
              <a:gd name="connsiteY3-328" fmla="*/ 1589758 h 2447810"/>
              <a:gd name="connsiteX4-329" fmla="*/ 3795621 w 4444293"/>
              <a:gd name="connsiteY4-330" fmla="*/ 2447810 h 2447810"/>
              <a:gd name="connsiteX5-331" fmla="*/ 3158838 w 4444293"/>
              <a:gd name="connsiteY5-332" fmla="*/ 1538766 h 2447810"/>
              <a:gd name="connsiteX6-333" fmla="*/ 3489024 w 4444293"/>
              <a:gd name="connsiteY6-334" fmla="*/ 1485815 h 2447810"/>
              <a:gd name="connsiteX7-335" fmla="*/ 1578579 w 4444293"/>
              <a:gd name="connsiteY7-336" fmla="*/ 451307 h 2447810"/>
              <a:gd name="connsiteX8-337" fmla="*/ 21240 w 4444293"/>
              <a:gd name="connsiteY8-338" fmla="*/ 2013636 h 2447810"/>
              <a:gd name="connsiteX9-339" fmla="*/ 0 w 4444293"/>
              <a:gd name="connsiteY9-340" fmla="*/ 1963235 h 2447810"/>
              <a:gd name="connsiteX0-341" fmla="*/ 0 w 4453850"/>
              <a:gd name="connsiteY0-342" fmla="*/ 1825241 h 2442932"/>
              <a:gd name="connsiteX1-343" fmla="*/ 1838307 w 4453850"/>
              <a:gd name="connsiteY1-344" fmla="*/ 3907 h 2442932"/>
              <a:gd name="connsiteX2-345" fmla="*/ 4098811 w 4453850"/>
              <a:gd name="connsiteY2-346" fmla="*/ 1630232 h 2442932"/>
              <a:gd name="connsiteX3-347" fmla="*/ 4453850 w 4453850"/>
              <a:gd name="connsiteY3-348" fmla="*/ 1584880 h 2442932"/>
              <a:gd name="connsiteX4-349" fmla="*/ 3805178 w 4453850"/>
              <a:gd name="connsiteY4-350" fmla="*/ 2442932 h 2442932"/>
              <a:gd name="connsiteX5-351" fmla="*/ 3168395 w 4453850"/>
              <a:gd name="connsiteY5-352" fmla="*/ 1533888 h 2442932"/>
              <a:gd name="connsiteX6-353" fmla="*/ 3498581 w 4453850"/>
              <a:gd name="connsiteY6-354" fmla="*/ 1480937 h 2442932"/>
              <a:gd name="connsiteX7-355" fmla="*/ 1588136 w 4453850"/>
              <a:gd name="connsiteY7-356" fmla="*/ 446429 h 2442932"/>
              <a:gd name="connsiteX8-357" fmla="*/ 30797 w 4453850"/>
              <a:gd name="connsiteY8-358" fmla="*/ 2008758 h 2442932"/>
              <a:gd name="connsiteX9-359" fmla="*/ 0 w 4453850"/>
              <a:gd name="connsiteY9-360" fmla="*/ 1825241 h 244293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453850" h="2442932">
                <a:moveTo>
                  <a:pt x="0" y="1825241"/>
                </a:moveTo>
                <a:cubicBezTo>
                  <a:pt x="0" y="790348"/>
                  <a:pt x="1155172" y="36408"/>
                  <a:pt x="1838307" y="3907"/>
                </a:cubicBezTo>
                <a:cubicBezTo>
                  <a:pt x="2521442" y="-28594"/>
                  <a:pt x="3682478" y="110528"/>
                  <a:pt x="4098811" y="1630232"/>
                </a:cubicBezTo>
                <a:lnTo>
                  <a:pt x="4453850" y="1584880"/>
                </a:lnTo>
                <a:lnTo>
                  <a:pt x="3805178" y="2442932"/>
                </a:lnTo>
                <a:cubicBezTo>
                  <a:pt x="3456541" y="1896972"/>
                  <a:pt x="3357203" y="1841560"/>
                  <a:pt x="3168395" y="1533888"/>
                </a:cubicBezTo>
                <a:lnTo>
                  <a:pt x="3498581" y="1480937"/>
                </a:lnTo>
                <a:cubicBezTo>
                  <a:pt x="3222266" y="831385"/>
                  <a:pt x="2279792" y="305430"/>
                  <a:pt x="1588136" y="446429"/>
                </a:cubicBezTo>
                <a:cubicBezTo>
                  <a:pt x="896480" y="587428"/>
                  <a:pt x="30797" y="1302876"/>
                  <a:pt x="30797" y="2008758"/>
                </a:cubicBezTo>
                <a:lnTo>
                  <a:pt x="0" y="1825241"/>
                </a:lnTo>
                <a:close/>
              </a:path>
            </a:pathLst>
          </a:custGeom>
          <a:gradFill>
            <a:gsLst>
              <a:gs pos="56000">
                <a:schemeClr val="tx1">
                  <a:lumMod val="50000"/>
                  <a:lumOff val="50000"/>
                </a:schemeClr>
              </a:gs>
              <a:gs pos="0">
                <a:schemeClr val="tx1">
                  <a:lumMod val="95000"/>
                  <a:lumOff val="5000"/>
                </a:schemeClr>
              </a:gs>
              <a:gs pos="100000">
                <a:schemeClr val="tx1">
                  <a:lumMod val="95000"/>
                  <a:lumOff val="5000"/>
                </a:schemeClr>
              </a:gs>
            </a:gsLst>
            <a:lin ang="0" scaled="1"/>
          </a:gradFill>
          <a:ln w="6350">
            <a:noFill/>
          </a:ln>
          <a:scene3d>
            <a:camera prst="orthographicFront"/>
            <a:lightRig rig="flat" dir="t">
              <a:rot lat="0" lon="0" rev="11400000"/>
            </a:lightRig>
          </a:scene3d>
          <a:sp3d extrusionH="1270000" contourW="12700" prstMaterial="softEdge">
            <a:bevelB h="107950"/>
            <a:extrusionClr>
              <a:schemeClr val="accent1">
                <a:lumMod val="50000"/>
              </a:schemeClr>
            </a:extrusionClr>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ea typeface="+mj-ea"/>
            </a:endParaRPr>
          </a:p>
        </p:txBody>
      </p:sp>
      <p:sp>
        <p:nvSpPr>
          <p:cNvPr id="8" name="MH_Other_4"/>
          <p:cNvSpPr/>
          <p:nvPr>
            <p:custDataLst>
              <p:tags r:id="rId4"/>
            </p:custDataLst>
          </p:nvPr>
        </p:nvSpPr>
        <p:spPr>
          <a:xfrm rot="14528313" flipV="1">
            <a:off x="3107051" y="2732499"/>
            <a:ext cx="3268600" cy="2252412"/>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358007" h="2252398">
                <a:moveTo>
                  <a:pt x="0" y="2079403"/>
                </a:moveTo>
                <a:cubicBezTo>
                  <a:pt x="0" y="1044510"/>
                  <a:pt x="761085" y="167154"/>
                  <a:pt x="1785607" y="21009"/>
                </a:cubicBezTo>
                <a:cubicBezTo>
                  <a:pt x="2810128" y="-125136"/>
                  <a:pt x="3786171" y="504424"/>
                  <a:pt x="4075532" y="1498040"/>
                </a:cubicBezTo>
                <a:lnTo>
                  <a:pt x="4358007" y="1498039"/>
                </a:lnTo>
                <a:lnTo>
                  <a:pt x="3849072" y="2252398"/>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ln/>
        </p:spPr>
        <p:style>
          <a:lnRef idx="0">
            <a:schemeClr val="accent6"/>
          </a:lnRef>
          <a:fillRef idx="3">
            <a:schemeClr val="accent6"/>
          </a:fillRef>
          <a:effectRef idx="3">
            <a:schemeClr val="accent6"/>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ea typeface="+mj-ea"/>
            </a:endParaRPr>
          </a:p>
        </p:txBody>
      </p:sp>
      <p:cxnSp>
        <p:nvCxnSpPr>
          <p:cNvPr id="9" name="MH_Other_6"/>
          <p:cNvCxnSpPr/>
          <p:nvPr>
            <p:custDataLst>
              <p:tags r:id="rId5"/>
            </p:custDataLst>
          </p:nvPr>
        </p:nvCxnSpPr>
        <p:spPr>
          <a:xfrm>
            <a:off x="7279539" y="2957618"/>
            <a:ext cx="2950649"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MH_Other_7"/>
          <p:cNvSpPr txBox="1">
            <a:spLocks noChangeArrowheads="1"/>
          </p:cNvSpPr>
          <p:nvPr>
            <p:custDataLst>
              <p:tags r:id="rId6"/>
            </p:custDataLst>
          </p:nvPr>
        </p:nvSpPr>
        <p:spPr bwMode="auto">
          <a:xfrm>
            <a:off x="7176770" y="2464331"/>
            <a:ext cx="486836" cy="554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en-US" sz="3000" dirty="0">
                <a:solidFill>
                  <a:schemeClr val="accent2">
                    <a:lumMod val="75000"/>
                  </a:schemeClr>
                </a:solidFill>
                <a:latin typeface="+mn-lt"/>
                <a:ea typeface="+mj-ea"/>
              </a:rPr>
              <a:t>1</a:t>
            </a:r>
          </a:p>
        </p:txBody>
      </p:sp>
      <p:sp>
        <p:nvSpPr>
          <p:cNvPr id="16" name="MH_Other_8"/>
          <p:cNvSpPr txBox="1">
            <a:spLocks noChangeArrowheads="1"/>
          </p:cNvSpPr>
          <p:nvPr>
            <p:custDataLst>
              <p:tags r:id="rId7"/>
            </p:custDataLst>
          </p:nvPr>
        </p:nvSpPr>
        <p:spPr bwMode="auto">
          <a:xfrm>
            <a:off x="1702310" y="3646746"/>
            <a:ext cx="486836" cy="554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en-US" altLang="zh-CN" sz="3000" dirty="0">
                <a:solidFill>
                  <a:schemeClr val="accent6"/>
                </a:solidFill>
                <a:latin typeface="+mn-lt"/>
                <a:ea typeface="+mj-ea"/>
              </a:rPr>
              <a:t>2</a:t>
            </a:r>
            <a:endParaRPr lang="zh-CN" altLang="en-US" sz="3000" dirty="0">
              <a:solidFill>
                <a:schemeClr val="accent6"/>
              </a:solidFill>
              <a:latin typeface="+mn-lt"/>
              <a:ea typeface="+mj-ea"/>
            </a:endParaRPr>
          </a:p>
        </p:txBody>
      </p:sp>
      <p:cxnSp>
        <p:nvCxnSpPr>
          <p:cNvPr id="17" name="MH_Other_5"/>
          <p:cNvCxnSpPr/>
          <p:nvPr>
            <p:custDataLst>
              <p:tags r:id="rId8"/>
            </p:custDataLst>
          </p:nvPr>
        </p:nvCxnSpPr>
        <p:spPr>
          <a:xfrm>
            <a:off x="1791211" y="4123643"/>
            <a:ext cx="2952767" cy="0"/>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75457" name="Rectangle 1"/>
          <p:cNvSpPr>
            <a:spLocks noChangeArrowheads="1"/>
          </p:cNvSpPr>
          <p:nvPr/>
        </p:nvSpPr>
        <p:spPr bwMode="auto">
          <a:xfrm>
            <a:off x="3502025" y="1727200"/>
            <a:ext cx="5139690" cy="400050"/>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269875" algn="ctr" defTabSz="914400" rtl="0" eaLnBrk="1" fontAlgn="base" latinLnBrk="0" hangingPunct="1">
              <a:lnSpc>
                <a:spcPct val="100000"/>
              </a:lnSpc>
              <a:spcBef>
                <a:spcPct val="0"/>
              </a:spcBef>
              <a:spcAft>
                <a:spcPct val="0"/>
              </a:spcAft>
              <a:buClrTx/>
              <a:buSzTx/>
              <a:buFontTx/>
              <a:buNone/>
            </a:pPr>
            <a:r>
              <a:rPr sz="2000" dirty="0" err="1">
                <a:solidFill>
                  <a:schemeClr val="tx1"/>
                </a:solidFill>
                <a:ea typeface="+mj-ea"/>
                <a:sym typeface="+mn-ea"/>
              </a:rPr>
              <a:t>模块组装成程序时有两种方法</a:t>
            </a:r>
            <a:endParaRPr kumimoji="0" lang="en-US" sz="2000" i="0" u="none" strike="noStrike" cap="none" normalizeH="0" dirty="0">
              <a:ln>
                <a:noFill/>
              </a:ln>
              <a:solidFill>
                <a:schemeClr val="tx1"/>
              </a:solidFill>
              <a:effectLst/>
              <a:ea typeface="+mj-ea"/>
              <a:cs typeface="宋体" panose="02010600030101010101" pitchFamily="2" charset="-122"/>
              <a:sym typeface="+mn-ea"/>
            </a:endParaRPr>
          </a:p>
        </p:txBody>
      </p:sp>
      <p:sp>
        <p:nvSpPr>
          <p:cNvPr id="28" name="文本框 27">
            <a:extLst>
              <a:ext uri="{FF2B5EF4-FFF2-40B4-BE49-F238E27FC236}">
                <a16:creationId xmlns:a16="http://schemas.microsoft.com/office/drawing/2014/main" id="{D5BB11C1-5463-C414-07EB-122F84D095E3}"/>
              </a:ext>
            </a:extLst>
          </p:cNvPr>
          <p:cNvSpPr txBox="1"/>
          <p:nvPr/>
        </p:nvSpPr>
        <p:spPr>
          <a:xfrm>
            <a:off x="1141351" y="4209169"/>
            <a:ext cx="3600000" cy="2031325"/>
          </a:xfrm>
          <a:prstGeom prst="rect">
            <a:avLst/>
          </a:prstGeom>
          <a:noFill/>
        </p:spPr>
        <p:txBody>
          <a:bodyPr wrap="square" rtlCol="0">
            <a:spAutoFit/>
          </a:bodyPr>
          <a:lstStyle/>
          <a:p>
            <a:pPr algn="just"/>
            <a:r>
              <a:rPr lang="zh-CN" altLang="en-US" dirty="0">
                <a:sym typeface="+mn-ea"/>
              </a:rPr>
              <a:t>把下一个要测试的模块同已经测试好的那些模块结合起来进行测试，测试完以后再把下一个应该测试的模块结合进来测试。这种每次增加一个模块的方法称为</a:t>
            </a:r>
            <a:r>
              <a:rPr lang="zh-CN" altLang="en-US" dirty="0">
                <a:latin typeface="+mj-ea"/>
                <a:ea typeface="+mj-ea"/>
                <a:sym typeface="+mn-ea"/>
              </a:rPr>
              <a:t>渐增式</a:t>
            </a:r>
            <a:r>
              <a:rPr lang="zh-CN" altLang="en-US" dirty="0">
                <a:sym typeface="+mn-ea"/>
              </a:rPr>
              <a:t>测试，这种方法实际上同时完成单元测试和集成测试。</a:t>
            </a:r>
            <a:endParaRPr lang="zh-CN" altLang="en-US" dirty="0"/>
          </a:p>
        </p:txBody>
      </p:sp>
      <p:sp>
        <p:nvSpPr>
          <p:cNvPr id="30" name="文本框 29">
            <a:extLst>
              <a:ext uri="{FF2B5EF4-FFF2-40B4-BE49-F238E27FC236}">
                <a16:creationId xmlns:a16="http://schemas.microsoft.com/office/drawing/2014/main" id="{C1978F3A-C1F3-2D49-85A6-402FBDF91BD7}"/>
              </a:ext>
            </a:extLst>
          </p:cNvPr>
          <p:cNvSpPr txBox="1"/>
          <p:nvPr/>
        </p:nvSpPr>
        <p:spPr>
          <a:xfrm>
            <a:off x="7279539" y="3127999"/>
            <a:ext cx="3600000" cy="1200329"/>
          </a:xfrm>
          <a:prstGeom prst="rect">
            <a:avLst/>
          </a:prstGeom>
          <a:noFill/>
        </p:spPr>
        <p:txBody>
          <a:bodyPr wrap="square" rtlCol="0">
            <a:spAutoFit/>
          </a:bodyPr>
          <a:lstStyle/>
          <a:p>
            <a:pPr algn="just"/>
            <a:r>
              <a:rPr lang="zh-CN" altLang="en-US" dirty="0">
                <a:sym typeface="+mn-ea"/>
              </a:rPr>
              <a:t>先分别测试每个模块，再把所有模块按设计要求放在一起结合成所要的程序，这种方法称为非渐增式测试；</a:t>
            </a:r>
            <a:endParaRPr lang="zh-CN" altLang="en-US" dirty="0"/>
          </a:p>
        </p:txBody>
      </p:sp>
    </p:spTree>
  </p:cSld>
  <p:clrMapOvr>
    <a:masterClrMapping/>
  </p:clrMapOvr>
  <p:transition>
    <p:wedg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11520000" cy="535531"/>
          </a:xfrm>
        </p:spPr>
        <p:txBody>
          <a:bodyPr/>
          <a:lstStyle/>
          <a:p>
            <a:r>
              <a:rPr lang="en-US" dirty="0"/>
              <a:t>4.4 </a:t>
            </a:r>
            <a:r>
              <a:rPr lang="zh-CN" altLang="en-US" dirty="0"/>
              <a:t>软件测试步骤</a:t>
            </a:r>
          </a:p>
        </p:txBody>
      </p:sp>
      <p:sp>
        <p:nvSpPr>
          <p:cNvPr id="15" name="文本占位符 14">
            <a:extLst>
              <a:ext uri="{FF2B5EF4-FFF2-40B4-BE49-F238E27FC236}">
                <a16:creationId xmlns:a16="http://schemas.microsoft.com/office/drawing/2014/main" id="{9C91269B-915C-7255-888C-DED3DA4E655B}"/>
              </a:ext>
            </a:extLst>
          </p:cNvPr>
          <p:cNvSpPr>
            <a:spLocks noGrp="1"/>
          </p:cNvSpPr>
          <p:nvPr>
            <p:ph type="body" sz="quarter" idx="10"/>
          </p:nvPr>
        </p:nvSpPr>
        <p:spPr>
          <a:xfrm>
            <a:off x="696000" y="1322832"/>
            <a:ext cx="11160000" cy="400110"/>
          </a:xfrm>
        </p:spPr>
        <p:txBody>
          <a:bodyPr/>
          <a:lstStyle/>
          <a:p>
            <a:r>
              <a:rPr lang="en-US" altLang="zh-CN" dirty="0"/>
              <a:t>4.4.2 </a:t>
            </a:r>
            <a:r>
              <a:rPr lang="zh-CN" altLang="en-US" dirty="0"/>
              <a:t>集成测试</a:t>
            </a:r>
          </a:p>
        </p:txBody>
      </p:sp>
      <p:sp>
        <p:nvSpPr>
          <p:cNvPr id="19" name="文本占位符 18">
            <a:extLst>
              <a:ext uri="{FF2B5EF4-FFF2-40B4-BE49-F238E27FC236}">
                <a16:creationId xmlns:a16="http://schemas.microsoft.com/office/drawing/2014/main" id="{6DE1C5B4-3F38-B9A3-A065-2E8163D09D6B}"/>
              </a:ext>
            </a:extLst>
          </p:cNvPr>
          <p:cNvSpPr>
            <a:spLocks noGrp="1"/>
          </p:cNvSpPr>
          <p:nvPr>
            <p:ph type="body" sz="quarter" idx="11"/>
          </p:nvPr>
        </p:nvSpPr>
        <p:spPr/>
        <p:txBody>
          <a:bodyPr/>
          <a:lstStyle/>
          <a:p>
            <a:endParaRPr lang="zh-CN" altLang="en-US"/>
          </a:p>
        </p:txBody>
      </p:sp>
      <p:sp>
        <p:nvSpPr>
          <p:cNvPr id="5" name="MH_Other_1"/>
          <p:cNvSpPr/>
          <p:nvPr>
            <p:custDataLst>
              <p:tags r:id="rId1"/>
            </p:custDataLst>
          </p:nvPr>
        </p:nvSpPr>
        <p:spPr>
          <a:xfrm>
            <a:off x="2646680" y="3066415"/>
            <a:ext cx="6797040" cy="892175"/>
          </a:xfrm>
          <a:custGeom>
            <a:avLst/>
            <a:gdLst>
              <a:gd name="connsiteX0" fmla="*/ 0 w 6192688"/>
              <a:gd name="connsiteY0" fmla="*/ 0 h 1261899"/>
              <a:gd name="connsiteX1" fmla="*/ 1656183 w 6192688"/>
              <a:gd name="connsiteY1" fmla="*/ 0 h 1261899"/>
              <a:gd name="connsiteX2" fmla="*/ 4179979 w 6192688"/>
              <a:gd name="connsiteY2" fmla="*/ 0 h 1261899"/>
              <a:gd name="connsiteX3" fmla="*/ 6192688 w 6192688"/>
              <a:gd name="connsiteY3" fmla="*/ 0 h 1261899"/>
              <a:gd name="connsiteX4" fmla="*/ 6192688 w 6192688"/>
              <a:gd name="connsiteY4" fmla="*/ 72008 h 1261899"/>
              <a:gd name="connsiteX5" fmla="*/ 4176343 w 6192688"/>
              <a:gd name="connsiteY5" fmla="*/ 72008 h 1261899"/>
              <a:gd name="connsiteX6" fmla="*/ 2918081 w 6192688"/>
              <a:gd name="connsiteY6" fmla="*/ 1261899 h 1261899"/>
              <a:gd name="connsiteX7" fmla="*/ 1659819 w 6192688"/>
              <a:gd name="connsiteY7" fmla="*/ 72008 h 1261899"/>
              <a:gd name="connsiteX8" fmla="*/ 0 w 6192688"/>
              <a:gd name="connsiteY8" fmla="*/ 72008 h 1261899"/>
              <a:gd name="connsiteX9" fmla="*/ 91440 w 6192688"/>
              <a:gd name="connsiteY9" fmla="*/ 91440 h 1261899"/>
              <a:gd name="connsiteX0-1" fmla="*/ 1656183 w 6192688"/>
              <a:gd name="connsiteY0-2" fmla="*/ 0 h 1261899"/>
              <a:gd name="connsiteX1-3" fmla="*/ 4179979 w 6192688"/>
              <a:gd name="connsiteY1-4" fmla="*/ 0 h 1261899"/>
              <a:gd name="connsiteX2-5" fmla="*/ 6192688 w 6192688"/>
              <a:gd name="connsiteY2-6" fmla="*/ 0 h 1261899"/>
              <a:gd name="connsiteX3-7" fmla="*/ 6192688 w 6192688"/>
              <a:gd name="connsiteY3-8" fmla="*/ 72008 h 1261899"/>
              <a:gd name="connsiteX4-9" fmla="*/ 4176343 w 6192688"/>
              <a:gd name="connsiteY4-10" fmla="*/ 72008 h 1261899"/>
              <a:gd name="connsiteX5-11" fmla="*/ 2918081 w 6192688"/>
              <a:gd name="connsiteY5-12" fmla="*/ 1261899 h 1261899"/>
              <a:gd name="connsiteX6-13" fmla="*/ 1659819 w 6192688"/>
              <a:gd name="connsiteY6-14" fmla="*/ 72008 h 1261899"/>
              <a:gd name="connsiteX7-15" fmla="*/ 0 w 6192688"/>
              <a:gd name="connsiteY7-16" fmla="*/ 72008 h 1261899"/>
              <a:gd name="connsiteX8-17" fmla="*/ 91440 w 6192688"/>
              <a:gd name="connsiteY8-18" fmla="*/ 91440 h 1261899"/>
              <a:gd name="connsiteX0-19" fmla="*/ 4179979 w 6192688"/>
              <a:gd name="connsiteY0-20" fmla="*/ 0 h 1261899"/>
              <a:gd name="connsiteX1-21" fmla="*/ 6192688 w 6192688"/>
              <a:gd name="connsiteY1-22" fmla="*/ 0 h 1261899"/>
              <a:gd name="connsiteX2-23" fmla="*/ 6192688 w 6192688"/>
              <a:gd name="connsiteY2-24" fmla="*/ 72008 h 1261899"/>
              <a:gd name="connsiteX3-25" fmla="*/ 4176343 w 6192688"/>
              <a:gd name="connsiteY3-26" fmla="*/ 72008 h 1261899"/>
              <a:gd name="connsiteX4-27" fmla="*/ 2918081 w 6192688"/>
              <a:gd name="connsiteY4-28" fmla="*/ 1261899 h 1261899"/>
              <a:gd name="connsiteX5-29" fmla="*/ 1659819 w 6192688"/>
              <a:gd name="connsiteY5-30" fmla="*/ 72008 h 1261899"/>
              <a:gd name="connsiteX6-31" fmla="*/ 0 w 6192688"/>
              <a:gd name="connsiteY6-32" fmla="*/ 72008 h 1261899"/>
              <a:gd name="connsiteX7-33" fmla="*/ 91440 w 6192688"/>
              <a:gd name="connsiteY7-34" fmla="*/ 91440 h 1261899"/>
              <a:gd name="connsiteX0-35" fmla="*/ 6192688 w 6192688"/>
              <a:gd name="connsiteY0-36" fmla="*/ 0 h 1261899"/>
              <a:gd name="connsiteX1-37" fmla="*/ 6192688 w 6192688"/>
              <a:gd name="connsiteY1-38" fmla="*/ 72008 h 1261899"/>
              <a:gd name="connsiteX2-39" fmla="*/ 4176343 w 6192688"/>
              <a:gd name="connsiteY2-40" fmla="*/ 72008 h 1261899"/>
              <a:gd name="connsiteX3-41" fmla="*/ 2918081 w 6192688"/>
              <a:gd name="connsiteY3-42" fmla="*/ 1261899 h 1261899"/>
              <a:gd name="connsiteX4-43" fmla="*/ 1659819 w 6192688"/>
              <a:gd name="connsiteY4-44" fmla="*/ 72008 h 1261899"/>
              <a:gd name="connsiteX5-45" fmla="*/ 0 w 6192688"/>
              <a:gd name="connsiteY5-46" fmla="*/ 72008 h 1261899"/>
              <a:gd name="connsiteX6-47" fmla="*/ 91440 w 6192688"/>
              <a:gd name="connsiteY6-48" fmla="*/ 91440 h 1261899"/>
              <a:gd name="connsiteX0-49" fmla="*/ 6192688 w 6192688"/>
              <a:gd name="connsiteY0-50" fmla="*/ 7233 h 1197124"/>
              <a:gd name="connsiteX1-51" fmla="*/ 4176343 w 6192688"/>
              <a:gd name="connsiteY1-52" fmla="*/ 7233 h 1197124"/>
              <a:gd name="connsiteX2-53" fmla="*/ 2918081 w 6192688"/>
              <a:gd name="connsiteY2-54" fmla="*/ 1197124 h 1197124"/>
              <a:gd name="connsiteX3-55" fmla="*/ 1659819 w 6192688"/>
              <a:gd name="connsiteY3-56" fmla="*/ 7233 h 1197124"/>
              <a:gd name="connsiteX4-57" fmla="*/ 0 w 6192688"/>
              <a:gd name="connsiteY4-58" fmla="*/ 7233 h 1197124"/>
              <a:gd name="connsiteX5-59" fmla="*/ 91440 w 6192688"/>
              <a:gd name="connsiteY5-60" fmla="*/ 26665 h 1197124"/>
              <a:gd name="connsiteX0-61" fmla="*/ 6101248 w 6101248"/>
              <a:gd name="connsiteY0-62" fmla="*/ 0 h 1189891"/>
              <a:gd name="connsiteX1-63" fmla="*/ 4084903 w 6101248"/>
              <a:gd name="connsiteY1-64" fmla="*/ 0 h 1189891"/>
              <a:gd name="connsiteX2-65" fmla="*/ 2826641 w 6101248"/>
              <a:gd name="connsiteY2-66" fmla="*/ 1189891 h 1189891"/>
              <a:gd name="connsiteX3-67" fmla="*/ 1568379 w 6101248"/>
              <a:gd name="connsiteY3-68" fmla="*/ 0 h 1189891"/>
              <a:gd name="connsiteX4-69" fmla="*/ 0 w 6101248"/>
              <a:gd name="connsiteY4-70" fmla="*/ 19432 h 1189891"/>
              <a:gd name="connsiteX0-71" fmla="*/ 6144791 w 6144791"/>
              <a:gd name="connsiteY0-72" fmla="*/ 0 h 1189891"/>
              <a:gd name="connsiteX1-73" fmla="*/ 4128446 w 6144791"/>
              <a:gd name="connsiteY1-74" fmla="*/ 0 h 1189891"/>
              <a:gd name="connsiteX2-75" fmla="*/ 2870184 w 6144791"/>
              <a:gd name="connsiteY2-76" fmla="*/ 1189891 h 1189891"/>
              <a:gd name="connsiteX3-77" fmla="*/ 1611922 w 6144791"/>
              <a:gd name="connsiteY3-78" fmla="*/ 0 h 1189891"/>
              <a:gd name="connsiteX4-79" fmla="*/ 0 w 6144791"/>
              <a:gd name="connsiteY4-80" fmla="*/ 4918 h 1189891"/>
              <a:gd name="connsiteX0-81" fmla="*/ 9163763 w 9163763"/>
              <a:gd name="connsiteY0-82" fmla="*/ 14515 h 1189891"/>
              <a:gd name="connsiteX1-83" fmla="*/ 4128446 w 9163763"/>
              <a:gd name="connsiteY1-84" fmla="*/ 0 h 1189891"/>
              <a:gd name="connsiteX2-85" fmla="*/ 2870184 w 9163763"/>
              <a:gd name="connsiteY2-86" fmla="*/ 1189891 h 1189891"/>
              <a:gd name="connsiteX3-87" fmla="*/ 1611922 w 9163763"/>
              <a:gd name="connsiteY3-88" fmla="*/ 0 h 1189891"/>
              <a:gd name="connsiteX4-89" fmla="*/ 0 w 9163763"/>
              <a:gd name="connsiteY4-90" fmla="*/ 4918 h 1189891"/>
              <a:gd name="connsiteX0-91" fmla="*/ 5938570 w 5938570"/>
              <a:gd name="connsiteY0-92" fmla="*/ 14516 h 1189891"/>
              <a:gd name="connsiteX1-93" fmla="*/ 4128446 w 5938570"/>
              <a:gd name="connsiteY1-94" fmla="*/ 0 h 1189891"/>
              <a:gd name="connsiteX2-95" fmla="*/ 2870184 w 5938570"/>
              <a:gd name="connsiteY2-96" fmla="*/ 1189891 h 1189891"/>
              <a:gd name="connsiteX3-97" fmla="*/ 1611922 w 5938570"/>
              <a:gd name="connsiteY3-98" fmla="*/ 0 h 1189891"/>
              <a:gd name="connsiteX4-99" fmla="*/ 0 w 5938570"/>
              <a:gd name="connsiteY4-100" fmla="*/ 4918 h 118989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938570" h="1189891">
                <a:moveTo>
                  <a:pt x="5938570" y="14516"/>
                </a:moveTo>
                <a:lnTo>
                  <a:pt x="4128446" y="0"/>
                </a:lnTo>
                <a:cubicBezTo>
                  <a:pt x="4092690" y="663472"/>
                  <a:pt x="3542913" y="1189891"/>
                  <a:pt x="2870184" y="1189891"/>
                </a:cubicBezTo>
                <a:cubicBezTo>
                  <a:pt x="2197455" y="1189891"/>
                  <a:pt x="1647677" y="663471"/>
                  <a:pt x="1611922" y="0"/>
                </a:cubicBezTo>
                <a:lnTo>
                  <a:pt x="0" y="4918"/>
                </a:lnTo>
              </a:path>
            </a:pathLst>
          </a:custGeom>
          <a:noFill/>
          <a:ln w="76200" cmpd="thinThick">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dirty="0">
              <a:solidFill>
                <a:srgbClr val="FFFFFF"/>
              </a:solidFill>
              <a:latin typeface="Times New Roman" panose="02020603050405020304" pitchFamily="18" charset="0"/>
            </a:endParaRPr>
          </a:p>
        </p:txBody>
      </p:sp>
      <p:sp>
        <p:nvSpPr>
          <p:cNvPr id="9" name="MH_Title_1"/>
          <p:cNvSpPr/>
          <p:nvPr>
            <p:custDataLst>
              <p:tags r:id="rId2"/>
            </p:custDataLst>
          </p:nvPr>
        </p:nvSpPr>
        <p:spPr>
          <a:xfrm>
            <a:off x="4762500" y="2164715"/>
            <a:ext cx="2395220" cy="1565275"/>
          </a:xfrm>
          <a:prstGeom prst="ellipse">
            <a:avLst/>
          </a:prstGeom>
          <a:solidFill>
            <a:schemeClr val="accent5">
              <a:lumMod val="60000"/>
              <a:lumOff val="40000"/>
            </a:schemeClr>
          </a:solidFill>
          <a:ln w="127000" cmpd="thinThick">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z="3200" dirty="0">
                <a:solidFill>
                  <a:schemeClr val="tx1"/>
                </a:solidFill>
                <a:latin typeface="+mj-ea"/>
                <a:ea typeface="+mj-ea"/>
              </a:rPr>
              <a:t>集成测试</a:t>
            </a:r>
          </a:p>
        </p:txBody>
      </p:sp>
      <p:sp>
        <p:nvSpPr>
          <p:cNvPr id="10" name="MH_SubTitle_1"/>
          <p:cNvSpPr/>
          <p:nvPr>
            <p:custDataLst>
              <p:tags r:id="rId3"/>
            </p:custDataLst>
          </p:nvPr>
        </p:nvSpPr>
        <p:spPr>
          <a:xfrm>
            <a:off x="1728470" y="2677160"/>
            <a:ext cx="2578100" cy="709930"/>
          </a:xfrm>
          <a:prstGeom prst="roundRect">
            <a:avLst>
              <a:gd name="adj" fmla="val 30130"/>
            </a:avLst>
          </a:prstGeom>
          <a:ln/>
        </p:spPr>
        <p:style>
          <a:lnRef idx="0">
            <a:schemeClr val="accent6"/>
          </a:lnRef>
          <a:fillRef idx="3">
            <a:schemeClr val="accent6"/>
          </a:fillRef>
          <a:effectRef idx="3">
            <a:schemeClr val="accent6"/>
          </a:effectRef>
          <a:fontRef idx="minor">
            <a:schemeClr val="lt1"/>
          </a:fontRef>
        </p:style>
        <p:txBody>
          <a:bodyPr lIns="0" tIns="0" rIns="0" bIns="0" anchor="ctr">
            <a:normAutofit/>
          </a:bodyPr>
          <a:lstStyle/>
          <a:p>
            <a:pPr algn="ctr">
              <a:defRPr/>
            </a:pPr>
            <a:r>
              <a:rPr lang="zh-CN" altLang="en-US" dirty="0">
                <a:latin typeface="+mj-ea"/>
                <a:ea typeface="+mj-ea"/>
              </a:rPr>
              <a:t>非渐增式</a:t>
            </a:r>
          </a:p>
        </p:txBody>
      </p:sp>
      <p:sp>
        <p:nvSpPr>
          <p:cNvPr id="12" name="MH_SubTitle_1"/>
          <p:cNvSpPr/>
          <p:nvPr>
            <p:custDataLst>
              <p:tags r:id="rId4"/>
            </p:custDataLst>
          </p:nvPr>
        </p:nvSpPr>
        <p:spPr>
          <a:xfrm>
            <a:off x="7586345" y="2677160"/>
            <a:ext cx="2643505" cy="709930"/>
          </a:xfrm>
          <a:prstGeom prst="roundRect">
            <a:avLst>
              <a:gd name="adj" fmla="val 36824"/>
            </a:avLst>
          </a:prstGeom>
          <a:ln/>
        </p:spPr>
        <p:style>
          <a:lnRef idx="0">
            <a:schemeClr val="accent2"/>
          </a:lnRef>
          <a:fillRef idx="3">
            <a:schemeClr val="accent2"/>
          </a:fillRef>
          <a:effectRef idx="3">
            <a:schemeClr val="accent2"/>
          </a:effectRef>
          <a:fontRef idx="minor">
            <a:schemeClr val="lt1"/>
          </a:fontRef>
        </p:style>
        <p:txBody>
          <a:bodyPr lIns="0" tIns="0" rIns="0" bIns="0" anchor="ctr">
            <a:normAutofit/>
          </a:bodyPr>
          <a:lstStyle/>
          <a:p>
            <a:pPr algn="ctr">
              <a:defRPr/>
            </a:pPr>
            <a:r>
              <a:rPr lang="zh-CN" altLang="en-US" dirty="0">
                <a:latin typeface="+mj-ea"/>
                <a:ea typeface="+mj-ea"/>
                <a:sym typeface="+mn-ea"/>
              </a:rPr>
              <a:t>渐增式</a:t>
            </a:r>
            <a:endParaRPr lang="zh-CN" altLang="en-US" dirty="0">
              <a:latin typeface="+mj-ea"/>
              <a:ea typeface="+mj-ea"/>
            </a:endParaRPr>
          </a:p>
        </p:txBody>
      </p:sp>
      <p:sp>
        <p:nvSpPr>
          <p:cNvPr id="20" name="文本框 19">
            <a:extLst>
              <a:ext uri="{FF2B5EF4-FFF2-40B4-BE49-F238E27FC236}">
                <a16:creationId xmlns:a16="http://schemas.microsoft.com/office/drawing/2014/main" id="{09C2A295-B001-5B9C-AB04-EEBD424719CC}"/>
              </a:ext>
            </a:extLst>
          </p:cNvPr>
          <p:cNvSpPr txBox="1"/>
          <p:nvPr/>
        </p:nvSpPr>
        <p:spPr>
          <a:xfrm>
            <a:off x="706570" y="3470911"/>
            <a:ext cx="3600000" cy="1200329"/>
          </a:xfrm>
          <a:prstGeom prst="rect">
            <a:avLst/>
          </a:prstGeom>
          <a:noFill/>
        </p:spPr>
        <p:txBody>
          <a:bodyPr wrap="square" rtlCol="0">
            <a:spAutoFit/>
          </a:bodyPr>
          <a:lstStyle/>
          <a:p>
            <a:pPr algn="just"/>
            <a:r>
              <a:rPr lang="zh-CN" altLang="en-US" dirty="0"/>
              <a:t> </a:t>
            </a:r>
            <a:r>
              <a:rPr lang="zh-CN" altLang="en-US" dirty="0">
                <a:sym typeface="+mn-ea"/>
              </a:rPr>
              <a:t>非渐增式集成测试时用于开发测试软件的开销要少一些，但发现问题后要找到产生问题的原因比较困难。</a:t>
            </a:r>
          </a:p>
        </p:txBody>
      </p:sp>
      <p:sp>
        <p:nvSpPr>
          <p:cNvPr id="21" name="文本框 20">
            <a:extLst>
              <a:ext uri="{FF2B5EF4-FFF2-40B4-BE49-F238E27FC236}">
                <a16:creationId xmlns:a16="http://schemas.microsoft.com/office/drawing/2014/main" id="{A2D83F25-F55C-CC60-D63B-2F0C7BFC7247}"/>
              </a:ext>
            </a:extLst>
          </p:cNvPr>
          <p:cNvSpPr txBox="1"/>
          <p:nvPr/>
        </p:nvSpPr>
        <p:spPr>
          <a:xfrm>
            <a:off x="7586345" y="3470911"/>
            <a:ext cx="3600000" cy="2392258"/>
          </a:xfrm>
          <a:prstGeom prst="rect">
            <a:avLst/>
          </a:prstGeom>
          <a:noFill/>
        </p:spPr>
        <p:txBody>
          <a:bodyPr wrap="square" rtlCol="0">
            <a:spAutoFit/>
          </a:bodyPr>
          <a:lstStyle/>
          <a:p>
            <a:pPr algn="just">
              <a:lnSpc>
                <a:spcPct val="120000"/>
              </a:lnSpc>
            </a:pPr>
            <a:r>
              <a:rPr lang="zh-CN" altLang="en-US" dirty="0"/>
              <a:t> </a:t>
            </a:r>
            <a:r>
              <a:rPr lang="zh-CN" altLang="en-US" dirty="0">
                <a:sym typeface="+mn-ea"/>
              </a:rPr>
              <a:t>渐增式集成测试所需要开发的测试软件要多一些，但可及时发现接口错误，已测试的软件在增加新模块时，也受到测试，测试较彻底。</a:t>
            </a:r>
          </a:p>
          <a:p>
            <a:pPr algn="just">
              <a:lnSpc>
                <a:spcPct val="120000"/>
              </a:lnSpc>
            </a:pPr>
            <a:r>
              <a:rPr lang="zh-CN" altLang="en-US" dirty="0">
                <a:sym typeface="+mn-ea"/>
              </a:rPr>
              <a:t> 因此，在进行集成测试时普遍使用渐增式测试方法。</a:t>
            </a:r>
          </a:p>
        </p:txBody>
      </p:sp>
    </p:spTree>
  </p:cSld>
  <p:clrMapOvr>
    <a:masterClrMapping/>
  </p:clrMapOvr>
  <p:transition>
    <p:wedg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en-US" dirty="0"/>
              <a:t>4.4 </a:t>
            </a:r>
            <a:r>
              <a:rPr lang="zh-CN" altLang="en-US" dirty="0"/>
              <a:t>软件测试步骤</a:t>
            </a:r>
          </a:p>
        </p:txBody>
      </p:sp>
      <p:sp>
        <p:nvSpPr>
          <p:cNvPr id="5" name="文本占位符 4">
            <a:extLst>
              <a:ext uri="{FF2B5EF4-FFF2-40B4-BE49-F238E27FC236}">
                <a16:creationId xmlns:a16="http://schemas.microsoft.com/office/drawing/2014/main" id="{147DF9D2-50F3-9E98-F12D-55D5C4383120}"/>
              </a:ext>
            </a:extLst>
          </p:cNvPr>
          <p:cNvSpPr>
            <a:spLocks noGrp="1"/>
          </p:cNvSpPr>
          <p:nvPr>
            <p:ph type="body" sz="quarter" idx="10"/>
          </p:nvPr>
        </p:nvSpPr>
        <p:spPr>
          <a:xfrm>
            <a:off x="696000" y="1322832"/>
            <a:ext cx="5400000" cy="400110"/>
          </a:xfrm>
        </p:spPr>
        <p:txBody>
          <a:bodyPr/>
          <a:lstStyle/>
          <a:p>
            <a:r>
              <a:rPr lang="en-US" altLang="zh-CN" dirty="0"/>
              <a:t>4.4.2 </a:t>
            </a:r>
            <a:r>
              <a:rPr lang="zh-CN" altLang="en-US" dirty="0"/>
              <a:t>集成测试 </a:t>
            </a:r>
            <a:r>
              <a:rPr lang="en-US" altLang="zh-CN" dirty="0"/>
              <a:t>- </a:t>
            </a:r>
            <a:r>
              <a:rPr lang="zh-CN" altLang="en-US" dirty="0">
                <a:sym typeface="+mn-ea"/>
              </a:rPr>
              <a:t>自顶向下集成</a:t>
            </a:r>
            <a:endParaRPr lang="zh-CN" altLang="en-US" dirty="0"/>
          </a:p>
        </p:txBody>
      </p:sp>
      <p:sp>
        <p:nvSpPr>
          <p:cNvPr id="6" name="文本占位符 5">
            <a:extLst>
              <a:ext uri="{FF2B5EF4-FFF2-40B4-BE49-F238E27FC236}">
                <a16:creationId xmlns:a16="http://schemas.microsoft.com/office/drawing/2014/main" id="{87F32577-E8BD-DE22-2CF7-2343D9867A14}"/>
              </a:ext>
            </a:extLst>
          </p:cNvPr>
          <p:cNvSpPr>
            <a:spLocks noGrp="1"/>
          </p:cNvSpPr>
          <p:nvPr>
            <p:ph type="body" sz="quarter" idx="11"/>
          </p:nvPr>
        </p:nvSpPr>
        <p:spPr/>
        <p:txBody>
          <a:bodyPr/>
          <a:lstStyle/>
          <a:p>
            <a:endParaRPr lang="zh-CN" altLang="en-US"/>
          </a:p>
        </p:txBody>
      </p:sp>
      <p:sp>
        <p:nvSpPr>
          <p:cNvPr id="7" name="文本框 6"/>
          <p:cNvSpPr txBox="1"/>
          <p:nvPr/>
        </p:nvSpPr>
        <p:spPr>
          <a:xfrm>
            <a:off x="754380" y="2931160"/>
            <a:ext cx="476250" cy="158496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软件测试步骤</a:t>
            </a:r>
          </a:p>
        </p:txBody>
      </p:sp>
      <p:pic>
        <p:nvPicPr>
          <p:cNvPr id="18" name="图片 17" descr="A000220150321F33PPIC"/>
          <p:cNvPicPr>
            <a:picLocks noChangeAspect="1"/>
          </p:cNvPicPr>
          <p:nvPr/>
        </p:nvPicPr>
        <p:blipFill>
          <a:blip r:embed="rId3" cstate="print"/>
          <a:stretch>
            <a:fillRect/>
          </a:stretch>
        </p:blipFill>
        <p:spPr>
          <a:xfrm>
            <a:off x="175260" y="2104390"/>
            <a:ext cx="3244215" cy="4189730"/>
          </a:xfrm>
          <a:prstGeom prst="rect">
            <a:avLst/>
          </a:prstGeom>
        </p:spPr>
      </p:pic>
      <p:sp>
        <p:nvSpPr>
          <p:cNvPr id="12" name="文本框 11">
            <a:extLst>
              <a:ext uri="{FF2B5EF4-FFF2-40B4-BE49-F238E27FC236}">
                <a16:creationId xmlns:a16="http://schemas.microsoft.com/office/drawing/2014/main" id="{237924B7-FDFF-321D-1D36-108F23DE4672}"/>
              </a:ext>
            </a:extLst>
          </p:cNvPr>
          <p:cNvSpPr txBox="1"/>
          <p:nvPr/>
        </p:nvSpPr>
        <p:spPr>
          <a:xfrm>
            <a:off x="2958744" y="2291590"/>
            <a:ext cx="7920000" cy="3813929"/>
          </a:xfrm>
          <a:prstGeom prst="rect">
            <a:avLst/>
          </a:prstGeom>
          <a:noFill/>
        </p:spPr>
        <p:txBody>
          <a:bodyPr wrap="square" rtlCol="0">
            <a:spAutoFit/>
          </a:bodyPr>
          <a:lstStyle/>
          <a:p>
            <a:pPr algn="just">
              <a:lnSpc>
                <a:spcPct val="130000"/>
              </a:lnSpc>
              <a:spcAft>
                <a:spcPts val="600"/>
              </a:spcAft>
            </a:pPr>
            <a:r>
              <a:rPr lang="zh-CN" altLang="en-US" dirty="0">
                <a:sym typeface="+mn-ea"/>
              </a:rPr>
              <a:t>从主控模块开始，把附属的模块组装到软件结构中去，可使用深度优先的策略，或使用宽度优先的策略。在组装模块的同时进行测试，能在</a:t>
            </a:r>
            <a:r>
              <a:rPr lang="zh-CN" altLang="en-US" dirty="0">
                <a:solidFill>
                  <a:srgbClr val="C00000"/>
                </a:solidFill>
                <a:sym typeface="+mn-ea"/>
              </a:rPr>
              <a:t>早期</a:t>
            </a:r>
            <a:r>
              <a:rPr lang="zh-CN" altLang="en-US" dirty="0">
                <a:sym typeface="+mn-ea"/>
              </a:rPr>
              <a:t>实现和验证系统主要功能，早期发现上层模块的接口错误，低层模块中的错误发现较晚，需要使用存根程序，不需要驱动程序。</a:t>
            </a:r>
          </a:p>
          <a:p>
            <a:pPr algn="just">
              <a:lnSpc>
                <a:spcPct val="130000"/>
              </a:lnSpc>
              <a:spcAft>
                <a:spcPts val="600"/>
              </a:spcAft>
            </a:pPr>
            <a:r>
              <a:rPr lang="zh-CN" altLang="en-US" dirty="0">
                <a:sym typeface="+mn-ea"/>
              </a:rPr>
              <a:t>在众多模块中我们分析出一种可称为关键模块的程序段，关键模块的设计质量对系统影响较大。</a:t>
            </a:r>
          </a:p>
          <a:p>
            <a:pPr algn="just">
              <a:lnSpc>
                <a:spcPct val="130000"/>
              </a:lnSpc>
              <a:spcAft>
                <a:spcPts val="600"/>
              </a:spcAft>
            </a:pPr>
            <a:r>
              <a:rPr lang="zh-CN" altLang="en-US" dirty="0">
                <a:sym typeface="+mn-ea"/>
              </a:rPr>
              <a:t>每当新的模块加进来时，系统发生了变化，有可能产生新的错误。重新执行已经做过测试的某个子集，以保证集成没有带来错误，称为</a:t>
            </a:r>
            <a:r>
              <a:rPr lang="zh-CN" altLang="en-US" dirty="0">
                <a:solidFill>
                  <a:srgbClr val="C00000"/>
                </a:solidFill>
                <a:sym typeface="+mn-ea"/>
              </a:rPr>
              <a:t>回归测试</a:t>
            </a:r>
            <a:r>
              <a:rPr lang="zh-CN" altLang="en-US" dirty="0">
                <a:sym typeface="+mn-ea"/>
              </a:rPr>
              <a:t>。回归测试时，测试用例应设计成能测试程序每个主要功能中的一类或多类错误，并着重测试关键模块。</a:t>
            </a:r>
            <a:endParaRPr lang="zh-CN" altLang="en-US" dirty="0"/>
          </a:p>
        </p:txBody>
      </p:sp>
    </p:spTree>
  </p:cSld>
  <p:clrMapOvr>
    <a:masterClrMapping/>
  </p:clrMapOvr>
  <p:transition>
    <p:wedg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11520000" cy="535531"/>
          </a:xfrm>
        </p:spPr>
        <p:txBody>
          <a:bodyPr/>
          <a:lstStyle/>
          <a:p>
            <a:r>
              <a:rPr lang="en-US" dirty="0"/>
              <a:t>4.4 </a:t>
            </a:r>
            <a:r>
              <a:rPr lang="zh-CN" altLang="en-US" dirty="0"/>
              <a:t>软件测试步骤</a:t>
            </a:r>
          </a:p>
        </p:txBody>
      </p:sp>
      <p:sp>
        <p:nvSpPr>
          <p:cNvPr id="8" name="文本占位符 7">
            <a:extLst>
              <a:ext uri="{FF2B5EF4-FFF2-40B4-BE49-F238E27FC236}">
                <a16:creationId xmlns:a16="http://schemas.microsoft.com/office/drawing/2014/main" id="{DA5ABA7C-D174-42A6-6E66-66FA2A2055EB}"/>
              </a:ext>
            </a:extLst>
          </p:cNvPr>
          <p:cNvSpPr>
            <a:spLocks noGrp="1"/>
          </p:cNvSpPr>
          <p:nvPr>
            <p:ph type="body" sz="quarter" idx="10"/>
          </p:nvPr>
        </p:nvSpPr>
        <p:spPr>
          <a:xfrm>
            <a:off x="696000" y="1322832"/>
            <a:ext cx="11160000" cy="400110"/>
          </a:xfrm>
        </p:spPr>
        <p:txBody>
          <a:bodyPr/>
          <a:lstStyle/>
          <a:p>
            <a:r>
              <a:rPr lang="en-US" altLang="zh-CN" dirty="0"/>
              <a:t>4.4.2 </a:t>
            </a:r>
            <a:r>
              <a:rPr lang="zh-CN" altLang="en-US" dirty="0"/>
              <a:t>集成测试 </a:t>
            </a:r>
            <a:r>
              <a:rPr lang="en-US" altLang="zh-CN" dirty="0"/>
              <a:t>- </a:t>
            </a:r>
            <a:r>
              <a:rPr lang="zh-CN" altLang="en-US" dirty="0">
                <a:sym typeface="+mn-ea"/>
              </a:rPr>
              <a:t>自底向上集成</a:t>
            </a:r>
            <a:endParaRPr lang="zh-CN" altLang="en-US" dirty="0"/>
          </a:p>
        </p:txBody>
      </p:sp>
      <p:sp>
        <p:nvSpPr>
          <p:cNvPr id="12" name="文本占位符 11">
            <a:extLst>
              <a:ext uri="{FF2B5EF4-FFF2-40B4-BE49-F238E27FC236}">
                <a16:creationId xmlns:a16="http://schemas.microsoft.com/office/drawing/2014/main" id="{5C0FD473-634D-9E74-37E3-F7A55D55EFCB}"/>
              </a:ext>
            </a:extLst>
          </p:cNvPr>
          <p:cNvSpPr>
            <a:spLocks noGrp="1"/>
          </p:cNvSpPr>
          <p:nvPr>
            <p:ph type="body" sz="quarter" idx="11"/>
          </p:nvPr>
        </p:nvSpPr>
        <p:spPr/>
        <p:txBody>
          <a:bodyPr/>
          <a:lstStyle/>
          <a:p>
            <a:endParaRPr lang="zh-CN" altLang="en-US"/>
          </a:p>
        </p:txBody>
      </p:sp>
      <p:sp>
        <p:nvSpPr>
          <p:cNvPr id="7" name="文本框 6"/>
          <p:cNvSpPr txBox="1"/>
          <p:nvPr/>
        </p:nvSpPr>
        <p:spPr>
          <a:xfrm>
            <a:off x="754380" y="2931160"/>
            <a:ext cx="476250" cy="158496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软件测试步骤</a:t>
            </a:r>
          </a:p>
        </p:txBody>
      </p:sp>
      <p:pic>
        <p:nvPicPr>
          <p:cNvPr id="2" name="图片 1" descr="A000220150318N48PPIC"/>
          <p:cNvPicPr>
            <a:picLocks noChangeAspect="1"/>
          </p:cNvPicPr>
          <p:nvPr/>
        </p:nvPicPr>
        <p:blipFill>
          <a:blip r:embed="rId3" cstate="print"/>
          <a:stretch>
            <a:fillRect/>
          </a:stretch>
        </p:blipFill>
        <p:spPr>
          <a:xfrm>
            <a:off x="802640" y="1969770"/>
            <a:ext cx="3919220" cy="3898265"/>
          </a:xfrm>
          <a:prstGeom prst="rect">
            <a:avLst/>
          </a:prstGeom>
        </p:spPr>
      </p:pic>
      <p:sp>
        <p:nvSpPr>
          <p:cNvPr id="5" name="文本框 4">
            <a:extLst>
              <a:ext uri="{FF2B5EF4-FFF2-40B4-BE49-F238E27FC236}">
                <a16:creationId xmlns:a16="http://schemas.microsoft.com/office/drawing/2014/main" id="{D05AEA21-2B94-15AE-44F6-0E38CC60C28A}"/>
              </a:ext>
            </a:extLst>
          </p:cNvPr>
          <p:cNvSpPr txBox="1"/>
          <p:nvPr/>
        </p:nvSpPr>
        <p:spPr>
          <a:xfrm>
            <a:off x="4974157" y="2291590"/>
            <a:ext cx="5040000" cy="1293239"/>
          </a:xfrm>
          <a:prstGeom prst="rect">
            <a:avLst/>
          </a:prstGeom>
          <a:noFill/>
        </p:spPr>
        <p:txBody>
          <a:bodyPr wrap="square" rtlCol="0">
            <a:spAutoFit/>
          </a:bodyPr>
          <a:lstStyle/>
          <a:p>
            <a:pPr algn="just">
              <a:lnSpc>
                <a:spcPct val="130000"/>
              </a:lnSpc>
              <a:spcAft>
                <a:spcPts val="600"/>
              </a:spcAft>
            </a:pPr>
            <a:r>
              <a:rPr lang="zh-CN" altLang="en-US" dirty="0">
                <a:latin typeface="+mn-ea"/>
                <a:sym typeface="+mn-ea"/>
              </a:rPr>
              <a:t>从软件结构最底层的模块开始组装和测试。</a:t>
            </a:r>
            <a:endParaRPr lang="en-US" altLang="zh-CN" dirty="0">
              <a:latin typeface="+mn-ea"/>
              <a:sym typeface="+mn-ea"/>
            </a:endParaRPr>
          </a:p>
          <a:p>
            <a:pPr algn="just">
              <a:lnSpc>
                <a:spcPct val="130000"/>
              </a:lnSpc>
              <a:spcAft>
                <a:spcPts val="600"/>
              </a:spcAft>
            </a:pPr>
            <a:r>
              <a:rPr lang="zh-CN" altLang="en-US" dirty="0">
                <a:latin typeface="+mn-ea"/>
                <a:sym typeface="+mn-ea"/>
              </a:rPr>
              <a:t>不需要存根程序，需要驱动程序。</a:t>
            </a:r>
            <a:endParaRPr lang="en-US" altLang="zh-CN" dirty="0">
              <a:latin typeface="+mn-ea"/>
              <a:sym typeface="+mn-ea"/>
            </a:endParaRPr>
          </a:p>
          <a:p>
            <a:pPr algn="just">
              <a:lnSpc>
                <a:spcPct val="130000"/>
              </a:lnSpc>
              <a:spcAft>
                <a:spcPts val="600"/>
              </a:spcAft>
            </a:pPr>
            <a:r>
              <a:rPr lang="zh-CN" altLang="en-US" dirty="0">
                <a:latin typeface="+mn-ea"/>
                <a:sym typeface="+mn-ea"/>
              </a:rPr>
              <a:t>优缺点与自顶向下集成刚好相反。</a:t>
            </a:r>
          </a:p>
        </p:txBody>
      </p:sp>
      <p:graphicFrame>
        <p:nvGraphicFramePr>
          <p:cNvPr id="4" name="表格 3">
            <a:extLst>
              <a:ext uri="{FF2B5EF4-FFF2-40B4-BE49-F238E27FC236}">
                <a16:creationId xmlns:a16="http://schemas.microsoft.com/office/drawing/2014/main" id="{467E8E71-AC5B-67C2-8D1B-5BF1B8F4DBE4}"/>
              </a:ext>
            </a:extLst>
          </p:cNvPr>
          <p:cNvGraphicFramePr>
            <a:graphicFrameLocks noGrp="1"/>
          </p:cNvGraphicFramePr>
          <p:nvPr>
            <p:extLst>
              <p:ext uri="{D42A27DB-BD31-4B8C-83A1-F6EECF244321}">
                <p14:modId xmlns:p14="http://schemas.microsoft.com/office/powerpoint/2010/main" val="1201170627"/>
              </p:ext>
            </p:extLst>
          </p:nvPr>
        </p:nvGraphicFramePr>
        <p:xfrm>
          <a:off x="4974157" y="3785152"/>
          <a:ext cx="6574156" cy="1493520"/>
        </p:xfrm>
        <a:graphic>
          <a:graphicData uri="http://schemas.openxmlformats.org/drawingml/2006/table">
            <a:tbl>
              <a:tblPr/>
              <a:tblGrid>
                <a:gridCol w="1007543">
                  <a:extLst>
                    <a:ext uri="{9D8B030D-6E8A-4147-A177-3AD203B41FA5}">
                      <a16:colId xmlns:a16="http://schemas.microsoft.com/office/drawing/2014/main" val="2145365759"/>
                    </a:ext>
                  </a:extLst>
                </a:gridCol>
                <a:gridCol w="1438275">
                  <a:extLst>
                    <a:ext uri="{9D8B030D-6E8A-4147-A177-3AD203B41FA5}">
                      <a16:colId xmlns:a16="http://schemas.microsoft.com/office/drawing/2014/main" val="1970862911"/>
                    </a:ext>
                  </a:extLst>
                </a:gridCol>
                <a:gridCol w="2409825">
                  <a:extLst>
                    <a:ext uri="{9D8B030D-6E8A-4147-A177-3AD203B41FA5}">
                      <a16:colId xmlns:a16="http://schemas.microsoft.com/office/drawing/2014/main" val="454482304"/>
                    </a:ext>
                  </a:extLst>
                </a:gridCol>
                <a:gridCol w="1718513">
                  <a:extLst>
                    <a:ext uri="{9D8B030D-6E8A-4147-A177-3AD203B41FA5}">
                      <a16:colId xmlns:a16="http://schemas.microsoft.com/office/drawing/2014/main" val="1911837512"/>
                    </a:ext>
                  </a:extLst>
                </a:gridCol>
              </a:tblGrid>
              <a:tr h="0">
                <a:tc>
                  <a:txBody>
                    <a:bodyPr/>
                    <a:lstStyle/>
                    <a:p>
                      <a:pPr algn="l">
                        <a:buNone/>
                      </a:pPr>
                      <a:r>
                        <a:rPr lang="zh-CN" altLang="en-US" sz="1600" dirty="0"/>
                        <a:t>策略</a:t>
                      </a:r>
                    </a:p>
                  </a:txBody>
                  <a:tcPr anchor="ctr">
                    <a:lnL>
                      <a:noFill/>
                    </a:lnL>
                    <a:lnR>
                      <a:noFill/>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zh-CN" altLang="en-US" sz="1600" dirty="0"/>
                        <a:t>方向</a:t>
                      </a:r>
                    </a:p>
                  </a:txBody>
                  <a:tcPr anchor="ctr">
                    <a:lnL>
                      <a:noFill/>
                    </a:lnL>
                    <a:lnR>
                      <a:noFill/>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zh-CN" altLang="en-US" sz="1600" dirty="0"/>
                        <a:t>需要什么辅助代码？</a:t>
                      </a:r>
                    </a:p>
                  </a:txBody>
                  <a:tcPr anchor="ctr">
                    <a:lnL>
                      <a:noFill/>
                    </a:lnL>
                    <a:lnR>
                      <a:noFill/>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zh-CN" altLang="en-US" sz="1600" dirty="0"/>
                        <a:t>效果</a:t>
                      </a:r>
                    </a:p>
                  </a:txBody>
                  <a:tcPr anchor="ctr">
                    <a:lnL>
                      <a:noFill/>
                    </a:lnL>
                    <a:lnR>
                      <a:noFill/>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86940785"/>
                  </a:ext>
                </a:extLst>
              </a:tr>
              <a:tr h="0">
                <a:tc>
                  <a:txBody>
                    <a:bodyPr/>
                    <a:lstStyle/>
                    <a:p>
                      <a:pPr algn="l">
                        <a:buNone/>
                      </a:pPr>
                      <a:r>
                        <a:rPr lang="zh-CN" altLang="en-US" sz="1600" dirty="0"/>
                        <a:t>自顶向下</a:t>
                      </a:r>
                    </a:p>
                  </a:txBody>
                  <a:tcPr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l">
                        <a:buNone/>
                      </a:pPr>
                      <a:r>
                        <a:rPr lang="zh-CN" altLang="en-US" sz="1600" dirty="0"/>
                        <a:t>大脑 → 手脚</a:t>
                      </a:r>
                    </a:p>
                  </a:txBody>
                  <a:tcPr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l">
                        <a:buNone/>
                      </a:pPr>
                      <a:r>
                        <a:rPr lang="zh-CN" altLang="en-US" sz="1600" dirty="0"/>
                        <a:t>需要存根程序 </a:t>
                      </a:r>
                      <a:r>
                        <a:rPr lang="en-US" altLang="zh-CN" sz="1600" dirty="0"/>
                        <a:t>(Stub) </a:t>
                      </a:r>
                      <a:br>
                        <a:rPr lang="en-US" altLang="zh-CN" sz="1600" dirty="0"/>
                      </a:br>
                      <a:r>
                        <a:rPr lang="en-US" altLang="zh-CN" sz="1600" i="1" dirty="0"/>
                        <a:t>(</a:t>
                      </a:r>
                      <a:r>
                        <a:rPr lang="zh-CN" altLang="en-US" sz="1600" i="1" dirty="0"/>
                        <a:t>假装下层模块存在</a:t>
                      </a:r>
                      <a:r>
                        <a:rPr lang="en-US" altLang="zh-CN" sz="1600" i="1" dirty="0"/>
                        <a:t>)</a:t>
                      </a:r>
                      <a:endParaRPr lang="zh-CN" altLang="en-US" sz="1600" dirty="0"/>
                    </a:p>
                  </a:txBody>
                  <a:tcPr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l">
                        <a:buNone/>
                      </a:pPr>
                      <a:r>
                        <a:rPr lang="zh-CN" altLang="en-US" sz="1600" dirty="0"/>
                        <a:t>早期就能看到主流程</a:t>
                      </a:r>
                    </a:p>
                  </a:txBody>
                  <a:tcPr anchor="ctr">
                    <a:lnL>
                      <a:noFill/>
                    </a:lnL>
                    <a:lnR>
                      <a:noFill/>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89787527"/>
                  </a:ext>
                </a:extLst>
              </a:tr>
              <a:tr h="0">
                <a:tc>
                  <a:txBody>
                    <a:bodyPr/>
                    <a:lstStyle/>
                    <a:p>
                      <a:pPr algn="l">
                        <a:buNone/>
                      </a:pPr>
                      <a:r>
                        <a:rPr lang="zh-CN" altLang="en-US" sz="1600" dirty="0"/>
                        <a:t>自底向上</a:t>
                      </a:r>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dirty="0"/>
                        <a:t>地基 → 屋顶</a:t>
                      </a:r>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dirty="0"/>
                        <a:t>需要驱动程序 </a:t>
                      </a:r>
                      <a:r>
                        <a:rPr lang="en-US" altLang="zh-CN" sz="1600" dirty="0"/>
                        <a:t>(Driver) </a:t>
                      </a:r>
                      <a:br>
                        <a:rPr lang="en-US" altLang="zh-CN" sz="1600" dirty="0"/>
                      </a:br>
                      <a:r>
                        <a:rPr lang="en-US" altLang="zh-CN" sz="1600" i="1" dirty="0"/>
                        <a:t>(</a:t>
                      </a:r>
                      <a:r>
                        <a:rPr lang="zh-CN" altLang="en-US" sz="1600" i="1" dirty="0"/>
                        <a:t>模拟上层来调用下层</a:t>
                      </a:r>
                      <a:r>
                        <a:rPr lang="en-US" altLang="zh-CN" sz="1600" i="1" dirty="0"/>
                        <a:t>)</a:t>
                      </a:r>
                      <a:endParaRPr lang="zh-CN" altLang="en-US" sz="1600" dirty="0"/>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dirty="0"/>
                        <a:t>晚期才能看到完整功能</a:t>
                      </a:r>
                    </a:p>
                  </a:txBody>
                  <a:tcPr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52291781"/>
                  </a:ext>
                </a:extLst>
              </a:tr>
            </a:tbl>
          </a:graphicData>
        </a:graphic>
      </p:graphicFrame>
    </p:spTree>
  </p:cSld>
  <p:clrMapOvr>
    <a:masterClrMapping/>
  </p:clrMapOvr>
  <p:transition>
    <p:wedg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en-US" dirty="0"/>
              <a:t>4.4 </a:t>
            </a:r>
            <a:r>
              <a:rPr lang="zh-CN" altLang="en-US" dirty="0"/>
              <a:t>软件测试步骤</a:t>
            </a:r>
          </a:p>
        </p:txBody>
      </p:sp>
      <p:sp>
        <p:nvSpPr>
          <p:cNvPr id="13" name="文本占位符 12">
            <a:extLst>
              <a:ext uri="{FF2B5EF4-FFF2-40B4-BE49-F238E27FC236}">
                <a16:creationId xmlns:a16="http://schemas.microsoft.com/office/drawing/2014/main" id="{04E8BB32-E4AA-E877-44BA-008D005560E4}"/>
              </a:ext>
            </a:extLst>
          </p:cNvPr>
          <p:cNvSpPr>
            <a:spLocks noGrp="1"/>
          </p:cNvSpPr>
          <p:nvPr>
            <p:ph type="body" sz="quarter" idx="10"/>
          </p:nvPr>
        </p:nvSpPr>
        <p:spPr>
          <a:xfrm>
            <a:off x="696000" y="1322832"/>
            <a:ext cx="5400000" cy="400110"/>
          </a:xfrm>
        </p:spPr>
        <p:txBody>
          <a:bodyPr/>
          <a:lstStyle/>
          <a:p>
            <a:r>
              <a:rPr lang="en-US" altLang="zh-CN" dirty="0"/>
              <a:t>4.4.3 </a:t>
            </a:r>
            <a:r>
              <a:rPr lang="zh-CN" altLang="en-US" dirty="0"/>
              <a:t>程序审查会和人工运行</a:t>
            </a:r>
          </a:p>
        </p:txBody>
      </p:sp>
      <p:sp>
        <p:nvSpPr>
          <p:cNvPr id="6" name="文本占位符 5">
            <a:extLst>
              <a:ext uri="{FF2B5EF4-FFF2-40B4-BE49-F238E27FC236}">
                <a16:creationId xmlns:a16="http://schemas.microsoft.com/office/drawing/2014/main" id="{6DA31FD9-B030-38E5-97A8-45C0CD2885C4}"/>
              </a:ext>
            </a:extLst>
          </p:cNvPr>
          <p:cNvSpPr>
            <a:spLocks noGrp="1"/>
          </p:cNvSpPr>
          <p:nvPr>
            <p:ph type="body" sz="quarter" idx="11"/>
          </p:nvPr>
        </p:nvSpPr>
        <p:spPr/>
        <p:txBody>
          <a:bodyPr/>
          <a:lstStyle/>
          <a:p>
            <a:endParaRPr lang="zh-CN" altLang="en-US"/>
          </a:p>
        </p:txBody>
      </p:sp>
      <p:pic>
        <p:nvPicPr>
          <p:cNvPr id="2" name="图片 1" descr="A000220150821C45PPIC"/>
          <p:cNvPicPr>
            <a:picLocks noChangeAspect="1"/>
          </p:cNvPicPr>
          <p:nvPr/>
        </p:nvPicPr>
        <p:blipFill>
          <a:blip r:embed="rId3" cstate="print"/>
          <a:stretch>
            <a:fillRect/>
          </a:stretch>
        </p:blipFill>
        <p:spPr>
          <a:xfrm>
            <a:off x="7384759" y="3706635"/>
            <a:ext cx="3632060" cy="2421373"/>
          </a:xfrm>
          <a:prstGeom prst="rect">
            <a:avLst/>
          </a:prstGeom>
        </p:spPr>
      </p:pic>
      <p:sp>
        <p:nvSpPr>
          <p:cNvPr id="100" name="文本框 99"/>
          <p:cNvSpPr txBox="1"/>
          <p:nvPr/>
        </p:nvSpPr>
        <p:spPr>
          <a:xfrm>
            <a:off x="972819" y="2502042"/>
            <a:ext cx="10044000" cy="1172629"/>
          </a:xfrm>
          <a:prstGeom prst="rect">
            <a:avLst/>
          </a:prstGeom>
          <a:noFill/>
          <a:ln w="9525">
            <a:noFill/>
          </a:ln>
        </p:spPr>
        <p:txBody>
          <a:bodyPr wrap="square">
            <a:spAutoFit/>
          </a:bodyPr>
          <a:lstStyle/>
          <a:p>
            <a:pPr marL="0" indent="457200" algn="just" fontAlgn="auto">
              <a:lnSpc>
                <a:spcPct val="130000"/>
              </a:lnSpc>
              <a:spcAft>
                <a:spcPts val="600"/>
              </a:spcAft>
            </a:pPr>
            <a:r>
              <a:rPr dirty="0">
                <a:sym typeface="+mn-ea"/>
              </a:rPr>
              <a:t>参加程序审查会的成员通常由软件程序员和不参加设计的测试专家及调解员（当程序员与测试专家意见有分歧时，从中进行调解、裁决）组成，开会之前先把程序清单和设计文档分发给审查小组成员。会议内容如下：</a:t>
            </a:r>
          </a:p>
        </p:txBody>
      </p:sp>
      <p:sp>
        <p:nvSpPr>
          <p:cNvPr id="8" name="文本框 99"/>
          <p:cNvSpPr txBox="1"/>
          <p:nvPr/>
        </p:nvSpPr>
        <p:spPr>
          <a:xfrm>
            <a:off x="988738" y="3678042"/>
            <a:ext cx="6372000" cy="2449966"/>
          </a:xfrm>
          <a:prstGeom prst="rect">
            <a:avLst/>
          </a:prstGeom>
          <a:noFill/>
          <a:ln w="9525">
            <a:noFill/>
          </a:ln>
        </p:spPr>
        <p:txBody>
          <a:bodyPr wrap="square">
            <a:spAutoFit/>
          </a:bodyPr>
          <a:lstStyle/>
          <a:p>
            <a:pPr marL="0" indent="0" algn="just" fontAlgn="auto">
              <a:lnSpc>
                <a:spcPct val="130000"/>
              </a:lnSpc>
              <a:spcAft>
                <a:spcPts val="600"/>
              </a:spcAft>
            </a:pPr>
            <a:r>
              <a:rPr dirty="0">
                <a:sym typeface="+mn-ea"/>
              </a:rPr>
              <a:t>1</a:t>
            </a:r>
            <a:r>
              <a:rPr lang="en-US" dirty="0">
                <a:sym typeface="+mn-ea"/>
              </a:rPr>
              <a:t>. </a:t>
            </a:r>
            <a:r>
              <a:rPr dirty="0" err="1">
                <a:sym typeface="+mn-ea"/>
              </a:rPr>
              <a:t>程序员逐句讲述程序的逻辑结构，然后由大家提问研究，判断是否有错误存在</a:t>
            </a:r>
            <a:r>
              <a:rPr lang="zh-CN" altLang="en-US" dirty="0">
                <a:sym typeface="+mn-ea"/>
              </a:rPr>
              <a:t>。</a:t>
            </a:r>
          </a:p>
          <a:p>
            <a:pPr marL="0" indent="0" algn="just" fontAlgn="auto">
              <a:lnSpc>
                <a:spcPct val="130000"/>
              </a:lnSpc>
              <a:spcAft>
                <a:spcPts val="600"/>
              </a:spcAft>
            </a:pPr>
            <a:r>
              <a:rPr dirty="0">
                <a:sym typeface="+mn-ea"/>
              </a:rPr>
              <a:t>2</a:t>
            </a:r>
            <a:r>
              <a:rPr lang="en-US" dirty="0">
                <a:sym typeface="+mn-ea"/>
              </a:rPr>
              <a:t>. </a:t>
            </a:r>
            <a:r>
              <a:rPr dirty="0" err="1">
                <a:sym typeface="+mn-ea"/>
              </a:rPr>
              <a:t>程序审查会成员根据常见程序错误来分析程序</a:t>
            </a:r>
            <a:r>
              <a:rPr dirty="0">
                <a:sym typeface="+mn-ea"/>
              </a:rPr>
              <a:t>。</a:t>
            </a:r>
          </a:p>
          <a:p>
            <a:pPr marL="0" indent="0" algn="just" fontAlgn="auto">
              <a:lnSpc>
                <a:spcPct val="130000"/>
              </a:lnSpc>
              <a:spcAft>
                <a:spcPts val="600"/>
              </a:spcAft>
            </a:pPr>
            <a:r>
              <a:rPr dirty="0" err="1">
                <a:sym typeface="+mn-ea"/>
              </a:rPr>
              <a:t>优点</a:t>
            </a:r>
            <a:r>
              <a:rPr lang="zh-CN" altLang="en-US" dirty="0">
                <a:sym typeface="+mn-ea"/>
              </a:rPr>
              <a:t>：</a:t>
            </a:r>
            <a:r>
              <a:rPr dirty="0" err="1">
                <a:sym typeface="+mn-ea"/>
              </a:rPr>
              <a:t>是一次审查会可以发现许多错误</a:t>
            </a:r>
            <a:r>
              <a:rPr dirty="0">
                <a:sym typeface="+mn-ea"/>
              </a:rPr>
              <a:t>。</a:t>
            </a:r>
            <a:endParaRPr lang="en-US" dirty="0">
              <a:sym typeface="+mn-ea"/>
            </a:endParaRPr>
          </a:p>
          <a:p>
            <a:pPr marL="0" indent="0" algn="just" fontAlgn="auto">
              <a:lnSpc>
                <a:spcPct val="130000"/>
              </a:lnSpc>
              <a:spcAft>
                <a:spcPts val="600"/>
              </a:spcAft>
            </a:pPr>
            <a:r>
              <a:rPr lang="zh-CN" altLang="en-US" dirty="0">
                <a:sym typeface="+mn-ea"/>
              </a:rPr>
              <a:t>而用</a:t>
            </a:r>
            <a:r>
              <a:rPr dirty="0" err="1">
                <a:sym typeface="+mn-ea"/>
              </a:rPr>
              <a:t>计算机测试方法发现错误时，通常需要先改正这个错误才能继续测试，因此，错误是一个一个地被发现并改正的</a:t>
            </a:r>
            <a:r>
              <a:rPr dirty="0">
                <a:sym typeface="+mn-ea"/>
              </a:rPr>
              <a:t>。</a:t>
            </a:r>
          </a:p>
        </p:txBody>
      </p:sp>
      <p:sp>
        <p:nvSpPr>
          <p:cNvPr id="10" name="TextBox 1"/>
          <p:cNvSpPr txBox="1">
            <a:spLocks noChangeArrowheads="1"/>
          </p:cNvSpPr>
          <p:nvPr/>
        </p:nvSpPr>
        <p:spPr bwMode="auto">
          <a:xfrm>
            <a:off x="809625" y="2091054"/>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1</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11" name="直接连接符 10"/>
          <p:cNvCxnSpPr/>
          <p:nvPr/>
        </p:nvCxnSpPr>
        <p:spPr>
          <a:xfrm flipH="1">
            <a:off x="809625" y="2091054"/>
            <a:ext cx="590556"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2" name="矩形 7"/>
          <p:cNvSpPr>
            <a:spLocks noChangeArrowheads="1"/>
          </p:cNvSpPr>
          <p:nvPr/>
        </p:nvSpPr>
        <p:spPr bwMode="auto">
          <a:xfrm>
            <a:off x="1262065" y="2186304"/>
            <a:ext cx="53434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程序审查会 </a:t>
            </a:r>
            <a:r>
              <a:rPr lang="en-US" altLang="en-US" b="1" dirty="0">
                <a:solidFill>
                  <a:srgbClr val="E67819"/>
                </a:solidFill>
                <a:latin typeface="微软雅黑" panose="020B0503020204020204" charset="-122"/>
                <a:ea typeface="微软雅黑" panose="020B0503020204020204" charset="-122"/>
              </a:rPr>
              <a:t>Program Inspections</a:t>
            </a:r>
            <a:endParaRPr lang="zh-CN" altLang="en-US" b="1" dirty="0">
              <a:solidFill>
                <a:srgbClr val="E67819"/>
              </a:solidFill>
              <a:latin typeface="微软雅黑" panose="020B0503020204020204" charset="-122"/>
              <a:ea typeface="微软雅黑" panose="020B0503020204020204" charset="-122"/>
            </a:endParaRPr>
          </a:p>
        </p:txBody>
      </p:sp>
    </p:spTree>
  </p:cSld>
  <p:clrMapOvr>
    <a:masterClrMapping/>
  </p:clrMapOvr>
  <p:transition>
    <p:wedg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en-US" dirty="0"/>
              <a:t>4.4 </a:t>
            </a:r>
            <a:r>
              <a:rPr lang="zh-CN" altLang="en-US" dirty="0"/>
              <a:t>软件测试步骤</a:t>
            </a:r>
          </a:p>
        </p:txBody>
      </p:sp>
      <p:sp>
        <p:nvSpPr>
          <p:cNvPr id="6" name="文本占位符 5">
            <a:extLst>
              <a:ext uri="{FF2B5EF4-FFF2-40B4-BE49-F238E27FC236}">
                <a16:creationId xmlns:a16="http://schemas.microsoft.com/office/drawing/2014/main" id="{04BB4D03-696F-7A7B-9915-FC37BF0011BB}"/>
              </a:ext>
            </a:extLst>
          </p:cNvPr>
          <p:cNvSpPr>
            <a:spLocks noGrp="1"/>
          </p:cNvSpPr>
          <p:nvPr>
            <p:ph type="body" sz="quarter" idx="10"/>
          </p:nvPr>
        </p:nvSpPr>
        <p:spPr>
          <a:xfrm>
            <a:off x="696000" y="1322832"/>
            <a:ext cx="5400000" cy="400110"/>
          </a:xfrm>
        </p:spPr>
        <p:txBody>
          <a:bodyPr/>
          <a:lstStyle/>
          <a:p>
            <a:r>
              <a:rPr lang="en-US" altLang="zh-CN" dirty="0"/>
              <a:t>4.4.3 </a:t>
            </a:r>
            <a:r>
              <a:rPr lang="zh-CN" altLang="en-US" dirty="0">
                <a:sym typeface="+mn-ea"/>
              </a:rPr>
              <a:t>程序审查会和人工运行</a:t>
            </a:r>
            <a:endParaRPr lang="zh-CN" altLang="en-US" dirty="0"/>
          </a:p>
        </p:txBody>
      </p:sp>
      <p:sp>
        <p:nvSpPr>
          <p:cNvPr id="5" name="文本占位符 4">
            <a:extLst>
              <a:ext uri="{FF2B5EF4-FFF2-40B4-BE49-F238E27FC236}">
                <a16:creationId xmlns:a16="http://schemas.microsoft.com/office/drawing/2014/main" id="{89837CD1-91A3-C70B-0780-E0D715B8ACEC}"/>
              </a:ext>
            </a:extLst>
          </p:cNvPr>
          <p:cNvSpPr>
            <a:spLocks noGrp="1"/>
          </p:cNvSpPr>
          <p:nvPr>
            <p:ph type="body" sz="quarter" idx="11"/>
          </p:nvPr>
        </p:nvSpPr>
        <p:spPr/>
        <p:txBody>
          <a:bodyPr/>
          <a:lstStyle/>
          <a:p>
            <a:endParaRPr lang="zh-CN" altLang="en-US"/>
          </a:p>
        </p:txBody>
      </p:sp>
      <p:sp>
        <p:nvSpPr>
          <p:cNvPr id="7" name="文本框 6"/>
          <p:cNvSpPr txBox="1"/>
          <p:nvPr/>
        </p:nvSpPr>
        <p:spPr>
          <a:xfrm>
            <a:off x="754380" y="2931160"/>
            <a:ext cx="476250" cy="158496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软件测试步骤</a:t>
            </a:r>
          </a:p>
        </p:txBody>
      </p:sp>
      <p:pic>
        <p:nvPicPr>
          <p:cNvPr id="11" name="图片 10" descr="A000220151021B28PPSH.png"/>
          <p:cNvPicPr>
            <a:picLocks noChangeAspect="1"/>
          </p:cNvPicPr>
          <p:nvPr/>
        </p:nvPicPr>
        <p:blipFill>
          <a:blip r:embed="rId3" cstate="print"/>
          <a:stretch>
            <a:fillRect/>
          </a:stretch>
        </p:blipFill>
        <p:spPr>
          <a:xfrm>
            <a:off x="334142" y="2246485"/>
            <a:ext cx="3780659" cy="3803642"/>
          </a:xfrm>
          <a:prstGeom prst="rect">
            <a:avLst/>
          </a:prstGeom>
        </p:spPr>
      </p:pic>
      <p:grpSp>
        <p:nvGrpSpPr>
          <p:cNvPr id="8" name="组合 6"/>
          <p:cNvGrpSpPr/>
          <p:nvPr/>
        </p:nvGrpSpPr>
        <p:grpSpPr>
          <a:xfrm>
            <a:off x="4574701" y="2227531"/>
            <a:ext cx="5795891" cy="590550"/>
            <a:chOff x="508000" y="3196191"/>
            <a:chExt cx="5795832" cy="590550"/>
          </a:xfrm>
        </p:grpSpPr>
        <p:sp>
          <p:nvSpPr>
            <p:cNvPr id="9" name="TextBox 1"/>
            <p:cNvSpPr txBox="1">
              <a:spLocks noChangeArrowheads="1"/>
            </p:cNvSpPr>
            <p:nvPr/>
          </p:nvSpPr>
          <p:spPr bwMode="auto">
            <a:xfrm>
              <a:off x="508000" y="3196191"/>
              <a:ext cx="36419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2</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10" name="直接连接符 9"/>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2" name="矩形 7"/>
            <p:cNvSpPr>
              <a:spLocks noChangeArrowheads="1"/>
            </p:cNvSpPr>
            <p:nvPr/>
          </p:nvSpPr>
          <p:spPr bwMode="auto">
            <a:xfrm>
              <a:off x="960435" y="3291441"/>
              <a:ext cx="534339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人工运行 </a:t>
              </a:r>
              <a:r>
                <a:rPr lang="en-US" altLang="en-US" b="1" dirty="0">
                  <a:solidFill>
                    <a:srgbClr val="E67819"/>
                  </a:solidFill>
                  <a:latin typeface="微软雅黑" panose="020B0503020204020204" charset="-122"/>
                  <a:ea typeface="微软雅黑" panose="020B0503020204020204" charset="-122"/>
                </a:rPr>
                <a:t>Walkthroughs</a:t>
              </a:r>
              <a:endParaRPr lang="zh-CN" altLang="en-US" b="1" dirty="0">
                <a:solidFill>
                  <a:srgbClr val="E67819"/>
                </a:solidFill>
                <a:latin typeface="微软雅黑" panose="020B0503020204020204" charset="-122"/>
                <a:ea typeface="微软雅黑" panose="020B0503020204020204" charset="-122"/>
              </a:endParaRPr>
            </a:p>
          </p:txBody>
        </p:sp>
      </p:grpSp>
      <p:sp>
        <p:nvSpPr>
          <p:cNvPr id="17" name="文本框 16">
            <a:extLst>
              <a:ext uri="{FF2B5EF4-FFF2-40B4-BE49-F238E27FC236}">
                <a16:creationId xmlns:a16="http://schemas.microsoft.com/office/drawing/2014/main" id="{52A2BD9C-1DC7-0DE3-564D-A4C93B1BFCFE}"/>
              </a:ext>
            </a:extLst>
          </p:cNvPr>
          <p:cNvSpPr txBox="1"/>
          <p:nvPr/>
        </p:nvSpPr>
        <p:spPr>
          <a:xfrm>
            <a:off x="4574701" y="2925710"/>
            <a:ext cx="6840000" cy="3016788"/>
          </a:xfrm>
          <a:prstGeom prst="rect">
            <a:avLst/>
          </a:prstGeom>
          <a:noFill/>
        </p:spPr>
        <p:txBody>
          <a:bodyPr wrap="square" rtlCol="0">
            <a:spAutoFit/>
          </a:bodyPr>
          <a:lstStyle/>
          <a:p>
            <a:pPr indent="457200">
              <a:lnSpc>
                <a:spcPct val="130000"/>
              </a:lnSpc>
              <a:spcAft>
                <a:spcPts val="600"/>
              </a:spcAft>
            </a:pPr>
            <a:r>
              <a:rPr lang="zh-CN" altLang="en-US" dirty="0">
                <a:sym typeface="+mn-ea"/>
              </a:rPr>
              <a:t>人工运行也是阅读程序查错的一种方法，开会之前先</a:t>
            </a:r>
            <a:r>
              <a:rPr lang="zh-CN" altLang="en-US" dirty="0">
                <a:solidFill>
                  <a:srgbClr val="C00000"/>
                </a:solidFill>
                <a:sym typeface="+mn-ea"/>
              </a:rPr>
              <a:t>分发</a:t>
            </a:r>
            <a:r>
              <a:rPr lang="zh-CN" altLang="en-US" dirty="0">
                <a:sym typeface="+mn-ea"/>
              </a:rPr>
              <a:t>程序和文档。人工运行小组的成员由编程人员及其他有丰富经验的程序员、其他项目的参加者等人员组成。</a:t>
            </a:r>
          </a:p>
          <a:p>
            <a:pPr indent="457200">
              <a:lnSpc>
                <a:spcPct val="130000"/>
              </a:lnSpc>
              <a:spcAft>
                <a:spcPts val="600"/>
              </a:spcAft>
            </a:pPr>
            <a:r>
              <a:rPr lang="zh-CN" altLang="en-US" dirty="0">
                <a:sym typeface="+mn-ea"/>
              </a:rPr>
              <a:t>人工运行时，要求与会者模拟计算机运行程序，把各种测试情况沿着程序逻辑走一遍，通过向程序员询问程序的逻辑设计情况来发现错误。与会者应该评论程序，不要把错误看成是由于程序员的弱点而造成的，而应看成是由于程序开发困难而造成的。人工运行对与会者在程序设计风格、技巧方面的经验积累是很有益的。</a:t>
            </a:r>
          </a:p>
        </p:txBody>
      </p:sp>
    </p:spTree>
  </p:cSld>
  <p:clrMapOvr>
    <a:masterClrMapping/>
  </p:clrMapOvr>
  <p:transition>
    <p:wedg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11520000" cy="535531"/>
          </a:xfrm>
        </p:spPr>
        <p:txBody>
          <a:bodyPr/>
          <a:lstStyle/>
          <a:p>
            <a:r>
              <a:rPr lang="en-US" dirty="0"/>
              <a:t>4.4 </a:t>
            </a:r>
            <a:r>
              <a:rPr lang="zh-CN" altLang="en-US" dirty="0"/>
              <a:t>软件测试步骤</a:t>
            </a:r>
          </a:p>
        </p:txBody>
      </p:sp>
      <p:sp>
        <p:nvSpPr>
          <p:cNvPr id="8" name="文本占位符 7">
            <a:extLst>
              <a:ext uri="{FF2B5EF4-FFF2-40B4-BE49-F238E27FC236}">
                <a16:creationId xmlns:a16="http://schemas.microsoft.com/office/drawing/2014/main" id="{D81386DC-9A50-FEB8-BD7E-494F189538A1}"/>
              </a:ext>
            </a:extLst>
          </p:cNvPr>
          <p:cNvSpPr>
            <a:spLocks noGrp="1"/>
          </p:cNvSpPr>
          <p:nvPr>
            <p:ph type="body" sz="quarter" idx="10"/>
          </p:nvPr>
        </p:nvSpPr>
        <p:spPr>
          <a:xfrm>
            <a:off x="696000" y="1322832"/>
            <a:ext cx="11160000" cy="400110"/>
          </a:xfrm>
        </p:spPr>
        <p:txBody>
          <a:bodyPr/>
          <a:lstStyle/>
          <a:p>
            <a:r>
              <a:rPr lang="en-US" altLang="zh-CN" dirty="0"/>
              <a:t>4.4.4 </a:t>
            </a:r>
            <a:r>
              <a:rPr lang="zh-CN" altLang="en-US" dirty="0"/>
              <a:t>确认测试</a:t>
            </a:r>
          </a:p>
        </p:txBody>
      </p:sp>
      <p:sp>
        <p:nvSpPr>
          <p:cNvPr id="12" name="文本占位符 11">
            <a:extLst>
              <a:ext uri="{FF2B5EF4-FFF2-40B4-BE49-F238E27FC236}">
                <a16:creationId xmlns:a16="http://schemas.microsoft.com/office/drawing/2014/main" id="{3CD68A36-538B-9B7C-C65E-3C7696A6C827}"/>
              </a:ext>
            </a:extLst>
          </p:cNvPr>
          <p:cNvSpPr>
            <a:spLocks noGrp="1"/>
          </p:cNvSpPr>
          <p:nvPr>
            <p:ph type="body" sz="quarter" idx="11"/>
          </p:nvPr>
        </p:nvSpPr>
        <p:spPr/>
        <p:txBody>
          <a:bodyPr/>
          <a:lstStyle/>
          <a:p>
            <a:endParaRPr lang="zh-CN" altLang="en-US"/>
          </a:p>
        </p:txBody>
      </p:sp>
      <p:sp>
        <p:nvSpPr>
          <p:cNvPr id="7" name="文本框 6"/>
          <p:cNvSpPr txBox="1"/>
          <p:nvPr/>
        </p:nvSpPr>
        <p:spPr>
          <a:xfrm>
            <a:off x="754380" y="2931160"/>
            <a:ext cx="476250" cy="158496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软件测试步骤</a:t>
            </a:r>
          </a:p>
        </p:txBody>
      </p:sp>
      <p:pic>
        <p:nvPicPr>
          <p:cNvPr id="2" name="图片 1" descr="A000220150318R98PPIC"/>
          <p:cNvPicPr>
            <a:picLocks noChangeAspect="1"/>
          </p:cNvPicPr>
          <p:nvPr/>
        </p:nvPicPr>
        <p:blipFill>
          <a:blip r:embed="rId3" cstate="print"/>
          <a:stretch>
            <a:fillRect/>
          </a:stretch>
        </p:blipFill>
        <p:spPr>
          <a:xfrm>
            <a:off x="535305" y="2065265"/>
            <a:ext cx="3392805" cy="3923030"/>
          </a:xfrm>
          <a:prstGeom prst="rect">
            <a:avLst/>
          </a:prstGeom>
        </p:spPr>
      </p:pic>
      <p:sp>
        <p:nvSpPr>
          <p:cNvPr id="13" name="文本框 12">
            <a:extLst>
              <a:ext uri="{FF2B5EF4-FFF2-40B4-BE49-F238E27FC236}">
                <a16:creationId xmlns:a16="http://schemas.microsoft.com/office/drawing/2014/main" id="{8FFB3BAA-2612-2565-A031-0A008773072B}"/>
              </a:ext>
            </a:extLst>
          </p:cNvPr>
          <p:cNvSpPr txBox="1"/>
          <p:nvPr/>
        </p:nvSpPr>
        <p:spPr>
          <a:xfrm>
            <a:off x="4899660" y="2065265"/>
            <a:ext cx="6156000" cy="1859035"/>
          </a:xfrm>
          <a:prstGeom prst="rect">
            <a:avLst/>
          </a:prstGeom>
          <a:noFill/>
        </p:spPr>
        <p:txBody>
          <a:bodyPr wrap="square" rtlCol="0">
            <a:spAutoFit/>
          </a:bodyPr>
          <a:lstStyle/>
          <a:p>
            <a:pPr indent="457200" algn="just">
              <a:lnSpc>
                <a:spcPct val="130000"/>
              </a:lnSpc>
            </a:pPr>
            <a:r>
              <a:rPr lang="zh-CN" altLang="en-US" dirty="0">
                <a:sym typeface="+mn-ea"/>
              </a:rPr>
              <a:t>确认测试的目的是验证所有的软件需求是否均被正确的实现。它是在软件开发过程结束时对软件进行评价，以确认它和软件需求分析阶段确定的指标是否一致。</a:t>
            </a:r>
            <a:endParaRPr lang="en-US" altLang="zh-CN" dirty="0">
              <a:sym typeface="+mn-ea"/>
            </a:endParaRPr>
          </a:p>
          <a:p>
            <a:pPr indent="457200" algn="just">
              <a:lnSpc>
                <a:spcPct val="130000"/>
              </a:lnSpc>
            </a:pPr>
            <a:r>
              <a:rPr lang="zh-CN" altLang="en-US" dirty="0">
                <a:sym typeface="+mn-ea"/>
              </a:rPr>
              <a:t>软件确认（</a:t>
            </a:r>
            <a:r>
              <a:rPr lang="en-US" altLang="zh-CN" dirty="0">
                <a:solidFill>
                  <a:srgbClr val="C00000"/>
                </a:solidFill>
                <a:sym typeface="+mn-ea"/>
              </a:rPr>
              <a:t>Validation</a:t>
            </a:r>
            <a:r>
              <a:rPr lang="zh-CN" altLang="en-US" dirty="0">
                <a:sym typeface="+mn-ea"/>
              </a:rPr>
              <a:t>）测试也称验收（</a:t>
            </a:r>
            <a:r>
              <a:rPr lang="en-US" altLang="zh-CN" dirty="0">
                <a:solidFill>
                  <a:srgbClr val="C00000"/>
                </a:solidFill>
                <a:sym typeface="+mn-ea"/>
              </a:rPr>
              <a:t>Verification</a:t>
            </a:r>
            <a:r>
              <a:rPr lang="zh-CN" altLang="en-US" dirty="0">
                <a:sym typeface="+mn-ea"/>
              </a:rPr>
              <a:t>）测试，其目标是验证软件的有效性。</a:t>
            </a:r>
          </a:p>
        </p:txBody>
      </p:sp>
      <p:graphicFrame>
        <p:nvGraphicFramePr>
          <p:cNvPr id="4" name="表格 3">
            <a:extLst>
              <a:ext uri="{FF2B5EF4-FFF2-40B4-BE49-F238E27FC236}">
                <a16:creationId xmlns:a16="http://schemas.microsoft.com/office/drawing/2014/main" id="{43F5F111-9CAF-42CC-D55B-239051C069CE}"/>
              </a:ext>
            </a:extLst>
          </p:cNvPr>
          <p:cNvGraphicFramePr>
            <a:graphicFrameLocks noGrp="1"/>
          </p:cNvGraphicFramePr>
          <p:nvPr>
            <p:extLst>
              <p:ext uri="{D42A27DB-BD31-4B8C-83A1-F6EECF244321}">
                <p14:modId xmlns:p14="http://schemas.microsoft.com/office/powerpoint/2010/main" val="57897863"/>
              </p:ext>
            </p:extLst>
          </p:nvPr>
        </p:nvGraphicFramePr>
        <p:xfrm>
          <a:off x="4899660" y="4026780"/>
          <a:ext cx="6155999" cy="1920240"/>
        </p:xfrm>
        <a:graphic>
          <a:graphicData uri="http://schemas.openxmlformats.org/drawingml/2006/table">
            <a:tbl>
              <a:tblPr/>
              <a:tblGrid>
                <a:gridCol w="1312832">
                  <a:extLst>
                    <a:ext uri="{9D8B030D-6E8A-4147-A177-3AD203B41FA5}">
                      <a16:colId xmlns:a16="http://schemas.microsoft.com/office/drawing/2014/main" val="13858299"/>
                    </a:ext>
                  </a:extLst>
                </a:gridCol>
                <a:gridCol w="2473708">
                  <a:extLst>
                    <a:ext uri="{9D8B030D-6E8A-4147-A177-3AD203B41FA5}">
                      <a16:colId xmlns:a16="http://schemas.microsoft.com/office/drawing/2014/main" val="941176414"/>
                    </a:ext>
                  </a:extLst>
                </a:gridCol>
                <a:gridCol w="2369459">
                  <a:extLst>
                    <a:ext uri="{9D8B030D-6E8A-4147-A177-3AD203B41FA5}">
                      <a16:colId xmlns:a16="http://schemas.microsoft.com/office/drawing/2014/main" val="443737686"/>
                    </a:ext>
                  </a:extLst>
                </a:gridCol>
              </a:tblGrid>
              <a:tr h="0">
                <a:tc>
                  <a:txBody>
                    <a:bodyPr/>
                    <a:lstStyle/>
                    <a:p>
                      <a:pPr algn="l">
                        <a:buNone/>
                      </a:pPr>
                      <a:r>
                        <a:rPr lang="zh-CN" altLang="en-US" sz="1600" dirty="0"/>
                        <a:t>特性</a:t>
                      </a:r>
                    </a:p>
                  </a:txBody>
                  <a:tcPr anchor="ctr">
                    <a:lnL>
                      <a:noFill/>
                    </a:lnL>
                    <a:lnR>
                      <a:noFill/>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zh-CN" altLang="en-US" sz="1600" dirty="0"/>
                        <a:t>验证 </a:t>
                      </a:r>
                      <a:r>
                        <a:rPr lang="en-US" altLang="zh-CN" sz="1600" dirty="0"/>
                        <a:t>(</a:t>
                      </a:r>
                      <a:r>
                        <a:rPr lang="en-US" sz="1600" dirty="0"/>
                        <a:t>Verification)</a:t>
                      </a:r>
                    </a:p>
                  </a:txBody>
                  <a:tcPr anchor="ctr">
                    <a:lnL>
                      <a:noFill/>
                    </a:lnL>
                    <a:lnR>
                      <a:noFill/>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zh-CN" altLang="en-US" sz="1600" dirty="0"/>
                        <a:t>确认 </a:t>
                      </a:r>
                      <a:r>
                        <a:rPr lang="en-US" altLang="zh-CN" sz="1600" dirty="0"/>
                        <a:t>(</a:t>
                      </a:r>
                      <a:r>
                        <a:rPr lang="en-US" sz="1600" dirty="0"/>
                        <a:t>Validation)</a:t>
                      </a:r>
                    </a:p>
                  </a:txBody>
                  <a:tcPr anchor="ctr">
                    <a:lnL>
                      <a:noFill/>
                    </a:lnL>
                    <a:lnR>
                      <a:noFill/>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54880891"/>
                  </a:ext>
                </a:extLst>
              </a:tr>
              <a:tr h="0">
                <a:tc>
                  <a:txBody>
                    <a:bodyPr/>
                    <a:lstStyle/>
                    <a:p>
                      <a:pPr algn="l">
                        <a:buNone/>
                      </a:pPr>
                      <a:r>
                        <a:rPr lang="zh-CN" altLang="en-US" sz="1600"/>
                        <a:t>核心问题</a:t>
                      </a:r>
                    </a:p>
                  </a:txBody>
                  <a:tcPr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l">
                        <a:buNone/>
                      </a:pPr>
                      <a:r>
                        <a:rPr lang="zh-CN" altLang="en-US" sz="1600" dirty="0"/>
                        <a:t>是否正确地构建了产品</a:t>
                      </a:r>
                    </a:p>
                  </a:txBody>
                  <a:tcPr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l">
                        <a:buNone/>
                      </a:pPr>
                      <a:r>
                        <a:rPr lang="zh-CN" altLang="en-US" sz="1600" dirty="0"/>
                        <a:t>是否构建了正确的产品</a:t>
                      </a:r>
                    </a:p>
                  </a:txBody>
                  <a:tcPr anchor="ctr">
                    <a:lnL>
                      <a:noFill/>
                    </a:lnL>
                    <a:lnR>
                      <a:noFill/>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3986531"/>
                  </a:ext>
                </a:extLst>
              </a:tr>
              <a:tr h="0">
                <a:tc>
                  <a:txBody>
                    <a:bodyPr/>
                    <a:lstStyle/>
                    <a:p>
                      <a:pPr algn="l">
                        <a:buNone/>
                      </a:pPr>
                      <a:r>
                        <a:rPr lang="zh-CN" altLang="en-US" sz="1600"/>
                        <a:t>关注焦点</a:t>
                      </a:r>
                    </a:p>
                  </a:txBody>
                  <a:tcPr anchor="ctr">
                    <a:lnL>
                      <a:noFill/>
                    </a:lnL>
                    <a:lnR>
                      <a:noFill/>
                    </a:lnR>
                    <a:lnT>
                      <a:noFill/>
                    </a:lnT>
                    <a:lnB>
                      <a:noFill/>
                    </a:lnB>
                    <a:noFill/>
                  </a:tcPr>
                </a:tc>
                <a:tc>
                  <a:txBody>
                    <a:bodyPr/>
                    <a:lstStyle/>
                    <a:p>
                      <a:pPr algn="l">
                        <a:buNone/>
                      </a:pPr>
                      <a:r>
                        <a:rPr lang="zh-CN" altLang="en-US" sz="1600"/>
                        <a:t>过程、规范、内部逻辑</a:t>
                      </a:r>
                    </a:p>
                  </a:txBody>
                  <a:tcPr anchor="ctr">
                    <a:lnL>
                      <a:noFill/>
                    </a:lnL>
                    <a:lnR>
                      <a:noFill/>
                    </a:lnR>
                    <a:lnT>
                      <a:noFill/>
                    </a:lnT>
                    <a:lnB>
                      <a:noFill/>
                    </a:lnB>
                    <a:noFill/>
                  </a:tcPr>
                </a:tc>
                <a:tc>
                  <a:txBody>
                    <a:bodyPr/>
                    <a:lstStyle/>
                    <a:p>
                      <a:pPr algn="l">
                        <a:buNone/>
                      </a:pPr>
                      <a:r>
                        <a:rPr lang="zh-CN" altLang="en-US" sz="1600"/>
                        <a:t>用户、需求、最终价值</a:t>
                      </a:r>
                    </a:p>
                  </a:txBody>
                  <a:tcPr anchor="ctr">
                    <a:lnL>
                      <a:noFill/>
                    </a:lnL>
                    <a:lnR>
                      <a:noFill/>
                    </a:lnR>
                    <a:lnT>
                      <a:noFill/>
                    </a:lnT>
                    <a:lnB>
                      <a:noFill/>
                    </a:lnB>
                    <a:noFill/>
                  </a:tcPr>
                </a:tc>
                <a:extLst>
                  <a:ext uri="{0D108BD9-81ED-4DB2-BD59-A6C34878D82A}">
                    <a16:rowId xmlns:a16="http://schemas.microsoft.com/office/drawing/2014/main" val="1270064158"/>
                  </a:ext>
                </a:extLst>
              </a:tr>
              <a:tr h="0">
                <a:tc>
                  <a:txBody>
                    <a:bodyPr/>
                    <a:lstStyle/>
                    <a:p>
                      <a:pPr algn="l">
                        <a:buNone/>
                      </a:pPr>
                      <a:r>
                        <a:rPr lang="zh-CN" altLang="en-US" sz="1600"/>
                        <a:t>主要手段</a:t>
                      </a:r>
                    </a:p>
                  </a:txBody>
                  <a:tcPr anchor="ctr">
                    <a:lnL>
                      <a:noFill/>
                    </a:lnL>
                    <a:lnR>
                      <a:noFill/>
                    </a:lnR>
                    <a:lnT>
                      <a:noFill/>
                    </a:lnT>
                    <a:lnB>
                      <a:noFill/>
                    </a:lnB>
                    <a:noFill/>
                  </a:tcPr>
                </a:tc>
                <a:tc>
                  <a:txBody>
                    <a:bodyPr/>
                    <a:lstStyle/>
                    <a:p>
                      <a:pPr algn="l">
                        <a:buNone/>
                      </a:pPr>
                      <a:r>
                        <a:rPr lang="zh-CN" altLang="en-US" sz="1600" dirty="0"/>
                        <a:t>评审、检查、静态分析、单元</a:t>
                      </a:r>
                      <a:r>
                        <a:rPr lang="en-US" altLang="zh-CN" sz="1600" dirty="0"/>
                        <a:t>/</a:t>
                      </a:r>
                      <a:r>
                        <a:rPr lang="zh-CN" altLang="en-US" sz="1600" dirty="0"/>
                        <a:t>集成测试</a:t>
                      </a:r>
                    </a:p>
                  </a:txBody>
                  <a:tcPr anchor="ctr">
                    <a:lnL>
                      <a:noFill/>
                    </a:lnL>
                    <a:lnR>
                      <a:noFill/>
                    </a:lnR>
                    <a:lnT>
                      <a:noFill/>
                    </a:lnT>
                    <a:lnB>
                      <a:noFill/>
                    </a:lnB>
                    <a:noFill/>
                  </a:tcPr>
                </a:tc>
                <a:tc>
                  <a:txBody>
                    <a:bodyPr/>
                    <a:lstStyle/>
                    <a:p>
                      <a:pPr algn="l">
                        <a:buNone/>
                      </a:pPr>
                      <a:r>
                        <a:rPr lang="zh-CN" altLang="en-US" sz="1600" dirty="0"/>
                        <a:t>动态测试、系统测试、用户验收测试</a:t>
                      </a:r>
                    </a:p>
                  </a:txBody>
                  <a:tcPr anchor="ctr">
                    <a:lnL>
                      <a:noFill/>
                    </a:lnL>
                    <a:lnR>
                      <a:noFill/>
                    </a:lnR>
                    <a:lnT>
                      <a:noFill/>
                    </a:lnT>
                    <a:lnB>
                      <a:noFill/>
                    </a:lnB>
                    <a:noFill/>
                  </a:tcPr>
                </a:tc>
                <a:extLst>
                  <a:ext uri="{0D108BD9-81ED-4DB2-BD59-A6C34878D82A}">
                    <a16:rowId xmlns:a16="http://schemas.microsoft.com/office/drawing/2014/main" val="155131515"/>
                  </a:ext>
                </a:extLst>
              </a:tr>
              <a:tr h="0">
                <a:tc>
                  <a:txBody>
                    <a:bodyPr/>
                    <a:lstStyle/>
                    <a:p>
                      <a:pPr algn="l">
                        <a:buNone/>
                      </a:pPr>
                      <a:r>
                        <a:rPr lang="zh-CN" altLang="en-US" sz="1600"/>
                        <a:t>执行时机</a:t>
                      </a:r>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a:t>贯穿整个开发过程</a:t>
                      </a:r>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dirty="0"/>
                        <a:t>主要在开发后期</a:t>
                      </a:r>
                    </a:p>
                  </a:txBody>
                  <a:tcPr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4302134"/>
                  </a:ext>
                </a:extLst>
              </a:tr>
            </a:tbl>
          </a:graphicData>
        </a:graphic>
      </p:graphicFrame>
    </p:spTree>
  </p:cSld>
  <p:clrMapOvr>
    <a:masterClrMapping/>
  </p:clrMapOvr>
  <p:transition>
    <p:wedg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11520000" cy="535531"/>
          </a:xfrm>
        </p:spPr>
        <p:txBody>
          <a:bodyPr/>
          <a:lstStyle/>
          <a:p>
            <a:r>
              <a:rPr lang="en-US" dirty="0"/>
              <a:t>4.4 </a:t>
            </a:r>
            <a:r>
              <a:rPr lang="zh-CN" altLang="en-US" dirty="0"/>
              <a:t>软件测试步骤</a:t>
            </a:r>
          </a:p>
        </p:txBody>
      </p:sp>
      <p:sp>
        <p:nvSpPr>
          <p:cNvPr id="5" name="文本占位符 4">
            <a:extLst>
              <a:ext uri="{FF2B5EF4-FFF2-40B4-BE49-F238E27FC236}">
                <a16:creationId xmlns:a16="http://schemas.microsoft.com/office/drawing/2014/main" id="{697F29B4-B7E7-394E-0805-4548F496AFD4}"/>
              </a:ext>
            </a:extLst>
          </p:cNvPr>
          <p:cNvSpPr>
            <a:spLocks noGrp="1"/>
          </p:cNvSpPr>
          <p:nvPr>
            <p:ph type="body" sz="quarter" idx="10"/>
          </p:nvPr>
        </p:nvSpPr>
        <p:spPr>
          <a:xfrm>
            <a:off x="696000" y="1322832"/>
            <a:ext cx="11160000" cy="400110"/>
          </a:xfrm>
        </p:spPr>
        <p:txBody>
          <a:bodyPr/>
          <a:lstStyle/>
          <a:p>
            <a:r>
              <a:rPr lang="en-US" altLang="zh-CN" dirty="0"/>
              <a:t>4.4.4 </a:t>
            </a:r>
            <a:r>
              <a:rPr lang="zh-CN" altLang="en-US" dirty="0"/>
              <a:t>确认测试</a:t>
            </a:r>
          </a:p>
        </p:txBody>
      </p:sp>
      <p:sp>
        <p:nvSpPr>
          <p:cNvPr id="9" name="文本占位符 8">
            <a:extLst>
              <a:ext uri="{FF2B5EF4-FFF2-40B4-BE49-F238E27FC236}">
                <a16:creationId xmlns:a16="http://schemas.microsoft.com/office/drawing/2014/main" id="{41A9FA6C-9022-6289-A724-AB7A5435598B}"/>
              </a:ext>
            </a:extLst>
          </p:cNvPr>
          <p:cNvSpPr>
            <a:spLocks noGrp="1"/>
          </p:cNvSpPr>
          <p:nvPr>
            <p:ph type="body" sz="quarter" idx="11"/>
          </p:nvPr>
        </p:nvSpPr>
        <p:spPr/>
        <p:txBody>
          <a:bodyPr/>
          <a:lstStyle/>
          <a:p>
            <a:endParaRPr lang="zh-CN" altLang="en-US"/>
          </a:p>
        </p:txBody>
      </p:sp>
      <p:sp>
        <p:nvSpPr>
          <p:cNvPr id="21" name="MH_Text_1"/>
          <p:cNvSpPr/>
          <p:nvPr>
            <p:custDataLst>
              <p:tags r:id="rId1"/>
            </p:custDataLst>
          </p:nvPr>
        </p:nvSpPr>
        <p:spPr>
          <a:xfrm>
            <a:off x="868680" y="3155896"/>
            <a:ext cx="10296000" cy="2701925"/>
          </a:xfrm>
          <a:prstGeom prst="rect">
            <a:avLst/>
          </a:prstGeom>
          <a:noFill/>
          <a:ln w="12700" cap="flat" cmpd="sng" algn="ctr">
            <a:solidFill>
              <a:srgbClr val="CC0066"/>
            </a:solidFill>
            <a:prstDash val="solid"/>
            <a:miter lim="800000"/>
          </a:ln>
          <a:effectLst/>
        </p:spPr>
        <p:txBody>
          <a:bodyPr anchor="ctr">
            <a:normAutofit/>
          </a:bodyPr>
          <a:lstStyle/>
          <a:p>
            <a:pPr marL="0" indent="0" algn="l" fontAlgn="auto">
              <a:lnSpc>
                <a:spcPct val="130000"/>
              </a:lnSpc>
              <a:spcAft>
                <a:spcPts val="600"/>
              </a:spcAft>
            </a:pPr>
            <a:r>
              <a:rPr lang="en-US" dirty="0">
                <a:latin typeface="+mn-ea"/>
                <a:sym typeface="+mn-ea"/>
              </a:rPr>
              <a:t>       </a:t>
            </a:r>
            <a:r>
              <a:rPr dirty="0">
                <a:latin typeface="+mn-ea"/>
                <a:sym typeface="+mn-ea"/>
              </a:rPr>
              <a:t>程序员经过反复测试检查不出问题后，在交付给用户使用之前，应该在用户的参与下进行确认测试。为了使用户能积极主动地参与确认测试，特别是为了让用户能有效地使用系统，通常在软件验收之前由开发部门对用户进行操作培训。</a:t>
            </a:r>
          </a:p>
          <a:p>
            <a:pPr marL="0" indent="0" algn="l" fontAlgn="auto">
              <a:lnSpc>
                <a:spcPct val="130000"/>
              </a:lnSpc>
              <a:spcAft>
                <a:spcPts val="600"/>
              </a:spcAft>
            </a:pPr>
            <a:r>
              <a:rPr dirty="0">
                <a:latin typeface="+mn-ea"/>
                <a:sym typeface="+mn-ea"/>
              </a:rPr>
              <a:t>       确认测试常使用黑盒法测试。确认测试时，主要使用实际数据进行系统运行，目的是验证系统能否满足用户的需求。这里常常会发现需求说明书中的一些错误，应当及时改正。确认测试若不能满足用户需要，需在与用户充分协商后，确定解决问题的方案，在修改软件后仍需再次进行确认测试。只有在确认测试通过后才能进入下一阶段工作。</a:t>
            </a:r>
            <a:endParaRPr lang="zh-CN" altLang="en-US" dirty="0">
              <a:latin typeface="+mn-ea"/>
              <a:cs typeface="宋体" panose="02010600030101010101" pitchFamily="2" charset="-122"/>
            </a:endParaRPr>
          </a:p>
        </p:txBody>
      </p:sp>
      <p:sp>
        <p:nvSpPr>
          <p:cNvPr id="22" name="MH_SubTitle_1"/>
          <p:cNvSpPr/>
          <p:nvPr>
            <p:custDataLst>
              <p:tags r:id="rId2"/>
            </p:custDataLst>
          </p:nvPr>
        </p:nvSpPr>
        <p:spPr>
          <a:xfrm>
            <a:off x="868680" y="2595508"/>
            <a:ext cx="7650480" cy="563563"/>
          </a:xfrm>
          <a:custGeom>
            <a:avLst/>
            <a:gdLst>
              <a:gd name="connsiteX0" fmla="*/ 4441454 w 4758105"/>
              <a:gd name="connsiteY0" fmla="*/ 563487 h 563709"/>
              <a:gd name="connsiteX1" fmla="*/ 4549542 w 4758105"/>
              <a:gd name="connsiteY1" fmla="*/ 563487 h 563709"/>
              <a:gd name="connsiteX2" fmla="*/ 4549460 w 4758105"/>
              <a:gd name="connsiteY2" fmla="*/ 563709 h 563709"/>
              <a:gd name="connsiteX3" fmla="*/ 4441372 w 4758105"/>
              <a:gd name="connsiteY3" fmla="*/ 563709 h 563709"/>
              <a:gd name="connsiteX4" fmla="*/ 82 w 4758105"/>
              <a:gd name="connsiteY4" fmla="*/ 563487 h 563709"/>
              <a:gd name="connsiteX5" fmla="*/ 108170 w 4758105"/>
              <a:gd name="connsiteY5" fmla="*/ 563487 h 563709"/>
              <a:gd name="connsiteX6" fmla="*/ 108088 w 4758105"/>
              <a:gd name="connsiteY6" fmla="*/ 563709 h 563709"/>
              <a:gd name="connsiteX7" fmla="*/ 0 w 4758105"/>
              <a:gd name="connsiteY7" fmla="*/ 563709 h 563709"/>
              <a:gd name="connsiteX8" fmla="*/ 4758023 w 4758105"/>
              <a:gd name="connsiteY8" fmla="*/ 221 h 563709"/>
              <a:gd name="connsiteX9" fmla="*/ 4758105 w 4758105"/>
              <a:gd name="connsiteY9" fmla="*/ 221 h 563709"/>
              <a:gd name="connsiteX10" fmla="*/ 4758105 w 4758105"/>
              <a:gd name="connsiteY10" fmla="*/ 563487 h 563709"/>
              <a:gd name="connsiteX11" fmla="*/ 4549542 w 4758105"/>
              <a:gd name="connsiteY11" fmla="*/ 563487 h 563709"/>
              <a:gd name="connsiteX12" fmla="*/ 316651 w 4758105"/>
              <a:gd name="connsiteY12" fmla="*/ 221 h 563709"/>
              <a:gd name="connsiteX13" fmla="*/ 4649935 w 4758105"/>
              <a:gd name="connsiteY13" fmla="*/ 221 h 563709"/>
              <a:gd name="connsiteX14" fmla="*/ 4441454 w 4758105"/>
              <a:gd name="connsiteY14" fmla="*/ 563487 h 563709"/>
              <a:gd name="connsiteX15" fmla="*/ 108170 w 4758105"/>
              <a:gd name="connsiteY15" fmla="*/ 563487 h 563709"/>
              <a:gd name="connsiteX16" fmla="*/ 0 w 4758105"/>
              <a:gd name="connsiteY16" fmla="*/ 221 h 563709"/>
              <a:gd name="connsiteX17" fmla="*/ 208563 w 4758105"/>
              <a:gd name="connsiteY17" fmla="*/ 221 h 563709"/>
              <a:gd name="connsiteX18" fmla="*/ 82 w 4758105"/>
              <a:gd name="connsiteY18" fmla="*/ 563487 h 563709"/>
              <a:gd name="connsiteX19" fmla="*/ 0 w 4758105"/>
              <a:gd name="connsiteY19" fmla="*/ 563487 h 563709"/>
              <a:gd name="connsiteX20" fmla="*/ 4650017 w 4758105"/>
              <a:gd name="connsiteY20" fmla="*/ 0 h 563709"/>
              <a:gd name="connsiteX21" fmla="*/ 4758105 w 4758105"/>
              <a:gd name="connsiteY21" fmla="*/ 0 h 563709"/>
              <a:gd name="connsiteX22" fmla="*/ 4758023 w 4758105"/>
              <a:gd name="connsiteY22" fmla="*/ 221 h 563709"/>
              <a:gd name="connsiteX23" fmla="*/ 4649935 w 4758105"/>
              <a:gd name="connsiteY23" fmla="*/ 221 h 563709"/>
              <a:gd name="connsiteX24" fmla="*/ 208645 w 4758105"/>
              <a:gd name="connsiteY24" fmla="*/ 0 h 563709"/>
              <a:gd name="connsiteX25" fmla="*/ 316733 w 4758105"/>
              <a:gd name="connsiteY25" fmla="*/ 0 h 563709"/>
              <a:gd name="connsiteX26" fmla="*/ 316651 w 4758105"/>
              <a:gd name="connsiteY26" fmla="*/ 221 h 563709"/>
              <a:gd name="connsiteX27" fmla="*/ 208563 w 4758105"/>
              <a:gd name="connsiteY27" fmla="*/ 221 h 563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758105" h="563709">
                <a:moveTo>
                  <a:pt x="4441454" y="563487"/>
                </a:moveTo>
                <a:lnTo>
                  <a:pt x="4549542" y="563487"/>
                </a:lnTo>
                <a:lnTo>
                  <a:pt x="4549460" y="563709"/>
                </a:lnTo>
                <a:lnTo>
                  <a:pt x="4441372" y="563709"/>
                </a:lnTo>
                <a:close/>
                <a:moveTo>
                  <a:pt x="82" y="563487"/>
                </a:moveTo>
                <a:lnTo>
                  <a:pt x="108170" y="563487"/>
                </a:lnTo>
                <a:lnTo>
                  <a:pt x="108088" y="563709"/>
                </a:lnTo>
                <a:lnTo>
                  <a:pt x="0" y="563709"/>
                </a:lnTo>
                <a:close/>
                <a:moveTo>
                  <a:pt x="4758023" y="221"/>
                </a:moveTo>
                <a:lnTo>
                  <a:pt x="4758105" y="221"/>
                </a:lnTo>
                <a:lnTo>
                  <a:pt x="4758105" y="563487"/>
                </a:lnTo>
                <a:lnTo>
                  <a:pt x="4549542" y="563487"/>
                </a:lnTo>
                <a:close/>
                <a:moveTo>
                  <a:pt x="316651" y="221"/>
                </a:moveTo>
                <a:lnTo>
                  <a:pt x="4649935" y="221"/>
                </a:lnTo>
                <a:lnTo>
                  <a:pt x="4441454" y="563487"/>
                </a:lnTo>
                <a:lnTo>
                  <a:pt x="108170" y="563487"/>
                </a:lnTo>
                <a:close/>
                <a:moveTo>
                  <a:pt x="0" y="221"/>
                </a:moveTo>
                <a:lnTo>
                  <a:pt x="208563" y="221"/>
                </a:lnTo>
                <a:lnTo>
                  <a:pt x="82" y="563487"/>
                </a:lnTo>
                <a:lnTo>
                  <a:pt x="0" y="563487"/>
                </a:lnTo>
                <a:close/>
                <a:moveTo>
                  <a:pt x="4650017" y="0"/>
                </a:moveTo>
                <a:lnTo>
                  <a:pt x="4758105" y="0"/>
                </a:lnTo>
                <a:lnTo>
                  <a:pt x="4758023" y="221"/>
                </a:lnTo>
                <a:lnTo>
                  <a:pt x="4649935" y="221"/>
                </a:lnTo>
                <a:close/>
                <a:moveTo>
                  <a:pt x="208645" y="0"/>
                </a:moveTo>
                <a:lnTo>
                  <a:pt x="316733" y="0"/>
                </a:lnTo>
                <a:lnTo>
                  <a:pt x="316651" y="221"/>
                </a:lnTo>
                <a:lnTo>
                  <a:pt x="208563" y="221"/>
                </a:lnTo>
                <a:close/>
              </a:path>
            </a:pathLst>
          </a:custGeom>
          <a:solidFill>
            <a:srgbClr val="CC0066"/>
          </a:solidFill>
          <a:ln w="12700" cap="flat" cmpd="sng" algn="ctr">
            <a:noFill/>
            <a:prstDash val="solid"/>
            <a:miter lim="800000"/>
          </a:ln>
          <a:effectLst/>
        </p:spPr>
        <p:txBody>
          <a:bodyPr anchor="ctr">
            <a:normAutofit fontScale="95000"/>
          </a:bodyPr>
          <a:lstStyle/>
          <a:p>
            <a:pPr algn="ctr" eaLnBrk="1" fontAlgn="auto" hangingPunct="1">
              <a:spcBef>
                <a:spcPts val="0"/>
              </a:spcBef>
              <a:spcAft>
                <a:spcPts val="0"/>
              </a:spcAft>
              <a:defRPr/>
            </a:pPr>
            <a:r>
              <a:rPr lang="en-US" altLang="zh-CN" sz="2400" kern="0" dirty="0">
                <a:solidFill>
                  <a:srgbClr val="FFFFFF"/>
                </a:solidFill>
                <a:latin typeface="+mj-ea"/>
                <a:ea typeface="+mj-ea"/>
                <a:cs typeface="Times New Roman" panose="02020603050405020304" pitchFamily="18" charset="0"/>
              </a:rPr>
              <a:t>1.</a:t>
            </a:r>
            <a:r>
              <a:rPr lang="en-US" altLang="zh-CN" sz="2400" kern="0" dirty="0">
                <a:solidFill>
                  <a:srgbClr val="FFFFFF"/>
                </a:solidFill>
                <a:latin typeface="+mj-ea"/>
                <a:ea typeface="+mj-ea"/>
                <a:cs typeface="Times New Roman" panose="02020603050405020304" pitchFamily="18" charset="0"/>
                <a:sym typeface="+mn-ea"/>
              </a:rPr>
              <a:t>确认测试必须有用户积极参与，或以用户为主进行</a:t>
            </a:r>
            <a:endParaRPr lang="en-US" altLang="zh-CN" sz="2400" kern="0" dirty="0">
              <a:solidFill>
                <a:srgbClr val="FFFFFF"/>
              </a:solidFill>
              <a:latin typeface="+mj-ea"/>
              <a:ea typeface="+mj-ea"/>
              <a:cs typeface="Times New Roman" panose="02020603050405020304" pitchFamily="18" charset="0"/>
            </a:endParaRPr>
          </a:p>
        </p:txBody>
      </p:sp>
    </p:spTree>
  </p:cSld>
  <p:clrMapOvr>
    <a:masterClrMapping/>
  </p:clrMapOvr>
  <p:transition>
    <p:wedg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11520000" cy="535531"/>
          </a:xfrm>
        </p:spPr>
        <p:txBody>
          <a:bodyPr/>
          <a:lstStyle/>
          <a:p>
            <a:r>
              <a:rPr lang="en-US" dirty="0"/>
              <a:t>4.4 </a:t>
            </a:r>
            <a:r>
              <a:rPr lang="zh-CN" altLang="en-US" dirty="0"/>
              <a:t>软件测试步骤</a:t>
            </a:r>
          </a:p>
        </p:txBody>
      </p:sp>
      <p:sp>
        <p:nvSpPr>
          <p:cNvPr id="5" name="文本占位符 4">
            <a:extLst>
              <a:ext uri="{FF2B5EF4-FFF2-40B4-BE49-F238E27FC236}">
                <a16:creationId xmlns:a16="http://schemas.microsoft.com/office/drawing/2014/main" id="{50E4FEB0-8087-695D-54F1-BC4ED0F6DD38}"/>
              </a:ext>
            </a:extLst>
          </p:cNvPr>
          <p:cNvSpPr>
            <a:spLocks noGrp="1"/>
          </p:cNvSpPr>
          <p:nvPr>
            <p:ph type="body" sz="quarter" idx="10"/>
          </p:nvPr>
        </p:nvSpPr>
        <p:spPr>
          <a:xfrm>
            <a:off x="696000" y="1322832"/>
            <a:ext cx="11160000" cy="400110"/>
          </a:xfrm>
        </p:spPr>
        <p:txBody>
          <a:bodyPr/>
          <a:lstStyle/>
          <a:p>
            <a:r>
              <a:rPr lang="en-US" altLang="zh-CN" dirty="0"/>
              <a:t>4.4.4 </a:t>
            </a:r>
            <a:r>
              <a:rPr lang="zh-CN" altLang="en-US" dirty="0"/>
              <a:t>确认测试</a:t>
            </a:r>
          </a:p>
        </p:txBody>
      </p:sp>
      <p:sp>
        <p:nvSpPr>
          <p:cNvPr id="9" name="文本占位符 8">
            <a:extLst>
              <a:ext uri="{FF2B5EF4-FFF2-40B4-BE49-F238E27FC236}">
                <a16:creationId xmlns:a16="http://schemas.microsoft.com/office/drawing/2014/main" id="{4BB04C7D-FB2C-58C5-8BA0-7A03B8840413}"/>
              </a:ext>
            </a:extLst>
          </p:cNvPr>
          <p:cNvSpPr>
            <a:spLocks noGrp="1"/>
          </p:cNvSpPr>
          <p:nvPr>
            <p:ph type="body" sz="quarter" idx="11"/>
          </p:nvPr>
        </p:nvSpPr>
        <p:spPr/>
        <p:txBody>
          <a:bodyPr/>
          <a:lstStyle/>
          <a:p>
            <a:endParaRPr lang="zh-CN" altLang="en-US"/>
          </a:p>
        </p:txBody>
      </p:sp>
      <p:sp>
        <p:nvSpPr>
          <p:cNvPr id="21" name="MH_Text_1"/>
          <p:cNvSpPr/>
          <p:nvPr>
            <p:custDataLst>
              <p:tags r:id="rId1"/>
            </p:custDataLst>
          </p:nvPr>
        </p:nvSpPr>
        <p:spPr>
          <a:xfrm>
            <a:off x="948000" y="3169860"/>
            <a:ext cx="10296000" cy="2172335"/>
          </a:xfrm>
          <a:prstGeom prst="rect">
            <a:avLst/>
          </a:prstGeom>
          <a:noFill/>
          <a:ln w="12700" cap="flat" cmpd="sng" algn="ctr">
            <a:solidFill>
              <a:srgbClr val="CC0066"/>
            </a:solidFill>
            <a:prstDash val="solid"/>
            <a:miter lim="800000"/>
          </a:ln>
          <a:effectLst/>
        </p:spPr>
        <p:txBody>
          <a:bodyPr anchor="ctr">
            <a:normAutofit/>
          </a:bodyPr>
          <a:lstStyle/>
          <a:p>
            <a:pPr marL="0" indent="0" algn="l" fontAlgn="auto">
              <a:lnSpc>
                <a:spcPct val="130000"/>
              </a:lnSpc>
            </a:pPr>
            <a:r>
              <a:rPr dirty="0">
                <a:latin typeface="+mn-ea"/>
                <a:sym typeface="+mn-ea"/>
              </a:rPr>
              <a:t>       确认测试的一个重要内容是复审软件配置。复审的目的是保证软件配置的所有成分都齐全，各方面的质量都符合要求，文档与程序一致，要编排好文档目录，以利于维护。</a:t>
            </a:r>
          </a:p>
          <a:p>
            <a:pPr marL="0" indent="0" algn="l" fontAlgn="auto">
              <a:lnSpc>
                <a:spcPct val="130000"/>
              </a:lnSpc>
            </a:pPr>
            <a:r>
              <a:rPr dirty="0">
                <a:latin typeface="+mn-ea"/>
                <a:sym typeface="+mn-ea"/>
              </a:rPr>
              <a:t>确认测试过程要严格遵循用户手册及其他操作程序，以便仔细检验用户手册的完整性和正确性。一旦发现遗漏或错误必须记录下来，并进行补充或改正。</a:t>
            </a:r>
          </a:p>
        </p:txBody>
      </p:sp>
      <p:sp>
        <p:nvSpPr>
          <p:cNvPr id="22" name="MH_SubTitle_1"/>
          <p:cNvSpPr/>
          <p:nvPr>
            <p:custDataLst>
              <p:tags r:id="rId2"/>
            </p:custDataLst>
          </p:nvPr>
        </p:nvSpPr>
        <p:spPr>
          <a:xfrm>
            <a:off x="948000" y="2609155"/>
            <a:ext cx="7045364" cy="563563"/>
          </a:xfrm>
          <a:custGeom>
            <a:avLst/>
            <a:gdLst>
              <a:gd name="connsiteX0" fmla="*/ 4441454 w 4758105"/>
              <a:gd name="connsiteY0" fmla="*/ 563487 h 563709"/>
              <a:gd name="connsiteX1" fmla="*/ 4549542 w 4758105"/>
              <a:gd name="connsiteY1" fmla="*/ 563487 h 563709"/>
              <a:gd name="connsiteX2" fmla="*/ 4549460 w 4758105"/>
              <a:gd name="connsiteY2" fmla="*/ 563709 h 563709"/>
              <a:gd name="connsiteX3" fmla="*/ 4441372 w 4758105"/>
              <a:gd name="connsiteY3" fmla="*/ 563709 h 563709"/>
              <a:gd name="connsiteX4" fmla="*/ 82 w 4758105"/>
              <a:gd name="connsiteY4" fmla="*/ 563487 h 563709"/>
              <a:gd name="connsiteX5" fmla="*/ 108170 w 4758105"/>
              <a:gd name="connsiteY5" fmla="*/ 563487 h 563709"/>
              <a:gd name="connsiteX6" fmla="*/ 108088 w 4758105"/>
              <a:gd name="connsiteY6" fmla="*/ 563709 h 563709"/>
              <a:gd name="connsiteX7" fmla="*/ 0 w 4758105"/>
              <a:gd name="connsiteY7" fmla="*/ 563709 h 563709"/>
              <a:gd name="connsiteX8" fmla="*/ 4758023 w 4758105"/>
              <a:gd name="connsiteY8" fmla="*/ 221 h 563709"/>
              <a:gd name="connsiteX9" fmla="*/ 4758105 w 4758105"/>
              <a:gd name="connsiteY9" fmla="*/ 221 h 563709"/>
              <a:gd name="connsiteX10" fmla="*/ 4758105 w 4758105"/>
              <a:gd name="connsiteY10" fmla="*/ 563487 h 563709"/>
              <a:gd name="connsiteX11" fmla="*/ 4549542 w 4758105"/>
              <a:gd name="connsiteY11" fmla="*/ 563487 h 563709"/>
              <a:gd name="connsiteX12" fmla="*/ 316651 w 4758105"/>
              <a:gd name="connsiteY12" fmla="*/ 221 h 563709"/>
              <a:gd name="connsiteX13" fmla="*/ 4649935 w 4758105"/>
              <a:gd name="connsiteY13" fmla="*/ 221 h 563709"/>
              <a:gd name="connsiteX14" fmla="*/ 4441454 w 4758105"/>
              <a:gd name="connsiteY14" fmla="*/ 563487 h 563709"/>
              <a:gd name="connsiteX15" fmla="*/ 108170 w 4758105"/>
              <a:gd name="connsiteY15" fmla="*/ 563487 h 563709"/>
              <a:gd name="connsiteX16" fmla="*/ 0 w 4758105"/>
              <a:gd name="connsiteY16" fmla="*/ 221 h 563709"/>
              <a:gd name="connsiteX17" fmla="*/ 208563 w 4758105"/>
              <a:gd name="connsiteY17" fmla="*/ 221 h 563709"/>
              <a:gd name="connsiteX18" fmla="*/ 82 w 4758105"/>
              <a:gd name="connsiteY18" fmla="*/ 563487 h 563709"/>
              <a:gd name="connsiteX19" fmla="*/ 0 w 4758105"/>
              <a:gd name="connsiteY19" fmla="*/ 563487 h 563709"/>
              <a:gd name="connsiteX20" fmla="*/ 4650017 w 4758105"/>
              <a:gd name="connsiteY20" fmla="*/ 0 h 563709"/>
              <a:gd name="connsiteX21" fmla="*/ 4758105 w 4758105"/>
              <a:gd name="connsiteY21" fmla="*/ 0 h 563709"/>
              <a:gd name="connsiteX22" fmla="*/ 4758023 w 4758105"/>
              <a:gd name="connsiteY22" fmla="*/ 221 h 563709"/>
              <a:gd name="connsiteX23" fmla="*/ 4649935 w 4758105"/>
              <a:gd name="connsiteY23" fmla="*/ 221 h 563709"/>
              <a:gd name="connsiteX24" fmla="*/ 208645 w 4758105"/>
              <a:gd name="connsiteY24" fmla="*/ 0 h 563709"/>
              <a:gd name="connsiteX25" fmla="*/ 316733 w 4758105"/>
              <a:gd name="connsiteY25" fmla="*/ 0 h 563709"/>
              <a:gd name="connsiteX26" fmla="*/ 316651 w 4758105"/>
              <a:gd name="connsiteY26" fmla="*/ 221 h 563709"/>
              <a:gd name="connsiteX27" fmla="*/ 208563 w 4758105"/>
              <a:gd name="connsiteY27" fmla="*/ 221 h 563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758105" h="563709">
                <a:moveTo>
                  <a:pt x="4441454" y="563487"/>
                </a:moveTo>
                <a:lnTo>
                  <a:pt x="4549542" y="563487"/>
                </a:lnTo>
                <a:lnTo>
                  <a:pt x="4549460" y="563709"/>
                </a:lnTo>
                <a:lnTo>
                  <a:pt x="4441372" y="563709"/>
                </a:lnTo>
                <a:close/>
                <a:moveTo>
                  <a:pt x="82" y="563487"/>
                </a:moveTo>
                <a:lnTo>
                  <a:pt x="108170" y="563487"/>
                </a:lnTo>
                <a:lnTo>
                  <a:pt x="108088" y="563709"/>
                </a:lnTo>
                <a:lnTo>
                  <a:pt x="0" y="563709"/>
                </a:lnTo>
                <a:close/>
                <a:moveTo>
                  <a:pt x="4758023" y="221"/>
                </a:moveTo>
                <a:lnTo>
                  <a:pt x="4758105" y="221"/>
                </a:lnTo>
                <a:lnTo>
                  <a:pt x="4758105" y="563487"/>
                </a:lnTo>
                <a:lnTo>
                  <a:pt x="4549542" y="563487"/>
                </a:lnTo>
                <a:close/>
                <a:moveTo>
                  <a:pt x="316651" y="221"/>
                </a:moveTo>
                <a:lnTo>
                  <a:pt x="4649935" y="221"/>
                </a:lnTo>
                <a:lnTo>
                  <a:pt x="4441454" y="563487"/>
                </a:lnTo>
                <a:lnTo>
                  <a:pt x="108170" y="563487"/>
                </a:lnTo>
                <a:close/>
                <a:moveTo>
                  <a:pt x="0" y="221"/>
                </a:moveTo>
                <a:lnTo>
                  <a:pt x="208563" y="221"/>
                </a:lnTo>
                <a:lnTo>
                  <a:pt x="82" y="563487"/>
                </a:lnTo>
                <a:lnTo>
                  <a:pt x="0" y="563487"/>
                </a:lnTo>
                <a:close/>
                <a:moveTo>
                  <a:pt x="4650017" y="0"/>
                </a:moveTo>
                <a:lnTo>
                  <a:pt x="4758105" y="0"/>
                </a:lnTo>
                <a:lnTo>
                  <a:pt x="4758023" y="221"/>
                </a:lnTo>
                <a:lnTo>
                  <a:pt x="4649935" y="221"/>
                </a:lnTo>
                <a:close/>
                <a:moveTo>
                  <a:pt x="208645" y="0"/>
                </a:moveTo>
                <a:lnTo>
                  <a:pt x="316733" y="0"/>
                </a:lnTo>
                <a:lnTo>
                  <a:pt x="316651" y="221"/>
                </a:lnTo>
                <a:lnTo>
                  <a:pt x="208563" y="221"/>
                </a:lnTo>
                <a:close/>
              </a:path>
            </a:pathLst>
          </a:custGeom>
          <a:solidFill>
            <a:srgbClr val="CC0066"/>
          </a:solidFill>
          <a:ln w="12700" cap="flat" cmpd="sng" algn="ctr">
            <a:noFill/>
            <a:prstDash val="solid"/>
            <a:miter lim="800000"/>
          </a:ln>
          <a:effectLst/>
        </p:spPr>
        <p:txBody>
          <a:bodyPr anchor="ctr">
            <a:normAutofit/>
          </a:bodyPr>
          <a:lstStyle/>
          <a:p>
            <a:pPr algn="ctr" eaLnBrk="1" fontAlgn="auto" hangingPunct="1">
              <a:spcBef>
                <a:spcPts val="0"/>
              </a:spcBef>
              <a:spcAft>
                <a:spcPts val="0"/>
              </a:spcAft>
              <a:defRPr/>
            </a:pPr>
            <a:r>
              <a:rPr lang="en-US" altLang="zh-CN" sz="2400" kern="0" dirty="0">
                <a:solidFill>
                  <a:srgbClr val="FFFFFF"/>
                </a:solidFill>
                <a:latin typeface="+mj-ea"/>
                <a:ea typeface="+mj-ea"/>
                <a:cs typeface="Times New Roman" panose="02020603050405020304" pitchFamily="18" charset="0"/>
              </a:rPr>
              <a:t>2.</a:t>
            </a:r>
            <a:r>
              <a:rPr lang="en-US" altLang="zh-CN" sz="2400" kern="0" dirty="0">
                <a:solidFill>
                  <a:srgbClr val="FFFFFF"/>
                </a:solidFill>
                <a:latin typeface="+mj-ea"/>
                <a:ea typeface="+mj-ea"/>
                <a:cs typeface="Times New Roman" panose="02020603050405020304" pitchFamily="18" charset="0"/>
                <a:sym typeface="+mn-ea"/>
              </a:rPr>
              <a:t>软件配置复审</a:t>
            </a:r>
          </a:p>
        </p:txBody>
      </p:sp>
    </p:spTree>
  </p:cSld>
  <p:clrMapOvr>
    <a:masterClrMapping/>
  </p:clrMapOvr>
  <p:transition>
    <p:wedg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11520000" cy="535531"/>
          </a:xfrm>
        </p:spPr>
        <p:txBody>
          <a:bodyPr/>
          <a:lstStyle/>
          <a:p>
            <a:r>
              <a:rPr lang="en-US" dirty="0"/>
              <a:t>4.4 </a:t>
            </a:r>
            <a:r>
              <a:rPr lang="zh-CN" altLang="en-US" dirty="0"/>
              <a:t>软件测试步骤</a:t>
            </a:r>
          </a:p>
        </p:txBody>
      </p:sp>
      <p:sp>
        <p:nvSpPr>
          <p:cNvPr id="5" name="文本占位符 4">
            <a:extLst>
              <a:ext uri="{FF2B5EF4-FFF2-40B4-BE49-F238E27FC236}">
                <a16:creationId xmlns:a16="http://schemas.microsoft.com/office/drawing/2014/main" id="{16F2D627-201C-5BD5-8589-D207E860E117}"/>
              </a:ext>
            </a:extLst>
          </p:cNvPr>
          <p:cNvSpPr>
            <a:spLocks noGrp="1"/>
          </p:cNvSpPr>
          <p:nvPr>
            <p:ph type="body" sz="quarter" idx="10"/>
          </p:nvPr>
        </p:nvSpPr>
        <p:spPr>
          <a:xfrm>
            <a:off x="696000" y="1322832"/>
            <a:ext cx="11160000" cy="400110"/>
          </a:xfrm>
        </p:spPr>
        <p:txBody>
          <a:bodyPr/>
          <a:lstStyle/>
          <a:p>
            <a:r>
              <a:rPr lang="en-US" altLang="zh-CN" dirty="0"/>
              <a:t>4.4.4 </a:t>
            </a:r>
            <a:r>
              <a:rPr lang="zh-CN" altLang="en-US" dirty="0"/>
              <a:t>确认测试</a:t>
            </a:r>
          </a:p>
        </p:txBody>
      </p:sp>
      <p:sp>
        <p:nvSpPr>
          <p:cNvPr id="6" name="文本占位符 5">
            <a:extLst>
              <a:ext uri="{FF2B5EF4-FFF2-40B4-BE49-F238E27FC236}">
                <a16:creationId xmlns:a16="http://schemas.microsoft.com/office/drawing/2014/main" id="{37C48EC7-8546-18EA-46E3-BF561F754DEC}"/>
              </a:ext>
            </a:extLst>
          </p:cNvPr>
          <p:cNvSpPr>
            <a:spLocks noGrp="1"/>
          </p:cNvSpPr>
          <p:nvPr>
            <p:ph type="body" sz="quarter" idx="11"/>
          </p:nvPr>
        </p:nvSpPr>
        <p:spPr/>
        <p:txBody>
          <a:bodyPr/>
          <a:lstStyle/>
          <a:p>
            <a:endParaRPr lang="zh-CN" altLang="en-US"/>
          </a:p>
        </p:txBody>
      </p:sp>
      <p:sp>
        <p:nvSpPr>
          <p:cNvPr id="21" name="MH_Text_1"/>
          <p:cNvSpPr/>
          <p:nvPr>
            <p:custDataLst>
              <p:tags r:id="rId1"/>
            </p:custDataLst>
          </p:nvPr>
        </p:nvSpPr>
        <p:spPr>
          <a:xfrm>
            <a:off x="948000" y="2775213"/>
            <a:ext cx="10296000" cy="3249295"/>
          </a:xfrm>
          <a:prstGeom prst="rect">
            <a:avLst/>
          </a:prstGeom>
          <a:noFill/>
          <a:ln w="12700" cap="flat" cmpd="sng" algn="ctr">
            <a:solidFill>
              <a:srgbClr val="CC0066"/>
            </a:solidFill>
            <a:prstDash val="solid"/>
            <a:miter lim="800000"/>
          </a:ln>
          <a:effectLst/>
        </p:spPr>
        <p:txBody>
          <a:bodyPr anchor="ctr">
            <a:normAutofit/>
          </a:bodyPr>
          <a:lstStyle/>
          <a:p>
            <a:pPr marL="0" indent="0" algn="just" fontAlgn="auto">
              <a:lnSpc>
                <a:spcPct val="130000"/>
              </a:lnSpc>
              <a:spcAft>
                <a:spcPts val="600"/>
              </a:spcAft>
            </a:pPr>
            <a:r>
              <a:rPr lang="en-US" dirty="0">
                <a:latin typeface="+mn-ea"/>
                <a:sym typeface="+mn-ea"/>
              </a:rPr>
              <a:t>       </a:t>
            </a:r>
            <a:r>
              <a:rPr dirty="0" err="1">
                <a:latin typeface="+mn-ea"/>
                <a:sym typeface="+mn-ea"/>
              </a:rPr>
              <a:t>如果软件是为一个客户开发的，则由用户进行一系列确认测试，以便用户确认所有的需求都得到了满足</a:t>
            </a:r>
            <a:r>
              <a:rPr dirty="0">
                <a:latin typeface="+mn-ea"/>
                <a:sym typeface="+mn-ea"/>
              </a:rPr>
              <a:t>。</a:t>
            </a:r>
          </a:p>
          <a:p>
            <a:pPr marL="0" indent="0" algn="just" fontAlgn="auto">
              <a:lnSpc>
                <a:spcPct val="130000"/>
              </a:lnSpc>
              <a:spcAft>
                <a:spcPts val="600"/>
              </a:spcAft>
            </a:pPr>
            <a:r>
              <a:rPr dirty="0">
                <a:latin typeface="+mn-ea"/>
                <a:sym typeface="+mn-ea"/>
              </a:rPr>
              <a:t>       如果一个软件是为许多客户开发的，要让每一个用户都进行正式的确认测试是不切实际的。大多数软件厂商使用Alpha测试和Beta测试的过程来发现往往只有最终用户才能发现的错误。</a:t>
            </a:r>
          </a:p>
          <a:p>
            <a:pPr marL="0" indent="0" algn="just" fontAlgn="auto">
              <a:lnSpc>
                <a:spcPct val="130000"/>
              </a:lnSpc>
              <a:spcAft>
                <a:spcPts val="600"/>
              </a:spcAft>
            </a:pPr>
            <a:r>
              <a:rPr dirty="0">
                <a:latin typeface="+mn-ea"/>
                <a:sym typeface="+mn-ea"/>
              </a:rPr>
              <a:t>       Alpha</a:t>
            </a:r>
            <a:r>
              <a:rPr lang="en-US" dirty="0">
                <a:latin typeface="+mn-ea"/>
                <a:sym typeface="+mn-ea"/>
              </a:rPr>
              <a:t> </a:t>
            </a:r>
            <a:r>
              <a:rPr dirty="0" err="1">
                <a:latin typeface="+mn-ea"/>
                <a:sym typeface="+mn-ea"/>
              </a:rPr>
              <a:t>测试由用户在开发者的场地进行，在开发者的指导下进行测试。开发者负责记录运行错误和运行中遇到的问题</a:t>
            </a:r>
            <a:r>
              <a:rPr dirty="0">
                <a:latin typeface="+mn-ea"/>
                <a:sym typeface="+mn-ea"/>
              </a:rPr>
              <a:t>。</a:t>
            </a:r>
          </a:p>
          <a:p>
            <a:pPr marL="0" indent="0" algn="just" fontAlgn="auto">
              <a:lnSpc>
                <a:spcPct val="130000"/>
              </a:lnSpc>
              <a:spcAft>
                <a:spcPts val="600"/>
              </a:spcAft>
            </a:pPr>
            <a:r>
              <a:rPr dirty="0">
                <a:latin typeface="+mn-ea"/>
                <a:sym typeface="+mn-ea"/>
              </a:rPr>
              <a:t>       Beta</a:t>
            </a:r>
            <a:r>
              <a:rPr lang="en-US" dirty="0">
                <a:latin typeface="+mn-ea"/>
                <a:sym typeface="+mn-ea"/>
              </a:rPr>
              <a:t> </a:t>
            </a:r>
            <a:r>
              <a:rPr dirty="0" err="1">
                <a:latin typeface="+mn-ea"/>
                <a:sym typeface="+mn-ea"/>
              </a:rPr>
              <a:t>测试由软件的最终用户在客户场所进行。用户记录测试过程遇到的一切问题，并定期报告开发者。开发者对软件进行修改，准备发布最终产品</a:t>
            </a:r>
            <a:r>
              <a:rPr dirty="0">
                <a:latin typeface="+mn-ea"/>
                <a:sym typeface="+mn-ea"/>
              </a:rPr>
              <a:t>。</a:t>
            </a:r>
            <a:endParaRPr lang="zh-CN" altLang="en-US" dirty="0">
              <a:latin typeface="+mn-ea"/>
              <a:cs typeface="宋体" panose="02010600030101010101" pitchFamily="2" charset="-122"/>
            </a:endParaRPr>
          </a:p>
        </p:txBody>
      </p:sp>
      <p:sp>
        <p:nvSpPr>
          <p:cNvPr id="22" name="MH_SubTitle_1"/>
          <p:cNvSpPr/>
          <p:nvPr>
            <p:custDataLst>
              <p:tags r:id="rId2"/>
            </p:custDataLst>
          </p:nvPr>
        </p:nvSpPr>
        <p:spPr>
          <a:xfrm>
            <a:off x="948000" y="2214508"/>
            <a:ext cx="6343649" cy="563563"/>
          </a:xfrm>
          <a:custGeom>
            <a:avLst/>
            <a:gdLst>
              <a:gd name="connsiteX0" fmla="*/ 4441454 w 4758105"/>
              <a:gd name="connsiteY0" fmla="*/ 563487 h 563709"/>
              <a:gd name="connsiteX1" fmla="*/ 4549542 w 4758105"/>
              <a:gd name="connsiteY1" fmla="*/ 563487 h 563709"/>
              <a:gd name="connsiteX2" fmla="*/ 4549460 w 4758105"/>
              <a:gd name="connsiteY2" fmla="*/ 563709 h 563709"/>
              <a:gd name="connsiteX3" fmla="*/ 4441372 w 4758105"/>
              <a:gd name="connsiteY3" fmla="*/ 563709 h 563709"/>
              <a:gd name="connsiteX4" fmla="*/ 82 w 4758105"/>
              <a:gd name="connsiteY4" fmla="*/ 563487 h 563709"/>
              <a:gd name="connsiteX5" fmla="*/ 108170 w 4758105"/>
              <a:gd name="connsiteY5" fmla="*/ 563487 h 563709"/>
              <a:gd name="connsiteX6" fmla="*/ 108088 w 4758105"/>
              <a:gd name="connsiteY6" fmla="*/ 563709 h 563709"/>
              <a:gd name="connsiteX7" fmla="*/ 0 w 4758105"/>
              <a:gd name="connsiteY7" fmla="*/ 563709 h 563709"/>
              <a:gd name="connsiteX8" fmla="*/ 4758023 w 4758105"/>
              <a:gd name="connsiteY8" fmla="*/ 221 h 563709"/>
              <a:gd name="connsiteX9" fmla="*/ 4758105 w 4758105"/>
              <a:gd name="connsiteY9" fmla="*/ 221 h 563709"/>
              <a:gd name="connsiteX10" fmla="*/ 4758105 w 4758105"/>
              <a:gd name="connsiteY10" fmla="*/ 563487 h 563709"/>
              <a:gd name="connsiteX11" fmla="*/ 4549542 w 4758105"/>
              <a:gd name="connsiteY11" fmla="*/ 563487 h 563709"/>
              <a:gd name="connsiteX12" fmla="*/ 316651 w 4758105"/>
              <a:gd name="connsiteY12" fmla="*/ 221 h 563709"/>
              <a:gd name="connsiteX13" fmla="*/ 4649935 w 4758105"/>
              <a:gd name="connsiteY13" fmla="*/ 221 h 563709"/>
              <a:gd name="connsiteX14" fmla="*/ 4441454 w 4758105"/>
              <a:gd name="connsiteY14" fmla="*/ 563487 h 563709"/>
              <a:gd name="connsiteX15" fmla="*/ 108170 w 4758105"/>
              <a:gd name="connsiteY15" fmla="*/ 563487 h 563709"/>
              <a:gd name="connsiteX16" fmla="*/ 0 w 4758105"/>
              <a:gd name="connsiteY16" fmla="*/ 221 h 563709"/>
              <a:gd name="connsiteX17" fmla="*/ 208563 w 4758105"/>
              <a:gd name="connsiteY17" fmla="*/ 221 h 563709"/>
              <a:gd name="connsiteX18" fmla="*/ 82 w 4758105"/>
              <a:gd name="connsiteY18" fmla="*/ 563487 h 563709"/>
              <a:gd name="connsiteX19" fmla="*/ 0 w 4758105"/>
              <a:gd name="connsiteY19" fmla="*/ 563487 h 563709"/>
              <a:gd name="connsiteX20" fmla="*/ 4650017 w 4758105"/>
              <a:gd name="connsiteY20" fmla="*/ 0 h 563709"/>
              <a:gd name="connsiteX21" fmla="*/ 4758105 w 4758105"/>
              <a:gd name="connsiteY21" fmla="*/ 0 h 563709"/>
              <a:gd name="connsiteX22" fmla="*/ 4758023 w 4758105"/>
              <a:gd name="connsiteY22" fmla="*/ 221 h 563709"/>
              <a:gd name="connsiteX23" fmla="*/ 4649935 w 4758105"/>
              <a:gd name="connsiteY23" fmla="*/ 221 h 563709"/>
              <a:gd name="connsiteX24" fmla="*/ 208645 w 4758105"/>
              <a:gd name="connsiteY24" fmla="*/ 0 h 563709"/>
              <a:gd name="connsiteX25" fmla="*/ 316733 w 4758105"/>
              <a:gd name="connsiteY25" fmla="*/ 0 h 563709"/>
              <a:gd name="connsiteX26" fmla="*/ 316651 w 4758105"/>
              <a:gd name="connsiteY26" fmla="*/ 221 h 563709"/>
              <a:gd name="connsiteX27" fmla="*/ 208563 w 4758105"/>
              <a:gd name="connsiteY27" fmla="*/ 221 h 563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758105" h="563709">
                <a:moveTo>
                  <a:pt x="4441454" y="563487"/>
                </a:moveTo>
                <a:lnTo>
                  <a:pt x="4549542" y="563487"/>
                </a:lnTo>
                <a:lnTo>
                  <a:pt x="4549460" y="563709"/>
                </a:lnTo>
                <a:lnTo>
                  <a:pt x="4441372" y="563709"/>
                </a:lnTo>
                <a:close/>
                <a:moveTo>
                  <a:pt x="82" y="563487"/>
                </a:moveTo>
                <a:lnTo>
                  <a:pt x="108170" y="563487"/>
                </a:lnTo>
                <a:lnTo>
                  <a:pt x="108088" y="563709"/>
                </a:lnTo>
                <a:lnTo>
                  <a:pt x="0" y="563709"/>
                </a:lnTo>
                <a:close/>
                <a:moveTo>
                  <a:pt x="4758023" y="221"/>
                </a:moveTo>
                <a:lnTo>
                  <a:pt x="4758105" y="221"/>
                </a:lnTo>
                <a:lnTo>
                  <a:pt x="4758105" y="563487"/>
                </a:lnTo>
                <a:lnTo>
                  <a:pt x="4549542" y="563487"/>
                </a:lnTo>
                <a:close/>
                <a:moveTo>
                  <a:pt x="316651" y="221"/>
                </a:moveTo>
                <a:lnTo>
                  <a:pt x="4649935" y="221"/>
                </a:lnTo>
                <a:lnTo>
                  <a:pt x="4441454" y="563487"/>
                </a:lnTo>
                <a:lnTo>
                  <a:pt x="108170" y="563487"/>
                </a:lnTo>
                <a:close/>
                <a:moveTo>
                  <a:pt x="0" y="221"/>
                </a:moveTo>
                <a:lnTo>
                  <a:pt x="208563" y="221"/>
                </a:lnTo>
                <a:lnTo>
                  <a:pt x="82" y="563487"/>
                </a:lnTo>
                <a:lnTo>
                  <a:pt x="0" y="563487"/>
                </a:lnTo>
                <a:close/>
                <a:moveTo>
                  <a:pt x="4650017" y="0"/>
                </a:moveTo>
                <a:lnTo>
                  <a:pt x="4758105" y="0"/>
                </a:lnTo>
                <a:lnTo>
                  <a:pt x="4758023" y="221"/>
                </a:lnTo>
                <a:lnTo>
                  <a:pt x="4649935" y="221"/>
                </a:lnTo>
                <a:close/>
                <a:moveTo>
                  <a:pt x="208645" y="0"/>
                </a:moveTo>
                <a:lnTo>
                  <a:pt x="316733" y="0"/>
                </a:lnTo>
                <a:lnTo>
                  <a:pt x="316651" y="221"/>
                </a:lnTo>
                <a:lnTo>
                  <a:pt x="208563" y="221"/>
                </a:lnTo>
                <a:close/>
              </a:path>
            </a:pathLst>
          </a:custGeom>
          <a:solidFill>
            <a:srgbClr val="CC0066"/>
          </a:solidFill>
          <a:ln w="12700" cap="flat" cmpd="sng" algn="ctr">
            <a:noFill/>
            <a:prstDash val="solid"/>
            <a:miter lim="800000"/>
          </a:ln>
          <a:effectLst/>
        </p:spPr>
        <p:txBody>
          <a:bodyPr anchor="ctr">
            <a:normAutofit/>
          </a:bodyPr>
          <a:lstStyle/>
          <a:p>
            <a:pPr algn="ctr" eaLnBrk="1" fontAlgn="auto" hangingPunct="1">
              <a:spcBef>
                <a:spcPts val="0"/>
              </a:spcBef>
              <a:spcAft>
                <a:spcPts val="0"/>
              </a:spcAft>
              <a:defRPr/>
            </a:pPr>
            <a:r>
              <a:rPr lang="en-US" altLang="zh-CN" sz="2400" kern="0" dirty="0">
                <a:solidFill>
                  <a:srgbClr val="FFFFFF"/>
                </a:solidFill>
                <a:latin typeface="+mj-ea"/>
                <a:ea typeface="+mj-ea"/>
                <a:cs typeface="Times New Roman" panose="02020603050405020304" pitchFamily="18" charset="0"/>
              </a:rPr>
              <a:t>3.</a:t>
            </a:r>
            <a:r>
              <a:rPr lang="en-US" altLang="zh-CN" sz="2400" kern="0" dirty="0">
                <a:solidFill>
                  <a:srgbClr val="FFFFFF"/>
                </a:solidFill>
                <a:latin typeface="+mj-ea"/>
                <a:ea typeface="+mj-ea"/>
                <a:cs typeface="Times New Roman" panose="02020603050405020304" pitchFamily="18" charset="0"/>
                <a:sym typeface="+mn-ea"/>
              </a:rPr>
              <a:t>Alpha测试和Beta测试</a:t>
            </a:r>
            <a:endParaRPr lang="en-US" altLang="zh-CN" sz="2400" kern="0" dirty="0">
              <a:solidFill>
                <a:srgbClr val="FFFFFF"/>
              </a:solidFill>
              <a:latin typeface="+mj-ea"/>
              <a:ea typeface="+mj-ea"/>
              <a:cs typeface="Times New Roman" panose="02020603050405020304" pitchFamily="18" charset="0"/>
            </a:endParaRPr>
          </a:p>
        </p:txBody>
      </p:sp>
    </p:spTree>
  </p:cSld>
  <p:clrMapOvr>
    <a:masterClrMapping/>
  </p:clrMapOvr>
  <p:transition>
    <p:wedg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en-US" dirty="0"/>
              <a:t>4.4 </a:t>
            </a:r>
            <a:r>
              <a:rPr lang="zh-CN" altLang="en-US" dirty="0"/>
              <a:t>软件测试步骤</a:t>
            </a:r>
          </a:p>
        </p:txBody>
      </p:sp>
      <p:sp>
        <p:nvSpPr>
          <p:cNvPr id="6" name="文本占位符 5">
            <a:extLst>
              <a:ext uri="{FF2B5EF4-FFF2-40B4-BE49-F238E27FC236}">
                <a16:creationId xmlns:a16="http://schemas.microsoft.com/office/drawing/2014/main" id="{13FC8A79-7DAB-B1C1-8431-F8341B77E71A}"/>
              </a:ext>
            </a:extLst>
          </p:cNvPr>
          <p:cNvSpPr>
            <a:spLocks noGrp="1"/>
          </p:cNvSpPr>
          <p:nvPr>
            <p:ph type="body" sz="quarter" idx="10"/>
          </p:nvPr>
        </p:nvSpPr>
        <p:spPr>
          <a:xfrm>
            <a:off x="696000" y="1322832"/>
            <a:ext cx="5400000" cy="400110"/>
          </a:xfrm>
        </p:spPr>
        <p:txBody>
          <a:bodyPr/>
          <a:lstStyle/>
          <a:p>
            <a:r>
              <a:rPr lang="en-US" altLang="zh-CN" dirty="0"/>
              <a:t>4.4.5 </a:t>
            </a:r>
            <a:r>
              <a:rPr lang="zh-CN" altLang="en-US" dirty="0"/>
              <a:t>平行运行</a:t>
            </a:r>
          </a:p>
        </p:txBody>
      </p:sp>
      <p:sp>
        <p:nvSpPr>
          <p:cNvPr id="5" name="文本占位符 4">
            <a:extLst>
              <a:ext uri="{FF2B5EF4-FFF2-40B4-BE49-F238E27FC236}">
                <a16:creationId xmlns:a16="http://schemas.microsoft.com/office/drawing/2014/main" id="{DD72CF73-984A-5E8A-F629-42EB314AAEF2}"/>
              </a:ext>
            </a:extLst>
          </p:cNvPr>
          <p:cNvSpPr>
            <a:spLocks noGrp="1"/>
          </p:cNvSpPr>
          <p:nvPr>
            <p:ph type="body" sz="quarter" idx="11"/>
          </p:nvPr>
        </p:nvSpPr>
        <p:spPr/>
        <p:txBody>
          <a:bodyPr/>
          <a:lstStyle/>
          <a:p>
            <a:endParaRPr lang="zh-CN" altLang="en-US"/>
          </a:p>
        </p:txBody>
      </p:sp>
      <p:sp>
        <p:nvSpPr>
          <p:cNvPr id="25" name="MH_SubTitle_2"/>
          <p:cNvSpPr/>
          <p:nvPr/>
        </p:nvSpPr>
        <p:spPr>
          <a:xfrm>
            <a:off x="1053815" y="2939095"/>
            <a:ext cx="4865370" cy="1025604"/>
          </a:xfrm>
          <a:prstGeom prst="rect">
            <a:avLst/>
          </a:prstGeom>
          <a:solidFill>
            <a:srgbClr val="FFF6D9"/>
          </a:solidFill>
          <a:ln w="25400" cap="flat" cmpd="sng" algn="ctr">
            <a:noFill/>
            <a:prstDash val="solid"/>
          </a:ln>
          <a:effectLst/>
        </p:spPr>
        <p:txBody>
          <a:bodyPr rIns="21600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lnSpc>
                <a:spcPct val="130000"/>
              </a:lnSpc>
              <a:buClrTx/>
            </a:pPr>
            <a:r>
              <a:rPr dirty="0" err="1">
                <a:sym typeface="+mn-ea"/>
              </a:rPr>
              <a:t>让用户熟悉系统运行情况，并验证用户手册的正确性</a:t>
            </a:r>
            <a:r>
              <a:rPr dirty="0">
                <a:sym typeface="+mn-ea"/>
              </a:rPr>
              <a:t>。</a:t>
            </a:r>
            <a:endParaRPr lang="zh-CN" altLang="en-US" dirty="0"/>
          </a:p>
        </p:txBody>
      </p:sp>
      <p:sp>
        <p:nvSpPr>
          <p:cNvPr id="26" name="MH_Other_1"/>
          <p:cNvSpPr/>
          <p:nvPr/>
        </p:nvSpPr>
        <p:spPr>
          <a:xfrm flipH="1">
            <a:off x="5719160" y="2939095"/>
            <a:ext cx="1319530" cy="1025604"/>
          </a:xfrm>
          <a:custGeom>
            <a:avLst/>
            <a:gdLst/>
            <a:ahLst/>
            <a:cxnLst/>
            <a:rect l="l" t="t" r="r" b="b"/>
            <a:pathLst>
              <a:path w="1759256" h="1368152">
                <a:moveTo>
                  <a:pt x="0" y="0"/>
                </a:moveTo>
                <a:lnTo>
                  <a:pt x="1512168" y="0"/>
                </a:lnTo>
                <a:lnTo>
                  <a:pt x="1512168" y="255262"/>
                </a:lnTo>
                <a:lnTo>
                  <a:pt x="1759256" y="409692"/>
                </a:lnTo>
                <a:lnTo>
                  <a:pt x="1512168" y="564122"/>
                </a:lnTo>
                <a:lnTo>
                  <a:pt x="1512168" y="1368152"/>
                </a:lnTo>
                <a:lnTo>
                  <a:pt x="0" y="1368152"/>
                </a:lnTo>
                <a:close/>
              </a:path>
            </a:pathLst>
          </a:custGeom>
          <a:solidFill>
            <a:srgbClr val="FDC200"/>
          </a:solidFill>
          <a:ln w="19050" cap="flat" cmpd="sng" algn="ctr">
            <a:noFill/>
            <a:prstDash val="solid"/>
          </a:ln>
          <a:effectLst/>
        </p:spPr>
        <p:txBody>
          <a:bodyPr lIns="14400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r>
              <a:rPr lang="en-US" altLang="zh-CN" sz="3200" b="1" kern="0" dirty="0">
                <a:solidFill>
                  <a:srgbClr val="FFFFFF"/>
                </a:solidFill>
                <a:latin typeface="+mj-lt"/>
                <a:ea typeface="微软雅黑 Light" panose="020B0502040204020203" pitchFamily="34" charset="-122"/>
              </a:rPr>
              <a:t>01</a:t>
            </a:r>
            <a:endParaRPr lang="zh-CN" altLang="en-US" sz="3200" b="1" kern="0" dirty="0">
              <a:solidFill>
                <a:srgbClr val="FFFFFF"/>
              </a:solidFill>
              <a:latin typeface="+mj-lt"/>
              <a:ea typeface="微软雅黑 Light" panose="020B0502040204020203" pitchFamily="34" charset="-122"/>
            </a:endParaRPr>
          </a:p>
        </p:txBody>
      </p:sp>
      <p:sp>
        <p:nvSpPr>
          <p:cNvPr id="27" name="MH_SubTitle_1"/>
          <p:cNvSpPr/>
          <p:nvPr/>
        </p:nvSpPr>
        <p:spPr>
          <a:xfrm>
            <a:off x="5898865" y="1912221"/>
            <a:ext cx="5372735" cy="1026874"/>
          </a:xfrm>
          <a:prstGeom prst="rect">
            <a:avLst/>
          </a:prstGeom>
          <a:solidFill>
            <a:srgbClr val="EEF9DF"/>
          </a:solidFill>
          <a:ln w="25400" cap="flat" cmpd="sng" algn="ctr">
            <a:noFill/>
            <a:prstDash val="solid"/>
          </a:ln>
          <a:effectLst/>
        </p:spPr>
        <p:txBody>
          <a:bodyPr lIns="216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fontAlgn="auto" hangingPunct="1">
              <a:spcBef>
                <a:spcPts val="0"/>
              </a:spcBef>
              <a:spcAft>
                <a:spcPts val="0"/>
              </a:spcAft>
              <a:defRPr/>
            </a:pPr>
            <a:r>
              <a:rPr lang="en-US" dirty="0">
                <a:sym typeface="+mn-ea"/>
              </a:rPr>
              <a:t>       </a:t>
            </a:r>
            <a:r>
              <a:rPr dirty="0" err="1">
                <a:sym typeface="+mn-ea"/>
              </a:rPr>
              <a:t>比较重要的软件要有一段试运行时间。此时新开发的系统与原先的老系统（或手工操作）</a:t>
            </a:r>
            <a:r>
              <a:rPr dirty="0" err="1">
                <a:solidFill>
                  <a:srgbClr val="C00000"/>
                </a:solidFill>
                <a:sym typeface="+mn-ea"/>
              </a:rPr>
              <a:t>同时</a:t>
            </a:r>
            <a:r>
              <a:rPr dirty="0" err="1">
                <a:sym typeface="+mn-ea"/>
              </a:rPr>
              <a:t>运行</a:t>
            </a:r>
            <a:r>
              <a:rPr lang="en-US" dirty="0">
                <a:sym typeface="+mn-ea"/>
              </a:rPr>
              <a:t> - </a:t>
            </a:r>
            <a:r>
              <a:rPr dirty="0" err="1">
                <a:sym typeface="+mn-ea"/>
              </a:rPr>
              <a:t>平行运行</a:t>
            </a:r>
            <a:r>
              <a:rPr dirty="0">
                <a:sym typeface="+mn-ea"/>
              </a:rPr>
              <a:t>。</a:t>
            </a:r>
            <a:r>
              <a:rPr lang="zh-CN" altLang="en-US" dirty="0">
                <a:sym typeface="+mn-ea"/>
              </a:rPr>
              <a:t>运行的优点如下：</a:t>
            </a:r>
          </a:p>
        </p:txBody>
      </p:sp>
      <p:sp>
        <p:nvSpPr>
          <p:cNvPr id="28" name="MH_Other_2"/>
          <p:cNvSpPr/>
          <p:nvPr/>
        </p:nvSpPr>
        <p:spPr>
          <a:xfrm>
            <a:off x="4771740" y="1912221"/>
            <a:ext cx="1318895" cy="1026874"/>
          </a:xfrm>
          <a:custGeom>
            <a:avLst/>
            <a:gdLst/>
            <a:ahLst/>
            <a:cxnLst/>
            <a:rect l="l" t="t" r="r" b="b"/>
            <a:pathLst>
              <a:path w="1759256" h="1368152">
                <a:moveTo>
                  <a:pt x="0" y="0"/>
                </a:moveTo>
                <a:lnTo>
                  <a:pt x="1512168" y="0"/>
                </a:lnTo>
                <a:lnTo>
                  <a:pt x="1512168" y="255262"/>
                </a:lnTo>
                <a:lnTo>
                  <a:pt x="1759256" y="409692"/>
                </a:lnTo>
                <a:lnTo>
                  <a:pt x="1512168" y="564122"/>
                </a:lnTo>
                <a:lnTo>
                  <a:pt x="1512168" y="1368152"/>
                </a:lnTo>
                <a:lnTo>
                  <a:pt x="0" y="1368152"/>
                </a:lnTo>
                <a:close/>
              </a:path>
            </a:pathLst>
          </a:custGeom>
          <a:solidFill>
            <a:srgbClr val="77BA27"/>
          </a:solidFill>
          <a:ln w="19050" cap="flat" cmpd="sng" algn="ctr">
            <a:noFill/>
            <a:prstDash val="solid"/>
          </a:ln>
          <a:effectLst/>
        </p:spPr>
        <p:txBody>
          <a:bodyPr lIns="0" tIns="0" rIns="14400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r>
              <a:rPr lang="zh-CN" altLang="en-US" sz="2400" kern="0" dirty="0">
                <a:solidFill>
                  <a:srgbClr val="FFFFFF"/>
                </a:solidFill>
                <a:latin typeface="+mj-ea"/>
                <a:ea typeface="+mj-ea"/>
              </a:rPr>
              <a:t>含义</a:t>
            </a:r>
          </a:p>
        </p:txBody>
      </p:sp>
      <p:sp>
        <p:nvSpPr>
          <p:cNvPr id="5126" name="MH_SubTitle_4"/>
          <p:cNvSpPr>
            <a:spLocks noChangeArrowheads="1"/>
          </p:cNvSpPr>
          <p:nvPr/>
        </p:nvSpPr>
        <p:spPr bwMode="auto">
          <a:xfrm>
            <a:off x="1053815" y="4993479"/>
            <a:ext cx="4865370" cy="1025604"/>
          </a:xfrm>
          <a:prstGeom prst="rect">
            <a:avLst/>
          </a:prstGeom>
          <a:solidFill>
            <a:srgbClr val="FFF6D9"/>
          </a:solidFill>
          <a:ln w="25400" algn="ctr">
            <a:noFill/>
            <a:miter lim="800000"/>
          </a:ln>
        </p:spPr>
        <p:txBody>
          <a:bodyPr rIns="216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auto">
              <a:lnSpc>
                <a:spcPct val="130000"/>
              </a:lnSpc>
              <a:buClrTx/>
            </a:pPr>
            <a:r>
              <a:rPr dirty="0" err="1">
                <a:sym typeface="+mn-ea"/>
              </a:rPr>
              <a:t>对系统的性能指标进行全面测试，以保证系统的质量</a:t>
            </a:r>
            <a:r>
              <a:rPr dirty="0">
                <a:sym typeface="+mn-ea"/>
              </a:rPr>
              <a:t>。</a:t>
            </a:r>
            <a:endParaRPr lang="zh-CN" altLang="en-US" dirty="0"/>
          </a:p>
        </p:txBody>
      </p:sp>
      <p:sp>
        <p:nvSpPr>
          <p:cNvPr id="36" name="MH_Other_3"/>
          <p:cNvSpPr/>
          <p:nvPr/>
        </p:nvSpPr>
        <p:spPr>
          <a:xfrm flipH="1">
            <a:off x="5719160" y="4993479"/>
            <a:ext cx="1319530" cy="1025604"/>
          </a:xfrm>
          <a:custGeom>
            <a:avLst/>
            <a:gdLst/>
            <a:ahLst/>
            <a:cxnLst/>
            <a:rect l="l" t="t" r="r" b="b"/>
            <a:pathLst>
              <a:path w="1759256" h="1368152">
                <a:moveTo>
                  <a:pt x="0" y="0"/>
                </a:moveTo>
                <a:lnTo>
                  <a:pt x="1512168" y="0"/>
                </a:lnTo>
                <a:lnTo>
                  <a:pt x="1512168" y="255262"/>
                </a:lnTo>
                <a:lnTo>
                  <a:pt x="1759256" y="409692"/>
                </a:lnTo>
                <a:lnTo>
                  <a:pt x="1512168" y="564122"/>
                </a:lnTo>
                <a:lnTo>
                  <a:pt x="1512168" y="1368152"/>
                </a:lnTo>
                <a:lnTo>
                  <a:pt x="0" y="1368152"/>
                </a:lnTo>
                <a:close/>
              </a:path>
            </a:pathLst>
          </a:custGeom>
          <a:solidFill>
            <a:srgbClr val="FDC200"/>
          </a:solidFill>
          <a:ln w="19050" cap="flat" cmpd="sng" algn="ctr">
            <a:noFill/>
            <a:prstDash val="solid"/>
          </a:ln>
          <a:effectLst/>
        </p:spPr>
        <p:txBody>
          <a:bodyPr lIns="14400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r>
              <a:rPr lang="en-US" altLang="zh-CN" sz="3200" b="1" kern="0" dirty="0">
                <a:solidFill>
                  <a:srgbClr val="FFFFFF"/>
                </a:solidFill>
                <a:latin typeface="+mj-lt"/>
                <a:ea typeface="微软雅黑 Light" panose="020B0502040204020203" pitchFamily="34" charset="-122"/>
              </a:rPr>
              <a:t>03</a:t>
            </a:r>
            <a:endParaRPr lang="zh-CN" altLang="en-US" sz="3200" b="1" kern="0" dirty="0">
              <a:solidFill>
                <a:srgbClr val="FFFFFF"/>
              </a:solidFill>
              <a:latin typeface="+mj-lt"/>
              <a:ea typeface="微软雅黑 Light" panose="020B0502040204020203" pitchFamily="34" charset="-122"/>
            </a:endParaRPr>
          </a:p>
        </p:txBody>
      </p:sp>
      <p:sp>
        <p:nvSpPr>
          <p:cNvPr id="5128" name="MH_SubTitle_3"/>
          <p:cNvSpPr>
            <a:spLocks noChangeArrowheads="1"/>
          </p:cNvSpPr>
          <p:nvPr/>
        </p:nvSpPr>
        <p:spPr bwMode="auto">
          <a:xfrm>
            <a:off x="5898865" y="3967875"/>
            <a:ext cx="5372735" cy="1025604"/>
          </a:xfrm>
          <a:prstGeom prst="rect">
            <a:avLst/>
          </a:prstGeom>
          <a:solidFill>
            <a:srgbClr val="EEF9DF"/>
          </a:solidFill>
          <a:ln w="25400" algn="ctr">
            <a:noFill/>
            <a:miter lim="800000"/>
          </a:ln>
        </p:spPr>
        <p:txBody>
          <a:bodyPr lIns="216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auto">
              <a:lnSpc>
                <a:spcPct val="130000"/>
              </a:lnSpc>
              <a:buClrTx/>
            </a:pPr>
            <a:r>
              <a:rPr dirty="0" err="1">
                <a:sym typeface="+mn-ea"/>
              </a:rPr>
              <a:t>若发现问题，及时对系统进行修改</a:t>
            </a:r>
            <a:r>
              <a:rPr dirty="0">
                <a:sym typeface="+mn-ea"/>
              </a:rPr>
              <a:t>。</a:t>
            </a:r>
            <a:endParaRPr lang="zh-CN" altLang="en-US" dirty="0"/>
          </a:p>
        </p:txBody>
      </p:sp>
      <p:sp>
        <p:nvSpPr>
          <p:cNvPr id="38" name="MH_Other_4"/>
          <p:cNvSpPr/>
          <p:nvPr/>
        </p:nvSpPr>
        <p:spPr>
          <a:xfrm>
            <a:off x="4771740" y="3967875"/>
            <a:ext cx="1318895" cy="1025604"/>
          </a:xfrm>
          <a:custGeom>
            <a:avLst/>
            <a:gdLst/>
            <a:ahLst/>
            <a:cxnLst/>
            <a:rect l="l" t="t" r="r" b="b"/>
            <a:pathLst>
              <a:path w="1759256" h="1368152">
                <a:moveTo>
                  <a:pt x="0" y="0"/>
                </a:moveTo>
                <a:lnTo>
                  <a:pt x="1512168" y="0"/>
                </a:lnTo>
                <a:lnTo>
                  <a:pt x="1512168" y="255262"/>
                </a:lnTo>
                <a:lnTo>
                  <a:pt x="1759256" y="409692"/>
                </a:lnTo>
                <a:lnTo>
                  <a:pt x="1512168" y="564122"/>
                </a:lnTo>
                <a:lnTo>
                  <a:pt x="1512168" y="1368152"/>
                </a:lnTo>
                <a:lnTo>
                  <a:pt x="0" y="1368152"/>
                </a:lnTo>
                <a:close/>
              </a:path>
            </a:pathLst>
          </a:custGeom>
          <a:solidFill>
            <a:srgbClr val="FDC200"/>
          </a:solidFill>
          <a:ln w="19050" cap="flat" cmpd="sng" algn="ctr">
            <a:noFill/>
            <a:prstDash val="solid"/>
          </a:ln>
          <a:effectLst/>
        </p:spPr>
        <p:txBody>
          <a:bodyPr lIns="14400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3200" b="1" kern="0">
                <a:solidFill>
                  <a:srgbClr val="FFFFFF"/>
                </a:solidFill>
                <a:latin typeface="+mj-lt"/>
                <a:ea typeface="微软雅黑 Light" panose="020B0502040204020203" pitchFamily="34" charset="-122"/>
              </a:rPr>
              <a:t>0</a:t>
            </a:r>
            <a:r>
              <a:rPr lang="en-US" altLang="zh-CN" sz="3200" b="1" kern="0" dirty="0">
                <a:solidFill>
                  <a:srgbClr val="FFFFFF"/>
                </a:solidFill>
                <a:latin typeface="+mj-lt"/>
                <a:ea typeface="微软雅黑 Light" panose="020B0502040204020203" pitchFamily="34" charset="-122"/>
              </a:rPr>
              <a:t>2</a:t>
            </a:r>
            <a:endParaRPr lang="zh-CN" altLang="en-US" sz="3200" b="1" kern="0" dirty="0">
              <a:solidFill>
                <a:srgbClr val="FFFFFF"/>
              </a:solidFill>
              <a:latin typeface="+mj-lt"/>
              <a:ea typeface="微软雅黑 Light" panose="020B0502040204020203" pitchFamily="34" charset="-122"/>
            </a:endParaRPr>
          </a:p>
        </p:txBody>
      </p:sp>
      <p:sp>
        <p:nvSpPr>
          <p:cNvPr id="7" name="文本框 6">
            <a:extLst>
              <a:ext uri="{FF2B5EF4-FFF2-40B4-BE49-F238E27FC236}">
                <a16:creationId xmlns:a16="http://schemas.microsoft.com/office/drawing/2014/main" id="{D3D83971-65D8-532E-41B5-61D27D849704}"/>
              </a:ext>
            </a:extLst>
          </p:cNvPr>
          <p:cNvSpPr txBox="1"/>
          <p:nvPr/>
        </p:nvSpPr>
        <p:spPr>
          <a:xfrm>
            <a:off x="3530950" y="2246347"/>
            <a:ext cx="1107996" cy="369332"/>
          </a:xfrm>
          <a:prstGeom prst="rect">
            <a:avLst/>
          </a:prstGeom>
          <a:noFill/>
        </p:spPr>
        <p:txBody>
          <a:bodyPr wrap="none" rtlCol="0">
            <a:spAutoFit/>
          </a:bodyPr>
          <a:lstStyle/>
          <a:p>
            <a:pPr algn="just"/>
            <a:r>
              <a:rPr lang="zh-CN" altLang="en-US" dirty="0">
                <a:solidFill>
                  <a:srgbClr val="77BA27"/>
                </a:solidFill>
                <a:latin typeface="+mj-ea"/>
                <a:ea typeface="+mj-ea"/>
              </a:rPr>
              <a:t>双重验证</a:t>
            </a:r>
            <a:endParaRPr lang="en-US" altLang="zh-CN" dirty="0">
              <a:solidFill>
                <a:srgbClr val="77BA27"/>
              </a:solidFill>
              <a:latin typeface="+mj-ea"/>
              <a:ea typeface="+mj-ea"/>
            </a:endParaRPr>
          </a:p>
        </p:txBody>
      </p:sp>
    </p:spTree>
  </p:cSld>
  <p:clrMapOvr>
    <a:masterClrMapping/>
  </p:clrMapOvr>
  <p:transition>
    <p:wedg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11520000" cy="535531"/>
          </a:xfrm>
        </p:spPr>
        <p:txBody>
          <a:bodyPr/>
          <a:lstStyle/>
          <a:p>
            <a:r>
              <a:rPr lang="en-US" dirty="0"/>
              <a:t>4.4 </a:t>
            </a:r>
            <a:r>
              <a:rPr lang="zh-CN" altLang="en-US"/>
              <a:t>软件测试步骤</a:t>
            </a:r>
          </a:p>
        </p:txBody>
      </p:sp>
      <p:sp>
        <p:nvSpPr>
          <p:cNvPr id="5" name="文本占位符 4">
            <a:extLst>
              <a:ext uri="{FF2B5EF4-FFF2-40B4-BE49-F238E27FC236}">
                <a16:creationId xmlns:a16="http://schemas.microsoft.com/office/drawing/2014/main" id="{8B3BAABD-9F0C-0315-AC97-A48618F619BE}"/>
              </a:ext>
            </a:extLst>
          </p:cNvPr>
          <p:cNvSpPr>
            <a:spLocks noGrp="1"/>
          </p:cNvSpPr>
          <p:nvPr>
            <p:ph type="body" sz="quarter" idx="10"/>
          </p:nvPr>
        </p:nvSpPr>
        <p:spPr>
          <a:xfrm>
            <a:off x="696000" y="1322832"/>
            <a:ext cx="11160000" cy="400110"/>
          </a:xfrm>
        </p:spPr>
        <p:txBody>
          <a:bodyPr/>
          <a:lstStyle/>
          <a:p>
            <a:r>
              <a:rPr lang="zh-CN" altLang="en-US" dirty="0"/>
              <a:t>总结</a:t>
            </a:r>
          </a:p>
        </p:txBody>
      </p:sp>
      <p:sp>
        <p:nvSpPr>
          <p:cNvPr id="13" name="文本占位符 12">
            <a:extLst>
              <a:ext uri="{FF2B5EF4-FFF2-40B4-BE49-F238E27FC236}">
                <a16:creationId xmlns:a16="http://schemas.microsoft.com/office/drawing/2014/main" id="{A78F2010-DFBA-0511-7665-72F99B87F48F}"/>
              </a:ext>
            </a:extLst>
          </p:cNvPr>
          <p:cNvSpPr>
            <a:spLocks noGrp="1"/>
          </p:cNvSpPr>
          <p:nvPr>
            <p:ph type="body" sz="quarter" idx="11"/>
          </p:nvPr>
        </p:nvSpPr>
        <p:spPr/>
        <p:txBody>
          <a:bodyPr/>
          <a:lstStyle/>
          <a:p>
            <a:endParaRPr lang="zh-CN" altLang="en-US"/>
          </a:p>
        </p:txBody>
      </p:sp>
      <p:sp>
        <p:nvSpPr>
          <p:cNvPr id="100" name="文本框 99"/>
          <p:cNvSpPr txBox="1"/>
          <p:nvPr/>
        </p:nvSpPr>
        <p:spPr>
          <a:xfrm>
            <a:off x="695325" y="2054225"/>
            <a:ext cx="10650220" cy="3016788"/>
          </a:xfrm>
          <a:prstGeom prst="rect">
            <a:avLst/>
          </a:prstGeom>
          <a:noFill/>
          <a:ln w="9525">
            <a:noFill/>
          </a:ln>
        </p:spPr>
        <p:txBody>
          <a:bodyPr wrap="square">
            <a:spAutoFit/>
          </a:bodyPr>
          <a:lstStyle/>
          <a:p>
            <a:pPr marL="0" indent="0" algn="just" fontAlgn="auto">
              <a:lnSpc>
                <a:spcPct val="130000"/>
              </a:lnSpc>
              <a:spcAft>
                <a:spcPts val="600"/>
              </a:spcAft>
            </a:pPr>
            <a:r>
              <a:rPr lang="en-US" dirty="0">
                <a:latin typeface="+mn-ea"/>
                <a:sym typeface="+mn-ea"/>
              </a:rPr>
              <a:t>       </a:t>
            </a:r>
            <a:r>
              <a:rPr dirty="0">
                <a:latin typeface="+mn-ea"/>
                <a:sym typeface="+mn-ea"/>
              </a:rPr>
              <a:t>G．M．Weinberg在《计算机程序设计心理学》（The Psychology of Computer Programming）一书中提出了读程序的必要性，20世纪70年代后，人们不仅在机器上测试程序，而且进行人工测试，即用程序审查会和人工运行的方法查找错误。实践证明，这两种基本的人工测试方法相当有效。对逻辑设计和编码，上述方法能有效地发现30%～70%的错误，有的程序审查会能查出程序中80%的错误。</a:t>
            </a:r>
          </a:p>
          <a:p>
            <a:pPr marL="0" indent="0" algn="just" fontAlgn="auto">
              <a:lnSpc>
                <a:spcPct val="130000"/>
              </a:lnSpc>
              <a:spcAft>
                <a:spcPts val="600"/>
              </a:spcAft>
            </a:pPr>
            <a:r>
              <a:rPr dirty="0">
                <a:latin typeface="+mn-ea"/>
                <a:sym typeface="+mn-ea"/>
              </a:rPr>
              <a:t>       以上介绍的测试步骤，可根据系统的规模大小、复杂程度来适当选用。一般先进行模块测试再进行集成测试。对规模较小的系统，子系统测试可与系统测试合并；人工运行可在模块测试及系统测试过程中进行。对于任何系统，验收测试都是必不可少的。对于较大的系统，应召开程序审查会；对于重要的软件系统，应采用平行运行，以免因软件的错误造成不良后果。</a:t>
            </a:r>
          </a:p>
        </p:txBody>
      </p:sp>
    </p:spTree>
  </p:cSld>
  <p:clrMapOvr>
    <a:masterClrMapping/>
  </p:clrMapOvr>
  <p:transition>
    <p:wedg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dirty="0">
              <a:latin typeface="Times New Roman" panose="02020603050405020304" pitchFamily="18" charset="0"/>
              <a:ea typeface="微软雅黑 Light" panose="020B0502040204020203" pitchFamily="34" charset="-122"/>
            </a:endParaRPr>
          </a:p>
        </p:txBody>
      </p:sp>
      <p:sp>
        <p:nvSpPr>
          <p:cNvPr id="40" name="文本框 39"/>
          <p:cNvSpPr txBox="1"/>
          <p:nvPr/>
        </p:nvSpPr>
        <p:spPr>
          <a:xfrm>
            <a:off x="6006555" y="2935102"/>
            <a:ext cx="5137150" cy="830997"/>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i="0" u="none" strike="noStrike" kern="1200" cap="none" spc="0" normalizeH="0" baseline="0" noProof="0" dirty="0">
                <a:ln>
                  <a:noFill/>
                </a:ln>
                <a:effectLst/>
                <a:uLnTx/>
                <a:uFillTx/>
                <a:latin typeface="+mj-ea"/>
                <a:ea typeface="+mj-ea"/>
                <a:cs typeface="+mn-cs"/>
              </a:rPr>
              <a:t>设计软件测试方案</a:t>
            </a:r>
          </a:p>
        </p:txBody>
      </p:sp>
      <p:sp>
        <p:nvSpPr>
          <p:cNvPr id="48" name="文本框 47"/>
          <p:cNvSpPr txBox="1"/>
          <p:nvPr/>
        </p:nvSpPr>
        <p:spPr>
          <a:xfrm>
            <a:off x="5502910" y="4224020"/>
            <a:ext cx="3712845" cy="400110"/>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effectLst/>
                <a:uLnTx/>
                <a:uFillTx/>
                <a:latin typeface="+mj-ea"/>
                <a:ea typeface="+mj-ea"/>
                <a:cs typeface="+mn-cs"/>
              </a:rPr>
              <a:t>等价类划分法</a:t>
            </a:r>
          </a:p>
        </p:txBody>
      </p:sp>
      <p:sp>
        <p:nvSpPr>
          <p:cNvPr id="50" name="文本框 49"/>
          <p:cNvSpPr txBox="1"/>
          <p:nvPr/>
        </p:nvSpPr>
        <p:spPr>
          <a:xfrm>
            <a:off x="5502910" y="4719320"/>
            <a:ext cx="3712845" cy="400110"/>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effectLst/>
                <a:uLnTx/>
                <a:uFillTx/>
                <a:latin typeface="+mj-ea"/>
                <a:ea typeface="+mj-ea"/>
                <a:cs typeface="+mn-cs"/>
              </a:rPr>
              <a:t>边界值分析法</a:t>
            </a:r>
          </a:p>
        </p:txBody>
      </p:sp>
      <p:sp>
        <p:nvSpPr>
          <p:cNvPr id="5" name="文本框 4"/>
          <p:cNvSpPr txBox="1"/>
          <p:nvPr/>
        </p:nvSpPr>
        <p:spPr>
          <a:xfrm>
            <a:off x="5502910" y="5229860"/>
            <a:ext cx="3712845" cy="400110"/>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effectLst/>
                <a:uLnTx/>
                <a:uFillTx/>
                <a:latin typeface="+mj-ea"/>
                <a:ea typeface="+mj-ea"/>
                <a:cs typeface="+mn-cs"/>
              </a:rPr>
              <a:t>错误推测法</a:t>
            </a:r>
          </a:p>
        </p:txBody>
      </p:sp>
      <p:sp>
        <p:nvSpPr>
          <p:cNvPr id="6" name="文本框 5"/>
          <p:cNvSpPr txBox="1"/>
          <p:nvPr/>
        </p:nvSpPr>
        <p:spPr>
          <a:xfrm>
            <a:off x="5502910" y="5725160"/>
            <a:ext cx="3712845" cy="400110"/>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effectLst/>
                <a:uLnTx/>
                <a:uFillTx/>
                <a:latin typeface="+mj-ea"/>
                <a:ea typeface="+mj-ea"/>
                <a:cs typeface="+mn-cs"/>
              </a:rPr>
              <a:t>逻辑覆盖法</a:t>
            </a:r>
          </a:p>
        </p:txBody>
      </p:sp>
      <p:sp>
        <p:nvSpPr>
          <p:cNvPr id="8" name="文本框 7"/>
          <p:cNvSpPr txBox="1"/>
          <p:nvPr/>
        </p:nvSpPr>
        <p:spPr>
          <a:xfrm>
            <a:off x="7882255" y="4224020"/>
            <a:ext cx="3712845" cy="400110"/>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effectLst/>
                <a:uLnTx/>
                <a:uFillTx/>
                <a:latin typeface="+mj-ea"/>
                <a:ea typeface="+mj-ea"/>
                <a:cs typeface="+mn-cs"/>
              </a:rPr>
              <a:t>程序环形复杂程度的度量</a:t>
            </a:r>
          </a:p>
        </p:txBody>
      </p:sp>
      <p:sp>
        <p:nvSpPr>
          <p:cNvPr id="9" name="文本框 8"/>
          <p:cNvSpPr txBox="1"/>
          <p:nvPr/>
        </p:nvSpPr>
        <p:spPr>
          <a:xfrm>
            <a:off x="7882255" y="4719320"/>
            <a:ext cx="3712845" cy="400110"/>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effectLst/>
                <a:uLnTx/>
                <a:uFillTx/>
                <a:latin typeface="+mj-ea"/>
                <a:ea typeface="+mj-ea"/>
                <a:cs typeface="+mn-cs"/>
              </a:rPr>
              <a:t>因果图法</a:t>
            </a:r>
          </a:p>
        </p:txBody>
      </p:sp>
      <p:sp>
        <p:nvSpPr>
          <p:cNvPr id="13" name="文本框 12"/>
          <p:cNvSpPr txBox="1"/>
          <p:nvPr/>
        </p:nvSpPr>
        <p:spPr>
          <a:xfrm>
            <a:off x="7882255" y="5229860"/>
            <a:ext cx="4187825" cy="400110"/>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effectLst/>
                <a:uLnTx/>
                <a:uFillTx/>
                <a:latin typeface="+mj-ea"/>
                <a:ea typeface="+mj-ea"/>
                <a:cs typeface="+mn-cs"/>
              </a:rPr>
              <a:t>用基本路径覆盖法设计测试用例</a:t>
            </a:r>
          </a:p>
        </p:txBody>
      </p:sp>
      <p:sp>
        <p:nvSpPr>
          <p:cNvPr id="3" name="椭圆 2">
            <a:extLst>
              <a:ext uri="{FF2B5EF4-FFF2-40B4-BE49-F238E27FC236}">
                <a16:creationId xmlns:a16="http://schemas.microsoft.com/office/drawing/2014/main" id="{E2FE6C87-D911-0533-4093-2156C7A150FD}"/>
              </a:ext>
            </a:extLst>
          </p:cNvPr>
          <p:cNvSpPr/>
          <p:nvPr/>
        </p:nvSpPr>
        <p:spPr>
          <a:xfrm>
            <a:off x="3428455" y="2169500"/>
            <a:ext cx="2362200" cy="23622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600" b="0" i="0" u="none" strike="noStrike" kern="1200" cap="none" spc="0" normalizeH="0" noProof="0" dirty="0">
                <a:ln>
                  <a:noFill/>
                </a:ln>
                <a:solidFill>
                  <a:schemeClr val="lt1"/>
                </a:solidFill>
                <a:effectLst/>
                <a:uLnTx/>
                <a:uFillTx/>
                <a:latin typeface="+mj-lt"/>
                <a:ea typeface="+mj-ea"/>
                <a:cs typeface="+mn-cs"/>
              </a:rPr>
              <a:t>05</a:t>
            </a:r>
            <a:endParaRPr kumimoji="0" lang="zh-CN" altLang="en-US" sz="9600" b="0" i="0" u="none" strike="noStrike" kern="1200" cap="none" spc="0" normalizeH="0" noProof="0" dirty="0">
              <a:ln>
                <a:noFill/>
              </a:ln>
              <a:solidFill>
                <a:schemeClr val="lt1"/>
              </a:solidFill>
              <a:effectLst/>
              <a:uLnTx/>
              <a:uFillTx/>
              <a:latin typeface="+mj-lt"/>
              <a:ea typeface="+mj-ea"/>
              <a:cs typeface="+mn-cs"/>
            </a:endParaRPr>
          </a:p>
        </p:txBody>
      </p:sp>
    </p:spTree>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11520000" cy="535531"/>
          </a:xfrm>
        </p:spPr>
        <p:txBody>
          <a:bodyPr/>
          <a:lstStyle/>
          <a:p>
            <a:r>
              <a:rPr lang="en-US" dirty="0"/>
              <a:t>4.5 </a:t>
            </a:r>
            <a:r>
              <a:rPr lang="zh-CN" altLang="en-US" dirty="0"/>
              <a:t>设计软件测试方案</a:t>
            </a:r>
          </a:p>
        </p:txBody>
      </p:sp>
      <p:sp>
        <p:nvSpPr>
          <p:cNvPr id="6" name="文本占位符 5">
            <a:extLst>
              <a:ext uri="{FF2B5EF4-FFF2-40B4-BE49-F238E27FC236}">
                <a16:creationId xmlns:a16="http://schemas.microsoft.com/office/drawing/2014/main" id="{122C24D1-F2D4-809B-2023-5EEDEE7737B8}"/>
              </a:ext>
            </a:extLst>
          </p:cNvPr>
          <p:cNvSpPr>
            <a:spLocks noGrp="1"/>
          </p:cNvSpPr>
          <p:nvPr>
            <p:ph type="body" sz="quarter" idx="10"/>
          </p:nvPr>
        </p:nvSpPr>
        <p:spPr/>
        <p:txBody>
          <a:bodyPr/>
          <a:lstStyle/>
          <a:p>
            <a:r>
              <a:rPr lang="zh-CN" altLang="en-US" dirty="0"/>
              <a:t>引言</a:t>
            </a:r>
          </a:p>
        </p:txBody>
      </p:sp>
      <p:sp>
        <p:nvSpPr>
          <p:cNvPr id="8" name="文本占位符 7">
            <a:extLst>
              <a:ext uri="{FF2B5EF4-FFF2-40B4-BE49-F238E27FC236}">
                <a16:creationId xmlns:a16="http://schemas.microsoft.com/office/drawing/2014/main" id="{88D6C76D-2AE9-28C9-49EC-D8D947DC641E}"/>
              </a:ext>
            </a:extLst>
          </p:cNvPr>
          <p:cNvSpPr>
            <a:spLocks noGrp="1"/>
          </p:cNvSpPr>
          <p:nvPr>
            <p:ph type="body" sz="quarter" idx="11"/>
          </p:nvPr>
        </p:nvSpPr>
        <p:spPr/>
        <p:txBody>
          <a:bodyPr/>
          <a:lstStyle/>
          <a:p>
            <a:r>
              <a:rPr lang="en-US" altLang="zh-CN" dirty="0"/>
              <a:t>Schema</a:t>
            </a:r>
            <a:endParaRPr lang="zh-CN" altLang="en-US" dirty="0"/>
          </a:p>
        </p:txBody>
      </p:sp>
      <p:sp>
        <p:nvSpPr>
          <p:cNvPr id="100" name="文本框 99"/>
          <p:cNvSpPr txBox="1"/>
          <p:nvPr/>
        </p:nvSpPr>
        <p:spPr>
          <a:xfrm>
            <a:off x="695999" y="1964954"/>
            <a:ext cx="5904000" cy="2773131"/>
          </a:xfrm>
          <a:prstGeom prst="rect">
            <a:avLst/>
          </a:prstGeom>
          <a:noFill/>
          <a:ln w="9525">
            <a:noFill/>
          </a:ln>
        </p:spPr>
        <p:txBody>
          <a:bodyPr wrap="square">
            <a:spAutoFit/>
          </a:bodyPr>
          <a:lstStyle/>
          <a:p>
            <a:pPr marL="0" indent="457200" fontAlgn="auto">
              <a:lnSpc>
                <a:spcPct val="130000"/>
              </a:lnSpc>
              <a:spcAft>
                <a:spcPts val="600"/>
              </a:spcAft>
            </a:pPr>
            <a:r>
              <a:rPr dirty="0" err="1">
                <a:sym typeface="+mn-ea"/>
              </a:rPr>
              <a:t>软件测试阶段最关键的技术问题是设计测试方案。测试方案包括</a:t>
            </a:r>
            <a:r>
              <a:rPr lang="zh-CN" altLang="en-US" dirty="0">
                <a:sym typeface="+mn-ea"/>
              </a:rPr>
              <a:t>三</a:t>
            </a:r>
            <a:r>
              <a:rPr dirty="0" err="1">
                <a:sym typeface="+mn-ea"/>
              </a:rPr>
              <a:t>方面的内容：</a:t>
            </a:r>
            <a:r>
              <a:rPr dirty="0" err="1">
                <a:solidFill>
                  <a:srgbClr val="C00000"/>
                </a:solidFill>
                <a:sym typeface="+mn-ea"/>
              </a:rPr>
              <a:t>要测试的功能</a:t>
            </a:r>
            <a:r>
              <a:rPr dirty="0" err="1">
                <a:sym typeface="+mn-ea"/>
              </a:rPr>
              <a:t>、准备</a:t>
            </a:r>
            <a:r>
              <a:rPr dirty="0" err="1">
                <a:solidFill>
                  <a:srgbClr val="C00000"/>
                </a:solidFill>
                <a:sym typeface="+mn-ea"/>
              </a:rPr>
              <a:t>输入的数据</a:t>
            </a:r>
            <a:r>
              <a:rPr dirty="0" err="1">
                <a:sym typeface="+mn-ea"/>
              </a:rPr>
              <a:t>及其对应的预期</a:t>
            </a:r>
            <a:r>
              <a:rPr dirty="0" err="1">
                <a:solidFill>
                  <a:srgbClr val="C00000"/>
                </a:solidFill>
                <a:sym typeface="+mn-ea"/>
              </a:rPr>
              <a:t>输出结果</a:t>
            </a:r>
            <a:r>
              <a:rPr dirty="0">
                <a:sym typeface="+mn-ea"/>
              </a:rPr>
              <a:t>。</a:t>
            </a:r>
          </a:p>
          <a:p>
            <a:pPr marL="0" indent="457200" fontAlgn="auto">
              <a:lnSpc>
                <a:spcPct val="130000"/>
              </a:lnSpc>
              <a:spcAft>
                <a:spcPts val="600"/>
              </a:spcAft>
            </a:pPr>
            <a:r>
              <a:rPr dirty="0" err="1">
                <a:sym typeface="+mn-ea"/>
              </a:rPr>
              <a:t>不同的测试数据在发现程序错误上所起的作用差别很大。由于不可能进行穷尽测试，因而要选用少量高效的测试数据，尽可能完善地进行测试</a:t>
            </a:r>
            <a:r>
              <a:rPr dirty="0">
                <a:sym typeface="+mn-ea"/>
              </a:rPr>
              <a:t>。</a:t>
            </a:r>
            <a:endParaRPr lang="en-US" dirty="0">
              <a:sym typeface="+mn-ea"/>
            </a:endParaRPr>
          </a:p>
          <a:p>
            <a:pPr indent="457200">
              <a:lnSpc>
                <a:spcPct val="130000"/>
              </a:lnSpc>
              <a:spcAft>
                <a:spcPts val="600"/>
              </a:spcAft>
            </a:pPr>
            <a:r>
              <a:rPr lang="zh-CN" altLang="en-US" dirty="0">
                <a:sym typeface="+mn-ea"/>
              </a:rPr>
              <a:t>通常先用黑盒法设计基本测试方案，再用白盒法补充</a:t>
            </a:r>
            <a:endParaRPr dirty="0">
              <a:sym typeface="+mn-ea"/>
            </a:endParaRPr>
          </a:p>
        </p:txBody>
      </p:sp>
      <p:pic>
        <p:nvPicPr>
          <p:cNvPr id="109570" name="图片 1" descr="指挥.jpg"/>
          <p:cNvPicPr>
            <a:picLocks noGrp="1" noChangeAspect="1"/>
          </p:cNvPicPr>
          <p:nvPr/>
        </p:nvPicPr>
        <p:blipFill>
          <a:blip r:embed="rId3" cstate="print"/>
          <a:stretch>
            <a:fillRect/>
          </a:stretch>
        </p:blipFill>
        <p:spPr>
          <a:xfrm>
            <a:off x="6859270" y="2057400"/>
            <a:ext cx="4730750" cy="2956560"/>
          </a:xfrm>
          <a:prstGeom prst="rect">
            <a:avLst/>
          </a:prstGeom>
          <a:noFill/>
          <a:ln w="9525">
            <a:noFill/>
          </a:ln>
        </p:spPr>
      </p:pic>
      <p:sp>
        <p:nvSpPr>
          <p:cNvPr id="4" name="文本框 3"/>
          <p:cNvSpPr txBox="1"/>
          <p:nvPr/>
        </p:nvSpPr>
        <p:spPr>
          <a:xfrm>
            <a:off x="1000801" y="4720109"/>
            <a:ext cx="8714700" cy="778739"/>
          </a:xfrm>
          <a:prstGeom prst="rect">
            <a:avLst/>
          </a:prstGeom>
          <a:noFill/>
        </p:spPr>
        <p:txBody>
          <a:bodyPr wrap="square" rtlCol="0">
            <a:spAutoFit/>
          </a:bodyPr>
          <a:lstStyle/>
          <a:p>
            <a:pPr marL="180000" indent="-180000" fontAlgn="auto">
              <a:lnSpc>
                <a:spcPct val="130000"/>
              </a:lnSpc>
              <a:buFont typeface="Arial" panose="020B0604020202020204" pitchFamily="34" charset="0"/>
              <a:buChar char="•"/>
            </a:pPr>
            <a:r>
              <a:rPr lang="zh-CN" altLang="en-US" dirty="0">
                <a:sym typeface="+mn-ea"/>
              </a:rPr>
              <a:t>适用于黑盒法测试：等价类划分法、边界值分析法、错误推测法</a:t>
            </a:r>
          </a:p>
          <a:p>
            <a:pPr marL="180000" indent="-180000" fontAlgn="auto">
              <a:lnSpc>
                <a:spcPct val="130000"/>
              </a:lnSpc>
              <a:buFont typeface="Arial" panose="020B0604020202020204" pitchFamily="34" charset="0"/>
              <a:buChar char="•"/>
            </a:pPr>
            <a:r>
              <a:rPr lang="zh-CN" altLang="en-US" dirty="0">
                <a:sym typeface="+mn-ea"/>
              </a:rPr>
              <a:t>适用于白盒法测试：逻辑覆盖法、因果图法</a:t>
            </a:r>
            <a:endParaRPr lang="zh-CN" altLang="en-US" dirty="0"/>
          </a:p>
        </p:txBody>
      </p:sp>
    </p:spTree>
  </p:cSld>
  <p:clrMapOvr>
    <a:masterClrMapping/>
  </p:clrMapOvr>
  <p:transition>
    <p:pull dir="rd"/>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图片 1" descr="白板11"/>
          <p:cNvPicPr>
            <a:picLocks noGrp="1" noChangeAspect="1"/>
          </p:cNvPicPr>
          <p:nvPr/>
        </p:nvPicPr>
        <p:blipFill>
          <a:blip r:embed="rId3" cstate="print"/>
          <a:srcRect r="5298"/>
          <a:stretch>
            <a:fillRect/>
          </a:stretch>
        </p:blipFill>
        <p:spPr>
          <a:xfrm>
            <a:off x="1211580" y="794385"/>
            <a:ext cx="9972675" cy="5443220"/>
          </a:xfrm>
          <a:prstGeom prst="rect">
            <a:avLst/>
          </a:prstGeom>
          <a:noFill/>
          <a:ln w="9525">
            <a:noFill/>
          </a:ln>
        </p:spPr>
      </p:pic>
      <p:sp>
        <p:nvSpPr>
          <p:cNvPr id="3" name="标题 2"/>
          <p:cNvSpPr>
            <a:spLocks noGrp="1"/>
          </p:cNvSpPr>
          <p:nvPr>
            <p:ph type="title"/>
          </p:nvPr>
        </p:nvSpPr>
        <p:spPr>
          <a:xfrm>
            <a:off x="336000" y="360000"/>
            <a:ext cx="5760000" cy="535531"/>
          </a:xfrm>
        </p:spPr>
        <p:txBody>
          <a:bodyPr/>
          <a:lstStyle/>
          <a:p>
            <a:r>
              <a:rPr lang="en-US" dirty="0"/>
              <a:t>4.5 </a:t>
            </a:r>
            <a:r>
              <a:rPr lang="zh-CN" altLang="en-US" dirty="0"/>
              <a:t>设计软件测试方案</a:t>
            </a:r>
          </a:p>
        </p:txBody>
      </p:sp>
      <p:sp>
        <p:nvSpPr>
          <p:cNvPr id="5" name="文本占位符 4">
            <a:extLst>
              <a:ext uri="{FF2B5EF4-FFF2-40B4-BE49-F238E27FC236}">
                <a16:creationId xmlns:a16="http://schemas.microsoft.com/office/drawing/2014/main" id="{3BE793EA-21B3-77A0-513D-98A6265CF00D}"/>
              </a:ext>
            </a:extLst>
          </p:cNvPr>
          <p:cNvSpPr>
            <a:spLocks noGrp="1"/>
          </p:cNvSpPr>
          <p:nvPr>
            <p:ph type="body" sz="quarter" idx="10"/>
          </p:nvPr>
        </p:nvSpPr>
        <p:spPr>
          <a:xfrm>
            <a:off x="696000" y="1322832"/>
            <a:ext cx="5400000" cy="400110"/>
          </a:xfrm>
        </p:spPr>
        <p:txBody>
          <a:bodyPr/>
          <a:lstStyle/>
          <a:p>
            <a:r>
              <a:rPr lang="en-US" altLang="zh-CN" dirty="0"/>
              <a:t>4.5.1 </a:t>
            </a:r>
            <a:r>
              <a:rPr lang="zh-CN" altLang="en-US" dirty="0"/>
              <a:t>等价类划分法 Equivalence Partitioning </a:t>
            </a:r>
          </a:p>
        </p:txBody>
      </p:sp>
      <p:sp>
        <p:nvSpPr>
          <p:cNvPr id="6" name="文本占位符 5">
            <a:extLst>
              <a:ext uri="{FF2B5EF4-FFF2-40B4-BE49-F238E27FC236}">
                <a16:creationId xmlns:a16="http://schemas.microsoft.com/office/drawing/2014/main" id="{63443EDB-47D1-3730-481D-2A18D9AA9936}"/>
              </a:ext>
            </a:extLst>
          </p:cNvPr>
          <p:cNvSpPr>
            <a:spLocks noGrp="1"/>
          </p:cNvSpPr>
          <p:nvPr>
            <p:ph type="body" sz="quarter" idx="11"/>
          </p:nvPr>
        </p:nvSpPr>
        <p:spPr>
          <a:xfrm>
            <a:off x="6096000" y="360128"/>
            <a:ext cx="5760000" cy="400110"/>
          </a:xfrm>
        </p:spPr>
        <p:txBody>
          <a:bodyPr/>
          <a:lstStyle/>
          <a:p>
            <a:r>
              <a:rPr lang="en-US" altLang="zh-CN" dirty="0"/>
              <a:t>Schema</a:t>
            </a:r>
            <a:endParaRPr lang="zh-CN" altLang="en-US" dirty="0"/>
          </a:p>
        </p:txBody>
      </p:sp>
      <p:sp>
        <p:nvSpPr>
          <p:cNvPr id="35" name="文本框 34"/>
          <p:cNvSpPr txBox="1"/>
          <p:nvPr/>
        </p:nvSpPr>
        <p:spPr>
          <a:xfrm>
            <a:off x="2366645" y="2727960"/>
            <a:ext cx="5983605" cy="1859035"/>
          </a:xfrm>
          <a:prstGeom prst="rect">
            <a:avLst/>
          </a:prstGeom>
          <a:noFill/>
        </p:spPr>
        <p:txBody>
          <a:bodyPr wrap="square" rtlCol="0" anchor="t">
            <a:spAutoFit/>
          </a:bodyPr>
          <a:lstStyle/>
          <a:p>
            <a:pPr>
              <a:lnSpc>
                <a:spcPct val="130000"/>
              </a:lnSpc>
            </a:pPr>
            <a:r>
              <a:rPr lang="zh-CN" altLang="en-US" dirty="0"/>
              <a:t>等价类划分法是用</a:t>
            </a:r>
            <a:r>
              <a:rPr lang="zh-CN" altLang="en-US" dirty="0">
                <a:solidFill>
                  <a:srgbClr val="FF0000"/>
                </a:solidFill>
              </a:rPr>
              <a:t>黑盒法</a:t>
            </a:r>
            <a:r>
              <a:rPr lang="zh-CN" altLang="en-US" dirty="0"/>
              <a:t>设计测试方案的一种。</a:t>
            </a:r>
            <a:endParaRPr lang="en-US" altLang="zh-CN" dirty="0"/>
          </a:p>
          <a:p>
            <a:pPr>
              <a:lnSpc>
                <a:spcPct val="130000"/>
              </a:lnSpc>
            </a:pPr>
            <a:r>
              <a:rPr lang="zh-CN" altLang="en-US" dirty="0"/>
              <a:t>把所有可能的输入数据划分成若干等价类，每类中的一个典型值在测试中的作用与这一类中所有其他值的作用相同，因此在每个等价类中只用一组数据作为代表进行测试来发现程序中的错误。</a:t>
            </a:r>
          </a:p>
        </p:txBody>
      </p:sp>
    </p:spTree>
  </p:cSld>
  <p:clrMapOvr>
    <a:masterClrMapping/>
  </p:clrMapOvr>
  <p:transition>
    <p:pull dir="rd"/>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en-US" dirty="0"/>
              <a:t>4.5 </a:t>
            </a:r>
            <a:r>
              <a:rPr lang="zh-CN" altLang="en-US" dirty="0"/>
              <a:t>设计软件测试方案</a:t>
            </a:r>
          </a:p>
        </p:txBody>
      </p:sp>
      <p:sp>
        <p:nvSpPr>
          <p:cNvPr id="16" name="文本占位符 15">
            <a:extLst>
              <a:ext uri="{FF2B5EF4-FFF2-40B4-BE49-F238E27FC236}">
                <a16:creationId xmlns:a16="http://schemas.microsoft.com/office/drawing/2014/main" id="{62B8BC36-CC2F-5719-F512-43194966186F}"/>
              </a:ext>
            </a:extLst>
          </p:cNvPr>
          <p:cNvSpPr>
            <a:spLocks noGrp="1"/>
          </p:cNvSpPr>
          <p:nvPr>
            <p:ph type="body" sz="quarter" idx="10"/>
          </p:nvPr>
        </p:nvSpPr>
        <p:spPr>
          <a:xfrm>
            <a:off x="696000" y="1322832"/>
            <a:ext cx="5400000" cy="400110"/>
          </a:xfrm>
        </p:spPr>
        <p:txBody>
          <a:bodyPr/>
          <a:lstStyle/>
          <a:p>
            <a:r>
              <a:rPr lang="en-US" altLang="zh-CN" dirty="0"/>
              <a:t>4.5.1 </a:t>
            </a:r>
            <a:r>
              <a:rPr lang="zh-CN" altLang="en-US" dirty="0"/>
              <a:t>等价类划分法 Equivalence Partitioning </a:t>
            </a:r>
          </a:p>
        </p:txBody>
      </p:sp>
      <p:sp>
        <p:nvSpPr>
          <p:cNvPr id="15" name="文本占位符 14">
            <a:extLst>
              <a:ext uri="{FF2B5EF4-FFF2-40B4-BE49-F238E27FC236}">
                <a16:creationId xmlns:a16="http://schemas.microsoft.com/office/drawing/2014/main" id="{8812198D-D422-84B8-1BA3-B831AB3DB808}"/>
              </a:ext>
            </a:extLst>
          </p:cNvPr>
          <p:cNvSpPr>
            <a:spLocks noGrp="1"/>
          </p:cNvSpPr>
          <p:nvPr>
            <p:ph type="body" sz="quarter" idx="11"/>
          </p:nvPr>
        </p:nvSpPr>
        <p:spPr>
          <a:xfrm>
            <a:off x="6096000" y="360128"/>
            <a:ext cx="5760000" cy="400110"/>
          </a:xfrm>
        </p:spPr>
        <p:txBody>
          <a:bodyPr/>
          <a:lstStyle/>
          <a:p>
            <a:r>
              <a:rPr lang="en-US" altLang="zh-CN" dirty="0"/>
              <a:t>Schema</a:t>
            </a:r>
            <a:endParaRPr lang="zh-CN" altLang="en-US" dirty="0"/>
          </a:p>
        </p:txBody>
      </p:sp>
      <p:sp>
        <p:nvSpPr>
          <p:cNvPr id="4" name="MH_Other_1"/>
          <p:cNvSpPr>
            <a:spLocks noChangeArrowheads="1"/>
          </p:cNvSpPr>
          <p:nvPr>
            <p:custDataLst>
              <p:tags r:id="rId1"/>
            </p:custDataLst>
          </p:nvPr>
        </p:nvSpPr>
        <p:spPr bwMode="auto">
          <a:xfrm>
            <a:off x="754380" y="3062693"/>
            <a:ext cx="673100" cy="504825"/>
          </a:xfrm>
          <a:prstGeom prst="rect">
            <a:avLst/>
          </a:prstGeom>
          <a:solidFill>
            <a:srgbClr val="25B4E9"/>
          </a:solidFill>
          <a:ln w="9525">
            <a:noFill/>
            <a:miter lim="800000"/>
          </a:ln>
        </p:spPr>
        <p:txBody>
          <a:bodyPr anchor="ctr"/>
          <a:lstStyle/>
          <a:p>
            <a:pPr algn="ctr" eaLnBrk="1" hangingPunct="1"/>
            <a:r>
              <a:rPr lang="en-US" altLang="zh-CN" sz="2400" b="1" dirty="0">
                <a:solidFill>
                  <a:srgbClr val="FFFFFF"/>
                </a:solidFill>
                <a:latin typeface="Times New Roman" panose="02020603050405020304" pitchFamily="18" charset="0"/>
                <a:ea typeface="微软雅黑" panose="020B0503020204020204" charset="-122"/>
              </a:rPr>
              <a:t>01</a:t>
            </a:r>
            <a:endParaRPr lang="zh-CN" altLang="en-US" sz="2400" b="1" dirty="0">
              <a:solidFill>
                <a:srgbClr val="FFFFFF"/>
              </a:solidFill>
              <a:latin typeface="Times New Roman" panose="02020603050405020304" pitchFamily="18" charset="0"/>
              <a:ea typeface="微软雅黑" panose="020B0503020204020204" charset="-122"/>
            </a:endParaRPr>
          </a:p>
        </p:txBody>
      </p:sp>
      <p:sp>
        <p:nvSpPr>
          <p:cNvPr id="5" name="MH_Other_2"/>
          <p:cNvSpPr>
            <a:spLocks noChangeArrowheads="1"/>
          </p:cNvSpPr>
          <p:nvPr>
            <p:custDataLst>
              <p:tags r:id="rId2"/>
            </p:custDataLst>
          </p:nvPr>
        </p:nvSpPr>
        <p:spPr bwMode="auto">
          <a:xfrm>
            <a:off x="1465580" y="3167468"/>
            <a:ext cx="533400" cy="400050"/>
          </a:xfrm>
          <a:prstGeom prst="rect">
            <a:avLst/>
          </a:prstGeom>
          <a:solidFill>
            <a:srgbClr val="ACE3F6"/>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6" name="MH_Other_3"/>
          <p:cNvSpPr>
            <a:spLocks noChangeArrowheads="1"/>
          </p:cNvSpPr>
          <p:nvPr>
            <p:custDataLst>
              <p:tags r:id="rId3"/>
            </p:custDataLst>
          </p:nvPr>
        </p:nvSpPr>
        <p:spPr bwMode="auto">
          <a:xfrm>
            <a:off x="906780" y="3596093"/>
            <a:ext cx="520700" cy="390525"/>
          </a:xfrm>
          <a:prstGeom prst="rect">
            <a:avLst/>
          </a:prstGeom>
          <a:solidFill>
            <a:srgbClr val="67CBEF"/>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7" name="MH_Other_4"/>
          <p:cNvSpPr>
            <a:spLocks noChangeArrowheads="1"/>
          </p:cNvSpPr>
          <p:nvPr>
            <p:custDataLst>
              <p:tags r:id="rId4"/>
            </p:custDataLst>
          </p:nvPr>
        </p:nvSpPr>
        <p:spPr bwMode="auto">
          <a:xfrm>
            <a:off x="1465580" y="3596093"/>
            <a:ext cx="673100" cy="333375"/>
          </a:xfrm>
          <a:prstGeom prst="rect">
            <a:avLst/>
          </a:prstGeom>
          <a:solidFill>
            <a:srgbClr val="D9F2FB"/>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8" name="MH_SubTitle_1"/>
          <p:cNvSpPr/>
          <p:nvPr>
            <p:custDataLst>
              <p:tags r:id="rId5"/>
            </p:custDataLst>
          </p:nvPr>
        </p:nvSpPr>
        <p:spPr>
          <a:xfrm>
            <a:off x="2246630" y="2715982"/>
            <a:ext cx="3420000" cy="1488018"/>
          </a:xfrm>
          <a:prstGeom prst="rect">
            <a:avLst/>
          </a:prstGeom>
        </p:spPr>
        <p:txBody>
          <a:bodyPr lIns="72000" tIns="72000" rIns="72000" bIns="72000" anchor="ctr">
            <a:spAutoFit/>
          </a:bodyPr>
          <a:lstStyle/>
          <a:p>
            <a:pPr algn="just">
              <a:lnSpc>
                <a:spcPct val="140000"/>
              </a:lnSpc>
              <a:defRPr/>
            </a:pPr>
            <a:r>
              <a:rPr lang="en-US" altLang="zh-CN" sz="1600" dirty="0">
                <a:solidFill>
                  <a:srgbClr val="000000"/>
                </a:solidFill>
                <a:sym typeface="+mn-ea"/>
              </a:rPr>
              <a:t>       </a:t>
            </a:r>
            <a:r>
              <a:rPr lang="zh-CN" altLang="en-US" sz="1600" dirty="0">
                <a:solidFill>
                  <a:srgbClr val="000000"/>
                </a:solidFill>
                <a:sym typeface="+mn-ea"/>
              </a:rPr>
              <a:t>如果输入数据有规定的</a:t>
            </a:r>
            <a:r>
              <a:rPr lang="zh-CN" altLang="en-US" sz="1600" dirty="0">
                <a:solidFill>
                  <a:srgbClr val="C00000"/>
                </a:solidFill>
                <a:latin typeface="+mj-ea"/>
                <a:ea typeface="+mj-ea"/>
                <a:sym typeface="+mn-ea"/>
              </a:rPr>
              <a:t>范围</a:t>
            </a:r>
            <a:r>
              <a:rPr lang="zh-CN" altLang="en-US" sz="1600" dirty="0">
                <a:solidFill>
                  <a:srgbClr val="000000"/>
                </a:solidFill>
                <a:sym typeface="+mn-ea"/>
              </a:rPr>
              <a:t>，则范围内的数据为一个有效等价类；小于最小值或大于最大值分别为两个无效等价类。</a:t>
            </a:r>
          </a:p>
        </p:txBody>
      </p:sp>
      <p:sp>
        <p:nvSpPr>
          <p:cNvPr id="9" name="MH_Other_5"/>
          <p:cNvSpPr>
            <a:spLocks noChangeArrowheads="1"/>
          </p:cNvSpPr>
          <p:nvPr>
            <p:custDataLst>
              <p:tags r:id="rId6"/>
            </p:custDataLst>
          </p:nvPr>
        </p:nvSpPr>
        <p:spPr bwMode="auto">
          <a:xfrm>
            <a:off x="6207760" y="3062693"/>
            <a:ext cx="673100" cy="504825"/>
          </a:xfrm>
          <a:prstGeom prst="rect">
            <a:avLst/>
          </a:prstGeom>
          <a:solidFill>
            <a:srgbClr val="4FB469"/>
          </a:solidFill>
          <a:ln w="9525">
            <a:noFill/>
            <a:miter lim="800000"/>
          </a:ln>
        </p:spPr>
        <p:txBody>
          <a:bodyPr anchor="ctr"/>
          <a:lstStyle/>
          <a:p>
            <a:pPr algn="ctr" eaLnBrk="1" hangingPunct="1"/>
            <a:r>
              <a:rPr lang="en-US" altLang="zh-CN" sz="2400" b="1" dirty="0">
                <a:solidFill>
                  <a:srgbClr val="FFFFFF"/>
                </a:solidFill>
                <a:latin typeface="Times New Roman" panose="02020603050405020304" pitchFamily="18" charset="0"/>
                <a:ea typeface="微软雅黑" panose="020B0503020204020204" charset="-122"/>
              </a:rPr>
              <a:t>03</a:t>
            </a:r>
            <a:endParaRPr lang="zh-CN" altLang="en-US" sz="2400" b="1" dirty="0">
              <a:solidFill>
                <a:srgbClr val="FFFFFF"/>
              </a:solidFill>
              <a:latin typeface="Times New Roman" panose="02020603050405020304" pitchFamily="18" charset="0"/>
              <a:ea typeface="微软雅黑" panose="020B0503020204020204" charset="-122"/>
            </a:endParaRPr>
          </a:p>
        </p:txBody>
      </p:sp>
      <p:sp>
        <p:nvSpPr>
          <p:cNvPr id="10" name="MH_Other_6"/>
          <p:cNvSpPr>
            <a:spLocks noChangeArrowheads="1"/>
          </p:cNvSpPr>
          <p:nvPr>
            <p:custDataLst>
              <p:tags r:id="rId7"/>
            </p:custDataLst>
          </p:nvPr>
        </p:nvSpPr>
        <p:spPr bwMode="auto">
          <a:xfrm>
            <a:off x="6918960" y="3167468"/>
            <a:ext cx="533400" cy="400050"/>
          </a:xfrm>
          <a:prstGeom prst="rect">
            <a:avLst/>
          </a:prstGeom>
          <a:solidFill>
            <a:srgbClr val="B6E0C1"/>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11" name="MH_Other_7"/>
          <p:cNvSpPr>
            <a:spLocks noChangeArrowheads="1"/>
          </p:cNvSpPr>
          <p:nvPr>
            <p:custDataLst>
              <p:tags r:id="rId8"/>
            </p:custDataLst>
          </p:nvPr>
        </p:nvSpPr>
        <p:spPr bwMode="auto">
          <a:xfrm>
            <a:off x="6360160" y="3596093"/>
            <a:ext cx="520700" cy="390525"/>
          </a:xfrm>
          <a:prstGeom prst="rect">
            <a:avLst/>
          </a:prstGeom>
          <a:solidFill>
            <a:srgbClr val="8DCF9E"/>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12" name="MH_Other_8"/>
          <p:cNvSpPr>
            <a:spLocks noChangeArrowheads="1"/>
          </p:cNvSpPr>
          <p:nvPr>
            <p:custDataLst>
              <p:tags r:id="rId9"/>
            </p:custDataLst>
          </p:nvPr>
        </p:nvSpPr>
        <p:spPr bwMode="auto">
          <a:xfrm>
            <a:off x="6918960" y="3596093"/>
            <a:ext cx="673100" cy="333375"/>
          </a:xfrm>
          <a:prstGeom prst="rect">
            <a:avLst/>
          </a:prstGeom>
          <a:solidFill>
            <a:srgbClr val="E1F3E5"/>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19" name="MH_SubTitle_3"/>
          <p:cNvSpPr/>
          <p:nvPr>
            <p:custDataLst>
              <p:tags r:id="rId10"/>
            </p:custDataLst>
          </p:nvPr>
        </p:nvSpPr>
        <p:spPr>
          <a:xfrm>
            <a:off x="7757795" y="2876026"/>
            <a:ext cx="3934772" cy="1395685"/>
          </a:xfrm>
          <a:prstGeom prst="rect">
            <a:avLst/>
          </a:prstGeom>
        </p:spPr>
        <p:txBody>
          <a:bodyPr wrap="square" lIns="72000" tIns="72000" rIns="72000" bIns="72000" anchor="ctr">
            <a:spAutoFit/>
          </a:bodyPr>
          <a:lstStyle/>
          <a:p>
            <a:pPr algn="just">
              <a:lnSpc>
                <a:spcPct val="130000"/>
              </a:lnSpc>
              <a:defRPr/>
            </a:pPr>
            <a:r>
              <a:rPr lang="en-US" altLang="zh-CN" sz="1600" dirty="0">
                <a:solidFill>
                  <a:srgbClr val="000000"/>
                </a:solidFill>
                <a:sym typeface="+mn-ea"/>
              </a:rPr>
              <a:t>       </a:t>
            </a:r>
            <a:r>
              <a:rPr lang="zh-CN" altLang="en-US" sz="1600" dirty="0">
                <a:solidFill>
                  <a:srgbClr val="000000"/>
                </a:solidFill>
                <a:sym typeface="+mn-ea"/>
              </a:rPr>
              <a:t>如果输入数据有一个规定的</a:t>
            </a:r>
            <a:r>
              <a:rPr lang="zh-CN" altLang="en-US" sz="1600" dirty="0">
                <a:solidFill>
                  <a:srgbClr val="000000"/>
                </a:solidFill>
                <a:latin typeface="+mj-ea"/>
                <a:ea typeface="+mj-ea"/>
                <a:sym typeface="+mn-ea"/>
              </a:rPr>
              <a:t>集合</a:t>
            </a:r>
            <a:r>
              <a:rPr lang="zh-CN" altLang="en-US" sz="1600" dirty="0">
                <a:solidFill>
                  <a:srgbClr val="000000"/>
                </a:solidFill>
                <a:sym typeface="+mn-ea"/>
              </a:rPr>
              <a:t>而且程序对不同的输入数据有不同的处理，则集合中的元素是一个有效等价类；集合外的元素是一个无效等价类。</a:t>
            </a:r>
          </a:p>
        </p:txBody>
      </p:sp>
      <p:sp>
        <p:nvSpPr>
          <p:cNvPr id="23" name="MH_Other_9"/>
          <p:cNvSpPr>
            <a:spLocks noChangeArrowheads="1"/>
          </p:cNvSpPr>
          <p:nvPr>
            <p:custDataLst>
              <p:tags r:id="rId11"/>
            </p:custDataLst>
          </p:nvPr>
        </p:nvSpPr>
        <p:spPr bwMode="auto">
          <a:xfrm>
            <a:off x="754380" y="4887773"/>
            <a:ext cx="673100" cy="504825"/>
          </a:xfrm>
          <a:prstGeom prst="rect">
            <a:avLst/>
          </a:prstGeom>
          <a:solidFill>
            <a:schemeClr val="accent5">
              <a:lumMod val="75000"/>
            </a:schemeClr>
          </a:solidFill>
          <a:ln w="9525">
            <a:noFill/>
            <a:miter lim="800000"/>
          </a:ln>
        </p:spPr>
        <p:txBody>
          <a:bodyPr anchor="ctr"/>
          <a:lstStyle/>
          <a:p>
            <a:pPr algn="ctr" eaLnBrk="1" hangingPunct="1"/>
            <a:r>
              <a:rPr lang="en-US" altLang="zh-CN" sz="2400" b="1" dirty="0">
                <a:solidFill>
                  <a:srgbClr val="FFFFFF"/>
                </a:solidFill>
                <a:latin typeface="Times New Roman" panose="02020603050405020304" pitchFamily="18" charset="0"/>
                <a:ea typeface="微软雅黑" panose="020B0503020204020204" charset="-122"/>
              </a:rPr>
              <a:t>02</a:t>
            </a:r>
            <a:endParaRPr lang="zh-CN" altLang="en-US" sz="2400" b="1" dirty="0">
              <a:solidFill>
                <a:srgbClr val="FFFFFF"/>
              </a:solidFill>
              <a:latin typeface="Times New Roman" panose="02020603050405020304" pitchFamily="18" charset="0"/>
              <a:ea typeface="微软雅黑" panose="020B0503020204020204" charset="-122"/>
            </a:endParaRPr>
          </a:p>
        </p:txBody>
      </p:sp>
      <p:sp>
        <p:nvSpPr>
          <p:cNvPr id="24" name="MH_Other_10"/>
          <p:cNvSpPr>
            <a:spLocks noChangeArrowheads="1"/>
          </p:cNvSpPr>
          <p:nvPr>
            <p:custDataLst>
              <p:tags r:id="rId12"/>
            </p:custDataLst>
          </p:nvPr>
        </p:nvSpPr>
        <p:spPr bwMode="auto">
          <a:xfrm>
            <a:off x="1465580" y="4992548"/>
            <a:ext cx="533400" cy="400050"/>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25" name="MH_Other_11"/>
          <p:cNvSpPr>
            <a:spLocks noChangeArrowheads="1"/>
          </p:cNvSpPr>
          <p:nvPr>
            <p:custDataLst>
              <p:tags r:id="rId13"/>
            </p:custDataLst>
          </p:nvPr>
        </p:nvSpPr>
        <p:spPr bwMode="auto">
          <a:xfrm>
            <a:off x="906780" y="5421173"/>
            <a:ext cx="520700" cy="390525"/>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26" name="MH_Other_12"/>
          <p:cNvSpPr>
            <a:spLocks noChangeArrowheads="1"/>
          </p:cNvSpPr>
          <p:nvPr>
            <p:custDataLst>
              <p:tags r:id="rId14"/>
            </p:custDataLst>
          </p:nvPr>
        </p:nvSpPr>
        <p:spPr bwMode="auto">
          <a:xfrm>
            <a:off x="1465580" y="5421173"/>
            <a:ext cx="673100" cy="333375"/>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27" name="MH_SubTitle_2"/>
          <p:cNvSpPr/>
          <p:nvPr>
            <p:custDataLst>
              <p:tags r:id="rId15"/>
            </p:custDataLst>
          </p:nvPr>
        </p:nvSpPr>
        <p:spPr>
          <a:xfrm>
            <a:off x="2246630" y="4707456"/>
            <a:ext cx="3420000" cy="1303352"/>
          </a:xfrm>
          <a:prstGeom prst="rect">
            <a:avLst/>
          </a:prstGeom>
        </p:spPr>
        <p:txBody>
          <a:bodyPr lIns="72000" tIns="72000" rIns="72000" bIns="72000" anchor="ctr">
            <a:spAutoFit/>
          </a:bodyPr>
          <a:lstStyle/>
          <a:p>
            <a:pPr lvl="0" algn="just">
              <a:lnSpc>
                <a:spcPct val="120000"/>
              </a:lnSpc>
              <a:spcBef>
                <a:spcPct val="0"/>
              </a:spcBef>
            </a:pPr>
            <a:r>
              <a:rPr lang="zh-CN" altLang="en-US" sz="1600" dirty="0">
                <a:solidFill>
                  <a:srgbClr val="000000"/>
                </a:solidFill>
                <a:sym typeface="+mn-ea"/>
              </a:rPr>
              <a:t>       如果输入数据有规定的</a:t>
            </a:r>
            <a:r>
              <a:rPr lang="zh-CN" altLang="en-US" sz="1600" dirty="0">
                <a:solidFill>
                  <a:srgbClr val="C00000"/>
                </a:solidFill>
                <a:latin typeface="+mj-ea"/>
                <a:ea typeface="+mj-ea"/>
                <a:sym typeface="+mn-ea"/>
              </a:rPr>
              <a:t>个数</a:t>
            </a:r>
            <a:r>
              <a:rPr lang="zh-CN" altLang="en-US" sz="1600" dirty="0">
                <a:solidFill>
                  <a:srgbClr val="000000"/>
                </a:solidFill>
                <a:sym typeface="+mn-ea"/>
              </a:rPr>
              <a:t>，则符合规定个数是一个有效等价类；输入数据或输入超出规定个数是两个无效等价类。</a:t>
            </a:r>
          </a:p>
        </p:txBody>
      </p:sp>
      <p:sp>
        <p:nvSpPr>
          <p:cNvPr id="30" name="MH_Other_5"/>
          <p:cNvSpPr>
            <a:spLocks noChangeArrowheads="1"/>
          </p:cNvSpPr>
          <p:nvPr>
            <p:custDataLst>
              <p:tags r:id="rId16"/>
            </p:custDataLst>
          </p:nvPr>
        </p:nvSpPr>
        <p:spPr bwMode="auto">
          <a:xfrm>
            <a:off x="6207760" y="4887773"/>
            <a:ext cx="673100" cy="504825"/>
          </a:xfrm>
          <a:prstGeom prst="rect">
            <a:avLst/>
          </a:prstGeom>
          <a:solidFill>
            <a:schemeClr val="accent4">
              <a:lumMod val="75000"/>
            </a:schemeClr>
          </a:solidFill>
          <a:ln w="9525">
            <a:noFill/>
            <a:miter lim="800000"/>
          </a:ln>
        </p:spPr>
        <p:txBody>
          <a:bodyPr anchor="ctr"/>
          <a:lstStyle/>
          <a:p>
            <a:pPr algn="ctr" eaLnBrk="1" hangingPunct="1"/>
            <a:r>
              <a:rPr lang="en-US" altLang="zh-CN" sz="2400" b="1" dirty="0">
                <a:solidFill>
                  <a:srgbClr val="FFFFFF"/>
                </a:solidFill>
                <a:latin typeface="Times New Roman" panose="02020603050405020304" pitchFamily="18" charset="0"/>
                <a:ea typeface="微软雅黑" panose="020B0503020204020204" charset="-122"/>
              </a:rPr>
              <a:t>03</a:t>
            </a:r>
            <a:endParaRPr lang="zh-CN" altLang="en-US" sz="2400" b="1" dirty="0">
              <a:solidFill>
                <a:srgbClr val="FFFFFF"/>
              </a:solidFill>
              <a:latin typeface="Times New Roman" panose="02020603050405020304" pitchFamily="18" charset="0"/>
              <a:ea typeface="微软雅黑" panose="020B0503020204020204" charset="-122"/>
            </a:endParaRPr>
          </a:p>
        </p:txBody>
      </p:sp>
      <p:sp>
        <p:nvSpPr>
          <p:cNvPr id="31" name="MH_Other_6"/>
          <p:cNvSpPr>
            <a:spLocks noChangeArrowheads="1"/>
          </p:cNvSpPr>
          <p:nvPr>
            <p:custDataLst>
              <p:tags r:id="rId17"/>
            </p:custDataLst>
          </p:nvPr>
        </p:nvSpPr>
        <p:spPr bwMode="auto">
          <a:xfrm>
            <a:off x="6918960" y="4992548"/>
            <a:ext cx="533400" cy="400050"/>
          </a:xfrm>
          <a:prstGeom prst="rect">
            <a:avLst/>
          </a:prstGeom>
          <a:solidFill>
            <a:schemeClr val="accent4">
              <a:lumMod val="40000"/>
              <a:lumOff val="60000"/>
            </a:schemeClr>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32" name="MH_Other_7"/>
          <p:cNvSpPr>
            <a:spLocks noChangeArrowheads="1"/>
          </p:cNvSpPr>
          <p:nvPr>
            <p:custDataLst>
              <p:tags r:id="rId18"/>
            </p:custDataLst>
          </p:nvPr>
        </p:nvSpPr>
        <p:spPr bwMode="auto">
          <a:xfrm>
            <a:off x="6360160" y="5421173"/>
            <a:ext cx="520700" cy="390525"/>
          </a:xfrm>
          <a:prstGeom prst="rect">
            <a:avLst/>
          </a:prstGeom>
          <a:solidFill>
            <a:schemeClr val="accent4">
              <a:lumMod val="60000"/>
              <a:lumOff val="40000"/>
            </a:schemeClr>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33" name="MH_Other_8"/>
          <p:cNvSpPr>
            <a:spLocks noChangeArrowheads="1"/>
          </p:cNvSpPr>
          <p:nvPr>
            <p:custDataLst>
              <p:tags r:id="rId19"/>
            </p:custDataLst>
          </p:nvPr>
        </p:nvSpPr>
        <p:spPr bwMode="auto">
          <a:xfrm>
            <a:off x="6918960" y="5421173"/>
            <a:ext cx="673100" cy="333375"/>
          </a:xfrm>
          <a:prstGeom prst="rect">
            <a:avLst/>
          </a:prstGeom>
          <a:solidFill>
            <a:schemeClr val="accent4">
              <a:lumMod val="20000"/>
              <a:lumOff val="80000"/>
            </a:schemeClr>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34" name="MH_SubTitle_3"/>
          <p:cNvSpPr/>
          <p:nvPr>
            <p:custDataLst>
              <p:tags r:id="rId20"/>
            </p:custDataLst>
          </p:nvPr>
        </p:nvSpPr>
        <p:spPr>
          <a:xfrm>
            <a:off x="7757794" y="4867500"/>
            <a:ext cx="3934771" cy="1075597"/>
          </a:xfrm>
          <a:prstGeom prst="rect">
            <a:avLst/>
          </a:prstGeom>
        </p:spPr>
        <p:txBody>
          <a:bodyPr wrap="square" lIns="72000" tIns="72000" rIns="72000" bIns="72000" anchor="ctr">
            <a:spAutoFit/>
          </a:bodyPr>
          <a:lstStyle/>
          <a:p>
            <a:pPr algn="just">
              <a:lnSpc>
                <a:spcPct val="130000"/>
              </a:lnSpc>
              <a:defRPr/>
            </a:pPr>
            <a:r>
              <a:rPr lang="en-US" altLang="zh-CN" sz="1600" dirty="0">
                <a:solidFill>
                  <a:srgbClr val="000000"/>
                </a:solidFill>
                <a:sym typeface="+mn-ea"/>
              </a:rPr>
              <a:t>      </a:t>
            </a:r>
            <a:r>
              <a:rPr lang="zh-CN" altLang="en-US" sz="1600" dirty="0">
                <a:solidFill>
                  <a:srgbClr val="000000"/>
                </a:solidFill>
                <a:sym typeface="+mn-ea"/>
              </a:rPr>
              <a:t>如果输入数据有一定的</a:t>
            </a:r>
            <a:r>
              <a:rPr lang="zh-CN" altLang="en-US" sz="1600" dirty="0">
                <a:solidFill>
                  <a:srgbClr val="000000"/>
                </a:solidFill>
                <a:latin typeface="+mj-ea"/>
                <a:ea typeface="+mj-ea"/>
                <a:sym typeface="+mn-ea"/>
              </a:rPr>
              <a:t>规则</a:t>
            </a:r>
            <a:r>
              <a:rPr lang="zh-CN" altLang="en-US" sz="1600" dirty="0">
                <a:solidFill>
                  <a:srgbClr val="000000"/>
                </a:solidFill>
                <a:sym typeface="+mn-ea"/>
              </a:rPr>
              <a:t>，则符合规则的数据为一个有效等价类；各种不符合规则的数据组成不同的无效等价类。</a:t>
            </a:r>
          </a:p>
        </p:txBody>
      </p:sp>
      <p:sp>
        <p:nvSpPr>
          <p:cNvPr id="167" name="圆角矩形"/>
          <p:cNvSpPr/>
          <p:nvPr/>
        </p:nvSpPr>
        <p:spPr>
          <a:xfrm>
            <a:off x="7932000" y="939915"/>
            <a:ext cx="3924000" cy="853440"/>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sz="1600" dirty="0">
                <a:solidFill>
                  <a:schemeClr val="tx1"/>
                </a:solidFill>
                <a:latin typeface="Times New Roman" panose="02020603050405020304" pitchFamily="18" charset="0"/>
              </a:rPr>
              <a:t>   </a:t>
            </a:r>
            <a:r>
              <a:rPr lang="zh-CN" altLang="en-US" sz="1600" dirty="0">
                <a:solidFill>
                  <a:schemeClr val="tx1"/>
                </a:solidFill>
                <a:latin typeface="Times New Roman" panose="02020603050405020304" pitchFamily="18" charset="0"/>
              </a:rPr>
              <a:t> 如果一个等价类中的数据是有效的，则称这个等价类是有效等价类；反之，就是无效等价类。</a:t>
            </a:r>
          </a:p>
        </p:txBody>
      </p:sp>
      <p:sp>
        <p:nvSpPr>
          <p:cNvPr id="14" name="学士帽"/>
          <p:cNvSpPr/>
          <p:nvPr/>
        </p:nvSpPr>
        <p:spPr bwMode="auto">
          <a:xfrm>
            <a:off x="7662467" y="703695"/>
            <a:ext cx="670560" cy="472440"/>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latin typeface="Times New Roman" panose="02020603050405020304" pitchFamily="18" charset="0"/>
              <a:ea typeface="微软雅黑 Light" panose="020B0502040204020203" pitchFamily="34" charset="-122"/>
            </a:endParaRPr>
          </a:p>
        </p:txBody>
      </p:sp>
      <p:sp>
        <p:nvSpPr>
          <p:cNvPr id="39" name="矩形 7"/>
          <p:cNvSpPr>
            <a:spLocks noChangeArrowheads="1"/>
          </p:cNvSpPr>
          <p:nvPr/>
        </p:nvSpPr>
        <p:spPr bwMode="auto">
          <a:xfrm>
            <a:off x="702497" y="2186304"/>
            <a:ext cx="53434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等价类划分的规则：</a:t>
            </a:r>
          </a:p>
        </p:txBody>
      </p:sp>
    </p:spTree>
  </p:cSld>
  <p:clrMapOvr>
    <a:masterClrMapping/>
  </p:clrMapOvr>
  <p:transition>
    <p:pull dir="rd"/>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en-US"/>
              <a:t>4.5 </a:t>
            </a:r>
            <a:r>
              <a:rPr lang="zh-CN" altLang="en-US"/>
              <a:t>设计软件测试方案</a:t>
            </a:r>
            <a:endParaRPr lang="zh-CN" altLang="en-US" dirty="0"/>
          </a:p>
        </p:txBody>
      </p:sp>
      <p:sp>
        <p:nvSpPr>
          <p:cNvPr id="5" name="文本占位符 4">
            <a:extLst>
              <a:ext uri="{FF2B5EF4-FFF2-40B4-BE49-F238E27FC236}">
                <a16:creationId xmlns:a16="http://schemas.microsoft.com/office/drawing/2014/main" id="{F240FE04-97D1-12DA-34AA-01AE0894F4B1}"/>
              </a:ext>
            </a:extLst>
          </p:cNvPr>
          <p:cNvSpPr>
            <a:spLocks noGrp="1"/>
          </p:cNvSpPr>
          <p:nvPr>
            <p:ph type="body" sz="quarter" idx="10"/>
          </p:nvPr>
        </p:nvSpPr>
        <p:spPr>
          <a:xfrm>
            <a:off x="695325" y="1322388"/>
            <a:ext cx="5400675" cy="400050"/>
          </a:xfrm>
        </p:spPr>
        <p:txBody>
          <a:bodyPr/>
          <a:lstStyle/>
          <a:p>
            <a:r>
              <a:rPr lang="en-US" altLang="zh-CN" dirty="0"/>
              <a:t>4.5.1 </a:t>
            </a:r>
            <a:r>
              <a:rPr lang="zh-CN" altLang="en-US" dirty="0"/>
              <a:t>等价类划分法 Equivalence Partitioning </a:t>
            </a:r>
          </a:p>
        </p:txBody>
      </p:sp>
      <p:sp>
        <p:nvSpPr>
          <p:cNvPr id="7" name="文本占位符 6">
            <a:extLst>
              <a:ext uri="{FF2B5EF4-FFF2-40B4-BE49-F238E27FC236}">
                <a16:creationId xmlns:a16="http://schemas.microsoft.com/office/drawing/2014/main" id="{7C0E968B-D8D5-976A-4027-42CE4E2A67E1}"/>
              </a:ext>
            </a:extLst>
          </p:cNvPr>
          <p:cNvSpPr>
            <a:spLocks noGrp="1"/>
          </p:cNvSpPr>
          <p:nvPr>
            <p:ph type="body" sz="quarter" idx="11"/>
          </p:nvPr>
        </p:nvSpPr>
        <p:spPr>
          <a:xfrm>
            <a:off x="6096000" y="360128"/>
            <a:ext cx="5760000" cy="400110"/>
          </a:xfrm>
        </p:spPr>
        <p:txBody>
          <a:bodyPr/>
          <a:lstStyle/>
          <a:p>
            <a:r>
              <a:rPr lang="en-US" altLang="zh-CN" dirty="0"/>
              <a:t>Schema</a:t>
            </a:r>
            <a:endParaRPr lang="zh-CN" altLang="en-US" dirty="0"/>
          </a:p>
        </p:txBody>
      </p:sp>
      <p:pic>
        <p:nvPicPr>
          <p:cNvPr id="13" name="图片 12"/>
          <p:cNvPicPr>
            <a:picLocks noChangeAspect="1"/>
          </p:cNvPicPr>
          <p:nvPr/>
        </p:nvPicPr>
        <p:blipFill>
          <a:blip r:embed="rId3" cstate="print"/>
          <a:srcRect l="-1" r="42162"/>
          <a:stretch>
            <a:fillRect/>
          </a:stretch>
        </p:blipFill>
        <p:spPr>
          <a:xfrm>
            <a:off x="8622691" y="1322388"/>
            <a:ext cx="3569309" cy="2440117"/>
          </a:xfrm>
          <a:prstGeom prst="rect">
            <a:avLst/>
          </a:prstGeom>
        </p:spPr>
      </p:pic>
      <p:sp>
        <p:nvSpPr>
          <p:cNvPr id="14" name="文本框 13"/>
          <p:cNvSpPr txBox="1"/>
          <p:nvPr/>
        </p:nvSpPr>
        <p:spPr>
          <a:xfrm>
            <a:off x="696001" y="2727527"/>
            <a:ext cx="6189992" cy="1706686"/>
          </a:xfrm>
          <a:prstGeom prst="rect">
            <a:avLst/>
          </a:prstGeom>
          <a:noFill/>
        </p:spPr>
        <p:txBody>
          <a:bodyPr wrap="square" rtlCol="0" anchor="t">
            <a:spAutoFit/>
          </a:bodyPr>
          <a:lstStyle/>
          <a:p>
            <a:pPr marL="342900" indent="-342900" fontAlgn="auto">
              <a:lnSpc>
                <a:spcPct val="150000"/>
              </a:lnSpc>
              <a:buClrTx/>
              <a:buFont typeface="+mj-lt"/>
              <a:buAutoNum type="arabicPeriod"/>
            </a:pPr>
            <a:r>
              <a:rPr lang="zh-CN" altLang="en-US" dirty="0"/>
              <a:t>研究程序的功能说明，以确定输入数据是有效等价类还是无效等价类。</a:t>
            </a:r>
          </a:p>
          <a:p>
            <a:pPr marL="342900" indent="-342900" fontAlgn="auto">
              <a:lnSpc>
                <a:spcPct val="150000"/>
              </a:lnSpc>
              <a:buClrTx/>
              <a:buFont typeface="+mj-lt"/>
              <a:buAutoNum type="arabicPeriod"/>
            </a:pPr>
            <a:r>
              <a:rPr lang="zh-CN" altLang="en-US" dirty="0"/>
              <a:t>分析输出数据的等价类，以便根据输出数据的等价类导出相应的输入数据等价类。</a:t>
            </a:r>
          </a:p>
        </p:txBody>
      </p:sp>
      <p:sp>
        <p:nvSpPr>
          <p:cNvPr id="6" name="矩形 7"/>
          <p:cNvSpPr>
            <a:spLocks noChangeArrowheads="1"/>
          </p:cNvSpPr>
          <p:nvPr/>
        </p:nvSpPr>
        <p:spPr bwMode="auto">
          <a:xfrm>
            <a:off x="702497" y="2186304"/>
            <a:ext cx="53434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dirty="0">
                <a:solidFill>
                  <a:srgbClr val="E67819"/>
                </a:solidFill>
                <a:latin typeface="+mj-ea"/>
                <a:ea typeface="+mj-ea"/>
              </a:rPr>
              <a:t>步骤：</a:t>
            </a:r>
          </a:p>
        </p:txBody>
      </p:sp>
    </p:spTree>
  </p:cSld>
  <p:clrMapOvr>
    <a:masterClrMapping/>
  </p:clrMapOvr>
  <p:transition>
    <p:pull dir="rd"/>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en-US" dirty="0"/>
              <a:t>4.5 </a:t>
            </a:r>
            <a:r>
              <a:rPr lang="zh-CN" altLang="en-US" dirty="0"/>
              <a:t>设计软件测试方案</a:t>
            </a:r>
          </a:p>
        </p:txBody>
      </p:sp>
      <p:sp>
        <p:nvSpPr>
          <p:cNvPr id="5" name="文本占位符 4">
            <a:extLst>
              <a:ext uri="{FF2B5EF4-FFF2-40B4-BE49-F238E27FC236}">
                <a16:creationId xmlns:a16="http://schemas.microsoft.com/office/drawing/2014/main" id="{1A6829C1-BEBE-5366-393A-31468FE03CF6}"/>
              </a:ext>
            </a:extLst>
          </p:cNvPr>
          <p:cNvSpPr>
            <a:spLocks noGrp="1"/>
          </p:cNvSpPr>
          <p:nvPr>
            <p:ph type="body" sz="quarter" idx="10"/>
          </p:nvPr>
        </p:nvSpPr>
        <p:spPr>
          <a:xfrm>
            <a:off x="695325" y="1322388"/>
            <a:ext cx="7267575" cy="400050"/>
          </a:xfrm>
        </p:spPr>
        <p:txBody>
          <a:bodyPr/>
          <a:lstStyle/>
          <a:p>
            <a:r>
              <a:rPr lang="en-US" altLang="zh-CN" dirty="0"/>
              <a:t>4.5.2 </a:t>
            </a:r>
            <a:r>
              <a:rPr lang="zh-CN" altLang="en-US" dirty="0"/>
              <a:t>边界值分析法 </a:t>
            </a:r>
            <a:r>
              <a:rPr lang="en-US" altLang="zh-CN" dirty="0">
                <a:sym typeface="+mn-ea"/>
              </a:rPr>
              <a:t>Boundary Value Analysis</a:t>
            </a:r>
            <a:endParaRPr lang="zh-CN" altLang="zh-CN" dirty="0"/>
          </a:p>
        </p:txBody>
      </p:sp>
      <p:sp>
        <p:nvSpPr>
          <p:cNvPr id="6" name="文本占位符 5">
            <a:extLst>
              <a:ext uri="{FF2B5EF4-FFF2-40B4-BE49-F238E27FC236}">
                <a16:creationId xmlns:a16="http://schemas.microsoft.com/office/drawing/2014/main" id="{88468B14-EACD-B037-7B9A-D0AD8E0BECF2}"/>
              </a:ext>
            </a:extLst>
          </p:cNvPr>
          <p:cNvSpPr>
            <a:spLocks noGrp="1"/>
          </p:cNvSpPr>
          <p:nvPr>
            <p:ph type="body" sz="quarter" idx="11"/>
          </p:nvPr>
        </p:nvSpPr>
        <p:spPr>
          <a:xfrm>
            <a:off x="6096000" y="360128"/>
            <a:ext cx="5760000" cy="400110"/>
          </a:xfrm>
        </p:spPr>
        <p:txBody>
          <a:bodyPr/>
          <a:lstStyle/>
          <a:p>
            <a:r>
              <a:rPr lang="en-US" altLang="zh-CN" dirty="0"/>
              <a:t>Schema</a:t>
            </a:r>
            <a:endParaRPr lang="zh-CN" altLang="en-US" dirty="0"/>
          </a:p>
        </p:txBody>
      </p:sp>
      <p:graphicFrame>
        <p:nvGraphicFramePr>
          <p:cNvPr id="8" name="表格 7">
            <a:extLst>
              <a:ext uri="{FF2B5EF4-FFF2-40B4-BE49-F238E27FC236}">
                <a16:creationId xmlns:a16="http://schemas.microsoft.com/office/drawing/2014/main" id="{4474C3D1-5238-1AD6-C784-5A80CADB37E7}"/>
              </a:ext>
            </a:extLst>
          </p:cNvPr>
          <p:cNvGraphicFramePr>
            <a:graphicFrameLocks noGrp="1"/>
          </p:cNvGraphicFramePr>
          <p:nvPr>
            <p:extLst>
              <p:ext uri="{D42A27DB-BD31-4B8C-83A1-F6EECF244321}">
                <p14:modId xmlns:p14="http://schemas.microsoft.com/office/powerpoint/2010/main" val="4247871551"/>
              </p:ext>
            </p:extLst>
          </p:nvPr>
        </p:nvGraphicFramePr>
        <p:xfrm>
          <a:off x="1416000" y="4129723"/>
          <a:ext cx="9360000" cy="1676400"/>
        </p:xfrm>
        <a:graphic>
          <a:graphicData uri="http://schemas.openxmlformats.org/drawingml/2006/table">
            <a:tbl>
              <a:tblPr/>
              <a:tblGrid>
                <a:gridCol w="1241475">
                  <a:extLst>
                    <a:ext uri="{9D8B030D-6E8A-4147-A177-3AD203B41FA5}">
                      <a16:colId xmlns:a16="http://schemas.microsoft.com/office/drawing/2014/main" val="3503054478"/>
                    </a:ext>
                  </a:extLst>
                </a:gridCol>
                <a:gridCol w="3600450">
                  <a:extLst>
                    <a:ext uri="{9D8B030D-6E8A-4147-A177-3AD203B41FA5}">
                      <a16:colId xmlns:a16="http://schemas.microsoft.com/office/drawing/2014/main" val="2891449421"/>
                    </a:ext>
                  </a:extLst>
                </a:gridCol>
                <a:gridCol w="4518075">
                  <a:extLst>
                    <a:ext uri="{9D8B030D-6E8A-4147-A177-3AD203B41FA5}">
                      <a16:colId xmlns:a16="http://schemas.microsoft.com/office/drawing/2014/main" val="4193762897"/>
                    </a:ext>
                  </a:extLst>
                </a:gridCol>
              </a:tblGrid>
              <a:tr h="0">
                <a:tc>
                  <a:txBody>
                    <a:bodyPr/>
                    <a:lstStyle/>
                    <a:p>
                      <a:pPr algn="l">
                        <a:buNone/>
                      </a:pPr>
                      <a:r>
                        <a:rPr lang="zh-CN" altLang="en-US" sz="1600" dirty="0"/>
                        <a:t>特性</a:t>
                      </a:r>
                    </a:p>
                  </a:txBody>
                  <a:tcPr anchor="ctr">
                    <a:lnL>
                      <a:noFill/>
                    </a:lnL>
                    <a:lnR>
                      <a:noFill/>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zh-CN" altLang="en-US" sz="1600" dirty="0"/>
                        <a:t>等价类划分法</a:t>
                      </a:r>
                    </a:p>
                  </a:txBody>
                  <a:tcPr anchor="ctr">
                    <a:lnL>
                      <a:noFill/>
                    </a:lnL>
                    <a:lnR>
                      <a:noFill/>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zh-CN" altLang="en-US" sz="1600" dirty="0"/>
                        <a:t>边界值分析法</a:t>
                      </a:r>
                    </a:p>
                  </a:txBody>
                  <a:tcPr anchor="ctr">
                    <a:lnL>
                      <a:noFill/>
                    </a:lnL>
                    <a:lnR>
                      <a:noFill/>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12494854"/>
                  </a:ext>
                </a:extLst>
              </a:tr>
              <a:tr h="0">
                <a:tc>
                  <a:txBody>
                    <a:bodyPr/>
                    <a:lstStyle/>
                    <a:p>
                      <a:pPr algn="l">
                        <a:buNone/>
                      </a:pPr>
                      <a:r>
                        <a:rPr lang="zh-CN" altLang="en-US" sz="1600"/>
                        <a:t>核心思想</a:t>
                      </a:r>
                    </a:p>
                  </a:txBody>
                  <a:tcPr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l">
                        <a:buNone/>
                      </a:pPr>
                      <a:r>
                        <a:rPr lang="zh-CN" altLang="en-US" sz="1600" dirty="0"/>
                        <a:t>分区：把数据分成几堆，每堆测一个</a:t>
                      </a:r>
                    </a:p>
                  </a:txBody>
                  <a:tcPr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l">
                        <a:buNone/>
                      </a:pPr>
                      <a:r>
                        <a:rPr lang="zh-CN" altLang="en-US" sz="1600" dirty="0"/>
                        <a:t>钻牛角尖：专门盯着分界线测。</a:t>
                      </a:r>
                    </a:p>
                  </a:txBody>
                  <a:tcPr anchor="ctr">
                    <a:lnL>
                      <a:noFill/>
                    </a:lnL>
                    <a:lnR>
                      <a:noFill/>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99774212"/>
                  </a:ext>
                </a:extLst>
              </a:tr>
              <a:tr h="0">
                <a:tc>
                  <a:txBody>
                    <a:bodyPr/>
                    <a:lstStyle/>
                    <a:p>
                      <a:pPr algn="l">
                        <a:buNone/>
                      </a:pPr>
                      <a:r>
                        <a:rPr lang="zh-CN" altLang="en-US" sz="1600"/>
                        <a:t>数据选择</a:t>
                      </a:r>
                    </a:p>
                  </a:txBody>
                  <a:tcPr anchor="ctr">
                    <a:lnL>
                      <a:noFill/>
                    </a:lnL>
                    <a:lnR>
                      <a:noFill/>
                    </a:lnR>
                    <a:lnT>
                      <a:noFill/>
                    </a:lnT>
                    <a:lnB>
                      <a:noFill/>
                    </a:lnB>
                    <a:noFill/>
                  </a:tcPr>
                </a:tc>
                <a:tc>
                  <a:txBody>
                    <a:bodyPr/>
                    <a:lstStyle/>
                    <a:p>
                      <a:pPr algn="l">
                        <a:buNone/>
                      </a:pPr>
                      <a:r>
                        <a:rPr lang="zh-CN" altLang="en-US" sz="1600" dirty="0"/>
                        <a:t>选中间值（如 </a:t>
                      </a:r>
                      <a:r>
                        <a:rPr lang="en-US" altLang="zh-CN" sz="1600" dirty="0"/>
                        <a:t>50</a:t>
                      </a:r>
                      <a:r>
                        <a:rPr lang="zh-CN" altLang="en-US" sz="1600" dirty="0"/>
                        <a:t>）</a:t>
                      </a:r>
                    </a:p>
                  </a:txBody>
                  <a:tcPr anchor="ctr">
                    <a:lnL>
                      <a:noFill/>
                    </a:lnL>
                    <a:lnR>
                      <a:noFill/>
                    </a:lnR>
                    <a:lnT>
                      <a:noFill/>
                    </a:lnT>
                    <a:lnB>
                      <a:noFill/>
                    </a:lnB>
                    <a:noFill/>
                  </a:tcPr>
                </a:tc>
                <a:tc>
                  <a:txBody>
                    <a:bodyPr/>
                    <a:lstStyle/>
                    <a:p>
                      <a:pPr algn="l">
                        <a:buNone/>
                      </a:pPr>
                      <a:r>
                        <a:rPr lang="zh-CN" altLang="en-US" sz="1600" dirty="0"/>
                        <a:t>选边界值（如 </a:t>
                      </a:r>
                      <a:r>
                        <a:rPr lang="en-US" altLang="zh-CN" sz="1600" dirty="0"/>
                        <a:t>0, 1, 2, 98, 99, 100</a:t>
                      </a:r>
                      <a:r>
                        <a:rPr lang="zh-CN" altLang="en-US" sz="1600" dirty="0"/>
                        <a:t>）</a:t>
                      </a:r>
                    </a:p>
                  </a:txBody>
                  <a:tcPr anchor="ctr">
                    <a:lnL>
                      <a:noFill/>
                    </a:lnL>
                    <a:lnR>
                      <a:noFill/>
                    </a:lnR>
                    <a:lnT>
                      <a:noFill/>
                    </a:lnT>
                    <a:lnB>
                      <a:noFill/>
                    </a:lnB>
                    <a:noFill/>
                  </a:tcPr>
                </a:tc>
                <a:extLst>
                  <a:ext uri="{0D108BD9-81ED-4DB2-BD59-A6C34878D82A}">
                    <a16:rowId xmlns:a16="http://schemas.microsoft.com/office/drawing/2014/main" val="2010499517"/>
                  </a:ext>
                </a:extLst>
              </a:tr>
              <a:tr h="0">
                <a:tc>
                  <a:txBody>
                    <a:bodyPr/>
                    <a:lstStyle/>
                    <a:p>
                      <a:pPr algn="l">
                        <a:buNone/>
                      </a:pPr>
                      <a:r>
                        <a:rPr lang="zh-CN" altLang="en-US" sz="1600"/>
                        <a:t>发现错误</a:t>
                      </a:r>
                    </a:p>
                  </a:txBody>
                  <a:tcPr anchor="ctr">
                    <a:lnL>
                      <a:noFill/>
                    </a:lnL>
                    <a:lnR>
                      <a:noFill/>
                    </a:lnR>
                    <a:lnT>
                      <a:noFill/>
                    </a:lnT>
                    <a:lnB>
                      <a:noFill/>
                    </a:lnB>
                    <a:noFill/>
                  </a:tcPr>
                </a:tc>
                <a:tc>
                  <a:txBody>
                    <a:bodyPr/>
                    <a:lstStyle/>
                    <a:p>
                      <a:pPr algn="l">
                        <a:buNone/>
                      </a:pPr>
                      <a:r>
                        <a:rPr lang="zh-CN" altLang="en-US" sz="1600" dirty="0"/>
                        <a:t>发现功能缺失或逻辑大错误</a:t>
                      </a:r>
                    </a:p>
                  </a:txBody>
                  <a:tcPr anchor="ctr">
                    <a:lnL>
                      <a:noFill/>
                    </a:lnL>
                    <a:lnR>
                      <a:noFill/>
                    </a:lnR>
                    <a:lnT>
                      <a:noFill/>
                    </a:lnT>
                    <a:lnB>
                      <a:noFill/>
                    </a:lnB>
                    <a:noFill/>
                  </a:tcPr>
                </a:tc>
                <a:tc>
                  <a:txBody>
                    <a:bodyPr/>
                    <a:lstStyle/>
                    <a:p>
                      <a:pPr algn="l">
                        <a:buNone/>
                      </a:pPr>
                      <a:r>
                        <a:rPr lang="zh-CN" altLang="en-US" sz="1600" dirty="0"/>
                        <a:t>发现循环错误、判断条件错误（如 </a:t>
                      </a:r>
                      <a:r>
                        <a:rPr lang="en-US" altLang="zh-CN" sz="1600" dirty="0">
                          <a:latin typeface="Courier New" panose="02070309020205020404" pitchFamily="49" charset="0"/>
                        </a:rPr>
                        <a:t>&lt;</a:t>
                      </a:r>
                      <a:r>
                        <a:rPr lang="zh-CN" altLang="en-US" sz="1600" dirty="0"/>
                        <a:t> 与 </a:t>
                      </a:r>
                      <a:r>
                        <a:rPr lang="en-US" altLang="zh-CN" sz="1600" dirty="0">
                          <a:latin typeface="Courier New" panose="02070309020205020404" pitchFamily="49" charset="0"/>
                        </a:rPr>
                        <a:t>&lt;=</a:t>
                      </a:r>
                      <a:r>
                        <a:rPr lang="zh-CN" altLang="en-US" sz="1600" dirty="0"/>
                        <a:t>）</a:t>
                      </a:r>
                    </a:p>
                  </a:txBody>
                  <a:tcPr anchor="ctr">
                    <a:lnL>
                      <a:noFill/>
                    </a:lnL>
                    <a:lnR>
                      <a:noFill/>
                    </a:lnR>
                    <a:lnT>
                      <a:noFill/>
                    </a:lnT>
                    <a:lnB>
                      <a:noFill/>
                    </a:lnB>
                    <a:noFill/>
                  </a:tcPr>
                </a:tc>
                <a:extLst>
                  <a:ext uri="{0D108BD9-81ED-4DB2-BD59-A6C34878D82A}">
                    <a16:rowId xmlns:a16="http://schemas.microsoft.com/office/drawing/2014/main" val="928458658"/>
                  </a:ext>
                </a:extLst>
              </a:tr>
              <a:tr h="0">
                <a:tc>
                  <a:txBody>
                    <a:bodyPr/>
                    <a:lstStyle/>
                    <a:p>
                      <a:pPr algn="l">
                        <a:buNone/>
                      </a:pPr>
                      <a:r>
                        <a:rPr lang="zh-CN" altLang="en-US" sz="1600"/>
                        <a:t>关系</a:t>
                      </a:r>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dirty="0"/>
                        <a:t>是基础</a:t>
                      </a:r>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dirty="0"/>
                        <a:t>是补充；在等价类的基础上，对边界进行测试</a:t>
                      </a:r>
                    </a:p>
                  </a:txBody>
                  <a:tcPr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7316079"/>
                  </a:ext>
                </a:extLst>
              </a:tr>
            </a:tbl>
          </a:graphicData>
        </a:graphic>
      </p:graphicFrame>
      <p:sp>
        <p:nvSpPr>
          <p:cNvPr id="2" name="文本框 1">
            <a:extLst>
              <a:ext uri="{FF2B5EF4-FFF2-40B4-BE49-F238E27FC236}">
                <a16:creationId xmlns:a16="http://schemas.microsoft.com/office/drawing/2014/main" id="{06AC1952-135A-1B0F-02B8-6695EA65FB6F}"/>
              </a:ext>
            </a:extLst>
          </p:cNvPr>
          <p:cNvSpPr txBox="1"/>
          <p:nvPr/>
        </p:nvSpPr>
        <p:spPr>
          <a:xfrm>
            <a:off x="1416000" y="2064015"/>
            <a:ext cx="9360000" cy="1727461"/>
          </a:xfrm>
          <a:prstGeom prst="rect">
            <a:avLst/>
          </a:prstGeom>
          <a:noFill/>
        </p:spPr>
        <p:txBody>
          <a:bodyPr wrap="square" rtlCol="0">
            <a:spAutoFit/>
          </a:bodyPr>
          <a:lstStyle/>
          <a:p>
            <a:pPr algn="just">
              <a:lnSpc>
                <a:spcPct val="120000"/>
              </a:lnSpc>
            </a:pPr>
            <a:r>
              <a:rPr lang="zh-CN" altLang="en-US" dirty="0">
                <a:sym typeface="+mn-ea"/>
              </a:rPr>
              <a:t>实践表明，处理边界情况时程序最易发生错误。边界是指输入与输出等价类直接在边界值上及稍大于边界值和稍小于边界值的数据。</a:t>
            </a:r>
          </a:p>
          <a:p>
            <a:pPr algn="just">
              <a:lnSpc>
                <a:spcPct val="120000"/>
              </a:lnSpc>
            </a:pPr>
            <a:r>
              <a:rPr lang="zh-CN" altLang="en-US" dirty="0">
                <a:sym typeface="+mn-ea"/>
              </a:rPr>
              <a:t>边界值分析法与等价类划分法的区别为：</a:t>
            </a:r>
          </a:p>
          <a:p>
            <a:pPr marL="285750" indent="-285750" algn="just" fontAlgn="auto">
              <a:lnSpc>
                <a:spcPct val="120000"/>
              </a:lnSpc>
              <a:buFont typeface="Arial" panose="020B0604020202020204" pitchFamily="34" charset="0"/>
              <a:buChar char="•"/>
            </a:pPr>
            <a:r>
              <a:rPr lang="zh-CN" altLang="en-US" dirty="0">
                <a:sym typeface="+mn-ea"/>
              </a:rPr>
              <a:t>边界值分析法要把等价类的每个边界都作为测试数据，</a:t>
            </a:r>
          </a:p>
          <a:p>
            <a:pPr marL="285750" indent="-285750" algn="just" fontAlgn="auto">
              <a:lnSpc>
                <a:spcPct val="120000"/>
              </a:lnSpc>
              <a:buFont typeface="Arial" panose="020B0604020202020204" pitchFamily="34" charset="0"/>
              <a:buChar char="•"/>
            </a:pPr>
            <a:r>
              <a:rPr lang="zh-CN" altLang="en-US" dirty="0">
                <a:sym typeface="+mn-ea"/>
              </a:rPr>
              <a:t>而等价类划分法只要在每一个等价类中任选一个作为代表进行测试。</a:t>
            </a:r>
          </a:p>
        </p:txBody>
      </p:sp>
    </p:spTree>
  </p:cSld>
  <p:clrMapOvr>
    <a:masterClrMapping/>
  </p:clrMapOvr>
  <p:transition>
    <p:pull dir="rd"/>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11520000" cy="535531"/>
          </a:xfrm>
        </p:spPr>
        <p:txBody>
          <a:bodyPr/>
          <a:lstStyle/>
          <a:p>
            <a:r>
              <a:rPr lang="en-US" dirty="0"/>
              <a:t>4.5 </a:t>
            </a:r>
            <a:r>
              <a:rPr lang="zh-CN" altLang="en-US" dirty="0"/>
              <a:t>设计软件测试方案</a:t>
            </a:r>
          </a:p>
        </p:txBody>
      </p:sp>
      <p:sp>
        <p:nvSpPr>
          <p:cNvPr id="13" name="文本占位符 12">
            <a:extLst>
              <a:ext uri="{FF2B5EF4-FFF2-40B4-BE49-F238E27FC236}">
                <a16:creationId xmlns:a16="http://schemas.microsoft.com/office/drawing/2014/main" id="{C8056963-D205-5685-2ABF-7DE8FDA41289}"/>
              </a:ext>
            </a:extLst>
          </p:cNvPr>
          <p:cNvSpPr>
            <a:spLocks noGrp="1"/>
          </p:cNvSpPr>
          <p:nvPr>
            <p:ph type="body" sz="quarter" idx="10"/>
          </p:nvPr>
        </p:nvSpPr>
        <p:spPr>
          <a:xfrm>
            <a:off x="696000" y="1322832"/>
            <a:ext cx="11160000" cy="400110"/>
          </a:xfrm>
        </p:spPr>
        <p:txBody>
          <a:bodyPr/>
          <a:lstStyle/>
          <a:p>
            <a:r>
              <a:rPr lang="en-US" altLang="zh-CN" dirty="0"/>
              <a:t>4.5.2 </a:t>
            </a:r>
            <a:r>
              <a:rPr lang="zh-CN" altLang="en-US" dirty="0"/>
              <a:t>边界值分析法 </a:t>
            </a:r>
            <a:r>
              <a:rPr lang="en-US" altLang="zh-CN" dirty="0">
                <a:sym typeface="+mn-ea"/>
              </a:rPr>
              <a:t>Boundary Value Analysis</a:t>
            </a:r>
            <a:endParaRPr lang="zh-CN" altLang="zh-CN" dirty="0"/>
          </a:p>
        </p:txBody>
      </p:sp>
      <p:sp>
        <p:nvSpPr>
          <p:cNvPr id="21" name="文本占位符 20">
            <a:extLst>
              <a:ext uri="{FF2B5EF4-FFF2-40B4-BE49-F238E27FC236}">
                <a16:creationId xmlns:a16="http://schemas.microsoft.com/office/drawing/2014/main" id="{45A372A4-CFF4-1F38-DAAE-25445BD3BA32}"/>
              </a:ext>
            </a:extLst>
          </p:cNvPr>
          <p:cNvSpPr>
            <a:spLocks noGrp="1"/>
          </p:cNvSpPr>
          <p:nvPr>
            <p:ph type="body" sz="quarter" idx="11"/>
          </p:nvPr>
        </p:nvSpPr>
        <p:spPr/>
        <p:txBody>
          <a:bodyPr/>
          <a:lstStyle/>
          <a:p>
            <a:r>
              <a:rPr lang="en-US" altLang="zh-CN" dirty="0"/>
              <a:t>Schema</a:t>
            </a:r>
            <a:endParaRPr lang="zh-CN" altLang="en-US" dirty="0"/>
          </a:p>
        </p:txBody>
      </p:sp>
      <p:sp>
        <p:nvSpPr>
          <p:cNvPr id="22" name="矩形 7"/>
          <p:cNvSpPr>
            <a:spLocks noChangeArrowheads="1"/>
          </p:cNvSpPr>
          <p:nvPr/>
        </p:nvSpPr>
        <p:spPr bwMode="auto">
          <a:xfrm>
            <a:off x="702497" y="2186304"/>
            <a:ext cx="109390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dirty="0">
                <a:latin typeface="+mj-ea"/>
                <a:ea typeface="+mj-ea"/>
              </a:rPr>
              <a:t>等价类划分法的步骤：联合使用等价类划分和边界值分析这两种技术。</a:t>
            </a:r>
          </a:p>
        </p:txBody>
      </p:sp>
      <p:grpSp>
        <p:nvGrpSpPr>
          <p:cNvPr id="11" name="组合 10"/>
          <p:cNvGrpSpPr/>
          <p:nvPr/>
        </p:nvGrpSpPr>
        <p:grpSpPr>
          <a:xfrm>
            <a:off x="4545013" y="2805671"/>
            <a:ext cx="3101975" cy="2908935"/>
            <a:chOff x="6718" y="4218"/>
            <a:chExt cx="4517" cy="4053"/>
          </a:xfrm>
        </p:grpSpPr>
        <p:sp>
          <p:nvSpPr>
            <p:cNvPr id="19" name="椭圆 18"/>
            <p:cNvSpPr/>
            <p:nvPr>
              <p:custDataLst>
                <p:tags r:id="rId1"/>
              </p:custDataLst>
            </p:nvPr>
          </p:nvSpPr>
          <p:spPr>
            <a:xfrm>
              <a:off x="6718" y="5889"/>
              <a:ext cx="2624" cy="2382"/>
            </a:xfrm>
            <a:prstGeom prst="ellipse">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anchor="ctr">
              <a:normAutofit/>
            </a:bodyPr>
            <a:lstStyle/>
            <a:p>
              <a:pPr algn="ctr" eaLnBrk="1" hangingPunct="1">
                <a:spcBef>
                  <a:spcPts val="0"/>
                </a:spcBef>
                <a:spcAft>
                  <a:spcPts val="0"/>
                </a:spcAft>
                <a:defRPr/>
              </a:pPr>
              <a:endParaRPr lang="zh-CN" altLang="en-US" dirty="0">
                <a:solidFill>
                  <a:schemeClr val="bg1"/>
                </a:solidFill>
                <a:latin typeface="Times New Roman" panose="02020603050405020304" pitchFamily="18" charset="0"/>
              </a:endParaRPr>
            </a:p>
          </p:txBody>
        </p:sp>
        <p:sp>
          <p:nvSpPr>
            <p:cNvPr id="6" name="文本框 22"/>
            <p:cNvSpPr txBox="1">
              <a:spLocks noChangeArrowheads="1"/>
            </p:cNvSpPr>
            <p:nvPr>
              <p:custDataLst>
                <p:tags r:id="rId2"/>
              </p:custDataLst>
            </p:nvPr>
          </p:nvSpPr>
          <p:spPr bwMode="auto">
            <a:xfrm>
              <a:off x="7293" y="6686"/>
              <a:ext cx="878" cy="1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en-US" altLang="zh-CN" sz="6600" b="1" dirty="0">
                  <a:solidFill>
                    <a:schemeClr val="bg1"/>
                  </a:solidFill>
                  <a:latin typeface="Times New Roman" panose="02020603050405020304" pitchFamily="18" charset="0"/>
                  <a:ea typeface="+mn-ea"/>
                </a:rPr>
                <a:t>4</a:t>
              </a:r>
              <a:endParaRPr lang="zh-CN" altLang="en-US" sz="6600" b="1" dirty="0">
                <a:solidFill>
                  <a:schemeClr val="bg1"/>
                </a:solidFill>
                <a:latin typeface="Times New Roman" panose="02020603050405020304" pitchFamily="18" charset="0"/>
                <a:ea typeface="+mn-ea"/>
              </a:endParaRPr>
            </a:p>
          </p:txBody>
        </p:sp>
        <p:sp>
          <p:nvSpPr>
            <p:cNvPr id="39" name="椭圆 38"/>
            <p:cNvSpPr/>
            <p:nvPr>
              <p:custDataLst>
                <p:tags r:id="rId3"/>
              </p:custDataLst>
            </p:nvPr>
          </p:nvSpPr>
          <p:spPr>
            <a:xfrm>
              <a:off x="6718" y="4218"/>
              <a:ext cx="2624" cy="238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dirty="0">
                <a:solidFill>
                  <a:schemeClr val="bg1"/>
                </a:solidFill>
                <a:latin typeface="Times New Roman" panose="02020603050405020304" pitchFamily="18" charset="0"/>
              </a:endParaRPr>
            </a:p>
          </p:txBody>
        </p:sp>
        <p:sp>
          <p:nvSpPr>
            <p:cNvPr id="40" name="椭圆 39"/>
            <p:cNvSpPr/>
            <p:nvPr>
              <p:custDataLst>
                <p:tags r:id="rId4"/>
              </p:custDataLst>
            </p:nvPr>
          </p:nvSpPr>
          <p:spPr>
            <a:xfrm>
              <a:off x="8611" y="4218"/>
              <a:ext cx="2624" cy="2382"/>
            </a:xfrm>
            <a:prstGeom prst="ellipse">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anchor="ctr">
              <a:normAutofit/>
            </a:bodyPr>
            <a:lstStyle/>
            <a:p>
              <a:pPr algn="ctr" eaLnBrk="1" hangingPunct="1">
                <a:spcBef>
                  <a:spcPts val="0"/>
                </a:spcBef>
                <a:spcAft>
                  <a:spcPts val="0"/>
                </a:spcAft>
                <a:defRPr/>
              </a:pPr>
              <a:endParaRPr lang="zh-CN" altLang="en-US" dirty="0">
                <a:solidFill>
                  <a:schemeClr val="bg1"/>
                </a:solidFill>
                <a:latin typeface="Times New Roman" panose="02020603050405020304" pitchFamily="18" charset="0"/>
              </a:endParaRPr>
            </a:p>
          </p:txBody>
        </p:sp>
        <p:sp>
          <p:nvSpPr>
            <p:cNvPr id="42" name="椭圆 41"/>
            <p:cNvSpPr/>
            <p:nvPr>
              <p:custDataLst>
                <p:tags r:id="rId5"/>
              </p:custDataLst>
            </p:nvPr>
          </p:nvSpPr>
          <p:spPr>
            <a:xfrm>
              <a:off x="8611" y="5889"/>
              <a:ext cx="2624" cy="2382"/>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anchor="ctr">
              <a:normAutofit/>
            </a:bodyPr>
            <a:lstStyle/>
            <a:p>
              <a:pPr algn="ctr" eaLnBrk="1" hangingPunct="1">
                <a:spcBef>
                  <a:spcPts val="0"/>
                </a:spcBef>
                <a:spcAft>
                  <a:spcPts val="0"/>
                </a:spcAft>
                <a:defRPr/>
              </a:pPr>
              <a:endParaRPr lang="zh-CN" altLang="en-US" dirty="0">
                <a:solidFill>
                  <a:schemeClr val="bg1"/>
                </a:solidFill>
                <a:latin typeface="Times New Roman" panose="02020603050405020304" pitchFamily="18" charset="0"/>
              </a:endParaRPr>
            </a:p>
          </p:txBody>
        </p:sp>
        <p:grpSp>
          <p:nvGrpSpPr>
            <p:cNvPr id="8" name="组合 7"/>
            <p:cNvGrpSpPr/>
            <p:nvPr>
              <p:custDataLst>
                <p:tags r:id="rId6"/>
              </p:custDataLst>
            </p:nvPr>
          </p:nvGrpSpPr>
          <p:grpSpPr>
            <a:xfrm>
              <a:off x="7093" y="4579"/>
              <a:ext cx="3761" cy="3313"/>
              <a:chOff x="4933659" y="1528513"/>
              <a:chExt cx="3096541" cy="3006076"/>
            </a:xfrm>
            <a:solidFill>
              <a:schemeClr val="bg1"/>
            </a:solidFill>
          </p:grpSpPr>
          <p:sp>
            <p:nvSpPr>
              <p:cNvPr id="44" name="Freeform 16@|5FFC:0|FBC:0|LFC:16777215|LBC:16777215"/>
              <p:cNvSpPr/>
              <p:nvPr>
                <p:custDataLst>
                  <p:tags r:id="rId10"/>
                </p:custDataLst>
              </p:nvPr>
            </p:nvSpPr>
            <p:spPr>
              <a:xfrm>
                <a:off x="6181299" y="1528513"/>
                <a:ext cx="601263" cy="1489462"/>
              </a:xfrm>
              <a:custGeom>
                <a:avLst/>
                <a:gdLst>
                  <a:gd name="connsiteX0" fmla="*/ 300632 w 601263"/>
                  <a:gd name="connsiteY0" fmla="*/ 0 h 1489462"/>
                  <a:gd name="connsiteX1" fmla="*/ 416779 w 601263"/>
                  <a:gd name="connsiteY1" fmla="*/ 140772 h 1489462"/>
                  <a:gd name="connsiteX2" fmla="*/ 601263 w 601263"/>
                  <a:gd name="connsiteY2" fmla="*/ 744731 h 1489462"/>
                  <a:gd name="connsiteX3" fmla="*/ 416779 w 601263"/>
                  <a:gd name="connsiteY3" fmla="*/ 1348690 h 1489462"/>
                  <a:gd name="connsiteX4" fmla="*/ 300632 w 601263"/>
                  <a:gd name="connsiteY4" fmla="*/ 1489462 h 1489462"/>
                  <a:gd name="connsiteX5" fmla="*/ 184484 w 601263"/>
                  <a:gd name="connsiteY5" fmla="*/ 1348690 h 1489462"/>
                  <a:gd name="connsiteX6" fmla="*/ 0 w 601263"/>
                  <a:gd name="connsiteY6" fmla="*/ 744731 h 1489462"/>
                  <a:gd name="connsiteX7" fmla="*/ 184484 w 601263"/>
                  <a:gd name="connsiteY7" fmla="*/ 140772 h 1489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263" h="1489462">
                    <a:moveTo>
                      <a:pt x="300632" y="0"/>
                    </a:moveTo>
                    <a:lnTo>
                      <a:pt x="416779" y="140772"/>
                    </a:lnTo>
                    <a:cubicBezTo>
                      <a:pt x="533253" y="313176"/>
                      <a:pt x="601263" y="521011"/>
                      <a:pt x="601263" y="744731"/>
                    </a:cubicBezTo>
                    <a:cubicBezTo>
                      <a:pt x="601263" y="968451"/>
                      <a:pt x="533253" y="1176287"/>
                      <a:pt x="416779" y="1348690"/>
                    </a:cubicBezTo>
                    <a:lnTo>
                      <a:pt x="300632" y="1489462"/>
                    </a:lnTo>
                    <a:lnTo>
                      <a:pt x="184484" y="1348690"/>
                    </a:lnTo>
                    <a:cubicBezTo>
                      <a:pt x="68011" y="1176287"/>
                      <a:pt x="0" y="968451"/>
                      <a:pt x="0" y="744731"/>
                    </a:cubicBezTo>
                    <a:cubicBezTo>
                      <a:pt x="0" y="521011"/>
                      <a:pt x="68011" y="313176"/>
                      <a:pt x="184484" y="1407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dirty="0">
                  <a:solidFill>
                    <a:schemeClr val="bg1"/>
                  </a:solidFill>
                  <a:latin typeface="Times New Roman" panose="02020603050405020304" pitchFamily="18" charset="0"/>
                </a:endParaRPr>
              </a:p>
            </p:txBody>
          </p:sp>
          <p:sp>
            <p:nvSpPr>
              <p:cNvPr id="9" name="Freeform 17@|5FFC:0|FBC:0|LFC:16777215|LBC:16777215"/>
              <p:cNvSpPr/>
              <p:nvPr>
                <p:custDataLst>
                  <p:tags r:id="rId11"/>
                </p:custDataLst>
              </p:nvPr>
            </p:nvSpPr>
            <p:spPr>
              <a:xfrm>
                <a:off x="6181299" y="3045126"/>
                <a:ext cx="601263" cy="1489463"/>
              </a:xfrm>
              <a:custGeom>
                <a:avLst/>
                <a:gdLst>
                  <a:gd name="connsiteX0" fmla="*/ 300923 w 601263"/>
                  <a:gd name="connsiteY0" fmla="*/ 0 h 1489463"/>
                  <a:gd name="connsiteX1" fmla="*/ 416779 w 601263"/>
                  <a:gd name="connsiteY1" fmla="*/ 140419 h 1489463"/>
                  <a:gd name="connsiteX2" fmla="*/ 601263 w 601263"/>
                  <a:gd name="connsiteY2" fmla="*/ 744378 h 1489463"/>
                  <a:gd name="connsiteX3" fmla="*/ 416779 w 601263"/>
                  <a:gd name="connsiteY3" fmla="*/ 1348337 h 1489463"/>
                  <a:gd name="connsiteX4" fmla="*/ 300340 w 601263"/>
                  <a:gd name="connsiteY4" fmla="*/ 1489463 h 1489463"/>
                  <a:gd name="connsiteX5" fmla="*/ 184484 w 601263"/>
                  <a:gd name="connsiteY5" fmla="*/ 1349044 h 1489463"/>
                  <a:gd name="connsiteX6" fmla="*/ 0 w 601263"/>
                  <a:gd name="connsiteY6" fmla="*/ 745085 h 1489463"/>
                  <a:gd name="connsiteX7" fmla="*/ 184484 w 601263"/>
                  <a:gd name="connsiteY7" fmla="*/ 141126 h 1489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263" h="1489463">
                    <a:moveTo>
                      <a:pt x="300923" y="0"/>
                    </a:moveTo>
                    <a:lnTo>
                      <a:pt x="416779" y="140419"/>
                    </a:lnTo>
                    <a:cubicBezTo>
                      <a:pt x="533253" y="312823"/>
                      <a:pt x="601263" y="520658"/>
                      <a:pt x="601263" y="744378"/>
                    </a:cubicBezTo>
                    <a:cubicBezTo>
                      <a:pt x="601263" y="968098"/>
                      <a:pt x="533253" y="1175934"/>
                      <a:pt x="416779" y="1348337"/>
                    </a:cubicBezTo>
                    <a:lnTo>
                      <a:pt x="300340" y="1489463"/>
                    </a:lnTo>
                    <a:lnTo>
                      <a:pt x="184484" y="1349044"/>
                    </a:lnTo>
                    <a:cubicBezTo>
                      <a:pt x="68011" y="1176641"/>
                      <a:pt x="0" y="968805"/>
                      <a:pt x="0" y="745085"/>
                    </a:cubicBezTo>
                    <a:cubicBezTo>
                      <a:pt x="0" y="521365"/>
                      <a:pt x="68011" y="313530"/>
                      <a:pt x="184484" y="14112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dirty="0">
                  <a:solidFill>
                    <a:schemeClr val="bg1"/>
                  </a:solidFill>
                  <a:latin typeface="Times New Roman" panose="02020603050405020304" pitchFamily="18" charset="0"/>
                </a:endParaRPr>
              </a:p>
            </p:txBody>
          </p:sp>
          <p:sp>
            <p:nvSpPr>
              <p:cNvPr id="46" name="Freeform 18@|5FFC:0|FBC:0|LFC:16777215|LBC:16777215"/>
              <p:cNvSpPr/>
              <p:nvPr>
                <p:custDataLst>
                  <p:tags r:id="rId12"/>
                </p:custDataLst>
              </p:nvPr>
            </p:nvSpPr>
            <p:spPr>
              <a:xfrm>
                <a:off x="4933659" y="2709994"/>
                <a:ext cx="1537372" cy="643466"/>
              </a:xfrm>
              <a:custGeom>
                <a:avLst/>
                <a:gdLst>
                  <a:gd name="connsiteX0" fmla="*/ 768686 w 1537372"/>
                  <a:gd name="connsiteY0" fmla="*/ 0 h 643466"/>
                  <a:gd name="connsiteX1" fmla="*/ 1532514 w 1537372"/>
                  <a:gd name="connsiteY1" fmla="*/ 316388 h 643466"/>
                  <a:gd name="connsiteX2" fmla="*/ 1537372 w 1537372"/>
                  <a:gd name="connsiteY2" fmla="*/ 321733 h 643466"/>
                  <a:gd name="connsiteX3" fmla="*/ 1532514 w 1537372"/>
                  <a:gd name="connsiteY3" fmla="*/ 327078 h 643466"/>
                  <a:gd name="connsiteX4" fmla="*/ 768686 w 1537372"/>
                  <a:gd name="connsiteY4" fmla="*/ 643466 h 643466"/>
                  <a:gd name="connsiteX5" fmla="*/ 4858 w 1537372"/>
                  <a:gd name="connsiteY5" fmla="*/ 327078 h 643466"/>
                  <a:gd name="connsiteX6" fmla="*/ 0 w 1537372"/>
                  <a:gd name="connsiteY6" fmla="*/ 321733 h 643466"/>
                  <a:gd name="connsiteX7" fmla="*/ 4858 w 1537372"/>
                  <a:gd name="connsiteY7" fmla="*/ 316388 h 643466"/>
                  <a:gd name="connsiteX8" fmla="*/ 768686 w 1537372"/>
                  <a:gd name="connsiteY8" fmla="*/ 0 h 643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7372" h="643466">
                    <a:moveTo>
                      <a:pt x="768686" y="0"/>
                    </a:moveTo>
                    <a:cubicBezTo>
                      <a:pt x="1066980" y="0"/>
                      <a:pt x="1337034" y="120907"/>
                      <a:pt x="1532514" y="316388"/>
                    </a:cubicBezTo>
                    <a:lnTo>
                      <a:pt x="1537372" y="321733"/>
                    </a:lnTo>
                    <a:lnTo>
                      <a:pt x="1532514" y="327078"/>
                    </a:lnTo>
                    <a:cubicBezTo>
                      <a:pt x="1337034" y="522559"/>
                      <a:pt x="1066980" y="643466"/>
                      <a:pt x="768686" y="643466"/>
                    </a:cubicBezTo>
                    <a:cubicBezTo>
                      <a:pt x="470393" y="643466"/>
                      <a:pt x="200339" y="522559"/>
                      <a:pt x="4858" y="327078"/>
                    </a:cubicBezTo>
                    <a:lnTo>
                      <a:pt x="0" y="321733"/>
                    </a:lnTo>
                    <a:lnTo>
                      <a:pt x="4858" y="316388"/>
                    </a:lnTo>
                    <a:cubicBezTo>
                      <a:pt x="200339" y="120907"/>
                      <a:pt x="470393" y="0"/>
                      <a:pt x="768686"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dirty="0">
                  <a:solidFill>
                    <a:schemeClr val="bg1"/>
                  </a:solidFill>
                  <a:latin typeface="Times New Roman" panose="02020603050405020304" pitchFamily="18" charset="0"/>
                </a:endParaRPr>
              </a:p>
            </p:txBody>
          </p:sp>
          <p:sp>
            <p:nvSpPr>
              <p:cNvPr id="47" name="Freeform 19@|5FFC:0|FBC:0|LFC:16777215|LBC:16777215"/>
              <p:cNvSpPr/>
              <p:nvPr>
                <p:custDataLst>
                  <p:tags r:id="rId13"/>
                </p:custDataLst>
              </p:nvPr>
            </p:nvSpPr>
            <p:spPr>
              <a:xfrm>
                <a:off x="6492828" y="2708580"/>
                <a:ext cx="1537372" cy="643466"/>
              </a:xfrm>
              <a:custGeom>
                <a:avLst/>
                <a:gdLst>
                  <a:gd name="connsiteX0" fmla="*/ 768686 w 1537372"/>
                  <a:gd name="connsiteY0" fmla="*/ 0 h 643466"/>
                  <a:gd name="connsiteX1" fmla="*/ 1532514 w 1537372"/>
                  <a:gd name="connsiteY1" fmla="*/ 316388 h 643466"/>
                  <a:gd name="connsiteX2" fmla="*/ 1537372 w 1537372"/>
                  <a:gd name="connsiteY2" fmla="*/ 321733 h 643466"/>
                  <a:gd name="connsiteX3" fmla="*/ 1532514 w 1537372"/>
                  <a:gd name="connsiteY3" fmla="*/ 327078 h 643466"/>
                  <a:gd name="connsiteX4" fmla="*/ 768686 w 1537372"/>
                  <a:gd name="connsiteY4" fmla="*/ 643466 h 643466"/>
                  <a:gd name="connsiteX5" fmla="*/ 4858 w 1537372"/>
                  <a:gd name="connsiteY5" fmla="*/ 327078 h 643466"/>
                  <a:gd name="connsiteX6" fmla="*/ 0 w 1537372"/>
                  <a:gd name="connsiteY6" fmla="*/ 321733 h 643466"/>
                  <a:gd name="connsiteX7" fmla="*/ 4858 w 1537372"/>
                  <a:gd name="connsiteY7" fmla="*/ 316388 h 643466"/>
                  <a:gd name="connsiteX8" fmla="*/ 768686 w 1537372"/>
                  <a:gd name="connsiteY8" fmla="*/ 0 h 643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7372" h="643466">
                    <a:moveTo>
                      <a:pt x="768686" y="0"/>
                    </a:moveTo>
                    <a:cubicBezTo>
                      <a:pt x="1066980" y="0"/>
                      <a:pt x="1337034" y="120907"/>
                      <a:pt x="1532514" y="316388"/>
                    </a:cubicBezTo>
                    <a:lnTo>
                      <a:pt x="1537372" y="321733"/>
                    </a:lnTo>
                    <a:lnTo>
                      <a:pt x="1532514" y="327078"/>
                    </a:lnTo>
                    <a:cubicBezTo>
                      <a:pt x="1337034" y="522559"/>
                      <a:pt x="1066980" y="643466"/>
                      <a:pt x="768686" y="643466"/>
                    </a:cubicBezTo>
                    <a:cubicBezTo>
                      <a:pt x="470393" y="643466"/>
                      <a:pt x="200339" y="522559"/>
                      <a:pt x="4858" y="327078"/>
                    </a:cubicBezTo>
                    <a:lnTo>
                      <a:pt x="0" y="321733"/>
                    </a:lnTo>
                    <a:lnTo>
                      <a:pt x="4858" y="316388"/>
                    </a:lnTo>
                    <a:cubicBezTo>
                      <a:pt x="200339" y="120907"/>
                      <a:pt x="470393" y="0"/>
                      <a:pt x="768686"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dirty="0">
                  <a:solidFill>
                    <a:schemeClr val="bg1"/>
                  </a:solidFill>
                  <a:latin typeface="Times New Roman" panose="02020603050405020304" pitchFamily="18" charset="0"/>
                </a:endParaRPr>
              </a:p>
            </p:txBody>
          </p:sp>
        </p:grpSp>
        <p:sp>
          <p:nvSpPr>
            <p:cNvPr id="48" name="文本框 20"/>
            <p:cNvSpPr txBox="1">
              <a:spLocks noChangeArrowheads="1"/>
            </p:cNvSpPr>
            <p:nvPr>
              <p:custDataLst>
                <p:tags r:id="rId7"/>
              </p:custDataLst>
            </p:nvPr>
          </p:nvSpPr>
          <p:spPr bwMode="auto">
            <a:xfrm>
              <a:off x="7293" y="4615"/>
              <a:ext cx="878" cy="1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en-US" altLang="zh-CN" sz="6600" b="1" dirty="0">
                  <a:solidFill>
                    <a:schemeClr val="bg1"/>
                  </a:solidFill>
                  <a:latin typeface="Times New Roman" panose="02020603050405020304" pitchFamily="18" charset="0"/>
                  <a:ea typeface="+mn-ea"/>
                </a:rPr>
                <a:t>1</a:t>
              </a:r>
              <a:endParaRPr lang="zh-CN" altLang="en-US" sz="6600" b="1" dirty="0">
                <a:solidFill>
                  <a:schemeClr val="bg1"/>
                </a:solidFill>
                <a:latin typeface="Times New Roman" panose="02020603050405020304" pitchFamily="18" charset="0"/>
                <a:ea typeface="+mn-ea"/>
              </a:endParaRPr>
            </a:p>
          </p:txBody>
        </p:sp>
        <p:sp>
          <p:nvSpPr>
            <p:cNvPr id="49" name="文本框 21"/>
            <p:cNvSpPr txBox="1">
              <a:spLocks noChangeArrowheads="1"/>
            </p:cNvSpPr>
            <p:nvPr>
              <p:custDataLst>
                <p:tags r:id="rId8"/>
              </p:custDataLst>
            </p:nvPr>
          </p:nvSpPr>
          <p:spPr bwMode="auto">
            <a:xfrm>
              <a:off x="9499" y="4579"/>
              <a:ext cx="876" cy="1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en-US" altLang="zh-CN" sz="6600" b="1" dirty="0">
                  <a:solidFill>
                    <a:schemeClr val="bg1"/>
                  </a:solidFill>
                  <a:latin typeface="Times New Roman" panose="02020603050405020304" pitchFamily="18" charset="0"/>
                  <a:ea typeface="+mn-ea"/>
                </a:rPr>
                <a:t>2</a:t>
              </a:r>
              <a:endParaRPr lang="zh-CN" altLang="en-US" sz="6600" b="1" dirty="0">
                <a:solidFill>
                  <a:schemeClr val="bg1"/>
                </a:solidFill>
                <a:latin typeface="Times New Roman" panose="02020603050405020304" pitchFamily="18" charset="0"/>
                <a:ea typeface="+mn-ea"/>
              </a:endParaRPr>
            </a:p>
          </p:txBody>
        </p:sp>
        <p:sp>
          <p:nvSpPr>
            <p:cNvPr id="51" name="文本框 23"/>
            <p:cNvSpPr txBox="1">
              <a:spLocks noChangeArrowheads="1"/>
            </p:cNvSpPr>
            <p:nvPr>
              <p:custDataLst>
                <p:tags r:id="rId9"/>
              </p:custDataLst>
            </p:nvPr>
          </p:nvSpPr>
          <p:spPr bwMode="auto">
            <a:xfrm>
              <a:off x="9660" y="6686"/>
              <a:ext cx="876" cy="1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en-US" altLang="zh-CN" sz="6600" b="1" dirty="0">
                  <a:solidFill>
                    <a:schemeClr val="bg1"/>
                  </a:solidFill>
                  <a:latin typeface="Times New Roman" panose="02020603050405020304" pitchFamily="18" charset="0"/>
                  <a:ea typeface="+mn-ea"/>
                </a:rPr>
                <a:t>3</a:t>
              </a:r>
              <a:endParaRPr lang="zh-CN" altLang="en-US" sz="6600" b="1" dirty="0">
                <a:solidFill>
                  <a:schemeClr val="bg1"/>
                </a:solidFill>
                <a:latin typeface="Times New Roman" panose="02020603050405020304" pitchFamily="18" charset="0"/>
                <a:ea typeface="+mn-ea"/>
              </a:endParaRPr>
            </a:p>
          </p:txBody>
        </p:sp>
      </p:grpSp>
      <p:sp>
        <p:nvSpPr>
          <p:cNvPr id="10" name="文本框 9">
            <a:extLst>
              <a:ext uri="{FF2B5EF4-FFF2-40B4-BE49-F238E27FC236}">
                <a16:creationId xmlns:a16="http://schemas.microsoft.com/office/drawing/2014/main" id="{76DAC264-E707-F67E-57F3-2B9034FD46D0}"/>
              </a:ext>
            </a:extLst>
          </p:cNvPr>
          <p:cNvSpPr txBox="1"/>
          <p:nvPr/>
        </p:nvSpPr>
        <p:spPr>
          <a:xfrm>
            <a:off x="810733" y="2805671"/>
            <a:ext cx="3491018" cy="830997"/>
          </a:xfrm>
          <a:prstGeom prst="rect">
            <a:avLst/>
          </a:prstGeom>
          <a:noFill/>
        </p:spPr>
        <p:txBody>
          <a:bodyPr wrap="square" rtlCol="0">
            <a:spAutoFit/>
          </a:bodyPr>
          <a:lstStyle/>
          <a:p>
            <a:pPr algn="just"/>
            <a:r>
              <a:rPr lang="en-US" altLang="zh-CN" sz="1600" dirty="0">
                <a:sym typeface="+mn-ea"/>
              </a:rPr>
              <a:t>1. </a:t>
            </a:r>
            <a:r>
              <a:rPr lang="zh-CN" altLang="en-US" sz="1600" dirty="0">
                <a:sym typeface="+mn-ea"/>
              </a:rPr>
              <a:t>如果输入值有规定范围，则测试这个范围内，以及两个边界情况和刚刚超出范围的两个无效情况。</a:t>
            </a:r>
          </a:p>
        </p:txBody>
      </p:sp>
      <p:sp>
        <p:nvSpPr>
          <p:cNvPr id="12" name="文本框 11">
            <a:extLst>
              <a:ext uri="{FF2B5EF4-FFF2-40B4-BE49-F238E27FC236}">
                <a16:creationId xmlns:a16="http://schemas.microsoft.com/office/drawing/2014/main" id="{E587F462-6340-9FFB-7F79-458CF9477542}"/>
              </a:ext>
            </a:extLst>
          </p:cNvPr>
          <p:cNvSpPr txBox="1"/>
          <p:nvPr/>
        </p:nvSpPr>
        <p:spPr>
          <a:xfrm>
            <a:off x="810733" y="4472528"/>
            <a:ext cx="3491018" cy="830997"/>
          </a:xfrm>
          <a:prstGeom prst="rect">
            <a:avLst/>
          </a:prstGeom>
          <a:noFill/>
        </p:spPr>
        <p:txBody>
          <a:bodyPr wrap="square" rtlCol="0">
            <a:spAutoFit/>
          </a:bodyPr>
          <a:lstStyle/>
          <a:p>
            <a:pPr algn="just"/>
            <a:r>
              <a:rPr lang="en-US" altLang="zh-CN" sz="1600" dirty="0">
                <a:sym typeface="+mn-ea"/>
              </a:rPr>
              <a:t>4. </a:t>
            </a:r>
            <a:r>
              <a:rPr lang="zh-CN" altLang="en-US" sz="1600" dirty="0">
                <a:sym typeface="+mn-ea"/>
              </a:rPr>
              <a:t>对输出数据等价类的边界情况，要分析出与其对应的输入数据，对它们也应进行测试。</a:t>
            </a:r>
          </a:p>
        </p:txBody>
      </p:sp>
      <p:sp>
        <p:nvSpPr>
          <p:cNvPr id="14" name="文本框 13">
            <a:extLst>
              <a:ext uri="{FF2B5EF4-FFF2-40B4-BE49-F238E27FC236}">
                <a16:creationId xmlns:a16="http://schemas.microsoft.com/office/drawing/2014/main" id="{B296406E-C94A-96B4-2335-EB365A1C2248}"/>
              </a:ext>
            </a:extLst>
          </p:cNvPr>
          <p:cNvSpPr txBox="1"/>
          <p:nvPr/>
        </p:nvSpPr>
        <p:spPr>
          <a:xfrm>
            <a:off x="7890249" y="4472528"/>
            <a:ext cx="3491018" cy="830997"/>
          </a:xfrm>
          <a:prstGeom prst="rect">
            <a:avLst/>
          </a:prstGeom>
          <a:noFill/>
        </p:spPr>
        <p:txBody>
          <a:bodyPr wrap="square" rtlCol="0">
            <a:spAutoFit/>
          </a:bodyPr>
          <a:lstStyle/>
          <a:p>
            <a:pPr algn="just"/>
            <a:r>
              <a:rPr lang="en-US" altLang="zh-CN" sz="1600" dirty="0">
                <a:sym typeface="+mn-ea"/>
              </a:rPr>
              <a:t>3. </a:t>
            </a:r>
            <a:r>
              <a:rPr lang="zh-CN" altLang="en-US" sz="1600" dirty="0">
                <a:sym typeface="+mn-ea"/>
              </a:rPr>
              <a:t>在输入值有一定规则或有规定的集合时，找出各种边界条件进行测试；尽量不要遗漏。</a:t>
            </a:r>
          </a:p>
        </p:txBody>
      </p:sp>
      <p:sp>
        <p:nvSpPr>
          <p:cNvPr id="15" name="文本框 14">
            <a:extLst>
              <a:ext uri="{FF2B5EF4-FFF2-40B4-BE49-F238E27FC236}">
                <a16:creationId xmlns:a16="http://schemas.microsoft.com/office/drawing/2014/main" id="{81F353AF-A309-79E2-7546-BFD0CB9619FB}"/>
              </a:ext>
            </a:extLst>
          </p:cNvPr>
          <p:cNvSpPr txBox="1"/>
          <p:nvPr/>
        </p:nvSpPr>
        <p:spPr>
          <a:xfrm>
            <a:off x="7890249" y="2805671"/>
            <a:ext cx="3491018" cy="1077218"/>
          </a:xfrm>
          <a:prstGeom prst="rect">
            <a:avLst/>
          </a:prstGeom>
          <a:noFill/>
        </p:spPr>
        <p:txBody>
          <a:bodyPr wrap="square" rtlCol="0">
            <a:spAutoFit/>
          </a:bodyPr>
          <a:lstStyle/>
          <a:p>
            <a:pPr algn="just"/>
            <a:r>
              <a:rPr lang="en-US" altLang="zh-CN" sz="1600" dirty="0">
                <a:sym typeface="+mn-ea"/>
              </a:rPr>
              <a:t>2. </a:t>
            </a:r>
            <a:r>
              <a:rPr lang="zh-CN" altLang="en-US" sz="1600" dirty="0">
                <a:sym typeface="+mn-ea"/>
              </a:rPr>
              <a:t>如果输入数据有规定的个数，分别对最多个数、最少个数、稍大于最多个数和稍小于最少个数的情况进行测试。</a:t>
            </a:r>
          </a:p>
        </p:txBody>
      </p:sp>
    </p:spTree>
  </p:cSld>
  <p:clrMapOvr>
    <a:masterClrMapping/>
  </p:clrMapOvr>
  <p:transition>
    <p:pull dir="rd"/>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en-US" dirty="0"/>
              <a:t>4.5 </a:t>
            </a:r>
            <a:r>
              <a:rPr lang="zh-CN" altLang="en-US" dirty="0"/>
              <a:t>设计软件测试方案</a:t>
            </a:r>
          </a:p>
        </p:txBody>
      </p:sp>
      <p:sp>
        <p:nvSpPr>
          <p:cNvPr id="5" name="文本占位符 4">
            <a:extLst>
              <a:ext uri="{FF2B5EF4-FFF2-40B4-BE49-F238E27FC236}">
                <a16:creationId xmlns:a16="http://schemas.microsoft.com/office/drawing/2014/main" id="{E40BE350-7D6D-8ED5-AF44-2E840E00DF56}"/>
              </a:ext>
            </a:extLst>
          </p:cNvPr>
          <p:cNvSpPr>
            <a:spLocks noGrp="1"/>
          </p:cNvSpPr>
          <p:nvPr>
            <p:ph type="body" sz="quarter" idx="10"/>
          </p:nvPr>
        </p:nvSpPr>
        <p:spPr>
          <a:xfrm>
            <a:off x="696000" y="1322832"/>
            <a:ext cx="5400000" cy="400110"/>
          </a:xfrm>
        </p:spPr>
        <p:txBody>
          <a:bodyPr/>
          <a:lstStyle/>
          <a:p>
            <a:r>
              <a:rPr lang="en-US" altLang="zh-CN" dirty="0"/>
              <a:t>4.5.3 </a:t>
            </a:r>
            <a:r>
              <a:rPr lang="zh-CN" altLang="en-US" dirty="0"/>
              <a:t>错误推测法</a:t>
            </a:r>
          </a:p>
        </p:txBody>
      </p:sp>
      <p:sp>
        <p:nvSpPr>
          <p:cNvPr id="13" name="文本占位符 12">
            <a:extLst>
              <a:ext uri="{FF2B5EF4-FFF2-40B4-BE49-F238E27FC236}">
                <a16:creationId xmlns:a16="http://schemas.microsoft.com/office/drawing/2014/main" id="{24220CE3-82EF-8157-21D0-B0544E696D24}"/>
              </a:ext>
            </a:extLst>
          </p:cNvPr>
          <p:cNvSpPr>
            <a:spLocks noGrp="1"/>
          </p:cNvSpPr>
          <p:nvPr>
            <p:ph type="body" sz="quarter" idx="11"/>
          </p:nvPr>
        </p:nvSpPr>
        <p:spPr>
          <a:xfrm>
            <a:off x="6096000" y="360128"/>
            <a:ext cx="5760000" cy="400110"/>
          </a:xfrm>
        </p:spPr>
        <p:txBody>
          <a:bodyPr/>
          <a:lstStyle/>
          <a:p>
            <a:r>
              <a:rPr lang="en-US" altLang="zh-CN" dirty="0"/>
              <a:t>Schema</a:t>
            </a:r>
            <a:endParaRPr lang="zh-CN" altLang="en-US" dirty="0"/>
          </a:p>
        </p:txBody>
      </p:sp>
      <p:sp>
        <p:nvSpPr>
          <p:cNvPr id="2" name="文本框 1">
            <a:extLst>
              <a:ext uri="{FF2B5EF4-FFF2-40B4-BE49-F238E27FC236}">
                <a16:creationId xmlns:a16="http://schemas.microsoft.com/office/drawing/2014/main" id="{1E8345FB-3B95-C928-4BBB-8BBBF3CD279D}"/>
              </a:ext>
            </a:extLst>
          </p:cNvPr>
          <p:cNvSpPr txBox="1"/>
          <p:nvPr/>
        </p:nvSpPr>
        <p:spPr>
          <a:xfrm>
            <a:off x="516000" y="2571364"/>
            <a:ext cx="11160000" cy="2059859"/>
          </a:xfrm>
          <a:prstGeom prst="rect">
            <a:avLst/>
          </a:prstGeom>
          <a:noFill/>
        </p:spPr>
        <p:txBody>
          <a:bodyPr wrap="square" rtlCol="0">
            <a:spAutoFit/>
          </a:bodyPr>
          <a:lstStyle/>
          <a:p>
            <a:pPr indent="457200" algn="just">
              <a:lnSpc>
                <a:spcPct val="120000"/>
              </a:lnSpc>
            </a:pPr>
            <a:r>
              <a:rPr lang="zh-CN" altLang="en-US" dirty="0">
                <a:sym typeface="+mn-ea"/>
              </a:rPr>
              <a:t>列出某些容易发生错误的特殊情况来选择测试方案。主要靠</a:t>
            </a:r>
            <a:r>
              <a:rPr lang="zh-CN" altLang="en-US" dirty="0">
                <a:solidFill>
                  <a:srgbClr val="FF0000"/>
                </a:solidFill>
                <a:sym typeface="+mn-ea"/>
              </a:rPr>
              <a:t>直觉</a:t>
            </a:r>
            <a:r>
              <a:rPr lang="zh-CN" altLang="en-US" dirty="0">
                <a:sym typeface="+mn-ea"/>
              </a:rPr>
              <a:t>和</a:t>
            </a:r>
            <a:r>
              <a:rPr lang="zh-CN" altLang="en-US" dirty="0">
                <a:solidFill>
                  <a:srgbClr val="FF0000"/>
                </a:solidFill>
                <a:sym typeface="+mn-ea"/>
              </a:rPr>
              <a:t>经验</a:t>
            </a:r>
            <a:r>
              <a:rPr lang="zh-CN" altLang="en-US" dirty="0">
                <a:sym typeface="+mn-ea"/>
              </a:rPr>
              <a:t>进行，没有确定的步骤。</a:t>
            </a:r>
          </a:p>
          <a:p>
            <a:pPr indent="457200" algn="just">
              <a:lnSpc>
                <a:spcPct val="120000"/>
              </a:lnSpc>
            </a:pPr>
            <a:r>
              <a:rPr lang="zh-CN" altLang="en-US" dirty="0">
                <a:sym typeface="+mn-ea"/>
              </a:rPr>
              <a:t>等价类划分法和边界值分析法都只孤立地考虑</a:t>
            </a:r>
            <a:r>
              <a:rPr lang="zh-CN" altLang="en-US" dirty="0">
                <a:solidFill>
                  <a:srgbClr val="C00000"/>
                </a:solidFill>
                <a:sym typeface="+mn-ea"/>
              </a:rPr>
              <a:t>单个数据</a:t>
            </a:r>
            <a:r>
              <a:rPr lang="zh-CN" altLang="en-US" dirty="0">
                <a:sym typeface="+mn-ea"/>
              </a:rPr>
              <a:t>输入后的测试效果，而没有考虑</a:t>
            </a:r>
            <a:r>
              <a:rPr lang="zh-CN" altLang="en-US" dirty="0">
                <a:solidFill>
                  <a:srgbClr val="C00000"/>
                </a:solidFill>
                <a:sym typeface="+mn-ea"/>
              </a:rPr>
              <a:t>多个数据</a:t>
            </a:r>
            <a:r>
              <a:rPr lang="zh-CN" altLang="en-US" dirty="0">
                <a:sym typeface="+mn-ea"/>
              </a:rPr>
              <a:t>输入时不同的组合所产生的后果，有时可能会遗漏容易出错的输入数据的组合情况。</a:t>
            </a:r>
          </a:p>
          <a:p>
            <a:pPr indent="457200" algn="just">
              <a:lnSpc>
                <a:spcPct val="120000"/>
              </a:lnSpc>
            </a:pPr>
            <a:r>
              <a:rPr lang="zh-CN" altLang="en-US" dirty="0">
                <a:sym typeface="+mn-ea"/>
              </a:rPr>
              <a:t>有效的办法是用</a:t>
            </a:r>
            <a:r>
              <a:rPr lang="zh-CN" altLang="en-US" dirty="0">
                <a:solidFill>
                  <a:srgbClr val="FF0000"/>
                </a:solidFill>
                <a:sym typeface="+mn-ea"/>
              </a:rPr>
              <a:t>判定表</a:t>
            </a:r>
            <a:r>
              <a:rPr lang="zh-CN" altLang="en-US" dirty="0">
                <a:sym typeface="+mn-ea"/>
              </a:rPr>
              <a:t>或</a:t>
            </a:r>
            <a:r>
              <a:rPr lang="zh-CN" altLang="en-US" dirty="0">
                <a:solidFill>
                  <a:srgbClr val="FF0000"/>
                </a:solidFill>
                <a:sym typeface="+mn-ea"/>
              </a:rPr>
              <a:t>判定树</a:t>
            </a:r>
            <a:r>
              <a:rPr lang="zh-CN" altLang="en-US" dirty="0">
                <a:sym typeface="+mn-ea"/>
              </a:rPr>
              <a:t>把输入数据各种组合与对应的处理结果列出来，进行测试。还可以把人工检查代码与计算机测试结合起来，特别是几个模块共享数据时，应检查在一个模块中改变共享数据时，其他共享这些数据的模块是否能正确处理。</a:t>
            </a:r>
          </a:p>
        </p:txBody>
      </p:sp>
    </p:spTree>
  </p:cSld>
  <p:clrMapOvr>
    <a:masterClrMapping/>
  </p:clrMapOvr>
  <p:transition>
    <p:pull dir="rd"/>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FD2BB3-0F1B-4B6B-720D-F8F230C644C7}"/>
              </a:ext>
            </a:extLst>
          </p:cNvPr>
          <p:cNvSpPr>
            <a:spLocks noGrp="1"/>
          </p:cNvSpPr>
          <p:nvPr>
            <p:ph type="title"/>
          </p:nvPr>
        </p:nvSpPr>
        <p:spPr>
          <a:xfrm>
            <a:off x="336000" y="360000"/>
            <a:ext cx="5760000" cy="535531"/>
          </a:xfrm>
        </p:spPr>
        <p:txBody>
          <a:bodyPr/>
          <a:lstStyle/>
          <a:p>
            <a:r>
              <a:rPr lang="en-US" altLang="zh-CN" dirty="0"/>
              <a:t>4.5 </a:t>
            </a:r>
            <a:r>
              <a:rPr lang="zh-CN" altLang="en-US" dirty="0"/>
              <a:t>设计软件测试方案</a:t>
            </a:r>
          </a:p>
        </p:txBody>
      </p:sp>
      <p:sp>
        <p:nvSpPr>
          <p:cNvPr id="3" name="文本占位符 2">
            <a:extLst>
              <a:ext uri="{FF2B5EF4-FFF2-40B4-BE49-F238E27FC236}">
                <a16:creationId xmlns:a16="http://schemas.microsoft.com/office/drawing/2014/main" id="{8C56BA5E-8AB0-96A5-FF97-C5AA1AA0CA05}"/>
              </a:ext>
            </a:extLst>
          </p:cNvPr>
          <p:cNvSpPr>
            <a:spLocks noGrp="1"/>
          </p:cNvSpPr>
          <p:nvPr>
            <p:ph type="body" sz="quarter" idx="10"/>
          </p:nvPr>
        </p:nvSpPr>
        <p:spPr>
          <a:xfrm>
            <a:off x="696000" y="1322832"/>
            <a:ext cx="5400000" cy="400110"/>
          </a:xfrm>
        </p:spPr>
        <p:txBody>
          <a:bodyPr/>
          <a:lstStyle/>
          <a:p>
            <a:r>
              <a:rPr lang="zh-CN" altLang="en-US" dirty="0"/>
              <a:t>错误推测法案例：购物车</a:t>
            </a:r>
          </a:p>
        </p:txBody>
      </p:sp>
      <p:sp>
        <p:nvSpPr>
          <p:cNvPr id="21" name="文本占位符 20">
            <a:extLst>
              <a:ext uri="{FF2B5EF4-FFF2-40B4-BE49-F238E27FC236}">
                <a16:creationId xmlns:a16="http://schemas.microsoft.com/office/drawing/2014/main" id="{474E2047-011E-DB47-B985-F78E1908827A}"/>
              </a:ext>
            </a:extLst>
          </p:cNvPr>
          <p:cNvSpPr>
            <a:spLocks noGrp="1"/>
          </p:cNvSpPr>
          <p:nvPr>
            <p:ph type="body" sz="quarter" idx="11"/>
          </p:nvPr>
        </p:nvSpPr>
        <p:spPr/>
        <p:txBody>
          <a:bodyPr/>
          <a:lstStyle/>
          <a:p>
            <a:endParaRPr lang="zh-CN" altLang="en-US"/>
          </a:p>
        </p:txBody>
      </p:sp>
      <p:graphicFrame>
        <p:nvGraphicFramePr>
          <p:cNvPr id="5" name="表格 4">
            <a:extLst>
              <a:ext uri="{FF2B5EF4-FFF2-40B4-BE49-F238E27FC236}">
                <a16:creationId xmlns:a16="http://schemas.microsoft.com/office/drawing/2014/main" id="{F2940119-33FE-E288-6071-598FF3ED26F4}"/>
              </a:ext>
            </a:extLst>
          </p:cNvPr>
          <p:cNvGraphicFramePr>
            <a:graphicFrameLocks noGrp="1"/>
          </p:cNvGraphicFramePr>
          <p:nvPr>
            <p:extLst>
              <p:ext uri="{D42A27DB-BD31-4B8C-83A1-F6EECF244321}">
                <p14:modId xmlns:p14="http://schemas.microsoft.com/office/powerpoint/2010/main" val="344489690"/>
              </p:ext>
            </p:extLst>
          </p:nvPr>
        </p:nvGraphicFramePr>
        <p:xfrm>
          <a:off x="695326" y="3429000"/>
          <a:ext cx="10668000" cy="1828800"/>
        </p:xfrm>
        <a:graphic>
          <a:graphicData uri="http://schemas.openxmlformats.org/drawingml/2006/table">
            <a:tbl>
              <a:tblPr/>
              <a:tblGrid>
                <a:gridCol w="1524000">
                  <a:extLst>
                    <a:ext uri="{9D8B030D-6E8A-4147-A177-3AD203B41FA5}">
                      <a16:colId xmlns:a16="http://schemas.microsoft.com/office/drawing/2014/main" val="584283045"/>
                    </a:ext>
                  </a:extLst>
                </a:gridCol>
                <a:gridCol w="1524000">
                  <a:extLst>
                    <a:ext uri="{9D8B030D-6E8A-4147-A177-3AD203B41FA5}">
                      <a16:colId xmlns:a16="http://schemas.microsoft.com/office/drawing/2014/main" val="113686880"/>
                    </a:ext>
                  </a:extLst>
                </a:gridCol>
                <a:gridCol w="1524000">
                  <a:extLst>
                    <a:ext uri="{9D8B030D-6E8A-4147-A177-3AD203B41FA5}">
                      <a16:colId xmlns:a16="http://schemas.microsoft.com/office/drawing/2014/main" val="4109636669"/>
                    </a:ext>
                  </a:extLst>
                </a:gridCol>
                <a:gridCol w="1524000">
                  <a:extLst>
                    <a:ext uri="{9D8B030D-6E8A-4147-A177-3AD203B41FA5}">
                      <a16:colId xmlns:a16="http://schemas.microsoft.com/office/drawing/2014/main" val="1067128005"/>
                    </a:ext>
                  </a:extLst>
                </a:gridCol>
                <a:gridCol w="1524000">
                  <a:extLst>
                    <a:ext uri="{9D8B030D-6E8A-4147-A177-3AD203B41FA5}">
                      <a16:colId xmlns:a16="http://schemas.microsoft.com/office/drawing/2014/main" val="454714660"/>
                    </a:ext>
                  </a:extLst>
                </a:gridCol>
                <a:gridCol w="1524000">
                  <a:extLst>
                    <a:ext uri="{9D8B030D-6E8A-4147-A177-3AD203B41FA5}">
                      <a16:colId xmlns:a16="http://schemas.microsoft.com/office/drawing/2014/main" val="3851087561"/>
                    </a:ext>
                  </a:extLst>
                </a:gridCol>
                <a:gridCol w="1524000">
                  <a:extLst>
                    <a:ext uri="{9D8B030D-6E8A-4147-A177-3AD203B41FA5}">
                      <a16:colId xmlns:a16="http://schemas.microsoft.com/office/drawing/2014/main" val="2508680738"/>
                    </a:ext>
                  </a:extLst>
                </a:gridCol>
              </a:tblGrid>
              <a:tr h="365760">
                <a:tc>
                  <a:txBody>
                    <a:bodyPr/>
                    <a:lstStyle/>
                    <a:p>
                      <a:pPr algn="l">
                        <a:buNone/>
                      </a:pPr>
                      <a:r>
                        <a:rPr lang="zh-CN" altLang="en-US" sz="1600" dirty="0"/>
                        <a:t>规则编号</a:t>
                      </a:r>
                    </a:p>
                  </a:txBody>
                  <a:tcPr anchor="ctr">
                    <a:lnL>
                      <a:noFill/>
                    </a:lnL>
                    <a:lnR>
                      <a:noFill/>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en-US" altLang="zh-CN" sz="1600" dirty="0"/>
                        <a:t>1</a:t>
                      </a:r>
                    </a:p>
                  </a:txBody>
                  <a:tcPr anchor="ctr">
                    <a:lnL>
                      <a:noFill/>
                    </a:lnL>
                    <a:lnR>
                      <a:noFill/>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en-US" altLang="zh-CN" sz="1600" dirty="0"/>
                        <a:t>2</a:t>
                      </a:r>
                    </a:p>
                  </a:txBody>
                  <a:tcPr anchor="ctr">
                    <a:lnL>
                      <a:noFill/>
                    </a:lnL>
                    <a:lnR>
                      <a:noFill/>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en-US" altLang="zh-CN" sz="1600" dirty="0"/>
                        <a:t>3</a:t>
                      </a:r>
                    </a:p>
                  </a:txBody>
                  <a:tcPr anchor="ctr">
                    <a:lnL>
                      <a:noFill/>
                    </a:lnL>
                    <a:lnR>
                      <a:noFill/>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en-US" altLang="zh-CN" sz="1600" dirty="0"/>
                        <a:t>4</a:t>
                      </a:r>
                    </a:p>
                  </a:txBody>
                  <a:tcPr anchor="ctr">
                    <a:lnL>
                      <a:noFill/>
                    </a:lnL>
                    <a:lnR>
                      <a:noFill/>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en-US" altLang="zh-CN" sz="1600" dirty="0"/>
                        <a:t>5</a:t>
                      </a:r>
                    </a:p>
                  </a:txBody>
                  <a:tcPr anchor="ctr">
                    <a:lnL>
                      <a:noFill/>
                    </a:lnL>
                    <a:lnR>
                      <a:noFill/>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buNone/>
                      </a:pPr>
                      <a:r>
                        <a:rPr lang="en-US" altLang="zh-CN" sz="1600" dirty="0"/>
                        <a:t>...</a:t>
                      </a:r>
                    </a:p>
                  </a:txBody>
                  <a:tcPr anchor="ctr">
                    <a:lnL>
                      <a:noFill/>
                    </a:lnL>
                    <a:lnR>
                      <a:noFill/>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52195828"/>
                  </a:ext>
                </a:extLst>
              </a:tr>
              <a:tr h="365760">
                <a:tc>
                  <a:txBody>
                    <a:bodyPr/>
                    <a:lstStyle/>
                    <a:p>
                      <a:pPr algn="l">
                        <a:buNone/>
                      </a:pPr>
                      <a:r>
                        <a:rPr lang="zh-CN" altLang="en-US" sz="1600" dirty="0"/>
                        <a:t>有商品？</a:t>
                      </a:r>
                    </a:p>
                  </a:txBody>
                  <a:tcPr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a:buNone/>
                      </a:pPr>
                      <a:r>
                        <a:rPr lang="en-US" sz="1600"/>
                        <a:t>Y</a:t>
                      </a:r>
                    </a:p>
                  </a:txBody>
                  <a:tcPr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a:buNone/>
                      </a:pPr>
                      <a:r>
                        <a:rPr lang="en-US" sz="1600"/>
                        <a:t>Y</a:t>
                      </a:r>
                    </a:p>
                  </a:txBody>
                  <a:tcPr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a:buNone/>
                      </a:pPr>
                      <a:r>
                        <a:rPr lang="en-US" sz="1600"/>
                        <a:t>Y</a:t>
                      </a:r>
                    </a:p>
                  </a:txBody>
                  <a:tcPr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a:buNone/>
                      </a:pPr>
                      <a:r>
                        <a:rPr lang="en-US" sz="1600"/>
                        <a:t>Y</a:t>
                      </a:r>
                    </a:p>
                  </a:txBody>
                  <a:tcPr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a:buNone/>
                      </a:pPr>
                      <a:r>
                        <a:rPr lang="en-US" sz="1600"/>
                        <a:t>N</a:t>
                      </a:r>
                    </a:p>
                  </a:txBody>
                  <a:tcPr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a:buNone/>
                      </a:pPr>
                      <a:r>
                        <a:rPr lang="en-US" altLang="zh-CN" sz="1600" dirty="0"/>
                        <a:t>...</a:t>
                      </a:r>
                    </a:p>
                  </a:txBody>
                  <a:tcPr anchor="ctr">
                    <a:lnL>
                      <a:noFill/>
                    </a:lnL>
                    <a:lnR>
                      <a:noFill/>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4176850047"/>
                  </a:ext>
                </a:extLst>
              </a:tr>
              <a:tr h="365760">
                <a:tc>
                  <a:txBody>
                    <a:bodyPr/>
                    <a:lstStyle/>
                    <a:p>
                      <a:pPr algn="l">
                        <a:buNone/>
                      </a:pPr>
                      <a:r>
                        <a:rPr lang="zh-CN" altLang="en-US" sz="1600"/>
                        <a:t>已登录？</a:t>
                      </a:r>
                    </a:p>
                  </a:txBody>
                  <a:tcPr anchor="ctr">
                    <a:lnL>
                      <a:noFill/>
                    </a:lnL>
                    <a:lnR>
                      <a:noFill/>
                    </a:lnR>
                    <a:lnT>
                      <a:noFill/>
                    </a:lnT>
                    <a:lnB>
                      <a:noFill/>
                    </a:lnB>
                    <a:noFill/>
                  </a:tcPr>
                </a:tc>
                <a:tc>
                  <a:txBody>
                    <a:bodyPr/>
                    <a:lstStyle/>
                    <a:p>
                      <a:pPr algn="ctr">
                        <a:buNone/>
                      </a:pPr>
                      <a:r>
                        <a:rPr lang="en-US" sz="1600"/>
                        <a:t>Y</a:t>
                      </a:r>
                    </a:p>
                  </a:txBody>
                  <a:tcPr anchor="ctr">
                    <a:lnL>
                      <a:noFill/>
                    </a:lnL>
                    <a:lnR>
                      <a:noFill/>
                    </a:lnR>
                    <a:lnT>
                      <a:noFill/>
                    </a:lnT>
                    <a:lnB>
                      <a:noFill/>
                    </a:lnB>
                    <a:noFill/>
                  </a:tcPr>
                </a:tc>
                <a:tc>
                  <a:txBody>
                    <a:bodyPr/>
                    <a:lstStyle/>
                    <a:p>
                      <a:pPr algn="ctr">
                        <a:buNone/>
                      </a:pPr>
                      <a:r>
                        <a:rPr lang="en-US" sz="1600"/>
                        <a:t>Y</a:t>
                      </a:r>
                    </a:p>
                  </a:txBody>
                  <a:tcPr anchor="ctr">
                    <a:lnL>
                      <a:noFill/>
                    </a:lnL>
                    <a:lnR>
                      <a:noFill/>
                    </a:lnR>
                    <a:lnT>
                      <a:noFill/>
                    </a:lnT>
                    <a:lnB>
                      <a:noFill/>
                    </a:lnB>
                    <a:noFill/>
                  </a:tcPr>
                </a:tc>
                <a:tc>
                  <a:txBody>
                    <a:bodyPr/>
                    <a:lstStyle/>
                    <a:p>
                      <a:pPr algn="ctr">
                        <a:buNone/>
                      </a:pPr>
                      <a:r>
                        <a:rPr lang="en-US" sz="1600"/>
                        <a:t>N</a:t>
                      </a:r>
                    </a:p>
                  </a:txBody>
                  <a:tcPr anchor="ctr">
                    <a:lnL>
                      <a:noFill/>
                    </a:lnL>
                    <a:lnR>
                      <a:noFill/>
                    </a:lnR>
                    <a:lnT>
                      <a:noFill/>
                    </a:lnT>
                    <a:lnB>
                      <a:noFill/>
                    </a:lnB>
                    <a:noFill/>
                  </a:tcPr>
                </a:tc>
                <a:tc>
                  <a:txBody>
                    <a:bodyPr/>
                    <a:lstStyle/>
                    <a:p>
                      <a:pPr algn="ctr">
                        <a:buNone/>
                      </a:pPr>
                      <a:r>
                        <a:rPr lang="en-US" sz="1600"/>
                        <a:t>N</a:t>
                      </a:r>
                    </a:p>
                  </a:txBody>
                  <a:tcPr anchor="ctr">
                    <a:lnL>
                      <a:noFill/>
                    </a:lnL>
                    <a:lnR>
                      <a:noFill/>
                    </a:lnR>
                    <a:lnT>
                      <a:noFill/>
                    </a:lnT>
                    <a:lnB>
                      <a:noFill/>
                    </a:lnB>
                    <a:noFill/>
                  </a:tcPr>
                </a:tc>
                <a:tc>
                  <a:txBody>
                    <a:bodyPr/>
                    <a:lstStyle/>
                    <a:p>
                      <a:pPr algn="ctr">
                        <a:buNone/>
                      </a:pPr>
                      <a:r>
                        <a:rPr lang="en-US" sz="1600"/>
                        <a:t>Y</a:t>
                      </a:r>
                    </a:p>
                  </a:txBody>
                  <a:tcPr anchor="ctr">
                    <a:lnL>
                      <a:noFill/>
                    </a:lnL>
                    <a:lnR>
                      <a:noFill/>
                    </a:lnR>
                    <a:lnT>
                      <a:noFill/>
                    </a:lnT>
                    <a:lnB>
                      <a:noFill/>
                    </a:lnB>
                    <a:noFill/>
                  </a:tcPr>
                </a:tc>
                <a:tc>
                  <a:txBody>
                    <a:bodyPr/>
                    <a:lstStyle/>
                    <a:p>
                      <a:pPr algn="ctr">
                        <a:buNone/>
                      </a:pPr>
                      <a:r>
                        <a:rPr lang="en-US" altLang="zh-CN" sz="1600"/>
                        <a:t>...</a:t>
                      </a:r>
                    </a:p>
                  </a:txBody>
                  <a:tcPr anchor="ctr">
                    <a:lnL>
                      <a:noFill/>
                    </a:lnL>
                    <a:lnR>
                      <a:noFill/>
                    </a:lnR>
                    <a:lnT>
                      <a:noFill/>
                    </a:lnT>
                    <a:lnB>
                      <a:noFill/>
                    </a:lnB>
                    <a:noFill/>
                  </a:tcPr>
                </a:tc>
                <a:extLst>
                  <a:ext uri="{0D108BD9-81ED-4DB2-BD59-A6C34878D82A}">
                    <a16:rowId xmlns:a16="http://schemas.microsoft.com/office/drawing/2014/main" val="1346673060"/>
                  </a:ext>
                </a:extLst>
              </a:tr>
              <a:tr h="365760">
                <a:tc>
                  <a:txBody>
                    <a:bodyPr/>
                    <a:lstStyle/>
                    <a:p>
                      <a:pPr algn="l">
                        <a:buNone/>
                      </a:pPr>
                      <a:r>
                        <a:rPr lang="zh-CN" altLang="en-US" sz="1600"/>
                        <a:t>有库存？</a:t>
                      </a:r>
                    </a:p>
                  </a:txBody>
                  <a:tcPr anchor="ctr">
                    <a:lnL>
                      <a:noFill/>
                    </a:lnL>
                    <a:lnR>
                      <a:noFill/>
                    </a:lnR>
                    <a:lnT>
                      <a:noFill/>
                    </a:lnT>
                    <a:lnB>
                      <a:noFill/>
                    </a:lnB>
                    <a:noFill/>
                  </a:tcPr>
                </a:tc>
                <a:tc>
                  <a:txBody>
                    <a:bodyPr/>
                    <a:lstStyle/>
                    <a:p>
                      <a:pPr algn="ctr">
                        <a:buNone/>
                      </a:pPr>
                      <a:r>
                        <a:rPr lang="en-US" sz="1600"/>
                        <a:t>Y</a:t>
                      </a:r>
                    </a:p>
                  </a:txBody>
                  <a:tcPr anchor="ctr">
                    <a:lnL>
                      <a:noFill/>
                    </a:lnL>
                    <a:lnR>
                      <a:noFill/>
                    </a:lnR>
                    <a:lnT>
                      <a:noFill/>
                    </a:lnT>
                    <a:lnB>
                      <a:noFill/>
                    </a:lnB>
                    <a:noFill/>
                  </a:tcPr>
                </a:tc>
                <a:tc>
                  <a:txBody>
                    <a:bodyPr/>
                    <a:lstStyle/>
                    <a:p>
                      <a:pPr algn="ctr">
                        <a:buNone/>
                      </a:pPr>
                      <a:r>
                        <a:rPr lang="en-US" sz="1600" dirty="0"/>
                        <a:t>N</a:t>
                      </a:r>
                    </a:p>
                  </a:txBody>
                  <a:tcPr anchor="ctr">
                    <a:lnL>
                      <a:noFill/>
                    </a:lnL>
                    <a:lnR>
                      <a:noFill/>
                    </a:lnR>
                    <a:lnT>
                      <a:noFill/>
                    </a:lnT>
                    <a:lnB>
                      <a:noFill/>
                    </a:lnB>
                    <a:noFill/>
                  </a:tcPr>
                </a:tc>
                <a:tc>
                  <a:txBody>
                    <a:bodyPr/>
                    <a:lstStyle/>
                    <a:p>
                      <a:pPr algn="ctr">
                        <a:buNone/>
                      </a:pPr>
                      <a:r>
                        <a:rPr lang="en-US" sz="1600"/>
                        <a:t>Y</a:t>
                      </a:r>
                    </a:p>
                  </a:txBody>
                  <a:tcPr anchor="ctr">
                    <a:lnL>
                      <a:noFill/>
                    </a:lnL>
                    <a:lnR>
                      <a:noFill/>
                    </a:lnR>
                    <a:lnT>
                      <a:noFill/>
                    </a:lnT>
                    <a:lnB>
                      <a:noFill/>
                    </a:lnB>
                    <a:noFill/>
                  </a:tcPr>
                </a:tc>
                <a:tc>
                  <a:txBody>
                    <a:bodyPr/>
                    <a:lstStyle/>
                    <a:p>
                      <a:pPr algn="ctr">
                        <a:buNone/>
                      </a:pPr>
                      <a:r>
                        <a:rPr lang="en-US" sz="1600"/>
                        <a:t>N</a:t>
                      </a:r>
                    </a:p>
                  </a:txBody>
                  <a:tcPr anchor="ctr">
                    <a:lnL>
                      <a:noFill/>
                    </a:lnL>
                    <a:lnR>
                      <a:noFill/>
                    </a:lnR>
                    <a:lnT>
                      <a:noFill/>
                    </a:lnT>
                    <a:lnB>
                      <a:noFill/>
                    </a:lnB>
                    <a:noFill/>
                  </a:tcPr>
                </a:tc>
                <a:tc>
                  <a:txBody>
                    <a:bodyPr/>
                    <a:lstStyle/>
                    <a:p>
                      <a:pPr algn="ctr">
                        <a:buNone/>
                      </a:pPr>
                      <a:r>
                        <a:rPr lang="en-US" sz="1600"/>
                        <a:t>Y</a:t>
                      </a:r>
                    </a:p>
                  </a:txBody>
                  <a:tcPr anchor="ctr">
                    <a:lnL>
                      <a:noFill/>
                    </a:lnL>
                    <a:lnR>
                      <a:noFill/>
                    </a:lnR>
                    <a:lnT>
                      <a:noFill/>
                    </a:lnT>
                    <a:lnB>
                      <a:noFill/>
                    </a:lnB>
                    <a:noFill/>
                  </a:tcPr>
                </a:tc>
                <a:tc>
                  <a:txBody>
                    <a:bodyPr/>
                    <a:lstStyle/>
                    <a:p>
                      <a:pPr algn="ctr">
                        <a:buNone/>
                      </a:pPr>
                      <a:r>
                        <a:rPr lang="en-US" altLang="zh-CN" sz="1600"/>
                        <a:t>...</a:t>
                      </a:r>
                    </a:p>
                  </a:txBody>
                  <a:tcPr anchor="ctr">
                    <a:lnL>
                      <a:noFill/>
                    </a:lnL>
                    <a:lnR>
                      <a:noFill/>
                    </a:lnR>
                    <a:lnT>
                      <a:noFill/>
                    </a:lnT>
                    <a:lnB>
                      <a:noFill/>
                    </a:lnB>
                    <a:noFill/>
                  </a:tcPr>
                </a:tc>
                <a:extLst>
                  <a:ext uri="{0D108BD9-81ED-4DB2-BD59-A6C34878D82A}">
                    <a16:rowId xmlns:a16="http://schemas.microsoft.com/office/drawing/2014/main" val="3336944942"/>
                  </a:ext>
                </a:extLst>
              </a:tr>
              <a:tr h="365760">
                <a:tc>
                  <a:txBody>
                    <a:bodyPr/>
                    <a:lstStyle/>
                    <a:p>
                      <a:pPr algn="l">
                        <a:buNone/>
                      </a:pPr>
                      <a:r>
                        <a:rPr lang="zh-CN" altLang="en-US" sz="1600"/>
                        <a:t>预期动作</a:t>
                      </a:r>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buNone/>
                      </a:pPr>
                      <a:r>
                        <a:rPr lang="zh-CN" altLang="en-US" sz="1600"/>
                        <a:t>去结算</a:t>
                      </a:r>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buNone/>
                      </a:pPr>
                      <a:r>
                        <a:rPr lang="zh-CN" altLang="en-US" sz="1600"/>
                        <a:t>提示缺货</a:t>
                      </a:r>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buNone/>
                      </a:pPr>
                      <a:r>
                        <a:rPr lang="zh-CN" altLang="en-US" sz="1600"/>
                        <a:t>去登录</a:t>
                      </a:r>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buNone/>
                      </a:pPr>
                      <a:r>
                        <a:rPr lang="zh-CN" altLang="en-US" sz="1600"/>
                        <a:t>提示缺货</a:t>
                      </a:r>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buNone/>
                      </a:pPr>
                      <a:r>
                        <a:rPr lang="zh-CN" altLang="en-US" sz="1600"/>
                        <a:t>提示空车</a:t>
                      </a:r>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600" dirty="0"/>
                        <a:t>...</a:t>
                      </a:r>
                    </a:p>
                  </a:txBody>
                  <a:tcPr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1748745"/>
                  </a:ext>
                </a:extLst>
              </a:tr>
            </a:tbl>
          </a:graphicData>
        </a:graphic>
      </p:graphicFrame>
      <p:sp>
        <p:nvSpPr>
          <p:cNvPr id="18" name="文本框 17">
            <a:extLst>
              <a:ext uri="{FF2B5EF4-FFF2-40B4-BE49-F238E27FC236}">
                <a16:creationId xmlns:a16="http://schemas.microsoft.com/office/drawing/2014/main" id="{C5611A90-141F-A668-A837-739B6C45DDE7}"/>
              </a:ext>
            </a:extLst>
          </p:cNvPr>
          <p:cNvSpPr txBox="1"/>
          <p:nvPr/>
        </p:nvSpPr>
        <p:spPr>
          <a:xfrm>
            <a:off x="695325" y="1957948"/>
            <a:ext cx="3179075" cy="1200329"/>
          </a:xfrm>
          <a:prstGeom prst="rect">
            <a:avLst/>
          </a:prstGeom>
          <a:noFill/>
        </p:spPr>
        <p:txBody>
          <a:bodyPr wrap="none" rtlCol="0">
            <a:spAutoFit/>
          </a:bodyPr>
          <a:lstStyle/>
          <a:p>
            <a:pPr algn="just"/>
            <a:r>
              <a:rPr lang="zh-CN" altLang="en-US" dirty="0">
                <a:sym typeface="+mn-ea"/>
              </a:rPr>
              <a:t>正常逻辑：</a:t>
            </a:r>
            <a:endParaRPr lang="en-US" altLang="zh-CN" dirty="0">
              <a:sym typeface="+mn-ea"/>
            </a:endParaRPr>
          </a:p>
          <a:p>
            <a:pPr marL="285750" indent="-285750" algn="just">
              <a:buFont typeface="Arial" panose="020B0604020202020204" pitchFamily="34" charset="0"/>
              <a:buChar char="•"/>
            </a:pPr>
            <a:r>
              <a:rPr lang="zh-CN" altLang="en-US" dirty="0">
                <a:sym typeface="+mn-ea"/>
              </a:rPr>
              <a:t>条件</a:t>
            </a:r>
            <a:r>
              <a:rPr lang="en-US" altLang="zh-CN" dirty="0">
                <a:sym typeface="+mn-ea"/>
              </a:rPr>
              <a:t>A</a:t>
            </a:r>
            <a:r>
              <a:rPr lang="zh-CN" altLang="en-US" dirty="0">
                <a:sym typeface="+mn-ea"/>
              </a:rPr>
              <a:t>：购物车里有商品。</a:t>
            </a:r>
          </a:p>
          <a:p>
            <a:pPr marL="285750" indent="-285750" algn="just">
              <a:buFont typeface="Arial" panose="020B0604020202020204" pitchFamily="34" charset="0"/>
              <a:buChar char="•"/>
            </a:pPr>
            <a:r>
              <a:rPr lang="zh-CN" altLang="en-US" dirty="0">
                <a:sym typeface="+mn-ea"/>
              </a:rPr>
              <a:t>条件</a:t>
            </a:r>
            <a:r>
              <a:rPr lang="en-US" altLang="zh-CN" dirty="0">
                <a:sym typeface="+mn-ea"/>
              </a:rPr>
              <a:t>B</a:t>
            </a:r>
            <a:r>
              <a:rPr lang="zh-CN" altLang="en-US" dirty="0">
                <a:sym typeface="+mn-ea"/>
              </a:rPr>
              <a:t>：用户已登录。</a:t>
            </a:r>
          </a:p>
          <a:p>
            <a:pPr marL="285750" indent="-285750" algn="just">
              <a:buFont typeface="Arial" panose="020B0604020202020204" pitchFamily="34" charset="0"/>
              <a:buChar char="•"/>
            </a:pPr>
            <a:r>
              <a:rPr lang="zh-CN" altLang="en-US" dirty="0">
                <a:sym typeface="+mn-ea"/>
              </a:rPr>
              <a:t>条件</a:t>
            </a:r>
            <a:r>
              <a:rPr lang="en-US" altLang="zh-CN" dirty="0">
                <a:sym typeface="+mn-ea"/>
              </a:rPr>
              <a:t>C</a:t>
            </a:r>
            <a:r>
              <a:rPr lang="zh-CN" altLang="en-US" dirty="0">
                <a:sym typeface="+mn-ea"/>
              </a:rPr>
              <a:t>：商品都有库存</a:t>
            </a:r>
          </a:p>
        </p:txBody>
      </p:sp>
    </p:spTree>
    <p:extLst>
      <p:ext uri="{BB962C8B-B14F-4D97-AF65-F5344CB8AC3E}">
        <p14:creationId xmlns:p14="http://schemas.microsoft.com/office/powerpoint/2010/main" val="248732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图片 1" descr="白板11"/>
          <p:cNvPicPr>
            <a:picLocks noGrp="1" noChangeAspect="1"/>
          </p:cNvPicPr>
          <p:nvPr/>
        </p:nvPicPr>
        <p:blipFill>
          <a:blip r:embed="rId3" cstate="print"/>
          <a:srcRect r="5298"/>
          <a:stretch>
            <a:fillRect/>
          </a:stretch>
        </p:blipFill>
        <p:spPr>
          <a:xfrm>
            <a:off x="1211580" y="794385"/>
            <a:ext cx="9866630" cy="5443220"/>
          </a:xfrm>
          <a:prstGeom prst="rect">
            <a:avLst/>
          </a:prstGeom>
          <a:noFill/>
          <a:ln w="9525">
            <a:noFill/>
          </a:ln>
        </p:spPr>
      </p:pic>
      <p:sp>
        <p:nvSpPr>
          <p:cNvPr id="3" name="标题 2"/>
          <p:cNvSpPr>
            <a:spLocks noGrp="1"/>
          </p:cNvSpPr>
          <p:nvPr>
            <p:ph type="title"/>
          </p:nvPr>
        </p:nvSpPr>
        <p:spPr>
          <a:xfrm>
            <a:off x="336000" y="360000"/>
            <a:ext cx="5760000" cy="535531"/>
          </a:xfrm>
        </p:spPr>
        <p:txBody>
          <a:bodyPr/>
          <a:lstStyle/>
          <a:p>
            <a:r>
              <a:rPr lang="en-US" dirty="0"/>
              <a:t>4.5 </a:t>
            </a:r>
            <a:r>
              <a:rPr lang="zh-CN" altLang="en-US" dirty="0"/>
              <a:t>设计软件测试方案</a:t>
            </a:r>
            <a:endParaRPr lang="zh-CN" altLang="en-US" dirty="0">
              <a:sym typeface="+mn-ea"/>
            </a:endParaRPr>
          </a:p>
        </p:txBody>
      </p:sp>
      <p:sp>
        <p:nvSpPr>
          <p:cNvPr id="5" name="文本占位符 4">
            <a:extLst>
              <a:ext uri="{FF2B5EF4-FFF2-40B4-BE49-F238E27FC236}">
                <a16:creationId xmlns:a16="http://schemas.microsoft.com/office/drawing/2014/main" id="{A789ECAB-3E1D-FE42-52CB-BA0890929471}"/>
              </a:ext>
            </a:extLst>
          </p:cNvPr>
          <p:cNvSpPr>
            <a:spLocks noGrp="1"/>
          </p:cNvSpPr>
          <p:nvPr>
            <p:ph type="body" sz="quarter" idx="10"/>
          </p:nvPr>
        </p:nvSpPr>
        <p:spPr>
          <a:xfrm>
            <a:off x="696000" y="1322832"/>
            <a:ext cx="5400000" cy="400110"/>
          </a:xfrm>
        </p:spPr>
        <p:txBody>
          <a:bodyPr/>
          <a:lstStyle/>
          <a:p>
            <a:r>
              <a:rPr lang="en-US" altLang="zh-CN" dirty="0">
                <a:sym typeface="+mn-ea"/>
              </a:rPr>
              <a:t>4.5.4 </a:t>
            </a:r>
            <a:r>
              <a:rPr lang="zh-CN" altLang="en-US" dirty="0">
                <a:sym typeface="+mn-ea"/>
              </a:rPr>
              <a:t>逻辑覆盖法 </a:t>
            </a:r>
            <a:r>
              <a:rPr lang="en-US" altLang="zh-CN" dirty="0"/>
              <a:t>Logic Coverage Testing</a:t>
            </a:r>
            <a:endParaRPr lang="zh-CN" altLang="en-US" dirty="0"/>
          </a:p>
        </p:txBody>
      </p:sp>
      <p:sp>
        <p:nvSpPr>
          <p:cNvPr id="6" name="文本占位符 5">
            <a:extLst>
              <a:ext uri="{FF2B5EF4-FFF2-40B4-BE49-F238E27FC236}">
                <a16:creationId xmlns:a16="http://schemas.microsoft.com/office/drawing/2014/main" id="{46421EA9-C576-98BF-03F5-B46A27CC35D2}"/>
              </a:ext>
            </a:extLst>
          </p:cNvPr>
          <p:cNvSpPr>
            <a:spLocks noGrp="1"/>
          </p:cNvSpPr>
          <p:nvPr>
            <p:ph type="body" sz="quarter" idx="11"/>
          </p:nvPr>
        </p:nvSpPr>
        <p:spPr>
          <a:xfrm>
            <a:off x="6096000" y="360128"/>
            <a:ext cx="5760000" cy="400110"/>
          </a:xfrm>
        </p:spPr>
        <p:txBody>
          <a:bodyPr/>
          <a:lstStyle/>
          <a:p>
            <a:r>
              <a:rPr lang="en-US" altLang="zh-CN" dirty="0"/>
              <a:t>Schema</a:t>
            </a:r>
            <a:endParaRPr lang="zh-CN" altLang="en-US" dirty="0"/>
          </a:p>
        </p:txBody>
      </p:sp>
      <p:sp>
        <p:nvSpPr>
          <p:cNvPr id="10" name="文本框 9">
            <a:extLst>
              <a:ext uri="{FF2B5EF4-FFF2-40B4-BE49-F238E27FC236}">
                <a16:creationId xmlns:a16="http://schemas.microsoft.com/office/drawing/2014/main" id="{4131E042-3981-C80B-5D37-E6E8EFEC45F8}"/>
              </a:ext>
            </a:extLst>
          </p:cNvPr>
          <p:cNvSpPr txBox="1"/>
          <p:nvPr/>
        </p:nvSpPr>
        <p:spPr>
          <a:xfrm>
            <a:off x="2366645" y="2727960"/>
            <a:ext cx="5983605" cy="1859035"/>
          </a:xfrm>
          <a:prstGeom prst="rect">
            <a:avLst/>
          </a:prstGeom>
          <a:noFill/>
        </p:spPr>
        <p:txBody>
          <a:bodyPr wrap="square" rtlCol="0" anchor="t">
            <a:spAutoFit/>
          </a:bodyPr>
          <a:lstStyle/>
          <a:p>
            <a:pPr>
              <a:lnSpc>
                <a:spcPct val="130000"/>
              </a:lnSpc>
            </a:pPr>
            <a:r>
              <a:rPr lang="zh-CN" altLang="en-US" dirty="0"/>
              <a:t> </a:t>
            </a:r>
            <a:r>
              <a:rPr lang="zh-CN" altLang="en-US" dirty="0">
                <a:solidFill>
                  <a:srgbClr val="FF0000"/>
                </a:solidFill>
              </a:rPr>
              <a:t>白盒法</a:t>
            </a:r>
            <a:r>
              <a:rPr lang="zh-CN" altLang="en-US" dirty="0"/>
              <a:t>根据程序逻辑结构进行测试；逻辑覆盖法是一系列测试过程的总称，这些测试是逐渐地、越来越完整地进行通路测试。要想穷尽路径测试往往做不到，但是尽可能选择最有代表性的通路，尽量完整地进行各种通路测试是可以做到的。</a:t>
            </a:r>
          </a:p>
        </p:txBody>
      </p:sp>
    </p:spTree>
  </p:cSld>
  <p:clrMapOvr>
    <a:masterClrMapping/>
  </p:clrMapOvr>
  <p:transition>
    <p:pull dir="rd"/>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FCC11-5A00-8597-11C8-051C8072BEF8}"/>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9B3E0490-86C6-5C51-3A35-DAF45B041F0B}"/>
              </a:ext>
            </a:extLst>
          </p:cNvPr>
          <p:cNvSpPr>
            <a:spLocks noGrp="1"/>
          </p:cNvSpPr>
          <p:nvPr>
            <p:ph type="title"/>
          </p:nvPr>
        </p:nvSpPr>
        <p:spPr>
          <a:xfrm>
            <a:off x="336000" y="360000"/>
            <a:ext cx="5760000" cy="535531"/>
          </a:xfrm>
        </p:spPr>
        <p:txBody>
          <a:bodyPr/>
          <a:lstStyle/>
          <a:p>
            <a:r>
              <a:rPr lang="en-US" dirty="0"/>
              <a:t>4.5 </a:t>
            </a:r>
            <a:r>
              <a:rPr lang="zh-CN" altLang="en-US" dirty="0"/>
              <a:t>设计软件测试方案</a:t>
            </a:r>
            <a:endParaRPr lang="zh-CN" altLang="en-US" dirty="0">
              <a:sym typeface="+mn-ea"/>
            </a:endParaRPr>
          </a:p>
        </p:txBody>
      </p:sp>
      <p:sp>
        <p:nvSpPr>
          <p:cNvPr id="13" name="文本占位符 12">
            <a:extLst>
              <a:ext uri="{FF2B5EF4-FFF2-40B4-BE49-F238E27FC236}">
                <a16:creationId xmlns:a16="http://schemas.microsoft.com/office/drawing/2014/main" id="{C302913A-FCDC-DE01-3EFA-69CF12AD8312}"/>
              </a:ext>
            </a:extLst>
          </p:cNvPr>
          <p:cNvSpPr>
            <a:spLocks noGrp="1"/>
          </p:cNvSpPr>
          <p:nvPr>
            <p:ph type="body" sz="quarter" idx="10"/>
          </p:nvPr>
        </p:nvSpPr>
        <p:spPr>
          <a:xfrm>
            <a:off x="696000" y="1322832"/>
            <a:ext cx="5400000" cy="400110"/>
          </a:xfrm>
        </p:spPr>
        <p:txBody>
          <a:bodyPr/>
          <a:lstStyle/>
          <a:p>
            <a:r>
              <a:rPr lang="en-US" altLang="zh-CN" dirty="0">
                <a:sym typeface="+mn-ea"/>
              </a:rPr>
              <a:t>4.5.4 </a:t>
            </a:r>
            <a:r>
              <a:rPr lang="zh-CN" altLang="en-US" dirty="0">
                <a:sym typeface="+mn-ea"/>
              </a:rPr>
              <a:t>逻辑覆盖法</a:t>
            </a:r>
            <a:endParaRPr lang="zh-CN" altLang="en-US" dirty="0"/>
          </a:p>
        </p:txBody>
      </p:sp>
      <p:sp>
        <p:nvSpPr>
          <p:cNvPr id="24" name="文本占位符 23">
            <a:extLst>
              <a:ext uri="{FF2B5EF4-FFF2-40B4-BE49-F238E27FC236}">
                <a16:creationId xmlns:a16="http://schemas.microsoft.com/office/drawing/2014/main" id="{96683182-9EE7-1F35-EEFF-D3CDEBF95959}"/>
              </a:ext>
            </a:extLst>
          </p:cNvPr>
          <p:cNvSpPr>
            <a:spLocks noGrp="1"/>
          </p:cNvSpPr>
          <p:nvPr>
            <p:ph type="body" sz="quarter" idx="11"/>
          </p:nvPr>
        </p:nvSpPr>
        <p:spPr>
          <a:xfrm>
            <a:off x="6096000" y="360128"/>
            <a:ext cx="5760000" cy="400110"/>
          </a:xfrm>
        </p:spPr>
        <p:txBody>
          <a:bodyPr/>
          <a:lstStyle/>
          <a:p>
            <a:r>
              <a:rPr lang="en-US" altLang="zh-CN" dirty="0"/>
              <a:t>Schema</a:t>
            </a:r>
            <a:endParaRPr lang="zh-CN" altLang="en-US" dirty="0"/>
          </a:p>
        </p:txBody>
      </p:sp>
      <p:sp>
        <p:nvSpPr>
          <p:cNvPr id="39" name="TextBox 1">
            <a:extLst>
              <a:ext uri="{FF2B5EF4-FFF2-40B4-BE49-F238E27FC236}">
                <a16:creationId xmlns:a16="http://schemas.microsoft.com/office/drawing/2014/main" id="{048BCDAA-A924-2BEB-17D6-624E8813E9F6}"/>
              </a:ext>
            </a:extLst>
          </p:cNvPr>
          <p:cNvSpPr txBox="1">
            <a:spLocks noChangeArrowheads="1"/>
          </p:cNvSpPr>
          <p:nvPr/>
        </p:nvSpPr>
        <p:spPr bwMode="auto">
          <a:xfrm>
            <a:off x="695999" y="2250788"/>
            <a:ext cx="41854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algn="ctr" eaLnBrk="1" hangingPunct="1"/>
            <a:r>
              <a:rPr lang="en-US" altLang="zh-CN" sz="2800" dirty="0">
                <a:solidFill>
                  <a:srgbClr val="E67819"/>
                </a:solidFill>
                <a:latin typeface="Times New Roman" panose="02020603050405020304" pitchFamily="18" charset="0"/>
                <a:ea typeface="MS UI Gothic" panose="020B0600070205080204" charset="-128"/>
              </a:rPr>
              <a:t>1</a:t>
            </a:r>
            <a:endParaRPr lang="zh-CN" altLang="en-US" sz="2800" dirty="0">
              <a:solidFill>
                <a:srgbClr val="E67819"/>
              </a:solidFill>
              <a:latin typeface="Times New Roman" panose="02020603050405020304" pitchFamily="18" charset="0"/>
              <a:ea typeface="MS UI Gothic" panose="020B0600070205080204" charset="-128"/>
            </a:endParaRPr>
          </a:p>
        </p:txBody>
      </p:sp>
      <p:cxnSp>
        <p:nvCxnSpPr>
          <p:cNvPr id="40" name="直接连接符 39">
            <a:extLst>
              <a:ext uri="{FF2B5EF4-FFF2-40B4-BE49-F238E27FC236}">
                <a16:creationId xmlns:a16="http://schemas.microsoft.com/office/drawing/2014/main" id="{936CB035-63CA-8018-03DD-91681A77C740}"/>
              </a:ext>
            </a:extLst>
          </p:cNvPr>
          <p:cNvCxnSpPr>
            <a:cxnSpLocks/>
          </p:cNvCxnSpPr>
          <p:nvPr/>
        </p:nvCxnSpPr>
        <p:spPr>
          <a:xfrm flipH="1">
            <a:off x="695999" y="2217123"/>
            <a:ext cx="368295"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41" name="矩形 7">
            <a:extLst>
              <a:ext uri="{FF2B5EF4-FFF2-40B4-BE49-F238E27FC236}">
                <a16:creationId xmlns:a16="http://schemas.microsoft.com/office/drawing/2014/main" id="{0492B470-1B5E-5164-CA78-F444A842A3C1}"/>
              </a:ext>
            </a:extLst>
          </p:cNvPr>
          <p:cNvSpPr>
            <a:spLocks noChangeArrowheads="1"/>
          </p:cNvSpPr>
          <p:nvPr/>
        </p:nvSpPr>
        <p:spPr bwMode="auto">
          <a:xfrm>
            <a:off x="952975" y="2327732"/>
            <a:ext cx="514302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dirty="0">
                <a:solidFill>
                  <a:srgbClr val="E67819"/>
                </a:solidFill>
                <a:latin typeface="+mj-ea"/>
                <a:ea typeface="+mj-ea"/>
              </a:rPr>
              <a:t>语句覆盖 </a:t>
            </a:r>
            <a:r>
              <a:rPr lang="en-US" altLang="zh-CN" sz="1600" dirty="0">
                <a:solidFill>
                  <a:srgbClr val="E67819"/>
                </a:solidFill>
                <a:latin typeface="+mj-ea"/>
                <a:ea typeface="+mj-ea"/>
              </a:rPr>
              <a:t>Statement Coverage</a:t>
            </a:r>
            <a:endParaRPr lang="zh-CN" altLang="en-US" dirty="0">
              <a:solidFill>
                <a:srgbClr val="E67819"/>
              </a:solidFill>
              <a:latin typeface="+mj-ea"/>
              <a:ea typeface="+mj-ea"/>
            </a:endParaRPr>
          </a:p>
        </p:txBody>
      </p:sp>
      <p:sp>
        <p:nvSpPr>
          <p:cNvPr id="42" name="矩形 8">
            <a:extLst>
              <a:ext uri="{FF2B5EF4-FFF2-40B4-BE49-F238E27FC236}">
                <a16:creationId xmlns:a16="http://schemas.microsoft.com/office/drawing/2014/main" id="{AF0C9B6E-B08E-E41C-C3DA-1D4E25EEFF21}"/>
              </a:ext>
            </a:extLst>
          </p:cNvPr>
          <p:cNvSpPr>
            <a:spLocks noChangeArrowheads="1"/>
          </p:cNvSpPr>
          <p:nvPr/>
        </p:nvSpPr>
        <p:spPr bwMode="auto">
          <a:xfrm>
            <a:off x="952976" y="2636617"/>
            <a:ext cx="5143022" cy="1020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sz="1600" dirty="0" err="1"/>
              <a:t>选择足够多的测试数据，使被测试的程序中每个</a:t>
            </a:r>
            <a:r>
              <a:rPr sz="1600" dirty="0" err="1">
                <a:solidFill>
                  <a:srgbClr val="FF0000"/>
                </a:solidFill>
              </a:rPr>
              <a:t>语句</a:t>
            </a:r>
            <a:r>
              <a:rPr sz="1600" dirty="0" err="1"/>
              <a:t>至少执行一次</a:t>
            </a:r>
            <a:r>
              <a:rPr sz="1600" dirty="0"/>
              <a:t>。</a:t>
            </a:r>
            <a:endParaRPr lang="en-US" sz="1600" dirty="0"/>
          </a:p>
          <a:p>
            <a:pPr>
              <a:lnSpc>
                <a:spcPct val="130000"/>
              </a:lnSpc>
            </a:pPr>
            <a:r>
              <a:rPr lang="zh-CN" altLang="en-US" sz="1600" dirty="0"/>
              <a:t>语句是程序执行的最小独立单位</a:t>
            </a:r>
            <a:endParaRPr sz="1600" dirty="0"/>
          </a:p>
        </p:txBody>
      </p:sp>
      <p:pic>
        <p:nvPicPr>
          <p:cNvPr id="2" name="图片 124">
            <a:extLst>
              <a:ext uri="{FF2B5EF4-FFF2-40B4-BE49-F238E27FC236}">
                <a16:creationId xmlns:a16="http://schemas.microsoft.com/office/drawing/2014/main" id="{B6B8A79D-9333-8DA6-0E3C-82D26802EB74}"/>
              </a:ext>
            </a:extLst>
          </p:cNvPr>
          <p:cNvPicPr preferRelativeResize="0">
            <a:picLocks noChangeAspect="1" noChangeArrowheads="1"/>
          </p:cNvPicPr>
          <p:nvPr/>
        </p:nvPicPr>
        <p:blipFill>
          <a:blip r:embed="rId3" cstate="print"/>
          <a:srcRect/>
          <a:stretch>
            <a:fillRect/>
          </a:stretch>
        </p:blipFill>
        <p:spPr bwMode="auto">
          <a:xfrm>
            <a:off x="7744826" y="3229325"/>
            <a:ext cx="3462415" cy="3108960"/>
          </a:xfrm>
          <a:prstGeom prst="rect">
            <a:avLst/>
          </a:prstGeom>
          <a:noFill/>
          <a:ln w="9525">
            <a:noFill/>
            <a:miter lim="800000"/>
            <a:headEnd/>
            <a:tailEnd/>
          </a:ln>
        </p:spPr>
      </p:pic>
      <p:sp>
        <p:nvSpPr>
          <p:cNvPr id="4" name="TextBox 33">
            <a:extLst>
              <a:ext uri="{FF2B5EF4-FFF2-40B4-BE49-F238E27FC236}">
                <a16:creationId xmlns:a16="http://schemas.microsoft.com/office/drawing/2014/main" id="{C299B02D-D671-7CBB-9363-6FC226A2698D}"/>
              </a:ext>
            </a:extLst>
          </p:cNvPr>
          <p:cNvSpPr txBox="1"/>
          <p:nvPr/>
        </p:nvSpPr>
        <p:spPr>
          <a:xfrm>
            <a:off x="696000" y="4361400"/>
            <a:ext cx="5400000" cy="783255"/>
          </a:xfrm>
          <a:prstGeom prst="rect">
            <a:avLst/>
          </a:prstGeom>
          <a:solidFill>
            <a:schemeClr val="bg1">
              <a:lumMod val="95000"/>
            </a:schemeClr>
          </a:solidFill>
        </p:spPr>
        <p:txBody>
          <a:bodyPr wrap="square" lIns="144000" tIns="144000" rIns="144000" bIns="144000">
            <a:spAutoFit/>
          </a:bodyPr>
          <a:lstStyle/>
          <a:p>
            <a:r>
              <a:rPr lang="zh-CN" altLang="en-US" sz="1600" dirty="0"/>
              <a:t>测试数据：</a:t>
            </a:r>
            <a:r>
              <a:rPr lang="en-US" altLang="zh-CN" sz="1600" dirty="0"/>
              <a:t>A=3</a:t>
            </a:r>
            <a:r>
              <a:rPr lang="zh-CN" altLang="en-US" sz="1600" dirty="0"/>
              <a:t>，</a:t>
            </a:r>
            <a:r>
              <a:rPr lang="en-US" altLang="zh-CN" sz="1600" dirty="0"/>
              <a:t>B=0</a:t>
            </a:r>
            <a:r>
              <a:rPr lang="zh-CN" altLang="en-US" sz="1600" dirty="0"/>
              <a:t>时，</a:t>
            </a:r>
            <a:endParaRPr lang="en-US" altLang="zh-CN" sz="1600" dirty="0"/>
          </a:p>
          <a:p>
            <a:r>
              <a:rPr lang="zh-CN" altLang="en-US" sz="1600" dirty="0"/>
              <a:t>执行路径：</a:t>
            </a:r>
            <a:r>
              <a:rPr lang="en-US" altLang="zh-CN" sz="1600" dirty="0" err="1"/>
              <a:t>s→a→c→b→d→e</a:t>
            </a:r>
            <a:endParaRPr lang="zh-CN" altLang="en-US" sz="1600" dirty="0"/>
          </a:p>
        </p:txBody>
      </p:sp>
      <p:sp>
        <p:nvSpPr>
          <p:cNvPr id="6" name="TextBox 33">
            <a:extLst>
              <a:ext uri="{FF2B5EF4-FFF2-40B4-BE49-F238E27FC236}">
                <a16:creationId xmlns:a16="http://schemas.microsoft.com/office/drawing/2014/main" id="{43F30949-0EDD-D87C-D3BE-4E1AD03711D1}"/>
              </a:ext>
            </a:extLst>
          </p:cNvPr>
          <p:cNvSpPr txBox="1"/>
          <p:nvPr/>
        </p:nvSpPr>
        <p:spPr>
          <a:xfrm>
            <a:off x="7096067" y="1812994"/>
            <a:ext cx="4759933" cy="1398808"/>
          </a:xfrm>
          <a:prstGeom prst="rect">
            <a:avLst/>
          </a:prstGeom>
          <a:solidFill>
            <a:schemeClr val="bg1">
              <a:lumMod val="95000"/>
            </a:schemeClr>
          </a:solidFill>
        </p:spPr>
        <p:txBody>
          <a:bodyPr wrap="square" lIns="144000" tIns="144000" rIns="144000" bIns="144000">
            <a:spAutoFit/>
          </a:bodyPr>
          <a:lstStyle/>
          <a:p>
            <a:r>
              <a:rPr lang="zh-CN" altLang="en-US" dirty="0"/>
              <a:t>Begin</a:t>
            </a:r>
          </a:p>
          <a:p>
            <a:r>
              <a:rPr lang="zh-CN" altLang="en-US" dirty="0"/>
              <a:t>    IF (A=3)  OR  (B&gt;1)  Then  X:=A*B  Endif</a:t>
            </a:r>
          </a:p>
          <a:p>
            <a:r>
              <a:rPr lang="zh-CN" altLang="en-US" dirty="0"/>
              <a:t>    IF (A&gt;2)  AND  (B=0)  Then  X:=A-3  Endif</a:t>
            </a:r>
          </a:p>
          <a:p>
            <a:r>
              <a:rPr lang="zh-CN" altLang="en-US" dirty="0"/>
              <a:t>End</a:t>
            </a:r>
          </a:p>
        </p:txBody>
      </p:sp>
    </p:spTree>
    <p:extLst>
      <p:ext uri="{BB962C8B-B14F-4D97-AF65-F5344CB8AC3E}">
        <p14:creationId xmlns:p14="http://schemas.microsoft.com/office/powerpoint/2010/main" val="3194189572"/>
      </p:ext>
    </p:extLst>
  </p:cSld>
  <p:clrMapOvr>
    <a:masterClrMapping/>
  </p:clrMapOvr>
  <p:transition>
    <p:pull dir="rd"/>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en-US" dirty="0"/>
              <a:t>4.5 </a:t>
            </a:r>
            <a:r>
              <a:rPr lang="zh-CN" altLang="en-US" dirty="0"/>
              <a:t>设计软件测试方案</a:t>
            </a:r>
            <a:endParaRPr lang="zh-CN" altLang="en-US" dirty="0">
              <a:sym typeface="+mn-ea"/>
            </a:endParaRPr>
          </a:p>
        </p:txBody>
      </p:sp>
      <p:sp>
        <p:nvSpPr>
          <p:cNvPr id="13" name="文本占位符 12">
            <a:extLst>
              <a:ext uri="{FF2B5EF4-FFF2-40B4-BE49-F238E27FC236}">
                <a16:creationId xmlns:a16="http://schemas.microsoft.com/office/drawing/2014/main" id="{BDF26F18-4EEA-F3B6-BA82-2CECAFD385CF}"/>
              </a:ext>
            </a:extLst>
          </p:cNvPr>
          <p:cNvSpPr>
            <a:spLocks noGrp="1"/>
          </p:cNvSpPr>
          <p:nvPr>
            <p:ph type="body" sz="quarter" idx="10"/>
          </p:nvPr>
        </p:nvSpPr>
        <p:spPr>
          <a:xfrm>
            <a:off x="696000" y="1322832"/>
            <a:ext cx="5400000" cy="400110"/>
          </a:xfrm>
        </p:spPr>
        <p:txBody>
          <a:bodyPr/>
          <a:lstStyle/>
          <a:p>
            <a:r>
              <a:rPr lang="en-US" altLang="zh-CN" dirty="0">
                <a:sym typeface="+mn-ea"/>
              </a:rPr>
              <a:t>4.5.4 </a:t>
            </a:r>
            <a:r>
              <a:rPr lang="zh-CN" altLang="en-US" dirty="0">
                <a:sym typeface="+mn-ea"/>
              </a:rPr>
              <a:t>逻辑覆盖法</a:t>
            </a:r>
            <a:endParaRPr lang="zh-CN" altLang="en-US" dirty="0"/>
          </a:p>
        </p:txBody>
      </p:sp>
      <p:sp>
        <p:nvSpPr>
          <p:cNvPr id="24" name="文本占位符 23">
            <a:extLst>
              <a:ext uri="{FF2B5EF4-FFF2-40B4-BE49-F238E27FC236}">
                <a16:creationId xmlns:a16="http://schemas.microsoft.com/office/drawing/2014/main" id="{F034409F-7A85-8BD3-CE6A-6DE5A1FC865C}"/>
              </a:ext>
            </a:extLst>
          </p:cNvPr>
          <p:cNvSpPr>
            <a:spLocks noGrp="1"/>
          </p:cNvSpPr>
          <p:nvPr>
            <p:ph type="body" sz="quarter" idx="11"/>
          </p:nvPr>
        </p:nvSpPr>
        <p:spPr>
          <a:xfrm>
            <a:off x="6096000" y="360128"/>
            <a:ext cx="5760000" cy="400110"/>
          </a:xfrm>
        </p:spPr>
        <p:txBody>
          <a:bodyPr/>
          <a:lstStyle/>
          <a:p>
            <a:r>
              <a:rPr lang="en-US" altLang="zh-CN" dirty="0"/>
              <a:t>Schema</a:t>
            </a:r>
            <a:endParaRPr lang="zh-CN" altLang="en-US" dirty="0"/>
          </a:p>
        </p:txBody>
      </p:sp>
      <p:sp>
        <p:nvSpPr>
          <p:cNvPr id="51" name="TextBox 10"/>
          <p:cNvSpPr txBox="1">
            <a:spLocks noChangeArrowheads="1"/>
          </p:cNvSpPr>
          <p:nvPr/>
        </p:nvSpPr>
        <p:spPr bwMode="auto">
          <a:xfrm>
            <a:off x="696000" y="1951902"/>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algn="ctr" eaLnBrk="1" hangingPunct="1"/>
            <a:r>
              <a:rPr lang="en-US" altLang="zh-CN" sz="2800" dirty="0">
                <a:solidFill>
                  <a:srgbClr val="E67819"/>
                </a:solidFill>
                <a:latin typeface="Times New Roman" panose="02020603050405020304" pitchFamily="18" charset="0"/>
                <a:ea typeface="MS UI Gothic" panose="020B0600070205080204" charset="-128"/>
              </a:rPr>
              <a:t>2</a:t>
            </a:r>
            <a:endParaRPr lang="zh-CN" altLang="en-US" sz="2800" dirty="0">
              <a:solidFill>
                <a:srgbClr val="E67819"/>
              </a:solidFill>
              <a:latin typeface="Times New Roman" panose="02020603050405020304" pitchFamily="18" charset="0"/>
              <a:ea typeface="MS UI Gothic" panose="020B0600070205080204" charset="-128"/>
            </a:endParaRPr>
          </a:p>
        </p:txBody>
      </p:sp>
      <p:cxnSp>
        <p:nvCxnSpPr>
          <p:cNvPr id="52" name="直接连接符 51"/>
          <p:cNvCxnSpPr/>
          <p:nvPr/>
        </p:nvCxnSpPr>
        <p:spPr>
          <a:xfrm flipH="1">
            <a:off x="696000" y="1918237"/>
            <a:ext cx="320502"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53" name="矩形 12"/>
          <p:cNvSpPr>
            <a:spLocks noChangeArrowheads="1"/>
          </p:cNvSpPr>
          <p:nvPr/>
        </p:nvSpPr>
        <p:spPr bwMode="auto">
          <a:xfrm>
            <a:off x="938961" y="2028846"/>
            <a:ext cx="47628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dirty="0">
                <a:solidFill>
                  <a:srgbClr val="E67819"/>
                </a:solidFill>
                <a:latin typeface="+mj-ea"/>
                <a:ea typeface="+mj-ea"/>
              </a:rPr>
              <a:t>判定</a:t>
            </a:r>
            <a:r>
              <a:rPr lang="en-US" altLang="zh-CN" dirty="0">
                <a:solidFill>
                  <a:srgbClr val="E67819"/>
                </a:solidFill>
                <a:latin typeface="+mj-ea"/>
                <a:ea typeface="+mj-ea"/>
              </a:rPr>
              <a:t>/</a:t>
            </a:r>
            <a:r>
              <a:rPr lang="zh-CN" altLang="en-US" dirty="0">
                <a:solidFill>
                  <a:srgbClr val="E67819"/>
                </a:solidFill>
                <a:latin typeface="+mj-ea"/>
                <a:ea typeface="+mj-ea"/>
              </a:rPr>
              <a:t>分支覆盖 </a:t>
            </a:r>
            <a:r>
              <a:rPr lang="en-US" altLang="zh-CN" sz="1600" dirty="0">
                <a:solidFill>
                  <a:srgbClr val="E67819"/>
                </a:solidFill>
                <a:latin typeface="+mj-ea"/>
                <a:ea typeface="+mj-ea"/>
              </a:rPr>
              <a:t>Decision/Branch  Coverage</a:t>
            </a:r>
            <a:endParaRPr lang="zh-CN" altLang="en-US" dirty="0">
              <a:solidFill>
                <a:srgbClr val="E67819"/>
              </a:solidFill>
              <a:latin typeface="+mj-ea"/>
              <a:ea typeface="+mj-ea"/>
            </a:endParaRPr>
          </a:p>
        </p:txBody>
      </p:sp>
      <p:sp>
        <p:nvSpPr>
          <p:cNvPr id="54" name="矩形 9"/>
          <p:cNvSpPr>
            <a:spLocks noChangeArrowheads="1"/>
          </p:cNvSpPr>
          <p:nvPr/>
        </p:nvSpPr>
        <p:spPr bwMode="auto">
          <a:xfrm>
            <a:off x="938961" y="2406476"/>
            <a:ext cx="4475226" cy="1662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auto">
              <a:lnSpc>
                <a:spcPct val="130000"/>
              </a:lnSpc>
            </a:pPr>
            <a:r>
              <a:rPr sz="1600" dirty="0" err="1"/>
              <a:t>不仅每个语句都必须至少执行一次，而且每个判定的可能结果都</a:t>
            </a:r>
            <a:r>
              <a:rPr sz="1600" dirty="0" err="1">
                <a:solidFill>
                  <a:srgbClr val="FF0000"/>
                </a:solidFill>
              </a:rPr>
              <a:t>至少</a:t>
            </a:r>
            <a:r>
              <a:rPr sz="1600" dirty="0" err="1"/>
              <a:t>执行一次，即每个</a:t>
            </a:r>
            <a:r>
              <a:rPr sz="1600" dirty="0" err="1">
                <a:solidFill>
                  <a:srgbClr val="FF0000"/>
                </a:solidFill>
              </a:rPr>
              <a:t>分支</a:t>
            </a:r>
            <a:r>
              <a:rPr sz="1600" dirty="0" err="1"/>
              <a:t>都至少执行一次</a:t>
            </a:r>
            <a:r>
              <a:rPr sz="1600" dirty="0"/>
              <a:t>。</a:t>
            </a:r>
            <a:endParaRPr lang="en-US" sz="1600" dirty="0"/>
          </a:p>
          <a:p>
            <a:pPr fontAlgn="auto">
              <a:lnSpc>
                <a:spcPct val="130000"/>
              </a:lnSpc>
            </a:pPr>
            <a:r>
              <a:rPr lang="zh-CN" altLang="en-US" sz="1600" dirty="0"/>
              <a:t>真：至少执行</a:t>
            </a:r>
            <a:r>
              <a:rPr lang="en-US" altLang="zh-CN" sz="1600" dirty="0"/>
              <a:t>1</a:t>
            </a:r>
            <a:r>
              <a:rPr lang="zh-CN" altLang="en-US" sz="1600" dirty="0"/>
              <a:t>次</a:t>
            </a:r>
            <a:endParaRPr lang="en-US" altLang="zh-CN" sz="1600" dirty="0"/>
          </a:p>
          <a:p>
            <a:pPr fontAlgn="auto">
              <a:lnSpc>
                <a:spcPct val="130000"/>
              </a:lnSpc>
            </a:pPr>
            <a:r>
              <a:rPr lang="zh-CN" altLang="en-US" sz="1600" dirty="0"/>
              <a:t>假：至少执行</a:t>
            </a:r>
            <a:r>
              <a:rPr lang="en-US" altLang="zh-CN" sz="1600" dirty="0"/>
              <a:t>1</a:t>
            </a:r>
            <a:r>
              <a:rPr lang="zh-CN" altLang="en-US" sz="1600" dirty="0"/>
              <a:t>次</a:t>
            </a:r>
            <a:endParaRPr sz="1600" dirty="0"/>
          </a:p>
        </p:txBody>
      </p:sp>
      <p:pic>
        <p:nvPicPr>
          <p:cNvPr id="2" name="图片 124">
            <a:extLst>
              <a:ext uri="{FF2B5EF4-FFF2-40B4-BE49-F238E27FC236}">
                <a16:creationId xmlns:a16="http://schemas.microsoft.com/office/drawing/2014/main" id="{5D1030FD-8EF2-AE0B-6B1C-4074FE6B6C23}"/>
              </a:ext>
            </a:extLst>
          </p:cNvPr>
          <p:cNvPicPr preferRelativeResize="0">
            <a:picLocks noChangeAspect="1" noChangeArrowheads="1"/>
          </p:cNvPicPr>
          <p:nvPr/>
        </p:nvPicPr>
        <p:blipFill>
          <a:blip r:embed="rId3" cstate="print"/>
          <a:srcRect/>
          <a:stretch>
            <a:fillRect/>
          </a:stretch>
        </p:blipFill>
        <p:spPr bwMode="auto">
          <a:xfrm>
            <a:off x="7744826" y="3229325"/>
            <a:ext cx="3462415" cy="3108960"/>
          </a:xfrm>
          <a:prstGeom prst="rect">
            <a:avLst/>
          </a:prstGeom>
          <a:noFill/>
          <a:ln w="9525">
            <a:noFill/>
            <a:miter lim="800000"/>
            <a:headEnd/>
            <a:tailEnd/>
          </a:ln>
        </p:spPr>
      </p:pic>
      <p:sp>
        <p:nvSpPr>
          <p:cNvPr id="4" name="TextBox 33">
            <a:extLst>
              <a:ext uri="{FF2B5EF4-FFF2-40B4-BE49-F238E27FC236}">
                <a16:creationId xmlns:a16="http://schemas.microsoft.com/office/drawing/2014/main" id="{65A8D96E-7D23-CF6B-043E-B1F8188740D1}"/>
              </a:ext>
            </a:extLst>
          </p:cNvPr>
          <p:cNvSpPr txBox="1"/>
          <p:nvPr/>
        </p:nvSpPr>
        <p:spPr>
          <a:xfrm>
            <a:off x="7096067" y="1812994"/>
            <a:ext cx="4759933" cy="1398808"/>
          </a:xfrm>
          <a:prstGeom prst="rect">
            <a:avLst/>
          </a:prstGeom>
          <a:solidFill>
            <a:schemeClr val="bg1">
              <a:lumMod val="95000"/>
            </a:schemeClr>
          </a:solidFill>
        </p:spPr>
        <p:txBody>
          <a:bodyPr wrap="square" lIns="144000" tIns="144000" rIns="144000" bIns="144000">
            <a:spAutoFit/>
          </a:bodyPr>
          <a:lstStyle/>
          <a:p>
            <a:r>
              <a:rPr lang="zh-CN" altLang="en-US" dirty="0"/>
              <a:t>Begin</a:t>
            </a:r>
          </a:p>
          <a:p>
            <a:r>
              <a:rPr lang="zh-CN" altLang="en-US" dirty="0"/>
              <a:t>    IF (A=3)  OR  (B&gt;1)  Then  X:=A*B  Endif</a:t>
            </a:r>
          </a:p>
          <a:p>
            <a:r>
              <a:rPr lang="zh-CN" altLang="en-US" dirty="0"/>
              <a:t>    IF (A&gt;2)  AND  (B=0)  Then  X:=A-3  Endif</a:t>
            </a:r>
          </a:p>
          <a:p>
            <a:r>
              <a:rPr lang="zh-CN" altLang="en-US" dirty="0"/>
              <a:t>End</a:t>
            </a:r>
          </a:p>
        </p:txBody>
      </p:sp>
      <p:sp>
        <p:nvSpPr>
          <p:cNvPr id="6" name="TextBox 33">
            <a:extLst>
              <a:ext uri="{FF2B5EF4-FFF2-40B4-BE49-F238E27FC236}">
                <a16:creationId xmlns:a16="http://schemas.microsoft.com/office/drawing/2014/main" id="{95BB3282-F2D1-7268-62ED-8B5612E198A0}"/>
              </a:ext>
            </a:extLst>
          </p:cNvPr>
          <p:cNvSpPr txBox="1"/>
          <p:nvPr/>
        </p:nvSpPr>
        <p:spPr>
          <a:xfrm>
            <a:off x="696000" y="4158656"/>
            <a:ext cx="5400000" cy="1768140"/>
          </a:xfrm>
          <a:prstGeom prst="rect">
            <a:avLst/>
          </a:prstGeom>
          <a:solidFill>
            <a:schemeClr val="bg1">
              <a:lumMod val="95000"/>
            </a:schemeClr>
          </a:solidFill>
        </p:spPr>
        <p:txBody>
          <a:bodyPr wrap="square" lIns="144000" tIns="144000" rIns="144000" bIns="144000">
            <a:spAutoFit/>
          </a:bodyPr>
          <a:lstStyle/>
          <a:p>
            <a:r>
              <a:rPr lang="zh-CN" altLang="en-US" sz="1600" dirty="0"/>
              <a:t>用两组测试数据</a:t>
            </a:r>
            <a:endParaRPr lang="en-US" altLang="zh-CN" sz="1600" dirty="0"/>
          </a:p>
          <a:p>
            <a:r>
              <a:rPr lang="zh-CN" altLang="en-US" sz="1600" dirty="0"/>
              <a:t>测试数据：</a:t>
            </a:r>
            <a:r>
              <a:rPr lang="en-US" altLang="zh-CN" sz="1600" dirty="0"/>
              <a:t>A=3</a:t>
            </a:r>
            <a:r>
              <a:rPr lang="zh-CN" altLang="en-US" sz="1600" dirty="0"/>
              <a:t>，</a:t>
            </a:r>
            <a:r>
              <a:rPr lang="en-US" altLang="zh-CN" sz="1600" dirty="0"/>
              <a:t>B=0</a:t>
            </a:r>
            <a:r>
              <a:rPr lang="zh-CN" altLang="en-US" sz="1600" dirty="0"/>
              <a:t>时，</a:t>
            </a:r>
            <a:endParaRPr lang="en-US" altLang="zh-CN" sz="1600" dirty="0"/>
          </a:p>
          <a:p>
            <a:r>
              <a:rPr lang="zh-CN" altLang="en-US" sz="1600" dirty="0"/>
              <a:t>执行路径：</a:t>
            </a:r>
            <a:r>
              <a:rPr lang="en-US" altLang="zh-CN" sz="1600" dirty="0" err="1"/>
              <a:t>s→a→c→b→d→e</a:t>
            </a:r>
            <a:r>
              <a:rPr lang="zh-CN" altLang="en-US" sz="1600" dirty="0"/>
              <a:t>；</a:t>
            </a:r>
            <a:endParaRPr lang="en-US" altLang="zh-CN" sz="1600" dirty="0"/>
          </a:p>
          <a:p>
            <a:endParaRPr lang="en-US" altLang="zh-CN" sz="1600" dirty="0"/>
          </a:p>
          <a:p>
            <a:r>
              <a:rPr lang="zh-CN" altLang="en-US" sz="1600" dirty="0"/>
              <a:t>测试数据：</a:t>
            </a:r>
            <a:r>
              <a:rPr lang="en-US" altLang="zh-CN" sz="1600" dirty="0"/>
              <a:t>A=2</a:t>
            </a:r>
            <a:r>
              <a:rPr lang="zh-CN" altLang="en-US" sz="1600" dirty="0"/>
              <a:t>，</a:t>
            </a:r>
            <a:r>
              <a:rPr lang="en-US" altLang="zh-CN" sz="1600" dirty="0"/>
              <a:t>B=0</a:t>
            </a:r>
            <a:r>
              <a:rPr lang="zh-CN" altLang="en-US" sz="1600" dirty="0"/>
              <a:t>时，</a:t>
            </a:r>
            <a:endParaRPr lang="en-US" altLang="zh-CN" sz="1600" dirty="0"/>
          </a:p>
          <a:p>
            <a:r>
              <a:rPr lang="zh-CN" altLang="en-US" sz="1600" dirty="0"/>
              <a:t>执行路径：</a:t>
            </a:r>
            <a:r>
              <a:rPr lang="en-US" altLang="zh-CN" sz="1600" dirty="0" err="1"/>
              <a:t>s→a→b→e</a:t>
            </a:r>
            <a:r>
              <a:rPr lang="zh-CN" altLang="en-US" sz="1600" dirty="0"/>
              <a:t>。</a:t>
            </a:r>
          </a:p>
        </p:txBody>
      </p:sp>
    </p:spTree>
  </p:cSld>
  <p:clrMapOvr>
    <a:masterClrMapping/>
  </p:clrMapOvr>
  <p:transition>
    <p:pull dir="rd"/>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8EBDC-0BCF-2D84-F78D-F341BC9821B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9CD3A5D3-EA40-7291-3045-FBE9D840076E}"/>
              </a:ext>
            </a:extLst>
          </p:cNvPr>
          <p:cNvSpPr>
            <a:spLocks noGrp="1"/>
          </p:cNvSpPr>
          <p:nvPr>
            <p:ph type="title"/>
          </p:nvPr>
        </p:nvSpPr>
        <p:spPr>
          <a:xfrm>
            <a:off x="336000" y="360000"/>
            <a:ext cx="5760000" cy="535531"/>
          </a:xfrm>
        </p:spPr>
        <p:txBody>
          <a:bodyPr/>
          <a:lstStyle/>
          <a:p>
            <a:r>
              <a:rPr lang="en-US" dirty="0"/>
              <a:t>4.5 </a:t>
            </a:r>
            <a:r>
              <a:rPr lang="zh-CN" altLang="en-US" dirty="0"/>
              <a:t>设计软件测试方案</a:t>
            </a:r>
            <a:endParaRPr lang="zh-CN" altLang="en-US" dirty="0">
              <a:sym typeface="+mn-ea"/>
            </a:endParaRPr>
          </a:p>
        </p:txBody>
      </p:sp>
      <p:sp>
        <p:nvSpPr>
          <p:cNvPr id="13" name="文本占位符 12">
            <a:extLst>
              <a:ext uri="{FF2B5EF4-FFF2-40B4-BE49-F238E27FC236}">
                <a16:creationId xmlns:a16="http://schemas.microsoft.com/office/drawing/2014/main" id="{721D62F0-EE12-781E-E387-A77F8C34E3EB}"/>
              </a:ext>
            </a:extLst>
          </p:cNvPr>
          <p:cNvSpPr>
            <a:spLocks noGrp="1"/>
          </p:cNvSpPr>
          <p:nvPr>
            <p:ph type="body" sz="quarter" idx="10"/>
          </p:nvPr>
        </p:nvSpPr>
        <p:spPr>
          <a:xfrm>
            <a:off x="696000" y="1322832"/>
            <a:ext cx="5400000" cy="400110"/>
          </a:xfrm>
        </p:spPr>
        <p:txBody>
          <a:bodyPr/>
          <a:lstStyle/>
          <a:p>
            <a:r>
              <a:rPr lang="en-US" altLang="zh-CN" dirty="0">
                <a:sym typeface="+mn-ea"/>
              </a:rPr>
              <a:t>4.5.4 </a:t>
            </a:r>
            <a:r>
              <a:rPr lang="zh-CN" altLang="en-US" dirty="0">
                <a:sym typeface="+mn-ea"/>
              </a:rPr>
              <a:t>逻辑覆盖法</a:t>
            </a:r>
            <a:endParaRPr lang="zh-CN" altLang="en-US" dirty="0"/>
          </a:p>
        </p:txBody>
      </p:sp>
      <p:sp>
        <p:nvSpPr>
          <p:cNvPr id="24" name="文本占位符 23">
            <a:extLst>
              <a:ext uri="{FF2B5EF4-FFF2-40B4-BE49-F238E27FC236}">
                <a16:creationId xmlns:a16="http://schemas.microsoft.com/office/drawing/2014/main" id="{149C5F7E-ECB5-42B6-817A-7CE779D4E098}"/>
              </a:ext>
            </a:extLst>
          </p:cNvPr>
          <p:cNvSpPr>
            <a:spLocks noGrp="1"/>
          </p:cNvSpPr>
          <p:nvPr>
            <p:ph type="body" sz="quarter" idx="11"/>
          </p:nvPr>
        </p:nvSpPr>
        <p:spPr>
          <a:xfrm>
            <a:off x="6096000" y="360128"/>
            <a:ext cx="5760000" cy="400110"/>
          </a:xfrm>
        </p:spPr>
        <p:txBody>
          <a:bodyPr/>
          <a:lstStyle/>
          <a:p>
            <a:r>
              <a:rPr lang="en-US" altLang="zh-CN" dirty="0"/>
              <a:t>Schema</a:t>
            </a:r>
            <a:endParaRPr lang="zh-CN" altLang="en-US" dirty="0"/>
          </a:p>
        </p:txBody>
      </p:sp>
      <p:sp>
        <p:nvSpPr>
          <p:cNvPr id="7" name="TextBox 1">
            <a:extLst>
              <a:ext uri="{FF2B5EF4-FFF2-40B4-BE49-F238E27FC236}">
                <a16:creationId xmlns:a16="http://schemas.microsoft.com/office/drawing/2014/main" id="{6B6C2FD1-2851-84E1-9F18-41E8B8937E76}"/>
              </a:ext>
            </a:extLst>
          </p:cNvPr>
          <p:cNvSpPr txBox="1">
            <a:spLocks noChangeArrowheads="1"/>
          </p:cNvSpPr>
          <p:nvPr/>
        </p:nvSpPr>
        <p:spPr bwMode="auto">
          <a:xfrm>
            <a:off x="636441" y="1762042"/>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algn="ctr" eaLnBrk="1" hangingPunct="1"/>
            <a:r>
              <a:rPr lang="en-US" sz="2800" dirty="0">
                <a:solidFill>
                  <a:srgbClr val="E67819"/>
                </a:solidFill>
                <a:latin typeface="Times New Roman" panose="02020603050405020304" pitchFamily="18" charset="0"/>
                <a:ea typeface="MS UI Gothic" panose="020B0600070205080204" charset="-128"/>
              </a:rPr>
              <a:t>3</a:t>
            </a:r>
          </a:p>
        </p:txBody>
      </p:sp>
      <p:cxnSp>
        <p:nvCxnSpPr>
          <p:cNvPr id="8" name="直接连接符 7">
            <a:extLst>
              <a:ext uri="{FF2B5EF4-FFF2-40B4-BE49-F238E27FC236}">
                <a16:creationId xmlns:a16="http://schemas.microsoft.com/office/drawing/2014/main" id="{EBF3C4C2-5F22-4D13-DA46-C1E1C18FD34B}"/>
              </a:ext>
            </a:extLst>
          </p:cNvPr>
          <p:cNvCxnSpPr>
            <a:cxnSpLocks/>
          </p:cNvCxnSpPr>
          <p:nvPr/>
        </p:nvCxnSpPr>
        <p:spPr>
          <a:xfrm flipH="1">
            <a:off x="636441" y="1728377"/>
            <a:ext cx="37932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9" name="矩形 7">
            <a:extLst>
              <a:ext uri="{FF2B5EF4-FFF2-40B4-BE49-F238E27FC236}">
                <a16:creationId xmlns:a16="http://schemas.microsoft.com/office/drawing/2014/main" id="{BCA9EDB0-897C-DEB8-88F2-98FE36AA9905}"/>
              </a:ext>
            </a:extLst>
          </p:cNvPr>
          <p:cNvSpPr>
            <a:spLocks noChangeArrowheads="1"/>
          </p:cNvSpPr>
          <p:nvPr/>
        </p:nvSpPr>
        <p:spPr bwMode="auto">
          <a:xfrm>
            <a:off x="924030" y="1838986"/>
            <a:ext cx="52484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dirty="0">
                <a:solidFill>
                  <a:srgbClr val="E67819"/>
                </a:solidFill>
                <a:latin typeface="+mj-ea"/>
                <a:ea typeface="+mj-ea"/>
              </a:rPr>
              <a:t>条件覆盖 </a:t>
            </a:r>
            <a:r>
              <a:rPr lang="en-US" altLang="zh-CN" sz="1600" dirty="0">
                <a:solidFill>
                  <a:srgbClr val="E67819"/>
                </a:solidFill>
                <a:latin typeface="+mj-ea"/>
                <a:ea typeface="+mj-ea"/>
              </a:rPr>
              <a:t>Condition Coverage</a:t>
            </a:r>
            <a:endParaRPr lang="zh-CN" altLang="en-US" dirty="0">
              <a:solidFill>
                <a:srgbClr val="E67819"/>
              </a:solidFill>
              <a:latin typeface="+mj-ea"/>
              <a:ea typeface="+mj-ea"/>
            </a:endParaRPr>
          </a:p>
        </p:txBody>
      </p:sp>
      <p:sp>
        <p:nvSpPr>
          <p:cNvPr id="10" name="矩形 8">
            <a:extLst>
              <a:ext uri="{FF2B5EF4-FFF2-40B4-BE49-F238E27FC236}">
                <a16:creationId xmlns:a16="http://schemas.microsoft.com/office/drawing/2014/main" id="{36C73EF0-22BB-7D42-C723-D1A124AF5640}"/>
              </a:ext>
            </a:extLst>
          </p:cNvPr>
          <p:cNvSpPr>
            <a:spLocks noChangeArrowheads="1"/>
          </p:cNvSpPr>
          <p:nvPr/>
        </p:nvSpPr>
        <p:spPr bwMode="auto">
          <a:xfrm>
            <a:off x="924030" y="2147871"/>
            <a:ext cx="5759999" cy="1662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30000"/>
              </a:lnSpc>
            </a:pPr>
            <a:r>
              <a:rPr sz="1600" dirty="0" err="1"/>
              <a:t>不仅每个语句都至少执行一次，而且使每个判定表达式中的每个条件都取到各种可能的值，从而可测试比较复杂的路径</a:t>
            </a:r>
            <a:r>
              <a:rPr sz="1600" dirty="0"/>
              <a:t>。</a:t>
            </a:r>
            <a:endParaRPr lang="en-US" sz="1600" dirty="0"/>
          </a:p>
          <a:p>
            <a:pPr algn="just">
              <a:lnSpc>
                <a:spcPct val="130000"/>
              </a:lnSpc>
            </a:pPr>
            <a:r>
              <a:rPr lang="zh-CN" altLang="en-US" sz="1600" dirty="0"/>
              <a:t>主要是面向复合条件判断</a:t>
            </a:r>
            <a:endParaRPr lang="en-US" altLang="zh-CN" sz="1600" dirty="0"/>
          </a:p>
          <a:p>
            <a:pPr algn="just">
              <a:lnSpc>
                <a:spcPct val="130000"/>
              </a:lnSpc>
            </a:pPr>
            <a:r>
              <a:rPr lang="zh-CN" altLang="en-US" sz="1600" dirty="0"/>
              <a:t>每一个</a:t>
            </a:r>
            <a:r>
              <a:rPr lang="zh-CN" altLang="en-US" sz="1600" dirty="0">
                <a:latin typeface="+mj-ea"/>
                <a:ea typeface="+mj-ea"/>
              </a:rPr>
              <a:t>原子</a:t>
            </a:r>
            <a:r>
              <a:rPr lang="zh-CN" altLang="en-US" sz="1600" dirty="0"/>
              <a:t>条件（即不能再拆分的最基本条件），都要让它分别取“真”和“假”至少一次；避免短路</a:t>
            </a:r>
            <a:r>
              <a:rPr lang="en-US" sz="1600" dirty="0"/>
              <a:t> </a:t>
            </a:r>
            <a:endParaRPr sz="1600" dirty="0"/>
          </a:p>
        </p:txBody>
      </p:sp>
      <p:sp>
        <p:nvSpPr>
          <p:cNvPr id="4" name="TextBox 33">
            <a:extLst>
              <a:ext uri="{FF2B5EF4-FFF2-40B4-BE49-F238E27FC236}">
                <a16:creationId xmlns:a16="http://schemas.microsoft.com/office/drawing/2014/main" id="{D9080583-C3E2-91A2-5167-756C491C22A3}"/>
              </a:ext>
            </a:extLst>
          </p:cNvPr>
          <p:cNvSpPr txBox="1"/>
          <p:nvPr/>
        </p:nvSpPr>
        <p:spPr>
          <a:xfrm>
            <a:off x="696000" y="3822180"/>
            <a:ext cx="5400000" cy="2753025"/>
          </a:xfrm>
          <a:prstGeom prst="rect">
            <a:avLst/>
          </a:prstGeom>
          <a:solidFill>
            <a:schemeClr val="bg1">
              <a:lumMod val="95000"/>
            </a:schemeClr>
          </a:solidFill>
        </p:spPr>
        <p:txBody>
          <a:bodyPr wrap="square" lIns="144000" tIns="144000" rIns="144000" bIns="144000">
            <a:spAutoFit/>
          </a:bodyPr>
          <a:lstStyle/>
          <a:p>
            <a:r>
              <a:rPr lang="zh-CN" altLang="en-US" sz="1600" dirty="0"/>
              <a:t>本题条件拆分：</a:t>
            </a:r>
            <a:endParaRPr lang="en-US" altLang="zh-CN" sz="1600" dirty="0"/>
          </a:p>
          <a:p>
            <a:r>
              <a:rPr lang="en-US" altLang="zh-CN" sz="1600" dirty="0"/>
              <a:t>A=3</a:t>
            </a:r>
            <a:r>
              <a:rPr lang="zh-CN" altLang="en-US" sz="1600" dirty="0"/>
              <a:t>或</a:t>
            </a:r>
            <a:r>
              <a:rPr lang="en-US" altLang="zh-CN" sz="1600" dirty="0"/>
              <a:t>A≠3</a:t>
            </a:r>
            <a:r>
              <a:rPr lang="zh-CN" altLang="en-US" sz="1600" dirty="0"/>
              <a:t>，</a:t>
            </a:r>
            <a:r>
              <a:rPr lang="en-US" altLang="zh-CN" sz="1600" dirty="0"/>
              <a:t>B&gt;1</a:t>
            </a:r>
            <a:r>
              <a:rPr lang="zh-CN" altLang="en-US" sz="1600" dirty="0"/>
              <a:t>或</a:t>
            </a:r>
            <a:r>
              <a:rPr lang="en-US" altLang="zh-CN" sz="1600" dirty="0"/>
              <a:t>B≤1</a:t>
            </a:r>
          </a:p>
          <a:p>
            <a:r>
              <a:rPr lang="en-US" altLang="zh-CN" sz="1600" dirty="0"/>
              <a:t>A&gt;2</a:t>
            </a:r>
            <a:r>
              <a:rPr lang="zh-CN" altLang="en-US" sz="1600" dirty="0"/>
              <a:t>或</a:t>
            </a:r>
            <a:r>
              <a:rPr lang="en-US" altLang="zh-CN" sz="1600" dirty="0"/>
              <a:t>A≤2</a:t>
            </a:r>
            <a:r>
              <a:rPr lang="zh-CN" altLang="en-US" sz="1600" dirty="0"/>
              <a:t>，</a:t>
            </a:r>
            <a:r>
              <a:rPr lang="en-US" altLang="zh-CN" sz="1600" dirty="0"/>
              <a:t>B=0</a:t>
            </a:r>
            <a:r>
              <a:rPr lang="zh-CN" altLang="en-US" sz="1600" dirty="0"/>
              <a:t>或</a:t>
            </a:r>
            <a:r>
              <a:rPr lang="en-US" altLang="zh-CN" sz="1600" dirty="0"/>
              <a:t>B≠0</a:t>
            </a:r>
          </a:p>
          <a:p>
            <a:endParaRPr lang="zh-CN" altLang="en-US" sz="1600" dirty="0"/>
          </a:p>
          <a:p>
            <a:r>
              <a:rPr lang="zh-CN" altLang="en-US" sz="1600" dirty="0"/>
              <a:t>测试数据：</a:t>
            </a:r>
            <a:r>
              <a:rPr lang="en-US" altLang="zh-CN" sz="1600" dirty="0"/>
              <a:t>A=2</a:t>
            </a:r>
            <a:r>
              <a:rPr lang="zh-CN" altLang="en-US" sz="1600" dirty="0"/>
              <a:t>，</a:t>
            </a:r>
            <a:r>
              <a:rPr lang="en-US" altLang="zh-CN" sz="1600" dirty="0"/>
              <a:t>B=2</a:t>
            </a:r>
            <a:r>
              <a:rPr lang="zh-CN" altLang="en-US" sz="1600" dirty="0"/>
              <a:t>时（</a:t>
            </a:r>
            <a:r>
              <a:rPr lang="en-US" altLang="zh-CN" sz="1600" dirty="0"/>
              <a:t>A≠3</a:t>
            </a:r>
            <a:r>
              <a:rPr lang="zh-CN" altLang="en-US" sz="1600" dirty="0"/>
              <a:t>，</a:t>
            </a:r>
            <a:r>
              <a:rPr lang="en-US" altLang="zh-CN" sz="1600" dirty="0"/>
              <a:t>B&gt;1</a:t>
            </a:r>
            <a:r>
              <a:rPr lang="zh-CN" altLang="en-US" sz="1600" dirty="0"/>
              <a:t>，</a:t>
            </a:r>
            <a:r>
              <a:rPr lang="en-US" altLang="zh-CN" sz="1600" dirty="0"/>
              <a:t>A≤2</a:t>
            </a:r>
            <a:r>
              <a:rPr lang="zh-CN" altLang="en-US" sz="1600" dirty="0"/>
              <a:t>，</a:t>
            </a:r>
            <a:r>
              <a:rPr lang="en-US" altLang="zh-CN" sz="1600" dirty="0"/>
              <a:t>B≠0</a:t>
            </a:r>
            <a:r>
              <a:rPr lang="zh-CN" altLang="en-US" sz="1600" dirty="0"/>
              <a:t>）</a:t>
            </a:r>
            <a:endParaRPr lang="en-US" altLang="zh-CN" sz="1600" dirty="0"/>
          </a:p>
          <a:p>
            <a:r>
              <a:rPr lang="zh-CN" altLang="en-US" sz="1600" dirty="0"/>
              <a:t>执行路径：</a:t>
            </a:r>
            <a:r>
              <a:rPr lang="en-US" altLang="zh-CN" sz="1600" dirty="0" err="1"/>
              <a:t>s→a→c→b→e</a:t>
            </a:r>
            <a:r>
              <a:rPr lang="zh-CN" altLang="en-US" sz="1600" dirty="0"/>
              <a:t>；</a:t>
            </a:r>
            <a:endParaRPr lang="en-US" altLang="zh-CN" sz="1600" dirty="0"/>
          </a:p>
          <a:p>
            <a:endParaRPr lang="en-US" altLang="zh-CN" sz="1600" dirty="0"/>
          </a:p>
          <a:p>
            <a:r>
              <a:rPr lang="zh-CN" altLang="en-US" sz="1600" dirty="0"/>
              <a:t>测试数据：</a:t>
            </a:r>
            <a:r>
              <a:rPr lang="en-US" altLang="zh-CN" sz="1600" dirty="0"/>
              <a:t>A=3</a:t>
            </a:r>
            <a:r>
              <a:rPr lang="zh-CN" altLang="en-US" sz="1600" dirty="0"/>
              <a:t>，</a:t>
            </a:r>
            <a:r>
              <a:rPr lang="en-US" altLang="zh-CN" sz="1600" dirty="0"/>
              <a:t>B=0</a:t>
            </a:r>
            <a:r>
              <a:rPr lang="zh-CN" altLang="en-US" sz="1600" dirty="0"/>
              <a:t>时（</a:t>
            </a:r>
            <a:r>
              <a:rPr lang="en-US" altLang="zh-CN" sz="1600" dirty="0"/>
              <a:t>A=3</a:t>
            </a:r>
            <a:r>
              <a:rPr lang="zh-CN" altLang="en-US" sz="1600" dirty="0"/>
              <a:t>，</a:t>
            </a:r>
            <a:r>
              <a:rPr lang="en-US" altLang="zh-CN" sz="1600" dirty="0"/>
              <a:t>B≤1</a:t>
            </a:r>
            <a:r>
              <a:rPr lang="zh-CN" altLang="en-US" sz="1600" dirty="0"/>
              <a:t>，</a:t>
            </a:r>
            <a:r>
              <a:rPr lang="en-US" altLang="zh-CN" sz="1600" dirty="0"/>
              <a:t>A&gt;2</a:t>
            </a:r>
            <a:r>
              <a:rPr lang="zh-CN" altLang="en-US" sz="1600" dirty="0"/>
              <a:t>，</a:t>
            </a:r>
            <a:r>
              <a:rPr lang="en-US" altLang="zh-CN" sz="1600" dirty="0"/>
              <a:t>B=0</a:t>
            </a:r>
            <a:r>
              <a:rPr lang="zh-CN" altLang="en-US" sz="1600" dirty="0"/>
              <a:t>）</a:t>
            </a:r>
            <a:endParaRPr lang="en-US" altLang="zh-CN" sz="1600" dirty="0"/>
          </a:p>
          <a:p>
            <a:r>
              <a:rPr lang="zh-CN" altLang="en-US" sz="1600" dirty="0"/>
              <a:t>执行路径：</a:t>
            </a:r>
            <a:r>
              <a:rPr lang="en-US" altLang="zh-CN" sz="1600" dirty="0" err="1"/>
              <a:t>s→a→c→b→d→e</a:t>
            </a:r>
            <a:r>
              <a:rPr lang="zh-CN" altLang="en-US" sz="1600" dirty="0"/>
              <a:t>。</a:t>
            </a:r>
          </a:p>
          <a:p>
            <a:r>
              <a:rPr lang="zh-CN" altLang="en-US" sz="1600" dirty="0"/>
              <a:t>这里</a:t>
            </a:r>
            <a:r>
              <a:rPr lang="en-US" altLang="zh-CN" sz="1600" dirty="0" err="1"/>
              <a:t>a→b</a:t>
            </a:r>
            <a:r>
              <a:rPr lang="zh-CN" altLang="en-US" sz="1600" dirty="0"/>
              <a:t>这条路径未走，比判定覆盖少走了一条路径。</a:t>
            </a:r>
          </a:p>
        </p:txBody>
      </p:sp>
      <p:pic>
        <p:nvPicPr>
          <p:cNvPr id="2" name="图片 124">
            <a:extLst>
              <a:ext uri="{FF2B5EF4-FFF2-40B4-BE49-F238E27FC236}">
                <a16:creationId xmlns:a16="http://schemas.microsoft.com/office/drawing/2014/main" id="{FCD2A06B-498A-C12A-8104-445AE1F18F58}"/>
              </a:ext>
            </a:extLst>
          </p:cNvPr>
          <p:cNvPicPr preferRelativeResize="0">
            <a:picLocks noChangeAspect="1" noChangeArrowheads="1"/>
          </p:cNvPicPr>
          <p:nvPr/>
        </p:nvPicPr>
        <p:blipFill>
          <a:blip r:embed="rId3" cstate="print"/>
          <a:srcRect/>
          <a:stretch>
            <a:fillRect/>
          </a:stretch>
        </p:blipFill>
        <p:spPr bwMode="auto">
          <a:xfrm>
            <a:off x="7744826" y="3229325"/>
            <a:ext cx="3462415" cy="3108960"/>
          </a:xfrm>
          <a:prstGeom prst="rect">
            <a:avLst/>
          </a:prstGeom>
          <a:noFill/>
          <a:ln w="9525">
            <a:noFill/>
            <a:miter lim="800000"/>
            <a:headEnd/>
            <a:tailEnd/>
          </a:ln>
        </p:spPr>
      </p:pic>
      <p:sp>
        <p:nvSpPr>
          <p:cNvPr id="5" name="TextBox 33">
            <a:extLst>
              <a:ext uri="{FF2B5EF4-FFF2-40B4-BE49-F238E27FC236}">
                <a16:creationId xmlns:a16="http://schemas.microsoft.com/office/drawing/2014/main" id="{30A48C9F-49B3-75E1-1379-A60BE7B3A13E}"/>
              </a:ext>
            </a:extLst>
          </p:cNvPr>
          <p:cNvSpPr txBox="1"/>
          <p:nvPr/>
        </p:nvSpPr>
        <p:spPr>
          <a:xfrm>
            <a:off x="7096067" y="1812994"/>
            <a:ext cx="4759933" cy="1398808"/>
          </a:xfrm>
          <a:prstGeom prst="rect">
            <a:avLst/>
          </a:prstGeom>
          <a:solidFill>
            <a:schemeClr val="bg1">
              <a:lumMod val="95000"/>
            </a:schemeClr>
          </a:solidFill>
        </p:spPr>
        <p:txBody>
          <a:bodyPr wrap="square" lIns="144000" tIns="144000" rIns="144000" bIns="144000">
            <a:spAutoFit/>
          </a:bodyPr>
          <a:lstStyle/>
          <a:p>
            <a:r>
              <a:rPr lang="zh-CN" altLang="en-US" dirty="0"/>
              <a:t>Begin</a:t>
            </a:r>
          </a:p>
          <a:p>
            <a:r>
              <a:rPr lang="zh-CN" altLang="en-US" dirty="0"/>
              <a:t>    IF (A=3)  OR  (B&gt;1)  Then  X:=A*B  Endif</a:t>
            </a:r>
          </a:p>
          <a:p>
            <a:r>
              <a:rPr lang="zh-CN" altLang="en-US" dirty="0"/>
              <a:t>    IF (A&gt;2)  AND  (B=0)  Then  X:=A-3  Endif</a:t>
            </a:r>
          </a:p>
          <a:p>
            <a:r>
              <a:rPr lang="zh-CN" altLang="en-US" dirty="0"/>
              <a:t>End</a:t>
            </a:r>
          </a:p>
        </p:txBody>
      </p:sp>
    </p:spTree>
    <p:extLst>
      <p:ext uri="{BB962C8B-B14F-4D97-AF65-F5344CB8AC3E}">
        <p14:creationId xmlns:p14="http://schemas.microsoft.com/office/powerpoint/2010/main" val="2611796325"/>
      </p:ext>
    </p:extLst>
  </p:cSld>
  <p:clrMapOvr>
    <a:masterClrMapping/>
  </p:clrMapOvr>
  <p:transition>
    <p:pull dir="rd"/>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DF300-9122-8E39-A23A-CF38B1796482}"/>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A27683AA-F6C3-D8BE-FD5F-6E6B9FD65540}"/>
              </a:ext>
            </a:extLst>
          </p:cNvPr>
          <p:cNvSpPr>
            <a:spLocks noGrp="1"/>
          </p:cNvSpPr>
          <p:nvPr>
            <p:ph type="title"/>
          </p:nvPr>
        </p:nvSpPr>
        <p:spPr>
          <a:xfrm>
            <a:off x="336000" y="360000"/>
            <a:ext cx="5760000" cy="535531"/>
          </a:xfrm>
        </p:spPr>
        <p:txBody>
          <a:bodyPr/>
          <a:lstStyle/>
          <a:p>
            <a:r>
              <a:rPr lang="en-US" dirty="0"/>
              <a:t>4.5 </a:t>
            </a:r>
            <a:r>
              <a:rPr lang="zh-CN" altLang="en-US" dirty="0"/>
              <a:t>设计软件测试方案</a:t>
            </a:r>
            <a:endParaRPr lang="zh-CN" altLang="en-US" dirty="0">
              <a:sym typeface="+mn-ea"/>
            </a:endParaRPr>
          </a:p>
        </p:txBody>
      </p:sp>
      <p:sp>
        <p:nvSpPr>
          <p:cNvPr id="13" name="文本占位符 12">
            <a:extLst>
              <a:ext uri="{FF2B5EF4-FFF2-40B4-BE49-F238E27FC236}">
                <a16:creationId xmlns:a16="http://schemas.microsoft.com/office/drawing/2014/main" id="{E743A8BC-546D-77A4-6989-7AFDADF9207B}"/>
              </a:ext>
            </a:extLst>
          </p:cNvPr>
          <p:cNvSpPr>
            <a:spLocks noGrp="1"/>
          </p:cNvSpPr>
          <p:nvPr>
            <p:ph type="body" sz="quarter" idx="10"/>
          </p:nvPr>
        </p:nvSpPr>
        <p:spPr>
          <a:xfrm>
            <a:off x="696000" y="1322832"/>
            <a:ext cx="5400000" cy="400110"/>
          </a:xfrm>
        </p:spPr>
        <p:txBody>
          <a:bodyPr/>
          <a:lstStyle/>
          <a:p>
            <a:r>
              <a:rPr lang="en-US" altLang="zh-CN" dirty="0">
                <a:sym typeface="+mn-ea"/>
              </a:rPr>
              <a:t>4.5.4 </a:t>
            </a:r>
            <a:r>
              <a:rPr lang="zh-CN" altLang="en-US" dirty="0">
                <a:sym typeface="+mn-ea"/>
              </a:rPr>
              <a:t>逻辑覆盖法</a:t>
            </a:r>
            <a:endParaRPr lang="zh-CN" altLang="en-US" dirty="0"/>
          </a:p>
        </p:txBody>
      </p:sp>
      <p:sp>
        <p:nvSpPr>
          <p:cNvPr id="24" name="文本占位符 23">
            <a:extLst>
              <a:ext uri="{FF2B5EF4-FFF2-40B4-BE49-F238E27FC236}">
                <a16:creationId xmlns:a16="http://schemas.microsoft.com/office/drawing/2014/main" id="{C7D9FF87-18BA-62F5-491C-2B02A01767A6}"/>
              </a:ext>
            </a:extLst>
          </p:cNvPr>
          <p:cNvSpPr>
            <a:spLocks noGrp="1"/>
          </p:cNvSpPr>
          <p:nvPr>
            <p:ph type="body" sz="quarter" idx="11"/>
          </p:nvPr>
        </p:nvSpPr>
        <p:spPr>
          <a:xfrm>
            <a:off x="6096000" y="360128"/>
            <a:ext cx="5760000" cy="400110"/>
          </a:xfrm>
        </p:spPr>
        <p:txBody>
          <a:bodyPr/>
          <a:lstStyle/>
          <a:p>
            <a:r>
              <a:rPr lang="en-US" altLang="zh-CN" dirty="0"/>
              <a:t>Schema</a:t>
            </a:r>
            <a:endParaRPr lang="zh-CN" altLang="en-US" dirty="0"/>
          </a:p>
        </p:txBody>
      </p:sp>
      <p:sp>
        <p:nvSpPr>
          <p:cNvPr id="7" name="TextBox 1">
            <a:extLst>
              <a:ext uri="{FF2B5EF4-FFF2-40B4-BE49-F238E27FC236}">
                <a16:creationId xmlns:a16="http://schemas.microsoft.com/office/drawing/2014/main" id="{F19B9C1B-74DB-CC2F-C56E-019BB8FAB8BD}"/>
              </a:ext>
            </a:extLst>
          </p:cNvPr>
          <p:cNvSpPr txBox="1">
            <a:spLocks noChangeArrowheads="1"/>
          </p:cNvSpPr>
          <p:nvPr/>
        </p:nvSpPr>
        <p:spPr bwMode="auto">
          <a:xfrm>
            <a:off x="636441" y="1762042"/>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algn="ctr" eaLnBrk="1" hangingPunct="1"/>
            <a:r>
              <a:rPr lang="en-US" sz="2800" dirty="0">
                <a:solidFill>
                  <a:srgbClr val="E67819"/>
                </a:solidFill>
                <a:latin typeface="Times New Roman" panose="02020603050405020304" pitchFamily="18" charset="0"/>
                <a:ea typeface="MS UI Gothic" panose="020B0600070205080204" charset="-128"/>
              </a:rPr>
              <a:t>3</a:t>
            </a:r>
          </a:p>
        </p:txBody>
      </p:sp>
      <p:cxnSp>
        <p:nvCxnSpPr>
          <p:cNvPr id="8" name="直接连接符 7">
            <a:extLst>
              <a:ext uri="{FF2B5EF4-FFF2-40B4-BE49-F238E27FC236}">
                <a16:creationId xmlns:a16="http://schemas.microsoft.com/office/drawing/2014/main" id="{7E25D628-973F-DEE3-F8E4-5DB3EBFCCF15}"/>
              </a:ext>
            </a:extLst>
          </p:cNvPr>
          <p:cNvCxnSpPr>
            <a:cxnSpLocks/>
          </p:cNvCxnSpPr>
          <p:nvPr/>
        </p:nvCxnSpPr>
        <p:spPr>
          <a:xfrm flipH="1">
            <a:off x="636441" y="1728377"/>
            <a:ext cx="37932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9" name="矩形 7">
            <a:extLst>
              <a:ext uri="{FF2B5EF4-FFF2-40B4-BE49-F238E27FC236}">
                <a16:creationId xmlns:a16="http://schemas.microsoft.com/office/drawing/2014/main" id="{8C88F724-C336-18AA-0E03-D4D7D7EC87B2}"/>
              </a:ext>
            </a:extLst>
          </p:cNvPr>
          <p:cNvSpPr>
            <a:spLocks noChangeArrowheads="1"/>
          </p:cNvSpPr>
          <p:nvPr/>
        </p:nvSpPr>
        <p:spPr bwMode="auto">
          <a:xfrm>
            <a:off x="924030" y="1838986"/>
            <a:ext cx="52484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dirty="0">
                <a:solidFill>
                  <a:srgbClr val="E67819"/>
                </a:solidFill>
                <a:latin typeface="+mj-ea"/>
                <a:ea typeface="+mj-ea"/>
              </a:rPr>
              <a:t>条件覆盖 </a:t>
            </a:r>
            <a:r>
              <a:rPr lang="en-US" altLang="zh-CN" sz="1600" dirty="0">
                <a:solidFill>
                  <a:srgbClr val="E67819"/>
                </a:solidFill>
                <a:latin typeface="+mj-ea"/>
                <a:ea typeface="+mj-ea"/>
              </a:rPr>
              <a:t>Condition Coverage</a:t>
            </a:r>
            <a:endParaRPr lang="zh-CN" altLang="en-US" dirty="0">
              <a:solidFill>
                <a:srgbClr val="E67819"/>
              </a:solidFill>
              <a:latin typeface="+mj-ea"/>
              <a:ea typeface="+mj-ea"/>
            </a:endParaRPr>
          </a:p>
        </p:txBody>
      </p:sp>
      <p:sp>
        <p:nvSpPr>
          <p:cNvPr id="10" name="矩形 8">
            <a:extLst>
              <a:ext uri="{FF2B5EF4-FFF2-40B4-BE49-F238E27FC236}">
                <a16:creationId xmlns:a16="http://schemas.microsoft.com/office/drawing/2014/main" id="{EE4265AD-3132-E135-7C9C-C75A5428E5AF}"/>
              </a:ext>
            </a:extLst>
          </p:cNvPr>
          <p:cNvSpPr>
            <a:spLocks noChangeArrowheads="1"/>
          </p:cNvSpPr>
          <p:nvPr/>
        </p:nvSpPr>
        <p:spPr bwMode="auto">
          <a:xfrm>
            <a:off x="924030" y="2147871"/>
            <a:ext cx="5759999" cy="1662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30000"/>
              </a:lnSpc>
            </a:pPr>
            <a:r>
              <a:rPr sz="1600" dirty="0" err="1"/>
              <a:t>不仅每个语句都至少执行一次，而且使每个判定表达式中的每个条件都取到各种可能的值，从而可测试比较复杂的路径</a:t>
            </a:r>
            <a:r>
              <a:rPr sz="1600" dirty="0"/>
              <a:t>。</a:t>
            </a:r>
            <a:endParaRPr lang="en-US" sz="1600" dirty="0"/>
          </a:p>
          <a:p>
            <a:pPr algn="just">
              <a:lnSpc>
                <a:spcPct val="130000"/>
              </a:lnSpc>
            </a:pPr>
            <a:r>
              <a:rPr lang="zh-CN" altLang="en-US" sz="1600" dirty="0"/>
              <a:t>主要是面向复合条件判断</a:t>
            </a:r>
            <a:endParaRPr lang="en-US" altLang="zh-CN" sz="1600" dirty="0"/>
          </a:p>
          <a:p>
            <a:pPr algn="just">
              <a:lnSpc>
                <a:spcPct val="130000"/>
              </a:lnSpc>
            </a:pPr>
            <a:r>
              <a:rPr lang="zh-CN" altLang="en-US" sz="1600" dirty="0"/>
              <a:t>每一个</a:t>
            </a:r>
            <a:r>
              <a:rPr lang="zh-CN" altLang="en-US" sz="1600" dirty="0">
                <a:latin typeface="+mj-ea"/>
                <a:ea typeface="+mj-ea"/>
              </a:rPr>
              <a:t>原子</a:t>
            </a:r>
            <a:r>
              <a:rPr lang="zh-CN" altLang="en-US" sz="1600" dirty="0"/>
              <a:t>条件（即不能再拆分的最基本条件），都要让它分别取“真”和“假”至少一次</a:t>
            </a:r>
            <a:endParaRPr sz="1600" dirty="0"/>
          </a:p>
        </p:txBody>
      </p:sp>
      <p:pic>
        <p:nvPicPr>
          <p:cNvPr id="2" name="图片 124">
            <a:extLst>
              <a:ext uri="{FF2B5EF4-FFF2-40B4-BE49-F238E27FC236}">
                <a16:creationId xmlns:a16="http://schemas.microsoft.com/office/drawing/2014/main" id="{1BE2899A-6A0D-8BDD-B09F-8AAE22FC58D1}"/>
              </a:ext>
            </a:extLst>
          </p:cNvPr>
          <p:cNvPicPr preferRelativeResize="0">
            <a:picLocks noChangeAspect="1" noChangeArrowheads="1"/>
          </p:cNvPicPr>
          <p:nvPr/>
        </p:nvPicPr>
        <p:blipFill>
          <a:blip r:embed="rId3" cstate="print"/>
          <a:srcRect/>
          <a:stretch>
            <a:fillRect/>
          </a:stretch>
        </p:blipFill>
        <p:spPr bwMode="auto">
          <a:xfrm>
            <a:off x="7744826" y="3229325"/>
            <a:ext cx="3462415" cy="3108960"/>
          </a:xfrm>
          <a:prstGeom prst="rect">
            <a:avLst/>
          </a:prstGeom>
          <a:noFill/>
          <a:ln w="9525">
            <a:noFill/>
            <a:miter lim="800000"/>
            <a:headEnd/>
            <a:tailEnd/>
          </a:ln>
        </p:spPr>
      </p:pic>
      <p:sp>
        <p:nvSpPr>
          <p:cNvPr id="5" name="TextBox 33">
            <a:extLst>
              <a:ext uri="{FF2B5EF4-FFF2-40B4-BE49-F238E27FC236}">
                <a16:creationId xmlns:a16="http://schemas.microsoft.com/office/drawing/2014/main" id="{B3354AA6-85B6-6E37-FE3A-F35B7B250CD4}"/>
              </a:ext>
            </a:extLst>
          </p:cNvPr>
          <p:cNvSpPr txBox="1"/>
          <p:nvPr/>
        </p:nvSpPr>
        <p:spPr>
          <a:xfrm>
            <a:off x="7096067" y="1812994"/>
            <a:ext cx="4759933" cy="1398808"/>
          </a:xfrm>
          <a:prstGeom prst="rect">
            <a:avLst/>
          </a:prstGeom>
          <a:solidFill>
            <a:schemeClr val="bg1">
              <a:lumMod val="95000"/>
            </a:schemeClr>
          </a:solidFill>
        </p:spPr>
        <p:txBody>
          <a:bodyPr wrap="square" lIns="144000" tIns="144000" rIns="144000" bIns="144000">
            <a:spAutoFit/>
          </a:bodyPr>
          <a:lstStyle/>
          <a:p>
            <a:r>
              <a:rPr lang="zh-CN" altLang="en-US" dirty="0"/>
              <a:t>Begin</a:t>
            </a:r>
          </a:p>
          <a:p>
            <a:r>
              <a:rPr lang="zh-CN" altLang="en-US" dirty="0"/>
              <a:t>    IF (A=3)  OR  (B&gt;1)  Then  X:=A*B  Endif</a:t>
            </a:r>
          </a:p>
          <a:p>
            <a:r>
              <a:rPr lang="zh-CN" altLang="en-US" dirty="0"/>
              <a:t>    IF (A&gt;2)  AND  (B=0)  Then  X:=A-3  Endif</a:t>
            </a:r>
          </a:p>
          <a:p>
            <a:r>
              <a:rPr lang="zh-CN" altLang="en-US" dirty="0"/>
              <a:t>End</a:t>
            </a:r>
          </a:p>
        </p:txBody>
      </p:sp>
      <p:graphicFrame>
        <p:nvGraphicFramePr>
          <p:cNvPr id="6" name="表格 5">
            <a:extLst>
              <a:ext uri="{FF2B5EF4-FFF2-40B4-BE49-F238E27FC236}">
                <a16:creationId xmlns:a16="http://schemas.microsoft.com/office/drawing/2014/main" id="{2C18E078-DFD2-5B38-580E-4376DC852F76}"/>
              </a:ext>
            </a:extLst>
          </p:cNvPr>
          <p:cNvGraphicFramePr>
            <a:graphicFrameLocks noGrp="1"/>
          </p:cNvGraphicFramePr>
          <p:nvPr>
            <p:extLst>
              <p:ext uri="{D42A27DB-BD31-4B8C-83A1-F6EECF244321}">
                <p14:modId xmlns:p14="http://schemas.microsoft.com/office/powerpoint/2010/main" val="1595129936"/>
              </p:ext>
            </p:extLst>
          </p:nvPr>
        </p:nvGraphicFramePr>
        <p:xfrm>
          <a:off x="695999" y="4155257"/>
          <a:ext cx="5988029" cy="1920240"/>
        </p:xfrm>
        <a:graphic>
          <a:graphicData uri="http://schemas.openxmlformats.org/drawingml/2006/table">
            <a:tbl>
              <a:tblPr/>
              <a:tblGrid>
                <a:gridCol w="1228050">
                  <a:extLst>
                    <a:ext uri="{9D8B030D-6E8A-4147-A177-3AD203B41FA5}">
                      <a16:colId xmlns:a16="http://schemas.microsoft.com/office/drawing/2014/main" val="3546333921"/>
                    </a:ext>
                  </a:extLst>
                </a:gridCol>
                <a:gridCol w="1631486">
                  <a:extLst>
                    <a:ext uri="{9D8B030D-6E8A-4147-A177-3AD203B41FA5}">
                      <a16:colId xmlns:a16="http://schemas.microsoft.com/office/drawing/2014/main" val="1178070886"/>
                    </a:ext>
                  </a:extLst>
                </a:gridCol>
                <a:gridCol w="1631486">
                  <a:extLst>
                    <a:ext uri="{9D8B030D-6E8A-4147-A177-3AD203B41FA5}">
                      <a16:colId xmlns:a16="http://schemas.microsoft.com/office/drawing/2014/main" val="3578129984"/>
                    </a:ext>
                  </a:extLst>
                </a:gridCol>
                <a:gridCol w="1497007">
                  <a:extLst>
                    <a:ext uri="{9D8B030D-6E8A-4147-A177-3AD203B41FA5}">
                      <a16:colId xmlns:a16="http://schemas.microsoft.com/office/drawing/2014/main" val="86621998"/>
                    </a:ext>
                  </a:extLst>
                </a:gridCol>
              </a:tblGrid>
              <a:tr h="0">
                <a:tc>
                  <a:txBody>
                    <a:bodyPr/>
                    <a:lstStyle/>
                    <a:p>
                      <a:pPr algn="l">
                        <a:buNone/>
                      </a:pPr>
                      <a:r>
                        <a:rPr lang="zh-CN" altLang="en-US" sz="1600" dirty="0"/>
                        <a:t>原子条件</a:t>
                      </a:r>
                    </a:p>
                  </a:txBody>
                  <a:tcPr anchor="ctr">
                    <a:lnL>
                      <a:noFill/>
                    </a:lnL>
                    <a:lnR>
                      <a:noFill/>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zh-CN" altLang="en-US" sz="1600" dirty="0"/>
                        <a:t>测试用例 </a:t>
                      </a:r>
                      <a:r>
                        <a:rPr lang="en-US" altLang="zh-CN" sz="1600" dirty="0"/>
                        <a:t>1 (</a:t>
                      </a:r>
                      <a:r>
                        <a:rPr lang="en-US" sz="1600" dirty="0"/>
                        <a:t>A=2, B=2)</a:t>
                      </a:r>
                    </a:p>
                  </a:txBody>
                  <a:tcPr anchor="ctr">
                    <a:lnL>
                      <a:noFill/>
                    </a:lnL>
                    <a:lnR>
                      <a:noFill/>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zh-CN" altLang="en-US" sz="1600" dirty="0"/>
                        <a:t>测试用例 </a:t>
                      </a:r>
                      <a:r>
                        <a:rPr lang="en-US" altLang="zh-CN" sz="1600" dirty="0"/>
                        <a:t>2 (</a:t>
                      </a:r>
                      <a:r>
                        <a:rPr lang="en-US" sz="1600" dirty="0"/>
                        <a:t>A=3, B=0)</a:t>
                      </a:r>
                    </a:p>
                  </a:txBody>
                  <a:tcPr anchor="ctr">
                    <a:lnL>
                      <a:noFill/>
                    </a:lnL>
                    <a:lnR>
                      <a:noFill/>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zh-CN" altLang="en-US" sz="1600" dirty="0"/>
                        <a:t>是否完成覆盖</a:t>
                      </a:r>
                    </a:p>
                  </a:txBody>
                  <a:tcPr anchor="ctr">
                    <a:lnL>
                      <a:noFill/>
                    </a:lnL>
                    <a:lnR>
                      <a:noFill/>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1911893"/>
                  </a:ext>
                </a:extLst>
              </a:tr>
              <a:tr h="0">
                <a:tc>
                  <a:txBody>
                    <a:bodyPr/>
                    <a:lstStyle/>
                    <a:p>
                      <a:pPr algn="l">
                        <a:buNone/>
                      </a:pPr>
                      <a:r>
                        <a:rPr lang="en-US" sz="1600"/>
                        <a:t>A=3</a:t>
                      </a:r>
                    </a:p>
                  </a:txBody>
                  <a:tcPr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l">
                        <a:buNone/>
                      </a:pPr>
                      <a:r>
                        <a:rPr lang="zh-CN" altLang="en-US" sz="1600" dirty="0"/>
                        <a:t>假 </a:t>
                      </a:r>
                      <a:r>
                        <a:rPr lang="en-US" altLang="zh-CN" sz="1600" dirty="0"/>
                        <a:t>(</a:t>
                      </a:r>
                      <a:r>
                        <a:rPr lang="en-US" sz="1600" dirty="0"/>
                        <a:t>A=2)</a:t>
                      </a:r>
                    </a:p>
                  </a:txBody>
                  <a:tcPr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l">
                        <a:buNone/>
                      </a:pPr>
                      <a:r>
                        <a:rPr lang="zh-CN" altLang="en-US" sz="1600" dirty="0"/>
                        <a:t>真 </a:t>
                      </a:r>
                      <a:r>
                        <a:rPr lang="en-US" altLang="zh-CN" sz="1600" dirty="0"/>
                        <a:t>(</a:t>
                      </a:r>
                      <a:r>
                        <a:rPr lang="en-US" sz="1600" dirty="0"/>
                        <a:t>A=3)</a:t>
                      </a:r>
                    </a:p>
                  </a:txBody>
                  <a:tcPr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l">
                        <a:buNone/>
                      </a:pPr>
                      <a:r>
                        <a:rPr lang="zh-CN" altLang="en-US" sz="1600" dirty="0"/>
                        <a:t>✅ 是</a:t>
                      </a:r>
                    </a:p>
                  </a:txBody>
                  <a:tcPr anchor="ctr">
                    <a:lnL>
                      <a:noFill/>
                    </a:lnL>
                    <a:lnR>
                      <a:noFill/>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790475262"/>
                  </a:ext>
                </a:extLst>
              </a:tr>
              <a:tr h="0">
                <a:tc>
                  <a:txBody>
                    <a:bodyPr/>
                    <a:lstStyle/>
                    <a:p>
                      <a:pPr algn="l">
                        <a:buNone/>
                      </a:pPr>
                      <a:r>
                        <a:rPr lang="en-US" sz="1600"/>
                        <a:t>B&gt;1</a:t>
                      </a:r>
                    </a:p>
                  </a:txBody>
                  <a:tcPr anchor="ctr">
                    <a:lnL>
                      <a:noFill/>
                    </a:lnL>
                    <a:lnR>
                      <a:noFill/>
                    </a:lnR>
                    <a:lnT>
                      <a:noFill/>
                    </a:lnT>
                    <a:lnB>
                      <a:noFill/>
                    </a:lnB>
                    <a:noFill/>
                  </a:tcPr>
                </a:tc>
                <a:tc>
                  <a:txBody>
                    <a:bodyPr/>
                    <a:lstStyle/>
                    <a:p>
                      <a:pPr algn="l">
                        <a:buNone/>
                      </a:pPr>
                      <a:r>
                        <a:rPr lang="zh-CN" altLang="en-US" sz="1600"/>
                        <a:t>真 </a:t>
                      </a:r>
                      <a:r>
                        <a:rPr lang="en-US" altLang="zh-CN" sz="1600"/>
                        <a:t>(</a:t>
                      </a:r>
                      <a:r>
                        <a:rPr lang="en-US" sz="1600"/>
                        <a:t>B=2)</a:t>
                      </a:r>
                    </a:p>
                  </a:txBody>
                  <a:tcPr anchor="ctr">
                    <a:lnL>
                      <a:noFill/>
                    </a:lnL>
                    <a:lnR>
                      <a:noFill/>
                    </a:lnR>
                    <a:lnT>
                      <a:noFill/>
                    </a:lnT>
                    <a:lnB>
                      <a:noFill/>
                    </a:lnB>
                    <a:noFill/>
                  </a:tcPr>
                </a:tc>
                <a:tc>
                  <a:txBody>
                    <a:bodyPr/>
                    <a:lstStyle/>
                    <a:p>
                      <a:pPr algn="l">
                        <a:buNone/>
                      </a:pPr>
                      <a:r>
                        <a:rPr lang="zh-CN" altLang="en-US" sz="1600" dirty="0"/>
                        <a:t>假 </a:t>
                      </a:r>
                      <a:r>
                        <a:rPr lang="en-US" altLang="zh-CN" sz="1600" dirty="0"/>
                        <a:t>(</a:t>
                      </a:r>
                      <a:r>
                        <a:rPr lang="en-US" sz="1600" dirty="0"/>
                        <a:t>B=0)</a:t>
                      </a:r>
                    </a:p>
                  </a:txBody>
                  <a:tcPr anchor="ctr">
                    <a:lnL>
                      <a:noFill/>
                    </a:lnL>
                    <a:lnR>
                      <a:noFill/>
                    </a:lnR>
                    <a:lnT>
                      <a:noFill/>
                    </a:lnT>
                    <a:lnB>
                      <a:noFill/>
                    </a:lnB>
                    <a:noFill/>
                  </a:tcPr>
                </a:tc>
                <a:tc>
                  <a:txBody>
                    <a:bodyPr/>
                    <a:lstStyle/>
                    <a:p>
                      <a:pPr algn="l">
                        <a:buNone/>
                      </a:pPr>
                      <a:r>
                        <a:rPr lang="zh-CN" altLang="en-US" sz="1600"/>
                        <a:t>✅ 是</a:t>
                      </a:r>
                    </a:p>
                  </a:txBody>
                  <a:tcPr anchor="ctr">
                    <a:lnL>
                      <a:noFill/>
                    </a:lnL>
                    <a:lnR>
                      <a:noFill/>
                    </a:lnR>
                    <a:lnT>
                      <a:noFill/>
                    </a:lnT>
                    <a:lnB>
                      <a:noFill/>
                    </a:lnB>
                    <a:noFill/>
                  </a:tcPr>
                </a:tc>
                <a:extLst>
                  <a:ext uri="{0D108BD9-81ED-4DB2-BD59-A6C34878D82A}">
                    <a16:rowId xmlns:a16="http://schemas.microsoft.com/office/drawing/2014/main" val="3681963095"/>
                  </a:ext>
                </a:extLst>
              </a:tr>
              <a:tr h="0">
                <a:tc>
                  <a:txBody>
                    <a:bodyPr/>
                    <a:lstStyle/>
                    <a:p>
                      <a:pPr algn="l">
                        <a:buNone/>
                      </a:pPr>
                      <a:r>
                        <a:rPr lang="en-US" sz="1600"/>
                        <a:t>A&gt;2</a:t>
                      </a:r>
                    </a:p>
                  </a:txBody>
                  <a:tcPr anchor="ctr">
                    <a:lnL>
                      <a:noFill/>
                    </a:lnL>
                    <a:lnR>
                      <a:noFill/>
                    </a:lnR>
                    <a:lnT>
                      <a:noFill/>
                    </a:lnT>
                    <a:lnB>
                      <a:noFill/>
                    </a:lnB>
                    <a:noFill/>
                  </a:tcPr>
                </a:tc>
                <a:tc>
                  <a:txBody>
                    <a:bodyPr/>
                    <a:lstStyle/>
                    <a:p>
                      <a:pPr algn="l">
                        <a:buNone/>
                      </a:pPr>
                      <a:r>
                        <a:rPr lang="zh-CN" altLang="en-US" sz="1600"/>
                        <a:t>假 </a:t>
                      </a:r>
                      <a:r>
                        <a:rPr lang="en-US" altLang="zh-CN" sz="1600"/>
                        <a:t>(</a:t>
                      </a:r>
                      <a:r>
                        <a:rPr lang="en-US" sz="1600"/>
                        <a:t>A=2)</a:t>
                      </a:r>
                    </a:p>
                  </a:txBody>
                  <a:tcPr anchor="ctr">
                    <a:lnL>
                      <a:noFill/>
                    </a:lnL>
                    <a:lnR>
                      <a:noFill/>
                    </a:lnR>
                    <a:lnT>
                      <a:noFill/>
                    </a:lnT>
                    <a:lnB>
                      <a:noFill/>
                    </a:lnB>
                    <a:noFill/>
                  </a:tcPr>
                </a:tc>
                <a:tc>
                  <a:txBody>
                    <a:bodyPr/>
                    <a:lstStyle/>
                    <a:p>
                      <a:pPr algn="l">
                        <a:buNone/>
                      </a:pPr>
                      <a:r>
                        <a:rPr lang="zh-CN" altLang="en-US" sz="1600" dirty="0"/>
                        <a:t>真 </a:t>
                      </a:r>
                      <a:r>
                        <a:rPr lang="en-US" altLang="zh-CN" sz="1600" dirty="0"/>
                        <a:t>(</a:t>
                      </a:r>
                      <a:r>
                        <a:rPr lang="en-US" sz="1600" dirty="0"/>
                        <a:t>A=3)</a:t>
                      </a:r>
                    </a:p>
                  </a:txBody>
                  <a:tcPr anchor="ctr">
                    <a:lnL>
                      <a:noFill/>
                    </a:lnL>
                    <a:lnR>
                      <a:noFill/>
                    </a:lnR>
                    <a:lnT>
                      <a:noFill/>
                    </a:lnT>
                    <a:lnB>
                      <a:noFill/>
                    </a:lnB>
                    <a:noFill/>
                  </a:tcPr>
                </a:tc>
                <a:tc>
                  <a:txBody>
                    <a:bodyPr/>
                    <a:lstStyle/>
                    <a:p>
                      <a:pPr algn="l">
                        <a:buNone/>
                      </a:pPr>
                      <a:r>
                        <a:rPr lang="zh-CN" altLang="en-US" sz="1600"/>
                        <a:t>✅ 是</a:t>
                      </a:r>
                    </a:p>
                  </a:txBody>
                  <a:tcPr anchor="ctr">
                    <a:lnL>
                      <a:noFill/>
                    </a:lnL>
                    <a:lnR>
                      <a:noFill/>
                    </a:lnR>
                    <a:lnT>
                      <a:noFill/>
                    </a:lnT>
                    <a:lnB>
                      <a:noFill/>
                    </a:lnB>
                    <a:noFill/>
                  </a:tcPr>
                </a:tc>
                <a:extLst>
                  <a:ext uri="{0D108BD9-81ED-4DB2-BD59-A6C34878D82A}">
                    <a16:rowId xmlns:a16="http://schemas.microsoft.com/office/drawing/2014/main" val="3983972848"/>
                  </a:ext>
                </a:extLst>
              </a:tr>
              <a:tr h="0">
                <a:tc>
                  <a:txBody>
                    <a:bodyPr/>
                    <a:lstStyle/>
                    <a:p>
                      <a:pPr algn="l">
                        <a:buNone/>
                      </a:pPr>
                      <a:r>
                        <a:rPr lang="en-US" sz="1600"/>
                        <a:t>B=0</a:t>
                      </a:r>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a:t>假 </a:t>
                      </a:r>
                      <a:r>
                        <a:rPr lang="en-US" altLang="zh-CN" sz="1600"/>
                        <a:t>(</a:t>
                      </a:r>
                      <a:r>
                        <a:rPr lang="en-US" sz="1600"/>
                        <a:t>B=2)</a:t>
                      </a:r>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dirty="0"/>
                        <a:t>真 </a:t>
                      </a:r>
                      <a:r>
                        <a:rPr lang="en-US" altLang="zh-CN" sz="1600" dirty="0"/>
                        <a:t>(</a:t>
                      </a:r>
                      <a:r>
                        <a:rPr lang="en-US" sz="1600" dirty="0"/>
                        <a:t>B=0)</a:t>
                      </a:r>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dirty="0"/>
                        <a:t>✅ 是</a:t>
                      </a:r>
                    </a:p>
                  </a:txBody>
                  <a:tcPr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54420735"/>
                  </a:ext>
                </a:extLst>
              </a:tr>
            </a:tbl>
          </a:graphicData>
        </a:graphic>
      </p:graphicFrame>
    </p:spTree>
    <p:extLst>
      <p:ext uri="{BB962C8B-B14F-4D97-AF65-F5344CB8AC3E}">
        <p14:creationId xmlns:p14="http://schemas.microsoft.com/office/powerpoint/2010/main" val="1615773153"/>
      </p:ext>
    </p:extLst>
  </p:cSld>
  <p:clrMapOvr>
    <a:masterClrMapping/>
  </p:clrMapOvr>
  <p:transition>
    <p:pull dir="rd"/>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0404E-0AEB-45ED-5482-75959ABD4C02}"/>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FD8101C0-EAD8-D883-077A-25744F2A4F9E}"/>
              </a:ext>
            </a:extLst>
          </p:cNvPr>
          <p:cNvSpPr>
            <a:spLocks noGrp="1"/>
          </p:cNvSpPr>
          <p:nvPr>
            <p:ph type="title"/>
          </p:nvPr>
        </p:nvSpPr>
        <p:spPr>
          <a:xfrm>
            <a:off x="336000" y="360000"/>
            <a:ext cx="5760000" cy="535531"/>
          </a:xfrm>
        </p:spPr>
        <p:txBody>
          <a:bodyPr/>
          <a:lstStyle/>
          <a:p>
            <a:r>
              <a:rPr lang="en-US" dirty="0"/>
              <a:t>4.5 </a:t>
            </a:r>
            <a:r>
              <a:rPr lang="zh-CN" altLang="en-US" dirty="0"/>
              <a:t>设计软件测试方案</a:t>
            </a:r>
            <a:endParaRPr lang="zh-CN" altLang="en-US" dirty="0">
              <a:sym typeface="+mn-ea"/>
            </a:endParaRPr>
          </a:p>
        </p:txBody>
      </p:sp>
      <p:sp>
        <p:nvSpPr>
          <p:cNvPr id="13" name="文本占位符 12">
            <a:extLst>
              <a:ext uri="{FF2B5EF4-FFF2-40B4-BE49-F238E27FC236}">
                <a16:creationId xmlns:a16="http://schemas.microsoft.com/office/drawing/2014/main" id="{18598D72-C914-FBAB-95BF-CA87B1CF0808}"/>
              </a:ext>
            </a:extLst>
          </p:cNvPr>
          <p:cNvSpPr>
            <a:spLocks noGrp="1"/>
          </p:cNvSpPr>
          <p:nvPr>
            <p:ph type="body" sz="quarter" idx="10"/>
          </p:nvPr>
        </p:nvSpPr>
        <p:spPr>
          <a:xfrm>
            <a:off x="696000" y="1322832"/>
            <a:ext cx="5400000" cy="400110"/>
          </a:xfrm>
        </p:spPr>
        <p:txBody>
          <a:bodyPr/>
          <a:lstStyle/>
          <a:p>
            <a:r>
              <a:rPr lang="en-US" altLang="zh-CN" dirty="0">
                <a:sym typeface="+mn-ea"/>
              </a:rPr>
              <a:t>4.5.4 </a:t>
            </a:r>
            <a:r>
              <a:rPr lang="zh-CN" altLang="en-US" dirty="0">
                <a:sym typeface="+mn-ea"/>
              </a:rPr>
              <a:t>逻辑覆盖法</a:t>
            </a:r>
            <a:endParaRPr lang="zh-CN" altLang="en-US" dirty="0"/>
          </a:p>
        </p:txBody>
      </p:sp>
      <p:sp>
        <p:nvSpPr>
          <p:cNvPr id="24" name="文本占位符 23">
            <a:extLst>
              <a:ext uri="{FF2B5EF4-FFF2-40B4-BE49-F238E27FC236}">
                <a16:creationId xmlns:a16="http://schemas.microsoft.com/office/drawing/2014/main" id="{DC9D8875-F291-26AC-3BDB-A535846A4242}"/>
              </a:ext>
            </a:extLst>
          </p:cNvPr>
          <p:cNvSpPr>
            <a:spLocks noGrp="1"/>
          </p:cNvSpPr>
          <p:nvPr>
            <p:ph type="body" sz="quarter" idx="11"/>
          </p:nvPr>
        </p:nvSpPr>
        <p:spPr>
          <a:xfrm>
            <a:off x="6096000" y="360128"/>
            <a:ext cx="5760000" cy="400110"/>
          </a:xfrm>
        </p:spPr>
        <p:txBody>
          <a:bodyPr/>
          <a:lstStyle/>
          <a:p>
            <a:r>
              <a:rPr lang="en-US" altLang="zh-CN" dirty="0"/>
              <a:t>Schema</a:t>
            </a:r>
            <a:endParaRPr lang="zh-CN" altLang="en-US" dirty="0"/>
          </a:p>
        </p:txBody>
      </p:sp>
      <p:sp>
        <p:nvSpPr>
          <p:cNvPr id="15" name="TextBox 10">
            <a:extLst>
              <a:ext uri="{FF2B5EF4-FFF2-40B4-BE49-F238E27FC236}">
                <a16:creationId xmlns:a16="http://schemas.microsoft.com/office/drawing/2014/main" id="{6FD225D0-1A3A-DF61-D127-E72DA02F19A1}"/>
              </a:ext>
            </a:extLst>
          </p:cNvPr>
          <p:cNvSpPr txBox="1">
            <a:spLocks noChangeArrowheads="1"/>
          </p:cNvSpPr>
          <p:nvPr/>
        </p:nvSpPr>
        <p:spPr bwMode="auto">
          <a:xfrm>
            <a:off x="636441" y="1809887"/>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algn="ctr" eaLnBrk="1" hangingPunct="1"/>
            <a:r>
              <a:rPr lang="en-US" sz="2800" dirty="0">
                <a:solidFill>
                  <a:srgbClr val="E67819"/>
                </a:solidFill>
                <a:latin typeface="Times New Roman" panose="02020603050405020304" pitchFamily="18" charset="0"/>
                <a:ea typeface="MS UI Gothic" panose="020B0600070205080204" charset="-128"/>
              </a:rPr>
              <a:t>4</a:t>
            </a:r>
          </a:p>
        </p:txBody>
      </p:sp>
      <p:cxnSp>
        <p:nvCxnSpPr>
          <p:cNvPr id="16" name="直接连接符 15">
            <a:extLst>
              <a:ext uri="{FF2B5EF4-FFF2-40B4-BE49-F238E27FC236}">
                <a16:creationId xmlns:a16="http://schemas.microsoft.com/office/drawing/2014/main" id="{96B68B65-5025-BE9A-838B-ED33B2CEC97E}"/>
              </a:ext>
            </a:extLst>
          </p:cNvPr>
          <p:cNvCxnSpPr/>
          <p:nvPr/>
        </p:nvCxnSpPr>
        <p:spPr>
          <a:xfrm flipH="1">
            <a:off x="636441" y="1776222"/>
            <a:ext cx="379373"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7" name="矩形 12">
            <a:extLst>
              <a:ext uri="{FF2B5EF4-FFF2-40B4-BE49-F238E27FC236}">
                <a16:creationId xmlns:a16="http://schemas.microsoft.com/office/drawing/2014/main" id="{9247870C-F07E-5E58-6C3E-71B15005F406}"/>
              </a:ext>
            </a:extLst>
          </p:cNvPr>
          <p:cNvSpPr>
            <a:spLocks noChangeArrowheads="1"/>
          </p:cNvSpPr>
          <p:nvPr/>
        </p:nvSpPr>
        <p:spPr bwMode="auto">
          <a:xfrm>
            <a:off x="924031" y="1886831"/>
            <a:ext cx="52484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r>
              <a:rPr lang="zh-CN" altLang="en-US" dirty="0">
                <a:solidFill>
                  <a:srgbClr val="E67819"/>
                </a:solidFill>
                <a:latin typeface="+mj-ea"/>
                <a:ea typeface="+mj-ea"/>
              </a:rPr>
              <a:t>判定/条件覆盖 </a:t>
            </a:r>
            <a:r>
              <a:rPr lang="en-US" altLang="zh-CN" sz="1600" dirty="0">
                <a:solidFill>
                  <a:srgbClr val="E67819"/>
                </a:solidFill>
                <a:latin typeface="+mj-ea"/>
                <a:ea typeface="+mj-ea"/>
              </a:rPr>
              <a:t>Decision/Condition Coverage</a:t>
            </a:r>
            <a:endParaRPr lang="zh-CN" altLang="en-US" dirty="0">
              <a:solidFill>
                <a:srgbClr val="E67819"/>
              </a:solidFill>
              <a:latin typeface="+mj-ea"/>
              <a:ea typeface="+mj-ea"/>
            </a:endParaRPr>
          </a:p>
        </p:txBody>
      </p:sp>
      <p:sp>
        <p:nvSpPr>
          <p:cNvPr id="18" name="矩形 9">
            <a:extLst>
              <a:ext uri="{FF2B5EF4-FFF2-40B4-BE49-F238E27FC236}">
                <a16:creationId xmlns:a16="http://schemas.microsoft.com/office/drawing/2014/main" id="{626CFA6F-43C6-7455-4270-8B2A53E04C2F}"/>
              </a:ext>
            </a:extLst>
          </p:cNvPr>
          <p:cNvSpPr>
            <a:spLocks noChangeArrowheads="1"/>
          </p:cNvSpPr>
          <p:nvPr/>
        </p:nvSpPr>
        <p:spPr bwMode="auto">
          <a:xfrm>
            <a:off x="924031" y="2264461"/>
            <a:ext cx="5076000" cy="1052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fontAlgn="auto">
              <a:lnSpc>
                <a:spcPct val="130000"/>
              </a:lnSpc>
            </a:pPr>
            <a:r>
              <a:rPr sz="1600" dirty="0" err="1"/>
              <a:t>判定</a:t>
            </a:r>
            <a:r>
              <a:rPr sz="1600" dirty="0"/>
              <a:t>/条件覆盖要求选取足够多的测试数据，使每个判定表达式都取到各种可能的结果，并使每个判定表达式中的每个条件都取到各种可能的值。</a:t>
            </a:r>
          </a:p>
        </p:txBody>
      </p:sp>
      <p:pic>
        <p:nvPicPr>
          <p:cNvPr id="2" name="图片 124">
            <a:extLst>
              <a:ext uri="{FF2B5EF4-FFF2-40B4-BE49-F238E27FC236}">
                <a16:creationId xmlns:a16="http://schemas.microsoft.com/office/drawing/2014/main" id="{A3C982B9-8ECA-1B76-7953-5AE3CDAE117C}"/>
              </a:ext>
            </a:extLst>
          </p:cNvPr>
          <p:cNvPicPr preferRelativeResize="0">
            <a:picLocks noChangeAspect="1" noChangeArrowheads="1"/>
          </p:cNvPicPr>
          <p:nvPr/>
        </p:nvPicPr>
        <p:blipFill>
          <a:blip r:embed="rId3" cstate="print"/>
          <a:srcRect/>
          <a:stretch>
            <a:fillRect/>
          </a:stretch>
        </p:blipFill>
        <p:spPr bwMode="auto">
          <a:xfrm>
            <a:off x="7744826" y="3229325"/>
            <a:ext cx="3462415" cy="3108960"/>
          </a:xfrm>
          <a:prstGeom prst="rect">
            <a:avLst/>
          </a:prstGeom>
          <a:noFill/>
          <a:ln w="9525">
            <a:noFill/>
            <a:miter lim="800000"/>
            <a:headEnd/>
            <a:tailEnd/>
          </a:ln>
        </p:spPr>
      </p:pic>
      <p:sp>
        <p:nvSpPr>
          <p:cNvPr id="4" name="TextBox 33">
            <a:extLst>
              <a:ext uri="{FF2B5EF4-FFF2-40B4-BE49-F238E27FC236}">
                <a16:creationId xmlns:a16="http://schemas.microsoft.com/office/drawing/2014/main" id="{9BDC8AF4-581F-3CFE-8190-C3B0D3795E88}"/>
              </a:ext>
            </a:extLst>
          </p:cNvPr>
          <p:cNvSpPr txBox="1"/>
          <p:nvPr/>
        </p:nvSpPr>
        <p:spPr>
          <a:xfrm>
            <a:off x="7096067" y="1812994"/>
            <a:ext cx="4759933" cy="1398808"/>
          </a:xfrm>
          <a:prstGeom prst="rect">
            <a:avLst/>
          </a:prstGeom>
          <a:solidFill>
            <a:schemeClr val="bg1">
              <a:lumMod val="95000"/>
            </a:schemeClr>
          </a:solidFill>
        </p:spPr>
        <p:txBody>
          <a:bodyPr wrap="square" lIns="144000" tIns="144000" rIns="144000" bIns="144000">
            <a:spAutoFit/>
          </a:bodyPr>
          <a:lstStyle/>
          <a:p>
            <a:r>
              <a:rPr lang="zh-CN" altLang="en-US" dirty="0"/>
              <a:t>Begin</a:t>
            </a:r>
          </a:p>
          <a:p>
            <a:r>
              <a:rPr lang="zh-CN" altLang="en-US" dirty="0"/>
              <a:t>    IF (A=3)  OR  (B&gt;1)  Then  X:=A*B  Endif</a:t>
            </a:r>
          </a:p>
          <a:p>
            <a:r>
              <a:rPr lang="zh-CN" altLang="en-US" dirty="0"/>
              <a:t>    IF (A&gt;2)  AND  (B=0)  Then  X:=A-3  Endif</a:t>
            </a:r>
          </a:p>
          <a:p>
            <a:r>
              <a:rPr lang="zh-CN" altLang="en-US" dirty="0"/>
              <a:t>End</a:t>
            </a:r>
          </a:p>
        </p:txBody>
      </p:sp>
      <p:sp>
        <p:nvSpPr>
          <p:cNvPr id="5" name="TextBox 33">
            <a:extLst>
              <a:ext uri="{FF2B5EF4-FFF2-40B4-BE49-F238E27FC236}">
                <a16:creationId xmlns:a16="http://schemas.microsoft.com/office/drawing/2014/main" id="{846E3F04-77AC-21BC-169D-4E29DCFFC046}"/>
              </a:ext>
            </a:extLst>
          </p:cNvPr>
          <p:cNvSpPr txBox="1"/>
          <p:nvPr/>
        </p:nvSpPr>
        <p:spPr>
          <a:xfrm>
            <a:off x="696000" y="3770850"/>
            <a:ext cx="5400000" cy="2260583"/>
          </a:xfrm>
          <a:prstGeom prst="rect">
            <a:avLst/>
          </a:prstGeom>
          <a:solidFill>
            <a:schemeClr val="bg1">
              <a:lumMod val="95000"/>
            </a:schemeClr>
          </a:solidFill>
        </p:spPr>
        <p:txBody>
          <a:bodyPr wrap="square" lIns="144000" tIns="144000" rIns="144000" bIns="144000">
            <a:spAutoFit/>
          </a:bodyPr>
          <a:lstStyle/>
          <a:p>
            <a:r>
              <a:rPr lang="zh-CN" altLang="en-US" sz="1600" dirty="0"/>
              <a:t>测试数据： </a:t>
            </a:r>
            <a:r>
              <a:rPr lang="en-US" altLang="zh-CN" sz="1600" dirty="0"/>
              <a:t>A=3</a:t>
            </a:r>
            <a:r>
              <a:rPr lang="zh-CN" altLang="en-US" sz="1600" dirty="0"/>
              <a:t>，</a:t>
            </a:r>
            <a:r>
              <a:rPr lang="en-US" altLang="zh-CN" sz="1600" dirty="0"/>
              <a:t>B=0</a:t>
            </a:r>
            <a:r>
              <a:rPr lang="zh-CN" altLang="en-US" sz="1600" dirty="0"/>
              <a:t>（</a:t>
            </a:r>
            <a:r>
              <a:rPr lang="en-US" altLang="zh-CN" sz="1600" dirty="0"/>
              <a:t>A=3</a:t>
            </a:r>
            <a:r>
              <a:rPr lang="zh-CN" altLang="en-US" sz="1600" dirty="0"/>
              <a:t>，</a:t>
            </a:r>
            <a:r>
              <a:rPr lang="en-US" altLang="zh-CN" sz="1600" dirty="0"/>
              <a:t>B≤1</a:t>
            </a:r>
            <a:r>
              <a:rPr lang="zh-CN" altLang="en-US" sz="1600" dirty="0"/>
              <a:t>，</a:t>
            </a:r>
            <a:r>
              <a:rPr lang="en-US" altLang="zh-CN" sz="1600" dirty="0"/>
              <a:t>A&gt;2</a:t>
            </a:r>
            <a:r>
              <a:rPr lang="zh-CN" altLang="en-US" sz="1600" dirty="0"/>
              <a:t>，</a:t>
            </a:r>
            <a:r>
              <a:rPr lang="en-US" altLang="zh-CN" sz="1600" dirty="0"/>
              <a:t>B=0</a:t>
            </a:r>
            <a:r>
              <a:rPr lang="zh-CN" altLang="en-US" sz="1600" dirty="0"/>
              <a:t>）</a:t>
            </a:r>
            <a:endParaRPr lang="en-US" altLang="zh-CN" sz="1600" dirty="0"/>
          </a:p>
          <a:p>
            <a:r>
              <a:rPr lang="zh-CN" altLang="en-US" sz="1600" dirty="0"/>
              <a:t>执行路径：</a:t>
            </a:r>
            <a:r>
              <a:rPr lang="en-US" altLang="zh-CN" sz="1600" dirty="0" err="1"/>
              <a:t>s→a→c→b→d→e</a:t>
            </a:r>
            <a:r>
              <a:rPr lang="zh-CN" altLang="en-US" sz="1600" dirty="0"/>
              <a:t>；</a:t>
            </a:r>
            <a:endParaRPr lang="en-US" altLang="zh-CN" sz="1600" dirty="0"/>
          </a:p>
          <a:p>
            <a:endParaRPr lang="zh-CN" altLang="en-US" sz="1600" dirty="0"/>
          </a:p>
          <a:p>
            <a:r>
              <a:rPr lang="zh-CN" altLang="en-US" sz="1600" dirty="0"/>
              <a:t>测试数据： </a:t>
            </a:r>
            <a:r>
              <a:rPr lang="en-US" altLang="zh-CN" sz="1600" dirty="0"/>
              <a:t>A=2</a:t>
            </a:r>
            <a:r>
              <a:rPr lang="zh-CN" altLang="en-US" sz="1600" dirty="0"/>
              <a:t>，</a:t>
            </a:r>
            <a:r>
              <a:rPr lang="en-US" altLang="zh-CN" sz="1600" dirty="0"/>
              <a:t>B=0</a:t>
            </a:r>
            <a:r>
              <a:rPr lang="zh-CN" altLang="en-US" sz="1600" dirty="0"/>
              <a:t>（</a:t>
            </a:r>
            <a:r>
              <a:rPr lang="en-US" altLang="zh-CN" sz="1600" dirty="0"/>
              <a:t>A≠3</a:t>
            </a:r>
            <a:r>
              <a:rPr lang="zh-CN" altLang="en-US" sz="1600" dirty="0"/>
              <a:t>，</a:t>
            </a:r>
            <a:r>
              <a:rPr lang="en-US" altLang="zh-CN" sz="1600" dirty="0"/>
              <a:t>B≤1</a:t>
            </a:r>
            <a:r>
              <a:rPr lang="zh-CN" altLang="en-US" sz="1600" dirty="0"/>
              <a:t>，</a:t>
            </a:r>
            <a:r>
              <a:rPr lang="en-US" altLang="zh-CN" sz="1600" dirty="0"/>
              <a:t>A≤2</a:t>
            </a:r>
            <a:r>
              <a:rPr lang="zh-CN" altLang="en-US" sz="1600" dirty="0"/>
              <a:t>，</a:t>
            </a:r>
            <a:r>
              <a:rPr lang="en-US" altLang="zh-CN" sz="1600" dirty="0"/>
              <a:t>B=0</a:t>
            </a:r>
            <a:r>
              <a:rPr lang="zh-CN" altLang="en-US" sz="1600" dirty="0"/>
              <a:t>）</a:t>
            </a:r>
            <a:endParaRPr lang="en-US" altLang="zh-CN" sz="1600" dirty="0"/>
          </a:p>
          <a:p>
            <a:r>
              <a:rPr lang="zh-CN" altLang="en-US" sz="1600" dirty="0"/>
              <a:t>执行路径：</a:t>
            </a:r>
            <a:r>
              <a:rPr lang="en-US" altLang="zh-CN" sz="1600" dirty="0" err="1"/>
              <a:t>s→a→b→e</a:t>
            </a:r>
            <a:r>
              <a:rPr lang="zh-CN" altLang="en-US" sz="1600" dirty="0"/>
              <a:t>；</a:t>
            </a:r>
            <a:endParaRPr lang="en-US" altLang="zh-CN" sz="1600" dirty="0"/>
          </a:p>
          <a:p>
            <a:endParaRPr lang="zh-CN" altLang="en-US" sz="1600" dirty="0"/>
          </a:p>
          <a:p>
            <a:r>
              <a:rPr lang="zh-CN" altLang="en-US" sz="1600" dirty="0"/>
              <a:t>测试数据： </a:t>
            </a:r>
            <a:r>
              <a:rPr lang="en-US" altLang="zh-CN" sz="1600" dirty="0"/>
              <a:t>A=2</a:t>
            </a:r>
            <a:r>
              <a:rPr lang="zh-CN" altLang="en-US" sz="1600" dirty="0"/>
              <a:t>，</a:t>
            </a:r>
            <a:r>
              <a:rPr lang="en-US" altLang="zh-CN" sz="1600" dirty="0"/>
              <a:t>B=2</a:t>
            </a:r>
            <a:r>
              <a:rPr lang="zh-CN" altLang="en-US" sz="1600" dirty="0"/>
              <a:t>（</a:t>
            </a:r>
            <a:r>
              <a:rPr lang="en-US" altLang="zh-CN" sz="1600" dirty="0"/>
              <a:t>A≠3</a:t>
            </a:r>
            <a:r>
              <a:rPr lang="zh-CN" altLang="en-US" sz="1600" dirty="0"/>
              <a:t>，</a:t>
            </a:r>
            <a:r>
              <a:rPr lang="en-US" altLang="zh-CN" sz="1600" dirty="0"/>
              <a:t>B&gt;1</a:t>
            </a:r>
            <a:r>
              <a:rPr lang="zh-CN" altLang="en-US" sz="1600" dirty="0"/>
              <a:t>，</a:t>
            </a:r>
            <a:r>
              <a:rPr lang="en-US" altLang="zh-CN" sz="1600" dirty="0"/>
              <a:t>A≤2</a:t>
            </a:r>
            <a:r>
              <a:rPr lang="zh-CN" altLang="en-US" sz="1600" dirty="0"/>
              <a:t>，</a:t>
            </a:r>
            <a:r>
              <a:rPr lang="en-US" altLang="zh-CN" sz="1600" dirty="0"/>
              <a:t>B≠0</a:t>
            </a:r>
            <a:r>
              <a:rPr lang="zh-CN" altLang="en-US" sz="1600" dirty="0"/>
              <a:t>）</a:t>
            </a:r>
            <a:endParaRPr lang="en-US" altLang="zh-CN" sz="1600" dirty="0"/>
          </a:p>
          <a:p>
            <a:r>
              <a:rPr lang="zh-CN" altLang="en-US" sz="1600" dirty="0"/>
              <a:t>执行路径：</a:t>
            </a:r>
            <a:r>
              <a:rPr lang="en-US" altLang="zh-CN" sz="1600" dirty="0" err="1"/>
              <a:t>s→a→c→b→e</a:t>
            </a:r>
            <a:r>
              <a:rPr lang="zh-CN" altLang="en-US" sz="1600" dirty="0"/>
              <a:t>。</a:t>
            </a:r>
          </a:p>
        </p:txBody>
      </p:sp>
    </p:spTree>
    <p:extLst>
      <p:ext uri="{BB962C8B-B14F-4D97-AF65-F5344CB8AC3E}">
        <p14:creationId xmlns:p14="http://schemas.microsoft.com/office/powerpoint/2010/main" val="1818974361"/>
      </p:ext>
    </p:extLst>
  </p:cSld>
  <p:clrMapOvr>
    <a:masterClrMapping/>
  </p:clrMapOvr>
  <p:transition>
    <p:pull dir="rd"/>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en-US" dirty="0"/>
              <a:t>4.5 </a:t>
            </a:r>
            <a:r>
              <a:rPr lang="zh-CN" altLang="en-US" dirty="0"/>
              <a:t>设计软件测试方案</a:t>
            </a:r>
            <a:endParaRPr lang="zh-CN" altLang="en-US" dirty="0">
              <a:sym typeface="+mn-ea"/>
            </a:endParaRPr>
          </a:p>
        </p:txBody>
      </p:sp>
      <p:sp>
        <p:nvSpPr>
          <p:cNvPr id="14" name="文本占位符 13">
            <a:extLst>
              <a:ext uri="{FF2B5EF4-FFF2-40B4-BE49-F238E27FC236}">
                <a16:creationId xmlns:a16="http://schemas.microsoft.com/office/drawing/2014/main" id="{7F5E3EE8-5C9B-69E1-9BE6-2BD0B981C648}"/>
              </a:ext>
            </a:extLst>
          </p:cNvPr>
          <p:cNvSpPr>
            <a:spLocks noGrp="1"/>
          </p:cNvSpPr>
          <p:nvPr>
            <p:ph type="body" sz="quarter" idx="10"/>
          </p:nvPr>
        </p:nvSpPr>
        <p:spPr>
          <a:xfrm>
            <a:off x="696000" y="1322832"/>
            <a:ext cx="5400000" cy="400110"/>
          </a:xfrm>
        </p:spPr>
        <p:txBody>
          <a:bodyPr/>
          <a:lstStyle/>
          <a:p>
            <a:r>
              <a:rPr lang="en-US" altLang="zh-CN" dirty="0">
                <a:sym typeface="+mn-ea"/>
              </a:rPr>
              <a:t>4.5.4 </a:t>
            </a:r>
            <a:r>
              <a:rPr lang="zh-CN" altLang="en-US" dirty="0">
                <a:sym typeface="+mn-ea"/>
              </a:rPr>
              <a:t>逻辑覆盖法</a:t>
            </a:r>
            <a:endParaRPr lang="zh-CN" altLang="en-US" dirty="0"/>
          </a:p>
        </p:txBody>
      </p:sp>
      <p:sp>
        <p:nvSpPr>
          <p:cNvPr id="19" name="文本占位符 18">
            <a:extLst>
              <a:ext uri="{FF2B5EF4-FFF2-40B4-BE49-F238E27FC236}">
                <a16:creationId xmlns:a16="http://schemas.microsoft.com/office/drawing/2014/main" id="{278F7709-3D38-53AB-5E7B-4EFBEBA14B24}"/>
              </a:ext>
            </a:extLst>
          </p:cNvPr>
          <p:cNvSpPr>
            <a:spLocks noGrp="1"/>
          </p:cNvSpPr>
          <p:nvPr>
            <p:ph type="body" sz="quarter" idx="11"/>
          </p:nvPr>
        </p:nvSpPr>
        <p:spPr>
          <a:xfrm>
            <a:off x="6096000" y="360128"/>
            <a:ext cx="5760000" cy="400110"/>
          </a:xfrm>
        </p:spPr>
        <p:txBody>
          <a:bodyPr/>
          <a:lstStyle/>
          <a:p>
            <a:r>
              <a:rPr lang="en-US" altLang="zh-CN" dirty="0"/>
              <a:t>Schema</a:t>
            </a:r>
            <a:endParaRPr lang="zh-CN" altLang="en-US" dirty="0"/>
          </a:p>
        </p:txBody>
      </p:sp>
      <p:sp>
        <p:nvSpPr>
          <p:cNvPr id="39" name="TextBox 1"/>
          <p:cNvSpPr txBox="1">
            <a:spLocks noChangeArrowheads="1"/>
          </p:cNvSpPr>
          <p:nvPr/>
        </p:nvSpPr>
        <p:spPr bwMode="auto">
          <a:xfrm>
            <a:off x="804271" y="1757232"/>
            <a:ext cx="37401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algn="ctr" eaLnBrk="1" hangingPunct="1"/>
            <a:r>
              <a:rPr lang="en-US" altLang="zh-CN" sz="2800" dirty="0">
                <a:solidFill>
                  <a:srgbClr val="E67819"/>
                </a:solidFill>
                <a:latin typeface="Times New Roman" panose="02020603050405020304" pitchFamily="18" charset="0"/>
                <a:ea typeface="MS UI Gothic" panose="020B0600070205080204" charset="-128"/>
              </a:rPr>
              <a:t>5</a:t>
            </a:r>
            <a:endParaRPr lang="zh-CN" altLang="en-US" sz="2800" dirty="0">
              <a:solidFill>
                <a:srgbClr val="E67819"/>
              </a:solidFill>
              <a:latin typeface="Times New Roman" panose="02020603050405020304" pitchFamily="18" charset="0"/>
              <a:ea typeface="MS UI Gothic" panose="020B0600070205080204" charset="-128"/>
            </a:endParaRPr>
          </a:p>
        </p:txBody>
      </p:sp>
      <p:cxnSp>
        <p:nvCxnSpPr>
          <p:cNvPr id="40" name="直接连接符 39"/>
          <p:cNvCxnSpPr/>
          <p:nvPr/>
        </p:nvCxnSpPr>
        <p:spPr>
          <a:xfrm flipH="1">
            <a:off x="696000" y="1722942"/>
            <a:ext cx="590556"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41" name="矩形 7"/>
          <p:cNvSpPr>
            <a:spLocks noChangeArrowheads="1"/>
          </p:cNvSpPr>
          <p:nvPr/>
        </p:nvSpPr>
        <p:spPr bwMode="auto">
          <a:xfrm>
            <a:off x="1148398" y="1818192"/>
            <a:ext cx="47856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dirty="0">
                <a:solidFill>
                  <a:srgbClr val="E67819"/>
                </a:solidFill>
                <a:latin typeface="+mj-ea"/>
                <a:ea typeface="+mj-ea"/>
              </a:rPr>
              <a:t>条件组合覆盖 </a:t>
            </a:r>
            <a:r>
              <a:rPr lang="en-US" altLang="zh-CN" sz="1600" dirty="0">
                <a:solidFill>
                  <a:srgbClr val="E67819"/>
                </a:solidFill>
                <a:latin typeface="+mj-ea"/>
                <a:ea typeface="+mj-ea"/>
              </a:rPr>
              <a:t>Multiple Condition Coverage</a:t>
            </a:r>
            <a:endParaRPr lang="zh-CN" altLang="en-US" dirty="0">
              <a:solidFill>
                <a:srgbClr val="E67819"/>
              </a:solidFill>
              <a:latin typeface="+mj-ea"/>
              <a:ea typeface="+mj-ea"/>
            </a:endParaRPr>
          </a:p>
        </p:txBody>
      </p:sp>
      <p:sp>
        <p:nvSpPr>
          <p:cNvPr id="42" name="矩形 8"/>
          <p:cNvSpPr>
            <a:spLocks noChangeArrowheads="1"/>
          </p:cNvSpPr>
          <p:nvPr/>
        </p:nvSpPr>
        <p:spPr bwMode="auto">
          <a:xfrm>
            <a:off x="1158236" y="2069264"/>
            <a:ext cx="4650741" cy="2219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30000"/>
              </a:lnSpc>
            </a:pPr>
            <a:r>
              <a:rPr lang="zh-CN" altLang="en-US" dirty="0"/>
              <a:t>条件组合覆盖要求选取更多的测试数据，使每个判定表达式中条件的各种可能组合都至少出现一次。满足条件组合覆盖要求的测试数据，也一定满足判定覆盖、条件覆盖和判定</a:t>
            </a:r>
            <a:r>
              <a:rPr lang="en-US" altLang="zh-CN" dirty="0"/>
              <a:t>/</a:t>
            </a:r>
            <a:r>
              <a:rPr lang="zh-CN" altLang="en-US" dirty="0"/>
              <a:t>条件覆盖的要求。可见，条件组合覆盖是前面介绍的几种覆盖中最强的逻辑覆盖</a:t>
            </a:r>
            <a:endParaRPr dirty="0"/>
          </a:p>
        </p:txBody>
      </p:sp>
      <p:pic>
        <p:nvPicPr>
          <p:cNvPr id="2" name="图片 124">
            <a:extLst>
              <a:ext uri="{FF2B5EF4-FFF2-40B4-BE49-F238E27FC236}">
                <a16:creationId xmlns:a16="http://schemas.microsoft.com/office/drawing/2014/main" id="{1E423D2D-2081-4896-8EAB-7298E0852719}"/>
              </a:ext>
            </a:extLst>
          </p:cNvPr>
          <p:cNvPicPr preferRelativeResize="0">
            <a:picLocks noChangeAspect="1" noChangeArrowheads="1"/>
          </p:cNvPicPr>
          <p:nvPr/>
        </p:nvPicPr>
        <p:blipFill>
          <a:blip r:embed="rId3" cstate="print"/>
          <a:srcRect/>
          <a:stretch>
            <a:fillRect/>
          </a:stretch>
        </p:blipFill>
        <p:spPr bwMode="auto">
          <a:xfrm>
            <a:off x="7744826" y="3229325"/>
            <a:ext cx="3462415" cy="3108960"/>
          </a:xfrm>
          <a:prstGeom prst="rect">
            <a:avLst/>
          </a:prstGeom>
          <a:noFill/>
          <a:ln w="9525">
            <a:noFill/>
            <a:miter lim="800000"/>
            <a:headEnd/>
            <a:tailEnd/>
          </a:ln>
        </p:spPr>
      </p:pic>
      <p:sp>
        <p:nvSpPr>
          <p:cNvPr id="4" name="TextBox 33">
            <a:extLst>
              <a:ext uri="{FF2B5EF4-FFF2-40B4-BE49-F238E27FC236}">
                <a16:creationId xmlns:a16="http://schemas.microsoft.com/office/drawing/2014/main" id="{E5C58F95-12F2-E247-A889-ADAD512C5E98}"/>
              </a:ext>
            </a:extLst>
          </p:cNvPr>
          <p:cNvSpPr txBox="1"/>
          <p:nvPr/>
        </p:nvSpPr>
        <p:spPr>
          <a:xfrm>
            <a:off x="7096067" y="1812994"/>
            <a:ext cx="4759933" cy="1398808"/>
          </a:xfrm>
          <a:prstGeom prst="rect">
            <a:avLst/>
          </a:prstGeom>
          <a:solidFill>
            <a:schemeClr val="bg1">
              <a:lumMod val="95000"/>
            </a:schemeClr>
          </a:solidFill>
        </p:spPr>
        <p:txBody>
          <a:bodyPr wrap="square" lIns="144000" tIns="144000" rIns="144000" bIns="144000">
            <a:spAutoFit/>
          </a:bodyPr>
          <a:lstStyle/>
          <a:p>
            <a:r>
              <a:rPr lang="zh-CN" altLang="en-US" dirty="0"/>
              <a:t>Begin</a:t>
            </a:r>
          </a:p>
          <a:p>
            <a:r>
              <a:rPr lang="zh-CN" altLang="en-US" dirty="0"/>
              <a:t>    IF (A=3)  OR  (B&gt;1)  Then  X:=A*B  Endif</a:t>
            </a:r>
          </a:p>
          <a:p>
            <a:r>
              <a:rPr lang="zh-CN" altLang="en-US" dirty="0"/>
              <a:t>    IF (A&gt;2)  AND  (B=0)  Then  X:=A-3  Endif</a:t>
            </a:r>
          </a:p>
          <a:p>
            <a:r>
              <a:rPr lang="zh-CN" altLang="en-US" dirty="0"/>
              <a:t>End</a:t>
            </a:r>
          </a:p>
        </p:txBody>
      </p:sp>
    </p:spTree>
  </p:cSld>
  <p:clrMapOvr>
    <a:masterClrMapping/>
  </p:clrMapOvr>
  <p:transition>
    <p:pull dir="rd"/>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A0346-95E5-1C7E-588B-AD3591ACEDFD}"/>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53735CA9-2435-41D4-2221-99D9E824B175}"/>
              </a:ext>
            </a:extLst>
          </p:cNvPr>
          <p:cNvSpPr>
            <a:spLocks noGrp="1"/>
          </p:cNvSpPr>
          <p:nvPr>
            <p:ph type="title"/>
          </p:nvPr>
        </p:nvSpPr>
        <p:spPr>
          <a:xfrm>
            <a:off x="336000" y="360000"/>
            <a:ext cx="5760000" cy="535531"/>
          </a:xfrm>
        </p:spPr>
        <p:txBody>
          <a:bodyPr/>
          <a:lstStyle/>
          <a:p>
            <a:r>
              <a:rPr lang="en-US" dirty="0"/>
              <a:t>4.5 </a:t>
            </a:r>
            <a:r>
              <a:rPr lang="zh-CN" altLang="en-US" dirty="0"/>
              <a:t>设计软件测试方案</a:t>
            </a:r>
            <a:endParaRPr lang="zh-CN" altLang="en-US" dirty="0">
              <a:sym typeface="+mn-ea"/>
            </a:endParaRPr>
          </a:p>
        </p:txBody>
      </p:sp>
      <p:sp>
        <p:nvSpPr>
          <p:cNvPr id="14" name="文本占位符 13">
            <a:extLst>
              <a:ext uri="{FF2B5EF4-FFF2-40B4-BE49-F238E27FC236}">
                <a16:creationId xmlns:a16="http://schemas.microsoft.com/office/drawing/2014/main" id="{90A7A86B-AD90-C9CB-3BC1-B9FB1905073A}"/>
              </a:ext>
            </a:extLst>
          </p:cNvPr>
          <p:cNvSpPr>
            <a:spLocks noGrp="1"/>
          </p:cNvSpPr>
          <p:nvPr>
            <p:ph type="body" sz="quarter" idx="10"/>
          </p:nvPr>
        </p:nvSpPr>
        <p:spPr>
          <a:xfrm>
            <a:off x="696000" y="1322832"/>
            <a:ext cx="5400000" cy="400110"/>
          </a:xfrm>
        </p:spPr>
        <p:txBody>
          <a:bodyPr/>
          <a:lstStyle/>
          <a:p>
            <a:r>
              <a:rPr lang="en-US" altLang="zh-CN" dirty="0">
                <a:sym typeface="+mn-ea"/>
              </a:rPr>
              <a:t>4.5.4 </a:t>
            </a:r>
            <a:r>
              <a:rPr lang="zh-CN" altLang="en-US" dirty="0">
                <a:sym typeface="+mn-ea"/>
              </a:rPr>
              <a:t>逻辑覆盖法</a:t>
            </a:r>
            <a:endParaRPr lang="zh-CN" altLang="en-US" dirty="0"/>
          </a:p>
        </p:txBody>
      </p:sp>
      <p:sp>
        <p:nvSpPr>
          <p:cNvPr id="19" name="文本占位符 18">
            <a:extLst>
              <a:ext uri="{FF2B5EF4-FFF2-40B4-BE49-F238E27FC236}">
                <a16:creationId xmlns:a16="http://schemas.microsoft.com/office/drawing/2014/main" id="{C04FF0CC-8A49-44E8-C684-C1304FE2C874}"/>
              </a:ext>
            </a:extLst>
          </p:cNvPr>
          <p:cNvSpPr>
            <a:spLocks noGrp="1"/>
          </p:cNvSpPr>
          <p:nvPr>
            <p:ph type="body" sz="quarter" idx="11"/>
          </p:nvPr>
        </p:nvSpPr>
        <p:spPr>
          <a:xfrm>
            <a:off x="6096000" y="360128"/>
            <a:ext cx="5760000" cy="400110"/>
          </a:xfrm>
        </p:spPr>
        <p:txBody>
          <a:bodyPr/>
          <a:lstStyle/>
          <a:p>
            <a:r>
              <a:rPr lang="en-US" altLang="zh-CN" dirty="0"/>
              <a:t>Schema</a:t>
            </a:r>
            <a:endParaRPr lang="zh-CN" altLang="en-US" dirty="0"/>
          </a:p>
        </p:txBody>
      </p:sp>
      <p:sp>
        <p:nvSpPr>
          <p:cNvPr id="39" name="TextBox 1">
            <a:extLst>
              <a:ext uri="{FF2B5EF4-FFF2-40B4-BE49-F238E27FC236}">
                <a16:creationId xmlns:a16="http://schemas.microsoft.com/office/drawing/2014/main" id="{800DD4D3-0CE3-2998-CDE3-41B1A2516445}"/>
              </a:ext>
            </a:extLst>
          </p:cNvPr>
          <p:cNvSpPr txBox="1">
            <a:spLocks noChangeArrowheads="1"/>
          </p:cNvSpPr>
          <p:nvPr/>
        </p:nvSpPr>
        <p:spPr bwMode="auto">
          <a:xfrm>
            <a:off x="804271" y="1757232"/>
            <a:ext cx="37401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algn="ctr" eaLnBrk="1" hangingPunct="1"/>
            <a:r>
              <a:rPr lang="en-US" altLang="zh-CN" sz="2800" dirty="0">
                <a:solidFill>
                  <a:srgbClr val="E67819"/>
                </a:solidFill>
                <a:latin typeface="Times New Roman" panose="02020603050405020304" pitchFamily="18" charset="0"/>
                <a:ea typeface="MS UI Gothic" panose="020B0600070205080204" charset="-128"/>
              </a:rPr>
              <a:t>5</a:t>
            </a:r>
            <a:endParaRPr lang="zh-CN" altLang="en-US" sz="2800" dirty="0">
              <a:solidFill>
                <a:srgbClr val="E67819"/>
              </a:solidFill>
              <a:latin typeface="Times New Roman" panose="02020603050405020304" pitchFamily="18" charset="0"/>
              <a:ea typeface="MS UI Gothic" panose="020B0600070205080204" charset="-128"/>
            </a:endParaRPr>
          </a:p>
        </p:txBody>
      </p:sp>
      <p:cxnSp>
        <p:nvCxnSpPr>
          <p:cNvPr id="40" name="直接连接符 39">
            <a:extLst>
              <a:ext uri="{FF2B5EF4-FFF2-40B4-BE49-F238E27FC236}">
                <a16:creationId xmlns:a16="http://schemas.microsoft.com/office/drawing/2014/main" id="{675A2D31-4C10-D7C2-C833-C2B289D80350}"/>
              </a:ext>
            </a:extLst>
          </p:cNvPr>
          <p:cNvCxnSpPr/>
          <p:nvPr/>
        </p:nvCxnSpPr>
        <p:spPr>
          <a:xfrm flipH="1">
            <a:off x="696000" y="1722942"/>
            <a:ext cx="590556"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41" name="矩形 7">
            <a:extLst>
              <a:ext uri="{FF2B5EF4-FFF2-40B4-BE49-F238E27FC236}">
                <a16:creationId xmlns:a16="http://schemas.microsoft.com/office/drawing/2014/main" id="{F0069656-CBCE-4108-52E1-6DCD2EA4A7E9}"/>
              </a:ext>
            </a:extLst>
          </p:cNvPr>
          <p:cNvSpPr>
            <a:spLocks noChangeArrowheads="1"/>
          </p:cNvSpPr>
          <p:nvPr/>
        </p:nvSpPr>
        <p:spPr bwMode="auto">
          <a:xfrm>
            <a:off x="1148398" y="1818192"/>
            <a:ext cx="47856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dirty="0">
                <a:solidFill>
                  <a:srgbClr val="E67819"/>
                </a:solidFill>
                <a:latin typeface="+mj-ea"/>
                <a:ea typeface="+mj-ea"/>
              </a:rPr>
              <a:t>条件组合覆盖 </a:t>
            </a:r>
            <a:r>
              <a:rPr lang="en-US" altLang="zh-CN" sz="1600" dirty="0">
                <a:solidFill>
                  <a:srgbClr val="E67819"/>
                </a:solidFill>
                <a:latin typeface="+mj-ea"/>
                <a:ea typeface="+mj-ea"/>
              </a:rPr>
              <a:t>Multiple Condition Coverage</a:t>
            </a:r>
            <a:endParaRPr lang="zh-CN" altLang="en-US" dirty="0">
              <a:solidFill>
                <a:srgbClr val="E67819"/>
              </a:solidFill>
              <a:latin typeface="+mj-ea"/>
              <a:ea typeface="+mj-ea"/>
            </a:endParaRPr>
          </a:p>
        </p:txBody>
      </p:sp>
      <p:sp>
        <p:nvSpPr>
          <p:cNvPr id="11" name="TextBox 33">
            <a:extLst>
              <a:ext uri="{FF2B5EF4-FFF2-40B4-BE49-F238E27FC236}">
                <a16:creationId xmlns:a16="http://schemas.microsoft.com/office/drawing/2014/main" id="{5B068B6B-BC32-928F-4634-939B8721DE71}"/>
              </a:ext>
            </a:extLst>
          </p:cNvPr>
          <p:cNvSpPr txBox="1"/>
          <p:nvPr/>
        </p:nvSpPr>
        <p:spPr>
          <a:xfrm>
            <a:off x="696001" y="2304000"/>
            <a:ext cx="5400000" cy="1398808"/>
          </a:xfrm>
          <a:prstGeom prst="rect">
            <a:avLst/>
          </a:prstGeom>
          <a:solidFill>
            <a:schemeClr val="bg1">
              <a:lumMod val="95000"/>
            </a:schemeClr>
          </a:solidFill>
        </p:spPr>
        <p:txBody>
          <a:bodyPr wrap="square" lIns="144000" tIns="144000" rIns="144000" bIns="144000">
            <a:spAutoFit/>
          </a:bodyPr>
          <a:lstStyle/>
          <a:p>
            <a:r>
              <a:rPr lang="zh-CN" altLang="en-US" dirty="0"/>
              <a:t>在满足条件组合覆盖要求的测试进行后，仍需检查一下执行路径，确认是否遗漏测试路径。</a:t>
            </a:r>
          </a:p>
          <a:p>
            <a:r>
              <a:rPr lang="zh-CN" altLang="en-US" dirty="0"/>
              <a:t>测试数据可以检测的程序路径的多少，也是对程序测试详尽程度的反映。</a:t>
            </a:r>
          </a:p>
        </p:txBody>
      </p:sp>
      <p:graphicFrame>
        <p:nvGraphicFramePr>
          <p:cNvPr id="15" name="表格 14"/>
          <p:cNvGraphicFramePr>
            <a:graphicFrameLocks noGrp="1"/>
          </p:cNvGraphicFramePr>
          <p:nvPr>
            <p:extLst>
              <p:ext uri="{D42A27DB-BD31-4B8C-83A1-F6EECF244321}">
                <p14:modId xmlns:p14="http://schemas.microsoft.com/office/powerpoint/2010/main" val="1448012570"/>
              </p:ext>
            </p:extLst>
          </p:nvPr>
        </p:nvGraphicFramePr>
        <p:xfrm>
          <a:off x="1188720" y="4463411"/>
          <a:ext cx="9814559" cy="2141223"/>
        </p:xfrm>
        <a:graphic>
          <a:graphicData uri="http://schemas.openxmlformats.org/drawingml/2006/table">
            <a:tbl>
              <a:tblPr/>
              <a:tblGrid>
                <a:gridCol w="1097904">
                  <a:extLst>
                    <a:ext uri="{9D8B030D-6E8A-4147-A177-3AD203B41FA5}">
                      <a16:colId xmlns:a16="http://schemas.microsoft.com/office/drawing/2014/main" val="20000"/>
                    </a:ext>
                  </a:extLst>
                </a:gridCol>
                <a:gridCol w="1707984">
                  <a:extLst>
                    <a:ext uri="{9D8B030D-6E8A-4147-A177-3AD203B41FA5}">
                      <a16:colId xmlns:a16="http://schemas.microsoft.com/office/drawing/2014/main" val="20001"/>
                    </a:ext>
                  </a:extLst>
                </a:gridCol>
                <a:gridCol w="2057814">
                  <a:extLst>
                    <a:ext uri="{9D8B030D-6E8A-4147-A177-3AD203B41FA5}">
                      <a16:colId xmlns:a16="http://schemas.microsoft.com/office/drawing/2014/main" val="20002"/>
                    </a:ext>
                  </a:extLst>
                </a:gridCol>
                <a:gridCol w="1097904">
                  <a:extLst>
                    <a:ext uri="{9D8B030D-6E8A-4147-A177-3AD203B41FA5}">
                      <a16:colId xmlns:a16="http://schemas.microsoft.com/office/drawing/2014/main" val="20003"/>
                    </a:ext>
                  </a:extLst>
                </a:gridCol>
                <a:gridCol w="1899241">
                  <a:extLst>
                    <a:ext uri="{9D8B030D-6E8A-4147-A177-3AD203B41FA5}">
                      <a16:colId xmlns:a16="http://schemas.microsoft.com/office/drawing/2014/main" val="20004"/>
                    </a:ext>
                  </a:extLst>
                </a:gridCol>
                <a:gridCol w="1953712">
                  <a:extLst>
                    <a:ext uri="{9D8B030D-6E8A-4147-A177-3AD203B41FA5}">
                      <a16:colId xmlns:a16="http://schemas.microsoft.com/office/drawing/2014/main" val="20005"/>
                    </a:ext>
                  </a:extLst>
                </a:gridCol>
              </a:tblGrid>
              <a:tr h="305889">
                <a:tc>
                  <a:txBody>
                    <a:bodyPr/>
                    <a:lstStyle/>
                    <a:p>
                      <a:pPr algn="ctr">
                        <a:spcAft>
                          <a:spcPts val="0"/>
                        </a:spcAft>
                      </a:pPr>
                      <a:r>
                        <a:rPr lang="zh-CN" sz="1600" kern="500" dirty="0">
                          <a:latin typeface="Times New Roman" panose="02020603050405020304"/>
                          <a:ea typeface="微软雅黑 Light" panose="020B0502040204020203" pitchFamily="34" charset="-122"/>
                          <a:cs typeface="Times New Roman" panose="02020603050405020304"/>
                        </a:rPr>
                        <a:t>序号</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zh-CN" sz="1600" kern="500" dirty="0">
                          <a:latin typeface="Times New Roman" panose="02020603050405020304"/>
                          <a:ea typeface="微软雅黑 Light" panose="020B0502040204020203" pitchFamily="34" charset="-122"/>
                          <a:cs typeface="Times New Roman" panose="02020603050405020304"/>
                        </a:rPr>
                        <a:t>条件组合</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zh-CN" sz="1600" kern="500" dirty="0">
                          <a:latin typeface="Times New Roman" panose="02020603050405020304"/>
                          <a:ea typeface="微软雅黑 Light" panose="020B0502040204020203" pitchFamily="34" charset="-122"/>
                          <a:cs typeface="Times New Roman" panose="02020603050405020304"/>
                        </a:rPr>
                        <a:t>执行路径</a:t>
                      </a: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zh-CN" sz="1600" kern="500" dirty="0">
                          <a:latin typeface="Times New Roman" panose="02020603050405020304"/>
                          <a:ea typeface="微软雅黑 Light" panose="020B0502040204020203" pitchFamily="34" charset="-122"/>
                          <a:cs typeface="Times New Roman" panose="02020603050405020304"/>
                        </a:rPr>
                        <a:t>序号</a:t>
                      </a: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zh-CN" sz="1600" kern="500" dirty="0">
                          <a:latin typeface="Times New Roman" panose="02020603050405020304"/>
                          <a:ea typeface="微软雅黑 Light" panose="020B0502040204020203" pitchFamily="34" charset="-122"/>
                          <a:cs typeface="Times New Roman" panose="02020603050405020304"/>
                        </a:rPr>
                        <a:t>条件组合</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zh-CN" sz="1600" kern="500" dirty="0">
                          <a:latin typeface="Times New Roman" panose="02020603050405020304"/>
                          <a:ea typeface="微软雅黑 Light" panose="020B0502040204020203" pitchFamily="34" charset="-122"/>
                          <a:cs typeface="Times New Roman" panose="02020603050405020304"/>
                        </a:rPr>
                        <a:t>执行路径</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305889">
                <a:tc>
                  <a:txBody>
                    <a:bodyPr/>
                    <a:lstStyle/>
                    <a:p>
                      <a:pPr algn="ctr">
                        <a:spcAft>
                          <a:spcPts val="0"/>
                        </a:spcAft>
                      </a:pPr>
                      <a:r>
                        <a:rPr lang="en-US" sz="1600" kern="500" dirty="0">
                          <a:latin typeface="Times New Roman" panose="02020603050405020304"/>
                          <a:ea typeface="微软雅黑 Light" panose="020B0502040204020203" pitchFamily="34" charset="-122"/>
                          <a:cs typeface="Times New Roman" panose="02020603050405020304"/>
                        </a:rPr>
                        <a:t>1</a:t>
                      </a:r>
                      <a:endParaRPr lang="zh-CN" sz="1600" kern="500" dirty="0">
                        <a:latin typeface="Times New Roman" panose="02020603050405020304"/>
                        <a:ea typeface="微软雅黑 Light" panose="020B0502040204020203" pitchFamily="34" charset="-122"/>
                        <a:cs typeface="Times New Roman" panose="02020603050405020304"/>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indent="57150" algn="l">
                        <a:spcAft>
                          <a:spcPts val="0"/>
                        </a:spcAft>
                      </a:pPr>
                      <a:r>
                        <a:rPr lang="en-US" sz="1600" kern="500" dirty="0">
                          <a:latin typeface="Times New Roman" panose="02020603050405020304"/>
                          <a:ea typeface="微软雅黑 Light" panose="020B0502040204020203" pitchFamily="34" charset="-122"/>
                          <a:cs typeface="Times New Roman" panose="02020603050405020304"/>
                        </a:rPr>
                        <a:t>A&gt;3</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B&lt;0</a:t>
                      </a:r>
                      <a:endParaRPr lang="zh-CN" sz="1600" kern="500" dirty="0">
                        <a:latin typeface="Times New Roman" panose="02020603050405020304"/>
                        <a:ea typeface="微软雅黑 Light" panose="020B0502040204020203" pitchFamily="34"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indent="57150" algn="l">
                        <a:spcAft>
                          <a:spcPts val="0"/>
                        </a:spcAft>
                      </a:pPr>
                      <a:r>
                        <a:rPr lang="en-US" sz="1600" kern="500" dirty="0">
                          <a:latin typeface="Times New Roman" panose="02020603050405020304"/>
                          <a:ea typeface="微软雅黑 Light" panose="020B0502040204020203" pitchFamily="34" charset="-122"/>
                          <a:cs typeface="Times New Roman" panose="02020603050405020304"/>
                        </a:rPr>
                        <a:t>s</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a</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b</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e</a:t>
                      </a:r>
                      <a:endParaRPr lang="zh-CN" sz="1600" kern="500" dirty="0">
                        <a:latin typeface="Times New Roman" panose="02020603050405020304"/>
                        <a:ea typeface="微软雅黑 Light" panose="020B0502040204020203" pitchFamily="34"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a:spcAft>
                          <a:spcPts val="0"/>
                        </a:spcAft>
                      </a:pPr>
                      <a:r>
                        <a:rPr lang="en-US" sz="1600" kern="500" dirty="0">
                          <a:latin typeface="Times New Roman" panose="02020603050405020304"/>
                          <a:ea typeface="微软雅黑 Light" panose="020B0502040204020203" pitchFamily="34" charset="-122"/>
                          <a:cs typeface="Times New Roman" panose="02020603050405020304"/>
                        </a:rPr>
                        <a:t>7</a:t>
                      </a:r>
                      <a:endParaRPr lang="zh-CN" sz="1600" kern="500" dirty="0">
                        <a:latin typeface="Times New Roman" panose="02020603050405020304"/>
                        <a:ea typeface="微软雅黑 Light" panose="020B0502040204020203" pitchFamily="34" charset="-122"/>
                        <a:cs typeface="Times New Roman" panose="02020603050405020304"/>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indent="57150" algn="just">
                        <a:spcAft>
                          <a:spcPts val="0"/>
                        </a:spcAft>
                      </a:pPr>
                      <a:r>
                        <a:rPr lang="en-US" sz="1600" kern="500" dirty="0">
                          <a:latin typeface="Times New Roman" panose="02020603050405020304"/>
                          <a:ea typeface="微软雅黑 Light" panose="020B0502040204020203" pitchFamily="34" charset="-122"/>
                          <a:cs typeface="Times New Roman" panose="02020603050405020304"/>
                        </a:rPr>
                        <a:t>2&lt;A&lt;3</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B&lt;0</a:t>
                      </a:r>
                      <a:endParaRPr lang="zh-CN" sz="1600" kern="500" dirty="0">
                        <a:latin typeface="Times New Roman" panose="02020603050405020304"/>
                        <a:ea typeface="微软雅黑 Light" panose="020B0502040204020203" pitchFamily="34"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indent="57150" algn="l">
                        <a:spcAft>
                          <a:spcPts val="0"/>
                        </a:spcAft>
                      </a:pPr>
                      <a:r>
                        <a:rPr lang="en-US" sz="1600" kern="500" dirty="0">
                          <a:latin typeface="Times New Roman" panose="02020603050405020304"/>
                          <a:ea typeface="微软雅黑 Light" panose="020B0502040204020203" pitchFamily="34" charset="-122"/>
                          <a:cs typeface="Times New Roman" panose="02020603050405020304"/>
                        </a:rPr>
                        <a:t>s</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a</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b</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e</a:t>
                      </a:r>
                      <a:endParaRPr lang="zh-CN" sz="1600" kern="500" dirty="0">
                        <a:latin typeface="Times New Roman" panose="02020603050405020304"/>
                        <a:ea typeface="微软雅黑 Light" panose="020B0502040204020203" pitchFamily="34"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305889">
                <a:tc>
                  <a:txBody>
                    <a:bodyPr/>
                    <a:lstStyle/>
                    <a:p>
                      <a:pPr algn="ctr">
                        <a:spcAft>
                          <a:spcPts val="0"/>
                        </a:spcAft>
                      </a:pPr>
                      <a:r>
                        <a:rPr lang="en-US" sz="1600" kern="500" dirty="0">
                          <a:latin typeface="Times New Roman" panose="02020603050405020304"/>
                          <a:ea typeface="微软雅黑 Light" panose="020B0502040204020203" pitchFamily="34" charset="-122"/>
                          <a:cs typeface="Times New Roman" panose="02020603050405020304"/>
                        </a:rPr>
                        <a:t>2</a:t>
                      </a:r>
                      <a:endParaRPr lang="zh-CN" sz="1600" kern="500" dirty="0">
                        <a:latin typeface="Times New Roman" panose="02020603050405020304"/>
                        <a:ea typeface="微软雅黑 Light" panose="020B0502040204020203" pitchFamily="34" charset="-122"/>
                        <a:cs typeface="Times New Roman" panose="02020603050405020304"/>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indent="57150" algn="l">
                        <a:spcAft>
                          <a:spcPts val="0"/>
                        </a:spcAft>
                      </a:pPr>
                      <a:r>
                        <a:rPr lang="en-US" sz="1600" kern="500" dirty="0">
                          <a:latin typeface="Times New Roman" panose="02020603050405020304"/>
                          <a:ea typeface="微软雅黑 Light" panose="020B0502040204020203" pitchFamily="34" charset="-122"/>
                          <a:cs typeface="Times New Roman" panose="02020603050405020304"/>
                        </a:rPr>
                        <a:t>A&gt;3</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B=0</a:t>
                      </a:r>
                      <a:endParaRPr lang="zh-CN" sz="1600" kern="500" dirty="0">
                        <a:latin typeface="Times New Roman" panose="02020603050405020304"/>
                        <a:ea typeface="微软雅黑 Light" panose="020B0502040204020203" pitchFamily="34"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indent="57150" algn="l">
                        <a:spcAft>
                          <a:spcPts val="0"/>
                        </a:spcAft>
                      </a:pPr>
                      <a:r>
                        <a:rPr lang="en-US" sz="1600" kern="500" dirty="0">
                          <a:latin typeface="Times New Roman" panose="02020603050405020304"/>
                          <a:ea typeface="微软雅黑 Light" panose="020B0502040204020203" pitchFamily="34" charset="-122"/>
                          <a:cs typeface="Times New Roman" panose="02020603050405020304"/>
                        </a:rPr>
                        <a:t>s</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a</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b</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d</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e</a:t>
                      </a:r>
                      <a:endParaRPr lang="zh-CN" sz="1600" kern="500" dirty="0">
                        <a:latin typeface="Times New Roman" panose="02020603050405020304"/>
                        <a:ea typeface="微软雅黑 Light" panose="020B0502040204020203" pitchFamily="34"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1600" kern="500" dirty="0">
                          <a:latin typeface="Times New Roman" panose="02020603050405020304"/>
                          <a:ea typeface="微软雅黑 Light" panose="020B0502040204020203" pitchFamily="34" charset="-122"/>
                          <a:cs typeface="Times New Roman" panose="02020603050405020304"/>
                        </a:rPr>
                        <a:t>8</a:t>
                      </a:r>
                      <a:endParaRPr lang="zh-CN" sz="1600" kern="500" dirty="0">
                        <a:latin typeface="Times New Roman" panose="02020603050405020304"/>
                        <a:ea typeface="微软雅黑 Light" panose="020B0502040204020203" pitchFamily="34" charset="-122"/>
                        <a:cs typeface="Times New Roman" panose="02020603050405020304"/>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indent="57150" algn="just">
                        <a:spcAft>
                          <a:spcPts val="0"/>
                        </a:spcAft>
                      </a:pPr>
                      <a:r>
                        <a:rPr lang="en-US" sz="1600" kern="500" dirty="0">
                          <a:latin typeface="Times New Roman" panose="02020603050405020304"/>
                          <a:ea typeface="微软雅黑 Light" panose="020B0502040204020203" pitchFamily="34" charset="-122"/>
                          <a:cs typeface="Times New Roman" panose="02020603050405020304"/>
                        </a:rPr>
                        <a:t>2&lt;A&lt;3</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B=0</a:t>
                      </a:r>
                      <a:endParaRPr lang="zh-CN" sz="1600" kern="500" dirty="0">
                        <a:latin typeface="Times New Roman" panose="02020603050405020304"/>
                        <a:ea typeface="微软雅黑 Light" panose="020B0502040204020203" pitchFamily="34"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indent="57150" algn="l">
                        <a:spcAft>
                          <a:spcPts val="0"/>
                        </a:spcAft>
                      </a:pPr>
                      <a:r>
                        <a:rPr lang="en-US" sz="1600" kern="500" dirty="0">
                          <a:latin typeface="Times New Roman" panose="02020603050405020304"/>
                          <a:ea typeface="微软雅黑 Light" panose="020B0502040204020203" pitchFamily="34" charset="-122"/>
                          <a:cs typeface="Times New Roman" panose="02020603050405020304"/>
                        </a:rPr>
                        <a:t>s</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a</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b</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d</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e</a:t>
                      </a:r>
                      <a:endParaRPr lang="zh-CN" sz="1600" kern="500" dirty="0">
                        <a:latin typeface="Times New Roman" panose="02020603050405020304"/>
                        <a:ea typeface="微软雅黑 Light" panose="020B0502040204020203" pitchFamily="34"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2"/>
                  </a:ext>
                </a:extLst>
              </a:tr>
              <a:tr h="305889">
                <a:tc>
                  <a:txBody>
                    <a:bodyPr/>
                    <a:lstStyle/>
                    <a:p>
                      <a:pPr algn="ctr">
                        <a:spcAft>
                          <a:spcPts val="0"/>
                        </a:spcAft>
                      </a:pPr>
                      <a:r>
                        <a:rPr lang="en-US" sz="1600" kern="500" dirty="0">
                          <a:latin typeface="Times New Roman" panose="02020603050405020304"/>
                          <a:ea typeface="微软雅黑 Light" panose="020B0502040204020203" pitchFamily="34" charset="-122"/>
                          <a:cs typeface="Times New Roman" panose="02020603050405020304"/>
                        </a:rPr>
                        <a:t>3</a:t>
                      </a:r>
                      <a:endParaRPr lang="zh-CN" sz="1600" kern="500" dirty="0">
                        <a:latin typeface="Times New Roman" panose="02020603050405020304"/>
                        <a:ea typeface="微软雅黑 Light" panose="020B0502040204020203" pitchFamily="34" charset="-122"/>
                        <a:cs typeface="Times New Roman" panose="02020603050405020304"/>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indent="57150" algn="l">
                        <a:spcAft>
                          <a:spcPts val="0"/>
                        </a:spcAft>
                      </a:pPr>
                      <a:r>
                        <a:rPr lang="en-US" sz="1600" kern="500" dirty="0">
                          <a:latin typeface="Times New Roman" panose="02020603050405020304"/>
                          <a:ea typeface="微软雅黑 Light" panose="020B0502040204020203" pitchFamily="34" charset="-122"/>
                          <a:cs typeface="Times New Roman" panose="02020603050405020304"/>
                        </a:rPr>
                        <a:t>A&gt;3</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0&lt;B</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1</a:t>
                      </a:r>
                      <a:endParaRPr lang="zh-CN" sz="1600" kern="500" dirty="0">
                        <a:latin typeface="Times New Roman" panose="02020603050405020304"/>
                        <a:ea typeface="微软雅黑 Light" panose="020B0502040204020203" pitchFamily="34"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indent="57150" algn="l">
                        <a:spcAft>
                          <a:spcPts val="0"/>
                        </a:spcAft>
                      </a:pPr>
                      <a:r>
                        <a:rPr lang="en-US" sz="1600" kern="500" dirty="0">
                          <a:latin typeface="Times New Roman" panose="02020603050405020304"/>
                          <a:ea typeface="微软雅黑 Light" panose="020B0502040204020203" pitchFamily="34" charset="-122"/>
                          <a:cs typeface="Times New Roman" panose="02020603050405020304"/>
                        </a:rPr>
                        <a:t>s</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a</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b</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e</a:t>
                      </a:r>
                      <a:endParaRPr lang="zh-CN" sz="1600" kern="500" dirty="0">
                        <a:latin typeface="Times New Roman" panose="02020603050405020304"/>
                        <a:ea typeface="微软雅黑 Light" panose="020B0502040204020203" pitchFamily="34"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1600" kern="500" dirty="0">
                          <a:latin typeface="Times New Roman" panose="02020603050405020304"/>
                          <a:ea typeface="微软雅黑 Light" panose="020B0502040204020203" pitchFamily="34" charset="-122"/>
                          <a:cs typeface="Times New Roman" panose="02020603050405020304"/>
                        </a:rPr>
                        <a:t>9</a:t>
                      </a:r>
                      <a:endParaRPr lang="zh-CN" sz="1600" kern="500" dirty="0">
                        <a:latin typeface="Times New Roman" panose="02020603050405020304"/>
                        <a:ea typeface="微软雅黑 Light" panose="020B0502040204020203" pitchFamily="34" charset="-122"/>
                        <a:cs typeface="Times New Roman" panose="02020603050405020304"/>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indent="57150" algn="just">
                        <a:spcAft>
                          <a:spcPts val="0"/>
                        </a:spcAft>
                      </a:pPr>
                      <a:r>
                        <a:rPr lang="en-US" sz="1600" kern="500" dirty="0">
                          <a:latin typeface="Times New Roman" panose="02020603050405020304"/>
                          <a:ea typeface="微软雅黑 Light" panose="020B0502040204020203" pitchFamily="34" charset="-122"/>
                          <a:cs typeface="Times New Roman" panose="02020603050405020304"/>
                        </a:rPr>
                        <a:t>2&lt;A&lt;3</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0&lt;B</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1</a:t>
                      </a:r>
                      <a:endParaRPr lang="zh-CN" sz="1600" kern="500" dirty="0">
                        <a:latin typeface="Times New Roman" panose="02020603050405020304"/>
                        <a:ea typeface="微软雅黑 Light" panose="020B0502040204020203" pitchFamily="34"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indent="57150" algn="l">
                        <a:spcAft>
                          <a:spcPts val="0"/>
                        </a:spcAft>
                      </a:pPr>
                      <a:r>
                        <a:rPr lang="en-US" sz="1600" kern="500" dirty="0">
                          <a:latin typeface="Times New Roman" panose="02020603050405020304"/>
                          <a:ea typeface="微软雅黑 Light" panose="020B0502040204020203" pitchFamily="34" charset="-122"/>
                          <a:cs typeface="Times New Roman" panose="02020603050405020304"/>
                        </a:rPr>
                        <a:t>s</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a</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b</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e</a:t>
                      </a:r>
                      <a:endParaRPr lang="zh-CN" sz="1600" kern="500" dirty="0">
                        <a:latin typeface="Times New Roman" panose="02020603050405020304"/>
                        <a:ea typeface="微软雅黑 Light" panose="020B0502040204020203" pitchFamily="34"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3"/>
                  </a:ext>
                </a:extLst>
              </a:tr>
              <a:tr h="305889">
                <a:tc>
                  <a:txBody>
                    <a:bodyPr/>
                    <a:lstStyle/>
                    <a:p>
                      <a:pPr algn="ctr">
                        <a:spcAft>
                          <a:spcPts val="0"/>
                        </a:spcAft>
                      </a:pPr>
                      <a:r>
                        <a:rPr lang="en-US" sz="1600" kern="500" dirty="0">
                          <a:latin typeface="Times New Roman" panose="02020603050405020304"/>
                          <a:ea typeface="微软雅黑 Light" panose="020B0502040204020203" pitchFamily="34" charset="-122"/>
                          <a:cs typeface="Times New Roman" panose="02020603050405020304"/>
                        </a:rPr>
                        <a:t>4</a:t>
                      </a:r>
                      <a:endParaRPr lang="zh-CN" sz="1600" kern="500" dirty="0">
                        <a:latin typeface="Times New Roman" panose="02020603050405020304"/>
                        <a:ea typeface="微软雅黑 Light" panose="020B0502040204020203" pitchFamily="34" charset="-122"/>
                        <a:cs typeface="Times New Roman" panose="02020603050405020304"/>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indent="57150" algn="l">
                        <a:spcAft>
                          <a:spcPts val="0"/>
                        </a:spcAft>
                      </a:pPr>
                      <a:r>
                        <a:rPr lang="en-US" sz="1600" kern="500" dirty="0">
                          <a:latin typeface="Times New Roman" panose="02020603050405020304"/>
                          <a:ea typeface="微软雅黑 Light" panose="020B0502040204020203" pitchFamily="34" charset="-122"/>
                          <a:cs typeface="Times New Roman" panose="02020603050405020304"/>
                        </a:rPr>
                        <a:t>A&gt;3</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B&gt;1</a:t>
                      </a:r>
                      <a:endParaRPr lang="zh-CN" sz="1600" kern="500" dirty="0">
                        <a:latin typeface="Times New Roman" panose="02020603050405020304"/>
                        <a:ea typeface="微软雅黑 Light" panose="020B0502040204020203" pitchFamily="34"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indent="57150" algn="l">
                        <a:spcAft>
                          <a:spcPts val="0"/>
                        </a:spcAft>
                      </a:pPr>
                      <a:r>
                        <a:rPr lang="en-US" sz="1600" kern="500" dirty="0">
                          <a:latin typeface="Times New Roman" panose="02020603050405020304"/>
                          <a:ea typeface="微软雅黑 Light" panose="020B0502040204020203" pitchFamily="34" charset="-122"/>
                          <a:cs typeface="Times New Roman" panose="02020603050405020304"/>
                        </a:rPr>
                        <a:t>s</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a</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c</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b</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e</a:t>
                      </a:r>
                      <a:endParaRPr lang="zh-CN" sz="1600" kern="500" dirty="0">
                        <a:latin typeface="Times New Roman" panose="02020603050405020304"/>
                        <a:ea typeface="微软雅黑 Light" panose="020B0502040204020203" pitchFamily="34"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1600" kern="500" dirty="0">
                          <a:latin typeface="Times New Roman" panose="02020603050405020304"/>
                          <a:ea typeface="微软雅黑 Light" panose="020B0502040204020203" pitchFamily="34" charset="-122"/>
                          <a:cs typeface="Times New Roman" panose="02020603050405020304"/>
                        </a:rPr>
                        <a:t>10</a:t>
                      </a:r>
                      <a:endParaRPr lang="zh-CN" sz="1600" kern="500" dirty="0">
                        <a:latin typeface="Times New Roman" panose="02020603050405020304"/>
                        <a:ea typeface="微软雅黑 Light" panose="020B0502040204020203" pitchFamily="34" charset="-122"/>
                        <a:cs typeface="Times New Roman" panose="02020603050405020304"/>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indent="57150" algn="just">
                        <a:spcAft>
                          <a:spcPts val="0"/>
                        </a:spcAft>
                      </a:pPr>
                      <a:r>
                        <a:rPr lang="en-US" sz="1600" kern="500" dirty="0">
                          <a:latin typeface="Times New Roman" panose="02020603050405020304"/>
                          <a:ea typeface="微软雅黑 Light" panose="020B0502040204020203" pitchFamily="34" charset="-122"/>
                          <a:cs typeface="Times New Roman" panose="02020603050405020304"/>
                        </a:rPr>
                        <a:t>2&lt;A&lt;3</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B&gt;1</a:t>
                      </a:r>
                      <a:endParaRPr lang="zh-CN" sz="1600" kern="500" dirty="0">
                        <a:latin typeface="Times New Roman" panose="02020603050405020304"/>
                        <a:ea typeface="微软雅黑 Light" panose="020B0502040204020203" pitchFamily="34"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indent="57150" algn="l">
                        <a:spcAft>
                          <a:spcPts val="0"/>
                        </a:spcAft>
                      </a:pPr>
                      <a:r>
                        <a:rPr lang="en-US" sz="1600" kern="500" dirty="0">
                          <a:latin typeface="Times New Roman" panose="02020603050405020304"/>
                          <a:ea typeface="微软雅黑 Light" panose="020B0502040204020203" pitchFamily="34" charset="-122"/>
                          <a:cs typeface="Times New Roman" panose="02020603050405020304"/>
                        </a:rPr>
                        <a:t>s</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a</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c</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b</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e</a:t>
                      </a:r>
                      <a:endParaRPr lang="zh-CN" sz="1600" kern="500" dirty="0">
                        <a:latin typeface="Times New Roman" panose="02020603050405020304"/>
                        <a:ea typeface="微软雅黑 Light" panose="020B0502040204020203" pitchFamily="34"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4"/>
                  </a:ext>
                </a:extLst>
              </a:tr>
              <a:tr h="305889">
                <a:tc>
                  <a:txBody>
                    <a:bodyPr/>
                    <a:lstStyle/>
                    <a:p>
                      <a:pPr algn="ctr">
                        <a:spcAft>
                          <a:spcPts val="0"/>
                        </a:spcAft>
                      </a:pPr>
                      <a:r>
                        <a:rPr lang="en-US" sz="1600" kern="500" dirty="0">
                          <a:latin typeface="Times New Roman" panose="02020603050405020304"/>
                          <a:ea typeface="微软雅黑 Light" panose="020B0502040204020203" pitchFamily="34" charset="-122"/>
                          <a:cs typeface="Times New Roman" panose="02020603050405020304"/>
                        </a:rPr>
                        <a:t>5</a:t>
                      </a:r>
                      <a:endParaRPr lang="zh-CN" sz="1600" kern="500" dirty="0">
                        <a:latin typeface="Times New Roman" panose="02020603050405020304"/>
                        <a:ea typeface="微软雅黑 Light" panose="020B0502040204020203" pitchFamily="34" charset="-122"/>
                        <a:cs typeface="Times New Roman" panose="02020603050405020304"/>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indent="57150" algn="l">
                        <a:spcAft>
                          <a:spcPts val="0"/>
                        </a:spcAft>
                      </a:pPr>
                      <a:r>
                        <a:rPr lang="en-US" sz="1600" kern="500" dirty="0">
                          <a:latin typeface="Times New Roman" panose="02020603050405020304"/>
                          <a:ea typeface="微软雅黑 Light" panose="020B0502040204020203" pitchFamily="34" charset="-122"/>
                          <a:cs typeface="Times New Roman" panose="02020603050405020304"/>
                        </a:rPr>
                        <a:t>A=3</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B</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0</a:t>
                      </a:r>
                      <a:endParaRPr lang="zh-CN" sz="1600" kern="500" dirty="0">
                        <a:latin typeface="Times New Roman" panose="02020603050405020304"/>
                        <a:ea typeface="微软雅黑 Light" panose="020B0502040204020203" pitchFamily="34"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indent="57150" algn="l">
                        <a:spcAft>
                          <a:spcPts val="0"/>
                        </a:spcAft>
                      </a:pPr>
                      <a:r>
                        <a:rPr lang="en-US" sz="1600" kern="500" dirty="0">
                          <a:latin typeface="Times New Roman" panose="02020603050405020304"/>
                          <a:ea typeface="微软雅黑 Light" panose="020B0502040204020203" pitchFamily="34" charset="-122"/>
                          <a:cs typeface="Times New Roman" panose="02020603050405020304"/>
                        </a:rPr>
                        <a:t>s</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a</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c</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b</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e</a:t>
                      </a:r>
                      <a:endParaRPr lang="zh-CN" sz="1600" kern="500" dirty="0">
                        <a:latin typeface="Times New Roman" panose="02020603050405020304"/>
                        <a:ea typeface="微软雅黑 Light" panose="020B0502040204020203" pitchFamily="34"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1600" kern="500" dirty="0">
                          <a:latin typeface="Times New Roman" panose="02020603050405020304"/>
                          <a:ea typeface="微软雅黑 Light" panose="020B0502040204020203" pitchFamily="34" charset="-122"/>
                          <a:cs typeface="Times New Roman" panose="02020603050405020304"/>
                        </a:rPr>
                        <a:t>11</a:t>
                      </a:r>
                      <a:endParaRPr lang="zh-CN" sz="1600" kern="500" dirty="0">
                        <a:latin typeface="Times New Roman" panose="02020603050405020304"/>
                        <a:ea typeface="微软雅黑 Light" panose="020B0502040204020203" pitchFamily="34" charset="-122"/>
                        <a:cs typeface="Times New Roman" panose="02020603050405020304"/>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indent="57150" algn="just">
                        <a:spcAft>
                          <a:spcPts val="0"/>
                        </a:spcAft>
                      </a:pPr>
                      <a:r>
                        <a:rPr lang="en-US" sz="1600" kern="500" dirty="0">
                          <a:latin typeface="Times New Roman" panose="02020603050405020304"/>
                          <a:ea typeface="微软雅黑 Light" panose="020B0502040204020203" pitchFamily="34" charset="-122"/>
                          <a:cs typeface="Times New Roman" panose="02020603050405020304"/>
                        </a:rPr>
                        <a:t>A</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2</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B</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1</a:t>
                      </a:r>
                      <a:endParaRPr lang="zh-CN" sz="1600" kern="500" dirty="0">
                        <a:latin typeface="Times New Roman" panose="02020603050405020304"/>
                        <a:ea typeface="微软雅黑 Light" panose="020B0502040204020203" pitchFamily="34"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indent="57150" algn="l">
                        <a:spcAft>
                          <a:spcPts val="0"/>
                        </a:spcAft>
                      </a:pPr>
                      <a:r>
                        <a:rPr lang="en-US" sz="1600" kern="500" dirty="0">
                          <a:latin typeface="Times New Roman" panose="02020603050405020304"/>
                          <a:ea typeface="微软雅黑 Light" panose="020B0502040204020203" pitchFamily="34" charset="-122"/>
                          <a:cs typeface="Times New Roman" panose="02020603050405020304"/>
                        </a:rPr>
                        <a:t>s</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a</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b</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e</a:t>
                      </a:r>
                      <a:endParaRPr lang="zh-CN" sz="1600" kern="500" dirty="0">
                        <a:latin typeface="Times New Roman" panose="02020603050405020304"/>
                        <a:ea typeface="微软雅黑 Light" panose="020B0502040204020203" pitchFamily="34"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5"/>
                  </a:ext>
                </a:extLst>
              </a:tr>
              <a:tr h="305889">
                <a:tc>
                  <a:txBody>
                    <a:bodyPr/>
                    <a:lstStyle/>
                    <a:p>
                      <a:pPr algn="ctr">
                        <a:spcAft>
                          <a:spcPts val="0"/>
                        </a:spcAft>
                      </a:pPr>
                      <a:r>
                        <a:rPr lang="en-US" sz="1600" kern="500" dirty="0">
                          <a:latin typeface="Times New Roman" panose="02020603050405020304"/>
                          <a:ea typeface="微软雅黑 Light" panose="020B0502040204020203" pitchFamily="34" charset="-122"/>
                          <a:cs typeface="Times New Roman" panose="02020603050405020304"/>
                        </a:rPr>
                        <a:t>6</a:t>
                      </a:r>
                      <a:endParaRPr lang="zh-CN" sz="1600" kern="500" dirty="0">
                        <a:latin typeface="Times New Roman" panose="02020603050405020304"/>
                        <a:ea typeface="微软雅黑 Light" panose="020B0502040204020203" pitchFamily="34" charset="-122"/>
                        <a:cs typeface="Times New Roman" panose="02020603050405020304"/>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indent="57150" algn="l">
                        <a:spcAft>
                          <a:spcPts val="0"/>
                        </a:spcAft>
                      </a:pPr>
                      <a:r>
                        <a:rPr lang="en-US" sz="1600" kern="500" dirty="0">
                          <a:latin typeface="Times New Roman" panose="02020603050405020304"/>
                          <a:ea typeface="微软雅黑 Light" panose="020B0502040204020203" pitchFamily="34" charset="-122"/>
                          <a:cs typeface="Times New Roman" panose="02020603050405020304"/>
                        </a:rPr>
                        <a:t>A=3</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B=0</a:t>
                      </a:r>
                      <a:endParaRPr lang="zh-CN" sz="1600" kern="500" dirty="0">
                        <a:latin typeface="Times New Roman" panose="02020603050405020304"/>
                        <a:ea typeface="微软雅黑 Light" panose="020B0502040204020203" pitchFamily="34"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indent="57150" algn="l">
                        <a:spcAft>
                          <a:spcPts val="0"/>
                        </a:spcAft>
                      </a:pPr>
                      <a:r>
                        <a:rPr lang="en-US" sz="1600" kern="500" dirty="0">
                          <a:latin typeface="Times New Roman" panose="02020603050405020304"/>
                          <a:ea typeface="微软雅黑 Light" panose="020B0502040204020203" pitchFamily="34" charset="-122"/>
                          <a:cs typeface="Times New Roman" panose="02020603050405020304"/>
                        </a:rPr>
                        <a:t>s</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a</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c</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b</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d</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e</a:t>
                      </a:r>
                      <a:endParaRPr lang="zh-CN" sz="1600" kern="500" dirty="0">
                        <a:latin typeface="Times New Roman" panose="02020603050405020304"/>
                        <a:ea typeface="微软雅黑 Light" panose="020B0502040204020203" pitchFamily="34"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500" dirty="0">
                          <a:latin typeface="Times New Roman" panose="02020603050405020304"/>
                          <a:ea typeface="微软雅黑 Light" panose="020B0502040204020203" pitchFamily="34" charset="-122"/>
                          <a:cs typeface="Times New Roman" panose="02020603050405020304"/>
                        </a:rPr>
                        <a:t>12</a:t>
                      </a:r>
                      <a:endParaRPr lang="zh-CN" sz="1600" kern="500" dirty="0">
                        <a:latin typeface="Times New Roman" panose="02020603050405020304"/>
                        <a:ea typeface="微软雅黑 Light" panose="020B0502040204020203" pitchFamily="34" charset="-122"/>
                        <a:cs typeface="Times New Roman" panose="02020603050405020304"/>
                      </a:endParaRPr>
                    </a:p>
                  </a:txBody>
                  <a:tcPr marL="68580" marR="68580" marT="0" marB="0" anchor="ctr">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indent="57150" algn="just">
                        <a:spcAft>
                          <a:spcPts val="0"/>
                        </a:spcAft>
                      </a:pPr>
                      <a:r>
                        <a:rPr lang="en-US" sz="1600" kern="500" dirty="0">
                          <a:latin typeface="Times New Roman" panose="02020603050405020304"/>
                          <a:ea typeface="微软雅黑 Light" panose="020B0502040204020203" pitchFamily="34" charset="-122"/>
                          <a:cs typeface="Times New Roman" panose="02020603050405020304"/>
                        </a:rPr>
                        <a:t>A</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2</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B&gt;1</a:t>
                      </a:r>
                      <a:endParaRPr lang="zh-CN" sz="1600" kern="500" dirty="0">
                        <a:latin typeface="Times New Roman" panose="02020603050405020304"/>
                        <a:ea typeface="微软雅黑 Light" panose="020B0502040204020203" pitchFamily="34"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indent="57150" algn="l">
                        <a:spcAft>
                          <a:spcPts val="0"/>
                        </a:spcAft>
                      </a:pPr>
                      <a:r>
                        <a:rPr lang="en-US" sz="1600" kern="500" dirty="0">
                          <a:latin typeface="Times New Roman" panose="02020603050405020304"/>
                          <a:ea typeface="微软雅黑 Light" panose="020B0502040204020203" pitchFamily="34" charset="-122"/>
                          <a:cs typeface="Times New Roman" panose="02020603050405020304"/>
                        </a:rPr>
                        <a:t>s</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a</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c</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b</a:t>
                      </a:r>
                      <a:r>
                        <a:rPr lang="zh-CN" sz="1600" kern="500" dirty="0">
                          <a:latin typeface="Times New Roman" panose="02020603050405020304"/>
                          <a:ea typeface="微软雅黑 Light" panose="020B0502040204020203" pitchFamily="34" charset="-122"/>
                          <a:cs typeface="Times New Roman" panose="02020603050405020304"/>
                        </a:rPr>
                        <a:t>→</a:t>
                      </a:r>
                      <a:r>
                        <a:rPr lang="en-US" sz="1600" kern="500" dirty="0">
                          <a:latin typeface="Times New Roman" panose="02020603050405020304"/>
                          <a:ea typeface="微软雅黑 Light" panose="020B0502040204020203" pitchFamily="34" charset="-122"/>
                          <a:cs typeface="Times New Roman" panose="02020603050405020304"/>
                        </a:rPr>
                        <a:t>e</a:t>
                      </a:r>
                      <a:endParaRPr lang="zh-CN" sz="1600" kern="500" dirty="0">
                        <a:latin typeface="Times New Roman" panose="02020603050405020304"/>
                        <a:ea typeface="微软雅黑 Light" panose="020B0502040204020203" pitchFamily="34"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7" name="矩形 16"/>
          <p:cNvSpPr/>
          <p:nvPr/>
        </p:nvSpPr>
        <p:spPr>
          <a:xfrm>
            <a:off x="3397974" y="4042529"/>
            <a:ext cx="5365571" cy="369332"/>
          </a:xfrm>
          <a:prstGeom prst="rect">
            <a:avLst/>
          </a:prstGeom>
        </p:spPr>
        <p:txBody>
          <a:bodyPr wrap="none">
            <a:spAutoFit/>
          </a:bodyPr>
          <a:lstStyle/>
          <a:p>
            <a:r>
              <a:rPr lang="zh-CN" altLang="en-US" dirty="0">
                <a:solidFill>
                  <a:srgbClr val="002060"/>
                </a:solidFill>
                <a:latin typeface="Times New Roman" panose="02020603050405020304" pitchFamily="18" charset="0"/>
              </a:rPr>
              <a:t>表</a:t>
            </a:r>
            <a:r>
              <a:rPr lang="en-US" dirty="0">
                <a:solidFill>
                  <a:srgbClr val="002060"/>
                </a:solidFill>
                <a:latin typeface="Times New Roman" panose="02020603050405020304" pitchFamily="18" charset="0"/>
              </a:rPr>
              <a:t>4-1  </a:t>
            </a:r>
            <a:r>
              <a:rPr lang="zh-CN" altLang="en-US" dirty="0">
                <a:solidFill>
                  <a:srgbClr val="002060"/>
                </a:solidFill>
                <a:latin typeface="Times New Roman" panose="02020603050405020304" pitchFamily="18" charset="0"/>
              </a:rPr>
              <a:t>例</a:t>
            </a:r>
            <a:r>
              <a:rPr lang="en-US" dirty="0">
                <a:solidFill>
                  <a:srgbClr val="002060"/>
                </a:solidFill>
                <a:latin typeface="Times New Roman" panose="02020603050405020304" pitchFamily="18" charset="0"/>
              </a:rPr>
              <a:t>4-1</a:t>
            </a:r>
            <a:r>
              <a:rPr lang="zh-CN" altLang="en-US" dirty="0">
                <a:solidFill>
                  <a:srgbClr val="002060"/>
                </a:solidFill>
                <a:latin typeface="Times New Roman" panose="02020603050405020304" pitchFamily="18" charset="0"/>
              </a:rPr>
              <a:t>测试数据的条件组合及对应的执行路径</a:t>
            </a:r>
          </a:p>
        </p:txBody>
      </p:sp>
    </p:spTree>
    <p:extLst>
      <p:ext uri="{BB962C8B-B14F-4D97-AF65-F5344CB8AC3E}">
        <p14:creationId xmlns:p14="http://schemas.microsoft.com/office/powerpoint/2010/main" val="34163390"/>
      </p:ext>
    </p:extLst>
  </p:cSld>
  <p:clrMapOvr>
    <a:masterClrMapping/>
  </p:clrMapOvr>
  <p:transition>
    <p:pull dir="rd"/>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94376-6890-25C9-B14F-71A73C891F71}"/>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57CA9BC8-E2C6-420C-5051-20D1554B5553}"/>
              </a:ext>
            </a:extLst>
          </p:cNvPr>
          <p:cNvSpPr>
            <a:spLocks noGrp="1"/>
          </p:cNvSpPr>
          <p:nvPr>
            <p:ph type="title"/>
          </p:nvPr>
        </p:nvSpPr>
        <p:spPr>
          <a:xfrm>
            <a:off x="336000" y="360000"/>
            <a:ext cx="5760000" cy="535531"/>
          </a:xfrm>
        </p:spPr>
        <p:txBody>
          <a:bodyPr/>
          <a:lstStyle/>
          <a:p>
            <a:r>
              <a:rPr lang="en-US" dirty="0"/>
              <a:t>4.5 </a:t>
            </a:r>
            <a:r>
              <a:rPr lang="zh-CN" altLang="en-US" dirty="0"/>
              <a:t>设计软件测试方案</a:t>
            </a:r>
            <a:endParaRPr lang="zh-CN" altLang="en-US" dirty="0">
              <a:sym typeface="+mn-ea"/>
            </a:endParaRPr>
          </a:p>
        </p:txBody>
      </p:sp>
      <p:sp>
        <p:nvSpPr>
          <p:cNvPr id="14" name="文本占位符 13">
            <a:extLst>
              <a:ext uri="{FF2B5EF4-FFF2-40B4-BE49-F238E27FC236}">
                <a16:creationId xmlns:a16="http://schemas.microsoft.com/office/drawing/2014/main" id="{A03DE6A7-EE1F-E4D5-FDBF-63530644566E}"/>
              </a:ext>
            </a:extLst>
          </p:cNvPr>
          <p:cNvSpPr>
            <a:spLocks noGrp="1"/>
          </p:cNvSpPr>
          <p:nvPr>
            <p:ph type="body" sz="quarter" idx="10"/>
          </p:nvPr>
        </p:nvSpPr>
        <p:spPr>
          <a:xfrm>
            <a:off x="696000" y="1322832"/>
            <a:ext cx="5400000" cy="400110"/>
          </a:xfrm>
        </p:spPr>
        <p:txBody>
          <a:bodyPr/>
          <a:lstStyle/>
          <a:p>
            <a:r>
              <a:rPr lang="en-US" altLang="zh-CN" dirty="0">
                <a:sym typeface="+mn-ea"/>
              </a:rPr>
              <a:t>4.5.4 </a:t>
            </a:r>
            <a:r>
              <a:rPr lang="zh-CN" altLang="en-US" dirty="0">
                <a:sym typeface="+mn-ea"/>
              </a:rPr>
              <a:t>逻辑覆盖法</a:t>
            </a:r>
            <a:endParaRPr lang="zh-CN" altLang="en-US" dirty="0"/>
          </a:p>
        </p:txBody>
      </p:sp>
      <p:sp>
        <p:nvSpPr>
          <p:cNvPr id="19" name="文本占位符 18">
            <a:extLst>
              <a:ext uri="{FF2B5EF4-FFF2-40B4-BE49-F238E27FC236}">
                <a16:creationId xmlns:a16="http://schemas.microsoft.com/office/drawing/2014/main" id="{F1314F28-214D-43A5-D80F-151151D68C88}"/>
              </a:ext>
            </a:extLst>
          </p:cNvPr>
          <p:cNvSpPr>
            <a:spLocks noGrp="1"/>
          </p:cNvSpPr>
          <p:nvPr>
            <p:ph type="body" sz="quarter" idx="11"/>
          </p:nvPr>
        </p:nvSpPr>
        <p:spPr>
          <a:xfrm>
            <a:off x="6096000" y="360128"/>
            <a:ext cx="5760000" cy="400110"/>
          </a:xfrm>
        </p:spPr>
        <p:txBody>
          <a:bodyPr/>
          <a:lstStyle/>
          <a:p>
            <a:r>
              <a:rPr lang="en-US" altLang="zh-CN" dirty="0"/>
              <a:t>Schema</a:t>
            </a:r>
            <a:endParaRPr lang="zh-CN" altLang="en-US" dirty="0"/>
          </a:p>
        </p:txBody>
      </p:sp>
      <p:sp>
        <p:nvSpPr>
          <p:cNvPr id="51" name="TextBox 10">
            <a:extLst>
              <a:ext uri="{FF2B5EF4-FFF2-40B4-BE49-F238E27FC236}">
                <a16:creationId xmlns:a16="http://schemas.microsoft.com/office/drawing/2014/main" id="{32629E14-9F9D-AC05-6FD0-299C60149E80}"/>
              </a:ext>
            </a:extLst>
          </p:cNvPr>
          <p:cNvSpPr txBox="1">
            <a:spLocks noChangeArrowheads="1"/>
          </p:cNvSpPr>
          <p:nvPr/>
        </p:nvSpPr>
        <p:spPr bwMode="auto">
          <a:xfrm>
            <a:off x="803658" y="1783213"/>
            <a:ext cx="375273"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algn="ctr" eaLnBrk="1" hangingPunct="1"/>
            <a:r>
              <a:rPr lang="en-US" altLang="zh-CN" sz="2800" dirty="0">
                <a:solidFill>
                  <a:srgbClr val="E67819"/>
                </a:solidFill>
                <a:latin typeface="Times New Roman" panose="02020603050405020304" pitchFamily="18" charset="0"/>
                <a:ea typeface="MS UI Gothic" panose="020B0600070205080204" charset="-128"/>
              </a:rPr>
              <a:t>6</a:t>
            </a:r>
            <a:endParaRPr lang="zh-CN" altLang="en-US" sz="2800" dirty="0">
              <a:solidFill>
                <a:srgbClr val="E67819"/>
              </a:solidFill>
              <a:latin typeface="Times New Roman" panose="02020603050405020304" pitchFamily="18" charset="0"/>
              <a:ea typeface="MS UI Gothic" panose="020B0600070205080204" charset="-128"/>
            </a:endParaRPr>
          </a:p>
        </p:txBody>
      </p:sp>
      <p:cxnSp>
        <p:nvCxnSpPr>
          <p:cNvPr id="52" name="直接连接符 51">
            <a:extLst>
              <a:ext uri="{FF2B5EF4-FFF2-40B4-BE49-F238E27FC236}">
                <a16:creationId xmlns:a16="http://schemas.microsoft.com/office/drawing/2014/main" id="{EA3BE47F-B896-44AB-24BC-413AE0A4DF76}"/>
              </a:ext>
            </a:extLst>
          </p:cNvPr>
          <p:cNvCxnSpPr/>
          <p:nvPr/>
        </p:nvCxnSpPr>
        <p:spPr>
          <a:xfrm flipH="1">
            <a:off x="696000" y="1748923"/>
            <a:ext cx="590588"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53" name="矩形 12">
            <a:extLst>
              <a:ext uri="{FF2B5EF4-FFF2-40B4-BE49-F238E27FC236}">
                <a16:creationId xmlns:a16="http://schemas.microsoft.com/office/drawing/2014/main" id="{DF3EECBC-6139-5A81-F5A5-38497F64BFC4}"/>
              </a:ext>
            </a:extLst>
          </p:cNvPr>
          <p:cNvSpPr>
            <a:spLocks noChangeArrowheads="1"/>
          </p:cNvSpPr>
          <p:nvPr/>
        </p:nvSpPr>
        <p:spPr bwMode="auto">
          <a:xfrm>
            <a:off x="1143677" y="1844173"/>
            <a:ext cx="24434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a:r>
              <a:rPr lang="zh-CN" altLang="en-US" dirty="0">
                <a:solidFill>
                  <a:srgbClr val="E67819"/>
                </a:solidFill>
                <a:latin typeface="+mj-ea"/>
                <a:ea typeface="+mj-ea"/>
              </a:rPr>
              <a:t>点覆盖 </a:t>
            </a:r>
            <a:r>
              <a:rPr lang="en-US" altLang="zh-CN" sz="1600" dirty="0">
                <a:solidFill>
                  <a:srgbClr val="E67819"/>
                </a:solidFill>
                <a:latin typeface="+mj-ea"/>
                <a:ea typeface="+mj-ea"/>
              </a:rPr>
              <a:t>Point Coverage</a:t>
            </a:r>
            <a:endParaRPr lang="zh-CN" altLang="en-US" dirty="0">
              <a:solidFill>
                <a:srgbClr val="E67819"/>
              </a:solidFill>
              <a:latin typeface="+mj-ea"/>
              <a:ea typeface="+mj-ea"/>
            </a:endParaRPr>
          </a:p>
        </p:txBody>
      </p:sp>
      <p:sp>
        <p:nvSpPr>
          <p:cNvPr id="54" name="矩形 9">
            <a:extLst>
              <a:ext uri="{FF2B5EF4-FFF2-40B4-BE49-F238E27FC236}">
                <a16:creationId xmlns:a16="http://schemas.microsoft.com/office/drawing/2014/main" id="{712CB3F5-CEB3-7673-55D4-1FA079EA4D0B}"/>
              </a:ext>
            </a:extLst>
          </p:cNvPr>
          <p:cNvSpPr>
            <a:spLocks noChangeArrowheads="1"/>
          </p:cNvSpPr>
          <p:nvPr/>
        </p:nvSpPr>
        <p:spPr bwMode="auto">
          <a:xfrm>
            <a:off x="336001" y="2150243"/>
            <a:ext cx="6492976" cy="1859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fontAlgn="auto">
              <a:lnSpc>
                <a:spcPct val="130000"/>
              </a:lnSpc>
            </a:pPr>
            <a:r>
              <a:rPr dirty="0"/>
              <a:t>把程序流程图中的每个符号看成一个点，原来连接不同处理符号的箭头改为连接不同点的有向弧，就可得到一个有向图，称之为程序图。点覆盖测试要求选取足够多的数据，使得程序执行时至少经过程序图中的每个点一次。显然，点覆盖和语句覆盖的要求是相同的。</a:t>
            </a:r>
          </a:p>
        </p:txBody>
      </p:sp>
      <p:pic>
        <p:nvPicPr>
          <p:cNvPr id="2" name="图片 124">
            <a:extLst>
              <a:ext uri="{FF2B5EF4-FFF2-40B4-BE49-F238E27FC236}">
                <a16:creationId xmlns:a16="http://schemas.microsoft.com/office/drawing/2014/main" id="{AE12363A-98D3-2060-9768-B905FC7C62DC}"/>
              </a:ext>
            </a:extLst>
          </p:cNvPr>
          <p:cNvPicPr preferRelativeResize="0">
            <a:picLocks noChangeAspect="1" noChangeArrowheads="1"/>
          </p:cNvPicPr>
          <p:nvPr/>
        </p:nvPicPr>
        <p:blipFill>
          <a:blip r:embed="rId3" cstate="print"/>
          <a:srcRect/>
          <a:stretch>
            <a:fillRect/>
          </a:stretch>
        </p:blipFill>
        <p:spPr bwMode="auto">
          <a:xfrm>
            <a:off x="8393585" y="3229325"/>
            <a:ext cx="3462415" cy="3108960"/>
          </a:xfrm>
          <a:prstGeom prst="rect">
            <a:avLst/>
          </a:prstGeom>
          <a:noFill/>
          <a:ln w="9525">
            <a:noFill/>
            <a:miter lim="800000"/>
            <a:headEnd/>
            <a:tailEnd/>
          </a:ln>
        </p:spPr>
      </p:pic>
      <p:sp>
        <p:nvSpPr>
          <p:cNvPr id="4" name="TextBox 33">
            <a:extLst>
              <a:ext uri="{FF2B5EF4-FFF2-40B4-BE49-F238E27FC236}">
                <a16:creationId xmlns:a16="http://schemas.microsoft.com/office/drawing/2014/main" id="{E8440A2C-677A-0CCC-8611-11D75365730C}"/>
              </a:ext>
            </a:extLst>
          </p:cNvPr>
          <p:cNvSpPr txBox="1"/>
          <p:nvPr/>
        </p:nvSpPr>
        <p:spPr>
          <a:xfrm>
            <a:off x="7096067" y="1812994"/>
            <a:ext cx="4759933" cy="1398808"/>
          </a:xfrm>
          <a:prstGeom prst="rect">
            <a:avLst/>
          </a:prstGeom>
          <a:solidFill>
            <a:schemeClr val="bg1">
              <a:lumMod val="95000"/>
            </a:schemeClr>
          </a:solidFill>
        </p:spPr>
        <p:txBody>
          <a:bodyPr wrap="square" lIns="144000" tIns="144000" rIns="144000" bIns="144000">
            <a:spAutoFit/>
          </a:bodyPr>
          <a:lstStyle/>
          <a:p>
            <a:r>
              <a:rPr lang="zh-CN" altLang="en-US" dirty="0"/>
              <a:t>Begin</a:t>
            </a:r>
          </a:p>
          <a:p>
            <a:r>
              <a:rPr lang="zh-CN" altLang="en-US" dirty="0"/>
              <a:t>    IF (A=3)  OR  (B&gt;1)  Then  X:=A*B  Endif</a:t>
            </a:r>
          </a:p>
          <a:p>
            <a:r>
              <a:rPr lang="zh-CN" altLang="en-US" dirty="0"/>
              <a:t>    IF (A&gt;2)  AND  (B=0)  Then  X:=A-3  Endif</a:t>
            </a:r>
          </a:p>
          <a:p>
            <a:r>
              <a:rPr lang="zh-CN" altLang="en-US" dirty="0"/>
              <a:t>End</a:t>
            </a:r>
          </a:p>
        </p:txBody>
      </p:sp>
      <p:grpSp>
        <p:nvGrpSpPr>
          <p:cNvPr id="5" name="组合 8732">
            <a:extLst>
              <a:ext uri="{FF2B5EF4-FFF2-40B4-BE49-F238E27FC236}">
                <a16:creationId xmlns:a16="http://schemas.microsoft.com/office/drawing/2014/main" id="{9CD1E481-FC9B-1F40-6CCC-720C064F33E2}"/>
              </a:ext>
            </a:extLst>
          </p:cNvPr>
          <p:cNvGrpSpPr/>
          <p:nvPr/>
        </p:nvGrpSpPr>
        <p:grpSpPr bwMode="auto">
          <a:xfrm>
            <a:off x="5705417" y="3666075"/>
            <a:ext cx="2103120" cy="3048000"/>
            <a:chOff x="4113" y="5043"/>
            <a:chExt cx="1402" cy="2379"/>
          </a:xfrm>
        </p:grpSpPr>
        <p:sp>
          <p:nvSpPr>
            <p:cNvPr id="6" name="椭圆 8733">
              <a:extLst>
                <a:ext uri="{FF2B5EF4-FFF2-40B4-BE49-F238E27FC236}">
                  <a16:creationId xmlns:a16="http://schemas.microsoft.com/office/drawing/2014/main" id="{F42F4892-33A8-1BB6-D910-9CE259044B19}"/>
                </a:ext>
              </a:extLst>
            </p:cNvPr>
            <p:cNvSpPr>
              <a:spLocks noChangeArrowheads="1"/>
            </p:cNvSpPr>
            <p:nvPr/>
          </p:nvSpPr>
          <p:spPr bwMode="auto">
            <a:xfrm>
              <a:off x="4296" y="5121"/>
              <a:ext cx="119" cy="119"/>
            </a:xfrm>
            <a:prstGeom prst="ellipse">
              <a:avLst/>
            </a:prstGeom>
            <a:no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11" name="椭圆 8734">
              <a:extLst>
                <a:ext uri="{FF2B5EF4-FFF2-40B4-BE49-F238E27FC236}">
                  <a16:creationId xmlns:a16="http://schemas.microsoft.com/office/drawing/2014/main" id="{BC3F6996-DB1B-99FB-2363-544B444DF847}"/>
                </a:ext>
              </a:extLst>
            </p:cNvPr>
            <p:cNvSpPr>
              <a:spLocks noChangeArrowheads="1"/>
            </p:cNvSpPr>
            <p:nvPr/>
          </p:nvSpPr>
          <p:spPr bwMode="auto">
            <a:xfrm>
              <a:off x="4296" y="5825"/>
              <a:ext cx="119" cy="119"/>
            </a:xfrm>
            <a:prstGeom prst="ellipse">
              <a:avLst/>
            </a:prstGeom>
            <a:no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12" name="椭圆 8735">
              <a:extLst>
                <a:ext uri="{FF2B5EF4-FFF2-40B4-BE49-F238E27FC236}">
                  <a16:creationId xmlns:a16="http://schemas.microsoft.com/office/drawing/2014/main" id="{9705D54E-59EF-935B-059C-0B0D1C8F6739}"/>
                </a:ext>
              </a:extLst>
            </p:cNvPr>
            <p:cNvSpPr>
              <a:spLocks noChangeArrowheads="1"/>
            </p:cNvSpPr>
            <p:nvPr/>
          </p:nvSpPr>
          <p:spPr bwMode="auto">
            <a:xfrm>
              <a:off x="4296" y="6529"/>
              <a:ext cx="119" cy="119"/>
            </a:xfrm>
            <a:prstGeom prst="ellipse">
              <a:avLst/>
            </a:prstGeom>
            <a:no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13" name="椭圆 8736">
              <a:extLst>
                <a:ext uri="{FF2B5EF4-FFF2-40B4-BE49-F238E27FC236}">
                  <a16:creationId xmlns:a16="http://schemas.microsoft.com/office/drawing/2014/main" id="{B3134E5F-E208-5D75-7B05-A638B1C5C315}"/>
                </a:ext>
              </a:extLst>
            </p:cNvPr>
            <p:cNvSpPr>
              <a:spLocks noChangeArrowheads="1"/>
            </p:cNvSpPr>
            <p:nvPr/>
          </p:nvSpPr>
          <p:spPr bwMode="auto">
            <a:xfrm>
              <a:off x="4296" y="7234"/>
              <a:ext cx="119" cy="119"/>
            </a:xfrm>
            <a:prstGeom prst="ellipse">
              <a:avLst/>
            </a:prstGeom>
            <a:solidFill>
              <a:srgbClr val="FFFFFF"/>
            </a:solid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20" name="自选图形 8737">
              <a:extLst>
                <a:ext uri="{FF2B5EF4-FFF2-40B4-BE49-F238E27FC236}">
                  <a16:creationId xmlns:a16="http://schemas.microsoft.com/office/drawing/2014/main" id="{9AE7CC96-875B-58E1-3DEC-D2CE10998DE2}"/>
                </a:ext>
              </a:extLst>
            </p:cNvPr>
            <p:cNvSpPr>
              <a:spLocks noChangeShapeType="1"/>
            </p:cNvSpPr>
            <p:nvPr/>
          </p:nvSpPr>
          <p:spPr bwMode="auto">
            <a:xfrm>
              <a:off x="4358" y="5240"/>
              <a:ext cx="0" cy="585"/>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21" name="自选图形 8738">
              <a:extLst>
                <a:ext uri="{FF2B5EF4-FFF2-40B4-BE49-F238E27FC236}">
                  <a16:creationId xmlns:a16="http://schemas.microsoft.com/office/drawing/2014/main" id="{C5A0420C-A60F-AF32-5FDC-830C2A73D426}"/>
                </a:ext>
              </a:extLst>
            </p:cNvPr>
            <p:cNvSpPr>
              <a:spLocks noChangeShapeType="1"/>
            </p:cNvSpPr>
            <p:nvPr/>
          </p:nvSpPr>
          <p:spPr bwMode="auto">
            <a:xfrm>
              <a:off x="4358" y="5944"/>
              <a:ext cx="0" cy="585"/>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22" name="自选图形 8739">
              <a:extLst>
                <a:ext uri="{FF2B5EF4-FFF2-40B4-BE49-F238E27FC236}">
                  <a16:creationId xmlns:a16="http://schemas.microsoft.com/office/drawing/2014/main" id="{732A5E40-5D9D-BFE2-3EC5-FE780036B1CF}"/>
                </a:ext>
              </a:extLst>
            </p:cNvPr>
            <p:cNvSpPr>
              <a:spLocks noChangeShapeType="1"/>
            </p:cNvSpPr>
            <p:nvPr/>
          </p:nvSpPr>
          <p:spPr bwMode="auto">
            <a:xfrm>
              <a:off x="4358" y="6651"/>
              <a:ext cx="0" cy="585"/>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23" name="自选图形 8740">
              <a:extLst>
                <a:ext uri="{FF2B5EF4-FFF2-40B4-BE49-F238E27FC236}">
                  <a16:creationId xmlns:a16="http://schemas.microsoft.com/office/drawing/2014/main" id="{E92A5914-7406-087E-2650-E58AE32D0573}"/>
                </a:ext>
              </a:extLst>
            </p:cNvPr>
            <p:cNvSpPr>
              <a:spLocks noChangeShapeType="1"/>
            </p:cNvSpPr>
            <p:nvPr/>
          </p:nvSpPr>
          <p:spPr bwMode="auto">
            <a:xfrm flipH="1">
              <a:off x="4415" y="5888"/>
              <a:ext cx="805" cy="0"/>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24" name="自选图形 8741">
              <a:extLst>
                <a:ext uri="{FF2B5EF4-FFF2-40B4-BE49-F238E27FC236}">
                  <a16:creationId xmlns:a16="http://schemas.microsoft.com/office/drawing/2014/main" id="{50D64E6D-792A-2407-4981-CA92F9DC6A9B}"/>
                </a:ext>
              </a:extLst>
            </p:cNvPr>
            <p:cNvSpPr>
              <a:spLocks noChangeShapeType="1"/>
            </p:cNvSpPr>
            <p:nvPr/>
          </p:nvSpPr>
          <p:spPr bwMode="auto">
            <a:xfrm flipH="1">
              <a:off x="4415" y="6594"/>
              <a:ext cx="805" cy="0"/>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25" name="文本框 8742">
              <a:extLst>
                <a:ext uri="{FF2B5EF4-FFF2-40B4-BE49-F238E27FC236}">
                  <a16:creationId xmlns:a16="http://schemas.microsoft.com/office/drawing/2014/main" id="{140E2827-5D1F-7A8D-A226-245F113F24CA}"/>
                </a:ext>
              </a:extLst>
            </p:cNvPr>
            <p:cNvSpPr txBox="1">
              <a:spLocks noChangeArrowheads="1"/>
            </p:cNvSpPr>
            <p:nvPr/>
          </p:nvSpPr>
          <p:spPr bwMode="auto">
            <a:xfrm>
              <a:off x="4113" y="5043"/>
              <a:ext cx="146" cy="22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s</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26" name="文本框 8743">
              <a:extLst>
                <a:ext uri="{FF2B5EF4-FFF2-40B4-BE49-F238E27FC236}">
                  <a16:creationId xmlns:a16="http://schemas.microsoft.com/office/drawing/2014/main" id="{DF32D4A0-88D3-BB84-C26F-82C70C8B545A}"/>
                </a:ext>
              </a:extLst>
            </p:cNvPr>
            <p:cNvSpPr txBox="1">
              <a:spLocks noChangeArrowheads="1"/>
            </p:cNvSpPr>
            <p:nvPr/>
          </p:nvSpPr>
          <p:spPr bwMode="auto">
            <a:xfrm>
              <a:off x="4113" y="5755"/>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a</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27" name="文本框 8744">
              <a:extLst>
                <a:ext uri="{FF2B5EF4-FFF2-40B4-BE49-F238E27FC236}">
                  <a16:creationId xmlns:a16="http://schemas.microsoft.com/office/drawing/2014/main" id="{3206EC1B-BD06-1962-799F-81EEDF0FB556}"/>
                </a:ext>
              </a:extLst>
            </p:cNvPr>
            <p:cNvSpPr txBox="1">
              <a:spLocks noChangeArrowheads="1"/>
            </p:cNvSpPr>
            <p:nvPr/>
          </p:nvSpPr>
          <p:spPr bwMode="auto">
            <a:xfrm>
              <a:off x="4113" y="6467"/>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b</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28" name="文本框 8745">
              <a:extLst>
                <a:ext uri="{FF2B5EF4-FFF2-40B4-BE49-F238E27FC236}">
                  <a16:creationId xmlns:a16="http://schemas.microsoft.com/office/drawing/2014/main" id="{7F2ABF9F-B88A-3868-A325-8FC387BD9088}"/>
                </a:ext>
              </a:extLst>
            </p:cNvPr>
            <p:cNvSpPr txBox="1">
              <a:spLocks noChangeArrowheads="1"/>
            </p:cNvSpPr>
            <p:nvPr/>
          </p:nvSpPr>
          <p:spPr bwMode="auto">
            <a:xfrm>
              <a:off x="4113" y="7175"/>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e</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29" name="文本框 8746">
              <a:extLst>
                <a:ext uri="{FF2B5EF4-FFF2-40B4-BE49-F238E27FC236}">
                  <a16:creationId xmlns:a16="http://schemas.microsoft.com/office/drawing/2014/main" id="{9F8F18A9-B4C2-8D1C-CEDC-31594A8C131E}"/>
                </a:ext>
              </a:extLst>
            </p:cNvPr>
            <p:cNvSpPr txBox="1">
              <a:spLocks noChangeArrowheads="1"/>
            </p:cNvSpPr>
            <p:nvPr/>
          </p:nvSpPr>
          <p:spPr bwMode="auto">
            <a:xfrm>
              <a:off x="5369" y="5748"/>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c</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30" name="文本框 8747">
              <a:extLst>
                <a:ext uri="{FF2B5EF4-FFF2-40B4-BE49-F238E27FC236}">
                  <a16:creationId xmlns:a16="http://schemas.microsoft.com/office/drawing/2014/main" id="{6FCEFE53-2DBE-44DC-552A-FA14B5565486}"/>
                </a:ext>
              </a:extLst>
            </p:cNvPr>
            <p:cNvSpPr txBox="1">
              <a:spLocks noChangeArrowheads="1"/>
            </p:cNvSpPr>
            <p:nvPr/>
          </p:nvSpPr>
          <p:spPr bwMode="auto">
            <a:xfrm>
              <a:off x="5366" y="6458"/>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d</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31" name="文本框 8748">
              <a:extLst>
                <a:ext uri="{FF2B5EF4-FFF2-40B4-BE49-F238E27FC236}">
                  <a16:creationId xmlns:a16="http://schemas.microsoft.com/office/drawing/2014/main" id="{6A495409-54FC-AABE-A07C-3AA07AA1EB56}"/>
                </a:ext>
              </a:extLst>
            </p:cNvPr>
            <p:cNvSpPr txBox="1">
              <a:spLocks noChangeArrowheads="1"/>
            </p:cNvSpPr>
            <p:nvPr/>
          </p:nvSpPr>
          <p:spPr bwMode="auto">
            <a:xfrm>
              <a:off x="4194" y="5390"/>
              <a:ext cx="146" cy="22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1</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32" name="文本框 8749">
              <a:extLst>
                <a:ext uri="{FF2B5EF4-FFF2-40B4-BE49-F238E27FC236}">
                  <a16:creationId xmlns:a16="http://schemas.microsoft.com/office/drawing/2014/main" id="{4D8430BD-5503-2FAD-926D-F52C95F5E111}"/>
                </a:ext>
              </a:extLst>
            </p:cNvPr>
            <p:cNvSpPr txBox="1">
              <a:spLocks noChangeArrowheads="1"/>
            </p:cNvSpPr>
            <p:nvPr/>
          </p:nvSpPr>
          <p:spPr bwMode="auto">
            <a:xfrm>
              <a:off x="4194" y="6088"/>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2</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33" name="文本框 8750">
              <a:extLst>
                <a:ext uri="{FF2B5EF4-FFF2-40B4-BE49-F238E27FC236}">
                  <a16:creationId xmlns:a16="http://schemas.microsoft.com/office/drawing/2014/main" id="{5BBAC55B-5E6F-F250-0D8A-CEE44122247D}"/>
                </a:ext>
              </a:extLst>
            </p:cNvPr>
            <p:cNvSpPr txBox="1">
              <a:spLocks noChangeArrowheads="1"/>
            </p:cNvSpPr>
            <p:nvPr/>
          </p:nvSpPr>
          <p:spPr bwMode="auto">
            <a:xfrm>
              <a:off x="4194" y="6801"/>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3</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34" name="文本框 8751">
              <a:extLst>
                <a:ext uri="{FF2B5EF4-FFF2-40B4-BE49-F238E27FC236}">
                  <a16:creationId xmlns:a16="http://schemas.microsoft.com/office/drawing/2014/main" id="{95AE7A59-884F-C6F7-42EB-C4D077D48CF5}"/>
                </a:ext>
              </a:extLst>
            </p:cNvPr>
            <p:cNvSpPr txBox="1">
              <a:spLocks noChangeArrowheads="1"/>
            </p:cNvSpPr>
            <p:nvPr/>
          </p:nvSpPr>
          <p:spPr bwMode="auto">
            <a:xfrm>
              <a:off x="4710" y="5665"/>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4</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35" name="文本框 8752">
              <a:extLst>
                <a:ext uri="{FF2B5EF4-FFF2-40B4-BE49-F238E27FC236}">
                  <a16:creationId xmlns:a16="http://schemas.microsoft.com/office/drawing/2014/main" id="{EDE27BDE-255C-8FFC-C444-F307E44195A9}"/>
                </a:ext>
              </a:extLst>
            </p:cNvPr>
            <p:cNvSpPr txBox="1">
              <a:spLocks noChangeArrowheads="1"/>
            </p:cNvSpPr>
            <p:nvPr/>
          </p:nvSpPr>
          <p:spPr bwMode="auto">
            <a:xfrm>
              <a:off x="4936" y="6185"/>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5</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36" name="文本框 8753">
              <a:extLst>
                <a:ext uri="{FF2B5EF4-FFF2-40B4-BE49-F238E27FC236}">
                  <a16:creationId xmlns:a16="http://schemas.microsoft.com/office/drawing/2014/main" id="{AA400C4C-1F0D-B8EC-6122-3E8C9CA0BB40}"/>
                </a:ext>
              </a:extLst>
            </p:cNvPr>
            <p:cNvSpPr txBox="1">
              <a:spLocks noChangeArrowheads="1"/>
            </p:cNvSpPr>
            <p:nvPr/>
          </p:nvSpPr>
          <p:spPr bwMode="auto">
            <a:xfrm>
              <a:off x="4784" y="6582"/>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6</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37" name="文本框 8754">
              <a:extLst>
                <a:ext uri="{FF2B5EF4-FFF2-40B4-BE49-F238E27FC236}">
                  <a16:creationId xmlns:a16="http://schemas.microsoft.com/office/drawing/2014/main" id="{3DFD0C82-9A77-2C3D-079D-76615EFBFFDB}"/>
                </a:ext>
              </a:extLst>
            </p:cNvPr>
            <p:cNvSpPr txBox="1">
              <a:spLocks noChangeArrowheads="1"/>
            </p:cNvSpPr>
            <p:nvPr/>
          </p:nvSpPr>
          <p:spPr bwMode="auto">
            <a:xfrm>
              <a:off x="5005" y="7106"/>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7</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38" name="弧形 8755">
              <a:extLst>
                <a:ext uri="{FF2B5EF4-FFF2-40B4-BE49-F238E27FC236}">
                  <a16:creationId xmlns:a16="http://schemas.microsoft.com/office/drawing/2014/main" id="{BB6058C4-8E6F-F107-983C-C99917312ED5}"/>
                </a:ext>
              </a:extLst>
            </p:cNvPr>
            <p:cNvSpPr/>
            <p:nvPr/>
          </p:nvSpPr>
          <p:spPr bwMode="auto">
            <a:xfrm flipV="1">
              <a:off x="4415" y="5916"/>
              <a:ext cx="871" cy="667"/>
            </a:xfrm>
            <a:custGeom>
              <a:avLst/>
              <a:gdLst>
                <a:gd name="G0" fmla="+- 568 0 0"/>
                <a:gd name="G1" fmla="+- 21600 0 0"/>
                <a:gd name="G2" fmla="+- 21600 0 0"/>
                <a:gd name="T0" fmla="*/ 0 w 22168"/>
                <a:gd name="T1" fmla="*/ 7 h 24043"/>
                <a:gd name="T2" fmla="*/ 22029 w 22168"/>
                <a:gd name="T3" fmla="*/ 24043 h 24043"/>
                <a:gd name="T4" fmla="*/ 568 w 22168"/>
                <a:gd name="T5" fmla="*/ 21600 h 24043"/>
              </a:gdLst>
              <a:ahLst/>
              <a:cxnLst>
                <a:cxn ang="0">
                  <a:pos x="T0" y="T1"/>
                </a:cxn>
                <a:cxn ang="0">
                  <a:pos x="T2" y="T3"/>
                </a:cxn>
                <a:cxn ang="0">
                  <a:pos x="T4" y="T5"/>
                </a:cxn>
              </a:cxnLst>
              <a:rect l="0" t="0" r="r" b="b"/>
              <a:pathLst>
                <a:path w="22168" h="24043" fill="none" extrusionOk="0">
                  <a:moveTo>
                    <a:pt x="0" y="7"/>
                  </a:moveTo>
                  <a:cubicBezTo>
                    <a:pt x="189" y="2"/>
                    <a:pt x="378" y="-1"/>
                    <a:pt x="568" y="0"/>
                  </a:cubicBezTo>
                  <a:cubicBezTo>
                    <a:pt x="12497" y="0"/>
                    <a:pt x="22168" y="9670"/>
                    <a:pt x="22168" y="21600"/>
                  </a:cubicBezTo>
                  <a:cubicBezTo>
                    <a:pt x="22168" y="22416"/>
                    <a:pt x="22121" y="23231"/>
                    <a:pt x="22029" y="24043"/>
                  </a:cubicBezTo>
                </a:path>
                <a:path w="22168" h="24043" stroke="0" extrusionOk="0">
                  <a:moveTo>
                    <a:pt x="0" y="7"/>
                  </a:moveTo>
                  <a:cubicBezTo>
                    <a:pt x="189" y="2"/>
                    <a:pt x="378" y="-1"/>
                    <a:pt x="568" y="0"/>
                  </a:cubicBezTo>
                  <a:cubicBezTo>
                    <a:pt x="12497" y="0"/>
                    <a:pt x="22168" y="9670"/>
                    <a:pt x="22168" y="21600"/>
                  </a:cubicBezTo>
                  <a:cubicBezTo>
                    <a:pt x="22168" y="22416"/>
                    <a:pt x="22121" y="23231"/>
                    <a:pt x="22029" y="24043"/>
                  </a:cubicBezTo>
                  <a:lnTo>
                    <a:pt x="568" y="21600"/>
                  </a:lnTo>
                  <a:close/>
                </a:path>
              </a:pathLst>
            </a:custGeom>
            <a:no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43" name="椭圆 8756">
              <a:extLst>
                <a:ext uri="{FF2B5EF4-FFF2-40B4-BE49-F238E27FC236}">
                  <a16:creationId xmlns:a16="http://schemas.microsoft.com/office/drawing/2014/main" id="{3BFF3A73-32DD-21A6-9BF6-D64C9B621104}"/>
                </a:ext>
              </a:extLst>
            </p:cNvPr>
            <p:cNvSpPr>
              <a:spLocks noChangeArrowheads="1"/>
            </p:cNvSpPr>
            <p:nvPr/>
          </p:nvSpPr>
          <p:spPr bwMode="auto">
            <a:xfrm>
              <a:off x="5226" y="5822"/>
              <a:ext cx="119" cy="119"/>
            </a:xfrm>
            <a:prstGeom prst="ellipse">
              <a:avLst/>
            </a:prstGeom>
            <a:solidFill>
              <a:srgbClr val="FFFFFF"/>
            </a:solid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44" name="弧形 8757">
              <a:extLst>
                <a:ext uri="{FF2B5EF4-FFF2-40B4-BE49-F238E27FC236}">
                  <a16:creationId xmlns:a16="http://schemas.microsoft.com/office/drawing/2014/main" id="{BDF83E63-2923-4EB4-6527-92B0C55FD6A5}"/>
                </a:ext>
              </a:extLst>
            </p:cNvPr>
            <p:cNvSpPr/>
            <p:nvPr/>
          </p:nvSpPr>
          <p:spPr bwMode="auto">
            <a:xfrm flipV="1">
              <a:off x="4415" y="6629"/>
              <a:ext cx="871" cy="667"/>
            </a:xfrm>
            <a:custGeom>
              <a:avLst/>
              <a:gdLst>
                <a:gd name="G0" fmla="+- 568 0 0"/>
                <a:gd name="G1" fmla="+- 21600 0 0"/>
                <a:gd name="G2" fmla="+- 21600 0 0"/>
                <a:gd name="T0" fmla="*/ 0 w 22168"/>
                <a:gd name="T1" fmla="*/ 7 h 24043"/>
                <a:gd name="T2" fmla="*/ 22029 w 22168"/>
                <a:gd name="T3" fmla="*/ 24043 h 24043"/>
                <a:gd name="T4" fmla="*/ 568 w 22168"/>
                <a:gd name="T5" fmla="*/ 21600 h 24043"/>
              </a:gdLst>
              <a:ahLst/>
              <a:cxnLst>
                <a:cxn ang="0">
                  <a:pos x="T0" y="T1"/>
                </a:cxn>
                <a:cxn ang="0">
                  <a:pos x="T2" y="T3"/>
                </a:cxn>
                <a:cxn ang="0">
                  <a:pos x="T4" y="T5"/>
                </a:cxn>
              </a:cxnLst>
              <a:rect l="0" t="0" r="r" b="b"/>
              <a:pathLst>
                <a:path w="22168" h="24043" fill="none" extrusionOk="0">
                  <a:moveTo>
                    <a:pt x="0" y="7"/>
                  </a:moveTo>
                  <a:cubicBezTo>
                    <a:pt x="189" y="2"/>
                    <a:pt x="378" y="-1"/>
                    <a:pt x="568" y="0"/>
                  </a:cubicBezTo>
                  <a:cubicBezTo>
                    <a:pt x="12497" y="0"/>
                    <a:pt x="22168" y="9670"/>
                    <a:pt x="22168" y="21600"/>
                  </a:cubicBezTo>
                  <a:cubicBezTo>
                    <a:pt x="22168" y="22416"/>
                    <a:pt x="22121" y="23231"/>
                    <a:pt x="22029" y="24043"/>
                  </a:cubicBezTo>
                </a:path>
                <a:path w="22168" h="24043" stroke="0" extrusionOk="0">
                  <a:moveTo>
                    <a:pt x="0" y="7"/>
                  </a:moveTo>
                  <a:cubicBezTo>
                    <a:pt x="189" y="2"/>
                    <a:pt x="378" y="-1"/>
                    <a:pt x="568" y="0"/>
                  </a:cubicBezTo>
                  <a:cubicBezTo>
                    <a:pt x="12497" y="0"/>
                    <a:pt x="22168" y="9670"/>
                    <a:pt x="22168" y="21600"/>
                  </a:cubicBezTo>
                  <a:cubicBezTo>
                    <a:pt x="22168" y="22416"/>
                    <a:pt x="22121" y="23231"/>
                    <a:pt x="22029" y="24043"/>
                  </a:cubicBezTo>
                  <a:lnTo>
                    <a:pt x="568" y="21600"/>
                  </a:lnTo>
                  <a:close/>
                </a:path>
              </a:pathLst>
            </a:custGeom>
            <a:no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45" name="椭圆 8758">
              <a:extLst>
                <a:ext uri="{FF2B5EF4-FFF2-40B4-BE49-F238E27FC236}">
                  <a16:creationId xmlns:a16="http://schemas.microsoft.com/office/drawing/2014/main" id="{7AA5A992-2247-21B6-429F-73566336B8F8}"/>
                </a:ext>
              </a:extLst>
            </p:cNvPr>
            <p:cNvSpPr>
              <a:spLocks noChangeArrowheads="1"/>
            </p:cNvSpPr>
            <p:nvPr/>
          </p:nvSpPr>
          <p:spPr bwMode="auto">
            <a:xfrm>
              <a:off x="5226" y="6529"/>
              <a:ext cx="119" cy="119"/>
            </a:xfrm>
            <a:prstGeom prst="ellipse">
              <a:avLst/>
            </a:prstGeom>
            <a:solidFill>
              <a:srgbClr val="FFFFFF"/>
            </a:solid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grpSp>
      <p:sp>
        <p:nvSpPr>
          <p:cNvPr id="46" name="TextBox 33">
            <a:extLst>
              <a:ext uri="{FF2B5EF4-FFF2-40B4-BE49-F238E27FC236}">
                <a16:creationId xmlns:a16="http://schemas.microsoft.com/office/drawing/2014/main" id="{2C1F0495-DBB7-308D-D0BF-DB03301355B4}"/>
              </a:ext>
            </a:extLst>
          </p:cNvPr>
          <p:cNvSpPr txBox="1"/>
          <p:nvPr/>
        </p:nvSpPr>
        <p:spPr>
          <a:xfrm>
            <a:off x="341419" y="4074197"/>
            <a:ext cx="5176487" cy="2783803"/>
          </a:xfrm>
          <a:prstGeom prst="rect">
            <a:avLst/>
          </a:prstGeom>
          <a:solidFill>
            <a:schemeClr val="bg1">
              <a:lumMod val="95000"/>
            </a:schemeClr>
          </a:solidFill>
        </p:spPr>
        <p:txBody>
          <a:bodyPr wrap="square" lIns="144000" tIns="144000" rIns="144000" bIns="144000">
            <a:spAutoFit/>
          </a:bodyPr>
          <a:lstStyle/>
          <a:p>
            <a:r>
              <a:rPr lang="zh-CN" altLang="en-US" dirty="0"/>
              <a:t>把程序流程图中的每个框看成一个点，把原来连接不同处理符号的箭头改为连接不同点的有向弧，就可以得到程序图</a:t>
            </a:r>
          </a:p>
          <a:p>
            <a:endParaRPr lang="en-US" altLang="zh-CN" dirty="0"/>
          </a:p>
          <a:p>
            <a:r>
              <a:rPr lang="zh-CN" altLang="en-US" dirty="0"/>
              <a:t>点覆盖测试要求选取足够多的数据，使得程序执行时至少经过程序图中的每个点一次。</a:t>
            </a:r>
            <a:endParaRPr lang="en-US" altLang="zh-CN" dirty="0"/>
          </a:p>
          <a:p>
            <a:r>
              <a:rPr lang="zh-CN" altLang="en-US" dirty="0"/>
              <a:t>如本题选</a:t>
            </a:r>
            <a:r>
              <a:rPr lang="en-US" altLang="zh-CN" dirty="0"/>
              <a:t>A=3</a:t>
            </a:r>
            <a:r>
              <a:rPr lang="zh-CN" altLang="en-US" dirty="0"/>
              <a:t>，</a:t>
            </a:r>
            <a:r>
              <a:rPr lang="en-US" altLang="zh-CN" dirty="0"/>
              <a:t>B=0</a:t>
            </a:r>
            <a:r>
              <a:rPr lang="zh-CN" altLang="en-US" dirty="0"/>
              <a:t>即可</a:t>
            </a:r>
            <a:endParaRPr lang="en-US" altLang="zh-CN" dirty="0"/>
          </a:p>
          <a:p>
            <a:endParaRPr lang="en-US" altLang="zh-CN" dirty="0"/>
          </a:p>
          <a:p>
            <a:r>
              <a:rPr lang="zh-CN" altLang="en-US" dirty="0"/>
              <a:t>显然，点覆盖和语句覆盖的要求是相同的。</a:t>
            </a:r>
          </a:p>
        </p:txBody>
      </p:sp>
    </p:spTree>
    <p:extLst>
      <p:ext uri="{BB962C8B-B14F-4D97-AF65-F5344CB8AC3E}">
        <p14:creationId xmlns:p14="http://schemas.microsoft.com/office/powerpoint/2010/main" val="1385789552"/>
      </p:ext>
    </p:extLst>
  </p:cSld>
  <p:clrMapOvr>
    <a:masterClrMapping/>
  </p:clrMapOvr>
  <p:transition>
    <p:pull dir="rd"/>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521FE-12E2-E78A-EFD0-DFAEAC5B8F7C}"/>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B67ED1D3-6752-9635-A273-9FC40594F62F}"/>
              </a:ext>
            </a:extLst>
          </p:cNvPr>
          <p:cNvSpPr>
            <a:spLocks noGrp="1"/>
          </p:cNvSpPr>
          <p:nvPr>
            <p:ph type="title"/>
          </p:nvPr>
        </p:nvSpPr>
        <p:spPr>
          <a:xfrm>
            <a:off x="336000" y="360000"/>
            <a:ext cx="5760000" cy="535531"/>
          </a:xfrm>
        </p:spPr>
        <p:txBody>
          <a:bodyPr/>
          <a:lstStyle/>
          <a:p>
            <a:r>
              <a:rPr lang="en-US" dirty="0"/>
              <a:t>4.5 </a:t>
            </a:r>
            <a:r>
              <a:rPr lang="zh-CN" altLang="en-US" dirty="0"/>
              <a:t>设计软件测试方案</a:t>
            </a:r>
            <a:endParaRPr lang="zh-CN" altLang="en-US" dirty="0">
              <a:sym typeface="+mn-ea"/>
            </a:endParaRPr>
          </a:p>
        </p:txBody>
      </p:sp>
      <p:sp>
        <p:nvSpPr>
          <p:cNvPr id="14" name="文本占位符 13">
            <a:extLst>
              <a:ext uri="{FF2B5EF4-FFF2-40B4-BE49-F238E27FC236}">
                <a16:creationId xmlns:a16="http://schemas.microsoft.com/office/drawing/2014/main" id="{B16B4C52-F8CF-2FBF-0FA3-FF608726FFC0}"/>
              </a:ext>
            </a:extLst>
          </p:cNvPr>
          <p:cNvSpPr>
            <a:spLocks noGrp="1"/>
          </p:cNvSpPr>
          <p:nvPr>
            <p:ph type="body" sz="quarter" idx="10"/>
          </p:nvPr>
        </p:nvSpPr>
        <p:spPr>
          <a:xfrm>
            <a:off x="696000" y="1322832"/>
            <a:ext cx="5400000" cy="400110"/>
          </a:xfrm>
        </p:spPr>
        <p:txBody>
          <a:bodyPr/>
          <a:lstStyle/>
          <a:p>
            <a:r>
              <a:rPr lang="en-US" altLang="zh-CN" dirty="0">
                <a:sym typeface="+mn-ea"/>
              </a:rPr>
              <a:t>4.5.4 </a:t>
            </a:r>
            <a:r>
              <a:rPr lang="zh-CN" altLang="en-US" dirty="0">
                <a:sym typeface="+mn-ea"/>
              </a:rPr>
              <a:t>逻辑覆盖法</a:t>
            </a:r>
            <a:endParaRPr lang="zh-CN" altLang="en-US" dirty="0"/>
          </a:p>
        </p:txBody>
      </p:sp>
      <p:sp>
        <p:nvSpPr>
          <p:cNvPr id="19" name="文本占位符 18">
            <a:extLst>
              <a:ext uri="{FF2B5EF4-FFF2-40B4-BE49-F238E27FC236}">
                <a16:creationId xmlns:a16="http://schemas.microsoft.com/office/drawing/2014/main" id="{8CF8F82B-DF50-9E23-CEDF-55F4C6A47FD3}"/>
              </a:ext>
            </a:extLst>
          </p:cNvPr>
          <p:cNvSpPr>
            <a:spLocks noGrp="1"/>
          </p:cNvSpPr>
          <p:nvPr>
            <p:ph type="body" sz="quarter" idx="11"/>
          </p:nvPr>
        </p:nvSpPr>
        <p:spPr>
          <a:xfrm>
            <a:off x="6096000" y="360128"/>
            <a:ext cx="5760000" cy="400110"/>
          </a:xfrm>
        </p:spPr>
        <p:txBody>
          <a:bodyPr/>
          <a:lstStyle/>
          <a:p>
            <a:r>
              <a:rPr lang="en-US" altLang="zh-CN" dirty="0"/>
              <a:t>Schema</a:t>
            </a:r>
            <a:endParaRPr lang="zh-CN" altLang="en-US" dirty="0"/>
          </a:p>
        </p:txBody>
      </p:sp>
      <p:sp>
        <p:nvSpPr>
          <p:cNvPr id="7" name="TextBox 1">
            <a:extLst>
              <a:ext uri="{FF2B5EF4-FFF2-40B4-BE49-F238E27FC236}">
                <a16:creationId xmlns:a16="http://schemas.microsoft.com/office/drawing/2014/main" id="{7633D8AB-1D29-47EF-9E81-E11B01098BFF}"/>
              </a:ext>
            </a:extLst>
          </p:cNvPr>
          <p:cNvSpPr txBox="1">
            <a:spLocks noChangeArrowheads="1"/>
          </p:cNvSpPr>
          <p:nvPr/>
        </p:nvSpPr>
        <p:spPr bwMode="auto">
          <a:xfrm>
            <a:off x="677100" y="1883461"/>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algn="ctr" eaLnBrk="1" hangingPunct="1"/>
            <a:r>
              <a:rPr lang="en-US" sz="2800" dirty="0">
                <a:solidFill>
                  <a:srgbClr val="E67819"/>
                </a:solidFill>
                <a:latin typeface="Times New Roman" panose="02020603050405020304" pitchFamily="18" charset="0"/>
                <a:ea typeface="MS UI Gothic" panose="020B0600070205080204" charset="-128"/>
              </a:rPr>
              <a:t>7</a:t>
            </a:r>
          </a:p>
        </p:txBody>
      </p:sp>
      <p:cxnSp>
        <p:nvCxnSpPr>
          <p:cNvPr id="8" name="直接连接符 7">
            <a:extLst>
              <a:ext uri="{FF2B5EF4-FFF2-40B4-BE49-F238E27FC236}">
                <a16:creationId xmlns:a16="http://schemas.microsoft.com/office/drawing/2014/main" id="{71FE9C54-CC93-C611-8833-713E4022DE19}"/>
              </a:ext>
            </a:extLst>
          </p:cNvPr>
          <p:cNvCxnSpPr/>
          <p:nvPr/>
        </p:nvCxnSpPr>
        <p:spPr>
          <a:xfrm flipH="1">
            <a:off x="563923" y="1849796"/>
            <a:ext cx="590556"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9" name="矩形 7">
            <a:extLst>
              <a:ext uri="{FF2B5EF4-FFF2-40B4-BE49-F238E27FC236}">
                <a16:creationId xmlns:a16="http://schemas.microsoft.com/office/drawing/2014/main" id="{44F9D400-F36C-FF3B-6D4E-B90FEDDE1A9D}"/>
              </a:ext>
            </a:extLst>
          </p:cNvPr>
          <p:cNvSpPr>
            <a:spLocks noChangeArrowheads="1"/>
          </p:cNvSpPr>
          <p:nvPr/>
        </p:nvSpPr>
        <p:spPr bwMode="auto">
          <a:xfrm>
            <a:off x="1016321" y="1945046"/>
            <a:ext cx="26889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dirty="0">
                <a:solidFill>
                  <a:srgbClr val="E67819"/>
                </a:solidFill>
                <a:latin typeface="+mj-ea"/>
                <a:ea typeface="+mj-ea"/>
              </a:rPr>
              <a:t>边覆盖 </a:t>
            </a:r>
            <a:r>
              <a:rPr lang="en-US" altLang="zh-CN" sz="1600" dirty="0">
                <a:solidFill>
                  <a:srgbClr val="E67819"/>
                </a:solidFill>
                <a:latin typeface="+mj-ea"/>
                <a:ea typeface="+mj-ea"/>
              </a:rPr>
              <a:t>Edge Coverage</a:t>
            </a:r>
            <a:endParaRPr lang="zh-CN" altLang="en-US" dirty="0">
              <a:solidFill>
                <a:srgbClr val="E67819"/>
              </a:solidFill>
              <a:latin typeface="+mj-ea"/>
              <a:ea typeface="+mj-ea"/>
            </a:endParaRPr>
          </a:p>
        </p:txBody>
      </p:sp>
      <p:sp>
        <p:nvSpPr>
          <p:cNvPr id="10" name="矩形 8">
            <a:extLst>
              <a:ext uri="{FF2B5EF4-FFF2-40B4-BE49-F238E27FC236}">
                <a16:creationId xmlns:a16="http://schemas.microsoft.com/office/drawing/2014/main" id="{18B985CE-F79A-FCCE-4ABF-4D259F53D06F}"/>
              </a:ext>
            </a:extLst>
          </p:cNvPr>
          <p:cNvSpPr>
            <a:spLocks noChangeArrowheads="1"/>
          </p:cNvSpPr>
          <p:nvPr/>
        </p:nvSpPr>
        <p:spPr bwMode="auto">
          <a:xfrm>
            <a:off x="1026159" y="2177456"/>
            <a:ext cx="9576000" cy="418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30000"/>
              </a:lnSpc>
            </a:pPr>
            <a:r>
              <a:rPr dirty="0" err="1"/>
              <a:t>边覆盖要求选取足够多的测试数据，使程序执行路径至少经过程序图中的每条边一次</a:t>
            </a:r>
            <a:r>
              <a:rPr dirty="0"/>
              <a:t>。</a:t>
            </a:r>
          </a:p>
        </p:txBody>
      </p:sp>
      <p:sp>
        <p:nvSpPr>
          <p:cNvPr id="12" name="TextBox 33">
            <a:extLst>
              <a:ext uri="{FF2B5EF4-FFF2-40B4-BE49-F238E27FC236}">
                <a16:creationId xmlns:a16="http://schemas.microsoft.com/office/drawing/2014/main" id="{3F9B0530-5FC8-174B-623C-4643179B20EB}"/>
              </a:ext>
            </a:extLst>
          </p:cNvPr>
          <p:cNvSpPr txBox="1"/>
          <p:nvPr/>
        </p:nvSpPr>
        <p:spPr>
          <a:xfrm>
            <a:off x="696001" y="3189825"/>
            <a:ext cx="5400000" cy="2506804"/>
          </a:xfrm>
          <a:prstGeom prst="rect">
            <a:avLst/>
          </a:prstGeom>
          <a:solidFill>
            <a:schemeClr val="bg1">
              <a:lumMod val="95000"/>
            </a:schemeClr>
          </a:solidFill>
        </p:spPr>
        <p:txBody>
          <a:bodyPr wrap="square" lIns="144000" tIns="144000" rIns="144000" bIns="144000">
            <a:spAutoFit/>
          </a:bodyPr>
          <a:lstStyle/>
          <a:p>
            <a:r>
              <a:rPr lang="zh-CN" altLang="en-US" dirty="0"/>
              <a:t>测试数据：</a:t>
            </a:r>
            <a:r>
              <a:rPr lang="en-US" altLang="zh-CN" dirty="0"/>
              <a:t>A=3</a:t>
            </a:r>
            <a:r>
              <a:rPr lang="zh-CN" altLang="en-US" dirty="0"/>
              <a:t>，</a:t>
            </a:r>
            <a:r>
              <a:rPr lang="en-US" altLang="zh-CN" dirty="0"/>
              <a:t>B=0</a:t>
            </a:r>
          </a:p>
          <a:p>
            <a:r>
              <a:rPr lang="zh-CN" altLang="en-US" dirty="0"/>
              <a:t>执行路径：</a:t>
            </a:r>
            <a:r>
              <a:rPr lang="en-US" altLang="zh-CN" dirty="0"/>
              <a:t>1→4→5→6→7</a:t>
            </a:r>
            <a:r>
              <a:rPr lang="zh-CN" altLang="en-US" dirty="0"/>
              <a:t>；</a:t>
            </a:r>
          </a:p>
          <a:p>
            <a:r>
              <a:rPr lang="en-US" altLang="zh-CN" dirty="0"/>
              <a:t>A=2</a:t>
            </a:r>
            <a:r>
              <a:rPr lang="zh-CN" altLang="en-US" dirty="0"/>
              <a:t>，</a:t>
            </a:r>
            <a:r>
              <a:rPr lang="en-US" altLang="zh-CN" dirty="0"/>
              <a:t>B= –1</a:t>
            </a:r>
          </a:p>
          <a:p>
            <a:r>
              <a:rPr lang="zh-CN" altLang="en-US" dirty="0"/>
              <a:t>执行路径：</a:t>
            </a:r>
            <a:r>
              <a:rPr lang="en-US" altLang="zh-CN" dirty="0"/>
              <a:t>1→2→3</a:t>
            </a:r>
          </a:p>
          <a:p>
            <a:endParaRPr lang="zh-CN" altLang="en-US" dirty="0"/>
          </a:p>
          <a:p>
            <a:r>
              <a:rPr lang="zh-CN" altLang="en-US" dirty="0"/>
              <a:t>测试数据：</a:t>
            </a:r>
          </a:p>
          <a:p>
            <a:r>
              <a:rPr lang="en-US" altLang="zh-CN" dirty="0"/>
              <a:t>A=3</a:t>
            </a:r>
            <a:r>
              <a:rPr lang="zh-CN" altLang="en-US" dirty="0"/>
              <a:t>，</a:t>
            </a:r>
            <a:r>
              <a:rPr lang="en-US" altLang="zh-CN" dirty="0"/>
              <a:t>B=2</a:t>
            </a:r>
            <a:r>
              <a:rPr lang="zh-CN" altLang="en-US" dirty="0"/>
              <a:t>时，执行路径为</a:t>
            </a:r>
            <a:r>
              <a:rPr lang="en-US" altLang="zh-CN" dirty="0"/>
              <a:t>1→4→5→3</a:t>
            </a:r>
            <a:endParaRPr lang="zh-CN" altLang="en-US" dirty="0"/>
          </a:p>
          <a:p>
            <a:r>
              <a:rPr lang="en-US" altLang="zh-CN" dirty="0"/>
              <a:t>A=4</a:t>
            </a:r>
            <a:r>
              <a:rPr lang="zh-CN" altLang="en-US" dirty="0"/>
              <a:t>，</a:t>
            </a:r>
            <a:r>
              <a:rPr lang="en-US" altLang="zh-CN" dirty="0"/>
              <a:t>B=0</a:t>
            </a:r>
            <a:r>
              <a:rPr lang="zh-CN" altLang="en-US" dirty="0"/>
              <a:t>时，执行路径为</a:t>
            </a:r>
            <a:r>
              <a:rPr lang="en-US" altLang="zh-CN" dirty="0"/>
              <a:t>1→2→6→7</a:t>
            </a:r>
            <a:endParaRPr lang="zh-CN" altLang="en-US" dirty="0"/>
          </a:p>
        </p:txBody>
      </p:sp>
      <p:grpSp>
        <p:nvGrpSpPr>
          <p:cNvPr id="2" name="组合 8732">
            <a:extLst>
              <a:ext uri="{FF2B5EF4-FFF2-40B4-BE49-F238E27FC236}">
                <a16:creationId xmlns:a16="http://schemas.microsoft.com/office/drawing/2014/main" id="{C00ACEFF-CC0F-D246-BCB2-7A783D3CA4B1}"/>
              </a:ext>
            </a:extLst>
          </p:cNvPr>
          <p:cNvGrpSpPr/>
          <p:nvPr/>
        </p:nvGrpSpPr>
        <p:grpSpPr bwMode="auto">
          <a:xfrm>
            <a:off x="8231505" y="3189825"/>
            <a:ext cx="2103120" cy="3048000"/>
            <a:chOff x="4113" y="5043"/>
            <a:chExt cx="1402" cy="2379"/>
          </a:xfrm>
        </p:grpSpPr>
        <p:sp>
          <p:nvSpPr>
            <p:cNvPr id="20" name="椭圆 8733">
              <a:extLst>
                <a:ext uri="{FF2B5EF4-FFF2-40B4-BE49-F238E27FC236}">
                  <a16:creationId xmlns:a16="http://schemas.microsoft.com/office/drawing/2014/main" id="{44C04828-4BC3-F576-1301-9F264951BF0E}"/>
                </a:ext>
              </a:extLst>
            </p:cNvPr>
            <p:cNvSpPr>
              <a:spLocks noChangeArrowheads="1"/>
            </p:cNvSpPr>
            <p:nvPr/>
          </p:nvSpPr>
          <p:spPr bwMode="auto">
            <a:xfrm>
              <a:off x="4296" y="5121"/>
              <a:ext cx="119" cy="119"/>
            </a:xfrm>
            <a:prstGeom prst="ellipse">
              <a:avLst/>
            </a:prstGeom>
            <a:no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21" name="椭圆 8734">
              <a:extLst>
                <a:ext uri="{FF2B5EF4-FFF2-40B4-BE49-F238E27FC236}">
                  <a16:creationId xmlns:a16="http://schemas.microsoft.com/office/drawing/2014/main" id="{5FF6E044-AA79-8993-081E-404D8AF45C73}"/>
                </a:ext>
              </a:extLst>
            </p:cNvPr>
            <p:cNvSpPr>
              <a:spLocks noChangeArrowheads="1"/>
            </p:cNvSpPr>
            <p:nvPr/>
          </p:nvSpPr>
          <p:spPr bwMode="auto">
            <a:xfrm>
              <a:off x="4296" y="5825"/>
              <a:ext cx="119" cy="119"/>
            </a:xfrm>
            <a:prstGeom prst="ellipse">
              <a:avLst/>
            </a:prstGeom>
            <a:no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23" name="椭圆 8735">
              <a:extLst>
                <a:ext uri="{FF2B5EF4-FFF2-40B4-BE49-F238E27FC236}">
                  <a16:creationId xmlns:a16="http://schemas.microsoft.com/office/drawing/2014/main" id="{409D021B-50C1-16AD-B61A-2D2B78B8B7EF}"/>
                </a:ext>
              </a:extLst>
            </p:cNvPr>
            <p:cNvSpPr>
              <a:spLocks noChangeArrowheads="1"/>
            </p:cNvSpPr>
            <p:nvPr/>
          </p:nvSpPr>
          <p:spPr bwMode="auto">
            <a:xfrm>
              <a:off x="4296" y="6529"/>
              <a:ext cx="119" cy="119"/>
            </a:xfrm>
            <a:prstGeom prst="ellipse">
              <a:avLst/>
            </a:prstGeom>
            <a:no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28" name="椭圆 8736">
              <a:extLst>
                <a:ext uri="{FF2B5EF4-FFF2-40B4-BE49-F238E27FC236}">
                  <a16:creationId xmlns:a16="http://schemas.microsoft.com/office/drawing/2014/main" id="{9F976E23-B3E1-B912-3E9B-CA66B5016C7E}"/>
                </a:ext>
              </a:extLst>
            </p:cNvPr>
            <p:cNvSpPr>
              <a:spLocks noChangeArrowheads="1"/>
            </p:cNvSpPr>
            <p:nvPr/>
          </p:nvSpPr>
          <p:spPr bwMode="auto">
            <a:xfrm>
              <a:off x="4296" y="7234"/>
              <a:ext cx="119" cy="119"/>
            </a:xfrm>
            <a:prstGeom prst="ellipse">
              <a:avLst/>
            </a:prstGeom>
            <a:solidFill>
              <a:srgbClr val="FFFFFF"/>
            </a:solid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29" name="自选图形 8737">
              <a:extLst>
                <a:ext uri="{FF2B5EF4-FFF2-40B4-BE49-F238E27FC236}">
                  <a16:creationId xmlns:a16="http://schemas.microsoft.com/office/drawing/2014/main" id="{4B03DF83-7792-5EBB-4693-2099D99C75F8}"/>
                </a:ext>
              </a:extLst>
            </p:cNvPr>
            <p:cNvSpPr>
              <a:spLocks noChangeShapeType="1"/>
            </p:cNvSpPr>
            <p:nvPr/>
          </p:nvSpPr>
          <p:spPr bwMode="auto">
            <a:xfrm>
              <a:off x="4358" y="5240"/>
              <a:ext cx="0" cy="585"/>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30" name="自选图形 8738">
              <a:extLst>
                <a:ext uri="{FF2B5EF4-FFF2-40B4-BE49-F238E27FC236}">
                  <a16:creationId xmlns:a16="http://schemas.microsoft.com/office/drawing/2014/main" id="{33018BE5-56CD-350D-E7B9-3BB1E728DB3F}"/>
                </a:ext>
              </a:extLst>
            </p:cNvPr>
            <p:cNvSpPr>
              <a:spLocks noChangeShapeType="1"/>
            </p:cNvSpPr>
            <p:nvPr/>
          </p:nvSpPr>
          <p:spPr bwMode="auto">
            <a:xfrm>
              <a:off x="4358" y="5944"/>
              <a:ext cx="0" cy="585"/>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31" name="自选图形 8739">
              <a:extLst>
                <a:ext uri="{FF2B5EF4-FFF2-40B4-BE49-F238E27FC236}">
                  <a16:creationId xmlns:a16="http://schemas.microsoft.com/office/drawing/2014/main" id="{B9408F0A-D77A-1513-CD10-BB5D8755E8A6}"/>
                </a:ext>
              </a:extLst>
            </p:cNvPr>
            <p:cNvSpPr>
              <a:spLocks noChangeShapeType="1"/>
            </p:cNvSpPr>
            <p:nvPr/>
          </p:nvSpPr>
          <p:spPr bwMode="auto">
            <a:xfrm>
              <a:off x="4358" y="6651"/>
              <a:ext cx="0" cy="585"/>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32" name="自选图形 8740">
              <a:extLst>
                <a:ext uri="{FF2B5EF4-FFF2-40B4-BE49-F238E27FC236}">
                  <a16:creationId xmlns:a16="http://schemas.microsoft.com/office/drawing/2014/main" id="{B6E6661F-AF2F-0D83-67C7-BB8E00177D07}"/>
                </a:ext>
              </a:extLst>
            </p:cNvPr>
            <p:cNvSpPr>
              <a:spLocks noChangeShapeType="1"/>
            </p:cNvSpPr>
            <p:nvPr/>
          </p:nvSpPr>
          <p:spPr bwMode="auto">
            <a:xfrm flipH="1">
              <a:off x="4415" y="5888"/>
              <a:ext cx="805" cy="0"/>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35" name="自选图形 8741">
              <a:extLst>
                <a:ext uri="{FF2B5EF4-FFF2-40B4-BE49-F238E27FC236}">
                  <a16:creationId xmlns:a16="http://schemas.microsoft.com/office/drawing/2014/main" id="{DBC149B1-39E6-B268-50A1-199A353B0885}"/>
                </a:ext>
              </a:extLst>
            </p:cNvPr>
            <p:cNvSpPr>
              <a:spLocks noChangeShapeType="1"/>
            </p:cNvSpPr>
            <p:nvPr/>
          </p:nvSpPr>
          <p:spPr bwMode="auto">
            <a:xfrm flipH="1">
              <a:off x="4415" y="6594"/>
              <a:ext cx="805" cy="0"/>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36" name="文本框 8742">
              <a:extLst>
                <a:ext uri="{FF2B5EF4-FFF2-40B4-BE49-F238E27FC236}">
                  <a16:creationId xmlns:a16="http://schemas.microsoft.com/office/drawing/2014/main" id="{4DFB2A65-0DC9-8CFC-F831-A188F3D26742}"/>
                </a:ext>
              </a:extLst>
            </p:cNvPr>
            <p:cNvSpPr txBox="1">
              <a:spLocks noChangeArrowheads="1"/>
            </p:cNvSpPr>
            <p:nvPr/>
          </p:nvSpPr>
          <p:spPr bwMode="auto">
            <a:xfrm>
              <a:off x="4113" y="5043"/>
              <a:ext cx="146" cy="22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s</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37" name="文本框 8743">
              <a:extLst>
                <a:ext uri="{FF2B5EF4-FFF2-40B4-BE49-F238E27FC236}">
                  <a16:creationId xmlns:a16="http://schemas.microsoft.com/office/drawing/2014/main" id="{4C2D25E6-119C-855D-3F33-76B0C9181C65}"/>
                </a:ext>
              </a:extLst>
            </p:cNvPr>
            <p:cNvSpPr txBox="1">
              <a:spLocks noChangeArrowheads="1"/>
            </p:cNvSpPr>
            <p:nvPr/>
          </p:nvSpPr>
          <p:spPr bwMode="auto">
            <a:xfrm>
              <a:off x="4113" y="5755"/>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a</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38" name="文本框 8744">
              <a:extLst>
                <a:ext uri="{FF2B5EF4-FFF2-40B4-BE49-F238E27FC236}">
                  <a16:creationId xmlns:a16="http://schemas.microsoft.com/office/drawing/2014/main" id="{34C1E5E1-DE1E-15B5-6C9F-DFDE0ACC503F}"/>
                </a:ext>
              </a:extLst>
            </p:cNvPr>
            <p:cNvSpPr txBox="1">
              <a:spLocks noChangeArrowheads="1"/>
            </p:cNvSpPr>
            <p:nvPr/>
          </p:nvSpPr>
          <p:spPr bwMode="auto">
            <a:xfrm>
              <a:off x="4113" y="6467"/>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b</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4" name="文本框 8745">
              <a:extLst>
                <a:ext uri="{FF2B5EF4-FFF2-40B4-BE49-F238E27FC236}">
                  <a16:creationId xmlns:a16="http://schemas.microsoft.com/office/drawing/2014/main" id="{69D70F8F-7F4D-92B8-718C-BA077756DCB5}"/>
                </a:ext>
              </a:extLst>
            </p:cNvPr>
            <p:cNvSpPr txBox="1">
              <a:spLocks noChangeArrowheads="1"/>
            </p:cNvSpPr>
            <p:nvPr/>
          </p:nvSpPr>
          <p:spPr bwMode="auto">
            <a:xfrm>
              <a:off x="4113" y="7175"/>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e</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5" name="文本框 8746">
              <a:extLst>
                <a:ext uri="{FF2B5EF4-FFF2-40B4-BE49-F238E27FC236}">
                  <a16:creationId xmlns:a16="http://schemas.microsoft.com/office/drawing/2014/main" id="{905AC110-ECF8-BD4E-62A8-E54ECDEEF078}"/>
                </a:ext>
              </a:extLst>
            </p:cNvPr>
            <p:cNvSpPr txBox="1">
              <a:spLocks noChangeArrowheads="1"/>
            </p:cNvSpPr>
            <p:nvPr/>
          </p:nvSpPr>
          <p:spPr bwMode="auto">
            <a:xfrm>
              <a:off x="5369" y="5748"/>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c</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6" name="文本框 8747">
              <a:extLst>
                <a:ext uri="{FF2B5EF4-FFF2-40B4-BE49-F238E27FC236}">
                  <a16:creationId xmlns:a16="http://schemas.microsoft.com/office/drawing/2014/main" id="{F296D9CE-E5B3-2A04-633F-B2C0802FFEB5}"/>
                </a:ext>
              </a:extLst>
            </p:cNvPr>
            <p:cNvSpPr txBox="1">
              <a:spLocks noChangeArrowheads="1"/>
            </p:cNvSpPr>
            <p:nvPr/>
          </p:nvSpPr>
          <p:spPr bwMode="auto">
            <a:xfrm>
              <a:off x="5366" y="6458"/>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d</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11" name="文本框 8748">
              <a:extLst>
                <a:ext uri="{FF2B5EF4-FFF2-40B4-BE49-F238E27FC236}">
                  <a16:creationId xmlns:a16="http://schemas.microsoft.com/office/drawing/2014/main" id="{54A20D0B-1EBB-DCA8-0671-C34FC359160F}"/>
                </a:ext>
              </a:extLst>
            </p:cNvPr>
            <p:cNvSpPr txBox="1">
              <a:spLocks noChangeArrowheads="1"/>
            </p:cNvSpPr>
            <p:nvPr/>
          </p:nvSpPr>
          <p:spPr bwMode="auto">
            <a:xfrm>
              <a:off x="4194" y="5390"/>
              <a:ext cx="146" cy="22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1</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43" name="文本框 8749">
              <a:extLst>
                <a:ext uri="{FF2B5EF4-FFF2-40B4-BE49-F238E27FC236}">
                  <a16:creationId xmlns:a16="http://schemas.microsoft.com/office/drawing/2014/main" id="{BB13D957-3485-D052-45BD-4664CA0897DF}"/>
                </a:ext>
              </a:extLst>
            </p:cNvPr>
            <p:cNvSpPr txBox="1">
              <a:spLocks noChangeArrowheads="1"/>
            </p:cNvSpPr>
            <p:nvPr/>
          </p:nvSpPr>
          <p:spPr bwMode="auto">
            <a:xfrm>
              <a:off x="4194" y="6088"/>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2</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44" name="文本框 8750">
              <a:extLst>
                <a:ext uri="{FF2B5EF4-FFF2-40B4-BE49-F238E27FC236}">
                  <a16:creationId xmlns:a16="http://schemas.microsoft.com/office/drawing/2014/main" id="{508ABA2B-7048-647E-DF31-8776ED4B81FF}"/>
                </a:ext>
              </a:extLst>
            </p:cNvPr>
            <p:cNvSpPr txBox="1">
              <a:spLocks noChangeArrowheads="1"/>
            </p:cNvSpPr>
            <p:nvPr/>
          </p:nvSpPr>
          <p:spPr bwMode="auto">
            <a:xfrm>
              <a:off x="4194" y="6801"/>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3</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45" name="文本框 8751">
              <a:extLst>
                <a:ext uri="{FF2B5EF4-FFF2-40B4-BE49-F238E27FC236}">
                  <a16:creationId xmlns:a16="http://schemas.microsoft.com/office/drawing/2014/main" id="{916FEDD4-D540-7D28-4CD6-81DF868BA709}"/>
                </a:ext>
              </a:extLst>
            </p:cNvPr>
            <p:cNvSpPr txBox="1">
              <a:spLocks noChangeArrowheads="1"/>
            </p:cNvSpPr>
            <p:nvPr/>
          </p:nvSpPr>
          <p:spPr bwMode="auto">
            <a:xfrm>
              <a:off x="4710" y="5665"/>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4</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46" name="文本框 8752">
              <a:extLst>
                <a:ext uri="{FF2B5EF4-FFF2-40B4-BE49-F238E27FC236}">
                  <a16:creationId xmlns:a16="http://schemas.microsoft.com/office/drawing/2014/main" id="{5429C6EE-9E66-C986-54F6-B8ABFED2CEE7}"/>
                </a:ext>
              </a:extLst>
            </p:cNvPr>
            <p:cNvSpPr txBox="1">
              <a:spLocks noChangeArrowheads="1"/>
            </p:cNvSpPr>
            <p:nvPr/>
          </p:nvSpPr>
          <p:spPr bwMode="auto">
            <a:xfrm>
              <a:off x="4936" y="6185"/>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5</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47" name="文本框 8753">
              <a:extLst>
                <a:ext uri="{FF2B5EF4-FFF2-40B4-BE49-F238E27FC236}">
                  <a16:creationId xmlns:a16="http://schemas.microsoft.com/office/drawing/2014/main" id="{9BC6CF3B-7749-862B-FEF1-C58360481582}"/>
                </a:ext>
              </a:extLst>
            </p:cNvPr>
            <p:cNvSpPr txBox="1">
              <a:spLocks noChangeArrowheads="1"/>
            </p:cNvSpPr>
            <p:nvPr/>
          </p:nvSpPr>
          <p:spPr bwMode="auto">
            <a:xfrm>
              <a:off x="4784" y="6582"/>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6</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48" name="文本框 8754">
              <a:extLst>
                <a:ext uri="{FF2B5EF4-FFF2-40B4-BE49-F238E27FC236}">
                  <a16:creationId xmlns:a16="http://schemas.microsoft.com/office/drawing/2014/main" id="{FC037C69-F5CB-2C39-B8EF-E291CFD339AE}"/>
                </a:ext>
              </a:extLst>
            </p:cNvPr>
            <p:cNvSpPr txBox="1">
              <a:spLocks noChangeArrowheads="1"/>
            </p:cNvSpPr>
            <p:nvPr/>
          </p:nvSpPr>
          <p:spPr bwMode="auto">
            <a:xfrm>
              <a:off x="5005" y="7106"/>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7</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49" name="弧形 8755">
              <a:extLst>
                <a:ext uri="{FF2B5EF4-FFF2-40B4-BE49-F238E27FC236}">
                  <a16:creationId xmlns:a16="http://schemas.microsoft.com/office/drawing/2014/main" id="{90CC8BAE-F6BD-F2FA-9CEB-0C1F4724B246}"/>
                </a:ext>
              </a:extLst>
            </p:cNvPr>
            <p:cNvSpPr/>
            <p:nvPr/>
          </p:nvSpPr>
          <p:spPr bwMode="auto">
            <a:xfrm flipV="1">
              <a:off x="4415" y="5916"/>
              <a:ext cx="871" cy="667"/>
            </a:xfrm>
            <a:custGeom>
              <a:avLst/>
              <a:gdLst>
                <a:gd name="G0" fmla="+- 568 0 0"/>
                <a:gd name="G1" fmla="+- 21600 0 0"/>
                <a:gd name="G2" fmla="+- 21600 0 0"/>
                <a:gd name="T0" fmla="*/ 0 w 22168"/>
                <a:gd name="T1" fmla="*/ 7 h 24043"/>
                <a:gd name="T2" fmla="*/ 22029 w 22168"/>
                <a:gd name="T3" fmla="*/ 24043 h 24043"/>
                <a:gd name="T4" fmla="*/ 568 w 22168"/>
                <a:gd name="T5" fmla="*/ 21600 h 24043"/>
              </a:gdLst>
              <a:ahLst/>
              <a:cxnLst>
                <a:cxn ang="0">
                  <a:pos x="T0" y="T1"/>
                </a:cxn>
                <a:cxn ang="0">
                  <a:pos x="T2" y="T3"/>
                </a:cxn>
                <a:cxn ang="0">
                  <a:pos x="T4" y="T5"/>
                </a:cxn>
              </a:cxnLst>
              <a:rect l="0" t="0" r="r" b="b"/>
              <a:pathLst>
                <a:path w="22168" h="24043" fill="none" extrusionOk="0">
                  <a:moveTo>
                    <a:pt x="0" y="7"/>
                  </a:moveTo>
                  <a:cubicBezTo>
                    <a:pt x="189" y="2"/>
                    <a:pt x="378" y="-1"/>
                    <a:pt x="568" y="0"/>
                  </a:cubicBezTo>
                  <a:cubicBezTo>
                    <a:pt x="12497" y="0"/>
                    <a:pt x="22168" y="9670"/>
                    <a:pt x="22168" y="21600"/>
                  </a:cubicBezTo>
                  <a:cubicBezTo>
                    <a:pt x="22168" y="22416"/>
                    <a:pt x="22121" y="23231"/>
                    <a:pt x="22029" y="24043"/>
                  </a:cubicBezTo>
                </a:path>
                <a:path w="22168" h="24043" stroke="0" extrusionOk="0">
                  <a:moveTo>
                    <a:pt x="0" y="7"/>
                  </a:moveTo>
                  <a:cubicBezTo>
                    <a:pt x="189" y="2"/>
                    <a:pt x="378" y="-1"/>
                    <a:pt x="568" y="0"/>
                  </a:cubicBezTo>
                  <a:cubicBezTo>
                    <a:pt x="12497" y="0"/>
                    <a:pt x="22168" y="9670"/>
                    <a:pt x="22168" y="21600"/>
                  </a:cubicBezTo>
                  <a:cubicBezTo>
                    <a:pt x="22168" y="22416"/>
                    <a:pt x="22121" y="23231"/>
                    <a:pt x="22029" y="24043"/>
                  </a:cubicBezTo>
                  <a:lnTo>
                    <a:pt x="568" y="21600"/>
                  </a:lnTo>
                  <a:close/>
                </a:path>
              </a:pathLst>
            </a:custGeom>
            <a:no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50" name="椭圆 8756">
              <a:extLst>
                <a:ext uri="{FF2B5EF4-FFF2-40B4-BE49-F238E27FC236}">
                  <a16:creationId xmlns:a16="http://schemas.microsoft.com/office/drawing/2014/main" id="{C2DFAE9E-CB11-3B23-A75D-44C6B1407F0E}"/>
                </a:ext>
              </a:extLst>
            </p:cNvPr>
            <p:cNvSpPr>
              <a:spLocks noChangeArrowheads="1"/>
            </p:cNvSpPr>
            <p:nvPr/>
          </p:nvSpPr>
          <p:spPr bwMode="auto">
            <a:xfrm>
              <a:off x="5226" y="5822"/>
              <a:ext cx="119" cy="119"/>
            </a:xfrm>
            <a:prstGeom prst="ellipse">
              <a:avLst/>
            </a:prstGeom>
            <a:solidFill>
              <a:srgbClr val="FFFFFF"/>
            </a:solid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13" name="弧形 8757">
              <a:extLst>
                <a:ext uri="{FF2B5EF4-FFF2-40B4-BE49-F238E27FC236}">
                  <a16:creationId xmlns:a16="http://schemas.microsoft.com/office/drawing/2014/main" id="{B963C126-9835-CA72-2974-5BCB86C75CBC}"/>
                </a:ext>
              </a:extLst>
            </p:cNvPr>
            <p:cNvSpPr/>
            <p:nvPr/>
          </p:nvSpPr>
          <p:spPr bwMode="auto">
            <a:xfrm flipV="1">
              <a:off x="4415" y="6629"/>
              <a:ext cx="871" cy="667"/>
            </a:xfrm>
            <a:custGeom>
              <a:avLst/>
              <a:gdLst>
                <a:gd name="G0" fmla="+- 568 0 0"/>
                <a:gd name="G1" fmla="+- 21600 0 0"/>
                <a:gd name="G2" fmla="+- 21600 0 0"/>
                <a:gd name="T0" fmla="*/ 0 w 22168"/>
                <a:gd name="T1" fmla="*/ 7 h 24043"/>
                <a:gd name="T2" fmla="*/ 22029 w 22168"/>
                <a:gd name="T3" fmla="*/ 24043 h 24043"/>
                <a:gd name="T4" fmla="*/ 568 w 22168"/>
                <a:gd name="T5" fmla="*/ 21600 h 24043"/>
              </a:gdLst>
              <a:ahLst/>
              <a:cxnLst>
                <a:cxn ang="0">
                  <a:pos x="T0" y="T1"/>
                </a:cxn>
                <a:cxn ang="0">
                  <a:pos x="T2" y="T3"/>
                </a:cxn>
                <a:cxn ang="0">
                  <a:pos x="T4" y="T5"/>
                </a:cxn>
              </a:cxnLst>
              <a:rect l="0" t="0" r="r" b="b"/>
              <a:pathLst>
                <a:path w="22168" h="24043" fill="none" extrusionOk="0">
                  <a:moveTo>
                    <a:pt x="0" y="7"/>
                  </a:moveTo>
                  <a:cubicBezTo>
                    <a:pt x="189" y="2"/>
                    <a:pt x="378" y="-1"/>
                    <a:pt x="568" y="0"/>
                  </a:cubicBezTo>
                  <a:cubicBezTo>
                    <a:pt x="12497" y="0"/>
                    <a:pt x="22168" y="9670"/>
                    <a:pt x="22168" y="21600"/>
                  </a:cubicBezTo>
                  <a:cubicBezTo>
                    <a:pt x="22168" y="22416"/>
                    <a:pt x="22121" y="23231"/>
                    <a:pt x="22029" y="24043"/>
                  </a:cubicBezTo>
                </a:path>
                <a:path w="22168" h="24043" stroke="0" extrusionOk="0">
                  <a:moveTo>
                    <a:pt x="0" y="7"/>
                  </a:moveTo>
                  <a:cubicBezTo>
                    <a:pt x="189" y="2"/>
                    <a:pt x="378" y="-1"/>
                    <a:pt x="568" y="0"/>
                  </a:cubicBezTo>
                  <a:cubicBezTo>
                    <a:pt x="12497" y="0"/>
                    <a:pt x="22168" y="9670"/>
                    <a:pt x="22168" y="21600"/>
                  </a:cubicBezTo>
                  <a:cubicBezTo>
                    <a:pt x="22168" y="22416"/>
                    <a:pt x="22121" y="23231"/>
                    <a:pt x="22029" y="24043"/>
                  </a:cubicBezTo>
                  <a:lnTo>
                    <a:pt x="568" y="21600"/>
                  </a:lnTo>
                  <a:close/>
                </a:path>
              </a:pathLst>
            </a:custGeom>
            <a:no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22" name="椭圆 8758">
              <a:extLst>
                <a:ext uri="{FF2B5EF4-FFF2-40B4-BE49-F238E27FC236}">
                  <a16:creationId xmlns:a16="http://schemas.microsoft.com/office/drawing/2014/main" id="{8CB25237-3A3E-D1B1-412D-4C1ED150AFB8}"/>
                </a:ext>
              </a:extLst>
            </p:cNvPr>
            <p:cNvSpPr>
              <a:spLocks noChangeArrowheads="1"/>
            </p:cNvSpPr>
            <p:nvPr/>
          </p:nvSpPr>
          <p:spPr bwMode="auto">
            <a:xfrm>
              <a:off x="5226" y="6529"/>
              <a:ext cx="119" cy="119"/>
            </a:xfrm>
            <a:prstGeom prst="ellipse">
              <a:avLst/>
            </a:prstGeom>
            <a:solidFill>
              <a:srgbClr val="FFFFFF"/>
            </a:solid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grpSp>
    </p:spTree>
    <p:extLst>
      <p:ext uri="{BB962C8B-B14F-4D97-AF65-F5344CB8AC3E}">
        <p14:creationId xmlns:p14="http://schemas.microsoft.com/office/powerpoint/2010/main" val="2392747923"/>
      </p:ext>
    </p:extLst>
  </p:cSld>
  <p:clrMapOvr>
    <a:masterClrMapping/>
  </p:clrMapOvr>
  <p:transition>
    <p:pull dir="rd"/>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037D2-63BD-4323-C78C-58F629F41B7C}"/>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B40100E6-2736-0639-1448-60BCA623727B}"/>
              </a:ext>
            </a:extLst>
          </p:cNvPr>
          <p:cNvSpPr>
            <a:spLocks noGrp="1"/>
          </p:cNvSpPr>
          <p:nvPr>
            <p:ph type="title"/>
          </p:nvPr>
        </p:nvSpPr>
        <p:spPr>
          <a:xfrm>
            <a:off x="336000" y="360000"/>
            <a:ext cx="5760000" cy="535531"/>
          </a:xfrm>
        </p:spPr>
        <p:txBody>
          <a:bodyPr/>
          <a:lstStyle/>
          <a:p>
            <a:r>
              <a:rPr lang="en-US" dirty="0"/>
              <a:t>4.5 </a:t>
            </a:r>
            <a:r>
              <a:rPr lang="zh-CN" altLang="en-US" dirty="0"/>
              <a:t>设计软件测试方案</a:t>
            </a:r>
            <a:endParaRPr lang="zh-CN" altLang="en-US" dirty="0">
              <a:sym typeface="+mn-ea"/>
            </a:endParaRPr>
          </a:p>
        </p:txBody>
      </p:sp>
      <p:sp>
        <p:nvSpPr>
          <p:cNvPr id="14" name="文本占位符 13">
            <a:extLst>
              <a:ext uri="{FF2B5EF4-FFF2-40B4-BE49-F238E27FC236}">
                <a16:creationId xmlns:a16="http://schemas.microsoft.com/office/drawing/2014/main" id="{732BC0CE-C6C2-A87C-53AD-960FA28E0AFF}"/>
              </a:ext>
            </a:extLst>
          </p:cNvPr>
          <p:cNvSpPr>
            <a:spLocks noGrp="1"/>
          </p:cNvSpPr>
          <p:nvPr>
            <p:ph type="body" sz="quarter" idx="10"/>
          </p:nvPr>
        </p:nvSpPr>
        <p:spPr>
          <a:xfrm>
            <a:off x="696000" y="1322832"/>
            <a:ext cx="5400000" cy="400110"/>
          </a:xfrm>
        </p:spPr>
        <p:txBody>
          <a:bodyPr/>
          <a:lstStyle/>
          <a:p>
            <a:r>
              <a:rPr lang="en-US" altLang="zh-CN" dirty="0">
                <a:sym typeface="+mn-ea"/>
              </a:rPr>
              <a:t>4.5.4 </a:t>
            </a:r>
            <a:r>
              <a:rPr lang="zh-CN" altLang="en-US" dirty="0">
                <a:sym typeface="+mn-ea"/>
              </a:rPr>
              <a:t>逻辑覆盖法</a:t>
            </a:r>
            <a:endParaRPr lang="zh-CN" altLang="en-US" dirty="0"/>
          </a:p>
        </p:txBody>
      </p:sp>
      <p:sp>
        <p:nvSpPr>
          <p:cNvPr id="19" name="文本占位符 18">
            <a:extLst>
              <a:ext uri="{FF2B5EF4-FFF2-40B4-BE49-F238E27FC236}">
                <a16:creationId xmlns:a16="http://schemas.microsoft.com/office/drawing/2014/main" id="{7654EDB3-612F-FA5A-9DD7-443547812832}"/>
              </a:ext>
            </a:extLst>
          </p:cNvPr>
          <p:cNvSpPr>
            <a:spLocks noGrp="1"/>
          </p:cNvSpPr>
          <p:nvPr>
            <p:ph type="body" sz="quarter" idx="11"/>
          </p:nvPr>
        </p:nvSpPr>
        <p:spPr>
          <a:xfrm>
            <a:off x="6096000" y="360128"/>
            <a:ext cx="5760000" cy="400110"/>
          </a:xfrm>
        </p:spPr>
        <p:txBody>
          <a:bodyPr/>
          <a:lstStyle/>
          <a:p>
            <a:r>
              <a:rPr lang="en-US" altLang="zh-CN" dirty="0"/>
              <a:t>Schema</a:t>
            </a:r>
            <a:endParaRPr lang="zh-CN" altLang="en-US" dirty="0"/>
          </a:p>
        </p:txBody>
      </p:sp>
      <p:sp>
        <p:nvSpPr>
          <p:cNvPr id="15" name="TextBox 10">
            <a:extLst>
              <a:ext uri="{FF2B5EF4-FFF2-40B4-BE49-F238E27FC236}">
                <a16:creationId xmlns:a16="http://schemas.microsoft.com/office/drawing/2014/main" id="{344A02C2-D22A-7AF9-13F7-78AC1FE14677}"/>
              </a:ext>
            </a:extLst>
          </p:cNvPr>
          <p:cNvSpPr txBox="1">
            <a:spLocks noChangeArrowheads="1"/>
          </p:cNvSpPr>
          <p:nvPr/>
        </p:nvSpPr>
        <p:spPr bwMode="auto">
          <a:xfrm>
            <a:off x="804947" y="1783213"/>
            <a:ext cx="372748"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algn="ctr" eaLnBrk="1" hangingPunct="1"/>
            <a:r>
              <a:rPr lang="en-US" sz="2800" dirty="0">
                <a:solidFill>
                  <a:srgbClr val="E67819"/>
                </a:solidFill>
                <a:latin typeface="Times New Roman" panose="02020603050405020304" pitchFamily="18" charset="0"/>
                <a:ea typeface="MS UI Gothic" panose="020B0600070205080204" charset="-128"/>
              </a:rPr>
              <a:t>8</a:t>
            </a:r>
          </a:p>
        </p:txBody>
      </p:sp>
      <p:cxnSp>
        <p:nvCxnSpPr>
          <p:cNvPr id="16" name="直接连接符 15">
            <a:extLst>
              <a:ext uri="{FF2B5EF4-FFF2-40B4-BE49-F238E27FC236}">
                <a16:creationId xmlns:a16="http://schemas.microsoft.com/office/drawing/2014/main" id="{120293F4-893D-91B5-FD79-DEA6B6B53882}"/>
              </a:ext>
            </a:extLst>
          </p:cNvPr>
          <p:cNvCxnSpPr/>
          <p:nvPr/>
        </p:nvCxnSpPr>
        <p:spPr>
          <a:xfrm flipH="1">
            <a:off x="696000" y="1748923"/>
            <a:ext cx="590643"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7" name="矩形 12">
            <a:extLst>
              <a:ext uri="{FF2B5EF4-FFF2-40B4-BE49-F238E27FC236}">
                <a16:creationId xmlns:a16="http://schemas.microsoft.com/office/drawing/2014/main" id="{AAABF964-B4D5-275B-A23E-6AC78896316D}"/>
              </a:ext>
            </a:extLst>
          </p:cNvPr>
          <p:cNvSpPr>
            <a:spLocks noChangeArrowheads="1"/>
          </p:cNvSpPr>
          <p:nvPr/>
        </p:nvSpPr>
        <p:spPr bwMode="auto">
          <a:xfrm>
            <a:off x="1143745" y="1844173"/>
            <a:ext cx="75323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r>
              <a:rPr lang="zh-CN" altLang="en-US" dirty="0">
                <a:solidFill>
                  <a:srgbClr val="E67819"/>
                </a:solidFill>
                <a:latin typeface="+mj-ea"/>
                <a:ea typeface="+mj-ea"/>
              </a:rPr>
              <a:t>基本路径覆盖 </a:t>
            </a:r>
            <a:r>
              <a:rPr lang="en-US" altLang="zh-CN" sz="1600" dirty="0">
                <a:solidFill>
                  <a:srgbClr val="E67819"/>
                </a:solidFill>
                <a:latin typeface="+mj-ea"/>
                <a:ea typeface="+mj-ea"/>
              </a:rPr>
              <a:t>Basic Path Coverage</a:t>
            </a:r>
            <a:endParaRPr lang="zh-CN" altLang="en-US" dirty="0">
              <a:solidFill>
                <a:srgbClr val="E67819"/>
              </a:solidFill>
              <a:latin typeface="+mj-ea"/>
              <a:ea typeface="+mj-ea"/>
            </a:endParaRPr>
          </a:p>
        </p:txBody>
      </p:sp>
      <p:sp>
        <p:nvSpPr>
          <p:cNvPr id="18" name="矩形 9">
            <a:extLst>
              <a:ext uri="{FF2B5EF4-FFF2-40B4-BE49-F238E27FC236}">
                <a16:creationId xmlns:a16="http://schemas.microsoft.com/office/drawing/2014/main" id="{67FC2AAB-3B77-884F-9A32-9025E754732F}"/>
              </a:ext>
            </a:extLst>
          </p:cNvPr>
          <p:cNvSpPr>
            <a:spLocks noChangeArrowheads="1"/>
          </p:cNvSpPr>
          <p:nvPr/>
        </p:nvSpPr>
        <p:spPr bwMode="auto">
          <a:xfrm>
            <a:off x="1158279" y="2150243"/>
            <a:ext cx="9576000" cy="418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fontAlgn="auto">
              <a:lnSpc>
                <a:spcPct val="130000"/>
              </a:lnSpc>
            </a:pPr>
            <a:r>
              <a:rPr dirty="0" err="1"/>
              <a:t>基本路径覆盖法要求选取足够多的测试数据，使程序的每条可能执行路径都至少执行一次</a:t>
            </a:r>
            <a:r>
              <a:rPr dirty="0"/>
              <a:t>。</a:t>
            </a:r>
          </a:p>
        </p:txBody>
      </p:sp>
      <p:sp>
        <p:nvSpPr>
          <p:cNvPr id="12" name="TextBox 33">
            <a:extLst>
              <a:ext uri="{FF2B5EF4-FFF2-40B4-BE49-F238E27FC236}">
                <a16:creationId xmlns:a16="http://schemas.microsoft.com/office/drawing/2014/main" id="{F23C54FD-9485-3129-7D6E-DF6B5BBC46EE}"/>
              </a:ext>
            </a:extLst>
          </p:cNvPr>
          <p:cNvSpPr txBox="1"/>
          <p:nvPr/>
        </p:nvSpPr>
        <p:spPr>
          <a:xfrm>
            <a:off x="804947" y="2799477"/>
            <a:ext cx="6593449" cy="3781705"/>
          </a:xfrm>
          <a:prstGeom prst="rect">
            <a:avLst/>
          </a:prstGeom>
          <a:solidFill>
            <a:schemeClr val="bg1">
              <a:lumMod val="95000"/>
            </a:schemeClr>
          </a:solidFill>
        </p:spPr>
        <p:txBody>
          <a:bodyPr wrap="square" lIns="144000" tIns="144000" rIns="144000" bIns="144000">
            <a:spAutoFit/>
          </a:bodyPr>
          <a:lstStyle/>
          <a:p>
            <a:pPr fontAlgn="auto">
              <a:lnSpc>
                <a:spcPct val="130000"/>
              </a:lnSpc>
            </a:pPr>
            <a:r>
              <a:rPr lang="zh-CN" altLang="en-US" sz="1600" dirty="0">
                <a:latin typeface="Times New Roman" panose="02020603050405020304" pitchFamily="18" charset="0"/>
              </a:rPr>
              <a:t>选取足够多的测试数据，使程序的每条可能执行路径都至少执行一次。图中可能执行的路径有4条：</a:t>
            </a:r>
            <a:endParaRPr lang="en-US" altLang="zh-CN" sz="1600" dirty="0">
              <a:latin typeface="Times New Roman" panose="02020603050405020304" pitchFamily="18" charset="0"/>
            </a:endParaRPr>
          </a:p>
          <a:p>
            <a:pPr fontAlgn="auto">
              <a:lnSpc>
                <a:spcPct val="130000"/>
              </a:lnSpc>
            </a:pPr>
            <a:r>
              <a:rPr lang="zh-CN" altLang="en-US" sz="1600" dirty="0">
                <a:latin typeface="Times New Roman" panose="02020603050405020304" pitchFamily="18" charset="0"/>
              </a:rPr>
              <a:t>1→2→3，</a:t>
            </a:r>
            <a:endParaRPr lang="en-US" altLang="zh-CN" sz="1600" dirty="0">
              <a:latin typeface="Times New Roman" panose="02020603050405020304" pitchFamily="18" charset="0"/>
            </a:endParaRPr>
          </a:p>
          <a:p>
            <a:pPr fontAlgn="auto">
              <a:lnSpc>
                <a:spcPct val="130000"/>
              </a:lnSpc>
            </a:pPr>
            <a:r>
              <a:rPr lang="zh-CN" altLang="en-US" sz="1600" dirty="0">
                <a:latin typeface="Times New Roman" panose="02020603050405020304" pitchFamily="18" charset="0"/>
              </a:rPr>
              <a:t>1→2→6→7，</a:t>
            </a:r>
            <a:endParaRPr lang="en-US" altLang="zh-CN" sz="1600" dirty="0">
              <a:latin typeface="Times New Roman" panose="02020603050405020304" pitchFamily="18" charset="0"/>
            </a:endParaRPr>
          </a:p>
          <a:p>
            <a:pPr fontAlgn="auto">
              <a:lnSpc>
                <a:spcPct val="130000"/>
              </a:lnSpc>
            </a:pPr>
            <a:r>
              <a:rPr lang="zh-CN" altLang="en-US" sz="1600" dirty="0">
                <a:latin typeface="Times New Roman" panose="02020603050405020304" pitchFamily="18" charset="0"/>
              </a:rPr>
              <a:t>1→4→5→3，</a:t>
            </a:r>
            <a:endParaRPr lang="en-US" altLang="zh-CN" sz="1600" dirty="0">
              <a:latin typeface="Times New Roman" panose="02020603050405020304" pitchFamily="18" charset="0"/>
            </a:endParaRPr>
          </a:p>
          <a:p>
            <a:pPr fontAlgn="auto">
              <a:lnSpc>
                <a:spcPct val="130000"/>
              </a:lnSpc>
            </a:pPr>
            <a:r>
              <a:rPr lang="zh-CN" altLang="en-US" sz="1600" dirty="0">
                <a:latin typeface="Times New Roman" panose="02020603050405020304" pitchFamily="18" charset="0"/>
              </a:rPr>
              <a:t>1→4→5→6→7。</a:t>
            </a:r>
            <a:endParaRPr lang="en-US" altLang="zh-CN" sz="1600" dirty="0">
              <a:latin typeface="Times New Roman" panose="02020603050405020304" pitchFamily="18" charset="0"/>
            </a:endParaRPr>
          </a:p>
          <a:p>
            <a:pPr fontAlgn="auto">
              <a:lnSpc>
                <a:spcPct val="130000"/>
              </a:lnSpc>
            </a:pPr>
            <a:r>
              <a:rPr lang="zh-CN" altLang="en-US" sz="1600" dirty="0">
                <a:latin typeface="Times New Roman" panose="02020603050405020304" pitchFamily="18" charset="0"/>
              </a:rPr>
              <a:t>为了做到路径覆盖，须设计4组测试数据，如：</a:t>
            </a:r>
          </a:p>
          <a:p>
            <a:pPr marL="285750" indent="-285750" fontAlgn="auto">
              <a:lnSpc>
                <a:spcPct val="130000"/>
              </a:lnSpc>
              <a:buClrTx/>
              <a:buFont typeface="Arial" panose="020B0604020202020204" pitchFamily="34" charset="0"/>
              <a:buChar char="•"/>
            </a:pPr>
            <a:r>
              <a:rPr lang="zh-CN" altLang="en-US" sz="1600" dirty="0">
                <a:latin typeface="Times New Roman" panose="02020603050405020304" pitchFamily="18" charset="0"/>
              </a:rPr>
              <a:t>A=1，B=1，执行路径为1→2→3</a:t>
            </a:r>
          </a:p>
          <a:p>
            <a:pPr marL="285750" indent="-285750" fontAlgn="auto">
              <a:lnSpc>
                <a:spcPct val="130000"/>
              </a:lnSpc>
              <a:buClrTx/>
              <a:buFont typeface="Arial" panose="020B0604020202020204" pitchFamily="34" charset="0"/>
              <a:buChar char="•"/>
            </a:pPr>
            <a:r>
              <a:rPr lang="zh-CN" altLang="en-US" sz="1600" dirty="0">
                <a:latin typeface="Times New Roman" panose="02020603050405020304" pitchFamily="18" charset="0"/>
              </a:rPr>
              <a:t>A=4，B=0，执行路径为1→2→6→7</a:t>
            </a:r>
          </a:p>
          <a:p>
            <a:pPr marL="285750" indent="-285750" fontAlgn="auto">
              <a:lnSpc>
                <a:spcPct val="130000"/>
              </a:lnSpc>
              <a:buClrTx/>
              <a:buFont typeface="Arial" panose="020B0604020202020204" pitchFamily="34" charset="0"/>
              <a:buChar char="•"/>
            </a:pPr>
            <a:r>
              <a:rPr lang="zh-CN" altLang="en-US" sz="1600" dirty="0">
                <a:latin typeface="Times New Roman" panose="02020603050405020304" pitchFamily="18" charset="0"/>
              </a:rPr>
              <a:t>A=1，B=2，执行路径为1→4→5→3</a:t>
            </a:r>
          </a:p>
          <a:p>
            <a:pPr marL="285750" indent="-285750" fontAlgn="auto">
              <a:lnSpc>
                <a:spcPct val="130000"/>
              </a:lnSpc>
              <a:buClrTx/>
              <a:buFont typeface="Arial" panose="020B0604020202020204" pitchFamily="34" charset="0"/>
              <a:buChar char="•"/>
            </a:pPr>
            <a:r>
              <a:rPr lang="zh-CN" altLang="en-US" sz="1600" dirty="0">
                <a:latin typeface="Times New Roman" panose="02020603050405020304" pitchFamily="18" charset="0"/>
              </a:rPr>
              <a:t>A=3，B=0，执行路径为1→4→5→6→7</a:t>
            </a:r>
          </a:p>
        </p:txBody>
      </p:sp>
      <p:grpSp>
        <p:nvGrpSpPr>
          <p:cNvPr id="2" name="组合 8732">
            <a:extLst>
              <a:ext uri="{FF2B5EF4-FFF2-40B4-BE49-F238E27FC236}">
                <a16:creationId xmlns:a16="http://schemas.microsoft.com/office/drawing/2014/main" id="{A8D55313-7302-A926-0E0C-1DE31B58270E}"/>
              </a:ext>
            </a:extLst>
          </p:cNvPr>
          <p:cNvGrpSpPr/>
          <p:nvPr/>
        </p:nvGrpSpPr>
        <p:grpSpPr bwMode="auto">
          <a:xfrm>
            <a:off x="8231505" y="2742150"/>
            <a:ext cx="2103120" cy="3048000"/>
            <a:chOff x="4113" y="5043"/>
            <a:chExt cx="1402" cy="2379"/>
          </a:xfrm>
        </p:grpSpPr>
        <p:sp>
          <p:nvSpPr>
            <p:cNvPr id="20" name="椭圆 8733">
              <a:extLst>
                <a:ext uri="{FF2B5EF4-FFF2-40B4-BE49-F238E27FC236}">
                  <a16:creationId xmlns:a16="http://schemas.microsoft.com/office/drawing/2014/main" id="{F662A6A1-38A3-4B11-6581-8E4120FF7B4C}"/>
                </a:ext>
              </a:extLst>
            </p:cNvPr>
            <p:cNvSpPr>
              <a:spLocks noChangeArrowheads="1"/>
            </p:cNvSpPr>
            <p:nvPr/>
          </p:nvSpPr>
          <p:spPr bwMode="auto">
            <a:xfrm>
              <a:off x="4296" y="5121"/>
              <a:ext cx="119" cy="119"/>
            </a:xfrm>
            <a:prstGeom prst="ellipse">
              <a:avLst/>
            </a:prstGeom>
            <a:no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21" name="椭圆 8734">
              <a:extLst>
                <a:ext uri="{FF2B5EF4-FFF2-40B4-BE49-F238E27FC236}">
                  <a16:creationId xmlns:a16="http://schemas.microsoft.com/office/drawing/2014/main" id="{0C7AC8C4-1801-0D46-2B23-E2FD0A049A19}"/>
                </a:ext>
              </a:extLst>
            </p:cNvPr>
            <p:cNvSpPr>
              <a:spLocks noChangeArrowheads="1"/>
            </p:cNvSpPr>
            <p:nvPr/>
          </p:nvSpPr>
          <p:spPr bwMode="auto">
            <a:xfrm>
              <a:off x="4296" y="5825"/>
              <a:ext cx="119" cy="119"/>
            </a:xfrm>
            <a:prstGeom prst="ellipse">
              <a:avLst/>
            </a:prstGeom>
            <a:no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23" name="椭圆 8735">
              <a:extLst>
                <a:ext uri="{FF2B5EF4-FFF2-40B4-BE49-F238E27FC236}">
                  <a16:creationId xmlns:a16="http://schemas.microsoft.com/office/drawing/2014/main" id="{8BAF957B-B7A8-3ABA-E104-074C10D58248}"/>
                </a:ext>
              </a:extLst>
            </p:cNvPr>
            <p:cNvSpPr>
              <a:spLocks noChangeArrowheads="1"/>
            </p:cNvSpPr>
            <p:nvPr/>
          </p:nvSpPr>
          <p:spPr bwMode="auto">
            <a:xfrm>
              <a:off x="4296" y="6529"/>
              <a:ext cx="119" cy="119"/>
            </a:xfrm>
            <a:prstGeom prst="ellipse">
              <a:avLst/>
            </a:prstGeom>
            <a:no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28" name="椭圆 8736">
              <a:extLst>
                <a:ext uri="{FF2B5EF4-FFF2-40B4-BE49-F238E27FC236}">
                  <a16:creationId xmlns:a16="http://schemas.microsoft.com/office/drawing/2014/main" id="{FA041712-288F-DCEE-C641-4BB7F90AB94A}"/>
                </a:ext>
              </a:extLst>
            </p:cNvPr>
            <p:cNvSpPr>
              <a:spLocks noChangeArrowheads="1"/>
            </p:cNvSpPr>
            <p:nvPr/>
          </p:nvSpPr>
          <p:spPr bwMode="auto">
            <a:xfrm>
              <a:off x="4296" y="7234"/>
              <a:ext cx="119" cy="119"/>
            </a:xfrm>
            <a:prstGeom prst="ellipse">
              <a:avLst/>
            </a:prstGeom>
            <a:solidFill>
              <a:srgbClr val="FFFFFF"/>
            </a:solid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29" name="自选图形 8737">
              <a:extLst>
                <a:ext uri="{FF2B5EF4-FFF2-40B4-BE49-F238E27FC236}">
                  <a16:creationId xmlns:a16="http://schemas.microsoft.com/office/drawing/2014/main" id="{70400B0F-3CBF-C5E7-2203-D24C8505E85F}"/>
                </a:ext>
              </a:extLst>
            </p:cNvPr>
            <p:cNvSpPr>
              <a:spLocks noChangeShapeType="1"/>
            </p:cNvSpPr>
            <p:nvPr/>
          </p:nvSpPr>
          <p:spPr bwMode="auto">
            <a:xfrm>
              <a:off x="4358" y="5240"/>
              <a:ext cx="0" cy="585"/>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30" name="自选图形 8738">
              <a:extLst>
                <a:ext uri="{FF2B5EF4-FFF2-40B4-BE49-F238E27FC236}">
                  <a16:creationId xmlns:a16="http://schemas.microsoft.com/office/drawing/2014/main" id="{BF24778A-FBF8-26A6-2B3E-71C5C5D02055}"/>
                </a:ext>
              </a:extLst>
            </p:cNvPr>
            <p:cNvSpPr>
              <a:spLocks noChangeShapeType="1"/>
            </p:cNvSpPr>
            <p:nvPr/>
          </p:nvSpPr>
          <p:spPr bwMode="auto">
            <a:xfrm>
              <a:off x="4358" y="5944"/>
              <a:ext cx="0" cy="585"/>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31" name="自选图形 8739">
              <a:extLst>
                <a:ext uri="{FF2B5EF4-FFF2-40B4-BE49-F238E27FC236}">
                  <a16:creationId xmlns:a16="http://schemas.microsoft.com/office/drawing/2014/main" id="{C4AB5D62-5A6F-8683-02DC-6CF67D2F4684}"/>
                </a:ext>
              </a:extLst>
            </p:cNvPr>
            <p:cNvSpPr>
              <a:spLocks noChangeShapeType="1"/>
            </p:cNvSpPr>
            <p:nvPr/>
          </p:nvSpPr>
          <p:spPr bwMode="auto">
            <a:xfrm>
              <a:off x="4358" y="6651"/>
              <a:ext cx="0" cy="585"/>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32" name="自选图形 8740">
              <a:extLst>
                <a:ext uri="{FF2B5EF4-FFF2-40B4-BE49-F238E27FC236}">
                  <a16:creationId xmlns:a16="http://schemas.microsoft.com/office/drawing/2014/main" id="{7D27039C-7957-C11B-6ABA-FCB47B0E10DD}"/>
                </a:ext>
              </a:extLst>
            </p:cNvPr>
            <p:cNvSpPr>
              <a:spLocks noChangeShapeType="1"/>
            </p:cNvSpPr>
            <p:nvPr/>
          </p:nvSpPr>
          <p:spPr bwMode="auto">
            <a:xfrm flipH="1">
              <a:off x="4415" y="5888"/>
              <a:ext cx="805" cy="0"/>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35" name="自选图形 8741">
              <a:extLst>
                <a:ext uri="{FF2B5EF4-FFF2-40B4-BE49-F238E27FC236}">
                  <a16:creationId xmlns:a16="http://schemas.microsoft.com/office/drawing/2014/main" id="{3818F34D-A8F6-250E-E6FE-CD7E6F9264E7}"/>
                </a:ext>
              </a:extLst>
            </p:cNvPr>
            <p:cNvSpPr>
              <a:spLocks noChangeShapeType="1"/>
            </p:cNvSpPr>
            <p:nvPr/>
          </p:nvSpPr>
          <p:spPr bwMode="auto">
            <a:xfrm flipH="1">
              <a:off x="4415" y="6594"/>
              <a:ext cx="805" cy="0"/>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36" name="文本框 8742">
              <a:extLst>
                <a:ext uri="{FF2B5EF4-FFF2-40B4-BE49-F238E27FC236}">
                  <a16:creationId xmlns:a16="http://schemas.microsoft.com/office/drawing/2014/main" id="{11335043-EEB9-298C-C20B-802A716B0464}"/>
                </a:ext>
              </a:extLst>
            </p:cNvPr>
            <p:cNvSpPr txBox="1">
              <a:spLocks noChangeArrowheads="1"/>
            </p:cNvSpPr>
            <p:nvPr/>
          </p:nvSpPr>
          <p:spPr bwMode="auto">
            <a:xfrm>
              <a:off x="4113" y="5043"/>
              <a:ext cx="146" cy="22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s</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37" name="文本框 8743">
              <a:extLst>
                <a:ext uri="{FF2B5EF4-FFF2-40B4-BE49-F238E27FC236}">
                  <a16:creationId xmlns:a16="http://schemas.microsoft.com/office/drawing/2014/main" id="{E98109FE-1E68-9357-6643-AA025319F84D}"/>
                </a:ext>
              </a:extLst>
            </p:cNvPr>
            <p:cNvSpPr txBox="1">
              <a:spLocks noChangeArrowheads="1"/>
            </p:cNvSpPr>
            <p:nvPr/>
          </p:nvSpPr>
          <p:spPr bwMode="auto">
            <a:xfrm>
              <a:off x="4113" y="5755"/>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a</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38" name="文本框 8744">
              <a:extLst>
                <a:ext uri="{FF2B5EF4-FFF2-40B4-BE49-F238E27FC236}">
                  <a16:creationId xmlns:a16="http://schemas.microsoft.com/office/drawing/2014/main" id="{3D5A0B60-28F5-7FF5-C5E0-D499AA8F5EB7}"/>
                </a:ext>
              </a:extLst>
            </p:cNvPr>
            <p:cNvSpPr txBox="1">
              <a:spLocks noChangeArrowheads="1"/>
            </p:cNvSpPr>
            <p:nvPr/>
          </p:nvSpPr>
          <p:spPr bwMode="auto">
            <a:xfrm>
              <a:off x="4113" y="6467"/>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b</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4" name="文本框 8745">
              <a:extLst>
                <a:ext uri="{FF2B5EF4-FFF2-40B4-BE49-F238E27FC236}">
                  <a16:creationId xmlns:a16="http://schemas.microsoft.com/office/drawing/2014/main" id="{5E825075-310A-0A2E-6FB3-9D7B5B82C128}"/>
                </a:ext>
              </a:extLst>
            </p:cNvPr>
            <p:cNvSpPr txBox="1">
              <a:spLocks noChangeArrowheads="1"/>
            </p:cNvSpPr>
            <p:nvPr/>
          </p:nvSpPr>
          <p:spPr bwMode="auto">
            <a:xfrm>
              <a:off x="4113" y="7175"/>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e</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5" name="文本框 8746">
              <a:extLst>
                <a:ext uri="{FF2B5EF4-FFF2-40B4-BE49-F238E27FC236}">
                  <a16:creationId xmlns:a16="http://schemas.microsoft.com/office/drawing/2014/main" id="{C1DA115A-2806-5CF1-77B3-1C9307E5E189}"/>
                </a:ext>
              </a:extLst>
            </p:cNvPr>
            <p:cNvSpPr txBox="1">
              <a:spLocks noChangeArrowheads="1"/>
            </p:cNvSpPr>
            <p:nvPr/>
          </p:nvSpPr>
          <p:spPr bwMode="auto">
            <a:xfrm>
              <a:off x="5369" y="5748"/>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c</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6" name="文本框 8747">
              <a:extLst>
                <a:ext uri="{FF2B5EF4-FFF2-40B4-BE49-F238E27FC236}">
                  <a16:creationId xmlns:a16="http://schemas.microsoft.com/office/drawing/2014/main" id="{EBFD6C7C-47AD-123D-7812-F4ECD7FF68E8}"/>
                </a:ext>
              </a:extLst>
            </p:cNvPr>
            <p:cNvSpPr txBox="1">
              <a:spLocks noChangeArrowheads="1"/>
            </p:cNvSpPr>
            <p:nvPr/>
          </p:nvSpPr>
          <p:spPr bwMode="auto">
            <a:xfrm>
              <a:off x="5366" y="6458"/>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d</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11" name="文本框 8748">
              <a:extLst>
                <a:ext uri="{FF2B5EF4-FFF2-40B4-BE49-F238E27FC236}">
                  <a16:creationId xmlns:a16="http://schemas.microsoft.com/office/drawing/2014/main" id="{AAB78338-8F2C-1C00-241C-75EA71F8B3FE}"/>
                </a:ext>
              </a:extLst>
            </p:cNvPr>
            <p:cNvSpPr txBox="1">
              <a:spLocks noChangeArrowheads="1"/>
            </p:cNvSpPr>
            <p:nvPr/>
          </p:nvSpPr>
          <p:spPr bwMode="auto">
            <a:xfrm>
              <a:off x="4194" y="5390"/>
              <a:ext cx="146" cy="22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1</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43" name="文本框 8749">
              <a:extLst>
                <a:ext uri="{FF2B5EF4-FFF2-40B4-BE49-F238E27FC236}">
                  <a16:creationId xmlns:a16="http://schemas.microsoft.com/office/drawing/2014/main" id="{0FF9B690-26BF-608F-4EA5-FB44B472611F}"/>
                </a:ext>
              </a:extLst>
            </p:cNvPr>
            <p:cNvSpPr txBox="1">
              <a:spLocks noChangeArrowheads="1"/>
            </p:cNvSpPr>
            <p:nvPr/>
          </p:nvSpPr>
          <p:spPr bwMode="auto">
            <a:xfrm>
              <a:off x="4194" y="6088"/>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2</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44" name="文本框 8750">
              <a:extLst>
                <a:ext uri="{FF2B5EF4-FFF2-40B4-BE49-F238E27FC236}">
                  <a16:creationId xmlns:a16="http://schemas.microsoft.com/office/drawing/2014/main" id="{9E2F5748-1C7B-891F-8C1F-8DD601196731}"/>
                </a:ext>
              </a:extLst>
            </p:cNvPr>
            <p:cNvSpPr txBox="1">
              <a:spLocks noChangeArrowheads="1"/>
            </p:cNvSpPr>
            <p:nvPr/>
          </p:nvSpPr>
          <p:spPr bwMode="auto">
            <a:xfrm>
              <a:off x="4194" y="6801"/>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3</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45" name="文本框 8751">
              <a:extLst>
                <a:ext uri="{FF2B5EF4-FFF2-40B4-BE49-F238E27FC236}">
                  <a16:creationId xmlns:a16="http://schemas.microsoft.com/office/drawing/2014/main" id="{8055E0A4-21E5-CD2F-203C-81055D23F6EA}"/>
                </a:ext>
              </a:extLst>
            </p:cNvPr>
            <p:cNvSpPr txBox="1">
              <a:spLocks noChangeArrowheads="1"/>
            </p:cNvSpPr>
            <p:nvPr/>
          </p:nvSpPr>
          <p:spPr bwMode="auto">
            <a:xfrm>
              <a:off x="4710" y="5665"/>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4</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46" name="文本框 8752">
              <a:extLst>
                <a:ext uri="{FF2B5EF4-FFF2-40B4-BE49-F238E27FC236}">
                  <a16:creationId xmlns:a16="http://schemas.microsoft.com/office/drawing/2014/main" id="{4EF8C884-8379-6851-D038-7CB1E04F3404}"/>
                </a:ext>
              </a:extLst>
            </p:cNvPr>
            <p:cNvSpPr txBox="1">
              <a:spLocks noChangeArrowheads="1"/>
            </p:cNvSpPr>
            <p:nvPr/>
          </p:nvSpPr>
          <p:spPr bwMode="auto">
            <a:xfrm>
              <a:off x="4936" y="6185"/>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5</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47" name="文本框 8753">
              <a:extLst>
                <a:ext uri="{FF2B5EF4-FFF2-40B4-BE49-F238E27FC236}">
                  <a16:creationId xmlns:a16="http://schemas.microsoft.com/office/drawing/2014/main" id="{3830EC37-3DE7-778F-F270-95456840084D}"/>
                </a:ext>
              </a:extLst>
            </p:cNvPr>
            <p:cNvSpPr txBox="1">
              <a:spLocks noChangeArrowheads="1"/>
            </p:cNvSpPr>
            <p:nvPr/>
          </p:nvSpPr>
          <p:spPr bwMode="auto">
            <a:xfrm>
              <a:off x="4784" y="6582"/>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6</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48" name="文本框 8754">
              <a:extLst>
                <a:ext uri="{FF2B5EF4-FFF2-40B4-BE49-F238E27FC236}">
                  <a16:creationId xmlns:a16="http://schemas.microsoft.com/office/drawing/2014/main" id="{EF7952E7-3E78-B9FD-B378-4CA5BBCB68E4}"/>
                </a:ext>
              </a:extLst>
            </p:cNvPr>
            <p:cNvSpPr txBox="1">
              <a:spLocks noChangeArrowheads="1"/>
            </p:cNvSpPr>
            <p:nvPr/>
          </p:nvSpPr>
          <p:spPr bwMode="auto">
            <a:xfrm>
              <a:off x="5005" y="7106"/>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7</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49" name="弧形 8755">
              <a:extLst>
                <a:ext uri="{FF2B5EF4-FFF2-40B4-BE49-F238E27FC236}">
                  <a16:creationId xmlns:a16="http://schemas.microsoft.com/office/drawing/2014/main" id="{C55480D6-7ED0-4B2B-04BC-C982A8463C53}"/>
                </a:ext>
              </a:extLst>
            </p:cNvPr>
            <p:cNvSpPr/>
            <p:nvPr/>
          </p:nvSpPr>
          <p:spPr bwMode="auto">
            <a:xfrm flipV="1">
              <a:off x="4415" y="5916"/>
              <a:ext cx="871" cy="667"/>
            </a:xfrm>
            <a:custGeom>
              <a:avLst/>
              <a:gdLst>
                <a:gd name="G0" fmla="+- 568 0 0"/>
                <a:gd name="G1" fmla="+- 21600 0 0"/>
                <a:gd name="G2" fmla="+- 21600 0 0"/>
                <a:gd name="T0" fmla="*/ 0 w 22168"/>
                <a:gd name="T1" fmla="*/ 7 h 24043"/>
                <a:gd name="T2" fmla="*/ 22029 w 22168"/>
                <a:gd name="T3" fmla="*/ 24043 h 24043"/>
                <a:gd name="T4" fmla="*/ 568 w 22168"/>
                <a:gd name="T5" fmla="*/ 21600 h 24043"/>
              </a:gdLst>
              <a:ahLst/>
              <a:cxnLst>
                <a:cxn ang="0">
                  <a:pos x="T0" y="T1"/>
                </a:cxn>
                <a:cxn ang="0">
                  <a:pos x="T2" y="T3"/>
                </a:cxn>
                <a:cxn ang="0">
                  <a:pos x="T4" y="T5"/>
                </a:cxn>
              </a:cxnLst>
              <a:rect l="0" t="0" r="r" b="b"/>
              <a:pathLst>
                <a:path w="22168" h="24043" fill="none" extrusionOk="0">
                  <a:moveTo>
                    <a:pt x="0" y="7"/>
                  </a:moveTo>
                  <a:cubicBezTo>
                    <a:pt x="189" y="2"/>
                    <a:pt x="378" y="-1"/>
                    <a:pt x="568" y="0"/>
                  </a:cubicBezTo>
                  <a:cubicBezTo>
                    <a:pt x="12497" y="0"/>
                    <a:pt x="22168" y="9670"/>
                    <a:pt x="22168" y="21600"/>
                  </a:cubicBezTo>
                  <a:cubicBezTo>
                    <a:pt x="22168" y="22416"/>
                    <a:pt x="22121" y="23231"/>
                    <a:pt x="22029" y="24043"/>
                  </a:cubicBezTo>
                </a:path>
                <a:path w="22168" h="24043" stroke="0" extrusionOk="0">
                  <a:moveTo>
                    <a:pt x="0" y="7"/>
                  </a:moveTo>
                  <a:cubicBezTo>
                    <a:pt x="189" y="2"/>
                    <a:pt x="378" y="-1"/>
                    <a:pt x="568" y="0"/>
                  </a:cubicBezTo>
                  <a:cubicBezTo>
                    <a:pt x="12497" y="0"/>
                    <a:pt x="22168" y="9670"/>
                    <a:pt x="22168" y="21600"/>
                  </a:cubicBezTo>
                  <a:cubicBezTo>
                    <a:pt x="22168" y="22416"/>
                    <a:pt x="22121" y="23231"/>
                    <a:pt x="22029" y="24043"/>
                  </a:cubicBezTo>
                  <a:lnTo>
                    <a:pt x="568" y="21600"/>
                  </a:lnTo>
                  <a:close/>
                </a:path>
              </a:pathLst>
            </a:custGeom>
            <a:no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50" name="椭圆 8756">
              <a:extLst>
                <a:ext uri="{FF2B5EF4-FFF2-40B4-BE49-F238E27FC236}">
                  <a16:creationId xmlns:a16="http://schemas.microsoft.com/office/drawing/2014/main" id="{3ED027A9-289C-168A-CC34-30C958D0C78F}"/>
                </a:ext>
              </a:extLst>
            </p:cNvPr>
            <p:cNvSpPr>
              <a:spLocks noChangeArrowheads="1"/>
            </p:cNvSpPr>
            <p:nvPr/>
          </p:nvSpPr>
          <p:spPr bwMode="auto">
            <a:xfrm>
              <a:off x="5226" y="5822"/>
              <a:ext cx="119" cy="119"/>
            </a:xfrm>
            <a:prstGeom prst="ellipse">
              <a:avLst/>
            </a:prstGeom>
            <a:solidFill>
              <a:srgbClr val="FFFFFF"/>
            </a:solid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13" name="弧形 8757">
              <a:extLst>
                <a:ext uri="{FF2B5EF4-FFF2-40B4-BE49-F238E27FC236}">
                  <a16:creationId xmlns:a16="http://schemas.microsoft.com/office/drawing/2014/main" id="{CCF0122D-2423-3746-AF57-E75E6A6D9918}"/>
                </a:ext>
              </a:extLst>
            </p:cNvPr>
            <p:cNvSpPr/>
            <p:nvPr/>
          </p:nvSpPr>
          <p:spPr bwMode="auto">
            <a:xfrm flipV="1">
              <a:off x="4415" y="6629"/>
              <a:ext cx="871" cy="667"/>
            </a:xfrm>
            <a:custGeom>
              <a:avLst/>
              <a:gdLst>
                <a:gd name="G0" fmla="+- 568 0 0"/>
                <a:gd name="G1" fmla="+- 21600 0 0"/>
                <a:gd name="G2" fmla="+- 21600 0 0"/>
                <a:gd name="T0" fmla="*/ 0 w 22168"/>
                <a:gd name="T1" fmla="*/ 7 h 24043"/>
                <a:gd name="T2" fmla="*/ 22029 w 22168"/>
                <a:gd name="T3" fmla="*/ 24043 h 24043"/>
                <a:gd name="T4" fmla="*/ 568 w 22168"/>
                <a:gd name="T5" fmla="*/ 21600 h 24043"/>
              </a:gdLst>
              <a:ahLst/>
              <a:cxnLst>
                <a:cxn ang="0">
                  <a:pos x="T0" y="T1"/>
                </a:cxn>
                <a:cxn ang="0">
                  <a:pos x="T2" y="T3"/>
                </a:cxn>
                <a:cxn ang="0">
                  <a:pos x="T4" y="T5"/>
                </a:cxn>
              </a:cxnLst>
              <a:rect l="0" t="0" r="r" b="b"/>
              <a:pathLst>
                <a:path w="22168" h="24043" fill="none" extrusionOk="0">
                  <a:moveTo>
                    <a:pt x="0" y="7"/>
                  </a:moveTo>
                  <a:cubicBezTo>
                    <a:pt x="189" y="2"/>
                    <a:pt x="378" y="-1"/>
                    <a:pt x="568" y="0"/>
                  </a:cubicBezTo>
                  <a:cubicBezTo>
                    <a:pt x="12497" y="0"/>
                    <a:pt x="22168" y="9670"/>
                    <a:pt x="22168" y="21600"/>
                  </a:cubicBezTo>
                  <a:cubicBezTo>
                    <a:pt x="22168" y="22416"/>
                    <a:pt x="22121" y="23231"/>
                    <a:pt x="22029" y="24043"/>
                  </a:cubicBezTo>
                </a:path>
                <a:path w="22168" h="24043" stroke="0" extrusionOk="0">
                  <a:moveTo>
                    <a:pt x="0" y="7"/>
                  </a:moveTo>
                  <a:cubicBezTo>
                    <a:pt x="189" y="2"/>
                    <a:pt x="378" y="-1"/>
                    <a:pt x="568" y="0"/>
                  </a:cubicBezTo>
                  <a:cubicBezTo>
                    <a:pt x="12497" y="0"/>
                    <a:pt x="22168" y="9670"/>
                    <a:pt x="22168" y="21600"/>
                  </a:cubicBezTo>
                  <a:cubicBezTo>
                    <a:pt x="22168" y="22416"/>
                    <a:pt x="22121" y="23231"/>
                    <a:pt x="22029" y="24043"/>
                  </a:cubicBezTo>
                  <a:lnTo>
                    <a:pt x="568" y="21600"/>
                  </a:lnTo>
                  <a:close/>
                </a:path>
              </a:pathLst>
            </a:custGeom>
            <a:no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22" name="椭圆 8758">
              <a:extLst>
                <a:ext uri="{FF2B5EF4-FFF2-40B4-BE49-F238E27FC236}">
                  <a16:creationId xmlns:a16="http://schemas.microsoft.com/office/drawing/2014/main" id="{34C2942D-FB6A-07BD-1477-A36D931EF322}"/>
                </a:ext>
              </a:extLst>
            </p:cNvPr>
            <p:cNvSpPr>
              <a:spLocks noChangeArrowheads="1"/>
            </p:cNvSpPr>
            <p:nvPr/>
          </p:nvSpPr>
          <p:spPr bwMode="auto">
            <a:xfrm>
              <a:off x="5226" y="6529"/>
              <a:ext cx="119" cy="119"/>
            </a:xfrm>
            <a:prstGeom prst="ellipse">
              <a:avLst/>
            </a:prstGeom>
            <a:solidFill>
              <a:srgbClr val="FFFFFF"/>
            </a:solid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grpSp>
    </p:spTree>
    <p:extLst>
      <p:ext uri="{BB962C8B-B14F-4D97-AF65-F5344CB8AC3E}">
        <p14:creationId xmlns:p14="http://schemas.microsoft.com/office/powerpoint/2010/main" val="926393787"/>
      </p:ext>
    </p:extLst>
  </p:cSld>
  <p:clrMapOvr>
    <a:masterClrMapping/>
  </p:clrMapOvr>
  <p:transition>
    <p:pull dir="rd"/>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14C85-4A4A-1793-2657-0ACAEA39B049}"/>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CF0EF34D-63DA-623E-FC80-4532FFB062C2}"/>
              </a:ext>
            </a:extLst>
          </p:cNvPr>
          <p:cNvSpPr>
            <a:spLocks noGrp="1"/>
          </p:cNvSpPr>
          <p:nvPr>
            <p:ph type="title"/>
          </p:nvPr>
        </p:nvSpPr>
        <p:spPr>
          <a:xfrm>
            <a:off x="336000" y="360000"/>
            <a:ext cx="5760000" cy="535531"/>
          </a:xfrm>
        </p:spPr>
        <p:txBody>
          <a:bodyPr/>
          <a:lstStyle/>
          <a:p>
            <a:r>
              <a:rPr lang="en-US" dirty="0"/>
              <a:t>4.5 </a:t>
            </a:r>
            <a:r>
              <a:rPr lang="zh-CN" altLang="en-US" dirty="0"/>
              <a:t>设计软件测试方案</a:t>
            </a:r>
            <a:endParaRPr lang="zh-CN" altLang="en-US" dirty="0">
              <a:sym typeface="+mn-ea"/>
            </a:endParaRPr>
          </a:p>
        </p:txBody>
      </p:sp>
      <p:sp>
        <p:nvSpPr>
          <p:cNvPr id="14" name="文本占位符 13">
            <a:extLst>
              <a:ext uri="{FF2B5EF4-FFF2-40B4-BE49-F238E27FC236}">
                <a16:creationId xmlns:a16="http://schemas.microsoft.com/office/drawing/2014/main" id="{30770CB3-3ABA-1C28-4C24-500CD2704101}"/>
              </a:ext>
            </a:extLst>
          </p:cNvPr>
          <p:cNvSpPr>
            <a:spLocks noGrp="1"/>
          </p:cNvSpPr>
          <p:nvPr>
            <p:ph type="body" sz="quarter" idx="10"/>
          </p:nvPr>
        </p:nvSpPr>
        <p:spPr>
          <a:xfrm>
            <a:off x="696000" y="1322832"/>
            <a:ext cx="5400000" cy="400110"/>
          </a:xfrm>
        </p:spPr>
        <p:txBody>
          <a:bodyPr/>
          <a:lstStyle/>
          <a:p>
            <a:r>
              <a:rPr lang="en-US" altLang="zh-CN" dirty="0">
                <a:sym typeface="+mn-ea"/>
              </a:rPr>
              <a:t>4.5.4 </a:t>
            </a:r>
            <a:r>
              <a:rPr lang="zh-CN" altLang="en-US" dirty="0">
                <a:sym typeface="+mn-ea"/>
              </a:rPr>
              <a:t>逻辑覆盖法</a:t>
            </a:r>
            <a:endParaRPr lang="zh-CN" altLang="en-US" dirty="0"/>
          </a:p>
        </p:txBody>
      </p:sp>
      <p:sp>
        <p:nvSpPr>
          <p:cNvPr id="19" name="文本占位符 18">
            <a:extLst>
              <a:ext uri="{FF2B5EF4-FFF2-40B4-BE49-F238E27FC236}">
                <a16:creationId xmlns:a16="http://schemas.microsoft.com/office/drawing/2014/main" id="{7DAF8EB3-3BAF-1A35-0D01-A5DA0956A861}"/>
              </a:ext>
            </a:extLst>
          </p:cNvPr>
          <p:cNvSpPr>
            <a:spLocks noGrp="1"/>
          </p:cNvSpPr>
          <p:nvPr>
            <p:ph type="body" sz="quarter" idx="11"/>
          </p:nvPr>
        </p:nvSpPr>
        <p:spPr>
          <a:xfrm>
            <a:off x="6096000" y="360128"/>
            <a:ext cx="5760000" cy="400110"/>
          </a:xfrm>
        </p:spPr>
        <p:txBody>
          <a:bodyPr/>
          <a:lstStyle/>
          <a:p>
            <a:r>
              <a:rPr lang="en-US" altLang="zh-CN" dirty="0"/>
              <a:t>Schema</a:t>
            </a:r>
            <a:endParaRPr lang="zh-CN" altLang="en-US" dirty="0"/>
          </a:p>
        </p:txBody>
      </p:sp>
      <p:sp>
        <p:nvSpPr>
          <p:cNvPr id="15" name="TextBox 10">
            <a:extLst>
              <a:ext uri="{FF2B5EF4-FFF2-40B4-BE49-F238E27FC236}">
                <a16:creationId xmlns:a16="http://schemas.microsoft.com/office/drawing/2014/main" id="{AEC3C70A-9EB4-F5C9-3638-B7A6ED40B62A}"/>
              </a:ext>
            </a:extLst>
          </p:cNvPr>
          <p:cNvSpPr txBox="1">
            <a:spLocks noChangeArrowheads="1"/>
          </p:cNvSpPr>
          <p:nvPr/>
        </p:nvSpPr>
        <p:spPr bwMode="auto">
          <a:xfrm>
            <a:off x="804947" y="1783213"/>
            <a:ext cx="372748"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algn="ctr" eaLnBrk="1" hangingPunct="1"/>
            <a:r>
              <a:rPr lang="en-US" sz="2800" dirty="0">
                <a:solidFill>
                  <a:srgbClr val="E67819"/>
                </a:solidFill>
                <a:latin typeface="Times New Roman" panose="02020603050405020304" pitchFamily="18" charset="0"/>
                <a:ea typeface="MS UI Gothic" panose="020B0600070205080204" charset="-128"/>
              </a:rPr>
              <a:t>8</a:t>
            </a:r>
          </a:p>
        </p:txBody>
      </p:sp>
      <p:cxnSp>
        <p:nvCxnSpPr>
          <p:cNvPr id="16" name="直接连接符 15">
            <a:extLst>
              <a:ext uri="{FF2B5EF4-FFF2-40B4-BE49-F238E27FC236}">
                <a16:creationId xmlns:a16="http://schemas.microsoft.com/office/drawing/2014/main" id="{CAAF71D4-C8CD-0BE1-BDFD-FDCB41FE2E91}"/>
              </a:ext>
            </a:extLst>
          </p:cNvPr>
          <p:cNvCxnSpPr/>
          <p:nvPr/>
        </p:nvCxnSpPr>
        <p:spPr>
          <a:xfrm flipH="1">
            <a:off x="696000" y="1748923"/>
            <a:ext cx="590643"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7" name="矩形 12">
            <a:extLst>
              <a:ext uri="{FF2B5EF4-FFF2-40B4-BE49-F238E27FC236}">
                <a16:creationId xmlns:a16="http://schemas.microsoft.com/office/drawing/2014/main" id="{17A48F07-1FB9-545C-6B31-64C0DEE26A68}"/>
              </a:ext>
            </a:extLst>
          </p:cNvPr>
          <p:cNvSpPr>
            <a:spLocks noChangeArrowheads="1"/>
          </p:cNvSpPr>
          <p:nvPr/>
        </p:nvSpPr>
        <p:spPr bwMode="auto">
          <a:xfrm>
            <a:off x="1143745" y="1844173"/>
            <a:ext cx="75323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r>
              <a:rPr lang="zh-CN" altLang="en-US" dirty="0">
                <a:solidFill>
                  <a:srgbClr val="E67819"/>
                </a:solidFill>
                <a:latin typeface="+mj-ea"/>
                <a:ea typeface="+mj-ea"/>
              </a:rPr>
              <a:t>基本路径覆盖 </a:t>
            </a:r>
            <a:r>
              <a:rPr lang="en-US" altLang="zh-CN" sz="1600" dirty="0">
                <a:solidFill>
                  <a:srgbClr val="E67819"/>
                </a:solidFill>
                <a:latin typeface="+mj-ea"/>
                <a:ea typeface="+mj-ea"/>
              </a:rPr>
              <a:t>Basic Path Coverage</a:t>
            </a:r>
            <a:endParaRPr lang="zh-CN" altLang="en-US" dirty="0">
              <a:solidFill>
                <a:srgbClr val="E67819"/>
              </a:solidFill>
              <a:latin typeface="+mj-ea"/>
              <a:ea typeface="+mj-ea"/>
            </a:endParaRPr>
          </a:p>
        </p:txBody>
      </p:sp>
      <p:sp>
        <p:nvSpPr>
          <p:cNvPr id="18" name="矩形 9">
            <a:extLst>
              <a:ext uri="{FF2B5EF4-FFF2-40B4-BE49-F238E27FC236}">
                <a16:creationId xmlns:a16="http://schemas.microsoft.com/office/drawing/2014/main" id="{4E6890BB-BEC9-BCFD-E752-6D1D120AAAE0}"/>
              </a:ext>
            </a:extLst>
          </p:cNvPr>
          <p:cNvSpPr>
            <a:spLocks noChangeArrowheads="1"/>
          </p:cNvSpPr>
          <p:nvPr/>
        </p:nvSpPr>
        <p:spPr bwMode="auto">
          <a:xfrm>
            <a:off x="1158279" y="2150243"/>
            <a:ext cx="9576000" cy="418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fontAlgn="auto">
              <a:lnSpc>
                <a:spcPct val="130000"/>
              </a:lnSpc>
            </a:pPr>
            <a:r>
              <a:rPr dirty="0" err="1"/>
              <a:t>基本路径覆盖法要求选取足够多的测试数据，使程序的每条可能执行路径都至少执行一次</a:t>
            </a:r>
            <a:r>
              <a:rPr dirty="0"/>
              <a:t>。</a:t>
            </a:r>
          </a:p>
        </p:txBody>
      </p:sp>
      <p:sp>
        <p:nvSpPr>
          <p:cNvPr id="7" name="文本框 6"/>
          <p:cNvSpPr txBox="1"/>
          <p:nvPr/>
        </p:nvSpPr>
        <p:spPr>
          <a:xfrm>
            <a:off x="1176338" y="2817511"/>
            <a:ext cx="9839325" cy="3299429"/>
          </a:xfrm>
          <a:prstGeom prst="rect">
            <a:avLst/>
          </a:prstGeom>
          <a:noFill/>
        </p:spPr>
        <p:txBody>
          <a:bodyPr wrap="square" rtlCol="0" anchor="t">
            <a:spAutoFit/>
          </a:bodyPr>
          <a:lstStyle/>
          <a:p>
            <a:pPr indent="457200" fontAlgn="auto">
              <a:lnSpc>
                <a:spcPct val="130000"/>
              </a:lnSpc>
            </a:pPr>
            <a:r>
              <a:rPr lang="zh-CN" altLang="en-US" dirty="0"/>
              <a:t>基本路径覆盖是相当强的逻辑覆盖测试标准，用这个标准测试程序可保证程序中每条可能的路径都至少执行一次，因而测试数据有代表性，检错能力较强。</a:t>
            </a:r>
            <a:endParaRPr lang="en-US" altLang="zh-CN" dirty="0"/>
          </a:p>
          <a:p>
            <a:pPr indent="457200" fontAlgn="auto">
              <a:lnSpc>
                <a:spcPct val="130000"/>
              </a:lnSpc>
            </a:pPr>
            <a:r>
              <a:rPr lang="zh-CN" altLang="en-US" dirty="0"/>
              <a:t>但路径覆盖只考虑每个判定表达式的取值，并不考虑表达式中各种可能的组合情况。基本路径覆盖测试技术设计测试用例的步骤如下：</a:t>
            </a:r>
            <a:endParaRPr lang="en-US" altLang="zh-CN" dirty="0"/>
          </a:p>
          <a:p>
            <a:pPr indent="457200" fontAlgn="auto">
              <a:lnSpc>
                <a:spcPct val="130000"/>
              </a:lnSpc>
            </a:pPr>
            <a:r>
              <a:rPr lang="zh-CN" altLang="en-US" dirty="0"/>
              <a:t>① 根据过程设计结果画出程序图。</a:t>
            </a:r>
            <a:endParaRPr lang="en-US" altLang="zh-CN" dirty="0"/>
          </a:p>
          <a:p>
            <a:pPr indent="457200" fontAlgn="auto">
              <a:lnSpc>
                <a:spcPct val="130000"/>
              </a:lnSpc>
            </a:pPr>
            <a:r>
              <a:rPr lang="zh-CN" altLang="en-US" dirty="0"/>
              <a:t>② 计算程序图的环形复杂度（第4.5.5节介绍）。</a:t>
            </a:r>
            <a:endParaRPr lang="en-US" altLang="zh-CN" dirty="0"/>
          </a:p>
          <a:p>
            <a:pPr indent="457200" fontAlgn="auto">
              <a:lnSpc>
                <a:spcPct val="130000"/>
              </a:lnSpc>
            </a:pPr>
            <a:r>
              <a:rPr lang="zh-CN" altLang="en-US" dirty="0"/>
              <a:t>③ 确定线性独立路径的基本集合。</a:t>
            </a:r>
            <a:endParaRPr lang="en-US" altLang="zh-CN" dirty="0"/>
          </a:p>
          <a:p>
            <a:pPr indent="457200" fontAlgn="auto">
              <a:lnSpc>
                <a:spcPct val="130000"/>
              </a:lnSpc>
            </a:pPr>
            <a:r>
              <a:rPr lang="zh-CN" altLang="en-US" dirty="0"/>
              <a:t>④ 设计可强行执行基本集合中每条路径的测试用例。</a:t>
            </a:r>
            <a:endParaRPr lang="en-US" altLang="zh-CN" dirty="0"/>
          </a:p>
          <a:p>
            <a:pPr indent="457200" fontAlgn="auto">
              <a:lnSpc>
                <a:spcPct val="130000"/>
              </a:lnSpc>
            </a:pPr>
            <a:r>
              <a:rPr lang="zh-CN" altLang="en-US" dirty="0"/>
              <a:t>⑤ 执行每个测试用例，并把实际输出结果与预期结果相比较。</a:t>
            </a:r>
            <a:endParaRPr lang="en-US" altLang="zh-CN" dirty="0"/>
          </a:p>
        </p:txBody>
      </p:sp>
    </p:spTree>
    <p:extLst>
      <p:ext uri="{BB962C8B-B14F-4D97-AF65-F5344CB8AC3E}">
        <p14:creationId xmlns:p14="http://schemas.microsoft.com/office/powerpoint/2010/main" val="314395453"/>
      </p:ext>
    </p:extLst>
  </p:cSld>
  <p:clrMapOvr>
    <a:masterClrMapping/>
  </p:clrMapOvr>
  <p:transition>
    <p:pull dir="rd"/>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11520000" cy="535531"/>
          </a:xfrm>
        </p:spPr>
        <p:txBody>
          <a:bodyPr/>
          <a:lstStyle/>
          <a:p>
            <a:r>
              <a:rPr lang="en-US" dirty="0"/>
              <a:t>4.5 </a:t>
            </a:r>
            <a:r>
              <a:rPr lang="zh-CN" altLang="en-US" dirty="0"/>
              <a:t>设计软件测试方案</a:t>
            </a:r>
          </a:p>
        </p:txBody>
      </p:sp>
      <p:sp>
        <p:nvSpPr>
          <p:cNvPr id="4" name="文本占位符 3">
            <a:extLst>
              <a:ext uri="{FF2B5EF4-FFF2-40B4-BE49-F238E27FC236}">
                <a16:creationId xmlns:a16="http://schemas.microsoft.com/office/drawing/2014/main" id="{C050EAC7-FDE0-3890-57DE-317A53A7BE57}"/>
              </a:ext>
            </a:extLst>
          </p:cNvPr>
          <p:cNvSpPr>
            <a:spLocks noGrp="1"/>
          </p:cNvSpPr>
          <p:nvPr>
            <p:ph type="body" sz="quarter" idx="10"/>
          </p:nvPr>
        </p:nvSpPr>
        <p:spPr>
          <a:xfrm>
            <a:off x="696000" y="1322832"/>
            <a:ext cx="11160000" cy="400110"/>
          </a:xfrm>
        </p:spPr>
        <p:txBody>
          <a:bodyPr/>
          <a:lstStyle/>
          <a:p>
            <a:r>
              <a:rPr lang="en-US" altLang="zh-CN" dirty="0"/>
              <a:t>4.5.5 </a:t>
            </a:r>
            <a:r>
              <a:rPr lang="zh-CN" altLang="en-US" dirty="0"/>
              <a:t>程序环形复杂程度的度量</a:t>
            </a:r>
          </a:p>
        </p:txBody>
      </p:sp>
      <p:sp>
        <p:nvSpPr>
          <p:cNvPr id="9" name="文本占位符 8">
            <a:extLst>
              <a:ext uri="{FF2B5EF4-FFF2-40B4-BE49-F238E27FC236}">
                <a16:creationId xmlns:a16="http://schemas.microsoft.com/office/drawing/2014/main" id="{9EF354A0-ABFB-CE44-CA00-BC04288F409C}"/>
              </a:ext>
            </a:extLst>
          </p:cNvPr>
          <p:cNvSpPr>
            <a:spLocks noGrp="1"/>
          </p:cNvSpPr>
          <p:nvPr>
            <p:ph type="body" sz="quarter" idx="11"/>
          </p:nvPr>
        </p:nvSpPr>
        <p:spPr/>
        <p:txBody>
          <a:bodyPr/>
          <a:lstStyle/>
          <a:p>
            <a:endParaRPr lang="zh-CN" altLang="en-US"/>
          </a:p>
        </p:txBody>
      </p:sp>
      <p:sp>
        <p:nvSpPr>
          <p:cNvPr id="100" name="文本框 99"/>
          <p:cNvSpPr txBox="1"/>
          <p:nvPr/>
        </p:nvSpPr>
        <p:spPr>
          <a:xfrm>
            <a:off x="1038000" y="2378710"/>
            <a:ext cx="10116000" cy="3293209"/>
          </a:xfrm>
          <a:prstGeom prst="rect">
            <a:avLst/>
          </a:prstGeom>
          <a:noFill/>
          <a:ln w="9525">
            <a:noFill/>
          </a:ln>
        </p:spPr>
        <p:txBody>
          <a:bodyPr wrap="square">
            <a:spAutoFit/>
          </a:bodyPr>
          <a:lstStyle/>
          <a:p>
            <a:pPr marL="0" indent="457200" fontAlgn="auto">
              <a:lnSpc>
                <a:spcPct val="130000"/>
              </a:lnSpc>
            </a:pPr>
            <a:r>
              <a:rPr sz="2000" dirty="0">
                <a:latin typeface="+mn-ea"/>
                <a:sym typeface="+mn-ea"/>
              </a:rPr>
              <a:t>详细设计阶段设计出的模块质量不仅可以用前面介绍的基本原理进行衡量，还可以用比较可行的定量度量的方法进行衡量。目前许多定量度量软件复杂程度的方法还处在研究之中，本节介绍比较成熟的、使用比较广泛的</a:t>
            </a:r>
            <a:r>
              <a:rPr lang="en-US" sz="2000" dirty="0">
                <a:latin typeface="+mn-ea"/>
                <a:sym typeface="+mn-ea"/>
              </a:rPr>
              <a:t> </a:t>
            </a:r>
            <a:r>
              <a:rPr sz="2000" dirty="0" err="1">
                <a:latin typeface="+mn-ea"/>
                <a:sym typeface="+mn-ea"/>
              </a:rPr>
              <a:t>McCabe方法</a:t>
            </a:r>
            <a:r>
              <a:rPr sz="2000" dirty="0">
                <a:latin typeface="+mn-ea"/>
                <a:sym typeface="+mn-ea"/>
              </a:rPr>
              <a:t>。</a:t>
            </a:r>
            <a:endParaRPr lang="en-US" sz="2000" dirty="0">
              <a:latin typeface="+mn-ea"/>
              <a:sym typeface="+mn-ea"/>
            </a:endParaRPr>
          </a:p>
          <a:p>
            <a:pPr marL="0" indent="457200" fontAlgn="auto">
              <a:lnSpc>
                <a:spcPct val="130000"/>
              </a:lnSpc>
            </a:pPr>
            <a:endParaRPr sz="2000" dirty="0">
              <a:latin typeface="+mn-ea"/>
              <a:sym typeface="+mn-ea"/>
            </a:endParaRPr>
          </a:p>
          <a:p>
            <a:pPr marL="0" indent="457200" fontAlgn="auto">
              <a:lnSpc>
                <a:spcPct val="130000"/>
              </a:lnSpc>
            </a:pPr>
            <a:r>
              <a:rPr sz="2000" dirty="0">
                <a:solidFill>
                  <a:srgbClr val="C00000"/>
                </a:solidFill>
                <a:latin typeface="+mn-ea"/>
                <a:sym typeface="+mn-ea"/>
              </a:rPr>
              <a:t>McCabe</a:t>
            </a:r>
            <a:r>
              <a:rPr lang="en-US" sz="2000" dirty="0">
                <a:solidFill>
                  <a:srgbClr val="C00000"/>
                </a:solidFill>
                <a:latin typeface="+mn-ea"/>
                <a:sym typeface="+mn-ea"/>
              </a:rPr>
              <a:t> </a:t>
            </a:r>
            <a:r>
              <a:rPr sz="2000" dirty="0">
                <a:solidFill>
                  <a:srgbClr val="C00000"/>
                </a:solidFill>
                <a:latin typeface="+mn-ea"/>
                <a:sym typeface="+mn-ea"/>
              </a:rPr>
              <a:t>方法根据程序控制流的复杂程度，定量度量程序的复杂程度。</a:t>
            </a:r>
            <a:r>
              <a:rPr sz="2000" dirty="0">
                <a:solidFill>
                  <a:srgbClr val="00B050"/>
                </a:solidFill>
                <a:latin typeface="+mn-ea"/>
                <a:sym typeface="+mn-ea"/>
              </a:rPr>
              <a:t>首先画出程序图，然后计算程序的环形复杂度。</a:t>
            </a:r>
            <a:r>
              <a:rPr sz="2000" dirty="0">
                <a:latin typeface="+mn-ea"/>
                <a:sym typeface="+mn-ea"/>
              </a:rPr>
              <a:t>由于程序的环形复杂度决定了程序的独立路径个数，因而在进行路径测试前，可以先计算程序的环形复杂度。经验表明，程序越复杂，越容易出错，测试和维护起来也越难。</a:t>
            </a:r>
          </a:p>
        </p:txBody>
      </p:sp>
    </p:spTree>
  </p:cSld>
  <p:clrMapOvr>
    <a:masterClrMapping/>
  </p:clrMapOvr>
  <p:transition>
    <p:pull dir="rd"/>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11520000" cy="535531"/>
          </a:xfrm>
        </p:spPr>
        <p:txBody>
          <a:bodyPr/>
          <a:lstStyle/>
          <a:p>
            <a:r>
              <a:rPr lang="en-US" dirty="0"/>
              <a:t>4.5 </a:t>
            </a:r>
            <a:r>
              <a:rPr lang="zh-CN" altLang="en-US" dirty="0"/>
              <a:t>设计软件测试方案</a:t>
            </a:r>
          </a:p>
        </p:txBody>
      </p:sp>
      <p:sp>
        <p:nvSpPr>
          <p:cNvPr id="4" name="文本占位符 3">
            <a:extLst>
              <a:ext uri="{FF2B5EF4-FFF2-40B4-BE49-F238E27FC236}">
                <a16:creationId xmlns:a16="http://schemas.microsoft.com/office/drawing/2014/main" id="{ECB9FD2C-F157-8759-17F4-9B0F6C69EE35}"/>
              </a:ext>
            </a:extLst>
          </p:cNvPr>
          <p:cNvSpPr>
            <a:spLocks noGrp="1"/>
          </p:cNvSpPr>
          <p:nvPr>
            <p:ph type="body" sz="quarter" idx="10"/>
          </p:nvPr>
        </p:nvSpPr>
        <p:spPr>
          <a:xfrm>
            <a:off x="696000" y="1322832"/>
            <a:ext cx="11160000" cy="400110"/>
          </a:xfrm>
        </p:spPr>
        <p:txBody>
          <a:bodyPr/>
          <a:lstStyle/>
          <a:p>
            <a:r>
              <a:rPr lang="en-US" altLang="zh-CN" dirty="0"/>
              <a:t>4.5.5 </a:t>
            </a:r>
            <a:r>
              <a:rPr lang="zh-CN" altLang="en-US" dirty="0"/>
              <a:t>程序环形复杂程度的度量</a:t>
            </a:r>
          </a:p>
        </p:txBody>
      </p:sp>
      <p:sp>
        <p:nvSpPr>
          <p:cNvPr id="14" name="文本占位符 13">
            <a:extLst>
              <a:ext uri="{FF2B5EF4-FFF2-40B4-BE49-F238E27FC236}">
                <a16:creationId xmlns:a16="http://schemas.microsoft.com/office/drawing/2014/main" id="{981AFAD0-2F71-964F-FB87-28C53030356C}"/>
              </a:ext>
            </a:extLst>
          </p:cNvPr>
          <p:cNvSpPr>
            <a:spLocks noGrp="1"/>
          </p:cNvSpPr>
          <p:nvPr>
            <p:ph type="body" sz="quarter" idx="11"/>
          </p:nvPr>
        </p:nvSpPr>
        <p:spPr/>
        <p:txBody>
          <a:bodyPr/>
          <a:lstStyle/>
          <a:p>
            <a:endParaRPr lang="zh-CN" altLang="en-US"/>
          </a:p>
        </p:txBody>
      </p:sp>
      <p:sp>
        <p:nvSpPr>
          <p:cNvPr id="100" name="文本框 99"/>
          <p:cNvSpPr txBox="1"/>
          <p:nvPr/>
        </p:nvSpPr>
        <p:spPr>
          <a:xfrm>
            <a:off x="1457961" y="2150110"/>
            <a:ext cx="5278119" cy="3293209"/>
          </a:xfrm>
          <a:prstGeom prst="rect">
            <a:avLst/>
          </a:prstGeom>
          <a:noFill/>
          <a:ln w="9525">
            <a:noFill/>
          </a:ln>
        </p:spPr>
        <p:txBody>
          <a:bodyPr wrap="square">
            <a:spAutoFit/>
          </a:bodyPr>
          <a:lstStyle/>
          <a:p>
            <a:pPr>
              <a:lnSpc>
                <a:spcPct val="130000"/>
              </a:lnSpc>
            </a:pPr>
            <a:r>
              <a:rPr lang="en-US" sz="2000" dirty="0">
                <a:latin typeface="微软雅黑" panose="020B0503020204020204" charset="-122"/>
                <a:ea typeface="微软雅黑" panose="020B0503020204020204" charset="-122"/>
                <a:sym typeface="+mn-ea"/>
              </a:rPr>
              <a:t>       </a:t>
            </a:r>
            <a:r>
              <a:rPr lang="en-US" altLang="zh-CN" sz="2000" dirty="0">
                <a:latin typeface="微软雅黑" panose="020B0503020204020204" charset="-122"/>
                <a:ea typeface="微软雅黑" panose="020B0503020204020204" charset="-122"/>
                <a:sym typeface="+mn-ea"/>
              </a:rPr>
              <a:t>McCabe</a:t>
            </a:r>
            <a:r>
              <a:rPr lang="zh-CN" altLang="en-US" sz="2000" dirty="0">
                <a:latin typeface="微软雅黑" panose="020B0503020204020204" charset="-122"/>
                <a:ea typeface="微软雅黑" panose="020B0503020204020204" charset="-122"/>
                <a:sym typeface="+mn-ea"/>
              </a:rPr>
              <a:t>方法首先画出程序图（也称流图）。这是一种简化了的流程图，</a:t>
            </a:r>
            <a:r>
              <a:rPr lang="zh-CN" altLang="en-US" sz="2000" dirty="0">
                <a:solidFill>
                  <a:srgbClr val="C00000"/>
                </a:solidFill>
                <a:latin typeface="微软雅黑" panose="020B0503020204020204" charset="-122"/>
                <a:ea typeface="微软雅黑" panose="020B0503020204020204" charset="-122"/>
                <a:sym typeface="+mn-ea"/>
              </a:rPr>
              <a:t>把程序流程图中的每个框都画成一个圆圈</a:t>
            </a:r>
            <a:r>
              <a:rPr lang="zh-CN" altLang="en-US" sz="2000" dirty="0">
                <a:latin typeface="微软雅黑" panose="020B0503020204020204" charset="-122"/>
                <a:ea typeface="微软雅黑" panose="020B0503020204020204" charset="-122"/>
                <a:sym typeface="+mn-ea"/>
              </a:rPr>
              <a:t>（见图</a:t>
            </a:r>
            <a:r>
              <a:rPr lang="en-US" altLang="zh-CN" sz="2000" dirty="0">
                <a:latin typeface="微软雅黑" panose="020B0503020204020204" charset="-122"/>
                <a:ea typeface="微软雅黑" panose="020B0503020204020204" charset="-122"/>
                <a:sym typeface="+mn-ea"/>
              </a:rPr>
              <a:t>4-2</a:t>
            </a:r>
            <a:r>
              <a:rPr lang="zh-CN" altLang="en-US" sz="2000" dirty="0">
                <a:latin typeface="微软雅黑" panose="020B0503020204020204" charset="-122"/>
                <a:ea typeface="微软雅黑" panose="020B0503020204020204" charset="-122"/>
                <a:sym typeface="+mn-ea"/>
              </a:rPr>
              <a:t>）；</a:t>
            </a:r>
            <a:r>
              <a:rPr lang="zh-CN" altLang="en-US" sz="2000" dirty="0">
                <a:solidFill>
                  <a:srgbClr val="C00000"/>
                </a:solidFill>
                <a:latin typeface="微软雅黑" panose="020B0503020204020204" charset="-122"/>
                <a:ea typeface="微软雅黑" panose="020B0503020204020204" charset="-122"/>
                <a:sym typeface="+mn-ea"/>
              </a:rPr>
              <a:t>把流程图中连接不同框的箭头变成程序图中的有向弧，这样得到的有向图称为程序图，</a:t>
            </a:r>
            <a:r>
              <a:rPr lang="zh-CN" altLang="en-US" sz="2000" dirty="0">
                <a:latin typeface="微软雅黑" panose="020B0503020204020204" charset="-122"/>
                <a:ea typeface="微软雅黑" panose="020B0503020204020204" charset="-122"/>
                <a:sym typeface="+mn-ea"/>
              </a:rPr>
              <a:t>如图</a:t>
            </a:r>
            <a:r>
              <a:rPr lang="en-US" altLang="zh-CN" sz="2000" dirty="0">
                <a:latin typeface="微软雅黑" panose="020B0503020204020204" charset="-122"/>
                <a:ea typeface="微软雅黑" panose="020B0503020204020204" charset="-122"/>
                <a:sym typeface="+mn-ea"/>
              </a:rPr>
              <a:t>4-2</a:t>
            </a:r>
            <a:r>
              <a:rPr lang="zh-CN" altLang="en-US" sz="2000" dirty="0">
                <a:latin typeface="微软雅黑" panose="020B0503020204020204" charset="-122"/>
                <a:ea typeface="微软雅黑" panose="020B0503020204020204" charset="-122"/>
                <a:sym typeface="+mn-ea"/>
              </a:rPr>
              <a:t>、图</a:t>
            </a:r>
            <a:r>
              <a:rPr lang="en-US" altLang="zh-CN" sz="2000" dirty="0">
                <a:latin typeface="微软雅黑" panose="020B0503020204020204" charset="-122"/>
                <a:ea typeface="微软雅黑" panose="020B0503020204020204" charset="-122"/>
                <a:sym typeface="+mn-ea"/>
              </a:rPr>
              <a:t>4-4</a:t>
            </a:r>
            <a:r>
              <a:rPr lang="zh-CN" altLang="en-US" sz="2000" dirty="0">
                <a:latin typeface="微软雅黑" panose="020B0503020204020204" charset="-122"/>
                <a:ea typeface="微软雅黑" panose="020B0503020204020204" charset="-122"/>
                <a:sym typeface="+mn-ea"/>
              </a:rPr>
              <a:t>所示。</a:t>
            </a:r>
          </a:p>
          <a:p>
            <a:pPr>
              <a:lnSpc>
                <a:spcPct val="130000"/>
              </a:lnSpc>
            </a:pPr>
            <a:r>
              <a:rPr lang="zh-CN" altLang="en-US" sz="2000" dirty="0">
                <a:latin typeface="微软雅黑" panose="020B0503020204020204" charset="-122"/>
                <a:ea typeface="微软雅黑" panose="020B0503020204020204" charset="-122"/>
                <a:sym typeface="+mn-ea"/>
              </a:rPr>
              <a:t>程序图仅描述程序内部的控制流程，完全不表现对数据的具体操作及分支或循环的具体条件。</a:t>
            </a:r>
          </a:p>
        </p:txBody>
      </p:sp>
      <p:grpSp>
        <p:nvGrpSpPr>
          <p:cNvPr id="223233" name="组合 8732"/>
          <p:cNvGrpSpPr/>
          <p:nvPr/>
        </p:nvGrpSpPr>
        <p:grpSpPr bwMode="auto">
          <a:xfrm>
            <a:off x="6827520" y="2560320"/>
            <a:ext cx="1713548" cy="2468880"/>
            <a:chOff x="4113" y="5043"/>
            <a:chExt cx="1402" cy="2379"/>
          </a:xfrm>
        </p:grpSpPr>
        <p:sp>
          <p:nvSpPr>
            <p:cNvPr id="223259" name="椭圆 8733"/>
            <p:cNvSpPr>
              <a:spLocks noChangeArrowheads="1"/>
            </p:cNvSpPr>
            <p:nvPr/>
          </p:nvSpPr>
          <p:spPr bwMode="auto">
            <a:xfrm>
              <a:off x="4296" y="5121"/>
              <a:ext cx="119" cy="119"/>
            </a:xfrm>
            <a:prstGeom prst="ellipse">
              <a:avLst/>
            </a:prstGeom>
            <a:no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223258" name="椭圆 8734"/>
            <p:cNvSpPr>
              <a:spLocks noChangeArrowheads="1"/>
            </p:cNvSpPr>
            <p:nvPr/>
          </p:nvSpPr>
          <p:spPr bwMode="auto">
            <a:xfrm>
              <a:off x="4296" y="5825"/>
              <a:ext cx="119" cy="119"/>
            </a:xfrm>
            <a:prstGeom prst="ellipse">
              <a:avLst/>
            </a:prstGeom>
            <a:no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223257" name="椭圆 8735"/>
            <p:cNvSpPr>
              <a:spLocks noChangeArrowheads="1"/>
            </p:cNvSpPr>
            <p:nvPr/>
          </p:nvSpPr>
          <p:spPr bwMode="auto">
            <a:xfrm>
              <a:off x="4296" y="6529"/>
              <a:ext cx="119" cy="119"/>
            </a:xfrm>
            <a:prstGeom prst="ellipse">
              <a:avLst/>
            </a:prstGeom>
            <a:no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223256" name="椭圆 8736"/>
            <p:cNvSpPr>
              <a:spLocks noChangeArrowheads="1"/>
            </p:cNvSpPr>
            <p:nvPr/>
          </p:nvSpPr>
          <p:spPr bwMode="auto">
            <a:xfrm>
              <a:off x="4296" y="7234"/>
              <a:ext cx="119" cy="119"/>
            </a:xfrm>
            <a:prstGeom prst="ellipse">
              <a:avLst/>
            </a:prstGeom>
            <a:solidFill>
              <a:srgbClr val="FFFFFF"/>
            </a:solid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223255" name="自选图形 8737"/>
            <p:cNvSpPr>
              <a:spLocks noChangeShapeType="1"/>
            </p:cNvSpPr>
            <p:nvPr/>
          </p:nvSpPr>
          <p:spPr bwMode="auto">
            <a:xfrm>
              <a:off x="4358" y="5240"/>
              <a:ext cx="0" cy="585"/>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223254" name="自选图形 8738"/>
            <p:cNvSpPr>
              <a:spLocks noChangeShapeType="1"/>
            </p:cNvSpPr>
            <p:nvPr/>
          </p:nvSpPr>
          <p:spPr bwMode="auto">
            <a:xfrm>
              <a:off x="4358" y="5944"/>
              <a:ext cx="0" cy="585"/>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223253" name="自选图形 8739"/>
            <p:cNvSpPr>
              <a:spLocks noChangeShapeType="1"/>
            </p:cNvSpPr>
            <p:nvPr/>
          </p:nvSpPr>
          <p:spPr bwMode="auto">
            <a:xfrm>
              <a:off x="4358" y="6651"/>
              <a:ext cx="0" cy="585"/>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223252" name="自选图形 8740"/>
            <p:cNvSpPr>
              <a:spLocks noChangeShapeType="1"/>
            </p:cNvSpPr>
            <p:nvPr/>
          </p:nvSpPr>
          <p:spPr bwMode="auto">
            <a:xfrm flipH="1">
              <a:off x="4415" y="5888"/>
              <a:ext cx="805" cy="0"/>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223251" name="自选图形 8741"/>
            <p:cNvSpPr>
              <a:spLocks noChangeShapeType="1"/>
            </p:cNvSpPr>
            <p:nvPr/>
          </p:nvSpPr>
          <p:spPr bwMode="auto">
            <a:xfrm flipH="1">
              <a:off x="4415" y="6594"/>
              <a:ext cx="805" cy="0"/>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223250" name="文本框 8742"/>
            <p:cNvSpPr txBox="1">
              <a:spLocks noChangeArrowheads="1"/>
            </p:cNvSpPr>
            <p:nvPr/>
          </p:nvSpPr>
          <p:spPr bwMode="auto">
            <a:xfrm>
              <a:off x="4113" y="5043"/>
              <a:ext cx="146" cy="22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s</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223249" name="文本框 8743"/>
            <p:cNvSpPr txBox="1">
              <a:spLocks noChangeArrowheads="1"/>
            </p:cNvSpPr>
            <p:nvPr/>
          </p:nvSpPr>
          <p:spPr bwMode="auto">
            <a:xfrm>
              <a:off x="4113" y="5755"/>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a</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223248" name="文本框 8744"/>
            <p:cNvSpPr txBox="1">
              <a:spLocks noChangeArrowheads="1"/>
            </p:cNvSpPr>
            <p:nvPr/>
          </p:nvSpPr>
          <p:spPr bwMode="auto">
            <a:xfrm>
              <a:off x="4113" y="6467"/>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b</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223247" name="文本框 8745"/>
            <p:cNvSpPr txBox="1">
              <a:spLocks noChangeArrowheads="1"/>
            </p:cNvSpPr>
            <p:nvPr/>
          </p:nvSpPr>
          <p:spPr bwMode="auto">
            <a:xfrm>
              <a:off x="4113" y="7175"/>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e</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223246" name="文本框 8746"/>
            <p:cNvSpPr txBox="1">
              <a:spLocks noChangeArrowheads="1"/>
            </p:cNvSpPr>
            <p:nvPr/>
          </p:nvSpPr>
          <p:spPr bwMode="auto">
            <a:xfrm>
              <a:off x="5369" y="5748"/>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c</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223245" name="文本框 8747"/>
            <p:cNvSpPr txBox="1">
              <a:spLocks noChangeArrowheads="1"/>
            </p:cNvSpPr>
            <p:nvPr/>
          </p:nvSpPr>
          <p:spPr bwMode="auto">
            <a:xfrm>
              <a:off x="5366" y="6458"/>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d</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223244" name="文本框 8748"/>
            <p:cNvSpPr txBox="1">
              <a:spLocks noChangeArrowheads="1"/>
            </p:cNvSpPr>
            <p:nvPr/>
          </p:nvSpPr>
          <p:spPr bwMode="auto">
            <a:xfrm>
              <a:off x="4194" y="5390"/>
              <a:ext cx="146" cy="22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1</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223243" name="文本框 8749"/>
            <p:cNvSpPr txBox="1">
              <a:spLocks noChangeArrowheads="1"/>
            </p:cNvSpPr>
            <p:nvPr/>
          </p:nvSpPr>
          <p:spPr bwMode="auto">
            <a:xfrm>
              <a:off x="4194" y="6088"/>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2</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223242" name="文本框 8750"/>
            <p:cNvSpPr txBox="1">
              <a:spLocks noChangeArrowheads="1"/>
            </p:cNvSpPr>
            <p:nvPr/>
          </p:nvSpPr>
          <p:spPr bwMode="auto">
            <a:xfrm>
              <a:off x="4194" y="6801"/>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3</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223241" name="文本框 8751"/>
            <p:cNvSpPr txBox="1">
              <a:spLocks noChangeArrowheads="1"/>
            </p:cNvSpPr>
            <p:nvPr/>
          </p:nvSpPr>
          <p:spPr bwMode="auto">
            <a:xfrm>
              <a:off x="4710" y="5665"/>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4</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223240" name="文本框 8752"/>
            <p:cNvSpPr txBox="1">
              <a:spLocks noChangeArrowheads="1"/>
            </p:cNvSpPr>
            <p:nvPr/>
          </p:nvSpPr>
          <p:spPr bwMode="auto">
            <a:xfrm>
              <a:off x="4936" y="6185"/>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5</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223239" name="文本框 8753"/>
            <p:cNvSpPr txBox="1">
              <a:spLocks noChangeArrowheads="1"/>
            </p:cNvSpPr>
            <p:nvPr/>
          </p:nvSpPr>
          <p:spPr bwMode="auto">
            <a:xfrm>
              <a:off x="4784" y="6582"/>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6</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223238" name="文本框 8754"/>
            <p:cNvSpPr txBox="1">
              <a:spLocks noChangeArrowheads="1"/>
            </p:cNvSpPr>
            <p:nvPr/>
          </p:nvSpPr>
          <p:spPr bwMode="auto">
            <a:xfrm>
              <a:off x="5005" y="7106"/>
              <a:ext cx="146" cy="2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7</a:t>
              </a:r>
              <a:endParaRPr kumimoji="0" lang="en-US" altLang="zh-CN" b="0" i="0" u="none" strike="noStrike" cap="none" normalizeH="0" baseline="0" dirty="0">
                <a:ln>
                  <a:noFill/>
                </a:ln>
                <a:solidFill>
                  <a:schemeClr val="tx1"/>
                </a:solidFill>
                <a:effectLst/>
                <a:latin typeface="Times New Roman" panose="02020603050405020304" pitchFamily="18" charset="0"/>
                <a:ea typeface="微软雅黑 Light" panose="020B0502040204020203" pitchFamily="34" charset="-122"/>
                <a:cs typeface="宋体" panose="02010600030101010101" pitchFamily="2" charset="-122"/>
              </a:endParaRPr>
            </a:p>
          </p:txBody>
        </p:sp>
        <p:sp>
          <p:nvSpPr>
            <p:cNvPr id="223237" name="弧形 8755"/>
            <p:cNvSpPr/>
            <p:nvPr/>
          </p:nvSpPr>
          <p:spPr bwMode="auto">
            <a:xfrm flipV="1">
              <a:off x="4415" y="5916"/>
              <a:ext cx="871" cy="667"/>
            </a:xfrm>
            <a:custGeom>
              <a:avLst/>
              <a:gdLst>
                <a:gd name="G0" fmla="+- 568 0 0"/>
                <a:gd name="G1" fmla="+- 21600 0 0"/>
                <a:gd name="G2" fmla="+- 21600 0 0"/>
                <a:gd name="T0" fmla="*/ 0 w 22168"/>
                <a:gd name="T1" fmla="*/ 7 h 24043"/>
                <a:gd name="T2" fmla="*/ 22029 w 22168"/>
                <a:gd name="T3" fmla="*/ 24043 h 24043"/>
                <a:gd name="T4" fmla="*/ 568 w 22168"/>
                <a:gd name="T5" fmla="*/ 21600 h 24043"/>
              </a:gdLst>
              <a:ahLst/>
              <a:cxnLst>
                <a:cxn ang="0">
                  <a:pos x="T0" y="T1"/>
                </a:cxn>
                <a:cxn ang="0">
                  <a:pos x="T2" y="T3"/>
                </a:cxn>
                <a:cxn ang="0">
                  <a:pos x="T4" y="T5"/>
                </a:cxn>
              </a:cxnLst>
              <a:rect l="0" t="0" r="r" b="b"/>
              <a:pathLst>
                <a:path w="22168" h="24043" fill="none" extrusionOk="0">
                  <a:moveTo>
                    <a:pt x="0" y="7"/>
                  </a:moveTo>
                  <a:cubicBezTo>
                    <a:pt x="189" y="2"/>
                    <a:pt x="378" y="-1"/>
                    <a:pt x="568" y="0"/>
                  </a:cubicBezTo>
                  <a:cubicBezTo>
                    <a:pt x="12497" y="0"/>
                    <a:pt x="22168" y="9670"/>
                    <a:pt x="22168" y="21600"/>
                  </a:cubicBezTo>
                  <a:cubicBezTo>
                    <a:pt x="22168" y="22416"/>
                    <a:pt x="22121" y="23231"/>
                    <a:pt x="22029" y="24043"/>
                  </a:cubicBezTo>
                </a:path>
                <a:path w="22168" h="24043" stroke="0" extrusionOk="0">
                  <a:moveTo>
                    <a:pt x="0" y="7"/>
                  </a:moveTo>
                  <a:cubicBezTo>
                    <a:pt x="189" y="2"/>
                    <a:pt x="378" y="-1"/>
                    <a:pt x="568" y="0"/>
                  </a:cubicBezTo>
                  <a:cubicBezTo>
                    <a:pt x="12497" y="0"/>
                    <a:pt x="22168" y="9670"/>
                    <a:pt x="22168" y="21600"/>
                  </a:cubicBezTo>
                  <a:cubicBezTo>
                    <a:pt x="22168" y="22416"/>
                    <a:pt x="22121" y="23231"/>
                    <a:pt x="22029" y="24043"/>
                  </a:cubicBezTo>
                  <a:lnTo>
                    <a:pt x="568" y="21600"/>
                  </a:lnTo>
                  <a:close/>
                </a:path>
              </a:pathLst>
            </a:custGeom>
            <a:no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223236" name="椭圆 8756"/>
            <p:cNvSpPr>
              <a:spLocks noChangeArrowheads="1"/>
            </p:cNvSpPr>
            <p:nvPr/>
          </p:nvSpPr>
          <p:spPr bwMode="auto">
            <a:xfrm>
              <a:off x="5226" y="5822"/>
              <a:ext cx="119" cy="119"/>
            </a:xfrm>
            <a:prstGeom prst="ellipse">
              <a:avLst/>
            </a:prstGeom>
            <a:solidFill>
              <a:srgbClr val="FFFFFF"/>
            </a:solid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223235" name="弧形 8757"/>
            <p:cNvSpPr/>
            <p:nvPr/>
          </p:nvSpPr>
          <p:spPr bwMode="auto">
            <a:xfrm flipV="1">
              <a:off x="4415" y="6629"/>
              <a:ext cx="871" cy="667"/>
            </a:xfrm>
            <a:custGeom>
              <a:avLst/>
              <a:gdLst>
                <a:gd name="G0" fmla="+- 568 0 0"/>
                <a:gd name="G1" fmla="+- 21600 0 0"/>
                <a:gd name="G2" fmla="+- 21600 0 0"/>
                <a:gd name="T0" fmla="*/ 0 w 22168"/>
                <a:gd name="T1" fmla="*/ 7 h 24043"/>
                <a:gd name="T2" fmla="*/ 22029 w 22168"/>
                <a:gd name="T3" fmla="*/ 24043 h 24043"/>
                <a:gd name="T4" fmla="*/ 568 w 22168"/>
                <a:gd name="T5" fmla="*/ 21600 h 24043"/>
              </a:gdLst>
              <a:ahLst/>
              <a:cxnLst>
                <a:cxn ang="0">
                  <a:pos x="T0" y="T1"/>
                </a:cxn>
                <a:cxn ang="0">
                  <a:pos x="T2" y="T3"/>
                </a:cxn>
                <a:cxn ang="0">
                  <a:pos x="T4" y="T5"/>
                </a:cxn>
              </a:cxnLst>
              <a:rect l="0" t="0" r="r" b="b"/>
              <a:pathLst>
                <a:path w="22168" h="24043" fill="none" extrusionOk="0">
                  <a:moveTo>
                    <a:pt x="0" y="7"/>
                  </a:moveTo>
                  <a:cubicBezTo>
                    <a:pt x="189" y="2"/>
                    <a:pt x="378" y="-1"/>
                    <a:pt x="568" y="0"/>
                  </a:cubicBezTo>
                  <a:cubicBezTo>
                    <a:pt x="12497" y="0"/>
                    <a:pt x="22168" y="9670"/>
                    <a:pt x="22168" y="21600"/>
                  </a:cubicBezTo>
                  <a:cubicBezTo>
                    <a:pt x="22168" y="22416"/>
                    <a:pt x="22121" y="23231"/>
                    <a:pt x="22029" y="24043"/>
                  </a:cubicBezTo>
                </a:path>
                <a:path w="22168" h="24043" stroke="0" extrusionOk="0">
                  <a:moveTo>
                    <a:pt x="0" y="7"/>
                  </a:moveTo>
                  <a:cubicBezTo>
                    <a:pt x="189" y="2"/>
                    <a:pt x="378" y="-1"/>
                    <a:pt x="568" y="0"/>
                  </a:cubicBezTo>
                  <a:cubicBezTo>
                    <a:pt x="12497" y="0"/>
                    <a:pt x="22168" y="9670"/>
                    <a:pt x="22168" y="21600"/>
                  </a:cubicBezTo>
                  <a:cubicBezTo>
                    <a:pt x="22168" y="22416"/>
                    <a:pt x="22121" y="23231"/>
                    <a:pt x="22029" y="24043"/>
                  </a:cubicBezTo>
                  <a:lnTo>
                    <a:pt x="568" y="21600"/>
                  </a:lnTo>
                  <a:close/>
                </a:path>
              </a:pathLst>
            </a:custGeom>
            <a:no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sp>
          <p:nvSpPr>
            <p:cNvPr id="223234" name="椭圆 8758"/>
            <p:cNvSpPr>
              <a:spLocks noChangeArrowheads="1"/>
            </p:cNvSpPr>
            <p:nvPr/>
          </p:nvSpPr>
          <p:spPr bwMode="auto">
            <a:xfrm>
              <a:off x="5226" y="6529"/>
              <a:ext cx="119" cy="119"/>
            </a:xfrm>
            <a:prstGeom prst="ellipse">
              <a:avLst/>
            </a:prstGeom>
            <a:solidFill>
              <a:srgbClr val="FFFFFF"/>
            </a:solidFill>
            <a:ln w="9525">
              <a:solidFill>
                <a:srgbClr val="000000"/>
              </a:solidFill>
              <a:round/>
            </a:ln>
          </p:spPr>
          <p:txBody>
            <a:bodyPr vert="horz" wrap="square" lIns="91440" tIns="45720" rIns="91440" bIns="45720" numCol="1" anchor="t" anchorCtr="0" compatLnSpc="1"/>
            <a:lstStyle/>
            <a:p>
              <a:endParaRPr lang="zh-CN" altLang="en-US" dirty="0">
                <a:latin typeface="Times New Roman" panose="02020603050405020304" pitchFamily="18" charset="0"/>
              </a:endParaRPr>
            </a:p>
          </p:txBody>
        </p:sp>
      </p:grpSp>
      <p:sp>
        <p:nvSpPr>
          <p:cNvPr id="34" name="TextBox 33"/>
          <p:cNvSpPr txBox="1"/>
          <p:nvPr/>
        </p:nvSpPr>
        <p:spPr>
          <a:xfrm>
            <a:off x="7025640" y="5227320"/>
            <a:ext cx="4312920" cy="369332"/>
          </a:xfrm>
          <a:prstGeom prst="rect">
            <a:avLst/>
          </a:prstGeom>
          <a:noFill/>
        </p:spPr>
        <p:txBody>
          <a:bodyPr wrap="square" rtlCol="0">
            <a:spAutoFit/>
          </a:bodyPr>
          <a:lstStyle/>
          <a:p>
            <a:r>
              <a:rPr lang="zh-CN" altLang="en-US" dirty="0">
                <a:latin typeface="Times New Roman" panose="02020603050405020304" pitchFamily="18" charset="0"/>
              </a:rPr>
              <a:t>图</a:t>
            </a:r>
            <a:r>
              <a:rPr lang="en-US" altLang="zh-CN" dirty="0">
                <a:latin typeface="Times New Roman" panose="02020603050405020304" pitchFamily="18" charset="0"/>
              </a:rPr>
              <a:t>4-2                                    </a:t>
            </a:r>
            <a:r>
              <a:rPr lang="zh-CN" altLang="en-US" dirty="0">
                <a:latin typeface="Times New Roman" panose="02020603050405020304" pitchFamily="18" charset="0"/>
              </a:rPr>
              <a:t>图</a:t>
            </a:r>
            <a:r>
              <a:rPr lang="en-US" altLang="zh-CN" dirty="0">
                <a:latin typeface="Times New Roman" panose="02020603050405020304" pitchFamily="18" charset="0"/>
              </a:rPr>
              <a:t>4-4      </a:t>
            </a:r>
            <a:endParaRPr lang="zh-CN" altLang="en-US" dirty="0">
              <a:latin typeface="Times New Roman" panose="02020603050405020304" pitchFamily="18" charset="0"/>
            </a:endParaRPr>
          </a:p>
        </p:txBody>
      </p:sp>
      <p:pic>
        <p:nvPicPr>
          <p:cNvPr id="223274" name="图片 136"/>
          <p:cNvPicPr>
            <a:picLocks noChangeAspect="1" noChangeArrowheads="1"/>
          </p:cNvPicPr>
          <p:nvPr/>
        </p:nvPicPr>
        <p:blipFill>
          <a:blip r:embed="rId3" cstate="print"/>
          <a:srcRect/>
          <a:stretch>
            <a:fillRect/>
          </a:stretch>
        </p:blipFill>
        <p:spPr bwMode="auto">
          <a:xfrm>
            <a:off x="8680539" y="2331720"/>
            <a:ext cx="3051894" cy="2880359"/>
          </a:xfrm>
          <a:prstGeom prst="rect">
            <a:avLst/>
          </a:prstGeom>
          <a:noFill/>
          <a:ln w="9525">
            <a:noFill/>
            <a:miter lim="800000"/>
            <a:headEnd/>
            <a:tailEnd/>
          </a:ln>
        </p:spPr>
      </p:pic>
    </p:spTree>
  </p:cSld>
  <p:clrMapOvr>
    <a:masterClrMapping/>
  </p:clrMapOvr>
  <p:transition>
    <p:pull dir="rd"/>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11520000" cy="535531"/>
          </a:xfrm>
        </p:spPr>
        <p:txBody>
          <a:bodyPr/>
          <a:lstStyle/>
          <a:p>
            <a:r>
              <a:rPr lang="en-US" dirty="0"/>
              <a:t>4.5 </a:t>
            </a:r>
            <a:r>
              <a:rPr lang="zh-CN" altLang="en-US" dirty="0"/>
              <a:t>设计软件测试方案</a:t>
            </a:r>
          </a:p>
        </p:txBody>
      </p:sp>
      <p:sp>
        <p:nvSpPr>
          <p:cNvPr id="4" name="文本占位符 3">
            <a:extLst>
              <a:ext uri="{FF2B5EF4-FFF2-40B4-BE49-F238E27FC236}">
                <a16:creationId xmlns:a16="http://schemas.microsoft.com/office/drawing/2014/main" id="{9058F728-1AC2-CAB6-C1CB-DDB4A3A07C99}"/>
              </a:ext>
            </a:extLst>
          </p:cNvPr>
          <p:cNvSpPr>
            <a:spLocks noGrp="1"/>
          </p:cNvSpPr>
          <p:nvPr>
            <p:ph type="body" sz="quarter" idx="10"/>
          </p:nvPr>
        </p:nvSpPr>
        <p:spPr>
          <a:xfrm>
            <a:off x="696000" y="1322832"/>
            <a:ext cx="11160000" cy="400110"/>
          </a:xfrm>
        </p:spPr>
        <p:txBody>
          <a:bodyPr/>
          <a:lstStyle/>
          <a:p>
            <a:r>
              <a:rPr lang="en-US" altLang="zh-CN" dirty="0"/>
              <a:t>4.5.5 </a:t>
            </a:r>
            <a:r>
              <a:rPr lang="zh-CN" altLang="en-US" dirty="0"/>
              <a:t>程序环形复杂程度的度量</a:t>
            </a:r>
          </a:p>
        </p:txBody>
      </p:sp>
      <p:sp>
        <p:nvSpPr>
          <p:cNvPr id="18" name="文本占位符 17">
            <a:extLst>
              <a:ext uri="{FF2B5EF4-FFF2-40B4-BE49-F238E27FC236}">
                <a16:creationId xmlns:a16="http://schemas.microsoft.com/office/drawing/2014/main" id="{A9110C73-040A-08B6-EE85-6A5F9BF85642}"/>
              </a:ext>
            </a:extLst>
          </p:cNvPr>
          <p:cNvSpPr>
            <a:spLocks noGrp="1"/>
          </p:cNvSpPr>
          <p:nvPr>
            <p:ph type="body" sz="quarter" idx="11"/>
          </p:nvPr>
        </p:nvSpPr>
        <p:spPr/>
        <p:txBody>
          <a:bodyPr/>
          <a:lstStyle/>
          <a:p>
            <a:endParaRPr lang="zh-CN" altLang="en-US"/>
          </a:p>
        </p:txBody>
      </p:sp>
      <p:sp>
        <p:nvSpPr>
          <p:cNvPr id="100" name="文本框 99"/>
          <p:cNvSpPr txBox="1"/>
          <p:nvPr/>
        </p:nvSpPr>
        <p:spPr>
          <a:xfrm>
            <a:off x="1412240" y="1906270"/>
            <a:ext cx="9857105" cy="4093428"/>
          </a:xfrm>
          <a:prstGeom prst="rect">
            <a:avLst/>
          </a:prstGeom>
          <a:noFill/>
          <a:ln w="9525">
            <a:noFill/>
          </a:ln>
        </p:spPr>
        <p:txBody>
          <a:bodyPr wrap="square">
            <a:spAutoFit/>
          </a:bodyPr>
          <a:lstStyle/>
          <a:p>
            <a:pPr>
              <a:lnSpc>
                <a:spcPct val="130000"/>
              </a:lnSpc>
            </a:pPr>
            <a:r>
              <a:rPr lang="zh-CN" altLang="en-US" sz="2000" dirty="0">
                <a:latin typeface="微软雅黑" panose="020B0503020204020204" charset="-122"/>
                <a:ea typeface="微软雅黑" panose="020B0503020204020204" charset="-122"/>
                <a:sym typeface="+mn-ea"/>
              </a:rPr>
              <a:t>       用</a:t>
            </a:r>
            <a:r>
              <a:rPr lang="en-US" sz="2000" dirty="0">
                <a:latin typeface="微软雅黑" panose="020B0503020204020204" charset="-122"/>
                <a:ea typeface="微软雅黑" panose="020B0503020204020204" charset="-122"/>
                <a:sym typeface="+mn-ea"/>
              </a:rPr>
              <a:t>McCabe</a:t>
            </a:r>
            <a:r>
              <a:rPr lang="zh-CN" altLang="en-US" sz="2000" dirty="0">
                <a:latin typeface="微软雅黑" panose="020B0503020204020204" charset="-122"/>
                <a:ea typeface="微软雅黑" panose="020B0503020204020204" charset="-122"/>
                <a:sym typeface="+mn-ea"/>
              </a:rPr>
              <a:t>方法度量得出的结果称为程序的环形复杂度。程序环形复杂度的计算方法有</a:t>
            </a:r>
            <a:r>
              <a:rPr lang="en-US" sz="2000" dirty="0">
                <a:latin typeface="微软雅黑" panose="020B0503020204020204" charset="-122"/>
                <a:ea typeface="微软雅黑" panose="020B0503020204020204" charset="-122"/>
                <a:sym typeface="+mn-ea"/>
              </a:rPr>
              <a:t>3</a:t>
            </a:r>
            <a:r>
              <a:rPr lang="zh-CN" altLang="en-US" sz="2000" dirty="0">
                <a:latin typeface="微软雅黑" panose="020B0503020204020204" charset="-122"/>
                <a:ea typeface="微软雅黑" panose="020B0503020204020204" charset="-122"/>
                <a:sym typeface="+mn-ea"/>
              </a:rPr>
              <a:t>种。</a:t>
            </a:r>
          </a:p>
          <a:p>
            <a:pPr>
              <a:lnSpc>
                <a:spcPct val="130000"/>
              </a:lnSpc>
            </a:pPr>
            <a:r>
              <a:rPr lang="zh-CN" altLang="en-US" sz="2000" dirty="0">
                <a:latin typeface="微软雅黑" panose="020B0503020204020204" charset="-122"/>
                <a:ea typeface="微软雅黑" panose="020B0503020204020204" charset="-122"/>
                <a:sym typeface="+mn-ea"/>
              </a:rPr>
              <a:t>（</a:t>
            </a:r>
            <a:r>
              <a:rPr lang="en-US" sz="2000" dirty="0">
                <a:latin typeface="微软雅黑" panose="020B0503020204020204" charset="-122"/>
                <a:ea typeface="微软雅黑" panose="020B0503020204020204" charset="-122"/>
                <a:sym typeface="+mn-ea"/>
              </a:rPr>
              <a:t>1</a:t>
            </a:r>
            <a:r>
              <a:rPr lang="zh-CN" altLang="en-US" sz="2000" dirty="0">
                <a:latin typeface="微软雅黑" panose="020B0503020204020204" charset="-122"/>
                <a:ea typeface="微软雅黑" panose="020B0503020204020204" charset="-122"/>
                <a:sym typeface="+mn-ea"/>
              </a:rPr>
              <a:t>）</a:t>
            </a:r>
            <a:r>
              <a:rPr lang="zh-CN" altLang="en-US" sz="2000" dirty="0">
                <a:solidFill>
                  <a:srgbClr val="0070C0"/>
                </a:solidFill>
                <a:latin typeface="微软雅黑" panose="020B0503020204020204" charset="-122"/>
                <a:ea typeface="微软雅黑" panose="020B0503020204020204" charset="-122"/>
                <a:sym typeface="+mn-ea"/>
              </a:rPr>
              <a:t>程序的环形复杂度计算公式为</a:t>
            </a:r>
          </a:p>
          <a:p>
            <a:pPr>
              <a:lnSpc>
                <a:spcPct val="130000"/>
              </a:lnSpc>
            </a:pPr>
            <a:r>
              <a:rPr lang="zh-CN" altLang="en-US" sz="2000" dirty="0">
                <a:latin typeface="微软雅黑" panose="020B0503020204020204" charset="-122"/>
                <a:ea typeface="微软雅黑" panose="020B0503020204020204" charset="-122"/>
                <a:sym typeface="+mn-ea"/>
              </a:rPr>
              <a:t>        其中，</a:t>
            </a:r>
            <a:r>
              <a:rPr lang="en-US" sz="2000" dirty="0">
                <a:latin typeface="微软雅黑" panose="020B0503020204020204" charset="-122"/>
                <a:ea typeface="微软雅黑" panose="020B0503020204020204" charset="-122"/>
                <a:sym typeface="+mn-ea"/>
              </a:rPr>
              <a:t>m</a:t>
            </a:r>
            <a:r>
              <a:rPr lang="zh-CN" altLang="en-US" sz="2000" dirty="0">
                <a:latin typeface="微软雅黑" panose="020B0503020204020204" charset="-122"/>
                <a:ea typeface="微软雅黑" panose="020B0503020204020204" charset="-122"/>
                <a:sym typeface="+mn-ea"/>
              </a:rPr>
              <a:t>是程序图</a:t>
            </a:r>
            <a:r>
              <a:rPr lang="en-US" sz="2000" dirty="0">
                <a:latin typeface="微软雅黑" panose="020B0503020204020204" charset="-122"/>
                <a:ea typeface="微软雅黑" panose="020B0503020204020204" charset="-122"/>
                <a:sym typeface="+mn-ea"/>
              </a:rPr>
              <a:t>G</a:t>
            </a:r>
            <a:r>
              <a:rPr lang="zh-CN" altLang="en-US" sz="2000" dirty="0">
                <a:latin typeface="微软雅黑" panose="020B0503020204020204" charset="-122"/>
                <a:ea typeface="微软雅黑" panose="020B0503020204020204" charset="-122"/>
                <a:sym typeface="+mn-ea"/>
              </a:rPr>
              <a:t>中的弧数（即边的条数），</a:t>
            </a:r>
            <a:r>
              <a:rPr lang="en-US" sz="2000" dirty="0">
                <a:latin typeface="微软雅黑" panose="020B0503020204020204" charset="-122"/>
                <a:ea typeface="微软雅黑" panose="020B0503020204020204" charset="-122"/>
                <a:sym typeface="+mn-ea"/>
              </a:rPr>
              <a:t>n</a:t>
            </a:r>
            <a:r>
              <a:rPr lang="zh-CN" altLang="en-US" sz="2000" dirty="0">
                <a:latin typeface="微软雅黑" panose="020B0503020204020204" charset="-122"/>
                <a:ea typeface="微软雅黑" panose="020B0503020204020204" charset="-122"/>
                <a:sym typeface="+mn-ea"/>
              </a:rPr>
              <a:t>是程序图</a:t>
            </a:r>
            <a:r>
              <a:rPr lang="en-US" sz="2000" dirty="0">
                <a:latin typeface="微软雅黑" panose="020B0503020204020204" charset="-122"/>
                <a:ea typeface="微软雅黑" panose="020B0503020204020204" charset="-122"/>
                <a:sym typeface="+mn-ea"/>
              </a:rPr>
              <a:t>G</a:t>
            </a:r>
            <a:r>
              <a:rPr lang="zh-CN" altLang="en-US" sz="2000" dirty="0">
                <a:latin typeface="微软雅黑" panose="020B0503020204020204" charset="-122"/>
                <a:ea typeface="微软雅黑" panose="020B0503020204020204" charset="-122"/>
                <a:sym typeface="+mn-ea"/>
              </a:rPr>
              <a:t>中的结点数。</a:t>
            </a:r>
          </a:p>
          <a:p>
            <a:pPr>
              <a:lnSpc>
                <a:spcPct val="130000"/>
              </a:lnSpc>
            </a:pPr>
            <a:r>
              <a:rPr lang="zh-CN" altLang="en-US" sz="2000" dirty="0">
                <a:latin typeface="微软雅黑" panose="020B0503020204020204" charset="-122"/>
                <a:ea typeface="微软雅黑" panose="020B0503020204020204" charset="-122"/>
                <a:sym typeface="+mn-ea"/>
              </a:rPr>
              <a:t>（</a:t>
            </a:r>
            <a:r>
              <a:rPr lang="en-US" sz="2000" dirty="0">
                <a:latin typeface="微软雅黑" panose="020B0503020204020204" charset="-122"/>
                <a:ea typeface="微软雅黑" panose="020B0503020204020204" charset="-122"/>
                <a:sym typeface="+mn-ea"/>
              </a:rPr>
              <a:t>2</a:t>
            </a:r>
            <a:r>
              <a:rPr lang="zh-CN" altLang="en-US" sz="2000" dirty="0">
                <a:latin typeface="微软雅黑" panose="020B0503020204020204" charset="-122"/>
                <a:ea typeface="微软雅黑" panose="020B0503020204020204" charset="-122"/>
                <a:sym typeface="+mn-ea"/>
              </a:rPr>
              <a:t>）</a:t>
            </a:r>
            <a:r>
              <a:rPr lang="zh-CN" altLang="en-US" sz="2000" dirty="0">
                <a:solidFill>
                  <a:srgbClr val="0070C0"/>
                </a:solidFill>
                <a:latin typeface="微软雅黑" panose="020B0503020204020204" charset="-122"/>
                <a:ea typeface="微软雅黑" panose="020B0503020204020204" charset="-122"/>
                <a:sym typeface="+mn-ea"/>
              </a:rPr>
              <a:t>如果</a:t>
            </a:r>
            <a:r>
              <a:rPr lang="en-US" sz="2000" dirty="0">
                <a:solidFill>
                  <a:srgbClr val="0070C0"/>
                </a:solidFill>
                <a:latin typeface="微软雅黑" panose="020B0503020204020204" charset="-122"/>
                <a:ea typeface="微软雅黑" panose="020B0503020204020204" charset="-122"/>
                <a:sym typeface="+mn-ea"/>
              </a:rPr>
              <a:t>P</a:t>
            </a:r>
            <a:r>
              <a:rPr lang="zh-CN" altLang="en-US" sz="2000" dirty="0">
                <a:solidFill>
                  <a:srgbClr val="0070C0"/>
                </a:solidFill>
                <a:latin typeface="微软雅黑" panose="020B0503020204020204" charset="-122"/>
                <a:ea typeface="微软雅黑" panose="020B0503020204020204" charset="-122"/>
                <a:sym typeface="+mn-ea"/>
              </a:rPr>
              <a:t>是程序图中判定结点的个数，则程序图</a:t>
            </a:r>
            <a:r>
              <a:rPr lang="en-US" sz="2000" dirty="0">
                <a:solidFill>
                  <a:srgbClr val="0070C0"/>
                </a:solidFill>
                <a:latin typeface="微软雅黑" panose="020B0503020204020204" charset="-122"/>
                <a:ea typeface="微软雅黑" panose="020B0503020204020204" charset="-122"/>
                <a:sym typeface="+mn-ea"/>
              </a:rPr>
              <a:t>G</a:t>
            </a:r>
            <a:r>
              <a:rPr lang="zh-CN" altLang="en-US" sz="2000" dirty="0">
                <a:solidFill>
                  <a:srgbClr val="0070C0"/>
                </a:solidFill>
                <a:latin typeface="微软雅黑" panose="020B0503020204020204" charset="-122"/>
                <a:ea typeface="微软雅黑" panose="020B0503020204020204" charset="-122"/>
                <a:sym typeface="+mn-ea"/>
              </a:rPr>
              <a:t>的环形复杂度为：</a:t>
            </a:r>
          </a:p>
          <a:p>
            <a:pPr>
              <a:lnSpc>
                <a:spcPct val="130000"/>
              </a:lnSpc>
            </a:pPr>
            <a:r>
              <a:rPr lang="zh-CN" altLang="en-US" sz="2000" dirty="0">
                <a:latin typeface="微软雅黑" panose="020B0503020204020204" charset="-122"/>
                <a:ea typeface="微软雅黑" panose="020B0503020204020204" charset="-122"/>
                <a:sym typeface="+mn-ea"/>
              </a:rPr>
              <a:t>       源代码中</a:t>
            </a:r>
            <a:r>
              <a:rPr lang="en-US" sz="2000" dirty="0">
                <a:latin typeface="微软雅黑" panose="020B0503020204020204" charset="-122"/>
                <a:ea typeface="微软雅黑" panose="020B0503020204020204" charset="-122"/>
                <a:sym typeface="+mn-ea"/>
              </a:rPr>
              <a:t>IF</a:t>
            </a:r>
            <a:r>
              <a:rPr lang="zh-CN" altLang="en-US" sz="2000" dirty="0">
                <a:latin typeface="微软雅黑" panose="020B0503020204020204" charset="-122"/>
                <a:ea typeface="微软雅黑" panose="020B0503020204020204" charset="-122"/>
                <a:sym typeface="+mn-ea"/>
              </a:rPr>
              <a:t>语句及</a:t>
            </a:r>
            <a:r>
              <a:rPr lang="en-US" sz="2000" dirty="0">
                <a:latin typeface="微软雅黑" panose="020B0503020204020204" charset="-122"/>
                <a:ea typeface="微软雅黑" panose="020B0503020204020204" charset="-122"/>
                <a:sym typeface="+mn-ea"/>
              </a:rPr>
              <a:t>While</a:t>
            </a:r>
            <a:r>
              <a:rPr lang="zh-CN" altLang="en-US" sz="2000" dirty="0">
                <a:latin typeface="微软雅黑" panose="020B0503020204020204" charset="-122"/>
                <a:ea typeface="微软雅黑" panose="020B0503020204020204" charset="-122"/>
                <a:sym typeface="+mn-ea"/>
              </a:rPr>
              <a:t>、</a:t>
            </a:r>
            <a:r>
              <a:rPr lang="en-US" sz="2000" dirty="0">
                <a:latin typeface="微软雅黑" panose="020B0503020204020204" charset="-122"/>
                <a:ea typeface="微软雅黑" panose="020B0503020204020204" charset="-122"/>
                <a:sym typeface="+mn-ea"/>
              </a:rPr>
              <a:t>For</a:t>
            </a:r>
            <a:r>
              <a:rPr lang="zh-CN" altLang="en-US" sz="2000" dirty="0">
                <a:latin typeface="微软雅黑" panose="020B0503020204020204" charset="-122"/>
                <a:ea typeface="微软雅黑" panose="020B0503020204020204" charset="-122"/>
                <a:sym typeface="+mn-ea"/>
              </a:rPr>
              <a:t>或</a:t>
            </a:r>
            <a:r>
              <a:rPr lang="en-US" sz="2000" dirty="0">
                <a:latin typeface="微软雅黑" panose="020B0503020204020204" charset="-122"/>
                <a:ea typeface="微软雅黑" panose="020B0503020204020204" charset="-122"/>
                <a:sym typeface="+mn-ea"/>
              </a:rPr>
              <a:t>Repeat</a:t>
            </a:r>
            <a:r>
              <a:rPr lang="zh-CN" altLang="en-US" sz="2000" dirty="0">
                <a:latin typeface="微软雅黑" panose="020B0503020204020204" charset="-122"/>
                <a:ea typeface="微软雅黑" panose="020B0503020204020204" charset="-122"/>
                <a:sym typeface="+mn-ea"/>
              </a:rPr>
              <a:t>循环语句的判定结点数为</a:t>
            </a:r>
            <a:r>
              <a:rPr lang="en-US" sz="2000" dirty="0">
                <a:latin typeface="微软雅黑" panose="020B0503020204020204" charset="-122"/>
                <a:ea typeface="微软雅黑" panose="020B0503020204020204" charset="-122"/>
                <a:sym typeface="+mn-ea"/>
              </a:rPr>
              <a:t>1</a:t>
            </a:r>
            <a:r>
              <a:rPr lang="zh-CN" altLang="en-US" sz="2000" dirty="0">
                <a:latin typeface="微软雅黑" panose="020B0503020204020204" charset="-122"/>
                <a:ea typeface="微软雅黑" panose="020B0503020204020204" charset="-122"/>
                <a:sym typeface="+mn-ea"/>
              </a:rPr>
              <a:t>，而</a:t>
            </a:r>
            <a:r>
              <a:rPr lang="en-US" sz="2000" dirty="0">
                <a:latin typeface="微软雅黑" panose="020B0503020204020204" charset="-122"/>
                <a:ea typeface="微软雅黑" panose="020B0503020204020204" charset="-122"/>
                <a:sym typeface="+mn-ea"/>
              </a:rPr>
              <a:t>Case</a:t>
            </a:r>
            <a:r>
              <a:rPr lang="zh-CN" altLang="en-US" sz="2000" dirty="0">
                <a:latin typeface="微软雅黑" panose="020B0503020204020204" charset="-122"/>
                <a:ea typeface="微软雅黑" panose="020B0503020204020204" charset="-122"/>
                <a:sym typeface="+mn-ea"/>
              </a:rPr>
              <a:t>型等多分支语句的判定结点数等于可能的分支数减去</a:t>
            </a:r>
            <a:r>
              <a:rPr lang="en-US" sz="2000" dirty="0">
                <a:latin typeface="微软雅黑" panose="020B0503020204020204" charset="-122"/>
                <a:ea typeface="微软雅黑" panose="020B0503020204020204" charset="-122"/>
                <a:sym typeface="+mn-ea"/>
              </a:rPr>
              <a:t>1</a:t>
            </a:r>
            <a:r>
              <a:rPr lang="zh-CN" altLang="en-US" sz="2000" dirty="0">
                <a:latin typeface="微软雅黑" panose="020B0503020204020204" charset="-122"/>
                <a:ea typeface="微软雅黑" panose="020B0503020204020204" charset="-122"/>
                <a:sym typeface="+mn-ea"/>
              </a:rPr>
              <a:t>。</a:t>
            </a:r>
          </a:p>
          <a:p>
            <a:pPr>
              <a:lnSpc>
                <a:spcPct val="130000"/>
              </a:lnSpc>
            </a:pPr>
            <a:r>
              <a:rPr lang="zh-CN" altLang="en-US" sz="2000" dirty="0">
                <a:latin typeface="微软雅黑" panose="020B0503020204020204" charset="-122"/>
                <a:ea typeface="微软雅黑" panose="020B0503020204020204" charset="-122"/>
                <a:sym typeface="+mn-ea"/>
              </a:rPr>
              <a:t>（</a:t>
            </a:r>
            <a:r>
              <a:rPr lang="en-US" sz="2000" dirty="0">
                <a:latin typeface="微软雅黑" panose="020B0503020204020204" charset="-122"/>
                <a:ea typeface="微软雅黑" panose="020B0503020204020204" charset="-122"/>
                <a:sym typeface="+mn-ea"/>
              </a:rPr>
              <a:t>3</a:t>
            </a:r>
            <a:r>
              <a:rPr lang="zh-CN" altLang="en-US" sz="2000" dirty="0">
                <a:latin typeface="微软雅黑" panose="020B0503020204020204" charset="-122"/>
                <a:ea typeface="微软雅黑" panose="020B0503020204020204" charset="-122"/>
                <a:sym typeface="+mn-ea"/>
              </a:rPr>
              <a:t>）</a:t>
            </a:r>
            <a:r>
              <a:rPr lang="zh-CN" altLang="en-US" sz="2000" dirty="0">
                <a:solidFill>
                  <a:srgbClr val="0070C0"/>
                </a:solidFill>
                <a:latin typeface="微软雅黑" panose="020B0503020204020204" charset="-122"/>
                <a:ea typeface="微软雅黑" panose="020B0503020204020204" charset="-122"/>
                <a:sym typeface="+mn-ea"/>
              </a:rPr>
              <a:t>环形复杂度等于强连通的程序图中线性无关的有向环的个数。</a:t>
            </a:r>
          </a:p>
          <a:p>
            <a:pPr>
              <a:lnSpc>
                <a:spcPct val="130000"/>
              </a:lnSpc>
            </a:pPr>
            <a:r>
              <a:rPr lang="zh-CN" altLang="en-US" sz="2000" dirty="0">
                <a:latin typeface="微软雅黑" panose="020B0503020204020204" charset="-122"/>
                <a:ea typeface="微软雅黑" panose="020B0503020204020204" charset="-122"/>
                <a:sym typeface="+mn-ea"/>
              </a:rPr>
              <a:t>        根据图论，在一个强连通的程序图中，线性无关环的个数按下式计算：</a:t>
            </a:r>
          </a:p>
          <a:p>
            <a:pPr>
              <a:lnSpc>
                <a:spcPct val="130000"/>
              </a:lnSpc>
            </a:pPr>
            <a:r>
              <a:rPr lang="zh-CN" altLang="en-US" sz="2000" dirty="0">
                <a:latin typeface="微软雅黑" panose="020B0503020204020204" charset="-122"/>
                <a:ea typeface="微软雅黑" panose="020B0503020204020204" charset="-122"/>
                <a:sym typeface="+mn-ea"/>
              </a:rPr>
              <a:t>其中，</a:t>
            </a:r>
            <a:r>
              <a:rPr lang="en-US" sz="2000" dirty="0">
                <a:latin typeface="微软雅黑" panose="020B0503020204020204" charset="-122"/>
                <a:ea typeface="微软雅黑" panose="020B0503020204020204" charset="-122"/>
                <a:sym typeface="+mn-ea"/>
              </a:rPr>
              <a:t> </a:t>
            </a:r>
            <a:r>
              <a:rPr lang="zh-CN" altLang="en-US" sz="2000" dirty="0">
                <a:latin typeface="微软雅黑" panose="020B0503020204020204" charset="-122"/>
                <a:ea typeface="微软雅黑" panose="020B0503020204020204" charset="-122"/>
                <a:sym typeface="+mn-ea"/>
              </a:rPr>
              <a:t>是强连通的程序图</a:t>
            </a:r>
            <a:r>
              <a:rPr lang="en-US" sz="2000" dirty="0">
                <a:latin typeface="微软雅黑" panose="020B0503020204020204" charset="-122"/>
                <a:ea typeface="微软雅黑" panose="020B0503020204020204" charset="-122"/>
                <a:sym typeface="+mn-ea"/>
              </a:rPr>
              <a:t>G</a:t>
            </a:r>
            <a:r>
              <a:rPr lang="zh-CN" altLang="en-US" sz="2000" dirty="0">
                <a:latin typeface="微软雅黑" panose="020B0503020204020204" charset="-122"/>
                <a:ea typeface="微软雅黑" panose="020B0503020204020204" charset="-122"/>
                <a:sym typeface="+mn-ea"/>
              </a:rPr>
              <a:t>中的环数，</a:t>
            </a:r>
            <a:r>
              <a:rPr lang="en-US" sz="2000" dirty="0">
                <a:latin typeface="微软雅黑" panose="020B0503020204020204" charset="-122"/>
                <a:ea typeface="微软雅黑" panose="020B0503020204020204" charset="-122"/>
                <a:sym typeface="+mn-ea"/>
              </a:rPr>
              <a:t>m</a:t>
            </a:r>
            <a:r>
              <a:rPr lang="zh-CN" altLang="en-US" sz="2000" dirty="0">
                <a:latin typeface="微软雅黑" panose="020B0503020204020204" charset="-122"/>
                <a:ea typeface="微软雅黑" panose="020B0503020204020204" charset="-122"/>
                <a:sym typeface="+mn-ea"/>
              </a:rPr>
              <a:t>是程序图</a:t>
            </a:r>
            <a:r>
              <a:rPr lang="en-US" sz="2000" dirty="0">
                <a:latin typeface="微软雅黑" panose="020B0503020204020204" charset="-122"/>
                <a:ea typeface="微软雅黑" panose="020B0503020204020204" charset="-122"/>
                <a:sym typeface="+mn-ea"/>
              </a:rPr>
              <a:t>G</a:t>
            </a:r>
            <a:r>
              <a:rPr lang="zh-CN" altLang="en-US" sz="2000" dirty="0">
                <a:latin typeface="微软雅黑" panose="020B0503020204020204" charset="-122"/>
                <a:ea typeface="微软雅黑" panose="020B0503020204020204" charset="-122"/>
                <a:sym typeface="+mn-ea"/>
              </a:rPr>
              <a:t>中的弧数，</a:t>
            </a:r>
            <a:r>
              <a:rPr lang="en-US" sz="2000" dirty="0">
                <a:latin typeface="微软雅黑" panose="020B0503020204020204" charset="-122"/>
                <a:ea typeface="微软雅黑" panose="020B0503020204020204" charset="-122"/>
                <a:sym typeface="+mn-ea"/>
              </a:rPr>
              <a:t>n</a:t>
            </a:r>
            <a:r>
              <a:rPr lang="zh-CN" altLang="en-US" sz="2000" dirty="0">
                <a:latin typeface="微软雅黑" panose="020B0503020204020204" charset="-122"/>
                <a:ea typeface="微软雅黑" panose="020B0503020204020204" charset="-122"/>
                <a:sym typeface="+mn-ea"/>
              </a:rPr>
              <a:t>是程序图</a:t>
            </a:r>
            <a:r>
              <a:rPr lang="en-US" sz="2000" dirty="0">
                <a:latin typeface="微软雅黑" panose="020B0503020204020204" charset="-122"/>
                <a:ea typeface="微软雅黑" panose="020B0503020204020204" charset="-122"/>
                <a:sym typeface="+mn-ea"/>
              </a:rPr>
              <a:t>G</a:t>
            </a:r>
            <a:r>
              <a:rPr lang="zh-CN" altLang="en-US" sz="2000" dirty="0">
                <a:latin typeface="微软雅黑" panose="020B0503020204020204" charset="-122"/>
                <a:ea typeface="微软雅黑" panose="020B0503020204020204" charset="-122"/>
                <a:sym typeface="+mn-ea"/>
              </a:rPr>
              <a:t>中的结点数。</a:t>
            </a:r>
          </a:p>
        </p:txBody>
      </p:sp>
      <p:graphicFrame>
        <p:nvGraphicFramePr>
          <p:cNvPr id="6" name="对象 5"/>
          <p:cNvGraphicFramePr>
            <a:graphicFrameLocks noChangeAspect="1"/>
          </p:cNvGraphicFramePr>
          <p:nvPr/>
        </p:nvGraphicFramePr>
        <p:xfrm>
          <a:off x="5737895" y="2819400"/>
          <a:ext cx="1762725" cy="365443"/>
        </p:xfrm>
        <a:graphic>
          <a:graphicData uri="http://schemas.openxmlformats.org/presentationml/2006/ole">
            <mc:AlternateContent xmlns:mc="http://schemas.openxmlformats.org/markup-compatibility/2006">
              <mc:Choice xmlns:v="urn:schemas-microsoft-com:vml" Requires="v">
                <p:oleObj name="公式" r:id="rId3" imgW="24993600" imgH="5181600" progId="">
                  <p:embed/>
                </p:oleObj>
              </mc:Choice>
              <mc:Fallback>
                <p:oleObj name="公式" r:id="rId3" imgW="24993600" imgH="5181600" progId="">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37895" y="2819400"/>
                        <a:ext cx="1762725" cy="3654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对象 7"/>
          <p:cNvGraphicFramePr>
            <a:graphicFrameLocks noChangeAspect="1"/>
          </p:cNvGraphicFramePr>
          <p:nvPr/>
        </p:nvGraphicFramePr>
        <p:xfrm>
          <a:off x="9407971" y="3611880"/>
          <a:ext cx="1166049" cy="319723"/>
        </p:xfrm>
        <a:graphic>
          <a:graphicData uri="http://schemas.openxmlformats.org/presentationml/2006/ole">
            <mc:AlternateContent xmlns:mc="http://schemas.openxmlformats.org/markup-compatibility/2006">
              <mc:Choice xmlns:v="urn:schemas-microsoft-com:vml" Requires="v">
                <p:oleObj name="公式" r:id="rId5" imgW="18897600" imgH="5181600" progId="">
                  <p:embed/>
                </p:oleObj>
              </mc:Choice>
              <mc:Fallback>
                <p:oleObj name="公式" r:id="rId5" imgW="18897600" imgH="5181600" progId="">
                  <p:embed/>
                  <p:pic>
                    <p:nvPicPr>
                      <p:cNvPr id="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407971" y="3611880"/>
                        <a:ext cx="1166049" cy="3197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1187" name="Object 3"/>
          <p:cNvGraphicFramePr>
            <a:graphicFrameLocks noChangeAspect="1"/>
          </p:cNvGraphicFramePr>
          <p:nvPr/>
        </p:nvGraphicFramePr>
        <p:xfrm>
          <a:off x="9967278" y="5153343"/>
          <a:ext cx="1720850" cy="366712"/>
        </p:xfrm>
        <a:graphic>
          <a:graphicData uri="http://schemas.openxmlformats.org/presentationml/2006/ole">
            <mc:AlternateContent xmlns:mc="http://schemas.openxmlformats.org/markup-compatibility/2006">
              <mc:Choice xmlns:v="urn:schemas-microsoft-com:vml" Requires="v">
                <p:oleObj name="公式" r:id="rId7" imgW="24384000" imgH="5181600" progId="">
                  <p:embed/>
                </p:oleObj>
              </mc:Choice>
              <mc:Fallback>
                <p:oleObj name="公式" r:id="rId7" imgW="24384000" imgH="5181600" progId="">
                  <p:embed/>
                  <p:pic>
                    <p:nvPicPr>
                      <p:cNvPr id="0" name="Picture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67278" y="5153343"/>
                        <a:ext cx="1720850" cy="366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pull dir="rd"/>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11520000" cy="535531"/>
          </a:xfrm>
        </p:spPr>
        <p:txBody>
          <a:bodyPr/>
          <a:lstStyle/>
          <a:p>
            <a:r>
              <a:rPr lang="en-US" dirty="0"/>
              <a:t>4.5 </a:t>
            </a:r>
            <a:r>
              <a:rPr lang="zh-CN" altLang="en-US" dirty="0"/>
              <a:t>设计软件测试方案</a:t>
            </a:r>
          </a:p>
        </p:txBody>
      </p:sp>
      <p:sp>
        <p:nvSpPr>
          <p:cNvPr id="4" name="文本占位符 3">
            <a:extLst>
              <a:ext uri="{FF2B5EF4-FFF2-40B4-BE49-F238E27FC236}">
                <a16:creationId xmlns:a16="http://schemas.microsoft.com/office/drawing/2014/main" id="{4E0CB161-E4C9-BE55-28F6-D626D526DFF9}"/>
              </a:ext>
            </a:extLst>
          </p:cNvPr>
          <p:cNvSpPr>
            <a:spLocks noGrp="1"/>
          </p:cNvSpPr>
          <p:nvPr>
            <p:ph type="body" sz="quarter" idx="10"/>
          </p:nvPr>
        </p:nvSpPr>
        <p:spPr>
          <a:xfrm>
            <a:off x="696000" y="1322832"/>
            <a:ext cx="11160000" cy="400110"/>
          </a:xfrm>
        </p:spPr>
        <p:txBody>
          <a:bodyPr/>
          <a:lstStyle/>
          <a:p>
            <a:r>
              <a:rPr lang="en-US" altLang="zh-CN" dirty="0"/>
              <a:t>4.5.5 </a:t>
            </a:r>
            <a:r>
              <a:rPr lang="zh-CN" altLang="en-US" dirty="0"/>
              <a:t>程序环形复杂程度的度量</a:t>
            </a:r>
          </a:p>
        </p:txBody>
      </p:sp>
      <p:sp>
        <p:nvSpPr>
          <p:cNvPr id="9" name="文本占位符 8">
            <a:extLst>
              <a:ext uri="{FF2B5EF4-FFF2-40B4-BE49-F238E27FC236}">
                <a16:creationId xmlns:a16="http://schemas.microsoft.com/office/drawing/2014/main" id="{AC662477-46B0-483C-2624-F9F2BB78C099}"/>
              </a:ext>
            </a:extLst>
          </p:cNvPr>
          <p:cNvSpPr>
            <a:spLocks noGrp="1"/>
          </p:cNvSpPr>
          <p:nvPr>
            <p:ph type="body" sz="quarter" idx="11"/>
          </p:nvPr>
        </p:nvSpPr>
        <p:spPr/>
        <p:txBody>
          <a:bodyPr/>
          <a:lstStyle/>
          <a:p>
            <a:endParaRPr lang="zh-CN" altLang="en-US"/>
          </a:p>
        </p:txBody>
      </p:sp>
      <p:sp>
        <p:nvSpPr>
          <p:cNvPr id="100" name="文本框 99"/>
          <p:cNvSpPr txBox="1"/>
          <p:nvPr/>
        </p:nvSpPr>
        <p:spPr>
          <a:xfrm>
            <a:off x="1503680" y="2378710"/>
            <a:ext cx="9857105" cy="2893100"/>
          </a:xfrm>
          <a:prstGeom prst="rect">
            <a:avLst/>
          </a:prstGeom>
          <a:noFill/>
          <a:ln w="9525">
            <a:noFill/>
          </a:ln>
        </p:spPr>
        <p:txBody>
          <a:bodyPr wrap="square">
            <a:spAutoFit/>
          </a:bodyPr>
          <a:lstStyle/>
          <a:p>
            <a:pPr>
              <a:lnSpc>
                <a:spcPct val="130000"/>
              </a:lnSpc>
            </a:pPr>
            <a:r>
              <a:rPr lang="zh-CN" altLang="en-US" sz="2000" dirty="0">
                <a:latin typeface="微软雅黑" panose="020B0503020204020204" charset="-122"/>
                <a:ea typeface="微软雅黑" panose="020B0503020204020204" charset="-122"/>
                <a:sym typeface="+mn-ea"/>
              </a:rPr>
              <a:t>       所谓</a:t>
            </a:r>
            <a:r>
              <a:rPr lang="zh-CN" altLang="en-US" sz="2000" dirty="0">
                <a:solidFill>
                  <a:srgbClr val="C00000"/>
                </a:solidFill>
                <a:latin typeface="微软雅黑" panose="020B0503020204020204" charset="-122"/>
                <a:ea typeface="微软雅黑" panose="020B0503020204020204" charset="-122"/>
                <a:sym typeface="+mn-ea"/>
              </a:rPr>
              <a:t>强连通图</a:t>
            </a:r>
            <a:r>
              <a:rPr lang="zh-CN" altLang="en-US" sz="2000" dirty="0">
                <a:latin typeface="微软雅黑" panose="020B0503020204020204" charset="-122"/>
                <a:ea typeface="微软雅黑" panose="020B0503020204020204" charset="-122"/>
                <a:sym typeface="+mn-ea"/>
              </a:rPr>
              <a:t>，</a:t>
            </a:r>
            <a:r>
              <a:rPr lang="zh-CN" altLang="en-US" sz="2000" dirty="0">
                <a:solidFill>
                  <a:srgbClr val="0070C0"/>
                </a:solidFill>
                <a:latin typeface="微软雅黑" panose="020B0503020204020204" charset="-122"/>
                <a:ea typeface="微软雅黑" panose="020B0503020204020204" charset="-122"/>
                <a:sym typeface="+mn-ea"/>
              </a:rPr>
              <a:t>是指从图中任一结点出发都可以到达所有其他结点。</a:t>
            </a:r>
            <a:r>
              <a:rPr lang="zh-CN" altLang="en-US" sz="2000" dirty="0">
                <a:solidFill>
                  <a:srgbClr val="00B050"/>
                </a:solidFill>
                <a:latin typeface="微软雅黑" panose="020B0503020204020204" charset="-122"/>
                <a:ea typeface="微软雅黑" panose="020B0503020204020204" charset="-122"/>
                <a:sym typeface="+mn-ea"/>
              </a:rPr>
              <a:t>通常将程序图中开始点后面的结点称为入口点，将停止点前面的结点称为出口点。程序图通常不是强连通的，从靠近出口的结点往往不能到达较高的结点。如果从出口点到入口点画一条虚弧，则程序图必然成为强连通的</a:t>
            </a:r>
            <a:r>
              <a:rPr lang="zh-CN" altLang="en-US" sz="2000" dirty="0">
                <a:latin typeface="微软雅黑" panose="020B0503020204020204" charset="-122"/>
                <a:ea typeface="微软雅黑" panose="020B0503020204020204" charset="-122"/>
                <a:sym typeface="+mn-ea"/>
              </a:rPr>
              <a:t>，其理由如下：</a:t>
            </a:r>
          </a:p>
          <a:p>
            <a:pPr>
              <a:lnSpc>
                <a:spcPct val="130000"/>
              </a:lnSpc>
              <a:buFont typeface="Wingdings" panose="05000000000000000000" pitchFamily="2" charset="2"/>
              <a:buChar char="Ø"/>
            </a:pPr>
            <a:r>
              <a:rPr lang="zh-CN" altLang="en-US" sz="2000" dirty="0">
                <a:latin typeface="微软雅黑" panose="020B0503020204020204" charset="-122"/>
                <a:ea typeface="微软雅黑" panose="020B0503020204020204" charset="-122"/>
                <a:sym typeface="+mn-ea"/>
              </a:rPr>
              <a:t> 从入口点总能到达图中任何一点。</a:t>
            </a:r>
          </a:p>
          <a:p>
            <a:pPr>
              <a:lnSpc>
                <a:spcPct val="130000"/>
              </a:lnSpc>
              <a:buFont typeface="Wingdings" panose="05000000000000000000" pitchFamily="2" charset="2"/>
              <a:buChar char="Ø"/>
            </a:pPr>
            <a:r>
              <a:rPr lang="zh-CN" altLang="en-US" sz="2000" dirty="0">
                <a:latin typeface="微软雅黑" panose="020B0503020204020204" charset="-122"/>
                <a:ea typeface="微软雅黑" panose="020B0503020204020204" charset="-122"/>
                <a:sym typeface="+mn-ea"/>
              </a:rPr>
              <a:t> 从图中任何一点总能到达出口点。</a:t>
            </a:r>
          </a:p>
          <a:p>
            <a:pPr>
              <a:lnSpc>
                <a:spcPct val="130000"/>
              </a:lnSpc>
              <a:buFont typeface="Wingdings" panose="05000000000000000000" pitchFamily="2" charset="2"/>
              <a:buChar char="Ø"/>
            </a:pPr>
            <a:r>
              <a:rPr lang="zh-CN" altLang="en-US" sz="2000" dirty="0">
                <a:latin typeface="微软雅黑" panose="020B0503020204020204" charset="-122"/>
                <a:ea typeface="微软雅黑" panose="020B0503020204020204" charset="-122"/>
                <a:sym typeface="+mn-ea"/>
              </a:rPr>
              <a:t> 经过从出口点到入口点的弧，可以从出口点到达入口点。</a:t>
            </a:r>
          </a:p>
        </p:txBody>
      </p:sp>
    </p:spTree>
  </p:cSld>
  <p:clrMapOvr>
    <a:masterClrMapping/>
  </p:clrMapOvr>
  <p:transition>
    <p:pull dir="rd"/>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11520000" cy="535531"/>
          </a:xfrm>
        </p:spPr>
        <p:txBody>
          <a:bodyPr/>
          <a:lstStyle/>
          <a:p>
            <a:r>
              <a:rPr lang="en-US" dirty="0"/>
              <a:t>4.5 </a:t>
            </a:r>
            <a:r>
              <a:rPr lang="zh-CN" altLang="en-US" dirty="0"/>
              <a:t>设计软件测试方案</a:t>
            </a:r>
          </a:p>
        </p:txBody>
      </p:sp>
      <p:sp>
        <p:nvSpPr>
          <p:cNvPr id="4" name="文本占位符 3">
            <a:extLst>
              <a:ext uri="{FF2B5EF4-FFF2-40B4-BE49-F238E27FC236}">
                <a16:creationId xmlns:a16="http://schemas.microsoft.com/office/drawing/2014/main" id="{623460D1-2ECA-98C7-80D1-7819289D1D51}"/>
              </a:ext>
            </a:extLst>
          </p:cNvPr>
          <p:cNvSpPr>
            <a:spLocks noGrp="1"/>
          </p:cNvSpPr>
          <p:nvPr>
            <p:ph type="body" sz="quarter" idx="10"/>
          </p:nvPr>
        </p:nvSpPr>
        <p:spPr/>
        <p:txBody>
          <a:bodyPr/>
          <a:lstStyle/>
          <a:p>
            <a:r>
              <a:rPr lang="en-US" altLang="zh-CN" dirty="0"/>
              <a:t>4.5.5 </a:t>
            </a:r>
            <a:r>
              <a:rPr lang="zh-CN" altLang="en-US" dirty="0"/>
              <a:t>程序环形复杂程度的度量</a:t>
            </a:r>
          </a:p>
        </p:txBody>
      </p:sp>
      <p:sp>
        <p:nvSpPr>
          <p:cNvPr id="5" name="文本占位符 4">
            <a:extLst>
              <a:ext uri="{FF2B5EF4-FFF2-40B4-BE49-F238E27FC236}">
                <a16:creationId xmlns:a16="http://schemas.microsoft.com/office/drawing/2014/main" id="{0B20F55E-599C-20BC-A14B-BC8A27F8E208}"/>
              </a:ext>
            </a:extLst>
          </p:cNvPr>
          <p:cNvSpPr>
            <a:spLocks noGrp="1"/>
          </p:cNvSpPr>
          <p:nvPr>
            <p:ph type="body" sz="quarter" idx="11"/>
          </p:nvPr>
        </p:nvSpPr>
        <p:spPr/>
        <p:txBody>
          <a:bodyPr/>
          <a:lstStyle/>
          <a:p>
            <a:endParaRPr lang="zh-CN" altLang="en-US"/>
          </a:p>
        </p:txBody>
      </p:sp>
      <p:sp>
        <p:nvSpPr>
          <p:cNvPr id="100" name="文本框 99"/>
          <p:cNvSpPr txBox="1"/>
          <p:nvPr/>
        </p:nvSpPr>
        <p:spPr>
          <a:xfrm>
            <a:off x="1412240" y="2195830"/>
            <a:ext cx="9857105" cy="2893100"/>
          </a:xfrm>
          <a:prstGeom prst="rect">
            <a:avLst/>
          </a:prstGeom>
          <a:noFill/>
          <a:ln w="9525">
            <a:noFill/>
          </a:ln>
        </p:spPr>
        <p:txBody>
          <a:bodyPr wrap="square">
            <a:spAutoFit/>
          </a:bodyPr>
          <a:lstStyle/>
          <a:p>
            <a:pPr>
              <a:lnSpc>
                <a:spcPct val="130000"/>
              </a:lnSpc>
            </a:pPr>
            <a:r>
              <a:rPr lang="zh-CN" altLang="en-US" sz="2000" dirty="0">
                <a:latin typeface="微软雅黑" panose="020B0503020204020204" charset="-122"/>
                <a:ea typeface="微软雅黑" panose="020B0503020204020204" charset="-122"/>
                <a:sym typeface="+mn-ea"/>
              </a:rPr>
              <a:t>       由于要从程序图构成线性无关有向环，需要添加一条虚弧，所以实际计算环形复杂度的计算公式为</a:t>
            </a:r>
            <a:endParaRPr lang="en-US" altLang="zh-CN" sz="2000">
              <a:latin typeface="微软雅黑" panose="020B0503020204020204" charset="-122"/>
              <a:ea typeface="微软雅黑" panose="020B0503020204020204" charset="-122"/>
              <a:sym typeface="+mn-ea"/>
            </a:endParaRPr>
          </a:p>
          <a:p>
            <a:pPr>
              <a:lnSpc>
                <a:spcPct val="130000"/>
              </a:lnSpc>
            </a:pPr>
            <a:endParaRPr lang="zh-CN" altLang="en-US" sz="2000" dirty="0">
              <a:latin typeface="微软雅黑" panose="020B0503020204020204" charset="-122"/>
              <a:ea typeface="微软雅黑" panose="020B0503020204020204" charset="-122"/>
              <a:sym typeface="+mn-ea"/>
            </a:endParaRPr>
          </a:p>
          <a:p>
            <a:pPr>
              <a:lnSpc>
                <a:spcPct val="130000"/>
              </a:lnSpc>
            </a:pPr>
            <a:r>
              <a:rPr lang="zh-CN" altLang="en-US" sz="2000" dirty="0">
                <a:latin typeface="微软雅黑" panose="020B0503020204020204" charset="-122"/>
                <a:ea typeface="微软雅黑" panose="020B0503020204020204" charset="-122"/>
                <a:sym typeface="+mn-ea"/>
              </a:rPr>
              <a:t>       其中，        是强连通的程序图</a:t>
            </a:r>
            <a:r>
              <a:rPr lang="en-US" altLang="zh-CN" sz="2000">
                <a:latin typeface="微软雅黑" panose="020B0503020204020204" charset="-122"/>
                <a:ea typeface="微软雅黑" panose="020B0503020204020204" charset="-122"/>
                <a:sym typeface="+mn-ea"/>
              </a:rPr>
              <a:t>G</a:t>
            </a:r>
            <a:r>
              <a:rPr lang="zh-CN" altLang="en-US" sz="2000">
                <a:latin typeface="微软雅黑" panose="020B0503020204020204" charset="-122"/>
                <a:ea typeface="微软雅黑" panose="020B0503020204020204" charset="-122"/>
                <a:sym typeface="+mn-ea"/>
              </a:rPr>
              <a:t>中</a:t>
            </a:r>
            <a:r>
              <a:rPr lang="zh-CN" altLang="en-US" sz="2000" dirty="0">
                <a:latin typeface="微软雅黑" panose="020B0503020204020204" charset="-122"/>
                <a:ea typeface="微软雅黑" panose="020B0503020204020204" charset="-122"/>
                <a:sym typeface="+mn-ea"/>
              </a:rPr>
              <a:t>的环数，</a:t>
            </a:r>
            <a:r>
              <a:rPr lang="en-US" altLang="zh-CN" sz="2000">
                <a:latin typeface="微软雅黑" panose="020B0503020204020204" charset="-122"/>
                <a:ea typeface="微软雅黑" panose="020B0503020204020204" charset="-122"/>
                <a:sym typeface="+mn-ea"/>
              </a:rPr>
              <a:t>m</a:t>
            </a:r>
            <a:r>
              <a:rPr lang="zh-CN" altLang="en-US" sz="2000">
                <a:latin typeface="微软雅黑" panose="020B0503020204020204" charset="-122"/>
                <a:ea typeface="微软雅黑" panose="020B0503020204020204" charset="-122"/>
                <a:sym typeface="+mn-ea"/>
              </a:rPr>
              <a:t>是</a:t>
            </a:r>
            <a:r>
              <a:rPr lang="zh-CN" altLang="en-US" sz="2000" dirty="0">
                <a:latin typeface="微软雅黑" panose="020B0503020204020204" charset="-122"/>
                <a:ea typeface="微软雅黑" panose="020B0503020204020204" charset="-122"/>
                <a:sym typeface="+mn-ea"/>
              </a:rPr>
              <a:t>程序图</a:t>
            </a:r>
            <a:r>
              <a:rPr lang="en-US" altLang="zh-CN" sz="2000">
                <a:latin typeface="微软雅黑" panose="020B0503020204020204" charset="-122"/>
                <a:ea typeface="微软雅黑" panose="020B0503020204020204" charset="-122"/>
                <a:sym typeface="+mn-ea"/>
              </a:rPr>
              <a:t>G</a:t>
            </a:r>
            <a:r>
              <a:rPr lang="zh-CN" altLang="en-US" sz="2000">
                <a:latin typeface="微软雅黑" panose="020B0503020204020204" charset="-122"/>
                <a:ea typeface="微软雅黑" panose="020B0503020204020204" charset="-122"/>
                <a:sym typeface="+mn-ea"/>
              </a:rPr>
              <a:t>中</a:t>
            </a:r>
            <a:r>
              <a:rPr lang="zh-CN" altLang="en-US" sz="2000" dirty="0">
                <a:latin typeface="微软雅黑" panose="020B0503020204020204" charset="-122"/>
                <a:ea typeface="微软雅黑" panose="020B0503020204020204" charset="-122"/>
                <a:sym typeface="+mn-ea"/>
              </a:rPr>
              <a:t>的弧数，</a:t>
            </a:r>
            <a:r>
              <a:rPr lang="en-US" altLang="zh-CN" sz="2000">
                <a:latin typeface="微软雅黑" panose="020B0503020204020204" charset="-122"/>
                <a:ea typeface="微软雅黑" panose="020B0503020204020204" charset="-122"/>
                <a:sym typeface="+mn-ea"/>
              </a:rPr>
              <a:t>n</a:t>
            </a:r>
            <a:r>
              <a:rPr lang="zh-CN" altLang="en-US" sz="2000">
                <a:latin typeface="微软雅黑" panose="020B0503020204020204" charset="-122"/>
                <a:ea typeface="微软雅黑" panose="020B0503020204020204" charset="-122"/>
                <a:sym typeface="+mn-ea"/>
              </a:rPr>
              <a:t>是</a:t>
            </a:r>
            <a:r>
              <a:rPr lang="zh-CN" altLang="en-US" sz="2000" dirty="0">
                <a:latin typeface="微软雅黑" panose="020B0503020204020204" charset="-122"/>
                <a:ea typeface="微软雅黑" panose="020B0503020204020204" charset="-122"/>
                <a:sym typeface="+mn-ea"/>
              </a:rPr>
              <a:t>程序图</a:t>
            </a:r>
            <a:r>
              <a:rPr lang="en-US" altLang="zh-CN" sz="2000">
                <a:latin typeface="微软雅黑" panose="020B0503020204020204" charset="-122"/>
                <a:ea typeface="微软雅黑" panose="020B0503020204020204" charset="-122"/>
                <a:sym typeface="+mn-ea"/>
              </a:rPr>
              <a:t>G</a:t>
            </a:r>
            <a:r>
              <a:rPr lang="zh-CN" altLang="en-US" sz="2000">
                <a:latin typeface="微软雅黑" panose="020B0503020204020204" charset="-122"/>
                <a:ea typeface="微软雅黑" panose="020B0503020204020204" charset="-122"/>
                <a:sym typeface="+mn-ea"/>
              </a:rPr>
              <a:t>中</a:t>
            </a:r>
            <a:r>
              <a:rPr lang="zh-CN" altLang="en-US" sz="2000" dirty="0">
                <a:latin typeface="微软雅黑" panose="020B0503020204020204" charset="-122"/>
                <a:ea typeface="微软雅黑" panose="020B0503020204020204" charset="-122"/>
                <a:sym typeface="+mn-ea"/>
              </a:rPr>
              <a:t>的结点数。</a:t>
            </a:r>
          </a:p>
          <a:p>
            <a:pPr>
              <a:lnSpc>
                <a:spcPct val="130000"/>
              </a:lnSpc>
            </a:pPr>
            <a:r>
              <a:rPr lang="zh-CN" altLang="en-US" sz="2000" dirty="0">
                <a:latin typeface="微软雅黑" panose="020B0503020204020204" charset="-122"/>
                <a:ea typeface="微软雅黑" panose="020B0503020204020204" charset="-122"/>
                <a:sym typeface="+mn-ea"/>
              </a:rPr>
              <a:t>              越大，表明该程序越复杂。</a:t>
            </a:r>
            <a:r>
              <a:rPr lang="en-US" altLang="zh-CN" sz="2000">
                <a:latin typeface="微软雅黑" panose="020B0503020204020204" charset="-122"/>
                <a:ea typeface="微软雅黑" panose="020B0503020204020204" charset="-122"/>
                <a:sym typeface="+mn-ea"/>
              </a:rPr>
              <a:t>McCabe</a:t>
            </a:r>
            <a:r>
              <a:rPr lang="zh-CN" altLang="en-US" sz="2000">
                <a:latin typeface="微软雅黑" panose="020B0503020204020204" charset="-122"/>
                <a:ea typeface="微软雅黑" panose="020B0503020204020204" charset="-122"/>
                <a:sym typeface="+mn-ea"/>
              </a:rPr>
              <a:t>研究</a:t>
            </a:r>
            <a:r>
              <a:rPr lang="zh-CN" altLang="en-US" sz="2000" dirty="0">
                <a:latin typeface="微软雅黑" panose="020B0503020204020204" charset="-122"/>
                <a:ea typeface="微软雅黑" panose="020B0503020204020204" charset="-122"/>
                <a:sym typeface="+mn-ea"/>
              </a:rPr>
              <a:t>了大量程序后发现，         越大，程序越容易出错，测试难，维护也难。实践证明，模块规模以                  为宜。</a:t>
            </a:r>
          </a:p>
        </p:txBody>
      </p:sp>
      <p:graphicFrame>
        <p:nvGraphicFramePr>
          <p:cNvPr id="6" name="对象 5"/>
          <p:cNvGraphicFramePr>
            <a:graphicFrameLocks noChangeAspect="1"/>
          </p:cNvGraphicFramePr>
          <p:nvPr/>
        </p:nvGraphicFramePr>
        <p:xfrm>
          <a:off x="5265455" y="2987040"/>
          <a:ext cx="1762725" cy="365443"/>
        </p:xfrm>
        <a:graphic>
          <a:graphicData uri="http://schemas.openxmlformats.org/presentationml/2006/ole">
            <mc:AlternateContent xmlns:mc="http://schemas.openxmlformats.org/markup-compatibility/2006">
              <mc:Choice xmlns:v="urn:schemas-microsoft-com:vml" Requires="v">
                <p:oleObj name="公式" r:id="rId3" imgW="24993600" imgH="5181600" progId="">
                  <p:embed/>
                </p:oleObj>
              </mc:Choice>
              <mc:Fallback>
                <p:oleObj name="公式" r:id="rId3" imgW="24993600" imgH="5181600" progId="">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65455" y="2987040"/>
                        <a:ext cx="1762725" cy="3654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5285" name="Object 5"/>
          <p:cNvGraphicFramePr>
            <a:graphicFrameLocks noChangeAspect="1"/>
          </p:cNvGraphicFramePr>
          <p:nvPr/>
        </p:nvGraphicFramePr>
        <p:xfrm>
          <a:off x="1932623" y="4267200"/>
          <a:ext cx="601662" cy="352425"/>
        </p:xfrm>
        <a:graphic>
          <a:graphicData uri="http://schemas.openxmlformats.org/presentationml/2006/ole">
            <mc:AlternateContent xmlns:mc="http://schemas.openxmlformats.org/markup-compatibility/2006">
              <mc:Choice xmlns:v="urn:schemas-microsoft-com:vml" Requires="v">
                <p:oleObj name="公式" r:id="rId5" imgW="8534400" imgH="5181600" progId="">
                  <p:embed/>
                </p:oleObj>
              </mc:Choice>
              <mc:Fallback>
                <p:oleObj name="公式" r:id="rId5" imgW="8534400" imgH="5181600" progId="">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32623" y="4267200"/>
                        <a:ext cx="601662" cy="352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5286" name="Object 6"/>
          <p:cNvGraphicFramePr>
            <a:graphicFrameLocks noChangeAspect="1"/>
          </p:cNvGraphicFramePr>
          <p:nvPr/>
        </p:nvGraphicFramePr>
        <p:xfrm>
          <a:off x="2742248" y="3431223"/>
          <a:ext cx="601662" cy="352425"/>
        </p:xfrm>
        <a:graphic>
          <a:graphicData uri="http://schemas.openxmlformats.org/presentationml/2006/ole">
            <mc:AlternateContent xmlns:mc="http://schemas.openxmlformats.org/markup-compatibility/2006">
              <mc:Choice xmlns:v="urn:schemas-microsoft-com:vml" Requires="v">
                <p:oleObj name="公式" r:id="rId5" imgW="8534400" imgH="5181600" progId="">
                  <p:embed/>
                </p:oleObj>
              </mc:Choice>
              <mc:Fallback>
                <p:oleObj name="公式" r:id="rId5" imgW="8534400" imgH="5181600" progId="">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42248" y="3431223"/>
                        <a:ext cx="601662" cy="352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5287" name="Object 7"/>
          <p:cNvGraphicFramePr>
            <a:graphicFrameLocks noChangeAspect="1"/>
          </p:cNvGraphicFramePr>
          <p:nvPr/>
        </p:nvGraphicFramePr>
        <p:xfrm>
          <a:off x="9371648" y="4284663"/>
          <a:ext cx="601662" cy="352425"/>
        </p:xfrm>
        <a:graphic>
          <a:graphicData uri="http://schemas.openxmlformats.org/presentationml/2006/ole">
            <mc:AlternateContent xmlns:mc="http://schemas.openxmlformats.org/markup-compatibility/2006">
              <mc:Choice xmlns:v="urn:schemas-microsoft-com:vml" Requires="v">
                <p:oleObj name="公式" r:id="rId5" imgW="8534400" imgH="5181600" progId="">
                  <p:embed/>
                </p:oleObj>
              </mc:Choice>
              <mc:Fallback>
                <p:oleObj name="公式" r:id="rId5" imgW="8534400" imgH="5181600" progId="">
                  <p:embed/>
                  <p:pic>
                    <p:nvPicPr>
                      <p:cNvPr id="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71648" y="4284663"/>
                        <a:ext cx="601662" cy="352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5288" name="Object 8"/>
          <p:cNvGraphicFramePr>
            <a:graphicFrameLocks noChangeAspect="1"/>
          </p:cNvGraphicFramePr>
          <p:nvPr/>
        </p:nvGraphicFramePr>
        <p:xfrm>
          <a:off x="8267065" y="4680903"/>
          <a:ext cx="1074738" cy="352425"/>
        </p:xfrm>
        <a:graphic>
          <a:graphicData uri="http://schemas.openxmlformats.org/presentationml/2006/ole">
            <mc:AlternateContent xmlns:mc="http://schemas.openxmlformats.org/markup-compatibility/2006">
              <mc:Choice xmlns:v="urn:schemas-microsoft-com:vml" Requires="v">
                <p:oleObj name="公式" r:id="rId7" imgW="15240000" imgH="5181600" progId="">
                  <p:embed/>
                </p:oleObj>
              </mc:Choice>
              <mc:Fallback>
                <p:oleObj name="公式" r:id="rId7" imgW="15240000" imgH="5181600" progId="">
                  <p:embed/>
                  <p:pic>
                    <p:nvPicPr>
                      <p:cNvPr id="0" name="Picture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67065" y="4680903"/>
                        <a:ext cx="1074738" cy="352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文本框 6"/>
          <p:cNvSpPr txBox="1"/>
          <p:nvPr/>
        </p:nvSpPr>
        <p:spPr>
          <a:xfrm>
            <a:off x="738491" y="2272030"/>
            <a:ext cx="461665" cy="3565400"/>
          </a:xfrm>
          <a:prstGeom prst="rect">
            <a:avLst/>
          </a:prstGeom>
          <a:noFill/>
        </p:spPr>
        <p:txBody>
          <a:bodyPr vert="eaVert" wrap="none" rtlCol="0">
            <a:spAutoFit/>
          </a:bodyPr>
          <a:lstStyle/>
          <a:p>
            <a:r>
              <a:rPr lang="en-US" altLang="zh-CN" spc="160" dirty="0">
                <a:solidFill>
                  <a:schemeClr val="bg1"/>
                </a:solidFill>
                <a:latin typeface="微软雅黑" panose="020B0503020204020204" charset="-122"/>
                <a:ea typeface="微软雅黑" panose="020B0503020204020204" charset="-122"/>
              </a:rPr>
              <a:t>4.5.5 </a:t>
            </a:r>
            <a:r>
              <a:rPr lang="zh-CN" altLang="en-US" spc="160" dirty="0">
                <a:solidFill>
                  <a:schemeClr val="bg1"/>
                </a:solidFill>
                <a:latin typeface="微软雅黑" panose="020B0503020204020204" charset="-122"/>
                <a:ea typeface="微软雅黑" panose="020B0503020204020204" charset="-122"/>
              </a:rPr>
              <a:t>程序环形复杂程度的度量</a:t>
            </a:r>
          </a:p>
        </p:txBody>
      </p:sp>
    </p:spTree>
  </p:cSld>
  <p:clrMapOvr>
    <a:masterClrMapping/>
  </p:clrMapOvr>
  <p:transition>
    <p:pull dir="rd"/>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11520000" cy="535531"/>
          </a:xfrm>
        </p:spPr>
        <p:txBody>
          <a:bodyPr/>
          <a:lstStyle/>
          <a:p>
            <a:r>
              <a:rPr lang="en-US" dirty="0"/>
              <a:t>4.5 </a:t>
            </a:r>
            <a:r>
              <a:rPr lang="zh-CN" altLang="en-US" dirty="0"/>
              <a:t>设计软件测试方案</a:t>
            </a:r>
          </a:p>
        </p:txBody>
      </p:sp>
      <p:sp>
        <p:nvSpPr>
          <p:cNvPr id="7" name="文本占位符 6">
            <a:extLst>
              <a:ext uri="{FF2B5EF4-FFF2-40B4-BE49-F238E27FC236}">
                <a16:creationId xmlns:a16="http://schemas.microsoft.com/office/drawing/2014/main" id="{51401981-883A-CB99-3658-29EE921ADB44}"/>
              </a:ext>
            </a:extLst>
          </p:cNvPr>
          <p:cNvSpPr>
            <a:spLocks noGrp="1"/>
          </p:cNvSpPr>
          <p:nvPr>
            <p:ph type="body" sz="quarter" idx="10"/>
          </p:nvPr>
        </p:nvSpPr>
        <p:spPr>
          <a:xfrm>
            <a:off x="696000" y="1322832"/>
            <a:ext cx="11160000" cy="400110"/>
          </a:xfrm>
        </p:spPr>
        <p:txBody>
          <a:bodyPr/>
          <a:lstStyle/>
          <a:p>
            <a:r>
              <a:rPr lang="zh-CN" altLang="en-US" dirty="0"/>
              <a:t>案例</a:t>
            </a:r>
            <a:r>
              <a:rPr lang="en-US" altLang="zh-CN" dirty="0"/>
              <a:t> 4-2</a:t>
            </a:r>
            <a:r>
              <a:rPr lang="zh-CN" altLang="en-US" dirty="0"/>
              <a:t>：</a:t>
            </a:r>
            <a:r>
              <a:rPr lang="zh-CN" altLang="en-US" dirty="0">
                <a:sym typeface="+mn-ea"/>
              </a:rPr>
              <a:t>计算程序环形复杂度。</a:t>
            </a:r>
          </a:p>
        </p:txBody>
      </p:sp>
      <p:sp>
        <p:nvSpPr>
          <p:cNvPr id="14" name="文本占位符 13">
            <a:extLst>
              <a:ext uri="{FF2B5EF4-FFF2-40B4-BE49-F238E27FC236}">
                <a16:creationId xmlns:a16="http://schemas.microsoft.com/office/drawing/2014/main" id="{33BF0D51-2AC9-61B2-1CB8-26B4F5FD502B}"/>
              </a:ext>
            </a:extLst>
          </p:cNvPr>
          <p:cNvSpPr>
            <a:spLocks noGrp="1"/>
          </p:cNvSpPr>
          <p:nvPr>
            <p:ph type="body" sz="quarter" idx="11"/>
          </p:nvPr>
        </p:nvSpPr>
        <p:spPr/>
        <p:txBody>
          <a:bodyPr/>
          <a:lstStyle/>
          <a:p>
            <a:endParaRPr lang="zh-CN" altLang="en-US"/>
          </a:p>
        </p:txBody>
      </p:sp>
      <p:sp>
        <p:nvSpPr>
          <p:cNvPr id="34" name="TextBox 33"/>
          <p:cNvSpPr txBox="1"/>
          <p:nvPr/>
        </p:nvSpPr>
        <p:spPr>
          <a:xfrm>
            <a:off x="1488000" y="2520000"/>
            <a:ext cx="9216000" cy="2590737"/>
          </a:xfrm>
          <a:prstGeom prst="rect">
            <a:avLst/>
          </a:prstGeom>
          <a:solidFill>
            <a:schemeClr val="bg1">
              <a:lumMod val="95000"/>
            </a:schemeClr>
          </a:solidFill>
        </p:spPr>
        <p:txBody>
          <a:bodyPr wrap="square" lIns="144000" tIns="144000" rIns="144000" bIns="144000">
            <a:spAutoFit/>
          </a:bodyPr>
          <a:lstStyle/>
          <a:p>
            <a:pPr algn="just" fontAlgn="auto">
              <a:lnSpc>
                <a:spcPct val="120000"/>
              </a:lnSpc>
            </a:pPr>
            <a:r>
              <a:rPr lang="zh-CN" altLang="en-US" dirty="0"/>
              <a:t>拟设计一个对计算机应用能力考试成绩进行统计的程序。数据输入要求：连续输入考试成绩，最后以输入0分或负分为结束。</a:t>
            </a:r>
            <a:endParaRPr lang="en-US" altLang="zh-CN" dirty="0"/>
          </a:p>
          <a:p>
            <a:pPr algn="just" fontAlgn="auto">
              <a:lnSpc>
                <a:spcPct val="120000"/>
              </a:lnSpc>
            </a:pPr>
            <a:r>
              <a:rPr lang="zh-CN" altLang="en-US" dirty="0"/>
              <a:t>规定：</a:t>
            </a:r>
            <a:endParaRPr lang="en-US" altLang="zh-CN" dirty="0"/>
          </a:p>
          <a:p>
            <a:pPr algn="just" fontAlgn="auto">
              <a:lnSpc>
                <a:spcPct val="120000"/>
              </a:lnSpc>
            </a:pPr>
            <a:r>
              <a:rPr lang="zh-CN" altLang="en-US" dirty="0"/>
              <a:t>成绩在60分以下的为不及格、60分以上的为及格、80分以上的属于优秀。</a:t>
            </a:r>
            <a:endParaRPr lang="en-US" altLang="zh-CN" dirty="0"/>
          </a:p>
          <a:p>
            <a:pPr algn="just" fontAlgn="auto">
              <a:lnSpc>
                <a:spcPct val="120000"/>
              </a:lnSpc>
            </a:pPr>
            <a:r>
              <a:rPr lang="zh-CN" altLang="en-US" dirty="0"/>
              <a:t>要求：</a:t>
            </a:r>
            <a:endParaRPr lang="en-US" altLang="zh-CN" dirty="0"/>
          </a:p>
          <a:p>
            <a:pPr algn="just" fontAlgn="auto">
              <a:lnSpc>
                <a:spcPct val="120000"/>
              </a:lnSpc>
            </a:pPr>
            <a:r>
              <a:rPr lang="zh-CN" altLang="en-US" dirty="0"/>
              <a:t>该程序能统计并分别输出成绩“不及格”、“及格”、“优秀”的人数及总人数。先画出本例的程序流程图（见图4-3），再画出对应的程序图，如图4-4所示。</a:t>
            </a:r>
            <a:endParaRPr lang="en-US" altLang="en-US" dirty="0"/>
          </a:p>
        </p:txBody>
      </p:sp>
    </p:spTree>
  </p:cSld>
  <p:clrMapOvr>
    <a:masterClrMapping/>
  </p:clrMapOvr>
  <p:transition>
    <p:pull dir="rd"/>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11520000" cy="535531"/>
          </a:xfrm>
        </p:spPr>
        <p:txBody>
          <a:bodyPr/>
          <a:lstStyle/>
          <a:p>
            <a:r>
              <a:rPr lang="en-US" dirty="0"/>
              <a:t>4.5 </a:t>
            </a:r>
            <a:r>
              <a:rPr lang="zh-CN" altLang="en-US" dirty="0"/>
              <a:t>设计软件测试方案</a:t>
            </a:r>
          </a:p>
        </p:txBody>
      </p:sp>
      <p:sp>
        <p:nvSpPr>
          <p:cNvPr id="6" name="文本占位符 5">
            <a:extLst>
              <a:ext uri="{FF2B5EF4-FFF2-40B4-BE49-F238E27FC236}">
                <a16:creationId xmlns:a16="http://schemas.microsoft.com/office/drawing/2014/main" id="{2B8F44B7-C04A-4077-C5EE-F39CF8F694E0}"/>
              </a:ext>
            </a:extLst>
          </p:cNvPr>
          <p:cNvSpPr>
            <a:spLocks noGrp="1"/>
          </p:cNvSpPr>
          <p:nvPr>
            <p:ph type="body" sz="quarter" idx="10"/>
          </p:nvPr>
        </p:nvSpPr>
        <p:spPr/>
        <p:txBody>
          <a:bodyPr/>
          <a:lstStyle/>
          <a:p>
            <a:r>
              <a:rPr lang="zh-CN" altLang="en-US" dirty="0"/>
              <a:t>案例</a:t>
            </a:r>
            <a:r>
              <a:rPr lang="en-US" altLang="zh-CN" dirty="0"/>
              <a:t> 4-2</a:t>
            </a:r>
            <a:r>
              <a:rPr lang="zh-CN" altLang="en-US" dirty="0"/>
              <a:t>：</a:t>
            </a:r>
            <a:r>
              <a:rPr lang="zh-CN" altLang="en-US" dirty="0">
                <a:sym typeface="+mn-ea"/>
              </a:rPr>
              <a:t>计算程序环形复杂度。</a:t>
            </a:r>
          </a:p>
        </p:txBody>
      </p:sp>
      <p:sp>
        <p:nvSpPr>
          <p:cNvPr id="7" name="文本占位符 6">
            <a:extLst>
              <a:ext uri="{FF2B5EF4-FFF2-40B4-BE49-F238E27FC236}">
                <a16:creationId xmlns:a16="http://schemas.microsoft.com/office/drawing/2014/main" id="{08AE44D4-8659-A3F1-4BEE-BC8A284E9B15}"/>
              </a:ext>
            </a:extLst>
          </p:cNvPr>
          <p:cNvSpPr>
            <a:spLocks noGrp="1"/>
          </p:cNvSpPr>
          <p:nvPr>
            <p:ph type="body" sz="quarter" idx="11"/>
          </p:nvPr>
        </p:nvSpPr>
        <p:spPr/>
        <p:txBody>
          <a:bodyPr/>
          <a:lstStyle/>
          <a:p>
            <a:endParaRPr lang="zh-CN" altLang="en-US"/>
          </a:p>
        </p:txBody>
      </p:sp>
      <p:pic>
        <p:nvPicPr>
          <p:cNvPr id="123907" name="图片 135"/>
          <p:cNvPicPr>
            <a:picLocks noChangeAspect="1" noChangeArrowheads="1"/>
          </p:cNvPicPr>
          <p:nvPr/>
        </p:nvPicPr>
        <p:blipFill>
          <a:blip r:embed="rId3" cstate="print"/>
          <a:srcRect/>
          <a:stretch>
            <a:fillRect/>
          </a:stretch>
        </p:blipFill>
        <p:spPr bwMode="auto">
          <a:xfrm>
            <a:off x="1432560" y="2946175"/>
            <a:ext cx="3992880" cy="2981627"/>
          </a:xfrm>
          <a:prstGeom prst="rect">
            <a:avLst/>
          </a:prstGeom>
          <a:noFill/>
          <a:ln w="9525">
            <a:noFill/>
            <a:miter lim="800000"/>
            <a:headEnd/>
            <a:tailEnd/>
          </a:ln>
        </p:spPr>
      </p:pic>
      <p:pic>
        <p:nvPicPr>
          <p:cNvPr id="123908" name="图片 136"/>
          <p:cNvPicPr>
            <a:picLocks noChangeAspect="1" noChangeArrowheads="1"/>
          </p:cNvPicPr>
          <p:nvPr/>
        </p:nvPicPr>
        <p:blipFill>
          <a:blip r:embed="rId4" cstate="print"/>
          <a:srcRect/>
          <a:stretch>
            <a:fillRect/>
          </a:stretch>
        </p:blipFill>
        <p:spPr bwMode="auto">
          <a:xfrm>
            <a:off x="6370320" y="2011680"/>
            <a:ext cx="4067175" cy="3838575"/>
          </a:xfrm>
          <a:prstGeom prst="rect">
            <a:avLst/>
          </a:prstGeom>
          <a:noFill/>
          <a:ln w="9525">
            <a:noFill/>
            <a:miter lim="800000"/>
            <a:headEnd/>
            <a:tailEnd/>
          </a:ln>
        </p:spPr>
      </p:pic>
      <p:sp>
        <p:nvSpPr>
          <p:cNvPr id="17" name="矩形 16"/>
          <p:cNvSpPr/>
          <p:nvPr/>
        </p:nvSpPr>
        <p:spPr>
          <a:xfrm>
            <a:off x="1893872" y="5941814"/>
            <a:ext cx="2826415" cy="369332"/>
          </a:xfrm>
          <a:prstGeom prst="rect">
            <a:avLst/>
          </a:prstGeom>
        </p:spPr>
        <p:txBody>
          <a:bodyPr wrap="none">
            <a:spAutoFit/>
          </a:bodyPr>
          <a:lstStyle/>
          <a:p>
            <a:r>
              <a:rPr lang="zh-CN" altLang="en-US" dirty="0">
                <a:latin typeface="Times New Roman" panose="02020603050405020304" pitchFamily="18" charset="0"/>
              </a:rPr>
              <a:t>图</a:t>
            </a:r>
            <a:r>
              <a:rPr lang="en-US" dirty="0">
                <a:latin typeface="Times New Roman" panose="02020603050405020304" pitchFamily="18" charset="0"/>
              </a:rPr>
              <a:t>4-3  </a:t>
            </a:r>
            <a:r>
              <a:rPr lang="zh-CN" altLang="en-US" dirty="0">
                <a:latin typeface="Times New Roman" panose="02020603050405020304" pitchFamily="18" charset="0"/>
              </a:rPr>
              <a:t>例</a:t>
            </a:r>
            <a:r>
              <a:rPr lang="en-US" dirty="0">
                <a:latin typeface="Times New Roman" panose="02020603050405020304" pitchFamily="18" charset="0"/>
              </a:rPr>
              <a:t>4-2</a:t>
            </a:r>
            <a:r>
              <a:rPr lang="zh-CN" altLang="en-US" dirty="0">
                <a:latin typeface="Times New Roman" panose="02020603050405020304" pitchFamily="18" charset="0"/>
              </a:rPr>
              <a:t>的程序流程图</a:t>
            </a:r>
          </a:p>
        </p:txBody>
      </p:sp>
      <p:sp>
        <p:nvSpPr>
          <p:cNvPr id="18" name="矩形 17"/>
          <p:cNvSpPr/>
          <p:nvPr/>
        </p:nvSpPr>
        <p:spPr>
          <a:xfrm>
            <a:off x="7105952" y="5896094"/>
            <a:ext cx="2826415" cy="369332"/>
          </a:xfrm>
          <a:prstGeom prst="rect">
            <a:avLst/>
          </a:prstGeom>
        </p:spPr>
        <p:txBody>
          <a:bodyPr wrap="none">
            <a:spAutoFit/>
          </a:bodyPr>
          <a:lstStyle/>
          <a:p>
            <a:r>
              <a:rPr lang="zh-CN" altLang="en-US" dirty="0">
                <a:latin typeface="Times New Roman" panose="02020603050405020304" pitchFamily="18" charset="0"/>
              </a:rPr>
              <a:t>图</a:t>
            </a:r>
            <a:r>
              <a:rPr lang="en-US" dirty="0">
                <a:latin typeface="Times New Roman" panose="02020603050405020304" pitchFamily="18" charset="0"/>
              </a:rPr>
              <a:t>4-4  </a:t>
            </a:r>
            <a:r>
              <a:rPr lang="zh-CN" altLang="en-US" dirty="0">
                <a:latin typeface="Times New Roman" panose="02020603050405020304" pitchFamily="18" charset="0"/>
              </a:rPr>
              <a:t>例</a:t>
            </a:r>
            <a:r>
              <a:rPr lang="en-US" dirty="0">
                <a:latin typeface="Times New Roman" panose="02020603050405020304" pitchFamily="18" charset="0"/>
              </a:rPr>
              <a:t>4-2</a:t>
            </a:r>
            <a:r>
              <a:rPr lang="zh-CN" altLang="en-US" dirty="0">
                <a:latin typeface="Times New Roman" panose="02020603050405020304" pitchFamily="18" charset="0"/>
              </a:rPr>
              <a:t>对应的程序图</a:t>
            </a:r>
          </a:p>
        </p:txBody>
      </p:sp>
    </p:spTree>
  </p:cSld>
  <p:clrMapOvr>
    <a:masterClrMapping/>
  </p:clrMapOvr>
  <p:transition>
    <p:pull dir="rd"/>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11520000" cy="535531"/>
          </a:xfrm>
        </p:spPr>
        <p:txBody>
          <a:bodyPr/>
          <a:lstStyle/>
          <a:p>
            <a:r>
              <a:rPr lang="en-US" dirty="0"/>
              <a:t>4.5 </a:t>
            </a:r>
            <a:r>
              <a:rPr lang="zh-CN" altLang="en-US" dirty="0"/>
              <a:t>设计软件测试方案</a:t>
            </a:r>
          </a:p>
        </p:txBody>
      </p:sp>
      <p:sp>
        <p:nvSpPr>
          <p:cNvPr id="7" name="文本占位符 6">
            <a:extLst>
              <a:ext uri="{FF2B5EF4-FFF2-40B4-BE49-F238E27FC236}">
                <a16:creationId xmlns:a16="http://schemas.microsoft.com/office/drawing/2014/main" id="{91C16698-8550-62AA-7768-163BD73B891C}"/>
              </a:ext>
            </a:extLst>
          </p:cNvPr>
          <p:cNvSpPr>
            <a:spLocks noGrp="1"/>
          </p:cNvSpPr>
          <p:nvPr>
            <p:ph type="body" sz="quarter" idx="10"/>
          </p:nvPr>
        </p:nvSpPr>
        <p:spPr>
          <a:xfrm>
            <a:off x="696000" y="1322832"/>
            <a:ext cx="11160000" cy="400110"/>
          </a:xfrm>
        </p:spPr>
        <p:txBody>
          <a:bodyPr/>
          <a:lstStyle/>
          <a:p>
            <a:r>
              <a:rPr lang="zh-CN" altLang="en-US" dirty="0"/>
              <a:t>案例</a:t>
            </a:r>
            <a:r>
              <a:rPr lang="en-US" altLang="zh-CN" dirty="0"/>
              <a:t> 4-2</a:t>
            </a:r>
            <a:r>
              <a:rPr lang="zh-CN" altLang="en-US" dirty="0"/>
              <a:t>：</a:t>
            </a:r>
            <a:r>
              <a:rPr lang="zh-CN" altLang="en-US" dirty="0">
                <a:sym typeface="+mn-ea"/>
              </a:rPr>
              <a:t>计算程序环形复杂度。</a:t>
            </a:r>
          </a:p>
        </p:txBody>
      </p:sp>
      <p:sp>
        <p:nvSpPr>
          <p:cNvPr id="11" name="文本占位符 10">
            <a:extLst>
              <a:ext uri="{FF2B5EF4-FFF2-40B4-BE49-F238E27FC236}">
                <a16:creationId xmlns:a16="http://schemas.microsoft.com/office/drawing/2014/main" id="{82356573-1650-CD14-1467-6681D151BA71}"/>
              </a:ext>
            </a:extLst>
          </p:cNvPr>
          <p:cNvSpPr>
            <a:spLocks noGrp="1"/>
          </p:cNvSpPr>
          <p:nvPr>
            <p:ph type="body" sz="quarter" idx="11"/>
          </p:nvPr>
        </p:nvSpPr>
        <p:spPr/>
        <p:txBody>
          <a:bodyPr/>
          <a:lstStyle/>
          <a:p>
            <a:endParaRPr lang="zh-CN" altLang="en-US"/>
          </a:p>
        </p:txBody>
      </p:sp>
      <p:grpSp>
        <p:nvGrpSpPr>
          <p:cNvPr id="5" name="组合 4"/>
          <p:cNvGrpSpPr/>
          <p:nvPr/>
        </p:nvGrpSpPr>
        <p:grpSpPr>
          <a:xfrm>
            <a:off x="1022985" y="2918460"/>
            <a:ext cx="10005695" cy="3380740"/>
            <a:chOff x="1725" y="4595"/>
            <a:chExt cx="15757" cy="5324"/>
          </a:xfrm>
        </p:grpSpPr>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946" y="4595"/>
              <a:ext cx="15536" cy="5324"/>
            </a:xfrm>
            <a:prstGeom prst="rect">
              <a:avLst/>
            </a:prstGeom>
            <a:solidFill>
              <a:schemeClr val="bg1">
                <a:lumMod val="95000"/>
              </a:schemeClr>
            </a:solidFill>
          </p:spPr>
          <p:txBody>
            <a:bodyPr wrap="square">
              <a:spAutoFit/>
            </a:bodyPr>
            <a:lstStyle/>
            <a:p>
              <a:pPr fontAlgn="auto">
                <a:lnSpc>
                  <a:spcPct val="120000"/>
                </a:lnSpc>
              </a:pPr>
              <a:endParaRPr lang="en-US" altLang="en-US" dirty="0">
                <a:latin typeface="Times New Roman" panose="02020603050405020304" charset="0"/>
                <a:ea typeface="微软雅黑 Light" panose="020B0502040204020203" pitchFamily="34" charset="-122"/>
              </a:endParaRPr>
            </a:p>
            <a:p>
              <a:pPr fontAlgn="auto">
                <a:lnSpc>
                  <a:spcPct val="120000"/>
                </a:lnSpc>
              </a:pPr>
              <a:endParaRPr lang="en-US" altLang="en-US" dirty="0">
                <a:latin typeface="Times New Roman" panose="02020603050405020304" charset="0"/>
                <a:ea typeface="微软雅黑 Light" panose="020B0502040204020203" pitchFamily="34" charset="-122"/>
              </a:endParaRPr>
            </a:p>
            <a:p>
              <a:pPr fontAlgn="auto">
                <a:lnSpc>
                  <a:spcPct val="120000"/>
                </a:lnSpc>
              </a:pPr>
              <a:endParaRPr lang="en-US" altLang="en-US" dirty="0">
                <a:latin typeface="Times New Roman" panose="02020603050405020304" charset="0"/>
                <a:ea typeface="微软雅黑 Light" panose="020B0502040204020203" pitchFamily="34" charset="-122"/>
              </a:endParaRPr>
            </a:p>
            <a:p>
              <a:pPr fontAlgn="auto">
                <a:lnSpc>
                  <a:spcPct val="120000"/>
                </a:lnSpc>
              </a:pPr>
              <a:endParaRPr lang="en-US" altLang="en-US" dirty="0">
                <a:latin typeface="Times New Roman" panose="02020603050405020304" charset="0"/>
                <a:ea typeface="微软雅黑 Light" panose="020B0502040204020203" pitchFamily="34" charset="-122"/>
              </a:endParaRPr>
            </a:p>
            <a:p>
              <a:pPr fontAlgn="auto">
                <a:lnSpc>
                  <a:spcPct val="120000"/>
                </a:lnSpc>
              </a:pPr>
              <a:endParaRPr lang="en-US" altLang="en-US" dirty="0">
                <a:latin typeface="Times New Roman" panose="02020603050405020304" charset="0"/>
                <a:ea typeface="微软雅黑 Light" panose="020B0502040204020203" pitchFamily="34" charset="-122"/>
              </a:endParaRPr>
            </a:p>
            <a:p>
              <a:pPr fontAlgn="auto">
                <a:lnSpc>
                  <a:spcPct val="120000"/>
                </a:lnSpc>
              </a:pPr>
              <a:endParaRPr lang="en-US" altLang="en-US" dirty="0">
                <a:latin typeface="Times New Roman" panose="02020603050405020304" charset="0"/>
                <a:ea typeface="微软雅黑 Light" panose="020B0502040204020203" pitchFamily="34" charset="-122"/>
              </a:endParaRPr>
            </a:p>
            <a:p>
              <a:pPr fontAlgn="auto">
                <a:lnSpc>
                  <a:spcPct val="120000"/>
                </a:lnSpc>
              </a:pPr>
              <a:endParaRPr lang="en-US" altLang="en-US" dirty="0">
                <a:latin typeface="Times New Roman" panose="02020603050405020304" charset="0"/>
                <a:ea typeface="微软雅黑 Light" panose="020B0502040204020203" pitchFamily="34" charset="-122"/>
              </a:endParaRPr>
            </a:p>
            <a:p>
              <a:pPr fontAlgn="auto">
                <a:lnSpc>
                  <a:spcPct val="120000"/>
                </a:lnSpc>
              </a:pPr>
              <a:endParaRPr lang="en-US" altLang="en-US" dirty="0">
                <a:latin typeface="Times New Roman" panose="02020603050405020304" charset="0"/>
                <a:ea typeface="微软雅黑 Light" panose="020B0502040204020203" pitchFamily="34" charset="-122"/>
              </a:endParaRPr>
            </a:p>
            <a:p>
              <a:pPr fontAlgn="auto">
                <a:lnSpc>
                  <a:spcPct val="120000"/>
                </a:lnSpc>
              </a:pPr>
              <a:endParaRPr lang="en-US" altLang="en-US" dirty="0">
                <a:latin typeface="Times New Roman" panose="02020603050405020304" charset="0"/>
                <a:ea typeface="微软雅黑 Light" panose="020B0502040204020203" pitchFamily="34" charset="-122"/>
              </a:endParaRPr>
            </a:p>
            <a:p>
              <a:pPr fontAlgn="auto">
                <a:lnSpc>
                  <a:spcPct val="120000"/>
                </a:lnSpc>
              </a:pPr>
              <a:endParaRPr lang="en-US" altLang="en-US" dirty="0">
                <a:latin typeface="Times New Roman" panose="02020603050405020304" charset="0"/>
                <a:ea typeface="微软雅黑 Light" panose="020B0502040204020203" pitchFamily="34" charset="-122"/>
              </a:endParaRPr>
            </a:p>
          </p:txBody>
        </p:sp>
      </p:grpSp>
      <p:sp>
        <p:nvSpPr>
          <p:cNvPr id="6" name="文本框 5"/>
          <p:cNvSpPr txBox="1"/>
          <p:nvPr/>
        </p:nvSpPr>
        <p:spPr>
          <a:xfrm>
            <a:off x="1189355" y="2918460"/>
            <a:ext cx="9935845" cy="3333220"/>
          </a:xfrm>
          <a:prstGeom prst="rect">
            <a:avLst/>
          </a:prstGeom>
          <a:noFill/>
        </p:spPr>
        <p:txBody>
          <a:bodyPr wrap="square" rtlCol="0" anchor="t">
            <a:spAutoFit/>
          </a:bodyPr>
          <a:lstStyle/>
          <a:p>
            <a:pPr fontAlgn="auto">
              <a:lnSpc>
                <a:spcPct val="130000"/>
              </a:lnSpc>
            </a:pPr>
            <a:r>
              <a:rPr lang="en-US" dirty="0">
                <a:latin typeface="Times New Roman" panose="02020603050405020304" pitchFamily="18" charset="0"/>
              </a:rPr>
              <a:t>       </a:t>
            </a:r>
            <a:r>
              <a:rPr dirty="0">
                <a:latin typeface="Times New Roman" panose="02020603050405020304" pitchFamily="18" charset="0"/>
              </a:rPr>
              <a:t>计算此程序的环形复杂度。</a:t>
            </a:r>
          </a:p>
          <a:p>
            <a:pPr fontAlgn="auto">
              <a:lnSpc>
                <a:spcPct val="130000"/>
              </a:lnSpc>
            </a:pPr>
            <a:r>
              <a:rPr lang="en-US" dirty="0">
                <a:latin typeface="Times New Roman" panose="02020603050405020304" pitchFamily="18" charset="0"/>
              </a:rPr>
              <a:t>       </a:t>
            </a:r>
            <a:r>
              <a:rPr dirty="0">
                <a:latin typeface="Times New Roman" panose="02020603050405020304" pitchFamily="18" charset="0"/>
              </a:rPr>
              <a:t>方法1：图4-4中，实线弧数为14，结点数为12。因此，环形复杂度为</a:t>
            </a:r>
          </a:p>
          <a:p>
            <a:pPr fontAlgn="auto">
              <a:lnSpc>
                <a:spcPct val="130000"/>
              </a:lnSpc>
            </a:pPr>
            <a:r>
              <a:rPr dirty="0">
                <a:latin typeface="Times New Roman" panose="02020603050405020304" pitchFamily="18" charset="0"/>
              </a:rPr>
              <a:t> </a:t>
            </a:r>
          </a:p>
          <a:p>
            <a:pPr fontAlgn="auto">
              <a:lnSpc>
                <a:spcPct val="130000"/>
              </a:lnSpc>
            </a:pPr>
            <a:r>
              <a:rPr lang="en-US" dirty="0">
                <a:latin typeface="Times New Roman" panose="02020603050405020304" pitchFamily="18" charset="0"/>
              </a:rPr>
              <a:t>       </a:t>
            </a:r>
            <a:r>
              <a:rPr dirty="0">
                <a:latin typeface="Times New Roman" panose="02020603050405020304" pitchFamily="18" charset="0"/>
              </a:rPr>
              <a:t>方法2：图4-4中，判定结点的个数为3，环形复杂度为</a:t>
            </a:r>
          </a:p>
          <a:p>
            <a:pPr fontAlgn="auto">
              <a:lnSpc>
                <a:spcPct val="130000"/>
              </a:lnSpc>
            </a:pPr>
            <a:r>
              <a:rPr dirty="0">
                <a:latin typeface="Times New Roman" panose="02020603050405020304" pitchFamily="18" charset="0"/>
              </a:rPr>
              <a:t> </a:t>
            </a:r>
          </a:p>
          <a:p>
            <a:pPr fontAlgn="auto">
              <a:lnSpc>
                <a:spcPct val="130000"/>
              </a:lnSpc>
            </a:pPr>
            <a:r>
              <a:rPr lang="en-US" dirty="0">
                <a:latin typeface="Times New Roman" panose="02020603050405020304" pitchFamily="18" charset="0"/>
              </a:rPr>
              <a:t>       </a:t>
            </a:r>
            <a:r>
              <a:rPr dirty="0">
                <a:latin typeface="Times New Roman" panose="02020603050405020304" pitchFamily="18" charset="0"/>
              </a:rPr>
              <a:t>方法3：先画出该题的程序流程图，如图4-3所示；进而得出程序图，如图4-4所示。图4-4中增加了一条从出口点到入口点的虚线有向弧。可见，图中有4个线性无关的有向环，即R1，R2，R3，R4，因而环形复杂度为4。</a:t>
            </a:r>
          </a:p>
          <a:p>
            <a:pPr fontAlgn="auto">
              <a:lnSpc>
                <a:spcPct val="130000"/>
              </a:lnSpc>
            </a:pPr>
            <a:r>
              <a:rPr lang="en-US" dirty="0">
                <a:latin typeface="Times New Roman" panose="02020603050405020304" pitchFamily="18" charset="0"/>
              </a:rPr>
              <a:t>       </a:t>
            </a:r>
            <a:r>
              <a:rPr dirty="0">
                <a:latin typeface="Times New Roman" panose="02020603050405020304" pitchFamily="18" charset="0"/>
              </a:rPr>
              <a:t>由此可见，利用3种环形复杂度计算公式得到的计算结果相同。</a:t>
            </a:r>
          </a:p>
        </p:txBody>
      </p:sp>
      <p:graphicFrame>
        <p:nvGraphicFramePr>
          <p:cNvPr id="160769" name="Object 1"/>
          <p:cNvGraphicFramePr>
            <a:graphicFrameLocks noChangeAspect="1"/>
          </p:cNvGraphicFramePr>
          <p:nvPr/>
        </p:nvGraphicFramePr>
        <p:xfrm>
          <a:off x="4658043" y="3702685"/>
          <a:ext cx="2276475" cy="365125"/>
        </p:xfrm>
        <a:graphic>
          <a:graphicData uri="http://schemas.openxmlformats.org/presentationml/2006/ole">
            <mc:AlternateContent xmlns:mc="http://schemas.openxmlformats.org/markup-compatibility/2006">
              <mc:Choice xmlns:v="urn:schemas-microsoft-com:vml" Requires="v">
                <p:oleObj name="公式" r:id="rId3" imgW="32308800" imgH="5181600" progId="">
                  <p:embed/>
                </p:oleObj>
              </mc:Choice>
              <mc:Fallback>
                <p:oleObj name="公式" r:id="rId3" imgW="32308800" imgH="518160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8043" y="3702685"/>
                        <a:ext cx="2276475" cy="365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0770" name="Object 2"/>
          <p:cNvGraphicFramePr>
            <a:graphicFrameLocks noChangeAspect="1"/>
          </p:cNvGraphicFramePr>
          <p:nvPr/>
        </p:nvGraphicFramePr>
        <p:xfrm>
          <a:off x="5037138" y="4405313"/>
          <a:ext cx="1674812" cy="365125"/>
        </p:xfrm>
        <a:graphic>
          <a:graphicData uri="http://schemas.openxmlformats.org/presentationml/2006/ole">
            <mc:AlternateContent xmlns:mc="http://schemas.openxmlformats.org/markup-compatibility/2006">
              <mc:Choice xmlns:v="urn:schemas-microsoft-com:vml" Requires="v">
                <p:oleObj name="公式" r:id="rId5" imgW="23774400" imgH="5181600" progId="">
                  <p:embed/>
                </p:oleObj>
              </mc:Choice>
              <mc:Fallback>
                <p:oleObj name="公式" r:id="rId5" imgW="23774400" imgH="5181600" progId="">
                  <p:embed/>
                  <p:pic>
                    <p:nvPicPr>
                      <p:cNvPr id="0" name="Picture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37138" y="4405313"/>
                        <a:ext cx="1674812" cy="365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pull dir="rd"/>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图片 1" descr="白板11"/>
          <p:cNvPicPr>
            <a:picLocks noGrp="1" noChangeAspect="1"/>
          </p:cNvPicPr>
          <p:nvPr/>
        </p:nvPicPr>
        <p:blipFill>
          <a:blip r:embed="rId3" cstate="print"/>
          <a:srcRect r="5298"/>
          <a:stretch>
            <a:fillRect/>
          </a:stretch>
        </p:blipFill>
        <p:spPr>
          <a:xfrm>
            <a:off x="1211580" y="794385"/>
            <a:ext cx="9866630" cy="5443220"/>
          </a:xfrm>
          <a:prstGeom prst="rect">
            <a:avLst/>
          </a:prstGeom>
          <a:noFill/>
          <a:ln w="9525">
            <a:noFill/>
          </a:ln>
        </p:spPr>
      </p:pic>
      <p:sp>
        <p:nvSpPr>
          <p:cNvPr id="3" name="标题 2"/>
          <p:cNvSpPr>
            <a:spLocks noGrp="1"/>
          </p:cNvSpPr>
          <p:nvPr>
            <p:ph type="title"/>
          </p:nvPr>
        </p:nvSpPr>
        <p:spPr>
          <a:xfrm>
            <a:off x="336000" y="360000"/>
            <a:ext cx="11520000" cy="535531"/>
          </a:xfrm>
        </p:spPr>
        <p:txBody>
          <a:bodyPr/>
          <a:lstStyle/>
          <a:p>
            <a:r>
              <a:rPr lang="en-US" dirty="0"/>
              <a:t>4.5 </a:t>
            </a:r>
            <a:r>
              <a:rPr lang="zh-CN" altLang="en-US" dirty="0"/>
              <a:t>设计软件测试方案</a:t>
            </a:r>
            <a:endParaRPr lang="zh-CN" altLang="en-US" dirty="0">
              <a:sym typeface="+mn-ea"/>
            </a:endParaRPr>
          </a:p>
        </p:txBody>
      </p:sp>
      <p:sp>
        <p:nvSpPr>
          <p:cNvPr id="4" name="文本占位符 3">
            <a:extLst>
              <a:ext uri="{FF2B5EF4-FFF2-40B4-BE49-F238E27FC236}">
                <a16:creationId xmlns:a16="http://schemas.microsoft.com/office/drawing/2014/main" id="{B7A6F877-E8A3-57B9-31A3-CEA42F4A43A0}"/>
              </a:ext>
            </a:extLst>
          </p:cNvPr>
          <p:cNvSpPr>
            <a:spLocks noGrp="1"/>
          </p:cNvSpPr>
          <p:nvPr>
            <p:ph type="body" sz="quarter" idx="10"/>
          </p:nvPr>
        </p:nvSpPr>
        <p:spPr>
          <a:xfrm>
            <a:off x="696000" y="1322832"/>
            <a:ext cx="11160000" cy="400110"/>
          </a:xfrm>
        </p:spPr>
        <p:txBody>
          <a:bodyPr/>
          <a:lstStyle/>
          <a:p>
            <a:r>
              <a:rPr lang="en-US" altLang="zh-CN" dirty="0"/>
              <a:t>4.5.6 </a:t>
            </a:r>
            <a:r>
              <a:rPr lang="zh-CN" altLang="en-US" dirty="0"/>
              <a:t>因果图法</a:t>
            </a:r>
          </a:p>
        </p:txBody>
      </p:sp>
      <p:sp>
        <p:nvSpPr>
          <p:cNvPr id="8" name="文本占位符 7">
            <a:extLst>
              <a:ext uri="{FF2B5EF4-FFF2-40B4-BE49-F238E27FC236}">
                <a16:creationId xmlns:a16="http://schemas.microsoft.com/office/drawing/2014/main" id="{55D48A16-8848-E8C0-79FA-4290E798CA81}"/>
              </a:ext>
            </a:extLst>
          </p:cNvPr>
          <p:cNvSpPr>
            <a:spLocks noGrp="1"/>
          </p:cNvSpPr>
          <p:nvPr>
            <p:ph type="body" sz="quarter" idx="11"/>
          </p:nvPr>
        </p:nvSpPr>
        <p:spPr/>
        <p:txBody>
          <a:bodyPr/>
          <a:lstStyle/>
          <a:p>
            <a:endParaRPr lang="zh-CN" altLang="en-US"/>
          </a:p>
        </p:txBody>
      </p:sp>
      <p:sp>
        <p:nvSpPr>
          <p:cNvPr id="9" name="文本框 8">
            <a:extLst>
              <a:ext uri="{FF2B5EF4-FFF2-40B4-BE49-F238E27FC236}">
                <a16:creationId xmlns:a16="http://schemas.microsoft.com/office/drawing/2014/main" id="{E9072BCC-5924-B95E-D321-3C2C264E766F}"/>
              </a:ext>
            </a:extLst>
          </p:cNvPr>
          <p:cNvSpPr txBox="1"/>
          <p:nvPr/>
        </p:nvSpPr>
        <p:spPr>
          <a:xfrm>
            <a:off x="2329321" y="2681305"/>
            <a:ext cx="5983605" cy="2219134"/>
          </a:xfrm>
          <a:prstGeom prst="rect">
            <a:avLst/>
          </a:prstGeom>
          <a:noFill/>
        </p:spPr>
        <p:txBody>
          <a:bodyPr wrap="square" rtlCol="0" anchor="t">
            <a:spAutoFit/>
          </a:bodyPr>
          <a:lstStyle/>
          <a:p>
            <a:pPr algn="just">
              <a:lnSpc>
                <a:spcPct val="130000"/>
              </a:lnSpc>
            </a:pPr>
            <a:r>
              <a:rPr lang="zh-CN" altLang="en-US" dirty="0"/>
              <a:t> 等价类划分法和边界值分析法的测试用例还不能检查组合输入条件可能引起的软件错误。而因果图法可弥补这个不足。</a:t>
            </a:r>
          </a:p>
          <a:p>
            <a:pPr algn="just">
              <a:lnSpc>
                <a:spcPct val="130000"/>
              </a:lnSpc>
            </a:pPr>
            <a:r>
              <a:rPr lang="zh-CN" altLang="en-US" dirty="0"/>
              <a:t>       在因果图中，原因和结果分别写在一个圆圈中。通常，在左边的圆圈中写原因，在右边的圆圈中写结果，中间以直线连接，连接线上再加符号表示因与果的不同关系。</a:t>
            </a:r>
          </a:p>
        </p:txBody>
      </p:sp>
    </p:spTree>
  </p:cSld>
  <p:clrMapOvr>
    <a:masterClrMapping/>
  </p:clrMapOvr>
  <p:transition>
    <p:pull dir="rd"/>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11520000" cy="535531"/>
          </a:xfrm>
        </p:spPr>
        <p:txBody>
          <a:bodyPr/>
          <a:lstStyle/>
          <a:p>
            <a:r>
              <a:rPr lang="en-US" dirty="0"/>
              <a:t>4.5 </a:t>
            </a:r>
            <a:r>
              <a:rPr lang="zh-CN" altLang="en-US" dirty="0"/>
              <a:t>设计软件测试方案</a:t>
            </a:r>
            <a:endParaRPr lang="zh-CN" altLang="en-US" dirty="0">
              <a:sym typeface="+mn-ea"/>
            </a:endParaRPr>
          </a:p>
        </p:txBody>
      </p:sp>
      <p:sp>
        <p:nvSpPr>
          <p:cNvPr id="4" name="文本占位符 3">
            <a:extLst>
              <a:ext uri="{FF2B5EF4-FFF2-40B4-BE49-F238E27FC236}">
                <a16:creationId xmlns:a16="http://schemas.microsoft.com/office/drawing/2014/main" id="{72531A9D-930E-D9EA-5651-4F636B20CBB4}"/>
              </a:ext>
            </a:extLst>
          </p:cNvPr>
          <p:cNvSpPr>
            <a:spLocks noGrp="1"/>
          </p:cNvSpPr>
          <p:nvPr>
            <p:ph type="body" sz="quarter" idx="10"/>
          </p:nvPr>
        </p:nvSpPr>
        <p:spPr>
          <a:xfrm>
            <a:off x="696000" y="1322832"/>
            <a:ext cx="11160000" cy="400110"/>
          </a:xfrm>
        </p:spPr>
        <p:txBody>
          <a:bodyPr/>
          <a:lstStyle/>
          <a:p>
            <a:r>
              <a:rPr lang="en-US" altLang="zh-CN" dirty="0"/>
              <a:t>4.5.6 </a:t>
            </a:r>
            <a:r>
              <a:rPr lang="zh-CN" altLang="en-US" dirty="0"/>
              <a:t>因果图法</a:t>
            </a:r>
          </a:p>
        </p:txBody>
      </p:sp>
      <p:sp>
        <p:nvSpPr>
          <p:cNvPr id="15" name="文本占位符 14">
            <a:extLst>
              <a:ext uri="{FF2B5EF4-FFF2-40B4-BE49-F238E27FC236}">
                <a16:creationId xmlns:a16="http://schemas.microsoft.com/office/drawing/2014/main" id="{31968886-C54A-8E7C-BBC4-E1F10919A589}"/>
              </a:ext>
            </a:extLst>
          </p:cNvPr>
          <p:cNvSpPr>
            <a:spLocks noGrp="1"/>
          </p:cNvSpPr>
          <p:nvPr>
            <p:ph type="body" sz="quarter" idx="11"/>
          </p:nvPr>
        </p:nvSpPr>
        <p:spPr/>
        <p:txBody>
          <a:bodyPr/>
          <a:lstStyle/>
          <a:p>
            <a:endParaRPr lang="zh-CN" altLang="en-US"/>
          </a:p>
        </p:txBody>
      </p:sp>
      <p:grpSp>
        <p:nvGrpSpPr>
          <p:cNvPr id="6" name="组合 5"/>
          <p:cNvGrpSpPr/>
          <p:nvPr/>
        </p:nvGrpSpPr>
        <p:grpSpPr>
          <a:xfrm>
            <a:off x="2370142" y="2138045"/>
            <a:ext cx="9115425" cy="4057015"/>
            <a:chOff x="9622" y="2668"/>
            <a:chExt cx="15385" cy="7323"/>
          </a:xfrm>
        </p:grpSpPr>
        <p:sp>
          <p:nvSpPr>
            <p:cNvPr id="12" name="任意多边形 11"/>
            <p:cNvSpPr/>
            <p:nvPr>
              <p:custDataLst>
                <p:tags r:id="rId1"/>
              </p:custDataLst>
            </p:nvPr>
          </p:nvSpPr>
          <p:spPr>
            <a:xfrm>
              <a:off x="9622" y="2668"/>
              <a:ext cx="3872" cy="7323"/>
            </a:xfrm>
            <a:custGeom>
              <a:avLst/>
              <a:gdLst>
                <a:gd name="connsiteX0" fmla="*/ 2075543 w 2194909"/>
                <a:gd name="connsiteY0" fmla="*/ 0 h 4151086"/>
                <a:gd name="connsiteX1" fmla="*/ 2194909 w 2194909"/>
                <a:gd name="connsiteY1" fmla="*/ 6028 h 4151086"/>
                <a:gd name="connsiteX2" fmla="*/ 2102063 w 2194909"/>
                <a:gd name="connsiteY2" fmla="*/ 10716 h 4151086"/>
                <a:gd name="connsiteX3" fmla="*/ 238732 w 2194909"/>
                <a:gd name="connsiteY3" fmla="*/ 2075543 h 4151086"/>
                <a:gd name="connsiteX4" fmla="*/ 2102063 w 2194909"/>
                <a:gd name="connsiteY4" fmla="*/ 4140370 h 4151086"/>
                <a:gd name="connsiteX5" fmla="*/ 2194909 w 2194909"/>
                <a:gd name="connsiteY5" fmla="*/ 4145059 h 4151086"/>
                <a:gd name="connsiteX6" fmla="*/ 2075543 w 2194909"/>
                <a:gd name="connsiteY6" fmla="*/ 4151086 h 4151086"/>
                <a:gd name="connsiteX7" fmla="*/ 0 w 2194909"/>
                <a:gd name="connsiteY7" fmla="*/ 2075543 h 4151086"/>
                <a:gd name="connsiteX8" fmla="*/ 2075543 w 2194909"/>
                <a:gd name="connsiteY8" fmla="*/ 0 h 4151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4909" h="4151086">
                  <a:moveTo>
                    <a:pt x="2075543" y="0"/>
                  </a:moveTo>
                  <a:lnTo>
                    <a:pt x="2194909" y="6028"/>
                  </a:lnTo>
                  <a:lnTo>
                    <a:pt x="2102063" y="10716"/>
                  </a:lnTo>
                  <a:cubicBezTo>
                    <a:pt x="1055458" y="117004"/>
                    <a:pt x="238732" y="1000895"/>
                    <a:pt x="238732" y="2075543"/>
                  </a:cubicBezTo>
                  <a:cubicBezTo>
                    <a:pt x="238732" y="3150191"/>
                    <a:pt x="1055458" y="4034082"/>
                    <a:pt x="2102063" y="4140370"/>
                  </a:cubicBezTo>
                  <a:lnTo>
                    <a:pt x="2194909" y="4145059"/>
                  </a:lnTo>
                  <a:lnTo>
                    <a:pt x="2075543" y="4151086"/>
                  </a:lnTo>
                  <a:cubicBezTo>
                    <a:pt x="929252" y="4151086"/>
                    <a:pt x="0" y="3221834"/>
                    <a:pt x="0" y="2075543"/>
                  </a:cubicBezTo>
                  <a:cubicBezTo>
                    <a:pt x="0" y="929252"/>
                    <a:pt x="929252" y="0"/>
                    <a:pt x="2075543"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dirty="0">
                <a:solidFill>
                  <a:schemeClr val="tx1"/>
                </a:solidFill>
                <a:latin typeface="Times New Roman" panose="02020603050405020304" pitchFamily="18" charset="0"/>
              </a:endParaRPr>
            </a:p>
          </p:txBody>
        </p:sp>
        <p:sp>
          <p:nvSpPr>
            <p:cNvPr id="8" name="圆角矩形 7"/>
            <p:cNvSpPr/>
            <p:nvPr>
              <p:custDataLst>
                <p:tags r:id="rId2"/>
              </p:custDataLst>
            </p:nvPr>
          </p:nvSpPr>
          <p:spPr>
            <a:xfrm>
              <a:off x="11539" y="3231"/>
              <a:ext cx="13431" cy="922"/>
            </a:xfrm>
            <a:prstGeom prst="roundRect">
              <a:avLst>
                <a:gd name="adj" fmla="val 5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lnSpcReduction="10000"/>
            </a:bodyPr>
            <a:lstStyle/>
            <a:p>
              <a:pPr algn="ctr" eaLnBrk="1" hangingPunct="1">
                <a:spcBef>
                  <a:spcPts val="0"/>
                </a:spcBef>
                <a:spcAft>
                  <a:spcPts val="0"/>
                </a:spcAft>
                <a:defRPr/>
              </a:pPr>
              <a:endParaRPr lang="zh-CN" altLang="en-US" sz="1800" dirty="0">
                <a:solidFill>
                  <a:schemeClr val="tx1"/>
                </a:solidFill>
                <a:latin typeface="Times New Roman" panose="02020603050405020304" pitchFamily="18" charset="0"/>
              </a:endParaRPr>
            </a:p>
          </p:txBody>
        </p:sp>
        <p:sp>
          <p:nvSpPr>
            <p:cNvPr id="9" name="椭圆 8"/>
            <p:cNvSpPr/>
            <p:nvPr>
              <p:custDataLst>
                <p:tags r:id="rId3"/>
              </p:custDataLst>
            </p:nvPr>
          </p:nvSpPr>
          <p:spPr>
            <a:xfrm>
              <a:off x="11502" y="3153"/>
              <a:ext cx="1076" cy="107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algn="ctr" eaLnBrk="1" hangingPunct="1">
                <a:spcBef>
                  <a:spcPts val="0"/>
                </a:spcBef>
                <a:spcAft>
                  <a:spcPts val="0"/>
                </a:spcAft>
                <a:defRPr/>
              </a:pPr>
              <a:r>
                <a:rPr lang="en-US" altLang="zh-CN" sz="2400" dirty="0">
                  <a:solidFill>
                    <a:schemeClr val="bg1"/>
                  </a:solidFill>
                  <a:latin typeface="Times New Roman" panose="02020603050405020304" pitchFamily="18" charset="0"/>
                </a:rPr>
                <a:t>1</a:t>
              </a:r>
            </a:p>
          </p:txBody>
        </p:sp>
        <p:sp>
          <p:nvSpPr>
            <p:cNvPr id="16" name="圆角矩形 15"/>
            <p:cNvSpPr/>
            <p:nvPr>
              <p:custDataLst>
                <p:tags r:id="rId4"/>
              </p:custDataLst>
            </p:nvPr>
          </p:nvSpPr>
          <p:spPr>
            <a:xfrm>
              <a:off x="10426" y="4537"/>
              <a:ext cx="13711" cy="922"/>
            </a:xfrm>
            <a:prstGeom prst="roundRect">
              <a:avLst>
                <a:gd name="adj" fmla="val 5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lnSpcReduction="10000"/>
            </a:bodyPr>
            <a:lstStyle/>
            <a:p>
              <a:pPr algn="ctr" eaLnBrk="1" hangingPunct="1">
                <a:spcBef>
                  <a:spcPts val="0"/>
                </a:spcBef>
                <a:spcAft>
                  <a:spcPts val="0"/>
                </a:spcAft>
                <a:defRPr/>
              </a:pPr>
              <a:endParaRPr lang="zh-CN" altLang="en-US" sz="1800" dirty="0">
                <a:solidFill>
                  <a:schemeClr val="tx1"/>
                </a:solidFill>
                <a:latin typeface="Times New Roman" panose="02020603050405020304" pitchFamily="18" charset="0"/>
              </a:endParaRPr>
            </a:p>
          </p:txBody>
        </p:sp>
        <p:sp>
          <p:nvSpPr>
            <p:cNvPr id="10" name="椭圆 9"/>
            <p:cNvSpPr/>
            <p:nvPr>
              <p:custDataLst>
                <p:tags r:id="rId5"/>
              </p:custDataLst>
            </p:nvPr>
          </p:nvSpPr>
          <p:spPr>
            <a:xfrm>
              <a:off x="10393" y="4461"/>
              <a:ext cx="1076" cy="107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62500" lnSpcReduction="20000"/>
            </a:bodyPr>
            <a:lstStyle/>
            <a:p>
              <a:pPr algn="ctr" eaLnBrk="1" hangingPunct="1">
                <a:spcBef>
                  <a:spcPts val="0"/>
                </a:spcBef>
                <a:spcAft>
                  <a:spcPts val="0"/>
                </a:spcAft>
                <a:defRPr/>
              </a:pPr>
              <a:r>
                <a:rPr lang="en-US" altLang="zh-CN" sz="4000" dirty="0">
                  <a:solidFill>
                    <a:schemeClr val="bg1"/>
                  </a:solidFill>
                  <a:latin typeface="Times New Roman" panose="02020603050405020304" pitchFamily="18" charset="0"/>
                </a:rPr>
                <a:t>2</a:t>
              </a:r>
            </a:p>
          </p:txBody>
        </p:sp>
        <p:sp>
          <p:nvSpPr>
            <p:cNvPr id="11" name="圆角矩形 10"/>
            <p:cNvSpPr/>
            <p:nvPr>
              <p:custDataLst>
                <p:tags r:id="rId6"/>
              </p:custDataLst>
            </p:nvPr>
          </p:nvSpPr>
          <p:spPr>
            <a:xfrm>
              <a:off x="10171" y="5867"/>
              <a:ext cx="13276" cy="924"/>
            </a:xfrm>
            <a:prstGeom prst="roundRect">
              <a:avLst>
                <a:gd name="adj" fmla="val 5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lnSpcReduction="10000"/>
            </a:bodyPr>
            <a:lstStyle/>
            <a:p>
              <a:pPr algn="ctr" eaLnBrk="1" hangingPunct="1">
                <a:spcBef>
                  <a:spcPts val="0"/>
                </a:spcBef>
                <a:spcAft>
                  <a:spcPts val="0"/>
                </a:spcAft>
                <a:defRPr/>
              </a:pPr>
              <a:endParaRPr lang="zh-CN" altLang="en-US" sz="1800" dirty="0">
                <a:solidFill>
                  <a:schemeClr val="tx1"/>
                </a:solidFill>
                <a:latin typeface="Times New Roman" panose="02020603050405020304" pitchFamily="18" charset="0"/>
              </a:endParaRPr>
            </a:p>
          </p:txBody>
        </p:sp>
        <p:sp>
          <p:nvSpPr>
            <p:cNvPr id="19" name="椭圆 18"/>
            <p:cNvSpPr/>
            <p:nvPr>
              <p:custDataLst>
                <p:tags r:id="rId7"/>
              </p:custDataLst>
            </p:nvPr>
          </p:nvSpPr>
          <p:spPr>
            <a:xfrm>
              <a:off x="10135" y="5792"/>
              <a:ext cx="1076" cy="107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62500" lnSpcReduction="20000"/>
            </a:bodyPr>
            <a:lstStyle/>
            <a:p>
              <a:pPr algn="ctr" eaLnBrk="1" hangingPunct="1">
                <a:spcBef>
                  <a:spcPts val="0"/>
                </a:spcBef>
                <a:spcAft>
                  <a:spcPts val="0"/>
                </a:spcAft>
                <a:defRPr/>
              </a:pPr>
              <a:r>
                <a:rPr lang="en-US" altLang="zh-CN" sz="4000" dirty="0">
                  <a:solidFill>
                    <a:schemeClr val="bg1"/>
                  </a:solidFill>
                  <a:latin typeface="Times New Roman" panose="02020603050405020304" pitchFamily="18" charset="0"/>
                </a:rPr>
                <a:t>3</a:t>
              </a:r>
            </a:p>
          </p:txBody>
        </p:sp>
        <p:sp>
          <p:nvSpPr>
            <p:cNvPr id="13" name="圆角矩形 12"/>
            <p:cNvSpPr/>
            <p:nvPr>
              <p:custDataLst>
                <p:tags r:id="rId8"/>
              </p:custDataLst>
            </p:nvPr>
          </p:nvSpPr>
          <p:spPr>
            <a:xfrm>
              <a:off x="10426" y="7265"/>
              <a:ext cx="13711" cy="922"/>
            </a:xfrm>
            <a:prstGeom prst="roundRect">
              <a:avLst>
                <a:gd name="adj" fmla="val 5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lnSpcReduction="10000"/>
            </a:bodyPr>
            <a:lstStyle/>
            <a:p>
              <a:pPr algn="ctr" eaLnBrk="1" hangingPunct="1">
                <a:spcBef>
                  <a:spcPts val="0"/>
                </a:spcBef>
                <a:spcAft>
                  <a:spcPts val="0"/>
                </a:spcAft>
                <a:defRPr/>
              </a:pPr>
              <a:endParaRPr lang="zh-CN" altLang="en-US" sz="1800" dirty="0">
                <a:solidFill>
                  <a:schemeClr val="tx1"/>
                </a:solidFill>
                <a:latin typeface="Times New Roman" panose="02020603050405020304" pitchFamily="18" charset="0"/>
              </a:endParaRPr>
            </a:p>
          </p:txBody>
        </p:sp>
        <p:sp>
          <p:nvSpPr>
            <p:cNvPr id="30" name="椭圆 29"/>
            <p:cNvSpPr/>
            <p:nvPr>
              <p:custDataLst>
                <p:tags r:id="rId9"/>
              </p:custDataLst>
            </p:nvPr>
          </p:nvSpPr>
          <p:spPr>
            <a:xfrm>
              <a:off x="10393" y="7187"/>
              <a:ext cx="1076" cy="107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62500" lnSpcReduction="20000"/>
            </a:bodyPr>
            <a:lstStyle/>
            <a:p>
              <a:pPr algn="ctr" eaLnBrk="1" hangingPunct="1">
                <a:spcBef>
                  <a:spcPts val="0"/>
                </a:spcBef>
                <a:spcAft>
                  <a:spcPts val="0"/>
                </a:spcAft>
                <a:defRPr/>
              </a:pPr>
              <a:r>
                <a:rPr lang="en-US" altLang="zh-CN" sz="4000" dirty="0">
                  <a:solidFill>
                    <a:schemeClr val="bg1"/>
                  </a:solidFill>
                  <a:latin typeface="Times New Roman" panose="02020603050405020304" pitchFamily="18" charset="0"/>
                </a:rPr>
                <a:t>4</a:t>
              </a:r>
            </a:p>
          </p:txBody>
        </p:sp>
        <p:sp>
          <p:nvSpPr>
            <p:cNvPr id="31" name="圆角矩形 30"/>
            <p:cNvSpPr/>
            <p:nvPr>
              <p:custDataLst>
                <p:tags r:id="rId10"/>
              </p:custDataLst>
            </p:nvPr>
          </p:nvSpPr>
          <p:spPr>
            <a:xfrm>
              <a:off x="11539" y="8571"/>
              <a:ext cx="13468" cy="922"/>
            </a:xfrm>
            <a:prstGeom prst="roundRect">
              <a:avLst>
                <a:gd name="adj" fmla="val 5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lnSpcReduction="10000"/>
            </a:bodyPr>
            <a:lstStyle/>
            <a:p>
              <a:pPr algn="ctr" eaLnBrk="1" hangingPunct="1">
                <a:spcBef>
                  <a:spcPts val="0"/>
                </a:spcBef>
                <a:spcAft>
                  <a:spcPts val="0"/>
                </a:spcAft>
                <a:defRPr/>
              </a:pPr>
              <a:endParaRPr lang="zh-CN" altLang="en-US" sz="1800" dirty="0">
                <a:solidFill>
                  <a:schemeClr val="tx1"/>
                </a:solidFill>
                <a:latin typeface="Times New Roman" panose="02020603050405020304" pitchFamily="18" charset="0"/>
              </a:endParaRPr>
            </a:p>
          </p:txBody>
        </p:sp>
        <p:sp>
          <p:nvSpPr>
            <p:cNvPr id="32" name="椭圆 31"/>
            <p:cNvSpPr/>
            <p:nvPr>
              <p:custDataLst>
                <p:tags r:id="rId11"/>
              </p:custDataLst>
            </p:nvPr>
          </p:nvSpPr>
          <p:spPr>
            <a:xfrm>
              <a:off x="11538" y="8494"/>
              <a:ext cx="1073" cy="107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62500" lnSpcReduction="20000"/>
            </a:bodyPr>
            <a:lstStyle/>
            <a:p>
              <a:pPr algn="ctr" eaLnBrk="1" hangingPunct="1">
                <a:spcBef>
                  <a:spcPts val="0"/>
                </a:spcBef>
                <a:spcAft>
                  <a:spcPts val="0"/>
                </a:spcAft>
                <a:defRPr/>
              </a:pPr>
              <a:r>
                <a:rPr lang="en-US" altLang="zh-CN" sz="4000" dirty="0">
                  <a:solidFill>
                    <a:schemeClr val="bg1"/>
                  </a:solidFill>
                  <a:latin typeface="Times New Roman" panose="02020603050405020304" pitchFamily="18" charset="0"/>
                </a:rPr>
                <a:t>5</a:t>
              </a:r>
            </a:p>
          </p:txBody>
        </p:sp>
        <p:sp>
          <p:nvSpPr>
            <p:cNvPr id="47" name="文本框 54"/>
            <p:cNvSpPr txBox="1">
              <a:spLocks noChangeArrowheads="1"/>
            </p:cNvSpPr>
            <p:nvPr>
              <p:custDataLst>
                <p:tags r:id="rId12"/>
              </p:custDataLst>
            </p:nvPr>
          </p:nvSpPr>
          <p:spPr bwMode="auto">
            <a:xfrm>
              <a:off x="13017" y="3367"/>
              <a:ext cx="8670" cy="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dirty="0">
                  <a:latin typeface="Times New Roman" panose="02020603050405020304" pitchFamily="18" charset="0"/>
                  <a:ea typeface="+mn-ea"/>
                </a:rPr>
                <a:t> 将规格说明中的输入作为因，输出作为果；</a:t>
              </a:r>
            </a:p>
          </p:txBody>
        </p:sp>
        <p:sp>
          <p:nvSpPr>
            <p:cNvPr id="48" name="文本框 55"/>
            <p:cNvSpPr txBox="1">
              <a:spLocks noChangeArrowheads="1"/>
            </p:cNvSpPr>
            <p:nvPr>
              <p:custDataLst>
                <p:tags r:id="rId13"/>
              </p:custDataLst>
            </p:nvPr>
          </p:nvSpPr>
          <p:spPr bwMode="auto">
            <a:xfrm>
              <a:off x="13017" y="4672"/>
              <a:ext cx="10430" cy="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dirty="0">
                  <a:latin typeface="Times New Roman" panose="02020603050405020304" pitchFamily="18" charset="0"/>
                  <a:ea typeface="+mn-ea"/>
                </a:rPr>
                <a:t>画出因果图；</a:t>
              </a:r>
            </a:p>
          </p:txBody>
        </p:sp>
        <p:sp>
          <p:nvSpPr>
            <p:cNvPr id="49" name="文本框 56"/>
            <p:cNvSpPr txBox="1">
              <a:spLocks noChangeArrowheads="1"/>
            </p:cNvSpPr>
            <p:nvPr>
              <p:custDataLst>
                <p:tags r:id="rId14"/>
              </p:custDataLst>
            </p:nvPr>
          </p:nvSpPr>
          <p:spPr bwMode="auto">
            <a:xfrm>
              <a:off x="13017" y="6003"/>
              <a:ext cx="10332" cy="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dirty="0">
                  <a:latin typeface="Times New Roman" panose="02020603050405020304" pitchFamily="18" charset="0"/>
                  <a:ea typeface="+mn-ea"/>
                </a:rPr>
                <a:t>标出因果图的约束条件；</a:t>
              </a:r>
            </a:p>
          </p:txBody>
        </p:sp>
        <p:sp>
          <p:nvSpPr>
            <p:cNvPr id="50" name="文本框 57"/>
            <p:cNvSpPr txBox="1">
              <a:spLocks noChangeArrowheads="1"/>
            </p:cNvSpPr>
            <p:nvPr>
              <p:custDataLst>
                <p:tags r:id="rId15"/>
              </p:custDataLst>
            </p:nvPr>
          </p:nvSpPr>
          <p:spPr bwMode="auto">
            <a:xfrm>
              <a:off x="13017" y="7401"/>
              <a:ext cx="11239" cy="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dirty="0">
                  <a:latin typeface="Times New Roman" panose="02020603050405020304" pitchFamily="18" charset="0"/>
                  <a:ea typeface="+mn-ea"/>
                </a:rPr>
                <a:t>把因果图转化为判定表；</a:t>
              </a:r>
            </a:p>
          </p:txBody>
        </p:sp>
        <p:sp>
          <p:nvSpPr>
            <p:cNvPr id="51" name="文本框 58"/>
            <p:cNvSpPr txBox="1">
              <a:spLocks noChangeArrowheads="1"/>
            </p:cNvSpPr>
            <p:nvPr>
              <p:custDataLst>
                <p:tags r:id="rId16"/>
              </p:custDataLst>
            </p:nvPr>
          </p:nvSpPr>
          <p:spPr bwMode="auto">
            <a:xfrm>
              <a:off x="13017" y="8706"/>
              <a:ext cx="9748" cy="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dirty="0">
                  <a:latin typeface="Times New Roman" panose="02020603050405020304" pitchFamily="18" charset="0"/>
                  <a:ea typeface="+mn-ea"/>
                </a:rPr>
                <a:t>在判定表的每一列设计一个测试用例。</a:t>
              </a:r>
            </a:p>
          </p:txBody>
        </p:sp>
      </p:grpSp>
      <p:sp>
        <p:nvSpPr>
          <p:cNvPr id="21" name="矩形 7"/>
          <p:cNvSpPr>
            <a:spLocks noChangeArrowheads="1"/>
          </p:cNvSpPr>
          <p:nvPr/>
        </p:nvSpPr>
        <p:spPr bwMode="auto">
          <a:xfrm>
            <a:off x="675201" y="3578375"/>
            <a:ext cx="159007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因果图测试用例的设计步骤</a:t>
            </a:r>
          </a:p>
        </p:txBody>
      </p:sp>
    </p:spTree>
  </p:cSld>
  <p:clrMapOvr>
    <a:masterClrMapping/>
  </p:clrMapOvr>
  <p:transition>
    <p:pull dir="rd"/>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11520000" cy="535531"/>
          </a:xfrm>
        </p:spPr>
        <p:txBody>
          <a:bodyPr/>
          <a:lstStyle/>
          <a:p>
            <a:r>
              <a:rPr lang="en-US" dirty="0"/>
              <a:t>4.5 </a:t>
            </a:r>
            <a:r>
              <a:rPr lang="zh-CN" altLang="en-US" dirty="0"/>
              <a:t>设计软件测试方案</a:t>
            </a:r>
            <a:endParaRPr lang="zh-CN" altLang="en-US" dirty="0">
              <a:sym typeface="+mn-ea"/>
            </a:endParaRPr>
          </a:p>
        </p:txBody>
      </p:sp>
      <p:sp>
        <p:nvSpPr>
          <p:cNvPr id="4" name="文本占位符 3">
            <a:extLst>
              <a:ext uri="{FF2B5EF4-FFF2-40B4-BE49-F238E27FC236}">
                <a16:creationId xmlns:a16="http://schemas.microsoft.com/office/drawing/2014/main" id="{0ABABC74-657F-7271-F071-33EC77D6BBD6}"/>
              </a:ext>
            </a:extLst>
          </p:cNvPr>
          <p:cNvSpPr>
            <a:spLocks noGrp="1"/>
          </p:cNvSpPr>
          <p:nvPr>
            <p:ph type="body" sz="quarter" idx="10"/>
          </p:nvPr>
        </p:nvSpPr>
        <p:spPr>
          <a:xfrm>
            <a:off x="696000" y="1322832"/>
            <a:ext cx="11160000" cy="400110"/>
          </a:xfrm>
        </p:spPr>
        <p:txBody>
          <a:bodyPr/>
          <a:lstStyle/>
          <a:p>
            <a:r>
              <a:rPr lang="en-US" altLang="zh-CN" dirty="0"/>
              <a:t>4.5.6 </a:t>
            </a:r>
            <a:r>
              <a:rPr lang="zh-CN" altLang="en-US" dirty="0"/>
              <a:t>因果图法</a:t>
            </a:r>
          </a:p>
        </p:txBody>
      </p:sp>
      <p:sp>
        <p:nvSpPr>
          <p:cNvPr id="9" name="文本占位符 8">
            <a:extLst>
              <a:ext uri="{FF2B5EF4-FFF2-40B4-BE49-F238E27FC236}">
                <a16:creationId xmlns:a16="http://schemas.microsoft.com/office/drawing/2014/main" id="{C2D35DCA-889F-3909-DBB8-35F64CEACC99}"/>
              </a:ext>
            </a:extLst>
          </p:cNvPr>
          <p:cNvSpPr>
            <a:spLocks noGrp="1"/>
          </p:cNvSpPr>
          <p:nvPr>
            <p:ph type="body" sz="quarter" idx="11"/>
          </p:nvPr>
        </p:nvSpPr>
        <p:spPr/>
        <p:txBody>
          <a:bodyPr/>
          <a:lstStyle/>
          <a:p>
            <a:endParaRPr lang="zh-CN" altLang="en-US"/>
          </a:p>
        </p:txBody>
      </p:sp>
      <p:graphicFrame>
        <p:nvGraphicFramePr>
          <p:cNvPr id="6" name="表格 5"/>
          <p:cNvGraphicFramePr>
            <a:graphicFrameLocks noGrp="1"/>
          </p:cNvGraphicFramePr>
          <p:nvPr>
            <p:extLst>
              <p:ext uri="{D42A27DB-BD31-4B8C-83A1-F6EECF244321}">
                <p14:modId xmlns:p14="http://schemas.microsoft.com/office/powerpoint/2010/main" val="2222419704"/>
              </p:ext>
            </p:extLst>
          </p:nvPr>
        </p:nvGraphicFramePr>
        <p:xfrm>
          <a:off x="941184" y="2151628"/>
          <a:ext cx="10026921" cy="4108268"/>
        </p:xfrm>
        <a:graphic>
          <a:graphicData uri="http://schemas.openxmlformats.org/drawingml/2006/table">
            <a:tbl>
              <a:tblPr firstRow="1" firstCol="1" bandRow="1">
                <a:tableStyleId>{F5AB1C69-6EDB-4FF4-983F-18BD219EF322}</a:tableStyleId>
              </a:tblPr>
              <a:tblGrid>
                <a:gridCol w="2930783">
                  <a:extLst>
                    <a:ext uri="{9D8B030D-6E8A-4147-A177-3AD203B41FA5}">
                      <a16:colId xmlns:a16="http://schemas.microsoft.com/office/drawing/2014/main" val="20000"/>
                    </a:ext>
                  </a:extLst>
                </a:gridCol>
                <a:gridCol w="7096138">
                  <a:extLst>
                    <a:ext uri="{9D8B030D-6E8A-4147-A177-3AD203B41FA5}">
                      <a16:colId xmlns:a16="http://schemas.microsoft.com/office/drawing/2014/main" val="20001"/>
                    </a:ext>
                  </a:extLst>
                </a:gridCol>
              </a:tblGrid>
              <a:tr h="610688">
                <a:tc>
                  <a:txBody>
                    <a:bodyPr/>
                    <a:lstStyle/>
                    <a:p>
                      <a:pPr algn="ctr">
                        <a:lnSpc>
                          <a:spcPct val="115000"/>
                        </a:lnSpc>
                        <a:spcAft>
                          <a:spcPts val="0"/>
                        </a:spcAft>
                      </a:pPr>
                      <a:r>
                        <a:rPr lang="zh-CN" altLang="en-US" sz="1600" kern="100" dirty="0">
                          <a:effectLst/>
                          <a:latin typeface="Times New Roman" panose="02020603050405020304" pitchFamily="18" charset="0"/>
                        </a:rPr>
                        <a:t>符号</a:t>
                      </a:r>
                      <a:endParaRPr lang="zh-CN" altLang="en-US" sz="1600" kern="100" dirty="0">
                        <a:effectLst/>
                        <a:latin typeface="微软雅黑" panose="020B0503020204020204" charset="-122"/>
                        <a:ea typeface="微软雅黑" panose="020B0503020204020204" charset="-122"/>
                      </a:endParaRPr>
                    </a:p>
                  </a:txBody>
                  <a:tcPr marL="68580" marR="68580" marT="0" marB="0" anchor="ctr"/>
                </a:tc>
                <a:tc>
                  <a:txBody>
                    <a:bodyPr/>
                    <a:lstStyle/>
                    <a:p>
                      <a:pPr algn="ctr">
                        <a:lnSpc>
                          <a:spcPct val="115000"/>
                        </a:lnSpc>
                        <a:spcAft>
                          <a:spcPts val="0"/>
                        </a:spcAft>
                      </a:pPr>
                      <a:r>
                        <a:rPr lang="zh-CN" sz="1600" kern="100" dirty="0">
                          <a:effectLst/>
                          <a:latin typeface="Times New Roman" panose="02020603050405020304" pitchFamily="18" charset="0"/>
                        </a:rPr>
                        <a:t>表示内容</a:t>
                      </a:r>
                      <a:endParaRPr lang="zh-CN" sz="1600" kern="100" dirty="0">
                        <a:effectLst/>
                        <a:latin typeface="微软雅黑" panose="020B0503020204020204" charset="-122"/>
                        <a:ea typeface="微软雅黑" panose="020B0503020204020204" charset="-122"/>
                      </a:endParaRPr>
                    </a:p>
                  </a:txBody>
                  <a:tcPr marL="68580" marR="68580" marT="0" marB="0" anchor="ctr"/>
                </a:tc>
                <a:extLst>
                  <a:ext uri="{0D108BD9-81ED-4DB2-BD59-A6C34878D82A}">
                    <a16:rowId xmlns:a16="http://schemas.microsoft.com/office/drawing/2014/main" val="10000"/>
                  </a:ext>
                </a:extLst>
              </a:tr>
              <a:tr h="681924">
                <a:tc>
                  <a:txBody>
                    <a:bodyPr/>
                    <a:lstStyle/>
                    <a:p>
                      <a:pPr algn="ctr">
                        <a:lnSpc>
                          <a:spcPct val="115000"/>
                        </a:lnSpc>
                        <a:spcAft>
                          <a:spcPts val="0"/>
                        </a:spcAft>
                      </a:pPr>
                      <a:endParaRPr lang="zh-CN" sz="1600" kern="100" dirty="0">
                        <a:effectLst/>
                        <a:latin typeface="微软雅黑" panose="020B0503020204020204" charset="-122"/>
                        <a:ea typeface="微软雅黑" panose="020B0503020204020204" charset="-122"/>
                      </a:endParaRPr>
                    </a:p>
                  </a:txBody>
                  <a:tcPr marL="68580" marR="68580" marT="0" marB="0" anchor="ctr"/>
                </a:tc>
                <a:tc>
                  <a:txBody>
                    <a:bodyPr/>
                    <a:lstStyle/>
                    <a:p>
                      <a:pPr marL="0" indent="0" algn="just">
                        <a:lnSpc>
                          <a:spcPct val="120000"/>
                        </a:lnSpc>
                        <a:spcAft>
                          <a:spcPts val="0"/>
                        </a:spcAft>
                        <a:buFont typeface="Arial" panose="020B0604020202020204" pitchFamily="34" charset="0"/>
                        <a:buNone/>
                      </a:pPr>
                      <a:r>
                        <a:rPr lang="zh-CN" sz="1600" kern="100" dirty="0">
                          <a:effectLst/>
                          <a:latin typeface="Times New Roman" panose="02020603050405020304" pitchFamily="18" charset="0"/>
                        </a:rPr>
                        <a:t>恒等：</a:t>
                      </a:r>
                      <a:r>
                        <a:rPr sz="1600" kern="100" dirty="0">
                          <a:effectLst/>
                        </a:rPr>
                        <a:t>若c1是1，则e1也是1，否则e1为0。</a:t>
                      </a:r>
                      <a:endParaRPr sz="1600" kern="100" dirty="0">
                        <a:solidFill>
                          <a:srgbClr val="5F5E5C"/>
                        </a:solidFill>
                        <a:effectLst/>
                        <a:latin typeface="微软雅黑" panose="020B0503020204020204" charset="-122"/>
                        <a:ea typeface="微软雅黑" panose="020B0503020204020204" charset="-122"/>
                      </a:endParaRPr>
                    </a:p>
                  </a:txBody>
                  <a:tcPr marL="68580" marR="68580" marT="0" marB="0" anchor="ctr"/>
                </a:tc>
                <a:extLst>
                  <a:ext uri="{0D108BD9-81ED-4DB2-BD59-A6C34878D82A}">
                    <a16:rowId xmlns:a16="http://schemas.microsoft.com/office/drawing/2014/main" val="10001"/>
                  </a:ext>
                </a:extLst>
              </a:tr>
              <a:tr h="701040">
                <a:tc>
                  <a:txBody>
                    <a:bodyPr/>
                    <a:lstStyle/>
                    <a:p>
                      <a:pPr algn="ctr">
                        <a:lnSpc>
                          <a:spcPct val="115000"/>
                        </a:lnSpc>
                        <a:spcAft>
                          <a:spcPts val="0"/>
                        </a:spcAft>
                      </a:pPr>
                      <a:endParaRPr lang="zh-CN" sz="1600" kern="100" dirty="0">
                        <a:effectLst/>
                        <a:latin typeface="微软雅黑" panose="020B0503020204020204" charset="-122"/>
                        <a:ea typeface="微软雅黑" panose="020B0503020204020204" charset="-122"/>
                      </a:endParaRPr>
                    </a:p>
                  </a:txBody>
                  <a:tcPr marL="68580" marR="68580" marT="0" marB="0" anchor="ctr"/>
                </a:tc>
                <a:tc>
                  <a:txBody>
                    <a:bodyPr/>
                    <a:lstStyle/>
                    <a:p>
                      <a:pPr marL="0" indent="0" algn="just">
                        <a:lnSpc>
                          <a:spcPct val="120000"/>
                        </a:lnSpc>
                        <a:spcAft>
                          <a:spcPts val="0"/>
                        </a:spcAft>
                        <a:buFont typeface="Arial" panose="020B0604020202020204" pitchFamily="34" charset="0"/>
                        <a:buNone/>
                      </a:pPr>
                      <a:r>
                        <a:rPr lang="zh-CN" sz="1600" kern="100" dirty="0">
                          <a:effectLst/>
                          <a:latin typeface="Times New Roman" panose="02020603050405020304" pitchFamily="18" charset="0"/>
                        </a:rPr>
                        <a:t>非（相反）：</a:t>
                      </a:r>
                      <a:r>
                        <a:rPr sz="1600" kern="100" dirty="0">
                          <a:effectLst/>
                        </a:rPr>
                        <a:t>若c1是1，则e1是0，否则e1为1。</a:t>
                      </a:r>
                      <a:endParaRPr sz="1600" kern="100" dirty="0">
                        <a:solidFill>
                          <a:srgbClr val="5F5E5C"/>
                        </a:solidFill>
                        <a:effectLst/>
                        <a:latin typeface="微软雅黑" panose="020B0503020204020204" charset="-122"/>
                        <a:ea typeface="微软雅黑" panose="020B0503020204020204" charset="-122"/>
                      </a:endParaRPr>
                    </a:p>
                  </a:txBody>
                  <a:tcPr marL="68580" marR="68580" marT="0" marB="0" anchor="ctr"/>
                </a:tc>
                <a:extLst>
                  <a:ext uri="{0D108BD9-81ED-4DB2-BD59-A6C34878D82A}">
                    <a16:rowId xmlns:a16="http://schemas.microsoft.com/office/drawing/2014/main" val="10002"/>
                  </a:ext>
                </a:extLst>
              </a:tr>
              <a:tr h="1173480">
                <a:tc>
                  <a:txBody>
                    <a:bodyPr/>
                    <a:lstStyle/>
                    <a:p>
                      <a:pPr algn="ctr">
                        <a:lnSpc>
                          <a:spcPct val="115000"/>
                        </a:lnSpc>
                        <a:spcAft>
                          <a:spcPts val="0"/>
                        </a:spcAft>
                        <a:buNone/>
                      </a:pPr>
                      <a:endParaRPr lang="zh-CN" altLang="en-US" sz="1600" kern="100" dirty="0">
                        <a:effectLst/>
                        <a:latin typeface="微软雅黑" panose="020B0503020204020204" charset="-122"/>
                        <a:ea typeface="微软雅黑" panose="020B0503020204020204" charset="-122"/>
                      </a:endParaRPr>
                    </a:p>
                  </a:txBody>
                  <a:tcPr marL="68580" marR="68580" marT="0" marB="0" anchor="ctr"/>
                </a:tc>
                <a:tc>
                  <a:txBody>
                    <a:bodyPr/>
                    <a:lstStyle/>
                    <a:p>
                      <a:pPr marL="0" indent="0" algn="just">
                        <a:lnSpc>
                          <a:spcPct val="120000"/>
                        </a:lnSpc>
                        <a:spcAft>
                          <a:spcPts val="0"/>
                        </a:spcAft>
                        <a:buFont typeface="Arial" panose="020B0604020202020204" pitchFamily="34" charset="0"/>
                        <a:buNone/>
                      </a:pPr>
                      <a:r>
                        <a:rPr lang="zh-CN" altLang="en-US" sz="1600" kern="100" dirty="0">
                          <a:effectLst/>
                          <a:latin typeface="Times New Roman" panose="02020603050405020304" pitchFamily="18" charset="0"/>
                        </a:rPr>
                        <a:t>或：若c1或c2或c3是1，则e1是1，否则e1为0。</a:t>
                      </a:r>
                      <a:endParaRPr lang="zh-CN" altLang="en-US" sz="1600" kern="100" dirty="0">
                        <a:solidFill>
                          <a:srgbClr val="5F5E5C"/>
                        </a:solidFill>
                        <a:effectLst/>
                        <a:latin typeface="微软雅黑" panose="020B0503020204020204" charset="-122"/>
                        <a:ea typeface="微软雅黑" panose="020B0503020204020204" charset="-122"/>
                      </a:endParaRPr>
                    </a:p>
                  </a:txBody>
                  <a:tcPr marL="68580" marR="68580" marT="0" marB="0" anchor="ctr"/>
                </a:tc>
                <a:extLst>
                  <a:ext uri="{0D108BD9-81ED-4DB2-BD59-A6C34878D82A}">
                    <a16:rowId xmlns:a16="http://schemas.microsoft.com/office/drawing/2014/main" val="10003"/>
                  </a:ext>
                </a:extLst>
              </a:tr>
              <a:tr h="941136">
                <a:tc>
                  <a:txBody>
                    <a:bodyPr/>
                    <a:lstStyle/>
                    <a:p>
                      <a:pPr algn="ctr">
                        <a:lnSpc>
                          <a:spcPct val="115000"/>
                        </a:lnSpc>
                        <a:spcAft>
                          <a:spcPts val="0"/>
                        </a:spcAft>
                      </a:pPr>
                      <a:endParaRPr lang="zh-CN" sz="1600" kern="100" dirty="0">
                        <a:effectLst/>
                        <a:latin typeface="微软雅黑" panose="020B0503020204020204" charset="-122"/>
                        <a:ea typeface="微软雅黑" panose="020B0503020204020204" charset="-122"/>
                      </a:endParaRPr>
                    </a:p>
                  </a:txBody>
                  <a:tcPr marL="68580" marR="68580" marT="0" marB="0" anchor="ctr"/>
                </a:tc>
                <a:tc>
                  <a:txBody>
                    <a:bodyPr/>
                    <a:lstStyle/>
                    <a:p>
                      <a:pPr marL="0" indent="0" algn="just">
                        <a:lnSpc>
                          <a:spcPct val="120000"/>
                        </a:lnSpc>
                        <a:spcAft>
                          <a:spcPts val="0"/>
                        </a:spcAft>
                        <a:buFont typeface="Arial" panose="020B0604020202020204" pitchFamily="34" charset="0"/>
                        <a:buNone/>
                      </a:pPr>
                      <a:r>
                        <a:rPr lang="zh-CN" altLang="en-US" sz="1600" kern="100" dirty="0">
                          <a:effectLst/>
                          <a:latin typeface="Times New Roman" panose="02020603050405020304" pitchFamily="18" charset="0"/>
                        </a:rPr>
                        <a:t>与：若c1和c2都是1，则e1是1，否则e1为0。</a:t>
                      </a:r>
                      <a:endParaRPr lang="zh-CN" altLang="en-US" sz="1600" kern="100" dirty="0">
                        <a:solidFill>
                          <a:srgbClr val="5F5E5C"/>
                        </a:solidFill>
                        <a:effectLst/>
                        <a:latin typeface="微软雅黑" panose="020B0503020204020204" charset="-122"/>
                        <a:ea typeface="微软雅黑" panose="020B0503020204020204" charset="-122"/>
                      </a:endParaRPr>
                    </a:p>
                  </a:txBody>
                  <a:tcPr marL="68580" marR="68580" marT="0" marB="0" anchor="ctr"/>
                </a:tc>
                <a:extLst>
                  <a:ext uri="{0D108BD9-81ED-4DB2-BD59-A6C34878D82A}">
                    <a16:rowId xmlns:a16="http://schemas.microsoft.com/office/drawing/2014/main" val="10004"/>
                  </a:ext>
                </a:extLst>
              </a:tr>
            </a:tbl>
          </a:graphicData>
        </a:graphic>
      </p:graphicFrame>
      <p:pic>
        <p:nvPicPr>
          <p:cNvPr id="154625" name="Picture 1"/>
          <p:cNvPicPr>
            <a:picLocks noChangeAspect="1" noChangeArrowheads="1"/>
          </p:cNvPicPr>
          <p:nvPr/>
        </p:nvPicPr>
        <p:blipFill>
          <a:blip r:embed="rId3" cstate="print"/>
          <a:srcRect/>
          <a:stretch>
            <a:fillRect/>
          </a:stretch>
        </p:blipFill>
        <p:spPr bwMode="auto">
          <a:xfrm>
            <a:off x="1836420" y="2808923"/>
            <a:ext cx="1143000" cy="600075"/>
          </a:xfrm>
          <a:prstGeom prst="rect">
            <a:avLst/>
          </a:prstGeom>
          <a:noFill/>
          <a:ln w="9525">
            <a:noFill/>
            <a:miter lim="800000"/>
            <a:headEnd/>
            <a:tailEnd/>
          </a:ln>
          <a:effectLst/>
        </p:spPr>
      </p:pic>
      <p:pic>
        <p:nvPicPr>
          <p:cNvPr id="154626" name="Picture 2"/>
          <p:cNvPicPr>
            <a:picLocks noChangeAspect="1" noChangeArrowheads="1"/>
          </p:cNvPicPr>
          <p:nvPr/>
        </p:nvPicPr>
        <p:blipFill>
          <a:blip r:embed="rId4" cstate="print"/>
          <a:srcRect/>
          <a:stretch>
            <a:fillRect/>
          </a:stretch>
        </p:blipFill>
        <p:spPr bwMode="auto">
          <a:xfrm>
            <a:off x="1645920" y="3503295"/>
            <a:ext cx="1524000" cy="552450"/>
          </a:xfrm>
          <a:prstGeom prst="rect">
            <a:avLst/>
          </a:prstGeom>
          <a:noFill/>
          <a:ln w="9525">
            <a:noFill/>
            <a:miter lim="800000"/>
            <a:headEnd/>
            <a:tailEnd/>
          </a:ln>
          <a:effectLst/>
        </p:spPr>
      </p:pic>
      <p:pic>
        <p:nvPicPr>
          <p:cNvPr id="154627" name="Picture 3"/>
          <p:cNvPicPr>
            <a:picLocks noChangeAspect="1" noChangeArrowheads="1"/>
          </p:cNvPicPr>
          <p:nvPr/>
        </p:nvPicPr>
        <p:blipFill>
          <a:blip r:embed="rId5" cstate="print"/>
          <a:srcRect/>
          <a:stretch>
            <a:fillRect/>
          </a:stretch>
        </p:blipFill>
        <p:spPr bwMode="auto">
          <a:xfrm>
            <a:off x="1907859" y="4193859"/>
            <a:ext cx="1079181" cy="1079181"/>
          </a:xfrm>
          <a:prstGeom prst="rect">
            <a:avLst/>
          </a:prstGeom>
          <a:noFill/>
          <a:ln w="9525">
            <a:noFill/>
            <a:miter lim="800000"/>
            <a:headEnd/>
            <a:tailEnd/>
          </a:ln>
          <a:effectLst/>
        </p:spPr>
      </p:pic>
      <p:pic>
        <p:nvPicPr>
          <p:cNvPr id="154628" name="Picture 4"/>
          <p:cNvPicPr>
            <a:picLocks noChangeAspect="1" noChangeArrowheads="1"/>
          </p:cNvPicPr>
          <p:nvPr/>
        </p:nvPicPr>
        <p:blipFill>
          <a:blip r:embed="rId6" cstate="print"/>
          <a:srcRect/>
          <a:stretch>
            <a:fillRect/>
          </a:stretch>
        </p:blipFill>
        <p:spPr bwMode="auto">
          <a:xfrm>
            <a:off x="1973580" y="5367338"/>
            <a:ext cx="937260" cy="820103"/>
          </a:xfrm>
          <a:prstGeom prst="rect">
            <a:avLst/>
          </a:prstGeom>
          <a:noFill/>
          <a:ln w="9525">
            <a:noFill/>
            <a:miter lim="800000"/>
            <a:headEnd/>
            <a:tailEnd/>
          </a:ln>
          <a:effectLst/>
        </p:spPr>
      </p:pic>
      <p:sp>
        <p:nvSpPr>
          <p:cNvPr id="10" name="矩形 7"/>
          <p:cNvSpPr>
            <a:spLocks noChangeArrowheads="1"/>
          </p:cNvSpPr>
          <p:nvPr/>
        </p:nvSpPr>
        <p:spPr bwMode="auto">
          <a:xfrm>
            <a:off x="3213685" y="1476619"/>
            <a:ext cx="751345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因果图中的</a:t>
            </a:r>
            <a:r>
              <a:rPr lang="en-US" altLang="en-US" b="1" dirty="0">
                <a:solidFill>
                  <a:srgbClr val="E67819"/>
                </a:solidFill>
                <a:latin typeface="微软雅黑" panose="020B0503020204020204" charset="-122"/>
                <a:ea typeface="微软雅黑" panose="020B0503020204020204" charset="-122"/>
              </a:rPr>
              <a:t>4</a:t>
            </a:r>
            <a:r>
              <a:rPr lang="zh-CN" altLang="en-US" b="1" dirty="0">
                <a:solidFill>
                  <a:srgbClr val="E67819"/>
                </a:solidFill>
                <a:latin typeface="微软雅黑" panose="020B0503020204020204" charset="-122"/>
                <a:ea typeface="微软雅黑" panose="020B0503020204020204" charset="-122"/>
              </a:rPr>
              <a:t>种逻辑关系：</a:t>
            </a:r>
          </a:p>
        </p:txBody>
      </p:sp>
    </p:spTree>
  </p:cSld>
  <p:clrMapOvr>
    <a:masterClrMapping/>
  </p:clrMapOvr>
  <p:transition>
    <p:pull dir="rd"/>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11520000" cy="535531"/>
          </a:xfrm>
        </p:spPr>
        <p:txBody>
          <a:bodyPr/>
          <a:lstStyle/>
          <a:p>
            <a:r>
              <a:rPr lang="en-US" dirty="0"/>
              <a:t>4.5 </a:t>
            </a:r>
            <a:r>
              <a:rPr lang="zh-CN" altLang="en-US" dirty="0"/>
              <a:t>设计软件测试方案</a:t>
            </a:r>
            <a:endParaRPr lang="zh-CN" altLang="en-US" dirty="0">
              <a:sym typeface="+mn-ea"/>
            </a:endParaRPr>
          </a:p>
        </p:txBody>
      </p:sp>
      <p:sp>
        <p:nvSpPr>
          <p:cNvPr id="4" name="文本占位符 3">
            <a:extLst>
              <a:ext uri="{FF2B5EF4-FFF2-40B4-BE49-F238E27FC236}">
                <a16:creationId xmlns:a16="http://schemas.microsoft.com/office/drawing/2014/main" id="{0D4748DA-3527-107B-E1D1-64EBF84ECFA1}"/>
              </a:ext>
            </a:extLst>
          </p:cNvPr>
          <p:cNvSpPr>
            <a:spLocks noGrp="1"/>
          </p:cNvSpPr>
          <p:nvPr>
            <p:ph type="body" sz="quarter" idx="10"/>
          </p:nvPr>
        </p:nvSpPr>
        <p:spPr>
          <a:xfrm>
            <a:off x="696000" y="1322832"/>
            <a:ext cx="11160000" cy="400110"/>
          </a:xfrm>
        </p:spPr>
        <p:txBody>
          <a:bodyPr/>
          <a:lstStyle/>
          <a:p>
            <a:r>
              <a:rPr lang="en-US" altLang="zh-CN" dirty="0"/>
              <a:t>4.5.6 </a:t>
            </a:r>
            <a:r>
              <a:rPr lang="zh-CN" altLang="en-US" dirty="0"/>
              <a:t>因果图法</a:t>
            </a:r>
          </a:p>
        </p:txBody>
      </p:sp>
      <p:sp>
        <p:nvSpPr>
          <p:cNvPr id="13" name="文本占位符 12">
            <a:extLst>
              <a:ext uri="{FF2B5EF4-FFF2-40B4-BE49-F238E27FC236}">
                <a16:creationId xmlns:a16="http://schemas.microsoft.com/office/drawing/2014/main" id="{24F03EBC-8A95-9EEB-73AA-2CB4D7AABA79}"/>
              </a:ext>
            </a:extLst>
          </p:cNvPr>
          <p:cNvSpPr>
            <a:spLocks noGrp="1"/>
          </p:cNvSpPr>
          <p:nvPr>
            <p:ph type="body" sz="quarter" idx="11"/>
          </p:nvPr>
        </p:nvSpPr>
        <p:spPr/>
        <p:txBody>
          <a:bodyPr/>
          <a:lstStyle/>
          <a:p>
            <a:endParaRPr lang="zh-CN" altLang="en-US"/>
          </a:p>
        </p:txBody>
      </p:sp>
      <p:graphicFrame>
        <p:nvGraphicFramePr>
          <p:cNvPr id="6" name="表格 5"/>
          <p:cNvGraphicFramePr>
            <a:graphicFrameLocks noGrp="1"/>
          </p:cNvGraphicFramePr>
          <p:nvPr/>
        </p:nvGraphicFramePr>
        <p:xfrm>
          <a:off x="944880" y="2087880"/>
          <a:ext cx="10026650" cy="4130040"/>
        </p:xfrm>
        <a:graphic>
          <a:graphicData uri="http://schemas.openxmlformats.org/drawingml/2006/table">
            <a:tbl>
              <a:tblPr firstRow="1" firstCol="1" bandRow="1">
                <a:tableStyleId>{F5AB1C69-6EDB-4FF4-983F-18BD219EF322}</a:tableStyleId>
              </a:tblPr>
              <a:tblGrid>
                <a:gridCol w="1932305">
                  <a:extLst>
                    <a:ext uri="{9D8B030D-6E8A-4147-A177-3AD203B41FA5}">
                      <a16:colId xmlns:a16="http://schemas.microsoft.com/office/drawing/2014/main" val="20000"/>
                    </a:ext>
                  </a:extLst>
                </a:gridCol>
                <a:gridCol w="3477895">
                  <a:extLst>
                    <a:ext uri="{9D8B030D-6E8A-4147-A177-3AD203B41FA5}">
                      <a16:colId xmlns:a16="http://schemas.microsoft.com/office/drawing/2014/main" val="20001"/>
                    </a:ext>
                  </a:extLst>
                </a:gridCol>
                <a:gridCol w="1928495">
                  <a:extLst>
                    <a:ext uri="{9D8B030D-6E8A-4147-A177-3AD203B41FA5}">
                      <a16:colId xmlns:a16="http://schemas.microsoft.com/office/drawing/2014/main" val="20002"/>
                    </a:ext>
                  </a:extLst>
                </a:gridCol>
                <a:gridCol w="2687955">
                  <a:extLst>
                    <a:ext uri="{9D8B030D-6E8A-4147-A177-3AD203B41FA5}">
                      <a16:colId xmlns:a16="http://schemas.microsoft.com/office/drawing/2014/main" val="20003"/>
                    </a:ext>
                  </a:extLst>
                </a:gridCol>
              </a:tblGrid>
              <a:tr h="563880">
                <a:tc>
                  <a:txBody>
                    <a:bodyPr/>
                    <a:lstStyle/>
                    <a:p>
                      <a:pPr algn="ctr">
                        <a:lnSpc>
                          <a:spcPct val="115000"/>
                        </a:lnSpc>
                        <a:spcAft>
                          <a:spcPts val="0"/>
                        </a:spcAft>
                      </a:pPr>
                      <a:r>
                        <a:rPr lang="zh-CN" altLang="en-US" sz="2000" kern="100" dirty="0">
                          <a:effectLst/>
                          <a:latin typeface="Times New Roman" panose="02020603050405020304" pitchFamily="18" charset="0"/>
                        </a:rPr>
                        <a:t>符号</a:t>
                      </a:r>
                      <a:endParaRPr lang="zh-CN" altLang="en-US" sz="2000" kern="100" dirty="0">
                        <a:effectLst/>
                        <a:latin typeface="微软雅黑" panose="020B0503020204020204" charset="-122"/>
                        <a:ea typeface="微软雅黑" panose="020B0503020204020204" charset="-122"/>
                      </a:endParaRPr>
                    </a:p>
                  </a:txBody>
                  <a:tcPr marL="68580" marR="68580" marT="0" marB="0" anchor="ctr"/>
                </a:tc>
                <a:tc>
                  <a:txBody>
                    <a:bodyPr/>
                    <a:lstStyle/>
                    <a:p>
                      <a:pPr algn="ctr">
                        <a:lnSpc>
                          <a:spcPct val="115000"/>
                        </a:lnSpc>
                        <a:spcAft>
                          <a:spcPts val="0"/>
                        </a:spcAft>
                      </a:pPr>
                      <a:r>
                        <a:rPr lang="zh-CN" sz="2000" kern="100" dirty="0">
                          <a:effectLst/>
                          <a:latin typeface="Times New Roman" panose="02020603050405020304" pitchFamily="18" charset="0"/>
                        </a:rPr>
                        <a:t>表示内容</a:t>
                      </a:r>
                      <a:endParaRPr lang="zh-CN" sz="2000" kern="100" dirty="0">
                        <a:effectLst/>
                        <a:latin typeface="微软雅黑" panose="020B0503020204020204" charset="-122"/>
                        <a:ea typeface="微软雅黑" panose="020B0503020204020204" charset="-122"/>
                      </a:endParaRPr>
                    </a:p>
                  </a:txBody>
                  <a:tcPr marL="68580" marR="68580" marT="0" marB="0" anchor="ctr"/>
                </a:tc>
                <a:tc>
                  <a:txBody>
                    <a:bodyPr/>
                    <a:lstStyle/>
                    <a:p>
                      <a:pPr algn="ctr">
                        <a:lnSpc>
                          <a:spcPct val="115000"/>
                        </a:lnSpc>
                        <a:spcAft>
                          <a:spcPts val="0"/>
                        </a:spcAft>
                        <a:buNone/>
                      </a:pPr>
                      <a:r>
                        <a:rPr lang="zh-CN" altLang="en-US" sz="2000" kern="100" dirty="0">
                          <a:effectLst/>
                          <a:latin typeface="Times New Roman" panose="02020603050405020304" pitchFamily="18" charset="0"/>
                        </a:rPr>
                        <a:t>符号</a:t>
                      </a:r>
                      <a:endParaRPr lang="zh-CN" altLang="en-US" sz="2000" kern="100" dirty="0">
                        <a:effectLst/>
                        <a:latin typeface="微软雅黑" panose="020B0503020204020204" charset="-122"/>
                        <a:ea typeface="微软雅黑" panose="020B0503020204020204" charset="-122"/>
                      </a:endParaRPr>
                    </a:p>
                  </a:txBody>
                  <a:tcPr marL="68580" marR="68580" marT="0" marB="0" anchor="ctr"/>
                </a:tc>
                <a:tc>
                  <a:txBody>
                    <a:bodyPr/>
                    <a:lstStyle/>
                    <a:p>
                      <a:pPr algn="ctr">
                        <a:lnSpc>
                          <a:spcPct val="115000"/>
                        </a:lnSpc>
                        <a:spcAft>
                          <a:spcPts val="0"/>
                        </a:spcAft>
                        <a:buNone/>
                      </a:pPr>
                      <a:r>
                        <a:rPr lang="zh-CN" altLang="en-US" sz="2000" kern="100" dirty="0">
                          <a:effectLst/>
                          <a:latin typeface="Times New Roman" panose="02020603050405020304" pitchFamily="18" charset="0"/>
                        </a:rPr>
                        <a:t>表示内容</a:t>
                      </a:r>
                      <a:endParaRPr lang="zh-CN" altLang="en-US" sz="2000" kern="100" dirty="0">
                        <a:effectLst/>
                        <a:latin typeface="微软雅黑" panose="020B0503020204020204" charset="-122"/>
                        <a:ea typeface="微软雅黑" panose="020B0503020204020204" charset="-122"/>
                      </a:endParaRPr>
                    </a:p>
                  </a:txBody>
                  <a:tcPr marL="68580" marR="68580" marT="0" marB="0" anchor="ctr"/>
                </a:tc>
                <a:extLst>
                  <a:ext uri="{0D108BD9-81ED-4DB2-BD59-A6C34878D82A}">
                    <a16:rowId xmlns:a16="http://schemas.microsoft.com/office/drawing/2014/main" val="10000"/>
                  </a:ext>
                </a:extLst>
              </a:tr>
              <a:tr h="1096051">
                <a:tc>
                  <a:txBody>
                    <a:bodyPr/>
                    <a:lstStyle/>
                    <a:p>
                      <a:pPr algn="ctr">
                        <a:lnSpc>
                          <a:spcPct val="115000"/>
                        </a:lnSpc>
                        <a:spcAft>
                          <a:spcPts val="0"/>
                        </a:spcAft>
                      </a:pPr>
                      <a:endParaRPr lang="zh-CN" sz="1800" kern="100" dirty="0">
                        <a:effectLst/>
                        <a:latin typeface="微软雅黑" panose="020B0503020204020204" charset="-122"/>
                        <a:ea typeface="微软雅黑" panose="020B0503020204020204" charset="-122"/>
                      </a:endParaRPr>
                    </a:p>
                  </a:txBody>
                  <a:tcPr marL="68580" marR="68580" marT="0" marB="0" anchor="ctr"/>
                </a:tc>
                <a:tc>
                  <a:txBody>
                    <a:bodyPr/>
                    <a:lstStyle/>
                    <a:p>
                      <a:pPr marL="285750" marR="0" indent="-285750" algn="just"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lang="zh-CN" altLang="en-US" sz="2000" kern="100" dirty="0">
                          <a:effectLst/>
                          <a:latin typeface="Times New Roman" panose="02020603050405020304" pitchFamily="18" charset="0"/>
                        </a:rPr>
                        <a:t>异约束：</a:t>
                      </a:r>
                      <a:r>
                        <a:rPr sz="2000" kern="100" dirty="0">
                          <a:effectLst/>
                        </a:rPr>
                        <a:t>a和b只有一个可能为1，不能同时为1。</a:t>
                      </a:r>
                      <a:endParaRPr sz="2000" kern="100" dirty="0">
                        <a:solidFill>
                          <a:srgbClr val="5F5E5C"/>
                        </a:solidFill>
                        <a:effectLst/>
                        <a:latin typeface="微软雅黑" panose="020B0503020204020204" charset="-122"/>
                        <a:ea typeface="微软雅黑" panose="020B0503020204020204" charset="-122"/>
                      </a:endParaRP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endParaRPr lang="zh-CN" altLang="en-US" sz="1600" kern="100" dirty="0">
                        <a:solidFill>
                          <a:srgbClr val="5F5E5C"/>
                        </a:solidFill>
                        <a:effectLst/>
                        <a:latin typeface="微软雅黑" panose="020B0503020204020204" charset="-122"/>
                        <a:ea typeface="微软雅黑" panose="020B0503020204020204" charset="-122"/>
                      </a:endParaRP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r>
                        <a:rPr lang="zh-CN" altLang="en-US" sz="2000" kern="100" dirty="0">
                          <a:effectLst/>
                          <a:latin typeface="Times New Roman" panose="02020603050405020304" pitchFamily="18" charset="0"/>
                        </a:rPr>
                        <a:t>要求约束：a是1时，b必须是1，不可能为0。</a:t>
                      </a:r>
                      <a:endParaRPr lang="zh-CN" altLang="en-US" sz="2000" kern="100" dirty="0">
                        <a:solidFill>
                          <a:srgbClr val="5F5E5C"/>
                        </a:solidFill>
                        <a:effectLst/>
                        <a:latin typeface="微软雅黑" panose="020B0503020204020204" charset="-122"/>
                        <a:ea typeface="微软雅黑" panose="020B0503020204020204" charset="-122"/>
                      </a:endParaRPr>
                    </a:p>
                  </a:txBody>
                  <a:tcPr marL="68580" marR="68580" marT="0" marB="0" anchor="ctr"/>
                </a:tc>
                <a:extLst>
                  <a:ext uri="{0D108BD9-81ED-4DB2-BD59-A6C34878D82A}">
                    <a16:rowId xmlns:a16="http://schemas.microsoft.com/office/drawing/2014/main" val="10001"/>
                  </a:ext>
                </a:extLst>
              </a:tr>
              <a:tr h="1311869">
                <a:tc>
                  <a:txBody>
                    <a:bodyPr/>
                    <a:lstStyle/>
                    <a:p>
                      <a:pPr algn="ctr">
                        <a:lnSpc>
                          <a:spcPct val="115000"/>
                        </a:lnSpc>
                        <a:spcAft>
                          <a:spcPts val="0"/>
                        </a:spcAft>
                      </a:pPr>
                      <a:endParaRPr lang="zh-CN" sz="1800" kern="100" dirty="0">
                        <a:effectLst/>
                        <a:latin typeface="微软雅黑" panose="020B0503020204020204" charset="-122"/>
                        <a:ea typeface="微软雅黑" panose="020B0503020204020204" charset="-122"/>
                      </a:endParaRP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r>
                        <a:rPr lang="zh-CN" altLang="en-US" sz="2000" kern="100" dirty="0">
                          <a:effectLst/>
                          <a:latin typeface="Times New Roman" panose="02020603050405020304" pitchFamily="18" charset="0"/>
                        </a:rPr>
                        <a:t>或约束：</a:t>
                      </a:r>
                      <a:r>
                        <a:rPr sz="2000" kern="100" dirty="0">
                          <a:effectLst/>
                        </a:rPr>
                        <a:t>a，b，c中至少有一个必须为1，即a，b，c不能同时为0。</a:t>
                      </a:r>
                      <a:endParaRPr sz="2000" kern="100" dirty="0">
                        <a:solidFill>
                          <a:srgbClr val="5F5E5C"/>
                        </a:solidFill>
                        <a:effectLst/>
                        <a:latin typeface="微软雅黑" panose="020B0503020204020204" charset="-122"/>
                        <a:ea typeface="微软雅黑" panose="020B0503020204020204" charset="-122"/>
                      </a:endParaRP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endParaRPr lang="zh-CN" altLang="en-US" sz="1600" kern="100" dirty="0">
                        <a:solidFill>
                          <a:srgbClr val="5F5E5C"/>
                        </a:solidFill>
                        <a:effectLst/>
                        <a:latin typeface="微软雅黑" panose="020B0503020204020204" charset="-122"/>
                        <a:ea typeface="微软雅黑" panose="020B0503020204020204" charset="-122"/>
                      </a:endParaRP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r>
                        <a:rPr lang="zh-CN" altLang="en-US" sz="2000" kern="100" dirty="0">
                          <a:effectLst/>
                          <a:latin typeface="Times New Roman" panose="02020603050405020304" pitchFamily="18" charset="0"/>
                        </a:rPr>
                        <a:t>强制约束：若结果a是1，则结果b强制为0。</a:t>
                      </a:r>
                      <a:endParaRPr lang="zh-CN" altLang="en-US" sz="2000" kern="100" dirty="0">
                        <a:solidFill>
                          <a:srgbClr val="5F5E5C"/>
                        </a:solidFill>
                        <a:effectLst/>
                        <a:latin typeface="微软雅黑" panose="020B0503020204020204" charset="-122"/>
                        <a:ea typeface="微软雅黑" panose="020B0503020204020204" charset="-122"/>
                      </a:endParaRPr>
                    </a:p>
                  </a:txBody>
                  <a:tcPr marL="68580" marR="68580" marT="0" marB="0" anchor="ctr"/>
                </a:tc>
                <a:extLst>
                  <a:ext uri="{0D108BD9-81ED-4DB2-BD59-A6C34878D82A}">
                    <a16:rowId xmlns:a16="http://schemas.microsoft.com/office/drawing/2014/main" val="10002"/>
                  </a:ext>
                </a:extLst>
              </a:tr>
              <a:tr h="1158240">
                <a:tc>
                  <a:txBody>
                    <a:bodyPr/>
                    <a:lstStyle/>
                    <a:p>
                      <a:pPr algn="ctr">
                        <a:lnSpc>
                          <a:spcPct val="115000"/>
                        </a:lnSpc>
                        <a:spcAft>
                          <a:spcPts val="0"/>
                        </a:spcAft>
                      </a:pPr>
                      <a:endParaRPr lang="zh-CN" sz="1800" kern="100" dirty="0">
                        <a:effectLst/>
                        <a:latin typeface="微软雅黑" panose="020B0503020204020204" charset="-122"/>
                        <a:ea typeface="微软雅黑" panose="020B0503020204020204" charset="-122"/>
                      </a:endParaRP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r>
                        <a:rPr lang="zh-CN" altLang="en-US" sz="2000" kern="100" dirty="0">
                          <a:effectLst/>
                          <a:latin typeface="Times New Roman" panose="02020603050405020304" pitchFamily="18" charset="0"/>
                        </a:rPr>
                        <a:t>唯一约束：a和b中必须有一个为1，且只有一个为1。</a:t>
                      </a:r>
                      <a:endParaRPr lang="zh-CN" altLang="en-US" sz="2000" kern="100" dirty="0">
                        <a:solidFill>
                          <a:srgbClr val="5F5E5C"/>
                        </a:solidFill>
                        <a:effectLst/>
                        <a:latin typeface="微软雅黑" panose="020B0503020204020204" charset="-122"/>
                        <a:ea typeface="微软雅黑" panose="020B0503020204020204" charset="-122"/>
                      </a:endParaRP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endParaRPr lang="zh-CN" altLang="en-US" sz="1600" kern="100" dirty="0">
                        <a:solidFill>
                          <a:srgbClr val="5F5E5C"/>
                        </a:solidFill>
                        <a:effectLst/>
                        <a:latin typeface="微软雅黑" panose="020B0503020204020204" charset="-122"/>
                        <a:ea typeface="微软雅黑" panose="020B0503020204020204" charset="-122"/>
                      </a:endParaRP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endParaRPr lang="zh-CN" altLang="en-US" sz="1600" kern="100" dirty="0">
                        <a:solidFill>
                          <a:srgbClr val="5F5E5C"/>
                        </a:solidFill>
                        <a:effectLst/>
                        <a:latin typeface="微软雅黑" panose="020B0503020204020204" charset="-122"/>
                        <a:ea typeface="微软雅黑" panose="020B0503020204020204" charset="-122"/>
                      </a:endParaRPr>
                    </a:p>
                  </a:txBody>
                  <a:tcPr marL="68580" marR="68580" marT="0" marB="0" anchor="ctr"/>
                </a:tc>
                <a:extLst>
                  <a:ext uri="{0D108BD9-81ED-4DB2-BD59-A6C34878D82A}">
                    <a16:rowId xmlns:a16="http://schemas.microsoft.com/office/drawing/2014/main" val="10003"/>
                  </a:ext>
                </a:extLst>
              </a:tr>
            </a:tbl>
          </a:graphicData>
        </a:graphic>
      </p:graphicFrame>
      <p:pic>
        <p:nvPicPr>
          <p:cNvPr id="152577" name="Picture 1"/>
          <p:cNvPicPr>
            <a:picLocks noChangeAspect="1" noChangeArrowheads="1"/>
          </p:cNvPicPr>
          <p:nvPr/>
        </p:nvPicPr>
        <p:blipFill>
          <a:blip r:embed="rId3" cstate="print"/>
          <a:srcRect/>
          <a:stretch>
            <a:fillRect/>
          </a:stretch>
        </p:blipFill>
        <p:spPr bwMode="auto">
          <a:xfrm>
            <a:off x="1359218" y="2695575"/>
            <a:ext cx="1304925" cy="1009650"/>
          </a:xfrm>
          <a:prstGeom prst="rect">
            <a:avLst/>
          </a:prstGeom>
          <a:noFill/>
          <a:ln w="9525">
            <a:noFill/>
            <a:miter lim="800000"/>
            <a:headEnd/>
            <a:tailEnd/>
          </a:ln>
          <a:effectLst/>
        </p:spPr>
      </p:pic>
      <p:pic>
        <p:nvPicPr>
          <p:cNvPr id="152578" name="Picture 2"/>
          <p:cNvPicPr>
            <a:picLocks noChangeAspect="1" noChangeArrowheads="1"/>
          </p:cNvPicPr>
          <p:nvPr/>
        </p:nvPicPr>
        <p:blipFill>
          <a:blip r:embed="rId4" cstate="print"/>
          <a:srcRect/>
          <a:stretch>
            <a:fillRect/>
          </a:stretch>
        </p:blipFill>
        <p:spPr bwMode="auto">
          <a:xfrm>
            <a:off x="1508759" y="3788846"/>
            <a:ext cx="1064895" cy="1231782"/>
          </a:xfrm>
          <a:prstGeom prst="rect">
            <a:avLst/>
          </a:prstGeom>
          <a:noFill/>
          <a:ln w="9525">
            <a:noFill/>
            <a:miter lim="800000"/>
            <a:headEnd/>
            <a:tailEnd/>
          </a:ln>
          <a:effectLst/>
        </p:spPr>
      </p:pic>
      <p:pic>
        <p:nvPicPr>
          <p:cNvPr id="152579" name="Picture 3"/>
          <p:cNvPicPr>
            <a:picLocks noChangeAspect="1" noChangeArrowheads="1"/>
          </p:cNvPicPr>
          <p:nvPr/>
        </p:nvPicPr>
        <p:blipFill>
          <a:blip r:embed="rId5" cstate="print"/>
          <a:srcRect/>
          <a:stretch>
            <a:fillRect/>
          </a:stretch>
        </p:blipFill>
        <p:spPr bwMode="auto">
          <a:xfrm>
            <a:off x="1503045" y="5067300"/>
            <a:ext cx="1047750" cy="1143000"/>
          </a:xfrm>
          <a:prstGeom prst="rect">
            <a:avLst/>
          </a:prstGeom>
          <a:noFill/>
          <a:ln w="9525">
            <a:noFill/>
            <a:miter lim="800000"/>
            <a:headEnd/>
            <a:tailEnd/>
          </a:ln>
          <a:effectLst/>
        </p:spPr>
      </p:pic>
      <p:pic>
        <p:nvPicPr>
          <p:cNvPr id="152580" name="Picture 4"/>
          <p:cNvPicPr>
            <a:picLocks noChangeAspect="1" noChangeArrowheads="1"/>
          </p:cNvPicPr>
          <p:nvPr/>
        </p:nvPicPr>
        <p:blipFill>
          <a:blip r:embed="rId6" cstate="print"/>
          <a:srcRect/>
          <a:stretch>
            <a:fillRect/>
          </a:stretch>
        </p:blipFill>
        <p:spPr bwMode="auto">
          <a:xfrm>
            <a:off x="6672263" y="2709863"/>
            <a:ext cx="1133475" cy="993457"/>
          </a:xfrm>
          <a:prstGeom prst="rect">
            <a:avLst/>
          </a:prstGeom>
          <a:noFill/>
          <a:ln w="9525">
            <a:noFill/>
            <a:miter lim="800000"/>
            <a:headEnd/>
            <a:tailEnd/>
          </a:ln>
          <a:effectLst/>
        </p:spPr>
      </p:pic>
      <p:pic>
        <p:nvPicPr>
          <p:cNvPr id="152581" name="Picture 5"/>
          <p:cNvPicPr>
            <a:picLocks noChangeAspect="1" noChangeArrowheads="1"/>
          </p:cNvPicPr>
          <p:nvPr/>
        </p:nvPicPr>
        <p:blipFill>
          <a:blip r:embed="rId7" cstate="print"/>
          <a:srcRect/>
          <a:stretch>
            <a:fillRect/>
          </a:stretch>
        </p:blipFill>
        <p:spPr bwMode="auto">
          <a:xfrm>
            <a:off x="6805613" y="3798570"/>
            <a:ext cx="866775" cy="1181100"/>
          </a:xfrm>
          <a:prstGeom prst="rect">
            <a:avLst/>
          </a:prstGeom>
          <a:noFill/>
          <a:ln w="9525">
            <a:noFill/>
            <a:miter lim="800000"/>
            <a:headEnd/>
            <a:tailEnd/>
          </a:ln>
          <a:effectLst/>
        </p:spPr>
      </p:pic>
      <p:sp>
        <p:nvSpPr>
          <p:cNvPr id="11" name="矩形 7"/>
          <p:cNvSpPr>
            <a:spLocks noChangeArrowheads="1"/>
          </p:cNvSpPr>
          <p:nvPr/>
        </p:nvSpPr>
        <p:spPr bwMode="auto">
          <a:xfrm>
            <a:off x="3213685" y="1476619"/>
            <a:ext cx="751345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输入条件的约束有以下几种：</a:t>
            </a:r>
          </a:p>
        </p:txBody>
      </p:sp>
    </p:spTree>
  </p:cSld>
  <p:clrMapOvr>
    <a:masterClrMapping/>
  </p:clrMapOvr>
  <p:transition>
    <p:pull dir="rd"/>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11520000" cy="535531"/>
          </a:xfrm>
        </p:spPr>
        <p:txBody>
          <a:bodyPr/>
          <a:lstStyle/>
          <a:p>
            <a:r>
              <a:rPr lang="en-US" dirty="0"/>
              <a:t>4.5 </a:t>
            </a:r>
            <a:r>
              <a:rPr lang="zh-CN" altLang="en-US" dirty="0"/>
              <a:t>设计软件测试方案</a:t>
            </a:r>
          </a:p>
        </p:txBody>
      </p:sp>
      <p:grpSp>
        <p:nvGrpSpPr>
          <p:cNvPr id="2" name="组合 1"/>
          <p:cNvGrpSpPr/>
          <p:nvPr/>
        </p:nvGrpSpPr>
        <p:grpSpPr>
          <a:xfrm>
            <a:off x="737235" y="1403985"/>
            <a:ext cx="10574655" cy="3609975"/>
            <a:chOff x="1275" y="2210"/>
            <a:chExt cx="16653" cy="5685"/>
          </a:xfrm>
        </p:grpSpPr>
        <p:sp>
          <p:nvSpPr>
            <p:cNvPr id="19" name="TextBox 6"/>
            <p:cNvSpPr txBox="1"/>
            <p:nvPr/>
          </p:nvSpPr>
          <p:spPr>
            <a:xfrm>
              <a:off x="1275" y="2210"/>
              <a:ext cx="13695" cy="892"/>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案例</a:t>
              </a:r>
            </a:p>
          </p:txBody>
        </p:sp>
        <p:grpSp>
          <p:nvGrpSpPr>
            <p:cNvPr id="5" name="组合 4"/>
            <p:cNvGrpSpPr/>
            <p:nvPr/>
          </p:nvGrpSpPr>
          <p:grpSpPr>
            <a:xfrm>
              <a:off x="1499" y="3150"/>
              <a:ext cx="16429" cy="4745"/>
              <a:chOff x="1499" y="3150"/>
              <a:chExt cx="16429" cy="4745"/>
            </a:xfrm>
          </p:grpSpPr>
          <p:sp>
            <p:nvSpPr>
              <p:cNvPr id="22" name="TextBox 21"/>
              <p:cNvSpPr txBox="1"/>
              <p:nvPr/>
            </p:nvSpPr>
            <p:spPr>
              <a:xfrm>
                <a:off x="3431" y="3419"/>
                <a:ext cx="13522" cy="624"/>
              </a:xfrm>
              <a:prstGeom prst="rect">
                <a:avLst/>
              </a:prstGeom>
              <a:noFill/>
            </p:spPr>
            <p:txBody>
              <a:bodyPr wrap="square">
                <a:spAutoFit/>
              </a:bodyPr>
              <a:lstStyle/>
              <a:p>
                <a:r>
                  <a:rPr sz="2000" dirty="0">
                    <a:latin typeface="Times New Roman" panose="02020603050405020304" pitchFamily="18" charset="0"/>
                    <a:sym typeface="+mn-ea"/>
                  </a:rPr>
                  <a:t>用因果图法设计测试用例。</a:t>
                </a:r>
              </a:p>
            </p:txBody>
          </p:sp>
          <p:sp>
            <p:nvSpPr>
              <p:cNvPr id="24" name="矩形 23"/>
              <p:cNvSpPr>
                <a:spLocks noChangeAspect="1"/>
              </p:cNvSpPr>
              <p:nvPr/>
            </p:nvSpPr>
            <p:spPr>
              <a:xfrm>
                <a:off x="1499" y="4275"/>
                <a:ext cx="16429" cy="3620"/>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3"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altLang="en-US" sz="2400" dirty="0">
                      <a:solidFill>
                        <a:schemeClr val="bg1"/>
                      </a:solidFill>
                      <a:latin typeface="Times New Roman" panose="02020603050405020304" pitchFamily="18" charset="0"/>
                      <a:sym typeface="+mn-ea"/>
                    </a:rPr>
                    <a:t>例 </a:t>
                  </a:r>
                  <a:r>
                    <a:rPr lang="en-US" altLang="zh-CN" sz="2400" dirty="0">
                      <a:solidFill>
                        <a:schemeClr val="bg1"/>
                      </a:solidFill>
                      <a:latin typeface="Times New Roman" panose="02020603050405020304" pitchFamily="18" charset="0"/>
                      <a:sym typeface="+mn-ea"/>
                    </a:rPr>
                    <a:t>4-3</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946" y="4595"/>
                <a:ext cx="15536" cy="2981"/>
              </a:xfrm>
              <a:prstGeom prst="rect">
                <a:avLst/>
              </a:prstGeom>
              <a:solidFill>
                <a:schemeClr val="bg1">
                  <a:lumMod val="95000"/>
                </a:schemeClr>
              </a:solidFill>
            </p:spPr>
            <p:txBody>
              <a:bodyPr wrap="square">
                <a:spAutoFit/>
              </a:bodyPr>
              <a:lstStyle/>
              <a:p>
                <a:pPr fontAlgn="auto">
                  <a:lnSpc>
                    <a:spcPct val="130000"/>
                  </a:lnSpc>
                </a:pPr>
                <a:endParaRPr lang="en-US" altLang="en-US" dirty="0">
                  <a:latin typeface="Times New Roman" panose="02020603050405020304" charset="0"/>
                  <a:ea typeface="微软雅黑 Light" panose="020B0502040204020203" pitchFamily="34" charset="-122"/>
                </a:endParaRPr>
              </a:p>
              <a:p>
                <a:pPr fontAlgn="auto">
                  <a:lnSpc>
                    <a:spcPct val="130000"/>
                  </a:lnSpc>
                </a:pPr>
                <a:endParaRPr lang="en-US" altLang="en-US" dirty="0">
                  <a:latin typeface="Times New Roman" panose="02020603050405020304" charset="0"/>
                  <a:ea typeface="微软雅黑 Light" panose="020B0502040204020203" pitchFamily="34" charset="-122"/>
                </a:endParaRPr>
              </a:p>
              <a:p>
                <a:pPr fontAlgn="auto">
                  <a:lnSpc>
                    <a:spcPct val="130000"/>
                  </a:lnSpc>
                </a:pPr>
                <a:endParaRPr lang="en-US" altLang="en-US" dirty="0">
                  <a:latin typeface="Times New Roman" panose="02020603050405020304" charset="0"/>
                  <a:ea typeface="微软雅黑 Light" panose="020B0502040204020203" pitchFamily="34" charset="-122"/>
                </a:endParaRPr>
              </a:p>
              <a:p>
                <a:pPr fontAlgn="auto">
                  <a:lnSpc>
                    <a:spcPct val="130000"/>
                  </a:lnSpc>
                </a:pPr>
                <a:endParaRPr lang="en-US" altLang="en-US" dirty="0">
                  <a:latin typeface="Times New Roman" panose="02020603050405020304" charset="0"/>
                  <a:ea typeface="微软雅黑 Light" panose="020B0502040204020203" pitchFamily="34" charset="-122"/>
                </a:endParaRPr>
              </a:p>
              <a:p>
                <a:pPr fontAlgn="auto">
                  <a:lnSpc>
                    <a:spcPct val="130000"/>
                  </a:lnSpc>
                </a:pPr>
                <a:endParaRPr lang="en-US" altLang="en-US" dirty="0">
                  <a:latin typeface="Times New Roman" panose="02020603050405020304" charset="0"/>
                  <a:ea typeface="微软雅黑 Light" panose="020B0502040204020203" pitchFamily="34" charset="-122"/>
                </a:endParaRPr>
              </a:p>
            </p:txBody>
          </p:sp>
        </p:grpSp>
      </p:grpSp>
      <p:sp>
        <p:nvSpPr>
          <p:cNvPr id="13" name="矩形 12"/>
          <p:cNvSpPr/>
          <p:nvPr/>
        </p:nvSpPr>
        <p:spPr>
          <a:xfrm>
            <a:off x="1402080" y="3214107"/>
            <a:ext cx="9220200" cy="1172629"/>
          </a:xfrm>
          <a:prstGeom prst="rect">
            <a:avLst/>
          </a:prstGeom>
        </p:spPr>
        <p:txBody>
          <a:bodyPr wrap="square">
            <a:spAutoFit/>
          </a:bodyPr>
          <a:lstStyle/>
          <a:p>
            <a:pPr fontAlgn="auto">
              <a:lnSpc>
                <a:spcPct val="130000"/>
              </a:lnSpc>
            </a:pPr>
            <a:r>
              <a:rPr lang="zh-CN" altLang="en-US" dirty="0">
                <a:latin typeface="Times New Roman" panose="02020603050405020304" charset="0"/>
                <a:ea typeface="微软雅黑 Light" panose="020B0502040204020203" pitchFamily="34" charset="-122"/>
              </a:rPr>
              <a:t>        某规格说明如下：输入的第一列字符必须是</a:t>
            </a:r>
            <a:r>
              <a:rPr lang="en-US" altLang="zh-CN" dirty="0">
                <a:latin typeface="Times New Roman" panose="02020603050405020304" charset="0"/>
                <a:ea typeface="微软雅黑 Light" panose="020B0502040204020203" pitchFamily="34" charset="-122"/>
              </a:rPr>
              <a:t>A</a:t>
            </a:r>
            <a:r>
              <a:rPr lang="zh-CN" altLang="en-US" dirty="0">
                <a:latin typeface="Times New Roman" panose="02020603050405020304" charset="0"/>
                <a:ea typeface="微软雅黑 Light" panose="020B0502040204020203" pitchFamily="34" charset="-122"/>
              </a:rPr>
              <a:t>或</a:t>
            </a:r>
            <a:r>
              <a:rPr lang="en-US" altLang="zh-CN" dirty="0">
                <a:latin typeface="Times New Roman" panose="02020603050405020304" charset="0"/>
                <a:ea typeface="微软雅黑 Light" panose="020B0502040204020203" pitchFamily="34" charset="-122"/>
              </a:rPr>
              <a:t>B</a:t>
            </a:r>
            <a:r>
              <a:rPr lang="zh-CN" altLang="en-US" dirty="0">
                <a:latin typeface="Times New Roman" panose="02020603050405020304" charset="0"/>
                <a:ea typeface="微软雅黑 Light" panose="020B0502040204020203" pitchFamily="34" charset="-122"/>
              </a:rPr>
              <a:t>，第二列字符必须是一个数字。第一、二列都满足条件时执行操作</a:t>
            </a:r>
            <a:r>
              <a:rPr lang="en-US" altLang="zh-CN" dirty="0">
                <a:latin typeface="Times New Roman" panose="02020603050405020304" charset="0"/>
                <a:ea typeface="微软雅黑 Light" panose="020B0502040204020203" pitchFamily="34" charset="-122"/>
              </a:rPr>
              <a:t>H</a:t>
            </a:r>
            <a:r>
              <a:rPr lang="zh-CN" altLang="en-US" dirty="0">
                <a:latin typeface="Times New Roman" panose="02020603050405020304" charset="0"/>
                <a:ea typeface="微软雅黑 Light" panose="020B0502040204020203" pitchFamily="34" charset="-122"/>
              </a:rPr>
              <a:t>；如果第一列字符不正确，则给出信息</a:t>
            </a:r>
            <a:r>
              <a:rPr lang="en-US" altLang="zh-CN" dirty="0">
                <a:latin typeface="Times New Roman" panose="02020603050405020304" charset="0"/>
                <a:ea typeface="微软雅黑 Light" panose="020B0502040204020203" pitchFamily="34" charset="-122"/>
              </a:rPr>
              <a:t>L</a:t>
            </a:r>
            <a:r>
              <a:rPr lang="zh-CN" altLang="en-US" dirty="0">
                <a:latin typeface="Times New Roman" panose="02020603050405020304" charset="0"/>
                <a:ea typeface="微软雅黑 Light" panose="020B0502040204020203" pitchFamily="34" charset="-122"/>
              </a:rPr>
              <a:t>；如果第二列字符不正确，则给出信息</a:t>
            </a:r>
            <a:r>
              <a:rPr lang="en-US" altLang="zh-CN" dirty="0">
                <a:latin typeface="Times New Roman" panose="02020603050405020304" charset="0"/>
                <a:ea typeface="微软雅黑 Light" panose="020B0502040204020203" pitchFamily="34" charset="-122"/>
              </a:rPr>
              <a:t>R</a:t>
            </a:r>
            <a:r>
              <a:rPr lang="zh-CN" altLang="en-US" dirty="0">
                <a:latin typeface="Times New Roman" panose="02020603050405020304" charset="0"/>
                <a:ea typeface="微软雅黑 Light" panose="020B0502040204020203" pitchFamily="34" charset="-122"/>
              </a:rPr>
              <a:t>。根据上述要求画出因果图，并设计测试用例。</a:t>
            </a:r>
          </a:p>
        </p:txBody>
      </p:sp>
    </p:spTree>
  </p:cSld>
  <p:clrMapOvr>
    <a:masterClrMapping/>
  </p:clrMapOvr>
  <p:transition>
    <p:pull dir="rd"/>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11520000" cy="535531"/>
          </a:xfrm>
        </p:spPr>
        <p:txBody>
          <a:bodyPr/>
          <a:lstStyle/>
          <a:p>
            <a:r>
              <a:rPr lang="en-US" dirty="0"/>
              <a:t>4.5 </a:t>
            </a:r>
            <a:r>
              <a:rPr lang="zh-CN" altLang="en-US" dirty="0"/>
              <a:t>设计软件测试方案</a:t>
            </a:r>
          </a:p>
        </p:txBody>
      </p:sp>
      <p:grpSp>
        <p:nvGrpSpPr>
          <p:cNvPr id="2" name="组合 1"/>
          <p:cNvGrpSpPr/>
          <p:nvPr/>
        </p:nvGrpSpPr>
        <p:grpSpPr>
          <a:xfrm>
            <a:off x="737235" y="1403985"/>
            <a:ext cx="10574655" cy="4295775"/>
            <a:chOff x="1275" y="2210"/>
            <a:chExt cx="16653" cy="6765"/>
          </a:xfrm>
        </p:grpSpPr>
        <p:sp>
          <p:nvSpPr>
            <p:cNvPr id="19" name="TextBox 6"/>
            <p:cNvSpPr txBox="1"/>
            <p:nvPr/>
          </p:nvSpPr>
          <p:spPr>
            <a:xfrm>
              <a:off x="1275" y="2210"/>
              <a:ext cx="13695" cy="892"/>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案例</a:t>
              </a:r>
            </a:p>
          </p:txBody>
        </p:sp>
        <p:grpSp>
          <p:nvGrpSpPr>
            <p:cNvPr id="5" name="组合 4"/>
            <p:cNvGrpSpPr/>
            <p:nvPr/>
          </p:nvGrpSpPr>
          <p:grpSpPr>
            <a:xfrm>
              <a:off x="1499" y="3150"/>
              <a:ext cx="16429" cy="5825"/>
              <a:chOff x="1499" y="3150"/>
              <a:chExt cx="16429" cy="5825"/>
            </a:xfrm>
          </p:grpSpPr>
          <p:sp>
            <p:nvSpPr>
              <p:cNvPr id="22" name="TextBox 21"/>
              <p:cNvSpPr txBox="1"/>
              <p:nvPr/>
            </p:nvSpPr>
            <p:spPr>
              <a:xfrm>
                <a:off x="3431" y="3419"/>
                <a:ext cx="13522" cy="624"/>
              </a:xfrm>
              <a:prstGeom prst="rect">
                <a:avLst/>
              </a:prstGeom>
              <a:noFill/>
            </p:spPr>
            <p:txBody>
              <a:bodyPr wrap="square">
                <a:spAutoFit/>
              </a:bodyPr>
              <a:lstStyle/>
              <a:p>
                <a:r>
                  <a:rPr sz="2000" dirty="0">
                    <a:latin typeface="Times New Roman" panose="02020603050405020304" pitchFamily="18" charset="0"/>
                    <a:sym typeface="+mn-ea"/>
                  </a:rPr>
                  <a:t>用因果图法设计测试用例。</a:t>
                </a:r>
              </a:p>
            </p:txBody>
          </p:sp>
          <p:sp>
            <p:nvSpPr>
              <p:cNvPr id="24" name="矩形 23"/>
              <p:cNvSpPr>
                <a:spLocks noChangeAspect="1"/>
              </p:cNvSpPr>
              <p:nvPr/>
            </p:nvSpPr>
            <p:spPr>
              <a:xfrm>
                <a:off x="1499" y="4275"/>
                <a:ext cx="16429" cy="4700"/>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3"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altLang="en-US" sz="2400" dirty="0">
                      <a:solidFill>
                        <a:schemeClr val="bg1"/>
                      </a:solidFill>
                      <a:latin typeface="Times New Roman" panose="02020603050405020304" pitchFamily="18" charset="0"/>
                      <a:sym typeface="+mn-ea"/>
                    </a:rPr>
                    <a:t>例 </a:t>
                  </a:r>
                  <a:r>
                    <a:rPr lang="en-US" altLang="zh-CN" sz="2400" dirty="0">
                      <a:solidFill>
                        <a:schemeClr val="bg1"/>
                      </a:solidFill>
                      <a:latin typeface="Times New Roman" panose="02020603050405020304" pitchFamily="18" charset="0"/>
                      <a:sym typeface="+mn-ea"/>
                    </a:rPr>
                    <a:t>4-3</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946" y="4595"/>
                <a:ext cx="15536" cy="4115"/>
              </a:xfrm>
              <a:prstGeom prst="rect">
                <a:avLst/>
              </a:prstGeom>
              <a:solidFill>
                <a:schemeClr val="bg1">
                  <a:lumMod val="95000"/>
                </a:schemeClr>
              </a:solidFill>
            </p:spPr>
            <p:txBody>
              <a:bodyPr wrap="square">
                <a:spAutoFit/>
              </a:bodyPr>
              <a:lstStyle/>
              <a:p>
                <a:pPr fontAlgn="auto">
                  <a:lnSpc>
                    <a:spcPct val="130000"/>
                  </a:lnSpc>
                </a:pPr>
                <a:r>
                  <a:rPr lang="en-US" altLang="en-US" dirty="0">
                    <a:latin typeface="Times New Roman" panose="02020603050405020304" charset="0"/>
                    <a:ea typeface="微软雅黑 Light" panose="020B0502040204020203" pitchFamily="34" charset="-122"/>
                  </a:rPr>
                  <a:t>（1）分析因果。</a:t>
                </a:r>
              </a:p>
              <a:p>
                <a:pPr fontAlgn="auto">
                  <a:lnSpc>
                    <a:spcPct val="130000"/>
                  </a:lnSpc>
                </a:pPr>
                <a:r>
                  <a:rPr lang="en-US" altLang="en-US" dirty="0">
                    <a:latin typeface="Times New Roman" panose="02020603050405020304" charset="0"/>
                    <a:ea typeface="微软雅黑 Light" panose="020B0502040204020203" pitchFamily="34" charset="-122"/>
                  </a:rPr>
                  <a:t>先列出原因并编号：</a:t>
                </a:r>
              </a:p>
              <a:p>
                <a:pPr marL="285750" indent="-285750" fontAlgn="auto">
                  <a:lnSpc>
                    <a:spcPct val="130000"/>
                  </a:lnSpc>
                  <a:buClrTx/>
                  <a:buFont typeface="Wingdings" panose="05000000000000000000" charset="0"/>
                  <a:buChar char="Ø"/>
                </a:pPr>
                <a:r>
                  <a:rPr lang="en-US" altLang="en-US" dirty="0">
                    <a:latin typeface="Times New Roman" panose="02020603050405020304" charset="0"/>
                    <a:ea typeface="微软雅黑 Light" panose="020B0502040204020203" pitchFamily="34" charset="-122"/>
                  </a:rPr>
                  <a:t>条件原因1：第一列字符是A。</a:t>
                </a:r>
              </a:p>
              <a:p>
                <a:pPr marL="285750" indent="-285750" fontAlgn="auto">
                  <a:lnSpc>
                    <a:spcPct val="130000"/>
                  </a:lnSpc>
                  <a:buClrTx/>
                  <a:buFont typeface="Wingdings" panose="05000000000000000000" charset="0"/>
                  <a:buChar char="Ø"/>
                </a:pPr>
                <a:r>
                  <a:rPr lang="en-US" altLang="en-US" dirty="0">
                    <a:latin typeface="Times New Roman" panose="02020603050405020304" charset="0"/>
                    <a:ea typeface="微软雅黑 Light" panose="020B0502040204020203" pitchFamily="34" charset="-122"/>
                  </a:rPr>
                  <a:t>条件原因2：第一列字符是B。</a:t>
                </a:r>
              </a:p>
              <a:p>
                <a:pPr marL="285750" indent="-285750" fontAlgn="auto">
                  <a:lnSpc>
                    <a:spcPct val="130000"/>
                  </a:lnSpc>
                  <a:buClrTx/>
                  <a:buFont typeface="Wingdings" panose="05000000000000000000" charset="0"/>
                  <a:buChar char="Ø"/>
                </a:pPr>
                <a:r>
                  <a:rPr lang="en-US" altLang="en-US" dirty="0">
                    <a:latin typeface="Times New Roman" panose="02020603050405020304" charset="0"/>
                    <a:ea typeface="微软雅黑 Light" panose="020B0502040204020203" pitchFamily="34" charset="-122"/>
                  </a:rPr>
                  <a:t>条件原因3：第二列字符是一个数字。</a:t>
                </a:r>
              </a:p>
              <a:p>
                <a:pPr fontAlgn="auto">
                  <a:lnSpc>
                    <a:spcPct val="130000"/>
                  </a:lnSpc>
                </a:pPr>
                <a:r>
                  <a:rPr lang="en-US" altLang="en-US" dirty="0">
                    <a:latin typeface="Times New Roman" panose="02020603050405020304" charset="0"/>
                    <a:ea typeface="微软雅黑 Light" panose="020B0502040204020203" pitchFamily="34" charset="-122"/>
                  </a:rPr>
                  <a:t>由于原因1和原因2不可能同时成立，可</a:t>
                </a:r>
              </a:p>
              <a:p>
                <a:pPr fontAlgn="auto">
                  <a:lnSpc>
                    <a:spcPct val="130000"/>
                  </a:lnSpc>
                </a:pPr>
                <a:r>
                  <a:rPr lang="en-US" altLang="en-US" dirty="0" err="1">
                    <a:latin typeface="Times New Roman" panose="02020603050405020304" charset="0"/>
                    <a:ea typeface="微软雅黑 Light" panose="020B0502040204020203" pitchFamily="34" charset="-122"/>
                  </a:rPr>
                  <a:t>用E约束或O约束</a:t>
                </a:r>
                <a:r>
                  <a:rPr lang="en-US" altLang="en-US" dirty="0">
                    <a:latin typeface="Times New Roman" panose="02020603050405020304" charset="0"/>
                    <a:ea typeface="微软雅黑 Light" panose="020B0502040204020203" pitchFamily="34" charset="-122"/>
                  </a:rPr>
                  <a:t>。</a:t>
                </a:r>
              </a:p>
            </p:txBody>
          </p:sp>
        </p:grpSp>
      </p:grpSp>
      <p:sp>
        <p:nvSpPr>
          <p:cNvPr id="13" name="矩形 12"/>
          <p:cNvSpPr/>
          <p:nvPr/>
        </p:nvSpPr>
        <p:spPr>
          <a:xfrm>
            <a:off x="5577840" y="3263802"/>
            <a:ext cx="5501640" cy="2252924"/>
          </a:xfrm>
          <a:prstGeom prst="rect">
            <a:avLst/>
          </a:prstGeom>
        </p:spPr>
        <p:txBody>
          <a:bodyPr wrap="square">
            <a:spAutoFit/>
          </a:bodyPr>
          <a:lstStyle/>
          <a:p>
            <a:pPr fontAlgn="auto">
              <a:lnSpc>
                <a:spcPct val="130000"/>
              </a:lnSpc>
            </a:pPr>
            <a:r>
              <a:rPr lang="en-US" altLang="en-US" dirty="0" err="1">
                <a:latin typeface="Times New Roman" panose="02020603050405020304" charset="0"/>
                <a:ea typeface="微软雅黑 Light" panose="020B0502040204020203" pitchFamily="34" charset="-122"/>
              </a:rPr>
              <a:t>再列出结果并编号</a:t>
            </a:r>
            <a:r>
              <a:rPr lang="en-US" altLang="en-US" dirty="0">
                <a:latin typeface="Times New Roman" panose="02020603050405020304" charset="0"/>
                <a:ea typeface="微软雅黑 Light" panose="020B0502040204020203" pitchFamily="34" charset="-122"/>
              </a:rPr>
              <a:t>：</a:t>
            </a:r>
          </a:p>
          <a:p>
            <a:pPr marL="285750" indent="-285750" fontAlgn="auto">
              <a:lnSpc>
                <a:spcPct val="130000"/>
              </a:lnSpc>
              <a:buClrTx/>
              <a:buFont typeface="Wingdings" panose="05000000000000000000" charset="0"/>
              <a:buChar char="Ø"/>
            </a:pPr>
            <a:r>
              <a:rPr lang="en-US" altLang="en-US" dirty="0">
                <a:latin typeface="Times New Roman" panose="02020603050405020304" charset="0"/>
                <a:ea typeface="微软雅黑 Light" panose="020B0502040204020203" pitchFamily="34" charset="-122"/>
              </a:rPr>
              <a:t>结果21：执行操作H。</a:t>
            </a:r>
          </a:p>
          <a:p>
            <a:pPr marL="285750" indent="-285750" fontAlgn="auto">
              <a:lnSpc>
                <a:spcPct val="130000"/>
              </a:lnSpc>
              <a:buClrTx/>
              <a:buFont typeface="Wingdings" panose="05000000000000000000" charset="0"/>
              <a:buChar char="Ø"/>
            </a:pPr>
            <a:r>
              <a:rPr lang="en-US" altLang="en-US" dirty="0">
                <a:latin typeface="Times New Roman" panose="02020603050405020304" charset="0"/>
                <a:ea typeface="微软雅黑 Light" panose="020B0502040204020203" pitchFamily="34" charset="-122"/>
              </a:rPr>
              <a:t>结果22：给出信息L。</a:t>
            </a:r>
          </a:p>
          <a:p>
            <a:pPr marL="285750" indent="-285750" fontAlgn="auto">
              <a:lnSpc>
                <a:spcPct val="130000"/>
              </a:lnSpc>
              <a:buClrTx/>
              <a:buFont typeface="Wingdings" panose="05000000000000000000" charset="0"/>
              <a:buChar char="Ø"/>
            </a:pPr>
            <a:r>
              <a:rPr lang="en-US" altLang="en-US" dirty="0">
                <a:latin typeface="Times New Roman" panose="02020603050405020304" charset="0"/>
                <a:ea typeface="微软雅黑 Light" panose="020B0502040204020203" pitchFamily="34" charset="-122"/>
              </a:rPr>
              <a:t>结果23：给出信息R。</a:t>
            </a:r>
          </a:p>
          <a:p>
            <a:pPr fontAlgn="auto">
              <a:lnSpc>
                <a:spcPct val="130000"/>
              </a:lnSpc>
            </a:pPr>
            <a:r>
              <a:rPr lang="en-US" altLang="en-US" dirty="0" err="1">
                <a:latin typeface="Times New Roman" panose="02020603050405020304" charset="0"/>
                <a:ea typeface="微软雅黑 Light" panose="020B0502040204020203" pitchFamily="34" charset="-122"/>
              </a:rPr>
              <a:t>如果第一列符合条件，还应检查第二列是否正确</a:t>
            </a:r>
            <a:r>
              <a:rPr lang="en-US" altLang="en-US" dirty="0">
                <a:latin typeface="Times New Roman" panose="02020603050405020304" charset="0"/>
                <a:ea typeface="微软雅黑 Light" panose="020B0502040204020203" pitchFamily="34" charset="-122"/>
              </a:rPr>
              <a:t>。这里将第一列正确的情况编号为11，作为中间结果。</a:t>
            </a:r>
          </a:p>
        </p:txBody>
      </p:sp>
    </p:spTree>
  </p:cSld>
  <p:clrMapOvr>
    <a:masterClrMapping/>
  </p:clrMapOvr>
  <p:transition>
    <p:pull dir="rd"/>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11520000" cy="535531"/>
          </a:xfrm>
        </p:spPr>
        <p:txBody>
          <a:bodyPr/>
          <a:lstStyle/>
          <a:p>
            <a:r>
              <a:rPr lang="en-US" dirty="0"/>
              <a:t>4.5 </a:t>
            </a:r>
            <a:r>
              <a:rPr lang="zh-CN" altLang="en-US" dirty="0"/>
              <a:t>设计软件测试方案</a:t>
            </a:r>
          </a:p>
        </p:txBody>
      </p:sp>
      <p:grpSp>
        <p:nvGrpSpPr>
          <p:cNvPr id="2" name="组合 1"/>
          <p:cNvGrpSpPr/>
          <p:nvPr/>
        </p:nvGrpSpPr>
        <p:grpSpPr>
          <a:xfrm>
            <a:off x="737235" y="1403985"/>
            <a:ext cx="10574655" cy="5004435"/>
            <a:chOff x="1275" y="2210"/>
            <a:chExt cx="16653" cy="7881"/>
          </a:xfrm>
        </p:grpSpPr>
        <p:sp>
          <p:nvSpPr>
            <p:cNvPr id="19" name="TextBox 6"/>
            <p:cNvSpPr txBox="1"/>
            <p:nvPr/>
          </p:nvSpPr>
          <p:spPr>
            <a:xfrm>
              <a:off x="1275" y="2210"/>
              <a:ext cx="13695" cy="892"/>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案例</a:t>
              </a:r>
            </a:p>
          </p:txBody>
        </p:sp>
        <p:grpSp>
          <p:nvGrpSpPr>
            <p:cNvPr id="5" name="组合 4"/>
            <p:cNvGrpSpPr/>
            <p:nvPr/>
          </p:nvGrpSpPr>
          <p:grpSpPr>
            <a:xfrm>
              <a:off x="1499" y="3150"/>
              <a:ext cx="16429" cy="6941"/>
              <a:chOff x="1499" y="3150"/>
              <a:chExt cx="16429" cy="6941"/>
            </a:xfrm>
          </p:grpSpPr>
          <p:sp>
            <p:nvSpPr>
              <p:cNvPr id="22" name="TextBox 21"/>
              <p:cNvSpPr txBox="1"/>
              <p:nvPr/>
            </p:nvSpPr>
            <p:spPr>
              <a:xfrm>
                <a:off x="3431" y="3419"/>
                <a:ext cx="13522" cy="624"/>
              </a:xfrm>
              <a:prstGeom prst="rect">
                <a:avLst/>
              </a:prstGeom>
              <a:noFill/>
            </p:spPr>
            <p:txBody>
              <a:bodyPr wrap="square">
                <a:spAutoFit/>
              </a:bodyPr>
              <a:lstStyle/>
              <a:p>
                <a:r>
                  <a:rPr sz="2000" dirty="0">
                    <a:latin typeface="Times New Roman" panose="02020603050405020304" pitchFamily="18" charset="0"/>
                    <a:sym typeface="+mn-ea"/>
                  </a:rPr>
                  <a:t>用因果图法设计测试用例。</a:t>
                </a:r>
              </a:p>
            </p:txBody>
          </p:sp>
          <p:sp>
            <p:nvSpPr>
              <p:cNvPr id="24" name="矩形 23"/>
              <p:cNvSpPr>
                <a:spLocks noChangeAspect="1"/>
              </p:cNvSpPr>
              <p:nvPr/>
            </p:nvSpPr>
            <p:spPr>
              <a:xfrm>
                <a:off x="1499" y="4275"/>
                <a:ext cx="16429" cy="5816"/>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3"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altLang="en-US" sz="2400" dirty="0">
                      <a:solidFill>
                        <a:schemeClr val="bg1"/>
                      </a:solidFill>
                      <a:latin typeface="Times New Roman" panose="02020603050405020304" pitchFamily="18" charset="0"/>
                      <a:sym typeface="+mn-ea"/>
                    </a:rPr>
                    <a:t>例 </a:t>
                  </a:r>
                  <a:r>
                    <a:rPr lang="en-US" altLang="zh-CN" sz="2400" dirty="0">
                      <a:solidFill>
                        <a:schemeClr val="bg1"/>
                      </a:solidFill>
                      <a:latin typeface="Times New Roman" panose="02020603050405020304" pitchFamily="18" charset="0"/>
                      <a:sym typeface="+mn-ea"/>
                    </a:rPr>
                    <a:t>4-3</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946" y="4595"/>
                <a:ext cx="15536" cy="5249"/>
              </a:xfrm>
              <a:prstGeom prst="rect">
                <a:avLst/>
              </a:prstGeom>
              <a:solidFill>
                <a:schemeClr val="bg1">
                  <a:lumMod val="95000"/>
                </a:schemeClr>
              </a:solidFill>
            </p:spPr>
            <p:txBody>
              <a:bodyPr wrap="square">
                <a:spAutoFit/>
              </a:bodyPr>
              <a:lstStyle/>
              <a:p>
                <a:pPr fontAlgn="auto">
                  <a:lnSpc>
                    <a:spcPct val="130000"/>
                  </a:lnSpc>
                </a:pPr>
                <a:r>
                  <a:rPr lang="en-US" altLang="en-US" dirty="0">
                    <a:latin typeface="Times New Roman" panose="02020603050405020304" charset="0"/>
                    <a:ea typeface="微软雅黑 Light" panose="020B0502040204020203" pitchFamily="34" charset="-122"/>
                  </a:rPr>
                  <a:t>        （2）画出因果图，如图所示。</a:t>
                </a:r>
              </a:p>
              <a:p>
                <a:pPr fontAlgn="auto">
                  <a:lnSpc>
                    <a:spcPct val="130000"/>
                  </a:lnSpc>
                </a:pPr>
                <a:endParaRPr lang="en-US" altLang="en-US" dirty="0">
                  <a:latin typeface="Times New Roman" panose="02020603050405020304" charset="0"/>
                  <a:ea typeface="微软雅黑 Light" panose="020B0502040204020203" pitchFamily="34" charset="-122"/>
                </a:endParaRPr>
              </a:p>
              <a:p>
                <a:pPr fontAlgn="auto">
                  <a:lnSpc>
                    <a:spcPct val="130000"/>
                  </a:lnSpc>
                </a:pPr>
                <a:endParaRPr lang="en-US" altLang="en-US" dirty="0">
                  <a:latin typeface="Times New Roman" panose="02020603050405020304" charset="0"/>
                  <a:ea typeface="微软雅黑 Light" panose="020B0502040204020203" pitchFamily="34" charset="-122"/>
                </a:endParaRPr>
              </a:p>
              <a:p>
                <a:pPr fontAlgn="auto">
                  <a:lnSpc>
                    <a:spcPct val="130000"/>
                  </a:lnSpc>
                </a:pPr>
                <a:endParaRPr lang="en-US" altLang="en-US" dirty="0">
                  <a:latin typeface="Times New Roman" panose="02020603050405020304" charset="0"/>
                  <a:ea typeface="微软雅黑 Light" panose="020B0502040204020203" pitchFamily="34" charset="-122"/>
                </a:endParaRPr>
              </a:p>
              <a:p>
                <a:pPr fontAlgn="auto">
                  <a:lnSpc>
                    <a:spcPct val="130000"/>
                  </a:lnSpc>
                </a:pPr>
                <a:endParaRPr lang="en-US" altLang="en-US" dirty="0">
                  <a:latin typeface="Times New Roman" panose="02020603050405020304" charset="0"/>
                  <a:ea typeface="微软雅黑 Light" panose="020B0502040204020203" pitchFamily="34" charset="-122"/>
                </a:endParaRPr>
              </a:p>
              <a:p>
                <a:pPr fontAlgn="auto">
                  <a:lnSpc>
                    <a:spcPct val="130000"/>
                  </a:lnSpc>
                </a:pPr>
                <a:endParaRPr lang="en-US" altLang="en-US" dirty="0">
                  <a:latin typeface="Times New Roman" panose="02020603050405020304" charset="0"/>
                  <a:ea typeface="微软雅黑 Light" panose="020B0502040204020203" pitchFamily="34" charset="-122"/>
                </a:endParaRPr>
              </a:p>
              <a:p>
                <a:pPr fontAlgn="auto">
                  <a:lnSpc>
                    <a:spcPct val="130000"/>
                  </a:lnSpc>
                </a:pPr>
                <a:endParaRPr lang="en-US" altLang="en-US" dirty="0">
                  <a:latin typeface="Times New Roman" panose="02020603050405020304" charset="0"/>
                  <a:ea typeface="微软雅黑 Light" panose="020B0502040204020203" pitchFamily="34" charset="-122"/>
                </a:endParaRPr>
              </a:p>
              <a:p>
                <a:pPr fontAlgn="auto">
                  <a:lnSpc>
                    <a:spcPct val="130000"/>
                  </a:lnSpc>
                </a:pPr>
                <a:endParaRPr lang="en-US" altLang="en-US" dirty="0">
                  <a:latin typeface="Times New Roman" panose="02020603050405020304" charset="0"/>
                  <a:ea typeface="微软雅黑 Light" panose="020B0502040204020203" pitchFamily="34" charset="-122"/>
                </a:endParaRPr>
              </a:p>
              <a:p>
                <a:pPr fontAlgn="auto">
                  <a:lnSpc>
                    <a:spcPct val="130000"/>
                  </a:lnSpc>
                </a:pPr>
                <a:endParaRPr lang="en-US" altLang="en-US" dirty="0">
                  <a:latin typeface="Times New Roman" panose="02020603050405020304" charset="0"/>
                  <a:ea typeface="微软雅黑 Light" panose="020B0502040204020203" pitchFamily="34" charset="-122"/>
                </a:endParaRPr>
              </a:p>
            </p:txBody>
          </p:sp>
        </p:grpSp>
      </p:grpSp>
      <p:pic>
        <p:nvPicPr>
          <p:cNvPr id="146434" name="图片 142"/>
          <p:cNvPicPr>
            <a:picLocks noChangeAspect="1" noChangeArrowheads="1"/>
          </p:cNvPicPr>
          <p:nvPr/>
        </p:nvPicPr>
        <p:blipFill>
          <a:blip r:embed="rId4" cstate="print"/>
          <a:srcRect/>
          <a:stretch>
            <a:fillRect/>
          </a:stretch>
        </p:blipFill>
        <p:spPr bwMode="auto">
          <a:xfrm>
            <a:off x="2360471" y="3337560"/>
            <a:ext cx="6836870" cy="2758440"/>
          </a:xfrm>
          <a:prstGeom prst="rect">
            <a:avLst/>
          </a:prstGeom>
          <a:noFill/>
          <a:ln w="9525">
            <a:noFill/>
            <a:miter lim="800000"/>
            <a:headEnd/>
            <a:tailEnd/>
          </a:ln>
        </p:spPr>
      </p:pic>
    </p:spTree>
  </p:cSld>
  <p:clrMapOvr>
    <a:masterClrMapping/>
  </p:clrMapOvr>
  <p:transition>
    <p:pull dir="rd"/>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11520000" cy="535531"/>
          </a:xfrm>
        </p:spPr>
        <p:txBody>
          <a:bodyPr/>
          <a:lstStyle/>
          <a:p>
            <a:r>
              <a:rPr lang="en-US" dirty="0"/>
              <a:t>4.5 </a:t>
            </a:r>
            <a:r>
              <a:rPr lang="zh-CN" altLang="en-US" dirty="0"/>
              <a:t>设计软件测试方案</a:t>
            </a:r>
          </a:p>
        </p:txBody>
      </p:sp>
      <p:grpSp>
        <p:nvGrpSpPr>
          <p:cNvPr id="5" name="组合 4"/>
          <p:cNvGrpSpPr/>
          <p:nvPr/>
        </p:nvGrpSpPr>
        <p:grpSpPr>
          <a:xfrm>
            <a:off x="879475" y="1482261"/>
            <a:ext cx="10432415" cy="4891405"/>
            <a:chOff x="1499" y="3150"/>
            <a:chExt cx="16429" cy="7703"/>
          </a:xfrm>
        </p:grpSpPr>
        <p:sp>
          <p:nvSpPr>
            <p:cNvPr id="22" name="TextBox 21"/>
            <p:cNvSpPr txBox="1"/>
            <p:nvPr/>
          </p:nvSpPr>
          <p:spPr>
            <a:xfrm>
              <a:off x="3431" y="3419"/>
              <a:ext cx="13522" cy="624"/>
            </a:xfrm>
            <a:prstGeom prst="rect">
              <a:avLst/>
            </a:prstGeom>
            <a:noFill/>
          </p:spPr>
          <p:txBody>
            <a:bodyPr wrap="square">
              <a:spAutoFit/>
            </a:bodyPr>
            <a:lstStyle/>
            <a:p>
              <a:r>
                <a:rPr sz="2000" dirty="0">
                  <a:latin typeface="Times New Roman" panose="02020603050405020304" pitchFamily="18" charset="0"/>
                  <a:sym typeface="+mn-ea"/>
                </a:rPr>
                <a:t>用因果图法设计测试用例。</a:t>
              </a:r>
            </a:p>
          </p:txBody>
        </p:sp>
        <p:sp>
          <p:nvSpPr>
            <p:cNvPr id="24" name="矩形 23"/>
            <p:cNvSpPr>
              <a:spLocks noChangeAspect="1"/>
            </p:cNvSpPr>
            <p:nvPr/>
          </p:nvSpPr>
          <p:spPr>
            <a:xfrm>
              <a:off x="1499" y="4275"/>
              <a:ext cx="16429" cy="6578"/>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3"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altLang="en-US" sz="2400" dirty="0">
                    <a:solidFill>
                      <a:schemeClr val="bg1"/>
                    </a:solidFill>
                    <a:latin typeface="Times New Roman" panose="02020603050405020304" pitchFamily="18" charset="0"/>
                    <a:sym typeface="+mn-ea"/>
                  </a:rPr>
                  <a:t>例 </a:t>
                </a:r>
                <a:r>
                  <a:rPr lang="en-US" altLang="zh-CN" sz="2400" dirty="0">
                    <a:solidFill>
                      <a:schemeClr val="bg1"/>
                    </a:solidFill>
                    <a:latin typeface="Times New Roman" panose="02020603050405020304" pitchFamily="18" charset="0"/>
                    <a:sym typeface="+mn-ea"/>
                  </a:rPr>
                  <a:t>4-3</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946" y="4595"/>
              <a:ext cx="15536" cy="6172"/>
            </a:xfrm>
            <a:prstGeom prst="rect">
              <a:avLst/>
            </a:prstGeom>
            <a:solidFill>
              <a:schemeClr val="bg1">
                <a:lumMod val="95000"/>
              </a:schemeClr>
            </a:solidFill>
          </p:spPr>
          <p:txBody>
            <a:bodyPr wrap="square">
              <a:noAutofit/>
            </a:bodyPr>
            <a:lstStyle/>
            <a:p>
              <a:pPr fontAlgn="auto">
                <a:lnSpc>
                  <a:spcPct val="130000"/>
                </a:lnSpc>
              </a:pPr>
              <a:r>
                <a:rPr lang="en-US" altLang="en-US" dirty="0">
                  <a:latin typeface="Times New Roman" panose="02020603050405020304" charset="0"/>
                  <a:ea typeface="微软雅黑 Light" panose="020B0502040204020203" pitchFamily="34" charset="-122"/>
                </a:rPr>
                <a:t>        （3）根据因果图建立判定表，如表所示。</a:t>
              </a:r>
            </a:p>
            <a:p>
              <a:pPr fontAlgn="auto">
                <a:lnSpc>
                  <a:spcPct val="130000"/>
                </a:lnSpc>
              </a:pPr>
              <a:endParaRPr lang="en-US" altLang="en-US" dirty="0">
                <a:latin typeface="Times New Roman" panose="02020603050405020304" charset="0"/>
                <a:ea typeface="微软雅黑 Light" panose="020B0502040204020203" pitchFamily="34" charset="-122"/>
              </a:endParaRPr>
            </a:p>
            <a:p>
              <a:pPr fontAlgn="auto">
                <a:lnSpc>
                  <a:spcPct val="130000"/>
                </a:lnSpc>
              </a:pPr>
              <a:endParaRPr lang="en-US" altLang="en-US" dirty="0">
                <a:latin typeface="Times New Roman" panose="02020603050405020304" charset="0"/>
                <a:ea typeface="微软雅黑 Light" panose="020B0502040204020203" pitchFamily="34" charset="-122"/>
              </a:endParaRPr>
            </a:p>
            <a:p>
              <a:pPr fontAlgn="auto">
                <a:lnSpc>
                  <a:spcPct val="130000"/>
                </a:lnSpc>
              </a:pPr>
              <a:endParaRPr lang="en-US" altLang="en-US" dirty="0">
                <a:latin typeface="Times New Roman" panose="02020603050405020304" charset="0"/>
                <a:ea typeface="微软雅黑 Light" panose="020B0502040204020203" pitchFamily="34" charset="-122"/>
              </a:endParaRPr>
            </a:p>
            <a:p>
              <a:pPr fontAlgn="auto">
                <a:lnSpc>
                  <a:spcPct val="130000"/>
                </a:lnSpc>
              </a:pPr>
              <a:endParaRPr lang="en-US" altLang="en-US" dirty="0">
                <a:latin typeface="Times New Roman" panose="02020603050405020304" charset="0"/>
                <a:ea typeface="微软雅黑 Light" panose="020B0502040204020203" pitchFamily="34" charset="-122"/>
              </a:endParaRPr>
            </a:p>
            <a:p>
              <a:pPr fontAlgn="auto">
                <a:lnSpc>
                  <a:spcPct val="130000"/>
                </a:lnSpc>
              </a:pPr>
              <a:endParaRPr lang="en-US" altLang="en-US" dirty="0">
                <a:latin typeface="Times New Roman" panose="02020603050405020304" charset="0"/>
                <a:ea typeface="微软雅黑 Light" panose="020B0502040204020203" pitchFamily="34" charset="-122"/>
              </a:endParaRPr>
            </a:p>
            <a:p>
              <a:pPr fontAlgn="auto">
                <a:lnSpc>
                  <a:spcPct val="130000"/>
                </a:lnSpc>
              </a:pPr>
              <a:endParaRPr lang="en-US" altLang="en-US" dirty="0">
                <a:latin typeface="Times New Roman" panose="02020603050405020304" charset="0"/>
                <a:ea typeface="微软雅黑 Light" panose="020B0502040204020203" pitchFamily="34" charset="-122"/>
              </a:endParaRPr>
            </a:p>
            <a:p>
              <a:pPr fontAlgn="auto">
                <a:lnSpc>
                  <a:spcPct val="130000"/>
                </a:lnSpc>
              </a:pPr>
              <a:endParaRPr lang="en-US" altLang="en-US" dirty="0">
                <a:latin typeface="Times New Roman" panose="02020603050405020304" charset="0"/>
                <a:ea typeface="微软雅黑 Light" panose="020B0502040204020203" pitchFamily="34" charset="-122"/>
              </a:endParaRPr>
            </a:p>
            <a:p>
              <a:pPr fontAlgn="auto">
                <a:lnSpc>
                  <a:spcPct val="130000"/>
                </a:lnSpc>
              </a:pPr>
              <a:endParaRPr lang="en-US" altLang="en-US" dirty="0">
                <a:latin typeface="Times New Roman" panose="02020603050405020304" charset="0"/>
                <a:ea typeface="微软雅黑 Light" panose="020B0502040204020203" pitchFamily="34" charset="-122"/>
              </a:endParaRPr>
            </a:p>
          </p:txBody>
        </p:sp>
      </p:grpSp>
      <p:graphicFrame>
        <p:nvGraphicFramePr>
          <p:cNvPr id="4" name="表格 -1"/>
          <p:cNvGraphicFramePr/>
          <p:nvPr>
            <p:extLst>
              <p:ext uri="{D42A27DB-BD31-4B8C-83A1-F6EECF244321}">
                <p14:modId xmlns:p14="http://schemas.microsoft.com/office/powerpoint/2010/main" val="96665198"/>
              </p:ext>
            </p:extLst>
          </p:nvPr>
        </p:nvGraphicFramePr>
        <p:xfrm>
          <a:off x="1261110" y="2920612"/>
          <a:ext cx="9668510" cy="3108554"/>
        </p:xfrm>
        <a:graphic>
          <a:graphicData uri="http://schemas.openxmlformats.org/drawingml/2006/table">
            <a:tbl>
              <a:tblPr firstRow="1" bandRow="1">
                <a:tableStyleId>{5940675A-B579-460E-94D1-54222C63F5DA}</a:tableStyleId>
              </a:tblPr>
              <a:tblGrid>
                <a:gridCol w="1150620">
                  <a:extLst>
                    <a:ext uri="{9D8B030D-6E8A-4147-A177-3AD203B41FA5}">
                      <a16:colId xmlns:a16="http://schemas.microsoft.com/office/drawing/2014/main" val="20000"/>
                    </a:ext>
                  </a:extLst>
                </a:gridCol>
                <a:gridCol w="844550">
                  <a:extLst>
                    <a:ext uri="{9D8B030D-6E8A-4147-A177-3AD203B41FA5}">
                      <a16:colId xmlns:a16="http://schemas.microsoft.com/office/drawing/2014/main" val="20001"/>
                    </a:ext>
                  </a:extLst>
                </a:gridCol>
                <a:gridCol w="959485">
                  <a:extLst>
                    <a:ext uri="{9D8B030D-6E8A-4147-A177-3AD203B41FA5}">
                      <a16:colId xmlns:a16="http://schemas.microsoft.com/office/drawing/2014/main" val="20002"/>
                    </a:ext>
                  </a:extLst>
                </a:gridCol>
                <a:gridCol w="956945">
                  <a:extLst>
                    <a:ext uri="{9D8B030D-6E8A-4147-A177-3AD203B41FA5}">
                      <a16:colId xmlns:a16="http://schemas.microsoft.com/office/drawing/2014/main" val="20003"/>
                    </a:ext>
                  </a:extLst>
                </a:gridCol>
                <a:gridCol w="959485">
                  <a:extLst>
                    <a:ext uri="{9D8B030D-6E8A-4147-A177-3AD203B41FA5}">
                      <a16:colId xmlns:a16="http://schemas.microsoft.com/office/drawing/2014/main" val="20004"/>
                    </a:ext>
                  </a:extLst>
                </a:gridCol>
                <a:gridCol w="959485">
                  <a:extLst>
                    <a:ext uri="{9D8B030D-6E8A-4147-A177-3AD203B41FA5}">
                      <a16:colId xmlns:a16="http://schemas.microsoft.com/office/drawing/2014/main" val="20005"/>
                    </a:ext>
                  </a:extLst>
                </a:gridCol>
                <a:gridCol w="961390">
                  <a:extLst>
                    <a:ext uri="{9D8B030D-6E8A-4147-A177-3AD203B41FA5}">
                      <a16:colId xmlns:a16="http://schemas.microsoft.com/office/drawing/2014/main" val="20006"/>
                    </a:ext>
                  </a:extLst>
                </a:gridCol>
                <a:gridCol w="959485">
                  <a:extLst>
                    <a:ext uri="{9D8B030D-6E8A-4147-A177-3AD203B41FA5}">
                      <a16:colId xmlns:a16="http://schemas.microsoft.com/office/drawing/2014/main" val="20007"/>
                    </a:ext>
                  </a:extLst>
                </a:gridCol>
                <a:gridCol w="957580">
                  <a:extLst>
                    <a:ext uri="{9D8B030D-6E8A-4147-A177-3AD203B41FA5}">
                      <a16:colId xmlns:a16="http://schemas.microsoft.com/office/drawing/2014/main" val="20008"/>
                    </a:ext>
                  </a:extLst>
                </a:gridCol>
                <a:gridCol w="959485">
                  <a:extLst>
                    <a:ext uri="{9D8B030D-6E8A-4147-A177-3AD203B41FA5}">
                      <a16:colId xmlns:a16="http://schemas.microsoft.com/office/drawing/2014/main" val="20009"/>
                    </a:ext>
                  </a:extLst>
                </a:gridCol>
              </a:tblGrid>
              <a:tr h="700836">
                <a:tc gridSpan="2">
                  <a:txBody>
                    <a:bodyPr/>
                    <a:lstStyle/>
                    <a:p>
                      <a:pPr marL="0" indent="0" algn="ctr">
                        <a:buNone/>
                      </a:pPr>
                      <a:r>
                        <a:rPr lang="zh-CN" altLang="en-US" sz="1600" b="0" u="none" dirty="0">
                          <a:highlight>
                            <a:srgbClr val="FADCE9"/>
                          </a:highlight>
                          <a:latin typeface="微软雅黑 Light" panose="020B0502040204020203" pitchFamily="34" charset="-122"/>
                          <a:ea typeface="微软雅黑 Light" panose="020B0502040204020203" pitchFamily="34" charset="-122"/>
                          <a:cs typeface="宋体" panose="02010600030101010101" pitchFamily="2" charset="-122"/>
                        </a:rPr>
                        <a:t>组合条件</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a:txBody>
                    <a:bodyPr/>
                    <a:lstStyle/>
                    <a:p>
                      <a:pPr marL="0" indent="0" algn="ctr">
                        <a:buNone/>
                      </a:pPr>
                      <a:r>
                        <a:rPr lang="en-US" altLang="zh-CN" sz="1600" b="0" u="none" dirty="0">
                          <a:highlight>
                            <a:srgbClr val="FADCE9"/>
                          </a:highlight>
                          <a:latin typeface="微软雅黑 Light" panose="020B0502040204020203" pitchFamily="34" charset="-122"/>
                          <a:ea typeface="微软雅黑 Light" panose="020B0502040204020203" pitchFamily="34" charset="-122"/>
                          <a:cs typeface="宋体" panose="02010600030101010101" pitchFamily="2" charset="-122"/>
                        </a:rPr>
                        <a:t>1</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tc>
                  <a:txBody>
                    <a:bodyPr/>
                    <a:lstStyle/>
                    <a:p>
                      <a:pPr marL="0" indent="0" algn="ctr">
                        <a:buNone/>
                      </a:pPr>
                      <a:r>
                        <a:rPr lang="en-US" altLang="zh-CN" sz="1600" b="0" u="none" dirty="0">
                          <a:highlight>
                            <a:srgbClr val="FADCE9"/>
                          </a:highlight>
                          <a:latin typeface="微软雅黑 Light" panose="020B0502040204020203" pitchFamily="34" charset="-122"/>
                          <a:ea typeface="微软雅黑 Light" panose="020B0502040204020203" pitchFamily="34" charset="-122"/>
                          <a:cs typeface="宋体" panose="02010600030101010101" pitchFamily="2" charset="-122"/>
                        </a:rPr>
                        <a:t>2</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tc>
                  <a:txBody>
                    <a:bodyPr/>
                    <a:lstStyle/>
                    <a:p>
                      <a:pPr marL="0" indent="0" algn="ctr">
                        <a:buNone/>
                      </a:pPr>
                      <a:r>
                        <a:rPr lang="en-US" altLang="zh-CN" sz="1600" b="0" u="none" dirty="0">
                          <a:highlight>
                            <a:srgbClr val="FADCE9"/>
                          </a:highlight>
                          <a:latin typeface="微软雅黑 Light" panose="020B0502040204020203" pitchFamily="34" charset="-122"/>
                          <a:ea typeface="微软雅黑 Light" panose="020B0502040204020203" pitchFamily="34" charset="-122"/>
                          <a:cs typeface="宋体" panose="02010600030101010101" pitchFamily="2" charset="-122"/>
                        </a:rPr>
                        <a:t>3</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tc>
                  <a:txBody>
                    <a:bodyPr/>
                    <a:lstStyle/>
                    <a:p>
                      <a:pPr marL="0" indent="0" algn="ctr">
                        <a:buNone/>
                      </a:pPr>
                      <a:r>
                        <a:rPr lang="en-US" altLang="zh-CN" sz="1600" b="0" u="none" dirty="0">
                          <a:highlight>
                            <a:srgbClr val="FADCE9"/>
                          </a:highlight>
                          <a:latin typeface="微软雅黑 Light" panose="020B0502040204020203" pitchFamily="34" charset="-122"/>
                          <a:ea typeface="微软雅黑 Light" panose="020B0502040204020203" pitchFamily="34" charset="-122"/>
                          <a:cs typeface="宋体" panose="02010600030101010101" pitchFamily="2" charset="-122"/>
                        </a:rPr>
                        <a:t>4</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tc>
                  <a:txBody>
                    <a:bodyPr/>
                    <a:lstStyle/>
                    <a:p>
                      <a:pPr marL="0" indent="0" algn="ctr">
                        <a:buNone/>
                      </a:pPr>
                      <a:r>
                        <a:rPr lang="en-US" altLang="zh-CN" sz="1600" b="0" u="none" dirty="0">
                          <a:highlight>
                            <a:srgbClr val="FADCE9"/>
                          </a:highlight>
                          <a:latin typeface="微软雅黑 Light" panose="020B0502040204020203" pitchFamily="34" charset="-122"/>
                          <a:ea typeface="微软雅黑 Light" panose="020B0502040204020203" pitchFamily="34" charset="-122"/>
                          <a:cs typeface="宋体" panose="02010600030101010101" pitchFamily="2" charset="-122"/>
                        </a:rPr>
                        <a:t>5</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tc>
                  <a:txBody>
                    <a:bodyPr/>
                    <a:lstStyle/>
                    <a:p>
                      <a:pPr marL="0" indent="0" algn="ctr">
                        <a:buNone/>
                      </a:pPr>
                      <a:r>
                        <a:rPr lang="en-US" altLang="zh-CN" sz="1600" b="0" u="none" dirty="0">
                          <a:highlight>
                            <a:srgbClr val="FADCE9"/>
                          </a:highlight>
                          <a:latin typeface="微软雅黑 Light" panose="020B0502040204020203" pitchFamily="34" charset="-122"/>
                          <a:ea typeface="微软雅黑 Light" panose="020B0502040204020203" pitchFamily="34" charset="-122"/>
                          <a:cs typeface="宋体" panose="02010600030101010101" pitchFamily="2" charset="-122"/>
                        </a:rPr>
                        <a:t>6</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tc>
                  <a:txBody>
                    <a:bodyPr/>
                    <a:lstStyle/>
                    <a:p>
                      <a:pPr marL="0" indent="0" algn="ctr">
                        <a:buNone/>
                      </a:pPr>
                      <a:r>
                        <a:rPr lang="en-US" altLang="zh-CN" sz="1600" b="0" u="none" dirty="0">
                          <a:highlight>
                            <a:srgbClr val="FADCE9"/>
                          </a:highlight>
                          <a:latin typeface="微软雅黑 Light" panose="020B0502040204020203" pitchFamily="34" charset="-122"/>
                          <a:ea typeface="微软雅黑 Light" panose="020B0502040204020203" pitchFamily="34" charset="-122"/>
                          <a:cs typeface="宋体" panose="02010600030101010101" pitchFamily="2" charset="-122"/>
                        </a:rPr>
                        <a:t>7</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tc>
                  <a:txBody>
                    <a:bodyPr/>
                    <a:lstStyle/>
                    <a:p>
                      <a:pPr marL="0" indent="0" algn="ctr">
                        <a:buNone/>
                      </a:pPr>
                      <a:r>
                        <a:rPr lang="en-US" altLang="zh-CN" sz="1600" b="0" u="none" dirty="0">
                          <a:highlight>
                            <a:srgbClr val="FADCE9"/>
                          </a:highlight>
                          <a:latin typeface="微软雅黑 Light" panose="020B0502040204020203" pitchFamily="34" charset="-122"/>
                          <a:ea typeface="微软雅黑 Light" panose="020B0502040204020203" pitchFamily="34" charset="-122"/>
                          <a:cs typeface="宋体" panose="02010600030101010101" pitchFamily="2" charset="-122"/>
                        </a:rPr>
                        <a:t>8</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extLst>
                  <a:ext uri="{0D108BD9-81ED-4DB2-BD59-A6C34878D82A}">
                    <a16:rowId xmlns:a16="http://schemas.microsoft.com/office/drawing/2014/main" val="10000"/>
                  </a:ext>
                </a:extLst>
              </a:tr>
              <a:tr h="701567">
                <a:tc>
                  <a:txBody>
                    <a:bodyPr/>
                    <a:lstStyle/>
                    <a:p>
                      <a:pPr marL="0" indent="0" algn="ctr">
                        <a:buNone/>
                      </a:pPr>
                      <a:r>
                        <a:rPr lang="zh-CN" altLang="en-US" sz="1600" b="0" u="none" dirty="0">
                          <a:latin typeface="微软雅黑 Light" panose="020B0502040204020203" pitchFamily="34" charset="-122"/>
                          <a:ea typeface="微软雅黑 Light" panose="020B0502040204020203" pitchFamily="34" charset="-122"/>
                          <a:cs typeface="宋体" panose="02010600030101010101" pitchFamily="2" charset="-122"/>
                        </a:rPr>
                        <a:t>条件原因</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1</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2</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3</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11</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1</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1</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1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1</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1</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0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1</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0</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1</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1</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1</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0</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0</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1</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0</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1</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1</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1</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0</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1</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0</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1</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0</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0</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1</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0</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0</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0</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0</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0</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00836">
                <a:tc>
                  <a:txBody>
                    <a:bodyPr/>
                    <a:lstStyle/>
                    <a:p>
                      <a:pPr marL="0" indent="0" algn="ctr">
                        <a:buNone/>
                      </a:pPr>
                      <a:r>
                        <a:rPr lang="zh-CN" altLang="en-US" sz="1600" b="0" u="none" dirty="0">
                          <a:latin typeface="微软雅黑 Light" panose="020B0502040204020203" pitchFamily="34" charset="-122"/>
                          <a:ea typeface="微软雅黑 Light" panose="020B0502040204020203" pitchFamily="34" charset="-122"/>
                          <a:cs typeface="宋体" panose="02010600030101010101" pitchFamily="2" charset="-122"/>
                        </a:rPr>
                        <a:t>结果</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22</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21</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23</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0</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1</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0</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0</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0</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1</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0</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1</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0</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0</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0</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1</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1</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0</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0</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1</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0</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1</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00836">
                <a:tc gridSpan="2">
                  <a:txBody>
                    <a:bodyPr/>
                    <a:lstStyle/>
                    <a:p>
                      <a:pPr marL="0" indent="0" algn="ctr">
                        <a:buNone/>
                      </a:pPr>
                      <a:r>
                        <a:rPr lang="zh-CN" altLang="en-US" sz="1600" b="0" u="none" dirty="0">
                          <a:latin typeface="微软雅黑 Light" panose="020B0502040204020203" pitchFamily="34" charset="-122"/>
                          <a:ea typeface="微软雅黑 Light" panose="020B0502040204020203" pitchFamily="34" charset="-122"/>
                          <a:cs typeface="宋体" panose="02010600030101010101" pitchFamily="2" charset="-122"/>
                        </a:rPr>
                        <a:t>测试用例</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a:txBody>
                    <a:bodyPr/>
                    <a:lstStyle/>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 </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A5</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A3</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A?</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AC</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B2</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B7</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BN</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B!</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C1</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F6</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DA</a:t>
                      </a:r>
                    </a:p>
                    <a:p>
                      <a:pPr marL="0" indent="0" algn="ctr">
                        <a:buNone/>
                      </a:pPr>
                      <a:r>
                        <a:rPr lang="en-US" altLang="zh-CN" sz="1600" b="0" u="none" dirty="0">
                          <a:latin typeface="微软雅黑 Light" panose="020B0502040204020203" pitchFamily="34" charset="-122"/>
                          <a:ea typeface="微软雅黑 Light" panose="020B0502040204020203" pitchFamily="34" charset="-122"/>
                          <a:cs typeface="宋体" panose="02010600030101010101" pitchFamily="2" charset="-122"/>
                        </a:rPr>
                        <a:t>PE</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transition>
    <p:pull dir="rd"/>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11520000" cy="535531"/>
          </a:xfrm>
        </p:spPr>
        <p:txBody>
          <a:bodyPr/>
          <a:lstStyle/>
          <a:p>
            <a:r>
              <a:rPr lang="en-US" dirty="0"/>
              <a:t>4.5 </a:t>
            </a:r>
            <a:r>
              <a:rPr lang="zh-CN" altLang="en-US" dirty="0"/>
              <a:t>设计软件测试方案</a:t>
            </a:r>
          </a:p>
        </p:txBody>
      </p:sp>
      <p:grpSp>
        <p:nvGrpSpPr>
          <p:cNvPr id="2" name="组合 1"/>
          <p:cNvGrpSpPr/>
          <p:nvPr/>
        </p:nvGrpSpPr>
        <p:grpSpPr>
          <a:xfrm>
            <a:off x="737235" y="1403985"/>
            <a:ext cx="10574655" cy="4487545"/>
            <a:chOff x="1275" y="2210"/>
            <a:chExt cx="16653" cy="7067"/>
          </a:xfrm>
        </p:grpSpPr>
        <p:sp>
          <p:nvSpPr>
            <p:cNvPr id="19" name="TextBox 6"/>
            <p:cNvSpPr txBox="1"/>
            <p:nvPr/>
          </p:nvSpPr>
          <p:spPr>
            <a:xfrm>
              <a:off x="1275" y="2210"/>
              <a:ext cx="13695" cy="892"/>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案例</a:t>
              </a:r>
            </a:p>
          </p:txBody>
        </p:sp>
        <p:grpSp>
          <p:nvGrpSpPr>
            <p:cNvPr id="5" name="组合 4"/>
            <p:cNvGrpSpPr/>
            <p:nvPr/>
          </p:nvGrpSpPr>
          <p:grpSpPr>
            <a:xfrm>
              <a:off x="1499" y="3150"/>
              <a:ext cx="16429" cy="6127"/>
              <a:chOff x="1499" y="3150"/>
              <a:chExt cx="16429" cy="6127"/>
            </a:xfrm>
          </p:grpSpPr>
          <p:sp>
            <p:nvSpPr>
              <p:cNvPr id="22" name="TextBox 21"/>
              <p:cNvSpPr txBox="1"/>
              <p:nvPr/>
            </p:nvSpPr>
            <p:spPr>
              <a:xfrm>
                <a:off x="3431" y="3419"/>
                <a:ext cx="13522" cy="624"/>
              </a:xfrm>
              <a:prstGeom prst="rect">
                <a:avLst/>
              </a:prstGeom>
              <a:noFill/>
            </p:spPr>
            <p:txBody>
              <a:bodyPr wrap="square">
                <a:spAutoFit/>
              </a:bodyPr>
              <a:lstStyle/>
              <a:p>
                <a:r>
                  <a:rPr sz="2000" dirty="0">
                    <a:latin typeface="Times New Roman" panose="02020603050405020304" pitchFamily="18" charset="0"/>
                    <a:sym typeface="+mn-ea"/>
                  </a:rPr>
                  <a:t>用因果图法设计测试用例。</a:t>
                </a:r>
              </a:p>
            </p:txBody>
          </p:sp>
          <p:sp>
            <p:nvSpPr>
              <p:cNvPr id="24" name="矩形 23"/>
              <p:cNvSpPr>
                <a:spLocks noChangeAspect="1"/>
              </p:cNvSpPr>
              <p:nvPr/>
            </p:nvSpPr>
            <p:spPr>
              <a:xfrm>
                <a:off x="1499" y="4275"/>
                <a:ext cx="16429" cy="4951"/>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3"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altLang="en-US" sz="2400" dirty="0">
                      <a:solidFill>
                        <a:schemeClr val="bg1"/>
                      </a:solidFill>
                      <a:latin typeface="Times New Roman" panose="02020603050405020304" pitchFamily="18" charset="0"/>
                      <a:sym typeface="+mn-ea"/>
                    </a:rPr>
                    <a:t>例 </a:t>
                  </a:r>
                  <a:r>
                    <a:rPr lang="en-US" altLang="zh-CN" sz="2400" dirty="0">
                      <a:solidFill>
                        <a:schemeClr val="bg1"/>
                      </a:solidFill>
                      <a:latin typeface="Times New Roman" panose="02020603050405020304" pitchFamily="18" charset="0"/>
                      <a:sym typeface="+mn-ea"/>
                    </a:rPr>
                    <a:t>4-3</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946" y="4595"/>
                <a:ext cx="15536" cy="4682"/>
              </a:xfrm>
              <a:prstGeom prst="rect">
                <a:avLst/>
              </a:prstGeom>
              <a:solidFill>
                <a:schemeClr val="bg1">
                  <a:lumMod val="95000"/>
                </a:schemeClr>
              </a:solidFill>
            </p:spPr>
            <p:txBody>
              <a:bodyPr wrap="square">
                <a:spAutoFit/>
              </a:bodyPr>
              <a:lstStyle/>
              <a:p>
                <a:pPr fontAlgn="auto">
                  <a:lnSpc>
                    <a:spcPct val="130000"/>
                  </a:lnSpc>
                </a:pPr>
                <a:r>
                  <a:rPr lang="en-US" altLang="en-US" dirty="0">
                    <a:latin typeface="Times New Roman" panose="02020603050405020304" charset="0"/>
                    <a:ea typeface="微软雅黑 Light" panose="020B0502040204020203" pitchFamily="34" charset="-122"/>
                  </a:rPr>
                  <a:t>        在</a:t>
                </a:r>
                <a:r>
                  <a:rPr lang="zh-CN" altLang="en-US" dirty="0">
                    <a:latin typeface="Times New Roman" panose="02020603050405020304" charset="0"/>
                    <a:ea typeface="微软雅黑 Light" panose="020B0502040204020203" pitchFamily="34" charset="-122"/>
                  </a:rPr>
                  <a:t>上表</a:t>
                </a:r>
                <a:r>
                  <a:rPr lang="en-US" altLang="en-US" dirty="0">
                    <a:latin typeface="Times New Roman" panose="02020603050405020304" charset="0"/>
                    <a:ea typeface="微软雅黑 Light" panose="020B0502040204020203" pitchFamily="34" charset="-122"/>
                  </a:rPr>
                  <a:t>中，用1表示条件成立，用0表示条件不成立。</a:t>
                </a:r>
              </a:p>
              <a:p>
                <a:pPr fontAlgn="auto">
                  <a:lnSpc>
                    <a:spcPct val="130000"/>
                  </a:lnSpc>
                </a:pPr>
                <a:r>
                  <a:rPr lang="en-US" altLang="en-US" dirty="0">
                    <a:latin typeface="Times New Roman" panose="02020603050405020304" charset="0"/>
                    <a:ea typeface="微软雅黑 Light" panose="020B0502040204020203" pitchFamily="34" charset="-122"/>
                  </a:rPr>
                  <a:t>        条件原因1为第一列字符是A；条件原因2为第一列字符是B；条件原因3为第二列字符是一个数字；条件原因11为第一列是A或B。</a:t>
                </a:r>
              </a:p>
              <a:p>
                <a:pPr fontAlgn="auto">
                  <a:lnSpc>
                    <a:spcPct val="130000"/>
                  </a:lnSpc>
                </a:pPr>
                <a:r>
                  <a:rPr lang="en-US" altLang="en-US" dirty="0">
                    <a:latin typeface="Times New Roman" panose="02020603050405020304" charset="0"/>
                    <a:ea typeface="微软雅黑 Light" panose="020B0502040204020203" pitchFamily="34" charset="-122"/>
                  </a:rPr>
                  <a:t>        结果22，给出信息L；结果21，执行操作H；结果23，给出信息R。</a:t>
                </a:r>
              </a:p>
              <a:p>
                <a:pPr fontAlgn="auto">
                  <a:lnSpc>
                    <a:spcPct val="130000"/>
                  </a:lnSpc>
                </a:pPr>
                <a:r>
                  <a:rPr lang="en-US" altLang="en-US" dirty="0">
                    <a:latin typeface="Times New Roman" panose="02020603050405020304" charset="0"/>
                    <a:ea typeface="微软雅黑 Light" panose="020B0502040204020203" pitchFamily="34" charset="-122"/>
                  </a:rPr>
                  <a:t>        判定表中原因1和原因2不可能同时成立，因而无需测试。表的下方列出针对可能出现的6种情况而设计的测试用例：A5，A?，B2，BN，C1，DA或者A3，AC，B7，B!，F6，PE。</a:t>
                </a:r>
              </a:p>
              <a:p>
                <a:pPr fontAlgn="auto">
                  <a:lnSpc>
                    <a:spcPct val="130000"/>
                  </a:lnSpc>
                </a:pPr>
                <a:r>
                  <a:rPr lang="en-US" altLang="en-US" dirty="0">
                    <a:latin typeface="Times New Roman" panose="02020603050405020304" charset="0"/>
                    <a:ea typeface="微软雅黑 Light" panose="020B0502040204020203" pitchFamily="34" charset="-122"/>
                  </a:rPr>
                  <a:t>        请注意，这是软件工程中判定表的第二个用法。判定表的第一个用法见3.5.4节详细设计工具判定表。</a:t>
                </a:r>
              </a:p>
            </p:txBody>
          </p:sp>
        </p:grpSp>
      </p:grpSp>
    </p:spTree>
  </p:cSld>
  <p:clrMapOvr>
    <a:masterClrMapping/>
  </p:clrMapOvr>
  <p:transition>
    <p:pull dir="rd"/>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11520000" cy="535531"/>
          </a:xfrm>
        </p:spPr>
        <p:txBody>
          <a:bodyPr/>
          <a:lstStyle/>
          <a:p>
            <a:r>
              <a:rPr lang="en-US" dirty="0"/>
              <a:t>4.5 </a:t>
            </a:r>
            <a:r>
              <a:rPr lang="zh-CN" altLang="en-US" dirty="0"/>
              <a:t>设计软件测试方案</a:t>
            </a:r>
          </a:p>
        </p:txBody>
      </p:sp>
      <p:sp>
        <p:nvSpPr>
          <p:cNvPr id="4" name="文本占位符 3">
            <a:extLst>
              <a:ext uri="{FF2B5EF4-FFF2-40B4-BE49-F238E27FC236}">
                <a16:creationId xmlns:a16="http://schemas.microsoft.com/office/drawing/2014/main" id="{9A82BD6F-DEB9-720E-7ABA-E9933BABCBA5}"/>
              </a:ext>
            </a:extLst>
          </p:cNvPr>
          <p:cNvSpPr>
            <a:spLocks noGrp="1"/>
          </p:cNvSpPr>
          <p:nvPr>
            <p:ph type="body" sz="quarter" idx="10"/>
          </p:nvPr>
        </p:nvSpPr>
        <p:spPr>
          <a:xfrm>
            <a:off x="696000" y="1322832"/>
            <a:ext cx="11160000" cy="400110"/>
          </a:xfrm>
        </p:spPr>
        <p:txBody>
          <a:bodyPr/>
          <a:lstStyle/>
          <a:p>
            <a:r>
              <a:rPr lang="en-US" altLang="zh-CN" dirty="0"/>
              <a:t>4.5.7 </a:t>
            </a:r>
            <a:r>
              <a:rPr lang="zh-CN" altLang="en-US" dirty="0"/>
              <a:t>用基本路径覆盖法设计测试用例</a:t>
            </a:r>
          </a:p>
        </p:txBody>
      </p:sp>
      <p:sp>
        <p:nvSpPr>
          <p:cNvPr id="9" name="文本占位符 8">
            <a:extLst>
              <a:ext uri="{FF2B5EF4-FFF2-40B4-BE49-F238E27FC236}">
                <a16:creationId xmlns:a16="http://schemas.microsoft.com/office/drawing/2014/main" id="{F9A274C1-4237-F492-D80B-8FF05E4004E9}"/>
              </a:ext>
            </a:extLst>
          </p:cNvPr>
          <p:cNvSpPr>
            <a:spLocks noGrp="1"/>
          </p:cNvSpPr>
          <p:nvPr>
            <p:ph type="body" sz="quarter" idx="11"/>
          </p:nvPr>
        </p:nvSpPr>
        <p:spPr/>
        <p:txBody>
          <a:bodyPr/>
          <a:lstStyle/>
          <a:p>
            <a:endParaRPr lang="zh-CN" altLang="en-US"/>
          </a:p>
        </p:txBody>
      </p:sp>
      <p:sp>
        <p:nvSpPr>
          <p:cNvPr id="2" name="文本框 1">
            <a:extLst>
              <a:ext uri="{FF2B5EF4-FFF2-40B4-BE49-F238E27FC236}">
                <a16:creationId xmlns:a16="http://schemas.microsoft.com/office/drawing/2014/main" id="{835FA642-5F8D-2C61-A1EC-9401F3E5075D}"/>
              </a:ext>
            </a:extLst>
          </p:cNvPr>
          <p:cNvSpPr txBox="1"/>
          <p:nvPr/>
        </p:nvSpPr>
        <p:spPr>
          <a:xfrm>
            <a:off x="1022073" y="2523872"/>
            <a:ext cx="10147853" cy="2392258"/>
          </a:xfrm>
          <a:prstGeom prst="rect">
            <a:avLst/>
          </a:prstGeom>
          <a:noFill/>
        </p:spPr>
        <p:txBody>
          <a:bodyPr wrap="square" rtlCol="0">
            <a:spAutoFit/>
          </a:bodyPr>
          <a:lstStyle/>
          <a:p>
            <a:pPr indent="457200" algn="just">
              <a:lnSpc>
                <a:spcPct val="120000"/>
              </a:lnSpc>
            </a:pPr>
            <a:r>
              <a:rPr lang="zh-CN" altLang="en-US" dirty="0">
                <a:sym typeface="+mn-ea"/>
              </a:rPr>
              <a:t>基本路径覆盖测试是</a:t>
            </a:r>
            <a:r>
              <a:rPr lang="en-US" altLang="zh-CN" dirty="0">
                <a:sym typeface="+mn-ea"/>
              </a:rPr>
              <a:t>Tom McCabe</a:t>
            </a:r>
            <a:r>
              <a:rPr lang="zh-CN" altLang="en-US" dirty="0">
                <a:sym typeface="+mn-ea"/>
              </a:rPr>
              <a:t>提出的一种白盒法测试技术。使用这种技术设计测试用例时，首先计算程序的环形复杂度，然后以此复杂度为指南，定义执行路径的基本集合。从该基本集合导出的测试用例，可以保证程序中的每条语句至少执行一次，而且每个条件在执行时，都将分别取 </a:t>
            </a:r>
            <a:r>
              <a:rPr lang="en-US" altLang="zh-CN" dirty="0">
                <a:sym typeface="+mn-ea"/>
              </a:rPr>
              <a:t>true</a:t>
            </a:r>
            <a:r>
              <a:rPr lang="zh-CN" altLang="en-US" dirty="0">
                <a:sym typeface="+mn-ea"/>
              </a:rPr>
              <a:t>（真）和 </a:t>
            </a:r>
            <a:r>
              <a:rPr lang="en-US" altLang="zh-CN" dirty="0">
                <a:sym typeface="+mn-ea"/>
              </a:rPr>
              <a:t>false</a:t>
            </a:r>
            <a:r>
              <a:rPr lang="zh-CN" altLang="en-US" dirty="0">
                <a:sym typeface="+mn-ea"/>
              </a:rPr>
              <a:t>（假）值。</a:t>
            </a:r>
          </a:p>
          <a:p>
            <a:pPr indent="457200" algn="just">
              <a:lnSpc>
                <a:spcPct val="120000"/>
              </a:lnSpc>
            </a:pPr>
            <a:r>
              <a:rPr lang="zh-CN" altLang="en-US" dirty="0">
                <a:sym typeface="+mn-ea"/>
              </a:rPr>
              <a:t>下面以一个用 </a:t>
            </a:r>
            <a:r>
              <a:rPr lang="en-US" altLang="zh-CN" dirty="0">
                <a:sym typeface="+mn-ea"/>
              </a:rPr>
              <a:t>PDL</a:t>
            </a:r>
            <a:r>
              <a:rPr lang="zh-CN" altLang="en-US" dirty="0">
                <a:sym typeface="+mn-ea"/>
              </a:rPr>
              <a:t> 描述的过程 </a:t>
            </a:r>
            <a:r>
              <a:rPr lang="en-US" altLang="zh-CN" dirty="0">
                <a:sym typeface="+mn-ea"/>
              </a:rPr>
              <a:t>average</a:t>
            </a:r>
            <a:r>
              <a:rPr lang="zh-CN" altLang="en-US" dirty="0">
                <a:sym typeface="+mn-ea"/>
              </a:rPr>
              <a:t> 为例，说明如何画出流图、计算环形复杂度、确定线性独立路径的基本集合，最后设计可强制执行基本集合中每条路径的测试用例。该题的算法虽然很简单，但其中包含了复合条件与循环。</a:t>
            </a:r>
          </a:p>
        </p:txBody>
      </p:sp>
    </p:spTree>
  </p:cSld>
  <p:clrMapOvr>
    <a:masterClrMapping/>
  </p:clrMapOvr>
  <p:transition>
    <p:pull dir="rd"/>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11520000" cy="535531"/>
          </a:xfrm>
        </p:spPr>
        <p:txBody>
          <a:bodyPr/>
          <a:lstStyle/>
          <a:p>
            <a:r>
              <a:rPr lang="en-US" dirty="0"/>
              <a:t>4.5 </a:t>
            </a:r>
            <a:r>
              <a:rPr lang="zh-CN" altLang="en-US" dirty="0"/>
              <a:t>设计软件测试方案</a:t>
            </a:r>
          </a:p>
        </p:txBody>
      </p:sp>
      <p:grpSp>
        <p:nvGrpSpPr>
          <p:cNvPr id="2" name="组合 1"/>
          <p:cNvGrpSpPr/>
          <p:nvPr/>
        </p:nvGrpSpPr>
        <p:grpSpPr>
          <a:xfrm>
            <a:off x="737235" y="1403985"/>
            <a:ext cx="9955530" cy="4890135"/>
            <a:chOff x="1275" y="2210"/>
            <a:chExt cx="15678" cy="7701"/>
          </a:xfrm>
        </p:grpSpPr>
        <p:sp>
          <p:nvSpPr>
            <p:cNvPr id="19" name="TextBox 6"/>
            <p:cNvSpPr txBox="1"/>
            <p:nvPr/>
          </p:nvSpPr>
          <p:spPr>
            <a:xfrm>
              <a:off x="1275" y="2210"/>
              <a:ext cx="13695" cy="892"/>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案例</a:t>
              </a:r>
            </a:p>
          </p:txBody>
        </p:sp>
        <p:grpSp>
          <p:nvGrpSpPr>
            <p:cNvPr id="5" name="组合 4"/>
            <p:cNvGrpSpPr/>
            <p:nvPr/>
          </p:nvGrpSpPr>
          <p:grpSpPr>
            <a:xfrm>
              <a:off x="1499" y="3150"/>
              <a:ext cx="15454" cy="6761"/>
              <a:chOff x="1499" y="3150"/>
              <a:chExt cx="15454" cy="6761"/>
            </a:xfrm>
          </p:grpSpPr>
          <p:sp>
            <p:nvSpPr>
              <p:cNvPr id="22" name="TextBox 21"/>
              <p:cNvSpPr txBox="1"/>
              <p:nvPr/>
            </p:nvSpPr>
            <p:spPr>
              <a:xfrm>
                <a:off x="3431" y="3419"/>
                <a:ext cx="13522" cy="624"/>
              </a:xfrm>
              <a:prstGeom prst="rect">
                <a:avLst/>
              </a:prstGeom>
              <a:noFill/>
            </p:spPr>
            <p:txBody>
              <a:bodyPr wrap="square">
                <a:spAutoFit/>
              </a:bodyPr>
              <a:lstStyle/>
              <a:p>
                <a:r>
                  <a:rPr sz="2000" dirty="0">
                    <a:latin typeface="Times New Roman" panose="02020603050405020304" pitchFamily="18" charset="0"/>
                    <a:sym typeface="+mn-ea"/>
                  </a:rPr>
                  <a:t>用基本路径覆盖法设计测试用例。</a:t>
                </a:r>
              </a:p>
            </p:txBody>
          </p:sp>
          <p:sp>
            <p:nvSpPr>
              <p:cNvPr id="24" name="矩形 23"/>
              <p:cNvSpPr>
                <a:spLocks noChangeAspect="1"/>
              </p:cNvSpPr>
              <p:nvPr/>
            </p:nvSpPr>
            <p:spPr>
              <a:xfrm>
                <a:off x="1499" y="4275"/>
                <a:ext cx="8562" cy="5636"/>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3"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altLang="en-US" sz="2400" dirty="0">
                      <a:solidFill>
                        <a:schemeClr val="bg1"/>
                      </a:solidFill>
                      <a:latin typeface="Times New Roman" panose="02020603050405020304" pitchFamily="18" charset="0"/>
                      <a:sym typeface="+mn-ea"/>
                    </a:rPr>
                    <a:t>例 </a:t>
                  </a:r>
                  <a:r>
                    <a:rPr lang="en-US" altLang="zh-CN" sz="2400" dirty="0">
                      <a:solidFill>
                        <a:schemeClr val="bg1"/>
                      </a:solidFill>
                      <a:latin typeface="Times New Roman" panose="02020603050405020304" pitchFamily="18" charset="0"/>
                      <a:sym typeface="+mn-ea"/>
                    </a:rPr>
                    <a:t>4-4</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4" name="TextBox 33"/>
              <p:cNvSpPr txBox="1"/>
              <p:nvPr/>
            </p:nvSpPr>
            <p:spPr>
              <a:xfrm>
                <a:off x="1632" y="4426"/>
                <a:ext cx="8223" cy="5320"/>
              </a:xfrm>
              <a:prstGeom prst="rect">
                <a:avLst/>
              </a:prstGeom>
              <a:solidFill>
                <a:schemeClr val="bg1">
                  <a:lumMod val="95000"/>
                </a:schemeClr>
              </a:solidFill>
            </p:spPr>
            <p:txBody>
              <a:bodyPr wrap="square">
                <a:spAutoFit/>
              </a:bodyPr>
              <a:lstStyle/>
              <a:p>
                <a:pPr fontAlgn="auto">
                  <a:lnSpc>
                    <a:spcPct val="130000"/>
                  </a:lnSpc>
                </a:pPr>
                <a:r>
                  <a:rPr lang="en-US" altLang="en-US" dirty="0">
                    <a:latin typeface="Times New Roman" panose="02020603050405020304" charset="0"/>
                    <a:ea typeface="微软雅黑 Light" panose="020B0502040204020203" pitchFamily="34" charset="-122"/>
                  </a:rPr>
                  <a:t>        下面这个过程，用来计算不超过100个在规定值域内的有效数字的平均值；同时计算有效数字的总和及个数</a:t>
                </a:r>
              </a:p>
              <a:p>
                <a:pPr fontAlgn="auto">
                  <a:lnSpc>
                    <a:spcPct val="130000"/>
                  </a:lnSpc>
                </a:pPr>
                <a:r>
                  <a:rPr lang="en-US" altLang="en-US" sz="1600" dirty="0">
                    <a:latin typeface="Times New Roman" panose="02020603050405020304" charset="0"/>
                    <a:ea typeface="微软雅黑 Light" panose="020B0502040204020203" pitchFamily="34" charset="-122"/>
                    <a:sym typeface="+mn-ea"/>
                  </a:rPr>
                  <a:t>PROCEDURE average;</a:t>
                </a:r>
                <a:endParaRPr lang="en-US" altLang="en-US" sz="1600" dirty="0">
                  <a:latin typeface="Times New Roman" panose="02020603050405020304" charset="0"/>
                  <a:ea typeface="微软雅黑 Light" panose="020B0502040204020203" pitchFamily="34" charset="-122"/>
                </a:endParaRPr>
              </a:p>
              <a:p>
                <a:pPr fontAlgn="auto">
                  <a:lnSpc>
                    <a:spcPct val="130000"/>
                  </a:lnSpc>
                </a:pPr>
                <a:r>
                  <a:rPr lang="en-US" altLang="en-US" sz="1600" dirty="0">
                    <a:latin typeface="Times New Roman" panose="02020603050405020304" charset="0"/>
                    <a:ea typeface="微软雅黑 Light" panose="020B0502040204020203" pitchFamily="34" charset="-122"/>
                    <a:sym typeface="+mn-ea"/>
                  </a:rPr>
                  <a:t>INTERFACE RETURNS average,total.input,total.valid;</a:t>
                </a:r>
                <a:endParaRPr lang="en-US" altLang="en-US" sz="1600" dirty="0">
                  <a:latin typeface="Times New Roman" panose="02020603050405020304" charset="0"/>
                  <a:ea typeface="微软雅黑 Light" panose="020B0502040204020203" pitchFamily="34" charset="-122"/>
                </a:endParaRPr>
              </a:p>
              <a:p>
                <a:pPr fontAlgn="auto">
                  <a:lnSpc>
                    <a:spcPct val="130000"/>
                  </a:lnSpc>
                </a:pPr>
                <a:r>
                  <a:rPr lang="en-US" altLang="en-US" sz="1600" dirty="0">
                    <a:latin typeface="Times New Roman" panose="02020603050405020304" charset="0"/>
                    <a:ea typeface="微软雅黑 Light" panose="020B0502040204020203" pitchFamily="34" charset="-122"/>
                    <a:sym typeface="+mn-ea"/>
                  </a:rPr>
                  <a:t>INTERFACE ACCEPTS value,minimum,maximum;</a:t>
                </a:r>
                <a:endParaRPr lang="en-US" altLang="en-US" sz="1600" dirty="0">
                  <a:latin typeface="Times New Roman" panose="02020603050405020304" charset="0"/>
                  <a:ea typeface="微软雅黑 Light" panose="020B0502040204020203" pitchFamily="34" charset="-122"/>
                </a:endParaRPr>
              </a:p>
              <a:p>
                <a:pPr fontAlgn="auto">
                  <a:lnSpc>
                    <a:spcPct val="130000"/>
                  </a:lnSpc>
                </a:pPr>
                <a:r>
                  <a:rPr lang="en-US" altLang="en-US" sz="1600" dirty="0">
                    <a:latin typeface="Times New Roman" panose="02020603050405020304" charset="0"/>
                    <a:ea typeface="微软雅黑 Light" panose="020B0502040204020203" pitchFamily="34" charset="-122"/>
                    <a:sym typeface="+mn-ea"/>
                  </a:rPr>
                  <a:t>TYPE value[1...100] IS SCALAR ARRAY;</a:t>
                </a:r>
                <a:endParaRPr lang="en-US" altLang="en-US" sz="1600" dirty="0">
                  <a:latin typeface="Times New Roman" panose="02020603050405020304" charset="0"/>
                  <a:ea typeface="微软雅黑 Light" panose="020B0502040204020203" pitchFamily="34" charset="-122"/>
                </a:endParaRPr>
              </a:p>
              <a:p>
                <a:pPr fontAlgn="auto">
                  <a:lnSpc>
                    <a:spcPct val="130000"/>
                  </a:lnSpc>
                </a:pPr>
                <a:r>
                  <a:rPr lang="en-US" altLang="en-US" sz="1600" dirty="0">
                    <a:latin typeface="Times New Roman" panose="02020603050405020304" charset="0"/>
                    <a:ea typeface="微软雅黑 Light" panose="020B0502040204020203" pitchFamily="34" charset="-122"/>
                    <a:sym typeface="+mn-ea"/>
                  </a:rPr>
                  <a:t>TYPE average,total.input,total.valid;</a:t>
                </a:r>
                <a:endParaRPr lang="en-US" altLang="en-US" sz="1600" dirty="0">
                  <a:latin typeface="Times New Roman" panose="02020603050405020304" charset="0"/>
                  <a:ea typeface="微软雅黑 Light" panose="020B0502040204020203" pitchFamily="34" charset="-122"/>
                </a:endParaRPr>
              </a:p>
              <a:p>
                <a:pPr fontAlgn="auto">
                  <a:lnSpc>
                    <a:spcPct val="130000"/>
                  </a:lnSpc>
                </a:pPr>
                <a:r>
                  <a:rPr lang="en-US" altLang="en-US" sz="1600" dirty="0">
                    <a:latin typeface="Times New Roman" panose="02020603050405020304" charset="0"/>
                    <a:ea typeface="微软雅黑 Light" panose="020B0502040204020203" pitchFamily="34" charset="-122"/>
                    <a:sym typeface="+mn-ea"/>
                  </a:rPr>
                  <a:t>minimum,maximum,sum IS SCALAR;</a:t>
                </a:r>
                <a:endParaRPr lang="en-US" altLang="en-US" sz="1600" dirty="0">
                  <a:latin typeface="Times New Roman" panose="02020603050405020304" charset="0"/>
                  <a:ea typeface="微软雅黑 Light" panose="020B0502040204020203" pitchFamily="34" charset="-122"/>
                </a:endParaRPr>
              </a:p>
              <a:p>
                <a:pPr fontAlgn="auto">
                  <a:lnSpc>
                    <a:spcPct val="130000"/>
                  </a:lnSpc>
                </a:pPr>
                <a:r>
                  <a:rPr lang="en-US" altLang="en-US" sz="1600" dirty="0">
                    <a:latin typeface="Times New Roman" panose="02020603050405020304" charset="0"/>
                    <a:ea typeface="微软雅黑 Light" panose="020B0502040204020203" pitchFamily="34" charset="-122"/>
                    <a:sym typeface="+mn-ea"/>
                  </a:rPr>
                  <a:t>TYPE i IS INTEGER;</a:t>
                </a:r>
                <a:endParaRPr lang="en-US" altLang="en-US" dirty="0">
                  <a:latin typeface="Times New Roman" panose="02020603050405020304" charset="0"/>
                  <a:ea typeface="微软雅黑 Light" panose="020B0502040204020203" pitchFamily="34" charset="-122"/>
                </a:endParaRPr>
              </a:p>
            </p:txBody>
          </p:sp>
        </p:grpSp>
      </p:grpSp>
      <p:sp>
        <p:nvSpPr>
          <p:cNvPr id="7" name="矩形 6"/>
          <p:cNvSpPr>
            <a:spLocks noChangeAspect="1"/>
          </p:cNvSpPr>
          <p:nvPr/>
        </p:nvSpPr>
        <p:spPr>
          <a:xfrm>
            <a:off x="6842125" y="807719"/>
            <a:ext cx="4414520" cy="5592445"/>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sp>
        <p:nvSpPr>
          <p:cNvPr id="8" name="TextBox 33"/>
          <p:cNvSpPr txBox="1"/>
          <p:nvPr/>
        </p:nvSpPr>
        <p:spPr>
          <a:xfrm>
            <a:off x="7001510" y="868680"/>
            <a:ext cx="4064635" cy="5533823"/>
          </a:xfrm>
          <a:prstGeom prst="rect">
            <a:avLst/>
          </a:prstGeom>
          <a:solidFill>
            <a:schemeClr val="bg1">
              <a:lumMod val="95000"/>
            </a:schemeClr>
          </a:solidFill>
        </p:spPr>
        <p:txBody>
          <a:bodyPr wrap="square">
            <a:spAutoFit/>
          </a:bodyPr>
          <a:lstStyle/>
          <a:p>
            <a:pPr fontAlgn="auto">
              <a:lnSpc>
                <a:spcPct val="130000"/>
              </a:lnSpc>
            </a:pPr>
            <a:r>
              <a:rPr lang="en-US" altLang="en-US" sz="1600" dirty="0">
                <a:latin typeface="Times New Roman" panose="02020603050405020304" charset="0"/>
                <a:ea typeface="微软雅黑 Light" panose="020B0502040204020203" pitchFamily="34" charset="-122"/>
              </a:rPr>
              <a:t>1:i=1;</a:t>
            </a:r>
          </a:p>
          <a:p>
            <a:pPr fontAlgn="auto">
              <a:lnSpc>
                <a:spcPct val="130000"/>
              </a:lnSpc>
            </a:pPr>
            <a:r>
              <a:rPr lang="en-US" altLang="en-US" sz="1600" dirty="0">
                <a:latin typeface="Times New Roman" panose="02020603050405020304" charset="0"/>
                <a:ea typeface="微软雅黑 Light" panose="020B0502040204020203" pitchFamily="34" charset="-122"/>
              </a:rPr>
              <a:t>   total.input=total.valid=0;sum=0;</a:t>
            </a:r>
          </a:p>
          <a:p>
            <a:pPr fontAlgn="auto">
              <a:lnSpc>
                <a:spcPct val="130000"/>
              </a:lnSpc>
            </a:pPr>
            <a:r>
              <a:rPr lang="en-US" altLang="en-US" sz="1600" dirty="0">
                <a:latin typeface="Times New Roman" panose="02020603050405020304" charset="0"/>
                <a:ea typeface="微软雅黑 Light" panose="020B0502040204020203" pitchFamily="34" charset="-122"/>
              </a:rPr>
              <a:t>2:DO WHILE value[i]&lt;&gt;-999</a:t>
            </a:r>
          </a:p>
          <a:p>
            <a:pPr fontAlgn="auto">
              <a:lnSpc>
                <a:spcPct val="130000"/>
              </a:lnSpc>
            </a:pPr>
            <a:r>
              <a:rPr lang="en-US" altLang="en-US" sz="1600" dirty="0">
                <a:latin typeface="Times New Roman" panose="02020603050405020304" charset="0"/>
                <a:ea typeface="微软雅黑 Light" panose="020B0502040204020203" pitchFamily="34" charset="-122"/>
              </a:rPr>
              <a:t>3:AND total.input&lt;100</a:t>
            </a:r>
          </a:p>
          <a:p>
            <a:pPr fontAlgn="auto">
              <a:lnSpc>
                <a:spcPct val="130000"/>
              </a:lnSpc>
            </a:pPr>
            <a:r>
              <a:rPr lang="en-US" altLang="en-US" sz="1600" dirty="0">
                <a:latin typeface="Times New Roman" panose="02020603050405020304" charset="0"/>
                <a:ea typeface="微软雅黑 Light" panose="020B0502040204020203" pitchFamily="34" charset="-122"/>
              </a:rPr>
              <a:t>4:increment total.input by 1;</a:t>
            </a:r>
          </a:p>
          <a:p>
            <a:pPr fontAlgn="auto">
              <a:lnSpc>
                <a:spcPct val="130000"/>
              </a:lnSpc>
            </a:pPr>
            <a:r>
              <a:rPr lang="en-US" altLang="en-US" sz="1600" dirty="0">
                <a:latin typeface="Times New Roman" panose="02020603050405020304" charset="0"/>
                <a:ea typeface="微软雅黑 Light" panose="020B0502040204020203" pitchFamily="34" charset="-122"/>
              </a:rPr>
              <a:t>5:IF value[i]&gt;=minimum</a:t>
            </a:r>
          </a:p>
          <a:p>
            <a:pPr fontAlgn="auto">
              <a:lnSpc>
                <a:spcPct val="130000"/>
              </a:lnSpc>
            </a:pPr>
            <a:r>
              <a:rPr lang="en-US" altLang="en-US" sz="1600" dirty="0">
                <a:latin typeface="Times New Roman" panose="02020603050405020304" charset="0"/>
                <a:ea typeface="微软雅黑 Light" panose="020B0502040204020203" pitchFamily="34" charset="-122"/>
              </a:rPr>
              <a:t>6:AND value[i]&lt;=maximum</a:t>
            </a:r>
          </a:p>
          <a:p>
            <a:pPr fontAlgn="auto">
              <a:lnSpc>
                <a:spcPct val="130000"/>
              </a:lnSpc>
            </a:pPr>
            <a:r>
              <a:rPr lang="en-US" altLang="en-US" sz="1600" dirty="0">
                <a:latin typeface="Times New Roman" panose="02020603050405020304" charset="0"/>
                <a:ea typeface="微软雅黑 Light" panose="020B0502040204020203" pitchFamily="34" charset="-122"/>
              </a:rPr>
              <a:t>7:THEN increment total.valid by 1;</a:t>
            </a:r>
          </a:p>
          <a:p>
            <a:pPr fontAlgn="auto">
              <a:lnSpc>
                <a:spcPct val="130000"/>
              </a:lnSpc>
            </a:pPr>
            <a:r>
              <a:rPr lang="en-US" altLang="en-US" sz="1600" dirty="0">
                <a:latin typeface="Times New Roman" panose="02020603050405020304" charset="0"/>
                <a:ea typeface="微软雅黑 Light" panose="020B0502040204020203" pitchFamily="34" charset="-122"/>
              </a:rPr>
              <a:t>   sum=sum+value[i];</a:t>
            </a:r>
          </a:p>
          <a:p>
            <a:pPr fontAlgn="auto">
              <a:lnSpc>
                <a:spcPct val="130000"/>
              </a:lnSpc>
            </a:pPr>
            <a:r>
              <a:rPr lang="en-US" altLang="en-US" sz="1600" dirty="0">
                <a:latin typeface="Times New Roman" panose="02020603050405020304" charset="0"/>
                <a:ea typeface="微软雅黑 Light" panose="020B0502040204020203" pitchFamily="34" charset="-122"/>
              </a:rPr>
              <a:t>8:ENDIF</a:t>
            </a:r>
          </a:p>
          <a:p>
            <a:pPr fontAlgn="auto">
              <a:lnSpc>
                <a:spcPct val="130000"/>
              </a:lnSpc>
            </a:pPr>
            <a:r>
              <a:rPr lang="en-US" altLang="en-US" sz="1600" dirty="0">
                <a:latin typeface="Times New Roman" panose="02020603050405020304" charset="0"/>
                <a:ea typeface="微软雅黑 Light" panose="020B0502040204020203" pitchFamily="34" charset="-122"/>
              </a:rPr>
              <a:t>   increment i by 1;</a:t>
            </a:r>
          </a:p>
          <a:p>
            <a:pPr fontAlgn="auto">
              <a:lnSpc>
                <a:spcPct val="130000"/>
              </a:lnSpc>
            </a:pPr>
            <a:r>
              <a:rPr lang="en-US" altLang="en-US" sz="1600" dirty="0">
                <a:latin typeface="Times New Roman" panose="02020603050405020304" charset="0"/>
                <a:ea typeface="微软雅黑 Light" panose="020B0502040204020203" pitchFamily="34" charset="-122"/>
              </a:rPr>
              <a:t>9:ENDDO</a:t>
            </a:r>
          </a:p>
          <a:p>
            <a:pPr fontAlgn="auto">
              <a:lnSpc>
                <a:spcPct val="130000"/>
              </a:lnSpc>
            </a:pPr>
            <a:r>
              <a:rPr lang="en-US" altLang="en-US" sz="1600" dirty="0">
                <a:latin typeface="Times New Roman" panose="02020603050405020304" charset="0"/>
                <a:ea typeface="微软雅黑 Light" panose="020B0502040204020203" pitchFamily="34" charset="-122"/>
              </a:rPr>
              <a:t>10:IF total.valid&gt;0</a:t>
            </a:r>
          </a:p>
          <a:p>
            <a:pPr fontAlgn="auto">
              <a:lnSpc>
                <a:spcPct val="130000"/>
              </a:lnSpc>
            </a:pPr>
            <a:r>
              <a:rPr lang="en-US" altLang="en-US" sz="1600" dirty="0">
                <a:latin typeface="Times New Roman" panose="02020603050405020304" charset="0"/>
                <a:ea typeface="微软雅黑 Light" panose="020B0502040204020203" pitchFamily="34" charset="-122"/>
              </a:rPr>
              <a:t>11:THEN average=sum/total.valid;</a:t>
            </a:r>
          </a:p>
          <a:p>
            <a:pPr fontAlgn="auto">
              <a:lnSpc>
                <a:spcPct val="130000"/>
              </a:lnSpc>
            </a:pPr>
            <a:r>
              <a:rPr lang="en-US" altLang="en-US" sz="1600" dirty="0">
                <a:latin typeface="Times New Roman" panose="02020603050405020304" charset="0"/>
                <a:ea typeface="微软雅黑 Light" panose="020B0502040204020203" pitchFamily="34" charset="-122"/>
              </a:rPr>
              <a:t>12:ELSE average=-999;</a:t>
            </a:r>
          </a:p>
          <a:p>
            <a:pPr fontAlgn="auto">
              <a:lnSpc>
                <a:spcPct val="130000"/>
              </a:lnSpc>
            </a:pPr>
            <a:r>
              <a:rPr lang="en-US" altLang="en-US" sz="1600" dirty="0">
                <a:latin typeface="Times New Roman" panose="02020603050405020304" charset="0"/>
                <a:ea typeface="微软雅黑 Light" panose="020B0502040204020203" pitchFamily="34" charset="-122"/>
              </a:rPr>
              <a:t>13:ENDIF</a:t>
            </a:r>
          </a:p>
          <a:p>
            <a:pPr fontAlgn="auto">
              <a:lnSpc>
                <a:spcPct val="130000"/>
              </a:lnSpc>
            </a:pPr>
            <a:r>
              <a:rPr lang="en-US" altLang="en-US" sz="1600" dirty="0">
                <a:latin typeface="Times New Roman" panose="02020603050405020304" charset="0"/>
                <a:ea typeface="微软雅黑 Light" panose="020B0502040204020203" pitchFamily="34" charset="-122"/>
              </a:rPr>
              <a:t>END average</a:t>
            </a:r>
          </a:p>
        </p:txBody>
      </p:sp>
    </p:spTree>
  </p:cSld>
  <p:clrMapOvr>
    <a:masterClrMapping/>
  </p:clrMapOvr>
  <p:transition>
    <p:pull dir="rd"/>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11520000" cy="535531"/>
          </a:xfrm>
        </p:spPr>
        <p:txBody>
          <a:bodyPr/>
          <a:lstStyle/>
          <a:p>
            <a:r>
              <a:rPr lang="en-US" dirty="0"/>
              <a:t>4.5 </a:t>
            </a:r>
            <a:r>
              <a:rPr lang="zh-CN" altLang="en-US" dirty="0"/>
              <a:t>设计软件测试方案</a:t>
            </a:r>
          </a:p>
        </p:txBody>
      </p:sp>
      <p:grpSp>
        <p:nvGrpSpPr>
          <p:cNvPr id="2" name="组合 1"/>
          <p:cNvGrpSpPr/>
          <p:nvPr/>
        </p:nvGrpSpPr>
        <p:grpSpPr>
          <a:xfrm>
            <a:off x="737235" y="1403985"/>
            <a:ext cx="9955530" cy="4874260"/>
            <a:chOff x="1275" y="2210"/>
            <a:chExt cx="15678" cy="7676"/>
          </a:xfrm>
        </p:grpSpPr>
        <p:sp>
          <p:nvSpPr>
            <p:cNvPr id="19" name="TextBox 6"/>
            <p:cNvSpPr txBox="1"/>
            <p:nvPr/>
          </p:nvSpPr>
          <p:spPr>
            <a:xfrm>
              <a:off x="1275" y="2210"/>
              <a:ext cx="13695" cy="892"/>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案例</a:t>
              </a:r>
            </a:p>
          </p:txBody>
        </p:sp>
        <p:grpSp>
          <p:nvGrpSpPr>
            <p:cNvPr id="5" name="组合 4"/>
            <p:cNvGrpSpPr/>
            <p:nvPr/>
          </p:nvGrpSpPr>
          <p:grpSpPr>
            <a:xfrm>
              <a:off x="1499" y="3150"/>
              <a:ext cx="15454" cy="6736"/>
              <a:chOff x="1499" y="3150"/>
              <a:chExt cx="15454" cy="6736"/>
            </a:xfrm>
          </p:grpSpPr>
          <p:sp>
            <p:nvSpPr>
              <p:cNvPr id="22" name="TextBox 21"/>
              <p:cNvSpPr txBox="1"/>
              <p:nvPr/>
            </p:nvSpPr>
            <p:spPr>
              <a:xfrm>
                <a:off x="3431" y="3419"/>
                <a:ext cx="13522" cy="624"/>
              </a:xfrm>
              <a:prstGeom prst="rect">
                <a:avLst/>
              </a:prstGeom>
              <a:noFill/>
            </p:spPr>
            <p:txBody>
              <a:bodyPr wrap="square">
                <a:spAutoFit/>
              </a:bodyPr>
              <a:lstStyle/>
              <a:p>
                <a:r>
                  <a:rPr sz="2000" dirty="0">
                    <a:latin typeface="Times New Roman" panose="02020603050405020304" pitchFamily="18" charset="0"/>
                    <a:sym typeface="+mn-ea"/>
                  </a:rPr>
                  <a:t>用基本路径覆盖法设计测试用例。</a:t>
                </a:r>
              </a:p>
            </p:txBody>
          </p:sp>
          <p:sp>
            <p:nvSpPr>
              <p:cNvPr id="24" name="矩形 23"/>
              <p:cNvSpPr>
                <a:spLocks noChangeAspect="1"/>
              </p:cNvSpPr>
              <p:nvPr/>
            </p:nvSpPr>
            <p:spPr>
              <a:xfrm>
                <a:off x="1499" y="4275"/>
                <a:ext cx="8213" cy="5611"/>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3"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altLang="en-US" sz="2400" dirty="0">
                      <a:solidFill>
                        <a:schemeClr val="bg1"/>
                      </a:solidFill>
                      <a:latin typeface="Times New Roman" panose="02020603050405020304" pitchFamily="18" charset="0"/>
                      <a:sym typeface="+mn-ea"/>
                    </a:rPr>
                    <a:t>例 </a:t>
                  </a:r>
                  <a:r>
                    <a:rPr lang="en-US" altLang="zh-CN" sz="2400" dirty="0">
                      <a:solidFill>
                        <a:schemeClr val="bg1"/>
                      </a:solidFill>
                      <a:latin typeface="Times New Roman" panose="02020603050405020304" pitchFamily="18" charset="0"/>
                      <a:sym typeface="+mn-ea"/>
                    </a:rPr>
                    <a:t>4-4</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4" name="TextBox 33"/>
              <p:cNvSpPr txBox="1"/>
              <p:nvPr/>
            </p:nvSpPr>
            <p:spPr>
              <a:xfrm>
                <a:off x="1632" y="4426"/>
                <a:ext cx="7864" cy="5202"/>
              </a:xfrm>
              <a:prstGeom prst="rect">
                <a:avLst/>
              </a:prstGeom>
              <a:solidFill>
                <a:schemeClr val="bg1">
                  <a:lumMod val="95000"/>
                </a:schemeClr>
              </a:solidFill>
            </p:spPr>
            <p:txBody>
              <a:bodyPr wrap="square">
                <a:noAutofit/>
              </a:bodyPr>
              <a:lstStyle/>
              <a:p>
                <a:pPr fontAlgn="auto">
                  <a:lnSpc>
                    <a:spcPct val="130000"/>
                  </a:lnSpc>
                </a:pPr>
                <a:r>
                  <a:rPr lang="en-US" altLang="en-US" dirty="0">
                    <a:latin typeface="Times New Roman" panose="02020603050405020304" charset="0"/>
                    <a:ea typeface="微软雅黑 Light" panose="020B0502040204020203" pitchFamily="34" charset="-122"/>
                  </a:rPr>
                  <a:t>1．根据过程设计结果画出相应的流图       </a:t>
                </a:r>
              </a:p>
              <a:p>
                <a:pPr fontAlgn="auto">
                  <a:lnSpc>
                    <a:spcPct val="130000"/>
                  </a:lnSpc>
                </a:pPr>
                <a:r>
                  <a:rPr lang="en-US" altLang="en-US" dirty="0">
                    <a:latin typeface="Times New Roman" panose="02020603050405020304" charset="0"/>
                    <a:ea typeface="微软雅黑 Light" panose="020B0502040204020203" pitchFamily="34" charset="-122"/>
                  </a:rPr>
                  <a:t>        </a:t>
                </a:r>
                <a:r>
                  <a:rPr lang="en-US" altLang="en-US" dirty="0">
                    <a:latin typeface="Times New Roman" panose="02020603050405020304" charset="0"/>
                    <a:ea typeface="微软雅黑 Light" panose="020B0502040204020203" pitchFamily="34" charset="-122"/>
                    <a:sym typeface="+mn-ea"/>
                  </a:rPr>
                  <a:t>为了正确地画出流图，我们把映射为流图结点的PDL语句都编了号。由此可画出流图，如图所示。</a:t>
                </a:r>
                <a:endParaRPr lang="en-US" altLang="en-US" dirty="0">
                  <a:latin typeface="Times New Roman" panose="02020603050405020304" charset="0"/>
                  <a:ea typeface="微软雅黑 Light" panose="020B0502040204020203" pitchFamily="34" charset="-122"/>
                </a:endParaRPr>
              </a:p>
            </p:txBody>
          </p:sp>
        </p:grpSp>
      </p:grpSp>
      <p:sp>
        <p:nvSpPr>
          <p:cNvPr id="7" name="矩形 6"/>
          <p:cNvSpPr>
            <a:spLocks noChangeAspect="1"/>
          </p:cNvSpPr>
          <p:nvPr/>
        </p:nvSpPr>
        <p:spPr>
          <a:xfrm>
            <a:off x="6316345" y="1238250"/>
            <a:ext cx="4940300" cy="5055870"/>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sp>
        <p:nvSpPr>
          <p:cNvPr id="8" name="TextBox 33"/>
          <p:cNvSpPr txBox="1"/>
          <p:nvPr/>
        </p:nvSpPr>
        <p:spPr>
          <a:xfrm>
            <a:off x="6462395" y="1372235"/>
            <a:ext cx="4627880" cy="4844415"/>
          </a:xfrm>
          <a:prstGeom prst="rect">
            <a:avLst/>
          </a:prstGeom>
          <a:solidFill>
            <a:schemeClr val="bg1">
              <a:lumMod val="95000"/>
            </a:schemeClr>
          </a:solidFill>
        </p:spPr>
        <p:txBody>
          <a:bodyPr wrap="square">
            <a:spAutoFit/>
          </a:bodyPr>
          <a:lstStyle/>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p:txBody>
      </p:sp>
      <p:grpSp>
        <p:nvGrpSpPr>
          <p:cNvPr id="1073752572" name="组合 1073752571"/>
          <p:cNvGrpSpPr>
            <a:grpSpLocks noRot="1"/>
          </p:cNvGrpSpPr>
          <p:nvPr/>
        </p:nvGrpSpPr>
        <p:grpSpPr>
          <a:xfrm>
            <a:off x="6686550" y="1630680"/>
            <a:ext cx="4200525" cy="4587240"/>
            <a:chOff x="4223" y="7325"/>
            <a:chExt cx="5259" cy="5691"/>
          </a:xfrm>
        </p:grpSpPr>
        <p:sp>
          <p:nvSpPr>
            <p:cNvPr id="1073752573" name="直接连接符 1073752572"/>
            <p:cNvSpPr/>
            <p:nvPr/>
          </p:nvSpPr>
          <p:spPr>
            <a:xfrm>
              <a:off x="7631" y="7728"/>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74" name="椭圆 1073752573"/>
            <p:cNvSpPr/>
            <p:nvPr/>
          </p:nvSpPr>
          <p:spPr>
            <a:xfrm>
              <a:off x="7427" y="7325"/>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a:t>
              </a:r>
            </a:p>
            <a:p>
              <a:endParaRPr lang="zh-CN" altLang="en-US" dirty="0">
                <a:latin typeface="Times New Roman" panose="02020603050405020304" pitchFamily="18" charset="0"/>
              </a:endParaRPr>
            </a:p>
          </p:txBody>
        </p:sp>
        <p:sp>
          <p:nvSpPr>
            <p:cNvPr id="1073752575" name="椭圆 1073752574"/>
            <p:cNvSpPr/>
            <p:nvPr/>
          </p:nvSpPr>
          <p:spPr>
            <a:xfrm>
              <a:off x="7427" y="8111"/>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2</a:t>
              </a:r>
            </a:p>
            <a:p>
              <a:endParaRPr lang="zh-CN" altLang="en-US" dirty="0">
                <a:latin typeface="Times New Roman" panose="02020603050405020304" pitchFamily="18" charset="0"/>
              </a:endParaRPr>
            </a:p>
          </p:txBody>
        </p:sp>
        <p:sp>
          <p:nvSpPr>
            <p:cNvPr id="1073752576" name="椭圆 1073752575"/>
            <p:cNvSpPr/>
            <p:nvPr/>
          </p:nvSpPr>
          <p:spPr>
            <a:xfrm>
              <a:off x="7424" y="8885"/>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3</a:t>
              </a:r>
            </a:p>
            <a:p>
              <a:endParaRPr lang="zh-CN" altLang="en-US" dirty="0">
                <a:latin typeface="Times New Roman" panose="02020603050405020304" pitchFamily="18" charset="0"/>
              </a:endParaRPr>
            </a:p>
          </p:txBody>
        </p:sp>
        <p:sp>
          <p:nvSpPr>
            <p:cNvPr id="1073752577" name="椭圆 1073752576"/>
            <p:cNvSpPr/>
            <p:nvPr/>
          </p:nvSpPr>
          <p:spPr>
            <a:xfrm>
              <a:off x="7427" y="9667"/>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4</a:t>
              </a:r>
            </a:p>
            <a:p>
              <a:endParaRPr lang="zh-CN" altLang="en-US" dirty="0">
                <a:latin typeface="Times New Roman" panose="02020603050405020304" pitchFamily="18" charset="0"/>
              </a:endParaRPr>
            </a:p>
          </p:txBody>
        </p:sp>
        <p:sp>
          <p:nvSpPr>
            <p:cNvPr id="1073752578" name="椭圆 1073752577"/>
            <p:cNvSpPr/>
            <p:nvPr/>
          </p:nvSpPr>
          <p:spPr>
            <a:xfrm>
              <a:off x="7427" y="10453"/>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5</a:t>
              </a:r>
            </a:p>
            <a:p>
              <a:endParaRPr lang="zh-CN" altLang="en-US" dirty="0">
                <a:latin typeface="Times New Roman" panose="02020603050405020304" pitchFamily="18" charset="0"/>
              </a:endParaRPr>
            </a:p>
          </p:txBody>
        </p:sp>
        <p:sp>
          <p:nvSpPr>
            <p:cNvPr id="1073752579" name="椭圆 1073752578"/>
            <p:cNvSpPr/>
            <p:nvPr/>
          </p:nvSpPr>
          <p:spPr>
            <a:xfrm>
              <a:off x="7421" y="11233"/>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6</a:t>
              </a:r>
            </a:p>
            <a:p>
              <a:endParaRPr lang="zh-CN" altLang="en-US" dirty="0">
                <a:latin typeface="Times New Roman" panose="02020603050405020304" pitchFamily="18" charset="0"/>
              </a:endParaRPr>
            </a:p>
          </p:txBody>
        </p:sp>
        <p:sp>
          <p:nvSpPr>
            <p:cNvPr id="1073752580" name="椭圆 1073752579"/>
            <p:cNvSpPr/>
            <p:nvPr/>
          </p:nvSpPr>
          <p:spPr>
            <a:xfrm>
              <a:off x="7991" y="11923"/>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7</a:t>
              </a:r>
            </a:p>
            <a:p>
              <a:endParaRPr lang="zh-CN" altLang="en-US" dirty="0">
                <a:latin typeface="Times New Roman" panose="02020603050405020304" pitchFamily="18" charset="0"/>
              </a:endParaRPr>
            </a:p>
          </p:txBody>
        </p:sp>
        <p:sp>
          <p:nvSpPr>
            <p:cNvPr id="1073752581" name="椭圆 1073752580"/>
            <p:cNvSpPr/>
            <p:nvPr/>
          </p:nvSpPr>
          <p:spPr>
            <a:xfrm>
              <a:off x="6854" y="11926"/>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8</a:t>
              </a:r>
            </a:p>
            <a:p>
              <a:endParaRPr lang="zh-CN" altLang="en-US" dirty="0">
                <a:latin typeface="Times New Roman" panose="02020603050405020304" pitchFamily="18" charset="0"/>
              </a:endParaRPr>
            </a:p>
          </p:txBody>
        </p:sp>
        <p:sp>
          <p:nvSpPr>
            <p:cNvPr id="1073752582" name="椭圆 1073752581"/>
            <p:cNvSpPr/>
            <p:nvPr/>
          </p:nvSpPr>
          <p:spPr>
            <a:xfrm>
              <a:off x="7424" y="12616"/>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9</a:t>
              </a:r>
            </a:p>
            <a:p>
              <a:endParaRPr lang="zh-CN" altLang="en-US" dirty="0">
                <a:latin typeface="Times New Roman" panose="02020603050405020304" pitchFamily="18" charset="0"/>
              </a:endParaRPr>
            </a:p>
          </p:txBody>
        </p:sp>
        <p:sp>
          <p:nvSpPr>
            <p:cNvPr id="1073752583" name="椭圆 1073752582"/>
            <p:cNvSpPr/>
            <p:nvPr/>
          </p:nvSpPr>
          <p:spPr>
            <a:xfrm>
              <a:off x="5147" y="9286"/>
              <a:ext cx="622" cy="468"/>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10</a:t>
              </a:r>
            </a:p>
            <a:p>
              <a:endParaRPr lang="zh-CN" altLang="en-US" dirty="0">
                <a:latin typeface="Times New Roman" panose="02020603050405020304" pitchFamily="18" charset="0"/>
              </a:endParaRPr>
            </a:p>
          </p:txBody>
        </p:sp>
        <p:sp>
          <p:nvSpPr>
            <p:cNvPr id="1073752584" name="椭圆 1073752583"/>
            <p:cNvSpPr/>
            <p:nvPr/>
          </p:nvSpPr>
          <p:spPr>
            <a:xfrm>
              <a:off x="5933" y="10047"/>
              <a:ext cx="630" cy="394"/>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11</a:t>
              </a:r>
            </a:p>
            <a:p>
              <a:endParaRPr lang="zh-CN" altLang="en-US" dirty="0">
                <a:latin typeface="Times New Roman" panose="02020603050405020304" pitchFamily="18" charset="0"/>
              </a:endParaRPr>
            </a:p>
          </p:txBody>
        </p:sp>
        <p:sp>
          <p:nvSpPr>
            <p:cNvPr id="1073752585" name="椭圆 1073752584"/>
            <p:cNvSpPr/>
            <p:nvPr/>
          </p:nvSpPr>
          <p:spPr>
            <a:xfrm>
              <a:off x="4590" y="10047"/>
              <a:ext cx="611"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12</a:t>
              </a:r>
            </a:p>
            <a:p>
              <a:endParaRPr lang="zh-CN" altLang="en-US" dirty="0">
                <a:latin typeface="Times New Roman" panose="02020603050405020304" pitchFamily="18" charset="0"/>
              </a:endParaRPr>
            </a:p>
          </p:txBody>
        </p:sp>
        <p:sp>
          <p:nvSpPr>
            <p:cNvPr id="1073752586" name="椭圆 1073752585"/>
            <p:cNvSpPr/>
            <p:nvPr/>
          </p:nvSpPr>
          <p:spPr>
            <a:xfrm>
              <a:off x="5201" y="10737"/>
              <a:ext cx="732" cy="497"/>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13</a:t>
              </a:r>
            </a:p>
            <a:p>
              <a:endParaRPr lang="zh-CN" altLang="en-US" dirty="0">
                <a:latin typeface="Times New Roman" panose="02020603050405020304" pitchFamily="18" charset="0"/>
              </a:endParaRPr>
            </a:p>
          </p:txBody>
        </p:sp>
        <p:sp>
          <p:nvSpPr>
            <p:cNvPr id="1073752587" name="直接连接符 1073752586"/>
            <p:cNvSpPr/>
            <p:nvPr/>
          </p:nvSpPr>
          <p:spPr>
            <a:xfrm>
              <a:off x="7631" y="8511"/>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88" name="直接连接符 1073752587"/>
            <p:cNvSpPr/>
            <p:nvPr/>
          </p:nvSpPr>
          <p:spPr>
            <a:xfrm>
              <a:off x="7631" y="9285"/>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89" name="直接连接符 1073752588"/>
            <p:cNvSpPr/>
            <p:nvPr/>
          </p:nvSpPr>
          <p:spPr>
            <a:xfrm>
              <a:off x="7628" y="10068"/>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0" name="直接连接符 1073752589"/>
            <p:cNvSpPr/>
            <p:nvPr/>
          </p:nvSpPr>
          <p:spPr>
            <a:xfrm>
              <a:off x="7631" y="10852"/>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1" name="直接连接符 1073752590"/>
            <p:cNvSpPr/>
            <p:nvPr/>
          </p:nvSpPr>
          <p:spPr>
            <a:xfrm flipH="1">
              <a:off x="7061" y="10821"/>
              <a:ext cx="453" cy="1102"/>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2" name="直接连接符 1073752591"/>
            <p:cNvSpPr/>
            <p:nvPr/>
          </p:nvSpPr>
          <p:spPr>
            <a:xfrm flipH="1">
              <a:off x="7217" y="11608"/>
              <a:ext cx="297"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3" name="直接连接符 1073752592"/>
            <p:cNvSpPr/>
            <p:nvPr/>
          </p:nvSpPr>
          <p:spPr>
            <a:xfrm>
              <a:off x="7724" y="11608"/>
              <a:ext cx="315"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4" name="直接连接符 1073752593"/>
            <p:cNvSpPr/>
            <p:nvPr/>
          </p:nvSpPr>
          <p:spPr>
            <a:xfrm flipH="1">
              <a:off x="7259" y="12123"/>
              <a:ext cx="726" cy="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5" name="直接连接符 1073752594"/>
            <p:cNvSpPr/>
            <p:nvPr/>
          </p:nvSpPr>
          <p:spPr>
            <a:xfrm>
              <a:off x="7181" y="12279"/>
              <a:ext cx="315"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6" name="直接连接符 1073752595"/>
            <p:cNvSpPr/>
            <p:nvPr/>
          </p:nvSpPr>
          <p:spPr>
            <a:xfrm flipH="1">
              <a:off x="5726" y="8388"/>
              <a:ext cx="1707" cy="1029"/>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7" name="直接连接符 1073752596"/>
            <p:cNvSpPr/>
            <p:nvPr/>
          </p:nvSpPr>
          <p:spPr>
            <a:xfrm flipH="1">
              <a:off x="5768" y="9117"/>
              <a:ext cx="1656" cy="39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8" name="直接连接符 1073752597"/>
            <p:cNvSpPr/>
            <p:nvPr/>
          </p:nvSpPr>
          <p:spPr>
            <a:xfrm flipH="1">
              <a:off x="5147" y="9711"/>
              <a:ext cx="288" cy="39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9" name="直接连接符 1073752598"/>
            <p:cNvSpPr/>
            <p:nvPr/>
          </p:nvSpPr>
          <p:spPr>
            <a:xfrm>
              <a:off x="5678" y="9735"/>
              <a:ext cx="327" cy="351"/>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600" name="直接连接符 1073752599"/>
            <p:cNvSpPr/>
            <p:nvPr/>
          </p:nvSpPr>
          <p:spPr>
            <a:xfrm>
              <a:off x="5126" y="10410"/>
              <a:ext cx="327" cy="351"/>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601" name="直接连接符 1073752600"/>
            <p:cNvSpPr/>
            <p:nvPr/>
          </p:nvSpPr>
          <p:spPr>
            <a:xfrm flipH="1">
              <a:off x="5660" y="10371"/>
              <a:ext cx="324" cy="39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602" name="任意多边形 1073752601"/>
            <p:cNvSpPr/>
            <p:nvPr/>
          </p:nvSpPr>
          <p:spPr>
            <a:xfrm>
              <a:off x="7829" y="8358"/>
              <a:ext cx="1653" cy="4457"/>
            </a:xfrm>
            <a:custGeom>
              <a:avLst/>
              <a:gdLst/>
              <a:ahLst/>
              <a:cxnLst/>
              <a:rect l="0" t="0" r="0" b="0"/>
              <a:pathLst>
                <a:path w="1653" h="4457">
                  <a:moveTo>
                    <a:pt x="0" y="4457"/>
                  </a:moveTo>
                  <a:cubicBezTo>
                    <a:pt x="168" y="4406"/>
                    <a:pt x="722" y="4363"/>
                    <a:pt x="1011" y="4149"/>
                  </a:cubicBezTo>
                  <a:cubicBezTo>
                    <a:pt x="1300" y="3935"/>
                    <a:pt x="1429" y="3780"/>
                    <a:pt x="1541" y="3367"/>
                  </a:cubicBezTo>
                  <a:cubicBezTo>
                    <a:pt x="1653" y="2954"/>
                    <a:pt x="1575" y="2609"/>
                    <a:pt x="1530" y="2292"/>
                  </a:cubicBezTo>
                  <a:cubicBezTo>
                    <a:pt x="1485" y="1975"/>
                    <a:pt x="1377" y="1710"/>
                    <a:pt x="1268" y="1462"/>
                  </a:cubicBezTo>
                  <a:cubicBezTo>
                    <a:pt x="1159" y="1214"/>
                    <a:pt x="1016" y="991"/>
                    <a:pt x="877" y="803"/>
                  </a:cubicBezTo>
                  <a:cubicBezTo>
                    <a:pt x="738" y="615"/>
                    <a:pt x="577" y="466"/>
                    <a:pt x="433" y="332"/>
                  </a:cubicBezTo>
                  <a:cubicBezTo>
                    <a:pt x="289" y="198"/>
                    <a:pt x="98" y="69"/>
                    <a:pt x="10" y="0"/>
                  </a:cubicBezTo>
                </a:path>
              </a:pathLst>
            </a:custGeom>
            <a:noFill/>
            <a:ln w="9525" cap="flat" cmpd="sng">
              <a:solidFill>
                <a:srgbClr val="000000"/>
              </a:solidFill>
              <a:prstDash val="solid"/>
              <a:headEnd type="none" w="med" len="med"/>
              <a:tailEnd type="triangle" w="med" len="med"/>
            </a:ln>
          </p:spPr>
          <p:txBody>
            <a:bodyPr/>
            <a:lstStyle/>
            <a:p>
              <a:endParaRPr lang="zh-CN" altLang="en-US" dirty="0">
                <a:latin typeface="Times New Roman" panose="02020603050405020304" pitchFamily="18" charset="0"/>
              </a:endParaRPr>
            </a:p>
          </p:txBody>
        </p:sp>
        <p:sp>
          <p:nvSpPr>
            <p:cNvPr id="1073752603" name="任意多边形 1073752602"/>
            <p:cNvSpPr/>
            <p:nvPr/>
          </p:nvSpPr>
          <p:spPr>
            <a:xfrm>
              <a:off x="4223" y="7467"/>
              <a:ext cx="3204" cy="3441"/>
            </a:xfrm>
            <a:custGeom>
              <a:avLst/>
              <a:gdLst/>
              <a:ahLst/>
              <a:cxnLst/>
              <a:rect l="0" t="0" r="0" b="0"/>
              <a:pathLst>
                <a:path w="3204" h="3441">
                  <a:moveTo>
                    <a:pt x="1147" y="3441"/>
                  </a:moveTo>
                  <a:cubicBezTo>
                    <a:pt x="998" y="3355"/>
                    <a:pt x="510" y="3292"/>
                    <a:pt x="255" y="2924"/>
                  </a:cubicBezTo>
                  <a:cubicBezTo>
                    <a:pt x="0" y="2556"/>
                    <a:pt x="31" y="1916"/>
                    <a:pt x="195" y="1506"/>
                  </a:cubicBezTo>
                  <a:cubicBezTo>
                    <a:pt x="359" y="1096"/>
                    <a:pt x="547" y="726"/>
                    <a:pt x="1147" y="351"/>
                  </a:cubicBezTo>
                  <a:cubicBezTo>
                    <a:pt x="1613" y="118"/>
                    <a:pt x="2477" y="54"/>
                    <a:pt x="2832" y="27"/>
                  </a:cubicBezTo>
                  <a:cubicBezTo>
                    <a:pt x="3187" y="0"/>
                    <a:pt x="3127" y="16"/>
                    <a:pt x="3204" y="13"/>
                  </a:cubicBezTo>
                </a:path>
              </a:pathLst>
            </a:custGeom>
            <a:noFill/>
            <a:ln w="9525" cap="flat" cmpd="sng">
              <a:solidFill>
                <a:srgbClr val="000000"/>
              </a:solidFill>
              <a:prstDash val="dash"/>
              <a:headEnd type="none" w="med" len="med"/>
              <a:tailEnd type="triangle" w="med" len="med"/>
            </a:ln>
          </p:spPr>
          <p:txBody>
            <a:bodyPr/>
            <a:lstStyle/>
            <a:p>
              <a:endParaRPr lang="zh-CN" altLang="en-US" dirty="0">
                <a:latin typeface="Times New Roman" panose="02020603050405020304" pitchFamily="18" charset="0"/>
              </a:endParaRPr>
            </a:p>
          </p:txBody>
        </p:sp>
      </p:grpSp>
    </p:spTree>
  </p:cSld>
  <p:clrMapOvr>
    <a:masterClrMapping/>
  </p:clrMapOvr>
  <p:transition>
    <p:pull dir="rd"/>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11520000" cy="535531"/>
          </a:xfrm>
        </p:spPr>
        <p:txBody>
          <a:bodyPr/>
          <a:lstStyle/>
          <a:p>
            <a:r>
              <a:rPr lang="en-US" dirty="0"/>
              <a:t>4.5 </a:t>
            </a:r>
            <a:r>
              <a:rPr lang="zh-CN" altLang="en-US" dirty="0"/>
              <a:t>设计软件测试方案</a:t>
            </a:r>
          </a:p>
        </p:txBody>
      </p:sp>
      <p:grpSp>
        <p:nvGrpSpPr>
          <p:cNvPr id="2" name="组合 1"/>
          <p:cNvGrpSpPr/>
          <p:nvPr/>
        </p:nvGrpSpPr>
        <p:grpSpPr>
          <a:xfrm>
            <a:off x="737235" y="1403985"/>
            <a:ext cx="9955530" cy="4890135"/>
            <a:chOff x="1275" y="2210"/>
            <a:chExt cx="15678" cy="7701"/>
          </a:xfrm>
        </p:grpSpPr>
        <p:sp>
          <p:nvSpPr>
            <p:cNvPr id="19" name="TextBox 6"/>
            <p:cNvSpPr txBox="1"/>
            <p:nvPr/>
          </p:nvSpPr>
          <p:spPr>
            <a:xfrm>
              <a:off x="1275" y="2210"/>
              <a:ext cx="13695" cy="892"/>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案例</a:t>
              </a:r>
            </a:p>
          </p:txBody>
        </p:sp>
        <p:grpSp>
          <p:nvGrpSpPr>
            <p:cNvPr id="5" name="组合 4"/>
            <p:cNvGrpSpPr/>
            <p:nvPr/>
          </p:nvGrpSpPr>
          <p:grpSpPr>
            <a:xfrm>
              <a:off x="1499" y="3150"/>
              <a:ext cx="15454" cy="6761"/>
              <a:chOff x="1499" y="3150"/>
              <a:chExt cx="15454" cy="6761"/>
            </a:xfrm>
          </p:grpSpPr>
          <p:sp>
            <p:nvSpPr>
              <p:cNvPr id="22" name="TextBox 21"/>
              <p:cNvSpPr txBox="1"/>
              <p:nvPr/>
            </p:nvSpPr>
            <p:spPr>
              <a:xfrm>
                <a:off x="3431" y="3419"/>
                <a:ext cx="13522" cy="624"/>
              </a:xfrm>
              <a:prstGeom prst="rect">
                <a:avLst/>
              </a:prstGeom>
              <a:noFill/>
            </p:spPr>
            <p:txBody>
              <a:bodyPr wrap="square">
                <a:spAutoFit/>
              </a:bodyPr>
              <a:lstStyle/>
              <a:p>
                <a:r>
                  <a:rPr sz="2000" dirty="0">
                    <a:latin typeface="Times New Roman" panose="02020603050405020304" pitchFamily="18" charset="0"/>
                    <a:sym typeface="+mn-ea"/>
                  </a:rPr>
                  <a:t>用基本路径覆盖法设计测试用例。</a:t>
                </a:r>
              </a:p>
            </p:txBody>
          </p:sp>
          <p:sp>
            <p:nvSpPr>
              <p:cNvPr id="24" name="矩形 23"/>
              <p:cNvSpPr>
                <a:spLocks noChangeAspect="1"/>
              </p:cNvSpPr>
              <p:nvPr/>
            </p:nvSpPr>
            <p:spPr>
              <a:xfrm>
                <a:off x="1499" y="4275"/>
                <a:ext cx="8213" cy="5636"/>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3"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altLang="en-US" sz="2400" dirty="0">
                      <a:solidFill>
                        <a:schemeClr val="bg1"/>
                      </a:solidFill>
                      <a:latin typeface="Times New Roman" panose="02020603050405020304" pitchFamily="18" charset="0"/>
                      <a:sym typeface="+mn-ea"/>
                    </a:rPr>
                    <a:t>例 </a:t>
                  </a:r>
                  <a:r>
                    <a:rPr lang="en-US" altLang="zh-CN" sz="2400" dirty="0">
                      <a:solidFill>
                        <a:schemeClr val="bg1"/>
                      </a:solidFill>
                      <a:latin typeface="Times New Roman" panose="02020603050405020304" pitchFamily="18" charset="0"/>
                      <a:sym typeface="+mn-ea"/>
                    </a:rPr>
                    <a:t>4-4</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4" name="TextBox 33"/>
              <p:cNvSpPr txBox="1"/>
              <p:nvPr/>
            </p:nvSpPr>
            <p:spPr>
              <a:xfrm>
                <a:off x="1632" y="4426"/>
                <a:ext cx="7864" cy="5249"/>
              </a:xfrm>
              <a:prstGeom prst="rect">
                <a:avLst/>
              </a:prstGeom>
              <a:solidFill>
                <a:schemeClr val="bg1">
                  <a:lumMod val="95000"/>
                </a:schemeClr>
              </a:solidFill>
            </p:spPr>
            <p:txBody>
              <a:bodyPr wrap="square">
                <a:spAutoFit/>
              </a:bodyPr>
              <a:lstStyle/>
              <a:p>
                <a:pPr fontAlgn="auto">
                  <a:lnSpc>
                    <a:spcPct val="130000"/>
                  </a:lnSpc>
                </a:pPr>
                <a:r>
                  <a:rPr lang="en-US" altLang="en-US" dirty="0">
                    <a:latin typeface="Times New Roman" panose="02020603050405020304" charset="0"/>
                    <a:ea typeface="微软雅黑 Light" panose="020B0502040204020203" pitchFamily="34" charset="-122"/>
                  </a:rPr>
                  <a:t>2．计算流图的环形复杂度</a:t>
                </a:r>
              </a:p>
              <a:p>
                <a:pPr fontAlgn="auto">
                  <a:lnSpc>
                    <a:spcPct val="130000"/>
                  </a:lnSpc>
                </a:pPr>
                <a:r>
                  <a:rPr lang="en-US" altLang="en-US" dirty="0">
                    <a:latin typeface="Times New Roman" panose="02020603050405020304" charset="0"/>
                    <a:ea typeface="微软雅黑 Light" panose="020B0502040204020203" pitchFamily="34" charset="-122"/>
                  </a:rPr>
                  <a:t>用环形复杂度来定量度量程序的逻辑复杂性。有了描绘程序控制流的流图之后，可知流图的边数为17，结点数为13，判定结点数为5。可以用下述三种方法之一来计算环形复杂度，结果相同，程序的环形复杂度为6。</a:t>
                </a:r>
              </a:p>
              <a:p>
                <a:pPr fontAlgn="auto">
                  <a:lnSpc>
                    <a:spcPct val="130000"/>
                  </a:lnSpc>
                </a:pPr>
                <a:endParaRPr lang="en-US" altLang="en-US" dirty="0">
                  <a:latin typeface="Times New Roman" panose="02020603050405020304" charset="0"/>
                  <a:ea typeface="微软雅黑 Light" panose="020B0502040204020203" pitchFamily="34" charset="-122"/>
                </a:endParaRPr>
              </a:p>
              <a:p>
                <a:pPr fontAlgn="auto">
                  <a:lnSpc>
                    <a:spcPct val="130000"/>
                  </a:lnSpc>
                </a:pPr>
                <a:endParaRPr lang="en-US" altLang="en-US" dirty="0">
                  <a:latin typeface="Times New Roman" panose="02020603050405020304" charset="0"/>
                  <a:ea typeface="微软雅黑 Light" panose="020B0502040204020203" pitchFamily="34" charset="-122"/>
                </a:endParaRPr>
              </a:p>
              <a:p>
                <a:pPr fontAlgn="auto">
                  <a:lnSpc>
                    <a:spcPct val="130000"/>
                  </a:lnSpc>
                </a:pPr>
                <a:endParaRPr lang="en-US" altLang="en-US" dirty="0">
                  <a:latin typeface="Times New Roman" panose="02020603050405020304" charset="0"/>
                  <a:ea typeface="微软雅黑 Light" panose="020B0502040204020203" pitchFamily="34" charset="-122"/>
                </a:endParaRPr>
              </a:p>
            </p:txBody>
          </p:sp>
        </p:grpSp>
      </p:grpSp>
      <p:sp>
        <p:nvSpPr>
          <p:cNvPr id="7" name="矩形 6"/>
          <p:cNvSpPr>
            <a:spLocks noChangeAspect="1"/>
          </p:cNvSpPr>
          <p:nvPr/>
        </p:nvSpPr>
        <p:spPr>
          <a:xfrm>
            <a:off x="6316345" y="1238250"/>
            <a:ext cx="4940300" cy="5055870"/>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sp>
        <p:nvSpPr>
          <p:cNvPr id="8" name="TextBox 33"/>
          <p:cNvSpPr txBox="1"/>
          <p:nvPr/>
        </p:nvSpPr>
        <p:spPr>
          <a:xfrm>
            <a:off x="6462395" y="1372235"/>
            <a:ext cx="4627880" cy="4844415"/>
          </a:xfrm>
          <a:prstGeom prst="rect">
            <a:avLst/>
          </a:prstGeom>
          <a:solidFill>
            <a:schemeClr val="bg1">
              <a:lumMod val="95000"/>
            </a:schemeClr>
          </a:solidFill>
        </p:spPr>
        <p:txBody>
          <a:bodyPr wrap="square">
            <a:spAutoFit/>
          </a:bodyPr>
          <a:lstStyle/>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p:txBody>
      </p:sp>
      <p:grpSp>
        <p:nvGrpSpPr>
          <p:cNvPr id="1073752572" name="组合 1073752571"/>
          <p:cNvGrpSpPr>
            <a:grpSpLocks noRot="1"/>
          </p:cNvGrpSpPr>
          <p:nvPr/>
        </p:nvGrpSpPr>
        <p:grpSpPr>
          <a:xfrm>
            <a:off x="6686550" y="2171700"/>
            <a:ext cx="4200525" cy="3578225"/>
            <a:chOff x="4223" y="7325"/>
            <a:chExt cx="5259" cy="5691"/>
          </a:xfrm>
        </p:grpSpPr>
        <p:sp>
          <p:nvSpPr>
            <p:cNvPr id="1073752573" name="直接连接符 1073752572"/>
            <p:cNvSpPr/>
            <p:nvPr/>
          </p:nvSpPr>
          <p:spPr>
            <a:xfrm>
              <a:off x="7631" y="7728"/>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74" name="椭圆 1073752573"/>
            <p:cNvSpPr/>
            <p:nvPr/>
          </p:nvSpPr>
          <p:spPr>
            <a:xfrm>
              <a:off x="7427" y="7325"/>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a:t>
              </a:r>
            </a:p>
            <a:p>
              <a:endParaRPr lang="zh-CN" altLang="en-US" dirty="0">
                <a:latin typeface="Times New Roman" panose="02020603050405020304" pitchFamily="18" charset="0"/>
              </a:endParaRPr>
            </a:p>
          </p:txBody>
        </p:sp>
        <p:sp>
          <p:nvSpPr>
            <p:cNvPr id="1073752575" name="椭圆 1073752574"/>
            <p:cNvSpPr/>
            <p:nvPr/>
          </p:nvSpPr>
          <p:spPr>
            <a:xfrm>
              <a:off x="7427" y="8111"/>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2</a:t>
              </a:r>
            </a:p>
            <a:p>
              <a:endParaRPr lang="zh-CN" altLang="en-US" dirty="0">
                <a:latin typeface="Times New Roman" panose="02020603050405020304" pitchFamily="18" charset="0"/>
              </a:endParaRPr>
            </a:p>
          </p:txBody>
        </p:sp>
        <p:sp>
          <p:nvSpPr>
            <p:cNvPr id="1073752576" name="椭圆 1073752575"/>
            <p:cNvSpPr/>
            <p:nvPr/>
          </p:nvSpPr>
          <p:spPr>
            <a:xfrm>
              <a:off x="7424" y="8885"/>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3</a:t>
              </a:r>
            </a:p>
            <a:p>
              <a:endParaRPr lang="zh-CN" altLang="en-US" dirty="0">
                <a:latin typeface="Times New Roman" panose="02020603050405020304" pitchFamily="18" charset="0"/>
              </a:endParaRPr>
            </a:p>
          </p:txBody>
        </p:sp>
        <p:sp>
          <p:nvSpPr>
            <p:cNvPr id="1073752577" name="椭圆 1073752576"/>
            <p:cNvSpPr/>
            <p:nvPr/>
          </p:nvSpPr>
          <p:spPr>
            <a:xfrm>
              <a:off x="7427" y="9667"/>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4</a:t>
              </a:r>
            </a:p>
            <a:p>
              <a:endParaRPr lang="zh-CN" altLang="en-US" dirty="0">
                <a:latin typeface="Times New Roman" panose="02020603050405020304" pitchFamily="18" charset="0"/>
              </a:endParaRPr>
            </a:p>
          </p:txBody>
        </p:sp>
        <p:sp>
          <p:nvSpPr>
            <p:cNvPr id="1073752578" name="椭圆 1073752577"/>
            <p:cNvSpPr/>
            <p:nvPr/>
          </p:nvSpPr>
          <p:spPr>
            <a:xfrm>
              <a:off x="7427" y="10453"/>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5</a:t>
              </a:r>
            </a:p>
            <a:p>
              <a:endParaRPr lang="zh-CN" altLang="en-US" dirty="0">
                <a:latin typeface="Times New Roman" panose="02020603050405020304" pitchFamily="18" charset="0"/>
              </a:endParaRPr>
            </a:p>
          </p:txBody>
        </p:sp>
        <p:sp>
          <p:nvSpPr>
            <p:cNvPr id="1073752579" name="椭圆 1073752578"/>
            <p:cNvSpPr/>
            <p:nvPr/>
          </p:nvSpPr>
          <p:spPr>
            <a:xfrm>
              <a:off x="7421" y="11233"/>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6</a:t>
              </a:r>
            </a:p>
            <a:p>
              <a:endParaRPr lang="zh-CN" altLang="en-US" dirty="0">
                <a:latin typeface="Times New Roman" panose="02020603050405020304" pitchFamily="18" charset="0"/>
              </a:endParaRPr>
            </a:p>
          </p:txBody>
        </p:sp>
        <p:sp>
          <p:nvSpPr>
            <p:cNvPr id="1073752580" name="椭圆 1073752579"/>
            <p:cNvSpPr/>
            <p:nvPr/>
          </p:nvSpPr>
          <p:spPr>
            <a:xfrm>
              <a:off x="7991" y="11923"/>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7</a:t>
              </a:r>
            </a:p>
            <a:p>
              <a:endParaRPr lang="zh-CN" altLang="en-US" dirty="0">
                <a:latin typeface="Times New Roman" panose="02020603050405020304" pitchFamily="18" charset="0"/>
              </a:endParaRPr>
            </a:p>
          </p:txBody>
        </p:sp>
        <p:sp>
          <p:nvSpPr>
            <p:cNvPr id="1073752581" name="椭圆 1073752580"/>
            <p:cNvSpPr/>
            <p:nvPr/>
          </p:nvSpPr>
          <p:spPr>
            <a:xfrm>
              <a:off x="6854" y="11926"/>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8</a:t>
              </a:r>
            </a:p>
            <a:p>
              <a:endParaRPr lang="zh-CN" altLang="en-US" dirty="0">
                <a:latin typeface="Times New Roman" panose="02020603050405020304" pitchFamily="18" charset="0"/>
              </a:endParaRPr>
            </a:p>
          </p:txBody>
        </p:sp>
        <p:sp>
          <p:nvSpPr>
            <p:cNvPr id="1073752582" name="椭圆 1073752581"/>
            <p:cNvSpPr/>
            <p:nvPr/>
          </p:nvSpPr>
          <p:spPr>
            <a:xfrm>
              <a:off x="7424" y="12616"/>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9</a:t>
              </a:r>
            </a:p>
            <a:p>
              <a:endParaRPr lang="zh-CN" altLang="en-US" dirty="0">
                <a:latin typeface="Times New Roman" panose="02020603050405020304" pitchFamily="18" charset="0"/>
              </a:endParaRPr>
            </a:p>
          </p:txBody>
        </p:sp>
        <p:sp>
          <p:nvSpPr>
            <p:cNvPr id="1073752583" name="椭圆 1073752582"/>
            <p:cNvSpPr/>
            <p:nvPr/>
          </p:nvSpPr>
          <p:spPr>
            <a:xfrm>
              <a:off x="5147" y="9286"/>
              <a:ext cx="622" cy="468"/>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10</a:t>
              </a:r>
            </a:p>
            <a:p>
              <a:endParaRPr lang="zh-CN" altLang="en-US" dirty="0">
                <a:latin typeface="Times New Roman" panose="02020603050405020304" pitchFamily="18" charset="0"/>
              </a:endParaRPr>
            </a:p>
          </p:txBody>
        </p:sp>
        <p:sp>
          <p:nvSpPr>
            <p:cNvPr id="1073752584" name="椭圆 1073752583"/>
            <p:cNvSpPr/>
            <p:nvPr/>
          </p:nvSpPr>
          <p:spPr>
            <a:xfrm>
              <a:off x="5933" y="10047"/>
              <a:ext cx="630" cy="394"/>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11</a:t>
              </a:r>
            </a:p>
            <a:p>
              <a:endParaRPr lang="zh-CN" altLang="en-US" dirty="0">
                <a:latin typeface="Times New Roman" panose="02020603050405020304" pitchFamily="18" charset="0"/>
              </a:endParaRPr>
            </a:p>
          </p:txBody>
        </p:sp>
        <p:sp>
          <p:nvSpPr>
            <p:cNvPr id="1073752585" name="椭圆 1073752584"/>
            <p:cNvSpPr/>
            <p:nvPr/>
          </p:nvSpPr>
          <p:spPr>
            <a:xfrm>
              <a:off x="4590" y="10047"/>
              <a:ext cx="611"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12</a:t>
              </a:r>
            </a:p>
            <a:p>
              <a:endParaRPr lang="zh-CN" altLang="en-US" dirty="0">
                <a:latin typeface="Times New Roman" panose="02020603050405020304" pitchFamily="18" charset="0"/>
              </a:endParaRPr>
            </a:p>
          </p:txBody>
        </p:sp>
        <p:sp>
          <p:nvSpPr>
            <p:cNvPr id="1073752586" name="椭圆 1073752585"/>
            <p:cNvSpPr/>
            <p:nvPr/>
          </p:nvSpPr>
          <p:spPr>
            <a:xfrm>
              <a:off x="5201" y="10737"/>
              <a:ext cx="732" cy="497"/>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13</a:t>
              </a:r>
            </a:p>
            <a:p>
              <a:endParaRPr lang="zh-CN" altLang="en-US" dirty="0">
                <a:latin typeface="Times New Roman" panose="02020603050405020304" pitchFamily="18" charset="0"/>
              </a:endParaRPr>
            </a:p>
          </p:txBody>
        </p:sp>
        <p:sp>
          <p:nvSpPr>
            <p:cNvPr id="1073752587" name="直接连接符 1073752586"/>
            <p:cNvSpPr/>
            <p:nvPr/>
          </p:nvSpPr>
          <p:spPr>
            <a:xfrm>
              <a:off x="7631" y="8511"/>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88" name="直接连接符 1073752587"/>
            <p:cNvSpPr/>
            <p:nvPr/>
          </p:nvSpPr>
          <p:spPr>
            <a:xfrm>
              <a:off x="7631" y="9285"/>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89" name="直接连接符 1073752588"/>
            <p:cNvSpPr/>
            <p:nvPr/>
          </p:nvSpPr>
          <p:spPr>
            <a:xfrm>
              <a:off x="7628" y="10068"/>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0" name="直接连接符 1073752589"/>
            <p:cNvSpPr/>
            <p:nvPr/>
          </p:nvSpPr>
          <p:spPr>
            <a:xfrm>
              <a:off x="7631" y="10852"/>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1" name="直接连接符 1073752590"/>
            <p:cNvSpPr/>
            <p:nvPr/>
          </p:nvSpPr>
          <p:spPr>
            <a:xfrm flipH="1">
              <a:off x="7061" y="10821"/>
              <a:ext cx="453" cy="1102"/>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2" name="直接连接符 1073752591"/>
            <p:cNvSpPr/>
            <p:nvPr/>
          </p:nvSpPr>
          <p:spPr>
            <a:xfrm flipH="1">
              <a:off x="7217" y="11608"/>
              <a:ext cx="297"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3" name="直接连接符 1073752592"/>
            <p:cNvSpPr/>
            <p:nvPr/>
          </p:nvSpPr>
          <p:spPr>
            <a:xfrm>
              <a:off x="7724" y="11608"/>
              <a:ext cx="315"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4" name="直接连接符 1073752593"/>
            <p:cNvSpPr/>
            <p:nvPr/>
          </p:nvSpPr>
          <p:spPr>
            <a:xfrm flipH="1">
              <a:off x="7259" y="12123"/>
              <a:ext cx="726" cy="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5" name="直接连接符 1073752594"/>
            <p:cNvSpPr/>
            <p:nvPr/>
          </p:nvSpPr>
          <p:spPr>
            <a:xfrm>
              <a:off x="7181" y="12279"/>
              <a:ext cx="315"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6" name="直接连接符 1073752595"/>
            <p:cNvSpPr/>
            <p:nvPr/>
          </p:nvSpPr>
          <p:spPr>
            <a:xfrm flipH="1">
              <a:off x="5726" y="8388"/>
              <a:ext cx="1707" cy="1029"/>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7" name="直接连接符 1073752596"/>
            <p:cNvSpPr/>
            <p:nvPr/>
          </p:nvSpPr>
          <p:spPr>
            <a:xfrm flipH="1">
              <a:off x="5768" y="9117"/>
              <a:ext cx="1656" cy="39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8" name="直接连接符 1073752597"/>
            <p:cNvSpPr/>
            <p:nvPr/>
          </p:nvSpPr>
          <p:spPr>
            <a:xfrm flipH="1">
              <a:off x="5147" y="9711"/>
              <a:ext cx="288" cy="39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9" name="直接连接符 1073752598"/>
            <p:cNvSpPr/>
            <p:nvPr/>
          </p:nvSpPr>
          <p:spPr>
            <a:xfrm>
              <a:off x="5678" y="9735"/>
              <a:ext cx="327" cy="351"/>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600" name="直接连接符 1073752599"/>
            <p:cNvSpPr/>
            <p:nvPr/>
          </p:nvSpPr>
          <p:spPr>
            <a:xfrm>
              <a:off x="5126" y="10410"/>
              <a:ext cx="327" cy="351"/>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601" name="直接连接符 1073752600"/>
            <p:cNvSpPr/>
            <p:nvPr/>
          </p:nvSpPr>
          <p:spPr>
            <a:xfrm flipH="1">
              <a:off x="5660" y="10371"/>
              <a:ext cx="324" cy="39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602" name="任意多边形 1073752601"/>
            <p:cNvSpPr/>
            <p:nvPr/>
          </p:nvSpPr>
          <p:spPr>
            <a:xfrm>
              <a:off x="7829" y="8358"/>
              <a:ext cx="1653" cy="4457"/>
            </a:xfrm>
            <a:custGeom>
              <a:avLst/>
              <a:gdLst/>
              <a:ahLst/>
              <a:cxnLst/>
              <a:rect l="0" t="0" r="0" b="0"/>
              <a:pathLst>
                <a:path w="1653" h="4457">
                  <a:moveTo>
                    <a:pt x="0" y="4457"/>
                  </a:moveTo>
                  <a:cubicBezTo>
                    <a:pt x="168" y="4406"/>
                    <a:pt x="722" y="4363"/>
                    <a:pt x="1011" y="4149"/>
                  </a:cubicBezTo>
                  <a:cubicBezTo>
                    <a:pt x="1300" y="3935"/>
                    <a:pt x="1429" y="3780"/>
                    <a:pt x="1541" y="3367"/>
                  </a:cubicBezTo>
                  <a:cubicBezTo>
                    <a:pt x="1653" y="2954"/>
                    <a:pt x="1575" y="2609"/>
                    <a:pt x="1530" y="2292"/>
                  </a:cubicBezTo>
                  <a:cubicBezTo>
                    <a:pt x="1485" y="1975"/>
                    <a:pt x="1377" y="1710"/>
                    <a:pt x="1268" y="1462"/>
                  </a:cubicBezTo>
                  <a:cubicBezTo>
                    <a:pt x="1159" y="1214"/>
                    <a:pt x="1016" y="991"/>
                    <a:pt x="877" y="803"/>
                  </a:cubicBezTo>
                  <a:cubicBezTo>
                    <a:pt x="738" y="615"/>
                    <a:pt x="577" y="466"/>
                    <a:pt x="433" y="332"/>
                  </a:cubicBezTo>
                  <a:cubicBezTo>
                    <a:pt x="289" y="198"/>
                    <a:pt x="98" y="69"/>
                    <a:pt x="10" y="0"/>
                  </a:cubicBezTo>
                </a:path>
              </a:pathLst>
            </a:custGeom>
            <a:noFill/>
            <a:ln w="9525" cap="flat" cmpd="sng">
              <a:solidFill>
                <a:srgbClr val="000000"/>
              </a:solidFill>
              <a:prstDash val="solid"/>
              <a:headEnd type="none" w="med" len="med"/>
              <a:tailEnd type="triangle" w="med" len="med"/>
            </a:ln>
          </p:spPr>
          <p:txBody>
            <a:bodyPr/>
            <a:lstStyle/>
            <a:p>
              <a:endParaRPr lang="zh-CN" altLang="en-US" dirty="0">
                <a:latin typeface="Times New Roman" panose="02020603050405020304" pitchFamily="18" charset="0"/>
              </a:endParaRPr>
            </a:p>
          </p:txBody>
        </p:sp>
        <p:sp>
          <p:nvSpPr>
            <p:cNvPr id="1073752603" name="任意多边形 1073752602"/>
            <p:cNvSpPr/>
            <p:nvPr/>
          </p:nvSpPr>
          <p:spPr>
            <a:xfrm>
              <a:off x="4223" y="7467"/>
              <a:ext cx="3204" cy="3441"/>
            </a:xfrm>
            <a:custGeom>
              <a:avLst/>
              <a:gdLst/>
              <a:ahLst/>
              <a:cxnLst/>
              <a:rect l="0" t="0" r="0" b="0"/>
              <a:pathLst>
                <a:path w="3204" h="3441">
                  <a:moveTo>
                    <a:pt x="1147" y="3441"/>
                  </a:moveTo>
                  <a:cubicBezTo>
                    <a:pt x="998" y="3355"/>
                    <a:pt x="510" y="3292"/>
                    <a:pt x="255" y="2924"/>
                  </a:cubicBezTo>
                  <a:cubicBezTo>
                    <a:pt x="0" y="2556"/>
                    <a:pt x="31" y="1916"/>
                    <a:pt x="195" y="1506"/>
                  </a:cubicBezTo>
                  <a:cubicBezTo>
                    <a:pt x="359" y="1096"/>
                    <a:pt x="547" y="726"/>
                    <a:pt x="1147" y="351"/>
                  </a:cubicBezTo>
                  <a:cubicBezTo>
                    <a:pt x="1613" y="118"/>
                    <a:pt x="2477" y="54"/>
                    <a:pt x="2832" y="27"/>
                  </a:cubicBezTo>
                  <a:cubicBezTo>
                    <a:pt x="3187" y="0"/>
                    <a:pt x="3127" y="16"/>
                    <a:pt x="3204" y="13"/>
                  </a:cubicBezTo>
                </a:path>
              </a:pathLst>
            </a:custGeom>
            <a:noFill/>
            <a:ln w="9525" cap="flat" cmpd="sng">
              <a:solidFill>
                <a:srgbClr val="000000"/>
              </a:solidFill>
              <a:prstDash val="dash"/>
              <a:headEnd type="none" w="med" len="med"/>
              <a:tailEnd type="triangle" w="med" len="med"/>
            </a:ln>
          </p:spPr>
          <p:txBody>
            <a:bodyPr/>
            <a:lstStyle/>
            <a:p>
              <a:endParaRPr lang="zh-CN" altLang="en-US" dirty="0">
                <a:latin typeface="Times New Roman" panose="02020603050405020304" pitchFamily="18" charset="0"/>
              </a:endParaRPr>
            </a:p>
          </p:txBody>
        </p:sp>
      </p:grpSp>
      <p:graphicFrame>
        <p:nvGraphicFramePr>
          <p:cNvPr id="207873" name="Object 1"/>
          <p:cNvGraphicFramePr>
            <a:graphicFrameLocks noChangeAspect="1"/>
          </p:cNvGraphicFramePr>
          <p:nvPr/>
        </p:nvGraphicFramePr>
        <p:xfrm>
          <a:off x="1444625" y="4999038"/>
          <a:ext cx="3825875" cy="365125"/>
        </p:xfrm>
        <a:graphic>
          <a:graphicData uri="http://schemas.openxmlformats.org/presentationml/2006/ole">
            <mc:AlternateContent xmlns:mc="http://schemas.openxmlformats.org/markup-compatibility/2006">
              <mc:Choice xmlns:v="urn:schemas-microsoft-com:vml" Requires="v">
                <p:oleObj name="公式" r:id="rId4" imgW="54254400" imgH="5181600" progId="">
                  <p:embed/>
                </p:oleObj>
              </mc:Choice>
              <mc:Fallback>
                <p:oleObj name="公式" r:id="rId4" imgW="54254400" imgH="5181600" progId="">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4625" y="4999038"/>
                        <a:ext cx="3825875" cy="365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7874" name="Object 2"/>
          <p:cNvGraphicFramePr>
            <a:graphicFrameLocks noChangeAspect="1"/>
          </p:cNvGraphicFramePr>
          <p:nvPr/>
        </p:nvGraphicFramePr>
        <p:xfrm>
          <a:off x="1433513" y="5383213"/>
          <a:ext cx="3094037" cy="365125"/>
        </p:xfrm>
        <a:graphic>
          <a:graphicData uri="http://schemas.openxmlformats.org/presentationml/2006/ole">
            <mc:AlternateContent xmlns:mc="http://schemas.openxmlformats.org/markup-compatibility/2006">
              <mc:Choice xmlns:v="urn:schemas-microsoft-com:vml" Requires="v">
                <p:oleObj name="公式" r:id="rId6" imgW="43891200" imgH="5181600" progId="">
                  <p:embed/>
                </p:oleObj>
              </mc:Choice>
              <mc:Fallback>
                <p:oleObj name="公式" r:id="rId6" imgW="43891200" imgH="5181600" progId="">
                  <p:embed/>
                  <p:pic>
                    <p:nvPicPr>
                      <p:cNvPr id="0"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33513" y="5383213"/>
                        <a:ext cx="3094037" cy="365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7875" name="Object 3"/>
          <p:cNvGraphicFramePr>
            <a:graphicFrameLocks noChangeAspect="1"/>
          </p:cNvGraphicFramePr>
          <p:nvPr/>
        </p:nvGraphicFramePr>
        <p:xfrm>
          <a:off x="1446848" y="5775960"/>
          <a:ext cx="2149475" cy="368300"/>
        </p:xfrm>
        <a:graphic>
          <a:graphicData uri="http://schemas.openxmlformats.org/presentationml/2006/ole">
            <mc:AlternateContent xmlns:mc="http://schemas.openxmlformats.org/markup-compatibility/2006">
              <mc:Choice xmlns:v="urn:schemas-microsoft-com:vml" Requires="v">
                <p:oleObj name="公式" r:id="rId8" imgW="30480000" imgH="5181600" progId="">
                  <p:embed/>
                </p:oleObj>
              </mc:Choice>
              <mc:Fallback>
                <p:oleObj name="公式" r:id="rId8" imgW="30480000" imgH="5181600" progId="">
                  <p:embed/>
                  <p:pic>
                    <p:nvPicPr>
                      <p:cNvPr id="0" name="Picture 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46848" y="5775960"/>
                        <a:ext cx="2149475" cy="368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pull dir="rd"/>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11520000" cy="535531"/>
          </a:xfrm>
        </p:spPr>
        <p:txBody>
          <a:bodyPr/>
          <a:lstStyle/>
          <a:p>
            <a:r>
              <a:rPr lang="en-US" dirty="0"/>
              <a:t>4.5 </a:t>
            </a:r>
            <a:r>
              <a:rPr lang="zh-CN" altLang="en-US" dirty="0"/>
              <a:t>设计软件测试方案</a:t>
            </a:r>
          </a:p>
        </p:txBody>
      </p:sp>
      <p:grpSp>
        <p:nvGrpSpPr>
          <p:cNvPr id="2" name="组合 1"/>
          <p:cNvGrpSpPr/>
          <p:nvPr/>
        </p:nvGrpSpPr>
        <p:grpSpPr>
          <a:xfrm>
            <a:off x="737235" y="1403985"/>
            <a:ext cx="9955530" cy="4890135"/>
            <a:chOff x="1275" y="2210"/>
            <a:chExt cx="15678" cy="7701"/>
          </a:xfrm>
        </p:grpSpPr>
        <p:sp>
          <p:nvSpPr>
            <p:cNvPr id="19" name="TextBox 6"/>
            <p:cNvSpPr txBox="1"/>
            <p:nvPr/>
          </p:nvSpPr>
          <p:spPr>
            <a:xfrm>
              <a:off x="1275" y="2210"/>
              <a:ext cx="13695" cy="892"/>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案例</a:t>
              </a:r>
            </a:p>
          </p:txBody>
        </p:sp>
        <p:grpSp>
          <p:nvGrpSpPr>
            <p:cNvPr id="5" name="组合 4"/>
            <p:cNvGrpSpPr/>
            <p:nvPr/>
          </p:nvGrpSpPr>
          <p:grpSpPr>
            <a:xfrm>
              <a:off x="1499" y="3150"/>
              <a:ext cx="15454" cy="6761"/>
              <a:chOff x="1499" y="3150"/>
              <a:chExt cx="15454" cy="6761"/>
            </a:xfrm>
          </p:grpSpPr>
          <p:sp>
            <p:nvSpPr>
              <p:cNvPr id="22" name="TextBox 21"/>
              <p:cNvSpPr txBox="1"/>
              <p:nvPr/>
            </p:nvSpPr>
            <p:spPr>
              <a:xfrm>
                <a:off x="3431" y="3419"/>
                <a:ext cx="13522" cy="624"/>
              </a:xfrm>
              <a:prstGeom prst="rect">
                <a:avLst/>
              </a:prstGeom>
              <a:noFill/>
            </p:spPr>
            <p:txBody>
              <a:bodyPr wrap="square">
                <a:spAutoFit/>
              </a:bodyPr>
              <a:lstStyle/>
              <a:p>
                <a:r>
                  <a:rPr sz="2000" dirty="0">
                    <a:latin typeface="Times New Roman" panose="02020603050405020304" pitchFamily="18" charset="0"/>
                    <a:sym typeface="+mn-ea"/>
                  </a:rPr>
                  <a:t>用基本路径覆盖法设计测试用例。</a:t>
                </a:r>
              </a:p>
            </p:txBody>
          </p:sp>
          <p:sp>
            <p:nvSpPr>
              <p:cNvPr id="24" name="矩形 23"/>
              <p:cNvSpPr>
                <a:spLocks noChangeAspect="1"/>
              </p:cNvSpPr>
              <p:nvPr/>
            </p:nvSpPr>
            <p:spPr>
              <a:xfrm>
                <a:off x="1499" y="4275"/>
                <a:ext cx="8213" cy="5636"/>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3"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altLang="en-US" sz="2400" dirty="0">
                      <a:solidFill>
                        <a:schemeClr val="bg1"/>
                      </a:solidFill>
                      <a:latin typeface="Times New Roman" panose="02020603050405020304" pitchFamily="18" charset="0"/>
                      <a:sym typeface="+mn-ea"/>
                    </a:rPr>
                    <a:t>例 </a:t>
                  </a:r>
                  <a:r>
                    <a:rPr lang="en-US" altLang="zh-CN" sz="2400" dirty="0">
                      <a:solidFill>
                        <a:schemeClr val="bg1"/>
                      </a:solidFill>
                      <a:latin typeface="Times New Roman" panose="02020603050405020304" pitchFamily="18" charset="0"/>
                      <a:sym typeface="+mn-ea"/>
                    </a:rPr>
                    <a:t>4-4</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4" name="TextBox 33"/>
              <p:cNvSpPr txBox="1"/>
              <p:nvPr/>
            </p:nvSpPr>
            <p:spPr>
              <a:xfrm>
                <a:off x="1632" y="4426"/>
                <a:ext cx="7866" cy="5249"/>
              </a:xfrm>
              <a:prstGeom prst="rect">
                <a:avLst/>
              </a:prstGeom>
              <a:solidFill>
                <a:schemeClr val="bg1">
                  <a:lumMod val="95000"/>
                </a:schemeClr>
              </a:solidFill>
            </p:spPr>
            <p:txBody>
              <a:bodyPr wrap="square">
                <a:spAutoFit/>
              </a:bodyPr>
              <a:lstStyle/>
              <a:p>
                <a:pPr fontAlgn="auto">
                  <a:lnSpc>
                    <a:spcPct val="130000"/>
                  </a:lnSpc>
                </a:pPr>
                <a:r>
                  <a:rPr lang="en-US" altLang="en-US" dirty="0">
                    <a:latin typeface="Times New Roman" panose="02020603050405020304" charset="0"/>
                    <a:ea typeface="微软雅黑 Light" panose="020B0502040204020203" pitchFamily="34" charset="-122"/>
                  </a:rPr>
                  <a:t>3．确定线性独立路径的基本集合</a:t>
                </a:r>
              </a:p>
              <a:p>
                <a:pPr fontAlgn="auto">
                  <a:lnSpc>
                    <a:spcPct val="130000"/>
                  </a:lnSpc>
                </a:pPr>
                <a:r>
                  <a:rPr lang="en-US" altLang="en-US" dirty="0">
                    <a:latin typeface="Times New Roman" panose="02020603050405020304" charset="0"/>
                    <a:ea typeface="微软雅黑 Light" panose="020B0502040204020203" pitchFamily="34" charset="-122"/>
                  </a:rPr>
                  <a:t>         </a:t>
                </a:r>
                <a:r>
                  <a:rPr lang="en-US" altLang="en-US" dirty="0" err="1">
                    <a:latin typeface="Times New Roman" panose="02020603050405020304" charset="0"/>
                    <a:ea typeface="微软雅黑 Light" panose="020B0502040204020203" pitchFamily="34" charset="-122"/>
                  </a:rPr>
                  <a:t>使用基本路径覆盖测试法设计测试用例</a:t>
                </a:r>
                <a:r>
                  <a:rPr lang="zh-CN" altLang="en-US" dirty="0">
                    <a:latin typeface="Times New Roman" panose="02020603050405020304" charset="0"/>
                    <a:ea typeface="微软雅黑 Light" panose="020B0502040204020203" pitchFamily="34" charset="-122"/>
                  </a:rPr>
                  <a:t>的</a:t>
                </a:r>
                <a:r>
                  <a:rPr lang="en-US" altLang="en-US" dirty="0">
                    <a:latin typeface="Times New Roman" panose="02020603050405020304" charset="0"/>
                    <a:ea typeface="微软雅黑 Light" panose="020B0502040204020203" pitchFamily="34" charset="-122"/>
                  </a:rPr>
                  <a:t>时</a:t>
                </a:r>
                <a:r>
                  <a:rPr lang="zh-CN" altLang="en-US" dirty="0">
                    <a:latin typeface="Times New Roman" panose="02020603050405020304" charset="0"/>
                    <a:ea typeface="微软雅黑 Light" panose="020B0502040204020203" pitchFamily="34" charset="-122"/>
                  </a:rPr>
                  <a:t>候</a:t>
                </a:r>
                <a:r>
                  <a:rPr lang="en-US" altLang="en-US" dirty="0">
                    <a:latin typeface="Times New Roman" panose="02020603050405020304" charset="0"/>
                    <a:ea typeface="微软雅黑 Light" panose="020B0502040204020203" pitchFamily="34" charset="-122"/>
                  </a:rPr>
                  <a:t>，程序的环形复杂度决定了程序中独立路径的数量，而且这个数是确保程序中所有语句至少被执行一次所需的测试数量的上界。</a:t>
                </a:r>
              </a:p>
              <a:p>
                <a:pPr>
                  <a:lnSpc>
                    <a:spcPct val="130000"/>
                  </a:lnSpc>
                </a:pPr>
                <a:r>
                  <a:rPr lang="zh-CN" altLang="en-US" dirty="0">
                    <a:latin typeface="Times New Roman" panose="02020603050405020304" charset="0"/>
                    <a:ea typeface="微软雅黑 Light" panose="020B0502040204020203" pitchFamily="34" charset="-122"/>
                  </a:rPr>
                  <a:t>         通常在导出测试用例时，识别流图中的判定结点是很有必要的。本例中结点</a:t>
                </a:r>
                <a:r>
                  <a:rPr lang="en-US" altLang="zh-CN" dirty="0">
                    <a:latin typeface="Times New Roman" panose="02020603050405020304" charset="0"/>
                    <a:ea typeface="微软雅黑 Light" panose="020B0502040204020203" pitchFamily="34" charset="-122"/>
                  </a:rPr>
                  <a:t>2</a:t>
                </a:r>
                <a:r>
                  <a:rPr lang="zh-CN" altLang="en-US" dirty="0">
                    <a:latin typeface="Times New Roman" panose="02020603050405020304" charset="0"/>
                    <a:ea typeface="微软雅黑 Light" panose="020B0502040204020203" pitchFamily="34" charset="-122"/>
                  </a:rPr>
                  <a:t>，</a:t>
                </a:r>
                <a:r>
                  <a:rPr lang="en-US" altLang="zh-CN" dirty="0">
                    <a:latin typeface="Times New Roman" panose="02020603050405020304" charset="0"/>
                    <a:ea typeface="微软雅黑 Light" panose="020B0502040204020203" pitchFamily="34" charset="-122"/>
                  </a:rPr>
                  <a:t>3</a:t>
                </a:r>
                <a:r>
                  <a:rPr lang="zh-CN" altLang="en-US" dirty="0">
                    <a:latin typeface="Times New Roman" panose="02020603050405020304" charset="0"/>
                    <a:ea typeface="微软雅黑 Light" panose="020B0502040204020203" pitchFamily="34" charset="-122"/>
                  </a:rPr>
                  <a:t>，</a:t>
                </a:r>
                <a:r>
                  <a:rPr lang="en-US" altLang="zh-CN" dirty="0">
                    <a:latin typeface="Times New Roman" panose="02020603050405020304" charset="0"/>
                    <a:ea typeface="微软雅黑 Light" panose="020B0502040204020203" pitchFamily="34" charset="-122"/>
                  </a:rPr>
                  <a:t>5</a:t>
                </a:r>
                <a:r>
                  <a:rPr lang="zh-CN" altLang="en-US" dirty="0">
                    <a:latin typeface="Times New Roman" panose="02020603050405020304" charset="0"/>
                    <a:ea typeface="微软雅黑 Light" panose="020B0502040204020203" pitchFamily="34" charset="-122"/>
                  </a:rPr>
                  <a:t>，</a:t>
                </a:r>
                <a:r>
                  <a:rPr lang="en-US" altLang="zh-CN" dirty="0">
                    <a:latin typeface="Times New Roman" panose="02020603050405020304" charset="0"/>
                    <a:ea typeface="微软雅黑 Light" panose="020B0502040204020203" pitchFamily="34" charset="-122"/>
                  </a:rPr>
                  <a:t>6</a:t>
                </a:r>
                <a:r>
                  <a:rPr lang="zh-CN" altLang="en-US" dirty="0">
                    <a:latin typeface="Times New Roman" panose="02020603050405020304" charset="0"/>
                    <a:ea typeface="微软雅黑 Light" panose="020B0502040204020203" pitchFamily="34" charset="-122"/>
                  </a:rPr>
                  <a:t>和</a:t>
                </a:r>
                <a:r>
                  <a:rPr lang="en-US" altLang="zh-CN" dirty="0">
                    <a:latin typeface="Times New Roman" panose="02020603050405020304" charset="0"/>
                    <a:ea typeface="微软雅黑 Light" panose="020B0502040204020203" pitchFamily="34" charset="-122"/>
                  </a:rPr>
                  <a:t>10</a:t>
                </a:r>
                <a:r>
                  <a:rPr lang="zh-CN" altLang="en-US" dirty="0">
                    <a:latin typeface="Times New Roman" panose="02020603050405020304" charset="0"/>
                    <a:ea typeface="微软雅黑 Light" panose="020B0502040204020203" pitchFamily="34" charset="-122"/>
                  </a:rPr>
                  <a:t>是判定结点。从流图中找出的路径，有时实际情况可能并不会走，需要进一步核对。</a:t>
                </a:r>
                <a:endParaRPr lang="en-US" altLang="en-US" dirty="0">
                  <a:latin typeface="Times New Roman" panose="02020603050405020304" charset="0"/>
                  <a:ea typeface="微软雅黑 Light" panose="020B0502040204020203" pitchFamily="34" charset="-122"/>
                </a:endParaRPr>
              </a:p>
            </p:txBody>
          </p:sp>
        </p:grpSp>
      </p:grpSp>
      <p:sp>
        <p:nvSpPr>
          <p:cNvPr id="7" name="矩形 6"/>
          <p:cNvSpPr>
            <a:spLocks noChangeAspect="1"/>
          </p:cNvSpPr>
          <p:nvPr/>
        </p:nvSpPr>
        <p:spPr>
          <a:xfrm>
            <a:off x="6316345" y="1238250"/>
            <a:ext cx="4940300" cy="5055870"/>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sp>
        <p:nvSpPr>
          <p:cNvPr id="8" name="TextBox 33"/>
          <p:cNvSpPr txBox="1"/>
          <p:nvPr/>
        </p:nvSpPr>
        <p:spPr>
          <a:xfrm>
            <a:off x="6462395" y="1372235"/>
            <a:ext cx="4627880" cy="4844415"/>
          </a:xfrm>
          <a:prstGeom prst="rect">
            <a:avLst/>
          </a:prstGeom>
          <a:solidFill>
            <a:schemeClr val="bg1">
              <a:lumMod val="95000"/>
            </a:schemeClr>
          </a:solidFill>
        </p:spPr>
        <p:txBody>
          <a:bodyPr wrap="square">
            <a:spAutoFit/>
          </a:bodyPr>
          <a:lstStyle/>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p:txBody>
      </p:sp>
      <p:grpSp>
        <p:nvGrpSpPr>
          <p:cNvPr id="1073752572" name="组合 1073752571"/>
          <p:cNvGrpSpPr>
            <a:grpSpLocks noRot="1"/>
          </p:cNvGrpSpPr>
          <p:nvPr/>
        </p:nvGrpSpPr>
        <p:grpSpPr>
          <a:xfrm>
            <a:off x="6686550" y="2171700"/>
            <a:ext cx="4200525" cy="3578225"/>
            <a:chOff x="4223" y="7325"/>
            <a:chExt cx="5259" cy="5691"/>
          </a:xfrm>
        </p:grpSpPr>
        <p:sp>
          <p:nvSpPr>
            <p:cNvPr id="1073752573" name="直接连接符 1073752572"/>
            <p:cNvSpPr/>
            <p:nvPr/>
          </p:nvSpPr>
          <p:spPr>
            <a:xfrm>
              <a:off x="7631" y="7728"/>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74" name="椭圆 1073752573"/>
            <p:cNvSpPr/>
            <p:nvPr/>
          </p:nvSpPr>
          <p:spPr>
            <a:xfrm>
              <a:off x="7427" y="7325"/>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a:t>
              </a:r>
            </a:p>
            <a:p>
              <a:endParaRPr lang="zh-CN" altLang="en-US" dirty="0">
                <a:latin typeface="Times New Roman" panose="02020603050405020304" pitchFamily="18" charset="0"/>
              </a:endParaRPr>
            </a:p>
          </p:txBody>
        </p:sp>
        <p:sp>
          <p:nvSpPr>
            <p:cNvPr id="1073752575" name="椭圆 1073752574"/>
            <p:cNvSpPr/>
            <p:nvPr/>
          </p:nvSpPr>
          <p:spPr>
            <a:xfrm>
              <a:off x="7427" y="8111"/>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2</a:t>
              </a:r>
            </a:p>
            <a:p>
              <a:endParaRPr lang="zh-CN" altLang="en-US" dirty="0">
                <a:latin typeface="Times New Roman" panose="02020603050405020304" pitchFamily="18" charset="0"/>
              </a:endParaRPr>
            </a:p>
          </p:txBody>
        </p:sp>
        <p:sp>
          <p:nvSpPr>
            <p:cNvPr id="1073752576" name="椭圆 1073752575"/>
            <p:cNvSpPr/>
            <p:nvPr/>
          </p:nvSpPr>
          <p:spPr>
            <a:xfrm>
              <a:off x="7424" y="8885"/>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3</a:t>
              </a:r>
            </a:p>
            <a:p>
              <a:endParaRPr lang="zh-CN" altLang="en-US" dirty="0">
                <a:latin typeface="Times New Roman" panose="02020603050405020304" pitchFamily="18" charset="0"/>
              </a:endParaRPr>
            </a:p>
          </p:txBody>
        </p:sp>
        <p:sp>
          <p:nvSpPr>
            <p:cNvPr id="1073752577" name="椭圆 1073752576"/>
            <p:cNvSpPr/>
            <p:nvPr/>
          </p:nvSpPr>
          <p:spPr>
            <a:xfrm>
              <a:off x="7427" y="9667"/>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4</a:t>
              </a:r>
            </a:p>
            <a:p>
              <a:endParaRPr lang="zh-CN" altLang="en-US" dirty="0">
                <a:latin typeface="Times New Roman" panose="02020603050405020304" pitchFamily="18" charset="0"/>
              </a:endParaRPr>
            </a:p>
          </p:txBody>
        </p:sp>
        <p:sp>
          <p:nvSpPr>
            <p:cNvPr id="1073752578" name="椭圆 1073752577"/>
            <p:cNvSpPr/>
            <p:nvPr/>
          </p:nvSpPr>
          <p:spPr>
            <a:xfrm>
              <a:off x="7427" y="10453"/>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5</a:t>
              </a:r>
            </a:p>
            <a:p>
              <a:endParaRPr lang="zh-CN" altLang="en-US" dirty="0">
                <a:latin typeface="Times New Roman" panose="02020603050405020304" pitchFamily="18" charset="0"/>
              </a:endParaRPr>
            </a:p>
          </p:txBody>
        </p:sp>
        <p:sp>
          <p:nvSpPr>
            <p:cNvPr id="1073752579" name="椭圆 1073752578"/>
            <p:cNvSpPr/>
            <p:nvPr/>
          </p:nvSpPr>
          <p:spPr>
            <a:xfrm>
              <a:off x="7421" y="11233"/>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6</a:t>
              </a:r>
            </a:p>
            <a:p>
              <a:endParaRPr lang="zh-CN" altLang="en-US" dirty="0">
                <a:latin typeface="Times New Roman" panose="02020603050405020304" pitchFamily="18" charset="0"/>
              </a:endParaRPr>
            </a:p>
          </p:txBody>
        </p:sp>
        <p:sp>
          <p:nvSpPr>
            <p:cNvPr id="1073752580" name="椭圆 1073752579"/>
            <p:cNvSpPr/>
            <p:nvPr/>
          </p:nvSpPr>
          <p:spPr>
            <a:xfrm>
              <a:off x="7991" y="11923"/>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7</a:t>
              </a:r>
            </a:p>
            <a:p>
              <a:endParaRPr lang="zh-CN" altLang="en-US" dirty="0">
                <a:latin typeface="Times New Roman" panose="02020603050405020304" pitchFamily="18" charset="0"/>
              </a:endParaRPr>
            </a:p>
          </p:txBody>
        </p:sp>
        <p:sp>
          <p:nvSpPr>
            <p:cNvPr id="1073752581" name="椭圆 1073752580"/>
            <p:cNvSpPr/>
            <p:nvPr/>
          </p:nvSpPr>
          <p:spPr>
            <a:xfrm>
              <a:off x="6854" y="11926"/>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8</a:t>
              </a:r>
            </a:p>
            <a:p>
              <a:endParaRPr lang="zh-CN" altLang="en-US" dirty="0">
                <a:latin typeface="Times New Roman" panose="02020603050405020304" pitchFamily="18" charset="0"/>
              </a:endParaRPr>
            </a:p>
          </p:txBody>
        </p:sp>
        <p:sp>
          <p:nvSpPr>
            <p:cNvPr id="1073752582" name="椭圆 1073752581"/>
            <p:cNvSpPr/>
            <p:nvPr/>
          </p:nvSpPr>
          <p:spPr>
            <a:xfrm>
              <a:off x="7424" y="12616"/>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9</a:t>
              </a:r>
            </a:p>
            <a:p>
              <a:endParaRPr lang="zh-CN" altLang="en-US" dirty="0">
                <a:latin typeface="Times New Roman" panose="02020603050405020304" pitchFamily="18" charset="0"/>
              </a:endParaRPr>
            </a:p>
          </p:txBody>
        </p:sp>
        <p:sp>
          <p:nvSpPr>
            <p:cNvPr id="1073752583" name="椭圆 1073752582"/>
            <p:cNvSpPr/>
            <p:nvPr/>
          </p:nvSpPr>
          <p:spPr>
            <a:xfrm>
              <a:off x="5147" y="9286"/>
              <a:ext cx="622" cy="468"/>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10</a:t>
              </a:r>
            </a:p>
            <a:p>
              <a:endParaRPr lang="zh-CN" altLang="en-US" dirty="0">
                <a:latin typeface="Times New Roman" panose="02020603050405020304" pitchFamily="18" charset="0"/>
              </a:endParaRPr>
            </a:p>
          </p:txBody>
        </p:sp>
        <p:sp>
          <p:nvSpPr>
            <p:cNvPr id="1073752584" name="椭圆 1073752583"/>
            <p:cNvSpPr/>
            <p:nvPr/>
          </p:nvSpPr>
          <p:spPr>
            <a:xfrm>
              <a:off x="5933" y="10047"/>
              <a:ext cx="630" cy="394"/>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11</a:t>
              </a:r>
            </a:p>
            <a:p>
              <a:endParaRPr lang="zh-CN" altLang="en-US" dirty="0">
                <a:latin typeface="Times New Roman" panose="02020603050405020304" pitchFamily="18" charset="0"/>
              </a:endParaRPr>
            </a:p>
          </p:txBody>
        </p:sp>
        <p:sp>
          <p:nvSpPr>
            <p:cNvPr id="1073752585" name="椭圆 1073752584"/>
            <p:cNvSpPr/>
            <p:nvPr/>
          </p:nvSpPr>
          <p:spPr>
            <a:xfrm>
              <a:off x="4590" y="10047"/>
              <a:ext cx="611"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12</a:t>
              </a:r>
            </a:p>
            <a:p>
              <a:endParaRPr lang="zh-CN" altLang="en-US" dirty="0">
                <a:latin typeface="Times New Roman" panose="02020603050405020304" pitchFamily="18" charset="0"/>
              </a:endParaRPr>
            </a:p>
          </p:txBody>
        </p:sp>
        <p:sp>
          <p:nvSpPr>
            <p:cNvPr id="1073752586" name="椭圆 1073752585"/>
            <p:cNvSpPr/>
            <p:nvPr/>
          </p:nvSpPr>
          <p:spPr>
            <a:xfrm>
              <a:off x="5201" y="10737"/>
              <a:ext cx="732" cy="497"/>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13</a:t>
              </a:r>
            </a:p>
            <a:p>
              <a:endParaRPr lang="zh-CN" altLang="en-US" dirty="0">
                <a:latin typeface="Times New Roman" panose="02020603050405020304" pitchFamily="18" charset="0"/>
              </a:endParaRPr>
            </a:p>
          </p:txBody>
        </p:sp>
        <p:sp>
          <p:nvSpPr>
            <p:cNvPr id="1073752587" name="直接连接符 1073752586"/>
            <p:cNvSpPr/>
            <p:nvPr/>
          </p:nvSpPr>
          <p:spPr>
            <a:xfrm>
              <a:off x="7631" y="8511"/>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88" name="直接连接符 1073752587"/>
            <p:cNvSpPr/>
            <p:nvPr/>
          </p:nvSpPr>
          <p:spPr>
            <a:xfrm>
              <a:off x="7631" y="9285"/>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89" name="直接连接符 1073752588"/>
            <p:cNvSpPr/>
            <p:nvPr/>
          </p:nvSpPr>
          <p:spPr>
            <a:xfrm>
              <a:off x="7628" y="10068"/>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0" name="直接连接符 1073752589"/>
            <p:cNvSpPr/>
            <p:nvPr/>
          </p:nvSpPr>
          <p:spPr>
            <a:xfrm>
              <a:off x="7631" y="10852"/>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1" name="直接连接符 1073752590"/>
            <p:cNvSpPr/>
            <p:nvPr/>
          </p:nvSpPr>
          <p:spPr>
            <a:xfrm flipH="1">
              <a:off x="7061" y="10821"/>
              <a:ext cx="453" cy="1102"/>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2" name="直接连接符 1073752591"/>
            <p:cNvSpPr/>
            <p:nvPr/>
          </p:nvSpPr>
          <p:spPr>
            <a:xfrm flipH="1">
              <a:off x="7217" y="11608"/>
              <a:ext cx="297"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3" name="直接连接符 1073752592"/>
            <p:cNvSpPr/>
            <p:nvPr/>
          </p:nvSpPr>
          <p:spPr>
            <a:xfrm>
              <a:off x="7724" y="11608"/>
              <a:ext cx="315"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4" name="直接连接符 1073752593"/>
            <p:cNvSpPr/>
            <p:nvPr/>
          </p:nvSpPr>
          <p:spPr>
            <a:xfrm flipH="1">
              <a:off x="7259" y="12123"/>
              <a:ext cx="726" cy="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5" name="直接连接符 1073752594"/>
            <p:cNvSpPr/>
            <p:nvPr/>
          </p:nvSpPr>
          <p:spPr>
            <a:xfrm>
              <a:off x="7181" y="12279"/>
              <a:ext cx="315"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6" name="直接连接符 1073752595"/>
            <p:cNvSpPr/>
            <p:nvPr/>
          </p:nvSpPr>
          <p:spPr>
            <a:xfrm flipH="1">
              <a:off x="5726" y="8388"/>
              <a:ext cx="1707" cy="1029"/>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7" name="直接连接符 1073752596"/>
            <p:cNvSpPr/>
            <p:nvPr/>
          </p:nvSpPr>
          <p:spPr>
            <a:xfrm flipH="1">
              <a:off x="5768" y="9117"/>
              <a:ext cx="1656" cy="39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8" name="直接连接符 1073752597"/>
            <p:cNvSpPr/>
            <p:nvPr/>
          </p:nvSpPr>
          <p:spPr>
            <a:xfrm flipH="1">
              <a:off x="5147" y="9711"/>
              <a:ext cx="288" cy="39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9" name="直接连接符 1073752598"/>
            <p:cNvSpPr/>
            <p:nvPr/>
          </p:nvSpPr>
          <p:spPr>
            <a:xfrm>
              <a:off x="5678" y="9735"/>
              <a:ext cx="327" cy="351"/>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600" name="直接连接符 1073752599"/>
            <p:cNvSpPr/>
            <p:nvPr/>
          </p:nvSpPr>
          <p:spPr>
            <a:xfrm>
              <a:off x="5126" y="10410"/>
              <a:ext cx="327" cy="351"/>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601" name="直接连接符 1073752600"/>
            <p:cNvSpPr/>
            <p:nvPr/>
          </p:nvSpPr>
          <p:spPr>
            <a:xfrm flipH="1">
              <a:off x="5660" y="10371"/>
              <a:ext cx="324" cy="39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602" name="任意多边形 1073752601"/>
            <p:cNvSpPr/>
            <p:nvPr/>
          </p:nvSpPr>
          <p:spPr>
            <a:xfrm>
              <a:off x="7829" y="8358"/>
              <a:ext cx="1653" cy="4457"/>
            </a:xfrm>
            <a:custGeom>
              <a:avLst/>
              <a:gdLst/>
              <a:ahLst/>
              <a:cxnLst/>
              <a:rect l="0" t="0" r="0" b="0"/>
              <a:pathLst>
                <a:path w="1653" h="4457">
                  <a:moveTo>
                    <a:pt x="0" y="4457"/>
                  </a:moveTo>
                  <a:cubicBezTo>
                    <a:pt x="168" y="4406"/>
                    <a:pt x="722" y="4363"/>
                    <a:pt x="1011" y="4149"/>
                  </a:cubicBezTo>
                  <a:cubicBezTo>
                    <a:pt x="1300" y="3935"/>
                    <a:pt x="1429" y="3780"/>
                    <a:pt x="1541" y="3367"/>
                  </a:cubicBezTo>
                  <a:cubicBezTo>
                    <a:pt x="1653" y="2954"/>
                    <a:pt x="1575" y="2609"/>
                    <a:pt x="1530" y="2292"/>
                  </a:cubicBezTo>
                  <a:cubicBezTo>
                    <a:pt x="1485" y="1975"/>
                    <a:pt x="1377" y="1710"/>
                    <a:pt x="1268" y="1462"/>
                  </a:cubicBezTo>
                  <a:cubicBezTo>
                    <a:pt x="1159" y="1214"/>
                    <a:pt x="1016" y="991"/>
                    <a:pt x="877" y="803"/>
                  </a:cubicBezTo>
                  <a:cubicBezTo>
                    <a:pt x="738" y="615"/>
                    <a:pt x="577" y="466"/>
                    <a:pt x="433" y="332"/>
                  </a:cubicBezTo>
                  <a:cubicBezTo>
                    <a:pt x="289" y="198"/>
                    <a:pt x="98" y="69"/>
                    <a:pt x="10" y="0"/>
                  </a:cubicBezTo>
                </a:path>
              </a:pathLst>
            </a:custGeom>
            <a:noFill/>
            <a:ln w="9525" cap="flat" cmpd="sng">
              <a:solidFill>
                <a:srgbClr val="000000"/>
              </a:solidFill>
              <a:prstDash val="solid"/>
              <a:headEnd type="none" w="med" len="med"/>
              <a:tailEnd type="triangle" w="med" len="med"/>
            </a:ln>
          </p:spPr>
          <p:txBody>
            <a:bodyPr/>
            <a:lstStyle/>
            <a:p>
              <a:endParaRPr lang="zh-CN" altLang="en-US" dirty="0">
                <a:latin typeface="Times New Roman" panose="02020603050405020304" pitchFamily="18" charset="0"/>
              </a:endParaRPr>
            </a:p>
          </p:txBody>
        </p:sp>
        <p:sp>
          <p:nvSpPr>
            <p:cNvPr id="1073752603" name="任意多边形 1073752602"/>
            <p:cNvSpPr/>
            <p:nvPr/>
          </p:nvSpPr>
          <p:spPr>
            <a:xfrm>
              <a:off x="4223" y="7467"/>
              <a:ext cx="3204" cy="3441"/>
            </a:xfrm>
            <a:custGeom>
              <a:avLst/>
              <a:gdLst/>
              <a:ahLst/>
              <a:cxnLst/>
              <a:rect l="0" t="0" r="0" b="0"/>
              <a:pathLst>
                <a:path w="3204" h="3441">
                  <a:moveTo>
                    <a:pt x="1147" y="3441"/>
                  </a:moveTo>
                  <a:cubicBezTo>
                    <a:pt x="998" y="3355"/>
                    <a:pt x="510" y="3292"/>
                    <a:pt x="255" y="2924"/>
                  </a:cubicBezTo>
                  <a:cubicBezTo>
                    <a:pt x="0" y="2556"/>
                    <a:pt x="31" y="1916"/>
                    <a:pt x="195" y="1506"/>
                  </a:cubicBezTo>
                  <a:cubicBezTo>
                    <a:pt x="359" y="1096"/>
                    <a:pt x="547" y="726"/>
                    <a:pt x="1147" y="351"/>
                  </a:cubicBezTo>
                  <a:cubicBezTo>
                    <a:pt x="1613" y="118"/>
                    <a:pt x="2477" y="54"/>
                    <a:pt x="2832" y="27"/>
                  </a:cubicBezTo>
                  <a:cubicBezTo>
                    <a:pt x="3187" y="0"/>
                    <a:pt x="3127" y="16"/>
                    <a:pt x="3204" y="13"/>
                  </a:cubicBezTo>
                </a:path>
              </a:pathLst>
            </a:custGeom>
            <a:noFill/>
            <a:ln w="9525" cap="flat" cmpd="sng">
              <a:solidFill>
                <a:srgbClr val="000000"/>
              </a:solidFill>
              <a:prstDash val="dash"/>
              <a:headEnd type="none" w="med" len="med"/>
              <a:tailEnd type="triangle" w="med" len="med"/>
            </a:ln>
          </p:spPr>
          <p:txBody>
            <a:bodyPr/>
            <a:lstStyle/>
            <a:p>
              <a:endParaRPr lang="zh-CN" altLang="en-US" dirty="0">
                <a:latin typeface="Times New Roman" panose="02020603050405020304" pitchFamily="18" charset="0"/>
              </a:endParaRPr>
            </a:p>
          </p:txBody>
        </p:sp>
      </p:grpSp>
    </p:spTree>
  </p:cSld>
  <p:clrMapOvr>
    <a:masterClrMapping/>
  </p:clrMapOvr>
  <p:transition>
    <p:pull dir="rd"/>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11520000" cy="535531"/>
          </a:xfrm>
        </p:spPr>
        <p:txBody>
          <a:bodyPr/>
          <a:lstStyle/>
          <a:p>
            <a:r>
              <a:rPr lang="en-US" dirty="0"/>
              <a:t>4.5 </a:t>
            </a:r>
            <a:r>
              <a:rPr lang="zh-CN" altLang="en-US" dirty="0"/>
              <a:t>设计软件测试方案</a:t>
            </a:r>
          </a:p>
        </p:txBody>
      </p:sp>
      <p:grpSp>
        <p:nvGrpSpPr>
          <p:cNvPr id="2" name="组合 1"/>
          <p:cNvGrpSpPr/>
          <p:nvPr/>
        </p:nvGrpSpPr>
        <p:grpSpPr>
          <a:xfrm>
            <a:off x="737235" y="1403985"/>
            <a:ext cx="9955530" cy="4890135"/>
            <a:chOff x="1275" y="2210"/>
            <a:chExt cx="15678" cy="7701"/>
          </a:xfrm>
        </p:grpSpPr>
        <p:sp>
          <p:nvSpPr>
            <p:cNvPr id="19" name="TextBox 6"/>
            <p:cNvSpPr txBox="1"/>
            <p:nvPr/>
          </p:nvSpPr>
          <p:spPr>
            <a:xfrm>
              <a:off x="1275" y="2210"/>
              <a:ext cx="13695" cy="892"/>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案例</a:t>
              </a:r>
            </a:p>
          </p:txBody>
        </p:sp>
        <p:grpSp>
          <p:nvGrpSpPr>
            <p:cNvPr id="4" name="组合 4"/>
            <p:cNvGrpSpPr/>
            <p:nvPr/>
          </p:nvGrpSpPr>
          <p:grpSpPr>
            <a:xfrm>
              <a:off x="1499" y="3150"/>
              <a:ext cx="15454" cy="6761"/>
              <a:chOff x="1499" y="3150"/>
              <a:chExt cx="15454" cy="6761"/>
            </a:xfrm>
          </p:grpSpPr>
          <p:sp>
            <p:nvSpPr>
              <p:cNvPr id="22" name="TextBox 21"/>
              <p:cNvSpPr txBox="1"/>
              <p:nvPr/>
            </p:nvSpPr>
            <p:spPr>
              <a:xfrm>
                <a:off x="3431" y="3419"/>
                <a:ext cx="13522" cy="624"/>
              </a:xfrm>
              <a:prstGeom prst="rect">
                <a:avLst/>
              </a:prstGeom>
              <a:noFill/>
            </p:spPr>
            <p:txBody>
              <a:bodyPr wrap="square">
                <a:spAutoFit/>
              </a:bodyPr>
              <a:lstStyle/>
              <a:p>
                <a:r>
                  <a:rPr sz="2000" dirty="0">
                    <a:latin typeface="Times New Roman" panose="02020603050405020304" pitchFamily="18" charset="0"/>
                    <a:sym typeface="+mn-ea"/>
                  </a:rPr>
                  <a:t>用基本路径覆盖法设计测试用例。</a:t>
                </a:r>
              </a:p>
            </p:txBody>
          </p:sp>
          <p:sp>
            <p:nvSpPr>
              <p:cNvPr id="24" name="矩形 23"/>
              <p:cNvSpPr>
                <a:spLocks noChangeAspect="1"/>
              </p:cNvSpPr>
              <p:nvPr/>
            </p:nvSpPr>
            <p:spPr>
              <a:xfrm>
                <a:off x="1499" y="4275"/>
                <a:ext cx="8213" cy="5636"/>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3"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altLang="en-US" sz="2400" dirty="0">
                      <a:solidFill>
                        <a:schemeClr val="bg1"/>
                      </a:solidFill>
                      <a:latin typeface="Times New Roman" panose="02020603050405020304" pitchFamily="18" charset="0"/>
                      <a:sym typeface="+mn-ea"/>
                    </a:rPr>
                    <a:t>例 </a:t>
                  </a:r>
                  <a:r>
                    <a:rPr lang="en-US" altLang="zh-CN" sz="2400" dirty="0">
                      <a:solidFill>
                        <a:schemeClr val="bg1"/>
                      </a:solidFill>
                      <a:latin typeface="Times New Roman" panose="02020603050405020304" pitchFamily="18" charset="0"/>
                      <a:sym typeface="+mn-ea"/>
                    </a:rPr>
                    <a:t>4-4</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4" name="TextBox 33"/>
              <p:cNvSpPr txBox="1"/>
              <p:nvPr/>
            </p:nvSpPr>
            <p:spPr>
              <a:xfrm>
                <a:off x="1632" y="4426"/>
                <a:ext cx="7864" cy="5249"/>
              </a:xfrm>
              <a:prstGeom prst="rect">
                <a:avLst/>
              </a:prstGeom>
              <a:solidFill>
                <a:schemeClr val="bg1">
                  <a:lumMod val="95000"/>
                </a:schemeClr>
              </a:solidFill>
            </p:spPr>
            <p:txBody>
              <a:bodyPr wrap="square">
                <a:spAutoFit/>
              </a:bodyPr>
              <a:lstStyle/>
              <a:p>
                <a:pPr fontAlgn="auto">
                  <a:lnSpc>
                    <a:spcPct val="130000"/>
                  </a:lnSpc>
                </a:pPr>
                <a:r>
                  <a:rPr lang="en-US" altLang="en-US" dirty="0">
                    <a:latin typeface="Times New Roman" panose="02020603050405020304" charset="0"/>
                    <a:ea typeface="微软雅黑 Light" panose="020B0502040204020203" pitchFamily="34" charset="-122"/>
                  </a:rPr>
                  <a:t>        对于图4-8所描述的求平均值过程来说，下面列出的是程序的独立路径：</a:t>
                </a:r>
              </a:p>
              <a:p>
                <a:pPr fontAlgn="auto">
                  <a:lnSpc>
                    <a:spcPct val="130000"/>
                  </a:lnSpc>
                </a:pPr>
                <a:r>
                  <a:rPr lang="en-US" altLang="en-US" dirty="0">
                    <a:latin typeface="Times New Roman" panose="02020603050405020304" charset="0"/>
                    <a:ea typeface="微软雅黑 Light" panose="020B0502040204020203" pitchFamily="34" charset="-122"/>
                  </a:rPr>
                  <a:t>	路径1：1→2→10→11→13；</a:t>
                </a:r>
              </a:p>
              <a:p>
                <a:pPr fontAlgn="auto">
                  <a:lnSpc>
                    <a:spcPct val="130000"/>
                  </a:lnSpc>
                </a:pPr>
                <a:r>
                  <a:rPr lang="en-US" altLang="en-US" dirty="0">
                    <a:latin typeface="Times New Roman" panose="02020603050405020304" charset="0"/>
                    <a:ea typeface="微软雅黑 Light" panose="020B0502040204020203" pitchFamily="34" charset="-122"/>
                  </a:rPr>
                  <a:t>	路径2：1→2→10→12→13；</a:t>
                </a:r>
              </a:p>
              <a:p>
                <a:pPr fontAlgn="auto">
                  <a:lnSpc>
                    <a:spcPct val="130000"/>
                  </a:lnSpc>
                </a:pPr>
                <a:r>
                  <a:rPr lang="en-US" altLang="en-US" dirty="0">
                    <a:latin typeface="Times New Roman" panose="02020603050405020304" charset="0"/>
                    <a:ea typeface="微软雅黑 Light" panose="020B0502040204020203" pitchFamily="34" charset="-122"/>
                  </a:rPr>
                  <a:t>	路径3：1→2→3→10→11→13；</a:t>
                </a:r>
              </a:p>
              <a:p>
                <a:pPr fontAlgn="auto">
                  <a:lnSpc>
                    <a:spcPct val="130000"/>
                  </a:lnSpc>
                </a:pPr>
                <a:r>
                  <a:rPr lang="en-US" altLang="en-US" dirty="0">
                    <a:latin typeface="Times New Roman" panose="02020603050405020304" charset="0"/>
                    <a:ea typeface="微软雅黑 Light" panose="020B0502040204020203" pitchFamily="34" charset="-122"/>
                  </a:rPr>
                  <a:t>	路径4：1→2→3→10→12→13；</a:t>
                </a:r>
              </a:p>
              <a:p>
                <a:pPr fontAlgn="auto">
                  <a:lnSpc>
                    <a:spcPct val="130000"/>
                  </a:lnSpc>
                </a:pPr>
                <a:r>
                  <a:rPr lang="en-US" altLang="en-US" dirty="0">
                    <a:latin typeface="Times New Roman" panose="02020603050405020304" charset="0"/>
                    <a:ea typeface="微软雅黑 Light" panose="020B0502040204020203" pitchFamily="34" charset="-122"/>
                  </a:rPr>
                  <a:t>	路径5：1→2→3→4→5→8→9；</a:t>
                </a:r>
              </a:p>
              <a:p>
                <a:pPr fontAlgn="auto">
                  <a:lnSpc>
                    <a:spcPct val="130000"/>
                  </a:lnSpc>
                </a:pPr>
                <a:r>
                  <a:rPr lang="en-US" altLang="en-US" dirty="0">
                    <a:latin typeface="Times New Roman" panose="02020603050405020304" charset="0"/>
                    <a:ea typeface="微软雅黑 Light" panose="020B0502040204020203" pitchFamily="34" charset="-122"/>
                  </a:rPr>
                  <a:t>	路径6：1→2→3→4→5→6→8→9；</a:t>
                </a:r>
              </a:p>
              <a:p>
                <a:pPr fontAlgn="auto">
                  <a:lnSpc>
                    <a:spcPct val="130000"/>
                  </a:lnSpc>
                </a:pPr>
                <a:r>
                  <a:rPr lang="en-US" altLang="en-US" dirty="0">
                    <a:latin typeface="Times New Roman" panose="02020603050405020304" charset="0"/>
                    <a:ea typeface="微软雅黑 Light" panose="020B0502040204020203" pitchFamily="34" charset="-122"/>
                  </a:rPr>
                  <a:t>	路径7：1→2→3→4→5→6→7→8→9。</a:t>
                </a:r>
              </a:p>
            </p:txBody>
          </p:sp>
        </p:grpSp>
      </p:grpSp>
      <p:sp>
        <p:nvSpPr>
          <p:cNvPr id="7" name="矩形 6"/>
          <p:cNvSpPr>
            <a:spLocks noChangeAspect="1"/>
          </p:cNvSpPr>
          <p:nvPr/>
        </p:nvSpPr>
        <p:spPr>
          <a:xfrm>
            <a:off x="6316345" y="1238250"/>
            <a:ext cx="4940300" cy="5055870"/>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sp>
        <p:nvSpPr>
          <p:cNvPr id="8" name="TextBox 33"/>
          <p:cNvSpPr txBox="1"/>
          <p:nvPr/>
        </p:nvSpPr>
        <p:spPr>
          <a:xfrm>
            <a:off x="6462395" y="1372235"/>
            <a:ext cx="4627880" cy="4844415"/>
          </a:xfrm>
          <a:prstGeom prst="rect">
            <a:avLst/>
          </a:prstGeom>
          <a:solidFill>
            <a:schemeClr val="bg1">
              <a:lumMod val="95000"/>
            </a:schemeClr>
          </a:solidFill>
        </p:spPr>
        <p:txBody>
          <a:bodyPr wrap="square">
            <a:spAutoFit/>
          </a:bodyPr>
          <a:lstStyle/>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p:txBody>
      </p:sp>
      <p:grpSp>
        <p:nvGrpSpPr>
          <p:cNvPr id="6" name="组合 1073752571"/>
          <p:cNvGrpSpPr>
            <a:grpSpLocks noRot="1"/>
          </p:cNvGrpSpPr>
          <p:nvPr/>
        </p:nvGrpSpPr>
        <p:grpSpPr>
          <a:xfrm>
            <a:off x="6686550" y="2171700"/>
            <a:ext cx="4200525" cy="3578225"/>
            <a:chOff x="4223" y="7325"/>
            <a:chExt cx="5259" cy="5691"/>
          </a:xfrm>
        </p:grpSpPr>
        <p:sp>
          <p:nvSpPr>
            <p:cNvPr id="1073752573" name="直接连接符 1073752572"/>
            <p:cNvSpPr/>
            <p:nvPr/>
          </p:nvSpPr>
          <p:spPr>
            <a:xfrm>
              <a:off x="7631" y="7728"/>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74" name="椭圆 1073752573"/>
            <p:cNvSpPr/>
            <p:nvPr/>
          </p:nvSpPr>
          <p:spPr>
            <a:xfrm>
              <a:off x="7427" y="7325"/>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a:t>
              </a:r>
            </a:p>
            <a:p>
              <a:endParaRPr lang="zh-CN" altLang="en-US" dirty="0">
                <a:latin typeface="Times New Roman" panose="02020603050405020304" pitchFamily="18" charset="0"/>
              </a:endParaRPr>
            </a:p>
          </p:txBody>
        </p:sp>
        <p:sp>
          <p:nvSpPr>
            <p:cNvPr id="1073752575" name="椭圆 1073752574"/>
            <p:cNvSpPr/>
            <p:nvPr/>
          </p:nvSpPr>
          <p:spPr>
            <a:xfrm>
              <a:off x="7427" y="8111"/>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2</a:t>
              </a:r>
            </a:p>
            <a:p>
              <a:endParaRPr lang="zh-CN" altLang="en-US" dirty="0">
                <a:latin typeface="Times New Roman" panose="02020603050405020304" pitchFamily="18" charset="0"/>
              </a:endParaRPr>
            </a:p>
          </p:txBody>
        </p:sp>
        <p:sp>
          <p:nvSpPr>
            <p:cNvPr id="1073752576" name="椭圆 1073752575"/>
            <p:cNvSpPr/>
            <p:nvPr/>
          </p:nvSpPr>
          <p:spPr>
            <a:xfrm>
              <a:off x="7424" y="8885"/>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3</a:t>
              </a:r>
            </a:p>
            <a:p>
              <a:endParaRPr lang="zh-CN" altLang="en-US" dirty="0">
                <a:latin typeface="Times New Roman" panose="02020603050405020304" pitchFamily="18" charset="0"/>
              </a:endParaRPr>
            </a:p>
          </p:txBody>
        </p:sp>
        <p:sp>
          <p:nvSpPr>
            <p:cNvPr id="1073752577" name="椭圆 1073752576"/>
            <p:cNvSpPr/>
            <p:nvPr/>
          </p:nvSpPr>
          <p:spPr>
            <a:xfrm>
              <a:off x="7427" y="9667"/>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4</a:t>
              </a:r>
            </a:p>
            <a:p>
              <a:endParaRPr lang="zh-CN" altLang="en-US" dirty="0">
                <a:latin typeface="Times New Roman" panose="02020603050405020304" pitchFamily="18" charset="0"/>
              </a:endParaRPr>
            </a:p>
          </p:txBody>
        </p:sp>
        <p:sp>
          <p:nvSpPr>
            <p:cNvPr id="1073752578" name="椭圆 1073752577"/>
            <p:cNvSpPr/>
            <p:nvPr/>
          </p:nvSpPr>
          <p:spPr>
            <a:xfrm>
              <a:off x="7427" y="10453"/>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5</a:t>
              </a:r>
            </a:p>
            <a:p>
              <a:endParaRPr lang="zh-CN" altLang="en-US" dirty="0">
                <a:latin typeface="Times New Roman" panose="02020603050405020304" pitchFamily="18" charset="0"/>
              </a:endParaRPr>
            </a:p>
          </p:txBody>
        </p:sp>
        <p:sp>
          <p:nvSpPr>
            <p:cNvPr id="1073752579" name="椭圆 1073752578"/>
            <p:cNvSpPr/>
            <p:nvPr/>
          </p:nvSpPr>
          <p:spPr>
            <a:xfrm>
              <a:off x="7421" y="11233"/>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6</a:t>
              </a:r>
            </a:p>
            <a:p>
              <a:endParaRPr lang="zh-CN" altLang="en-US" dirty="0">
                <a:latin typeface="Times New Roman" panose="02020603050405020304" pitchFamily="18" charset="0"/>
              </a:endParaRPr>
            </a:p>
          </p:txBody>
        </p:sp>
        <p:sp>
          <p:nvSpPr>
            <p:cNvPr id="1073752580" name="椭圆 1073752579"/>
            <p:cNvSpPr/>
            <p:nvPr/>
          </p:nvSpPr>
          <p:spPr>
            <a:xfrm>
              <a:off x="7991" y="11923"/>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7</a:t>
              </a:r>
            </a:p>
            <a:p>
              <a:endParaRPr lang="zh-CN" altLang="en-US" dirty="0">
                <a:latin typeface="Times New Roman" panose="02020603050405020304" pitchFamily="18" charset="0"/>
              </a:endParaRPr>
            </a:p>
          </p:txBody>
        </p:sp>
        <p:sp>
          <p:nvSpPr>
            <p:cNvPr id="1073752581" name="椭圆 1073752580"/>
            <p:cNvSpPr/>
            <p:nvPr/>
          </p:nvSpPr>
          <p:spPr>
            <a:xfrm>
              <a:off x="6854" y="11926"/>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8</a:t>
              </a:r>
            </a:p>
            <a:p>
              <a:endParaRPr lang="zh-CN" altLang="en-US" dirty="0">
                <a:latin typeface="Times New Roman" panose="02020603050405020304" pitchFamily="18" charset="0"/>
              </a:endParaRPr>
            </a:p>
          </p:txBody>
        </p:sp>
        <p:sp>
          <p:nvSpPr>
            <p:cNvPr id="1073752582" name="椭圆 1073752581"/>
            <p:cNvSpPr/>
            <p:nvPr/>
          </p:nvSpPr>
          <p:spPr>
            <a:xfrm>
              <a:off x="7424" y="12616"/>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9</a:t>
              </a:r>
            </a:p>
            <a:p>
              <a:endParaRPr lang="zh-CN" altLang="en-US" dirty="0">
                <a:latin typeface="Times New Roman" panose="02020603050405020304" pitchFamily="18" charset="0"/>
              </a:endParaRPr>
            </a:p>
          </p:txBody>
        </p:sp>
        <p:sp>
          <p:nvSpPr>
            <p:cNvPr id="1073752583" name="椭圆 1073752582"/>
            <p:cNvSpPr/>
            <p:nvPr/>
          </p:nvSpPr>
          <p:spPr>
            <a:xfrm>
              <a:off x="5147" y="9286"/>
              <a:ext cx="622" cy="468"/>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10</a:t>
              </a:r>
            </a:p>
            <a:p>
              <a:endParaRPr lang="zh-CN" altLang="en-US" dirty="0">
                <a:latin typeface="Times New Roman" panose="02020603050405020304" pitchFamily="18" charset="0"/>
              </a:endParaRPr>
            </a:p>
          </p:txBody>
        </p:sp>
        <p:sp>
          <p:nvSpPr>
            <p:cNvPr id="1073752584" name="椭圆 1073752583"/>
            <p:cNvSpPr/>
            <p:nvPr/>
          </p:nvSpPr>
          <p:spPr>
            <a:xfrm>
              <a:off x="5933" y="10047"/>
              <a:ext cx="630" cy="394"/>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11</a:t>
              </a:r>
            </a:p>
            <a:p>
              <a:endParaRPr lang="zh-CN" altLang="en-US" dirty="0">
                <a:latin typeface="Times New Roman" panose="02020603050405020304" pitchFamily="18" charset="0"/>
              </a:endParaRPr>
            </a:p>
          </p:txBody>
        </p:sp>
        <p:sp>
          <p:nvSpPr>
            <p:cNvPr id="1073752585" name="椭圆 1073752584"/>
            <p:cNvSpPr/>
            <p:nvPr/>
          </p:nvSpPr>
          <p:spPr>
            <a:xfrm>
              <a:off x="4590" y="10047"/>
              <a:ext cx="611"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12</a:t>
              </a:r>
            </a:p>
            <a:p>
              <a:endParaRPr lang="zh-CN" altLang="en-US" dirty="0">
                <a:latin typeface="Times New Roman" panose="02020603050405020304" pitchFamily="18" charset="0"/>
              </a:endParaRPr>
            </a:p>
          </p:txBody>
        </p:sp>
        <p:sp>
          <p:nvSpPr>
            <p:cNvPr id="1073752586" name="椭圆 1073752585"/>
            <p:cNvSpPr/>
            <p:nvPr/>
          </p:nvSpPr>
          <p:spPr>
            <a:xfrm>
              <a:off x="5201" y="10737"/>
              <a:ext cx="732" cy="497"/>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13</a:t>
              </a:r>
            </a:p>
            <a:p>
              <a:endParaRPr lang="zh-CN" altLang="en-US" dirty="0">
                <a:latin typeface="Times New Roman" panose="02020603050405020304" pitchFamily="18" charset="0"/>
              </a:endParaRPr>
            </a:p>
          </p:txBody>
        </p:sp>
        <p:sp>
          <p:nvSpPr>
            <p:cNvPr id="1073752587" name="直接连接符 1073752586"/>
            <p:cNvSpPr/>
            <p:nvPr/>
          </p:nvSpPr>
          <p:spPr>
            <a:xfrm>
              <a:off x="7631" y="8511"/>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88" name="直接连接符 1073752587"/>
            <p:cNvSpPr/>
            <p:nvPr/>
          </p:nvSpPr>
          <p:spPr>
            <a:xfrm>
              <a:off x="7631" y="9285"/>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89" name="直接连接符 1073752588"/>
            <p:cNvSpPr/>
            <p:nvPr/>
          </p:nvSpPr>
          <p:spPr>
            <a:xfrm>
              <a:off x="7628" y="10068"/>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0" name="直接连接符 1073752589"/>
            <p:cNvSpPr/>
            <p:nvPr/>
          </p:nvSpPr>
          <p:spPr>
            <a:xfrm>
              <a:off x="7631" y="10852"/>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1" name="直接连接符 1073752590"/>
            <p:cNvSpPr/>
            <p:nvPr/>
          </p:nvSpPr>
          <p:spPr>
            <a:xfrm flipH="1">
              <a:off x="7061" y="10821"/>
              <a:ext cx="453" cy="1102"/>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2" name="直接连接符 1073752591"/>
            <p:cNvSpPr/>
            <p:nvPr/>
          </p:nvSpPr>
          <p:spPr>
            <a:xfrm flipH="1">
              <a:off x="7217" y="11608"/>
              <a:ext cx="297"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3" name="直接连接符 1073752592"/>
            <p:cNvSpPr/>
            <p:nvPr/>
          </p:nvSpPr>
          <p:spPr>
            <a:xfrm>
              <a:off x="7724" y="11608"/>
              <a:ext cx="315"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4" name="直接连接符 1073752593"/>
            <p:cNvSpPr/>
            <p:nvPr/>
          </p:nvSpPr>
          <p:spPr>
            <a:xfrm flipH="1">
              <a:off x="7259" y="12123"/>
              <a:ext cx="726" cy="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5" name="直接连接符 1073752594"/>
            <p:cNvSpPr/>
            <p:nvPr/>
          </p:nvSpPr>
          <p:spPr>
            <a:xfrm>
              <a:off x="7181" y="12279"/>
              <a:ext cx="315"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6" name="直接连接符 1073752595"/>
            <p:cNvSpPr/>
            <p:nvPr/>
          </p:nvSpPr>
          <p:spPr>
            <a:xfrm flipH="1">
              <a:off x="5726" y="8388"/>
              <a:ext cx="1707" cy="1029"/>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7" name="直接连接符 1073752596"/>
            <p:cNvSpPr/>
            <p:nvPr/>
          </p:nvSpPr>
          <p:spPr>
            <a:xfrm flipH="1">
              <a:off x="5768" y="9117"/>
              <a:ext cx="1656" cy="39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8" name="直接连接符 1073752597"/>
            <p:cNvSpPr/>
            <p:nvPr/>
          </p:nvSpPr>
          <p:spPr>
            <a:xfrm flipH="1">
              <a:off x="5147" y="9711"/>
              <a:ext cx="288" cy="39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9" name="直接连接符 1073752598"/>
            <p:cNvSpPr/>
            <p:nvPr/>
          </p:nvSpPr>
          <p:spPr>
            <a:xfrm>
              <a:off x="5678" y="9735"/>
              <a:ext cx="327" cy="351"/>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600" name="直接连接符 1073752599"/>
            <p:cNvSpPr/>
            <p:nvPr/>
          </p:nvSpPr>
          <p:spPr>
            <a:xfrm>
              <a:off x="5126" y="10410"/>
              <a:ext cx="327" cy="351"/>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601" name="直接连接符 1073752600"/>
            <p:cNvSpPr/>
            <p:nvPr/>
          </p:nvSpPr>
          <p:spPr>
            <a:xfrm flipH="1">
              <a:off x="5660" y="10371"/>
              <a:ext cx="324" cy="39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602" name="任意多边形 1073752601"/>
            <p:cNvSpPr/>
            <p:nvPr/>
          </p:nvSpPr>
          <p:spPr>
            <a:xfrm>
              <a:off x="7829" y="8358"/>
              <a:ext cx="1653" cy="4457"/>
            </a:xfrm>
            <a:custGeom>
              <a:avLst/>
              <a:gdLst/>
              <a:ahLst/>
              <a:cxnLst/>
              <a:rect l="0" t="0" r="0" b="0"/>
              <a:pathLst>
                <a:path w="1653" h="4457">
                  <a:moveTo>
                    <a:pt x="0" y="4457"/>
                  </a:moveTo>
                  <a:cubicBezTo>
                    <a:pt x="168" y="4406"/>
                    <a:pt x="722" y="4363"/>
                    <a:pt x="1011" y="4149"/>
                  </a:cubicBezTo>
                  <a:cubicBezTo>
                    <a:pt x="1300" y="3935"/>
                    <a:pt x="1429" y="3780"/>
                    <a:pt x="1541" y="3367"/>
                  </a:cubicBezTo>
                  <a:cubicBezTo>
                    <a:pt x="1653" y="2954"/>
                    <a:pt x="1575" y="2609"/>
                    <a:pt x="1530" y="2292"/>
                  </a:cubicBezTo>
                  <a:cubicBezTo>
                    <a:pt x="1485" y="1975"/>
                    <a:pt x="1377" y="1710"/>
                    <a:pt x="1268" y="1462"/>
                  </a:cubicBezTo>
                  <a:cubicBezTo>
                    <a:pt x="1159" y="1214"/>
                    <a:pt x="1016" y="991"/>
                    <a:pt x="877" y="803"/>
                  </a:cubicBezTo>
                  <a:cubicBezTo>
                    <a:pt x="738" y="615"/>
                    <a:pt x="577" y="466"/>
                    <a:pt x="433" y="332"/>
                  </a:cubicBezTo>
                  <a:cubicBezTo>
                    <a:pt x="289" y="198"/>
                    <a:pt x="98" y="69"/>
                    <a:pt x="10" y="0"/>
                  </a:cubicBezTo>
                </a:path>
              </a:pathLst>
            </a:custGeom>
            <a:noFill/>
            <a:ln w="9525" cap="flat" cmpd="sng">
              <a:solidFill>
                <a:srgbClr val="000000"/>
              </a:solidFill>
              <a:prstDash val="solid"/>
              <a:headEnd type="none" w="med" len="med"/>
              <a:tailEnd type="triangle" w="med" len="med"/>
            </a:ln>
          </p:spPr>
          <p:txBody>
            <a:bodyPr/>
            <a:lstStyle/>
            <a:p>
              <a:endParaRPr lang="zh-CN" altLang="en-US" dirty="0">
                <a:latin typeface="Times New Roman" panose="02020603050405020304" pitchFamily="18" charset="0"/>
              </a:endParaRPr>
            </a:p>
          </p:txBody>
        </p:sp>
        <p:sp>
          <p:nvSpPr>
            <p:cNvPr id="1073752603" name="任意多边形 1073752602"/>
            <p:cNvSpPr/>
            <p:nvPr/>
          </p:nvSpPr>
          <p:spPr>
            <a:xfrm>
              <a:off x="4223" y="7467"/>
              <a:ext cx="3204" cy="3441"/>
            </a:xfrm>
            <a:custGeom>
              <a:avLst/>
              <a:gdLst/>
              <a:ahLst/>
              <a:cxnLst/>
              <a:rect l="0" t="0" r="0" b="0"/>
              <a:pathLst>
                <a:path w="3204" h="3441">
                  <a:moveTo>
                    <a:pt x="1147" y="3441"/>
                  </a:moveTo>
                  <a:cubicBezTo>
                    <a:pt x="998" y="3355"/>
                    <a:pt x="510" y="3292"/>
                    <a:pt x="255" y="2924"/>
                  </a:cubicBezTo>
                  <a:cubicBezTo>
                    <a:pt x="0" y="2556"/>
                    <a:pt x="31" y="1916"/>
                    <a:pt x="195" y="1506"/>
                  </a:cubicBezTo>
                  <a:cubicBezTo>
                    <a:pt x="359" y="1096"/>
                    <a:pt x="547" y="726"/>
                    <a:pt x="1147" y="351"/>
                  </a:cubicBezTo>
                  <a:cubicBezTo>
                    <a:pt x="1613" y="118"/>
                    <a:pt x="2477" y="54"/>
                    <a:pt x="2832" y="27"/>
                  </a:cubicBezTo>
                  <a:cubicBezTo>
                    <a:pt x="3187" y="0"/>
                    <a:pt x="3127" y="16"/>
                    <a:pt x="3204" y="13"/>
                  </a:cubicBezTo>
                </a:path>
              </a:pathLst>
            </a:custGeom>
            <a:noFill/>
            <a:ln w="9525" cap="flat" cmpd="sng">
              <a:solidFill>
                <a:srgbClr val="000000"/>
              </a:solidFill>
              <a:prstDash val="dash"/>
              <a:headEnd type="none" w="med" len="med"/>
              <a:tailEnd type="triangle" w="med" len="med"/>
            </a:ln>
          </p:spPr>
          <p:txBody>
            <a:bodyPr/>
            <a:lstStyle/>
            <a:p>
              <a:endParaRPr lang="zh-CN" altLang="en-US" dirty="0">
                <a:latin typeface="Times New Roman" panose="02020603050405020304" pitchFamily="18" charset="0"/>
              </a:endParaRPr>
            </a:p>
          </p:txBody>
        </p:sp>
      </p:grpSp>
    </p:spTree>
  </p:cSld>
  <p:clrMapOvr>
    <a:masterClrMapping/>
  </p:clrMapOvr>
  <p:transition>
    <p:pull dir="rd"/>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11520000" cy="535531"/>
          </a:xfrm>
        </p:spPr>
        <p:txBody>
          <a:bodyPr/>
          <a:lstStyle/>
          <a:p>
            <a:r>
              <a:rPr lang="en-US" dirty="0"/>
              <a:t>4.5 </a:t>
            </a:r>
            <a:r>
              <a:rPr lang="zh-CN" altLang="en-US" dirty="0"/>
              <a:t>设计软件测试方案</a:t>
            </a:r>
          </a:p>
        </p:txBody>
      </p:sp>
      <p:grpSp>
        <p:nvGrpSpPr>
          <p:cNvPr id="2" name="组合 1"/>
          <p:cNvGrpSpPr/>
          <p:nvPr/>
        </p:nvGrpSpPr>
        <p:grpSpPr>
          <a:xfrm>
            <a:off x="737235" y="1403985"/>
            <a:ext cx="9955530" cy="4813935"/>
            <a:chOff x="1275" y="2210"/>
            <a:chExt cx="15678" cy="7581"/>
          </a:xfrm>
        </p:grpSpPr>
        <p:sp>
          <p:nvSpPr>
            <p:cNvPr id="19" name="TextBox 6"/>
            <p:cNvSpPr txBox="1"/>
            <p:nvPr/>
          </p:nvSpPr>
          <p:spPr>
            <a:xfrm>
              <a:off x="1275" y="2210"/>
              <a:ext cx="13695" cy="892"/>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案例</a:t>
              </a:r>
            </a:p>
          </p:txBody>
        </p:sp>
        <p:grpSp>
          <p:nvGrpSpPr>
            <p:cNvPr id="4" name="组合 4"/>
            <p:cNvGrpSpPr/>
            <p:nvPr/>
          </p:nvGrpSpPr>
          <p:grpSpPr>
            <a:xfrm>
              <a:off x="1499" y="3150"/>
              <a:ext cx="15454" cy="6641"/>
              <a:chOff x="1499" y="3150"/>
              <a:chExt cx="15454" cy="6641"/>
            </a:xfrm>
          </p:grpSpPr>
          <p:sp>
            <p:nvSpPr>
              <p:cNvPr id="22" name="TextBox 21"/>
              <p:cNvSpPr txBox="1"/>
              <p:nvPr/>
            </p:nvSpPr>
            <p:spPr>
              <a:xfrm>
                <a:off x="3431" y="3419"/>
                <a:ext cx="13522" cy="624"/>
              </a:xfrm>
              <a:prstGeom prst="rect">
                <a:avLst/>
              </a:prstGeom>
              <a:noFill/>
            </p:spPr>
            <p:txBody>
              <a:bodyPr wrap="square">
                <a:spAutoFit/>
              </a:bodyPr>
              <a:lstStyle/>
              <a:p>
                <a:r>
                  <a:rPr sz="2000" dirty="0">
                    <a:latin typeface="Times New Roman" panose="02020603050405020304" pitchFamily="18" charset="0"/>
                    <a:sym typeface="+mn-ea"/>
                  </a:rPr>
                  <a:t>用基本路径覆盖法设计测试用例。</a:t>
                </a:r>
              </a:p>
            </p:txBody>
          </p:sp>
          <p:sp>
            <p:nvSpPr>
              <p:cNvPr id="24" name="矩形 23"/>
              <p:cNvSpPr>
                <a:spLocks noChangeAspect="1"/>
              </p:cNvSpPr>
              <p:nvPr/>
            </p:nvSpPr>
            <p:spPr>
              <a:xfrm>
                <a:off x="1499" y="4275"/>
                <a:ext cx="8213" cy="5516"/>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3"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altLang="en-US" sz="2400" dirty="0">
                      <a:solidFill>
                        <a:schemeClr val="bg1"/>
                      </a:solidFill>
                      <a:latin typeface="Times New Roman" panose="02020603050405020304" pitchFamily="18" charset="0"/>
                      <a:sym typeface="+mn-ea"/>
                    </a:rPr>
                    <a:t>例 </a:t>
                  </a:r>
                  <a:r>
                    <a:rPr lang="en-US" altLang="zh-CN" sz="2400" dirty="0">
                      <a:solidFill>
                        <a:schemeClr val="bg1"/>
                      </a:solidFill>
                      <a:latin typeface="Times New Roman" panose="02020603050405020304" pitchFamily="18" charset="0"/>
                      <a:sym typeface="+mn-ea"/>
                    </a:rPr>
                    <a:t>4-4</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4" name="TextBox 33"/>
              <p:cNvSpPr txBox="1"/>
              <p:nvPr/>
            </p:nvSpPr>
            <p:spPr>
              <a:xfrm>
                <a:off x="1656" y="4330"/>
                <a:ext cx="7864" cy="5249"/>
              </a:xfrm>
              <a:prstGeom prst="rect">
                <a:avLst/>
              </a:prstGeom>
              <a:solidFill>
                <a:schemeClr val="bg1">
                  <a:lumMod val="95000"/>
                </a:schemeClr>
              </a:solidFill>
            </p:spPr>
            <p:txBody>
              <a:bodyPr wrap="square">
                <a:spAutoFit/>
              </a:bodyPr>
              <a:lstStyle/>
              <a:p>
                <a:pPr fontAlgn="auto">
                  <a:lnSpc>
                    <a:spcPct val="130000"/>
                  </a:lnSpc>
                </a:pPr>
                <a:r>
                  <a:rPr lang="en-US" altLang="en-US" dirty="0">
                    <a:latin typeface="Times New Roman" panose="02020603050405020304" charset="0"/>
                    <a:ea typeface="微软雅黑 Light" panose="020B0502040204020203" pitchFamily="34" charset="-122"/>
                  </a:rPr>
                  <a:t>4．设计可强制执行集合中每条路径的测试用例</a:t>
                </a:r>
              </a:p>
              <a:p>
                <a:pPr>
                  <a:lnSpc>
                    <a:spcPct val="130000"/>
                  </a:lnSpc>
                </a:pPr>
                <a:r>
                  <a:rPr lang="zh-CN" altLang="en-US" dirty="0">
                    <a:latin typeface="Times New Roman" panose="02020603050405020304" charset="0"/>
                    <a:ea typeface="微软雅黑 Light" panose="020B0502040204020203" pitchFamily="34" charset="-122"/>
                  </a:rPr>
                  <a:t>        在选取测试数据时，应该使每条测试路径都适当地设置好了各个判定结点的条件。</a:t>
                </a:r>
                <a:r>
                  <a:rPr lang="en-US" altLang="en-US" dirty="0" err="1">
                    <a:latin typeface="Times New Roman" panose="02020603050405020304" charset="0"/>
                    <a:ea typeface="微软雅黑 Light" panose="020B0502040204020203" pitchFamily="34" charset="-122"/>
                  </a:rPr>
                  <a:t>可以设计上述基本集合的测试用例如下</a:t>
                </a:r>
                <a:r>
                  <a:rPr lang="en-US" altLang="en-US" dirty="0">
                    <a:latin typeface="Times New Roman" panose="02020603050405020304" charset="0"/>
                    <a:ea typeface="微软雅黑 Light" panose="020B0502040204020203" pitchFamily="34" charset="-122"/>
                  </a:rPr>
                  <a:t>：</a:t>
                </a:r>
              </a:p>
              <a:p>
                <a:pPr fontAlgn="auto">
                  <a:lnSpc>
                    <a:spcPct val="130000"/>
                  </a:lnSpc>
                  <a:buFont typeface="Wingdings" panose="05000000000000000000" pitchFamily="2" charset="2"/>
                  <a:buChar char="Ø"/>
                </a:pPr>
                <a:r>
                  <a:rPr lang="en-US" altLang="en-US" dirty="0">
                    <a:latin typeface="Times New Roman" panose="02020603050405020304" charset="0"/>
                    <a:ea typeface="微软雅黑 Light" panose="020B0502040204020203" pitchFamily="34" charset="-122"/>
                  </a:rPr>
                  <a:t>路径1的测试用例</a:t>
                </a:r>
              </a:p>
              <a:p>
                <a:pPr fontAlgn="auto">
                  <a:lnSpc>
                    <a:spcPct val="130000"/>
                  </a:lnSpc>
                </a:pPr>
                <a:r>
                  <a:rPr lang="en-US" altLang="en-US" dirty="0">
                    <a:latin typeface="Times New Roman" panose="02020603050405020304" charset="0"/>
                    <a:ea typeface="微软雅黑 Light" panose="020B0502040204020203" pitchFamily="34" charset="-122"/>
                  </a:rPr>
                  <a:t>value[i]=-999，其中2≤i≤100</a:t>
                </a:r>
              </a:p>
              <a:p>
                <a:pPr fontAlgn="auto">
                  <a:lnSpc>
                    <a:spcPct val="130000"/>
                  </a:lnSpc>
                </a:pPr>
                <a:r>
                  <a:rPr lang="en-US" altLang="en-US" dirty="0">
                    <a:latin typeface="Times New Roman" panose="02020603050405020304" charset="0"/>
                    <a:ea typeface="微软雅黑 Light" panose="020B0502040204020203" pitchFamily="34" charset="-122"/>
                  </a:rPr>
                  <a:t>Value[k]=有效输入值，其中k&lt;i</a:t>
                </a:r>
              </a:p>
              <a:p>
                <a:pPr fontAlgn="auto">
                  <a:lnSpc>
                    <a:spcPct val="130000"/>
                  </a:lnSpc>
                </a:pPr>
                <a:r>
                  <a:rPr lang="zh-CN" altLang="en-US" dirty="0">
                    <a:latin typeface="Times New Roman" panose="02020603050405020304" charset="0"/>
                    <a:ea typeface="微软雅黑 Light" panose="020B0502040204020203" pitchFamily="34" charset="-122"/>
                  </a:rPr>
                  <a:t>         预期的执行结果：基于</a:t>
                </a:r>
                <a:r>
                  <a:rPr lang="en-US" altLang="zh-CN" dirty="0">
                    <a:latin typeface="Times New Roman" panose="02020603050405020304" charset="0"/>
                    <a:ea typeface="微软雅黑 Light" panose="020B0502040204020203" pitchFamily="34" charset="-122"/>
                  </a:rPr>
                  <a:t>k</a:t>
                </a:r>
                <a:r>
                  <a:rPr lang="zh-CN" altLang="en-US" dirty="0">
                    <a:latin typeface="Times New Roman" panose="02020603050405020304" charset="0"/>
                    <a:ea typeface="微软雅黑 Light" panose="020B0502040204020203" pitchFamily="34" charset="-122"/>
                  </a:rPr>
                  <a:t>的输入正确数据的平均值、总和及个数。</a:t>
                </a:r>
                <a:endParaRPr lang="en-US" altLang="en-US" dirty="0">
                  <a:latin typeface="Times New Roman" panose="02020603050405020304" charset="0"/>
                  <a:ea typeface="微软雅黑 Light" panose="020B0502040204020203" pitchFamily="34" charset="-122"/>
                </a:endParaRPr>
              </a:p>
            </p:txBody>
          </p:sp>
        </p:grpSp>
      </p:grpSp>
      <p:sp>
        <p:nvSpPr>
          <p:cNvPr id="7" name="矩形 6"/>
          <p:cNvSpPr>
            <a:spLocks noChangeAspect="1"/>
          </p:cNvSpPr>
          <p:nvPr/>
        </p:nvSpPr>
        <p:spPr>
          <a:xfrm>
            <a:off x="6316345" y="1238250"/>
            <a:ext cx="4940300" cy="5055870"/>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sp>
        <p:nvSpPr>
          <p:cNvPr id="8" name="TextBox 33"/>
          <p:cNvSpPr txBox="1"/>
          <p:nvPr/>
        </p:nvSpPr>
        <p:spPr>
          <a:xfrm>
            <a:off x="6462395" y="1372235"/>
            <a:ext cx="4627880" cy="4844415"/>
          </a:xfrm>
          <a:prstGeom prst="rect">
            <a:avLst/>
          </a:prstGeom>
          <a:solidFill>
            <a:schemeClr val="bg1">
              <a:lumMod val="95000"/>
            </a:schemeClr>
          </a:solidFill>
        </p:spPr>
        <p:txBody>
          <a:bodyPr wrap="square">
            <a:spAutoFit/>
          </a:bodyPr>
          <a:lstStyle/>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p:txBody>
      </p:sp>
      <p:grpSp>
        <p:nvGrpSpPr>
          <p:cNvPr id="6" name="组合 1073752571"/>
          <p:cNvGrpSpPr>
            <a:grpSpLocks noRot="1"/>
          </p:cNvGrpSpPr>
          <p:nvPr/>
        </p:nvGrpSpPr>
        <p:grpSpPr>
          <a:xfrm>
            <a:off x="6686550" y="2171700"/>
            <a:ext cx="4200525" cy="3578225"/>
            <a:chOff x="4223" y="7325"/>
            <a:chExt cx="5259" cy="5691"/>
          </a:xfrm>
        </p:grpSpPr>
        <p:sp>
          <p:nvSpPr>
            <p:cNvPr id="1073752573" name="直接连接符 1073752572"/>
            <p:cNvSpPr/>
            <p:nvPr/>
          </p:nvSpPr>
          <p:spPr>
            <a:xfrm>
              <a:off x="7631" y="7728"/>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74" name="椭圆 1073752573"/>
            <p:cNvSpPr/>
            <p:nvPr/>
          </p:nvSpPr>
          <p:spPr>
            <a:xfrm>
              <a:off x="7427" y="7325"/>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a:t>
              </a:r>
            </a:p>
            <a:p>
              <a:endParaRPr lang="zh-CN" altLang="en-US" dirty="0">
                <a:latin typeface="Times New Roman" panose="02020603050405020304" pitchFamily="18" charset="0"/>
              </a:endParaRPr>
            </a:p>
          </p:txBody>
        </p:sp>
        <p:sp>
          <p:nvSpPr>
            <p:cNvPr id="1073752575" name="椭圆 1073752574"/>
            <p:cNvSpPr/>
            <p:nvPr/>
          </p:nvSpPr>
          <p:spPr>
            <a:xfrm>
              <a:off x="7427" y="8111"/>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2</a:t>
              </a:r>
            </a:p>
            <a:p>
              <a:endParaRPr lang="zh-CN" altLang="en-US" dirty="0">
                <a:latin typeface="Times New Roman" panose="02020603050405020304" pitchFamily="18" charset="0"/>
              </a:endParaRPr>
            </a:p>
          </p:txBody>
        </p:sp>
        <p:sp>
          <p:nvSpPr>
            <p:cNvPr id="1073752576" name="椭圆 1073752575"/>
            <p:cNvSpPr/>
            <p:nvPr/>
          </p:nvSpPr>
          <p:spPr>
            <a:xfrm>
              <a:off x="7424" y="8885"/>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3</a:t>
              </a:r>
            </a:p>
            <a:p>
              <a:endParaRPr lang="zh-CN" altLang="en-US" dirty="0">
                <a:latin typeface="Times New Roman" panose="02020603050405020304" pitchFamily="18" charset="0"/>
              </a:endParaRPr>
            </a:p>
          </p:txBody>
        </p:sp>
        <p:sp>
          <p:nvSpPr>
            <p:cNvPr id="1073752577" name="椭圆 1073752576"/>
            <p:cNvSpPr/>
            <p:nvPr/>
          </p:nvSpPr>
          <p:spPr>
            <a:xfrm>
              <a:off x="7427" y="9667"/>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4</a:t>
              </a:r>
            </a:p>
            <a:p>
              <a:endParaRPr lang="zh-CN" altLang="en-US" dirty="0">
                <a:latin typeface="Times New Roman" panose="02020603050405020304" pitchFamily="18" charset="0"/>
              </a:endParaRPr>
            </a:p>
          </p:txBody>
        </p:sp>
        <p:sp>
          <p:nvSpPr>
            <p:cNvPr id="1073752578" name="椭圆 1073752577"/>
            <p:cNvSpPr/>
            <p:nvPr/>
          </p:nvSpPr>
          <p:spPr>
            <a:xfrm>
              <a:off x="7427" y="10453"/>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5</a:t>
              </a:r>
            </a:p>
            <a:p>
              <a:endParaRPr lang="zh-CN" altLang="en-US" dirty="0">
                <a:latin typeface="Times New Roman" panose="02020603050405020304" pitchFamily="18" charset="0"/>
              </a:endParaRPr>
            </a:p>
          </p:txBody>
        </p:sp>
        <p:sp>
          <p:nvSpPr>
            <p:cNvPr id="1073752579" name="椭圆 1073752578"/>
            <p:cNvSpPr/>
            <p:nvPr/>
          </p:nvSpPr>
          <p:spPr>
            <a:xfrm>
              <a:off x="7421" y="11233"/>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6</a:t>
              </a:r>
            </a:p>
            <a:p>
              <a:endParaRPr lang="zh-CN" altLang="en-US" dirty="0">
                <a:latin typeface="Times New Roman" panose="02020603050405020304" pitchFamily="18" charset="0"/>
              </a:endParaRPr>
            </a:p>
          </p:txBody>
        </p:sp>
        <p:sp>
          <p:nvSpPr>
            <p:cNvPr id="1073752580" name="椭圆 1073752579"/>
            <p:cNvSpPr/>
            <p:nvPr/>
          </p:nvSpPr>
          <p:spPr>
            <a:xfrm>
              <a:off x="7991" y="11923"/>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7</a:t>
              </a:r>
            </a:p>
            <a:p>
              <a:endParaRPr lang="zh-CN" altLang="en-US" dirty="0">
                <a:latin typeface="Times New Roman" panose="02020603050405020304" pitchFamily="18" charset="0"/>
              </a:endParaRPr>
            </a:p>
          </p:txBody>
        </p:sp>
        <p:sp>
          <p:nvSpPr>
            <p:cNvPr id="1073752581" name="椭圆 1073752580"/>
            <p:cNvSpPr/>
            <p:nvPr/>
          </p:nvSpPr>
          <p:spPr>
            <a:xfrm>
              <a:off x="6854" y="11926"/>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8</a:t>
              </a:r>
            </a:p>
            <a:p>
              <a:endParaRPr lang="zh-CN" altLang="en-US" dirty="0">
                <a:latin typeface="Times New Roman" panose="02020603050405020304" pitchFamily="18" charset="0"/>
              </a:endParaRPr>
            </a:p>
          </p:txBody>
        </p:sp>
        <p:sp>
          <p:nvSpPr>
            <p:cNvPr id="1073752582" name="椭圆 1073752581"/>
            <p:cNvSpPr/>
            <p:nvPr/>
          </p:nvSpPr>
          <p:spPr>
            <a:xfrm>
              <a:off x="7424" y="12616"/>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9</a:t>
              </a:r>
            </a:p>
            <a:p>
              <a:endParaRPr lang="zh-CN" altLang="en-US" dirty="0">
                <a:latin typeface="Times New Roman" panose="02020603050405020304" pitchFamily="18" charset="0"/>
              </a:endParaRPr>
            </a:p>
          </p:txBody>
        </p:sp>
        <p:sp>
          <p:nvSpPr>
            <p:cNvPr id="1073752583" name="椭圆 1073752582"/>
            <p:cNvSpPr/>
            <p:nvPr/>
          </p:nvSpPr>
          <p:spPr>
            <a:xfrm>
              <a:off x="5147" y="9286"/>
              <a:ext cx="622" cy="468"/>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10</a:t>
              </a:r>
            </a:p>
            <a:p>
              <a:endParaRPr lang="zh-CN" altLang="en-US" dirty="0">
                <a:latin typeface="Times New Roman" panose="02020603050405020304" pitchFamily="18" charset="0"/>
              </a:endParaRPr>
            </a:p>
          </p:txBody>
        </p:sp>
        <p:sp>
          <p:nvSpPr>
            <p:cNvPr id="1073752584" name="椭圆 1073752583"/>
            <p:cNvSpPr/>
            <p:nvPr/>
          </p:nvSpPr>
          <p:spPr>
            <a:xfrm>
              <a:off x="5933" y="10047"/>
              <a:ext cx="630" cy="394"/>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11</a:t>
              </a:r>
            </a:p>
            <a:p>
              <a:endParaRPr lang="zh-CN" altLang="en-US" dirty="0">
                <a:latin typeface="Times New Roman" panose="02020603050405020304" pitchFamily="18" charset="0"/>
              </a:endParaRPr>
            </a:p>
          </p:txBody>
        </p:sp>
        <p:sp>
          <p:nvSpPr>
            <p:cNvPr id="1073752585" name="椭圆 1073752584"/>
            <p:cNvSpPr/>
            <p:nvPr/>
          </p:nvSpPr>
          <p:spPr>
            <a:xfrm>
              <a:off x="4590" y="10047"/>
              <a:ext cx="611"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12</a:t>
              </a:r>
            </a:p>
            <a:p>
              <a:endParaRPr lang="zh-CN" altLang="en-US" dirty="0">
                <a:latin typeface="Times New Roman" panose="02020603050405020304" pitchFamily="18" charset="0"/>
              </a:endParaRPr>
            </a:p>
          </p:txBody>
        </p:sp>
        <p:sp>
          <p:nvSpPr>
            <p:cNvPr id="1073752586" name="椭圆 1073752585"/>
            <p:cNvSpPr/>
            <p:nvPr/>
          </p:nvSpPr>
          <p:spPr>
            <a:xfrm>
              <a:off x="5201" y="10737"/>
              <a:ext cx="732" cy="497"/>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13</a:t>
              </a:r>
            </a:p>
            <a:p>
              <a:endParaRPr lang="zh-CN" altLang="en-US" dirty="0">
                <a:latin typeface="Times New Roman" panose="02020603050405020304" pitchFamily="18" charset="0"/>
              </a:endParaRPr>
            </a:p>
          </p:txBody>
        </p:sp>
        <p:sp>
          <p:nvSpPr>
            <p:cNvPr id="1073752587" name="直接连接符 1073752586"/>
            <p:cNvSpPr/>
            <p:nvPr/>
          </p:nvSpPr>
          <p:spPr>
            <a:xfrm>
              <a:off x="7631" y="8511"/>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88" name="直接连接符 1073752587"/>
            <p:cNvSpPr/>
            <p:nvPr/>
          </p:nvSpPr>
          <p:spPr>
            <a:xfrm>
              <a:off x="7631" y="9285"/>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89" name="直接连接符 1073752588"/>
            <p:cNvSpPr/>
            <p:nvPr/>
          </p:nvSpPr>
          <p:spPr>
            <a:xfrm>
              <a:off x="7628" y="10068"/>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0" name="直接连接符 1073752589"/>
            <p:cNvSpPr/>
            <p:nvPr/>
          </p:nvSpPr>
          <p:spPr>
            <a:xfrm>
              <a:off x="7631" y="10852"/>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1" name="直接连接符 1073752590"/>
            <p:cNvSpPr/>
            <p:nvPr/>
          </p:nvSpPr>
          <p:spPr>
            <a:xfrm flipH="1">
              <a:off x="7061" y="10821"/>
              <a:ext cx="453" cy="1102"/>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2" name="直接连接符 1073752591"/>
            <p:cNvSpPr/>
            <p:nvPr/>
          </p:nvSpPr>
          <p:spPr>
            <a:xfrm flipH="1">
              <a:off x="7217" y="11608"/>
              <a:ext cx="297"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3" name="直接连接符 1073752592"/>
            <p:cNvSpPr/>
            <p:nvPr/>
          </p:nvSpPr>
          <p:spPr>
            <a:xfrm>
              <a:off x="7724" y="11608"/>
              <a:ext cx="315"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4" name="直接连接符 1073752593"/>
            <p:cNvSpPr/>
            <p:nvPr/>
          </p:nvSpPr>
          <p:spPr>
            <a:xfrm flipH="1">
              <a:off x="7259" y="12123"/>
              <a:ext cx="726" cy="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5" name="直接连接符 1073752594"/>
            <p:cNvSpPr/>
            <p:nvPr/>
          </p:nvSpPr>
          <p:spPr>
            <a:xfrm>
              <a:off x="7181" y="12279"/>
              <a:ext cx="315"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6" name="直接连接符 1073752595"/>
            <p:cNvSpPr/>
            <p:nvPr/>
          </p:nvSpPr>
          <p:spPr>
            <a:xfrm flipH="1">
              <a:off x="5726" y="8388"/>
              <a:ext cx="1707" cy="1029"/>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7" name="直接连接符 1073752596"/>
            <p:cNvSpPr/>
            <p:nvPr/>
          </p:nvSpPr>
          <p:spPr>
            <a:xfrm flipH="1">
              <a:off x="5768" y="9117"/>
              <a:ext cx="1656" cy="39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8" name="直接连接符 1073752597"/>
            <p:cNvSpPr/>
            <p:nvPr/>
          </p:nvSpPr>
          <p:spPr>
            <a:xfrm flipH="1">
              <a:off x="5147" y="9711"/>
              <a:ext cx="288" cy="39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9" name="直接连接符 1073752598"/>
            <p:cNvSpPr/>
            <p:nvPr/>
          </p:nvSpPr>
          <p:spPr>
            <a:xfrm>
              <a:off x="5678" y="9735"/>
              <a:ext cx="327" cy="351"/>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600" name="直接连接符 1073752599"/>
            <p:cNvSpPr/>
            <p:nvPr/>
          </p:nvSpPr>
          <p:spPr>
            <a:xfrm>
              <a:off x="5126" y="10410"/>
              <a:ext cx="327" cy="351"/>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601" name="直接连接符 1073752600"/>
            <p:cNvSpPr/>
            <p:nvPr/>
          </p:nvSpPr>
          <p:spPr>
            <a:xfrm flipH="1">
              <a:off x="5660" y="10371"/>
              <a:ext cx="324" cy="39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602" name="任意多边形 1073752601"/>
            <p:cNvSpPr/>
            <p:nvPr/>
          </p:nvSpPr>
          <p:spPr>
            <a:xfrm>
              <a:off x="7829" y="8358"/>
              <a:ext cx="1653" cy="4457"/>
            </a:xfrm>
            <a:custGeom>
              <a:avLst/>
              <a:gdLst/>
              <a:ahLst/>
              <a:cxnLst/>
              <a:rect l="0" t="0" r="0" b="0"/>
              <a:pathLst>
                <a:path w="1653" h="4457">
                  <a:moveTo>
                    <a:pt x="0" y="4457"/>
                  </a:moveTo>
                  <a:cubicBezTo>
                    <a:pt x="168" y="4406"/>
                    <a:pt x="722" y="4363"/>
                    <a:pt x="1011" y="4149"/>
                  </a:cubicBezTo>
                  <a:cubicBezTo>
                    <a:pt x="1300" y="3935"/>
                    <a:pt x="1429" y="3780"/>
                    <a:pt x="1541" y="3367"/>
                  </a:cubicBezTo>
                  <a:cubicBezTo>
                    <a:pt x="1653" y="2954"/>
                    <a:pt x="1575" y="2609"/>
                    <a:pt x="1530" y="2292"/>
                  </a:cubicBezTo>
                  <a:cubicBezTo>
                    <a:pt x="1485" y="1975"/>
                    <a:pt x="1377" y="1710"/>
                    <a:pt x="1268" y="1462"/>
                  </a:cubicBezTo>
                  <a:cubicBezTo>
                    <a:pt x="1159" y="1214"/>
                    <a:pt x="1016" y="991"/>
                    <a:pt x="877" y="803"/>
                  </a:cubicBezTo>
                  <a:cubicBezTo>
                    <a:pt x="738" y="615"/>
                    <a:pt x="577" y="466"/>
                    <a:pt x="433" y="332"/>
                  </a:cubicBezTo>
                  <a:cubicBezTo>
                    <a:pt x="289" y="198"/>
                    <a:pt x="98" y="69"/>
                    <a:pt x="10" y="0"/>
                  </a:cubicBezTo>
                </a:path>
              </a:pathLst>
            </a:custGeom>
            <a:noFill/>
            <a:ln w="9525" cap="flat" cmpd="sng">
              <a:solidFill>
                <a:srgbClr val="000000"/>
              </a:solidFill>
              <a:prstDash val="solid"/>
              <a:headEnd type="none" w="med" len="med"/>
              <a:tailEnd type="triangle" w="med" len="med"/>
            </a:ln>
          </p:spPr>
          <p:txBody>
            <a:bodyPr/>
            <a:lstStyle/>
            <a:p>
              <a:endParaRPr lang="zh-CN" altLang="en-US" dirty="0">
                <a:latin typeface="Times New Roman" panose="02020603050405020304" pitchFamily="18" charset="0"/>
              </a:endParaRPr>
            </a:p>
          </p:txBody>
        </p:sp>
        <p:sp>
          <p:nvSpPr>
            <p:cNvPr id="1073752603" name="任意多边形 1073752602"/>
            <p:cNvSpPr/>
            <p:nvPr/>
          </p:nvSpPr>
          <p:spPr>
            <a:xfrm>
              <a:off x="4223" y="7467"/>
              <a:ext cx="3204" cy="3441"/>
            </a:xfrm>
            <a:custGeom>
              <a:avLst/>
              <a:gdLst/>
              <a:ahLst/>
              <a:cxnLst/>
              <a:rect l="0" t="0" r="0" b="0"/>
              <a:pathLst>
                <a:path w="3204" h="3441">
                  <a:moveTo>
                    <a:pt x="1147" y="3441"/>
                  </a:moveTo>
                  <a:cubicBezTo>
                    <a:pt x="998" y="3355"/>
                    <a:pt x="510" y="3292"/>
                    <a:pt x="255" y="2924"/>
                  </a:cubicBezTo>
                  <a:cubicBezTo>
                    <a:pt x="0" y="2556"/>
                    <a:pt x="31" y="1916"/>
                    <a:pt x="195" y="1506"/>
                  </a:cubicBezTo>
                  <a:cubicBezTo>
                    <a:pt x="359" y="1096"/>
                    <a:pt x="547" y="726"/>
                    <a:pt x="1147" y="351"/>
                  </a:cubicBezTo>
                  <a:cubicBezTo>
                    <a:pt x="1613" y="118"/>
                    <a:pt x="2477" y="54"/>
                    <a:pt x="2832" y="27"/>
                  </a:cubicBezTo>
                  <a:cubicBezTo>
                    <a:pt x="3187" y="0"/>
                    <a:pt x="3127" y="16"/>
                    <a:pt x="3204" y="13"/>
                  </a:cubicBezTo>
                </a:path>
              </a:pathLst>
            </a:custGeom>
            <a:noFill/>
            <a:ln w="9525" cap="flat" cmpd="sng">
              <a:solidFill>
                <a:srgbClr val="000000"/>
              </a:solidFill>
              <a:prstDash val="dash"/>
              <a:headEnd type="none" w="med" len="med"/>
              <a:tailEnd type="triangle" w="med" len="med"/>
            </a:ln>
          </p:spPr>
          <p:txBody>
            <a:bodyPr/>
            <a:lstStyle/>
            <a:p>
              <a:endParaRPr lang="zh-CN" altLang="en-US" dirty="0">
                <a:latin typeface="Times New Roman" panose="02020603050405020304" pitchFamily="18" charset="0"/>
              </a:endParaRPr>
            </a:p>
          </p:txBody>
        </p:sp>
      </p:grpSp>
    </p:spTree>
  </p:cSld>
  <p:clrMapOvr>
    <a:masterClrMapping/>
  </p:clrMapOvr>
  <p:transition>
    <p:pull dir="rd"/>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11520000" cy="535531"/>
          </a:xfrm>
        </p:spPr>
        <p:txBody>
          <a:bodyPr/>
          <a:lstStyle/>
          <a:p>
            <a:r>
              <a:rPr lang="en-US" dirty="0"/>
              <a:t>4.5 </a:t>
            </a:r>
            <a:r>
              <a:rPr lang="zh-CN" altLang="en-US" dirty="0"/>
              <a:t>设计软件测试方案</a:t>
            </a:r>
          </a:p>
        </p:txBody>
      </p:sp>
      <p:grpSp>
        <p:nvGrpSpPr>
          <p:cNvPr id="2" name="组合 1"/>
          <p:cNvGrpSpPr/>
          <p:nvPr/>
        </p:nvGrpSpPr>
        <p:grpSpPr>
          <a:xfrm>
            <a:off x="737235" y="1403985"/>
            <a:ext cx="9955530" cy="4890135"/>
            <a:chOff x="1275" y="2210"/>
            <a:chExt cx="15678" cy="7701"/>
          </a:xfrm>
        </p:grpSpPr>
        <p:sp>
          <p:nvSpPr>
            <p:cNvPr id="19" name="TextBox 6"/>
            <p:cNvSpPr txBox="1"/>
            <p:nvPr/>
          </p:nvSpPr>
          <p:spPr>
            <a:xfrm>
              <a:off x="1275" y="2210"/>
              <a:ext cx="13695" cy="892"/>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案例</a:t>
              </a:r>
            </a:p>
          </p:txBody>
        </p:sp>
        <p:grpSp>
          <p:nvGrpSpPr>
            <p:cNvPr id="4" name="组合 4"/>
            <p:cNvGrpSpPr/>
            <p:nvPr/>
          </p:nvGrpSpPr>
          <p:grpSpPr>
            <a:xfrm>
              <a:off x="1499" y="3150"/>
              <a:ext cx="15454" cy="6761"/>
              <a:chOff x="1499" y="3150"/>
              <a:chExt cx="15454" cy="6761"/>
            </a:xfrm>
          </p:grpSpPr>
          <p:sp>
            <p:nvSpPr>
              <p:cNvPr id="22" name="TextBox 21"/>
              <p:cNvSpPr txBox="1"/>
              <p:nvPr/>
            </p:nvSpPr>
            <p:spPr>
              <a:xfrm>
                <a:off x="3431" y="3419"/>
                <a:ext cx="13522" cy="624"/>
              </a:xfrm>
              <a:prstGeom prst="rect">
                <a:avLst/>
              </a:prstGeom>
              <a:noFill/>
            </p:spPr>
            <p:txBody>
              <a:bodyPr wrap="square">
                <a:spAutoFit/>
              </a:bodyPr>
              <a:lstStyle/>
              <a:p>
                <a:r>
                  <a:rPr sz="2000" dirty="0">
                    <a:latin typeface="Times New Roman" panose="02020603050405020304" pitchFamily="18" charset="0"/>
                    <a:sym typeface="+mn-ea"/>
                  </a:rPr>
                  <a:t>用基本路径覆盖法设计测试用例。</a:t>
                </a:r>
              </a:p>
            </p:txBody>
          </p:sp>
          <p:sp>
            <p:nvSpPr>
              <p:cNvPr id="24" name="矩形 23"/>
              <p:cNvSpPr>
                <a:spLocks noChangeAspect="1"/>
              </p:cNvSpPr>
              <p:nvPr/>
            </p:nvSpPr>
            <p:spPr>
              <a:xfrm>
                <a:off x="1499" y="4275"/>
                <a:ext cx="8213" cy="5636"/>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3"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altLang="en-US" sz="2400" dirty="0">
                      <a:solidFill>
                        <a:schemeClr val="bg1"/>
                      </a:solidFill>
                      <a:latin typeface="Times New Roman" panose="02020603050405020304" pitchFamily="18" charset="0"/>
                      <a:sym typeface="+mn-ea"/>
                    </a:rPr>
                    <a:t>例 </a:t>
                  </a:r>
                  <a:r>
                    <a:rPr lang="en-US" altLang="zh-CN" sz="2400" dirty="0">
                      <a:solidFill>
                        <a:schemeClr val="bg1"/>
                      </a:solidFill>
                      <a:latin typeface="Times New Roman" panose="02020603050405020304" pitchFamily="18" charset="0"/>
                      <a:sym typeface="+mn-ea"/>
                    </a:rPr>
                    <a:t>4-4</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4" name="TextBox 33"/>
              <p:cNvSpPr txBox="1"/>
              <p:nvPr/>
            </p:nvSpPr>
            <p:spPr>
              <a:xfrm>
                <a:off x="1632" y="4426"/>
                <a:ext cx="7864" cy="5249"/>
              </a:xfrm>
              <a:prstGeom prst="rect">
                <a:avLst/>
              </a:prstGeom>
              <a:solidFill>
                <a:schemeClr val="bg1">
                  <a:lumMod val="95000"/>
                </a:schemeClr>
              </a:solidFill>
            </p:spPr>
            <p:txBody>
              <a:bodyPr wrap="square">
                <a:spAutoFit/>
              </a:bodyPr>
              <a:lstStyle/>
              <a:p>
                <a:pPr>
                  <a:lnSpc>
                    <a:spcPct val="130000"/>
                  </a:lnSpc>
                </a:pPr>
                <a:r>
                  <a:rPr lang="en-US" altLang="en-US" dirty="0">
                    <a:latin typeface="Times New Roman" panose="02020603050405020304" charset="0"/>
                    <a:ea typeface="微软雅黑 Light" panose="020B0502040204020203" pitchFamily="34" charset="-122"/>
                  </a:rPr>
                  <a:t>4．设计可强制执行集合中每条路径的测试用例</a:t>
                </a:r>
              </a:p>
              <a:p>
                <a:pPr>
                  <a:lnSpc>
                    <a:spcPct val="130000"/>
                  </a:lnSpc>
                </a:pPr>
                <a:endParaRPr lang="en-US" altLang="en-US" dirty="0">
                  <a:latin typeface="Times New Roman" panose="02020603050405020304" charset="0"/>
                  <a:ea typeface="微软雅黑 Light" panose="020B0502040204020203" pitchFamily="34" charset="-122"/>
                </a:endParaRPr>
              </a:p>
              <a:p>
                <a:pPr fontAlgn="auto">
                  <a:lnSpc>
                    <a:spcPct val="130000"/>
                  </a:lnSpc>
                  <a:buFont typeface="Wingdings" panose="05000000000000000000" pitchFamily="2" charset="2"/>
                  <a:buChar char="Ø"/>
                </a:pPr>
                <a:r>
                  <a:rPr lang="en-US" altLang="en-US" dirty="0">
                    <a:latin typeface="Times New Roman" panose="02020603050405020304" charset="0"/>
                    <a:ea typeface="微软雅黑 Light" panose="020B0502040204020203" pitchFamily="34" charset="-122"/>
                  </a:rPr>
                  <a:t> 路径2的测试用例</a:t>
                </a:r>
              </a:p>
              <a:p>
                <a:pPr fontAlgn="auto">
                  <a:lnSpc>
                    <a:spcPct val="130000"/>
                  </a:lnSpc>
                </a:pPr>
                <a:r>
                  <a:rPr lang="en-US" altLang="en-US" dirty="0">
                    <a:latin typeface="Times New Roman" panose="02020603050405020304" charset="0"/>
                    <a:ea typeface="微软雅黑 Light" panose="020B0502040204020203" pitchFamily="34" charset="-122"/>
                  </a:rPr>
                  <a:t>         value[1]=-999</a:t>
                </a:r>
              </a:p>
              <a:p>
                <a:pPr>
                  <a:lnSpc>
                    <a:spcPct val="130000"/>
                  </a:lnSpc>
                </a:pPr>
                <a:r>
                  <a:rPr lang="zh-CN" altLang="en-US" dirty="0">
                    <a:latin typeface="Times New Roman" panose="02020603050405020304" charset="0"/>
                    <a:ea typeface="微软雅黑 Light" panose="020B0502040204020203" pitchFamily="34" charset="-122"/>
                  </a:rPr>
                  <a:t>         预期的测试结果：</a:t>
                </a:r>
                <a:r>
                  <a:rPr lang="en-US" altLang="zh-CN" dirty="0">
                    <a:latin typeface="Times New Roman" panose="02020603050405020304" charset="0"/>
                    <a:ea typeface="微软雅黑 Light" panose="020B0502040204020203" pitchFamily="34" charset="-122"/>
                  </a:rPr>
                  <a:t>average=-999</a:t>
                </a:r>
                <a:r>
                  <a:rPr lang="zh-CN" altLang="en-US" dirty="0">
                    <a:latin typeface="Times New Roman" panose="02020603050405020304" charset="0"/>
                    <a:ea typeface="微软雅黑 Light" panose="020B0502040204020203" pitchFamily="34" charset="-122"/>
                  </a:rPr>
                  <a:t>。</a:t>
                </a:r>
                <a:endParaRPr lang="en-US" altLang="en-US" dirty="0">
                  <a:latin typeface="Times New Roman" panose="02020603050405020304" charset="0"/>
                  <a:ea typeface="微软雅黑 Light" panose="020B0502040204020203" pitchFamily="34" charset="-122"/>
                </a:endParaRPr>
              </a:p>
              <a:p>
                <a:pPr fontAlgn="auto">
                  <a:lnSpc>
                    <a:spcPct val="130000"/>
                  </a:lnSpc>
                  <a:buFont typeface="Wingdings" panose="05000000000000000000" pitchFamily="2" charset="2"/>
                  <a:buChar char="Ø"/>
                </a:pPr>
                <a:r>
                  <a:rPr lang="en-US" altLang="en-US" dirty="0">
                    <a:latin typeface="Times New Roman" panose="02020603050405020304" charset="0"/>
                    <a:ea typeface="微软雅黑 Light" panose="020B0502040204020203" pitchFamily="34" charset="-122"/>
                  </a:rPr>
                  <a:t>路径3的测试用例</a:t>
                </a:r>
              </a:p>
              <a:p>
                <a:pPr fontAlgn="auto">
                  <a:lnSpc>
                    <a:spcPct val="130000"/>
                  </a:lnSpc>
                </a:pPr>
                <a:r>
                  <a:rPr lang="en-US" altLang="en-US" dirty="0">
                    <a:latin typeface="Times New Roman" panose="02020603050405020304" charset="0"/>
                    <a:ea typeface="微软雅黑 Light" panose="020B0502040204020203" pitchFamily="34" charset="-122"/>
                  </a:rPr>
                  <a:t>        试图处理101个或者更多个值，前100个数值应该是有效输入值。</a:t>
                </a:r>
              </a:p>
              <a:p>
                <a:pPr fontAlgn="auto">
                  <a:lnSpc>
                    <a:spcPct val="130000"/>
                  </a:lnSpc>
                </a:pPr>
                <a:r>
                  <a:rPr lang="en-US" altLang="en-US" dirty="0">
                    <a:latin typeface="Times New Roman" panose="02020603050405020304" charset="0"/>
                    <a:ea typeface="微软雅黑 Light" panose="020B0502040204020203" pitchFamily="34" charset="-122"/>
                  </a:rPr>
                  <a:t>        预期测试结果：与测试用例1相同。</a:t>
                </a:r>
              </a:p>
            </p:txBody>
          </p:sp>
        </p:grpSp>
      </p:grpSp>
      <p:sp>
        <p:nvSpPr>
          <p:cNvPr id="7" name="矩形 6"/>
          <p:cNvSpPr>
            <a:spLocks noChangeAspect="1"/>
          </p:cNvSpPr>
          <p:nvPr/>
        </p:nvSpPr>
        <p:spPr>
          <a:xfrm>
            <a:off x="6316345" y="1238250"/>
            <a:ext cx="4940300" cy="5055870"/>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sp>
        <p:nvSpPr>
          <p:cNvPr id="8" name="TextBox 33"/>
          <p:cNvSpPr txBox="1"/>
          <p:nvPr/>
        </p:nvSpPr>
        <p:spPr>
          <a:xfrm>
            <a:off x="6462395" y="1372235"/>
            <a:ext cx="4627880" cy="4844415"/>
          </a:xfrm>
          <a:prstGeom prst="rect">
            <a:avLst/>
          </a:prstGeom>
          <a:solidFill>
            <a:schemeClr val="bg1">
              <a:lumMod val="95000"/>
            </a:schemeClr>
          </a:solidFill>
        </p:spPr>
        <p:txBody>
          <a:bodyPr wrap="square">
            <a:spAutoFit/>
          </a:bodyPr>
          <a:lstStyle/>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p:txBody>
      </p:sp>
      <p:grpSp>
        <p:nvGrpSpPr>
          <p:cNvPr id="6" name="组合 1073752571"/>
          <p:cNvGrpSpPr>
            <a:grpSpLocks noRot="1"/>
          </p:cNvGrpSpPr>
          <p:nvPr/>
        </p:nvGrpSpPr>
        <p:grpSpPr>
          <a:xfrm>
            <a:off x="6686550" y="2171700"/>
            <a:ext cx="4200525" cy="3578225"/>
            <a:chOff x="4223" y="7325"/>
            <a:chExt cx="5259" cy="5691"/>
          </a:xfrm>
        </p:grpSpPr>
        <p:sp>
          <p:nvSpPr>
            <p:cNvPr id="1073752573" name="直接连接符 1073752572"/>
            <p:cNvSpPr/>
            <p:nvPr/>
          </p:nvSpPr>
          <p:spPr>
            <a:xfrm>
              <a:off x="7631" y="7728"/>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74" name="椭圆 1073752573"/>
            <p:cNvSpPr/>
            <p:nvPr/>
          </p:nvSpPr>
          <p:spPr>
            <a:xfrm>
              <a:off x="7427" y="7325"/>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a:t>
              </a:r>
            </a:p>
            <a:p>
              <a:endParaRPr lang="zh-CN" altLang="en-US" dirty="0">
                <a:latin typeface="Times New Roman" panose="02020603050405020304" pitchFamily="18" charset="0"/>
              </a:endParaRPr>
            </a:p>
          </p:txBody>
        </p:sp>
        <p:sp>
          <p:nvSpPr>
            <p:cNvPr id="1073752575" name="椭圆 1073752574"/>
            <p:cNvSpPr/>
            <p:nvPr/>
          </p:nvSpPr>
          <p:spPr>
            <a:xfrm>
              <a:off x="7427" y="8111"/>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2</a:t>
              </a:r>
            </a:p>
            <a:p>
              <a:endParaRPr lang="zh-CN" altLang="en-US" dirty="0">
                <a:latin typeface="Times New Roman" panose="02020603050405020304" pitchFamily="18" charset="0"/>
              </a:endParaRPr>
            </a:p>
          </p:txBody>
        </p:sp>
        <p:sp>
          <p:nvSpPr>
            <p:cNvPr id="1073752576" name="椭圆 1073752575"/>
            <p:cNvSpPr/>
            <p:nvPr/>
          </p:nvSpPr>
          <p:spPr>
            <a:xfrm>
              <a:off x="7424" y="8885"/>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3</a:t>
              </a:r>
            </a:p>
            <a:p>
              <a:endParaRPr lang="zh-CN" altLang="en-US" dirty="0">
                <a:latin typeface="Times New Roman" panose="02020603050405020304" pitchFamily="18" charset="0"/>
              </a:endParaRPr>
            </a:p>
          </p:txBody>
        </p:sp>
        <p:sp>
          <p:nvSpPr>
            <p:cNvPr id="1073752577" name="椭圆 1073752576"/>
            <p:cNvSpPr/>
            <p:nvPr/>
          </p:nvSpPr>
          <p:spPr>
            <a:xfrm>
              <a:off x="7427" y="9667"/>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4</a:t>
              </a:r>
            </a:p>
            <a:p>
              <a:endParaRPr lang="zh-CN" altLang="en-US" dirty="0">
                <a:latin typeface="Times New Roman" panose="02020603050405020304" pitchFamily="18" charset="0"/>
              </a:endParaRPr>
            </a:p>
          </p:txBody>
        </p:sp>
        <p:sp>
          <p:nvSpPr>
            <p:cNvPr id="1073752578" name="椭圆 1073752577"/>
            <p:cNvSpPr/>
            <p:nvPr/>
          </p:nvSpPr>
          <p:spPr>
            <a:xfrm>
              <a:off x="7427" y="10453"/>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5</a:t>
              </a:r>
            </a:p>
            <a:p>
              <a:endParaRPr lang="zh-CN" altLang="en-US" dirty="0">
                <a:latin typeface="Times New Roman" panose="02020603050405020304" pitchFamily="18" charset="0"/>
              </a:endParaRPr>
            </a:p>
          </p:txBody>
        </p:sp>
        <p:sp>
          <p:nvSpPr>
            <p:cNvPr id="1073752579" name="椭圆 1073752578"/>
            <p:cNvSpPr/>
            <p:nvPr/>
          </p:nvSpPr>
          <p:spPr>
            <a:xfrm>
              <a:off x="7421" y="11233"/>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6</a:t>
              </a:r>
            </a:p>
            <a:p>
              <a:endParaRPr lang="zh-CN" altLang="en-US" dirty="0">
                <a:latin typeface="Times New Roman" panose="02020603050405020304" pitchFamily="18" charset="0"/>
              </a:endParaRPr>
            </a:p>
          </p:txBody>
        </p:sp>
        <p:sp>
          <p:nvSpPr>
            <p:cNvPr id="1073752580" name="椭圆 1073752579"/>
            <p:cNvSpPr/>
            <p:nvPr/>
          </p:nvSpPr>
          <p:spPr>
            <a:xfrm>
              <a:off x="7991" y="11923"/>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7</a:t>
              </a:r>
            </a:p>
            <a:p>
              <a:endParaRPr lang="zh-CN" altLang="en-US" dirty="0">
                <a:latin typeface="Times New Roman" panose="02020603050405020304" pitchFamily="18" charset="0"/>
              </a:endParaRPr>
            </a:p>
          </p:txBody>
        </p:sp>
        <p:sp>
          <p:nvSpPr>
            <p:cNvPr id="1073752581" name="椭圆 1073752580"/>
            <p:cNvSpPr/>
            <p:nvPr/>
          </p:nvSpPr>
          <p:spPr>
            <a:xfrm>
              <a:off x="6854" y="11926"/>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8</a:t>
              </a:r>
            </a:p>
            <a:p>
              <a:endParaRPr lang="zh-CN" altLang="en-US" dirty="0">
                <a:latin typeface="Times New Roman" panose="02020603050405020304" pitchFamily="18" charset="0"/>
              </a:endParaRPr>
            </a:p>
          </p:txBody>
        </p:sp>
        <p:sp>
          <p:nvSpPr>
            <p:cNvPr id="1073752582" name="椭圆 1073752581"/>
            <p:cNvSpPr/>
            <p:nvPr/>
          </p:nvSpPr>
          <p:spPr>
            <a:xfrm>
              <a:off x="7424" y="12616"/>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9</a:t>
              </a:r>
            </a:p>
            <a:p>
              <a:endParaRPr lang="zh-CN" altLang="en-US" dirty="0">
                <a:latin typeface="Times New Roman" panose="02020603050405020304" pitchFamily="18" charset="0"/>
              </a:endParaRPr>
            </a:p>
          </p:txBody>
        </p:sp>
        <p:sp>
          <p:nvSpPr>
            <p:cNvPr id="1073752583" name="椭圆 1073752582"/>
            <p:cNvSpPr/>
            <p:nvPr/>
          </p:nvSpPr>
          <p:spPr>
            <a:xfrm>
              <a:off x="5147" y="9286"/>
              <a:ext cx="622" cy="468"/>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10</a:t>
              </a:r>
            </a:p>
            <a:p>
              <a:endParaRPr lang="zh-CN" altLang="en-US" dirty="0">
                <a:latin typeface="Times New Roman" panose="02020603050405020304" pitchFamily="18" charset="0"/>
              </a:endParaRPr>
            </a:p>
          </p:txBody>
        </p:sp>
        <p:sp>
          <p:nvSpPr>
            <p:cNvPr id="1073752584" name="椭圆 1073752583"/>
            <p:cNvSpPr/>
            <p:nvPr/>
          </p:nvSpPr>
          <p:spPr>
            <a:xfrm>
              <a:off x="5933" y="10047"/>
              <a:ext cx="630" cy="394"/>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11</a:t>
              </a:r>
            </a:p>
            <a:p>
              <a:endParaRPr lang="zh-CN" altLang="en-US" dirty="0">
                <a:latin typeface="Times New Roman" panose="02020603050405020304" pitchFamily="18" charset="0"/>
              </a:endParaRPr>
            </a:p>
          </p:txBody>
        </p:sp>
        <p:sp>
          <p:nvSpPr>
            <p:cNvPr id="1073752585" name="椭圆 1073752584"/>
            <p:cNvSpPr/>
            <p:nvPr/>
          </p:nvSpPr>
          <p:spPr>
            <a:xfrm>
              <a:off x="4590" y="10047"/>
              <a:ext cx="611"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12</a:t>
              </a:r>
            </a:p>
            <a:p>
              <a:endParaRPr lang="zh-CN" altLang="en-US" dirty="0">
                <a:latin typeface="Times New Roman" panose="02020603050405020304" pitchFamily="18" charset="0"/>
              </a:endParaRPr>
            </a:p>
          </p:txBody>
        </p:sp>
        <p:sp>
          <p:nvSpPr>
            <p:cNvPr id="1073752586" name="椭圆 1073752585"/>
            <p:cNvSpPr/>
            <p:nvPr/>
          </p:nvSpPr>
          <p:spPr>
            <a:xfrm>
              <a:off x="5201" y="10737"/>
              <a:ext cx="732" cy="497"/>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13</a:t>
              </a:r>
            </a:p>
            <a:p>
              <a:endParaRPr lang="zh-CN" altLang="en-US" dirty="0">
                <a:latin typeface="Times New Roman" panose="02020603050405020304" pitchFamily="18" charset="0"/>
              </a:endParaRPr>
            </a:p>
          </p:txBody>
        </p:sp>
        <p:sp>
          <p:nvSpPr>
            <p:cNvPr id="1073752587" name="直接连接符 1073752586"/>
            <p:cNvSpPr/>
            <p:nvPr/>
          </p:nvSpPr>
          <p:spPr>
            <a:xfrm>
              <a:off x="7631" y="8511"/>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88" name="直接连接符 1073752587"/>
            <p:cNvSpPr/>
            <p:nvPr/>
          </p:nvSpPr>
          <p:spPr>
            <a:xfrm>
              <a:off x="7631" y="9285"/>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89" name="直接连接符 1073752588"/>
            <p:cNvSpPr/>
            <p:nvPr/>
          </p:nvSpPr>
          <p:spPr>
            <a:xfrm>
              <a:off x="7628" y="10068"/>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0" name="直接连接符 1073752589"/>
            <p:cNvSpPr/>
            <p:nvPr/>
          </p:nvSpPr>
          <p:spPr>
            <a:xfrm>
              <a:off x="7631" y="10852"/>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1" name="直接连接符 1073752590"/>
            <p:cNvSpPr/>
            <p:nvPr/>
          </p:nvSpPr>
          <p:spPr>
            <a:xfrm flipH="1">
              <a:off x="7061" y="10821"/>
              <a:ext cx="453" cy="1102"/>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2" name="直接连接符 1073752591"/>
            <p:cNvSpPr/>
            <p:nvPr/>
          </p:nvSpPr>
          <p:spPr>
            <a:xfrm flipH="1">
              <a:off x="7217" y="11608"/>
              <a:ext cx="297"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3" name="直接连接符 1073752592"/>
            <p:cNvSpPr/>
            <p:nvPr/>
          </p:nvSpPr>
          <p:spPr>
            <a:xfrm>
              <a:off x="7724" y="11608"/>
              <a:ext cx="315"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4" name="直接连接符 1073752593"/>
            <p:cNvSpPr/>
            <p:nvPr/>
          </p:nvSpPr>
          <p:spPr>
            <a:xfrm flipH="1">
              <a:off x="7259" y="12123"/>
              <a:ext cx="726" cy="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5" name="直接连接符 1073752594"/>
            <p:cNvSpPr/>
            <p:nvPr/>
          </p:nvSpPr>
          <p:spPr>
            <a:xfrm>
              <a:off x="7181" y="12279"/>
              <a:ext cx="315"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6" name="直接连接符 1073752595"/>
            <p:cNvSpPr/>
            <p:nvPr/>
          </p:nvSpPr>
          <p:spPr>
            <a:xfrm flipH="1">
              <a:off x="5726" y="8388"/>
              <a:ext cx="1707" cy="1029"/>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7" name="直接连接符 1073752596"/>
            <p:cNvSpPr/>
            <p:nvPr/>
          </p:nvSpPr>
          <p:spPr>
            <a:xfrm flipH="1">
              <a:off x="5768" y="9117"/>
              <a:ext cx="1656" cy="39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8" name="直接连接符 1073752597"/>
            <p:cNvSpPr/>
            <p:nvPr/>
          </p:nvSpPr>
          <p:spPr>
            <a:xfrm flipH="1">
              <a:off x="5147" y="9711"/>
              <a:ext cx="288" cy="39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9" name="直接连接符 1073752598"/>
            <p:cNvSpPr/>
            <p:nvPr/>
          </p:nvSpPr>
          <p:spPr>
            <a:xfrm>
              <a:off x="5678" y="9735"/>
              <a:ext cx="327" cy="351"/>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600" name="直接连接符 1073752599"/>
            <p:cNvSpPr/>
            <p:nvPr/>
          </p:nvSpPr>
          <p:spPr>
            <a:xfrm>
              <a:off x="5126" y="10410"/>
              <a:ext cx="327" cy="351"/>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601" name="直接连接符 1073752600"/>
            <p:cNvSpPr/>
            <p:nvPr/>
          </p:nvSpPr>
          <p:spPr>
            <a:xfrm flipH="1">
              <a:off x="5660" y="10371"/>
              <a:ext cx="324" cy="39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602" name="任意多边形 1073752601"/>
            <p:cNvSpPr/>
            <p:nvPr/>
          </p:nvSpPr>
          <p:spPr>
            <a:xfrm>
              <a:off x="7829" y="8358"/>
              <a:ext cx="1653" cy="4457"/>
            </a:xfrm>
            <a:custGeom>
              <a:avLst/>
              <a:gdLst/>
              <a:ahLst/>
              <a:cxnLst/>
              <a:rect l="0" t="0" r="0" b="0"/>
              <a:pathLst>
                <a:path w="1653" h="4457">
                  <a:moveTo>
                    <a:pt x="0" y="4457"/>
                  </a:moveTo>
                  <a:cubicBezTo>
                    <a:pt x="168" y="4406"/>
                    <a:pt x="722" y="4363"/>
                    <a:pt x="1011" y="4149"/>
                  </a:cubicBezTo>
                  <a:cubicBezTo>
                    <a:pt x="1300" y="3935"/>
                    <a:pt x="1429" y="3780"/>
                    <a:pt x="1541" y="3367"/>
                  </a:cubicBezTo>
                  <a:cubicBezTo>
                    <a:pt x="1653" y="2954"/>
                    <a:pt x="1575" y="2609"/>
                    <a:pt x="1530" y="2292"/>
                  </a:cubicBezTo>
                  <a:cubicBezTo>
                    <a:pt x="1485" y="1975"/>
                    <a:pt x="1377" y="1710"/>
                    <a:pt x="1268" y="1462"/>
                  </a:cubicBezTo>
                  <a:cubicBezTo>
                    <a:pt x="1159" y="1214"/>
                    <a:pt x="1016" y="991"/>
                    <a:pt x="877" y="803"/>
                  </a:cubicBezTo>
                  <a:cubicBezTo>
                    <a:pt x="738" y="615"/>
                    <a:pt x="577" y="466"/>
                    <a:pt x="433" y="332"/>
                  </a:cubicBezTo>
                  <a:cubicBezTo>
                    <a:pt x="289" y="198"/>
                    <a:pt x="98" y="69"/>
                    <a:pt x="10" y="0"/>
                  </a:cubicBezTo>
                </a:path>
              </a:pathLst>
            </a:custGeom>
            <a:noFill/>
            <a:ln w="9525" cap="flat" cmpd="sng">
              <a:solidFill>
                <a:srgbClr val="000000"/>
              </a:solidFill>
              <a:prstDash val="solid"/>
              <a:headEnd type="none" w="med" len="med"/>
              <a:tailEnd type="triangle" w="med" len="med"/>
            </a:ln>
          </p:spPr>
          <p:txBody>
            <a:bodyPr/>
            <a:lstStyle/>
            <a:p>
              <a:endParaRPr lang="zh-CN" altLang="en-US" dirty="0">
                <a:latin typeface="Times New Roman" panose="02020603050405020304" pitchFamily="18" charset="0"/>
              </a:endParaRPr>
            </a:p>
          </p:txBody>
        </p:sp>
        <p:sp>
          <p:nvSpPr>
            <p:cNvPr id="1073752603" name="任意多边形 1073752602"/>
            <p:cNvSpPr/>
            <p:nvPr/>
          </p:nvSpPr>
          <p:spPr>
            <a:xfrm>
              <a:off x="4223" y="7467"/>
              <a:ext cx="3204" cy="3441"/>
            </a:xfrm>
            <a:custGeom>
              <a:avLst/>
              <a:gdLst/>
              <a:ahLst/>
              <a:cxnLst/>
              <a:rect l="0" t="0" r="0" b="0"/>
              <a:pathLst>
                <a:path w="3204" h="3441">
                  <a:moveTo>
                    <a:pt x="1147" y="3441"/>
                  </a:moveTo>
                  <a:cubicBezTo>
                    <a:pt x="998" y="3355"/>
                    <a:pt x="510" y="3292"/>
                    <a:pt x="255" y="2924"/>
                  </a:cubicBezTo>
                  <a:cubicBezTo>
                    <a:pt x="0" y="2556"/>
                    <a:pt x="31" y="1916"/>
                    <a:pt x="195" y="1506"/>
                  </a:cubicBezTo>
                  <a:cubicBezTo>
                    <a:pt x="359" y="1096"/>
                    <a:pt x="547" y="726"/>
                    <a:pt x="1147" y="351"/>
                  </a:cubicBezTo>
                  <a:cubicBezTo>
                    <a:pt x="1613" y="118"/>
                    <a:pt x="2477" y="54"/>
                    <a:pt x="2832" y="27"/>
                  </a:cubicBezTo>
                  <a:cubicBezTo>
                    <a:pt x="3187" y="0"/>
                    <a:pt x="3127" y="16"/>
                    <a:pt x="3204" y="13"/>
                  </a:cubicBezTo>
                </a:path>
              </a:pathLst>
            </a:custGeom>
            <a:noFill/>
            <a:ln w="9525" cap="flat" cmpd="sng">
              <a:solidFill>
                <a:srgbClr val="000000"/>
              </a:solidFill>
              <a:prstDash val="dash"/>
              <a:headEnd type="none" w="med" len="med"/>
              <a:tailEnd type="triangle" w="med" len="med"/>
            </a:ln>
          </p:spPr>
          <p:txBody>
            <a:bodyPr/>
            <a:lstStyle/>
            <a:p>
              <a:endParaRPr lang="zh-CN" altLang="en-US" dirty="0">
                <a:latin typeface="Times New Roman" panose="02020603050405020304" pitchFamily="18" charset="0"/>
              </a:endParaRPr>
            </a:p>
          </p:txBody>
        </p:sp>
      </p:grpSp>
    </p:spTree>
  </p:cSld>
  <p:clrMapOvr>
    <a:masterClrMapping/>
  </p:clrMapOvr>
  <p:transition>
    <p:pull dir="rd"/>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11520000" cy="535531"/>
          </a:xfrm>
        </p:spPr>
        <p:txBody>
          <a:bodyPr/>
          <a:lstStyle/>
          <a:p>
            <a:r>
              <a:rPr lang="en-US" dirty="0"/>
              <a:t>4.5 </a:t>
            </a:r>
            <a:r>
              <a:rPr lang="zh-CN" altLang="en-US" dirty="0"/>
              <a:t>设计软件测试方案</a:t>
            </a:r>
          </a:p>
        </p:txBody>
      </p:sp>
      <p:grpSp>
        <p:nvGrpSpPr>
          <p:cNvPr id="2" name="组合 1"/>
          <p:cNvGrpSpPr/>
          <p:nvPr/>
        </p:nvGrpSpPr>
        <p:grpSpPr>
          <a:xfrm>
            <a:off x="737235" y="1403985"/>
            <a:ext cx="9955530" cy="4890135"/>
            <a:chOff x="1275" y="2210"/>
            <a:chExt cx="15678" cy="7701"/>
          </a:xfrm>
        </p:grpSpPr>
        <p:sp>
          <p:nvSpPr>
            <p:cNvPr id="19" name="TextBox 6"/>
            <p:cNvSpPr txBox="1"/>
            <p:nvPr/>
          </p:nvSpPr>
          <p:spPr>
            <a:xfrm>
              <a:off x="1275" y="2210"/>
              <a:ext cx="13695" cy="892"/>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案例</a:t>
              </a:r>
            </a:p>
          </p:txBody>
        </p:sp>
        <p:grpSp>
          <p:nvGrpSpPr>
            <p:cNvPr id="5" name="组合 4"/>
            <p:cNvGrpSpPr/>
            <p:nvPr/>
          </p:nvGrpSpPr>
          <p:grpSpPr>
            <a:xfrm>
              <a:off x="1499" y="3150"/>
              <a:ext cx="15454" cy="6761"/>
              <a:chOff x="1499" y="3150"/>
              <a:chExt cx="15454" cy="6761"/>
            </a:xfrm>
          </p:grpSpPr>
          <p:sp>
            <p:nvSpPr>
              <p:cNvPr id="22" name="TextBox 21"/>
              <p:cNvSpPr txBox="1"/>
              <p:nvPr/>
            </p:nvSpPr>
            <p:spPr>
              <a:xfrm>
                <a:off x="3431" y="3419"/>
                <a:ext cx="13522" cy="624"/>
              </a:xfrm>
              <a:prstGeom prst="rect">
                <a:avLst/>
              </a:prstGeom>
              <a:noFill/>
            </p:spPr>
            <p:txBody>
              <a:bodyPr wrap="square">
                <a:spAutoFit/>
              </a:bodyPr>
              <a:lstStyle/>
              <a:p>
                <a:r>
                  <a:rPr sz="2000" dirty="0">
                    <a:latin typeface="Times New Roman" panose="02020603050405020304" pitchFamily="18" charset="0"/>
                    <a:sym typeface="+mn-ea"/>
                  </a:rPr>
                  <a:t>用基本路径覆盖法设计测试用例。</a:t>
                </a:r>
              </a:p>
            </p:txBody>
          </p:sp>
          <p:sp>
            <p:nvSpPr>
              <p:cNvPr id="24" name="矩形 23"/>
              <p:cNvSpPr>
                <a:spLocks noChangeAspect="1"/>
              </p:cNvSpPr>
              <p:nvPr/>
            </p:nvSpPr>
            <p:spPr>
              <a:xfrm>
                <a:off x="1499" y="4275"/>
                <a:ext cx="8213" cy="5636"/>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3"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altLang="en-US" sz="2400" dirty="0">
                      <a:solidFill>
                        <a:schemeClr val="bg1"/>
                      </a:solidFill>
                      <a:latin typeface="Times New Roman" panose="02020603050405020304" pitchFamily="18" charset="0"/>
                      <a:sym typeface="+mn-ea"/>
                    </a:rPr>
                    <a:t>例 </a:t>
                  </a:r>
                  <a:r>
                    <a:rPr lang="en-US" altLang="zh-CN" sz="2400" dirty="0">
                      <a:solidFill>
                        <a:schemeClr val="bg1"/>
                      </a:solidFill>
                      <a:latin typeface="Times New Roman" panose="02020603050405020304" pitchFamily="18" charset="0"/>
                      <a:sym typeface="+mn-ea"/>
                    </a:rPr>
                    <a:t>4-4</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4" name="TextBox 33"/>
              <p:cNvSpPr txBox="1"/>
              <p:nvPr/>
            </p:nvSpPr>
            <p:spPr>
              <a:xfrm>
                <a:off x="1632" y="4426"/>
                <a:ext cx="7864" cy="5249"/>
              </a:xfrm>
              <a:prstGeom prst="rect">
                <a:avLst/>
              </a:prstGeom>
              <a:solidFill>
                <a:schemeClr val="bg1">
                  <a:lumMod val="95000"/>
                </a:schemeClr>
              </a:solidFill>
            </p:spPr>
            <p:txBody>
              <a:bodyPr wrap="square">
                <a:spAutoFit/>
              </a:bodyPr>
              <a:lstStyle/>
              <a:p>
                <a:pPr fontAlgn="auto">
                  <a:lnSpc>
                    <a:spcPct val="130000"/>
                  </a:lnSpc>
                  <a:buFont typeface="Wingdings" panose="05000000000000000000" pitchFamily="2" charset="2"/>
                  <a:buChar char="Ø"/>
                </a:pPr>
                <a:r>
                  <a:rPr lang="en-US" altLang="en-US" dirty="0">
                    <a:latin typeface="Times New Roman" panose="02020603050405020304" charset="0"/>
                    <a:ea typeface="微软雅黑 Light" panose="020B0502040204020203" pitchFamily="34" charset="-122"/>
                  </a:rPr>
                  <a:t>路径4的测试用例</a:t>
                </a:r>
              </a:p>
              <a:p>
                <a:pPr fontAlgn="auto">
                  <a:lnSpc>
                    <a:spcPct val="130000"/>
                  </a:lnSpc>
                </a:pPr>
                <a:r>
                  <a:rPr lang="en-US" altLang="en-US" dirty="0">
                    <a:latin typeface="Times New Roman" panose="02020603050405020304" charset="0"/>
                    <a:ea typeface="微软雅黑 Light" panose="020B0502040204020203" pitchFamily="34" charset="-122"/>
                  </a:rPr>
                  <a:t>        试图处理101个或者更多个值，前100个数值应该是有效输入值。</a:t>
                </a:r>
              </a:p>
              <a:p>
                <a:pPr fontAlgn="auto">
                  <a:lnSpc>
                    <a:spcPct val="130000"/>
                  </a:lnSpc>
                </a:pPr>
                <a:r>
                  <a:rPr lang="zh-CN" altLang="en-US" dirty="0">
                    <a:latin typeface="Times New Roman" panose="02020603050405020304" charset="0"/>
                    <a:ea typeface="微软雅黑 Light" panose="020B0502040204020203" pitchFamily="34" charset="-122"/>
                  </a:rPr>
                  <a:t>         预期测试结果：</a:t>
                </a:r>
                <a:r>
                  <a:rPr lang="en-US" altLang="zh-CN" dirty="0">
                    <a:latin typeface="Times New Roman" panose="02020603050405020304" charset="0"/>
                    <a:ea typeface="微软雅黑 Light" panose="020B0502040204020203" pitchFamily="34" charset="-122"/>
                  </a:rPr>
                  <a:t>average=-999</a:t>
                </a:r>
                <a:r>
                  <a:rPr lang="zh-CN" altLang="en-US" dirty="0">
                    <a:latin typeface="Times New Roman" panose="02020603050405020304" charset="0"/>
                    <a:ea typeface="微软雅黑 Light" panose="020B0502040204020203" pitchFamily="34" charset="-122"/>
                  </a:rPr>
                  <a:t>。</a:t>
                </a:r>
              </a:p>
              <a:p>
                <a:pPr fontAlgn="auto">
                  <a:lnSpc>
                    <a:spcPct val="130000"/>
                  </a:lnSpc>
                  <a:buFont typeface="Wingdings" panose="05000000000000000000" pitchFamily="2" charset="2"/>
                  <a:buChar char="Ø"/>
                </a:pPr>
                <a:r>
                  <a:rPr lang="en-US" altLang="en-US" dirty="0">
                    <a:latin typeface="Times New Roman" panose="02020603050405020304" charset="0"/>
                    <a:ea typeface="微软雅黑 Light" panose="020B0502040204020203" pitchFamily="34" charset="-122"/>
                  </a:rPr>
                  <a:t>路径5的测试用例</a:t>
                </a:r>
              </a:p>
              <a:p>
                <a:pPr fontAlgn="auto">
                  <a:lnSpc>
                    <a:spcPct val="130000"/>
                  </a:lnSpc>
                </a:pPr>
                <a:r>
                  <a:rPr lang="en-US" altLang="en-US" dirty="0">
                    <a:latin typeface="Times New Roman" panose="02020603050405020304" charset="0"/>
                    <a:ea typeface="微软雅黑 Light" panose="020B0502040204020203" pitchFamily="34" charset="-122"/>
                  </a:rPr>
                  <a:t>         value[</a:t>
                </a:r>
                <a:r>
                  <a:rPr lang="en-US" altLang="en-US" dirty="0" err="1">
                    <a:latin typeface="Times New Roman" panose="02020603050405020304" charset="0"/>
                    <a:ea typeface="微软雅黑 Light" panose="020B0502040204020203" pitchFamily="34" charset="-122"/>
                  </a:rPr>
                  <a:t>i</a:t>
                </a:r>
                <a:r>
                  <a:rPr lang="en-US" altLang="en-US" dirty="0">
                    <a:latin typeface="Times New Roman" panose="02020603050405020304" charset="0"/>
                    <a:ea typeface="微软雅黑 Light" panose="020B0502040204020203" pitchFamily="34" charset="-122"/>
                  </a:rPr>
                  <a:t>]=有效输入值，其中i&lt;100。</a:t>
                </a:r>
              </a:p>
              <a:p>
                <a:pPr fontAlgn="auto">
                  <a:lnSpc>
                    <a:spcPct val="130000"/>
                  </a:lnSpc>
                </a:pPr>
                <a:r>
                  <a:rPr lang="en-US" altLang="en-US" dirty="0">
                    <a:latin typeface="Times New Roman" panose="02020603050405020304" charset="0"/>
                    <a:ea typeface="微软雅黑 Light" panose="020B0502040204020203" pitchFamily="34" charset="-122"/>
                  </a:rPr>
                  <a:t>         value[k]&lt;minimum，其中k&lt;i。</a:t>
                </a:r>
              </a:p>
              <a:p>
                <a:pPr fontAlgn="auto">
                  <a:lnSpc>
                    <a:spcPct val="130000"/>
                  </a:lnSpc>
                </a:pPr>
                <a:r>
                  <a:rPr lang="zh-CN" altLang="en-US" dirty="0">
                    <a:latin typeface="Times New Roman" panose="02020603050405020304" charset="0"/>
                    <a:ea typeface="微软雅黑 Light" panose="020B0502040204020203" pitchFamily="34" charset="-122"/>
                  </a:rPr>
                  <a:t>         预期的测试结果：基于</a:t>
                </a:r>
                <a:r>
                  <a:rPr lang="en-US" altLang="zh-CN" dirty="0">
                    <a:latin typeface="Times New Roman" panose="02020603050405020304" charset="0"/>
                    <a:ea typeface="微软雅黑 Light" panose="020B0502040204020203" pitchFamily="34" charset="-122"/>
                  </a:rPr>
                  <a:t>k</a:t>
                </a:r>
                <a:r>
                  <a:rPr lang="zh-CN" altLang="en-US" dirty="0">
                    <a:latin typeface="Times New Roman" panose="02020603050405020304" charset="0"/>
                    <a:ea typeface="微软雅黑 Light" panose="020B0502040204020203" pitchFamily="34" charset="-122"/>
                  </a:rPr>
                  <a:t>的输入数据的正确平均值、总和及个数。</a:t>
                </a:r>
              </a:p>
            </p:txBody>
          </p:sp>
        </p:grpSp>
      </p:grpSp>
      <p:sp>
        <p:nvSpPr>
          <p:cNvPr id="7" name="矩形 6"/>
          <p:cNvSpPr>
            <a:spLocks noChangeAspect="1"/>
          </p:cNvSpPr>
          <p:nvPr/>
        </p:nvSpPr>
        <p:spPr>
          <a:xfrm>
            <a:off x="6316345" y="1238250"/>
            <a:ext cx="4940300" cy="5055870"/>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sp>
        <p:nvSpPr>
          <p:cNvPr id="8" name="TextBox 33"/>
          <p:cNvSpPr txBox="1"/>
          <p:nvPr/>
        </p:nvSpPr>
        <p:spPr>
          <a:xfrm>
            <a:off x="6462395" y="1372235"/>
            <a:ext cx="4627880" cy="4844415"/>
          </a:xfrm>
          <a:prstGeom prst="rect">
            <a:avLst/>
          </a:prstGeom>
          <a:solidFill>
            <a:schemeClr val="bg1">
              <a:lumMod val="95000"/>
            </a:schemeClr>
          </a:solidFill>
        </p:spPr>
        <p:txBody>
          <a:bodyPr wrap="square">
            <a:spAutoFit/>
          </a:bodyPr>
          <a:lstStyle/>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p:txBody>
      </p:sp>
      <p:grpSp>
        <p:nvGrpSpPr>
          <p:cNvPr id="1073752572" name="组合 1073752571"/>
          <p:cNvGrpSpPr>
            <a:grpSpLocks noRot="1"/>
          </p:cNvGrpSpPr>
          <p:nvPr/>
        </p:nvGrpSpPr>
        <p:grpSpPr>
          <a:xfrm>
            <a:off x="6686550" y="2171700"/>
            <a:ext cx="4200525" cy="3578225"/>
            <a:chOff x="4223" y="7325"/>
            <a:chExt cx="5259" cy="5691"/>
          </a:xfrm>
        </p:grpSpPr>
        <p:sp>
          <p:nvSpPr>
            <p:cNvPr id="1073752573" name="直接连接符 1073752572"/>
            <p:cNvSpPr/>
            <p:nvPr/>
          </p:nvSpPr>
          <p:spPr>
            <a:xfrm>
              <a:off x="7631" y="7728"/>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74" name="椭圆 1073752573"/>
            <p:cNvSpPr/>
            <p:nvPr/>
          </p:nvSpPr>
          <p:spPr>
            <a:xfrm>
              <a:off x="7427" y="7325"/>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a:t>
              </a:r>
            </a:p>
            <a:p>
              <a:endParaRPr lang="zh-CN" altLang="en-US" dirty="0">
                <a:latin typeface="Times New Roman" panose="02020603050405020304" pitchFamily="18" charset="0"/>
              </a:endParaRPr>
            </a:p>
          </p:txBody>
        </p:sp>
        <p:sp>
          <p:nvSpPr>
            <p:cNvPr id="1073752575" name="椭圆 1073752574"/>
            <p:cNvSpPr/>
            <p:nvPr/>
          </p:nvSpPr>
          <p:spPr>
            <a:xfrm>
              <a:off x="7427" y="8111"/>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2</a:t>
              </a:r>
            </a:p>
            <a:p>
              <a:endParaRPr lang="zh-CN" altLang="en-US" dirty="0">
                <a:latin typeface="Times New Roman" panose="02020603050405020304" pitchFamily="18" charset="0"/>
              </a:endParaRPr>
            </a:p>
          </p:txBody>
        </p:sp>
        <p:sp>
          <p:nvSpPr>
            <p:cNvPr id="1073752576" name="椭圆 1073752575"/>
            <p:cNvSpPr/>
            <p:nvPr/>
          </p:nvSpPr>
          <p:spPr>
            <a:xfrm>
              <a:off x="7424" y="8885"/>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3</a:t>
              </a:r>
            </a:p>
            <a:p>
              <a:endParaRPr lang="zh-CN" altLang="en-US" dirty="0">
                <a:latin typeface="Times New Roman" panose="02020603050405020304" pitchFamily="18" charset="0"/>
              </a:endParaRPr>
            </a:p>
          </p:txBody>
        </p:sp>
        <p:sp>
          <p:nvSpPr>
            <p:cNvPr id="1073752577" name="椭圆 1073752576"/>
            <p:cNvSpPr/>
            <p:nvPr/>
          </p:nvSpPr>
          <p:spPr>
            <a:xfrm>
              <a:off x="7427" y="9667"/>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4</a:t>
              </a:r>
            </a:p>
            <a:p>
              <a:endParaRPr lang="zh-CN" altLang="en-US" dirty="0">
                <a:latin typeface="Times New Roman" panose="02020603050405020304" pitchFamily="18" charset="0"/>
              </a:endParaRPr>
            </a:p>
          </p:txBody>
        </p:sp>
        <p:sp>
          <p:nvSpPr>
            <p:cNvPr id="1073752578" name="椭圆 1073752577"/>
            <p:cNvSpPr/>
            <p:nvPr/>
          </p:nvSpPr>
          <p:spPr>
            <a:xfrm>
              <a:off x="7427" y="10453"/>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5</a:t>
              </a:r>
            </a:p>
            <a:p>
              <a:endParaRPr lang="zh-CN" altLang="en-US" dirty="0">
                <a:latin typeface="Times New Roman" panose="02020603050405020304" pitchFamily="18" charset="0"/>
              </a:endParaRPr>
            </a:p>
          </p:txBody>
        </p:sp>
        <p:sp>
          <p:nvSpPr>
            <p:cNvPr id="1073752579" name="椭圆 1073752578"/>
            <p:cNvSpPr/>
            <p:nvPr/>
          </p:nvSpPr>
          <p:spPr>
            <a:xfrm>
              <a:off x="7421" y="11233"/>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6</a:t>
              </a:r>
            </a:p>
            <a:p>
              <a:endParaRPr lang="zh-CN" altLang="en-US" dirty="0">
                <a:latin typeface="Times New Roman" panose="02020603050405020304" pitchFamily="18" charset="0"/>
              </a:endParaRPr>
            </a:p>
          </p:txBody>
        </p:sp>
        <p:sp>
          <p:nvSpPr>
            <p:cNvPr id="1073752580" name="椭圆 1073752579"/>
            <p:cNvSpPr/>
            <p:nvPr/>
          </p:nvSpPr>
          <p:spPr>
            <a:xfrm>
              <a:off x="7991" y="11923"/>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7</a:t>
              </a:r>
            </a:p>
            <a:p>
              <a:endParaRPr lang="zh-CN" altLang="en-US" dirty="0">
                <a:latin typeface="Times New Roman" panose="02020603050405020304" pitchFamily="18" charset="0"/>
              </a:endParaRPr>
            </a:p>
          </p:txBody>
        </p:sp>
        <p:sp>
          <p:nvSpPr>
            <p:cNvPr id="1073752581" name="椭圆 1073752580"/>
            <p:cNvSpPr/>
            <p:nvPr/>
          </p:nvSpPr>
          <p:spPr>
            <a:xfrm>
              <a:off x="6854" y="11926"/>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8</a:t>
              </a:r>
            </a:p>
            <a:p>
              <a:endParaRPr lang="zh-CN" altLang="en-US" dirty="0">
                <a:latin typeface="Times New Roman" panose="02020603050405020304" pitchFamily="18" charset="0"/>
              </a:endParaRPr>
            </a:p>
          </p:txBody>
        </p:sp>
        <p:sp>
          <p:nvSpPr>
            <p:cNvPr id="1073752582" name="椭圆 1073752581"/>
            <p:cNvSpPr/>
            <p:nvPr/>
          </p:nvSpPr>
          <p:spPr>
            <a:xfrm>
              <a:off x="7424" y="12616"/>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9</a:t>
              </a:r>
            </a:p>
            <a:p>
              <a:endParaRPr lang="zh-CN" altLang="en-US" dirty="0">
                <a:latin typeface="Times New Roman" panose="02020603050405020304" pitchFamily="18" charset="0"/>
              </a:endParaRPr>
            </a:p>
          </p:txBody>
        </p:sp>
        <p:sp>
          <p:nvSpPr>
            <p:cNvPr id="1073752583" name="椭圆 1073752582"/>
            <p:cNvSpPr/>
            <p:nvPr/>
          </p:nvSpPr>
          <p:spPr>
            <a:xfrm>
              <a:off x="5147" y="9286"/>
              <a:ext cx="622" cy="468"/>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10</a:t>
              </a:r>
            </a:p>
            <a:p>
              <a:endParaRPr lang="zh-CN" altLang="en-US" dirty="0">
                <a:latin typeface="Times New Roman" panose="02020603050405020304" pitchFamily="18" charset="0"/>
              </a:endParaRPr>
            </a:p>
          </p:txBody>
        </p:sp>
        <p:sp>
          <p:nvSpPr>
            <p:cNvPr id="1073752584" name="椭圆 1073752583"/>
            <p:cNvSpPr/>
            <p:nvPr/>
          </p:nvSpPr>
          <p:spPr>
            <a:xfrm>
              <a:off x="5933" y="10047"/>
              <a:ext cx="630" cy="394"/>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11</a:t>
              </a:r>
            </a:p>
            <a:p>
              <a:endParaRPr lang="zh-CN" altLang="en-US" dirty="0">
                <a:latin typeface="Times New Roman" panose="02020603050405020304" pitchFamily="18" charset="0"/>
              </a:endParaRPr>
            </a:p>
          </p:txBody>
        </p:sp>
        <p:sp>
          <p:nvSpPr>
            <p:cNvPr id="1073752585" name="椭圆 1073752584"/>
            <p:cNvSpPr/>
            <p:nvPr/>
          </p:nvSpPr>
          <p:spPr>
            <a:xfrm>
              <a:off x="4590" y="10047"/>
              <a:ext cx="611"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12</a:t>
              </a:r>
            </a:p>
            <a:p>
              <a:endParaRPr lang="zh-CN" altLang="en-US" dirty="0">
                <a:latin typeface="Times New Roman" panose="02020603050405020304" pitchFamily="18" charset="0"/>
              </a:endParaRPr>
            </a:p>
          </p:txBody>
        </p:sp>
        <p:sp>
          <p:nvSpPr>
            <p:cNvPr id="1073752586" name="椭圆 1073752585"/>
            <p:cNvSpPr/>
            <p:nvPr/>
          </p:nvSpPr>
          <p:spPr>
            <a:xfrm>
              <a:off x="5201" y="10737"/>
              <a:ext cx="732" cy="497"/>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13</a:t>
              </a:r>
            </a:p>
            <a:p>
              <a:endParaRPr lang="zh-CN" altLang="en-US" dirty="0">
                <a:latin typeface="Times New Roman" panose="02020603050405020304" pitchFamily="18" charset="0"/>
              </a:endParaRPr>
            </a:p>
          </p:txBody>
        </p:sp>
        <p:sp>
          <p:nvSpPr>
            <p:cNvPr id="1073752587" name="直接连接符 1073752586"/>
            <p:cNvSpPr/>
            <p:nvPr/>
          </p:nvSpPr>
          <p:spPr>
            <a:xfrm>
              <a:off x="7631" y="8511"/>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88" name="直接连接符 1073752587"/>
            <p:cNvSpPr/>
            <p:nvPr/>
          </p:nvSpPr>
          <p:spPr>
            <a:xfrm>
              <a:off x="7631" y="9285"/>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89" name="直接连接符 1073752588"/>
            <p:cNvSpPr/>
            <p:nvPr/>
          </p:nvSpPr>
          <p:spPr>
            <a:xfrm>
              <a:off x="7628" y="10068"/>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0" name="直接连接符 1073752589"/>
            <p:cNvSpPr/>
            <p:nvPr/>
          </p:nvSpPr>
          <p:spPr>
            <a:xfrm>
              <a:off x="7631" y="10852"/>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1" name="直接连接符 1073752590"/>
            <p:cNvSpPr/>
            <p:nvPr/>
          </p:nvSpPr>
          <p:spPr>
            <a:xfrm flipH="1">
              <a:off x="7061" y="10821"/>
              <a:ext cx="453" cy="1102"/>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2" name="直接连接符 1073752591"/>
            <p:cNvSpPr/>
            <p:nvPr/>
          </p:nvSpPr>
          <p:spPr>
            <a:xfrm flipH="1">
              <a:off x="7217" y="11608"/>
              <a:ext cx="297"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3" name="直接连接符 1073752592"/>
            <p:cNvSpPr/>
            <p:nvPr/>
          </p:nvSpPr>
          <p:spPr>
            <a:xfrm>
              <a:off x="7724" y="11608"/>
              <a:ext cx="315"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4" name="直接连接符 1073752593"/>
            <p:cNvSpPr/>
            <p:nvPr/>
          </p:nvSpPr>
          <p:spPr>
            <a:xfrm flipH="1">
              <a:off x="7259" y="12123"/>
              <a:ext cx="726" cy="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5" name="直接连接符 1073752594"/>
            <p:cNvSpPr/>
            <p:nvPr/>
          </p:nvSpPr>
          <p:spPr>
            <a:xfrm>
              <a:off x="7181" y="12279"/>
              <a:ext cx="315"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6" name="直接连接符 1073752595"/>
            <p:cNvSpPr/>
            <p:nvPr/>
          </p:nvSpPr>
          <p:spPr>
            <a:xfrm flipH="1">
              <a:off x="5726" y="8388"/>
              <a:ext cx="1707" cy="1029"/>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7" name="直接连接符 1073752596"/>
            <p:cNvSpPr/>
            <p:nvPr/>
          </p:nvSpPr>
          <p:spPr>
            <a:xfrm flipH="1">
              <a:off x="5768" y="9117"/>
              <a:ext cx="1656" cy="39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8" name="直接连接符 1073752597"/>
            <p:cNvSpPr/>
            <p:nvPr/>
          </p:nvSpPr>
          <p:spPr>
            <a:xfrm flipH="1">
              <a:off x="5147" y="9711"/>
              <a:ext cx="288" cy="39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9" name="直接连接符 1073752598"/>
            <p:cNvSpPr/>
            <p:nvPr/>
          </p:nvSpPr>
          <p:spPr>
            <a:xfrm>
              <a:off x="5678" y="9735"/>
              <a:ext cx="327" cy="351"/>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600" name="直接连接符 1073752599"/>
            <p:cNvSpPr/>
            <p:nvPr/>
          </p:nvSpPr>
          <p:spPr>
            <a:xfrm>
              <a:off x="5126" y="10410"/>
              <a:ext cx="327" cy="351"/>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601" name="直接连接符 1073752600"/>
            <p:cNvSpPr/>
            <p:nvPr/>
          </p:nvSpPr>
          <p:spPr>
            <a:xfrm flipH="1">
              <a:off x="5660" y="10371"/>
              <a:ext cx="324" cy="39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602" name="任意多边形 1073752601"/>
            <p:cNvSpPr/>
            <p:nvPr/>
          </p:nvSpPr>
          <p:spPr>
            <a:xfrm>
              <a:off x="7829" y="8358"/>
              <a:ext cx="1653" cy="4457"/>
            </a:xfrm>
            <a:custGeom>
              <a:avLst/>
              <a:gdLst/>
              <a:ahLst/>
              <a:cxnLst/>
              <a:rect l="0" t="0" r="0" b="0"/>
              <a:pathLst>
                <a:path w="1653" h="4457">
                  <a:moveTo>
                    <a:pt x="0" y="4457"/>
                  </a:moveTo>
                  <a:cubicBezTo>
                    <a:pt x="168" y="4406"/>
                    <a:pt x="722" y="4363"/>
                    <a:pt x="1011" y="4149"/>
                  </a:cubicBezTo>
                  <a:cubicBezTo>
                    <a:pt x="1300" y="3935"/>
                    <a:pt x="1429" y="3780"/>
                    <a:pt x="1541" y="3367"/>
                  </a:cubicBezTo>
                  <a:cubicBezTo>
                    <a:pt x="1653" y="2954"/>
                    <a:pt x="1575" y="2609"/>
                    <a:pt x="1530" y="2292"/>
                  </a:cubicBezTo>
                  <a:cubicBezTo>
                    <a:pt x="1485" y="1975"/>
                    <a:pt x="1377" y="1710"/>
                    <a:pt x="1268" y="1462"/>
                  </a:cubicBezTo>
                  <a:cubicBezTo>
                    <a:pt x="1159" y="1214"/>
                    <a:pt x="1016" y="991"/>
                    <a:pt x="877" y="803"/>
                  </a:cubicBezTo>
                  <a:cubicBezTo>
                    <a:pt x="738" y="615"/>
                    <a:pt x="577" y="466"/>
                    <a:pt x="433" y="332"/>
                  </a:cubicBezTo>
                  <a:cubicBezTo>
                    <a:pt x="289" y="198"/>
                    <a:pt x="98" y="69"/>
                    <a:pt x="10" y="0"/>
                  </a:cubicBezTo>
                </a:path>
              </a:pathLst>
            </a:custGeom>
            <a:noFill/>
            <a:ln w="9525" cap="flat" cmpd="sng">
              <a:solidFill>
                <a:srgbClr val="000000"/>
              </a:solidFill>
              <a:prstDash val="solid"/>
              <a:headEnd type="none" w="med" len="med"/>
              <a:tailEnd type="triangle" w="med" len="med"/>
            </a:ln>
          </p:spPr>
          <p:txBody>
            <a:bodyPr/>
            <a:lstStyle/>
            <a:p>
              <a:endParaRPr lang="zh-CN" altLang="en-US" dirty="0">
                <a:latin typeface="Times New Roman" panose="02020603050405020304" pitchFamily="18" charset="0"/>
              </a:endParaRPr>
            </a:p>
          </p:txBody>
        </p:sp>
        <p:sp>
          <p:nvSpPr>
            <p:cNvPr id="1073752603" name="任意多边形 1073752602"/>
            <p:cNvSpPr/>
            <p:nvPr/>
          </p:nvSpPr>
          <p:spPr>
            <a:xfrm>
              <a:off x="4223" y="7467"/>
              <a:ext cx="3204" cy="3441"/>
            </a:xfrm>
            <a:custGeom>
              <a:avLst/>
              <a:gdLst/>
              <a:ahLst/>
              <a:cxnLst/>
              <a:rect l="0" t="0" r="0" b="0"/>
              <a:pathLst>
                <a:path w="3204" h="3441">
                  <a:moveTo>
                    <a:pt x="1147" y="3441"/>
                  </a:moveTo>
                  <a:cubicBezTo>
                    <a:pt x="998" y="3355"/>
                    <a:pt x="510" y="3292"/>
                    <a:pt x="255" y="2924"/>
                  </a:cubicBezTo>
                  <a:cubicBezTo>
                    <a:pt x="0" y="2556"/>
                    <a:pt x="31" y="1916"/>
                    <a:pt x="195" y="1506"/>
                  </a:cubicBezTo>
                  <a:cubicBezTo>
                    <a:pt x="359" y="1096"/>
                    <a:pt x="547" y="726"/>
                    <a:pt x="1147" y="351"/>
                  </a:cubicBezTo>
                  <a:cubicBezTo>
                    <a:pt x="1613" y="118"/>
                    <a:pt x="2477" y="54"/>
                    <a:pt x="2832" y="27"/>
                  </a:cubicBezTo>
                  <a:cubicBezTo>
                    <a:pt x="3187" y="0"/>
                    <a:pt x="3127" y="16"/>
                    <a:pt x="3204" y="13"/>
                  </a:cubicBezTo>
                </a:path>
              </a:pathLst>
            </a:custGeom>
            <a:noFill/>
            <a:ln w="9525" cap="flat" cmpd="sng">
              <a:solidFill>
                <a:srgbClr val="000000"/>
              </a:solidFill>
              <a:prstDash val="dash"/>
              <a:headEnd type="none" w="med" len="med"/>
              <a:tailEnd type="triangle" w="med" len="med"/>
            </a:ln>
          </p:spPr>
          <p:txBody>
            <a:bodyPr/>
            <a:lstStyle/>
            <a:p>
              <a:endParaRPr lang="zh-CN" altLang="en-US" dirty="0">
                <a:latin typeface="Times New Roman" panose="02020603050405020304" pitchFamily="18" charset="0"/>
              </a:endParaRPr>
            </a:p>
          </p:txBody>
        </p:sp>
      </p:grpSp>
    </p:spTree>
  </p:cSld>
  <p:clrMapOvr>
    <a:masterClrMapping/>
  </p:clrMapOvr>
  <p:transition>
    <p:pull dir="rd"/>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11520000" cy="535531"/>
          </a:xfrm>
        </p:spPr>
        <p:txBody>
          <a:bodyPr/>
          <a:lstStyle/>
          <a:p>
            <a:r>
              <a:rPr lang="en-US" dirty="0"/>
              <a:t>4.5 </a:t>
            </a:r>
            <a:r>
              <a:rPr lang="zh-CN" altLang="en-US" dirty="0"/>
              <a:t>设计软件测试方案</a:t>
            </a:r>
          </a:p>
        </p:txBody>
      </p:sp>
      <p:grpSp>
        <p:nvGrpSpPr>
          <p:cNvPr id="2" name="组合 1"/>
          <p:cNvGrpSpPr/>
          <p:nvPr/>
        </p:nvGrpSpPr>
        <p:grpSpPr>
          <a:xfrm>
            <a:off x="737235" y="1403985"/>
            <a:ext cx="9955530" cy="4890135"/>
            <a:chOff x="1275" y="2210"/>
            <a:chExt cx="15678" cy="7701"/>
          </a:xfrm>
        </p:grpSpPr>
        <p:sp>
          <p:nvSpPr>
            <p:cNvPr id="19" name="TextBox 6"/>
            <p:cNvSpPr txBox="1"/>
            <p:nvPr/>
          </p:nvSpPr>
          <p:spPr>
            <a:xfrm>
              <a:off x="1275" y="2210"/>
              <a:ext cx="13695" cy="892"/>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案例</a:t>
              </a:r>
            </a:p>
          </p:txBody>
        </p:sp>
        <p:grpSp>
          <p:nvGrpSpPr>
            <p:cNvPr id="4" name="组合 4"/>
            <p:cNvGrpSpPr/>
            <p:nvPr/>
          </p:nvGrpSpPr>
          <p:grpSpPr>
            <a:xfrm>
              <a:off x="1499" y="3150"/>
              <a:ext cx="15454" cy="6761"/>
              <a:chOff x="1499" y="3150"/>
              <a:chExt cx="15454" cy="6761"/>
            </a:xfrm>
          </p:grpSpPr>
          <p:sp>
            <p:nvSpPr>
              <p:cNvPr id="22" name="TextBox 21"/>
              <p:cNvSpPr txBox="1"/>
              <p:nvPr/>
            </p:nvSpPr>
            <p:spPr>
              <a:xfrm>
                <a:off x="3431" y="3419"/>
                <a:ext cx="13522" cy="624"/>
              </a:xfrm>
              <a:prstGeom prst="rect">
                <a:avLst/>
              </a:prstGeom>
              <a:noFill/>
            </p:spPr>
            <p:txBody>
              <a:bodyPr wrap="square">
                <a:spAutoFit/>
              </a:bodyPr>
              <a:lstStyle/>
              <a:p>
                <a:r>
                  <a:rPr sz="2000" dirty="0">
                    <a:latin typeface="Times New Roman" panose="02020603050405020304" pitchFamily="18" charset="0"/>
                    <a:sym typeface="+mn-ea"/>
                  </a:rPr>
                  <a:t>用基本路径覆盖法设计测试用例。</a:t>
                </a:r>
              </a:p>
            </p:txBody>
          </p:sp>
          <p:sp>
            <p:nvSpPr>
              <p:cNvPr id="24" name="矩形 23"/>
              <p:cNvSpPr>
                <a:spLocks noChangeAspect="1"/>
              </p:cNvSpPr>
              <p:nvPr/>
            </p:nvSpPr>
            <p:spPr>
              <a:xfrm>
                <a:off x="1499" y="4275"/>
                <a:ext cx="8213" cy="5636"/>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3"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altLang="en-US" sz="2400" dirty="0">
                      <a:solidFill>
                        <a:schemeClr val="bg1"/>
                      </a:solidFill>
                      <a:latin typeface="Times New Roman" panose="02020603050405020304" pitchFamily="18" charset="0"/>
                      <a:sym typeface="+mn-ea"/>
                    </a:rPr>
                    <a:t>例 </a:t>
                  </a:r>
                  <a:r>
                    <a:rPr lang="en-US" altLang="zh-CN" sz="2400" dirty="0">
                      <a:solidFill>
                        <a:schemeClr val="bg1"/>
                      </a:solidFill>
                      <a:latin typeface="Times New Roman" panose="02020603050405020304" pitchFamily="18" charset="0"/>
                      <a:sym typeface="+mn-ea"/>
                    </a:rPr>
                    <a:t>4-4</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4" name="TextBox 33"/>
              <p:cNvSpPr txBox="1"/>
              <p:nvPr/>
            </p:nvSpPr>
            <p:spPr>
              <a:xfrm>
                <a:off x="1632" y="4426"/>
                <a:ext cx="7864" cy="5249"/>
              </a:xfrm>
              <a:prstGeom prst="rect">
                <a:avLst/>
              </a:prstGeom>
              <a:solidFill>
                <a:schemeClr val="bg1">
                  <a:lumMod val="95000"/>
                </a:schemeClr>
              </a:solidFill>
            </p:spPr>
            <p:txBody>
              <a:bodyPr wrap="square">
                <a:spAutoFit/>
              </a:bodyPr>
              <a:lstStyle/>
              <a:p>
                <a:pPr fontAlgn="auto">
                  <a:lnSpc>
                    <a:spcPct val="130000"/>
                  </a:lnSpc>
                  <a:buFont typeface="Wingdings" panose="05000000000000000000" pitchFamily="2" charset="2"/>
                  <a:buChar char="Ø"/>
                </a:pPr>
                <a:r>
                  <a:rPr lang="en-US" altLang="en-US" dirty="0">
                    <a:latin typeface="Times New Roman" panose="02020603050405020304" charset="0"/>
                    <a:ea typeface="微软雅黑 Light" panose="020B0502040204020203" pitchFamily="34" charset="-122"/>
                  </a:rPr>
                  <a:t>路径6的测试用例</a:t>
                </a:r>
              </a:p>
              <a:p>
                <a:pPr fontAlgn="auto">
                  <a:lnSpc>
                    <a:spcPct val="130000"/>
                  </a:lnSpc>
                </a:pPr>
                <a:r>
                  <a:rPr lang="en-US" altLang="en-US" dirty="0">
                    <a:latin typeface="Times New Roman" panose="02020603050405020304" charset="0"/>
                    <a:ea typeface="微软雅黑 Light" panose="020B0502040204020203" pitchFamily="34" charset="-122"/>
                  </a:rPr>
                  <a:t>         value[</a:t>
                </a:r>
                <a:r>
                  <a:rPr lang="en-US" altLang="en-US" dirty="0" err="1">
                    <a:latin typeface="Times New Roman" panose="02020603050405020304" charset="0"/>
                    <a:ea typeface="微软雅黑 Light" panose="020B0502040204020203" pitchFamily="34" charset="-122"/>
                  </a:rPr>
                  <a:t>i</a:t>
                </a:r>
                <a:r>
                  <a:rPr lang="en-US" altLang="en-US" dirty="0">
                    <a:latin typeface="Times New Roman" panose="02020603050405020304" charset="0"/>
                    <a:ea typeface="微软雅黑 Light" panose="020B0502040204020203" pitchFamily="34" charset="-122"/>
                  </a:rPr>
                  <a:t>]=有效输入值，其中i&lt;100；</a:t>
                </a:r>
              </a:p>
              <a:p>
                <a:pPr fontAlgn="auto">
                  <a:lnSpc>
                    <a:spcPct val="130000"/>
                  </a:lnSpc>
                </a:pPr>
                <a:r>
                  <a:rPr lang="en-US" altLang="en-US" dirty="0">
                    <a:latin typeface="Times New Roman" panose="02020603050405020304" charset="0"/>
                    <a:ea typeface="微软雅黑 Light" panose="020B0502040204020203" pitchFamily="34" charset="-122"/>
                  </a:rPr>
                  <a:t>         value[k]&gt;maximum，其中k&lt;i。</a:t>
                </a:r>
              </a:p>
              <a:p>
                <a:pPr>
                  <a:lnSpc>
                    <a:spcPct val="130000"/>
                  </a:lnSpc>
                </a:pPr>
                <a:r>
                  <a:rPr lang="zh-CN" altLang="en-US" dirty="0">
                    <a:latin typeface="Times New Roman" panose="02020603050405020304" charset="0"/>
                    <a:ea typeface="微软雅黑 Light" panose="020B0502040204020203" pitchFamily="34" charset="-122"/>
                  </a:rPr>
                  <a:t>         预期的测试结果：基于</a:t>
                </a:r>
                <a:r>
                  <a:rPr lang="en-US" altLang="zh-CN" dirty="0">
                    <a:latin typeface="Times New Roman" panose="02020603050405020304" charset="0"/>
                    <a:ea typeface="微软雅黑 Light" panose="020B0502040204020203" pitchFamily="34" charset="-122"/>
                  </a:rPr>
                  <a:t>k</a:t>
                </a:r>
                <a:r>
                  <a:rPr lang="zh-CN" altLang="en-US" dirty="0">
                    <a:latin typeface="Times New Roman" panose="02020603050405020304" charset="0"/>
                    <a:ea typeface="微软雅黑 Light" panose="020B0502040204020203" pitchFamily="34" charset="-122"/>
                  </a:rPr>
                  <a:t>的输入正确数据的平均值、总和及个数。</a:t>
                </a:r>
                <a:endParaRPr lang="en-US" altLang="en-US" dirty="0">
                  <a:latin typeface="Times New Roman" panose="02020603050405020304" charset="0"/>
                  <a:ea typeface="微软雅黑 Light" panose="020B0502040204020203" pitchFamily="34" charset="-122"/>
                </a:endParaRPr>
              </a:p>
              <a:p>
                <a:pPr fontAlgn="auto">
                  <a:lnSpc>
                    <a:spcPct val="130000"/>
                  </a:lnSpc>
                  <a:buFont typeface="Wingdings" panose="05000000000000000000" pitchFamily="2" charset="2"/>
                  <a:buChar char="Ø"/>
                </a:pPr>
                <a:r>
                  <a:rPr lang="en-US" altLang="en-US" dirty="0">
                    <a:latin typeface="Times New Roman" panose="02020603050405020304" charset="0"/>
                    <a:ea typeface="微软雅黑 Light" panose="020B0502040204020203" pitchFamily="34" charset="-122"/>
                  </a:rPr>
                  <a:t>路径7的测试用例</a:t>
                </a:r>
              </a:p>
              <a:p>
                <a:pPr fontAlgn="auto">
                  <a:lnSpc>
                    <a:spcPct val="130000"/>
                  </a:lnSpc>
                </a:pPr>
                <a:r>
                  <a:rPr lang="en-US" altLang="en-US" dirty="0">
                    <a:latin typeface="Times New Roman" panose="02020603050405020304" charset="0"/>
                    <a:ea typeface="微软雅黑 Light" panose="020B0502040204020203" pitchFamily="34" charset="-122"/>
                  </a:rPr>
                  <a:t>         value[</a:t>
                </a:r>
                <a:r>
                  <a:rPr lang="en-US" altLang="en-US" dirty="0" err="1">
                    <a:latin typeface="Times New Roman" panose="02020603050405020304" charset="0"/>
                    <a:ea typeface="微软雅黑 Light" panose="020B0502040204020203" pitchFamily="34" charset="-122"/>
                  </a:rPr>
                  <a:t>i</a:t>
                </a:r>
                <a:r>
                  <a:rPr lang="en-US" altLang="en-US" dirty="0">
                    <a:latin typeface="Times New Roman" panose="02020603050405020304" charset="0"/>
                    <a:ea typeface="微软雅黑 Light" panose="020B0502040204020203" pitchFamily="34" charset="-122"/>
                  </a:rPr>
                  <a:t>]=有效输入值，其中i&lt;100。</a:t>
                </a:r>
              </a:p>
              <a:p>
                <a:pPr fontAlgn="auto">
                  <a:lnSpc>
                    <a:spcPct val="130000"/>
                  </a:lnSpc>
                </a:pPr>
                <a:r>
                  <a:rPr lang="zh-CN" altLang="en-US" dirty="0">
                    <a:latin typeface="Times New Roman" panose="02020603050405020304" charset="0"/>
                    <a:ea typeface="微软雅黑 Light" panose="020B0502040204020203" pitchFamily="34" charset="-122"/>
                  </a:rPr>
                  <a:t>        预期的测试结果：输入正确数据的平均值、总和及个数。</a:t>
                </a:r>
                <a:endParaRPr lang="en-US" altLang="en-US" dirty="0">
                  <a:latin typeface="Times New Roman" panose="02020603050405020304" charset="0"/>
                  <a:ea typeface="微软雅黑 Light" panose="020B0502040204020203" pitchFamily="34" charset="-122"/>
                </a:endParaRPr>
              </a:p>
            </p:txBody>
          </p:sp>
        </p:grpSp>
      </p:grpSp>
      <p:sp>
        <p:nvSpPr>
          <p:cNvPr id="7" name="矩形 6"/>
          <p:cNvSpPr>
            <a:spLocks noChangeAspect="1"/>
          </p:cNvSpPr>
          <p:nvPr/>
        </p:nvSpPr>
        <p:spPr>
          <a:xfrm>
            <a:off x="6316345" y="1238250"/>
            <a:ext cx="4940300" cy="5055870"/>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sp>
        <p:nvSpPr>
          <p:cNvPr id="8" name="TextBox 33"/>
          <p:cNvSpPr txBox="1"/>
          <p:nvPr/>
        </p:nvSpPr>
        <p:spPr>
          <a:xfrm>
            <a:off x="6462395" y="1372235"/>
            <a:ext cx="4627880" cy="4844415"/>
          </a:xfrm>
          <a:prstGeom prst="rect">
            <a:avLst/>
          </a:prstGeom>
          <a:solidFill>
            <a:schemeClr val="bg1">
              <a:lumMod val="95000"/>
            </a:schemeClr>
          </a:solidFill>
        </p:spPr>
        <p:txBody>
          <a:bodyPr wrap="square">
            <a:spAutoFit/>
          </a:bodyPr>
          <a:lstStyle/>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p:txBody>
      </p:sp>
      <p:grpSp>
        <p:nvGrpSpPr>
          <p:cNvPr id="6" name="组合 1073752571"/>
          <p:cNvGrpSpPr>
            <a:grpSpLocks noRot="1"/>
          </p:cNvGrpSpPr>
          <p:nvPr/>
        </p:nvGrpSpPr>
        <p:grpSpPr>
          <a:xfrm>
            <a:off x="6686550" y="2171700"/>
            <a:ext cx="4200525" cy="3578225"/>
            <a:chOff x="4223" y="7325"/>
            <a:chExt cx="5259" cy="5691"/>
          </a:xfrm>
        </p:grpSpPr>
        <p:sp>
          <p:nvSpPr>
            <p:cNvPr id="1073752573" name="直接连接符 1073752572"/>
            <p:cNvSpPr/>
            <p:nvPr/>
          </p:nvSpPr>
          <p:spPr>
            <a:xfrm>
              <a:off x="7631" y="7728"/>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74" name="椭圆 1073752573"/>
            <p:cNvSpPr/>
            <p:nvPr/>
          </p:nvSpPr>
          <p:spPr>
            <a:xfrm>
              <a:off x="7427" y="7325"/>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a:t>
              </a:r>
            </a:p>
            <a:p>
              <a:endParaRPr lang="zh-CN" altLang="en-US" dirty="0">
                <a:latin typeface="Times New Roman" panose="02020603050405020304" pitchFamily="18" charset="0"/>
              </a:endParaRPr>
            </a:p>
          </p:txBody>
        </p:sp>
        <p:sp>
          <p:nvSpPr>
            <p:cNvPr id="1073752575" name="椭圆 1073752574"/>
            <p:cNvSpPr/>
            <p:nvPr/>
          </p:nvSpPr>
          <p:spPr>
            <a:xfrm>
              <a:off x="7427" y="8111"/>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2</a:t>
              </a:r>
            </a:p>
            <a:p>
              <a:endParaRPr lang="zh-CN" altLang="en-US" dirty="0">
                <a:latin typeface="Times New Roman" panose="02020603050405020304" pitchFamily="18" charset="0"/>
              </a:endParaRPr>
            </a:p>
          </p:txBody>
        </p:sp>
        <p:sp>
          <p:nvSpPr>
            <p:cNvPr id="1073752576" name="椭圆 1073752575"/>
            <p:cNvSpPr/>
            <p:nvPr/>
          </p:nvSpPr>
          <p:spPr>
            <a:xfrm>
              <a:off x="7424" y="8885"/>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3</a:t>
              </a:r>
            </a:p>
            <a:p>
              <a:endParaRPr lang="zh-CN" altLang="en-US" dirty="0">
                <a:latin typeface="Times New Roman" panose="02020603050405020304" pitchFamily="18" charset="0"/>
              </a:endParaRPr>
            </a:p>
          </p:txBody>
        </p:sp>
        <p:sp>
          <p:nvSpPr>
            <p:cNvPr id="1073752577" name="椭圆 1073752576"/>
            <p:cNvSpPr/>
            <p:nvPr/>
          </p:nvSpPr>
          <p:spPr>
            <a:xfrm>
              <a:off x="7427" y="9667"/>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4</a:t>
              </a:r>
            </a:p>
            <a:p>
              <a:endParaRPr lang="zh-CN" altLang="en-US" dirty="0">
                <a:latin typeface="Times New Roman" panose="02020603050405020304" pitchFamily="18" charset="0"/>
              </a:endParaRPr>
            </a:p>
          </p:txBody>
        </p:sp>
        <p:sp>
          <p:nvSpPr>
            <p:cNvPr id="1073752578" name="椭圆 1073752577"/>
            <p:cNvSpPr/>
            <p:nvPr/>
          </p:nvSpPr>
          <p:spPr>
            <a:xfrm>
              <a:off x="7427" y="10453"/>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5</a:t>
              </a:r>
            </a:p>
            <a:p>
              <a:endParaRPr lang="zh-CN" altLang="en-US" dirty="0">
                <a:latin typeface="Times New Roman" panose="02020603050405020304" pitchFamily="18" charset="0"/>
              </a:endParaRPr>
            </a:p>
          </p:txBody>
        </p:sp>
        <p:sp>
          <p:nvSpPr>
            <p:cNvPr id="1073752579" name="椭圆 1073752578"/>
            <p:cNvSpPr/>
            <p:nvPr/>
          </p:nvSpPr>
          <p:spPr>
            <a:xfrm>
              <a:off x="7421" y="11233"/>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6</a:t>
              </a:r>
            </a:p>
            <a:p>
              <a:endParaRPr lang="zh-CN" altLang="en-US" dirty="0">
                <a:latin typeface="Times New Roman" panose="02020603050405020304" pitchFamily="18" charset="0"/>
              </a:endParaRPr>
            </a:p>
          </p:txBody>
        </p:sp>
        <p:sp>
          <p:nvSpPr>
            <p:cNvPr id="1073752580" name="椭圆 1073752579"/>
            <p:cNvSpPr/>
            <p:nvPr/>
          </p:nvSpPr>
          <p:spPr>
            <a:xfrm>
              <a:off x="7991" y="11923"/>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7</a:t>
              </a:r>
            </a:p>
            <a:p>
              <a:endParaRPr lang="zh-CN" altLang="en-US" dirty="0">
                <a:latin typeface="Times New Roman" panose="02020603050405020304" pitchFamily="18" charset="0"/>
              </a:endParaRPr>
            </a:p>
          </p:txBody>
        </p:sp>
        <p:sp>
          <p:nvSpPr>
            <p:cNvPr id="1073752581" name="椭圆 1073752580"/>
            <p:cNvSpPr/>
            <p:nvPr/>
          </p:nvSpPr>
          <p:spPr>
            <a:xfrm>
              <a:off x="6854" y="11926"/>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8</a:t>
              </a:r>
            </a:p>
            <a:p>
              <a:endParaRPr lang="zh-CN" altLang="en-US" dirty="0">
                <a:latin typeface="Times New Roman" panose="02020603050405020304" pitchFamily="18" charset="0"/>
              </a:endParaRPr>
            </a:p>
          </p:txBody>
        </p:sp>
        <p:sp>
          <p:nvSpPr>
            <p:cNvPr id="1073752582" name="椭圆 1073752581"/>
            <p:cNvSpPr/>
            <p:nvPr/>
          </p:nvSpPr>
          <p:spPr>
            <a:xfrm>
              <a:off x="7424" y="12616"/>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9</a:t>
              </a:r>
            </a:p>
            <a:p>
              <a:endParaRPr lang="zh-CN" altLang="en-US" dirty="0">
                <a:latin typeface="Times New Roman" panose="02020603050405020304" pitchFamily="18" charset="0"/>
              </a:endParaRPr>
            </a:p>
          </p:txBody>
        </p:sp>
        <p:sp>
          <p:nvSpPr>
            <p:cNvPr id="1073752583" name="椭圆 1073752582"/>
            <p:cNvSpPr/>
            <p:nvPr/>
          </p:nvSpPr>
          <p:spPr>
            <a:xfrm>
              <a:off x="5147" y="9286"/>
              <a:ext cx="622" cy="468"/>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10</a:t>
              </a:r>
            </a:p>
            <a:p>
              <a:endParaRPr lang="zh-CN" altLang="en-US" dirty="0">
                <a:latin typeface="Times New Roman" panose="02020603050405020304" pitchFamily="18" charset="0"/>
              </a:endParaRPr>
            </a:p>
          </p:txBody>
        </p:sp>
        <p:sp>
          <p:nvSpPr>
            <p:cNvPr id="1073752584" name="椭圆 1073752583"/>
            <p:cNvSpPr/>
            <p:nvPr/>
          </p:nvSpPr>
          <p:spPr>
            <a:xfrm>
              <a:off x="5933" y="10047"/>
              <a:ext cx="630" cy="394"/>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11</a:t>
              </a:r>
            </a:p>
            <a:p>
              <a:endParaRPr lang="zh-CN" altLang="en-US" dirty="0">
                <a:latin typeface="Times New Roman" panose="02020603050405020304" pitchFamily="18" charset="0"/>
              </a:endParaRPr>
            </a:p>
          </p:txBody>
        </p:sp>
        <p:sp>
          <p:nvSpPr>
            <p:cNvPr id="1073752585" name="椭圆 1073752584"/>
            <p:cNvSpPr/>
            <p:nvPr/>
          </p:nvSpPr>
          <p:spPr>
            <a:xfrm>
              <a:off x="4590" y="10047"/>
              <a:ext cx="611"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12</a:t>
              </a:r>
            </a:p>
            <a:p>
              <a:endParaRPr lang="zh-CN" altLang="en-US" dirty="0">
                <a:latin typeface="Times New Roman" panose="02020603050405020304" pitchFamily="18" charset="0"/>
              </a:endParaRPr>
            </a:p>
          </p:txBody>
        </p:sp>
        <p:sp>
          <p:nvSpPr>
            <p:cNvPr id="1073752586" name="椭圆 1073752585"/>
            <p:cNvSpPr/>
            <p:nvPr/>
          </p:nvSpPr>
          <p:spPr>
            <a:xfrm>
              <a:off x="5201" y="10737"/>
              <a:ext cx="732" cy="497"/>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13</a:t>
              </a:r>
            </a:p>
            <a:p>
              <a:endParaRPr lang="zh-CN" altLang="en-US" dirty="0">
                <a:latin typeface="Times New Roman" panose="02020603050405020304" pitchFamily="18" charset="0"/>
              </a:endParaRPr>
            </a:p>
          </p:txBody>
        </p:sp>
        <p:sp>
          <p:nvSpPr>
            <p:cNvPr id="1073752587" name="直接连接符 1073752586"/>
            <p:cNvSpPr/>
            <p:nvPr/>
          </p:nvSpPr>
          <p:spPr>
            <a:xfrm>
              <a:off x="7631" y="8511"/>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88" name="直接连接符 1073752587"/>
            <p:cNvSpPr/>
            <p:nvPr/>
          </p:nvSpPr>
          <p:spPr>
            <a:xfrm>
              <a:off x="7631" y="9285"/>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89" name="直接连接符 1073752588"/>
            <p:cNvSpPr/>
            <p:nvPr/>
          </p:nvSpPr>
          <p:spPr>
            <a:xfrm>
              <a:off x="7628" y="10068"/>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0" name="直接连接符 1073752589"/>
            <p:cNvSpPr/>
            <p:nvPr/>
          </p:nvSpPr>
          <p:spPr>
            <a:xfrm>
              <a:off x="7631" y="10852"/>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1" name="直接连接符 1073752590"/>
            <p:cNvSpPr/>
            <p:nvPr/>
          </p:nvSpPr>
          <p:spPr>
            <a:xfrm flipH="1">
              <a:off x="7061" y="10821"/>
              <a:ext cx="453" cy="1102"/>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2" name="直接连接符 1073752591"/>
            <p:cNvSpPr/>
            <p:nvPr/>
          </p:nvSpPr>
          <p:spPr>
            <a:xfrm flipH="1">
              <a:off x="7217" y="11608"/>
              <a:ext cx="297"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3" name="直接连接符 1073752592"/>
            <p:cNvSpPr/>
            <p:nvPr/>
          </p:nvSpPr>
          <p:spPr>
            <a:xfrm>
              <a:off x="7724" y="11608"/>
              <a:ext cx="315"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4" name="直接连接符 1073752593"/>
            <p:cNvSpPr/>
            <p:nvPr/>
          </p:nvSpPr>
          <p:spPr>
            <a:xfrm flipH="1">
              <a:off x="7259" y="12123"/>
              <a:ext cx="726" cy="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5" name="直接连接符 1073752594"/>
            <p:cNvSpPr/>
            <p:nvPr/>
          </p:nvSpPr>
          <p:spPr>
            <a:xfrm>
              <a:off x="7181" y="12279"/>
              <a:ext cx="315"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6" name="直接连接符 1073752595"/>
            <p:cNvSpPr/>
            <p:nvPr/>
          </p:nvSpPr>
          <p:spPr>
            <a:xfrm flipH="1">
              <a:off x="5726" y="8388"/>
              <a:ext cx="1707" cy="1029"/>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7" name="直接连接符 1073752596"/>
            <p:cNvSpPr/>
            <p:nvPr/>
          </p:nvSpPr>
          <p:spPr>
            <a:xfrm flipH="1">
              <a:off x="5768" y="9117"/>
              <a:ext cx="1656" cy="39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8" name="直接连接符 1073752597"/>
            <p:cNvSpPr/>
            <p:nvPr/>
          </p:nvSpPr>
          <p:spPr>
            <a:xfrm flipH="1">
              <a:off x="5147" y="9711"/>
              <a:ext cx="288" cy="39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9" name="直接连接符 1073752598"/>
            <p:cNvSpPr/>
            <p:nvPr/>
          </p:nvSpPr>
          <p:spPr>
            <a:xfrm>
              <a:off x="5678" y="9735"/>
              <a:ext cx="327" cy="351"/>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600" name="直接连接符 1073752599"/>
            <p:cNvSpPr/>
            <p:nvPr/>
          </p:nvSpPr>
          <p:spPr>
            <a:xfrm>
              <a:off x="5126" y="10410"/>
              <a:ext cx="327" cy="351"/>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601" name="直接连接符 1073752600"/>
            <p:cNvSpPr/>
            <p:nvPr/>
          </p:nvSpPr>
          <p:spPr>
            <a:xfrm flipH="1">
              <a:off x="5660" y="10371"/>
              <a:ext cx="324" cy="39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602" name="任意多边形 1073752601"/>
            <p:cNvSpPr/>
            <p:nvPr/>
          </p:nvSpPr>
          <p:spPr>
            <a:xfrm>
              <a:off x="7829" y="8358"/>
              <a:ext cx="1653" cy="4457"/>
            </a:xfrm>
            <a:custGeom>
              <a:avLst/>
              <a:gdLst/>
              <a:ahLst/>
              <a:cxnLst/>
              <a:rect l="0" t="0" r="0" b="0"/>
              <a:pathLst>
                <a:path w="1653" h="4457">
                  <a:moveTo>
                    <a:pt x="0" y="4457"/>
                  </a:moveTo>
                  <a:cubicBezTo>
                    <a:pt x="168" y="4406"/>
                    <a:pt x="722" y="4363"/>
                    <a:pt x="1011" y="4149"/>
                  </a:cubicBezTo>
                  <a:cubicBezTo>
                    <a:pt x="1300" y="3935"/>
                    <a:pt x="1429" y="3780"/>
                    <a:pt x="1541" y="3367"/>
                  </a:cubicBezTo>
                  <a:cubicBezTo>
                    <a:pt x="1653" y="2954"/>
                    <a:pt x="1575" y="2609"/>
                    <a:pt x="1530" y="2292"/>
                  </a:cubicBezTo>
                  <a:cubicBezTo>
                    <a:pt x="1485" y="1975"/>
                    <a:pt x="1377" y="1710"/>
                    <a:pt x="1268" y="1462"/>
                  </a:cubicBezTo>
                  <a:cubicBezTo>
                    <a:pt x="1159" y="1214"/>
                    <a:pt x="1016" y="991"/>
                    <a:pt x="877" y="803"/>
                  </a:cubicBezTo>
                  <a:cubicBezTo>
                    <a:pt x="738" y="615"/>
                    <a:pt x="577" y="466"/>
                    <a:pt x="433" y="332"/>
                  </a:cubicBezTo>
                  <a:cubicBezTo>
                    <a:pt x="289" y="198"/>
                    <a:pt x="98" y="69"/>
                    <a:pt x="10" y="0"/>
                  </a:cubicBezTo>
                </a:path>
              </a:pathLst>
            </a:custGeom>
            <a:noFill/>
            <a:ln w="9525" cap="flat" cmpd="sng">
              <a:solidFill>
                <a:srgbClr val="000000"/>
              </a:solidFill>
              <a:prstDash val="solid"/>
              <a:headEnd type="none" w="med" len="med"/>
              <a:tailEnd type="triangle" w="med" len="med"/>
            </a:ln>
          </p:spPr>
          <p:txBody>
            <a:bodyPr/>
            <a:lstStyle/>
            <a:p>
              <a:endParaRPr lang="zh-CN" altLang="en-US" dirty="0">
                <a:latin typeface="Times New Roman" panose="02020603050405020304" pitchFamily="18" charset="0"/>
              </a:endParaRPr>
            </a:p>
          </p:txBody>
        </p:sp>
        <p:sp>
          <p:nvSpPr>
            <p:cNvPr id="1073752603" name="任意多边形 1073752602"/>
            <p:cNvSpPr/>
            <p:nvPr/>
          </p:nvSpPr>
          <p:spPr>
            <a:xfrm>
              <a:off x="4223" y="7467"/>
              <a:ext cx="3204" cy="3441"/>
            </a:xfrm>
            <a:custGeom>
              <a:avLst/>
              <a:gdLst/>
              <a:ahLst/>
              <a:cxnLst/>
              <a:rect l="0" t="0" r="0" b="0"/>
              <a:pathLst>
                <a:path w="3204" h="3441">
                  <a:moveTo>
                    <a:pt x="1147" y="3441"/>
                  </a:moveTo>
                  <a:cubicBezTo>
                    <a:pt x="998" y="3355"/>
                    <a:pt x="510" y="3292"/>
                    <a:pt x="255" y="2924"/>
                  </a:cubicBezTo>
                  <a:cubicBezTo>
                    <a:pt x="0" y="2556"/>
                    <a:pt x="31" y="1916"/>
                    <a:pt x="195" y="1506"/>
                  </a:cubicBezTo>
                  <a:cubicBezTo>
                    <a:pt x="359" y="1096"/>
                    <a:pt x="547" y="726"/>
                    <a:pt x="1147" y="351"/>
                  </a:cubicBezTo>
                  <a:cubicBezTo>
                    <a:pt x="1613" y="118"/>
                    <a:pt x="2477" y="54"/>
                    <a:pt x="2832" y="27"/>
                  </a:cubicBezTo>
                  <a:cubicBezTo>
                    <a:pt x="3187" y="0"/>
                    <a:pt x="3127" y="16"/>
                    <a:pt x="3204" y="13"/>
                  </a:cubicBezTo>
                </a:path>
              </a:pathLst>
            </a:custGeom>
            <a:noFill/>
            <a:ln w="9525" cap="flat" cmpd="sng">
              <a:solidFill>
                <a:srgbClr val="000000"/>
              </a:solidFill>
              <a:prstDash val="dash"/>
              <a:headEnd type="none" w="med" len="med"/>
              <a:tailEnd type="triangle" w="med" len="med"/>
            </a:ln>
          </p:spPr>
          <p:txBody>
            <a:bodyPr/>
            <a:lstStyle/>
            <a:p>
              <a:endParaRPr lang="zh-CN" altLang="en-US" dirty="0">
                <a:latin typeface="Times New Roman" panose="02020603050405020304" pitchFamily="18" charset="0"/>
              </a:endParaRPr>
            </a:p>
          </p:txBody>
        </p:sp>
      </p:grpSp>
    </p:spTree>
  </p:cSld>
  <p:clrMapOvr>
    <a:masterClrMapping/>
  </p:clrMapOvr>
  <p:transition>
    <p:pull dir="rd"/>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11520000" cy="535531"/>
          </a:xfrm>
        </p:spPr>
        <p:txBody>
          <a:bodyPr/>
          <a:lstStyle/>
          <a:p>
            <a:r>
              <a:rPr lang="en-US" dirty="0"/>
              <a:t>4.5 </a:t>
            </a:r>
            <a:r>
              <a:rPr lang="zh-CN" altLang="en-US" dirty="0"/>
              <a:t>设计软件测试方案</a:t>
            </a:r>
          </a:p>
        </p:txBody>
      </p:sp>
      <p:grpSp>
        <p:nvGrpSpPr>
          <p:cNvPr id="2" name="组合 1"/>
          <p:cNvGrpSpPr/>
          <p:nvPr/>
        </p:nvGrpSpPr>
        <p:grpSpPr>
          <a:xfrm>
            <a:off x="737235" y="1403985"/>
            <a:ext cx="9955530" cy="4768215"/>
            <a:chOff x="1275" y="2210"/>
            <a:chExt cx="15678" cy="7509"/>
          </a:xfrm>
        </p:grpSpPr>
        <p:sp>
          <p:nvSpPr>
            <p:cNvPr id="19" name="TextBox 6"/>
            <p:cNvSpPr txBox="1"/>
            <p:nvPr/>
          </p:nvSpPr>
          <p:spPr>
            <a:xfrm>
              <a:off x="1275" y="2210"/>
              <a:ext cx="13695" cy="892"/>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案例</a:t>
              </a:r>
            </a:p>
          </p:txBody>
        </p:sp>
        <p:grpSp>
          <p:nvGrpSpPr>
            <p:cNvPr id="4" name="组合 4"/>
            <p:cNvGrpSpPr/>
            <p:nvPr/>
          </p:nvGrpSpPr>
          <p:grpSpPr>
            <a:xfrm>
              <a:off x="1499" y="3150"/>
              <a:ext cx="15454" cy="6569"/>
              <a:chOff x="1499" y="3150"/>
              <a:chExt cx="15454" cy="6569"/>
            </a:xfrm>
          </p:grpSpPr>
          <p:sp>
            <p:nvSpPr>
              <p:cNvPr id="22" name="TextBox 21"/>
              <p:cNvSpPr txBox="1"/>
              <p:nvPr/>
            </p:nvSpPr>
            <p:spPr>
              <a:xfrm>
                <a:off x="3431" y="3419"/>
                <a:ext cx="13522" cy="624"/>
              </a:xfrm>
              <a:prstGeom prst="rect">
                <a:avLst/>
              </a:prstGeom>
              <a:noFill/>
            </p:spPr>
            <p:txBody>
              <a:bodyPr wrap="square">
                <a:spAutoFit/>
              </a:bodyPr>
              <a:lstStyle/>
              <a:p>
                <a:r>
                  <a:rPr sz="2000" dirty="0">
                    <a:latin typeface="Times New Roman" panose="02020603050405020304" pitchFamily="18" charset="0"/>
                    <a:sym typeface="+mn-ea"/>
                  </a:rPr>
                  <a:t>用基本路径覆盖法设计测试用例。</a:t>
                </a:r>
              </a:p>
            </p:txBody>
          </p:sp>
          <p:sp>
            <p:nvSpPr>
              <p:cNvPr id="24" name="矩形 23"/>
              <p:cNvSpPr>
                <a:spLocks noChangeAspect="1"/>
              </p:cNvSpPr>
              <p:nvPr/>
            </p:nvSpPr>
            <p:spPr>
              <a:xfrm>
                <a:off x="1499" y="4275"/>
                <a:ext cx="8213" cy="5444"/>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3"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altLang="en-US" sz="2400" dirty="0">
                      <a:solidFill>
                        <a:schemeClr val="bg1"/>
                      </a:solidFill>
                      <a:latin typeface="Times New Roman" panose="02020603050405020304" pitchFamily="18" charset="0"/>
                      <a:sym typeface="+mn-ea"/>
                    </a:rPr>
                    <a:t>例 </a:t>
                  </a:r>
                  <a:r>
                    <a:rPr lang="en-US" altLang="zh-CN" sz="2400" dirty="0">
                      <a:solidFill>
                        <a:schemeClr val="bg1"/>
                      </a:solidFill>
                      <a:latin typeface="Times New Roman" panose="02020603050405020304" pitchFamily="18" charset="0"/>
                      <a:sym typeface="+mn-ea"/>
                    </a:rPr>
                    <a:t>4-4</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4" name="TextBox 33"/>
              <p:cNvSpPr txBox="1"/>
              <p:nvPr/>
            </p:nvSpPr>
            <p:spPr>
              <a:xfrm>
                <a:off x="1968" y="4666"/>
                <a:ext cx="7194" cy="4682"/>
              </a:xfrm>
              <a:prstGeom prst="rect">
                <a:avLst/>
              </a:prstGeom>
              <a:solidFill>
                <a:schemeClr val="bg1">
                  <a:lumMod val="95000"/>
                </a:schemeClr>
              </a:solidFill>
            </p:spPr>
            <p:txBody>
              <a:bodyPr wrap="square">
                <a:spAutoFit/>
              </a:bodyPr>
              <a:lstStyle/>
              <a:p>
                <a:pPr fontAlgn="auto">
                  <a:lnSpc>
                    <a:spcPct val="130000"/>
                  </a:lnSpc>
                </a:pPr>
                <a:r>
                  <a:rPr lang="zh-CN" altLang="en-US" dirty="0">
                    <a:latin typeface="Times New Roman" panose="02020603050405020304" charset="0"/>
                    <a:ea typeface="微软雅黑 Light" panose="020B0502040204020203" pitchFamily="34" charset="-122"/>
                  </a:rPr>
                  <a:t>        </a:t>
                </a:r>
                <a:endParaRPr lang="en-US" altLang="zh-CN" dirty="0">
                  <a:latin typeface="Times New Roman" panose="02020603050405020304" charset="0"/>
                  <a:ea typeface="微软雅黑 Light" panose="020B0502040204020203" pitchFamily="34" charset="-122"/>
                </a:endParaRPr>
              </a:p>
              <a:p>
                <a:pPr fontAlgn="auto">
                  <a:lnSpc>
                    <a:spcPct val="130000"/>
                  </a:lnSpc>
                </a:pPr>
                <a:endParaRPr lang="en-US" altLang="zh-CN" dirty="0">
                  <a:latin typeface="Times New Roman" panose="02020603050405020304" charset="0"/>
                  <a:ea typeface="微软雅黑 Light" panose="020B0502040204020203" pitchFamily="34" charset="-122"/>
                </a:endParaRPr>
              </a:p>
              <a:p>
                <a:pPr fontAlgn="auto">
                  <a:lnSpc>
                    <a:spcPct val="130000"/>
                  </a:lnSpc>
                </a:pPr>
                <a:r>
                  <a:rPr lang="zh-CN" altLang="en-US" dirty="0">
                    <a:latin typeface="Times New Roman" panose="02020603050405020304" charset="0"/>
                    <a:ea typeface="微软雅黑 Light" panose="020B0502040204020203" pitchFamily="34" charset="-122"/>
                  </a:rPr>
                  <a:t>在测试过程中，执行每个测试用例并把实际输出结果与预期结果相比较。一旦执行完所有测试用例，就可以确保程序中所有语句都至少被执行了一次，而且每个条件都分别取过</a:t>
                </a:r>
                <a:r>
                  <a:rPr lang="en-US" altLang="zh-CN" dirty="0">
                    <a:latin typeface="Times New Roman" panose="02020603050405020304" charset="0"/>
                    <a:ea typeface="微软雅黑 Light" panose="020B0502040204020203" pitchFamily="34" charset="-122"/>
                  </a:rPr>
                  <a:t>true</a:t>
                </a:r>
                <a:r>
                  <a:rPr lang="zh-CN" altLang="en-US" dirty="0">
                    <a:latin typeface="Times New Roman" panose="02020603050405020304" charset="0"/>
                    <a:ea typeface="微软雅黑 Light" panose="020B0502040204020203" pitchFamily="34" charset="-122"/>
                  </a:rPr>
                  <a:t>值和</a:t>
                </a:r>
                <a:r>
                  <a:rPr lang="en-US" altLang="zh-CN" dirty="0">
                    <a:latin typeface="Times New Roman" panose="02020603050405020304" charset="0"/>
                    <a:ea typeface="微软雅黑 Light" panose="020B0502040204020203" pitchFamily="34" charset="-122"/>
                  </a:rPr>
                  <a:t>false</a:t>
                </a:r>
                <a:r>
                  <a:rPr lang="zh-CN" altLang="en-US" dirty="0">
                    <a:latin typeface="Times New Roman" panose="02020603050405020304" charset="0"/>
                    <a:ea typeface="微软雅黑 Light" panose="020B0502040204020203" pitchFamily="34" charset="-122"/>
                  </a:rPr>
                  <a:t>值。</a:t>
                </a:r>
                <a:endParaRPr lang="en-US" altLang="en-US" dirty="0">
                  <a:latin typeface="Times New Roman" panose="02020603050405020304" charset="0"/>
                  <a:ea typeface="微软雅黑 Light" panose="020B0502040204020203" pitchFamily="34" charset="-122"/>
                </a:endParaRPr>
              </a:p>
              <a:p>
                <a:pPr fontAlgn="auto">
                  <a:lnSpc>
                    <a:spcPct val="130000"/>
                  </a:lnSpc>
                </a:pPr>
                <a:endParaRPr lang="en-US" altLang="en-US" dirty="0">
                  <a:latin typeface="Times New Roman" panose="02020603050405020304" charset="0"/>
                  <a:ea typeface="微软雅黑 Light" panose="020B0502040204020203" pitchFamily="34" charset="-122"/>
                </a:endParaRPr>
              </a:p>
            </p:txBody>
          </p:sp>
        </p:grpSp>
      </p:grpSp>
      <p:sp>
        <p:nvSpPr>
          <p:cNvPr id="7" name="矩形 6"/>
          <p:cNvSpPr>
            <a:spLocks noChangeAspect="1"/>
          </p:cNvSpPr>
          <p:nvPr/>
        </p:nvSpPr>
        <p:spPr>
          <a:xfrm>
            <a:off x="6316345" y="1238250"/>
            <a:ext cx="4940300" cy="5055870"/>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sp>
        <p:nvSpPr>
          <p:cNvPr id="8" name="TextBox 33"/>
          <p:cNvSpPr txBox="1"/>
          <p:nvPr/>
        </p:nvSpPr>
        <p:spPr>
          <a:xfrm>
            <a:off x="6462395" y="1372235"/>
            <a:ext cx="4627880" cy="4844415"/>
          </a:xfrm>
          <a:prstGeom prst="rect">
            <a:avLst/>
          </a:prstGeom>
          <a:solidFill>
            <a:schemeClr val="bg1">
              <a:lumMod val="95000"/>
            </a:schemeClr>
          </a:solidFill>
        </p:spPr>
        <p:txBody>
          <a:bodyPr wrap="square">
            <a:spAutoFit/>
          </a:bodyPr>
          <a:lstStyle/>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a:p>
            <a:pPr fontAlgn="auto">
              <a:lnSpc>
                <a:spcPct val="130000"/>
              </a:lnSpc>
            </a:pPr>
            <a:endParaRPr lang="en-US" altLang="en-US" sz="1600" dirty="0">
              <a:latin typeface="Times New Roman" panose="02020603050405020304" charset="0"/>
              <a:ea typeface="微软雅黑 Light" panose="020B0502040204020203" pitchFamily="34" charset="-122"/>
            </a:endParaRPr>
          </a:p>
        </p:txBody>
      </p:sp>
      <p:grpSp>
        <p:nvGrpSpPr>
          <p:cNvPr id="6" name="组合 1073752571"/>
          <p:cNvGrpSpPr>
            <a:grpSpLocks noRot="1"/>
          </p:cNvGrpSpPr>
          <p:nvPr/>
        </p:nvGrpSpPr>
        <p:grpSpPr>
          <a:xfrm>
            <a:off x="6686550" y="2171700"/>
            <a:ext cx="4200525" cy="3578225"/>
            <a:chOff x="4223" y="7325"/>
            <a:chExt cx="5259" cy="5691"/>
          </a:xfrm>
        </p:grpSpPr>
        <p:sp>
          <p:nvSpPr>
            <p:cNvPr id="1073752573" name="直接连接符 1073752572"/>
            <p:cNvSpPr/>
            <p:nvPr/>
          </p:nvSpPr>
          <p:spPr>
            <a:xfrm>
              <a:off x="7631" y="7728"/>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74" name="椭圆 1073752573"/>
            <p:cNvSpPr/>
            <p:nvPr/>
          </p:nvSpPr>
          <p:spPr>
            <a:xfrm>
              <a:off x="7427" y="7325"/>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a:t>
              </a:r>
            </a:p>
            <a:p>
              <a:endParaRPr lang="zh-CN" altLang="en-US" dirty="0">
                <a:latin typeface="Times New Roman" panose="02020603050405020304" pitchFamily="18" charset="0"/>
              </a:endParaRPr>
            </a:p>
          </p:txBody>
        </p:sp>
        <p:sp>
          <p:nvSpPr>
            <p:cNvPr id="1073752575" name="椭圆 1073752574"/>
            <p:cNvSpPr/>
            <p:nvPr/>
          </p:nvSpPr>
          <p:spPr>
            <a:xfrm>
              <a:off x="7427" y="8111"/>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2</a:t>
              </a:r>
            </a:p>
            <a:p>
              <a:endParaRPr lang="zh-CN" altLang="en-US" dirty="0">
                <a:latin typeface="Times New Roman" panose="02020603050405020304" pitchFamily="18" charset="0"/>
              </a:endParaRPr>
            </a:p>
          </p:txBody>
        </p:sp>
        <p:sp>
          <p:nvSpPr>
            <p:cNvPr id="1073752576" name="椭圆 1073752575"/>
            <p:cNvSpPr/>
            <p:nvPr/>
          </p:nvSpPr>
          <p:spPr>
            <a:xfrm>
              <a:off x="7424" y="8885"/>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3</a:t>
              </a:r>
            </a:p>
            <a:p>
              <a:endParaRPr lang="zh-CN" altLang="en-US" dirty="0">
                <a:latin typeface="Times New Roman" panose="02020603050405020304" pitchFamily="18" charset="0"/>
              </a:endParaRPr>
            </a:p>
          </p:txBody>
        </p:sp>
        <p:sp>
          <p:nvSpPr>
            <p:cNvPr id="1073752577" name="椭圆 1073752576"/>
            <p:cNvSpPr/>
            <p:nvPr/>
          </p:nvSpPr>
          <p:spPr>
            <a:xfrm>
              <a:off x="7427" y="9667"/>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4</a:t>
              </a:r>
            </a:p>
            <a:p>
              <a:endParaRPr lang="zh-CN" altLang="en-US" dirty="0">
                <a:latin typeface="Times New Roman" panose="02020603050405020304" pitchFamily="18" charset="0"/>
              </a:endParaRPr>
            </a:p>
          </p:txBody>
        </p:sp>
        <p:sp>
          <p:nvSpPr>
            <p:cNvPr id="1073752578" name="椭圆 1073752577"/>
            <p:cNvSpPr/>
            <p:nvPr/>
          </p:nvSpPr>
          <p:spPr>
            <a:xfrm>
              <a:off x="7427" y="10453"/>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5</a:t>
              </a:r>
            </a:p>
            <a:p>
              <a:endParaRPr lang="zh-CN" altLang="en-US" dirty="0">
                <a:latin typeface="Times New Roman" panose="02020603050405020304" pitchFamily="18" charset="0"/>
              </a:endParaRPr>
            </a:p>
          </p:txBody>
        </p:sp>
        <p:sp>
          <p:nvSpPr>
            <p:cNvPr id="1073752579" name="椭圆 1073752578"/>
            <p:cNvSpPr/>
            <p:nvPr/>
          </p:nvSpPr>
          <p:spPr>
            <a:xfrm>
              <a:off x="7421" y="11233"/>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6</a:t>
              </a:r>
            </a:p>
            <a:p>
              <a:endParaRPr lang="zh-CN" altLang="en-US" dirty="0">
                <a:latin typeface="Times New Roman" panose="02020603050405020304" pitchFamily="18" charset="0"/>
              </a:endParaRPr>
            </a:p>
          </p:txBody>
        </p:sp>
        <p:sp>
          <p:nvSpPr>
            <p:cNvPr id="1073752580" name="椭圆 1073752579"/>
            <p:cNvSpPr/>
            <p:nvPr/>
          </p:nvSpPr>
          <p:spPr>
            <a:xfrm>
              <a:off x="7991" y="11923"/>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7</a:t>
              </a:r>
            </a:p>
            <a:p>
              <a:endParaRPr lang="zh-CN" altLang="en-US" dirty="0">
                <a:latin typeface="Times New Roman" panose="02020603050405020304" pitchFamily="18" charset="0"/>
              </a:endParaRPr>
            </a:p>
          </p:txBody>
        </p:sp>
        <p:sp>
          <p:nvSpPr>
            <p:cNvPr id="1073752581" name="椭圆 1073752580"/>
            <p:cNvSpPr/>
            <p:nvPr/>
          </p:nvSpPr>
          <p:spPr>
            <a:xfrm>
              <a:off x="6854" y="11926"/>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8</a:t>
              </a:r>
            </a:p>
            <a:p>
              <a:endParaRPr lang="zh-CN" altLang="en-US" dirty="0">
                <a:latin typeface="Times New Roman" panose="02020603050405020304" pitchFamily="18" charset="0"/>
              </a:endParaRPr>
            </a:p>
          </p:txBody>
        </p:sp>
        <p:sp>
          <p:nvSpPr>
            <p:cNvPr id="1073752582" name="椭圆 1073752581"/>
            <p:cNvSpPr/>
            <p:nvPr/>
          </p:nvSpPr>
          <p:spPr>
            <a:xfrm>
              <a:off x="7424" y="12616"/>
              <a:ext cx="402"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9</a:t>
              </a:r>
            </a:p>
            <a:p>
              <a:endParaRPr lang="zh-CN" altLang="en-US" dirty="0">
                <a:latin typeface="Times New Roman" panose="02020603050405020304" pitchFamily="18" charset="0"/>
              </a:endParaRPr>
            </a:p>
          </p:txBody>
        </p:sp>
        <p:sp>
          <p:nvSpPr>
            <p:cNvPr id="1073752583" name="椭圆 1073752582"/>
            <p:cNvSpPr/>
            <p:nvPr/>
          </p:nvSpPr>
          <p:spPr>
            <a:xfrm>
              <a:off x="5147" y="9286"/>
              <a:ext cx="622" cy="468"/>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10</a:t>
              </a:r>
            </a:p>
            <a:p>
              <a:endParaRPr lang="zh-CN" altLang="en-US" dirty="0">
                <a:latin typeface="Times New Roman" panose="02020603050405020304" pitchFamily="18" charset="0"/>
              </a:endParaRPr>
            </a:p>
          </p:txBody>
        </p:sp>
        <p:sp>
          <p:nvSpPr>
            <p:cNvPr id="1073752584" name="椭圆 1073752583"/>
            <p:cNvSpPr/>
            <p:nvPr/>
          </p:nvSpPr>
          <p:spPr>
            <a:xfrm>
              <a:off x="5933" y="10047"/>
              <a:ext cx="630" cy="394"/>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11</a:t>
              </a:r>
            </a:p>
            <a:p>
              <a:endParaRPr lang="zh-CN" altLang="en-US" dirty="0">
                <a:latin typeface="Times New Roman" panose="02020603050405020304" pitchFamily="18" charset="0"/>
              </a:endParaRPr>
            </a:p>
          </p:txBody>
        </p:sp>
        <p:sp>
          <p:nvSpPr>
            <p:cNvPr id="1073752585" name="椭圆 1073752584"/>
            <p:cNvSpPr/>
            <p:nvPr/>
          </p:nvSpPr>
          <p:spPr>
            <a:xfrm>
              <a:off x="4590" y="10047"/>
              <a:ext cx="611" cy="400"/>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12</a:t>
              </a:r>
            </a:p>
            <a:p>
              <a:endParaRPr lang="zh-CN" altLang="en-US" dirty="0">
                <a:latin typeface="Times New Roman" panose="02020603050405020304" pitchFamily="18" charset="0"/>
              </a:endParaRPr>
            </a:p>
          </p:txBody>
        </p:sp>
        <p:sp>
          <p:nvSpPr>
            <p:cNvPr id="1073752586" name="椭圆 1073752585"/>
            <p:cNvSpPr/>
            <p:nvPr/>
          </p:nvSpPr>
          <p:spPr>
            <a:xfrm>
              <a:off x="5201" y="10737"/>
              <a:ext cx="732" cy="497"/>
            </a:xfrm>
            <a:prstGeom prst="ellipse">
              <a:avLst/>
            </a:prstGeom>
            <a:noFill/>
            <a:ln w="9525" cap="flat" cmpd="sng">
              <a:solidFill>
                <a:srgbClr val="000000"/>
              </a:solidFill>
              <a:prstDash val="solid"/>
              <a:headEnd type="none" w="med" len="med"/>
              <a:tailEnd type="none" w="med" len="med"/>
            </a:ln>
          </p:spPr>
          <p:txBody>
            <a:bodyPr wrap="square" lIns="36000" tIns="36000" rIns="36000" bIns="36000"/>
            <a:lstStyle/>
            <a:p>
              <a:pPr algn="ctr">
                <a:lnSpc>
                  <a:spcPts val="1000"/>
                </a:lnSpc>
              </a:pPr>
              <a:r>
                <a:rPr lang="zh-CN" altLang="en-US" dirty="0">
                  <a:latin typeface="Times New Roman" panose="02020603050405020304" pitchFamily="18" charset="0"/>
                </a:rPr>
                <a:t>13</a:t>
              </a:r>
            </a:p>
            <a:p>
              <a:endParaRPr lang="zh-CN" altLang="en-US" dirty="0">
                <a:latin typeface="Times New Roman" panose="02020603050405020304" pitchFamily="18" charset="0"/>
              </a:endParaRPr>
            </a:p>
          </p:txBody>
        </p:sp>
        <p:sp>
          <p:nvSpPr>
            <p:cNvPr id="1073752587" name="直接连接符 1073752586"/>
            <p:cNvSpPr/>
            <p:nvPr/>
          </p:nvSpPr>
          <p:spPr>
            <a:xfrm>
              <a:off x="7631" y="8511"/>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88" name="直接连接符 1073752587"/>
            <p:cNvSpPr/>
            <p:nvPr/>
          </p:nvSpPr>
          <p:spPr>
            <a:xfrm>
              <a:off x="7631" y="9285"/>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89" name="直接连接符 1073752588"/>
            <p:cNvSpPr/>
            <p:nvPr/>
          </p:nvSpPr>
          <p:spPr>
            <a:xfrm>
              <a:off x="7628" y="10068"/>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0" name="直接连接符 1073752589"/>
            <p:cNvSpPr/>
            <p:nvPr/>
          </p:nvSpPr>
          <p:spPr>
            <a:xfrm>
              <a:off x="7631" y="10852"/>
              <a:ext cx="0"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1" name="直接连接符 1073752590"/>
            <p:cNvSpPr/>
            <p:nvPr/>
          </p:nvSpPr>
          <p:spPr>
            <a:xfrm flipH="1">
              <a:off x="7061" y="10821"/>
              <a:ext cx="453" cy="1102"/>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2" name="直接连接符 1073752591"/>
            <p:cNvSpPr/>
            <p:nvPr/>
          </p:nvSpPr>
          <p:spPr>
            <a:xfrm flipH="1">
              <a:off x="7217" y="11608"/>
              <a:ext cx="297"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3" name="直接连接符 1073752592"/>
            <p:cNvSpPr/>
            <p:nvPr/>
          </p:nvSpPr>
          <p:spPr>
            <a:xfrm>
              <a:off x="7724" y="11608"/>
              <a:ext cx="315"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4" name="直接连接符 1073752593"/>
            <p:cNvSpPr/>
            <p:nvPr/>
          </p:nvSpPr>
          <p:spPr>
            <a:xfrm flipH="1">
              <a:off x="7259" y="12123"/>
              <a:ext cx="726" cy="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5" name="直接连接符 1073752594"/>
            <p:cNvSpPr/>
            <p:nvPr/>
          </p:nvSpPr>
          <p:spPr>
            <a:xfrm>
              <a:off x="7181" y="12279"/>
              <a:ext cx="315" cy="38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6" name="直接连接符 1073752595"/>
            <p:cNvSpPr/>
            <p:nvPr/>
          </p:nvSpPr>
          <p:spPr>
            <a:xfrm flipH="1">
              <a:off x="5726" y="8388"/>
              <a:ext cx="1707" cy="1029"/>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7" name="直接连接符 1073752596"/>
            <p:cNvSpPr/>
            <p:nvPr/>
          </p:nvSpPr>
          <p:spPr>
            <a:xfrm flipH="1">
              <a:off x="5768" y="9117"/>
              <a:ext cx="1656" cy="39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8" name="直接连接符 1073752597"/>
            <p:cNvSpPr/>
            <p:nvPr/>
          </p:nvSpPr>
          <p:spPr>
            <a:xfrm flipH="1">
              <a:off x="5147" y="9711"/>
              <a:ext cx="288" cy="39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599" name="直接连接符 1073752598"/>
            <p:cNvSpPr/>
            <p:nvPr/>
          </p:nvSpPr>
          <p:spPr>
            <a:xfrm>
              <a:off x="5678" y="9735"/>
              <a:ext cx="327" cy="351"/>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600" name="直接连接符 1073752599"/>
            <p:cNvSpPr/>
            <p:nvPr/>
          </p:nvSpPr>
          <p:spPr>
            <a:xfrm>
              <a:off x="5126" y="10410"/>
              <a:ext cx="327" cy="351"/>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601" name="直接连接符 1073752600"/>
            <p:cNvSpPr/>
            <p:nvPr/>
          </p:nvSpPr>
          <p:spPr>
            <a:xfrm flipH="1">
              <a:off x="5660" y="10371"/>
              <a:ext cx="324" cy="390"/>
            </a:xfrm>
            <a:prstGeom prst="line">
              <a:avLst/>
            </a:prstGeom>
            <a:ln w="9525" cap="flat" cmpd="sng">
              <a:solidFill>
                <a:srgbClr val="000000"/>
              </a:solidFill>
              <a:prstDash val="solid"/>
              <a:headEnd type="none" w="med" len="med"/>
              <a:tailEnd type="triangle" w="med" len="med"/>
            </a:ln>
          </p:spPr>
          <p:txBody>
            <a:bodyPr/>
            <a:lstStyle/>
            <a:p>
              <a:endParaRPr lang="zh-CN" altLang="en-US"/>
            </a:p>
          </p:txBody>
        </p:sp>
        <p:sp>
          <p:nvSpPr>
            <p:cNvPr id="1073752602" name="任意多边形 1073752601"/>
            <p:cNvSpPr/>
            <p:nvPr/>
          </p:nvSpPr>
          <p:spPr>
            <a:xfrm>
              <a:off x="7829" y="8358"/>
              <a:ext cx="1653" cy="4457"/>
            </a:xfrm>
            <a:custGeom>
              <a:avLst/>
              <a:gdLst/>
              <a:ahLst/>
              <a:cxnLst/>
              <a:rect l="0" t="0" r="0" b="0"/>
              <a:pathLst>
                <a:path w="1653" h="4457">
                  <a:moveTo>
                    <a:pt x="0" y="4457"/>
                  </a:moveTo>
                  <a:cubicBezTo>
                    <a:pt x="168" y="4406"/>
                    <a:pt x="722" y="4363"/>
                    <a:pt x="1011" y="4149"/>
                  </a:cubicBezTo>
                  <a:cubicBezTo>
                    <a:pt x="1300" y="3935"/>
                    <a:pt x="1429" y="3780"/>
                    <a:pt x="1541" y="3367"/>
                  </a:cubicBezTo>
                  <a:cubicBezTo>
                    <a:pt x="1653" y="2954"/>
                    <a:pt x="1575" y="2609"/>
                    <a:pt x="1530" y="2292"/>
                  </a:cubicBezTo>
                  <a:cubicBezTo>
                    <a:pt x="1485" y="1975"/>
                    <a:pt x="1377" y="1710"/>
                    <a:pt x="1268" y="1462"/>
                  </a:cubicBezTo>
                  <a:cubicBezTo>
                    <a:pt x="1159" y="1214"/>
                    <a:pt x="1016" y="991"/>
                    <a:pt x="877" y="803"/>
                  </a:cubicBezTo>
                  <a:cubicBezTo>
                    <a:pt x="738" y="615"/>
                    <a:pt x="577" y="466"/>
                    <a:pt x="433" y="332"/>
                  </a:cubicBezTo>
                  <a:cubicBezTo>
                    <a:pt x="289" y="198"/>
                    <a:pt x="98" y="69"/>
                    <a:pt x="10" y="0"/>
                  </a:cubicBezTo>
                </a:path>
              </a:pathLst>
            </a:custGeom>
            <a:noFill/>
            <a:ln w="9525" cap="flat" cmpd="sng">
              <a:solidFill>
                <a:srgbClr val="000000"/>
              </a:solidFill>
              <a:prstDash val="solid"/>
              <a:headEnd type="none" w="med" len="med"/>
              <a:tailEnd type="triangle" w="med" len="med"/>
            </a:ln>
          </p:spPr>
          <p:txBody>
            <a:bodyPr/>
            <a:lstStyle/>
            <a:p>
              <a:endParaRPr lang="zh-CN" altLang="en-US" dirty="0">
                <a:latin typeface="Times New Roman" panose="02020603050405020304" pitchFamily="18" charset="0"/>
              </a:endParaRPr>
            </a:p>
          </p:txBody>
        </p:sp>
        <p:sp>
          <p:nvSpPr>
            <p:cNvPr id="1073752603" name="任意多边形 1073752602"/>
            <p:cNvSpPr/>
            <p:nvPr/>
          </p:nvSpPr>
          <p:spPr>
            <a:xfrm>
              <a:off x="4223" y="7467"/>
              <a:ext cx="3204" cy="3441"/>
            </a:xfrm>
            <a:custGeom>
              <a:avLst/>
              <a:gdLst/>
              <a:ahLst/>
              <a:cxnLst/>
              <a:rect l="0" t="0" r="0" b="0"/>
              <a:pathLst>
                <a:path w="3204" h="3441">
                  <a:moveTo>
                    <a:pt x="1147" y="3441"/>
                  </a:moveTo>
                  <a:cubicBezTo>
                    <a:pt x="998" y="3355"/>
                    <a:pt x="510" y="3292"/>
                    <a:pt x="255" y="2924"/>
                  </a:cubicBezTo>
                  <a:cubicBezTo>
                    <a:pt x="0" y="2556"/>
                    <a:pt x="31" y="1916"/>
                    <a:pt x="195" y="1506"/>
                  </a:cubicBezTo>
                  <a:cubicBezTo>
                    <a:pt x="359" y="1096"/>
                    <a:pt x="547" y="726"/>
                    <a:pt x="1147" y="351"/>
                  </a:cubicBezTo>
                  <a:cubicBezTo>
                    <a:pt x="1613" y="118"/>
                    <a:pt x="2477" y="54"/>
                    <a:pt x="2832" y="27"/>
                  </a:cubicBezTo>
                  <a:cubicBezTo>
                    <a:pt x="3187" y="0"/>
                    <a:pt x="3127" y="16"/>
                    <a:pt x="3204" y="13"/>
                  </a:cubicBezTo>
                </a:path>
              </a:pathLst>
            </a:custGeom>
            <a:noFill/>
            <a:ln w="9525" cap="flat" cmpd="sng">
              <a:solidFill>
                <a:srgbClr val="000000"/>
              </a:solidFill>
              <a:prstDash val="dash"/>
              <a:headEnd type="none" w="med" len="med"/>
              <a:tailEnd type="triangle" w="med" len="med"/>
            </a:ln>
          </p:spPr>
          <p:txBody>
            <a:bodyPr/>
            <a:lstStyle/>
            <a:p>
              <a:endParaRPr lang="zh-CN" altLang="en-US" dirty="0">
                <a:latin typeface="Times New Roman" panose="02020603050405020304" pitchFamily="18" charset="0"/>
              </a:endParaRPr>
            </a:p>
          </p:txBody>
        </p:sp>
      </p:grpSp>
    </p:spTree>
  </p:cSld>
  <p:clrMapOvr>
    <a:masterClrMapping/>
  </p:clrMapOvr>
  <p:transition>
    <p:pull dir="rd"/>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dirty="0">
              <a:latin typeface="Times New Roman" panose="02020603050405020304" pitchFamily="18" charset="0"/>
              <a:ea typeface="微软雅黑 Light" panose="020B0502040204020203" pitchFamily="34" charset="-122"/>
            </a:endParaRPr>
          </a:p>
        </p:txBody>
      </p:sp>
      <p:sp>
        <p:nvSpPr>
          <p:cNvPr id="40" name="文本框 39"/>
          <p:cNvSpPr txBox="1"/>
          <p:nvPr/>
        </p:nvSpPr>
        <p:spPr>
          <a:xfrm>
            <a:off x="6006465" y="2935102"/>
            <a:ext cx="5995670"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i="0" u="none" strike="noStrike" kern="1200" cap="none" spc="0" normalizeH="0" baseline="0" noProof="0" dirty="0">
                <a:ln>
                  <a:noFill/>
                </a:ln>
                <a:effectLst/>
                <a:uLnTx/>
                <a:uFillTx/>
                <a:latin typeface="+mj-ea"/>
                <a:ea typeface="+mj-ea"/>
                <a:cs typeface="+mn-cs"/>
              </a:rPr>
              <a:t>软件测试原则和策略</a:t>
            </a:r>
          </a:p>
        </p:txBody>
      </p:sp>
      <p:sp>
        <p:nvSpPr>
          <p:cNvPr id="48" name="文本框 47"/>
          <p:cNvSpPr txBox="1"/>
          <p:nvPr/>
        </p:nvSpPr>
        <p:spPr>
          <a:xfrm>
            <a:off x="6006465" y="4135755"/>
            <a:ext cx="3712845" cy="400050"/>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effectLst/>
                <a:uLnTx/>
                <a:uFillTx/>
                <a:latin typeface="+mj-ea"/>
                <a:ea typeface="+mj-ea"/>
                <a:cs typeface="+mn-cs"/>
              </a:rPr>
              <a:t>软件测试原则</a:t>
            </a:r>
          </a:p>
        </p:txBody>
      </p:sp>
      <p:sp>
        <p:nvSpPr>
          <p:cNvPr id="50" name="文本框 49"/>
          <p:cNvSpPr txBox="1"/>
          <p:nvPr/>
        </p:nvSpPr>
        <p:spPr>
          <a:xfrm>
            <a:off x="6006465" y="4631055"/>
            <a:ext cx="3712845" cy="400050"/>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effectLst/>
                <a:uLnTx/>
                <a:uFillTx/>
                <a:latin typeface="+mj-ea"/>
                <a:ea typeface="+mj-ea"/>
                <a:cs typeface="+mn-cs"/>
              </a:rPr>
              <a:t>实用测试策略</a:t>
            </a:r>
          </a:p>
        </p:txBody>
      </p:sp>
      <p:sp>
        <p:nvSpPr>
          <p:cNvPr id="3" name="椭圆 2">
            <a:extLst>
              <a:ext uri="{FF2B5EF4-FFF2-40B4-BE49-F238E27FC236}">
                <a16:creationId xmlns:a16="http://schemas.microsoft.com/office/drawing/2014/main" id="{DBBD4620-820D-1048-A5D2-239FFB52FF6D}"/>
              </a:ext>
            </a:extLst>
          </p:cNvPr>
          <p:cNvSpPr/>
          <p:nvPr/>
        </p:nvSpPr>
        <p:spPr>
          <a:xfrm>
            <a:off x="3428455" y="2169500"/>
            <a:ext cx="2362200" cy="23622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600" b="0" i="0" u="none" strike="noStrike" kern="1200" cap="none" spc="0" normalizeH="0" noProof="0" dirty="0">
                <a:ln>
                  <a:noFill/>
                </a:ln>
                <a:solidFill>
                  <a:schemeClr val="lt1"/>
                </a:solidFill>
                <a:effectLst/>
                <a:uLnTx/>
                <a:uFillTx/>
                <a:latin typeface="+mj-lt"/>
                <a:ea typeface="+mj-ea"/>
                <a:cs typeface="+mn-cs"/>
              </a:rPr>
              <a:t>06</a:t>
            </a:r>
            <a:endParaRPr kumimoji="0" lang="zh-CN" altLang="en-US" sz="9600" b="0" i="0" u="none" strike="noStrike" kern="1200" cap="none" spc="0" normalizeH="0" noProof="0" dirty="0">
              <a:ln>
                <a:noFill/>
              </a:ln>
              <a:solidFill>
                <a:schemeClr val="lt1"/>
              </a:solidFill>
              <a:effectLst/>
              <a:uLnTx/>
              <a:uFillTx/>
              <a:latin typeface="+mj-lt"/>
              <a:ea typeface="+mj-ea"/>
              <a:cs typeface="+mn-cs"/>
            </a:endParaRPr>
          </a:p>
        </p:txBody>
      </p:sp>
    </p:spTree>
  </p:cSld>
  <p:clrMapOvr>
    <a:masterClrMapping/>
  </p:clrMapOvr>
  <p:transition spd="slow">
    <p:wip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en-US" dirty="0">
                <a:sym typeface="+mn-ea"/>
              </a:rPr>
              <a:t>4.6 </a:t>
            </a:r>
            <a:r>
              <a:rPr lang="zh-CN" altLang="en-US" dirty="0">
                <a:sym typeface="+mn-ea"/>
              </a:rPr>
              <a:t>软件测试原则和策略</a:t>
            </a:r>
            <a:endParaRPr lang="zh-CN" altLang="en-US" dirty="0"/>
          </a:p>
        </p:txBody>
      </p:sp>
      <p:sp>
        <p:nvSpPr>
          <p:cNvPr id="4" name="文本占位符 3">
            <a:extLst>
              <a:ext uri="{FF2B5EF4-FFF2-40B4-BE49-F238E27FC236}">
                <a16:creationId xmlns:a16="http://schemas.microsoft.com/office/drawing/2014/main" id="{2F969C1F-AA12-6B66-D1D0-BEDCEADFE5AD}"/>
              </a:ext>
            </a:extLst>
          </p:cNvPr>
          <p:cNvSpPr>
            <a:spLocks noGrp="1"/>
          </p:cNvSpPr>
          <p:nvPr>
            <p:ph type="body" sz="quarter" idx="10"/>
          </p:nvPr>
        </p:nvSpPr>
        <p:spPr>
          <a:xfrm>
            <a:off x="696000" y="1322832"/>
            <a:ext cx="5400000" cy="400110"/>
          </a:xfrm>
        </p:spPr>
        <p:txBody>
          <a:bodyPr/>
          <a:lstStyle/>
          <a:p>
            <a:r>
              <a:rPr lang="en-US" altLang="zh-CN" dirty="0"/>
              <a:t>4.6.1 </a:t>
            </a:r>
            <a:r>
              <a:rPr lang="zh-CN" altLang="en-US" dirty="0"/>
              <a:t>软件测试原则</a:t>
            </a:r>
          </a:p>
        </p:txBody>
      </p:sp>
      <p:sp>
        <p:nvSpPr>
          <p:cNvPr id="11" name="文本占位符 10">
            <a:extLst>
              <a:ext uri="{FF2B5EF4-FFF2-40B4-BE49-F238E27FC236}">
                <a16:creationId xmlns:a16="http://schemas.microsoft.com/office/drawing/2014/main" id="{31F7192E-057E-4F62-5757-20DFD5F4B6D4}"/>
              </a:ext>
            </a:extLst>
          </p:cNvPr>
          <p:cNvSpPr>
            <a:spLocks noGrp="1"/>
          </p:cNvSpPr>
          <p:nvPr>
            <p:ph type="body" sz="quarter" idx="11"/>
          </p:nvPr>
        </p:nvSpPr>
        <p:spPr/>
        <p:txBody>
          <a:bodyPr/>
          <a:lstStyle/>
          <a:p>
            <a:endParaRPr lang="zh-CN" altLang="en-US"/>
          </a:p>
        </p:txBody>
      </p:sp>
      <p:sp>
        <p:nvSpPr>
          <p:cNvPr id="66" name="文本框 44"/>
          <p:cNvSpPr txBox="1"/>
          <p:nvPr/>
        </p:nvSpPr>
        <p:spPr>
          <a:xfrm>
            <a:off x="886567" y="3244228"/>
            <a:ext cx="318647" cy="424438"/>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1</a:t>
            </a:r>
            <a:endParaRPr lang="zh-CN" altLang="en-US" sz="2400" b="1" dirty="0">
              <a:solidFill>
                <a:schemeClr val="bg1"/>
              </a:solidFill>
              <a:latin typeface="微软雅黑" panose="020B0503020204020204" charset="-122"/>
              <a:ea typeface="微软雅黑" panose="020B0503020204020204" charset="-122"/>
            </a:endParaRPr>
          </a:p>
        </p:txBody>
      </p:sp>
      <p:sp>
        <p:nvSpPr>
          <p:cNvPr id="24" name="文本框 44"/>
          <p:cNvSpPr txBox="1"/>
          <p:nvPr/>
        </p:nvSpPr>
        <p:spPr>
          <a:xfrm>
            <a:off x="886567" y="5043730"/>
            <a:ext cx="318647" cy="424438"/>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3</a:t>
            </a:r>
            <a:endParaRPr lang="zh-CN" altLang="en-US" sz="2400" b="1" dirty="0">
              <a:solidFill>
                <a:schemeClr val="bg1"/>
              </a:solidFill>
              <a:latin typeface="微软雅黑" panose="020B0503020204020204" charset="-122"/>
              <a:ea typeface="微软雅黑" panose="020B0503020204020204" charset="-122"/>
            </a:endParaRPr>
          </a:p>
        </p:txBody>
      </p:sp>
      <p:sp>
        <p:nvSpPr>
          <p:cNvPr id="45" name="任意多边形 44"/>
          <p:cNvSpPr/>
          <p:nvPr>
            <p:custDataLst>
              <p:tags r:id="rId1"/>
            </p:custDataLst>
          </p:nvPr>
        </p:nvSpPr>
        <p:spPr>
          <a:xfrm>
            <a:off x="6330335" y="1859280"/>
            <a:ext cx="2528280" cy="4257756"/>
          </a:xfrm>
          <a:custGeom>
            <a:avLst/>
            <a:gdLst>
              <a:gd name="connsiteX0" fmla="*/ 2075543 w 2194909"/>
              <a:gd name="connsiteY0" fmla="*/ 0 h 4151086"/>
              <a:gd name="connsiteX1" fmla="*/ 2194909 w 2194909"/>
              <a:gd name="connsiteY1" fmla="*/ 6028 h 4151086"/>
              <a:gd name="connsiteX2" fmla="*/ 2102063 w 2194909"/>
              <a:gd name="connsiteY2" fmla="*/ 10716 h 4151086"/>
              <a:gd name="connsiteX3" fmla="*/ 238732 w 2194909"/>
              <a:gd name="connsiteY3" fmla="*/ 2075543 h 4151086"/>
              <a:gd name="connsiteX4" fmla="*/ 2102063 w 2194909"/>
              <a:gd name="connsiteY4" fmla="*/ 4140370 h 4151086"/>
              <a:gd name="connsiteX5" fmla="*/ 2194909 w 2194909"/>
              <a:gd name="connsiteY5" fmla="*/ 4145059 h 4151086"/>
              <a:gd name="connsiteX6" fmla="*/ 2075543 w 2194909"/>
              <a:gd name="connsiteY6" fmla="*/ 4151086 h 4151086"/>
              <a:gd name="connsiteX7" fmla="*/ 0 w 2194909"/>
              <a:gd name="connsiteY7" fmla="*/ 2075543 h 4151086"/>
              <a:gd name="connsiteX8" fmla="*/ 2075543 w 2194909"/>
              <a:gd name="connsiteY8" fmla="*/ 0 h 4151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4909" h="4151086">
                <a:moveTo>
                  <a:pt x="2075543" y="0"/>
                </a:moveTo>
                <a:lnTo>
                  <a:pt x="2194909" y="6028"/>
                </a:lnTo>
                <a:lnTo>
                  <a:pt x="2102063" y="10716"/>
                </a:lnTo>
                <a:cubicBezTo>
                  <a:pt x="1055458" y="117004"/>
                  <a:pt x="238732" y="1000895"/>
                  <a:pt x="238732" y="2075543"/>
                </a:cubicBezTo>
                <a:cubicBezTo>
                  <a:pt x="238732" y="3150191"/>
                  <a:pt x="1055458" y="4034082"/>
                  <a:pt x="2102063" y="4140370"/>
                </a:cubicBezTo>
                <a:lnTo>
                  <a:pt x="2194909" y="4145059"/>
                </a:lnTo>
                <a:lnTo>
                  <a:pt x="2075543" y="4151086"/>
                </a:lnTo>
                <a:cubicBezTo>
                  <a:pt x="929252" y="4151086"/>
                  <a:pt x="0" y="3221834"/>
                  <a:pt x="0" y="2075543"/>
                </a:cubicBezTo>
                <a:cubicBezTo>
                  <a:pt x="0" y="929252"/>
                  <a:pt x="929252" y="0"/>
                  <a:pt x="2075543"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dirty="0">
              <a:solidFill>
                <a:schemeClr val="tx1"/>
              </a:solidFill>
              <a:latin typeface="Times New Roman" panose="02020603050405020304" pitchFamily="18" charset="0"/>
            </a:endParaRPr>
          </a:p>
        </p:txBody>
      </p:sp>
      <p:sp>
        <p:nvSpPr>
          <p:cNvPr id="46" name="任意多边形 45"/>
          <p:cNvSpPr/>
          <p:nvPr>
            <p:custDataLst>
              <p:tags r:id="rId2"/>
            </p:custDataLst>
          </p:nvPr>
        </p:nvSpPr>
        <p:spPr>
          <a:xfrm rot="10800000">
            <a:off x="3800749" y="1859280"/>
            <a:ext cx="2529586" cy="4257756"/>
          </a:xfrm>
          <a:custGeom>
            <a:avLst/>
            <a:gdLst>
              <a:gd name="connsiteX0" fmla="*/ 2075543 w 2194909"/>
              <a:gd name="connsiteY0" fmla="*/ 0 h 4151086"/>
              <a:gd name="connsiteX1" fmla="*/ 2194909 w 2194909"/>
              <a:gd name="connsiteY1" fmla="*/ 6028 h 4151086"/>
              <a:gd name="connsiteX2" fmla="*/ 2102063 w 2194909"/>
              <a:gd name="connsiteY2" fmla="*/ 10716 h 4151086"/>
              <a:gd name="connsiteX3" fmla="*/ 238732 w 2194909"/>
              <a:gd name="connsiteY3" fmla="*/ 2075543 h 4151086"/>
              <a:gd name="connsiteX4" fmla="*/ 2102063 w 2194909"/>
              <a:gd name="connsiteY4" fmla="*/ 4140370 h 4151086"/>
              <a:gd name="connsiteX5" fmla="*/ 2194909 w 2194909"/>
              <a:gd name="connsiteY5" fmla="*/ 4145059 h 4151086"/>
              <a:gd name="connsiteX6" fmla="*/ 2075543 w 2194909"/>
              <a:gd name="connsiteY6" fmla="*/ 4151086 h 4151086"/>
              <a:gd name="connsiteX7" fmla="*/ 0 w 2194909"/>
              <a:gd name="connsiteY7" fmla="*/ 2075543 h 4151086"/>
              <a:gd name="connsiteX8" fmla="*/ 2075543 w 2194909"/>
              <a:gd name="connsiteY8" fmla="*/ 0 h 4151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4909" h="4151086">
                <a:moveTo>
                  <a:pt x="2075543" y="0"/>
                </a:moveTo>
                <a:lnTo>
                  <a:pt x="2194909" y="6028"/>
                </a:lnTo>
                <a:lnTo>
                  <a:pt x="2102063" y="10716"/>
                </a:lnTo>
                <a:cubicBezTo>
                  <a:pt x="1055458" y="117004"/>
                  <a:pt x="238732" y="1000895"/>
                  <a:pt x="238732" y="2075543"/>
                </a:cubicBezTo>
                <a:cubicBezTo>
                  <a:pt x="238732" y="3150191"/>
                  <a:pt x="1055458" y="4034082"/>
                  <a:pt x="2102063" y="4140370"/>
                </a:cubicBezTo>
                <a:lnTo>
                  <a:pt x="2194909" y="4145059"/>
                </a:lnTo>
                <a:lnTo>
                  <a:pt x="2075543" y="4151086"/>
                </a:lnTo>
                <a:cubicBezTo>
                  <a:pt x="929252" y="4151086"/>
                  <a:pt x="0" y="3221834"/>
                  <a:pt x="0" y="2075543"/>
                </a:cubicBezTo>
                <a:cubicBezTo>
                  <a:pt x="0" y="929252"/>
                  <a:pt x="929252" y="0"/>
                  <a:pt x="2075543"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dirty="0">
              <a:solidFill>
                <a:schemeClr val="tx1"/>
              </a:solidFill>
              <a:latin typeface="Times New Roman" panose="02020603050405020304" pitchFamily="18" charset="0"/>
            </a:endParaRPr>
          </a:p>
        </p:txBody>
      </p:sp>
      <p:sp>
        <p:nvSpPr>
          <p:cNvPr id="51" name="圆角矩形 50"/>
          <p:cNvSpPr/>
          <p:nvPr>
            <p:custDataLst>
              <p:tags r:id="rId3"/>
            </p:custDataLst>
          </p:nvPr>
        </p:nvSpPr>
        <p:spPr>
          <a:xfrm>
            <a:off x="7582068" y="2231390"/>
            <a:ext cx="4463015" cy="648000"/>
          </a:xfrm>
          <a:prstGeom prst="roundRect">
            <a:avLst>
              <a:gd name="adj" fmla="val 5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0" anchor="ctr">
            <a:noAutofit/>
          </a:bodyPr>
          <a:lstStyle/>
          <a:p>
            <a:pPr eaLnBrk="1" hangingPunct="1">
              <a:spcBef>
                <a:spcPts val="0"/>
              </a:spcBef>
              <a:spcAft>
                <a:spcPts val="0"/>
              </a:spcAft>
              <a:defRPr/>
            </a:pPr>
            <a:r>
              <a:rPr lang="zh-CN" altLang="en-US" sz="1600" dirty="0">
                <a:solidFill>
                  <a:schemeClr val="tx1"/>
                </a:solidFill>
              </a:rPr>
              <a:t>穷尽测试不可能，要精心设计测试方案，尽量把软件中的错误测试出来。</a:t>
            </a:r>
          </a:p>
        </p:txBody>
      </p:sp>
      <p:sp>
        <p:nvSpPr>
          <p:cNvPr id="56" name="椭圆 55"/>
          <p:cNvSpPr/>
          <p:nvPr>
            <p:custDataLst>
              <p:tags r:id="rId4"/>
            </p:custDataLst>
          </p:nvPr>
        </p:nvSpPr>
        <p:spPr>
          <a:xfrm>
            <a:off x="7557909" y="2242585"/>
            <a:ext cx="702590" cy="62561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lnSpcReduction="10000"/>
          </a:bodyPr>
          <a:lstStyle/>
          <a:p>
            <a:pPr algn="ctr" eaLnBrk="1" hangingPunct="1">
              <a:spcBef>
                <a:spcPts val="0"/>
              </a:spcBef>
              <a:spcAft>
                <a:spcPts val="0"/>
              </a:spcAft>
              <a:defRPr/>
            </a:pPr>
            <a:r>
              <a:rPr lang="en-US" altLang="zh-CN" sz="2400" b="1" dirty="0">
                <a:solidFill>
                  <a:schemeClr val="bg1"/>
                </a:solidFill>
                <a:latin typeface="微软雅黑 Light" panose="020B0502040204020203" pitchFamily="34" charset="-122"/>
                <a:ea typeface="微软雅黑 Light" panose="020B0502040204020203" pitchFamily="34" charset="-122"/>
              </a:rPr>
              <a:t>5</a:t>
            </a:r>
          </a:p>
        </p:txBody>
      </p:sp>
      <p:sp>
        <p:nvSpPr>
          <p:cNvPr id="58" name="圆角矩形 57"/>
          <p:cNvSpPr/>
          <p:nvPr>
            <p:custDataLst>
              <p:tags r:id="rId5"/>
            </p:custDataLst>
          </p:nvPr>
        </p:nvSpPr>
        <p:spPr>
          <a:xfrm>
            <a:off x="6867072" y="3235894"/>
            <a:ext cx="4799945" cy="648000"/>
          </a:xfrm>
          <a:prstGeom prst="roundRect">
            <a:avLst>
              <a:gd name="adj" fmla="val 5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0" anchor="ctr">
            <a:noAutofit/>
          </a:bodyPr>
          <a:lstStyle/>
          <a:p>
            <a:pPr eaLnBrk="1" hangingPunct="1">
              <a:spcBef>
                <a:spcPts val="0"/>
              </a:spcBef>
              <a:spcAft>
                <a:spcPts val="0"/>
              </a:spcAft>
              <a:defRPr/>
            </a:pPr>
            <a:r>
              <a:rPr lang="en-US" altLang="zh-CN" sz="1600" dirty="0">
                <a:solidFill>
                  <a:schemeClr val="tx1"/>
                </a:solidFill>
              </a:rPr>
              <a:t>Pareto</a:t>
            </a:r>
            <a:r>
              <a:rPr lang="zh-CN" altLang="en-US" sz="1600" dirty="0">
                <a:solidFill>
                  <a:schemeClr val="tx1"/>
                </a:solidFill>
              </a:rPr>
              <a:t>原理：测试发现的错误中的</a:t>
            </a:r>
            <a:r>
              <a:rPr lang="en-US" altLang="zh-CN" sz="1600" dirty="0">
                <a:solidFill>
                  <a:schemeClr val="tx1"/>
                </a:solidFill>
              </a:rPr>
              <a:t>80%</a:t>
            </a:r>
            <a:r>
              <a:rPr lang="zh-CN" altLang="en-US" sz="1600" dirty="0">
                <a:solidFill>
                  <a:schemeClr val="tx1"/>
                </a:solidFill>
              </a:rPr>
              <a:t>很可能是由程序中</a:t>
            </a:r>
            <a:r>
              <a:rPr lang="en-US" altLang="zh-CN" sz="1600" dirty="0">
                <a:solidFill>
                  <a:schemeClr val="tx1"/>
                </a:solidFill>
              </a:rPr>
              <a:t>20%</a:t>
            </a:r>
            <a:r>
              <a:rPr lang="zh-CN" altLang="en-US" sz="1600" dirty="0">
                <a:solidFill>
                  <a:schemeClr val="tx1"/>
                </a:solidFill>
              </a:rPr>
              <a:t>的模块造成的。</a:t>
            </a:r>
          </a:p>
        </p:txBody>
      </p:sp>
      <p:sp>
        <p:nvSpPr>
          <p:cNvPr id="59" name="椭圆 58"/>
          <p:cNvSpPr/>
          <p:nvPr>
            <p:custDataLst>
              <p:tags r:id="rId6"/>
            </p:custDataLst>
          </p:nvPr>
        </p:nvSpPr>
        <p:spPr>
          <a:xfrm>
            <a:off x="6844871" y="3247089"/>
            <a:ext cx="702590" cy="62561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lnSpcReduction="10000"/>
          </a:bodyPr>
          <a:lstStyle/>
          <a:p>
            <a:pPr algn="ctr" eaLnBrk="1" hangingPunct="1">
              <a:spcBef>
                <a:spcPts val="0"/>
              </a:spcBef>
              <a:spcAft>
                <a:spcPts val="0"/>
              </a:spcAft>
              <a:defRPr/>
            </a:pPr>
            <a:r>
              <a:rPr lang="en-US" altLang="zh-CN" sz="2400" b="1" dirty="0">
                <a:solidFill>
                  <a:schemeClr val="bg1"/>
                </a:solidFill>
                <a:latin typeface="微软雅黑 Light" panose="020B0502040204020203" pitchFamily="34" charset="-122"/>
                <a:ea typeface="微软雅黑 Light" panose="020B0502040204020203" pitchFamily="34" charset="-122"/>
              </a:rPr>
              <a:t>6</a:t>
            </a:r>
          </a:p>
        </p:txBody>
      </p:sp>
      <p:sp>
        <p:nvSpPr>
          <p:cNvPr id="61" name="圆角矩形 60"/>
          <p:cNvSpPr/>
          <p:nvPr>
            <p:custDataLst>
              <p:tags r:id="rId7"/>
            </p:custDataLst>
          </p:nvPr>
        </p:nvSpPr>
        <p:spPr>
          <a:xfrm>
            <a:off x="6754762" y="4240398"/>
            <a:ext cx="4912254" cy="648000"/>
          </a:xfrm>
          <a:prstGeom prst="roundRect">
            <a:avLst>
              <a:gd name="adj" fmla="val 5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0" anchor="ctr">
            <a:normAutofit/>
          </a:bodyPr>
          <a:lstStyle/>
          <a:p>
            <a:pPr eaLnBrk="1" hangingPunct="1">
              <a:spcBef>
                <a:spcPts val="0"/>
              </a:spcBef>
              <a:spcAft>
                <a:spcPts val="0"/>
              </a:spcAft>
              <a:defRPr/>
            </a:pPr>
            <a:r>
              <a:rPr lang="zh-CN" altLang="en-US" sz="1600" dirty="0">
                <a:solidFill>
                  <a:schemeClr val="tx1"/>
                </a:solidFill>
              </a:rPr>
              <a:t>在软件需求分析阶段，就应制订测试计划。</a:t>
            </a:r>
          </a:p>
        </p:txBody>
      </p:sp>
      <p:sp>
        <p:nvSpPr>
          <p:cNvPr id="62" name="椭圆 61"/>
          <p:cNvSpPr/>
          <p:nvPr>
            <p:custDataLst>
              <p:tags r:id="rId8"/>
            </p:custDataLst>
          </p:nvPr>
        </p:nvSpPr>
        <p:spPr>
          <a:xfrm>
            <a:off x="6731255" y="4251593"/>
            <a:ext cx="702590" cy="62561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lnSpcReduction="10000"/>
          </a:bodyPr>
          <a:lstStyle/>
          <a:p>
            <a:pPr algn="ctr" eaLnBrk="1" hangingPunct="1">
              <a:spcBef>
                <a:spcPts val="0"/>
              </a:spcBef>
              <a:spcAft>
                <a:spcPts val="0"/>
              </a:spcAft>
              <a:defRPr/>
            </a:pPr>
            <a:r>
              <a:rPr lang="en-US" altLang="zh-CN" sz="2400" b="1" dirty="0">
                <a:solidFill>
                  <a:schemeClr val="bg1"/>
                </a:solidFill>
                <a:latin typeface="微软雅黑 Light" panose="020B0502040204020203" pitchFamily="34" charset="-122"/>
                <a:ea typeface="微软雅黑 Light" panose="020B0502040204020203" pitchFamily="34" charset="-122"/>
              </a:rPr>
              <a:t>7</a:t>
            </a:r>
          </a:p>
        </p:txBody>
      </p:sp>
      <p:sp>
        <p:nvSpPr>
          <p:cNvPr id="64" name="圆角矩形 63"/>
          <p:cNvSpPr/>
          <p:nvPr>
            <p:custDataLst>
              <p:tags r:id="rId9"/>
            </p:custDataLst>
          </p:nvPr>
        </p:nvSpPr>
        <p:spPr>
          <a:xfrm>
            <a:off x="7660424" y="5244902"/>
            <a:ext cx="4384006" cy="648000"/>
          </a:xfrm>
          <a:prstGeom prst="roundRect">
            <a:avLst>
              <a:gd name="adj" fmla="val 5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0" anchor="ctr">
            <a:noAutofit/>
          </a:bodyPr>
          <a:lstStyle/>
          <a:p>
            <a:pPr eaLnBrk="1" hangingPunct="1">
              <a:spcBef>
                <a:spcPts val="0"/>
              </a:spcBef>
              <a:spcAft>
                <a:spcPts val="0"/>
              </a:spcAft>
              <a:defRPr/>
            </a:pPr>
            <a:r>
              <a:rPr lang="zh-CN" altLang="en-US" sz="1600" dirty="0">
                <a:solidFill>
                  <a:schemeClr val="tx1"/>
                </a:solidFill>
              </a:rPr>
              <a:t>应长期保存所有的测试用例，直至该程序被废弃。</a:t>
            </a:r>
          </a:p>
        </p:txBody>
      </p:sp>
      <p:sp>
        <p:nvSpPr>
          <p:cNvPr id="65" name="椭圆 64"/>
          <p:cNvSpPr/>
          <p:nvPr>
            <p:custDataLst>
              <p:tags r:id="rId10"/>
            </p:custDataLst>
          </p:nvPr>
        </p:nvSpPr>
        <p:spPr>
          <a:xfrm>
            <a:off x="7638223" y="5256097"/>
            <a:ext cx="702590" cy="62561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lnSpcReduction="10000"/>
          </a:bodyPr>
          <a:lstStyle/>
          <a:p>
            <a:pPr algn="ctr" eaLnBrk="1" hangingPunct="1">
              <a:spcBef>
                <a:spcPts val="0"/>
              </a:spcBef>
              <a:spcAft>
                <a:spcPts val="0"/>
              </a:spcAft>
              <a:defRPr/>
            </a:pPr>
            <a:r>
              <a:rPr lang="en-US" altLang="zh-CN" sz="2400" b="1" dirty="0">
                <a:solidFill>
                  <a:schemeClr val="bg1"/>
                </a:solidFill>
                <a:latin typeface="微软雅黑 Light" panose="020B0502040204020203" pitchFamily="34" charset="-122"/>
                <a:ea typeface="微软雅黑 Light" panose="020B0502040204020203" pitchFamily="34" charset="-122"/>
              </a:rPr>
              <a:t>8</a:t>
            </a:r>
          </a:p>
        </p:txBody>
      </p:sp>
      <p:sp>
        <p:nvSpPr>
          <p:cNvPr id="68" name="圆角矩形 67"/>
          <p:cNvSpPr/>
          <p:nvPr>
            <p:custDataLst>
              <p:tags r:id="rId11"/>
            </p:custDataLst>
          </p:nvPr>
        </p:nvSpPr>
        <p:spPr>
          <a:xfrm rot="10800000" flipV="1">
            <a:off x="334158" y="2231389"/>
            <a:ext cx="4732689" cy="648000"/>
          </a:xfrm>
          <a:prstGeom prst="roundRect">
            <a:avLst>
              <a:gd name="adj" fmla="val 50000"/>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Ins="720000" anchor="ctr">
            <a:noAutofit/>
          </a:bodyPr>
          <a:lstStyle/>
          <a:p>
            <a:pPr algn="r" eaLnBrk="1" hangingPunct="1">
              <a:spcBef>
                <a:spcPts val="0"/>
              </a:spcBef>
              <a:spcAft>
                <a:spcPts val="0"/>
              </a:spcAft>
              <a:defRPr/>
            </a:pPr>
            <a:r>
              <a:rPr lang="zh-CN" altLang="en-US" sz="1600" dirty="0">
                <a:solidFill>
                  <a:schemeClr val="tx1"/>
                </a:solidFill>
              </a:rPr>
              <a:t>最好不要由设计、编写某个软件的部门来测试该软件系统。</a:t>
            </a:r>
          </a:p>
        </p:txBody>
      </p:sp>
      <p:sp>
        <p:nvSpPr>
          <p:cNvPr id="69" name="椭圆 68"/>
          <p:cNvSpPr/>
          <p:nvPr>
            <p:custDataLst>
              <p:tags r:id="rId12"/>
            </p:custDataLst>
          </p:nvPr>
        </p:nvSpPr>
        <p:spPr>
          <a:xfrm>
            <a:off x="4387764" y="2242584"/>
            <a:ext cx="702590" cy="62561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lnSpcReduction="10000"/>
          </a:bodyPr>
          <a:lstStyle/>
          <a:p>
            <a:pPr algn="ctr" eaLnBrk="1" hangingPunct="1">
              <a:spcBef>
                <a:spcPts val="0"/>
              </a:spcBef>
              <a:spcAft>
                <a:spcPts val="0"/>
              </a:spcAft>
              <a:defRPr/>
            </a:pPr>
            <a:r>
              <a:rPr lang="en-US" altLang="zh-CN" sz="2400" b="1" dirty="0">
                <a:solidFill>
                  <a:schemeClr val="bg1"/>
                </a:solidFill>
                <a:latin typeface="微软雅黑 Light" panose="020B0502040204020203" pitchFamily="34" charset="-122"/>
                <a:ea typeface="微软雅黑 Light" panose="020B0502040204020203" pitchFamily="34" charset="-122"/>
              </a:rPr>
              <a:t>1</a:t>
            </a:r>
          </a:p>
        </p:txBody>
      </p:sp>
      <p:sp>
        <p:nvSpPr>
          <p:cNvPr id="71" name="圆角矩形 70"/>
          <p:cNvSpPr/>
          <p:nvPr>
            <p:custDataLst>
              <p:tags r:id="rId13"/>
            </p:custDataLst>
          </p:nvPr>
        </p:nvSpPr>
        <p:spPr>
          <a:xfrm rot="10800000" flipV="1">
            <a:off x="1056338" y="3235893"/>
            <a:ext cx="4724854" cy="648000"/>
          </a:xfrm>
          <a:prstGeom prst="roundRect">
            <a:avLst>
              <a:gd name="adj" fmla="val 50000"/>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Ins="720000" anchor="ctr">
            <a:noAutofit/>
          </a:bodyPr>
          <a:lstStyle/>
          <a:p>
            <a:pPr algn="r" eaLnBrk="1" hangingPunct="1">
              <a:spcBef>
                <a:spcPts val="0"/>
              </a:spcBef>
              <a:spcAft>
                <a:spcPts val="0"/>
              </a:spcAft>
              <a:defRPr/>
            </a:pPr>
            <a:r>
              <a:rPr lang="zh-CN" altLang="en-US" sz="1600" dirty="0">
                <a:solidFill>
                  <a:schemeClr val="tx1"/>
                </a:solidFill>
              </a:rPr>
              <a:t>测试用例既要有输入数据，又要有对应的预期结果。</a:t>
            </a:r>
          </a:p>
        </p:txBody>
      </p:sp>
      <p:sp>
        <p:nvSpPr>
          <p:cNvPr id="72" name="椭圆 71"/>
          <p:cNvSpPr/>
          <p:nvPr>
            <p:custDataLst>
              <p:tags r:id="rId14"/>
            </p:custDataLst>
          </p:nvPr>
        </p:nvSpPr>
        <p:spPr>
          <a:xfrm>
            <a:off x="5101455" y="3247088"/>
            <a:ext cx="702590" cy="62561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lnSpcReduction="10000"/>
          </a:bodyPr>
          <a:lstStyle/>
          <a:p>
            <a:pPr algn="ctr" eaLnBrk="1" hangingPunct="1">
              <a:spcBef>
                <a:spcPts val="0"/>
              </a:spcBef>
              <a:spcAft>
                <a:spcPts val="0"/>
              </a:spcAft>
              <a:defRPr/>
            </a:pPr>
            <a:r>
              <a:rPr lang="en-US" altLang="zh-CN" sz="2400" b="1" dirty="0">
                <a:solidFill>
                  <a:schemeClr val="bg1"/>
                </a:solidFill>
                <a:latin typeface="微软雅黑 Light" panose="020B0502040204020203" pitchFamily="34" charset="-122"/>
                <a:ea typeface="微软雅黑 Light" panose="020B0502040204020203" pitchFamily="34" charset="-122"/>
              </a:rPr>
              <a:t>2</a:t>
            </a:r>
          </a:p>
        </p:txBody>
      </p:sp>
      <p:sp>
        <p:nvSpPr>
          <p:cNvPr id="74" name="圆角矩形 73"/>
          <p:cNvSpPr/>
          <p:nvPr>
            <p:custDataLst>
              <p:tags r:id="rId15"/>
            </p:custDataLst>
          </p:nvPr>
        </p:nvSpPr>
        <p:spPr>
          <a:xfrm rot="10800000" flipV="1">
            <a:off x="1056338" y="4240397"/>
            <a:ext cx="4878953" cy="648000"/>
          </a:xfrm>
          <a:prstGeom prst="roundRect">
            <a:avLst>
              <a:gd name="adj" fmla="val 50000"/>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Ins="720000" anchor="ctr">
            <a:noAutofit/>
          </a:bodyPr>
          <a:lstStyle/>
          <a:p>
            <a:pPr algn="r" eaLnBrk="1" hangingPunct="1">
              <a:spcBef>
                <a:spcPts val="0"/>
              </a:spcBef>
              <a:spcAft>
                <a:spcPts val="0"/>
              </a:spcAft>
              <a:defRPr/>
            </a:pPr>
            <a:r>
              <a:rPr lang="zh-CN" altLang="en-US" sz="1600" dirty="0">
                <a:solidFill>
                  <a:schemeClr val="tx1"/>
                </a:solidFill>
              </a:rPr>
              <a:t>不仅要输入合理的输入数据，还应选用不合理的输入作为测试用例。</a:t>
            </a:r>
          </a:p>
        </p:txBody>
      </p:sp>
      <p:sp>
        <p:nvSpPr>
          <p:cNvPr id="75" name="椭圆 74"/>
          <p:cNvSpPr/>
          <p:nvPr>
            <p:custDataLst>
              <p:tags r:id="rId16"/>
            </p:custDataLst>
          </p:nvPr>
        </p:nvSpPr>
        <p:spPr>
          <a:xfrm>
            <a:off x="5256860" y="4251592"/>
            <a:ext cx="702590" cy="62561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lnSpcReduction="10000"/>
          </a:bodyPr>
          <a:lstStyle/>
          <a:p>
            <a:pPr algn="ctr" eaLnBrk="1" hangingPunct="1">
              <a:spcBef>
                <a:spcPts val="0"/>
              </a:spcBef>
              <a:spcAft>
                <a:spcPts val="0"/>
              </a:spcAft>
              <a:defRPr/>
            </a:pPr>
            <a:r>
              <a:rPr lang="en-US" altLang="zh-CN" sz="2400" b="1" dirty="0">
                <a:solidFill>
                  <a:schemeClr val="bg1"/>
                </a:solidFill>
                <a:latin typeface="微软雅黑 Light" panose="020B0502040204020203" pitchFamily="34" charset="-122"/>
                <a:ea typeface="微软雅黑 Light" panose="020B0502040204020203" pitchFamily="34" charset="-122"/>
              </a:rPr>
              <a:t>3</a:t>
            </a:r>
          </a:p>
        </p:txBody>
      </p:sp>
      <p:sp>
        <p:nvSpPr>
          <p:cNvPr id="77" name="圆角矩形 76"/>
          <p:cNvSpPr/>
          <p:nvPr>
            <p:custDataLst>
              <p:tags r:id="rId17"/>
            </p:custDataLst>
          </p:nvPr>
        </p:nvSpPr>
        <p:spPr>
          <a:xfrm rot="10800000" flipV="1">
            <a:off x="213360" y="5244901"/>
            <a:ext cx="4794068" cy="648000"/>
          </a:xfrm>
          <a:prstGeom prst="roundRect">
            <a:avLst>
              <a:gd name="adj" fmla="val 50000"/>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Ins="720000" anchor="ctr">
            <a:noAutofit/>
          </a:bodyPr>
          <a:lstStyle/>
          <a:p>
            <a:pPr algn="r" eaLnBrk="1" hangingPunct="1">
              <a:spcBef>
                <a:spcPts val="0"/>
              </a:spcBef>
              <a:spcAft>
                <a:spcPts val="0"/>
              </a:spcAft>
              <a:defRPr/>
            </a:pPr>
            <a:r>
              <a:rPr lang="zh-CN" altLang="en-US" sz="1600" dirty="0">
                <a:solidFill>
                  <a:schemeClr val="tx1"/>
                </a:solidFill>
              </a:rPr>
              <a:t>除了检查程序是否做了应做的工作，还应检查程序是否做了它不应做的工作。</a:t>
            </a:r>
          </a:p>
        </p:txBody>
      </p:sp>
      <p:sp>
        <p:nvSpPr>
          <p:cNvPr id="78" name="椭圆 77"/>
          <p:cNvSpPr/>
          <p:nvPr>
            <p:custDataLst>
              <p:tags r:id="rId18"/>
            </p:custDataLst>
          </p:nvPr>
        </p:nvSpPr>
        <p:spPr>
          <a:xfrm>
            <a:off x="4328997" y="5256096"/>
            <a:ext cx="702590" cy="62561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lnSpcReduction="10000"/>
          </a:bodyPr>
          <a:lstStyle/>
          <a:p>
            <a:pPr algn="ctr" eaLnBrk="1" hangingPunct="1">
              <a:spcBef>
                <a:spcPts val="0"/>
              </a:spcBef>
              <a:spcAft>
                <a:spcPts val="0"/>
              </a:spcAft>
              <a:defRPr/>
            </a:pPr>
            <a:r>
              <a:rPr lang="en-US" altLang="zh-CN" sz="2400" b="1" dirty="0">
                <a:solidFill>
                  <a:schemeClr val="bg1"/>
                </a:solidFill>
                <a:latin typeface="微软雅黑 Light" panose="020B0502040204020203" pitchFamily="34" charset="-122"/>
                <a:ea typeface="微软雅黑 Light" panose="020B0502040204020203" pitchFamily="34" charset="-122"/>
              </a:rPr>
              <a:t>4</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en-US" dirty="0">
                <a:sym typeface="+mn-ea"/>
              </a:rPr>
              <a:t>4.6 </a:t>
            </a:r>
            <a:r>
              <a:rPr lang="zh-CN" altLang="en-US" dirty="0">
                <a:sym typeface="+mn-ea"/>
              </a:rPr>
              <a:t>软件测试原则和策略</a:t>
            </a:r>
            <a:endParaRPr lang="zh-CN" altLang="en-US" dirty="0"/>
          </a:p>
        </p:txBody>
      </p:sp>
      <p:sp>
        <p:nvSpPr>
          <p:cNvPr id="16" name="文本占位符 15">
            <a:extLst>
              <a:ext uri="{FF2B5EF4-FFF2-40B4-BE49-F238E27FC236}">
                <a16:creationId xmlns:a16="http://schemas.microsoft.com/office/drawing/2014/main" id="{309D9BDE-05CE-D215-9AFD-5A38C3EC591C}"/>
              </a:ext>
            </a:extLst>
          </p:cNvPr>
          <p:cNvSpPr>
            <a:spLocks noGrp="1"/>
          </p:cNvSpPr>
          <p:nvPr>
            <p:ph type="body" sz="quarter" idx="10"/>
          </p:nvPr>
        </p:nvSpPr>
        <p:spPr>
          <a:xfrm>
            <a:off x="696000" y="1322832"/>
            <a:ext cx="5400000" cy="400110"/>
          </a:xfrm>
        </p:spPr>
        <p:txBody>
          <a:bodyPr/>
          <a:lstStyle/>
          <a:p>
            <a:r>
              <a:rPr lang="en-US" altLang="zh-CN" dirty="0"/>
              <a:t>4.6.2 </a:t>
            </a:r>
            <a:r>
              <a:rPr lang="zh-CN" altLang="en-US" dirty="0"/>
              <a:t>实用测试策略</a:t>
            </a:r>
          </a:p>
        </p:txBody>
      </p:sp>
      <p:sp>
        <p:nvSpPr>
          <p:cNvPr id="24" name="文本占位符 23">
            <a:extLst>
              <a:ext uri="{FF2B5EF4-FFF2-40B4-BE49-F238E27FC236}">
                <a16:creationId xmlns:a16="http://schemas.microsoft.com/office/drawing/2014/main" id="{55F959CF-737A-4B6C-8F2F-E48A0EC2ECA0}"/>
              </a:ext>
            </a:extLst>
          </p:cNvPr>
          <p:cNvSpPr>
            <a:spLocks noGrp="1"/>
          </p:cNvSpPr>
          <p:nvPr>
            <p:ph type="body" sz="quarter" idx="11"/>
          </p:nvPr>
        </p:nvSpPr>
        <p:spPr/>
        <p:txBody>
          <a:bodyPr/>
          <a:lstStyle/>
          <a:p>
            <a:endParaRPr lang="zh-CN" altLang="en-US"/>
          </a:p>
        </p:txBody>
      </p:sp>
      <p:sp>
        <p:nvSpPr>
          <p:cNvPr id="7" name="文本框 6"/>
          <p:cNvSpPr txBox="1"/>
          <p:nvPr/>
        </p:nvSpPr>
        <p:spPr>
          <a:xfrm>
            <a:off x="754380" y="2931160"/>
            <a:ext cx="476250" cy="158496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实用测试策略</a:t>
            </a:r>
          </a:p>
        </p:txBody>
      </p:sp>
      <p:sp>
        <p:nvSpPr>
          <p:cNvPr id="6" name="MH_Other_1"/>
          <p:cNvSpPr>
            <a:spLocks noChangeArrowheads="1"/>
          </p:cNvSpPr>
          <p:nvPr>
            <p:custDataLst>
              <p:tags r:id="rId1"/>
            </p:custDataLst>
          </p:nvPr>
        </p:nvSpPr>
        <p:spPr bwMode="auto">
          <a:xfrm>
            <a:off x="784860" y="2171065"/>
            <a:ext cx="710565" cy="494665"/>
          </a:xfrm>
          <a:prstGeom prst="rect">
            <a:avLst/>
          </a:prstGeom>
          <a:solidFill>
            <a:srgbClr val="25B4E9"/>
          </a:solidFill>
          <a:ln w="9525">
            <a:noFill/>
            <a:miter lim="800000"/>
          </a:ln>
        </p:spPr>
        <p:txBody>
          <a:bodyPr anchor="ctr"/>
          <a:lstStyle/>
          <a:p>
            <a:pPr algn="ctr" eaLnBrk="1" hangingPunct="1"/>
            <a:r>
              <a:rPr lang="en-US" altLang="zh-CN" sz="2400" b="1" dirty="0">
                <a:solidFill>
                  <a:srgbClr val="FFFFFF"/>
                </a:solidFill>
                <a:latin typeface="Times New Roman" panose="02020603050405020304" pitchFamily="18" charset="0"/>
                <a:ea typeface="微软雅黑" panose="020B0503020204020204" charset="-122"/>
              </a:rPr>
              <a:t>01</a:t>
            </a:r>
            <a:endParaRPr lang="zh-CN" altLang="en-US" sz="2400" b="1" dirty="0">
              <a:solidFill>
                <a:srgbClr val="FFFFFF"/>
              </a:solidFill>
              <a:latin typeface="Times New Roman" panose="02020603050405020304" pitchFamily="18" charset="0"/>
              <a:ea typeface="微软雅黑" panose="020B0503020204020204" charset="-122"/>
            </a:endParaRPr>
          </a:p>
        </p:txBody>
      </p:sp>
      <p:sp>
        <p:nvSpPr>
          <p:cNvPr id="4" name="MH_Other_2"/>
          <p:cNvSpPr>
            <a:spLocks noChangeArrowheads="1"/>
          </p:cNvSpPr>
          <p:nvPr>
            <p:custDataLst>
              <p:tags r:id="rId2"/>
            </p:custDataLst>
          </p:nvPr>
        </p:nvSpPr>
        <p:spPr bwMode="auto">
          <a:xfrm>
            <a:off x="1535430" y="2273935"/>
            <a:ext cx="563245" cy="391795"/>
          </a:xfrm>
          <a:prstGeom prst="rect">
            <a:avLst/>
          </a:prstGeom>
          <a:solidFill>
            <a:srgbClr val="ACE3F6"/>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8" name="MH_Other_3"/>
          <p:cNvSpPr>
            <a:spLocks noChangeArrowheads="1"/>
          </p:cNvSpPr>
          <p:nvPr>
            <p:custDataLst>
              <p:tags r:id="rId3"/>
            </p:custDataLst>
          </p:nvPr>
        </p:nvSpPr>
        <p:spPr bwMode="auto">
          <a:xfrm>
            <a:off x="945515" y="2693670"/>
            <a:ext cx="549910" cy="382905"/>
          </a:xfrm>
          <a:prstGeom prst="rect">
            <a:avLst/>
          </a:prstGeom>
          <a:solidFill>
            <a:srgbClr val="67CBEF"/>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9" name="MH_Other_4"/>
          <p:cNvSpPr>
            <a:spLocks noChangeArrowheads="1"/>
          </p:cNvSpPr>
          <p:nvPr>
            <p:custDataLst>
              <p:tags r:id="rId4"/>
            </p:custDataLst>
          </p:nvPr>
        </p:nvSpPr>
        <p:spPr bwMode="auto">
          <a:xfrm>
            <a:off x="1535430" y="2693670"/>
            <a:ext cx="710565" cy="326390"/>
          </a:xfrm>
          <a:prstGeom prst="rect">
            <a:avLst/>
          </a:prstGeom>
          <a:solidFill>
            <a:srgbClr val="D9F2FB"/>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10" name="MH_SubTitle_1"/>
          <p:cNvSpPr/>
          <p:nvPr>
            <p:custDataLst>
              <p:tags r:id="rId5"/>
            </p:custDataLst>
          </p:nvPr>
        </p:nvSpPr>
        <p:spPr>
          <a:xfrm>
            <a:off x="2529290" y="2459402"/>
            <a:ext cx="3118485" cy="325025"/>
          </a:xfrm>
          <a:prstGeom prst="rect">
            <a:avLst/>
          </a:prstGeom>
        </p:spPr>
        <p:txBody>
          <a:bodyPr lIns="0" tIns="0" rIns="0" bIns="0" anchor="ctr">
            <a:spAutoFit/>
          </a:bodyPr>
          <a:lstStyle/>
          <a:p>
            <a:pPr marL="0" indent="0" algn="l" fontAlgn="auto">
              <a:lnSpc>
                <a:spcPct val="130000"/>
              </a:lnSpc>
            </a:pPr>
            <a:r>
              <a:rPr dirty="0" err="1">
                <a:sym typeface="+mn-ea"/>
              </a:rPr>
              <a:t>用因果图法检查规范</a:t>
            </a:r>
            <a:endParaRPr lang="zh-CN" altLang="en-US" dirty="0">
              <a:sym typeface="+mn-ea"/>
            </a:endParaRPr>
          </a:p>
        </p:txBody>
      </p:sp>
      <p:sp>
        <p:nvSpPr>
          <p:cNvPr id="11" name="MH_Other_5"/>
          <p:cNvSpPr>
            <a:spLocks noChangeArrowheads="1"/>
          </p:cNvSpPr>
          <p:nvPr>
            <p:custDataLst>
              <p:tags r:id="rId6"/>
            </p:custDataLst>
          </p:nvPr>
        </p:nvSpPr>
        <p:spPr bwMode="auto">
          <a:xfrm>
            <a:off x="788120" y="4981414"/>
            <a:ext cx="710565" cy="494665"/>
          </a:xfrm>
          <a:prstGeom prst="rect">
            <a:avLst/>
          </a:prstGeom>
          <a:solidFill>
            <a:srgbClr val="4FB469"/>
          </a:solidFill>
          <a:ln w="9525">
            <a:noFill/>
            <a:miter lim="800000"/>
          </a:ln>
        </p:spPr>
        <p:txBody>
          <a:bodyPr anchor="ctr"/>
          <a:lstStyle/>
          <a:p>
            <a:pPr algn="ctr" eaLnBrk="1" hangingPunct="1"/>
            <a:r>
              <a:rPr lang="en-US" altLang="zh-CN" sz="2400" b="1" dirty="0">
                <a:solidFill>
                  <a:srgbClr val="FFFFFF"/>
                </a:solidFill>
                <a:latin typeface="Times New Roman" panose="02020603050405020304" pitchFamily="18" charset="0"/>
                <a:ea typeface="微软雅黑" panose="020B0503020204020204" charset="-122"/>
              </a:rPr>
              <a:t>03</a:t>
            </a:r>
            <a:endParaRPr lang="zh-CN" altLang="en-US" sz="2400" b="1" dirty="0">
              <a:solidFill>
                <a:srgbClr val="FFFFFF"/>
              </a:solidFill>
              <a:latin typeface="Times New Roman" panose="02020603050405020304" pitchFamily="18" charset="0"/>
              <a:ea typeface="微软雅黑" panose="020B0503020204020204" charset="-122"/>
            </a:endParaRPr>
          </a:p>
        </p:txBody>
      </p:sp>
      <p:sp>
        <p:nvSpPr>
          <p:cNvPr id="12" name="MH_Other_6"/>
          <p:cNvSpPr>
            <a:spLocks noChangeArrowheads="1"/>
          </p:cNvSpPr>
          <p:nvPr>
            <p:custDataLst>
              <p:tags r:id="rId7"/>
            </p:custDataLst>
          </p:nvPr>
        </p:nvSpPr>
        <p:spPr bwMode="auto">
          <a:xfrm>
            <a:off x="1538690" y="5084284"/>
            <a:ext cx="563245" cy="391795"/>
          </a:xfrm>
          <a:prstGeom prst="rect">
            <a:avLst/>
          </a:prstGeom>
          <a:solidFill>
            <a:srgbClr val="B6E0C1"/>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13" name="MH_Other_7"/>
          <p:cNvSpPr>
            <a:spLocks noChangeArrowheads="1"/>
          </p:cNvSpPr>
          <p:nvPr>
            <p:custDataLst>
              <p:tags r:id="rId8"/>
            </p:custDataLst>
          </p:nvPr>
        </p:nvSpPr>
        <p:spPr bwMode="auto">
          <a:xfrm>
            <a:off x="948775" y="5504019"/>
            <a:ext cx="549910" cy="382905"/>
          </a:xfrm>
          <a:prstGeom prst="rect">
            <a:avLst/>
          </a:prstGeom>
          <a:solidFill>
            <a:srgbClr val="8DCF9E"/>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14" name="MH_Other_8"/>
          <p:cNvSpPr>
            <a:spLocks noChangeArrowheads="1"/>
          </p:cNvSpPr>
          <p:nvPr>
            <p:custDataLst>
              <p:tags r:id="rId9"/>
            </p:custDataLst>
          </p:nvPr>
        </p:nvSpPr>
        <p:spPr bwMode="auto">
          <a:xfrm>
            <a:off x="1538690" y="5504019"/>
            <a:ext cx="710565" cy="326390"/>
          </a:xfrm>
          <a:prstGeom prst="rect">
            <a:avLst/>
          </a:prstGeom>
          <a:solidFill>
            <a:srgbClr val="E1F3E5"/>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15" name="MH_SubTitle_3"/>
          <p:cNvSpPr/>
          <p:nvPr>
            <p:custDataLst>
              <p:tags r:id="rId10"/>
            </p:custDataLst>
          </p:nvPr>
        </p:nvSpPr>
        <p:spPr>
          <a:xfrm>
            <a:off x="2529290" y="4909653"/>
            <a:ext cx="3081020" cy="1045223"/>
          </a:xfrm>
          <a:prstGeom prst="rect">
            <a:avLst/>
          </a:prstGeom>
        </p:spPr>
        <p:txBody>
          <a:bodyPr lIns="0" tIns="0" rIns="0" bIns="0" anchor="ctr">
            <a:spAutoFit/>
          </a:bodyPr>
          <a:lstStyle/>
          <a:p>
            <a:pPr marL="0" indent="0" algn="l" fontAlgn="auto">
              <a:lnSpc>
                <a:spcPct val="130000"/>
              </a:lnSpc>
            </a:pPr>
            <a:r>
              <a:rPr dirty="0" err="1">
                <a:sym typeface="+mn-ea"/>
              </a:rPr>
              <a:t>使用边界值分析方法，既测试输入数据的边界情况又检查输出数据的边界情况</a:t>
            </a:r>
            <a:endParaRPr lang="zh-CN" altLang="en-US" dirty="0">
              <a:sym typeface="+mn-ea"/>
            </a:endParaRPr>
          </a:p>
        </p:txBody>
      </p:sp>
      <p:sp>
        <p:nvSpPr>
          <p:cNvPr id="5" name="MH_Other_9"/>
          <p:cNvSpPr>
            <a:spLocks noChangeArrowheads="1"/>
          </p:cNvSpPr>
          <p:nvPr>
            <p:custDataLst>
              <p:tags r:id="rId11"/>
            </p:custDataLst>
          </p:nvPr>
        </p:nvSpPr>
        <p:spPr bwMode="auto">
          <a:xfrm>
            <a:off x="784860" y="3528060"/>
            <a:ext cx="710565" cy="494665"/>
          </a:xfrm>
          <a:prstGeom prst="rect">
            <a:avLst/>
          </a:prstGeom>
          <a:solidFill>
            <a:schemeClr val="accent5">
              <a:lumMod val="75000"/>
            </a:schemeClr>
          </a:solidFill>
          <a:ln w="9525">
            <a:noFill/>
            <a:miter lim="800000"/>
          </a:ln>
        </p:spPr>
        <p:txBody>
          <a:bodyPr anchor="ctr"/>
          <a:lstStyle/>
          <a:p>
            <a:pPr algn="ctr" eaLnBrk="1" hangingPunct="1"/>
            <a:r>
              <a:rPr lang="en-US" altLang="zh-CN" sz="2400" b="1" dirty="0">
                <a:solidFill>
                  <a:srgbClr val="FFFFFF"/>
                </a:solidFill>
                <a:latin typeface="Times New Roman" panose="02020603050405020304" pitchFamily="18" charset="0"/>
                <a:ea typeface="微软雅黑" panose="020B0503020204020204" charset="-122"/>
              </a:rPr>
              <a:t>02</a:t>
            </a:r>
            <a:endParaRPr lang="zh-CN" altLang="en-US" sz="2400" b="1" dirty="0">
              <a:solidFill>
                <a:srgbClr val="FFFFFF"/>
              </a:solidFill>
              <a:latin typeface="Times New Roman" panose="02020603050405020304" pitchFamily="18" charset="0"/>
              <a:ea typeface="微软雅黑" panose="020B0503020204020204" charset="-122"/>
            </a:endParaRPr>
          </a:p>
        </p:txBody>
      </p:sp>
      <p:sp>
        <p:nvSpPr>
          <p:cNvPr id="17" name="MH_Other_10"/>
          <p:cNvSpPr>
            <a:spLocks noChangeArrowheads="1"/>
          </p:cNvSpPr>
          <p:nvPr>
            <p:custDataLst>
              <p:tags r:id="rId12"/>
            </p:custDataLst>
          </p:nvPr>
        </p:nvSpPr>
        <p:spPr bwMode="auto">
          <a:xfrm>
            <a:off x="1536065" y="3630930"/>
            <a:ext cx="563245" cy="391795"/>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18" name="MH_Other_11"/>
          <p:cNvSpPr>
            <a:spLocks noChangeArrowheads="1"/>
          </p:cNvSpPr>
          <p:nvPr>
            <p:custDataLst>
              <p:tags r:id="rId13"/>
            </p:custDataLst>
          </p:nvPr>
        </p:nvSpPr>
        <p:spPr bwMode="auto">
          <a:xfrm>
            <a:off x="946150" y="4050665"/>
            <a:ext cx="549910" cy="382905"/>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19" name="MH_Other_12"/>
          <p:cNvSpPr>
            <a:spLocks noChangeArrowheads="1"/>
          </p:cNvSpPr>
          <p:nvPr>
            <p:custDataLst>
              <p:tags r:id="rId14"/>
            </p:custDataLst>
          </p:nvPr>
        </p:nvSpPr>
        <p:spPr bwMode="auto">
          <a:xfrm>
            <a:off x="1536065" y="4050665"/>
            <a:ext cx="710565" cy="326390"/>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20" name="MH_SubTitle_2"/>
          <p:cNvSpPr/>
          <p:nvPr>
            <p:custDataLst>
              <p:tags r:id="rId15"/>
            </p:custDataLst>
          </p:nvPr>
        </p:nvSpPr>
        <p:spPr>
          <a:xfrm>
            <a:off x="2529290" y="3816397"/>
            <a:ext cx="3103245" cy="325025"/>
          </a:xfrm>
          <a:prstGeom prst="rect">
            <a:avLst/>
          </a:prstGeom>
        </p:spPr>
        <p:txBody>
          <a:bodyPr lIns="0" tIns="0" rIns="0" bIns="0" anchor="ctr">
            <a:spAutoFit/>
          </a:bodyPr>
          <a:lstStyle/>
          <a:p>
            <a:pPr marL="0" indent="0" algn="l" fontAlgn="auto">
              <a:lnSpc>
                <a:spcPct val="130000"/>
              </a:lnSpc>
            </a:pPr>
            <a:r>
              <a:rPr dirty="0" err="1">
                <a:sym typeface="+mn-ea"/>
              </a:rPr>
              <a:t>用等价类划分法补充测试方</a:t>
            </a:r>
            <a:r>
              <a:rPr lang="zh-CN" altLang="en-US" dirty="0">
                <a:sym typeface="+mn-ea"/>
              </a:rPr>
              <a:t>案</a:t>
            </a:r>
          </a:p>
        </p:txBody>
      </p:sp>
      <p:sp>
        <p:nvSpPr>
          <p:cNvPr id="25" name="MH_Other_5"/>
          <p:cNvSpPr>
            <a:spLocks noChangeArrowheads="1"/>
          </p:cNvSpPr>
          <p:nvPr>
            <p:custDataLst>
              <p:tags r:id="rId16"/>
            </p:custDataLst>
          </p:nvPr>
        </p:nvSpPr>
        <p:spPr bwMode="auto">
          <a:xfrm>
            <a:off x="6167613" y="2756839"/>
            <a:ext cx="710565" cy="494665"/>
          </a:xfrm>
          <a:prstGeom prst="rect">
            <a:avLst/>
          </a:prstGeom>
          <a:solidFill>
            <a:schemeClr val="accent6">
              <a:lumMod val="75000"/>
            </a:schemeClr>
          </a:solidFill>
          <a:ln w="9525">
            <a:noFill/>
            <a:miter lim="800000"/>
          </a:ln>
        </p:spPr>
        <p:txBody>
          <a:bodyPr anchor="ctr"/>
          <a:lstStyle/>
          <a:p>
            <a:pPr algn="ctr" eaLnBrk="1" hangingPunct="1"/>
            <a:r>
              <a:rPr lang="en-US" altLang="zh-CN" sz="2400" b="1" dirty="0">
                <a:solidFill>
                  <a:srgbClr val="FFFFFF"/>
                </a:solidFill>
                <a:latin typeface="Times New Roman" panose="02020603050405020304" pitchFamily="18" charset="0"/>
                <a:ea typeface="微软雅黑" panose="020B0503020204020204" charset="-122"/>
              </a:rPr>
              <a:t>0</a:t>
            </a:r>
            <a:r>
              <a:rPr lang="en-US" sz="2400" b="1" dirty="0">
                <a:solidFill>
                  <a:srgbClr val="FFFFFF"/>
                </a:solidFill>
                <a:latin typeface="Times New Roman" panose="02020603050405020304" pitchFamily="18" charset="0"/>
                <a:ea typeface="微软雅黑" panose="020B0503020204020204" charset="-122"/>
              </a:rPr>
              <a:t>4</a:t>
            </a:r>
          </a:p>
        </p:txBody>
      </p:sp>
      <p:sp>
        <p:nvSpPr>
          <p:cNvPr id="26" name="MH_Other_6"/>
          <p:cNvSpPr>
            <a:spLocks noChangeArrowheads="1"/>
          </p:cNvSpPr>
          <p:nvPr>
            <p:custDataLst>
              <p:tags r:id="rId17"/>
            </p:custDataLst>
          </p:nvPr>
        </p:nvSpPr>
        <p:spPr bwMode="auto">
          <a:xfrm>
            <a:off x="6918183" y="2859709"/>
            <a:ext cx="563245" cy="391795"/>
          </a:xfrm>
          <a:prstGeom prst="rect">
            <a:avLst/>
          </a:prstGeom>
          <a:solidFill>
            <a:schemeClr val="accent6">
              <a:lumMod val="40000"/>
              <a:lumOff val="60000"/>
            </a:schemeClr>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27" name="MH_Other_7"/>
          <p:cNvSpPr>
            <a:spLocks noChangeArrowheads="1"/>
          </p:cNvSpPr>
          <p:nvPr>
            <p:custDataLst>
              <p:tags r:id="rId18"/>
            </p:custDataLst>
          </p:nvPr>
        </p:nvSpPr>
        <p:spPr bwMode="auto">
          <a:xfrm>
            <a:off x="6328268" y="3279444"/>
            <a:ext cx="549910" cy="382905"/>
          </a:xfrm>
          <a:prstGeom prst="rect">
            <a:avLst/>
          </a:prstGeom>
          <a:solidFill>
            <a:schemeClr val="accent6">
              <a:lumMod val="60000"/>
              <a:lumOff val="40000"/>
            </a:schemeClr>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28" name="MH_Other_8"/>
          <p:cNvSpPr>
            <a:spLocks noChangeArrowheads="1"/>
          </p:cNvSpPr>
          <p:nvPr>
            <p:custDataLst>
              <p:tags r:id="rId19"/>
            </p:custDataLst>
          </p:nvPr>
        </p:nvSpPr>
        <p:spPr bwMode="auto">
          <a:xfrm>
            <a:off x="6918183" y="3279444"/>
            <a:ext cx="710565" cy="326390"/>
          </a:xfrm>
          <a:prstGeom prst="rect">
            <a:avLst/>
          </a:prstGeom>
          <a:solidFill>
            <a:schemeClr val="accent6">
              <a:lumMod val="20000"/>
              <a:lumOff val="80000"/>
            </a:schemeClr>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29" name="MH_SubTitle_3"/>
          <p:cNvSpPr/>
          <p:nvPr>
            <p:custDataLst>
              <p:tags r:id="rId20"/>
            </p:custDataLst>
          </p:nvPr>
        </p:nvSpPr>
        <p:spPr>
          <a:xfrm>
            <a:off x="7908783" y="2812422"/>
            <a:ext cx="2970530" cy="685124"/>
          </a:xfrm>
          <a:prstGeom prst="rect">
            <a:avLst/>
          </a:prstGeom>
        </p:spPr>
        <p:txBody>
          <a:bodyPr lIns="0" tIns="0" rIns="0" bIns="0" anchor="ctr">
            <a:spAutoFit/>
          </a:bodyPr>
          <a:lstStyle/>
          <a:p>
            <a:pPr>
              <a:lnSpc>
                <a:spcPct val="130000"/>
              </a:lnSpc>
              <a:defRPr/>
            </a:pPr>
            <a:r>
              <a:rPr dirty="0" err="1">
                <a:sym typeface="+mn-ea"/>
              </a:rPr>
              <a:t>必要时用错误推断法补充测试方案</a:t>
            </a:r>
            <a:endParaRPr lang="zh-CN" altLang="en-US" dirty="0">
              <a:sym typeface="+mn-ea"/>
            </a:endParaRPr>
          </a:p>
        </p:txBody>
      </p:sp>
      <p:sp>
        <p:nvSpPr>
          <p:cNvPr id="31" name="MH_Other_5"/>
          <p:cNvSpPr>
            <a:spLocks noChangeArrowheads="1"/>
          </p:cNvSpPr>
          <p:nvPr>
            <p:custDataLst>
              <p:tags r:id="rId21"/>
            </p:custDataLst>
          </p:nvPr>
        </p:nvSpPr>
        <p:spPr bwMode="auto">
          <a:xfrm>
            <a:off x="6227786" y="4487070"/>
            <a:ext cx="710565" cy="494665"/>
          </a:xfrm>
          <a:prstGeom prst="rect">
            <a:avLst/>
          </a:prstGeom>
          <a:solidFill>
            <a:schemeClr val="accent2">
              <a:lumMod val="75000"/>
            </a:schemeClr>
          </a:solidFill>
          <a:ln w="9525">
            <a:noFill/>
            <a:miter lim="800000"/>
          </a:ln>
        </p:spPr>
        <p:txBody>
          <a:bodyPr anchor="ctr"/>
          <a:lstStyle/>
          <a:p>
            <a:pPr algn="ctr" eaLnBrk="1" hangingPunct="1"/>
            <a:r>
              <a:rPr lang="en-US" altLang="zh-CN" sz="2400" b="1" dirty="0">
                <a:solidFill>
                  <a:srgbClr val="FFFFFF"/>
                </a:solidFill>
                <a:latin typeface="Times New Roman" panose="02020603050405020304" pitchFamily="18" charset="0"/>
                <a:ea typeface="微软雅黑" panose="020B0503020204020204" charset="-122"/>
              </a:rPr>
              <a:t>0</a:t>
            </a:r>
            <a:r>
              <a:rPr lang="en-US" sz="2400" b="1" dirty="0">
                <a:solidFill>
                  <a:srgbClr val="FFFFFF"/>
                </a:solidFill>
                <a:latin typeface="Times New Roman" panose="02020603050405020304" pitchFamily="18" charset="0"/>
                <a:ea typeface="微软雅黑" panose="020B0503020204020204" charset="-122"/>
              </a:rPr>
              <a:t>5</a:t>
            </a:r>
          </a:p>
        </p:txBody>
      </p:sp>
      <p:sp>
        <p:nvSpPr>
          <p:cNvPr id="32" name="MH_Other_6"/>
          <p:cNvSpPr>
            <a:spLocks noChangeArrowheads="1"/>
          </p:cNvSpPr>
          <p:nvPr>
            <p:custDataLst>
              <p:tags r:id="rId22"/>
            </p:custDataLst>
          </p:nvPr>
        </p:nvSpPr>
        <p:spPr bwMode="auto">
          <a:xfrm>
            <a:off x="6978356" y="4589940"/>
            <a:ext cx="563245" cy="391795"/>
          </a:xfrm>
          <a:prstGeom prst="rect">
            <a:avLst/>
          </a:prstGeom>
          <a:solidFill>
            <a:schemeClr val="accent2">
              <a:lumMod val="40000"/>
              <a:lumOff val="60000"/>
            </a:schemeClr>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36" name="MH_Other_7"/>
          <p:cNvSpPr>
            <a:spLocks noChangeArrowheads="1"/>
          </p:cNvSpPr>
          <p:nvPr>
            <p:custDataLst>
              <p:tags r:id="rId23"/>
            </p:custDataLst>
          </p:nvPr>
        </p:nvSpPr>
        <p:spPr bwMode="auto">
          <a:xfrm>
            <a:off x="6388441" y="5009675"/>
            <a:ext cx="549910" cy="382905"/>
          </a:xfrm>
          <a:prstGeom prst="rect">
            <a:avLst/>
          </a:prstGeom>
          <a:solidFill>
            <a:schemeClr val="accent2">
              <a:lumMod val="60000"/>
              <a:lumOff val="40000"/>
            </a:schemeClr>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37" name="MH_Other_8"/>
          <p:cNvSpPr>
            <a:spLocks noChangeArrowheads="1"/>
          </p:cNvSpPr>
          <p:nvPr>
            <p:custDataLst>
              <p:tags r:id="rId24"/>
            </p:custDataLst>
          </p:nvPr>
        </p:nvSpPr>
        <p:spPr bwMode="auto">
          <a:xfrm>
            <a:off x="6978356" y="5009675"/>
            <a:ext cx="710565" cy="326390"/>
          </a:xfrm>
          <a:prstGeom prst="rect">
            <a:avLst/>
          </a:prstGeom>
          <a:solidFill>
            <a:schemeClr val="accent2">
              <a:lumMod val="20000"/>
              <a:lumOff val="80000"/>
            </a:schemeClr>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38" name="MH_SubTitle_3"/>
          <p:cNvSpPr/>
          <p:nvPr>
            <p:custDataLst>
              <p:tags r:id="rId25"/>
            </p:custDataLst>
          </p:nvPr>
        </p:nvSpPr>
        <p:spPr>
          <a:xfrm>
            <a:off x="7908783" y="4362604"/>
            <a:ext cx="3484245" cy="1045223"/>
          </a:xfrm>
          <a:prstGeom prst="rect">
            <a:avLst/>
          </a:prstGeom>
        </p:spPr>
        <p:txBody>
          <a:bodyPr lIns="0" tIns="0" rIns="0" bIns="0" anchor="ctr">
            <a:spAutoFit/>
          </a:bodyPr>
          <a:lstStyle/>
          <a:p>
            <a:pPr marL="0" indent="0" algn="l" fontAlgn="auto">
              <a:lnSpc>
                <a:spcPct val="130000"/>
              </a:lnSpc>
            </a:pPr>
            <a:r>
              <a:rPr dirty="0" err="1">
                <a:sym typeface="+mn-ea"/>
              </a:rPr>
              <a:t>用逻辑覆盖法检查现有测试方案，若没有达到逻辑覆盖标准，应再补充一些测试方案</a:t>
            </a:r>
            <a:endParaRPr lang="zh-CN" altLang="en-US" dirty="0">
              <a:sym typeface="+mn-ea"/>
            </a:endParaRPr>
          </a:p>
        </p:txBody>
      </p:sp>
    </p:spTree>
  </p:cSld>
  <p:clrMapOvr>
    <a:masterClrMapping/>
  </p:clrMapOvr>
  <p:transition>
    <p:wheel spokes="3"/>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dirty="0">
              <a:latin typeface="Times New Roman" panose="02020603050405020304" pitchFamily="18" charset="0"/>
              <a:ea typeface="微软雅黑 Light" panose="020B0502040204020203" pitchFamily="34" charset="-122"/>
            </a:endParaRPr>
          </a:p>
        </p:txBody>
      </p:sp>
      <p:sp>
        <p:nvSpPr>
          <p:cNvPr id="40" name="文本框 39"/>
          <p:cNvSpPr txBox="1"/>
          <p:nvPr/>
        </p:nvSpPr>
        <p:spPr>
          <a:xfrm>
            <a:off x="6006554" y="2935102"/>
            <a:ext cx="5861595"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i="0" u="none" strike="noStrike" kern="1200" cap="none" spc="0" normalizeH="0" baseline="0" noProof="0" dirty="0">
                <a:ln>
                  <a:noFill/>
                </a:ln>
                <a:effectLst/>
                <a:uLnTx/>
                <a:uFillTx/>
                <a:latin typeface="+mj-ea"/>
                <a:ea typeface="+mj-ea"/>
                <a:cs typeface="+mn-cs"/>
              </a:rPr>
              <a:t>软件调试验证与确认</a:t>
            </a:r>
          </a:p>
        </p:txBody>
      </p:sp>
      <p:sp>
        <p:nvSpPr>
          <p:cNvPr id="48" name="文本框 47"/>
          <p:cNvSpPr txBox="1"/>
          <p:nvPr/>
        </p:nvSpPr>
        <p:spPr>
          <a:xfrm>
            <a:off x="6006554" y="4223299"/>
            <a:ext cx="3712845" cy="400050"/>
          </a:xfrm>
          <a:prstGeom prst="rect">
            <a:avLst/>
          </a:prstGeom>
          <a:noFill/>
        </p:spPr>
        <p:txBody>
          <a:bodyPr wrap="square">
            <a:spAutoFit/>
          </a:bodyPr>
          <a:lstStyle/>
          <a:p>
            <a:pPr marL="180000" marR="0" lvl="0" indent="-2160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effectLst/>
                <a:uLnTx/>
                <a:uFillTx/>
                <a:latin typeface="+mj-ea"/>
                <a:ea typeface="+mj-ea"/>
                <a:cs typeface="+mn-cs"/>
              </a:rPr>
              <a:t>软件调试方法和技术</a:t>
            </a:r>
          </a:p>
        </p:txBody>
      </p:sp>
      <p:sp>
        <p:nvSpPr>
          <p:cNvPr id="50" name="文本框 49"/>
          <p:cNvSpPr txBox="1"/>
          <p:nvPr/>
        </p:nvSpPr>
        <p:spPr>
          <a:xfrm>
            <a:off x="6006554" y="4718599"/>
            <a:ext cx="3712845" cy="400050"/>
          </a:xfrm>
          <a:prstGeom prst="rect">
            <a:avLst/>
          </a:prstGeom>
          <a:noFill/>
        </p:spPr>
        <p:txBody>
          <a:bodyPr wrap="square">
            <a:spAutoFit/>
          </a:bodyPr>
          <a:lstStyle/>
          <a:p>
            <a:pPr marL="180000" marR="0" lvl="0" indent="-2160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effectLst/>
                <a:uLnTx/>
                <a:uFillTx/>
                <a:latin typeface="+mj-ea"/>
                <a:ea typeface="+mj-ea"/>
                <a:cs typeface="+mn-cs"/>
              </a:rPr>
              <a:t>软件验证</a:t>
            </a:r>
          </a:p>
        </p:txBody>
      </p:sp>
      <p:sp>
        <p:nvSpPr>
          <p:cNvPr id="3" name="文本框 2"/>
          <p:cNvSpPr txBox="1"/>
          <p:nvPr/>
        </p:nvSpPr>
        <p:spPr>
          <a:xfrm>
            <a:off x="6006554" y="5228504"/>
            <a:ext cx="3712845" cy="400110"/>
          </a:xfrm>
          <a:prstGeom prst="rect">
            <a:avLst/>
          </a:prstGeom>
          <a:noFill/>
        </p:spPr>
        <p:txBody>
          <a:bodyPr wrap="square">
            <a:spAutoFit/>
          </a:bodyPr>
          <a:lstStyle/>
          <a:p>
            <a:pPr marL="180000" marR="0" lvl="0" indent="-2160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effectLst/>
                <a:uLnTx/>
                <a:uFillTx/>
                <a:latin typeface="+mj-ea"/>
                <a:ea typeface="+mj-ea"/>
                <a:cs typeface="+mn-cs"/>
              </a:rPr>
              <a:t>软件确认</a:t>
            </a:r>
          </a:p>
        </p:txBody>
      </p:sp>
      <p:sp>
        <p:nvSpPr>
          <p:cNvPr id="5" name="椭圆 4">
            <a:extLst>
              <a:ext uri="{FF2B5EF4-FFF2-40B4-BE49-F238E27FC236}">
                <a16:creationId xmlns:a16="http://schemas.microsoft.com/office/drawing/2014/main" id="{29F5EF21-B98E-B795-FF7C-B759ED75F70A}"/>
              </a:ext>
            </a:extLst>
          </p:cNvPr>
          <p:cNvSpPr/>
          <p:nvPr/>
        </p:nvSpPr>
        <p:spPr>
          <a:xfrm>
            <a:off x="3428455" y="2169500"/>
            <a:ext cx="2362200" cy="23622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600" b="0" i="0" u="none" strike="noStrike" kern="1200" cap="none" spc="0" normalizeH="0" noProof="0" dirty="0">
                <a:ln>
                  <a:noFill/>
                </a:ln>
                <a:solidFill>
                  <a:schemeClr val="lt1"/>
                </a:solidFill>
                <a:effectLst/>
                <a:uLnTx/>
                <a:uFillTx/>
                <a:latin typeface="+mj-lt"/>
                <a:ea typeface="+mj-ea"/>
                <a:cs typeface="+mn-cs"/>
              </a:rPr>
              <a:t>07</a:t>
            </a:r>
            <a:endParaRPr kumimoji="0" lang="zh-CN" altLang="en-US" sz="9600" b="0" i="0" u="none" strike="noStrike" kern="1200" cap="none" spc="0" normalizeH="0" noProof="0" dirty="0">
              <a:ln>
                <a:noFill/>
              </a:ln>
              <a:solidFill>
                <a:schemeClr val="lt1"/>
              </a:solidFill>
              <a:effectLst/>
              <a:uLnTx/>
              <a:uFillTx/>
              <a:latin typeface="+mj-lt"/>
              <a:ea typeface="+mj-ea"/>
              <a:cs typeface="+mn-cs"/>
            </a:endParaRPr>
          </a:p>
        </p:txBody>
      </p:sp>
    </p:spTree>
  </p:cSld>
  <p:clrMapOvr>
    <a:masterClrMapping/>
  </p:clrMapOvr>
  <p:transition spd="slow">
    <p:wip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en-US" dirty="0">
                <a:sym typeface="+mn-ea"/>
              </a:rPr>
              <a:t>4.7 </a:t>
            </a:r>
            <a:r>
              <a:rPr lang="zh-CN" altLang="en-US" dirty="0">
                <a:sym typeface="+mn-ea"/>
              </a:rPr>
              <a:t>软件调试、验证与确认</a:t>
            </a:r>
          </a:p>
        </p:txBody>
      </p:sp>
      <p:sp>
        <p:nvSpPr>
          <p:cNvPr id="4" name="文本占位符 3">
            <a:extLst>
              <a:ext uri="{FF2B5EF4-FFF2-40B4-BE49-F238E27FC236}">
                <a16:creationId xmlns:a16="http://schemas.microsoft.com/office/drawing/2014/main" id="{2DCCDA4A-B182-8879-6A9A-903F61A31C03}"/>
              </a:ext>
            </a:extLst>
          </p:cNvPr>
          <p:cNvSpPr>
            <a:spLocks noGrp="1"/>
          </p:cNvSpPr>
          <p:nvPr>
            <p:ph type="body" sz="quarter" idx="10"/>
          </p:nvPr>
        </p:nvSpPr>
        <p:spPr>
          <a:xfrm>
            <a:off x="696000" y="1322832"/>
            <a:ext cx="5400000" cy="400110"/>
          </a:xfrm>
        </p:spPr>
        <p:txBody>
          <a:bodyPr/>
          <a:lstStyle/>
          <a:p>
            <a:r>
              <a:rPr lang="en-US" altLang="zh-CN" dirty="0"/>
              <a:t>4.7.1 </a:t>
            </a:r>
            <a:r>
              <a:rPr lang="zh-CN" altLang="en-US" dirty="0"/>
              <a:t>软件调试方法和技术</a:t>
            </a:r>
          </a:p>
        </p:txBody>
      </p:sp>
      <p:sp>
        <p:nvSpPr>
          <p:cNvPr id="9" name="文本占位符 8">
            <a:extLst>
              <a:ext uri="{FF2B5EF4-FFF2-40B4-BE49-F238E27FC236}">
                <a16:creationId xmlns:a16="http://schemas.microsoft.com/office/drawing/2014/main" id="{87B29EFB-EA47-083E-BB63-B76BD023DCF8}"/>
              </a:ext>
            </a:extLst>
          </p:cNvPr>
          <p:cNvSpPr>
            <a:spLocks noGrp="1"/>
          </p:cNvSpPr>
          <p:nvPr>
            <p:ph type="body" sz="quarter" idx="11"/>
          </p:nvPr>
        </p:nvSpPr>
        <p:spPr/>
        <p:txBody>
          <a:bodyPr/>
          <a:lstStyle/>
          <a:p>
            <a:endParaRPr lang="zh-CN" altLang="en-US"/>
          </a:p>
        </p:txBody>
      </p:sp>
      <p:sp>
        <p:nvSpPr>
          <p:cNvPr id="100" name="文本框 99"/>
          <p:cNvSpPr txBox="1"/>
          <p:nvPr/>
        </p:nvSpPr>
        <p:spPr>
          <a:xfrm>
            <a:off x="696000" y="2131060"/>
            <a:ext cx="10572075" cy="2938048"/>
          </a:xfrm>
          <a:prstGeom prst="rect">
            <a:avLst/>
          </a:prstGeom>
          <a:noFill/>
          <a:ln w="9525">
            <a:noFill/>
          </a:ln>
        </p:spPr>
        <p:txBody>
          <a:bodyPr wrap="square">
            <a:spAutoFit/>
          </a:bodyPr>
          <a:lstStyle/>
          <a:p>
            <a:pPr marL="0" indent="0" algn="l" fontAlgn="auto">
              <a:lnSpc>
                <a:spcPct val="130000"/>
              </a:lnSpc>
            </a:pPr>
            <a:r>
              <a:rPr lang="en-US" dirty="0">
                <a:latin typeface="微软雅黑" panose="020B0503020204020204" charset="-122"/>
                <a:ea typeface="微软雅黑" panose="020B0503020204020204" charset="-122"/>
                <a:sym typeface="+mn-ea"/>
              </a:rPr>
              <a:t>       </a:t>
            </a:r>
            <a:r>
              <a:rPr dirty="0">
                <a:latin typeface="微软雅黑" panose="020B0503020204020204" charset="-122"/>
                <a:ea typeface="微软雅黑" panose="020B0503020204020204" charset="-122"/>
                <a:sym typeface="+mn-ea"/>
              </a:rPr>
              <a:t>软件调试往往在软件测试后进行。</a:t>
            </a:r>
            <a:r>
              <a:rPr dirty="0">
                <a:solidFill>
                  <a:srgbClr val="C00000"/>
                </a:solidFill>
                <a:latin typeface="微软雅黑" panose="020B0503020204020204" charset="-122"/>
                <a:ea typeface="微软雅黑" panose="020B0503020204020204" charset="-122"/>
                <a:sym typeface="+mn-ea"/>
              </a:rPr>
              <a:t>软件调试是查找、分析和纠正程序中错误的过程。</a:t>
            </a:r>
          </a:p>
          <a:p>
            <a:pPr marL="0" indent="0" algn="l" fontAlgn="auto">
              <a:lnSpc>
                <a:spcPct val="130000"/>
              </a:lnSpc>
            </a:pPr>
            <a:r>
              <a:rPr dirty="0">
                <a:latin typeface="微软雅黑" panose="020B0503020204020204" charset="-122"/>
                <a:ea typeface="微软雅黑" panose="020B0503020204020204" charset="-122"/>
                <a:sym typeface="+mn-ea"/>
              </a:rPr>
              <a:t>       软件调试可将软件测试和纠错结合起来。</a:t>
            </a:r>
            <a:r>
              <a:rPr dirty="0">
                <a:solidFill>
                  <a:srgbClr val="00B050"/>
                </a:solidFill>
                <a:latin typeface="微软雅黑" panose="020B0503020204020204" charset="-122"/>
                <a:ea typeface="微软雅黑" panose="020B0503020204020204" charset="-122"/>
                <a:sym typeface="+mn-ea"/>
              </a:rPr>
              <a:t>首先进行软件测试，找出错误所在的“面”，发现哪个模块、哪段程序有错；第二步是纠错，要确定错误发生的“点”，确定错误的确切位置和错误的原因并改正错误。</a:t>
            </a:r>
          </a:p>
          <a:p>
            <a:pPr marL="0" indent="0" algn="l" fontAlgn="auto">
              <a:lnSpc>
                <a:spcPct val="130000"/>
              </a:lnSpc>
            </a:pPr>
            <a:r>
              <a:rPr dirty="0">
                <a:latin typeface="微软雅黑" panose="020B0503020204020204" charset="-122"/>
                <a:ea typeface="微软雅黑" panose="020B0503020204020204" charset="-122"/>
                <a:sym typeface="+mn-ea"/>
              </a:rPr>
              <a:t>       纠错主要靠分析与错误有关的信息。可对已查出的错误，先列出所有可能的错误原因，利用测试数据排除一些原因，然后证明、确定错误原因。也可把错误情况收集起来，分析它们之间的相互关系，找出其中的规律，以便找出错误原因。如果没有找到错误的原因，调试人员可以猜想一个原因，然后验证这个假设，反复此过程，直到找到原因。纠错也可采用一些自动纠错工具作为辅助手段。</a:t>
            </a:r>
          </a:p>
        </p:txBody>
      </p:sp>
    </p:spTree>
  </p:cSld>
  <p:clrMapOvr>
    <a:masterClrMapping/>
  </p:clrMapOvr>
  <p:transition>
    <p:diamond/>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en-US" dirty="0">
                <a:sym typeface="+mn-ea"/>
              </a:rPr>
              <a:t>4.7 </a:t>
            </a:r>
            <a:r>
              <a:rPr lang="zh-CN" altLang="en-US" dirty="0">
                <a:sym typeface="+mn-ea"/>
              </a:rPr>
              <a:t>软件调试、验证与确认</a:t>
            </a:r>
            <a:endParaRPr lang="zh-CN" altLang="zh-CN" dirty="0">
              <a:sym typeface="+mn-ea"/>
            </a:endParaRPr>
          </a:p>
        </p:txBody>
      </p:sp>
      <p:sp>
        <p:nvSpPr>
          <p:cNvPr id="7" name="文本占位符 6">
            <a:extLst>
              <a:ext uri="{FF2B5EF4-FFF2-40B4-BE49-F238E27FC236}">
                <a16:creationId xmlns:a16="http://schemas.microsoft.com/office/drawing/2014/main" id="{A7A253D3-BF76-D1CD-3CF1-FE05EF818A51}"/>
              </a:ext>
            </a:extLst>
          </p:cNvPr>
          <p:cNvSpPr>
            <a:spLocks noGrp="1"/>
          </p:cNvSpPr>
          <p:nvPr>
            <p:ph type="body" sz="quarter" idx="10"/>
          </p:nvPr>
        </p:nvSpPr>
        <p:spPr>
          <a:xfrm>
            <a:off x="696000" y="1322832"/>
            <a:ext cx="5400000" cy="400110"/>
          </a:xfrm>
        </p:spPr>
        <p:txBody>
          <a:bodyPr/>
          <a:lstStyle/>
          <a:p>
            <a:r>
              <a:rPr lang="en-US" altLang="zh-CN" dirty="0"/>
              <a:t>4.7.1 </a:t>
            </a:r>
            <a:r>
              <a:rPr lang="zh-CN" altLang="en-US" dirty="0"/>
              <a:t>软件调试方法和技术</a:t>
            </a:r>
          </a:p>
        </p:txBody>
      </p:sp>
      <p:sp>
        <p:nvSpPr>
          <p:cNvPr id="11" name="文本占位符 10">
            <a:extLst>
              <a:ext uri="{FF2B5EF4-FFF2-40B4-BE49-F238E27FC236}">
                <a16:creationId xmlns:a16="http://schemas.microsoft.com/office/drawing/2014/main" id="{C23C8C03-2796-AE14-F0D2-AA137B87549F}"/>
              </a:ext>
            </a:extLst>
          </p:cNvPr>
          <p:cNvSpPr>
            <a:spLocks noGrp="1"/>
          </p:cNvSpPr>
          <p:nvPr>
            <p:ph type="body" sz="quarter" idx="11"/>
          </p:nvPr>
        </p:nvSpPr>
        <p:spPr/>
        <p:txBody>
          <a:bodyPr/>
          <a:lstStyle/>
          <a:p>
            <a:endParaRPr lang="zh-CN" altLang="en-US"/>
          </a:p>
        </p:txBody>
      </p:sp>
      <p:grpSp>
        <p:nvGrpSpPr>
          <p:cNvPr id="5" name="组合 4"/>
          <p:cNvGrpSpPr/>
          <p:nvPr/>
        </p:nvGrpSpPr>
        <p:grpSpPr>
          <a:xfrm>
            <a:off x="869315" y="2603732"/>
            <a:ext cx="7773670" cy="590550"/>
            <a:chOff x="508000" y="3196191"/>
            <a:chExt cx="7773594" cy="590550"/>
          </a:xfrm>
        </p:grpSpPr>
        <p:sp>
          <p:nvSpPr>
            <p:cNvPr id="21" name="TextBox 1"/>
            <p:cNvSpPr txBox="1">
              <a:spLocks noChangeArrowheads="1"/>
            </p:cNvSpPr>
            <p:nvPr/>
          </p:nvSpPr>
          <p:spPr bwMode="auto">
            <a:xfrm>
              <a:off x="508000" y="3196191"/>
              <a:ext cx="36419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Times New Roman" panose="02020603050405020304" pitchFamily="18" charset="0"/>
                  <a:ea typeface="MS UI Gothic" panose="020B0600070205080204" charset="-128"/>
                </a:rPr>
                <a:t>1</a:t>
              </a:r>
            </a:p>
          </p:txBody>
        </p:sp>
        <p:cxnSp>
          <p:nvCxnSpPr>
            <p:cNvPr id="22" name="直接连接符 21"/>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3" name="矩形 7"/>
            <p:cNvSpPr>
              <a:spLocks noChangeArrowheads="1"/>
            </p:cNvSpPr>
            <p:nvPr/>
          </p:nvSpPr>
          <p:spPr bwMode="auto">
            <a:xfrm>
              <a:off x="960751" y="3291441"/>
              <a:ext cx="7320843"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sym typeface="+mn-ea"/>
                </a:rPr>
                <a:t>对计算机工作过程进行模仿或跟踪</a:t>
              </a:r>
              <a:endParaRPr lang="zh-CN" altLang="en-US" b="1" dirty="0">
                <a:solidFill>
                  <a:srgbClr val="E67819"/>
                </a:solidFill>
                <a:latin typeface="微软雅黑" panose="020B0503020204020204" charset="-122"/>
                <a:ea typeface="微软雅黑" panose="020B0503020204020204" charset="-122"/>
              </a:endParaRPr>
            </a:p>
          </p:txBody>
        </p:sp>
      </p:grpSp>
      <p:sp>
        <p:nvSpPr>
          <p:cNvPr id="24" name="矩形 8"/>
          <p:cNvSpPr>
            <a:spLocks noChangeArrowheads="1"/>
          </p:cNvSpPr>
          <p:nvPr/>
        </p:nvSpPr>
        <p:spPr bwMode="auto">
          <a:xfrm>
            <a:off x="1316990" y="3083792"/>
            <a:ext cx="9571990" cy="459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dirty="0">
                <a:latin typeface="微软雅黑" panose="020B0503020204020204" charset="-122"/>
                <a:ea typeface="微软雅黑" panose="020B0503020204020204" charset="-122"/>
                <a:sym typeface="+mn-ea"/>
              </a:rPr>
              <a:t>记录中间结果，发现错误立即纠正。</a:t>
            </a:r>
            <a:endParaRPr lang="zh-CN" altLang="en-US" dirty="0">
              <a:latin typeface="微软雅黑" panose="020B0503020204020204" charset="-122"/>
              <a:ea typeface="微软雅黑" panose="020B0503020204020204" charset="-122"/>
            </a:endParaRPr>
          </a:p>
        </p:txBody>
      </p:sp>
      <p:grpSp>
        <p:nvGrpSpPr>
          <p:cNvPr id="29" name="组合 28"/>
          <p:cNvGrpSpPr/>
          <p:nvPr/>
        </p:nvGrpSpPr>
        <p:grpSpPr>
          <a:xfrm>
            <a:off x="869315" y="3475990"/>
            <a:ext cx="2002155" cy="590550"/>
            <a:chOff x="512763" y="4940853"/>
            <a:chExt cx="2002081" cy="590550"/>
          </a:xfrm>
        </p:grpSpPr>
        <p:sp>
          <p:nvSpPr>
            <p:cNvPr id="25" name="TextBox 10"/>
            <p:cNvSpPr txBox="1">
              <a:spLocks noChangeArrowheads="1"/>
            </p:cNvSpPr>
            <p:nvPr/>
          </p:nvSpPr>
          <p:spPr bwMode="auto">
            <a:xfrm>
              <a:off x="512763" y="4940853"/>
              <a:ext cx="361298"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Times New Roman" panose="02020603050405020304" pitchFamily="18" charset="0"/>
                  <a:ea typeface="MS UI Gothic" panose="020B0600070205080204" charset="-128"/>
                </a:rPr>
                <a:t>2</a:t>
              </a:r>
            </a:p>
          </p:txBody>
        </p:sp>
        <p:cxnSp>
          <p:nvCxnSpPr>
            <p:cNvPr id="26" name="直接连接符 25"/>
            <p:cNvCxnSpPr/>
            <p:nvPr/>
          </p:nvCxnSpPr>
          <p:spPr>
            <a:xfrm flipH="1">
              <a:off x="512763" y="4940853"/>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7" name="矩形 12"/>
            <p:cNvSpPr>
              <a:spLocks noChangeArrowheads="1"/>
            </p:cNvSpPr>
            <p:nvPr/>
          </p:nvSpPr>
          <p:spPr bwMode="auto">
            <a:xfrm>
              <a:off x="960438" y="5036103"/>
              <a:ext cx="1554406"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a:r>
                <a:rPr lang="zh-CN" altLang="en-US" b="1" dirty="0">
                  <a:solidFill>
                    <a:srgbClr val="E67819"/>
                  </a:solidFill>
                  <a:latin typeface="微软雅黑" panose="020B0503020204020204" charset="-122"/>
                  <a:ea typeface="微软雅黑" panose="020B0503020204020204" charset="-122"/>
                  <a:sym typeface="+mn-ea"/>
                </a:rPr>
                <a:t>设置打印语句</a:t>
              </a:r>
              <a:endParaRPr lang="zh-CN" altLang="en-US" b="1" dirty="0">
                <a:solidFill>
                  <a:srgbClr val="E67819"/>
                </a:solidFill>
                <a:latin typeface="微软雅黑" panose="020B0503020204020204" charset="-122"/>
                <a:ea typeface="微软雅黑" panose="020B0503020204020204" charset="-122"/>
              </a:endParaRPr>
            </a:p>
          </p:txBody>
        </p:sp>
      </p:grpSp>
      <p:sp>
        <p:nvSpPr>
          <p:cNvPr id="28" name="矩形 9"/>
          <p:cNvSpPr>
            <a:spLocks noChangeArrowheads="1"/>
          </p:cNvSpPr>
          <p:nvPr/>
        </p:nvSpPr>
        <p:spPr bwMode="auto">
          <a:xfrm>
            <a:off x="1316990" y="3999865"/>
            <a:ext cx="9571990" cy="1872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285750" indent="-285750" algn="l" fontAlgn="auto">
              <a:lnSpc>
                <a:spcPct val="130000"/>
              </a:lnSpc>
              <a:buClrTx/>
              <a:buFont typeface="Wingdings" panose="05000000000000000000" charset="0"/>
              <a:buChar char="Ø"/>
            </a:pPr>
            <a:r>
              <a:rPr lang="zh-CN" altLang="en-US" dirty="0">
                <a:latin typeface="微软雅黑" panose="020B0503020204020204" charset="-122"/>
                <a:ea typeface="微软雅黑" panose="020B0503020204020204" charset="-122"/>
                <a:sym typeface="+mn-ea"/>
              </a:rPr>
              <a:t>在程序中设置打印语句，可打印某些标记或变量值以确定错误的位置。</a:t>
            </a:r>
          </a:p>
          <a:p>
            <a:pPr marL="285750" indent="-285750" algn="l" fontAlgn="auto">
              <a:lnSpc>
                <a:spcPct val="130000"/>
              </a:lnSpc>
              <a:buClrTx/>
              <a:buFont typeface="Wingdings" panose="05000000000000000000" charset="0"/>
              <a:buChar char="Ø"/>
            </a:pPr>
            <a:r>
              <a:rPr lang="zh-CN" altLang="en-US" dirty="0">
                <a:latin typeface="微软雅黑" panose="020B0503020204020204" charset="-122"/>
                <a:ea typeface="微软雅黑" panose="020B0503020204020204" charset="-122"/>
                <a:sym typeface="+mn-ea"/>
              </a:rPr>
              <a:t>在调用其他模块或函数之前、之后打印信息，以便确定错误发生在调用之前还是之后。</a:t>
            </a:r>
          </a:p>
          <a:p>
            <a:pPr marL="285750" indent="-285750" algn="l" fontAlgn="auto">
              <a:lnSpc>
                <a:spcPct val="130000"/>
              </a:lnSpc>
              <a:buClrTx/>
              <a:buFont typeface="Wingdings" panose="05000000000000000000" charset="0"/>
              <a:buChar char="Ø"/>
            </a:pPr>
            <a:r>
              <a:rPr lang="zh-CN" altLang="en-US" dirty="0">
                <a:latin typeface="微软雅黑" panose="020B0503020204020204" charset="-122"/>
                <a:ea typeface="微软雅黑" panose="020B0503020204020204" charset="-122"/>
                <a:sym typeface="+mn-ea"/>
              </a:rPr>
              <a:t>在程序循环体内的第一个语句前设置打印信息，用以检查循环执行情况。</a:t>
            </a:r>
          </a:p>
          <a:p>
            <a:pPr marL="285750" indent="-285750" algn="l" fontAlgn="auto">
              <a:lnSpc>
                <a:spcPct val="130000"/>
              </a:lnSpc>
              <a:buClrTx/>
              <a:buFont typeface="Wingdings" panose="05000000000000000000" charset="0"/>
              <a:buChar char="Ø"/>
            </a:pPr>
            <a:r>
              <a:rPr lang="zh-CN" altLang="en-US" dirty="0">
                <a:latin typeface="微软雅黑" panose="020B0503020204020204" charset="-122"/>
                <a:ea typeface="微软雅黑" panose="020B0503020204020204" charset="-122"/>
                <a:sym typeface="+mn-ea"/>
              </a:rPr>
              <a:t>在分支点之前打印标记或变量的当前值。</a:t>
            </a:r>
          </a:p>
          <a:p>
            <a:pPr marL="285750" indent="-285750" algn="l" fontAlgn="auto">
              <a:lnSpc>
                <a:spcPct val="130000"/>
              </a:lnSpc>
              <a:buClrTx/>
              <a:buFont typeface="Wingdings" panose="05000000000000000000" charset="0"/>
              <a:buChar char="Ø"/>
            </a:pPr>
            <a:r>
              <a:rPr lang="zh-CN" altLang="en-US" dirty="0">
                <a:latin typeface="微软雅黑" panose="020B0503020204020204" charset="-122"/>
                <a:ea typeface="微软雅黑" panose="020B0503020204020204" charset="-122"/>
                <a:sym typeface="+mn-ea"/>
              </a:rPr>
              <a:t>抽点打印，在程序员认为必要的地方设置打印语句。</a:t>
            </a:r>
            <a:endParaRPr lang="zh-CN" altLang="en-US" dirty="0">
              <a:latin typeface="微软雅黑" panose="020B0503020204020204" charset="-122"/>
              <a:ea typeface="微软雅黑" panose="020B0503020204020204" charset="-122"/>
            </a:endParaRPr>
          </a:p>
        </p:txBody>
      </p:sp>
      <p:sp>
        <p:nvSpPr>
          <p:cNvPr id="16" name="矩形 7"/>
          <p:cNvSpPr>
            <a:spLocks noChangeArrowheads="1"/>
          </p:cNvSpPr>
          <p:nvPr/>
        </p:nvSpPr>
        <p:spPr bwMode="auto">
          <a:xfrm>
            <a:off x="702497" y="2036176"/>
            <a:ext cx="109390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latin typeface="微软雅黑" panose="020B0503020204020204" charset="-122"/>
                <a:ea typeface="微软雅黑" panose="020B0503020204020204" charset="-122"/>
              </a:rPr>
              <a:t>常用软件调试的辅助方法如下：</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en-US" dirty="0">
                <a:sym typeface="+mn-ea"/>
              </a:rPr>
              <a:t>4.7 </a:t>
            </a:r>
            <a:r>
              <a:rPr lang="zh-CN" altLang="en-US" dirty="0">
                <a:sym typeface="+mn-ea"/>
              </a:rPr>
              <a:t>软件调试、验证与确认</a:t>
            </a:r>
            <a:endParaRPr lang="zh-CN" altLang="zh-CN" dirty="0">
              <a:sym typeface="+mn-ea"/>
            </a:endParaRPr>
          </a:p>
        </p:txBody>
      </p:sp>
      <p:sp>
        <p:nvSpPr>
          <p:cNvPr id="7" name="文本占位符 6">
            <a:extLst>
              <a:ext uri="{FF2B5EF4-FFF2-40B4-BE49-F238E27FC236}">
                <a16:creationId xmlns:a16="http://schemas.microsoft.com/office/drawing/2014/main" id="{45F770F8-8033-DB6D-0AEC-9345023508CB}"/>
              </a:ext>
            </a:extLst>
          </p:cNvPr>
          <p:cNvSpPr>
            <a:spLocks noGrp="1"/>
          </p:cNvSpPr>
          <p:nvPr>
            <p:ph type="body" sz="quarter" idx="10"/>
          </p:nvPr>
        </p:nvSpPr>
        <p:spPr>
          <a:xfrm>
            <a:off x="696000" y="1322832"/>
            <a:ext cx="5400000" cy="400110"/>
          </a:xfrm>
        </p:spPr>
        <p:txBody>
          <a:bodyPr/>
          <a:lstStyle/>
          <a:p>
            <a:r>
              <a:rPr lang="en-US" altLang="zh-CN" dirty="0"/>
              <a:t>4.7.1 </a:t>
            </a:r>
            <a:r>
              <a:rPr lang="zh-CN" altLang="en-US" dirty="0"/>
              <a:t>软件调试方法和技术</a:t>
            </a:r>
          </a:p>
        </p:txBody>
      </p:sp>
      <p:sp>
        <p:nvSpPr>
          <p:cNvPr id="11" name="文本占位符 10">
            <a:extLst>
              <a:ext uri="{FF2B5EF4-FFF2-40B4-BE49-F238E27FC236}">
                <a16:creationId xmlns:a16="http://schemas.microsoft.com/office/drawing/2014/main" id="{9B4499A2-9173-EEDE-7450-08DCC0958D0D}"/>
              </a:ext>
            </a:extLst>
          </p:cNvPr>
          <p:cNvSpPr>
            <a:spLocks noGrp="1"/>
          </p:cNvSpPr>
          <p:nvPr>
            <p:ph type="body" sz="quarter" idx="11"/>
          </p:nvPr>
        </p:nvSpPr>
        <p:spPr/>
        <p:txBody>
          <a:bodyPr/>
          <a:lstStyle/>
          <a:p>
            <a:endParaRPr lang="zh-CN" altLang="en-US"/>
          </a:p>
        </p:txBody>
      </p:sp>
      <p:grpSp>
        <p:nvGrpSpPr>
          <p:cNvPr id="5" name="组合 4"/>
          <p:cNvGrpSpPr/>
          <p:nvPr/>
        </p:nvGrpSpPr>
        <p:grpSpPr>
          <a:xfrm>
            <a:off x="869315" y="2344420"/>
            <a:ext cx="7773670" cy="590550"/>
            <a:chOff x="508000" y="3196191"/>
            <a:chExt cx="7773594" cy="590550"/>
          </a:xfrm>
        </p:grpSpPr>
        <p:sp>
          <p:nvSpPr>
            <p:cNvPr id="21"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Times New Roman" panose="02020603050405020304" pitchFamily="18" charset="0"/>
                  <a:ea typeface="MS UI Gothic" panose="020B0600070205080204" charset="-128"/>
                </a:rPr>
                <a:t>3</a:t>
              </a:r>
            </a:p>
          </p:txBody>
        </p:sp>
        <p:cxnSp>
          <p:nvCxnSpPr>
            <p:cNvPr id="22" name="直接连接符 21"/>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3" name="矩形 7"/>
            <p:cNvSpPr>
              <a:spLocks noChangeArrowheads="1"/>
            </p:cNvSpPr>
            <p:nvPr/>
          </p:nvSpPr>
          <p:spPr bwMode="auto">
            <a:xfrm>
              <a:off x="960751" y="3291441"/>
              <a:ext cx="7320843"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sym typeface="+mn-ea"/>
                </a:rPr>
                <a:t>逐层分块调试</a:t>
              </a:r>
              <a:endParaRPr lang="zh-CN" altLang="en-US" b="1" dirty="0">
                <a:solidFill>
                  <a:srgbClr val="E67819"/>
                </a:solidFill>
                <a:latin typeface="微软雅黑" panose="020B0503020204020204" charset="-122"/>
                <a:ea typeface="微软雅黑" panose="020B0503020204020204" charset="-122"/>
              </a:endParaRPr>
            </a:p>
          </p:txBody>
        </p:sp>
      </p:grpSp>
      <p:sp>
        <p:nvSpPr>
          <p:cNvPr id="24" name="矩形 8"/>
          <p:cNvSpPr>
            <a:spLocks noChangeArrowheads="1"/>
          </p:cNvSpPr>
          <p:nvPr/>
        </p:nvSpPr>
        <p:spPr bwMode="auto">
          <a:xfrm>
            <a:off x="1316990" y="2824480"/>
            <a:ext cx="9571990" cy="417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indent="0" algn="l" fontAlgn="auto">
              <a:lnSpc>
                <a:spcPct val="130000"/>
              </a:lnSpc>
            </a:pPr>
            <a:r>
              <a:rPr dirty="0" err="1">
                <a:latin typeface="微软雅黑" panose="020B0503020204020204" charset="-122"/>
                <a:ea typeface="微软雅黑" panose="020B0503020204020204" charset="-122"/>
                <a:sym typeface="+mn-ea"/>
              </a:rPr>
              <a:t>软件调试可先调试底层小模块，再调试上层模块，最后调试整个程序</a:t>
            </a:r>
            <a:r>
              <a:rPr dirty="0">
                <a:latin typeface="微软雅黑" panose="020B0503020204020204" charset="-122"/>
                <a:ea typeface="微软雅黑" panose="020B0503020204020204" charset="-122"/>
                <a:sym typeface="+mn-ea"/>
              </a:rPr>
              <a:t>。</a:t>
            </a:r>
            <a:endParaRPr lang="zh-CN" altLang="en-US" dirty="0">
              <a:latin typeface="微软雅黑" panose="020B0503020204020204" charset="-122"/>
              <a:ea typeface="微软雅黑" panose="020B0503020204020204" charset="-122"/>
            </a:endParaRPr>
          </a:p>
        </p:txBody>
      </p:sp>
      <p:grpSp>
        <p:nvGrpSpPr>
          <p:cNvPr id="29" name="组合 28"/>
          <p:cNvGrpSpPr/>
          <p:nvPr/>
        </p:nvGrpSpPr>
        <p:grpSpPr>
          <a:xfrm>
            <a:off x="869315" y="3475990"/>
            <a:ext cx="2002155" cy="590550"/>
            <a:chOff x="512763" y="4940853"/>
            <a:chExt cx="2002098" cy="590550"/>
          </a:xfrm>
        </p:grpSpPr>
        <p:sp>
          <p:nvSpPr>
            <p:cNvPr id="25" name="TextBox 10"/>
            <p:cNvSpPr txBox="1">
              <a:spLocks noChangeArrowheads="1"/>
            </p:cNvSpPr>
            <p:nvPr/>
          </p:nvSpPr>
          <p:spPr bwMode="auto">
            <a:xfrm>
              <a:off x="512763" y="4940853"/>
              <a:ext cx="36419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Times New Roman" panose="02020603050405020304" pitchFamily="18" charset="0"/>
                  <a:ea typeface="MS UI Gothic" panose="020B0600070205080204" charset="-128"/>
                </a:rPr>
                <a:t>4</a:t>
              </a:r>
            </a:p>
          </p:txBody>
        </p:sp>
        <p:cxnSp>
          <p:nvCxnSpPr>
            <p:cNvPr id="26" name="直接连接符 25"/>
            <p:cNvCxnSpPr/>
            <p:nvPr/>
          </p:nvCxnSpPr>
          <p:spPr>
            <a:xfrm flipH="1">
              <a:off x="512763" y="4940853"/>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7" name="矩形 12"/>
            <p:cNvSpPr>
              <a:spLocks noChangeArrowheads="1"/>
            </p:cNvSpPr>
            <p:nvPr/>
          </p:nvSpPr>
          <p:spPr bwMode="auto">
            <a:xfrm>
              <a:off x="960438" y="5036103"/>
              <a:ext cx="1554423"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a:r>
                <a:rPr lang="zh-CN" altLang="en-US" b="1" dirty="0">
                  <a:solidFill>
                    <a:srgbClr val="E67819"/>
                  </a:solidFill>
                  <a:latin typeface="微软雅黑" panose="020B0503020204020204" charset="-122"/>
                  <a:ea typeface="微软雅黑" panose="020B0503020204020204" charset="-122"/>
                  <a:sym typeface="+mn-ea"/>
                </a:rPr>
                <a:t>对分查找调试</a:t>
              </a:r>
              <a:endParaRPr lang="zh-CN" altLang="en-US" b="1" dirty="0">
                <a:solidFill>
                  <a:srgbClr val="E67819"/>
                </a:solidFill>
                <a:latin typeface="微软雅黑" panose="020B0503020204020204" charset="-122"/>
                <a:ea typeface="微软雅黑" panose="020B0503020204020204" charset="-122"/>
              </a:endParaRPr>
            </a:p>
          </p:txBody>
        </p:sp>
      </p:grpSp>
      <p:sp>
        <p:nvSpPr>
          <p:cNvPr id="28" name="矩形 9"/>
          <p:cNvSpPr>
            <a:spLocks noChangeArrowheads="1"/>
          </p:cNvSpPr>
          <p:nvPr/>
        </p:nvSpPr>
        <p:spPr bwMode="auto">
          <a:xfrm>
            <a:off x="1316990" y="3999865"/>
            <a:ext cx="9762490" cy="1532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indent="0" algn="l" fontAlgn="auto">
              <a:lnSpc>
                <a:spcPct val="130000"/>
              </a:lnSpc>
            </a:pPr>
            <a:r>
              <a:rPr dirty="0">
                <a:latin typeface="微软雅黑" panose="020B0503020204020204" charset="-122"/>
                <a:ea typeface="微软雅黑" panose="020B0503020204020204" charset="-122"/>
                <a:sym typeface="+mn-ea"/>
              </a:rPr>
              <a:t>如果已知程序内若干关键部位的某些变量的正确值，则可在程序的中点附近用赋值语句或输入语句对这些变量赋以正确值，然后检查程序的输出结果。如果输出结果正确，则可认为程序的后半段无错，接着到程序前半段查找错误，否则应在程序的后半段查错。反复使用此法，缩小查找范围，直到找出错误位置。</a:t>
            </a:r>
            <a:endParaRPr lang="zh-CN" altLang="en-US" dirty="0">
              <a:latin typeface="微软雅黑" panose="020B0503020204020204" charset="-122"/>
              <a:ea typeface="微软雅黑" panose="020B0503020204020204" charset="-122"/>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en-US" dirty="0">
                <a:sym typeface="+mn-ea"/>
              </a:rPr>
              <a:t>4.7 </a:t>
            </a:r>
            <a:r>
              <a:rPr lang="zh-CN" altLang="en-US" dirty="0">
                <a:sym typeface="+mn-ea"/>
              </a:rPr>
              <a:t>软件调试、验证与确认</a:t>
            </a:r>
            <a:endParaRPr lang="zh-CN" altLang="zh-CN" dirty="0">
              <a:sym typeface="+mn-ea"/>
            </a:endParaRPr>
          </a:p>
        </p:txBody>
      </p:sp>
      <p:sp>
        <p:nvSpPr>
          <p:cNvPr id="7" name="文本占位符 6">
            <a:extLst>
              <a:ext uri="{FF2B5EF4-FFF2-40B4-BE49-F238E27FC236}">
                <a16:creationId xmlns:a16="http://schemas.microsoft.com/office/drawing/2014/main" id="{735905B3-BAE6-713A-67FA-1C6F3328F2A7}"/>
              </a:ext>
            </a:extLst>
          </p:cNvPr>
          <p:cNvSpPr>
            <a:spLocks noGrp="1"/>
          </p:cNvSpPr>
          <p:nvPr>
            <p:ph type="body" sz="quarter" idx="10"/>
          </p:nvPr>
        </p:nvSpPr>
        <p:spPr>
          <a:xfrm>
            <a:off x="696000" y="1322832"/>
            <a:ext cx="5400000" cy="400110"/>
          </a:xfrm>
        </p:spPr>
        <p:txBody>
          <a:bodyPr/>
          <a:lstStyle/>
          <a:p>
            <a:r>
              <a:rPr lang="en-US" altLang="zh-CN" dirty="0"/>
              <a:t>4.7.1 </a:t>
            </a:r>
            <a:r>
              <a:rPr lang="zh-CN" altLang="en-US" dirty="0"/>
              <a:t>软件调试方法和技术</a:t>
            </a:r>
          </a:p>
        </p:txBody>
      </p:sp>
      <p:sp>
        <p:nvSpPr>
          <p:cNvPr id="8" name="文本占位符 7">
            <a:extLst>
              <a:ext uri="{FF2B5EF4-FFF2-40B4-BE49-F238E27FC236}">
                <a16:creationId xmlns:a16="http://schemas.microsoft.com/office/drawing/2014/main" id="{8AD86917-5972-B1F6-2772-8422E13A9D03}"/>
              </a:ext>
            </a:extLst>
          </p:cNvPr>
          <p:cNvSpPr>
            <a:spLocks noGrp="1"/>
          </p:cNvSpPr>
          <p:nvPr>
            <p:ph type="body" sz="quarter" idx="11"/>
          </p:nvPr>
        </p:nvSpPr>
        <p:spPr/>
        <p:txBody>
          <a:bodyPr/>
          <a:lstStyle/>
          <a:p>
            <a:endParaRPr lang="zh-CN" altLang="en-US"/>
          </a:p>
        </p:txBody>
      </p:sp>
      <p:grpSp>
        <p:nvGrpSpPr>
          <p:cNvPr id="14" name="组合 13"/>
          <p:cNvGrpSpPr/>
          <p:nvPr/>
        </p:nvGrpSpPr>
        <p:grpSpPr>
          <a:xfrm>
            <a:off x="4929505" y="2787650"/>
            <a:ext cx="6267805" cy="2352675"/>
            <a:chOff x="1188" y="3092"/>
            <a:chExt cx="9203" cy="3705"/>
          </a:xfrm>
        </p:grpSpPr>
        <p:grpSp>
          <p:nvGrpSpPr>
            <p:cNvPr id="5" name="组合 4"/>
            <p:cNvGrpSpPr/>
            <p:nvPr/>
          </p:nvGrpSpPr>
          <p:grpSpPr>
            <a:xfrm>
              <a:off x="1188" y="3092"/>
              <a:ext cx="3561" cy="930"/>
              <a:chOff x="508000" y="3196191"/>
              <a:chExt cx="2260994" cy="590550"/>
            </a:xfrm>
          </p:grpSpPr>
          <p:sp>
            <p:nvSpPr>
              <p:cNvPr id="21" name="TextBox 1"/>
              <p:cNvSpPr txBox="1">
                <a:spLocks noChangeArrowheads="1"/>
              </p:cNvSpPr>
              <p:nvPr/>
            </p:nvSpPr>
            <p:spPr bwMode="auto">
              <a:xfrm>
                <a:off x="508000" y="3196191"/>
                <a:ext cx="374011"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Times New Roman" panose="02020603050405020304" pitchFamily="18" charset="0"/>
                    <a:ea typeface="MS UI Gothic" panose="020B0600070205080204" charset="-128"/>
                  </a:rPr>
                  <a:t>5</a:t>
                </a:r>
              </a:p>
            </p:txBody>
          </p:sp>
          <p:cxnSp>
            <p:nvCxnSpPr>
              <p:cNvPr id="22" name="直接连接符 21"/>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3" name="矩形 7"/>
              <p:cNvSpPr>
                <a:spLocks noChangeArrowheads="1"/>
              </p:cNvSpPr>
              <p:nvPr/>
            </p:nvSpPr>
            <p:spPr bwMode="auto">
              <a:xfrm>
                <a:off x="960751" y="3291441"/>
                <a:ext cx="18082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回溯法</a:t>
                </a:r>
              </a:p>
            </p:txBody>
          </p:sp>
        </p:grpSp>
        <p:sp>
          <p:nvSpPr>
            <p:cNvPr id="24" name="矩形 8"/>
            <p:cNvSpPr>
              <a:spLocks noChangeArrowheads="1"/>
            </p:cNvSpPr>
            <p:nvPr/>
          </p:nvSpPr>
          <p:spPr bwMode="auto">
            <a:xfrm>
              <a:off x="1893" y="3848"/>
              <a:ext cx="8498" cy="2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indent="0" algn="l" fontAlgn="auto">
                <a:lnSpc>
                  <a:spcPct val="130000"/>
                </a:lnSpc>
              </a:pPr>
              <a:r>
                <a:rPr dirty="0">
                  <a:latin typeface="微软雅黑" panose="020B0503020204020204" charset="-122"/>
                  <a:ea typeface="微软雅黑" panose="020B0503020204020204" charset="-122"/>
                  <a:sym typeface="+mn-ea"/>
                </a:rPr>
                <a:t>回溯法是相当常用的调试方法，调试小程序时这种方法比较有效。具体做法是，从发现问题的地方开始，人工沿程序的控制流往回追踪源程序代码，直到找出错误原因为止。但是当程序规模扩大后，应该回溯的路径数目变大，回溯就变得不可能了。</a:t>
              </a:r>
              <a:endParaRPr lang="zh-CN" altLang="en-US" dirty="0">
                <a:latin typeface="微软雅黑" panose="020B0503020204020204" charset="-122"/>
                <a:ea typeface="微软雅黑" panose="020B0503020204020204" charset="-122"/>
              </a:endParaRPr>
            </a:p>
          </p:txBody>
        </p:sp>
      </p:grpSp>
      <p:sp>
        <p:nvSpPr>
          <p:cNvPr id="167" name="圆角矩形"/>
          <p:cNvSpPr/>
          <p:nvPr/>
        </p:nvSpPr>
        <p:spPr>
          <a:xfrm>
            <a:off x="1004570" y="3324860"/>
            <a:ext cx="3506470" cy="1643380"/>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sz="1600" dirty="0">
                <a:solidFill>
                  <a:schemeClr val="bg2">
                    <a:lumMod val="50000"/>
                  </a:schemeClr>
                </a:solidFill>
                <a:latin typeface="Times New Roman" panose="02020603050405020304" pitchFamily="18" charset="0"/>
              </a:rPr>
              <a:t>   </a:t>
            </a:r>
            <a:r>
              <a:rPr lang="zh-CN" altLang="en-US" sz="1600" dirty="0">
                <a:solidFill>
                  <a:schemeClr val="bg2">
                    <a:lumMod val="50000"/>
                  </a:schemeClr>
                </a:solidFill>
                <a:latin typeface="Times New Roman" panose="02020603050405020304" pitchFamily="18" charset="0"/>
              </a:rPr>
              <a:t> 软件测试计划描述测试活动的范围、方法、资源和进度。它规定被测试的项、特性、应完成的测试任务、承担各项工作的人员职责及与本计划有关的风险等。</a:t>
            </a:r>
          </a:p>
        </p:txBody>
      </p:sp>
      <p:sp>
        <p:nvSpPr>
          <p:cNvPr id="2" name="学士帽"/>
          <p:cNvSpPr/>
          <p:nvPr/>
        </p:nvSpPr>
        <p:spPr bwMode="auto">
          <a:xfrm>
            <a:off x="809625" y="3111500"/>
            <a:ext cx="670560" cy="472440"/>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latin typeface="Times New Roman" panose="02020603050405020304" pitchFamily="18" charset="0"/>
              <a:ea typeface="微软雅黑 Light" panose="020B0502040204020203" pitchFamily="34" charset="-122"/>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en-US" dirty="0">
                <a:sym typeface="+mn-ea"/>
              </a:rPr>
              <a:t>4.7 </a:t>
            </a:r>
            <a:r>
              <a:rPr lang="zh-CN" altLang="en-US" dirty="0">
                <a:sym typeface="+mn-ea"/>
              </a:rPr>
              <a:t>软件调试、验证与确认</a:t>
            </a:r>
            <a:endParaRPr lang="zh-CN" altLang="en-US" dirty="0"/>
          </a:p>
        </p:txBody>
      </p:sp>
      <p:sp>
        <p:nvSpPr>
          <p:cNvPr id="4" name="文本占位符 3">
            <a:extLst>
              <a:ext uri="{FF2B5EF4-FFF2-40B4-BE49-F238E27FC236}">
                <a16:creationId xmlns:a16="http://schemas.microsoft.com/office/drawing/2014/main" id="{7693D35A-350F-6042-575E-C3C494DA1101}"/>
              </a:ext>
            </a:extLst>
          </p:cNvPr>
          <p:cNvSpPr>
            <a:spLocks noGrp="1"/>
          </p:cNvSpPr>
          <p:nvPr>
            <p:ph type="body" sz="quarter" idx="10"/>
          </p:nvPr>
        </p:nvSpPr>
        <p:spPr>
          <a:xfrm>
            <a:off x="696000" y="1322832"/>
            <a:ext cx="5400000" cy="400110"/>
          </a:xfrm>
        </p:spPr>
        <p:txBody>
          <a:bodyPr/>
          <a:lstStyle/>
          <a:p>
            <a:r>
              <a:rPr lang="en-US" altLang="zh-CN" dirty="0"/>
              <a:t>4.7.2 </a:t>
            </a:r>
            <a:r>
              <a:rPr lang="zh-CN" altLang="en-US" dirty="0"/>
              <a:t>软件验证 </a:t>
            </a:r>
            <a:r>
              <a:rPr lang="en-US" altLang="zh-CN" dirty="0"/>
              <a:t>Verification</a:t>
            </a:r>
            <a:endParaRPr lang="zh-CN" altLang="en-US" dirty="0"/>
          </a:p>
        </p:txBody>
      </p:sp>
      <p:sp>
        <p:nvSpPr>
          <p:cNvPr id="9" name="文本占位符 8">
            <a:extLst>
              <a:ext uri="{FF2B5EF4-FFF2-40B4-BE49-F238E27FC236}">
                <a16:creationId xmlns:a16="http://schemas.microsoft.com/office/drawing/2014/main" id="{8914374C-118F-3A36-427E-2A2ADE81E178}"/>
              </a:ext>
            </a:extLst>
          </p:cNvPr>
          <p:cNvSpPr>
            <a:spLocks noGrp="1"/>
          </p:cNvSpPr>
          <p:nvPr>
            <p:ph type="body" sz="quarter" idx="11"/>
          </p:nvPr>
        </p:nvSpPr>
        <p:spPr/>
        <p:txBody>
          <a:bodyPr/>
          <a:lstStyle/>
          <a:p>
            <a:endParaRPr lang="zh-CN" altLang="en-US"/>
          </a:p>
        </p:txBody>
      </p:sp>
      <p:sp>
        <p:nvSpPr>
          <p:cNvPr id="100" name="文本框 99"/>
          <p:cNvSpPr txBox="1"/>
          <p:nvPr/>
        </p:nvSpPr>
        <p:spPr>
          <a:xfrm>
            <a:off x="696000" y="2312285"/>
            <a:ext cx="10574615" cy="3254224"/>
          </a:xfrm>
          <a:prstGeom prst="rect">
            <a:avLst/>
          </a:prstGeom>
          <a:noFill/>
          <a:ln w="9525">
            <a:noFill/>
          </a:ln>
        </p:spPr>
        <p:txBody>
          <a:bodyPr wrap="square">
            <a:spAutoFit/>
          </a:bodyPr>
          <a:lstStyle/>
          <a:p>
            <a:pPr marL="0" indent="0" algn="l" fontAlgn="auto">
              <a:lnSpc>
                <a:spcPct val="130000"/>
              </a:lnSpc>
            </a:pPr>
            <a:r>
              <a:rPr lang="en-US" sz="2000" dirty="0">
                <a:latin typeface="微软雅黑" panose="020B0503020204020204" charset="-122"/>
                <a:ea typeface="微软雅黑" panose="020B0503020204020204" charset="-122"/>
                <a:sym typeface="+mn-ea"/>
              </a:rPr>
              <a:t>       </a:t>
            </a:r>
            <a:r>
              <a:rPr sz="2000" dirty="0">
                <a:latin typeface="微软雅黑" panose="020B0503020204020204" charset="-122"/>
                <a:ea typeface="微软雅黑" panose="020B0503020204020204" charset="-122"/>
                <a:sym typeface="+mn-ea"/>
              </a:rPr>
              <a:t>为了保证软件质量，在软件开发的整个过程中要坚持遵守软件开发的规范，</a:t>
            </a:r>
            <a:r>
              <a:rPr sz="2000" dirty="0">
                <a:solidFill>
                  <a:schemeClr val="accent2">
                    <a:lumMod val="75000"/>
                  </a:schemeClr>
                </a:solidFill>
                <a:latin typeface="微软雅黑" panose="020B0503020204020204" charset="-122"/>
                <a:ea typeface="微软雅黑" panose="020B0503020204020204" charset="-122"/>
                <a:sym typeface="+mn-ea"/>
              </a:rPr>
              <a:t>自始至终重视保证软件质量的问题。在软件生存期每一阶段结束时都要进行复审，在软件测试的每一阶段都要对软件进行验证。</a:t>
            </a:r>
            <a:endParaRPr lang="en-US" sz="2000" dirty="0">
              <a:solidFill>
                <a:schemeClr val="accent2">
                  <a:lumMod val="75000"/>
                </a:schemeClr>
              </a:solidFill>
              <a:latin typeface="微软雅黑" panose="020B0503020204020204" charset="-122"/>
              <a:ea typeface="微软雅黑" panose="020B0503020204020204" charset="-122"/>
              <a:sym typeface="+mn-ea"/>
            </a:endParaRPr>
          </a:p>
          <a:p>
            <a:pPr marL="0" indent="0" algn="l" fontAlgn="auto">
              <a:lnSpc>
                <a:spcPct val="130000"/>
              </a:lnSpc>
            </a:pPr>
            <a:endParaRPr sz="2000" dirty="0">
              <a:solidFill>
                <a:schemeClr val="accent2">
                  <a:lumMod val="75000"/>
                </a:schemeClr>
              </a:solidFill>
              <a:latin typeface="微软雅黑" panose="020B0503020204020204" charset="-122"/>
              <a:ea typeface="微软雅黑" panose="020B0503020204020204" charset="-122"/>
              <a:sym typeface="+mn-ea"/>
            </a:endParaRPr>
          </a:p>
          <a:p>
            <a:pPr marL="0" indent="0" algn="l" fontAlgn="auto">
              <a:lnSpc>
                <a:spcPct val="130000"/>
              </a:lnSpc>
            </a:pPr>
            <a:r>
              <a:rPr sz="2000" dirty="0">
                <a:latin typeface="微软雅黑" panose="020B0503020204020204" charset="-122"/>
                <a:ea typeface="微软雅黑" panose="020B0503020204020204" charset="-122"/>
                <a:sym typeface="+mn-ea"/>
              </a:rPr>
              <a:t>       软件的测试可以发现程序中的错误，但不能证明程序中没有错误，也就是说不能证明程序的正确性。因而要保证软件的可靠性，测试技术是一种重要的技术，但也是一种不完善的技术。如果能研制一种行之有效的程序正确性证明技术，那么软件测试的工作量将显著地减少。</a:t>
            </a:r>
            <a:endParaRPr dirty="0">
              <a:latin typeface="微软雅黑" panose="020B0503020204020204" charset="-122"/>
              <a:ea typeface="微软雅黑" panose="020B0503020204020204" charset="-122"/>
              <a:sym typeface="+mn-ea"/>
            </a:endParaRPr>
          </a:p>
        </p:txBody>
      </p:sp>
    </p:spTree>
  </p:cSld>
  <p:clrMapOvr>
    <a:masterClrMapping/>
  </p:clrMapOvr>
  <p:transition>
    <p:diamond/>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en-US" dirty="0">
                <a:sym typeface="+mn-ea"/>
              </a:rPr>
              <a:t>4.7 </a:t>
            </a:r>
            <a:r>
              <a:rPr lang="zh-CN" altLang="en-US" dirty="0">
                <a:sym typeface="+mn-ea"/>
              </a:rPr>
              <a:t>软件调试、验证与确认</a:t>
            </a:r>
            <a:endParaRPr lang="zh-CN" altLang="en-US" dirty="0"/>
          </a:p>
        </p:txBody>
      </p:sp>
      <p:sp>
        <p:nvSpPr>
          <p:cNvPr id="16" name="文本占位符 15">
            <a:extLst>
              <a:ext uri="{FF2B5EF4-FFF2-40B4-BE49-F238E27FC236}">
                <a16:creationId xmlns:a16="http://schemas.microsoft.com/office/drawing/2014/main" id="{AE844049-1D32-29FC-46BE-76B933026D65}"/>
              </a:ext>
            </a:extLst>
          </p:cNvPr>
          <p:cNvSpPr>
            <a:spLocks noGrp="1"/>
          </p:cNvSpPr>
          <p:nvPr>
            <p:ph type="body" sz="quarter" idx="10"/>
          </p:nvPr>
        </p:nvSpPr>
        <p:spPr>
          <a:xfrm>
            <a:off x="696000" y="1322832"/>
            <a:ext cx="5400000" cy="400110"/>
          </a:xfrm>
        </p:spPr>
        <p:txBody>
          <a:bodyPr/>
          <a:lstStyle/>
          <a:p>
            <a:r>
              <a:rPr lang="en-US" altLang="zh-CN" dirty="0"/>
              <a:t>4.7.2 </a:t>
            </a:r>
            <a:r>
              <a:rPr lang="zh-CN" altLang="en-US" dirty="0"/>
              <a:t>软件验证 </a:t>
            </a:r>
            <a:r>
              <a:rPr lang="en-US" altLang="zh-CN" dirty="0"/>
              <a:t>Verification</a:t>
            </a:r>
            <a:endParaRPr lang="zh-CN" altLang="en-US" dirty="0"/>
          </a:p>
        </p:txBody>
      </p:sp>
      <p:sp>
        <p:nvSpPr>
          <p:cNvPr id="35" name="文本占位符 34">
            <a:extLst>
              <a:ext uri="{FF2B5EF4-FFF2-40B4-BE49-F238E27FC236}">
                <a16:creationId xmlns:a16="http://schemas.microsoft.com/office/drawing/2014/main" id="{2C369187-2FD0-3B77-3810-E033EBF87D32}"/>
              </a:ext>
            </a:extLst>
          </p:cNvPr>
          <p:cNvSpPr>
            <a:spLocks noGrp="1"/>
          </p:cNvSpPr>
          <p:nvPr>
            <p:ph type="body" sz="quarter" idx="11"/>
          </p:nvPr>
        </p:nvSpPr>
        <p:spPr/>
        <p:txBody>
          <a:bodyPr/>
          <a:lstStyle/>
          <a:p>
            <a:endParaRPr lang="zh-CN" altLang="en-US"/>
          </a:p>
        </p:txBody>
      </p:sp>
      <p:sp>
        <p:nvSpPr>
          <p:cNvPr id="100" name="文本框 99"/>
          <p:cNvSpPr txBox="1"/>
          <p:nvPr/>
        </p:nvSpPr>
        <p:spPr>
          <a:xfrm>
            <a:off x="561975" y="4924058"/>
            <a:ext cx="11068685" cy="1137556"/>
          </a:xfrm>
          <a:prstGeom prst="rect">
            <a:avLst/>
          </a:prstGeom>
          <a:noFill/>
          <a:ln w="9525">
            <a:noFill/>
          </a:ln>
        </p:spPr>
        <p:txBody>
          <a:bodyPr wrap="square">
            <a:spAutoFit/>
          </a:bodyPr>
          <a:lstStyle/>
          <a:p>
            <a:pPr marL="285750" indent="-285750" algn="l" fontAlgn="auto">
              <a:lnSpc>
                <a:spcPct val="130000"/>
              </a:lnSpc>
              <a:buClrTx/>
              <a:buFont typeface="Arial" panose="020B0604020202020204" pitchFamily="34" charset="0"/>
              <a:buChar char="•"/>
            </a:pPr>
            <a:r>
              <a:rPr dirty="0">
                <a:latin typeface="微软雅黑" panose="020B0503020204020204" charset="-122"/>
                <a:ea typeface="微软雅黑" panose="020B0503020204020204" charset="-122"/>
                <a:sym typeface="+mn-ea"/>
              </a:rPr>
              <a:t>在软件测试（模块测试、集成测试）阶段，</a:t>
            </a:r>
            <a:r>
              <a:rPr dirty="0">
                <a:solidFill>
                  <a:schemeClr val="accent5">
                    <a:lumMod val="50000"/>
                  </a:schemeClr>
                </a:solidFill>
                <a:latin typeface="微软雅黑" panose="020B0503020204020204" charset="-122"/>
                <a:ea typeface="微软雅黑" panose="020B0503020204020204" charset="-122"/>
                <a:sym typeface="+mn-ea"/>
              </a:rPr>
              <a:t>软件开发人员用尽可能少的测试数据，尽可能多地发现程序中的错误。</a:t>
            </a:r>
            <a:r>
              <a:rPr dirty="0">
                <a:latin typeface="微软雅黑" panose="020B0503020204020204" charset="-122"/>
                <a:ea typeface="微软雅黑" panose="020B0503020204020204" charset="-122"/>
                <a:sym typeface="+mn-ea"/>
              </a:rPr>
              <a:t>软件验证要进行评审、审查、测试、检查、审计等活动，或对某些项、处理、服务或文件等是否和规定的需求相一致进行判断并提出报告。</a:t>
            </a:r>
          </a:p>
        </p:txBody>
      </p:sp>
      <p:sp>
        <p:nvSpPr>
          <p:cNvPr id="5" name="MH_Other_1"/>
          <p:cNvSpPr>
            <a:spLocks noChangeArrowheads="1"/>
          </p:cNvSpPr>
          <p:nvPr>
            <p:custDataLst>
              <p:tags r:id="rId1"/>
            </p:custDataLst>
          </p:nvPr>
        </p:nvSpPr>
        <p:spPr bwMode="auto">
          <a:xfrm>
            <a:off x="1215890" y="2761354"/>
            <a:ext cx="673100" cy="504825"/>
          </a:xfrm>
          <a:prstGeom prst="rect">
            <a:avLst/>
          </a:prstGeom>
          <a:solidFill>
            <a:srgbClr val="25B4E9"/>
          </a:solidFill>
          <a:ln w="9525">
            <a:noFill/>
            <a:miter lim="800000"/>
          </a:ln>
        </p:spPr>
        <p:txBody>
          <a:bodyPr anchor="ctr"/>
          <a:lstStyle/>
          <a:p>
            <a:pPr algn="ctr" eaLnBrk="1" hangingPunct="1"/>
            <a:r>
              <a:rPr lang="en-US" altLang="zh-CN" sz="2400" b="1" dirty="0">
                <a:solidFill>
                  <a:srgbClr val="FFFFFF"/>
                </a:solidFill>
                <a:latin typeface="Times New Roman" panose="02020603050405020304" pitchFamily="18" charset="0"/>
                <a:ea typeface="微软雅黑" panose="020B0503020204020204" charset="-122"/>
              </a:rPr>
              <a:t>01</a:t>
            </a:r>
            <a:endParaRPr lang="zh-CN" altLang="en-US" sz="2400" b="1" dirty="0">
              <a:solidFill>
                <a:srgbClr val="FFFFFF"/>
              </a:solidFill>
              <a:latin typeface="Times New Roman" panose="02020603050405020304" pitchFamily="18" charset="0"/>
              <a:ea typeface="微软雅黑" panose="020B0503020204020204" charset="-122"/>
            </a:endParaRPr>
          </a:p>
        </p:txBody>
      </p:sp>
      <p:sp>
        <p:nvSpPr>
          <p:cNvPr id="6" name="MH_Other_2"/>
          <p:cNvSpPr>
            <a:spLocks noChangeArrowheads="1"/>
          </p:cNvSpPr>
          <p:nvPr>
            <p:custDataLst>
              <p:tags r:id="rId2"/>
            </p:custDataLst>
          </p:nvPr>
        </p:nvSpPr>
        <p:spPr bwMode="auto">
          <a:xfrm>
            <a:off x="1927090" y="2866129"/>
            <a:ext cx="533400" cy="400050"/>
          </a:xfrm>
          <a:prstGeom prst="rect">
            <a:avLst/>
          </a:prstGeom>
          <a:solidFill>
            <a:srgbClr val="ACE3F6"/>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4" name="MH_Other_3"/>
          <p:cNvSpPr>
            <a:spLocks noChangeArrowheads="1"/>
          </p:cNvSpPr>
          <p:nvPr>
            <p:custDataLst>
              <p:tags r:id="rId3"/>
            </p:custDataLst>
          </p:nvPr>
        </p:nvSpPr>
        <p:spPr bwMode="auto">
          <a:xfrm>
            <a:off x="1368290" y="3294754"/>
            <a:ext cx="520700" cy="390525"/>
          </a:xfrm>
          <a:prstGeom prst="rect">
            <a:avLst/>
          </a:prstGeom>
          <a:solidFill>
            <a:srgbClr val="67CBEF"/>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8" name="MH_Other_4"/>
          <p:cNvSpPr>
            <a:spLocks noChangeArrowheads="1"/>
          </p:cNvSpPr>
          <p:nvPr>
            <p:custDataLst>
              <p:tags r:id="rId4"/>
            </p:custDataLst>
          </p:nvPr>
        </p:nvSpPr>
        <p:spPr bwMode="auto">
          <a:xfrm>
            <a:off x="1927090" y="3294754"/>
            <a:ext cx="673100" cy="333375"/>
          </a:xfrm>
          <a:prstGeom prst="rect">
            <a:avLst/>
          </a:prstGeom>
          <a:solidFill>
            <a:srgbClr val="D9F2FB"/>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9" name="MH_SubTitle_1"/>
          <p:cNvSpPr/>
          <p:nvPr>
            <p:custDataLst>
              <p:tags r:id="rId5"/>
            </p:custDataLst>
          </p:nvPr>
        </p:nvSpPr>
        <p:spPr>
          <a:xfrm>
            <a:off x="2764655" y="3084816"/>
            <a:ext cx="3389630" cy="276999"/>
          </a:xfrm>
          <a:prstGeom prst="rect">
            <a:avLst/>
          </a:prstGeom>
        </p:spPr>
        <p:txBody>
          <a:bodyPr lIns="0" tIns="0" rIns="0" bIns="0" anchor="ctr">
            <a:spAutoFit/>
          </a:bodyPr>
          <a:lstStyle/>
          <a:p>
            <a:pPr>
              <a:defRPr/>
            </a:pPr>
            <a:r>
              <a:rPr dirty="0" err="1">
                <a:solidFill>
                  <a:srgbClr val="C00000"/>
                </a:solidFill>
                <a:latin typeface="微软雅黑" panose="020B0503020204020204" charset="-122"/>
                <a:ea typeface="微软雅黑" panose="020B0503020204020204" charset="-122"/>
                <a:sym typeface="+mn-ea"/>
              </a:rPr>
              <a:t>断定软件操作正确</a:t>
            </a:r>
            <a:endParaRPr lang="zh-CN" altLang="en-US" dirty="0">
              <a:solidFill>
                <a:srgbClr val="000000"/>
              </a:solidFill>
              <a:latin typeface="微软雅黑" panose="020B0503020204020204" charset="-122"/>
              <a:ea typeface="微软雅黑" panose="020B0503020204020204" charset="-122"/>
              <a:sym typeface="+mn-ea"/>
            </a:endParaRPr>
          </a:p>
        </p:txBody>
      </p:sp>
      <p:sp>
        <p:nvSpPr>
          <p:cNvPr id="10" name="MH_Other_5"/>
          <p:cNvSpPr>
            <a:spLocks noChangeArrowheads="1"/>
          </p:cNvSpPr>
          <p:nvPr>
            <p:custDataLst>
              <p:tags r:id="rId6"/>
            </p:custDataLst>
          </p:nvPr>
        </p:nvSpPr>
        <p:spPr bwMode="auto">
          <a:xfrm>
            <a:off x="6000518" y="2761354"/>
            <a:ext cx="673100" cy="504825"/>
          </a:xfrm>
          <a:prstGeom prst="rect">
            <a:avLst/>
          </a:prstGeom>
          <a:solidFill>
            <a:srgbClr val="4FB469"/>
          </a:solidFill>
          <a:ln w="9525">
            <a:noFill/>
            <a:miter lim="800000"/>
          </a:ln>
        </p:spPr>
        <p:txBody>
          <a:bodyPr anchor="ctr"/>
          <a:lstStyle/>
          <a:p>
            <a:pPr algn="ctr" eaLnBrk="1" hangingPunct="1"/>
            <a:r>
              <a:rPr lang="en-US" altLang="zh-CN" sz="2400" b="1" dirty="0">
                <a:solidFill>
                  <a:srgbClr val="FFFFFF"/>
                </a:solidFill>
                <a:latin typeface="Times New Roman" panose="02020603050405020304" pitchFamily="18" charset="0"/>
                <a:ea typeface="微软雅黑" panose="020B0503020204020204" charset="-122"/>
              </a:rPr>
              <a:t>03</a:t>
            </a:r>
            <a:endParaRPr lang="zh-CN" altLang="en-US" sz="2400" b="1" dirty="0">
              <a:solidFill>
                <a:srgbClr val="FFFFFF"/>
              </a:solidFill>
              <a:latin typeface="Times New Roman" panose="02020603050405020304" pitchFamily="18" charset="0"/>
              <a:ea typeface="微软雅黑" panose="020B0503020204020204" charset="-122"/>
            </a:endParaRPr>
          </a:p>
        </p:txBody>
      </p:sp>
      <p:sp>
        <p:nvSpPr>
          <p:cNvPr id="11" name="MH_Other_6"/>
          <p:cNvSpPr>
            <a:spLocks noChangeArrowheads="1"/>
          </p:cNvSpPr>
          <p:nvPr>
            <p:custDataLst>
              <p:tags r:id="rId7"/>
            </p:custDataLst>
          </p:nvPr>
        </p:nvSpPr>
        <p:spPr bwMode="auto">
          <a:xfrm>
            <a:off x="6711718" y="2866129"/>
            <a:ext cx="533400" cy="400050"/>
          </a:xfrm>
          <a:prstGeom prst="rect">
            <a:avLst/>
          </a:prstGeom>
          <a:solidFill>
            <a:srgbClr val="B6E0C1"/>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12" name="MH_Other_7"/>
          <p:cNvSpPr>
            <a:spLocks noChangeArrowheads="1"/>
          </p:cNvSpPr>
          <p:nvPr>
            <p:custDataLst>
              <p:tags r:id="rId8"/>
            </p:custDataLst>
          </p:nvPr>
        </p:nvSpPr>
        <p:spPr bwMode="auto">
          <a:xfrm>
            <a:off x="6152918" y="3294754"/>
            <a:ext cx="520700" cy="390525"/>
          </a:xfrm>
          <a:prstGeom prst="rect">
            <a:avLst/>
          </a:prstGeom>
          <a:solidFill>
            <a:srgbClr val="8DCF9E"/>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13" name="MH_Other_8"/>
          <p:cNvSpPr>
            <a:spLocks noChangeArrowheads="1"/>
          </p:cNvSpPr>
          <p:nvPr>
            <p:custDataLst>
              <p:tags r:id="rId9"/>
            </p:custDataLst>
          </p:nvPr>
        </p:nvSpPr>
        <p:spPr bwMode="auto">
          <a:xfrm>
            <a:off x="6711718" y="3294754"/>
            <a:ext cx="673100" cy="333375"/>
          </a:xfrm>
          <a:prstGeom prst="rect">
            <a:avLst/>
          </a:prstGeom>
          <a:solidFill>
            <a:srgbClr val="E1F3E5"/>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14" name="MH_SubTitle_3"/>
          <p:cNvSpPr/>
          <p:nvPr>
            <p:custDataLst>
              <p:tags r:id="rId10"/>
            </p:custDataLst>
          </p:nvPr>
        </p:nvSpPr>
        <p:spPr>
          <a:xfrm>
            <a:off x="7649614" y="3029254"/>
            <a:ext cx="3572510" cy="276999"/>
          </a:xfrm>
          <a:prstGeom prst="rect">
            <a:avLst/>
          </a:prstGeom>
        </p:spPr>
        <p:txBody>
          <a:bodyPr wrap="square" lIns="0" tIns="0" rIns="0" bIns="0" anchor="ctr">
            <a:spAutoFit/>
          </a:bodyPr>
          <a:lstStyle/>
          <a:p>
            <a:pPr>
              <a:defRPr/>
            </a:pPr>
            <a:r>
              <a:rPr dirty="0" err="1">
                <a:solidFill>
                  <a:srgbClr val="C00000"/>
                </a:solidFill>
                <a:latin typeface="微软雅黑" panose="020B0503020204020204" charset="-122"/>
                <a:ea typeface="微软雅黑" panose="020B0503020204020204" charset="-122"/>
                <a:sym typeface="+mn-ea"/>
              </a:rPr>
              <a:t>指示软件执行时产生错误的原因</a:t>
            </a:r>
            <a:endParaRPr lang="zh-CN" altLang="en-US" dirty="0">
              <a:solidFill>
                <a:srgbClr val="000000"/>
              </a:solidFill>
              <a:latin typeface="微软雅黑" panose="020B0503020204020204" charset="-122"/>
              <a:ea typeface="微软雅黑" panose="020B0503020204020204" charset="-122"/>
              <a:sym typeface="+mn-ea"/>
            </a:endParaRPr>
          </a:p>
        </p:txBody>
      </p:sp>
      <p:sp>
        <p:nvSpPr>
          <p:cNvPr id="15" name="MH_Other_9"/>
          <p:cNvSpPr>
            <a:spLocks noChangeArrowheads="1"/>
          </p:cNvSpPr>
          <p:nvPr>
            <p:custDataLst>
              <p:tags r:id="rId11"/>
            </p:custDataLst>
          </p:nvPr>
        </p:nvSpPr>
        <p:spPr bwMode="auto">
          <a:xfrm>
            <a:off x="1215890" y="3921947"/>
            <a:ext cx="673100" cy="504825"/>
          </a:xfrm>
          <a:prstGeom prst="rect">
            <a:avLst/>
          </a:prstGeom>
          <a:solidFill>
            <a:schemeClr val="accent5">
              <a:lumMod val="75000"/>
            </a:schemeClr>
          </a:solidFill>
          <a:ln w="9525">
            <a:noFill/>
            <a:miter lim="800000"/>
          </a:ln>
        </p:spPr>
        <p:txBody>
          <a:bodyPr anchor="ctr"/>
          <a:lstStyle/>
          <a:p>
            <a:pPr algn="ctr" eaLnBrk="1" hangingPunct="1"/>
            <a:r>
              <a:rPr lang="en-US" altLang="zh-CN" sz="2400" b="1" dirty="0">
                <a:solidFill>
                  <a:srgbClr val="FFFFFF"/>
                </a:solidFill>
                <a:latin typeface="Times New Roman" panose="02020603050405020304" pitchFamily="18" charset="0"/>
                <a:ea typeface="微软雅黑" panose="020B0503020204020204" charset="-122"/>
              </a:rPr>
              <a:t>02</a:t>
            </a:r>
            <a:endParaRPr lang="zh-CN" altLang="en-US" sz="2400" b="1" dirty="0">
              <a:solidFill>
                <a:srgbClr val="FFFFFF"/>
              </a:solidFill>
              <a:latin typeface="Times New Roman" panose="02020603050405020304" pitchFamily="18" charset="0"/>
              <a:ea typeface="微软雅黑" panose="020B0503020204020204" charset="-122"/>
            </a:endParaRPr>
          </a:p>
        </p:txBody>
      </p:sp>
      <p:sp>
        <p:nvSpPr>
          <p:cNvPr id="17" name="MH_Other_10"/>
          <p:cNvSpPr>
            <a:spLocks noChangeArrowheads="1"/>
          </p:cNvSpPr>
          <p:nvPr>
            <p:custDataLst>
              <p:tags r:id="rId12"/>
            </p:custDataLst>
          </p:nvPr>
        </p:nvSpPr>
        <p:spPr bwMode="auto">
          <a:xfrm>
            <a:off x="1927090" y="4026722"/>
            <a:ext cx="533400" cy="400050"/>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18" name="MH_Other_11"/>
          <p:cNvSpPr>
            <a:spLocks noChangeArrowheads="1"/>
          </p:cNvSpPr>
          <p:nvPr>
            <p:custDataLst>
              <p:tags r:id="rId13"/>
            </p:custDataLst>
          </p:nvPr>
        </p:nvSpPr>
        <p:spPr bwMode="auto">
          <a:xfrm>
            <a:off x="1368290" y="4455347"/>
            <a:ext cx="520700" cy="390525"/>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19" name="MH_Other_12"/>
          <p:cNvSpPr>
            <a:spLocks noChangeArrowheads="1"/>
          </p:cNvSpPr>
          <p:nvPr>
            <p:custDataLst>
              <p:tags r:id="rId14"/>
            </p:custDataLst>
          </p:nvPr>
        </p:nvSpPr>
        <p:spPr bwMode="auto">
          <a:xfrm>
            <a:off x="1927090" y="4455347"/>
            <a:ext cx="673100" cy="333375"/>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23" name="MH_SubTitle_2"/>
          <p:cNvSpPr/>
          <p:nvPr>
            <p:custDataLst>
              <p:tags r:id="rId15"/>
            </p:custDataLst>
          </p:nvPr>
        </p:nvSpPr>
        <p:spPr>
          <a:xfrm>
            <a:off x="2764655" y="4294622"/>
            <a:ext cx="3294380" cy="276999"/>
          </a:xfrm>
          <a:prstGeom prst="rect">
            <a:avLst/>
          </a:prstGeom>
        </p:spPr>
        <p:txBody>
          <a:bodyPr lIns="0" tIns="0" rIns="0" bIns="0" anchor="ctr">
            <a:spAutoFit/>
          </a:bodyPr>
          <a:lstStyle/>
          <a:p>
            <a:pPr lvl="0"/>
            <a:r>
              <a:rPr dirty="0" err="1">
                <a:solidFill>
                  <a:srgbClr val="C00000"/>
                </a:solidFill>
                <a:latin typeface="微软雅黑" panose="020B0503020204020204" charset="-122"/>
                <a:ea typeface="微软雅黑" panose="020B0503020204020204" charset="-122"/>
                <a:sym typeface="+mn-ea"/>
              </a:rPr>
              <a:t>指示软件操作错误</a:t>
            </a:r>
            <a:endParaRPr lang="zh-CN" altLang="en-US" dirty="0">
              <a:solidFill>
                <a:srgbClr val="000000"/>
              </a:solidFill>
              <a:latin typeface="微软雅黑" panose="020B0503020204020204" charset="-122"/>
              <a:ea typeface="微软雅黑" panose="020B0503020204020204" charset="-122"/>
              <a:sym typeface="+mn-ea"/>
            </a:endParaRPr>
          </a:p>
        </p:txBody>
      </p:sp>
      <p:sp>
        <p:nvSpPr>
          <p:cNvPr id="25" name="MH_Other_5"/>
          <p:cNvSpPr>
            <a:spLocks noChangeArrowheads="1"/>
          </p:cNvSpPr>
          <p:nvPr>
            <p:custDataLst>
              <p:tags r:id="rId16"/>
            </p:custDataLst>
          </p:nvPr>
        </p:nvSpPr>
        <p:spPr bwMode="auto">
          <a:xfrm>
            <a:off x="6000518" y="3921947"/>
            <a:ext cx="673100" cy="504825"/>
          </a:xfrm>
          <a:prstGeom prst="rect">
            <a:avLst/>
          </a:prstGeom>
          <a:solidFill>
            <a:schemeClr val="accent4">
              <a:lumMod val="75000"/>
            </a:schemeClr>
          </a:solidFill>
          <a:ln w="9525">
            <a:noFill/>
            <a:miter lim="800000"/>
          </a:ln>
        </p:spPr>
        <p:txBody>
          <a:bodyPr anchor="ctr"/>
          <a:lstStyle/>
          <a:p>
            <a:pPr algn="ctr" eaLnBrk="1" hangingPunct="1"/>
            <a:r>
              <a:rPr lang="en-US" altLang="zh-CN" sz="2400" b="1" dirty="0">
                <a:solidFill>
                  <a:srgbClr val="FFFFFF"/>
                </a:solidFill>
                <a:latin typeface="Times New Roman" panose="02020603050405020304" pitchFamily="18" charset="0"/>
                <a:ea typeface="微软雅黑" panose="020B0503020204020204" charset="-122"/>
              </a:rPr>
              <a:t>0</a:t>
            </a:r>
            <a:r>
              <a:rPr lang="en-US" sz="2400" b="1" dirty="0">
                <a:solidFill>
                  <a:srgbClr val="FFFFFF"/>
                </a:solidFill>
                <a:latin typeface="Times New Roman" panose="02020603050405020304" pitchFamily="18" charset="0"/>
                <a:ea typeface="微软雅黑" panose="020B0503020204020204" charset="-122"/>
              </a:rPr>
              <a:t>4</a:t>
            </a:r>
          </a:p>
        </p:txBody>
      </p:sp>
      <p:sp>
        <p:nvSpPr>
          <p:cNvPr id="26" name="MH_Other_6"/>
          <p:cNvSpPr>
            <a:spLocks noChangeArrowheads="1"/>
          </p:cNvSpPr>
          <p:nvPr>
            <p:custDataLst>
              <p:tags r:id="rId17"/>
            </p:custDataLst>
          </p:nvPr>
        </p:nvSpPr>
        <p:spPr bwMode="auto">
          <a:xfrm>
            <a:off x="6711718" y="4026722"/>
            <a:ext cx="533400" cy="400050"/>
          </a:xfrm>
          <a:prstGeom prst="rect">
            <a:avLst/>
          </a:prstGeom>
          <a:solidFill>
            <a:schemeClr val="accent4">
              <a:lumMod val="40000"/>
              <a:lumOff val="60000"/>
            </a:schemeClr>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27" name="MH_Other_7"/>
          <p:cNvSpPr>
            <a:spLocks noChangeArrowheads="1"/>
          </p:cNvSpPr>
          <p:nvPr>
            <p:custDataLst>
              <p:tags r:id="rId18"/>
            </p:custDataLst>
          </p:nvPr>
        </p:nvSpPr>
        <p:spPr bwMode="auto">
          <a:xfrm>
            <a:off x="6152918" y="4455347"/>
            <a:ext cx="520700" cy="390525"/>
          </a:xfrm>
          <a:prstGeom prst="rect">
            <a:avLst/>
          </a:prstGeom>
          <a:solidFill>
            <a:schemeClr val="accent4">
              <a:lumMod val="60000"/>
              <a:lumOff val="40000"/>
            </a:schemeClr>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28" name="MH_Other_8"/>
          <p:cNvSpPr>
            <a:spLocks noChangeArrowheads="1"/>
          </p:cNvSpPr>
          <p:nvPr>
            <p:custDataLst>
              <p:tags r:id="rId19"/>
            </p:custDataLst>
          </p:nvPr>
        </p:nvSpPr>
        <p:spPr bwMode="auto">
          <a:xfrm>
            <a:off x="6711718" y="4455347"/>
            <a:ext cx="673100" cy="333375"/>
          </a:xfrm>
          <a:prstGeom prst="rect">
            <a:avLst/>
          </a:prstGeom>
          <a:solidFill>
            <a:schemeClr val="accent4">
              <a:lumMod val="20000"/>
              <a:lumOff val="80000"/>
            </a:schemeClr>
          </a:solidFill>
          <a:ln w="9525">
            <a:noFill/>
            <a:miter lim="800000"/>
          </a:ln>
        </p:spPr>
        <p:txBody>
          <a:bodyPr anchor="ctr"/>
          <a:lstStyle/>
          <a:p>
            <a:pPr algn="just" eaLnBrk="1" hangingPunct="1">
              <a:lnSpc>
                <a:spcPct val="130000"/>
              </a:lnSpc>
            </a:pPr>
            <a:endParaRPr lang="zh-CN" altLang="en-US" dirty="0">
              <a:solidFill>
                <a:srgbClr val="FFFFFF"/>
              </a:solidFill>
              <a:latin typeface="Times New Roman" panose="02020603050405020304" pitchFamily="18" charset="0"/>
              <a:ea typeface="微软雅黑" panose="020B0503020204020204" charset="-122"/>
            </a:endParaRPr>
          </a:p>
        </p:txBody>
      </p:sp>
      <p:sp>
        <p:nvSpPr>
          <p:cNvPr id="30" name="MH_SubTitle_3"/>
          <p:cNvSpPr/>
          <p:nvPr>
            <p:custDataLst>
              <p:tags r:id="rId20"/>
            </p:custDataLst>
          </p:nvPr>
        </p:nvSpPr>
        <p:spPr>
          <a:xfrm>
            <a:off x="7649613" y="4051348"/>
            <a:ext cx="3572510" cy="553998"/>
          </a:xfrm>
          <a:prstGeom prst="rect">
            <a:avLst/>
          </a:prstGeom>
        </p:spPr>
        <p:txBody>
          <a:bodyPr lIns="0" tIns="0" rIns="0" bIns="0" anchor="ctr">
            <a:spAutoFit/>
          </a:bodyPr>
          <a:lstStyle/>
          <a:p>
            <a:pPr>
              <a:defRPr/>
            </a:pPr>
            <a:r>
              <a:rPr dirty="0" err="1">
                <a:solidFill>
                  <a:srgbClr val="C00000"/>
                </a:solidFill>
                <a:latin typeface="微软雅黑" panose="020B0503020204020204" charset="-122"/>
                <a:ea typeface="微软雅黑" panose="020B0503020204020204" charset="-122"/>
                <a:sym typeface="+mn-ea"/>
              </a:rPr>
              <a:t>把源程序和软件配置的其他成分自动输入系统</a:t>
            </a:r>
            <a:endParaRPr lang="zh-CN" altLang="en-US" dirty="0">
              <a:solidFill>
                <a:srgbClr val="000000"/>
              </a:solidFill>
              <a:latin typeface="微软雅黑" panose="020B0503020204020204" charset="-122"/>
              <a:ea typeface="微软雅黑" panose="020B0503020204020204" charset="-122"/>
              <a:sym typeface="+mn-ea"/>
            </a:endParaRPr>
          </a:p>
        </p:txBody>
      </p:sp>
      <p:sp>
        <p:nvSpPr>
          <p:cNvPr id="31" name="文本框 99"/>
          <p:cNvSpPr txBox="1"/>
          <p:nvPr/>
        </p:nvSpPr>
        <p:spPr>
          <a:xfrm>
            <a:off x="564247" y="2073898"/>
            <a:ext cx="11068685" cy="414344"/>
          </a:xfrm>
          <a:prstGeom prst="rect">
            <a:avLst/>
          </a:prstGeom>
          <a:noFill/>
          <a:ln w="9525">
            <a:noFill/>
          </a:ln>
        </p:spPr>
        <p:txBody>
          <a:bodyPr wrap="square">
            <a:spAutoFit/>
          </a:bodyPr>
          <a:lstStyle/>
          <a:p>
            <a:pPr marL="285750" indent="-285750">
              <a:lnSpc>
                <a:spcPct val="130000"/>
              </a:lnSpc>
              <a:buFont typeface="Arial" panose="020B0604020202020204" pitchFamily="34" charset="0"/>
              <a:buChar char="•"/>
            </a:pPr>
            <a:r>
              <a:rPr dirty="0">
                <a:solidFill>
                  <a:schemeClr val="accent6">
                    <a:lumMod val="50000"/>
                  </a:schemeClr>
                </a:solidFill>
                <a:latin typeface="微软雅黑" panose="020B0503020204020204" charset="-122"/>
                <a:ea typeface="微软雅黑" panose="020B0503020204020204" charset="-122"/>
                <a:sym typeface="+mn-ea"/>
              </a:rPr>
              <a:t>软件验证是确定软件开发周期中的一个给定阶段的产品是否达到需求的过程。</a:t>
            </a:r>
            <a:r>
              <a:rPr lang="zh-CN" altLang="en-US" dirty="0">
                <a:latin typeface="Times New Roman" panose="02020603050405020304" pitchFamily="18" charset="0"/>
              </a:rPr>
              <a:t>软件验证的方法如下：</a:t>
            </a:r>
          </a:p>
        </p:txBody>
      </p:sp>
    </p:spTree>
  </p:cSld>
  <p:clrMapOvr>
    <a:masterClrMapping/>
  </p:clrMapOvr>
  <p:transition>
    <p:diamond/>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en-US" dirty="0">
                <a:sym typeface="+mn-ea"/>
              </a:rPr>
              <a:t>4.7 </a:t>
            </a:r>
            <a:r>
              <a:rPr lang="zh-CN" altLang="en-US" dirty="0">
                <a:sym typeface="+mn-ea"/>
              </a:rPr>
              <a:t>软件调试、验证与确认</a:t>
            </a:r>
            <a:endParaRPr lang="zh-CN" altLang="en-US" dirty="0"/>
          </a:p>
        </p:txBody>
      </p:sp>
      <p:sp>
        <p:nvSpPr>
          <p:cNvPr id="11" name="文本占位符 10">
            <a:extLst>
              <a:ext uri="{FF2B5EF4-FFF2-40B4-BE49-F238E27FC236}">
                <a16:creationId xmlns:a16="http://schemas.microsoft.com/office/drawing/2014/main" id="{9DD542F7-C1DC-2731-4043-AE1DE5C252B7}"/>
              </a:ext>
            </a:extLst>
          </p:cNvPr>
          <p:cNvSpPr>
            <a:spLocks noGrp="1"/>
          </p:cNvSpPr>
          <p:nvPr>
            <p:ph type="body" sz="quarter" idx="10"/>
          </p:nvPr>
        </p:nvSpPr>
        <p:spPr>
          <a:xfrm>
            <a:off x="696000" y="1322832"/>
            <a:ext cx="5400000" cy="400110"/>
          </a:xfrm>
        </p:spPr>
        <p:txBody>
          <a:bodyPr/>
          <a:lstStyle/>
          <a:p>
            <a:r>
              <a:rPr lang="en-US" altLang="zh-CN" dirty="0">
                <a:sym typeface="+mn-ea"/>
              </a:rPr>
              <a:t>4.7.3 </a:t>
            </a:r>
            <a:r>
              <a:rPr lang="zh-CN" altLang="en-US" dirty="0">
                <a:sym typeface="+mn-ea"/>
              </a:rPr>
              <a:t>软件确认 </a:t>
            </a:r>
            <a:r>
              <a:rPr lang="en-US" altLang="zh-CN" dirty="0">
                <a:sym typeface="+mn-ea"/>
              </a:rPr>
              <a:t>Validation</a:t>
            </a:r>
            <a:endParaRPr lang="zh-CN" altLang="zh-CN" dirty="0"/>
          </a:p>
        </p:txBody>
      </p:sp>
      <p:sp>
        <p:nvSpPr>
          <p:cNvPr id="12" name="文本占位符 11">
            <a:extLst>
              <a:ext uri="{FF2B5EF4-FFF2-40B4-BE49-F238E27FC236}">
                <a16:creationId xmlns:a16="http://schemas.microsoft.com/office/drawing/2014/main" id="{F0855515-7AA1-D581-3D04-07BF4B40CC62}"/>
              </a:ext>
            </a:extLst>
          </p:cNvPr>
          <p:cNvSpPr>
            <a:spLocks noGrp="1"/>
          </p:cNvSpPr>
          <p:nvPr>
            <p:ph type="body" sz="quarter" idx="11"/>
          </p:nvPr>
        </p:nvSpPr>
        <p:spPr/>
        <p:txBody>
          <a:bodyPr/>
          <a:lstStyle/>
          <a:p>
            <a:endParaRPr lang="zh-CN" altLang="en-US"/>
          </a:p>
        </p:txBody>
      </p:sp>
      <p:sp>
        <p:nvSpPr>
          <p:cNvPr id="17415" name="Oval 5"/>
          <p:cNvSpPr>
            <a:spLocks noChangeArrowheads="1"/>
          </p:cNvSpPr>
          <p:nvPr>
            <p:custDataLst>
              <p:tags r:id="rId1"/>
            </p:custDataLst>
          </p:nvPr>
        </p:nvSpPr>
        <p:spPr bwMode="auto">
          <a:xfrm>
            <a:off x="5314231" y="2061210"/>
            <a:ext cx="1368508" cy="1274301"/>
          </a:xfrm>
          <a:prstGeom prst="ellipse">
            <a:avLst/>
          </a:prstGeom>
          <a:solidFill>
            <a:srgbClr val="008080"/>
          </a:solidFill>
          <a:ln>
            <a:noFill/>
          </a:ln>
          <a:effectLst/>
        </p:spPr>
        <p:txBody>
          <a:bodyPr wrap="none" lIns="90170" tIns="46990" rIns="90170" bIns="46990" anchor="ctr"/>
          <a:lstStyle>
            <a:lvl1pPr>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ct val="0"/>
              </a:spcBef>
              <a:buFontTx/>
              <a:buNone/>
            </a:pPr>
            <a:r>
              <a:rPr lang="zh-CN" altLang="zh-CN" sz="2800" dirty="0">
                <a:solidFill>
                  <a:schemeClr val="bg1"/>
                </a:solidFill>
                <a:latin typeface="Times New Roman" panose="02020603050405020304" pitchFamily="18" charset="0"/>
                <a:ea typeface="+mn-ea"/>
              </a:rPr>
              <a:t>02</a:t>
            </a:r>
          </a:p>
        </p:txBody>
      </p:sp>
      <p:sp>
        <p:nvSpPr>
          <p:cNvPr id="17417" name="Oval 7"/>
          <p:cNvSpPr>
            <a:spLocks noChangeArrowheads="1"/>
          </p:cNvSpPr>
          <p:nvPr>
            <p:custDataLst>
              <p:tags r:id="rId2"/>
            </p:custDataLst>
          </p:nvPr>
        </p:nvSpPr>
        <p:spPr bwMode="auto">
          <a:xfrm>
            <a:off x="8773468" y="2061210"/>
            <a:ext cx="1368508" cy="1274301"/>
          </a:xfrm>
          <a:prstGeom prst="ellipse">
            <a:avLst/>
          </a:prstGeom>
          <a:solidFill>
            <a:srgbClr val="0070C0"/>
          </a:solidFill>
          <a:ln>
            <a:noFill/>
          </a:ln>
          <a:effectLst/>
        </p:spPr>
        <p:txBody>
          <a:bodyPr wrap="none" lIns="90170" tIns="46990" rIns="90170" bIns="46990" anchor="ctr"/>
          <a:lstStyle>
            <a:lvl1pPr>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ct val="0"/>
              </a:spcBef>
              <a:buFontTx/>
              <a:buNone/>
            </a:pPr>
            <a:r>
              <a:rPr lang="zh-CN" altLang="zh-CN" sz="2800" dirty="0">
                <a:solidFill>
                  <a:schemeClr val="bg1"/>
                </a:solidFill>
                <a:latin typeface="Times New Roman" panose="02020603050405020304" pitchFamily="18" charset="0"/>
                <a:ea typeface="+mn-ea"/>
              </a:rPr>
              <a:t>03</a:t>
            </a:r>
          </a:p>
        </p:txBody>
      </p:sp>
      <p:sp>
        <p:nvSpPr>
          <p:cNvPr id="17418" name="Oval 8"/>
          <p:cNvSpPr>
            <a:spLocks noChangeArrowheads="1"/>
          </p:cNvSpPr>
          <p:nvPr>
            <p:custDataLst>
              <p:tags r:id="rId3"/>
            </p:custDataLst>
          </p:nvPr>
        </p:nvSpPr>
        <p:spPr bwMode="auto">
          <a:xfrm>
            <a:off x="1854994" y="2061210"/>
            <a:ext cx="1368508" cy="1274301"/>
          </a:xfrm>
          <a:prstGeom prst="ellipse">
            <a:avLst/>
          </a:prstGeom>
          <a:solidFill>
            <a:srgbClr val="77BA27"/>
          </a:solidFill>
          <a:ln>
            <a:noFill/>
          </a:ln>
          <a:effectLst/>
        </p:spPr>
        <p:txBody>
          <a:bodyPr wrap="none" lIns="90170" tIns="46990" rIns="90170" bIns="46990" anchor="ctr"/>
          <a:lstStyle>
            <a:lvl1pPr>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ct val="0"/>
              </a:spcBef>
              <a:buFontTx/>
              <a:buNone/>
            </a:pPr>
            <a:r>
              <a:rPr lang="zh-CN" altLang="zh-CN" sz="2800" dirty="0">
                <a:solidFill>
                  <a:schemeClr val="bg1"/>
                </a:solidFill>
                <a:latin typeface="Times New Roman" panose="02020603050405020304" pitchFamily="18" charset="0"/>
                <a:ea typeface="+mn-ea"/>
              </a:rPr>
              <a:t>01</a:t>
            </a:r>
          </a:p>
        </p:txBody>
      </p:sp>
      <p:sp>
        <p:nvSpPr>
          <p:cNvPr id="5" name="文本框 4"/>
          <p:cNvSpPr txBox="1"/>
          <p:nvPr>
            <p:custDataLst>
              <p:tags r:id="rId4"/>
            </p:custDataLst>
          </p:nvPr>
        </p:nvSpPr>
        <p:spPr>
          <a:xfrm>
            <a:off x="4743332" y="3630645"/>
            <a:ext cx="3172274" cy="1392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spAutoFit/>
          </a:bodyPr>
          <a:lstStyle>
            <a:lvl1pPr marL="14605" indent="-14605" eaLnBrk="1" hangingPunct="1">
              <a:spcBef>
                <a:spcPct val="20000"/>
              </a:spcBef>
              <a:buFontTx/>
              <a:buNone/>
              <a:defRPr sz="1800">
                <a:latin typeface="+mn-lt"/>
                <a:ea typeface="+mn-ea"/>
                <a:sym typeface="Arial" panose="020B0604020202020204" pitchFamily="34" charset="0"/>
              </a:defRPr>
            </a:lvl1pPr>
            <a:lvl2pPr marL="742950" indent="-285750">
              <a:spcBef>
                <a:spcPct val="20000"/>
              </a:spcBef>
              <a:buChar char="–"/>
              <a:defRPr sz="1600">
                <a:solidFill>
                  <a:srgbClr val="475F77"/>
                </a:solidFill>
                <a:sym typeface="Arial" panose="020B0604020202020204" pitchFamily="34" charset="0"/>
              </a:defRPr>
            </a:lvl2pPr>
            <a:lvl3pPr marL="1143000" indent="-228600">
              <a:spcBef>
                <a:spcPct val="20000"/>
              </a:spcBef>
              <a:buChar char="•"/>
              <a:defRPr sz="1600">
                <a:solidFill>
                  <a:srgbClr val="475F77"/>
                </a:solidFill>
                <a:sym typeface="Arial" panose="020B0604020202020204" pitchFamily="34" charset="0"/>
              </a:defRPr>
            </a:lvl3pPr>
            <a:lvl4pPr marL="1600200" indent="-228600">
              <a:spcBef>
                <a:spcPct val="20000"/>
              </a:spcBef>
              <a:buChar char="–"/>
              <a:defRPr sz="1600">
                <a:solidFill>
                  <a:srgbClr val="475F77"/>
                </a:solidFill>
                <a:sym typeface="Arial" panose="020B0604020202020204" pitchFamily="34" charset="0"/>
              </a:defRPr>
            </a:lvl4pPr>
            <a:lvl5pPr marL="2057400" indent="-228600">
              <a:spcBef>
                <a:spcPct val="20000"/>
              </a:spcBef>
              <a:buChar char="»"/>
              <a:defRPr sz="1600">
                <a:solidFill>
                  <a:srgbClr val="475F77"/>
                </a:solidFill>
                <a:sym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pPr marL="0" indent="0" algn="l" fontAlgn="auto">
              <a:lnSpc>
                <a:spcPct val="120000"/>
              </a:lnSpc>
              <a:spcBef>
                <a:spcPts val="0"/>
              </a:spcBef>
            </a:pPr>
            <a:r>
              <a:rPr dirty="0" err="1">
                <a:sym typeface="+mn-ea"/>
              </a:rPr>
              <a:t>完成测试计划中的所有要求，分析测试结果，并书写测试分析报告和开发总结</a:t>
            </a:r>
            <a:r>
              <a:rPr dirty="0">
                <a:sym typeface="+mn-ea"/>
              </a:rPr>
              <a:t>。</a:t>
            </a:r>
          </a:p>
          <a:p>
            <a:pPr marL="0" indent="0" algn="l" fontAlgn="auto">
              <a:lnSpc>
                <a:spcPct val="120000"/>
              </a:lnSpc>
              <a:spcBef>
                <a:spcPts val="0"/>
              </a:spcBef>
            </a:pPr>
            <a:endParaRPr dirty="0"/>
          </a:p>
        </p:txBody>
      </p:sp>
      <p:sp>
        <p:nvSpPr>
          <p:cNvPr id="8" name="文本框 7"/>
          <p:cNvSpPr txBox="1"/>
          <p:nvPr>
            <p:custDataLst>
              <p:tags r:id="rId5"/>
            </p:custDataLst>
          </p:nvPr>
        </p:nvSpPr>
        <p:spPr>
          <a:xfrm>
            <a:off x="7946971" y="3631157"/>
            <a:ext cx="3021502" cy="1395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spAutoFit/>
          </a:bodyPr>
          <a:lstStyle>
            <a:lvl1pPr marL="14605" indent="-14605" eaLnBrk="1" hangingPunct="1">
              <a:spcBef>
                <a:spcPct val="20000"/>
              </a:spcBef>
              <a:buFontTx/>
              <a:buNone/>
              <a:defRPr sz="1800">
                <a:latin typeface="+mn-lt"/>
                <a:ea typeface="+mn-ea"/>
                <a:sym typeface="Arial" panose="020B0604020202020204" pitchFamily="34" charset="0"/>
              </a:defRPr>
            </a:lvl1pPr>
            <a:lvl2pPr marL="742950" indent="-285750">
              <a:spcBef>
                <a:spcPct val="20000"/>
              </a:spcBef>
              <a:buChar char="–"/>
              <a:defRPr sz="1600">
                <a:solidFill>
                  <a:srgbClr val="475F77"/>
                </a:solidFill>
                <a:sym typeface="Arial" panose="020B0604020202020204" pitchFamily="34" charset="0"/>
              </a:defRPr>
            </a:lvl2pPr>
            <a:lvl3pPr marL="1143000" indent="-228600">
              <a:spcBef>
                <a:spcPct val="20000"/>
              </a:spcBef>
              <a:buChar char="•"/>
              <a:defRPr sz="1600">
                <a:solidFill>
                  <a:srgbClr val="475F77"/>
                </a:solidFill>
                <a:sym typeface="Arial" panose="020B0604020202020204" pitchFamily="34" charset="0"/>
              </a:defRPr>
            </a:lvl3pPr>
            <a:lvl4pPr marL="1600200" indent="-228600">
              <a:spcBef>
                <a:spcPct val="20000"/>
              </a:spcBef>
              <a:buChar char="–"/>
              <a:defRPr sz="1600">
                <a:solidFill>
                  <a:srgbClr val="475F77"/>
                </a:solidFill>
                <a:sym typeface="Arial" panose="020B0604020202020204" pitchFamily="34" charset="0"/>
              </a:defRPr>
            </a:lvl4pPr>
            <a:lvl5pPr marL="2057400" indent="-228600">
              <a:spcBef>
                <a:spcPct val="20000"/>
              </a:spcBef>
              <a:buChar char="»"/>
              <a:defRPr sz="1600">
                <a:solidFill>
                  <a:srgbClr val="475F77"/>
                </a:solidFill>
                <a:sym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pPr marL="0" indent="0" algn="l" fontAlgn="auto">
              <a:lnSpc>
                <a:spcPct val="120000"/>
              </a:lnSpc>
              <a:spcBef>
                <a:spcPts val="0"/>
              </a:spcBef>
            </a:pPr>
            <a:r>
              <a:rPr dirty="0" err="1">
                <a:sym typeface="+mn-ea"/>
              </a:rPr>
              <a:t>按用户手册和操作手册进行软件实际运行，验证软件的实用性和有效性并修正所发现的错误</a:t>
            </a:r>
            <a:r>
              <a:rPr dirty="0">
                <a:sym typeface="+mn-ea"/>
              </a:rPr>
              <a:t>。</a:t>
            </a:r>
            <a:endParaRPr lang="zh-CN" altLang="en-US" dirty="0"/>
          </a:p>
        </p:txBody>
      </p:sp>
      <p:sp>
        <p:nvSpPr>
          <p:cNvPr id="9" name="文本框 8"/>
          <p:cNvSpPr txBox="1"/>
          <p:nvPr>
            <p:custDataLst>
              <p:tags r:id="rId6"/>
            </p:custDataLst>
          </p:nvPr>
        </p:nvSpPr>
        <p:spPr>
          <a:xfrm>
            <a:off x="704215" y="3630930"/>
            <a:ext cx="3670300" cy="2392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spAutoFit/>
          </a:bodyPr>
          <a:lstStyle>
            <a:lvl1pPr marL="14605" indent="-14605" eaLnBrk="1" hangingPunct="1">
              <a:spcBef>
                <a:spcPct val="20000"/>
              </a:spcBef>
              <a:buFontTx/>
              <a:buNone/>
              <a:defRPr sz="1800">
                <a:latin typeface="+mn-lt"/>
                <a:ea typeface="+mn-ea"/>
                <a:sym typeface="Arial" panose="020B0604020202020204" pitchFamily="34" charset="0"/>
              </a:defRPr>
            </a:lvl1pPr>
            <a:lvl2pPr marL="742950" indent="-285750">
              <a:spcBef>
                <a:spcPct val="20000"/>
              </a:spcBef>
              <a:buChar char="–"/>
              <a:defRPr sz="1600">
                <a:solidFill>
                  <a:srgbClr val="475F77"/>
                </a:solidFill>
                <a:sym typeface="Arial" panose="020B0604020202020204" pitchFamily="34" charset="0"/>
              </a:defRPr>
            </a:lvl2pPr>
            <a:lvl3pPr marL="1143000" indent="-228600">
              <a:spcBef>
                <a:spcPct val="20000"/>
              </a:spcBef>
              <a:buChar char="•"/>
              <a:defRPr sz="1600">
                <a:solidFill>
                  <a:srgbClr val="475F77"/>
                </a:solidFill>
                <a:sym typeface="Arial" panose="020B0604020202020204" pitchFamily="34" charset="0"/>
              </a:defRPr>
            </a:lvl3pPr>
            <a:lvl4pPr marL="1600200" indent="-228600">
              <a:spcBef>
                <a:spcPct val="20000"/>
              </a:spcBef>
              <a:buChar char="–"/>
              <a:defRPr sz="1600">
                <a:solidFill>
                  <a:srgbClr val="475F77"/>
                </a:solidFill>
                <a:sym typeface="Arial" panose="020B0604020202020204" pitchFamily="34" charset="0"/>
              </a:defRPr>
            </a:lvl4pPr>
            <a:lvl5pPr marL="2057400" indent="-228600">
              <a:spcBef>
                <a:spcPct val="20000"/>
              </a:spcBef>
              <a:buChar char="»"/>
              <a:defRPr sz="1600">
                <a:solidFill>
                  <a:srgbClr val="475F77"/>
                </a:solidFill>
                <a:sym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pPr marL="0" indent="0" algn="l" fontAlgn="auto">
              <a:lnSpc>
                <a:spcPct val="120000"/>
              </a:lnSpc>
              <a:spcBef>
                <a:spcPts val="0"/>
              </a:spcBef>
            </a:pPr>
            <a:r>
              <a:rPr dirty="0">
                <a:sym typeface="+mn-ea"/>
              </a:rPr>
              <a:t>软件确认工作应在用户直接参与下，在最终用户环境中进行软件的强度测试，即在事先规定的时期内运行软件的全部功能，考查软件运行有无严重错误。系统功能和性能满足需求说明书中的全部要求，得到用户认可。</a:t>
            </a:r>
            <a:endParaRPr dirty="0"/>
          </a:p>
        </p:txBody>
      </p:sp>
      <p:sp>
        <p:nvSpPr>
          <p:cNvPr id="167" name="圆角矩形"/>
          <p:cNvSpPr/>
          <p:nvPr/>
        </p:nvSpPr>
        <p:spPr>
          <a:xfrm>
            <a:off x="8292000" y="824992"/>
            <a:ext cx="3564000" cy="995680"/>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sz="1600" dirty="0">
                <a:solidFill>
                  <a:schemeClr val="bg2">
                    <a:lumMod val="50000"/>
                  </a:schemeClr>
                </a:solidFill>
                <a:latin typeface="Times New Roman" panose="02020603050405020304" pitchFamily="18" charset="0"/>
              </a:rPr>
              <a:t>   </a:t>
            </a:r>
            <a:r>
              <a:rPr lang="zh-CN" altLang="en-US" sz="1600" dirty="0">
                <a:solidFill>
                  <a:schemeClr val="bg2">
                    <a:lumMod val="50000"/>
                  </a:schemeClr>
                </a:solidFill>
                <a:latin typeface="Times New Roman" panose="02020603050405020304" pitchFamily="18" charset="0"/>
              </a:rPr>
              <a:t> 软件确认是指在软件开发过程结束时，对所开发的软件进行评价，以确定它是否和软件需求相一致的过程。</a:t>
            </a:r>
          </a:p>
        </p:txBody>
      </p:sp>
      <p:sp>
        <p:nvSpPr>
          <p:cNvPr id="10" name="学士帽"/>
          <p:cNvSpPr/>
          <p:nvPr/>
        </p:nvSpPr>
        <p:spPr bwMode="auto">
          <a:xfrm>
            <a:off x="8097055" y="611632"/>
            <a:ext cx="670560" cy="472440"/>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latin typeface="Times New Roman" panose="02020603050405020304" pitchFamily="18" charset="0"/>
              <a:ea typeface="微软雅黑 Light" panose="020B0502040204020203" pitchFamily="34" charset="-122"/>
            </a:endParaRPr>
          </a:p>
        </p:txBody>
      </p:sp>
      <p:cxnSp>
        <p:nvCxnSpPr>
          <p:cNvPr id="14" name="直接箭头连接符 13">
            <a:extLst>
              <a:ext uri="{FF2B5EF4-FFF2-40B4-BE49-F238E27FC236}">
                <a16:creationId xmlns:a16="http://schemas.microsoft.com/office/drawing/2014/main" id="{61686FA4-3D64-0B42-0A9F-7141D373B03C}"/>
              </a:ext>
            </a:extLst>
          </p:cNvPr>
          <p:cNvCxnSpPr>
            <a:stCxn id="17418" idx="6"/>
            <a:endCxn id="17415" idx="2"/>
          </p:cNvCxnSpPr>
          <p:nvPr/>
        </p:nvCxnSpPr>
        <p:spPr>
          <a:xfrm>
            <a:off x="3223502" y="2698361"/>
            <a:ext cx="209072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0AA37CF7-9B46-E60B-8F6D-BDCF39D2145E}"/>
              </a:ext>
            </a:extLst>
          </p:cNvPr>
          <p:cNvCxnSpPr>
            <a:endCxn id="17417" idx="2"/>
          </p:cNvCxnSpPr>
          <p:nvPr/>
        </p:nvCxnSpPr>
        <p:spPr>
          <a:xfrm flipV="1">
            <a:off x="6683014" y="2698361"/>
            <a:ext cx="2090454" cy="1502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randomBar dir="vert"/>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en-US" dirty="0">
                <a:sym typeface="+mn-ea"/>
              </a:rPr>
              <a:t>4.7 </a:t>
            </a:r>
            <a:r>
              <a:rPr lang="zh-CN" altLang="en-US" dirty="0">
                <a:sym typeface="+mn-ea"/>
              </a:rPr>
              <a:t>软件调试、验证与确认</a:t>
            </a:r>
            <a:endParaRPr lang="zh-CN" altLang="en-US" dirty="0"/>
          </a:p>
        </p:txBody>
      </p:sp>
      <p:sp>
        <p:nvSpPr>
          <p:cNvPr id="4" name="文本占位符 3">
            <a:extLst>
              <a:ext uri="{FF2B5EF4-FFF2-40B4-BE49-F238E27FC236}">
                <a16:creationId xmlns:a16="http://schemas.microsoft.com/office/drawing/2014/main" id="{C18F5166-C293-BC10-5D24-2651BB1AD212}"/>
              </a:ext>
            </a:extLst>
          </p:cNvPr>
          <p:cNvSpPr>
            <a:spLocks noGrp="1"/>
          </p:cNvSpPr>
          <p:nvPr>
            <p:ph type="body" sz="quarter" idx="10"/>
          </p:nvPr>
        </p:nvSpPr>
        <p:spPr>
          <a:xfrm>
            <a:off x="696000" y="1322832"/>
            <a:ext cx="5400000" cy="400110"/>
          </a:xfrm>
        </p:spPr>
        <p:txBody>
          <a:bodyPr/>
          <a:lstStyle/>
          <a:p>
            <a:r>
              <a:rPr lang="en-US" altLang="zh-CN" dirty="0">
                <a:sym typeface="+mn-ea"/>
              </a:rPr>
              <a:t>4.7.3 </a:t>
            </a:r>
            <a:r>
              <a:rPr lang="zh-CN" altLang="en-US" dirty="0">
                <a:sym typeface="+mn-ea"/>
              </a:rPr>
              <a:t>软件确认 </a:t>
            </a:r>
            <a:r>
              <a:rPr lang="en-US" altLang="zh-CN" dirty="0">
                <a:sym typeface="+mn-ea"/>
              </a:rPr>
              <a:t>Validation</a:t>
            </a:r>
            <a:endParaRPr lang="zh-CN" altLang="zh-CN" dirty="0"/>
          </a:p>
        </p:txBody>
      </p:sp>
      <p:sp>
        <p:nvSpPr>
          <p:cNvPr id="5" name="文本占位符 4">
            <a:extLst>
              <a:ext uri="{FF2B5EF4-FFF2-40B4-BE49-F238E27FC236}">
                <a16:creationId xmlns:a16="http://schemas.microsoft.com/office/drawing/2014/main" id="{BC4ED908-2B3F-3958-28F8-5563D7E9FE0F}"/>
              </a:ext>
            </a:extLst>
          </p:cNvPr>
          <p:cNvSpPr>
            <a:spLocks noGrp="1"/>
          </p:cNvSpPr>
          <p:nvPr>
            <p:ph type="body" sz="quarter" idx="11"/>
          </p:nvPr>
        </p:nvSpPr>
        <p:spPr/>
        <p:txBody>
          <a:bodyPr/>
          <a:lstStyle/>
          <a:p>
            <a:endParaRPr lang="zh-CN" altLang="en-US"/>
          </a:p>
        </p:txBody>
      </p:sp>
      <p:sp>
        <p:nvSpPr>
          <p:cNvPr id="100" name="文本框 99"/>
          <p:cNvSpPr txBox="1"/>
          <p:nvPr/>
        </p:nvSpPr>
        <p:spPr>
          <a:xfrm>
            <a:off x="696000" y="2369820"/>
            <a:ext cx="10589855" cy="2577950"/>
          </a:xfrm>
          <a:prstGeom prst="rect">
            <a:avLst/>
          </a:prstGeom>
          <a:noFill/>
          <a:ln w="9525">
            <a:noFill/>
          </a:ln>
        </p:spPr>
        <p:txBody>
          <a:bodyPr wrap="square">
            <a:spAutoFit/>
          </a:bodyPr>
          <a:lstStyle/>
          <a:p>
            <a:pPr marL="0" indent="0" algn="l" fontAlgn="auto">
              <a:lnSpc>
                <a:spcPct val="130000"/>
              </a:lnSpc>
            </a:pPr>
            <a:r>
              <a:rPr dirty="0">
                <a:latin typeface="微软雅黑" panose="020B0503020204020204" charset="-122"/>
                <a:ea typeface="微软雅黑" panose="020B0503020204020204" charset="-122"/>
                <a:sym typeface="+mn-ea"/>
              </a:rPr>
              <a:t>       软件确认结束时应完成的文档有：</a:t>
            </a:r>
            <a:r>
              <a:rPr dirty="0">
                <a:solidFill>
                  <a:srgbClr val="C00000"/>
                </a:solidFill>
                <a:latin typeface="微软雅黑" panose="020B0503020204020204" charset="-122"/>
                <a:ea typeface="微软雅黑" panose="020B0503020204020204" charset="-122"/>
                <a:sym typeface="+mn-ea"/>
              </a:rPr>
              <a:t>① 软件测试报告；② 经修改并确认的用户手册和操作手册；③ 软件开发总结。</a:t>
            </a:r>
          </a:p>
          <a:p>
            <a:pPr marL="0" indent="0" algn="l" fontAlgn="auto">
              <a:lnSpc>
                <a:spcPct val="130000"/>
              </a:lnSpc>
            </a:pPr>
            <a:r>
              <a:rPr dirty="0">
                <a:latin typeface="微软雅黑" panose="020B0503020204020204" charset="-122"/>
                <a:ea typeface="微软雅黑" panose="020B0503020204020204" charset="-122"/>
                <a:sym typeface="+mn-ea"/>
              </a:rPr>
              <a:t>       软件确认工作最好</a:t>
            </a:r>
            <a:r>
              <a:rPr dirty="0">
                <a:solidFill>
                  <a:srgbClr val="C00000"/>
                </a:solidFill>
                <a:latin typeface="微软雅黑" panose="020B0503020204020204" charset="-122"/>
                <a:ea typeface="微软雅黑" panose="020B0503020204020204" charset="-122"/>
                <a:sym typeface="+mn-ea"/>
              </a:rPr>
              <a:t>由不参加设计或实现该软件的人员来进行并有用户及领导人士参加</a:t>
            </a:r>
            <a:r>
              <a:rPr dirty="0">
                <a:latin typeface="微软雅黑" panose="020B0503020204020204" charset="-122"/>
                <a:ea typeface="微软雅黑" panose="020B0503020204020204" charset="-122"/>
                <a:sym typeface="+mn-ea"/>
              </a:rPr>
              <a:t>。为了使用户能有效地操作软件系统，通常由开发部门对用户进行操作培训，以便使用户积极地参加确认工作。</a:t>
            </a:r>
          </a:p>
          <a:p>
            <a:pPr marL="0" indent="0" algn="l" fontAlgn="auto">
              <a:lnSpc>
                <a:spcPct val="130000"/>
              </a:lnSpc>
            </a:pPr>
            <a:r>
              <a:rPr dirty="0">
                <a:latin typeface="微软雅黑" panose="020B0503020204020204" charset="-122"/>
                <a:ea typeface="微软雅黑" panose="020B0503020204020204" charset="-122"/>
                <a:sym typeface="+mn-ea"/>
              </a:rPr>
              <a:t>       软件确认必须从</a:t>
            </a:r>
            <a:r>
              <a:rPr dirty="0">
                <a:solidFill>
                  <a:srgbClr val="C00000"/>
                </a:solidFill>
                <a:latin typeface="微软雅黑" panose="020B0503020204020204" charset="-122"/>
                <a:ea typeface="微软雅黑" panose="020B0503020204020204" charset="-122"/>
                <a:sym typeface="+mn-ea"/>
              </a:rPr>
              <a:t>用户的立场</a:t>
            </a:r>
            <a:r>
              <a:rPr dirty="0">
                <a:latin typeface="微软雅黑" panose="020B0503020204020204" charset="-122"/>
                <a:ea typeface="微软雅黑" panose="020B0503020204020204" charset="-122"/>
                <a:sym typeface="+mn-ea"/>
              </a:rPr>
              <a:t>出发，对测试结果进行评审，看软件是否确实满足用户需要。还要评审软件配置，这是软件生存周期中维护阶段的主要依据。要确保软件配置齐全、正确、符合要求。软件确认评审通过，意味着软件产品可以移交。</a:t>
            </a:r>
          </a:p>
        </p:txBody>
      </p:sp>
    </p:spTree>
  </p:cSld>
  <p:clrMapOvr>
    <a:masterClrMapping/>
  </p:clrMapOvr>
  <p:transition>
    <p:diamond/>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dirty="0">
              <a:latin typeface="Times New Roman" panose="02020603050405020304" pitchFamily="18" charset="0"/>
              <a:ea typeface="微软雅黑 Light" panose="020B0502040204020203" pitchFamily="34" charset="-122"/>
            </a:endParaRPr>
          </a:p>
        </p:txBody>
      </p:sp>
      <p:sp>
        <p:nvSpPr>
          <p:cNvPr id="40" name="文本框 39"/>
          <p:cNvSpPr txBox="1"/>
          <p:nvPr/>
        </p:nvSpPr>
        <p:spPr>
          <a:xfrm>
            <a:off x="6006555" y="2935102"/>
            <a:ext cx="5137150" cy="830997"/>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i="0" u="none" strike="noStrike" kern="1200" cap="none" spc="0" normalizeH="0" baseline="0" noProof="0" dirty="0">
                <a:ln>
                  <a:noFill/>
                </a:ln>
                <a:effectLst/>
                <a:uLnTx/>
                <a:uFillTx/>
                <a:latin typeface="+mj-ea"/>
                <a:ea typeface="+mj-ea"/>
                <a:cs typeface="+mn-cs"/>
              </a:rPr>
              <a:t>软件测试文档</a:t>
            </a:r>
          </a:p>
        </p:txBody>
      </p:sp>
      <p:sp>
        <p:nvSpPr>
          <p:cNvPr id="48" name="文本框 47"/>
          <p:cNvSpPr txBox="1"/>
          <p:nvPr/>
        </p:nvSpPr>
        <p:spPr>
          <a:xfrm>
            <a:off x="6006555" y="3954940"/>
            <a:ext cx="3712845" cy="400050"/>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effectLst/>
                <a:uLnTx/>
                <a:uFillTx/>
                <a:latin typeface="+mj-ea"/>
                <a:ea typeface="+mj-ea"/>
                <a:cs typeface="+mn-cs"/>
              </a:rPr>
              <a:t>软件测试计划</a:t>
            </a:r>
          </a:p>
        </p:txBody>
      </p:sp>
      <p:sp>
        <p:nvSpPr>
          <p:cNvPr id="50" name="文本框 49"/>
          <p:cNvSpPr txBox="1"/>
          <p:nvPr/>
        </p:nvSpPr>
        <p:spPr>
          <a:xfrm>
            <a:off x="6006555" y="4450240"/>
            <a:ext cx="3712845" cy="400050"/>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effectLst/>
                <a:uLnTx/>
                <a:uFillTx/>
                <a:latin typeface="+mj-ea"/>
                <a:ea typeface="+mj-ea"/>
                <a:cs typeface="+mn-cs"/>
              </a:rPr>
              <a:t>软件测试说明</a:t>
            </a:r>
          </a:p>
        </p:txBody>
      </p:sp>
      <p:sp>
        <p:nvSpPr>
          <p:cNvPr id="3" name="文本框 2"/>
          <p:cNvSpPr txBox="1"/>
          <p:nvPr/>
        </p:nvSpPr>
        <p:spPr>
          <a:xfrm>
            <a:off x="6006555" y="4960780"/>
            <a:ext cx="3712845" cy="400110"/>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effectLst/>
                <a:uLnTx/>
                <a:uFillTx/>
                <a:latin typeface="+mj-ea"/>
                <a:ea typeface="+mj-ea"/>
                <a:cs typeface="+mn-cs"/>
              </a:rPr>
              <a:t>软件测试报告</a:t>
            </a:r>
          </a:p>
        </p:txBody>
      </p:sp>
      <p:sp>
        <p:nvSpPr>
          <p:cNvPr id="5" name="椭圆 4">
            <a:extLst>
              <a:ext uri="{FF2B5EF4-FFF2-40B4-BE49-F238E27FC236}">
                <a16:creationId xmlns:a16="http://schemas.microsoft.com/office/drawing/2014/main" id="{1F757910-AAC9-6F1C-36D4-211B96FEC44A}"/>
              </a:ext>
            </a:extLst>
          </p:cNvPr>
          <p:cNvSpPr/>
          <p:nvPr/>
        </p:nvSpPr>
        <p:spPr>
          <a:xfrm>
            <a:off x="3428455" y="2169500"/>
            <a:ext cx="2362200" cy="23622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600" b="0" i="0" u="none" strike="noStrike" kern="1200" cap="none" spc="0" normalizeH="0" noProof="0" dirty="0">
                <a:ln>
                  <a:noFill/>
                </a:ln>
                <a:solidFill>
                  <a:schemeClr val="lt1"/>
                </a:solidFill>
                <a:effectLst/>
                <a:uLnTx/>
                <a:uFillTx/>
                <a:latin typeface="+mj-lt"/>
                <a:ea typeface="+mj-ea"/>
                <a:cs typeface="+mn-cs"/>
              </a:rPr>
              <a:t>08</a:t>
            </a:r>
            <a:endParaRPr kumimoji="0" lang="zh-CN" altLang="en-US" sz="9600" b="0" i="0" u="none" strike="noStrike" kern="1200" cap="none" spc="0" normalizeH="0" noProof="0" dirty="0">
              <a:ln>
                <a:noFill/>
              </a:ln>
              <a:solidFill>
                <a:schemeClr val="lt1"/>
              </a:solidFill>
              <a:effectLst/>
              <a:uLnTx/>
              <a:uFillTx/>
              <a:latin typeface="+mj-lt"/>
              <a:ea typeface="+mj-ea"/>
              <a:cs typeface="+mn-cs"/>
            </a:endParaRPr>
          </a:p>
        </p:txBody>
      </p:sp>
    </p:spTree>
  </p:cSld>
  <p:clrMapOvr>
    <a:masterClrMapping/>
  </p:clrMapOvr>
  <p:transition spd="slow">
    <p:wipe/>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图片 1" descr="白板11"/>
          <p:cNvPicPr>
            <a:picLocks noGrp="1" noChangeAspect="1"/>
          </p:cNvPicPr>
          <p:nvPr/>
        </p:nvPicPr>
        <p:blipFill>
          <a:blip r:embed="rId3" cstate="print"/>
          <a:srcRect r="5298"/>
          <a:stretch>
            <a:fillRect/>
          </a:stretch>
        </p:blipFill>
        <p:spPr>
          <a:xfrm>
            <a:off x="1211580" y="794385"/>
            <a:ext cx="9866630" cy="5443220"/>
          </a:xfrm>
          <a:prstGeom prst="rect">
            <a:avLst/>
          </a:prstGeom>
          <a:noFill/>
          <a:ln w="9525">
            <a:noFill/>
          </a:ln>
        </p:spPr>
      </p:pic>
      <p:sp>
        <p:nvSpPr>
          <p:cNvPr id="3" name="标题 2"/>
          <p:cNvSpPr>
            <a:spLocks noGrp="1"/>
          </p:cNvSpPr>
          <p:nvPr>
            <p:ph type="title"/>
          </p:nvPr>
        </p:nvSpPr>
        <p:spPr>
          <a:xfrm>
            <a:off x="336000" y="360000"/>
            <a:ext cx="5760000" cy="535531"/>
          </a:xfrm>
        </p:spPr>
        <p:txBody>
          <a:bodyPr/>
          <a:lstStyle/>
          <a:p>
            <a:r>
              <a:rPr lang="zh-CN" altLang="en-US">
                <a:sym typeface="+mn-ea"/>
              </a:rPr>
              <a:t>4.8 软件测试文档</a:t>
            </a:r>
          </a:p>
        </p:txBody>
      </p:sp>
      <p:sp>
        <p:nvSpPr>
          <p:cNvPr id="4" name="文本占位符 3">
            <a:extLst>
              <a:ext uri="{FF2B5EF4-FFF2-40B4-BE49-F238E27FC236}">
                <a16:creationId xmlns:a16="http://schemas.microsoft.com/office/drawing/2014/main" id="{0F1B665E-0630-1930-988D-AD2A091015F0}"/>
              </a:ext>
            </a:extLst>
          </p:cNvPr>
          <p:cNvSpPr>
            <a:spLocks noGrp="1"/>
          </p:cNvSpPr>
          <p:nvPr>
            <p:ph type="body" sz="quarter" idx="10"/>
          </p:nvPr>
        </p:nvSpPr>
        <p:spPr>
          <a:xfrm>
            <a:off x="696000" y="1322832"/>
            <a:ext cx="5400000" cy="400110"/>
          </a:xfrm>
        </p:spPr>
        <p:txBody>
          <a:bodyPr/>
          <a:lstStyle/>
          <a:p>
            <a:r>
              <a:rPr lang="zh-CN" altLang="en-US" dirty="0"/>
              <a:t>引言</a:t>
            </a:r>
          </a:p>
        </p:txBody>
      </p:sp>
      <p:sp>
        <p:nvSpPr>
          <p:cNvPr id="8" name="文本占位符 7">
            <a:extLst>
              <a:ext uri="{FF2B5EF4-FFF2-40B4-BE49-F238E27FC236}">
                <a16:creationId xmlns:a16="http://schemas.microsoft.com/office/drawing/2014/main" id="{B86CC62D-35A7-B6C2-5FC6-74F62003CA54}"/>
              </a:ext>
            </a:extLst>
          </p:cNvPr>
          <p:cNvSpPr>
            <a:spLocks noGrp="1"/>
          </p:cNvSpPr>
          <p:nvPr>
            <p:ph type="body" sz="quarter" idx="11"/>
          </p:nvPr>
        </p:nvSpPr>
        <p:spPr/>
        <p:txBody>
          <a:bodyPr/>
          <a:lstStyle/>
          <a:p>
            <a:endParaRPr lang="zh-CN" altLang="en-US"/>
          </a:p>
        </p:txBody>
      </p:sp>
      <p:sp>
        <p:nvSpPr>
          <p:cNvPr id="14" name="文本框 13"/>
          <p:cNvSpPr txBox="1"/>
          <p:nvPr/>
        </p:nvSpPr>
        <p:spPr>
          <a:xfrm>
            <a:off x="2408555" y="2727960"/>
            <a:ext cx="5846445" cy="2606040"/>
          </a:xfrm>
          <a:prstGeom prst="rect">
            <a:avLst/>
          </a:prstGeom>
          <a:noFill/>
        </p:spPr>
        <p:txBody>
          <a:bodyPr wrap="square" rtlCol="0" anchor="t">
            <a:spAutoFit/>
          </a:bodyPr>
          <a:lstStyle/>
          <a:p>
            <a:pPr indent="0" fontAlgn="auto">
              <a:lnSpc>
                <a:spcPct val="150000"/>
              </a:lnSpc>
              <a:buClrTx/>
              <a:buNone/>
            </a:pPr>
            <a:r>
              <a:rPr lang="en-US" altLang="zh-CN" sz="2000" dirty="0">
                <a:latin typeface="微软雅黑" panose="020B0503020204020204" charset="-122"/>
                <a:ea typeface="微软雅黑" panose="020B0503020204020204" charset="-122"/>
              </a:rPr>
              <a:t>      </a:t>
            </a:r>
            <a:r>
              <a:rPr lang="zh-CN" altLang="en-US" dirty="0">
                <a:latin typeface="微软雅黑" panose="020B0503020204020204" charset="-122"/>
                <a:ea typeface="微软雅黑" panose="020B0503020204020204" charset="-122"/>
              </a:rPr>
              <a:t>国家标准GB/T 8567—2006《计算机软件文档编制规范》，规定了有关测试的文件有：</a:t>
            </a:r>
            <a:r>
              <a:rPr lang="zh-CN" altLang="en-US" dirty="0">
                <a:solidFill>
                  <a:srgbClr val="C00000"/>
                </a:solidFill>
                <a:latin typeface="微软雅黑" panose="020B0503020204020204" charset="-122"/>
                <a:ea typeface="微软雅黑" panose="020B0503020204020204" charset="-122"/>
              </a:rPr>
              <a:t>软件测试计划、软件测试说明和软件测试报告</a:t>
            </a:r>
            <a:r>
              <a:rPr lang="zh-CN" altLang="en-US" dirty="0">
                <a:latin typeface="微软雅黑" panose="020B0503020204020204" charset="-122"/>
                <a:ea typeface="微软雅黑" panose="020B0503020204020204" charset="-122"/>
              </a:rPr>
              <a:t>。每个软件项目可以根据需要选择文件的种类。软件测试计划和软件测试说明在需求分析阶段制订，在软件设计阶段进一步完善；软件测试报告在软件实现阶段完成。</a:t>
            </a:r>
          </a:p>
        </p:txBody>
      </p:sp>
    </p:spTree>
  </p:cSld>
  <p:clrMapOvr>
    <a:masterClrMapping/>
  </p:clrMapOvr>
  <p:transition>
    <p:randomBar dir="vert"/>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zh-CN" altLang="en-US" dirty="0">
                <a:sym typeface="+mn-ea"/>
              </a:rPr>
              <a:t>4.8 软件测试文档</a:t>
            </a:r>
            <a:endParaRPr lang="zh-CN" altLang="en-US" dirty="0"/>
          </a:p>
        </p:txBody>
      </p:sp>
      <p:sp>
        <p:nvSpPr>
          <p:cNvPr id="4" name="文本占位符 3">
            <a:extLst>
              <a:ext uri="{FF2B5EF4-FFF2-40B4-BE49-F238E27FC236}">
                <a16:creationId xmlns:a16="http://schemas.microsoft.com/office/drawing/2014/main" id="{8E4796CB-61B6-0435-B4DA-5269E1A7671D}"/>
              </a:ext>
            </a:extLst>
          </p:cNvPr>
          <p:cNvSpPr>
            <a:spLocks noGrp="1"/>
          </p:cNvSpPr>
          <p:nvPr>
            <p:ph type="body" sz="quarter" idx="10"/>
          </p:nvPr>
        </p:nvSpPr>
        <p:spPr>
          <a:xfrm>
            <a:off x="696000" y="1322832"/>
            <a:ext cx="5400000" cy="400110"/>
          </a:xfrm>
        </p:spPr>
        <p:txBody>
          <a:bodyPr/>
          <a:lstStyle/>
          <a:p>
            <a:r>
              <a:rPr lang="en-US" altLang="zh-CN" dirty="0"/>
              <a:t>4.8.1 </a:t>
            </a:r>
            <a:r>
              <a:rPr lang="zh-CN" altLang="zh-CN" dirty="0"/>
              <a:t>软件测试计划</a:t>
            </a:r>
          </a:p>
        </p:txBody>
      </p:sp>
      <p:sp>
        <p:nvSpPr>
          <p:cNvPr id="13" name="文本占位符 12">
            <a:extLst>
              <a:ext uri="{FF2B5EF4-FFF2-40B4-BE49-F238E27FC236}">
                <a16:creationId xmlns:a16="http://schemas.microsoft.com/office/drawing/2014/main" id="{8B23AFA5-402D-840D-E146-65480181A145}"/>
              </a:ext>
            </a:extLst>
          </p:cNvPr>
          <p:cNvSpPr>
            <a:spLocks noGrp="1"/>
          </p:cNvSpPr>
          <p:nvPr>
            <p:ph type="body" sz="quarter" idx="11"/>
          </p:nvPr>
        </p:nvSpPr>
        <p:spPr/>
        <p:txBody>
          <a:bodyPr/>
          <a:lstStyle/>
          <a:p>
            <a:endParaRPr lang="zh-CN" altLang="en-US"/>
          </a:p>
        </p:txBody>
      </p:sp>
      <p:grpSp>
        <p:nvGrpSpPr>
          <p:cNvPr id="11" name="组合 10"/>
          <p:cNvGrpSpPr/>
          <p:nvPr/>
        </p:nvGrpSpPr>
        <p:grpSpPr>
          <a:xfrm>
            <a:off x="1430750" y="3446961"/>
            <a:ext cx="9505112" cy="2694532"/>
            <a:chOff x="3934" y="3954"/>
            <a:chExt cx="14970" cy="4961"/>
          </a:xfrm>
        </p:grpSpPr>
        <p:sp>
          <p:nvSpPr>
            <p:cNvPr id="42" name="Freeform 5"/>
            <p:cNvSpPr/>
            <p:nvPr>
              <p:custDataLst>
                <p:tags r:id="rId1"/>
              </p:custDataLst>
            </p:nvPr>
          </p:nvSpPr>
          <p:spPr bwMode="auto">
            <a:xfrm>
              <a:off x="9377" y="4091"/>
              <a:ext cx="454" cy="454"/>
            </a:xfrm>
            <a:custGeom>
              <a:avLst/>
              <a:gdLst>
                <a:gd name="T0" fmla="*/ 2147483646 w 48"/>
                <a:gd name="T1" fmla="*/ 2147483646 h 48"/>
                <a:gd name="T2" fmla="*/ 2147483646 w 48"/>
                <a:gd name="T3" fmla="*/ 2147483646 h 48"/>
                <a:gd name="T4" fmla="*/ 0 w 48"/>
                <a:gd name="T5" fmla="*/ 2147483646 h 48"/>
                <a:gd name="T6" fmla="*/ 2147483646 w 48"/>
                <a:gd name="T7" fmla="*/ 0 h 48"/>
                <a:gd name="T8" fmla="*/ 2147483646 w 48"/>
                <a:gd name="T9" fmla="*/ 2147483646 h 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 h="48">
                  <a:moveTo>
                    <a:pt x="48" y="24"/>
                  </a:moveTo>
                  <a:cubicBezTo>
                    <a:pt x="48" y="37"/>
                    <a:pt x="37" y="48"/>
                    <a:pt x="24" y="48"/>
                  </a:cubicBezTo>
                  <a:cubicBezTo>
                    <a:pt x="11" y="48"/>
                    <a:pt x="0" y="38"/>
                    <a:pt x="0" y="24"/>
                  </a:cubicBezTo>
                  <a:cubicBezTo>
                    <a:pt x="0" y="11"/>
                    <a:pt x="10" y="0"/>
                    <a:pt x="24" y="0"/>
                  </a:cubicBezTo>
                  <a:cubicBezTo>
                    <a:pt x="37" y="0"/>
                    <a:pt x="48" y="11"/>
                    <a:pt x="48" y="24"/>
                  </a:cubicBezTo>
                  <a:close/>
                </a:path>
              </a:pathLst>
            </a:custGeom>
            <a:solidFill>
              <a:schemeClr val="accent1"/>
            </a:solidFill>
            <a:ln>
              <a:noFill/>
            </a:ln>
          </p:spPr>
          <p:txBody>
            <a:bodyPr>
              <a:normAutofit fontScale="67500" lnSpcReduction="20000"/>
            </a:bodyPr>
            <a:lstStyle/>
            <a:p>
              <a:endParaRPr lang="zh-CN" altLang="en-US" dirty="0">
                <a:latin typeface="Times New Roman" panose="02020603050405020304" pitchFamily="18" charset="0"/>
              </a:endParaRPr>
            </a:p>
          </p:txBody>
        </p:sp>
        <p:sp>
          <p:nvSpPr>
            <p:cNvPr id="43" name="Freeform 6"/>
            <p:cNvSpPr/>
            <p:nvPr>
              <p:custDataLst>
                <p:tags r:id="rId2"/>
              </p:custDataLst>
            </p:nvPr>
          </p:nvSpPr>
          <p:spPr bwMode="auto">
            <a:xfrm>
              <a:off x="9311" y="4564"/>
              <a:ext cx="578" cy="1345"/>
            </a:xfrm>
            <a:custGeom>
              <a:avLst/>
              <a:gdLst>
                <a:gd name="T0" fmla="*/ 2147483646 w 61"/>
                <a:gd name="T1" fmla="*/ 2147483646 h 142"/>
                <a:gd name="T2" fmla="*/ 2147483646 w 61"/>
                <a:gd name="T3" fmla="*/ 2147483646 h 142"/>
                <a:gd name="T4" fmla="*/ 2147483646 w 61"/>
                <a:gd name="T5" fmla="*/ 2147483646 h 142"/>
                <a:gd name="T6" fmla="*/ 2147483646 w 61"/>
                <a:gd name="T7" fmla="*/ 2147483646 h 142"/>
                <a:gd name="T8" fmla="*/ 2147483646 w 61"/>
                <a:gd name="T9" fmla="*/ 2147483646 h 142"/>
                <a:gd name="T10" fmla="*/ 0 w 61"/>
                <a:gd name="T11" fmla="*/ 2147483646 h 142"/>
                <a:gd name="T12" fmla="*/ 2147483646 w 61"/>
                <a:gd name="T13" fmla="*/ 0 h 142"/>
                <a:gd name="T14" fmla="*/ 2147483646 w 61"/>
                <a:gd name="T15" fmla="*/ 0 h 142"/>
                <a:gd name="T16" fmla="*/ 2147483646 w 61"/>
                <a:gd name="T17" fmla="*/ 2147483646 h 142"/>
                <a:gd name="T18" fmla="*/ 2147483646 w 61"/>
                <a:gd name="T19" fmla="*/ 2147483646 h 142"/>
                <a:gd name="T20" fmla="*/ 2147483646 w 61"/>
                <a:gd name="T21" fmla="*/ 2147483646 h 1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142">
                  <a:moveTo>
                    <a:pt x="54" y="129"/>
                  </a:moveTo>
                  <a:cubicBezTo>
                    <a:pt x="54" y="141"/>
                    <a:pt x="43" y="51"/>
                    <a:pt x="31" y="52"/>
                  </a:cubicBezTo>
                  <a:cubicBezTo>
                    <a:pt x="31" y="52"/>
                    <a:pt x="31" y="52"/>
                    <a:pt x="31" y="52"/>
                  </a:cubicBezTo>
                  <a:cubicBezTo>
                    <a:pt x="19" y="52"/>
                    <a:pt x="9" y="142"/>
                    <a:pt x="9" y="129"/>
                  </a:cubicBezTo>
                  <a:cubicBezTo>
                    <a:pt x="15" y="24"/>
                    <a:pt x="15" y="24"/>
                    <a:pt x="15" y="24"/>
                  </a:cubicBezTo>
                  <a:cubicBezTo>
                    <a:pt x="0" y="44"/>
                    <a:pt x="0" y="44"/>
                    <a:pt x="0" y="44"/>
                  </a:cubicBezTo>
                  <a:cubicBezTo>
                    <a:pt x="0" y="41"/>
                    <a:pt x="21" y="0"/>
                    <a:pt x="31" y="0"/>
                  </a:cubicBezTo>
                  <a:cubicBezTo>
                    <a:pt x="31" y="0"/>
                    <a:pt x="31" y="0"/>
                    <a:pt x="31" y="0"/>
                  </a:cubicBezTo>
                  <a:cubicBezTo>
                    <a:pt x="41" y="0"/>
                    <a:pt x="61" y="43"/>
                    <a:pt x="61" y="45"/>
                  </a:cubicBezTo>
                  <a:cubicBezTo>
                    <a:pt x="47" y="24"/>
                    <a:pt x="47" y="24"/>
                    <a:pt x="47" y="24"/>
                  </a:cubicBezTo>
                  <a:lnTo>
                    <a:pt x="54" y="129"/>
                  </a:lnTo>
                  <a:close/>
                </a:path>
              </a:pathLst>
            </a:custGeom>
            <a:solidFill>
              <a:schemeClr val="accent1"/>
            </a:solidFill>
            <a:ln>
              <a:noFill/>
            </a:ln>
          </p:spPr>
          <p:txBody>
            <a:bodyPr>
              <a:normAutofit/>
            </a:bodyPr>
            <a:lstStyle/>
            <a:p>
              <a:endParaRPr lang="zh-CN" altLang="en-US" dirty="0">
                <a:latin typeface="Times New Roman" panose="02020603050405020304" pitchFamily="18" charset="0"/>
              </a:endParaRPr>
            </a:p>
          </p:txBody>
        </p:sp>
        <p:sp>
          <p:nvSpPr>
            <p:cNvPr id="44" name="Freeform 5"/>
            <p:cNvSpPr/>
            <p:nvPr>
              <p:custDataLst>
                <p:tags r:id="rId3"/>
              </p:custDataLst>
            </p:nvPr>
          </p:nvSpPr>
          <p:spPr bwMode="auto">
            <a:xfrm rot="10800000">
              <a:off x="9368" y="8067"/>
              <a:ext cx="454" cy="454"/>
            </a:xfrm>
            <a:custGeom>
              <a:avLst/>
              <a:gdLst>
                <a:gd name="T0" fmla="*/ 2147483646 w 48"/>
                <a:gd name="T1" fmla="*/ 2147483646 h 48"/>
                <a:gd name="T2" fmla="*/ 2147483646 w 48"/>
                <a:gd name="T3" fmla="*/ 2147483646 h 48"/>
                <a:gd name="T4" fmla="*/ 0 w 48"/>
                <a:gd name="T5" fmla="*/ 2147483646 h 48"/>
                <a:gd name="T6" fmla="*/ 2147483646 w 48"/>
                <a:gd name="T7" fmla="*/ 0 h 48"/>
                <a:gd name="T8" fmla="*/ 2147483646 w 48"/>
                <a:gd name="T9" fmla="*/ 2147483646 h 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 h="48">
                  <a:moveTo>
                    <a:pt x="48" y="24"/>
                  </a:moveTo>
                  <a:cubicBezTo>
                    <a:pt x="48" y="37"/>
                    <a:pt x="37" y="48"/>
                    <a:pt x="24" y="48"/>
                  </a:cubicBezTo>
                  <a:cubicBezTo>
                    <a:pt x="11" y="48"/>
                    <a:pt x="0" y="38"/>
                    <a:pt x="0" y="24"/>
                  </a:cubicBezTo>
                  <a:cubicBezTo>
                    <a:pt x="0" y="11"/>
                    <a:pt x="10" y="0"/>
                    <a:pt x="24" y="0"/>
                  </a:cubicBezTo>
                  <a:cubicBezTo>
                    <a:pt x="37" y="0"/>
                    <a:pt x="48" y="11"/>
                    <a:pt x="48" y="24"/>
                  </a:cubicBezTo>
                  <a:close/>
                </a:path>
              </a:pathLst>
            </a:custGeom>
            <a:solidFill>
              <a:schemeClr val="accent2"/>
            </a:solidFill>
            <a:ln>
              <a:noFill/>
            </a:ln>
          </p:spPr>
          <p:txBody>
            <a:bodyPr>
              <a:normAutofit fontScale="67500" lnSpcReduction="20000"/>
            </a:bodyPr>
            <a:lstStyle/>
            <a:p>
              <a:endParaRPr lang="zh-CN" altLang="en-US" dirty="0">
                <a:latin typeface="Times New Roman" panose="02020603050405020304" pitchFamily="18" charset="0"/>
              </a:endParaRPr>
            </a:p>
          </p:txBody>
        </p:sp>
        <p:sp>
          <p:nvSpPr>
            <p:cNvPr id="45" name="Freeform 6"/>
            <p:cNvSpPr/>
            <p:nvPr>
              <p:custDataLst>
                <p:tags r:id="rId4"/>
              </p:custDataLst>
            </p:nvPr>
          </p:nvSpPr>
          <p:spPr bwMode="auto">
            <a:xfrm rot="10800000">
              <a:off x="9311" y="6703"/>
              <a:ext cx="578" cy="1345"/>
            </a:xfrm>
            <a:custGeom>
              <a:avLst/>
              <a:gdLst>
                <a:gd name="T0" fmla="*/ 2147483646 w 61"/>
                <a:gd name="T1" fmla="*/ 2147483646 h 142"/>
                <a:gd name="T2" fmla="*/ 2147483646 w 61"/>
                <a:gd name="T3" fmla="*/ 2147483646 h 142"/>
                <a:gd name="T4" fmla="*/ 2147483646 w 61"/>
                <a:gd name="T5" fmla="*/ 2147483646 h 142"/>
                <a:gd name="T6" fmla="*/ 2147483646 w 61"/>
                <a:gd name="T7" fmla="*/ 2147483646 h 142"/>
                <a:gd name="T8" fmla="*/ 2147483646 w 61"/>
                <a:gd name="T9" fmla="*/ 2147483646 h 142"/>
                <a:gd name="T10" fmla="*/ 0 w 61"/>
                <a:gd name="T11" fmla="*/ 2147483646 h 142"/>
                <a:gd name="T12" fmla="*/ 2147483646 w 61"/>
                <a:gd name="T13" fmla="*/ 0 h 142"/>
                <a:gd name="T14" fmla="*/ 2147483646 w 61"/>
                <a:gd name="T15" fmla="*/ 0 h 142"/>
                <a:gd name="T16" fmla="*/ 2147483646 w 61"/>
                <a:gd name="T17" fmla="*/ 2147483646 h 142"/>
                <a:gd name="T18" fmla="*/ 2147483646 w 61"/>
                <a:gd name="T19" fmla="*/ 2147483646 h 142"/>
                <a:gd name="T20" fmla="*/ 2147483646 w 61"/>
                <a:gd name="T21" fmla="*/ 2147483646 h 1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142">
                  <a:moveTo>
                    <a:pt x="54" y="129"/>
                  </a:moveTo>
                  <a:cubicBezTo>
                    <a:pt x="54" y="141"/>
                    <a:pt x="43" y="51"/>
                    <a:pt x="31" y="52"/>
                  </a:cubicBezTo>
                  <a:cubicBezTo>
                    <a:pt x="31" y="52"/>
                    <a:pt x="31" y="52"/>
                    <a:pt x="31" y="52"/>
                  </a:cubicBezTo>
                  <a:cubicBezTo>
                    <a:pt x="19" y="52"/>
                    <a:pt x="9" y="142"/>
                    <a:pt x="9" y="129"/>
                  </a:cubicBezTo>
                  <a:cubicBezTo>
                    <a:pt x="15" y="24"/>
                    <a:pt x="15" y="24"/>
                    <a:pt x="15" y="24"/>
                  </a:cubicBezTo>
                  <a:cubicBezTo>
                    <a:pt x="0" y="44"/>
                    <a:pt x="0" y="44"/>
                    <a:pt x="0" y="44"/>
                  </a:cubicBezTo>
                  <a:cubicBezTo>
                    <a:pt x="0" y="41"/>
                    <a:pt x="21" y="0"/>
                    <a:pt x="31" y="0"/>
                  </a:cubicBezTo>
                  <a:cubicBezTo>
                    <a:pt x="31" y="0"/>
                    <a:pt x="31" y="0"/>
                    <a:pt x="31" y="0"/>
                  </a:cubicBezTo>
                  <a:cubicBezTo>
                    <a:pt x="41" y="0"/>
                    <a:pt x="61" y="43"/>
                    <a:pt x="61" y="45"/>
                  </a:cubicBezTo>
                  <a:cubicBezTo>
                    <a:pt x="47" y="24"/>
                    <a:pt x="47" y="24"/>
                    <a:pt x="47" y="24"/>
                  </a:cubicBezTo>
                  <a:lnTo>
                    <a:pt x="54" y="129"/>
                  </a:lnTo>
                  <a:close/>
                </a:path>
              </a:pathLst>
            </a:custGeom>
            <a:solidFill>
              <a:schemeClr val="accent2"/>
            </a:solidFill>
            <a:ln>
              <a:noFill/>
            </a:ln>
          </p:spPr>
          <p:txBody>
            <a:bodyPr>
              <a:normAutofit/>
            </a:bodyPr>
            <a:lstStyle/>
            <a:p>
              <a:endParaRPr lang="zh-CN" altLang="en-US" dirty="0">
                <a:latin typeface="Times New Roman" panose="02020603050405020304" pitchFamily="18" charset="0"/>
              </a:endParaRPr>
            </a:p>
          </p:txBody>
        </p:sp>
        <p:sp>
          <p:nvSpPr>
            <p:cNvPr id="59" name="Freeform 5"/>
            <p:cNvSpPr/>
            <p:nvPr>
              <p:custDataLst>
                <p:tags r:id="rId5"/>
              </p:custDataLst>
            </p:nvPr>
          </p:nvSpPr>
          <p:spPr bwMode="auto">
            <a:xfrm rot="5400000">
              <a:off x="11361" y="6083"/>
              <a:ext cx="454" cy="454"/>
            </a:xfrm>
            <a:custGeom>
              <a:avLst/>
              <a:gdLst>
                <a:gd name="T0" fmla="*/ 2147483646 w 48"/>
                <a:gd name="T1" fmla="*/ 2147483646 h 48"/>
                <a:gd name="T2" fmla="*/ 2147483646 w 48"/>
                <a:gd name="T3" fmla="*/ 2147483646 h 48"/>
                <a:gd name="T4" fmla="*/ 0 w 48"/>
                <a:gd name="T5" fmla="*/ 2147483646 h 48"/>
                <a:gd name="T6" fmla="*/ 2147483646 w 48"/>
                <a:gd name="T7" fmla="*/ 0 h 48"/>
                <a:gd name="T8" fmla="*/ 2147483646 w 48"/>
                <a:gd name="T9" fmla="*/ 2147483646 h 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 h="48">
                  <a:moveTo>
                    <a:pt x="48" y="24"/>
                  </a:moveTo>
                  <a:cubicBezTo>
                    <a:pt x="48" y="37"/>
                    <a:pt x="37" y="48"/>
                    <a:pt x="24" y="48"/>
                  </a:cubicBezTo>
                  <a:cubicBezTo>
                    <a:pt x="11" y="48"/>
                    <a:pt x="0" y="38"/>
                    <a:pt x="0" y="24"/>
                  </a:cubicBezTo>
                  <a:cubicBezTo>
                    <a:pt x="0" y="11"/>
                    <a:pt x="10" y="0"/>
                    <a:pt x="24" y="0"/>
                  </a:cubicBezTo>
                  <a:cubicBezTo>
                    <a:pt x="37" y="0"/>
                    <a:pt x="48" y="11"/>
                    <a:pt x="48" y="24"/>
                  </a:cubicBezTo>
                  <a:close/>
                </a:path>
              </a:pathLst>
            </a:custGeom>
            <a:solidFill>
              <a:schemeClr val="accent3"/>
            </a:solidFill>
            <a:ln>
              <a:noFill/>
            </a:ln>
          </p:spPr>
          <p:txBody>
            <a:bodyPr>
              <a:normAutofit fontScale="82500" lnSpcReduction="20000"/>
            </a:bodyPr>
            <a:lstStyle/>
            <a:p>
              <a:endParaRPr lang="zh-CN" altLang="en-US" dirty="0">
                <a:latin typeface="Times New Roman" panose="02020603050405020304" pitchFamily="18" charset="0"/>
              </a:endParaRPr>
            </a:p>
          </p:txBody>
        </p:sp>
        <p:sp>
          <p:nvSpPr>
            <p:cNvPr id="60" name="Freeform 6"/>
            <p:cNvSpPr/>
            <p:nvPr>
              <p:custDataLst>
                <p:tags r:id="rId6"/>
              </p:custDataLst>
            </p:nvPr>
          </p:nvSpPr>
          <p:spPr bwMode="auto">
            <a:xfrm rot="5400000">
              <a:off x="10380" y="5634"/>
              <a:ext cx="578" cy="1345"/>
            </a:xfrm>
            <a:custGeom>
              <a:avLst/>
              <a:gdLst>
                <a:gd name="T0" fmla="*/ 2147483646 w 61"/>
                <a:gd name="T1" fmla="*/ 2147483646 h 142"/>
                <a:gd name="T2" fmla="*/ 2147483646 w 61"/>
                <a:gd name="T3" fmla="*/ 2147483646 h 142"/>
                <a:gd name="T4" fmla="*/ 2147483646 w 61"/>
                <a:gd name="T5" fmla="*/ 2147483646 h 142"/>
                <a:gd name="T6" fmla="*/ 2147483646 w 61"/>
                <a:gd name="T7" fmla="*/ 2147483646 h 142"/>
                <a:gd name="T8" fmla="*/ 2147483646 w 61"/>
                <a:gd name="T9" fmla="*/ 2147483646 h 142"/>
                <a:gd name="T10" fmla="*/ 0 w 61"/>
                <a:gd name="T11" fmla="*/ 2147483646 h 142"/>
                <a:gd name="T12" fmla="*/ 2147483646 w 61"/>
                <a:gd name="T13" fmla="*/ 0 h 142"/>
                <a:gd name="T14" fmla="*/ 2147483646 w 61"/>
                <a:gd name="T15" fmla="*/ 0 h 142"/>
                <a:gd name="T16" fmla="*/ 2147483646 w 61"/>
                <a:gd name="T17" fmla="*/ 2147483646 h 142"/>
                <a:gd name="T18" fmla="*/ 2147483646 w 61"/>
                <a:gd name="T19" fmla="*/ 2147483646 h 142"/>
                <a:gd name="T20" fmla="*/ 2147483646 w 61"/>
                <a:gd name="T21" fmla="*/ 2147483646 h 1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142">
                  <a:moveTo>
                    <a:pt x="54" y="129"/>
                  </a:moveTo>
                  <a:cubicBezTo>
                    <a:pt x="54" y="141"/>
                    <a:pt x="43" y="51"/>
                    <a:pt x="31" y="52"/>
                  </a:cubicBezTo>
                  <a:cubicBezTo>
                    <a:pt x="31" y="52"/>
                    <a:pt x="31" y="52"/>
                    <a:pt x="31" y="52"/>
                  </a:cubicBezTo>
                  <a:cubicBezTo>
                    <a:pt x="19" y="52"/>
                    <a:pt x="9" y="142"/>
                    <a:pt x="9" y="129"/>
                  </a:cubicBezTo>
                  <a:cubicBezTo>
                    <a:pt x="15" y="24"/>
                    <a:pt x="15" y="24"/>
                    <a:pt x="15" y="24"/>
                  </a:cubicBezTo>
                  <a:cubicBezTo>
                    <a:pt x="0" y="44"/>
                    <a:pt x="0" y="44"/>
                    <a:pt x="0" y="44"/>
                  </a:cubicBezTo>
                  <a:cubicBezTo>
                    <a:pt x="0" y="41"/>
                    <a:pt x="21" y="0"/>
                    <a:pt x="31" y="0"/>
                  </a:cubicBezTo>
                  <a:cubicBezTo>
                    <a:pt x="31" y="0"/>
                    <a:pt x="31" y="0"/>
                    <a:pt x="31" y="0"/>
                  </a:cubicBezTo>
                  <a:cubicBezTo>
                    <a:pt x="41" y="0"/>
                    <a:pt x="61" y="43"/>
                    <a:pt x="61" y="45"/>
                  </a:cubicBezTo>
                  <a:cubicBezTo>
                    <a:pt x="47" y="24"/>
                    <a:pt x="47" y="24"/>
                    <a:pt x="47" y="24"/>
                  </a:cubicBezTo>
                  <a:lnTo>
                    <a:pt x="54" y="129"/>
                  </a:lnTo>
                  <a:close/>
                </a:path>
              </a:pathLst>
            </a:custGeom>
            <a:solidFill>
              <a:schemeClr val="accent3"/>
            </a:solidFill>
            <a:ln>
              <a:noFill/>
            </a:ln>
          </p:spPr>
          <p:txBody>
            <a:bodyPr>
              <a:normAutofit/>
            </a:bodyPr>
            <a:lstStyle/>
            <a:p>
              <a:endParaRPr lang="zh-CN" altLang="en-US" dirty="0">
                <a:latin typeface="Times New Roman" panose="02020603050405020304" pitchFamily="18" charset="0"/>
              </a:endParaRPr>
            </a:p>
          </p:txBody>
        </p:sp>
        <p:sp>
          <p:nvSpPr>
            <p:cNvPr id="61" name="Freeform 5"/>
            <p:cNvSpPr/>
            <p:nvPr>
              <p:custDataLst>
                <p:tags r:id="rId7"/>
              </p:custDataLst>
            </p:nvPr>
          </p:nvSpPr>
          <p:spPr bwMode="auto">
            <a:xfrm rot="16200000">
              <a:off x="7385" y="6075"/>
              <a:ext cx="454" cy="454"/>
            </a:xfrm>
            <a:custGeom>
              <a:avLst/>
              <a:gdLst>
                <a:gd name="T0" fmla="*/ 2147483646 w 48"/>
                <a:gd name="T1" fmla="*/ 2147483646 h 48"/>
                <a:gd name="T2" fmla="*/ 2147483646 w 48"/>
                <a:gd name="T3" fmla="*/ 2147483646 h 48"/>
                <a:gd name="T4" fmla="*/ 0 w 48"/>
                <a:gd name="T5" fmla="*/ 2147483646 h 48"/>
                <a:gd name="T6" fmla="*/ 2147483646 w 48"/>
                <a:gd name="T7" fmla="*/ 0 h 48"/>
                <a:gd name="T8" fmla="*/ 2147483646 w 48"/>
                <a:gd name="T9" fmla="*/ 2147483646 h 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 h="48">
                  <a:moveTo>
                    <a:pt x="48" y="24"/>
                  </a:moveTo>
                  <a:cubicBezTo>
                    <a:pt x="48" y="37"/>
                    <a:pt x="37" y="48"/>
                    <a:pt x="24" y="48"/>
                  </a:cubicBezTo>
                  <a:cubicBezTo>
                    <a:pt x="11" y="48"/>
                    <a:pt x="0" y="38"/>
                    <a:pt x="0" y="24"/>
                  </a:cubicBezTo>
                  <a:cubicBezTo>
                    <a:pt x="0" y="11"/>
                    <a:pt x="10" y="0"/>
                    <a:pt x="24" y="0"/>
                  </a:cubicBezTo>
                  <a:cubicBezTo>
                    <a:pt x="37" y="0"/>
                    <a:pt x="48" y="11"/>
                    <a:pt x="48" y="24"/>
                  </a:cubicBezTo>
                  <a:close/>
                </a:path>
              </a:pathLst>
            </a:custGeom>
            <a:solidFill>
              <a:schemeClr val="accent5"/>
            </a:solidFill>
            <a:ln>
              <a:noFill/>
            </a:ln>
          </p:spPr>
          <p:txBody>
            <a:bodyPr>
              <a:normAutofit fontScale="82500" lnSpcReduction="20000"/>
            </a:bodyPr>
            <a:lstStyle/>
            <a:p>
              <a:endParaRPr lang="zh-CN" altLang="en-US" dirty="0">
                <a:latin typeface="Times New Roman" panose="02020603050405020304" pitchFamily="18" charset="0"/>
              </a:endParaRPr>
            </a:p>
          </p:txBody>
        </p:sp>
        <p:sp>
          <p:nvSpPr>
            <p:cNvPr id="62" name="Freeform 6"/>
            <p:cNvSpPr/>
            <p:nvPr>
              <p:custDataLst>
                <p:tags r:id="rId8"/>
              </p:custDataLst>
            </p:nvPr>
          </p:nvSpPr>
          <p:spPr bwMode="auto">
            <a:xfrm rot="16200000">
              <a:off x="8241" y="5634"/>
              <a:ext cx="578" cy="1345"/>
            </a:xfrm>
            <a:custGeom>
              <a:avLst/>
              <a:gdLst>
                <a:gd name="T0" fmla="*/ 2147483646 w 61"/>
                <a:gd name="T1" fmla="*/ 2147483646 h 142"/>
                <a:gd name="T2" fmla="*/ 2147483646 w 61"/>
                <a:gd name="T3" fmla="*/ 2147483646 h 142"/>
                <a:gd name="T4" fmla="*/ 2147483646 w 61"/>
                <a:gd name="T5" fmla="*/ 2147483646 h 142"/>
                <a:gd name="T6" fmla="*/ 2147483646 w 61"/>
                <a:gd name="T7" fmla="*/ 2147483646 h 142"/>
                <a:gd name="T8" fmla="*/ 2147483646 w 61"/>
                <a:gd name="T9" fmla="*/ 2147483646 h 142"/>
                <a:gd name="T10" fmla="*/ 0 w 61"/>
                <a:gd name="T11" fmla="*/ 2147483646 h 142"/>
                <a:gd name="T12" fmla="*/ 2147483646 w 61"/>
                <a:gd name="T13" fmla="*/ 0 h 142"/>
                <a:gd name="T14" fmla="*/ 2147483646 w 61"/>
                <a:gd name="T15" fmla="*/ 0 h 142"/>
                <a:gd name="T16" fmla="*/ 2147483646 w 61"/>
                <a:gd name="T17" fmla="*/ 2147483646 h 142"/>
                <a:gd name="T18" fmla="*/ 2147483646 w 61"/>
                <a:gd name="T19" fmla="*/ 2147483646 h 142"/>
                <a:gd name="T20" fmla="*/ 2147483646 w 61"/>
                <a:gd name="T21" fmla="*/ 2147483646 h 1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142">
                  <a:moveTo>
                    <a:pt x="54" y="129"/>
                  </a:moveTo>
                  <a:cubicBezTo>
                    <a:pt x="54" y="141"/>
                    <a:pt x="43" y="51"/>
                    <a:pt x="31" y="52"/>
                  </a:cubicBezTo>
                  <a:cubicBezTo>
                    <a:pt x="31" y="52"/>
                    <a:pt x="31" y="52"/>
                    <a:pt x="31" y="52"/>
                  </a:cubicBezTo>
                  <a:cubicBezTo>
                    <a:pt x="19" y="52"/>
                    <a:pt x="9" y="142"/>
                    <a:pt x="9" y="129"/>
                  </a:cubicBezTo>
                  <a:cubicBezTo>
                    <a:pt x="15" y="24"/>
                    <a:pt x="15" y="24"/>
                    <a:pt x="15" y="24"/>
                  </a:cubicBezTo>
                  <a:cubicBezTo>
                    <a:pt x="0" y="44"/>
                    <a:pt x="0" y="44"/>
                    <a:pt x="0" y="44"/>
                  </a:cubicBezTo>
                  <a:cubicBezTo>
                    <a:pt x="0" y="41"/>
                    <a:pt x="21" y="0"/>
                    <a:pt x="31" y="0"/>
                  </a:cubicBezTo>
                  <a:cubicBezTo>
                    <a:pt x="31" y="0"/>
                    <a:pt x="31" y="0"/>
                    <a:pt x="31" y="0"/>
                  </a:cubicBezTo>
                  <a:cubicBezTo>
                    <a:pt x="41" y="0"/>
                    <a:pt x="61" y="43"/>
                    <a:pt x="61" y="45"/>
                  </a:cubicBezTo>
                  <a:cubicBezTo>
                    <a:pt x="47" y="24"/>
                    <a:pt x="47" y="24"/>
                    <a:pt x="47" y="24"/>
                  </a:cubicBezTo>
                  <a:lnTo>
                    <a:pt x="54" y="129"/>
                  </a:lnTo>
                  <a:close/>
                </a:path>
              </a:pathLst>
            </a:custGeom>
            <a:solidFill>
              <a:schemeClr val="accent5"/>
            </a:solidFill>
            <a:ln>
              <a:noFill/>
            </a:ln>
          </p:spPr>
          <p:txBody>
            <a:bodyPr>
              <a:normAutofit/>
            </a:bodyPr>
            <a:lstStyle/>
            <a:p>
              <a:endParaRPr lang="zh-CN" altLang="en-US" dirty="0">
                <a:latin typeface="Times New Roman" panose="02020603050405020304" pitchFamily="18" charset="0"/>
              </a:endParaRPr>
            </a:p>
          </p:txBody>
        </p:sp>
        <p:sp>
          <p:nvSpPr>
            <p:cNvPr id="65" name="Freeform 13"/>
            <p:cNvSpPr/>
            <p:nvPr>
              <p:custDataLst>
                <p:tags r:id="rId9"/>
              </p:custDataLst>
            </p:nvPr>
          </p:nvSpPr>
          <p:spPr bwMode="auto">
            <a:xfrm rot="13352992">
              <a:off x="10435" y="4379"/>
              <a:ext cx="1346" cy="451"/>
            </a:xfrm>
            <a:custGeom>
              <a:avLst/>
              <a:gdLst>
                <a:gd name="T0" fmla="*/ 2147483646 w 134"/>
                <a:gd name="T1" fmla="*/ 2147483646 h 45"/>
                <a:gd name="T2" fmla="*/ 0 w 134"/>
                <a:gd name="T3" fmla="*/ 858130801 h 45"/>
                <a:gd name="T4" fmla="*/ 717286263 w 134"/>
                <a:gd name="T5" fmla="*/ 0 h 45"/>
                <a:gd name="T6" fmla="*/ 2147483646 w 134"/>
                <a:gd name="T7" fmla="*/ 572091187 h 45"/>
                <a:gd name="T8" fmla="*/ 2147483646 w 134"/>
                <a:gd name="T9" fmla="*/ 1430221989 h 45"/>
                <a:gd name="T10" fmla="*/ 2147483646 w 134"/>
                <a:gd name="T11" fmla="*/ 2147483646 h 4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4" h="45">
                  <a:moveTo>
                    <a:pt x="69" y="32"/>
                  </a:moveTo>
                  <a:cubicBezTo>
                    <a:pt x="37" y="32"/>
                    <a:pt x="12" y="16"/>
                    <a:pt x="0" y="6"/>
                  </a:cubicBezTo>
                  <a:cubicBezTo>
                    <a:pt x="5" y="0"/>
                    <a:pt x="5" y="0"/>
                    <a:pt x="5" y="0"/>
                  </a:cubicBezTo>
                  <a:cubicBezTo>
                    <a:pt x="23" y="15"/>
                    <a:pt x="70" y="45"/>
                    <a:pt x="129" y="4"/>
                  </a:cubicBezTo>
                  <a:cubicBezTo>
                    <a:pt x="134" y="10"/>
                    <a:pt x="134" y="10"/>
                    <a:pt x="134" y="10"/>
                  </a:cubicBezTo>
                  <a:cubicBezTo>
                    <a:pt x="110" y="26"/>
                    <a:pt x="88" y="32"/>
                    <a:pt x="69" y="32"/>
                  </a:cubicBezTo>
                  <a:close/>
                </a:path>
              </a:pathLst>
            </a:custGeom>
            <a:solidFill>
              <a:schemeClr val="accent1"/>
            </a:solidFill>
            <a:ln>
              <a:noFill/>
            </a:ln>
          </p:spPr>
          <p:txBody>
            <a:bodyPr>
              <a:normAutofit fontScale="62500" lnSpcReduction="20000"/>
            </a:bodyPr>
            <a:lstStyle/>
            <a:p>
              <a:endParaRPr lang="zh-CN" altLang="en-US" dirty="0">
                <a:latin typeface="Times New Roman" panose="02020603050405020304" pitchFamily="18" charset="0"/>
              </a:endParaRPr>
            </a:p>
          </p:txBody>
        </p:sp>
        <p:sp>
          <p:nvSpPr>
            <p:cNvPr id="66" name="Freeform 14"/>
            <p:cNvSpPr/>
            <p:nvPr>
              <p:custDataLst>
                <p:tags r:id="rId10"/>
              </p:custDataLst>
            </p:nvPr>
          </p:nvSpPr>
          <p:spPr bwMode="auto">
            <a:xfrm rot="13352992">
              <a:off x="11306" y="4964"/>
              <a:ext cx="270" cy="262"/>
            </a:xfrm>
            <a:custGeom>
              <a:avLst/>
              <a:gdLst>
                <a:gd name="T0" fmla="*/ 171370359 w 203"/>
                <a:gd name="T1" fmla="*/ 496469194 h 197"/>
                <a:gd name="T2" fmla="*/ 151209140 w 203"/>
                <a:gd name="T3" fmla="*/ 153728492 h 197"/>
                <a:gd name="T4" fmla="*/ 511590131 w 203"/>
                <a:gd name="T5" fmla="*/ 133567274 h 197"/>
                <a:gd name="T6" fmla="*/ 342740718 w 203"/>
                <a:gd name="T7" fmla="*/ 0 h 197"/>
                <a:gd name="T8" fmla="*/ 0 w 203"/>
                <a:gd name="T9" fmla="*/ 20161218 h 197"/>
                <a:gd name="T10" fmla="*/ 17640273 w 203"/>
                <a:gd name="T11" fmla="*/ 362901920 h 197"/>
                <a:gd name="T12" fmla="*/ 171370359 w 203"/>
                <a:gd name="T13" fmla="*/ 496469194 h 1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3" h="197">
                  <a:moveTo>
                    <a:pt x="68" y="197"/>
                  </a:moveTo>
                  <a:lnTo>
                    <a:pt x="60" y="61"/>
                  </a:lnTo>
                  <a:lnTo>
                    <a:pt x="203" y="53"/>
                  </a:lnTo>
                  <a:lnTo>
                    <a:pt x="136" y="0"/>
                  </a:lnTo>
                  <a:lnTo>
                    <a:pt x="0" y="8"/>
                  </a:lnTo>
                  <a:lnTo>
                    <a:pt x="7" y="144"/>
                  </a:lnTo>
                  <a:lnTo>
                    <a:pt x="68" y="197"/>
                  </a:lnTo>
                  <a:close/>
                </a:path>
              </a:pathLst>
            </a:custGeom>
            <a:solidFill>
              <a:schemeClr val="accent1"/>
            </a:solidFill>
            <a:ln>
              <a:noFill/>
            </a:ln>
          </p:spPr>
          <p:txBody>
            <a:bodyPr>
              <a:normAutofit fontScale="25000" lnSpcReduction="20000"/>
            </a:bodyPr>
            <a:lstStyle/>
            <a:p>
              <a:endParaRPr lang="zh-CN" altLang="en-US" dirty="0">
                <a:latin typeface="Times New Roman" panose="02020603050405020304" pitchFamily="18" charset="0"/>
              </a:endParaRPr>
            </a:p>
          </p:txBody>
        </p:sp>
        <p:sp>
          <p:nvSpPr>
            <p:cNvPr id="67" name="Freeform 13"/>
            <p:cNvSpPr/>
            <p:nvPr>
              <p:custDataLst>
                <p:tags r:id="rId11"/>
              </p:custDataLst>
            </p:nvPr>
          </p:nvSpPr>
          <p:spPr bwMode="auto">
            <a:xfrm rot="2552992">
              <a:off x="7354" y="7613"/>
              <a:ext cx="1346" cy="451"/>
            </a:xfrm>
            <a:custGeom>
              <a:avLst/>
              <a:gdLst>
                <a:gd name="T0" fmla="*/ 2147483646 w 134"/>
                <a:gd name="T1" fmla="*/ 2147483646 h 45"/>
                <a:gd name="T2" fmla="*/ 0 w 134"/>
                <a:gd name="T3" fmla="*/ 858130801 h 45"/>
                <a:gd name="T4" fmla="*/ 717286263 w 134"/>
                <a:gd name="T5" fmla="*/ 0 h 45"/>
                <a:gd name="T6" fmla="*/ 2147483646 w 134"/>
                <a:gd name="T7" fmla="*/ 572091187 h 45"/>
                <a:gd name="T8" fmla="*/ 2147483646 w 134"/>
                <a:gd name="T9" fmla="*/ 1430221989 h 45"/>
                <a:gd name="T10" fmla="*/ 2147483646 w 134"/>
                <a:gd name="T11" fmla="*/ 2147483646 h 4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4" h="45">
                  <a:moveTo>
                    <a:pt x="69" y="32"/>
                  </a:moveTo>
                  <a:cubicBezTo>
                    <a:pt x="37" y="32"/>
                    <a:pt x="12" y="16"/>
                    <a:pt x="0" y="6"/>
                  </a:cubicBezTo>
                  <a:cubicBezTo>
                    <a:pt x="5" y="0"/>
                    <a:pt x="5" y="0"/>
                    <a:pt x="5" y="0"/>
                  </a:cubicBezTo>
                  <a:cubicBezTo>
                    <a:pt x="23" y="15"/>
                    <a:pt x="70" y="45"/>
                    <a:pt x="129" y="4"/>
                  </a:cubicBezTo>
                  <a:cubicBezTo>
                    <a:pt x="134" y="10"/>
                    <a:pt x="134" y="10"/>
                    <a:pt x="134" y="10"/>
                  </a:cubicBezTo>
                  <a:cubicBezTo>
                    <a:pt x="110" y="26"/>
                    <a:pt x="88" y="32"/>
                    <a:pt x="69" y="32"/>
                  </a:cubicBezTo>
                  <a:close/>
                </a:path>
              </a:pathLst>
            </a:custGeom>
            <a:solidFill>
              <a:schemeClr val="accent2"/>
            </a:solidFill>
            <a:ln>
              <a:noFill/>
            </a:ln>
          </p:spPr>
          <p:txBody>
            <a:bodyPr>
              <a:normAutofit fontScale="62500" lnSpcReduction="20000"/>
            </a:bodyPr>
            <a:lstStyle/>
            <a:p>
              <a:endParaRPr lang="zh-CN" altLang="en-US" dirty="0">
                <a:latin typeface="Times New Roman" panose="02020603050405020304" pitchFamily="18" charset="0"/>
              </a:endParaRPr>
            </a:p>
          </p:txBody>
        </p:sp>
        <p:sp>
          <p:nvSpPr>
            <p:cNvPr id="70" name="Freeform 14"/>
            <p:cNvSpPr/>
            <p:nvPr>
              <p:custDataLst>
                <p:tags r:id="rId12"/>
              </p:custDataLst>
            </p:nvPr>
          </p:nvSpPr>
          <p:spPr bwMode="auto">
            <a:xfrm rot="2552992">
              <a:off x="7558" y="7217"/>
              <a:ext cx="270" cy="262"/>
            </a:xfrm>
            <a:custGeom>
              <a:avLst/>
              <a:gdLst>
                <a:gd name="T0" fmla="*/ 171370359 w 203"/>
                <a:gd name="T1" fmla="*/ 496469194 h 197"/>
                <a:gd name="T2" fmla="*/ 151209140 w 203"/>
                <a:gd name="T3" fmla="*/ 153728492 h 197"/>
                <a:gd name="T4" fmla="*/ 511590131 w 203"/>
                <a:gd name="T5" fmla="*/ 133567274 h 197"/>
                <a:gd name="T6" fmla="*/ 342740718 w 203"/>
                <a:gd name="T7" fmla="*/ 0 h 197"/>
                <a:gd name="T8" fmla="*/ 0 w 203"/>
                <a:gd name="T9" fmla="*/ 20161218 h 197"/>
                <a:gd name="T10" fmla="*/ 17640273 w 203"/>
                <a:gd name="T11" fmla="*/ 362901920 h 197"/>
                <a:gd name="T12" fmla="*/ 171370359 w 203"/>
                <a:gd name="T13" fmla="*/ 496469194 h 1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3" h="197">
                  <a:moveTo>
                    <a:pt x="68" y="197"/>
                  </a:moveTo>
                  <a:lnTo>
                    <a:pt x="60" y="61"/>
                  </a:lnTo>
                  <a:lnTo>
                    <a:pt x="203" y="53"/>
                  </a:lnTo>
                  <a:lnTo>
                    <a:pt x="136" y="0"/>
                  </a:lnTo>
                  <a:lnTo>
                    <a:pt x="0" y="8"/>
                  </a:lnTo>
                  <a:lnTo>
                    <a:pt x="7" y="144"/>
                  </a:lnTo>
                  <a:lnTo>
                    <a:pt x="68" y="197"/>
                  </a:lnTo>
                  <a:close/>
                </a:path>
              </a:pathLst>
            </a:custGeom>
            <a:solidFill>
              <a:schemeClr val="accent2"/>
            </a:solidFill>
            <a:ln>
              <a:noFill/>
            </a:ln>
          </p:spPr>
          <p:txBody>
            <a:bodyPr>
              <a:normAutofit fontScale="25000" lnSpcReduction="20000"/>
            </a:bodyPr>
            <a:lstStyle/>
            <a:p>
              <a:endParaRPr lang="zh-CN" altLang="en-US" dirty="0">
                <a:latin typeface="Times New Roman" panose="02020603050405020304" pitchFamily="18" charset="0"/>
              </a:endParaRPr>
            </a:p>
          </p:txBody>
        </p:sp>
        <p:sp>
          <p:nvSpPr>
            <p:cNvPr id="72" name="Freeform 13"/>
            <p:cNvSpPr/>
            <p:nvPr>
              <p:custDataLst>
                <p:tags r:id="rId13"/>
              </p:custDataLst>
            </p:nvPr>
          </p:nvSpPr>
          <p:spPr bwMode="auto">
            <a:xfrm rot="18752992">
              <a:off x="10511" y="7536"/>
              <a:ext cx="1346" cy="451"/>
            </a:xfrm>
            <a:custGeom>
              <a:avLst/>
              <a:gdLst>
                <a:gd name="T0" fmla="*/ 2147483646 w 134"/>
                <a:gd name="T1" fmla="*/ 2147483646 h 45"/>
                <a:gd name="T2" fmla="*/ 0 w 134"/>
                <a:gd name="T3" fmla="*/ 858130801 h 45"/>
                <a:gd name="T4" fmla="*/ 717286263 w 134"/>
                <a:gd name="T5" fmla="*/ 0 h 45"/>
                <a:gd name="T6" fmla="*/ 2147483646 w 134"/>
                <a:gd name="T7" fmla="*/ 572091187 h 45"/>
                <a:gd name="T8" fmla="*/ 2147483646 w 134"/>
                <a:gd name="T9" fmla="*/ 1430221989 h 45"/>
                <a:gd name="T10" fmla="*/ 2147483646 w 134"/>
                <a:gd name="T11" fmla="*/ 2147483646 h 4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4" h="45">
                  <a:moveTo>
                    <a:pt x="69" y="32"/>
                  </a:moveTo>
                  <a:cubicBezTo>
                    <a:pt x="37" y="32"/>
                    <a:pt x="12" y="16"/>
                    <a:pt x="0" y="6"/>
                  </a:cubicBezTo>
                  <a:cubicBezTo>
                    <a:pt x="5" y="0"/>
                    <a:pt x="5" y="0"/>
                    <a:pt x="5" y="0"/>
                  </a:cubicBezTo>
                  <a:cubicBezTo>
                    <a:pt x="23" y="15"/>
                    <a:pt x="70" y="45"/>
                    <a:pt x="129" y="4"/>
                  </a:cubicBezTo>
                  <a:cubicBezTo>
                    <a:pt x="134" y="10"/>
                    <a:pt x="134" y="10"/>
                    <a:pt x="134" y="10"/>
                  </a:cubicBezTo>
                  <a:cubicBezTo>
                    <a:pt x="110" y="26"/>
                    <a:pt x="88" y="32"/>
                    <a:pt x="69" y="32"/>
                  </a:cubicBezTo>
                  <a:close/>
                </a:path>
              </a:pathLst>
            </a:custGeom>
            <a:solidFill>
              <a:schemeClr val="accent3"/>
            </a:solidFill>
            <a:ln>
              <a:noFill/>
            </a:ln>
          </p:spPr>
          <p:txBody>
            <a:bodyPr>
              <a:normAutofit fontScale="85000" lnSpcReduction="20000"/>
            </a:bodyPr>
            <a:lstStyle/>
            <a:p>
              <a:endParaRPr lang="zh-CN" altLang="en-US" dirty="0">
                <a:latin typeface="Times New Roman" panose="02020603050405020304" pitchFamily="18" charset="0"/>
              </a:endParaRPr>
            </a:p>
          </p:txBody>
        </p:sp>
        <p:sp>
          <p:nvSpPr>
            <p:cNvPr id="75" name="Freeform 14"/>
            <p:cNvSpPr/>
            <p:nvPr>
              <p:custDataLst>
                <p:tags r:id="rId14"/>
              </p:custDataLst>
            </p:nvPr>
          </p:nvSpPr>
          <p:spPr bwMode="auto">
            <a:xfrm rot="18752992">
              <a:off x="10558" y="7965"/>
              <a:ext cx="270" cy="262"/>
            </a:xfrm>
            <a:custGeom>
              <a:avLst/>
              <a:gdLst>
                <a:gd name="T0" fmla="*/ 171370359 w 203"/>
                <a:gd name="T1" fmla="*/ 496469194 h 197"/>
                <a:gd name="T2" fmla="*/ 151209140 w 203"/>
                <a:gd name="T3" fmla="*/ 153728492 h 197"/>
                <a:gd name="T4" fmla="*/ 511590131 w 203"/>
                <a:gd name="T5" fmla="*/ 133567274 h 197"/>
                <a:gd name="T6" fmla="*/ 342740718 w 203"/>
                <a:gd name="T7" fmla="*/ 0 h 197"/>
                <a:gd name="T8" fmla="*/ 0 w 203"/>
                <a:gd name="T9" fmla="*/ 20161218 h 197"/>
                <a:gd name="T10" fmla="*/ 17640273 w 203"/>
                <a:gd name="T11" fmla="*/ 362901920 h 197"/>
                <a:gd name="T12" fmla="*/ 171370359 w 203"/>
                <a:gd name="T13" fmla="*/ 496469194 h 1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3" h="197">
                  <a:moveTo>
                    <a:pt x="68" y="197"/>
                  </a:moveTo>
                  <a:lnTo>
                    <a:pt x="60" y="61"/>
                  </a:lnTo>
                  <a:lnTo>
                    <a:pt x="203" y="53"/>
                  </a:lnTo>
                  <a:lnTo>
                    <a:pt x="136" y="0"/>
                  </a:lnTo>
                  <a:lnTo>
                    <a:pt x="0" y="8"/>
                  </a:lnTo>
                  <a:lnTo>
                    <a:pt x="7" y="144"/>
                  </a:lnTo>
                  <a:lnTo>
                    <a:pt x="68" y="197"/>
                  </a:lnTo>
                  <a:close/>
                </a:path>
              </a:pathLst>
            </a:custGeom>
            <a:solidFill>
              <a:schemeClr val="accent3"/>
            </a:solidFill>
            <a:ln>
              <a:noFill/>
            </a:ln>
          </p:spPr>
          <p:txBody>
            <a:bodyPr>
              <a:normAutofit fontScale="32500" lnSpcReduction="20000"/>
            </a:bodyPr>
            <a:lstStyle/>
            <a:p>
              <a:endParaRPr lang="zh-CN" altLang="en-US" dirty="0">
                <a:latin typeface="Times New Roman" panose="02020603050405020304" pitchFamily="18" charset="0"/>
              </a:endParaRPr>
            </a:p>
          </p:txBody>
        </p:sp>
        <p:sp>
          <p:nvSpPr>
            <p:cNvPr id="76" name="Freeform 13"/>
            <p:cNvSpPr/>
            <p:nvPr>
              <p:custDataLst>
                <p:tags r:id="rId15"/>
              </p:custDataLst>
            </p:nvPr>
          </p:nvSpPr>
          <p:spPr bwMode="auto">
            <a:xfrm rot="7952992">
              <a:off x="7278" y="4456"/>
              <a:ext cx="1346" cy="451"/>
            </a:xfrm>
            <a:custGeom>
              <a:avLst/>
              <a:gdLst>
                <a:gd name="T0" fmla="*/ 2147483646 w 134"/>
                <a:gd name="T1" fmla="*/ 2147483646 h 45"/>
                <a:gd name="T2" fmla="*/ 0 w 134"/>
                <a:gd name="T3" fmla="*/ 858130801 h 45"/>
                <a:gd name="T4" fmla="*/ 717286263 w 134"/>
                <a:gd name="T5" fmla="*/ 0 h 45"/>
                <a:gd name="T6" fmla="*/ 2147483646 w 134"/>
                <a:gd name="T7" fmla="*/ 572091187 h 45"/>
                <a:gd name="T8" fmla="*/ 2147483646 w 134"/>
                <a:gd name="T9" fmla="*/ 1430221989 h 45"/>
                <a:gd name="T10" fmla="*/ 2147483646 w 134"/>
                <a:gd name="T11" fmla="*/ 2147483646 h 4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4" h="45">
                  <a:moveTo>
                    <a:pt x="69" y="32"/>
                  </a:moveTo>
                  <a:cubicBezTo>
                    <a:pt x="37" y="32"/>
                    <a:pt x="12" y="16"/>
                    <a:pt x="0" y="6"/>
                  </a:cubicBezTo>
                  <a:cubicBezTo>
                    <a:pt x="5" y="0"/>
                    <a:pt x="5" y="0"/>
                    <a:pt x="5" y="0"/>
                  </a:cubicBezTo>
                  <a:cubicBezTo>
                    <a:pt x="23" y="15"/>
                    <a:pt x="70" y="45"/>
                    <a:pt x="129" y="4"/>
                  </a:cubicBezTo>
                  <a:cubicBezTo>
                    <a:pt x="134" y="10"/>
                    <a:pt x="134" y="10"/>
                    <a:pt x="134" y="10"/>
                  </a:cubicBezTo>
                  <a:cubicBezTo>
                    <a:pt x="110" y="26"/>
                    <a:pt x="88" y="32"/>
                    <a:pt x="69" y="32"/>
                  </a:cubicBezTo>
                  <a:close/>
                </a:path>
              </a:pathLst>
            </a:custGeom>
            <a:solidFill>
              <a:schemeClr val="accent5"/>
            </a:solidFill>
            <a:ln>
              <a:noFill/>
            </a:ln>
          </p:spPr>
          <p:txBody>
            <a:bodyPr>
              <a:normAutofit fontScale="85000" lnSpcReduction="20000"/>
            </a:bodyPr>
            <a:lstStyle/>
            <a:p>
              <a:endParaRPr lang="zh-CN" altLang="en-US" dirty="0">
                <a:latin typeface="Times New Roman" panose="02020603050405020304" pitchFamily="18" charset="0"/>
              </a:endParaRPr>
            </a:p>
          </p:txBody>
        </p:sp>
        <p:sp>
          <p:nvSpPr>
            <p:cNvPr id="77" name="Freeform 14"/>
            <p:cNvSpPr/>
            <p:nvPr>
              <p:custDataLst>
                <p:tags r:id="rId16"/>
              </p:custDataLst>
            </p:nvPr>
          </p:nvSpPr>
          <p:spPr bwMode="auto">
            <a:xfrm rot="7952992">
              <a:off x="8306" y="4217"/>
              <a:ext cx="270" cy="262"/>
            </a:xfrm>
            <a:custGeom>
              <a:avLst/>
              <a:gdLst>
                <a:gd name="T0" fmla="*/ 171370359 w 203"/>
                <a:gd name="T1" fmla="*/ 496469194 h 197"/>
                <a:gd name="T2" fmla="*/ 151209140 w 203"/>
                <a:gd name="T3" fmla="*/ 153728492 h 197"/>
                <a:gd name="T4" fmla="*/ 511590131 w 203"/>
                <a:gd name="T5" fmla="*/ 133567274 h 197"/>
                <a:gd name="T6" fmla="*/ 342740718 w 203"/>
                <a:gd name="T7" fmla="*/ 0 h 197"/>
                <a:gd name="T8" fmla="*/ 0 w 203"/>
                <a:gd name="T9" fmla="*/ 20161218 h 197"/>
                <a:gd name="T10" fmla="*/ 17640273 w 203"/>
                <a:gd name="T11" fmla="*/ 362901920 h 197"/>
                <a:gd name="T12" fmla="*/ 171370359 w 203"/>
                <a:gd name="T13" fmla="*/ 496469194 h 1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3" h="197">
                  <a:moveTo>
                    <a:pt x="68" y="197"/>
                  </a:moveTo>
                  <a:lnTo>
                    <a:pt x="60" y="61"/>
                  </a:lnTo>
                  <a:lnTo>
                    <a:pt x="203" y="53"/>
                  </a:lnTo>
                  <a:lnTo>
                    <a:pt x="136" y="0"/>
                  </a:lnTo>
                  <a:lnTo>
                    <a:pt x="0" y="8"/>
                  </a:lnTo>
                  <a:lnTo>
                    <a:pt x="7" y="144"/>
                  </a:lnTo>
                  <a:lnTo>
                    <a:pt x="68" y="197"/>
                  </a:lnTo>
                  <a:close/>
                </a:path>
              </a:pathLst>
            </a:custGeom>
            <a:solidFill>
              <a:schemeClr val="accent5"/>
            </a:solidFill>
            <a:ln>
              <a:noFill/>
            </a:ln>
          </p:spPr>
          <p:txBody>
            <a:bodyPr>
              <a:normAutofit fontScale="32500" lnSpcReduction="20000"/>
            </a:bodyPr>
            <a:lstStyle/>
            <a:p>
              <a:endParaRPr lang="zh-CN" altLang="en-US" dirty="0">
                <a:latin typeface="Times New Roman" panose="02020603050405020304" pitchFamily="18" charset="0"/>
              </a:endParaRPr>
            </a:p>
          </p:txBody>
        </p:sp>
        <p:sp>
          <p:nvSpPr>
            <p:cNvPr id="47" name="文本框 17"/>
            <p:cNvSpPr txBox="1">
              <a:spLocks noChangeArrowheads="1"/>
            </p:cNvSpPr>
            <p:nvPr>
              <p:custDataLst>
                <p:tags r:id="rId17"/>
              </p:custDataLst>
            </p:nvPr>
          </p:nvSpPr>
          <p:spPr bwMode="auto">
            <a:xfrm>
              <a:off x="4102" y="4057"/>
              <a:ext cx="3403"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75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1800" b="1" dirty="0">
                  <a:latin typeface="Times New Roman" panose="02020603050405020304" pitchFamily="18" charset="0"/>
                  <a:ea typeface="+mj-ea"/>
                  <a:cs typeface="+mj-cs"/>
                </a:rPr>
                <a:t>（</a:t>
              </a:r>
              <a:r>
                <a:rPr lang="en-US" altLang="zh-CN" sz="1800" b="1" dirty="0">
                  <a:latin typeface="Times New Roman" panose="02020603050405020304" pitchFamily="18" charset="0"/>
                  <a:ea typeface="+mj-ea"/>
                  <a:cs typeface="+mj-cs"/>
                </a:rPr>
                <a:t>1</a:t>
              </a:r>
              <a:r>
                <a:rPr lang="zh-CN" altLang="en-US" sz="1800" b="1" dirty="0">
                  <a:latin typeface="Times New Roman" panose="02020603050405020304" pitchFamily="18" charset="0"/>
                  <a:ea typeface="+mj-ea"/>
                  <a:cs typeface="+mj-cs"/>
                </a:rPr>
                <a:t>）</a:t>
              </a:r>
              <a:r>
                <a:rPr sz="1800" b="1" dirty="0">
                  <a:latin typeface="微软雅黑" panose="020B0503020204020204" charset="-122"/>
                  <a:ea typeface="微软雅黑" panose="020B0503020204020204" charset="-122"/>
                  <a:sym typeface="+mn-ea"/>
                </a:rPr>
                <a:t>测试内容</a:t>
              </a:r>
              <a:endParaRPr lang="zh-CN" altLang="en-US" sz="1800" b="1" dirty="0">
                <a:latin typeface="Times New Roman" panose="02020603050405020304" pitchFamily="18" charset="0"/>
                <a:ea typeface="+mj-ea"/>
                <a:cs typeface="+mj-cs"/>
              </a:endParaRPr>
            </a:p>
          </p:txBody>
        </p:sp>
        <p:sp>
          <p:nvSpPr>
            <p:cNvPr id="51" name="文本框 23"/>
            <p:cNvSpPr txBox="1">
              <a:spLocks noChangeArrowheads="1"/>
            </p:cNvSpPr>
            <p:nvPr>
              <p:custDataLst>
                <p:tags r:id="rId18"/>
              </p:custDataLst>
            </p:nvPr>
          </p:nvSpPr>
          <p:spPr bwMode="auto">
            <a:xfrm>
              <a:off x="3934" y="7876"/>
              <a:ext cx="3738" cy="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75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1800" b="1" dirty="0">
                  <a:latin typeface="Times New Roman" panose="02020603050405020304" pitchFamily="18" charset="0"/>
                  <a:ea typeface="+mj-ea"/>
                  <a:cs typeface="+mj-cs"/>
                </a:rPr>
                <a:t>（</a:t>
              </a:r>
              <a:r>
                <a:rPr lang="en-US" altLang="zh-CN" sz="1800" b="1" dirty="0">
                  <a:latin typeface="Times New Roman" panose="02020603050405020304" pitchFamily="18" charset="0"/>
                  <a:ea typeface="+mj-ea"/>
                  <a:cs typeface="+mj-cs"/>
                </a:rPr>
                <a:t>3</a:t>
              </a:r>
              <a:r>
                <a:rPr lang="zh-CN" altLang="en-US" sz="1800" b="1" dirty="0">
                  <a:latin typeface="Times New Roman" panose="02020603050405020304" pitchFamily="18" charset="0"/>
                  <a:ea typeface="+mj-ea"/>
                  <a:cs typeface="+mj-cs"/>
                </a:rPr>
                <a:t>）</a:t>
              </a:r>
              <a:r>
                <a:rPr sz="1800" b="1" dirty="0">
                  <a:latin typeface="微软雅黑" panose="020B0503020204020204" charset="-122"/>
                  <a:ea typeface="微软雅黑" panose="020B0503020204020204" charset="-122"/>
                  <a:sym typeface="+mn-ea"/>
                </a:rPr>
                <a:t>设计考虑</a:t>
              </a:r>
              <a:endParaRPr lang="zh-CN" altLang="en-US" sz="1800" b="1" dirty="0">
                <a:latin typeface="Times New Roman" panose="02020603050405020304" pitchFamily="18" charset="0"/>
                <a:ea typeface="+mj-ea"/>
                <a:cs typeface="+mj-cs"/>
              </a:endParaRPr>
            </a:p>
          </p:txBody>
        </p:sp>
        <p:sp>
          <p:nvSpPr>
            <p:cNvPr id="86" name="文本框 17"/>
            <p:cNvSpPr txBox="1">
              <a:spLocks noChangeArrowheads="1"/>
            </p:cNvSpPr>
            <p:nvPr>
              <p:custDataLst>
                <p:tags r:id="rId19"/>
              </p:custDataLst>
            </p:nvPr>
          </p:nvSpPr>
          <p:spPr bwMode="auto">
            <a:xfrm>
              <a:off x="11815" y="3954"/>
              <a:ext cx="3468"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75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1800" b="1" dirty="0">
                  <a:latin typeface="Times New Roman" panose="02020603050405020304" pitchFamily="18" charset="0"/>
                  <a:ea typeface="+mj-ea"/>
                  <a:cs typeface="+mj-cs"/>
                </a:rPr>
                <a:t>（</a:t>
              </a:r>
              <a:r>
                <a:rPr lang="en-US" altLang="zh-CN" sz="1800" b="1" dirty="0">
                  <a:latin typeface="Times New Roman" panose="02020603050405020304" pitchFamily="18" charset="0"/>
                  <a:ea typeface="+mj-ea"/>
                  <a:cs typeface="+mj-cs"/>
                </a:rPr>
                <a:t>2</a:t>
              </a:r>
              <a:r>
                <a:rPr lang="zh-CN" altLang="en-US" sz="1800" b="1" dirty="0">
                  <a:latin typeface="Times New Roman" panose="02020603050405020304" pitchFamily="18" charset="0"/>
                  <a:ea typeface="+mj-ea"/>
                  <a:cs typeface="+mj-cs"/>
                </a:rPr>
                <a:t>）</a:t>
              </a:r>
              <a:r>
                <a:rPr sz="1800" b="1" dirty="0" err="1">
                  <a:latin typeface="微软雅黑" panose="020B0503020204020204" charset="-122"/>
                  <a:ea typeface="微软雅黑" panose="020B0503020204020204" charset="-122"/>
                  <a:sym typeface="+mn-ea"/>
                </a:rPr>
                <a:t>进度安排</a:t>
              </a:r>
              <a:endParaRPr lang="zh-CN" altLang="en-US" sz="1800" b="1" dirty="0">
                <a:latin typeface="Times New Roman" panose="02020603050405020304" pitchFamily="18" charset="0"/>
                <a:ea typeface="+mj-ea"/>
                <a:cs typeface="+mj-cs"/>
              </a:endParaRPr>
            </a:p>
          </p:txBody>
        </p:sp>
        <p:sp>
          <p:nvSpPr>
            <p:cNvPr id="84" name="文本框 23"/>
            <p:cNvSpPr txBox="1">
              <a:spLocks noChangeArrowheads="1"/>
            </p:cNvSpPr>
            <p:nvPr>
              <p:custDataLst>
                <p:tags r:id="rId20"/>
              </p:custDataLst>
            </p:nvPr>
          </p:nvSpPr>
          <p:spPr bwMode="auto">
            <a:xfrm>
              <a:off x="11757" y="7876"/>
              <a:ext cx="7147" cy="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zh-CN" altLang="en-US" sz="1800" b="1" dirty="0">
                  <a:latin typeface="Times New Roman" panose="02020603050405020304" pitchFamily="18" charset="0"/>
                  <a:ea typeface="+mj-ea"/>
                  <a:cs typeface="+mj-cs"/>
                </a:rPr>
                <a:t>（</a:t>
              </a:r>
              <a:r>
                <a:rPr lang="en-US" altLang="zh-CN" sz="1800" b="1" dirty="0">
                  <a:latin typeface="Times New Roman" panose="02020603050405020304" pitchFamily="18" charset="0"/>
                  <a:ea typeface="+mj-ea"/>
                  <a:cs typeface="+mj-cs"/>
                </a:rPr>
                <a:t>4</a:t>
              </a:r>
              <a:r>
                <a:rPr lang="zh-CN" altLang="en-US" sz="1800" b="1" dirty="0">
                  <a:latin typeface="Times New Roman" panose="02020603050405020304" pitchFamily="18" charset="0"/>
                  <a:ea typeface="+mj-ea"/>
                  <a:cs typeface="+mj-cs"/>
                </a:rPr>
                <a:t>）</a:t>
              </a:r>
              <a:r>
                <a:rPr sz="1800" b="1" dirty="0" err="1">
                  <a:latin typeface="微软雅黑" panose="020B0503020204020204" charset="-122"/>
                  <a:ea typeface="微软雅黑" panose="020B0503020204020204" charset="-122"/>
                  <a:sym typeface="+mn-ea"/>
                </a:rPr>
                <a:t>测试数据的整理方法及评价准则等</a:t>
              </a:r>
              <a:endParaRPr lang="zh-CN" altLang="en-US" sz="1800" b="1" dirty="0">
                <a:latin typeface="Times New Roman" panose="02020603050405020304" pitchFamily="18" charset="0"/>
                <a:ea typeface="+mj-ea"/>
                <a:cs typeface="+mj-cs"/>
              </a:endParaRPr>
            </a:p>
          </p:txBody>
        </p:sp>
      </p:grpSp>
      <p:sp>
        <p:nvSpPr>
          <p:cNvPr id="30" name="文本框 13"/>
          <p:cNvSpPr txBox="1"/>
          <p:nvPr/>
        </p:nvSpPr>
        <p:spPr>
          <a:xfrm>
            <a:off x="696001" y="2127459"/>
            <a:ext cx="10631642" cy="707886"/>
          </a:xfrm>
          <a:prstGeom prst="rect">
            <a:avLst/>
          </a:prstGeom>
          <a:noFill/>
        </p:spPr>
        <p:txBody>
          <a:bodyPr wrap="square" rtlCol="0" anchor="t">
            <a:spAutoFit/>
          </a:bodyPr>
          <a:lstStyle/>
          <a:p>
            <a:pPr indent="457200"/>
            <a:r>
              <a:rPr lang="zh-CN" altLang="en-US" sz="2000" dirty="0">
                <a:latin typeface="Times New Roman" panose="02020603050405020304" pitchFamily="18" charset="0"/>
              </a:rPr>
              <a:t>软件测试计划描述测试活动的</a:t>
            </a:r>
            <a:r>
              <a:rPr lang="zh-CN" altLang="en-US" sz="2000" dirty="0">
                <a:solidFill>
                  <a:schemeClr val="accent2"/>
                </a:solidFill>
                <a:latin typeface="Times New Roman" panose="02020603050405020304" pitchFamily="18" charset="0"/>
              </a:rPr>
              <a:t>范围</a:t>
            </a:r>
            <a:r>
              <a:rPr lang="zh-CN" altLang="en-US" sz="2000" dirty="0">
                <a:latin typeface="Times New Roman" panose="02020603050405020304" pitchFamily="18" charset="0"/>
              </a:rPr>
              <a:t>、</a:t>
            </a:r>
            <a:r>
              <a:rPr lang="zh-CN" altLang="en-US" sz="2000" dirty="0">
                <a:solidFill>
                  <a:schemeClr val="accent2"/>
                </a:solidFill>
                <a:latin typeface="Times New Roman" panose="02020603050405020304" pitchFamily="18" charset="0"/>
              </a:rPr>
              <a:t>方法</a:t>
            </a:r>
            <a:r>
              <a:rPr lang="zh-CN" altLang="en-US" sz="2000" dirty="0">
                <a:latin typeface="Times New Roman" panose="02020603050405020304" pitchFamily="18" charset="0"/>
              </a:rPr>
              <a:t>、</a:t>
            </a:r>
            <a:r>
              <a:rPr lang="zh-CN" altLang="en-US" sz="2000" dirty="0">
                <a:solidFill>
                  <a:schemeClr val="accent2"/>
                </a:solidFill>
                <a:latin typeface="Times New Roman" panose="02020603050405020304" pitchFamily="18" charset="0"/>
              </a:rPr>
              <a:t>资源</a:t>
            </a:r>
            <a:r>
              <a:rPr lang="zh-CN" altLang="en-US" sz="2000" dirty="0">
                <a:latin typeface="Times New Roman" panose="02020603050405020304" pitchFamily="18" charset="0"/>
              </a:rPr>
              <a:t>和</a:t>
            </a:r>
            <a:r>
              <a:rPr lang="zh-CN" altLang="en-US" sz="2000" dirty="0">
                <a:solidFill>
                  <a:schemeClr val="accent2"/>
                </a:solidFill>
                <a:latin typeface="Times New Roman" panose="02020603050405020304" pitchFamily="18" charset="0"/>
              </a:rPr>
              <a:t>进度</a:t>
            </a:r>
            <a:r>
              <a:rPr lang="zh-CN" altLang="en-US" sz="2000" dirty="0">
                <a:latin typeface="Times New Roman" panose="02020603050405020304" pitchFamily="18" charset="0"/>
              </a:rPr>
              <a:t>。规定被测试的项、特性、应完成的测试任务、承担各项工作的人员职责及与本计划有关的风险等。</a:t>
            </a:r>
          </a:p>
        </p:txBody>
      </p:sp>
    </p:spTree>
  </p:cSld>
  <p:clrMapOvr>
    <a:masterClrMapping/>
  </p:clrMapOvr>
  <p:transition>
    <p:randomBar dir="vert"/>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zh-CN" altLang="en-US">
                <a:sym typeface="+mn-ea"/>
              </a:rPr>
              <a:t>4.8 软件测试文档</a:t>
            </a:r>
            <a:endParaRPr lang="zh-CN" altLang="en-US"/>
          </a:p>
        </p:txBody>
      </p:sp>
      <p:sp>
        <p:nvSpPr>
          <p:cNvPr id="10" name="文本占位符 9">
            <a:extLst>
              <a:ext uri="{FF2B5EF4-FFF2-40B4-BE49-F238E27FC236}">
                <a16:creationId xmlns:a16="http://schemas.microsoft.com/office/drawing/2014/main" id="{E8B1CF0D-70D1-E26E-F1FF-22CFD6DBAE1F}"/>
              </a:ext>
            </a:extLst>
          </p:cNvPr>
          <p:cNvSpPr>
            <a:spLocks noGrp="1"/>
          </p:cNvSpPr>
          <p:nvPr>
            <p:ph type="body" sz="quarter" idx="10"/>
          </p:nvPr>
        </p:nvSpPr>
        <p:spPr>
          <a:xfrm>
            <a:off x="696000" y="1322832"/>
            <a:ext cx="5400000" cy="400110"/>
          </a:xfrm>
        </p:spPr>
        <p:txBody>
          <a:bodyPr/>
          <a:lstStyle/>
          <a:p>
            <a:r>
              <a:rPr lang="en-US" altLang="zh-CN" dirty="0"/>
              <a:t>4.8.2 </a:t>
            </a:r>
            <a:r>
              <a:rPr lang="zh-CN" altLang="zh-CN" dirty="0"/>
              <a:t>软件测试说明</a:t>
            </a:r>
          </a:p>
        </p:txBody>
      </p:sp>
      <p:sp>
        <p:nvSpPr>
          <p:cNvPr id="14" name="文本占位符 13">
            <a:extLst>
              <a:ext uri="{FF2B5EF4-FFF2-40B4-BE49-F238E27FC236}">
                <a16:creationId xmlns:a16="http://schemas.microsoft.com/office/drawing/2014/main" id="{7DEAC0A0-6D43-C3F8-B95C-564BB87B6E45}"/>
              </a:ext>
            </a:extLst>
          </p:cNvPr>
          <p:cNvSpPr>
            <a:spLocks noGrp="1"/>
          </p:cNvSpPr>
          <p:nvPr>
            <p:ph type="body" sz="quarter" idx="11"/>
          </p:nvPr>
        </p:nvSpPr>
        <p:spPr/>
        <p:txBody>
          <a:bodyPr/>
          <a:lstStyle/>
          <a:p>
            <a:endParaRPr lang="zh-CN" altLang="en-US"/>
          </a:p>
        </p:txBody>
      </p:sp>
      <p:grpSp>
        <p:nvGrpSpPr>
          <p:cNvPr id="2" name="组合 1"/>
          <p:cNvGrpSpPr/>
          <p:nvPr/>
        </p:nvGrpSpPr>
        <p:grpSpPr>
          <a:xfrm>
            <a:off x="1007745" y="2061210"/>
            <a:ext cx="9939976" cy="4006850"/>
            <a:chOff x="677" y="2256"/>
            <a:chExt cx="18064" cy="7820"/>
          </a:xfrm>
        </p:grpSpPr>
        <p:grpSp>
          <p:nvGrpSpPr>
            <p:cNvPr id="6" name="组合 5"/>
            <p:cNvGrpSpPr/>
            <p:nvPr/>
          </p:nvGrpSpPr>
          <p:grpSpPr>
            <a:xfrm>
              <a:off x="677" y="2256"/>
              <a:ext cx="17811" cy="4369"/>
              <a:chOff x="677" y="2256"/>
              <a:chExt cx="17811" cy="4369"/>
            </a:xfrm>
          </p:grpSpPr>
          <p:sp>
            <p:nvSpPr>
              <p:cNvPr id="17415" name="Oval 5"/>
              <p:cNvSpPr>
                <a:spLocks noChangeArrowheads="1"/>
              </p:cNvSpPr>
              <p:nvPr>
                <p:custDataLst>
                  <p:tags r:id="rId4"/>
                </p:custDataLst>
              </p:nvPr>
            </p:nvSpPr>
            <p:spPr bwMode="auto">
              <a:xfrm>
                <a:off x="8341" y="2256"/>
                <a:ext cx="2487" cy="2487"/>
              </a:xfrm>
              <a:prstGeom prst="ellipse">
                <a:avLst/>
              </a:prstGeom>
              <a:solidFill>
                <a:schemeClr val="accent3">
                  <a:lumMod val="60000"/>
                  <a:lumOff val="40000"/>
                </a:schemeClr>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ct val="0"/>
                  </a:spcBef>
                  <a:buFontTx/>
                  <a:buNone/>
                </a:pPr>
                <a:r>
                  <a:rPr lang="zh-CN" altLang="zh-CN" sz="2800" dirty="0">
                    <a:solidFill>
                      <a:schemeClr val="bg1"/>
                    </a:solidFill>
                    <a:latin typeface="Times New Roman" panose="02020603050405020304" pitchFamily="18" charset="0"/>
                    <a:ea typeface="+mn-ea"/>
                  </a:rPr>
                  <a:t>02</a:t>
                </a:r>
              </a:p>
            </p:txBody>
          </p:sp>
          <p:sp>
            <p:nvSpPr>
              <p:cNvPr id="17416" name="Line 6"/>
              <p:cNvSpPr>
                <a:spLocks noChangeShapeType="1"/>
              </p:cNvSpPr>
              <p:nvPr>
                <p:custDataLst>
                  <p:tags r:id="rId5"/>
                </p:custDataLst>
              </p:nvPr>
            </p:nvSpPr>
            <p:spPr bwMode="auto">
              <a:xfrm>
                <a:off x="11233" y="3606"/>
                <a:ext cx="2990" cy="0"/>
              </a:xfrm>
              <a:prstGeom prst="line">
                <a:avLst/>
              </a:prstGeom>
              <a:noFill/>
              <a:ln w="28575" cmpd="sng">
                <a:solidFill>
                  <a:srgbClr val="D74B4B"/>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mn-ea"/>
                  <a:sym typeface="Arial" panose="020B0604020202020204" pitchFamily="34" charset="0"/>
                </a:endParaRPr>
              </a:p>
            </p:txBody>
          </p:sp>
          <p:sp>
            <p:nvSpPr>
              <p:cNvPr id="17417" name="Oval 7"/>
              <p:cNvSpPr>
                <a:spLocks noChangeArrowheads="1"/>
              </p:cNvSpPr>
              <p:nvPr>
                <p:custDataLst>
                  <p:tags r:id="rId6"/>
                </p:custDataLst>
              </p:nvPr>
            </p:nvSpPr>
            <p:spPr bwMode="auto">
              <a:xfrm>
                <a:off x="14627" y="2256"/>
                <a:ext cx="2487" cy="2487"/>
              </a:xfrm>
              <a:prstGeom prst="ellipse">
                <a:avLst/>
              </a:prstGeom>
              <a:solidFill>
                <a:schemeClr val="accent3">
                  <a:lumMod val="75000"/>
                </a:schemeClr>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ct val="0"/>
                  </a:spcBef>
                  <a:buFontTx/>
                  <a:buNone/>
                </a:pPr>
                <a:r>
                  <a:rPr lang="zh-CN" altLang="zh-CN" sz="2800" dirty="0">
                    <a:solidFill>
                      <a:schemeClr val="bg1"/>
                    </a:solidFill>
                    <a:latin typeface="Times New Roman" panose="02020603050405020304" pitchFamily="18" charset="0"/>
                    <a:ea typeface="+mn-ea"/>
                  </a:rPr>
                  <a:t>03</a:t>
                </a:r>
              </a:p>
            </p:txBody>
          </p:sp>
          <p:sp>
            <p:nvSpPr>
              <p:cNvPr id="17418" name="Oval 8"/>
              <p:cNvSpPr>
                <a:spLocks noChangeArrowheads="1"/>
              </p:cNvSpPr>
              <p:nvPr>
                <p:custDataLst>
                  <p:tags r:id="rId7"/>
                </p:custDataLst>
              </p:nvPr>
            </p:nvSpPr>
            <p:spPr bwMode="auto">
              <a:xfrm>
                <a:off x="2054" y="2256"/>
                <a:ext cx="2487" cy="2487"/>
              </a:xfrm>
              <a:prstGeom prst="ellipse">
                <a:avLst/>
              </a:prstGeom>
              <a:solidFill>
                <a:schemeClr val="accent3">
                  <a:lumMod val="40000"/>
                  <a:lumOff val="60000"/>
                </a:schemeClr>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lstStyle>
                <a:lvl1pPr>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ct val="0"/>
                  </a:spcBef>
                  <a:buFontTx/>
                  <a:buNone/>
                </a:pPr>
                <a:r>
                  <a:rPr lang="zh-CN" altLang="zh-CN" sz="2800" dirty="0">
                    <a:solidFill>
                      <a:schemeClr val="bg1"/>
                    </a:solidFill>
                    <a:latin typeface="Times New Roman" panose="02020603050405020304" pitchFamily="18" charset="0"/>
                    <a:ea typeface="+mn-ea"/>
                  </a:rPr>
                  <a:t>01</a:t>
                </a:r>
              </a:p>
            </p:txBody>
          </p:sp>
          <p:sp>
            <p:nvSpPr>
              <p:cNvPr id="17419" name="Line 9"/>
              <p:cNvSpPr>
                <a:spLocks noChangeShapeType="1"/>
              </p:cNvSpPr>
              <p:nvPr>
                <p:custDataLst>
                  <p:tags r:id="rId8"/>
                </p:custDataLst>
              </p:nvPr>
            </p:nvSpPr>
            <p:spPr bwMode="auto">
              <a:xfrm>
                <a:off x="4946" y="3606"/>
                <a:ext cx="2990" cy="0"/>
              </a:xfrm>
              <a:prstGeom prst="line">
                <a:avLst/>
              </a:prstGeom>
              <a:noFill/>
              <a:ln w="28575" cmpd="sng">
                <a:solidFill>
                  <a:srgbClr val="D74B4B"/>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mn-ea"/>
                  <a:sym typeface="Arial" panose="020B0604020202020204" pitchFamily="34" charset="0"/>
                </a:endParaRPr>
              </a:p>
            </p:txBody>
          </p:sp>
          <p:sp>
            <p:nvSpPr>
              <p:cNvPr id="17420" name="Text Box 10"/>
              <p:cNvSpPr txBox="1">
                <a:spLocks noChangeArrowheads="1"/>
              </p:cNvSpPr>
              <p:nvPr>
                <p:custDataLst>
                  <p:tags r:id="rId9"/>
                </p:custDataLst>
              </p:nvPr>
            </p:nvSpPr>
            <p:spPr bwMode="auto">
              <a:xfrm>
                <a:off x="677" y="5283"/>
                <a:ext cx="5244" cy="1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170" tIns="46990" rIns="90170" bIns="46990" anchor="ctr">
                <a:normAutofit/>
              </a:bodyPr>
              <a:lstStyle>
                <a:lvl1pPr>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ct val="0"/>
                  </a:spcBef>
                  <a:buFontTx/>
                  <a:buNone/>
                </a:pPr>
                <a:r>
                  <a:rPr sz="2400" b="1" dirty="0" err="1">
                    <a:latin typeface="微软雅黑" panose="020B0503020204020204" charset="-122"/>
                    <a:ea typeface="微软雅黑" panose="020B0503020204020204" charset="-122"/>
                    <a:sym typeface="+mn-ea"/>
                  </a:rPr>
                  <a:t>测试设计说明</a:t>
                </a:r>
                <a:endParaRPr lang="zh-CN" altLang="zh-CN" sz="2400" b="1" dirty="0">
                  <a:solidFill>
                    <a:schemeClr val="tx2"/>
                  </a:solidFill>
                  <a:latin typeface="Times New Roman" panose="02020603050405020304" pitchFamily="18" charset="0"/>
                  <a:ea typeface="+mj-ea"/>
                  <a:cs typeface="+mj-cs"/>
                </a:endParaRPr>
              </a:p>
            </p:txBody>
          </p:sp>
          <p:sp>
            <p:nvSpPr>
              <p:cNvPr id="17421" name="Text Box 11"/>
              <p:cNvSpPr txBox="1">
                <a:spLocks noChangeArrowheads="1"/>
              </p:cNvSpPr>
              <p:nvPr>
                <p:custDataLst>
                  <p:tags r:id="rId10"/>
                </p:custDataLst>
              </p:nvPr>
            </p:nvSpPr>
            <p:spPr bwMode="auto">
              <a:xfrm>
                <a:off x="6961" y="5283"/>
                <a:ext cx="5244" cy="13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170" tIns="46990" rIns="90170" bIns="46990" anchor="ctr">
                <a:normAutofit/>
              </a:bodyPr>
              <a:lstStyle>
                <a:lvl1pPr>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ct val="0"/>
                  </a:spcBef>
                  <a:buFontTx/>
                  <a:buNone/>
                </a:pPr>
                <a:r>
                  <a:rPr sz="2400" b="1" dirty="0" err="1">
                    <a:latin typeface="微软雅黑" panose="020B0503020204020204" charset="-122"/>
                    <a:ea typeface="微软雅黑" panose="020B0503020204020204" charset="-122"/>
                    <a:sym typeface="+mn-ea"/>
                  </a:rPr>
                  <a:t>测试用例说明</a:t>
                </a:r>
                <a:endParaRPr lang="zh-CN" altLang="zh-CN" sz="2400" b="1" dirty="0">
                  <a:solidFill>
                    <a:schemeClr val="tx2"/>
                  </a:solidFill>
                  <a:latin typeface="Times New Roman" panose="02020603050405020304" pitchFamily="18" charset="0"/>
                  <a:ea typeface="+mj-ea"/>
                  <a:cs typeface="+mj-cs"/>
                </a:endParaRPr>
              </a:p>
            </p:txBody>
          </p:sp>
          <p:sp>
            <p:nvSpPr>
              <p:cNvPr id="17422" name="Text Box 12"/>
              <p:cNvSpPr txBox="1">
                <a:spLocks noChangeArrowheads="1"/>
              </p:cNvSpPr>
              <p:nvPr>
                <p:custDataLst>
                  <p:tags r:id="rId11"/>
                </p:custDataLst>
              </p:nvPr>
            </p:nvSpPr>
            <p:spPr bwMode="auto">
              <a:xfrm>
                <a:off x="13244" y="5283"/>
                <a:ext cx="5244" cy="13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170" tIns="46990" rIns="90170" bIns="46990" anchor="ctr">
                <a:normAutofit/>
              </a:bodyPr>
              <a:lstStyle>
                <a:lvl1pPr>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ct val="0"/>
                  </a:spcBef>
                  <a:buFontTx/>
                  <a:buNone/>
                </a:pPr>
                <a:r>
                  <a:rPr sz="2400" b="1" dirty="0" err="1">
                    <a:latin typeface="微软雅黑" panose="020B0503020204020204" charset="-122"/>
                    <a:ea typeface="微软雅黑" panose="020B0503020204020204" charset="-122"/>
                    <a:sym typeface="+mn-ea"/>
                  </a:rPr>
                  <a:t>测试规程说明</a:t>
                </a:r>
                <a:endParaRPr lang="zh-CN" altLang="zh-CN" sz="2400" b="1" dirty="0">
                  <a:solidFill>
                    <a:schemeClr val="tx2"/>
                  </a:solidFill>
                  <a:latin typeface="Times New Roman" panose="02020603050405020304" pitchFamily="18" charset="0"/>
                  <a:ea typeface="+mj-ea"/>
                  <a:cs typeface="+mj-cs"/>
                </a:endParaRPr>
              </a:p>
            </p:txBody>
          </p:sp>
        </p:grpSp>
        <p:sp>
          <p:nvSpPr>
            <p:cNvPr id="4" name="文本框 3"/>
            <p:cNvSpPr txBox="1"/>
            <p:nvPr>
              <p:custDataLst>
                <p:tags r:id="rId1"/>
              </p:custDataLst>
            </p:nvPr>
          </p:nvSpPr>
          <p:spPr>
            <a:xfrm>
              <a:off x="677" y="6626"/>
              <a:ext cx="5241" cy="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normAutofit/>
            </a:bodyPr>
            <a:lstStyle>
              <a:lvl1pPr marL="14605" indent="-14605" eaLnBrk="1" hangingPunct="1">
                <a:spcBef>
                  <a:spcPct val="20000"/>
                </a:spcBef>
                <a:buFontTx/>
                <a:buNone/>
                <a:defRPr sz="1800">
                  <a:latin typeface="+mn-lt"/>
                  <a:ea typeface="+mn-ea"/>
                  <a:sym typeface="Arial" panose="020B0604020202020204" pitchFamily="34" charset="0"/>
                </a:defRPr>
              </a:lvl1pPr>
              <a:lvl2pPr marL="742950" indent="-285750">
                <a:spcBef>
                  <a:spcPct val="20000"/>
                </a:spcBef>
                <a:buChar char="–"/>
                <a:defRPr sz="1600">
                  <a:solidFill>
                    <a:srgbClr val="475F77"/>
                  </a:solidFill>
                  <a:sym typeface="Arial" panose="020B0604020202020204" pitchFamily="34" charset="0"/>
                </a:defRPr>
              </a:lvl2pPr>
              <a:lvl3pPr marL="1143000" indent="-228600">
                <a:spcBef>
                  <a:spcPct val="20000"/>
                </a:spcBef>
                <a:buChar char="•"/>
                <a:defRPr sz="1600">
                  <a:solidFill>
                    <a:srgbClr val="475F77"/>
                  </a:solidFill>
                  <a:sym typeface="Arial" panose="020B0604020202020204" pitchFamily="34" charset="0"/>
                </a:defRPr>
              </a:lvl3pPr>
              <a:lvl4pPr marL="1600200" indent="-228600">
                <a:spcBef>
                  <a:spcPct val="20000"/>
                </a:spcBef>
                <a:buChar char="–"/>
                <a:defRPr sz="1600">
                  <a:solidFill>
                    <a:srgbClr val="475F77"/>
                  </a:solidFill>
                  <a:sym typeface="Arial" panose="020B0604020202020204" pitchFamily="34" charset="0"/>
                </a:defRPr>
              </a:lvl4pPr>
              <a:lvl5pPr marL="2057400" indent="-228600">
                <a:spcBef>
                  <a:spcPct val="20000"/>
                </a:spcBef>
                <a:buChar char="»"/>
                <a:defRPr sz="1600">
                  <a:solidFill>
                    <a:srgbClr val="475F77"/>
                  </a:solidFill>
                  <a:sym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pPr marL="0" indent="0" algn="l" fontAlgn="auto">
                <a:lnSpc>
                  <a:spcPct val="130000"/>
                </a:lnSpc>
                <a:buClrTx/>
              </a:pPr>
              <a:r>
                <a:rPr lang="en-US" altLang="zh-CN" dirty="0">
                  <a:latin typeface="Times New Roman" panose="02020603050405020304" pitchFamily="18" charset="0"/>
                </a:rPr>
                <a:t>        </a:t>
              </a:r>
              <a:r>
                <a:rPr dirty="0" err="1">
                  <a:latin typeface="微软雅黑" panose="020B0503020204020204" charset="-122"/>
                  <a:ea typeface="微软雅黑" panose="020B0503020204020204" charset="-122"/>
                  <a:sym typeface="+mn-ea"/>
                </a:rPr>
                <a:t>每项测试的控制、输入、输出、过程，评价准则、范围、数据整理、评价尺度等</a:t>
              </a:r>
              <a:r>
                <a:rPr dirty="0">
                  <a:latin typeface="微软雅黑" panose="020B0503020204020204" charset="-122"/>
                  <a:ea typeface="微软雅黑" panose="020B0503020204020204" charset="-122"/>
                  <a:sym typeface="+mn-ea"/>
                </a:rPr>
                <a:t>。</a:t>
              </a:r>
              <a:endParaRPr lang="zh-CN" altLang="en-US" dirty="0">
                <a:latin typeface="Times New Roman" panose="02020603050405020304" pitchFamily="18" charset="0"/>
              </a:endParaRPr>
            </a:p>
          </p:txBody>
        </p:sp>
        <p:sp>
          <p:nvSpPr>
            <p:cNvPr id="5" name="文本框 4"/>
            <p:cNvSpPr txBox="1"/>
            <p:nvPr>
              <p:custDataLst>
                <p:tags r:id="rId2"/>
              </p:custDataLst>
            </p:nvPr>
          </p:nvSpPr>
          <p:spPr>
            <a:xfrm>
              <a:off x="6964" y="6626"/>
              <a:ext cx="5241" cy="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a:bodyPr>
            <a:lstStyle>
              <a:lvl1pPr marL="14605" indent="-14605" eaLnBrk="1" hangingPunct="1">
                <a:spcBef>
                  <a:spcPct val="20000"/>
                </a:spcBef>
                <a:buFontTx/>
                <a:buNone/>
                <a:defRPr sz="1800">
                  <a:latin typeface="+mn-lt"/>
                  <a:ea typeface="+mn-ea"/>
                  <a:sym typeface="Arial" panose="020B0604020202020204" pitchFamily="34" charset="0"/>
                </a:defRPr>
              </a:lvl1pPr>
              <a:lvl2pPr marL="742950" indent="-285750">
                <a:spcBef>
                  <a:spcPct val="20000"/>
                </a:spcBef>
                <a:buChar char="–"/>
                <a:defRPr sz="1600">
                  <a:solidFill>
                    <a:srgbClr val="475F77"/>
                  </a:solidFill>
                  <a:sym typeface="Arial" panose="020B0604020202020204" pitchFamily="34" charset="0"/>
                </a:defRPr>
              </a:lvl2pPr>
              <a:lvl3pPr marL="1143000" indent="-228600">
                <a:spcBef>
                  <a:spcPct val="20000"/>
                </a:spcBef>
                <a:buChar char="•"/>
                <a:defRPr sz="1600">
                  <a:solidFill>
                    <a:srgbClr val="475F77"/>
                  </a:solidFill>
                  <a:sym typeface="Arial" panose="020B0604020202020204" pitchFamily="34" charset="0"/>
                </a:defRPr>
              </a:lvl3pPr>
              <a:lvl4pPr marL="1600200" indent="-228600">
                <a:spcBef>
                  <a:spcPct val="20000"/>
                </a:spcBef>
                <a:buChar char="–"/>
                <a:defRPr sz="1600">
                  <a:solidFill>
                    <a:srgbClr val="475F77"/>
                  </a:solidFill>
                  <a:sym typeface="Arial" panose="020B0604020202020204" pitchFamily="34" charset="0"/>
                </a:defRPr>
              </a:lvl4pPr>
              <a:lvl5pPr marL="2057400" indent="-228600">
                <a:spcBef>
                  <a:spcPct val="20000"/>
                </a:spcBef>
                <a:buChar char="»"/>
                <a:defRPr sz="1600">
                  <a:solidFill>
                    <a:srgbClr val="475F77"/>
                  </a:solidFill>
                  <a:sym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pPr marL="0" indent="0" algn="l" fontAlgn="auto">
                <a:lnSpc>
                  <a:spcPct val="130000"/>
                </a:lnSpc>
                <a:buClrTx/>
              </a:pPr>
              <a:r>
                <a:rPr lang="en-US" altLang="zh-CN" dirty="0">
                  <a:latin typeface="Times New Roman" panose="02020603050405020304" pitchFamily="18" charset="0"/>
                </a:rPr>
                <a:t>       </a:t>
              </a:r>
              <a:r>
                <a:rPr dirty="0" err="1">
                  <a:latin typeface="微软雅黑" panose="020B0503020204020204" charset="-122"/>
                  <a:ea typeface="微软雅黑" panose="020B0503020204020204" charset="-122"/>
                  <a:sym typeface="+mn-ea"/>
                </a:rPr>
                <a:t>输入值以及对应的输出结果，在使用具体测试用例时对测试规程的限制</a:t>
              </a:r>
              <a:r>
                <a:rPr dirty="0">
                  <a:latin typeface="微软雅黑" panose="020B0503020204020204" charset="-122"/>
                  <a:ea typeface="微软雅黑" panose="020B0503020204020204" charset="-122"/>
                  <a:sym typeface="+mn-ea"/>
                </a:rPr>
                <a:t>。</a:t>
              </a:r>
              <a:endParaRPr lang="zh-CN" altLang="en-US" dirty="0">
                <a:latin typeface="Times New Roman" panose="02020603050405020304" pitchFamily="18" charset="0"/>
              </a:endParaRPr>
            </a:p>
          </p:txBody>
        </p:sp>
        <p:sp>
          <p:nvSpPr>
            <p:cNvPr id="8" name="文本框 7"/>
            <p:cNvSpPr txBox="1"/>
            <p:nvPr>
              <p:custDataLst>
                <p:tags r:id="rId3"/>
              </p:custDataLst>
            </p:nvPr>
          </p:nvSpPr>
          <p:spPr>
            <a:xfrm>
              <a:off x="13250" y="6626"/>
              <a:ext cx="5491" cy="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normAutofit/>
            </a:bodyPr>
            <a:lstStyle>
              <a:lvl1pPr marL="14605" indent="-14605" eaLnBrk="1" hangingPunct="1">
                <a:spcBef>
                  <a:spcPct val="20000"/>
                </a:spcBef>
                <a:buFontTx/>
                <a:buNone/>
                <a:defRPr sz="1800">
                  <a:latin typeface="+mn-lt"/>
                  <a:ea typeface="+mn-ea"/>
                  <a:sym typeface="Arial" panose="020B0604020202020204" pitchFamily="34" charset="0"/>
                </a:defRPr>
              </a:lvl1pPr>
              <a:lvl2pPr marL="742950" indent="-285750">
                <a:spcBef>
                  <a:spcPct val="20000"/>
                </a:spcBef>
                <a:buChar char="–"/>
                <a:defRPr sz="1600">
                  <a:solidFill>
                    <a:srgbClr val="475F77"/>
                  </a:solidFill>
                  <a:sym typeface="Arial" panose="020B0604020202020204" pitchFamily="34" charset="0"/>
                </a:defRPr>
              </a:lvl2pPr>
              <a:lvl3pPr marL="1143000" indent="-228600">
                <a:spcBef>
                  <a:spcPct val="20000"/>
                </a:spcBef>
                <a:buChar char="•"/>
                <a:defRPr sz="1600">
                  <a:solidFill>
                    <a:srgbClr val="475F77"/>
                  </a:solidFill>
                  <a:sym typeface="Arial" panose="020B0604020202020204" pitchFamily="34" charset="0"/>
                </a:defRPr>
              </a:lvl3pPr>
              <a:lvl4pPr marL="1600200" indent="-228600">
                <a:spcBef>
                  <a:spcPct val="20000"/>
                </a:spcBef>
                <a:buChar char="–"/>
                <a:defRPr sz="1600">
                  <a:solidFill>
                    <a:srgbClr val="475F77"/>
                  </a:solidFill>
                  <a:sym typeface="Arial" panose="020B0604020202020204" pitchFamily="34" charset="0"/>
                </a:defRPr>
              </a:lvl4pPr>
              <a:lvl5pPr marL="2057400" indent="-228600">
                <a:spcBef>
                  <a:spcPct val="20000"/>
                </a:spcBef>
                <a:buChar char="»"/>
                <a:defRPr sz="1600">
                  <a:solidFill>
                    <a:srgbClr val="475F77"/>
                  </a:solidFill>
                  <a:sym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pPr marL="0" indent="0" algn="l" fontAlgn="auto">
                <a:lnSpc>
                  <a:spcPct val="130000"/>
                </a:lnSpc>
                <a:buClrTx/>
              </a:pPr>
              <a:r>
                <a:rPr lang="en-US" altLang="zh-CN" dirty="0">
                  <a:latin typeface="Times New Roman" panose="02020603050405020304" pitchFamily="18" charset="0"/>
                </a:rPr>
                <a:t>       </a:t>
              </a:r>
              <a:r>
                <a:rPr dirty="0" err="1">
                  <a:latin typeface="微软雅黑" panose="020B0503020204020204" charset="-122"/>
                  <a:ea typeface="微软雅黑" panose="020B0503020204020204" charset="-122"/>
                  <a:sym typeface="+mn-ea"/>
                </a:rPr>
                <a:t>规定对于系统和执行指定的测试用例来实现测试设计所要求的所有步骤</a:t>
              </a:r>
              <a:r>
                <a:rPr dirty="0">
                  <a:latin typeface="微软雅黑" panose="020B0503020204020204" charset="-122"/>
                  <a:ea typeface="微软雅黑" panose="020B0503020204020204" charset="-122"/>
                  <a:sym typeface="+mn-ea"/>
                </a:rPr>
                <a:t>。</a:t>
              </a:r>
              <a:endParaRPr lang="zh-CN" altLang="en-US" dirty="0">
                <a:latin typeface="Times New Roman" panose="02020603050405020304" pitchFamily="18" charset="0"/>
              </a:endParaRPr>
            </a:p>
          </p:txBody>
        </p:sp>
      </p:grpSp>
    </p:spTree>
  </p:cSld>
  <p:clrMapOvr>
    <a:masterClrMapping/>
  </p:clrMapOvr>
  <p:transition>
    <p:randomBar dir="vert"/>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zh-CN" altLang="en-US" dirty="0">
                <a:sym typeface="+mn-ea"/>
              </a:rPr>
              <a:t>4.8 软件测试文档</a:t>
            </a:r>
            <a:endParaRPr lang="zh-CN" altLang="en-US" dirty="0"/>
          </a:p>
        </p:txBody>
      </p:sp>
      <p:sp>
        <p:nvSpPr>
          <p:cNvPr id="4" name="文本占位符 3">
            <a:extLst>
              <a:ext uri="{FF2B5EF4-FFF2-40B4-BE49-F238E27FC236}">
                <a16:creationId xmlns:a16="http://schemas.microsoft.com/office/drawing/2014/main" id="{D0047BBC-2F5F-D89E-59D7-B9581976D392}"/>
              </a:ext>
            </a:extLst>
          </p:cNvPr>
          <p:cNvSpPr>
            <a:spLocks noGrp="1"/>
          </p:cNvSpPr>
          <p:nvPr>
            <p:ph type="body" sz="quarter" idx="10"/>
          </p:nvPr>
        </p:nvSpPr>
        <p:spPr>
          <a:xfrm>
            <a:off x="696000" y="1322832"/>
            <a:ext cx="5400000" cy="400110"/>
          </a:xfrm>
        </p:spPr>
        <p:txBody>
          <a:bodyPr/>
          <a:lstStyle/>
          <a:p>
            <a:r>
              <a:rPr lang="en-US" altLang="zh-CN" dirty="0"/>
              <a:t>4.8.3 </a:t>
            </a:r>
            <a:r>
              <a:rPr lang="zh-CN" altLang="en-US" dirty="0"/>
              <a:t>软件测试报告</a:t>
            </a:r>
          </a:p>
        </p:txBody>
      </p:sp>
      <p:sp>
        <p:nvSpPr>
          <p:cNvPr id="13" name="文本占位符 12">
            <a:extLst>
              <a:ext uri="{FF2B5EF4-FFF2-40B4-BE49-F238E27FC236}">
                <a16:creationId xmlns:a16="http://schemas.microsoft.com/office/drawing/2014/main" id="{4931CDD3-1B63-1A0D-3EEC-5549D1571F9A}"/>
              </a:ext>
            </a:extLst>
          </p:cNvPr>
          <p:cNvSpPr>
            <a:spLocks noGrp="1"/>
          </p:cNvSpPr>
          <p:nvPr>
            <p:ph type="body" sz="quarter" idx="11"/>
          </p:nvPr>
        </p:nvSpPr>
        <p:spPr/>
        <p:txBody>
          <a:bodyPr/>
          <a:lstStyle/>
          <a:p>
            <a:endParaRPr lang="zh-CN" altLang="en-US"/>
          </a:p>
        </p:txBody>
      </p:sp>
      <p:sp>
        <p:nvSpPr>
          <p:cNvPr id="18440" name="Line 5"/>
          <p:cNvSpPr>
            <a:spLocks noChangeShapeType="1"/>
          </p:cNvSpPr>
          <p:nvPr>
            <p:custDataLst>
              <p:tags r:id="rId1"/>
            </p:custDataLst>
          </p:nvPr>
        </p:nvSpPr>
        <p:spPr bwMode="auto">
          <a:xfrm flipV="1">
            <a:off x="5408295" y="2970530"/>
            <a:ext cx="956945" cy="1905"/>
          </a:xfrm>
          <a:prstGeom prst="line">
            <a:avLst/>
          </a:prstGeom>
          <a:noFill/>
          <a:ln w="28575" cmpd="sng">
            <a:solidFill>
              <a:srgbClr val="D74B4B"/>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Times New Roman" panose="02020603050405020304" pitchFamily="18" charset="0"/>
              <a:ea typeface="黑体" panose="02010609060101010101" pitchFamily="49" charset="-122"/>
              <a:sym typeface="Arial" panose="020B0604020202020204" pitchFamily="34" charset="0"/>
            </a:endParaRPr>
          </a:p>
        </p:txBody>
      </p:sp>
      <p:sp>
        <p:nvSpPr>
          <p:cNvPr id="18441" name="Oval 6"/>
          <p:cNvSpPr>
            <a:spLocks noChangeArrowheads="1"/>
          </p:cNvSpPr>
          <p:nvPr>
            <p:custDataLst>
              <p:tags r:id="rId2"/>
            </p:custDataLst>
          </p:nvPr>
        </p:nvSpPr>
        <p:spPr bwMode="auto">
          <a:xfrm>
            <a:off x="6495415" y="2201545"/>
            <a:ext cx="1388745" cy="1388745"/>
          </a:xfrm>
          <a:prstGeom prst="ellipse">
            <a:avLst/>
          </a:prstGeom>
          <a:solidFill>
            <a:srgbClr val="D74B4B"/>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170" tIns="46990" rIns="90170" bIns="46990" anchor="ctr"/>
          <a:lstStyle>
            <a:lvl1pPr>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ct val="0"/>
              </a:spcBef>
              <a:buFontTx/>
              <a:buNone/>
            </a:pPr>
            <a:r>
              <a:rPr lang="zh-CN" altLang="zh-CN" sz="2800" dirty="0">
                <a:solidFill>
                  <a:srgbClr val="FFFFFF"/>
                </a:solidFill>
                <a:latin typeface="Times New Roman" panose="02020603050405020304" pitchFamily="18" charset="0"/>
                <a:ea typeface="黑体" panose="02010609060101010101" pitchFamily="49" charset="-122"/>
              </a:rPr>
              <a:t>03</a:t>
            </a:r>
            <a:endParaRPr lang="zh-CN" altLang="zh-CN" sz="1800" dirty="0">
              <a:latin typeface="Times New Roman" panose="02020603050405020304" pitchFamily="18" charset="0"/>
              <a:ea typeface="黑体" panose="02010609060101010101" pitchFamily="49" charset="-122"/>
            </a:endParaRPr>
          </a:p>
        </p:txBody>
      </p:sp>
      <p:sp>
        <p:nvSpPr>
          <p:cNvPr id="18442" name="Oval 7"/>
          <p:cNvSpPr>
            <a:spLocks noChangeArrowheads="1"/>
          </p:cNvSpPr>
          <p:nvPr>
            <p:custDataLst>
              <p:tags r:id="rId3"/>
            </p:custDataLst>
          </p:nvPr>
        </p:nvSpPr>
        <p:spPr bwMode="auto">
          <a:xfrm>
            <a:off x="1281430" y="2201545"/>
            <a:ext cx="1388745" cy="1388745"/>
          </a:xfrm>
          <a:prstGeom prst="ellipse">
            <a:avLst/>
          </a:prstGeom>
          <a:solidFill>
            <a:srgbClr val="D74B4B"/>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170" tIns="46990" rIns="90170" bIns="46990" anchor="ctr"/>
          <a:lstStyle>
            <a:lvl1pPr>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ct val="0"/>
              </a:spcBef>
              <a:buFontTx/>
              <a:buNone/>
            </a:pPr>
            <a:r>
              <a:rPr lang="zh-CN" altLang="zh-CN" sz="2800" dirty="0">
                <a:solidFill>
                  <a:srgbClr val="FFFFFF"/>
                </a:solidFill>
                <a:latin typeface="Times New Roman" panose="02020603050405020304" pitchFamily="18" charset="0"/>
                <a:ea typeface="黑体" panose="02010609060101010101" pitchFamily="49" charset="-122"/>
              </a:rPr>
              <a:t>01</a:t>
            </a:r>
            <a:endParaRPr lang="zh-CN" altLang="zh-CN" sz="1800" dirty="0">
              <a:latin typeface="Times New Roman" panose="02020603050405020304" pitchFamily="18" charset="0"/>
              <a:ea typeface="黑体" panose="02010609060101010101" pitchFamily="49" charset="-122"/>
            </a:endParaRPr>
          </a:p>
        </p:txBody>
      </p:sp>
      <p:sp>
        <p:nvSpPr>
          <p:cNvPr id="18443" name="Line 8"/>
          <p:cNvSpPr>
            <a:spLocks noChangeShapeType="1"/>
          </p:cNvSpPr>
          <p:nvPr>
            <p:custDataLst>
              <p:tags r:id="rId4"/>
            </p:custDataLst>
          </p:nvPr>
        </p:nvSpPr>
        <p:spPr bwMode="auto">
          <a:xfrm>
            <a:off x="2800350" y="2970530"/>
            <a:ext cx="956945" cy="0"/>
          </a:xfrm>
          <a:prstGeom prst="line">
            <a:avLst/>
          </a:prstGeom>
          <a:noFill/>
          <a:ln w="28575" cmpd="sng">
            <a:solidFill>
              <a:srgbClr val="D74B4B"/>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Times New Roman" panose="02020603050405020304" pitchFamily="18" charset="0"/>
              <a:ea typeface="黑体" panose="02010609060101010101" pitchFamily="49" charset="-122"/>
              <a:sym typeface="Arial" panose="020B0604020202020204" pitchFamily="34" charset="0"/>
            </a:endParaRPr>
          </a:p>
        </p:txBody>
      </p:sp>
      <p:sp>
        <p:nvSpPr>
          <p:cNvPr id="18444" name="Text Box 9"/>
          <p:cNvSpPr txBox="1">
            <a:spLocks noChangeArrowheads="1"/>
          </p:cNvSpPr>
          <p:nvPr>
            <p:custDataLst>
              <p:tags r:id="rId5"/>
            </p:custDataLst>
          </p:nvPr>
        </p:nvSpPr>
        <p:spPr bwMode="auto">
          <a:xfrm>
            <a:off x="853440" y="3933190"/>
            <a:ext cx="2245995" cy="708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170" tIns="46990" rIns="90170" bIns="46990" anchor="ctr">
            <a:normAutofit fontScale="97500"/>
          </a:bodyPr>
          <a:lstStyle>
            <a:lvl1pPr>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ct val="0"/>
              </a:spcBef>
              <a:buFontTx/>
              <a:buNone/>
            </a:pPr>
            <a:r>
              <a:rPr sz="2400" b="1">
                <a:solidFill>
                  <a:schemeClr val="tx1"/>
                </a:solidFill>
                <a:latin typeface="微软雅黑" panose="020B0503020204020204" charset="-122"/>
                <a:ea typeface="微软雅黑" panose="020B0503020204020204" charset="-122"/>
                <a:sym typeface="+mn-ea"/>
              </a:rPr>
              <a:t>测试项传递报告</a:t>
            </a:r>
          </a:p>
        </p:txBody>
      </p:sp>
      <p:sp>
        <p:nvSpPr>
          <p:cNvPr id="18445" name="Text Box 10"/>
          <p:cNvSpPr txBox="1">
            <a:spLocks noChangeArrowheads="1"/>
          </p:cNvSpPr>
          <p:nvPr>
            <p:custDataLst>
              <p:tags r:id="rId6"/>
            </p:custDataLst>
          </p:nvPr>
        </p:nvSpPr>
        <p:spPr bwMode="auto">
          <a:xfrm>
            <a:off x="6067425" y="3933190"/>
            <a:ext cx="2245995" cy="7086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170" tIns="46990" rIns="90170" bIns="46990" anchor="ctr">
            <a:normAutofit/>
          </a:bodyPr>
          <a:lstStyle>
            <a:lvl1pPr>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ct val="0"/>
              </a:spcBef>
              <a:buFontTx/>
              <a:buNone/>
            </a:pPr>
            <a:r>
              <a:rPr sz="2400" b="1">
                <a:solidFill>
                  <a:schemeClr val="tx1"/>
                </a:solidFill>
                <a:latin typeface="微软雅黑" panose="020B0503020204020204" charset="-122"/>
                <a:ea typeface="微软雅黑" panose="020B0503020204020204" charset="-122"/>
                <a:sym typeface="+mn-ea"/>
              </a:rPr>
              <a:t>测试事件报告</a:t>
            </a:r>
          </a:p>
        </p:txBody>
      </p:sp>
      <p:sp>
        <p:nvSpPr>
          <p:cNvPr id="18446" name="Text Box 11"/>
          <p:cNvSpPr txBox="1">
            <a:spLocks noChangeArrowheads="1"/>
          </p:cNvSpPr>
          <p:nvPr>
            <p:custDataLst>
              <p:tags r:id="rId7"/>
            </p:custDataLst>
          </p:nvPr>
        </p:nvSpPr>
        <p:spPr bwMode="auto">
          <a:xfrm>
            <a:off x="8673465" y="3933190"/>
            <a:ext cx="2245995" cy="7086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170" tIns="46990" rIns="90170" bIns="46990" anchor="ctr">
            <a:normAutofit/>
          </a:bodyPr>
          <a:lstStyle>
            <a:lvl1pPr>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ct val="0"/>
              </a:spcBef>
              <a:buFontTx/>
              <a:buNone/>
            </a:pPr>
            <a:r>
              <a:rPr sz="2400" b="1" dirty="0" err="1">
                <a:solidFill>
                  <a:schemeClr val="tx1"/>
                </a:solidFill>
                <a:latin typeface="微软雅黑" panose="020B0503020204020204" charset="-122"/>
                <a:ea typeface="微软雅黑" panose="020B0503020204020204" charset="-122"/>
                <a:sym typeface="+mn-ea"/>
              </a:rPr>
              <a:t>测试总结报告</a:t>
            </a:r>
            <a:endParaRPr lang="zh-CN" altLang="en-US" sz="2400" b="1" dirty="0">
              <a:solidFill>
                <a:srgbClr val="D74B4B"/>
              </a:solidFill>
              <a:latin typeface="Times New Roman" panose="02020603050405020304" pitchFamily="18" charset="0"/>
              <a:ea typeface="黑体" panose="02010609060101010101" pitchFamily="49" charset="-122"/>
              <a:cs typeface="+mn-ea"/>
            </a:endParaRPr>
          </a:p>
        </p:txBody>
      </p:sp>
      <p:sp>
        <p:nvSpPr>
          <p:cNvPr id="18447" name="Oval 12"/>
          <p:cNvSpPr>
            <a:spLocks noChangeArrowheads="1"/>
          </p:cNvSpPr>
          <p:nvPr>
            <p:custDataLst>
              <p:tags r:id="rId8"/>
            </p:custDataLst>
          </p:nvPr>
        </p:nvSpPr>
        <p:spPr bwMode="auto">
          <a:xfrm>
            <a:off x="9101455" y="2201545"/>
            <a:ext cx="1386840" cy="1388745"/>
          </a:xfrm>
          <a:prstGeom prst="ellipse">
            <a:avLst/>
          </a:prstGeom>
          <a:solidFill>
            <a:srgbClr val="D74B4B"/>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170" tIns="46990" rIns="90170" bIns="46990" anchor="ctr"/>
          <a:lstStyle>
            <a:lvl1pPr>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ct val="0"/>
              </a:spcBef>
              <a:buFontTx/>
              <a:buNone/>
            </a:pPr>
            <a:r>
              <a:rPr lang="zh-CN" altLang="zh-CN" sz="2800" dirty="0">
                <a:solidFill>
                  <a:srgbClr val="FFFFFF"/>
                </a:solidFill>
                <a:latin typeface="Times New Roman" panose="02020603050405020304" pitchFamily="18" charset="0"/>
                <a:ea typeface="黑体" panose="02010609060101010101" pitchFamily="49" charset="-122"/>
              </a:rPr>
              <a:t>04</a:t>
            </a:r>
            <a:endParaRPr lang="zh-CN" altLang="zh-CN" sz="1800" dirty="0">
              <a:latin typeface="Times New Roman" panose="02020603050405020304" pitchFamily="18" charset="0"/>
              <a:ea typeface="黑体" panose="02010609060101010101" pitchFamily="49" charset="-122"/>
            </a:endParaRPr>
          </a:p>
        </p:txBody>
      </p:sp>
      <p:sp>
        <p:nvSpPr>
          <p:cNvPr id="18448" name="Oval 13"/>
          <p:cNvSpPr>
            <a:spLocks noChangeArrowheads="1"/>
          </p:cNvSpPr>
          <p:nvPr>
            <p:custDataLst>
              <p:tags r:id="rId9"/>
            </p:custDataLst>
          </p:nvPr>
        </p:nvSpPr>
        <p:spPr bwMode="auto">
          <a:xfrm>
            <a:off x="3889375" y="2201545"/>
            <a:ext cx="1386840" cy="1388745"/>
          </a:xfrm>
          <a:prstGeom prst="ellipse">
            <a:avLst/>
          </a:prstGeom>
          <a:solidFill>
            <a:srgbClr val="D74B4B"/>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170" tIns="46990" rIns="90170" bIns="46990" anchor="ctr"/>
          <a:lstStyle>
            <a:lvl1pPr>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ct val="0"/>
              </a:spcBef>
              <a:buFontTx/>
              <a:buNone/>
            </a:pPr>
            <a:r>
              <a:rPr lang="zh-CN" altLang="zh-CN" sz="2800" dirty="0">
                <a:solidFill>
                  <a:srgbClr val="FFFFFF"/>
                </a:solidFill>
                <a:latin typeface="Times New Roman" panose="02020603050405020304" pitchFamily="18" charset="0"/>
                <a:ea typeface="黑体" panose="02010609060101010101" pitchFamily="49" charset="-122"/>
              </a:rPr>
              <a:t>02</a:t>
            </a:r>
            <a:endParaRPr lang="zh-CN" altLang="zh-CN" sz="1800" dirty="0">
              <a:latin typeface="Times New Roman" panose="02020603050405020304" pitchFamily="18" charset="0"/>
              <a:ea typeface="黑体" panose="02010609060101010101" pitchFamily="49" charset="-122"/>
            </a:endParaRPr>
          </a:p>
        </p:txBody>
      </p:sp>
      <p:sp>
        <p:nvSpPr>
          <p:cNvPr id="18449" name="Line 14"/>
          <p:cNvSpPr>
            <a:spLocks noChangeShapeType="1"/>
          </p:cNvSpPr>
          <p:nvPr>
            <p:custDataLst>
              <p:tags r:id="rId10"/>
            </p:custDataLst>
          </p:nvPr>
        </p:nvSpPr>
        <p:spPr bwMode="auto">
          <a:xfrm flipV="1">
            <a:off x="8014335" y="2970530"/>
            <a:ext cx="956945" cy="1905"/>
          </a:xfrm>
          <a:prstGeom prst="line">
            <a:avLst/>
          </a:prstGeom>
          <a:noFill/>
          <a:ln w="28575" cmpd="sng">
            <a:solidFill>
              <a:srgbClr val="D74B4B"/>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Times New Roman" panose="02020603050405020304" pitchFamily="18" charset="0"/>
              <a:ea typeface="黑体" panose="02010609060101010101" pitchFamily="49" charset="-122"/>
              <a:sym typeface="Arial" panose="020B0604020202020204" pitchFamily="34" charset="0"/>
            </a:endParaRPr>
          </a:p>
        </p:txBody>
      </p:sp>
      <p:sp>
        <p:nvSpPr>
          <p:cNvPr id="18450" name="Text Box 15"/>
          <p:cNvSpPr txBox="1">
            <a:spLocks noChangeArrowheads="1"/>
          </p:cNvSpPr>
          <p:nvPr>
            <p:custDataLst>
              <p:tags r:id="rId11"/>
            </p:custDataLst>
          </p:nvPr>
        </p:nvSpPr>
        <p:spPr bwMode="auto">
          <a:xfrm>
            <a:off x="3461385" y="3933190"/>
            <a:ext cx="2245995" cy="7086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170" tIns="46990" rIns="90170" bIns="46990" anchor="ctr">
            <a:normAutofit/>
          </a:bodyPr>
          <a:lstStyle>
            <a:lvl1pPr>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ct val="0"/>
              </a:spcBef>
              <a:buFontTx/>
              <a:buNone/>
            </a:pPr>
            <a:r>
              <a:rPr sz="2400" b="1">
                <a:solidFill>
                  <a:schemeClr val="tx1"/>
                </a:solidFill>
                <a:latin typeface="微软雅黑" panose="020B0503020204020204" charset="-122"/>
                <a:ea typeface="微软雅黑" panose="020B0503020204020204" charset="-122"/>
                <a:sym typeface="+mn-ea"/>
              </a:rPr>
              <a:t>测试日志</a:t>
            </a:r>
          </a:p>
        </p:txBody>
      </p:sp>
      <p:sp>
        <p:nvSpPr>
          <p:cNvPr id="9" name="文本框 8"/>
          <p:cNvSpPr txBox="1"/>
          <p:nvPr>
            <p:custDataLst>
              <p:tags r:id="rId12"/>
            </p:custDataLst>
          </p:nvPr>
        </p:nvSpPr>
        <p:spPr>
          <a:xfrm>
            <a:off x="685800" y="4643755"/>
            <a:ext cx="2419985" cy="125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normAutofit/>
          </a:bodyPr>
          <a:lstStyle>
            <a:lvl1pPr marL="14605" indent="-14605" eaLnBrk="1" hangingPunct="1">
              <a:spcBef>
                <a:spcPct val="20000"/>
              </a:spcBef>
              <a:buFontTx/>
              <a:buNone/>
              <a:defRPr sz="1800">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sym typeface="Arial" panose="020B0604020202020204" pitchFamily="34" charset="0"/>
              </a:defRPr>
            </a:lvl2pPr>
            <a:lvl3pPr marL="1143000" indent="-228600">
              <a:spcBef>
                <a:spcPct val="20000"/>
              </a:spcBef>
              <a:buChar char="•"/>
              <a:defRPr sz="1600">
                <a:solidFill>
                  <a:srgbClr val="475F77"/>
                </a:solidFill>
                <a:sym typeface="Arial" panose="020B0604020202020204" pitchFamily="34" charset="0"/>
              </a:defRPr>
            </a:lvl3pPr>
            <a:lvl4pPr marL="1600200" indent="-228600">
              <a:spcBef>
                <a:spcPct val="20000"/>
              </a:spcBef>
              <a:buChar char="–"/>
              <a:defRPr sz="1600">
                <a:solidFill>
                  <a:srgbClr val="475F77"/>
                </a:solidFill>
                <a:sym typeface="Arial" panose="020B0604020202020204" pitchFamily="34" charset="0"/>
              </a:defRPr>
            </a:lvl4pPr>
            <a:lvl5pPr marL="2057400" indent="-228600">
              <a:spcBef>
                <a:spcPct val="20000"/>
              </a:spcBef>
              <a:buChar char="»"/>
              <a:defRPr sz="1600">
                <a:solidFill>
                  <a:srgbClr val="475F77"/>
                </a:solidFill>
                <a:sym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Arial" panose="020B0604020202020204" pitchFamily="34" charset="0"/>
                <a:ea typeface="黑体" panose="02010609060101010101" pitchFamily="49" charset="-122"/>
              </a:defRPr>
            </a:lvl6pPr>
            <a:lvl7pPr marL="2971800" indent="-228600">
              <a:lnSpc>
                <a:spcPct val="90000"/>
              </a:lnSpc>
              <a:spcBef>
                <a:spcPts val="500"/>
              </a:spcBef>
              <a:buFont typeface="Arial" panose="020B0604020202020204" pitchFamily="34" charset="0"/>
              <a:buChar char="•"/>
              <a:defRPr sz="1800">
                <a:latin typeface="Arial" panose="020B0604020202020204" pitchFamily="34" charset="0"/>
                <a:ea typeface="黑体" panose="02010609060101010101" pitchFamily="49" charset="-122"/>
              </a:defRPr>
            </a:lvl7pPr>
            <a:lvl8pPr marL="3429000" indent="-228600">
              <a:lnSpc>
                <a:spcPct val="90000"/>
              </a:lnSpc>
              <a:spcBef>
                <a:spcPts val="500"/>
              </a:spcBef>
              <a:buFont typeface="Arial" panose="020B0604020202020204" pitchFamily="34" charset="0"/>
              <a:buChar char="•"/>
              <a:defRPr sz="1800">
                <a:latin typeface="Arial" panose="020B0604020202020204" pitchFamily="34" charset="0"/>
                <a:ea typeface="黑体" panose="02010609060101010101" pitchFamily="49" charset="-122"/>
              </a:defRPr>
            </a:lvl8pPr>
            <a:lvl9pPr marL="3886200" indent="-228600">
              <a:lnSpc>
                <a:spcPct val="90000"/>
              </a:lnSpc>
              <a:spcBef>
                <a:spcPts val="500"/>
              </a:spcBef>
              <a:buFont typeface="Arial" panose="020B0604020202020204" pitchFamily="34" charset="0"/>
              <a:buChar char="•"/>
              <a:defRPr sz="1800">
                <a:latin typeface="Arial" panose="020B0604020202020204" pitchFamily="34" charset="0"/>
                <a:ea typeface="黑体" panose="02010609060101010101" pitchFamily="49" charset="-122"/>
              </a:defRPr>
            </a:lvl9pPr>
          </a:lstStyle>
          <a:p>
            <a:pPr marL="0" indent="0" algn="l" fontAlgn="auto">
              <a:lnSpc>
                <a:spcPct val="130000"/>
              </a:lnSpc>
              <a:buClrTx/>
            </a:pPr>
            <a:r>
              <a:rPr lang="en-US" altLang="zh-CN" dirty="0">
                <a:latin typeface="Times New Roman" panose="02020603050405020304" pitchFamily="18" charset="0"/>
              </a:rPr>
              <a:t>        </a:t>
            </a:r>
            <a:r>
              <a:rPr dirty="0">
                <a:latin typeface="微软雅黑" panose="020B0503020204020204" charset="-122"/>
                <a:ea typeface="微软雅黑" panose="020B0503020204020204" charset="-122"/>
                <a:sym typeface="+mn-ea"/>
              </a:rPr>
              <a:t>测试项的位置、状态等。</a:t>
            </a:r>
            <a:endParaRPr dirty="0">
              <a:latin typeface="微软雅黑" panose="020B0503020204020204" charset="-122"/>
              <a:ea typeface="微软雅黑" panose="020B0503020204020204" charset="-122"/>
              <a:sym typeface="黑体" panose="02010609060101010101" pitchFamily="49" charset="-122"/>
            </a:endParaRPr>
          </a:p>
        </p:txBody>
      </p:sp>
      <p:sp>
        <p:nvSpPr>
          <p:cNvPr id="10" name="文本框 9"/>
          <p:cNvSpPr txBox="1"/>
          <p:nvPr>
            <p:custDataLst>
              <p:tags r:id="rId13"/>
            </p:custDataLst>
          </p:nvPr>
        </p:nvSpPr>
        <p:spPr>
          <a:xfrm>
            <a:off x="3242945" y="4643755"/>
            <a:ext cx="2470150" cy="1137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spAutoFit/>
          </a:bodyPr>
          <a:lstStyle>
            <a:lvl1pPr marL="14605" indent="-14605" eaLnBrk="1" hangingPunct="1">
              <a:spcBef>
                <a:spcPct val="20000"/>
              </a:spcBef>
              <a:buFontTx/>
              <a:buNone/>
              <a:defRPr sz="1800">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sym typeface="Arial" panose="020B0604020202020204" pitchFamily="34" charset="0"/>
              </a:defRPr>
            </a:lvl2pPr>
            <a:lvl3pPr marL="1143000" indent="-228600">
              <a:spcBef>
                <a:spcPct val="20000"/>
              </a:spcBef>
              <a:buChar char="•"/>
              <a:defRPr sz="1600">
                <a:solidFill>
                  <a:srgbClr val="475F77"/>
                </a:solidFill>
                <a:sym typeface="Arial" panose="020B0604020202020204" pitchFamily="34" charset="0"/>
              </a:defRPr>
            </a:lvl3pPr>
            <a:lvl4pPr marL="1600200" indent="-228600">
              <a:spcBef>
                <a:spcPct val="20000"/>
              </a:spcBef>
              <a:buChar char="–"/>
              <a:defRPr sz="1600">
                <a:solidFill>
                  <a:srgbClr val="475F77"/>
                </a:solidFill>
                <a:sym typeface="Arial" panose="020B0604020202020204" pitchFamily="34" charset="0"/>
              </a:defRPr>
            </a:lvl4pPr>
            <a:lvl5pPr marL="2057400" indent="-228600">
              <a:spcBef>
                <a:spcPct val="20000"/>
              </a:spcBef>
              <a:buChar char="»"/>
              <a:defRPr sz="1600">
                <a:solidFill>
                  <a:srgbClr val="475F77"/>
                </a:solidFill>
                <a:sym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Arial" panose="020B0604020202020204" pitchFamily="34" charset="0"/>
                <a:ea typeface="黑体" panose="02010609060101010101" pitchFamily="49" charset="-122"/>
              </a:defRPr>
            </a:lvl6pPr>
            <a:lvl7pPr marL="2971800" indent="-228600">
              <a:lnSpc>
                <a:spcPct val="90000"/>
              </a:lnSpc>
              <a:spcBef>
                <a:spcPts val="500"/>
              </a:spcBef>
              <a:buFont typeface="Arial" panose="020B0604020202020204" pitchFamily="34" charset="0"/>
              <a:buChar char="•"/>
              <a:defRPr sz="1800">
                <a:latin typeface="Arial" panose="020B0604020202020204" pitchFamily="34" charset="0"/>
                <a:ea typeface="黑体" panose="02010609060101010101" pitchFamily="49" charset="-122"/>
              </a:defRPr>
            </a:lvl7pPr>
            <a:lvl8pPr marL="3429000" indent="-228600">
              <a:lnSpc>
                <a:spcPct val="90000"/>
              </a:lnSpc>
              <a:spcBef>
                <a:spcPts val="500"/>
              </a:spcBef>
              <a:buFont typeface="Arial" panose="020B0604020202020204" pitchFamily="34" charset="0"/>
              <a:buChar char="•"/>
              <a:defRPr sz="1800">
                <a:latin typeface="Arial" panose="020B0604020202020204" pitchFamily="34" charset="0"/>
                <a:ea typeface="黑体" panose="02010609060101010101" pitchFamily="49" charset="-122"/>
              </a:defRPr>
            </a:lvl8pPr>
            <a:lvl9pPr marL="3886200" indent="-228600">
              <a:lnSpc>
                <a:spcPct val="90000"/>
              </a:lnSpc>
              <a:spcBef>
                <a:spcPts val="500"/>
              </a:spcBef>
              <a:buFont typeface="Arial" panose="020B0604020202020204" pitchFamily="34" charset="0"/>
              <a:buChar char="•"/>
              <a:defRPr sz="1800">
                <a:latin typeface="Arial" panose="020B0604020202020204" pitchFamily="34" charset="0"/>
                <a:ea typeface="黑体" panose="02010609060101010101" pitchFamily="49" charset="-122"/>
              </a:defRPr>
            </a:lvl9pPr>
          </a:lstStyle>
          <a:p>
            <a:pPr marL="0" indent="0" algn="l" fontAlgn="auto">
              <a:lnSpc>
                <a:spcPct val="130000"/>
              </a:lnSpc>
              <a:buClrTx/>
            </a:pPr>
            <a:r>
              <a:rPr lang="en-US" altLang="zh-CN" dirty="0">
                <a:latin typeface="Times New Roman" panose="02020603050405020304" pitchFamily="18" charset="0"/>
              </a:rPr>
              <a:t>       </a:t>
            </a:r>
            <a:r>
              <a:rPr dirty="0" err="1">
                <a:latin typeface="微软雅黑" panose="020B0503020204020204" charset="-122"/>
                <a:ea typeface="微软雅黑" panose="020B0503020204020204" charset="-122"/>
                <a:sym typeface="+mn-ea"/>
              </a:rPr>
              <a:t>记录测试执行过程发生的情况，如活动和事件的条目、描述</a:t>
            </a:r>
            <a:r>
              <a:rPr dirty="0">
                <a:latin typeface="微软雅黑" panose="020B0503020204020204" charset="-122"/>
                <a:ea typeface="微软雅黑" panose="020B0503020204020204" charset="-122"/>
                <a:sym typeface="+mn-ea"/>
              </a:rPr>
              <a:t>。</a:t>
            </a:r>
            <a:endParaRPr dirty="0">
              <a:latin typeface="微软雅黑" panose="020B0503020204020204" charset="-122"/>
              <a:ea typeface="微软雅黑" panose="020B0503020204020204" charset="-122"/>
              <a:sym typeface="黑体" panose="02010609060101010101" pitchFamily="49" charset="-122"/>
            </a:endParaRPr>
          </a:p>
        </p:txBody>
      </p:sp>
      <p:sp>
        <p:nvSpPr>
          <p:cNvPr id="11" name="文本框 10"/>
          <p:cNvSpPr txBox="1"/>
          <p:nvPr>
            <p:custDataLst>
              <p:tags r:id="rId14"/>
            </p:custDataLst>
          </p:nvPr>
        </p:nvSpPr>
        <p:spPr>
          <a:xfrm>
            <a:off x="6055995" y="4643755"/>
            <a:ext cx="2257425" cy="1137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spAutoFit/>
          </a:bodyPr>
          <a:lstStyle>
            <a:lvl1pPr marL="14605" indent="-14605" eaLnBrk="1" hangingPunct="1">
              <a:spcBef>
                <a:spcPct val="20000"/>
              </a:spcBef>
              <a:buFontTx/>
              <a:buNone/>
              <a:defRPr sz="1800">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sym typeface="Arial" panose="020B0604020202020204" pitchFamily="34" charset="0"/>
              </a:defRPr>
            </a:lvl2pPr>
            <a:lvl3pPr marL="1143000" indent="-228600">
              <a:spcBef>
                <a:spcPct val="20000"/>
              </a:spcBef>
              <a:buChar char="•"/>
              <a:defRPr sz="1600">
                <a:solidFill>
                  <a:srgbClr val="475F77"/>
                </a:solidFill>
                <a:sym typeface="Arial" panose="020B0604020202020204" pitchFamily="34" charset="0"/>
              </a:defRPr>
            </a:lvl3pPr>
            <a:lvl4pPr marL="1600200" indent="-228600">
              <a:spcBef>
                <a:spcPct val="20000"/>
              </a:spcBef>
              <a:buChar char="–"/>
              <a:defRPr sz="1600">
                <a:solidFill>
                  <a:srgbClr val="475F77"/>
                </a:solidFill>
                <a:sym typeface="Arial" panose="020B0604020202020204" pitchFamily="34" charset="0"/>
              </a:defRPr>
            </a:lvl4pPr>
            <a:lvl5pPr marL="2057400" indent="-228600">
              <a:spcBef>
                <a:spcPct val="20000"/>
              </a:spcBef>
              <a:buChar char="»"/>
              <a:defRPr sz="1600">
                <a:solidFill>
                  <a:srgbClr val="475F77"/>
                </a:solidFill>
                <a:sym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Arial" panose="020B0604020202020204" pitchFamily="34" charset="0"/>
                <a:ea typeface="黑体" panose="02010609060101010101" pitchFamily="49" charset="-122"/>
              </a:defRPr>
            </a:lvl6pPr>
            <a:lvl7pPr marL="2971800" indent="-228600">
              <a:lnSpc>
                <a:spcPct val="90000"/>
              </a:lnSpc>
              <a:spcBef>
                <a:spcPts val="500"/>
              </a:spcBef>
              <a:buFont typeface="Arial" panose="020B0604020202020204" pitchFamily="34" charset="0"/>
              <a:buChar char="•"/>
              <a:defRPr sz="1800">
                <a:latin typeface="Arial" panose="020B0604020202020204" pitchFamily="34" charset="0"/>
                <a:ea typeface="黑体" panose="02010609060101010101" pitchFamily="49" charset="-122"/>
              </a:defRPr>
            </a:lvl7pPr>
            <a:lvl8pPr marL="3429000" indent="-228600">
              <a:lnSpc>
                <a:spcPct val="90000"/>
              </a:lnSpc>
              <a:spcBef>
                <a:spcPts val="500"/>
              </a:spcBef>
              <a:buFont typeface="Arial" panose="020B0604020202020204" pitchFamily="34" charset="0"/>
              <a:buChar char="•"/>
              <a:defRPr sz="1800">
                <a:latin typeface="Arial" panose="020B0604020202020204" pitchFamily="34" charset="0"/>
                <a:ea typeface="黑体" panose="02010609060101010101" pitchFamily="49" charset="-122"/>
              </a:defRPr>
            </a:lvl8pPr>
            <a:lvl9pPr marL="3886200" indent="-228600">
              <a:lnSpc>
                <a:spcPct val="90000"/>
              </a:lnSpc>
              <a:spcBef>
                <a:spcPts val="500"/>
              </a:spcBef>
              <a:buFont typeface="Arial" panose="020B0604020202020204" pitchFamily="34" charset="0"/>
              <a:buChar char="•"/>
              <a:defRPr sz="1800">
                <a:latin typeface="Arial" panose="020B0604020202020204" pitchFamily="34" charset="0"/>
                <a:ea typeface="黑体" panose="02010609060101010101" pitchFamily="49" charset="-122"/>
              </a:defRPr>
            </a:lvl9pPr>
          </a:lstStyle>
          <a:p>
            <a:pPr marL="0" indent="0" algn="l" fontAlgn="auto">
              <a:lnSpc>
                <a:spcPct val="130000"/>
              </a:lnSpc>
              <a:buClrTx/>
            </a:pPr>
            <a:r>
              <a:rPr lang="en-US" altLang="zh-CN" dirty="0">
                <a:latin typeface="Times New Roman" panose="02020603050405020304" pitchFamily="18" charset="0"/>
              </a:rPr>
              <a:t>       </a:t>
            </a:r>
            <a:r>
              <a:rPr dirty="0" err="1">
                <a:latin typeface="微软雅黑" panose="020B0503020204020204" charset="-122"/>
                <a:ea typeface="微软雅黑" panose="020B0503020204020204" charset="-122"/>
                <a:sym typeface="+mn-ea"/>
              </a:rPr>
              <a:t>测试执行期间发生的一切事件的描述和影响</a:t>
            </a:r>
            <a:r>
              <a:rPr dirty="0">
                <a:latin typeface="微软雅黑" panose="020B0503020204020204" charset="-122"/>
                <a:ea typeface="微软雅黑" panose="020B0503020204020204" charset="-122"/>
                <a:sym typeface="+mn-ea"/>
              </a:rPr>
              <a:t>。</a:t>
            </a:r>
            <a:endParaRPr dirty="0">
              <a:latin typeface="微软雅黑" panose="020B0503020204020204" charset="-122"/>
              <a:ea typeface="微软雅黑" panose="020B0503020204020204" charset="-122"/>
              <a:sym typeface="黑体" panose="02010609060101010101" pitchFamily="49" charset="-122"/>
            </a:endParaRPr>
          </a:p>
        </p:txBody>
      </p:sp>
      <p:sp>
        <p:nvSpPr>
          <p:cNvPr id="12" name="文本框 11"/>
          <p:cNvSpPr txBox="1"/>
          <p:nvPr>
            <p:custDataLst>
              <p:tags r:id="rId15"/>
            </p:custDataLst>
          </p:nvPr>
        </p:nvSpPr>
        <p:spPr>
          <a:xfrm>
            <a:off x="8511540" y="4643755"/>
            <a:ext cx="3080385" cy="1497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spAutoFit/>
          </a:bodyPr>
          <a:lstStyle>
            <a:lvl1pPr marL="14605" indent="-14605" eaLnBrk="1" hangingPunct="1">
              <a:spcBef>
                <a:spcPct val="20000"/>
              </a:spcBef>
              <a:buFontTx/>
              <a:buNone/>
              <a:defRPr sz="1800">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sym typeface="Arial" panose="020B0604020202020204" pitchFamily="34" charset="0"/>
              </a:defRPr>
            </a:lvl2pPr>
            <a:lvl3pPr marL="1143000" indent="-228600">
              <a:spcBef>
                <a:spcPct val="20000"/>
              </a:spcBef>
              <a:buChar char="•"/>
              <a:defRPr sz="1600">
                <a:solidFill>
                  <a:srgbClr val="475F77"/>
                </a:solidFill>
                <a:sym typeface="Arial" panose="020B0604020202020204" pitchFamily="34" charset="0"/>
              </a:defRPr>
            </a:lvl3pPr>
            <a:lvl4pPr marL="1600200" indent="-228600">
              <a:spcBef>
                <a:spcPct val="20000"/>
              </a:spcBef>
              <a:buChar char="–"/>
              <a:defRPr sz="1600">
                <a:solidFill>
                  <a:srgbClr val="475F77"/>
                </a:solidFill>
                <a:sym typeface="Arial" panose="020B0604020202020204" pitchFamily="34" charset="0"/>
              </a:defRPr>
            </a:lvl4pPr>
            <a:lvl5pPr marL="2057400" indent="-228600">
              <a:spcBef>
                <a:spcPct val="20000"/>
              </a:spcBef>
              <a:buChar char="»"/>
              <a:defRPr sz="1600">
                <a:solidFill>
                  <a:srgbClr val="475F77"/>
                </a:solidFill>
                <a:sym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Arial" panose="020B0604020202020204" pitchFamily="34" charset="0"/>
                <a:ea typeface="黑体" panose="02010609060101010101" pitchFamily="49" charset="-122"/>
              </a:defRPr>
            </a:lvl6pPr>
            <a:lvl7pPr marL="2971800" indent="-228600">
              <a:lnSpc>
                <a:spcPct val="90000"/>
              </a:lnSpc>
              <a:spcBef>
                <a:spcPts val="500"/>
              </a:spcBef>
              <a:buFont typeface="Arial" panose="020B0604020202020204" pitchFamily="34" charset="0"/>
              <a:buChar char="•"/>
              <a:defRPr sz="1800">
                <a:latin typeface="Arial" panose="020B0604020202020204" pitchFamily="34" charset="0"/>
                <a:ea typeface="黑体" panose="02010609060101010101" pitchFamily="49" charset="-122"/>
              </a:defRPr>
            </a:lvl7pPr>
            <a:lvl8pPr marL="3429000" indent="-228600">
              <a:lnSpc>
                <a:spcPct val="90000"/>
              </a:lnSpc>
              <a:spcBef>
                <a:spcPts val="500"/>
              </a:spcBef>
              <a:buFont typeface="Arial" panose="020B0604020202020204" pitchFamily="34" charset="0"/>
              <a:buChar char="•"/>
              <a:defRPr sz="1800">
                <a:latin typeface="Arial" panose="020B0604020202020204" pitchFamily="34" charset="0"/>
                <a:ea typeface="黑体" panose="02010609060101010101" pitchFamily="49" charset="-122"/>
              </a:defRPr>
            </a:lvl8pPr>
            <a:lvl9pPr marL="3886200" indent="-228600">
              <a:lnSpc>
                <a:spcPct val="90000"/>
              </a:lnSpc>
              <a:spcBef>
                <a:spcPts val="500"/>
              </a:spcBef>
              <a:buFont typeface="Arial" panose="020B0604020202020204" pitchFamily="34" charset="0"/>
              <a:buChar char="•"/>
              <a:defRPr sz="1800">
                <a:latin typeface="Arial" panose="020B0604020202020204" pitchFamily="34" charset="0"/>
                <a:ea typeface="黑体" panose="02010609060101010101" pitchFamily="49" charset="-122"/>
              </a:defRPr>
            </a:lvl9pPr>
          </a:lstStyle>
          <a:p>
            <a:pPr fontAlgn="auto">
              <a:lnSpc>
                <a:spcPct val="130000"/>
              </a:lnSpc>
              <a:spcBef>
                <a:spcPts val="0"/>
              </a:spcBef>
            </a:pPr>
            <a:r>
              <a:rPr lang="en-US">
                <a:latin typeface="微软雅黑" panose="020B0503020204020204" charset="-122"/>
                <a:ea typeface="微软雅黑" panose="020B0503020204020204" charset="-122"/>
                <a:sym typeface="+mn-ea"/>
              </a:rPr>
              <a:t>      </a:t>
            </a:r>
            <a:r>
              <a:rPr>
                <a:latin typeface="微软雅黑" panose="020B0503020204020204" charset="-122"/>
                <a:ea typeface="微软雅黑" panose="020B0503020204020204" charset="-122"/>
                <a:sym typeface="+mn-ea"/>
              </a:rPr>
              <a:t>总结与测试设计说明有关的测试活动、差异、测试充分性、结果概述、评价、活动总结、批准者等。</a:t>
            </a:r>
            <a:endParaRPr>
              <a:latin typeface="微软雅黑" panose="020B0503020204020204" charset="-122"/>
              <a:ea typeface="微软雅黑" panose="020B0503020204020204" charset="-122"/>
            </a:endParaRPr>
          </a:p>
        </p:txBody>
      </p:sp>
    </p:spTree>
  </p:cSld>
  <p:clrMapOvr>
    <a:masterClrMapping/>
  </p:clrMapOvr>
  <p:transition>
    <p:randomBar dir="vert"/>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4D901C-490F-E876-4F16-E51CAF02330D}"/>
              </a:ext>
            </a:extLst>
          </p:cNvPr>
          <p:cNvSpPr>
            <a:spLocks noGrp="1"/>
          </p:cNvSpPr>
          <p:nvPr>
            <p:ph type="title"/>
          </p:nvPr>
        </p:nvSpPr>
        <p:spPr>
          <a:xfrm>
            <a:off x="336000" y="360000"/>
            <a:ext cx="5760000" cy="535531"/>
          </a:xfrm>
        </p:spPr>
        <p:txBody>
          <a:bodyPr/>
          <a:lstStyle/>
          <a:p>
            <a:r>
              <a:rPr lang="zh-CN" altLang="en-US" dirty="0">
                <a:sym typeface="+mn-ea"/>
              </a:rPr>
              <a:t>4.8 软件测试文档</a:t>
            </a:r>
            <a:endParaRPr lang="zh-CN" altLang="en-US" dirty="0"/>
          </a:p>
        </p:txBody>
      </p:sp>
      <p:sp>
        <p:nvSpPr>
          <p:cNvPr id="3" name="文本占位符 2">
            <a:extLst>
              <a:ext uri="{FF2B5EF4-FFF2-40B4-BE49-F238E27FC236}">
                <a16:creationId xmlns:a16="http://schemas.microsoft.com/office/drawing/2014/main" id="{2A7F7DBF-57E0-1445-E612-DD9454C2E321}"/>
              </a:ext>
            </a:extLst>
          </p:cNvPr>
          <p:cNvSpPr>
            <a:spLocks noGrp="1"/>
          </p:cNvSpPr>
          <p:nvPr>
            <p:ph type="body" sz="quarter" idx="10"/>
          </p:nvPr>
        </p:nvSpPr>
        <p:spPr>
          <a:xfrm>
            <a:off x="696000" y="1322832"/>
            <a:ext cx="5400000" cy="400110"/>
          </a:xfrm>
        </p:spPr>
        <p:txBody>
          <a:bodyPr/>
          <a:lstStyle/>
          <a:p>
            <a:r>
              <a:rPr lang="zh-CN" altLang="en-US" dirty="0"/>
              <a:t>例：测试用例</a:t>
            </a:r>
          </a:p>
        </p:txBody>
      </p:sp>
      <p:sp>
        <p:nvSpPr>
          <p:cNvPr id="8" name="文本占位符 7">
            <a:extLst>
              <a:ext uri="{FF2B5EF4-FFF2-40B4-BE49-F238E27FC236}">
                <a16:creationId xmlns:a16="http://schemas.microsoft.com/office/drawing/2014/main" id="{E621A15A-0EEC-D0E2-8316-2E3A9BAA1F74}"/>
              </a:ext>
            </a:extLst>
          </p:cNvPr>
          <p:cNvSpPr>
            <a:spLocks noGrp="1"/>
          </p:cNvSpPr>
          <p:nvPr>
            <p:ph type="body" sz="quarter" idx="11"/>
          </p:nvPr>
        </p:nvSpPr>
        <p:spPr/>
        <p:txBody>
          <a:bodyPr/>
          <a:lstStyle/>
          <a:p>
            <a:endParaRPr lang="zh-CN" altLang="en-US"/>
          </a:p>
        </p:txBody>
      </p:sp>
      <p:graphicFrame>
        <p:nvGraphicFramePr>
          <p:cNvPr id="5" name="表格 4">
            <a:extLst>
              <a:ext uri="{FF2B5EF4-FFF2-40B4-BE49-F238E27FC236}">
                <a16:creationId xmlns:a16="http://schemas.microsoft.com/office/drawing/2014/main" id="{6B7B2A30-1AAB-8845-F319-BD03682AF12E}"/>
              </a:ext>
            </a:extLst>
          </p:cNvPr>
          <p:cNvGraphicFramePr>
            <a:graphicFrameLocks noGrp="1"/>
          </p:cNvGraphicFramePr>
          <p:nvPr>
            <p:extLst>
              <p:ext uri="{D42A27DB-BD31-4B8C-83A1-F6EECF244321}">
                <p14:modId xmlns:p14="http://schemas.microsoft.com/office/powerpoint/2010/main" val="2692371365"/>
              </p:ext>
            </p:extLst>
          </p:nvPr>
        </p:nvGraphicFramePr>
        <p:xfrm>
          <a:off x="838200" y="2413476"/>
          <a:ext cx="10515600" cy="2346960"/>
        </p:xfrm>
        <a:graphic>
          <a:graphicData uri="http://schemas.openxmlformats.org/drawingml/2006/table">
            <a:tbl>
              <a:tblPr/>
              <a:tblGrid>
                <a:gridCol w="1009650">
                  <a:extLst>
                    <a:ext uri="{9D8B030D-6E8A-4147-A177-3AD203B41FA5}">
                      <a16:colId xmlns:a16="http://schemas.microsoft.com/office/drawing/2014/main" val="2948922892"/>
                    </a:ext>
                  </a:extLst>
                </a:gridCol>
                <a:gridCol w="1009650">
                  <a:extLst>
                    <a:ext uri="{9D8B030D-6E8A-4147-A177-3AD203B41FA5}">
                      <a16:colId xmlns:a16="http://schemas.microsoft.com/office/drawing/2014/main" val="1437251087"/>
                    </a:ext>
                  </a:extLst>
                </a:gridCol>
                <a:gridCol w="1438275">
                  <a:extLst>
                    <a:ext uri="{9D8B030D-6E8A-4147-A177-3AD203B41FA5}">
                      <a16:colId xmlns:a16="http://schemas.microsoft.com/office/drawing/2014/main" val="1510957478"/>
                    </a:ext>
                  </a:extLst>
                </a:gridCol>
                <a:gridCol w="1333500">
                  <a:extLst>
                    <a:ext uri="{9D8B030D-6E8A-4147-A177-3AD203B41FA5}">
                      <a16:colId xmlns:a16="http://schemas.microsoft.com/office/drawing/2014/main" val="2210717042"/>
                    </a:ext>
                  </a:extLst>
                </a:gridCol>
                <a:gridCol w="1809750">
                  <a:extLst>
                    <a:ext uri="{9D8B030D-6E8A-4147-A177-3AD203B41FA5}">
                      <a16:colId xmlns:a16="http://schemas.microsoft.com/office/drawing/2014/main" val="2652860255"/>
                    </a:ext>
                  </a:extLst>
                </a:gridCol>
                <a:gridCol w="1285875">
                  <a:extLst>
                    <a:ext uri="{9D8B030D-6E8A-4147-A177-3AD203B41FA5}">
                      <a16:colId xmlns:a16="http://schemas.microsoft.com/office/drawing/2014/main" val="1856156637"/>
                    </a:ext>
                  </a:extLst>
                </a:gridCol>
                <a:gridCol w="1314450">
                  <a:extLst>
                    <a:ext uri="{9D8B030D-6E8A-4147-A177-3AD203B41FA5}">
                      <a16:colId xmlns:a16="http://schemas.microsoft.com/office/drawing/2014/main" val="2463681287"/>
                    </a:ext>
                  </a:extLst>
                </a:gridCol>
                <a:gridCol w="1314450">
                  <a:extLst>
                    <a:ext uri="{9D8B030D-6E8A-4147-A177-3AD203B41FA5}">
                      <a16:colId xmlns:a16="http://schemas.microsoft.com/office/drawing/2014/main" val="2524713991"/>
                    </a:ext>
                  </a:extLst>
                </a:gridCol>
              </a:tblGrid>
              <a:tr h="0">
                <a:tc>
                  <a:txBody>
                    <a:bodyPr/>
                    <a:lstStyle/>
                    <a:p>
                      <a:pPr algn="l">
                        <a:buNone/>
                      </a:pPr>
                      <a:r>
                        <a:rPr lang="zh-CN" altLang="en-US" sz="1600" dirty="0"/>
                        <a:t>编号</a:t>
                      </a:r>
                    </a:p>
                  </a:txBody>
                  <a:tcPr anchor="ctr">
                    <a:lnL>
                      <a:noFill/>
                    </a:lnL>
                    <a:lnR>
                      <a:noFill/>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zh-CN" altLang="en-US" sz="1600" dirty="0"/>
                        <a:t>模块</a:t>
                      </a:r>
                    </a:p>
                  </a:txBody>
                  <a:tcPr anchor="ctr">
                    <a:lnL>
                      <a:noFill/>
                    </a:lnL>
                    <a:lnR>
                      <a:noFill/>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zh-CN" altLang="en-US" sz="1600" dirty="0"/>
                        <a:t>标题</a:t>
                      </a:r>
                    </a:p>
                  </a:txBody>
                  <a:tcPr anchor="ctr">
                    <a:lnL>
                      <a:noFill/>
                    </a:lnL>
                    <a:lnR>
                      <a:noFill/>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zh-CN" altLang="en-US" sz="1600" dirty="0"/>
                        <a:t>前置条件</a:t>
                      </a:r>
                    </a:p>
                  </a:txBody>
                  <a:tcPr anchor="ctr">
                    <a:lnL>
                      <a:noFill/>
                    </a:lnL>
                    <a:lnR>
                      <a:noFill/>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zh-CN" altLang="en-US" sz="1600" dirty="0"/>
                        <a:t>步骤</a:t>
                      </a:r>
                    </a:p>
                  </a:txBody>
                  <a:tcPr anchor="ctr">
                    <a:lnL>
                      <a:noFill/>
                    </a:lnL>
                    <a:lnR>
                      <a:noFill/>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zh-CN" altLang="en-US" sz="1600" dirty="0"/>
                        <a:t>测试数据</a:t>
                      </a:r>
                    </a:p>
                  </a:txBody>
                  <a:tcPr anchor="ctr">
                    <a:lnL>
                      <a:noFill/>
                    </a:lnL>
                    <a:lnR>
                      <a:noFill/>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zh-CN" altLang="en-US" sz="1600" dirty="0"/>
                        <a:t>预期结果</a:t>
                      </a:r>
                    </a:p>
                  </a:txBody>
                  <a:tcPr anchor="ctr">
                    <a:lnL>
                      <a:noFill/>
                    </a:lnL>
                    <a:lnR>
                      <a:noFill/>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zh-CN" altLang="en-US" sz="1600" dirty="0"/>
                        <a:t>优先级</a:t>
                      </a:r>
                    </a:p>
                  </a:txBody>
                  <a:tcPr anchor="ctr">
                    <a:lnL>
                      <a:noFill/>
                    </a:lnL>
                    <a:lnR>
                      <a:noFill/>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5325473"/>
                  </a:ext>
                </a:extLst>
              </a:tr>
              <a:tr h="0">
                <a:tc>
                  <a:txBody>
                    <a:bodyPr/>
                    <a:lstStyle/>
                    <a:p>
                      <a:pPr algn="l">
                        <a:buNone/>
                      </a:pPr>
                      <a:r>
                        <a:rPr lang="en-US" sz="1600" dirty="0"/>
                        <a:t>TC_01</a:t>
                      </a:r>
                    </a:p>
                  </a:txBody>
                  <a:tcPr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l">
                        <a:buNone/>
                      </a:pPr>
                      <a:r>
                        <a:rPr lang="zh-CN" altLang="en-US" sz="1600" dirty="0"/>
                        <a:t>用户</a:t>
                      </a:r>
                    </a:p>
                  </a:txBody>
                  <a:tcPr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l">
                        <a:buNone/>
                      </a:pPr>
                      <a:r>
                        <a:rPr lang="zh-CN" altLang="en-US" sz="1600" dirty="0"/>
                        <a:t>验证密码</a:t>
                      </a:r>
                    </a:p>
                  </a:txBody>
                  <a:tcPr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l">
                        <a:buNone/>
                      </a:pPr>
                      <a:r>
                        <a:rPr lang="zh-CN" altLang="en-US" sz="1600" dirty="0"/>
                        <a:t>进入首页</a:t>
                      </a:r>
                    </a:p>
                  </a:txBody>
                  <a:tcPr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l">
                        <a:buNone/>
                      </a:pPr>
                      <a:endParaRPr lang="zh-CN" altLang="en-US" sz="1600" dirty="0"/>
                    </a:p>
                  </a:txBody>
                  <a:tcPr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l">
                        <a:buNone/>
                      </a:pPr>
                      <a:endParaRPr lang="en-US" sz="1600" dirty="0"/>
                    </a:p>
                  </a:txBody>
                  <a:tcPr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l">
                        <a:buNone/>
                      </a:pPr>
                      <a:endParaRPr lang="zh-CN" altLang="en-US" sz="1600" dirty="0"/>
                    </a:p>
                  </a:txBody>
                  <a:tcPr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l">
                        <a:buNone/>
                      </a:pPr>
                      <a:r>
                        <a:rPr lang="en-US" sz="1600" dirty="0"/>
                        <a:t>High</a:t>
                      </a:r>
                    </a:p>
                  </a:txBody>
                  <a:tcPr anchor="ctr">
                    <a:lnL>
                      <a:noFill/>
                    </a:lnL>
                    <a:lnR>
                      <a:noFill/>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084576565"/>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t>TC_02</a:t>
                      </a:r>
                    </a:p>
                  </a:txBody>
                  <a:tcPr anchor="ctr">
                    <a:lnL>
                      <a:noFill/>
                    </a:lnL>
                    <a:lnR>
                      <a:noFill/>
                    </a:lnR>
                    <a:lnT w="6350" cap="flat" cmpd="sng" algn="ctr">
                      <a:noFill/>
                      <a:prstDash val="solid"/>
                      <a:round/>
                      <a:headEnd type="none" w="med" len="med"/>
                      <a:tailEnd type="none" w="med" len="med"/>
                    </a:lnT>
                    <a:lnB>
                      <a:noFill/>
                    </a:lnB>
                    <a:noFill/>
                  </a:tcPr>
                </a:tc>
                <a:tc>
                  <a:txBody>
                    <a:bodyPr/>
                    <a:lstStyle/>
                    <a:p>
                      <a:pPr algn="l">
                        <a:buNone/>
                      </a:pPr>
                      <a:r>
                        <a:rPr lang="zh-CN" altLang="en-US" sz="1600" dirty="0"/>
                        <a:t>订单</a:t>
                      </a:r>
                    </a:p>
                  </a:txBody>
                  <a:tcPr anchor="ctr">
                    <a:lnL>
                      <a:noFill/>
                    </a:lnL>
                    <a:lnR>
                      <a:noFill/>
                    </a:lnR>
                    <a:lnT w="6350" cap="flat" cmpd="sng" algn="ctr">
                      <a:noFill/>
                      <a:prstDash val="solid"/>
                      <a:round/>
                      <a:headEnd type="none" w="med" len="med"/>
                      <a:tailEnd type="none" w="med" len="med"/>
                    </a:lnT>
                    <a:lnB>
                      <a:noFill/>
                    </a:lnB>
                    <a:noFill/>
                  </a:tcPr>
                </a:tc>
                <a:tc>
                  <a:txBody>
                    <a:bodyPr/>
                    <a:lstStyle/>
                    <a:p>
                      <a:pPr algn="l">
                        <a:buNone/>
                      </a:pPr>
                      <a:endParaRPr lang="zh-CN" altLang="en-US" sz="1600" dirty="0"/>
                    </a:p>
                  </a:txBody>
                  <a:tcPr anchor="ctr">
                    <a:lnL>
                      <a:noFill/>
                    </a:lnL>
                    <a:lnR>
                      <a:noFill/>
                    </a:lnR>
                    <a:lnT w="6350" cap="flat" cmpd="sng" algn="ctr">
                      <a:noFill/>
                      <a:prstDash val="solid"/>
                      <a:round/>
                      <a:headEnd type="none" w="med" len="med"/>
                      <a:tailEnd type="none" w="med" len="med"/>
                    </a:lnT>
                    <a:lnB>
                      <a:noFill/>
                    </a:lnB>
                    <a:noFill/>
                  </a:tcPr>
                </a:tc>
                <a:tc>
                  <a:txBody>
                    <a:bodyPr/>
                    <a:lstStyle/>
                    <a:p>
                      <a:pPr algn="l">
                        <a:buNone/>
                      </a:pPr>
                      <a:endParaRPr lang="zh-CN" altLang="en-US" sz="1600" dirty="0"/>
                    </a:p>
                  </a:txBody>
                  <a:tcPr anchor="ctr">
                    <a:lnL>
                      <a:noFill/>
                    </a:lnL>
                    <a:lnR>
                      <a:noFill/>
                    </a:lnR>
                    <a:lnT w="6350" cap="flat" cmpd="sng" algn="ctr">
                      <a:noFill/>
                      <a:prstDash val="solid"/>
                      <a:round/>
                      <a:headEnd type="none" w="med" len="med"/>
                      <a:tailEnd type="none" w="med" len="med"/>
                    </a:lnT>
                    <a:lnB>
                      <a:noFill/>
                    </a:lnB>
                    <a:noFill/>
                  </a:tcPr>
                </a:tc>
                <a:tc>
                  <a:txBody>
                    <a:bodyPr/>
                    <a:lstStyle/>
                    <a:p>
                      <a:pPr algn="l">
                        <a:buNone/>
                      </a:pPr>
                      <a:endParaRPr lang="zh-CN" altLang="en-US" sz="1600" dirty="0"/>
                    </a:p>
                  </a:txBody>
                  <a:tcPr anchor="ctr">
                    <a:lnL>
                      <a:noFill/>
                    </a:lnL>
                    <a:lnR>
                      <a:noFill/>
                    </a:lnR>
                    <a:lnT w="6350" cap="flat" cmpd="sng" algn="ctr">
                      <a:noFill/>
                      <a:prstDash val="solid"/>
                      <a:round/>
                      <a:headEnd type="none" w="med" len="med"/>
                      <a:tailEnd type="none" w="med" len="med"/>
                    </a:lnT>
                    <a:lnB>
                      <a:noFill/>
                    </a:lnB>
                    <a:noFill/>
                  </a:tcPr>
                </a:tc>
                <a:tc>
                  <a:txBody>
                    <a:bodyPr/>
                    <a:lstStyle/>
                    <a:p>
                      <a:pPr algn="l">
                        <a:buNone/>
                      </a:pPr>
                      <a:endParaRPr lang="en-US" sz="1600" dirty="0"/>
                    </a:p>
                  </a:txBody>
                  <a:tcPr anchor="ctr">
                    <a:lnL>
                      <a:noFill/>
                    </a:lnL>
                    <a:lnR>
                      <a:noFill/>
                    </a:lnR>
                    <a:lnT w="6350" cap="flat" cmpd="sng" algn="ctr">
                      <a:noFill/>
                      <a:prstDash val="solid"/>
                      <a:round/>
                      <a:headEnd type="none" w="med" len="med"/>
                      <a:tailEnd type="none" w="med" len="med"/>
                    </a:lnT>
                    <a:lnB>
                      <a:noFill/>
                    </a:lnB>
                    <a:noFill/>
                  </a:tcPr>
                </a:tc>
                <a:tc>
                  <a:txBody>
                    <a:bodyPr/>
                    <a:lstStyle/>
                    <a:p>
                      <a:pPr algn="l">
                        <a:buNone/>
                      </a:pPr>
                      <a:endParaRPr lang="zh-CN" altLang="en-US" sz="1600" dirty="0"/>
                    </a:p>
                  </a:txBody>
                  <a:tcPr anchor="ctr">
                    <a:lnL>
                      <a:noFill/>
                    </a:lnL>
                    <a:lnR>
                      <a:noFill/>
                    </a:lnR>
                    <a:lnT w="6350" cap="flat" cmpd="sng" algn="ctr">
                      <a:noFill/>
                      <a:prstDash val="solid"/>
                      <a:round/>
                      <a:headEnd type="none" w="med" len="med"/>
                      <a:tailEnd type="none" w="med" len="med"/>
                    </a:lnT>
                    <a:lnB>
                      <a:noFill/>
                    </a:lnB>
                    <a:noFill/>
                  </a:tcPr>
                </a:tc>
                <a:tc>
                  <a:txBody>
                    <a:bodyPr/>
                    <a:lstStyle/>
                    <a:p>
                      <a:pPr algn="l">
                        <a:buNone/>
                      </a:pPr>
                      <a:r>
                        <a:rPr lang="en-US" altLang="zh-CN" sz="1600" dirty="0"/>
                        <a:t>Low</a:t>
                      </a:r>
                      <a:endParaRPr lang="en-US" sz="1600" dirty="0"/>
                    </a:p>
                  </a:txBody>
                  <a:tcPr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780041956"/>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t>TC_03</a:t>
                      </a:r>
                    </a:p>
                  </a:txBody>
                  <a:tcPr anchor="ctr">
                    <a:lnL>
                      <a:noFill/>
                    </a:lnL>
                    <a:lnR>
                      <a:noFill/>
                    </a:lnR>
                    <a:lnT>
                      <a:noFill/>
                    </a:lnT>
                    <a:lnB w="12700" cap="flat" cmpd="sng" algn="ctr">
                      <a:noFill/>
                      <a:prstDash val="solid"/>
                      <a:round/>
                      <a:headEnd type="none" w="med" len="med"/>
                      <a:tailEnd type="none" w="med" len="med"/>
                    </a:lnB>
                    <a:noFill/>
                  </a:tcPr>
                </a:tc>
                <a:tc>
                  <a:txBody>
                    <a:bodyPr/>
                    <a:lstStyle/>
                    <a:p>
                      <a:pPr algn="l">
                        <a:buNone/>
                      </a:pPr>
                      <a:r>
                        <a:rPr lang="zh-CN" altLang="en-US" sz="1600" dirty="0"/>
                        <a:t>商品</a:t>
                      </a:r>
                    </a:p>
                  </a:txBody>
                  <a:tcPr anchor="ctr">
                    <a:lnL>
                      <a:noFill/>
                    </a:lnL>
                    <a:lnR>
                      <a:noFill/>
                    </a:lnR>
                    <a:lnT>
                      <a:noFill/>
                    </a:lnT>
                    <a:lnB w="12700" cap="flat" cmpd="sng" algn="ctr">
                      <a:noFill/>
                      <a:prstDash val="solid"/>
                      <a:round/>
                      <a:headEnd type="none" w="med" len="med"/>
                      <a:tailEnd type="none" w="med" len="med"/>
                    </a:lnB>
                    <a:noFill/>
                  </a:tcPr>
                </a:tc>
                <a:tc>
                  <a:txBody>
                    <a:bodyPr/>
                    <a:lstStyle/>
                    <a:p>
                      <a:pPr algn="l">
                        <a:buNone/>
                      </a:pPr>
                      <a:endParaRPr lang="zh-CN" altLang="en-US" sz="1600" dirty="0"/>
                    </a:p>
                  </a:txBody>
                  <a:tcPr anchor="ctr">
                    <a:lnL>
                      <a:noFill/>
                    </a:lnL>
                    <a:lnR>
                      <a:noFill/>
                    </a:lnR>
                    <a:lnT>
                      <a:noFill/>
                    </a:lnT>
                    <a:lnB w="12700" cap="flat" cmpd="sng" algn="ctr">
                      <a:noFill/>
                      <a:prstDash val="solid"/>
                      <a:round/>
                      <a:headEnd type="none" w="med" len="med"/>
                      <a:tailEnd type="none" w="med" len="med"/>
                    </a:lnB>
                    <a:noFill/>
                  </a:tcPr>
                </a:tc>
                <a:tc>
                  <a:txBody>
                    <a:bodyPr/>
                    <a:lstStyle/>
                    <a:p>
                      <a:pPr algn="l">
                        <a:buNone/>
                      </a:pPr>
                      <a:endParaRPr lang="zh-CN" altLang="en-US" sz="1600" dirty="0"/>
                    </a:p>
                  </a:txBody>
                  <a:tcPr anchor="ctr">
                    <a:lnL>
                      <a:noFill/>
                    </a:lnL>
                    <a:lnR>
                      <a:noFill/>
                    </a:lnR>
                    <a:lnT>
                      <a:noFill/>
                    </a:lnT>
                    <a:lnB w="12700" cap="flat" cmpd="sng" algn="ctr">
                      <a:noFill/>
                      <a:prstDash val="solid"/>
                      <a:round/>
                      <a:headEnd type="none" w="med" len="med"/>
                      <a:tailEnd type="none" w="med" len="med"/>
                    </a:lnB>
                    <a:noFill/>
                  </a:tcPr>
                </a:tc>
                <a:tc>
                  <a:txBody>
                    <a:bodyPr/>
                    <a:lstStyle/>
                    <a:p>
                      <a:pPr algn="l">
                        <a:buNone/>
                      </a:pPr>
                      <a:endParaRPr lang="zh-CN" altLang="en-US" sz="1600" dirty="0"/>
                    </a:p>
                  </a:txBody>
                  <a:tcPr anchor="ctr">
                    <a:lnL>
                      <a:noFill/>
                    </a:lnL>
                    <a:lnR>
                      <a:noFill/>
                    </a:lnR>
                    <a:lnT>
                      <a:noFill/>
                    </a:lnT>
                    <a:lnB w="12700" cap="flat" cmpd="sng" algn="ctr">
                      <a:noFill/>
                      <a:prstDash val="solid"/>
                      <a:round/>
                      <a:headEnd type="none" w="med" len="med"/>
                      <a:tailEnd type="none" w="med" len="med"/>
                    </a:lnB>
                    <a:noFill/>
                  </a:tcPr>
                </a:tc>
                <a:tc>
                  <a:txBody>
                    <a:bodyPr/>
                    <a:lstStyle/>
                    <a:p>
                      <a:pPr algn="l">
                        <a:buNone/>
                      </a:pPr>
                      <a:endParaRPr lang="en-US" sz="1600" dirty="0"/>
                    </a:p>
                  </a:txBody>
                  <a:tcPr anchor="ctr">
                    <a:lnL>
                      <a:noFill/>
                    </a:lnL>
                    <a:lnR>
                      <a:noFill/>
                    </a:lnR>
                    <a:lnT>
                      <a:noFill/>
                    </a:lnT>
                    <a:lnB w="12700" cap="flat" cmpd="sng" algn="ctr">
                      <a:noFill/>
                      <a:prstDash val="solid"/>
                      <a:round/>
                      <a:headEnd type="none" w="med" len="med"/>
                      <a:tailEnd type="none" w="med" len="med"/>
                    </a:lnB>
                    <a:noFill/>
                  </a:tcPr>
                </a:tc>
                <a:tc>
                  <a:txBody>
                    <a:bodyPr/>
                    <a:lstStyle/>
                    <a:p>
                      <a:pPr algn="l">
                        <a:buNone/>
                      </a:pPr>
                      <a:endParaRPr lang="zh-CN" altLang="en-US" sz="1600" dirty="0"/>
                    </a:p>
                  </a:txBody>
                  <a:tcPr anchor="ctr">
                    <a:lnL>
                      <a:noFill/>
                    </a:lnL>
                    <a:lnR>
                      <a:noFill/>
                    </a:lnR>
                    <a:lnT>
                      <a:noFill/>
                    </a:lnT>
                    <a:lnB w="12700" cap="flat" cmpd="sng" algn="ctr">
                      <a:noFill/>
                      <a:prstDash val="solid"/>
                      <a:round/>
                      <a:headEnd type="none" w="med" len="med"/>
                      <a:tailEnd type="none" w="med" len="med"/>
                    </a:lnB>
                    <a:noFill/>
                  </a:tcPr>
                </a:tc>
                <a:tc>
                  <a:txBody>
                    <a:bodyPr/>
                    <a:lstStyle/>
                    <a:p>
                      <a:pPr algn="l">
                        <a:buNone/>
                      </a:pPr>
                      <a:r>
                        <a:rPr lang="en-US" sz="1600" dirty="0"/>
                        <a:t>0</a:t>
                      </a:r>
                    </a:p>
                  </a:txBody>
                  <a:tcPr anchor="ctr">
                    <a:lnL>
                      <a:noFill/>
                    </a:lnL>
                    <a:lnR>
                      <a:noFill/>
                    </a:lnR>
                    <a:lnT>
                      <a:noFill/>
                    </a:lnT>
                    <a:lnB w="12700" cap="flat" cmpd="sng" algn="ctr">
                      <a:noFill/>
                      <a:prstDash val="solid"/>
                      <a:round/>
                      <a:headEnd type="none" w="med" len="med"/>
                      <a:tailEnd type="none" w="med" len="med"/>
                    </a:lnB>
                    <a:noFill/>
                  </a:tcPr>
                </a:tc>
                <a:extLst>
                  <a:ext uri="{0D108BD9-81ED-4DB2-BD59-A6C34878D82A}">
                    <a16:rowId xmlns:a16="http://schemas.microsoft.com/office/drawing/2014/main" val="3975958029"/>
                  </a:ext>
                </a:extLst>
              </a:tr>
              <a:tr h="0">
                <a:tc>
                  <a:txBody>
                    <a:bodyPr/>
                    <a:lstStyle/>
                    <a:p>
                      <a:pPr algn="l">
                        <a:buNone/>
                      </a:pPr>
                      <a:endParaRPr lang="en-US" sz="1600" dirty="0"/>
                    </a:p>
                  </a:txBody>
                  <a:tcPr anchor="ctr">
                    <a:lnL>
                      <a:noFill/>
                    </a:lnL>
                    <a:lnR>
                      <a:noFill/>
                    </a:lnR>
                    <a:lnT>
                      <a:noFill/>
                    </a:lnT>
                    <a:lnB w="12700" cap="flat" cmpd="sng" algn="ctr">
                      <a:noFill/>
                      <a:prstDash val="solid"/>
                      <a:round/>
                      <a:headEnd type="none" w="med" len="med"/>
                      <a:tailEnd type="none" w="med" len="med"/>
                    </a:lnB>
                    <a:noFill/>
                  </a:tcPr>
                </a:tc>
                <a:tc>
                  <a:txBody>
                    <a:bodyPr/>
                    <a:lstStyle/>
                    <a:p>
                      <a:pPr algn="l">
                        <a:buNone/>
                      </a:pPr>
                      <a:endParaRPr lang="zh-CN" altLang="en-US" sz="1600" dirty="0"/>
                    </a:p>
                  </a:txBody>
                  <a:tcPr anchor="ctr">
                    <a:lnL>
                      <a:noFill/>
                    </a:lnL>
                    <a:lnR>
                      <a:noFill/>
                    </a:lnR>
                    <a:lnT>
                      <a:noFill/>
                    </a:lnT>
                    <a:lnB w="12700" cap="flat" cmpd="sng" algn="ctr">
                      <a:noFill/>
                      <a:prstDash val="solid"/>
                      <a:round/>
                      <a:headEnd type="none" w="med" len="med"/>
                      <a:tailEnd type="none" w="med" len="med"/>
                    </a:lnB>
                    <a:noFill/>
                  </a:tcPr>
                </a:tc>
                <a:tc>
                  <a:txBody>
                    <a:bodyPr/>
                    <a:lstStyle/>
                    <a:p>
                      <a:pPr algn="l">
                        <a:buNone/>
                      </a:pPr>
                      <a:endParaRPr lang="zh-CN" altLang="en-US" sz="1600" dirty="0"/>
                    </a:p>
                  </a:txBody>
                  <a:tcPr anchor="ctr">
                    <a:lnL>
                      <a:noFill/>
                    </a:lnL>
                    <a:lnR>
                      <a:noFill/>
                    </a:lnR>
                    <a:lnT>
                      <a:noFill/>
                    </a:lnT>
                    <a:lnB w="12700" cap="flat" cmpd="sng" algn="ctr">
                      <a:noFill/>
                      <a:prstDash val="solid"/>
                      <a:round/>
                      <a:headEnd type="none" w="med" len="med"/>
                      <a:tailEnd type="none" w="med" len="med"/>
                    </a:lnB>
                    <a:noFill/>
                  </a:tcPr>
                </a:tc>
                <a:tc>
                  <a:txBody>
                    <a:bodyPr/>
                    <a:lstStyle/>
                    <a:p>
                      <a:pPr algn="l">
                        <a:buNone/>
                      </a:pPr>
                      <a:endParaRPr lang="zh-CN" altLang="en-US" sz="1600" dirty="0"/>
                    </a:p>
                  </a:txBody>
                  <a:tcPr anchor="ctr">
                    <a:lnL>
                      <a:noFill/>
                    </a:lnL>
                    <a:lnR>
                      <a:noFill/>
                    </a:lnR>
                    <a:lnT>
                      <a:noFill/>
                    </a:lnT>
                    <a:lnB w="12700" cap="flat" cmpd="sng" algn="ctr">
                      <a:noFill/>
                      <a:prstDash val="solid"/>
                      <a:round/>
                      <a:headEnd type="none" w="med" len="med"/>
                      <a:tailEnd type="none" w="med" len="med"/>
                    </a:lnB>
                    <a:noFill/>
                  </a:tcPr>
                </a:tc>
                <a:tc>
                  <a:txBody>
                    <a:bodyPr/>
                    <a:lstStyle/>
                    <a:p>
                      <a:pPr algn="l">
                        <a:buNone/>
                      </a:pPr>
                      <a:endParaRPr lang="zh-CN" altLang="en-US" sz="1600" dirty="0"/>
                    </a:p>
                  </a:txBody>
                  <a:tcPr anchor="ctr">
                    <a:lnL>
                      <a:noFill/>
                    </a:lnL>
                    <a:lnR>
                      <a:noFill/>
                    </a:lnR>
                    <a:lnT>
                      <a:noFill/>
                    </a:lnT>
                    <a:lnB w="12700" cap="flat" cmpd="sng" algn="ctr">
                      <a:noFill/>
                      <a:prstDash val="solid"/>
                      <a:round/>
                      <a:headEnd type="none" w="med" len="med"/>
                      <a:tailEnd type="none" w="med" len="med"/>
                    </a:lnB>
                    <a:noFill/>
                  </a:tcPr>
                </a:tc>
                <a:tc>
                  <a:txBody>
                    <a:bodyPr/>
                    <a:lstStyle/>
                    <a:p>
                      <a:pPr algn="l">
                        <a:buNone/>
                      </a:pPr>
                      <a:endParaRPr lang="en-US" sz="1600" dirty="0"/>
                    </a:p>
                  </a:txBody>
                  <a:tcPr anchor="ctr">
                    <a:lnL>
                      <a:noFill/>
                    </a:lnL>
                    <a:lnR>
                      <a:noFill/>
                    </a:lnR>
                    <a:lnT>
                      <a:noFill/>
                    </a:lnT>
                    <a:lnB w="12700" cap="flat" cmpd="sng" algn="ctr">
                      <a:noFill/>
                      <a:prstDash val="solid"/>
                      <a:round/>
                      <a:headEnd type="none" w="med" len="med"/>
                      <a:tailEnd type="none" w="med" len="med"/>
                    </a:lnB>
                    <a:noFill/>
                  </a:tcPr>
                </a:tc>
                <a:tc>
                  <a:txBody>
                    <a:bodyPr/>
                    <a:lstStyle/>
                    <a:p>
                      <a:pPr algn="l">
                        <a:buNone/>
                      </a:pPr>
                      <a:endParaRPr lang="zh-CN" altLang="en-US" sz="1600" dirty="0"/>
                    </a:p>
                  </a:txBody>
                  <a:tcPr anchor="ctr">
                    <a:lnL>
                      <a:noFill/>
                    </a:lnL>
                    <a:lnR>
                      <a:noFill/>
                    </a:lnR>
                    <a:lnT>
                      <a:noFill/>
                    </a:lnT>
                    <a:lnB w="12700" cap="flat" cmpd="sng" algn="ctr">
                      <a:noFill/>
                      <a:prstDash val="solid"/>
                      <a:round/>
                      <a:headEnd type="none" w="med" len="med"/>
                      <a:tailEnd type="none" w="med" len="med"/>
                    </a:lnB>
                    <a:noFill/>
                  </a:tcPr>
                </a:tc>
                <a:tc>
                  <a:txBody>
                    <a:bodyPr/>
                    <a:lstStyle/>
                    <a:p>
                      <a:pPr algn="l">
                        <a:buNone/>
                      </a:pPr>
                      <a:r>
                        <a:rPr lang="en-US" sz="1600" dirty="0"/>
                        <a:t>1</a:t>
                      </a:r>
                    </a:p>
                  </a:txBody>
                  <a:tcPr anchor="ctr">
                    <a:lnL>
                      <a:noFill/>
                    </a:lnL>
                    <a:lnR>
                      <a:noFill/>
                    </a:lnR>
                    <a:lnT>
                      <a:noFill/>
                    </a:lnT>
                    <a:lnB w="12700" cap="flat" cmpd="sng" algn="ctr">
                      <a:noFill/>
                      <a:prstDash val="solid"/>
                      <a:round/>
                      <a:headEnd type="none" w="med" len="med"/>
                      <a:tailEnd type="none" w="med" len="med"/>
                    </a:lnB>
                    <a:noFill/>
                  </a:tcPr>
                </a:tc>
                <a:extLst>
                  <a:ext uri="{0D108BD9-81ED-4DB2-BD59-A6C34878D82A}">
                    <a16:rowId xmlns:a16="http://schemas.microsoft.com/office/drawing/2014/main" val="3971116095"/>
                  </a:ext>
                </a:extLst>
              </a:tr>
              <a:tr h="0">
                <a:tc>
                  <a:txBody>
                    <a:bodyPr/>
                    <a:lstStyle/>
                    <a:p>
                      <a:pPr algn="l">
                        <a:buNone/>
                      </a:pPr>
                      <a:endParaRPr lang="en-US" sz="1600" dirty="0"/>
                    </a:p>
                  </a:txBody>
                  <a:tcPr anchor="ctr">
                    <a:lnL>
                      <a:noFill/>
                    </a:lnL>
                    <a:lnR>
                      <a:noFill/>
                    </a:lnR>
                    <a:lnT>
                      <a:noFill/>
                    </a:lnT>
                    <a:lnB w="12700" cap="flat" cmpd="sng" algn="ctr">
                      <a:noFill/>
                      <a:prstDash val="solid"/>
                      <a:round/>
                      <a:headEnd type="none" w="med" len="med"/>
                      <a:tailEnd type="none" w="med" len="med"/>
                    </a:lnB>
                    <a:noFill/>
                  </a:tcPr>
                </a:tc>
                <a:tc>
                  <a:txBody>
                    <a:bodyPr/>
                    <a:lstStyle/>
                    <a:p>
                      <a:pPr algn="l">
                        <a:buNone/>
                      </a:pPr>
                      <a:endParaRPr lang="zh-CN" altLang="en-US" sz="1600" dirty="0"/>
                    </a:p>
                  </a:txBody>
                  <a:tcPr anchor="ctr">
                    <a:lnL>
                      <a:noFill/>
                    </a:lnL>
                    <a:lnR>
                      <a:noFill/>
                    </a:lnR>
                    <a:lnT>
                      <a:noFill/>
                    </a:lnT>
                    <a:lnB w="12700" cap="flat" cmpd="sng" algn="ctr">
                      <a:noFill/>
                      <a:prstDash val="solid"/>
                      <a:round/>
                      <a:headEnd type="none" w="med" len="med"/>
                      <a:tailEnd type="none" w="med" len="med"/>
                    </a:lnB>
                    <a:noFill/>
                  </a:tcPr>
                </a:tc>
                <a:tc>
                  <a:txBody>
                    <a:bodyPr/>
                    <a:lstStyle/>
                    <a:p>
                      <a:pPr algn="l">
                        <a:buNone/>
                      </a:pPr>
                      <a:endParaRPr lang="zh-CN" altLang="en-US" sz="1600" dirty="0"/>
                    </a:p>
                  </a:txBody>
                  <a:tcPr anchor="ctr">
                    <a:lnL>
                      <a:noFill/>
                    </a:lnL>
                    <a:lnR>
                      <a:noFill/>
                    </a:lnR>
                    <a:lnT>
                      <a:noFill/>
                    </a:lnT>
                    <a:lnB w="12700" cap="flat" cmpd="sng" algn="ctr">
                      <a:noFill/>
                      <a:prstDash val="solid"/>
                      <a:round/>
                      <a:headEnd type="none" w="med" len="med"/>
                      <a:tailEnd type="none" w="med" len="med"/>
                    </a:lnB>
                    <a:noFill/>
                  </a:tcPr>
                </a:tc>
                <a:tc>
                  <a:txBody>
                    <a:bodyPr/>
                    <a:lstStyle/>
                    <a:p>
                      <a:pPr algn="l">
                        <a:buNone/>
                      </a:pPr>
                      <a:endParaRPr lang="zh-CN" altLang="en-US" sz="1600" dirty="0"/>
                    </a:p>
                  </a:txBody>
                  <a:tcPr anchor="ctr">
                    <a:lnL>
                      <a:noFill/>
                    </a:lnL>
                    <a:lnR>
                      <a:noFill/>
                    </a:lnR>
                    <a:lnT>
                      <a:noFill/>
                    </a:lnT>
                    <a:lnB w="12700" cap="flat" cmpd="sng" algn="ctr">
                      <a:noFill/>
                      <a:prstDash val="solid"/>
                      <a:round/>
                      <a:headEnd type="none" w="med" len="med"/>
                      <a:tailEnd type="none" w="med" len="med"/>
                    </a:lnB>
                    <a:noFill/>
                  </a:tcPr>
                </a:tc>
                <a:tc>
                  <a:txBody>
                    <a:bodyPr/>
                    <a:lstStyle/>
                    <a:p>
                      <a:pPr algn="l">
                        <a:buNone/>
                      </a:pPr>
                      <a:endParaRPr lang="zh-CN" altLang="en-US" sz="1600" dirty="0"/>
                    </a:p>
                  </a:txBody>
                  <a:tcPr anchor="ctr">
                    <a:lnL>
                      <a:noFill/>
                    </a:lnL>
                    <a:lnR>
                      <a:noFill/>
                    </a:lnR>
                    <a:lnT>
                      <a:noFill/>
                    </a:lnT>
                    <a:lnB w="12700" cap="flat" cmpd="sng" algn="ctr">
                      <a:noFill/>
                      <a:prstDash val="solid"/>
                      <a:round/>
                      <a:headEnd type="none" w="med" len="med"/>
                      <a:tailEnd type="none" w="med" len="med"/>
                    </a:lnB>
                    <a:noFill/>
                  </a:tcPr>
                </a:tc>
                <a:tc>
                  <a:txBody>
                    <a:bodyPr/>
                    <a:lstStyle/>
                    <a:p>
                      <a:pPr algn="l">
                        <a:buNone/>
                      </a:pPr>
                      <a:endParaRPr lang="en-US" sz="1600" dirty="0"/>
                    </a:p>
                  </a:txBody>
                  <a:tcPr anchor="ctr">
                    <a:lnL>
                      <a:noFill/>
                    </a:lnL>
                    <a:lnR>
                      <a:noFill/>
                    </a:lnR>
                    <a:lnT>
                      <a:noFill/>
                    </a:lnT>
                    <a:lnB w="12700" cap="flat" cmpd="sng" algn="ctr">
                      <a:noFill/>
                      <a:prstDash val="solid"/>
                      <a:round/>
                      <a:headEnd type="none" w="med" len="med"/>
                      <a:tailEnd type="none" w="med" len="med"/>
                    </a:lnB>
                    <a:noFill/>
                  </a:tcPr>
                </a:tc>
                <a:tc>
                  <a:txBody>
                    <a:bodyPr/>
                    <a:lstStyle/>
                    <a:p>
                      <a:pPr algn="l">
                        <a:buNone/>
                      </a:pPr>
                      <a:endParaRPr lang="zh-CN" altLang="en-US" sz="1600" dirty="0"/>
                    </a:p>
                  </a:txBody>
                  <a:tcPr anchor="ctr">
                    <a:lnL>
                      <a:noFill/>
                    </a:lnL>
                    <a:lnR>
                      <a:noFill/>
                    </a:lnR>
                    <a:lnT>
                      <a:noFill/>
                    </a:lnT>
                    <a:lnB w="12700" cap="flat" cmpd="sng" algn="ctr">
                      <a:noFill/>
                      <a:prstDash val="solid"/>
                      <a:round/>
                      <a:headEnd type="none" w="med" len="med"/>
                      <a:tailEnd type="none" w="med" len="med"/>
                    </a:lnB>
                    <a:noFill/>
                  </a:tcPr>
                </a:tc>
                <a:tc>
                  <a:txBody>
                    <a:bodyPr/>
                    <a:lstStyle/>
                    <a:p>
                      <a:pPr algn="l">
                        <a:buNone/>
                      </a:pPr>
                      <a:endParaRPr lang="en-US" sz="1600" dirty="0"/>
                    </a:p>
                  </a:txBody>
                  <a:tcPr anchor="ctr">
                    <a:lnL>
                      <a:noFill/>
                    </a:lnL>
                    <a:lnR>
                      <a:noFill/>
                    </a:lnR>
                    <a:lnT>
                      <a:noFill/>
                    </a:lnT>
                    <a:lnB w="12700" cap="flat" cmpd="sng" algn="ctr">
                      <a:noFill/>
                      <a:prstDash val="solid"/>
                      <a:round/>
                      <a:headEnd type="none" w="med" len="med"/>
                      <a:tailEnd type="none" w="med" len="med"/>
                    </a:lnB>
                    <a:noFill/>
                  </a:tcPr>
                </a:tc>
                <a:extLst>
                  <a:ext uri="{0D108BD9-81ED-4DB2-BD59-A6C34878D82A}">
                    <a16:rowId xmlns:a16="http://schemas.microsoft.com/office/drawing/2014/main" val="3382245980"/>
                  </a:ext>
                </a:extLst>
              </a:tr>
              <a:tr h="0">
                <a:tc>
                  <a:txBody>
                    <a:bodyPr/>
                    <a:lstStyle/>
                    <a:p>
                      <a:pPr algn="l">
                        <a:buNone/>
                      </a:pPr>
                      <a:endParaRPr lang="en-US" sz="1600" dirty="0"/>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a:buNone/>
                      </a:pPr>
                      <a:endParaRPr lang="zh-CN" altLang="en-US" sz="1600" dirty="0"/>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a:buNone/>
                      </a:pPr>
                      <a:endParaRPr lang="zh-CN" altLang="en-US" sz="1600" dirty="0"/>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a:buNone/>
                      </a:pPr>
                      <a:endParaRPr lang="zh-CN" altLang="en-US" sz="1600" dirty="0"/>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a:buNone/>
                      </a:pPr>
                      <a:endParaRPr lang="zh-CN" altLang="en-US" sz="1600" dirty="0"/>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a:buNone/>
                      </a:pPr>
                      <a:endParaRPr lang="en-US" sz="1600" dirty="0"/>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a:buNone/>
                      </a:pPr>
                      <a:endParaRPr lang="zh-CN" altLang="en-US" sz="1600" dirty="0"/>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a:buNone/>
                      </a:pPr>
                      <a:endParaRPr lang="en-US" sz="1600" dirty="0"/>
                    </a:p>
                  </a:txBody>
                  <a:tcPr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4660821"/>
                  </a:ext>
                </a:extLst>
              </a:tr>
            </a:tbl>
          </a:graphicData>
        </a:graphic>
      </p:graphicFrame>
    </p:spTree>
    <p:extLst>
      <p:ext uri="{BB962C8B-B14F-4D97-AF65-F5344CB8AC3E}">
        <p14:creationId xmlns:p14="http://schemas.microsoft.com/office/powerpoint/2010/main" val="322442119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4D901C-490F-E876-4F16-E51CAF02330D}"/>
              </a:ext>
            </a:extLst>
          </p:cNvPr>
          <p:cNvSpPr>
            <a:spLocks noGrp="1"/>
          </p:cNvSpPr>
          <p:nvPr>
            <p:ph type="title"/>
          </p:nvPr>
        </p:nvSpPr>
        <p:spPr>
          <a:xfrm>
            <a:off x="336000" y="360000"/>
            <a:ext cx="5760000" cy="535531"/>
          </a:xfrm>
        </p:spPr>
        <p:txBody>
          <a:bodyPr/>
          <a:lstStyle/>
          <a:p>
            <a:r>
              <a:rPr lang="zh-CN" altLang="en-US" dirty="0">
                <a:sym typeface="+mn-ea"/>
              </a:rPr>
              <a:t>4.8 软件测试文档</a:t>
            </a:r>
            <a:endParaRPr lang="zh-CN" altLang="en-US" dirty="0"/>
          </a:p>
        </p:txBody>
      </p:sp>
      <p:sp>
        <p:nvSpPr>
          <p:cNvPr id="3" name="文本占位符 2">
            <a:extLst>
              <a:ext uri="{FF2B5EF4-FFF2-40B4-BE49-F238E27FC236}">
                <a16:creationId xmlns:a16="http://schemas.microsoft.com/office/drawing/2014/main" id="{2A7F7DBF-57E0-1445-E612-DD9454C2E321}"/>
              </a:ext>
            </a:extLst>
          </p:cNvPr>
          <p:cNvSpPr>
            <a:spLocks noGrp="1"/>
          </p:cNvSpPr>
          <p:nvPr>
            <p:ph type="body" sz="quarter" idx="10"/>
          </p:nvPr>
        </p:nvSpPr>
        <p:spPr>
          <a:xfrm>
            <a:off x="696000" y="1322832"/>
            <a:ext cx="5400000" cy="400110"/>
          </a:xfrm>
        </p:spPr>
        <p:txBody>
          <a:bodyPr/>
          <a:lstStyle/>
          <a:p>
            <a:r>
              <a:rPr lang="zh-CN" altLang="en-US" dirty="0"/>
              <a:t>例：测试用例 </a:t>
            </a:r>
            <a:r>
              <a:rPr lang="en-US" altLang="zh-CN" dirty="0"/>
              <a:t>-</a:t>
            </a:r>
            <a:r>
              <a:rPr lang="zh-CN" altLang="zh-CN" dirty="0"/>
              <a:t>注册功能测试用例表</a:t>
            </a:r>
            <a:endParaRPr lang="zh-CN" altLang="en-US" dirty="0"/>
          </a:p>
        </p:txBody>
      </p:sp>
      <p:sp>
        <p:nvSpPr>
          <p:cNvPr id="9" name="文本占位符 8">
            <a:extLst>
              <a:ext uri="{FF2B5EF4-FFF2-40B4-BE49-F238E27FC236}">
                <a16:creationId xmlns:a16="http://schemas.microsoft.com/office/drawing/2014/main" id="{0FF8DB85-96DF-233D-8448-09D7A9EDEACD}"/>
              </a:ext>
            </a:extLst>
          </p:cNvPr>
          <p:cNvSpPr>
            <a:spLocks noGrp="1"/>
          </p:cNvSpPr>
          <p:nvPr>
            <p:ph type="body" sz="quarter" idx="11"/>
          </p:nvPr>
        </p:nvSpPr>
        <p:spPr/>
        <p:txBody>
          <a:bodyPr/>
          <a:lstStyle/>
          <a:p>
            <a:endParaRPr lang="zh-CN" altLang="en-US"/>
          </a:p>
        </p:txBody>
      </p:sp>
      <p:graphicFrame>
        <p:nvGraphicFramePr>
          <p:cNvPr id="4" name="表格 3">
            <a:extLst>
              <a:ext uri="{FF2B5EF4-FFF2-40B4-BE49-F238E27FC236}">
                <a16:creationId xmlns:a16="http://schemas.microsoft.com/office/drawing/2014/main" id="{556D8B33-8C0C-614D-06B1-FA841D078F08}"/>
              </a:ext>
            </a:extLst>
          </p:cNvPr>
          <p:cNvGraphicFramePr>
            <a:graphicFrameLocks noGrp="1"/>
          </p:cNvGraphicFramePr>
          <p:nvPr>
            <p:extLst>
              <p:ext uri="{D42A27DB-BD31-4B8C-83A1-F6EECF244321}">
                <p14:modId xmlns:p14="http://schemas.microsoft.com/office/powerpoint/2010/main" val="3879669339"/>
              </p:ext>
            </p:extLst>
          </p:nvPr>
        </p:nvGraphicFramePr>
        <p:xfrm>
          <a:off x="838200" y="2234406"/>
          <a:ext cx="10515600" cy="2651760"/>
        </p:xfrm>
        <a:graphic>
          <a:graphicData uri="http://schemas.openxmlformats.org/drawingml/2006/table">
            <a:tbl>
              <a:tblPr/>
              <a:tblGrid>
                <a:gridCol w="971550">
                  <a:extLst>
                    <a:ext uri="{9D8B030D-6E8A-4147-A177-3AD203B41FA5}">
                      <a16:colId xmlns:a16="http://schemas.microsoft.com/office/drawing/2014/main" val="2459307841"/>
                    </a:ext>
                  </a:extLst>
                </a:gridCol>
                <a:gridCol w="1362075">
                  <a:extLst>
                    <a:ext uri="{9D8B030D-6E8A-4147-A177-3AD203B41FA5}">
                      <a16:colId xmlns:a16="http://schemas.microsoft.com/office/drawing/2014/main" val="205396109"/>
                    </a:ext>
                  </a:extLst>
                </a:gridCol>
                <a:gridCol w="2924175">
                  <a:extLst>
                    <a:ext uri="{9D8B030D-6E8A-4147-A177-3AD203B41FA5}">
                      <a16:colId xmlns:a16="http://schemas.microsoft.com/office/drawing/2014/main" val="3346633453"/>
                    </a:ext>
                  </a:extLst>
                </a:gridCol>
                <a:gridCol w="1752600">
                  <a:extLst>
                    <a:ext uri="{9D8B030D-6E8A-4147-A177-3AD203B41FA5}">
                      <a16:colId xmlns:a16="http://schemas.microsoft.com/office/drawing/2014/main" val="4254429463"/>
                    </a:ext>
                  </a:extLst>
                </a:gridCol>
                <a:gridCol w="2190750">
                  <a:extLst>
                    <a:ext uri="{9D8B030D-6E8A-4147-A177-3AD203B41FA5}">
                      <a16:colId xmlns:a16="http://schemas.microsoft.com/office/drawing/2014/main" val="1922249656"/>
                    </a:ext>
                  </a:extLst>
                </a:gridCol>
                <a:gridCol w="1314450">
                  <a:extLst>
                    <a:ext uri="{9D8B030D-6E8A-4147-A177-3AD203B41FA5}">
                      <a16:colId xmlns:a16="http://schemas.microsoft.com/office/drawing/2014/main" val="2737578026"/>
                    </a:ext>
                  </a:extLst>
                </a:gridCol>
              </a:tblGrid>
              <a:tr h="0">
                <a:tc>
                  <a:txBody>
                    <a:bodyPr/>
                    <a:lstStyle/>
                    <a:p>
                      <a:pPr algn="l">
                        <a:buNone/>
                      </a:pPr>
                      <a:r>
                        <a:rPr lang="zh-CN" altLang="en-US" sz="1600" dirty="0"/>
                        <a:t>编号</a:t>
                      </a:r>
                    </a:p>
                  </a:txBody>
                  <a:tcPr anchor="ctr">
                    <a:lnL>
                      <a:noFill/>
                    </a:lnL>
                    <a:lnR>
                      <a:noFill/>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zh-CN" altLang="en-US" sz="1600" dirty="0"/>
                        <a:t>测试模块</a:t>
                      </a:r>
                    </a:p>
                  </a:txBody>
                  <a:tcPr anchor="ctr">
                    <a:lnL>
                      <a:noFill/>
                    </a:lnL>
                    <a:lnR>
                      <a:noFill/>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zh-CN" altLang="en-US" sz="1600" dirty="0"/>
                        <a:t>测试用例描述</a:t>
                      </a:r>
                    </a:p>
                  </a:txBody>
                  <a:tcPr anchor="ctr">
                    <a:lnL>
                      <a:noFill/>
                    </a:lnL>
                    <a:lnR>
                      <a:noFill/>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zh-CN" altLang="en-US" sz="1600" dirty="0"/>
                        <a:t>预期结果</a:t>
                      </a:r>
                    </a:p>
                  </a:txBody>
                  <a:tcPr anchor="ctr">
                    <a:lnL>
                      <a:noFill/>
                    </a:lnL>
                    <a:lnR>
                      <a:noFill/>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zh-CN" altLang="en-US" sz="1600" dirty="0"/>
                        <a:t>实际结果</a:t>
                      </a:r>
                    </a:p>
                  </a:txBody>
                  <a:tcPr anchor="ctr">
                    <a:lnL>
                      <a:noFill/>
                    </a:lnL>
                    <a:lnR>
                      <a:noFill/>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buNone/>
                      </a:pPr>
                      <a:r>
                        <a:rPr lang="zh-CN" altLang="en-US" sz="1600" dirty="0"/>
                        <a:t>测试结论</a:t>
                      </a:r>
                    </a:p>
                  </a:txBody>
                  <a:tcPr anchor="ctr">
                    <a:lnL>
                      <a:noFill/>
                    </a:lnL>
                    <a:lnR>
                      <a:noFill/>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1254291"/>
                  </a:ext>
                </a:extLst>
              </a:tr>
              <a:tr h="0">
                <a:tc>
                  <a:txBody>
                    <a:bodyPr/>
                    <a:lstStyle/>
                    <a:p>
                      <a:pPr algn="l">
                        <a:buNone/>
                      </a:pPr>
                      <a:r>
                        <a:rPr lang="en-US" sz="1600" dirty="0"/>
                        <a:t>TC_01</a:t>
                      </a:r>
                    </a:p>
                  </a:txBody>
                  <a:tcPr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l">
                        <a:buNone/>
                      </a:pPr>
                      <a:r>
                        <a:rPr lang="zh-CN" altLang="en-US" sz="1600"/>
                        <a:t>用户管理</a:t>
                      </a:r>
                    </a:p>
                  </a:txBody>
                  <a:tcPr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l">
                        <a:buNone/>
                      </a:pPr>
                      <a:r>
                        <a:rPr lang="zh-CN" altLang="en-US" sz="1600" dirty="0"/>
                        <a:t>输入已存在的用户名进行注册</a:t>
                      </a:r>
                    </a:p>
                  </a:txBody>
                  <a:tcPr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l">
                        <a:buNone/>
                      </a:pPr>
                      <a:r>
                        <a:rPr lang="zh-CN" altLang="en-US" sz="1600"/>
                        <a:t>提示“用户已存在”，注册失败</a:t>
                      </a:r>
                    </a:p>
                  </a:txBody>
                  <a:tcPr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l">
                        <a:buNone/>
                      </a:pPr>
                      <a:r>
                        <a:rPr lang="zh-CN" altLang="en-US" sz="1600"/>
                        <a:t>提示“用户已存在”</a:t>
                      </a:r>
                    </a:p>
                  </a:txBody>
                  <a:tcPr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l">
                        <a:buNone/>
                      </a:pPr>
                      <a:r>
                        <a:rPr lang="zh-CN" altLang="en-US" sz="1600"/>
                        <a:t>通过</a:t>
                      </a:r>
                    </a:p>
                  </a:txBody>
                  <a:tcPr anchor="ctr">
                    <a:lnL>
                      <a:noFill/>
                    </a:lnL>
                    <a:lnR>
                      <a:noFill/>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846083696"/>
                  </a:ext>
                </a:extLst>
              </a:tr>
              <a:tr h="0">
                <a:tc>
                  <a:txBody>
                    <a:bodyPr/>
                    <a:lstStyle/>
                    <a:p>
                      <a:pPr algn="l">
                        <a:buNone/>
                      </a:pPr>
                      <a:r>
                        <a:rPr lang="en-US" sz="1600" dirty="0"/>
                        <a:t>TC_02</a:t>
                      </a:r>
                    </a:p>
                  </a:txBody>
                  <a:tcPr anchor="ctr">
                    <a:lnL>
                      <a:noFill/>
                    </a:lnL>
                    <a:lnR>
                      <a:noFill/>
                    </a:lnR>
                    <a:lnT>
                      <a:noFill/>
                    </a:lnT>
                    <a:lnB>
                      <a:noFill/>
                    </a:lnB>
                    <a:noFill/>
                  </a:tcPr>
                </a:tc>
                <a:tc>
                  <a:txBody>
                    <a:bodyPr/>
                    <a:lstStyle/>
                    <a:p>
                      <a:pPr algn="l">
                        <a:buNone/>
                      </a:pPr>
                      <a:r>
                        <a:rPr lang="zh-CN" altLang="en-US" sz="1600"/>
                        <a:t>用户管理</a:t>
                      </a:r>
                    </a:p>
                  </a:txBody>
                  <a:tcPr anchor="ctr">
                    <a:lnL>
                      <a:noFill/>
                    </a:lnL>
                    <a:lnR>
                      <a:noFill/>
                    </a:lnR>
                    <a:lnT>
                      <a:noFill/>
                    </a:lnT>
                    <a:lnB>
                      <a:noFill/>
                    </a:lnB>
                    <a:noFill/>
                  </a:tcPr>
                </a:tc>
                <a:tc>
                  <a:txBody>
                    <a:bodyPr/>
                    <a:lstStyle/>
                    <a:p>
                      <a:pPr algn="l">
                        <a:buNone/>
                      </a:pPr>
                      <a:r>
                        <a:rPr lang="zh-CN" altLang="en-US" sz="1600"/>
                        <a:t>输入正确的用户名密码登录</a:t>
                      </a:r>
                    </a:p>
                  </a:txBody>
                  <a:tcPr anchor="ctr">
                    <a:lnL>
                      <a:noFill/>
                    </a:lnL>
                    <a:lnR>
                      <a:noFill/>
                    </a:lnR>
                    <a:lnT>
                      <a:noFill/>
                    </a:lnT>
                    <a:lnB>
                      <a:noFill/>
                    </a:lnB>
                    <a:noFill/>
                  </a:tcPr>
                </a:tc>
                <a:tc>
                  <a:txBody>
                    <a:bodyPr/>
                    <a:lstStyle/>
                    <a:p>
                      <a:pPr algn="l">
                        <a:buNone/>
                      </a:pPr>
                      <a:r>
                        <a:rPr lang="zh-CN" altLang="en-US" sz="1600"/>
                        <a:t>登录成功，跳转至首页</a:t>
                      </a:r>
                    </a:p>
                  </a:txBody>
                  <a:tcPr anchor="ctr">
                    <a:lnL>
                      <a:noFill/>
                    </a:lnL>
                    <a:lnR>
                      <a:noFill/>
                    </a:lnR>
                    <a:lnT>
                      <a:noFill/>
                    </a:lnT>
                    <a:lnB>
                      <a:noFill/>
                    </a:lnB>
                    <a:noFill/>
                  </a:tcPr>
                </a:tc>
                <a:tc>
                  <a:txBody>
                    <a:bodyPr/>
                    <a:lstStyle/>
                    <a:p>
                      <a:pPr algn="l">
                        <a:buNone/>
                      </a:pPr>
                      <a:r>
                        <a:rPr lang="zh-CN" altLang="en-US" sz="1600"/>
                        <a:t>登录成功，跳转至首页</a:t>
                      </a:r>
                    </a:p>
                  </a:txBody>
                  <a:tcPr anchor="ctr">
                    <a:lnL>
                      <a:noFill/>
                    </a:lnL>
                    <a:lnR>
                      <a:noFill/>
                    </a:lnR>
                    <a:lnT>
                      <a:noFill/>
                    </a:lnT>
                    <a:lnB>
                      <a:noFill/>
                    </a:lnB>
                    <a:noFill/>
                  </a:tcPr>
                </a:tc>
                <a:tc>
                  <a:txBody>
                    <a:bodyPr/>
                    <a:lstStyle/>
                    <a:p>
                      <a:pPr algn="l">
                        <a:buNone/>
                      </a:pPr>
                      <a:r>
                        <a:rPr lang="zh-CN" altLang="en-US" sz="1600"/>
                        <a:t>通过</a:t>
                      </a:r>
                    </a:p>
                  </a:txBody>
                  <a:tcPr anchor="ctr">
                    <a:lnL>
                      <a:noFill/>
                    </a:lnL>
                    <a:lnR>
                      <a:noFill/>
                    </a:lnR>
                    <a:lnT>
                      <a:noFill/>
                    </a:lnT>
                    <a:lnB>
                      <a:noFill/>
                    </a:lnB>
                    <a:noFill/>
                  </a:tcPr>
                </a:tc>
                <a:extLst>
                  <a:ext uri="{0D108BD9-81ED-4DB2-BD59-A6C34878D82A}">
                    <a16:rowId xmlns:a16="http://schemas.microsoft.com/office/drawing/2014/main" val="1724953507"/>
                  </a:ext>
                </a:extLst>
              </a:tr>
              <a:tr h="0">
                <a:tc>
                  <a:txBody>
                    <a:bodyPr/>
                    <a:lstStyle/>
                    <a:p>
                      <a:pPr algn="l">
                        <a:buNone/>
                      </a:pPr>
                      <a:r>
                        <a:rPr lang="en-US" sz="1600" dirty="0"/>
                        <a:t>TC_03</a:t>
                      </a:r>
                    </a:p>
                  </a:txBody>
                  <a:tcPr anchor="ctr">
                    <a:lnL>
                      <a:noFill/>
                    </a:lnL>
                    <a:lnR>
                      <a:noFill/>
                    </a:lnR>
                    <a:lnT>
                      <a:noFill/>
                    </a:lnT>
                    <a:lnB>
                      <a:noFill/>
                    </a:lnB>
                    <a:noFill/>
                  </a:tcPr>
                </a:tc>
                <a:tc>
                  <a:txBody>
                    <a:bodyPr/>
                    <a:lstStyle/>
                    <a:p>
                      <a:pPr algn="l">
                        <a:buNone/>
                      </a:pPr>
                      <a:r>
                        <a:rPr lang="zh-CN" altLang="en-US" sz="1600"/>
                        <a:t>商品管理</a:t>
                      </a:r>
                    </a:p>
                  </a:txBody>
                  <a:tcPr anchor="ctr">
                    <a:lnL>
                      <a:noFill/>
                    </a:lnL>
                    <a:lnR>
                      <a:noFill/>
                    </a:lnR>
                    <a:lnT>
                      <a:noFill/>
                    </a:lnT>
                    <a:lnB>
                      <a:noFill/>
                    </a:lnB>
                    <a:noFill/>
                  </a:tcPr>
                </a:tc>
                <a:tc>
                  <a:txBody>
                    <a:bodyPr/>
                    <a:lstStyle/>
                    <a:p>
                      <a:pPr algn="l">
                        <a:buNone/>
                      </a:pPr>
                      <a:r>
                        <a:rPr lang="zh-CN" altLang="en-US" sz="1600"/>
                        <a:t>管理员添加新商品（名称、价格、库存）</a:t>
                      </a:r>
                    </a:p>
                  </a:txBody>
                  <a:tcPr anchor="ctr">
                    <a:lnL>
                      <a:noFill/>
                    </a:lnL>
                    <a:lnR>
                      <a:noFill/>
                    </a:lnR>
                    <a:lnT>
                      <a:noFill/>
                    </a:lnT>
                    <a:lnB>
                      <a:noFill/>
                    </a:lnB>
                    <a:noFill/>
                  </a:tcPr>
                </a:tc>
                <a:tc>
                  <a:txBody>
                    <a:bodyPr/>
                    <a:lstStyle/>
                    <a:p>
                      <a:pPr algn="l">
                        <a:buNone/>
                      </a:pPr>
                      <a:r>
                        <a:rPr lang="zh-CN" altLang="en-US" sz="1600"/>
                        <a:t>数据库新增记录，前台列表可见</a:t>
                      </a:r>
                    </a:p>
                  </a:txBody>
                  <a:tcPr anchor="ctr">
                    <a:lnL>
                      <a:noFill/>
                    </a:lnL>
                    <a:lnR>
                      <a:noFill/>
                    </a:lnR>
                    <a:lnT>
                      <a:noFill/>
                    </a:lnT>
                    <a:lnB>
                      <a:noFill/>
                    </a:lnB>
                    <a:noFill/>
                  </a:tcPr>
                </a:tc>
                <a:tc>
                  <a:txBody>
                    <a:bodyPr/>
                    <a:lstStyle/>
                    <a:p>
                      <a:pPr algn="l">
                        <a:buNone/>
                      </a:pPr>
                      <a:r>
                        <a:rPr lang="zh-CN" altLang="en-US" sz="1600"/>
                        <a:t>数据库新增记录，前台显示正常</a:t>
                      </a:r>
                    </a:p>
                  </a:txBody>
                  <a:tcPr anchor="ctr">
                    <a:lnL>
                      <a:noFill/>
                    </a:lnL>
                    <a:lnR>
                      <a:noFill/>
                    </a:lnR>
                    <a:lnT>
                      <a:noFill/>
                    </a:lnT>
                    <a:lnB>
                      <a:noFill/>
                    </a:lnB>
                    <a:noFill/>
                  </a:tcPr>
                </a:tc>
                <a:tc>
                  <a:txBody>
                    <a:bodyPr/>
                    <a:lstStyle/>
                    <a:p>
                      <a:pPr algn="l">
                        <a:buNone/>
                      </a:pPr>
                      <a:r>
                        <a:rPr lang="zh-CN" altLang="en-US" sz="1600"/>
                        <a:t>通过</a:t>
                      </a:r>
                    </a:p>
                  </a:txBody>
                  <a:tcPr anchor="ctr">
                    <a:lnL>
                      <a:noFill/>
                    </a:lnL>
                    <a:lnR>
                      <a:noFill/>
                    </a:lnR>
                    <a:lnT>
                      <a:noFill/>
                    </a:lnT>
                    <a:lnB>
                      <a:noFill/>
                    </a:lnB>
                    <a:noFill/>
                  </a:tcPr>
                </a:tc>
                <a:extLst>
                  <a:ext uri="{0D108BD9-81ED-4DB2-BD59-A6C34878D82A}">
                    <a16:rowId xmlns:a16="http://schemas.microsoft.com/office/drawing/2014/main" val="3072556633"/>
                  </a:ext>
                </a:extLst>
              </a:tr>
              <a:tr h="0">
                <a:tc>
                  <a:txBody>
                    <a:bodyPr/>
                    <a:lstStyle/>
                    <a:p>
                      <a:pPr algn="l">
                        <a:buNone/>
                      </a:pPr>
                      <a:r>
                        <a:rPr lang="en-US" sz="1600" dirty="0"/>
                        <a:t>TC_04</a:t>
                      </a:r>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a:t>性能测试</a:t>
                      </a:r>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600"/>
                        <a:t>50</a:t>
                      </a:r>
                      <a:r>
                        <a:rPr lang="zh-CN" altLang="en-US" sz="1600"/>
                        <a:t>用户并发访问首页</a:t>
                      </a:r>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a:t>平均响应时间 </a:t>
                      </a:r>
                      <a:r>
                        <a:rPr lang="en-US" altLang="zh-CN" sz="1600"/>
                        <a:t>&lt; 2s</a:t>
                      </a:r>
                      <a:r>
                        <a:rPr lang="zh-CN" altLang="en-US" sz="1600"/>
                        <a:t>，无报错</a:t>
                      </a:r>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a:t>平均响应时间 </a:t>
                      </a:r>
                      <a:r>
                        <a:rPr lang="en-US" altLang="zh-CN" sz="1600"/>
                        <a:t>0.8s</a:t>
                      </a:r>
                      <a:r>
                        <a:rPr lang="zh-CN" altLang="en-US" sz="1600"/>
                        <a:t>，无报错</a:t>
                      </a:r>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dirty="0"/>
                        <a:t>通过</a:t>
                      </a:r>
                    </a:p>
                  </a:txBody>
                  <a:tcPr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53412476"/>
                  </a:ext>
                </a:extLst>
              </a:tr>
            </a:tbl>
          </a:graphicData>
        </a:graphic>
      </p:graphicFrame>
    </p:spTree>
    <p:extLst>
      <p:ext uri="{BB962C8B-B14F-4D97-AF65-F5344CB8AC3E}">
        <p14:creationId xmlns:p14="http://schemas.microsoft.com/office/powerpoint/2010/main" val="406238978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4D901C-490F-E876-4F16-E51CAF02330D}"/>
              </a:ext>
            </a:extLst>
          </p:cNvPr>
          <p:cNvSpPr>
            <a:spLocks noGrp="1"/>
          </p:cNvSpPr>
          <p:nvPr>
            <p:ph type="title"/>
          </p:nvPr>
        </p:nvSpPr>
        <p:spPr>
          <a:xfrm>
            <a:off x="336000" y="360000"/>
            <a:ext cx="5760000" cy="535531"/>
          </a:xfrm>
        </p:spPr>
        <p:txBody>
          <a:bodyPr/>
          <a:lstStyle/>
          <a:p>
            <a:r>
              <a:rPr lang="zh-CN" altLang="en-US" dirty="0">
                <a:sym typeface="+mn-ea"/>
              </a:rPr>
              <a:t>4.8 软件测试文档</a:t>
            </a:r>
            <a:endParaRPr lang="zh-CN" altLang="en-US" dirty="0"/>
          </a:p>
        </p:txBody>
      </p:sp>
      <p:sp>
        <p:nvSpPr>
          <p:cNvPr id="3" name="文本占位符 2">
            <a:extLst>
              <a:ext uri="{FF2B5EF4-FFF2-40B4-BE49-F238E27FC236}">
                <a16:creationId xmlns:a16="http://schemas.microsoft.com/office/drawing/2014/main" id="{2A7F7DBF-57E0-1445-E612-DD9454C2E321}"/>
              </a:ext>
            </a:extLst>
          </p:cNvPr>
          <p:cNvSpPr>
            <a:spLocks noGrp="1"/>
          </p:cNvSpPr>
          <p:nvPr>
            <p:ph type="body" sz="quarter" idx="10"/>
          </p:nvPr>
        </p:nvSpPr>
        <p:spPr>
          <a:xfrm>
            <a:off x="696000" y="1322832"/>
            <a:ext cx="5400000" cy="400110"/>
          </a:xfrm>
        </p:spPr>
        <p:txBody>
          <a:bodyPr/>
          <a:lstStyle/>
          <a:p>
            <a:r>
              <a:rPr lang="zh-CN" altLang="en-US" dirty="0"/>
              <a:t>例：测试用例 </a:t>
            </a:r>
            <a:r>
              <a:rPr lang="en-US" altLang="zh-CN" dirty="0"/>
              <a:t>-</a:t>
            </a:r>
            <a:r>
              <a:rPr lang="zh-CN" altLang="zh-CN" dirty="0"/>
              <a:t>注册功能测试用例表</a:t>
            </a:r>
            <a:endParaRPr lang="zh-CN" altLang="en-US" dirty="0"/>
          </a:p>
        </p:txBody>
      </p:sp>
      <p:sp>
        <p:nvSpPr>
          <p:cNvPr id="9" name="文本占位符 8">
            <a:extLst>
              <a:ext uri="{FF2B5EF4-FFF2-40B4-BE49-F238E27FC236}">
                <a16:creationId xmlns:a16="http://schemas.microsoft.com/office/drawing/2014/main" id="{DFF909AD-E4A3-9E21-6245-9F4117786584}"/>
              </a:ext>
            </a:extLst>
          </p:cNvPr>
          <p:cNvSpPr>
            <a:spLocks noGrp="1"/>
          </p:cNvSpPr>
          <p:nvPr>
            <p:ph type="body" sz="quarter" idx="11"/>
          </p:nvPr>
        </p:nvSpPr>
        <p:spPr/>
        <p:txBody>
          <a:bodyPr/>
          <a:lstStyle/>
          <a:p>
            <a:endParaRPr lang="zh-CN" altLang="en-US"/>
          </a:p>
        </p:txBody>
      </p:sp>
      <p:graphicFrame>
        <p:nvGraphicFramePr>
          <p:cNvPr id="5" name="表格 4">
            <a:extLst>
              <a:ext uri="{FF2B5EF4-FFF2-40B4-BE49-F238E27FC236}">
                <a16:creationId xmlns:a16="http://schemas.microsoft.com/office/drawing/2014/main" id="{CE9DC231-E9A9-4AF2-2B4D-70BE6931CEF8}"/>
              </a:ext>
            </a:extLst>
          </p:cNvPr>
          <p:cNvGraphicFramePr>
            <a:graphicFrameLocks noGrp="1"/>
          </p:cNvGraphicFramePr>
          <p:nvPr>
            <p:extLst>
              <p:ext uri="{D42A27DB-BD31-4B8C-83A1-F6EECF244321}">
                <p14:modId xmlns:p14="http://schemas.microsoft.com/office/powerpoint/2010/main" val="303908863"/>
              </p:ext>
            </p:extLst>
          </p:nvPr>
        </p:nvGraphicFramePr>
        <p:xfrm>
          <a:off x="1010656" y="2868771"/>
          <a:ext cx="10170687" cy="2186940"/>
        </p:xfrm>
        <a:graphic>
          <a:graphicData uri="http://schemas.openxmlformats.org/drawingml/2006/table">
            <a:tbl>
              <a:tblPr firstRow="1" firstCol="1" bandRow="1">
                <a:tableStyleId>{2D5ABB26-0587-4C30-8999-92F81FD0307C}</a:tableStyleId>
              </a:tblPr>
              <a:tblGrid>
                <a:gridCol w="941969">
                  <a:extLst>
                    <a:ext uri="{9D8B030D-6E8A-4147-A177-3AD203B41FA5}">
                      <a16:colId xmlns:a16="http://schemas.microsoft.com/office/drawing/2014/main" val="2103878877"/>
                    </a:ext>
                  </a:extLst>
                </a:gridCol>
                <a:gridCol w="1478343">
                  <a:extLst>
                    <a:ext uri="{9D8B030D-6E8A-4147-A177-3AD203B41FA5}">
                      <a16:colId xmlns:a16="http://schemas.microsoft.com/office/drawing/2014/main" val="1800894143"/>
                    </a:ext>
                  </a:extLst>
                </a:gridCol>
                <a:gridCol w="2743020">
                  <a:extLst>
                    <a:ext uri="{9D8B030D-6E8A-4147-A177-3AD203B41FA5}">
                      <a16:colId xmlns:a16="http://schemas.microsoft.com/office/drawing/2014/main" val="2825322997"/>
                    </a:ext>
                  </a:extLst>
                </a:gridCol>
                <a:gridCol w="2465132">
                  <a:extLst>
                    <a:ext uri="{9D8B030D-6E8A-4147-A177-3AD203B41FA5}">
                      <a16:colId xmlns:a16="http://schemas.microsoft.com/office/drawing/2014/main" val="1613385800"/>
                    </a:ext>
                  </a:extLst>
                </a:gridCol>
                <a:gridCol w="1409755">
                  <a:extLst>
                    <a:ext uri="{9D8B030D-6E8A-4147-A177-3AD203B41FA5}">
                      <a16:colId xmlns:a16="http://schemas.microsoft.com/office/drawing/2014/main" val="798214032"/>
                    </a:ext>
                  </a:extLst>
                </a:gridCol>
                <a:gridCol w="1132468">
                  <a:extLst>
                    <a:ext uri="{9D8B030D-6E8A-4147-A177-3AD203B41FA5}">
                      <a16:colId xmlns:a16="http://schemas.microsoft.com/office/drawing/2014/main" val="2676258497"/>
                    </a:ext>
                  </a:extLst>
                </a:gridCol>
              </a:tblGrid>
              <a:tr h="0">
                <a:tc>
                  <a:txBody>
                    <a:bodyPr/>
                    <a:lstStyle/>
                    <a:p>
                      <a:pPr algn="l">
                        <a:buNone/>
                      </a:pPr>
                      <a:r>
                        <a:rPr lang="zh-CN" altLang="en-US" sz="1600" dirty="0"/>
                        <a:t>编号</a:t>
                      </a:r>
                    </a:p>
                  </a:txBody>
                  <a:tcPr anchor="ct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a:buNone/>
                      </a:pPr>
                      <a:r>
                        <a:rPr lang="zh-CN" altLang="en-US" sz="1600" dirty="0"/>
                        <a:t>测试项</a:t>
                      </a:r>
                    </a:p>
                  </a:txBody>
                  <a:tcPr marL="76200" marR="76200" marT="38100" marB="19050" anchor="ct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a:buNone/>
                      </a:pPr>
                      <a:r>
                        <a:rPr lang="zh-CN" altLang="en-US" sz="1600" dirty="0"/>
                        <a:t>输入数据</a:t>
                      </a:r>
                    </a:p>
                  </a:txBody>
                  <a:tcPr marL="76200" marR="76200" marT="38100" marB="19050" anchor="ct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a:buNone/>
                      </a:pPr>
                      <a:r>
                        <a:rPr lang="zh-CN" altLang="en-US" sz="1600" dirty="0"/>
                        <a:t>预期结果</a:t>
                      </a:r>
                    </a:p>
                  </a:txBody>
                  <a:tcPr marL="76200" marR="76200" marT="38100" marB="19050" anchor="ct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a:buNone/>
                      </a:pPr>
                      <a:r>
                        <a:rPr lang="zh-CN" altLang="en-US" sz="1600" dirty="0"/>
                        <a:t>实际结果</a:t>
                      </a:r>
                    </a:p>
                  </a:txBody>
                  <a:tcPr marL="76200" marR="76200" marT="38100" marB="19050" anchor="ct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a:buNone/>
                      </a:pPr>
                      <a:r>
                        <a:rPr lang="zh-CN" altLang="en-US" sz="1600" dirty="0"/>
                        <a:t>测试结果</a:t>
                      </a:r>
                    </a:p>
                  </a:txBody>
                  <a:tcPr marL="76200" marR="76200" marT="38100" marB="19050" anchor="ct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802665"/>
                  </a:ext>
                </a:extLst>
              </a:tr>
              <a:tr h="0">
                <a:tc>
                  <a:txBody>
                    <a:bodyPr/>
                    <a:lstStyle/>
                    <a:p>
                      <a:pPr algn="l">
                        <a:buNone/>
                      </a:pPr>
                      <a:r>
                        <a:rPr lang="en-US" sz="1600" dirty="0"/>
                        <a:t>TC_01</a:t>
                      </a:r>
                    </a:p>
                  </a:txBody>
                  <a:tcPr anchor="ctr">
                    <a:lnT w="6350" cap="flat" cmpd="sng" algn="ctr">
                      <a:solidFill>
                        <a:schemeClr val="tx1"/>
                      </a:solidFill>
                      <a:prstDash val="solid"/>
                      <a:round/>
                      <a:headEnd type="none" w="med" len="med"/>
                      <a:tailEnd type="none" w="med" len="med"/>
                    </a:lnT>
                  </a:tcPr>
                </a:tc>
                <a:tc>
                  <a:txBody>
                    <a:bodyPr/>
                    <a:lstStyle/>
                    <a:p>
                      <a:pPr algn="l">
                        <a:buNone/>
                      </a:pPr>
                      <a:r>
                        <a:rPr lang="zh-CN" altLang="en-US" sz="1600"/>
                        <a:t>信息完整注册</a:t>
                      </a:r>
                    </a:p>
                  </a:txBody>
                  <a:tcPr marL="76200" marR="76200" marT="38100" marB="19050" anchor="ctr">
                    <a:lnT w="6350" cap="flat" cmpd="sng" algn="ctr">
                      <a:solidFill>
                        <a:schemeClr val="tx1"/>
                      </a:solidFill>
                      <a:prstDash val="solid"/>
                      <a:round/>
                      <a:headEnd type="none" w="med" len="med"/>
                      <a:tailEnd type="none" w="med" len="med"/>
                    </a:lnT>
                  </a:tcPr>
                </a:tc>
                <a:tc>
                  <a:txBody>
                    <a:bodyPr/>
                    <a:lstStyle/>
                    <a:p>
                      <a:pPr algn="l">
                        <a:buNone/>
                      </a:pPr>
                      <a:r>
                        <a:rPr lang="zh-CN" altLang="en-US" sz="1600"/>
                        <a:t>用户名、手机号、密码合法</a:t>
                      </a:r>
                    </a:p>
                  </a:txBody>
                  <a:tcPr marL="76200" marR="76200" marT="38100" marB="19050" anchor="ctr">
                    <a:lnT w="6350" cap="flat" cmpd="sng" algn="ctr">
                      <a:solidFill>
                        <a:schemeClr val="tx1"/>
                      </a:solidFill>
                      <a:prstDash val="solid"/>
                      <a:round/>
                      <a:headEnd type="none" w="med" len="med"/>
                      <a:tailEnd type="none" w="med" len="med"/>
                    </a:lnT>
                  </a:tcPr>
                </a:tc>
                <a:tc>
                  <a:txBody>
                    <a:bodyPr/>
                    <a:lstStyle/>
                    <a:p>
                      <a:pPr algn="l">
                        <a:buNone/>
                      </a:pPr>
                      <a:r>
                        <a:rPr lang="zh-CN" altLang="en-US" sz="1600"/>
                        <a:t>注册成功，跳转登录</a:t>
                      </a:r>
                    </a:p>
                  </a:txBody>
                  <a:tcPr marL="76200" marR="76200" marT="38100" marB="19050" anchor="ctr">
                    <a:lnT w="6350" cap="flat" cmpd="sng" algn="ctr">
                      <a:solidFill>
                        <a:schemeClr val="tx1"/>
                      </a:solidFill>
                      <a:prstDash val="solid"/>
                      <a:round/>
                      <a:headEnd type="none" w="med" len="med"/>
                      <a:tailEnd type="none" w="med" len="med"/>
                    </a:lnT>
                  </a:tcPr>
                </a:tc>
                <a:tc>
                  <a:txBody>
                    <a:bodyPr/>
                    <a:lstStyle/>
                    <a:p>
                      <a:pPr algn="l">
                        <a:buNone/>
                      </a:pPr>
                      <a:r>
                        <a:rPr lang="zh-CN" altLang="en-US" sz="1600"/>
                        <a:t>与预期一致</a:t>
                      </a:r>
                    </a:p>
                  </a:txBody>
                  <a:tcPr marL="76200" marR="76200" marT="38100" marB="19050" anchor="ctr">
                    <a:lnT w="6350" cap="flat" cmpd="sng" algn="ctr">
                      <a:solidFill>
                        <a:schemeClr val="tx1"/>
                      </a:solidFill>
                      <a:prstDash val="solid"/>
                      <a:round/>
                      <a:headEnd type="none" w="med" len="med"/>
                      <a:tailEnd type="none" w="med" len="med"/>
                    </a:lnT>
                  </a:tcPr>
                </a:tc>
                <a:tc>
                  <a:txBody>
                    <a:bodyPr/>
                    <a:lstStyle/>
                    <a:p>
                      <a:pPr algn="l">
                        <a:buNone/>
                      </a:pPr>
                      <a:r>
                        <a:rPr lang="zh-CN" altLang="en-US" sz="1600"/>
                        <a:t>通过</a:t>
                      </a:r>
                    </a:p>
                  </a:txBody>
                  <a:tcPr marL="76200" marR="76200" marT="38100" marB="19050" anchor="ctr">
                    <a:lnT w="635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54018206"/>
                  </a:ext>
                </a:extLst>
              </a:tr>
              <a:tr h="0">
                <a:tc>
                  <a:txBody>
                    <a:bodyPr/>
                    <a:lstStyle/>
                    <a:p>
                      <a:pPr algn="l">
                        <a:buNone/>
                      </a:pPr>
                      <a:r>
                        <a:rPr lang="en-US" sz="1600" dirty="0"/>
                        <a:t>TC_02</a:t>
                      </a:r>
                    </a:p>
                  </a:txBody>
                  <a:tcPr anchor="ctr"/>
                </a:tc>
                <a:tc>
                  <a:txBody>
                    <a:bodyPr/>
                    <a:lstStyle/>
                    <a:p>
                      <a:pPr algn="l">
                        <a:buNone/>
                      </a:pPr>
                      <a:r>
                        <a:rPr lang="zh-CN" altLang="en-US" sz="1600"/>
                        <a:t>手机号已存在</a:t>
                      </a:r>
                    </a:p>
                  </a:txBody>
                  <a:tcPr marL="76200" marR="76200" marT="38100" marB="19050" anchor="ctr"/>
                </a:tc>
                <a:tc>
                  <a:txBody>
                    <a:bodyPr/>
                    <a:lstStyle/>
                    <a:p>
                      <a:pPr algn="l">
                        <a:buNone/>
                      </a:pPr>
                      <a:r>
                        <a:rPr lang="zh-CN" altLang="en-US" sz="1600"/>
                        <a:t>使用已注册手机号</a:t>
                      </a:r>
                    </a:p>
                  </a:txBody>
                  <a:tcPr marL="76200" marR="76200" marT="38100" marB="19050" anchor="ctr"/>
                </a:tc>
                <a:tc>
                  <a:txBody>
                    <a:bodyPr/>
                    <a:lstStyle/>
                    <a:p>
                      <a:pPr algn="l">
                        <a:buNone/>
                      </a:pPr>
                      <a:r>
                        <a:rPr lang="zh-CN" altLang="en-US" sz="1600"/>
                        <a:t>提示“手机号已被使用”</a:t>
                      </a:r>
                    </a:p>
                  </a:txBody>
                  <a:tcPr marL="76200" marR="76200" marT="38100" marB="19050" anchor="ctr"/>
                </a:tc>
                <a:tc>
                  <a:txBody>
                    <a:bodyPr/>
                    <a:lstStyle/>
                    <a:p>
                      <a:pPr algn="l">
                        <a:buNone/>
                      </a:pPr>
                      <a:r>
                        <a:rPr lang="zh-CN" altLang="en-US" sz="1600"/>
                        <a:t>与预期一致</a:t>
                      </a:r>
                    </a:p>
                  </a:txBody>
                  <a:tcPr marL="76200" marR="76200" marT="38100" marB="19050" anchor="ctr"/>
                </a:tc>
                <a:tc>
                  <a:txBody>
                    <a:bodyPr/>
                    <a:lstStyle/>
                    <a:p>
                      <a:pPr algn="l">
                        <a:buNone/>
                      </a:pPr>
                      <a:r>
                        <a:rPr lang="zh-CN" altLang="en-US" sz="1600"/>
                        <a:t>通过</a:t>
                      </a:r>
                    </a:p>
                  </a:txBody>
                  <a:tcPr marL="76200" marR="76200" marT="38100" marB="19050" anchor="ctr"/>
                </a:tc>
                <a:extLst>
                  <a:ext uri="{0D108BD9-81ED-4DB2-BD59-A6C34878D82A}">
                    <a16:rowId xmlns:a16="http://schemas.microsoft.com/office/drawing/2014/main" val="3114873075"/>
                  </a:ext>
                </a:extLst>
              </a:tr>
              <a:tr h="0">
                <a:tc>
                  <a:txBody>
                    <a:bodyPr/>
                    <a:lstStyle/>
                    <a:p>
                      <a:pPr algn="l">
                        <a:buNone/>
                      </a:pPr>
                      <a:r>
                        <a:rPr lang="en-US" sz="1600" dirty="0"/>
                        <a:t>TC_03</a:t>
                      </a:r>
                    </a:p>
                  </a:txBody>
                  <a:tcPr anchor="ctr"/>
                </a:tc>
                <a:tc>
                  <a:txBody>
                    <a:bodyPr/>
                    <a:lstStyle/>
                    <a:p>
                      <a:pPr algn="l">
                        <a:buNone/>
                      </a:pPr>
                      <a:r>
                        <a:rPr lang="zh-CN" altLang="en-US" sz="1600"/>
                        <a:t>密码长度不足</a:t>
                      </a:r>
                    </a:p>
                  </a:txBody>
                  <a:tcPr marL="76200" marR="76200" marT="38100" marB="19050" anchor="ctr"/>
                </a:tc>
                <a:tc>
                  <a:txBody>
                    <a:bodyPr/>
                    <a:lstStyle/>
                    <a:p>
                      <a:pPr algn="l">
                        <a:buNone/>
                      </a:pPr>
                      <a:r>
                        <a:rPr lang="zh-CN" altLang="en-US" sz="1600"/>
                        <a:t>密码：</a:t>
                      </a:r>
                      <a:r>
                        <a:rPr lang="en-US" sz="1600"/>
                        <a:t>123</a:t>
                      </a:r>
                      <a:endParaRPr lang="zh-CN" altLang="en-US" sz="1600"/>
                    </a:p>
                  </a:txBody>
                  <a:tcPr marL="76200" marR="76200" marT="38100" marB="19050" anchor="ctr"/>
                </a:tc>
                <a:tc>
                  <a:txBody>
                    <a:bodyPr/>
                    <a:lstStyle/>
                    <a:p>
                      <a:pPr algn="l">
                        <a:buNone/>
                      </a:pPr>
                      <a:r>
                        <a:rPr lang="zh-CN" altLang="en-US" sz="1600"/>
                        <a:t>提示“密码长度不合法”</a:t>
                      </a:r>
                    </a:p>
                  </a:txBody>
                  <a:tcPr marL="76200" marR="76200" marT="38100" marB="19050" anchor="ctr"/>
                </a:tc>
                <a:tc>
                  <a:txBody>
                    <a:bodyPr/>
                    <a:lstStyle/>
                    <a:p>
                      <a:pPr algn="l">
                        <a:buNone/>
                      </a:pPr>
                      <a:r>
                        <a:rPr lang="zh-CN" altLang="en-US" sz="1600"/>
                        <a:t>与预期一致</a:t>
                      </a:r>
                    </a:p>
                  </a:txBody>
                  <a:tcPr marL="76200" marR="76200" marT="38100" marB="19050" anchor="ctr"/>
                </a:tc>
                <a:tc>
                  <a:txBody>
                    <a:bodyPr/>
                    <a:lstStyle/>
                    <a:p>
                      <a:pPr algn="l">
                        <a:buNone/>
                      </a:pPr>
                      <a:r>
                        <a:rPr lang="zh-CN" altLang="en-US" sz="1600"/>
                        <a:t>通过</a:t>
                      </a:r>
                    </a:p>
                  </a:txBody>
                  <a:tcPr marL="76200" marR="76200" marT="38100" marB="19050" anchor="ctr"/>
                </a:tc>
                <a:extLst>
                  <a:ext uri="{0D108BD9-81ED-4DB2-BD59-A6C34878D82A}">
                    <a16:rowId xmlns:a16="http://schemas.microsoft.com/office/drawing/2014/main" val="3496513019"/>
                  </a:ext>
                </a:extLst>
              </a:tr>
              <a:tr h="0">
                <a:tc>
                  <a:txBody>
                    <a:bodyPr/>
                    <a:lstStyle/>
                    <a:p>
                      <a:pPr algn="l">
                        <a:buNone/>
                      </a:pPr>
                      <a:r>
                        <a:rPr lang="en-US" sz="1600" dirty="0"/>
                        <a:t>TC_04</a:t>
                      </a:r>
                    </a:p>
                  </a:txBody>
                  <a:tcPr anchor="ctr"/>
                </a:tc>
                <a:tc>
                  <a:txBody>
                    <a:bodyPr/>
                    <a:lstStyle/>
                    <a:p>
                      <a:pPr algn="l">
                        <a:buNone/>
                      </a:pPr>
                      <a:r>
                        <a:rPr lang="zh-CN" altLang="en-US" sz="1600"/>
                        <a:t>手机号格式错误</a:t>
                      </a:r>
                    </a:p>
                  </a:txBody>
                  <a:tcPr marL="76200" marR="76200" marT="38100" marB="19050" anchor="ctr"/>
                </a:tc>
                <a:tc>
                  <a:txBody>
                    <a:bodyPr/>
                    <a:lstStyle/>
                    <a:p>
                      <a:pPr algn="l">
                        <a:buNone/>
                      </a:pPr>
                      <a:r>
                        <a:rPr lang="zh-CN" altLang="en-US" sz="1600"/>
                        <a:t>手机号：</a:t>
                      </a:r>
                      <a:r>
                        <a:rPr lang="en-US" sz="1600"/>
                        <a:t>12345</a:t>
                      </a:r>
                      <a:endParaRPr lang="zh-CN" altLang="en-US" sz="1600"/>
                    </a:p>
                  </a:txBody>
                  <a:tcPr marL="76200" marR="76200" marT="38100" marB="19050" anchor="ctr"/>
                </a:tc>
                <a:tc>
                  <a:txBody>
                    <a:bodyPr/>
                    <a:lstStyle/>
                    <a:p>
                      <a:pPr algn="l">
                        <a:buNone/>
                      </a:pPr>
                      <a:r>
                        <a:rPr lang="zh-CN" altLang="en-US" sz="1600"/>
                        <a:t>提示“手机号格式错误”</a:t>
                      </a:r>
                    </a:p>
                  </a:txBody>
                  <a:tcPr marL="76200" marR="76200" marT="38100" marB="19050" anchor="ctr"/>
                </a:tc>
                <a:tc>
                  <a:txBody>
                    <a:bodyPr/>
                    <a:lstStyle/>
                    <a:p>
                      <a:pPr algn="l">
                        <a:buNone/>
                      </a:pPr>
                      <a:r>
                        <a:rPr lang="zh-CN" altLang="en-US" sz="1600"/>
                        <a:t>与预期一致</a:t>
                      </a:r>
                    </a:p>
                  </a:txBody>
                  <a:tcPr marL="76200" marR="76200" marT="38100" marB="19050" anchor="ctr"/>
                </a:tc>
                <a:tc>
                  <a:txBody>
                    <a:bodyPr/>
                    <a:lstStyle/>
                    <a:p>
                      <a:pPr algn="l">
                        <a:buNone/>
                      </a:pPr>
                      <a:r>
                        <a:rPr lang="zh-CN" altLang="en-US" sz="1600"/>
                        <a:t>通过</a:t>
                      </a:r>
                    </a:p>
                  </a:txBody>
                  <a:tcPr marL="76200" marR="76200" marT="38100" marB="19050" anchor="ctr"/>
                </a:tc>
                <a:extLst>
                  <a:ext uri="{0D108BD9-81ED-4DB2-BD59-A6C34878D82A}">
                    <a16:rowId xmlns:a16="http://schemas.microsoft.com/office/drawing/2014/main" val="2878403312"/>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t>TC_05</a:t>
                      </a:r>
                    </a:p>
                  </a:txBody>
                  <a:tcPr marL="76200" marR="76200" marT="38100" marB="19050" anchor="ctr">
                    <a:lnB w="12700" cap="flat" cmpd="sng" algn="ctr">
                      <a:solidFill>
                        <a:schemeClr val="tx1"/>
                      </a:solidFill>
                      <a:prstDash val="solid"/>
                      <a:round/>
                      <a:headEnd type="none" w="med" len="med"/>
                      <a:tailEnd type="none" w="med" len="med"/>
                    </a:lnB>
                  </a:tcPr>
                </a:tc>
                <a:tc>
                  <a:txBody>
                    <a:bodyPr/>
                    <a:lstStyle/>
                    <a:p>
                      <a:pPr algn="l">
                        <a:buNone/>
                      </a:pPr>
                      <a:r>
                        <a:rPr lang="zh-CN" altLang="en-US" sz="1600"/>
                        <a:t>用户名已存在</a:t>
                      </a:r>
                    </a:p>
                  </a:txBody>
                  <a:tcPr marL="76200" marR="76200" marT="38100" marB="19050" anchor="ctr">
                    <a:lnB w="12700" cap="flat" cmpd="sng" algn="ctr">
                      <a:solidFill>
                        <a:schemeClr val="tx1"/>
                      </a:solidFill>
                      <a:prstDash val="solid"/>
                      <a:round/>
                      <a:headEnd type="none" w="med" len="med"/>
                      <a:tailEnd type="none" w="med" len="med"/>
                    </a:lnB>
                  </a:tcPr>
                </a:tc>
                <a:tc>
                  <a:txBody>
                    <a:bodyPr/>
                    <a:lstStyle/>
                    <a:p>
                      <a:pPr algn="l">
                        <a:buNone/>
                      </a:pPr>
                      <a:r>
                        <a:rPr lang="zh-CN" altLang="en-US" sz="1600"/>
                        <a:t>使用已注册用户名</a:t>
                      </a:r>
                    </a:p>
                  </a:txBody>
                  <a:tcPr marL="76200" marR="76200" marT="38100" marB="19050" anchor="ctr">
                    <a:lnB w="12700" cap="flat" cmpd="sng" algn="ctr">
                      <a:solidFill>
                        <a:schemeClr val="tx1"/>
                      </a:solidFill>
                      <a:prstDash val="solid"/>
                      <a:round/>
                      <a:headEnd type="none" w="med" len="med"/>
                      <a:tailEnd type="none" w="med" len="med"/>
                    </a:lnB>
                  </a:tcPr>
                </a:tc>
                <a:tc>
                  <a:txBody>
                    <a:bodyPr/>
                    <a:lstStyle/>
                    <a:p>
                      <a:pPr algn="l">
                        <a:buNone/>
                      </a:pPr>
                      <a:r>
                        <a:rPr lang="zh-CN" altLang="en-US" sz="1600"/>
                        <a:t>提示“用户名已被占用”</a:t>
                      </a:r>
                    </a:p>
                  </a:txBody>
                  <a:tcPr marL="76200" marR="76200" marT="38100" marB="19050" anchor="ctr">
                    <a:lnB w="12700" cap="flat" cmpd="sng" algn="ctr">
                      <a:solidFill>
                        <a:schemeClr val="tx1"/>
                      </a:solidFill>
                      <a:prstDash val="solid"/>
                      <a:round/>
                      <a:headEnd type="none" w="med" len="med"/>
                      <a:tailEnd type="none" w="med" len="med"/>
                    </a:lnB>
                  </a:tcPr>
                </a:tc>
                <a:tc>
                  <a:txBody>
                    <a:bodyPr/>
                    <a:lstStyle/>
                    <a:p>
                      <a:pPr algn="l">
                        <a:buNone/>
                      </a:pPr>
                      <a:r>
                        <a:rPr lang="zh-CN" altLang="en-US" sz="1600"/>
                        <a:t>与预期一致</a:t>
                      </a:r>
                    </a:p>
                  </a:txBody>
                  <a:tcPr marL="76200" marR="76200" marT="38100" marB="19050" anchor="ctr">
                    <a:lnB w="12700" cap="flat" cmpd="sng" algn="ctr">
                      <a:solidFill>
                        <a:schemeClr val="tx1"/>
                      </a:solidFill>
                      <a:prstDash val="solid"/>
                      <a:round/>
                      <a:headEnd type="none" w="med" len="med"/>
                      <a:tailEnd type="none" w="med" len="med"/>
                    </a:lnB>
                  </a:tcPr>
                </a:tc>
                <a:tc>
                  <a:txBody>
                    <a:bodyPr/>
                    <a:lstStyle/>
                    <a:p>
                      <a:pPr algn="l">
                        <a:buNone/>
                      </a:pPr>
                      <a:r>
                        <a:rPr lang="zh-CN" altLang="en-US" sz="1600" dirty="0"/>
                        <a:t>通过</a:t>
                      </a:r>
                    </a:p>
                  </a:txBody>
                  <a:tcPr marL="76200" marR="76200" marT="38100" marB="1905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3637656"/>
                  </a:ext>
                </a:extLst>
              </a:tr>
            </a:tbl>
          </a:graphicData>
        </a:graphic>
      </p:graphicFrame>
    </p:spTree>
    <p:extLst>
      <p:ext uri="{BB962C8B-B14F-4D97-AF65-F5344CB8AC3E}">
        <p14:creationId xmlns:p14="http://schemas.microsoft.com/office/powerpoint/2010/main" val="132966249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zh-CN" altLang="en-US"/>
              <a:t>本章小结</a:t>
            </a:r>
          </a:p>
        </p:txBody>
      </p:sp>
      <p:sp>
        <p:nvSpPr>
          <p:cNvPr id="4" name="文本占位符 3">
            <a:extLst>
              <a:ext uri="{FF2B5EF4-FFF2-40B4-BE49-F238E27FC236}">
                <a16:creationId xmlns:a16="http://schemas.microsoft.com/office/drawing/2014/main" id="{135BB002-AB38-C701-4FEE-D37815F968F8}"/>
              </a:ext>
            </a:extLst>
          </p:cNvPr>
          <p:cNvSpPr>
            <a:spLocks noGrp="1"/>
          </p:cNvSpPr>
          <p:nvPr>
            <p:ph type="body" sz="quarter" idx="10"/>
          </p:nvPr>
        </p:nvSpPr>
        <p:spPr>
          <a:xfrm>
            <a:off x="696000" y="1322832"/>
            <a:ext cx="5400000" cy="400110"/>
          </a:xfrm>
        </p:spPr>
        <p:txBody>
          <a:bodyPr/>
          <a:lstStyle/>
          <a:p>
            <a:r>
              <a:rPr lang="zh-CN" altLang="en-US" dirty="0"/>
              <a:t>本章小结</a:t>
            </a:r>
          </a:p>
        </p:txBody>
      </p:sp>
      <p:sp>
        <p:nvSpPr>
          <p:cNvPr id="9" name="文本占位符 8">
            <a:extLst>
              <a:ext uri="{FF2B5EF4-FFF2-40B4-BE49-F238E27FC236}">
                <a16:creationId xmlns:a16="http://schemas.microsoft.com/office/drawing/2014/main" id="{B0CA1D27-5549-557E-2549-8F162694E3A0}"/>
              </a:ext>
            </a:extLst>
          </p:cNvPr>
          <p:cNvSpPr>
            <a:spLocks noGrp="1"/>
          </p:cNvSpPr>
          <p:nvPr>
            <p:ph type="body" sz="quarter" idx="11"/>
          </p:nvPr>
        </p:nvSpPr>
        <p:spPr/>
        <p:txBody>
          <a:bodyPr/>
          <a:lstStyle/>
          <a:p>
            <a:endParaRPr lang="zh-CN" altLang="en-US"/>
          </a:p>
        </p:txBody>
      </p:sp>
      <p:sp>
        <p:nvSpPr>
          <p:cNvPr id="100" name="文本框 99"/>
          <p:cNvSpPr txBox="1"/>
          <p:nvPr/>
        </p:nvSpPr>
        <p:spPr>
          <a:xfrm>
            <a:off x="1584961" y="2115820"/>
            <a:ext cx="9601199" cy="3693319"/>
          </a:xfrm>
          <a:prstGeom prst="rect">
            <a:avLst/>
          </a:prstGeom>
          <a:noFill/>
          <a:ln w="9525">
            <a:noFill/>
          </a:ln>
        </p:spPr>
        <p:txBody>
          <a:bodyPr wrap="square">
            <a:spAutoFit/>
          </a:bodyPr>
          <a:lstStyle/>
          <a:p>
            <a:pPr marL="342900" indent="-342900" algn="l" fontAlgn="auto">
              <a:lnSpc>
                <a:spcPct val="130000"/>
              </a:lnSpc>
              <a:buClrTx/>
              <a:buFont typeface="+mj-ea"/>
              <a:buAutoNum type="circleNumDbPlain"/>
            </a:pPr>
            <a:r>
              <a:rPr dirty="0">
                <a:latin typeface="微软雅黑" panose="020B0503020204020204" charset="-122"/>
                <a:ea typeface="微软雅黑" panose="020B0503020204020204" charset="-122"/>
                <a:sym typeface="+mn-ea"/>
              </a:rPr>
              <a:t>在设计应用软件时，</a:t>
            </a:r>
            <a:r>
              <a:rPr dirty="0">
                <a:solidFill>
                  <a:srgbClr val="C00000"/>
                </a:solidFill>
                <a:latin typeface="微软雅黑" panose="020B0503020204020204" charset="-122"/>
                <a:ea typeface="微软雅黑" panose="020B0503020204020204" charset="-122"/>
                <a:sym typeface="+mn-ea"/>
              </a:rPr>
              <a:t>应优先选用高级程序设计语言</a:t>
            </a:r>
            <a:r>
              <a:rPr dirty="0">
                <a:latin typeface="微软雅黑" panose="020B0503020204020204" charset="-122"/>
                <a:ea typeface="微软雅黑" panose="020B0503020204020204" charset="-122"/>
                <a:sym typeface="+mn-ea"/>
              </a:rPr>
              <a:t>，只有3种情况选用汇编语言。</a:t>
            </a:r>
          </a:p>
          <a:p>
            <a:pPr marL="342900" indent="-342900" algn="l" fontAlgn="auto">
              <a:lnSpc>
                <a:spcPct val="130000"/>
              </a:lnSpc>
              <a:buClrTx/>
              <a:buFont typeface="+mj-ea"/>
              <a:buAutoNum type="circleNumDbPlain"/>
            </a:pPr>
            <a:r>
              <a:rPr dirty="0">
                <a:latin typeface="微软雅黑" panose="020B0503020204020204" charset="-122"/>
                <a:ea typeface="微软雅黑" panose="020B0503020204020204" charset="-122"/>
                <a:sym typeface="+mn-ea"/>
              </a:rPr>
              <a:t>结构化程序设计将</a:t>
            </a:r>
            <a:r>
              <a:rPr dirty="0">
                <a:solidFill>
                  <a:srgbClr val="C00000"/>
                </a:solidFill>
                <a:latin typeface="微软雅黑" panose="020B0503020204020204" charset="-122"/>
                <a:ea typeface="微软雅黑" panose="020B0503020204020204" charset="-122"/>
                <a:sym typeface="+mn-ea"/>
              </a:rPr>
              <a:t>顺序、选择和循环3种基本控制结构进行组合和嵌套</a:t>
            </a:r>
            <a:r>
              <a:rPr dirty="0">
                <a:latin typeface="微软雅黑" panose="020B0503020204020204" charset="-122"/>
                <a:ea typeface="微软雅黑" panose="020B0503020204020204" charset="-122"/>
                <a:sym typeface="+mn-ea"/>
              </a:rPr>
              <a:t>，以容易理解的形式和避免使用GOTO语句等原则，进行程序设计。</a:t>
            </a:r>
          </a:p>
          <a:p>
            <a:pPr marL="342900" indent="-342900" algn="l" fontAlgn="auto">
              <a:lnSpc>
                <a:spcPct val="130000"/>
              </a:lnSpc>
              <a:buClrTx/>
              <a:buFont typeface="+mj-ea"/>
              <a:buAutoNum type="circleNumDbPlain"/>
            </a:pPr>
            <a:r>
              <a:rPr dirty="0">
                <a:latin typeface="微软雅黑" panose="020B0503020204020204" charset="-122"/>
                <a:ea typeface="微软雅黑" panose="020B0503020204020204" charset="-122"/>
                <a:sym typeface="+mn-ea"/>
              </a:rPr>
              <a:t>结构化程序设计使软件</a:t>
            </a:r>
            <a:r>
              <a:rPr dirty="0">
                <a:solidFill>
                  <a:srgbClr val="C00000"/>
                </a:solidFill>
                <a:latin typeface="微软雅黑" panose="020B0503020204020204" charset="-122"/>
                <a:ea typeface="微软雅黑" panose="020B0503020204020204" charset="-122"/>
                <a:sym typeface="+mn-ea"/>
              </a:rPr>
              <a:t>易于理解，易于修改，便于重复使用</a:t>
            </a:r>
            <a:r>
              <a:rPr dirty="0">
                <a:latin typeface="微软雅黑" panose="020B0503020204020204" charset="-122"/>
                <a:ea typeface="微软雅黑" panose="020B0503020204020204" charset="-122"/>
                <a:sym typeface="+mn-ea"/>
              </a:rPr>
              <a:t>。</a:t>
            </a:r>
          </a:p>
          <a:p>
            <a:pPr marL="342900" indent="-342900" algn="l" fontAlgn="auto">
              <a:lnSpc>
                <a:spcPct val="130000"/>
              </a:lnSpc>
              <a:buClrTx/>
              <a:buFont typeface="+mj-ea"/>
              <a:buAutoNum type="circleNumDbPlain"/>
            </a:pPr>
            <a:r>
              <a:rPr dirty="0">
                <a:latin typeface="微软雅黑" panose="020B0503020204020204" charset="-122"/>
                <a:ea typeface="微软雅黑" panose="020B0503020204020204" charset="-122"/>
                <a:sym typeface="+mn-ea"/>
              </a:rPr>
              <a:t>软件设计风格直接影响</a:t>
            </a:r>
            <a:r>
              <a:rPr dirty="0">
                <a:solidFill>
                  <a:srgbClr val="C00000"/>
                </a:solidFill>
                <a:latin typeface="微软雅黑" panose="020B0503020204020204" charset="-122"/>
                <a:ea typeface="微软雅黑" panose="020B0503020204020204" charset="-122"/>
                <a:sym typeface="+mn-ea"/>
              </a:rPr>
              <a:t>软件的质量</a:t>
            </a:r>
            <a:r>
              <a:rPr dirty="0">
                <a:latin typeface="微软雅黑" panose="020B0503020204020204" charset="-122"/>
                <a:ea typeface="微软雅黑" panose="020B0503020204020204" charset="-122"/>
                <a:sym typeface="+mn-ea"/>
              </a:rPr>
              <a:t>，影响</a:t>
            </a:r>
            <a:r>
              <a:rPr dirty="0">
                <a:solidFill>
                  <a:srgbClr val="C00000"/>
                </a:solidFill>
                <a:latin typeface="微软雅黑" panose="020B0503020204020204" charset="-122"/>
                <a:ea typeface="微软雅黑" panose="020B0503020204020204" charset="-122"/>
                <a:sym typeface="+mn-ea"/>
              </a:rPr>
              <a:t>软件的可维护性和可移植性。</a:t>
            </a:r>
          </a:p>
          <a:p>
            <a:pPr marL="342900" indent="-342900" algn="l" fontAlgn="auto">
              <a:lnSpc>
                <a:spcPct val="130000"/>
              </a:lnSpc>
              <a:buClrTx/>
              <a:buFont typeface="+mj-ea"/>
              <a:buAutoNum type="circleNumDbPlain"/>
            </a:pPr>
            <a:r>
              <a:rPr dirty="0">
                <a:latin typeface="微软雅黑" panose="020B0503020204020204" charset="-122"/>
                <a:ea typeface="微软雅黑" panose="020B0503020204020204" charset="-122"/>
                <a:sym typeface="+mn-ea"/>
              </a:rPr>
              <a:t>软件编码阶段应对源程序进行</a:t>
            </a:r>
            <a:r>
              <a:rPr dirty="0">
                <a:solidFill>
                  <a:srgbClr val="C00000"/>
                </a:solidFill>
                <a:latin typeface="微软雅黑" panose="020B0503020204020204" charset="-122"/>
                <a:ea typeface="微软雅黑" panose="020B0503020204020204" charset="-122"/>
                <a:sym typeface="+mn-ea"/>
              </a:rPr>
              <a:t>静态分析和模块测试</a:t>
            </a:r>
            <a:r>
              <a:rPr dirty="0">
                <a:latin typeface="微软雅黑" panose="020B0503020204020204" charset="-122"/>
                <a:ea typeface="微软雅黑" panose="020B0503020204020204" charset="-122"/>
                <a:sym typeface="+mn-ea"/>
              </a:rPr>
              <a:t>，以保证程序的正确性。</a:t>
            </a:r>
          </a:p>
          <a:p>
            <a:pPr marL="342900" indent="-342900" algn="l" fontAlgn="auto">
              <a:lnSpc>
                <a:spcPct val="130000"/>
              </a:lnSpc>
              <a:buClrTx/>
              <a:buFont typeface="+mj-ea"/>
              <a:buAutoNum type="circleNumDbPlain"/>
            </a:pPr>
            <a:r>
              <a:rPr dirty="0">
                <a:solidFill>
                  <a:srgbClr val="C00000"/>
                </a:solidFill>
                <a:latin typeface="微软雅黑" panose="020B0503020204020204" charset="-122"/>
                <a:ea typeface="微软雅黑" panose="020B0503020204020204" charset="-122"/>
                <a:sym typeface="+mn-ea"/>
              </a:rPr>
              <a:t>软件测试</a:t>
            </a:r>
            <a:r>
              <a:rPr dirty="0">
                <a:latin typeface="微软雅黑" panose="020B0503020204020204" charset="-122"/>
                <a:ea typeface="微软雅黑" panose="020B0503020204020204" charset="-122"/>
                <a:sym typeface="+mn-ea"/>
              </a:rPr>
              <a:t>是由人工或计算机来执行或评价系统的过程，以验证它是否满足规定的需求。</a:t>
            </a:r>
          </a:p>
          <a:p>
            <a:pPr marL="342900" indent="-342900" algn="l" fontAlgn="auto">
              <a:lnSpc>
                <a:spcPct val="130000"/>
              </a:lnSpc>
              <a:buClrTx/>
              <a:buFont typeface="+mj-ea"/>
              <a:buAutoNum type="circleNumDbPlain"/>
            </a:pPr>
            <a:r>
              <a:rPr dirty="0">
                <a:latin typeface="微软雅黑" panose="020B0503020204020204" charset="-122"/>
                <a:ea typeface="微软雅黑" panose="020B0503020204020204" charset="-122"/>
                <a:sym typeface="+mn-ea"/>
              </a:rPr>
              <a:t>测试的</a:t>
            </a:r>
            <a:r>
              <a:rPr dirty="0">
                <a:solidFill>
                  <a:srgbClr val="C00000"/>
                </a:solidFill>
                <a:latin typeface="微软雅黑" panose="020B0503020204020204" charset="-122"/>
                <a:ea typeface="微软雅黑" panose="020B0503020204020204" charset="-122"/>
                <a:sym typeface="+mn-ea"/>
              </a:rPr>
              <a:t>根本任务是发现软件中的错误</a:t>
            </a:r>
            <a:r>
              <a:rPr dirty="0">
                <a:latin typeface="微软雅黑" panose="020B0503020204020204" charset="-122"/>
                <a:ea typeface="微软雅黑" panose="020B0503020204020204" charset="-122"/>
                <a:sym typeface="+mn-ea"/>
              </a:rPr>
              <a:t>。测试过程的早期使用</a:t>
            </a:r>
            <a:r>
              <a:rPr b="1" dirty="0">
                <a:solidFill>
                  <a:schemeClr val="accent5">
                    <a:lumMod val="50000"/>
                  </a:schemeClr>
                </a:solidFill>
                <a:latin typeface="微软雅黑" panose="020B0503020204020204" charset="-122"/>
                <a:ea typeface="微软雅黑" panose="020B0503020204020204" charset="-122"/>
                <a:sym typeface="+mn-ea"/>
              </a:rPr>
              <a:t>白盒法</a:t>
            </a:r>
            <a:r>
              <a:rPr dirty="0">
                <a:latin typeface="微软雅黑" panose="020B0503020204020204" charset="-122"/>
                <a:ea typeface="微软雅黑" panose="020B0503020204020204" charset="-122"/>
                <a:sym typeface="+mn-ea"/>
              </a:rPr>
              <a:t>，后期使用</a:t>
            </a:r>
            <a:r>
              <a:rPr b="1" dirty="0">
                <a:solidFill>
                  <a:schemeClr val="accent5">
                    <a:lumMod val="50000"/>
                  </a:schemeClr>
                </a:solidFill>
                <a:latin typeface="微软雅黑" panose="020B0503020204020204" charset="-122"/>
                <a:ea typeface="微软雅黑" panose="020B0503020204020204" charset="-122"/>
                <a:sym typeface="+mn-ea"/>
              </a:rPr>
              <a:t>黑盒法</a:t>
            </a:r>
            <a:r>
              <a:rPr dirty="0">
                <a:latin typeface="微软雅黑" panose="020B0503020204020204" charset="-122"/>
                <a:ea typeface="微软雅黑" panose="020B0503020204020204" charset="-122"/>
                <a:sym typeface="+mn-ea"/>
              </a:rPr>
              <a:t>。</a:t>
            </a:r>
          </a:p>
          <a:p>
            <a:pPr marL="342900" indent="-342900" algn="l" fontAlgn="auto">
              <a:lnSpc>
                <a:spcPct val="130000"/>
              </a:lnSpc>
              <a:buClrTx/>
              <a:buFont typeface="+mj-ea"/>
              <a:buAutoNum type="circleNumDbPlain"/>
            </a:pPr>
            <a:r>
              <a:rPr dirty="0">
                <a:latin typeface="微软雅黑" panose="020B0503020204020204" charset="-122"/>
                <a:ea typeface="微软雅黑" panose="020B0503020204020204" charset="-122"/>
                <a:sym typeface="+mn-ea"/>
              </a:rPr>
              <a:t>设计测试方案的</a:t>
            </a:r>
            <a:r>
              <a:rPr dirty="0">
                <a:solidFill>
                  <a:srgbClr val="C00000"/>
                </a:solidFill>
                <a:latin typeface="微软雅黑" panose="020B0503020204020204" charset="-122"/>
                <a:ea typeface="微软雅黑" panose="020B0503020204020204" charset="-122"/>
                <a:sym typeface="+mn-ea"/>
              </a:rPr>
              <a:t>基本目标</a:t>
            </a:r>
            <a:r>
              <a:rPr dirty="0">
                <a:latin typeface="微软雅黑" panose="020B0503020204020204" charset="-122"/>
                <a:ea typeface="微软雅黑" panose="020B0503020204020204" charset="-122"/>
                <a:sym typeface="+mn-ea"/>
              </a:rPr>
              <a:t>是选用尽可能少的高效测试数据，从而尽可能多地发现软件中的错误。</a:t>
            </a:r>
          </a:p>
        </p:txBody>
      </p:sp>
    </p:spTree>
  </p:cSld>
  <p:clrMapOvr>
    <a:masterClrMapping/>
  </p:clrMapOvr>
  <p:transition>
    <p:randomBar dir="vert"/>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36000" y="360000"/>
            <a:ext cx="5760000" cy="535531"/>
          </a:xfrm>
        </p:spPr>
        <p:txBody>
          <a:bodyPr/>
          <a:lstStyle/>
          <a:p>
            <a:r>
              <a:rPr lang="zh-CN" altLang="en-US"/>
              <a:t>本章小结</a:t>
            </a:r>
          </a:p>
        </p:txBody>
      </p:sp>
      <p:sp>
        <p:nvSpPr>
          <p:cNvPr id="4" name="文本占位符 3">
            <a:extLst>
              <a:ext uri="{FF2B5EF4-FFF2-40B4-BE49-F238E27FC236}">
                <a16:creationId xmlns:a16="http://schemas.microsoft.com/office/drawing/2014/main" id="{4BF47E2B-7777-E7A7-8107-60B40D30AF36}"/>
              </a:ext>
            </a:extLst>
          </p:cNvPr>
          <p:cNvSpPr>
            <a:spLocks noGrp="1"/>
          </p:cNvSpPr>
          <p:nvPr>
            <p:ph type="body" sz="quarter" idx="10"/>
          </p:nvPr>
        </p:nvSpPr>
        <p:spPr>
          <a:xfrm>
            <a:off x="696000" y="1322832"/>
            <a:ext cx="5400000" cy="400110"/>
          </a:xfrm>
        </p:spPr>
        <p:txBody>
          <a:bodyPr/>
          <a:lstStyle/>
          <a:p>
            <a:r>
              <a:rPr lang="zh-CN" altLang="en-US" dirty="0"/>
              <a:t>本章小结</a:t>
            </a:r>
          </a:p>
        </p:txBody>
      </p:sp>
      <p:sp>
        <p:nvSpPr>
          <p:cNvPr id="9" name="文本占位符 8">
            <a:extLst>
              <a:ext uri="{FF2B5EF4-FFF2-40B4-BE49-F238E27FC236}">
                <a16:creationId xmlns:a16="http://schemas.microsoft.com/office/drawing/2014/main" id="{370CBECA-5039-BD26-D3F4-2471C38C84ED}"/>
              </a:ext>
            </a:extLst>
          </p:cNvPr>
          <p:cNvSpPr>
            <a:spLocks noGrp="1"/>
          </p:cNvSpPr>
          <p:nvPr>
            <p:ph type="body" sz="quarter" idx="11"/>
          </p:nvPr>
        </p:nvSpPr>
        <p:spPr/>
        <p:txBody>
          <a:bodyPr/>
          <a:lstStyle/>
          <a:p>
            <a:endParaRPr lang="zh-CN" altLang="en-US"/>
          </a:p>
        </p:txBody>
      </p:sp>
      <p:sp>
        <p:nvSpPr>
          <p:cNvPr id="100" name="文本框 99"/>
          <p:cNvSpPr txBox="1"/>
          <p:nvPr/>
        </p:nvSpPr>
        <p:spPr>
          <a:xfrm>
            <a:off x="1579245" y="2131060"/>
            <a:ext cx="9691370" cy="3653790"/>
          </a:xfrm>
          <a:prstGeom prst="rect">
            <a:avLst/>
          </a:prstGeom>
          <a:noFill/>
          <a:ln w="9525">
            <a:noFill/>
          </a:ln>
        </p:spPr>
        <p:txBody>
          <a:bodyPr wrap="square">
            <a:spAutoFit/>
          </a:bodyPr>
          <a:lstStyle/>
          <a:p>
            <a:pPr marL="285750" indent="-285750" algn="l" fontAlgn="auto">
              <a:lnSpc>
                <a:spcPct val="130000"/>
              </a:lnSpc>
              <a:buClrTx/>
              <a:buFont typeface="Wingdings" panose="05000000000000000000" charset="0"/>
              <a:buChar char="Ø"/>
            </a:pPr>
            <a:r>
              <a:rPr dirty="0">
                <a:latin typeface="微软雅黑" panose="020B0503020204020204" charset="-122"/>
                <a:ea typeface="微软雅黑" panose="020B0503020204020204" charset="-122"/>
                <a:sym typeface="+mn-ea"/>
              </a:rPr>
              <a:t>使用</a:t>
            </a:r>
            <a:r>
              <a:rPr dirty="0">
                <a:solidFill>
                  <a:srgbClr val="C00000"/>
                </a:solidFill>
                <a:latin typeface="微软雅黑" panose="020B0503020204020204" charset="-122"/>
                <a:ea typeface="微软雅黑" panose="020B0503020204020204" charset="-122"/>
                <a:sym typeface="+mn-ea"/>
              </a:rPr>
              <a:t>边界值分析方法</a:t>
            </a:r>
            <a:r>
              <a:rPr dirty="0">
                <a:latin typeface="微软雅黑" panose="020B0503020204020204" charset="-122"/>
                <a:ea typeface="微软雅黑" panose="020B0503020204020204" charset="-122"/>
                <a:sym typeface="+mn-ea"/>
              </a:rPr>
              <a:t>，既测试输入数据的边界情况又检查输出数据的边界情况。</a:t>
            </a:r>
          </a:p>
          <a:p>
            <a:pPr marL="285750" indent="-285750" algn="l" fontAlgn="auto">
              <a:lnSpc>
                <a:spcPct val="130000"/>
              </a:lnSpc>
              <a:buClrTx/>
              <a:buFont typeface="Wingdings" panose="05000000000000000000" charset="0"/>
              <a:buChar char="Ø"/>
            </a:pPr>
            <a:r>
              <a:rPr dirty="0">
                <a:latin typeface="微软雅黑" panose="020B0503020204020204" charset="-122"/>
                <a:ea typeface="微软雅黑" panose="020B0503020204020204" charset="-122"/>
                <a:sym typeface="+mn-ea"/>
              </a:rPr>
              <a:t>用</a:t>
            </a:r>
            <a:r>
              <a:rPr dirty="0">
                <a:solidFill>
                  <a:srgbClr val="C00000"/>
                </a:solidFill>
                <a:latin typeface="微软雅黑" panose="020B0503020204020204" charset="-122"/>
                <a:ea typeface="微软雅黑" panose="020B0503020204020204" charset="-122"/>
                <a:sym typeface="+mn-ea"/>
              </a:rPr>
              <a:t>等价类划分法</a:t>
            </a:r>
            <a:r>
              <a:rPr dirty="0">
                <a:latin typeface="微软雅黑" panose="020B0503020204020204" charset="-122"/>
                <a:ea typeface="微软雅黑" panose="020B0503020204020204" charset="-122"/>
                <a:sym typeface="+mn-ea"/>
              </a:rPr>
              <a:t>补充测试方案。</a:t>
            </a:r>
          </a:p>
          <a:p>
            <a:pPr marL="285750" indent="-285750" algn="l" fontAlgn="auto">
              <a:lnSpc>
                <a:spcPct val="130000"/>
              </a:lnSpc>
              <a:buClrTx/>
              <a:buFont typeface="Wingdings" panose="05000000000000000000" charset="0"/>
              <a:buChar char="Ø"/>
            </a:pPr>
            <a:r>
              <a:rPr dirty="0">
                <a:latin typeface="微软雅黑" panose="020B0503020204020204" charset="-122"/>
                <a:ea typeface="微软雅黑" panose="020B0503020204020204" charset="-122"/>
                <a:sym typeface="+mn-ea"/>
              </a:rPr>
              <a:t>必要时用</a:t>
            </a:r>
            <a:r>
              <a:rPr dirty="0">
                <a:solidFill>
                  <a:srgbClr val="C00000"/>
                </a:solidFill>
                <a:latin typeface="微软雅黑" panose="020B0503020204020204" charset="-122"/>
                <a:ea typeface="微软雅黑" panose="020B0503020204020204" charset="-122"/>
                <a:sym typeface="+mn-ea"/>
              </a:rPr>
              <a:t>错误推断法</a:t>
            </a:r>
            <a:r>
              <a:rPr dirty="0">
                <a:latin typeface="微软雅黑" panose="020B0503020204020204" charset="-122"/>
                <a:ea typeface="微软雅黑" panose="020B0503020204020204" charset="-122"/>
                <a:sym typeface="+mn-ea"/>
              </a:rPr>
              <a:t>补充测试方案。</a:t>
            </a:r>
          </a:p>
          <a:p>
            <a:pPr marL="285750" indent="-285750" algn="l" fontAlgn="auto">
              <a:lnSpc>
                <a:spcPct val="130000"/>
              </a:lnSpc>
              <a:buClrTx/>
              <a:buFont typeface="Wingdings" panose="05000000000000000000" charset="0"/>
              <a:buChar char="Ø"/>
            </a:pPr>
            <a:r>
              <a:rPr dirty="0">
                <a:latin typeface="微软雅黑" panose="020B0503020204020204" charset="-122"/>
                <a:ea typeface="微软雅黑" panose="020B0503020204020204" charset="-122"/>
                <a:sym typeface="+mn-ea"/>
              </a:rPr>
              <a:t>用</a:t>
            </a:r>
            <a:r>
              <a:rPr dirty="0">
                <a:solidFill>
                  <a:srgbClr val="C00000"/>
                </a:solidFill>
                <a:latin typeface="微软雅黑" panose="020B0503020204020204" charset="-122"/>
                <a:ea typeface="微软雅黑" panose="020B0503020204020204" charset="-122"/>
                <a:sym typeface="+mn-ea"/>
              </a:rPr>
              <a:t>逻辑覆盖法</a:t>
            </a:r>
            <a:r>
              <a:rPr dirty="0">
                <a:latin typeface="微软雅黑" panose="020B0503020204020204" charset="-122"/>
                <a:ea typeface="微软雅黑" panose="020B0503020204020204" charset="-122"/>
                <a:sym typeface="+mn-ea"/>
              </a:rPr>
              <a:t>检查现有测试方案，若没有达到逻辑覆盖标准，应再补充一些测试方案。</a:t>
            </a:r>
          </a:p>
          <a:p>
            <a:pPr marL="342900" indent="-342900" algn="l" fontAlgn="auto">
              <a:lnSpc>
                <a:spcPct val="130000"/>
              </a:lnSpc>
              <a:buClrTx/>
              <a:buFont typeface="+mj-ea"/>
              <a:buAutoNum type="circleNumDbPlain" startAt="9"/>
            </a:pPr>
            <a:r>
              <a:rPr dirty="0">
                <a:solidFill>
                  <a:srgbClr val="C00000"/>
                </a:solidFill>
                <a:latin typeface="微软雅黑" panose="020B0503020204020204" charset="-122"/>
                <a:ea typeface="微软雅黑" panose="020B0503020204020204" charset="-122"/>
                <a:sym typeface="+mn-ea"/>
              </a:rPr>
              <a:t>软件调试是查找、分析和纠正程序中错误的过程。</a:t>
            </a:r>
            <a:r>
              <a:rPr dirty="0">
                <a:latin typeface="微软雅黑" panose="020B0503020204020204" charset="-122"/>
                <a:ea typeface="微软雅黑" panose="020B0503020204020204" charset="-122"/>
                <a:sym typeface="+mn-ea"/>
              </a:rPr>
              <a:t>调试不仅修改软件产品，还应改进软件过程，避免今后程序中可能出现的错误。</a:t>
            </a:r>
          </a:p>
          <a:p>
            <a:pPr marL="342900" indent="-342900" algn="l" fontAlgn="auto">
              <a:lnSpc>
                <a:spcPct val="130000"/>
              </a:lnSpc>
              <a:buClrTx/>
              <a:buFont typeface="+mj-ea"/>
              <a:buAutoNum type="circleNumDbPlain" startAt="9"/>
            </a:pPr>
            <a:r>
              <a:rPr dirty="0">
                <a:solidFill>
                  <a:srgbClr val="C00000"/>
                </a:solidFill>
                <a:latin typeface="微软雅黑" panose="020B0503020204020204" charset="-122"/>
                <a:ea typeface="微软雅黑" panose="020B0503020204020204" charset="-122"/>
                <a:sym typeface="+mn-ea"/>
              </a:rPr>
              <a:t>软件测试和软件调试常常交替进行。</a:t>
            </a:r>
          </a:p>
          <a:p>
            <a:pPr marL="342900" indent="-342900" algn="l" fontAlgn="auto">
              <a:lnSpc>
                <a:spcPct val="130000"/>
              </a:lnSpc>
              <a:buClrTx/>
              <a:buFont typeface="+mj-ea"/>
              <a:buAutoNum type="circleNumDbPlain" startAt="9"/>
            </a:pPr>
            <a:r>
              <a:rPr dirty="0">
                <a:solidFill>
                  <a:srgbClr val="C00000"/>
                </a:solidFill>
                <a:latin typeface="微软雅黑" panose="020B0503020204020204" charset="-122"/>
                <a:ea typeface="微软雅黑" panose="020B0503020204020204" charset="-122"/>
                <a:sym typeface="+mn-ea"/>
              </a:rPr>
              <a:t>软件确认</a:t>
            </a:r>
            <a:r>
              <a:rPr dirty="0">
                <a:latin typeface="微软雅黑" panose="020B0503020204020204" charset="-122"/>
                <a:ea typeface="微软雅黑" panose="020B0503020204020204" charset="-122"/>
                <a:sym typeface="+mn-ea"/>
              </a:rPr>
              <a:t>是指在软件开发过程结束时，对所开发的软件进行评价，以确定它是否和软件需求相一致的过程。</a:t>
            </a:r>
          </a:p>
          <a:p>
            <a:pPr marL="0" indent="0" algn="l" fontAlgn="auto">
              <a:lnSpc>
                <a:spcPct val="130000"/>
              </a:lnSpc>
            </a:pPr>
            <a:endParaRPr dirty="0">
              <a:latin typeface="微软雅黑" panose="020B0503020204020204" charset="-122"/>
              <a:ea typeface="微软雅黑" panose="020B0503020204020204" charset="-122"/>
              <a:sym typeface="+mn-ea"/>
            </a:endParaRPr>
          </a:p>
        </p:txBody>
      </p:sp>
    </p:spTree>
  </p:cSld>
  <p:clrMapOvr>
    <a:masterClrMapping/>
  </p:clrMapOvr>
  <p:transition>
    <p:randomBar dir="vert"/>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randomBar dir="vert"/>
  </p:transition>
</p:sld>
</file>

<file path=ppt/tags/tag1.xml><?xml version="1.0" encoding="utf-8"?>
<p:tagLst xmlns:a="http://schemas.openxmlformats.org/drawingml/2006/main" xmlns:r="http://schemas.openxmlformats.org/officeDocument/2006/relationships" xmlns:p="http://schemas.openxmlformats.org/presentationml/2006/main">
  <p:tag name="MH" val="20150911154116"/>
  <p:tag name="MH_LIBRARY" val="GRAPHIC"/>
  <p:tag name="MH_ORDER" val="矩形 2"/>
</p:tagLst>
</file>

<file path=ppt/tags/tag2.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TextBox 2"/>
</p:tagLst>
</file>

<file path=ppt/tags/tag3.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TextBox 3"/>
</p:tagLst>
</file>

<file path=ppt/tags/tag4.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TextBox 4"/>
</p:tagLst>
</file>

<file path=ppt/tags/tag5.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6"/>
</p:tagLst>
</file>

<file path=ppt/tags/tag6.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7"/>
</p:tagLst>
</file>

<file path=ppt/tags/tag7.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8"/>
</p:tagLst>
</file>

<file path=ppt/tags/tag8.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9"/>
</p:tagLst>
</file>

<file path=ppt/tags/tag9.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10"/>
</p:tagLst>
</file>

<file path=ppt/tags/tag10.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11"/>
</p:tagLst>
</file>

<file path=ppt/tags/tag11.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12"/>
</p:tagLst>
</file>

<file path=ppt/tags/tag12.xml><?xml version="1.0" encoding="utf-8"?>
<p:tagLst xmlns:a="http://schemas.openxmlformats.org/drawingml/2006/main" xmlns:r="http://schemas.openxmlformats.org/officeDocument/2006/relationships" xmlns:p="http://schemas.openxmlformats.org/presentationml/2006/main">
  <p:tag name="MH_TYPE" val="#NeiR#"/>
  <p:tag name="MH_NUMBER" val="1"/>
  <p:tag name="MH_CATEGORY" val="#TuWHP#"/>
  <p:tag name="MH_LAYOUT" val="SubTitleText"/>
  <p:tag name="MH" val="20161213152808"/>
  <p:tag name="MH_LIBRARY" val="GRAPHIC"/>
</p:tagLst>
</file>

<file path=ppt/tags/tag13.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Picture"/>
  <p:tag name="MH_ORDER" val="1"/>
</p:tagLst>
</file>

<file path=ppt/tags/tag14.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Text"/>
  <p:tag name="MH_ORDER" val="1"/>
</p:tagLst>
</file>

<file path=ppt/tags/tag15.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Other"/>
  <p:tag name="MH_ORDER" val="2"/>
</p:tagLst>
</file>

<file path=ppt/tags/tag16.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Other"/>
  <p:tag name="MH_ORDER" val="3"/>
</p:tagLst>
</file>

<file path=ppt/tags/tag17.xml><?xml version="1.0" encoding="utf-8"?>
<p:tagLst xmlns:a="http://schemas.openxmlformats.org/drawingml/2006/main" xmlns:r="http://schemas.openxmlformats.org/officeDocument/2006/relationships" xmlns:p="http://schemas.openxmlformats.org/presentationml/2006/main">
  <p:tag name="MH" val="20161213153337"/>
  <p:tag name="MH_LIBRARY" val="GRAPHIC"/>
</p:tagLst>
</file>

<file path=ppt/tags/tag18.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19.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Text Box 20"/>
</p:tagLst>
</file>

<file path=ppt/tags/tag20.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文本框 20"/>
</p:tagLst>
</file>

<file path=ppt/tags/tag21.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直接连接符 22"/>
</p:tagLst>
</file>

<file path=ppt/tags/tag22.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直接连接符 24"/>
</p:tagLst>
</file>

<file path=ppt/tags/tag23.xml><?xml version="1.0" encoding="utf-8"?>
<p:tagLst xmlns:a="http://schemas.openxmlformats.org/drawingml/2006/main" xmlns:r="http://schemas.openxmlformats.org/officeDocument/2006/relationships" xmlns:p="http://schemas.openxmlformats.org/presentationml/2006/main">
  <p:tag name="MH" val="20161213153337"/>
  <p:tag name="MH_LIBRARY" val="GRAPHIC"/>
</p:tagLst>
</file>

<file path=ppt/tags/tag24.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25.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Text Box 20"/>
</p:tagLst>
</file>

<file path=ppt/tags/tag26.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文本框 20"/>
</p:tagLst>
</file>

<file path=ppt/tags/tag27.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直接连接符 22"/>
</p:tagLst>
</file>

<file path=ppt/tags/tag28.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直接连接符 24"/>
</p:tagLst>
</file>

<file path=ppt/tags/tag29.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3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h_f"/>
  <p:tag name="KSO_WM_UNIT_INDEX" val="1_2_1"/>
  <p:tag name="KSO_WM_UNIT_ID" val="diagram781_4*q_h_f*1_2_1"/>
  <p:tag name="KSO_WM_UNIT_CLEAR" val="1"/>
  <p:tag name="KSO_WM_UNIT_LAYERLEVEL" val="1_1_1"/>
  <p:tag name="KSO_WM_UNIT_VALUE" val="24"/>
  <p:tag name="KSO_WM_UNIT_HIGHLIGHT" val="0"/>
  <p:tag name="KSO_WM_UNIT_COMPATIBLE" val="0"/>
  <p:tag name="KSO_WM_UNIT_PRESET_TEXT_INDEX" val="4"/>
  <p:tag name="KSO_WM_UNIT_PRESET_TEXT_LEN" val="40"/>
  <p:tag name="KSO_WM_DIAGRAM_GROUP_CODE" val="q1-1"/>
  <p:tag name="KSO_WM_UNIT_TEXT_FILL_FORE_SCHEMECOLOR_INDEX" val="13"/>
  <p:tag name="KSO_WM_UNIT_TEXT_FILL_TYPE" val="1"/>
  <p:tag name="KSO_WM_UNIT_USESOURCEFORMAT_APPLY" val="1"/>
</p:tagLst>
</file>

<file path=ppt/tags/tag3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781_4*i*2"/>
  <p:tag name="KSO_WM_TEMPLATE_CATEGORY" val="diagram"/>
  <p:tag name="KSO_WM_TEMPLATE_INDEX" val="781"/>
  <p:tag name="KSO_WM_UNIT_INDEX" val="2"/>
</p:tagLst>
</file>

<file path=ppt/tags/tag3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h_f"/>
  <p:tag name="KSO_WM_UNIT_INDEX" val="1_3_1"/>
  <p:tag name="KSO_WM_UNIT_ID" val="diagram781_4*q_h_f*1_3_1"/>
  <p:tag name="KSO_WM_UNIT_CLEAR" val="1"/>
  <p:tag name="KSO_WM_UNIT_LAYERLEVEL" val="1_1_1"/>
  <p:tag name="KSO_WM_UNIT_VALUE" val="32"/>
  <p:tag name="KSO_WM_UNIT_HIGHLIGHT" val="0"/>
  <p:tag name="KSO_WM_UNIT_COMPATIBLE" val="0"/>
  <p:tag name="KSO_WM_UNIT_PRESET_TEXT_INDEX" val="4"/>
  <p:tag name="KSO_WM_UNIT_PRESET_TEXT_LEN" val="57"/>
  <p:tag name="KSO_WM_DIAGRAM_GROUP_CODE" val="q1-1"/>
  <p:tag name="KSO_WM_UNIT_TEXT_FILL_FORE_SCHEMECOLOR_INDEX" val="13"/>
  <p:tag name="KSO_WM_UNIT_TEXT_FILL_TYPE" val="1"/>
  <p:tag name="KSO_WM_UNIT_USESOURCEFORMAT_APPLY" val="1"/>
</p:tagLst>
</file>

<file path=ppt/tags/tag3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h_f"/>
  <p:tag name="KSO_WM_UNIT_INDEX" val="1_1_1"/>
  <p:tag name="KSO_WM_UNIT_ID" val="diagram781_4*q_h_f*1_1_1"/>
  <p:tag name="KSO_WM_UNIT_CLEAR" val="1"/>
  <p:tag name="KSO_WM_UNIT_LAYERLEVEL" val="1_1_1"/>
  <p:tag name="KSO_WM_UNIT_VALUE" val="24"/>
  <p:tag name="KSO_WM_UNIT_HIGHLIGHT" val="0"/>
  <p:tag name="KSO_WM_UNIT_COMPATIBLE" val="0"/>
  <p:tag name="KSO_WM_UNIT_PRESET_TEXT_INDEX" val="4"/>
  <p:tag name="KSO_WM_UNIT_PRESET_TEXT_LEN" val="40"/>
  <p:tag name="KSO_WM_DIAGRAM_GROUP_CODE" val="q1-1"/>
  <p:tag name="KSO_WM_UNIT_TEXT_FILL_FORE_SCHEMECOLOR_INDEX" val="13"/>
  <p:tag name="KSO_WM_UNIT_TEXT_FILL_TYPE" val="1"/>
  <p:tag name="KSO_WM_UNIT_USESOURCEFORMAT_APPLY" val="1"/>
</p:tagLst>
</file>

<file path=ppt/tags/tag3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10"/>
  <p:tag name="KSO_WM_UNIT_ID" val="diagram781_4*q_i*1_10"/>
  <p:tag name="KSO_WM_UNIT_CLEAR" val="1"/>
  <p:tag name="KSO_WM_UNIT_LAYERLEVEL" val="1_1"/>
  <p:tag name="KSO_WM_DIAGRAM_GROUP_CODE" val="q1-1"/>
  <p:tag name="KSO_WM_UNIT_TEXT_FILL_FORE_SCHEMECOLOR_INDEX" val="14"/>
  <p:tag name="KSO_WM_UNIT_TEXT_FILL_TYPE" val="1"/>
  <p:tag name="KSO_WM_UNIT_USESOURCEFORMAT_APPLY" val="1"/>
</p:tagLst>
</file>

<file path=ppt/tags/tag3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11"/>
  <p:tag name="KSO_WM_UNIT_ID" val="diagram781_4*q_i*1_11"/>
  <p:tag name="KSO_WM_UNIT_CLEAR" val="1"/>
  <p:tag name="KSO_WM_UNIT_LAYERLEVEL" val="1_1"/>
  <p:tag name="KSO_WM_DIAGRAM_GROUP_CODE" val="q1-1"/>
  <p:tag name="KSO_WM_UNIT_TEXT_FILL_FORE_SCHEMECOLOR_INDEX" val="14"/>
  <p:tag name="KSO_WM_UNIT_TEXT_FILL_TYPE" val="1"/>
  <p:tag name="KSO_WM_UNIT_USESOURCEFORMAT_APPLY" val="1"/>
</p:tagLst>
</file>

<file path=ppt/tags/tag3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12"/>
  <p:tag name="KSO_WM_UNIT_ID" val="diagram781_4*q_i*1_12"/>
  <p:tag name="KSO_WM_UNIT_CLEAR" val="1"/>
  <p:tag name="KSO_WM_UNIT_LAYERLEVEL" val="1_1"/>
  <p:tag name="KSO_WM_DIAGRAM_GROUP_CODE" val="q1-1"/>
  <p:tag name="KSO_WM_UNIT_TEXT_FILL_FORE_SCHEMECOLOR_INDEX" val="14"/>
  <p:tag name="KSO_WM_UNIT_TEXT_FILL_TYPE" val="1"/>
  <p:tag name="KSO_WM_UNIT_USESOURCEFORMAT_APPLY" val="1"/>
</p:tagLst>
</file>

<file path=ppt/tags/tag3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8"/>
  <p:tag name="KSO_WM_UNIT_ID" val="diagram781_4*q_i*1_8"/>
  <p:tag name="KSO_WM_UNIT_CLEAR" val="1"/>
  <p:tag name="KSO_WM_UNIT_LAYERLEVEL" val="1_1"/>
  <p:tag name="KSO_WM_DIAGRAM_GROUP_CODE" val="q1-1"/>
  <p:tag name="KSO_WM_UNIT_FILL_FORE_SCHEMECOLOR_INDEX" val="5"/>
  <p:tag name="KSO_WM_UNIT_FILL_TYPE" val="1"/>
  <p:tag name="KSO_WM_UNIT_TEXT_FILL_FORE_SCHEMECOLOR_INDEX" val="2"/>
  <p:tag name="KSO_WM_UNIT_TEXT_FILL_TYPE" val="1"/>
  <p:tag name="KSO_WM_UNIT_USESOURCEFORMAT_APPLY" val="1"/>
</p:tagLst>
</file>

<file path=ppt/tags/tag3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9"/>
  <p:tag name="KSO_WM_UNIT_ID" val="diagram781_4*q_i*1_9"/>
  <p:tag name="KSO_WM_UNIT_CLEAR" val="1"/>
  <p:tag name="KSO_WM_UNIT_LAYERLEVEL" val="1_1"/>
  <p:tag name="KSO_WM_DIAGRAM_GROUP_CODE" val="q1-1"/>
  <p:tag name="KSO_WM_UNIT_FILL_FORE_SCHEMECOLOR_INDEX" val="5"/>
  <p:tag name="KSO_WM_UNIT_FILL_TYPE" val="1"/>
  <p:tag name="KSO_WM_UNIT_TEXT_FILL_FORE_SCHEMECOLOR_INDEX" val="2"/>
  <p:tag name="KSO_WM_UNIT_TEXT_FILL_TYPE" val="1"/>
  <p:tag name="KSO_WM_UNIT_USESOURCEFORMAT_APPLY" val="1"/>
</p:tagLst>
</file>

<file path=ppt/tags/tag3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6"/>
  <p:tag name="KSO_WM_UNIT_ID" val="diagram781_4*q_i*1_6"/>
  <p:tag name="KSO_WM_UNIT_CLEAR" val="1"/>
  <p:tag name="KSO_WM_UNIT_LAYERLEVEL" val="1_1"/>
  <p:tag name="KSO_WM_DIAGRAM_GROUP_CODE" val="q1-1"/>
  <p:tag name="KSO_WM_UNIT_FILL_FORE_SCHEMECOLOR_INDEX" val="7"/>
  <p:tag name="KSO_WM_UNIT_FILL_TYPE" val="1"/>
  <p:tag name="KSO_WM_UNIT_TEXT_FILL_FORE_SCHEMECOLOR_INDEX" val="2"/>
  <p:tag name="KSO_WM_UNIT_TEXT_FILL_TYPE" val="1"/>
  <p:tag name="KSO_WM_UNIT_USESOURCEFORMAT_APPLY" val="1"/>
</p:tagLst>
</file>

<file path=ppt/tags/tag4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7"/>
  <p:tag name="KSO_WM_UNIT_ID" val="diagram781_4*q_i*1_7"/>
  <p:tag name="KSO_WM_UNIT_CLEAR" val="1"/>
  <p:tag name="KSO_WM_UNIT_LAYERLEVEL" val="1_1"/>
  <p:tag name="KSO_WM_DIAGRAM_GROUP_CODE" val="q1-1"/>
  <p:tag name="KSO_WM_UNIT_FILL_FORE_SCHEMECOLOR_INDEX" val="7"/>
  <p:tag name="KSO_WM_UNIT_FILL_TYPE" val="1"/>
  <p:tag name="KSO_WM_UNIT_TEXT_FILL_FORE_SCHEMECOLOR_INDEX" val="2"/>
  <p:tag name="KSO_WM_UNIT_TEXT_FILL_TYPE" val="1"/>
  <p:tag name="KSO_WM_UNIT_USESOURCEFORMAT_APPLY" val="1"/>
</p:tagLst>
</file>

<file path=ppt/tags/tag4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4"/>
  <p:tag name="KSO_WM_UNIT_ID" val="diagram781_4*q_i*1_4"/>
  <p:tag name="KSO_WM_UNIT_CLEAR" val="1"/>
  <p:tag name="KSO_WM_UNIT_LAYERLEVEL" val="1_1"/>
  <p:tag name="KSO_WM_DIAGRAM_GROUP_CODE" val="q1-1"/>
  <p:tag name="KSO_WM_UNIT_FILL_FORE_SCHEMECOLOR_INDEX" val="6"/>
  <p:tag name="KSO_WM_UNIT_FILL_TYPE" val="1"/>
  <p:tag name="KSO_WM_UNIT_TEXT_FILL_FORE_SCHEMECOLOR_INDEX" val="2"/>
  <p:tag name="KSO_WM_UNIT_TEXT_FILL_TYPE" val="1"/>
  <p:tag name="KSO_WM_UNIT_USESOURCEFORMAT_APPLY" val="1"/>
</p:tagLst>
</file>

<file path=ppt/tags/tag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5"/>
  <p:tag name="KSO_WM_UNIT_ID" val="diagram781_4*q_i*1_5"/>
  <p:tag name="KSO_WM_UNIT_CLEAR" val="1"/>
  <p:tag name="KSO_WM_UNIT_LAYERLEVEL" val="1_1"/>
  <p:tag name="KSO_WM_DIAGRAM_GROUP_CODE" val="q1-1"/>
  <p:tag name="KSO_WM_UNIT_FILL_FORE_SCHEMECOLOR_INDEX" val="6"/>
  <p:tag name="KSO_WM_UNIT_FILL_TYPE" val="1"/>
  <p:tag name="KSO_WM_UNIT_TEXT_FILL_FORE_SCHEMECOLOR_INDEX" val="2"/>
  <p:tag name="KSO_WM_UNIT_TEXT_FILL_TYPE" val="1"/>
  <p:tag name="KSO_WM_UNIT_USESOURCEFORMAT_APPLY" val="1"/>
</p:tagLst>
</file>

<file path=ppt/tags/tag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1"/>
  <p:tag name="KSO_WM_UNIT_ID" val="diagram781_4*q_i*1_1"/>
  <p:tag name="KSO_WM_UNIT_CLEAR" val="1"/>
  <p:tag name="KSO_WM_UNIT_LAYERLEVEL" val="1_1"/>
  <p:tag name="KSO_WM_DIAGRAM_GROUP_CODE" val="q1-1"/>
  <p:tag name="KSO_WM_UNIT_FILL_FORE_SCHEMECOLOR_INDEX" val="6"/>
  <p:tag name="KSO_WM_UNIT_FILL_TYPE" val="1"/>
  <p:tag name="KSO_WM_UNIT_TEXT_FILL_FORE_SCHEMECOLOR_INDEX" val="13"/>
  <p:tag name="KSO_WM_UNIT_TEXT_FILL_TYPE" val="1"/>
  <p:tag name="KSO_WM_UNIT_USESOURCEFORMAT_APPLY" val="1"/>
</p:tagLst>
</file>

<file path=ppt/tags/tag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2"/>
  <p:tag name="KSO_WM_UNIT_ID" val="diagram781_4*q_i*1_2"/>
  <p:tag name="KSO_WM_UNIT_CLEAR" val="1"/>
  <p:tag name="KSO_WM_UNIT_LAYERLEVEL" val="1_1"/>
  <p:tag name="KSO_WM_DIAGRAM_GROUP_CODE" val="q1-1"/>
  <p:tag name="KSO_WM_UNIT_FILL_FORE_SCHEMECOLOR_INDEX" val="7"/>
  <p:tag name="KSO_WM_UNIT_FILL_TYPE" val="1"/>
  <p:tag name="KSO_WM_UNIT_TEXT_FILL_FORE_SCHEMECOLOR_INDEX" val="13"/>
  <p:tag name="KSO_WM_UNIT_TEXT_FILL_TYPE" val="1"/>
  <p:tag name="KSO_WM_UNIT_USESOURCEFORMAT_APPLY" val="1"/>
</p:tagLst>
</file>

<file path=ppt/tags/tag4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3"/>
  <p:tag name="KSO_WM_UNIT_ID" val="diagram781_4*q_i*1_3"/>
  <p:tag name="KSO_WM_UNIT_CLEAR" val="1"/>
  <p:tag name="KSO_WM_UNIT_LAYERLEVEL" val="1_1"/>
  <p:tag name="KSO_WM_DIAGRAM_GROUP_CODE" val="q1-1"/>
  <p:tag name="KSO_WM_UNIT_FILL_FORE_SCHEMECOLOR_INDEX" val="5"/>
  <p:tag name="KSO_WM_UNIT_FILL_TYPE" val="1"/>
  <p:tag name="KSO_WM_UNIT_TEXT_FILL_FORE_SCHEMECOLOR_INDEX" val="13"/>
  <p:tag name="KSO_WM_UNIT_TEXT_FILL_TYPE" val="1"/>
  <p:tag name="KSO_WM_UNIT_USESOURCEFORMAT_APPLY" val="1"/>
</p:tagLst>
</file>

<file path=ppt/tags/tag46.xml><?xml version="1.0" encoding="utf-8"?>
<p:tagLst xmlns:a="http://schemas.openxmlformats.org/drawingml/2006/main" xmlns:r="http://schemas.openxmlformats.org/officeDocument/2006/relationships" xmlns:p="http://schemas.openxmlformats.org/presentationml/2006/main">
  <p:tag name="MH" val="20150917094253"/>
  <p:tag name="MH_LIBRARY" val="GRAPHIC"/>
  <p:tag name="MH_TYPE" val="Other"/>
  <p:tag name="MH_ORDER" val="1"/>
</p:tagLst>
</file>

<file path=ppt/tags/tag47.xml><?xml version="1.0" encoding="utf-8"?>
<p:tagLst xmlns:a="http://schemas.openxmlformats.org/drawingml/2006/main" xmlns:r="http://schemas.openxmlformats.org/officeDocument/2006/relationships" xmlns:p="http://schemas.openxmlformats.org/presentationml/2006/main">
  <p:tag name="MH" val="20150917094253"/>
  <p:tag name="MH_LIBRARY" val="GRAPHIC"/>
  <p:tag name="MH_TYPE" val="Other"/>
  <p:tag name="MH_ORDER" val="2"/>
</p:tagLst>
</file>

<file path=ppt/tags/tag48.xml><?xml version="1.0" encoding="utf-8"?>
<p:tagLst xmlns:a="http://schemas.openxmlformats.org/drawingml/2006/main" xmlns:r="http://schemas.openxmlformats.org/officeDocument/2006/relationships" xmlns:p="http://schemas.openxmlformats.org/presentationml/2006/main">
  <p:tag name="MH" val="20150917094253"/>
  <p:tag name="MH_LIBRARY" val="GRAPHIC"/>
  <p:tag name="MH_TYPE" val="SubTitle"/>
  <p:tag name="MH_ORDER" val="1"/>
</p:tagLst>
</file>

<file path=ppt/tags/tag49.xml><?xml version="1.0" encoding="utf-8"?>
<p:tagLst xmlns:a="http://schemas.openxmlformats.org/drawingml/2006/main" xmlns:r="http://schemas.openxmlformats.org/officeDocument/2006/relationships" xmlns:p="http://schemas.openxmlformats.org/presentationml/2006/main">
  <p:tag name="MH" val="20150917094253"/>
  <p:tag name="MH_LIBRARY" val="GRAPHIC"/>
  <p:tag name="MH_TYPE" val="SubTitle"/>
  <p:tag name="MH_ORDER" val="2"/>
</p:tagLst>
</file>

<file path=ppt/tags/tag50.xml><?xml version="1.0" encoding="utf-8"?>
<p:tagLst xmlns:a="http://schemas.openxmlformats.org/drawingml/2006/main" xmlns:r="http://schemas.openxmlformats.org/officeDocument/2006/relationships" xmlns:p="http://schemas.openxmlformats.org/presentationml/2006/main">
  <p:tag name="MH" val="20150917094253"/>
  <p:tag name="MH_LIBRARY" val="GRAPHIC"/>
  <p:tag name="MH_TYPE" val="Text"/>
  <p:tag name="MH_ORDER" val="1"/>
</p:tagLst>
</file>

<file path=ppt/tags/tag51.xml><?xml version="1.0" encoding="utf-8"?>
<p:tagLst xmlns:a="http://schemas.openxmlformats.org/drawingml/2006/main" xmlns:r="http://schemas.openxmlformats.org/officeDocument/2006/relationships" xmlns:p="http://schemas.openxmlformats.org/presentationml/2006/main">
  <p:tag name="MH" val="20150917094253"/>
  <p:tag name="MH_LIBRARY" val="GRAPHIC"/>
  <p:tag name="MH_TYPE" val="Text"/>
  <p:tag name="MH_ORDER" val="2"/>
</p:tagLst>
</file>

<file path=ppt/tags/tag5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5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5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5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5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5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5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5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6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6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6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6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6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6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6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6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5*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6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5*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6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5*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7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5*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7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5*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7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5*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7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5*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7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5*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7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5*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7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5*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7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5*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7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5*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7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5*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8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5*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8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5*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8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5*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8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5*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8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5*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8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5*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8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5*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8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5*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8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6*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8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6*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9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4"/>
  <p:tag name="KSO_WM_UNIT_ID" val="custom160418_26*n_h_f*1_2_4"/>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9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6*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9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5*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9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5*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9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5*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9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5*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9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5*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9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5*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9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5*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9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5*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0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5*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0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7*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0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7*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0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3"/>
  <p:tag name="KSO_WM_UNIT_ID" val="custom160418_27*n_h_f*1_2_3"/>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0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4"/>
  <p:tag name="KSO_WM_UNIT_ID" val="custom160418_27*n_h_f*1_2_4"/>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0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7*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0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5*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10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5*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10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5*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10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5*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1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5*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1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5*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11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5*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5*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5*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5*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7*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7*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3"/>
  <p:tag name="KSO_WM_UNIT_ID" val="custom160418_27*n_h_f*1_2_3"/>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1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4"/>
  <p:tag name="KSO_WM_UNIT_ID" val="custom160418_27*n_h_f*1_2_4"/>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7*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5*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1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5*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12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5*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12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5*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12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5*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12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5*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12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5*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2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5*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2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5*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3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5*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3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5*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3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4*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3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4*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3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5*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13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5*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13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5*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13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5*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13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5*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13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5*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14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5*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4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5*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5*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5*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5*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4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5*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46.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1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5*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5*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4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5*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5*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15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5*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15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5*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15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5*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15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5*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15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5*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15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5*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5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5*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5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5*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59.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160.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16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h_f"/>
  <p:tag name="KSO_WM_UNIT_INDEX" val="1_2_1"/>
  <p:tag name="KSO_WM_UNIT_ID" val="custom160596_70*q_h_f*1_2_1"/>
  <p:tag name="KSO_WM_UNIT_LAYERLEVEL" val="1_1_1"/>
  <p:tag name="KSO_WM_UNIT_VALUE" val="24"/>
  <p:tag name="KSO_WM_UNIT_HIGHLIGHT" val="0"/>
  <p:tag name="KSO_WM_UNIT_COMPATIBLE" val="0"/>
  <p:tag name="KSO_WM_UNIT_CLEAR" val="0"/>
  <p:tag name="KSO_WM_UNIT_PRESET_TEXT_INDEX" val="2"/>
  <p:tag name="KSO_WM_UNIT_PRESET_TEXT_LEN" val="20"/>
  <p:tag name="KSO_WM_DIAGRAM_GROUP_CODE" val="q1-1"/>
  <p:tag name="KSO_WM_UNIT_TEXT_FILL_FORE_SCHEMECOLOR_INDEX" val="13"/>
  <p:tag name="KSO_WM_UNIT_TEXT_FILL_TYPE" val="1"/>
  <p:tag name="KSO_WM_UNIT_USESOURCEFORMAT_APPLY" val="1"/>
</p:tagLst>
</file>

<file path=ppt/tags/tag16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h_f"/>
  <p:tag name="KSO_WM_UNIT_INDEX" val="1_3_1"/>
  <p:tag name="KSO_WM_UNIT_ID" val="custom160596_70*q_h_f*1_3_1"/>
  <p:tag name="KSO_WM_UNIT_LAYERLEVEL" val="1_1_1"/>
  <p:tag name="KSO_WM_UNIT_VALUE" val="24"/>
  <p:tag name="KSO_WM_UNIT_HIGHLIGHT" val="0"/>
  <p:tag name="KSO_WM_UNIT_COMPATIBLE" val="0"/>
  <p:tag name="KSO_WM_UNIT_CLEAR" val="0"/>
  <p:tag name="KSO_WM_UNIT_PRESET_TEXT_INDEX" val="2"/>
  <p:tag name="KSO_WM_UNIT_PRESET_TEXT_LEN" val="20"/>
  <p:tag name="KSO_WM_DIAGRAM_GROUP_CODE" val="q1-1"/>
  <p:tag name="KSO_WM_UNIT_TEXT_FILL_FORE_SCHEMECOLOR_INDEX" val="13"/>
  <p:tag name="KSO_WM_UNIT_TEXT_FILL_TYPE" val="1"/>
  <p:tag name="KSO_WM_UNIT_USESOURCEFORMAT_APPLY" val="1"/>
</p:tagLst>
</file>

<file path=ppt/tags/tag16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h_f"/>
  <p:tag name="KSO_WM_UNIT_INDEX" val="1_4_1"/>
  <p:tag name="KSO_WM_UNIT_ID" val="custom160596_70*q_h_f*1_4_1"/>
  <p:tag name="KSO_WM_UNIT_LAYERLEVEL" val="1_1_1"/>
  <p:tag name="KSO_WM_UNIT_VALUE" val="24"/>
  <p:tag name="KSO_WM_UNIT_HIGHLIGHT" val="0"/>
  <p:tag name="KSO_WM_UNIT_COMPATIBLE" val="0"/>
  <p:tag name="KSO_WM_UNIT_CLEAR" val="0"/>
  <p:tag name="KSO_WM_UNIT_PRESET_TEXT_INDEX" val="2"/>
  <p:tag name="KSO_WM_UNIT_PRESET_TEXT_LEN" val="20"/>
  <p:tag name="KSO_WM_DIAGRAM_GROUP_CODE" val="q1-1"/>
  <p:tag name="KSO_WM_UNIT_TEXT_FILL_FORE_SCHEMECOLOR_INDEX" val="13"/>
  <p:tag name="KSO_WM_UNIT_TEXT_FILL_TYPE" val="1"/>
  <p:tag name="KSO_WM_UNIT_USESOURCEFORMAT_APPLY" val="1"/>
</p:tagLst>
</file>

<file path=ppt/tags/tag16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h_f"/>
  <p:tag name="KSO_WM_UNIT_INDEX" val="1_5_1"/>
  <p:tag name="KSO_WM_UNIT_ID" val="custom160596_70*q_h_f*1_5_1"/>
  <p:tag name="KSO_WM_UNIT_LAYERLEVEL" val="1_1_1"/>
  <p:tag name="KSO_WM_UNIT_VALUE" val="24"/>
  <p:tag name="KSO_WM_UNIT_HIGHLIGHT" val="0"/>
  <p:tag name="KSO_WM_UNIT_COMPATIBLE" val="0"/>
  <p:tag name="KSO_WM_UNIT_CLEAR" val="0"/>
  <p:tag name="KSO_WM_UNIT_PRESET_TEXT_INDEX" val="2"/>
  <p:tag name="KSO_WM_UNIT_PRESET_TEXT_LEN" val="20"/>
  <p:tag name="KSO_WM_DIAGRAM_GROUP_CODE" val="q1-1"/>
  <p:tag name="KSO_WM_UNIT_TEXT_FILL_FORE_SCHEMECOLOR_INDEX" val="13"/>
  <p:tag name="KSO_WM_UNIT_TEXT_FILL_TYPE" val="1"/>
  <p:tag name="KSO_WM_UNIT_USESOURCEFORMAT_APPLY" val="1"/>
</p:tagLst>
</file>

<file path=ppt/tags/tag16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h_f"/>
  <p:tag name="KSO_WM_UNIT_INDEX" val="1_6_1"/>
  <p:tag name="KSO_WM_UNIT_ID" val="custom160596_70*q_h_f*1_6_1"/>
  <p:tag name="KSO_WM_UNIT_LAYERLEVEL" val="1_1_1"/>
  <p:tag name="KSO_WM_UNIT_VALUE" val="24"/>
  <p:tag name="KSO_WM_UNIT_HIGHLIGHT" val="0"/>
  <p:tag name="KSO_WM_UNIT_COMPATIBLE" val="0"/>
  <p:tag name="KSO_WM_UNIT_CLEAR" val="0"/>
  <p:tag name="KSO_WM_UNIT_PRESET_TEXT_INDEX" val="2"/>
  <p:tag name="KSO_WM_UNIT_PRESET_TEXT_LEN" val="20"/>
  <p:tag name="KSO_WM_DIAGRAM_GROUP_CODE" val="q1-1"/>
  <p:tag name="KSO_WM_UNIT_TEXT_FILL_FORE_SCHEMECOLOR_INDEX" val="13"/>
  <p:tag name="KSO_WM_UNIT_TEXT_FILL_TYPE" val="1"/>
  <p:tag name="KSO_WM_UNIT_USESOURCEFORMAT_APPLY" val="1"/>
</p:tagLst>
</file>

<file path=ppt/tags/tag16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h_f"/>
  <p:tag name="KSO_WM_UNIT_INDEX" val="1_1_1"/>
  <p:tag name="KSO_WM_UNIT_ID" val="custom160596_70*q_h_f*1_1_1"/>
  <p:tag name="KSO_WM_UNIT_LAYERLEVEL" val="1_1_1"/>
  <p:tag name="KSO_WM_UNIT_VALUE" val="20"/>
  <p:tag name="KSO_WM_UNIT_HIGHLIGHT" val="0"/>
  <p:tag name="KSO_WM_UNIT_COMPATIBLE" val="0"/>
  <p:tag name="KSO_WM_UNIT_CLEAR" val="0"/>
  <p:tag name="KSO_WM_UNIT_PRESET_TEXT_INDEX" val="2"/>
  <p:tag name="KSO_WM_UNIT_PRESET_TEXT_LEN" val="20"/>
  <p:tag name="KSO_WM_DIAGRAM_GROUP_CODE" val="q1-1"/>
  <p:tag name="KSO_WM_UNIT_TEXT_FILL_FORE_SCHEMECOLOR_INDEX" val="13"/>
  <p:tag name="KSO_WM_UNIT_TEXT_FILL_TYPE" val="1"/>
  <p:tag name="KSO_WM_UNIT_USESOURCEFORMAT_APPLY" val="1"/>
</p:tagLst>
</file>

<file path=ppt/tags/tag16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9"/>
  <p:tag name="KSO_WM_UNIT_ID" val="custom160596_70*q_i*1_9"/>
  <p:tag name="KSO_WM_UNIT_LAYERLEVEL" val="1_1"/>
  <p:tag name="KSO_WM_DIAGRAM_GROUP_CODE" val="q1-1"/>
  <p:tag name="KSO_WM_UNIT_FILL_FORE_SCHEMECOLOR_INDEX" val="6"/>
  <p:tag name="KSO_WM_UNIT_FILL_TYPE" val="1"/>
  <p:tag name="KSO_WM_UNIT_TEXT_FILL_FORE_SCHEMECOLOR_INDEX" val="13"/>
  <p:tag name="KSO_WM_UNIT_TEXT_FILL_TYPE" val="1"/>
  <p:tag name="KSO_WM_UNIT_USESOURCEFORMAT_APPLY" val="1"/>
</p:tagLst>
</file>

<file path=ppt/tags/tag16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1"/>
  <p:tag name="KSO_WM_UNIT_ID" val="custom160596_70*q_i*1_11"/>
  <p:tag name="KSO_WM_UNIT_LAYERLEVEL" val="1_1"/>
  <p:tag name="KSO_WM_DIAGRAM_GROUP_CODE" val="q1-1"/>
  <p:tag name="KSO_WM_UNIT_FILL_FORE_SCHEMECOLOR_INDEX" val="7"/>
  <p:tag name="KSO_WM_UNIT_FILL_TYPE" val="1"/>
  <p:tag name="KSO_WM_UNIT_TEXT_FILL_FORE_SCHEMECOLOR_INDEX" val="13"/>
  <p:tag name="KSO_WM_UNIT_TEXT_FILL_TYPE" val="1"/>
  <p:tag name="KSO_WM_UNIT_USESOURCEFORMAT_APPLY" val="1"/>
</p:tagLst>
</file>

<file path=ppt/tags/tag16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3"/>
  <p:tag name="KSO_WM_UNIT_ID" val="custom160596_70*q_i*1_13"/>
  <p:tag name="KSO_WM_UNIT_LAYERLEVEL" val="1_1"/>
  <p:tag name="KSO_WM_DIAGRAM_GROUP_CODE" val="q1-1"/>
  <p:tag name="KSO_WM_UNIT_FILL_FORE_SCHEMECOLOR_INDEX" val="7"/>
  <p:tag name="KSO_WM_UNIT_FILL_TYPE" val="1"/>
  <p:tag name="KSO_WM_UNIT_TEXT_FILL_FORE_SCHEMECOLOR_INDEX" val="13"/>
  <p:tag name="KSO_WM_UNIT_TEXT_FILL_TYPE" val="1"/>
  <p:tag name="KSO_WM_UNIT_USESOURCEFORMAT_APPLY" val="1"/>
</p:tagLst>
</file>

<file path=ppt/tags/tag17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5"/>
  <p:tag name="KSO_WM_UNIT_ID" val="custom160596_70*q_i*1_15"/>
  <p:tag name="KSO_WM_UNIT_LAYERLEVEL" val="1_1"/>
  <p:tag name="KSO_WM_DIAGRAM_GROUP_CODE" val="q1-1"/>
  <p:tag name="KSO_WM_UNIT_FILL_FORE_SCHEMECOLOR_INDEX" val="7"/>
  <p:tag name="KSO_WM_UNIT_FILL_TYPE" val="1"/>
  <p:tag name="KSO_WM_UNIT_TEXT_FILL_FORE_SCHEMECOLOR_INDEX" val="13"/>
  <p:tag name="KSO_WM_UNIT_TEXT_FILL_TYPE" val="1"/>
  <p:tag name="KSO_WM_UNIT_USESOURCEFORMAT_APPLY" val="1"/>
</p:tagLst>
</file>

<file path=ppt/tags/tag17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7"/>
  <p:tag name="KSO_WM_UNIT_ID" val="custom160596_70*q_i*1_17"/>
  <p:tag name="KSO_WM_UNIT_LAYERLEVEL" val="1_1"/>
  <p:tag name="KSO_WM_DIAGRAM_GROUP_CODE" val="q1-1"/>
  <p:tag name="KSO_WM_UNIT_FILL_FORE_SCHEMECOLOR_INDEX" val="6"/>
  <p:tag name="KSO_WM_UNIT_FILL_TYPE" val="1"/>
  <p:tag name="KSO_WM_UNIT_TEXT_FILL_FORE_SCHEMECOLOR_INDEX" val="13"/>
  <p:tag name="KSO_WM_UNIT_TEXT_FILL_TYPE" val="1"/>
  <p:tag name="KSO_WM_UNIT_USESOURCEFORMAT_APPLY" val="1"/>
</p:tagLst>
</file>

<file path=ppt/tags/tag17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9"/>
  <p:tag name="KSO_WM_UNIT_ID" val="custom160596_70*q_i*1_19"/>
  <p:tag name="KSO_WM_UNIT_LAYERLEVEL" val="1_1"/>
  <p:tag name="KSO_WM_DIAGRAM_GROUP_CODE" val="q1-1"/>
  <p:tag name="KSO_WM_UNIT_FILL_FORE_SCHEMECOLOR_INDEX" val="6"/>
  <p:tag name="KSO_WM_UNIT_FILL_TYPE" val="1"/>
  <p:tag name="KSO_WM_UNIT_TEXT_FILL_FORE_SCHEMECOLOR_INDEX" val="13"/>
  <p:tag name="KSO_WM_UNIT_TEXT_FILL_TYPE" val="1"/>
  <p:tag name="KSO_WM_UNIT_USESOURCEFORMAT_APPLY" val="1"/>
</p:tagLst>
</file>

<file path=ppt/tags/tag17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21"/>
  <p:tag name="KSO_WM_UNIT_ID" val="custom160596_70*q_i*1_21"/>
  <p:tag name="KSO_WM_UNIT_LAYERLEVEL" val="1_1"/>
  <p:tag name="KSO_WM_DIAGRAM_GROUP_CODE" val="q1-1"/>
  <p:tag name="KSO_WM_UNIT_FILL_FORE_SCHEMECOLOR_INDEX" val="5"/>
  <p:tag name="KSO_WM_UNIT_FILL_TYPE" val="1"/>
  <p:tag name="KSO_WM_UNIT_TEXT_FILL_FORE_SCHEMECOLOR_INDEX" val="13"/>
  <p:tag name="KSO_WM_UNIT_TEXT_FILL_TYPE" val="1"/>
  <p:tag name="KSO_WM_UNIT_USESOURCEFORMAT_APPLY" val="1"/>
</p:tagLst>
</file>

<file path=ppt/tags/tag17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96_40*i*0"/>
  <p:tag name="KSO_WM_TEMPLATE_CATEGORY" val="custom"/>
  <p:tag name="KSO_WM_TEMPLATE_INDEX" val="160596"/>
  <p:tag name="KSO_WM_UNIT_INDEX" val="0"/>
</p:tagLst>
</file>

<file path=ppt/tags/tag17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96_40*i*8"/>
  <p:tag name="KSO_WM_TEMPLATE_CATEGORY" val="custom"/>
  <p:tag name="KSO_WM_TEMPLATE_INDEX" val="160596"/>
  <p:tag name="KSO_WM_UNIT_INDEX" val="8"/>
</p:tagLst>
</file>

<file path=ppt/tags/tag17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96_40*i*0"/>
  <p:tag name="KSO_WM_TEMPLATE_CATEGORY" val="custom"/>
  <p:tag name="KSO_WM_TEMPLATE_INDEX" val="160596"/>
  <p:tag name="KSO_WM_UNIT_INDEX" val="0"/>
</p:tagLst>
</file>

<file path=ppt/tags/tag17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96_40*i*8"/>
  <p:tag name="KSO_WM_TEMPLATE_CATEGORY" val="custom"/>
  <p:tag name="KSO_WM_TEMPLATE_INDEX" val="160596"/>
  <p:tag name="KSO_WM_UNIT_INDEX" val="8"/>
</p:tagLst>
</file>

<file path=ppt/tags/tag17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96_40*i*0"/>
  <p:tag name="KSO_WM_TEMPLATE_CATEGORY" val="custom"/>
  <p:tag name="KSO_WM_TEMPLATE_INDEX" val="160596"/>
  <p:tag name="KSO_WM_UNIT_INDEX" val="0"/>
</p:tagLst>
</file>

<file path=ppt/tags/tag17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96_40*i*8"/>
  <p:tag name="KSO_WM_TEMPLATE_CATEGORY" val="custom"/>
  <p:tag name="KSO_WM_TEMPLATE_INDEX" val="160596"/>
  <p:tag name="KSO_WM_UNIT_INDEX" val="8"/>
</p:tagLst>
</file>

<file path=ppt/tags/tag180.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1"/>
</p:tagLst>
</file>

<file path=ppt/tags/tag181.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2"/>
</p:tagLst>
</file>

<file path=ppt/tags/tag182.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3"/>
</p:tagLst>
</file>

<file path=ppt/tags/tag183.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4"/>
</p:tagLst>
</file>

<file path=ppt/tags/tag184.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6"/>
</p:tagLst>
</file>

<file path=ppt/tags/tag185.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7"/>
</p:tagLst>
</file>

<file path=ppt/tags/tag186.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8"/>
</p:tagLst>
</file>

<file path=ppt/tags/tag187.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5"/>
</p:tagLst>
</file>

<file path=ppt/tags/tag188.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Other"/>
  <p:tag name="MH_ORDER" val="1"/>
</p:tagLst>
</file>

<file path=ppt/tags/tag189.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Title"/>
  <p:tag name="MH_ORDER" val="1"/>
</p:tagLst>
</file>

<file path=ppt/tags/tag190.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SubTitle"/>
  <p:tag name="MH_ORDER" val="1"/>
</p:tagLst>
</file>

<file path=ppt/tags/tag191.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SubTitle"/>
  <p:tag name="MH_ORDER" val="1"/>
</p:tagLst>
</file>

<file path=ppt/tags/tag192.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Text"/>
  <p:tag name="MH_ORDER" val="1"/>
</p:tagLst>
</file>

<file path=ppt/tags/tag193.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SubTitle"/>
  <p:tag name="MH_ORDER" val="1"/>
</p:tagLst>
</file>

<file path=ppt/tags/tag194.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Text"/>
  <p:tag name="MH_ORDER" val="1"/>
</p:tagLst>
</file>

<file path=ppt/tags/tag195.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SubTitle"/>
  <p:tag name="MH_ORDER" val="1"/>
</p:tagLst>
</file>

<file path=ppt/tags/tag196.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Text"/>
  <p:tag name="MH_ORDER" val="1"/>
</p:tagLst>
</file>

<file path=ppt/tags/tag197.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SubTitle"/>
  <p:tag name="MH_ORDER" val="1"/>
</p:tagLst>
</file>

<file path=ppt/tags/tag198.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19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20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20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20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20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20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20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20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20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20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20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21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21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21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21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21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21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21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21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21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21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3"/>
  <p:tag name="KSO_WM_UNIT_ID" val="custom160596_80*q_i*1_3"/>
  <p:tag name="KSO_WM_UNIT_LAYERLEVEL" val="1_1"/>
  <p:tag name="KSO_WM_DIAGRAM_GROUP_CODE" val="q1-2"/>
  <p:tag name="KSO_WM_UNIT_USESOURCEFORMAT_APPLY" val="1"/>
</p:tagLst>
</file>

<file path=ppt/tags/tag2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1"/>
  <p:tag name="KSO_WM_UNIT_ID" val="custom160596_80*q_i*1_11"/>
  <p:tag name="KSO_WM_UNIT_LAYERLEVEL" val="1_1"/>
  <p:tag name="KSO_WM_DIAGRAM_GROUP_CODE" val="q1-2"/>
  <p:tag name="KSO_WM_UNIT_USESOURCEFORMAT_APPLY" val="1"/>
</p:tagLst>
</file>

<file path=ppt/tags/tag2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
  <p:tag name="KSO_WM_UNIT_ID" val="custom160596_80*q_i*1_1"/>
  <p:tag name="KSO_WM_UNIT_LAYERLEVEL" val="1_1"/>
  <p:tag name="KSO_WM_DIAGRAM_GROUP_CODE" val="q1-2"/>
  <p:tag name="KSO_WM_UNIT_USESOURCEFORMAT_APPLY" val="1"/>
</p:tagLst>
</file>

<file path=ppt/tags/tag2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2"/>
  <p:tag name="KSO_WM_UNIT_ID" val="custom160596_80*q_i*1_2"/>
  <p:tag name="KSO_WM_UNIT_LAYERLEVEL" val="1_1"/>
  <p:tag name="KSO_WM_DIAGRAM_GROUP_CODE" val="q1-2"/>
  <p:tag name="KSO_WM_UNIT_USESOURCEFORMAT_APPLY" val="1"/>
</p:tagLst>
</file>

<file path=ppt/tags/tag22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4"/>
  <p:tag name="KSO_WM_UNIT_ID" val="custom160596_80*q_i*1_4"/>
  <p:tag name="KSO_WM_UNIT_LAYERLEVEL" val="1_1"/>
  <p:tag name="KSO_WM_DIAGRAM_GROUP_CODE" val="q1-2"/>
  <p:tag name="KSO_WM_UNIT_USESOURCEFORMAT_APPLY" val="1"/>
</p:tagLst>
</file>

<file path=ppt/tags/tag22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96_80*i*5"/>
  <p:tag name="KSO_WM_TEMPLATE_CATEGORY" val="custom"/>
  <p:tag name="KSO_WM_TEMPLATE_INDEX" val="160596"/>
  <p:tag name="KSO_WM_UNIT_INDEX" val="5"/>
</p:tagLst>
</file>

<file path=ppt/tags/tag22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9"/>
  <p:tag name="KSO_WM_UNIT_ID" val="custom160596_80*q_i*1_9"/>
  <p:tag name="KSO_WM_UNIT_LAYERLEVEL" val="1_1"/>
  <p:tag name="KSO_WM_DIAGRAM_GROUP_CODE" val="q1-2"/>
  <p:tag name="KSO_WM_UNIT_USESOURCEFORMAT_APPLY" val="1"/>
</p:tagLst>
</file>

<file path=ppt/tags/tag22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0"/>
  <p:tag name="KSO_WM_UNIT_ID" val="custom160596_80*q_i*1_10"/>
  <p:tag name="KSO_WM_UNIT_LAYERLEVEL" val="1_1"/>
  <p:tag name="KSO_WM_DIAGRAM_GROUP_CODE" val="q1-2"/>
  <p:tag name="KSO_WM_UNIT_USESOURCEFORMAT_APPLY" val="1"/>
</p:tagLst>
</file>

<file path=ppt/tags/tag22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2"/>
  <p:tag name="KSO_WM_UNIT_ID" val="custom160596_80*q_i*1_12"/>
  <p:tag name="KSO_WM_UNIT_LAYERLEVEL" val="1_1"/>
  <p:tag name="KSO_WM_DIAGRAM_GROUP_CODE" val="q1-2"/>
  <p:tag name="KSO_WM_UNIT_USESOURCEFORMAT_APPLY" val="1"/>
</p:tagLst>
</file>

<file path=ppt/tags/tag22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5"/>
  <p:tag name="KSO_WM_UNIT_ID" val="custom160596_80*q_i*1_5"/>
  <p:tag name="KSO_WM_UNIT_LAYERLEVEL" val="1_1"/>
  <p:tag name="KSO_WM_DIAGRAM_GROUP_CODE" val="q1-2"/>
  <p:tag name="KSO_WM_UNIT_USESOURCEFORMAT_APPLY" val="1"/>
</p:tagLst>
</file>

<file path=ppt/tags/tag22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6"/>
  <p:tag name="KSO_WM_UNIT_ID" val="custom160596_80*q_i*1_6"/>
  <p:tag name="KSO_WM_UNIT_LAYERLEVEL" val="1_1"/>
  <p:tag name="KSO_WM_DIAGRAM_GROUP_CODE" val="q1-2"/>
  <p:tag name="KSO_WM_UNIT_USESOURCEFORMAT_APPLY" val="1"/>
</p:tagLst>
</file>

<file path=ppt/tags/tag23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7"/>
  <p:tag name="KSO_WM_UNIT_ID" val="custom160596_80*q_i*1_7"/>
  <p:tag name="KSO_WM_UNIT_LAYERLEVEL" val="1_1"/>
  <p:tag name="KSO_WM_DIAGRAM_GROUP_CODE" val="q1-2"/>
  <p:tag name="KSO_WM_UNIT_USESOURCEFORMAT_APPLY" val="1"/>
</p:tagLst>
</file>

<file path=ppt/tags/tag23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8"/>
  <p:tag name="KSO_WM_UNIT_ID" val="custom160596_80*q_i*1_8"/>
  <p:tag name="KSO_WM_UNIT_LAYERLEVEL" val="1_1"/>
  <p:tag name="KSO_WM_DIAGRAM_GROUP_CODE" val="q1-2"/>
  <p:tag name="KSO_WM_UNIT_USESOURCEFORMAT_APPLY" val="1"/>
</p:tagLst>
</file>

<file path=ppt/tags/tag23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1"/>
  <p:tag name="KSO_WM_UNIT_ID" val="custom160596_39*r_i*1_1"/>
  <p:tag name="KSO_WM_UNIT_LAYERLEVEL" val="1_1"/>
  <p:tag name="KSO_WM_DIAGRAM_GROUP_CODE" val="r1-1"/>
  <p:tag name="KSO_WM_UNIT_DIAGRAM_CONTRAST_TITLE_CNT" val="5"/>
  <p:tag name="KSO_WM_UNIT_DIAGRAM_DIMENSION_TITLE_CNT" val="2"/>
  <p:tag name="KSO_WM_UNIT_FILL_FORE_SCHEMECOLOR_INDEX" val="5"/>
  <p:tag name="KSO_WM_UNIT_FILL_TYPE" val="1"/>
  <p:tag name="KSO_WM_UNIT_TEXT_FILL_FORE_SCHEMECOLOR_INDEX" val="13"/>
  <p:tag name="KSO_WM_UNIT_TEXT_FILL_TYPE" val="1"/>
  <p:tag name="KSO_WM_UNIT_USESOURCEFORMAT_APPLY" val="1"/>
</p:tagLst>
</file>

<file path=ppt/tags/tag23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3"/>
  <p:tag name="KSO_WM_UNIT_ID" val="custom160596_39*r_i*1_3"/>
  <p:tag name="KSO_WM_UNIT_LAYERLEVEL" val="1_1"/>
  <p:tag name="KSO_WM_DIAGRAM_GROUP_CODE" val="r1-1"/>
  <p:tag name="KSO_WM_UNIT_DIAGRAM_CONTRAST_TITLE_CNT" val="5"/>
  <p:tag name="KSO_WM_UNIT_DIAGRAM_DIMENSION_TITLE_CNT" val="2"/>
  <p:tag name="KSO_WM_UNIT_FILL_FORE_SCHEMECOLOR_INDEX" val="14"/>
  <p:tag name="KSO_WM_UNIT_FILL_TYPE" val="1"/>
  <p:tag name="KSO_WM_UNIT_LINE_FORE_SCHEMECOLOR_INDEX" val="5"/>
  <p:tag name="KSO_WM_UNIT_LINE_FILL_TYPE" val="2"/>
  <p:tag name="KSO_WM_UNIT_TEXT_FILL_FORE_SCHEMECOLOR_INDEX" val="13"/>
  <p:tag name="KSO_WM_UNIT_TEXT_FILL_TYPE" val="1"/>
  <p:tag name="KSO_WM_UNIT_USESOURCEFORMAT_APPLY" val="1"/>
</p:tagLst>
</file>

<file path=ppt/tags/tag23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4"/>
  <p:tag name="KSO_WM_UNIT_ID" val="custom160596_39*r_i*1_4"/>
  <p:tag name="KSO_WM_UNIT_LAYERLEVEL" val="1_1"/>
  <p:tag name="KSO_WM_DIAGRAM_GROUP_CODE" val="r1-1"/>
  <p:tag name="KSO_WM_UNIT_DIAGRAM_CONTRAST_TITLE_CNT" val="5"/>
  <p:tag name="KSO_WM_UNIT_DIAGRAM_DIMENSION_TITLE_CNT" val="2"/>
  <p:tag name="KSO_WM_UNIT_FILL_FORE_SCHEMECOLOR_INDEX" val="5"/>
  <p:tag name="KSO_WM_UNIT_FILL_TYPE" val="1"/>
  <p:tag name="KSO_WM_UNIT_TEXT_FILL_FORE_SCHEMECOLOR_INDEX" val="13"/>
  <p:tag name="KSO_WM_UNIT_TEXT_FILL_TYPE" val="1"/>
  <p:tag name="KSO_WM_UNIT_USESOURCEFORMAT_APPLY" val="1"/>
</p:tagLst>
</file>

<file path=ppt/tags/tag23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5"/>
  <p:tag name="KSO_WM_UNIT_ID" val="custom160596_39*r_i*1_5"/>
  <p:tag name="KSO_WM_UNIT_LAYERLEVEL" val="1_1"/>
  <p:tag name="KSO_WM_DIAGRAM_GROUP_CODE" val="r1-1"/>
  <p:tag name="KSO_WM_UNIT_DIAGRAM_CONTRAST_TITLE_CNT" val="5"/>
  <p:tag name="KSO_WM_UNIT_DIAGRAM_DIMENSION_TITLE_CNT" val="2"/>
  <p:tag name="KSO_WM_UNIT_FILL_FORE_SCHEMECOLOR_INDEX" val="14"/>
  <p:tag name="KSO_WM_UNIT_FILL_TYPE" val="1"/>
  <p:tag name="KSO_WM_UNIT_LINE_FORE_SCHEMECOLOR_INDEX" val="5"/>
  <p:tag name="KSO_WM_UNIT_LINE_FILL_TYPE" val="2"/>
  <p:tag name="KSO_WM_UNIT_TEXT_FILL_FORE_SCHEMECOLOR_INDEX" val="13"/>
  <p:tag name="KSO_WM_UNIT_TEXT_FILL_TYPE" val="1"/>
  <p:tag name="KSO_WM_UNIT_USESOURCEFORMAT_APPLY" val="1"/>
</p:tagLst>
</file>

<file path=ppt/tags/tag23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6"/>
  <p:tag name="KSO_WM_UNIT_ID" val="custom160596_39*r_i*1_6"/>
  <p:tag name="KSO_WM_UNIT_LAYERLEVEL" val="1_1"/>
  <p:tag name="KSO_WM_DIAGRAM_GROUP_CODE" val="r1-1"/>
  <p:tag name="KSO_WM_UNIT_DIAGRAM_CONTRAST_TITLE_CNT" val="5"/>
  <p:tag name="KSO_WM_UNIT_DIAGRAM_DIMENSION_TITLE_CNT" val="2"/>
  <p:tag name="KSO_WM_UNIT_FILL_FORE_SCHEMECOLOR_INDEX" val="5"/>
  <p:tag name="KSO_WM_UNIT_FILL_TYPE" val="1"/>
  <p:tag name="KSO_WM_UNIT_TEXT_FILL_FORE_SCHEMECOLOR_INDEX" val="13"/>
  <p:tag name="KSO_WM_UNIT_TEXT_FILL_TYPE" val="1"/>
  <p:tag name="KSO_WM_UNIT_USESOURCEFORMAT_APPLY" val="1"/>
</p:tagLst>
</file>

<file path=ppt/tags/tag23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7"/>
  <p:tag name="KSO_WM_UNIT_ID" val="custom160596_39*r_i*1_7"/>
  <p:tag name="KSO_WM_UNIT_LAYERLEVEL" val="1_1"/>
  <p:tag name="KSO_WM_DIAGRAM_GROUP_CODE" val="r1-1"/>
  <p:tag name="KSO_WM_UNIT_DIAGRAM_CONTRAST_TITLE_CNT" val="5"/>
  <p:tag name="KSO_WM_UNIT_DIAGRAM_DIMENSION_TITLE_CNT" val="2"/>
  <p:tag name="KSO_WM_UNIT_FILL_FORE_SCHEMECOLOR_INDEX" val="14"/>
  <p:tag name="KSO_WM_UNIT_FILL_TYPE" val="1"/>
  <p:tag name="KSO_WM_UNIT_LINE_FORE_SCHEMECOLOR_INDEX" val="5"/>
  <p:tag name="KSO_WM_UNIT_LINE_FILL_TYPE" val="2"/>
  <p:tag name="KSO_WM_UNIT_TEXT_FILL_FORE_SCHEMECOLOR_INDEX" val="13"/>
  <p:tag name="KSO_WM_UNIT_TEXT_FILL_TYPE" val="1"/>
  <p:tag name="KSO_WM_UNIT_USESOURCEFORMAT_APPLY" val="1"/>
</p:tagLst>
</file>

<file path=ppt/tags/tag23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8"/>
  <p:tag name="KSO_WM_UNIT_ID" val="custom160596_39*r_i*1_8"/>
  <p:tag name="KSO_WM_UNIT_LAYERLEVEL" val="1_1"/>
  <p:tag name="KSO_WM_DIAGRAM_GROUP_CODE" val="r1-1"/>
  <p:tag name="KSO_WM_UNIT_DIAGRAM_CONTRAST_TITLE_CNT" val="5"/>
  <p:tag name="KSO_WM_UNIT_DIAGRAM_DIMENSION_TITLE_CNT" val="2"/>
  <p:tag name="KSO_WM_UNIT_FILL_FORE_SCHEMECOLOR_INDEX" val="5"/>
  <p:tag name="KSO_WM_UNIT_FILL_TYPE" val="1"/>
  <p:tag name="KSO_WM_UNIT_TEXT_FILL_FORE_SCHEMECOLOR_INDEX" val="13"/>
  <p:tag name="KSO_WM_UNIT_TEXT_FILL_TYPE" val="1"/>
  <p:tag name="KSO_WM_UNIT_USESOURCEFORMAT_APPLY" val="1"/>
</p:tagLst>
</file>

<file path=ppt/tags/tag23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9"/>
  <p:tag name="KSO_WM_UNIT_ID" val="custom160596_39*r_i*1_9"/>
  <p:tag name="KSO_WM_UNIT_LAYERLEVEL" val="1_1"/>
  <p:tag name="KSO_WM_DIAGRAM_GROUP_CODE" val="r1-1"/>
  <p:tag name="KSO_WM_UNIT_DIAGRAM_CONTRAST_TITLE_CNT" val="5"/>
  <p:tag name="KSO_WM_UNIT_DIAGRAM_DIMENSION_TITLE_CNT" val="2"/>
  <p:tag name="KSO_WM_UNIT_FILL_FORE_SCHEMECOLOR_INDEX" val="14"/>
  <p:tag name="KSO_WM_UNIT_FILL_TYPE" val="1"/>
  <p:tag name="KSO_WM_UNIT_LINE_FORE_SCHEMECOLOR_INDEX" val="5"/>
  <p:tag name="KSO_WM_UNIT_LINE_FILL_TYPE" val="2"/>
  <p:tag name="KSO_WM_UNIT_TEXT_FILL_FORE_SCHEMECOLOR_INDEX" val="13"/>
  <p:tag name="KSO_WM_UNIT_TEXT_FILL_TYPE" val="1"/>
  <p:tag name="KSO_WM_UNIT_USESOURCEFORMAT_APPLY" val="1"/>
</p:tagLst>
</file>

<file path=ppt/tags/tag24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10"/>
  <p:tag name="KSO_WM_UNIT_ID" val="custom160596_39*r_i*1_10"/>
  <p:tag name="KSO_WM_UNIT_LAYERLEVEL" val="1_1"/>
  <p:tag name="KSO_WM_DIAGRAM_GROUP_CODE" val="r1-1"/>
  <p:tag name="KSO_WM_UNIT_DIAGRAM_CONTRAST_TITLE_CNT" val="5"/>
  <p:tag name="KSO_WM_UNIT_DIAGRAM_DIMENSION_TITLE_CNT" val="2"/>
  <p:tag name="KSO_WM_UNIT_FILL_FORE_SCHEMECOLOR_INDEX" val="5"/>
  <p:tag name="KSO_WM_UNIT_FILL_TYPE" val="1"/>
  <p:tag name="KSO_WM_UNIT_TEXT_FILL_FORE_SCHEMECOLOR_INDEX" val="13"/>
  <p:tag name="KSO_WM_UNIT_TEXT_FILL_TYPE" val="1"/>
  <p:tag name="KSO_WM_UNIT_USESOURCEFORMAT_APPLY" val="1"/>
</p:tagLst>
</file>

<file path=ppt/tags/tag24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11"/>
  <p:tag name="KSO_WM_UNIT_ID" val="custom160596_39*r_i*1_11"/>
  <p:tag name="KSO_WM_UNIT_LAYERLEVEL" val="1_1"/>
  <p:tag name="KSO_WM_DIAGRAM_GROUP_CODE" val="r1-1"/>
  <p:tag name="KSO_WM_UNIT_DIAGRAM_CONTRAST_TITLE_CNT" val="5"/>
  <p:tag name="KSO_WM_UNIT_DIAGRAM_DIMENSION_TITLE_CNT" val="2"/>
  <p:tag name="KSO_WM_UNIT_FILL_FORE_SCHEMECOLOR_INDEX" val="14"/>
  <p:tag name="KSO_WM_UNIT_FILL_TYPE" val="1"/>
  <p:tag name="KSO_WM_UNIT_LINE_FORE_SCHEMECOLOR_INDEX" val="5"/>
  <p:tag name="KSO_WM_UNIT_LINE_FILL_TYPE" val="2"/>
  <p:tag name="KSO_WM_UNIT_TEXT_FILL_FORE_SCHEMECOLOR_INDEX" val="13"/>
  <p:tag name="KSO_WM_UNIT_TEXT_FILL_TYPE" val="1"/>
  <p:tag name="KSO_WM_UNIT_USESOURCEFORMAT_APPLY" val="1"/>
</p:tagLst>
</file>

<file path=ppt/tags/tag2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12"/>
  <p:tag name="KSO_WM_UNIT_ID" val="custom160596_39*r_i*1_12"/>
  <p:tag name="KSO_WM_UNIT_LAYERLEVEL" val="1_1"/>
  <p:tag name="KSO_WM_DIAGRAM_GROUP_CODE" val="r1-1"/>
  <p:tag name="KSO_WM_UNIT_DIAGRAM_CONTRAST_TITLE_CNT" val="5"/>
  <p:tag name="KSO_WM_UNIT_DIAGRAM_DIMENSION_TITLE_CNT" val="2"/>
  <p:tag name="KSO_WM_UNIT_FILL_FORE_SCHEMECOLOR_INDEX" val="5"/>
  <p:tag name="KSO_WM_UNIT_FILL_TYPE" val="1"/>
  <p:tag name="KSO_WM_UNIT_TEXT_FILL_FORE_SCHEMECOLOR_INDEX" val="13"/>
  <p:tag name="KSO_WM_UNIT_TEXT_FILL_TYPE" val="1"/>
  <p:tag name="KSO_WM_UNIT_USESOURCEFORMAT_APPLY" val="1"/>
</p:tagLst>
</file>

<file path=ppt/tags/tag2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v"/>
  <p:tag name="KSO_WM_UNIT_INDEX" val="1_2"/>
  <p:tag name="KSO_WM_UNIT_ID" val="custom160596_39*r_v*1_2"/>
  <p:tag name="KSO_WM_UNIT_LAYERLEVEL" val="1_1"/>
  <p:tag name="KSO_WM_UNIT_DIAGRAM_CONTRAST_TITLE_CNT" val="5"/>
  <p:tag name="KSO_WM_UNIT_DIAGRAM_DIMENSION_TITLE_CNT" val="2"/>
  <p:tag name="KSO_WM_UNIT_VALUE" val="11"/>
  <p:tag name="KSO_WM_UNIT_HIGHLIGHT" val="0"/>
  <p:tag name="KSO_WM_UNIT_COMPATIBLE" val="0"/>
  <p:tag name="KSO_WM_UNIT_CLEAR" val="0"/>
  <p:tag name="KSO_WM_UNIT_PRESET_TEXT_INDEX" val="2"/>
  <p:tag name="KSO_WM_UNIT_PRESET_TEXT_LEN" val="10"/>
  <p:tag name="KSO_WM_DIAGRAM_GROUP_CODE" val="r1-1"/>
  <p:tag name="KSO_WM_UNIT_TEXT_FILL_FORE_SCHEMECOLOR_INDEX" val="13"/>
  <p:tag name="KSO_WM_UNIT_TEXT_FILL_TYPE" val="1"/>
  <p:tag name="KSO_WM_UNIT_USESOURCEFORMAT_APPLY" val="1"/>
</p:tagLst>
</file>

<file path=ppt/tags/tag2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v"/>
  <p:tag name="KSO_WM_UNIT_INDEX" val="1_4"/>
  <p:tag name="KSO_WM_UNIT_ID" val="custom160596_39*r_v*1_4"/>
  <p:tag name="KSO_WM_UNIT_LAYERLEVEL" val="1_1"/>
  <p:tag name="KSO_WM_UNIT_DIAGRAM_CONTRAST_TITLE_CNT" val="5"/>
  <p:tag name="KSO_WM_UNIT_DIAGRAM_DIMENSION_TITLE_CNT" val="2"/>
  <p:tag name="KSO_WM_UNIT_VALUE" val="11"/>
  <p:tag name="KSO_WM_UNIT_HIGHLIGHT" val="0"/>
  <p:tag name="KSO_WM_UNIT_COMPATIBLE" val="0"/>
  <p:tag name="KSO_WM_UNIT_CLEAR" val="0"/>
  <p:tag name="KSO_WM_UNIT_PRESET_TEXT_INDEX" val="2"/>
  <p:tag name="KSO_WM_UNIT_PRESET_TEXT_LEN" val="10"/>
  <p:tag name="KSO_WM_DIAGRAM_GROUP_CODE" val="r1-1"/>
  <p:tag name="KSO_WM_UNIT_TEXT_FILL_FORE_SCHEMECOLOR_INDEX" val="13"/>
  <p:tag name="KSO_WM_UNIT_TEXT_FILL_TYPE" val="1"/>
  <p:tag name="KSO_WM_UNIT_USESOURCEFORMAT_APPLY" val="1"/>
</p:tagLst>
</file>

<file path=ppt/tags/tag24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v"/>
  <p:tag name="KSO_WM_UNIT_INDEX" val="1_6"/>
  <p:tag name="KSO_WM_UNIT_ID" val="custom160596_39*r_v*1_6"/>
  <p:tag name="KSO_WM_UNIT_LAYERLEVEL" val="1_1"/>
  <p:tag name="KSO_WM_UNIT_DIAGRAM_CONTRAST_TITLE_CNT" val="5"/>
  <p:tag name="KSO_WM_UNIT_DIAGRAM_DIMENSION_TITLE_CNT" val="2"/>
  <p:tag name="KSO_WM_UNIT_VALUE" val="11"/>
  <p:tag name="KSO_WM_UNIT_HIGHLIGHT" val="0"/>
  <p:tag name="KSO_WM_UNIT_COMPATIBLE" val="0"/>
  <p:tag name="KSO_WM_UNIT_CLEAR" val="0"/>
  <p:tag name="KSO_WM_UNIT_PRESET_TEXT_INDEX" val="2"/>
  <p:tag name="KSO_WM_UNIT_PRESET_TEXT_LEN" val="10"/>
  <p:tag name="KSO_WM_DIAGRAM_GROUP_CODE" val="r1-1"/>
  <p:tag name="KSO_WM_UNIT_TEXT_FILL_FORE_SCHEMECOLOR_INDEX" val="13"/>
  <p:tag name="KSO_WM_UNIT_TEXT_FILL_TYPE" val="1"/>
  <p:tag name="KSO_WM_UNIT_USESOURCEFORMAT_APPLY" val="1"/>
</p:tagLst>
</file>

<file path=ppt/tags/tag2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v"/>
  <p:tag name="KSO_WM_UNIT_INDEX" val="1_8"/>
  <p:tag name="KSO_WM_UNIT_ID" val="custom160596_39*r_v*1_8"/>
  <p:tag name="KSO_WM_UNIT_LAYERLEVEL" val="1_1"/>
  <p:tag name="KSO_WM_UNIT_DIAGRAM_CONTRAST_TITLE_CNT" val="5"/>
  <p:tag name="KSO_WM_UNIT_DIAGRAM_DIMENSION_TITLE_CNT" val="2"/>
  <p:tag name="KSO_WM_UNIT_VALUE" val="11"/>
  <p:tag name="KSO_WM_UNIT_HIGHLIGHT" val="0"/>
  <p:tag name="KSO_WM_UNIT_COMPATIBLE" val="0"/>
  <p:tag name="KSO_WM_UNIT_CLEAR" val="0"/>
  <p:tag name="KSO_WM_UNIT_PRESET_TEXT_INDEX" val="2"/>
  <p:tag name="KSO_WM_UNIT_PRESET_TEXT_LEN" val="10"/>
  <p:tag name="KSO_WM_DIAGRAM_GROUP_CODE" val="r1-1"/>
  <p:tag name="KSO_WM_UNIT_TEXT_FILL_FORE_SCHEMECOLOR_INDEX" val="13"/>
  <p:tag name="KSO_WM_UNIT_TEXT_FILL_TYPE" val="1"/>
  <p:tag name="KSO_WM_UNIT_USESOURCEFORMAT_APPLY" val="1"/>
</p:tagLst>
</file>

<file path=ppt/tags/tag2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v"/>
  <p:tag name="KSO_WM_UNIT_INDEX" val="1_10"/>
  <p:tag name="KSO_WM_UNIT_ID" val="custom160596_39*r_v*1_10"/>
  <p:tag name="KSO_WM_UNIT_LAYERLEVEL" val="1_1"/>
  <p:tag name="KSO_WM_UNIT_DIAGRAM_CONTRAST_TITLE_CNT" val="5"/>
  <p:tag name="KSO_WM_UNIT_DIAGRAM_DIMENSION_TITLE_CNT" val="2"/>
  <p:tag name="KSO_WM_UNIT_VALUE" val="11"/>
  <p:tag name="KSO_WM_UNIT_HIGHLIGHT" val="0"/>
  <p:tag name="KSO_WM_UNIT_COMPATIBLE" val="0"/>
  <p:tag name="KSO_WM_UNIT_CLEAR" val="0"/>
  <p:tag name="KSO_WM_UNIT_PRESET_TEXT_INDEX" val="2"/>
  <p:tag name="KSO_WM_UNIT_PRESET_TEXT_LEN" val="10"/>
  <p:tag name="KSO_WM_DIAGRAM_GROUP_CODE" val="r1-1"/>
  <p:tag name="KSO_WM_UNIT_TEXT_FILL_FORE_SCHEMECOLOR_INDEX" val="13"/>
  <p:tag name="KSO_WM_UNIT_TEXT_FILL_TYPE" val="1"/>
  <p:tag name="KSO_WM_UNIT_USESOURCEFORMAT_APPLY" val="1"/>
</p:tagLst>
</file>

<file path=ppt/tags/tag248.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24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1"/>
  <p:tag name="KSO_WM_UNIT_ID" val="custom160596_38*r_i*1_1"/>
  <p:tag name="KSO_WM_UNIT_LAYERLEVEL" val="1_1"/>
  <p:tag name="KSO_WM_DIAGRAM_GROUP_CODE" val="r1-1"/>
  <p:tag name="KSO_WM_UNIT_DIAGRAM_CONTRAST_TITLE_CNT" val="5"/>
  <p:tag name="KSO_WM_UNIT_DIAGRAM_DIMENSION_TITLE_CNT" val="2"/>
  <p:tag name="KSO_WM_UNIT_FILL_FORE_SCHEMECOLOR_INDEX" val="5"/>
  <p:tag name="KSO_WM_UNIT_FILL_TYPE" val="1"/>
  <p:tag name="KSO_WM_UNIT_TEXT_FILL_FORE_SCHEMECOLOR_INDEX" val="13"/>
  <p:tag name="KSO_WM_UNIT_TEXT_FILL_TYPE" val="1"/>
  <p:tag name="KSO_WM_UNIT_USESOURCEFORMAT_APPLY" val="1"/>
</p:tagLst>
</file>

<file path=ppt/tags/tag2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2"/>
  <p:tag name="KSO_WM_UNIT_ID" val="custom160596_38*r_i*1_2"/>
  <p:tag name="KSO_WM_UNIT_LAYERLEVEL" val="1_1"/>
  <p:tag name="KSO_WM_DIAGRAM_GROUP_CODE" val="r1-1"/>
  <p:tag name="KSO_WM_UNIT_DIAGRAM_CONTRAST_TITLE_CNT" val="5"/>
  <p:tag name="KSO_WM_UNIT_DIAGRAM_DIMENSION_TITLE_CNT" val="2"/>
  <p:tag name="KSO_WM_UNIT_FILL_FORE_SCHEMECOLOR_INDEX" val="7"/>
  <p:tag name="KSO_WM_UNIT_FILL_TYPE" val="1"/>
  <p:tag name="KSO_WM_UNIT_TEXT_FILL_FORE_SCHEMECOLOR_INDEX" val="13"/>
  <p:tag name="KSO_WM_UNIT_TEXT_FILL_TYPE" val="1"/>
  <p:tag name="KSO_WM_UNIT_USESOURCEFORMAT_APPLY" val="1"/>
</p:tagLst>
</file>

<file path=ppt/tags/tag25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3"/>
  <p:tag name="KSO_WM_UNIT_ID" val="custom160596_38*r_i*1_3"/>
  <p:tag name="KSO_WM_UNIT_LAYERLEVEL" val="1_1"/>
  <p:tag name="KSO_WM_DIAGRAM_GROUP_CODE" val="r1-1"/>
  <p:tag name="KSO_WM_UNIT_DIAGRAM_CONTRAST_TITLE_CNT" val="5"/>
  <p:tag name="KSO_WM_UNIT_DIAGRAM_DIMENSION_TITLE_CNT" val="2"/>
  <p:tag name="KSO_WM_UNIT_FILL_FORE_SCHEMECOLOR_INDEX" val="14"/>
  <p:tag name="KSO_WM_UNIT_FILL_TYPE" val="1"/>
  <p:tag name="KSO_WM_UNIT_LINE_FORE_SCHEMECOLOR_INDEX" val="5"/>
  <p:tag name="KSO_WM_UNIT_LINE_FILL_TYPE" val="2"/>
  <p:tag name="KSO_WM_UNIT_TEXT_FILL_FORE_SCHEMECOLOR_INDEX" val="13"/>
  <p:tag name="KSO_WM_UNIT_TEXT_FILL_TYPE" val="1"/>
  <p:tag name="KSO_WM_UNIT_USESOURCEFORMAT_APPLY" val="1"/>
</p:tagLst>
</file>

<file path=ppt/tags/tag25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4"/>
  <p:tag name="KSO_WM_UNIT_ID" val="custom160596_38*r_i*1_4"/>
  <p:tag name="KSO_WM_UNIT_LAYERLEVEL" val="1_1"/>
  <p:tag name="KSO_WM_DIAGRAM_GROUP_CODE" val="r1-1"/>
  <p:tag name="KSO_WM_UNIT_DIAGRAM_CONTRAST_TITLE_CNT" val="5"/>
  <p:tag name="KSO_WM_UNIT_DIAGRAM_DIMENSION_TITLE_CNT" val="2"/>
  <p:tag name="KSO_WM_UNIT_FILL_FORE_SCHEMECOLOR_INDEX" val="5"/>
  <p:tag name="KSO_WM_UNIT_FILL_TYPE" val="1"/>
  <p:tag name="KSO_WM_UNIT_TEXT_FILL_FORE_SCHEMECOLOR_INDEX" val="13"/>
  <p:tag name="KSO_WM_UNIT_TEXT_FILL_TYPE" val="1"/>
  <p:tag name="KSO_WM_UNIT_USESOURCEFORMAT_APPLY" val="1"/>
</p:tagLst>
</file>

<file path=ppt/tags/tag25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5"/>
  <p:tag name="KSO_WM_UNIT_ID" val="custom160596_38*r_i*1_5"/>
  <p:tag name="KSO_WM_UNIT_LAYERLEVEL" val="1_1"/>
  <p:tag name="KSO_WM_DIAGRAM_GROUP_CODE" val="r1-1"/>
  <p:tag name="KSO_WM_UNIT_DIAGRAM_CONTRAST_TITLE_CNT" val="5"/>
  <p:tag name="KSO_WM_UNIT_DIAGRAM_DIMENSION_TITLE_CNT" val="2"/>
  <p:tag name="KSO_WM_UNIT_FILL_FORE_SCHEMECOLOR_INDEX" val="14"/>
  <p:tag name="KSO_WM_UNIT_FILL_TYPE" val="1"/>
  <p:tag name="KSO_WM_UNIT_LINE_FORE_SCHEMECOLOR_INDEX" val="5"/>
  <p:tag name="KSO_WM_UNIT_LINE_FILL_TYPE" val="2"/>
  <p:tag name="KSO_WM_UNIT_TEXT_FILL_FORE_SCHEMECOLOR_INDEX" val="13"/>
  <p:tag name="KSO_WM_UNIT_TEXT_FILL_TYPE" val="1"/>
  <p:tag name="KSO_WM_UNIT_USESOURCEFORMAT_APPLY" val="1"/>
</p:tagLst>
</file>

<file path=ppt/tags/tag25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6"/>
  <p:tag name="KSO_WM_UNIT_ID" val="custom160596_38*r_i*1_6"/>
  <p:tag name="KSO_WM_UNIT_LAYERLEVEL" val="1_1"/>
  <p:tag name="KSO_WM_DIAGRAM_GROUP_CODE" val="r1-1"/>
  <p:tag name="KSO_WM_UNIT_DIAGRAM_CONTRAST_TITLE_CNT" val="5"/>
  <p:tag name="KSO_WM_UNIT_DIAGRAM_DIMENSION_TITLE_CNT" val="2"/>
  <p:tag name="KSO_WM_UNIT_FILL_FORE_SCHEMECOLOR_INDEX" val="5"/>
  <p:tag name="KSO_WM_UNIT_FILL_TYPE" val="1"/>
  <p:tag name="KSO_WM_UNIT_TEXT_FILL_FORE_SCHEMECOLOR_INDEX" val="13"/>
  <p:tag name="KSO_WM_UNIT_TEXT_FILL_TYPE" val="1"/>
  <p:tag name="KSO_WM_UNIT_USESOURCEFORMAT_APPLY" val="1"/>
</p:tagLst>
</file>

<file path=ppt/tags/tag25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7"/>
  <p:tag name="KSO_WM_UNIT_ID" val="custom160596_38*r_i*1_7"/>
  <p:tag name="KSO_WM_UNIT_LAYERLEVEL" val="1_1"/>
  <p:tag name="KSO_WM_DIAGRAM_GROUP_CODE" val="r1-1"/>
  <p:tag name="KSO_WM_UNIT_DIAGRAM_CONTRAST_TITLE_CNT" val="5"/>
  <p:tag name="KSO_WM_UNIT_DIAGRAM_DIMENSION_TITLE_CNT" val="2"/>
  <p:tag name="KSO_WM_UNIT_FILL_FORE_SCHEMECOLOR_INDEX" val="14"/>
  <p:tag name="KSO_WM_UNIT_FILL_TYPE" val="1"/>
  <p:tag name="KSO_WM_UNIT_LINE_FORE_SCHEMECOLOR_INDEX" val="5"/>
  <p:tag name="KSO_WM_UNIT_LINE_FILL_TYPE" val="2"/>
  <p:tag name="KSO_WM_UNIT_TEXT_FILL_FORE_SCHEMECOLOR_INDEX" val="13"/>
  <p:tag name="KSO_WM_UNIT_TEXT_FILL_TYPE" val="1"/>
  <p:tag name="KSO_WM_UNIT_USESOURCEFORMAT_APPLY" val="1"/>
</p:tagLst>
</file>

<file path=ppt/tags/tag25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8"/>
  <p:tag name="KSO_WM_UNIT_ID" val="custom160596_38*r_i*1_8"/>
  <p:tag name="KSO_WM_UNIT_LAYERLEVEL" val="1_1"/>
  <p:tag name="KSO_WM_DIAGRAM_GROUP_CODE" val="r1-1"/>
  <p:tag name="KSO_WM_UNIT_DIAGRAM_CONTRAST_TITLE_CNT" val="5"/>
  <p:tag name="KSO_WM_UNIT_DIAGRAM_DIMENSION_TITLE_CNT" val="2"/>
  <p:tag name="KSO_WM_UNIT_FILL_FORE_SCHEMECOLOR_INDEX" val="5"/>
  <p:tag name="KSO_WM_UNIT_FILL_TYPE" val="1"/>
  <p:tag name="KSO_WM_UNIT_TEXT_FILL_FORE_SCHEMECOLOR_INDEX" val="13"/>
  <p:tag name="KSO_WM_UNIT_TEXT_FILL_TYPE" val="1"/>
  <p:tag name="KSO_WM_UNIT_USESOURCEFORMAT_APPLY" val="1"/>
</p:tagLst>
</file>

<file path=ppt/tags/tag25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9"/>
  <p:tag name="KSO_WM_UNIT_ID" val="custom160596_38*r_i*1_9"/>
  <p:tag name="KSO_WM_UNIT_LAYERLEVEL" val="1_1"/>
  <p:tag name="KSO_WM_DIAGRAM_GROUP_CODE" val="r1-1"/>
  <p:tag name="KSO_WM_UNIT_DIAGRAM_CONTRAST_TITLE_CNT" val="5"/>
  <p:tag name="KSO_WM_UNIT_DIAGRAM_DIMENSION_TITLE_CNT" val="2"/>
  <p:tag name="KSO_WM_UNIT_FILL_FORE_SCHEMECOLOR_INDEX" val="14"/>
  <p:tag name="KSO_WM_UNIT_FILL_TYPE" val="1"/>
  <p:tag name="KSO_WM_UNIT_LINE_FORE_SCHEMECOLOR_INDEX" val="5"/>
  <p:tag name="KSO_WM_UNIT_LINE_FILL_TYPE" val="2"/>
  <p:tag name="KSO_WM_UNIT_TEXT_FILL_FORE_SCHEMECOLOR_INDEX" val="13"/>
  <p:tag name="KSO_WM_UNIT_TEXT_FILL_TYPE" val="1"/>
  <p:tag name="KSO_WM_UNIT_USESOURCEFORMAT_APPLY" val="1"/>
</p:tagLst>
</file>

<file path=ppt/tags/tag25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10"/>
  <p:tag name="KSO_WM_UNIT_ID" val="custom160596_38*r_i*1_10"/>
  <p:tag name="KSO_WM_UNIT_LAYERLEVEL" val="1_1"/>
  <p:tag name="KSO_WM_DIAGRAM_GROUP_CODE" val="r1-1"/>
  <p:tag name="KSO_WM_UNIT_DIAGRAM_CONTRAST_TITLE_CNT" val="5"/>
  <p:tag name="KSO_WM_UNIT_DIAGRAM_DIMENSION_TITLE_CNT" val="2"/>
  <p:tag name="KSO_WM_UNIT_FILL_FORE_SCHEMECOLOR_INDEX" val="5"/>
  <p:tag name="KSO_WM_UNIT_FILL_TYPE" val="1"/>
  <p:tag name="KSO_WM_UNIT_TEXT_FILL_FORE_SCHEMECOLOR_INDEX" val="13"/>
  <p:tag name="KSO_WM_UNIT_TEXT_FILL_TYPE" val="1"/>
  <p:tag name="KSO_WM_UNIT_USESOURCEFORMAT_APPLY" val="1"/>
</p:tagLst>
</file>

<file path=ppt/tags/tag25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21"/>
  <p:tag name="KSO_WM_UNIT_ID" val="custom160596_38*r_i*1_21"/>
  <p:tag name="KSO_WM_UNIT_LAYERLEVEL" val="1_1"/>
  <p:tag name="KSO_WM_DIAGRAM_GROUP_CODE" val="r1-1"/>
  <p:tag name="KSO_WM_UNIT_DIAGRAM_CONTRAST_TITLE_CNT" val="5"/>
  <p:tag name="KSO_WM_UNIT_DIAGRAM_DIMENSION_TITLE_CNT" val="2"/>
  <p:tag name="KSO_WM_UNIT_FILL_FORE_SCHEMECOLOR_INDEX" val="14"/>
  <p:tag name="KSO_WM_UNIT_FILL_TYPE" val="1"/>
  <p:tag name="KSO_WM_UNIT_LINE_FORE_SCHEMECOLOR_INDEX" val="7"/>
  <p:tag name="KSO_WM_UNIT_LINE_FILL_TYPE" val="2"/>
  <p:tag name="KSO_WM_UNIT_TEXT_FILL_FORE_SCHEMECOLOR_INDEX" val="13"/>
  <p:tag name="KSO_WM_UNIT_TEXT_FILL_TYPE" val="1"/>
  <p:tag name="KSO_WM_UNIT_USESOURCEFORMAT_APPLY" val="1"/>
</p:tagLst>
</file>

<file path=ppt/tags/tag26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22"/>
  <p:tag name="KSO_WM_UNIT_ID" val="custom160596_38*r_i*1_22"/>
  <p:tag name="KSO_WM_UNIT_LAYERLEVEL" val="1_1"/>
  <p:tag name="KSO_WM_DIAGRAM_GROUP_CODE" val="r1-1"/>
  <p:tag name="KSO_WM_UNIT_DIAGRAM_CONTRAST_TITLE_CNT" val="5"/>
  <p:tag name="KSO_WM_UNIT_DIAGRAM_DIMENSION_TITLE_CNT" val="2"/>
  <p:tag name="KSO_WM_UNIT_FILL_FORE_SCHEMECOLOR_INDEX" val="7"/>
  <p:tag name="KSO_WM_UNIT_FILL_TYPE" val="1"/>
  <p:tag name="KSO_WM_UNIT_TEXT_FILL_FORE_SCHEMECOLOR_INDEX" val="13"/>
  <p:tag name="KSO_WM_UNIT_TEXT_FILL_TYPE" val="1"/>
  <p:tag name="KSO_WM_UNIT_USESOURCEFORMAT_APPLY" val="1"/>
</p:tagLst>
</file>

<file path=ppt/tags/tag26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19"/>
  <p:tag name="KSO_WM_UNIT_ID" val="custom160596_38*r_i*1_19"/>
  <p:tag name="KSO_WM_UNIT_LAYERLEVEL" val="1_1"/>
  <p:tag name="KSO_WM_DIAGRAM_GROUP_CODE" val="r1-1"/>
  <p:tag name="KSO_WM_UNIT_DIAGRAM_CONTRAST_TITLE_CNT" val="5"/>
  <p:tag name="KSO_WM_UNIT_DIAGRAM_DIMENSION_TITLE_CNT" val="2"/>
  <p:tag name="KSO_WM_UNIT_FILL_FORE_SCHEMECOLOR_INDEX" val="14"/>
  <p:tag name="KSO_WM_UNIT_FILL_TYPE" val="1"/>
  <p:tag name="KSO_WM_UNIT_LINE_FORE_SCHEMECOLOR_INDEX" val="7"/>
  <p:tag name="KSO_WM_UNIT_LINE_FILL_TYPE" val="2"/>
  <p:tag name="KSO_WM_UNIT_TEXT_FILL_FORE_SCHEMECOLOR_INDEX" val="13"/>
  <p:tag name="KSO_WM_UNIT_TEXT_FILL_TYPE" val="1"/>
  <p:tag name="KSO_WM_UNIT_USESOURCEFORMAT_APPLY" val="1"/>
</p:tagLst>
</file>

<file path=ppt/tags/tag26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20"/>
  <p:tag name="KSO_WM_UNIT_ID" val="custom160596_38*r_i*1_20"/>
  <p:tag name="KSO_WM_UNIT_LAYERLEVEL" val="1_1"/>
  <p:tag name="KSO_WM_DIAGRAM_GROUP_CODE" val="r1-1"/>
  <p:tag name="KSO_WM_UNIT_DIAGRAM_CONTRAST_TITLE_CNT" val="5"/>
  <p:tag name="KSO_WM_UNIT_DIAGRAM_DIMENSION_TITLE_CNT" val="2"/>
  <p:tag name="KSO_WM_UNIT_FILL_FORE_SCHEMECOLOR_INDEX" val="7"/>
  <p:tag name="KSO_WM_UNIT_FILL_TYPE" val="1"/>
  <p:tag name="KSO_WM_UNIT_TEXT_FILL_FORE_SCHEMECOLOR_INDEX" val="13"/>
  <p:tag name="KSO_WM_UNIT_TEXT_FILL_TYPE" val="1"/>
  <p:tag name="KSO_WM_UNIT_USESOURCEFORMAT_APPLY" val="1"/>
</p:tagLst>
</file>

<file path=ppt/tags/tag26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17"/>
  <p:tag name="KSO_WM_UNIT_ID" val="custom160596_38*r_i*1_17"/>
  <p:tag name="KSO_WM_UNIT_LAYERLEVEL" val="1_1"/>
  <p:tag name="KSO_WM_DIAGRAM_GROUP_CODE" val="r1-1"/>
  <p:tag name="KSO_WM_UNIT_DIAGRAM_CONTRAST_TITLE_CNT" val="5"/>
  <p:tag name="KSO_WM_UNIT_DIAGRAM_DIMENSION_TITLE_CNT" val="2"/>
  <p:tag name="KSO_WM_UNIT_FILL_FORE_SCHEMECOLOR_INDEX" val="14"/>
  <p:tag name="KSO_WM_UNIT_FILL_TYPE" val="1"/>
  <p:tag name="KSO_WM_UNIT_LINE_FORE_SCHEMECOLOR_INDEX" val="7"/>
  <p:tag name="KSO_WM_UNIT_LINE_FILL_TYPE" val="2"/>
  <p:tag name="KSO_WM_UNIT_TEXT_FILL_FORE_SCHEMECOLOR_INDEX" val="13"/>
  <p:tag name="KSO_WM_UNIT_TEXT_FILL_TYPE" val="1"/>
  <p:tag name="KSO_WM_UNIT_USESOURCEFORMAT_APPLY" val="1"/>
</p:tagLst>
</file>

<file path=ppt/tags/tag26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18"/>
  <p:tag name="KSO_WM_UNIT_ID" val="custom160596_38*r_i*1_18"/>
  <p:tag name="KSO_WM_UNIT_LAYERLEVEL" val="1_1"/>
  <p:tag name="KSO_WM_DIAGRAM_GROUP_CODE" val="r1-1"/>
  <p:tag name="KSO_WM_UNIT_DIAGRAM_CONTRAST_TITLE_CNT" val="5"/>
  <p:tag name="KSO_WM_UNIT_DIAGRAM_DIMENSION_TITLE_CNT" val="2"/>
  <p:tag name="KSO_WM_UNIT_FILL_FORE_SCHEMECOLOR_INDEX" val="7"/>
  <p:tag name="KSO_WM_UNIT_FILL_TYPE" val="1"/>
  <p:tag name="KSO_WM_UNIT_TEXT_FILL_FORE_SCHEMECOLOR_INDEX" val="13"/>
  <p:tag name="KSO_WM_UNIT_TEXT_FILL_TYPE" val="1"/>
  <p:tag name="KSO_WM_UNIT_USESOURCEFORMAT_APPLY" val="1"/>
</p:tagLst>
</file>

<file path=ppt/tags/tag26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15"/>
  <p:tag name="KSO_WM_UNIT_ID" val="custom160596_38*r_i*1_15"/>
  <p:tag name="KSO_WM_UNIT_LAYERLEVEL" val="1_1"/>
  <p:tag name="KSO_WM_DIAGRAM_GROUP_CODE" val="r1-1"/>
  <p:tag name="KSO_WM_UNIT_DIAGRAM_CONTRAST_TITLE_CNT" val="5"/>
  <p:tag name="KSO_WM_UNIT_DIAGRAM_DIMENSION_TITLE_CNT" val="2"/>
  <p:tag name="KSO_WM_UNIT_FILL_FORE_SCHEMECOLOR_INDEX" val="14"/>
  <p:tag name="KSO_WM_UNIT_FILL_TYPE" val="1"/>
  <p:tag name="KSO_WM_UNIT_LINE_FORE_SCHEMECOLOR_INDEX" val="7"/>
  <p:tag name="KSO_WM_UNIT_LINE_FILL_TYPE" val="2"/>
  <p:tag name="KSO_WM_UNIT_TEXT_FILL_FORE_SCHEMECOLOR_INDEX" val="13"/>
  <p:tag name="KSO_WM_UNIT_TEXT_FILL_TYPE" val="1"/>
  <p:tag name="KSO_WM_UNIT_USESOURCEFORMAT_APPLY" val="1"/>
</p:tagLst>
</file>

<file path=ppt/tags/tag26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16"/>
  <p:tag name="KSO_WM_UNIT_ID" val="custom160596_38*r_i*1_16"/>
  <p:tag name="KSO_WM_UNIT_LAYERLEVEL" val="1_1"/>
  <p:tag name="KSO_WM_DIAGRAM_GROUP_CODE" val="r1-1"/>
  <p:tag name="KSO_WM_UNIT_DIAGRAM_CONTRAST_TITLE_CNT" val="5"/>
  <p:tag name="KSO_WM_UNIT_DIAGRAM_DIMENSION_TITLE_CNT" val="2"/>
  <p:tag name="KSO_WM_UNIT_FILL_FORE_SCHEMECOLOR_INDEX" val="7"/>
  <p:tag name="KSO_WM_UNIT_FILL_TYPE" val="1"/>
  <p:tag name="KSO_WM_UNIT_TEXT_FILL_FORE_SCHEMECOLOR_INDEX" val="13"/>
  <p:tag name="KSO_WM_UNIT_TEXT_FILL_TYPE" val="1"/>
  <p:tag name="KSO_WM_UNIT_USESOURCEFORMAT_APPLY" val="1"/>
</p:tagLst>
</file>

<file path=ppt/tags/tag26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26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26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27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27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27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27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27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27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27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27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27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27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28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28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28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28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28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28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28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28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28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28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29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29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292.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29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29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29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29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29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29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29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30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30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30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30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30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30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30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30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30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30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31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31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31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3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1"/>
  <p:tag name="KSO_WM_UNIT_CLEAR" val="1"/>
  <p:tag name="KSO_WM_UNIT_LAYERLEVEL" val="1_1"/>
  <p:tag name="KSO_WM_UNIT_ID" val="custom160034_20*m_i*1_1"/>
  <p:tag name="KSO_WM_DIAGRAM_GROUP_CODE" val="m1-1"/>
  <p:tag name="KSO_WM_UNIT_USESOURCEFORMAT_APPLY" val="1"/>
</p:tagLst>
</file>

<file path=ppt/tags/tag3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3"/>
  <p:tag name="KSO_WM_UNIT_CLEAR" val="1"/>
  <p:tag name="KSO_WM_UNIT_LAYERLEVEL" val="1_1"/>
  <p:tag name="KSO_WM_UNIT_ID" val="custom160034_20*m_i*1_3"/>
  <p:tag name="KSO_WM_DIAGRAM_GROUP_CODE" val="m1-1"/>
  <p:tag name="KSO_WM_UNIT_USESOURCEFORMAT_APPLY" val="1"/>
</p:tagLst>
</file>

<file path=ppt/tags/tag3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4"/>
  <p:tag name="KSO_WM_UNIT_CLEAR" val="1"/>
  <p:tag name="KSO_WM_UNIT_LAYERLEVEL" val="1_1"/>
  <p:tag name="KSO_WM_UNIT_ID" val="custom160034_20*m_i*1_4"/>
  <p:tag name="KSO_WM_DIAGRAM_GROUP_CODE" val="m1-1"/>
  <p:tag name="KSO_WM_UNIT_USESOURCEFORMAT_APPLY" val="1"/>
</p:tagLst>
</file>

<file path=ppt/tags/tag3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h_f"/>
  <p:tag name="KSO_WM_UNIT_INDEX" val="1_2_1"/>
  <p:tag name="KSO_WM_UNIT_CLEAR" val="1"/>
  <p:tag name="KSO_WM_UNIT_LAYERLEVEL" val="1_1_1"/>
  <p:tag name="KSO_WM_UNIT_VALUE" val="91"/>
  <p:tag name="KSO_WM_UNIT_HIGHLIGHT" val="0"/>
  <p:tag name="KSO_WM_UNIT_COMPATIBLE" val="0"/>
  <p:tag name="KSO_WM_UNIT_ID" val="custom160034_20*m_h_f*1_2_1"/>
  <p:tag name="KSO_WM_UNIT_PRESET_TEXT_INDEX" val="2"/>
  <p:tag name="KSO_WM_UNIT_PRESET_TEXT_LEN" val="20"/>
  <p:tag name="KSO_WM_DIAGRAM_GROUP_CODE" val="m1-1"/>
  <p:tag name="KSO_WM_UNIT_USESOURCEFORMAT_APPLY" val="1"/>
</p:tagLst>
</file>

<file path=ppt/tags/tag3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h_f"/>
  <p:tag name="KSO_WM_UNIT_INDEX" val="1_3_1"/>
  <p:tag name="KSO_WM_UNIT_CLEAR" val="1"/>
  <p:tag name="KSO_WM_UNIT_LAYERLEVEL" val="1_1_1"/>
  <p:tag name="KSO_WM_UNIT_VALUE" val="91"/>
  <p:tag name="KSO_WM_UNIT_HIGHLIGHT" val="0"/>
  <p:tag name="KSO_WM_UNIT_COMPATIBLE" val="0"/>
  <p:tag name="KSO_WM_UNIT_ID" val="custom160034_20*m_h_f*1_3_1"/>
  <p:tag name="KSO_WM_UNIT_PRESET_TEXT_INDEX" val="2"/>
  <p:tag name="KSO_WM_UNIT_PRESET_TEXT_LEN" val="20"/>
  <p:tag name="KSO_WM_DIAGRAM_GROUP_CODE" val="m1-1"/>
  <p:tag name="KSO_WM_UNIT_USESOURCEFORMAT_APPLY" val="1"/>
</p:tagLst>
</file>

<file path=ppt/tags/tag3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h_f"/>
  <p:tag name="KSO_WM_UNIT_INDEX" val="1_2_1"/>
  <p:tag name="KSO_WM_UNIT_CLEAR" val="1"/>
  <p:tag name="KSO_WM_UNIT_LAYERLEVEL" val="1_1_1"/>
  <p:tag name="KSO_WM_UNIT_VALUE" val="91"/>
  <p:tag name="KSO_WM_UNIT_HIGHLIGHT" val="0"/>
  <p:tag name="KSO_WM_UNIT_COMPATIBLE" val="0"/>
  <p:tag name="KSO_WM_UNIT_ID" val="custom160034_20*m_h_f*1_2_1"/>
  <p:tag name="KSO_WM_UNIT_PRESET_TEXT_INDEX" val="2"/>
  <p:tag name="KSO_WM_UNIT_PRESET_TEXT_LEN" val="20"/>
  <p:tag name="KSO_WM_DIAGRAM_GROUP_CODE" val="m1-1"/>
  <p:tag name="KSO_WM_UNIT_USESOURCEFORMAT_APPLY" val="1"/>
</p:tagLst>
</file>

<file path=ppt/tags/tag319.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3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25*l_i*1_1"/>
  <p:tag name="KSO_WM_UNIT_LAYERLEVEL" val="1_1"/>
  <p:tag name="KSO_WM_DIAGRAM_GROUP_CODE" val="l1-8"/>
  <p:tag name="KSO_WM_UNIT_FILL_FORE_SCHEMECOLOR_INDEX" val="5"/>
  <p:tag name="KSO_WM_UNIT_FILL_TYPE" val="1"/>
  <p:tag name="KSO_WM_UNIT_TEXT_FILL_FORE_SCHEMECOLOR_INDEX" val="13"/>
  <p:tag name="KSO_WM_UNIT_TEXT_FILL_TYPE" val="1"/>
  <p:tag name="KSO_WM_UNIT_USESOURCEFORMAT_APPLY" val="1"/>
</p:tagLst>
</file>

<file path=ppt/tags/tag3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25*l_i*1_2"/>
  <p:tag name="KSO_WM_UNIT_LAYERLEVEL" val="1_1"/>
  <p:tag name="KSO_WM_DIAGRAM_GROUP_CODE" val="l1-8"/>
  <p:tag name="KSO_WM_UNIT_FILL_FORE_SCHEMECOLOR_INDEX" val="5"/>
  <p:tag name="KSO_WM_UNIT_FILL_TYPE" val="1"/>
  <p:tag name="KSO_WM_UNIT_TEXT_FILL_FORE_SCHEMECOLOR_INDEX" val="13"/>
  <p:tag name="KSO_WM_UNIT_TEXT_FILL_TYPE" val="1"/>
  <p:tag name="KSO_WM_UNIT_USESOURCEFORMAT_APPLY" val="1"/>
</p:tagLst>
</file>

<file path=ppt/tags/tag3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3"/>
  <p:tag name="KSO_WM_UNIT_ID" val="custom160596_25*l_i*1_3"/>
  <p:tag name="KSO_WM_UNIT_LAYERLEVEL" val="1_1"/>
  <p:tag name="KSO_WM_DIAGRAM_GROUP_CODE" val="l1-8"/>
  <p:tag name="KSO_WM_UNIT_FILL_FORE_SCHEMECOLOR_INDEX" val="6"/>
  <p:tag name="KSO_WM_UNIT_FILL_TYPE" val="1"/>
  <p:tag name="KSO_WM_UNIT_TEXT_FILL_FORE_SCHEMECOLOR_INDEX" val="13"/>
  <p:tag name="KSO_WM_UNIT_TEXT_FILL_TYPE" val="1"/>
  <p:tag name="KSO_WM_UNIT_USESOURCEFORMAT_APPLY" val="1"/>
</p:tagLst>
</file>

<file path=ppt/tags/tag32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4"/>
  <p:tag name="KSO_WM_UNIT_ID" val="custom160596_25*l_i*1_4"/>
  <p:tag name="KSO_WM_UNIT_LAYERLEVEL" val="1_1"/>
  <p:tag name="KSO_WM_DIAGRAM_GROUP_CODE" val="l1-8"/>
  <p:tag name="KSO_WM_UNIT_FILL_FORE_SCHEMECOLOR_INDEX" val="6"/>
  <p:tag name="KSO_WM_UNIT_FILL_TYPE" val="1"/>
  <p:tag name="KSO_WM_UNIT_TEXT_FILL_FORE_SCHEMECOLOR_INDEX" val="13"/>
  <p:tag name="KSO_WM_UNIT_TEXT_FILL_TYPE" val="1"/>
  <p:tag name="KSO_WM_UNIT_USESOURCEFORMAT_APPLY" val="1"/>
</p:tagLst>
</file>

<file path=ppt/tags/tag32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5"/>
  <p:tag name="KSO_WM_UNIT_ID" val="custom160596_25*l_i*1_5"/>
  <p:tag name="KSO_WM_UNIT_LAYERLEVEL" val="1_1"/>
  <p:tag name="KSO_WM_DIAGRAM_GROUP_CODE" val="l1-8"/>
  <p:tag name="KSO_WM_UNIT_FILL_FORE_SCHEMECOLOR_INDEX" val="7"/>
  <p:tag name="KSO_WM_UNIT_FILL_TYPE" val="1"/>
  <p:tag name="KSO_WM_UNIT_TEXT_FILL_FORE_SCHEMECOLOR_INDEX" val="13"/>
  <p:tag name="KSO_WM_UNIT_TEXT_FILL_TYPE" val="1"/>
  <p:tag name="KSO_WM_UNIT_USESOURCEFORMAT_APPLY" val="1"/>
</p:tagLst>
</file>

<file path=ppt/tags/tag32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6"/>
  <p:tag name="KSO_WM_UNIT_ID" val="custom160596_25*l_i*1_6"/>
  <p:tag name="KSO_WM_UNIT_LAYERLEVEL" val="1_1"/>
  <p:tag name="KSO_WM_DIAGRAM_GROUP_CODE" val="l1-8"/>
  <p:tag name="KSO_WM_UNIT_FILL_FORE_SCHEMECOLOR_INDEX" val="7"/>
  <p:tag name="KSO_WM_UNIT_FILL_TYPE" val="1"/>
  <p:tag name="KSO_WM_UNIT_TEXT_FILL_FORE_SCHEMECOLOR_INDEX" val="13"/>
  <p:tag name="KSO_WM_UNIT_TEXT_FILL_TYPE" val="1"/>
  <p:tag name="KSO_WM_UNIT_USESOURCEFORMAT_APPLY" val="1"/>
</p:tagLst>
</file>

<file path=ppt/tags/tag32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7"/>
  <p:tag name="KSO_WM_UNIT_ID" val="custom160596_25*l_i*1_7"/>
  <p:tag name="KSO_WM_UNIT_LAYERLEVEL" val="1_1"/>
  <p:tag name="KSO_WM_DIAGRAM_GROUP_CODE" val="l1-8"/>
  <p:tag name="KSO_WM_UNIT_FILL_FORE_SCHEMECOLOR_INDEX" val="9"/>
  <p:tag name="KSO_WM_UNIT_FILL_TYPE" val="1"/>
  <p:tag name="KSO_WM_UNIT_TEXT_FILL_FORE_SCHEMECOLOR_INDEX" val="13"/>
  <p:tag name="KSO_WM_UNIT_TEXT_FILL_TYPE" val="1"/>
  <p:tag name="KSO_WM_UNIT_USESOURCEFORMAT_APPLY" val="1"/>
</p:tagLst>
</file>

<file path=ppt/tags/tag32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8"/>
  <p:tag name="KSO_WM_UNIT_ID" val="custom160596_25*l_i*1_8"/>
  <p:tag name="KSO_WM_UNIT_LAYERLEVEL" val="1_1"/>
  <p:tag name="KSO_WM_DIAGRAM_GROUP_CODE" val="l1-8"/>
  <p:tag name="KSO_WM_UNIT_FILL_FORE_SCHEMECOLOR_INDEX" val="9"/>
  <p:tag name="KSO_WM_UNIT_FILL_TYPE" val="1"/>
  <p:tag name="KSO_WM_UNIT_TEXT_FILL_FORE_SCHEMECOLOR_INDEX" val="13"/>
  <p:tag name="KSO_WM_UNIT_TEXT_FILL_TYPE" val="1"/>
  <p:tag name="KSO_WM_UNIT_USESOURCEFORMAT_APPLY" val="1"/>
</p:tagLst>
</file>

<file path=ppt/tags/tag32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9"/>
  <p:tag name="KSO_WM_UNIT_ID" val="custom160596_25*l_i*1_9"/>
  <p:tag name="KSO_WM_UNIT_LAYERLEVEL" val="1_1"/>
  <p:tag name="KSO_WM_DIAGRAM_GROUP_CODE" val="l1-8"/>
  <p:tag name="KSO_WM_UNIT_FILL_FORE_SCHEMECOLOR_INDEX" val="5"/>
  <p:tag name="KSO_WM_UNIT_FILL_TYPE" val="1"/>
  <p:tag name="KSO_WM_UNIT_TEXT_FILL_FORE_SCHEMECOLOR_INDEX" val="13"/>
  <p:tag name="KSO_WM_UNIT_TEXT_FILL_TYPE" val="1"/>
  <p:tag name="KSO_WM_UNIT_USESOURCEFORMAT_APPLY" val="1"/>
</p:tagLst>
</file>

<file path=ppt/tags/tag32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0"/>
  <p:tag name="KSO_WM_UNIT_ID" val="custom160596_25*l_i*1_10"/>
  <p:tag name="KSO_WM_UNIT_LAYERLEVEL" val="1_1"/>
  <p:tag name="KSO_WM_DIAGRAM_GROUP_CODE" val="l1-8"/>
  <p:tag name="KSO_WM_UNIT_FILL_FORE_SCHEMECOLOR_INDEX" val="5"/>
  <p:tag name="KSO_WM_UNIT_FILL_TYPE" val="1"/>
  <p:tag name="KSO_WM_UNIT_TEXT_FILL_FORE_SCHEMECOLOR_INDEX" val="13"/>
  <p:tag name="KSO_WM_UNIT_TEXT_FILL_TYPE" val="1"/>
  <p:tag name="KSO_WM_UNIT_USESOURCEFORMAT_APPLY" val="1"/>
</p:tagLst>
</file>

<file path=ppt/tags/tag33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1"/>
  <p:tag name="KSO_WM_UNIT_ID" val="custom160596_25*l_i*1_11"/>
  <p:tag name="KSO_WM_UNIT_LAYERLEVEL" val="1_1"/>
  <p:tag name="KSO_WM_DIAGRAM_GROUP_CODE" val="l1-8"/>
  <p:tag name="KSO_WM_UNIT_FILL_FORE_SCHEMECOLOR_INDEX" val="6"/>
  <p:tag name="KSO_WM_UNIT_FILL_TYPE" val="1"/>
  <p:tag name="KSO_WM_UNIT_TEXT_FILL_FORE_SCHEMECOLOR_INDEX" val="13"/>
  <p:tag name="KSO_WM_UNIT_TEXT_FILL_TYPE" val="1"/>
  <p:tag name="KSO_WM_UNIT_USESOURCEFORMAT_APPLY" val="1"/>
</p:tagLst>
</file>

<file path=ppt/tags/tag33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2"/>
  <p:tag name="KSO_WM_UNIT_ID" val="custom160596_25*l_i*1_12"/>
  <p:tag name="KSO_WM_UNIT_LAYERLEVEL" val="1_1"/>
  <p:tag name="KSO_WM_DIAGRAM_GROUP_CODE" val="l1-8"/>
  <p:tag name="KSO_WM_UNIT_FILL_FORE_SCHEMECOLOR_INDEX" val="6"/>
  <p:tag name="KSO_WM_UNIT_FILL_TYPE" val="1"/>
  <p:tag name="KSO_WM_UNIT_TEXT_FILL_FORE_SCHEMECOLOR_INDEX" val="13"/>
  <p:tag name="KSO_WM_UNIT_TEXT_FILL_TYPE" val="1"/>
  <p:tag name="KSO_WM_UNIT_USESOURCEFORMAT_APPLY" val="1"/>
</p:tagLst>
</file>

<file path=ppt/tags/tag33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3"/>
  <p:tag name="KSO_WM_UNIT_ID" val="custom160596_25*l_i*1_13"/>
  <p:tag name="KSO_WM_UNIT_LAYERLEVEL" val="1_1"/>
  <p:tag name="KSO_WM_DIAGRAM_GROUP_CODE" val="l1-8"/>
  <p:tag name="KSO_WM_UNIT_FILL_FORE_SCHEMECOLOR_INDEX" val="7"/>
  <p:tag name="KSO_WM_UNIT_FILL_TYPE" val="1"/>
  <p:tag name="KSO_WM_UNIT_TEXT_FILL_FORE_SCHEMECOLOR_INDEX" val="13"/>
  <p:tag name="KSO_WM_UNIT_TEXT_FILL_TYPE" val="1"/>
  <p:tag name="KSO_WM_UNIT_USESOURCEFORMAT_APPLY" val="1"/>
</p:tagLst>
</file>

<file path=ppt/tags/tag33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4"/>
  <p:tag name="KSO_WM_UNIT_ID" val="custom160596_25*l_i*1_14"/>
  <p:tag name="KSO_WM_UNIT_LAYERLEVEL" val="1_1"/>
  <p:tag name="KSO_WM_DIAGRAM_GROUP_CODE" val="l1-8"/>
  <p:tag name="KSO_WM_UNIT_FILL_FORE_SCHEMECOLOR_INDEX" val="7"/>
  <p:tag name="KSO_WM_UNIT_FILL_TYPE" val="1"/>
  <p:tag name="KSO_WM_UNIT_TEXT_FILL_FORE_SCHEMECOLOR_INDEX" val="13"/>
  <p:tag name="KSO_WM_UNIT_TEXT_FILL_TYPE" val="1"/>
  <p:tag name="KSO_WM_UNIT_USESOURCEFORMAT_APPLY" val="1"/>
</p:tagLst>
</file>

<file path=ppt/tags/tag33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5"/>
  <p:tag name="KSO_WM_UNIT_ID" val="custom160596_25*l_i*1_15"/>
  <p:tag name="KSO_WM_UNIT_LAYERLEVEL" val="1_1"/>
  <p:tag name="KSO_WM_DIAGRAM_GROUP_CODE" val="l1-8"/>
  <p:tag name="KSO_WM_UNIT_FILL_FORE_SCHEMECOLOR_INDEX" val="9"/>
  <p:tag name="KSO_WM_UNIT_FILL_TYPE" val="1"/>
  <p:tag name="KSO_WM_UNIT_TEXT_FILL_FORE_SCHEMECOLOR_INDEX" val="13"/>
  <p:tag name="KSO_WM_UNIT_TEXT_FILL_TYPE" val="1"/>
  <p:tag name="KSO_WM_UNIT_USESOURCEFORMAT_APPLY" val="1"/>
</p:tagLst>
</file>

<file path=ppt/tags/tag33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6"/>
  <p:tag name="KSO_WM_UNIT_ID" val="custom160596_25*l_i*1_16"/>
  <p:tag name="KSO_WM_UNIT_LAYERLEVEL" val="1_1"/>
  <p:tag name="KSO_WM_DIAGRAM_GROUP_CODE" val="l1-8"/>
  <p:tag name="KSO_WM_UNIT_FILL_FORE_SCHEMECOLOR_INDEX" val="9"/>
  <p:tag name="KSO_WM_UNIT_FILL_TYPE" val="1"/>
  <p:tag name="KSO_WM_UNIT_TEXT_FILL_FORE_SCHEMECOLOR_INDEX" val="13"/>
  <p:tag name="KSO_WM_UNIT_TEXT_FILL_TYPE" val="1"/>
  <p:tag name="KSO_WM_UNIT_USESOURCEFORMAT_APPLY" val="1"/>
</p:tagLst>
</file>

<file path=ppt/tags/tag33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4_1"/>
  <p:tag name="KSO_WM_UNIT_ID" val="custom160596_25*l_h_a*1_4_1"/>
  <p:tag name="KSO_WM_UNIT_LAYERLEVEL" val="1_1_1"/>
  <p:tag name="KSO_WM_UNIT_VALUE" val="6"/>
  <p:tag name="KSO_WM_UNIT_HIGHLIGHT" val="0"/>
  <p:tag name="KSO_WM_UNIT_COMPATIBLE" val="0"/>
  <p:tag name="KSO_WM_UNIT_CLEAR" val="0"/>
  <p:tag name="KSO_WM_DIAGRAM_GROUP_CODE" val="l1-8"/>
  <p:tag name="KSO_WM_UNIT_PRESET_TEXT" val="添加您的文字"/>
  <p:tag name="KSO_WM_UNIT_TEXT_FILL_FORE_SCHEMECOLOR_INDEX" val="13"/>
  <p:tag name="KSO_WM_UNIT_TEXT_FILL_TYPE" val="1"/>
  <p:tag name="KSO_WM_UNIT_USESOURCEFORMAT_APPLY" val="1"/>
</p:tagLst>
</file>

<file path=ppt/tags/tag33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3_1"/>
  <p:tag name="KSO_WM_UNIT_ID" val="custom160596_25*l_h_a*1_3_1"/>
  <p:tag name="KSO_WM_UNIT_LAYERLEVEL" val="1_1_1"/>
  <p:tag name="KSO_WM_UNIT_VALUE" val="6"/>
  <p:tag name="KSO_WM_UNIT_HIGHLIGHT" val="0"/>
  <p:tag name="KSO_WM_UNIT_COMPATIBLE" val="0"/>
  <p:tag name="KSO_WM_UNIT_CLEAR" val="0"/>
  <p:tag name="KSO_WM_DIAGRAM_GROUP_CODE" val="l1-8"/>
  <p:tag name="KSO_WM_UNIT_PRESET_TEXT" val="添加您的文字"/>
  <p:tag name="KSO_WM_UNIT_TEXT_FILL_FORE_SCHEMECOLOR_INDEX" val="13"/>
  <p:tag name="KSO_WM_UNIT_TEXT_FILL_TYPE" val="1"/>
  <p:tag name="KSO_WM_UNIT_USESOURCEFORMAT_APPLY" val="1"/>
</p:tagLst>
</file>

<file path=ppt/tags/tag33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25*l_h_a*1_1_1"/>
  <p:tag name="KSO_WM_UNIT_LAYERLEVEL" val="1_1_1"/>
  <p:tag name="KSO_WM_UNIT_VALUE" val="6"/>
  <p:tag name="KSO_WM_UNIT_HIGHLIGHT" val="0"/>
  <p:tag name="KSO_WM_UNIT_COMPATIBLE" val="0"/>
  <p:tag name="KSO_WM_UNIT_CLEAR" val="0"/>
  <p:tag name="KSO_WM_DIAGRAM_GROUP_CODE" val="l1-8"/>
  <p:tag name="KSO_WM_UNIT_PRESET_TEXT" val="添加您的文字"/>
  <p:tag name="KSO_WM_UNIT_TEXT_FILL_FORE_SCHEMECOLOR_INDEX" val="13"/>
  <p:tag name="KSO_WM_UNIT_TEXT_FILL_TYPE" val="1"/>
  <p:tag name="KSO_WM_UNIT_USESOURCEFORMAT_APPLY" val="1"/>
</p:tagLst>
</file>

<file path=ppt/tags/tag33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25*l_h_a*1_2_1"/>
  <p:tag name="KSO_WM_UNIT_LAYERLEVEL" val="1_1_1"/>
  <p:tag name="KSO_WM_UNIT_VALUE" val="6"/>
  <p:tag name="KSO_WM_UNIT_HIGHLIGHT" val="0"/>
  <p:tag name="KSO_WM_UNIT_COMPATIBLE" val="0"/>
  <p:tag name="KSO_WM_UNIT_CLEAR" val="0"/>
  <p:tag name="KSO_WM_DIAGRAM_GROUP_CODE" val="l1-8"/>
  <p:tag name="KSO_WM_UNIT_PRESET_TEXT" val="添加您的文字"/>
  <p:tag name="KSO_WM_UNIT_TEXT_FILL_FORE_SCHEMECOLOR_INDEX" val="13"/>
  <p:tag name="KSO_WM_UNIT_TEXT_FILL_TYPE" val="1"/>
  <p:tag name="KSO_WM_UNIT_USESOURCEFORMAT_APPLY" val="1"/>
</p:tagLst>
</file>

<file path=ppt/tags/tag34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h_f"/>
  <p:tag name="KSO_WM_UNIT_INDEX" val="1_1_1"/>
  <p:tag name="KSO_WM_UNIT_CLEAR" val="1"/>
  <p:tag name="KSO_WM_UNIT_LAYERLEVEL" val="1_1_1"/>
  <p:tag name="KSO_WM_UNIT_VALUE" val="91"/>
  <p:tag name="KSO_WM_UNIT_HIGHLIGHT" val="0"/>
  <p:tag name="KSO_WM_UNIT_COMPATIBLE" val="0"/>
  <p:tag name="KSO_WM_UNIT_ID" val="custom160034_20*m_h_f*1_1_1"/>
  <p:tag name="KSO_WM_UNIT_PRESET_TEXT_INDEX" val="2"/>
  <p:tag name="KSO_WM_UNIT_PRESET_TEXT_LEN" val="20"/>
  <p:tag name="KSO_WM_DIAGRAM_GROUP_CODE" val="m1-1"/>
  <p:tag name="KSO_WM_UNIT_USESOURCEFORMAT_APPLY" val="1"/>
</p:tagLst>
</file>

<file path=ppt/tags/tag34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h_f"/>
  <p:tag name="KSO_WM_UNIT_INDEX" val="1_2_1"/>
  <p:tag name="KSO_WM_UNIT_CLEAR" val="1"/>
  <p:tag name="KSO_WM_UNIT_LAYERLEVEL" val="1_1_1"/>
  <p:tag name="KSO_WM_UNIT_VALUE" val="91"/>
  <p:tag name="KSO_WM_UNIT_HIGHLIGHT" val="0"/>
  <p:tag name="KSO_WM_UNIT_COMPATIBLE" val="0"/>
  <p:tag name="KSO_WM_UNIT_ID" val="custom160034_20*m_h_f*1_2_1"/>
  <p:tag name="KSO_WM_UNIT_PRESET_TEXT_INDEX" val="2"/>
  <p:tag name="KSO_WM_UNIT_PRESET_TEXT_LEN" val="20"/>
  <p:tag name="KSO_WM_DIAGRAM_GROUP_CODE" val="m1-1"/>
  <p:tag name="KSO_WM_UNIT_USESOURCEFORMAT_APPLY" val="1"/>
</p:tagLst>
</file>

<file path=ppt/tags/tag3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h_f"/>
  <p:tag name="KSO_WM_UNIT_INDEX" val="1_3_1"/>
  <p:tag name="KSO_WM_UNIT_CLEAR" val="1"/>
  <p:tag name="KSO_WM_UNIT_LAYERLEVEL" val="1_1_1"/>
  <p:tag name="KSO_WM_UNIT_VALUE" val="91"/>
  <p:tag name="KSO_WM_UNIT_HIGHLIGHT" val="0"/>
  <p:tag name="KSO_WM_UNIT_COMPATIBLE" val="0"/>
  <p:tag name="KSO_WM_UNIT_ID" val="custom160034_20*m_h_f*1_3_1"/>
  <p:tag name="KSO_WM_UNIT_PRESET_TEXT_INDEX" val="2"/>
  <p:tag name="KSO_WM_UNIT_PRESET_TEXT_LEN" val="20"/>
  <p:tag name="KSO_WM_DIAGRAM_GROUP_CODE" val="m1-1"/>
  <p:tag name="KSO_WM_UNIT_USESOURCEFORMAT_APPLY" val="1"/>
</p:tagLst>
</file>

<file path=ppt/tags/tag3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1"/>
  <p:tag name="KSO_WM_UNIT_CLEAR" val="1"/>
  <p:tag name="KSO_WM_UNIT_LAYERLEVEL" val="1_1"/>
  <p:tag name="KSO_WM_UNIT_ID" val="custom160034_20*m_i*1_1"/>
  <p:tag name="KSO_WM_DIAGRAM_GROUP_CODE" val="m1-1"/>
  <p:tag name="KSO_WM_UNIT_USESOURCEFORMAT_APPLY" val="1"/>
</p:tagLst>
</file>

<file path=ppt/tags/tag3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2"/>
  <p:tag name="KSO_WM_UNIT_CLEAR" val="1"/>
  <p:tag name="KSO_WM_UNIT_LAYERLEVEL" val="1_1"/>
  <p:tag name="KSO_WM_UNIT_ID" val="custom160034_20*m_i*1_2"/>
  <p:tag name="KSO_WM_DIAGRAM_GROUP_CODE" val="m1-1"/>
  <p:tag name="KSO_WM_UNIT_USESOURCEFORMAT_APPLY" val="1"/>
</p:tagLst>
</file>

<file path=ppt/tags/tag34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3"/>
  <p:tag name="KSO_WM_UNIT_CLEAR" val="1"/>
  <p:tag name="KSO_WM_UNIT_LAYERLEVEL" val="1_1"/>
  <p:tag name="KSO_WM_UNIT_ID" val="custom160034_20*m_i*1_3"/>
  <p:tag name="KSO_WM_DIAGRAM_GROUP_CODE" val="m1-1"/>
  <p:tag name="KSO_WM_UNIT_USESOURCEFORMAT_APPLY" val="1"/>
</p:tagLst>
</file>

<file path=ppt/tags/tag3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4"/>
  <p:tag name="KSO_WM_UNIT_CLEAR" val="1"/>
  <p:tag name="KSO_WM_UNIT_LAYERLEVEL" val="1_1"/>
  <p:tag name="KSO_WM_UNIT_ID" val="custom160034_20*m_i*1_4"/>
  <p:tag name="KSO_WM_DIAGRAM_GROUP_CODE" val="m1-1"/>
  <p:tag name="KSO_WM_UNIT_USESOURCEFORMAT_APPLY" val="1"/>
</p:tagLst>
</file>

<file path=ppt/tags/tag3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5"/>
  <p:tag name="KSO_WM_UNIT_CLEAR" val="1"/>
  <p:tag name="KSO_WM_UNIT_LAYERLEVEL" val="1_1"/>
  <p:tag name="KSO_WM_UNIT_ID" val="custom160034_20*m_i*1_5"/>
  <p:tag name="KSO_WM_DIAGRAM_GROUP_CODE" val="m1-1"/>
  <p:tag name="KSO_WM_UNIT_USESOURCEFORMAT_APPLY" val="1"/>
</p:tagLst>
</file>

<file path=ppt/tags/tag3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h_a"/>
  <p:tag name="KSO_WM_UNIT_INDEX" val="1_1_1"/>
  <p:tag name="KSO_WM_UNIT_CLEAR" val="1"/>
  <p:tag name="KSO_WM_UNIT_LAYERLEVEL" val="1_1_1"/>
  <p:tag name="KSO_WM_UNIT_VALUE" val="24"/>
  <p:tag name="KSO_WM_UNIT_HIGHLIGHT" val="0"/>
  <p:tag name="KSO_WM_UNIT_COMPATIBLE" val="0"/>
  <p:tag name="KSO_WM_UNIT_ID" val="custom160034_20*m_h_a*1_1_1"/>
  <p:tag name="KSO_WM_UNIT_PRESET_TEXT_INDEX" val="0"/>
  <p:tag name="KSO_WM_UNIT_PRESET_TEXT_LEN" val="9"/>
  <p:tag name="KSO_WM_DIAGRAM_GROUP_CODE" val="m1-1"/>
  <p:tag name="KSO_WM_UNIT_USESOURCEFORMAT_APPLY" val="1"/>
</p:tagLst>
</file>

<file path=ppt/tags/tag34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h_a"/>
  <p:tag name="KSO_WM_UNIT_INDEX" val="1_2_1"/>
  <p:tag name="KSO_WM_UNIT_CLEAR" val="1"/>
  <p:tag name="KSO_WM_UNIT_LAYERLEVEL" val="1_1_1"/>
  <p:tag name="KSO_WM_UNIT_VALUE" val="24"/>
  <p:tag name="KSO_WM_UNIT_HIGHLIGHT" val="0"/>
  <p:tag name="KSO_WM_UNIT_COMPATIBLE" val="0"/>
  <p:tag name="KSO_WM_UNIT_ID" val="custom160034_20*m_h_a*1_2_1"/>
  <p:tag name="KSO_WM_UNIT_PRESET_TEXT_INDEX" val="0"/>
  <p:tag name="KSO_WM_UNIT_PRESET_TEXT_LEN" val="9"/>
  <p:tag name="KSO_WM_DIAGRAM_GROUP_CODE" val="m1-1"/>
  <p:tag name="KSO_WM_UNIT_USESOURCEFORMAT_APPLY" val="1"/>
</p:tagLst>
</file>

<file path=ppt/tags/tag3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h_a"/>
  <p:tag name="KSO_WM_UNIT_INDEX" val="1_3_1"/>
  <p:tag name="KSO_WM_UNIT_CLEAR" val="1"/>
  <p:tag name="KSO_WM_UNIT_LAYERLEVEL" val="1_1_1"/>
  <p:tag name="KSO_WM_UNIT_VALUE" val="24"/>
  <p:tag name="KSO_WM_UNIT_HIGHLIGHT" val="0"/>
  <p:tag name="KSO_WM_UNIT_COMPATIBLE" val="0"/>
  <p:tag name="KSO_WM_UNIT_ID" val="custom160034_20*m_h_a*1_3_1"/>
  <p:tag name="KSO_WM_UNIT_PRESET_TEXT_INDEX" val="0"/>
  <p:tag name="KSO_WM_UNIT_PRESET_TEXT_LEN" val="9"/>
  <p:tag name="KSO_WM_DIAGRAM_GROUP_CODE" val="m1-1"/>
  <p:tag name="KSO_WM_UNIT_USESOURCEFORMAT_APPLY" val="1"/>
</p:tagLst>
</file>

<file path=ppt/tags/tag35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1"/>
  <p:tag name="KSO_WM_UNIT_CLEAR" val="1"/>
  <p:tag name="KSO_WM_UNIT_LAYERLEVEL" val="1_1"/>
  <p:tag name="KSO_WM_UNIT_ID" val="custom160034_21*m_i*1_1"/>
  <p:tag name="KSO_WM_DIAGRAM_GROUP_CODE" val="m1-1"/>
  <p:tag name="KSO_WM_UNIT_SHADOW_SCHEMECOLOR_INDEX" val="16"/>
  <p:tag name="KSO_WM_UNIT_TEXT_FILL_FORE_SCHEMECOLOR_INDEX" val="13"/>
  <p:tag name="KSO_WM_UNIT_TEXT_FILL_TYPE" val="1"/>
  <p:tag name="KSO_WM_UNIT_USESOURCEFORMAT_APPLY" val="1"/>
</p:tagLst>
</file>

<file path=ppt/tags/tag35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2"/>
  <p:tag name="KSO_WM_UNIT_CLEAR" val="1"/>
  <p:tag name="KSO_WM_UNIT_LAYERLEVEL" val="1_1"/>
  <p:tag name="KSO_WM_UNIT_ID" val="custom160034_21*m_i*1_2"/>
  <p:tag name="KSO_WM_DIAGRAM_GROUP_CODE" val="m1-1"/>
  <p:tag name="KSO_WM_UNIT_SHADOW_SCHEMECOLOR_INDEX" val="16"/>
  <p:tag name="KSO_WM_UNIT_TEXT_FILL_FORE_SCHEMECOLOR_INDEX" val="14"/>
  <p:tag name="KSO_WM_UNIT_TEXT_FILL_TYPE" val="1"/>
  <p:tag name="KSO_WM_UNIT_USESOURCEFORMAT_APPLY" val="1"/>
</p:tagLst>
</file>

<file path=ppt/tags/tag35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3"/>
  <p:tag name="KSO_WM_UNIT_CLEAR" val="1"/>
  <p:tag name="KSO_WM_UNIT_LAYERLEVEL" val="1_1"/>
  <p:tag name="KSO_WM_UNIT_ID" val="custom160034_21*m_i*1_3"/>
  <p:tag name="KSO_WM_DIAGRAM_GROUP_CODE" val="m1-1"/>
  <p:tag name="KSO_WM_UNIT_SHADOW_SCHEMECOLOR_INDEX" val="16"/>
  <p:tag name="KSO_WM_UNIT_TEXT_FILL_FORE_SCHEMECOLOR_INDEX" val="14"/>
  <p:tag name="KSO_WM_UNIT_TEXT_FILL_TYPE" val="1"/>
  <p:tag name="KSO_WM_UNIT_USESOURCEFORMAT_APPLY" val="1"/>
</p:tagLst>
</file>

<file path=ppt/tags/tag35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4"/>
  <p:tag name="KSO_WM_UNIT_CLEAR" val="1"/>
  <p:tag name="KSO_WM_UNIT_LAYERLEVEL" val="1_1"/>
  <p:tag name="KSO_WM_UNIT_ID" val="custom160034_21*m_i*1_4"/>
  <p:tag name="KSO_WM_DIAGRAM_GROUP_CODE" val="m1-1"/>
  <p:tag name="KSO_WM_UNIT_SHADOW_SCHEMECOLOR_INDEX" val="16"/>
  <p:tag name="KSO_WM_UNIT_TEXT_FILL_FORE_SCHEMECOLOR_INDEX" val="13"/>
  <p:tag name="KSO_WM_UNIT_TEXT_FILL_TYPE" val="1"/>
  <p:tag name="KSO_WM_UNIT_USESOURCEFORMAT_APPLY" val="1"/>
</p:tagLst>
</file>

<file path=ppt/tags/tag35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h_a"/>
  <p:tag name="KSO_WM_UNIT_INDEX" val="1_1_1"/>
  <p:tag name="KSO_WM_UNIT_CLEAR" val="1"/>
  <p:tag name="KSO_WM_UNIT_LAYERLEVEL" val="1_1_1"/>
  <p:tag name="KSO_WM_UNIT_VALUE" val="8"/>
  <p:tag name="KSO_WM_UNIT_HIGHLIGHT" val="0"/>
  <p:tag name="KSO_WM_UNIT_COMPATIBLE" val="0"/>
  <p:tag name="KSO_WM_UNIT_ID" val="custom160034_21*m_h_a*1_1_1"/>
  <p:tag name="KSO_WM_DIAGRAM_GROUP_CODE" val="m1-1"/>
  <p:tag name="KSO_WM_UNIT_PRESET_TEXT" val="在此编辑标题"/>
  <p:tag name="KSO_WM_UNIT_TEXT_FILL_FORE_SCHEMECOLOR_INDEX" val="15"/>
  <p:tag name="KSO_WM_UNIT_TEXT_FILL_TYPE" val="1"/>
  <p:tag name="KSO_WM_UNIT_USESOURCEFORMAT_APPLY" val="1"/>
</p:tagLst>
</file>

<file path=ppt/tags/tag35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h_a"/>
  <p:tag name="KSO_WM_UNIT_INDEX" val="1_3_1"/>
  <p:tag name="KSO_WM_UNIT_CLEAR" val="1"/>
  <p:tag name="KSO_WM_UNIT_LAYERLEVEL" val="1_1_1"/>
  <p:tag name="KSO_WM_UNIT_VALUE" val="8"/>
  <p:tag name="KSO_WM_UNIT_HIGHLIGHT" val="0"/>
  <p:tag name="KSO_WM_UNIT_COMPATIBLE" val="0"/>
  <p:tag name="KSO_WM_UNIT_ID" val="custom160034_21*m_h_a*1_3_1"/>
  <p:tag name="KSO_WM_DIAGRAM_GROUP_CODE" val="m1-1"/>
  <p:tag name="KSO_WM_UNIT_PRESET_TEXT" val="在此编辑标题"/>
  <p:tag name="KSO_WM_UNIT_TEXT_FILL_FORE_SCHEMECOLOR_INDEX" val="15"/>
  <p:tag name="KSO_WM_UNIT_TEXT_FILL_TYPE" val="1"/>
  <p:tag name="KSO_WM_UNIT_USESOURCEFORMAT_APPLY" val="1"/>
</p:tagLst>
</file>

<file path=ppt/tags/tag35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h_a"/>
  <p:tag name="KSO_WM_UNIT_INDEX" val="1_4_1"/>
  <p:tag name="KSO_WM_UNIT_CLEAR" val="1"/>
  <p:tag name="KSO_WM_UNIT_LAYERLEVEL" val="1_1_1"/>
  <p:tag name="KSO_WM_UNIT_VALUE" val="8"/>
  <p:tag name="KSO_WM_UNIT_HIGHLIGHT" val="0"/>
  <p:tag name="KSO_WM_UNIT_COMPATIBLE" val="0"/>
  <p:tag name="KSO_WM_UNIT_ID" val="custom160034_21*m_h_a*1_4_1"/>
  <p:tag name="KSO_WM_DIAGRAM_GROUP_CODE" val="m1-1"/>
  <p:tag name="KSO_WM_UNIT_PRESET_TEXT" val="在此编辑标题"/>
  <p:tag name="KSO_WM_UNIT_TEXT_FILL_FORE_SCHEMECOLOR_INDEX" val="15"/>
  <p:tag name="KSO_WM_UNIT_TEXT_FILL_TYPE" val="1"/>
  <p:tag name="KSO_WM_UNIT_USESOURCEFORMAT_APPLY" val="1"/>
</p:tagLst>
</file>

<file path=ppt/tags/tag35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5"/>
  <p:tag name="KSO_WM_UNIT_CLEAR" val="1"/>
  <p:tag name="KSO_WM_UNIT_LAYERLEVEL" val="1_1"/>
  <p:tag name="KSO_WM_UNIT_ID" val="custom160034_21*m_i*1_5"/>
  <p:tag name="KSO_WM_DIAGRAM_GROUP_CODE" val="m1-1"/>
  <p:tag name="KSO_WM_UNIT_SHADOW_SCHEMECOLOR_INDEX" val="16"/>
  <p:tag name="KSO_WM_UNIT_TEXT_FILL_FORE_SCHEMECOLOR_INDEX" val="14"/>
  <p:tag name="KSO_WM_UNIT_TEXT_FILL_TYPE" val="1"/>
  <p:tag name="KSO_WM_UNIT_USESOURCEFORMAT_APPLY" val="1"/>
</p:tagLst>
</file>

<file path=ppt/tags/tag35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6"/>
  <p:tag name="KSO_WM_UNIT_CLEAR" val="1"/>
  <p:tag name="KSO_WM_UNIT_LAYERLEVEL" val="1_1"/>
  <p:tag name="KSO_WM_UNIT_ID" val="custom160034_21*m_i*1_6"/>
  <p:tag name="KSO_WM_DIAGRAM_GROUP_CODE" val="m1-1"/>
  <p:tag name="KSO_WM_UNIT_SHADOW_SCHEMECOLOR_INDEX" val="16"/>
  <p:tag name="KSO_WM_UNIT_TEXT_FILL_FORE_SCHEMECOLOR_INDEX" val="14"/>
  <p:tag name="KSO_WM_UNIT_TEXT_FILL_TYPE" val="1"/>
  <p:tag name="KSO_WM_UNIT_USESOURCEFORMAT_APPLY" val="1"/>
</p:tagLst>
</file>

<file path=ppt/tags/tag36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7"/>
  <p:tag name="KSO_WM_UNIT_CLEAR" val="1"/>
  <p:tag name="KSO_WM_UNIT_LAYERLEVEL" val="1_1"/>
  <p:tag name="KSO_WM_UNIT_ID" val="custom160034_21*m_i*1_7"/>
  <p:tag name="KSO_WM_DIAGRAM_GROUP_CODE" val="m1-1"/>
  <p:tag name="KSO_WM_UNIT_SHADOW_SCHEMECOLOR_INDEX" val="16"/>
  <p:tag name="KSO_WM_UNIT_TEXT_FILL_FORE_SCHEMECOLOR_INDEX" val="13"/>
  <p:tag name="KSO_WM_UNIT_TEXT_FILL_TYPE" val="1"/>
  <p:tag name="KSO_WM_UNIT_USESOURCEFORMAT_APPLY" val="1"/>
</p:tagLst>
</file>

<file path=ppt/tags/tag36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h_a"/>
  <p:tag name="KSO_WM_UNIT_INDEX" val="1_2_1"/>
  <p:tag name="KSO_WM_UNIT_CLEAR" val="1"/>
  <p:tag name="KSO_WM_UNIT_LAYERLEVEL" val="1_1_1"/>
  <p:tag name="KSO_WM_UNIT_VALUE" val="8"/>
  <p:tag name="KSO_WM_UNIT_HIGHLIGHT" val="0"/>
  <p:tag name="KSO_WM_UNIT_COMPATIBLE" val="0"/>
  <p:tag name="KSO_WM_UNIT_ID" val="custom160034_21*m_h_a*1_2_1"/>
  <p:tag name="KSO_WM_DIAGRAM_GROUP_CODE" val="m1-1"/>
  <p:tag name="KSO_WM_UNIT_PRESET_TEXT" val="在此编辑标题"/>
  <p:tag name="KSO_WM_UNIT_TEXT_FILL_FORE_SCHEMECOLOR_INDEX" val="15"/>
  <p:tag name="KSO_WM_UNIT_TEXT_FILL_TYPE" val="1"/>
  <p:tag name="KSO_WM_UNIT_USESOURCEFORMAT_APPLY" val="1"/>
</p:tagLst>
</file>

<file path=ppt/tags/tag36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h_f"/>
  <p:tag name="KSO_WM_UNIT_INDEX" val="1_1_1"/>
  <p:tag name="KSO_WM_UNIT_CLEAR" val="1"/>
  <p:tag name="KSO_WM_UNIT_LAYERLEVEL" val="1_1_1"/>
  <p:tag name="KSO_WM_UNIT_VALUE" val="90"/>
  <p:tag name="KSO_WM_UNIT_HIGHLIGHT" val="0"/>
  <p:tag name="KSO_WM_UNIT_COMPATIBLE" val="0"/>
  <p:tag name="KSO_WM_UNIT_ID" val="custom160034_21*m_h_f*1_1_1"/>
  <p:tag name="KSO_WM_UNIT_PRESET_TEXT_INDEX" val="2"/>
  <p:tag name="KSO_WM_UNIT_PRESET_TEXT_LEN" val="20"/>
  <p:tag name="KSO_WM_DIAGRAM_GROUP_CODE" val="m1-1"/>
  <p:tag name="KSO_WM_UNIT_TEXT_FILL_FORE_SCHEMECOLOR_INDEX" val="13"/>
  <p:tag name="KSO_WM_UNIT_TEXT_FILL_TYPE" val="1"/>
  <p:tag name="KSO_WM_UNIT_USESOURCEFORMAT_APPLY" val="1"/>
</p:tagLst>
</file>

<file path=ppt/tags/tag36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h_f"/>
  <p:tag name="KSO_WM_UNIT_INDEX" val="1_2_1"/>
  <p:tag name="KSO_WM_UNIT_CLEAR" val="1"/>
  <p:tag name="KSO_WM_UNIT_LAYERLEVEL" val="1_1_1"/>
  <p:tag name="KSO_WM_UNIT_VALUE" val="90"/>
  <p:tag name="KSO_WM_UNIT_HIGHLIGHT" val="0"/>
  <p:tag name="KSO_WM_UNIT_COMPATIBLE" val="0"/>
  <p:tag name="KSO_WM_UNIT_ID" val="custom160034_21*m_h_f*1_2_1"/>
  <p:tag name="KSO_WM_UNIT_PRESET_TEXT_INDEX" val="2"/>
  <p:tag name="KSO_WM_UNIT_PRESET_TEXT_LEN" val="20"/>
  <p:tag name="KSO_WM_DIAGRAM_GROUP_CODE" val="m1-1"/>
  <p:tag name="KSO_WM_UNIT_TEXT_FILL_FORE_SCHEMECOLOR_INDEX" val="13"/>
  <p:tag name="KSO_WM_UNIT_TEXT_FILL_TYPE" val="1"/>
  <p:tag name="KSO_WM_UNIT_USESOURCEFORMAT_APPLY" val="1"/>
</p:tagLst>
</file>

<file path=ppt/tags/tag36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h_f"/>
  <p:tag name="KSO_WM_UNIT_INDEX" val="1_3_1"/>
  <p:tag name="KSO_WM_UNIT_CLEAR" val="1"/>
  <p:tag name="KSO_WM_UNIT_LAYERLEVEL" val="1_1_1"/>
  <p:tag name="KSO_WM_UNIT_VALUE" val="90"/>
  <p:tag name="KSO_WM_UNIT_HIGHLIGHT" val="0"/>
  <p:tag name="KSO_WM_UNIT_COMPATIBLE" val="0"/>
  <p:tag name="KSO_WM_UNIT_ID" val="custom160034_21*m_h_f*1_3_1"/>
  <p:tag name="KSO_WM_UNIT_PRESET_TEXT_INDEX" val="2"/>
  <p:tag name="KSO_WM_UNIT_PRESET_TEXT_LEN" val="20"/>
  <p:tag name="KSO_WM_DIAGRAM_GROUP_CODE" val="m1-1"/>
  <p:tag name="KSO_WM_UNIT_TEXT_FILL_FORE_SCHEMECOLOR_INDEX" val="13"/>
  <p:tag name="KSO_WM_UNIT_TEXT_FILL_TYPE" val="1"/>
  <p:tag name="KSO_WM_UNIT_USESOURCEFORMAT_APPLY" val="1"/>
</p:tagLst>
</file>

<file path=ppt/tags/tag36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h_f"/>
  <p:tag name="KSO_WM_UNIT_INDEX" val="1_4_1"/>
  <p:tag name="KSO_WM_UNIT_CLEAR" val="1"/>
  <p:tag name="KSO_WM_UNIT_LAYERLEVEL" val="1_1_1"/>
  <p:tag name="KSO_WM_UNIT_VALUE" val="90"/>
  <p:tag name="KSO_WM_UNIT_HIGHLIGHT" val="0"/>
  <p:tag name="KSO_WM_UNIT_COMPATIBLE" val="0"/>
  <p:tag name="KSO_WM_UNIT_ID" val="custom160034_21*m_h_f*1_4_1"/>
  <p:tag name="KSO_WM_UNIT_PRESET_TEXT_INDEX" val="2"/>
  <p:tag name="KSO_WM_UNIT_PRESET_TEXT_LEN" val="20"/>
  <p:tag name="KSO_WM_DIAGRAM_GROUP_CODE" val="m1-1"/>
  <p:tag name="KSO_WM_UNIT_TEXT_FILL_FORE_SCHEMECOLOR_INDEX" val="13"/>
  <p:tag name="KSO_WM_UNIT_TEXT_FILL_TYPE" val="1"/>
  <p:tag name="KSO_WM_UNIT_USESOURCEFORMAT_APPLY" val="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glpla">
      <a:majorFont>
        <a:latin typeface="Times New Roman"/>
        <a:ea typeface="微软雅黑"/>
        <a:cs typeface=""/>
      </a:majorFont>
      <a:minorFont>
        <a:latin typeface="Times New Roman"/>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just">
          <a:defRPr dirty="0">
            <a:sym typeface="+mn-ea"/>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812</TotalTime>
  <Words>11040</Words>
  <Application>Microsoft Office PowerPoint</Application>
  <PresentationFormat>宽屏</PresentationFormat>
  <Paragraphs>1671</Paragraphs>
  <Slides>117</Slides>
  <Notes>93</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2</vt:i4>
      </vt:variant>
      <vt:variant>
        <vt:lpstr>幻灯片标题</vt:lpstr>
      </vt:variant>
      <vt:variant>
        <vt:i4>117</vt:i4>
      </vt:variant>
    </vt:vector>
  </HeadingPairs>
  <TitlesOfParts>
    <vt:vector size="126" baseType="lpstr">
      <vt:lpstr>微软雅黑</vt:lpstr>
      <vt:lpstr>微软雅黑 Light</vt:lpstr>
      <vt:lpstr>Arial</vt:lpstr>
      <vt:lpstr>Courier New</vt:lpstr>
      <vt:lpstr>Times New Roman</vt:lpstr>
      <vt:lpstr>Wingdings</vt:lpstr>
      <vt:lpstr>Office 主题</vt:lpstr>
      <vt:lpstr>Equation.3</vt:lpstr>
      <vt:lpstr>公式</vt:lpstr>
      <vt:lpstr>PowerPoint 演示文稿</vt:lpstr>
      <vt:lpstr>PowerPoint 演示文稿</vt:lpstr>
      <vt:lpstr>PowerPoint 演示文稿</vt:lpstr>
      <vt:lpstr>PowerPoint 演示文稿</vt:lpstr>
      <vt:lpstr>4.1 结构化程序设计</vt:lpstr>
      <vt:lpstr>4.1 结构化程序设计</vt:lpstr>
      <vt:lpstr>4.1 结构化程序设计</vt:lpstr>
      <vt:lpstr>4.1 结构化程序设计</vt:lpstr>
      <vt:lpstr>4.1 结构化程序设计</vt:lpstr>
      <vt:lpstr>4.1 结构化程序设计</vt:lpstr>
      <vt:lpstr>4.1 结构化程序设计</vt:lpstr>
      <vt:lpstr>4.1 结构化程序设计</vt:lpstr>
      <vt:lpstr>4.1 结构化程序设计</vt:lpstr>
      <vt:lpstr>4.1 结构化程序设计</vt:lpstr>
      <vt:lpstr>4.1 结构化程序设计</vt:lpstr>
      <vt:lpstr>4.1 结构化程序设计</vt:lpstr>
      <vt:lpstr>4.1 结构化程序设计</vt:lpstr>
      <vt:lpstr>4.1 结构化程序设计</vt:lpstr>
      <vt:lpstr>4.1 结构化程序设计</vt:lpstr>
      <vt:lpstr>4.1 结构化程序设计</vt:lpstr>
      <vt:lpstr>PowerPoint 演示文稿</vt:lpstr>
      <vt:lpstr>4.2 软件测试目标</vt:lpstr>
      <vt:lpstr>4.2 软件测试目标</vt:lpstr>
      <vt:lpstr>PowerPoint 演示文稿</vt:lpstr>
      <vt:lpstr>4.3 软件测试方法</vt:lpstr>
      <vt:lpstr>4.3 软件测试方法</vt:lpstr>
      <vt:lpstr>PowerPoint 演示文稿</vt:lpstr>
      <vt:lpstr>4.4 软件测试步骤</vt:lpstr>
      <vt:lpstr>4.4 软件测试步骤</vt:lpstr>
      <vt:lpstr>4.4 软件测试步骤</vt:lpstr>
      <vt:lpstr>4.4 软件测试步骤</vt:lpstr>
      <vt:lpstr>4.4 软件测试步骤</vt:lpstr>
      <vt:lpstr>PowerPoint 演示文稿</vt:lpstr>
      <vt:lpstr>4.4 软件测试步骤</vt:lpstr>
      <vt:lpstr>4.4 软件测试步骤</vt:lpstr>
      <vt:lpstr>4.4 软件测试步骤</vt:lpstr>
      <vt:lpstr>4.4 软件测试步骤</vt:lpstr>
      <vt:lpstr>4.4 软件测试步骤</vt:lpstr>
      <vt:lpstr>4.4 软件测试步骤</vt:lpstr>
      <vt:lpstr>4.4 软件测试步骤</vt:lpstr>
      <vt:lpstr>4.4 软件测试步骤</vt:lpstr>
      <vt:lpstr>4.4 软件测试步骤</vt:lpstr>
      <vt:lpstr>4.4 软件测试步骤</vt:lpstr>
      <vt:lpstr>4.4 软件测试步骤</vt:lpstr>
      <vt:lpstr>4.4 软件测试步骤</vt:lpstr>
      <vt:lpstr>PowerPoint 演示文稿</vt:lpstr>
      <vt:lpstr>4.5 设计软件测试方案</vt:lpstr>
      <vt:lpstr>4.5 设计软件测试方案</vt:lpstr>
      <vt:lpstr>4.5 设计软件测试方案</vt:lpstr>
      <vt:lpstr>4.5 设计软件测试方案</vt:lpstr>
      <vt:lpstr>4.5 设计软件测试方案</vt:lpstr>
      <vt:lpstr>4.5 设计软件测试方案</vt:lpstr>
      <vt:lpstr>4.5 设计软件测试方案</vt:lpstr>
      <vt:lpstr>4.5 设计软件测试方案</vt:lpstr>
      <vt:lpstr>4.5 设计软件测试方案</vt:lpstr>
      <vt:lpstr>4.5 设计软件测试方案</vt:lpstr>
      <vt:lpstr>4.5 设计软件测试方案</vt:lpstr>
      <vt:lpstr>4.5 设计软件测试方案</vt:lpstr>
      <vt:lpstr>4.5 设计软件测试方案</vt:lpstr>
      <vt:lpstr>4.5 设计软件测试方案</vt:lpstr>
      <vt:lpstr>4.5 设计软件测试方案</vt:lpstr>
      <vt:lpstr>4.5 设计软件测试方案</vt:lpstr>
      <vt:lpstr>4.5 设计软件测试方案</vt:lpstr>
      <vt:lpstr>4.5 设计软件测试方案</vt:lpstr>
      <vt:lpstr>4.5 设计软件测试方案</vt:lpstr>
      <vt:lpstr>4.5 设计软件测试方案</vt:lpstr>
      <vt:lpstr>4.5 设计软件测试方案</vt:lpstr>
      <vt:lpstr>4.5 设计软件测试方案</vt:lpstr>
      <vt:lpstr>4.5 设计软件测试方案</vt:lpstr>
      <vt:lpstr>4.5 设计软件测试方案</vt:lpstr>
      <vt:lpstr>4.5 设计软件测试方案</vt:lpstr>
      <vt:lpstr>4.5 设计软件测试方案</vt:lpstr>
      <vt:lpstr>4.5 设计软件测试方案</vt:lpstr>
      <vt:lpstr>4.5 设计软件测试方案</vt:lpstr>
      <vt:lpstr>4.5 设计软件测试方案</vt:lpstr>
      <vt:lpstr>4.5 设计软件测试方案</vt:lpstr>
      <vt:lpstr>4.5 设计软件测试方案</vt:lpstr>
      <vt:lpstr>4.5 设计软件测试方案</vt:lpstr>
      <vt:lpstr>4.5 设计软件测试方案</vt:lpstr>
      <vt:lpstr>4.5 设计软件测试方案</vt:lpstr>
      <vt:lpstr>4.5 设计软件测试方案</vt:lpstr>
      <vt:lpstr>4.5 设计软件测试方案</vt:lpstr>
      <vt:lpstr>4.5 设计软件测试方案</vt:lpstr>
      <vt:lpstr>4.5 设计软件测试方案</vt:lpstr>
      <vt:lpstr>4.5 设计软件测试方案</vt:lpstr>
      <vt:lpstr>4.5 设计软件测试方案</vt:lpstr>
      <vt:lpstr>4.5 设计软件测试方案</vt:lpstr>
      <vt:lpstr>4.5 设计软件测试方案</vt:lpstr>
      <vt:lpstr>4.5 设计软件测试方案</vt:lpstr>
      <vt:lpstr>4.5 设计软件测试方案</vt:lpstr>
      <vt:lpstr>4.5 设计软件测试方案</vt:lpstr>
      <vt:lpstr>4.5 设计软件测试方案</vt:lpstr>
      <vt:lpstr>4.5 设计软件测试方案</vt:lpstr>
      <vt:lpstr>4.5 设计软件测试方案</vt:lpstr>
      <vt:lpstr>PowerPoint 演示文稿</vt:lpstr>
      <vt:lpstr>4.6 软件测试原则和策略</vt:lpstr>
      <vt:lpstr>4.6 软件测试原则和策略</vt:lpstr>
      <vt:lpstr>PowerPoint 演示文稿</vt:lpstr>
      <vt:lpstr>4.7 软件调试、验证与确认</vt:lpstr>
      <vt:lpstr>4.7 软件调试、验证与确认</vt:lpstr>
      <vt:lpstr>4.7 软件调试、验证与确认</vt:lpstr>
      <vt:lpstr>4.7 软件调试、验证与确认</vt:lpstr>
      <vt:lpstr>4.7 软件调试、验证与确认</vt:lpstr>
      <vt:lpstr>4.7 软件调试、验证与确认</vt:lpstr>
      <vt:lpstr>4.7 软件调试、验证与确认</vt:lpstr>
      <vt:lpstr>4.7 软件调试、验证与确认</vt:lpstr>
      <vt:lpstr>PowerPoint 演示文稿</vt:lpstr>
      <vt:lpstr>4.8 软件测试文档</vt:lpstr>
      <vt:lpstr>4.8 软件测试文档</vt:lpstr>
      <vt:lpstr>4.8 软件测试文档</vt:lpstr>
      <vt:lpstr>4.8 软件测试文档</vt:lpstr>
      <vt:lpstr>4.8 软件测试文档</vt:lpstr>
      <vt:lpstr>4.8 软件测试文档</vt:lpstr>
      <vt:lpstr>4.8 软件测试文档</vt:lpstr>
      <vt:lpstr>本章小结</vt:lpstr>
      <vt:lpstr>本章小结</vt:lpstr>
      <vt:lpstr>PowerPoint 演示文稿</vt:lpstr>
    </vt:vector>
  </TitlesOfParts>
  <Manager>PLA</Manager>
  <Company>54414</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glplaman.github.io</dc:creator>
  <cp:lastModifiedBy>cn plaman</cp:lastModifiedBy>
  <cp:revision>220</cp:revision>
  <dcterms:created xsi:type="dcterms:W3CDTF">2015-05-05T08:02:00Z</dcterms:created>
  <dcterms:modified xsi:type="dcterms:W3CDTF">2026-05-06T01:24:40Z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2052-10.1.0.6135</vt:lpwstr>
  </property>
</Properties>
</file>