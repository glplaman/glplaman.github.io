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1.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2.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notesSlides/notesSlide8.xml" ContentType="application/vnd.openxmlformats-officedocument.presentationml.notesSlide+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notesSlides/notesSlide9.xml" ContentType="application/vnd.openxmlformats-officedocument.presentationml.notesSlide+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notesSlides/notesSlide10.xml" ContentType="application/vnd.openxmlformats-officedocument.presentationml.notesSlide+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notesSlides/notesSlide11.xml" ContentType="application/vnd.openxmlformats-officedocument.presentationml.notesSlide+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notesSlides/notesSlide12.xml" ContentType="application/vnd.openxmlformats-officedocument.presentationml.notesSlide+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notesSlides/notesSlide13.xml" ContentType="application/vnd.openxmlformats-officedocument.presentationml.notesSlide+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notesSlides/notesSlide14.xml" ContentType="application/vnd.openxmlformats-officedocument.presentationml.notesSlide+xml"/>
  <Override PartName="/ppt/tags/tag159.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notesSlides/notesSlide17.xml" ContentType="application/vnd.openxmlformats-officedocument.presentationml.notesSlide+xml"/>
  <Override PartName="/ppt/tags/tag174.xml" ContentType="application/vnd.openxmlformats-officedocument.presentationml.tags+xml"/>
  <Override PartName="/ppt/tags/tag175.xml" ContentType="application/vnd.openxmlformats-officedocument.presentationml.tags+xml"/>
  <Override PartName="/ppt/notesSlides/notesSlide18.xml" ContentType="application/vnd.openxmlformats-officedocument.presentationml.notesSlide+xml"/>
  <Override PartName="/ppt/tags/tag176.xml" ContentType="application/vnd.openxmlformats-officedocument.presentationml.tags+xml"/>
  <Override PartName="/ppt/tags/tag177.xml" ContentType="application/vnd.openxmlformats-officedocument.presentationml.tags+xml"/>
  <Override PartName="/ppt/notesSlides/notesSlide19.xml" ContentType="application/vnd.openxmlformats-officedocument.presentationml.notesSlide+xml"/>
  <Override PartName="/ppt/tags/tag178.xml" ContentType="application/vnd.openxmlformats-officedocument.presentationml.tags+xml"/>
  <Override PartName="/ppt/tags/tag179.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notesSlides/notesSlide22.xml" ContentType="application/vnd.openxmlformats-officedocument.presentationml.notesSlide+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tags/tag192.xml" ContentType="application/vnd.openxmlformats-officedocument.presentationml.tags+xml"/>
  <Override PartName="/ppt/tags/tag193.xml" ContentType="application/vnd.openxmlformats-officedocument.presentationml.tags+xml"/>
  <Override PartName="/ppt/notesSlides/notesSlide29.xml" ContentType="application/vnd.openxmlformats-officedocument.presentationml.notesSlide+xml"/>
  <Override PartName="/ppt/tags/tag194.xml" ContentType="application/vnd.openxmlformats-officedocument.presentationml.tags+xml"/>
  <Override PartName="/ppt/tags/tag195.xml" ContentType="application/vnd.openxmlformats-officedocument.presentationml.tags+xml"/>
  <Override PartName="/ppt/notesSlides/notesSlide30.xml" ContentType="application/vnd.openxmlformats-officedocument.presentationml.notesSlide+xml"/>
  <Override PartName="/ppt/tags/tag196.xml" ContentType="application/vnd.openxmlformats-officedocument.presentationml.tags+xml"/>
  <Override PartName="/ppt/tags/tag197.xml" ContentType="application/vnd.openxmlformats-officedocument.presentationml.tag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tags/tag198.xml" ContentType="application/vnd.openxmlformats-officedocument.presentationml.tags+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notesSlides/notesSlide82.xml" ContentType="application/vnd.openxmlformats-officedocument.presentationml.notesSlide+xml"/>
  <Override PartName="/ppt/tags/tag300.xml" ContentType="application/vnd.openxmlformats-officedocument.presentationml.tags+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notesSlides/notesSlide85.xml" ContentType="application/vnd.openxmlformats-officedocument.presentationml.notesSlide+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tags/tag329.xml" ContentType="application/vnd.openxmlformats-officedocument.presentationml.tags+xml"/>
  <Override PartName="/ppt/notesSlides/notesSlide88.xml" ContentType="application/vnd.openxmlformats-officedocument.presentationml.notesSlide+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notesSlides/notesSlide89.xml" ContentType="application/vnd.openxmlformats-officedocument.presentationml.notesSlide+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notesSlides/notesSlide90.xml" ContentType="application/vnd.openxmlformats-officedocument.presentationml.notesSlide+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10">
  <p:sldMasterIdLst>
    <p:sldMasterId id="2147483648" r:id="rId1"/>
  </p:sldMasterIdLst>
  <p:notesMasterIdLst>
    <p:notesMasterId r:id="rId119"/>
  </p:notesMasterIdLst>
  <p:sldIdLst>
    <p:sldId id="256" r:id="rId2"/>
    <p:sldId id="257" r:id="rId3"/>
    <p:sldId id="259" r:id="rId4"/>
    <p:sldId id="258" r:id="rId5"/>
    <p:sldId id="268" r:id="rId6"/>
    <p:sldId id="271" r:id="rId7"/>
    <p:sldId id="272" r:id="rId8"/>
    <p:sldId id="269" r:id="rId9"/>
    <p:sldId id="454" r:id="rId10"/>
    <p:sldId id="273" r:id="rId11"/>
    <p:sldId id="275" r:id="rId12"/>
    <p:sldId id="277" r:id="rId13"/>
    <p:sldId id="278" r:id="rId14"/>
    <p:sldId id="279" r:id="rId15"/>
    <p:sldId id="274" r:id="rId16"/>
    <p:sldId id="280" r:id="rId17"/>
    <p:sldId id="281" r:id="rId18"/>
    <p:sldId id="282" r:id="rId19"/>
    <p:sldId id="283" r:id="rId20"/>
    <p:sldId id="284" r:id="rId21"/>
    <p:sldId id="260" r:id="rId22"/>
    <p:sldId id="291" r:id="rId23"/>
    <p:sldId id="285" r:id="rId24"/>
    <p:sldId id="261" r:id="rId25"/>
    <p:sldId id="286" r:id="rId26"/>
    <p:sldId id="292" r:id="rId27"/>
    <p:sldId id="262" r:id="rId28"/>
    <p:sldId id="293" r:id="rId29"/>
    <p:sldId id="471" r:id="rId30"/>
    <p:sldId id="294" r:id="rId31"/>
    <p:sldId id="455" r:id="rId32"/>
    <p:sldId id="456" r:id="rId33"/>
    <p:sldId id="472" r:id="rId34"/>
    <p:sldId id="458" r:id="rId35"/>
    <p:sldId id="457" r:id="rId36"/>
    <p:sldId id="459" r:id="rId37"/>
    <p:sldId id="461" r:id="rId38"/>
    <p:sldId id="460" r:id="rId39"/>
    <p:sldId id="462" r:id="rId40"/>
    <p:sldId id="463" r:id="rId41"/>
    <p:sldId id="464" r:id="rId42"/>
    <p:sldId id="469" r:id="rId43"/>
    <p:sldId id="467" r:id="rId44"/>
    <p:sldId id="468" r:id="rId45"/>
    <p:sldId id="306" r:id="rId46"/>
    <p:sldId id="263" r:id="rId47"/>
    <p:sldId id="307" r:id="rId48"/>
    <p:sldId id="308" r:id="rId49"/>
    <p:sldId id="309" r:id="rId50"/>
    <p:sldId id="310" r:id="rId51"/>
    <p:sldId id="311" r:id="rId52"/>
    <p:sldId id="453" r:id="rId53"/>
    <p:sldId id="313" r:id="rId54"/>
    <p:sldId id="473" r:id="rId55"/>
    <p:sldId id="315" r:id="rId56"/>
    <p:sldId id="475" r:id="rId57"/>
    <p:sldId id="314" r:id="rId58"/>
    <p:sldId id="477" r:id="rId59"/>
    <p:sldId id="483" r:id="rId60"/>
    <p:sldId id="476" r:id="rId61"/>
    <p:sldId id="316" r:id="rId62"/>
    <p:sldId id="481" r:id="rId63"/>
    <p:sldId id="478" r:id="rId64"/>
    <p:sldId id="479" r:id="rId65"/>
    <p:sldId id="480" r:id="rId66"/>
    <p:sldId id="482" r:id="rId67"/>
    <p:sldId id="327" r:id="rId68"/>
    <p:sldId id="365" r:id="rId69"/>
    <p:sldId id="366" r:id="rId70"/>
    <p:sldId id="367" r:id="rId71"/>
    <p:sldId id="368" r:id="rId72"/>
    <p:sldId id="328" r:id="rId73"/>
    <p:sldId id="330" r:id="rId74"/>
    <p:sldId id="329" r:id="rId75"/>
    <p:sldId id="331" r:id="rId76"/>
    <p:sldId id="332" r:id="rId77"/>
    <p:sldId id="333" r:id="rId78"/>
    <p:sldId id="334" r:id="rId79"/>
    <p:sldId id="335" r:id="rId80"/>
    <p:sldId id="336" r:id="rId81"/>
    <p:sldId id="337" r:id="rId82"/>
    <p:sldId id="338" r:id="rId83"/>
    <p:sldId id="339" r:id="rId84"/>
    <p:sldId id="340" r:id="rId85"/>
    <p:sldId id="341" r:id="rId86"/>
    <p:sldId id="343" r:id="rId87"/>
    <p:sldId id="344" r:id="rId88"/>
    <p:sldId id="345" r:id="rId89"/>
    <p:sldId id="369" r:id="rId90"/>
    <p:sldId id="370" r:id="rId91"/>
    <p:sldId id="371" r:id="rId92"/>
    <p:sldId id="346" r:id="rId93"/>
    <p:sldId id="372" r:id="rId94"/>
    <p:sldId id="373" r:id="rId95"/>
    <p:sldId id="264" r:id="rId96"/>
    <p:sldId id="435" r:id="rId97"/>
    <p:sldId id="348" r:id="rId98"/>
    <p:sldId id="265" r:id="rId99"/>
    <p:sldId id="350" r:id="rId100"/>
    <p:sldId id="421" r:id="rId101"/>
    <p:sldId id="422" r:id="rId102"/>
    <p:sldId id="423" r:id="rId103"/>
    <p:sldId id="351" r:id="rId104"/>
    <p:sldId id="419" r:id="rId105"/>
    <p:sldId id="424" r:id="rId106"/>
    <p:sldId id="356" r:id="rId107"/>
    <p:sldId id="266" r:id="rId108"/>
    <p:sldId id="363" r:id="rId109"/>
    <p:sldId id="357" r:id="rId110"/>
    <p:sldId id="417" r:id="rId111"/>
    <p:sldId id="358" r:id="rId112"/>
    <p:sldId id="484" r:id="rId113"/>
    <p:sldId id="486" r:id="rId114"/>
    <p:sldId id="487" r:id="rId115"/>
    <p:sldId id="360" r:id="rId116"/>
    <p:sldId id="361" r:id="rId117"/>
    <p:sldId id="470" r:id="rId1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4">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7BA27"/>
    <a:srgbClr val="008080"/>
    <a:srgbClr val="00B0F0"/>
    <a:srgbClr val="FF33CC"/>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8389" autoAdjust="0"/>
  </p:normalViewPr>
  <p:slideViewPr>
    <p:cSldViewPr snapToGrid="0">
      <p:cViewPr varScale="1">
        <p:scale>
          <a:sx n="100" d="100"/>
          <a:sy n="100" d="100"/>
        </p:scale>
        <p:origin x="216" y="78"/>
      </p:cViewPr>
      <p:guideLst>
        <p:guide orient="horz" pos="2174"/>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notesMaster" Target="notesMasters/notesMaster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Times New Roman" panose="02020603050405020304" pitchFamily="18"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Times New Roman" panose="02020603050405020304" pitchFamily="18" charset="0"/>
                <a:ea typeface="微软雅黑 Light" panose="020B0502040204020203" pitchFamily="34" charset="-122"/>
              </a:defRPr>
            </a:lvl1pPr>
          </a:lstStyle>
          <a:p>
            <a:fld id="{D2A48B96-639E-45A3-A0BA-2464DFDB1FAA}" type="datetimeFigureOut">
              <a:rPr lang="zh-CN" altLang="en-US" smtClean="0"/>
              <a:pPr/>
              <a:t>2026/4/27</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Times New Roman" panose="02020603050405020304" pitchFamily="18"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Times New Roman" panose="02020603050405020304" pitchFamily="18" charset="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txBody>
          <a:bodyPr/>
          <a:lstStyle/>
          <a:p>
            <a:endParaRPr lang="zh-CN" altLang="en-US"/>
          </a:p>
        </p:txBody>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Times New Roman" panose="02020603050405020304" pitchFamily="18" charset="0"/>
                <a:ea typeface="微软雅黑 Light" panose="020B0502040204020203" pitchFamily="34" charset="-122"/>
              </a:rPr>
              <a:pPr algn="r" eaLnBrk="1" hangingPunct="1">
                <a:buFont typeface="Arial" panose="020B0604020202020204" pitchFamily="34" charset="0"/>
                <a:buNone/>
              </a:pPr>
              <a:t>2</a:t>
            </a:fld>
            <a:endParaRPr lang="zh-CN" altLang="en-US" sz="1300" dirty="0">
              <a:latin typeface="Times New Roman" panose="02020603050405020304" pitchFamily="18"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txBody>
          <a:bodyPr/>
          <a:lstStyle/>
          <a:p>
            <a:endParaRPr lang="zh-CN" altLang="en-US"/>
          </a:p>
        </p:txBody>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Times New Roman" panose="02020603050405020304" pitchFamily="18" charset="0"/>
                <a:ea typeface="微软雅黑 Light" panose="020B0502040204020203" pitchFamily="34" charset="-122"/>
              </a:rPr>
              <a:pPr algn="r" eaLnBrk="1" hangingPunct="1">
                <a:buFont typeface="Arial" panose="020B0604020202020204" pitchFamily="34" charset="0"/>
                <a:buNone/>
              </a:pPr>
              <a:t>3</a:t>
            </a:fld>
            <a:endParaRPr lang="zh-CN" altLang="en-US" sz="1300" dirty="0">
              <a:latin typeface="Times New Roman" panose="02020603050405020304" pitchFamily="18"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pPr indent="457200">
              <a:lnSpc>
                <a:spcPct val="120000"/>
              </a:lnSpc>
            </a:pPr>
            <a:endParaRPr lang="en-US" altLang="zh-CN" dirty="0">
              <a:solidFill>
                <a:schemeClr val="tx1"/>
              </a:solidFill>
              <a:latin typeface="+mn-ea"/>
            </a:endParaRPr>
          </a:p>
          <a:p>
            <a:r>
              <a:rPr lang="zh-CN" altLang="en-US" dirty="0">
                <a:latin typeface="Times New Roman" panose="02020603050405020304" pitchFamily="18" charset="0"/>
              </a:rPr>
              <a:t>如果认为测试是为了表明程序是正确的，那么从主观上不是为了查找错误而进行测试，这样的测试是不大会发现错误的，测试者没有发现错误的愿望。</a:t>
            </a:r>
          </a:p>
          <a:p>
            <a:r>
              <a:rPr lang="zh-CN" altLang="en-US" dirty="0">
                <a:latin typeface="Times New Roman" panose="02020603050405020304" pitchFamily="18" charset="0"/>
              </a:rPr>
              <a:t>如果认为“成功的测试是没有发现错误的测试”，则很可能存在着没有发现的错误而自以为测试成功了，就像医生没有查出病人的病就自以为此人无病。</a:t>
            </a:r>
          </a:p>
          <a:p>
            <a:pPr indent="457200">
              <a:lnSpc>
                <a:spcPct val="120000"/>
              </a:lnSpc>
            </a:pPr>
            <a:r>
              <a:rPr lang="zh-CN" altLang="en-US" dirty="0">
                <a:solidFill>
                  <a:schemeClr val="tx1"/>
                </a:solidFill>
                <a:latin typeface="+mn-ea"/>
              </a:rPr>
              <a:t>人类的活动具有高度的目的性，如果我们测试的目的是要证明程序中有错，就会选择一些容易发现程序错误的测试数据来进行测试。相反，如果测试的目的是要证明程序无错，我们就会选择使程序不易出错的数据来进行测试。</a:t>
            </a:r>
            <a:endParaRPr lang="en-US" altLang="zh-CN" dirty="0">
              <a:solidFill>
                <a:schemeClr val="tx1"/>
              </a:solidFill>
              <a:latin typeface="+mn-ea"/>
            </a:endParaRPr>
          </a:p>
          <a:p>
            <a:pPr indent="457200">
              <a:lnSpc>
                <a:spcPct val="120000"/>
              </a:lnSpc>
            </a:pPr>
            <a:r>
              <a:rPr lang="zh-CN" altLang="en-US" dirty="0">
                <a:latin typeface="Times New Roman" panose="02020603050405020304" pitchFamily="18" charset="0"/>
              </a:rPr>
              <a:t>总之，软件测试是指通过人工或计算机执行程序，来有意识地发现程序中的设计错误和编码错误的过程。</a:t>
            </a:r>
          </a:p>
          <a:p>
            <a:pPr indent="457200">
              <a:lnSpc>
                <a:spcPct val="130000"/>
              </a:lnSpc>
            </a:pPr>
            <a:endParaRPr lang="zh-CN" altLang="en-US" dirty="0">
              <a:solidFill>
                <a:schemeClr val="tx1"/>
              </a:solidFill>
              <a:latin typeface="+mn-ea"/>
            </a:endParaRPr>
          </a:p>
          <a:p>
            <a:endParaRPr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en-US" altLang="zh-CN" dirty="0">
                <a:solidFill>
                  <a:schemeClr val="bg2">
                    <a:lumMod val="50000"/>
                  </a:schemeClr>
                </a:solidFill>
                <a:sym typeface="+mn-ea"/>
              </a:rPr>
              <a:t> </a:t>
            </a:r>
            <a:r>
              <a:rPr lang="zh-CN" altLang="en-US" dirty="0">
                <a:sym typeface="+mn-ea"/>
              </a:rPr>
              <a:t>穷尽测试往往是做不到的，因此必须设法用有限次的测试获得最大的收益，用尽可能少的测试次数尽量多地找出程序中潜在的各个错误。</a:t>
            </a:r>
            <a:endParaRPr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668B4-46C8-4A71-85C7-75913EF86E7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17260EB-351D-ED25-4F50-6A21FDCC7862}"/>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FF5E23C5-52F2-28C8-A318-3D83AC9DF015}"/>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2951235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en-US" altLang="zh-CN" dirty="0"/>
              <a:t>Console.log()</a:t>
            </a:r>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集成不是一步到位的，它是分层次的</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代码逻辑</a:t>
            </a:r>
            <a:r>
              <a:rPr lang="en-US" altLang="zh-CN" dirty="0"/>
              <a:t>/</a:t>
            </a:r>
            <a:r>
              <a:rPr lang="zh-CN" altLang="en-US" dirty="0"/>
              <a:t>接口与依赖</a:t>
            </a:r>
            <a:r>
              <a:rPr lang="en-US" altLang="zh-CN" dirty="0"/>
              <a:t>-</a:t>
            </a:r>
            <a:r>
              <a:rPr lang="zh-CN" altLang="en-US" dirty="0"/>
              <a:t>可访问</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a:t>
            </a:r>
            <a:r>
              <a:rPr lang="zh-CN" altLang="en-US" dirty="0"/>
              <a:t>模块交互</a:t>
            </a:r>
            <a:r>
              <a:rPr lang="en-US" altLang="zh-CN" dirty="0"/>
              <a:t>/</a:t>
            </a:r>
            <a:r>
              <a:rPr lang="zh-CN" altLang="en-US" dirty="0"/>
              <a:t>功能</a:t>
            </a:r>
            <a:r>
              <a:rPr lang="en-US" altLang="zh-CN" dirty="0"/>
              <a:t>-</a:t>
            </a:r>
            <a:r>
              <a:rPr lang="zh-CN" altLang="en-US" dirty="0"/>
              <a:t>可使用</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a:t>
            </a:r>
            <a:r>
              <a:rPr lang="zh-CN" altLang="en-US" dirty="0"/>
              <a:t>业务价值逻辑</a:t>
            </a:r>
            <a:r>
              <a:rPr lang="en-US" altLang="zh-CN" dirty="0"/>
              <a:t>-</a:t>
            </a:r>
            <a:r>
              <a:rPr lang="zh-CN" altLang="en-US" dirty="0"/>
              <a:t>可工作</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zh-CN" altLang="en-US" dirty="0"/>
              <a:t>做咖啡的流程</a:t>
            </a:r>
            <a:endParaRPr lang="en-US" altLang="zh-CN" dirty="0"/>
          </a:p>
          <a:p>
            <a:r>
              <a:rPr lang="zh-CN" altLang="en-US" dirty="0"/>
              <a:t>做咖啡的品质</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zh-CN" altLang="en-US" dirty="0"/>
              <a:t>双重验证</a:t>
            </a:r>
            <a:endParaRPr lang="en-US" altLang="zh-CN" dirty="0"/>
          </a:p>
          <a:p>
            <a:endParaRPr lang="en-US" altLang="zh-CN" dirty="0"/>
          </a:p>
          <a:p>
            <a:r>
              <a:rPr lang="zh-CN" altLang="en-US" dirty="0"/>
              <a:t>在会计专业术语中，还有一个叫“平行登记”的概念，它的含义略有不同，你可以了解一下以防混淆：</a:t>
            </a:r>
          </a:p>
          <a:p>
            <a:r>
              <a:rPr lang="zh-CN" altLang="en-US" dirty="0"/>
              <a:t>平行登记（会计术语）：是指在同一套账务体系下，总分类账（大账）和明细分类账（小账）要同时登记。</a:t>
            </a:r>
          </a:p>
          <a:p>
            <a:r>
              <a:rPr lang="zh-CN" altLang="en-US" dirty="0"/>
              <a:t>例子：你买了一瓶水和一支笔（明细），既要记入“管理费用”这个大类的总账，也要记入具体的明细账。要求是“同依据、同方向、同金额”。</a:t>
            </a:r>
          </a:p>
          <a:p>
            <a:r>
              <a:rPr lang="zh-CN" altLang="en-US" dirty="0"/>
              <a:t>平行运行（系统术语）：是指两套不同的记账方式（手工 </a:t>
            </a:r>
            <a:r>
              <a:rPr lang="en-US" altLang="zh-CN" dirty="0"/>
              <a:t>vs </a:t>
            </a:r>
            <a:r>
              <a:rPr lang="zh-CN" altLang="en-US" dirty="0"/>
              <a:t>软件）同时跑。</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zh-CN" altLang="en-US" dirty="0"/>
              <a:t>偷懒”智慧。它的核心思想是：既然没法把所有情况都测一遍，那就把无穷无尽的数据分成几个“类”，从每个类里挑一个代表来测</a:t>
            </a:r>
            <a:endParaRPr lang="en-US" altLang="zh-CN" dirty="0"/>
          </a:p>
          <a:p>
            <a:r>
              <a:rPr lang="zh-CN" altLang="en-US" dirty="0"/>
              <a:t>只要这个代表测过了，我们就认为整个“类”的数据都能通过</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zh-CN" altLang="en-US" dirty="0"/>
              <a:t>范围：购物车数量</a:t>
            </a:r>
            <a:r>
              <a:rPr lang="en-US" altLang="zh-CN" dirty="0"/>
              <a:t>1-99</a:t>
            </a:r>
            <a:r>
              <a:rPr lang="zh-CN" altLang="en-US" dirty="0"/>
              <a:t>；</a:t>
            </a:r>
            <a:r>
              <a:rPr lang="en-US" altLang="zh-CN" dirty="0"/>
              <a:t>0</a:t>
            </a:r>
            <a:r>
              <a:rPr lang="zh-CN" altLang="en-US" dirty="0"/>
              <a:t>的时候会怎么样？</a:t>
            </a:r>
            <a:r>
              <a:rPr lang="en-US" altLang="zh-CN" dirty="0"/>
              <a:t>100</a:t>
            </a:r>
            <a:r>
              <a:rPr lang="zh-CN" altLang="en-US" dirty="0"/>
              <a:t>的时候会怎么样？</a:t>
            </a:r>
            <a:endParaRPr lang="en-US" altLang="zh-CN" dirty="0"/>
          </a:p>
          <a:p>
            <a:r>
              <a:rPr lang="zh-CN" altLang="en-US" dirty="0"/>
              <a:t>个数：验证码长度、密码长度</a:t>
            </a:r>
            <a:endParaRPr lang="en-US" altLang="zh-CN" dirty="0"/>
          </a:p>
          <a:p>
            <a:r>
              <a:rPr lang="zh-CN" altLang="en-US" dirty="0"/>
              <a:t>集合：支付方式。只支持微信</a:t>
            </a:r>
            <a:r>
              <a:rPr lang="en-US" altLang="zh-CN" dirty="0"/>
              <a:t>, </a:t>
            </a:r>
            <a:r>
              <a:rPr lang="zh-CN" altLang="en-US" dirty="0"/>
              <a:t>支付宝</a:t>
            </a:r>
            <a:r>
              <a:rPr lang="en-US" altLang="zh-CN" dirty="0"/>
              <a:t>, </a:t>
            </a:r>
            <a:r>
              <a:rPr lang="zh-CN" altLang="en-US" dirty="0"/>
              <a:t>银行卡；</a:t>
            </a:r>
            <a:r>
              <a:rPr lang="en-US" altLang="zh-CN" dirty="0"/>
              <a:t>switch-case</a:t>
            </a:r>
          </a:p>
          <a:p>
            <a:r>
              <a:rPr lang="zh-CN" altLang="en-US" dirty="0"/>
              <a:t>测试的目的就是验证：当后端收到一个“设计里不存在”的支付类型时，系统是会优雅地报错（“不支持该支付方式”），还是会直接崩溃（系统报错 </a:t>
            </a:r>
            <a:r>
              <a:rPr lang="en-US" altLang="zh-CN" dirty="0"/>
              <a:t>500</a:t>
            </a:r>
            <a:r>
              <a:rPr lang="zh-CN" altLang="en-US" dirty="0"/>
              <a:t>）。</a:t>
            </a:r>
            <a:endParaRPr lang="en-US" altLang="zh-CN" dirty="0"/>
          </a:p>
          <a:p>
            <a:r>
              <a:rPr lang="zh-CN" altLang="en-US" dirty="0"/>
              <a:t>规则型：格式匹配，注册时的密码设置</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zh-CN" altLang="en-US" dirty="0"/>
              <a:t>购物车数量</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r>
              <a:rPr lang="zh-CN" altLang="en-US" dirty="0"/>
              <a:t>测试人员利用自己对系统的理解，或者以前踩过的坑，去猜测“这里最容易出错”</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现实中，往往是多个条件组合在一起才触发</a:t>
            </a:r>
            <a:r>
              <a:rPr lang="en-US" altLang="zh-CN" dirty="0"/>
              <a:t>Bug</a:t>
            </a:r>
            <a:r>
              <a:rPr lang="zh-CN" altLang="en-US" dirty="0"/>
              <a:t>。这时候就要用判定表</a:t>
            </a:r>
            <a:endParaRPr lang="en-US" altLang="zh-CN" dirty="0"/>
          </a:p>
          <a:p>
            <a:r>
              <a:rPr lang="zh-CN" altLang="en-US" dirty="0"/>
              <a:t>第一步（基础）：用等价类，测正常数据（比如买</a:t>
            </a:r>
            <a:r>
              <a:rPr lang="en-US" altLang="zh-CN" dirty="0"/>
              <a:t>5</a:t>
            </a:r>
            <a:r>
              <a:rPr lang="zh-CN" altLang="en-US" dirty="0"/>
              <a:t>个）。</a:t>
            </a:r>
          </a:p>
          <a:p>
            <a:r>
              <a:rPr lang="zh-CN" altLang="en-US" dirty="0"/>
              <a:t>第二步（进阶）：用边界值，测边缘数据（比如买</a:t>
            </a:r>
            <a:r>
              <a:rPr lang="en-US" altLang="zh-CN" dirty="0"/>
              <a:t>0</a:t>
            </a:r>
            <a:r>
              <a:rPr lang="zh-CN" altLang="en-US" dirty="0"/>
              <a:t>个、买</a:t>
            </a:r>
            <a:r>
              <a:rPr lang="en-US" altLang="zh-CN" dirty="0"/>
              <a:t>1</a:t>
            </a:r>
            <a:r>
              <a:rPr lang="zh-CN" altLang="en-US" dirty="0"/>
              <a:t>个、买</a:t>
            </a:r>
            <a:r>
              <a:rPr lang="en-US" altLang="zh-CN" dirty="0"/>
              <a:t>99</a:t>
            </a:r>
            <a:r>
              <a:rPr lang="zh-CN" altLang="en-US" dirty="0"/>
              <a:t>个）。</a:t>
            </a:r>
          </a:p>
          <a:p>
            <a:r>
              <a:rPr lang="zh-CN" altLang="en-US" dirty="0"/>
              <a:t>第三步（高阶）：用判定表，测组合数据（比如“没登录”且“库存不足”时点击购买）。</a:t>
            </a:r>
          </a:p>
          <a:p>
            <a:r>
              <a:rPr lang="zh-CN" altLang="en-US" dirty="0"/>
              <a:t>第四步（专家）：用错误推测和代码走查，测复杂场景（比如“并发抢库存”或“跨模块数据同步”）。</a:t>
            </a:r>
          </a:p>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54</a:t>
            </a:fld>
            <a:endParaRPr lang="zh-CN" altLang="en-US" dirty="0"/>
          </a:p>
        </p:txBody>
      </p:sp>
    </p:spTree>
    <p:extLst>
      <p:ext uri="{BB962C8B-B14F-4D97-AF65-F5344CB8AC3E}">
        <p14:creationId xmlns:p14="http://schemas.microsoft.com/office/powerpoint/2010/main" val="261031076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D213F-D576-4837-16E4-D37B08B7A9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444BCE-1249-D99A-6898-FB836F2CE1B7}"/>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F7447245-0F01-A3AC-7B98-40E2CA277871}"/>
              </a:ext>
            </a:extLst>
          </p:cNvPr>
          <p:cNvSpPr>
            <a:spLocks noGrp="1"/>
          </p:cNvSpPr>
          <p:nvPr>
            <p:ph type="body" idx="3"/>
          </p:nvPr>
        </p:nvSpPr>
        <p:spPr/>
        <p:txBody>
          <a:bodyPr/>
          <a:lstStyle/>
          <a:p>
            <a:r>
              <a:rPr lang="zh-CN" altLang="en-US" dirty="0"/>
              <a:t>赋值语句：如 </a:t>
            </a:r>
            <a:r>
              <a:rPr lang="en-US" altLang="zh-CN" dirty="0"/>
              <a:t>a = b + 1;</a:t>
            </a:r>
            <a:r>
              <a:rPr lang="zh-CN" altLang="en-US" dirty="0"/>
              <a:t>（计算并赋值）</a:t>
            </a:r>
          </a:p>
          <a:p>
            <a:r>
              <a:rPr lang="zh-CN" altLang="en-US" dirty="0"/>
              <a:t>调用语句：如 </a:t>
            </a:r>
            <a:r>
              <a:rPr lang="en-US" altLang="zh-CN" dirty="0"/>
              <a:t>print("Hello");</a:t>
            </a:r>
            <a:r>
              <a:rPr lang="zh-CN" altLang="en-US" dirty="0"/>
              <a:t>（执行一个函数）</a:t>
            </a:r>
          </a:p>
          <a:p>
            <a:r>
              <a:rPr lang="zh-CN" altLang="en-US" dirty="0"/>
              <a:t>控制语句：如 </a:t>
            </a:r>
            <a:r>
              <a:rPr lang="en-US" altLang="zh-CN" dirty="0"/>
              <a:t>if, for, while</a:t>
            </a:r>
            <a:r>
              <a:rPr lang="zh-CN" altLang="en-US" dirty="0"/>
              <a:t>（控制流程）</a:t>
            </a:r>
          </a:p>
          <a:p>
            <a:r>
              <a:rPr lang="zh-CN" altLang="en-US" dirty="0"/>
              <a:t>声明语句：如 </a:t>
            </a:r>
            <a:r>
              <a:rPr lang="en-US" altLang="zh-CN" dirty="0"/>
              <a:t>int x;</a:t>
            </a:r>
            <a:r>
              <a:rPr lang="zh-CN" altLang="en-US" dirty="0"/>
              <a:t>（定义变量）</a:t>
            </a:r>
          </a:p>
        </p:txBody>
      </p:sp>
    </p:spTree>
    <p:extLst>
      <p:ext uri="{BB962C8B-B14F-4D97-AF65-F5344CB8AC3E}">
        <p14:creationId xmlns:p14="http://schemas.microsoft.com/office/powerpoint/2010/main" val="156029241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03A4F-E4B5-F1A7-967F-20931500F1D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D8D71E1-EA3B-53E6-592C-9BAA9BB98BF0}"/>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B3E6FFD4-9FA7-A484-A0AA-A9C09BB1965A}"/>
              </a:ext>
            </a:extLst>
          </p:cNvPr>
          <p:cNvSpPr>
            <a:spLocks noGrp="1"/>
          </p:cNvSpPr>
          <p:nvPr>
            <p:ph type="body" idx="3"/>
          </p:nvPr>
        </p:nvSpPr>
        <p:spPr/>
        <p:txBody>
          <a:bodyPr/>
          <a:lstStyle/>
          <a:p>
            <a:r>
              <a:rPr lang="zh-CN" altLang="en-US" dirty="0"/>
              <a:t>短路发生时：</a:t>
            </a:r>
            <a:r>
              <a:rPr lang="en-US" altLang="zh-CN" dirty="0"/>
              <a:t>CPU </a:t>
            </a:r>
            <a:r>
              <a:rPr lang="zh-CN" altLang="en-US" dirty="0"/>
              <a:t>或解释器跳过了对第二个条件的判断</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陷阱：如果你选了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A=3, B=2</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。因为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A=3</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 为真，计算机在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OR</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 运算中只要看到第一个为真，就不会再去判断后面的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B&gt;1</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 了。这样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B&gt;1</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 这个条件实际上没被测试到。</a:t>
            </a:r>
          </a:p>
          <a:p>
            <a:endParaRPr lang="zh-CN" altLang="en-US" dirty="0"/>
          </a:p>
        </p:txBody>
      </p:sp>
    </p:spTree>
    <p:extLst>
      <p:ext uri="{BB962C8B-B14F-4D97-AF65-F5344CB8AC3E}">
        <p14:creationId xmlns:p14="http://schemas.microsoft.com/office/powerpoint/2010/main" val="32421949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CA755-7B98-81ED-E57E-349DD0E1BC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F1D0633-33A3-B32C-34F2-D49D4E133C75}"/>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9ECF8663-A4A7-1F9D-1F42-F79DF3358B66}"/>
              </a:ext>
            </a:extLst>
          </p:cNvPr>
          <p:cNvSpPr>
            <a:spLocks noGrp="1"/>
          </p:cNvSpPr>
          <p:nvPr>
            <p:ph type="body" idx="3"/>
          </p:nvPr>
        </p:nvSpPr>
        <p:spPr/>
        <p:txBody>
          <a:bodyPr/>
          <a:lstStyle/>
          <a:p>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测试数据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1 (A=2, B=2)</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：覆盖了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False, True, False, False</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a:t>
            </a:r>
          </a:p>
          <a:p>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测试数据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2 (A=3, B=0)</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：覆盖了 </a:t>
            </a:r>
            <a:r>
              <a:rPr lang="en-US" altLang="zh-CN" sz="1200" b="0" i="0" kern="1200" dirty="0">
                <a:solidFill>
                  <a:schemeClr val="tx1"/>
                </a:solidFill>
                <a:effectLst/>
                <a:latin typeface="Times New Roman" panose="02020603050405020304" pitchFamily="18" charset="0"/>
                <a:ea typeface="微软雅黑 Light" panose="020B0502040204020203" pitchFamily="34" charset="-122"/>
                <a:cs typeface="+mn-cs"/>
              </a:rPr>
              <a:t>True, False, True, True</a:t>
            </a:r>
            <a:r>
              <a:rPr lang="zh-CN" altLang="en-US" sz="1200" b="0" i="0" kern="1200" dirty="0">
                <a:solidFill>
                  <a:schemeClr val="tx1"/>
                </a:solidFill>
                <a:effectLst/>
                <a:latin typeface="Times New Roman" panose="02020603050405020304" pitchFamily="18" charset="0"/>
                <a:ea typeface="微软雅黑 Light" panose="020B0502040204020203" pitchFamily="34" charset="-122"/>
                <a:cs typeface="+mn-cs"/>
              </a:rPr>
              <a:t>。</a:t>
            </a:r>
          </a:p>
          <a:p>
            <a:endParaRPr lang="zh-CN" altLang="en-US" dirty="0"/>
          </a:p>
        </p:txBody>
      </p:sp>
    </p:spTree>
    <p:extLst>
      <p:ext uri="{BB962C8B-B14F-4D97-AF65-F5344CB8AC3E}">
        <p14:creationId xmlns:p14="http://schemas.microsoft.com/office/powerpoint/2010/main" val="23600806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6F63D-D573-E2CB-599E-9386420DF80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F37CB44-168A-BCC1-8A0A-EAA6711B92E4}"/>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6ACC39FD-D342-CAE4-2ED6-7C13945DCEA1}"/>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16392233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E9C9-D466-C942-A3EF-61DBF07686C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36EADF-69A6-FE32-F9C2-13BA87156F37}"/>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959819AD-D55B-BCFF-9538-C22418793B78}"/>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3274288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5F5BC-4F1D-2300-DCDA-7858DE9B9A7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AA980F2-561B-5FC4-1AC3-297F7974C4D2}"/>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8A732B4A-9A47-FDE4-D0F6-7B1C9DD00995}"/>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8262204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B8762-FC86-4B83-B2F0-EDD8790CBEA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ED42CC-02F9-4AF3-AAEA-715A1664FA1A}"/>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F4A0D3DD-5BE8-3CBC-7EC1-19E3E658BB08}"/>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4569558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A33A9-391F-6C10-2195-386BB5EB024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541CC97-9537-3F95-3A6A-25F2F91BE6BB}"/>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77852738-7474-4AED-FA30-8E9B6352475B}"/>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145810315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816E9-762E-EC5E-A9F3-8A1910E7004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4C746F-A278-C6AC-69EC-71647B114E7D}"/>
              </a:ext>
            </a:extLst>
          </p:cNvPr>
          <p:cNvSpPr>
            <a:spLocks noGrp="1" noRot="1" noChangeAspect="1"/>
          </p:cNvSpPr>
          <p:nvPr>
            <p:ph type="sldImg" idx="2"/>
          </p:nvPr>
        </p:nvSpPr>
        <p:spPr/>
        <p:txBody>
          <a:bodyPr/>
          <a:lstStyle/>
          <a:p>
            <a:endParaRPr lang="zh-CN" altLang="en-US"/>
          </a:p>
        </p:txBody>
      </p:sp>
      <p:sp>
        <p:nvSpPr>
          <p:cNvPr id="3" name="文本占位符 2">
            <a:extLst>
              <a:ext uri="{FF2B5EF4-FFF2-40B4-BE49-F238E27FC236}">
                <a16:creationId xmlns:a16="http://schemas.microsoft.com/office/drawing/2014/main" id="{F985B1C2-1E2E-B231-8C9A-1E5B1D952AD8}"/>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1636425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2752833"/>
            <a:ext cx="9144000" cy="757130"/>
          </a:xfrm>
        </p:spPr>
        <p:txBody>
          <a:bodyPr anchor="b"/>
          <a:lstStyle>
            <a:lvl1pPr algn="ctr">
              <a:defRPr sz="48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2" name="标题 1"/>
          <p:cNvSpPr>
            <a:spLocks noGrp="1"/>
          </p:cNvSpPr>
          <p:nvPr>
            <p:ph type="title"/>
          </p:nvPr>
        </p:nvSpPr>
        <p:spPr>
          <a:xfrm>
            <a:off x="336000" y="360000"/>
            <a:ext cx="5760000" cy="535531"/>
          </a:xfrm>
          <a:prstGeom prst="rect">
            <a:avLst/>
          </a:prstGeom>
        </p:spPr>
        <p:txBody>
          <a:bodyPr wrap="square">
            <a:spAutoFit/>
          </a:bodyPr>
          <a:lstStyle>
            <a:lvl1pPr>
              <a:defRPr lang="zh-CN" altLang="en-US" dirty="0">
                <a:solidFill>
                  <a:srgbClr val="FF0000"/>
                </a:solidFill>
              </a:defRPr>
            </a:lvl1pPr>
          </a:lstStyle>
          <a:p>
            <a:r>
              <a:rPr lang="zh-CN" altLang="en-US" dirty="0"/>
              <a:t>单击此处编辑母版标题样式</a:t>
            </a:r>
          </a:p>
        </p:txBody>
      </p:sp>
      <p:sp>
        <p:nvSpPr>
          <p:cNvPr id="18" name="任意多边形 17"/>
          <p:cNvSpPr/>
          <p:nvPr/>
        </p:nvSpPr>
        <p:spPr>
          <a:xfrm>
            <a:off x="336000" y="1080000"/>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ndParaRPr>
          </a:p>
        </p:txBody>
      </p:sp>
      <p:sp>
        <p:nvSpPr>
          <p:cNvPr id="6" name="文本占位符 5">
            <a:extLst>
              <a:ext uri="{FF2B5EF4-FFF2-40B4-BE49-F238E27FC236}">
                <a16:creationId xmlns:a16="http://schemas.microsoft.com/office/drawing/2014/main" id="{9D7D58B2-D066-8574-13EF-38BA2BBBDE41}"/>
              </a:ext>
            </a:extLst>
          </p:cNvPr>
          <p:cNvSpPr>
            <a:spLocks noGrp="1"/>
          </p:cNvSpPr>
          <p:nvPr>
            <p:ph type="body" sz="quarter" idx="10"/>
          </p:nvPr>
        </p:nvSpPr>
        <p:spPr>
          <a:xfrm>
            <a:off x="696000" y="1322832"/>
            <a:ext cx="5400000" cy="400110"/>
          </a:xfrm>
        </p:spPr>
        <p:txBody>
          <a:bodyPr wrap="square">
            <a:spAutoFit/>
          </a:bodyPr>
          <a:lstStyle>
            <a:lvl1pPr marL="0" indent="0">
              <a:lnSpc>
                <a:spcPct val="100000"/>
              </a:lnSpc>
              <a:spcAft>
                <a:spcPts val="0"/>
              </a:spcAft>
              <a:buNone/>
              <a:defRPr>
                <a:latin typeface="微软雅黑" panose="020B0503020204020204" pitchFamily="34" charset="-122"/>
                <a:ea typeface="微软雅黑" panose="020B0503020204020204" pitchFamily="34" charset="-122"/>
              </a:defRPr>
            </a:lvl1pPr>
          </a:lstStyle>
          <a:p>
            <a:pPr lvl="0"/>
            <a:r>
              <a:rPr lang="zh-CN" altLang="en-US" dirty="0"/>
              <a:t>单击此处编辑母版文本样式</a:t>
            </a:r>
          </a:p>
        </p:txBody>
      </p:sp>
      <p:sp>
        <p:nvSpPr>
          <p:cNvPr id="10" name="文本占位符 9">
            <a:extLst>
              <a:ext uri="{FF2B5EF4-FFF2-40B4-BE49-F238E27FC236}">
                <a16:creationId xmlns:a16="http://schemas.microsoft.com/office/drawing/2014/main" id="{7A03BA7E-1CDD-2353-ED4F-A4C3BF117755}"/>
              </a:ext>
            </a:extLst>
          </p:cNvPr>
          <p:cNvSpPr>
            <a:spLocks noGrp="1"/>
          </p:cNvSpPr>
          <p:nvPr>
            <p:ph type="body" sz="quarter" idx="11"/>
          </p:nvPr>
        </p:nvSpPr>
        <p:spPr>
          <a:xfrm>
            <a:off x="6096000" y="360128"/>
            <a:ext cx="5760000" cy="400110"/>
          </a:xfrm>
        </p:spPr>
        <p:txBody>
          <a:bodyPr wrap="square">
            <a:spAutoFit/>
          </a:bodyPr>
          <a:lstStyle>
            <a:lvl1pPr marL="0" indent="0" algn="r">
              <a:lnSpc>
                <a:spcPct val="100000"/>
              </a:lnSpc>
              <a:spcAft>
                <a:spcPts val="0"/>
              </a:spcAft>
              <a:buNone/>
              <a:defRPr baseline="0"/>
            </a:lvl1pPr>
            <a:lvl2pPr>
              <a:buNone/>
              <a:defRPr/>
            </a:lvl2pPr>
            <a:lvl3pPr>
              <a:buNone/>
              <a:defRPr/>
            </a:lvl3pPr>
            <a:lvl4pPr>
              <a:buNone/>
              <a:defRPr/>
            </a:lvl4pPr>
            <a:lvl5pPr>
              <a:buNone/>
              <a:defRPr/>
            </a:lvl5pPr>
          </a:lstStyle>
          <a:p>
            <a:pPr lvl="0"/>
            <a:r>
              <a:rPr lang="zh-CN" altLang="en-US" dirty="0"/>
              <a:t>单击此处编辑母版文本样式</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ndParaRPr>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Times New Roman" panose="02020603050405020304" pitchFamily="18" charset="0"/>
                <a:cs typeface="Times New Roman" panose="02020603050405020304" pitchFamily="18" charset="0"/>
              </a:rPr>
              <a:t>T</a:t>
            </a:r>
            <a:endParaRPr lang="zh-CN" altLang="en-US" sz="21400" dirty="0">
              <a:latin typeface="Times New Roman" panose="02020603050405020304" pitchFamily="18" charset="0"/>
              <a:cs typeface="Times New Roman" panose="02020603050405020304" pitchFamily="18"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3483813"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Times New Roman" panose="02020603050405020304" pitchFamily="18" charset="0"/>
                <a:cs typeface="Times New Roman" panose="02020603050405020304" pitchFamily="18" charset="0"/>
              </a:rPr>
              <a:t>HANK   YOU!</a:t>
            </a:r>
            <a:endParaRPr lang="zh-CN" altLang="en-US" sz="5700" b="1" dirty="0">
              <a:latin typeface="Times New Roman" panose="02020603050405020304" pitchFamily="18" charset="0"/>
              <a:cs typeface="Times New Roman" panose="02020603050405020304" pitchFamily="18"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latin typeface="Times New Roman" panose="02020603050405020304" pitchFamily="18" charset="0"/>
            </a:endParaRPr>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274949"/>
            <a:ext cx="10515600" cy="535531"/>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p:cNvSpPr>
            <a:spLocks noGrp="1"/>
          </p:cNvSpPr>
          <p:nvPr>
            <p:ph type="body" idx="1"/>
          </p:nvPr>
        </p:nvSpPr>
        <p:spPr>
          <a:xfrm>
            <a:off x="838200" y="863600"/>
            <a:ext cx="10515600" cy="5313364"/>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ea typeface="微软雅黑 Light" panose="020B0502040204020203" pitchFamily="34" charset="-122"/>
              </a:defRPr>
            </a:lvl1pPr>
          </a:lstStyle>
          <a:p>
            <a:fld id="{D997B5FA-0921-464F-AAE1-844C04324D75}" type="datetimeFigureOut">
              <a:rPr lang="zh-CN" altLang="en-US" smtClean="0"/>
              <a:pPr/>
              <a:t>2026/4/27</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ea typeface="微软雅黑 Light" panose="020B0502040204020203" pitchFamily="34" charset="-122"/>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imes New Roman" panose="02020603050405020304" pitchFamily="18" charset="0"/>
                <a:ea typeface="微软雅黑 Light" panose="020B0502040204020203" pitchFamily="34" charset="-122"/>
              </a:defRPr>
            </a:lvl1pPr>
          </a:lstStyle>
          <a:p>
            <a:fld id="{565CE74E-AB26-4998-AD42-012C4C1AD076}"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67" r:id="rId2"/>
    <p:sldLayoutId id="2147483655" r:id="rId3"/>
    <p:sldLayoutId id="2147483683" r:id="rId4"/>
  </p:sldLayoutIdLst>
  <p:txStyles>
    <p:titleStyle>
      <a:lvl1pPr algn="l" defTabSz="914400" rtl="0" eaLnBrk="1" latinLnBrk="0" hangingPunct="1">
        <a:lnSpc>
          <a:spcPct val="90000"/>
        </a:lnSpc>
        <a:spcBef>
          <a:spcPct val="0"/>
        </a:spcBef>
        <a:buNone/>
        <a:defRPr lang="zh-CN" altLang="en-US" sz="3200" kern="1200" baseline="0" dirty="0">
          <a:solidFill>
            <a:schemeClr val="tx1"/>
          </a:solidFill>
          <a:latin typeface="Times New Roman" panose="02020603050405020304" pitchFamily="18" charset="0"/>
          <a:ea typeface="微软雅黑" panose="020B0503020204020204" pitchFamily="34" charset="-122"/>
          <a:cs typeface="+mj-cs"/>
        </a:defRPr>
      </a:lvl1pPr>
    </p:titleStyle>
    <p:bodyStyle>
      <a:lvl1pPr marL="180000" indent="-180000" algn="l" defTabSz="914400" rtl="0" eaLnBrk="1" latinLnBrk="0" hangingPunct="1">
        <a:lnSpc>
          <a:spcPct val="150000"/>
        </a:lnSpc>
        <a:spcBef>
          <a:spcPts val="0"/>
        </a:spcBef>
        <a:spcAft>
          <a:spcPts val="600"/>
        </a:spcAft>
        <a:buFont typeface="Arial" panose="020B0604020202020204" pitchFamily="34" charset="0"/>
        <a:buChar char="•"/>
        <a:defRPr sz="2000" kern="1200" baseline="0">
          <a:solidFill>
            <a:schemeClr val="tx1"/>
          </a:solidFill>
          <a:latin typeface="Times New Roman" panose="02020603050405020304" pitchFamily="18" charset="0"/>
          <a:ea typeface="微软雅黑 Light" panose="020B0502040204020203" pitchFamily="34" charset="-122"/>
          <a:cs typeface="+mn-cs"/>
        </a:defRPr>
      </a:lvl1pPr>
      <a:lvl2pPr marL="540000" indent="-180000" algn="l" defTabSz="914400" rtl="0" eaLnBrk="1" latinLnBrk="0" hangingPunct="1">
        <a:lnSpc>
          <a:spcPct val="150000"/>
        </a:lnSpc>
        <a:spcBef>
          <a:spcPts val="0"/>
        </a:spcBef>
        <a:spcAft>
          <a:spcPts val="600"/>
        </a:spcAft>
        <a:buFont typeface="Arial" panose="020B0604020202020204" pitchFamily="34" charset="0"/>
        <a:buChar char="•"/>
        <a:defRPr sz="1800" kern="1200" baseline="0">
          <a:solidFill>
            <a:schemeClr val="tx1"/>
          </a:solidFill>
          <a:latin typeface="Times New Roman" panose="02020603050405020304" pitchFamily="18" charset="0"/>
          <a:ea typeface="微软雅黑 Light" panose="020B0502040204020203" pitchFamily="34" charset="-122"/>
          <a:cs typeface="+mn-cs"/>
        </a:defRPr>
      </a:lvl2pPr>
      <a:lvl3pPr marL="1080000" indent="-180000" algn="l" defTabSz="914400" rtl="0" eaLnBrk="1" latinLnBrk="0" hangingPunct="1">
        <a:lnSpc>
          <a:spcPct val="150000"/>
        </a:lnSpc>
        <a:spcBef>
          <a:spcPts val="0"/>
        </a:spcBef>
        <a:spcAft>
          <a:spcPts val="600"/>
        </a:spcAft>
        <a:buFont typeface="Arial" panose="020B0604020202020204" pitchFamily="34" charset="0"/>
        <a:buChar char="•"/>
        <a:defRPr sz="1600" kern="1200" baseline="0">
          <a:solidFill>
            <a:schemeClr val="tx1"/>
          </a:solidFill>
          <a:latin typeface="Times New Roman" panose="02020603050405020304" pitchFamily="18" charset="0"/>
          <a:ea typeface="微软雅黑 Light" panose="020B0502040204020203" pitchFamily="34" charset="-122"/>
          <a:cs typeface="+mn-cs"/>
        </a:defRPr>
      </a:lvl3pPr>
      <a:lvl4pPr marL="1440000" indent="-180000" algn="l" defTabSz="914400" rtl="0" eaLnBrk="1" latinLnBrk="0" hangingPunct="1">
        <a:lnSpc>
          <a:spcPct val="150000"/>
        </a:lnSpc>
        <a:spcBef>
          <a:spcPts val="0"/>
        </a:spcBef>
        <a:spcAft>
          <a:spcPts val="600"/>
        </a:spcAft>
        <a:buFont typeface="Arial" panose="020B0604020202020204" pitchFamily="34" charset="0"/>
        <a:buChar char="•"/>
        <a:defRPr sz="1400" kern="1200" baseline="0">
          <a:solidFill>
            <a:schemeClr val="tx1"/>
          </a:solidFill>
          <a:latin typeface="Times New Roman" panose="02020603050405020304" pitchFamily="18" charset="0"/>
          <a:ea typeface="微软雅黑 Light" panose="020B0502040204020203" pitchFamily="34" charset="-122"/>
          <a:cs typeface="+mn-cs"/>
        </a:defRPr>
      </a:lvl4pPr>
      <a:lvl5pPr marL="1800000" indent="-180000" algn="l" defTabSz="914400" rtl="0" eaLnBrk="1" latinLnBrk="0" hangingPunct="1">
        <a:lnSpc>
          <a:spcPct val="150000"/>
        </a:lnSpc>
        <a:spcBef>
          <a:spcPts val="0"/>
        </a:spcBef>
        <a:spcAft>
          <a:spcPts val="600"/>
        </a:spcAft>
        <a:buFont typeface="Arial" panose="020B0604020202020204" pitchFamily="34" charset="0"/>
        <a:buChar char="•"/>
        <a:defRPr sz="1200" kern="1200" baseline="0">
          <a:solidFill>
            <a:schemeClr val="tx1"/>
          </a:solidFill>
          <a:latin typeface="Times New Roman" panose="02020603050405020304" pitchFamily="18"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3.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19.xml"/><Relationship Id="rId7" Type="http://schemas.openxmlformats.org/officeDocument/2006/relationships/slideLayout" Target="../slideLayouts/slideLayout3.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25.xml"/><Relationship Id="rId7" Type="http://schemas.openxmlformats.org/officeDocument/2006/relationships/slideLayout" Target="../slideLayouts/slideLayout3.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29.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tags" Target="../tags/tag37.xml"/><Relationship Id="rId13" Type="http://schemas.openxmlformats.org/officeDocument/2006/relationships/tags" Target="../tags/tag42.xml"/><Relationship Id="rId3" Type="http://schemas.openxmlformats.org/officeDocument/2006/relationships/tags" Target="../tags/tag32.xml"/><Relationship Id="rId7" Type="http://schemas.openxmlformats.org/officeDocument/2006/relationships/tags" Target="../tags/tag36.xml"/><Relationship Id="rId12" Type="http://schemas.openxmlformats.org/officeDocument/2006/relationships/tags" Target="../tags/tag41.xml"/><Relationship Id="rId17" Type="http://schemas.openxmlformats.org/officeDocument/2006/relationships/slideLayout" Target="../slideLayouts/slideLayout2.xml"/><Relationship Id="rId2" Type="http://schemas.openxmlformats.org/officeDocument/2006/relationships/tags" Target="../tags/tag31.xml"/><Relationship Id="rId16" Type="http://schemas.openxmlformats.org/officeDocument/2006/relationships/tags" Target="../tags/tag45.xml"/><Relationship Id="rId1" Type="http://schemas.openxmlformats.org/officeDocument/2006/relationships/tags" Target="../tags/tag30.xml"/><Relationship Id="rId6" Type="http://schemas.openxmlformats.org/officeDocument/2006/relationships/tags" Target="../tags/tag35.xml"/><Relationship Id="rId11" Type="http://schemas.openxmlformats.org/officeDocument/2006/relationships/tags" Target="../tags/tag40.xml"/><Relationship Id="rId5" Type="http://schemas.openxmlformats.org/officeDocument/2006/relationships/tags" Target="../tags/tag34.xml"/><Relationship Id="rId15" Type="http://schemas.openxmlformats.org/officeDocument/2006/relationships/tags" Target="../tags/tag44.xml"/><Relationship Id="rId10" Type="http://schemas.openxmlformats.org/officeDocument/2006/relationships/tags" Target="../tags/tag39.xml"/><Relationship Id="rId4" Type="http://schemas.openxmlformats.org/officeDocument/2006/relationships/tags" Target="../tags/tag33.xml"/><Relationship Id="rId9" Type="http://schemas.openxmlformats.org/officeDocument/2006/relationships/tags" Target="../tags/tag38.xml"/><Relationship Id="rId14" Type="http://schemas.openxmlformats.org/officeDocument/2006/relationships/tags" Target="../tags/tag43.xml"/></Relationships>
</file>

<file path=ppt/slides/_rels/slide8.xml.rels><?xml version="1.0" encoding="UTF-8" standalone="yes"?>
<Relationships xmlns="http://schemas.openxmlformats.org/package/2006/relationships"><Relationship Id="rId3" Type="http://schemas.openxmlformats.org/officeDocument/2006/relationships/tags" Target="../tags/tag48.xml"/><Relationship Id="rId7" Type="http://schemas.openxmlformats.org/officeDocument/2006/relationships/slideLayout" Target="../slideLayouts/slideLayout2.xml"/><Relationship Id="rId2" Type="http://schemas.openxmlformats.org/officeDocument/2006/relationships/tags" Target="../tags/tag47.xml"/><Relationship Id="rId1" Type="http://schemas.openxmlformats.org/officeDocument/2006/relationships/tags" Target="../tags/tag46.xml"/><Relationship Id="rId6" Type="http://schemas.openxmlformats.org/officeDocument/2006/relationships/tags" Target="../tags/tag51.xml"/><Relationship Id="rId5" Type="http://schemas.openxmlformats.org/officeDocument/2006/relationships/tags" Target="../tags/tag50.xml"/><Relationship Id="rId4" Type="http://schemas.openxmlformats.org/officeDocument/2006/relationships/tags" Target="../tags/tag49.xml"/></Relationships>
</file>

<file path=ppt/slides/_rels/slide9.xml.rels><?xml version="1.0" encoding="UTF-8" standalone="yes"?>
<Relationships xmlns="http://schemas.openxmlformats.org/package/2006/relationships"><Relationship Id="rId8" Type="http://schemas.openxmlformats.org/officeDocument/2006/relationships/tags" Target="../tags/tag59.xml"/><Relationship Id="rId13" Type="http://schemas.openxmlformats.org/officeDocument/2006/relationships/tags" Target="../tags/tag64.xml"/><Relationship Id="rId3" Type="http://schemas.openxmlformats.org/officeDocument/2006/relationships/tags" Target="../tags/tag54.xml"/><Relationship Id="rId7" Type="http://schemas.openxmlformats.org/officeDocument/2006/relationships/tags" Target="../tags/tag58.xml"/><Relationship Id="rId12" Type="http://schemas.openxmlformats.org/officeDocument/2006/relationships/tags" Target="../tags/tag63.xml"/><Relationship Id="rId2" Type="http://schemas.openxmlformats.org/officeDocument/2006/relationships/tags" Target="../tags/tag53.xml"/><Relationship Id="rId16" Type="http://schemas.openxmlformats.org/officeDocument/2006/relationships/slideLayout" Target="../slideLayouts/slideLayout2.xml"/><Relationship Id="rId1" Type="http://schemas.openxmlformats.org/officeDocument/2006/relationships/tags" Target="../tags/tag52.xml"/><Relationship Id="rId6" Type="http://schemas.openxmlformats.org/officeDocument/2006/relationships/tags" Target="../tags/tag57.xml"/><Relationship Id="rId11" Type="http://schemas.openxmlformats.org/officeDocument/2006/relationships/tags" Target="../tags/tag62.xml"/><Relationship Id="rId5" Type="http://schemas.openxmlformats.org/officeDocument/2006/relationships/tags" Target="../tags/tag56.xml"/><Relationship Id="rId15" Type="http://schemas.openxmlformats.org/officeDocument/2006/relationships/tags" Target="../tags/tag66.xml"/><Relationship Id="rId10" Type="http://schemas.openxmlformats.org/officeDocument/2006/relationships/tags" Target="../tags/tag61.xml"/><Relationship Id="rId4" Type="http://schemas.openxmlformats.org/officeDocument/2006/relationships/tags" Target="../tags/tag55.xml"/><Relationship Id="rId9" Type="http://schemas.openxmlformats.org/officeDocument/2006/relationships/tags" Target="../tags/tag60.xml"/><Relationship Id="rId14" Type="http://schemas.openxmlformats.org/officeDocument/2006/relationships/tags" Target="../tags/tag6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tags" Target="../tags/tag74.xml"/><Relationship Id="rId3" Type="http://schemas.openxmlformats.org/officeDocument/2006/relationships/tags" Target="../tags/tag69.xml"/><Relationship Id="rId7" Type="http://schemas.openxmlformats.org/officeDocument/2006/relationships/tags" Target="../tags/tag73.xml"/><Relationship Id="rId12" Type="http://schemas.openxmlformats.org/officeDocument/2006/relationships/notesSlide" Target="../notesSlides/notesSlide8.xml"/><Relationship Id="rId2" Type="http://schemas.openxmlformats.org/officeDocument/2006/relationships/tags" Target="../tags/tag68.xml"/><Relationship Id="rId1" Type="http://schemas.openxmlformats.org/officeDocument/2006/relationships/tags" Target="../tags/tag67.xml"/><Relationship Id="rId6" Type="http://schemas.openxmlformats.org/officeDocument/2006/relationships/tags" Target="../tags/tag72.xml"/><Relationship Id="rId11" Type="http://schemas.openxmlformats.org/officeDocument/2006/relationships/slideLayout" Target="../slideLayouts/slideLayout2.xml"/><Relationship Id="rId5" Type="http://schemas.openxmlformats.org/officeDocument/2006/relationships/tags" Target="../tags/tag71.xml"/><Relationship Id="rId10" Type="http://schemas.openxmlformats.org/officeDocument/2006/relationships/tags" Target="../tags/tag76.xml"/><Relationship Id="rId4" Type="http://schemas.openxmlformats.org/officeDocument/2006/relationships/tags" Target="../tags/tag70.xml"/><Relationship Id="rId9" Type="http://schemas.openxmlformats.org/officeDocument/2006/relationships/tags" Target="../tags/tag75.xml"/></Relationships>
</file>

<file path=ppt/slides/_rels/slide16.xml.rels><?xml version="1.0" encoding="UTF-8" standalone="yes"?>
<Relationships xmlns="http://schemas.openxmlformats.org/package/2006/relationships"><Relationship Id="rId8" Type="http://schemas.openxmlformats.org/officeDocument/2006/relationships/tags" Target="../tags/tag84.xml"/><Relationship Id="rId13" Type="http://schemas.openxmlformats.org/officeDocument/2006/relationships/notesSlide" Target="../notesSlides/notesSlide9.xml"/><Relationship Id="rId3" Type="http://schemas.openxmlformats.org/officeDocument/2006/relationships/tags" Target="../tags/tag79.xml"/><Relationship Id="rId7" Type="http://schemas.openxmlformats.org/officeDocument/2006/relationships/tags" Target="../tags/tag83.xml"/><Relationship Id="rId12" Type="http://schemas.openxmlformats.org/officeDocument/2006/relationships/slideLayout" Target="../slideLayouts/slideLayout2.xml"/><Relationship Id="rId2" Type="http://schemas.openxmlformats.org/officeDocument/2006/relationships/tags" Target="../tags/tag78.xml"/><Relationship Id="rId1" Type="http://schemas.openxmlformats.org/officeDocument/2006/relationships/tags" Target="../tags/tag77.xml"/><Relationship Id="rId6" Type="http://schemas.openxmlformats.org/officeDocument/2006/relationships/tags" Target="../tags/tag82.xml"/><Relationship Id="rId11" Type="http://schemas.openxmlformats.org/officeDocument/2006/relationships/tags" Target="../tags/tag87.xml"/><Relationship Id="rId5" Type="http://schemas.openxmlformats.org/officeDocument/2006/relationships/tags" Target="../tags/tag81.xml"/><Relationship Id="rId10" Type="http://schemas.openxmlformats.org/officeDocument/2006/relationships/tags" Target="../tags/tag86.xml"/><Relationship Id="rId4" Type="http://schemas.openxmlformats.org/officeDocument/2006/relationships/tags" Target="../tags/tag80.xml"/><Relationship Id="rId9" Type="http://schemas.openxmlformats.org/officeDocument/2006/relationships/tags" Target="../tags/tag85.xml"/></Relationships>
</file>

<file path=ppt/slides/_rels/slide17.xml.rels><?xml version="1.0" encoding="UTF-8" standalone="yes"?>
<Relationships xmlns="http://schemas.openxmlformats.org/package/2006/relationships"><Relationship Id="rId8" Type="http://schemas.openxmlformats.org/officeDocument/2006/relationships/tags" Target="../tags/tag95.xml"/><Relationship Id="rId13" Type="http://schemas.openxmlformats.org/officeDocument/2006/relationships/tags" Target="../tags/tag100.xml"/><Relationship Id="rId3" Type="http://schemas.openxmlformats.org/officeDocument/2006/relationships/tags" Target="../tags/tag90.xml"/><Relationship Id="rId7" Type="http://schemas.openxmlformats.org/officeDocument/2006/relationships/tags" Target="../tags/tag94.xml"/><Relationship Id="rId12" Type="http://schemas.openxmlformats.org/officeDocument/2006/relationships/tags" Target="../tags/tag99.xml"/><Relationship Id="rId2" Type="http://schemas.openxmlformats.org/officeDocument/2006/relationships/tags" Target="../tags/tag89.xml"/><Relationship Id="rId1" Type="http://schemas.openxmlformats.org/officeDocument/2006/relationships/tags" Target="../tags/tag88.xml"/><Relationship Id="rId6" Type="http://schemas.openxmlformats.org/officeDocument/2006/relationships/tags" Target="../tags/tag93.xml"/><Relationship Id="rId11" Type="http://schemas.openxmlformats.org/officeDocument/2006/relationships/tags" Target="../tags/tag98.xml"/><Relationship Id="rId5" Type="http://schemas.openxmlformats.org/officeDocument/2006/relationships/tags" Target="../tags/tag92.xml"/><Relationship Id="rId15" Type="http://schemas.openxmlformats.org/officeDocument/2006/relationships/notesSlide" Target="../notesSlides/notesSlide10.xml"/><Relationship Id="rId10" Type="http://schemas.openxmlformats.org/officeDocument/2006/relationships/tags" Target="../tags/tag97.xml"/><Relationship Id="rId4" Type="http://schemas.openxmlformats.org/officeDocument/2006/relationships/tags" Target="../tags/tag91.xml"/><Relationship Id="rId9" Type="http://schemas.openxmlformats.org/officeDocument/2006/relationships/tags" Target="../tags/tag96.xml"/><Relationship Id="rId14"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tags" Target="../tags/tag108.xml"/><Relationship Id="rId13" Type="http://schemas.openxmlformats.org/officeDocument/2006/relationships/tags" Target="../tags/tag113.xml"/><Relationship Id="rId3" Type="http://schemas.openxmlformats.org/officeDocument/2006/relationships/tags" Target="../tags/tag103.xml"/><Relationship Id="rId7" Type="http://schemas.openxmlformats.org/officeDocument/2006/relationships/tags" Target="../tags/tag107.xml"/><Relationship Id="rId12" Type="http://schemas.openxmlformats.org/officeDocument/2006/relationships/tags" Target="../tags/tag112.xml"/><Relationship Id="rId17" Type="http://schemas.openxmlformats.org/officeDocument/2006/relationships/notesSlide" Target="../notesSlides/notesSlide11.xml"/><Relationship Id="rId2" Type="http://schemas.openxmlformats.org/officeDocument/2006/relationships/tags" Target="../tags/tag102.xml"/><Relationship Id="rId16" Type="http://schemas.openxmlformats.org/officeDocument/2006/relationships/slideLayout" Target="../slideLayouts/slideLayout2.xml"/><Relationship Id="rId1" Type="http://schemas.openxmlformats.org/officeDocument/2006/relationships/tags" Target="../tags/tag101.xml"/><Relationship Id="rId6" Type="http://schemas.openxmlformats.org/officeDocument/2006/relationships/tags" Target="../tags/tag106.xml"/><Relationship Id="rId11" Type="http://schemas.openxmlformats.org/officeDocument/2006/relationships/tags" Target="../tags/tag111.xml"/><Relationship Id="rId5" Type="http://schemas.openxmlformats.org/officeDocument/2006/relationships/tags" Target="../tags/tag105.xml"/><Relationship Id="rId15" Type="http://schemas.openxmlformats.org/officeDocument/2006/relationships/tags" Target="../tags/tag115.xml"/><Relationship Id="rId10" Type="http://schemas.openxmlformats.org/officeDocument/2006/relationships/tags" Target="../tags/tag110.xml"/><Relationship Id="rId4" Type="http://schemas.openxmlformats.org/officeDocument/2006/relationships/tags" Target="../tags/tag104.xml"/><Relationship Id="rId9" Type="http://schemas.openxmlformats.org/officeDocument/2006/relationships/tags" Target="../tags/tag109.xml"/><Relationship Id="rId14" Type="http://schemas.openxmlformats.org/officeDocument/2006/relationships/tags" Target="../tags/tag114.xml"/></Relationships>
</file>

<file path=ppt/slides/_rels/slide19.xml.rels><?xml version="1.0" encoding="UTF-8" standalone="yes"?>
<Relationships xmlns="http://schemas.openxmlformats.org/package/2006/relationships"><Relationship Id="rId8" Type="http://schemas.openxmlformats.org/officeDocument/2006/relationships/tags" Target="../tags/tag123.xml"/><Relationship Id="rId13" Type="http://schemas.openxmlformats.org/officeDocument/2006/relationships/tags" Target="../tags/tag128.xml"/><Relationship Id="rId18" Type="http://schemas.openxmlformats.org/officeDocument/2006/relationships/notesSlide" Target="../notesSlides/notesSlide12.xml"/><Relationship Id="rId3" Type="http://schemas.openxmlformats.org/officeDocument/2006/relationships/tags" Target="../tags/tag118.xml"/><Relationship Id="rId7" Type="http://schemas.openxmlformats.org/officeDocument/2006/relationships/tags" Target="../tags/tag122.xml"/><Relationship Id="rId12" Type="http://schemas.openxmlformats.org/officeDocument/2006/relationships/tags" Target="../tags/tag127.xml"/><Relationship Id="rId17" Type="http://schemas.openxmlformats.org/officeDocument/2006/relationships/slideLayout" Target="../slideLayouts/slideLayout2.xml"/><Relationship Id="rId2" Type="http://schemas.openxmlformats.org/officeDocument/2006/relationships/tags" Target="../tags/tag117.xml"/><Relationship Id="rId16" Type="http://schemas.openxmlformats.org/officeDocument/2006/relationships/tags" Target="../tags/tag131.xml"/><Relationship Id="rId1" Type="http://schemas.openxmlformats.org/officeDocument/2006/relationships/tags" Target="../tags/tag116.xml"/><Relationship Id="rId6" Type="http://schemas.openxmlformats.org/officeDocument/2006/relationships/tags" Target="../tags/tag121.xml"/><Relationship Id="rId11" Type="http://schemas.openxmlformats.org/officeDocument/2006/relationships/tags" Target="../tags/tag126.xml"/><Relationship Id="rId5" Type="http://schemas.openxmlformats.org/officeDocument/2006/relationships/tags" Target="../tags/tag120.xml"/><Relationship Id="rId15" Type="http://schemas.openxmlformats.org/officeDocument/2006/relationships/tags" Target="../tags/tag130.xml"/><Relationship Id="rId10" Type="http://schemas.openxmlformats.org/officeDocument/2006/relationships/tags" Target="../tags/tag125.xml"/><Relationship Id="rId4" Type="http://schemas.openxmlformats.org/officeDocument/2006/relationships/tags" Target="../tags/tag119.xml"/><Relationship Id="rId9" Type="http://schemas.openxmlformats.org/officeDocument/2006/relationships/tags" Target="../tags/tag124.xml"/><Relationship Id="rId14" Type="http://schemas.openxmlformats.org/officeDocument/2006/relationships/tags" Target="../tags/tag129.xml"/></Relationships>
</file>

<file path=ppt/slides/_rels/slide20.xml.rels><?xml version="1.0" encoding="UTF-8" standalone="yes"?>
<Relationships xmlns="http://schemas.openxmlformats.org/package/2006/relationships"><Relationship Id="rId8" Type="http://schemas.openxmlformats.org/officeDocument/2006/relationships/tags" Target="../tags/tag139.xml"/><Relationship Id="rId13" Type="http://schemas.openxmlformats.org/officeDocument/2006/relationships/tags" Target="../tags/tag144.xml"/><Relationship Id="rId3" Type="http://schemas.openxmlformats.org/officeDocument/2006/relationships/tags" Target="../tags/tag134.xml"/><Relationship Id="rId7" Type="http://schemas.openxmlformats.org/officeDocument/2006/relationships/tags" Target="../tags/tag138.xml"/><Relationship Id="rId12" Type="http://schemas.openxmlformats.org/officeDocument/2006/relationships/tags" Target="../tags/tag143.xml"/><Relationship Id="rId2" Type="http://schemas.openxmlformats.org/officeDocument/2006/relationships/tags" Target="../tags/tag133.xml"/><Relationship Id="rId16" Type="http://schemas.openxmlformats.org/officeDocument/2006/relationships/notesSlide" Target="../notesSlides/notesSlide13.xml"/><Relationship Id="rId1" Type="http://schemas.openxmlformats.org/officeDocument/2006/relationships/tags" Target="../tags/tag132.xml"/><Relationship Id="rId6" Type="http://schemas.openxmlformats.org/officeDocument/2006/relationships/tags" Target="../tags/tag137.xml"/><Relationship Id="rId11" Type="http://schemas.openxmlformats.org/officeDocument/2006/relationships/tags" Target="../tags/tag142.xml"/><Relationship Id="rId5" Type="http://schemas.openxmlformats.org/officeDocument/2006/relationships/tags" Target="../tags/tag136.xml"/><Relationship Id="rId15" Type="http://schemas.openxmlformats.org/officeDocument/2006/relationships/slideLayout" Target="../slideLayouts/slideLayout2.xml"/><Relationship Id="rId10" Type="http://schemas.openxmlformats.org/officeDocument/2006/relationships/tags" Target="../tags/tag141.xml"/><Relationship Id="rId4" Type="http://schemas.openxmlformats.org/officeDocument/2006/relationships/tags" Target="../tags/tag135.xml"/><Relationship Id="rId9" Type="http://schemas.openxmlformats.org/officeDocument/2006/relationships/tags" Target="../tags/tag140.xml"/><Relationship Id="rId14" Type="http://schemas.openxmlformats.org/officeDocument/2006/relationships/tags" Target="../tags/tag145.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4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tags" Target="../tags/tag154.xml"/><Relationship Id="rId13" Type="http://schemas.openxmlformats.org/officeDocument/2006/relationships/slideLayout" Target="../slideLayouts/slideLayout2.xml"/><Relationship Id="rId3" Type="http://schemas.openxmlformats.org/officeDocument/2006/relationships/tags" Target="../tags/tag149.xml"/><Relationship Id="rId7" Type="http://schemas.openxmlformats.org/officeDocument/2006/relationships/tags" Target="../tags/tag153.xml"/><Relationship Id="rId12" Type="http://schemas.openxmlformats.org/officeDocument/2006/relationships/tags" Target="../tags/tag158.xml"/><Relationship Id="rId2" Type="http://schemas.openxmlformats.org/officeDocument/2006/relationships/tags" Target="../tags/tag148.xml"/><Relationship Id="rId1" Type="http://schemas.openxmlformats.org/officeDocument/2006/relationships/tags" Target="../tags/tag147.xml"/><Relationship Id="rId6" Type="http://schemas.openxmlformats.org/officeDocument/2006/relationships/tags" Target="../tags/tag152.xml"/><Relationship Id="rId11" Type="http://schemas.openxmlformats.org/officeDocument/2006/relationships/tags" Target="../tags/tag157.xml"/><Relationship Id="rId5" Type="http://schemas.openxmlformats.org/officeDocument/2006/relationships/tags" Target="../tags/tag151.xml"/><Relationship Id="rId10" Type="http://schemas.openxmlformats.org/officeDocument/2006/relationships/tags" Target="../tags/tag156.xml"/><Relationship Id="rId4" Type="http://schemas.openxmlformats.org/officeDocument/2006/relationships/tags" Target="../tags/tag150.xml"/><Relationship Id="rId9" Type="http://schemas.openxmlformats.org/officeDocument/2006/relationships/tags" Target="../tags/tag155.xml"/><Relationship Id="rId14"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59.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60.xml"/></Relationships>
</file>

<file path=ppt/slides/_rels/slide28.xml.rels><?xml version="1.0" encoding="UTF-8" standalone="yes"?>
<Relationships xmlns="http://schemas.openxmlformats.org/package/2006/relationships"><Relationship Id="rId8" Type="http://schemas.openxmlformats.org/officeDocument/2006/relationships/tags" Target="../tags/tag168.xml"/><Relationship Id="rId13" Type="http://schemas.openxmlformats.org/officeDocument/2006/relationships/tags" Target="../tags/tag173.xml"/><Relationship Id="rId3" Type="http://schemas.openxmlformats.org/officeDocument/2006/relationships/tags" Target="../tags/tag163.xml"/><Relationship Id="rId7" Type="http://schemas.openxmlformats.org/officeDocument/2006/relationships/tags" Target="../tags/tag167.xml"/><Relationship Id="rId12" Type="http://schemas.openxmlformats.org/officeDocument/2006/relationships/tags" Target="../tags/tag172.xml"/><Relationship Id="rId2" Type="http://schemas.openxmlformats.org/officeDocument/2006/relationships/tags" Target="../tags/tag162.xml"/><Relationship Id="rId16" Type="http://schemas.openxmlformats.org/officeDocument/2006/relationships/image" Target="../media/image7.svg"/><Relationship Id="rId1" Type="http://schemas.openxmlformats.org/officeDocument/2006/relationships/tags" Target="../tags/tag161.xml"/><Relationship Id="rId6" Type="http://schemas.openxmlformats.org/officeDocument/2006/relationships/tags" Target="../tags/tag166.xml"/><Relationship Id="rId11" Type="http://schemas.openxmlformats.org/officeDocument/2006/relationships/tags" Target="../tags/tag171.xml"/><Relationship Id="rId5" Type="http://schemas.openxmlformats.org/officeDocument/2006/relationships/tags" Target="../tags/tag165.xml"/><Relationship Id="rId15" Type="http://schemas.openxmlformats.org/officeDocument/2006/relationships/notesSlide" Target="../notesSlides/notesSlide17.xml"/><Relationship Id="rId10" Type="http://schemas.openxmlformats.org/officeDocument/2006/relationships/tags" Target="../tags/tag170.xml"/><Relationship Id="rId4" Type="http://schemas.openxmlformats.org/officeDocument/2006/relationships/tags" Target="../tags/tag164.xml"/><Relationship Id="rId9" Type="http://schemas.openxmlformats.org/officeDocument/2006/relationships/tags" Target="../tags/tag169.xml"/><Relationship Id="rId14"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slideLayout" Target="../slideLayouts/slideLayout2.xml"/><Relationship Id="rId7" Type="http://schemas.openxmlformats.org/officeDocument/2006/relationships/image" Target="../media/image9.wmf"/><Relationship Id="rId2" Type="http://schemas.openxmlformats.org/officeDocument/2006/relationships/tags" Target="../tags/tag175.xml"/><Relationship Id="rId1" Type="http://schemas.openxmlformats.org/officeDocument/2006/relationships/tags" Target="../tags/tag174.xml"/><Relationship Id="rId6" Type="http://schemas.openxmlformats.org/officeDocument/2006/relationships/oleObject" Target="../embeddings/oleObject1.bin"/><Relationship Id="rId5" Type="http://schemas.openxmlformats.org/officeDocument/2006/relationships/image" Target="../media/image8.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slideLayout" Target="../slideLayouts/slideLayout2.xml"/><Relationship Id="rId7" Type="http://schemas.openxmlformats.org/officeDocument/2006/relationships/image" Target="../media/image9.wmf"/><Relationship Id="rId2" Type="http://schemas.openxmlformats.org/officeDocument/2006/relationships/tags" Target="../tags/tag177.xml"/><Relationship Id="rId1" Type="http://schemas.openxmlformats.org/officeDocument/2006/relationships/tags" Target="../tags/tag176.xml"/><Relationship Id="rId6" Type="http://schemas.openxmlformats.org/officeDocument/2006/relationships/oleObject" Target="../embeddings/oleObject1.bin"/><Relationship Id="rId5" Type="http://schemas.openxmlformats.org/officeDocument/2006/relationships/image" Target="../media/image8.png"/><Relationship Id="rId4"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9.xml"/><Relationship Id="rId1" Type="http://schemas.openxmlformats.org/officeDocument/2006/relationships/tags" Target="../tags/tag178.xml"/><Relationship Id="rId6" Type="http://schemas.openxmlformats.org/officeDocument/2006/relationships/image" Target="../media/image10.jpeg"/><Relationship Id="rId5" Type="http://schemas.openxmlformats.org/officeDocument/2006/relationships/image" Target="../media/image8.png"/><Relationship Id="rId4"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tags" Target="../tags/tag187.xml"/><Relationship Id="rId3" Type="http://schemas.openxmlformats.org/officeDocument/2006/relationships/tags" Target="../tags/tag182.xml"/><Relationship Id="rId7" Type="http://schemas.openxmlformats.org/officeDocument/2006/relationships/tags" Target="../tags/tag186.xml"/><Relationship Id="rId2" Type="http://schemas.openxmlformats.org/officeDocument/2006/relationships/tags" Target="../tags/tag181.xml"/><Relationship Id="rId1" Type="http://schemas.openxmlformats.org/officeDocument/2006/relationships/tags" Target="../tags/tag180.xml"/><Relationship Id="rId6" Type="http://schemas.openxmlformats.org/officeDocument/2006/relationships/tags" Target="../tags/tag185.xml"/><Relationship Id="rId5" Type="http://schemas.openxmlformats.org/officeDocument/2006/relationships/tags" Target="../tags/tag184.xml"/><Relationship Id="rId10" Type="http://schemas.openxmlformats.org/officeDocument/2006/relationships/notesSlide" Target="../notesSlides/notesSlide22.xml"/><Relationship Id="rId4" Type="http://schemas.openxmlformats.org/officeDocument/2006/relationships/tags" Target="../tags/tag183.xml"/><Relationship Id="rId9"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tags" Target="../tags/tag190.xml"/><Relationship Id="rId2" Type="http://schemas.openxmlformats.org/officeDocument/2006/relationships/tags" Target="../tags/tag189.xml"/><Relationship Id="rId1" Type="http://schemas.openxmlformats.org/officeDocument/2006/relationships/tags" Target="../tags/tag188.xml"/><Relationship Id="rId6" Type="http://schemas.openxmlformats.org/officeDocument/2006/relationships/notesSlide" Target="../notesSlides/notesSlide23.xml"/><Relationship Id="rId5" Type="http://schemas.openxmlformats.org/officeDocument/2006/relationships/slideLayout" Target="../slideLayouts/slideLayout2.xml"/><Relationship Id="rId4" Type="http://schemas.openxmlformats.org/officeDocument/2006/relationships/tags" Target="../tags/tag191.xml"/></Relationships>
</file>

<file path=ppt/slides/_rels/slide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93.xml"/><Relationship Id="rId1" Type="http://schemas.openxmlformats.org/officeDocument/2006/relationships/tags" Target="../tags/tag192.xml"/><Relationship Id="rId4"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95.xml"/><Relationship Id="rId1" Type="http://schemas.openxmlformats.org/officeDocument/2006/relationships/tags" Target="../tags/tag194.xml"/><Relationship Id="rId4"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97.xml"/><Relationship Id="rId1" Type="http://schemas.openxmlformats.org/officeDocument/2006/relationships/tags" Target="../tags/tag196.xml"/><Relationship Id="rId4"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98.xml"/></Relationships>
</file>

<file path=ppt/slides/_rels/slide4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tags" Target="../tags/tag206.xml"/><Relationship Id="rId13" Type="http://schemas.openxmlformats.org/officeDocument/2006/relationships/tags" Target="../tags/tag211.xml"/><Relationship Id="rId18" Type="http://schemas.openxmlformats.org/officeDocument/2006/relationships/tags" Target="../tags/tag216.xml"/><Relationship Id="rId3" Type="http://schemas.openxmlformats.org/officeDocument/2006/relationships/tags" Target="../tags/tag201.xml"/><Relationship Id="rId21" Type="http://schemas.openxmlformats.org/officeDocument/2006/relationships/slideLayout" Target="../slideLayouts/slideLayout2.xml"/><Relationship Id="rId7" Type="http://schemas.openxmlformats.org/officeDocument/2006/relationships/tags" Target="../tags/tag205.xml"/><Relationship Id="rId12" Type="http://schemas.openxmlformats.org/officeDocument/2006/relationships/tags" Target="../tags/tag210.xml"/><Relationship Id="rId17" Type="http://schemas.openxmlformats.org/officeDocument/2006/relationships/tags" Target="../tags/tag215.xml"/><Relationship Id="rId2" Type="http://schemas.openxmlformats.org/officeDocument/2006/relationships/tags" Target="../tags/tag200.xml"/><Relationship Id="rId16" Type="http://schemas.openxmlformats.org/officeDocument/2006/relationships/tags" Target="../tags/tag214.xml"/><Relationship Id="rId20" Type="http://schemas.openxmlformats.org/officeDocument/2006/relationships/tags" Target="../tags/tag218.xml"/><Relationship Id="rId1" Type="http://schemas.openxmlformats.org/officeDocument/2006/relationships/tags" Target="../tags/tag199.xml"/><Relationship Id="rId6" Type="http://schemas.openxmlformats.org/officeDocument/2006/relationships/tags" Target="../tags/tag204.xml"/><Relationship Id="rId11" Type="http://schemas.openxmlformats.org/officeDocument/2006/relationships/tags" Target="../tags/tag209.xml"/><Relationship Id="rId5" Type="http://schemas.openxmlformats.org/officeDocument/2006/relationships/tags" Target="../tags/tag203.xml"/><Relationship Id="rId15" Type="http://schemas.openxmlformats.org/officeDocument/2006/relationships/tags" Target="../tags/tag213.xml"/><Relationship Id="rId10" Type="http://schemas.openxmlformats.org/officeDocument/2006/relationships/tags" Target="../tags/tag208.xml"/><Relationship Id="rId19" Type="http://schemas.openxmlformats.org/officeDocument/2006/relationships/tags" Target="../tags/tag217.xml"/><Relationship Id="rId4" Type="http://schemas.openxmlformats.org/officeDocument/2006/relationships/tags" Target="../tags/tag202.xml"/><Relationship Id="rId9" Type="http://schemas.openxmlformats.org/officeDocument/2006/relationships/tags" Target="../tags/tag207.xml"/><Relationship Id="rId14" Type="http://schemas.openxmlformats.org/officeDocument/2006/relationships/tags" Target="../tags/tag212.xml"/><Relationship Id="rId2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tags" Target="../tags/tag226.xml"/><Relationship Id="rId13" Type="http://schemas.openxmlformats.org/officeDocument/2006/relationships/tags" Target="../tags/tag231.xml"/><Relationship Id="rId3" Type="http://schemas.openxmlformats.org/officeDocument/2006/relationships/tags" Target="../tags/tag221.xml"/><Relationship Id="rId7" Type="http://schemas.openxmlformats.org/officeDocument/2006/relationships/tags" Target="../tags/tag225.xml"/><Relationship Id="rId12" Type="http://schemas.openxmlformats.org/officeDocument/2006/relationships/tags" Target="../tags/tag230.xml"/><Relationship Id="rId2" Type="http://schemas.openxmlformats.org/officeDocument/2006/relationships/tags" Target="../tags/tag220.xml"/><Relationship Id="rId1" Type="http://schemas.openxmlformats.org/officeDocument/2006/relationships/tags" Target="../tags/tag219.xml"/><Relationship Id="rId6" Type="http://schemas.openxmlformats.org/officeDocument/2006/relationships/tags" Target="../tags/tag224.xml"/><Relationship Id="rId11" Type="http://schemas.openxmlformats.org/officeDocument/2006/relationships/tags" Target="../tags/tag229.xml"/><Relationship Id="rId5" Type="http://schemas.openxmlformats.org/officeDocument/2006/relationships/tags" Target="../tags/tag223.xml"/><Relationship Id="rId15" Type="http://schemas.openxmlformats.org/officeDocument/2006/relationships/notesSlide" Target="../notesSlides/notesSlide39.xml"/><Relationship Id="rId10" Type="http://schemas.openxmlformats.org/officeDocument/2006/relationships/tags" Target="../tags/tag228.xml"/><Relationship Id="rId4" Type="http://schemas.openxmlformats.org/officeDocument/2006/relationships/tags" Target="../tags/tag222.xml"/><Relationship Id="rId9" Type="http://schemas.openxmlformats.org/officeDocument/2006/relationships/tags" Target="../tags/tag227.xml"/><Relationship Id="rId14"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23.wmf"/><Relationship Id="rId3" Type="http://schemas.openxmlformats.org/officeDocument/2006/relationships/oleObject" Target="../embeddings/oleObject2.bin"/><Relationship Id="rId7" Type="http://schemas.openxmlformats.org/officeDocument/2006/relationships/oleObject" Target="../embeddings/oleObject4.bin"/><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oleObject" Target="../embeddings/oleObject3.bin"/><Relationship Id="rId4" Type="http://schemas.openxmlformats.org/officeDocument/2006/relationships/image" Target="../media/image21.wmf"/></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25.wmf"/><Relationship Id="rId3" Type="http://schemas.openxmlformats.org/officeDocument/2006/relationships/oleObject" Target="../embeddings/oleObject5.bin"/><Relationship Id="rId7" Type="http://schemas.openxmlformats.org/officeDocument/2006/relationships/oleObject" Target="../embeddings/oleObject7.bin"/><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4.wmf"/><Relationship Id="rId5" Type="http://schemas.openxmlformats.org/officeDocument/2006/relationships/oleObject" Target="../embeddings/oleObject6.bin"/><Relationship Id="rId4" Type="http://schemas.openxmlformats.org/officeDocument/2006/relationships/image" Target="../media/image21.wmf"/></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oleObject" Target="../embeddings/oleObject9.bin"/><Relationship Id="rId4" Type="http://schemas.openxmlformats.org/officeDocument/2006/relationships/image" Target="../media/image27.wmf"/></Relationships>
</file>

<file path=ppt/slides/_rels/slide7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8" Type="http://schemas.openxmlformats.org/officeDocument/2006/relationships/tags" Target="../tags/tag239.xml"/><Relationship Id="rId13" Type="http://schemas.openxmlformats.org/officeDocument/2006/relationships/tags" Target="../tags/tag244.xml"/><Relationship Id="rId18" Type="http://schemas.openxmlformats.org/officeDocument/2006/relationships/notesSlide" Target="../notesSlides/notesSlide63.xml"/><Relationship Id="rId3" Type="http://schemas.openxmlformats.org/officeDocument/2006/relationships/tags" Target="../tags/tag234.xml"/><Relationship Id="rId7" Type="http://schemas.openxmlformats.org/officeDocument/2006/relationships/tags" Target="../tags/tag238.xml"/><Relationship Id="rId12" Type="http://schemas.openxmlformats.org/officeDocument/2006/relationships/tags" Target="../tags/tag243.xml"/><Relationship Id="rId17" Type="http://schemas.openxmlformats.org/officeDocument/2006/relationships/slideLayout" Target="../slideLayouts/slideLayout2.xml"/><Relationship Id="rId2" Type="http://schemas.openxmlformats.org/officeDocument/2006/relationships/tags" Target="../tags/tag233.xml"/><Relationship Id="rId16" Type="http://schemas.openxmlformats.org/officeDocument/2006/relationships/tags" Target="../tags/tag247.xml"/><Relationship Id="rId1" Type="http://schemas.openxmlformats.org/officeDocument/2006/relationships/tags" Target="../tags/tag232.xml"/><Relationship Id="rId6" Type="http://schemas.openxmlformats.org/officeDocument/2006/relationships/tags" Target="../tags/tag237.xml"/><Relationship Id="rId11" Type="http://schemas.openxmlformats.org/officeDocument/2006/relationships/tags" Target="../tags/tag242.xml"/><Relationship Id="rId5" Type="http://schemas.openxmlformats.org/officeDocument/2006/relationships/tags" Target="../tags/tag236.xml"/><Relationship Id="rId15" Type="http://schemas.openxmlformats.org/officeDocument/2006/relationships/tags" Target="../tags/tag246.xml"/><Relationship Id="rId10" Type="http://schemas.openxmlformats.org/officeDocument/2006/relationships/tags" Target="../tags/tag241.xml"/><Relationship Id="rId4" Type="http://schemas.openxmlformats.org/officeDocument/2006/relationships/tags" Target="../tags/tag235.xml"/><Relationship Id="rId9" Type="http://schemas.openxmlformats.org/officeDocument/2006/relationships/tags" Target="../tags/tag240.xml"/><Relationship Id="rId14" Type="http://schemas.openxmlformats.org/officeDocument/2006/relationships/tags" Target="../tags/tag245.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7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8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8" Type="http://schemas.openxmlformats.org/officeDocument/2006/relationships/oleObject" Target="../embeddings/oleObject12.bin"/><Relationship Id="rId3" Type="http://schemas.openxmlformats.org/officeDocument/2006/relationships/image" Target="../media/image38.png"/><Relationship Id="rId7" Type="http://schemas.openxmlformats.org/officeDocument/2006/relationships/image" Target="../media/image41.wmf"/><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oleObject" Target="../embeddings/oleObject11.bin"/><Relationship Id="rId5" Type="http://schemas.openxmlformats.org/officeDocument/2006/relationships/image" Target="../media/image40.wmf"/><Relationship Id="rId4" Type="http://schemas.openxmlformats.org/officeDocument/2006/relationships/oleObject" Target="../embeddings/oleObject10.bin"/><Relationship Id="rId9" Type="http://schemas.openxmlformats.org/officeDocument/2006/relationships/image" Target="../media/image42.wmf"/></Relationships>
</file>

<file path=ppt/slides/_rels/slide8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248.xml"/></Relationships>
</file>

<file path=ppt/slides/_rels/slide96.xml.rels><?xml version="1.0" encoding="UTF-8" standalone="yes"?>
<Relationships xmlns="http://schemas.openxmlformats.org/package/2006/relationships"><Relationship Id="rId8" Type="http://schemas.openxmlformats.org/officeDocument/2006/relationships/tags" Target="../tags/tag256.xml"/><Relationship Id="rId13" Type="http://schemas.openxmlformats.org/officeDocument/2006/relationships/tags" Target="../tags/tag261.xml"/><Relationship Id="rId18" Type="http://schemas.openxmlformats.org/officeDocument/2006/relationships/tags" Target="../tags/tag266.xml"/><Relationship Id="rId26" Type="http://schemas.openxmlformats.org/officeDocument/2006/relationships/tags" Target="../tags/tag274.xml"/><Relationship Id="rId3" Type="http://schemas.openxmlformats.org/officeDocument/2006/relationships/tags" Target="../tags/tag251.xml"/><Relationship Id="rId21" Type="http://schemas.openxmlformats.org/officeDocument/2006/relationships/tags" Target="../tags/tag269.xml"/><Relationship Id="rId7" Type="http://schemas.openxmlformats.org/officeDocument/2006/relationships/tags" Target="../tags/tag255.xml"/><Relationship Id="rId12" Type="http://schemas.openxmlformats.org/officeDocument/2006/relationships/tags" Target="../tags/tag260.xml"/><Relationship Id="rId17" Type="http://schemas.openxmlformats.org/officeDocument/2006/relationships/tags" Target="../tags/tag265.xml"/><Relationship Id="rId25" Type="http://schemas.openxmlformats.org/officeDocument/2006/relationships/tags" Target="../tags/tag273.xml"/><Relationship Id="rId2" Type="http://schemas.openxmlformats.org/officeDocument/2006/relationships/tags" Target="../tags/tag250.xml"/><Relationship Id="rId16" Type="http://schemas.openxmlformats.org/officeDocument/2006/relationships/tags" Target="../tags/tag264.xml"/><Relationship Id="rId20" Type="http://schemas.openxmlformats.org/officeDocument/2006/relationships/tags" Target="../tags/tag268.xml"/><Relationship Id="rId1" Type="http://schemas.openxmlformats.org/officeDocument/2006/relationships/tags" Target="../tags/tag249.xml"/><Relationship Id="rId6" Type="http://schemas.openxmlformats.org/officeDocument/2006/relationships/tags" Target="../tags/tag254.xml"/><Relationship Id="rId11" Type="http://schemas.openxmlformats.org/officeDocument/2006/relationships/tags" Target="../tags/tag259.xml"/><Relationship Id="rId24" Type="http://schemas.openxmlformats.org/officeDocument/2006/relationships/tags" Target="../tags/tag272.xml"/><Relationship Id="rId5" Type="http://schemas.openxmlformats.org/officeDocument/2006/relationships/tags" Target="../tags/tag253.xml"/><Relationship Id="rId15" Type="http://schemas.openxmlformats.org/officeDocument/2006/relationships/tags" Target="../tags/tag263.xml"/><Relationship Id="rId23" Type="http://schemas.openxmlformats.org/officeDocument/2006/relationships/tags" Target="../tags/tag271.xml"/><Relationship Id="rId10" Type="http://schemas.openxmlformats.org/officeDocument/2006/relationships/tags" Target="../tags/tag258.xml"/><Relationship Id="rId19" Type="http://schemas.openxmlformats.org/officeDocument/2006/relationships/tags" Target="../tags/tag267.xml"/><Relationship Id="rId4" Type="http://schemas.openxmlformats.org/officeDocument/2006/relationships/tags" Target="../tags/tag252.xml"/><Relationship Id="rId9" Type="http://schemas.openxmlformats.org/officeDocument/2006/relationships/tags" Target="../tags/tag257.xml"/><Relationship Id="rId14" Type="http://schemas.openxmlformats.org/officeDocument/2006/relationships/tags" Target="../tags/tag262.xml"/><Relationship Id="rId22" Type="http://schemas.openxmlformats.org/officeDocument/2006/relationships/tags" Target="../tags/tag270.xml"/><Relationship Id="rId27"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tags" Target="../tags/tag282.xml"/><Relationship Id="rId13" Type="http://schemas.openxmlformats.org/officeDocument/2006/relationships/tags" Target="../tags/tag287.xml"/><Relationship Id="rId18" Type="http://schemas.openxmlformats.org/officeDocument/2006/relationships/tags" Target="../tags/tag292.xml"/><Relationship Id="rId26" Type="http://schemas.openxmlformats.org/officeDocument/2006/relationships/slideLayout" Target="../slideLayouts/slideLayout2.xml"/><Relationship Id="rId3" Type="http://schemas.openxmlformats.org/officeDocument/2006/relationships/tags" Target="../tags/tag277.xml"/><Relationship Id="rId21" Type="http://schemas.openxmlformats.org/officeDocument/2006/relationships/tags" Target="../tags/tag295.xml"/><Relationship Id="rId7" Type="http://schemas.openxmlformats.org/officeDocument/2006/relationships/tags" Target="../tags/tag281.xml"/><Relationship Id="rId12" Type="http://schemas.openxmlformats.org/officeDocument/2006/relationships/tags" Target="../tags/tag286.xml"/><Relationship Id="rId17" Type="http://schemas.openxmlformats.org/officeDocument/2006/relationships/tags" Target="../tags/tag291.xml"/><Relationship Id="rId25" Type="http://schemas.openxmlformats.org/officeDocument/2006/relationships/tags" Target="../tags/tag299.xml"/><Relationship Id="rId2" Type="http://schemas.openxmlformats.org/officeDocument/2006/relationships/tags" Target="../tags/tag276.xml"/><Relationship Id="rId16" Type="http://schemas.openxmlformats.org/officeDocument/2006/relationships/tags" Target="../tags/tag290.xml"/><Relationship Id="rId20" Type="http://schemas.openxmlformats.org/officeDocument/2006/relationships/tags" Target="../tags/tag294.xml"/><Relationship Id="rId1" Type="http://schemas.openxmlformats.org/officeDocument/2006/relationships/tags" Target="../tags/tag275.xml"/><Relationship Id="rId6" Type="http://schemas.openxmlformats.org/officeDocument/2006/relationships/tags" Target="../tags/tag280.xml"/><Relationship Id="rId11" Type="http://schemas.openxmlformats.org/officeDocument/2006/relationships/tags" Target="../tags/tag285.xml"/><Relationship Id="rId24" Type="http://schemas.openxmlformats.org/officeDocument/2006/relationships/tags" Target="../tags/tag298.xml"/><Relationship Id="rId5" Type="http://schemas.openxmlformats.org/officeDocument/2006/relationships/tags" Target="../tags/tag279.xml"/><Relationship Id="rId15" Type="http://schemas.openxmlformats.org/officeDocument/2006/relationships/tags" Target="../tags/tag289.xml"/><Relationship Id="rId23" Type="http://schemas.openxmlformats.org/officeDocument/2006/relationships/tags" Target="../tags/tag297.xml"/><Relationship Id="rId10" Type="http://schemas.openxmlformats.org/officeDocument/2006/relationships/tags" Target="../tags/tag284.xml"/><Relationship Id="rId19" Type="http://schemas.openxmlformats.org/officeDocument/2006/relationships/tags" Target="../tags/tag293.xml"/><Relationship Id="rId4" Type="http://schemas.openxmlformats.org/officeDocument/2006/relationships/tags" Target="../tags/tag278.xml"/><Relationship Id="rId9" Type="http://schemas.openxmlformats.org/officeDocument/2006/relationships/tags" Target="../tags/tag283.xml"/><Relationship Id="rId14" Type="http://schemas.openxmlformats.org/officeDocument/2006/relationships/tags" Target="../tags/tag288.xml"/><Relationship Id="rId22" Type="http://schemas.openxmlformats.org/officeDocument/2006/relationships/tags" Target="../tags/tag296.xml"/><Relationship Id="rId27"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300.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8" Type="http://schemas.openxmlformats.org/officeDocument/2006/relationships/tags" Target="../tags/tag308.xml"/><Relationship Id="rId13" Type="http://schemas.openxmlformats.org/officeDocument/2006/relationships/tags" Target="../tags/tag313.xml"/><Relationship Id="rId18" Type="http://schemas.openxmlformats.org/officeDocument/2006/relationships/tags" Target="../tags/tag318.xml"/><Relationship Id="rId3" Type="http://schemas.openxmlformats.org/officeDocument/2006/relationships/tags" Target="../tags/tag303.xml"/><Relationship Id="rId21" Type="http://schemas.openxmlformats.org/officeDocument/2006/relationships/slideLayout" Target="../slideLayouts/slideLayout2.xml"/><Relationship Id="rId7" Type="http://schemas.openxmlformats.org/officeDocument/2006/relationships/tags" Target="../tags/tag307.xml"/><Relationship Id="rId12" Type="http://schemas.openxmlformats.org/officeDocument/2006/relationships/tags" Target="../tags/tag312.xml"/><Relationship Id="rId17" Type="http://schemas.openxmlformats.org/officeDocument/2006/relationships/tags" Target="../tags/tag317.xml"/><Relationship Id="rId2" Type="http://schemas.openxmlformats.org/officeDocument/2006/relationships/tags" Target="../tags/tag302.xml"/><Relationship Id="rId16" Type="http://schemas.openxmlformats.org/officeDocument/2006/relationships/tags" Target="../tags/tag316.xml"/><Relationship Id="rId20" Type="http://schemas.openxmlformats.org/officeDocument/2006/relationships/tags" Target="../tags/tag320.xml"/><Relationship Id="rId1" Type="http://schemas.openxmlformats.org/officeDocument/2006/relationships/tags" Target="../tags/tag301.xml"/><Relationship Id="rId6" Type="http://schemas.openxmlformats.org/officeDocument/2006/relationships/tags" Target="../tags/tag306.xml"/><Relationship Id="rId11" Type="http://schemas.openxmlformats.org/officeDocument/2006/relationships/tags" Target="../tags/tag311.xml"/><Relationship Id="rId5" Type="http://schemas.openxmlformats.org/officeDocument/2006/relationships/tags" Target="../tags/tag305.xml"/><Relationship Id="rId15" Type="http://schemas.openxmlformats.org/officeDocument/2006/relationships/tags" Target="../tags/tag315.xml"/><Relationship Id="rId10" Type="http://schemas.openxmlformats.org/officeDocument/2006/relationships/tags" Target="../tags/tag310.xml"/><Relationship Id="rId19" Type="http://schemas.openxmlformats.org/officeDocument/2006/relationships/tags" Target="../tags/tag319.xml"/><Relationship Id="rId4" Type="http://schemas.openxmlformats.org/officeDocument/2006/relationships/tags" Target="../tags/tag304.xml"/><Relationship Id="rId9" Type="http://schemas.openxmlformats.org/officeDocument/2006/relationships/tags" Target="../tags/tag309.xml"/><Relationship Id="rId14" Type="http://schemas.openxmlformats.org/officeDocument/2006/relationships/tags" Target="../tags/tag314.xml"/><Relationship Id="rId2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8" Type="http://schemas.openxmlformats.org/officeDocument/2006/relationships/tags" Target="../tags/tag328.xml"/><Relationship Id="rId3" Type="http://schemas.openxmlformats.org/officeDocument/2006/relationships/tags" Target="../tags/tag323.xml"/><Relationship Id="rId7" Type="http://schemas.openxmlformats.org/officeDocument/2006/relationships/tags" Target="../tags/tag327.xml"/><Relationship Id="rId2" Type="http://schemas.openxmlformats.org/officeDocument/2006/relationships/tags" Target="../tags/tag322.xml"/><Relationship Id="rId1" Type="http://schemas.openxmlformats.org/officeDocument/2006/relationships/tags" Target="../tags/tag321.xml"/><Relationship Id="rId6" Type="http://schemas.openxmlformats.org/officeDocument/2006/relationships/tags" Target="../tags/tag326.xml"/><Relationship Id="rId5" Type="http://schemas.openxmlformats.org/officeDocument/2006/relationships/tags" Target="../tags/tag325.xml"/><Relationship Id="rId10" Type="http://schemas.openxmlformats.org/officeDocument/2006/relationships/notesSlide" Target="../notesSlides/notesSlide86.xml"/><Relationship Id="rId4" Type="http://schemas.openxmlformats.org/officeDocument/2006/relationships/tags" Target="../tags/tag324.xml"/><Relationship Id="rId9"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329.xml"/></Relationships>
</file>

<file path=ppt/slides/_rels/slide10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tags" Target="../tags/tag337.xml"/><Relationship Id="rId13" Type="http://schemas.openxmlformats.org/officeDocument/2006/relationships/tags" Target="../tags/tag342.xml"/><Relationship Id="rId18" Type="http://schemas.openxmlformats.org/officeDocument/2006/relationships/tags" Target="../tags/tag347.xml"/><Relationship Id="rId3" Type="http://schemas.openxmlformats.org/officeDocument/2006/relationships/tags" Target="../tags/tag332.xml"/><Relationship Id="rId21" Type="http://schemas.openxmlformats.org/officeDocument/2006/relationships/slideLayout" Target="../slideLayouts/slideLayout2.xml"/><Relationship Id="rId7" Type="http://schemas.openxmlformats.org/officeDocument/2006/relationships/tags" Target="../tags/tag336.xml"/><Relationship Id="rId12" Type="http://schemas.openxmlformats.org/officeDocument/2006/relationships/tags" Target="../tags/tag341.xml"/><Relationship Id="rId17" Type="http://schemas.openxmlformats.org/officeDocument/2006/relationships/tags" Target="../tags/tag346.xml"/><Relationship Id="rId2" Type="http://schemas.openxmlformats.org/officeDocument/2006/relationships/tags" Target="../tags/tag331.xml"/><Relationship Id="rId16" Type="http://schemas.openxmlformats.org/officeDocument/2006/relationships/tags" Target="../tags/tag345.xml"/><Relationship Id="rId20" Type="http://schemas.openxmlformats.org/officeDocument/2006/relationships/tags" Target="../tags/tag349.xml"/><Relationship Id="rId1" Type="http://schemas.openxmlformats.org/officeDocument/2006/relationships/tags" Target="../tags/tag330.xml"/><Relationship Id="rId6" Type="http://schemas.openxmlformats.org/officeDocument/2006/relationships/tags" Target="../tags/tag335.xml"/><Relationship Id="rId11" Type="http://schemas.openxmlformats.org/officeDocument/2006/relationships/tags" Target="../tags/tag340.xml"/><Relationship Id="rId5" Type="http://schemas.openxmlformats.org/officeDocument/2006/relationships/tags" Target="../tags/tag334.xml"/><Relationship Id="rId15" Type="http://schemas.openxmlformats.org/officeDocument/2006/relationships/tags" Target="../tags/tag344.xml"/><Relationship Id="rId10" Type="http://schemas.openxmlformats.org/officeDocument/2006/relationships/tags" Target="../tags/tag339.xml"/><Relationship Id="rId19" Type="http://schemas.openxmlformats.org/officeDocument/2006/relationships/tags" Target="../tags/tag348.xml"/><Relationship Id="rId4" Type="http://schemas.openxmlformats.org/officeDocument/2006/relationships/tags" Target="../tags/tag333.xml"/><Relationship Id="rId9" Type="http://schemas.openxmlformats.org/officeDocument/2006/relationships/tags" Target="../tags/tag338.xml"/><Relationship Id="rId14" Type="http://schemas.openxmlformats.org/officeDocument/2006/relationships/tags" Target="../tags/tag343.xml"/><Relationship Id="rId22" Type="http://schemas.openxmlformats.org/officeDocument/2006/relationships/notesSlide" Target="../notesSlides/notesSlide89.xml"/></Relationships>
</file>

<file path=ppt/slides/_rels/slide110.xml.rels><?xml version="1.0" encoding="UTF-8" standalone="yes"?>
<Relationships xmlns="http://schemas.openxmlformats.org/package/2006/relationships"><Relationship Id="rId8" Type="http://schemas.openxmlformats.org/officeDocument/2006/relationships/tags" Target="../tags/tag357.xml"/><Relationship Id="rId13" Type="http://schemas.openxmlformats.org/officeDocument/2006/relationships/notesSlide" Target="../notesSlides/notesSlide90.xml"/><Relationship Id="rId3" Type="http://schemas.openxmlformats.org/officeDocument/2006/relationships/tags" Target="../tags/tag352.xml"/><Relationship Id="rId7" Type="http://schemas.openxmlformats.org/officeDocument/2006/relationships/tags" Target="../tags/tag356.xml"/><Relationship Id="rId12" Type="http://schemas.openxmlformats.org/officeDocument/2006/relationships/slideLayout" Target="../slideLayouts/slideLayout2.xml"/><Relationship Id="rId2" Type="http://schemas.openxmlformats.org/officeDocument/2006/relationships/tags" Target="../tags/tag351.xml"/><Relationship Id="rId1" Type="http://schemas.openxmlformats.org/officeDocument/2006/relationships/tags" Target="../tags/tag350.xml"/><Relationship Id="rId6" Type="http://schemas.openxmlformats.org/officeDocument/2006/relationships/tags" Target="../tags/tag355.xml"/><Relationship Id="rId11" Type="http://schemas.openxmlformats.org/officeDocument/2006/relationships/tags" Target="../tags/tag360.xml"/><Relationship Id="rId5" Type="http://schemas.openxmlformats.org/officeDocument/2006/relationships/tags" Target="../tags/tag354.xml"/><Relationship Id="rId10" Type="http://schemas.openxmlformats.org/officeDocument/2006/relationships/tags" Target="../tags/tag359.xml"/><Relationship Id="rId4" Type="http://schemas.openxmlformats.org/officeDocument/2006/relationships/tags" Target="../tags/tag353.xml"/><Relationship Id="rId9" Type="http://schemas.openxmlformats.org/officeDocument/2006/relationships/tags" Target="../tags/tag358.xml"/></Relationships>
</file>

<file path=ppt/slides/_rels/slide111.xml.rels><?xml version="1.0" encoding="UTF-8" standalone="yes"?>
<Relationships xmlns="http://schemas.openxmlformats.org/package/2006/relationships"><Relationship Id="rId8" Type="http://schemas.openxmlformats.org/officeDocument/2006/relationships/tags" Target="../tags/tag368.xml"/><Relationship Id="rId13" Type="http://schemas.openxmlformats.org/officeDocument/2006/relationships/tags" Target="../tags/tag373.xml"/><Relationship Id="rId3" Type="http://schemas.openxmlformats.org/officeDocument/2006/relationships/tags" Target="../tags/tag363.xml"/><Relationship Id="rId7" Type="http://schemas.openxmlformats.org/officeDocument/2006/relationships/tags" Target="../tags/tag367.xml"/><Relationship Id="rId12" Type="http://schemas.openxmlformats.org/officeDocument/2006/relationships/tags" Target="../tags/tag372.xml"/><Relationship Id="rId17" Type="http://schemas.openxmlformats.org/officeDocument/2006/relationships/notesSlide" Target="../notesSlides/notesSlide91.xml"/><Relationship Id="rId2" Type="http://schemas.openxmlformats.org/officeDocument/2006/relationships/tags" Target="../tags/tag362.xml"/><Relationship Id="rId16" Type="http://schemas.openxmlformats.org/officeDocument/2006/relationships/slideLayout" Target="../slideLayouts/slideLayout2.xml"/><Relationship Id="rId1" Type="http://schemas.openxmlformats.org/officeDocument/2006/relationships/tags" Target="../tags/tag361.xml"/><Relationship Id="rId6" Type="http://schemas.openxmlformats.org/officeDocument/2006/relationships/tags" Target="../tags/tag366.xml"/><Relationship Id="rId11" Type="http://schemas.openxmlformats.org/officeDocument/2006/relationships/tags" Target="../tags/tag371.xml"/><Relationship Id="rId5" Type="http://schemas.openxmlformats.org/officeDocument/2006/relationships/tags" Target="../tags/tag365.xml"/><Relationship Id="rId15" Type="http://schemas.openxmlformats.org/officeDocument/2006/relationships/tags" Target="../tags/tag375.xml"/><Relationship Id="rId10" Type="http://schemas.openxmlformats.org/officeDocument/2006/relationships/tags" Target="../tags/tag370.xml"/><Relationship Id="rId4" Type="http://schemas.openxmlformats.org/officeDocument/2006/relationships/tags" Target="../tags/tag364.xml"/><Relationship Id="rId9" Type="http://schemas.openxmlformats.org/officeDocument/2006/relationships/tags" Target="../tags/tag369.xml"/><Relationship Id="rId14" Type="http://schemas.openxmlformats.org/officeDocument/2006/relationships/tags" Target="../tags/tag37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a typeface="微软雅黑 Light" panose="020B0502040204020203" pitchFamily="34" charset="-122"/>
            </a:endParaRPr>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Times New Roman" panose="02020603050405020304" pitchFamily="18" charset="0"/>
              <a:ea typeface="微软雅黑 Light" panose="020B0502040204020203" pitchFamily="34" charset="-122"/>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latin typeface="Times New Roman" panose="02020603050405020304" pitchFamily="18" charset="0"/>
              <a:ea typeface="微软雅黑 Light" panose="020B0502040204020203" pitchFamily="34" charset="-122"/>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mj-lt"/>
                <a:ea typeface="+mj-ea"/>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mj-ea"/>
                <a:ea typeface="+mj-ea"/>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9" name="组合 8">
            <a:extLst>
              <a:ext uri="{FF2B5EF4-FFF2-40B4-BE49-F238E27FC236}">
                <a16:creationId xmlns:a16="http://schemas.microsoft.com/office/drawing/2014/main" id="{DA6D02A7-D5A9-9DF0-3C4D-935DF29BB2C2}"/>
              </a:ext>
            </a:extLst>
          </p:cNvPr>
          <p:cNvGrpSpPr/>
          <p:nvPr/>
        </p:nvGrpSpPr>
        <p:grpSpPr>
          <a:xfrm>
            <a:off x="5511242" y="1555099"/>
            <a:ext cx="5026419" cy="576000"/>
            <a:chOff x="5511242" y="1555099"/>
            <a:chExt cx="5026419" cy="576000"/>
          </a:xfrm>
        </p:grpSpPr>
        <p:sp>
          <p:nvSpPr>
            <p:cNvPr id="7" name="矩形: 圆角 6">
              <a:extLst>
                <a:ext uri="{FF2B5EF4-FFF2-40B4-BE49-F238E27FC236}">
                  <a16:creationId xmlns:a16="http://schemas.microsoft.com/office/drawing/2014/main" id="{1018BA90-ED9E-985D-DC60-AA3E34A6C29B}"/>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结构化程序设计</a:t>
              </a:r>
            </a:p>
          </p:txBody>
        </p:sp>
        <p:sp>
          <p:nvSpPr>
            <p:cNvPr id="8" name="椭圆 7">
              <a:extLst>
                <a:ext uri="{FF2B5EF4-FFF2-40B4-BE49-F238E27FC236}">
                  <a16:creationId xmlns:a16="http://schemas.microsoft.com/office/drawing/2014/main" id="{8156D231-A815-53B0-A0B4-1A75D3999E5F}"/>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01</a:t>
              </a:r>
              <a:endParaRPr lang="zh-CN" altLang="en-US" sz="2400" dirty="0">
                <a:latin typeface="+mj-lt"/>
                <a:ea typeface="+mj-ea"/>
              </a:endParaRPr>
            </a:p>
          </p:txBody>
        </p:sp>
      </p:grpSp>
      <p:grpSp>
        <p:nvGrpSpPr>
          <p:cNvPr id="11" name="组合 10">
            <a:extLst>
              <a:ext uri="{FF2B5EF4-FFF2-40B4-BE49-F238E27FC236}">
                <a16:creationId xmlns:a16="http://schemas.microsoft.com/office/drawing/2014/main" id="{E4251DC8-0D6F-D73F-0B38-5810A9EFCCF6}"/>
              </a:ext>
            </a:extLst>
          </p:cNvPr>
          <p:cNvGrpSpPr/>
          <p:nvPr/>
        </p:nvGrpSpPr>
        <p:grpSpPr>
          <a:xfrm>
            <a:off x="4740526" y="2637441"/>
            <a:ext cx="5026419" cy="576000"/>
            <a:chOff x="5511242" y="1555099"/>
            <a:chExt cx="5026419" cy="576000"/>
          </a:xfrm>
        </p:grpSpPr>
        <p:sp>
          <p:nvSpPr>
            <p:cNvPr id="12" name="矩形: 圆角 11">
              <a:extLst>
                <a:ext uri="{FF2B5EF4-FFF2-40B4-BE49-F238E27FC236}">
                  <a16:creationId xmlns:a16="http://schemas.microsoft.com/office/drawing/2014/main" id="{89AE0257-D156-1C74-C73D-C2350997C9EC}"/>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软件测试目标</a:t>
              </a:r>
            </a:p>
          </p:txBody>
        </p:sp>
        <p:sp>
          <p:nvSpPr>
            <p:cNvPr id="13" name="椭圆 12">
              <a:extLst>
                <a:ext uri="{FF2B5EF4-FFF2-40B4-BE49-F238E27FC236}">
                  <a16:creationId xmlns:a16="http://schemas.microsoft.com/office/drawing/2014/main" id="{36D8CDEA-838C-EDED-2DD0-8AAB8908C74A}"/>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02</a:t>
              </a:r>
              <a:endParaRPr lang="zh-CN" altLang="en-US" sz="2400" dirty="0">
                <a:latin typeface="+mj-lt"/>
                <a:ea typeface="+mj-ea"/>
              </a:endParaRPr>
            </a:p>
          </p:txBody>
        </p:sp>
      </p:grpSp>
      <p:grpSp>
        <p:nvGrpSpPr>
          <p:cNvPr id="14" name="组合 13">
            <a:extLst>
              <a:ext uri="{FF2B5EF4-FFF2-40B4-BE49-F238E27FC236}">
                <a16:creationId xmlns:a16="http://schemas.microsoft.com/office/drawing/2014/main" id="{AFABA13E-90C7-615D-983A-CD267E55792C}"/>
              </a:ext>
            </a:extLst>
          </p:cNvPr>
          <p:cNvGrpSpPr/>
          <p:nvPr/>
        </p:nvGrpSpPr>
        <p:grpSpPr>
          <a:xfrm>
            <a:off x="3969809" y="3719783"/>
            <a:ext cx="5026419" cy="576000"/>
            <a:chOff x="5511242" y="1555099"/>
            <a:chExt cx="5026419" cy="576000"/>
          </a:xfrm>
        </p:grpSpPr>
        <p:sp>
          <p:nvSpPr>
            <p:cNvPr id="18" name="矩形: 圆角 17">
              <a:extLst>
                <a:ext uri="{FF2B5EF4-FFF2-40B4-BE49-F238E27FC236}">
                  <a16:creationId xmlns:a16="http://schemas.microsoft.com/office/drawing/2014/main" id="{E980734D-D883-2B26-7A92-3606A7696AFB}"/>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软件测试方法</a:t>
              </a:r>
            </a:p>
          </p:txBody>
        </p:sp>
        <p:sp>
          <p:nvSpPr>
            <p:cNvPr id="19" name="椭圆 18">
              <a:extLst>
                <a:ext uri="{FF2B5EF4-FFF2-40B4-BE49-F238E27FC236}">
                  <a16:creationId xmlns:a16="http://schemas.microsoft.com/office/drawing/2014/main" id="{242C0459-E3CF-FD88-436D-206DA40A137A}"/>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03</a:t>
              </a:r>
              <a:endParaRPr lang="zh-CN" altLang="en-US" sz="2400" dirty="0">
                <a:latin typeface="+mj-lt"/>
                <a:ea typeface="+mj-ea"/>
              </a:endParaRPr>
            </a:p>
          </p:txBody>
        </p:sp>
      </p:grpSp>
      <p:grpSp>
        <p:nvGrpSpPr>
          <p:cNvPr id="20" name="组合 19">
            <a:extLst>
              <a:ext uri="{FF2B5EF4-FFF2-40B4-BE49-F238E27FC236}">
                <a16:creationId xmlns:a16="http://schemas.microsoft.com/office/drawing/2014/main" id="{9ADBC591-5AF3-01B5-9CB9-A01CA6A6F329}"/>
              </a:ext>
            </a:extLst>
          </p:cNvPr>
          <p:cNvGrpSpPr/>
          <p:nvPr/>
        </p:nvGrpSpPr>
        <p:grpSpPr>
          <a:xfrm>
            <a:off x="3199092" y="4802125"/>
            <a:ext cx="5026419" cy="576000"/>
            <a:chOff x="5511242" y="1555099"/>
            <a:chExt cx="5026419" cy="576000"/>
          </a:xfrm>
        </p:grpSpPr>
        <p:sp>
          <p:nvSpPr>
            <p:cNvPr id="21" name="矩形: 圆角 20">
              <a:extLst>
                <a:ext uri="{FF2B5EF4-FFF2-40B4-BE49-F238E27FC236}">
                  <a16:creationId xmlns:a16="http://schemas.microsoft.com/office/drawing/2014/main" id="{A0DD6A1B-B938-AC5A-38B9-1CD3D040EA8F}"/>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软件测试步骤</a:t>
              </a:r>
            </a:p>
          </p:txBody>
        </p:sp>
        <p:sp>
          <p:nvSpPr>
            <p:cNvPr id="22" name="椭圆 21">
              <a:extLst>
                <a:ext uri="{FF2B5EF4-FFF2-40B4-BE49-F238E27FC236}">
                  <a16:creationId xmlns:a16="http://schemas.microsoft.com/office/drawing/2014/main" id="{0EA1595E-60AA-0CFD-A4F4-C01D5A80CCE1}"/>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04</a:t>
              </a:r>
              <a:endParaRPr lang="zh-CN" altLang="en-US" sz="2400" dirty="0">
                <a:latin typeface="+mj-lt"/>
                <a:ea typeface="+mj-ea"/>
              </a:endParaRPr>
            </a:p>
          </p:txBody>
        </p:sp>
      </p:grpSp>
    </p:spTree>
    <p:custDataLst>
      <p:tags r:id="rId1"/>
    </p:custDataLst>
  </p:cSld>
  <p:clrMapOvr>
    <a:masterClrMapping/>
  </p:clrMapOvr>
  <p:transition>
    <p:dissolv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Text Box 20">
            <a:extLst>
              <a:ext uri="{FF2B5EF4-FFF2-40B4-BE49-F238E27FC236}">
                <a16:creationId xmlns:a16="http://schemas.microsoft.com/office/drawing/2014/main" id="{14D8EAE1-6F55-0D8B-53B4-A68142E383D1}"/>
              </a:ext>
            </a:extLst>
          </p:cNvPr>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mj-lt"/>
                <a:ea typeface="+mj-ea"/>
              </a:rPr>
              <a:t>Contents</a:t>
            </a:r>
          </a:p>
        </p:txBody>
      </p:sp>
      <p:sp>
        <p:nvSpPr>
          <p:cNvPr id="6" name="文本框 20">
            <a:extLst>
              <a:ext uri="{FF2B5EF4-FFF2-40B4-BE49-F238E27FC236}">
                <a16:creationId xmlns:a16="http://schemas.microsoft.com/office/drawing/2014/main" id="{FDBFD955-1A53-DDC1-6294-5C00F70EA32C}"/>
              </a:ext>
            </a:extLst>
          </p:cNvPr>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mj-ea"/>
                <a:ea typeface="+mj-ea"/>
              </a:rPr>
              <a:t>目录</a:t>
            </a:r>
          </a:p>
        </p:txBody>
      </p:sp>
      <p:cxnSp>
        <p:nvCxnSpPr>
          <p:cNvPr id="7" name="直接连接符 22">
            <a:extLst>
              <a:ext uri="{FF2B5EF4-FFF2-40B4-BE49-F238E27FC236}">
                <a16:creationId xmlns:a16="http://schemas.microsoft.com/office/drawing/2014/main" id="{B46DDB7C-A41A-004C-AEEA-D63E0B75AC00}"/>
              </a:ext>
            </a:extLst>
          </p:cNvPr>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8" name="直接连接符 24">
            <a:extLst>
              <a:ext uri="{FF2B5EF4-FFF2-40B4-BE49-F238E27FC236}">
                <a16:creationId xmlns:a16="http://schemas.microsoft.com/office/drawing/2014/main" id="{2F6AA6CA-15DB-70D0-53D5-64A94DD4027C}"/>
              </a:ext>
            </a:extLst>
          </p:cNvPr>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45" name="组合 44">
            <a:extLst>
              <a:ext uri="{FF2B5EF4-FFF2-40B4-BE49-F238E27FC236}">
                <a16:creationId xmlns:a16="http://schemas.microsoft.com/office/drawing/2014/main" id="{A3626986-EF03-9F89-05D0-D2763AFD9778}"/>
              </a:ext>
            </a:extLst>
          </p:cNvPr>
          <p:cNvGrpSpPr/>
          <p:nvPr/>
        </p:nvGrpSpPr>
        <p:grpSpPr>
          <a:xfrm>
            <a:off x="5511242" y="1555099"/>
            <a:ext cx="5026419" cy="576000"/>
            <a:chOff x="5511242" y="1555099"/>
            <a:chExt cx="5026419" cy="576000"/>
          </a:xfrm>
        </p:grpSpPr>
        <p:sp>
          <p:nvSpPr>
            <p:cNvPr id="46" name="矩形: 圆角 45">
              <a:extLst>
                <a:ext uri="{FF2B5EF4-FFF2-40B4-BE49-F238E27FC236}">
                  <a16:creationId xmlns:a16="http://schemas.microsoft.com/office/drawing/2014/main" id="{BC6BDA4B-FE10-C0BA-A9BF-6E72407D9925}"/>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设计软件测试方案</a:t>
              </a:r>
            </a:p>
          </p:txBody>
        </p:sp>
        <p:sp>
          <p:nvSpPr>
            <p:cNvPr id="49" name="椭圆 48">
              <a:extLst>
                <a:ext uri="{FF2B5EF4-FFF2-40B4-BE49-F238E27FC236}">
                  <a16:creationId xmlns:a16="http://schemas.microsoft.com/office/drawing/2014/main" id="{53E29390-40D0-EF2D-E872-0BE85E81A7CF}"/>
                </a:ext>
              </a:extLst>
            </p:cNvPr>
            <p:cNvSpPr/>
            <p:nvPr/>
          </p:nvSpPr>
          <p:spPr>
            <a:xfrm>
              <a:off x="5511242" y="1555099"/>
              <a:ext cx="576000" cy="576000"/>
            </a:xfrm>
            <a:prstGeom prst="ellipse">
              <a:avLst/>
            </a:prstGeom>
            <a:solidFill>
              <a:schemeClr val="accent4"/>
            </a:solidFill>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05</a:t>
              </a:r>
              <a:endParaRPr lang="zh-CN" altLang="en-US" sz="2400" dirty="0">
                <a:latin typeface="+mj-lt"/>
                <a:ea typeface="+mj-ea"/>
              </a:endParaRPr>
            </a:p>
          </p:txBody>
        </p:sp>
      </p:grpSp>
      <p:grpSp>
        <p:nvGrpSpPr>
          <p:cNvPr id="56" name="组合 55">
            <a:extLst>
              <a:ext uri="{FF2B5EF4-FFF2-40B4-BE49-F238E27FC236}">
                <a16:creationId xmlns:a16="http://schemas.microsoft.com/office/drawing/2014/main" id="{1A722ECB-6C9F-AEBD-2BA2-CBBB49D0AEAF}"/>
              </a:ext>
            </a:extLst>
          </p:cNvPr>
          <p:cNvGrpSpPr/>
          <p:nvPr/>
        </p:nvGrpSpPr>
        <p:grpSpPr>
          <a:xfrm>
            <a:off x="4740526" y="2637441"/>
            <a:ext cx="5026419" cy="576000"/>
            <a:chOff x="5511242" y="1555099"/>
            <a:chExt cx="5026419" cy="576000"/>
          </a:xfrm>
        </p:grpSpPr>
        <p:sp>
          <p:nvSpPr>
            <p:cNvPr id="63" name="矩形: 圆角 62">
              <a:extLst>
                <a:ext uri="{FF2B5EF4-FFF2-40B4-BE49-F238E27FC236}">
                  <a16:creationId xmlns:a16="http://schemas.microsoft.com/office/drawing/2014/main" id="{5597FAD7-E65D-7081-586D-5D52DA5623B2}"/>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软件测试原则和策略</a:t>
              </a:r>
            </a:p>
          </p:txBody>
        </p:sp>
        <p:sp>
          <p:nvSpPr>
            <p:cNvPr id="68" name="椭圆 67">
              <a:extLst>
                <a:ext uri="{FF2B5EF4-FFF2-40B4-BE49-F238E27FC236}">
                  <a16:creationId xmlns:a16="http://schemas.microsoft.com/office/drawing/2014/main" id="{344DA138-62CC-D724-AD32-7EDE7B0C4370}"/>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06</a:t>
              </a:r>
              <a:endParaRPr lang="zh-CN" altLang="en-US" sz="2400" dirty="0">
                <a:latin typeface="+mj-lt"/>
                <a:ea typeface="+mj-ea"/>
              </a:endParaRPr>
            </a:p>
          </p:txBody>
        </p:sp>
      </p:grpSp>
      <p:grpSp>
        <p:nvGrpSpPr>
          <p:cNvPr id="69" name="组合 68">
            <a:extLst>
              <a:ext uri="{FF2B5EF4-FFF2-40B4-BE49-F238E27FC236}">
                <a16:creationId xmlns:a16="http://schemas.microsoft.com/office/drawing/2014/main" id="{AC7E4B12-7FA2-CF52-198D-AD8311B8379B}"/>
              </a:ext>
            </a:extLst>
          </p:cNvPr>
          <p:cNvGrpSpPr/>
          <p:nvPr/>
        </p:nvGrpSpPr>
        <p:grpSpPr>
          <a:xfrm>
            <a:off x="3969809" y="3719783"/>
            <a:ext cx="5026419" cy="576000"/>
            <a:chOff x="5511242" y="1555099"/>
            <a:chExt cx="5026419" cy="576000"/>
          </a:xfrm>
        </p:grpSpPr>
        <p:sp>
          <p:nvSpPr>
            <p:cNvPr id="70" name="矩形: 圆角 69">
              <a:extLst>
                <a:ext uri="{FF2B5EF4-FFF2-40B4-BE49-F238E27FC236}">
                  <a16:creationId xmlns:a16="http://schemas.microsoft.com/office/drawing/2014/main" id="{6C67D574-D63F-7B42-374C-C7A8D8A79D9B}"/>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软件调试、验证与确认</a:t>
              </a:r>
            </a:p>
          </p:txBody>
        </p:sp>
        <p:sp>
          <p:nvSpPr>
            <p:cNvPr id="71" name="椭圆 70">
              <a:extLst>
                <a:ext uri="{FF2B5EF4-FFF2-40B4-BE49-F238E27FC236}">
                  <a16:creationId xmlns:a16="http://schemas.microsoft.com/office/drawing/2014/main" id="{00F32F3B-0F9B-D39B-E0FA-B9261656FC12}"/>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07</a:t>
              </a:r>
              <a:endParaRPr lang="zh-CN" altLang="en-US" sz="2400" dirty="0">
                <a:latin typeface="+mj-lt"/>
                <a:ea typeface="+mj-ea"/>
              </a:endParaRPr>
            </a:p>
          </p:txBody>
        </p:sp>
      </p:grpSp>
      <p:grpSp>
        <p:nvGrpSpPr>
          <p:cNvPr id="72" name="组合 71">
            <a:extLst>
              <a:ext uri="{FF2B5EF4-FFF2-40B4-BE49-F238E27FC236}">
                <a16:creationId xmlns:a16="http://schemas.microsoft.com/office/drawing/2014/main" id="{5365D8D9-0A75-69E9-EAA3-89FBD3056B07}"/>
              </a:ext>
            </a:extLst>
          </p:cNvPr>
          <p:cNvGrpSpPr/>
          <p:nvPr/>
        </p:nvGrpSpPr>
        <p:grpSpPr>
          <a:xfrm>
            <a:off x="3199092" y="4802125"/>
            <a:ext cx="5026419" cy="576000"/>
            <a:chOff x="5511242" y="1555099"/>
            <a:chExt cx="5026419" cy="576000"/>
          </a:xfrm>
        </p:grpSpPr>
        <p:sp>
          <p:nvSpPr>
            <p:cNvPr id="73" name="矩形: 圆角 72">
              <a:extLst>
                <a:ext uri="{FF2B5EF4-FFF2-40B4-BE49-F238E27FC236}">
                  <a16:creationId xmlns:a16="http://schemas.microsoft.com/office/drawing/2014/main" id="{26991D6C-E89D-6438-5061-51EA27DE9D75}"/>
                </a:ext>
              </a:extLst>
            </p:cNvPr>
            <p:cNvSpPr/>
            <p:nvPr/>
          </p:nvSpPr>
          <p:spPr>
            <a:xfrm>
              <a:off x="6217661" y="1555099"/>
              <a:ext cx="4320000" cy="576000"/>
            </a:xfrm>
            <a:prstGeom prst="roundRect">
              <a:avLst>
                <a:gd name="adj" fmla="val 50000"/>
              </a:avLst>
            </a:prstGeom>
            <a:noFill/>
            <a:ln w="12700">
              <a:solidFill>
                <a:srgbClr val="008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rgbClr val="008080"/>
                  </a:solidFill>
                  <a:latin typeface="+mj-lt"/>
                  <a:ea typeface="+mj-ea"/>
                </a:rPr>
                <a:t>软件测试文档</a:t>
              </a:r>
            </a:p>
          </p:txBody>
        </p:sp>
        <p:sp>
          <p:nvSpPr>
            <p:cNvPr id="74" name="椭圆 73">
              <a:extLst>
                <a:ext uri="{FF2B5EF4-FFF2-40B4-BE49-F238E27FC236}">
                  <a16:creationId xmlns:a16="http://schemas.microsoft.com/office/drawing/2014/main" id="{F5976CC3-8DD0-1E8F-6A6A-77BDF6E3EDF7}"/>
                </a:ext>
              </a:extLst>
            </p:cNvPr>
            <p:cNvSpPr/>
            <p:nvPr/>
          </p:nvSpPr>
          <p:spPr>
            <a:xfrm>
              <a:off x="5511242" y="1555099"/>
              <a:ext cx="576000" cy="576000"/>
            </a:xfrm>
            <a:prstGeom prst="ellipse">
              <a:avLst/>
            </a:prstGeom>
            <a:ln>
              <a:noFill/>
            </a:ln>
          </p:spPr>
          <p:style>
            <a:lnRef idx="2">
              <a:schemeClr val="accent4">
                <a:shade val="15000"/>
              </a:schemeClr>
            </a:lnRef>
            <a:fillRef idx="1">
              <a:schemeClr val="accent4"/>
            </a:fillRef>
            <a:effectRef idx="0">
              <a:schemeClr val="accent4"/>
            </a:effectRef>
            <a:fontRef idx="minor">
              <a:schemeClr val="lt1"/>
            </a:fontRef>
          </p:style>
          <p:txBody>
            <a:bodyPr lIns="0" tIns="0" rIns="0" bIns="0" rtlCol="0" anchor="ctr"/>
            <a:lstStyle/>
            <a:p>
              <a:pPr algn="ctr"/>
              <a:r>
                <a:rPr lang="en-US" altLang="zh-CN" sz="2400" dirty="0">
                  <a:latin typeface="+mj-lt"/>
                  <a:ea typeface="+mj-ea"/>
                </a:rPr>
                <a:t>08</a:t>
              </a:r>
              <a:endParaRPr lang="zh-CN" altLang="en-US" sz="2400" dirty="0">
                <a:latin typeface="+mj-lt"/>
                <a:ea typeface="+mj-ea"/>
              </a:endParaRPr>
            </a:p>
          </p:txBody>
        </p:sp>
      </p:grpSp>
    </p:spTree>
    <p:custDataLst>
      <p:tags r:id="rId1"/>
    </p:custDataLst>
  </p:cSld>
  <p:clrMapOvr>
    <a:masterClrMapping/>
  </p:clrMapOvr>
  <p:transition>
    <p:dissolv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椭圆 1"/>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01</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
        <p:nvSpPr>
          <p:cNvPr id="40" name="文本框 39"/>
          <p:cNvSpPr txBox="1"/>
          <p:nvPr/>
        </p:nvSpPr>
        <p:spPr>
          <a:xfrm>
            <a:off x="6006555" y="2935102"/>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结构化程序设计</a:t>
            </a:r>
          </a:p>
        </p:txBody>
      </p:sp>
      <p:sp>
        <p:nvSpPr>
          <p:cNvPr id="48" name="文本框 47"/>
          <p:cNvSpPr txBox="1"/>
          <p:nvPr/>
        </p:nvSpPr>
        <p:spPr>
          <a:xfrm>
            <a:off x="6006465" y="4135755"/>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程序设计语言的选择</a:t>
            </a:r>
          </a:p>
        </p:txBody>
      </p:sp>
      <p:sp>
        <p:nvSpPr>
          <p:cNvPr id="50" name="文本框 49"/>
          <p:cNvSpPr txBox="1"/>
          <p:nvPr/>
        </p:nvSpPr>
        <p:spPr>
          <a:xfrm>
            <a:off x="6006465" y="4631055"/>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程序设计风格</a:t>
            </a: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a:t>4.1 </a:t>
            </a:r>
            <a:r>
              <a:rPr lang="zh-CN" altLang="en-US"/>
              <a:t>结构化程序设计</a:t>
            </a:r>
            <a:endParaRPr lang="zh-CN" altLang="en-US" dirty="0"/>
          </a:p>
        </p:txBody>
      </p:sp>
      <p:sp>
        <p:nvSpPr>
          <p:cNvPr id="11" name="文本占位符 10">
            <a:extLst>
              <a:ext uri="{FF2B5EF4-FFF2-40B4-BE49-F238E27FC236}">
                <a16:creationId xmlns:a16="http://schemas.microsoft.com/office/drawing/2014/main" id="{603DF81E-65FB-2B92-E9DC-7FADB7A92570}"/>
              </a:ext>
            </a:extLst>
          </p:cNvPr>
          <p:cNvSpPr>
            <a:spLocks noGrp="1"/>
          </p:cNvSpPr>
          <p:nvPr>
            <p:ph type="body" sz="quarter" idx="10"/>
          </p:nvPr>
        </p:nvSpPr>
        <p:spPr>
          <a:xfrm>
            <a:off x="696000" y="1322832"/>
            <a:ext cx="5400000" cy="400110"/>
          </a:xfrm>
        </p:spPr>
        <p:txBody>
          <a:bodyPr/>
          <a:lstStyle/>
          <a:p>
            <a:r>
              <a:rPr lang="zh-CN" altLang="en-US" dirty="0"/>
              <a:t>引言</a:t>
            </a:r>
          </a:p>
        </p:txBody>
      </p:sp>
      <p:sp>
        <p:nvSpPr>
          <p:cNvPr id="12" name="文本占位符 11">
            <a:extLst>
              <a:ext uri="{FF2B5EF4-FFF2-40B4-BE49-F238E27FC236}">
                <a16:creationId xmlns:a16="http://schemas.microsoft.com/office/drawing/2014/main" id="{F24A6FE2-18C0-C881-F253-40807C222096}"/>
              </a:ext>
            </a:extLst>
          </p:cNvPr>
          <p:cNvSpPr>
            <a:spLocks noGrp="1"/>
          </p:cNvSpPr>
          <p:nvPr>
            <p:ph type="body" sz="quarter" idx="11"/>
          </p:nvPr>
        </p:nvSpPr>
        <p:spPr/>
        <p:txBody>
          <a:bodyPr/>
          <a:lstStyle/>
          <a:p>
            <a:endParaRPr lang="zh-CN" altLang="en-US"/>
          </a:p>
        </p:txBody>
      </p:sp>
      <p:sp>
        <p:nvSpPr>
          <p:cNvPr id="100" name="文本框 99"/>
          <p:cNvSpPr txBox="1"/>
          <p:nvPr/>
        </p:nvSpPr>
        <p:spPr>
          <a:xfrm>
            <a:off x="695326" y="1856740"/>
            <a:ext cx="6747510" cy="3093219"/>
          </a:xfrm>
          <a:prstGeom prst="rect">
            <a:avLst/>
          </a:prstGeom>
          <a:noFill/>
          <a:ln w="9525">
            <a:noFill/>
          </a:ln>
        </p:spPr>
        <p:txBody>
          <a:bodyPr wrap="square">
            <a:spAutoFit/>
          </a:bodyPr>
          <a:lstStyle/>
          <a:p>
            <a:pPr marL="0" indent="0" algn="just" fontAlgn="auto">
              <a:lnSpc>
                <a:spcPct val="130000"/>
              </a:lnSpc>
              <a:spcAft>
                <a:spcPts val="600"/>
              </a:spcAft>
            </a:pPr>
            <a:r>
              <a:rPr lang="en-US" altLang="zh-CN" dirty="0">
                <a:sym typeface="+mn-ea"/>
              </a:rPr>
              <a:t>       </a:t>
            </a:r>
            <a:r>
              <a:rPr lang="zh-CN" altLang="en-US" dirty="0">
                <a:sym typeface="+mn-ea"/>
              </a:rPr>
              <a:t>把软件设计的结果用程序设计语言书写为计算机程序，称为</a:t>
            </a:r>
            <a:r>
              <a:rPr lang="zh-CN" altLang="en-US" dirty="0">
                <a:solidFill>
                  <a:srgbClr val="0070C0"/>
                </a:solidFill>
                <a:sym typeface="+mn-ea"/>
              </a:rPr>
              <a:t>编码</a:t>
            </a:r>
            <a:r>
              <a:rPr lang="zh-CN" altLang="en-US" dirty="0">
                <a:sym typeface="+mn-ea"/>
              </a:rPr>
              <a:t>。软件测试是指由人工或计算机来验证软件是否满足规定的需求或识别期望的结果和实际结果之间有无差别。</a:t>
            </a:r>
            <a:endParaRPr lang="zh-CN" altLang="en-US" dirty="0"/>
          </a:p>
          <a:p>
            <a:pPr marL="0" indent="0" algn="just" fontAlgn="auto">
              <a:lnSpc>
                <a:spcPct val="130000"/>
              </a:lnSpc>
              <a:spcAft>
                <a:spcPts val="600"/>
              </a:spcAft>
            </a:pPr>
            <a:r>
              <a:rPr lang="zh-CN" altLang="en-US" dirty="0">
                <a:sym typeface="+mn-ea"/>
              </a:rPr>
              <a:t>        一般地，在软件编码的同时要进行模块测试，然后在模块集成时进行多种方法的综合测试，因而软件编码和软件测试统称为软件实现。良好的编码风格有利于写出高质量的程序，高效的测试和调试能发现错误、改正错误，保证软件的质量。</a:t>
            </a:r>
            <a:endParaRPr lang="zh-CN" altLang="en-US" dirty="0"/>
          </a:p>
          <a:p>
            <a:pPr marL="0" indent="0" algn="just" fontAlgn="auto">
              <a:lnSpc>
                <a:spcPct val="130000"/>
              </a:lnSpc>
              <a:spcAft>
                <a:spcPts val="600"/>
              </a:spcAft>
            </a:pPr>
            <a:r>
              <a:rPr lang="zh-CN" altLang="en-US" dirty="0">
                <a:sym typeface="+mn-ea"/>
              </a:rPr>
              <a:t>★ 本章重点：程序设计风格；设计软件测试方案。</a:t>
            </a:r>
            <a:endParaRPr lang="zh-CN" altLang="en-US" dirty="0"/>
          </a:p>
        </p:txBody>
      </p:sp>
      <p:pic>
        <p:nvPicPr>
          <p:cNvPr id="8" name="图片 7" descr="20150912095423385.jpg"/>
          <p:cNvPicPr>
            <a:picLocks noChangeAspect="1"/>
          </p:cNvPicPr>
          <p:nvPr/>
        </p:nvPicPr>
        <p:blipFill>
          <a:blip r:embed="rId2" cstate="print"/>
          <a:stretch>
            <a:fillRect/>
          </a:stretch>
        </p:blipFill>
        <p:spPr>
          <a:xfrm>
            <a:off x="7564755" y="2575560"/>
            <a:ext cx="4147820" cy="2544445"/>
          </a:xfrm>
          <a:prstGeom prst="rect">
            <a:avLst/>
          </a:prstGeom>
        </p:spPr>
      </p:pic>
    </p:spTree>
  </p:cSld>
  <p:clrMapOvr>
    <a:masterClrMapping/>
  </p:clrMapOvr>
  <p:transition>
    <p:pull di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dirty="0"/>
              <a:t>结构化程序设计</a:t>
            </a:r>
          </a:p>
        </p:txBody>
      </p:sp>
      <p:sp>
        <p:nvSpPr>
          <p:cNvPr id="6" name="文本占位符 5">
            <a:extLst>
              <a:ext uri="{FF2B5EF4-FFF2-40B4-BE49-F238E27FC236}">
                <a16:creationId xmlns:a16="http://schemas.microsoft.com/office/drawing/2014/main" id="{8B2816CA-BCA5-BDD5-8D23-13658003AB7D}"/>
              </a:ext>
            </a:extLst>
          </p:cNvPr>
          <p:cNvSpPr>
            <a:spLocks noGrp="1"/>
          </p:cNvSpPr>
          <p:nvPr>
            <p:ph type="body" sz="quarter" idx="10"/>
          </p:nvPr>
        </p:nvSpPr>
        <p:spPr>
          <a:xfrm>
            <a:off x="696000" y="1322832"/>
            <a:ext cx="5400000" cy="400110"/>
          </a:xfrm>
        </p:spPr>
        <p:txBody>
          <a:bodyPr/>
          <a:lstStyle/>
          <a:p>
            <a:r>
              <a:rPr lang="zh-CN" altLang="en-US" dirty="0"/>
              <a:t>引言</a:t>
            </a:r>
          </a:p>
        </p:txBody>
      </p:sp>
      <p:sp>
        <p:nvSpPr>
          <p:cNvPr id="11" name="文本占位符 10">
            <a:extLst>
              <a:ext uri="{FF2B5EF4-FFF2-40B4-BE49-F238E27FC236}">
                <a16:creationId xmlns:a16="http://schemas.microsoft.com/office/drawing/2014/main" id="{3693496B-668C-FEDD-C3E6-BBDBEA1635F4}"/>
              </a:ext>
            </a:extLst>
          </p:cNvPr>
          <p:cNvSpPr>
            <a:spLocks noGrp="1"/>
          </p:cNvSpPr>
          <p:nvPr>
            <p:ph type="body" sz="quarter" idx="11"/>
          </p:nvPr>
        </p:nvSpPr>
        <p:spPr>
          <a:xfrm>
            <a:off x="6096000" y="360128"/>
            <a:ext cx="5760000" cy="400110"/>
          </a:xfrm>
        </p:spPr>
        <p:txBody>
          <a:bodyPr>
            <a:normAutofit/>
          </a:bodyPr>
          <a:lstStyle/>
          <a:p>
            <a:r>
              <a:rPr lang="en-US" altLang="zh-CN" dirty="0"/>
              <a:t>Structured Programming</a:t>
            </a:r>
            <a:endParaRPr lang="zh-CN" altLang="en-US" dirty="0"/>
          </a:p>
        </p:txBody>
      </p:sp>
      <p:sp>
        <p:nvSpPr>
          <p:cNvPr id="100" name="文本框 99"/>
          <p:cNvSpPr txBox="1"/>
          <p:nvPr/>
        </p:nvSpPr>
        <p:spPr>
          <a:xfrm>
            <a:off x="695323" y="2237740"/>
            <a:ext cx="10800000" cy="2656176"/>
          </a:xfrm>
          <a:prstGeom prst="rect">
            <a:avLst/>
          </a:prstGeom>
          <a:noFill/>
          <a:ln w="9525">
            <a:noFill/>
          </a:ln>
        </p:spPr>
        <p:txBody>
          <a:bodyPr wrap="square">
            <a:spAutoFit/>
          </a:bodyPr>
          <a:lstStyle>
            <a:defPPr>
              <a:defRPr lang="zh-CN"/>
            </a:defPPr>
            <a:lvl1pPr indent="0" algn="just" fontAlgn="auto">
              <a:lnSpc>
                <a:spcPct val="130000"/>
              </a:lnSpc>
              <a:spcAft>
                <a:spcPts val="600"/>
              </a:spcAft>
            </a:lvl1pPr>
          </a:lstStyle>
          <a:p>
            <a:r>
              <a:rPr lang="en-US" altLang="zh-CN" dirty="0">
                <a:sym typeface="+mn-ea"/>
              </a:rPr>
              <a:t>       </a:t>
            </a:r>
            <a:r>
              <a:rPr lang="zh-CN" altLang="en-US" dirty="0">
                <a:sym typeface="+mn-ea"/>
              </a:rPr>
              <a:t>软件需求分析阶段和系统设计阶段所产生的文档，都不能直接在计算机上执行。只有完成了程序设计、产生可执行代码后，才能使系统的需求真正实现。</a:t>
            </a:r>
          </a:p>
          <a:p>
            <a:r>
              <a:rPr lang="zh-CN" altLang="en-US" dirty="0">
                <a:sym typeface="+mn-ea"/>
              </a:rPr>
              <a:t>       软件系统的分析和设计是程序设计（编码）的前导。实践表明，编码中出现的问题主要是由设计中存在的问题引起的。因而我们主张在编码之前进行分析、设计，尽可能在编码之前保证设计的正确性、高质量。然而这并不是说编码阶段无足轻重。相反，程序员应该能像优秀的翻译员，在编码时简明、清晰、高质量地将系统设计付诸实施。否则，软件工程前期阶段分析、设计的质量再高，如果在程序设计时质量不高的话，最后得到的软件质量仍得不到保证。</a:t>
            </a:r>
          </a:p>
        </p:txBody>
      </p:sp>
    </p:spTree>
  </p:cSld>
  <p:clrMapOvr>
    <a:masterClrMapping/>
  </p:clrMapOvr>
  <p:transition>
    <p:pull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dirty="0"/>
              <a:t>结构化程序设计</a:t>
            </a:r>
          </a:p>
        </p:txBody>
      </p:sp>
      <p:sp>
        <p:nvSpPr>
          <p:cNvPr id="7" name="文本占位符 6">
            <a:extLst>
              <a:ext uri="{FF2B5EF4-FFF2-40B4-BE49-F238E27FC236}">
                <a16:creationId xmlns:a16="http://schemas.microsoft.com/office/drawing/2014/main" id="{CD318617-13E3-DA08-7125-EB70DE24081E}"/>
              </a:ext>
            </a:extLst>
          </p:cNvPr>
          <p:cNvSpPr>
            <a:spLocks noGrp="1"/>
          </p:cNvSpPr>
          <p:nvPr>
            <p:ph type="body" sz="quarter" idx="10"/>
          </p:nvPr>
        </p:nvSpPr>
        <p:spPr>
          <a:xfrm>
            <a:off x="696000" y="1322832"/>
            <a:ext cx="5400000" cy="400110"/>
          </a:xfrm>
        </p:spPr>
        <p:txBody>
          <a:bodyPr/>
          <a:lstStyle/>
          <a:p>
            <a:r>
              <a:rPr lang="zh-CN" altLang="en-US" dirty="0"/>
              <a:t>引言</a:t>
            </a:r>
            <a:r>
              <a:rPr lang="en-US" altLang="zh-CN" dirty="0"/>
              <a:t>-</a:t>
            </a:r>
            <a:r>
              <a:rPr lang="zh-CN" altLang="en-US" dirty="0"/>
              <a:t>基本要点</a:t>
            </a:r>
          </a:p>
        </p:txBody>
      </p:sp>
      <p:sp>
        <p:nvSpPr>
          <p:cNvPr id="20" name="文本占位符 19">
            <a:extLst>
              <a:ext uri="{FF2B5EF4-FFF2-40B4-BE49-F238E27FC236}">
                <a16:creationId xmlns:a16="http://schemas.microsoft.com/office/drawing/2014/main" id="{914E7CE5-6EEF-8A95-E619-7940F2B68E6E}"/>
              </a:ext>
            </a:extLst>
          </p:cNvPr>
          <p:cNvSpPr>
            <a:spLocks noGrp="1"/>
          </p:cNvSpPr>
          <p:nvPr>
            <p:ph type="body" sz="quarter" idx="11"/>
          </p:nvPr>
        </p:nvSpPr>
        <p:spPr>
          <a:xfrm>
            <a:off x="6096000" y="360128"/>
            <a:ext cx="5760000" cy="400110"/>
          </a:xfrm>
        </p:spPr>
        <p:txBody>
          <a:bodyPr>
            <a:noAutofit/>
          </a:bodyPr>
          <a:lstStyle/>
          <a:p>
            <a:r>
              <a:rPr lang="en-US" altLang="zh-CN" dirty="0"/>
              <a:t>Structured Design</a:t>
            </a:r>
            <a:endParaRPr lang="zh-CN" altLang="en-US" dirty="0"/>
          </a:p>
        </p:txBody>
      </p:sp>
      <p:sp>
        <p:nvSpPr>
          <p:cNvPr id="39" name="文本框 38"/>
          <p:cNvSpPr txBox="1"/>
          <p:nvPr>
            <p:custDataLst>
              <p:tags r:id="rId1"/>
            </p:custDataLst>
          </p:nvPr>
        </p:nvSpPr>
        <p:spPr>
          <a:xfrm>
            <a:off x="7213600" y="4662170"/>
            <a:ext cx="3658870" cy="1089660"/>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sym typeface="+mn-ea"/>
              </a:rPr>
              <a:t>采用主程序员组的组织形式。</a:t>
            </a:r>
            <a:endParaRPr lang="en-US" altLang="zh-CN" dirty="0">
              <a:sym typeface="+mn-ea"/>
            </a:endParaRPr>
          </a:p>
          <a:p>
            <a:pPr algn="just" eaLnBrk="1" hangingPunct="1">
              <a:lnSpc>
                <a:spcPct val="120000"/>
              </a:lnSpc>
              <a:spcBef>
                <a:spcPts val="0"/>
              </a:spcBef>
              <a:spcAft>
                <a:spcPts val="0"/>
              </a:spcAft>
              <a:defRPr/>
            </a:pPr>
            <a:r>
              <a:rPr lang="zh-CN" altLang="en-US" dirty="0">
                <a:sym typeface="+mn-ea"/>
              </a:rPr>
              <a:t>用经验多、能力强、技术好的程序员作为主程序员。</a:t>
            </a:r>
          </a:p>
        </p:txBody>
      </p:sp>
      <p:grpSp>
        <p:nvGrpSpPr>
          <p:cNvPr id="6" name="组合 5"/>
          <p:cNvGrpSpPr/>
          <p:nvPr>
            <p:custDataLst>
              <p:tags r:id="rId2"/>
            </p:custDataLst>
          </p:nvPr>
        </p:nvGrpSpPr>
        <p:grpSpPr>
          <a:xfrm>
            <a:off x="4258955" y="2502062"/>
            <a:ext cx="3357880" cy="3361055"/>
            <a:chOff x="4545541" y="1813445"/>
            <a:chExt cx="3358094" cy="3360852"/>
          </a:xfrm>
        </p:grpSpPr>
        <p:grpSp>
          <p:nvGrpSpPr>
            <p:cNvPr id="31" name="组合 30"/>
            <p:cNvGrpSpPr/>
            <p:nvPr/>
          </p:nvGrpSpPr>
          <p:grpSpPr>
            <a:xfrm rot="19780964">
              <a:off x="4545541" y="1813445"/>
              <a:ext cx="3358094" cy="3360852"/>
              <a:chOff x="4292600" y="1528763"/>
              <a:chExt cx="3863975" cy="3867151"/>
            </a:xfrm>
          </p:grpSpPr>
          <p:sp>
            <p:nvSpPr>
              <p:cNvPr id="8" name="Freeform 5"/>
              <p:cNvSpPr/>
              <p:nvPr>
                <p:custDataLst>
                  <p:tags r:id="rId14"/>
                </p:custDataLst>
              </p:nvPr>
            </p:nvSpPr>
            <p:spPr bwMode="auto">
              <a:xfrm>
                <a:off x="6096000" y="1528763"/>
                <a:ext cx="2060575" cy="2708275"/>
              </a:xfrm>
              <a:custGeom>
                <a:avLst/>
                <a:gdLst>
                  <a:gd name="T0" fmla="*/ 0 w 10817"/>
                  <a:gd name="T1" fmla="*/ 9470 h 14205"/>
                  <a:gd name="T2" fmla="*/ 8202 w 10817"/>
                  <a:gd name="T3" fmla="*/ 14205 h 14205"/>
                  <a:gd name="T4" fmla="*/ 4736 w 10817"/>
                  <a:gd name="T5" fmla="*/ 1268 h 14205"/>
                  <a:gd name="T6" fmla="*/ 0 w 10817"/>
                  <a:gd name="T7" fmla="*/ 0 h 14205"/>
                  <a:gd name="T8" fmla="*/ 0 w 10817"/>
                  <a:gd name="T9" fmla="*/ 9470 h 14205"/>
                </a:gdLst>
                <a:ahLst/>
                <a:cxnLst>
                  <a:cxn ang="0">
                    <a:pos x="T0" y="T1"/>
                  </a:cxn>
                  <a:cxn ang="0">
                    <a:pos x="T2" y="T3"/>
                  </a:cxn>
                  <a:cxn ang="0">
                    <a:pos x="T4" y="T5"/>
                  </a:cxn>
                  <a:cxn ang="0">
                    <a:pos x="T6" y="T7"/>
                  </a:cxn>
                  <a:cxn ang="0">
                    <a:pos x="T8" y="T9"/>
                  </a:cxn>
                </a:cxnLst>
                <a:rect l="0" t="0" r="r" b="b"/>
                <a:pathLst>
                  <a:path w="10817" h="14205">
                    <a:moveTo>
                      <a:pt x="0" y="9470"/>
                    </a:moveTo>
                    <a:lnTo>
                      <a:pt x="8202" y="14205"/>
                    </a:lnTo>
                    <a:cubicBezTo>
                      <a:pt x="10817" y="9675"/>
                      <a:pt x="9265" y="3884"/>
                      <a:pt x="4736" y="1268"/>
                    </a:cubicBezTo>
                    <a:cubicBezTo>
                      <a:pt x="3296" y="437"/>
                      <a:pt x="1663" y="0"/>
                      <a:pt x="0" y="0"/>
                    </a:cubicBezTo>
                    <a:lnTo>
                      <a:pt x="0" y="9470"/>
                    </a:lnTo>
                    <a:close/>
                  </a:path>
                </a:pathLst>
              </a:custGeom>
              <a:solidFill>
                <a:srgbClr val="A4C47E"/>
              </a:solidFill>
              <a:ln w="0">
                <a:noFill/>
                <a:prstDash val="solid"/>
                <a:round/>
              </a:ln>
            </p:spPr>
            <p:txBody>
              <a:bodyPr vert="horz" wrap="square" lIns="91440" tIns="45720" rIns="91440" bIns="45720" numCol="1" anchor="t" anchorCtr="0" compatLnSpc="1">
                <a:normAutofit/>
              </a:bodyPr>
              <a:lstStyle/>
              <a:p>
                <a:endParaRPr lang="zh-CN" altLang="en-US" dirty="0">
                  <a:latin typeface="Times New Roman" panose="02020603050405020304" pitchFamily="18" charset="0"/>
                  <a:sym typeface="Arial" panose="020B0604020202020204" pitchFamily="34" charset="0"/>
                </a:endParaRPr>
              </a:p>
            </p:txBody>
          </p:sp>
          <p:sp>
            <p:nvSpPr>
              <p:cNvPr id="26" name="Freeform 7"/>
              <p:cNvSpPr/>
              <p:nvPr>
                <p:custDataLst>
                  <p:tags r:id="rId15"/>
                </p:custDataLst>
              </p:nvPr>
            </p:nvSpPr>
            <p:spPr bwMode="auto">
              <a:xfrm>
                <a:off x="4533900" y="3333751"/>
                <a:ext cx="3124200" cy="2062163"/>
              </a:xfrm>
              <a:custGeom>
                <a:avLst/>
                <a:gdLst>
                  <a:gd name="T0" fmla="*/ 8201 w 16403"/>
                  <a:gd name="T1" fmla="*/ 0 h 10816"/>
                  <a:gd name="T2" fmla="*/ 0 w 16403"/>
                  <a:gd name="T3" fmla="*/ 4735 h 10816"/>
                  <a:gd name="T4" fmla="*/ 12937 w 16403"/>
                  <a:gd name="T5" fmla="*/ 8201 h 10816"/>
                  <a:gd name="T6" fmla="*/ 16403 w 16403"/>
                  <a:gd name="T7" fmla="*/ 4735 h 10816"/>
                  <a:gd name="T8" fmla="*/ 8201 w 16403"/>
                  <a:gd name="T9" fmla="*/ 0 h 10816"/>
                </a:gdLst>
                <a:ahLst/>
                <a:cxnLst>
                  <a:cxn ang="0">
                    <a:pos x="T0" y="T1"/>
                  </a:cxn>
                  <a:cxn ang="0">
                    <a:pos x="T2" y="T3"/>
                  </a:cxn>
                  <a:cxn ang="0">
                    <a:pos x="T4" y="T5"/>
                  </a:cxn>
                  <a:cxn ang="0">
                    <a:pos x="T6" y="T7"/>
                  </a:cxn>
                  <a:cxn ang="0">
                    <a:pos x="T8" y="T9"/>
                  </a:cxn>
                </a:cxnLst>
                <a:rect l="0" t="0" r="r" b="b"/>
                <a:pathLst>
                  <a:path w="16403" h="10816">
                    <a:moveTo>
                      <a:pt x="8201" y="0"/>
                    </a:moveTo>
                    <a:lnTo>
                      <a:pt x="0" y="4735"/>
                    </a:lnTo>
                    <a:cubicBezTo>
                      <a:pt x="2615" y="9265"/>
                      <a:pt x="8407" y="10816"/>
                      <a:pt x="12937" y="8201"/>
                    </a:cubicBezTo>
                    <a:cubicBezTo>
                      <a:pt x="14376" y="7370"/>
                      <a:pt x="15572" y="6175"/>
                      <a:pt x="16403" y="4735"/>
                    </a:cubicBezTo>
                    <a:lnTo>
                      <a:pt x="8201" y="0"/>
                    </a:lnTo>
                    <a:close/>
                  </a:path>
                </a:pathLst>
              </a:custGeom>
              <a:solidFill>
                <a:srgbClr val="4D91BF"/>
              </a:solidFill>
              <a:ln w="0">
                <a:noFill/>
                <a:prstDash val="solid"/>
                <a:round/>
              </a:ln>
            </p:spPr>
            <p:txBody>
              <a:bodyPr vert="horz" wrap="square" lIns="91440" tIns="45720" rIns="91440" bIns="45720" numCol="1" anchor="t" anchorCtr="0" compatLnSpc="1">
                <a:normAutofit/>
              </a:bodyPr>
              <a:lstStyle/>
              <a:p>
                <a:endParaRPr lang="zh-CN" altLang="en-US" dirty="0">
                  <a:latin typeface="Times New Roman" panose="02020603050405020304" pitchFamily="18" charset="0"/>
                  <a:sym typeface="Arial" panose="020B0604020202020204" pitchFamily="34" charset="0"/>
                </a:endParaRPr>
              </a:p>
            </p:txBody>
          </p:sp>
          <p:sp>
            <p:nvSpPr>
              <p:cNvPr id="28" name="Freeform 9"/>
              <p:cNvSpPr/>
              <p:nvPr>
                <p:custDataLst>
                  <p:tags r:id="rId16"/>
                </p:custDataLst>
              </p:nvPr>
            </p:nvSpPr>
            <p:spPr bwMode="auto">
              <a:xfrm>
                <a:off x="4292600" y="1528763"/>
                <a:ext cx="1803400" cy="2708275"/>
              </a:xfrm>
              <a:custGeom>
                <a:avLst/>
                <a:gdLst>
                  <a:gd name="T0" fmla="*/ 18940 w 18940"/>
                  <a:gd name="T1" fmla="*/ 18940 h 28411"/>
                  <a:gd name="T2" fmla="*/ 18940 w 18940"/>
                  <a:gd name="T3" fmla="*/ 0 h 28411"/>
                  <a:gd name="T4" fmla="*/ 0 w 18940"/>
                  <a:gd name="T5" fmla="*/ 18940 h 28411"/>
                  <a:gd name="T6" fmla="*/ 2537 w 18940"/>
                  <a:gd name="T7" fmla="*/ 28411 h 28411"/>
                  <a:gd name="T8" fmla="*/ 18940 w 18940"/>
                  <a:gd name="T9" fmla="*/ 18940 h 28411"/>
                </a:gdLst>
                <a:ahLst/>
                <a:cxnLst>
                  <a:cxn ang="0">
                    <a:pos x="T0" y="T1"/>
                  </a:cxn>
                  <a:cxn ang="0">
                    <a:pos x="T2" y="T3"/>
                  </a:cxn>
                  <a:cxn ang="0">
                    <a:pos x="T4" y="T5"/>
                  </a:cxn>
                  <a:cxn ang="0">
                    <a:pos x="T6" y="T7"/>
                  </a:cxn>
                  <a:cxn ang="0">
                    <a:pos x="T8" y="T9"/>
                  </a:cxn>
                </a:cxnLst>
                <a:rect l="0" t="0" r="r" b="b"/>
                <a:pathLst>
                  <a:path w="18940" h="28411">
                    <a:moveTo>
                      <a:pt x="18940" y="18940"/>
                    </a:moveTo>
                    <a:lnTo>
                      <a:pt x="18940" y="0"/>
                    </a:lnTo>
                    <a:cubicBezTo>
                      <a:pt x="8480" y="0"/>
                      <a:pt x="0" y="8480"/>
                      <a:pt x="0" y="18940"/>
                    </a:cubicBezTo>
                    <a:cubicBezTo>
                      <a:pt x="0" y="22265"/>
                      <a:pt x="875" y="25531"/>
                      <a:pt x="2537" y="28411"/>
                    </a:cubicBezTo>
                    <a:lnTo>
                      <a:pt x="18940" y="18940"/>
                    </a:lnTo>
                    <a:close/>
                  </a:path>
                </a:pathLst>
              </a:custGeom>
              <a:solidFill>
                <a:srgbClr val="0FA1AB"/>
              </a:solidFill>
              <a:ln w="0">
                <a:noFill/>
                <a:prstDash val="solid"/>
                <a:round/>
              </a:ln>
            </p:spPr>
            <p:txBody>
              <a:bodyPr vert="horz" wrap="square" lIns="91440" tIns="45720" rIns="91440" bIns="45720" numCol="1" anchor="t" anchorCtr="0" compatLnSpc="1">
                <a:normAutofit/>
              </a:bodyPr>
              <a:lstStyle/>
              <a:p>
                <a:endParaRPr lang="zh-CN" altLang="en-US" dirty="0">
                  <a:latin typeface="Times New Roman" panose="02020603050405020304" pitchFamily="18" charset="0"/>
                  <a:sym typeface="Arial" panose="020B0604020202020204" pitchFamily="34" charset="0"/>
                </a:endParaRPr>
              </a:p>
            </p:txBody>
          </p:sp>
        </p:grpSp>
        <p:grpSp>
          <p:nvGrpSpPr>
            <p:cNvPr id="10" name="组合 9"/>
            <p:cNvGrpSpPr/>
            <p:nvPr/>
          </p:nvGrpSpPr>
          <p:grpSpPr>
            <a:xfrm>
              <a:off x="7117751" y="2851667"/>
              <a:ext cx="642223" cy="844731"/>
              <a:chOff x="7269873" y="3048000"/>
              <a:chExt cx="484632" cy="637448"/>
            </a:xfrm>
          </p:grpSpPr>
          <p:sp>
            <p:nvSpPr>
              <p:cNvPr id="19" name="任意多边形 18"/>
              <p:cNvSpPr/>
              <p:nvPr>
                <p:custDataLst>
                  <p:tags r:id="rId12"/>
                </p:custDataLst>
              </p:nvPr>
            </p:nvSpPr>
            <p:spPr>
              <a:xfrm>
                <a:off x="7269873"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A4C47E"/>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dirty="0">
                  <a:latin typeface="Times New Roman" panose="02020603050405020304" pitchFamily="18" charset="0"/>
                  <a:sym typeface="Arial" panose="020B0604020202020204" pitchFamily="34" charset="0"/>
                </a:endParaRPr>
              </a:p>
            </p:txBody>
          </p:sp>
          <p:sp>
            <p:nvSpPr>
              <p:cNvPr id="25" name="任意多边形 24"/>
              <p:cNvSpPr/>
              <p:nvPr>
                <p:custDataLst>
                  <p:tags r:id="rId13"/>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53000">
                    <a:srgbClr val="A4C47E">
                      <a:lumMod val="75000"/>
                    </a:srgbClr>
                  </a:gs>
                  <a:gs pos="0">
                    <a:srgbClr val="A4C47E">
                      <a:lumMod val="75000"/>
                      <a:alpha val="0"/>
                    </a:srgbClr>
                  </a:gs>
                  <a:gs pos="100000">
                    <a:srgbClr val="A4C47E">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dirty="0">
                  <a:latin typeface="Times New Roman" panose="02020603050405020304" pitchFamily="18" charset="0"/>
                  <a:sym typeface="Arial" panose="020B0604020202020204" pitchFamily="34" charset="0"/>
                </a:endParaRPr>
              </a:p>
            </p:txBody>
          </p:sp>
        </p:grpSp>
        <p:grpSp>
          <p:nvGrpSpPr>
            <p:cNvPr id="27" name="组合 26"/>
            <p:cNvGrpSpPr/>
            <p:nvPr/>
          </p:nvGrpSpPr>
          <p:grpSpPr>
            <a:xfrm rot="7200000">
              <a:off x="5228836" y="4295958"/>
              <a:ext cx="642222" cy="844731"/>
              <a:chOff x="7237791" y="3049926"/>
              <a:chExt cx="484632" cy="637448"/>
            </a:xfrm>
          </p:grpSpPr>
          <p:sp>
            <p:nvSpPr>
              <p:cNvPr id="30" name="任意多边形 29"/>
              <p:cNvSpPr/>
              <p:nvPr>
                <p:custDataLst>
                  <p:tags r:id="rId10"/>
                </p:custDataLst>
              </p:nvPr>
            </p:nvSpPr>
            <p:spPr>
              <a:xfrm>
                <a:off x="7237791" y="3049926"/>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4D91BF"/>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dirty="0">
                  <a:latin typeface="Times New Roman" panose="02020603050405020304" pitchFamily="18" charset="0"/>
                  <a:sym typeface="Arial" panose="020B0604020202020204" pitchFamily="34" charset="0"/>
                </a:endParaRPr>
              </a:p>
            </p:txBody>
          </p:sp>
          <p:sp>
            <p:nvSpPr>
              <p:cNvPr id="32" name="任意多边形 31"/>
              <p:cNvSpPr/>
              <p:nvPr>
                <p:custDataLst>
                  <p:tags r:id="rId11"/>
                </p:custDataLst>
              </p:nvPr>
            </p:nvSpPr>
            <p:spPr>
              <a:xfrm>
                <a:off x="7237791" y="3049926"/>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4D91BF">
                      <a:lumMod val="75000"/>
                    </a:srgbClr>
                  </a:gs>
                  <a:gs pos="29000">
                    <a:srgbClr val="4D91BF">
                      <a:lumMod val="75000"/>
                      <a:alpha val="31000"/>
                    </a:srgbClr>
                  </a:gs>
                  <a:gs pos="0">
                    <a:srgbClr val="4D91BF">
                      <a:lumMod val="75000"/>
                      <a:alpha val="0"/>
                    </a:srgbClr>
                  </a:gs>
                  <a:gs pos="100000">
                    <a:srgbClr val="4D91BF">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dirty="0">
                  <a:latin typeface="Times New Roman" panose="02020603050405020304" pitchFamily="18" charset="0"/>
                  <a:sym typeface="Arial" panose="020B0604020202020204" pitchFamily="34" charset="0"/>
                </a:endParaRPr>
              </a:p>
            </p:txBody>
          </p:sp>
        </p:grpSp>
        <p:grpSp>
          <p:nvGrpSpPr>
            <p:cNvPr id="33" name="组合 32"/>
            <p:cNvGrpSpPr/>
            <p:nvPr/>
          </p:nvGrpSpPr>
          <p:grpSpPr>
            <a:xfrm rot="14400000">
              <a:off x="4930608" y="1940029"/>
              <a:ext cx="642223" cy="844731"/>
              <a:chOff x="7269877" y="3048000"/>
              <a:chExt cx="484632" cy="637448"/>
            </a:xfrm>
          </p:grpSpPr>
          <p:sp>
            <p:nvSpPr>
              <p:cNvPr id="34" name="任意多边形 33"/>
              <p:cNvSpPr/>
              <p:nvPr>
                <p:custDataLst>
                  <p:tags r:id="rId8"/>
                </p:custDataLst>
              </p:nvPr>
            </p:nvSpPr>
            <p:spPr>
              <a:xfrm>
                <a:off x="7269877"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0FA1AB"/>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dirty="0">
                  <a:latin typeface="Times New Roman" panose="02020603050405020304" pitchFamily="18" charset="0"/>
                  <a:sym typeface="Arial" panose="020B0604020202020204" pitchFamily="34" charset="0"/>
                </a:endParaRPr>
              </a:p>
            </p:txBody>
          </p:sp>
          <p:sp>
            <p:nvSpPr>
              <p:cNvPr id="35" name="任意多边形 34"/>
              <p:cNvSpPr/>
              <p:nvPr>
                <p:custDataLst>
                  <p:tags r:id="rId9"/>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0FA1AB">
                      <a:lumMod val="75000"/>
                    </a:srgbClr>
                  </a:gs>
                  <a:gs pos="29000">
                    <a:srgbClr val="0FA1AB">
                      <a:lumMod val="75000"/>
                      <a:alpha val="22000"/>
                    </a:srgbClr>
                  </a:gs>
                  <a:gs pos="0">
                    <a:srgbClr val="0FA1AB">
                      <a:lumMod val="75000"/>
                      <a:alpha val="0"/>
                    </a:srgbClr>
                  </a:gs>
                  <a:gs pos="100000">
                    <a:srgbClr val="0FA1AB">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dirty="0">
                  <a:latin typeface="Times New Roman" panose="02020603050405020304" pitchFamily="18" charset="0"/>
                  <a:sym typeface="Arial" panose="020B0604020202020204" pitchFamily="34" charset="0"/>
                </a:endParaRPr>
              </a:p>
            </p:txBody>
          </p:sp>
        </p:grpSp>
      </p:grpSp>
      <p:sp>
        <p:nvSpPr>
          <p:cNvPr id="36" name="文本框 35"/>
          <p:cNvSpPr txBox="1"/>
          <p:nvPr>
            <p:custDataLst>
              <p:tags r:id="rId3"/>
            </p:custDataLst>
          </p:nvPr>
        </p:nvSpPr>
        <p:spPr>
          <a:xfrm>
            <a:off x="801693" y="3684071"/>
            <a:ext cx="3236595" cy="1100455"/>
          </a:xfrm>
          <a:prstGeom prst="rect">
            <a:avLst/>
          </a:prstGeom>
          <a:noFill/>
        </p:spPr>
        <p:txBody>
          <a:bodyPr wrap="square" rtlCol="0">
            <a:normAutofit/>
          </a:bodyPr>
          <a:lstStyle/>
          <a:p>
            <a:pPr algn="just" eaLnBrk="1" hangingPunct="1">
              <a:lnSpc>
                <a:spcPct val="120000"/>
              </a:lnSpc>
              <a:spcBef>
                <a:spcPts val="0"/>
              </a:spcBef>
              <a:spcAft>
                <a:spcPts val="0"/>
              </a:spcAft>
              <a:defRPr/>
            </a:pPr>
            <a:r>
              <a:rPr lang="en-US" altLang="zh-CN" dirty="0" err="1">
                <a:sym typeface="+mn-ea"/>
              </a:rPr>
              <a:t>结构化程序设计采用</a:t>
            </a:r>
            <a:r>
              <a:rPr lang="zh-CN" altLang="en-US" dirty="0">
                <a:sym typeface="+mn-ea"/>
              </a:rPr>
              <a:t>：</a:t>
            </a:r>
            <a:endParaRPr lang="en-US" altLang="zh-CN" dirty="0">
              <a:sym typeface="+mn-ea"/>
            </a:endParaRPr>
          </a:p>
          <a:p>
            <a:pPr algn="just" eaLnBrk="1" hangingPunct="1">
              <a:lnSpc>
                <a:spcPct val="120000"/>
              </a:lnSpc>
              <a:spcBef>
                <a:spcPts val="0"/>
              </a:spcBef>
              <a:spcAft>
                <a:spcPts val="0"/>
              </a:spcAft>
              <a:defRPr/>
            </a:pPr>
            <a:r>
              <a:rPr lang="en-US" altLang="zh-CN" dirty="0" err="1">
                <a:sym typeface="+mn-ea"/>
              </a:rPr>
              <a:t>自顶向下、逐步求精的程序设计方法</a:t>
            </a:r>
            <a:r>
              <a:rPr lang="en-US" altLang="zh-CN" dirty="0">
                <a:sym typeface="+mn-ea"/>
              </a:rPr>
              <a:t>。</a:t>
            </a:r>
            <a:endParaRPr lang="en-US" altLang="zh-CN" dirty="0">
              <a:sym typeface="Arial" panose="020B0604020202020204" pitchFamily="34" charset="0"/>
            </a:endParaRPr>
          </a:p>
        </p:txBody>
      </p:sp>
      <p:sp>
        <p:nvSpPr>
          <p:cNvPr id="37" name="文本框 36"/>
          <p:cNvSpPr txBox="1"/>
          <p:nvPr>
            <p:custDataLst>
              <p:tags r:id="rId4"/>
            </p:custDataLst>
          </p:nvPr>
        </p:nvSpPr>
        <p:spPr>
          <a:xfrm>
            <a:off x="7350077" y="2402281"/>
            <a:ext cx="3658235" cy="1331595"/>
          </a:xfrm>
          <a:prstGeom prst="rect">
            <a:avLst/>
          </a:prstGeom>
          <a:noFill/>
        </p:spPr>
        <p:txBody>
          <a:bodyPr wrap="square" rtlCol="0">
            <a:normAutofit/>
          </a:bodyPr>
          <a:lstStyle/>
          <a:p>
            <a:pPr algn="just" eaLnBrk="1" hangingPunct="1">
              <a:lnSpc>
                <a:spcPct val="120000"/>
              </a:lnSpc>
              <a:spcBef>
                <a:spcPts val="0"/>
              </a:spcBef>
              <a:spcAft>
                <a:spcPts val="0"/>
              </a:spcAft>
              <a:defRPr/>
            </a:pPr>
            <a:r>
              <a:rPr lang="en-US" altLang="zh-CN" dirty="0" err="1">
                <a:sym typeface="+mn-ea"/>
              </a:rPr>
              <a:t>结构化程序设计的定义</a:t>
            </a:r>
            <a:r>
              <a:rPr lang="en-US" altLang="zh-CN" dirty="0">
                <a:sym typeface="+mn-ea"/>
              </a:rPr>
              <a:t>：</a:t>
            </a:r>
          </a:p>
          <a:p>
            <a:pPr algn="just" eaLnBrk="1" hangingPunct="1">
              <a:lnSpc>
                <a:spcPct val="120000"/>
              </a:lnSpc>
              <a:spcBef>
                <a:spcPts val="0"/>
              </a:spcBef>
              <a:spcAft>
                <a:spcPts val="0"/>
              </a:spcAft>
              <a:defRPr/>
            </a:pPr>
            <a:r>
              <a:rPr lang="en-US" altLang="zh-CN" dirty="0">
                <a:sym typeface="+mn-ea"/>
              </a:rPr>
              <a:t>只使用顺序、选择和循环3种基本控制结构来构造程序。</a:t>
            </a:r>
            <a:endParaRPr lang="en-US" altLang="zh-CN" dirty="0"/>
          </a:p>
        </p:txBody>
      </p:sp>
      <p:sp>
        <p:nvSpPr>
          <p:cNvPr id="38" name="文本框 37"/>
          <p:cNvSpPr txBox="1"/>
          <p:nvPr>
            <p:custDataLst>
              <p:tags r:id="rId5"/>
            </p:custDataLst>
          </p:nvPr>
        </p:nvSpPr>
        <p:spPr>
          <a:xfrm>
            <a:off x="4597818" y="3757492"/>
            <a:ext cx="458470" cy="584835"/>
          </a:xfrm>
          <a:prstGeom prst="rect">
            <a:avLst/>
          </a:prstGeom>
          <a:noFill/>
        </p:spPr>
        <p:txBody>
          <a:bodyPr wrap="none" rtlCol="0">
            <a:normAutofit/>
          </a:bodyPr>
          <a:lstStyle/>
          <a:p>
            <a:r>
              <a:rPr lang="en-US" altLang="zh-CN" sz="3200" dirty="0">
                <a:solidFill>
                  <a:srgbClr val="FFFFFF"/>
                </a:solidFill>
                <a:latin typeface="Times New Roman" panose="02020603050405020304" pitchFamily="18" charset="0"/>
                <a:sym typeface="Arial" panose="020B0604020202020204" pitchFamily="34" charset="0"/>
              </a:rPr>
              <a:t>2</a:t>
            </a:r>
            <a:endParaRPr lang="zh-CN" altLang="en-US" sz="3200" dirty="0">
              <a:solidFill>
                <a:srgbClr val="FFFFFF"/>
              </a:solidFill>
              <a:latin typeface="Times New Roman" panose="02020603050405020304" pitchFamily="18" charset="0"/>
              <a:sym typeface="Arial" panose="020B0604020202020204" pitchFamily="34" charset="0"/>
            </a:endParaRPr>
          </a:p>
        </p:txBody>
      </p:sp>
      <p:sp>
        <p:nvSpPr>
          <p:cNvPr id="40" name="文本框 39"/>
          <p:cNvSpPr txBox="1"/>
          <p:nvPr>
            <p:custDataLst>
              <p:tags r:id="rId6"/>
            </p:custDataLst>
          </p:nvPr>
        </p:nvSpPr>
        <p:spPr>
          <a:xfrm>
            <a:off x="5982753" y="4589342"/>
            <a:ext cx="481330" cy="584835"/>
          </a:xfrm>
          <a:prstGeom prst="rect">
            <a:avLst/>
          </a:prstGeom>
          <a:noFill/>
        </p:spPr>
        <p:txBody>
          <a:bodyPr wrap="none" rtlCol="0">
            <a:normAutofit/>
          </a:bodyPr>
          <a:lstStyle/>
          <a:p>
            <a:r>
              <a:rPr lang="en-US" altLang="zh-CN" sz="3200" dirty="0">
                <a:solidFill>
                  <a:srgbClr val="FFFFFF"/>
                </a:solidFill>
                <a:latin typeface="Times New Roman" panose="02020603050405020304" pitchFamily="18" charset="0"/>
                <a:sym typeface="Arial" panose="020B0604020202020204" pitchFamily="34" charset="0"/>
              </a:rPr>
              <a:t>3</a:t>
            </a:r>
            <a:endParaRPr lang="zh-CN" altLang="en-US" sz="3200" dirty="0">
              <a:solidFill>
                <a:srgbClr val="FFFFFF"/>
              </a:solidFill>
              <a:latin typeface="Times New Roman" panose="02020603050405020304" pitchFamily="18" charset="0"/>
              <a:sym typeface="Arial" panose="020B0604020202020204" pitchFamily="34" charset="0"/>
            </a:endParaRPr>
          </a:p>
        </p:txBody>
      </p:sp>
      <p:sp>
        <p:nvSpPr>
          <p:cNvPr id="41" name="文本框 40"/>
          <p:cNvSpPr txBox="1"/>
          <p:nvPr>
            <p:custDataLst>
              <p:tags r:id="rId7"/>
            </p:custDataLst>
          </p:nvPr>
        </p:nvSpPr>
        <p:spPr>
          <a:xfrm>
            <a:off x="5933223" y="2955487"/>
            <a:ext cx="458470" cy="584835"/>
          </a:xfrm>
          <a:prstGeom prst="rect">
            <a:avLst/>
          </a:prstGeom>
          <a:noFill/>
        </p:spPr>
        <p:txBody>
          <a:bodyPr wrap="none" rtlCol="0">
            <a:normAutofit/>
          </a:bodyPr>
          <a:lstStyle/>
          <a:p>
            <a:r>
              <a:rPr lang="en-US" altLang="zh-CN" sz="3200" dirty="0">
                <a:solidFill>
                  <a:srgbClr val="FFFFFF"/>
                </a:solidFill>
                <a:latin typeface="Times New Roman" panose="02020603050405020304" pitchFamily="18" charset="0"/>
                <a:sym typeface="Arial" panose="020B0604020202020204" pitchFamily="34" charset="0"/>
              </a:rPr>
              <a:t>1</a:t>
            </a:r>
            <a:endParaRPr lang="zh-CN" altLang="en-US" sz="3200" dirty="0">
              <a:solidFill>
                <a:srgbClr val="FFFFFF"/>
              </a:solidFill>
              <a:latin typeface="Times New Roman" panose="02020603050405020304" pitchFamily="18" charset="0"/>
              <a:sym typeface="Arial" panose="020B0604020202020204" pitchFamily="34" charset="0"/>
            </a:endParaRPr>
          </a:p>
        </p:txBody>
      </p:sp>
    </p:spTree>
  </p:cSld>
  <p:clrMapOvr>
    <a:masterClrMapping/>
  </p:clrMapOvr>
  <p:transition>
    <p:pull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6" name="文本占位符 5">
            <a:extLst>
              <a:ext uri="{FF2B5EF4-FFF2-40B4-BE49-F238E27FC236}">
                <a16:creationId xmlns:a16="http://schemas.microsoft.com/office/drawing/2014/main" id="{6255BE3C-E309-03DC-6174-8357BC0D8982}"/>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p>
        </p:txBody>
      </p:sp>
      <p:sp>
        <p:nvSpPr>
          <p:cNvPr id="38" name="文本占位符 37">
            <a:extLst>
              <a:ext uri="{FF2B5EF4-FFF2-40B4-BE49-F238E27FC236}">
                <a16:creationId xmlns:a16="http://schemas.microsoft.com/office/drawing/2014/main" id="{FC1E6E4D-DB63-E58C-59C7-A0A6857A2161}"/>
              </a:ext>
            </a:extLst>
          </p:cNvPr>
          <p:cNvSpPr>
            <a:spLocks noGrp="1"/>
          </p:cNvSpPr>
          <p:nvPr>
            <p:ph type="body" sz="quarter" idx="11"/>
          </p:nvPr>
        </p:nvSpPr>
        <p:spPr>
          <a:xfrm>
            <a:off x="6096000" y="360128"/>
            <a:ext cx="5760000" cy="400110"/>
          </a:xfrm>
        </p:spPr>
        <p:txBody>
          <a:bodyPr/>
          <a:lstStyle/>
          <a:p>
            <a:r>
              <a:rPr lang="en-US" altLang="zh-CN" dirty="0"/>
              <a:t>Structured Design</a:t>
            </a:r>
            <a:endParaRPr lang="zh-CN" altLang="en-US" dirty="0"/>
          </a:p>
        </p:txBody>
      </p:sp>
      <p:grpSp>
        <p:nvGrpSpPr>
          <p:cNvPr id="5" name="组合 4"/>
          <p:cNvGrpSpPr/>
          <p:nvPr/>
        </p:nvGrpSpPr>
        <p:grpSpPr>
          <a:xfrm>
            <a:off x="650240" y="2835158"/>
            <a:ext cx="10728960" cy="3161665"/>
            <a:chOff x="-972" y="3725"/>
            <a:chExt cx="16896" cy="4979"/>
          </a:xfrm>
        </p:grpSpPr>
        <p:sp>
          <p:nvSpPr>
            <p:cNvPr id="17" name="MH_Other_1"/>
            <p:cNvSpPr/>
            <p:nvPr>
              <p:custDataLst>
                <p:tags r:id="rId1"/>
              </p:custDataLst>
            </p:nvPr>
          </p:nvSpPr>
          <p:spPr>
            <a:xfrm>
              <a:off x="-972" y="3725"/>
              <a:ext cx="849" cy="812"/>
            </a:xfrm>
            <a:prstGeom prst="ellipse">
              <a:avLst/>
            </a:prstGeom>
            <a:solidFill>
              <a:schemeClr val="accent5">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en-US" altLang="zh-CN" sz="2000" dirty="0">
                  <a:solidFill>
                    <a:srgbClr val="FFFFFF"/>
                  </a:solidFill>
                  <a:latin typeface="Times New Roman" panose="02020603050405020304" pitchFamily="18" charset="0"/>
                  <a:cs typeface="Times New Roman" panose="02020603050405020304" pitchFamily="18" charset="0"/>
                </a:rPr>
                <a:t>1</a:t>
              </a:r>
              <a:endParaRPr lang="zh-CN" altLang="en-US" sz="2000" dirty="0">
                <a:solidFill>
                  <a:srgbClr val="FFFFFF"/>
                </a:solidFill>
                <a:latin typeface="Times New Roman" panose="02020603050405020304" pitchFamily="18" charset="0"/>
                <a:cs typeface="Times New Roman" panose="02020603050405020304" pitchFamily="18" charset="0"/>
              </a:endParaRPr>
            </a:p>
          </p:txBody>
        </p:sp>
        <p:sp>
          <p:nvSpPr>
            <p:cNvPr id="18" name="MH_Other_2"/>
            <p:cNvSpPr/>
            <p:nvPr>
              <p:custDataLst>
                <p:tags r:id="rId2"/>
              </p:custDataLst>
            </p:nvPr>
          </p:nvSpPr>
          <p:spPr>
            <a:xfrm>
              <a:off x="15179" y="7894"/>
              <a:ext cx="745" cy="810"/>
            </a:xfrm>
            <a:prstGeom prst="ellipse">
              <a:avLst/>
            </a:prstGeom>
            <a:solidFill>
              <a:schemeClr val="accent6">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en-US" altLang="zh-CN" sz="2000" dirty="0">
                  <a:solidFill>
                    <a:srgbClr val="FFFFFF"/>
                  </a:solidFill>
                  <a:latin typeface="Times New Roman" panose="02020603050405020304" pitchFamily="18" charset="0"/>
                  <a:cs typeface="Times New Roman" panose="02020603050405020304" pitchFamily="18" charset="0"/>
                </a:rPr>
                <a:t>2</a:t>
              </a:r>
              <a:endParaRPr lang="zh-CN" altLang="en-US" sz="2000" dirty="0">
                <a:solidFill>
                  <a:srgbClr val="FFFFFF"/>
                </a:solidFill>
                <a:latin typeface="Times New Roman" panose="02020603050405020304" pitchFamily="18" charset="0"/>
                <a:cs typeface="Times New Roman" panose="02020603050405020304" pitchFamily="18" charset="0"/>
              </a:endParaRPr>
            </a:p>
          </p:txBody>
        </p:sp>
        <p:sp>
          <p:nvSpPr>
            <p:cNvPr id="19" name="MH_SubTitle_1"/>
            <p:cNvSpPr/>
            <p:nvPr>
              <p:custDataLst>
                <p:tags r:id="rId3"/>
              </p:custDataLst>
            </p:nvPr>
          </p:nvSpPr>
          <p:spPr>
            <a:xfrm>
              <a:off x="5044" y="3869"/>
              <a:ext cx="3322" cy="4725"/>
            </a:xfrm>
            <a:custGeom>
              <a:avLst/>
              <a:gdLst>
                <a:gd name="connsiteX0" fmla="*/ 1265321 w 1906929"/>
                <a:gd name="connsiteY0" fmla="*/ 445512 h 2868483"/>
                <a:gd name="connsiteX1" fmla="*/ 1007156 w 1906929"/>
                <a:gd name="connsiteY1" fmla="*/ 703677 h 2868483"/>
                <a:gd name="connsiteX2" fmla="*/ 1265321 w 1906929"/>
                <a:gd name="connsiteY2" fmla="*/ 961842 h 2868483"/>
                <a:gd name="connsiteX3" fmla="*/ 1523486 w 1906929"/>
                <a:gd name="connsiteY3" fmla="*/ 703677 h 2868483"/>
                <a:gd name="connsiteX4" fmla="*/ 1265321 w 1906929"/>
                <a:gd name="connsiteY4" fmla="*/ 445512 h 2868483"/>
                <a:gd name="connsiteX5" fmla="*/ 1182626 w 1906929"/>
                <a:gd name="connsiteY5" fmla="*/ 0 h 2868483"/>
                <a:gd name="connsiteX6" fmla="*/ 1292282 w 1906929"/>
                <a:gd name="connsiteY6" fmla="*/ 10950 h 2868483"/>
                <a:gd name="connsiteX7" fmla="*/ 1364655 w 1906929"/>
                <a:gd name="connsiteY7" fmla="*/ 28471 h 2868483"/>
                <a:gd name="connsiteX8" fmla="*/ 1704587 w 1906929"/>
                <a:gd name="connsiteY8" fmla="*/ 208061 h 2868483"/>
                <a:gd name="connsiteX9" fmla="*/ 1880036 w 1906929"/>
                <a:gd name="connsiteY9" fmla="*/ 891376 h 2868483"/>
                <a:gd name="connsiteX10" fmla="*/ 1682656 w 1906929"/>
                <a:gd name="connsiteY10" fmla="*/ 1202372 h 2868483"/>
                <a:gd name="connsiteX11" fmla="*/ 1344917 w 1906929"/>
                <a:gd name="connsiteY11" fmla="*/ 1447665 h 2868483"/>
                <a:gd name="connsiteX12" fmla="*/ 1002791 w 1906929"/>
                <a:gd name="connsiteY12" fmla="*/ 1793703 h 2868483"/>
                <a:gd name="connsiteX13" fmla="*/ 926032 w 1906929"/>
                <a:gd name="connsiteY13" fmla="*/ 2054327 h 2868483"/>
                <a:gd name="connsiteX14" fmla="*/ 1276930 w 1906929"/>
                <a:gd name="connsiteY14" fmla="*/ 2744213 h 2868483"/>
                <a:gd name="connsiteX15" fmla="*/ 1432641 w 1906929"/>
                <a:gd name="connsiteY15" fmla="*/ 2818677 h 2868483"/>
                <a:gd name="connsiteX16" fmla="*/ 1594931 w 1906929"/>
                <a:gd name="connsiteY16" fmla="*/ 2853718 h 2868483"/>
                <a:gd name="connsiteX17" fmla="*/ 1597125 w 1906929"/>
                <a:gd name="connsiteY17" fmla="*/ 2858099 h 2868483"/>
                <a:gd name="connsiteX18" fmla="*/ 1149730 w 1906929"/>
                <a:gd name="connsiteY18" fmla="*/ 2836197 h 2868483"/>
                <a:gd name="connsiteX19" fmla="*/ 213270 w 1906929"/>
                <a:gd name="connsiteY19" fmla="*/ 2168213 h 2868483"/>
                <a:gd name="connsiteX20" fmla="*/ 156250 w 1906929"/>
                <a:gd name="connsiteY20" fmla="*/ 2067467 h 2868483"/>
                <a:gd name="connsiteX21" fmla="*/ 132125 w 1906929"/>
                <a:gd name="connsiteY21" fmla="*/ 803772 h 2868483"/>
                <a:gd name="connsiteX22" fmla="*/ 787866 w 1906929"/>
                <a:gd name="connsiteY22" fmla="*/ 113886 h 2868483"/>
                <a:gd name="connsiteX23" fmla="*/ 1059812 w 1906929"/>
                <a:gd name="connsiteY23" fmla="*/ 10950 h 2868483"/>
                <a:gd name="connsiteX24" fmla="*/ 1182626 w 1906929"/>
                <a:gd name="connsiteY24" fmla="*/ 0 h 2868483"/>
                <a:gd name="connsiteX0-1" fmla="*/ 1265321 w 1906929"/>
                <a:gd name="connsiteY0-2" fmla="*/ 445512 h 2868483"/>
                <a:gd name="connsiteX1-3" fmla="*/ 1007156 w 1906929"/>
                <a:gd name="connsiteY1-4" fmla="*/ 703677 h 2868483"/>
                <a:gd name="connsiteX2-5" fmla="*/ 1265321 w 1906929"/>
                <a:gd name="connsiteY2-6" fmla="*/ 961842 h 2868483"/>
                <a:gd name="connsiteX3-7" fmla="*/ 1523486 w 1906929"/>
                <a:gd name="connsiteY3-8" fmla="*/ 703677 h 2868483"/>
                <a:gd name="connsiteX4-9" fmla="*/ 1265321 w 1906929"/>
                <a:gd name="connsiteY4-10" fmla="*/ 445512 h 2868483"/>
                <a:gd name="connsiteX5-11" fmla="*/ 1182626 w 1906929"/>
                <a:gd name="connsiteY5-12" fmla="*/ 0 h 2868483"/>
                <a:gd name="connsiteX6-13" fmla="*/ 1364655 w 1906929"/>
                <a:gd name="connsiteY6-14" fmla="*/ 28471 h 2868483"/>
                <a:gd name="connsiteX7-15" fmla="*/ 1704587 w 1906929"/>
                <a:gd name="connsiteY7-16" fmla="*/ 208061 h 2868483"/>
                <a:gd name="connsiteX8-17" fmla="*/ 1880036 w 1906929"/>
                <a:gd name="connsiteY8-18" fmla="*/ 891376 h 2868483"/>
                <a:gd name="connsiteX9-19" fmla="*/ 1682656 w 1906929"/>
                <a:gd name="connsiteY9-20" fmla="*/ 1202372 h 2868483"/>
                <a:gd name="connsiteX10-21" fmla="*/ 1344917 w 1906929"/>
                <a:gd name="connsiteY10-22" fmla="*/ 1447665 h 2868483"/>
                <a:gd name="connsiteX11-23" fmla="*/ 1002791 w 1906929"/>
                <a:gd name="connsiteY11-24" fmla="*/ 1793703 h 2868483"/>
                <a:gd name="connsiteX12-25" fmla="*/ 926032 w 1906929"/>
                <a:gd name="connsiteY12-26" fmla="*/ 2054327 h 2868483"/>
                <a:gd name="connsiteX13-27" fmla="*/ 1276930 w 1906929"/>
                <a:gd name="connsiteY13-28" fmla="*/ 2744213 h 2868483"/>
                <a:gd name="connsiteX14-29" fmla="*/ 1432641 w 1906929"/>
                <a:gd name="connsiteY14-30" fmla="*/ 2818677 h 2868483"/>
                <a:gd name="connsiteX15-31" fmla="*/ 1594931 w 1906929"/>
                <a:gd name="connsiteY15-32" fmla="*/ 2853718 h 2868483"/>
                <a:gd name="connsiteX16-33" fmla="*/ 1597125 w 1906929"/>
                <a:gd name="connsiteY16-34" fmla="*/ 2858099 h 2868483"/>
                <a:gd name="connsiteX17-35" fmla="*/ 1149730 w 1906929"/>
                <a:gd name="connsiteY17-36" fmla="*/ 2836197 h 2868483"/>
                <a:gd name="connsiteX18-37" fmla="*/ 213270 w 1906929"/>
                <a:gd name="connsiteY18-38" fmla="*/ 2168213 h 2868483"/>
                <a:gd name="connsiteX19-39" fmla="*/ 156250 w 1906929"/>
                <a:gd name="connsiteY19-40" fmla="*/ 2067467 h 2868483"/>
                <a:gd name="connsiteX20-41" fmla="*/ 132125 w 1906929"/>
                <a:gd name="connsiteY20-42" fmla="*/ 803772 h 2868483"/>
                <a:gd name="connsiteX21-43" fmla="*/ 787866 w 1906929"/>
                <a:gd name="connsiteY21-44" fmla="*/ 113886 h 2868483"/>
                <a:gd name="connsiteX22-45" fmla="*/ 1059812 w 1906929"/>
                <a:gd name="connsiteY22-46" fmla="*/ 10950 h 2868483"/>
                <a:gd name="connsiteX23-47" fmla="*/ 1182626 w 1906929"/>
                <a:gd name="connsiteY23-48" fmla="*/ 0 h 2868483"/>
                <a:gd name="connsiteX0-49" fmla="*/ 1265321 w 1906929"/>
                <a:gd name="connsiteY0-50" fmla="*/ 445512 h 2868483"/>
                <a:gd name="connsiteX1-51" fmla="*/ 1007156 w 1906929"/>
                <a:gd name="connsiteY1-52" fmla="*/ 703677 h 2868483"/>
                <a:gd name="connsiteX2-53" fmla="*/ 1265321 w 1906929"/>
                <a:gd name="connsiteY2-54" fmla="*/ 961842 h 2868483"/>
                <a:gd name="connsiteX3-55" fmla="*/ 1523486 w 1906929"/>
                <a:gd name="connsiteY3-56" fmla="*/ 703677 h 2868483"/>
                <a:gd name="connsiteX4-57" fmla="*/ 1265321 w 1906929"/>
                <a:gd name="connsiteY4-58" fmla="*/ 445512 h 2868483"/>
                <a:gd name="connsiteX5-59" fmla="*/ 1182626 w 1906929"/>
                <a:gd name="connsiteY5-60" fmla="*/ 0 h 2868483"/>
                <a:gd name="connsiteX6-61" fmla="*/ 1364655 w 1906929"/>
                <a:gd name="connsiteY6-62" fmla="*/ 28471 h 2868483"/>
                <a:gd name="connsiteX7-63" fmla="*/ 1704587 w 1906929"/>
                <a:gd name="connsiteY7-64" fmla="*/ 208061 h 2868483"/>
                <a:gd name="connsiteX8-65" fmla="*/ 1880036 w 1906929"/>
                <a:gd name="connsiteY8-66" fmla="*/ 891376 h 2868483"/>
                <a:gd name="connsiteX9-67" fmla="*/ 1682656 w 1906929"/>
                <a:gd name="connsiteY9-68" fmla="*/ 1202372 h 2868483"/>
                <a:gd name="connsiteX10-69" fmla="*/ 1344917 w 1906929"/>
                <a:gd name="connsiteY10-70" fmla="*/ 1447665 h 2868483"/>
                <a:gd name="connsiteX11-71" fmla="*/ 1002791 w 1906929"/>
                <a:gd name="connsiteY11-72" fmla="*/ 1793703 h 2868483"/>
                <a:gd name="connsiteX12-73" fmla="*/ 926032 w 1906929"/>
                <a:gd name="connsiteY12-74" fmla="*/ 2054327 h 2868483"/>
                <a:gd name="connsiteX13-75" fmla="*/ 1276930 w 1906929"/>
                <a:gd name="connsiteY13-76" fmla="*/ 2744213 h 2868483"/>
                <a:gd name="connsiteX14-77" fmla="*/ 1432641 w 1906929"/>
                <a:gd name="connsiteY14-78" fmla="*/ 2818677 h 2868483"/>
                <a:gd name="connsiteX15-79" fmla="*/ 1594931 w 1906929"/>
                <a:gd name="connsiteY15-80" fmla="*/ 2853718 h 2868483"/>
                <a:gd name="connsiteX16-81" fmla="*/ 1597125 w 1906929"/>
                <a:gd name="connsiteY16-82" fmla="*/ 2858099 h 2868483"/>
                <a:gd name="connsiteX17-83" fmla="*/ 1149730 w 1906929"/>
                <a:gd name="connsiteY17-84" fmla="*/ 2836197 h 2868483"/>
                <a:gd name="connsiteX18-85" fmla="*/ 213270 w 1906929"/>
                <a:gd name="connsiteY18-86" fmla="*/ 2168213 h 2868483"/>
                <a:gd name="connsiteX19-87" fmla="*/ 156250 w 1906929"/>
                <a:gd name="connsiteY19-88" fmla="*/ 2067467 h 2868483"/>
                <a:gd name="connsiteX20-89" fmla="*/ 132125 w 1906929"/>
                <a:gd name="connsiteY20-90" fmla="*/ 803772 h 2868483"/>
                <a:gd name="connsiteX21-91" fmla="*/ 787866 w 1906929"/>
                <a:gd name="connsiteY21-92" fmla="*/ 113886 h 2868483"/>
                <a:gd name="connsiteX22-93" fmla="*/ 1059812 w 1906929"/>
                <a:gd name="connsiteY22-94" fmla="*/ 10950 h 2868483"/>
                <a:gd name="connsiteX23-95" fmla="*/ 1182626 w 1906929"/>
                <a:gd name="connsiteY23-96" fmla="*/ 0 h 2868483"/>
                <a:gd name="connsiteX0-97" fmla="*/ 1265321 w 1906929"/>
                <a:gd name="connsiteY0-98" fmla="*/ 444012 h 2866983"/>
                <a:gd name="connsiteX1-99" fmla="*/ 1007156 w 1906929"/>
                <a:gd name="connsiteY1-100" fmla="*/ 702177 h 2866983"/>
                <a:gd name="connsiteX2-101" fmla="*/ 1265321 w 1906929"/>
                <a:gd name="connsiteY2-102" fmla="*/ 960342 h 2866983"/>
                <a:gd name="connsiteX3-103" fmla="*/ 1523486 w 1906929"/>
                <a:gd name="connsiteY3-104" fmla="*/ 702177 h 2866983"/>
                <a:gd name="connsiteX4-105" fmla="*/ 1265321 w 1906929"/>
                <a:gd name="connsiteY4-106" fmla="*/ 444012 h 2866983"/>
                <a:gd name="connsiteX5-107" fmla="*/ 1059812 w 1906929"/>
                <a:gd name="connsiteY5-108" fmla="*/ 9450 h 2866983"/>
                <a:gd name="connsiteX6-109" fmla="*/ 1364655 w 1906929"/>
                <a:gd name="connsiteY6-110" fmla="*/ 26971 h 2866983"/>
                <a:gd name="connsiteX7-111" fmla="*/ 1704587 w 1906929"/>
                <a:gd name="connsiteY7-112" fmla="*/ 206561 h 2866983"/>
                <a:gd name="connsiteX8-113" fmla="*/ 1880036 w 1906929"/>
                <a:gd name="connsiteY8-114" fmla="*/ 889876 h 2866983"/>
                <a:gd name="connsiteX9-115" fmla="*/ 1682656 w 1906929"/>
                <a:gd name="connsiteY9-116" fmla="*/ 1200872 h 2866983"/>
                <a:gd name="connsiteX10-117" fmla="*/ 1344917 w 1906929"/>
                <a:gd name="connsiteY10-118" fmla="*/ 1446165 h 2866983"/>
                <a:gd name="connsiteX11-119" fmla="*/ 1002791 w 1906929"/>
                <a:gd name="connsiteY11-120" fmla="*/ 1792203 h 2866983"/>
                <a:gd name="connsiteX12-121" fmla="*/ 926032 w 1906929"/>
                <a:gd name="connsiteY12-122" fmla="*/ 2052827 h 2866983"/>
                <a:gd name="connsiteX13-123" fmla="*/ 1276930 w 1906929"/>
                <a:gd name="connsiteY13-124" fmla="*/ 2742713 h 2866983"/>
                <a:gd name="connsiteX14-125" fmla="*/ 1432641 w 1906929"/>
                <a:gd name="connsiteY14-126" fmla="*/ 2817177 h 2866983"/>
                <a:gd name="connsiteX15-127" fmla="*/ 1594931 w 1906929"/>
                <a:gd name="connsiteY15-128" fmla="*/ 2852218 h 2866983"/>
                <a:gd name="connsiteX16-129" fmla="*/ 1597125 w 1906929"/>
                <a:gd name="connsiteY16-130" fmla="*/ 2856599 h 2866983"/>
                <a:gd name="connsiteX17-131" fmla="*/ 1149730 w 1906929"/>
                <a:gd name="connsiteY17-132" fmla="*/ 2834697 h 2866983"/>
                <a:gd name="connsiteX18-133" fmla="*/ 213270 w 1906929"/>
                <a:gd name="connsiteY18-134" fmla="*/ 2166713 h 2866983"/>
                <a:gd name="connsiteX19-135" fmla="*/ 156250 w 1906929"/>
                <a:gd name="connsiteY19-136" fmla="*/ 2065967 h 2866983"/>
                <a:gd name="connsiteX20-137" fmla="*/ 132125 w 1906929"/>
                <a:gd name="connsiteY20-138" fmla="*/ 802272 h 2866983"/>
                <a:gd name="connsiteX21-139" fmla="*/ 787866 w 1906929"/>
                <a:gd name="connsiteY21-140" fmla="*/ 112386 h 2866983"/>
                <a:gd name="connsiteX22-141" fmla="*/ 1059812 w 1906929"/>
                <a:gd name="connsiteY22-142" fmla="*/ 9450 h 2866983"/>
                <a:gd name="connsiteX0-143" fmla="*/ 1265321 w 1906929"/>
                <a:gd name="connsiteY0-144" fmla="*/ 431003 h 2853974"/>
                <a:gd name="connsiteX1-145" fmla="*/ 1007156 w 1906929"/>
                <a:gd name="connsiteY1-146" fmla="*/ 689168 h 2853974"/>
                <a:gd name="connsiteX2-147" fmla="*/ 1265321 w 1906929"/>
                <a:gd name="connsiteY2-148" fmla="*/ 947333 h 2853974"/>
                <a:gd name="connsiteX3-149" fmla="*/ 1523486 w 1906929"/>
                <a:gd name="connsiteY3-150" fmla="*/ 689168 h 2853974"/>
                <a:gd name="connsiteX4-151" fmla="*/ 1265321 w 1906929"/>
                <a:gd name="connsiteY4-152" fmla="*/ 431003 h 2853974"/>
                <a:gd name="connsiteX5-153" fmla="*/ 787866 w 1906929"/>
                <a:gd name="connsiteY5-154" fmla="*/ 99377 h 2853974"/>
                <a:gd name="connsiteX6-155" fmla="*/ 1364655 w 1906929"/>
                <a:gd name="connsiteY6-156" fmla="*/ 13962 h 2853974"/>
                <a:gd name="connsiteX7-157" fmla="*/ 1704587 w 1906929"/>
                <a:gd name="connsiteY7-158" fmla="*/ 193552 h 2853974"/>
                <a:gd name="connsiteX8-159" fmla="*/ 1880036 w 1906929"/>
                <a:gd name="connsiteY8-160" fmla="*/ 876867 h 2853974"/>
                <a:gd name="connsiteX9-161" fmla="*/ 1682656 w 1906929"/>
                <a:gd name="connsiteY9-162" fmla="*/ 1187863 h 2853974"/>
                <a:gd name="connsiteX10-163" fmla="*/ 1344917 w 1906929"/>
                <a:gd name="connsiteY10-164" fmla="*/ 1433156 h 2853974"/>
                <a:gd name="connsiteX11-165" fmla="*/ 1002791 w 1906929"/>
                <a:gd name="connsiteY11-166" fmla="*/ 1779194 h 2853974"/>
                <a:gd name="connsiteX12-167" fmla="*/ 926032 w 1906929"/>
                <a:gd name="connsiteY12-168" fmla="*/ 2039818 h 2853974"/>
                <a:gd name="connsiteX13-169" fmla="*/ 1276930 w 1906929"/>
                <a:gd name="connsiteY13-170" fmla="*/ 2729704 h 2853974"/>
                <a:gd name="connsiteX14-171" fmla="*/ 1432641 w 1906929"/>
                <a:gd name="connsiteY14-172" fmla="*/ 2804168 h 2853974"/>
                <a:gd name="connsiteX15-173" fmla="*/ 1594931 w 1906929"/>
                <a:gd name="connsiteY15-174" fmla="*/ 2839209 h 2853974"/>
                <a:gd name="connsiteX16-175" fmla="*/ 1597125 w 1906929"/>
                <a:gd name="connsiteY16-176" fmla="*/ 2843590 h 2853974"/>
                <a:gd name="connsiteX17-177" fmla="*/ 1149730 w 1906929"/>
                <a:gd name="connsiteY17-178" fmla="*/ 2821688 h 2853974"/>
                <a:gd name="connsiteX18-179" fmla="*/ 213270 w 1906929"/>
                <a:gd name="connsiteY18-180" fmla="*/ 2153704 h 2853974"/>
                <a:gd name="connsiteX19-181" fmla="*/ 156250 w 1906929"/>
                <a:gd name="connsiteY19-182" fmla="*/ 2052958 h 2853974"/>
                <a:gd name="connsiteX20-183" fmla="*/ 132125 w 1906929"/>
                <a:gd name="connsiteY20-184" fmla="*/ 789263 h 2853974"/>
                <a:gd name="connsiteX21-185" fmla="*/ 787866 w 1906929"/>
                <a:gd name="connsiteY21-186" fmla="*/ 99377 h 2853974"/>
                <a:gd name="connsiteX0-187" fmla="*/ 1265321 w 1906929"/>
                <a:gd name="connsiteY0-188" fmla="*/ 432757 h 2855728"/>
                <a:gd name="connsiteX1-189" fmla="*/ 1007156 w 1906929"/>
                <a:gd name="connsiteY1-190" fmla="*/ 690922 h 2855728"/>
                <a:gd name="connsiteX2-191" fmla="*/ 1265321 w 1906929"/>
                <a:gd name="connsiteY2-192" fmla="*/ 949087 h 2855728"/>
                <a:gd name="connsiteX3-193" fmla="*/ 1523486 w 1906929"/>
                <a:gd name="connsiteY3-194" fmla="*/ 690922 h 2855728"/>
                <a:gd name="connsiteX4-195" fmla="*/ 1265321 w 1906929"/>
                <a:gd name="connsiteY4-196" fmla="*/ 432757 h 2855728"/>
                <a:gd name="connsiteX5-197" fmla="*/ 787866 w 1906929"/>
                <a:gd name="connsiteY5-198" fmla="*/ 101131 h 2855728"/>
                <a:gd name="connsiteX6-199" fmla="*/ 1364655 w 1906929"/>
                <a:gd name="connsiteY6-200" fmla="*/ 15716 h 2855728"/>
                <a:gd name="connsiteX7-201" fmla="*/ 1704587 w 1906929"/>
                <a:gd name="connsiteY7-202" fmla="*/ 195306 h 2855728"/>
                <a:gd name="connsiteX8-203" fmla="*/ 1880036 w 1906929"/>
                <a:gd name="connsiteY8-204" fmla="*/ 878621 h 2855728"/>
                <a:gd name="connsiteX9-205" fmla="*/ 1682656 w 1906929"/>
                <a:gd name="connsiteY9-206" fmla="*/ 1189617 h 2855728"/>
                <a:gd name="connsiteX10-207" fmla="*/ 1344917 w 1906929"/>
                <a:gd name="connsiteY10-208" fmla="*/ 1434910 h 2855728"/>
                <a:gd name="connsiteX11-209" fmla="*/ 1002791 w 1906929"/>
                <a:gd name="connsiteY11-210" fmla="*/ 1780948 h 2855728"/>
                <a:gd name="connsiteX12-211" fmla="*/ 926032 w 1906929"/>
                <a:gd name="connsiteY12-212" fmla="*/ 2041572 h 2855728"/>
                <a:gd name="connsiteX13-213" fmla="*/ 1276930 w 1906929"/>
                <a:gd name="connsiteY13-214" fmla="*/ 2731458 h 2855728"/>
                <a:gd name="connsiteX14-215" fmla="*/ 1432641 w 1906929"/>
                <a:gd name="connsiteY14-216" fmla="*/ 2805922 h 2855728"/>
                <a:gd name="connsiteX15-217" fmla="*/ 1594931 w 1906929"/>
                <a:gd name="connsiteY15-218" fmla="*/ 2840963 h 2855728"/>
                <a:gd name="connsiteX16-219" fmla="*/ 1597125 w 1906929"/>
                <a:gd name="connsiteY16-220" fmla="*/ 2845344 h 2855728"/>
                <a:gd name="connsiteX17-221" fmla="*/ 1149730 w 1906929"/>
                <a:gd name="connsiteY17-222" fmla="*/ 2823442 h 2855728"/>
                <a:gd name="connsiteX18-223" fmla="*/ 213270 w 1906929"/>
                <a:gd name="connsiteY18-224" fmla="*/ 2155458 h 2855728"/>
                <a:gd name="connsiteX19-225" fmla="*/ 156250 w 1906929"/>
                <a:gd name="connsiteY19-226" fmla="*/ 2054712 h 2855728"/>
                <a:gd name="connsiteX20-227" fmla="*/ 132125 w 1906929"/>
                <a:gd name="connsiteY20-228" fmla="*/ 791017 h 2855728"/>
                <a:gd name="connsiteX21-229" fmla="*/ 787866 w 1906929"/>
                <a:gd name="connsiteY21-230" fmla="*/ 101131 h 285572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21" y="connsiteY10-22"/>
                </a:cxn>
                <a:cxn ang="0">
                  <a:pos x="connsiteX11-23" y="connsiteY11-24"/>
                </a:cxn>
                <a:cxn ang="0">
                  <a:pos x="connsiteX12-25" y="connsiteY12-26"/>
                </a:cxn>
                <a:cxn ang="0">
                  <a:pos x="connsiteX13-27" y="connsiteY13-28"/>
                </a:cxn>
                <a:cxn ang="0">
                  <a:pos x="connsiteX14-29" y="connsiteY14-30"/>
                </a:cxn>
                <a:cxn ang="0">
                  <a:pos x="connsiteX15-31" y="connsiteY15-32"/>
                </a:cxn>
                <a:cxn ang="0">
                  <a:pos x="connsiteX16-33" y="connsiteY16-34"/>
                </a:cxn>
                <a:cxn ang="0">
                  <a:pos x="connsiteX17-35" y="connsiteY17-36"/>
                </a:cxn>
                <a:cxn ang="0">
                  <a:pos x="connsiteX18-37" y="connsiteY18-38"/>
                </a:cxn>
                <a:cxn ang="0">
                  <a:pos x="connsiteX19-39" y="connsiteY19-40"/>
                </a:cxn>
                <a:cxn ang="0">
                  <a:pos x="connsiteX20-41" y="connsiteY20-42"/>
                </a:cxn>
                <a:cxn ang="0">
                  <a:pos x="connsiteX21-43" y="connsiteY21-44"/>
                </a:cxn>
              </a:cxnLst>
              <a:rect l="l" t="t" r="r" b="b"/>
              <a:pathLst>
                <a:path w="1906929" h="2855728">
                  <a:moveTo>
                    <a:pt x="1265321" y="432757"/>
                  </a:moveTo>
                  <a:cubicBezTo>
                    <a:pt x="1122740" y="432757"/>
                    <a:pt x="1007156" y="548341"/>
                    <a:pt x="1007156" y="690922"/>
                  </a:cubicBezTo>
                  <a:cubicBezTo>
                    <a:pt x="1007156" y="833503"/>
                    <a:pt x="1122740" y="949087"/>
                    <a:pt x="1265321" y="949087"/>
                  </a:cubicBezTo>
                  <a:cubicBezTo>
                    <a:pt x="1407902" y="949087"/>
                    <a:pt x="1523486" y="833503"/>
                    <a:pt x="1523486" y="690922"/>
                  </a:cubicBezTo>
                  <a:cubicBezTo>
                    <a:pt x="1523486" y="548341"/>
                    <a:pt x="1407902" y="432757"/>
                    <a:pt x="1265321" y="432757"/>
                  </a:cubicBezTo>
                  <a:close/>
                  <a:moveTo>
                    <a:pt x="787866" y="101131"/>
                  </a:moveTo>
                  <a:cubicBezTo>
                    <a:pt x="993288" y="-28086"/>
                    <a:pt x="1237455" y="-3995"/>
                    <a:pt x="1364655" y="15716"/>
                  </a:cubicBezTo>
                  <a:cubicBezTo>
                    <a:pt x="1491855" y="35427"/>
                    <a:pt x="1608090" y="103321"/>
                    <a:pt x="1704587" y="195306"/>
                  </a:cubicBezTo>
                  <a:cubicBezTo>
                    <a:pt x="1880036" y="374895"/>
                    <a:pt x="1950216" y="644279"/>
                    <a:pt x="1880036" y="878621"/>
                  </a:cubicBezTo>
                  <a:cubicBezTo>
                    <a:pt x="1844946" y="994697"/>
                    <a:pt x="1774767" y="1106393"/>
                    <a:pt x="1682656" y="1189617"/>
                  </a:cubicBezTo>
                  <a:cubicBezTo>
                    <a:pt x="1568614" y="1268462"/>
                    <a:pt x="1454572" y="1342925"/>
                    <a:pt x="1344917" y="1434910"/>
                  </a:cubicBezTo>
                  <a:cubicBezTo>
                    <a:pt x="1213330" y="1529085"/>
                    <a:pt x="1066391" y="1629830"/>
                    <a:pt x="1002791" y="1780948"/>
                  </a:cubicBezTo>
                  <a:cubicBezTo>
                    <a:pt x="952350" y="1857602"/>
                    <a:pt x="943577" y="1949587"/>
                    <a:pt x="926032" y="2041572"/>
                  </a:cubicBezTo>
                  <a:cubicBezTo>
                    <a:pt x="897522" y="2310956"/>
                    <a:pt x="1031302" y="2589100"/>
                    <a:pt x="1276930" y="2731458"/>
                  </a:cubicBezTo>
                  <a:cubicBezTo>
                    <a:pt x="1325179" y="2764309"/>
                    <a:pt x="1382200" y="2779640"/>
                    <a:pt x="1432641" y="2805922"/>
                  </a:cubicBezTo>
                  <a:cubicBezTo>
                    <a:pt x="1489662" y="2816872"/>
                    <a:pt x="1540104" y="2840963"/>
                    <a:pt x="1594931" y="2840963"/>
                  </a:cubicBezTo>
                  <a:cubicBezTo>
                    <a:pt x="1599318" y="2843153"/>
                    <a:pt x="1592738" y="2843153"/>
                    <a:pt x="1597125" y="2845344"/>
                  </a:cubicBezTo>
                  <a:cubicBezTo>
                    <a:pt x="1463345" y="2867245"/>
                    <a:pt x="1290089" y="2851914"/>
                    <a:pt x="1149730" y="2823442"/>
                  </a:cubicBezTo>
                  <a:cubicBezTo>
                    <a:pt x="772514" y="2744598"/>
                    <a:pt x="412844" y="2492735"/>
                    <a:pt x="213270" y="2155458"/>
                  </a:cubicBezTo>
                  <a:lnTo>
                    <a:pt x="156250" y="2054712"/>
                  </a:lnTo>
                  <a:cubicBezTo>
                    <a:pt x="-43324" y="1680203"/>
                    <a:pt x="-52096" y="1165526"/>
                    <a:pt x="132125" y="791017"/>
                  </a:cubicBezTo>
                  <a:cubicBezTo>
                    <a:pt x="252746" y="506302"/>
                    <a:pt x="507148" y="234728"/>
                    <a:pt x="787866" y="101131"/>
                  </a:cubicBezTo>
                  <a:close/>
                </a:path>
              </a:pathLst>
            </a:custGeom>
            <a:solidFill>
              <a:schemeClr val="accent5">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bIns="108000" anchor="ctr">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l">
                <a:defRPr/>
              </a:pPr>
              <a:r>
                <a:rPr lang="zh-CN" altLang="en-US" dirty="0">
                  <a:solidFill>
                    <a:schemeClr val="tx1"/>
                  </a:solidFill>
                  <a:latin typeface="微软雅黑" panose="020B0503020204020204" charset="-122"/>
                  <a:ea typeface="微软雅黑" panose="020B0503020204020204" charset="-122"/>
                </a:rPr>
                <a:t>面向机器</a:t>
              </a:r>
            </a:p>
            <a:p>
              <a:pPr algn="l">
                <a:defRPr/>
              </a:pPr>
              <a:r>
                <a:rPr lang="zh-CN" altLang="en-US" dirty="0">
                  <a:solidFill>
                    <a:schemeClr val="tx1"/>
                  </a:solidFill>
                  <a:latin typeface="微软雅黑" panose="020B0503020204020204" charset="-122"/>
                  <a:ea typeface="微软雅黑" panose="020B0503020204020204" charset="-122"/>
                </a:rPr>
                <a:t>语言</a:t>
              </a:r>
            </a:p>
          </p:txBody>
        </p:sp>
        <p:sp>
          <p:nvSpPr>
            <p:cNvPr id="20" name="MH_SubTitle_2"/>
            <p:cNvSpPr/>
            <p:nvPr>
              <p:custDataLst>
                <p:tags r:id="rId4"/>
              </p:custDataLst>
            </p:nvPr>
          </p:nvSpPr>
          <p:spPr>
            <a:xfrm>
              <a:off x="6998" y="3869"/>
              <a:ext cx="3319" cy="4725"/>
            </a:xfrm>
            <a:custGeom>
              <a:avLst/>
              <a:gdLst>
                <a:gd name="connsiteX0" fmla="*/ 641609 w 1906929"/>
                <a:gd name="connsiteY0" fmla="*/ 1906640 h 2855727"/>
                <a:gd name="connsiteX1" fmla="*/ 383444 w 1906929"/>
                <a:gd name="connsiteY1" fmla="*/ 2164805 h 2855727"/>
                <a:gd name="connsiteX2" fmla="*/ 641609 w 1906929"/>
                <a:gd name="connsiteY2" fmla="*/ 2422970 h 2855727"/>
                <a:gd name="connsiteX3" fmla="*/ 899774 w 1906929"/>
                <a:gd name="connsiteY3" fmla="*/ 2164805 h 2855727"/>
                <a:gd name="connsiteX4" fmla="*/ 641609 w 1906929"/>
                <a:gd name="connsiteY4" fmla="*/ 1906640 h 2855727"/>
                <a:gd name="connsiteX5" fmla="*/ 416411 w 1906929"/>
                <a:gd name="connsiteY5" fmla="*/ 562 h 2855727"/>
                <a:gd name="connsiteX6" fmla="*/ 757200 w 1906929"/>
                <a:gd name="connsiteY6" fmla="*/ 32285 h 2855727"/>
                <a:gd name="connsiteX7" fmla="*/ 1693660 w 1906929"/>
                <a:gd name="connsiteY7" fmla="*/ 700269 h 2855727"/>
                <a:gd name="connsiteX8" fmla="*/ 1750680 w 1906929"/>
                <a:gd name="connsiteY8" fmla="*/ 801015 h 2855727"/>
                <a:gd name="connsiteX9" fmla="*/ 1774805 w 1906929"/>
                <a:gd name="connsiteY9" fmla="*/ 2064710 h 2855727"/>
                <a:gd name="connsiteX10" fmla="*/ 1119064 w 1906929"/>
                <a:gd name="connsiteY10" fmla="*/ 2754596 h 2855727"/>
                <a:gd name="connsiteX11" fmla="*/ 542275 w 1906929"/>
                <a:gd name="connsiteY11" fmla="*/ 2840011 h 2855727"/>
                <a:gd name="connsiteX12" fmla="*/ 202343 w 1906929"/>
                <a:gd name="connsiteY12" fmla="*/ 2660421 h 2855727"/>
                <a:gd name="connsiteX13" fmla="*/ 26894 w 1906929"/>
                <a:gd name="connsiteY13" fmla="*/ 1977106 h 2855727"/>
                <a:gd name="connsiteX14" fmla="*/ 224274 w 1906929"/>
                <a:gd name="connsiteY14" fmla="*/ 1666110 h 2855727"/>
                <a:gd name="connsiteX15" fmla="*/ 562013 w 1906929"/>
                <a:gd name="connsiteY15" fmla="*/ 1420817 h 2855727"/>
                <a:gd name="connsiteX16" fmla="*/ 904139 w 1906929"/>
                <a:gd name="connsiteY16" fmla="*/ 1074779 h 2855727"/>
                <a:gd name="connsiteX17" fmla="*/ 980898 w 1906929"/>
                <a:gd name="connsiteY17" fmla="*/ 814155 h 2855727"/>
                <a:gd name="connsiteX18" fmla="*/ 630000 w 1906929"/>
                <a:gd name="connsiteY18" fmla="*/ 124269 h 2855727"/>
                <a:gd name="connsiteX19" fmla="*/ 474289 w 1906929"/>
                <a:gd name="connsiteY19" fmla="*/ 49805 h 2855727"/>
                <a:gd name="connsiteX20" fmla="*/ 311999 w 1906929"/>
                <a:gd name="connsiteY20" fmla="*/ 14764 h 2855727"/>
                <a:gd name="connsiteX21" fmla="*/ 309805 w 1906929"/>
                <a:gd name="connsiteY21" fmla="*/ 10383 h 2855727"/>
                <a:gd name="connsiteX22" fmla="*/ 416411 w 1906929"/>
                <a:gd name="connsiteY22" fmla="*/ 562 h 2855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6929" h="2855727">
                  <a:moveTo>
                    <a:pt x="641609" y="1906640"/>
                  </a:moveTo>
                  <a:cubicBezTo>
                    <a:pt x="499028" y="1906640"/>
                    <a:pt x="383444" y="2022224"/>
                    <a:pt x="383444" y="2164805"/>
                  </a:cubicBezTo>
                  <a:cubicBezTo>
                    <a:pt x="383444" y="2307386"/>
                    <a:pt x="499028" y="2422970"/>
                    <a:pt x="641609" y="2422970"/>
                  </a:cubicBezTo>
                  <a:cubicBezTo>
                    <a:pt x="784190" y="2422970"/>
                    <a:pt x="899774" y="2307386"/>
                    <a:pt x="899774" y="2164805"/>
                  </a:cubicBezTo>
                  <a:cubicBezTo>
                    <a:pt x="899774" y="2022224"/>
                    <a:pt x="784190" y="1906640"/>
                    <a:pt x="641609" y="1906640"/>
                  </a:cubicBezTo>
                  <a:close/>
                  <a:moveTo>
                    <a:pt x="416411" y="562"/>
                  </a:moveTo>
                  <a:cubicBezTo>
                    <a:pt x="528157" y="-3031"/>
                    <a:pt x="651931" y="10931"/>
                    <a:pt x="757200" y="32285"/>
                  </a:cubicBezTo>
                  <a:cubicBezTo>
                    <a:pt x="1134416" y="111129"/>
                    <a:pt x="1494086" y="362992"/>
                    <a:pt x="1693660" y="700269"/>
                  </a:cubicBezTo>
                  <a:lnTo>
                    <a:pt x="1750680" y="801015"/>
                  </a:lnTo>
                  <a:cubicBezTo>
                    <a:pt x="1950254" y="1175524"/>
                    <a:pt x="1959026" y="1690201"/>
                    <a:pt x="1774805" y="2064710"/>
                  </a:cubicBezTo>
                  <a:cubicBezTo>
                    <a:pt x="1654184" y="2349425"/>
                    <a:pt x="1399782" y="2620999"/>
                    <a:pt x="1119064" y="2754596"/>
                  </a:cubicBezTo>
                  <a:cubicBezTo>
                    <a:pt x="913642" y="2883813"/>
                    <a:pt x="669475" y="2859722"/>
                    <a:pt x="542275" y="2840011"/>
                  </a:cubicBezTo>
                  <a:cubicBezTo>
                    <a:pt x="415075" y="2820300"/>
                    <a:pt x="298840" y="2752406"/>
                    <a:pt x="202343" y="2660421"/>
                  </a:cubicBezTo>
                  <a:cubicBezTo>
                    <a:pt x="26894" y="2480832"/>
                    <a:pt x="-43286" y="2211448"/>
                    <a:pt x="26894" y="1977106"/>
                  </a:cubicBezTo>
                  <a:cubicBezTo>
                    <a:pt x="61984" y="1861030"/>
                    <a:pt x="132163" y="1749334"/>
                    <a:pt x="224274" y="1666110"/>
                  </a:cubicBezTo>
                  <a:cubicBezTo>
                    <a:pt x="338316" y="1587265"/>
                    <a:pt x="452358" y="1512802"/>
                    <a:pt x="562013" y="1420817"/>
                  </a:cubicBezTo>
                  <a:cubicBezTo>
                    <a:pt x="693600" y="1326642"/>
                    <a:pt x="840539" y="1225897"/>
                    <a:pt x="904139" y="1074779"/>
                  </a:cubicBezTo>
                  <a:cubicBezTo>
                    <a:pt x="954580" y="998125"/>
                    <a:pt x="963353" y="906140"/>
                    <a:pt x="980898" y="814155"/>
                  </a:cubicBezTo>
                  <a:cubicBezTo>
                    <a:pt x="1009408" y="544771"/>
                    <a:pt x="875628" y="266627"/>
                    <a:pt x="630000" y="124269"/>
                  </a:cubicBezTo>
                  <a:cubicBezTo>
                    <a:pt x="581751" y="91418"/>
                    <a:pt x="524730" y="76087"/>
                    <a:pt x="474289" y="49805"/>
                  </a:cubicBezTo>
                  <a:cubicBezTo>
                    <a:pt x="417268" y="38855"/>
                    <a:pt x="366826" y="14764"/>
                    <a:pt x="311999" y="14764"/>
                  </a:cubicBezTo>
                  <a:cubicBezTo>
                    <a:pt x="307612" y="12574"/>
                    <a:pt x="314192" y="12574"/>
                    <a:pt x="309805" y="10383"/>
                  </a:cubicBezTo>
                  <a:cubicBezTo>
                    <a:pt x="343250" y="4908"/>
                    <a:pt x="379163" y="1759"/>
                    <a:pt x="416411" y="562"/>
                  </a:cubicBezTo>
                  <a:close/>
                </a:path>
              </a:pathLst>
            </a:custGeom>
            <a:solidFill>
              <a:schemeClr val="accent6">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Ins="180000" bIns="0" anchor="ctr">
              <a:normAutofit/>
            </a:bodyPr>
            <a:lstStyle/>
            <a:p>
              <a:pPr algn="r" eaLnBrk="1" hangingPunct="1">
                <a:defRPr/>
              </a:pPr>
              <a:r>
                <a:rPr lang="zh-CN" altLang="en-US" dirty="0">
                  <a:solidFill>
                    <a:schemeClr val="tx1"/>
                  </a:solidFill>
                  <a:latin typeface="微软雅黑" panose="020B0503020204020204" charset="-122"/>
                  <a:ea typeface="微软雅黑" panose="020B0503020204020204" charset="-122"/>
                </a:rPr>
                <a:t>高级程序</a:t>
              </a:r>
            </a:p>
            <a:p>
              <a:pPr algn="r" eaLnBrk="1" hangingPunct="1">
                <a:defRPr/>
              </a:pPr>
              <a:r>
                <a:rPr lang="zh-CN" altLang="en-US" dirty="0">
                  <a:solidFill>
                    <a:schemeClr val="tx1"/>
                  </a:solidFill>
                  <a:latin typeface="微软雅黑" panose="020B0503020204020204" charset="-122"/>
                  <a:ea typeface="微软雅黑" panose="020B0503020204020204" charset="-122"/>
                </a:rPr>
                <a:t>设计语言</a:t>
              </a:r>
            </a:p>
          </p:txBody>
        </p:sp>
        <p:sp>
          <p:nvSpPr>
            <p:cNvPr id="23" name="MH_Text_1"/>
            <p:cNvSpPr>
              <a:spLocks noChangeArrowheads="1"/>
            </p:cNvSpPr>
            <p:nvPr>
              <p:custDataLst>
                <p:tags r:id="rId5"/>
              </p:custDataLst>
            </p:nvPr>
          </p:nvSpPr>
          <p:spPr bwMode="auto">
            <a:xfrm>
              <a:off x="2105" y="4129"/>
              <a:ext cx="3263" cy="1325"/>
            </a:xfrm>
            <a:prstGeom prst="rect">
              <a:avLst/>
            </a:prstGeom>
            <a:noFill/>
            <a:ln w="9525">
              <a:noFill/>
              <a:miter lim="800000"/>
            </a:ln>
          </p:spPr>
          <p:txBody>
            <a:bodyPr/>
            <a:lstStyle/>
            <a:p>
              <a:pPr>
                <a:lnSpc>
                  <a:spcPct val="130000"/>
                </a:lnSpc>
              </a:pPr>
              <a:endParaRPr lang="zh-CN" altLang="en-US" dirty="0">
                <a:latin typeface="微软雅黑" panose="020B0503020204020204" charset="-122"/>
                <a:ea typeface="微软雅黑" panose="020B0503020204020204" charset="-122"/>
              </a:endParaRPr>
            </a:p>
          </p:txBody>
        </p:sp>
        <p:sp>
          <p:nvSpPr>
            <p:cNvPr id="24" name="MH_Text_2"/>
            <p:cNvSpPr>
              <a:spLocks noChangeArrowheads="1"/>
            </p:cNvSpPr>
            <p:nvPr>
              <p:custDataLst>
                <p:tags r:id="rId6"/>
              </p:custDataLst>
            </p:nvPr>
          </p:nvSpPr>
          <p:spPr bwMode="auto">
            <a:xfrm>
              <a:off x="10317" y="6579"/>
              <a:ext cx="5326" cy="1600"/>
            </a:xfrm>
            <a:prstGeom prst="rect">
              <a:avLst/>
            </a:prstGeom>
            <a:noFill/>
            <a:ln w="9525">
              <a:noFill/>
              <a:miter lim="800000"/>
            </a:ln>
          </p:spPr>
          <p:txBody>
            <a:bodyPr anchor="b"/>
            <a:lstStyle/>
            <a:p>
              <a:pPr fontAlgn="auto">
                <a:lnSpc>
                  <a:spcPct val="120000"/>
                </a:lnSpc>
              </a:pPr>
              <a:r>
                <a:rPr lang="en-US" altLang="zh-CN" dirty="0">
                  <a:latin typeface="微软雅黑" panose="020B0503020204020204" charset="-122"/>
                  <a:ea typeface="微软雅黑" panose="020B0503020204020204" charset="-122"/>
                </a:rPr>
                <a:t>       </a:t>
              </a:r>
              <a:endParaRPr lang="zh-CN" altLang="en-US" dirty="0">
                <a:latin typeface="微软雅黑" panose="020B0503020204020204" charset="-122"/>
                <a:ea typeface="微软雅黑" panose="020B0503020204020204" charset="-122"/>
              </a:endParaRPr>
            </a:p>
          </p:txBody>
        </p:sp>
        <p:sp>
          <p:nvSpPr>
            <p:cNvPr id="26" name="任意多边形 25"/>
            <p:cNvSpPr/>
            <p:nvPr/>
          </p:nvSpPr>
          <p:spPr>
            <a:xfrm>
              <a:off x="-123" y="4162"/>
              <a:ext cx="7403" cy="842"/>
            </a:xfrm>
            <a:custGeom>
              <a:avLst/>
              <a:gdLst>
                <a:gd name="connsiteX0" fmla="*/ 3336967 w 3336967"/>
                <a:gd name="connsiteY0" fmla="*/ 534390 h 534390"/>
                <a:gd name="connsiteX1" fmla="*/ 2315689 w 3336967"/>
                <a:gd name="connsiteY1" fmla="*/ 0 h 534390"/>
                <a:gd name="connsiteX2" fmla="*/ 0 w 3336967"/>
                <a:gd name="connsiteY2" fmla="*/ 0 h 534390"/>
              </a:gdLst>
              <a:ahLst/>
              <a:cxnLst>
                <a:cxn ang="0">
                  <a:pos x="connsiteX0" y="connsiteY0"/>
                </a:cxn>
                <a:cxn ang="0">
                  <a:pos x="connsiteX1" y="connsiteY1"/>
                </a:cxn>
                <a:cxn ang="0">
                  <a:pos x="connsiteX2" y="connsiteY2"/>
                </a:cxn>
              </a:cxnLst>
              <a:rect l="l" t="t" r="r" b="b"/>
              <a:pathLst>
                <a:path w="3336967" h="534390">
                  <a:moveTo>
                    <a:pt x="3336967" y="534390"/>
                  </a:moveTo>
                  <a:lnTo>
                    <a:pt x="2315689" y="0"/>
                  </a:lnTo>
                  <a:lnTo>
                    <a:pt x="0" y="0"/>
                  </a:lnTo>
                </a:path>
              </a:pathLst>
            </a:custGeom>
            <a:ln w="28575">
              <a:solidFill>
                <a:schemeClr val="accent5">
                  <a:lumMod val="75000"/>
                </a:schemeClr>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panose="020B0503020204020204" charset="-122"/>
                <a:ea typeface="微软雅黑" panose="020B0503020204020204" charset="-122"/>
                <a:sym typeface="+mn-ea"/>
              </a:endParaRPr>
            </a:p>
          </p:txBody>
        </p:sp>
        <p:sp>
          <p:nvSpPr>
            <p:cNvPr id="27" name="任意多边形 26"/>
            <p:cNvSpPr/>
            <p:nvPr/>
          </p:nvSpPr>
          <p:spPr>
            <a:xfrm flipH="1" flipV="1">
              <a:off x="8067" y="7425"/>
              <a:ext cx="7112" cy="842"/>
            </a:xfrm>
            <a:custGeom>
              <a:avLst/>
              <a:gdLst>
                <a:gd name="connsiteX0" fmla="*/ 3336967 w 3336967"/>
                <a:gd name="connsiteY0" fmla="*/ 534390 h 534390"/>
                <a:gd name="connsiteX1" fmla="*/ 2315689 w 3336967"/>
                <a:gd name="connsiteY1" fmla="*/ 0 h 534390"/>
                <a:gd name="connsiteX2" fmla="*/ 0 w 3336967"/>
                <a:gd name="connsiteY2" fmla="*/ 0 h 534390"/>
              </a:gdLst>
              <a:ahLst/>
              <a:cxnLst>
                <a:cxn ang="0">
                  <a:pos x="connsiteX0" y="connsiteY0"/>
                </a:cxn>
                <a:cxn ang="0">
                  <a:pos x="connsiteX1" y="connsiteY1"/>
                </a:cxn>
                <a:cxn ang="0">
                  <a:pos x="connsiteX2" y="connsiteY2"/>
                </a:cxn>
              </a:cxnLst>
              <a:rect l="l" t="t" r="r" b="b"/>
              <a:pathLst>
                <a:path w="3336967" h="534390">
                  <a:moveTo>
                    <a:pt x="3336967" y="534390"/>
                  </a:moveTo>
                  <a:lnTo>
                    <a:pt x="2315689" y="0"/>
                  </a:lnTo>
                  <a:lnTo>
                    <a:pt x="0" y="0"/>
                  </a:lnTo>
                </a:path>
              </a:pathLst>
            </a:custGeom>
            <a:ln w="28575">
              <a:solidFill>
                <a:schemeClr val="accent6">
                  <a:lumMod val="75000"/>
                </a:schemeClr>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Times New Roman" panose="02020603050405020304" pitchFamily="18" charset="0"/>
              </a:endParaRPr>
            </a:p>
          </p:txBody>
        </p:sp>
        <p:sp>
          <p:nvSpPr>
            <p:cNvPr id="30" name="TextBox 29"/>
            <p:cNvSpPr txBox="1"/>
            <p:nvPr/>
          </p:nvSpPr>
          <p:spPr>
            <a:xfrm>
              <a:off x="7461" y="4928"/>
              <a:ext cx="905" cy="3339"/>
            </a:xfrm>
            <a:prstGeom prst="rect">
              <a:avLst/>
            </a:prstGeom>
            <a:noFill/>
          </p:spPr>
          <p:txBody>
            <a:bodyPr vert="eaVert" wrap="square" rtlCol="0">
              <a:spAutoFit/>
            </a:bodyPr>
            <a:lstStyle/>
            <a:p>
              <a:r>
                <a:rPr lang="zh-CN" altLang="en-US" sz="2400" b="1" dirty="0">
                  <a:latin typeface="微软雅黑" panose="020B0503020204020204" charset="-122"/>
                  <a:ea typeface="微软雅黑" panose="020B0503020204020204" charset="-122"/>
                </a:rPr>
                <a:t>程序设计语言</a:t>
              </a:r>
            </a:p>
          </p:txBody>
        </p:sp>
      </p:grpSp>
      <p:sp>
        <p:nvSpPr>
          <p:cNvPr id="7" name="文本框 6"/>
          <p:cNvSpPr txBox="1"/>
          <p:nvPr/>
        </p:nvSpPr>
        <p:spPr>
          <a:xfrm>
            <a:off x="1052830" y="3293932"/>
            <a:ext cx="3184525" cy="2722880"/>
          </a:xfrm>
          <a:prstGeom prst="rect">
            <a:avLst/>
          </a:prstGeom>
          <a:noFill/>
        </p:spPr>
        <p:txBody>
          <a:bodyPr wrap="square" rtlCol="0">
            <a:spAutoFit/>
          </a:bodyPr>
          <a:lstStyle/>
          <a:p>
            <a:pPr algn="l" fontAlgn="auto">
              <a:lnSpc>
                <a:spcPct val="120000"/>
              </a:lnSpc>
            </a:pPr>
            <a:r>
              <a:rPr lang="en-US" altLang="zh-CN" dirty="0">
                <a:sym typeface="+mn-ea"/>
              </a:rPr>
              <a:t>       </a:t>
            </a:r>
            <a:r>
              <a:rPr lang="zh-CN" altLang="en-US" dirty="0">
                <a:sym typeface="+mn-ea"/>
              </a:rPr>
              <a:t>面向机器语言包括机器语言和汇编语言。机器语言和汇编语言都依赖于计算机硬件结构，指令系统因机器而异，难学难用。其缺点是编程效率低、容易出错、维护困难；其优点是易于实现系统接口，执行效率高。</a:t>
            </a:r>
            <a:endParaRPr lang="zh-CN" altLang="en-US" dirty="0"/>
          </a:p>
        </p:txBody>
      </p:sp>
      <p:sp>
        <p:nvSpPr>
          <p:cNvPr id="13" name="文本框 12"/>
          <p:cNvSpPr txBox="1"/>
          <p:nvPr/>
        </p:nvSpPr>
        <p:spPr>
          <a:xfrm>
            <a:off x="7917180" y="3377198"/>
            <a:ext cx="3185160" cy="2065020"/>
          </a:xfrm>
          <a:prstGeom prst="rect">
            <a:avLst/>
          </a:prstGeom>
          <a:noFill/>
        </p:spPr>
        <p:txBody>
          <a:bodyPr wrap="square" rtlCol="0">
            <a:spAutoFit/>
          </a:bodyPr>
          <a:lstStyle/>
          <a:p>
            <a:pPr fontAlgn="auto">
              <a:lnSpc>
                <a:spcPct val="120000"/>
              </a:lnSpc>
            </a:pPr>
            <a:r>
              <a:rPr lang="en-US" altLang="zh-CN" dirty="0">
                <a:sym typeface="+mn-ea"/>
              </a:rPr>
              <a:t>       </a:t>
            </a:r>
            <a:r>
              <a:rPr lang="zh-CN" altLang="en-US" dirty="0">
                <a:sym typeface="+mn-ea"/>
              </a:rPr>
              <a:t>高级程序设计语言使用的概念和符号与人们通常使用的概念和符号比较接近，它的一个语句往往对应若干条机器指令，高级语言的特性一般不依赖于计算机，通用性强。</a:t>
            </a:r>
            <a:endParaRPr lang="zh-CN" altLang="en-US" dirty="0"/>
          </a:p>
        </p:txBody>
      </p:sp>
      <p:grpSp>
        <p:nvGrpSpPr>
          <p:cNvPr id="16" name="组合 6"/>
          <p:cNvGrpSpPr/>
          <p:nvPr/>
        </p:nvGrpSpPr>
        <p:grpSpPr>
          <a:xfrm>
            <a:off x="809625" y="2145646"/>
            <a:ext cx="3141345" cy="59055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5"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程序设计语言的分类</a:t>
              </a:r>
            </a:p>
          </p:txBody>
        </p:sp>
      </p:grpSp>
    </p:spTree>
  </p:cSld>
  <p:clrMapOvr>
    <a:masterClrMapping/>
  </p:clrMapOvr>
  <p:transition>
    <p:pull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5" name="文本占位符 4">
            <a:extLst>
              <a:ext uri="{FF2B5EF4-FFF2-40B4-BE49-F238E27FC236}">
                <a16:creationId xmlns:a16="http://schemas.microsoft.com/office/drawing/2014/main" id="{4FF3F1CF-E92C-C49E-979A-DCB4A7456C90}"/>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p>
        </p:txBody>
      </p:sp>
      <p:sp>
        <p:nvSpPr>
          <p:cNvPr id="7" name="文本占位符 6">
            <a:extLst>
              <a:ext uri="{FF2B5EF4-FFF2-40B4-BE49-F238E27FC236}">
                <a16:creationId xmlns:a16="http://schemas.microsoft.com/office/drawing/2014/main" id="{E0DB8B58-7D8D-7FA3-044E-0D0841890C22}"/>
              </a:ext>
            </a:extLst>
          </p:cNvPr>
          <p:cNvSpPr>
            <a:spLocks noGrp="1"/>
          </p:cNvSpPr>
          <p:nvPr>
            <p:ph type="body" sz="quarter" idx="11"/>
          </p:nvPr>
        </p:nvSpPr>
        <p:spPr>
          <a:xfrm>
            <a:off x="6096000" y="360128"/>
            <a:ext cx="5760000" cy="400110"/>
          </a:xfrm>
        </p:spPr>
        <p:txBody>
          <a:bodyPr/>
          <a:lstStyle/>
          <a:p>
            <a:r>
              <a:rPr lang="en-US" altLang="zh-CN" dirty="0"/>
              <a:t>Structured Design</a:t>
            </a:r>
            <a:endParaRPr lang="zh-CN" altLang="en-US" dirty="0"/>
          </a:p>
        </p:txBody>
      </p:sp>
      <p:sp>
        <p:nvSpPr>
          <p:cNvPr id="9" name="MH_Other_1"/>
          <p:cNvSpPr>
            <a:spLocks noChangeArrowheads="1"/>
          </p:cNvSpPr>
          <p:nvPr>
            <p:custDataLst>
              <p:tags r:id="rId1"/>
            </p:custDataLst>
          </p:nvPr>
        </p:nvSpPr>
        <p:spPr bwMode="auto">
          <a:xfrm>
            <a:off x="754380" y="2766515"/>
            <a:ext cx="710565" cy="49466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latin typeface="Times New Roman" panose="02020603050405020304" pitchFamily="18" charset="0"/>
                <a:ea typeface="微软雅黑" panose="020B0503020204020204" charset="-122"/>
              </a:rPr>
              <a:t>01</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10" name="MH_Other_2"/>
          <p:cNvSpPr>
            <a:spLocks noChangeArrowheads="1"/>
          </p:cNvSpPr>
          <p:nvPr>
            <p:custDataLst>
              <p:tags r:id="rId2"/>
            </p:custDataLst>
          </p:nvPr>
        </p:nvSpPr>
        <p:spPr bwMode="auto">
          <a:xfrm>
            <a:off x="1504950" y="2869385"/>
            <a:ext cx="563245" cy="391795"/>
          </a:xfrm>
          <a:prstGeom prst="rect">
            <a:avLst/>
          </a:prstGeom>
          <a:solidFill>
            <a:srgbClr val="ACE3F6"/>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1" name="MH_Other_3"/>
          <p:cNvSpPr>
            <a:spLocks noChangeArrowheads="1"/>
          </p:cNvSpPr>
          <p:nvPr>
            <p:custDataLst>
              <p:tags r:id="rId3"/>
            </p:custDataLst>
          </p:nvPr>
        </p:nvSpPr>
        <p:spPr bwMode="auto">
          <a:xfrm>
            <a:off x="915035" y="3289120"/>
            <a:ext cx="549910" cy="382905"/>
          </a:xfrm>
          <a:prstGeom prst="rect">
            <a:avLst/>
          </a:prstGeom>
          <a:solidFill>
            <a:srgbClr val="67CBEF"/>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2" name="MH_Other_4"/>
          <p:cNvSpPr>
            <a:spLocks noChangeArrowheads="1"/>
          </p:cNvSpPr>
          <p:nvPr>
            <p:custDataLst>
              <p:tags r:id="rId4"/>
            </p:custDataLst>
          </p:nvPr>
        </p:nvSpPr>
        <p:spPr bwMode="auto">
          <a:xfrm>
            <a:off x="1504950" y="3289120"/>
            <a:ext cx="710565" cy="326390"/>
          </a:xfrm>
          <a:prstGeom prst="rect">
            <a:avLst/>
          </a:prstGeom>
          <a:solidFill>
            <a:srgbClr val="D9F2FB"/>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3" name="MH_SubTitle_1"/>
          <p:cNvSpPr/>
          <p:nvPr>
            <p:custDataLst>
              <p:tags r:id="rId5"/>
            </p:custDataLst>
          </p:nvPr>
        </p:nvSpPr>
        <p:spPr>
          <a:xfrm>
            <a:off x="2513330" y="2820490"/>
            <a:ext cx="7938770" cy="796290"/>
          </a:xfrm>
          <a:prstGeom prst="rect">
            <a:avLst/>
          </a:prstGeom>
        </p:spPr>
        <p:txBody>
          <a:bodyPr lIns="0" tIns="0" rIns="0" bIns="0" anchor="ctr">
            <a:noAutofit/>
          </a:bodyPr>
          <a:lstStyle/>
          <a:p>
            <a:pPr>
              <a:lnSpc>
                <a:spcPct val="140000"/>
              </a:lnSpc>
              <a:defRPr/>
            </a:pPr>
            <a:r>
              <a:rPr lang="zh-CN" altLang="en-US" dirty="0">
                <a:sym typeface="+mn-ea"/>
              </a:rPr>
              <a:t>软件系统对程序执行时间和使用空间都有严格限制。</a:t>
            </a:r>
          </a:p>
        </p:txBody>
      </p:sp>
      <p:sp>
        <p:nvSpPr>
          <p:cNvPr id="18" name="MH_Other_5"/>
          <p:cNvSpPr>
            <a:spLocks noChangeArrowheads="1"/>
          </p:cNvSpPr>
          <p:nvPr>
            <p:custDataLst>
              <p:tags r:id="rId6"/>
            </p:custDataLst>
          </p:nvPr>
        </p:nvSpPr>
        <p:spPr bwMode="auto">
          <a:xfrm>
            <a:off x="2891790" y="4903479"/>
            <a:ext cx="710565" cy="49466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latin typeface="Times New Roman" panose="02020603050405020304" pitchFamily="18" charset="0"/>
                <a:ea typeface="微软雅黑" panose="020B0503020204020204" charset="-122"/>
              </a:rPr>
              <a:t>03</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27" name="MH_Other_6"/>
          <p:cNvSpPr>
            <a:spLocks noChangeArrowheads="1"/>
          </p:cNvSpPr>
          <p:nvPr>
            <p:custDataLst>
              <p:tags r:id="rId7"/>
            </p:custDataLst>
          </p:nvPr>
        </p:nvSpPr>
        <p:spPr bwMode="auto">
          <a:xfrm>
            <a:off x="3642360" y="5006349"/>
            <a:ext cx="563245" cy="391795"/>
          </a:xfrm>
          <a:prstGeom prst="rect">
            <a:avLst/>
          </a:prstGeom>
          <a:solidFill>
            <a:srgbClr val="B6E0C1"/>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8" name="MH_Other_7"/>
          <p:cNvSpPr>
            <a:spLocks noChangeArrowheads="1"/>
          </p:cNvSpPr>
          <p:nvPr>
            <p:custDataLst>
              <p:tags r:id="rId8"/>
            </p:custDataLst>
          </p:nvPr>
        </p:nvSpPr>
        <p:spPr bwMode="auto">
          <a:xfrm>
            <a:off x="3052445" y="5426084"/>
            <a:ext cx="549910" cy="382905"/>
          </a:xfrm>
          <a:prstGeom prst="rect">
            <a:avLst/>
          </a:prstGeom>
          <a:solidFill>
            <a:srgbClr val="8DCF9E"/>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0" name="MH_Other_8"/>
          <p:cNvSpPr>
            <a:spLocks noChangeArrowheads="1"/>
          </p:cNvSpPr>
          <p:nvPr>
            <p:custDataLst>
              <p:tags r:id="rId9"/>
            </p:custDataLst>
          </p:nvPr>
        </p:nvSpPr>
        <p:spPr bwMode="auto">
          <a:xfrm>
            <a:off x="3642360" y="5426084"/>
            <a:ext cx="710565" cy="326390"/>
          </a:xfrm>
          <a:prstGeom prst="rect">
            <a:avLst/>
          </a:prstGeom>
          <a:solidFill>
            <a:srgbClr val="E1F3E5"/>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1" name="MH_SubTitle_3"/>
          <p:cNvSpPr/>
          <p:nvPr>
            <p:custDataLst>
              <p:tags r:id="rId10"/>
            </p:custDataLst>
          </p:nvPr>
        </p:nvSpPr>
        <p:spPr>
          <a:xfrm>
            <a:off x="4632960" y="4903479"/>
            <a:ext cx="7165340" cy="796290"/>
          </a:xfrm>
          <a:prstGeom prst="rect">
            <a:avLst/>
          </a:prstGeom>
        </p:spPr>
        <p:txBody>
          <a:bodyPr lIns="0" tIns="0" rIns="0" bIns="0" anchor="ctr">
            <a:noAutofit/>
          </a:bodyPr>
          <a:lstStyle/>
          <a:p>
            <a:pPr indent="0" fontAlgn="auto">
              <a:lnSpc>
                <a:spcPct val="130000"/>
              </a:lnSpc>
              <a:buClrTx/>
              <a:buNone/>
            </a:pPr>
            <a:r>
              <a:rPr lang="en-US" altLang="zh-CN" dirty="0">
                <a:sym typeface="+mn-ea"/>
              </a:rPr>
              <a:t>      </a:t>
            </a:r>
            <a:r>
              <a:rPr lang="zh-CN" altLang="en-US" dirty="0">
                <a:sym typeface="+mn-ea"/>
              </a:rPr>
              <a:t>大型系统中某一部分，其执行时间非常关键，或直接依赖于硬件，这部分用汇编语言编写。其余部分用高级程序设计语言编写。</a:t>
            </a:r>
          </a:p>
        </p:txBody>
      </p:sp>
      <p:sp>
        <p:nvSpPr>
          <p:cNvPr id="33" name="MH_Other_9"/>
          <p:cNvSpPr>
            <a:spLocks noChangeArrowheads="1"/>
          </p:cNvSpPr>
          <p:nvPr>
            <p:custDataLst>
              <p:tags r:id="rId11"/>
            </p:custDataLst>
          </p:nvPr>
        </p:nvSpPr>
        <p:spPr bwMode="auto">
          <a:xfrm>
            <a:off x="1680845" y="3768045"/>
            <a:ext cx="710565" cy="49466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latin typeface="Times New Roman" panose="02020603050405020304" pitchFamily="18" charset="0"/>
                <a:ea typeface="微软雅黑" panose="020B0503020204020204" charset="-122"/>
              </a:rPr>
              <a:t>02</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34" name="MH_Other_10"/>
          <p:cNvSpPr>
            <a:spLocks noChangeArrowheads="1"/>
          </p:cNvSpPr>
          <p:nvPr>
            <p:custDataLst>
              <p:tags r:id="rId12"/>
            </p:custDataLst>
          </p:nvPr>
        </p:nvSpPr>
        <p:spPr bwMode="auto">
          <a:xfrm>
            <a:off x="2432050" y="3870915"/>
            <a:ext cx="563245" cy="39179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5" name="MH_Other_11"/>
          <p:cNvSpPr>
            <a:spLocks noChangeArrowheads="1"/>
          </p:cNvSpPr>
          <p:nvPr>
            <p:custDataLst>
              <p:tags r:id="rId13"/>
            </p:custDataLst>
          </p:nvPr>
        </p:nvSpPr>
        <p:spPr bwMode="auto">
          <a:xfrm>
            <a:off x="1842135" y="4290650"/>
            <a:ext cx="549910" cy="38290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6" name="MH_Other_12"/>
          <p:cNvSpPr>
            <a:spLocks noChangeArrowheads="1"/>
          </p:cNvSpPr>
          <p:nvPr>
            <p:custDataLst>
              <p:tags r:id="rId14"/>
            </p:custDataLst>
          </p:nvPr>
        </p:nvSpPr>
        <p:spPr bwMode="auto">
          <a:xfrm>
            <a:off x="2432050" y="4290650"/>
            <a:ext cx="710565" cy="326390"/>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7" name="MH_SubTitle_2"/>
          <p:cNvSpPr/>
          <p:nvPr>
            <p:custDataLst>
              <p:tags r:id="rId15"/>
            </p:custDataLst>
          </p:nvPr>
        </p:nvSpPr>
        <p:spPr>
          <a:xfrm>
            <a:off x="3404235" y="3794715"/>
            <a:ext cx="8394065" cy="796290"/>
          </a:xfrm>
          <a:prstGeom prst="rect">
            <a:avLst/>
          </a:prstGeom>
        </p:spPr>
        <p:txBody>
          <a:bodyPr lIns="0" tIns="0" rIns="0" bIns="0" anchor="ctr">
            <a:noAutofit/>
          </a:bodyPr>
          <a:lstStyle/>
          <a:p>
            <a:pPr lvl="0" algn="just">
              <a:lnSpc>
                <a:spcPct val="120000"/>
              </a:lnSpc>
              <a:spcBef>
                <a:spcPct val="0"/>
              </a:spcBef>
            </a:pPr>
            <a:r>
              <a:rPr lang="zh-CN" altLang="en-US" dirty="0">
                <a:sym typeface="+mn-ea"/>
              </a:rPr>
              <a:t>系统硬件是特殊的微处理机，不能使用高级程序设计语言。</a:t>
            </a:r>
          </a:p>
        </p:txBody>
      </p:sp>
      <p:sp>
        <p:nvSpPr>
          <p:cNvPr id="23" name="文本框 99"/>
          <p:cNvSpPr txBox="1"/>
          <p:nvPr/>
        </p:nvSpPr>
        <p:spPr>
          <a:xfrm>
            <a:off x="848970" y="1992088"/>
            <a:ext cx="10492323" cy="707886"/>
          </a:xfrm>
          <a:prstGeom prst="rect">
            <a:avLst/>
          </a:prstGeom>
          <a:noFill/>
          <a:ln w="9525">
            <a:noFill/>
          </a:ln>
        </p:spPr>
        <p:txBody>
          <a:bodyPr wrap="square">
            <a:spAutoFit/>
          </a:bodyPr>
          <a:lstStyle/>
          <a:p>
            <a:r>
              <a:rPr lang="zh-CN" altLang="en-US" sz="2000" dirty="0">
                <a:latin typeface="Times New Roman" panose="02020603050405020304" pitchFamily="18" charset="0"/>
              </a:rPr>
              <a:t>        一般在设计应用软件时，应当优先选用高级程序设计语言，只有下列</a:t>
            </a:r>
            <a:r>
              <a:rPr lang="en-US" sz="2000">
                <a:latin typeface="Times New Roman" panose="02020603050405020304" pitchFamily="18" charset="0"/>
              </a:rPr>
              <a:t>3</a:t>
            </a:r>
            <a:r>
              <a:rPr lang="zh-CN" altLang="en-US" sz="2000">
                <a:latin typeface="Times New Roman" panose="02020603050405020304" pitchFamily="18" charset="0"/>
              </a:rPr>
              <a:t>种</a:t>
            </a:r>
            <a:r>
              <a:rPr lang="zh-CN" altLang="en-US" sz="2000" dirty="0">
                <a:latin typeface="Times New Roman" panose="02020603050405020304" pitchFamily="18" charset="0"/>
              </a:rPr>
              <a:t>情况选用汇编语言。</a:t>
            </a:r>
            <a:endParaRPr lang="zh-CN" altLang="en-US" sz="2000" dirty="0">
              <a:latin typeface="微软雅黑" panose="020B0503020204020204" charset="-122"/>
              <a:ea typeface="微软雅黑" panose="020B0503020204020204" charset="-122"/>
              <a:sym typeface="+mn-ea"/>
            </a:endParaRPr>
          </a:p>
        </p:txBody>
      </p:sp>
    </p:spTree>
  </p:cSld>
  <p:clrMapOvr>
    <a:masterClrMapping/>
  </p:clrMapOvr>
  <p:transition>
    <p:pull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5" name="文本占位符 4">
            <a:extLst>
              <a:ext uri="{FF2B5EF4-FFF2-40B4-BE49-F238E27FC236}">
                <a16:creationId xmlns:a16="http://schemas.microsoft.com/office/drawing/2014/main" id="{26D52A4D-196A-DA81-046C-ACDEBB48B208}"/>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p>
        </p:txBody>
      </p:sp>
      <p:sp>
        <p:nvSpPr>
          <p:cNvPr id="6" name="文本占位符 5">
            <a:extLst>
              <a:ext uri="{FF2B5EF4-FFF2-40B4-BE49-F238E27FC236}">
                <a16:creationId xmlns:a16="http://schemas.microsoft.com/office/drawing/2014/main" id="{2514FBD5-6AD2-F8B5-ED0C-9424CB203FD8}"/>
              </a:ext>
            </a:extLst>
          </p:cNvPr>
          <p:cNvSpPr>
            <a:spLocks noGrp="1"/>
          </p:cNvSpPr>
          <p:nvPr>
            <p:ph type="body" sz="quarter" idx="11"/>
          </p:nvPr>
        </p:nvSpPr>
        <p:spPr>
          <a:xfrm>
            <a:off x="6096000" y="360128"/>
            <a:ext cx="5760000" cy="400110"/>
          </a:xfrm>
        </p:spPr>
        <p:txBody>
          <a:bodyPr/>
          <a:lstStyle/>
          <a:p>
            <a:r>
              <a:rPr lang="en-US" altLang="zh-CN" dirty="0"/>
              <a:t>Structured Design</a:t>
            </a:r>
            <a:endParaRPr lang="zh-CN" altLang="en-US" dirty="0"/>
          </a:p>
        </p:txBody>
      </p:sp>
      <p:sp>
        <p:nvSpPr>
          <p:cNvPr id="36" name="任意多边形 35"/>
          <p:cNvSpPr/>
          <p:nvPr/>
        </p:nvSpPr>
        <p:spPr>
          <a:xfrm rot="10800000">
            <a:off x="9000339" y="2106299"/>
            <a:ext cx="2195830" cy="414972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9485" name="文本框 47"/>
          <p:cNvSpPr txBox="1"/>
          <p:nvPr/>
        </p:nvSpPr>
        <p:spPr>
          <a:xfrm>
            <a:off x="9324824" y="5414649"/>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3830803" y="5412109"/>
            <a:ext cx="559879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58" name="椭圆 57"/>
          <p:cNvSpPr/>
          <p:nvPr/>
        </p:nvSpPr>
        <p:spPr>
          <a:xfrm rot="10800000">
            <a:off x="8841589" y="536829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59" name="圆角矩形 58"/>
          <p:cNvSpPr/>
          <p:nvPr/>
        </p:nvSpPr>
        <p:spPr>
          <a:xfrm rot="10800000">
            <a:off x="3840328" y="4671699"/>
            <a:ext cx="620649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0" name="椭圆 59"/>
          <p:cNvSpPr/>
          <p:nvPr/>
        </p:nvSpPr>
        <p:spPr>
          <a:xfrm rot="10800000">
            <a:off x="9471509" y="462851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1" name="圆角矩形 60"/>
          <p:cNvSpPr/>
          <p:nvPr/>
        </p:nvSpPr>
        <p:spPr>
          <a:xfrm rot="10800000">
            <a:off x="3839693" y="3936369"/>
            <a:ext cx="635635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2" name="圆角矩形 61"/>
          <p:cNvSpPr/>
          <p:nvPr/>
        </p:nvSpPr>
        <p:spPr>
          <a:xfrm rot="10800000">
            <a:off x="3839693" y="3169289"/>
            <a:ext cx="62363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3" name="椭圆 62"/>
          <p:cNvSpPr/>
          <p:nvPr/>
        </p:nvSpPr>
        <p:spPr>
          <a:xfrm rot="10800000">
            <a:off x="9512149" y="312293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4" name="圆角矩形 63"/>
          <p:cNvSpPr/>
          <p:nvPr/>
        </p:nvSpPr>
        <p:spPr>
          <a:xfrm rot="10800000">
            <a:off x="3824453" y="2429514"/>
            <a:ext cx="56267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5" name="椭圆 64"/>
          <p:cNvSpPr/>
          <p:nvPr/>
        </p:nvSpPr>
        <p:spPr>
          <a:xfrm rot="10800000">
            <a:off x="8861909" y="238506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66" name="文本框 44"/>
          <p:cNvSpPr txBox="1"/>
          <p:nvPr/>
        </p:nvSpPr>
        <p:spPr>
          <a:xfrm>
            <a:off x="8982559" y="2459994"/>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9592159" y="3185164"/>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9736939" y="3983994"/>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9592159" y="4726944"/>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8968589" y="5466719"/>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4256888" y="2497459"/>
            <a:ext cx="434467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微软雅黑" panose="020B0503020204020204" charset="-122"/>
                <a:ea typeface="微软雅黑" panose="020B0503020204020204" charset="-122"/>
              </a:rPr>
              <a:t>项目的应用领域</a:t>
            </a:r>
          </a:p>
        </p:txBody>
      </p:sp>
      <p:sp>
        <p:nvSpPr>
          <p:cNvPr id="72" name="文本框 60"/>
          <p:cNvSpPr txBox="1"/>
          <p:nvPr/>
        </p:nvSpPr>
        <p:spPr>
          <a:xfrm>
            <a:off x="4256888" y="3234059"/>
            <a:ext cx="4471036" cy="36933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微软雅黑" panose="020B0503020204020204" charset="-122"/>
                <a:ea typeface="微软雅黑" panose="020B0503020204020204" charset="-122"/>
              </a:rPr>
              <a:t>软件开发的方法</a:t>
            </a:r>
          </a:p>
        </p:txBody>
      </p:sp>
      <p:sp>
        <p:nvSpPr>
          <p:cNvPr id="73" name="文本框 61"/>
          <p:cNvSpPr txBox="1"/>
          <p:nvPr/>
        </p:nvSpPr>
        <p:spPr>
          <a:xfrm>
            <a:off x="4256888" y="4004949"/>
            <a:ext cx="3737611" cy="36933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微软雅黑" panose="020B0503020204020204" charset="-122"/>
                <a:ea typeface="微软雅黑" panose="020B0503020204020204" charset="-122"/>
              </a:rPr>
              <a:t>软件开发环境</a:t>
            </a:r>
          </a:p>
        </p:txBody>
      </p:sp>
      <p:sp>
        <p:nvSpPr>
          <p:cNvPr id="74" name="文本框 62"/>
          <p:cNvSpPr txBox="1"/>
          <p:nvPr/>
        </p:nvSpPr>
        <p:spPr>
          <a:xfrm>
            <a:off x="4256888" y="4726944"/>
            <a:ext cx="3026410" cy="36933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微软雅黑" panose="020B0503020204020204" charset="-122"/>
                <a:ea typeface="微软雅黑" panose="020B0503020204020204" charset="-122"/>
              </a:rPr>
              <a:t>用户的要求</a:t>
            </a:r>
          </a:p>
        </p:txBody>
      </p:sp>
      <p:sp>
        <p:nvSpPr>
          <p:cNvPr id="75" name="文本框 63"/>
          <p:cNvSpPr txBox="1"/>
          <p:nvPr/>
        </p:nvSpPr>
        <p:spPr>
          <a:xfrm>
            <a:off x="4256888" y="5466719"/>
            <a:ext cx="4045586" cy="36933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微软雅黑" panose="020B0503020204020204" charset="-122"/>
                <a:ea typeface="微软雅黑" panose="020B0503020204020204" charset="-122"/>
              </a:rPr>
              <a:t>程序员的知识</a:t>
            </a:r>
          </a:p>
        </p:txBody>
      </p:sp>
      <p:sp>
        <p:nvSpPr>
          <p:cNvPr id="76" name="椭圆 75"/>
          <p:cNvSpPr/>
          <p:nvPr/>
        </p:nvSpPr>
        <p:spPr>
          <a:xfrm rot="10800000">
            <a:off x="9627084" y="391414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77" name="文本框 46"/>
          <p:cNvSpPr txBox="1"/>
          <p:nvPr/>
        </p:nvSpPr>
        <p:spPr>
          <a:xfrm>
            <a:off x="9736939" y="3936369"/>
            <a:ext cx="5314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nvGrpSpPr>
          <p:cNvPr id="28" name="组合 6"/>
          <p:cNvGrpSpPr/>
          <p:nvPr/>
        </p:nvGrpSpPr>
        <p:grpSpPr>
          <a:xfrm>
            <a:off x="809625" y="2145646"/>
            <a:ext cx="2247473" cy="741581"/>
            <a:chOff x="508000" y="3196191"/>
            <a:chExt cx="2247450" cy="741581"/>
          </a:xfrm>
        </p:grpSpPr>
        <p:sp>
          <p:nvSpPr>
            <p:cNvPr id="3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1" name="直接连接符 3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2" name="矩形 7"/>
            <p:cNvSpPr>
              <a:spLocks noChangeArrowheads="1"/>
            </p:cNvSpPr>
            <p:nvPr/>
          </p:nvSpPr>
          <p:spPr bwMode="auto">
            <a:xfrm>
              <a:off x="960435" y="3291441"/>
              <a:ext cx="179501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程序设计语言的选用标准</a:t>
              </a:r>
            </a:p>
          </p:txBody>
        </p:sp>
      </p:grpSp>
    </p:spTree>
  </p:cSld>
  <p:clrMapOvr>
    <a:masterClrMapping/>
  </p:clrMapOvr>
  <p:transition>
    <p:pull dir="d"/>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8" name="文本占位符 7">
            <a:extLst>
              <a:ext uri="{FF2B5EF4-FFF2-40B4-BE49-F238E27FC236}">
                <a16:creationId xmlns:a16="http://schemas.microsoft.com/office/drawing/2014/main" id="{5FF05712-6C50-B357-FAD3-B117F61D51A8}"/>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r>
              <a:rPr lang="en-US" altLang="zh-CN" dirty="0"/>
              <a:t>-</a:t>
            </a:r>
            <a:r>
              <a:rPr lang="zh-CN" altLang="en-US" dirty="0"/>
              <a:t>应用领域</a:t>
            </a:r>
          </a:p>
        </p:txBody>
      </p:sp>
      <p:sp>
        <p:nvSpPr>
          <p:cNvPr id="6" name="文本占位符 5">
            <a:extLst>
              <a:ext uri="{FF2B5EF4-FFF2-40B4-BE49-F238E27FC236}">
                <a16:creationId xmlns:a16="http://schemas.microsoft.com/office/drawing/2014/main" id="{B3664F7C-4E3B-1DDB-FCA3-2D5226A3B0FC}"/>
              </a:ext>
            </a:extLst>
          </p:cNvPr>
          <p:cNvSpPr>
            <a:spLocks noGrp="1"/>
          </p:cNvSpPr>
          <p:nvPr>
            <p:ph type="body" sz="quarter" idx="11"/>
          </p:nvPr>
        </p:nvSpPr>
        <p:spPr>
          <a:xfrm>
            <a:off x="6096000" y="360128"/>
            <a:ext cx="5760000" cy="400110"/>
          </a:xfrm>
        </p:spPr>
        <p:txBody>
          <a:bodyPr/>
          <a:lstStyle/>
          <a:p>
            <a:r>
              <a:rPr lang="en-US" altLang="zh-CN" dirty="0"/>
              <a:t>Structured Design</a:t>
            </a:r>
            <a:endParaRPr lang="zh-CN" altLang="en-US" dirty="0"/>
          </a:p>
        </p:txBody>
      </p:sp>
      <p:sp>
        <p:nvSpPr>
          <p:cNvPr id="100" name="文本框 99"/>
          <p:cNvSpPr txBox="1"/>
          <p:nvPr/>
        </p:nvSpPr>
        <p:spPr>
          <a:xfrm>
            <a:off x="1422400" y="1930400"/>
            <a:ext cx="10329545" cy="418320"/>
          </a:xfrm>
          <a:prstGeom prst="rect">
            <a:avLst/>
          </a:prstGeom>
          <a:noFill/>
          <a:ln w="9525">
            <a:noFill/>
          </a:ln>
        </p:spPr>
        <p:txBody>
          <a:bodyPr wrap="square">
            <a:spAutoFit/>
          </a:bodyPr>
          <a:lstStyle/>
          <a:p>
            <a:pPr marL="0" indent="0" algn="l" fontAlgn="auto">
              <a:lnSpc>
                <a:spcPct val="130000"/>
              </a:lnSpc>
            </a:pPr>
            <a:r>
              <a:rPr lang="en-US" altLang="zh-CN" b="0" u="none" dirty="0">
                <a:latin typeface="微软雅黑 Light" panose="020B0502040204020203" pitchFamily="34" charset="-122"/>
                <a:ea typeface="微软雅黑 Light" panose="020B0502040204020203" pitchFamily="34" charset="-122"/>
                <a:cs typeface="宋体" panose="02010600030101010101" pitchFamily="2" charset="-122"/>
              </a:rPr>
              <a:t>    </a:t>
            </a:r>
            <a:endParaRPr lang="zh-CN" altLang="en-US" dirty="0">
              <a:latin typeface="Times New Roman" panose="02020603050405020304" pitchFamily="18" charset="0"/>
            </a:endParaRPr>
          </a:p>
        </p:txBody>
      </p:sp>
      <p:sp>
        <p:nvSpPr>
          <p:cNvPr id="7" name="文本框 6"/>
          <p:cNvSpPr txBox="1"/>
          <p:nvPr/>
        </p:nvSpPr>
        <p:spPr>
          <a:xfrm>
            <a:off x="768972" y="2397760"/>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4.1.1 </a:t>
            </a:r>
            <a:r>
              <a:rPr lang="zh-CN" altLang="en-US" spc="160" dirty="0">
                <a:solidFill>
                  <a:schemeClr val="bg1"/>
                </a:solidFill>
                <a:latin typeface="微软雅黑" panose="020B0503020204020204" charset="-122"/>
                <a:ea typeface="微软雅黑" panose="020B0503020204020204" charset="-122"/>
              </a:rPr>
              <a:t>程序设计语言的选择</a:t>
            </a:r>
          </a:p>
        </p:txBody>
      </p:sp>
      <p:sp>
        <p:nvSpPr>
          <p:cNvPr id="2" name="文本框 1"/>
          <p:cNvSpPr txBox="1"/>
          <p:nvPr/>
        </p:nvSpPr>
        <p:spPr>
          <a:xfrm>
            <a:off x="754063" y="1918475"/>
            <a:ext cx="10798188" cy="3299429"/>
          </a:xfrm>
          <a:prstGeom prst="rect">
            <a:avLst/>
          </a:prstGeom>
          <a:noFill/>
        </p:spPr>
        <p:txBody>
          <a:bodyPr wrap="square" rtlCol="0" anchor="t">
            <a:spAutoFit/>
          </a:bodyPr>
          <a:lstStyle/>
          <a:p>
            <a:pPr fontAlgn="auto">
              <a:lnSpc>
                <a:spcPct val="130000"/>
              </a:lnSpc>
            </a:pPr>
            <a:r>
              <a:rPr dirty="0" err="1">
                <a:solidFill>
                  <a:srgbClr val="0070C0"/>
                </a:solidFill>
              </a:rPr>
              <a:t>科学工程计算</a:t>
            </a:r>
            <a:endParaRPr lang="en-US" dirty="0"/>
          </a:p>
          <a:p>
            <a:pPr fontAlgn="auto">
              <a:lnSpc>
                <a:spcPct val="130000"/>
              </a:lnSpc>
            </a:pPr>
            <a:r>
              <a:rPr dirty="0"/>
              <a:t>需要大量的标准库函数，以便处理复杂的数值计算，可供选用的语言有Fortran，Pascal，C等。Pascal语言是第一个体现结构化编程思想的语言，用其编程有助于培养良好的编程风格，它广泛应用于教学、管理、系统软件的开发。</a:t>
            </a:r>
          </a:p>
          <a:p>
            <a:pPr fontAlgn="auto">
              <a:lnSpc>
                <a:spcPct val="130000"/>
              </a:lnSpc>
            </a:pPr>
            <a:r>
              <a:rPr dirty="0" err="1">
                <a:solidFill>
                  <a:srgbClr val="0070C0"/>
                </a:solidFill>
              </a:rPr>
              <a:t>数据处理与数据库应用</a:t>
            </a:r>
            <a:endParaRPr lang="en-US" dirty="0"/>
          </a:p>
          <a:p>
            <a:pPr fontAlgn="auto">
              <a:lnSpc>
                <a:spcPct val="130000"/>
              </a:lnSpc>
            </a:pPr>
            <a:r>
              <a:rPr dirty="0"/>
              <a:t>COBOL语言广泛用于商业数据处理。SQL是一种数据库查询和程序设计语言，用于存取数据以及查询、更新和管理关系数据库系统，它属于第4代语言（4GL）。4GL是描述性语言，编码时只需说明“做什么”，无需具体指明“怎么做”，最初为数据库查询语言，只支持简单的数值运算，适合于对数据库进行操作。dBASE，FoxBASE，FoxPro，Visual </a:t>
            </a:r>
            <a:r>
              <a:rPr dirty="0" err="1"/>
              <a:t>FoxPro，Access，Delphi，PowerBuilder都是数据库语言</a:t>
            </a:r>
            <a:r>
              <a:rPr dirty="0"/>
              <a:t>。</a:t>
            </a:r>
          </a:p>
        </p:txBody>
      </p:sp>
    </p:spTree>
  </p:cSld>
  <p:clrMapOvr>
    <a:masterClrMapping/>
  </p:clrMapOvr>
  <p:transition>
    <p:pull dir="d"/>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7" name="文本占位符 6">
            <a:extLst>
              <a:ext uri="{FF2B5EF4-FFF2-40B4-BE49-F238E27FC236}">
                <a16:creationId xmlns:a16="http://schemas.microsoft.com/office/drawing/2014/main" id="{53004D5A-D65E-F292-9F5E-33F63B6F0901}"/>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r>
              <a:rPr lang="en-US" altLang="zh-CN" dirty="0"/>
              <a:t>-</a:t>
            </a:r>
            <a:r>
              <a:rPr lang="zh-CN" altLang="en-US" dirty="0"/>
              <a:t>应用领域</a:t>
            </a:r>
          </a:p>
        </p:txBody>
      </p:sp>
      <p:sp>
        <p:nvSpPr>
          <p:cNvPr id="6" name="文本占位符 5">
            <a:extLst>
              <a:ext uri="{FF2B5EF4-FFF2-40B4-BE49-F238E27FC236}">
                <a16:creationId xmlns:a16="http://schemas.microsoft.com/office/drawing/2014/main" id="{0AA49379-BD9C-EA44-9530-7FED88C263A0}"/>
              </a:ext>
            </a:extLst>
          </p:cNvPr>
          <p:cNvSpPr>
            <a:spLocks noGrp="1"/>
          </p:cNvSpPr>
          <p:nvPr>
            <p:ph type="body" sz="quarter" idx="11"/>
          </p:nvPr>
        </p:nvSpPr>
        <p:spPr/>
        <p:txBody>
          <a:bodyPr/>
          <a:lstStyle/>
          <a:p>
            <a:r>
              <a:rPr lang="en-US" altLang="zh-CN" dirty="0"/>
              <a:t>Structured Design</a:t>
            </a:r>
            <a:endParaRPr lang="zh-CN" altLang="en-US" dirty="0"/>
          </a:p>
        </p:txBody>
      </p:sp>
      <p:sp>
        <p:nvSpPr>
          <p:cNvPr id="100" name="文本框 99"/>
          <p:cNvSpPr txBox="1"/>
          <p:nvPr/>
        </p:nvSpPr>
        <p:spPr>
          <a:xfrm>
            <a:off x="1422400" y="1930400"/>
            <a:ext cx="10329545" cy="418320"/>
          </a:xfrm>
          <a:prstGeom prst="rect">
            <a:avLst/>
          </a:prstGeom>
          <a:noFill/>
          <a:ln w="9525">
            <a:noFill/>
          </a:ln>
        </p:spPr>
        <p:txBody>
          <a:bodyPr wrap="square">
            <a:spAutoFit/>
          </a:bodyPr>
          <a:lstStyle/>
          <a:p>
            <a:pPr marL="0" indent="0" algn="l" fontAlgn="auto">
              <a:lnSpc>
                <a:spcPct val="130000"/>
              </a:lnSpc>
            </a:pPr>
            <a:r>
              <a:rPr lang="en-US" altLang="zh-CN" b="0" u="none" dirty="0">
                <a:latin typeface="微软雅黑 Light" panose="020B0502040204020203" pitchFamily="34" charset="-122"/>
                <a:ea typeface="微软雅黑 Light" panose="020B0502040204020203" pitchFamily="34" charset="-122"/>
                <a:cs typeface="宋体" panose="02010600030101010101" pitchFamily="2" charset="-122"/>
              </a:rPr>
              <a:t>    </a:t>
            </a:r>
            <a:endParaRPr lang="zh-CN" altLang="en-US" dirty="0">
              <a:latin typeface="Times New Roman" panose="02020603050405020304" pitchFamily="18" charset="0"/>
            </a:endParaRPr>
          </a:p>
        </p:txBody>
      </p:sp>
      <p:sp>
        <p:nvSpPr>
          <p:cNvPr id="2" name="文本框 1"/>
          <p:cNvSpPr txBox="1"/>
          <p:nvPr/>
        </p:nvSpPr>
        <p:spPr>
          <a:xfrm>
            <a:off x="754063" y="1930400"/>
            <a:ext cx="10691177" cy="4379725"/>
          </a:xfrm>
          <a:prstGeom prst="rect">
            <a:avLst/>
          </a:prstGeom>
          <a:noFill/>
        </p:spPr>
        <p:txBody>
          <a:bodyPr wrap="square" rtlCol="0" anchor="t">
            <a:spAutoFit/>
          </a:bodyPr>
          <a:lstStyle/>
          <a:p>
            <a:pPr fontAlgn="auto">
              <a:lnSpc>
                <a:spcPct val="130000"/>
              </a:lnSpc>
            </a:pPr>
            <a:r>
              <a:rPr dirty="0" err="1">
                <a:solidFill>
                  <a:srgbClr val="0070C0"/>
                </a:solidFill>
                <a:sym typeface="+mn-ea"/>
              </a:rPr>
              <a:t>实时处理</a:t>
            </a:r>
            <a:endParaRPr lang="en-US" dirty="0">
              <a:sym typeface="+mn-ea"/>
            </a:endParaRPr>
          </a:p>
          <a:p>
            <a:pPr fontAlgn="auto">
              <a:lnSpc>
                <a:spcPct val="130000"/>
              </a:lnSpc>
            </a:pPr>
            <a:r>
              <a:rPr dirty="0">
                <a:sym typeface="+mn-ea"/>
              </a:rPr>
              <a:t>实时处理软件一般对性能的要求很高，可选用的语言有汇编语言、Ada语言等。其中，汇编语言是面向机器的语言，可以对外部设备的一些接口进行操作；Ada适合于实时并行系统。此外还有Mesa，Occam，Fortran 90，Linda，以及用于通讯领域的程序设计语言都有实时功能，如Gypsy，CHILL。</a:t>
            </a:r>
            <a:endParaRPr dirty="0"/>
          </a:p>
          <a:p>
            <a:pPr fontAlgn="auto">
              <a:lnSpc>
                <a:spcPct val="130000"/>
              </a:lnSpc>
            </a:pPr>
            <a:r>
              <a:rPr dirty="0" err="1"/>
              <a:t>系统软件</a:t>
            </a:r>
            <a:endParaRPr lang="en-US" dirty="0"/>
          </a:p>
          <a:p>
            <a:pPr fontAlgn="auto">
              <a:lnSpc>
                <a:spcPct val="130000"/>
              </a:lnSpc>
            </a:pPr>
            <a:r>
              <a:rPr dirty="0"/>
              <a:t>此类软件支持与硬件相关的低级操作。编写系统软件（如操作系统，编译、解释器，数据库管理系统，网络接口程序）时，可以选用C语言、BLISS语言、Forth语言、汇编语言、Pascal语言和Ada语言。</a:t>
            </a:r>
          </a:p>
          <a:p>
            <a:pPr fontAlgn="auto">
              <a:lnSpc>
                <a:spcPct val="130000"/>
              </a:lnSpc>
            </a:pPr>
            <a:r>
              <a:rPr dirty="0" err="1"/>
              <a:t>人工智能</a:t>
            </a:r>
            <a:endParaRPr lang="en-US" dirty="0"/>
          </a:p>
          <a:p>
            <a:pPr fontAlgn="auto">
              <a:lnSpc>
                <a:spcPct val="130000"/>
              </a:lnSpc>
            </a:pPr>
            <a:r>
              <a:rPr dirty="0"/>
              <a:t>如果要完成知识库系统、专家系统、决策支持系统、推理工程、语言识别、模式识别等人工智能领域内的系统，应选择Prolog，Lisp等语言。</a:t>
            </a:r>
          </a:p>
          <a:p>
            <a:pPr fontAlgn="auto">
              <a:lnSpc>
                <a:spcPct val="130000"/>
              </a:lnSpc>
            </a:pPr>
            <a:r>
              <a:rPr dirty="0" err="1"/>
              <a:t>网络应用系统</a:t>
            </a:r>
            <a:endParaRPr lang="en-US" dirty="0"/>
          </a:p>
          <a:p>
            <a:pPr fontAlgn="auto">
              <a:lnSpc>
                <a:spcPct val="130000"/>
              </a:lnSpc>
            </a:pPr>
            <a:r>
              <a:rPr dirty="0" err="1"/>
              <a:t>Java在网络上应用广泛，可编制跨平台的软件</a:t>
            </a:r>
            <a:r>
              <a:rPr dirty="0"/>
              <a:t>。</a:t>
            </a:r>
          </a:p>
        </p:txBody>
      </p:sp>
    </p:spTree>
  </p:cSld>
  <p:clrMapOvr>
    <a:masterClrMapping/>
  </p:clrMapOvr>
  <p:transition>
    <p:pull dir="d"/>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7" name="文本占位符 6">
            <a:extLst>
              <a:ext uri="{FF2B5EF4-FFF2-40B4-BE49-F238E27FC236}">
                <a16:creationId xmlns:a16="http://schemas.microsoft.com/office/drawing/2014/main" id="{210177CD-F14C-8EAC-FF59-449B4EE8D962}"/>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r>
              <a:rPr lang="en-US" altLang="zh-CN" dirty="0"/>
              <a:t>-</a:t>
            </a:r>
            <a:r>
              <a:rPr lang="zh-CN" altLang="en-US" dirty="0"/>
              <a:t>开发方法</a:t>
            </a:r>
          </a:p>
        </p:txBody>
      </p:sp>
      <p:sp>
        <p:nvSpPr>
          <p:cNvPr id="8" name="文本占位符 7">
            <a:extLst>
              <a:ext uri="{FF2B5EF4-FFF2-40B4-BE49-F238E27FC236}">
                <a16:creationId xmlns:a16="http://schemas.microsoft.com/office/drawing/2014/main" id="{BF77C286-DC2D-D35A-0CC5-A8DC527423D3}"/>
              </a:ext>
            </a:extLst>
          </p:cNvPr>
          <p:cNvSpPr>
            <a:spLocks noGrp="1"/>
          </p:cNvSpPr>
          <p:nvPr>
            <p:ph type="body" sz="quarter" idx="11"/>
          </p:nvPr>
        </p:nvSpPr>
        <p:spPr>
          <a:xfrm>
            <a:off x="6096000" y="360128"/>
            <a:ext cx="5760000" cy="400110"/>
          </a:xfrm>
        </p:spPr>
        <p:txBody>
          <a:bodyPr/>
          <a:lstStyle/>
          <a:p>
            <a:r>
              <a:rPr lang="en-US" altLang="zh-CN" dirty="0"/>
              <a:t>Structured Design</a:t>
            </a:r>
            <a:endParaRPr lang="zh-CN" altLang="en-US" dirty="0"/>
          </a:p>
        </p:txBody>
      </p:sp>
      <p:sp>
        <p:nvSpPr>
          <p:cNvPr id="100" name="文本框 99"/>
          <p:cNvSpPr txBox="1"/>
          <p:nvPr/>
        </p:nvSpPr>
        <p:spPr>
          <a:xfrm>
            <a:off x="1422400" y="1930400"/>
            <a:ext cx="10329545" cy="418320"/>
          </a:xfrm>
          <a:prstGeom prst="rect">
            <a:avLst/>
          </a:prstGeom>
          <a:noFill/>
          <a:ln w="9525">
            <a:noFill/>
          </a:ln>
        </p:spPr>
        <p:txBody>
          <a:bodyPr wrap="square">
            <a:spAutoFit/>
          </a:bodyPr>
          <a:lstStyle/>
          <a:p>
            <a:pPr marL="0" indent="0" algn="l" fontAlgn="auto">
              <a:lnSpc>
                <a:spcPct val="130000"/>
              </a:lnSpc>
            </a:pPr>
            <a:r>
              <a:rPr lang="en-US" altLang="zh-CN" b="0" u="none" dirty="0">
                <a:latin typeface="微软雅黑 Light" panose="020B0502040204020203" pitchFamily="34" charset="-122"/>
                <a:ea typeface="微软雅黑 Light" panose="020B0502040204020203" pitchFamily="34" charset="-122"/>
                <a:cs typeface="宋体" panose="02010600030101010101" pitchFamily="2" charset="-122"/>
              </a:rPr>
              <a:t>    </a:t>
            </a:r>
            <a:endParaRPr lang="zh-CN" altLang="en-US" dirty="0">
              <a:latin typeface="Times New Roman" panose="02020603050405020304" pitchFamily="18" charset="0"/>
            </a:endParaRPr>
          </a:p>
        </p:txBody>
      </p:sp>
      <p:sp>
        <p:nvSpPr>
          <p:cNvPr id="2" name="文本框 1"/>
          <p:cNvSpPr txBox="1"/>
          <p:nvPr/>
        </p:nvSpPr>
        <p:spPr>
          <a:xfrm>
            <a:off x="802640" y="2753360"/>
            <a:ext cx="10417175" cy="1138838"/>
          </a:xfrm>
          <a:prstGeom prst="rect">
            <a:avLst/>
          </a:prstGeom>
          <a:noFill/>
        </p:spPr>
        <p:txBody>
          <a:bodyPr wrap="square" rtlCol="0" anchor="t">
            <a:spAutoFit/>
          </a:bodyPr>
          <a:lstStyle/>
          <a:p>
            <a:pPr fontAlgn="auto">
              <a:lnSpc>
                <a:spcPct val="130000"/>
              </a:lnSpc>
            </a:pPr>
            <a:r>
              <a:rPr lang="en-US" dirty="0">
                <a:sym typeface="+mn-ea"/>
              </a:rPr>
              <a:t>       </a:t>
            </a:r>
            <a:r>
              <a:rPr dirty="0">
                <a:sym typeface="+mn-ea"/>
              </a:rPr>
              <a:t>有时编程语言的选择依赖于开发的方法，如果要用快速原型模型来开发，会要求能快速实现原型，因此宜采用4GL。如果是面向对象方法，宜采用面向对象的语言编程。例如，C++，Smalltalk，Eiffel，Actor，Ada，Simula-67都是面向对象型语言。Object Pascal，Objective-C是混合型面向对象语言。</a:t>
            </a:r>
          </a:p>
        </p:txBody>
      </p:sp>
    </p:spTree>
  </p:cSld>
  <p:clrMapOvr>
    <a:masterClrMapping/>
  </p:clrMapOvr>
  <p:transition>
    <p:pull dir="d"/>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7" name="文本占位符 6">
            <a:extLst>
              <a:ext uri="{FF2B5EF4-FFF2-40B4-BE49-F238E27FC236}">
                <a16:creationId xmlns:a16="http://schemas.microsoft.com/office/drawing/2014/main" id="{801362F8-FCDE-C634-1181-4EE5D008D5B5}"/>
              </a:ext>
            </a:extLst>
          </p:cNvPr>
          <p:cNvSpPr>
            <a:spLocks noGrp="1"/>
          </p:cNvSpPr>
          <p:nvPr>
            <p:ph type="body" sz="quarter" idx="10"/>
          </p:nvPr>
        </p:nvSpPr>
        <p:spPr>
          <a:xfrm>
            <a:off x="696000" y="1322832"/>
            <a:ext cx="5400000" cy="400110"/>
          </a:xfrm>
        </p:spPr>
        <p:txBody>
          <a:bodyPr/>
          <a:lstStyle/>
          <a:p>
            <a:r>
              <a:rPr lang="en-US" altLang="zh-CN" dirty="0"/>
              <a:t>4.1.1 </a:t>
            </a:r>
            <a:r>
              <a:rPr lang="zh-CN" altLang="en-US" dirty="0"/>
              <a:t>程序设计语言的选择</a:t>
            </a:r>
            <a:r>
              <a:rPr lang="en-US" altLang="zh-CN" dirty="0"/>
              <a:t>-</a:t>
            </a:r>
            <a:r>
              <a:rPr lang="zh-CN" altLang="en-US" dirty="0"/>
              <a:t>开发环境</a:t>
            </a:r>
          </a:p>
        </p:txBody>
      </p:sp>
      <p:sp>
        <p:nvSpPr>
          <p:cNvPr id="11" name="文本占位符 10">
            <a:extLst>
              <a:ext uri="{FF2B5EF4-FFF2-40B4-BE49-F238E27FC236}">
                <a16:creationId xmlns:a16="http://schemas.microsoft.com/office/drawing/2014/main" id="{34CD536C-82C8-E7E8-526C-B714CA734356}"/>
              </a:ext>
            </a:extLst>
          </p:cNvPr>
          <p:cNvSpPr>
            <a:spLocks noGrp="1"/>
          </p:cNvSpPr>
          <p:nvPr>
            <p:ph type="body" sz="quarter" idx="11"/>
          </p:nvPr>
        </p:nvSpPr>
        <p:spPr>
          <a:xfrm>
            <a:off x="6096000" y="360128"/>
            <a:ext cx="5760000" cy="400110"/>
          </a:xfrm>
        </p:spPr>
        <p:txBody>
          <a:bodyPr/>
          <a:lstStyle/>
          <a:p>
            <a:r>
              <a:rPr lang="en-US" altLang="zh-CN" dirty="0"/>
              <a:t>Structured Design</a:t>
            </a:r>
            <a:endParaRPr lang="zh-CN" altLang="en-US" dirty="0"/>
          </a:p>
        </p:txBody>
      </p:sp>
      <p:sp>
        <p:nvSpPr>
          <p:cNvPr id="100" name="文本框 99"/>
          <p:cNvSpPr txBox="1"/>
          <p:nvPr/>
        </p:nvSpPr>
        <p:spPr>
          <a:xfrm>
            <a:off x="1422400" y="1930400"/>
            <a:ext cx="10329545" cy="418320"/>
          </a:xfrm>
          <a:prstGeom prst="rect">
            <a:avLst/>
          </a:prstGeom>
          <a:noFill/>
          <a:ln w="9525">
            <a:noFill/>
          </a:ln>
        </p:spPr>
        <p:txBody>
          <a:bodyPr wrap="square">
            <a:spAutoFit/>
          </a:bodyPr>
          <a:lstStyle/>
          <a:p>
            <a:pPr marL="0" indent="0" algn="l" fontAlgn="auto">
              <a:lnSpc>
                <a:spcPct val="130000"/>
              </a:lnSpc>
            </a:pPr>
            <a:r>
              <a:rPr lang="en-US" altLang="zh-CN" b="0" u="none" dirty="0">
                <a:latin typeface="微软雅黑 Light" panose="020B0502040204020203" pitchFamily="34" charset="-122"/>
                <a:ea typeface="微软雅黑 Light" panose="020B0502040204020203" pitchFamily="34" charset="-122"/>
                <a:cs typeface="宋体" panose="02010600030101010101" pitchFamily="2" charset="-122"/>
              </a:rPr>
              <a:t>    </a:t>
            </a:r>
            <a:endParaRPr lang="zh-CN" altLang="en-US" dirty="0">
              <a:latin typeface="Times New Roman" panose="02020603050405020304" pitchFamily="18" charset="0"/>
            </a:endParaRPr>
          </a:p>
        </p:txBody>
      </p:sp>
      <p:sp>
        <p:nvSpPr>
          <p:cNvPr id="2" name="文本框 1"/>
          <p:cNvSpPr txBox="1"/>
          <p:nvPr/>
        </p:nvSpPr>
        <p:spPr>
          <a:xfrm>
            <a:off x="768972" y="2209800"/>
            <a:ext cx="10920108" cy="2974148"/>
          </a:xfrm>
          <a:prstGeom prst="rect">
            <a:avLst/>
          </a:prstGeom>
          <a:noFill/>
        </p:spPr>
        <p:txBody>
          <a:bodyPr wrap="square" rtlCol="0" anchor="t">
            <a:spAutoFit/>
          </a:bodyPr>
          <a:lstStyle/>
          <a:p>
            <a:pPr fontAlgn="auto">
              <a:lnSpc>
                <a:spcPct val="130000"/>
              </a:lnSpc>
            </a:pPr>
            <a:r>
              <a:rPr lang="en-US" dirty="0">
                <a:sym typeface="+mn-ea"/>
              </a:rPr>
              <a:t>       </a:t>
            </a:r>
            <a:r>
              <a:rPr dirty="0">
                <a:sym typeface="+mn-ea"/>
              </a:rPr>
              <a:t>软件开发环境不同，所使用的编程语言也不同。Visual Basic，Visual C，Visual FoxPro（VFP），Delphi等都是可视化的软件开发工具，它们提供了强有力的调试功能，可以提高软件生产率，减少错误，有效提高软件质量。</a:t>
            </a:r>
          </a:p>
          <a:p>
            <a:pPr fontAlgn="auto">
              <a:lnSpc>
                <a:spcPct val="130000"/>
              </a:lnSpc>
            </a:pPr>
            <a:r>
              <a:rPr dirty="0">
                <a:sym typeface="+mn-ea"/>
              </a:rPr>
              <a:t>       开发移动应用软件时，如果基于的操作系统不同，可采用的编程语言也会有所不同。</a:t>
            </a:r>
          </a:p>
          <a:p>
            <a:pPr marL="342900" indent="-342900" fontAlgn="auto">
              <a:lnSpc>
                <a:spcPct val="130000"/>
              </a:lnSpc>
              <a:buClrTx/>
              <a:buFont typeface="Wingdings" panose="05000000000000000000" charset="0"/>
              <a:buChar char="Ø"/>
            </a:pPr>
            <a:r>
              <a:rPr dirty="0">
                <a:sym typeface="+mn-ea"/>
              </a:rPr>
              <a:t>Android是一种基于Linux内核、开放源代码的操作系统，主要用于移动设备，如智能手机、平板电脑、智能电视等。Android平台需要使用Java编程语言。</a:t>
            </a:r>
          </a:p>
          <a:p>
            <a:pPr marL="342900" indent="-342900" fontAlgn="auto">
              <a:lnSpc>
                <a:spcPct val="130000"/>
              </a:lnSpc>
              <a:buClrTx/>
              <a:buFont typeface="Wingdings" panose="05000000000000000000" charset="0"/>
              <a:buChar char="Ø"/>
            </a:pPr>
            <a:r>
              <a:rPr dirty="0">
                <a:sym typeface="+mn-ea"/>
              </a:rPr>
              <a:t>Apple公司的iOS移动操作系统需要使用Objective-C语言，新发布的语言是Swift。</a:t>
            </a:r>
          </a:p>
          <a:p>
            <a:pPr marL="342900" indent="-342900" fontAlgn="auto">
              <a:lnSpc>
                <a:spcPct val="130000"/>
              </a:lnSpc>
              <a:buClrTx/>
              <a:buFont typeface="Wingdings" panose="05000000000000000000" charset="0"/>
              <a:buChar char="Ø"/>
            </a:pPr>
            <a:r>
              <a:rPr dirty="0">
                <a:sym typeface="+mn-ea"/>
              </a:rPr>
              <a:t>Microsoft公司的Windows Phone操作系统所用的编程语言是C，C++，C#等。</a:t>
            </a:r>
          </a:p>
        </p:txBody>
      </p:sp>
    </p:spTree>
  </p:cSld>
  <p:clrMapOvr>
    <a:masterClrMapping/>
  </p:clrMapOvr>
  <p:transition>
    <p:pull dir="d"/>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5" name="文本占位符 4">
            <a:extLst>
              <a:ext uri="{FF2B5EF4-FFF2-40B4-BE49-F238E27FC236}">
                <a16:creationId xmlns:a16="http://schemas.microsoft.com/office/drawing/2014/main" id="{7C7B4BF3-19DF-629A-12E6-D8AF53A3F27E}"/>
              </a:ext>
            </a:extLst>
          </p:cNvPr>
          <p:cNvSpPr>
            <a:spLocks noGrp="1"/>
          </p:cNvSpPr>
          <p:nvPr>
            <p:ph type="body" sz="quarter" idx="10"/>
          </p:nvPr>
        </p:nvSpPr>
        <p:spPr>
          <a:xfrm>
            <a:off x="696000" y="1322832"/>
            <a:ext cx="5400000" cy="400110"/>
          </a:xfrm>
        </p:spPr>
        <p:txBody>
          <a:bodyPr/>
          <a:lstStyle/>
          <a:p>
            <a:r>
              <a:rPr lang="en-US" altLang="zh-CN" dirty="0"/>
              <a:t>4.1.2 </a:t>
            </a:r>
            <a:r>
              <a:rPr lang="zh-CN" altLang="en-US" dirty="0"/>
              <a:t>程序设计风格</a:t>
            </a:r>
          </a:p>
        </p:txBody>
      </p:sp>
      <p:sp>
        <p:nvSpPr>
          <p:cNvPr id="6" name="文本占位符 5">
            <a:extLst>
              <a:ext uri="{FF2B5EF4-FFF2-40B4-BE49-F238E27FC236}">
                <a16:creationId xmlns:a16="http://schemas.microsoft.com/office/drawing/2014/main" id="{1F0ABD0E-0157-0125-D483-B57AB8CD920C}"/>
              </a:ext>
            </a:extLst>
          </p:cNvPr>
          <p:cNvSpPr>
            <a:spLocks noGrp="1"/>
          </p:cNvSpPr>
          <p:nvPr>
            <p:ph type="body" sz="quarter" idx="11"/>
          </p:nvPr>
        </p:nvSpPr>
        <p:spPr/>
        <p:txBody>
          <a:bodyPr/>
          <a:lstStyle/>
          <a:p>
            <a:endParaRPr lang="zh-CN" altLang="en-US"/>
          </a:p>
        </p:txBody>
      </p:sp>
      <p:sp>
        <p:nvSpPr>
          <p:cNvPr id="10" name="文本框 9"/>
          <p:cNvSpPr txBox="1"/>
          <p:nvPr>
            <p:custDataLst>
              <p:tags r:id="rId1"/>
            </p:custDataLst>
          </p:nvPr>
        </p:nvSpPr>
        <p:spPr>
          <a:xfrm>
            <a:off x="3888587" y="2544742"/>
            <a:ext cx="7075805" cy="778739"/>
          </a:xfrm>
          <a:prstGeom prst="rect">
            <a:avLst/>
          </a:prstGeom>
          <a:noFill/>
        </p:spPr>
        <p:txBody>
          <a:bodyPr wrap="square" lIns="36000" rIns="36000">
            <a:spAutoFit/>
          </a:bodyPr>
          <a:lstStyle/>
          <a:p>
            <a:pPr algn="just">
              <a:lnSpc>
                <a:spcPct val="130000"/>
              </a:lnSpc>
              <a:spcBef>
                <a:spcPts val="600"/>
              </a:spcBef>
              <a:defRPr/>
            </a:pPr>
            <a:r>
              <a:rPr lang="zh-CN" altLang="en-US" dirty="0"/>
              <a:t>结构化程序设计（SP）强调模块采用自上而下、逐步求精的设计方法，只使用顺序、选择和循环3种基本控制结构构造程序</a:t>
            </a:r>
          </a:p>
        </p:txBody>
      </p:sp>
      <p:sp>
        <p:nvSpPr>
          <p:cNvPr id="11" name="文本框 10"/>
          <p:cNvSpPr txBox="1"/>
          <p:nvPr>
            <p:custDataLst>
              <p:tags r:id="rId2"/>
            </p:custDataLst>
          </p:nvPr>
        </p:nvSpPr>
        <p:spPr>
          <a:xfrm>
            <a:off x="4414367" y="4016672"/>
            <a:ext cx="6664325" cy="778739"/>
          </a:xfrm>
          <a:prstGeom prst="rect">
            <a:avLst/>
          </a:prstGeom>
          <a:noFill/>
        </p:spPr>
        <p:txBody>
          <a:bodyPr wrap="square" lIns="36000" rIns="36000">
            <a:spAutoFit/>
          </a:bodyPr>
          <a:lstStyle/>
          <a:p>
            <a:pPr algn="just">
              <a:lnSpc>
                <a:spcPct val="130000"/>
              </a:lnSpc>
              <a:spcBef>
                <a:spcPts val="600"/>
              </a:spcBef>
              <a:defRPr/>
            </a:pPr>
            <a:r>
              <a:rPr lang="zh-CN" altLang="en-US" dirty="0"/>
              <a:t>结构化程序设计用顺序、选择和循环3种结构的有限次组合或嵌套，设计出每个模块都是单入口、单出口的结构化程序</a:t>
            </a:r>
          </a:p>
        </p:txBody>
      </p:sp>
      <p:grpSp>
        <p:nvGrpSpPr>
          <p:cNvPr id="12" name="组合 11">
            <a:extLst>
              <a:ext uri="{FF2B5EF4-FFF2-40B4-BE49-F238E27FC236}">
                <a16:creationId xmlns:a16="http://schemas.microsoft.com/office/drawing/2014/main" id="{903AA65F-3136-94BB-5FCD-BF09FC023F5A}"/>
              </a:ext>
            </a:extLst>
          </p:cNvPr>
          <p:cNvGrpSpPr/>
          <p:nvPr/>
        </p:nvGrpSpPr>
        <p:grpSpPr>
          <a:xfrm>
            <a:off x="689212" y="2445047"/>
            <a:ext cx="3483610" cy="3663950"/>
            <a:chOff x="689212" y="2445047"/>
            <a:chExt cx="3483610" cy="3663950"/>
          </a:xfrm>
        </p:grpSpPr>
        <p:sp>
          <p:nvSpPr>
            <p:cNvPr id="20" name="Oval 15"/>
            <p:cNvSpPr>
              <a:spLocks noChangeArrowheads="1"/>
            </p:cNvSpPr>
            <p:nvPr>
              <p:custDataLst>
                <p:tags r:id="rId4"/>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2" name="Line 16"/>
            <p:cNvSpPr>
              <a:spLocks noChangeShapeType="1"/>
            </p:cNvSpPr>
            <p:nvPr>
              <p:custDataLst>
                <p:tags r:id="rId5"/>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3" name="Line 17"/>
            <p:cNvSpPr>
              <a:spLocks noChangeShapeType="1"/>
            </p:cNvSpPr>
            <p:nvPr>
              <p:custDataLst>
                <p:tags r:id="rId6"/>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6" name="Oval 10"/>
            <p:cNvSpPr>
              <a:spLocks noChangeArrowheads="1"/>
            </p:cNvSpPr>
            <p:nvPr>
              <p:custDataLst>
                <p:tags r:id="rId7"/>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7" name="Oval 13"/>
            <p:cNvSpPr>
              <a:spLocks noChangeArrowheads="1"/>
            </p:cNvSpPr>
            <p:nvPr>
              <p:custDataLst>
                <p:tags r:id="rId8"/>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8" name="KSO_GT1"/>
            <p:cNvSpPr>
              <a:spLocks noChangeArrowheads="1"/>
            </p:cNvSpPr>
            <p:nvPr>
              <p:custDataLst>
                <p:tags r:id="rId9"/>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0000" lnSpcReduction="200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结构化程序</a:t>
              </a:r>
            </a:p>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设计</a:t>
              </a:r>
            </a:p>
          </p:txBody>
        </p:sp>
        <p:sp>
          <p:nvSpPr>
            <p:cNvPr id="9" name="Oval 19"/>
            <p:cNvSpPr>
              <a:spLocks noChangeArrowheads="1"/>
            </p:cNvSpPr>
            <p:nvPr>
              <p:custDataLst>
                <p:tags r:id="rId10"/>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
        <p:nvSpPr>
          <p:cNvPr id="47" name="文本框 46"/>
          <p:cNvSpPr txBox="1"/>
          <p:nvPr>
            <p:custDataLst>
              <p:tags r:id="rId3"/>
            </p:custDataLst>
          </p:nvPr>
        </p:nvSpPr>
        <p:spPr>
          <a:xfrm>
            <a:off x="3694912" y="5630842"/>
            <a:ext cx="7098030" cy="418641"/>
          </a:xfrm>
          <a:prstGeom prst="rect">
            <a:avLst/>
          </a:prstGeom>
          <a:noFill/>
        </p:spPr>
        <p:txBody>
          <a:bodyPr wrap="square" lIns="36000" rIns="36000">
            <a:spAutoFit/>
          </a:bodyPr>
          <a:lstStyle/>
          <a:p>
            <a:pPr algn="just">
              <a:lnSpc>
                <a:spcPct val="130000"/>
              </a:lnSpc>
              <a:spcBef>
                <a:spcPts val="600"/>
              </a:spcBef>
              <a:defRPr/>
            </a:pPr>
            <a:r>
              <a:rPr lang="zh-CN" altLang="en-US" dirty="0"/>
              <a:t>结构化程序设计主张避免使用GOTO语句进行程序设计</a:t>
            </a:r>
          </a:p>
        </p:txBody>
      </p:sp>
    </p:spTree>
  </p:cSld>
  <p:clrMapOvr>
    <a:masterClrMapping/>
  </p:clrMapOvr>
  <p:transition>
    <p:pull dir="d"/>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4" name="文本占位符 3">
            <a:extLst>
              <a:ext uri="{FF2B5EF4-FFF2-40B4-BE49-F238E27FC236}">
                <a16:creationId xmlns:a16="http://schemas.microsoft.com/office/drawing/2014/main" id="{AED25E1A-409A-31A3-4AEF-6D0BD66F1BC5}"/>
              </a:ext>
            </a:extLst>
          </p:cNvPr>
          <p:cNvSpPr>
            <a:spLocks noGrp="1"/>
          </p:cNvSpPr>
          <p:nvPr>
            <p:ph type="body" sz="quarter" idx="10"/>
          </p:nvPr>
        </p:nvSpPr>
        <p:spPr>
          <a:xfrm>
            <a:off x="696000" y="1322832"/>
            <a:ext cx="5400000" cy="400110"/>
          </a:xfrm>
        </p:spPr>
        <p:txBody>
          <a:bodyPr/>
          <a:lstStyle/>
          <a:p>
            <a:r>
              <a:rPr lang="en-US" altLang="zh-CN" dirty="0"/>
              <a:t>4.1.2 </a:t>
            </a:r>
            <a:r>
              <a:rPr lang="zh-CN" altLang="en-US" dirty="0"/>
              <a:t>程序设计风格</a:t>
            </a:r>
          </a:p>
        </p:txBody>
      </p:sp>
      <p:sp>
        <p:nvSpPr>
          <p:cNvPr id="9" name="文本占位符 8">
            <a:extLst>
              <a:ext uri="{FF2B5EF4-FFF2-40B4-BE49-F238E27FC236}">
                <a16:creationId xmlns:a16="http://schemas.microsoft.com/office/drawing/2014/main" id="{B2249690-2892-BC80-D6B1-CE607F44CF79}"/>
              </a:ext>
            </a:extLst>
          </p:cNvPr>
          <p:cNvSpPr>
            <a:spLocks noGrp="1"/>
          </p:cNvSpPr>
          <p:nvPr>
            <p:ph type="body" sz="quarter" idx="11"/>
          </p:nvPr>
        </p:nvSpPr>
        <p:spPr/>
        <p:txBody>
          <a:bodyPr/>
          <a:lstStyle/>
          <a:p>
            <a:endParaRPr lang="zh-CN" altLang="en-US"/>
          </a:p>
        </p:txBody>
      </p:sp>
      <p:sp>
        <p:nvSpPr>
          <p:cNvPr id="19" name="文本框 18"/>
          <p:cNvSpPr txBox="1"/>
          <p:nvPr>
            <p:custDataLst>
              <p:tags r:id="rId1"/>
            </p:custDataLst>
          </p:nvPr>
        </p:nvSpPr>
        <p:spPr>
          <a:xfrm>
            <a:off x="3653637" y="2346325"/>
            <a:ext cx="7075805" cy="418641"/>
          </a:xfrm>
          <a:prstGeom prst="rect">
            <a:avLst/>
          </a:prstGeom>
          <a:noFill/>
        </p:spPr>
        <p:txBody>
          <a:bodyPr wrap="square" lIns="36000" rIns="36000">
            <a:spAutoFit/>
          </a:bodyPr>
          <a:lstStyle/>
          <a:p>
            <a:pPr>
              <a:lnSpc>
                <a:spcPct val="130000"/>
              </a:lnSpc>
              <a:spcBef>
                <a:spcPts val="600"/>
              </a:spcBef>
              <a:defRPr/>
            </a:pPr>
            <a:r>
              <a:rPr dirty="0" err="1"/>
              <a:t>选用含义鲜明的标识符</a:t>
            </a:r>
            <a:r>
              <a:rPr dirty="0"/>
              <a:t>。</a:t>
            </a:r>
          </a:p>
        </p:txBody>
      </p:sp>
      <p:sp>
        <p:nvSpPr>
          <p:cNvPr id="24" name="文本框 23"/>
          <p:cNvSpPr txBox="1"/>
          <p:nvPr>
            <p:custDataLst>
              <p:tags r:id="rId2"/>
            </p:custDataLst>
          </p:nvPr>
        </p:nvSpPr>
        <p:spPr>
          <a:xfrm>
            <a:off x="4178782" y="3425190"/>
            <a:ext cx="7324006" cy="1935979"/>
          </a:xfrm>
          <a:prstGeom prst="rect">
            <a:avLst/>
          </a:prstGeom>
          <a:noFill/>
        </p:spPr>
        <p:txBody>
          <a:bodyPr wrap="square" lIns="36000" rIns="36000">
            <a:spAutoFit/>
          </a:bodyPr>
          <a:lstStyle/>
          <a:p>
            <a:pPr>
              <a:lnSpc>
                <a:spcPct val="130000"/>
              </a:lnSpc>
              <a:spcBef>
                <a:spcPts val="600"/>
              </a:spcBef>
              <a:defRPr/>
            </a:pPr>
            <a:r>
              <a:rPr dirty="0" err="1"/>
              <a:t>适当的注解</a:t>
            </a:r>
            <a:r>
              <a:rPr dirty="0"/>
              <a:t>。</a:t>
            </a:r>
            <a:endParaRPr lang="en-US" dirty="0"/>
          </a:p>
          <a:p>
            <a:pPr>
              <a:lnSpc>
                <a:spcPct val="130000"/>
              </a:lnSpc>
              <a:spcBef>
                <a:spcPts val="600"/>
              </a:spcBef>
              <a:defRPr/>
            </a:pPr>
            <a:r>
              <a:rPr dirty="0"/>
              <a:t>注解是程序员和程序读者之间通信的重要手段。通常在每个模块开始处用注解简述模块的功能、主要算法、接口特点、重要数据含义、开发简史等。注解内容一定要正确，程序有变动时，注解要与程序始终保持一致性。要用空格或空行区分注解和程序。</a:t>
            </a:r>
          </a:p>
        </p:txBody>
      </p:sp>
      <p:sp>
        <p:nvSpPr>
          <p:cNvPr id="30" name="文本框 29"/>
          <p:cNvSpPr txBox="1"/>
          <p:nvPr>
            <p:custDataLst>
              <p:tags r:id="rId3"/>
            </p:custDataLst>
          </p:nvPr>
        </p:nvSpPr>
        <p:spPr>
          <a:xfrm>
            <a:off x="3657446" y="5572760"/>
            <a:ext cx="7996395" cy="418641"/>
          </a:xfrm>
          <a:prstGeom prst="rect">
            <a:avLst/>
          </a:prstGeom>
          <a:noFill/>
        </p:spPr>
        <p:txBody>
          <a:bodyPr wrap="square" lIns="0" rIns="0">
            <a:spAutoFit/>
          </a:bodyPr>
          <a:lstStyle/>
          <a:p>
            <a:pPr>
              <a:lnSpc>
                <a:spcPct val="130000"/>
              </a:lnSpc>
              <a:spcBef>
                <a:spcPts val="600"/>
              </a:spcBef>
              <a:defRPr/>
            </a:pPr>
            <a:r>
              <a:rPr lang="zh-CN" altLang="en-US" dirty="0"/>
              <a:t>程序布局阶梯式。适当利用阶梯形式，使程序的层次结构清晰明显。</a:t>
            </a:r>
          </a:p>
        </p:txBody>
      </p:sp>
      <p:grpSp>
        <p:nvGrpSpPr>
          <p:cNvPr id="10" name="组合 9">
            <a:extLst>
              <a:ext uri="{FF2B5EF4-FFF2-40B4-BE49-F238E27FC236}">
                <a16:creationId xmlns:a16="http://schemas.microsoft.com/office/drawing/2014/main" id="{EA38F7CA-788D-2609-43E3-436BFD36A53D}"/>
              </a:ext>
            </a:extLst>
          </p:cNvPr>
          <p:cNvGrpSpPr/>
          <p:nvPr/>
        </p:nvGrpSpPr>
        <p:grpSpPr>
          <a:xfrm>
            <a:off x="689212" y="2445047"/>
            <a:ext cx="3483610" cy="3663950"/>
            <a:chOff x="689212" y="2445047"/>
            <a:chExt cx="3483610" cy="3663950"/>
          </a:xfrm>
        </p:grpSpPr>
        <p:sp>
          <p:nvSpPr>
            <p:cNvPr id="11" name="Oval 15">
              <a:extLst>
                <a:ext uri="{FF2B5EF4-FFF2-40B4-BE49-F238E27FC236}">
                  <a16:creationId xmlns:a16="http://schemas.microsoft.com/office/drawing/2014/main" id="{AE92595B-B055-7BBD-BC73-51274EC58C06}"/>
                </a:ext>
              </a:extLst>
            </p:cNvPr>
            <p:cNvSpPr>
              <a:spLocks noChangeArrowheads="1"/>
            </p:cNvSpPr>
            <p:nvPr>
              <p:custDataLst>
                <p:tags r:id="rId4"/>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2" name="Line 16">
              <a:extLst>
                <a:ext uri="{FF2B5EF4-FFF2-40B4-BE49-F238E27FC236}">
                  <a16:creationId xmlns:a16="http://schemas.microsoft.com/office/drawing/2014/main" id="{909DB966-986C-25DF-793B-3E0F4F836210}"/>
                </a:ext>
              </a:extLst>
            </p:cNvPr>
            <p:cNvSpPr>
              <a:spLocks noChangeShapeType="1"/>
            </p:cNvSpPr>
            <p:nvPr>
              <p:custDataLst>
                <p:tags r:id="rId5"/>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0" name="Line 17">
              <a:extLst>
                <a:ext uri="{FF2B5EF4-FFF2-40B4-BE49-F238E27FC236}">
                  <a16:creationId xmlns:a16="http://schemas.microsoft.com/office/drawing/2014/main" id="{9EE446A2-866F-6890-555B-2FF47637A410}"/>
                </a:ext>
              </a:extLst>
            </p:cNvPr>
            <p:cNvSpPr>
              <a:spLocks noChangeShapeType="1"/>
            </p:cNvSpPr>
            <p:nvPr>
              <p:custDataLst>
                <p:tags r:id="rId6"/>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2" name="Oval 10">
              <a:extLst>
                <a:ext uri="{FF2B5EF4-FFF2-40B4-BE49-F238E27FC236}">
                  <a16:creationId xmlns:a16="http://schemas.microsoft.com/office/drawing/2014/main" id="{4A9D474B-C4FA-2364-4582-8F093A20708A}"/>
                </a:ext>
              </a:extLst>
            </p:cNvPr>
            <p:cNvSpPr>
              <a:spLocks noChangeArrowheads="1"/>
            </p:cNvSpPr>
            <p:nvPr>
              <p:custDataLst>
                <p:tags r:id="rId7"/>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3" name="Oval 13">
              <a:extLst>
                <a:ext uri="{FF2B5EF4-FFF2-40B4-BE49-F238E27FC236}">
                  <a16:creationId xmlns:a16="http://schemas.microsoft.com/office/drawing/2014/main" id="{DCE2CFF4-A639-C15E-7C30-8BDAA1B5C8CB}"/>
                </a:ext>
              </a:extLst>
            </p:cNvPr>
            <p:cNvSpPr>
              <a:spLocks noChangeArrowheads="1"/>
            </p:cNvSpPr>
            <p:nvPr>
              <p:custDataLst>
                <p:tags r:id="rId8"/>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6" name="KSO_GT1">
              <a:extLst>
                <a:ext uri="{FF2B5EF4-FFF2-40B4-BE49-F238E27FC236}">
                  <a16:creationId xmlns:a16="http://schemas.microsoft.com/office/drawing/2014/main" id="{6ADF2C4B-9266-B1FE-FD4D-CFDC7DE7ACEA}"/>
                </a:ext>
              </a:extLst>
            </p:cNvPr>
            <p:cNvSpPr>
              <a:spLocks noChangeArrowheads="1"/>
            </p:cNvSpPr>
            <p:nvPr>
              <p:custDataLst>
                <p:tags r:id="rId9"/>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0000" lnSpcReduction="200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文档</a:t>
              </a:r>
              <a:endParaRPr lang="en-US" altLang="zh-CN" sz="2800" kern="0" dirty="0">
                <a:solidFill>
                  <a:srgbClr val="FFFFFF"/>
                </a:solidFill>
                <a:latin typeface="Times New Roman" panose="02020603050405020304" pitchFamily="18" charset="0"/>
                <a:ea typeface="微软雅黑 Light" panose="020B0502040204020203" pitchFamily="34" charset="-122"/>
                <a:cs typeface="+mn-ea"/>
              </a:endParaRPr>
            </a:p>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书写</a:t>
              </a:r>
              <a:endParaRPr lang="en-US" altLang="zh-CN" sz="2800" kern="0" dirty="0">
                <a:solidFill>
                  <a:srgbClr val="FFFFFF"/>
                </a:solidFill>
                <a:latin typeface="Times New Roman" panose="02020603050405020304" pitchFamily="18" charset="0"/>
                <a:ea typeface="微软雅黑 Light" panose="020B0502040204020203" pitchFamily="34" charset="-122"/>
                <a:cs typeface="+mn-ea"/>
              </a:endParaRPr>
            </a:p>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规则</a:t>
              </a:r>
            </a:p>
          </p:txBody>
        </p:sp>
        <p:sp>
          <p:nvSpPr>
            <p:cNvPr id="27" name="Oval 19">
              <a:extLst>
                <a:ext uri="{FF2B5EF4-FFF2-40B4-BE49-F238E27FC236}">
                  <a16:creationId xmlns:a16="http://schemas.microsoft.com/office/drawing/2014/main" id="{A2A6C56A-89FB-4A50-B52E-F4B902123D65}"/>
                </a:ext>
              </a:extLst>
            </p:cNvPr>
            <p:cNvSpPr>
              <a:spLocks noChangeArrowheads="1"/>
            </p:cNvSpPr>
            <p:nvPr>
              <p:custDataLst>
                <p:tags r:id="rId10"/>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1" name="Oval 19">
              <a:extLst>
                <a:ext uri="{FF2B5EF4-FFF2-40B4-BE49-F238E27FC236}">
                  <a16:creationId xmlns:a16="http://schemas.microsoft.com/office/drawing/2014/main" id="{CF4BE46C-26AB-8F6C-ED48-0A064BBA2289}"/>
                </a:ext>
              </a:extLst>
            </p:cNvPr>
            <p:cNvSpPr>
              <a:spLocks noChangeArrowheads="1"/>
            </p:cNvSpPr>
            <p:nvPr>
              <p:custDataLst>
                <p:tags r:id="rId11"/>
              </p:custDataLst>
            </p:nvPr>
          </p:nvSpPr>
          <p:spPr bwMode="gray">
            <a:xfrm>
              <a:off x="3599735" y="3227685"/>
              <a:ext cx="251460" cy="251460"/>
            </a:xfrm>
            <a:prstGeom prst="ellipse">
              <a:avLst/>
            </a:prstGeom>
            <a:solidFill>
              <a:schemeClr val="accent6"/>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Tree>
  </p:cSld>
  <p:clrMapOvr>
    <a:masterClrMapping/>
  </p:clrMapOvr>
  <p:transition>
    <p:pull dir="d"/>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5" name="文本占位符 4">
            <a:extLst>
              <a:ext uri="{FF2B5EF4-FFF2-40B4-BE49-F238E27FC236}">
                <a16:creationId xmlns:a16="http://schemas.microsoft.com/office/drawing/2014/main" id="{527B666E-1855-5BE3-F5C7-FBE0EFAF7374}"/>
              </a:ext>
            </a:extLst>
          </p:cNvPr>
          <p:cNvSpPr>
            <a:spLocks noGrp="1"/>
          </p:cNvSpPr>
          <p:nvPr>
            <p:ph type="body" sz="quarter" idx="10"/>
          </p:nvPr>
        </p:nvSpPr>
        <p:spPr>
          <a:xfrm>
            <a:off x="696000" y="1322832"/>
            <a:ext cx="5400000" cy="400110"/>
          </a:xfrm>
        </p:spPr>
        <p:txBody>
          <a:bodyPr/>
          <a:lstStyle/>
          <a:p>
            <a:r>
              <a:rPr lang="en-US" altLang="zh-CN" dirty="0"/>
              <a:t>4.1.2 </a:t>
            </a:r>
            <a:r>
              <a:rPr lang="zh-CN" altLang="en-US" dirty="0"/>
              <a:t>程序设计风格</a:t>
            </a:r>
          </a:p>
        </p:txBody>
      </p:sp>
      <p:sp>
        <p:nvSpPr>
          <p:cNvPr id="9" name="文本占位符 8">
            <a:extLst>
              <a:ext uri="{FF2B5EF4-FFF2-40B4-BE49-F238E27FC236}">
                <a16:creationId xmlns:a16="http://schemas.microsoft.com/office/drawing/2014/main" id="{3CC70274-9F8B-7BE2-1E4A-918C3C0E6CB4}"/>
              </a:ext>
            </a:extLst>
          </p:cNvPr>
          <p:cNvSpPr>
            <a:spLocks noGrp="1"/>
          </p:cNvSpPr>
          <p:nvPr>
            <p:ph type="body" sz="quarter" idx="11"/>
          </p:nvPr>
        </p:nvSpPr>
        <p:spPr/>
        <p:txBody>
          <a:bodyPr/>
          <a:lstStyle/>
          <a:p>
            <a:endParaRPr lang="zh-CN" altLang="en-US"/>
          </a:p>
        </p:txBody>
      </p:sp>
      <p:sp>
        <p:nvSpPr>
          <p:cNvPr id="42" name="文本框 41"/>
          <p:cNvSpPr txBox="1"/>
          <p:nvPr>
            <p:custDataLst>
              <p:tags r:id="rId1"/>
            </p:custDataLst>
          </p:nvPr>
        </p:nvSpPr>
        <p:spPr>
          <a:xfrm>
            <a:off x="3628268" y="2205355"/>
            <a:ext cx="7572390" cy="923330"/>
          </a:xfrm>
          <a:prstGeom prst="rect">
            <a:avLst/>
          </a:prstGeom>
          <a:noFill/>
        </p:spPr>
        <p:txBody>
          <a:bodyPr wrap="square" lIns="36000" rIns="36000">
            <a:spAutoFit/>
          </a:bodyPr>
          <a:lstStyle/>
          <a:p>
            <a:pPr algn="just">
              <a:defRPr/>
            </a:pPr>
            <a:r>
              <a:rPr dirty="0"/>
              <a:t>数据说明的次序应标准化。例如，按数据类型或数据结构来确定数据说明的次序。次序的规则在数据字典中加以说明，以便在测试调试阶段和维护阶段方便地查找数据说明情况。</a:t>
            </a:r>
          </a:p>
        </p:txBody>
      </p:sp>
      <p:sp>
        <p:nvSpPr>
          <p:cNvPr id="45" name="文本框 44"/>
          <p:cNvSpPr txBox="1"/>
          <p:nvPr>
            <p:custDataLst>
              <p:tags r:id="rId2"/>
            </p:custDataLst>
          </p:nvPr>
        </p:nvSpPr>
        <p:spPr>
          <a:xfrm>
            <a:off x="4240646" y="3662504"/>
            <a:ext cx="7487932" cy="369332"/>
          </a:xfrm>
          <a:prstGeom prst="rect">
            <a:avLst/>
          </a:prstGeom>
          <a:noFill/>
        </p:spPr>
        <p:txBody>
          <a:bodyPr wrap="square" lIns="36000" rIns="36000">
            <a:spAutoFit/>
          </a:bodyPr>
          <a:lstStyle/>
          <a:p>
            <a:pPr algn="just">
              <a:defRPr/>
            </a:pPr>
            <a:r>
              <a:rPr dirty="0" err="1"/>
              <a:t>在对同一语句中的多个变量加以说明时，应按英文字母的顺序排列</a:t>
            </a:r>
            <a:r>
              <a:rPr dirty="0"/>
              <a:t>。</a:t>
            </a:r>
          </a:p>
        </p:txBody>
      </p:sp>
      <p:sp>
        <p:nvSpPr>
          <p:cNvPr id="52" name="文本框 51"/>
          <p:cNvSpPr txBox="1"/>
          <p:nvPr>
            <p:custDataLst>
              <p:tags r:id="rId3"/>
            </p:custDataLst>
          </p:nvPr>
        </p:nvSpPr>
        <p:spPr>
          <a:xfrm>
            <a:off x="4240646" y="4574043"/>
            <a:ext cx="7086055" cy="369332"/>
          </a:xfrm>
          <a:prstGeom prst="rect">
            <a:avLst/>
          </a:prstGeom>
          <a:noFill/>
        </p:spPr>
        <p:txBody>
          <a:bodyPr wrap="square" lIns="36000" rIns="36000">
            <a:spAutoFit/>
          </a:bodyPr>
          <a:lstStyle/>
          <a:p>
            <a:pPr algn="just">
              <a:defRPr/>
            </a:pPr>
            <a:r>
              <a:rPr lang="zh-CN" altLang="en-US" dirty="0"/>
              <a:t>在使用一个复杂的数据结构时，最好加注释语句。</a:t>
            </a:r>
          </a:p>
        </p:txBody>
      </p:sp>
      <p:sp>
        <p:nvSpPr>
          <p:cNvPr id="55" name="文本框 54"/>
          <p:cNvSpPr txBox="1"/>
          <p:nvPr>
            <p:custDataLst>
              <p:tags r:id="rId4"/>
            </p:custDataLst>
          </p:nvPr>
        </p:nvSpPr>
        <p:spPr>
          <a:xfrm>
            <a:off x="3572283" y="5572139"/>
            <a:ext cx="7389381" cy="369332"/>
          </a:xfrm>
          <a:prstGeom prst="rect">
            <a:avLst/>
          </a:prstGeom>
          <a:noFill/>
        </p:spPr>
        <p:txBody>
          <a:bodyPr wrap="square" lIns="36000" rIns="36000">
            <a:spAutoFit/>
          </a:bodyPr>
          <a:lstStyle/>
          <a:p>
            <a:pPr algn="just">
              <a:defRPr/>
            </a:pPr>
            <a:r>
              <a:rPr lang="zh-CN" altLang="en-US" dirty="0"/>
              <a:t>变量说明不要遗漏，变量的类型、长度、存储及初始化要正确。</a:t>
            </a:r>
          </a:p>
        </p:txBody>
      </p:sp>
      <p:grpSp>
        <p:nvGrpSpPr>
          <p:cNvPr id="10" name="组合 9">
            <a:extLst>
              <a:ext uri="{FF2B5EF4-FFF2-40B4-BE49-F238E27FC236}">
                <a16:creationId xmlns:a16="http://schemas.microsoft.com/office/drawing/2014/main" id="{3C17941E-4C8D-008A-C2B1-A29CB2A966E9}"/>
              </a:ext>
            </a:extLst>
          </p:cNvPr>
          <p:cNvGrpSpPr/>
          <p:nvPr/>
        </p:nvGrpSpPr>
        <p:grpSpPr>
          <a:xfrm>
            <a:off x="689212" y="2445047"/>
            <a:ext cx="3483610" cy="3663950"/>
            <a:chOff x="689212" y="2445047"/>
            <a:chExt cx="3483610" cy="3663950"/>
          </a:xfrm>
        </p:grpSpPr>
        <p:sp>
          <p:nvSpPr>
            <p:cNvPr id="11" name="Oval 15">
              <a:extLst>
                <a:ext uri="{FF2B5EF4-FFF2-40B4-BE49-F238E27FC236}">
                  <a16:creationId xmlns:a16="http://schemas.microsoft.com/office/drawing/2014/main" id="{A12E58B3-6042-2B6A-D6EC-49A2F272ABC2}"/>
                </a:ext>
              </a:extLst>
            </p:cNvPr>
            <p:cNvSpPr>
              <a:spLocks noChangeArrowheads="1"/>
            </p:cNvSpPr>
            <p:nvPr>
              <p:custDataLst>
                <p:tags r:id="rId5"/>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2" name="Line 16">
              <a:extLst>
                <a:ext uri="{FF2B5EF4-FFF2-40B4-BE49-F238E27FC236}">
                  <a16:creationId xmlns:a16="http://schemas.microsoft.com/office/drawing/2014/main" id="{08A2F693-9F23-4FA1-6413-3B01B7E9D27B}"/>
                </a:ext>
              </a:extLst>
            </p:cNvPr>
            <p:cNvSpPr>
              <a:spLocks noChangeShapeType="1"/>
            </p:cNvSpPr>
            <p:nvPr>
              <p:custDataLst>
                <p:tags r:id="rId6"/>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3" name="Line 17">
              <a:extLst>
                <a:ext uri="{FF2B5EF4-FFF2-40B4-BE49-F238E27FC236}">
                  <a16:creationId xmlns:a16="http://schemas.microsoft.com/office/drawing/2014/main" id="{66C096E1-D387-52D0-3814-88942F615204}"/>
                </a:ext>
              </a:extLst>
            </p:cNvPr>
            <p:cNvSpPr>
              <a:spLocks noChangeShapeType="1"/>
            </p:cNvSpPr>
            <p:nvPr>
              <p:custDataLst>
                <p:tags r:id="rId7"/>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4" name="Oval 10">
              <a:extLst>
                <a:ext uri="{FF2B5EF4-FFF2-40B4-BE49-F238E27FC236}">
                  <a16:creationId xmlns:a16="http://schemas.microsoft.com/office/drawing/2014/main" id="{F8305DB1-A18E-E7B5-66E9-357150530E1A}"/>
                </a:ext>
              </a:extLst>
            </p:cNvPr>
            <p:cNvSpPr>
              <a:spLocks noChangeArrowheads="1"/>
            </p:cNvSpPr>
            <p:nvPr>
              <p:custDataLst>
                <p:tags r:id="rId8"/>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5" name="Oval 13">
              <a:extLst>
                <a:ext uri="{FF2B5EF4-FFF2-40B4-BE49-F238E27FC236}">
                  <a16:creationId xmlns:a16="http://schemas.microsoft.com/office/drawing/2014/main" id="{DCE1B2A0-CD14-538A-C1B0-E5899970B00C}"/>
                </a:ext>
              </a:extLst>
            </p:cNvPr>
            <p:cNvSpPr>
              <a:spLocks noChangeArrowheads="1"/>
            </p:cNvSpPr>
            <p:nvPr>
              <p:custDataLst>
                <p:tags r:id="rId9"/>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6" name="KSO_GT1">
              <a:extLst>
                <a:ext uri="{FF2B5EF4-FFF2-40B4-BE49-F238E27FC236}">
                  <a16:creationId xmlns:a16="http://schemas.microsoft.com/office/drawing/2014/main" id="{8E2A6E3E-74B5-B655-33E2-BD1BFD853768}"/>
                </a:ext>
              </a:extLst>
            </p:cNvPr>
            <p:cNvSpPr>
              <a:spLocks noChangeArrowheads="1"/>
            </p:cNvSpPr>
            <p:nvPr>
              <p:custDataLst>
                <p:tags r:id="rId10"/>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75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数据说明</a:t>
              </a:r>
            </a:p>
          </p:txBody>
        </p:sp>
        <p:sp>
          <p:nvSpPr>
            <p:cNvPr id="17" name="Oval 19">
              <a:extLst>
                <a:ext uri="{FF2B5EF4-FFF2-40B4-BE49-F238E27FC236}">
                  <a16:creationId xmlns:a16="http://schemas.microsoft.com/office/drawing/2014/main" id="{8AEA97EB-0781-76FF-F988-5B05EDEB8A94}"/>
                </a:ext>
              </a:extLst>
            </p:cNvPr>
            <p:cNvSpPr>
              <a:spLocks noChangeArrowheads="1"/>
            </p:cNvSpPr>
            <p:nvPr>
              <p:custDataLst>
                <p:tags r:id="rId11"/>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8" name="Oval 19">
              <a:extLst>
                <a:ext uri="{FF2B5EF4-FFF2-40B4-BE49-F238E27FC236}">
                  <a16:creationId xmlns:a16="http://schemas.microsoft.com/office/drawing/2014/main" id="{5C9C8D07-E409-F009-7EDF-76C83060255E}"/>
                </a:ext>
              </a:extLst>
            </p:cNvPr>
            <p:cNvSpPr>
              <a:spLocks noChangeArrowheads="1"/>
            </p:cNvSpPr>
            <p:nvPr>
              <p:custDataLst>
                <p:tags r:id="rId12"/>
              </p:custDataLst>
            </p:nvPr>
          </p:nvSpPr>
          <p:spPr bwMode="gray">
            <a:xfrm>
              <a:off x="3878182" y="4153832"/>
              <a:ext cx="251460" cy="251460"/>
            </a:xfrm>
            <a:prstGeom prst="ellipse">
              <a:avLst/>
            </a:prstGeom>
            <a:solidFill>
              <a:schemeClr val="accent4"/>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9" name="Oval 19">
              <a:extLst>
                <a:ext uri="{FF2B5EF4-FFF2-40B4-BE49-F238E27FC236}">
                  <a16:creationId xmlns:a16="http://schemas.microsoft.com/office/drawing/2014/main" id="{6D3B38D0-F844-595A-F9E0-A6E6B63BB69B}"/>
                </a:ext>
              </a:extLst>
            </p:cNvPr>
            <p:cNvSpPr>
              <a:spLocks noChangeArrowheads="1"/>
            </p:cNvSpPr>
            <p:nvPr>
              <p:custDataLst>
                <p:tags r:id="rId13"/>
              </p:custDataLst>
            </p:nvPr>
          </p:nvSpPr>
          <p:spPr bwMode="gray">
            <a:xfrm>
              <a:off x="3599735" y="3227685"/>
              <a:ext cx="251460" cy="251460"/>
            </a:xfrm>
            <a:prstGeom prst="ellipse">
              <a:avLst/>
            </a:prstGeom>
            <a:solidFill>
              <a:schemeClr val="accent6"/>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Tree>
  </p:cSld>
  <p:clrMapOvr>
    <a:masterClrMapping/>
  </p:clrMapOvr>
  <p:transition>
    <p:pull dir="d"/>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4" name="文本占位符 3">
            <a:extLst>
              <a:ext uri="{FF2B5EF4-FFF2-40B4-BE49-F238E27FC236}">
                <a16:creationId xmlns:a16="http://schemas.microsoft.com/office/drawing/2014/main" id="{CC55D67B-1B07-481F-E6AE-EC021A746570}"/>
              </a:ext>
            </a:extLst>
          </p:cNvPr>
          <p:cNvSpPr>
            <a:spLocks noGrp="1"/>
          </p:cNvSpPr>
          <p:nvPr>
            <p:ph type="body" sz="quarter" idx="10"/>
          </p:nvPr>
        </p:nvSpPr>
        <p:spPr>
          <a:xfrm>
            <a:off x="696000" y="1322832"/>
            <a:ext cx="5400000" cy="400110"/>
          </a:xfrm>
        </p:spPr>
        <p:txBody>
          <a:bodyPr/>
          <a:lstStyle/>
          <a:p>
            <a:r>
              <a:rPr lang="en-US" altLang="zh-CN" dirty="0"/>
              <a:t>4.1.2 </a:t>
            </a:r>
            <a:r>
              <a:rPr lang="zh-CN" altLang="en-US" dirty="0"/>
              <a:t>程序设计风格</a:t>
            </a:r>
          </a:p>
        </p:txBody>
      </p:sp>
      <p:sp>
        <p:nvSpPr>
          <p:cNvPr id="20" name="文本占位符 19">
            <a:extLst>
              <a:ext uri="{FF2B5EF4-FFF2-40B4-BE49-F238E27FC236}">
                <a16:creationId xmlns:a16="http://schemas.microsoft.com/office/drawing/2014/main" id="{286754AC-44F7-95F2-8FA1-8AB264C059EF}"/>
              </a:ext>
            </a:extLst>
          </p:cNvPr>
          <p:cNvSpPr>
            <a:spLocks noGrp="1"/>
          </p:cNvSpPr>
          <p:nvPr>
            <p:ph type="body" sz="quarter" idx="11"/>
          </p:nvPr>
        </p:nvSpPr>
        <p:spPr/>
        <p:txBody>
          <a:bodyPr/>
          <a:lstStyle/>
          <a:p>
            <a:endParaRPr lang="zh-CN" altLang="en-US"/>
          </a:p>
        </p:txBody>
      </p:sp>
      <p:sp>
        <p:nvSpPr>
          <p:cNvPr id="10" name="文本框 9"/>
          <p:cNvSpPr txBox="1"/>
          <p:nvPr>
            <p:custDataLst>
              <p:tags r:id="rId1"/>
            </p:custDataLst>
          </p:nvPr>
        </p:nvSpPr>
        <p:spPr>
          <a:xfrm>
            <a:off x="3632835" y="2321560"/>
            <a:ext cx="6763385" cy="369332"/>
          </a:xfrm>
          <a:prstGeom prst="rect">
            <a:avLst/>
          </a:prstGeom>
          <a:noFill/>
        </p:spPr>
        <p:txBody>
          <a:bodyPr wrap="square" lIns="0" rIns="0">
            <a:spAutoFit/>
          </a:bodyPr>
          <a:lstStyle/>
          <a:p>
            <a:pPr>
              <a:defRPr/>
            </a:pPr>
            <a:r>
              <a:rPr dirty="0" err="1"/>
              <a:t>不要为了节省空间而把多个语句写在同一行</a:t>
            </a:r>
            <a:r>
              <a:rPr dirty="0"/>
              <a:t>。</a:t>
            </a:r>
          </a:p>
        </p:txBody>
      </p:sp>
      <p:sp>
        <p:nvSpPr>
          <p:cNvPr id="47" name="文本框 46"/>
          <p:cNvSpPr txBox="1"/>
          <p:nvPr>
            <p:custDataLst>
              <p:tags r:id="rId2"/>
            </p:custDataLst>
          </p:nvPr>
        </p:nvSpPr>
        <p:spPr>
          <a:xfrm>
            <a:off x="4525645" y="3307715"/>
            <a:ext cx="7066914" cy="369332"/>
          </a:xfrm>
          <a:prstGeom prst="rect">
            <a:avLst/>
          </a:prstGeom>
          <a:noFill/>
        </p:spPr>
        <p:txBody>
          <a:bodyPr wrap="square" lIns="0" rIns="0">
            <a:spAutoFit/>
          </a:bodyPr>
          <a:lstStyle/>
          <a:p>
            <a:pPr>
              <a:defRPr/>
            </a:pPr>
            <a:r>
              <a:rPr dirty="0" err="1"/>
              <a:t>尽量减少对“非”条件的测试</a:t>
            </a:r>
            <a:r>
              <a:rPr dirty="0"/>
              <a:t>。</a:t>
            </a:r>
          </a:p>
        </p:txBody>
      </p:sp>
      <p:sp>
        <p:nvSpPr>
          <p:cNvPr id="11" name="文本框 10"/>
          <p:cNvSpPr txBox="1"/>
          <p:nvPr>
            <p:custDataLst>
              <p:tags r:id="rId3"/>
            </p:custDataLst>
          </p:nvPr>
        </p:nvSpPr>
        <p:spPr>
          <a:xfrm>
            <a:off x="4525645" y="4654550"/>
            <a:ext cx="7242175" cy="481965"/>
          </a:xfrm>
          <a:prstGeom prst="rect">
            <a:avLst/>
          </a:prstGeom>
          <a:noFill/>
        </p:spPr>
        <p:txBody>
          <a:bodyPr wrap="square" lIns="0" rIns="0">
            <a:normAutofit/>
          </a:bodyPr>
          <a:lstStyle/>
          <a:p>
            <a:pPr>
              <a:defRPr/>
            </a:pPr>
            <a:r>
              <a:rPr lang="zh-CN" altLang="en-US" dirty="0"/>
              <a:t>避免大量使用循环嵌套语句和条件嵌套语句。</a:t>
            </a:r>
          </a:p>
          <a:p>
            <a:pPr>
              <a:defRPr/>
            </a:pPr>
            <a:endParaRPr lang="zh-CN" altLang="en-US" dirty="0"/>
          </a:p>
        </p:txBody>
      </p:sp>
      <p:sp>
        <p:nvSpPr>
          <p:cNvPr id="12" name="文本框 11"/>
          <p:cNvSpPr txBox="1"/>
          <p:nvPr>
            <p:custDataLst>
              <p:tags r:id="rId4"/>
            </p:custDataLst>
          </p:nvPr>
        </p:nvSpPr>
        <p:spPr>
          <a:xfrm>
            <a:off x="3496310" y="5701665"/>
            <a:ext cx="8134985" cy="369332"/>
          </a:xfrm>
          <a:prstGeom prst="rect">
            <a:avLst/>
          </a:prstGeom>
          <a:noFill/>
        </p:spPr>
        <p:txBody>
          <a:bodyPr wrap="square" lIns="0" rIns="0">
            <a:spAutoFit/>
          </a:bodyPr>
          <a:lstStyle/>
          <a:p>
            <a:pPr>
              <a:defRPr/>
            </a:pPr>
            <a:r>
              <a:rPr lang="zh-CN" altLang="en-US" dirty="0"/>
              <a:t>每个循环要有终止条件，不要有死循环，也要避免不可能被执行的循环。</a:t>
            </a:r>
          </a:p>
        </p:txBody>
      </p:sp>
      <p:sp>
        <p:nvSpPr>
          <p:cNvPr id="57" name="文本框 56"/>
          <p:cNvSpPr txBox="1"/>
          <p:nvPr>
            <p:custDataLst>
              <p:tags r:id="rId5"/>
            </p:custDataLst>
          </p:nvPr>
        </p:nvSpPr>
        <p:spPr>
          <a:xfrm>
            <a:off x="4525645" y="3899535"/>
            <a:ext cx="6324600" cy="646331"/>
          </a:xfrm>
          <a:prstGeom prst="rect">
            <a:avLst/>
          </a:prstGeom>
          <a:noFill/>
        </p:spPr>
        <p:txBody>
          <a:bodyPr wrap="square" lIns="0" rIns="0">
            <a:spAutoFit/>
          </a:bodyPr>
          <a:lstStyle/>
          <a:p>
            <a:pPr>
              <a:defRPr/>
            </a:pPr>
            <a:r>
              <a:rPr dirty="0" err="1">
                <a:sym typeface="+mn-ea"/>
              </a:rPr>
              <a:t>对于多分支语句，尽量把出现可能性大的情况放在前面，把较少出现的分支放在后面，可以加快运算时间</a:t>
            </a:r>
            <a:r>
              <a:rPr dirty="0">
                <a:sym typeface="+mn-ea"/>
              </a:rPr>
              <a:t>。</a:t>
            </a:r>
            <a:endParaRPr dirty="0"/>
          </a:p>
        </p:txBody>
      </p:sp>
      <p:sp>
        <p:nvSpPr>
          <p:cNvPr id="15" name="文本框 14"/>
          <p:cNvSpPr txBox="1"/>
          <p:nvPr/>
        </p:nvSpPr>
        <p:spPr>
          <a:xfrm>
            <a:off x="4020820" y="2861945"/>
            <a:ext cx="2954655" cy="369332"/>
          </a:xfrm>
          <a:prstGeom prst="rect">
            <a:avLst/>
          </a:prstGeom>
          <a:noFill/>
        </p:spPr>
        <p:txBody>
          <a:bodyPr wrap="none" rtlCol="0" anchor="t">
            <a:spAutoFit/>
          </a:bodyPr>
          <a:lstStyle/>
          <a:p>
            <a:r>
              <a:rPr dirty="0" err="1">
                <a:sym typeface="+mn-ea"/>
              </a:rPr>
              <a:t>尽量避免复杂的条件测试</a:t>
            </a:r>
            <a:r>
              <a:rPr dirty="0">
                <a:sym typeface="+mn-ea"/>
              </a:rPr>
              <a:t>。</a:t>
            </a:r>
            <a:endParaRPr lang="zh-CN" altLang="en-US" dirty="0"/>
          </a:p>
        </p:txBody>
      </p:sp>
      <p:sp>
        <p:nvSpPr>
          <p:cNvPr id="16" name="文本框 15"/>
          <p:cNvSpPr txBox="1"/>
          <p:nvPr/>
        </p:nvSpPr>
        <p:spPr>
          <a:xfrm>
            <a:off x="4045585" y="5158105"/>
            <a:ext cx="6186309" cy="369332"/>
          </a:xfrm>
          <a:prstGeom prst="rect">
            <a:avLst/>
          </a:prstGeom>
          <a:noFill/>
        </p:spPr>
        <p:txBody>
          <a:bodyPr wrap="none" rtlCol="0" anchor="t">
            <a:spAutoFit/>
          </a:bodyPr>
          <a:lstStyle/>
          <a:p>
            <a:pPr>
              <a:defRPr/>
            </a:pPr>
            <a:r>
              <a:rPr lang="zh-CN" altLang="en-US" dirty="0">
                <a:sym typeface="+mn-ea"/>
              </a:rPr>
              <a:t>利用括号使逻辑表达式或算术表达式的运算次序清晰直观。</a:t>
            </a:r>
            <a:endParaRPr lang="zh-CN" altLang="en-US" dirty="0"/>
          </a:p>
        </p:txBody>
      </p:sp>
      <p:grpSp>
        <p:nvGrpSpPr>
          <p:cNvPr id="33" name="组合 32">
            <a:extLst>
              <a:ext uri="{FF2B5EF4-FFF2-40B4-BE49-F238E27FC236}">
                <a16:creationId xmlns:a16="http://schemas.microsoft.com/office/drawing/2014/main" id="{DE663970-164C-4735-4722-A22D082A5B61}"/>
              </a:ext>
            </a:extLst>
          </p:cNvPr>
          <p:cNvGrpSpPr/>
          <p:nvPr/>
        </p:nvGrpSpPr>
        <p:grpSpPr>
          <a:xfrm>
            <a:off x="689212" y="2445047"/>
            <a:ext cx="3483610" cy="3663950"/>
            <a:chOff x="689212" y="2445047"/>
            <a:chExt cx="3483610" cy="3663950"/>
          </a:xfrm>
        </p:grpSpPr>
        <p:sp>
          <p:nvSpPr>
            <p:cNvPr id="22" name="Oval 15">
              <a:extLst>
                <a:ext uri="{FF2B5EF4-FFF2-40B4-BE49-F238E27FC236}">
                  <a16:creationId xmlns:a16="http://schemas.microsoft.com/office/drawing/2014/main" id="{A0F346FE-E2B1-017B-8EE6-C0673E07A3D9}"/>
                </a:ext>
              </a:extLst>
            </p:cNvPr>
            <p:cNvSpPr>
              <a:spLocks noChangeArrowheads="1"/>
            </p:cNvSpPr>
            <p:nvPr>
              <p:custDataLst>
                <p:tags r:id="rId6"/>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3" name="Line 16">
              <a:extLst>
                <a:ext uri="{FF2B5EF4-FFF2-40B4-BE49-F238E27FC236}">
                  <a16:creationId xmlns:a16="http://schemas.microsoft.com/office/drawing/2014/main" id="{9C518E34-95F6-9FEA-3AF6-D3B373EEB69C}"/>
                </a:ext>
              </a:extLst>
            </p:cNvPr>
            <p:cNvSpPr>
              <a:spLocks noChangeShapeType="1"/>
            </p:cNvSpPr>
            <p:nvPr>
              <p:custDataLst>
                <p:tags r:id="rId7"/>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4" name="Line 17">
              <a:extLst>
                <a:ext uri="{FF2B5EF4-FFF2-40B4-BE49-F238E27FC236}">
                  <a16:creationId xmlns:a16="http://schemas.microsoft.com/office/drawing/2014/main" id="{380168E4-1BE2-BA1A-B0A7-A70698B5DBD4}"/>
                </a:ext>
              </a:extLst>
            </p:cNvPr>
            <p:cNvSpPr>
              <a:spLocks noChangeShapeType="1"/>
            </p:cNvSpPr>
            <p:nvPr>
              <p:custDataLst>
                <p:tags r:id="rId8"/>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5" name="Oval 10">
              <a:extLst>
                <a:ext uri="{FF2B5EF4-FFF2-40B4-BE49-F238E27FC236}">
                  <a16:creationId xmlns:a16="http://schemas.microsoft.com/office/drawing/2014/main" id="{84B46B22-989A-9123-A2AB-1F6D32697E3C}"/>
                </a:ext>
              </a:extLst>
            </p:cNvPr>
            <p:cNvSpPr>
              <a:spLocks noChangeArrowheads="1"/>
            </p:cNvSpPr>
            <p:nvPr>
              <p:custDataLst>
                <p:tags r:id="rId9"/>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6" name="Oval 13">
              <a:extLst>
                <a:ext uri="{FF2B5EF4-FFF2-40B4-BE49-F238E27FC236}">
                  <a16:creationId xmlns:a16="http://schemas.microsoft.com/office/drawing/2014/main" id="{9395CB64-654E-EF03-A954-628C49B27C73}"/>
                </a:ext>
              </a:extLst>
            </p:cNvPr>
            <p:cNvSpPr>
              <a:spLocks noChangeArrowheads="1"/>
            </p:cNvSpPr>
            <p:nvPr>
              <p:custDataLst>
                <p:tags r:id="rId10"/>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7" name="KSO_GT1">
              <a:extLst>
                <a:ext uri="{FF2B5EF4-FFF2-40B4-BE49-F238E27FC236}">
                  <a16:creationId xmlns:a16="http://schemas.microsoft.com/office/drawing/2014/main" id="{BBC7426F-57E0-AD02-5365-88CF092FE8B5}"/>
                </a:ext>
              </a:extLst>
            </p:cNvPr>
            <p:cNvSpPr>
              <a:spLocks noChangeArrowheads="1"/>
            </p:cNvSpPr>
            <p:nvPr>
              <p:custDataLst>
                <p:tags r:id="rId11"/>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75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语句构造</a:t>
              </a:r>
            </a:p>
          </p:txBody>
        </p:sp>
        <p:sp>
          <p:nvSpPr>
            <p:cNvPr id="28" name="Oval 19">
              <a:extLst>
                <a:ext uri="{FF2B5EF4-FFF2-40B4-BE49-F238E27FC236}">
                  <a16:creationId xmlns:a16="http://schemas.microsoft.com/office/drawing/2014/main" id="{9C501C40-E79D-943A-D304-797D5F9510BC}"/>
                </a:ext>
              </a:extLst>
            </p:cNvPr>
            <p:cNvSpPr>
              <a:spLocks noChangeArrowheads="1"/>
            </p:cNvSpPr>
            <p:nvPr>
              <p:custDataLst>
                <p:tags r:id="rId12"/>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0" name="Oval 19">
              <a:extLst>
                <a:ext uri="{FF2B5EF4-FFF2-40B4-BE49-F238E27FC236}">
                  <a16:creationId xmlns:a16="http://schemas.microsoft.com/office/drawing/2014/main" id="{2D310A67-69BA-77CD-BAB3-C4C3AA7360B7}"/>
                </a:ext>
              </a:extLst>
            </p:cNvPr>
            <p:cNvSpPr>
              <a:spLocks noChangeArrowheads="1"/>
            </p:cNvSpPr>
            <p:nvPr>
              <p:custDataLst>
                <p:tags r:id="rId13"/>
              </p:custDataLst>
            </p:nvPr>
          </p:nvSpPr>
          <p:spPr bwMode="gray">
            <a:xfrm>
              <a:off x="3878182" y="4153832"/>
              <a:ext cx="251460" cy="251460"/>
            </a:xfrm>
            <a:prstGeom prst="ellipse">
              <a:avLst/>
            </a:prstGeom>
            <a:solidFill>
              <a:schemeClr val="accent4"/>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1" name="Oval 19">
              <a:extLst>
                <a:ext uri="{FF2B5EF4-FFF2-40B4-BE49-F238E27FC236}">
                  <a16:creationId xmlns:a16="http://schemas.microsoft.com/office/drawing/2014/main" id="{FD856B1D-0144-7D35-82B2-6775267A62E5}"/>
                </a:ext>
              </a:extLst>
            </p:cNvPr>
            <p:cNvSpPr>
              <a:spLocks noChangeArrowheads="1"/>
            </p:cNvSpPr>
            <p:nvPr>
              <p:custDataLst>
                <p:tags r:id="rId14"/>
              </p:custDataLst>
            </p:nvPr>
          </p:nvSpPr>
          <p:spPr bwMode="gray">
            <a:xfrm>
              <a:off x="3599735" y="3227685"/>
              <a:ext cx="251460" cy="251460"/>
            </a:xfrm>
            <a:prstGeom prst="ellipse">
              <a:avLst/>
            </a:prstGeom>
            <a:solidFill>
              <a:schemeClr val="accent6"/>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2" name="Oval 19">
              <a:extLst>
                <a:ext uri="{FF2B5EF4-FFF2-40B4-BE49-F238E27FC236}">
                  <a16:creationId xmlns:a16="http://schemas.microsoft.com/office/drawing/2014/main" id="{C4E4F744-03FC-8B40-B9DB-681592AF600A}"/>
                </a:ext>
              </a:extLst>
            </p:cNvPr>
            <p:cNvSpPr>
              <a:spLocks noChangeArrowheads="1"/>
            </p:cNvSpPr>
            <p:nvPr>
              <p:custDataLst>
                <p:tags r:id="rId15"/>
              </p:custDataLst>
            </p:nvPr>
          </p:nvSpPr>
          <p:spPr bwMode="gray">
            <a:xfrm>
              <a:off x="3649501" y="4976156"/>
              <a:ext cx="251460" cy="251460"/>
            </a:xfrm>
            <a:prstGeom prst="ellipse">
              <a:avLst/>
            </a:prstGeom>
            <a:solidFill>
              <a:schemeClr val="accent2"/>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Tree>
  </p:cSld>
  <p:clrMapOvr>
    <a:masterClrMapping/>
  </p:clrMapOvr>
  <p:transition>
    <p:pull dir="d"/>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4" name="文本占位符 3">
            <a:extLst>
              <a:ext uri="{FF2B5EF4-FFF2-40B4-BE49-F238E27FC236}">
                <a16:creationId xmlns:a16="http://schemas.microsoft.com/office/drawing/2014/main" id="{49097535-B31D-D820-D093-F4FDC48A1FF9}"/>
              </a:ext>
            </a:extLst>
          </p:cNvPr>
          <p:cNvSpPr>
            <a:spLocks noGrp="1"/>
          </p:cNvSpPr>
          <p:nvPr>
            <p:ph type="body" sz="quarter" idx="10"/>
          </p:nvPr>
        </p:nvSpPr>
        <p:spPr>
          <a:xfrm>
            <a:off x="696000" y="1322832"/>
            <a:ext cx="5400000" cy="400110"/>
          </a:xfrm>
        </p:spPr>
        <p:txBody>
          <a:bodyPr/>
          <a:lstStyle/>
          <a:p>
            <a:r>
              <a:rPr lang="en-US" altLang="zh-CN" dirty="0"/>
              <a:t>4.1.2 </a:t>
            </a:r>
            <a:r>
              <a:rPr lang="zh-CN" altLang="en-US" dirty="0"/>
              <a:t>程序设计风格</a:t>
            </a:r>
          </a:p>
        </p:txBody>
      </p:sp>
      <p:sp>
        <p:nvSpPr>
          <p:cNvPr id="24" name="文本占位符 23">
            <a:extLst>
              <a:ext uri="{FF2B5EF4-FFF2-40B4-BE49-F238E27FC236}">
                <a16:creationId xmlns:a16="http://schemas.microsoft.com/office/drawing/2014/main" id="{E05491CA-1638-7004-03CA-F01289A1521C}"/>
              </a:ext>
            </a:extLst>
          </p:cNvPr>
          <p:cNvSpPr>
            <a:spLocks noGrp="1"/>
          </p:cNvSpPr>
          <p:nvPr>
            <p:ph type="body" sz="quarter" idx="11"/>
          </p:nvPr>
        </p:nvSpPr>
        <p:spPr/>
        <p:txBody>
          <a:bodyPr/>
          <a:lstStyle/>
          <a:p>
            <a:endParaRPr lang="zh-CN" altLang="en-US"/>
          </a:p>
        </p:txBody>
      </p:sp>
      <p:sp>
        <p:nvSpPr>
          <p:cNvPr id="10" name="文本框 9"/>
          <p:cNvSpPr txBox="1"/>
          <p:nvPr>
            <p:custDataLst>
              <p:tags r:id="rId1"/>
            </p:custDataLst>
          </p:nvPr>
        </p:nvSpPr>
        <p:spPr>
          <a:xfrm>
            <a:off x="3415665" y="1969770"/>
            <a:ext cx="8126301" cy="369332"/>
          </a:xfrm>
          <a:prstGeom prst="rect">
            <a:avLst/>
          </a:prstGeom>
          <a:noFill/>
        </p:spPr>
        <p:txBody>
          <a:bodyPr wrap="square" lIns="0" rIns="0">
            <a:spAutoFit/>
          </a:bodyPr>
          <a:lstStyle/>
          <a:p>
            <a:pPr>
              <a:defRPr/>
            </a:pPr>
            <a:r>
              <a:rPr dirty="0" err="1"/>
              <a:t>对输入数据加校验可以避免用户误输入</a:t>
            </a:r>
            <a:r>
              <a:rPr dirty="0"/>
              <a:t>。</a:t>
            </a:r>
          </a:p>
        </p:txBody>
      </p:sp>
      <p:sp>
        <p:nvSpPr>
          <p:cNvPr id="47" name="文本框 46"/>
          <p:cNvSpPr txBox="1"/>
          <p:nvPr>
            <p:custDataLst>
              <p:tags r:id="rId2"/>
            </p:custDataLst>
          </p:nvPr>
        </p:nvSpPr>
        <p:spPr>
          <a:xfrm>
            <a:off x="4348480" y="2748915"/>
            <a:ext cx="7545705" cy="369332"/>
          </a:xfrm>
          <a:prstGeom prst="rect">
            <a:avLst/>
          </a:prstGeom>
          <a:noFill/>
        </p:spPr>
        <p:txBody>
          <a:bodyPr wrap="square" lIns="0" rIns="0">
            <a:spAutoFit/>
          </a:bodyPr>
          <a:lstStyle/>
          <a:p>
            <a:pPr>
              <a:defRPr/>
            </a:pPr>
            <a:r>
              <a:rPr dirty="0" err="1"/>
              <a:t>提示输入的请求，并简明地说明可用的选择或边界数值</a:t>
            </a:r>
            <a:r>
              <a:rPr dirty="0"/>
              <a:t>。</a:t>
            </a:r>
          </a:p>
        </p:txBody>
      </p:sp>
      <p:sp>
        <p:nvSpPr>
          <p:cNvPr id="11" name="文本框 10"/>
          <p:cNvSpPr txBox="1"/>
          <p:nvPr>
            <p:custDataLst>
              <p:tags r:id="rId3"/>
            </p:custDataLst>
          </p:nvPr>
        </p:nvSpPr>
        <p:spPr>
          <a:xfrm>
            <a:off x="4866005" y="3902710"/>
            <a:ext cx="4354195" cy="369332"/>
          </a:xfrm>
          <a:prstGeom prst="rect">
            <a:avLst/>
          </a:prstGeom>
          <a:noFill/>
        </p:spPr>
        <p:txBody>
          <a:bodyPr wrap="square" lIns="0" rIns="0">
            <a:spAutoFit/>
          </a:bodyPr>
          <a:lstStyle/>
          <a:p>
            <a:pPr>
              <a:defRPr/>
            </a:pPr>
            <a:r>
              <a:rPr lang="zh-CN" altLang="en-US" dirty="0"/>
              <a:t>尽量保持输入格式的一致性。</a:t>
            </a:r>
          </a:p>
        </p:txBody>
      </p:sp>
      <p:sp>
        <p:nvSpPr>
          <p:cNvPr id="12" name="文本框 11"/>
          <p:cNvSpPr txBox="1"/>
          <p:nvPr>
            <p:custDataLst>
              <p:tags r:id="rId4"/>
            </p:custDataLst>
          </p:nvPr>
        </p:nvSpPr>
        <p:spPr>
          <a:xfrm>
            <a:off x="4348480" y="4719320"/>
            <a:ext cx="7545705" cy="369332"/>
          </a:xfrm>
          <a:prstGeom prst="rect">
            <a:avLst/>
          </a:prstGeom>
          <a:noFill/>
        </p:spPr>
        <p:txBody>
          <a:bodyPr wrap="square" lIns="0" rIns="0">
            <a:spAutoFit/>
          </a:bodyPr>
          <a:lstStyle/>
          <a:p>
            <a:pPr>
              <a:defRPr/>
            </a:pPr>
            <a:r>
              <a:rPr lang="zh-CN" altLang="en-US" dirty="0"/>
              <a:t>输出信息中不要有文字错误，要保证输出结果的正确性。</a:t>
            </a:r>
          </a:p>
        </p:txBody>
      </p:sp>
      <p:sp>
        <p:nvSpPr>
          <p:cNvPr id="57" name="文本框 56"/>
          <p:cNvSpPr txBox="1"/>
          <p:nvPr>
            <p:custDataLst>
              <p:tags r:id="rId5"/>
            </p:custDataLst>
          </p:nvPr>
        </p:nvSpPr>
        <p:spPr>
          <a:xfrm>
            <a:off x="4743450" y="3223895"/>
            <a:ext cx="6029325" cy="646331"/>
          </a:xfrm>
          <a:prstGeom prst="rect">
            <a:avLst/>
          </a:prstGeom>
          <a:noFill/>
        </p:spPr>
        <p:txBody>
          <a:bodyPr wrap="square" lIns="0" rIns="0">
            <a:spAutoFit/>
          </a:bodyPr>
          <a:lstStyle/>
          <a:p>
            <a:pPr>
              <a:defRPr/>
            </a:pPr>
            <a:r>
              <a:rPr dirty="0" err="1">
                <a:sym typeface="+mn-ea"/>
              </a:rPr>
              <a:t>输入格式简单，并可在提示中加以说明或用表格方式提供输入位置，方便用户使用</a:t>
            </a:r>
            <a:r>
              <a:rPr dirty="0">
                <a:sym typeface="+mn-ea"/>
              </a:rPr>
              <a:t>。</a:t>
            </a:r>
            <a:endParaRPr lang="zh-CN" altLang="en-US" dirty="0"/>
          </a:p>
        </p:txBody>
      </p:sp>
      <p:sp>
        <p:nvSpPr>
          <p:cNvPr id="15" name="文本框 14"/>
          <p:cNvSpPr txBox="1"/>
          <p:nvPr/>
        </p:nvSpPr>
        <p:spPr>
          <a:xfrm>
            <a:off x="3881755" y="2440305"/>
            <a:ext cx="4570482" cy="369332"/>
          </a:xfrm>
          <a:prstGeom prst="rect">
            <a:avLst/>
          </a:prstGeom>
          <a:noFill/>
        </p:spPr>
        <p:txBody>
          <a:bodyPr wrap="none" rtlCol="0" anchor="t">
            <a:spAutoFit/>
          </a:bodyPr>
          <a:lstStyle/>
          <a:p>
            <a:pPr algn="l"/>
            <a:r>
              <a:rPr dirty="0" err="1">
                <a:sym typeface="+mn-ea"/>
              </a:rPr>
              <a:t>对重要的输入项组合的合法性加检查语句</a:t>
            </a:r>
            <a:r>
              <a:rPr dirty="0">
                <a:sym typeface="+mn-ea"/>
              </a:rPr>
              <a:t>。</a:t>
            </a:r>
          </a:p>
        </p:txBody>
      </p:sp>
      <p:sp>
        <p:nvSpPr>
          <p:cNvPr id="16" name="文本框 15"/>
          <p:cNvSpPr txBox="1"/>
          <p:nvPr/>
        </p:nvSpPr>
        <p:spPr>
          <a:xfrm>
            <a:off x="4653280" y="4286885"/>
            <a:ext cx="2723823" cy="369332"/>
          </a:xfrm>
          <a:prstGeom prst="rect">
            <a:avLst/>
          </a:prstGeom>
          <a:noFill/>
        </p:spPr>
        <p:txBody>
          <a:bodyPr wrap="none" rtlCol="0" anchor="t">
            <a:spAutoFit/>
          </a:bodyPr>
          <a:lstStyle/>
          <a:p>
            <a:pPr algn="l">
              <a:defRPr/>
            </a:pPr>
            <a:r>
              <a:rPr lang="zh-CN" altLang="en-US" dirty="0">
                <a:sym typeface="+mn-ea"/>
              </a:rPr>
              <a:t>使用数据输入结束标志。</a:t>
            </a:r>
          </a:p>
        </p:txBody>
      </p:sp>
      <p:sp>
        <p:nvSpPr>
          <p:cNvPr id="18" name="文本框 17"/>
          <p:cNvSpPr txBox="1"/>
          <p:nvPr/>
        </p:nvSpPr>
        <p:spPr>
          <a:xfrm>
            <a:off x="3978910" y="5215890"/>
            <a:ext cx="7646035" cy="640080"/>
          </a:xfrm>
          <a:prstGeom prst="rect">
            <a:avLst/>
          </a:prstGeom>
          <a:noFill/>
        </p:spPr>
        <p:txBody>
          <a:bodyPr wrap="square" rtlCol="0" anchor="t">
            <a:spAutoFit/>
          </a:bodyPr>
          <a:lstStyle/>
          <a:p>
            <a:r>
              <a:rPr lang="zh-CN" altLang="en-US" dirty="0"/>
              <a:t>输出报表的设计要符合用户要求，在因输出设备的条件有限不能满足用户要求时，应提出可行的方案供用户选择，用户满意时再采用某种方案。</a:t>
            </a:r>
          </a:p>
        </p:txBody>
      </p:sp>
      <p:sp>
        <p:nvSpPr>
          <p:cNvPr id="19" name="文本框 18"/>
          <p:cNvSpPr txBox="1"/>
          <p:nvPr/>
        </p:nvSpPr>
        <p:spPr>
          <a:xfrm>
            <a:off x="3415665" y="5954395"/>
            <a:ext cx="4585334" cy="365760"/>
          </a:xfrm>
          <a:prstGeom prst="rect">
            <a:avLst/>
          </a:prstGeom>
          <a:noFill/>
        </p:spPr>
        <p:txBody>
          <a:bodyPr wrap="square" rtlCol="0" anchor="t">
            <a:spAutoFit/>
          </a:bodyPr>
          <a:lstStyle/>
          <a:p>
            <a:r>
              <a:rPr lang="zh-CN" altLang="en-US" dirty="0"/>
              <a:t>给所有的输出数据加注标志。</a:t>
            </a:r>
          </a:p>
        </p:txBody>
      </p:sp>
      <p:grpSp>
        <p:nvGrpSpPr>
          <p:cNvPr id="55" name="组合 54">
            <a:extLst>
              <a:ext uri="{FF2B5EF4-FFF2-40B4-BE49-F238E27FC236}">
                <a16:creationId xmlns:a16="http://schemas.microsoft.com/office/drawing/2014/main" id="{E9FCDD52-DAEE-6F2A-81CB-BB74C4CFB5C5}"/>
              </a:ext>
            </a:extLst>
          </p:cNvPr>
          <p:cNvGrpSpPr/>
          <p:nvPr/>
        </p:nvGrpSpPr>
        <p:grpSpPr>
          <a:xfrm>
            <a:off x="689212" y="2445047"/>
            <a:ext cx="3483610" cy="3663950"/>
            <a:chOff x="689212" y="2445047"/>
            <a:chExt cx="3483610" cy="3663950"/>
          </a:xfrm>
        </p:grpSpPr>
        <p:sp>
          <p:nvSpPr>
            <p:cNvPr id="38" name="Oval 15">
              <a:extLst>
                <a:ext uri="{FF2B5EF4-FFF2-40B4-BE49-F238E27FC236}">
                  <a16:creationId xmlns:a16="http://schemas.microsoft.com/office/drawing/2014/main" id="{C09CEF1D-B6B4-F48C-D43B-5B3F052050F1}"/>
                </a:ext>
              </a:extLst>
            </p:cNvPr>
            <p:cNvSpPr>
              <a:spLocks noChangeArrowheads="1"/>
            </p:cNvSpPr>
            <p:nvPr>
              <p:custDataLst>
                <p:tags r:id="rId6"/>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9" name="Line 16">
              <a:extLst>
                <a:ext uri="{FF2B5EF4-FFF2-40B4-BE49-F238E27FC236}">
                  <a16:creationId xmlns:a16="http://schemas.microsoft.com/office/drawing/2014/main" id="{C7F07DA3-8FB8-C9B3-2006-0095E52FCD13}"/>
                </a:ext>
              </a:extLst>
            </p:cNvPr>
            <p:cNvSpPr>
              <a:spLocks noChangeShapeType="1"/>
            </p:cNvSpPr>
            <p:nvPr>
              <p:custDataLst>
                <p:tags r:id="rId7"/>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1" name="Line 17">
              <a:extLst>
                <a:ext uri="{FF2B5EF4-FFF2-40B4-BE49-F238E27FC236}">
                  <a16:creationId xmlns:a16="http://schemas.microsoft.com/office/drawing/2014/main" id="{75F15144-B41A-FAE2-A1B4-F5C3F5F658F5}"/>
                </a:ext>
              </a:extLst>
            </p:cNvPr>
            <p:cNvSpPr>
              <a:spLocks noChangeShapeType="1"/>
            </p:cNvSpPr>
            <p:nvPr>
              <p:custDataLst>
                <p:tags r:id="rId8"/>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2" name="Oval 10">
              <a:extLst>
                <a:ext uri="{FF2B5EF4-FFF2-40B4-BE49-F238E27FC236}">
                  <a16:creationId xmlns:a16="http://schemas.microsoft.com/office/drawing/2014/main" id="{5A757AA3-4993-6363-531B-2379DA05918B}"/>
                </a:ext>
              </a:extLst>
            </p:cNvPr>
            <p:cNvSpPr>
              <a:spLocks noChangeArrowheads="1"/>
            </p:cNvSpPr>
            <p:nvPr>
              <p:custDataLst>
                <p:tags r:id="rId9"/>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4" name="Oval 13">
              <a:extLst>
                <a:ext uri="{FF2B5EF4-FFF2-40B4-BE49-F238E27FC236}">
                  <a16:creationId xmlns:a16="http://schemas.microsoft.com/office/drawing/2014/main" id="{F7612D66-94D4-1EB2-8F08-DD0A3C85078C}"/>
                </a:ext>
              </a:extLst>
            </p:cNvPr>
            <p:cNvSpPr>
              <a:spLocks noChangeArrowheads="1"/>
            </p:cNvSpPr>
            <p:nvPr>
              <p:custDataLst>
                <p:tags r:id="rId10"/>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5" name="KSO_GT1">
              <a:extLst>
                <a:ext uri="{FF2B5EF4-FFF2-40B4-BE49-F238E27FC236}">
                  <a16:creationId xmlns:a16="http://schemas.microsoft.com/office/drawing/2014/main" id="{38DDD241-DC1B-336D-4021-1C7A63B52B00}"/>
                </a:ext>
              </a:extLst>
            </p:cNvPr>
            <p:cNvSpPr>
              <a:spLocks noChangeArrowheads="1"/>
            </p:cNvSpPr>
            <p:nvPr>
              <p:custDataLst>
                <p:tags r:id="rId11"/>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75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语句构造</a:t>
              </a:r>
            </a:p>
          </p:txBody>
        </p:sp>
        <p:sp>
          <p:nvSpPr>
            <p:cNvPr id="48" name="Oval 19">
              <a:extLst>
                <a:ext uri="{FF2B5EF4-FFF2-40B4-BE49-F238E27FC236}">
                  <a16:creationId xmlns:a16="http://schemas.microsoft.com/office/drawing/2014/main" id="{5BF26A63-DF07-4165-7ED7-2A08F72A8A0A}"/>
                </a:ext>
              </a:extLst>
            </p:cNvPr>
            <p:cNvSpPr>
              <a:spLocks noChangeArrowheads="1"/>
            </p:cNvSpPr>
            <p:nvPr>
              <p:custDataLst>
                <p:tags r:id="rId12"/>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50" name="Oval 19">
              <a:extLst>
                <a:ext uri="{FF2B5EF4-FFF2-40B4-BE49-F238E27FC236}">
                  <a16:creationId xmlns:a16="http://schemas.microsoft.com/office/drawing/2014/main" id="{0C289F0D-D985-D744-3A2D-BF48B422B5F9}"/>
                </a:ext>
              </a:extLst>
            </p:cNvPr>
            <p:cNvSpPr>
              <a:spLocks noChangeArrowheads="1"/>
            </p:cNvSpPr>
            <p:nvPr>
              <p:custDataLst>
                <p:tags r:id="rId13"/>
              </p:custDataLst>
            </p:nvPr>
          </p:nvSpPr>
          <p:spPr bwMode="gray">
            <a:xfrm>
              <a:off x="3878182" y="4153832"/>
              <a:ext cx="251460" cy="251460"/>
            </a:xfrm>
            <a:prstGeom prst="ellipse">
              <a:avLst/>
            </a:prstGeom>
            <a:solidFill>
              <a:schemeClr val="accent4"/>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51" name="Oval 19">
              <a:extLst>
                <a:ext uri="{FF2B5EF4-FFF2-40B4-BE49-F238E27FC236}">
                  <a16:creationId xmlns:a16="http://schemas.microsoft.com/office/drawing/2014/main" id="{545D59AD-FD67-CAEA-C663-27EFFE5FD316}"/>
                </a:ext>
              </a:extLst>
            </p:cNvPr>
            <p:cNvSpPr>
              <a:spLocks noChangeArrowheads="1"/>
            </p:cNvSpPr>
            <p:nvPr>
              <p:custDataLst>
                <p:tags r:id="rId14"/>
              </p:custDataLst>
            </p:nvPr>
          </p:nvSpPr>
          <p:spPr bwMode="gray">
            <a:xfrm>
              <a:off x="3599735" y="3227685"/>
              <a:ext cx="251460" cy="251460"/>
            </a:xfrm>
            <a:prstGeom prst="ellipse">
              <a:avLst/>
            </a:prstGeom>
            <a:solidFill>
              <a:schemeClr val="accent6"/>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52" name="Oval 19">
              <a:extLst>
                <a:ext uri="{FF2B5EF4-FFF2-40B4-BE49-F238E27FC236}">
                  <a16:creationId xmlns:a16="http://schemas.microsoft.com/office/drawing/2014/main" id="{D345D523-2CA0-3D90-799F-FFAA2EB52231}"/>
                </a:ext>
              </a:extLst>
            </p:cNvPr>
            <p:cNvSpPr>
              <a:spLocks noChangeArrowheads="1"/>
            </p:cNvSpPr>
            <p:nvPr>
              <p:custDataLst>
                <p:tags r:id="rId15"/>
              </p:custDataLst>
            </p:nvPr>
          </p:nvSpPr>
          <p:spPr bwMode="gray">
            <a:xfrm>
              <a:off x="3649501" y="4976156"/>
              <a:ext cx="251460" cy="251460"/>
            </a:xfrm>
            <a:prstGeom prst="ellipse">
              <a:avLst/>
            </a:prstGeom>
            <a:solidFill>
              <a:schemeClr val="accent2"/>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54" name="Oval 19">
              <a:extLst>
                <a:ext uri="{FF2B5EF4-FFF2-40B4-BE49-F238E27FC236}">
                  <a16:creationId xmlns:a16="http://schemas.microsoft.com/office/drawing/2014/main" id="{1C15B21C-D274-E017-0341-10E22E63FAF0}"/>
                </a:ext>
              </a:extLst>
            </p:cNvPr>
            <p:cNvSpPr>
              <a:spLocks noChangeArrowheads="1"/>
            </p:cNvSpPr>
            <p:nvPr>
              <p:custDataLst>
                <p:tags r:id="rId16"/>
              </p:custDataLst>
            </p:nvPr>
          </p:nvSpPr>
          <p:spPr bwMode="gray">
            <a:xfrm>
              <a:off x="3223260" y="5450502"/>
              <a:ext cx="251460" cy="251460"/>
            </a:xfrm>
            <a:prstGeom prst="ellipse">
              <a:avLst/>
            </a:prstGeom>
            <a:solidFill>
              <a:srgbClr val="00808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Tree>
  </p:cSld>
  <p:clrMapOvr>
    <a:masterClrMapping/>
  </p:clrMapOvr>
  <p:transition>
    <p:pull dir="d"/>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4.1 </a:t>
            </a:r>
            <a:r>
              <a:rPr lang="zh-CN" altLang="en-US" dirty="0"/>
              <a:t>结构化程序设计</a:t>
            </a:r>
          </a:p>
        </p:txBody>
      </p:sp>
      <p:sp>
        <p:nvSpPr>
          <p:cNvPr id="4" name="文本占位符 3">
            <a:extLst>
              <a:ext uri="{FF2B5EF4-FFF2-40B4-BE49-F238E27FC236}">
                <a16:creationId xmlns:a16="http://schemas.microsoft.com/office/drawing/2014/main" id="{89482643-B1AD-F80E-B623-03B10B33A9A6}"/>
              </a:ext>
            </a:extLst>
          </p:cNvPr>
          <p:cNvSpPr>
            <a:spLocks noGrp="1"/>
          </p:cNvSpPr>
          <p:nvPr>
            <p:ph type="body" sz="quarter" idx="10"/>
          </p:nvPr>
        </p:nvSpPr>
        <p:spPr>
          <a:xfrm>
            <a:off x="696000" y="1322832"/>
            <a:ext cx="5400000" cy="400110"/>
          </a:xfrm>
        </p:spPr>
        <p:txBody>
          <a:bodyPr/>
          <a:lstStyle/>
          <a:p>
            <a:r>
              <a:rPr lang="en-US" altLang="zh-CN" dirty="0"/>
              <a:t>4.1.2 </a:t>
            </a:r>
            <a:r>
              <a:rPr lang="zh-CN" altLang="en-US" dirty="0"/>
              <a:t>程序设计风格</a:t>
            </a:r>
          </a:p>
        </p:txBody>
      </p:sp>
      <p:sp>
        <p:nvSpPr>
          <p:cNvPr id="10" name="文本占位符 9">
            <a:extLst>
              <a:ext uri="{FF2B5EF4-FFF2-40B4-BE49-F238E27FC236}">
                <a16:creationId xmlns:a16="http://schemas.microsoft.com/office/drawing/2014/main" id="{8104A30A-A694-A32D-3077-838E732D632D}"/>
              </a:ext>
            </a:extLst>
          </p:cNvPr>
          <p:cNvSpPr>
            <a:spLocks noGrp="1"/>
          </p:cNvSpPr>
          <p:nvPr>
            <p:ph type="body" sz="quarter" idx="11"/>
          </p:nvPr>
        </p:nvSpPr>
        <p:spPr/>
        <p:txBody>
          <a:bodyPr/>
          <a:lstStyle/>
          <a:p>
            <a:endParaRPr lang="zh-CN" altLang="en-US"/>
          </a:p>
        </p:txBody>
      </p:sp>
      <p:sp>
        <p:nvSpPr>
          <p:cNvPr id="6" name="文本框 5"/>
          <p:cNvSpPr txBox="1"/>
          <p:nvPr>
            <p:custDataLst>
              <p:tags r:id="rId1"/>
            </p:custDataLst>
          </p:nvPr>
        </p:nvSpPr>
        <p:spPr>
          <a:xfrm>
            <a:off x="4081144" y="2552065"/>
            <a:ext cx="6091549" cy="646331"/>
          </a:xfrm>
          <a:prstGeom prst="rect">
            <a:avLst/>
          </a:prstGeom>
          <a:noFill/>
        </p:spPr>
        <p:txBody>
          <a:bodyPr wrap="square" lIns="72000" rIns="72000">
            <a:spAutoFit/>
          </a:bodyPr>
          <a:lstStyle/>
          <a:p>
            <a:pPr algn="just">
              <a:defRPr/>
            </a:pPr>
            <a:r>
              <a:rPr dirty="0" err="1"/>
              <a:t>程序效率主要指处理机工作时间和内存容量这两方面的利用率，在前面各规则符合的前提下，提高效率也是必要的</a:t>
            </a:r>
            <a:r>
              <a:rPr dirty="0"/>
              <a:t>。</a:t>
            </a:r>
          </a:p>
        </p:txBody>
      </p:sp>
      <p:sp>
        <p:nvSpPr>
          <p:cNvPr id="40" name="文本框 39"/>
          <p:cNvSpPr txBox="1"/>
          <p:nvPr>
            <p:custDataLst>
              <p:tags r:id="rId2"/>
            </p:custDataLst>
          </p:nvPr>
        </p:nvSpPr>
        <p:spPr>
          <a:xfrm>
            <a:off x="4081145" y="4545965"/>
            <a:ext cx="6091548" cy="923330"/>
          </a:xfrm>
          <a:prstGeom prst="rect">
            <a:avLst/>
          </a:prstGeom>
          <a:noFill/>
        </p:spPr>
        <p:txBody>
          <a:bodyPr wrap="square" lIns="72000" rIns="72000">
            <a:spAutoFit/>
          </a:bodyPr>
          <a:lstStyle/>
          <a:p>
            <a:pPr algn="just">
              <a:defRPr/>
            </a:pPr>
            <a:r>
              <a:rPr dirty="0"/>
              <a:t>在目前计算机硬件设备运算速度大大提高、内存容量增加的情况下，提高效率不是主要的，程序设计主要应考虑的是程序的正确性、可理解性、可测试性和可维护性。</a:t>
            </a:r>
          </a:p>
        </p:txBody>
      </p:sp>
      <p:grpSp>
        <p:nvGrpSpPr>
          <p:cNvPr id="44" name="组合 43">
            <a:extLst>
              <a:ext uri="{FF2B5EF4-FFF2-40B4-BE49-F238E27FC236}">
                <a16:creationId xmlns:a16="http://schemas.microsoft.com/office/drawing/2014/main" id="{CEE6CE17-9863-3061-8DB8-8E19AA886F1F}"/>
              </a:ext>
            </a:extLst>
          </p:cNvPr>
          <p:cNvGrpSpPr/>
          <p:nvPr/>
        </p:nvGrpSpPr>
        <p:grpSpPr>
          <a:xfrm>
            <a:off x="689212" y="2445047"/>
            <a:ext cx="3483610" cy="3663950"/>
            <a:chOff x="689212" y="2445047"/>
            <a:chExt cx="3483610" cy="3663950"/>
          </a:xfrm>
        </p:grpSpPr>
        <p:sp>
          <p:nvSpPr>
            <p:cNvPr id="30" name="Oval 15">
              <a:extLst>
                <a:ext uri="{FF2B5EF4-FFF2-40B4-BE49-F238E27FC236}">
                  <a16:creationId xmlns:a16="http://schemas.microsoft.com/office/drawing/2014/main" id="{B9201ED7-6106-7759-2BE3-9ED5025ED1EF}"/>
                </a:ext>
              </a:extLst>
            </p:cNvPr>
            <p:cNvSpPr>
              <a:spLocks noChangeArrowheads="1"/>
            </p:cNvSpPr>
            <p:nvPr>
              <p:custDataLst>
                <p:tags r:id="rId3"/>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1" name="Line 16">
              <a:extLst>
                <a:ext uri="{FF2B5EF4-FFF2-40B4-BE49-F238E27FC236}">
                  <a16:creationId xmlns:a16="http://schemas.microsoft.com/office/drawing/2014/main" id="{24147CDC-0C0B-C837-C21D-A66C4D15F458}"/>
                </a:ext>
              </a:extLst>
            </p:cNvPr>
            <p:cNvSpPr>
              <a:spLocks noChangeShapeType="1"/>
            </p:cNvSpPr>
            <p:nvPr>
              <p:custDataLst>
                <p:tags r:id="rId4"/>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2" name="Line 17">
              <a:extLst>
                <a:ext uri="{FF2B5EF4-FFF2-40B4-BE49-F238E27FC236}">
                  <a16:creationId xmlns:a16="http://schemas.microsoft.com/office/drawing/2014/main" id="{50017A04-989D-B8CF-0DB7-69033D43CC8A}"/>
                </a:ext>
              </a:extLst>
            </p:cNvPr>
            <p:cNvSpPr>
              <a:spLocks noChangeShapeType="1"/>
            </p:cNvSpPr>
            <p:nvPr>
              <p:custDataLst>
                <p:tags r:id="rId5"/>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3" name="Oval 10">
              <a:extLst>
                <a:ext uri="{FF2B5EF4-FFF2-40B4-BE49-F238E27FC236}">
                  <a16:creationId xmlns:a16="http://schemas.microsoft.com/office/drawing/2014/main" id="{468AD1D5-D635-54E8-D831-8CD1C6238613}"/>
                </a:ext>
              </a:extLst>
            </p:cNvPr>
            <p:cNvSpPr>
              <a:spLocks noChangeArrowheads="1"/>
            </p:cNvSpPr>
            <p:nvPr>
              <p:custDataLst>
                <p:tags r:id="rId6"/>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4" name="Oval 13">
              <a:extLst>
                <a:ext uri="{FF2B5EF4-FFF2-40B4-BE49-F238E27FC236}">
                  <a16:creationId xmlns:a16="http://schemas.microsoft.com/office/drawing/2014/main" id="{E813D5A3-DEF5-28AD-C853-3D687B7398E7}"/>
                </a:ext>
              </a:extLst>
            </p:cNvPr>
            <p:cNvSpPr>
              <a:spLocks noChangeArrowheads="1"/>
            </p:cNvSpPr>
            <p:nvPr>
              <p:custDataLst>
                <p:tags r:id="rId7"/>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5" name="KSO_GT1">
              <a:extLst>
                <a:ext uri="{FF2B5EF4-FFF2-40B4-BE49-F238E27FC236}">
                  <a16:creationId xmlns:a16="http://schemas.microsoft.com/office/drawing/2014/main" id="{1534F2F3-015B-0A68-0F17-5BDE1B0CED28}"/>
                </a:ext>
              </a:extLst>
            </p:cNvPr>
            <p:cNvSpPr>
              <a:spLocks noChangeArrowheads="1"/>
            </p:cNvSpPr>
            <p:nvPr>
              <p:custDataLst>
                <p:tags r:id="rId8"/>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75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语句构造</a:t>
              </a:r>
            </a:p>
          </p:txBody>
        </p:sp>
        <p:sp>
          <p:nvSpPr>
            <p:cNvPr id="36" name="Oval 19">
              <a:extLst>
                <a:ext uri="{FF2B5EF4-FFF2-40B4-BE49-F238E27FC236}">
                  <a16:creationId xmlns:a16="http://schemas.microsoft.com/office/drawing/2014/main" id="{1B45AE53-9FFD-BE0F-AEA5-FE6F3F22D2B3}"/>
                </a:ext>
              </a:extLst>
            </p:cNvPr>
            <p:cNvSpPr>
              <a:spLocks noChangeArrowheads="1"/>
            </p:cNvSpPr>
            <p:nvPr>
              <p:custDataLst>
                <p:tags r:id="rId9"/>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7" name="Oval 19">
              <a:extLst>
                <a:ext uri="{FF2B5EF4-FFF2-40B4-BE49-F238E27FC236}">
                  <a16:creationId xmlns:a16="http://schemas.microsoft.com/office/drawing/2014/main" id="{8F7248FD-8A2F-1241-F080-B5DEE7C50332}"/>
                </a:ext>
              </a:extLst>
            </p:cNvPr>
            <p:cNvSpPr>
              <a:spLocks noChangeArrowheads="1"/>
            </p:cNvSpPr>
            <p:nvPr>
              <p:custDataLst>
                <p:tags r:id="rId10"/>
              </p:custDataLst>
            </p:nvPr>
          </p:nvSpPr>
          <p:spPr bwMode="gray">
            <a:xfrm>
              <a:off x="3878182" y="4153832"/>
              <a:ext cx="251460" cy="251460"/>
            </a:xfrm>
            <a:prstGeom prst="ellipse">
              <a:avLst/>
            </a:prstGeom>
            <a:solidFill>
              <a:schemeClr val="accent4"/>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39" name="Oval 19">
              <a:extLst>
                <a:ext uri="{FF2B5EF4-FFF2-40B4-BE49-F238E27FC236}">
                  <a16:creationId xmlns:a16="http://schemas.microsoft.com/office/drawing/2014/main" id="{07B9BF38-BC5F-6321-506D-810B3DB9D3E5}"/>
                </a:ext>
              </a:extLst>
            </p:cNvPr>
            <p:cNvSpPr>
              <a:spLocks noChangeArrowheads="1"/>
            </p:cNvSpPr>
            <p:nvPr>
              <p:custDataLst>
                <p:tags r:id="rId11"/>
              </p:custDataLst>
            </p:nvPr>
          </p:nvSpPr>
          <p:spPr bwMode="gray">
            <a:xfrm>
              <a:off x="3599735" y="3227685"/>
              <a:ext cx="251460" cy="251460"/>
            </a:xfrm>
            <a:prstGeom prst="ellipse">
              <a:avLst/>
            </a:prstGeom>
            <a:solidFill>
              <a:schemeClr val="accent6"/>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1" name="Oval 19">
              <a:extLst>
                <a:ext uri="{FF2B5EF4-FFF2-40B4-BE49-F238E27FC236}">
                  <a16:creationId xmlns:a16="http://schemas.microsoft.com/office/drawing/2014/main" id="{13A3D93F-391C-58EE-508D-1D86251308F9}"/>
                </a:ext>
              </a:extLst>
            </p:cNvPr>
            <p:cNvSpPr>
              <a:spLocks noChangeArrowheads="1"/>
            </p:cNvSpPr>
            <p:nvPr>
              <p:custDataLst>
                <p:tags r:id="rId12"/>
              </p:custDataLst>
            </p:nvPr>
          </p:nvSpPr>
          <p:spPr bwMode="gray">
            <a:xfrm>
              <a:off x="3649501" y="4976156"/>
              <a:ext cx="251460" cy="251460"/>
            </a:xfrm>
            <a:prstGeom prst="ellipse">
              <a:avLst/>
            </a:prstGeom>
            <a:solidFill>
              <a:schemeClr val="accent2"/>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2" name="Oval 19">
              <a:extLst>
                <a:ext uri="{FF2B5EF4-FFF2-40B4-BE49-F238E27FC236}">
                  <a16:creationId xmlns:a16="http://schemas.microsoft.com/office/drawing/2014/main" id="{850CCEC4-37E4-D5E4-043F-C58C35A89EF6}"/>
                </a:ext>
              </a:extLst>
            </p:cNvPr>
            <p:cNvSpPr>
              <a:spLocks noChangeArrowheads="1"/>
            </p:cNvSpPr>
            <p:nvPr>
              <p:custDataLst>
                <p:tags r:id="rId13"/>
              </p:custDataLst>
            </p:nvPr>
          </p:nvSpPr>
          <p:spPr bwMode="gray">
            <a:xfrm>
              <a:off x="3223260" y="5450502"/>
              <a:ext cx="251460" cy="251460"/>
            </a:xfrm>
            <a:prstGeom prst="ellipse">
              <a:avLst/>
            </a:prstGeom>
            <a:solidFill>
              <a:srgbClr val="00808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43" name="Oval 19">
              <a:extLst>
                <a:ext uri="{FF2B5EF4-FFF2-40B4-BE49-F238E27FC236}">
                  <a16:creationId xmlns:a16="http://schemas.microsoft.com/office/drawing/2014/main" id="{487C69B1-E953-E67F-00C0-6D021205C013}"/>
                </a:ext>
              </a:extLst>
            </p:cNvPr>
            <p:cNvSpPr>
              <a:spLocks noChangeArrowheads="1"/>
            </p:cNvSpPr>
            <p:nvPr>
              <p:custDataLst>
                <p:tags r:id="rId14"/>
              </p:custDataLst>
            </p:nvPr>
          </p:nvSpPr>
          <p:spPr bwMode="gray">
            <a:xfrm>
              <a:off x="2312907" y="5706725"/>
              <a:ext cx="251460" cy="251460"/>
            </a:xfrm>
            <a:prstGeom prst="ellipse">
              <a:avLst/>
            </a:prstGeom>
            <a:solidFill>
              <a:srgbClr val="FF33CC"/>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Tree>
  </p:cSld>
  <p:clrMapOvr>
    <a:masterClrMapping/>
  </p:clrMapOvr>
  <p:transition>
    <p:pull dir="d"/>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555" y="2935102"/>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软件测试目标</a:t>
            </a:r>
          </a:p>
        </p:txBody>
      </p:sp>
      <p:sp>
        <p:nvSpPr>
          <p:cNvPr id="3" name="椭圆 2">
            <a:extLst>
              <a:ext uri="{FF2B5EF4-FFF2-40B4-BE49-F238E27FC236}">
                <a16:creationId xmlns:a16="http://schemas.microsoft.com/office/drawing/2014/main" id="{331FEF10-EDA1-6CF8-7C8E-0B3FF0C85A29}"/>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02</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4.2 </a:t>
            </a:r>
            <a:r>
              <a:rPr lang="zh-CN" altLang="en-US" dirty="0"/>
              <a:t>软件测试目标</a:t>
            </a:r>
          </a:p>
        </p:txBody>
      </p:sp>
      <p:sp>
        <p:nvSpPr>
          <p:cNvPr id="4" name="文本占位符 3">
            <a:extLst>
              <a:ext uri="{FF2B5EF4-FFF2-40B4-BE49-F238E27FC236}">
                <a16:creationId xmlns:a16="http://schemas.microsoft.com/office/drawing/2014/main" id="{253938EF-213C-C95A-D2C1-01255CD4B869}"/>
              </a:ext>
            </a:extLst>
          </p:cNvPr>
          <p:cNvSpPr>
            <a:spLocks noGrp="1"/>
          </p:cNvSpPr>
          <p:nvPr>
            <p:ph type="body" sz="quarter" idx="10"/>
          </p:nvPr>
        </p:nvSpPr>
        <p:spPr>
          <a:xfrm>
            <a:off x="696000" y="1322832"/>
            <a:ext cx="5400000" cy="400110"/>
          </a:xfrm>
        </p:spPr>
        <p:txBody>
          <a:bodyPr/>
          <a:lstStyle/>
          <a:p>
            <a:r>
              <a:rPr lang="zh-CN" altLang="en-US" dirty="0"/>
              <a:t>引言</a:t>
            </a:r>
          </a:p>
        </p:txBody>
      </p:sp>
      <p:sp>
        <p:nvSpPr>
          <p:cNvPr id="10" name="文本占位符 9">
            <a:extLst>
              <a:ext uri="{FF2B5EF4-FFF2-40B4-BE49-F238E27FC236}">
                <a16:creationId xmlns:a16="http://schemas.microsoft.com/office/drawing/2014/main" id="{86BB9ACC-C080-1208-1DE9-7273CE7370D6}"/>
              </a:ext>
            </a:extLst>
          </p:cNvPr>
          <p:cNvSpPr>
            <a:spLocks noGrp="1"/>
          </p:cNvSpPr>
          <p:nvPr>
            <p:ph type="body" sz="quarter" idx="11"/>
          </p:nvPr>
        </p:nvSpPr>
        <p:spPr>
          <a:xfrm>
            <a:off x="6096000" y="360128"/>
            <a:ext cx="5760000" cy="400110"/>
          </a:xfrm>
        </p:spPr>
        <p:txBody>
          <a:bodyPr/>
          <a:lstStyle/>
          <a:p>
            <a:r>
              <a:rPr lang="zh-CN" altLang="en-US" dirty="0">
                <a:sym typeface="+mn-ea"/>
              </a:rPr>
              <a:t>Software Testing</a:t>
            </a:r>
            <a:endParaRPr lang="zh-CN" altLang="en-US" dirty="0"/>
          </a:p>
        </p:txBody>
      </p:sp>
      <p:sp>
        <p:nvSpPr>
          <p:cNvPr id="100" name="文本框 99"/>
          <p:cNvSpPr txBox="1"/>
          <p:nvPr/>
        </p:nvSpPr>
        <p:spPr>
          <a:xfrm>
            <a:off x="2208000" y="2313940"/>
            <a:ext cx="7776000" cy="3093219"/>
          </a:xfrm>
          <a:prstGeom prst="rect">
            <a:avLst/>
          </a:prstGeom>
          <a:noFill/>
          <a:ln w="9525">
            <a:noFill/>
          </a:ln>
        </p:spPr>
        <p:txBody>
          <a:bodyPr wrap="square">
            <a:spAutoFit/>
          </a:bodyPr>
          <a:lstStyle/>
          <a:p>
            <a:pPr indent="457200" algn="just">
              <a:lnSpc>
                <a:spcPct val="130000"/>
              </a:lnSpc>
              <a:spcAft>
                <a:spcPts val="600"/>
              </a:spcAft>
            </a:pPr>
            <a:r>
              <a:rPr lang="zh-CN" altLang="en-US" dirty="0">
                <a:sym typeface="+mn-ea"/>
              </a:rPr>
              <a:t>软件测试是指通过人工或计算机执行程序，通过有意识地发现程序中的设计错误和编码错误，以验证软件是否</a:t>
            </a:r>
            <a:r>
              <a:rPr lang="zh-CN" altLang="en-US" dirty="0">
                <a:solidFill>
                  <a:srgbClr val="FF0000"/>
                </a:solidFill>
                <a:sym typeface="+mn-ea"/>
              </a:rPr>
              <a:t>满足</a:t>
            </a:r>
            <a:r>
              <a:rPr lang="zh-CN" altLang="en-US" dirty="0">
                <a:sym typeface="+mn-ea"/>
              </a:rPr>
              <a:t>规定的需求或识别期望的结果和实际结果之间有无差别的过程。</a:t>
            </a:r>
            <a:endParaRPr lang="en-US" altLang="zh-CN" dirty="0">
              <a:sym typeface="+mn-ea"/>
            </a:endParaRPr>
          </a:p>
          <a:p>
            <a:pPr indent="457200" algn="just">
              <a:lnSpc>
                <a:spcPct val="130000"/>
              </a:lnSpc>
              <a:spcAft>
                <a:spcPts val="600"/>
              </a:spcAft>
            </a:pPr>
            <a:r>
              <a:rPr lang="zh-CN" altLang="en-US" dirty="0">
                <a:sym typeface="+mn-ea"/>
              </a:rPr>
              <a:t>首先要明确目标，然后要掌握测试方法策略，确实做到尽可能地将软件中存在的问题找出来，以保证软件质量。</a:t>
            </a:r>
          </a:p>
          <a:p>
            <a:pPr marL="0" indent="457200" algn="just" fontAlgn="auto">
              <a:lnSpc>
                <a:spcPct val="130000"/>
              </a:lnSpc>
              <a:spcAft>
                <a:spcPts val="600"/>
              </a:spcAft>
            </a:pPr>
            <a:r>
              <a:rPr lang="zh-CN" altLang="en-US" dirty="0">
                <a:sym typeface="+mn-ea"/>
              </a:rPr>
              <a:t>大量统计资料表明，软件测试工作量往往占软件开发总工作量的40% 以上。极端情况下，如测试有关人的生命安全的软件所花费的成本，可能会高达软件工程其他阶段总成本的3～5倍。</a:t>
            </a:r>
            <a:endParaRPr lang="en-US" altLang="zh-CN" dirty="0">
              <a:sym typeface="+mn-ea"/>
            </a:endParaRPr>
          </a:p>
        </p:txBody>
      </p:sp>
    </p:spTree>
  </p:cSld>
  <p:clrMapOvr>
    <a:masterClrMapping/>
  </p:clrMapOvr>
  <p:transition>
    <p:wipe dir="u"/>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altLang="en-US" dirty="0"/>
              <a:t>4.2 </a:t>
            </a:r>
            <a:r>
              <a:rPr lang="zh-CN" altLang="en-US" dirty="0"/>
              <a:t>软件测试目标</a:t>
            </a:r>
          </a:p>
        </p:txBody>
      </p:sp>
      <p:sp>
        <p:nvSpPr>
          <p:cNvPr id="29" name="文本占位符 28">
            <a:extLst>
              <a:ext uri="{FF2B5EF4-FFF2-40B4-BE49-F238E27FC236}">
                <a16:creationId xmlns:a16="http://schemas.microsoft.com/office/drawing/2014/main" id="{6FE6815A-B47D-72F4-9EE5-D635932780EA}"/>
              </a:ext>
            </a:extLst>
          </p:cNvPr>
          <p:cNvSpPr>
            <a:spLocks noGrp="1"/>
          </p:cNvSpPr>
          <p:nvPr>
            <p:ph type="body" sz="quarter" idx="10"/>
          </p:nvPr>
        </p:nvSpPr>
        <p:spPr>
          <a:xfrm>
            <a:off x="696000" y="1322832"/>
            <a:ext cx="5400000" cy="400110"/>
          </a:xfrm>
        </p:spPr>
        <p:txBody>
          <a:bodyPr/>
          <a:lstStyle/>
          <a:p>
            <a:r>
              <a:rPr lang="zh-CN" altLang="en-US" dirty="0"/>
              <a:t>软件测试目标</a:t>
            </a:r>
          </a:p>
        </p:txBody>
      </p:sp>
      <p:sp>
        <p:nvSpPr>
          <p:cNvPr id="33" name="文本占位符 32">
            <a:extLst>
              <a:ext uri="{FF2B5EF4-FFF2-40B4-BE49-F238E27FC236}">
                <a16:creationId xmlns:a16="http://schemas.microsoft.com/office/drawing/2014/main" id="{7BCDF443-49D8-E9E7-8D19-1EB649A1756C}"/>
              </a:ext>
            </a:extLst>
          </p:cNvPr>
          <p:cNvSpPr>
            <a:spLocks noGrp="1"/>
          </p:cNvSpPr>
          <p:nvPr>
            <p:ph type="body" sz="quarter" idx="11"/>
          </p:nvPr>
        </p:nvSpPr>
        <p:spPr/>
        <p:txBody>
          <a:bodyPr/>
          <a:lstStyle/>
          <a:p>
            <a:endParaRPr lang="zh-CN" altLang="en-US"/>
          </a:p>
        </p:txBody>
      </p:sp>
      <p:sp>
        <p:nvSpPr>
          <p:cNvPr id="10" name="文本框 9"/>
          <p:cNvSpPr txBox="1"/>
          <p:nvPr>
            <p:custDataLst>
              <p:tags r:id="rId1"/>
            </p:custDataLst>
          </p:nvPr>
        </p:nvSpPr>
        <p:spPr>
          <a:xfrm>
            <a:off x="4016062" y="3166704"/>
            <a:ext cx="6449013" cy="386331"/>
          </a:xfrm>
          <a:prstGeom prst="rect">
            <a:avLst/>
          </a:prstGeom>
          <a:noFill/>
        </p:spPr>
        <p:txBody>
          <a:bodyPr wrap="square" lIns="0" rIns="0">
            <a:noAutofit/>
          </a:bodyPr>
          <a:lstStyle/>
          <a:p>
            <a:pPr>
              <a:defRPr/>
            </a:pPr>
            <a:r>
              <a:rPr sz="2000" dirty="0" err="1"/>
              <a:t>测试是为了发现程序中的错误而执行程序的过程</a:t>
            </a:r>
            <a:r>
              <a:rPr sz="2000" dirty="0"/>
              <a:t>。</a:t>
            </a:r>
          </a:p>
        </p:txBody>
      </p:sp>
      <p:sp>
        <p:nvSpPr>
          <p:cNvPr id="11" name="文本框 10"/>
          <p:cNvSpPr txBox="1"/>
          <p:nvPr>
            <p:custDataLst>
              <p:tags r:id="rId2"/>
            </p:custDataLst>
          </p:nvPr>
        </p:nvSpPr>
        <p:spPr>
          <a:xfrm>
            <a:off x="4345542" y="4025217"/>
            <a:ext cx="6074435" cy="393679"/>
          </a:xfrm>
          <a:prstGeom prst="rect">
            <a:avLst/>
          </a:prstGeom>
          <a:noFill/>
        </p:spPr>
        <p:txBody>
          <a:bodyPr wrap="square" lIns="0" rIns="0">
            <a:normAutofit fontScale="92500" lnSpcReduction="10000"/>
          </a:bodyPr>
          <a:lstStyle/>
          <a:p>
            <a:pPr>
              <a:lnSpc>
                <a:spcPct val="120000"/>
              </a:lnSpc>
              <a:defRPr/>
            </a:pPr>
            <a:r>
              <a:rPr sz="2000" dirty="0" err="1"/>
              <a:t>好的测试方案能够发现尚未发现的错误</a:t>
            </a:r>
            <a:r>
              <a:rPr lang="en-US" sz="2000" dirty="0"/>
              <a:t> – </a:t>
            </a:r>
            <a:r>
              <a:rPr lang="zh-CN" altLang="en-US" sz="2000" dirty="0"/>
              <a:t>设计准则</a:t>
            </a:r>
            <a:endParaRPr sz="2000" dirty="0"/>
          </a:p>
        </p:txBody>
      </p:sp>
      <p:sp>
        <p:nvSpPr>
          <p:cNvPr id="47" name="文本框 46"/>
          <p:cNvSpPr txBox="1"/>
          <p:nvPr>
            <p:custDataLst>
              <p:tags r:id="rId3"/>
            </p:custDataLst>
          </p:nvPr>
        </p:nvSpPr>
        <p:spPr>
          <a:xfrm>
            <a:off x="4016062" y="4911575"/>
            <a:ext cx="6469705" cy="362355"/>
          </a:xfrm>
          <a:prstGeom prst="rect">
            <a:avLst/>
          </a:prstGeom>
          <a:noFill/>
        </p:spPr>
        <p:txBody>
          <a:bodyPr wrap="square" lIns="0" rIns="0">
            <a:normAutofit fontScale="85000" lnSpcReduction="10000"/>
          </a:bodyPr>
          <a:lstStyle/>
          <a:p>
            <a:pPr>
              <a:lnSpc>
                <a:spcPct val="120000"/>
              </a:lnSpc>
              <a:defRPr/>
            </a:pPr>
            <a:r>
              <a:rPr sz="2000" dirty="0" err="1"/>
              <a:t>成功的测试是发现了尚未发现的错误的测试</a:t>
            </a:r>
            <a:r>
              <a:rPr lang="en-US" sz="2000" dirty="0"/>
              <a:t> – </a:t>
            </a:r>
            <a:r>
              <a:rPr lang="zh-CN" altLang="en-US" sz="2000" dirty="0"/>
              <a:t>价值定义</a:t>
            </a:r>
            <a:endParaRPr sz="2000" dirty="0"/>
          </a:p>
        </p:txBody>
      </p:sp>
      <p:grpSp>
        <p:nvGrpSpPr>
          <p:cNvPr id="2" name="组合 1">
            <a:extLst>
              <a:ext uri="{FF2B5EF4-FFF2-40B4-BE49-F238E27FC236}">
                <a16:creationId xmlns:a16="http://schemas.microsoft.com/office/drawing/2014/main" id="{7DB14C63-496A-2947-CA6F-FB441149DCB0}"/>
              </a:ext>
            </a:extLst>
          </p:cNvPr>
          <p:cNvGrpSpPr/>
          <p:nvPr/>
        </p:nvGrpSpPr>
        <p:grpSpPr>
          <a:xfrm>
            <a:off x="689212" y="2445047"/>
            <a:ext cx="3483610" cy="3663950"/>
            <a:chOff x="689212" y="2445047"/>
            <a:chExt cx="3483610" cy="3663950"/>
          </a:xfrm>
        </p:grpSpPr>
        <p:sp>
          <p:nvSpPr>
            <p:cNvPr id="4" name="Oval 15">
              <a:extLst>
                <a:ext uri="{FF2B5EF4-FFF2-40B4-BE49-F238E27FC236}">
                  <a16:creationId xmlns:a16="http://schemas.microsoft.com/office/drawing/2014/main" id="{5B7E9E9C-EA6E-9734-FBB8-25BE1A80F023}"/>
                </a:ext>
              </a:extLst>
            </p:cNvPr>
            <p:cNvSpPr>
              <a:spLocks noChangeArrowheads="1"/>
            </p:cNvSpPr>
            <p:nvPr>
              <p:custDataLst>
                <p:tags r:id="rId4"/>
              </p:custDataLst>
            </p:nvPr>
          </p:nvSpPr>
          <p:spPr bwMode="auto">
            <a:xfrm>
              <a:off x="861932" y="2679997"/>
              <a:ext cx="3153410" cy="3182620"/>
            </a:xfrm>
            <a:prstGeom prst="ellipse">
              <a:avLst/>
            </a:prstGeom>
            <a:noFill/>
            <a:ln w="19050">
              <a:solidFill>
                <a:srgbClr val="00B0F0"/>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5" name="Line 16">
              <a:extLst>
                <a:ext uri="{FF2B5EF4-FFF2-40B4-BE49-F238E27FC236}">
                  <a16:creationId xmlns:a16="http://schemas.microsoft.com/office/drawing/2014/main" id="{E56C6CD2-1902-1743-E384-02BBD11A282B}"/>
                </a:ext>
              </a:extLst>
            </p:cNvPr>
            <p:cNvSpPr>
              <a:spLocks noChangeShapeType="1"/>
            </p:cNvSpPr>
            <p:nvPr>
              <p:custDataLst>
                <p:tags r:id="rId5"/>
              </p:custDataLst>
            </p:nvPr>
          </p:nvSpPr>
          <p:spPr bwMode="gray">
            <a:xfrm>
              <a:off x="689212" y="4278292"/>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6" name="Line 17">
              <a:extLst>
                <a:ext uri="{FF2B5EF4-FFF2-40B4-BE49-F238E27FC236}">
                  <a16:creationId xmlns:a16="http://schemas.microsoft.com/office/drawing/2014/main" id="{18F7246E-2EC3-58B4-D33B-D019DB3AF181}"/>
                </a:ext>
              </a:extLst>
            </p:cNvPr>
            <p:cNvSpPr>
              <a:spLocks noChangeShapeType="1"/>
            </p:cNvSpPr>
            <p:nvPr>
              <p:custDataLst>
                <p:tags r:id="rId6"/>
              </p:custDataLst>
            </p:nvPr>
          </p:nvSpPr>
          <p:spPr bwMode="gray">
            <a:xfrm>
              <a:off x="2431017" y="2445047"/>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3" name="Oval 10">
              <a:extLst>
                <a:ext uri="{FF2B5EF4-FFF2-40B4-BE49-F238E27FC236}">
                  <a16:creationId xmlns:a16="http://schemas.microsoft.com/office/drawing/2014/main" id="{BBFC7F66-BA9C-D153-B75E-2252EAF78E69}"/>
                </a:ext>
              </a:extLst>
            </p:cNvPr>
            <p:cNvSpPr>
              <a:spLocks noChangeArrowheads="1"/>
            </p:cNvSpPr>
            <p:nvPr>
              <p:custDataLst>
                <p:tags r:id="rId7"/>
              </p:custDataLst>
            </p:nvPr>
          </p:nvSpPr>
          <p:spPr bwMode="gray">
            <a:xfrm>
              <a:off x="1034652" y="2860337"/>
              <a:ext cx="2789555" cy="2811145"/>
            </a:xfrm>
            <a:prstGeom prst="ellipse">
              <a:avLst/>
            </a:prstGeom>
            <a:noFill/>
            <a:ln w="9525">
              <a:solidFill>
                <a:srgbClr val="00B0F0">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4" name="Oval 13">
              <a:extLst>
                <a:ext uri="{FF2B5EF4-FFF2-40B4-BE49-F238E27FC236}">
                  <a16:creationId xmlns:a16="http://schemas.microsoft.com/office/drawing/2014/main" id="{4C650DC5-A34B-5843-182F-40B608C0A16A}"/>
                </a:ext>
              </a:extLst>
            </p:cNvPr>
            <p:cNvSpPr>
              <a:spLocks noChangeArrowheads="1"/>
            </p:cNvSpPr>
            <p:nvPr>
              <p:custDataLst>
                <p:tags r:id="rId8"/>
              </p:custDataLst>
            </p:nvPr>
          </p:nvSpPr>
          <p:spPr bwMode="gray">
            <a:xfrm>
              <a:off x="1353422" y="3197522"/>
              <a:ext cx="2137410" cy="2181860"/>
            </a:xfrm>
            <a:prstGeom prst="ellipse">
              <a:avLst/>
            </a:prstGeom>
            <a:solidFill>
              <a:srgbClr val="00B0F0"/>
            </a:solidFill>
            <a:ln w="0">
              <a:noFill/>
            </a:ln>
            <a:effectLst/>
          </p:spPr>
          <p:txBody>
            <a:bodyPr wrap="square" anchor="ctr">
              <a:normAutofit/>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5" name="KSO_GT1">
              <a:extLst>
                <a:ext uri="{FF2B5EF4-FFF2-40B4-BE49-F238E27FC236}">
                  <a16:creationId xmlns:a16="http://schemas.microsoft.com/office/drawing/2014/main" id="{6458EEA8-8E22-F314-AEB3-E9904F833015}"/>
                </a:ext>
              </a:extLst>
            </p:cNvPr>
            <p:cNvSpPr>
              <a:spLocks noChangeArrowheads="1"/>
            </p:cNvSpPr>
            <p:nvPr>
              <p:custDataLst>
                <p:tags r:id="rId9"/>
              </p:custDataLst>
            </p:nvPr>
          </p:nvSpPr>
          <p:spPr bwMode="gray">
            <a:xfrm>
              <a:off x="1738232" y="3589952"/>
              <a:ext cx="1368425" cy="1397635"/>
            </a:xfrm>
            <a:prstGeom prst="ellipse">
              <a:avLst/>
            </a:prstGeom>
            <a:solidFill>
              <a:schemeClr val="accent5"/>
            </a:solidFill>
            <a:ln>
              <a:noFill/>
            </a:ln>
            <a:effectLst/>
          </p:spPr>
          <p:txBody>
            <a:bodyPr wrap="square" lIns="0" tIns="0" rIns="0" bIns="0" anchor="ctr">
              <a:normAutofit fontScale="90000"/>
            </a:bodyPr>
            <a:lstStyle/>
            <a:p>
              <a:pPr algn="ctr">
                <a:defRPr/>
              </a:pPr>
              <a:r>
                <a:rPr lang="zh-CN" altLang="en-US" sz="2800" kern="0" dirty="0">
                  <a:solidFill>
                    <a:srgbClr val="FFFFFF"/>
                  </a:solidFill>
                  <a:latin typeface="Times New Roman" panose="02020603050405020304" pitchFamily="18" charset="0"/>
                  <a:ea typeface="微软雅黑 Light" panose="020B0502040204020203" pitchFamily="34" charset="-122"/>
                  <a:cs typeface="+mn-ea"/>
                </a:rPr>
                <a:t>软件测试目标</a:t>
              </a:r>
            </a:p>
          </p:txBody>
        </p:sp>
        <p:sp>
          <p:nvSpPr>
            <p:cNvPr id="16" name="Oval 19">
              <a:extLst>
                <a:ext uri="{FF2B5EF4-FFF2-40B4-BE49-F238E27FC236}">
                  <a16:creationId xmlns:a16="http://schemas.microsoft.com/office/drawing/2014/main" id="{4E177C7B-2C07-B92F-2241-36261F1CCB09}"/>
                </a:ext>
              </a:extLst>
            </p:cNvPr>
            <p:cNvSpPr>
              <a:spLocks noChangeArrowheads="1"/>
            </p:cNvSpPr>
            <p:nvPr>
              <p:custDataLst>
                <p:tags r:id="rId10"/>
              </p:custDataLst>
            </p:nvPr>
          </p:nvSpPr>
          <p:spPr bwMode="gray">
            <a:xfrm>
              <a:off x="2880597" y="2598082"/>
              <a:ext cx="251460" cy="251460"/>
            </a:xfrm>
            <a:prstGeom prst="ellipse">
              <a:avLst/>
            </a:prstGeom>
            <a:solidFill>
              <a:srgbClr val="00B0F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19" name="Oval 19">
              <a:extLst>
                <a:ext uri="{FF2B5EF4-FFF2-40B4-BE49-F238E27FC236}">
                  <a16:creationId xmlns:a16="http://schemas.microsoft.com/office/drawing/2014/main" id="{7038524A-F714-0AB3-00AE-BC27EC098ECF}"/>
                </a:ext>
              </a:extLst>
            </p:cNvPr>
            <p:cNvSpPr>
              <a:spLocks noChangeArrowheads="1"/>
            </p:cNvSpPr>
            <p:nvPr>
              <p:custDataLst>
                <p:tags r:id="rId11"/>
              </p:custDataLst>
            </p:nvPr>
          </p:nvSpPr>
          <p:spPr bwMode="gray">
            <a:xfrm>
              <a:off x="3599735" y="3227685"/>
              <a:ext cx="251460" cy="251460"/>
            </a:xfrm>
            <a:prstGeom prst="ellipse">
              <a:avLst/>
            </a:prstGeom>
            <a:solidFill>
              <a:schemeClr val="accent6"/>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sp>
          <p:nvSpPr>
            <p:cNvPr id="24" name="Oval 19">
              <a:extLst>
                <a:ext uri="{FF2B5EF4-FFF2-40B4-BE49-F238E27FC236}">
                  <a16:creationId xmlns:a16="http://schemas.microsoft.com/office/drawing/2014/main" id="{2D83C6B5-0BE9-6F6D-1EF4-6CF2373AFECD}"/>
                </a:ext>
              </a:extLst>
            </p:cNvPr>
            <p:cNvSpPr>
              <a:spLocks noChangeArrowheads="1"/>
            </p:cNvSpPr>
            <p:nvPr>
              <p:custDataLst>
                <p:tags r:id="rId12"/>
              </p:custDataLst>
            </p:nvPr>
          </p:nvSpPr>
          <p:spPr bwMode="gray">
            <a:xfrm>
              <a:off x="3257153" y="2880657"/>
              <a:ext cx="251460" cy="251460"/>
            </a:xfrm>
            <a:prstGeom prst="ellipse">
              <a:avLst/>
            </a:prstGeom>
            <a:solidFill>
              <a:srgbClr val="008080"/>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latin typeface="Times New Roman" panose="02020603050405020304" pitchFamily="18" charset="0"/>
              </a:endParaRPr>
            </a:p>
          </p:txBody>
        </p:sp>
      </p:grpSp>
    </p:spTree>
  </p:cSld>
  <p:clrMapOvr>
    <a:masterClrMapping/>
  </p:clrMapOvr>
  <p:transition>
    <p:wipe dir="u"/>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555" y="2935102"/>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软件测试方法</a:t>
            </a:r>
          </a:p>
        </p:txBody>
      </p:sp>
      <p:sp>
        <p:nvSpPr>
          <p:cNvPr id="48" name="文本框 47"/>
          <p:cNvSpPr txBox="1"/>
          <p:nvPr/>
        </p:nvSpPr>
        <p:spPr>
          <a:xfrm>
            <a:off x="6006465" y="4135755"/>
            <a:ext cx="371284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静态分析与动态测试</a:t>
            </a:r>
          </a:p>
        </p:txBody>
      </p:sp>
      <p:sp>
        <p:nvSpPr>
          <p:cNvPr id="50" name="文本框 49"/>
          <p:cNvSpPr txBox="1"/>
          <p:nvPr/>
        </p:nvSpPr>
        <p:spPr>
          <a:xfrm>
            <a:off x="6006465" y="4631055"/>
            <a:ext cx="371284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黑盒法与白盒法</a:t>
            </a:r>
          </a:p>
        </p:txBody>
      </p:sp>
      <p:sp>
        <p:nvSpPr>
          <p:cNvPr id="3" name="椭圆 2">
            <a:extLst>
              <a:ext uri="{FF2B5EF4-FFF2-40B4-BE49-F238E27FC236}">
                <a16:creationId xmlns:a16="http://schemas.microsoft.com/office/drawing/2014/main" id="{181E459F-67F7-CF91-9237-27EF2F563692}"/>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03</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altLang="zh-CN" dirty="0"/>
              <a:t>4.3 </a:t>
            </a:r>
            <a:r>
              <a:rPr lang="zh-CN" altLang="en-US" dirty="0"/>
              <a:t>软件测试方法</a:t>
            </a:r>
          </a:p>
        </p:txBody>
      </p:sp>
      <p:sp>
        <p:nvSpPr>
          <p:cNvPr id="14" name="文本占位符 13">
            <a:extLst>
              <a:ext uri="{FF2B5EF4-FFF2-40B4-BE49-F238E27FC236}">
                <a16:creationId xmlns:a16="http://schemas.microsoft.com/office/drawing/2014/main" id="{9ADD4557-897A-5C9F-A3B9-7CF833B16EB1}"/>
              </a:ext>
            </a:extLst>
          </p:cNvPr>
          <p:cNvSpPr>
            <a:spLocks noGrp="1"/>
          </p:cNvSpPr>
          <p:nvPr>
            <p:ph type="body" sz="quarter" idx="10"/>
          </p:nvPr>
        </p:nvSpPr>
        <p:spPr>
          <a:xfrm>
            <a:off x="696000" y="1322832"/>
            <a:ext cx="5400000" cy="400110"/>
          </a:xfrm>
        </p:spPr>
        <p:txBody>
          <a:bodyPr/>
          <a:lstStyle/>
          <a:p>
            <a:r>
              <a:rPr lang="en-US" altLang="zh-CN" dirty="0"/>
              <a:t>4.3.1 </a:t>
            </a:r>
            <a:r>
              <a:rPr lang="zh-CN" altLang="en-US" dirty="0"/>
              <a:t>静态分析与动态测试</a:t>
            </a:r>
          </a:p>
        </p:txBody>
      </p:sp>
      <p:sp>
        <p:nvSpPr>
          <p:cNvPr id="15" name="文本占位符 14">
            <a:extLst>
              <a:ext uri="{FF2B5EF4-FFF2-40B4-BE49-F238E27FC236}">
                <a16:creationId xmlns:a16="http://schemas.microsoft.com/office/drawing/2014/main" id="{D057CDAF-A186-7142-8A71-F38AEDFC6969}"/>
              </a:ext>
            </a:extLst>
          </p:cNvPr>
          <p:cNvSpPr>
            <a:spLocks noGrp="1"/>
          </p:cNvSpPr>
          <p:nvPr>
            <p:ph type="body" sz="quarter" idx="11"/>
          </p:nvPr>
        </p:nvSpPr>
        <p:spPr/>
        <p:txBody>
          <a:bodyPr/>
          <a:lstStyle/>
          <a:p>
            <a:endParaRPr lang="zh-CN" altLang="en-US"/>
          </a:p>
        </p:txBody>
      </p:sp>
      <p:sp>
        <p:nvSpPr>
          <p:cNvPr id="43" name="矩形 42"/>
          <p:cNvSpPr/>
          <p:nvPr/>
        </p:nvSpPr>
        <p:spPr>
          <a:xfrm>
            <a:off x="525780" y="2265554"/>
            <a:ext cx="4320000" cy="3671166"/>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latin typeface="Times New Roman" panose="02020603050405020304" pitchFamily="18" charset="0"/>
            </a:endParaRPr>
          </a:p>
        </p:txBody>
      </p:sp>
      <p:pic>
        <p:nvPicPr>
          <p:cNvPr id="52" name="图片 51"/>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25780" y="2265554"/>
            <a:ext cx="1454150" cy="1451510"/>
          </a:xfrm>
          <a:prstGeom prst="rect">
            <a:avLst/>
          </a:prstGeom>
        </p:spPr>
      </p:pic>
      <p:sp>
        <p:nvSpPr>
          <p:cNvPr id="4" name="TextBox 6"/>
          <p:cNvSpPr txBox="1"/>
          <p:nvPr/>
        </p:nvSpPr>
        <p:spPr>
          <a:xfrm rot="18836568">
            <a:off x="495710" y="2595323"/>
            <a:ext cx="1101541" cy="369332"/>
          </a:xfrm>
          <a:prstGeom prst="rect">
            <a:avLst/>
          </a:prstGeom>
          <a:noFill/>
        </p:spPr>
        <p:txBody>
          <a:bodyPr wrap="square" rtlCol="0">
            <a:spAutoFit/>
          </a:bodyPr>
          <a:lstStyle/>
          <a:p>
            <a:pPr algn="l"/>
            <a:r>
              <a:rPr lang="zh-CN" altLang="en-US" dirty="0">
                <a:solidFill>
                  <a:schemeClr val="bg1"/>
                </a:solidFill>
                <a:latin typeface="+mj-ea"/>
                <a:ea typeface="+mj-ea"/>
              </a:rPr>
              <a:t>静态分析</a:t>
            </a:r>
          </a:p>
        </p:txBody>
      </p:sp>
      <p:sp>
        <p:nvSpPr>
          <p:cNvPr id="5" name="TextBox 26"/>
          <p:cNvSpPr txBox="1"/>
          <p:nvPr/>
        </p:nvSpPr>
        <p:spPr>
          <a:xfrm>
            <a:off x="4296410" y="1818005"/>
            <a:ext cx="691515" cy="1015483"/>
          </a:xfrm>
          <a:prstGeom prst="rect">
            <a:avLst/>
          </a:prstGeom>
          <a:noFill/>
        </p:spPr>
        <p:txBody>
          <a:bodyPr wrap="square" rtlCol="0">
            <a:spAutoFit/>
          </a:bodyPr>
          <a:lstStyle/>
          <a:p>
            <a:pPr algn="ctr"/>
            <a:r>
              <a:rPr lang="en-US" sz="6000" dirty="0">
                <a:ln>
                  <a:solidFill>
                    <a:schemeClr val="tx2"/>
                  </a:solidFill>
                </a:ln>
                <a:solidFill>
                  <a:schemeClr val="bg1"/>
                </a:solidFill>
                <a:effectLst>
                  <a:reflection blurRad="6350" stA="55000" endA="300" endPos="45500" dir="5400000" sy="-100000" algn="bl" rotWithShape="0"/>
                </a:effectLst>
                <a:latin typeface="Times New Roman" panose="02020603050405020304" pitchFamily="18" charset="0"/>
              </a:rPr>
              <a:t>1</a:t>
            </a:r>
          </a:p>
        </p:txBody>
      </p:sp>
      <p:sp>
        <p:nvSpPr>
          <p:cNvPr id="7" name="矩形 6"/>
          <p:cNvSpPr/>
          <p:nvPr/>
        </p:nvSpPr>
        <p:spPr>
          <a:xfrm>
            <a:off x="5232856" y="2265773"/>
            <a:ext cx="6480000" cy="3671696"/>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latin typeface="Times New Roman" panose="02020603050405020304" pitchFamily="18" charset="0"/>
            </a:endParaRPr>
          </a:p>
        </p:txBody>
      </p:sp>
      <p:pic>
        <p:nvPicPr>
          <p:cNvPr id="8" name="图片 7"/>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189220" y="2236800"/>
            <a:ext cx="1406661" cy="1377545"/>
          </a:xfrm>
          <a:prstGeom prst="rect">
            <a:avLst/>
          </a:prstGeom>
        </p:spPr>
      </p:pic>
      <p:sp>
        <p:nvSpPr>
          <p:cNvPr id="10" name="TextBox 6"/>
          <p:cNvSpPr txBox="1"/>
          <p:nvPr/>
        </p:nvSpPr>
        <p:spPr>
          <a:xfrm rot="18836568">
            <a:off x="5153442" y="2491011"/>
            <a:ext cx="1137857" cy="369332"/>
          </a:xfrm>
          <a:prstGeom prst="rect">
            <a:avLst/>
          </a:prstGeom>
          <a:noFill/>
        </p:spPr>
        <p:txBody>
          <a:bodyPr wrap="square" rtlCol="0">
            <a:spAutoFit/>
          </a:bodyPr>
          <a:lstStyle/>
          <a:p>
            <a:pPr algn="l"/>
            <a:r>
              <a:rPr lang="zh-CN" altLang="en-US" dirty="0">
                <a:solidFill>
                  <a:schemeClr val="bg1"/>
                </a:solidFill>
                <a:latin typeface="+mj-ea"/>
                <a:ea typeface="+mj-ea"/>
              </a:rPr>
              <a:t>动态测试</a:t>
            </a:r>
          </a:p>
        </p:txBody>
      </p:sp>
      <p:sp>
        <p:nvSpPr>
          <p:cNvPr id="11" name="TextBox 26"/>
          <p:cNvSpPr txBox="1"/>
          <p:nvPr/>
        </p:nvSpPr>
        <p:spPr>
          <a:xfrm>
            <a:off x="11080853" y="1818005"/>
            <a:ext cx="863990" cy="1015379"/>
          </a:xfrm>
          <a:prstGeom prst="rect">
            <a:avLst/>
          </a:prstGeom>
          <a:noFill/>
        </p:spPr>
        <p:txBody>
          <a:bodyPr wrap="square" rtlCol="0">
            <a:spAutoFit/>
          </a:bodyPr>
          <a:lstStyle/>
          <a:p>
            <a:pPr algn="ctr"/>
            <a:r>
              <a:rPr lang="en-US" sz="6000" dirty="0">
                <a:ln>
                  <a:solidFill>
                    <a:schemeClr val="tx2"/>
                  </a:solidFill>
                </a:ln>
                <a:solidFill>
                  <a:schemeClr val="bg1"/>
                </a:solidFill>
                <a:effectLst>
                  <a:reflection blurRad="6350" stA="55000" endA="300" endPos="45500" dir="5400000" sy="-100000" algn="bl" rotWithShape="0"/>
                </a:effectLst>
                <a:latin typeface="Times New Roman" panose="02020603050405020304" pitchFamily="18" charset="0"/>
              </a:rPr>
              <a:t>2</a:t>
            </a:r>
          </a:p>
        </p:txBody>
      </p:sp>
      <p:sp>
        <p:nvSpPr>
          <p:cNvPr id="16" name="文本框 15">
            <a:extLst>
              <a:ext uri="{FF2B5EF4-FFF2-40B4-BE49-F238E27FC236}">
                <a16:creationId xmlns:a16="http://schemas.microsoft.com/office/drawing/2014/main" id="{47F3480B-A411-884A-145E-935D20A67733}"/>
              </a:ext>
            </a:extLst>
          </p:cNvPr>
          <p:cNvSpPr txBox="1"/>
          <p:nvPr/>
        </p:nvSpPr>
        <p:spPr>
          <a:xfrm>
            <a:off x="5873122" y="2901981"/>
            <a:ext cx="5787565" cy="2816156"/>
          </a:xfrm>
          <a:prstGeom prst="rect">
            <a:avLst/>
          </a:prstGeom>
          <a:noFill/>
        </p:spPr>
        <p:txBody>
          <a:bodyPr wrap="square" rtlCol="0">
            <a:spAutoFit/>
          </a:bodyPr>
          <a:lstStyle/>
          <a:p>
            <a:pPr algn="just">
              <a:spcAft>
                <a:spcPts val="600"/>
              </a:spcAft>
            </a:pPr>
            <a:r>
              <a:rPr lang="zh-CN" altLang="en-US" dirty="0">
                <a:sym typeface="+mn-ea"/>
              </a:rPr>
              <a:t>动态测试</a:t>
            </a:r>
            <a:r>
              <a:rPr lang="zh-CN" altLang="en-US" dirty="0">
                <a:latin typeface="+mj-ea"/>
                <a:ea typeface="+mj-ea"/>
                <a:sym typeface="+mn-ea"/>
              </a:rPr>
              <a:t>以执行程序并分析程序</a:t>
            </a:r>
            <a:r>
              <a:rPr lang="zh-CN" altLang="en-US" dirty="0">
                <a:sym typeface="+mn-ea"/>
              </a:rPr>
              <a:t>来查错。</a:t>
            </a:r>
          </a:p>
          <a:p>
            <a:pPr algn="just">
              <a:spcAft>
                <a:spcPts val="600"/>
              </a:spcAft>
            </a:pPr>
            <a:r>
              <a:rPr lang="zh-CN" altLang="en-US" dirty="0">
                <a:sym typeface="+mn-ea"/>
              </a:rPr>
              <a:t>为了进行软件测试，需要预先准备好两种数据：输入数据和预期的输出结果。</a:t>
            </a:r>
          </a:p>
          <a:p>
            <a:pPr algn="just">
              <a:spcAft>
                <a:spcPts val="600"/>
              </a:spcAft>
            </a:pPr>
            <a:r>
              <a:rPr lang="zh-CN" altLang="en-US" dirty="0">
                <a:sym typeface="+mn-ea"/>
              </a:rPr>
              <a:t>我们把以发现错误为目标的用于软件测试的输入数据及与之对应的预期输出结果称为</a:t>
            </a:r>
            <a:r>
              <a:rPr lang="zh-CN" altLang="en-US" dirty="0">
                <a:latin typeface="+mj-ea"/>
                <a:ea typeface="+mj-ea"/>
                <a:sym typeface="+mn-ea"/>
              </a:rPr>
              <a:t>测试用例</a:t>
            </a:r>
            <a:r>
              <a:rPr lang="zh-CN" altLang="en-US" dirty="0">
                <a:sym typeface="+mn-ea"/>
              </a:rPr>
              <a:t>。怎样设计测试用例是动态测试的关键。一个设计良好的测试用例，应对发现错误具有较高的概率。</a:t>
            </a:r>
          </a:p>
          <a:p>
            <a:pPr algn="just">
              <a:spcAft>
                <a:spcPts val="600"/>
              </a:spcAft>
            </a:pPr>
            <a:r>
              <a:rPr lang="zh-CN" altLang="en-US" dirty="0">
                <a:sym typeface="+mn-ea"/>
              </a:rPr>
              <a:t>如果想要查出程序中所有的错误，就要把所有可能的输入情况都作为测试情况来进行，即</a:t>
            </a:r>
            <a:r>
              <a:rPr lang="zh-CN" altLang="en-US" dirty="0">
                <a:latin typeface="+mj-ea"/>
                <a:ea typeface="+mj-ea"/>
                <a:sym typeface="+mn-ea"/>
              </a:rPr>
              <a:t>穷尽测试</a:t>
            </a:r>
            <a:r>
              <a:rPr lang="zh-CN" altLang="en-US" dirty="0">
                <a:sym typeface="+mn-ea"/>
              </a:rPr>
              <a:t>。</a:t>
            </a:r>
          </a:p>
        </p:txBody>
      </p:sp>
      <p:sp>
        <p:nvSpPr>
          <p:cNvPr id="17" name="文本框 16">
            <a:extLst>
              <a:ext uri="{FF2B5EF4-FFF2-40B4-BE49-F238E27FC236}">
                <a16:creationId xmlns:a16="http://schemas.microsoft.com/office/drawing/2014/main" id="{2619676B-AA17-946B-9539-553954FF29AC}"/>
              </a:ext>
            </a:extLst>
          </p:cNvPr>
          <p:cNvSpPr txBox="1"/>
          <p:nvPr/>
        </p:nvSpPr>
        <p:spPr>
          <a:xfrm>
            <a:off x="1160444" y="2962054"/>
            <a:ext cx="3402031" cy="1754326"/>
          </a:xfrm>
          <a:prstGeom prst="rect">
            <a:avLst/>
          </a:prstGeom>
          <a:noFill/>
        </p:spPr>
        <p:txBody>
          <a:bodyPr wrap="square" rtlCol="0">
            <a:spAutoFit/>
          </a:bodyPr>
          <a:lstStyle/>
          <a:p>
            <a:pPr algn="just">
              <a:spcAft>
                <a:spcPts val="600"/>
              </a:spcAft>
            </a:pPr>
            <a:r>
              <a:rPr lang="zh-CN" altLang="en-US" dirty="0"/>
              <a:t>静态分析</a:t>
            </a:r>
            <a:r>
              <a:rPr lang="zh-CN" altLang="en-US" dirty="0">
                <a:latin typeface="+mj-ea"/>
                <a:ea typeface="+mj-ea"/>
              </a:rPr>
              <a:t>不执行</a:t>
            </a:r>
            <a:r>
              <a:rPr lang="zh-CN" altLang="en-US" dirty="0"/>
              <a:t>被测试软件，通过对需求分析说明书、软件设计说明书及源程序做结构检查、流程图分析、编码分析等来找出软件错误，这是十分有效的软件质量控制方法。</a:t>
            </a:r>
            <a:endParaRPr lang="zh-CN" altLang="en-US" dirty="0">
              <a:sym typeface="+mn-ea"/>
            </a:endParaRPr>
          </a:p>
        </p:txBody>
      </p:sp>
    </p:spTree>
  </p:cSld>
  <p:clrMapOvr>
    <a:masterClrMapping/>
  </p:clrMapOvr>
  <p:transition>
    <p:wipe dir="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altLang="zh-CN" dirty="0"/>
              <a:t>4.3 </a:t>
            </a:r>
            <a:r>
              <a:rPr lang="zh-CN" altLang="en-US" dirty="0"/>
              <a:t>软件测试方法</a:t>
            </a:r>
          </a:p>
        </p:txBody>
      </p:sp>
      <p:sp>
        <p:nvSpPr>
          <p:cNvPr id="14" name="文本占位符 13">
            <a:extLst>
              <a:ext uri="{FF2B5EF4-FFF2-40B4-BE49-F238E27FC236}">
                <a16:creationId xmlns:a16="http://schemas.microsoft.com/office/drawing/2014/main" id="{ABD65C0E-5D17-957D-1321-EED65F39B1A7}"/>
              </a:ext>
            </a:extLst>
          </p:cNvPr>
          <p:cNvSpPr>
            <a:spLocks noGrp="1"/>
          </p:cNvSpPr>
          <p:nvPr>
            <p:ph type="body" sz="quarter" idx="10"/>
          </p:nvPr>
        </p:nvSpPr>
        <p:spPr>
          <a:xfrm>
            <a:off x="696000" y="1322832"/>
            <a:ext cx="5400000" cy="400110"/>
          </a:xfrm>
        </p:spPr>
        <p:txBody>
          <a:bodyPr/>
          <a:lstStyle/>
          <a:p>
            <a:r>
              <a:rPr lang="en-US" altLang="zh-CN" dirty="0"/>
              <a:t>4.3.2 </a:t>
            </a:r>
            <a:r>
              <a:rPr lang="zh-CN" altLang="en-US" dirty="0"/>
              <a:t>黑盒测试与百合测试</a:t>
            </a:r>
          </a:p>
        </p:txBody>
      </p:sp>
      <p:sp>
        <p:nvSpPr>
          <p:cNvPr id="23" name="文本占位符 22">
            <a:extLst>
              <a:ext uri="{FF2B5EF4-FFF2-40B4-BE49-F238E27FC236}">
                <a16:creationId xmlns:a16="http://schemas.microsoft.com/office/drawing/2014/main" id="{D246905E-DD79-C494-1DE4-129D787B447F}"/>
              </a:ext>
            </a:extLst>
          </p:cNvPr>
          <p:cNvSpPr>
            <a:spLocks noGrp="1"/>
          </p:cNvSpPr>
          <p:nvPr>
            <p:ph type="body" sz="quarter" idx="11"/>
          </p:nvPr>
        </p:nvSpPr>
        <p:spPr/>
        <p:txBody>
          <a:bodyPr/>
          <a:lstStyle/>
          <a:p>
            <a:endParaRPr lang="zh-CN" altLang="en-US"/>
          </a:p>
        </p:txBody>
      </p:sp>
      <p:sp>
        <p:nvSpPr>
          <p:cNvPr id="43" name="矩形 42"/>
          <p:cNvSpPr/>
          <p:nvPr/>
        </p:nvSpPr>
        <p:spPr>
          <a:xfrm>
            <a:off x="465332" y="2226310"/>
            <a:ext cx="6480000" cy="3478530"/>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latin typeface="Times New Roman" panose="02020603050405020304" pitchFamily="18" charset="0"/>
            </a:endParaRPr>
          </a:p>
        </p:txBody>
      </p:sp>
      <p:pic>
        <p:nvPicPr>
          <p:cNvPr id="52" name="图片 51"/>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430407" y="2198370"/>
            <a:ext cx="1454150" cy="1445895"/>
          </a:xfrm>
          <a:prstGeom prst="rect">
            <a:avLst/>
          </a:prstGeom>
        </p:spPr>
      </p:pic>
      <p:sp>
        <p:nvSpPr>
          <p:cNvPr id="4" name="TextBox 6"/>
          <p:cNvSpPr txBox="1"/>
          <p:nvPr/>
        </p:nvSpPr>
        <p:spPr>
          <a:xfrm rot="18836568">
            <a:off x="346309" y="2609969"/>
            <a:ext cx="1107996" cy="369332"/>
          </a:xfrm>
          <a:prstGeom prst="rect">
            <a:avLst/>
          </a:prstGeom>
          <a:noFill/>
        </p:spPr>
        <p:txBody>
          <a:bodyPr wrap="none" rtlCol="0">
            <a:spAutoFit/>
          </a:bodyPr>
          <a:lstStyle/>
          <a:p>
            <a:pPr algn="l"/>
            <a:r>
              <a:rPr lang="zh-CN" altLang="en-US" dirty="0">
                <a:solidFill>
                  <a:schemeClr val="bg1"/>
                </a:solidFill>
                <a:latin typeface="+mj-ea"/>
                <a:ea typeface="+mj-ea"/>
              </a:rPr>
              <a:t>黑盒测试</a:t>
            </a:r>
          </a:p>
        </p:txBody>
      </p:sp>
      <p:sp>
        <p:nvSpPr>
          <p:cNvPr id="5" name="TextBox 26"/>
          <p:cNvSpPr txBox="1"/>
          <p:nvPr/>
        </p:nvSpPr>
        <p:spPr>
          <a:xfrm>
            <a:off x="5815330" y="1739900"/>
            <a:ext cx="569595" cy="1015365"/>
          </a:xfrm>
          <a:prstGeom prst="rect">
            <a:avLst/>
          </a:prstGeom>
          <a:noFill/>
        </p:spPr>
        <p:txBody>
          <a:bodyPr wrap="non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Times New Roman" panose="02020603050405020304" pitchFamily="18" charset="0"/>
              </a:rPr>
              <a:t>1</a:t>
            </a:r>
          </a:p>
        </p:txBody>
      </p:sp>
      <p:sp>
        <p:nvSpPr>
          <p:cNvPr id="7" name="矩形 6"/>
          <p:cNvSpPr/>
          <p:nvPr/>
        </p:nvSpPr>
        <p:spPr>
          <a:xfrm>
            <a:off x="7575105" y="2212837"/>
            <a:ext cx="4320000" cy="3478277"/>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latin typeface="Times New Roman" panose="02020603050405020304" pitchFamily="18" charset="0"/>
            </a:endParaRPr>
          </a:p>
        </p:txBody>
      </p:sp>
      <p:pic>
        <p:nvPicPr>
          <p:cNvPr id="8" name="图片 7"/>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7542457" y="2185831"/>
            <a:ext cx="1359358" cy="1397571"/>
          </a:xfrm>
          <a:prstGeom prst="rect">
            <a:avLst/>
          </a:prstGeom>
        </p:spPr>
      </p:pic>
      <p:sp>
        <p:nvSpPr>
          <p:cNvPr id="10" name="TextBox 6"/>
          <p:cNvSpPr txBox="1"/>
          <p:nvPr/>
        </p:nvSpPr>
        <p:spPr>
          <a:xfrm rot="18836568">
            <a:off x="7407503" y="2486662"/>
            <a:ext cx="1349083" cy="369332"/>
          </a:xfrm>
          <a:prstGeom prst="rect">
            <a:avLst/>
          </a:prstGeom>
          <a:noFill/>
        </p:spPr>
        <p:txBody>
          <a:bodyPr wrap="square" rtlCol="0">
            <a:spAutoFit/>
          </a:bodyPr>
          <a:lstStyle/>
          <a:p>
            <a:pPr algn="l"/>
            <a:r>
              <a:rPr lang="zh-CN" altLang="en-US" dirty="0">
                <a:solidFill>
                  <a:schemeClr val="bg1"/>
                </a:solidFill>
                <a:latin typeface="+mj-ea"/>
                <a:ea typeface="+mj-ea"/>
              </a:rPr>
              <a:t>白盒测试</a:t>
            </a:r>
          </a:p>
        </p:txBody>
      </p:sp>
      <p:sp>
        <p:nvSpPr>
          <p:cNvPr id="11" name="TextBox 26"/>
          <p:cNvSpPr txBox="1"/>
          <p:nvPr/>
        </p:nvSpPr>
        <p:spPr>
          <a:xfrm>
            <a:off x="11372824" y="1739900"/>
            <a:ext cx="646437" cy="1015802"/>
          </a:xfrm>
          <a:prstGeom prst="rect">
            <a:avLst/>
          </a:prstGeom>
          <a:noFill/>
        </p:spPr>
        <p:txBody>
          <a:bodyPr wrap="squar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Times New Roman" panose="02020603050405020304" pitchFamily="18" charset="0"/>
              </a:rPr>
              <a:t>2</a:t>
            </a:r>
          </a:p>
        </p:txBody>
      </p:sp>
      <p:grpSp>
        <p:nvGrpSpPr>
          <p:cNvPr id="41" name="组合 40"/>
          <p:cNvGrpSpPr/>
          <p:nvPr/>
        </p:nvGrpSpPr>
        <p:grpSpPr>
          <a:xfrm>
            <a:off x="6152036" y="567482"/>
            <a:ext cx="5427980" cy="1049655"/>
            <a:chOff x="1164" y="3311"/>
            <a:chExt cx="8548" cy="1653"/>
          </a:xfrm>
        </p:grpSpPr>
        <p:sp>
          <p:nvSpPr>
            <p:cNvPr id="167" name="圆角矩形"/>
            <p:cNvSpPr/>
            <p:nvPr/>
          </p:nvSpPr>
          <p:spPr>
            <a:xfrm>
              <a:off x="1336" y="3815"/>
              <a:ext cx="8376" cy="1149"/>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latin typeface="Times New Roman" panose="02020603050405020304" pitchFamily="18" charset="0"/>
                </a:rPr>
                <a:t>   </a:t>
              </a:r>
              <a:endParaRPr lang="zh-CN" altLang="en-US" dirty="0">
                <a:solidFill>
                  <a:schemeClr val="bg2">
                    <a:lumMod val="50000"/>
                  </a:schemeClr>
                </a:solidFill>
                <a:latin typeface="Times New Roman" panose="02020603050405020304" pitchFamily="18" charset="0"/>
              </a:endParaRPr>
            </a:p>
          </p:txBody>
        </p:sp>
        <p:sp>
          <p:nvSpPr>
            <p:cNvPr id="42" name="学士帽"/>
            <p:cNvSpPr/>
            <p:nvPr/>
          </p:nvSpPr>
          <p:spPr bwMode="auto">
            <a:xfrm>
              <a:off x="1164" y="331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a typeface="微软雅黑 Light" panose="020B0502040204020203" pitchFamily="34" charset="-122"/>
              </a:endParaRPr>
            </a:p>
          </p:txBody>
        </p:sp>
        <p:sp>
          <p:nvSpPr>
            <p:cNvPr id="12" name="文本框 11"/>
            <p:cNvSpPr txBox="1"/>
            <p:nvPr/>
          </p:nvSpPr>
          <p:spPr>
            <a:xfrm>
              <a:off x="1308" y="3803"/>
              <a:ext cx="8312" cy="1008"/>
            </a:xfrm>
            <a:prstGeom prst="rect">
              <a:avLst/>
            </a:prstGeom>
            <a:noFill/>
          </p:spPr>
          <p:txBody>
            <a:bodyPr wrap="square" rtlCol="0">
              <a:spAutoFit/>
            </a:bodyPr>
            <a:lstStyle/>
            <a:p>
              <a:pPr indent="0"/>
              <a:r>
                <a:rPr lang="en-US" altLang="zh-CN" dirty="0">
                  <a:solidFill>
                    <a:schemeClr val="bg2">
                      <a:lumMod val="50000"/>
                    </a:schemeClr>
                  </a:solidFill>
                  <a:latin typeface="Times New Roman" panose="02020603050405020304" pitchFamily="18" charset="0"/>
                  <a:sym typeface="+mn-ea"/>
                </a:rPr>
                <a:t>       </a:t>
              </a:r>
              <a:r>
                <a:rPr lang="zh-CN" altLang="en-US" dirty="0">
                  <a:latin typeface="Times New Roman" panose="02020603050405020304" pitchFamily="18" charset="0"/>
                  <a:sym typeface="+mn-ea"/>
                </a:rPr>
                <a:t>在软件测试时，常把黑盒法和白盒法结合起来进行，这也称为灰盒法。</a:t>
              </a:r>
            </a:p>
          </p:txBody>
        </p:sp>
      </p:grpSp>
      <p:sp>
        <p:nvSpPr>
          <p:cNvPr id="19" name="文本框 18">
            <a:extLst>
              <a:ext uri="{FF2B5EF4-FFF2-40B4-BE49-F238E27FC236}">
                <a16:creationId xmlns:a16="http://schemas.microsoft.com/office/drawing/2014/main" id="{C1D24911-A396-41D2-4073-E9B9515919EC}"/>
              </a:ext>
            </a:extLst>
          </p:cNvPr>
          <p:cNvSpPr txBox="1"/>
          <p:nvPr/>
        </p:nvSpPr>
        <p:spPr>
          <a:xfrm>
            <a:off x="1109856" y="2972668"/>
            <a:ext cx="5227443" cy="2585323"/>
          </a:xfrm>
          <a:prstGeom prst="rect">
            <a:avLst/>
          </a:prstGeom>
          <a:noFill/>
        </p:spPr>
        <p:txBody>
          <a:bodyPr wrap="square" rtlCol="0">
            <a:spAutoFit/>
          </a:bodyPr>
          <a:lstStyle/>
          <a:p>
            <a:pPr algn="just"/>
            <a:r>
              <a:rPr lang="zh-CN" altLang="en-US" dirty="0">
                <a:sym typeface="+mn-ea"/>
              </a:rPr>
              <a:t>黑盒法（</a:t>
            </a:r>
            <a:r>
              <a:rPr lang="en-US" altLang="zh-CN" dirty="0">
                <a:sym typeface="+mn-ea"/>
              </a:rPr>
              <a:t>Black-box Testing</a:t>
            </a:r>
            <a:r>
              <a:rPr lang="zh-CN" altLang="en-US" dirty="0">
                <a:sym typeface="+mn-ea"/>
              </a:rPr>
              <a:t>）又称</a:t>
            </a:r>
            <a:r>
              <a:rPr lang="zh-CN" altLang="en-US" dirty="0">
                <a:latin typeface="+mj-ea"/>
                <a:ea typeface="+mj-ea"/>
                <a:sym typeface="+mn-ea"/>
              </a:rPr>
              <a:t>功能</a:t>
            </a:r>
            <a:r>
              <a:rPr lang="zh-CN" altLang="en-US" dirty="0">
                <a:sym typeface="+mn-ea"/>
              </a:rPr>
              <a:t>测试。</a:t>
            </a:r>
            <a:endParaRPr lang="en-US" altLang="zh-CN" dirty="0">
              <a:sym typeface="+mn-ea"/>
            </a:endParaRPr>
          </a:p>
          <a:p>
            <a:pPr algn="just"/>
            <a:r>
              <a:rPr lang="zh-CN" altLang="en-US" dirty="0">
                <a:sym typeface="+mn-ea"/>
              </a:rPr>
              <a:t>测试用例完全是根据程序的功能说明来设计的。测试者完全不考虑程序的内部结构和内部特性，而是把软件看成是一个黑盒，仅关心如何寻找出可能使程序不按要求运行的情况；因而测试是在程序接口进行。</a:t>
            </a:r>
          </a:p>
          <a:p>
            <a:pPr algn="just"/>
            <a:r>
              <a:rPr lang="zh-CN" altLang="en-US" dirty="0">
                <a:sym typeface="+mn-ea"/>
              </a:rPr>
              <a:t>黑盒法是最基本的测试法；主要测试软件能否满足功能要求，检查输入能否被正确地接收，软件能否正确地输出结果。</a:t>
            </a:r>
          </a:p>
        </p:txBody>
      </p:sp>
      <p:sp>
        <p:nvSpPr>
          <p:cNvPr id="20" name="文本框 19">
            <a:extLst>
              <a:ext uri="{FF2B5EF4-FFF2-40B4-BE49-F238E27FC236}">
                <a16:creationId xmlns:a16="http://schemas.microsoft.com/office/drawing/2014/main" id="{1CB03594-2186-30B3-D18A-629BA559DD06}"/>
              </a:ext>
            </a:extLst>
          </p:cNvPr>
          <p:cNvSpPr txBox="1"/>
          <p:nvPr/>
        </p:nvSpPr>
        <p:spPr>
          <a:xfrm>
            <a:off x="8019748" y="2972668"/>
            <a:ext cx="3649440" cy="1477328"/>
          </a:xfrm>
          <a:prstGeom prst="rect">
            <a:avLst/>
          </a:prstGeom>
          <a:noFill/>
        </p:spPr>
        <p:txBody>
          <a:bodyPr wrap="square" rtlCol="0">
            <a:spAutoFit/>
          </a:bodyPr>
          <a:lstStyle/>
          <a:p>
            <a:pPr algn="just"/>
            <a:r>
              <a:rPr lang="zh-CN" altLang="en-US" dirty="0">
                <a:sym typeface="+mn-ea"/>
              </a:rPr>
              <a:t> 白盒法（</a:t>
            </a:r>
            <a:r>
              <a:rPr lang="en-US" altLang="zh-CN" dirty="0">
                <a:sym typeface="+mn-ea"/>
              </a:rPr>
              <a:t>White-box Testing</a:t>
            </a:r>
            <a:r>
              <a:rPr lang="zh-CN" altLang="en-US" dirty="0">
                <a:sym typeface="+mn-ea"/>
              </a:rPr>
              <a:t>）又称结构测试，其测试用例是根据程序内部的逻辑结构和执行路径来设计的。用白盒法测试时，从检查程序的逻辑着手。</a:t>
            </a:r>
          </a:p>
        </p:txBody>
      </p:sp>
    </p:spTree>
  </p:cSld>
  <p:clrMapOvr>
    <a:masterClrMapping/>
  </p:clrMapOvr>
  <p:transition>
    <p:wipe dir="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555" y="2935102"/>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软件测试步骤</a:t>
            </a:r>
          </a:p>
        </p:txBody>
      </p:sp>
      <p:sp>
        <p:nvSpPr>
          <p:cNvPr id="48" name="文本框 47"/>
          <p:cNvSpPr txBox="1"/>
          <p:nvPr/>
        </p:nvSpPr>
        <p:spPr>
          <a:xfrm>
            <a:off x="6006465" y="4135755"/>
            <a:ext cx="217868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模块测试</a:t>
            </a:r>
          </a:p>
        </p:txBody>
      </p:sp>
      <p:sp>
        <p:nvSpPr>
          <p:cNvPr id="50" name="文本框 49"/>
          <p:cNvSpPr txBox="1"/>
          <p:nvPr/>
        </p:nvSpPr>
        <p:spPr>
          <a:xfrm>
            <a:off x="6006466" y="4631055"/>
            <a:ext cx="2053802"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集成测试</a:t>
            </a:r>
          </a:p>
        </p:txBody>
      </p:sp>
      <p:sp>
        <p:nvSpPr>
          <p:cNvPr id="5" name="文本框 4"/>
          <p:cNvSpPr txBox="1"/>
          <p:nvPr/>
        </p:nvSpPr>
        <p:spPr>
          <a:xfrm>
            <a:off x="8185150" y="4135755"/>
            <a:ext cx="2492889"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确认测试</a:t>
            </a:r>
          </a:p>
        </p:txBody>
      </p:sp>
      <p:sp>
        <p:nvSpPr>
          <p:cNvPr id="6" name="文本框 5"/>
          <p:cNvSpPr txBox="1"/>
          <p:nvPr/>
        </p:nvSpPr>
        <p:spPr>
          <a:xfrm>
            <a:off x="8185150" y="4631055"/>
            <a:ext cx="2492889"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平行运行</a:t>
            </a:r>
          </a:p>
        </p:txBody>
      </p:sp>
      <p:sp>
        <p:nvSpPr>
          <p:cNvPr id="8" name="文本框 7"/>
          <p:cNvSpPr txBox="1"/>
          <p:nvPr/>
        </p:nvSpPr>
        <p:spPr>
          <a:xfrm>
            <a:off x="6006465" y="515620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程序审查会和人工运行</a:t>
            </a:r>
          </a:p>
        </p:txBody>
      </p:sp>
      <p:sp>
        <p:nvSpPr>
          <p:cNvPr id="3" name="椭圆 2">
            <a:extLst>
              <a:ext uri="{FF2B5EF4-FFF2-40B4-BE49-F238E27FC236}">
                <a16:creationId xmlns:a16="http://schemas.microsoft.com/office/drawing/2014/main" id="{CF1F5488-0D99-8497-372E-B41F7946CD0E}"/>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04</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altLang="zh-CN" dirty="0"/>
              <a:t>4.4 </a:t>
            </a:r>
            <a:r>
              <a:rPr lang="zh-CN" altLang="en-US" dirty="0"/>
              <a:t>软件测试步骤</a:t>
            </a:r>
          </a:p>
        </p:txBody>
      </p:sp>
      <p:sp>
        <p:nvSpPr>
          <p:cNvPr id="5" name="文本占位符 4">
            <a:extLst>
              <a:ext uri="{FF2B5EF4-FFF2-40B4-BE49-F238E27FC236}">
                <a16:creationId xmlns:a16="http://schemas.microsoft.com/office/drawing/2014/main" id="{544EAE4D-3871-CAEC-9A79-6A12FEAFFA1E}"/>
              </a:ext>
            </a:extLst>
          </p:cNvPr>
          <p:cNvSpPr>
            <a:spLocks noGrp="1"/>
          </p:cNvSpPr>
          <p:nvPr>
            <p:ph type="body" sz="quarter" idx="10"/>
          </p:nvPr>
        </p:nvSpPr>
        <p:spPr>
          <a:xfrm>
            <a:off x="696000" y="1322832"/>
            <a:ext cx="5400000" cy="400110"/>
          </a:xfrm>
        </p:spPr>
        <p:txBody>
          <a:bodyPr/>
          <a:lstStyle/>
          <a:p>
            <a:r>
              <a:rPr lang="zh-CN" altLang="en-US" dirty="0"/>
              <a:t>基本步骤</a:t>
            </a:r>
          </a:p>
        </p:txBody>
      </p:sp>
      <p:sp>
        <p:nvSpPr>
          <p:cNvPr id="9" name="文本占位符 8">
            <a:extLst>
              <a:ext uri="{FF2B5EF4-FFF2-40B4-BE49-F238E27FC236}">
                <a16:creationId xmlns:a16="http://schemas.microsoft.com/office/drawing/2014/main" id="{74614211-CF23-99F9-54D4-33FF46910526}"/>
              </a:ext>
            </a:extLst>
          </p:cNvPr>
          <p:cNvSpPr>
            <a:spLocks noGrp="1"/>
          </p:cNvSpPr>
          <p:nvPr>
            <p:ph type="body" sz="quarter" idx="11"/>
          </p:nvPr>
        </p:nvSpPr>
        <p:spPr>
          <a:xfrm>
            <a:off x="6096000" y="360128"/>
            <a:ext cx="5760000" cy="400110"/>
          </a:xfrm>
        </p:spPr>
        <p:txBody>
          <a:bodyPr/>
          <a:lstStyle/>
          <a:p>
            <a:r>
              <a:rPr lang="en-US" altLang="zh-CN" dirty="0"/>
              <a:t>Procedure</a:t>
            </a:r>
            <a:endParaRPr lang="zh-CN" altLang="en-US" dirty="0"/>
          </a:p>
        </p:txBody>
      </p:sp>
      <p:sp>
        <p:nvSpPr>
          <p:cNvPr id="37" name="文本框 36"/>
          <p:cNvSpPr txBox="1"/>
          <p:nvPr>
            <p:custDataLst>
              <p:tags r:id="rId1"/>
            </p:custDataLst>
          </p:nvPr>
        </p:nvSpPr>
        <p:spPr>
          <a:xfrm>
            <a:off x="8233037" y="3130651"/>
            <a:ext cx="1635952" cy="400110"/>
          </a:xfrm>
          <a:prstGeom prst="rect">
            <a:avLst/>
          </a:prstGeom>
          <a:noFill/>
        </p:spPr>
        <p:txBody>
          <a:bodyPr>
            <a:spAutoFit/>
          </a:bodyPr>
          <a:lstStyle/>
          <a:p>
            <a:pPr algn="l" eaLnBrk="1" hangingPunct="1">
              <a:lnSpc>
                <a:spcPct val="100000"/>
              </a:lnSpc>
              <a:spcBef>
                <a:spcPts val="0"/>
              </a:spcBef>
              <a:spcAft>
                <a:spcPts val="0"/>
              </a:spcAft>
              <a:defRPr/>
            </a:pPr>
            <a:r>
              <a:rPr lang="zh-CN" altLang="en-US" sz="2000" dirty="0">
                <a:latin typeface="+mj-ea"/>
                <a:ea typeface="+mj-ea"/>
              </a:rPr>
              <a:t>集成测试</a:t>
            </a:r>
          </a:p>
        </p:txBody>
      </p:sp>
      <p:sp>
        <p:nvSpPr>
          <p:cNvPr id="39" name="文本框 38"/>
          <p:cNvSpPr txBox="1"/>
          <p:nvPr>
            <p:custDataLst>
              <p:tags r:id="rId2"/>
            </p:custDataLst>
          </p:nvPr>
        </p:nvSpPr>
        <p:spPr>
          <a:xfrm>
            <a:off x="8233037" y="4246798"/>
            <a:ext cx="1681728" cy="400110"/>
          </a:xfrm>
          <a:prstGeom prst="rect">
            <a:avLst/>
          </a:prstGeom>
          <a:noFill/>
        </p:spPr>
        <p:txBody>
          <a:bodyPr>
            <a:spAutoFit/>
          </a:bodyPr>
          <a:lstStyle/>
          <a:p>
            <a:pPr algn="l" eaLnBrk="1" hangingPunct="1">
              <a:lnSpc>
                <a:spcPct val="100000"/>
              </a:lnSpc>
              <a:spcBef>
                <a:spcPts val="0"/>
              </a:spcBef>
              <a:spcAft>
                <a:spcPts val="0"/>
              </a:spcAft>
              <a:defRPr/>
            </a:pPr>
            <a:r>
              <a:rPr lang="zh-CN" altLang="en-US" sz="2000" dirty="0">
                <a:latin typeface="+mj-ea"/>
                <a:ea typeface="+mj-ea"/>
              </a:rPr>
              <a:t>程序审查会</a:t>
            </a:r>
          </a:p>
        </p:txBody>
      </p:sp>
      <p:sp>
        <p:nvSpPr>
          <p:cNvPr id="16" name="文本框 15"/>
          <p:cNvSpPr txBox="1"/>
          <p:nvPr>
            <p:custDataLst>
              <p:tags r:id="rId3"/>
            </p:custDataLst>
          </p:nvPr>
        </p:nvSpPr>
        <p:spPr>
          <a:xfrm>
            <a:off x="6904629" y="5381627"/>
            <a:ext cx="2519323" cy="400110"/>
          </a:xfrm>
          <a:prstGeom prst="rect">
            <a:avLst/>
          </a:prstGeom>
          <a:noFill/>
        </p:spPr>
        <p:txBody>
          <a:bodyPr>
            <a:spAutoFit/>
          </a:bodyPr>
          <a:lstStyle/>
          <a:p>
            <a:pPr algn="l" eaLnBrk="1" hangingPunct="1">
              <a:lnSpc>
                <a:spcPct val="100000"/>
              </a:lnSpc>
              <a:spcBef>
                <a:spcPts val="0"/>
              </a:spcBef>
              <a:spcAft>
                <a:spcPts val="0"/>
              </a:spcAft>
              <a:defRPr/>
            </a:pPr>
            <a:r>
              <a:rPr lang="zh-CN" altLang="en-US" sz="2000" dirty="0">
                <a:latin typeface="+mj-ea"/>
                <a:ea typeface="+mj-ea"/>
              </a:rPr>
              <a:t>人工运行</a:t>
            </a:r>
          </a:p>
        </p:txBody>
      </p:sp>
      <p:sp>
        <p:nvSpPr>
          <p:cNvPr id="17" name="文本框 16"/>
          <p:cNvSpPr txBox="1"/>
          <p:nvPr>
            <p:custDataLst>
              <p:tags r:id="rId4"/>
            </p:custDataLst>
          </p:nvPr>
        </p:nvSpPr>
        <p:spPr>
          <a:xfrm>
            <a:off x="2105574" y="4246798"/>
            <a:ext cx="1470831" cy="400110"/>
          </a:xfrm>
          <a:prstGeom prst="rect">
            <a:avLst/>
          </a:prstGeom>
          <a:noFill/>
        </p:spPr>
        <p:txBody>
          <a:bodyPr>
            <a:spAutoFit/>
          </a:bodyPr>
          <a:lstStyle/>
          <a:p>
            <a:pPr algn="r" eaLnBrk="1" hangingPunct="1">
              <a:spcBef>
                <a:spcPts val="0"/>
              </a:spcBef>
              <a:spcAft>
                <a:spcPts val="0"/>
              </a:spcAft>
              <a:defRPr/>
            </a:pPr>
            <a:r>
              <a:rPr lang="zh-CN" altLang="en-US" sz="2000" dirty="0">
                <a:latin typeface="+mj-ea"/>
                <a:ea typeface="+mj-ea"/>
              </a:rPr>
              <a:t>确认测试</a:t>
            </a:r>
          </a:p>
        </p:txBody>
      </p:sp>
      <p:sp>
        <p:nvSpPr>
          <p:cNvPr id="47" name="文本框 46"/>
          <p:cNvSpPr txBox="1"/>
          <p:nvPr>
            <p:custDataLst>
              <p:tags r:id="rId5"/>
            </p:custDataLst>
          </p:nvPr>
        </p:nvSpPr>
        <p:spPr>
          <a:xfrm>
            <a:off x="2105574" y="3130651"/>
            <a:ext cx="1605435" cy="400110"/>
          </a:xfrm>
          <a:prstGeom prst="rect">
            <a:avLst/>
          </a:prstGeom>
          <a:noFill/>
        </p:spPr>
        <p:txBody>
          <a:bodyPr>
            <a:spAutoFit/>
          </a:bodyPr>
          <a:lstStyle/>
          <a:p>
            <a:pPr algn="r" eaLnBrk="1" hangingPunct="1">
              <a:spcBef>
                <a:spcPts val="0"/>
              </a:spcBef>
              <a:spcAft>
                <a:spcPts val="0"/>
              </a:spcAft>
              <a:defRPr/>
            </a:pPr>
            <a:r>
              <a:rPr lang="zh-CN" altLang="en-US" sz="2000" dirty="0">
                <a:latin typeface="+mj-ea"/>
                <a:ea typeface="+mj-ea"/>
              </a:rPr>
              <a:t>平行运行</a:t>
            </a:r>
          </a:p>
        </p:txBody>
      </p:sp>
      <p:sp>
        <p:nvSpPr>
          <p:cNvPr id="51" name="文本框 50"/>
          <p:cNvSpPr txBox="1"/>
          <p:nvPr>
            <p:custDataLst>
              <p:tags r:id="rId6"/>
            </p:custDataLst>
          </p:nvPr>
        </p:nvSpPr>
        <p:spPr>
          <a:xfrm>
            <a:off x="7220905" y="1814089"/>
            <a:ext cx="1676279" cy="400110"/>
          </a:xfrm>
          <a:prstGeom prst="rect">
            <a:avLst/>
          </a:prstGeom>
          <a:noFill/>
        </p:spPr>
        <p:txBody>
          <a:bodyPr>
            <a:spAutoFit/>
          </a:bodyPr>
          <a:lstStyle/>
          <a:p>
            <a:pPr eaLnBrk="1" hangingPunct="1">
              <a:spcBef>
                <a:spcPts val="0"/>
              </a:spcBef>
              <a:spcAft>
                <a:spcPts val="0"/>
              </a:spcAft>
              <a:defRPr/>
            </a:pPr>
            <a:r>
              <a:rPr lang="zh-CN" altLang="en-US" sz="2000" dirty="0">
                <a:latin typeface="+mj-ea"/>
                <a:ea typeface="+mj-ea"/>
              </a:rPr>
              <a:t>模块测试</a:t>
            </a:r>
          </a:p>
        </p:txBody>
      </p:sp>
      <p:sp>
        <p:nvSpPr>
          <p:cNvPr id="18" name="六边形 17"/>
          <p:cNvSpPr/>
          <p:nvPr>
            <p:custDataLst>
              <p:tags r:id="rId7"/>
            </p:custDataLst>
          </p:nvPr>
        </p:nvSpPr>
        <p:spPr>
          <a:xfrm>
            <a:off x="6499538" y="2902333"/>
            <a:ext cx="1032688" cy="856747"/>
          </a:xfrm>
          <a:prstGeom prst="hexagon">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Times New Roman" panose="02020603050405020304" pitchFamily="18" charset="0"/>
              </a:rPr>
              <a:t>02</a:t>
            </a:r>
            <a:endParaRPr lang="zh-CN" altLang="en-US" sz="2400" b="1" dirty="0">
              <a:solidFill>
                <a:schemeClr val="bg1"/>
              </a:solidFill>
              <a:latin typeface="Times New Roman" panose="02020603050405020304" pitchFamily="18" charset="0"/>
            </a:endParaRPr>
          </a:p>
        </p:txBody>
      </p:sp>
      <p:sp>
        <p:nvSpPr>
          <p:cNvPr id="54" name="六边形 53"/>
          <p:cNvSpPr/>
          <p:nvPr>
            <p:custDataLst>
              <p:tags r:id="rId8"/>
            </p:custDataLst>
          </p:nvPr>
        </p:nvSpPr>
        <p:spPr>
          <a:xfrm>
            <a:off x="5368759" y="2286385"/>
            <a:ext cx="1034323" cy="855196"/>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Times New Roman" panose="02020603050405020304" pitchFamily="18" charset="0"/>
              </a:rPr>
              <a:t>01</a:t>
            </a:r>
            <a:endParaRPr lang="zh-CN" altLang="en-US" sz="2400" b="1" dirty="0">
              <a:solidFill>
                <a:schemeClr val="bg1"/>
              </a:solidFill>
              <a:latin typeface="Times New Roman" panose="02020603050405020304" pitchFamily="18" charset="0"/>
            </a:endParaRPr>
          </a:p>
        </p:txBody>
      </p:sp>
      <p:sp>
        <p:nvSpPr>
          <p:cNvPr id="56" name="六边形 55"/>
          <p:cNvSpPr/>
          <p:nvPr>
            <p:custDataLst>
              <p:tags r:id="rId9"/>
            </p:custDataLst>
          </p:nvPr>
        </p:nvSpPr>
        <p:spPr>
          <a:xfrm>
            <a:off x="6499538" y="4018480"/>
            <a:ext cx="1032688" cy="856747"/>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Times New Roman" panose="02020603050405020304" pitchFamily="18" charset="0"/>
              </a:rPr>
              <a:t>03</a:t>
            </a:r>
            <a:endParaRPr lang="zh-CN" altLang="en-US" sz="2400" b="1" dirty="0">
              <a:solidFill>
                <a:schemeClr val="bg1"/>
              </a:solidFill>
              <a:latin typeface="Times New Roman" panose="02020603050405020304" pitchFamily="18" charset="0"/>
            </a:endParaRPr>
          </a:p>
        </p:txBody>
      </p:sp>
      <p:sp>
        <p:nvSpPr>
          <p:cNvPr id="58" name="六边形 57"/>
          <p:cNvSpPr/>
          <p:nvPr>
            <p:custDataLst>
              <p:tags r:id="rId10"/>
            </p:custDataLst>
          </p:nvPr>
        </p:nvSpPr>
        <p:spPr>
          <a:xfrm>
            <a:off x="4236889" y="4018480"/>
            <a:ext cx="1032688" cy="856747"/>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Times New Roman" panose="02020603050405020304" pitchFamily="18" charset="0"/>
              </a:rPr>
              <a:t>05</a:t>
            </a:r>
            <a:endParaRPr lang="zh-CN" altLang="en-US" sz="2400" b="1" dirty="0">
              <a:solidFill>
                <a:schemeClr val="bg1"/>
              </a:solidFill>
              <a:latin typeface="Times New Roman" panose="02020603050405020304" pitchFamily="18" charset="0"/>
            </a:endParaRPr>
          </a:p>
        </p:txBody>
      </p:sp>
      <p:sp>
        <p:nvSpPr>
          <p:cNvPr id="60" name="六边形 59"/>
          <p:cNvSpPr/>
          <p:nvPr>
            <p:custDataLst>
              <p:tags r:id="rId11"/>
            </p:custDataLst>
          </p:nvPr>
        </p:nvSpPr>
        <p:spPr>
          <a:xfrm>
            <a:off x="4236889" y="2902333"/>
            <a:ext cx="1032688" cy="856747"/>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Times New Roman" panose="02020603050405020304" pitchFamily="18" charset="0"/>
              </a:rPr>
              <a:t>06</a:t>
            </a:r>
            <a:endParaRPr lang="zh-CN" altLang="en-US" sz="2400" b="1" dirty="0">
              <a:solidFill>
                <a:schemeClr val="bg1"/>
              </a:solidFill>
              <a:latin typeface="Times New Roman" panose="02020603050405020304" pitchFamily="18" charset="0"/>
            </a:endParaRPr>
          </a:p>
        </p:txBody>
      </p:sp>
      <p:sp>
        <p:nvSpPr>
          <p:cNvPr id="62" name="六边形 61"/>
          <p:cNvSpPr/>
          <p:nvPr>
            <p:custDataLst>
              <p:tags r:id="rId12"/>
            </p:custDataLst>
          </p:nvPr>
        </p:nvSpPr>
        <p:spPr>
          <a:xfrm>
            <a:off x="5368759" y="4567769"/>
            <a:ext cx="1034323" cy="856230"/>
          </a:xfrm>
          <a:prstGeom prst="hexagon">
            <a:avLst/>
          </a:pr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Times New Roman" panose="02020603050405020304" pitchFamily="18" charset="0"/>
              </a:rPr>
              <a:t>04</a:t>
            </a:r>
          </a:p>
        </p:txBody>
      </p:sp>
      <p:sp>
        <p:nvSpPr>
          <p:cNvPr id="64" name="六边形 63"/>
          <p:cNvSpPr/>
          <p:nvPr>
            <p:custDataLst>
              <p:tags r:id="rId13"/>
            </p:custDataLst>
          </p:nvPr>
        </p:nvSpPr>
        <p:spPr>
          <a:xfrm>
            <a:off x="5076119" y="3219091"/>
            <a:ext cx="1619603" cy="1295454"/>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pic>
        <p:nvPicPr>
          <p:cNvPr id="21" name="图形 20" descr="上升趋势条形图">
            <a:extLst>
              <a:ext uri="{FF2B5EF4-FFF2-40B4-BE49-F238E27FC236}">
                <a16:creationId xmlns:a16="http://schemas.microsoft.com/office/drawing/2014/main" id="{8C9A9149-12E1-B10D-3C9A-0EF9ADC940A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428720" y="3409618"/>
            <a:ext cx="914400" cy="914400"/>
          </a:xfrm>
          <a:prstGeom prst="rect">
            <a:avLst/>
          </a:prstGeom>
        </p:spPr>
      </p:pic>
      <p:cxnSp>
        <p:nvCxnSpPr>
          <p:cNvPr id="23" name="连接符: 肘形 22">
            <a:extLst>
              <a:ext uri="{FF2B5EF4-FFF2-40B4-BE49-F238E27FC236}">
                <a16:creationId xmlns:a16="http://schemas.microsoft.com/office/drawing/2014/main" id="{D212E97B-8C5A-B602-F755-AB81CF474F39}"/>
              </a:ext>
            </a:extLst>
          </p:cNvPr>
          <p:cNvCxnSpPr>
            <a:cxnSpLocks/>
            <a:stCxn id="54" idx="5"/>
            <a:endCxn id="51" idx="1"/>
          </p:cNvCxnSpPr>
          <p:nvPr/>
        </p:nvCxnSpPr>
        <p:spPr>
          <a:xfrm rot="5400000" flipH="1" flipV="1">
            <a:off x="6568974" y="1634454"/>
            <a:ext cx="272241" cy="103162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86290DDC-1793-1E87-D7CE-E9E5F9A7F5E6}"/>
              </a:ext>
            </a:extLst>
          </p:cNvPr>
          <p:cNvCxnSpPr>
            <a:stCxn id="60" idx="3"/>
            <a:endCxn id="47" idx="3"/>
          </p:cNvCxnSpPr>
          <p:nvPr/>
        </p:nvCxnSpPr>
        <p:spPr>
          <a:xfrm flipH="1" flipV="1">
            <a:off x="3711009" y="3330706"/>
            <a:ext cx="525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B1B0EEA-F0CC-178C-15D9-75023230E44F}"/>
              </a:ext>
            </a:extLst>
          </p:cNvPr>
          <p:cNvCxnSpPr>
            <a:stCxn id="58" idx="3"/>
            <a:endCxn id="17" idx="3"/>
          </p:cNvCxnSpPr>
          <p:nvPr/>
        </p:nvCxnSpPr>
        <p:spPr>
          <a:xfrm flipH="1" flipV="1">
            <a:off x="3576405" y="4446853"/>
            <a:ext cx="66048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4B5C1A04-1A3A-76E6-B2EB-70CD00E7FEEE}"/>
              </a:ext>
            </a:extLst>
          </p:cNvPr>
          <p:cNvCxnSpPr>
            <a:cxnSpLocks/>
            <a:stCxn id="62" idx="1"/>
            <a:endCxn id="16" idx="1"/>
          </p:cNvCxnSpPr>
          <p:nvPr/>
        </p:nvCxnSpPr>
        <p:spPr>
          <a:xfrm rot="16200000" flipH="1">
            <a:off x="6467986" y="5145038"/>
            <a:ext cx="157683" cy="71560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0E42713-1E6B-CAFD-C495-19F7DCD13912}"/>
              </a:ext>
            </a:extLst>
          </p:cNvPr>
          <p:cNvCxnSpPr>
            <a:stCxn id="18" idx="0"/>
            <a:endCxn id="37" idx="1"/>
          </p:cNvCxnSpPr>
          <p:nvPr/>
        </p:nvCxnSpPr>
        <p:spPr>
          <a:xfrm flipV="1">
            <a:off x="7532226" y="3330706"/>
            <a:ext cx="700811"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3EDF786-E807-7B57-82A9-A5088B28F75C}"/>
              </a:ext>
            </a:extLst>
          </p:cNvPr>
          <p:cNvCxnSpPr>
            <a:stCxn id="56" idx="0"/>
            <a:endCxn id="39" idx="1"/>
          </p:cNvCxnSpPr>
          <p:nvPr/>
        </p:nvCxnSpPr>
        <p:spPr>
          <a:xfrm flipV="1">
            <a:off x="7532226" y="4446853"/>
            <a:ext cx="700811"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wedg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3BB71-36AD-CF63-6D63-4D90C369507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5452C05-2EF6-E1A5-F278-16DC24AC5B69}"/>
              </a:ext>
            </a:extLst>
          </p:cNvPr>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8" name="文本占位符 7">
            <a:extLst>
              <a:ext uri="{FF2B5EF4-FFF2-40B4-BE49-F238E27FC236}">
                <a16:creationId xmlns:a16="http://schemas.microsoft.com/office/drawing/2014/main" id="{AE363DE0-6ADC-7926-A60E-9B92EA4BA8A6}"/>
              </a:ext>
            </a:extLst>
          </p:cNvPr>
          <p:cNvSpPr>
            <a:spLocks noGrp="1"/>
          </p:cNvSpPr>
          <p:nvPr>
            <p:ph type="body" sz="quarter" idx="10"/>
          </p:nvPr>
        </p:nvSpPr>
        <p:spPr>
          <a:xfrm>
            <a:off x="696000" y="1322832"/>
            <a:ext cx="5400000" cy="400110"/>
          </a:xfrm>
        </p:spPr>
        <p:txBody>
          <a:bodyPr/>
          <a:lstStyle/>
          <a:p>
            <a:r>
              <a:rPr lang="en-US" altLang="zh-CN" dirty="0"/>
              <a:t>4.4.1 </a:t>
            </a:r>
            <a:r>
              <a:rPr lang="zh-CN" altLang="en-US" dirty="0"/>
              <a:t>模块测试</a:t>
            </a:r>
          </a:p>
        </p:txBody>
      </p:sp>
      <p:sp>
        <p:nvSpPr>
          <p:cNvPr id="6" name="文本占位符 5">
            <a:extLst>
              <a:ext uri="{FF2B5EF4-FFF2-40B4-BE49-F238E27FC236}">
                <a16:creationId xmlns:a16="http://schemas.microsoft.com/office/drawing/2014/main" id="{6EC10EBA-EF40-DEF3-4067-33AC6BDD964C}"/>
              </a:ext>
            </a:extLst>
          </p:cNvPr>
          <p:cNvSpPr>
            <a:spLocks noGrp="1"/>
          </p:cNvSpPr>
          <p:nvPr>
            <p:ph type="body" sz="quarter" idx="11"/>
          </p:nvPr>
        </p:nvSpPr>
        <p:spPr/>
        <p:txBody>
          <a:bodyPr/>
          <a:lstStyle/>
          <a:p>
            <a:endParaRPr lang="zh-CN" altLang="en-US"/>
          </a:p>
        </p:txBody>
      </p:sp>
      <p:sp>
        <p:nvSpPr>
          <p:cNvPr id="4" name="矩形 3">
            <a:extLst>
              <a:ext uri="{FF2B5EF4-FFF2-40B4-BE49-F238E27FC236}">
                <a16:creationId xmlns:a16="http://schemas.microsoft.com/office/drawing/2014/main" id="{D01F6A99-77DD-D103-FA42-B357FF2FCB4C}"/>
              </a:ext>
            </a:extLst>
          </p:cNvPr>
          <p:cNvSpPr/>
          <p:nvPr>
            <p:custDataLst>
              <p:tags r:id="rId1"/>
            </p:custDataLst>
          </p:nvPr>
        </p:nvSpPr>
        <p:spPr>
          <a:xfrm>
            <a:off x="-11428" y="2149476"/>
            <a:ext cx="12203428" cy="360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pic>
        <p:nvPicPr>
          <p:cNvPr id="9" name="图片 8">
            <a:extLst>
              <a:ext uri="{FF2B5EF4-FFF2-40B4-BE49-F238E27FC236}">
                <a16:creationId xmlns:a16="http://schemas.microsoft.com/office/drawing/2014/main" id="{4A5DF330-270D-D71F-594A-FB221C3DF694}"/>
              </a:ext>
            </a:extLst>
          </p:cNvPr>
          <p:cNvPicPr>
            <a:picLocks noChangeAspect="1"/>
          </p:cNvPicPr>
          <p:nvPr>
            <p:custDataLst>
              <p:tags r:id="rId2"/>
            </p:custDataLst>
          </p:nvPr>
        </p:nvPicPr>
        <p:blipFill>
          <a:blip r:embed="rId5" cstate="print"/>
          <a:stretch>
            <a:fillRect/>
          </a:stretch>
        </p:blipFill>
        <p:spPr>
          <a:xfrm>
            <a:off x="8806932" y="2277788"/>
            <a:ext cx="3385068" cy="3396171"/>
          </a:xfrm>
          <a:prstGeom prst="rect">
            <a:avLst/>
          </a:prstGeom>
          <a:effectLst>
            <a:outerShdw blurRad="76200" dir="13500000" sy="23000" kx="1200000" algn="br" rotWithShape="0">
              <a:prstClr val="black">
                <a:alpha val="20000"/>
              </a:prstClr>
            </a:outerShdw>
          </a:effectLst>
        </p:spPr>
      </p:pic>
      <p:sp>
        <p:nvSpPr>
          <p:cNvPr id="100" name="文本框 99">
            <a:extLst>
              <a:ext uri="{FF2B5EF4-FFF2-40B4-BE49-F238E27FC236}">
                <a16:creationId xmlns:a16="http://schemas.microsoft.com/office/drawing/2014/main" id="{4BD86EEE-DD7D-2B45-B7E9-E161C4A74944}"/>
              </a:ext>
            </a:extLst>
          </p:cNvPr>
          <p:cNvSpPr txBox="1"/>
          <p:nvPr/>
        </p:nvSpPr>
        <p:spPr>
          <a:xfrm>
            <a:off x="695325" y="2520000"/>
            <a:ext cx="8025130" cy="2656689"/>
          </a:xfrm>
          <a:prstGeom prst="rect">
            <a:avLst/>
          </a:prstGeom>
          <a:noFill/>
          <a:ln w="9525">
            <a:noFill/>
          </a:ln>
        </p:spPr>
        <p:txBody>
          <a:bodyPr wrap="square">
            <a:spAutoFit/>
          </a:bodyPr>
          <a:lstStyle/>
          <a:p>
            <a:pPr marL="0" indent="457200" algn="l" fontAlgn="auto">
              <a:lnSpc>
                <a:spcPct val="130000"/>
              </a:lnSpc>
              <a:spcAft>
                <a:spcPts val="600"/>
              </a:spcAft>
            </a:pPr>
            <a:r>
              <a:rPr lang="zh-CN" altLang="en-US" dirty="0">
                <a:sym typeface="+mn-ea"/>
              </a:rPr>
              <a:t>模块测试也称</a:t>
            </a:r>
            <a:r>
              <a:rPr lang="zh-CN" altLang="en-US" dirty="0">
                <a:solidFill>
                  <a:srgbClr val="FF0000"/>
                </a:solidFill>
                <a:sym typeface="+mn-ea"/>
              </a:rPr>
              <a:t>单元</a:t>
            </a:r>
            <a:r>
              <a:rPr lang="zh-CN" altLang="en-US" dirty="0">
                <a:sym typeface="+mn-ea"/>
              </a:rPr>
              <a:t>测试，其目的是集中检验软件设计的最小单元——模块，检查每个模块是否能独立、正确地运行。在这个阶段所发现的错误往往是在编码和详细设计时产生的。通常，在编码阶段就进行模块测试。</a:t>
            </a:r>
          </a:p>
          <a:p>
            <a:pPr marL="0" indent="457200" algn="l" fontAlgn="auto">
              <a:lnSpc>
                <a:spcPct val="130000"/>
              </a:lnSpc>
              <a:spcAft>
                <a:spcPts val="600"/>
              </a:spcAft>
            </a:pPr>
            <a:r>
              <a:rPr lang="zh-CN" altLang="en-US" dirty="0">
                <a:sym typeface="+mn-ea"/>
              </a:rPr>
              <a:t>单元测试时，在正式测试之前必须先通过编译程序检查并且改正所有语法错误，然后用详细设计描述作指南，对重要的执行通路进行测试，以便发现模块内部的错误。单元测试常用白盒法测试，而且对多个模块的测试可以并行地进行。</a:t>
            </a:r>
          </a:p>
        </p:txBody>
      </p:sp>
      <p:graphicFrame>
        <p:nvGraphicFramePr>
          <p:cNvPr id="10" name="对象 9">
            <a:hlinkClick r:id="" action="ppaction://ole?verb=0"/>
            <a:extLst>
              <a:ext uri="{FF2B5EF4-FFF2-40B4-BE49-F238E27FC236}">
                <a16:creationId xmlns:a16="http://schemas.microsoft.com/office/drawing/2014/main" id="{164B6C3A-963A-CBEB-E6C3-0988EEDC628A}"/>
              </a:ext>
            </a:extLst>
          </p:cNvPr>
          <p:cNvGraphicFramePr>
            <a:graphicFrameLocks/>
          </p:cNvGraphicFramePr>
          <p:nvPr/>
        </p:nvGraphicFramePr>
        <p:xfrm>
          <a:off x="5638800" y="3321050"/>
          <a:ext cx="914400" cy="215900"/>
        </p:xfrm>
        <a:graphic>
          <a:graphicData uri="http://schemas.openxmlformats.org/presentationml/2006/ole">
            <mc:AlternateContent xmlns:mc="http://schemas.openxmlformats.org/markup-compatibility/2006">
              <mc:Choice xmlns:v="urn:schemas-microsoft-com:vml" Requires="v">
                <p:oleObj r:id="rId6" imgW="914400" imgH="215640" progId="Equation.3">
                  <p:embed/>
                </p:oleObj>
              </mc:Choice>
              <mc:Fallback>
                <p:oleObj r:id="rId6" imgW="914400" imgH="215640" progId="Equation.3">
                  <p:embed/>
                  <p:pic>
                    <p:nvPicPr>
                      <p:cNvPr id="10" name="对象 9">
                        <a:hlinkClick r:id="" action="ppaction://ole?verb=0"/>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38800" y="3321050"/>
                        <a:ext cx="9144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 name="矩形 14">
            <a:extLst>
              <a:ext uri="{FF2B5EF4-FFF2-40B4-BE49-F238E27FC236}">
                <a16:creationId xmlns:a16="http://schemas.microsoft.com/office/drawing/2014/main" id="{065AEC7D-B8A8-ECEF-D068-8BCDD0F4E781}"/>
              </a:ext>
            </a:extLst>
          </p:cNvPr>
          <p:cNvSpPr/>
          <p:nvPr/>
        </p:nvSpPr>
        <p:spPr>
          <a:xfrm>
            <a:off x="9169400" y="2834640"/>
            <a:ext cx="2519680" cy="1188720"/>
          </a:xfrm>
          <a:prstGeom prst="rect">
            <a:avLst/>
          </a:prstGeom>
          <a:noFill/>
          <a:ln>
            <a:noFill/>
          </a:ln>
        </p:spPr>
        <p:txBody>
          <a:bodyPr wrap="none" rtlCol="0" anchor="t">
            <a:prstTxWarp prst="textSlantUp">
              <a:avLst/>
            </a:prstTxWarp>
            <a:spAutoFit/>
            <a:scene3d>
              <a:camera prst="perspectiveRelaxedModerately"/>
              <a:lightRig rig="flat" dir="t">
                <a:rot lat="0" lon="0" rev="600000"/>
              </a:lightRig>
            </a:scene3d>
            <a:sp3d extrusionH="215900"/>
          </a:bodyPr>
          <a:lstStyle/>
          <a:p>
            <a:pPr algn="ctr"/>
            <a:r>
              <a:rPr lang="en-US" altLang="zh-CN" sz="6600" b="1" dirty="0">
                <a:blipFill>
                  <a:blip r:embed="rId8"/>
                  <a:stretch>
                    <a:fillRect/>
                  </a:stretch>
                </a:blipFill>
                <a:effectLst>
                  <a:glow rad="228600">
                    <a:srgbClr val="A5A5A5">
                      <a:alpha val="40000"/>
                      <a:satMod val="175000"/>
                    </a:srgbClr>
                  </a:glow>
                  <a:outerShdw blurRad="50800" dir="5400000" algn="ctr" rotWithShape="0">
                    <a:srgbClr val="000000">
                      <a:alpha val="43000"/>
                    </a:srgbClr>
                  </a:outerShdw>
                </a:effectLst>
                <a:latin typeface="Times New Roman" panose="02020603050405020304" pitchFamily="18" charset="0"/>
              </a:rPr>
              <a:t>TEST</a:t>
            </a:r>
          </a:p>
        </p:txBody>
      </p:sp>
    </p:spTree>
    <p:extLst>
      <p:ext uri="{BB962C8B-B14F-4D97-AF65-F5344CB8AC3E}">
        <p14:creationId xmlns:p14="http://schemas.microsoft.com/office/powerpoint/2010/main" val="159146632"/>
      </p:ext>
    </p:extLst>
  </p:cSld>
  <p:clrMapOvr>
    <a:masterClrMapping/>
  </p:clrMapOvr>
  <p:transition>
    <p:wedg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8" name="文本占位符 7">
            <a:extLst>
              <a:ext uri="{FF2B5EF4-FFF2-40B4-BE49-F238E27FC236}">
                <a16:creationId xmlns:a16="http://schemas.microsoft.com/office/drawing/2014/main" id="{C0B70517-99E6-1C55-CC78-25AB29C77302}"/>
              </a:ext>
            </a:extLst>
          </p:cNvPr>
          <p:cNvSpPr>
            <a:spLocks noGrp="1"/>
          </p:cNvSpPr>
          <p:nvPr>
            <p:ph type="body" sz="quarter" idx="10"/>
          </p:nvPr>
        </p:nvSpPr>
        <p:spPr>
          <a:xfrm>
            <a:off x="696000" y="1322832"/>
            <a:ext cx="5400000" cy="400110"/>
          </a:xfrm>
        </p:spPr>
        <p:txBody>
          <a:bodyPr/>
          <a:lstStyle/>
          <a:p>
            <a:r>
              <a:rPr lang="en-US" altLang="zh-CN" dirty="0"/>
              <a:t>4.4.1 </a:t>
            </a:r>
            <a:r>
              <a:rPr lang="zh-CN" altLang="en-US" dirty="0"/>
              <a:t>模块测试</a:t>
            </a:r>
          </a:p>
        </p:txBody>
      </p:sp>
      <p:sp>
        <p:nvSpPr>
          <p:cNvPr id="12" name="文本占位符 11">
            <a:extLst>
              <a:ext uri="{FF2B5EF4-FFF2-40B4-BE49-F238E27FC236}">
                <a16:creationId xmlns:a16="http://schemas.microsoft.com/office/drawing/2014/main" id="{2EEF8D1A-1B50-A06D-A952-8F243F1C426B}"/>
              </a:ext>
            </a:extLst>
          </p:cNvPr>
          <p:cNvSpPr>
            <a:spLocks noGrp="1"/>
          </p:cNvSpPr>
          <p:nvPr>
            <p:ph type="body" sz="quarter" idx="11"/>
          </p:nvPr>
        </p:nvSpPr>
        <p:spPr/>
        <p:txBody>
          <a:bodyPr/>
          <a:lstStyle/>
          <a:p>
            <a:endParaRPr lang="zh-CN" altLang="en-US"/>
          </a:p>
        </p:txBody>
      </p:sp>
      <p:sp>
        <p:nvSpPr>
          <p:cNvPr id="4" name="矩形 3"/>
          <p:cNvSpPr/>
          <p:nvPr>
            <p:custDataLst>
              <p:tags r:id="rId1"/>
            </p:custDataLst>
          </p:nvPr>
        </p:nvSpPr>
        <p:spPr>
          <a:xfrm>
            <a:off x="-11428" y="2160000"/>
            <a:ext cx="12202098" cy="360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pic>
        <p:nvPicPr>
          <p:cNvPr id="9" name="图片 8"/>
          <p:cNvPicPr>
            <a:picLocks noChangeAspect="1"/>
          </p:cNvPicPr>
          <p:nvPr>
            <p:custDataLst>
              <p:tags r:id="rId2"/>
            </p:custDataLst>
          </p:nvPr>
        </p:nvPicPr>
        <p:blipFill>
          <a:blip r:embed="rId5" cstate="print"/>
          <a:stretch>
            <a:fillRect/>
          </a:stretch>
        </p:blipFill>
        <p:spPr>
          <a:xfrm>
            <a:off x="8806932" y="2277788"/>
            <a:ext cx="3385068" cy="3396171"/>
          </a:xfrm>
          <a:prstGeom prst="rect">
            <a:avLst/>
          </a:prstGeom>
          <a:effectLst>
            <a:outerShdw blurRad="76200" dir="13500000" sy="23000" kx="1200000" algn="br" rotWithShape="0">
              <a:prstClr val="black">
                <a:alpha val="20000"/>
              </a:prstClr>
            </a:outerShdw>
          </a:effectLst>
        </p:spPr>
      </p:pic>
      <p:sp>
        <p:nvSpPr>
          <p:cNvPr id="100" name="文本框 99"/>
          <p:cNvSpPr txBox="1"/>
          <p:nvPr/>
        </p:nvSpPr>
        <p:spPr>
          <a:xfrm>
            <a:off x="695325" y="2520000"/>
            <a:ext cx="8025130" cy="2604367"/>
          </a:xfrm>
          <a:prstGeom prst="rect">
            <a:avLst/>
          </a:prstGeom>
          <a:noFill/>
          <a:ln w="9525">
            <a:noFill/>
          </a:ln>
        </p:spPr>
        <p:txBody>
          <a:bodyPr wrap="square">
            <a:spAutoFit/>
          </a:bodyPr>
          <a:lstStyle/>
          <a:p>
            <a:pPr marL="0" algn="l" fontAlgn="auto">
              <a:lnSpc>
                <a:spcPct val="130000"/>
              </a:lnSpc>
              <a:spcAft>
                <a:spcPts val="600"/>
              </a:spcAft>
            </a:pPr>
            <a:r>
              <a:rPr lang="zh-CN" altLang="en-US" dirty="0">
                <a:sym typeface="+mn-ea"/>
              </a:rPr>
              <a:t>在单元测试期间，主要评价模块的下述5个特性：</a:t>
            </a:r>
            <a:endParaRPr lang="en-US" altLang="zh-CN" dirty="0">
              <a:sym typeface="+mn-ea"/>
            </a:endParaRPr>
          </a:p>
          <a:p>
            <a:pPr marL="360000" indent="-180000" algn="l" fontAlgn="auto">
              <a:lnSpc>
                <a:spcPct val="130000"/>
              </a:lnSpc>
              <a:spcAft>
                <a:spcPts val="600"/>
              </a:spcAft>
              <a:buFont typeface="+mj-lt"/>
              <a:buAutoNum type="arabicPeriod"/>
            </a:pPr>
            <a:r>
              <a:rPr lang="zh-CN" altLang="en-US" dirty="0">
                <a:sym typeface="+mn-ea"/>
              </a:rPr>
              <a:t> 模块接口；</a:t>
            </a:r>
            <a:endParaRPr lang="en-US" altLang="zh-CN" dirty="0">
              <a:sym typeface="+mn-ea"/>
            </a:endParaRPr>
          </a:p>
          <a:p>
            <a:pPr marL="360000" indent="-180000" algn="l" fontAlgn="auto">
              <a:lnSpc>
                <a:spcPct val="130000"/>
              </a:lnSpc>
              <a:spcAft>
                <a:spcPts val="600"/>
              </a:spcAft>
              <a:buFont typeface="+mj-lt"/>
              <a:buAutoNum type="arabicPeriod"/>
            </a:pPr>
            <a:r>
              <a:rPr lang="zh-CN" altLang="en-US" dirty="0">
                <a:sym typeface="+mn-ea"/>
              </a:rPr>
              <a:t> 局部数据结构；</a:t>
            </a:r>
            <a:endParaRPr lang="en-US" altLang="zh-CN" dirty="0">
              <a:sym typeface="+mn-ea"/>
            </a:endParaRPr>
          </a:p>
          <a:p>
            <a:pPr marL="360000" indent="-180000" algn="l" fontAlgn="auto">
              <a:lnSpc>
                <a:spcPct val="130000"/>
              </a:lnSpc>
              <a:spcAft>
                <a:spcPts val="600"/>
              </a:spcAft>
              <a:buFont typeface="+mj-lt"/>
              <a:buAutoNum type="arabicPeriod"/>
            </a:pPr>
            <a:r>
              <a:rPr lang="zh-CN" altLang="en-US" dirty="0">
                <a:sym typeface="+mn-ea"/>
              </a:rPr>
              <a:t> 重要的执行通路；</a:t>
            </a:r>
            <a:endParaRPr lang="en-US" altLang="zh-CN" dirty="0">
              <a:sym typeface="+mn-ea"/>
            </a:endParaRPr>
          </a:p>
          <a:p>
            <a:pPr marL="360000" indent="-180000" algn="l" fontAlgn="auto">
              <a:lnSpc>
                <a:spcPct val="130000"/>
              </a:lnSpc>
              <a:spcAft>
                <a:spcPts val="600"/>
              </a:spcAft>
              <a:buFont typeface="+mj-lt"/>
              <a:buAutoNum type="arabicPeriod"/>
            </a:pPr>
            <a:r>
              <a:rPr lang="zh-CN" altLang="en-US" dirty="0">
                <a:sym typeface="+mn-ea"/>
              </a:rPr>
              <a:t> 出错处理通路；</a:t>
            </a:r>
            <a:endParaRPr lang="en-US" altLang="zh-CN" dirty="0">
              <a:sym typeface="+mn-ea"/>
            </a:endParaRPr>
          </a:p>
          <a:p>
            <a:pPr marL="360000" indent="-180000" algn="l" fontAlgn="auto">
              <a:lnSpc>
                <a:spcPct val="130000"/>
              </a:lnSpc>
              <a:spcAft>
                <a:spcPts val="600"/>
              </a:spcAft>
              <a:buFont typeface="+mj-lt"/>
              <a:buAutoNum type="arabicPeriod"/>
            </a:pPr>
            <a:r>
              <a:rPr lang="zh-CN" altLang="en-US" dirty="0">
                <a:sym typeface="+mn-ea"/>
              </a:rPr>
              <a:t> 影响上述各方面特性的边界条件。</a:t>
            </a:r>
          </a:p>
        </p:txBody>
      </p:sp>
      <p:graphicFrame>
        <p:nvGraphicFramePr>
          <p:cNvPr id="10" name="对象 9">
            <a:hlinkClick r:id="" action="ppaction://ole?verb=0"/>
          </p:cNvPr>
          <p:cNvGraphicFramePr>
            <a:graphicFrameLocks/>
          </p:cNvGraphicFramePr>
          <p:nvPr/>
        </p:nvGraphicFramePr>
        <p:xfrm>
          <a:off x="5638800" y="3321050"/>
          <a:ext cx="914400" cy="215900"/>
        </p:xfrm>
        <a:graphic>
          <a:graphicData uri="http://schemas.openxmlformats.org/presentationml/2006/ole">
            <mc:AlternateContent xmlns:mc="http://schemas.openxmlformats.org/markup-compatibility/2006">
              <mc:Choice xmlns:v="urn:schemas-microsoft-com:vml" Requires="v">
                <p:oleObj r:id="rId6" imgW="914400" imgH="215640" progId="Equation.3">
                  <p:embed/>
                </p:oleObj>
              </mc:Choice>
              <mc:Fallback>
                <p:oleObj r:id="rId6" imgW="914400" imgH="215640" progId="Equation.3">
                  <p:embed/>
                  <p:pic>
                    <p:nvPicPr>
                      <p:cNvPr id="0" name="Picture 1"/>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38800" y="3321050"/>
                        <a:ext cx="9144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 name="矩形 14"/>
          <p:cNvSpPr/>
          <p:nvPr/>
        </p:nvSpPr>
        <p:spPr>
          <a:xfrm>
            <a:off x="9169400" y="2834640"/>
            <a:ext cx="2519680" cy="1188720"/>
          </a:xfrm>
          <a:prstGeom prst="rect">
            <a:avLst/>
          </a:prstGeom>
          <a:noFill/>
          <a:ln>
            <a:noFill/>
          </a:ln>
        </p:spPr>
        <p:txBody>
          <a:bodyPr wrap="none" rtlCol="0" anchor="t">
            <a:prstTxWarp prst="textSlantUp">
              <a:avLst/>
            </a:prstTxWarp>
            <a:spAutoFit/>
            <a:scene3d>
              <a:camera prst="perspectiveRelaxedModerately"/>
              <a:lightRig rig="flat" dir="t">
                <a:rot lat="0" lon="0" rev="600000"/>
              </a:lightRig>
            </a:scene3d>
            <a:sp3d extrusionH="215900"/>
          </a:bodyPr>
          <a:lstStyle/>
          <a:p>
            <a:pPr algn="ctr"/>
            <a:r>
              <a:rPr lang="en-US" altLang="zh-CN" sz="6600" b="1" dirty="0">
                <a:blipFill>
                  <a:blip r:embed="rId8"/>
                  <a:stretch>
                    <a:fillRect/>
                  </a:stretch>
                </a:blipFill>
                <a:effectLst>
                  <a:glow rad="228600">
                    <a:srgbClr val="A5A5A5">
                      <a:alpha val="40000"/>
                      <a:satMod val="175000"/>
                    </a:srgbClr>
                  </a:glow>
                  <a:outerShdw blurRad="50800" dir="5400000" algn="ctr" rotWithShape="0">
                    <a:srgbClr val="000000">
                      <a:alpha val="43000"/>
                    </a:srgbClr>
                  </a:outerShdw>
                </a:effectLst>
                <a:latin typeface="Times New Roman" panose="02020603050405020304" pitchFamily="18" charset="0"/>
              </a:rPr>
              <a:t>TEST</a:t>
            </a:r>
          </a:p>
        </p:txBody>
      </p:sp>
    </p:spTree>
  </p:cSld>
  <p:clrMapOvr>
    <a:masterClrMapping/>
  </p:clrMapOvr>
  <p:transition>
    <p:wedg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a:extLst>
              <a:ext uri="{FF2B5EF4-FFF2-40B4-BE49-F238E27FC236}">
                <a16:creationId xmlns:a16="http://schemas.microsoft.com/office/drawing/2014/main" id="{A7E3C5F3-2DB4-E7FA-EDD0-E6ECBFD54CB6}"/>
              </a:ext>
            </a:extLst>
          </p:cNvPr>
          <p:cNvSpPr/>
          <p:nvPr>
            <p:custDataLst>
              <p:tags r:id="rId1"/>
            </p:custDataLst>
          </p:nvPr>
        </p:nvSpPr>
        <p:spPr>
          <a:xfrm>
            <a:off x="-11428" y="2160000"/>
            <a:ext cx="12202098" cy="360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pic>
        <p:nvPicPr>
          <p:cNvPr id="16" name="图片 15">
            <a:extLst>
              <a:ext uri="{FF2B5EF4-FFF2-40B4-BE49-F238E27FC236}">
                <a16:creationId xmlns:a16="http://schemas.microsoft.com/office/drawing/2014/main" id="{2DB37297-ADE4-4544-3896-258CCC386F58}"/>
              </a:ext>
            </a:extLst>
          </p:cNvPr>
          <p:cNvPicPr>
            <a:picLocks noChangeAspect="1"/>
          </p:cNvPicPr>
          <p:nvPr>
            <p:custDataLst>
              <p:tags r:id="rId2"/>
            </p:custDataLst>
          </p:nvPr>
        </p:nvPicPr>
        <p:blipFill>
          <a:blip r:embed="rId5" cstate="print"/>
          <a:stretch>
            <a:fillRect/>
          </a:stretch>
        </p:blipFill>
        <p:spPr>
          <a:xfrm>
            <a:off x="8806932" y="2277788"/>
            <a:ext cx="3385068" cy="3396171"/>
          </a:xfrm>
          <a:prstGeom prst="rect">
            <a:avLst/>
          </a:prstGeom>
          <a:effectLst>
            <a:outerShdw blurRad="76200" dir="13500000" sy="23000" kx="1200000" algn="br" rotWithShape="0">
              <a:prstClr val="black">
                <a:alpha val="20000"/>
              </a:prstClr>
            </a:outerShdw>
          </a:effectLst>
        </p:spPr>
      </p:pic>
      <p:sp>
        <p:nvSpPr>
          <p:cNvPr id="3" name="标题 2"/>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8" name="文本占位符 7">
            <a:extLst>
              <a:ext uri="{FF2B5EF4-FFF2-40B4-BE49-F238E27FC236}">
                <a16:creationId xmlns:a16="http://schemas.microsoft.com/office/drawing/2014/main" id="{F1563DAF-45D9-B7A4-A915-DA0605E53B39}"/>
              </a:ext>
            </a:extLst>
          </p:cNvPr>
          <p:cNvSpPr>
            <a:spLocks noGrp="1"/>
          </p:cNvSpPr>
          <p:nvPr>
            <p:ph type="body" sz="quarter" idx="10"/>
          </p:nvPr>
        </p:nvSpPr>
        <p:spPr>
          <a:xfrm>
            <a:off x="696000" y="1322832"/>
            <a:ext cx="5400000" cy="400110"/>
          </a:xfrm>
        </p:spPr>
        <p:txBody>
          <a:bodyPr/>
          <a:lstStyle/>
          <a:p>
            <a:r>
              <a:rPr lang="en-US" altLang="zh-CN" dirty="0"/>
              <a:t>4.4.1 </a:t>
            </a:r>
            <a:r>
              <a:rPr lang="zh-CN" altLang="en-US" dirty="0"/>
              <a:t>模块测试</a:t>
            </a:r>
          </a:p>
        </p:txBody>
      </p:sp>
      <p:sp>
        <p:nvSpPr>
          <p:cNvPr id="5" name="文本占位符 4">
            <a:extLst>
              <a:ext uri="{FF2B5EF4-FFF2-40B4-BE49-F238E27FC236}">
                <a16:creationId xmlns:a16="http://schemas.microsoft.com/office/drawing/2014/main" id="{CDFFC605-28DD-9E7A-B1A5-6DCB04999699}"/>
              </a:ext>
            </a:extLst>
          </p:cNvPr>
          <p:cNvSpPr>
            <a:spLocks noGrp="1"/>
          </p:cNvSpPr>
          <p:nvPr>
            <p:ph type="body" sz="quarter" idx="11"/>
          </p:nvPr>
        </p:nvSpPr>
        <p:spPr/>
        <p:txBody>
          <a:bodyPr/>
          <a:lstStyle/>
          <a:p>
            <a:endParaRPr lang="zh-CN" altLang="en-US"/>
          </a:p>
        </p:txBody>
      </p:sp>
      <p:sp>
        <p:nvSpPr>
          <p:cNvPr id="100" name="文本框 99"/>
          <p:cNvSpPr txBox="1"/>
          <p:nvPr/>
        </p:nvSpPr>
        <p:spPr>
          <a:xfrm>
            <a:off x="201930" y="2215819"/>
            <a:ext cx="8518525" cy="3376886"/>
          </a:xfrm>
          <a:prstGeom prst="rect">
            <a:avLst/>
          </a:prstGeom>
          <a:noFill/>
          <a:ln w="9525">
            <a:noFill/>
          </a:ln>
        </p:spPr>
        <p:txBody>
          <a:bodyPr wrap="square">
            <a:spAutoFit/>
          </a:bodyPr>
          <a:lstStyle/>
          <a:p>
            <a:pPr marL="0" indent="457200" algn="l" fontAlgn="auto">
              <a:lnSpc>
                <a:spcPct val="130000"/>
              </a:lnSpc>
              <a:spcAft>
                <a:spcPts val="600"/>
              </a:spcAft>
            </a:pPr>
            <a:r>
              <a:rPr dirty="0">
                <a:sym typeface="+mn-ea"/>
              </a:rPr>
              <a:t>由于模块并不是独立的程序，模块测试时，要</a:t>
            </a:r>
            <a:r>
              <a:rPr dirty="0">
                <a:solidFill>
                  <a:srgbClr val="FF0000"/>
                </a:solidFill>
                <a:sym typeface="+mn-ea"/>
              </a:rPr>
              <a:t>增加少量程序段</a:t>
            </a:r>
            <a:r>
              <a:rPr dirty="0">
                <a:sym typeface="+mn-ea"/>
              </a:rPr>
              <a:t>，使模块能够接收数据，或输出一些数据来代替模块之间的接口。在模块连接后再将这些临时增加的程序段去掉。这些临时性程序段可称为测试模块，这需要增加软件成本，但也是必不可少的成本。</a:t>
            </a:r>
          </a:p>
          <a:p>
            <a:pPr marL="0" indent="457200" algn="l" fontAlgn="auto">
              <a:lnSpc>
                <a:spcPct val="130000"/>
              </a:lnSpc>
              <a:spcAft>
                <a:spcPts val="600"/>
              </a:spcAft>
            </a:pPr>
            <a:r>
              <a:rPr dirty="0">
                <a:sym typeface="+mn-ea"/>
              </a:rPr>
              <a:t>测试模块主要有测试驱动程序（也称驱动模块）和存根程序（也称桩模块）两种。驱动程序相当于主程序，主要用来接收测试数据，调用被测试模块，输出测试结果。存根程序也称“虚拟子程序”，它使用被它代替的模块的接口，做最少量的数据操作，输出对入口的检验或操作结果，并把控制还给调用的模块，是被测试模块调用的模块。驱动程序和存根程序是模块测试中的主要成本开销，不交给用户。</a:t>
            </a:r>
            <a:endParaRPr lang="zh-CN" altLang="en-US" dirty="0">
              <a:sym typeface="+mn-ea"/>
            </a:endParaRPr>
          </a:p>
        </p:txBody>
      </p:sp>
      <p:sp>
        <p:nvSpPr>
          <p:cNvPr id="17" name="矩形 16">
            <a:extLst>
              <a:ext uri="{FF2B5EF4-FFF2-40B4-BE49-F238E27FC236}">
                <a16:creationId xmlns:a16="http://schemas.microsoft.com/office/drawing/2014/main" id="{1BC3F0D6-817A-29B1-3301-DBADD4BE4455}"/>
              </a:ext>
            </a:extLst>
          </p:cNvPr>
          <p:cNvSpPr/>
          <p:nvPr/>
        </p:nvSpPr>
        <p:spPr>
          <a:xfrm>
            <a:off x="9169400" y="2834640"/>
            <a:ext cx="2519680" cy="1188720"/>
          </a:xfrm>
          <a:prstGeom prst="rect">
            <a:avLst/>
          </a:prstGeom>
          <a:noFill/>
          <a:ln>
            <a:noFill/>
          </a:ln>
        </p:spPr>
        <p:txBody>
          <a:bodyPr wrap="none" rtlCol="0" anchor="t">
            <a:prstTxWarp prst="textSlantUp">
              <a:avLst/>
            </a:prstTxWarp>
            <a:spAutoFit/>
            <a:scene3d>
              <a:camera prst="perspectiveRelaxedModerately"/>
              <a:lightRig rig="flat" dir="t">
                <a:rot lat="0" lon="0" rev="600000"/>
              </a:lightRig>
            </a:scene3d>
            <a:sp3d extrusionH="215900"/>
          </a:bodyPr>
          <a:lstStyle/>
          <a:p>
            <a:pPr algn="ctr"/>
            <a:r>
              <a:rPr lang="en-US" altLang="zh-CN" sz="6600" b="1" dirty="0">
                <a:blipFill>
                  <a:blip r:embed="rId6"/>
                  <a:stretch>
                    <a:fillRect/>
                  </a:stretch>
                </a:blipFill>
                <a:effectLst>
                  <a:glow rad="228600">
                    <a:srgbClr val="A5A5A5">
                      <a:alpha val="40000"/>
                      <a:satMod val="175000"/>
                    </a:srgbClr>
                  </a:glow>
                  <a:outerShdw blurRad="50800" dir="5400000" algn="ctr" rotWithShape="0">
                    <a:srgbClr val="000000">
                      <a:alpha val="43000"/>
                    </a:srgbClr>
                  </a:outerShdw>
                </a:effectLst>
                <a:latin typeface="Times New Roman" panose="02020603050405020304" pitchFamily="18" charset="0"/>
              </a:rPr>
              <a:t>TEST</a:t>
            </a:r>
          </a:p>
        </p:txBody>
      </p:sp>
    </p:spTree>
  </p:cSld>
  <p:clrMapOvr>
    <a:masterClrMapping/>
  </p:clrMapOvr>
  <p:transition>
    <p:wedg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9" name="文本占位符 8">
            <a:extLst>
              <a:ext uri="{FF2B5EF4-FFF2-40B4-BE49-F238E27FC236}">
                <a16:creationId xmlns:a16="http://schemas.microsoft.com/office/drawing/2014/main" id="{C5E0DE7B-141D-6204-3438-55EE554B1662}"/>
              </a:ext>
            </a:extLst>
          </p:cNvPr>
          <p:cNvSpPr>
            <a:spLocks noGrp="1"/>
          </p:cNvSpPr>
          <p:nvPr>
            <p:ph type="body" sz="quarter" idx="10"/>
          </p:nvPr>
        </p:nvSpPr>
        <p:spPr>
          <a:xfrm>
            <a:off x="696000" y="1322832"/>
            <a:ext cx="11160000" cy="400110"/>
          </a:xfrm>
        </p:spPr>
        <p:txBody>
          <a:bodyPr/>
          <a:lstStyle/>
          <a:p>
            <a:r>
              <a:rPr lang="en-US" altLang="zh-CN" dirty="0"/>
              <a:t>4.4.2 </a:t>
            </a:r>
            <a:r>
              <a:rPr lang="zh-CN" altLang="en-US" dirty="0"/>
              <a:t>集成测试</a:t>
            </a:r>
          </a:p>
        </p:txBody>
      </p:sp>
      <p:sp>
        <p:nvSpPr>
          <p:cNvPr id="25" name="文本占位符 24">
            <a:extLst>
              <a:ext uri="{FF2B5EF4-FFF2-40B4-BE49-F238E27FC236}">
                <a16:creationId xmlns:a16="http://schemas.microsoft.com/office/drawing/2014/main" id="{7A8D1988-7393-3F2F-9918-D9076FB3E25A}"/>
              </a:ext>
            </a:extLst>
          </p:cNvPr>
          <p:cNvSpPr>
            <a:spLocks noGrp="1"/>
          </p:cNvSpPr>
          <p:nvPr>
            <p:ph type="body" sz="quarter" idx="11"/>
          </p:nvPr>
        </p:nvSpPr>
        <p:spPr/>
        <p:txBody>
          <a:bodyPr/>
          <a:lstStyle/>
          <a:p>
            <a:endParaRPr lang="zh-CN" altLang="en-US"/>
          </a:p>
        </p:txBody>
      </p:sp>
      <p:sp>
        <p:nvSpPr>
          <p:cNvPr id="6" name="任意多边形 5"/>
          <p:cNvSpPr/>
          <p:nvPr/>
        </p:nvSpPr>
        <p:spPr>
          <a:xfrm>
            <a:off x="5038725" y="3325495"/>
            <a:ext cx="1862455" cy="3044825"/>
          </a:xfrm>
          <a:custGeom>
            <a:avLst/>
            <a:gdLst>
              <a:gd name="connsiteX0" fmla="*/ 1765957 w 2699190"/>
              <a:gd name="connsiteY0" fmla="*/ 0 h 4903695"/>
              <a:gd name="connsiteX1" fmla="*/ 1829831 w 2699190"/>
              <a:gd name="connsiteY1" fmla="*/ 1176758 h 4903695"/>
              <a:gd name="connsiteX2" fmla="*/ 1834101 w 2699190"/>
              <a:gd name="connsiteY2" fmla="*/ 1263858 h 4903695"/>
              <a:gd name="connsiteX3" fmla="*/ 2473452 w 2699190"/>
              <a:gd name="connsiteY3" fmla="*/ 689619 h 4903695"/>
              <a:gd name="connsiteX4" fmla="*/ 2699190 w 2699190"/>
              <a:gd name="connsiteY4" fmla="*/ 894834 h 4903695"/>
              <a:gd name="connsiteX5" fmla="*/ 1862408 w 2699190"/>
              <a:gd name="connsiteY5" fmla="*/ 1820725 h 4903695"/>
              <a:gd name="connsiteX6" fmla="*/ 1893704 w 2699190"/>
              <a:gd name="connsiteY6" fmla="*/ 2320739 h 4903695"/>
              <a:gd name="connsiteX7" fmla="*/ 2276944 w 2699190"/>
              <a:gd name="connsiteY7" fmla="*/ 4903695 h 4903695"/>
              <a:gd name="connsiteX8" fmla="*/ 1021885 w 2699190"/>
              <a:gd name="connsiteY8" fmla="*/ 4903695 h 4903695"/>
              <a:gd name="connsiteX9" fmla="*/ 1220230 w 2699190"/>
              <a:gd name="connsiteY9" fmla="*/ 3148644 h 4903695"/>
              <a:gd name="connsiteX10" fmla="*/ 1247089 w 2699190"/>
              <a:gd name="connsiteY10" fmla="*/ 2823912 h 4903695"/>
              <a:gd name="connsiteX11" fmla="*/ 0 w 2699190"/>
              <a:gd name="connsiteY11" fmla="*/ 1922885 h 4903695"/>
              <a:gd name="connsiteX12" fmla="*/ 99789 w 2699190"/>
              <a:gd name="connsiteY12" fmla="*/ 1745151 h 4903695"/>
              <a:gd name="connsiteX13" fmla="*/ 1271036 w 2699190"/>
              <a:gd name="connsiteY13" fmla="*/ 2501827 h 4903695"/>
              <a:gd name="connsiteX14" fmla="*/ 1276749 w 2699190"/>
              <a:gd name="connsiteY14" fmla="*/ 2423370 h 4903695"/>
              <a:gd name="connsiteX15" fmla="*/ 1452191 w 2699190"/>
              <a:gd name="connsiteY15" fmla="*/ 35860 h 4903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99190" h="4903695">
                <a:moveTo>
                  <a:pt x="1765957" y="0"/>
                </a:moveTo>
                <a:cubicBezTo>
                  <a:pt x="1794346" y="408641"/>
                  <a:pt x="1812088" y="795431"/>
                  <a:pt x="1829831" y="1176758"/>
                </a:cubicBezTo>
                <a:lnTo>
                  <a:pt x="1834101" y="1263858"/>
                </a:lnTo>
                <a:lnTo>
                  <a:pt x="2473452" y="689619"/>
                </a:lnTo>
                <a:lnTo>
                  <a:pt x="2699190" y="894834"/>
                </a:lnTo>
                <a:lnTo>
                  <a:pt x="1862408" y="1820725"/>
                </a:lnTo>
                <a:lnTo>
                  <a:pt x="1893704" y="2320739"/>
                </a:lnTo>
                <a:cubicBezTo>
                  <a:pt x="1950480" y="3094318"/>
                  <a:pt x="2049838" y="3911601"/>
                  <a:pt x="2276944" y="4903695"/>
                </a:cubicBezTo>
                <a:lnTo>
                  <a:pt x="1021885" y="4903695"/>
                </a:lnTo>
                <a:cubicBezTo>
                  <a:pt x="1112280" y="4246283"/>
                  <a:pt x="1174846" y="3664418"/>
                  <a:pt x="1220230" y="3148644"/>
                </a:cubicBezTo>
                <a:lnTo>
                  <a:pt x="1247089" y="2823912"/>
                </a:lnTo>
                <a:lnTo>
                  <a:pt x="0" y="1922885"/>
                </a:lnTo>
                <a:lnTo>
                  <a:pt x="99789" y="1745151"/>
                </a:lnTo>
                <a:lnTo>
                  <a:pt x="1271036" y="2501827"/>
                </a:lnTo>
                <a:lnTo>
                  <a:pt x="1276749" y="2423370"/>
                </a:lnTo>
                <a:cubicBezTo>
                  <a:pt x="1353907" y="1293253"/>
                  <a:pt x="1356941" y="546662"/>
                  <a:pt x="1452191" y="3586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8" name="椭圆 7"/>
          <p:cNvSpPr/>
          <p:nvPr/>
        </p:nvSpPr>
        <p:spPr>
          <a:xfrm>
            <a:off x="5186045" y="1750695"/>
            <a:ext cx="1819275" cy="1821180"/>
          </a:xfrm>
          <a:prstGeom prst="ellipse">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algn="ctr">
              <a:defRPr/>
            </a:pPr>
            <a:r>
              <a:rPr lang="zh-CN" altLang="en-US" b="1" dirty="0">
                <a:solidFill>
                  <a:schemeClr val="bg1"/>
                </a:solidFill>
                <a:latin typeface="微软雅黑" panose="020B0503020204020204" charset="-122"/>
                <a:ea typeface="微软雅黑" panose="020B0503020204020204" charset="-122"/>
              </a:rPr>
              <a:t>子系统测试</a:t>
            </a:r>
          </a:p>
        </p:txBody>
      </p:sp>
      <p:sp>
        <p:nvSpPr>
          <p:cNvPr id="10" name="椭圆 9"/>
          <p:cNvSpPr/>
          <p:nvPr/>
        </p:nvSpPr>
        <p:spPr>
          <a:xfrm>
            <a:off x="6711950" y="3028950"/>
            <a:ext cx="1484630" cy="1484630"/>
          </a:xfrm>
          <a:prstGeom prst="ellipse">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algn="ctr">
              <a:defRPr/>
            </a:pPr>
            <a:r>
              <a:rPr lang="zh-CN" altLang="en-US" b="1" dirty="0">
                <a:solidFill>
                  <a:schemeClr val="bg1"/>
                </a:solidFill>
                <a:latin typeface="微软雅黑" panose="020B0503020204020204" charset="-122"/>
                <a:ea typeface="微软雅黑" panose="020B0503020204020204" charset="-122"/>
              </a:rPr>
              <a:t>系统测试</a:t>
            </a:r>
          </a:p>
        </p:txBody>
      </p:sp>
      <p:sp>
        <p:nvSpPr>
          <p:cNvPr id="11" name="椭圆 10"/>
          <p:cNvSpPr/>
          <p:nvPr/>
        </p:nvSpPr>
        <p:spPr>
          <a:xfrm>
            <a:off x="6435725" y="4470400"/>
            <a:ext cx="828675" cy="827405"/>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2" name="椭圆 11"/>
          <p:cNvSpPr/>
          <p:nvPr/>
        </p:nvSpPr>
        <p:spPr>
          <a:xfrm>
            <a:off x="7068820" y="1944370"/>
            <a:ext cx="1014730" cy="1016000"/>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3" name="椭圆 12"/>
          <p:cNvSpPr/>
          <p:nvPr/>
        </p:nvSpPr>
        <p:spPr>
          <a:xfrm>
            <a:off x="4081145" y="3325495"/>
            <a:ext cx="1349375" cy="1351280"/>
          </a:xfrm>
          <a:prstGeom prst="ellipse">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algn="ctr">
              <a:defRPr/>
            </a:pPr>
            <a:r>
              <a:rPr lang="zh-CN" altLang="en-US" b="1" dirty="0">
                <a:solidFill>
                  <a:schemeClr val="bg1"/>
                </a:solidFill>
                <a:latin typeface="微软雅黑" panose="020B0503020204020204" charset="-122"/>
                <a:ea typeface="微软雅黑" panose="020B0503020204020204" charset="-122"/>
              </a:rPr>
              <a:t>集成化</a:t>
            </a:r>
          </a:p>
        </p:txBody>
      </p:sp>
      <p:sp>
        <p:nvSpPr>
          <p:cNvPr id="14" name="椭圆 13"/>
          <p:cNvSpPr/>
          <p:nvPr/>
        </p:nvSpPr>
        <p:spPr>
          <a:xfrm>
            <a:off x="4112895" y="2220595"/>
            <a:ext cx="1040130" cy="1038225"/>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5" name="椭圆 14"/>
          <p:cNvSpPr/>
          <p:nvPr/>
        </p:nvSpPr>
        <p:spPr>
          <a:xfrm>
            <a:off x="4811395" y="1776095"/>
            <a:ext cx="487680" cy="487680"/>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6" name="椭圆 15"/>
          <p:cNvSpPr/>
          <p:nvPr/>
        </p:nvSpPr>
        <p:spPr>
          <a:xfrm>
            <a:off x="3851275" y="3131820"/>
            <a:ext cx="389255" cy="389255"/>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7" name="椭圆 16"/>
          <p:cNvSpPr/>
          <p:nvPr/>
        </p:nvSpPr>
        <p:spPr>
          <a:xfrm>
            <a:off x="6849745" y="1826895"/>
            <a:ext cx="303530" cy="303530"/>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 name="椭圆 17"/>
          <p:cNvSpPr/>
          <p:nvPr/>
        </p:nvSpPr>
        <p:spPr>
          <a:xfrm>
            <a:off x="7454900" y="4601845"/>
            <a:ext cx="303530" cy="303530"/>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34836" name="文本框 22"/>
          <p:cNvSpPr txBox="1"/>
          <p:nvPr/>
        </p:nvSpPr>
        <p:spPr>
          <a:xfrm>
            <a:off x="5441950" y="2220595"/>
            <a:ext cx="1308100" cy="461645"/>
          </a:xfrm>
          <a:prstGeom prst="rect">
            <a:avLst/>
          </a:prstGeom>
          <a:noFill/>
          <a:ln w="9525">
            <a:noFill/>
          </a:ln>
        </p:spPr>
        <p:txBody>
          <a:bodyPr anchor="t">
            <a:spAutoFit/>
          </a:bodyPr>
          <a:lstStyle/>
          <a:p>
            <a:pPr lvl="0" indent="0" algn="ctr" eaLnBrk="1" hangingPunct="1">
              <a:buFont typeface="Arial" panose="020B0604020202020204" pitchFamily="34" charset="0"/>
              <a:buNone/>
            </a:pPr>
            <a:endParaRPr lang="zh-CN" altLang="en-US" sz="2400" b="1" dirty="0">
              <a:solidFill>
                <a:schemeClr val="bg1"/>
              </a:solidFill>
              <a:latin typeface="微软雅黑" panose="020B0503020204020204" charset="-122"/>
              <a:ea typeface="微软雅黑" panose="020B0503020204020204" charset="-122"/>
            </a:endParaRPr>
          </a:p>
        </p:txBody>
      </p:sp>
      <p:sp>
        <p:nvSpPr>
          <p:cNvPr id="34838" name="文本框 24"/>
          <p:cNvSpPr txBox="1"/>
          <p:nvPr/>
        </p:nvSpPr>
        <p:spPr>
          <a:xfrm>
            <a:off x="6849745" y="3600450"/>
            <a:ext cx="1233805" cy="400050"/>
          </a:xfrm>
          <a:prstGeom prst="rect">
            <a:avLst/>
          </a:prstGeom>
          <a:noFill/>
          <a:ln w="9525">
            <a:noFill/>
          </a:ln>
        </p:spPr>
        <p:txBody>
          <a:bodyPr wrap="square" anchor="t">
            <a:spAutoFit/>
          </a:bodyPr>
          <a:lstStyle/>
          <a:p>
            <a:pPr lvl="0" indent="0" eaLnBrk="1" hangingPunct="1">
              <a:buFont typeface="Arial" panose="020B0604020202020204" pitchFamily="34" charset="0"/>
              <a:buNone/>
            </a:pPr>
            <a:endParaRPr lang="zh-CN" altLang="en-US" sz="2000" b="1" dirty="0">
              <a:solidFill>
                <a:schemeClr val="bg1"/>
              </a:solidFill>
              <a:latin typeface="微软雅黑" panose="020B0503020204020204" charset="-122"/>
              <a:ea typeface="微软雅黑" panose="020B0503020204020204" charset="-122"/>
            </a:endParaRPr>
          </a:p>
        </p:txBody>
      </p:sp>
      <p:sp>
        <p:nvSpPr>
          <p:cNvPr id="34830" name="矩形 16"/>
          <p:cNvSpPr/>
          <p:nvPr/>
        </p:nvSpPr>
        <p:spPr>
          <a:xfrm>
            <a:off x="384810" y="3305175"/>
            <a:ext cx="3384000" cy="1859035"/>
          </a:xfrm>
          <a:prstGeom prst="rect">
            <a:avLst/>
          </a:prstGeom>
          <a:noFill/>
          <a:ln w="9525">
            <a:noFill/>
          </a:ln>
        </p:spPr>
        <p:txBody>
          <a:bodyPr wrap="square" anchor="t">
            <a:spAutoFit/>
          </a:bodyPr>
          <a:lstStyle/>
          <a:p>
            <a:pPr marL="0" algn="just" fontAlgn="auto">
              <a:lnSpc>
                <a:spcPct val="130000"/>
              </a:lnSpc>
            </a:pPr>
            <a:r>
              <a:rPr dirty="0" err="1">
                <a:sym typeface="+mn-ea"/>
              </a:rPr>
              <a:t>集成测试是测试和组装软件的系统化技术</a:t>
            </a:r>
            <a:r>
              <a:rPr lang="zh-CN" altLang="en-US" dirty="0">
                <a:sym typeface="+mn-ea"/>
              </a:rPr>
              <a:t>。</a:t>
            </a:r>
            <a:r>
              <a:rPr dirty="0" err="1">
                <a:sym typeface="+mn-ea"/>
              </a:rPr>
              <a:t>在把模块按照设计要求组装起来的同时进行测试</a:t>
            </a:r>
            <a:r>
              <a:rPr lang="zh-CN" altLang="en-US" dirty="0">
                <a:sym typeface="+mn-ea"/>
              </a:rPr>
              <a:t>；</a:t>
            </a:r>
            <a:endParaRPr lang="en-US" altLang="zh-CN" dirty="0">
              <a:sym typeface="+mn-ea"/>
            </a:endParaRPr>
          </a:p>
          <a:p>
            <a:pPr marL="0" algn="just" fontAlgn="auto">
              <a:lnSpc>
                <a:spcPct val="130000"/>
              </a:lnSpc>
            </a:pPr>
            <a:r>
              <a:rPr dirty="0" err="1">
                <a:sym typeface="+mn-ea"/>
              </a:rPr>
              <a:t>主要目标是发现</a:t>
            </a:r>
            <a:r>
              <a:rPr dirty="0" err="1">
                <a:solidFill>
                  <a:srgbClr val="FF0000"/>
                </a:solidFill>
                <a:sym typeface="+mn-ea"/>
              </a:rPr>
              <a:t>与接口有关</a:t>
            </a:r>
            <a:r>
              <a:rPr dirty="0" err="1">
                <a:sym typeface="+mn-ea"/>
              </a:rPr>
              <a:t>的问题</a:t>
            </a:r>
            <a:r>
              <a:rPr dirty="0">
                <a:sym typeface="+mn-ea"/>
              </a:rPr>
              <a:t>。</a:t>
            </a:r>
            <a:endParaRPr lang="zh-CN" altLang="en-US" dirty="0"/>
          </a:p>
        </p:txBody>
      </p:sp>
      <p:sp>
        <p:nvSpPr>
          <p:cNvPr id="34831" name="文本框 17"/>
          <p:cNvSpPr txBox="1"/>
          <p:nvPr/>
        </p:nvSpPr>
        <p:spPr>
          <a:xfrm>
            <a:off x="384810" y="2954020"/>
            <a:ext cx="3318510" cy="369332"/>
          </a:xfrm>
          <a:prstGeom prst="rect">
            <a:avLst/>
          </a:prstGeom>
          <a:noFill/>
          <a:ln w="9525">
            <a:noFill/>
          </a:ln>
        </p:spPr>
        <p:txBody>
          <a:bodyPr wrap="square" anchor="t">
            <a:spAutoFit/>
          </a:bodyPr>
          <a:lstStyle/>
          <a:p>
            <a:pPr lvl="0" indent="0" eaLnBrk="1" hangingPunct="1">
              <a:buFont typeface="Arial" panose="020B0604020202020204" pitchFamily="34" charset="0"/>
              <a:buNone/>
            </a:pPr>
            <a:r>
              <a:rPr lang="en-US" altLang="zh-CN" dirty="0">
                <a:solidFill>
                  <a:srgbClr val="58BDA8"/>
                </a:solidFill>
                <a:latin typeface="+mj-ea"/>
                <a:ea typeface="+mj-ea"/>
              </a:rPr>
              <a:t>1. </a:t>
            </a:r>
            <a:r>
              <a:rPr lang="zh-CN" altLang="en-US" dirty="0">
                <a:solidFill>
                  <a:srgbClr val="58BDA8"/>
                </a:solidFill>
                <a:latin typeface="+mj-ea"/>
                <a:ea typeface="+mj-ea"/>
              </a:rPr>
              <a:t>集成化</a:t>
            </a:r>
            <a:endParaRPr lang="zh-CN" altLang="en-US" b="1" dirty="0">
              <a:solidFill>
                <a:srgbClr val="58BDA8"/>
              </a:solidFill>
              <a:latin typeface="+mj-ea"/>
              <a:ea typeface="+mj-ea"/>
            </a:endParaRPr>
          </a:p>
        </p:txBody>
      </p:sp>
      <p:sp>
        <p:nvSpPr>
          <p:cNvPr id="34832" name="矩形 18"/>
          <p:cNvSpPr/>
          <p:nvPr/>
        </p:nvSpPr>
        <p:spPr>
          <a:xfrm>
            <a:off x="8153271" y="1466215"/>
            <a:ext cx="3384000" cy="2219134"/>
          </a:xfrm>
          <a:prstGeom prst="rect">
            <a:avLst/>
          </a:prstGeom>
          <a:noFill/>
          <a:ln w="9525">
            <a:noFill/>
          </a:ln>
        </p:spPr>
        <p:txBody>
          <a:bodyPr wrap="square" anchor="t">
            <a:spAutoFit/>
          </a:bodyPr>
          <a:lstStyle/>
          <a:p>
            <a:pPr algn="just">
              <a:lnSpc>
                <a:spcPct val="130000"/>
              </a:lnSpc>
            </a:pPr>
            <a:r>
              <a:rPr dirty="0" err="1">
                <a:sym typeface="+mn-ea"/>
              </a:rPr>
              <a:t>把经过模块测试、运行正确的模块放在一起形成子系统后</a:t>
            </a:r>
            <a:r>
              <a:rPr lang="zh-CN" altLang="en-US" dirty="0">
                <a:sym typeface="+mn-ea"/>
              </a:rPr>
              <a:t>，即集成化后</a:t>
            </a:r>
            <a:r>
              <a:rPr dirty="0" err="1">
                <a:sym typeface="+mn-ea"/>
              </a:rPr>
              <a:t>再测试</a:t>
            </a:r>
            <a:r>
              <a:rPr dirty="0">
                <a:sym typeface="+mn-ea"/>
              </a:rPr>
              <a:t>。</a:t>
            </a:r>
            <a:endParaRPr lang="en-US" dirty="0">
              <a:sym typeface="+mn-ea"/>
            </a:endParaRPr>
          </a:p>
          <a:p>
            <a:pPr marL="0" algn="just" fontAlgn="auto">
              <a:lnSpc>
                <a:spcPct val="130000"/>
              </a:lnSpc>
            </a:pPr>
            <a:r>
              <a:rPr dirty="0" err="1">
                <a:sym typeface="+mn-ea"/>
              </a:rPr>
              <a:t>着重测试模块的接口，测试模块之间能否相互协调及通信时有没有问题</a:t>
            </a:r>
            <a:r>
              <a:rPr dirty="0">
                <a:sym typeface="+mn-ea"/>
              </a:rPr>
              <a:t>。</a:t>
            </a:r>
            <a:endParaRPr lang="zh-CN" altLang="en-US" dirty="0"/>
          </a:p>
        </p:txBody>
      </p:sp>
      <p:sp>
        <p:nvSpPr>
          <p:cNvPr id="34833" name="文本框 19"/>
          <p:cNvSpPr txBox="1"/>
          <p:nvPr/>
        </p:nvSpPr>
        <p:spPr>
          <a:xfrm>
            <a:off x="8153270" y="1096010"/>
            <a:ext cx="4038729" cy="369332"/>
          </a:xfrm>
          <a:prstGeom prst="rect">
            <a:avLst/>
          </a:prstGeom>
          <a:noFill/>
          <a:ln w="9525">
            <a:noFill/>
          </a:ln>
        </p:spPr>
        <p:txBody>
          <a:bodyPr wrap="square" anchor="t">
            <a:spAutoFit/>
          </a:bodyPr>
          <a:lstStyle/>
          <a:p>
            <a:pPr lvl="0" indent="0" eaLnBrk="1" hangingPunct="1">
              <a:buFont typeface="Arial" panose="020B0604020202020204" pitchFamily="34" charset="0"/>
              <a:buNone/>
            </a:pPr>
            <a:r>
              <a:rPr lang="en-US" altLang="zh-CN" dirty="0">
                <a:solidFill>
                  <a:srgbClr val="FBAD24"/>
                </a:solidFill>
                <a:latin typeface="+mj-ea"/>
                <a:ea typeface="+mj-ea"/>
              </a:rPr>
              <a:t>2. </a:t>
            </a:r>
            <a:r>
              <a:rPr lang="zh-CN" altLang="en-US" dirty="0">
                <a:solidFill>
                  <a:srgbClr val="FBAD24"/>
                </a:solidFill>
                <a:latin typeface="+mj-ea"/>
                <a:ea typeface="+mj-ea"/>
              </a:rPr>
              <a:t>子系统测试</a:t>
            </a:r>
            <a:endParaRPr lang="zh-CN" altLang="en-US" b="1" dirty="0">
              <a:solidFill>
                <a:srgbClr val="FBAD24"/>
              </a:solidFill>
              <a:latin typeface="+mj-ea"/>
              <a:ea typeface="+mj-ea"/>
            </a:endParaRPr>
          </a:p>
        </p:txBody>
      </p:sp>
      <p:sp>
        <p:nvSpPr>
          <p:cNvPr id="34834" name="矩形 20"/>
          <p:cNvSpPr/>
          <p:nvPr/>
        </p:nvSpPr>
        <p:spPr>
          <a:xfrm>
            <a:off x="8214172" y="4116070"/>
            <a:ext cx="3384000" cy="2296591"/>
          </a:xfrm>
          <a:prstGeom prst="rect">
            <a:avLst/>
          </a:prstGeom>
          <a:noFill/>
          <a:ln w="9525">
            <a:noFill/>
          </a:ln>
        </p:spPr>
        <p:txBody>
          <a:bodyPr wrap="square" anchor="t">
            <a:spAutoFit/>
          </a:bodyPr>
          <a:lstStyle/>
          <a:p>
            <a:pPr marL="0" algn="just" fontAlgn="auto">
              <a:lnSpc>
                <a:spcPct val="130000"/>
              </a:lnSpc>
            </a:pPr>
            <a:r>
              <a:rPr dirty="0" err="1">
                <a:sym typeface="+mn-ea"/>
              </a:rPr>
              <a:t>系统测试就是把经过测试、</a:t>
            </a:r>
            <a:r>
              <a:rPr err="1">
                <a:sym typeface="+mn-ea"/>
              </a:rPr>
              <a:t>运行正确的子系统组装成完整的系统后再进行测试</a:t>
            </a:r>
            <a:r>
              <a:rPr>
                <a:sym typeface="+mn-ea"/>
              </a:rPr>
              <a:t>。</a:t>
            </a:r>
            <a:endParaRPr lang="en-US" dirty="0">
              <a:sym typeface="+mn-ea"/>
            </a:endParaRPr>
          </a:p>
          <a:p>
            <a:pPr marL="0" algn="just" fontAlgn="auto">
              <a:lnSpc>
                <a:spcPct val="130000"/>
              </a:lnSpc>
            </a:pPr>
            <a:r>
              <a:rPr dirty="0" err="1">
                <a:sym typeface="+mn-ea"/>
              </a:rPr>
              <a:t>系统测试的目的是测试整个硬件和软件系统，验证系统是否满足规定的需求</a:t>
            </a:r>
            <a:r>
              <a:rPr dirty="0">
                <a:sym typeface="+mn-ea"/>
              </a:rPr>
              <a:t>。</a:t>
            </a:r>
            <a:endParaRPr lang="zh-CN" altLang="en-US" dirty="0"/>
          </a:p>
        </p:txBody>
      </p:sp>
      <p:sp>
        <p:nvSpPr>
          <p:cNvPr id="34835" name="文本框 21"/>
          <p:cNvSpPr txBox="1"/>
          <p:nvPr/>
        </p:nvSpPr>
        <p:spPr>
          <a:xfrm>
            <a:off x="8214172" y="3779520"/>
            <a:ext cx="3323099" cy="369332"/>
          </a:xfrm>
          <a:prstGeom prst="rect">
            <a:avLst/>
          </a:prstGeom>
          <a:noFill/>
          <a:ln w="9525">
            <a:noFill/>
          </a:ln>
        </p:spPr>
        <p:txBody>
          <a:bodyPr wrap="square" anchor="t">
            <a:spAutoFit/>
          </a:bodyPr>
          <a:lstStyle/>
          <a:p>
            <a:pPr lvl="0" indent="0" eaLnBrk="1" hangingPunct="1">
              <a:buFont typeface="Arial" panose="020B0604020202020204" pitchFamily="34" charset="0"/>
              <a:buNone/>
            </a:pPr>
            <a:r>
              <a:rPr lang="en-US" altLang="zh-CN" dirty="0">
                <a:solidFill>
                  <a:srgbClr val="EF4150"/>
                </a:solidFill>
                <a:latin typeface="+mj-ea"/>
                <a:ea typeface="+mj-ea"/>
              </a:rPr>
              <a:t>3. </a:t>
            </a:r>
            <a:r>
              <a:rPr lang="zh-CN" altLang="en-US" dirty="0">
                <a:solidFill>
                  <a:srgbClr val="EF4150"/>
                </a:solidFill>
                <a:latin typeface="+mj-ea"/>
                <a:ea typeface="+mj-ea"/>
              </a:rPr>
              <a:t>系统测试</a:t>
            </a:r>
            <a:endParaRPr lang="zh-CN" altLang="en-US" b="1" dirty="0">
              <a:solidFill>
                <a:srgbClr val="EF4150"/>
              </a:solidFill>
              <a:latin typeface="+mj-ea"/>
              <a:ea typeface="+mj-ea"/>
            </a:endParaRPr>
          </a:p>
        </p:txBody>
      </p:sp>
    </p:spTree>
  </p:cSld>
  <p:clrMapOvr>
    <a:masterClrMapping/>
  </p:clrMapOvr>
  <p:transition>
    <p:wedg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DA89A768-FAE7-56A8-33A2-D5DBBCFFA613}"/>
              </a:ext>
            </a:extLst>
          </p:cNvPr>
          <p:cNvSpPr/>
          <p:nvPr/>
        </p:nvSpPr>
        <p:spPr>
          <a:xfrm>
            <a:off x="2486025" y="2228850"/>
            <a:ext cx="4238625" cy="2400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altLang="zh-CN" sz="2400" dirty="0">
                <a:solidFill>
                  <a:schemeClr val="tx1"/>
                </a:solidFill>
              </a:rPr>
              <a:t>App</a:t>
            </a:r>
            <a:endParaRPr lang="zh-CN" altLang="en-US" sz="2400" dirty="0">
              <a:solidFill>
                <a:schemeClr val="tx1"/>
              </a:solidFill>
            </a:endParaRPr>
          </a:p>
        </p:txBody>
      </p:sp>
      <p:sp>
        <p:nvSpPr>
          <p:cNvPr id="2" name="标题 1">
            <a:extLst>
              <a:ext uri="{FF2B5EF4-FFF2-40B4-BE49-F238E27FC236}">
                <a16:creationId xmlns:a16="http://schemas.microsoft.com/office/drawing/2014/main" id="{3D4850B1-34D4-3F5A-819F-550C23A99D86}"/>
              </a:ext>
            </a:extLst>
          </p:cNvPr>
          <p:cNvSpPr>
            <a:spLocks noGrp="1"/>
          </p:cNvSpPr>
          <p:nvPr>
            <p:ph type="title"/>
          </p:nvPr>
        </p:nvSpPr>
        <p:spPr/>
        <p:txBody>
          <a:bodyPr/>
          <a:lstStyle/>
          <a:p>
            <a:endParaRPr lang="zh-CN" altLang="en-US"/>
          </a:p>
        </p:txBody>
      </p:sp>
      <p:sp>
        <p:nvSpPr>
          <p:cNvPr id="3" name="文本占位符 2">
            <a:extLst>
              <a:ext uri="{FF2B5EF4-FFF2-40B4-BE49-F238E27FC236}">
                <a16:creationId xmlns:a16="http://schemas.microsoft.com/office/drawing/2014/main" id="{01F2DEBC-AFF7-9B47-D1D0-78AFCC3636AE}"/>
              </a:ext>
            </a:extLst>
          </p:cNvPr>
          <p:cNvSpPr>
            <a:spLocks noGrp="1"/>
          </p:cNvSpPr>
          <p:nvPr>
            <p:ph type="body" sz="quarter" idx="10"/>
          </p:nvPr>
        </p:nvSpPr>
        <p:spPr/>
        <p:txBody>
          <a:bodyPr/>
          <a:lstStyle/>
          <a:p>
            <a:r>
              <a:rPr lang="zh-CN" altLang="en-US" dirty="0"/>
              <a:t>集成测试案例</a:t>
            </a:r>
          </a:p>
        </p:txBody>
      </p:sp>
      <p:sp>
        <p:nvSpPr>
          <p:cNvPr id="4" name="文本占位符 3">
            <a:extLst>
              <a:ext uri="{FF2B5EF4-FFF2-40B4-BE49-F238E27FC236}">
                <a16:creationId xmlns:a16="http://schemas.microsoft.com/office/drawing/2014/main" id="{BF165DEB-9621-600C-1D66-5F6B3489DE1B}"/>
              </a:ext>
            </a:extLst>
          </p:cNvPr>
          <p:cNvSpPr>
            <a:spLocks noGrp="1"/>
          </p:cNvSpPr>
          <p:nvPr>
            <p:ph type="body" sz="quarter" idx="11"/>
          </p:nvPr>
        </p:nvSpPr>
        <p:spPr/>
        <p:txBody>
          <a:bodyPr/>
          <a:lstStyle/>
          <a:p>
            <a:endParaRPr lang="zh-CN" altLang="en-US"/>
          </a:p>
        </p:txBody>
      </p:sp>
      <p:sp>
        <p:nvSpPr>
          <p:cNvPr id="9" name="矩形 8">
            <a:extLst>
              <a:ext uri="{FF2B5EF4-FFF2-40B4-BE49-F238E27FC236}">
                <a16:creationId xmlns:a16="http://schemas.microsoft.com/office/drawing/2014/main" id="{53B2E526-2E25-1D75-3297-B1437CE60A96}"/>
              </a:ext>
            </a:extLst>
          </p:cNvPr>
          <p:cNvSpPr/>
          <p:nvPr/>
        </p:nvSpPr>
        <p:spPr>
          <a:xfrm>
            <a:off x="2638425" y="2381250"/>
            <a:ext cx="2124075" cy="120284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dirty="0">
                <a:solidFill>
                  <a:schemeClr val="tx1"/>
                </a:solidFill>
              </a:rPr>
              <a:t>goods</a:t>
            </a:r>
            <a:endParaRPr lang="zh-CN" altLang="en-US" dirty="0">
              <a:solidFill>
                <a:schemeClr val="tx1"/>
              </a:solidFill>
            </a:endParaRPr>
          </a:p>
        </p:txBody>
      </p:sp>
      <p:sp>
        <p:nvSpPr>
          <p:cNvPr id="10" name="文本框 9">
            <a:extLst>
              <a:ext uri="{FF2B5EF4-FFF2-40B4-BE49-F238E27FC236}">
                <a16:creationId xmlns:a16="http://schemas.microsoft.com/office/drawing/2014/main" id="{9A357513-0BC9-0660-3A87-EBC06FAC2970}"/>
              </a:ext>
            </a:extLst>
          </p:cNvPr>
          <p:cNvSpPr txBox="1"/>
          <p:nvPr/>
        </p:nvSpPr>
        <p:spPr>
          <a:xfrm>
            <a:off x="3747410" y="3056261"/>
            <a:ext cx="857927" cy="369332"/>
          </a:xfrm>
          <a:prstGeom prst="rect">
            <a:avLst/>
          </a:prstGeom>
          <a:solidFill>
            <a:schemeClr val="accent6"/>
          </a:solidFill>
          <a:ln>
            <a:solidFill>
              <a:schemeClr val="accent6"/>
            </a:solidFill>
          </a:ln>
        </p:spPr>
        <p:txBody>
          <a:bodyPr wrap="none" rtlCol="0">
            <a:spAutoFit/>
          </a:bodyPr>
          <a:lstStyle/>
          <a:p>
            <a:pPr algn="just"/>
            <a:r>
              <a:rPr lang="en-US" altLang="zh-CN" dirty="0">
                <a:solidFill>
                  <a:schemeClr val="bg1"/>
                </a:solidFill>
                <a:sym typeface="+mn-ea"/>
              </a:rPr>
              <a:t>fetch.js</a:t>
            </a:r>
          </a:p>
        </p:txBody>
      </p:sp>
    </p:spTree>
    <p:extLst>
      <p:ext uri="{BB962C8B-B14F-4D97-AF65-F5344CB8AC3E}">
        <p14:creationId xmlns:p14="http://schemas.microsoft.com/office/powerpoint/2010/main" val="37658016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20" name="文本占位符 19">
            <a:extLst>
              <a:ext uri="{FF2B5EF4-FFF2-40B4-BE49-F238E27FC236}">
                <a16:creationId xmlns:a16="http://schemas.microsoft.com/office/drawing/2014/main" id="{B604B861-E17E-839B-73D5-18D791D58578}"/>
              </a:ext>
            </a:extLst>
          </p:cNvPr>
          <p:cNvSpPr>
            <a:spLocks noGrp="1"/>
          </p:cNvSpPr>
          <p:nvPr>
            <p:ph type="body" sz="quarter" idx="10"/>
          </p:nvPr>
        </p:nvSpPr>
        <p:spPr>
          <a:xfrm>
            <a:off x="696000" y="1322832"/>
            <a:ext cx="11160000" cy="400110"/>
          </a:xfrm>
        </p:spPr>
        <p:txBody>
          <a:bodyPr/>
          <a:lstStyle/>
          <a:p>
            <a:r>
              <a:rPr lang="en-US" altLang="zh-CN" dirty="0"/>
              <a:t>4.4.2 </a:t>
            </a:r>
            <a:r>
              <a:rPr lang="zh-CN" altLang="en-US" dirty="0"/>
              <a:t>集成测试</a:t>
            </a:r>
          </a:p>
        </p:txBody>
      </p:sp>
      <p:sp>
        <p:nvSpPr>
          <p:cNvPr id="27" name="文本占位符 26">
            <a:extLst>
              <a:ext uri="{FF2B5EF4-FFF2-40B4-BE49-F238E27FC236}">
                <a16:creationId xmlns:a16="http://schemas.microsoft.com/office/drawing/2014/main" id="{2E1E03C6-4791-8AFF-5DB9-11223DB81381}"/>
              </a:ext>
            </a:extLst>
          </p:cNvPr>
          <p:cNvSpPr>
            <a:spLocks noGrp="1"/>
          </p:cNvSpPr>
          <p:nvPr>
            <p:ph type="body" sz="quarter" idx="11"/>
          </p:nvPr>
        </p:nvSpPr>
        <p:spPr/>
        <p:txBody>
          <a:bodyPr/>
          <a:lstStyle/>
          <a:p>
            <a:endParaRPr lang="zh-CN" altLang="en-US"/>
          </a:p>
        </p:txBody>
      </p:sp>
      <p:sp>
        <p:nvSpPr>
          <p:cNvPr id="4" name="MH_Other_1"/>
          <p:cNvSpPr/>
          <p:nvPr>
            <p:custDataLst>
              <p:tags r:id="rId1"/>
            </p:custDataLst>
          </p:nvPr>
        </p:nvSpPr>
        <p:spPr>
          <a:xfrm rot="15013344" flipH="1">
            <a:off x="5529292" y="2999607"/>
            <a:ext cx="3272634" cy="2079415"/>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ea typeface="+mj-ea"/>
            </a:endParaRPr>
          </a:p>
        </p:txBody>
      </p:sp>
      <p:sp>
        <p:nvSpPr>
          <p:cNvPr id="5" name="MH_Other_2"/>
          <p:cNvSpPr/>
          <p:nvPr>
            <p:custDataLst>
              <p:tags r:id="rId2"/>
            </p:custDataLst>
          </p:nvPr>
        </p:nvSpPr>
        <p:spPr>
          <a:xfrm rot="15013344" flipH="1">
            <a:off x="5721102" y="2867652"/>
            <a:ext cx="3268600" cy="2252410"/>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ln/>
        </p:spPr>
        <p:style>
          <a:lnRef idx="0">
            <a:schemeClr val="accent2"/>
          </a:lnRef>
          <a:fillRef idx="3">
            <a:schemeClr val="accent2"/>
          </a:fillRef>
          <a:effectRef idx="3">
            <a:schemeClr val="accent2"/>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ea typeface="+mj-ea"/>
            </a:endParaRPr>
          </a:p>
        </p:txBody>
      </p:sp>
      <p:sp>
        <p:nvSpPr>
          <p:cNvPr id="6" name="MH_Other_3"/>
          <p:cNvSpPr/>
          <p:nvPr>
            <p:custDataLst>
              <p:tags r:id="rId3"/>
            </p:custDataLst>
          </p:nvPr>
        </p:nvSpPr>
        <p:spPr>
          <a:xfrm rot="14847505" flipV="1">
            <a:off x="2888890" y="2723982"/>
            <a:ext cx="3340485" cy="2442946"/>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ea typeface="+mj-ea"/>
            </a:endParaRPr>
          </a:p>
        </p:txBody>
      </p:sp>
      <p:sp>
        <p:nvSpPr>
          <p:cNvPr id="8" name="MH_Other_4"/>
          <p:cNvSpPr/>
          <p:nvPr>
            <p:custDataLst>
              <p:tags r:id="rId4"/>
            </p:custDataLst>
          </p:nvPr>
        </p:nvSpPr>
        <p:spPr>
          <a:xfrm rot="14528313" flipV="1">
            <a:off x="3107051" y="2732499"/>
            <a:ext cx="3268600" cy="225241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ln/>
        </p:spPr>
        <p:style>
          <a:lnRef idx="0">
            <a:schemeClr val="accent6"/>
          </a:lnRef>
          <a:fillRef idx="3">
            <a:schemeClr val="accent6"/>
          </a:fillRef>
          <a:effectRef idx="3">
            <a:schemeClr val="accent6"/>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ea typeface="+mj-ea"/>
            </a:endParaRPr>
          </a:p>
        </p:txBody>
      </p:sp>
      <p:cxnSp>
        <p:nvCxnSpPr>
          <p:cNvPr id="9" name="MH_Other_6"/>
          <p:cNvCxnSpPr/>
          <p:nvPr>
            <p:custDataLst>
              <p:tags r:id="rId5"/>
            </p:custDataLst>
          </p:nvPr>
        </p:nvCxnSpPr>
        <p:spPr>
          <a:xfrm>
            <a:off x="7279539" y="2957618"/>
            <a:ext cx="2950649"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2" name="MH_Other_7"/>
          <p:cNvSpPr txBox="1">
            <a:spLocks noChangeArrowheads="1"/>
          </p:cNvSpPr>
          <p:nvPr>
            <p:custDataLst>
              <p:tags r:id="rId6"/>
            </p:custDataLst>
          </p:nvPr>
        </p:nvSpPr>
        <p:spPr bwMode="auto">
          <a:xfrm>
            <a:off x="7176770" y="2464331"/>
            <a:ext cx="486836" cy="5540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mn-lt"/>
                <a:ea typeface="+mj-ea"/>
              </a:rPr>
              <a:t>1</a:t>
            </a:r>
          </a:p>
        </p:txBody>
      </p:sp>
      <p:sp>
        <p:nvSpPr>
          <p:cNvPr id="16" name="MH_Other_8"/>
          <p:cNvSpPr txBox="1">
            <a:spLocks noChangeArrowheads="1"/>
          </p:cNvSpPr>
          <p:nvPr>
            <p:custDataLst>
              <p:tags r:id="rId7"/>
            </p:custDataLst>
          </p:nvPr>
        </p:nvSpPr>
        <p:spPr bwMode="auto">
          <a:xfrm>
            <a:off x="1702310" y="3646746"/>
            <a:ext cx="486836" cy="554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6"/>
                </a:solidFill>
                <a:latin typeface="+mn-lt"/>
                <a:ea typeface="+mj-ea"/>
              </a:rPr>
              <a:t>2</a:t>
            </a:r>
            <a:endParaRPr lang="zh-CN" altLang="en-US" sz="3000" dirty="0">
              <a:solidFill>
                <a:schemeClr val="accent6"/>
              </a:solidFill>
              <a:latin typeface="+mn-lt"/>
              <a:ea typeface="+mj-ea"/>
            </a:endParaRPr>
          </a:p>
        </p:txBody>
      </p:sp>
      <p:cxnSp>
        <p:nvCxnSpPr>
          <p:cNvPr id="17" name="MH_Other_5"/>
          <p:cNvCxnSpPr/>
          <p:nvPr>
            <p:custDataLst>
              <p:tags r:id="rId8"/>
            </p:custDataLst>
          </p:nvPr>
        </p:nvCxnSpPr>
        <p:spPr>
          <a:xfrm>
            <a:off x="1791211" y="4123643"/>
            <a:ext cx="2952767" cy="0"/>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
        <p:nvSpPr>
          <p:cNvPr id="275457" name="Rectangle 1"/>
          <p:cNvSpPr>
            <a:spLocks noChangeArrowheads="1"/>
          </p:cNvSpPr>
          <p:nvPr/>
        </p:nvSpPr>
        <p:spPr bwMode="auto">
          <a:xfrm>
            <a:off x="3502025" y="1727200"/>
            <a:ext cx="5139690" cy="40005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ctr" defTabSz="914400" rtl="0" eaLnBrk="1" fontAlgn="base" latinLnBrk="0" hangingPunct="1">
              <a:lnSpc>
                <a:spcPct val="100000"/>
              </a:lnSpc>
              <a:spcBef>
                <a:spcPct val="0"/>
              </a:spcBef>
              <a:spcAft>
                <a:spcPct val="0"/>
              </a:spcAft>
              <a:buClrTx/>
              <a:buSzTx/>
              <a:buFontTx/>
              <a:buNone/>
            </a:pPr>
            <a:r>
              <a:rPr sz="2000" dirty="0" err="1">
                <a:solidFill>
                  <a:schemeClr val="tx1"/>
                </a:solidFill>
                <a:ea typeface="+mj-ea"/>
                <a:sym typeface="+mn-ea"/>
              </a:rPr>
              <a:t>模块组装成程序时有两种方法</a:t>
            </a:r>
            <a:endParaRPr kumimoji="0" lang="en-US" sz="2000" i="0" u="none" strike="noStrike" cap="none" normalizeH="0" dirty="0">
              <a:ln>
                <a:noFill/>
              </a:ln>
              <a:solidFill>
                <a:schemeClr val="tx1"/>
              </a:solidFill>
              <a:effectLst/>
              <a:ea typeface="+mj-ea"/>
              <a:cs typeface="宋体" panose="02010600030101010101" pitchFamily="2" charset="-122"/>
              <a:sym typeface="+mn-ea"/>
            </a:endParaRPr>
          </a:p>
        </p:txBody>
      </p:sp>
      <p:sp>
        <p:nvSpPr>
          <p:cNvPr id="28" name="文本框 27">
            <a:extLst>
              <a:ext uri="{FF2B5EF4-FFF2-40B4-BE49-F238E27FC236}">
                <a16:creationId xmlns:a16="http://schemas.microsoft.com/office/drawing/2014/main" id="{D5BB11C1-5463-C414-07EB-122F84D095E3}"/>
              </a:ext>
            </a:extLst>
          </p:cNvPr>
          <p:cNvSpPr txBox="1"/>
          <p:nvPr/>
        </p:nvSpPr>
        <p:spPr>
          <a:xfrm>
            <a:off x="1141351" y="4209169"/>
            <a:ext cx="3600000" cy="2031325"/>
          </a:xfrm>
          <a:prstGeom prst="rect">
            <a:avLst/>
          </a:prstGeom>
          <a:noFill/>
        </p:spPr>
        <p:txBody>
          <a:bodyPr wrap="square" rtlCol="0">
            <a:spAutoFit/>
          </a:bodyPr>
          <a:lstStyle/>
          <a:p>
            <a:pPr algn="just"/>
            <a:r>
              <a:rPr lang="zh-CN" altLang="en-US" dirty="0">
                <a:sym typeface="+mn-ea"/>
              </a:rPr>
              <a:t>把下一个要测试的模块同已经测试好的那些模块结合起来进行测试，测试完以后再把下一个应该测试的模块结合进来测试。这种每次增加一个模块的方法称为</a:t>
            </a:r>
            <a:r>
              <a:rPr lang="zh-CN" altLang="en-US" dirty="0">
                <a:latin typeface="+mj-ea"/>
                <a:ea typeface="+mj-ea"/>
                <a:sym typeface="+mn-ea"/>
              </a:rPr>
              <a:t>渐增式</a:t>
            </a:r>
            <a:r>
              <a:rPr lang="zh-CN" altLang="en-US" dirty="0">
                <a:sym typeface="+mn-ea"/>
              </a:rPr>
              <a:t>测试，这种方法实际上同时完成单元测试和集成测试。</a:t>
            </a:r>
            <a:endParaRPr lang="zh-CN" altLang="en-US" dirty="0"/>
          </a:p>
        </p:txBody>
      </p:sp>
      <p:sp>
        <p:nvSpPr>
          <p:cNvPr id="30" name="文本框 29">
            <a:extLst>
              <a:ext uri="{FF2B5EF4-FFF2-40B4-BE49-F238E27FC236}">
                <a16:creationId xmlns:a16="http://schemas.microsoft.com/office/drawing/2014/main" id="{C1978F3A-C1F3-2D49-85A6-402FBDF91BD7}"/>
              </a:ext>
            </a:extLst>
          </p:cNvPr>
          <p:cNvSpPr txBox="1"/>
          <p:nvPr/>
        </p:nvSpPr>
        <p:spPr>
          <a:xfrm>
            <a:off x="7279539" y="3127999"/>
            <a:ext cx="3600000" cy="1200329"/>
          </a:xfrm>
          <a:prstGeom prst="rect">
            <a:avLst/>
          </a:prstGeom>
          <a:noFill/>
        </p:spPr>
        <p:txBody>
          <a:bodyPr wrap="square" rtlCol="0">
            <a:spAutoFit/>
          </a:bodyPr>
          <a:lstStyle/>
          <a:p>
            <a:pPr algn="just"/>
            <a:r>
              <a:rPr lang="zh-CN" altLang="en-US" dirty="0">
                <a:sym typeface="+mn-ea"/>
              </a:rPr>
              <a:t>先分别测试每个模块，再把所有模块按设计要求放在一起结合成所要的程序，这种方法称为非渐增式测试；</a:t>
            </a:r>
            <a:endParaRPr lang="zh-CN" altLang="en-US" dirty="0"/>
          </a:p>
        </p:txBody>
      </p:sp>
    </p:spTree>
  </p:cSld>
  <p:clrMapOvr>
    <a:masterClrMapping/>
  </p:clrMapOvr>
  <p:transition>
    <p:wedg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15" name="文本占位符 14">
            <a:extLst>
              <a:ext uri="{FF2B5EF4-FFF2-40B4-BE49-F238E27FC236}">
                <a16:creationId xmlns:a16="http://schemas.microsoft.com/office/drawing/2014/main" id="{9C91269B-915C-7255-888C-DED3DA4E655B}"/>
              </a:ext>
            </a:extLst>
          </p:cNvPr>
          <p:cNvSpPr>
            <a:spLocks noGrp="1"/>
          </p:cNvSpPr>
          <p:nvPr>
            <p:ph type="body" sz="quarter" idx="10"/>
          </p:nvPr>
        </p:nvSpPr>
        <p:spPr>
          <a:xfrm>
            <a:off x="696000" y="1322832"/>
            <a:ext cx="11160000" cy="400110"/>
          </a:xfrm>
        </p:spPr>
        <p:txBody>
          <a:bodyPr/>
          <a:lstStyle/>
          <a:p>
            <a:r>
              <a:rPr lang="en-US" altLang="zh-CN" dirty="0"/>
              <a:t>4.4.2 </a:t>
            </a:r>
            <a:r>
              <a:rPr lang="zh-CN" altLang="en-US" dirty="0"/>
              <a:t>集成测试</a:t>
            </a:r>
          </a:p>
        </p:txBody>
      </p:sp>
      <p:sp>
        <p:nvSpPr>
          <p:cNvPr id="19" name="文本占位符 18">
            <a:extLst>
              <a:ext uri="{FF2B5EF4-FFF2-40B4-BE49-F238E27FC236}">
                <a16:creationId xmlns:a16="http://schemas.microsoft.com/office/drawing/2014/main" id="{6DE1C5B4-3F38-B9A3-A065-2E8163D09D6B}"/>
              </a:ext>
            </a:extLst>
          </p:cNvPr>
          <p:cNvSpPr>
            <a:spLocks noGrp="1"/>
          </p:cNvSpPr>
          <p:nvPr>
            <p:ph type="body" sz="quarter" idx="11"/>
          </p:nvPr>
        </p:nvSpPr>
        <p:spPr/>
        <p:txBody>
          <a:bodyPr/>
          <a:lstStyle/>
          <a:p>
            <a:endParaRPr lang="zh-CN" altLang="en-US"/>
          </a:p>
        </p:txBody>
      </p:sp>
      <p:sp>
        <p:nvSpPr>
          <p:cNvPr id="5" name="MH_Other_1"/>
          <p:cNvSpPr/>
          <p:nvPr>
            <p:custDataLst>
              <p:tags r:id="rId1"/>
            </p:custDataLst>
          </p:nvPr>
        </p:nvSpPr>
        <p:spPr>
          <a:xfrm>
            <a:off x="2646680" y="3066415"/>
            <a:ext cx="6797040" cy="89217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rgbClr val="FFFFFF"/>
              </a:solidFill>
              <a:latin typeface="Times New Roman" panose="02020603050405020304" pitchFamily="18" charset="0"/>
            </a:endParaRPr>
          </a:p>
        </p:txBody>
      </p:sp>
      <p:sp>
        <p:nvSpPr>
          <p:cNvPr id="9" name="MH_Title_1"/>
          <p:cNvSpPr/>
          <p:nvPr>
            <p:custDataLst>
              <p:tags r:id="rId2"/>
            </p:custDataLst>
          </p:nvPr>
        </p:nvSpPr>
        <p:spPr>
          <a:xfrm>
            <a:off x="4762500" y="2164715"/>
            <a:ext cx="2395220" cy="156527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dirty="0">
                <a:solidFill>
                  <a:schemeClr val="tx1"/>
                </a:solidFill>
                <a:latin typeface="+mj-ea"/>
                <a:ea typeface="+mj-ea"/>
              </a:rPr>
              <a:t>集成测试</a:t>
            </a:r>
          </a:p>
        </p:txBody>
      </p:sp>
      <p:sp>
        <p:nvSpPr>
          <p:cNvPr id="10" name="MH_SubTitle_1"/>
          <p:cNvSpPr/>
          <p:nvPr>
            <p:custDataLst>
              <p:tags r:id="rId3"/>
            </p:custDataLst>
          </p:nvPr>
        </p:nvSpPr>
        <p:spPr>
          <a:xfrm>
            <a:off x="1728470" y="2677160"/>
            <a:ext cx="2578100" cy="709930"/>
          </a:xfrm>
          <a:prstGeom prst="roundRect">
            <a:avLst>
              <a:gd name="adj" fmla="val 30130"/>
            </a:avLst>
          </a:prstGeom>
          <a:ln/>
        </p:spPr>
        <p:style>
          <a:lnRef idx="0">
            <a:schemeClr val="accent6"/>
          </a:lnRef>
          <a:fillRef idx="3">
            <a:schemeClr val="accent6"/>
          </a:fillRef>
          <a:effectRef idx="3">
            <a:schemeClr val="accent6"/>
          </a:effectRef>
          <a:fontRef idx="minor">
            <a:schemeClr val="lt1"/>
          </a:fontRef>
        </p:style>
        <p:txBody>
          <a:bodyPr lIns="0" tIns="0" rIns="0" bIns="0" anchor="ctr">
            <a:normAutofit/>
          </a:bodyPr>
          <a:lstStyle/>
          <a:p>
            <a:pPr algn="ctr">
              <a:defRPr/>
            </a:pPr>
            <a:r>
              <a:rPr lang="zh-CN" altLang="en-US" dirty="0">
                <a:latin typeface="+mj-ea"/>
                <a:ea typeface="+mj-ea"/>
              </a:rPr>
              <a:t>非渐增式</a:t>
            </a:r>
          </a:p>
        </p:txBody>
      </p:sp>
      <p:sp>
        <p:nvSpPr>
          <p:cNvPr id="12" name="MH_SubTitle_1"/>
          <p:cNvSpPr/>
          <p:nvPr>
            <p:custDataLst>
              <p:tags r:id="rId4"/>
            </p:custDataLst>
          </p:nvPr>
        </p:nvSpPr>
        <p:spPr>
          <a:xfrm>
            <a:off x="7586345" y="2677160"/>
            <a:ext cx="2643505" cy="709930"/>
          </a:xfrm>
          <a:prstGeom prst="roundRect">
            <a:avLst>
              <a:gd name="adj" fmla="val 36824"/>
            </a:avLst>
          </a:prstGeom>
          <a:ln/>
        </p:spPr>
        <p:style>
          <a:lnRef idx="0">
            <a:schemeClr val="accent2"/>
          </a:lnRef>
          <a:fillRef idx="3">
            <a:schemeClr val="accent2"/>
          </a:fillRef>
          <a:effectRef idx="3">
            <a:schemeClr val="accent2"/>
          </a:effectRef>
          <a:fontRef idx="minor">
            <a:schemeClr val="lt1"/>
          </a:fontRef>
        </p:style>
        <p:txBody>
          <a:bodyPr lIns="0" tIns="0" rIns="0" bIns="0" anchor="ctr">
            <a:normAutofit/>
          </a:bodyPr>
          <a:lstStyle/>
          <a:p>
            <a:pPr algn="ctr">
              <a:defRPr/>
            </a:pPr>
            <a:r>
              <a:rPr lang="zh-CN" altLang="en-US" dirty="0">
                <a:latin typeface="+mj-ea"/>
                <a:ea typeface="+mj-ea"/>
                <a:sym typeface="+mn-ea"/>
              </a:rPr>
              <a:t>渐增式</a:t>
            </a:r>
            <a:endParaRPr lang="zh-CN" altLang="en-US" dirty="0">
              <a:latin typeface="+mj-ea"/>
              <a:ea typeface="+mj-ea"/>
            </a:endParaRPr>
          </a:p>
        </p:txBody>
      </p:sp>
      <p:sp>
        <p:nvSpPr>
          <p:cNvPr id="20" name="文本框 19">
            <a:extLst>
              <a:ext uri="{FF2B5EF4-FFF2-40B4-BE49-F238E27FC236}">
                <a16:creationId xmlns:a16="http://schemas.microsoft.com/office/drawing/2014/main" id="{09C2A295-B001-5B9C-AB04-EEBD424719CC}"/>
              </a:ext>
            </a:extLst>
          </p:cNvPr>
          <p:cNvSpPr txBox="1"/>
          <p:nvPr/>
        </p:nvSpPr>
        <p:spPr>
          <a:xfrm>
            <a:off x="706570" y="3470911"/>
            <a:ext cx="3600000" cy="1200329"/>
          </a:xfrm>
          <a:prstGeom prst="rect">
            <a:avLst/>
          </a:prstGeom>
          <a:noFill/>
        </p:spPr>
        <p:txBody>
          <a:bodyPr wrap="square" rtlCol="0">
            <a:spAutoFit/>
          </a:bodyPr>
          <a:lstStyle/>
          <a:p>
            <a:pPr algn="just"/>
            <a:r>
              <a:rPr lang="zh-CN" altLang="en-US" dirty="0"/>
              <a:t> </a:t>
            </a:r>
            <a:r>
              <a:rPr lang="zh-CN" altLang="en-US" dirty="0">
                <a:sym typeface="+mn-ea"/>
              </a:rPr>
              <a:t>非渐增式集成测试时用于开发测试软件的开销要少一些，但发现问题后要找到产生问题的原因比较困难。</a:t>
            </a:r>
          </a:p>
        </p:txBody>
      </p:sp>
      <p:sp>
        <p:nvSpPr>
          <p:cNvPr id="21" name="文本框 20">
            <a:extLst>
              <a:ext uri="{FF2B5EF4-FFF2-40B4-BE49-F238E27FC236}">
                <a16:creationId xmlns:a16="http://schemas.microsoft.com/office/drawing/2014/main" id="{A2D83F25-F55C-CC60-D63B-2F0C7BFC7247}"/>
              </a:ext>
            </a:extLst>
          </p:cNvPr>
          <p:cNvSpPr txBox="1"/>
          <p:nvPr/>
        </p:nvSpPr>
        <p:spPr>
          <a:xfrm>
            <a:off x="7586345" y="3470911"/>
            <a:ext cx="3600000" cy="2392258"/>
          </a:xfrm>
          <a:prstGeom prst="rect">
            <a:avLst/>
          </a:prstGeom>
          <a:noFill/>
        </p:spPr>
        <p:txBody>
          <a:bodyPr wrap="square" rtlCol="0">
            <a:spAutoFit/>
          </a:bodyPr>
          <a:lstStyle/>
          <a:p>
            <a:pPr algn="just">
              <a:lnSpc>
                <a:spcPct val="120000"/>
              </a:lnSpc>
            </a:pPr>
            <a:r>
              <a:rPr lang="zh-CN" altLang="en-US" dirty="0"/>
              <a:t> </a:t>
            </a:r>
            <a:r>
              <a:rPr lang="zh-CN" altLang="en-US" dirty="0">
                <a:sym typeface="+mn-ea"/>
              </a:rPr>
              <a:t>渐增式集成测试所需要开发的测试软件要多一些，但可及时发现接口错误，已测试的软件在增加新模块时，也受到测试，测试较彻底。</a:t>
            </a:r>
          </a:p>
          <a:p>
            <a:pPr algn="just">
              <a:lnSpc>
                <a:spcPct val="120000"/>
              </a:lnSpc>
            </a:pPr>
            <a:r>
              <a:rPr lang="zh-CN" altLang="en-US" dirty="0">
                <a:sym typeface="+mn-ea"/>
              </a:rPr>
              <a:t> 因此，在进行集成测试时普遍使用渐增式测试方法。</a:t>
            </a:r>
          </a:p>
        </p:txBody>
      </p:sp>
    </p:spTree>
  </p:cSld>
  <p:clrMapOvr>
    <a:masterClrMapping/>
  </p:clrMapOvr>
  <p:transition>
    <p:wedg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5" name="文本占位符 4">
            <a:extLst>
              <a:ext uri="{FF2B5EF4-FFF2-40B4-BE49-F238E27FC236}">
                <a16:creationId xmlns:a16="http://schemas.microsoft.com/office/drawing/2014/main" id="{147DF9D2-50F3-9E98-F12D-55D5C4383120}"/>
              </a:ext>
            </a:extLst>
          </p:cNvPr>
          <p:cNvSpPr>
            <a:spLocks noGrp="1"/>
          </p:cNvSpPr>
          <p:nvPr>
            <p:ph type="body" sz="quarter" idx="10"/>
          </p:nvPr>
        </p:nvSpPr>
        <p:spPr>
          <a:xfrm>
            <a:off x="696000" y="1322832"/>
            <a:ext cx="5400000" cy="400110"/>
          </a:xfrm>
        </p:spPr>
        <p:txBody>
          <a:bodyPr/>
          <a:lstStyle/>
          <a:p>
            <a:r>
              <a:rPr lang="en-US" altLang="zh-CN" dirty="0"/>
              <a:t>4.4.2 </a:t>
            </a:r>
            <a:r>
              <a:rPr lang="zh-CN" altLang="en-US" dirty="0"/>
              <a:t>集成测试 </a:t>
            </a:r>
            <a:r>
              <a:rPr lang="en-US" altLang="zh-CN" dirty="0"/>
              <a:t>- </a:t>
            </a:r>
            <a:r>
              <a:rPr lang="zh-CN" altLang="en-US" dirty="0">
                <a:sym typeface="+mn-ea"/>
              </a:rPr>
              <a:t>自顶向下集成</a:t>
            </a:r>
            <a:endParaRPr lang="zh-CN" altLang="en-US" dirty="0"/>
          </a:p>
        </p:txBody>
      </p:sp>
      <p:sp>
        <p:nvSpPr>
          <p:cNvPr id="6" name="文本占位符 5">
            <a:extLst>
              <a:ext uri="{FF2B5EF4-FFF2-40B4-BE49-F238E27FC236}">
                <a16:creationId xmlns:a16="http://schemas.microsoft.com/office/drawing/2014/main" id="{87F32577-E8BD-DE22-2CF7-2343D9867A14}"/>
              </a:ext>
            </a:extLst>
          </p:cNvPr>
          <p:cNvSpPr>
            <a:spLocks noGrp="1"/>
          </p:cNvSpPr>
          <p:nvPr>
            <p:ph type="body" sz="quarter" idx="11"/>
          </p:nvPr>
        </p:nvSpPr>
        <p:spPr/>
        <p:txBody>
          <a:bodyPr/>
          <a:lstStyle/>
          <a:p>
            <a:endParaRPr lang="zh-CN" altLang="en-US"/>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pic>
        <p:nvPicPr>
          <p:cNvPr id="18" name="图片 17" descr="A000220150321F33PPIC"/>
          <p:cNvPicPr>
            <a:picLocks noChangeAspect="1"/>
          </p:cNvPicPr>
          <p:nvPr/>
        </p:nvPicPr>
        <p:blipFill>
          <a:blip r:embed="rId3" cstate="print"/>
          <a:stretch>
            <a:fillRect/>
          </a:stretch>
        </p:blipFill>
        <p:spPr>
          <a:xfrm>
            <a:off x="175260" y="2104390"/>
            <a:ext cx="3244215" cy="4189730"/>
          </a:xfrm>
          <a:prstGeom prst="rect">
            <a:avLst/>
          </a:prstGeom>
        </p:spPr>
      </p:pic>
      <p:sp>
        <p:nvSpPr>
          <p:cNvPr id="12" name="文本框 11">
            <a:extLst>
              <a:ext uri="{FF2B5EF4-FFF2-40B4-BE49-F238E27FC236}">
                <a16:creationId xmlns:a16="http://schemas.microsoft.com/office/drawing/2014/main" id="{237924B7-FDFF-321D-1D36-108F23DE4672}"/>
              </a:ext>
            </a:extLst>
          </p:cNvPr>
          <p:cNvSpPr txBox="1"/>
          <p:nvPr/>
        </p:nvSpPr>
        <p:spPr>
          <a:xfrm>
            <a:off x="2958744" y="2291590"/>
            <a:ext cx="7920000" cy="3813929"/>
          </a:xfrm>
          <a:prstGeom prst="rect">
            <a:avLst/>
          </a:prstGeom>
          <a:noFill/>
        </p:spPr>
        <p:txBody>
          <a:bodyPr wrap="square" rtlCol="0">
            <a:spAutoFit/>
          </a:bodyPr>
          <a:lstStyle/>
          <a:p>
            <a:pPr algn="just">
              <a:lnSpc>
                <a:spcPct val="130000"/>
              </a:lnSpc>
              <a:spcAft>
                <a:spcPts val="600"/>
              </a:spcAft>
            </a:pPr>
            <a:r>
              <a:rPr lang="zh-CN" altLang="en-US" dirty="0">
                <a:sym typeface="+mn-ea"/>
              </a:rPr>
              <a:t>从主控模块开始，把附属的模块组装到软件结构中去，可使用深度优先的策略，或使用宽度优先的策略。在组装模块的同时进行测试，能在</a:t>
            </a:r>
            <a:r>
              <a:rPr lang="zh-CN" altLang="en-US" dirty="0">
                <a:solidFill>
                  <a:srgbClr val="C00000"/>
                </a:solidFill>
                <a:sym typeface="+mn-ea"/>
              </a:rPr>
              <a:t>早期</a:t>
            </a:r>
            <a:r>
              <a:rPr lang="zh-CN" altLang="en-US" dirty="0">
                <a:sym typeface="+mn-ea"/>
              </a:rPr>
              <a:t>实现和验证系统主要功能，早期发现上层模块的接口错误，低层模块中的错误发现较晚，需要使用存根程序，不需要驱动程序。</a:t>
            </a:r>
          </a:p>
          <a:p>
            <a:pPr algn="just">
              <a:lnSpc>
                <a:spcPct val="130000"/>
              </a:lnSpc>
              <a:spcAft>
                <a:spcPts val="600"/>
              </a:spcAft>
            </a:pPr>
            <a:r>
              <a:rPr lang="zh-CN" altLang="en-US" dirty="0">
                <a:sym typeface="+mn-ea"/>
              </a:rPr>
              <a:t>在众多模块中我们分析出一种可称为关键模块的程序段，关键模块的设计质量对系统影响较大。</a:t>
            </a:r>
          </a:p>
          <a:p>
            <a:pPr algn="just">
              <a:lnSpc>
                <a:spcPct val="130000"/>
              </a:lnSpc>
              <a:spcAft>
                <a:spcPts val="600"/>
              </a:spcAft>
            </a:pPr>
            <a:r>
              <a:rPr lang="zh-CN" altLang="en-US" dirty="0">
                <a:sym typeface="+mn-ea"/>
              </a:rPr>
              <a:t>每当新的模块加进来时，系统发生了变化，有可能产生新的错误。重新执行已经做过测试的某个子集，以保证集成没有带来错误，称为</a:t>
            </a:r>
            <a:r>
              <a:rPr lang="zh-CN" altLang="en-US" dirty="0">
                <a:solidFill>
                  <a:srgbClr val="C00000"/>
                </a:solidFill>
                <a:sym typeface="+mn-ea"/>
              </a:rPr>
              <a:t>回归测试</a:t>
            </a:r>
            <a:r>
              <a:rPr lang="zh-CN" altLang="en-US" dirty="0">
                <a:sym typeface="+mn-ea"/>
              </a:rPr>
              <a:t>。回归测试时，测试用例应设计成能测试程序每个主要功能中的一类或多类错误，并着重测试关键模块。</a:t>
            </a:r>
            <a:endParaRPr lang="zh-CN" altLang="en-US" dirty="0"/>
          </a:p>
        </p:txBody>
      </p:sp>
    </p:spTree>
  </p:cSld>
  <p:clrMapOvr>
    <a:masterClrMapping/>
  </p:clrMapOvr>
  <p:transition>
    <p:wedg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8" name="文本占位符 7">
            <a:extLst>
              <a:ext uri="{FF2B5EF4-FFF2-40B4-BE49-F238E27FC236}">
                <a16:creationId xmlns:a16="http://schemas.microsoft.com/office/drawing/2014/main" id="{DA5ABA7C-D174-42A6-6E66-66FA2A2055EB}"/>
              </a:ext>
            </a:extLst>
          </p:cNvPr>
          <p:cNvSpPr>
            <a:spLocks noGrp="1"/>
          </p:cNvSpPr>
          <p:nvPr>
            <p:ph type="body" sz="quarter" idx="10"/>
          </p:nvPr>
        </p:nvSpPr>
        <p:spPr>
          <a:xfrm>
            <a:off x="696000" y="1322832"/>
            <a:ext cx="11160000" cy="400110"/>
          </a:xfrm>
        </p:spPr>
        <p:txBody>
          <a:bodyPr/>
          <a:lstStyle/>
          <a:p>
            <a:r>
              <a:rPr lang="en-US" altLang="zh-CN" dirty="0"/>
              <a:t>4.4.2 </a:t>
            </a:r>
            <a:r>
              <a:rPr lang="zh-CN" altLang="en-US" dirty="0"/>
              <a:t>集成测试 </a:t>
            </a:r>
            <a:r>
              <a:rPr lang="en-US" altLang="zh-CN" dirty="0"/>
              <a:t>- </a:t>
            </a:r>
            <a:r>
              <a:rPr lang="zh-CN" altLang="en-US" dirty="0">
                <a:sym typeface="+mn-ea"/>
              </a:rPr>
              <a:t>自底向上集成</a:t>
            </a:r>
            <a:endParaRPr lang="zh-CN" altLang="en-US" dirty="0"/>
          </a:p>
        </p:txBody>
      </p:sp>
      <p:sp>
        <p:nvSpPr>
          <p:cNvPr id="12" name="文本占位符 11">
            <a:extLst>
              <a:ext uri="{FF2B5EF4-FFF2-40B4-BE49-F238E27FC236}">
                <a16:creationId xmlns:a16="http://schemas.microsoft.com/office/drawing/2014/main" id="{5C0FD473-634D-9E74-37E3-F7A55D55EFCB}"/>
              </a:ext>
            </a:extLst>
          </p:cNvPr>
          <p:cNvSpPr>
            <a:spLocks noGrp="1"/>
          </p:cNvSpPr>
          <p:nvPr>
            <p:ph type="body" sz="quarter" idx="11"/>
          </p:nvPr>
        </p:nvSpPr>
        <p:spPr/>
        <p:txBody>
          <a:bodyPr/>
          <a:lstStyle/>
          <a:p>
            <a:endParaRPr lang="zh-CN" altLang="en-US"/>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pic>
        <p:nvPicPr>
          <p:cNvPr id="2" name="图片 1" descr="A000220150318N48PPIC"/>
          <p:cNvPicPr>
            <a:picLocks noChangeAspect="1"/>
          </p:cNvPicPr>
          <p:nvPr/>
        </p:nvPicPr>
        <p:blipFill>
          <a:blip r:embed="rId3" cstate="print"/>
          <a:stretch>
            <a:fillRect/>
          </a:stretch>
        </p:blipFill>
        <p:spPr>
          <a:xfrm>
            <a:off x="802640" y="1969770"/>
            <a:ext cx="3919220" cy="3898265"/>
          </a:xfrm>
          <a:prstGeom prst="rect">
            <a:avLst/>
          </a:prstGeom>
        </p:spPr>
      </p:pic>
      <p:sp>
        <p:nvSpPr>
          <p:cNvPr id="5" name="文本框 4">
            <a:extLst>
              <a:ext uri="{FF2B5EF4-FFF2-40B4-BE49-F238E27FC236}">
                <a16:creationId xmlns:a16="http://schemas.microsoft.com/office/drawing/2014/main" id="{D05AEA21-2B94-15AE-44F6-0E38CC60C28A}"/>
              </a:ext>
            </a:extLst>
          </p:cNvPr>
          <p:cNvSpPr txBox="1"/>
          <p:nvPr/>
        </p:nvSpPr>
        <p:spPr>
          <a:xfrm>
            <a:off x="4974157" y="2291590"/>
            <a:ext cx="5040000" cy="1293239"/>
          </a:xfrm>
          <a:prstGeom prst="rect">
            <a:avLst/>
          </a:prstGeom>
          <a:noFill/>
        </p:spPr>
        <p:txBody>
          <a:bodyPr wrap="square" rtlCol="0">
            <a:spAutoFit/>
          </a:bodyPr>
          <a:lstStyle/>
          <a:p>
            <a:pPr algn="just">
              <a:lnSpc>
                <a:spcPct val="130000"/>
              </a:lnSpc>
              <a:spcAft>
                <a:spcPts val="600"/>
              </a:spcAft>
            </a:pPr>
            <a:r>
              <a:rPr lang="zh-CN" altLang="en-US" dirty="0">
                <a:latin typeface="+mn-ea"/>
                <a:sym typeface="+mn-ea"/>
              </a:rPr>
              <a:t>从软件结构最底层的模块开始组装和测试。</a:t>
            </a:r>
            <a:endParaRPr lang="en-US" altLang="zh-CN" dirty="0">
              <a:latin typeface="+mn-ea"/>
              <a:sym typeface="+mn-ea"/>
            </a:endParaRPr>
          </a:p>
          <a:p>
            <a:pPr algn="just">
              <a:lnSpc>
                <a:spcPct val="130000"/>
              </a:lnSpc>
              <a:spcAft>
                <a:spcPts val="600"/>
              </a:spcAft>
            </a:pPr>
            <a:r>
              <a:rPr lang="zh-CN" altLang="en-US" dirty="0">
                <a:latin typeface="+mn-ea"/>
                <a:sym typeface="+mn-ea"/>
              </a:rPr>
              <a:t>不需要存根程序，需要驱动程序。</a:t>
            </a:r>
            <a:endParaRPr lang="en-US" altLang="zh-CN" dirty="0">
              <a:latin typeface="+mn-ea"/>
              <a:sym typeface="+mn-ea"/>
            </a:endParaRPr>
          </a:p>
          <a:p>
            <a:pPr algn="just">
              <a:lnSpc>
                <a:spcPct val="130000"/>
              </a:lnSpc>
              <a:spcAft>
                <a:spcPts val="600"/>
              </a:spcAft>
            </a:pPr>
            <a:r>
              <a:rPr lang="zh-CN" altLang="en-US" dirty="0">
                <a:latin typeface="+mn-ea"/>
                <a:sym typeface="+mn-ea"/>
              </a:rPr>
              <a:t>优缺点与自顶向下集成刚好相反。</a:t>
            </a:r>
          </a:p>
        </p:txBody>
      </p:sp>
      <p:graphicFrame>
        <p:nvGraphicFramePr>
          <p:cNvPr id="4" name="表格 3">
            <a:extLst>
              <a:ext uri="{FF2B5EF4-FFF2-40B4-BE49-F238E27FC236}">
                <a16:creationId xmlns:a16="http://schemas.microsoft.com/office/drawing/2014/main" id="{467E8E71-AC5B-67C2-8D1B-5BF1B8F4DBE4}"/>
              </a:ext>
            </a:extLst>
          </p:cNvPr>
          <p:cNvGraphicFramePr>
            <a:graphicFrameLocks noGrp="1"/>
          </p:cNvGraphicFramePr>
          <p:nvPr>
            <p:extLst>
              <p:ext uri="{D42A27DB-BD31-4B8C-83A1-F6EECF244321}">
                <p14:modId xmlns:p14="http://schemas.microsoft.com/office/powerpoint/2010/main" val="1201170627"/>
              </p:ext>
            </p:extLst>
          </p:nvPr>
        </p:nvGraphicFramePr>
        <p:xfrm>
          <a:off x="4974157" y="3785152"/>
          <a:ext cx="6574156" cy="1493520"/>
        </p:xfrm>
        <a:graphic>
          <a:graphicData uri="http://schemas.openxmlformats.org/drawingml/2006/table">
            <a:tbl>
              <a:tblPr/>
              <a:tblGrid>
                <a:gridCol w="1007543">
                  <a:extLst>
                    <a:ext uri="{9D8B030D-6E8A-4147-A177-3AD203B41FA5}">
                      <a16:colId xmlns:a16="http://schemas.microsoft.com/office/drawing/2014/main" val="2145365759"/>
                    </a:ext>
                  </a:extLst>
                </a:gridCol>
                <a:gridCol w="1438275">
                  <a:extLst>
                    <a:ext uri="{9D8B030D-6E8A-4147-A177-3AD203B41FA5}">
                      <a16:colId xmlns:a16="http://schemas.microsoft.com/office/drawing/2014/main" val="1970862911"/>
                    </a:ext>
                  </a:extLst>
                </a:gridCol>
                <a:gridCol w="2409825">
                  <a:extLst>
                    <a:ext uri="{9D8B030D-6E8A-4147-A177-3AD203B41FA5}">
                      <a16:colId xmlns:a16="http://schemas.microsoft.com/office/drawing/2014/main" val="454482304"/>
                    </a:ext>
                  </a:extLst>
                </a:gridCol>
                <a:gridCol w="1718513">
                  <a:extLst>
                    <a:ext uri="{9D8B030D-6E8A-4147-A177-3AD203B41FA5}">
                      <a16:colId xmlns:a16="http://schemas.microsoft.com/office/drawing/2014/main" val="1911837512"/>
                    </a:ext>
                  </a:extLst>
                </a:gridCol>
              </a:tblGrid>
              <a:tr h="0">
                <a:tc>
                  <a:txBody>
                    <a:bodyPr/>
                    <a:lstStyle/>
                    <a:p>
                      <a:pPr algn="l">
                        <a:buNone/>
                      </a:pPr>
                      <a:r>
                        <a:rPr lang="zh-CN" altLang="en-US" sz="1600" dirty="0"/>
                        <a:t>策略</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方向</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需要什么辅助代码？</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效果</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6940785"/>
                  </a:ext>
                </a:extLst>
              </a:tr>
              <a:tr h="0">
                <a:tc>
                  <a:txBody>
                    <a:bodyPr/>
                    <a:lstStyle/>
                    <a:p>
                      <a:pPr algn="l">
                        <a:buNone/>
                      </a:pPr>
                      <a:r>
                        <a:rPr lang="zh-CN" altLang="en-US" sz="1600" dirty="0"/>
                        <a:t>自顶向下</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大脑 → 手脚</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需要存根程序 </a:t>
                      </a:r>
                      <a:r>
                        <a:rPr lang="en-US" altLang="zh-CN" sz="1600" dirty="0"/>
                        <a:t>(Stub) </a:t>
                      </a:r>
                      <a:br>
                        <a:rPr lang="en-US" altLang="zh-CN" sz="1600" dirty="0"/>
                      </a:br>
                      <a:r>
                        <a:rPr lang="en-US" altLang="zh-CN" sz="1600" i="1" dirty="0"/>
                        <a:t>(</a:t>
                      </a:r>
                      <a:r>
                        <a:rPr lang="zh-CN" altLang="en-US" sz="1600" i="1" dirty="0"/>
                        <a:t>假装下层模块存在</a:t>
                      </a:r>
                      <a:r>
                        <a:rPr lang="en-US" altLang="zh-CN" sz="1600" i="1" dirty="0"/>
                        <a:t>)</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早期就能看到主流程</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89787527"/>
                  </a:ext>
                </a:extLst>
              </a:tr>
              <a:tr h="0">
                <a:tc>
                  <a:txBody>
                    <a:bodyPr/>
                    <a:lstStyle/>
                    <a:p>
                      <a:pPr algn="l">
                        <a:buNone/>
                      </a:pPr>
                      <a:r>
                        <a:rPr lang="zh-CN" altLang="en-US" sz="1600" dirty="0"/>
                        <a:t>自底向上</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地基 → 屋顶</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需要驱动程序 </a:t>
                      </a:r>
                      <a:r>
                        <a:rPr lang="en-US" altLang="zh-CN" sz="1600" dirty="0"/>
                        <a:t>(Driver) </a:t>
                      </a:r>
                      <a:br>
                        <a:rPr lang="en-US" altLang="zh-CN" sz="1600" dirty="0"/>
                      </a:br>
                      <a:r>
                        <a:rPr lang="en-US" altLang="zh-CN" sz="1600" i="1" dirty="0"/>
                        <a:t>(</a:t>
                      </a:r>
                      <a:r>
                        <a:rPr lang="zh-CN" altLang="en-US" sz="1600" i="1" dirty="0"/>
                        <a:t>模拟上层来调用下层</a:t>
                      </a:r>
                      <a:r>
                        <a:rPr lang="en-US" altLang="zh-CN" sz="1600" i="1" dirty="0"/>
                        <a:t>)</a:t>
                      </a:r>
                      <a:endParaRPr lang="zh-CN" alt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晚期才能看到完整功能</a:t>
                      </a:r>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2291781"/>
                  </a:ext>
                </a:extLst>
              </a:tr>
            </a:tbl>
          </a:graphicData>
        </a:graphic>
      </p:graphicFrame>
    </p:spTree>
  </p:cSld>
  <p:clrMapOvr>
    <a:masterClrMapping/>
  </p:clrMapOvr>
  <p:transition>
    <p:wedg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13" name="文本占位符 12">
            <a:extLst>
              <a:ext uri="{FF2B5EF4-FFF2-40B4-BE49-F238E27FC236}">
                <a16:creationId xmlns:a16="http://schemas.microsoft.com/office/drawing/2014/main" id="{04E8BB32-E4AA-E877-44BA-008D005560E4}"/>
              </a:ext>
            </a:extLst>
          </p:cNvPr>
          <p:cNvSpPr>
            <a:spLocks noGrp="1"/>
          </p:cNvSpPr>
          <p:nvPr>
            <p:ph type="body" sz="quarter" idx="10"/>
          </p:nvPr>
        </p:nvSpPr>
        <p:spPr>
          <a:xfrm>
            <a:off x="696000" y="1322832"/>
            <a:ext cx="5400000" cy="400110"/>
          </a:xfrm>
        </p:spPr>
        <p:txBody>
          <a:bodyPr/>
          <a:lstStyle/>
          <a:p>
            <a:r>
              <a:rPr lang="en-US" altLang="zh-CN" dirty="0"/>
              <a:t>4.4.3 </a:t>
            </a:r>
            <a:r>
              <a:rPr lang="zh-CN" altLang="en-US" dirty="0"/>
              <a:t>程序审查会和人工运行</a:t>
            </a:r>
          </a:p>
        </p:txBody>
      </p:sp>
      <p:sp>
        <p:nvSpPr>
          <p:cNvPr id="6" name="文本占位符 5">
            <a:extLst>
              <a:ext uri="{FF2B5EF4-FFF2-40B4-BE49-F238E27FC236}">
                <a16:creationId xmlns:a16="http://schemas.microsoft.com/office/drawing/2014/main" id="{6DA31FD9-B030-38E5-97A8-45C0CD2885C4}"/>
              </a:ext>
            </a:extLst>
          </p:cNvPr>
          <p:cNvSpPr>
            <a:spLocks noGrp="1"/>
          </p:cNvSpPr>
          <p:nvPr>
            <p:ph type="body" sz="quarter" idx="11"/>
          </p:nvPr>
        </p:nvSpPr>
        <p:spPr/>
        <p:txBody>
          <a:bodyPr/>
          <a:lstStyle/>
          <a:p>
            <a:endParaRPr lang="zh-CN" altLang="en-US"/>
          </a:p>
        </p:txBody>
      </p:sp>
      <p:pic>
        <p:nvPicPr>
          <p:cNvPr id="2" name="图片 1" descr="A000220150821C45PPIC"/>
          <p:cNvPicPr>
            <a:picLocks noChangeAspect="1"/>
          </p:cNvPicPr>
          <p:nvPr/>
        </p:nvPicPr>
        <p:blipFill>
          <a:blip r:embed="rId3" cstate="print"/>
          <a:stretch>
            <a:fillRect/>
          </a:stretch>
        </p:blipFill>
        <p:spPr>
          <a:xfrm>
            <a:off x="7384759" y="3706635"/>
            <a:ext cx="3632060" cy="2421373"/>
          </a:xfrm>
          <a:prstGeom prst="rect">
            <a:avLst/>
          </a:prstGeom>
        </p:spPr>
      </p:pic>
      <p:sp>
        <p:nvSpPr>
          <p:cNvPr id="100" name="文本框 99"/>
          <p:cNvSpPr txBox="1"/>
          <p:nvPr/>
        </p:nvSpPr>
        <p:spPr>
          <a:xfrm>
            <a:off x="972819" y="2502042"/>
            <a:ext cx="10044000" cy="1172629"/>
          </a:xfrm>
          <a:prstGeom prst="rect">
            <a:avLst/>
          </a:prstGeom>
          <a:noFill/>
          <a:ln w="9525">
            <a:noFill/>
          </a:ln>
        </p:spPr>
        <p:txBody>
          <a:bodyPr wrap="square">
            <a:spAutoFit/>
          </a:bodyPr>
          <a:lstStyle/>
          <a:p>
            <a:pPr marL="0" indent="457200" algn="just" fontAlgn="auto">
              <a:lnSpc>
                <a:spcPct val="130000"/>
              </a:lnSpc>
              <a:spcAft>
                <a:spcPts val="600"/>
              </a:spcAft>
            </a:pPr>
            <a:r>
              <a:rPr dirty="0">
                <a:sym typeface="+mn-ea"/>
              </a:rPr>
              <a:t>参加程序审查会的成员通常由软件程序员和不参加设计的测试专家及调解员（当程序员与测试专家意见有分歧时，从中进行调解、裁决）组成，开会之前先把程序清单和设计文档分发给审查小组成员。会议内容如下：</a:t>
            </a:r>
          </a:p>
        </p:txBody>
      </p:sp>
      <p:sp>
        <p:nvSpPr>
          <p:cNvPr id="8" name="文本框 99"/>
          <p:cNvSpPr txBox="1"/>
          <p:nvPr/>
        </p:nvSpPr>
        <p:spPr>
          <a:xfrm>
            <a:off x="988738" y="3678042"/>
            <a:ext cx="6372000" cy="2449966"/>
          </a:xfrm>
          <a:prstGeom prst="rect">
            <a:avLst/>
          </a:prstGeom>
          <a:noFill/>
          <a:ln w="9525">
            <a:noFill/>
          </a:ln>
        </p:spPr>
        <p:txBody>
          <a:bodyPr wrap="square">
            <a:spAutoFit/>
          </a:bodyPr>
          <a:lstStyle/>
          <a:p>
            <a:pPr marL="0" indent="0" algn="just" fontAlgn="auto">
              <a:lnSpc>
                <a:spcPct val="130000"/>
              </a:lnSpc>
              <a:spcAft>
                <a:spcPts val="600"/>
              </a:spcAft>
            </a:pPr>
            <a:r>
              <a:rPr dirty="0">
                <a:sym typeface="+mn-ea"/>
              </a:rPr>
              <a:t>1</a:t>
            </a:r>
            <a:r>
              <a:rPr lang="en-US" dirty="0">
                <a:sym typeface="+mn-ea"/>
              </a:rPr>
              <a:t>. </a:t>
            </a:r>
            <a:r>
              <a:rPr dirty="0" err="1">
                <a:sym typeface="+mn-ea"/>
              </a:rPr>
              <a:t>程序员逐句讲述程序的逻辑结构，然后由大家提问研究，判断是否有错误存在</a:t>
            </a:r>
            <a:r>
              <a:rPr lang="zh-CN" altLang="en-US" dirty="0">
                <a:sym typeface="+mn-ea"/>
              </a:rPr>
              <a:t>。</a:t>
            </a:r>
          </a:p>
          <a:p>
            <a:pPr marL="0" indent="0" algn="just" fontAlgn="auto">
              <a:lnSpc>
                <a:spcPct val="130000"/>
              </a:lnSpc>
              <a:spcAft>
                <a:spcPts val="600"/>
              </a:spcAft>
            </a:pPr>
            <a:r>
              <a:rPr dirty="0">
                <a:sym typeface="+mn-ea"/>
              </a:rPr>
              <a:t>2</a:t>
            </a:r>
            <a:r>
              <a:rPr lang="en-US" dirty="0">
                <a:sym typeface="+mn-ea"/>
              </a:rPr>
              <a:t>. </a:t>
            </a:r>
            <a:r>
              <a:rPr dirty="0" err="1">
                <a:sym typeface="+mn-ea"/>
              </a:rPr>
              <a:t>程序审查会成员根据常见程序错误来分析程序</a:t>
            </a:r>
            <a:r>
              <a:rPr dirty="0">
                <a:sym typeface="+mn-ea"/>
              </a:rPr>
              <a:t>。</a:t>
            </a:r>
          </a:p>
          <a:p>
            <a:pPr marL="0" indent="0" algn="just" fontAlgn="auto">
              <a:lnSpc>
                <a:spcPct val="130000"/>
              </a:lnSpc>
              <a:spcAft>
                <a:spcPts val="600"/>
              </a:spcAft>
            </a:pPr>
            <a:r>
              <a:rPr dirty="0" err="1">
                <a:sym typeface="+mn-ea"/>
              </a:rPr>
              <a:t>优点</a:t>
            </a:r>
            <a:r>
              <a:rPr lang="zh-CN" altLang="en-US" dirty="0">
                <a:sym typeface="+mn-ea"/>
              </a:rPr>
              <a:t>：</a:t>
            </a:r>
            <a:r>
              <a:rPr dirty="0" err="1">
                <a:sym typeface="+mn-ea"/>
              </a:rPr>
              <a:t>是一次审查会可以发现许多错误</a:t>
            </a:r>
            <a:r>
              <a:rPr dirty="0">
                <a:sym typeface="+mn-ea"/>
              </a:rPr>
              <a:t>。</a:t>
            </a:r>
            <a:endParaRPr lang="en-US" dirty="0">
              <a:sym typeface="+mn-ea"/>
            </a:endParaRPr>
          </a:p>
          <a:p>
            <a:pPr marL="0" indent="0" algn="just" fontAlgn="auto">
              <a:lnSpc>
                <a:spcPct val="130000"/>
              </a:lnSpc>
              <a:spcAft>
                <a:spcPts val="600"/>
              </a:spcAft>
            </a:pPr>
            <a:r>
              <a:rPr lang="zh-CN" altLang="en-US" dirty="0">
                <a:sym typeface="+mn-ea"/>
              </a:rPr>
              <a:t>而用</a:t>
            </a:r>
            <a:r>
              <a:rPr dirty="0" err="1">
                <a:sym typeface="+mn-ea"/>
              </a:rPr>
              <a:t>计算机测试方法发现错误时，通常需要先改正这个错误才能继续测试，因此，错误是一个一个地被发现并改正的</a:t>
            </a:r>
            <a:r>
              <a:rPr dirty="0">
                <a:sym typeface="+mn-ea"/>
              </a:rPr>
              <a:t>。</a:t>
            </a:r>
          </a:p>
        </p:txBody>
      </p:sp>
      <p:sp>
        <p:nvSpPr>
          <p:cNvPr id="10" name="TextBox 1"/>
          <p:cNvSpPr txBox="1">
            <a:spLocks noChangeArrowheads="1"/>
          </p:cNvSpPr>
          <p:nvPr/>
        </p:nvSpPr>
        <p:spPr bwMode="auto">
          <a:xfrm>
            <a:off x="809625" y="2091054"/>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1" name="直接连接符 10"/>
          <p:cNvCxnSpPr/>
          <p:nvPr/>
        </p:nvCxnSpPr>
        <p:spPr>
          <a:xfrm flipH="1">
            <a:off x="809625" y="2091054"/>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7"/>
          <p:cNvSpPr>
            <a:spLocks noChangeArrowheads="1"/>
          </p:cNvSpPr>
          <p:nvPr/>
        </p:nvSpPr>
        <p:spPr bwMode="auto">
          <a:xfrm>
            <a:off x="1262065" y="2186304"/>
            <a:ext cx="534345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程序审查会 </a:t>
            </a:r>
            <a:r>
              <a:rPr lang="en-US" altLang="en-US" b="1" dirty="0">
                <a:solidFill>
                  <a:srgbClr val="E67819"/>
                </a:solidFill>
                <a:latin typeface="微软雅黑" panose="020B0503020204020204" charset="-122"/>
                <a:ea typeface="微软雅黑" panose="020B0503020204020204" charset="-122"/>
              </a:rPr>
              <a:t>Program Inspections</a:t>
            </a:r>
            <a:endParaRPr lang="zh-CN" altLang="en-US" b="1" dirty="0">
              <a:solidFill>
                <a:srgbClr val="E67819"/>
              </a:solidFill>
              <a:latin typeface="微软雅黑" panose="020B0503020204020204" charset="-122"/>
              <a:ea typeface="微软雅黑" panose="020B0503020204020204" charset="-122"/>
            </a:endParaRPr>
          </a:p>
        </p:txBody>
      </p:sp>
    </p:spTree>
  </p:cSld>
  <p:clrMapOvr>
    <a:masterClrMapping/>
  </p:clrMapOvr>
  <p:transition>
    <p:wedg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6" name="文本占位符 5">
            <a:extLst>
              <a:ext uri="{FF2B5EF4-FFF2-40B4-BE49-F238E27FC236}">
                <a16:creationId xmlns:a16="http://schemas.microsoft.com/office/drawing/2014/main" id="{04BB4D03-696F-7A7B-9915-FC37BF0011BB}"/>
              </a:ext>
            </a:extLst>
          </p:cNvPr>
          <p:cNvSpPr>
            <a:spLocks noGrp="1"/>
          </p:cNvSpPr>
          <p:nvPr>
            <p:ph type="body" sz="quarter" idx="10"/>
          </p:nvPr>
        </p:nvSpPr>
        <p:spPr>
          <a:xfrm>
            <a:off x="696000" y="1322832"/>
            <a:ext cx="5400000" cy="400110"/>
          </a:xfrm>
        </p:spPr>
        <p:txBody>
          <a:bodyPr/>
          <a:lstStyle/>
          <a:p>
            <a:r>
              <a:rPr lang="en-US" altLang="zh-CN" dirty="0"/>
              <a:t>4.4.3 </a:t>
            </a:r>
            <a:r>
              <a:rPr lang="zh-CN" altLang="en-US" dirty="0">
                <a:sym typeface="+mn-ea"/>
              </a:rPr>
              <a:t>程序审查会和人工运行</a:t>
            </a:r>
            <a:endParaRPr lang="zh-CN" altLang="en-US" dirty="0"/>
          </a:p>
        </p:txBody>
      </p:sp>
      <p:sp>
        <p:nvSpPr>
          <p:cNvPr id="5" name="文本占位符 4">
            <a:extLst>
              <a:ext uri="{FF2B5EF4-FFF2-40B4-BE49-F238E27FC236}">
                <a16:creationId xmlns:a16="http://schemas.microsoft.com/office/drawing/2014/main" id="{89837CD1-91A3-C70B-0780-E0D715B8ACEC}"/>
              </a:ext>
            </a:extLst>
          </p:cNvPr>
          <p:cNvSpPr>
            <a:spLocks noGrp="1"/>
          </p:cNvSpPr>
          <p:nvPr>
            <p:ph type="body" sz="quarter" idx="11"/>
          </p:nvPr>
        </p:nvSpPr>
        <p:spPr/>
        <p:txBody>
          <a:bodyPr/>
          <a:lstStyle/>
          <a:p>
            <a:endParaRPr lang="zh-CN" altLang="en-US"/>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pic>
        <p:nvPicPr>
          <p:cNvPr id="11" name="图片 10" descr="A000220151021B28PPSH.png"/>
          <p:cNvPicPr>
            <a:picLocks noChangeAspect="1"/>
          </p:cNvPicPr>
          <p:nvPr/>
        </p:nvPicPr>
        <p:blipFill>
          <a:blip r:embed="rId3" cstate="print"/>
          <a:stretch>
            <a:fillRect/>
          </a:stretch>
        </p:blipFill>
        <p:spPr>
          <a:xfrm>
            <a:off x="334142" y="2246485"/>
            <a:ext cx="3780659" cy="3803642"/>
          </a:xfrm>
          <a:prstGeom prst="rect">
            <a:avLst/>
          </a:prstGeom>
        </p:spPr>
      </p:pic>
      <p:grpSp>
        <p:nvGrpSpPr>
          <p:cNvPr id="8" name="组合 6"/>
          <p:cNvGrpSpPr/>
          <p:nvPr/>
        </p:nvGrpSpPr>
        <p:grpSpPr>
          <a:xfrm>
            <a:off x="4574701" y="2227531"/>
            <a:ext cx="5795891" cy="590550"/>
            <a:chOff x="508000" y="3196191"/>
            <a:chExt cx="5795832" cy="590550"/>
          </a:xfrm>
        </p:grpSpPr>
        <p:sp>
          <p:nvSpPr>
            <p:cNvPr id="9"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7"/>
            <p:cNvSpPr>
              <a:spLocks noChangeArrowheads="1"/>
            </p:cNvSpPr>
            <p:nvPr/>
          </p:nvSpPr>
          <p:spPr bwMode="auto">
            <a:xfrm>
              <a:off x="960435" y="3291441"/>
              <a:ext cx="534339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人工运行 </a:t>
              </a:r>
              <a:r>
                <a:rPr lang="en-US" altLang="en-US" b="1" dirty="0">
                  <a:solidFill>
                    <a:srgbClr val="E67819"/>
                  </a:solidFill>
                  <a:latin typeface="微软雅黑" panose="020B0503020204020204" charset="-122"/>
                  <a:ea typeface="微软雅黑" panose="020B0503020204020204" charset="-122"/>
                </a:rPr>
                <a:t>Walkthroughs</a:t>
              </a:r>
              <a:endParaRPr lang="zh-CN" altLang="en-US" b="1" dirty="0">
                <a:solidFill>
                  <a:srgbClr val="E67819"/>
                </a:solidFill>
                <a:latin typeface="微软雅黑" panose="020B0503020204020204" charset="-122"/>
                <a:ea typeface="微软雅黑" panose="020B0503020204020204" charset="-122"/>
              </a:endParaRPr>
            </a:p>
          </p:txBody>
        </p:sp>
      </p:grpSp>
      <p:sp>
        <p:nvSpPr>
          <p:cNvPr id="17" name="文本框 16">
            <a:extLst>
              <a:ext uri="{FF2B5EF4-FFF2-40B4-BE49-F238E27FC236}">
                <a16:creationId xmlns:a16="http://schemas.microsoft.com/office/drawing/2014/main" id="{52A2BD9C-1DC7-0DE3-564D-A4C93B1BFCFE}"/>
              </a:ext>
            </a:extLst>
          </p:cNvPr>
          <p:cNvSpPr txBox="1"/>
          <p:nvPr/>
        </p:nvSpPr>
        <p:spPr>
          <a:xfrm>
            <a:off x="4574701" y="2925710"/>
            <a:ext cx="6840000" cy="3016788"/>
          </a:xfrm>
          <a:prstGeom prst="rect">
            <a:avLst/>
          </a:prstGeom>
          <a:noFill/>
        </p:spPr>
        <p:txBody>
          <a:bodyPr wrap="square" rtlCol="0">
            <a:spAutoFit/>
          </a:bodyPr>
          <a:lstStyle/>
          <a:p>
            <a:pPr indent="457200">
              <a:lnSpc>
                <a:spcPct val="130000"/>
              </a:lnSpc>
              <a:spcAft>
                <a:spcPts val="600"/>
              </a:spcAft>
            </a:pPr>
            <a:r>
              <a:rPr lang="zh-CN" altLang="en-US" dirty="0">
                <a:sym typeface="+mn-ea"/>
              </a:rPr>
              <a:t>人工运行也是阅读程序查错的一种方法，开会之前先</a:t>
            </a:r>
            <a:r>
              <a:rPr lang="zh-CN" altLang="en-US" dirty="0">
                <a:solidFill>
                  <a:srgbClr val="C00000"/>
                </a:solidFill>
                <a:sym typeface="+mn-ea"/>
              </a:rPr>
              <a:t>分发</a:t>
            </a:r>
            <a:r>
              <a:rPr lang="zh-CN" altLang="en-US" dirty="0">
                <a:sym typeface="+mn-ea"/>
              </a:rPr>
              <a:t>程序和文档。人工运行小组的成员由编程人员及其他有丰富经验的程序员、其他项目的参加者等人员组成。</a:t>
            </a:r>
          </a:p>
          <a:p>
            <a:pPr indent="457200">
              <a:lnSpc>
                <a:spcPct val="130000"/>
              </a:lnSpc>
              <a:spcAft>
                <a:spcPts val="600"/>
              </a:spcAft>
            </a:pPr>
            <a:r>
              <a:rPr lang="zh-CN" altLang="en-US" dirty="0">
                <a:sym typeface="+mn-ea"/>
              </a:rPr>
              <a:t>人工运行时，要求与会者模拟计算机运行程序，把各种测试情况沿着程序逻辑走一遍，通过向程序员询问程序的逻辑设计情况来发现错误。与会者应该评论程序，不要把错误看成是由于程序员的弱点而造成的，而应看成是由于程序开发困难而造成的。人工运行对与会者在程序设计风格、技巧方面的经验积累是很有益的。</a:t>
            </a:r>
          </a:p>
        </p:txBody>
      </p:sp>
    </p:spTree>
  </p:cSld>
  <p:clrMapOvr>
    <a:masterClrMapping/>
  </p:clrMapOvr>
  <p:transition>
    <p:wedg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8" name="文本占位符 7">
            <a:extLst>
              <a:ext uri="{FF2B5EF4-FFF2-40B4-BE49-F238E27FC236}">
                <a16:creationId xmlns:a16="http://schemas.microsoft.com/office/drawing/2014/main" id="{D81386DC-9A50-FEB8-BD7E-494F189538A1}"/>
              </a:ext>
            </a:extLst>
          </p:cNvPr>
          <p:cNvSpPr>
            <a:spLocks noGrp="1"/>
          </p:cNvSpPr>
          <p:nvPr>
            <p:ph type="body" sz="quarter" idx="10"/>
          </p:nvPr>
        </p:nvSpPr>
        <p:spPr>
          <a:xfrm>
            <a:off x="696000" y="1322832"/>
            <a:ext cx="11160000" cy="400110"/>
          </a:xfrm>
        </p:spPr>
        <p:txBody>
          <a:bodyPr/>
          <a:lstStyle/>
          <a:p>
            <a:r>
              <a:rPr lang="en-US" altLang="zh-CN" dirty="0"/>
              <a:t>4.4.4 </a:t>
            </a:r>
            <a:r>
              <a:rPr lang="zh-CN" altLang="en-US" dirty="0"/>
              <a:t>确认测试</a:t>
            </a:r>
          </a:p>
        </p:txBody>
      </p:sp>
      <p:sp>
        <p:nvSpPr>
          <p:cNvPr id="12" name="文本占位符 11">
            <a:extLst>
              <a:ext uri="{FF2B5EF4-FFF2-40B4-BE49-F238E27FC236}">
                <a16:creationId xmlns:a16="http://schemas.microsoft.com/office/drawing/2014/main" id="{3CD68A36-538B-9B7C-C65E-3C7696A6C827}"/>
              </a:ext>
            </a:extLst>
          </p:cNvPr>
          <p:cNvSpPr>
            <a:spLocks noGrp="1"/>
          </p:cNvSpPr>
          <p:nvPr>
            <p:ph type="body" sz="quarter" idx="11"/>
          </p:nvPr>
        </p:nvSpPr>
        <p:spPr/>
        <p:txBody>
          <a:bodyPr/>
          <a:lstStyle/>
          <a:p>
            <a:endParaRPr lang="zh-CN" altLang="en-US"/>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pic>
        <p:nvPicPr>
          <p:cNvPr id="2" name="图片 1" descr="A000220150318R98PPIC"/>
          <p:cNvPicPr>
            <a:picLocks noChangeAspect="1"/>
          </p:cNvPicPr>
          <p:nvPr/>
        </p:nvPicPr>
        <p:blipFill>
          <a:blip r:embed="rId3" cstate="print"/>
          <a:stretch>
            <a:fillRect/>
          </a:stretch>
        </p:blipFill>
        <p:spPr>
          <a:xfrm>
            <a:off x="535305" y="2065265"/>
            <a:ext cx="3392805" cy="3923030"/>
          </a:xfrm>
          <a:prstGeom prst="rect">
            <a:avLst/>
          </a:prstGeom>
        </p:spPr>
      </p:pic>
      <p:sp>
        <p:nvSpPr>
          <p:cNvPr id="13" name="文本框 12">
            <a:extLst>
              <a:ext uri="{FF2B5EF4-FFF2-40B4-BE49-F238E27FC236}">
                <a16:creationId xmlns:a16="http://schemas.microsoft.com/office/drawing/2014/main" id="{8FFB3BAA-2612-2565-A031-0A008773072B}"/>
              </a:ext>
            </a:extLst>
          </p:cNvPr>
          <p:cNvSpPr txBox="1"/>
          <p:nvPr/>
        </p:nvSpPr>
        <p:spPr>
          <a:xfrm>
            <a:off x="4899660" y="2065265"/>
            <a:ext cx="6156000" cy="1859035"/>
          </a:xfrm>
          <a:prstGeom prst="rect">
            <a:avLst/>
          </a:prstGeom>
          <a:noFill/>
        </p:spPr>
        <p:txBody>
          <a:bodyPr wrap="square" rtlCol="0">
            <a:spAutoFit/>
          </a:bodyPr>
          <a:lstStyle/>
          <a:p>
            <a:pPr indent="457200" algn="just">
              <a:lnSpc>
                <a:spcPct val="130000"/>
              </a:lnSpc>
            </a:pPr>
            <a:r>
              <a:rPr lang="zh-CN" altLang="en-US" dirty="0">
                <a:sym typeface="+mn-ea"/>
              </a:rPr>
              <a:t>确认测试的目的是验证所有的软件需求是否均被正确的实现。它是在软件开发过程结束时对软件进行评价，以确认它和软件需求分析阶段确定的指标是否一致。</a:t>
            </a:r>
            <a:endParaRPr lang="en-US" altLang="zh-CN" dirty="0">
              <a:sym typeface="+mn-ea"/>
            </a:endParaRPr>
          </a:p>
          <a:p>
            <a:pPr indent="457200" algn="just">
              <a:lnSpc>
                <a:spcPct val="130000"/>
              </a:lnSpc>
            </a:pPr>
            <a:r>
              <a:rPr lang="zh-CN" altLang="en-US" dirty="0">
                <a:sym typeface="+mn-ea"/>
              </a:rPr>
              <a:t>软件确认（</a:t>
            </a:r>
            <a:r>
              <a:rPr lang="en-US" altLang="zh-CN" dirty="0">
                <a:solidFill>
                  <a:srgbClr val="C00000"/>
                </a:solidFill>
                <a:sym typeface="+mn-ea"/>
              </a:rPr>
              <a:t>Validation</a:t>
            </a:r>
            <a:r>
              <a:rPr lang="zh-CN" altLang="en-US" dirty="0">
                <a:sym typeface="+mn-ea"/>
              </a:rPr>
              <a:t>）测试也称验收（</a:t>
            </a:r>
            <a:r>
              <a:rPr lang="en-US" altLang="zh-CN" dirty="0">
                <a:solidFill>
                  <a:srgbClr val="C00000"/>
                </a:solidFill>
                <a:sym typeface="+mn-ea"/>
              </a:rPr>
              <a:t>Verification</a:t>
            </a:r>
            <a:r>
              <a:rPr lang="zh-CN" altLang="en-US" dirty="0">
                <a:sym typeface="+mn-ea"/>
              </a:rPr>
              <a:t>）测试，其目标是验证软件的有效性。</a:t>
            </a:r>
          </a:p>
        </p:txBody>
      </p:sp>
      <p:graphicFrame>
        <p:nvGraphicFramePr>
          <p:cNvPr id="4" name="表格 3">
            <a:extLst>
              <a:ext uri="{FF2B5EF4-FFF2-40B4-BE49-F238E27FC236}">
                <a16:creationId xmlns:a16="http://schemas.microsoft.com/office/drawing/2014/main" id="{43F5F111-9CAF-42CC-D55B-239051C069CE}"/>
              </a:ext>
            </a:extLst>
          </p:cNvPr>
          <p:cNvGraphicFramePr>
            <a:graphicFrameLocks noGrp="1"/>
          </p:cNvGraphicFramePr>
          <p:nvPr>
            <p:extLst>
              <p:ext uri="{D42A27DB-BD31-4B8C-83A1-F6EECF244321}">
                <p14:modId xmlns:p14="http://schemas.microsoft.com/office/powerpoint/2010/main" val="57897863"/>
              </p:ext>
            </p:extLst>
          </p:nvPr>
        </p:nvGraphicFramePr>
        <p:xfrm>
          <a:off x="4899660" y="4026780"/>
          <a:ext cx="6155999" cy="1920240"/>
        </p:xfrm>
        <a:graphic>
          <a:graphicData uri="http://schemas.openxmlformats.org/drawingml/2006/table">
            <a:tbl>
              <a:tblPr/>
              <a:tblGrid>
                <a:gridCol w="1312832">
                  <a:extLst>
                    <a:ext uri="{9D8B030D-6E8A-4147-A177-3AD203B41FA5}">
                      <a16:colId xmlns:a16="http://schemas.microsoft.com/office/drawing/2014/main" val="13858299"/>
                    </a:ext>
                  </a:extLst>
                </a:gridCol>
                <a:gridCol w="2473708">
                  <a:extLst>
                    <a:ext uri="{9D8B030D-6E8A-4147-A177-3AD203B41FA5}">
                      <a16:colId xmlns:a16="http://schemas.microsoft.com/office/drawing/2014/main" val="941176414"/>
                    </a:ext>
                  </a:extLst>
                </a:gridCol>
                <a:gridCol w="2369459">
                  <a:extLst>
                    <a:ext uri="{9D8B030D-6E8A-4147-A177-3AD203B41FA5}">
                      <a16:colId xmlns:a16="http://schemas.microsoft.com/office/drawing/2014/main" val="443737686"/>
                    </a:ext>
                  </a:extLst>
                </a:gridCol>
              </a:tblGrid>
              <a:tr h="0">
                <a:tc>
                  <a:txBody>
                    <a:bodyPr/>
                    <a:lstStyle/>
                    <a:p>
                      <a:pPr algn="l">
                        <a:buNone/>
                      </a:pPr>
                      <a:r>
                        <a:rPr lang="zh-CN" altLang="en-US" sz="1600" dirty="0"/>
                        <a:t>特性</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验证 </a:t>
                      </a:r>
                      <a:r>
                        <a:rPr lang="en-US" altLang="zh-CN" sz="1600" dirty="0"/>
                        <a:t>(</a:t>
                      </a:r>
                      <a:r>
                        <a:rPr lang="en-US" sz="1600" dirty="0"/>
                        <a:t>Verification)</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确认 </a:t>
                      </a:r>
                      <a:r>
                        <a:rPr lang="en-US" altLang="zh-CN" sz="1600" dirty="0"/>
                        <a:t>(</a:t>
                      </a:r>
                      <a:r>
                        <a:rPr lang="en-US" sz="1600" dirty="0"/>
                        <a:t>Validation)</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54880891"/>
                  </a:ext>
                </a:extLst>
              </a:tr>
              <a:tr h="0">
                <a:tc>
                  <a:txBody>
                    <a:bodyPr/>
                    <a:lstStyle/>
                    <a:p>
                      <a:pPr algn="l">
                        <a:buNone/>
                      </a:pPr>
                      <a:r>
                        <a:rPr lang="zh-CN" altLang="en-US" sz="1600"/>
                        <a:t>核心问题</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是否正确地构建了产品</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是否构建了正确的产品</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3986531"/>
                  </a:ext>
                </a:extLst>
              </a:tr>
              <a:tr h="0">
                <a:tc>
                  <a:txBody>
                    <a:bodyPr/>
                    <a:lstStyle/>
                    <a:p>
                      <a:pPr algn="l">
                        <a:buNone/>
                      </a:pPr>
                      <a:r>
                        <a:rPr lang="zh-CN" altLang="en-US" sz="1600"/>
                        <a:t>关注焦点</a:t>
                      </a:r>
                    </a:p>
                  </a:txBody>
                  <a:tcPr anchor="ctr">
                    <a:lnL>
                      <a:noFill/>
                    </a:lnL>
                    <a:lnR>
                      <a:noFill/>
                    </a:lnR>
                    <a:lnT>
                      <a:noFill/>
                    </a:lnT>
                    <a:lnB>
                      <a:noFill/>
                    </a:lnB>
                    <a:noFill/>
                  </a:tcPr>
                </a:tc>
                <a:tc>
                  <a:txBody>
                    <a:bodyPr/>
                    <a:lstStyle/>
                    <a:p>
                      <a:pPr algn="l">
                        <a:buNone/>
                      </a:pPr>
                      <a:r>
                        <a:rPr lang="zh-CN" altLang="en-US" sz="1600"/>
                        <a:t>过程、规范、内部逻辑</a:t>
                      </a:r>
                    </a:p>
                  </a:txBody>
                  <a:tcPr anchor="ctr">
                    <a:lnL>
                      <a:noFill/>
                    </a:lnL>
                    <a:lnR>
                      <a:noFill/>
                    </a:lnR>
                    <a:lnT>
                      <a:noFill/>
                    </a:lnT>
                    <a:lnB>
                      <a:noFill/>
                    </a:lnB>
                    <a:noFill/>
                  </a:tcPr>
                </a:tc>
                <a:tc>
                  <a:txBody>
                    <a:bodyPr/>
                    <a:lstStyle/>
                    <a:p>
                      <a:pPr algn="l">
                        <a:buNone/>
                      </a:pPr>
                      <a:r>
                        <a:rPr lang="zh-CN" altLang="en-US" sz="1600"/>
                        <a:t>用户、需求、最终价值</a:t>
                      </a:r>
                    </a:p>
                  </a:txBody>
                  <a:tcPr anchor="ctr">
                    <a:lnL>
                      <a:noFill/>
                    </a:lnL>
                    <a:lnR>
                      <a:noFill/>
                    </a:lnR>
                    <a:lnT>
                      <a:noFill/>
                    </a:lnT>
                    <a:lnB>
                      <a:noFill/>
                    </a:lnB>
                    <a:noFill/>
                  </a:tcPr>
                </a:tc>
                <a:extLst>
                  <a:ext uri="{0D108BD9-81ED-4DB2-BD59-A6C34878D82A}">
                    <a16:rowId xmlns:a16="http://schemas.microsoft.com/office/drawing/2014/main" val="1270064158"/>
                  </a:ext>
                </a:extLst>
              </a:tr>
              <a:tr h="0">
                <a:tc>
                  <a:txBody>
                    <a:bodyPr/>
                    <a:lstStyle/>
                    <a:p>
                      <a:pPr algn="l">
                        <a:buNone/>
                      </a:pPr>
                      <a:r>
                        <a:rPr lang="zh-CN" altLang="en-US" sz="1600"/>
                        <a:t>主要手段</a:t>
                      </a:r>
                    </a:p>
                  </a:txBody>
                  <a:tcPr anchor="ctr">
                    <a:lnL>
                      <a:noFill/>
                    </a:lnL>
                    <a:lnR>
                      <a:noFill/>
                    </a:lnR>
                    <a:lnT>
                      <a:noFill/>
                    </a:lnT>
                    <a:lnB>
                      <a:noFill/>
                    </a:lnB>
                    <a:noFill/>
                  </a:tcPr>
                </a:tc>
                <a:tc>
                  <a:txBody>
                    <a:bodyPr/>
                    <a:lstStyle/>
                    <a:p>
                      <a:pPr algn="l">
                        <a:buNone/>
                      </a:pPr>
                      <a:r>
                        <a:rPr lang="zh-CN" altLang="en-US" sz="1600" dirty="0"/>
                        <a:t>评审、检查、静态分析、单元</a:t>
                      </a:r>
                      <a:r>
                        <a:rPr lang="en-US" altLang="zh-CN" sz="1600" dirty="0"/>
                        <a:t>/</a:t>
                      </a:r>
                      <a:r>
                        <a:rPr lang="zh-CN" altLang="en-US" sz="1600" dirty="0"/>
                        <a:t>集成测试</a:t>
                      </a:r>
                    </a:p>
                  </a:txBody>
                  <a:tcPr anchor="ctr">
                    <a:lnL>
                      <a:noFill/>
                    </a:lnL>
                    <a:lnR>
                      <a:noFill/>
                    </a:lnR>
                    <a:lnT>
                      <a:noFill/>
                    </a:lnT>
                    <a:lnB>
                      <a:noFill/>
                    </a:lnB>
                    <a:noFill/>
                  </a:tcPr>
                </a:tc>
                <a:tc>
                  <a:txBody>
                    <a:bodyPr/>
                    <a:lstStyle/>
                    <a:p>
                      <a:pPr algn="l">
                        <a:buNone/>
                      </a:pPr>
                      <a:r>
                        <a:rPr lang="zh-CN" altLang="en-US" sz="1600" dirty="0"/>
                        <a:t>动态测试、系统测试、用户验收测试</a:t>
                      </a:r>
                    </a:p>
                  </a:txBody>
                  <a:tcPr anchor="ctr">
                    <a:lnL>
                      <a:noFill/>
                    </a:lnL>
                    <a:lnR>
                      <a:noFill/>
                    </a:lnR>
                    <a:lnT>
                      <a:noFill/>
                    </a:lnT>
                    <a:lnB>
                      <a:noFill/>
                    </a:lnB>
                    <a:noFill/>
                  </a:tcPr>
                </a:tc>
                <a:extLst>
                  <a:ext uri="{0D108BD9-81ED-4DB2-BD59-A6C34878D82A}">
                    <a16:rowId xmlns:a16="http://schemas.microsoft.com/office/drawing/2014/main" val="155131515"/>
                  </a:ext>
                </a:extLst>
              </a:tr>
              <a:tr h="0">
                <a:tc>
                  <a:txBody>
                    <a:bodyPr/>
                    <a:lstStyle/>
                    <a:p>
                      <a:pPr algn="l">
                        <a:buNone/>
                      </a:pPr>
                      <a:r>
                        <a:rPr lang="zh-CN" altLang="en-US" sz="1600"/>
                        <a:t>执行时机</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贯穿整个开发过程</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主要在开发后期</a:t>
                      </a:r>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4302134"/>
                  </a:ext>
                </a:extLst>
              </a:tr>
            </a:tbl>
          </a:graphicData>
        </a:graphic>
      </p:graphicFrame>
    </p:spTree>
  </p:cSld>
  <p:clrMapOvr>
    <a:masterClrMapping/>
  </p:clrMapOvr>
  <p:transition>
    <p:wedg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5" name="文本占位符 4">
            <a:extLst>
              <a:ext uri="{FF2B5EF4-FFF2-40B4-BE49-F238E27FC236}">
                <a16:creationId xmlns:a16="http://schemas.microsoft.com/office/drawing/2014/main" id="{697F29B4-B7E7-394E-0805-4548F496AFD4}"/>
              </a:ext>
            </a:extLst>
          </p:cNvPr>
          <p:cNvSpPr>
            <a:spLocks noGrp="1"/>
          </p:cNvSpPr>
          <p:nvPr>
            <p:ph type="body" sz="quarter" idx="10"/>
          </p:nvPr>
        </p:nvSpPr>
        <p:spPr>
          <a:xfrm>
            <a:off x="696000" y="1322832"/>
            <a:ext cx="11160000" cy="400110"/>
          </a:xfrm>
        </p:spPr>
        <p:txBody>
          <a:bodyPr/>
          <a:lstStyle/>
          <a:p>
            <a:r>
              <a:rPr lang="en-US" altLang="zh-CN" dirty="0"/>
              <a:t>4.4.4 </a:t>
            </a:r>
            <a:r>
              <a:rPr lang="zh-CN" altLang="en-US" dirty="0"/>
              <a:t>确认测试</a:t>
            </a:r>
          </a:p>
        </p:txBody>
      </p:sp>
      <p:sp>
        <p:nvSpPr>
          <p:cNvPr id="9" name="文本占位符 8">
            <a:extLst>
              <a:ext uri="{FF2B5EF4-FFF2-40B4-BE49-F238E27FC236}">
                <a16:creationId xmlns:a16="http://schemas.microsoft.com/office/drawing/2014/main" id="{41A9FA6C-9022-6289-A724-AB7A5435598B}"/>
              </a:ext>
            </a:extLst>
          </p:cNvPr>
          <p:cNvSpPr>
            <a:spLocks noGrp="1"/>
          </p:cNvSpPr>
          <p:nvPr>
            <p:ph type="body" sz="quarter" idx="11"/>
          </p:nvPr>
        </p:nvSpPr>
        <p:spPr/>
        <p:txBody>
          <a:bodyPr/>
          <a:lstStyle/>
          <a:p>
            <a:endParaRPr lang="zh-CN" altLang="en-US"/>
          </a:p>
        </p:txBody>
      </p:sp>
      <p:sp>
        <p:nvSpPr>
          <p:cNvPr id="21" name="MH_Text_1"/>
          <p:cNvSpPr/>
          <p:nvPr>
            <p:custDataLst>
              <p:tags r:id="rId1"/>
            </p:custDataLst>
          </p:nvPr>
        </p:nvSpPr>
        <p:spPr>
          <a:xfrm>
            <a:off x="868680" y="3155896"/>
            <a:ext cx="10296000" cy="270192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spcAft>
                <a:spcPts val="600"/>
              </a:spcAft>
            </a:pPr>
            <a:r>
              <a:rPr lang="en-US" dirty="0">
                <a:latin typeface="+mn-ea"/>
                <a:sym typeface="+mn-ea"/>
              </a:rPr>
              <a:t>       </a:t>
            </a:r>
            <a:r>
              <a:rPr dirty="0">
                <a:latin typeface="+mn-ea"/>
                <a:sym typeface="+mn-ea"/>
              </a:rPr>
              <a:t>程序员经过反复测试检查不出问题后，在交付给用户使用之前，应该在用户的参与下进行确认测试。为了使用户能积极主动地参与确认测试，特别是为了让用户能有效地使用系统，通常在软件验收之前由开发部门对用户进行操作培训。</a:t>
            </a:r>
          </a:p>
          <a:p>
            <a:pPr marL="0" indent="0" algn="l" fontAlgn="auto">
              <a:lnSpc>
                <a:spcPct val="130000"/>
              </a:lnSpc>
              <a:spcAft>
                <a:spcPts val="600"/>
              </a:spcAft>
            </a:pPr>
            <a:r>
              <a:rPr dirty="0">
                <a:latin typeface="+mn-ea"/>
                <a:sym typeface="+mn-ea"/>
              </a:rPr>
              <a:t>       确认测试常使用黑盒法测试。确认测试时，主要使用实际数据进行系统运行，目的是验证系统能否满足用户的需求。这里常常会发现需求说明书中的一些错误，应当及时改正。确认测试若不能满足用户需要，需在与用户充分协商后，确定解决问题的方案，在修改软件后仍需再次进行确认测试。只有在确认测试通过后才能进入下一阶段工作。</a:t>
            </a:r>
            <a:endParaRPr lang="zh-CN" altLang="en-US" dirty="0">
              <a:latin typeface="+mn-ea"/>
              <a:cs typeface="宋体" panose="02010600030101010101" pitchFamily="2" charset="-122"/>
            </a:endParaRPr>
          </a:p>
        </p:txBody>
      </p:sp>
      <p:sp>
        <p:nvSpPr>
          <p:cNvPr id="22" name="MH_SubTitle_1"/>
          <p:cNvSpPr/>
          <p:nvPr>
            <p:custDataLst>
              <p:tags r:id="rId2"/>
            </p:custDataLst>
          </p:nvPr>
        </p:nvSpPr>
        <p:spPr>
          <a:xfrm>
            <a:off x="868680" y="2595508"/>
            <a:ext cx="7650480"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fontScale="95000"/>
          </a:bodyPr>
          <a:lstStyle/>
          <a:p>
            <a:pPr algn="ctr" eaLnBrk="1" fontAlgn="auto" hangingPunct="1">
              <a:spcBef>
                <a:spcPts val="0"/>
              </a:spcBef>
              <a:spcAft>
                <a:spcPts val="0"/>
              </a:spcAft>
              <a:defRPr/>
            </a:pPr>
            <a:r>
              <a:rPr lang="en-US" altLang="zh-CN" sz="2400" kern="0" dirty="0">
                <a:solidFill>
                  <a:srgbClr val="FFFFFF"/>
                </a:solidFill>
                <a:latin typeface="+mj-ea"/>
                <a:ea typeface="+mj-ea"/>
                <a:cs typeface="Times New Roman" panose="02020603050405020304" pitchFamily="18" charset="0"/>
              </a:rPr>
              <a:t>1.</a:t>
            </a:r>
            <a:r>
              <a:rPr lang="en-US" altLang="zh-CN" sz="2400" kern="0" dirty="0">
                <a:solidFill>
                  <a:srgbClr val="FFFFFF"/>
                </a:solidFill>
                <a:latin typeface="+mj-ea"/>
                <a:ea typeface="+mj-ea"/>
                <a:cs typeface="Times New Roman" panose="02020603050405020304" pitchFamily="18" charset="0"/>
                <a:sym typeface="+mn-ea"/>
              </a:rPr>
              <a:t>确认测试必须有用户积极参与，或以用户为主进行</a:t>
            </a:r>
            <a:endParaRPr lang="en-US" altLang="zh-CN" sz="2400" kern="0" dirty="0">
              <a:solidFill>
                <a:srgbClr val="FFFFFF"/>
              </a:solidFill>
              <a:latin typeface="+mj-ea"/>
              <a:ea typeface="+mj-ea"/>
              <a:cs typeface="Times New Roman" panose="02020603050405020304" pitchFamily="18" charset="0"/>
            </a:endParaRPr>
          </a:p>
        </p:txBody>
      </p:sp>
    </p:spTree>
  </p:cSld>
  <p:clrMapOvr>
    <a:masterClrMapping/>
  </p:clrMapOvr>
  <p:transition>
    <p:wedg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5" name="文本占位符 4">
            <a:extLst>
              <a:ext uri="{FF2B5EF4-FFF2-40B4-BE49-F238E27FC236}">
                <a16:creationId xmlns:a16="http://schemas.microsoft.com/office/drawing/2014/main" id="{50E4FEB0-8087-695D-54F1-BC4ED0F6DD38}"/>
              </a:ext>
            </a:extLst>
          </p:cNvPr>
          <p:cNvSpPr>
            <a:spLocks noGrp="1"/>
          </p:cNvSpPr>
          <p:nvPr>
            <p:ph type="body" sz="quarter" idx="10"/>
          </p:nvPr>
        </p:nvSpPr>
        <p:spPr>
          <a:xfrm>
            <a:off x="696000" y="1322832"/>
            <a:ext cx="11160000" cy="400110"/>
          </a:xfrm>
        </p:spPr>
        <p:txBody>
          <a:bodyPr/>
          <a:lstStyle/>
          <a:p>
            <a:r>
              <a:rPr lang="en-US" altLang="zh-CN" dirty="0"/>
              <a:t>4.4.4 </a:t>
            </a:r>
            <a:r>
              <a:rPr lang="zh-CN" altLang="en-US" dirty="0"/>
              <a:t>确认测试</a:t>
            </a:r>
          </a:p>
        </p:txBody>
      </p:sp>
      <p:sp>
        <p:nvSpPr>
          <p:cNvPr id="9" name="文本占位符 8">
            <a:extLst>
              <a:ext uri="{FF2B5EF4-FFF2-40B4-BE49-F238E27FC236}">
                <a16:creationId xmlns:a16="http://schemas.microsoft.com/office/drawing/2014/main" id="{4BB04C7D-FB2C-58C5-8BA0-7A03B8840413}"/>
              </a:ext>
            </a:extLst>
          </p:cNvPr>
          <p:cNvSpPr>
            <a:spLocks noGrp="1"/>
          </p:cNvSpPr>
          <p:nvPr>
            <p:ph type="body" sz="quarter" idx="11"/>
          </p:nvPr>
        </p:nvSpPr>
        <p:spPr/>
        <p:txBody>
          <a:bodyPr/>
          <a:lstStyle/>
          <a:p>
            <a:endParaRPr lang="zh-CN" altLang="en-US"/>
          </a:p>
        </p:txBody>
      </p:sp>
      <p:sp>
        <p:nvSpPr>
          <p:cNvPr id="21" name="MH_Text_1"/>
          <p:cNvSpPr/>
          <p:nvPr>
            <p:custDataLst>
              <p:tags r:id="rId1"/>
            </p:custDataLst>
          </p:nvPr>
        </p:nvSpPr>
        <p:spPr>
          <a:xfrm>
            <a:off x="948000" y="3169860"/>
            <a:ext cx="10296000" cy="217233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dirty="0">
                <a:latin typeface="+mn-ea"/>
                <a:sym typeface="+mn-ea"/>
              </a:rPr>
              <a:t>       确认测试的一个重要内容是复审软件配置。复审的目的是保证软件配置的所有成分都齐全，各方面的质量都符合要求，文档与程序一致，要编排好文档目录，以利于维护。</a:t>
            </a:r>
          </a:p>
          <a:p>
            <a:pPr marL="0" indent="0" algn="l" fontAlgn="auto">
              <a:lnSpc>
                <a:spcPct val="130000"/>
              </a:lnSpc>
            </a:pPr>
            <a:r>
              <a:rPr dirty="0">
                <a:latin typeface="+mn-ea"/>
                <a:sym typeface="+mn-ea"/>
              </a:rPr>
              <a:t>确认测试过程要严格遵循用户手册及其他操作程序，以便仔细检验用户手册的完整性和正确性。一旦发现遗漏或错误必须记录下来，并进行补充或改正。</a:t>
            </a:r>
          </a:p>
        </p:txBody>
      </p:sp>
      <p:sp>
        <p:nvSpPr>
          <p:cNvPr id="22" name="MH_SubTitle_1"/>
          <p:cNvSpPr/>
          <p:nvPr>
            <p:custDataLst>
              <p:tags r:id="rId2"/>
            </p:custDataLst>
          </p:nvPr>
        </p:nvSpPr>
        <p:spPr>
          <a:xfrm>
            <a:off x="948000" y="2609155"/>
            <a:ext cx="7045364"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kern="0" dirty="0">
                <a:solidFill>
                  <a:srgbClr val="FFFFFF"/>
                </a:solidFill>
                <a:latin typeface="+mj-ea"/>
                <a:ea typeface="+mj-ea"/>
                <a:cs typeface="Times New Roman" panose="02020603050405020304" pitchFamily="18" charset="0"/>
              </a:rPr>
              <a:t>2.</a:t>
            </a:r>
            <a:r>
              <a:rPr lang="en-US" altLang="zh-CN" sz="2400" kern="0" dirty="0">
                <a:solidFill>
                  <a:srgbClr val="FFFFFF"/>
                </a:solidFill>
                <a:latin typeface="+mj-ea"/>
                <a:ea typeface="+mj-ea"/>
                <a:cs typeface="Times New Roman" panose="02020603050405020304" pitchFamily="18" charset="0"/>
                <a:sym typeface="+mn-ea"/>
              </a:rPr>
              <a:t>软件配置复审</a:t>
            </a:r>
          </a:p>
        </p:txBody>
      </p:sp>
    </p:spTree>
  </p:cSld>
  <p:clrMapOvr>
    <a:masterClrMapping/>
  </p:clrMapOvr>
  <p:transition>
    <p:wedg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dirty="0"/>
              <a:t>软件测试步骤</a:t>
            </a:r>
          </a:p>
        </p:txBody>
      </p:sp>
      <p:sp>
        <p:nvSpPr>
          <p:cNvPr id="5" name="文本占位符 4">
            <a:extLst>
              <a:ext uri="{FF2B5EF4-FFF2-40B4-BE49-F238E27FC236}">
                <a16:creationId xmlns:a16="http://schemas.microsoft.com/office/drawing/2014/main" id="{16F2D627-201C-5BD5-8589-D207E860E117}"/>
              </a:ext>
            </a:extLst>
          </p:cNvPr>
          <p:cNvSpPr>
            <a:spLocks noGrp="1"/>
          </p:cNvSpPr>
          <p:nvPr>
            <p:ph type="body" sz="quarter" idx="10"/>
          </p:nvPr>
        </p:nvSpPr>
        <p:spPr>
          <a:xfrm>
            <a:off x="696000" y="1322832"/>
            <a:ext cx="11160000" cy="400110"/>
          </a:xfrm>
        </p:spPr>
        <p:txBody>
          <a:bodyPr/>
          <a:lstStyle/>
          <a:p>
            <a:r>
              <a:rPr lang="en-US" altLang="zh-CN" dirty="0"/>
              <a:t>4.4.4 </a:t>
            </a:r>
            <a:r>
              <a:rPr lang="zh-CN" altLang="en-US" dirty="0"/>
              <a:t>确认测试</a:t>
            </a:r>
          </a:p>
        </p:txBody>
      </p:sp>
      <p:sp>
        <p:nvSpPr>
          <p:cNvPr id="6" name="文本占位符 5">
            <a:extLst>
              <a:ext uri="{FF2B5EF4-FFF2-40B4-BE49-F238E27FC236}">
                <a16:creationId xmlns:a16="http://schemas.microsoft.com/office/drawing/2014/main" id="{37C48EC7-8546-18EA-46E3-BF561F754DEC}"/>
              </a:ext>
            </a:extLst>
          </p:cNvPr>
          <p:cNvSpPr>
            <a:spLocks noGrp="1"/>
          </p:cNvSpPr>
          <p:nvPr>
            <p:ph type="body" sz="quarter" idx="11"/>
          </p:nvPr>
        </p:nvSpPr>
        <p:spPr/>
        <p:txBody>
          <a:bodyPr/>
          <a:lstStyle/>
          <a:p>
            <a:endParaRPr lang="zh-CN" altLang="en-US"/>
          </a:p>
        </p:txBody>
      </p:sp>
      <p:sp>
        <p:nvSpPr>
          <p:cNvPr id="21" name="MH_Text_1"/>
          <p:cNvSpPr/>
          <p:nvPr>
            <p:custDataLst>
              <p:tags r:id="rId1"/>
            </p:custDataLst>
          </p:nvPr>
        </p:nvSpPr>
        <p:spPr>
          <a:xfrm>
            <a:off x="948000" y="2775213"/>
            <a:ext cx="10296000" cy="3249295"/>
          </a:xfrm>
          <a:prstGeom prst="rect">
            <a:avLst/>
          </a:prstGeom>
          <a:noFill/>
          <a:ln w="12700" cap="flat" cmpd="sng" algn="ctr">
            <a:solidFill>
              <a:srgbClr val="CC0066"/>
            </a:solidFill>
            <a:prstDash val="solid"/>
            <a:miter lim="800000"/>
          </a:ln>
          <a:effectLst/>
        </p:spPr>
        <p:txBody>
          <a:bodyPr anchor="ctr">
            <a:normAutofit/>
          </a:bodyPr>
          <a:lstStyle/>
          <a:p>
            <a:pPr marL="0" indent="0" algn="just" fontAlgn="auto">
              <a:lnSpc>
                <a:spcPct val="130000"/>
              </a:lnSpc>
              <a:spcAft>
                <a:spcPts val="600"/>
              </a:spcAft>
            </a:pPr>
            <a:r>
              <a:rPr lang="en-US" dirty="0">
                <a:latin typeface="+mn-ea"/>
                <a:sym typeface="+mn-ea"/>
              </a:rPr>
              <a:t>       </a:t>
            </a:r>
            <a:r>
              <a:rPr dirty="0" err="1">
                <a:latin typeface="+mn-ea"/>
                <a:sym typeface="+mn-ea"/>
              </a:rPr>
              <a:t>如果软件是为一个客户开发的，则由用户进行一系列确认测试，以便用户确认所有的需求都得到了满足</a:t>
            </a:r>
            <a:r>
              <a:rPr dirty="0">
                <a:latin typeface="+mn-ea"/>
                <a:sym typeface="+mn-ea"/>
              </a:rPr>
              <a:t>。</a:t>
            </a:r>
          </a:p>
          <a:p>
            <a:pPr marL="0" indent="0" algn="just" fontAlgn="auto">
              <a:lnSpc>
                <a:spcPct val="130000"/>
              </a:lnSpc>
              <a:spcAft>
                <a:spcPts val="600"/>
              </a:spcAft>
            </a:pPr>
            <a:r>
              <a:rPr dirty="0">
                <a:latin typeface="+mn-ea"/>
                <a:sym typeface="+mn-ea"/>
              </a:rPr>
              <a:t>       如果一个软件是为许多客户开发的，要让每一个用户都进行正式的确认测试是不切实际的。大多数软件厂商使用Alpha测试和Beta测试的过程来发现往往只有最终用户才能发现的错误。</a:t>
            </a:r>
          </a:p>
          <a:p>
            <a:pPr marL="0" indent="0" algn="just" fontAlgn="auto">
              <a:lnSpc>
                <a:spcPct val="130000"/>
              </a:lnSpc>
              <a:spcAft>
                <a:spcPts val="600"/>
              </a:spcAft>
            </a:pPr>
            <a:r>
              <a:rPr dirty="0">
                <a:latin typeface="+mn-ea"/>
                <a:sym typeface="+mn-ea"/>
              </a:rPr>
              <a:t>       Alpha</a:t>
            </a:r>
            <a:r>
              <a:rPr lang="en-US" dirty="0">
                <a:latin typeface="+mn-ea"/>
                <a:sym typeface="+mn-ea"/>
              </a:rPr>
              <a:t> </a:t>
            </a:r>
            <a:r>
              <a:rPr dirty="0" err="1">
                <a:latin typeface="+mn-ea"/>
                <a:sym typeface="+mn-ea"/>
              </a:rPr>
              <a:t>测试由用户在开发者的场地进行，在开发者的指导下进行测试。开发者负责记录运行错误和运行中遇到的问题</a:t>
            </a:r>
            <a:r>
              <a:rPr dirty="0">
                <a:latin typeface="+mn-ea"/>
                <a:sym typeface="+mn-ea"/>
              </a:rPr>
              <a:t>。</a:t>
            </a:r>
          </a:p>
          <a:p>
            <a:pPr marL="0" indent="0" algn="just" fontAlgn="auto">
              <a:lnSpc>
                <a:spcPct val="130000"/>
              </a:lnSpc>
              <a:spcAft>
                <a:spcPts val="600"/>
              </a:spcAft>
            </a:pPr>
            <a:r>
              <a:rPr dirty="0">
                <a:latin typeface="+mn-ea"/>
                <a:sym typeface="+mn-ea"/>
              </a:rPr>
              <a:t>       Beta</a:t>
            </a:r>
            <a:r>
              <a:rPr lang="en-US" dirty="0">
                <a:latin typeface="+mn-ea"/>
                <a:sym typeface="+mn-ea"/>
              </a:rPr>
              <a:t> </a:t>
            </a:r>
            <a:r>
              <a:rPr dirty="0" err="1">
                <a:latin typeface="+mn-ea"/>
                <a:sym typeface="+mn-ea"/>
              </a:rPr>
              <a:t>测试由软件的最终用户在客户场所进行。用户记录测试过程遇到的一切问题，并定期报告开发者。开发者对软件进行修改，准备发布最终产品</a:t>
            </a:r>
            <a:r>
              <a:rPr dirty="0">
                <a:latin typeface="+mn-ea"/>
                <a:sym typeface="+mn-ea"/>
              </a:rPr>
              <a:t>。</a:t>
            </a:r>
            <a:endParaRPr lang="zh-CN" altLang="en-US" dirty="0">
              <a:latin typeface="+mn-ea"/>
              <a:cs typeface="宋体" panose="02010600030101010101" pitchFamily="2" charset="-122"/>
            </a:endParaRPr>
          </a:p>
        </p:txBody>
      </p:sp>
      <p:sp>
        <p:nvSpPr>
          <p:cNvPr id="22" name="MH_SubTitle_1"/>
          <p:cNvSpPr/>
          <p:nvPr>
            <p:custDataLst>
              <p:tags r:id="rId2"/>
            </p:custDataLst>
          </p:nvPr>
        </p:nvSpPr>
        <p:spPr>
          <a:xfrm>
            <a:off x="948000" y="2214508"/>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kern="0" dirty="0">
                <a:solidFill>
                  <a:srgbClr val="FFFFFF"/>
                </a:solidFill>
                <a:latin typeface="+mj-ea"/>
                <a:ea typeface="+mj-ea"/>
                <a:cs typeface="Times New Roman" panose="02020603050405020304" pitchFamily="18" charset="0"/>
              </a:rPr>
              <a:t>3.</a:t>
            </a:r>
            <a:r>
              <a:rPr lang="en-US" altLang="zh-CN" sz="2400" kern="0" dirty="0">
                <a:solidFill>
                  <a:srgbClr val="FFFFFF"/>
                </a:solidFill>
                <a:latin typeface="+mj-ea"/>
                <a:ea typeface="+mj-ea"/>
                <a:cs typeface="Times New Roman" panose="02020603050405020304" pitchFamily="18" charset="0"/>
                <a:sym typeface="+mn-ea"/>
              </a:rPr>
              <a:t>Alpha测试和Beta测试</a:t>
            </a:r>
            <a:endParaRPr lang="en-US" altLang="zh-CN" sz="2400" kern="0" dirty="0">
              <a:solidFill>
                <a:srgbClr val="FFFFFF"/>
              </a:solidFill>
              <a:latin typeface="+mj-ea"/>
              <a:ea typeface="+mj-ea"/>
              <a:cs typeface="Times New Roman" panose="02020603050405020304" pitchFamily="18" charset="0"/>
            </a:endParaRPr>
          </a:p>
        </p:txBody>
      </p:sp>
    </p:spTree>
  </p:cSld>
  <p:clrMapOvr>
    <a:masterClrMapping/>
  </p:clrMapOvr>
  <p:transition>
    <p:wedg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4.4 </a:t>
            </a:r>
            <a:r>
              <a:rPr lang="zh-CN" altLang="en-US" dirty="0"/>
              <a:t>软件测试步骤</a:t>
            </a:r>
          </a:p>
        </p:txBody>
      </p:sp>
      <p:sp>
        <p:nvSpPr>
          <p:cNvPr id="6" name="文本占位符 5">
            <a:extLst>
              <a:ext uri="{FF2B5EF4-FFF2-40B4-BE49-F238E27FC236}">
                <a16:creationId xmlns:a16="http://schemas.microsoft.com/office/drawing/2014/main" id="{13FC8A79-7DAB-B1C1-8431-F8341B77E71A}"/>
              </a:ext>
            </a:extLst>
          </p:cNvPr>
          <p:cNvSpPr>
            <a:spLocks noGrp="1"/>
          </p:cNvSpPr>
          <p:nvPr>
            <p:ph type="body" sz="quarter" idx="10"/>
          </p:nvPr>
        </p:nvSpPr>
        <p:spPr>
          <a:xfrm>
            <a:off x="696000" y="1322832"/>
            <a:ext cx="5400000" cy="400110"/>
          </a:xfrm>
        </p:spPr>
        <p:txBody>
          <a:bodyPr/>
          <a:lstStyle/>
          <a:p>
            <a:r>
              <a:rPr lang="en-US" altLang="zh-CN" dirty="0"/>
              <a:t>4.4.5 </a:t>
            </a:r>
            <a:r>
              <a:rPr lang="zh-CN" altLang="en-US" dirty="0"/>
              <a:t>平行运行</a:t>
            </a:r>
          </a:p>
        </p:txBody>
      </p:sp>
      <p:sp>
        <p:nvSpPr>
          <p:cNvPr id="5" name="文本占位符 4">
            <a:extLst>
              <a:ext uri="{FF2B5EF4-FFF2-40B4-BE49-F238E27FC236}">
                <a16:creationId xmlns:a16="http://schemas.microsoft.com/office/drawing/2014/main" id="{DD72CF73-984A-5E8A-F629-42EB314AAEF2}"/>
              </a:ext>
            </a:extLst>
          </p:cNvPr>
          <p:cNvSpPr>
            <a:spLocks noGrp="1"/>
          </p:cNvSpPr>
          <p:nvPr>
            <p:ph type="body" sz="quarter" idx="11"/>
          </p:nvPr>
        </p:nvSpPr>
        <p:spPr/>
        <p:txBody>
          <a:bodyPr/>
          <a:lstStyle/>
          <a:p>
            <a:endParaRPr lang="zh-CN" altLang="en-US"/>
          </a:p>
        </p:txBody>
      </p:sp>
      <p:sp>
        <p:nvSpPr>
          <p:cNvPr id="25" name="MH_SubTitle_2"/>
          <p:cNvSpPr/>
          <p:nvPr/>
        </p:nvSpPr>
        <p:spPr>
          <a:xfrm>
            <a:off x="1053815" y="2939095"/>
            <a:ext cx="4865370" cy="1025604"/>
          </a:xfrm>
          <a:prstGeom prst="rect">
            <a:avLst/>
          </a:prstGeom>
          <a:solidFill>
            <a:srgbClr val="FFF6D9"/>
          </a:solidFill>
          <a:ln w="25400" cap="flat" cmpd="sng" algn="ctr">
            <a:noFill/>
            <a:prstDash val="solid"/>
          </a:ln>
          <a:effectLst/>
        </p:spPr>
        <p:txBody>
          <a:bodyPr rIns="216000"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30000"/>
              </a:lnSpc>
              <a:buClrTx/>
            </a:pPr>
            <a:r>
              <a:rPr dirty="0" err="1">
                <a:sym typeface="+mn-ea"/>
              </a:rPr>
              <a:t>让用户熟悉系统运行情况，并验证用户手册的正确性</a:t>
            </a:r>
            <a:r>
              <a:rPr dirty="0">
                <a:sym typeface="+mn-ea"/>
              </a:rPr>
              <a:t>。</a:t>
            </a:r>
            <a:endParaRPr lang="zh-CN" altLang="en-US" dirty="0"/>
          </a:p>
        </p:txBody>
      </p:sp>
      <p:sp>
        <p:nvSpPr>
          <p:cNvPr id="26" name="MH_Other_1"/>
          <p:cNvSpPr/>
          <p:nvPr/>
        </p:nvSpPr>
        <p:spPr>
          <a:xfrm flipH="1">
            <a:off x="5719160" y="2939095"/>
            <a:ext cx="1319530"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b="1" kern="0" dirty="0">
                <a:solidFill>
                  <a:srgbClr val="FFFFFF"/>
                </a:solidFill>
                <a:latin typeface="+mj-lt"/>
                <a:ea typeface="微软雅黑 Light" panose="020B0502040204020203" pitchFamily="34" charset="-122"/>
              </a:rPr>
              <a:t>01</a:t>
            </a:r>
            <a:endParaRPr lang="zh-CN" altLang="en-US" sz="3200" b="1" kern="0" dirty="0">
              <a:solidFill>
                <a:srgbClr val="FFFFFF"/>
              </a:solidFill>
              <a:latin typeface="+mj-lt"/>
              <a:ea typeface="微软雅黑 Light" panose="020B0502040204020203" pitchFamily="34" charset="-122"/>
            </a:endParaRPr>
          </a:p>
        </p:txBody>
      </p:sp>
      <p:sp>
        <p:nvSpPr>
          <p:cNvPr id="27" name="MH_SubTitle_1"/>
          <p:cNvSpPr/>
          <p:nvPr/>
        </p:nvSpPr>
        <p:spPr>
          <a:xfrm>
            <a:off x="5898865" y="1912221"/>
            <a:ext cx="5372735" cy="1026874"/>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fontAlgn="auto" hangingPunct="1">
              <a:spcBef>
                <a:spcPts val="0"/>
              </a:spcBef>
              <a:spcAft>
                <a:spcPts val="0"/>
              </a:spcAft>
              <a:defRPr/>
            </a:pPr>
            <a:r>
              <a:rPr lang="en-US" dirty="0">
                <a:sym typeface="+mn-ea"/>
              </a:rPr>
              <a:t>       </a:t>
            </a:r>
            <a:r>
              <a:rPr dirty="0" err="1">
                <a:sym typeface="+mn-ea"/>
              </a:rPr>
              <a:t>比较重要的软件要有一段试运行时间。此时新开发的系统与原先的老系统（或手工操作）</a:t>
            </a:r>
            <a:r>
              <a:rPr dirty="0" err="1">
                <a:solidFill>
                  <a:srgbClr val="C00000"/>
                </a:solidFill>
                <a:sym typeface="+mn-ea"/>
              </a:rPr>
              <a:t>同时</a:t>
            </a:r>
            <a:r>
              <a:rPr dirty="0" err="1">
                <a:sym typeface="+mn-ea"/>
              </a:rPr>
              <a:t>运行</a:t>
            </a:r>
            <a:r>
              <a:rPr lang="en-US" dirty="0">
                <a:sym typeface="+mn-ea"/>
              </a:rPr>
              <a:t> - </a:t>
            </a:r>
            <a:r>
              <a:rPr dirty="0" err="1">
                <a:sym typeface="+mn-ea"/>
              </a:rPr>
              <a:t>平行运行</a:t>
            </a:r>
            <a:r>
              <a:rPr dirty="0">
                <a:sym typeface="+mn-ea"/>
              </a:rPr>
              <a:t>。</a:t>
            </a:r>
            <a:r>
              <a:rPr lang="zh-CN" altLang="en-US" dirty="0">
                <a:sym typeface="+mn-ea"/>
              </a:rPr>
              <a:t>运行的优点如下：</a:t>
            </a:r>
          </a:p>
        </p:txBody>
      </p:sp>
      <p:sp>
        <p:nvSpPr>
          <p:cNvPr id="28" name="MH_Other_2"/>
          <p:cNvSpPr/>
          <p:nvPr/>
        </p:nvSpPr>
        <p:spPr>
          <a:xfrm>
            <a:off x="4771740" y="1912221"/>
            <a:ext cx="1318895" cy="102687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zh-CN" altLang="en-US" sz="2400" kern="0" dirty="0">
                <a:solidFill>
                  <a:srgbClr val="FFFFFF"/>
                </a:solidFill>
                <a:latin typeface="+mj-ea"/>
                <a:ea typeface="+mj-ea"/>
              </a:rPr>
              <a:t>含义</a:t>
            </a:r>
          </a:p>
        </p:txBody>
      </p:sp>
      <p:sp>
        <p:nvSpPr>
          <p:cNvPr id="5126" name="MH_SubTitle_4"/>
          <p:cNvSpPr>
            <a:spLocks noChangeArrowheads="1"/>
          </p:cNvSpPr>
          <p:nvPr/>
        </p:nvSpPr>
        <p:spPr bwMode="auto">
          <a:xfrm>
            <a:off x="1053815" y="4993479"/>
            <a:ext cx="4865370" cy="1025604"/>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auto">
              <a:lnSpc>
                <a:spcPct val="130000"/>
              </a:lnSpc>
              <a:buClrTx/>
            </a:pPr>
            <a:r>
              <a:rPr dirty="0" err="1">
                <a:sym typeface="+mn-ea"/>
              </a:rPr>
              <a:t>对系统的性能指标进行全面测试，以保证系统的质量</a:t>
            </a:r>
            <a:r>
              <a:rPr dirty="0">
                <a:sym typeface="+mn-ea"/>
              </a:rPr>
              <a:t>。</a:t>
            </a:r>
            <a:endParaRPr lang="zh-CN" altLang="en-US" dirty="0"/>
          </a:p>
        </p:txBody>
      </p:sp>
      <p:sp>
        <p:nvSpPr>
          <p:cNvPr id="36" name="MH_Other_3"/>
          <p:cNvSpPr/>
          <p:nvPr/>
        </p:nvSpPr>
        <p:spPr>
          <a:xfrm flipH="1">
            <a:off x="5719160" y="4993479"/>
            <a:ext cx="1319530"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b="1" kern="0" dirty="0">
                <a:solidFill>
                  <a:srgbClr val="FFFFFF"/>
                </a:solidFill>
                <a:latin typeface="+mj-lt"/>
                <a:ea typeface="微软雅黑 Light" panose="020B0502040204020203" pitchFamily="34" charset="-122"/>
              </a:rPr>
              <a:t>03</a:t>
            </a:r>
            <a:endParaRPr lang="zh-CN" altLang="en-US" sz="3200" b="1" kern="0" dirty="0">
              <a:solidFill>
                <a:srgbClr val="FFFFFF"/>
              </a:solidFill>
              <a:latin typeface="+mj-lt"/>
              <a:ea typeface="微软雅黑 Light" panose="020B0502040204020203" pitchFamily="34" charset="-122"/>
            </a:endParaRPr>
          </a:p>
        </p:txBody>
      </p:sp>
      <p:sp>
        <p:nvSpPr>
          <p:cNvPr id="5128" name="MH_SubTitle_3"/>
          <p:cNvSpPr>
            <a:spLocks noChangeArrowheads="1"/>
          </p:cNvSpPr>
          <p:nvPr/>
        </p:nvSpPr>
        <p:spPr bwMode="auto">
          <a:xfrm>
            <a:off x="5898865" y="3967875"/>
            <a:ext cx="5372735" cy="1025604"/>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auto">
              <a:lnSpc>
                <a:spcPct val="130000"/>
              </a:lnSpc>
              <a:buClrTx/>
            </a:pPr>
            <a:r>
              <a:rPr dirty="0" err="1">
                <a:sym typeface="+mn-ea"/>
              </a:rPr>
              <a:t>若发现问题，及时对系统进行修改</a:t>
            </a:r>
            <a:r>
              <a:rPr dirty="0">
                <a:sym typeface="+mn-ea"/>
              </a:rPr>
              <a:t>。</a:t>
            </a:r>
            <a:endParaRPr lang="zh-CN" altLang="en-US" dirty="0"/>
          </a:p>
        </p:txBody>
      </p:sp>
      <p:sp>
        <p:nvSpPr>
          <p:cNvPr id="38" name="MH_Other_4"/>
          <p:cNvSpPr/>
          <p:nvPr/>
        </p:nvSpPr>
        <p:spPr>
          <a:xfrm>
            <a:off x="4771740" y="3967875"/>
            <a:ext cx="1318895"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3200" b="1" kern="0">
                <a:solidFill>
                  <a:srgbClr val="FFFFFF"/>
                </a:solidFill>
                <a:latin typeface="+mj-lt"/>
                <a:ea typeface="微软雅黑 Light" panose="020B0502040204020203" pitchFamily="34" charset="-122"/>
              </a:rPr>
              <a:t>0</a:t>
            </a:r>
            <a:r>
              <a:rPr lang="en-US" altLang="zh-CN" sz="3200" b="1" kern="0" dirty="0">
                <a:solidFill>
                  <a:srgbClr val="FFFFFF"/>
                </a:solidFill>
                <a:latin typeface="+mj-lt"/>
                <a:ea typeface="微软雅黑 Light" panose="020B0502040204020203" pitchFamily="34" charset="-122"/>
              </a:rPr>
              <a:t>2</a:t>
            </a:r>
            <a:endParaRPr lang="zh-CN" altLang="en-US" sz="3200" b="1" kern="0" dirty="0">
              <a:solidFill>
                <a:srgbClr val="FFFFFF"/>
              </a:solidFill>
              <a:latin typeface="+mj-lt"/>
              <a:ea typeface="微软雅黑 Light" panose="020B0502040204020203" pitchFamily="34" charset="-122"/>
            </a:endParaRPr>
          </a:p>
        </p:txBody>
      </p:sp>
      <p:sp>
        <p:nvSpPr>
          <p:cNvPr id="7" name="文本框 6">
            <a:extLst>
              <a:ext uri="{FF2B5EF4-FFF2-40B4-BE49-F238E27FC236}">
                <a16:creationId xmlns:a16="http://schemas.microsoft.com/office/drawing/2014/main" id="{D3D83971-65D8-532E-41B5-61D27D849704}"/>
              </a:ext>
            </a:extLst>
          </p:cNvPr>
          <p:cNvSpPr txBox="1"/>
          <p:nvPr/>
        </p:nvSpPr>
        <p:spPr>
          <a:xfrm>
            <a:off x="3530950" y="2246347"/>
            <a:ext cx="1107996" cy="369332"/>
          </a:xfrm>
          <a:prstGeom prst="rect">
            <a:avLst/>
          </a:prstGeom>
          <a:noFill/>
        </p:spPr>
        <p:txBody>
          <a:bodyPr wrap="none" rtlCol="0">
            <a:spAutoFit/>
          </a:bodyPr>
          <a:lstStyle/>
          <a:p>
            <a:pPr algn="just"/>
            <a:r>
              <a:rPr lang="zh-CN" altLang="en-US" dirty="0">
                <a:solidFill>
                  <a:srgbClr val="77BA27"/>
                </a:solidFill>
                <a:latin typeface="+mj-ea"/>
                <a:ea typeface="+mj-ea"/>
              </a:rPr>
              <a:t>双重验证</a:t>
            </a:r>
            <a:endParaRPr lang="en-US" altLang="zh-CN" dirty="0">
              <a:solidFill>
                <a:srgbClr val="77BA27"/>
              </a:solidFill>
              <a:latin typeface="+mj-ea"/>
              <a:ea typeface="+mj-ea"/>
            </a:endParaRPr>
          </a:p>
        </p:txBody>
      </p:sp>
    </p:spTree>
  </p:cSld>
  <p:clrMapOvr>
    <a:masterClrMapping/>
  </p:clrMapOvr>
  <p:transition>
    <p:wedg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4.4 </a:t>
            </a:r>
            <a:r>
              <a:rPr lang="zh-CN" altLang="en-US"/>
              <a:t>软件测试步骤</a:t>
            </a:r>
          </a:p>
        </p:txBody>
      </p:sp>
      <p:sp>
        <p:nvSpPr>
          <p:cNvPr id="5" name="文本占位符 4">
            <a:extLst>
              <a:ext uri="{FF2B5EF4-FFF2-40B4-BE49-F238E27FC236}">
                <a16:creationId xmlns:a16="http://schemas.microsoft.com/office/drawing/2014/main" id="{8B3BAABD-9F0C-0315-AC97-A48618F619BE}"/>
              </a:ext>
            </a:extLst>
          </p:cNvPr>
          <p:cNvSpPr>
            <a:spLocks noGrp="1"/>
          </p:cNvSpPr>
          <p:nvPr>
            <p:ph type="body" sz="quarter" idx="10"/>
          </p:nvPr>
        </p:nvSpPr>
        <p:spPr>
          <a:xfrm>
            <a:off x="696000" y="1322832"/>
            <a:ext cx="11160000" cy="400110"/>
          </a:xfrm>
        </p:spPr>
        <p:txBody>
          <a:bodyPr/>
          <a:lstStyle/>
          <a:p>
            <a:r>
              <a:rPr lang="zh-CN" altLang="en-US" dirty="0"/>
              <a:t>总结</a:t>
            </a:r>
          </a:p>
        </p:txBody>
      </p:sp>
      <p:sp>
        <p:nvSpPr>
          <p:cNvPr id="13" name="文本占位符 12">
            <a:extLst>
              <a:ext uri="{FF2B5EF4-FFF2-40B4-BE49-F238E27FC236}">
                <a16:creationId xmlns:a16="http://schemas.microsoft.com/office/drawing/2014/main" id="{A78F2010-DFBA-0511-7665-72F99B87F48F}"/>
              </a:ext>
            </a:extLst>
          </p:cNvPr>
          <p:cNvSpPr>
            <a:spLocks noGrp="1"/>
          </p:cNvSpPr>
          <p:nvPr>
            <p:ph type="body" sz="quarter" idx="11"/>
          </p:nvPr>
        </p:nvSpPr>
        <p:spPr/>
        <p:txBody>
          <a:bodyPr/>
          <a:lstStyle/>
          <a:p>
            <a:endParaRPr lang="zh-CN" altLang="en-US"/>
          </a:p>
        </p:txBody>
      </p:sp>
      <p:sp>
        <p:nvSpPr>
          <p:cNvPr id="100" name="文本框 99"/>
          <p:cNvSpPr txBox="1"/>
          <p:nvPr/>
        </p:nvSpPr>
        <p:spPr>
          <a:xfrm>
            <a:off x="695325" y="2054225"/>
            <a:ext cx="10650220" cy="3016788"/>
          </a:xfrm>
          <a:prstGeom prst="rect">
            <a:avLst/>
          </a:prstGeom>
          <a:noFill/>
          <a:ln w="9525">
            <a:noFill/>
          </a:ln>
        </p:spPr>
        <p:txBody>
          <a:bodyPr wrap="square">
            <a:spAutoFit/>
          </a:bodyPr>
          <a:lstStyle/>
          <a:p>
            <a:pPr marL="0" indent="0" algn="just" fontAlgn="auto">
              <a:lnSpc>
                <a:spcPct val="130000"/>
              </a:lnSpc>
              <a:spcAft>
                <a:spcPts val="600"/>
              </a:spcAft>
            </a:pPr>
            <a:r>
              <a:rPr lang="en-US" dirty="0">
                <a:latin typeface="+mn-ea"/>
                <a:sym typeface="+mn-ea"/>
              </a:rPr>
              <a:t>       </a:t>
            </a:r>
            <a:r>
              <a:rPr dirty="0">
                <a:latin typeface="+mn-ea"/>
                <a:sym typeface="+mn-ea"/>
              </a:rPr>
              <a:t>G．M．Weinberg在《计算机程序设计心理学》（The Psychology of Computer Programming）一书中提出了读程序的必要性，20世纪70年代后，人们不仅在机器上测试程序，而且进行人工测试，即用程序审查会和人工运行的方法查找错误。实践证明，这两种基本的人工测试方法相当有效。对逻辑设计和编码，上述方法能有效地发现30%～70%的错误，有的程序审查会能查出程序中80%的错误。</a:t>
            </a:r>
          </a:p>
          <a:p>
            <a:pPr marL="0" indent="0" algn="just" fontAlgn="auto">
              <a:lnSpc>
                <a:spcPct val="130000"/>
              </a:lnSpc>
              <a:spcAft>
                <a:spcPts val="600"/>
              </a:spcAft>
            </a:pPr>
            <a:r>
              <a:rPr dirty="0">
                <a:latin typeface="+mn-ea"/>
                <a:sym typeface="+mn-ea"/>
              </a:rPr>
              <a:t>       以上介绍的测试步骤，可根据系统的规模大小、复杂程度来适当选用。一般先进行模块测试再进行集成测试。对规模较小的系统，子系统测试可与系统测试合并；人工运行可在模块测试及系统测试过程中进行。对于任何系统，验收测试都是必不可少的。对于较大的系统，应召开程序审查会；对于重要的软件系统，应采用平行运行，以免因软件的错误造成不良后果。</a:t>
            </a:r>
          </a:p>
        </p:txBody>
      </p:sp>
    </p:spTree>
  </p:cSld>
  <p:clrMapOvr>
    <a:masterClrMapping/>
  </p:clrMapOvr>
  <p:transition>
    <p:wedg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555" y="2935102"/>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设计软件测试方案</a:t>
            </a:r>
          </a:p>
        </p:txBody>
      </p:sp>
      <p:sp>
        <p:nvSpPr>
          <p:cNvPr id="48" name="文本框 47"/>
          <p:cNvSpPr txBox="1"/>
          <p:nvPr/>
        </p:nvSpPr>
        <p:spPr>
          <a:xfrm>
            <a:off x="5502910" y="422402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等价类划分法</a:t>
            </a:r>
          </a:p>
        </p:txBody>
      </p:sp>
      <p:sp>
        <p:nvSpPr>
          <p:cNvPr id="50" name="文本框 49"/>
          <p:cNvSpPr txBox="1"/>
          <p:nvPr/>
        </p:nvSpPr>
        <p:spPr>
          <a:xfrm>
            <a:off x="5502910" y="471932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边界值分析法</a:t>
            </a:r>
          </a:p>
        </p:txBody>
      </p:sp>
      <p:sp>
        <p:nvSpPr>
          <p:cNvPr id="5" name="文本框 4"/>
          <p:cNvSpPr txBox="1"/>
          <p:nvPr/>
        </p:nvSpPr>
        <p:spPr>
          <a:xfrm>
            <a:off x="5502910" y="522986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错误推测法</a:t>
            </a:r>
          </a:p>
        </p:txBody>
      </p:sp>
      <p:sp>
        <p:nvSpPr>
          <p:cNvPr id="6" name="文本框 5"/>
          <p:cNvSpPr txBox="1"/>
          <p:nvPr/>
        </p:nvSpPr>
        <p:spPr>
          <a:xfrm>
            <a:off x="5502910" y="572516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逻辑覆盖法</a:t>
            </a:r>
          </a:p>
        </p:txBody>
      </p:sp>
      <p:sp>
        <p:nvSpPr>
          <p:cNvPr id="8" name="文本框 7"/>
          <p:cNvSpPr txBox="1"/>
          <p:nvPr/>
        </p:nvSpPr>
        <p:spPr>
          <a:xfrm>
            <a:off x="7882255" y="422402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程序环形复杂程度的度量</a:t>
            </a:r>
          </a:p>
        </p:txBody>
      </p:sp>
      <p:sp>
        <p:nvSpPr>
          <p:cNvPr id="9" name="文本框 8"/>
          <p:cNvSpPr txBox="1"/>
          <p:nvPr/>
        </p:nvSpPr>
        <p:spPr>
          <a:xfrm>
            <a:off x="7882255" y="4719320"/>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因果图法</a:t>
            </a:r>
          </a:p>
        </p:txBody>
      </p:sp>
      <p:sp>
        <p:nvSpPr>
          <p:cNvPr id="13" name="文本框 12"/>
          <p:cNvSpPr txBox="1"/>
          <p:nvPr/>
        </p:nvSpPr>
        <p:spPr>
          <a:xfrm>
            <a:off x="7882255" y="5229860"/>
            <a:ext cx="418782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用基本路径覆盖法设计测试用例</a:t>
            </a:r>
          </a:p>
        </p:txBody>
      </p:sp>
      <p:sp>
        <p:nvSpPr>
          <p:cNvPr id="3" name="椭圆 2">
            <a:extLst>
              <a:ext uri="{FF2B5EF4-FFF2-40B4-BE49-F238E27FC236}">
                <a16:creationId xmlns:a16="http://schemas.microsoft.com/office/drawing/2014/main" id="{E2FE6C87-D911-0533-4093-2156C7A150FD}"/>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05</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6" name="文本占位符 5">
            <a:extLst>
              <a:ext uri="{FF2B5EF4-FFF2-40B4-BE49-F238E27FC236}">
                <a16:creationId xmlns:a16="http://schemas.microsoft.com/office/drawing/2014/main" id="{122C24D1-F2D4-809B-2023-5EEDEE7737B8}"/>
              </a:ext>
            </a:extLst>
          </p:cNvPr>
          <p:cNvSpPr>
            <a:spLocks noGrp="1"/>
          </p:cNvSpPr>
          <p:nvPr>
            <p:ph type="body" sz="quarter" idx="10"/>
          </p:nvPr>
        </p:nvSpPr>
        <p:spPr/>
        <p:txBody>
          <a:bodyPr/>
          <a:lstStyle/>
          <a:p>
            <a:r>
              <a:rPr lang="zh-CN" altLang="en-US" dirty="0"/>
              <a:t>引言</a:t>
            </a:r>
          </a:p>
        </p:txBody>
      </p:sp>
      <p:sp>
        <p:nvSpPr>
          <p:cNvPr id="8" name="文本占位符 7">
            <a:extLst>
              <a:ext uri="{FF2B5EF4-FFF2-40B4-BE49-F238E27FC236}">
                <a16:creationId xmlns:a16="http://schemas.microsoft.com/office/drawing/2014/main" id="{88D6C76D-2AE9-28C9-49EC-D8D947DC641E}"/>
              </a:ext>
            </a:extLst>
          </p:cNvPr>
          <p:cNvSpPr>
            <a:spLocks noGrp="1"/>
          </p:cNvSpPr>
          <p:nvPr>
            <p:ph type="body" sz="quarter" idx="11"/>
          </p:nvPr>
        </p:nvSpPr>
        <p:spPr/>
        <p:txBody>
          <a:bodyPr/>
          <a:lstStyle/>
          <a:p>
            <a:r>
              <a:rPr lang="en-US" altLang="zh-CN" dirty="0"/>
              <a:t>Schema</a:t>
            </a:r>
            <a:endParaRPr lang="zh-CN" altLang="en-US" dirty="0"/>
          </a:p>
        </p:txBody>
      </p:sp>
      <p:sp>
        <p:nvSpPr>
          <p:cNvPr id="100" name="文本框 99"/>
          <p:cNvSpPr txBox="1"/>
          <p:nvPr/>
        </p:nvSpPr>
        <p:spPr>
          <a:xfrm>
            <a:off x="695999" y="1964954"/>
            <a:ext cx="5904000" cy="2773131"/>
          </a:xfrm>
          <a:prstGeom prst="rect">
            <a:avLst/>
          </a:prstGeom>
          <a:noFill/>
          <a:ln w="9525">
            <a:noFill/>
          </a:ln>
        </p:spPr>
        <p:txBody>
          <a:bodyPr wrap="square">
            <a:spAutoFit/>
          </a:bodyPr>
          <a:lstStyle/>
          <a:p>
            <a:pPr marL="0" indent="457200" fontAlgn="auto">
              <a:lnSpc>
                <a:spcPct val="130000"/>
              </a:lnSpc>
              <a:spcAft>
                <a:spcPts val="600"/>
              </a:spcAft>
            </a:pPr>
            <a:r>
              <a:rPr dirty="0" err="1">
                <a:sym typeface="+mn-ea"/>
              </a:rPr>
              <a:t>软件测试阶段最关键的技术问题是设计测试方案。测试方案包括</a:t>
            </a:r>
            <a:r>
              <a:rPr lang="zh-CN" altLang="en-US" dirty="0">
                <a:sym typeface="+mn-ea"/>
              </a:rPr>
              <a:t>三</a:t>
            </a:r>
            <a:r>
              <a:rPr dirty="0" err="1">
                <a:sym typeface="+mn-ea"/>
              </a:rPr>
              <a:t>方面的内容：</a:t>
            </a:r>
            <a:r>
              <a:rPr dirty="0" err="1">
                <a:solidFill>
                  <a:srgbClr val="C00000"/>
                </a:solidFill>
                <a:sym typeface="+mn-ea"/>
              </a:rPr>
              <a:t>要测试的功能</a:t>
            </a:r>
            <a:r>
              <a:rPr dirty="0" err="1">
                <a:sym typeface="+mn-ea"/>
              </a:rPr>
              <a:t>、准备</a:t>
            </a:r>
            <a:r>
              <a:rPr dirty="0" err="1">
                <a:solidFill>
                  <a:srgbClr val="C00000"/>
                </a:solidFill>
                <a:sym typeface="+mn-ea"/>
              </a:rPr>
              <a:t>输入的数据</a:t>
            </a:r>
            <a:r>
              <a:rPr dirty="0" err="1">
                <a:sym typeface="+mn-ea"/>
              </a:rPr>
              <a:t>及其对应的预期</a:t>
            </a:r>
            <a:r>
              <a:rPr dirty="0" err="1">
                <a:solidFill>
                  <a:srgbClr val="C00000"/>
                </a:solidFill>
                <a:sym typeface="+mn-ea"/>
              </a:rPr>
              <a:t>输出结果</a:t>
            </a:r>
            <a:r>
              <a:rPr dirty="0">
                <a:sym typeface="+mn-ea"/>
              </a:rPr>
              <a:t>。</a:t>
            </a:r>
          </a:p>
          <a:p>
            <a:pPr marL="0" indent="457200" fontAlgn="auto">
              <a:lnSpc>
                <a:spcPct val="130000"/>
              </a:lnSpc>
              <a:spcAft>
                <a:spcPts val="600"/>
              </a:spcAft>
            </a:pPr>
            <a:r>
              <a:rPr dirty="0" err="1">
                <a:sym typeface="+mn-ea"/>
              </a:rPr>
              <a:t>不同的测试数据在发现程序错误上所起的作用差别很大。由于不可能进行穷尽测试，因而要选用少量高效的测试数据，尽可能完善地进行测试</a:t>
            </a:r>
            <a:r>
              <a:rPr dirty="0">
                <a:sym typeface="+mn-ea"/>
              </a:rPr>
              <a:t>。</a:t>
            </a:r>
            <a:endParaRPr lang="en-US" dirty="0">
              <a:sym typeface="+mn-ea"/>
            </a:endParaRPr>
          </a:p>
          <a:p>
            <a:pPr indent="457200">
              <a:lnSpc>
                <a:spcPct val="130000"/>
              </a:lnSpc>
              <a:spcAft>
                <a:spcPts val="600"/>
              </a:spcAft>
            </a:pPr>
            <a:r>
              <a:rPr lang="zh-CN" altLang="en-US" dirty="0">
                <a:sym typeface="+mn-ea"/>
              </a:rPr>
              <a:t>通常先用黑盒法设计基本测试方案，再用白盒法补充</a:t>
            </a:r>
            <a:endParaRPr dirty="0">
              <a:sym typeface="+mn-ea"/>
            </a:endParaRPr>
          </a:p>
        </p:txBody>
      </p:sp>
      <p:pic>
        <p:nvPicPr>
          <p:cNvPr id="109570" name="图片 1" descr="指挥.jpg"/>
          <p:cNvPicPr>
            <a:picLocks noGrp="1" noChangeAspect="1"/>
          </p:cNvPicPr>
          <p:nvPr/>
        </p:nvPicPr>
        <p:blipFill>
          <a:blip r:embed="rId3" cstate="print"/>
          <a:stretch>
            <a:fillRect/>
          </a:stretch>
        </p:blipFill>
        <p:spPr>
          <a:xfrm>
            <a:off x="6859270" y="2057400"/>
            <a:ext cx="4730750" cy="2956560"/>
          </a:xfrm>
          <a:prstGeom prst="rect">
            <a:avLst/>
          </a:prstGeom>
          <a:noFill/>
          <a:ln w="9525">
            <a:noFill/>
          </a:ln>
        </p:spPr>
      </p:pic>
      <p:sp>
        <p:nvSpPr>
          <p:cNvPr id="4" name="文本框 3"/>
          <p:cNvSpPr txBox="1"/>
          <p:nvPr/>
        </p:nvSpPr>
        <p:spPr>
          <a:xfrm>
            <a:off x="1000801" y="4720109"/>
            <a:ext cx="8714700" cy="778739"/>
          </a:xfrm>
          <a:prstGeom prst="rect">
            <a:avLst/>
          </a:prstGeom>
          <a:noFill/>
        </p:spPr>
        <p:txBody>
          <a:bodyPr wrap="square" rtlCol="0">
            <a:spAutoFit/>
          </a:bodyPr>
          <a:lstStyle/>
          <a:p>
            <a:pPr marL="180000" indent="-180000" fontAlgn="auto">
              <a:lnSpc>
                <a:spcPct val="130000"/>
              </a:lnSpc>
              <a:buFont typeface="Arial" panose="020B0604020202020204" pitchFamily="34" charset="0"/>
              <a:buChar char="•"/>
            </a:pPr>
            <a:r>
              <a:rPr lang="zh-CN" altLang="en-US" dirty="0">
                <a:sym typeface="+mn-ea"/>
              </a:rPr>
              <a:t>适用于黑盒法测试：等价类划分法、边界值分析法、错误推测法</a:t>
            </a:r>
          </a:p>
          <a:p>
            <a:pPr marL="180000" indent="-180000" fontAlgn="auto">
              <a:lnSpc>
                <a:spcPct val="130000"/>
              </a:lnSpc>
              <a:buFont typeface="Arial" panose="020B0604020202020204" pitchFamily="34" charset="0"/>
              <a:buChar char="•"/>
            </a:pPr>
            <a:r>
              <a:rPr lang="zh-CN" altLang="en-US" dirty="0">
                <a:sym typeface="+mn-ea"/>
              </a:rPr>
              <a:t>适用于白盒法测试：逻辑覆盖法、因果图法</a:t>
            </a:r>
            <a:endParaRPr lang="zh-CN" altLang="en-US" dirty="0"/>
          </a:p>
        </p:txBody>
      </p:sp>
    </p:spTree>
  </p:cSld>
  <p:clrMapOvr>
    <a:masterClrMapping/>
  </p:clrMapOvr>
  <p:transition>
    <p:pull dir="rd"/>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972675" cy="5443220"/>
          </a:xfrm>
          <a:prstGeom prst="rect">
            <a:avLst/>
          </a:prstGeom>
          <a:noFill/>
          <a:ln w="9525">
            <a:noFill/>
          </a:ln>
        </p:spPr>
      </p:pic>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p>
        </p:txBody>
      </p:sp>
      <p:sp>
        <p:nvSpPr>
          <p:cNvPr id="5" name="文本占位符 4">
            <a:extLst>
              <a:ext uri="{FF2B5EF4-FFF2-40B4-BE49-F238E27FC236}">
                <a16:creationId xmlns:a16="http://schemas.microsoft.com/office/drawing/2014/main" id="{3BE793EA-21B3-77A0-513D-98A6265CF00D}"/>
              </a:ext>
            </a:extLst>
          </p:cNvPr>
          <p:cNvSpPr>
            <a:spLocks noGrp="1"/>
          </p:cNvSpPr>
          <p:nvPr>
            <p:ph type="body" sz="quarter" idx="10"/>
          </p:nvPr>
        </p:nvSpPr>
        <p:spPr>
          <a:xfrm>
            <a:off x="696000" y="1322832"/>
            <a:ext cx="5400000" cy="400110"/>
          </a:xfrm>
        </p:spPr>
        <p:txBody>
          <a:bodyPr/>
          <a:lstStyle/>
          <a:p>
            <a:r>
              <a:rPr lang="en-US" altLang="zh-CN" dirty="0"/>
              <a:t>4.5.1 </a:t>
            </a:r>
            <a:r>
              <a:rPr lang="zh-CN" altLang="en-US" dirty="0"/>
              <a:t>等价类划分法 Equivalence Partitioning </a:t>
            </a:r>
          </a:p>
        </p:txBody>
      </p:sp>
      <p:sp>
        <p:nvSpPr>
          <p:cNvPr id="6" name="文本占位符 5">
            <a:extLst>
              <a:ext uri="{FF2B5EF4-FFF2-40B4-BE49-F238E27FC236}">
                <a16:creationId xmlns:a16="http://schemas.microsoft.com/office/drawing/2014/main" id="{63443EDB-47D1-3730-481D-2A18D9AA9936}"/>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35" name="文本框 34"/>
          <p:cNvSpPr txBox="1"/>
          <p:nvPr/>
        </p:nvSpPr>
        <p:spPr>
          <a:xfrm>
            <a:off x="2366645" y="2727960"/>
            <a:ext cx="5983605" cy="1859035"/>
          </a:xfrm>
          <a:prstGeom prst="rect">
            <a:avLst/>
          </a:prstGeom>
          <a:noFill/>
        </p:spPr>
        <p:txBody>
          <a:bodyPr wrap="square" rtlCol="0" anchor="t">
            <a:spAutoFit/>
          </a:bodyPr>
          <a:lstStyle/>
          <a:p>
            <a:pPr>
              <a:lnSpc>
                <a:spcPct val="130000"/>
              </a:lnSpc>
            </a:pPr>
            <a:r>
              <a:rPr lang="zh-CN" altLang="en-US" dirty="0"/>
              <a:t>等价类划分法是用</a:t>
            </a:r>
            <a:r>
              <a:rPr lang="zh-CN" altLang="en-US" dirty="0">
                <a:solidFill>
                  <a:srgbClr val="FF0000"/>
                </a:solidFill>
              </a:rPr>
              <a:t>黑盒法</a:t>
            </a:r>
            <a:r>
              <a:rPr lang="zh-CN" altLang="en-US" dirty="0"/>
              <a:t>设计测试方案的一种。</a:t>
            </a:r>
            <a:endParaRPr lang="en-US" altLang="zh-CN" dirty="0"/>
          </a:p>
          <a:p>
            <a:pPr>
              <a:lnSpc>
                <a:spcPct val="130000"/>
              </a:lnSpc>
            </a:pPr>
            <a:r>
              <a:rPr lang="zh-CN" altLang="en-US" dirty="0"/>
              <a:t>把所有可能的输入数据划分成若干等价类，每类中的一个典型值在测试中的作用与这一类中所有其他值的作用相同，因此在每个等价类中只用一组数据作为代表进行测试来发现程序中的错误。</a:t>
            </a:r>
          </a:p>
        </p:txBody>
      </p:sp>
    </p:spTree>
  </p:cSld>
  <p:clrMapOvr>
    <a:masterClrMapping/>
  </p:clrMapOvr>
  <p:transition>
    <p:pull dir="rd"/>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p>
        </p:txBody>
      </p:sp>
      <p:sp>
        <p:nvSpPr>
          <p:cNvPr id="16" name="文本占位符 15">
            <a:extLst>
              <a:ext uri="{FF2B5EF4-FFF2-40B4-BE49-F238E27FC236}">
                <a16:creationId xmlns:a16="http://schemas.microsoft.com/office/drawing/2014/main" id="{62B8BC36-CC2F-5719-F512-43194966186F}"/>
              </a:ext>
            </a:extLst>
          </p:cNvPr>
          <p:cNvSpPr>
            <a:spLocks noGrp="1"/>
          </p:cNvSpPr>
          <p:nvPr>
            <p:ph type="body" sz="quarter" idx="10"/>
          </p:nvPr>
        </p:nvSpPr>
        <p:spPr>
          <a:xfrm>
            <a:off x="696000" y="1322832"/>
            <a:ext cx="5400000" cy="400110"/>
          </a:xfrm>
        </p:spPr>
        <p:txBody>
          <a:bodyPr/>
          <a:lstStyle/>
          <a:p>
            <a:r>
              <a:rPr lang="en-US" altLang="zh-CN" dirty="0"/>
              <a:t>4.5.1 </a:t>
            </a:r>
            <a:r>
              <a:rPr lang="zh-CN" altLang="en-US" dirty="0"/>
              <a:t>等价类划分法 Equivalence Partitioning </a:t>
            </a:r>
          </a:p>
        </p:txBody>
      </p:sp>
      <p:sp>
        <p:nvSpPr>
          <p:cNvPr id="15" name="文本占位符 14">
            <a:extLst>
              <a:ext uri="{FF2B5EF4-FFF2-40B4-BE49-F238E27FC236}">
                <a16:creationId xmlns:a16="http://schemas.microsoft.com/office/drawing/2014/main" id="{8812198D-D422-84B8-1BA3-B831AB3DB808}"/>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4" name="MH_Other_1"/>
          <p:cNvSpPr>
            <a:spLocks noChangeArrowheads="1"/>
          </p:cNvSpPr>
          <p:nvPr>
            <p:custDataLst>
              <p:tags r:id="rId1"/>
            </p:custDataLst>
          </p:nvPr>
        </p:nvSpPr>
        <p:spPr bwMode="auto">
          <a:xfrm>
            <a:off x="754380" y="3062693"/>
            <a:ext cx="673100" cy="50482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01</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5" name="MH_Other_2"/>
          <p:cNvSpPr>
            <a:spLocks noChangeArrowheads="1"/>
          </p:cNvSpPr>
          <p:nvPr>
            <p:custDataLst>
              <p:tags r:id="rId2"/>
            </p:custDataLst>
          </p:nvPr>
        </p:nvSpPr>
        <p:spPr bwMode="auto">
          <a:xfrm>
            <a:off x="1465580" y="3167468"/>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6" name="MH_Other_3"/>
          <p:cNvSpPr>
            <a:spLocks noChangeArrowheads="1"/>
          </p:cNvSpPr>
          <p:nvPr>
            <p:custDataLst>
              <p:tags r:id="rId3"/>
            </p:custDataLst>
          </p:nvPr>
        </p:nvSpPr>
        <p:spPr bwMode="auto">
          <a:xfrm>
            <a:off x="906780" y="3596093"/>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7" name="MH_Other_4"/>
          <p:cNvSpPr>
            <a:spLocks noChangeArrowheads="1"/>
          </p:cNvSpPr>
          <p:nvPr>
            <p:custDataLst>
              <p:tags r:id="rId4"/>
            </p:custDataLst>
          </p:nvPr>
        </p:nvSpPr>
        <p:spPr bwMode="auto">
          <a:xfrm>
            <a:off x="1465580" y="3596093"/>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8" name="MH_SubTitle_1"/>
          <p:cNvSpPr/>
          <p:nvPr>
            <p:custDataLst>
              <p:tags r:id="rId5"/>
            </p:custDataLst>
          </p:nvPr>
        </p:nvSpPr>
        <p:spPr>
          <a:xfrm>
            <a:off x="2246630" y="2715982"/>
            <a:ext cx="3420000" cy="1488018"/>
          </a:xfrm>
          <a:prstGeom prst="rect">
            <a:avLst/>
          </a:prstGeom>
        </p:spPr>
        <p:txBody>
          <a:bodyPr lIns="72000" tIns="72000" rIns="72000" bIns="72000" anchor="ctr">
            <a:spAutoFit/>
          </a:bodyPr>
          <a:lstStyle/>
          <a:p>
            <a:pPr algn="just">
              <a:lnSpc>
                <a:spcPct val="140000"/>
              </a:lnSpc>
              <a:defRPr/>
            </a:pPr>
            <a:r>
              <a:rPr lang="en-US" altLang="zh-CN" sz="1600" dirty="0">
                <a:solidFill>
                  <a:srgbClr val="000000"/>
                </a:solidFill>
                <a:sym typeface="+mn-ea"/>
              </a:rPr>
              <a:t>       </a:t>
            </a:r>
            <a:r>
              <a:rPr lang="zh-CN" altLang="en-US" sz="1600" dirty="0">
                <a:solidFill>
                  <a:srgbClr val="000000"/>
                </a:solidFill>
                <a:sym typeface="+mn-ea"/>
              </a:rPr>
              <a:t>如果输入数据有规定的</a:t>
            </a:r>
            <a:r>
              <a:rPr lang="zh-CN" altLang="en-US" sz="1600" dirty="0">
                <a:solidFill>
                  <a:srgbClr val="C00000"/>
                </a:solidFill>
                <a:latin typeface="+mj-ea"/>
                <a:ea typeface="+mj-ea"/>
                <a:sym typeface="+mn-ea"/>
              </a:rPr>
              <a:t>范围</a:t>
            </a:r>
            <a:r>
              <a:rPr lang="zh-CN" altLang="en-US" sz="1600" dirty="0">
                <a:solidFill>
                  <a:srgbClr val="000000"/>
                </a:solidFill>
                <a:sym typeface="+mn-ea"/>
              </a:rPr>
              <a:t>，则范围内的数据为一个有效等价类；小于最小值或大于最大值分别为两个无效等价类。</a:t>
            </a:r>
          </a:p>
        </p:txBody>
      </p:sp>
      <p:sp>
        <p:nvSpPr>
          <p:cNvPr id="9" name="MH_Other_5"/>
          <p:cNvSpPr>
            <a:spLocks noChangeArrowheads="1"/>
          </p:cNvSpPr>
          <p:nvPr>
            <p:custDataLst>
              <p:tags r:id="rId6"/>
            </p:custDataLst>
          </p:nvPr>
        </p:nvSpPr>
        <p:spPr bwMode="auto">
          <a:xfrm>
            <a:off x="6207760" y="3062693"/>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03</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10" name="MH_Other_6"/>
          <p:cNvSpPr>
            <a:spLocks noChangeArrowheads="1"/>
          </p:cNvSpPr>
          <p:nvPr>
            <p:custDataLst>
              <p:tags r:id="rId7"/>
            </p:custDataLst>
          </p:nvPr>
        </p:nvSpPr>
        <p:spPr bwMode="auto">
          <a:xfrm>
            <a:off x="6918960" y="3167468"/>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1" name="MH_Other_7"/>
          <p:cNvSpPr>
            <a:spLocks noChangeArrowheads="1"/>
          </p:cNvSpPr>
          <p:nvPr>
            <p:custDataLst>
              <p:tags r:id="rId8"/>
            </p:custDataLst>
          </p:nvPr>
        </p:nvSpPr>
        <p:spPr bwMode="auto">
          <a:xfrm>
            <a:off x="6360160" y="3596093"/>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2" name="MH_Other_8"/>
          <p:cNvSpPr>
            <a:spLocks noChangeArrowheads="1"/>
          </p:cNvSpPr>
          <p:nvPr>
            <p:custDataLst>
              <p:tags r:id="rId9"/>
            </p:custDataLst>
          </p:nvPr>
        </p:nvSpPr>
        <p:spPr bwMode="auto">
          <a:xfrm>
            <a:off x="6918960" y="3596093"/>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9" name="MH_SubTitle_3"/>
          <p:cNvSpPr/>
          <p:nvPr>
            <p:custDataLst>
              <p:tags r:id="rId10"/>
            </p:custDataLst>
          </p:nvPr>
        </p:nvSpPr>
        <p:spPr>
          <a:xfrm>
            <a:off x="7757795" y="2876026"/>
            <a:ext cx="3934772" cy="1395685"/>
          </a:xfrm>
          <a:prstGeom prst="rect">
            <a:avLst/>
          </a:prstGeom>
        </p:spPr>
        <p:txBody>
          <a:bodyPr wrap="square" lIns="72000" tIns="72000" rIns="72000" bIns="72000" anchor="ctr">
            <a:spAutoFit/>
          </a:bodyPr>
          <a:lstStyle/>
          <a:p>
            <a:pPr algn="just">
              <a:lnSpc>
                <a:spcPct val="130000"/>
              </a:lnSpc>
              <a:defRPr/>
            </a:pPr>
            <a:r>
              <a:rPr lang="en-US" altLang="zh-CN" sz="1600" dirty="0">
                <a:solidFill>
                  <a:srgbClr val="000000"/>
                </a:solidFill>
                <a:sym typeface="+mn-ea"/>
              </a:rPr>
              <a:t>       </a:t>
            </a:r>
            <a:r>
              <a:rPr lang="zh-CN" altLang="en-US" sz="1600" dirty="0">
                <a:solidFill>
                  <a:srgbClr val="000000"/>
                </a:solidFill>
                <a:sym typeface="+mn-ea"/>
              </a:rPr>
              <a:t>如果输入数据有一个规定的</a:t>
            </a:r>
            <a:r>
              <a:rPr lang="zh-CN" altLang="en-US" sz="1600" dirty="0">
                <a:solidFill>
                  <a:srgbClr val="000000"/>
                </a:solidFill>
                <a:latin typeface="+mj-ea"/>
                <a:ea typeface="+mj-ea"/>
                <a:sym typeface="+mn-ea"/>
              </a:rPr>
              <a:t>集合</a:t>
            </a:r>
            <a:r>
              <a:rPr lang="zh-CN" altLang="en-US" sz="1600" dirty="0">
                <a:solidFill>
                  <a:srgbClr val="000000"/>
                </a:solidFill>
                <a:sym typeface="+mn-ea"/>
              </a:rPr>
              <a:t>而且程序对不同的输入数据有不同的处理，则集合中的元素是一个有效等价类；集合外的元素是一个无效等价类。</a:t>
            </a:r>
          </a:p>
        </p:txBody>
      </p:sp>
      <p:sp>
        <p:nvSpPr>
          <p:cNvPr id="23" name="MH_Other_9"/>
          <p:cNvSpPr>
            <a:spLocks noChangeArrowheads="1"/>
          </p:cNvSpPr>
          <p:nvPr>
            <p:custDataLst>
              <p:tags r:id="rId11"/>
            </p:custDataLst>
          </p:nvPr>
        </p:nvSpPr>
        <p:spPr bwMode="auto">
          <a:xfrm>
            <a:off x="754380" y="4887773"/>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02</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24" name="MH_Other_10"/>
          <p:cNvSpPr>
            <a:spLocks noChangeArrowheads="1"/>
          </p:cNvSpPr>
          <p:nvPr>
            <p:custDataLst>
              <p:tags r:id="rId12"/>
            </p:custDataLst>
          </p:nvPr>
        </p:nvSpPr>
        <p:spPr bwMode="auto">
          <a:xfrm>
            <a:off x="1465580" y="4992548"/>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5" name="MH_Other_11"/>
          <p:cNvSpPr>
            <a:spLocks noChangeArrowheads="1"/>
          </p:cNvSpPr>
          <p:nvPr>
            <p:custDataLst>
              <p:tags r:id="rId13"/>
            </p:custDataLst>
          </p:nvPr>
        </p:nvSpPr>
        <p:spPr bwMode="auto">
          <a:xfrm>
            <a:off x="906780" y="5421173"/>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6" name="MH_Other_12"/>
          <p:cNvSpPr>
            <a:spLocks noChangeArrowheads="1"/>
          </p:cNvSpPr>
          <p:nvPr>
            <p:custDataLst>
              <p:tags r:id="rId14"/>
            </p:custDataLst>
          </p:nvPr>
        </p:nvSpPr>
        <p:spPr bwMode="auto">
          <a:xfrm>
            <a:off x="1465580" y="5421173"/>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7" name="MH_SubTitle_2"/>
          <p:cNvSpPr/>
          <p:nvPr>
            <p:custDataLst>
              <p:tags r:id="rId15"/>
            </p:custDataLst>
          </p:nvPr>
        </p:nvSpPr>
        <p:spPr>
          <a:xfrm>
            <a:off x="2246630" y="4707456"/>
            <a:ext cx="3420000" cy="1303352"/>
          </a:xfrm>
          <a:prstGeom prst="rect">
            <a:avLst/>
          </a:prstGeom>
        </p:spPr>
        <p:txBody>
          <a:bodyPr lIns="72000" tIns="72000" rIns="72000" bIns="72000" anchor="ctr">
            <a:spAutoFit/>
          </a:bodyPr>
          <a:lstStyle/>
          <a:p>
            <a:pPr lvl="0" algn="just">
              <a:lnSpc>
                <a:spcPct val="120000"/>
              </a:lnSpc>
              <a:spcBef>
                <a:spcPct val="0"/>
              </a:spcBef>
            </a:pPr>
            <a:r>
              <a:rPr lang="zh-CN" altLang="en-US" sz="1600" dirty="0">
                <a:solidFill>
                  <a:srgbClr val="000000"/>
                </a:solidFill>
                <a:sym typeface="+mn-ea"/>
              </a:rPr>
              <a:t>       如果输入数据有规定的</a:t>
            </a:r>
            <a:r>
              <a:rPr lang="zh-CN" altLang="en-US" sz="1600" dirty="0">
                <a:solidFill>
                  <a:srgbClr val="C00000"/>
                </a:solidFill>
                <a:latin typeface="+mj-ea"/>
                <a:ea typeface="+mj-ea"/>
                <a:sym typeface="+mn-ea"/>
              </a:rPr>
              <a:t>个数</a:t>
            </a:r>
            <a:r>
              <a:rPr lang="zh-CN" altLang="en-US" sz="1600" dirty="0">
                <a:solidFill>
                  <a:srgbClr val="000000"/>
                </a:solidFill>
                <a:sym typeface="+mn-ea"/>
              </a:rPr>
              <a:t>，则符合规定个数是一个有效等价类；输入数据或输入超出规定个数是两个无效等价类。</a:t>
            </a:r>
          </a:p>
        </p:txBody>
      </p:sp>
      <p:sp>
        <p:nvSpPr>
          <p:cNvPr id="30" name="MH_Other_5"/>
          <p:cNvSpPr>
            <a:spLocks noChangeArrowheads="1"/>
          </p:cNvSpPr>
          <p:nvPr>
            <p:custDataLst>
              <p:tags r:id="rId16"/>
            </p:custDataLst>
          </p:nvPr>
        </p:nvSpPr>
        <p:spPr bwMode="auto">
          <a:xfrm>
            <a:off x="6207760" y="4887773"/>
            <a:ext cx="673100" cy="50482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03</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31" name="MH_Other_6"/>
          <p:cNvSpPr>
            <a:spLocks noChangeArrowheads="1"/>
          </p:cNvSpPr>
          <p:nvPr>
            <p:custDataLst>
              <p:tags r:id="rId17"/>
            </p:custDataLst>
          </p:nvPr>
        </p:nvSpPr>
        <p:spPr bwMode="auto">
          <a:xfrm>
            <a:off x="6918960" y="4992548"/>
            <a:ext cx="533400"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2" name="MH_Other_7"/>
          <p:cNvSpPr>
            <a:spLocks noChangeArrowheads="1"/>
          </p:cNvSpPr>
          <p:nvPr>
            <p:custDataLst>
              <p:tags r:id="rId18"/>
            </p:custDataLst>
          </p:nvPr>
        </p:nvSpPr>
        <p:spPr bwMode="auto">
          <a:xfrm>
            <a:off x="6360160" y="5421173"/>
            <a:ext cx="520700"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3" name="MH_Other_8"/>
          <p:cNvSpPr>
            <a:spLocks noChangeArrowheads="1"/>
          </p:cNvSpPr>
          <p:nvPr>
            <p:custDataLst>
              <p:tags r:id="rId19"/>
            </p:custDataLst>
          </p:nvPr>
        </p:nvSpPr>
        <p:spPr bwMode="auto">
          <a:xfrm>
            <a:off x="6918960" y="5421173"/>
            <a:ext cx="673100"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4" name="MH_SubTitle_3"/>
          <p:cNvSpPr/>
          <p:nvPr>
            <p:custDataLst>
              <p:tags r:id="rId20"/>
            </p:custDataLst>
          </p:nvPr>
        </p:nvSpPr>
        <p:spPr>
          <a:xfrm>
            <a:off x="7757794" y="4867500"/>
            <a:ext cx="3934771" cy="1075597"/>
          </a:xfrm>
          <a:prstGeom prst="rect">
            <a:avLst/>
          </a:prstGeom>
        </p:spPr>
        <p:txBody>
          <a:bodyPr wrap="square" lIns="72000" tIns="72000" rIns="72000" bIns="72000" anchor="ctr">
            <a:spAutoFit/>
          </a:bodyPr>
          <a:lstStyle/>
          <a:p>
            <a:pPr algn="just">
              <a:lnSpc>
                <a:spcPct val="130000"/>
              </a:lnSpc>
              <a:defRPr/>
            </a:pPr>
            <a:r>
              <a:rPr lang="en-US" altLang="zh-CN" sz="1600" dirty="0">
                <a:solidFill>
                  <a:srgbClr val="000000"/>
                </a:solidFill>
                <a:sym typeface="+mn-ea"/>
              </a:rPr>
              <a:t>      </a:t>
            </a:r>
            <a:r>
              <a:rPr lang="zh-CN" altLang="en-US" sz="1600" dirty="0">
                <a:solidFill>
                  <a:srgbClr val="000000"/>
                </a:solidFill>
                <a:sym typeface="+mn-ea"/>
              </a:rPr>
              <a:t>如果输入数据有一定的</a:t>
            </a:r>
            <a:r>
              <a:rPr lang="zh-CN" altLang="en-US" sz="1600" dirty="0">
                <a:solidFill>
                  <a:srgbClr val="000000"/>
                </a:solidFill>
                <a:latin typeface="+mj-ea"/>
                <a:ea typeface="+mj-ea"/>
                <a:sym typeface="+mn-ea"/>
              </a:rPr>
              <a:t>规则</a:t>
            </a:r>
            <a:r>
              <a:rPr lang="zh-CN" altLang="en-US" sz="1600" dirty="0">
                <a:solidFill>
                  <a:srgbClr val="000000"/>
                </a:solidFill>
                <a:sym typeface="+mn-ea"/>
              </a:rPr>
              <a:t>，则符合规则的数据为一个有效等价类；各种不符合规则的数据组成不同的无效等价类。</a:t>
            </a:r>
          </a:p>
        </p:txBody>
      </p:sp>
      <p:sp>
        <p:nvSpPr>
          <p:cNvPr id="167" name="圆角矩形"/>
          <p:cNvSpPr/>
          <p:nvPr/>
        </p:nvSpPr>
        <p:spPr>
          <a:xfrm>
            <a:off x="6373807" y="1441602"/>
            <a:ext cx="5318760" cy="85344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latin typeface="Times New Roman" panose="02020603050405020304" pitchFamily="18" charset="0"/>
              </a:rPr>
              <a:t>   </a:t>
            </a:r>
            <a:endParaRPr lang="zh-CN" altLang="en-US" dirty="0">
              <a:solidFill>
                <a:schemeClr val="bg2">
                  <a:lumMod val="50000"/>
                </a:schemeClr>
              </a:solidFill>
              <a:latin typeface="Times New Roman" panose="02020603050405020304" pitchFamily="18" charset="0"/>
            </a:endParaRPr>
          </a:p>
        </p:txBody>
      </p:sp>
      <p:sp>
        <p:nvSpPr>
          <p:cNvPr id="14" name="学士帽"/>
          <p:cNvSpPr/>
          <p:nvPr/>
        </p:nvSpPr>
        <p:spPr bwMode="auto">
          <a:xfrm>
            <a:off x="6373807" y="118252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a typeface="微软雅黑 Light" panose="020B0502040204020203" pitchFamily="34" charset="-122"/>
            </a:endParaRPr>
          </a:p>
        </p:txBody>
      </p:sp>
      <p:sp>
        <p:nvSpPr>
          <p:cNvPr id="35" name="文本框 34"/>
          <p:cNvSpPr txBox="1"/>
          <p:nvPr/>
        </p:nvSpPr>
        <p:spPr>
          <a:xfrm>
            <a:off x="6373807" y="1520289"/>
            <a:ext cx="5410835" cy="778739"/>
          </a:xfrm>
          <a:prstGeom prst="rect">
            <a:avLst/>
          </a:prstGeom>
          <a:noFill/>
        </p:spPr>
        <p:txBody>
          <a:bodyPr wrap="square" rtlCol="0">
            <a:spAutoFit/>
          </a:bodyPr>
          <a:lstStyle/>
          <a:p>
            <a:pPr algn="l" eaLnBrk="1" fontAlgn="auto" hangingPunct="1">
              <a:lnSpc>
                <a:spcPct val="130000"/>
              </a:lnSpc>
              <a:spcBef>
                <a:spcPts val="0"/>
              </a:spcBef>
              <a:spcAft>
                <a:spcPts val="0"/>
              </a:spcAft>
              <a:defRPr/>
            </a:pPr>
            <a:r>
              <a:rPr lang="en-US" altLang="zh-CN" dirty="0">
                <a:sym typeface="+mn-ea"/>
              </a:rPr>
              <a:t>       </a:t>
            </a:r>
            <a:r>
              <a:rPr dirty="0" err="1">
                <a:sym typeface="+mn-ea"/>
              </a:rPr>
              <a:t>如果一个等价类中的数据是有效的，则称这个等价类是有效等价类；反之，就是无效等价类</a:t>
            </a:r>
            <a:r>
              <a:rPr dirty="0">
                <a:sym typeface="+mn-ea"/>
              </a:rPr>
              <a:t>。</a:t>
            </a:r>
          </a:p>
        </p:txBody>
      </p:sp>
      <p:sp>
        <p:nvSpPr>
          <p:cNvPr id="39" name="矩形 7"/>
          <p:cNvSpPr>
            <a:spLocks noChangeArrowheads="1"/>
          </p:cNvSpPr>
          <p:nvPr/>
        </p:nvSpPr>
        <p:spPr bwMode="auto">
          <a:xfrm>
            <a:off x="702497" y="2186304"/>
            <a:ext cx="534345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等价类划分的规则：</a:t>
            </a:r>
          </a:p>
        </p:txBody>
      </p:sp>
    </p:spTree>
  </p:cSld>
  <p:clrMapOvr>
    <a:masterClrMapping/>
  </p:clrMapOvr>
  <p:transition>
    <p:pull dir="r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a:t>4.5 </a:t>
            </a:r>
            <a:r>
              <a:rPr lang="zh-CN" altLang="en-US"/>
              <a:t>设计软件测试方案</a:t>
            </a:r>
            <a:endParaRPr lang="zh-CN" altLang="en-US" dirty="0"/>
          </a:p>
        </p:txBody>
      </p:sp>
      <p:sp>
        <p:nvSpPr>
          <p:cNvPr id="5" name="文本占位符 4">
            <a:extLst>
              <a:ext uri="{FF2B5EF4-FFF2-40B4-BE49-F238E27FC236}">
                <a16:creationId xmlns:a16="http://schemas.microsoft.com/office/drawing/2014/main" id="{F240FE04-97D1-12DA-34AA-01AE0894F4B1}"/>
              </a:ext>
            </a:extLst>
          </p:cNvPr>
          <p:cNvSpPr>
            <a:spLocks noGrp="1"/>
          </p:cNvSpPr>
          <p:nvPr>
            <p:ph type="body" sz="quarter" idx="10"/>
          </p:nvPr>
        </p:nvSpPr>
        <p:spPr>
          <a:xfrm>
            <a:off x="695325" y="1322388"/>
            <a:ext cx="5400675" cy="400050"/>
          </a:xfrm>
        </p:spPr>
        <p:txBody>
          <a:bodyPr/>
          <a:lstStyle/>
          <a:p>
            <a:r>
              <a:rPr lang="en-US" altLang="zh-CN" dirty="0"/>
              <a:t>4.5.1 </a:t>
            </a:r>
            <a:r>
              <a:rPr lang="zh-CN" altLang="en-US" dirty="0"/>
              <a:t>等价类划分法 Equivalence Partitioning </a:t>
            </a:r>
          </a:p>
        </p:txBody>
      </p:sp>
      <p:sp>
        <p:nvSpPr>
          <p:cNvPr id="7" name="文本占位符 6">
            <a:extLst>
              <a:ext uri="{FF2B5EF4-FFF2-40B4-BE49-F238E27FC236}">
                <a16:creationId xmlns:a16="http://schemas.microsoft.com/office/drawing/2014/main" id="{7C0E968B-D8D5-976A-4027-42CE4E2A67E1}"/>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pic>
        <p:nvPicPr>
          <p:cNvPr id="13" name="图片 12"/>
          <p:cNvPicPr>
            <a:picLocks noChangeAspect="1"/>
          </p:cNvPicPr>
          <p:nvPr/>
        </p:nvPicPr>
        <p:blipFill>
          <a:blip r:embed="rId3" cstate="print"/>
          <a:srcRect l="-1" r="42162"/>
          <a:stretch>
            <a:fillRect/>
          </a:stretch>
        </p:blipFill>
        <p:spPr>
          <a:xfrm>
            <a:off x="8622691" y="1322388"/>
            <a:ext cx="3569309" cy="2440117"/>
          </a:xfrm>
          <a:prstGeom prst="rect">
            <a:avLst/>
          </a:prstGeom>
        </p:spPr>
      </p:pic>
      <p:sp>
        <p:nvSpPr>
          <p:cNvPr id="14" name="文本框 13"/>
          <p:cNvSpPr txBox="1"/>
          <p:nvPr/>
        </p:nvSpPr>
        <p:spPr>
          <a:xfrm>
            <a:off x="696001" y="2727527"/>
            <a:ext cx="6189992" cy="1706686"/>
          </a:xfrm>
          <a:prstGeom prst="rect">
            <a:avLst/>
          </a:prstGeom>
          <a:noFill/>
        </p:spPr>
        <p:txBody>
          <a:bodyPr wrap="square" rtlCol="0" anchor="t">
            <a:spAutoFit/>
          </a:bodyPr>
          <a:lstStyle/>
          <a:p>
            <a:pPr marL="342900" indent="-342900" fontAlgn="auto">
              <a:lnSpc>
                <a:spcPct val="150000"/>
              </a:lnSpc>
              <a:buClrTx/>
              <a:buFont typeface="+mj-lt"/>
              <a:buAutoNum type="arabicPeriod"/>
            </a:pPr>
            <a:r>
              <a:rPr lang="zh-CN" altLang="en-US" dirty="0"/>
              <a:t>研究程序的功能说明，以确定输入数据是有效等价类还是无效等价类。</a:t>
            </a:r>
          </a:p>
          <a:p>
            <a:pPr marL="342900" indent="-342900" fontAlgn="auto">
              <a:lnSpc>
                <a:spcPct val="150000"/>
              </a:lnSpc>
              <a:buClrTx/>
              <a:buFont typeface="+mj-lt"/>
              <a:buAutoNum type="arabicPeriod"/>
            </a:pPr>
            <a:r>
              <a:rPr lang="zh-CN" altLang="en-US" dirty="0"/>
              <a:t>分析输出数据的等价类，以便根据输出数据的等价类导出相应的输入数据等价类。</a:t>
            </a:r>
          </a:p>
        </p:txBody>
      </p:sp>
      <p:sp>
        <p:nvSpPr>
          <p:cNvPr id="6" name="矩形 7"/>
          <p:cNvSpPr>
            <a:spLocks noChangeArrowheads="1"/>
          </p:cNvSpPr>
          <p:nvPr/>
        </p:nvSpPr>
        <p:spPr bwMode="auto">
          <a:xfrm>
            <a:off x="702497" y="2186304"/>
            <a:ext cx="534345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步骤：</a:t>
            </a:r>
          </a:p>
        </p:txBody>
      </p:sp>
    </p:spTree>
  </p:cSld>
  <p:clrMapOvr>
    <a:masterClrMapping/>
  </p:clrMapOvr>
  <p:transition>
    <p:pull dir="rd"/>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p>
        </p:txBody>
      </p:sp>
      <p:sp>
        <p:nvSpPr>
          <p:cNvPr id="5" name="文本占位符 4">
            <a:extLst>
              <a:ext uri="{FF2B5EF4-FFF2-40B4-BE49-F238E27FC236}">
                <a16:creationId xmlns:a16="http://schemas.microsoft.com/office/drawing/2014/main" id="{1A6829C1-BEBE-5366-393A-31468FE03CF6}"/>
              </a:ext>
            </a:extLst>
          </p:cNvPr>
          <p:cNvSpPr>
            <a:spLocks noGrp="1"/>
          </p:cNvSpPr>
          <p:nvPr>
            <p:ph type="body" sz="quarter" idx="10"/>
          </p:nvPr>
        </p:nvSpPr>
        <p:spPr>
          <a:xfrm>
            <a:off x="695325" y="1322388"/>
            <a:ext cx="7267575" cy="400050"/>
          </a:xfrm>
        </p:spPr>
        <p:txBody>
          <a:bodyPr/>
          <a:lstStyle/>
          <a:p>
            <a:r>
              <a:rPr lang="en-US" altLang="zh-CN" dirty="0"/>
              <a:t>4.5.2 </a:t>
            </a:r>
            <a:r>
              <a:rPr lang="zh-CN" altLang="en-US" dirty="0"/>
              <a:t>边界值分析法 </a:t>
            </a:r>
            <a:r>
              <a:rPr lang="en-US" altLang="zh-CN" dirty="0">
                <a:sym typeface="+mn-ea"/>
              </a:rPr>
              <a:t>Boundary Value Analysis</a:t>
            </a:r>
            <a:endParaRPr lang="zh-CN" altLang="zh-CN" dirty="0"/>
          </a:p>
        </p:txBody>
      </p:sp>
      <p:sp>
        <p:nvSpPr>
          <p:cNvPr id="6" name="文本占位符 5">
            <a:extLst>
              <a:ext uri="{FF2B5EF4-FFF2-40B4-BE49-F238E27FC236}">
                <a16:creationId xmlns:a16="http://schemas.microsoft.com/office/drawing/2014/main" id="{88468B14-EACD-B037-7B9A-D0AD8E0BECF2}"/>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100" name="文本框 99"/>
          <p:cNvSpPr txBox="1"/>
          <p:nvPr/>
        </p:nvSpPr>
        <p:spPr>
          <a:xfrm>
            <a:off x="1416000" y="1845752"/>
            <a:ext cx="9360000" cy="2089867"/>
          </a:xfrm>
          <a:prstGeom prst="rect">
            <a:avLst/>
          </a:prstGeom>
          <a:noFill/>
          <a:ln w="9525">
            <a:noFill/>
          </a:ln>
        </p:spPr>
        <p:txBody>
          <a:bodyPr wrap="square">
            <a:spAutoFit/>
          </a:bodyPr>
          <a:lstStyle/>
          <a:p>
            <a:pPr marL="0" indent="457200" algn="just" fontAlgn="auto">
              <a:lnSpc>
                <a:spcPct val="130000"/>
              </a:lnSpc>
              <a:spcAft>
                <a:spcPts val="600"/>
              </a:spcAft>
            </a:pPr>
            <a:r>
              <a:rPr dirty="0" err="1">
                <a:sym typeface="+mn-ea"/>
              </a:rPr>
              <a:t>实践表明，处理边界情况时程序最易发生错误。边界是指输入与输出等价类直接在边界值上及稍大于边界值和稍小于边界值的数据</a:t>
            </a:r>
            <a:r>
              <a:rPr dirty="0">
                <a:sym typeface="+mn-ea"/>
              </a:rPr>
              <a:t>。</a:t>
            </a:r>
          </a:p>
          <a:p>
            <a:pPr marL="0" indent="457200" algn="just" fontAlgn="auto">
              <a:lnSpc>
                <a:spcPct val="130000"/>
              </a:lnSpc>
              <a:spcAft>
                <a:spcPts val="600"/>
              </a:spcAft>
            </a:pPr>
            <a:r>
              <a:rPr err="1">
                <a:sym typeface="+mn-ea"/>
              </a:rPr>
              <a:t>边界值分析法与等价类划分法的区别为</a:t>
            </a:r>
            <a:r>
              <a:rPr>
                <a:sym typeface="+mn-ea"/>
              </a:rPr>
              <a:t>：</a:t>
            </a:r>
            <a:endParaRPr lang="en-US" dirty="0">
              <a:sym typeface="+mn-ea"/>
            </a:endParaRPr>
          </a:p>
          <a:p>
            <a:pPr marL="457200" indent="180000" algn="just" fontAlgn="auto">
              <a:lnSpc>
                <a:spcPct val="130000"/>
              </a:lnSpc>
              <a:spcAft>
                <a:spcPts val="600"/>
              </a:spcAft>
              <a:buFont typeface="Arial" panose="020B0604020202020204" pitchFamily="34" charset="0"/>
              <a:buChar char="•"/>
            </a:pPr>
            <a:r>
              <a:rPr err="1">
                <a:sym typeface="+mn-ea"/>
              </a:rPr>
              <a:t>边界值分析法要把等价类的每个边界都作为测试数据</a:t>
            </a:r>
            <a:r>
              <a:rPr>
                <a:sym typeface="+mn-ea"/>
              </a:rPr>
              <a:t>，</a:t>
            </a:r>
            <a:endParaRPr lang="en-US" dirty="0">
              <a:sym typeface="+mn-ea"/>
            </a:endParaRPr>
          </a:p>
          <a:p>
            <a:pPr marL="457200" indent="180000" algn="just" fontAlgn="auto">
              <a:lnSpc>
                <a:spcPct val="130000"/>
              </a:lnSpc>
              <a:spcAft>
                <a:spcPts val="600"/>
              </a:spcAft>
              <a:buFont typeface="Arial" panose="020B0604020202020204" pitchFamily="34" charset="0"/>
              <a:buChar char="•"/>
            </a:pPr>
            <a:r>
              <a:rPr dirty="0" err="1">
                <a:sym typeface="+mn-ea"/>
              </a:rPr>
              <a:t>而等价类划分法只要在每一个等价类中任选一个作为代表进行测试</a:t>
            </a:r>
            <a:r>
              <a:rPr dirty="0">
                <a:sym typeface="+mn-ea"/>
              </a:rPr>
              <a:t>。     </a:t>
            </a:r>
          </a:p>
        </p:txBody>
      </p:sp>
      <p:graphicFrame>
        <p:nvGraphicFramePr>
          <p:cNvPr id="8" name="表格 7">
            <a:extLst>
              <a:ext uri="{FF2B5EF4-FFF2-40B4-BE49-F238E27FC236}">
                <a16:creationId xmlns:a16="http://schemas.microsoft.com/office/drawing/2014/main" id="{4474C3D1-5238-1AD6-C784-5A80CADB37E7}"/>
              </a:ext>
            </a:extLst>
          </p:cNvPr>
          <p:cNvGraphicFramePr>
            <a:graphicFrameLocks noGrp="1"/>
          </p:cNvGraphicFramePr>
          <p:nvPr>
            <p:extLst>
              <p:ext uri="{D42A27DB-BD31-4B8C-83A1-F6EECF244321}">
                <p14:modId xmlns:p14="http://schemas.microsoft.com/office/powerpoint/2010/main" val="4247871551"/>
              </p:ext>
            </p:extLst>
          </p:nvPr>
        </p:nvGraphicFramePr>
        <p:xfrm>
          <a:off x="1416000" y="4129723"/>
          <a:ext cx="9360000" cy="1676400"/>
        </p:xfrm>
        <a:graphic>
          <a:graphicData uri="http://schemas.openxmlformats.org/drawingml/2006/table">
            <a:tbl>
              <a:tblPr/>
              <a:tblGrid>
                <a:gridCol w="1241475">
                  <a:extLst>
                    <a:ext uri="{9D8B030D-6E8A-4147-A177-3AD203B41FA5}">
                      <a16:colId xmlns:a16="http://schemas.microsoft.com/office/drawing/2014/main" val="3503054478"/>
                    </a:ext>
                  </a:extLst>
                </a:gridCol>
                <a:gridCol w="3600450">
                  <a:extLst>
                    <a:ext uri="{9D8B030D-6E8A-4147-A177-3AD203B41FA5}">
                      <a16:colId xmlns:a16="http://schemas.microsoft.com/office/drawing/2014/main" val="2891449421"/>
                    </a:ext>
                  </a:extLst>
                </a:gridCol>
                <a:gridCol w="4518075">
                  <a:extLst>
                    <a:ext uri="{9D8B030D-6E8A-4147-A177-3AD203B41FA5}">
                      <a16:colId xmlns:a16="http://schemas.microsoft.com/office/drawing/2014/main" val="4193762897"/>
                    </a:ext>
                  </a:extLst>
                </a:gridCol>
              </a:tblGrid>
              <a:tr h="0">
                <a:tc>
                  <a:txBody>
                    <a:bodyPr/>
                    <a:lstStyle/>
                    <a:p>
                      <a:pPr algn="l">
                        <a:buNone/>
                      </a:pPr>
                      <a:r>
                        <a:rPr lang="zh-CN" altLang="en-US" sz="1600" dirty="0"/>
                        <a:t>特性</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等价类划分法</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边界值分析法</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12494854"/>
                  </a:ext>
                </a:extLst>
              </a:tr>
              <a:tr h="0">
                <a:tc>
                  <a:txBody>
                    <a:bodyPr/>
                    <a:lstStyle/>
                    <a:p>
                      <a:pPr algn="l">
                        <a:buNone/>
                      </a:pPr>
                      <a:r>
                        <a:rPr lang="zh-CN" altLang="en-US" sz="1600"/>
                        <a:t>核心思想</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分区：把数据分成几堆，每堆测一个</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钻牛角尖：专门盯着分界线测。</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99774212"/>
                  </a:ext>
                </a:extLst>
              </a:tr>
              <a:tr h="0">
                <a:tc>
                  <a:txBody>
                    <a:bodyPr/>
                    <a:lstStyle/>
                    <a:p>
                      <a:pPr algn="l">
                        <a:buNone/>
                      </a:pPr>
                      <a:r>
                        <a:rPr lang="zh-CN" altLang="en-US" sz="1600"/>
                        <a:t>数据选择</a:t>
                      </a:r>
                    </a:p>
                  </a:txBody>
                  <a:tcPr anchor="ctr">
                    <a:lnL>
                      <a:noFill/>
                    </a:lnL>
                    <a:lnR>
                      <a:noFill/>
                    </a:lnR>
                    <a:lnT>
                      <a:noFill/>
                    </a:lnT>
                    <a:lnB>
                      <a:noFill/>
                    </a:lnB>
                    <a:noFill/>
                  </a:tcPr>
                </a:tc>
                <a:tc>
                  <a:txBody>
                    <a:bodyPr/>
                    <a:lstStyle/>
                    <a:p>
                      <a:pPr algn="l">
                        <a:buNone/>
                      </a:pPr>
                      <a:r>
                        <a:rPr lang="zh-CN" altLang="en-US" sz="1600" dirty="0"/>
                        <a:t>选中间值（如 </a:t>
                      </a:r>
                      <a:r>
                        <a:rPr lang="en-US" altLang="zh-CN" sz="1600" dirty="0"/>
                        <a:t>50</a:t>
                      </a:r>
                      <a:r>
                        <a:rPr lang="zh-CN" altLang="en-US" sz="1600" dirty="0"/>
                        <a:t>）</a:t>
                      </a:r>
                    </a:p>
                  </a:txBody>
                  <a:tcPr anchor="ctr">
                    <a:lnL>
                      <a:noFill/>
                    </a:lnL>
                    <a:lnR>
                      <a:noFill/>
                    </a:lnR>
                    <a:lnT>
                      <a:noFill/>
                    </a:lnT>
                    <a:lnB>
                      <a:noFill/>
                    </a:lnB>
                    <a:noFill/>
                  </a:tcPr>
                </a:tc>
                <a:tc>
                  <a:txBody>
                    <a:bodyPr/>
                    <a:lstStyle/>
                    <a:p>
                      <a:pPr algn="l">
                        <a:buNone/>
                      </a:pPr>
                      <a:r>
                        <a:rPr lang="zh-CN" altLang="en-US" sz="1600" dirty="0"/>
                        <a:t>选边界值（如 </a:t>
                      </a:r>
                      <a:r>
                        <a:rPr lang="en-US" altLang="zh-CN" sz="1600" dirty="0"/>
                        <a:t>0, 1, 2, 98, 99, 100</a:t>
                      </a:r>
                      <a:r>
                        <a:rPr lang="zh-CN" altLang="en-US" sz="1600" dirty="0"/>
                        <a:t>）</a:t>
                      </a:r>
                    </a:p>
                  </a:txBody>
                  <a:tcPr anchor="ctr">
                    <a:lnL>
                      <a:noFill/>
                    </a:lnL>
                    <a:lnR>
                      <a:noFill/>
                    </a:lnR>
                    <a:lnT>
                      <a:noFill/>
                    </a:lnT>
                    <a:lnB>
                      <a:noFill/>
                    </a:lnB>
                    <a:noFill/>
                  </a:tcPr>
                </a:tc>
                <a:extLst>
                  <a:ext uri="{0D108BD9-81ED-4DB2-BD59-A6C34878D82A}">
                    <a16:rowId xmlns:a16="http://schemas.microsoft.com/office/drawing/2014/main" val="2010499517"/>
                  </a:ext>
                </a:extLst>
              </a:tr>
              <a:tr h="0">
                <a:tc>
                  <a:txBody>
                    <a:bodyPr/>
                    <a:lstStyle/>
                    <a:p>
                      <a:pPr algn="l">
                        <a:buNone/>
                      </a:pPr>
                      <a:r>
                        <a:rPr lang="zh-CN" altLang="en-US" sz="1600"/>
                        <a:t>发现错误</a:t>
                      </a:r>
                    </a:p>
                  </a:txBody>
                  <a:tcPr anchor="ctr">
                    <a:lnL>
                      <a:noFill/>
                    </a:lnL>
                    <a:lnR>
                      <a:noFill/>
                    </a:lnR>
                    <a:lnT>
                      <a:noFill/>
                    </a:lnT>
                    <a:lnB>
                      <a:noFill/>
                    </a:lnB>
                    <a:noFill/>
                  </a:tcPr>
                </a:tc>
                <a:tc>
                  <a:txBody>
                    <a:bodyPr/>
                    <a:lstStyle/>
                    <a:p>
                      <a:pPr algn="l">
                        <a:buNone/>
                      </a:pPr>
                      <a:r>
                        <a:rPr lang="zh-CN" altLang="en-US" sz="1600" dirty="0"/>
                        <a:t>发现功能缺失或逻辑大错误</a:t>
                      </a:r>
                    </a:p>
                  </a:txBody>
                  <a:tcPr anchor="ctr">
                    <a:lnL>
                      <a:noFill/>
                    </a:lnL>
                    <a:lnR>
                      <a:noFill/>
                    </a:lnR>
                    <a:lnT>
                      <a:noFill/>
                    </a:lnT>
                    <a:lnB>
                      <a:noFill/>
                    </a:lnB>
                    <a:noFill/>
                  </a:tcPr>
                </a:tc>
                <a:tc>
                  <a:txBody>
                    <a:bodyPr/>
                    <a:lstStyle/>
                    <a:p>
                      <a:pPr algn="l">
                        <a:buNone/>
                      </a:pPr>
                      <a:r>
                        <a:rPr lang="zh-CN" altLang="en-US" sz="1600" dirty="0"/>
                        <a:t>发现循环错误、判断条件错误（如 </a:t>
                      </a:r>
                      <a:r>
                        <a:rPr lang="en-US" altLang="zh-CN" sz="1600" dirty="0">
                          <a:latin typeface="Courier New" panose="02070309020205020404" pitchFamily="49" charset="0"/>
                        </a:rPr>
                        <a:t>&lt;</a:t>
                      </a:r>
                      <a:r>
                        <a:rPr lang="zh-CN" altLang="en-US" sz="1600" dirty="0"/>
                        <a:t> 与 </a:t>
                      </a:r>
                      <a:r>
                        <a:rPr lang="en-US" altLang="zh-CN" sz="1600" dirty="0">
                          <a:latin typeface="Courier New" panose="02070309020205020404" pitchFamily="49" charset="0"/>
                        </a:rPr>
                        <a:t>&lt;=</a:t>
                      </a:r>
                      <a:r>
                        <a:rPr lang="zh-CN" altLang="en-US" sz="1600" dirty="0"/>
                        <a:t>）</a:t>
                      </a:r>
                    </a:p>
                  </a:txBody>
                  <a:tcPr anchor="ctr">
                    <a:lnL>
                      <a:noFill/>
                    </a:lnL>
                    <a:lnR>
                      <a:noFill/>
                    </a:lnR>
                    <a:lnT>
                      <a:noFill/>
                    </a:lnT>
                    <a:lnB>
                      <a:noFill/>
                    </a:lnB>
                    <a:noFill/>
                  </a:tcPr>
                </a:tc>
                <a:extLst>
                  <a:ext uri="{0D108BD9-81ED-4DB2-BD59-A6C34878D82A}">
                    <a16:rowId xmlns:a16="http://schemas.microsoft.com/office/drawing/2014/main" val="928458658"/>
                  </a:ext>
                </a:extLst>
              </a:tr>
              <a:tr h="0">
                <a:tc>
                  <a:txBody>
                    <a:bodyPr/>
                    <a:lstStyle/>
                    <a:p>
                      <a:pPr algn="l">
                        <a:buNone/>
                      </a:pPr>
                      <a:r>
                        <a:rPr lang="zh-CN" altLang="en-US" sz="1600"/>
                        <a:t>关系</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是基础</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是补充；在等价类的基础上，对边界进行测试</a:t>
                      </a:r>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47316079"/>
                  </a:ext>
                </a:extLst>
              </a:tr>
            </a:tbl>
          </a:graphicData>
        </a:graphic>
      </p:graphicFrame>
    </p:spTree>
  </p:cSld>
  <p:clrMapOvr>
    <a:masterClrMapping/>
  </p:clrMapOvr>
  <p:transition>
    <p:pull dir="rd"/>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13" name="文本占位符 12">
            <a:extLst>
              <a:ext uri="{FF2B5EF4-FFF2-40B4-BE49-F238E27FC236}">
                <a16:creationId xmlns:a16="http://schemas.microsoft.com/office/drawing/2014/main" id="{C8056963-D205-5685-2ABF-7DE8FDA41289}"/>
              </a:ext>
            </a:extLst>
          </p:cNvPr>
          <p:cNvSpPr>
            <a:spLocks noGrp="1"/>
          </p:cNvSpPr>
          <p:nvPr>
            <p:ph type="body" sz="quarter" idx="10"/>
          </p:nvPr>
        </p:nvSpPr>
        <p:spPr>
          <a:xfrm>
            <a:off x="696000" y="1322832"/>
            <a:ext cx="11160000" cy="400110"/>
          </a:xfrm>
        </p:spPr>
        <p:txBody>
          <a:bodyPr/>
          <a:lstStyle/>
          <a:p>
            <a:r>
              <a:rPr lang="en-US" altLang="zh-CN" dirty="0"/>
              <a:t>4.5.2 </a:t>
            </a:r>
            <a:r>
              <a:rPr lang="zh-CN" altLang="en-US" dirty="0"/>
              <a:t>边界值分析法 </a:t>
            </a:r>
            <a:r>
              <a:rPr lang="en-US" altLang="zh-CN" dirty="0">
                <a:sym typeface="+mn-ea"/>
              </a:rPr>
              <a:t>Boundary Value Analysis</a:t>
            </a:r>
            <a:endParaRPr lang="zh-CN" altLang="zh-CN" dirty="0"/>
          </a:p>
        </p:txBody>
      </p:sp>
      <p:sp>
        <p:nvSpPr>
          <p:cNvPr id="21" name="文本占位符 20">
            <a:extLst>
              <a:ext uri="{FF2B5EF4-FFF2-40B4-BE49-F238E27FC236}">
                <a16:creationId xmlns:a16="http://schemas.microsoft.com/office/drawing/2014/main" id="{45A372A4-CFF4-1F38-DAAE-25445BD3BA32}"/>
              </a:ext>
            </a:extLst>
          </p:cNvPr>
          <p:cNvSpPr>
            <a:spLocks noGrp="1"/>
          </p:cNvSpPr>
          <p:nvPr>
            <p:ph type="body" sz="quarter" idx="11"/>
          </p:nvPr>
        </p:nvSpPr>
        <p:spPr/>
        <p:txBody>
          <a:bodyPr/>
          <a:lstStyle/>
          <a:p>
            <a:r>
              <a:rPr lang="en-US" altLang="zh-CN" dirty="0"/>
              <a:t>Schema</a:t>
            </a:r>
            <a:endParaRPr lang="zh-CN" altLang="en-US" dirty="0"/>
          </a:p>
        </p:txBody>
      </p:sp>
      <p:grpSp>
        <p:nvGrpSpPr>
          <p:cNvPr id="11" name="组合 10"/>
          <p:cNvGrpSpPr/>
          <p:nvPr/>
        </p:nvGrpSpPr>
        <p:grpSpPr>
          <a:xfrm>
            <a:off x="4455160" y="2805671"/>
            <a:ext cx="3101975" cy="2908935"/>
            <a:chOff x="6718" y="4218"/>
            <a:chExt cx="4517" cy="4053"/>
          </a:xfrm>
        </p:grpSpPr>
        <p:sp>
          <p:nvSpPr>
            <p:cNvPr id="19" name="椭圆 18"/>
            <p:cNvSpPr/>
            <p:nvPr>
              <p:custDataLst>
                <p:tags r:id="rId1"/>
              </p:custDataLst>
            </p:nvPr>
          </p:nvSpPr>
          <p:spPr>
            <a:xfrm>
              <a:off x="6718" y="5889"/>
              <a:ext cx="2624" cy="2382"/>
            </a:xfrm>
            <a:prstGeom prst="ellips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sp>
          <p:nvSpPr>
            <p:cNvPr id="6" name="文本框 22"/>
            <p:cNvSpPr txBox="1">
              <a:spLocks noChangeArrowheads="1"/>
            </p:cNvSpPr>
            <p:nvPr>
              <p:custDataLst>
                <p:tags r:id="rId2"/>
              </p:custDataLst>
            </p:nvPr>
          </p:nvSpPr>
          <p:spPr bwMode="auto">
            <a:xfrm>
              <a:off x="7293" y="6686"/>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Times New Roman" panose="02020603050405020304" pitchFamily="18" charset="0"/>
                  <a:ea typeface="+mn-ea"/>
                </a:rPr>
                <a:t>4</a:t>
              </a:r>
              <a:endParaRPr lang="zh-CN" altLang="en-US" sz="6600" b="1" dirty="0">
                <a:solidFill>
                  <a:schemeClr val="bg1"/>
                </a:solidFill>
                <a:latin typeface="Times New Roman" panose="02020603050405020304" pitchFamily="18" charset="0"/>
                <a:ea typeface="+mn-ea"/>
              </a:endParaRPr>
            </a:p>
          </p:txBody>
        </p:sp>
        <p:sp>
          <p:nvSpPr>
            <p:cNvPr id="39" name="椭圆 38"/>
            <p:cNvSpPr/>
            <p:nvPr>
              <p:custDataLst>
                <p:tags r:id="rId3"/>
              </p:custDataLst>
            </p:nvPr>
          </p:nvSpPr>
          <p:spPr>
            <a:xfrm>
              <a:off x="6718" y="4218"/>
              <a:ext cx="2624" cy="238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sp>
          <p:nvSpPr>
            <p:cNvPr id="40" name="椭圆 39"/>
            <p:cNvSpPr/>
            <p:nvPr>
              <p:custDataLst>
                <p:tags r:id="rId4"/>
              </p:custDataLst>
            </p:nvPr>
          </p:nvSpPr>
          <p:spPr>
            <a:xfrm>
              <a:off x="8611" y="4218"/>
              <a:ext cx="2624" cy="2382"/>
            </a:xfrm>
            <a:prstGeom prst="ellips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sp>
          <p:nvSpPr>
            <p:cNvPr id="42" name="椭圆 41"/>
            <p:cNvSpPr/>
            <p:nvPr>
              <p:custDataLst>
                <p:tags r:id="rId5"/>
              </p:custDataLst>
            </p:nvPr>
          </p:nvSpPr>
          <p:spPr>
            <a:xfrm>
              <a:off x="8611" y="5889"/>
              <a:ext cx="2624" cy="2382"/>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grpSp>
          <p:nvGrpSpPr>
            <p:cNvPr id="8" name="组合 7"/>
            <p:cNvGrpSpPr/>
            <p:nvPr>
              <p:custDataLst>
                <p:tags r:id="rId6"/>
              </p:custDataLst>
            </p:nvPr>
          </p:nvGrpSpPr>
          <p:grpSpPr>
            <a:xfrm>
              <a:off x="7093" y="4579"/>
              <a:ext cx="3761" cy="3313"/>
              <a:chOff x="4933659" y="1528513"/>
              <a:chExt cx="3096541" cy="3006076"/>
            </a:xfrm>
            <a:solidFill>
              <a:schemeClr val="bg1"/>
            </a:solidFill>
          </p:grpSpPr>
          <p:sp>
            <p:nvSpPr>
              <p:cNvPr id="44" name="Freeform 16@|5FFC:0|FBC:0|LFC:16777215|LBC:16777215"/>
              <p:cNvSpPr/>
              <p:nvPr>
                <p:custDataLst>
                  <p:tags r:id="rId10"/>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sp>
            <p:nvSpPr>
              <p:cNvPr id="9" name="Freeform 17@|5FFC:0|FBC:0|LFC:16777215|LBC:16777215"/>
              <p:cNvSpPr/>
              <p:nvPr>
                <p:custDataLst>
                  <p:tags r:id="rId11"/>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sp>
            <p:nvSpPr>
              <p:cNvPr id="46" name="Freeform 18@|5FFC:0|FBC:0|LFC:16777215|LBC:16777215"/>
              <p:cNvSpPr/>
              <p:nvPr>
                <p:custDataLst>
                  <p:tags r:id="rId12"/>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sp>
            <p:nvSpPr>
              <p:cNvPr id="47" name="Freeform 19@|5FFC:0|FBC:0|LFC:16777215|LBC:16777215"/>
              <p:cNvSpPr/>
              <p:nvPr>
                <p:custDataLst>
                  <p:tags r:id="rId13"/>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dirty="0">
                  <a:solidFill>
                    <a:schemeClr val="bg1"/>
                  </a:solidFill>
                  <a:latin typeface="Times New Roman" panose="02020603050405020304" pitchFamily="18" charset="0"/>
                </a:endParaRPr>
              </a:p>
            </p:txBody>
          </p:sp>
        </p:grpSp>
        <p:sp>
          <p:nvSpPr>
            <p:cNvPr id="48" name="文本框 20"/>
            <p:cNvSpPr txBox="1">
              <a:spLocks noChangeArrowheads="1"/>
            </p:cNvSpPr>
            <p:nvPr>
              <p:custDataLst>
                <p:tags r:id="rId7"/>
              </p:custDataLst>
            </p:nvPr>
          </p:nvSpPr>
          <p:spPr bwMode="auto">
            <a:xfrm>
              <a:off x="7293" y="4615"/>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Times New Roman" panose="02020603050405020304" pitchFamily="18" charset="0"/>
                  <a:ea typeface="+mn-ea"/>
                </a:rPr>
                <a:t>1</a:t>
              </a:r>
              <a:endParaRPr lang="zh-CN" altLang="en-US" sz="6600" b="1" dirty="0">
                <a:solidFill>
                  <a:schemeClr val="bg1"/>
                </a:solidFill>
                <a:latin typeface="Times New Roman" panose="02020603050405020304" pitchFamily="18" charset="0"/>
                <a:ea typeface="+mn-ea"/>
              </a:endParaRPr>
            </a:p>
          </p:txBody>
        </p:sp>
        <p:sp>
          <p:nvSpPr>
            <p:cNvPr id="49" name="文本框 21"/>
            <p:cNvSpPr txBox="1">
              <a:spLocks noChangeArrowheads="1"/>
            </p:cNvSpPr>
            <p:nvPr>
              <p:custDataLst>
                <p:tags r:id="rId8"/>
              </p:custDataLst>
            </p:nvPr>
          </p:nvSpPr>
          <p:spPr bwMode="auto">
            <a:xfrm>
              <a:off x="9499" y="4579"/>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Times New Roman" panose="02020603050405020304" pitchFamily="18" charset="0"/>
                  <a:ea typeface="+mn-ea"/>
                </a:rPr>
                <a:t>2</a:t>
              </a:r>
              <a:endParaRPr lang="zh-CN" altLang="en-US" sz="6600" b="1" dirty="0">
                <a:solidFill>
                  <a:schemeClr val="bg1"/>
                </a:solidFill>
                <a:latin typeface="Times New Roman" panose="02020603050405020304" pitchFamily="18" charset="0"/>
                <a:ea typeface="+mn-ea"/>
              </a:endParaRPr>
            </a:p>
          </p:txBody>
        </p:sp>
        <p:sp>
          <p:nvSpPr>
            <p:cNvPr id="51" name="文本框 23"/>
            <p:cNvSpPr txBox="1">
              <a:spLocks noChangeArrowheads="1"/>
            </p:cNvSpPr>
            <p:nvPr>
              <p:custDataLst>
                <p:tags r:id="rId9"/>
              </p:custDataLst>
            </p:nvPr>
          </p:nvSpPr>
          <p:spPr bwMode="auto">
            <a:xfrm>
              <a:off x="9660" y="6686"/>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Times New Roman" panose="02020603050405020304" pitchFamily="18" charset="0"/>
                  <a:ea typeface="+mn-ea"/>
                </a:rPr>
                <a:t>3</a:t>
              </a:r>
              <a:endParaRPr lang="zh-CN" altLang="en-US" sz="6600" b="1" dirty="0">
                <a:solidFill>
                  <a:schemeClr val="bg1"/>
                </a:solidFill>
                <a:latin typeface="Times New Roman" panose="02020603050405020304" pitchFamily="18" charset="0"/>
                <a:ea typeface="+mn-ea"/>
              </a:endParaRPr>
            </a:p>
          </p:txBody>
        </p:sp>
      </p:grpSp>
      <p:sp>
        <p:nvSpPr>
          <p:cNvPr id="2" name="文本框 1"/>
          <p:cNvSpPr txBox="1"/>
          <p:nvPr/>
        </p:nvSpPr>
        <p:spPr>
          <a:xfrm>
            <a:off x="655320" y="2635068"/>
            <a:ext cx="3636000" cy="1138838"/>
          </a:xfrm>
          <a:prstGeom prst="rect">
            <a:avLst/>
          </a:prstGeom>
          <a:noFill/>
        </p:spPr>
        <p:txBody>
          <a:bodyPr wrap="square" rtlCol="0" anchor="t">
            <a:spAutoFit/>
          </a:bodyPr>
          <a:lstStyle/>
          <a:p>
            <a:pPr algn="just" fontAlgn="auto">
              <a:lnSpc>
                <a:spcPct val="130000"/>
              </a:lnSpc>
            </a:pPr>
            <a:r>
              <a:rPr>
                <a:sym typeface="+mn-ea"/>
              </a:rPr>
              <a:t>1</a:t>
            </a:r>
            <a:r>
              <a:rPr lang="en-US" dirty="0">
                <a:sym typeface="+mn-ea"/>
              </a:rPr>
              <a:t>. </a:t>
            </a:r>
            <a:r>
              <a:rPr dirty="0" err="1">
                <a:sym typeface="+mn-ea"/>
              </a:rPr>
              <a:t>如果输入值有规定范围，则测试这个范围内，以及两个边界情况和刚刚超出范围的两个无效情况</a:t>
            </a:r>
            <a:r>
              <a:rPr dirty="0">
                <a:sym typeface="+mn-ea"/>
              </a:rPr>
              <a:t>。</a:t>
            </a:r>
            <a:endParaRPr lang="zh-CN" altLang="en-US" dirty="0">
              <a:sym typeface="+mn-ea"/>
            </a:endParaRPr>
          </a:p>
        </p:txBody>
      </p:sp>
      <p:sp>
        <p:nvSpPr>
          <p:cNvPr id="4" name="文本框 3"/>
          <p:cNvSpPr txBox="1"/>
          <p:nvPr/>
        </p:nvSpPr>
        <p:spPr>
          <a:xfrm>
            <a:off x="8001000" y="2635068"/>
            <a:ext cx="3384000" cy="1532727"/>
          </a:xfrm>
          <a:prstGeom prst="rect">
            <a:avLst/>
          </a:prstGeom>
          <a:noFill/>
        </p:spPr>
        <p:txBody>
          <a:bodyPr wrap="square" rtlCol="0" anchor="t">
            <a:spAutoFit/>
          </a:bodyPr>
          <a:lstStyle/>
          <a:p>
            <a:pPr fontAlgn="auto">
              <a:lnSpc>
                <a:spcPct val="130000"/>
              </a:lnSpc>
            </a:pPr>
            <a:r>
              <a:rPr lang="en-US">
                <a:sym typeface="+mn-ea"/>
              </a:rPr>
              <a:t>2. </a:t>
            </a:r>
            <a:r>
              <a:rPr>
                <a:sym typeface="+mn-ea"/>
              </a:rPr>
              <a:t>如果输入数据有规定的个数</a:t>
            </a:r>
            <a:r>
              <a:rPr dirty="0" err="1">
                <a:sym typeface="+mn-ea"/>
              </a:rPr>
              <a:t>，分别对最多个数、最少个数、稍大于最多个数和稍小于最少个数的情况进行测试</a:t>
            </a:r>
            <a:r>
              <a:rPr dirty="0">
                <a:sym typeface="+mn-ea"/>
              </a:rPr>
              <a:t>。</a:t>
            </a:r>
            <a:endParaRPr lang="zh-CN" altLang="en-US" dirty="0">
              <a:sym typeface="+mn-ea"/>
            </a:endParaRPr>
          </a:p>
        </p:txBody>
      </p:sp>
      <p:sp>
        <p:nvSpPr>
          <p:cNvPr id="5" name="文本框 4"/>
          <p:cNvSpPr txBox="1"/>
          <p:nvPr/>
        </p:nvSpPr>
        <p:spPr>
          <a:xfrm>
            <a:off x="8001000" y="4264266"/>
            <a:ext cx="3384000" cy="1138838"/>
          </a:xfrm>
          <a:prstGeom prst="rect">
            <a:avLst/>
          </a:prstGeom>
          <a:noFill/>
        </p:spPr>
        <p:txBody>
          <a:bodyPr wrap="square" rtlCol="0" anchor="t">
            <a:spAutoFit/>
          </a:bodyPr>
          <a:lstStyle/>
          <a:p>
            <a:pPr marL="0" indent="0" algn="l" fontAlgn="auto">
              <a:lnSpc>
                <a:spcPct val="130000"/>
              </a:lnSpc>
            </a:pPr>
            <a:r>
              <a:rPr lang="en-US">
                <a:sym typeface="+mn-ea"/>
              </a:rPr>
              <a:t>3. </a:t>
            </a:r>
            <a:r>
              <a:rPr>
                <a:sym typeface="+mn-ea"/>
              </a:rPr>
              <a:t>在输入值有一定规则或有规定的集合时</a:t>
            </a:r>
            <a:r>
              <a:rPr dirty="0" err="1">
                <a:sym typeface="+mn-ea"/>
              </a:rPr>
              <a:t>，找出各种边界条件进行测试</a:t>
            </a:r>
            <a:r>
              <a:rPr lang="zh-CN" altLang="en-US" dirty="0">
                <a:sym typeface="+mn-ea"/>
              </a:rPr>
              <a:t>；</a:t>
            </a:r>
            <a:r>
              <a:rPr dirty="0" err="1">
                <a:sym typeface="+mn-ea"/>
              </a:rPr>
              <a:t>尽量不要遗漏</a:t>
            </a:r>
            <a:r>
              <a:rPr dirty="0">
                <a:sym typeface="+mn-ea"/>
              </a:rPr>
              <a:t>。</a:t>
            </a:r>
            <a:endParaRPr lang="zh-CN" altLang="en-US" dirty="0">
              <a:sym typeface="+mn-ea"/>
            </a:endParaRPr>
          </a:p>
        </p:txBody>
      </p:sp>
      <p:sp>
        <p:nvSpPr>
          <p:cNvPr id="7" name="文本框 6"/>
          <p:cNvSpPr txBox="1"/>
          <p:nvPr/>
        </p:nvSpPr>
        <p:spPr>
          <a:xfrm>
            <a:off x="655320" y="4264266"/>
            <a:ext cx="3636000" cy="1172629"/>
          </a:xfrm>
          <a:prstGeom prst="rect">
            <a:avLst/>
          </a:prstGeom>
          <a:noFill/>
        </p:spPr>
        <p:txBody>
          <a:bodyPr wrap="square" rtlCol="0" anchor="t">
            <a:spAutoFit/>
          </a:bodyPr>
          <a:lstStyle/>
          <a:p>
            <a:pPr algn="just" fontAlgn="auto">
              <a:lnSpc>
                <a:spcPct val="130000"/>
              </a:lnSpc>
            </a:pPr>
            <a:r>
              <a:rPr>
                <a:sym typeface="+mn-ea"/>
              </a:rPr>
              <a:t>4</a:t>
            </a:r>
            <a:r>
              <a:rPr lang="en-US">
                <a:sym typeface="+mn-ea"/>
              </a:rPr>
              <a:t>.</a:t>
            </a:r>
            <a:r>
              <a:rPr lang="zh-CN" altLang="en-US">
                <a:sym typeface="+mn-ea"/>
              </a:rPr>
              <a:t> </a:t>
            </a:r>
            <a:r>
              <a:rPr dirty="0" err="1">
                <a:sym typeface="+mn-ea"/>
              </a:rPr>
              <a:t>对输出数据等价类的边界情况，要分析出与其对应的输入数据，对它们也应进行测试</a:t>
            </a:r>
            <a:r>
              <a:rPr dirty="0">
                <a:sym typeface="+mn-ea"/>
              </a:rPr>
              <a:t>。</a:t>
            </a:r>
            <a:endParaRPr lang="zh-CN" altLang="en-US" dirty="0">
              <a:sym typeface="+mn-ea"/>
            </a:endParaRPr>
          </a:p>
        </p:txBody>
      </p:sp>
      <p:sp>
        <p:nvSpPr>
          <p:cNvPr id="22" name="矩形 7"/>
          <p:cNvSpPr>
            <a:spLocks noChangeArrowheads="1"/>
          </p:cNvSpPr>
          <p:nvPr/>
        </p:nvSpPr>
        <p:spPr bwMode="auto">
          <a:xfrm>
            <a:off x="702497" y="2186304"/>
            <a:ext cx="109390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latin typeface="+mj-ea"/>
                <a:ea typeface="+mj-ea"/>
              </a:rPr>
              <a:t>等价类划分法的步骤：联合使用等价类划分和边界值分析这两种技术。</a:t>
            </a:r>
          </a:p>
        </p:txBody>
      </p:sp>
    </p:spTree>
  </p:cSld>
  <p:clrMapOvr>
    <a:masterClrMapping/>
  </p:clrMapOvr>
  <p:transition>
    <p:pull dir="rd"/>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p>
        </p:txBody>
      </p:sp>
      <p:sp>
        <p:nvSpPr>
          <p:cNvPr id="5" name="文本占位符 4">
            <a:extLst>
              <a:ext uri="{FF2B5EF4-FFF2-40B4-BE49-F238E27FC236}">
                <a16:creationId xmlns:a16="http://schemas.microsoft.com/office/drawing/2014/main" id="{E40BE350-7D6D-8ED5-AF44-2E840E00DF56}"/>
              </a:ext>
            </a:extLst>
          </p:cNvPr>
          <p:cNvSpPr>
            <a:spLocks noGrp="1"/>
          </p:cNvSpPr>
          <p:nvPr>
            <p:ph type="body" sz="quarter" idx="10"/>
          </p:nvPr>
        </p:nvSpPr>
        <p:spPr>
          <a:xfrm>
            <a:off x="696000" y="1322832"/>
            <a:ext cx="5400000" cy="400110"/>
          </a:xfrm>
        </p:spPr>
        <p:txBody>
          <a:bodyPr/>
          <a:lstStyle/>
          <a:p>
            <a:r>
              <a:rPr lang="en-US" altLang="zh-CN" dirty="0"/>
              <a:t>4.5.3 </a:t>
            </a:r>
            <a:r>
              <a:rPr lang="zh-CN" altLang="en-US" dirty="0"/>
              <a:t>错误推测法</a:t>
            </a:r>
          </a:p>
        </p:txBody>
      </p:sp>
      <p:sp>
        <p:nvSpPr>
          <p:cNvPr id="13" name="文本占位符 12">
            <a:extLst>
              <a:ext uri="{FF2B5EF4-FFF2-40B4-BE49-F238E27FC236}">
                <a16:creationId xmlns:a16="http://schemas.microsoft.com/office/drawing/2014/main" id="{24220CE3-82EF-8157-21D0-B0544E696D24}"/>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100" name="文本框 99"/>
          <p:cNvSpPr txBox="1"/>
          <p:nvPr/>
        </p:nvSpPr>
        <p:spPr>
          <a:xfrm>
            <a:off x="1542000" y="2150243"/>
            <a:ext cx="9108000" cy="3093219"/>
          </a:xfrm>
          <a:prstGeom prst="rect">
            <a:avLst/>
          </a:prstGeom>
          <a:noFill/>
          <a:ln w="9525">
            <a:noFill/>
          </a:ln>
        </p:spPr>
        <p:txBody>
          <a:bodyPr wrap="square">
            <a:spAutoFit/>
          </a:bodyPr>
          <a:lstStyle/>
          <a:p>
            <a:pPr marL="0" indent="457200" algn="just" fontAlgn="auto">
              <a:lnSpc>
                <a:spcPct val="130000"/>
              </a:lnSpc>
              <a:spcAft>
                <a:spcPts val="600"/>
              </a:spcAft>
            </a:pPr>
            <a:r>
              <a:rPr dirty="0" err="1">
                <a:sym typeface="+mn-ea"/>
              </a:rPr>
              <a:t>列出某些容易发生错误的特殊情况来选择测试方案。主要靠</a:t>
            </a:r>
            <a:r>
              <a:rPr dirty="0" err="1">
                <a:solidFill>
                  <a:srgbClr val="FF0000"/>
                </a:solidFill>
                <a:sym typeface="+mn-ea"/>
              </a:rPr>
              <a:t>直觉</a:t>
            </a:r>
            <a:r>
              <a:rPr dirty="0" err="1">
                <a:sym typeface="+mn-ea"/>
              </a:rPr>
              <a:t>和</a:t>
            </a:r>
            <a:r>
              <a:rPr dirty="0" err="1">
                <a:solidFill>
                  <a:srgbClr val="FF0000"/>
                </a:solidFill>
                <a:sym typeface="+mn-ea"/>
              </a:rPr>
              <a:t>经验</a:t>
            </a:r>
            <a:r>
              <a:rPr dirty="0" err="1">
                <a:sym typeface="+mn-ea"/>
              </a:rPr>
              <a:t>进行，没有确定的步骤</a:t>
            </a:r>
            <a:r>
              <a:rPr dirty="0">
                <a:sym typeface="+mn-ea"/>
              </a:rPr>
              <a:t>。</a:t>
            </a:r>
          </a:p>
          <a:p>
            <a:pPr marL="0" indent="457200" algn="just" fontAlgn="auto">
              <a:lnSpc>
                <a:spcPct val="130000"/>
              </a:lnSpc>
              <a:spcAft>
                <a:spcPts val="600"/>
              </a:spcAft>
            </a:pPr>
            <a:r>
              <a:rPr dirty="0">
                <a:sym typeface="+mn-ea"/>
              </a:rPr>
              <a:t>等价类划分法和边界值分析法都只孤立地考虑</a:t>
            </a:r>
            <a:r>
              <a:rPr dirty="0">
                <a:solidFill>
                  <a:srgbClr val="C00000"/>
                </a:solidFill>
                <a:sym typeface="+mn-ea"/>
              </a:rPr>
              <a:t>单个数据</a:t>
            </a:r>
            <a:r>
              <a:rPr dirty="0">
                <a:sym typeface="+mn-ea"/>
              </a:rPr>
              <a:t>输入后的测试效果，而没有考虑</a:t>
            </a:r>
            <a:r>
              <a:rPr dirty="0">
                <a:solidFill>
                  <a:srgbClr val="C00000"/>
                </a:solidFill>
                <a:sym typeface="+mn-ea"/>
              </a:rPr>
              <a:t>多个数据</a:t>
            </a:r>
            <a:r>
              <a:rPr dirty="0">
                <a:sym typeface="+mn-ea"/>
              </a:rPr>
              <a:t>输入时不同的组合所产生的后果，有时可能会遗漏容易出错的输入数据的组合情况。</a:t>
            </a:r>
            <a:endParaRPr lang="en-US" dirty="0">
              <a:sym typeface="+mn-ea"/>
            </a:endParaRPr>
          </a:p>
          <a:p>
            <a:pPr marL="0" indent="457200" algn="just" fontAlgn="auto">
              <a:lnSpc>
                <a:spcPct val="130000"/>
              </a:lnSpc>
              <a:spcAft>
                <a:spcPts val="600"/>
              </a:spcAft>
            </a:pPr>
            <a:r>
              <a:rPr dirty="0">
                <a:sym typeface="+mn-ea"/>
              </a:rPr>
              <a:t>有效的办法是用</a:t>
            </a:r>
            <a:r>
              <a:rPr dirty="0">
                <a:solidFill>
                  <a:srgbClr val="FF0000"/>
                </a:solidFill>
                <a:sym typeface="+mn-ea"/>
              </a:rPr>
              <a:t>判定表</a:t>
            </a:r>
            <a:r>
              <a:rPr dirty="0">
                <a:sym typeface="+mn-ea"/>
              </a:rPr>
              <a:t>或</a:t>
            </a:r>
            <a:r>
              <a:rPr dirty="0">
                <a:solidFill>
                  <a:srgbClr val="FF0000"/>
                </a:solidFill>
                <a:sym typeface="+mn-ea"/>
              </a:rPr>
              <a:t>判定树</a:t>
            </a:r>
            <a:r>
              <a:rPr dirty="0">
                <a:sym typeface="+mn-ea"/>
              </a:rPr>
              <a:t>把输入数据各种组合与对应的处理结果列出来，进行测试。还可以把人工检查代码与计算机测试结合起来，特别是几个模块共享数据时，应检查在一个模块中改变共享数据时，其他共享这些数据的模块是否能正确处理。</a:t>
            </a:r>
          </a:p>
        </p:txBody>
      </p:sp>
    </p:spTree>
  </p:cSld>
  <p:clrMapOvr>
    <a:masterClrMapping/>
  </p:clrMapOvr>
  <p:transition>
    <p:pull dir="rd"/>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FD2BB3-0F1B-4B6B-720D-F8F230C644C7}"/>
              </a:ext>
            </a:extLst>
          </p:cNvPr>
          <p:cNvSpPr>
            <a:spLocks noGrp="1"/>
          </p:cNvSpPr>
          <p:nvPr>
            <p:ph type="title"/>
          </p:nvPr>
        </p:nvSpPr>
        <p:spPr>
          <a:xfrm>
            <a:off x="336000" y="360000"/>
            <a:ext cx="5760000" cy="535531"/>
          </a:xfrm>
        </p:spPr>
        <p:txBody>
          <a:bodyPr/>
          <a:lstStyle/>
          <a:p>
            <a:r>
              <a:rPr lang="en-US" altLang="zh-CN" dirty="0"/>
              <a:t>4.5 </a:t>
            </a:r>
            <a:r>
              <a:rPr lang="zh-CN" altLang="en-US" dirty="0"/>
              <a:t>设计软件测试方案</a:t>
            </a:r>
          </a:p>
        </p:txBody>
      </p:sp>
      <p:sp>
        <p:nvSpPr>
          <p:cNvPr id="3" name="文本占位符 2">
            <a:extLst>
              <a:ext uri="{FF2B5EF4-FFF2-40B4-BE49-F238E27FC236}">
                <a16:creationId xmlns:a16="http://schemas.microsoft.com/office/drawing/2014/main" id="{8C56BA5E-8AB0-96A5-FF97-C5AA1AA0CA05}"/>
              </a:ext>
            </a:extLst>
          </p:cNvPr>
          <p:cNvSpPr>
            <a:spLocks noGrp="1"/>
          </p:cNvSpPr>
          <p:nvPr>
            <p:ph type="body" sz="quarter" idx="10"/>
          </p:nvPr>
        </p:nvSpPr>
        <p:spPr>
          <a:xfrm>
            <a:off x="696000" y="1322832"/>
            <a:ext cx="5400000" cy="400110"/>
          </a:xfrm>
        </p:spPr>
        <p:txBody>
          <a:bodyPr/>
          <a:lstStyle/>
          <a:p>
            <a:r>
              <a:rPr lang="zh-CN" altLang="en-US" dirty="0"/>
              <a:t>错误推测法案例：购物车</a:t>
            </a:r>
          </a:p>
        </p:txBody>
      </p:sp>
      <p:sp>
        <p:nvSpPr>
          <p:cNvPr id="21" name="文本占位符 20">
            <a:extLst>
              <a:ext uri="{FF2B5EF4-FFF2-40B4-BE49-F238E27FC236}">
                <a16:creationId xmlns:a16="http://schemas.microsoft.com/office/drawing/2014/main" id="{474E2047-011E-DB47-B985-F78E1908827A}"/>
              </a:ext>
            </a:extLst>
          </p:cNvPr>
          <p:cNvSpPr>
            <a:spLocks noGrp="1"/>
          </p:cNvSpPr>
          <p:nvPr>
            <p:ph type="body" sz="quarter" idx="11"/>
          </p:nvPr>
        </p:nvSpPr>
        <p:spPr/>
        <p:txBody>
          <a:bodyPr/>
          <a:lstStyle/>
          <a:p>
            <a:endParaRPr lang="zh-CN" altLang="en-US"/>
          </a:p>
        </p:txBody>
      </p:sp>
      <p:graphicFrame>
        <p:nvGraphicFramePr>
          <p:cNvPr id="5" name="表格 4">
            <a:extLst>
              <a:ext uri="{FF2B5EF4-FFF2-40B4-BE49-F238E27FC236}">
                <a16:creationId xmlns:a16="http://schemas.microsoft.com/office/drawing/2014/main" id="{F2940119-33FE-E288-6071-598FF3ED26F4}"/>
              </a:ext>
            </a:extLst>
          </p:cNvPr>
          <p:cNvGraphicFramePr>
            <a:graphicFrameLocks noGrp="1"/>
          </p:cNvGraphicFramePr>
          <p:nvPr>
            <p:extLst>
              <p:ext uri="{D42A27DB-BD31-4B8C-83A1-F6EECF244321}">
                <p14:modId xmlns:p14="http://schemas.microsoft.com/office/powerpoint/2010/main" val="344489690"/>
              </p:ext>
            </p:extLst>
          </p:nvPr>
        </p:nvGraphicFramePr>
        <p:xfrm>
          <a:off x="695326" y="3429000"/>
          <a:ext cx="10668000" cy="1828800"/>
        </p:xfrm>
        <a:graphic>
          <a:graphicData uri="http://schemas.openxmlformats.org/drawingml/2006/table">
            <a:tbl>
              <a:tblPr/>
              <a:tblGrid>
                <a:gridCol w="1524000">
                  <a:extLst>
                    <a:ext uri="{9D8B030D-6E8A-4147-A177-3AD203B41FA5}">
                      <a16:colId xmlns:a16="http://schemas.microsoft.com/office/drawing/2014/main" val="584283045"/>
                    </a:ext>
                  </a:extLst>
                </a:gridCol>
                <a:gridCol w="1524000">
                  <a:extLst>
                    <a:ext uri="{9D8B030D-6E8A-4147-A177-3AD203B41FA5}">
                      <a16:colId xmlns:a16="http://schemas.microsoft.com/office/drawing/2014/main" val="113686880"/>
                    </a:ext>
                  </a:extLst>
                </a:gridCol>
                <a:gridCol w="1524000">
                  <a:extLst>
                    <a:ext uri="{9D8B030D-6E8A-4147-A177-3AD203B41FA5}">
                      <a16:colId xmlns:a16="http://schemas.microsoft.com/office/drawing/2014/main" val="4109636669"/>
                    </a:ext>
                  </a:extLst>
                </a:gridCol>
                <a:gridCol w="1524000">
                  <a:extLst>
                    <a:ext uri="{9D8B030D-6E8A-4147-A177-3AD203B41FA5}">
                      <a16:colId xmlns:a16="http://schemas.microsoft.com/office/drawing/2014/main" val="1067128005"/>
                    </a:ext>
                  </a:extLst>
                </a:gridCol>
                <a:gridCol w="1524000">
                  <a:extLst>
                    <a:ext uri="{9D8B030D-6E8A-4147-A177-3AD203B41FA5}">
                      <a16:colId xmlns:a16="http://schemas.microsoft.com/office/drawing/2014/main" val="454714660"/>
                    </a:ext>
                  </a:extLst>
                </a:gridCol>
                <a:gridCol w="1524000">
                  <a:extLst>
                    <a:ext uri="{9D8B030D-6E8A-4147-A177-3AD203B41FA5}">
                      <a16:colId xmlns:a16="http://schemas.microsoft.com/office/drawing/2014/main" val="3851087561"/>
                    </a:ext>
                  </a:extLst>
                </a:gridCol>
                <a:gridCol w="1524000">
                  <a:extLst>
                    <a:ext uri="{9D8B030D-6E8A-4147-A177-3AD203B41FA5}">
                      <a16:colId xmlns:a16="http://schemas.microsoft.com/office/drawing/2014/main" val="2508680738"/>
                    </a:ext>
                  </a:extLst>
                </a:gridCol>
              </a:tblGrid>
              <a:tr h="365760">
                <a:tc>
                  <a:txBody>
                    <a:bodyPr/>
                    <a:lstStyle/>
                    <a:p>
                      <a:pPr algn="l">
                        <a:buNone/>
                      </a:pPr>
                      <a:r>
                        <a:rPr lang="zh-CN" altLang="en-US" sz="1600" dirty="0"/>
                        <a:t>规则编号</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2</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3</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52195828"/>
                  </a:ext>
                </a:extLst>
              </a:tr>
              <a:tr h="365760">
                <a:tc>
                  <a:txBody>
                    <a:bodyPr/>
                    <a:lstStyle/>
                    <a:p>
                      <a:pPr algn="l">
                        <a:buNone/>
                      </a:pPr>
                      <a:r>
                        <a:rPr lang="zh-CN" altLang="en-US" sz="1600" dirty="0"/>
                        <a:t>有商品？</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sz="1600"/>
                        <a:t>Y</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sz="1600"/>
                        <a:t>Y</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sz="1600"/>
                        <a:t>Y</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sz="1600"/>
                        <a:t>Y</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sz="1600"/>
                        <a:t>N</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4176850047"/>
                  </a:ext>
                </a:extLst>
              </a:tr>
              <a:tr h="365760">
                <a:tc>
                  <a:txBody>
                    <a:bodyPr/>
                    <a:lstStyle/>
                    <a:p>
                      <a:pPr algn="l">
                        <a:buNone/>
                      </a:pPr>
                      <a:r>
                        <a:rPr lang="zh-CN" altLang="en-US" sz="1600"/>
                        <a:t>已登录？</a:t>
                      </a:r>
                    </a:p>
                  </a:txBody>
                  <a:tcPr anchor="ctr">
                    <a:lnL>
                      <a:noFill/>
                    </a:lnL>
                    <a:lnR>
                      <a:noFill/>
                    </a:lnR>
                    <a:lnT>
                      <a:noFill/>
                    </a:lnT>
                    <a:lnB>
                      <a:noFill/>
                    </a:lnB>
                    <a:noFill/>
                  </a:tcPr>
                </a:tc>
                <a:tc>
                  <a:txBody>
                    <a:bodyPr/>
                    <a:lstStyle/>
                    <a:p>
                      <a:pPr algn="ctr">
                        <a:buNone/>
                      </a:pPr>
                      <a:r>
                        <a:rPr lang="en-US" sz="1600"/>
                        <a:t>Y</a:t>
                      </a:r>
                    </a:p>
                  </a:txBody>
                  <a:tcPr anchor="ctr">
                    <a:lnL>
                      <a:noFill/>
                    </a:lnL>
                    <a:lnR>
                      <a:noFill/>
                    </a:lnR>
                    <a:lnT>
                      <a:noFill/>
                    </a:lnT>
                    <a:lnB>
                      <a:noFill/>
                    </a:lnB>
                    <a:noFill/>
                  </a:tcPr>
                </a:tc>
                <a:tc>
                  <a:txBody>
                    <a:bodyPr/>
                    <a:lstStyle/>
                    <a:p>
                      <a:pPr algn="ctr">
                        <a:buNone/>
                      </a:pPr>
                      <a:r>
                        <a:rPr lang="en-US" sz="1600"/>
                        <a:t>Y</a:t>
                      </a:r>
                    </a:p>
                  </a:txBody>
                  <a:tcPr anchor="ctr">
                    <a:lnL>
                      <a:noFill/>
                    </a:lnL>
                    <a:lnR>
                      <a:noFill/>
                    </a:lnR>
                    <a:lnT>
                      <a:noFill/>
                    </a:lnT>
                    <a:lnB>
                      <a:noFill/>
                    </a:lnB>
                    <a:noFill/>
                  </a:tcPr>
                </a:tc>
                <a:tc>
                  <a:txBody>
                    <a:bodyPr/>
                    <a:lstStyle/>
                    <a:p>
                      <a:pPr algn="ctr">
                        <a:buNone/>
                      </a:pPr>
                      <a:r>
                        <a:rPr lang="en-US" sz="1600"/>
                        <a:t>N</a:t>
                      </a:r>
                    </a:p>
                  </a:txBody>
                  <a:tcPr anchor="ctr">
                    <a:lnL>
                      <a:noFill/>
                    </a:lnL>
                    <a:lnR>
                      <a:noFill/>
                    </a:lnR>
                    <a:lnT>
                      <a:noFill/>
                    </a:lnT>
                    <a:lnB>
                      <a:noFill/>
                    </a:lnB>
                    <a:noFill/>
                  </a:tcPr>
                </a:tc>
                <a:tc>
                  <a:txBody>
                    <a:bodyPr/>
                    <a:lstStyle/>
                    <a:p>
                      <a:pPr algn="ctr">
                        <a:buNone/>
                      </a:pPr>
                      <a:r>
                        <a:rPr lang="en-US" sz="1600"/>
                        <a:t>N</a:t>
                      </a:r>
                    </a:p>
                  </a:txBody>
                  <a:tcPr anchor="ctr">
                    <a:lnL>
                      <a:noFill/>
                    </a:lnL>
                    <a:lnR>
                      <a:noFill/>
                    </a:lnR>
                    <a:lnT>
                      <a:noFill/>
                    </a:lnT>
                    <a:lnB>
                      <a:noFill/>
                    </a:lnB>
                    <a:noFill/>
                  </a:tcPr>
                </a:tc>
                <a:tc>
                  <a:txBody>
                    <a:bodyPr/>
                    <a:lstStyle/>
                    <a:p>
                      <a:pPr algn="ctr">
                        <a:buNone/>
                      </a:pPr>
                      <a:r>
                        <a:rPr lang="en-US" sz="1600"/>
                        <a:t>Y</a:t>
                      </a:r>
                    </a:p>
                  </a:txBody>
                  <a:tcPr anchor="ctr">
                    <a:lnL>
                      <a:noFill/>
                    </a:lnL>
                    <a:lnR>
                      <a:noFill/>
                    </a:lnR>
                    <a:lnT>
                      <a:noFill/>
                    </a:lnT>
                    <a:lnB>
                      <a:noFill/>
                    </a:lnB>
                    <a:noFill/>
                  </a:tcPr>
                </a:tc>
                <a:tc>
                  <a:txBody>
                    <a:bodyPr/>
                    <a:lstStyle/>
                    <a:p>
                      <a:pPr algn="ctr">
                        <a:buNone/>
                      </a:pPr>
                      <a:r>
                        <a:rPr lang="en-US" altLang="zh-CN" sz="1600"/>
                        <a:t>...</a:t>
                      </a:r>
                    </a:p>
                  </a:txBody>
                  <a:tcPr anchor="ctr">
                    <a:lnL>
                      <a:noFill/>
                    </a:lnL>
                    <a:lnR>
                      <a:noFill/>
                    </a:lnR>
                    <a:lnT>
                      <a:noFill/>
                    </a:lnT>
                    <a:lnB>
                      <a:noFill/>
                    </a:lnB>
                    <a:noFill/>
                  </a:tcPr>
                </a:tc>
                <a:extLst>
                  <a:ext uri="{0D108BD9-81ED-4DB2-BD59-A6C34878D82A}">
                    <a16:rowId xmlns:a16="http://schemas.microsoft.com/office/drawing/2014/main" val="1346673060"/>
                  </a:ext>
                </a:extLst>
              </a:tr>
              <a:tr h="365760">
                <a:tc>
                  <a:txBody>
                    <a:bodyPr/>
                    <a:lstStyle/>
                    <a:p>
                      <a:pPr algn="l">
                        <a:buNone/>
                      </a:pPr>
                      <a:r>
                        <a:rPr lang="zh-CN" altLang="en-US" sz="1600"/>
                        <a:t>有库存？</a:t>
                      </a:r>
                    </a:p>
                  </a:txBody>
                  <a:tcPr anchor="ctr">
                    <a:lnL>
                      <a:noFill/>
                    </a:lnL>
                    <a:lnR>
                      <a:noFill/>
                    </a:lnR>
                    <a:lnT>
                      <a:noFill/>
                    </a:lnT>
                    <a:lnB>
                      <a:noFill/>
                    </a:lnB>
                    <a:noFill/>
                  </a:tcPr>
                </a:tc>
                <a:tc>
                  <a:txBody>
                    <a:bodyPr/>
                    <a:lstStyle/>
                    <a:p>
                      <a:pPr algn="ctr">
                        <a:buNone/>
                      </a:pPr>
                      <a:r>
                        <a:rPr lang="en-US" sz="1600"/>
                        <a:t>Y</a:t>
                      </a:r>
                    </a:p>
                  </a:txBody>
                  <a:tcPr anchor="ctr">
                    <a:lnL>
                      <a:noFill/>
                    </a:lnL>
                    <a:lnR>
                      <a:noFill/>
                    </a:lnR>
                    <a:lnT>
                      <a:noFill/>
                    </a:lnT>
                    <a:lnB>
                      <a:noFill/>
                    </a:lnB>
                    <a:noFill/>
                  </a:tcPr>
                </a:tc>
                <a:tc>
                  <a:txBody>
                    <a:bodyPr/>
                    <a:lstStyle/>
                    <a:p>
                      <a:pPr algn="ctr">
                        <a:buNone/>
                      </a:pPr>
                      <a:r>
                        <a:rPr lang="en-US" sz="1600" dirty="0"/>
                        <a:t>N</a:t>
                      </a:r>
                    </a:p>
                  </a:txBody>
                  <a:tcPr anchor="ctr">
                    <a:lnL>
                      <a:noFill/>
                    </a:lnL>
                    <a:lnR>
                      <a:noFill/>
                    </a:lnR>
                    <a:lnT>
                      <a:noFill/>
                    </a:lnT>
                    <a:lnB>
                      <a:noFill/>
                    </a:lnB>
                    <a:noFill/>
                  </a:tcPr>
                </a:tc>
                <a:tc>
                  <a:txBody>
                    <a:bodyPr/>
                    <a:lstStyle/>
                    <a:p>
                      <a:pPr algn="ctr">
                        <a:buNone/>
                      </a:pPr>
                      <a:r>
                        <a:rPr lang="en-US" sz="1600"/>
                        <a:t>Y</a:t>
                      </a:r>
                    </a:p>
                  </a:txBody>
                  <a:tcPr anchor="ctr">
                    <a:lnL>
                      <a:noFill/>
                    </a:lnL>
                    <a:lnR>
                      <a:noFill/>
                    </a:lnR>
                    <a:lnT>
                      <a:noFill/>
                    </a:lnT>
                    <a:lnB>
                      <a:noFill/>
                    </a:lnB>
                    <a:noFill/>
                  </a:tcPr>
                </a:tc>
                <a:tc>
                  <a:txBody>
                    <a:bodyPr/>
                    <a:lstStyle/>
                    <a:p>
                      <a:pPr algn="ctr">
                        <a:buNone/>
                      </a:pPr>
                      <a:r>
                        <a:rPr lang="en-US" sz="1600"/>
                        <a:t>N</a:t>
                      </a:r>
                    </a:p>
                  </a:txBody>
                  <a:tcPr anchor="ctr">
                    <a:lnL>
                      <a:noFill/>
                    </a:lnL>
                    <a:lnR>
                      <a:noFill/>
                    </a:lnR>
                    <a:lnT>
                      <a:noFill/>
                    </a:lnT>
                    <a:lnB>
                      <a:noFill/>
                    </a:lnB>
                    <a:noFill/>
                  </a:tcPr>
                </a:tc>
                <a:tc>
                  <a:txBody>
                    <a:bodyPr/>
                    <a:lstStyle/>
                    <a:p>
                      <a:pPr algn="ctr">
                        <a:buNone/>
                      </a:pPr>
                      <a:r>
                        <a:rPr lang="en-US" sz="1600"/>
                        <a:t>Y</a:t>
                      </a:r>
                    </a:p>
                  </a:txBody>
                  <a:tcPr anchor="ctr">
                    <a:lnL>
                      <a:noFill/>
                    </a:lnL>
                    <a:lnR>
                      <a:noFill/>
                    </a:lnR>
                    <a:lnT>
                      <a:noFill/>
                    </a:lnT>
                    <a:lnB>
                      <a:noFill/>
                    </a:lnB>
                    <a:noFill/>
                  </a:tcPr>
                </a:tc>
                <a:tc>
                  <a:txBody>
                    <a:bodyPr/>
                    <a:lstStyle/>
                    <a:p>
                      <a:pPr algn="ctr">
                        <a:buNone/>
                      </a:pPr>
                      <a:r>
                        <a:rPr lang="en-US" altLang="zh-CN" sz="1600"/>
                        <a:t>...</a:t>
                      </a:r>
                    </a:p>
                  </a:txBody>
                  <a:tcPr anchor="ctr">
                    <a:lnL>
                      <a:noFill/>
                    </a:lnL>
                    <a:lnR>
                      <a:noFill/>
                    </a:lnR>
                    <a:lnT>
                      <a:noFill/>
                    </a:lnT>
                    <a:lnB>
                      <a:noFill/>
                    </a:lnB>
                    <a:noFill/>
                  </a:tcPr>
                </a:tc>
                <a:extLst>
                  <a:ext uri="{0D108BD9-81ED-4DB2-BD59-A6C34878D82A}">
                    <a16:rowId xmlns:a16="http://schemas.microsoft.com/office/drawing/2014/main" val="3336944942"/>
                  </a:ext>
                </a:extLst>
              </a:tr>
              <a:tr h="365760">
                <a:tc>
                  <a:txBody>
                    <a:bodyPr/>
                    <a:lstStyle/>
                    <a:p>
                      <a:pPr algn="l">
                        <a:buNone/>
                      </a:pPr>
                      <a:r>
                        <a:rPr lang="zh-CN" altLang="en-US" sz="1600"/>
                        <a:t>预期动作</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a:t>去结算</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a:t>提示缺货</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a:t>去登录</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a:t>提示缺货</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a:t>提示空车</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t>...</a:t>
                      </a:r>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1748745"/>
                  </a:ext>
                </a:extLst>
              </a:tr>
            </a:tbl>
          </a:graphicData>
        </a:graphic>
      </p:graphicFrame>
      <p:sp>
        <p:nvSpPr>
          <p:cNvPr id="18" name="文本框 17">
            <a:extLst>
              <a:ext uri="{FF2B5EF4-FFF2-40B4-BE49-F238E27FC236}">
                <a16:creationId xmlns:a16="http://schemas.microsoft.com/office/drawing/2014/main" id="{C5611A90-141F-A668-A837-739B6C45DDE7}"/>
              </a:ext>
            </a:extLst>
          </p:cNvPr>
          <p:cNvSpPr txBox="1"/>
          <p:nvPr/>
        </p:nvSpPr>
        <p:spPr>
          <a:xfrm>
            <a:off x="695325" y="1957948"/>
            <a:ext cx="3179075" cy="1200329"/>
          </a:xfrm>
          <a:prstGeom prst="rect">
            <a:avLst/>
          </a:prstGeom>
          <a:noFill/>
        </p:spPr>
        <p:txBody>
          <a:bodyPr wrap="none" rtlCol="0">
            <a:spAutoFit/>
          </a:bodyPr>
          <a:lstStyle/>
          <a:p>
            <a:pPr algn="just"/>
            <a:r>
              <a:rPr lang="zh-CN" altLang="en-US" dirty="0">
                <a:sym typeface="+mn-ea"/>
              </a:rPr>
              <a:t>正常逻辑：</a:t>
            </a:r>
            <a:endParaRPr lang="en-US" altLang="zh-CN" dirty="0">
              <a:sym typeface="+mn-ea"/>
            </a:endParaRPr>
          </a:p>
          <a:p>
            <a:pPr marL="285750" indent="-285750" algn="just">
              <a:buFont typeface="Arial" panose="020B0604020202020204" pitchFamily="34" charset="0"/>
              <a:buChar char="•"/>
            </a:pPr>
            <a:r>
              <a:rPr lang="zh-CN" altLang="en-US" dirty="0">
                <a:sym typeface="+mn-ea"/>
              </a:rPr>
              <a:t>条件</a:t>
            </a:r>
            <a:r>
              <a:rPr lang="en-US" altLang="zh-CN" dirty="0">
                <a:sym typeface="+mn-ea"/>
              </a:rPr>
              <a:t>A</a:t>
            </a:r>
            <a:r>
              <a:rPr lang="zh-CN" altLang="en-US" dirty="0">
                <a:sym typeface="+mn-ea"/>
              </a:rPr>
              <a:t>：购物车里有商品。</a:t>
            </a:r>
          </a:p>
          <a:p>
            <a:pPr marL="285750" indent="-285750" algn="just">
              <a:buFont typeface="Arial" panose="020B0604020202020204" pitchFamily="34" charset="0"/>
              <a:buChar char="•"/>
            </a:pPr>
            <a:r>
              <a:rPr lang="zh-CN" altLang="en-US" dirty="0">
                <a:sym typeface="+mn-ea"/>
              </a:rPr>
              <a:t>条件</a:t>
            </a:r>
            <a:r>
              <a:rPr lang="en-US" altLang="zh-CN" dirty="0">
                <a:sym typeface="+mn-ea"/>
              </a:rPr>
              <a:t>B</a:t>
            </a:r>
            <a:r>
              <a:rPr lang="zh-CN" altLang="en-US" dirty="0">
                <a:sym typeface="+mn-ea"/>
              </a:rPr>
              <a:t>：用户已登录。</a:t>
            </a:r>
          </a:p>
          <a:p>
            <a:pPr marL="285750" indent="-285750" algn="just">
              <a:buFont typeface="Arial" panose="020B0604020202020204" pitchFamily="34" charset="0"/>
              <a:buChar char="•"/>
            </a:pPr>
            <a:r>
              <a:rPr lang="zh-CN" altLang="en-US" dirty="0">
                <a:sym typeface="+mn-ea"/>
              </a:rPr>
              <a:t>条件</a:t>
            </a:r>
            <a:r>
              <a:rPr lang="en-US" altLang="zh-CN" dirty="0">
                <a:sym typeface="+mn-ea"/>
              </a:rPr>
              <a:t>C</a:t>
            </a:r>
            <a:r>
              <a:rPr lang="zh-CN" altLang="en-US" dirty="0">
                <a:sym typeface="+mn-ea"/>
              </a:rPr>
              <a:t>：商品都有库存</a:t>
            </a:r>
          </a:p>
        </p:txBody>
      </p:sp>
    </p:spTree>
    <p:extLst>
      <p:ext uri="{BB962C8B-B14F-4D97-AF65-F5344CB8AC3E}">
        <p14:creationId xmlns:p14="http://schemas.microsoft.com/office/powerpoint/2010/main" val="24873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866630" cy="5443220"/>
          </a:xfrm>
          <a:prstGeom prst="rect">
            <a:avLst/>
          </a:prstGeom>
          <a:noFill/>
          <a:ln w="9525">
            <a:noFill/>
          </a:ln>
        </p:spPr>
      </p:pic>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5" name="文本占位符 4">
            <a:extLst>
              <a:ext uri="{FF2B5EF4-FFF2-40B4-BE49-F238E27FC236}">
                <a16:creationId xmlns:a16="http://schemas.microsoft.com/office/drawing/2014/main" id="{A789ECAB-3E1D-FE42-52CB-BA0890929471}"/>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 </a:t>
            </a:r>
            <a:r>
              <a:rPr lang="en-US" altLang="zh-CN" dirty="0"/>
              <a:t>Logic Coverage Testing</a:t>
            </a:r>
            <a:endParaRPr lang="zh-CN" altLang="en-US" dirty="0"/>
          </a:p>
        </p:txBody>
      </p:sp>
      <p:sp>
        <p:nvSpPr>
          <p:cNvPr id="6" name="文本占位符 5">
            <a:extLst>
              <a:ext uri="{FF2B5EF4-FFF2-40B4-BE49-F238E27FC236}">
                <a16:creationId xmlns:a16="http://schemas.microsoft.com/office/drawing/2014/main" id="{46421EA9-C576-98BF-03F5-B46A27CC35D2}"/>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10" name="文本框 9">
            <a:extLst>
              <a:ext uri="{FF2B5EF4-FFF2-40B4-BE49-F238E27FC236}">
                <a16:creationId xmlns:a16="http://schemas.microsoft.com/office/drawing/2014/main" id="{4131E042-3981-C80B-5D37-E6E8EFEC45F8}"/>
              </a:ext>
            </a:extLst>
          </p:cNvPr>
          <p:cNvSpPr txBox="1"/>
          <p:nvPr/>
        </p:nvSpPr>
        <p:spPr>
          <a:xfrm>
            <a:off x="2366645" y="2727960"/>
            <a:ext cx="5983605" cy="1859035"/>
          </a:xfrm>
          <a:prstGeom prst="rect">
            <a:avLst/>
          </a:prstGeom>
          <a:noFill/>
        </p:spPr>
        <p:txBody>
          <a:bodyPr wrap="square" rtlCol="0" anchor="t">
            <a:spAutoFit/>
          </a:bodyPr>
          <a:lstStyle/>
          <a:p>
            <a:pPr>
              <a:lnSpc>
                <a:spcPct val="130000"/>
              </a:lnSpc>
            </a:pPr>
            <a:r>
              <a:rPr lang="zh-CN" altLang="en-US" dirty="0"/>
              <a:t> </a:t>
            </a:r>
            <a:r>
              <a:rPr lang="zh-CN" altLang="en-US" dirty="0">
                <a:solidFill>
                  <a:srgbClr val="FF0000"/>
                </a:solidFill>
              </a:rPr>
              <a:t>白盒法</a:t>
            </a:r>
            <a:r>
              <a:rPr lang="zh-CN" altLang="en-US" dirty="0"/>
              <a:t>根据程序逻辑结构进行测试；逻辑覆盖法是一系列测试过程的总称，这些测试是逐渐地、越来越完整地进行通路测试。要想穷尽路径测试往往做不到，但是尽可能选择最有代表性的通路，尽量完整地进行各种通路测试是可以做到的。</a:t>
            </a:r>
          </a:p>
        </p:txBody>
      </p:sp>
    </p:spTree>
  </p:cSld>
  <p:clrMapOvr>
    <a:masterClrMapping/>
  </p:clrMapOvr>
  <p:transition>
    <p:pull dir="rd"/>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FCC11-5A00-8597-11C8-051C8072BEF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9B3E0490-86C6-5C51-3A35-DAF45B041F0B}"/>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3" name="文本占位符 12">
            <a:extLst>
              <a:ext uri="{FF2B5EF4-FFF2-40B4-BE49-F238E27FC236}">
                <a16:creationId xmlns:a16="http://schemas.microsoft.com/office/drawing/2014/main" id="{C302913A-FCDC-DE01-3EFA-69CF12AD8312}"/>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24" name="文本占位符 23">
            <a:extLst>
              <a:ext uri="{FF2B5EF4-FFF2-40B4-BE49-F238E27FC236}">
                <a16:creationId xmlns:a16="http://schemas.microsoft.com/office/drawing/2014/main" id="{96683182-9EE7-1F35-EEFF-D3CDEBF95959}"/>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39" name="TextBox 1">
            <a:extLst>
              <a:ext uri="{FF2B5EF4-FFF2-40B4-BE49-F238E27FC236}">
                <a16:creationId xmlns:a16="http://schemas.microsoft.com/office/drawing/2014/main" id="{048BCDAA-A924-2BEB-17D6-624E8813E9F6}"/>
              </a:ext>
            </a:extLst>
          </p:cNvPr>
          <p:cNvSpPr txBox="1">
            <a:spLocks noChangeArrowheads="1"/>
          </p:cNvSpPr>
          <p:nvPr/>
        </p:nvSpPr>
        <p:spPr bwMode="auto">
          <a:xfrm>
            <a:off x="695999" y="2250788"/>
            <a:ext cx="41854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altLang="zh-CN" sz="2800" dirty="0">
                <a:solidFill>
                  <a:srgbClr val="E67819"/>
                </a:solidFill>
                <a:latin typeface="Times New Roman" panose="02020603050405020304" pitchFamily="18" charset="0"/>
                <a:ea typeface="MS UI Gothic" panose="020B0600070205080204" charset="-128"/>
              </a:rPr>
              <a:t>1</a:t>
            </a:r>
            <a:endParaRPr lang="zh-CN" altLang="en-US" sz="2800" dirty="0">
              <a:solidFill>
                <a:srgbClr val="E67819"/>
              </a:solidFill>
              <a:latin typeface="Times New Roman" panose="02020603050405020304" pitchFamily="18" charset="0"/>
              <a:ea typeface="MS UI Gothic" panose="020B0600070205080204" charset="-128"/>
            </a:endParaRPr>
          </a:p>
        </p:txBody>
      </p:sp>
      <p:cxnSp>
        <p:nvCxnSpPr>
          <p:cNvPr id="40" name="直接连接符 39">
            <a:extLst>
              <a:ext uri="{FF2B5EF4-FFF2-40B4-BE49-F238E27FC236}">
                <a16:creationId xmlns:a16="http://schemas.microsoft.com/office/drawing/2014/main" id="{936CB035-63CA-8018-03DD-91681A77C740}"/>
              </a:ext>
            </a:extLst>
          </p:cNvPr>
          <p:cNvCxnSpPr>
            <a:cxnSpLocks/>
          </p:cNvCxnSpPr>
          <p:nvPr/>
        </p:nvCxnSpPr>
        <p:spPr>
          <a:xfrm flipH="1">
            <a:off x="695999" y="2217123"/>
            <a:ext cx="368295"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a:extLst>
              <a:ext uri="{FF2B5EF4-FFF2-40B4-BE49-F238E27FC236}">
                <a16:creationId xmlns:a16="http://schemas.microsoft.com/office/drawing/2014/main" id="{0492B470-1B5E-5164-CA78-F444A842A3C1}"/>
              </a:ext>
            </a:extLst>
          </p:cNvPr>
          <p:cNvSpPr>
            <a:spLocks noChangeArrowheads="1"/>
          </p:cNvSpPr>
          <p:nvPr/>
        </p:nvSpPr>
        <p:spPr bwMode="auto">
          <a:xfrm>
            <a:off x="952975" y="2327732"/>
            <a:ext cx="51430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语句覆盖 </a:t>
            </a:r>
            <a:r>
              <a:rPr lang="en-US" altLang="zh-CN" sz="1600" dirty="0">
                <a:solidFill>
                  <a:srgbClr val="E67819"/>
                </a:solidFill>
                <a:latin typeface="+mj-ea"/>
                <a:ea typeface="+mj-ea"/>
              </a:rPr>
              <a:t>Statement Coverage</a:t>
            </a:r>
            <a:endParaRPr lang="zh-CN" altLang="en-US" dirty="0">
              <a:solidFill>
                <a:srgbClr val="E67819"/>
              </a:solidFill>
              <a:latin typeface="+mj-ea"/>
              <a:ea typeface="+mj-ea"/>
            </a:endParaRPr>
          </a:p>
        </p:txBody>
      </p:sp>
      <p:sp>
        <p:nvSpPr>
          <p:cNvPr id="42" name="矩形 8">
            <a:extLst>
              <a:ext uri="{FF2B5EF4-FFF2-40B4-BE49-F238E27FC236}">
                <a16:creationId xmlns:a16="http://schemas.microsoft.com/office/drawing/2014/main" id="{AF0C9B6E-B08E-E41C-C3DA-1D4E25EEFF21}"/>
              </a:ext>
            </a:extLst>
          </p:cNvPr>
          <p:cNvSpPr>
            <a:spLocks noChangeArrowheads="1"/>
          </p:cNvSpPr>
          <p:nvPr/>
        </p:nvSpPr>
        <p:spPr bwMode="auto">
          <a:xfrm>
            <a:off x="952976" y="2636617"/>
            <a:ext cx="5143022" cy="1020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sz="1600" dirty="0" err="1"/>
              <a:t>选择足够多的测试数据，使被测试的程序中每个</a:t>
            </a:r>
            <a:r>
              <a:rPr sz="1600" dirty="0" err="1">
                <a:solidFill>
                  <a:srgbClr val="FF0000"/>
                </a:solidFill>
              </a:rPr>
              <a:t>语句</a:t>
            </a:r>
            <a:r>
              <a:rPr sz="1600" dirty="0" err="1"/>
              <a:t>至少执行一次</a:t>
            </a:r>
            <a:r>
              <a:rPr sz="1600" dirty="0"/>
              <a:t>。</a:t>
            </a:r>
            <a:endParaRPr lang="en-US" sz="1600" dirty="0"/>
          </a:p>
          <a:p>
            <a:pPr>
              <a:lnSpc>
                <a:spcPct val="130000"/>
              </a:lnSpc>
            </a:pPr>
            <a:r>
              <a:rPr lang="zh-CN" altLang="en-US" sz="1600" dirty="0"/>
              <a:t>语句是程序执行的最小独立单位</a:t>
            </a:r>
            <a:endParaRPr sz="1600" dirty="0"/>
          </a:p>
        </p:txBody>
      </p:sp>
      <p:pic>
        <p:nvPicPr>
          <p:cNvPr id="2" name="图片 124">
            <a:extLst>
              <a:ext uri="{FF2B5EF4-FFF2-40B4-BE49-F238E27FC236}">
                <a16:creationId xmlns:a16="http://schemas.microsoft.com/office/drawing/2014/main" id="{B6B8A79D-9333-8DA6-0E3C-82D26802EB74}"/>
              </a:ext>
            </a:extLst>
          </p:cNvPr>
          <p:cNvPicPr preferRelativeResize="0">
            <a:picLocks noChangeAspect="1" noChangeArrowheads="1"/>
          </p:cNvPicPr>
          <p:nvPr/>
        </p:nvPicPr>
        <p:blipFill>
          <a:blip r:embed="rId3" cstate="print"/>
          <a:srcRect/>
          <a:stretch>
            <a:fillRect/>
          </a:stretch>
        </p:blipFill>
        <p:spPr bwMode="auto">
          <a:xfrm>
            <a:off x="7744826" y="3229325"/>
            <a:ext cx="3462415" cy="3108960"/>
          </a:xfrm>
          <a:prstGeom prst="rect">
            <a:avLst/>
          </a:prstGeom>
          <a:noFill/>
          <a:ln w="9525">
            <a:noFill/>
            <a:miter lim="800000"/>
            <a:headEnd/>
            <a:tailEnd/>
          </a:ln>
        </p:spPr>
      </p:pic>
      <p:sp>
        <p:nvSpPr>
          <p:cNvPr id="4" name="TextBox 33">
            <a:extLst>
              <a:ext uri="{FF2B5EF4-FFF2-40B4-BE49-F238E27FC236}">
                <a16:creationId xmlns:a16="http://schemas.microsoft.com/office/drawing/2014/main" id="{C299B02D-D671-7CBB-9363-6FC226A2698D}"/>
              </a:ext>
            </a:extLst>
          </p:cNvPr>
          <p:cNvSpPr txBox="1"/>
          <p:nvPr/>
        </p:nvSpPr>
        <p:spPr>
          <a:xfrm>
            <a:off x="696000" y="4361400"/>
            <a:ext cx="5400000" cy="783255"/>
          </a:xfrm>
          <a:prstGeom prst="rect">
            <a:avLst/>
          </a:prstGeom>
          <a:solidFill>
            <a:schemeClr val="bg1">
              <a:lumMod val="95000"/>
            </a:schemeClr>
          </a:solidFill>
        </p:spPr>
        <p:txBody>
          <a:bodyPr wrap="square" lIns="144000" tIns="144000" rIns="144000" bIns="144000">
            <a:spAutoFit/>
          </a:bodyPr>
          <a:lstStyle/>
          <a:p>
            <a:r>
              <a:rPr lang="zh-CN" altLang="en-US" sz="1600" dirty="0"/>
              <a:t>测试数据：</a:t>
            </a:r>
            <a:r>
              <a:rPr lang="en-US" altLang="zh-CN" sz="1600" dirty="0"/>
              <a:t>A=3</a:t>
            </a:r>
            <a:r>
              <a:rPr lang="zh-CN" altLang="en-US" sz="1600" dirty="0"/>
              <a:t>，</a:t>
            </a:r>
            <a:r>
              <a:rPr lang="en-US" altLang="zh-CN" sz="1600" dirty="0"/>
              <a:t>B=0</a:t>
            </a:r>
            <a:r>
              <a:rPr lang="zh-CN" altLang="en-US" sz="1600" dirty="0"/>
              <a:t>时，</a:t>
            </a:r>
            <a:endParaRPr lang="en-US" altLang="zh-CN" sz="1600" dirty="0"/>
          </a:p>
          <a:p>
            <a:r>
              <a:rPr lang="zh-CN" altLang="en-US" sz="1600" dirty="0"/>
              <a:t>执行路径：</a:t>
            </a:r>
            <a:r>
              <a:rPr lang="en-US" altLang="zh-CN" sz="1600" dirty="0" err="1"/>
              <a:t>s→a→c→b→d→e</a:t>
            </a:r>
            <a:endParaRPr lang="zh-CN" altLang="en-US" sz="1600" dirty="0"/>
          </a:p>
        </p:txBody>
      </p:sp>
      <p:sp>
        <p:nvSpPr>
          <p:cNvPr id="6" name="TextBox 33">
            <a:extLst>
              <a:ext uri="{FF2B5EF4-FFF2-40B4-BE49-F238E27FC236}">
                <a16:creationId xmlns:a16="http://schemas.microsoft.com/office/drawing/2014/main" id="{43F30949-0EDD-D87C-D3BE-4E1AD03711D1}"/>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spTree>
    <p:extLst>
      <p:ext uri="{BB962C8B-B14F-4D97-AF65-F5344CB8AC3E}">
        <p14:creationId xmlns:p14="http://schemas.microsoft.com/office/powerpoint/2010/main" val="3194189572"/>
      </p:ext>
    </p:extLst>
  </p:cSld>
  <p:clrMapOvr>
    <a:masterClrMapping/>
  </p:clrMapOvr>
  <p:transition>
    <p:pull dir="rd"/>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3" name="文本占位符 12">
            <a:extLst>
              <a:ext uri="{FF2B5EF4-FFF2-40B4-BE49-F238E27FC236}">
                <a16:creationId xmlns:a16="http://schemas.microsoft.com/office/drawing/2014/main" id="{BDF26F18-4EEA-F3B6-BA82-2CECAFD385CF}"/>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24" name="文本占位符 23">
            <a:extLst>
              <a:ext uri="{FF2B5EF4-FFF2-40B4-BE49-F238E27FC236}">
                <a16:creationId xmlns:a16="http://schemas.microsoft.com/office/drawing/2014/main" id="{F034409F-7A85-8BD3-CE6A-6DE5A1FC865C}"/>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51" name="TextBox 10"/>
          <p:cNvSpPr txBox="1">
            <a:spLocks noChangeArrowheads="1"/>
          </p:cNvSpPr>
          <p:nvPr/>
        </p:nvSpPr>
        <p:spPr bwMode="auto">
          <a:xfrm>
            <a:off x="696000" y="1951902"/>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altLang="zh-CN" sz="2800" dirty="0">
                <a:solidFill>
                  <a:srgbClr val="E67819"/>
                </a:solidFill>
                <a:latin typeface="Times New Roman" panose="02020603050405020304" pitchFamily="18" charset="0"/>
                <a:ea typeface="MS UI Gothic" panose="020B0600070205080204" charset="-128"/>
              </a:rPr>
              <a:t>2</a:t>
            </a:r>
            <a:endParaRPr lang="zh-CN" altLang="en-US" sz="2800" dirty="0">
              <a:solidFill>
                <a:srgbClr val="E67819"/>
              </a:solidFill>
              <a:latin typeface="Times New Roman" panose="02020603050405020304" pitchFamily="18" charset="0"/>
              <a:ea typeface="MS UI Gothic" panose="020B0600070205080204" charset="-128"/>
            </a:endParaRPr>
          </a:p>
        </p:txBody>
      </p:sp>
      <p:cxnSp>
        <p:nvCxnSpPr>
          <p:cNvPr id="52" name="直接连接符 51"/>
          <p:cNvCxnSpPr/>
          <p:nvPr/>
        </p:nvCxnSpPr>
        <p:spPr>
          <a:xfrm flipH="1">
            <a:off x="696000" y="1918237"/>
            <a:ext cx="320502"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38961" y="2028846"/>
            <a:ext cx="47628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判定</a:t>
            </a:r>
            <a:r>
              <a:rPr lang="en-US" altLang="zh-CN" dirty="0">
                <a:solidFill>
                  <a:srgbClr val="E67819"/>
                </a:solidFill>
                <a:latin typeface="+mj-ea"/>
                <a:ea typeface="+mj-ea"/>
              </a:rPr>
              <a:t>/</a:t>
            </a:r>
            <a:r>
              <a:rPr lang="zh-CN" altLang="en-US" dirty="0">
                <a:solidFill>
                  <a:srgbClr val="E67819"/>
                </a:solidFill>
                <a:latin typeface="+mj-ea"/>
                <a:ea typeface="+mj-ea"/>
              </a:rPr>
              <a:t>分支覆盖 </a:t>
            </a:r>
            <a:r>
              <a:rPr lang="en-US" altLang="zh-CN" sz="1600" dirty="0">
                <a:solidFill>
                  <a:srgbClr val="E67819"/>
                </a:solidFill>
                <a:latin typeface="+mj-ea"/>
                <a:ea typeface="+mj-ea"/>
              </a:rPr>
              <a:t>Decision/Branch  Coverage</a:t>
            </a:r>
            <a:endParaRPr lang="zh-CN" altLang="en-US" dirty="0">
              <a:solidFill>
                <a:srgbClr val="E67819"/>
              </a:solidFill>
              <a:latin typeface="+mj-ea"/>
              <a:ea typeface="+mj-ea"/>
            </a:endParaRPr>
          </a:p>
        </p:txBody>
      </p:sp>
      <p:sp>
        <p:nvSpPr>
          <p:cNvPr id="54" name="矩形 9"/>
          <p:cNvSpPr>
            <a:spLocks noChangeArrowheads="1"/>
          </p:cNvSpPr>
          <p:nvPr/>
        </p:nvSpPr>
        <p:spPr bwMode="auto">
          <a:xfrm>
            <a:off x="938961" y="2406476"/>
            <a:ext cx="4475226" cy="16626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sz="1600" dirty="0" err="1"/>
              <a:t>不仅每个语句都必须至少执行一次，而且每个判定的可能结果都</a:t>
            </a:r>
            <a:r>
              <a:rPr sz="1600" dirty="0" err="1">
                <a:solidFill>
                  <a:srgbClr val="FF0000"/>
                </a:solidFill>
              </a:rPr>
              <a:t>至少</a:t>
            </a:r>
            <a:r>
              <a:rPr sz="1600" dirty="0" err="1"/>
              <a:t>执行一次，即每个</a:t>
            </a:r>
            <a:r>
              <a:rPr sz="1600" dirty="0" err="1">
                <a:solidFill>
                  <a:srgbClr val="FF0000"/>
                </a:solidFill>
              </a:rPr>
              <a:t>分支</a:t>
            </a:r>
            <a:r>
              <a:rPr sz="1600" dirty="0" err="1"/>
              <a:t>都至少执行一次</a:t>
            </a:r>
            <a:r>
              <a:rPr sz="1600" dirty="0"/>
              <a:t>。</a:t>
            </a:r>
            <a:endParaRPr lang="en-US" sz="1600" dirty="0"/>
          </a:p>
          <a:p>
            <a:pPr fontAlgn="auto">
              <a:lnSpc>
                <a:spcPct val="130000"/>
              </a:lnSpc>
            </a:pPr>
            <a:r>
              <a:rPr lang="zh-CN" altLang="en-US" sz="1600" dirty="0"/>
              <a:t>真：至少执行</a:t>
            </a:r>
            <a:r>
              <a:rPr lang="en-US" altLang="zh-CN" sz="1600" dirty="0"/>
              <a:t>1</a:t>
            </a:r>
            <a:r>
              <a:rPr lang="zh-CN" altLang="en-US" sz="1600" dirty="0"/>
              <a:t>次</a:t>
            </a:r>
            <a:endParaRPr lang="en-US" altLang="zh-CN" sz="1600" dirty="0"/>
          </a:p>
          <a:p>
            <a:pPr fontAlgn="auto">
              <a:lnSpc>
                <a:spcPct val="130000"/>
              </a:lnSpc>
            </a:pPr>
            <a:r>
              <a:rPr lang="zh-CN" altLang="en-US" sz="1600" dirty="0"/>
              <a:t>假：至少执行</a:t>
            </a:r>
            <a:r>
              <a:rPr lang="en-US" altLang="zh-CN" sz="1600" dirty="0"/>
              <a:t>1</a:t>
            </a:r>
            <a:r>
              <a:rPr lang="zh-CN" altLang="en-US" sz="1600" dirty="0"/>
              <a:t>次</a:t>
            </a:r>
            <a:endParaRPr sz="1600" dirty="0"/>
          </a:p>
        </p:txBody>
      </p:sp>
      <p:pic>
        <p:nvPicPr>
          <p:cNvPr id="2" name="图片 124">
            <a:extLst>
              <a:ext uri="{FF2B5EF4-FFF2-40B4-BE49-F238E27FC236}">
                <a16:creationId xmlns:a16="http://schemas.microsoft.com/office/drawing/2014/main" id="{5D1030FD-8EF2-AE0B-6B1C-4074FE6B6C23}"/>
              </a:ext>
            </a:extLst>
          </p:cNvPr>
          <p:cNvPicPr preferRelativeResize="0">
            <a:picLocks noChangeAspect="1" noChangeArrowheads="1"/>
          </p:cNvPicPr>
          <p:nvPr/>
        </p:nvPicPr>
        <p:blipFill>
          <a:blip r:embed="rId3" cstate="print"/>
          <a:srcRect/>
          <a:stretch>
            <a:fillRect/>
          </a:stretch>
        </p:blipFill>
        <p:spPr bwMode="auto">
          <a:xfrm>
            <a:off x="7744826" y="3229325"/>
            <a:ext cx="3462415" cy="3108960"/>
          </a:xfrm>
          <a:prstGeom prst="rect">
            <a:avLst/>
          </a:prstGeom>
          <a:noFill/>
          <a:ln w="9525">
            <a:noFill/>
            <a:miter lim="800000"/>
            <a:headEnd/>
            <a:tailEnd/>
          </a:ln>
        </p:spPr>
      </p:pic>
      <p:sp>
        <p:nvSpPr>
          <p:cNvPr id="4" name="TextBox 33">
            <a:extLst>
              <a:ext uri="{FF2B5EF4-FFF2-40B4-BE49-F238E27FC236}">
                <a16:creationId xmlns:a16="http://schemas.microsoft.com/office/drawing/2014/main" id="{65A8D96E-7D23-CF6B-043E-B1F8188740D1}"/>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sp>
        <p:nvSpPr>
          <p:cNvPr id="6" name="TextBox 33">
            <a:extLst>
              <a:ext uri="{FF2B5EF4-FFF2-40B4-BE49-F238E27FC236}">
                <a16:creationId xmlns:a16="http://schemas.microsoft.com/office/drawing/2014/main" id="{95BB3282-F2D1-7268-62ED-8B5612E198A0}"/>
              </a:ext>
            </a:extLst>
          </p:cNvPr>
          <p:cNvSpPr txBox="1"/>
          <p:nvPr/>
        </p:nvSpPr>
        <p:spPr>
          <a:xfrm>
            <a:off x="696000" y="4158656"/>
            <a:ext cx="5400000" cy="1768140"/>
          </a:xfrm>
          <a:prstGeom prst="rect">
            <a:avLst/>
          </a:prstGeom>
          <a:solidFill>
            <a:schemeClr val="bg1">
              <a:lumMod val="95000"/>
            </a:schemeClr>
          </a:solidFill>
        </p:spPr>
        <p:txBody>
          <a:bodyPr wrap="square" lIns="144000" tIns="144000" rIns="144000" bIns="144000">
            <a:spAutoFit/>
          </a:bodyPr>
          <a:lstStyle/>
          <a:p>
            <a:r>
              <a:rPr lang="zh-CN" altLang="en-US" sz="1600" dirty="0"/>
              <a:t>用两组测试数据</a:t>
            </a:r>
            <a:endParaRPr lang="en-US" altLang="zh-CN" sz="1600" dirty="0"/>
          </a:p>
          <a:p>
            <a:r>
              <a:rPr lang="zh-CN" altLang="en-US" sz="1600" dirty="0"/>
              <a:t>测试数据：</a:t>
            </a:r>
            <a:r>
              <a:rPr lang="en-US" altLang="zh-CN" sz="1600" dirty="0"/>
              <a:t>A=3</a:t>
            </a:r>
            <a:r>
              <a:rPr lang="zh-CN" altLang="en-US" sz="1600" dirty="0"/>
              <a:t>，</a:t>
            </a:r>
            <a:r>
              <a:rPr lang="en-US" altLang="zh-CN" sz="1600" dirty="0"/>
              <a:t>B=0</a:t>
            </a:r>
            <a:r>
              <a:rPr lang="zh-CN" altLang="en-US" sz="1600" dirty="0"/>
              <a:t>时，</a:t>
            </a:r>
            <a:endParaRPr lang="en-US" altLang="zh-CN" sz="1600" dirty="0"/>
          </a:p>
          <a:p>
            <a:r>
              <a:rPr lang="zh-CN" altLang="en-US" sz="1600" dirty="0"/>
              <a:t>执行路径：</a:t>
            </a:r>
            <a:r>
              <a:rPr lang="en-US" altLang="zh-CN" sz="1600" dirty="0" err="1"/>
              <a:t>s→a→c→b→d→e</a:t>
            </a:r>
            <a:r>
              <a:rPr lang="zh-CN" altLang="en-US" sz="1600" dirty="0"/>
              <a:t>；</a:t>
            </a:r>
            <a:endParaRPr lang="en-US" altLang="zh-CN" sz="1600" dirty="0"/>
          </a:p>
          <a:p>
            <a:endParaRPr lang="en-US" altLang="zh-CN" sz="1600" dirty="0"/>
          </a:p>
          <a:p>
            <a:r>
              <a:rPr lang="zh-CN" altLang="en-US" sz="1600" dirty="0"/>
              <a:t>测试数据：</a:t>
            </a:r>
            <a:r>
              <a:rPr lang="en-US" altLang="zh-CN" sz="1600" dirty="0"/>
              <a:t>A=2</a:t>
            </a:r>
            <a:r>
              <a:rPr lang="zh-CN" altLang="en-US" sz="1600" dirty="0"/>
              <a:t>，</a:t>
            </a:r>
            <a:r>
              <a:rPr lang="en-US" altLang="zh-CN" sz="1600" dirty="0"/>
              <a:t>B=0</a:t>
            </a:r>
            <a:r>
              <a:rPr lang="zh-CN" altLang="en-US" sz="1600" dirty="0"/>
              <a:t>时，</a:t>
            </a:r>
            <a:endParaRPr lang="en-US" altLang="zh-CN" sz="1600" dirty="0"/>
          </a:p>
          <a:p>
            <a:r>
              <a:rPr lang="zh-CN" altLang="en-US" sz="1600" dirty="0"/>
              <a:t>执行路径：</a:t>
            </a:r>
            <a:r>
              <a:rPr lang="en-US" altLang="zh-CN" sz="1600" dirty="0" err="1"/>
              <a:t>s→a→b→e</a:t>
            </a:r>
            <a:r>
              <a:rPr lang="zh-CN" altLang="en-US" sz="1600" dirty="0"/>
              <a:t>。</a:t>
            </a:r>
          </a:p>
        </p:txBody>
      </p:sp>
    </p:spTree>
  </p:cSld>
  <p:clrMapOvr>
    <a:masterClrMapping/>
  </p:clrMapOvr>
  <p:transition>
    <p:pull dir="rd"/>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8EBDC-0BCF-2D84-F78D-F341BC9821B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9CD3A5D3-EA40-7291-3045-FBE9D840076E}"/>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3" name="文本占位符 12">
            <a:extLst>
              <a:ext uri="{FF2B5EF4-FFF2-40B4-BE49-F238E27FC236}">
                <a16:creationId xmlns:a16="http://schemas.microsoft.com/office/drawing/2014/main" id="{721D62F0-EE12-781E-E387-A77F8C34E3EB}"/>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24" name="文本占位符 23">
            <a:extLst>
              <a:ext uri="{FF2B5EF4-FFF2-40B4-BE49-F238E27FC236}">
                <a16:creationId xmlns:a16="http://schemas.microsoft.com/office/drawing/2014/main" id="{149C5F7E-ECB5-42B6-817A-7CE779D4E098}"/>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7" name="TextBox 1">
            <a:extLst>
              <a:ext uri="{FF2B5EF4-FFF2-40B4-BE49-F238E27FC236}">
                <a16:creationId xmlns:a16="http://schemas.microsoft.com/office/drawing/2014/main" id="{6B6C2FD1-2851-84E1-9F18-41E8B8937E76}"/>
              </a:ext>
            </a:extLst>
          </p:cNvPr>
          <p:cNvSpPr txBox="1">
            <a:spLocks noChangeArrowheads="1"/>
          </p:cNvSpPr>
          <p:nvPr/>
        </p:nvSpPr>
        <p:spPr bwMode="auto">
          <a:xfrm>
            <a:off x="636441" y="1762042"/>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sz="2800" dirty="0">
                <a:solidFill>
                  <a:srgbClr val="E67819"/>
                </a:solidFill>
                <a:latin typeface="Times New Roman" panose="02020603050405020304" pitchFamily="18" charset="0"/>
                <a:ea typeface="MS UI Gothic" panose="020B0600070205080204" charset="-128"/>
              </a:rPr>
              <a:t>3</a:t>
            </a:r>
          </a:p>
        </p:txBody>
      </p:sp>
      <p:cxnSp>
        <p:nvCxnSpPr>
          <p:cNvPr id="8" name="直接连接符 7">
            <a:extLst>
              <a:ext uri="{FF2B5EF4-FFF2-40B4-BE49-F238E27FC236}">
                <a16:creationId xmlns:a16="http://schemas.microsoft.com/office/drawing/2014/main" id="{EBF3C4C2-5F22-4D13-DA46-C1E1C18FD34B}"/>
              </a:ext>
            </a:extLst>
          </p:cNvPr>
          <p:cNvCxnSpPr>
            <a:cxnSpLocks/>
          </p:cNvCxnSpPr>
          <p:nvPr/>
        </p:nvCxnSpPr>
        <p:spPr>
          <a:xfrm flipH="1">
            <a:off x="636441" y="1728377"/>
            <a:ext cx="37932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a:extLst>
              <a:ext uri="{FF2B5EF4-FFF2-40B4-BE49-F238E27FC236}">
                <a16:creationId xmlns:a16="http://schemas.microsoft.com/office/drawing/2014/main" id="{BCA9EDB0-897C-DEB8-88F2-98FE36AA9905}"/>
              </a:ext>
            </a:extLst>
          </p:cNvPr>
          <p:cNvSpPr>
            <a:spLocks noChangeArrowheads="1"/>
          </p:cNvSpPr>
          <p:nvPr/>
        </p:nvSpPr>
        <p:spPr bwMode="auto">
          <a:xfrm>
            <a:off x="924030" y="1838986"/>
            <a:ext cx="52484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条件覆盖 </a:t>
            </a:r>
            <a:r>
              <a:rPr lang="en-US" altLang="zh-CN" sz="1600" dirty="0">
                <a:solidFill>
                  <a:srgbClr val="E67819"/>
                </a:solidFill>
                <a:latin typeface="+mj-ea"/>
                <a:ea typeface="+mj-ea"/>
              </a:rPr>
              <a:t>Condition Coverage</a:t>
            </a:r>
            <a:endParaRPr lang="zh-CN" altLang="en-US" dirty="0">
              <a:solidFill>
                <a:srgbClr val="E67819"/>
              </a:solidFill>
              <a:latin typeface="+mj-ea"/>
              <a:ea typeface="+mj-ea"/>
            </a:endParaRPr>
          </a:p>
        </p:txBody>
      </p:sp>
      <p:sp>
        <p:nvSpPr>
          <p:cNvPr id="10" name="矩形 8">
            <a:extLst>
              <a:ext uri="{FF2B5EF4-FFF2-40B4-BE49-F238E27FC236}">
                <a16:creationId xmlns:a16="http://schemas.microsoft.com/office/drawing/2014/main" id="{36C73EF0-22BB-7D42-C723-D1A124AF5640}"/>
              </a:ext>
            </a:extLst>
          </p:cNvPr>
          <p:cNvSpPr>
            <a:spLocks noChangeArrowheads="1"/>
          </p:cNvSpPr>
          <p:nvPr/>
        </p:nvSpPr>
        <p:spPr bwMode="auto">
          <a:xfrm>
            <a:off x="924030" y="2147871"/>
            <a:ext cx="5759999" cy="16626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a:lnSpc>
                <a:spcPct val="130000"/>
              </a:lnSpc>
            </a:pPr>
            <a:r>
              <a:rPr sz="1600" dirty="0" err="1"/>
              <a:t>不仅每个语句都至少执行一次，而且使每个判定表达式中的每个条件都取到各种可能的值，从而可测试比较复杂的路径</a:t>
            </a:r>
            <a:r>
              <a:rPr sz="1600" dirty="0"/>
              <a:t>。</a:t>
            </a:r>
            <a:endParaRPr lang="en-US" sz="1600" dirty="0"/>
          </a:p>
          <a:p>
            <a:pPr algn="just">
              <a:lnSpc>
                <a:spcPct val="130000"/>
              </a:lnSpc>
            </a:pPr>
            <a:r>
              <a:rPr lang="zh-CN" altLang="en-US" sz="1600" dirty="0"/>
              <a:t>主要是面向复合条件判断</a:t>
            </a:r>
            <a:endParaRPr lang="en-US" altLang="zh-CN" sz="1600" dirty="0"/>
          </a:p>
          <a:p>
            <a:pPr algn="just">
              <a:lnSpc>
                <a:spcPct val="130000"/>
              </a:lnSpc>
            </a:pPr>
            <a:r>
              <a:rPr lang="zh-CN" altLang="en-US" sz="1600" dirty="0"/>
              <a:t>每一个</a:t>
            </a:r>
            <a:r>
              <a:rPr lang="zh-CN" altLang="en-US" sz="1600" dirty="0">
                <a:latin typeface="+mj-ea"/>
                <a:ea typeface="+mj-ea"/>
              </a:rPr>
              <a:t>原子</a:t>
            </a:r>
            <a:r>
              <a:rPr lang="zh-CN" altLang="en-US" sz="1600" dirty="0"/>
              <a:t>条件（即不能再拆分的最基本条件），都要让它分别取“真”和“假”至少一次；避免短路</a:t>
            </a:r>
            <a:r>
              <a:rPr lang="en-US" sz="1600" dirty="0"/>
              <a:t> </a:t>
            </a:r>
            <a:endParaRPr sz="1600" dirty="0"/>
          </a:p>
        </p:txBody>
      </p:sp>
      <p:sp>
        <p:nvSpPr>
          <p:cNvPr id="4" name="TextBox 33">
            <a:extLst>
              <a:ext uri="{FF2B5EF4-FFF2-40B4-BE49-F238E27FC236}">
                <a16:creationId xmlns:a16="http://schemas.microsoft.com/office/drawing/2014/main" id="{D9080583-C3E2-91A2-5167-756C491C22A3}"/>
              </a:ext>
            </a:extLst>
          </p:cNvPr>
          <p:cNvSpPr txBox="1"/>
          <p:nvPr/>
        </p:nvSpPr>
        <p:spPr>
          <a:xfrm>
            <a:off x="696000" y="3822180"/>
            <a:ext cx="5400000" cy="2753025"/>
          </a:xfrm>
          <a:prstGeom prst="rect">
            <a:avLst/>
          </a:prstGeom>
          <a:solidFill>
            <a:schemeClr val="bg1">
              <a:lumMod val="95000"/>
            </a:schemeClr>
          </a:solidFill>
        </p:spPr>
        <p:txBody>
          <a:bodyPr wrap="square" lIns="144000" tIns="144000" rIns="144000" bIns="144000">
            <a:spAutoFit/>
          </a:bodyPr>
          <a:lstStyle/>
          <a:p>
            <a:r>
              <a:rPr lang="zh-CN" altLang="en-US" sz="1600" dirty="0"/>
              <a:t>本题条件拆分：</a:t>
            </a:r>
            <a:endParaRPr lang="en-US" altLang="zh-CN" sz="1600" dirty="0"/>
          </a:p>
          <a:p>
            <a:r>
              <a:rPr lang="en-US" altLang="zh-CN" sz="1600" dirty="0"/>
              <a:t>A=3</a:t>
            </a:r>
            <a:r>
              <a:rPr lang="zh-CN" altLang="en-US" sz="1600" dirty="0"/>
              <a:t>或</a:t>
            </a:r>
            <a:r>
              <a:rPr lang="en-US" altLang="zh-CN" sz="1600" dirty="0"/>
              <a:t>A≠3</a:t>
            </a:r>
            <a:r>
              <a:rPr lang="zh-CN" altLang="en-US" sz="1600" dirty="0"/>
              <a:t>，</a:t>
            </a:r>
            <a:r>
              <a:rPr lang="en-US" altLang="zh-CN" sz="1600" dirty="0"/>
              <a:t>B&gt;1</a:t>
            </a:r>
            <a:r>
              <a:rPr lang="zh-CN" altLang="en-US" sz="1600" dirty="0"/>
              <a:t>或</a:t>
            </a:r>
            <a:r>
              <a:rPr lang="en-US" altLang="zh-CN" sz="1600" dirty="0"/>
              <a:t>B≤1</a:t>
            </a:r>
          </a:p>
          <a:p>
            <a:r>
              <a:rPr lang="en-US" altLang="zh-CN" sz="1600" dirty="0"/>
              <a:t>A&gt;2</a:t>
            </a:r>
            <a:r>
              <a:rPr lang="zh-CN" altLang="en-US" sz="1600" dirty="0"/>
              <a:t>或</a:t>
            </a:r>
            <a:r>
              <a:rPr lang="en-US" altLang="zh-CN" sz="1600" dirty="0"/>
              <a:t>A≤2</a:t>
            </a:r>
            <a:r>
              <a:rPr lang="zh-CN" altLang="en-US" sz="1600" dirty="0"/>
              <a:t>，</a:t>
            </a:r>
            <a:r>
              <a:rPr lang="en-US" altLang="zh-CN" sz="1600" dirty="0"/>
              <a:t>B=0</a:t>
            </a:r>
            <a:r>
              <a:rPr lang="zh-CN" altLang="en-US" sz="1600" dirty="0"/>
              <a:t>或</a:t>
            </a:r>
            <a:r>
              <a:rPr lang="en-US" altLang="zh-CN" sz="1600" dirty="0"/>
              <a:t>B≠0</a:t>
            </a:r>
          </a:p>
          <a:p>
            <a:endParaRPr lang="zh-CN" altLang="en-US" sz="1600" dirty="0"/>
          </a:p>
          <a:p>
            <a:r>
              <a:rPr lang="zh-CN" altLang="en-US" sz="1600" dirty="0"/>
              <a:t>测试数据：</a:t>
            </a:r>
            <a:r>
              <a:rPr lang="en-US" altLang="zh-CN" sz="1600" dirty="0"/>
              <a:t>A=2</a:t>
            </a:r>
            <a:r>
              <a:rPr lang="zh-CN" altLang="en-US" sz="1600" dirty="0"/>
              <a:t>，</a:t>
            </a:r>
            <a:r>
              <a:rPr lang="en-US" altLang="zh-CN" sz="1600" dirty="0"/>
              <a:t>B=2</a:t>
            </a:r>
            <a:r>
              <a:rPr lang="zh-CN" altLang="en-US" sz="1600" dirty="0"/>
              <a:t>时（</a:t>
            </a:r>
            <a:r>
              <a:rPr lang="en-US" altLang="zh-CN" sz="1600" dirty="0"/>
              <a:t>A≠3</a:t>
            </a:r>
            <a:r>
              <a:rPr lang="zh-CN" altLang="en-US" sz="1600" dirty="0"/>
              <a:t>，</a:t>
            </a:r>
            <a:r>
              <a:rPr lang="en-US" altLang="zh-CN" sz="1600" dirty="0"/>
              <a:t>B&gt;1</a:t>
            </a:r>
            <a:r>
              <a:rPr lang="zh-CN" altLang="en-US" sz="1600" dirty="0"/>
              <a:t>，</a:t>
            </a:r>
            <a:r>
              <a:rPr lang="en-US" altLang="zh-CN" sz="1600" dirty="0"/>
              <a:t>A≤2</a:t>
            </a:r>
            <a:r>
              <a:rPr lang="zh-CN" altLang="en-US" sz="1600" dirty="0"/>
              <a:t>，</a:t>
            </a:r>
            <a:r>
              <a:rPr lang="en-US" altLang="zh-CN" sz="1600" dirty="0"/>
              <a:t>B≠0</a:t>
            </a:r>
            <a:r>
              <a:rPr lang="zh-CN" altLang="en-US" sz="1600" dirty="0"/>
              <a:t>）</a:t>
            </a:r>
            <a:endParaRPr lang="en-US" altLang="zh-CN" sz="1600" dirty="0"/>
          </a:p>
          <a:p>
            <a:r>
              <a:rPr lang="zh-CN" altLang="en-US" sz="1600" dirty="0"/>
              <a:t>执行路径：</a:t>
            </a:r>
            <a:r>
              <a:rPr lang="en-US" altLang="zh-CN" sz="1600" dirty="0" err="1"/>
              <a:t>s→a→c→b→e</a:t>
            </a:r>
            <a:r>
              <a:rPr lang="zh-CN" altLang="en-US" sz="1600" dirty="0"/>
              <a:t>；</a:t>
            </a:r>
            <a:endParaRPr lang="en-US" altLang="zh-CN" sz="1600" dirty="0"/>
          </a:p>
          <a:p>
            <a:endParaRPr lang="en-US" altLang="zh-CN" sz="1600" dirty="0"/>
          </a:p>
          <a:p>
            <a:r>
              <a:rPr lang="zh-CN" altLang="en-US" sz="1600" dirty="0"/>
              <a:t>测试数据：</a:t>
            </a:r>
            <a:r>
              <a:rPr lang="en-US" altLang="zh-CN" sz="1600" dirty="0"/>
              <a:t>A=3</a:t>
            </a:r>
            <a:r>
              <a:rPr lang="zh-CN" altLang="en-US" sz="1600" dirty="0"/>
              <a:t>，</a:t>
            </a:r>
            <a:r>
              <a:rPr lang="en-US" altLang="zh-CN" sz="1600" dirty="0"/>
              <a:t>B=0</a:t>
            </a:r>
            <a:r>
              <a:rPr lang="zh-CN" altLang="en-US" sz="1600" dirty="0"/>
              <a:t>时（</a:t>
            </a:r>
            <a:r>
              <a:rPr lang="en-US" altLang="zh-CN" sz="1600" dirty="0"/>
              <a:t>A=3</a:t>
            </a:r>
            <a:r>
              <a:rPr lang="zh-CN" altLang="en-US" sz="1600" dirty="0"/>
              <a:t>，</a:t>
            </a:r>
            <a:r>
              <a:rPr lang="en-US" altLang="zh-CN" sz="1600" dirty="0"/>
              <a:t>B≤1</a:t>
            </a:r>
            <a:r>
              <a:rPr lang="zh-CN" altLang="en-US" sz="1600" dirty="0"/>
              <a:t>，</a:t>
            </a:r>
            <a:r>
              <a:rPr lang="en-US" altLang="zh-CN" sz="1600" dirty="0"/>
              <a:t>A&gt;2</a:t>
            </a:r>
            <a:r>
              <a:rPr lang="zh-CN" altLang="en-US" sz="1600" dirty="0"/>
              <a:t>，</a:t>
            </a:r>
            <a:r>
              <a:rPr lang="en-US" altLang="zh-CN" sz="1600" dirty="0"/>
              <a:t>B=0</a:t>
            </a:r>
            <a:r>
              <a:rPr lang="zh-CN" altLang="en-US" sz="1600" dirty="0"/>
              <a:t>）</a:t>
            </a:r>
            <a:endParaRPr lang="en-US" altLang="zh-CN" sz="1600" dirty="0"/>
          </a:p>
          <a:p>
            <a:r>
              <a:rPr lang="zh-CN" altLang="en-US" sz="1600" dirty="0"/>
              <a:t>执行路径：</a:t>
            </a:r>
            <a:r>
              <a:rPr lang="en-US" altLang="zh-CN" sz="1600" dirty="0" err="1"/>
              <a:t>s→a→c→b→d→e</a:t>
            </a:r>
            <a:r>
              <a:rPr lang="zh-CN" altLang="en-US" sz="1600" dirty="0"/>
              <a:t>。</a:t>
            </a:r>
          </a:p>
          <a:p>
            <a:r>
              <a:rPr lang="zh-CN" altLang="en-US" sz="1600" dirty="0"/>
              <a:t>这里</a:t>
            </a:r>
            <a:r>
              <a:rPr lang="en-US" altLang="zh-CN" sz="1600" dirty="0" err="1"/>
              <a:t>a→b</a:t>
            </a:r>
            <a:r>
              <a:rPr lang="zh-CN" altLang="en-US" sz="1600" dirty="0"/>
              <a:t>这条路径未走，比判定覆盖少走了一条路径。</a:t>
            </a:r>
          </a:p>
        </p:txBody>
      </p:sp>
      <p:pic>
        <p:nvPicPr>
          <p:cNvPr id="2" name="图片 124">
            <a:extLst>
              <a:ext uri="{FF2B5EF4-FFF2-40B4-BE49-F238E27FC236}">
                <a16:creationId xmlns:a16="http://schemas.microsoft.com/office/drawing/2014/main" id="{FCD2A06B-498A-C12A-8104-445AE1F18F58}"/>
              </a:ext>
            </a:extLst>
          </p:cNvPr>
          <p:cNvPicPr preferRelativeResize="0">
            <a:picLocks noChangeAspect="1" noChangeArrowheads="1"/>
          </p:cNvPicPr>
          <p:nvPr/>
        </p:nvPicPr>
        <p:blipFill>
          <a:blip r:embed="rId3" cstate="print"/>
          <a:srcRect/>
          <a:stretch>
            <a:fillRect/>
          </a:stretch>
        </p:blipFill>
        <p:spPr bwMode="auto">
          <a:xfrm>
            <a:off x="7744826" y="3229325"/>
            <a:ext cx="3462415" cy="3108960"/>
          </a:xfrm>
          <a:prstGeom prst="rect">
            <a:avLst/>
          </a:prstGeom>
          <a:noFill/>
          <a:ln w="9525">
            <a:noFill/>
            <a:miter lim="800000"/>
            <a:headEnd/>
            <a:tailEnd/>
          </a:ln>
        </p:spPr>
      </p:pic>
      <p:sp>
        <p:nvSpPr>
          <p:cNvPr id="5" name="TextBox 33">
            <a:extLst>
              <a:ext uri="{FF2B5EF4-FFF2-40B4-BE49-F238E27FC236}">
                <a16:creationId xmlns:a16="http://schemas.microsoft.com/office/drawing/2014/main" id="{30A48C9F-49B3-75E1-1379-A60BE7B3A13E}"/>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spTree>
    <p:extLst>
      <p:ext uri="{BB962C8B-B14F-4D97-AF65-F5344CB8AC3E}">
        <p14:creationId xmlns:p14="http://schemas.microsoft.com/office/powerpoint/2010/main" val="2611796325"/>
      </p:ext>
    </p:extLst>
  </p:cSld>
  <p:clrMapOvr>
    <a:masterClrMapping/>
  </p:clrMapOvr>
  <p:transition>
    <p:pull dir="rd"/>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DF300-9122-8E39-A23A-CF38B1796482}"/>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A27683AA-F6C3-D8BE-FD5F-6E6B9FD65540}"/>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3" name="文本占位符 12">
            <a:extLst>
              <a:ext uri="{FF2B5EF4-FFF2-40B4-BE49-F238E27FC236}">
                <a16:creationId xmlns:a16="http://schemas.microsoft.com/office/drawing/2014/main" id="{E743A8BC-546D-77A4-6989-7AFDADF9207B}"/>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24" name="文本占位符 23">
            <a:extLst>
              <a:ext uri="{FF2B5EF4-FFF2-40B4-BE49-F238E27FC236}">
                <a16:creationId xmlns:a16="http://schemas.microsoft.com/office/drawing/2014/main" id="{C7D9FF87-18BA-62F5-491C-2B02A01767A6}"/>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7" name="TextBox 1">
            <a:extLst>
              <a:ext uri="{FF2B5EF4-FFF2-40B4-BE49-F238E27FC236}">
                <a16:creationId xmlns:a16="http://schemas.microsoft.com/office/drawing/2014/main" id="{F19B9C1B-74DB-CC2F-C56E-019BB8FAB8BD}"/>
              </a:ext>
            </a:extLst>
          </p:cNvPr>
          <p:cNvSpPr txBox="1">
            <a:spLocks noChangeArrowheads="1"/>
          </p:cNvSpPr>
          <p:nvPr/>
        </p:nvSpPr>
        <p:spPr bwMode="auto">
          <a:xfrm>
            <a:off x="636441" y="1762042"/>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sz="2800" dirty="0">
                <a:solidFill>
                  <a:srgbClr val="E67819"/>
                </a:solidFill>
                <a:latin typeface="Times New Roman" panose="02020603050405020304" pitchFamily="18" charset="0"/>
                <a:ea typeface="MS UI Gothic" panose="020B0600070205080204" charset="-128"/>
              </a:rPr>
              <a:t>3</a:t>
            </a:r>
          </a:p>
        </p:txBody>
      </p:sp>
      <p:cxnSp>
        <p:nvCxnSpPr>
          <p:cNvPr id="8" name="直接连接符 7">
            <a:extLst>
              <a:ext uri="{FF2B5EF4-FFF2-40B4-BE49-F238E27FC236}">
                <a16:creationId xmlns:a16="http://schemas.microsoft.com/office/drawing/2014/main" id="{7E25D628-973F-DEE3-F8E4-5DB3EBFCCF15}"/>
              </a:ext>
            </a:extLst>
          </p:cNvPr>
          <p:cNvCxnSpPr>
            <a:cxnSpLocks/>
          </p:cNvCxnSpPr>
          <p:nvPr/>
        </p:nvCxnSpPr>
        <p:spPr>
          <a:xfrm flipH="1">
            <a:off x="636441" y="1728377"/>
            <a:ext cx="37932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a:extLst>
              <a:ext uri="{FF2B5EF4-FFF2-40B4-BE49-F238E27FC236}">
                <a16:creationId xmlns:a16="http://schemas.microsoft.com/office/drawing/2014/main" id="{8C88F724-C336-18AA-0E03-D4D7D7EC87B2}"/>
              </a:ext>
            </a:extLst>
          </p:cNvPr>
          <p:cNvSpPr>
            <a:spLocks noChangeArrowheads="1"/>
          </p:cNvSpPr>
          <p:nvPr/>
        </p:nvSpPr>
        <p:spPr bwMode="auto">
          <a:xfrm>
            <a:off x="924030" y="1838986"/>
            <a:ext cx="52484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条件覆盖 </a:t>
            </a:r>
            <a:r>
              <a:rPr lang="en-US" altLang="zh-CN" sz="1600" dirty="0">
                <a:solidFill>
                  <a:srgbClr val="E67819"/>
                </a:solidFill>
                <a:latin typeface="+mj-ea"/>
                <a:ea typeface="+mj-ea"/>
              </a:rPr>
              <a:t>Condition Coverage</a:t>
            </a:r>
            <a:endParaRPr lang="zh-CN" altLang="en-US" dirty="0">
              <a:solidFill>
                <a:srgbClr val="E67819"/>
              </a:solidFill>
              <a:latin typeface="+mj-ea"/>
              <a:ea typeface="+mj-ea"/>
            </a:endParaRPr>
          </a:p>
        </p:txBody>
      </p:sp>
      <p:sp>
        <p:nvSpPr>
          <p:cNvPr id="10" name="矩形 8">
            <a:extLst>
              <a:ext uri="{FF2B5EF4-FFF2-40B4-BE49-F238E27FC236}">
                <a16:creationId xmlns:a16="http://schemas.microsoft.com/office/drawing/2014/main" id="{EE4265AD-3132-E135-7C9C-C75A5428E5AF}"/>
              </a:ext>
            </a:extLst>
          </p:cNvPr>
          <p:cNvSpPr>
            <a:spLocks noChangeArrowheads="1"/>
          </p:cNvSpPr>
          <p:nvPr/>
        </p:nvSpPr>
        <p:spPr bwMode="auto">
          <a:xfrm>
            <a:off x="924030" y="2147871"/>
            <a:ext cx="5759999" cy="16626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a:lnSpc>
                <a:spcPct val="130000"/>
              </a:lnSpc>
            </a:pPr>
            <a:r>
              <a:rPr sz="1600" dirty="0" err="1"/>
              <a:t>不仅每个语句都至少执行一次，而且使每个判定表达式中的每个条件都取到各种可能的值，从而可测试比较复杂的路径</a:t>
            </a:r>
            <a:r>
              <a:rPr sz="1600" dirty="0"/>
              <a:t>。</a:t>
            </a:r>
            <a:endParaRPr lang="en-US" sz="1600" dirty="0"/>
          </a:p>
          <a:p>
            <a:pPr algn="just">
              <a:lnSpc>
                <a:spcPct val="130000"/>
              </a:lnSpc>
            </a:pPr>
            <a:r>
              <a:rPr lang="zh-CN" altLang="en-US" sz="1600" dirty="0"/>
              <a:t>主要是面向复合条件判断</a:t>
            </a:r>
            <a:endParaRPr lang="en-US" altLang="zh-CN" sz="1600" dirty="0"/>
          </a:p>
          <a:p>
            <a:pPr algn="just">
              <a:lnSpc>
                <a:spcPct val="130000"/>
              </a:lnSpc>
            </a:pPr>
            <a:r>
              <a:rPr lang="zh-CN" altLang="en-US" sz="1600" dirty="0"/>
              <a:t>每一个</a:t>
            </a:r>
            <a:r>
              <a:rPr lang="zh-CN" altLang="en-US" sz="1600" dirty="0">
                <a:latin typeface="+mj-ea"/>
                <a:ea typeface="+mj-ea"/>
              </a:rPr>
              <a:t>原子</a:t>
            </a:r>
            <a:r>
              <a:rPr lang="zh-CN" altLang="en-US" sz="1600" dirty="0"/>
              <a:t>条件（即不能再拆分的最基本条件），都要让它分别取“真”和“假”至少一次</a:t>
            </a:r>
            <a:endParaRPr sz="1600" dirty="0"/>
          </a:p>
        </p:txBody>
      </p:sp>
      <p:pic>
        <p:nvPicPr>
          <p:cNvPr id="2" name="图片 124">
            <a:extLst>
              <a:ext uri="{FF2B5EF4-FFF2-40B4-BE49-F238E27FC236}">
                <a16:creationId xmlns:a16="http://schemas.microsoft.com/office/drawing/2014/main" id="{1BE2899A-6A0D-8BDD-B09F-8AAE22FC58D1}"/>
              </a:ext>
            </a:extLst>
          </p:cNvPr>
          <p:cNvPicPr preferRelativeResize="0">
            <a:picLocks noChangeAspect="1" noChangeArrowheads="1"/>
          </p:cNvPicPr>
          <p:nvPr/>
        </p:nvPicPr>
        <p:blipFill>
          <a:blip r:embed="rId3" cstate="print"/>
          <a:srcRect/>
          <a:stretch>
            <a:fillRect/>
          </a:stretch>
        </p:blipFill>
        <p:spPr bwMode="auto">
          <a:xfrm>
            <a:off x="7744826" y="3229325"/>
            <a:ext cx="3462415" cy="3108960"/>
          </a:xfrm>
          <a:prstGeom prst="rect">
            <a:avLst/>
          </a:prstGeom>
          <a:noFill/>
          <a:ln w="9525">
            <a:noFill/>
            <a:miter lim="800000"/>
            <a:headEnd/>
            <a:tailEnd/>
          </a:ln>
        </p:spPr>
      </p:pic>
      <p:sp>
        <p:nvSpPr>
          <p:cNvPr id="5" name="TextBox 33">
            <a:extLst>
              <a:ext uri="{FF2B5EF4-FFF2-40B4-BE49-F238E27FC236}">
                <a16:creationId xmlns:a16="http://schemas.microsoft.com/office/drawing/2014/main" id="{B3354AA6-85B6-6E37-FE3A-F35B7B250CD4}"/>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graphicFrame>
        <p:nvGraphicFramePr>
          <p:cNvPr id="6" name="表格 5">
            <a:extLst>
              <a:ext uri="{FF2B5EF4-FFF2-40B4-BE49-F238E27FC236}">
                <a16:creationId xmlns:a16="http://schemas.microsoft.com/office/drawing/2014/main" id="{2C18E078-DFD2-5B38-580E-4376DC852F76}"/>
              </a:ext>
            </a:extLst>
          </p:cNvPr>
          <p:cNvGraphicFramePr>
            <a:graphicFrameLocks noGrp="1"/>
          </p:cNvGraphicFramePr>
          <p:nvPr>
            <p:extLst>
              <p:ext uri="{D42A27DB-BD31-4B8C-83A1-F6EECF244321}">
                <p14:modId xmlns:p14="http://schemas.microsoft.com/office/powerpoint/2010/main" val="1595129936"/>
              </p:ext>
            </p:extLst>
          </p:nvPr>
        </p:nvGraphicFramePr>
        <p:xfrm>
          <a:off x="695999" y="4155257"/>
          <a:ext cx="5988029" cy="1920240"/>
        </p:xfrm>
        <a:graphic>
          <a:graphicData uri="http://schemas.openxmlformats.org/drawingml/2006/table">
            <a:tbl>
              <a:tblPr/>
              <a:tblGrid>
                <a:gridCol w="1228050">
                  <a:extLst>
                    <a:ext uri="{9D8B030D-6E8A-4147-A177-3AD203B41FA5}">
                      <a16:colId xmlns:a16="http://schemas.microsoft.com/office/drawing/2014/main" val="3546333921"/>
                    </a:ext>
                  </a:extLst>
                </a:gridCol>
                <a:gridCol w="1631486">
                  <a:extLst>
                    <a:ext uri="{9D8B030D-6E8A-4147-A177-3AD203B41FA5}">
                      <a16:colId xmlns:a16="http://schemas.microsoft.com/office/drawing/2014/main" val="1178070886"/>
                    </a:ext>
                  </a:extLst>
                </a:gridCol>
                <a:gridCol w="1631486">
                  <a:extLst>
                    <a:ext uri="{9D8B030D-6E8A-4147-A177-3AD203B41FA5}">
                      <a16:colId xmlns:a16="http://schemas.microsoft.com/office/drawing/2014/main" val="3578129984"/>
                    </a:ext>
                  </a:extLst>
                </a:gridCol>
                <a:gridCol w="1497007">
                  <a:extLst>
                    <a:ext uri="{9D8B030D-6E8A-4147-A177-3AD203B41FA5}">
                      <a16:colId xmlns:a16="http://schemas.microsoft.com/office/drawing/2014/main" val="86621998"/>
                    </a:ext>
                  </a:extLst>
                </a:gridCol>
              </a:tblGrid>
              <a:tr h="0">
                <a:tc>
                  <a:txBody>
                    <a:bodyPr/>
                    <a:lstStyle/>
                    <a:p>
                      <a:pPr algn="l">
                        <a:buNone/>
                      </a:pPr>
                      <a:r>
                        <a:rPr lang="zh-CN" altLang="en-US" sz="1600" dirty="0"/>
                        <a:t>原子条件</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测试用例 </a:t>
                      </a:r>
                      <a:r>
                        <a:rPr lang="en-US" altLang="zh-CN" sz="1600" dirty="0"/>
                        <a:t>1 (</a:t>
                      </a:r>
                      <a:r>
                        <a:rPr lang="en-US" sz="1600" dirty="0"/>
                        <a:t>A=2, B=2)</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测试用例 </a:t>
                      </a:r>
                      <a:r>
                        <a:rPr lang="en-US" altLang="zh-CN" sz="1600" dirty="0"/>
                        <a:t>2 (</a:t>
                      </a:r>
                      <a:r>
                        <a:rPr lang="en-US" sz="1600" dirty="0"/>
                        <a:t>A=3, B=0)</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是否完成覆盖</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1911893"/>
                  </a:ext>
                </a:extLst>
              </a:tr>
              <a:tr h="0">
                <a:tc>
                  <a:txBody>
                    <a:bodyPr/>
                    <a:lstStyle/>
                    <a:p>
                      <a:pPr algn="l">
                        <a:buNone/>
                      </a:pPr>
                      <a:r>
                        <a:rPr lang="en-US" sz="1600"/>
                        <a:t>A=3</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假 </a:t>
                      </a:r>
                      <a:r>
                        <a:rPr lang="en-US" altLang="zh-CN" sz="1600" dirty="0"/>
                        <a:t>(</a:t>
                      </a:r>
                      <a:r>
                        <a:rPr lang="en-US" sz="1600" dirty="0"/>
                        <a:t>A=2)</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真 </a:t>
                      </a:r>
                      <a:r>
                        <a:rPr lang="en-US" altLang="zh-CN" sz="1600" dirty="0"/>
                        <a:t>(</a:t>
                      </a:r>
                      <a:r>
                        <a:rPr lang="en-US" sz="1600" dirty="0"/>
                        <a:t>A=3)</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 是</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790475262"/>
                  </a:ext>
                </a:extLst>
              </a:tr>
              <a:tr h="0">
                <a:tc>
                  <a:txBody>
                    <a:bodyPr/>
                    <a:lstStyle/>
                    <a:p>
                      <a:pPr algn="l">
                        <a:buNone/>
                      </a:pPr>
                      <a:r>
                        <a:rPr lang="en-US" sz="1600"/>
                        <a:t>B&gt;1</a:t>
                      </a:r>
                    </a:p>
                  </a:txBody>
                  <a:tcPr anchor="ctr">
                    <a:lnL>
                      <a:noFill/>
                    </a:lnL>
                    <a:lnR>
                      <a:noFill/>
                    </a:lnR>
                    <a:lnT>
                      <a:noFill/>
                    </a:lnT>
                    <a:lnB>
                      <a:noFill/>
                    </a:lnB>
                    <a:noFill/>
                  </a:tcPr>
                </a:tc>
                <a:tc>
                  <a:txBody>
                    <a:bodyPr/>
                    <a:lstStyle/>
                    <a:p>
                      <a:pPr algn="l">
                        <a:buNone/>
                      </a:pPr>
                      <a:r>
                        <a:rPr lang="zh-CN" altLang="en-US" sz="1600"/>
                        <a:t>真 </a:t>
                      </a:r>
                      <a:r>
                        <a:rPr lang="en-US" altLang="zh-CN" sz="1600"/>
                        <a:t>(</a:t>
                      </a:r>
                      <a:r>
                        <a:rPr lang="en-US" sz="1600"/>
                        <a:t>B=2)</a:t>
                      </a:r>
                    </a:p>
                  </a:txBody>
                  <a:tcPr anchor="ctr">
                    <a:lnL>
                      <a:noFill/>
                    </a:lnL>
                    <a:lnR>
                      <a:noFill/>
                    </a:lnR>
                    <a:lnT>
                      <a:noFill/>
                    </a:lnT>
                    <a:lnB>
                      <a:noFill/>
                    </a:lnB>
                    <a:noFill/>
                  </a:tcPr>
                </a:tc>
                <a:tc>
                  <a:txBody>
                    <a:bodyPr/>
                    <a:lstStyle/>
                    <a:p>
                      <a:pPr algn="l">
                        <a:buNone/>
                      </a:pPr>
                      <a:r>
                        <a:rPr lang="zh-CN" altLang="en-US" sz="1600" dirty="0"/>
                        <a:t>假 </a:t>
                      </a:r>
                      <a:r>
                        <a:rPr lang="en-US" altLang="zh-CN" sz="1600" dirty="0"/>
                        <a:t>(</a:t>
                      </a:r>
                      <a:r>
                        <a:rPr lang="en-US" sz="1600" dirty="0"/>
                        <a:t>B=0)</a:t>
                      </a:r>
                    </a:p>
                  </a:txBody>
                  <a:tcPr anchor="ctr">
                    <a:lnL>
                      <a:noFill/>
                    </a:lnL>
                    <a:lnR>
                      <a:noFill/>
                    </a:lnR>
                    <a:lnT>
                      <a:noFill/>
                    </a:lnT>
                    <a:lnB>
                      <a:noFill/>
                    </a:lnB>
                    <a:noFill/>
                  </a:tcPr>
                </a:tc>
                <a:tc>
                  <a:txBody>
                    <a:bodyPr/>
                    <a:lstStyle/>
                    <a:p>
                      <a:pPr algn="l">
                        <a:buNone/>
                      </a:pPr>
                      <a:r>
                        <a:rPr lang="zh-CN" altLang="en-US" sz="1600"/>
                        <a:t>✅ 是</a:t>
                      </a:r>
                    </a:p>
                  </a:txBody>
                  <a:tcPr anchor="ctr">
                    <a:lnL>
                      <a:noFill/>
                    </a:lnL>
                    <a:lnR>
                      <a:noFill/>
                    </a:lnR>
                    <a:lnT>
                      <a:noFill/>
                    </a:lnT>
                    <a:lnB>
                      <a:noFill/>
                    </a:lnB>
                    <a:noFill/>
                  </a:tcPr>
                </a:tc>
                <a:extLst>
                  <a:ext uri="{0D108BD9-81ED-4DB2-BD59-A6C34878D82A}">
                    <a16:rowId xmlns:a16="http://schemas.microsoft.com/office/drawing/2014/main" val="3681963095"/>
                  </a:ext>
                </a:extLst>
              </a:tr>
              <a:tr h="0">
                <a:tc>
                  <a:txBody>
                    <a:bodyPr/>
                    <a:lstStyle/>
                    <a:p>
                      <a:pPr algn="l">
                        <a:buNone/>
                      </a:pPr>
                      <a:r>
                        <a:rPr lang="en-US" sz="1600"/>
                        <a:t>A&gt;2</a:t>
                      </a:r>
                    </a:p>
                  </a:txBody>
                  <a:tcPr anchor="ctr">
                    <a:lnL>
                      <a:noFill/>
                    </a:lnL>
                    <a:lnR>
                      <a:noFill/>
                    </a:lnR>
                    <a:lnT>
                      <a:noFill/>
                    </a:lnT>
                    <a:lnB>
                      <a:noFill/>
                    </a:lnB>
                    <a:noFill/>
                  </a:tcPr>
                </a:tc>
                <a:tc>
                  <a:txBody>
                    <a:bodyPr/>
                    <a:lstStyle/>
                    <a:p>
                      <a:pPr algn="l">
                        <a:buNone/>
                      </a:pPr>
                      <a:r>
                        <a:rPr lang="zh-CN" altLang="en-US" sz="1600"/>
                        <a:t>假 </a:t>
                      </a:r>
                      <a:r>
                        <a:rPr lang="en-US" altLang="zh-CN" sz="1600"/>
                        <a:t>(</a:t>
                      </a:r>
                      <a:r>
                        <a:rPr lang="en-US" sz="1600"/>
                        <a:t>A=2)</a:t>
                      </a:r>
                    </a:p>
                  </a:txBody>
                  <a:tcPr anchor="ctr">
                    <a:lnL>
                      <a:noFill/>
                    </a:lnL>
                    <a:lnR>
                      <a:noFill/>
                    </a:lnR>
                    <a:lnT>
                      <a:noFill/>
                    </a:lnT>
                    <a:lnB>
                      <a:noFill/>
                    </a:lnB>
                    <a:noFill/>
                  </a:tcPr>
                </a:tc>
                <a:tc>
                  <a:txBody>
                    <a:bodyPr/>
                    <a:lstStyle/>
                    <a:p>
                      <a:pPr algn="l">
                        <a:buNone/>
                      </a:pPr>
                      <a:r>
                        <a:rPr lang="zh-CN" altLang="en-US" sz="1600" dirty="0"/>
                        <a:t>真 </a:t>
                      </a:r>
                      <a:r>
                        <a:rPr lang="en-US" altLang="zh-CN" sz="1600" dirty="0"/>
                        <a:t>(</a:t>
                      </a:r>
                      <a:r>
                        <a:rPr lang="en-US" sz="1600" dirty="0"/>
                        <a:t>A=3)</a:t>
                      </a:r>
                    </a:p>
                  </a:txBody>
                  <a:tcPr anchor="ctr">
                    <a:lnL>
                      <a:noFill/>
                    </a:lnL>
                    <a:lnR>
                      <a:noFill/>
                    </a:lnR>
                    <a:lnT>
                      <a:noFill/>
                    </a:lnT>
                    <a:lnB>
                      <a:noFill/>
                    </a:lnB>
                    <a:noFill/>
                  </a:tcPr>
                </a:tc>
                <a:tc>
                  <a:txBody>
                    <a:bodyPr/>
                    <a:lstStyle/>
                    <a:p>
                      <a:pPr algn="l">
                        <a:buNone/>
                      </a:pPr>
                      <a:r>
                        <a:rPr lang="zh-CN" altLang="en-US" sz="1600"/>
                        <a:t>✅ 是</a:t>
                      </a:r>
                    </a:p>
                  </a:txBody>
                  <a:tcPr anchor="ctr">
                    <a:lnL>
                      <a:noFill/>
                    </a:lnL>
                    <a:lnR>
                      <a:noFill/>
                    </a:lnR>
                    <a:lnT>
                      <a:noFill/>
                    </a:lnT>
                    <a:lnB>
                      <a:noFill/>
                    </a:lnB>
                    <a:noFill/>
                  </a:tcPr>
                </a:tc>
                <a:extLst>
                  <a:ext uri="{0D108BD9-81ED-4DB2-BD59-A6C34878D82A}">
                    <a16:rowId xmlns:a16="http://schemas.microsoft.com/office/drawing/2014/main" val="3983972848"/>
                  </a:ext>
                </a:extLst>
              </a:tr>
              <a:tr h="0">
                <a:tc>
                  <a:txBody>
                    <a:bodyPr/>
                    <a:lstStyle/>
                    <a:p>
                      <a:pPr algn="l">
                        <a:buNone/>
                      </a:pPr>
                      <a:r>
                        <a:rPr lang="en-US" sz="1600"/>
                        <a:t>B=0</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假 </a:t>
                      </a:r>
                      <a:r>
                        <a:rPr lang="en-US" altLang="zh-CN" sz="1600"/>
                        <a:t>(</a:t>
                      </a:r>
                      <a:r>
                        <a:rPr lang="en-US" sz="1600"/>
                        <a:t>B=2)</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真 </a:t>
                      </a:r>
                      <a:r>
                        <a:rPr lang="en-US" altLang="zh-CN" sz="1600" dirty="0"/>
                        <a:t>(</a:t>
                      </a:r>
                      <a:r>
                        <a:rPr lang="en-US" sz="1600" dirty="0"/>
                        <a:t>B=0)</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 是</a:t>
                      </a:r>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4420735"/>
                  </a:ext>
                </a:extLst>
              </a:tr>
            </a:tbl>
          </a:graphicData>
        </a:graphic>
      </p:graphicFrame>
    </p:spTree>
    <p:extLst>
      <p:ext uri="{BB962C8B-B14F-4D97-AF65-F5344CB8AC3E}">
        <p14:creationId xmlns:p14="http://schemas.microsoft.com/office/powerpoint/2010/main" val="1615773153"/>
      </p:ext>
    </p:extLst>
  </p:cSld>
  <p:clrMapOvr>
    <a:masterClrMapping/>
  </p:clrMapOvr>
  <p:transition>
    <p:pull dir="rd"/>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0404E-0AEB-45ED-5482-75959ABD4C02}"/>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D8101C0-EAD8-D883-077A-25744F2A4F9E}"/>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3" name="文本占位符 12">
            <a:extLst>
              <a:ext uri="{FF2B5EF4-FFF2-40B4-BE49-F238E27FC236}">
                <a16:creationId xmlns:a16="http://schemas.microsoft.com/office/drawing/2014/main" id="{18598D72-C914-FBAB-95BF-CA87B1CF0808}"/>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24" name="文本占位符 23">
            <a:extLst>
              <a:ext uri="{FF2B5EF4-FFF2-40B4-BE49-F238E27FC236}">
                <a16:creationId xmlns:a16="http://schemas.microsoft.com/office/drawing/2014/main" id="{DC9D8875-F291-26AC-3BDB-A535846A4242}"/>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15" name="TextBox 10">
            <a:extLst>
              <a:ext uri="{FF2B5EF4-FFF2-40B4-BE49-F238E27FC236}">
                <a16:creationId xmlns:a16="http://schemas.microsoft.com/office/drawing/2014/main" id="{6FD225D0-1A3A-DF61-D127-E72DA02F19A1}"/>
              </a:ext>
            </a:extLst>
          </p:cNvPr>
          <p:cNvSpPr txBox="1">
            <a:spLocks noChangeArrowheads="1"/>
          </p:cNvSpPr>
          <p:nvPr/>
        </p:nvSpPr>
        <p:spPr bwMode="auto">
          <a:xfrm>
            <a:off x="636441" y="1809887"/>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sz="2800" dirty="0">
                <a:solidFill>
                  <a:srgbClr val="E67819"/>
                </a:solidFill>
                <a:latin typeface="Times New Roman" panose="02020603050405020304" pitchFamily="18" charset="0"/>
                <a:ea typeface="MS UI Gothic" panose="020B0600070205080204" charset="-128"/>
              </a:rPr>
              <a:t>4</a:t>
            </a:r>
          </a:p>
        </p:txBody>
      </p:sp>
      <p:cxnSp>
        <p:nvCxnSpPr>
          <p:cNvPr id="16" name="直接连接符 15">
            <a:extLst>
              <a:ext uri="{FF2B5EF4-FFF2-40B4-BE49-F238E27FC236}">
                <a16:creationId xmlns:a16="http://schemas.microsoft.com/office/drawing/2014/main" id="{96B68B65-5025-BE9A-838B-ED33B2CEC97E}"/>
              </a:ext>
            </a:extLst>
          </p:cNvPr>
          <p:cNvCxnSpPr/>
          <p:nvPr/>
        </p:nvCxnSpPr>
        <p:spPr>
          <a:xfrm flipH="1">
            <a:off x="636441" y="1776222"/>
            <a:ext cx="379373"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7" name="矩形 12">
            <a:extLst>
              <a:ext uri="{FF2B5EF4-FFF2-40B4-BE49-F238E27FC236}">
                <a16:creationId xmlns:a16="http://schemas.microsoft.com/office/drawing/2014/main" id="{9247870C-F07E-5E58-6C3E-71B15005F406}"/>
              </a:ext>
            </a:extLst>
          </p:cNvPr>
          <p:cNvSpPr>
            <a:spLocks noChangeArrowheads="1"/>
          </p:cNvSpPr>
          <p:nvPr/>
        </p:nvSpPr>
        <p:spPr bwMode="auto">
          <a:xfrm>
            <a:off x="924031" y="1886831"/>
            <a:ext cx="524843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dirty="0">
                <a:solidFill>
                  <a:srgbClr val="E67819"/>
                </a:solidFill>
                <a:latin typeface="+mj-ea"/>
                <a:ea typeface="+mj-ea"/>
              </a:rPr>
              <a:t>判定/条件覆盖 </a:t>
            </a:r>
            <a:r>
              <a:rPr lang="en-US" altLang="zh-CN" sz="1600" dirty="0">
                <a:solidFill>
                  <a:srgbClr val="E67819"/>
                </a:solidFill>
                <a:latin typeface="+mj-ea"/>
                <a:ea typeface="+mj-ea"/>
              </a:rPr>
              <a:t>Decision/Condition Coverage</a:t>
            </a:r>
            <a:endParaRPr lang="zh-CN" altLang="en-US" dirty="0">
              <a:solidFill>
                <a:srgbClr val="E67819"/>
              </a:solidFill>
              <a:latin typeface="+mj-ea"/>
              <a:ea typeface="+mj-ea"/>
            </a:endParaRPr>
          </a:p>
        </p:txBody>
      </p:sp>
      <p:sp>
        <p:nvSpPr>
          <p:cNvPr id="18" name="矩形 9">
            <a:extLst>
              <a:ext uri="{FF2B5EF4-FFF2-40B4-BE49-F238E27FC236}">
                <a16:creationId xmlns:a16="http://schemas.microsoft.com/office/drawing/2014/main" id="{626CFA6F-43C6-7455-4270-8B2A53E04C2F}"/>
              </a:ext>
            </a:extLst>
          </p:cNvPr>
          <p:cNvSpPr>
            <a:spLocks noChangeArrowheads="1"/>
          </p:cNvSpPr>
          <p:nvPr/>
        </p:nvSpPr>
        <p:spPr bwMode="auto">
          <a:xfrm>
            <a:off x="924031" y="2264461"/>
            <a:ext cx="5076000" cy="10528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fontAlgn="auto">
              <a:lnSpc>
                <a:spcPct val="130000"/>
              </a:lnSpc>
            </a:pPr>
            <a:r>
              <a:rPr sz="1600" dirty="0" err="1"/>
              <a:t>判定</a:t>
            </a:r>
            <a:r>
              <a:rPr sz="1600" dirty="0"/>
              <a:t>/条件覆盖要求选取足够多的测试数据，使每个判定表达式都取到各种可能的结果，并使每个判定表达式中的每个条件都取到各种可能的值。</a:t>
            </a:r>
          </a:p>
        </p:txBody>
      </p:sp>
      <p:pic>
        <p:nvPicPr>
          <p:cNvPr id="2" name="图片 124">
            <a:extLst>
              <a:ext uri="{FF2B5EF4-FFF2-40B4-BE49-F238E27FC236}">
                <a16:creationId xmlns:a16="http://schemas.microsoft.com/office/drawing/2014/main" id="{A3C982B9-8ECA-1B76-7953-5AE3CDAE117C}"/>
              </a:ext>
            </a:extLst>
          </p:cNvPr>
          <p:cNvPicPr preferRelativeResize="0">
            <a:picLocks noChangeAspect="1" noChangeArrowheads="1"/>
          </p:cNvPicPr>
          <p:nvPr/>
        </p:nvPicPr>
        <p:blipFill>
          <a:blip r:embed="rId3" cstate="print"/>
          <a:srcRect/>
          <a:stretch>
            <a:fillRect/>
          </a:stretch>
        </p:blipFill>
        <p:spPr bwMode="auto">
          <a:xfrm>
            <a:off x="7744826" y="3229325"/>
            <a:ext cx="3462415" cy="3108960"/>
          </a:xfrm>
          <a:prstGeom prst="rect">
            <a:avLst/>
          </a:prstGeom>
          <a:noFill/>
          <a:ln w="9525">
            <a:noFill/>
            <a:miter lim="800000"/>
            <a:headEnd/>
            <a:tailEnd/>
          </a:ln>
        </p:spPr>
      </p:pic>
      <p:sp>
        <p:nvSpPr>
          <p:cNvPr id="4" name="TextBox 33">
            <a:extLst>
              <a:ext uri="{FF2B5EF4-FFF2-40B4-BE49-F238E27FC236}">
                <a16:creationId xmlns:a16="http://schemas.microsoft.com/office/drawing/2014/main" id="{9BDC8AF4-581F-3CFE-8190-C3B0D3795E88}"/>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sp>
        <p:nvSpPr>
          <p:cNvPr id="5" name="TextBox 33">
            <a:extLst>
              <a:ext uri="{FF2B5EF4-FFF2-40B4-BE49-F238E27FC236}">
                <a16:creationId xmlns:a16="http://schemas.microsoft.com/office/drawing/2014/main" id="{846E3F04-77AC-21BC-169D-4E29DCFFC046}"/>
              </a:ext>
            </a:extLst>
          </p:cNvPr>
          <p:cNvSpPr txBox="1"/>
          <p:nvPr/>
        </p:nvSpPr>
        <p:spPr>
          <a:xfrm>
            <a:off x="696000" y="3770850"/>
            <a:ext cx="5400000" cy="2260583"/>
          </a:xfrm>
          <a:prstGeom prst="rect">
            <a:avLst/>
          </a:prstGeom>
          <a:solidFill>
            <a:schemeClr val="bg1">
              <a:lumMod val="95000"/>
            </a:schemeClr>
          </a:solidFill>
        </p:spPr>
        <p:txBody>
          <a:bodyPr wrap="square" lIns="144000" tIns="144000" rIns="144000" bIns="144000">
            <a:spAutoFit/>
          </a:bodyPr>
          <a:lstStyle/>
          <a:p>
            <a:r>
              <a:rPr lang="zh-CN" altLang="en-US" sz="1600" dirty="0"/>
              <a:t>测试数据： </a:t>
            </a:r>
            <a:r>
              <a:rPr lang="en-US" altLang="zh-CN" sz="1600" dirty="0"/>
              <a:t>A=3</a:t>
            </a:r>
            <a:r>
              <a:rPr lang="zh-CN" altLang="en-US" sz="1600" dirty="0"/>
              <a:t>，</a:t>
            </a:r>
            <a:r>
              <a:rPr lang="en-US" altLang="zh-CN" sz="1600" dirty="0"/>
              <a:t>B=0</a:t>
            </a:r>
            <a:r>
              <a:rPr lang="zh-CN" altLang="en-US" sz="1600" dirty="0"/>
              <a:t>（</a:t>
            </a:r>
            <a:r>
              <a:rPr lang="en-US" altLang="zh-CN" sz="1600" dirty="0"/>
              <a:t>A=3</a:t>
            </a:r>
            <a:r>
              <a:rPr lang="zh-CN" altLang="en-US" sz="1600" dirty="0"/>
              <a:t>，</a:t>
            </a:r>
            <a:r>
              <a:rPr lang="en-US" altLang="zh-CN" sz="1600" dirty="0"/>
              <a:t>B≤1</a:t>
            </a:r>
            <a:r>
              <a:rPr lang="zh-CN" altLang="en-US" sz="1600" dirty="0"/>
              <a:t>，</a:t>
            </a:r>
            <a:r>
              <a:rPr lang="en-US" altLang="zh-CN" sz="1600" dirty="0"/>
              <a:t>A&gt;2</a:t>
            </a:r>
            <a:r>
              <a:rPr lang="zh-CN" altLang="en-US" sz="1600" dirty="0"/>
              <a:t>，</a:t>
            </a:r>
            <a:r>
              <a:rPr lang="en-US" altLang="zh-CN" sz="1600" dirty="0"/>
              <a:t>B=0</a:t>
            </a:r>
            <a:r>
              <a:rPr lang="zh-CN" altLang="en-US" sz="1600" dirty="0"/>
              <a:t>）</a:t>
            </a:r>
            <a:endParaRPr lang="en-US" altLang="zh-CN" sz="1600" dirty="0"/>
          </a:p>
          <a:p>
            <a:r>
              <a:rPr lang="zh-CN" altLang="en-US" sz="1600" dirty="0"/>
              <a:t>执行路径：</a:t>
            </a:r>
            <a:r>
              <a:rPr lang="en-US" altLang="zh-CN" sz="1600" dirty="0" err="1"/>
              <a:t>s→a→c→b→d→e</a:t>
            </a:r>
            <a:r>
              <a:rPr lang="zh-CN" altLang="en-US" sz="1600" dirty="0"/>
              <a:t>；</a:t>
            </a:r>
            <a:endParaRPr lang="en-US" altLang="zh-CN" sz="1600" dirty="0"/>
          </a:p>
          <a:p>
            <a:endParaRPr lang="zh-CN" altLang="en-US" sz="1600" dirty="0"/>
          </a:p>
          <a:p>
            <a:r>
              <a:rPr lang="zh-CN" altLang="en-US" sz="1600" dirty="0"/>
              <a:t>测试数据： </a:t>
            </a:r>
            <a:r>
              <a:rPr lang="en-US" altLang="zh-CN" sz="1600" dirty="0"/>
              <a:t>A=2</a:t>
            </a:r>
            <a:r>
              <a:rPr lang="zh-CN" altLang="en-US" sz="1600" dirty="0"/>
              <a:t>，</a:t>
            </a:r>
            <a:r>
              <a:rPr lang="en-US" altLang="zh-CN" sz="1600" dirty="0"/>
              <a:t>B=0</a:t>
            </a:r>
            <a:r>
              <a:rPr lang="zh-CN" altLang="en-US" sz="1600" dirty="0"/>
              <a:t>（</a:t>
            </a:r>
            <a:r>
              <a:rPr lang="en-US" altLang="zh-CN" sz="1600" dirty="0"/>
              <a:t>A≠3</a:t>
            </a:r>
            <a:r>
              <a:rPr lang="zh-CN" altLang="en-US" sz="1600" dirty="0"/>
              <a:t>，</a:t>
            </a:r>
            <a:r>
              <a:rPr lang="en-US" altLang="zh-CN" sz="1600" dirty="0"/>
              <a:t>B≤1</a:t>
            </a:r>
            <a:r>
              <a:rPr lang="zh-CN" altLang="en-US" sz="1600" dirty="0"/>
              <a:t>，</a:t>
            </a:r>
            <a:r>
              <a:rPr lang="en-US" altLang="zh-CN" sz="1600" dirty="0"/>
              <a:t>A≤2</a:t>
            </a:r>
            <a:r>
              <a:rPr lang="zh-CN" altLang="en-US" sz="1600" dirty="0"/>
              <a:t>，</a:t>
            </a:r>
            <a:r>
              <a:rPr lang="en-US" altLang="zh-CN" sz="1600" dirty="0"/>
              <a:t>B=0</a:t>
            </a:r>
            <a:r>
              <a:rPr lang="zh-CN" altLang="en-US" sz="1600" dirty="0"/>
              <a:t>）</a:t>
            </a:r>
            <a:endParaRPr lang="en-US" altLang="zh-CN" sz="1600" dirty="0"/>
          </a:p>
          <a:p>
            <a:r>
              <a:rPr lang="zh-CN" altLang="en-US" sz="1600" dirty="0"/>
              <a:t>执行路径：</a:t>
            </a:r>
            <a:r>
              <a:rPr lang="en-US" altLang="zh-CN" sz="1600" dirty="0" err="1"/>
              <a:t>s→a→b→e</a:t>
            </a:r>
            <a:r>
              <a:rPr lang="zh-CN" altLang="en-US" sz="1600" dirty="0"/>
              <a:t>；</a:t>
            </a:r>
            <a:endParaRPr lang="en-US" altLang="zh-CN" sz="1600" dirty="0"/>
          </a:p>
          <a:p>
            <a:endParaRPr lang="zh-CN" altLang="en-US" sz="1600" dirty="0"/>
          </a:p>
          <a:p>
            <a:r>
              <a:rPr lang="zh-CN" altLang="en-US" sz="1600" dirty="0"/>
              <a:t>测试数据： </a:t>
            </a:r>
            <a:r>
              <a:rPr lang="en-US" altLang="zh-CN" sz="1600" dirty="0"/>
              <a:t>A=2</a:t>
            </a:r>
            <a:r>
              <a:rPr lang="zh-CN" altLang="en-US" sz="1600" dirty="0"/>
              <a:t>，</a:t>
            </a:r>
            <a:r>
              <a:rPr lang="en-US" altLang="zh-CN" sz="1600" dirty="0"/>
              <a:t>B=2</a:t>
            </a:r>
            <a:r>
              <a:rPr lang="zh-CN" altLang="en-US" sz="1600" dirty="0"/>
              <a:t>（</a:t>
            </a:r>
            <a:r>
              <a:rPr lang="en-US" altLang="zh-CN" sz="1600" dirty="0"/>
              <a:t>A≠3</a:t>
            </a:r>
            <a:r>
              <a:rPr lang="zh-CN" altLang="en-US" sz="1600" dirty="0"/>
              <a:t>，</a:t>
            </a:r>
            <a:r>
              <a:rPr lang="en-US" altLang="zh-CN" sz="1600" dirty="0"/>
              <a:t>B&gt;1</a:t>
            </a:r>
            <a:r>
              <a:rPr lang="zh-CN" altLang="en-US" sz="1600" dirty="0"/>
              <a:t>，</a:t>
            </a:r>
            <a:r>
              <a:rPr lang="en-US" altLang="zh-CN" sz="1600" dirty="0"/>
              <a:t>A≤2</a:t>
            </a:r>
            <a:r>
              <a:rPr lang="zh-CN" altLang="en-US" sz="1600" dirty="0"/>
              <a:t>，</a:t>
            </a:r>
            <a:r>
              <a:rPr lang="en-US" altLang="zh-CN" sz="1600" dirty="0"/>
              <a:t>B≠0</a:t>
            </a:r>
            <a:r>
              <a:rPr lang="zh-CN" altLang="en-US" sz="1600" dirty="0"/>
              <a:t>）</a:t>
            </a:r>
            <a:endParaRPr lang="en-US" altLang="zh-CN" sz="1600" dirty="0"/>
          </a:p>
          <a:p>
            <a:r>
              <a:rPr lang="zh-CN" altLang="en-US" sz="1600" dirty="0"/>
              <a:t>执行路径：</a:t>
            </a:r>
            <a:r>
              <a:rPr lang="en-US" altLang="zh-CN" sz="1600" dirty="0" err="1"/>
              <a:t>s→a→c→b→e</a:t>
            </a:r>
            <a:r>
              <a:rPr lang="zh-CN" altLang="en-US" sz="1600" dirty="0"/>
              <a:t>。</a:t>
            </a:r>
          </a:p>
        </p:txBody>
      </p:sp>
    </p:spTree>
    <p:extLst>
      <p:ext uri="{BB962C8B-B14F-4D97-AF65-F5344CB8AC3E}">
        <p14:creationId xmlns:p14="http://schemas.microsoft.com/office/powerpoint/2010/main" val="1818974361"/>
      </p:ext>
    </p:extLst>
  </p:cSld>
  <p:clrMapOvr>
    <a:masterClrMapping/>
  </p:clrMapOvr>
  <p:transition>
    <p:pull dir="rd"/>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4" name="文本占位符 13">
            <a:extLst>
              <a:ext uri="{FF2B5EF4-FFF2-40B4-BE49-F238E27FC236}">
                <a16:creationId xmlns:a16="http://schemas.microsoft.com/office/drawing/2014/main" id="{7F5E3EE8-5C9B-69E1-9BE6-2BD0B981C648}"/>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19" name="文本占位符 18">
            <a:extLst>
              <a:ext uri="{FF2B5EF4-FFF2-40B4-BE49-F238E27FC236}">
                <a16:creationId xmlns:a16="http://schemas.microsoft.com/office/drawing/2014/main" id="{278F7709-3D38-53AB-5E7B-4EFBEBA14B24}"/>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39" name="TextBox 1"/>
          <p:cNvSpPr txBox="1">
            <a:spLocks noChangeArrowheads="1"/>
          </p:cNvSpPr>
          <p:nvPr/>
        </p:nvSpPr>
        <p:spPr bwMode="auto">
          <a:xfrm>
            <a:off x="804271" y="1757232"/>
            <a:ext cx="37401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altLang="zh-CN" sz="2800" dirty="0">
                <a:solidFill>
                  <a:srgbClr val="E67819"/>
                </a:solidFill>
                <a:latin typeface="Times New Roman" panose="02020603050405020304" pitchFamily="18" charset="0"/>
                <a:ea typeface="MS UI Gothic" panose="020B0600070205080204" charset="-128"/>
              </a:rPr>
              <a:t>5</a:t>
            </a:r>
            <a:endParaRPr lang="zh-CN" altLang="en-US" sz="2800" dirty="0">
              <a:solidFill>
                <a:srgbClr val="E67819"/>
              </a:solidFill>
              <a:latin typeface="Times New Roman" panose="02020603050405020304" pitchFamily="18" charset="0"/>
              <a:ea typeface="MS UI Gothic" panose="020B0600070205080204" charset="-128"/>
            </a:endParaRPr>
          </a:p>
        </p:txBody>
      </p:sp>
      <p:cxnSp>
        <p:nvCxnSpPr>
          <p:cNvPr id="40" name="直接连接符 39"/>
          <p:cNvCxnSpPr/>
          <p:nvPr/>
        </p:nvCxnSpPr>
        <p:spPr>
          <a:xfrm flipH="1">
            <a:off x="696000" y="1722942"/>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1148398" y="1818192"/>
            <a:ext cx="47856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条件组合覆盖 </a:t>
            </a:r>
            <a:r>
              <a:rPr lang="en-US" altLang="zh-CN" sz="1600" dirty="0">
                <a:solidFill>
                  <a:srgbClr val="E67819"/>
                </a:solidFill>
                <a:latin typeface="+mj-ea"/>
                <a:ea typeface="+mj-ea"/>
              </a:rPr>
              <a:t>Multiple Condition Coverage</a:t>
            </a:r>
            <a:endParaRPr lang="zh-CN" altLang="en-US" dirty="0">
              <a:solidFill>
                <a:srgbClr val="E67819"/>
              </a:solidFill>
              <a:latin typeface="+mj-ea"/>
              <a:ea typeface="+mj-ea"/>
            </a:endParaRPr>
          </a:p>
        </p:txBody>
      </p:sp>
      <p:sp>
        <p:nvSpPr>
          <p:cNvPr id="42" name="矩形 8"/>
          <p:cNvSpPr>
            <a:spLocks noChangeArrowheads="1"/>
          </p:cNvSpPr>
          <p:nvPr/>
        </p:nvSpPr>
        <p:spPr bwMode="auto">
          <a:xfrm>
            <a:off x="1158236" y="2069264"/>
            <a:ext cx="4650741" cy="2219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a:lnSpc>
                <a:spcPct val="130000"/>
              </a:lnSpc>
            </a:pPr>
            <a:r>
              <a:rPr lang="zh-CN" altLang="en-US" dirty="0"/>
              <a:t>条件组合覆盖要求选取更多的测试数据，使每个判定表达式中条件的各种可能组合都至少出现一次。满足条件组合覆盖要求的测试数据，也一定满足判定覆盖、条件覆盖和判定</a:t>
            </a:r>
            <a:r>
              <a:rPr lang="en-US" altLang="zh-CN" dirty="0"/>
              <a:t>/</a:t>
            </a:r>
            <a:r>
              <a:rPr lang="zh-CN" altLang="en-US" dirty="0"/>
              <a:t>条件覆盖的要求。可见，条件组合覆盖是前面介绍的几种覆盖中最强的逻辑覆盖</a:t>
            </a:r>
            <a:endParaRPr dirty="0"/>
          </a:p>
        </p:txBody>
      </p:sp>
      <p:pic>
        <p:nvPicPr>
          <p:cNvPr id="2" name="图片 124">
            <a:extLst>
              <a:ext uri="{FF2B5EF4-FFF2-40B4-BE49-F238E27FC236}">
                <a16:creationId xmlns:a16="http://schemas.microsoft.com/office/drawing/2014/main" id="{1E423D2D-2081-4896-8EAB-7298E0852719}"/>
              </a:ext>
            </a:extLst>
          </p:cNvPr>
          <p:cNvPicPr preferRelativeResize="0">
            <a:picLocks noChangeAspect="1" noChangeArrowheads="1"/>
          </p:cNvPicPr>
          <p:nvPr/>
        </p:nvPicPr>
        <p:blipFill>
          <a:blip r:embed="rId3" cstate="print"/>
          <a:srcRect/>
          <a:stretch>
            <a:fillRect/>
          </a:stretch>
        </p:blipFill>
        <p:spPr bwMode="auto">
          <a:xfrm>
            <a:off x="7744826" y="3229325"/>
            <a:ext cx="3462415" cy="3108960"/>
          </a:xfrm>
          <a:prstGeom prst="rect">
            <a:avLst/>
          </a:prstGeom>
          <a:noFill/>
          <a:ln w="9525">
            <a:noFill/>
            <a:miter lim="800000"/>
            <a:headEnd/>
            <a:tailEnd/>
          </a:ln>
        </p:spPr>
      </p:pic>
      <p:sp>
        <p:nvSpPr>
          <p:cNvPr id="4" name="TextBox 33">
            <a:extLst>
              <a:ext uri="{FF2B5EF4-FFF2-40B4-BE49-F238E27FC236}">
                <a16:creationId xmlns:a16="http://schemas.microsoft.com/office/drawing/2014/main" id="{E5C58F95-12F2-E247-A889-ADAD512C5E98}"/>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spTree>
  </p:cSld>
  <p:clrMapOvr>
    <a:masterClrMapping/>
  </p:clrMapOvr>
  <p:transition>
    <p:pull dir="rd"/>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A0346-95E5-1C7E-588B-AD3591ACEDF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3735CA9-2435-41D4-2221-99D9E824B175}"/>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4" name="文本占位符 13">
            <a:extLst>
              <a:ext uri="{FF2B5EF4-FFF2-40B4-BE49-F238E27FC236}">
                <a16:creationId xmlns:a16="http://schemas.microsoft.com/office/drawing/2014/main" id="{90A7A86B-AD90-C9CB-3BC1-B9FB1905073A}"/>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19" name="文本占位符 18">
            <a:extLst>
              <a:ext uri="{FF2B5EF4-FFF2-40B4-BE49-F238E27FC236}">
                <a16:creationId xmlns:a16="http://schemas.microsoft.com/office/drawing/2014/main" id="{C04FF0CC-8A49-44E8-C684-C1304FE2C874}"/>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39" name="TextBox 1">
            <a:extLst>
              <a:ext uri="{FF2B5EF4-FFF2-40B4-BE49-F238E27FC236}">
                <a16:creationId xmlns:a16="http://schemas.microsoft.com/office/drawing/2014/main" id="{800DD4D3-0CE3-2998-CDE3-41B1A2516445}"/>
              </a:ext>
            </a:extLst>
          </p:cNvPr>
          <p:cNvSpPr txBox="1">
            <a:spLocks noChangeArrowheads="1"/>
          </p:cNvSpPr>
          <p:nvPr/>
        </p:nvSpPr>
        <p:spPr bwMode="auto">
          <a:xfrm>
            <a:off x="804271" y="1757232"/>
            <a:ext cx="37401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altLang="zh-CN" sz="2800" dirty="0">
                <a:solidFill>
                  <a:srgbClr val="E67819"/>
                </a:solidFill>
                <a:latin typeface="Times New Roman" panose="02020603050405020304" pitchFamily="18" charset="0"/>
                <a:ea typeface="MS UI Gothic" panose="020B0600070205080204" charset="-128"/>
              </a:rPr>
              <a:t>5</a:t>
            </a:r>
            <a:endParaRPr lang="zh-CN" altLang="en-US" sz="2800" dirty="0">
              <a:solidFill>
                <a:srgbClr val="E67819"/>
              </a:solidFill>
              <a:latin typeface="Times New Roman" panose="02020603050405020304" pitchFamily="18" charset="0"/>
              <a:ea typeface="MS UI Gothic" panose="020B0600070205080204" charset="-128"/>
            </a:endParaRPr>
          </a:p>
        </p:txBody>
      </p:sp>
      <p:cxnSp>
        <p:nvCxnSpPr>
          <p:cNvPr id="40" name="直接连接符 39">
            <a:extLst>
              <a:ext uri="{FF2B5EF4-FFF2-40B4-BE49-F238E27FC236}">
                <a16:creationId xmlns:a16="http://schemas.microsoft.com/office/drawing/2014/main" id="{675A2D31-4C10-D7C2-C833-C2B289D80350}"/>
              </a:ext>
            </a:extLst>
          </p:cNvPr>
          <p:cNvCxnSpPr/>
          <p:nvPr/>
        </p:nvCxnSpPr>
        <p:spPr>
          <a:xfrm flipH="1">
            <a:off x="696000" y="1722942"/>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a:extLst>
              <a:ext uri="{FF2B5EF4-FFF2-40B4-BE49-F238E27FC236}">
                <a16:creationId xmlns:a16="http://schemas.microsoft.com/office/drawing/2014/main" id="{F0069656-CBCE-4108-52E1-6DCD2EA4A7E9}"/>
              </a:ext>
            </a:extLst>
          </p:cNvPr>
          <p:cNvSpPr>
            <a:spLocks noChangeArrowheads="1"/>
          </p:cNvSpPr>
          <p:nvPr/>
        </p:nvSpPr>
        <p:spPr bwMode="auto">
          <a:xfrm>
            <a:off x="1148398" y="1818192"/>
            <a:ext cx="47856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条件组合覆盖 </a:t>
            </a:r>
            <a:r>
              <a:rPr lang="en-US" altLang="zh-CN" sz="1600" dirty="0">
                <a:solidFill>
                  <a:srgbClr val="E67819"/>
                </a:solidFill>
                <a:latin typeface="+mj-ea"/>
                <a:ea typeface="+mj-ea"/>
              </a:rPr>
              <a:t>Multiple Condition Coverage</a:t>
            </a:r>
            <a:endParaRPr lang="zh-CN" altLang="en-US" dirty="0">
              <a:solidFill>
                <a:srgbClr val="E67819"/>
              </a:solidFill>
              <a:latin typeface="+mj-ea"/>
              <a:ea typeface="+mj-ea"/>
            </a:endParaRPr>
          </a:p>
        </p:txBody>
      </p:sp>
      <p:sp>
        <p:nvSpPr>
          <p:cNvPr id="11" name="TextBox 33">
            <a:extLst>
              <a:ext uri="{FF2B5EF4-FFF2-40B4-BE49-F238E27FC236}">
                <a16:creationId xmlns:a16="http://schemas.microsoft.com/office/drawing/2014/main" id="{5B068B6B-BC32-928F-4634-939B8721DE71}"/>
              </a:ext>
            </a:extLst>
          </p:cNvPr>
          <p:cNvSpPr txBox="1"/>
          <p:nvPr/>
        </p:nvSpPr>
        <p:spPr>
          <a:xfrm>
            <a:off x="696001" y="2304000"/>
            <a:ext cx="5400000" cy="1398808"/>
          </a:xfrm>
          <a:prstGeom prst="rect">
            <a:avLst/>
          </a:prstGeom>
          <a:solidFill>
            <a:schemeClr val="bg1">
              <a:lumMod val="95000"/>
            </a:schemeClr>
          </a:solidFill>
        </p:spPr>
        <p:txBody>
          <a:bodyPr wrap="square" lIns="144000" tIns="144000" rIns="144000" bIns="144000">
            <a:spAutoFit/>
          </a:bodyPr>
          <a:lstStyle/>
          <a:p>
            <a:r>
              <a:rPr lang="zh-CN" altLang="en-US" dirty="0"/>
              <a:t>在满足条件组合覆盖要求的测试进行后，仍需检查一下执行路径，确认是否遗漏测试路径。</a:t>
            </a:r>
          </a:p>
          <a:p>
            <a:r>
              <a:rPr lang="zh-CN" altLang="en-US" dirty="0"/>
              <a:t>测试数据可以检测的程序路径的多少，也是对程序测试详尽程度的反映。</a:t>
            </a:r>
          </a:p>
        </p:txBody>
      </p:sp>
      <p:graphicFrame>
        <p:nvGraphicFramePr>
          <p:cNvPr id="15" name="表格 14"/>
          <p:cNvGraphicFramePr>
            <a:graphicFrameLocks noGrp="1"/>
          </p:cNvGraphicFramePr>
          <p:nvPr>
            <p:extLst>
              <p:ext uri="{D42A27DB-BD31-4B8C-83A1-F6EECF244321}">
                <p14:modId xmlns:p14="http://schemas.microsoft.com/office/powerpoint/2010/main" val="1448012570"/>
              </p:ext>
            </p:extLst>
          </p:nvPr>
        </p:nvGraphicFramePr>
        <p:xfrm>
          <a:off x="1188720" y="4463411"/>
          <a:ext cx="9814559" cy="2141223"/>
        </p:xfrm>
        <a:graphic>
          <a:graphicData uri="http://schemas.openxmlformats.org/drawingml/2006/table">
            <a:tbl>
              <a:tblPr/>
              <a:tblGrid>
                <a:gridCol w="1097904">
                  <a:extLst>
                    <a:ext uri="{9D8B030D-6E8A-4147-A177-3AD203B41FA5}">
                      <a16:colId xmlns:a16="http://schemas.microsoft.com/office/drawing/2014/main" val="20000"/>
                    </a:ext>
                  </a:extLst>
                </a:gridCol>
                <a:gridCol w="1707984">
                  <a:extLst>
                    <a:ext uri="{9D8B030D-6E8A-4147-A177-3AD203B41FA5}">
                      <a16:colId xmlns:a16="http://schemas.microsoft.com/office/drawing/2014/main" val="20001"/>
                    </a:ext>
                  </a:extLst>
                </a:gridCol>
                <a:gridCol w="2057814">
                  <a:extLst>
                    <a:ext uri="{9D8B030D-6E8A-4147-A177-3AD203B41FA5}">
                      <a16:colId xmlns:a16="http://schemas.microsoft.com/office/drawing/2014/main" val="20002"/>
                    </a:ext>
                  </a:extLst>
                </a:gridCol>
                <a:gridCol w="1097904">
                  <a:extLst>
                    <a:ext uri="{9D8B030D-6E8A-4147-A177-3AD203B41FA5}">
                      <a16:colId xmlns:a16="http://schemas.microsoft.com/office/drawing/2014/main" val="20003"/>
                    </a:ext>
                  </a:extLst>
                </a:gridCol>
                <a:gridCol w="1899241">
                  <a:extLst>
                    <a:ext uri="{9D8B030D-6E8A-4147-A177-3AD203B41FA5}">
                      <a16:colId xmlns:a16="http://schemas.microsoft.com/office/drawing/2014/main" val="20004"/>
                    </a:ext>
                  </a:extLst>
                </a:gridCol>
                <a:gridCol w="1953712">
                  <a:extLst>
                    <a:ext uri="{9D8B030D-6E8A-4147-A177-3AD203B41FA5}">
                      <a16:colId xmlns:a16="http://schemas.microsoft.com/office/drawing/2014/main" val="20005"/>
                    </a:ext>
                  </a:extLst>
                </a:gridCol>
              </a:tblGrid>
              <a:tr h="305889">
                <a:tc>
                  <a:txBody>
                    <a:bodyPr/>
                    <a:lstStyle/>
                    <a:p>
                      <a:pPr algn="ctr">
                        <a:spcAft>
                          <a:spcPts val="0"/>
                        </a:spcAft>
                      </a:pPr>
                      <a:r>
                        <a:rPr lang="zh-CN" sz="1600" kern="500" dirty="0">
                          <a:latin typeface="Times New Roman" panose="02020603050405020304"/>
                          <a:ea typeface="微软雅黑 Light" panose="020B0502040204020203" pitchFamily="34" charset="-122"/>
                          <a:cs typeface="Times New Roman" panose="02020603050405020304"/>
                        </a:rPr>
                        <a:t>序号</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spcAft>
                          <a:spcPts val="0"/>
                        </a:spcAft>
                      </a:pPr>
                      <a:r>
                        <a:rPr lang="zh-CN" sz="1600" kern="500" dirty="0">
                          <a:latin typeface="Times New Roman" panose="02020603050405020304"/>
                          <a:ea typeface="微软雅黑 Light" panose="020B0502040204020203" pitchFamily="34" charset="-122"/>
                          <a:cs typeface="Times New Roman" panose="02020603050405020304"/>
                        </a:rPr>
                        <a:t>条件组合</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spcAft>
                          <a:spcPts val="0"/>
                        </a:spcAft>
                      </a:pPr>
                      <a:r>
                        <a:rPr lang="zh-CN" sz="1600" kern="500" dirty="0">
                          <a:latin typeface="Times New Roman" panose="02020603050405020304"/>
                          <a:ea typeface="微软雅黑 Light" panose="020B0502040204020203" pitchFamily="34" charset="-122"/>
                          <a:cs typeface="Times New Roman" panose="02020603050405020304"/>
                        </a:rPr>
                        <a:t>执行路径</a:t>
                      </a: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spcAft>
                          <a:spcPts val="0"/>
                        </a:spcAft>
                      </a:pPr>
                      <a:r>
                        <a:rPr lang="zh-CN" sz="1600" kern="500" dirty="0">
                          <a:latin typeface="Times New Roman" panose="02020603050405020304"/>
                          <a:ea typeface="微软雅黑 Light" panose="020B0502040204020203" pitchFamily="34" charset="-122"/>
                          <a:cs typeface="Times New Roman" panose="02020603050405020304"/>
                        </a:rPr>
                        <a:t>序号</a:t>
                      </a: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spcAft>
                          <a:spcPts val="0"/>
                        </a:spcAft>
                      </a:pPr>
                      <a:r>
                        <a:rPr lang="zh-CN" sz="1600" kern="500" dirty="0">
                          <a:latin typeface="Times New Roman" panose="02020603050405020304"/>
                          <a:ea typeface="微软雅黑 Light" panose="020B0502040204020203" pitchFamily="34" charset="-122"/>
                          <a:cs typeface="Times New Roman" panose="02020603050405020304"/>
                        </a:rPr>
                        <a:t>条件组合</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spcAft>
                          <a:spcPts val="0"/>
                        </a:spcAft>
                      </a:pPr>
                      <a:r>
                        <a:rPr lang="zh-CN" sz="1600" kern="500" dirty="0">
                          <a:latin typeface="Times New Roman" panose="02020603050405020304"/>
                          <a:ea typeface="微软雅黑 Light" panose="020B0502040204020203" pitchFamily="34" charset="-122"/>
                          <a:cs typeface="Times New Roman" panose="02020603050405020304"/>
                        </a:rPr>
                        <a:t>执行路径</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05889">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A&gt;3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B&lt;0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7</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just">
                        <a:spcAft>
                          <a:spcPts val="0"/>
                        </a:spcAft>
                      </a:pPr>
                      <a:r>
                        <a:rPr lang="en-US" sz="1600" kern="500" dirty="0">
                          <a:latin typeface="Times New Roman" panose="02020603050405020304"/>
                          <a:ea typeface="微软雅黑 Light" panose="020B0502040204020203" pitchFamily="34" charset="-122"/>
                          <a:cs typeface="Times New Roman" panose="02020603050405020304"/>
                        </a:rPr>
                        <a:t>2&lt;A&lt;3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B&lt;0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305889">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2</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A&gt;3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d</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8</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微软雅黑 Light" panose="020B0502040204020203" pitchFamily="34" charset="-122"/>
                          <a:cs typeface="Times New Roman" panose="02020603050405020304"/>
                        </a:rPr>
                        <a:t>2&lt;A&lt;3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d</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305889">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3</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A&gt;3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0&lt;B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9</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微软雅黑 Light" panose="020B0502040204020203" pitchFamily="34" charset="-122"/>
                          <a:cs typeface="Times New Roman" panose="02020603050405020304"/>
                        </a:rPr>
                        <a:t>2&lt;A&lt;3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0&lt;B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305889">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4</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A&gt;3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B&gt;1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c</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10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微软雅黑 Light" panose="020B0502040204020203" pitchFamily="34" charset="-122"/>
                          <a:cs typeface="Times New Roman" panose="02020603050405020304"/>
                        </a:rPr>
                        <a:t>2&lt;A&lt;3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B&gt;1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c</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4"/>
                  </a:ext>
                </a:extLst>
              </a:tr>
              <a:tr h="305889">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5</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A=3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c</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11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2</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305889">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6</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A=3</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B=0</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c</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d</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600" kern="500" dirty="0">
                          <a:latin typeface="Times New Roman" panose="02020603050405020304"/>
                          <a:ea typeface="微软雅黑 Light" panose="020B0502040204020203" pitchFamily="34" charset="-122"/>
                          <a:cs typeface="Times New Roman" panose="02020603050405020304"/>
                        </a:rPr>
                        <a:t>12</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just">
                        <a:spcAft>
                          <a:spcPts val="0"/>
                        </a:spcAft>
                      </a:pP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2</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B&gt;1</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l">
                        <a:spcAft>
                          <a:spcPts val="0"/>
                        </a:spcAft>
                      </a:pPr>
                      <a:r>
                        <a:rPr lang="en-US" sz="1600" kern="500" dirty="0">
                          <a:latin typeface="Times New Roman" panose="02020603050405020304"/>
                          <a:ea typeface="微软雅黑 Light" panose="020B0502040204020203" pitchFamily="34" charset="-122"/>
                          <a:cs typeface="Times New Roman" panose="02020603050405020304"/>
                        </a:rPr>
                        <a:t>s</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a</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c</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b</a:t>
                      </a:r>
                      <a:r>
                        <a:rPr lang="zh-CN" sz="1600" kern="500" dirty="0">
                          <a:latin typeface="Times New Roman" panose="02020603050405020304"/>
                          <a:ea typeface="微软雅黑 Light" panose="020B0502040204020203" pitchFamily="34" charset="-122"/>
                          <a:cs typeface="Times New Roman" panose="02020603050405020304"/>
                        </a:rPr>
                        <a:t>→</a:t>
                      </a:r>
                      <a:r>
                        <a:rPr lang="en-US" sz="1600" kern="500" dirty="0">
                          <a:latin typeface="Times New Roman" panose="02020603050405020304"/>
                          <a:ea typeface="微软雅黑 Light" panose="020B0502040204020203" pitchFamily="34" charset="-122"/>
                          <a:cs typeface="Times New Roman" panose="02020603050405020304"/>
                        </a:rPr>
                        <a:t>e</a:t>
                      </a:r>
                      <a:endParaRPr lang="zh-CN" sz="1600" kern="500" dirty="0">
                        <a:latin typeface="Times New Roman" panose="02020603050405020304"/>
                        <a:ea typeface="微软雅黑 Light" panose="020B0502040204020203" pitchFamily="34"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7" name="矩形 16"/>
          <p:cNvSpPr/>
          <p:nvPr/>
        </p:nvSpPr>
        <p:spPr>
          <a:xfrm>
            <a:off x="3397974" y="4042529"/>
            <a:ext cx="5365571" cy="369332"/>
          </a:xfrm>
          <a:prstGeom prst="rect">
            <a:avLst/>
          </a:prstGeom>
        </p:spPr>
        <p:txBody>
          <a:bodyPr wrap="none">
            <a:spAutoFit/>
          </a:bodyPr>
          <a:lstStyle/>
          <a:p>
            <a:r>
              <a:rPr lang="zh-CN" altLang="en-US" dirty="0">
                <a:solidFill>
                  <a:srgbClr val="002060"/>
                </a:solidFill>
                <a:latin typeface="Times New Roman" panose="02020603050405020304" pitchFamily="18" charset="0"/>
              </a:rPr>
              <a:t>表</a:t>
            </a:r>
            <a:r>
              <a:rPr lang="en-US" dirty="0">
                <a:solidFill>
                  <a:srgbClr val="002060"/>
                </a:solidFill>
                <a:latin typeface="Times New Roman" panose="02020603050405020304" pitchFamily="18" charset="0"/>
              </a:rPr>
              <a:t>4-1  </a:t>
            </a:r>
            <a:r>
              <a:rPr lang="zh-CN" altLang="en-US" dirty="0">
                <a:solidFill>
                  <a:srgbClr val="002060"/>
                </a:solidFill>
                <a:latin typeface="Times New Roman" panose="02020603050405020304" pitchFamily="18" charset="0"/>
              </a:rPr>
              <a:t>例</a:t>
            </a:r>
            <a:r>
              <a:rPr lang="en-US" dirty="0">
                <a:solidFill>
                  <a:srgbClr val="002060"/>
                </a:solidFill>
                <a:latin typeface="Times New Roman" panose="02020603050405020304" pitchFamily="18" charset="0"/>
              </a:rPr>
              <a:t>4-1</a:t>
            </a:r>
            <a:r>
              <a:rPr lang="zh-CN" altLang="en-US" dirty="0">
                <a:solidFill>
                  <a:srgbClr val="002060"/>
                </a:solidFill>
                <a:latin typeface="Times New Roman" panose="02020603050405020304" pitchFamily="18" charset="0"/>
              </a:rPr>
              <a:t>测试数据的条件组合及对应的执行路径</a:t>
            </a:r>
          </a:p>
        </p:txBody>
      </p:sp>
    </p:spTree>
    <p:extLst>
      <p:ext uri="{BB962C8B-B14F-4D97-AF65-F5344CB8AC3E}">
        <p14:creationId xmlns:p14="http://schemas.microsoft.com/office/powerpoint/2010/main" val="34163390"/>
      </p:ext>
    </p:extLst>
  </p:cSld>
  <p:clrMapOvr>
    <a:masterClrMapping/>
  </p:clrMapOvr>
  <p:transition>
    <p:pull dir="r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94376-6890-25C9-B14F-71A73C891F7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7CA9BC8-E2C6-420C-5051-20D1554B5553}"/>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4" name="文本占位符 13">
            <a:extLst>
              <a:ext uri="{FF2B5EF4-FFF2-40B4-BE49-F238E27FC236}">
                <a16:creationId xmlns:a16="http://schemas.microsoft.com/office/drawing/2014/main" id="{A03DE6A7-EE1F-E4D5-FDBF-63530644566E}"/>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19" name="文本占位符 18">
            <a:extLst>
              <a:ext uri="{FF2B5EF4-FFF2-40B4-BE49-F238E27FC236}">
                <a16:creationId xmlns:a16="http://schemas.microsoft.com/office/drawing/2014/main" id="{F1314F28-214D-43A5-D80F-151151D68C88}"/>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51" name="TextBox 10">
            <a:extLst>
              <a:ext uri="{FF2B5EF4-FFF2-40B4-BE49-F238E27FC236}">
                <a16:creationId xmlns:a16="http://schemas.microsoft.com/office/drawing/2014/main" id="{32629E14-9F9D-AC05-6FD0-299C60149E80}"/>
              </a:ext>
            </a:extLst>
          </p:cNvPr>
          <p:cNvSpPr txBox="1">
            <a:spLocks noChangeArrowheads="1"/>
          </p:cNvSpPr>
          <p:nvPr/>
        </p:nvSpPr>
        <p:spPr bwMode="auto">
          <a:xfrm>
            <a:off x="803658" y="1783213"/>
            <a:ext cx="375273"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altLang="zh-CN" sz="2800" dirty="0">
                <a:solidFill>
                  <a:srgbClr val="E67819"/>
                </a:solidFill>
                <a:latin typeface="Times New Roman" panose="02020603050405020304" pitchFamily="18" charset="0"/>
                <a:ea typeface="MS UI Gothic" panose="020B0600070205080204" charset="-128"/>
              </a:rPr>
              <a:t>6</a:t>
            </a:r>
            <a:endParaRPr lang="zh-CN" altLang="en-US" sz="2800" dirty="0">
              <a:solidFill>
                <a:srgbClr val="E67819"/>
              </a:solidFill>
              <a:latin typeface="Times New Roman" panose="02020603050405020304" pitchFamily="18" charset="0"/>
              <a:ea typeface="MS UI Gothic" panose="020B0600070205080204" charset="-128"/>
            </a:endParaRPr>
          </a:p>
        </p:txBody>
      </p:sp>
      <p:cxnSp>
        <p:nvCxnSpPr>
          <p:cNvPr id="52" name="直接连接符 51">
            <a:extLst>
              <a:ext uri="{FF2B5EF4-FFF2-40B4-BE49-F238E27FC236}">
                <a16:creationId xmlns:a16="http://schemas.microsoft.com/office/drawing/2014/main" id="{EA3BE47F-B896-44AB-24BC-413AE0A4DF76}"/>
              </a:ext>
            </a:extLst>
          </p:cNvPr>
          <p:cNvCxnSpPr/>
          <p:nvPr/>
        </p:nvCxnSpPr>
        <p:spPr>
          <a:xfrm flipH="1">
            <a:off x="696000" y="1748923"/>
            <a:ext cx="590588"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a:extLst>
              <a:ext uri="{FF2B5EF4-FFF2-40B4-BE49-F238E27FC236}">
                <a16:creationId xmlns:a16="http://schemas.microsoft.com/office/drawing/2014/main" id="{DF3EECBC-6139-5A81-F5A5-38497F64BFC4}"/>
              </a:ext>
            </a:extLst>
          </p:cNvPr>
          <p:cNvSpPr>
            <a:spLocks noChangeArrowheads="1"/>
          </p:cNvSpPr>
          <p:nvPr/>
        </p:nvSpPr>
        <p:spPr bwMode="auto">
          <a:xfrm>
            <a:off x="1143677" y="1844173"/>
            <a:ext cx="24434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dirty="0">
                <a:solidFill>
                  <a:srgbClr val="E67819"/>
                </a:solidFill>
                <a:latin typeface="+mj-ea"/>
                <a:ea typeface="+mj-ea"/>
              </a:rPr>
              <a:t>点覆盖 </a:t>
            </a:r>
            <a:r>
              <a:rPr lang="en-US" altLang="zh-CN" sz="1600" dirty="0">
                <a:solidFill>
                  <a:srgbClr val="E67819"/>
                </a:solidFill>
                <a:latin typeface="+mj-ea"/>
                <a:ea typeface="+mj-ea"/>
              </a:rPr>
              <a:t>Point Coverage</a:t>
            </a:r>
            <a:endParaRPr lang="zh-CN" altLang="en-US" dirty="0">
              <a:solidFill>
                <a:srgbClr val="E67819"/>
              </a:solidFill>
              <a:latin typeface="+mj-ea"/>
              <a:ea typeface="+mj-ea"/>
            </a:endParaRPr>
          </a:p>
        </p:txBody>
      </p:sp>
      <p:sp>
        <p:nvSpPr>
          <p:cNvPr id="54" name="矩形 9">
            <a:extLst>
              <a:ext uri="{FF2B5EF4-FFF2-40B4-BE49-F238E27FC236}">
                <a16:creationId xmlns:a16="http://schemas.microsoft.com/office/drawing/2014/main" id="{712CB3F5-CEB3-7673-55D4-1FA079EA4D0B}"/>
              </a:ext>
            </a:extLst>
          </p:cNvPr>
          <p:cNvSpPr>
            <a:spLocks noChangeArrowheads="1"/>
          </p:cNvSpPr>
          <p:nvPr/>
        </p:nvSpPr>
        <p:spPr bwMode="auto">
          <a:xfrm>
            <a:off x="336001" y="2150243"/>
            <a:ext cx="6492976" cy="1859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fontAlgn="auto">
              <a:lnSpc>
                <a:spcPct val="130000"/>
              </a:lnSpc>
            </a:pPr>
            <a:r>
              <a:rPr dirty="0"/>
              <a:t>把程序流程图中的每个符号看成一个点，原来连接不同处理符号的箭头改为连接不同点的有向弧，就可得到一个有向图，称之为程序图。点覆盖测试要求选取足够多的数据，使得程序执行时至少经过程序图中的每个点一次。显然，点覆盖和语句覆盖的要求是相同的。</a:t>
            </a:r>
          </a:p>
        </p:txBody>
      </p:sp>
      <p:pic>
        <p:nvPicPr>
          <p:cNvPr id="2" name="图片 124">
            <a:extLst>
              <a:ext uri="{FF2B5EF4-FFF2-40B4-BE49-F238E27FC236}">
                <a16:creationId xmlns:a16="http://schemas.microsoft.com/office/drawing/2014/main" id="{AE12363A-98D3-2060-9768-B905FC7C62DC}"/>
              </a:ext>
            </a:extLst>
          </p:cNvPr>
          <p:cNvPicPr preferRelativeResize="0">
            <a:picLocks noChangeAspect="1" noChangeArrowheads="1"/>
          </p:cNvPicPr>
          <p:nvPr/>
        </p:nvPicPr>
        <p:blipFill>
          <a:blip r:embed="rId3" cstate="print"/>
          <a:srcRect/>
          <a:stretch>
            <a:fillRect/>
          </a:stretch>
        </p:blipFill>
        <p:spPr bwMode="auto">
          <a:xfrm>
            <a:off x="8393585" y="3229325"/>
            <a:ext cx="3462415" cy="3108960"/>
          </a:xfrm>
          <a:prstGeom prst="rect">
            <a:avLst/>
          </a:prstGeom>
          <a:noFill/>
          <a:ln w="9525">
            <a:noFill/>
            <a:miter lim="800000"/>
            <a:headEnd/>
            <a:tailEnd/>
          </a:ln>
        </p:spPr>
      </p:pic>
      <p:sp>
        <p:nvSpPr>
          <p:cNvPr id="4" name="TextBox 33">
            <a:extLst>
              <a:ext uri="{FF2B5EF4-FFF2-40B4-BE49-F238E27FC236}">
                <a16:creationId xmlns:a16="http://schemas.microsoft.com/office/drawing/2014/main" id="{E8440A2C-677A-0CCC-8611-11D75365730C}"/>
              </a:ext>
            </a:extLst>
          </p:cNvPr>
          <p:cNvSpPr txBox="1"/>
          <p:nvPr/>
        </p:nvSpPr>
        <p:spPr>
          <a:xfrm>
            <a:off x="7096067" y="1812994"/>
            <a:ext cx="4759933" cy="1398808"/>
          </a:xfrm>
          <a:prstGeom prst="rect">
            <a:avLst/>
          </a:prstGeom>
          <a:solidFill>
            <a:schemeClr val="bg1">
              <a:lumMod val="95000"/>
            </a:schemeClr>
          </a:solidFill>
        </p:spPr>
        <p:txBody>
          <a:bodyPr wrap="square" lIns="144000" tIns="144000" rIns="144000" bIns="144000">
            <a:spAutoFit/>
          </a:bodyPr>
          <a:lstStyle/>
          <a:p>
            <a:r>
              <a:rPr lang="zh-CN" altLang="en-US" dirty="0"/>
              <a:t>Begin</a:t>
            </a:r>
          </a:p>
          <a:p>
            <a:r>
              <a:rPr lang="zh-CN" altLang="en-US" dirty="0"/>
              <a:t>    IF (A=3)  OR  (B&gt;1)  Then  X:=A*B  Endif</a:t>
            </a:r>
          </a:p>
          <a:p>
            <a:r>
              <a:rPr lang="zh-CN" altLang="en-US" dirty="0"/>
              <a:t>    IF (A&gt;2)  AND  (B=0)  Then  X:=A-3  Endif</a:t>
            </a:r>
          </a:p>
          <a:p>
            <a:r>
              <a:rPr lang="zh-CN" altLang="en-US" dirty="0"/>
              <a:t>End</a:t>
            </a:r>
          </a:p>
        </p:txBody>
      </p:sp>
      <p:grpSp>
        <p:nvGrpSpPr>
          <p:cNvPr id="5" name="组合 8732">
            <a:extLst>
              <a:ext uri="{FF2B5EF4-FFF2-40B4-BE49-F238E27FC236}">
                <a16:creationId xmlns:a16="http://schemas.microsoft.com/office/drawing/2014/main" id="{9CD1E481-FC9B-1F40-6CCC-720C064F33E2}"/>
              </a:ext>
            </a:extLst>
          </p:cNvPr>
          <p:cNvGrpSpPr/>
          <p:nvPr/>
        </p:nvGrpSpPr>
        <p:grpSpPr bwMode="auto">
          <a:xfrm>
            <a:off x="5705417" y="3666075"/>
            <a:ext cx="2103120" cy="3048000"/>
            <a:chOff x="4113" y="5043"/>
            <a:chExt cx="1402" cy="2379"/>
          </a:xfrm>
        </p:grpSpPr>
        <p:sp>
          <p:nvSpPr>
            <p:cNvPr id="6" name="椭圆 8733">
              <a:extLst>
                <a:ext uri="{FF2B5EF4-FFF2-40B4-BE49-F238E27FC236}">
                  <a16:creationId xmlns:a16="http://schemas.microsoft.com/office/drawing/2014/main" id="{F42F4892-33A8-1BB6-D910-9CE259044B19}"/>
                </a:ext>
              </a:extLst>
            </p:cNvPr>
            <p:cNvSpPr>
              <a:spLocks noChangeArrowheads="1"/>
            </p:cNvSpPr>
            <p:nvPr/>
          </p:nvSpPr>
          <p:spPr bwMode="auto">
            <a:xfrm>
              <a:off x="4296" y="5121"/>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11" name="椭圆 8734">
              <a:extLst>
                <a:ext uri="{FF2B5EF4-FFF2-40B4-BE49-F238E27FC236}">
                  <a16:creationId xmlns:a16="http://schemas.microsoft.com/office/drawing/2014/main" id="{BC3F6996-DB1B-99FB-2363-544B444DF847}"/>
                </a:ext>
              </a:extLst>
            </p:cNvPr>
            <p:cNvSpPr>
              <a:spLocks noChangeArrowheads="1"/>
            </p:cNvSpPr>
            <p:nvPr/>
          </p:nvSpPr>
          <p:spPr bwMode="auto">
            <a:xfrm>
              <a:off x="4296" y="5825"/>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12" name="椭圆 8735">
              <a:extLst>
                <a:ext uri="{FF2B5EF4-FFF2-40B4-BE49-F238E27FC236}">
                  <a16:creationId xmlns:a16="http://schemas.microsoft.com/office/drawing/2014/main" id="{9705D54E-59EF-935B-059C-0B0D1C8F6739}"/>
                </a:ext>
              </a:extLst>
            </p:cNvPr>
            <p:cNvSpPr>
              <a:spLocks noChangeArrowheads="1"/>
            </p:cNvSpPr>
            <p:nvPr/>
          </p:nvSpPr>
          <p:spPr bwMode="auto">
            <a:xfrm>
              <a:off x="4296" y="6529"/>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13" name="椭圆 8736">
              <a:extLst>
                <a:ext uri="{FF2B5EF4-FFF2-40B4-BE49-F238E27FC236}">
                  <a16:creationId xmlns:a16="http://schemas.microsoft.com/office/drawing/2014/main" id="{B3134E5F-E208-5D75-7B05-A638B1C5C315}"/>
                </a:ext>
              </a:extLst>
            </p:cNvPr>
            <p:cNvSpPr>
              <a:spLocks noChangeArrowheads="1"/>
            </p:cNvSpPr>
            <p:nvPr/>
          </p:nvSpPr>
          <p:spPr bwMode="auto">
            <a:xfrm>
              <a:off x="4296" y="7234"/>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0" name="自选图形 8737">
              <a:extLst>
                <a:ext uri="{FF2B5EF4-FFF2-40B4-BE49-F238E27FC236}">
                  <a16:creationId xmlns:a16="http://schemas.microsoft.com/office/drawing/2014/main" id="{9AE7CC96-875B-58E1-3DEC-D2CE10998DE2}"/>
                </a:ext>
              </a:extLst>
            </p:cNvPr>
            <p:cNvSpPr>
              <a:spLocks noChangeShapeType="1"/>
            </p:cNvSpPr>
            <p:nvPr/>
          </p:nvSpPr>
          <p:spPr bwMode="auto">
            <a:xfrm>
              <a:off x="4358" y="5240"/>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1" name="自选图形 8738">
              <a:extLst>
                <a:ext uri="{FF2B5EF4-FFF2-40B4-BE49-F238E27FC236}">
                  <a16:creationId xmlns:a16="http://schemas.microsoft.com/office/drawing/2014/main" id="{C5A0420C-A60F-AF32-5FDC-830C2A73D426}"/>
                </a:ext>
              </a:extLst>
            </p:cNvPr>
            <p:cNvSpPr>
              <a:spLocks noChangeShapeType="1"/>
            </p:cNvSpPr>
            <p:nvPr/>
          </p:nvSpPr>
          <p:spPr bwMode="auto">
            <a:xfrm>
              <a:off x="4358" y="5944"/>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 name="自选图形 8739">
              <a:extLst>
                <a:ext uri="{FF2B5EF4-FFF2-40B4-BE49-F238E27FC236}">
                  <a16:creationId xmlns:a16="http://schemas.microsoft.com/office/drawing/2014/main" id="{732A5E40-5D9D-BFE2-3EC5-FE780036B1CF}"/>
                </a:ext>
              </a:extLst>
            </p:cNvPr>
            <p:cNvSpPr>
              <a:spLocks noChangeShapeType="1"/>
            </p:cNvSpPr>
            <p:nvPr/>
          </p:nvSpPr>
          <p:spPr bwMode="auto">
            <a:xfrm>
              <a:off x="4358" y="6651"/>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3" name="自选图形 8740">
              <a:extLst>
                <a:ext uri="{FF2B5EF4-FFF2-40B4-BE49-F238E27FC236}">
                  <a16:creationId xmlns:a16="http://schemas.microsoft.com/office/drawing/2014/main" id="{E92A5914-7406-087E-2650-E58AE32D0573}"/>
                </a:ext>
              </a:extLst>
            </p:cNvPr>
            <p:cNvSpPr>
              <a:spLocks noChangeShapeType="1"/>
            </p:cNvSpPr>
            <p:nvPr/>
          </p:nvSpPr>
          <p:spPr bwMode="auto">
            <a:xfrm flipH="1">
              <a:off x="4415" y="5888"/>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4" name="自选图形 8741">
              <a:extLst>
                <a:ext uri="{FF2B5EF4-FFF2-40B4-BE49-F238E27FC236}">
                  <a16:creationId xmlns:a16="http://schemas.microsoft.com/office/drawing/2014/main" id="{50D64E6D-792A-2407-4981-CA92F9DC6A9B}"/>
                </a:ext>
              </a:extLst>
            </p:cNvPr>
            <p:cNvSpPr>
              <a:spLocks noChangeShapeType="1"/>
            </p:cNvSpPr>
            <p:nvPr/>
          </p:nvSpPr>
          <p:spPr bwMode="auto">
            <a:xfrm flipH="1">
              <a:off x="4415" y="6594"/>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5" name="文本框 8742">
              <a:extLst>
                <a:ext uri="{FF2B5EF4-FFF2-40B4-BE49-F238E27FC236}">
                  <a16:creationId xmlns:a16="http://schemas.microsoft.com/office/drawing/2014/main" id="{140E2827-5D1F-7A8D-A226-245F113F24CA}"/>
                </a:ext>
              </a:extLst>
            </p:cNvPr>
            <p:cNvSpPr txBox="1">
              <a:spLocks noChangeArrowheads="1"/>
            </p:cNvSpPr>
            <p:nvPr/>
          </p:nvSpPr>
          <p:spPr bwMode="auto">
            <a:xfrm>
              <a:off x="4113" y="5043"/>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6" name="文本框 8743">
              <a:extLst>
                <a:ext uri="{FF2B5EF4-FFF2-40B4-BE49-F238E27FC236}">
                  <a16:creationId xmlns:a16="http://schemas.microsoft.com/office/drawing/2014/main" id="{DF32D4A0-88D3-BB84-C26F-82C70C8B545A}"/>
                </a:ext>
              </a:extLst>
            </p:cNvPr>
            <p:cNvSpPr txBox="1">
              <a:spLocks noChangeArrowheads="1"/>
            </p:cNvSpPr>
            <p:nvPr/>
          </p:nvSpPr>
          <p:spPr bwMode="auto">
            <a:xfrm>
              <a:off x="4113" y="575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7" name="文本框 8744">
              <a:extLst>
                <a:ext uri="{FF2B5EF4-FFF2-40B4-BE49-F238E27FC236}">
                  <a16:creationId xmlns:a16="http://schemas.microsoft.com/office/drawing/2014/main" id="{3206EC1B-BD06-1962-799F-81EEDF0FB556}"/>
                </a:ext>
              </a:extLst>
            </p:cNvPr>
            <p:cNvSpPr txBox="1">
              <a:spLocks noChangeArrowheads="1"/>
            </p:cNvSpPr>
            <p:nvPr/>
          </p:nvSpPr>
          <p:spPr bwMode="auto">
            <a:xfrm>
              <a:off x="4113" y="6467"/>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b</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8" name="文本框 8745">
              <a:extLst>
                <a:ext uri="{FF2B5EF4-FFF2-40B4-BE49-F238E27FC236}">
                  <a16:creationId xmlns:a16="http://schemas.microsoft.com/office/drawing/2014/main" id="{7F2ABF9F-B88A-3868-A325-8FC387BD9088}"/>
                </a:ext>
              </a:extLst>
            </p:cNvPr>
            <p:cNvSpPr txBox="1">
              <a:spLocks noChangeArrowheads="1"/>
            </p:cNvSpPr>
            <p:nvPr/>
          </p:nvSpPr>
          <p:spPr bwMode="auto">
            <a:xfrm>
              <a:off x="4113" y="717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e</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9" name="文本框 8746">
              <a:extLst>
                <a:ext uri="{FF2B5EF4-FFF2-40B4-BE49-F238E27FC236}">
                  <a16:creationId xmlns:a16="http://schemas.microsoft.com/office/drawing/2014/main" id="{9F8F18A9-B4C2-8D1C-CEDC-31594A8C131E}"/>
                </a:ext>
              </a:extLst>
            </p:cNvPr>
            <p:cNvSpPr txBox="1">
              <a:spLocks noChangeArrowheads="1"/>
            </p:cNvSpPr>
            <p:nvPr/>
          </p:nvSpPr>
          <p:spPr bwMode="auto">
            <a:xfrm>
              <a:off x="5369" y="574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c</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0" name="文本框 8747">
              <a:extLst>
                <a:ext uri="{FF2B5EF4-FFF2-40B4-BE49-F238E27FC236}">
                  <a16:creationId xmlns:a16="http://schemas.microsoft.com/office/drawing/2014/main" id="{6FCEFE53-2DBE-44DC-552A-FA14B5565486}"/>
                </a:ext>
              </a:extLst>
            </p:cNvPr>
            <p:cNvSpPr txBox="1">
              <a:spLocks noChangeArrowheads="1"/>
            </p:cNvSpPr>
            <p:nvPr/>
          </p:nvSpPr>
          <p:spPr bwMode="auto">
            <a:xfrm>
              <a:off x="5366" y="645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d</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1" name="文本框 8748">
              <a:extLst>
                <a:ext uri="{FF2B5EF4-FFF2-40B4-BE49-F238E27FC236}">
                  <a16:creationId xmlns:a16="http://schemas.microsoft.com/office/drawing/2014/main" id="{6A495409-54FC-AABE-A07C-3AA07AA1EB56}"/>
                </a:ext>
              </a:extLst>
            </p:cNvPr>
            <p:cNvSpPr txBox="1">
              <a:spLocks noChangeArrowheads="1"/>
            </p:cNvSpPr>
            <p:nvPr/>
          </p:nvSpPr>
          <p:spPr bwMode="auto">
            <a:xfrm>
              <a:off x="4194" y="5390"/>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1</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2" name="文本框 8749">
              <a:extLst>
                <a:ext uri="{FF2B5EF4-FFF2-40B4-BE49-F238E27FC236}">
                  <a16:creationId xmlns:a16="http://schemas.microsoft.com/office/drawing/2014/main" id="{4D8430BD-5503-2FAD-926D-F52C95F5E111}"/>
                </a:ext>
              </a:extLst>
            </p:cNvPr>
            <p:cNvSpPr txBox="1">
              <a:spLocks noChangeArrowheads="1"/>
            </p:cNvSpPr>
            <p:nvPr/>
          </p:nvSpPr>
          <p:spPr bwMode="auto">
            <a:xfrm>
              <a:off x="4194" y="608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2</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3" name="文本框 8750">
              <a:extLst>
                <a:ext uri="{FF2B5EF4-FFF2-40B4-BE49-F238E27FC236}">
                  <a16:creationId xmlns:a16="http://schemas.microsoft.com/office/drawing/2014/main" id="{5BBAC55B-5E6F-F250-0D8A-CEE44122247D}"/>
                </a:ext>
              </a:extLst>
            </p:cNvPr>
            <p:cNvSpPr txBox="1">
              <a:spLocks noChangeArrowheads="1"/>
            </p:cNvSpPr>
            <p:nvPr/>
          </p:nvSpPr>
          <p:spPr bwMode="auto">
            <a:xfrm>
              <a:off x="4194" y="6801"/>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3</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4" name="文本框 8751">
              <a:extLst>
                <a:ext uri="{FF2B5EF4-FFF2-40B4-BE49-F238E27FC236}">
                  <a16:creationId xmlns:a16="http://schemas.microsoft.com/office/drawing/2014/main" id="{95AE7A59-884F-C6F7-42EB-C4D077D48CF5}"/>
                </a:ext>
              </a:extLst>
            </p:cNvPr>
            <p:cNvSpPr txBox="1">
              <a:spLocks noChangeArrowheads="1"/>
            </p:cNvSpPr>
            <p:nvPr/>
          </p:nvSpPr>
          <p:spPr bwMode="auto">
            <a:xfrm>
              <a:off x="4710" y="566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4</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5" name="文本框 8752">
              <a:extLst>
                <a:ext uri="{FF2B5EF4-FFF2-40B4-BE49-F238E27FC236}">
                  <a16:creationId xmlns:a16="http://schemas.microsoft.com/office/drawing/2014/main" id="{EDE27BDE-255C-8FFC-C444-F307E44195A9}"/>
                </a:ext>
              </a:extLst>
            </p:cNvPr>
            <p:cNvSpPr txBox="1">
              <a:spLocks noChangeArrowheads="1"/>
            </p:cNvSpPr>
            <p:nvPr/>
          </p:nvSpPr>
          <p:spPr bwMode="auto">
            <a:xfrm>
              <a:off x="4936" y="618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5</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6" name="文本框 8753">
              <a:extLst>
                <a:ext uri="{FF2B5EF4-FFF2-40B4-BE49-F238E27FC236}">
                  <a16:creationId xmlns:a16="http://schemas.microsoft.com/office/drawing/2014/main" id="{AA400C4C-1F0D-B8EC-6122-3E8C9CA0BB40}"/>
                </a:ext>
              </a:extLst>
            </p:cNvPr>
            <p:cNvSpPr txBox="1">
              <a:spLocks noChangeArrowheads="1"/>
            </p:cNvSpPr>
            <p:nvPr/>
          </p:nvSpPr>
          <p:spPr bwMode="auto">
            <a:xfrm>
              <a:off x="4784" y="6582"/>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6</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7" name="文本框 8754">
              <a:extLst>
                <a:ext uri="{FF2B5EF4-FFF2-40B4-BE49-F238E27FC236}">
                  <a16:creationId xmlns:a16="http://schemas.microsoft.com/office/drawing/2014/main" id="{3DFD0C82-9A77-2C3D-079D-76615EFBFFDB}"/>
                </a:ext>
              </a:extLst>
            </p:cNvPr>
            <p:cNvSpPr txBox="1">
              <a:spLocks noChangeArrowheads="1"/>
            </p:cNvSpPr>
            <p:nvPr/>
          </p:nvSpPr>
          <p:spPr bwMode="auto">
            <a:xfrm>
              <a:off x="5005" y="7106"/>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7</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8" name="弧形 8755">
              <a:extLst>
                <a:ext uri="{FF2B5EF4-FFF2-40B4-BE49-F238E27FC236}">
                  <a16:creationId xmlns:a16="http://schemas.microsoft.com/office/drawing/2014/main" id="{BB6058C4-8E6F-F107-983C-C99917312ED5}"/>
                </a:ext>
              </a:extLst>
            </p:cNvPr>
            <p:cNvSpPr/>
            <p:nvPr/>
          </p:nvSpPr>
          <p:spPr bwMode="auto">
            <a:xfrm flipV="1">
              <a:off x="4415" y="5916"/>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43" name="椭圆 8756">
              <a:extLst>
                <a:ext uri="{FF2B5EF4-FFF2-40B4-BE49-F238E27FC236}">
                  <a16:creationId xmlns:a16="http://schemas.microsoft.com/office/drawing/2014/main" id="{3BFF3A73-32DD-21A6-9BF6-D64C9B621104}"/>
                </a:ext>
              </a:extLst>
            </p:cNvPr>
            <p:cNvSpPr>
              <a:spLocks noChangeArrowheads="1"/>
            </p:cNvSpPr>
            <p:nvPr/>
          </p:nvSpPr>
          <p:spPr bwMode="auto">
            <a:xfrm>
              <a:off x="5226" y="5822"/>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44" name="弧形 8757">
              <a:extLst>
                <a:ext uri="{FF2B5EF4-FFF2-40B4-BE49-F238E27FC236}">
                  <a16:creationId xmlns:a16="http://schemas.microsoft.com/office/drawing/2014/main" id="{BDF83E63-2923-4EB4-6527-92B0C55FD6A5}"/>
                </a:ext>
              </a:extLst>
            </p:cNvPr>
            <p:cNvSpPr/>
            <p:nvPr/>
          </p:nvSpPr>
          <p:spPr bwMode="auto">
            <a:xfrm flipV="1">
              <a:off x="4415" y="6629"/>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45" name="椭圆 8758">
              <a:extLst>
                <a:ext uri="{FF2B5EF4-FFF2-40B4-BE49-F238E27FC236}">
                  <a16:creationId xmlns:a16="http://schemas.microsoft.com/office/drawing/2014/main" id="{7AA5A992-2247-21B6-429F-73566336B8F8}"/>
                </a:ext>
              </a:extLst>
            </p:cNvPr>
            <p:cNvSpPr>
              <a:spLocks noChangeArrowheads="1"/>
            </p:cNvSpPr>
            <p:nvPr/>
          </p:nvSpPr>
          <p:spPr bwMode="auto">
            <a:xfrm>
              <a:off x="5226" y="6529"/>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grpSp>
      <p:sp>
        <p:nvSpPr>
          <p:cNvPr id="46" name="TextBox 33">
            <a:extLst>
              <a:ext uri="{FF2B5EF4-FFF2-40B4-BE49-F238E27FC236}">
                <a16:creationId xmlns:a16="http://schemas.microsoft.com/office/drawing/2014/main" id="{2C1F0495-DBB7-308D-D0BF-DB03301355B4}"/>
              </a:ext>
            </a:extLst>
          </p:cNvPr>
          <p:cNvSpPr txBox="1"/>
          <p:nvPr/>
        </p:nvSpPr>
        <p:spPr>
          <a:xfrm>
            <a:off x="341419" y="4074197"/>
            <a:ext cx="5176487" cy="2783803"/>
          </a:xfrm>
          <a:prstGeom prst="rect">
            <a:avLst/>
          </a:prstGeom>
          <a:solidFill>
            <a:schemeClr val="bg1">
              <a:lumMod val="95000"/>
            </a:schemeClr>
          </a:solidFill>
        </p:spPr>
        <p:txBody>
          <a:bodyPr wrap="square" lIns="144000" tIns="144000" rIns="144000" bIns="144000">
            <a:spAutoFit/>
          </a:bodyPr>
          <a:lstStyle/>
          <a:p>
            <a:r>
              <a:rPr lang="zh-CN" altLang="en-US" dirty="0"/>
              <a:t>把程序流程图中的每个框看成一个点，把原来连接不同处理符号的箭头改为连接不同点的有向弧，就可以得到程序图</a:t>
            </a:r>
          </a:p>
          <a:p>
            <a:endParaRPr lang="en-US" altLang="zh-CN" dirty="0"/>
          </a:p>
          <a:p>
            <a:r>
              <a:rPr lang="zh-CN" altLang="en-US" dirty="0"/>
              <a:t>点覆盖测试要求选取足够多的数据，使得程序执行时至少经过程序图中的每个点一次。</a:t>
            </a:r>
            <a:endParaRPr lang="en-US" altLang="zh-CN" dirty="0"/>
          </a:p>
          <a:p>
            <a:r>
              <a:rPr lang="zh-CN" altLang="en-US" dirty="0"/>
              <a:t>如本题选</a:t>
            </a:r>
            <a:r>
              <a:rPr lang="en-US" altLang="zh-CN" dirty="0"/>
              <a:t>A=3</a:t>
            </a:r>
            <a:r>
              <a:rPr lang="zh-CN" altLang="en-US" dirty="0"/>
              <a:t>，</a:t>
            </a:r>
            <a:r>
              <a:rPr lang="en-US" altLang="zh-CN" dirty="0"/>
              <a:t>B=0</a:t>
            </a:r>
            <a:r>
              <a:rPr lang="zh-CN" altLang="en-US" dirty="0"/>
              <a:t>即可</a:t>
            </a:r>
            <a:endParaRPr lang="en-US" altLang="zh-CN" dirty="0"/>
          </a:p>
          <a:p>
            <a:endParaRPr lang="en-US" altLang="zh-CN" dirty="0"/>
          </a:p>
          <a:p>
            <a:r>
              <a:rPr lang="zh-CN" altLang="en-US" dirty="0"/>
              <a:t>显然，点覆盖和语句覆盖的要求是相同的。</a:t>
            </a:r>
          </a:p>
        </p:txBody>
      </p:sp>
    </p:spTree>
    <p:extLst>
      <p:ext uri="{BB962C8B-B14F-4D97-AF65-F5344CB8AC3E}">
        <p14:creationId xmlns:p14="http://schemas.microsoft.com/office/powerpoint/2010/main" val="1385789552"/>
      </p:ext>
    </p:extLst>
  </p:cSld>
  <p:clrMapOvr>
    <a:masterClrMapping/>
  </p:clrMapOvr>
  <p:transition>
    <p:pull dir="rd"/>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521FE-12E2-E78A-EFD0-DFAEAC5B8F7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67ED1D3-6752-9635-A273-9FC40594F62F}"/>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4" name="文本占位符 13">
            <a:extLst>
              <a:ext uri="{FF2B5EF4-FFF2-40B4-BE49-F238E27FC236}">
                <a16:creationId xmlns:a16="http://schemas.microsoft.com/office/drawing/2014/main" id="{B16B4C52-F8CF-2FBF-0FA3-FF608726FFC0}"/>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19" name="文本占位符 18">
            <a:extLst>
              <a:ext uri="{FF2B5EF4-FFF2-40B4-BE49-F238E27FC236}">
                <a16:creationId xmlns:a16="http://schemas.microsoft.com/office/drawing/2014/main" id="{8CF8F82B-DF50-9E23-CEDF-55F4C6A47FD3}"/>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7" name="TextBox 1">
            <a:extLst>
              <a:ext uri="{FF2B5EF4-FFF2-40B4-BE49-F238E27FC236}">
                <a16:creationId xmlns:a16="http://schemas.microsoft.com/office/drawing/2014/main" id="{7633D8AB-1D29-47EF-9E81-E11B01098BFF}"/>
              </a:ext>
            </a:extLst>
          </p:cNvPr>
          <p:cNvSpPr txBox="1">
            <a:spLocks noChangeArrowheads="1"/>
          </p:cNvSpPr>
          <p:nvPr/>
        </p:nvSpPr>
        <p:spPr bwMode="auto">
          <a:xfrm>
            <a:off x="677100" y="1883461"/>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sz="2800" dirty="0">
                <a:solidFill>
                  <a:srgbClr val="E67819"/>
                </a:solidFill>
                <a:latin typeface="Times New Roman" panose="02020603050405020304" pitchFamily="18" charset="0"/>
                <a:ea typeface="MS UI Gothic" panose="020B0600070205080204" charset="-128"/>
              </a:rPr>
              <a:t>7</a:t>
            </a:r>
          </a:p>
        </p:txBody>
      </p:sp>
      <p:cxnSp>
        <p:nvCxnSpPr>
          <p:cNvPr id="8" name="直接连接符 7">
            <a:extLst>
              <a:ext uri="{FF2B5EF4-FFF2-40B4-BE49-F238E27FC236}">
                <a16:creationId xmlns:a16="http://schemas.microsoft.com/office/drawing/2014/main" id="{71FE9C54-CC93-C611-8833-713E4022DE19}"/>
              </a:ext>
            </a:extLst>
          </p:cNvPr>
          <p:cNvCxnSpPr/>
          <p:nvPr/>
        </p:nvCxnSpPr>
        <p:spPr>
          <a:xfrm flipH="1">
            <a:off x="563923" y="1849796"/>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a:extLst>
              <a:ext uri="{FF2B5EF4-FFF2-40B4-BE49-F238E27FC236}">
                <a16:creationId xmlns:a16="http://schemas.microsoft.com/office/drawing/2014/main" id="{44F9D400-F36C-FF3B-6D4E-B90FEDDE1A9D}"/>
              </a:ext>
            </a:extLst>
          </p:cNvPr>
          <p:cNvSpPr>
            <a:spLocks noChangeArrowheads="1"/>
          </p:cNvSpPr>
          <p:nvPr/>
        </p:nvSpPr>
        <p:spPr bwMode="auto">
          <a:xfrm>
            <a:off x="1016321" y="1945046"/>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dirty="0">
                <a:solidFill>
                  <a:srgbClr val="E67819"/>
                </a:solidFill>
                <a:latin typeface="+mj-ea"/>
                <a:ea typeface="+mj-ea"/>
              </a:rPr>
              <a:t>边覆盖 </a:t>
            </a:r>
            <a:r>
              <a:rPr lang="en-US" altLang="zh-CN" sz="1600" dirty="0">
                <a:solidFill>
                  <a:srgbClr val="E67819"/>
                </a:solidFill>
                <a:latin typeface="+mj-ea"/>
                <a:ea typeface="+mj-ea"/>
              </a:rPr>
              <a:t>Edge Coverage</a:t>
            </a:r>
            <a:endParaRPr lang="zh-CN" altLang="en-US" dirty="0">
              <a:solidFill>
                <a:srgbClr val="E67819"/>
              </a:solidFill>
              <a:latin typeface="+mj-ea"/>
              <a:ea typeface="+mj-ea"/>
            </a:endParaRPr>
          </a:p>
        </p:txBody>
      </p:sp>
      <p:sp>
        <p:nvSpPr>
          <p:cNvPr id="10" name="矩形 8">
            <a:extLst>
              <a:ext uri="{FF2B5EF4-FFF2-40B4-BE49-F238E27FC236}">
                <a16:creationId xmlns:a16="http://schemas.microsoft.com/office/drawing/2014/main" id="{18B985CE-F79A-FCCE-4ABF-4D259F53D06F}"/>
              </a:ext>
            </a:extLst>
          </p:cNvPr>
          <p:cNvSpPr>
            <a:spLocks noChangeArrowheads="1"/>
          </p:cNvSpPr>
          <p:nvPr/>
        </p:nvSpPr>
        <p:spPr bwMode="auto">
          <a:xfrm>
            <a:off x="1026159" y="2177456"/>
            <a:ext cx="9576000" cy="418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a:lnSpc>
                <a:spcPct val="130000"/>
              </a:lnSpc>
            </a:pPr>
            <a:r>
              <a:rPr dirty="0" err="1"/>
              <a:t>边覆盖要求选取足够多的测试数据，使程序执行路径至少经过程序图中的每条边一次</a:t>
            </a:r>
            <a:r>
              <a:rPr dirty="0"/>
              <a:t>。</a:t>
            </a:r>
          </a:p>
        </p:txBody>
      </p:sp>
      <p:sp>
        <p:nvSpPr>
          <p:cNvPr id="12" name="TextBox 33">
            <a:extLst>
              <a:ext uri="{FF2B5EF4-FFF2-40B4-BE49-F238E27FC236}">
                <a16:creationId xmlns:a16="http://schemas.microsoft.com/office/drawing/2014/main" id="{3F9B0530-5FC8-174B-623C-4643179B20EB}"/>
              </a:ext>
            </a:extLst>
          </p:cNvPr>
          <p:cNvSpPr txBox="1"/>
          <p:nvPr/>
        </p:nvSpPr>
        <p:spPr>
          <a:xfrm>
            <a:off x="696001" y="3189825"/>
            <a:ext cx="5400000" cy="2506804"/>
          </a:xfrm>
          <a:prstGeom prst="rect">
            <a:avLst/>
          </a:prstGeom>
          <a:solidFill>
            <a:schemeClr val="bg1">
              <a:lumMod val="95000"/>
            </a:schemeClr>
          </a:solidFill>
        </p:spPr>
        <p:txBody>
          <a:bodyPr wrap="square" lIns="144000" tIns="144000" rIns="144000" bIns="144000">
            <a:spAutoFit/>
          </a:bodyPr>
          <a:lstStyle/>
          <a:p>
            <a:r>
              <a:rPr lang="zh-CN" altLang="en-US" dirty="0"/>
              <a:t>测试数据：</a:t>
            </a:r>
            <a:r>
              <a:rPr lang="en-US" altLang="zh-CN" dirty="0"/>
              <a:t>A=3</a:t>
            </a:r>
            <a:r>
              <a:rPr lang="zh-CN" altLang="en-US" dirty="0"/>
              <a:t>，</a:t>
            </a:r>
            <a:r>
              <a:rPr lang="en-US" altLang="zh-CN" dirty="0"/>
              <a:t>B=0</a:t>
            </a:r>
          </a:p>
          <a:p>
            <a:r>
              <a:rPr lang="zh-CN" altLang="en-US" dirty="0"/>
              <a:t>执行路径：</a:t>
            </a:r>
            <a:r>
              <a:rPr lang="en-US" altLang="zh-CN" dirty="0"/>
              <a:t>1→4→5→6→7</a:t>
            </a:r>
            <a:r>
              <a:rPr lang="zh-CN" altLang="en-US" dirty="0"/>
              <a:t>；</a:t>
            </a:r>
          </a:p>
          <a:p>
            <a:r>
              <a:rPr lang="en-US" altLang="zh-CN" dirty="0"/>
              <a:t>A=2</a:t>
            </a:r>
            <a:r>
              <a:rPr lang="zh-CN" altLang="en-US" dirty="0"/>
              <a:t>，</a:t>
            </a:r>
            <a:r>
              <a:rPr lang="en-US" altLang="zh-CN" dirty="0"/>
              <a:t>B= –1</a:t>
            </a:r>
          </a:p>
          <a:p>
            <a:r>
              <a:rPr lang="zh-CN" altLang="en-US" dirty="0"/>
              <a:t>执行路径：</a:t>
            </a:r>
            <a:r>
              <a:rPr lang="en-US" altLang="zh-CN" dirty="0"/>
              <a:t>1→2→3</a:t>
            </a:r>
          </a:p>
          <a:p>
            <a:endParaRPr lang="zh-CN" altLang="en-US" dirty="0"/>
          </a:p>
          <a:p>
            <a:r>
              <a:rPr lang="zh-CN" altLang="en-US" dirty="0"/>
              <a:t>测试数据：</a:t>
            </a:r>
          </a:p>
          <a:p>
            <a:r>
              <a:rPr lang="en-US" altLang="zh-CN" dirty="0"/>
              <a:t>A=3</a:t>
            </a:r>
            <a:r>
              <a:rPr lang="zh-CN" altLang="en-US" dirty="0"/>
              <a:t>，</a:t>
            </a:r>
            <a:r>
              <a:rPr lang="en-US" altLang="zh-CN" dirty="0"/>
              <a:t>B=2</a:t>
            </a:r>
            <a:r>
              <a:rPr lang="zh-CN" altLang="en-US" dirty="0"/>
              <a:t>时，执行路径为</a:t>
            </a:r>
            <a:r>
              <a:rPr lang="en-US" altLang="zh-CN" dirty="0"/>
              <a:t>1→4→5→3</a:t>
            </a:r>
            <a:endParaRPr lang="zh-CN" altLang="en-US" dirty="0"/>
          </a:p>
          <a:p>
            <a:r>
              <a:rPr lang="en-US" altLang="zh-CN" dirty="0"/>
              <a:t>A=4</a:t>
            </a:r>
            <a:r>
              <a:rPr lang="zh-CN" altLang="en-US" dirty="0"/>
              <a:t>，</a:t>
            </a:r>
            <a:r>
              <a:rPr lang="en-US" altLang="zh-CN" dirty="0"/>
              <a:t>B=0</a:t>
            </a:r>
            <a:r>
              <a:rPr lang="zh-CN" altLang="en-US" dirty="0"/>
              <a:t>时，执行路径为</a:t>
            </a:r>
            <a:r>
              <a:rPr lang="en-US" altLang="zh-CN" dirty="0"/>
              <a:t>1→2→6→7</a:t>
            </a:r>
            <a:endParaRPr lang="zh-CN" altLang="en-US" dirty="0"/>
          </a:p>
        </p:txBody>
      </p:sp>
      <p:grpSp>
        <p:nvGrpSpPr>
          <p:cNvPr id="2" name="组合 8732">
            <a:extLst>
              <a:ext uri="{FF2B5EF4-FFF2-40B4-BE49-F238E27FC236}">
                <a16:creationId xmlns:a16="http://schemas.microsoft.com/office/drawing/2014/main" id="{C00ACEFF-CC0F-D246-BCB2-7A783D3CA4B1}"/>
              </a:ext>
            </a:extLst>
          </p:cNvPr>
          <p:cNvGrpSpPr/>
          <p:nvPr/>
        </p:nvGrpSpPr>
        <p:grpSpPr bwMode="auto">
          <a:xfrm>
            <a:off x="8231505" y="3189825"/>
            <a:ext cx="2103120" cy="3048000"/>
            <a:chOff x="4113" y="5043"/>
            <a:chExt cx="1402" cy="2379"/>
          </a:xfrm>
        </p:grpSpPr>
        <p:sp>
          <p:nvSpPr>
            <p:cNvPr id="20" name="椭圆 8733">
              <a:extLst>
                <a:ext uri="{FF2B5EF4-FFF2-40B4-BE49-F238E27FC236}">
                  <a16:creationId xmlns:a16="http://schemas.microsoft.com/office/drawing/2014/main" id="{44C04828-4BC3-F576-1301-9F264951BF0E}"/>
                </a:ext>
              </a:extLst>
            </p:cNvPr>
            <p:cNvSpPr>
              <a:spLocks noChangeArrowheads="1"/>
            </p:cNvSpPr>
            <p:nvPr/>
          </p:nvSpPr>
          <p:spPr bwMode="auto">
            <a:xfrm>
              <a:off x="4296" y="5121"/>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1" name="椭圆 8734">
              <a:extLst>
                <a:ext uri="{FF2B5EF4-FFF2-40B4-BE49-F238E27FC236}">
                  <a16:creationId xmlns:a16="http://schemas.microsoft.com/office/drawing/2014/main" id="{5FF6E044-AA79-8993-081E-404D8AF45C73}"/>
                </a:ext>
              </a:extLst>
            </p:cNvPr>
            <p:cNvSpPr>
              <a:spLocks noChangeArrowheads="1"/>
            </p:cNvSpPr>
            <p:nvPr/>
          </p:nvSpPr>
          <p:spPr bwMode="auto">
            <a:xfrm>
              <a:off x="4296" y="5825"/>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3" name="椭圆 8735">
              <a:extLst>
                <a:ext uri="{FF2B5EF4-FFF2-40B4-BE49-F238E27FC236}">
                  <a16:creationId xmlns:a16="http://schemas.microsoft.com/office/drawing/2014/main" id="{409D021B-50C1-16AD-B61A-2D2B78B8B7EF}"/>
                </a:ext>
              </a:extLst>
            </p:cNvPr>
            <p:cNvSpPr>
              <a:spLocks noChangeArrowheads="1"/>
            </p:cNvSpPr>
            <p:nvPr/>
          </p:nvSpPr>
          <p:spPr bwMode="auto">
            <a:xfrm>
              <a:off x="4296" y="6529"/>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8" name="椭圆 8736">
              <a:extLst>
                <a:ext uri="{FF2B5EF4-FFF2-40B4-BE49-F238E27FC236}">
                  <a16:creationId xmlns:a16="http://schemas.microsoft.com/office/drawing/2014/main" id="{9F976E23-B3E1-B912-3E9B-CA66B5016C7E}"/>
                </a:ext>
              </a:extLst>
            </p:cNvPr>
            <p:cNvSpPr>
              <a:spLocks noChangeArrowheads="1"/>
            </p:cNvSpPr>
            <p:nvPr/>
          </p:nvSpPr>
          <p:spPr bwMode="auto">
            <a:xfrm>
              <a:off x="4296" y="7234"/>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9" name="自选图形 8737">
              <a:extLst>
                <a:ext uri="{FF2B5EF4-FFF2-40B4-BE49-F238E27FC236}">
                  <a16:creationId xmlns:a16="http://schemas.microsoft.com/office/drawing/2014/main" id="{4B03DF83-7792-5EBB-4693-2099D99C75F8}"/>
                </a:ext>
              </a:extLst>
            </p:cNvPr>
            <p:cNvSpPr>
              <a:spLocks noChangeShapeType="1"/>
            </p:cNvSpPr>
            <p:nvPr/>
          </p:nvSpPr>
          <p:spPr bwMode="auto">
            <a:xfrm>
              <a:off x="4358" y="5240"/>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0" name="自选图形 8738">
              <a:extLst>
                <a:ext uri="{FF2B5EF4-FFF2-40B4-BE49-F238E27FC236}">
                  <a16:creationId xmlns:a16="http://schemas.microsoft.com/office/drawing/2014/main" id="{33018BE5-56CD-350D-E7B9-3BB1E728DB3F}"/>
                </a:ext>
              </a:extLst>
            </p:cNvPr>
            <p:cNvSpPr>
              <a:spLocks noChangeShapeType="1"/>
            </p:cNvSpPr>
            <p:nvPr/>
          </p:nvSpPr>
          <p:spPr bwMode="auto">
            <a:xfrm>
              <a:off x="4358" y="5944"/>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1" name="自选图形 8739">
              <a:extLst>
                <a:ext uri="{FF2B5EF4-FFF2-40B4-BE49-F238E27FC236}">
                  <a16:creationId xmlns:a16="http://schemas.microsoft.com/office/drawing/2014/main" id="{B9408F0A-D77A-1513-CD10-BB5D8755E8A6}"/>
                </a:ext>
              </a:extLst>
            </p:cNvPr>
            <p:cNvSpPr>
              <a:spLocks noChangeShapeType="1"/>
            </p:cNvSpPr>
            <p:nvPr/>
          </p:nvSpPr>
          <p:spPr bwMode="auto">
            <a:xfrm>
              <a:off x="4358" y="6651"/>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2" name="自选图形 8740">
              <a:extLst>
                <a:ext uri="{FF2B5EF4-FFF2-40B4-BE49-F238E27FC236}">
                  <a16:creationId xmlns:a16="http://schemas.microsoft.com/office/drawing/2014/main" id="{B6E6661F-AF2F-0D83-67C7-BB8E00177D07}"/>
                </a:ext>
              </a:extLst>
            </p:cNvPr>
            <p:cNvSpPr>
              <a:spLocks noChangeShapeType="1"/>
            </p:cNvSpPr>
            <p:nvPr/>
          </p:nvSpPr>
          <p:spPr bwMode="auto">
            <a:xfrm flipH="1">
              <a:off x="4415" y="5888"/>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5" name="自选图形 8741">
              <a:extLst>
                <a:ext uri="{FF2B5EF4-FFF2-40B4-BE49-F238E27FC236}">
                  <a16:creationId xmlns:a16="http://schemas.microsoft.com/office/drawing/2014/main" id="{DBC149B1-39E6-B268-50A1-199A353B0885}"/>
                </a:ext>
              </a:extLst>
            </p:cNvPr>
            <p:cNvSpPr>
              <a:spLocks noChangeShapeType="1"/>
            </p:cNvSpPr>
            <p:nvPr/>
          </p:nvSpPr>
          <p:spPr bwMode="auto">
            <a:xfrm flipH="1">
              <a:off x="4415" y="6594"/>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6" name="文本框 8742">
              <a:extLst>
                <a:ext uri="{FF2B5EF4-FFF2-40B4-BE49-F238E27FC236}">
                  <a16:creationId xmlns:a16="http://schemas.microsoft.com/office/drawing/2014/main" id="{4DFB2A65-0DC9-8CFC-F831-A188F3D26742}"/>
                </a:ext>
              </a:extLst>
            </p:cNvPr>
            <p:cNvSpPr txBox="1">
              <a:spLocks noChangeArrowheads="1"/>
            </p:cNvSpPr>
            <p:nvPr/>
          </p:nvSpPr>
          <p:spPr bwMode="auto">
            <a:xfrm>
              <a:off x="4113" y="5043"/>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7" name="文本框 8743">
              <a:extLst>
                <a:ext uri="{FF2B5EF4-FFF2-40B4-BE49-F238E27FC236}">
                  <a16:creationId xmlns:a16="http://schemas.microsoft.com/office/drawing/2014/main" id="{4C2D25E6-119C-855D-3F33-76B0C9181C65}"/>
                </a:ext>
              </a:extLst>
            </p:cNvPr>
            <p:cNvSpPr txBox="1">
              <a:spLocks noChangeArrowheads="1"/>
            </p:cNvSpPr>
            <p:nvPr/>
          </p:nvSpPr>
          <p:spPr bwMode="auto">
            <a:xfrm>
              <a:off x="4113" y="575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8" name="文本框 8744">
              <a:extLst>
                <a:ext uri="{FF2B5EF4-FFF2-40B4-BE49-F238E27FC236}">
                  <a16:creationId xmlns:a16="http://schemas.microsoft.com/office/drawing/2014/main" id="{34C1E5E1-DE1E-15B5-6C9F-DFDE0ACC503F}"/>
                </a:ext>
              </a:extLst>
            </p:cNvPr>
            <p:cNvSpPr txBox="1">
              <a:spLocks noChangeArrowheads="1"/>
            </p:cNvSpPr>
            <p:nvPr/>
          </p:nvSpPr>
          <p:spPr bwMode="auto">
            <a:xfrm>
              <a:off x="4113" y="6467"/>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b</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 name="文本框 8745">
              <a:extLst>
                <a:ext uri="{FF2B5EF4-FFF2-40B4-BE49-F238E27FC236}">
                  <a16:creationId xmlns:a16="http://schemas.microsoft.com/office/drawing/2014/main" id="{69D70F8F-7F4D-92B8-718C-BA077756DCB5}"/>
                </a:ext>
              </a:extLst>
            </p:cNvPr>
            <p:cNvSpPr txBox="1">
              <a:spLocks noChangeArrowheads="1"/>
            </p:cNvSpPr>
            <p:nvPr/>
          </p:nvSpPr>
          <p:spPr bwMode="auto">
            <a:xfrm>
              <a:off x="4113" y="717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e</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5" name="文本框 8746">
              <a:extLst>
                <a:ext uri="{FF2B5EF4-FFF2-40B4-BE49-F238E27FC236}">
                  <a16:creationId xmlns:a16="http://schemas.microsoft.com/office/drawing/2014/main" id="{905AC110-ECF8-BD4E-62A8-E54ECDEEF078}"/>
                </a:ext>
              </a:extLst>
            </p:cNvPr>
            <p:cNvSpPr txBox="1">
              <a:spLocks noChangeArrowheads="1"/>
            </p:cNvSpPr>
            <p:nvPr/>
          </p:nvSpPr>
          <p:spPr bwMode="auto">
            <a:xfrm>
              <a:off x="5369" y="574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c</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6" name="文本框 8747">
              <a:extLst>
                <a:ext uri="{FF2B5EF4-FFF2-40B4-BE49-F238E27FC236}">
                  <a16:creationId xmlns:a16="http://schemas.microsoft.com/office/drawing/2014/main" id="{F296D9CE-E5B3-2A04-633F-B2C0802FFEB5}"/>
                </a:ext>
              </a:extLst>
            </p:cNvPr>
            <p:cNvSpPr txBox="1">
              <a:spLocks noChangeArrowheads="1"/>
            </p:cNvSpPr>
            <p:nvPr/>
          </p:nvSpPr>
          <p:spPr bwMode="auto">
            <a:xfrm>
              <a:off x="5366" y="645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d</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11" name="文本框 8748">
              <a:extLst>
                <a:ext uri="{FF2B5EF4-FFF2-40B4-BE49-F238E27FC236}">
                  <a16:creationId xmlns:a16="http://schemas.microsoft.com/office/drawing/2014/main" id="{54A20D0B-1EBB-DCA8-0671-C34FC359160F}"/>
                </a:ext>
              </a:extLst>
            </p:cNvPr>
            <p:cNvSpPr txBox="1">
              <a:spLocks noChangeArrowheads="1"/>
            </p:cNvSpPr>
            <p:nvPr/>
          </p:nvSpPr>
          <p:spPr bwMode="auto">
            <a:xfrm>
              <a:off x="4194" y="5390"/>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1</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3" name="文本框 8749">
              <a:extLst>
                <a:ext uri="{FF2B5EF4-FFF2-40B4-BE49-F238E27FC236}">
                  <a16:creationId xmlns:a16="http://schemas.microsoft.com/office/drawing/2014/main" id="{BB13D957-3485-D052-45BD-4664CA0897DF}"/>
                </a:ext>
              </a:extLst>
            </p:cNvPr>
            <p:cNvSpPr txBox="1">
              <a:spLocks noChangeArrowheads="1"/>
            </p:cNvSpPr>
            <p:nvPr/>
          </p:nvSpPr>
          <p:spPr bwMode="auto">
            <a:xfrm>
              <a:off x="4194" y="608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2</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4" name="文本框 8750">
              <a:extLst>
                <a:ext uri="{FF2B5EF4-FFF2-40B4-BE49-F238E27FC236}">
                  <a16:creationId xmlns:a16="http://schemas.microsoft.com/office/drawing/2014/main" id="{508ABA2B-7048-647E-DF31-8776ED4B81FF}"/>
                </a:ext>
              </a:extLst>
            </p:cNvPr>
            <p:cNvSpPr txBox="1">
              <a:spLocks noChangeArrowheads="1"/>
            </p:cNvSpPr>
            <p:nvPr/>
          </p:nvSpPr>
          <p:spPr bwMode="auto">
            <a:xfrm>
              <a:off x="4194" y="6801"/>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3</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5" name="文本框 8751">
              <a:extLst>
                <a:ext uri="{FF2B5EF4-FFF2-40B4-BE49-F238E27FC236}">
                  <a16:creationId xmlns:a16="http://schemas.microsoft.com/office/drawing/2014/main" id="{916FEDD4-D540-7D28-4CD6-81DF868BA709}"/>
                </a:ext>
              </a:extLst>
            </p:cNvPr>
            <p:cNvSpPr txBox="1">
              <a:spLocks noChangeArrowheads="1"/>
            </p:cNvSpPr>
            <p:nvPr/>
          </p:nvSpPr>
          <p:spPr bwMode="auto">
            <a:xfrm>
              <a:off x="4710" y="566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4</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6" name="文本框 8752">
              <a:extLst>
                <a:ext uri="{FF2B5EF4-FFF2-40B4-BE49-F238E27FC236}">
                  <a16:creationId xmlns:a16="http://schemas.microsoft.com/office/drawing/2014/main" id="{5429C6EE-9E66-C986-54F6-B8ABFED2CEE7}"/>
                </a:ext>
              </a:extLst>
            </p:cNvPr>
            <p:cNvSpPr txBox="1">
              <a:spLocks noChangeArrowheads="1"/>
            </p:cNvSpPr>
            <p:nvPr/>
          </p:nvSpPr>
          <p:spPr bwMode="auto">
            <a:xfrm>
              <a:off x="4936" y="618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5</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7" name="文本框 8753">
              <a:extLst>
                <a:ext uri="{FF2B5EF4-FFF2-40B4-BE49-F238E27FC236}">
                  <a16:creationId xmlns:a16="http://schemas.microsoft.com/office/drawing/2014/main" id="{9BC6CF3B-7749-862B-FEF1-C58360481582}"/>
                </a:ext>
              </a:extLst>
            </p:cNvPr>
            <p:cNvSpPr txBox="1">
              <a:spLocks noChangeArrowheads="1"/>
            </p:cNvSpPr>
            <p:nvPr/>
          </p:nvSpPr>
          <p:spPr bwMode="auto">
            <a:xfrm>
              <a:off x="4784" y="6582"/>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6</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8" name="文本框 8754">
              <a:extLst>
                <a:ext uri="{FF2B5EF4-FFF2-40B4-BE49-F238E27FC236}">
                  <a16:creationId xmlns:a16="http://schemas.microsoft.com/office/drawing/2014/main" id="{FC037C69-F5CB-2C39-B8EF-E291CFD339AE}"/>
                </a:ext>
              </a:extLst>
            </p:cNvPr>
            <p:cNvSpPr txBox="1">
              <a:spLocks noChangeArrowheads="1"/>
            </p:cNvSpPr>
            <p:nvPr/>
          </p:nvSpPr>
          <p:spPr bwMode="auto">
            <a:xfrm>
              <a:off x="5005" y="7106"/>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7</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9" name="弧形 8755">
              <a:extLst>
                <a:ext uri="{FF2B5EF4-FFF2-40B4-BE49-F238E27FC236}">
                  <a16:creationId xmlns:a16="http://schemas.microsoft.com/office/drawing/2014/main" id="{90CC8BAE-F6BD-F2FA-9CEB-0C1F4724B246}"/>
                </a:ext>
              </a:extLst>
            </p:cNvPr>
            <p:cNvSpPr/>
            <p:nvPr/>
          </p:nvSpPr>
          <p:spPr bwMode="auto">
            <a:xfrm flipV="1">
              <a:off x="4415" y="5916"/>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50" name="椭圆 8756">
              <a:extLst>
                <a:ext uri="{FF2B5EF4-FFF2-40B4-BE49-F238E27FC236}">
                  <a16:creationId xmlns:a16="http://schemas.microsoft.com/office/drawing/2014/main" id="{C2DFAE9E-CB11-3B23-A75D-44C6B1407F0E}"/>
                </a:ext>
              </a:extLst>
            </p:cNvPr>
            <p:cNvSpPr>
              <a:spLocks noChangeArrowheads="1"/>
            </p:cNvSpPr>
            <p:nvPr/>
          </p:nvSpPr>
          <p:spPr bwMode="auto">
            <a:xfrm>
              <a:off x="5226" y="5822"/>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13" name="弧形 8757">
              <a:extLst>
                <a:ext uri="{FF2B5EF4-FFF2-40B4-BE49-F238E27FC236}">
                  <a16:creationId xmlns:a16="http://schemas.microsoft.com/office/drawing/2014/main" id="{B963C126-9835-CA72-2974-5BCB86C75CBC}"/>
                </a:ext>
              </a:extLst>
            </p:cNvPr>
            <p:cNvSpPr/>
            <p:nvPr/>
          </p:nvSpPr>
          <p:spPr bwMode="auto">
            <a:xfrm flipV="1">
              <a:off x="4415" y="6629"/>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 name="椭圆 8758">
              <a:extLst>
                <a:ext uri="{FF2B5EF4-FFF2-40B4-BE49-F238E27FC236}">
                  <a16:creationId xmlns:a16="http://schemas.microsoft.com/office/drawing/2014/main" id="{8CB25237-3A3E-D1B1-412D-4C1ED150AFB8}"/>
                </a:ext>
              </a:extLst>
            </p:cNvPr>
            <p:cNvSpPr>
              <a:spLocks noChangeArrowheads="1"/>
            </p:cNvSpPr>
            <p:nvPr/>
          </p:nvSpPr>
          <p:spPr bwMode="auto">
            <a:xfrm>
              <a:off x="5226" y="6529"/>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grpSp>
    </p:spTree>
    <p:extLst>
      <p:ext uri="{BB962C8B-B14F-4D97-AF65-F5344CB8AC3E}">
        <p14:creationId xmlns:p14="http://schemas.microsoft.com/office/powerpoint/2010/main" val="2392747923"/>
      </p:ext>
    </p:extLst>
  </p:cSld>
  <p:clrMapOvr>
    <a:masterClrMapping/>
  </p:clrMapOvr>
  <p:transition>
    <p:pull dir="r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037D2-63BD-4323-C78C-58F629F41B7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40100E6-2736-0639-1448-60BCA623727B}"/>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4" name="文本占位符 13">
            <a:extLst>
              <a:ext uri="{FF2B5EF4-FFF2-40B4-BE49-F238E27FC236}">
                <a16:creationId xmlns:a16="http://schemas.microsoft.com/office/drawing/2014/main" id="{732BC0CE-C6C2-A87C-53AD-960FA28E0AFF}"/>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19" name="文本占位符 18">
            <a:extLst>
              <a:ext uri="{FF2B5EF4-FFF2-40B4-BE49-F238E27FC236}">
                <a16:creationId xmlns:a16="http://schemas.microsoft.com/office/drawing/2014/main" id="{7654EDB3-612F-FA5A-9DD7-443547812832}"/>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15" name="TextBox 10">
            <a:extLst>
              <a:ext uri="{FF2B5EF4-FFF2-40B4-BE49-F238E27FC236}">
                <a16:creationId xmlns:a16="http://schemas.microsoft.com/office/drawing/2014/main" id="{344A02C2-D22A-7AF9-13F7-78AC1FE14677}"/>
              </a:ext>
            </a:extLst>
          </p:cNvPr>
          <p:cNvSpPr txBox="1">
            <a:spLocks noChangeArrowheads="1"/>
          </p:cNvSpPr>
          <p:nvPr/>
        </p:nvSpPr>
        <p:spPr bwMode="auto">
          <a:xfrm>
            <a:off x="804947" y="1783213"/>
            <a:ext cx="37274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sz="2800" dirty="0">
                <a:solidFill>
                  <a:srgbClr val="E67819"/>
                </a:solidFill>
                <a:latin typeface="Times New Roman" panose="02020603050405020304" pitchFamily="18" charset="0"/>
                <a:ea typeface="MS UI Gothic" panose="020B0600070205080204" charset="-128"/>
              </a:rPr>
              <a:t>8</a:t>
            </a:r>
          </a:p>
        </p:txBody>
      </p:sp>
      <p:cxnSp>
        <p:nvCxnSpPr>
          <p:cNvPr id="16" name="直接连接符 15">
            <a:extLst>
              <a:ext uri="{FF2B5EF4-FFF2-40B4-BE49-F238E27FC236}">
                <a16:creationId xmlns:a16="http://schemas.microsoft.com/office/drawing/2014/main" id="{120293F4-893D-91B5-FD79-DEA6B6B53882}"/>
              </a:ext>
            </a:extLst>
          </p:cNvPr>
          <p:cNvCxnSpPr/>
          <p:nvPr/>
        </p:nvCxnSpPr>
        <p:spPr>
          <a:xfrm flipH="1">
            <a:off x="696000" y="1748923"/>
            <a:ext cx="590643"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7" name="矩形 12">
            <a:extLst>
              <a:ext uri="{FF2B5EF4-FFF2-40B4-BE49-F238E27FC236}">
                <a16:creationId xmlns:a16="http://schemas.microsoft.com/office/drawing/2014/main" id="{AAABF964-B4D5-275B-A23E-6AC78896316D}"/>
              </a:ext>
            </a:extLst>
          </p:cNvPr>
          <p:cNvSpPr>
            <a:spLocks noChangeArrowheads="1"/>
          </p:cNvSpPr>
          <p:nvPr/>
        </p:nvSpPr>
        <p:spPr bwMode="auto">
          <a:xfrm>
            <a:off x="1143745" y="1844173"/>
            <a:ext cx="75323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dirty="0">
                <a:solidFill>
                  <a:srgbClr val="E67819"/>
                </a:solidFill>
                <a:latin typeface="+mj-ea"/>
                <a:ea typeface="+mj-ea"/>
              </a:rPr>
              <a:t>基本路径覆盖 </a:t>
            </a:r>
            <a:r>
              <a:rPr lang="en-US" altLang="zh-CN" sz="1600" dirty="0">
                <a:solidFill>
                  <a:srgbClr val="E67819"/>
                </a:solidFill>
                <a:latin typeface="+mj-ea"/>
                <a:ea typeface="+mj-ea"/>
              </a:rPr>
              <a:t>Basic Path Coverage</a:t>
            </a:r>
            <a:endParaRPr lang="zh-CN" altLang="en-US" dirty="0">
              <a:solidFill>
                <a:srgbClr val="E67819"/>
              </a:solidFill>
              <a:latin typeface="+mj-ea"/>
              <a:ea typeface="+mj-ea"/>
            </a:endParaRPr>
          </a:p>
        </p:txBody>
      </p:sp>
      <p:sp>
        <p:nvSpPr>
          <p:cNvPr id="18" name="矩形 9">
            <a:extLst>
              <a:ext uri="{FF2B5EF4-FFF2-40B4-BE49-F238E27FC236}">
                <a16:creationId xmlns:a16="http://schemas.microsoft.com/office/drawing/2014/main" id="{67FC2AAB-3B77-884F-9A32-9025E754732F}"/>
              </a:ext>
            </a:extLst>
          </p:cNvPr>
          <p:cNvSpPr>
            <a:spLocks noChangeArrowheads="1"/>
          </p:cNvSpPr>
          <p:nvPr/>
        </p:nvSpPr>
        <p:spPr bwMode="auto">
          <a:xfrm>
            <a:off x="1158279" y="2150243"/>
            <a:ext cx="9576000" cy="418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fontAlgn="auto">
              <a:lnSpc>
                <a:spcPct val="130000"/>
              </a:lnSpc>
            </a:pPr>
            <a:r>
              <a:rPr dirty="0" err="1"/>
              <a:t>基本路径覆盖法要求选取足够多的测试数据，使程序的每条可能执行路径都至少执行一次</a:t>
            </a:r>
            <a:r>
              <a:rPr dirty="0"/>
              <a:t>。</a:t>
            </a:r>
          </a:p>
        </p:txBody>
      </p:sp>
      <p:sp>
        <p:nvSpPr>
          <p:cNvPr id="12" name="TextBox 33">
            <a:extLst>
              <a:ext uri="{FF2B5EF4-FFF2-40B4-BE49-F238E27FC236}">
                <a16:creationId xmlns:a16="http://schemas.microsoft.com/office/drawing/2014/main" id="{F23C54FD-9485-3129-7D6E-DF6B5BBC46EE}"/>
              </a:ext>
            </a:extLst>
          </p:cNvPr>
          <p:cNvSpPr txBox="1"/>
          <p:nvPr/>
        </p:nvSpPr>
        <p:spPr>
          <a:xfrm>
            <a:off x="804947" y="2799477"/>
            <a:ext cx="6593449" cy="3781705"/>
          </a:xfrm>
          <a:prstGeom prst="rect">
            <a:avLst/>
          </a:prstGeom>
          <a:solidFill>
            <a:schemeClr val="bg1">
              <a:lumMod val="95000"/>
            </a:schemeClr>
          </a:solidFill>
        </p:spPr>
        <p:txBody>
          <a:bodyPr wrap="square" lIns="144000" tIns="144000" rIns="144000" bIns="144000">
            <a:spAutoFit/>
          </a:bodyPr>
          <a:lstStyle/>
          <a:p>
            <a:pPr fontAlgn="auto">
              <a:lnSpc>
                <a:spcPct val="130000"/>
              </a:lnSpc>
            </a:pPr>
            <a:r>
              <a:rPr lang="zh-CN" altLang="en-US" sz="1600" dirty="0">
                <a:latin typeface="Times New Roman" panose="02020603050405020304" pitchFamily="18" charset="0"/>
              </a:rPr>
              <a:t>选取足够多的测试数据，使程序的每条可能执行路径都至少执行一次。图中可能执行的路径有4条：</a:t>
            </a:r>
            <a:endParaRPr lang="en-US" altLang="zh-CN" sz="1600" dirty="0">
              <a:latin typeface="Times New Roman" panose="02020603050405020304" pitchFamily="18" charset="0"/>
            </a:endParaRPr>
          </a:p>
          <a:p>
            <a:pPr fontAlgn="auto">
              <a:lnSpc>
                <a:spcPct val="130000"/>
              </a:lnSpc>
            </a:pPr>
            <a:r>
              <a:rPr lang="zh-CN" altLang="en-US" sz="1600" dirty="0">
                <a:latin typeface="Times New Roman" panose="02020603050405020304" pitchFamily="18" charset="0"/>
              </a:rPr>
              <a:t>1→2→3，</a:t>
            </a:r>
            <a:endParaRPr lang="en-US" altLang="zh-CN" sz="1600" dirty="0">
              <a:latin typeface="Times New Roman" panose="02020603050405020304" pitchFamily="18" charset="0"/>
            </a:endParaRPr>
          </a:p>
          <a:p>
            <a:pPr fontAlgn="auto">
              <a:lnSpc>
                <a:spcPct val="130000"/>
              </a:lnSpc>
            </a:pPr>
            <a:r>
              <a:rPr lang="zh-CN" altLang="en-US" sz="1600" dirty="0">
                <a:latin typeface="Times New Roman" panose="02020603050405020304" pitchFamily="18" charset="0"/>
              </a:rPr>
              <a:t>1→2→6→7，</a:t>
            </a:r>
            <a:endParaRPr lang="en-US" altLang="zh-CN" sz="1600" dirty="0">
              <a:latin typeface="Times New Roman" panose="02020603050405020304" pitchFamily="18" charset="0"/>
            </a:endParaRPr>
          </a:p>
          <a:p>
            <a:pPr fontAlgn="auto">
              <a:lnSpc>
                <a:spcPct val="130000"/>
              </a:lnSpc>
            </a:pPr>
            <a:r>
              <a:rPr lang="zh-CN" altLang="en-US" sz="1600" dirty="0">
                <a:latin typeface="Times New Roman" panose="02020603050405020304" pitchFamily="18" charset="0"/>
              </a:rPr>
              <a:t>1→4→5→3，</a:t>
            </a:r>
            <a:endParaRPr lang="en-US" altLang="zh-CN" sz="1600" dirty="0">
              <a:latin typeface="Times New Roman" panose="02020603050405020304" pitchFamily="18" charset="0"/>
            </a:endParaRPr>
          </a:p>
          <a:p>
            <a:pPr fontAlgn="auto">
              <a:lnSpc>
                <a:spcPct val="130000"/>
              </a:lnSpc>
            </a:pPr>
            <a:r>
              <a:rPr lang="zh-CN" altLang="en-US" sz="1600" dirty="0">
                <a:latin typeface="Times New Roman" panose="02020603050405020304" pitchFamily="18" charset="0"/>
              </a:rPr>
              <a:t>1→4→5→6→7。</a:t>
            </a:r>
            <a:endParaRPr lang="en-US" altLang="zh-CN" sz="1600" dirty="0">
              <a:latin typeface="Times New Roman" panose="02020603050405020304" pitchFamily="18" charset="0"/>
            </a:endParaRPr>
          </a:p>
          <a:p>
            <a:pPr fontAlgn="auto">
              <a:lnSpc>
                <a:spcPct val="130000"/>
              </a:lnSpc>
            </a:pPr>
            <a:r>
              <a:rPr lang="zh-CN" altLang="en-US" sz="1600" dirty="0">
                <a:latin typeface="Times New Roman" panose="02020603050405020304" pitchFamily="18" charset="0"/>
              </a:rPr>
              <a:t>为了做到路径覆盖，须设计4组测试数据，如：</a:t>
            </a:r>
          </a:p>
          <a:p>
            <a:pPr marL="285750" indent="-285750" fontAlgn="auto">
              <a:lnSpc>
                <a:spcPct val="130000"/>
              </a:lnSpc>
              <a:buClrTx/>
              <a:buFont typeface="Arial" panose="020B0604020202020204" pitchFamily="34" charset="0"/>
              <a:buChar char="•"/>
            </a:pPr>
            <a:r>
              <a:rPr lang="zh-CN" altLang="en-US" sz="1600" dirty="0">
                <a:latin typeface="Times New Roman" panose="02020603050405020304" pitchFamily="18" charset="0"/>
              </a:rPr>
              <a:t>A=1，B=1，执行路径为1→2→3</a:t>
            </a:r>
          </a:p>
          <a:p>
            <a:pPr marL="285750" indent="-285750" fontAlgn="auto">
              <a:lnSpc>
                <a:spcPct val="130000"/>
              </a:lnSpc>
              <a:buClrTx/>
              <a:buFont typeface="Arial" panose="020B0604020202020204" pitchFamily="34" charset="0"/>
              <a:buChar char="•"/>
            </a:pPr>
            <a:r>
              <a:rPr lang="zh-CN" altLang="en-US" sz="1600" dirty="0">
                <a:latin typeface="Times New Roman" panose="02020603050405020304" pitchFamily="18" charset="0"/>
              </a:rPr>
              <a:t>A=4，B=0，执行路径为1→2→6→7</a:t>
            </a:r>
          </a:p>
          <a:p>
            <a:pPr marL="285750" indent="-285750" fontAlgn="auto">
              <a:lnSpc>
                <a:spcPct val="130000"/>
              </a:lnSpc>
              <a:buClrTx/>
              <a:buFont typeface="Arial" panose="020B0604020202020204" pitchFamily="34" charset="0"/>
              <a:buChar char="•"/>
            </a:pPr>
            <a:r>
              <a:rPr lang="zh-CN" altLang="en-US" sz="1600" dirty="0">
                <a:latin typeface="Times New Roman" panose="02020603050405020304" pitchFamily="18" charset="0"/>
              </a:rPr>
              <a:t>A=1，B=2，执行路径为1→4→5→3</a:t>
            </a:r>
          </a:p>
          <a:p>
            <a:pPr marL="285750" indent="-285750" fontAlgn="auto">
              <a:lnSpc>
                <a:spcPct val="130000"/>
              </a:lnSpc>
              <a:buClrTx/>
              <a:buFont typeface="Arial" panose="020B0604020202020204" pitchFamily="34" charset="0"/>
              <a:buChar char="•"/>
            </a:pPr>
            <a:r>
              <a:rPr lang="zh-CN" altLang="en-US" sz="1600" dirty="0">
                <a:latin typeface="Times New Roman" panose="02020603050405020304" pitchFamily="18" charset="0"/>
              </a:rPr>
              <a:t>A=3，B=0，执行路径为1→4→5→6→7</a:t>
            </a:r>
          </a:p>
        </p:txBody>
      </p:sp>
      <p:grpSp>
        <p:nvGrpSpPr>
          <p:cNvPr id="2" name="组合 8732">
            <a:extLst>
              <a:ext uri="{FF2B5EF4-FFF2-40B4-BE49-F238E27FC236}">
                <a16:creationId xmlns:a16="http://schemas.microsoft.com/office/drawing/2014/main" id="{A8D55313-7302-A926-0E0C-1DE31B58270E}"/>
              </a:ext>
            </a:extLst>
          </p:cNvPr>
          <p:cNvGrpSpPr/>
          <p:nvPr/>
        </p:nvGrpSpPr>
        <p:grpSpPr bwMode="auto">
          <a:xfrm>
            <a:off x="8231505" y="2742150"/>
            <a:ext cx="2103120" cy="3048000"/>
            <a:chOff x="4113" y="5043"/>
            <a:chExt cx="1402" cy="2379"/>
          </a:xfrm>
        </p:grpSpPr>
        <p:sp>
          <p:nvSpPr>
            <p:cNvPr id="20" name="椭圆 8733">
              <a:extLst>
                <a:ext uri="{FF2B5EF4-FFF2-40B4-BE49-F238E27FC236}">
                  <a16:creationId xmlns:a16="http://schemas.microsoft.com/office/drawing/2014/main" id="{F662A6A1-38A3-4B11-6581-8E4120FF7B4C}"/>
                </a:ext>
              </a:extLst>
            </p:cNvPr>
            <p:cNvSpPr>
              <a:spLocks noChangeArrowheads="1"/>
            </p:cNvSpPr>
            <p:nvPr/>
          </p:nvSpPr>
          <p:spPr bwMode="auto">
            <a:xfrm>
              <a:off x="4296" y="5121"/>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1" name="椭圆 8734">
              <a:extLst>
                <a:ext uri="{FF2B5EF4-FFF2-40B4-BE49-F238E27FC236}">
                  <a16:creationId xmlns:a16="http://schemas.microsoft.com/office/drawing/2014/main" id="{0C7AC8C4-1801-0D46-2B23-E2FD0A049A19}"/>
                </a:ext>
              </a:extLst>
            </p:cNvPr>
            <p:cNvSpPr>
              <a:spLocks noChangeArrowheads="1"/>
            </p:cNvSpPr>
            <p:nvPr/>
          </p:nvSpPr>
          <p:spPr bwMode="auto">
            <a:xfrm>
              <a:off x="4296" y="5825"/>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3" name="椭圆 8735">
              <a:extLst>
                <a:ext uri="{FF2B5EF4-FFF2-40B4-BE49-F238E27FC236}">
                  <a16:creationId xmlns:a16="http://schemas.microsoft.com/office/drawing/2014/main" id="{8BAF957B-B7A8-3ABA-E104-074C10D58248}"/>
                </a:ext>
              </a:extLst>
            </p:cNvPr>
            <p:cNvSpPr>
              <a:spLocks noChangeArrowheads="1"/>
            </p:cNvSpPr>
            <p:nvPr/>
          </p:nvSpPr>
          <p:spPr bwMode="auto">
            <a:xfrm>
              <a:off x="4296" y="6529"/>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8" name="椭圆 8736">
              <a:extLst>
                <a:ext uri="{FF2B5EF4-FFF2-40B4-BE49-F238E27FC236}">
                  <a16:creationId xmlns:a16="http://schemas.microsoft.com/office/drawing/2014/main" id="{FA041712-288F-DCEE-C641-4BB7F90AB94A}"/>
                </a:ext>
              </a:extLst>
            </p:cNvPr>
            <p:cNvSpPr>
              <a:spLocks noChangeArrowheads="1"/>
            </p:cNvSpPr>
            <p:nvPr/>
          </p:nvSpPr>
          <p:spPr bwMode="auto">
            <a:xfrm>
              <a:off x="4296" y="7234"/>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9" name="自选图形 8737">
              <a:extLst>
                <a:ext uri="{FF2B5EF4-FFF2-40B4-BE49-F238E27FC236}">
                  <a16:creationId xmlns:a16="http://schemas.microsoft.com/office/drawing/2014/main" id="{70400B0F-3CBF-C5E7-2203-D24C8505E85F}"/>
                </a:ext>
              </a:extLst>
            </p:cNvPr>
            <p:cNvSpPr>
              <a:spLocks noChangeShapeType="1"/>
            </p:cNvSpPr>
            <p:nvPr/>
          </p:nvSpPr>
          <p:spPr bwMode="auto">
            <a:xfrm>
              <a:off x="4358" y="5240"/>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0" name="自选图形 8738">
              <a:extLst>
                <a:ext uri="{FF2B5EF4-FFF2-40B4-BE49-F238E27FC236}">
                  <a16:creationId xmlns:a16="http://schemas.microsoft.com/office/drawing/2014/main" id="{BF24778A-FBF8-26A6-2B3E-71C5C5D02055}"/>
                </a:ext>
              </a:extLst>
            </p:cNvPr>
            <p:cNvSpPr>
              <a:spLocks noChangeShapeType="1"/>
            </p:cNvSpPr>
            <p:nvPr/>
          </p:nvSpPr>
          <p:spPr bwMode="auto">
            <a:xfrm>
              <a:off x="4358" y="5944"/>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1" name="自选图形 8739">
              <a:extLst>
                <a:ext uri="{FF2B5EF4-FFF2-40B4-BE49-F238E27FC236}">
                  <a16:creationId xmlns:a16="http://schemas.microsoft.com/office/drawing/2014/main" id="{C4AB5D62-5A6F-8683-02DC-6CF67D2F4684}"/>
                </a:ext>
              </a:extLst>
            </p:cNvPr>
            <p:cNvSpPr>
              <a:spLocks noChangeShapeType="1"/>
            </p:cNvSpPr>
            <p:nvPr/>
          </p:nvSpPr>
          <p:spPr bwMode="auto">
            <a:xfrm>
              <a:off x="4358" y="6651"/>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2" name="自选图形 8740">
              <a:extLst>
                <a:ext uri="{FF2B5EF4-FFF2-40B4-BE49-F238E27FC236}">
                  <a16:creationId xmlns:a16="http://schemas.microsoft.com/office/drawing/2014/main" id="{7D27039C-7957-C11B-6ABA-FCB47B0E10DD}"/>
                </a:ext>
              </a:extLst>
            </p:cNvPr>
            <p:cNvSpPr>
              <a:spLocks noChangeShapeType="1"/>
            </p:cNvSpPr>
            <p:nvPr/>
          </p:nvSpPr>
          <p:spPr bwMode="auto">
            <a:xfrm flipH="1">
              <a:off x="4415" y="5888"/>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5" name="自选图形 8741">
              <a:extLst>
                <a:ext uri="{FF2B5EF4-FFF2-40B4-BE49-F238E27FC236}">
                  <a16:creationId xmlns:a16="http://schemas.microsoft.com/office/drawing/2014/main" id="{3818F34D-A8F6-250E-E6FE-CD7E6F9264E7}"/>
                </a:ext>
              </a:extLst>
            </p:cNvPr>
            <p:cNvSpPr>
              <a:spLocks noChangeShapeType="1"/>
            </p:cNvSpPr>
            <p:nvPr/>
          </p:nvSpPr>
          <p:spPr bwMode="auto">
            <a:xfrm flipH="1">
              <a:off x="4415" y="6594"/>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36" name="文本框 8742">
              <a:extLst>
                <a:ext uri="{FF2B5EF4-FFF2-40B4-BE49-F238E27FC236}">
                  <a16:creationId xmlns:a16="http://schemas.microsoft.com/office/drawing/2014/main" id="{11335043-EEB9-298C-C20B-802A716B0464}"/>
                </a:ext>
              </a:extLst>
            </p:cNvPr>
            <p:cNvSpPr txBox="1">
              <a:spLocks noChangeArrowheads="1"/>
            </p:cNvSpPr>
            <p:nvPr/>
          </p:nvSpPr>
          <p:spPr bwMode="auto">
            <a:xfrm>
              <a:off x="4113" y="5043"/>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7" name="文本框 8743">
              <a:extLst>
                <a:ext uri="{FF2B5EF4-FFF2-40B4-BE49-F238E27FC236}">
                  <a16:creationId xmlns:a16="http://schemas.microsoft.com/office/drawing/2014/main" id="{E98109FE-1E68-9357-6643-AA025319F84D}"/>
                </a:ext>
              </a:extLst>
            </p:cNvPr>
            <p:cNvSpPr txBox="1">
              <a:spLocks noChangeArrowheads="1"/>
            </p:cNvSpPr>
            <p:nvPr/>
          </p:nvSpPr>
          <p:spPr bwMode="auto">
            <a:xfrm>
              <a:off x="4113" y="575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38" name="文本框 8744">
              <a:extLst>
                <a:ext uri="{FF2B5EF4-FFF2-40B4-BE49-F238E27FC236}">
                  <a16:creationId xmlns:a16="http://schemas.microsoft.com/office/drawing/2014/main" id="{3D5A0B60-28F5-7FF5-C5E0-D499AA8F5EB7}"/>
                </a:ext>
              </a:extLst>
            </p:cNvPr>
            <p:cNvSpPr txBox="1">
              <a:spLocks noChangeArrowheads="1"/>
            </p:cNvSpPr>
            <p:nvPr/>
          </p:nvSpPr>
          <p:spPr bwMode="auto">
            <a:xfrm>
              <a:off x="4113" y="6467"/>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b</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 name="文本框 8745">
              <a:extLst>
                <a:ext uri="{FF2B5EF4-FFF2-40B4-BE49-F238E27FC236}">
                  <a16:creationId xmlns:a16="http://schemas.microsoft.com/office/drawing/2014/main" id="{5E825075-310A-0A2E-6FB3-9D7B5B82C128}"/>
                </a:ext>
              </a:extLst>
            </p:cNvPr>
            <p:cNvSpPr txBox="1">
              <a:spLocks noChangeArrowheads="1"/>
            </p:cNvSpPr>
            <p:nvPr/>
          </p:nvSpPr>
          <p:spPr bwMode="auto">
            <a:xfrm>
              <a:off x="4113" y="717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e</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5" name="文本框 8746">
              <a:extLst>
                <a:ext uri="{FF2B5EF4-FFF2-40B4-BE49-F238E27FC236}">
                  <a16:creationId xmlns:a16="http://schemas.microsoft.com/office/drawing/2014/main" id="{C1DA115A-2806-5CF1-77B3-1C9307E5E189}"/>
                </a:ext>
              </a:extLst>
            </p:cNvPr>
            <p:cNvSpPr txBox="1">
              <a:spLocks noChangeArrowheads="1"/>
            </p:cNvSpPr>
            <p:nvPr/>
          </p:nvSpPr>
          <p:spPr bwMode="auto">
            <a:xfrm>
              <a:off x="5369" y="574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c</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6" name="文本框 8747">
              <a:extLst>
                <a:ext uri="{FF2B5EF4-FFF2-40B4-BE49-F238E27FC236}">
                  <a16:creationId xmlns:a16="http://schemas.microsoft.com/office/drawing/2014/main" id="{EBFD6C7C-47AD-123D-7812-F4ECD7FF68E8}"/>
                </a:ext>
              </a:extLst>
            </p:cNvPr>
            <p:cNvSpPr txBox="1">
              <a:spLocks noChangeArrowheads="1"/>
            </p:cNvSpPr>
            <p:nvPr/>
          </p:nvSpPr>
          <p:spPr bwMode="auto">
            <a:xfrm>
              <a:off x="5366" y="645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d</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11" name="文本框 8748">
              <a:extLst>
                <a:ext uri="{FF2B5EF4-FFF2-40B4-BE49-F238E27FC236}">
                  <a16:creationId xmlns:a16="http://schemas.microsoft.com/office/drawing/2014/main" id="{AAB78338-8F2C-1C00-241C-75EA71F8B3FE}"/>
                </a:ext>
              </a:extLst>
            </p:cNvPr>
            <p:cNvSpPr txBox="1">
              <a:spLocks noChangeArrowheads="1"/>
            </p:cNvSpPr>
            <p:nvPr/>
          </p:nvSpPr>
          <p:spPr bwMode="auto">
            <a:xfrm>
              <a:off x="4194" y="5390"/>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1</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3" name="文本框 8749">
              <a:extLst>
                <a:ext uri="{FF2B5EF4-FFF2-40B4-BE49-F238E27FC236}">
                  <a16:creationId xmlns:a16="http://schemas.microsoft.com/office/drawing/2014/main" id="{0FF9B690-26BF-608F-4EA5-FB44B472611F}"/>
                </a:ext>
              </a:extLst>
            </p:cNvPr>
            <p:cNvSpPr txBox="1">
              <a:spLocks noChangeArrowheads="1"/>
            </p:cNvSpPr>
            <p:nvPr/>
          </p:nvSpPr>
          <p:spPr bwMode="auto">
            <a:xfrm>
              <a:off x="4194" y="608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2</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4" name="文本框 8750">
              <a:extLst>
                <a:ext uri="{FF2B5EF4-FFF2-40B4-BE49-F238E27FC236}">
                  <a16:creationId xmlns:a16="http://schemas.microsoft.com/office/drawing/2014/main" id="{9E2F5748-1C7B-891F-8C1F-8DD601196731}"/>
                </a:ext>
              </a:extLst>
            </p:cNvPr>
            <p:cNvSpPr txBox="1">
              <a:spLocks noChangeArrowheads="1"/>
            </p:cNvSpPr>
            <p:nvPr/>
          </p:nvSpPr>
          <p:spPr bwMode="auto">
            <a:xfrm>
              <a:off x="4194" y="6801"/>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3</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5" name="文本框 8751">
              <a:extLst>
                <a:ext uri="{FF2B5EF4-FFF2-40B4-BE49-F238E27FC236}">
                  <a16:creationId xmlns:a16="http://schemas.microsoft.com/office/drawing/2014/main" id="{8055E0A4-21E5-CD2F-203C-81055D23F6EA}"/>
                </a:ext>
              </a:extLst>
            </p:cNvPr>
            <p:cNvSpPr txBox="1">
              <a:spLocks noChangeArrowheads="1"/>
            </p:cNvSpPr>
            <p:nvPr/>
          </p:nvSpPr>
          <p:spPr bwMode="auto">
            <a:xfrm>
              <a:off x="4710" y="566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4</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6" name="文本框 8752">
              <a:extLst>
                <a:ext uri="{FF2B5EF4-FFF2-40B4-BE49-F238E27FC236}">
                  <a16:creationId xmlns:a16="http://schemas.microsoft.com/office/drawing/2014/main" id="{4EF8C884-8379-6851-D038-7CB1E04F3404}"/>
                </a:ext>
              </a:extLst>
            </p:cNvPr>
            <p:cNvSpPr txBox="1">
              <a:spLocks noChangeArrowheads="1"/>
            </p:cNvSpPr>
            <p:nvPr/>
          </p:nvSpPr>
          <p:spPr bwMode="auto">
            <a:xfrm>
              <a:off x="4936" y="618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5</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7" name="文本框 8753">
              <a:extLst>
                <a:ext uri="{FF2B5EF4-FFF2-40B4-BE49-F238E27FC236}">
                  <a16:creationId xmlns:a16="http://schemas.microsoft.com/office/drawing/2014/main" id="{3830EC37-3DE7-778F-F270-95456840084D}"/>
                </a:ext>
              </a:extLst>
            </p:cNvPr>
            <p:cNvSpPr txBox="1">
              <a:spLocks noChangeArrowheads="1"/>
            </p:cNvSpPr>
            <p:nvPr/>
          </p:nvSpPr>
          <p:spPr bwMode="auto">
            <a:xfrm>
              <a:off x="4784" y="6582"/>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6</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8" name="文本框 8754">
              <a:extLst>
                <a:ext uri="{FF2B5EF4-FFF2-40B4-BE49-F238E27FC236}">
                  <a16:creationId xmlns:a16="http://schemas.microsoft.com/office/drawing/2014/main" id="{EF7952E7-3E78-B9FD-B378-4CA5BBCB68E4}"/>
                </a:ext>
              </a:extLst>
            </p:cNvPr>
            <p:cNvSpPr txBox="1">
              <a:spLocks noChangeArrowheads="1"/>
            </p:cNvSpPr>
            <p:nvPr/>
          </p:nvSpPr>
          <p:spPr bwMode="auto">
            <a:xfrm>
              <a:off x="5005" y="7106"/>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7</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49" name="弧形 8755">
              <a:extLst>
                <a:ext uri="{FF2B5EF4-FFF2-40B4-BE49-F238E27FC236}">
                  <a16:creationId xmlns:a16="http://schemas.microsoft.com/office/drawing/2014/main" id="{C55480D6-7ED0-4B2B-04BC-C982A8463C53}"/>
                </a:ext>
              </a:extLst>
            </p:cNvPr>
            <p:cNvSpPr/>
            <p:nvPr/>
          </p:nvSpPr>
          <p:spPr bwMode="auto">
            <a:xfrm flipV="1">
              <a:off x="4415" y="5916"/>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50" name="椭圆 8756">
              <a:extLst>
                <a:ext uri="{FF2B5EF4-FFF2-40B4-BE49-F238E27FC236}">
                  <a16:creationId xmlns:a16="http://schemas.microsoft.com/office/drawing/2014/main" id="{3ED027A9-289C-168A-CC34-30C958D0C78F}"/>
                </a:ext>
              </a:extLst>
            </p:cNvPr>
            <p:cNvSpPr>
              <a:spLocks noChangeArrowheads="1"/>
            </p:cNvSpPr>
            <p:nvPr/>
          </p:nvSpPr>
          <p:spPr bwMode="auto">
            <a:xfrm>
              <a:off x="5226" y="5822"/>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13" name="弧形 8757">
              <a:extLst>
                <a:ext uri="{FF2B5EF4-FFF2-40B4-BE49-F238E27FC236}">
                  <a16:creationId xmlns:a16="http://schemas.microsoft.com/office/drawing/2014/main" id="{CCF0122D-2423-3746-AF57-E75E6A6D9918}"/>
                </a:ext>
              </a:extLst>
            </p:cNvPr>
            <p:cNvSpPr/>
            <p:nvPr/>
          </p:nvSpPr>
          <p:spPr bwMode="auto">
            <a:xfrm flipV="1">
              <a:off x="4415" y="6629"/>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 name="椭圆 8758">
              <a:extLst>
                <a:ext uri="{FF2B5EF4-FFF2-40B4-BE49-F238E27FC236}">
                  <a16:creationId xmlns:a16="http://schemas.microsoft.com/office/drawing/2014/main" id="{34C2942D-FB6A-07BD-1477-A36D931EF322}"/>
                </a:ext>
              </a:extLst>
            </p:cNvPr>
            <p:cNvSpPr>
              <a:spLocks noChangeArrowheads="1"/>
            </p:cNvSpPr>
            <p:nvPr/>
          </p:nvSpPr>
          <p:spPr bwMode="auto">
            <a:xfrm>
              <a:off x="5226" y="6529"/>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grpSp>
    </p:spTree>
    <p:extLst>
      <p:ext uri="{BB962C8B-B14F-4D97-AF65-F5344CB8AC3E}">
        <p14:creationId xmlns:p14="http://schemas.microsoft.com/office/powerpoint/2010/main" val="926393787"/>
      </p:ext>
    </p:extLst>
  </p:cSld>
  <p:clrMapOvr>
    <a:masterClrMapping/>
  </p:clrMapOvr>
  <p:transition>
    <p:pull dir="rd"/>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14C85-4A4A-1793-2657-0ACAEA39B04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F0EF34D-63DA-623E-FC80-4532FFB062C2}"/>
              </a:ext>
            </a:extLst>
          </p:cNvPr>
          <p:cNvSpPr>
            <a:spLocks noGrp="1"/>
          </p:cNvSpPr>
          <p:nvPr>
            <p:ph type="title"/>
          </p:nvPr>
        </p:nvSpPr>
        <p:spPr>
          <a:xfrm>
            <a:off x="336000" y="360000"/>
            <a:ext cx="5760000" cy="535531"/>
          </a:xfrm>
        </p:spPr>
        <p:txBody>
          <a:bodyPr/>
          <a:lstStyle/>
          <a:p>
            <a:r>
              <a:rPr lang="en-US" dirty="0"/>
              <a:t>4.5 </a:t>
            </a:r>
            <a:r>
              <a:rPr lang="zh-CN" altLang="en-US" dirty="0"/>
              <a:t>设计软件测试方案</a:t>
            </a:r>
            <a:endParaRPr lang="zh-CN" altLang="en-US" dirty="0">
              <a:sym typeface="+mn-ea"/>
            </a:endParaRPr>
          </a:p>
        </p:txBody>
      </p:sp>
      <p:sp>
        <p:nvSpPr>
          <p:cNvPr id="14" name="文本占位符 13">
            <a:extLst>
              <a:ext uri="{FF2B5EF4-FFF2-40B4-BE49-F238E27FC236}">
                <a16:creationId xmlns:a16="http://schemas.microsoft.com/office/drawing/2014/main" id="{30770CB3-3ABA-1C28-4C24-500CD2704101}"/>
              </a:ext>
            </a:extLst>
          </p:cNvPr>
          <p:cNvSpPr>
            <a:spLocks noGrp="1"/>
          </p:cNvSpPr>
          <p:nvPr>
            <p:ph type="body" sz="quarter" idx="10"/>
          </p:nvPr>
        </p:nvSpPr>
        <p:spPr>
          <a:xfrm>
            <a:off x="696000" y="1322832"/>
            <a:ext cx="5400000" cy="400110"/>
          </a:xfrm>
        </p:spPr>
        <p:txBody>
          <a:bodyPr/>
          <a:lstStyle/>
          <a:p>
            <a:r>
              <a:rPr lang="en-US" altLang="zh-CN" dirty="0">
                <a:sym typeface="+mn-ea"/>
              </a:rPr>
              <a:t>4.5.4 </a:t>
            </a:r>
            <a:r>
              <a:rPr lang="zh-CN" altLang="en-US" dirty="0">
                <a:sym typeface="+mn-ea"/>
              </a:rPr>
              <a:t>逻辑覆盖法</a:t>
            </a:r>
            <a:endParaRPr lang="zh-CN" altLang="en-US" dirty="0"/>
          </a:p>
        </p:txBody>
      </p:sp>
      <p:sp>
        <p:nvSpPr>
          <p:cNvPr id="19" name="文本占位符 18">
            <a:extLst>
              <a:ext uri="{FF2B5EF4-FFF2-40B4-BE49-F238E27FC236}">
                <a16:creationId xmlns:a16="http://schemas.microsoft.com/office/drawing/2014/main" id="{7DAF8EB3-3BAF-1A35-0D01-A5DA0956A861}"/>
              </a:ext>
            </a:extLst>
          </p:cNvPr>
          <p:cNvSpPr>
            <a:spLocks noGrp="1"/>
          </p:cNvSpPr>
          <p:nvPr>
            <p:ph type="body" sz="quarter" idx="11"/>
          </p:nvPr>
        </p:nvSpPr>
        <p:spPr>
          <a:xfrm>
            <a:off x="6096000" y="360128"/>
            <a:ext cx="5760000" cy="400110"/>
          </a:xfrm>
        </p:spPr>
        <p:txBody>
          <a:bodyPr/>
          <a:lstStyle/>
          <a:p>
            <a:r>
              <a:rPr lang="en-US" altLang="zh-CN" dirty="0"/>
              <a:t>Schema</a:t>
            </a:r>
            <a:endParaRPr lang="zh-CN" altLang="en-US" dirty="0"/>
          </a:p>
        </p:txBody>
      </p:sp>
      <p:sp>
        <p:nvSpPr>
          <p:cNvPr id="15" name="TextBox 10">
            <a:extLst>
              <a:ext uri="{FF2B5EF4-FFF2-40B4-BE49-F238E27FC236}">
                <a16:creationId xmlns:a16="http://schemas.microsoft.com/office/drawing/2014/main" id="{AEC3C70A-9EB4-F5C9-3638-B7A6ED40B62A}"/>
              </a:ext>
            </a:extLst>
          </p:cNvPr>
          <p:cNvSpPr txBox="1">
            <a:spLocks noChangeArrowheads="1"/>
          </p:cNvSpPr>
          <p:nvPr/>
        </p:nvSpPr>
        <p:spPr bwMode="auto">
          <a:xfrm>
            <a:off x="804947" y="1783213"/>
            <a:ext cx="37274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algn="ctr" eaLnBrk="1" hangingPunct="1"/>
            <a:r>
              <a:rPr lang="en-US" sz="2800" dirty="0">
                <a:solidFill>
                  <a:srgbClr val="E67819"/>
                </a:solidFill>
                <a:latin typeface="Times New Roman" panose="02020603050405020304" pitchFamily="18" charset="0"/>
                <a:ea typeface="MS UI Gothic" panose="020B0600070205080204" charset="-128"/>
              </a:rPr>
              <a:t>8</a:t>
            </a:r>
          </a:p>
        </p:txBody>
      </p:sp>
      <p:cxnSp>
        <p:nvCxnSpPr>
          <p:cNvPr id="16" name="直接连接符 15">
            <a:extLst>
              <a:ext uri="{FF2B5EF4-FFF2-40B4-BE49-F238E27FC236}">
                <a16:creationId xmlns:a16="http://schemas.microsoft.com/office/drawing/2014/main" id="{CAAF71D4-C8CD-0BE1-BDFD-FDCB41FE2E91}"/>
              </a:ext>
            </a:extLst>
          </p:cNvPr>
          <p:cNvCxnSpPr/>
          <p:nvPr/>
        </p:nvCxnSpPr>
        <p:spPr>
          <a:xfrm flipH="1">
            <a:off x="696000" y="1748923"/>
            <a:ext cx="590643"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7" name="矩形 12">
            <a:extLst>
              <a:ext uri="{FF2B5EF4-FFF2-40B4-BE49-F238E27FC236}">
                <a16:creationId xmlns:a16="http://schemas.microsoft.com/office/drawing/2014/main" id="{17A48F07-1FB9-545C-6B31-64C0DEE26A68}"/>
              </a:ext>
            </a:extLst>
          </p:cNvPr>
          <p:cNvSpPr>
            <a:spLocks noChangeArrowheads="1"/>
          </p:cNvSpPr>
          <p:nvPr/>
        </p:nvSpPr>
        <p:spPr bwMode="auto">
          <a:xfrm>
            <a:off x="1143745" y="1844173"/>
            <a:ext cx="75323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dirty="0">
                <a:solidFill>
                  <a:srgbClr val="E67819"/>
                </a:solidFill>
                <a:latin typeface="+mj-ea"/>
                <a:ea typeface="+mj-ea"/>
              </a:rPr>
              <a:t>基本路径覆盖 </a:t>
            </a:r>
            <a:r>
              <a:rPr lang="en-US" altLang="zh-CN" sz="1600" dirty="0">
                <a:solidFill>
                  <a:srgbClr val="E67819"/>
                </a:solidFill>
                <a:latin typeface="+mj-ea"/>
                <a:ea typeface="+mj-ea"/>
              </a:rPr>
              <a:t>Basic Path Coverage</a:t>
            </a:r>
            <a:endParaRPr lang="zh-CN" altLang="en-US" dirty="0">
              <a:solidFill>
                <a:srgbClr val="E67819"/>
              </a:solidFill>
              <a:latin typeface="+mj-ea"/>
              <a:ea typeface="+mj-ea"/>
            </a:endParaRPr>
          </a:p>
        </p:txBody>
      </p:sp>
      <p:sp>
        <p:nvSpPr>
          <p:cNvPr id="18" name="矩形 9">
            <a:extLst>
              <a:ext uri="{FF2B5EF4-FFF2-40B4-BE49-F238E27FC236}">
                <a16:creationId xmlns:a16="http://schemas.microsoft.com/office/drawing/2014/main" id="{4E6890BB-BEC9-BCFD-E752-6D1D120AAAE0}"/>
              </a:ext>
            </a:extLst>
          </p:cNvPr>
          <p:cNvSpPr>
            <a:spLocks noChangeArrowheads="1"/>
          </p:cNvSpPr>
          <p:nvPr/>
        </p:nvSpPr>
        <p:spPr bwMode="auto">
          <a:xfrm>
            <a:off x="1158279" y="2150243"/>
            <a:ext cx="9576000" cy="418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just" fontAlgn="auto">
              <a:lnSpc>
                <a:spcPct val="130000"/>
              </a:lnSpc>
            </a:pPr>
            <a:r>
              <a:rPr dirty="0" err="1"/>
              <a:t>基本路径覆盖法要求选取足够多的测试数据，使程序的每条可能执行路径都至少执行一次</a:t>
            </a:r>
            <a:r>
              <a:rPr dirty="0"/>
              <a:t>。</a:t>
            </a:r>
          </a:p>
        </p:txBody>
      </p:sp>
      <p:sp>
        <p:nvSpPr>
          <p:cNvPr id="7" name="文本框 6"/>
          <p:cNvSpPr txBox="1"/>
          <p:nvPr/>
        </p:nvSpPr>
        <p:spPr>
          <a:xfrm>
            <a:off x="1176338" y="2817511"/>
            <a:ext cx="9839325" cy="3299429"/>
          </a:xfrm>
          <a:prstGeom prst="rect">
            <a:avLst/>
          </a:prstGeom>
          <a:noFill/>
        </p:spPr>
        <p:txBody>
          <a:bodyPr wrap="square" rtlCol="0" anchor="t">
            <a:spAutoFit/>
          </a:bodyPr>
          <a:lstStyle/>
          <a:p>
            <a:pPr indent="457200" fontAlgn="auto">
              <a:lnSpc>
                <a:spcPct val="130000"/>
              </a:lnSpc>
            </a:pPr>
            <a:r>
              <a:rPr lang="zh-CN" altLang="en-US" dirty="0"/>
              <a:t>基本路径覆盖是相当强的逻辑覆盖测试标准，用这个标准测试程序可保证程序中每条可能的路径都至少执行一次，因而测试数据有代表性，检错能力较强。</a:t>
            </a:r>
            <a:endParaRPr lang="en-US" altLang="zh-CN" dirty="0"/>
          </a:p>
          <a:p>
            <a:pPr indent="457200" fontAlgn="auto">
              <a:lnSpc>
                <a:spcPct val="130000"/>
              </a:lnSpc>
            </a:pPr>
            <a:r>
              <a:rPr lang="zh-CN" altLang="en-US" dirty="0"/>
              <a:t>但路径覆盖只考虑每个判定表达式的取值，并不考虑表达式中各种可能的组合情况。基本路径覆盖测试技术设计测试用例的步骤如下：</a:t>
            </a:r>
            <a:endParaRPr lang="en-US" altLang="zh-CN" dirty="0"/>
          </a:p>
          <a:p>
            <a:pPr indent="457200" fontAlgn="auto">
              <a:lnSpc>
                <a:spcPct val="130000"/>
              </a:lnSpc>
            </a:pPr>
            <a:r>
              <a:rPr lang="zh-CN" altLang="en-US" dirty="0"/>
              <a:t>① 根据过程设计结果画出程序图。</a:t>
            </a:r>
            <a:endParaRPr lang="en-US" altLang="zh-CN" dirty="0"/>
          </a:p>
          <a:p>
            <a:pPr indent="457200" fontAlgn="auto">
              <a:lnSpc>
                <a:spcPct val="130000"/>
              </a:lnSpc>
            </a:pPr>
            <a:r>
              <a:rPr lang="zh-CN" altLang="en-US" dirty="0"/>
              <a:t>② 计算程序图的环形复杂度（第4.5.5节介绍）。</a:t>
            </a:r>
            <a:endParaRPr lang="en-US" altLang="zh-CN" dirty="0"/>
          </a:p>
          <a:p>
            <a:pPr indent="457200" fontAlgn="auto">
              <a:lnSpc>
                <a:spcPct val="130000"/>
              </a:lnSpc>
            </a:pPr>
            <a:r>
              <a:rPr lang="zh-CN" altLang="en-US" dirty="0"/>
              <a:t>③ 确定线性独立路径的基本集合。</a:t>
            </a:r>
            <a:endParaRPr lang="en-US" altLang="zh-CN" dirty="0"/>
          </a:p>
          <a:p>
            <a:pPr indent="457200" fontAlgn="auto">
              <a:lnSpc>
                <a:spcPct val="130000"/>
              </a:lnSpc>
            </a:pPr>
            <a:r>
              <a:rPr lang="zh-CN" altLang="en-US" dirty="0"/>
              <a:t>④ 设计可强行执行基本集合中每条路径的测试用例。</a:t>
            </a:r>
            <a:endParaRPr lang="en-US" altLang="zh-CN" dirty="0"/>
          </a:p>
          <a:p>
            <a:pPr indent="457200" fontAlgn="auto">
              <a:lnSpc>
                <a:spcPct val="130000"/>
              </a:lnSpc>
            </a:pPr>
            <a:r>
              <a:rPr lang="zh-CN" altLang="en-US" dirty="0"/>
              <a:t>⑤ 执行每个测试用例，并把实际输出结果与预期结果相比较。</a:t>
            </a:r>
            <a:endParaRPr lang="en-US" altLang="zh-CN" dirty="0"/>
          </a:p>
        </p:txBody>
      </p:sp>
    </p:spTree>
    <p:extLst>
      <p:ext uri="{BB962C8B-B14F-4D97-AF65-F5344CB8AC3E}">
        <p14:creationId xmlns:p14="http://schemas.microsoft.com/office/powerpoint/2010/main" val="314395453"/>
      </p:ext>
    </p:extLst>
  </p:cSld>
  <p:clrMapOvr>
    <a:masterClrMapping/>
  </p:clrMapOvr>
  <p:transition>
    <p:pull dir="rd"/>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4" name="文本占位符 3">
            <a:extLst>
              <a:ext uri="{FF2B5EF4-FFF2-40B4-BE49-F238E27FC236}">
                <a16:creationId xmlns:a16="http://schemas.microsoft.com/office/drawing/2014/main" id="{C050EAC7-FDE0-3890-57DE-317A53A7BE57}"/>
              </a:ext>
            </a:extLst>
          </p:cNvPr>
          <p:cNvSpPr>
            <a:spLocks noGrp="1"/>
          </p:cNvSpPr>
          <p:nvPr>
            <p:ph type="body" sz="quarter" idx="10"/>
          </p:nvPr>
        </p:nvSpPr>
        <p:spPr>
          <a:xfrm>
            <a:off x="696000" y="1322832"/>
            <a:ext cx="11160000" cy="400110"/>
          </a:xfrm>
        </p:spPr>
        <p:txBody>
          <a:bodyPr/>
          <a:lstStyle/>
          <a:p>
            <a:r>
              <a:rPr lang="en-US" altLang="zh-CN" dirty="0"/>
              <a:t>4.5.5 </a:t>
            </a:r>
            <a:r>
              <a:rPr lang="zh-CN" altLang="en-US" dirty="0"/>
              <a:t>程序环形复杂程度的度量</a:t>
            </a:r>
          </a:p>
        </p:txBody>
      </p:sp>
      <p:sp>
        <p:nvSpPr>
          <p:cNvPr id="9" name="文本占位符 8">
            <a:extLst>
              <a:ext uri="{FF2B5EF4-FFF2-40B4-BE49-F238E27FC236}">
                <a16:creationId xmlns:a16="http://schemas.microsoft.com/office/drawing/2014/main" id="{9EF354A0-ABFB-CE44-CA00-BC04288F409C}"/>
              </a:ext>
            </a:extLst>
          </p:cNvPr>
          <p:cNvSpPr>
            <a:spLocks noGrp="1"/>
          </p:cNvSpPr>
          <p:nvPr>
            <p:ph type="body" sz="quarter" idx="11"/>
          </p:nvPr>
        </p:nvSpPr>
        <p:spPr/>
        <p:txBody>
          <a:bodyPr/>
          <a:lstStyle/>
          <a:p>
            <a:endParaRPr lang="zh-CN" altLang="en-US"/>
          </a:p>
        </p:txBody>
      </p:sp>
      <p:sp>
        <p:nvSpPr>
          <p:cNvPr id="100" name="文本框 99"/>
          <p:cNvSpPr txBox="1"/>
          <p:nvPr/>
        </p:nvSpPr>
        <p:spPr>
          <a:xfrm>
            <a:off x="1038000" y="2378710"/>
            <a:ext cx="10116000" cy="3293209"/>
          </a:xfrm>
          <a:prstGeom prst="rect">
            <a:avLst/>
          </a:prstGeom>
          <a:noFill/>
          <a:ln w="9525">
            <a:noFill/>
          </a:ln>
        </p:spPr>
        <p:txBody>
          <a:bodyPr wrap="square">
            <a:spAutoFit/>
          </a:bodyPr>
          <a:lstStyle/>
          <a:p>
            <a:pPr marL="0" indent="457200" fontAlgn="auto">
              <a:lnSpc>
                <a:spcPct val="130000"/>
              </a:lnSpc>
            </a:pPr>
            <a:r>
              <a:rPr sz="2000" dirty="0">
                <a:latin typeface="+mn-ea"/>
                <a:sym typeface="+mn-ea"/>
              </a:rPr>
              <a:t>详细设计阶段设计出的模块质量不仅可以用前面介绍的基本原理进行衡量，还可以用比较可行的定量度量的方法进行衡量。目前许多定量度量软件复杂程度的方法还处在研究之中，本节介绍比较成熟的、使用比较广泛的</a:t>
            </a:r>
            <a:r>
              <a:rPr lang="en-US" sz="2000" dirty="0">
                <a:latin typeface="+mn-ea"/>
                <a:sym typeface="+mn-ea"/>
              </a:rPr>
              <a:t> </a:t>
            </a:r>
            <a:r>
              <a:rPr sz="2000" dirty="0" err="1">
                <a:latin typeface="+mn-ea"/>
                <a:sym typeface="+mn-ea"/>
              </a:rPr>
              <a:t>McCabe方法</a:t>
            </a:r>
            <a:r>
              <a:rPr sz="2000" dirty="0">
                <a:latin typeface="+mn-ea"/>
                <a:sym typeface="+mn-ea"/>
              </a:rPr>
              <a:t>。</a:t>
            </a:r>
            <a:endParaRPr lang="en-US" sz="2000" dirty="0">
              <a:latin typeface="+mn-ea"/>
              <a:sym typeface="+mn-ea"/>
            </a:endParaRPr>
          </a:p>
          <a:p>
            <a:pPr marL="0" indent="457200" fontAlgn="auto">
              <a:lnSpc>
                <a:spcPct val="130000"/>
              </a:lnSpc>
            </a:pPr>
            <a:endParaRPr sz="2000" dirty="0">
              <a:latin typeface="+mn-ea"/>
              <a:sym typeface="+mn-ea"/>
            </a:endParaRPr>
          </a:p>
          <a:p>
            <a:pPr marL="0" indent="457200" fontAlgn="auto">
              <a:lnSpc>
                <a:spcPct val="130000"/>
              </a:lnSpc>
            </a:pPr>
            <a:r>
              <a:rPr sz="2000" dirty="0">
                <a:solidFill>
                  <a:srgbClr val="C00000"/>
                </a:solidFill>
                <a:latin typeface="+mn-ea"/>
                <a:sym typeface="+mn-ea"/>
              </a:rPr>
              <a:t>McCabe</a:t>
            </a:r>
            <a:r>
              <a:rPr lang="en-US" sz="2000" dirty="0">
                <a:solidFill>
                  <a:srgbClr val="C00000"/>
                </a:solidFill>
                <a:latin typeface="+mn-ea"/>
                <a:sym typeface="+mn-ea"/>
              </a:rPr>
              <a:t> </a:t>
            </a:r>
            <a:r>
              <a:rPr sz="2000" dirty="0">
                <a:solidFill>
                  <a:srgbClr val="C00000"/>
                </a:solidFill>
                <a:latin typeface="+mn-ea"/>
                <a:sym typeface="+mn-ea"/>
              </a:rPr>
              <a:t>方法根据程序控制流的复杂程度，定量度量程序的复杂程度。</a:t>
            </a:r>
            <a:r>
              <a:rPr sz="2000" dirty="0">
                <a:solidFill>
                  <a:srgbClr val="00B050"/>
                </a:solidFill>
                <a:latin typeface="+mn-ea"/>
                <a:sym typeface="+mn-ea"/>
              </a:rPr>
              <a:t>首先画出程序图，然后计算程序的环形复杂度。</a:t>
            </a:r>
            <a:r>
              <a:rPr sz="2000" dirty="0">
                <a:latin typeface="+mn-ea"/>
                <a:sym typeface="+mn-ea"/>
              </a:rPr>
              <a:t>由于程序的环形复杂度决定了程序的独立路径个数，因而在进行路径测试前，可以先计算程序的环形复杂度。经验表明，程序越复杂，越容易出错，测试和维护起来也越难。</a:t>
            </a:r>
          </a:p>
        </p:txBody>
      </p:sp>
    </p:spTree>
  </p:cSld>
  <p:clrMapOvr>
    <a:masterClrMapping/>
  </p:clrMapOvr>
  <p:transition>
    <p:pull dir="rd"/>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4" name="文本占位符 3">
            <a:extLst>
              <a:ext uri="{FF2B5EF4-FFF2-40B4-BE49-F238E27FC236}">
                <a16:creationId xmlns:a16="http://schemas.microsoft.com/office/drawing/2014/main" id="{ECB9FD2C-F157-8759-17F4-9B0F6C69EE35}"/>
              </a:ext>
            </a:extLst>
          </p:cNvPr>
          <p:cNvSpPr>
            <a:spLocks noGrp="1"/>
          </p:cNvSpPr>
          <p:nvPr>
            <p:ph type="body" sz="quarter" idx="10"/>
          </p:nvPr>
        </p:nvSpPr>
        <p:spPr>
          <a:xfrm>
            <a:off x="696000" y="1322832"/>
            <a:ext cx="11160000" cy="400110"/>
          </a:xfrm>
        </p:spPr>
        <p:txBody>
          <a:bodyPr/>
          <a:lstStyle/>
          <a:p>
            <a:r>
              <a:rPr lang="en-US" altLang="zh-CN" dirty="0"/>
              <a:t>4.5.5 </a:t>
            </a:r>
            <a:r>
              <a:rPr lang="zh-CN" altLang="en-US" dirty="0"/>
              <a:t>程序环形复杂程度的度量</a:t>
            </a:r>
          </a:p>
        </p:txBody>
      </p:sp>
      <p:sp>
        <p:nvSpPr>
          <p:cNvPr id="14" name="文本占位符 13">
            <a:extLst>
              <a:ext uri="{FF2B5EF4-FFF2-40B4-BE49-F238E27FC236}">
                <a16:creationId xmlns:a16="http://schemas.microsoft.com/office/drawing/2014/main" id="{981AFAD0-2F71-964F-FB87-28C53030356C}"/>
              </a:ext>
            </a:extLst>
          </p:cNvPr>
          <p:cNvSpPr>
            <a:spLocks noGrp="1"/>
          </p:cNvSpPr>
          <p:nvPr>
            <p:ph type="body" sz="quarter" idx="11"/>
          </p:nvPr>
        </p:nvSpPr>
        <p:spPr/>
        <p:txBody>
          <a:bodyPr/>
          <a:lstStyle/>
          <a:p>
            <a:endParaRPr lang="zh-CN" altLang="en-US"/>
          </a:p>
        </p:txBody>
      </p:sp>
      <p:sp>
        <p:nvSpPr>
          <p:cNvPr id="100" name="文本框 99"/>
          <p:cNvSpPr txBox="1"/>
          <p:nvPr/>
        </p:nvSpPr>
        <p:spPr>
          <a:xfrm>
            <a:off x="1457961" y="2150110"/>
            <a:ext cx="5278119" cy="3293209"/>
          </a:xfrm>
          <a:prstGeom prst="rect">
            <a:avLst/>
          </a:prstGeom>
          <a:noFill/>
          <a:ln w="9525">
            <a:noFill/>
          </a:ln>
        </p:spPr>
        <p:txBody>
          <a:bodyPr wrap="square">
            <a:spAutoFit/>
          </a:bodyPr>
          <a:lstStyle/>
          <a:p>
            <a:pPr>
              <a:lnSpc>
                <a:spcPct val="130000"/>
              </a:lnSpc>
            </a:pPr>
            <a:r>
              <a:rPr lang="en-US" sz="2000" dirty="0">
                <a:latin typeface="微软雅黑" panose="020B0503020204020204" charset="-122"/>
                <a:ea typeface="微软雅黑" panose="020B0503020204020204" charset="-122"/>
                <a:sym typeface="+mn-ea"/>
              </a:rPr>
              <a:t>       </a:t>
            </a:r>
            <a:r>
              <a:rPr lang="en-US" altLang="zh-CN" sz="2000" dirty="0">
                <a:latin typeface="微软雅黑" panose="020B0503020204020204" charset="-122"/>
                <a:ea typeface="微软雅黑" panose="020B0503020204020204" charset="-122"/>
                <a:sym typeface="+mn-ea"/>
              </a:rPr>
              <a:t>McCabe</a:t>
            </a:r>
            <a:r>
              <a:rPr lang="zh-CN" altLang="en-US" sz="2000" dirty="0">
                <a:latin typeface="微软雅黑" panose="020B0503020204020204" charset="-122"/>
                <a:ea typeface="微软雅黑" panose="020B0503020204020204" charset="-122"/>
                <a:sym typeface="+mn-ea"/>
              </a:rPr>
              <a:t>方法首先画出程序图（也称流图）。这是一种简化了的流程图，</a:t>
            </a:r>
            <a:r>
              <a:rPr lang="zh-CN" altLang="en-US" sz="2000" dirty="0">
                <a:solidFill>
                  <a:srgbClr val="C00000"/>
                </a:solidFill>
                <a:latin typeface="微软雅黑" panose="020B0503020204020204" charset="-122"/>
                <a:ea typeface="微软雅黑" panose="020B0503020204020204" charset="-122"/>
                <a:sym typeface="+mn-ea"/>
              </a:rPr>
              <a:t>把程序流程图中的每个框都画成一个圆圈</a:t>
            </a:r>
            <a:r>
              <a:rPr lang="zh-CN" altLang="en-US" sz="2000" dirty="0">
                <a:latin typeface="微软雅黑" panose="020B0503020204020204" charset="-122"/>
                <a:ea typeface="微软雅黑" panose="020B0503020204020204" charset="-122"/>
                <a:sym typeface="+mn-ea"/>
              </a:rPr>
              <a:t>（见图</a:t>
            </a:r>
            <a:r>
              <a:rPr lang="en-US" altLang="zh-CN" sz="2000" dirty="0">
                <a:latin typeface="微软雅黑" panose="020B0503020204020204" charset="-122"/>
                <a:ea typeface="微软雅黑" panose="020B0503020204020204" charset="-122"/>
                <a:sym typeface="+mn-ea"/>
              </a:rPr>
              <a:t>4-2</a:t>
            </a:r>
            <a:r>
              <a:rPr lang="zh-CN" altLang="en-US" sz="2000" dirty="0">
                <a:latin typeface="微软雅黑" panose="020B0503020204020204" charset="-122"/>
                <a:ea typeface="微软雅黑" panose="020B0503020204020204" charset="-122"/>
                <a:sym typeface="+mn-ea"/>
              </a:rPr>
              <a:t>）；</a:t>
            </a:r>
            <a:r>
              <a:rPr lang="zh-CN" altLang="en-US" sz="2000" dirty="0">
                <a:solidFill>
                  <a:srgbClr val="C00000"/>
                </a:solidFill>
                <a:latin typeface="微软雅黑" panose="020B0503020204020204" charset="-122"/>
                <a:ea typeface="微软雅黑" panose="020B0503020204020204" charset="-122"/>
                <a:sym typeface="+mn-ea"/>
              </a:rPr>
              <a:t>把流程图中连接不同框的箭头变成程序图中的有向弧，这样得到的有向图称为程序图，</a:t>
            </a:r>
            <a:r>
              <a:rPr lang="zh-CN" altLang="en-US" sz="2000" dirty="0">
                <a:latin typeface="微软雅黑" panose="020B0503020204020204" charset="-122"/>
                <a:ea typeface="微软雅黑" panose="020B0503020204020204" charset="-122"/>
                <a:sym typeface="+mn-ea"/>
              </a:rPr>
              <a:t>如图</a:t>
            </a:r>
            <a:r>
              <a:rPr lang="en-US" altLang="zh-CN" sz="2000" dirty="0">
                <a:latin typeface="微软雅黑" panose="020B0503020204020204" charset="-122"/>
                <a:ea typeface="微软雅黑" panose="020B0503020204020204" charset="-122"/>
                <a:sym typeface="+mn-ea"/>
              </a:rPr>
              <a:t>4-2</a:t>
            </a:r>
            <a:r>
              <a:rPr lang="zh-CN" altLang="en-US" sz="2000" dirty="0">
                <a:latin typeface="微软雅黑" panose="020B0503020204020204" charset="-122"/>
                <a:ea typeface="微软雅黑" panose="020B0503020204020204" charset="-122"/>
                <a:sym typeface="+mn-ea"/>
              </a:rPr>
              <a:t>、图</a:t>
            </a:r>
            <a:r>
              <a:rPr lang="en-US" altLang="zh-CN" sz="2000" dirty="0">
                <a:latin typeface="微软雅黑" panose="020B0503020204020204" charset="-122"/>
                <a:ea typeface="微软雅黑" panose="020B0503020204020204" charset="-122"/>
                <a:sym typeface="+mn-ea"/>
              </a:rPr>
              <a:t>4-4</a:t>
            </a:r>
            <a:r>
              <a:rPr lang="zh-CN" altLang="en-US" sz="2000" dirty="0">
                <a:latin typeface="微软雅黑" panose="020B0503020204020204" charset="-122"/>
                <a:ea typeface="微软雅黑" panose="020B0503020204020204" charset="-122"/>
                <a:sym typeface="+mn-ea"/>
              </a:rPr>
              <a:t>所示。</a:t>
            </a:r>
          </a:p>
          <a:p>
            <a:pPr>
              <a:lnSpc>
                <a:spcPct val="130000"/>
              </a:lnSpc>
            </a:pPr>
            <a:r>
              <a:rPr lang="zh-CN" altLang="en-US" sz="2000" dirty="0">
                <a:latin typeface="微软雅黑" panose="020B0503020204020204" charset="-122"/>
                <a:ea typeface="微软雅黑" panose="020B0503020204020204" charset="-122"/>
                <a:sym typeface="+mn-ea"/>
              </a:rPr>
              <a:t>程序图仅描述程序内部的控制流程，完全不表现对数据的具体操作及分支或循环的具体条件。</a:t>
            </a:r>
          </a:p>
        </p:txBody>
      </p:sp>
      <p:grpSp>
        <p:nvGrpSpPr>
          <p:cNvPr id="223233" name="组合 8732"/>
          <p:cNvGrpSpPr/>
          <p:nvPr/>
        </p:nvGrpSpPr>
        <p:grpSpPr bwMode="auto">
          <a:xfrm>
            <a:off x="6827520" y="2560320"/>
            <a:ext cx="1713548" cy="2468880"/>
            <a:chOff x="4113" y="5043"/>
            <a:chExt cx="1402" cy="2379"/>
          </a:xfrm>
        </p:grpSpPr>
        <p:sp>
          <p:nvSpPr>
            <p:cNvPr id="223259" name="椭圆 8733"/>
            <p:cNvSpPr>
              <a:spLocks noChangeArrowheads="1"/>
            </p:cNvSpPr>
            <p:nvPr/>
          </p:nvSpPr>
          <p:spPr bwMode="auto">
            <a:xfrm>
              <a:off x="4296" y="5121"/>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8" name="椭圆 8734"/>
            <p:cNvSpPr>
              <a:spLocks noChangeArrowheads="1"/>
            </p:cNvSpPr>
            <p:nvPr/>
          </p:nvSpPr>
          <p:spPr bwMode="auto">
            <a:xfrm>
              <a:off x="4296" y="5825"/>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7" name="椭圆 8735"/>
            <p:cNvSpPr>
              <a:spLocks noChangeArrowheads="1"/>
            </p:cNvSpPr>
            <p:nvPr/>
          </p:nvSpPr>
          <p:spPr bwMode="auto">
            <a:xfrm>
              <a:off x="4296" y="6529"/>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6" name="椭圆 8736"/>
            <p:cNvSpPr>
              <a:spLocks noChangeArrowheads="1"/>
            </p:cNvSpPr>
            <p:nvPr/>
          </p:nvSpPr>
          <p:spPr bwMode="auto">
            <a:xfrm>
              <a:off x="4296" y="7234"/>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5" name="自选图形 8737"/>
            <p:cNvSpPr>
              <a:spLocks noChangeShapeType="1"/>
            </p:cNvSpPr>
            <p:nvPr/>
          </p:nvSpPr>
          <p:spPr bwMode="auto">
            <a:xfrm>
              <a:off x="4358" y="5240"/>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4" name="自选图形 8738"/>
            <p:cNvSpPr>
              <a:spLocks noChangeShapeType="1"/>
            </p:cNvSpPr>
            <p:nvPr/>
          </p:nvSpPr>
          <p:spPr bwMode="auto">
            <a:xfrm>
              <a:off x="4358" y="5944"/>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3" name="自选图形 8739"/>
            <p:cNvSpPr>
              <a:spLocks noChangeShapeType="1"/>
            </p:cNvSpPr>
            <p:nvPr/>
          </p:nvSpPr>
          <p:spPr bwMode="auto">
            <a:xfrm>
              <a:off x="4358" y="6651"/>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2" name="自选图形 8740"/>
            <p:cNvSpPr>
              <a:spLocks noChangeShapeType="1"/>
            </p:cNvSpPr>
            <p:nvPr/>
          </p:nvSpPr>
          <p:spPr bwMode="auto">
            <a:xfrm flipH="1">
              <a:off x="4415" y="5888"/>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1" name="自选图形 8741"/>
            <p:cNvSpPr>
              <a:spLocks noChangeShapeType="1"/>
            </p:cNvSpPr>
            <p:nvPr/>
          </p:nvSpPr>
          <p:spPr bwMode="auto">
            <a:xfrm flipH="1">
              <a:off x="4415" y="6594"/>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50" name="文本框 8742"/>
            <p:cNvSpPr txBox="1">
              <a:spLocks noChangeArrowheads="1"/>
            </p:cNvSpPr>
            <p:nvPr/>
          </p:nvSpPr>
          <p:spPr bwMode="auto">
            <a:xfrm>
              <a:off x="4113" y="5043"/>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9" name="文本框 8743"/>
            <p:cNvSpPr txBox="1">
              <a:spLocks noChangeArrowheads="1"/>
            </p:cNvSpPr>
            <p:nvPr/>
          </p:nvSpPr>
          <p:spPr bwMode="auto">
            <a:xfrm>
              <a:off x="4113" y="575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8" name="文本框 8744"/>
            <p:cNvSpPr txBox="1">
              <a:spLocks noChangeArrowheads="1"/>
            </p:cNvSpPr>
            <p:nvPr/>
          </p:nvSpPr>
          <p:spPr bwMode="auto">
            <a:xfrm>
              <a:off x="4113" y="6467"/>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b</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7" name="文本框 8745"/>
            <p:cNvSpPr txBox="1">
              <a:spLocks noChangeArrowheads="1"/>
            </p:cNvSpPr>
            <p:nvPr/>
          </p:nvSpPr>
          <p:spPr bwMode="auto">
            <a:xfrm>
              <a:off x="4113" y="717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e</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6" name="文本框 8746"/>
            <p:cNvSpPr txBox="1">
              <a:spLocks noChangeArrowheads="1"/>
            </p:cNvSpPr>
            <p:nvPr/>
          </p:nvSpPr>
          <p:spPr bwMode="auto">
            <a:xfrm>
              <a:off x="5369" y="574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c</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5" name="文本框 8747"/>
            <p:cNvSpPr txBox="1">
              <a:spLocks noChangeArrowheads="1"/>
            </p:cNvSpPr>
            <p:nvPr/>
          </p:nvSpPr>
          <p:spPr bwMode="auto">
            <a:xfrm>
              <a:off x="5366" y="645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d</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4" name="文本框 8748"/>
            <p:cNvSpPr txBox="1">
              <a:spLocks noChangeArrowheads="1"/>
            </p:cNvSpPr>
            <p:nvPr/>
          </p:nvSpPr>
          <p:spPr bwMode="auto">
            <a:xfrm>
              <a:off x="4194" y="5390"/>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1</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3" name="文本框 8749"/>
            <p:cNvSpPr txBox="1">
              <a:spLocks noChangeArrowheads="1"/>
            </p:cNvSpPr>
            <p:nvPr/>
          </p:nvSpPr>
          <p:spPr bwMode="auto">
            <a:xfrm>
              <a:off x="4194" y="608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2</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2" name="文本框 8750"/>
            <p:cNvSpPr txBox="1">
              <a:spLocks noChangeArrowheads="1"/>
            </p:cNvSpPr>
            <p:nvPr/>
          </p:nvSpPr>
          <p:spPr bwMode="auto">
            <a:xfrm>
              <a:off x="4194" y="6801"/>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3</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1" name="文本框 8751"/>
            <p:cNvSpPr txBox="1">
              <a:spLocks noChangeArrowheads="1"/>
            </p:cNvSpPr>
            <p:nvPr/>
          </p:nvSpPr>
          <p:spPr bwMode="auto">
            <a:xfrm>
              <a:off x="4710" y="566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4</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40" name="文本框 8752"/>
            <p:cNvSpPr txBox="1">
              <a:spLocks noChangeArrowheads="1"/>
            </p:cNvSpPr>
            <p:nvPr/>
          </p:nvSpPr>
          <p:spPr bwMode="auto">
            <a:xfrm>
              <a:off x="4936" y="618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5</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39" name="文本框 8753"/>
            <p:cNvSpPr txBox="1">
              <a:spLocks noChangeArrowheads="1"/>
            </p:cNvSpPr>
            <p:nvPr/>
          </p:nvSpPr>
          <p:spPr bwMode="auto">
            <a:xfrm>
              <a:off x="4784" y="6582"/>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6</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38" name="文本框 8754"/>
            <p:cNvSpPr txBox="1">
              <a:spLocks noChangeArrowheads="1"/>
            </p:cNvSpPr>
            <p:nvPr/>
          </p:nvSpPr>
          <p:spPr bwMode="auto">
            <a:xfrm>
              <a:off x="5005" y="7106"/>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7</a:t>
              </a:r>
              <a:endParaRPr kumimoji="0" lang="en-US" altLang="zh-CN" b="0" i="0" u="none" strike="noStrike" cap="none" normalizeH="0" baseline="0" dirty="0">
                <a:ln>
                  <a:noFill/>
                </a:ln>
                <a:solidFill>
                  <a:schemeClr val="tx1"/>
                </a:solidFill>
                <a:effectLst/>
                <a:latin typeface="Times New Roman" panose="02020603050405020304" pitchFamily="18" charset="0"/>
                <a:ea typeface="微软雅黑 Light" panose="020B0502040204020203" pitchFamily="34" charset="-122"/>
                <a:cs typeface="宋体" panose="02010600030101010101" pitchFamily="2" charset="-122"/>
              </a:endParaRPr>
            </a:p>
          </p:txBody>
        </p:sp>
        <p:sp>
          <p:nvSpPr>
            <p:cNvPr id="223237" name="弧形 8755"/>
            <p:cNvSpPr/>
            <p:nvPr/>
          </p:nvSpPr>
          <p:spPr bwMode="auto">
            <a:xfrm flipV="1">
              <a:off x="4415" y="5916"/>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36" name="椭圆 8756"/>
            <p:cNvSpPr>
              <a:spLocks noChangeArrowheads="1"/>
            </p:cNvSpPr>
            <p:nvPr/>
          </p:nvSpPr>
          <p:spPr bwMode="auto">
            <a:xfrm>
              <a:off x="5226" y="5822"/>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35" name="弧形 8757"/>
            <p:cNvSpPr/>
            <p:nvPr/>
          </p:nvSpPr>
          <p:spPr bwMode="auto">
            <a:xfrm flipV="1">
              <a:off x="4415" y="6629"/>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sp>
          <p:nvSpPr>
            <p:cNvPr id="223234" name="椭圆 8758"/>
            <p:cNvSpPr>
              <a:spLocks noChangeArrowheads="1"/>
            </p:cNvSpPr>
            <p:nvPr/>
          </p:nvSpPr>
          <p:spPr bwMode="auto">
            <a:xfrm>
              <a:off x="5226" y="6529"/>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dirty="0">
                <a:latin typeface="Times New Roman" panose="02020603050405020304" pitchFamily="18" charset="0"/>
              </a:endParaRPr>
            </a:p>
          </p:txBody>
        </p:sp>
      </p:grpSp>
      <p:sp>
        <p:nvSpPr>
          <p:cNvPr id="34" name="TextBox 33"/>
          <p:cNvSpPr txBox="1"/>
          <p:nvPr/>
        </p:nvSpPr>
        <p:spPr>
          <a:xfrm>
            <a:off x="7025640" y="5227320"/>
            <a:ext cx="4312920" cy="369332"/>
          </a:xfrm>
          <a:prstGeom prst="rect">
            <a:avLst/>
          </a:prstGeom>
          <a:noFill/>
        </p:spPr>
        <p:txBody>
          <a:bodyPr wrap="square" rtlCol="0">
            <a:spAutoFit/>
          </a:bodyPr>
          <a:lstStyle/>
          <a:p>
            <a:r>
              <a:rPr lang="zh-CN" altLang="en-US" dirty="0">
                <a:latin typeface="Times New Roman" panose="02020603050405020304" pitchFamily="18" charset="0"/>
              </a:rPr>
              <a:t>图</a:t>
            </a:r>
            <a:r>
              <a:rPr lang="en-US" altLang="zh-CN" dirty="0">
                <a:latin typeface="Times New Roman" panose="02020603050405020304" pitchFamily="18" charset="0"/>
              </a:rPr>
              <a:t>4-2                                    </a:t>
            </a:r>
            <a:r>
              <a:rPr lang="zh-CN" altLang="en-US" dirty="0">
                <a:latin typeface="Times New Roman" panose="02020603050405020304" pitchFamily="18" charset="0"/>
              </a:rPr>
              <a:t>图</a:t>
            </a:r>
            <a:r>
              <a:rPr lang="en-US" altLang="zh-CN" dirty="0">
                <a:latin typeface="Times New Roman" panose="02020603050405020304" pitchFamily="18" charset="0"/>
              </a:rPr>
              <a:t>4-4      </a:t>
            </a:r>
            <a:endParaRPr lang="zh-CN" altLang="en-US" dirty="0">
              <a:latin typeface="Times New Roman" panose="02020603050405020304" pitchFamily="18" charset="0"/>
            </a:endParaRPr>
          </a:p>
        </p:txBody>
      </p:sp>
      <p:pic>
        <p:nvPicPr>
          <p:cNvPr id="223274" name="图片 136"/>
          <p:cNvPicPr>
            <a:picLocks noChangeAspect="1" noChangeArrowheads="1"/>
          </p:cNvPicPr>
          <p:nvPr/>
        </p:nvPicPr>
        <p:blipFill>
          <a:blip r:embed="rId3" cstate="print"/>
          <a:srcRect/>
          <a:stretch>
            <a:fillRect/>
          </a:stretch>
        </p:blipFill>
        <p:spPr bwMode="auto">
          <a:xfrm>
            <a:off x="8680539" y="2331720"/>
            <a:ext cx="3051894" cy="2880359"/>
          </a:xfrm>
          <a:prstGeom prst="rect">
            <a:avLst/>
          </a:prstGeom>
          <a:noFill/>
          <a:ln w="9525">
            <a:noFill/>
            <a:miter lim="800000"/>
            <a:headEnd/>
            <a:tailEnd/>
          </a:ln>
        </p:spPr>
      </p:pic>
    </p:spTree>
  </p:cSld>
  <p:clrMapOvr>
    <a:masterClrMapping/>
  </p:clrMapOvr>
  <p:transition>
    <p:pull dir="rd"/>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4" name="文本占位符 3">
            <a:extLst>
              <a:ext uri="{FF2B5EF4-FFF2-40B4-BE49-F238E27FC236}">
                <a16:creationId xmlns:a16="http://schemas.microsoft.com/office/drawing/2014/main" id="{9058F728-1AC2-CAB6-C1CB-DDB4A3A07C99}"/>
              </a:ext>
            </a:extLst>
          </p:cNvPr>
          <p:cNvSpPr>
            <a:spLocks noGrp="1"/>
          </p:cNvSpPr>
          <p:nvPr>
            <p:ph type="body" sz="quarter" idx="10"/>
          </p:nvPr>
        </p:nvSpPr>
        <p:spPr>
          <a:xfrm>
            <a:off x="696000" y="1322832"/>
            <a:ext cx="11160000" cy="400110"/>
          </a:xfrm>
        </p:spPr>
        <p:txBody>
          <a:bodyPr/>
          <a:lstStyle/>
          <a:p>
            <a:r>
              <a:rPr lang="en-US" altLang="zh-CN" dirty="0"/>
              <a:t>4.5.5 </a:t>
            </a:r>
            <a:r>
              <a:rPr lang="zh-CN" altLang="en-US" dirty="0"/>
              <a:t>程序环形复杂程度的度量</a:t>
            </a:r>
          </a:p>
        </p:txBody>
      </p:sp>
      <p:sp>
        <p:nvSpPr>
          <p:cNvPr id="18" name="文本占位符 17">
            <a:extLst>
              <a:ext uri="{FF2B5EF4-FFF2-40B4-BE49-F238E27FC236}">
                <a16:creationId xmlns:a16="http://schemas.microsoft.com/office/drawing/2014/main" id="{A9110C73-040A-08B6-EE85-6A5F9BF85642}"/>
              </a:ext>
            </a:extLst>
          </p:cNvPr>
          <p:cNvSpPr>
            <a:spLocks noGrp="1"/>
          </p:cNvSpPr>
          <p:nvPr>
            <p:ph type="body" sz="quarter" idx="11"/>
          </p:nvPr>
        </p:nvSpPr>
        <p:spPr/>
        <p:txBody>
          <a:bodyPr/>
          <a:lstStyle/>
          <a:p>
            <a:endParaRPr lang="zh-CN" altLang="en-US"/>
          </a:p>
        </p:txBody>
      </p:sp>
      <p:sp>
        <p:nvSpPr>
          <p:cNvPr id="100" name="文本框 99"/>
          <p:cNvSpPr txBox="1"/>
          <p:nvPr/>
        </p:nvSpPr>
        <p:spPr>
          <a:xfrm>
            <a:off x="1412240" y="1906270"/>
            <a:ext cx="9857105" cy="4093428"/>
          </a:xfrm>
          <a:prstGeom prst="rect">
            <a:avLst/>
          </a:prstGeom>
          <a:noFill/>
          <a:ln w="9525">
            <a:noFill/>
          </a:ln>
        </p:spPr>
        <p:txBody>
          <a:bodyPr wrap="square">
            <a:spAutoFit/>
          </a:bodyPr>
          <a:lstStyle/>
          <a:p>
            <a:pPr>
              <a:lnSpc>
                <a:spcPct val="130000"/>
              </a:lnSpc>
            </a:pPr>
            <a:r>
              <a:rPr lang="zh-CN" altLang="en-US" sz="2000" dirty="0">
                <a:latin typeface="微软雅黑" panose="020B0503020204020204" charset="-122"/>
                <a:ea typeface="微软雅黑" panose="020B0503020204020204" charset="-122"/>
                <a:sym typeface="+mn-ea"/>
              </a:rPr>
              <a:t>       用</a:t>
            </a:r>
            <a:r>
              <a:rPr lang="en-US" sz="2000" dirty="0">
                <a:latin typeface="微软雅黑" panose="020B0503020204020204" charset="-122"/>
                <a:ea typeface="微软雅黑" panose="020B0503020204020204" charset="-122"/>
                <a:sym typeface="+mn-ea"/>
              </a:rPr>
              <a:t>McCabe</a:t>
            </a:r>
            <a:r>
              <a:rPr lang="zh-CN" altLang="en-US" sz="2000" dirty="0">
                <a:latin typeface="微软雅黑" panose="020B0503020204020204" charset="-122"/>
                <a:ea typeface="微软雅黑" panose="020B0503020204020204" charset="-122"/>
                <a:sym typeface="+mn-ea"/>
              </a:rPr>
              <a:t>方法度量得出的结果称为程序的环形复杂度。程序环形复杂度的计算方法有</a:t>
            </a:r>
            <a:r>
              <a:rPr lang="en-US" sz="2000" dirty="0">
                <a:latin typeface="微软雅黑" panose="020B0503020204020204" charset="-122"/>
                <a:ea typeface="微软雅黑" panose="020B0503020204020204" charset="-122"/>
                <a:sym typeface="+mn-ea"/>
              </a:rPr>
              <a:t>3</a:t>
            </a:r>
            <a:r>
              <a:rPr lang="zh-CN" altLang="en-US" sz="2000" dirty="0">
                <a:latin typeface="微软雅黑" panose="020B0503020204020204" charset="-122"/>
                <a:ea typeface="微软雅黑" panose="020B0503020204020204" charset="-122"/>
                <a:sym typeface="+mn-ea"/>
              </a:rPr>
              <a:t>种。</a:t>
            </a:r>
          </a:p>
          <a:p>
            <a:pPr>
              <a:lnSpc>
                <a:spcPct val="130000"/>
              </a:lnSpc>
            </a:pPr>
            <a:r>
              <a:rPr lang="zh-CN" altLang="en-US" sz="2000" dirty="0">
                <a:latin typeface="微软雅黑" panose="020B0503020204020204" charset="-122"/>
                <a:ea typeface="微软雅黑" panose="020B0503020204020204" charset="-122"/>
                <a:sym typeface="+mn-ea"/>
              </a:rPr>
              <a:t>（</a:t>
            </a:r>
            <a:r>
              <a:rPr lang="en-US" sz="2000" dirty="0">
                <a:latin typeface="微软雅黑" panose="020B0503020204020204" charset="-122"/>
                <a:ea typeface="微软雅黑" panose="020B0503020204020204" charset="-122"/>
                <a:sym typeface="+mn-ea"/>
              </a:rPr>
              <a:t>1</a:t>
            </a:r>
            <a:r>
              <a:rPr lang="zh-CN" altLang="en-US" sz="2000" dirty="0">
                <a:latin typeface="微软雅黑" panose="020B0503020204020204" charset="-122"/>
                <a:ea typeface="微软雅黑" panose="020B0503020204020204" charset="-122"/>
                <a:sym typeface="+mn-ea"/>
              </a:rPr>
              <a:t>）</a:t>
            </a:r>
            <a:r>
              <a:rPr lang="zh-CN" altLang="en-US" sz="2000" dirty="0">
                <a:solidFill>
                  <a:srgbClr val="0070C0"/>
                </a:solidFill>
                <a:latin typeface="微软雅黑" panose="020B0503020204020204" charset="-122"/>
                <a:ea typeface="微软雅黑" panose="020B0503020204020204" charset="-122"/>
                <a:sym typeface="+mn-ea"/>
              </a:rPr>
              <a:t>程序的环形复杂度计算公式为</a:t>
            </a:r>
          </a:p>
          <a:p>
            <a:pPr>
              <a:lnSpc>
                <a:spcPct val="130000"/>
              </a:lnSpc>
            </a:pPr>
            <a:r>
              <a:rPr lang="zh-CN" altLang="en-US" sz="2000" dirty="0">
                <a:latin typeface="微软雅黑" panose="020B0503020204020204" charset="-122"/>
                <a:ea typeface="微软雅黑" panose="020B0503020204020204" charset="-122"/>
                <a:sym typeface="+mn-ea"/>
              </a:rPr>
              <a:t>        其中，</a:t>
            </a:r>
            <a:r>
              <a:rPr lang="en-US" sz="2000" dirty="0">
                <a:latin typeface="微软雅黑" panose="020B0503020204020204" charset="-122"/>
                <a:ea typeface="微软雅黑" panose="020B0503020204020204" charset="-122"/>
                <a:sym typeface="+mn-ea"/>
              </a:rPr>
              <a:t>m</a:t>
            </a:r>
            <a:r>
              <a:rPr lang="zh-CN" altLang="en-US" sz="2000" dirty="0">
                <a:latin typeface="微软雅黑" panose="020B0503020204020204" charset="-122"/>
                <a:ea typeface="微软雅黑" panose="020B0503020204020204" charset="-122"/>
                <a:sym typeface="+mn-ea"/>
              </a:rPr>
              <a:t>是程序图</a:t>
            </a:r>
            <a:r>
              <a:rPr lang="en-US"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中的弧数（即边的条数），</a:t>
            </a:r>
            <a:r>
              <a:rPr lang="en-US" sz="2000" dirty="0">
                <a:latin typeface="微软雅黑" panose="020B0503020204020204" charset="-122"/>
                <a:ea typeface="微软雅黑" panose="020B0503020204020204" charset="-122"/>
                <a:sym typeface="+mn-ea"/>
              </a:rPr>
              <a:t>n</a:t>
            </a:r>
            <a:r>
              <a:rPr lang="zh-CN" altLang="en-US" sz="2000" dirty="0">
                <a:latin typeface="微软雅黑" panose="020B0503020204020204" charset="-122"/>
                <a:ea typeface="微软雅黑" panose="020B0503020204020204" charset="-122"/>
                <a:sym typeface="+mn-ea"/>
              </a:rPr>
              <a:t>是程序图</a:t>
            </a:r>
            <a:r>
              <a:rPr lang="en-US"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中的结点数。</a:t>
            </a:r>
          </a:p>
          <a:p>
            <a:pPr>
              <a:lnSpc>
                <a:spcPct val="130000"/>
              </a:lnSpc>
            </a:pPr>
            <a:r>
              <a:rPr lang="zh-CN" altLang="en-US" sz="2000" dirty="0">
                <a:latin typeface="微软雅黑" panose="020B0503020204020204" charset="-122"/>
                <a:ea typeface="微软雅黑" panose="020B0503020204020204" charset="-122"/>
                <a:sym typeface="+mn-ea"/>
              </a:rPr>
              <a:t>（</a:t>
            </a:r>
            <a:r>
              <a:rPr lang="en-US" sz="2000" dirty="0">
                <a:latin typeface="微软雅黑" panose="020B0503020204020204" charset="-122"/>
                <a:ea typeface="微软雅黑" panose="020B0503020204020204" charset="-122"/>
                <a:sym typeface="+mn-ea"/>
              </a:rPr>
              <a:t>2</a:t>
            </a:r>
            <a:r>
              <a:rPr lang="zh-CN" altLang="en-US" sz="2000" dirty="0">
                <a:latin typeface="微软雅黑" panose="020B0503020204020204" charset="-122"/>
                <a:ea typeface="微软雅黑" panose="020B0503020204020204" charset="-122"/>
                <a:sym typeface="+mn-ea"/>
              </a:rPr>
              <a:t>）</a:t>
            </a:r>
            <a:r>
              <a:rPr lang="zh-CN" altLang="en-US" sz="2000" dirty="0">
                <a:solidFill>
                  <a:srgbClr val="0070C0"/>
                </a:solidFill>
                <a:latin typeface="微软雅黑" panose="020B0503020204020204" charset="-122"/>
                <a:ea typeface="微软雅黑" panose="020B0503020204020204" charset="-122"/>
                <a:sym typeface="+mn-ea"/>
              </a:rPr>
              <a:t>如果</a:t>
            </a:r>
            <a:r>
              <a:rPr lang="en-US" sz="2000" dirty="0">
                <a:solidFill>
                  <a:srgbClr val="0070C0"/>
                </a:solidFill>
                <a:latin typeface="微软雅黑" panose="020B0503020204020204" charset="-122"/>
                <a:ea typeface="微软雅黑" panose="020B0503020204020204" charset="-122"/>
                <a:sym typeface="+mn-ea"/>
              </a:rPr>
              <a:t>P</a:t>
            </a:r>
            <a:r>
              <a:rPr lang="zh-CN" altLang="en-US" sz="2000" dirty="0">
                <a:solidFill>
                  <a:srgbClr val="0070C0"/>
                </a:solidFill>
                <a:latin typeface="微软雅黑" panose="020B0503020204020204" charset="-122"/>
                <a:ea typeface="微软雅黑" panose="020B0503020204020204" charset="-122"/>
                <a:sym typeface="+mn-ea"/>
              </a:rPr>
              <a:t>是程序图中判定结点的个数，则程序图</a:t>
            </a:r>
            <a:r>
              <a:rPr lang="en-US" sz="2000" dirty="0">
                <a:solidFill>
                  <a:srgbClr val="0070C0"/>
                </a:solidFill>
                <a:latin typeface="微软雅黑" panose="020B0503020204020204" charset="-122"/>
                <a:ea typeface="微软雅黑" panose="020B0503020204020204" charset="-122"/>
                <a:sym typeface="+mn-ea"/>
              </a:rPr>
              <a:t>G</a:t>
            </a:r>
            <a:r>
              <a:rPr lang="zh-CN" altLang="en-US" sz="2000" dirty="0">
                <a:solidFill>
                  <a:srgbClr val="0070C0"/>
                </a:solidFill>
                <a:latin typeface="微软雅黑" panose="020B0503020204020204" charset="-122"/>
                <a:ea typeface="微软雅黑" panose="020B0503020204020204" charset="-122"/>
                <a:sym typeface="+mn-ea"/>
              </a:rPr>
              <a:t>的环形复杂度为：</a:t>
            </a:r>
          </a:p>
          <a:p>
            <a:pPr>
              <a:lnSpc>
                <a:spcPct val="130000"/>
              </a:lnSpc>
            </a:pPr>
            <a:r>
              <a:rPr lang="zh-CN" altLang="en-US" sz="2000" dirty="0">
                <a:latin typeface="微软雅黑" panose="020B0503020204020204" charset="-122"/>
                <a:ea typeface="微软雅黑" panose="020B0503020204020204" charset="-122"/>
                <a:sym typeface="+mn-ea"/>
              </a:rPr>
              <a:t>       源代码中</a:t>
            </a:r>
            <a:r>
              <a:rPr lang="en-US" sz="2000" dirty="0">
                <a:latin typeface="微软雅黑" panose="020B0503020204020204" charset="-122"/>
                <a:ea typeface="微软雅黑" panose="020B0503020204020204" charset="-122"/>
                <a:sym typeface="+mn-ea"/>
              </a:rPr>
              <a:t>IF</a:t>
            </a:r>
            <a:r>
              <a:rPr lang="zh-CN" altLang="en-US" sz="2000" dirty="0">
                <a:latin typeface="微软雅黑" panose="020B0503020204020204" charset="-122"/>
                <a:ea typeface="微软雅黑" panose="020B0503020204020204" charset="-122"/>
                <a:sym typeface="+mn-ea"/>
              </a:rPr>
              <a:t>语句及</a:t>
            </a:r>
            <a:r>
              <a:rPr lang="en-US" sz="2000" dirty="0">
                <a:latin typeface="微软雅黑" panose="020B0503020204020204" charset="-122"/>
                <a:ea typeface="微软雅黑" panose="020B0503020204020204" charset="-122"/>
                <a:sym typeface="+mn-ea"/>
              </a:rPr>
              <a:t>While</a:t>
            </a:r>
            <a:r>
              <a:rPr lang="zh-CN" altLang="en-US" sz="2000" dirty="0">
                <a:latin typeface="微软雅黑" panose="020B0503020204020204" charset="-122"/>
                <a:ea typeface="微软雅黑" panose="020B0503020204020204" charset="-122"/>
                <a:sym typeface="+mn-ea"/>
              </a:rPr>
              <a:t>、</a:t>
            </a:r>
            <a:r>
              <a:rPr lang="en-US" sz="2000" dirty="0">
                <a:latin typeface="微软雅黑" panose="020B0503020204020204" charset="-122"/>
                <a:ea typeface="微软雅黑" panose="020B0503020204020204" charset="-122"/>
                <a:sym typeface="+mn-ea"/>
              </a:rPr>
              <a:t>For</a:t>
            </a:r>
            <a:r>
              <a:rPr lang="zh-CN" altLang="en-US" sz="2000" dirty="0">
                <a:latin typeface="微软雅黑" panose="020B0503020204020204" charset="-122"/>
                <a:ea typeface="微软雅黑" panose="020B0503020204020204" charset="-122"/>
                <a:sym typeface="+mn-ea"/>
              </a:rPr>
              <a:t>或</a:t>
            </a:r>
            <a:r>
              <a:rPr lang="en-US" sz="2000" dirty="0">
                <a:latin typeface="微软雅黑" panose="020B0503020204020204" charset="-122"/>
                <a:ea typeface="微软雅黑" panose="020B0503020204020204" charset="-122"/>
                <a:sym typeface="+mn-ea"/>
              </a:rPr>
              <a:t>Repeat</a:t>
            </a:r>
            <a:r>
              <a:rPr lang="zh-CN" altLang="en-US" sz="2000" dirty="0">
                <a:latin typeface="微软雅黑" panose="020B0503020204020204" charset="-122"/>
                <a:ea typeface="微软雅黑" panose="020B0503020204020204" charset="-122"/>
                <a:sym typeface="+mn-ea"/>
              </a:rPr>
              <a:t>循环语句的判定结点数为</a:t>
            </a:r>
            <a:r>
              <a:rPr lang="en-US" sz="2000" dirty="0">
                <a:latin typeface="微软雅黑" panose="020B0503020204020204" charset="-122"/>
                <a:ea typeface="微软雅黑" panose="020B0503020204020204" charset="-122"/>
                <a:sym typeface="+mn-ea"/>
              </a:rPr>
              <a:t>1</a:t>
            </a:r>
            <a:r>
              <a:rPr lang="zh-CN" altLang="en-US" sz="2000" dirty="0">
                <a:latin typeface="微软雅黑" panose="020B0503020204020204" charset="-122"/>
                <a:ea typeface="微软雅黑" panose="020B0503020204020204" charset="-122"/>
                <a:sym typeface="+mn-ea"/>
              </a:rPr>
              <a:t>，而</a:t>
            </a:r>
            <a:r>
              <a:rPr lang="en-US" sz="2000" dirty="0">
                <a:latin typeface="微软雅黑" panose="020B0503020204020204" charset="-122"/>
                <a:ea typeface="微软雅黑" panose="020B0503020204020204" charset="-122"/>
                <a:sym typeface="+mn-ea"/>
              </a:rPr>
              <a:t>Case</a:t>
            </a:r>
            <a:r>
              <a:rPr lang="zh-CN" altLang="en-US" sz="2000" dirty="0">
                <a:latin typeface="微软雅黑" panose="020B0503020204020204" charset="-122"/>
                <a:ea typeface="微软雅黑" panose="020B0503020204020204" charset="-122"/>
                <a:sym typeface="+mn-ea"/>
              </a:rPr>
              <a:t>型等多分支语句的判定结点数等于可能的分支数减去</a:t>
            </a:r>
            <a:r>
              <a:rPr lang="en-US" sz="2000" dirty="0">
                <a:latin typeface="微软雅黑" panose="020B0503020204020204" charset="-122"/>
                <a:ea typeface="微软雅黑" panose="020B0503020204020204" charset="-122"/>
                <a:sym typeface="+mn-ea"/>
              </a:rPr>
              <a:t>1</a:t>
            </a:r>
            <a:r>
              <a:rPr lang="zh-CN" altLang="en-US" sz="2000" dirty="0">
                <a:latin typeface="微软雅黑" panose="020B0503020204020204" charset="-122"/>
                <a:ea typeface="微软雅黑" panose="020B0503020204020204" charset="-122"/>
                <a:sym typeface="+mn-ea"/>
              </a:rPr>
              <a:t>。</a:t>
            </a:r>
          </a:p>
          <a:p>
            <a:pPr>
              <a:lnSpc>
                <a:spcPct val="130000"/>
              </a:lnSpc>
            </a:pPr>
            <a:r>
              <a:rPr lang="zh-CN" altLang="en-US" sz="2000" dirty="0">
                <a:latin typeface="微软雅黑" panose="020B0503020204020204" charset="-122"/>
                <a:ea typeface="微软雅黑" panose="020B0503020204020204" charset="-122"/>
                <a:sym typeface="+mn-ea"/>
              </a:rPr>
              <a:t>（</a:t>
            </a:r>
            <a:r>
              <a:rPr lang="en-US" sz="2000" dirty="0">
                <a:latin typeface="微软雅黑" panose="020B0503020204020204" charset="-122"/>
                <a:ea typeface="微软雅黑" panose="020B0503020204020204" charset="-122"/>
                <a:sym typeface="+mn-ea"/>
              </a:rPr>
              <a:t>3</a:t>
            </a:r>
            <a:r>
              <a:rPr lang="zh-CN" altLang="en-US" sz="2000" dirty="0">
                <a:latin typeface="微软雅黑" panose="020B0503020204020204" charset="-122"/>
                <a:ea typeface="微软雅黑" panose="020B0503020204020204" charset="-122"/>
                <a:sym typeface="+mn-ea"/>
              </a:rPr>
              <a:t>）</a:t>
            </a:r>
            <a:r>
              <a:rPr lang="zh-CN" altLang="en-US" sz="2000" dirty="0">
                <a:solidFill>
                  <a:srgbClr val="0070C0"/>
                </a:solidFill>
                <a:latin typeface="微软雅黑" panose="020B0503020204020204" charset="-122"/>
                <a:ea typeface="微软雅黑" panose="020B0503020204020204" charset="-122"/>
                <a:sym typeface="+mn-ea"/>
              </a:rPr>
              <a:t>环形复杂度等于强连通的程序图中线性无关的有向环的个数。</a:t>
            </a:r>
          </a:p>
          <a:p>
            <a:pPr>
              <a:lnSpc>
                <a:spcPct val="130000"/>
              </a:lnSpc>
            </a:pPr>
            <a:r>
              <a:rPr lang="zh-CN" altLang="en-US" sz="2000" dirty="0">
                <a:latin typeface="微软雅黑" panose="020B0503020204020204" charset="-122"/>
                <a:ea typeface="微软雅黑" panose="020B0503020204020204" charset="-122"/>
                <a:sym typeface="+mn-ea"/>
              </a:rPr>
              <a:t>        根据图论，在一个强连通的程序图中，线性无关环的个数按下式计算：</a:t>
            </a:r>
          </a:p>
          <a:p>
            <a:pPr>
              <a:lnSpc>
                <a:spcPct val="130000"/>
              </a:lnSpc>
            </a:pPr>
            <a:r>
              <a:rPr lang="zh-CN" altLang="en-US" sz="2000" dirty="0">
                <a:latin typeface="微软雅黑" panose="020B0503020204020204" charset="-122"/>
                <a:ea typeface="微软雅黑" panose="020B0503020204020204" charset="-122"/>
                <a:sym typeface="+mn-ea"/>
              </a:rPr>
              <a:t>其中，</a:t>
            </a:r>
            <a:r>
              <a:rPr lang="en-US" sz="2000" dirty="0">
                <a:latin typeface="微软雅黑" panose="020B0503020204020204" charset="-122"/>
                <a:ea typeface="微软雅黑" panose="020B0503020204020204" charset="-122"/>
                <a:sym typeface="+mn-ea"/>
              </a:rPr>
              <a:t> </a:t>
            </a:r>
            <a:r>
              <a:rPr lang="zh-CN" altLang="en-US" sz="2000" dirty="0">
                <a:latin typeface="微软雅黑" panose="020B0503020204020204" charset="-122"/>
                <a:ea typeface="微软雅黑" panose="020B0503020204020204" charset="-122"/>
                <a:sym typeface="+mn-ea"/>
              </a:rPr>
              <a:t>是强连通的程序图</a:t>
            </a:r>
            <a:r>
              <a:rPr lang="en-US"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中的环数，</a:t>
            </a:r>
            <a:r>
              <a:rPr lang="en-US" sz="2000" dirty="0">
                <a:latin typeface="微软雅黑" panose="020B0503020204020204" charset="-122"/>
                <a:ea typeface="微软雅黑" panose="020B0503020204020204" charset="-122"/>
                <a:sym typeface="+mn-ea"/>
              </a:rPr>
              <a:t>m</a:t>
            </a:r>
            <a:r>
              <a:rPr lang="zh-CN" altLang="en-US" sz="2000" dirty="0">
                <a:latin typeface="微软雅黑" panose="020B0503020204020204" charset="-122"/>
                <a:ea typeface="微软雅黑" panose="020B0503020204020204" charset="-122"/>
                <a:sym typeface="+mn-ea"/>
              </a:rPr>
              <a:t>是程序图</a:t>
            </a:r>
            <a:r>
              <a:rPr lang="en-US"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中的弧数，</a:t>
            </a:r>
            <a:r>
              <a:rPr lang="en-US" sz="2000" dirty="0">
                <a:latin typeface="微软雅黑" panose="020B0503020204020204" charset="-122"/>
                <a:ea typeface="微软雅黑" panose="020B0503020204020204" charset="-122"/>
                <a:sym typeface="+mn-ea"/>
              </a:rPr>
              <a:t>n</a:t>
            </a:r>
            <a:r>
              <a:rPr lang="zh-CN" altLang="en-US" sz="2000" dirty="0">
                <a:latin typeface="微软雅黑" panose="020B0503020204020204" charset="-122"/>
                <a:ea typeface="微软雅黑" panose="020B0503020204020204" charset="-122"/>
                <a:sym typeface="+mn-ea"/>
              </a:rPr>
              <a:t>是程序图</a:t>
            </a:r>
            <a:r>
              <a:rPr lang="en-US"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中的结点数。</a:t>
            </a:r>
          </a:p>
        </p:txBody>
      </p:sp>
      <p:graphicFrame>
        <p:nvGraphicFramePr>
          <p:cNvPr id="6" name="对象 5"/>
          <p:cNvGraphicFramePr>
            <a:graphicFrameLocks noChangeAspect="1"/>
          </p:cNvGraphicFramePr>
          <p:nvPr/>
        </p:nvGraphicFramePr>
        <p:xfrm>
          <a:off x="5737895" y="2819400"/>
          <a:ext cx="1762725" cy="365443"/>
        </p:xfrm>
        <a:graphic>
          <a:graphicData uri="http://schemas.openxmlformats.org/presentationml/2006/ole">
            <mc:AlternateContent xmlns:mc="http://schemas.openxmlformats.org/markup-compatibility/2006">
              <mc:Choice xmlns:v="urn:schemas-microsoft-com:vml" Requires="v">
                <p:oleObj name="公式" r:id="rId3" imgW="24993600" imgH="5181600" progId="">
                  <p:embed/>
                </p:oleObj>
              </mc:Choice>
              <mc:Fallback>
                <p:oleObj name="公式" r:id="rId3" imgW="24993600" imgH="5181600" progId="">
                  <p:embed/>
                  <p:pic>
                    <p:nvPicPr>
                      <p:cNvPr id="0"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37895" y="2819400"/>
                        <a:ext cx="1762725" cy="36544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 name="对象 7"/>
          <p:cNvGraphicFramePr>
            <a:graphicFrameLocks noChangeAspect="1"/>
          </p:cNvGraphicFramePr>
          <p:nvPr/>
        </p:nvGraphicFramePr>
        <p:xfrm>
          <a:off x="9407971" y="3611880"/>
          <a:ext cx="1166049" cy="319723"/>
        </p:xfrm>
        <a:graphic>
          <a:graphicData uri="http://schemas.openxmlformats.org/presentationml/2006/ole">
            <mc:AlternateContent xmlns:mc="http://schemas.openxmlformats.org/markup-compatibility/2006">
              <mc:Choice xmlns:v="urn:schemas-microsoft-com:vml" Requires="v">
                <p:oleObj name="公式" r:id="rId5" imgW="18897600" imgH="5181600" progId="">
                  <p:embed/>
                </p:oleObj>
              </mc:Choice>
              <mc:Fallback>
                <p:oleObj name="公式" r:id="rId5" imgW="18897600" imgH="5181600" progId="">
                  <p:embed/>
                  <p:pic>
                    <p:nvPicPr>
                      <p:cNvPr id="0"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407971" y="3611880"/>
                        <a:ext cx="1166049" cy="31972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1187" name="Object 3"/>
          <p:cNvGraphicFramePr>
            <a:graphicFrameLocks noChangeAspect="1"/>
          </p:cNvGraphicFramePr>
          <p:nvPr/>
        </p:nvGraphicFramePr>
        <p:xfrm>
          <a:off x="9967278" y="5153343"/>
          <a:ext cx="1720850" cy="366712"/>
        </p:xfrm>
        <a:graphic>
          <a:graphicData uri="http://schemas.openxmlformats.org/presentationml/2006/ole">
            <mc:AlternateContent xmlns:mc="http://schemas.openxmlformats.org/markup-compatibility/2006">
              <mc:Choice xmlns:v="urn:schemas-microsoft-com:vml" Requires="v">
                <p:oleObj name="公式" r:id="rId7" imgW="24384000" imgH="5181600" progId="">
                  <p:embed/>
                </p:oleObj>
              </mc:Choice>
              <mc:Fallback>
                <p:oleObj name="公式" r:id="rId7" imgW="24384000" imgH="5181600" progId="">
                  <p:embed/>
                  <p:pic>
                    <p:nvPicPr>
                      <p:cNvPr id="0" name="Picture 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967278" y="5153343"/>
                        <a:ext cx="1720850" cy="366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ransition>
    <p:pull dir="rd"/>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4" name="文本占位符 3">
            <a:extLst>
              <a:ext uri="{FF2B5EF4-FFF2-40B4-BE49-F238E27FC236}">
                <a16:creationId xmlns:a16="http://schemas.microsoft.com/office/drawing/2014/main" id="{4E0CB161-E4C9-BE55-28F6-D626D526DFF9}"/>
              </a:ext>
            </a:extLst>
          </p:cNvPr>
          <p:cNvSpPr>
            <a:spLocks noGrp="1"/>
          </p:cNvSpPr>
          <p:nvPr>
            <p:ph type="body" sz="quarter" idx="10"/>
          </p:nvPr>
        </p:nvSpPr>
        <p:spPr>
          <a:xfrm>
            <a:off x="696000" y="1322832"/>
            <a:ext cx="11160000" cy="400110"/>
          </a:xfrm>
        </p:spPr>
        <p:txBody>
          <a:bodyPr/>
          <a:lstStyle/>
          <a:p>
            <a:r>
              <a:rPr lang="en-US" altLang="zh-CN" dirty="0"/>
              <a:t>4.5.5 </a:t>
            </a:r>
            <a:r>
              <a:rPr lang="zh-CN" altLang="en-US" dirty="0"/>
              <a:t>程序环形复杂程度的度量</a:t>
            </a:r>
          </a:p>
        </p:txBody>
      </p:sp>
      <p:sp>
        <p:nvSpPr>
          <p:cNvPr id="9" name="文本占位符 8">
            <a:extLst>
              <a:ext uri="{FF2B5EF4-FFF2-40B4-BE49-F238E27FC236}">
                <a16:creationId xmlns:a16="http://schemas.microsoft.com/office/drawing/2014/main" id="{AC662477-46B0-483C-2624-F9F2BB78C099}"/>
              </a:ext>
            </a:extLst>
          </p:cNvPr>
          <p:cNvSpPr>
            <a:spLocks noGrp="1"/>
          </p:cNvSpPr>
          <p:nvPr>
            <p:ph type="body" sz="quarter" idx="11"/>
          </p:nvPr>
        </p:nvSpPr>
        <p:spPr/>
        <p:txBody>
          <a:bodyPr/>
          <a:lstStyle/>
          <a:p>
            <a:endParaRPr lang="zh-CN" altLang="en-US"/>
          </a:p>
        </p:txBody>
      </p:sp>
      <p:sp>
        <p:nvSpPr>
          <p:cNvPr id="100" name="文本框 99"/>
          <p:cNvSpPr txBox="1"/>
          <p:nvPr/>
        </p:nvSpPr>
        <p:spPr>
          <a:xfrm>
            <a:off x="1503680" y="2378710"/>
            <a:ext cx="9857105" cy="2893100"/>
          </a:xfrm>
          <a:prstGeom prst="rect">
            <a:avLst/>
          </a:prstGeom>
          <a:noFill/>
          <a:ln w="9525">
            <a:noFill/>
          </a:ln>
        </p:spPr>
        <p:txBody>
          <a:bodyPr wrap="square">
            <a:spAutoFit/>
          </a:bodyPr>
          <a:lstStyle/>
          <a:p>
            <a:pPr>
              <a:lnSpc>
                <a:spcPct val="130000"/>
              </a:lnSpc>
            </a:pPr>
            <a:r>
              <a:rPr lang="zh-CN" altLang="en-US" sz="2000" dirty="0">
                <a:latin typeface="微软雅黑" panose="020B0503020204020204" charset="-122"/>
                <a:ea typeface="微软雅黑" panose="020B0503020204020204" charset="-122"/>
                <a:sym typeface="+mn-ea"/>
              </a:rPr>
              <a:t>       所谓</a:t>
            </a:r>
            <a:r>
              <a:rPr lang="zh-CN" altLang="en-US" sz="2000" dirty="0">
                <a:solidFill>
                  <a:srgbClr val="C00000"/>
                </a:solidFill>
                <a:latin typeface="微软雅黑" panose="020B0503020204020204" charset="-122"/>
                <a:ea typeface="微软雅黑" panose="020B0503020204020204" charset="-122"/>
                <a:sym typeface="+mn-ea"/>
              </a:rPr>
              <a:t>强连通图</a:t>
            </a:r>
            <a:r>
              <a:rPr lang="zh-CN" altLang="en-US" sz="2000" dirty="0">
                <a:latin typeface="微软雅黑" panose="020B0503020204020204" charset="-122"/>
                <a:ea typeface="微软雅黑" panose="020B0503020204020204" charset="-122"/>
                <a:sym typeface="+mn-ea"/>
              </a:rPr>
              <a:t>，</a:t>
            </a:r>
            <a:r>
              <a:rPr lang="zh-CN" altLang="en-US" sz="2000" dirty="0">
                <a:solidFill>
                  <a:srgbClr val="0070C0"/>
                </a:solidFill>
                <a:latin typeface="微软雅黑" panose="020B0503020204020204" charset="-122"/>
                <a:ea typeface="微软雅黑" panose="020B0503020204020204" charset="-122"/>
                <a:sym typeface="+mn-ea"/>
              </a:rPr>
              <a:t>是指从图中任一结点出发都可以到达所有其他结点。</a:t>
            </a:r>
            <a:r>
              <a:rPr lang="zh-CN" altLang="en-US" sz="2000" dirty="0">
                <a:solidFill>
                  <a:srgbClr val="00B050"/>
                </a:solidFill>
                <a:latin typeface="微软雅黑" panose="020B0503020204020204" charset="-122"/>
                <a:ea typeface="微软雅黑" panose="020B0503020204020204" charset="-122"/>
                <a:sym typeface="+mn-ea"/>
              </a:rPr>
              <a:t>通常将程序图中开始点后面的结点称为入口点，将停止点前面的结点称为出口点。程序图通常不是强连通的，从靠近出口的结点往往不能到达较高的结点。如果从出口点到入口点画一条虚弧，则程序图必然成为强连通的</a:t>
            </a:r>
            <a:r>
              <a:rPr lang="zh-CN" altLang="en-US" sz="2000" dirty="0">
                <a:latin typeface="微软雅黑" panose="020B0503020204020204" charset="-122"/>
                <a:ea typeface="微软雅黑" panose="020B0503020204020204" charset="-122"/>
                <a:sym typeface="+mn-ea"/>
              </a:rPr>
              <a:t>，其理由如下：</a:t>
            </a:r>
          </a:p>
          <a:p>
            <a:pPr>
              <a:lnSpc>
                <a:spcPct val="130000"/>
              </a:lnSpc>
              <a:buFont typeface="Wingdings" panose="05000000000000000000" pitchFamily="2" charset="2"/>
              <a:buChar char="Ø"/>
            </a:pPr>
            <a:r>
              <a:rPr lang="zh-CN" altLang="en-US" sz="2000" dirty="0">
                <a:latin typeface="微软雅黑" panose="020B0503020204020204" charset="-122"/>
                <a:ea typeface="微软雅黑" panose="020B0503020204020204" charset="-122"/>
                <a:sym typeface="+mn-ea"/>
              </a:rPr>
              <a:t> 从入口点总能到达图中任何一点。</a:t>
            </a:r>
          </a:p>
          <a:p>
            <a:pPr>
              <a:lnSpc>
                <a:spcPct val="130000"/>
              </a:lnSpc>
              <a:buFont typeface="Wingdings" panose="05000000000000000000" pitchFamily="2" charset="2"/>
              <a:buChar char="Ø"/>
            </a:pPr>
            <a:r>
              <a:rPr lang="zh-CN" altLang="en-US" sz="2000" dirty="0">
                <a:latin typeface="微软雅黑" panose="020B0503020204020204" charset="-122"/>
                <a:ea typeface="微软雅黑" panose="020B0503020204020204" charset="-122"/>
                <a:sym typeface="+mn-ea"/>
              </a:rPr>
              <a:t> 从图中任何一点总能到达出口点。</a:t>
            </a:r>
          </a:p>
          <a:p>
            <a:pPr>
              <a:lnSpc>
                <a:spcPct val="130000"/>
              </a:lnSpc>
              <a:buFont typeface="Wingdings" panose="05000000000000000000" pitchFamily="2" charset="2"/>
              <a:buChar char="Ø"/>
            </a:pPr>
            <a:r>
              <a:rPr lang="zh-CN" altLang="en-US" sz="2000" dirty="0">
                <a:latin typeface="微软雅黑" panose="020B0503020204020204" charset="-122"/>
                <a:ea typeface="微软雅黑" panose="020B0503020204020204" charset="-122"/>
                <a:sym typeface="+mn-ea"/>
              </a:rPr>
              <a:t> 经过从出口点到入口点的弧，可以从出口点到达入口点。</a:t>
            </a:r>
          </a:p>
        </p:txBody>
      </p:sp>
    </p:spTree>
  </p:cSld>
  <p:clrMapOvr>
    <a:masterClrMapping/>
  </p:clrMapOvr>
  <p:transition>
    <p:pull dir="rd"/>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4" name="文本占位符 3">
            <a:extLst>
              <a:ext uri="{FF2B5EF4-FFF2-40B4-BE49-F238E27FC236}">
                <a16:creationId xmlns:a16="http://schemas.microsoft.com/office/drawing/2014/main" id="{623460D1-2ECA-98C7-80D1-7819289D1D51}"/>
              </a:ext>
            </a:extLst>
          </p:cNvPr>
          <p:cNvSpPr>
            <a:spLocks noGrp="1"/>
          </p:cNvSpPr>
          <p:nvPr>
            <p:ph type="body" sz="quarter" idx="10"/>
          </p:nvPr>
        </p:nvSpPr>
        <p:spPr/>
        <p:txBody>
          <a:bodyPr/>
          <a:lstStyle/>
          <a:p>
            <a:r>
              <a:rPr lang="en-US" altLang="zh-CN" dirty="0"/>
              <a:t>4.5.5 </a:t>
            </a:r>
            <a:r>
              <a:rPr lang="zh-CN" altLang="en-US" dirty="0"/>
              <a:t>程序环形复杂程度的度量</a:t>
            </a:r>
          </a:p>
        </p:txBody>
      </p:sp>
      <p:sp>
        <p:nvSpPr>
          <p:cNvPr id="5" name="文本占位符 4">
            <a:extLst>
              <a:ext uri="{FF2B5EF4-FFF2-40B4-BE49-F238E27FC236}">
                <a16:creationId xmlns:a16="http://schemas.microsoft.com/office/drawing/2014/main" id="{0B20F55E-599C-20BC-A14B-BC8A27F8E208}"/>
              </a:ext>
            </a:extLst>
          </p:cNvPr>
          <p:cNvSpPr>
            <a:spLocks noGrp="1"/>
          </p:cNvSpPr>
          <p:nvPr>
            <p:ph type="body" sz="quarter" idx="11"/>
          </p:nvPr>
        </p:nvSpPr>
        <p:spPr/>
        <p:txBody>
          <a:bodyPr/>
          <a:lstStyle/>
          <a:p>
            <a:endParaRPr lang="zh-CN" altLang="en-US"/>
          </a:p>
        </p:txBody>
      </p:sp>
      <p:sp>
        <p:nvSpPr>
          <p:cNvPr id="100" name="文本框 99"/>
          <p:cNvSpPr txBox="1"/>
          <p:nvPr/>
        </p:nvSpPr>
        <p:spPr>
          <a:xfrm>
            <a:off x="1412240" y="2195830"/>
            <a:ext cx="9857105" cy="2893100"/>
          </a:xfrm>
          <a:prstGeom prst="rect">
            <a:avLst/>
          </a:prstGeom>
          <a:noFill/>
          <a:ln w="9525">
            <a:noFill/>
          </a:ln>
        </p:spPr>
        <p:txBody>
          <a:bodyPr wrap="square">
            <a:spAutoFit/>
          </a:bodyPr>
          <a:lstStyle/>
          <a:p>
            <a:pPr>
              <a:lnSpc>
                <a:spcPct val="130000"/>
              </a:lnSpc>
            </a:pPr>
            <a:r>
              <a:rPr lang="zh-CN" altLang="en-US" sz="2000" dirty="0">
                <a:latin typeface="微软雅黑" panose="020B0503020204020204" charset="-122"/>
                <a:ea typeface="微软雅黑" panose="020B0503020204020204" charset="-122"/>
                <a:sym typeface="+mn-ea"/>
              </a:rPr>
              <a:t>       由于要从程序图构成线性无关有向环，需要添加一条虚弧，所以实际计算环形复杂度的计算公式为</a:t>
            </a:r>
            <a:endParaRPr lang="en-US" altLang="zh-CN" sz="2000" dirty="0">
              <a:latin typeface="微软雅黑" panose="020B0503020204020204" charset="-122"/>
              <a:ea typeface="微软雅黑" panose="020B0503020204020204" charset="-122"/>
              <a:sym typeface="+mn-ea"/>
            </a:endParaRPr>
          </a:p>
          <a:p>
            <a:pPr>
              <a:lnSpc>
                <a:spcPct val="130000"/>
              </a:lnSpc>
            </a:pPr>
            <a:endParaRPr lang="zh-CN" altLang="en-US" sz="2000" dirty="0">
              <a:latin typeface="微软雅黑" panose="020B0503020204020204" charset="-122"/>
              <a:ea typeface="微软雅黑" panose="020B0503020204020204" charset="-122"/>
              <a:sym typeface="+mn-ea"/>
            </a:endParaRPr>
          </a:p>
          <a:p>
            <a:pPr>
              <a:lnSpc>
                <a:spcPct val="130000"/>
              </a:lnSpc>
            </a:pPr>
            <a:r>
              <a:rPr lang="zh-CN" altLang="en-US" sz="2000" dirty="0">
                <a:latin typeface="微软雅黑" panose="020B0503020204020204" charset="-122"/>
                <a:ea typeface="微软雅黑" panose="020B0503020204020204" charset="-122"/>
                <a:sym typeface="+mn-ea"/>
              </a:rPr>
              <a:t>       其中，        是强连通的程序图</a:t>
            </a:r>
            <a:r>
              <a:rPr lang="en-US" altLang="zh-CN"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中的环数，</a:t>
            </a:r>
            <a:r>
              <a:rPr lang="en-US" altLang="zh-CN" sz="2000" dirty="0">
                <a:latin typeface="微软雅黑" panose="020B0503020204020204" charset="-122"/>
                <a:ea typeface="微软雅黑" panose="020B0503020204020204" charset="-122"/>
                <a:sym typeface="+mn-ea"/>
              </a:rPr>
              <a:t>m</a:t>
            </a:r>
            <a:r>
              <a:rPr lang="zh-CN" altLang="en-US" sz="2000" dirty="0">
                <a:latin typeface="微软雅黑" panose="020B0503020204020204" charset="-122"/>
                <a:ea typeface="微软雅黑" panose="020B0503020204020204" charset="-122"/>
                <a:sym typeface="+mn-ea"/>
              </a:rPr>
              <a:t>是程序图</a:t>
            </a:r>
            <a:r>
              <a:rPr lang="en-US" altLang="zh-CN"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中的弧数，</a:t>
            </a:r>
            <a:r>
              <a:rPr lang="en-US" altLang="zh-CN" sz="2000" dirty="0">
                <a:latin typeface="微软雅黑" panose="020B0503020204020204" charset="-122"/>
                <a:ea typeface="微软雅黑" panose="020B0503020204020204" charset="-122"/>
                <a:sym typeface="+mn-ea"/>
              </a:rPr>
              <a:t>n</a:t>
            </a:r>
            <a:r>
              <a:rPr lang="zh-CN" altLang="en-US" sz="2000" dirty="0">
                <a:latin typeface="微软雅黑" panose="020B0503020204020204" charset="-122"/>
                <a:ea typeface="微软雅黑" panose="020B0503020204020204" charset="-122"/>
                <a:sym typeface="+mn-ea"/>
              </a:rPr>
              <a:t>是程序图</a:t>
            </a:r>
            <a:r>
              <a:rPr lang="en-US" altLang="zh-CN" sz="2000" dirty="0">
                <a:latin typeface="微软雅黑" panose="020B0503020204020204" charset="-122"/>
                <a:ea typeface="微软雅黑" panose="020B0503020204020204" charset="-122"/>
                <a:sym typeface="+mn-ea"/>
              </a:rPr>
              <a:t>G</a:t>
            </a:r>
            <a:r>
              <a:rPr lang="zh-CN" altLang="en-US" sz="2000" dirty="0">
                <a:latin typeface="微软雅黑" panose="020B0503020204020204" charset="-122"/>
                <a:ea typeface="微软雅黑" panose="020B0503020204020204" charset="-122"/>
                <a:sym typeface="+mn-ea"/>
              </a:rPr>
              <a:t>中的结点数。</a:t>
            </a:r>
          </a:p>
          <a:p>
            <a:pPr>
              <a:lnSpc>
                <a:spcPct val="130000"/>
              </a:lnSpc>
            </a:pPr>
            <a:r>
              <a:rPr lang="zh-CN" altLang="en-US" sz="2000" dirty="0">
                <a:latin typeface="微软雅黑" panose="020B0503020204020204" charset="-122"/>
                <a:ea typeface="微软雅黑" panose="020B0503020204020204" charset="-122"/>
                <a:sym typeface="+mn-ea"/>
              </a:rPr>
              <a:t>              越大，表明该程序越复杂。</a:t>
            </a:r>
            <a:r>
              <a:rPr lang="en-US" altLang="zh-CN" sz="2000" dirty="0">
                <a:latin typeface="微软雅黑" panose="020B0503020204020204" charset="-122"/>
                <a:ea typeface="微软雅黑" panose="020B0503020204020204" charset="-122"/>
                <a:sym typeface="+mn-ea"/>
              </a:rPr>
              <a:t>McCabe</a:t>
            </a:r>
            <a:r>
              <a:rPr lang="zh-CN" altLang="en-US" sz="2000" dirty="0">
                <a:latin typeface="微软雅黑" panose="020B0503020204020204" charset="-122"/>
                <a:ea typeface="微软雅黑" panose="020B0503020204020204" charset="-122"/>
                <a:sym typeface="+mn-ea"/>
              </a:rPr>
              <a:t>研究了大量程序后发现，         越大，程序越容易出错，测试难，维护也难。实践证明，模块规模以                  为宜。</a:t>
            </a:r>
          </a:p>
        </p:txBody>
      </p:sp>
      <p:graphicFrame>
        <p:nvGraphicFramePr>
          <p:cNvPr id="6" name="对象 5"/>
          <p:cNvGraphicFramePr>
            <a:graphicFrameLocks noChangeAspect="1"/>
          </p:cNvGraphicFramePr>
          <p:nvPr/>
        </p:nvGraphicFramePr>
        <p:xfrm>
          <a:off x="5265455" y="2987040"/>
          <a:ext cx="1762725" cy="365443"/>
        </p:xfrm>
        <a:graphic>
          <a:graphicData uri="http://schemas.openxmlformats.org/presentationml/2006/ole">
            <mc:AlternateContent xmlns:mc="http://schemas.openxmlformats.org/markup-compatibility/2006">
              <mc:Choice xmlns:v="urn:schemas-microsoft-com:vml" Requires="v">
                <p:oleObj name="公式" r:id="rId3" imgW="24993600" imgH="5181600" progId="">
                  <p:embed/>
                </p:oleObj>
              </mc:Choice>
              <mc:Fallback>
                <p:oleObj name="公式" r:id="rId3" imgW="24993600" imgH="5181600" progId="">
                  <p:embed/>
                  <p:pic>
                    <p:nvPicPr>
                      <p:cNvPr id="0"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65455" y="2987040"/>
                        <a:ext cx="1762725" cy="36544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5285" name="Object 5"/>
          <p:cNvGraphicFramePr>
            <a:graphicFrameLocks noChangeAspect="1"/>
          </p:cNvGraphicFramePr>
          <p:nvPr/>
        </p:nvGraphicFramePr>
        <p:xfrm>
          <a:off x="1932623" y="4267200"/>
          <a:ext cx="601662" cy="352425"/>
        </p:xfrm>
        <a:graphic>
          <a:graphicData uri="http://schemas.openxmlformats.org/presentationml/2006/ole">
            <mc:AlternateContent xmlns:mc="http://schemas.openxmlformats.org/markup-compatibility/2006">
              <mc:Choice xmlns:v="urn:schemas-microsoft-com:vml" Requires="v">
                <p:oleObj name="公式" r:id="rId5" imgW="8534400" imgH="5181600" progId="">
                  <p:embed/>
                </p:oleObj>
              </mc:Choice>
              <mc:Fallback>
                <p:oleObj name="公式" r:id="rId5" imgW="8534400" imgH="5181600" progId="">
                  <p:embed/>
                  <p:pic>
                    <p:nvPicPr>
                      <p:cNvPr id="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32623" y="4267200"/>
                        <a:ext cx="601662" cy="352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5286" name="Object 6"/>
          <p:cNvGraphicFramePr>
            <a:graphicFrameLocks noChangeAspect="1"/>
          </p:cNvGraphicFramePr>
          <p:nvPr/>
        </p:nvGraphicFramePr>
        <p:xfrm>
          <a:off x="2742248" y="3431223"/>
          <a:ext cx="601662" cy="352425"/>
        </p:xfrm>
        <a:graphic>
          <a:graphicData uri="http://schemas.openxmlformats.org/presentationml/2006/ole">
            <mc:AlternateContent xmlns:mc="http://schemas.openxmlformats.org/markup-compatibility/2006">
              <mc:Choice xmlns:v="urn:schemas-microsoft-com:vml" Requires="v">
                <p:oleObj name="公式" r:id="rId5" imgW="8534400" imgH="5181600" progId="">
                  <p:embed/>
                </p:oleObj>
              </mc:Choice>
              <mc:Fallback>
                <p:oleObj name="公式" r:id="rId5" imgW="8534400" imgH="5181600" progId="">
                  <p:embed/>
                  <p:pic>
                    <p:nvPicPr>
                      <p:cNvPr id="0"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42248" y="3431223"/>
                        <a:ext cx="601662" cy="352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5287" name="Object 7"/>
          <p:cNvGraphicFramePr>
            <a:graphicFrameLocks noChangeAspect="1"/>
          </p:cNvGraphicFramePr>
          <p:nvPr/>
        </p:nvGraphicFramePr>
        <p:xfrm>
          <a:off x="9371648" y="4284663"/>
          <a:ext cx="601662" cy="352425"/>
        </p:xfrm>
        <a:graphic>
          <a:graphicData uri="http://schemas.openxmlformats.org/presentationml/2006/ole">
            <mc:AlternateContent xmlns:mc="http://schemas.openxmlformats.org/markup-compatibility/2006">
              <mc:Choice xmlns:v="urn:schemas-microsoft-com:vml" Requires="v">
                <p:oleObj name="公式" r:id="rId5" imgW="8534400" imgH="5181600" progId="">
                  <p:embed/>
                </p:oleObj>
              </mc:Choice>
              <mc:Fallback>
                <p:oleObj name="公式" r:id="rId5" imgW="8534400" imgH="5181600" progId="">
                  <p:embed/>
                  <p:pic>
                    <p:nvPicPr>
                      <p:cNvPr id="0"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71648" y="4284663"/>
                        <a:ext cx="601662" cy="352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5288" name="Object 8"/>
          <p:cNvGraphicFramePr>
            <a:graphicFrameLocks noChangeAspect="1"/>
          </p:cNvGraphicFramePr>
          <p:nvPr/>
        </p:nvGraphicFramePr>
        <p:xfrm>
          <a:off x="8267065" y="4680903"/>
          <a:ext cx="1074738" cy="352425"/>
        </p:xfrm>
        <a:graphic>
          <a:graphicData uri="http://schemas.openxmlformats.org/presentationml/2006/ole">
            <mc:AlternateContent xmlns:mc="http://schemas.openxmlformats.org/markup-compatibility/2006">
              <mc:Choice xmlns:v="urn:schemas-microsoft-com:vml" Requires="v">
                <p:oleObj name="公式" r:id="rId7" imgW="15240000" imgH="5181600" progId="">
                  <p:embed/>
                </p:oleObj>
              </mc:Choice>
              <mc:Fallback>
                <p:oleObj name="公式" r:id="rId7" imgW="15240000" imgH="5181600" progId="">
                  <p:embed/>
                  <p:pic>
                    <p:nvPicPr>
                      <p:cNvPr id="0" name="Picture 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67065" y="4680903"/>
                        <a:ext cx="1074738" cy="352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文本框 6"/>
          <p:cNvSpPr txBox="1"/>
          <p:nvPr/>
        </p:nvSpPr>
        <p:spPr>
          <a:xfrm>
            <a:off x="738491" y="2272030"/>
            <a:ext cx="461665" cy="3565400"/>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4.5.5 </a:t>
            </a:r>
            <a:r>
              <a:rPr lang="zh-CN" altLang="en-US" spc="160" dirty="0">
                <a:solidFill>
                  <a:schemeClr val="bg1"/>
                </a:solidFill>
                <a:latin typeface="微软雅黑" panose="020B0503020204020204" charset="-122"/>
                <a:ea typeface="微软雅黑" panose="020B0503020204020204" charset="-122"/>
              </a:rPr>
              <a:t>程序环形复杂程度的度量</a:t>
            </a:r>
          </a:p>
        </p:txBody>
      </p:sp>
    </p:spTree>
  </p:cSld>
  <p:clrMapOvr>
    <a:masterClrMapping/>
  </p:clrMapOvr>
  <p:transition>
    <p:pull dir="rd"/>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7" name="文本占位符 6">
            <a:extLst>
              <a:ext uri="{FF2B5EF4-FFF2-40B4-BE49-F238E27FC236}">
                <a16:creationId xmlns:a16="http://schemas.microsoft.com/office/drawing/2014/main" id="{51401981-883A-CB99-3658-29EE921ADB44}"/>
              </a:ext>
            </a:extLst>
          </p:cNvPr>
          <p:cNvSpPr>
            <a:spLocks noGrp="1"/>
          </p:cNvSpPr>
          <p:nvPr>
            <p:ph type="body" sz="quarter" idx="10"/>
          </p:nvPr>
        </p:nvSpPr>
        <p:spPr>
          <a:xfrm>
            <a:off x="696000" y="1322832"/>
            <a:ext cx="11160000" cy="400110"/>
          </a:xfrm>
        </p:spPr>
        <p:txBody>
          <a:bodyPr/>
          <a:lstStyle/>
          <a:p>
            <a:r>
              <a:rPr lang="zh-CN" altLang="en-US" dirty="0"/>
              <a:t>案例</a:t>
            </a:r>
            <a:r>
              <a:rPr lang="en-US" altLang="zh-CN" dirty="0"/>
              <a:t> 4-2</a:t>
            </a:r>
            <a:r>
              <a:rPr lang="zh-CN" altLang="en-US" dirty="0"/>
              <a:t>：</a:t>
            </a:r>
            <a:r>
              <a:rPr lang="zh-CN" altLang="en-US" dirty="0">
                <a:sym typeface="+mn-ea"/>
              </a:rPr>
              <a:t>计算程序环形复杂度。</a:t>
            </a:r>
          </a:p>
        </p:txBody>
      </p:sp>
      <p:sp>
        <p:nvSpPr>
          <p:cNvPr id="14" name="文本占位符 13">
            <a:extLst>
              <a:ext uri="{FF2B5EF4-FFF2-40B4-BE49-F238E27FC236}">
                <a16:creationId xmlns:a16="http://schemas.microsoft.com/office/drawing/2014/main" id="{33BF0D51-2AC9-61B2-1CB8-26B4F5FD502B}"/>
              </a:ext>
            </a:extLst>
          </p:cNvPr>
          <p:cNvSpPr>
            <a:spLocks noGrp="1"/>
          </p:cNvSpPr>
          <p:nvPr>
            <p:ph type="body" sz="quarter" idx="11"/>
          </p:nvPr>
        </p:nvSpPr>
        <p:spPr/>
        <p:txBody>
          <a:bodyPr/>
          <a:lstStyle/>
          <a:p>
            <a:endParaRPr lang="zh-CN" altLang="en-US"/>
          </a:p>
        </p:txBody>
      </p:sp>
      <p:sp>
        <p:nvSpPr>
          <p:cNvPr id="34" name="TextBox 33"/>
          <p:cNvSpPr txBox="1"/>
          <p:nvPr/>
        </p:nvSpPr>
        <p:spPr>
          <a:xfrm>
            <a:off x="1488000" y="2520000"/>
            <a:ext cx="9216000" cy="2590737"/>
          </a:xfrm>
          <a:prstGeom prst="rect">
            <a:avLst/>
          </a:prstGeom>
          <a:solidFill>
            <a:schemeClr val="bg1">
              <a:lumMod val="95000"/>
            </a:schemeClr>
          </a:solidFill>
        </p:spPr>
        <p:txBody>
          <a:bodyPr wrap="square" lIns="144000" tIns="144000" rIns="144000" bIns="144000">
            <a:spAutoFit/>
          </a:bodyPr>
          <a:lstStyle/>
          <a:p>
            <a:pPr algn="just" fontAlgn="auto">
              <a:lnSpc>
                <a:spcPct val="120000"/>
              </a:lnSpc>
            </a:pPr>
            <a:r>
              <a:rPr lang="zh-CN" altLang="en-US" dirty="0"/>
              <a:t>拟设计一个对计算机应用能力考试成绩进行统计的程序。数据输入要求：连续输入考试成绩，最后以输入0分或负分为结束。</a:t>
            </a:r>
            <a:endParaRPr lang="en-US" altLang="zh-CN" dirty="0"/>
          </a:p>
          <a:p>
            <a:pPr algn="just" fontAlgn="auto">
              <a:lnSpc>
                <a:spcPct val="120000"/>
              </a:lnSpc>
            </a:pPr>
            <a:r>
              <a:rPr lang="zh-CN" altLang="en-US" dirty="0"/>
              <a:t>规定：</a:t>
            </a:r>
            <a:endParaRPr lang="en-US" altLang="zh-CN" dirty="0"/>
          </a:p>
          <a:p>
            <a:pPr algn="just" fontAlgn="auto">
              <a:lnSpc>
                <a:spcPct val="120000"/>
              </a:lnSpc>
            </a:pPr>
            <a:r>
              <a:rPr lang="zh-CN" altLang="en-US" dirty="0"/>
              <a:t>成绩在60分以下的为不及格、60分以上的为及格、80分以上的属于优秀。</a:t>
            </a:r>
            <a:endParaRPr lang="en-US" altLang="zh-CN" dirty="0"/>
          </a:p>
          <a:p>
            <a:pPr algn="just" fontAlgn="auto">
              <a:lnSpc>
                <a:spcPct val="120000"/>
              </a:lnSpc>
            </a:pPr>
            <a:r>
              <a:rPr lang="zh-CN" altLang="en-US" dirty="0"/>
              <a:t>要求：</a:t>
            </a:r>
            <a:endParaRPr lang="en-US" altLang="zh-CN" dirty="0"/>
          </a:p>
          <a:p>
            <a:pPr algn="just" fontAlgn="auto">
              <a:lnSpc>
                <a:spcPct val="120000"/>
              </a:lnSpc>
            </a:pPr>
            <a:r>
              <a:rPr lang="zh-CN" altLang="en-US" dirty="0"/>
              <a:t>该程序能统计并分别输出成绩“不及格”、“及格”、“优秀”的人数及总人数。先画出本例的程序流程图（见图4-3），再画出对应的程序图，如图4-4所示。</a:t>
            </a:r>
            <a:endParaRPr lang="en-US" altLang="en-US" dirty="0"/>
          </a:p>
        </p:txBody>
      </p:sp>
    </p:spTree>
  </p:cSld>
  <p:clrMapOvr>
    <a:masterClrMapping/>
  </p:clrMapOvr>
  <p:transition>
    <p:pull dir="rd"/>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6" name="文本占位符 5">
            <a:extLst>
              <a:ext uri="{FF2B5EF4-FFF2-40B4-BE49-F238E27FC236}">
                <a16:creationId xmlns:a16="http://schemas.microsoft.com/office/drawing/2014/main" id="{2B8F44B7-C04A-4077-C5EE-F39CF8F694E0}"/>
              </a:ext>
            </a:extLst>
          </p:cNvPr>
          <p:cNvSpPr>
            <a:spLocks noGrp="1"/>
          </p:cNvSpPr>
          <p:nvPr>
            <p:ph type="body" sz="quarter" idx="10"/>
          </p:nvPr>
        </p:nvSpPr>
        <p:spPr/>
        <p:txBody>
          <a:bodyPr/>
          <a:lstStyle/>
          <a:p>
            <a:r>
              <a:rPr lang="zh-CN" altLang="en-US" dirty="0"/>
              <a:t>案例</a:t>
            </a:r>
            <a:r>
              <a:rPr lang="en-US" altLang="zh-CN" dirty="0"/>
              <a:t> 4-2</a:t>
            </a:r>
            <a:r>
              <a:rPr lang="zh-CN" altLang="en-US" dirty="0"/>
              <a:t>：</a:t>
            </a:r>
            <a:r>
              <a:rPr lang="zh-CN" altLang="en-US" dirty="0">
                <a:sym typeface="+mn-ea"/>
              </a:rPr>
              <a:t>计算程序环形复杂度。</a:t>
            </a:r>
          </a:p>
        </p:txBody>
      </p:sp>
      <p:sp>
        <p:nvSpPr>
          <p:cNvPr id="7" name="文本占位符 6">
            <a:extLst>
              <a:ext uri="{FF2B5EF4-FFF2-40B4-BE49-F238E27FC236}">
                <a16:creationId xmlns:a16="http://schemas.microsoft.com/office/drawing/2014/main" id="{08AE44D4-8659-A3F1-4BEE-BC8A284E9B15}"/>
              </a:ext>
            </a:extLst>
          </p:cNvPr>
          <p:cNvSpPr>
            <a:spLocks noGrp="1"/>
          </p:cNvSpPr>
          <p:nvPr>
            <p:ph type="body" sz="quarter" idx="11"/>
          </p:nvPr>
        </p:nvSpPr>
        <p:spPr/>
        <p:txBody>
          <a:bodyPr/>
          <a:lstStyle/>
          <a:p>
            <a:endParaRPr lang="zh-CN" altLang="en-US"/>
          </a:p>
        </p:txBody>
      </p:sp>
      <p:pic>
        <p:nvPicPr>
          <p:cNvPr id="123907" name="图片 135"/>
          <p:cNvPicPr>
            <a:picLocks noChangeAspect="1" noChangeArrowheads="1"/>
          </p:cNvPicPr>
          <p:nvPr/>
        </p:nvPicPr>
        <p:blipFill>
          <a:blip r:embed="rId3" cstate="print"/>
          <a:srcRect/>
          <a:stretch>
            <a:fillRect/>
          </a:stretch>
        </p:blipFill>
        <p:spPr bwMode="auto">
          <a:xfrm>
            <a:off x="1432560" y="2946175"/>
            <a:ext cx="3992880" cy="2981627"/>
          </a:xfrm>
          <a:prstGeom prst="rect">
            <a:avLst/>
          </a:prstGeom>
          <a:noFill/>
          <a:ln w="9525">
            <a:noFill/>
            <a:miter lim="800000"/>
            <a:headEnd/>
            <a:tailEnd/>
          </a:ln>
        </p:spPr>
      </p:pic>
      <p:pic>
        <p:nvPicPr>
          <p:cNvPr id="123908" name="图片 136"/>
          <p:cNvPicPr>
            <a:picLocks noChangeAspect="1" noChangeArrowheads="1"/>
          </p:cNvPicPr>
          <p:nvPr/>
        </p:nvPicPr>
        <p:blipFill>
          <a:blip r:embed="rId4" cstate="print"/>
          <a:srcRect/>
          <a:stretch>
            <a:fillRect/>
          </a:stretch>
        </p:blipFill>
        <p:spPr bwMode="auto">
          <a:xfrm>
            <a:off x="6370320" y="2011680"/>
            <a:ext cx="4067175" cy="3838575"/>
          </a:xfrm>
          <a:prstGeom prst="rect">
            <a:avLst/>
          </a:prstGeom>
          <a:noFill/>
          <a:ln w="9525">
            <a:noFill/>
            <a:miter lim="800000"/>
            <a:headEnd/>
            <a:tailEnd/>
          </a:ln>
        </p:spPr>
      </p:pic>
      <p:sp>
        <p:nvSpPr>
          <p:cNvPr id="17" name="矩形 16"/>
          <p:cNvSpPr/>
          <p:nvPr/>
        </p:nvSpPr>
        <p:spPr>
          <a:xfrm>
            <a:off x="1893872" y="5941814"/>
            <a:ext cx="2826415" cy="369332"/>
          </a:xfrm>
          <a:prstGeom prst="rect">
            <a:avLst/>
          </a:prstGeom>
        </p:spPr>
        <p:txBody>
          <a:bodyPr wrap="none">
            <a:spAutoFit/>
          </a:bodyPr>
          <a:lstStyle/>
          <a:p>
            <a:r>
              <a:rPr lang="zh-CN" altLang="en-US" dirty="0">
                <a:latin typeface="Times New Roman" panose="02020603050405020304" pitchFamily="18" charset="0"/>
              </a:rPr>
              <a:t>图</a:t>
            </a:r>
            <a:r>
              <a:rPr lang="en-US" dirty="0">
                <a:latin typeface="Times New Roman" panose="02020603050405020304" pitchFamily="18" charset="0"/>
              </a:rPr>
              <a:t>4-3  </a:t>
            </a:r>
            <a:r>
              <a:rPr lang="zh-CN" altLang="en-US" dirty="0">
                <a:latin typeface="Times New Roman" panose="02020603050405020304" pitchFamily="18" charset="0"/>
              </a:rPr>
              <a:t>例</a:t>
            </a:r>
            <a:r>
              <a:rPr lang="en-US" dirty="0">
                <a:latin typeface="Times New Roman" panose="02020603050405020304" pitchFamily="18" charset="0"/>
              </a:rPr>
              <a:t>4-2</a:t>
            </a:r>
            <a:r>
              <a:rPr lang="zh-CN" altLang="en-US" dirty="0">
                <a:latin typeface="Times New Roman" panose="02020603050405020304" pitchFamily="18" charset="0"/>
              </a:rPr>
              <a:t>的程序流程图</a:t>
            </a:r>
          </a:p>
        </p:txBody>
      </p:sp>
      <p:sp>
        <p:nvSpPr>
          <p:cNvPr id="18" name="矩形 17"/>
          <p:cNvSpPr/>
          <p:nvPr/>
        </p:nvSpPr>
        <p:spPr>
          <a:xfrm>
            <a:off x="7105952" y="5896094"/>
            <a:ext cx="2826415" cy="369332"/>
          </a:xfrm>
          <a:prstGeom prst="rect">
            <a:avLst/>
          </a:prstGeom>
        </p:spPr>
        <p:txBody>
          <a:bodyPr wrap="none">
            <a:spAutoFit/>
          </a:bodyPr>
          <a:lstStyle/>
          <a:p>
            <a:r>
              <a:rPr lang="zh-CN" altLang="en-US" dirty="0">
                <a:latin typeface="Times New Roman" panose="02020603050405020304" pitchFamily="18" charset="0"/>
              </a:rPr>
              <a:t>图</a:t>
            </a:r>
            <a:r>
              <a:rPr lang="en-US" dirty="0">
                <a:latin typeface="Times New Roman" panose="02020603050405020304" pitchFamily="18" charset="0"/>
              </a:rPr>
              <a:t>4-4  </a:t>
            </a:r>
            <a:r>
              <a:rPr lang="zh-CN" altLang="en-US" dirty="0">
                <a:latin typeface="Times New Roman" panose="02020603050405020304" pitchFamily="18" charset="0"/>
              </a:rPr>
              <a:t>例</a:t>
            </a:r>
            <a:r>
              <a:rPr lang="en-US" dirty="0">
                <a:latin typeface="Times New Roman" panose="02020603050405020304" pitchFamily="18" charset="0"/>
              </a:rPr>
              <a:t>4-2</a:t>
            </a:r>
            <a:r>
              <a:rPr lang="zh-CN" altLang="en-US" dirty="0">
                <a:latin typeface="Times New Roman" panose="02020603050405020304" pitchFamily="18" charset="0"/>
              </a:rPr>
              <a:t>对应的程序图</a:t>
            </a:r>
          </a:p>
        </p:txBody>
      </p:sp>
    </p:spTree>
  </p:cSld>
  <p:clrMapOvr>
    <a:masterClrMapping/>
  </p:clrMapOvr>
  <p:transition>
    <p:pull dir="rd"/>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7" name="文本占位符 6">
            <a:extLst>
              <a:ext uri="{FF2B5EF4-FFF2-40B4-BE49-F238E27FC236}">
                <a16:creationId xmlns:a16="http://schemas.microsoft.com/office/drawing/2014/main" id="{91C16698-8550-62AA-7768-163BD73B891C}"/>
              </a:ext>
            </a:extLst>
          </p:cNvPr>
          <p:cNvSpPr>
            <a:spLocks noGrp="1"/>
          </p:cNvSpPr>
          <p:nvPr>
            <p:ph type="body" sz="quarter" idx="10"/>
          </p:nvPr>
        </p:nvSpPr>
        <p:spPr>
          <a:xfrm>
            <a:off x="696000" y="1322832"/>
            <a:ext cx="11160000" cy="400110"/>
          </a:xfrm>
        </p:spPr>
        <p:txBody>
          <a:bodyPr/>
          <a:lstStyle/>
          <a:p>
            <a:r>
              <a:rPr lang="zh-CN" altLang="en-US" dirty="0"/>
              <a:t>案例</a:t>
            </a:r>
            <a:r>
              <a:rPr lang="en-US" altLang="zh-CN" dirty="0"/>
              <a:t> 4-2</a:t>
            </a:r>
            <a:r>
              <a:rPr lang="zh-CN" altLang="en-US" dirty="0"/>
              <a:t>：</a:t>
            </a:r>
            <a:r>
              <a:rPr lang="zh-CN" altLang="en-US" dirty="0">
                <a:sym typeface="+mn-ea"/>
              </a:rPr>
              <a:t>计算程序环形复杂度。</a:t>
            </a:r>
          </a:p>
        </p:txBody>
      </p:sp>
      <p:sp>
        <p:nvSpPr>
          <p:cNvPr id="11" name="文本占位符 10">
            <a:extLst>
              <a:ext uri="{FF2B5EF4-FFF2-40B4-BE49-F238E27FC236}">
                <a16:creationId xmlns:a16="http://schemas.microsoft.com/office/drawing/2014/main" id="{82356573-1650-CD14-1467-6681D151BA71}"/>
              </a:ext>
            </a:extLst>
          </p:cNvPr>
          <p:cNvSpPr>
            <a:spLocks noGrp="1"/>
          </p:cNvSpPr>
          <p:nvPr>
            <p:ph type="body" sz="quarter" idx="11"/>
          </p:nvPr>
        </p:nvSpPr>
        <p:spPr/>
        <p:txBody>
          <a:bodyPr/>
          <a:lstStyle/>
          <a:p>
            <a:endParaRPr lang="zh-CN" altLang="en-US"/>
          </a:p>
        </p:txBody>
      </p:sp>
      <p:grpSp>
        <p:nvGrpSpPr>
          <p:cNvPr id="5" name="组合 4"/>
          <p:cNvGrpSpPr/>
          <p:nvPr/>
        </p:nvGrpSpPr>
        <p:grpSpPr>
          <a:xfrm>
            <a:off x="1022985" y="2918460"/>
            <a:ext cx="10005695" cy="3380740"/>
            <a:chOff x="1725" y="4595"/>
            <a:chExt cx="15757" cy="5324"/>
          </a:xfrm>
        </p:grpSpPr>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5324"/>
            </a:xfrm>
            <a:prstGeom prst="rect">
              <a:avLst/>
            </a:prstGeom>
            <a:solidFill>
              <a:schemeClr val="bg1">
                <a:lumMod val="95000"/>
              </a:schemeClr>
            </a:solidFill>
          </p:spPr>
          <p:txBody>
            <a:bodyPr wrap="square">
              <a:spAutoFit/>
            </a:bodyPr>
            <a:lstStyle/>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a:p>
              <a:pPr fontAlgn="auto">
                <a:lnSpc>
                  <a:spcPct val="120000"/>
                </a:lnSpc>
              </a:pPr>
              <a:endParaRPr lang="en-US" altLang="en-US" dirty="0">
                <a:latin typeface="Times New Roman" panose="02020603050405020304" charset="0"/>
                <a:ea typeface="微软雅黑 Light" panose="020B0502040204020203" pitchFamily="34" charset="-122"/>
              </a:endParaRPr>
            </a:p>
          </p:txBody>
        </p:sp>
      </p:grpSp>
      <p:sp>
        <p:nvSpPr>
          <p:cNvPr id="6" name="文本框 5"/>
          <p:cNvSpPr txBox="1"/>
          <p:nvPr/>
        </p:nvSpPr>
        <p:spPr>
          <a:xfrm>
            <a:off x="1189355" y="2918460"/>
            <a:ext cx="9935845" cy="3333220"/>
          </a:xfrm>
          <a:prstGeom prst="rect">
            <a:avLst/>
          </a:prstGeom>
          <a:noFill/>
        </p:spPr>
        <p:txBody>
          <a:bodyPr wrap="square" rtlCol="0" anchor="t">
            <a:spAutoFit/>
          </a:bodyPr>
          <a:lstStyle/>
          <a:p>
            <a:pPr fontAlgn="auto">
              <a:lnSpc>
                <a:spcPct val="130000"/>
              </a:lnSpc>
            </a:pPr>
            <a:r>
              <a:rPr lang="en-US" dirty="0">
                <a:latin typeface="Times New Roman" panose="02020603050405020304" pitchFamily="18" charset="0"/>
              </a:rPr>
              <a:t>       </a:t>
            </a:r>
            <a:r>
              <a:rPr dirty="0">
                <a:latin typeface="Times New Roman" panose="02020603050405020304" pitchFamily="18" charset="0"/>
              </a:rPr>
              <a:t>计算此程序的环形复杂度。</a:t>
            </a:r>
          </a:p>
          <a:p>
            <a:pPr fontAlgn="auto">
              <a:lnSpc>
                <a:spcPct val="130000"/>
              </a:lnSpc>
            </a:pPr>
            <a:r>
              <a:rPr lang="en-US" dirty="0">
                <a:latin typeface="Times New Roman" panose="02020603050405020304" pitchFamily="18" charset="0"/>
              </a:rPr>
              <a:t>       </a:t>
            </a:r>
            <a:r>
              <a:rPr dirty="0">
                <a:latin typeface="Times New Roman" panose="02020603050405020304" pitchFamily="18" charset="0"/>
              </a:rPr>
              <a:t>方法1：图4-4中，实线弧数为14，结点数为12。因此，环形复杂度为</a:t>
            </a:r>
          </a:p>
          <a:p>
            <a:pPr fontAlgn="auto">
              <a:lnSpc>
                <a:spcPct val="130000"/>
              </a:lnSpc>
            </a:pPr>
            <a:r>
              <a:rPr dirty="0">
                <a:latin typeface="Times New Roman" panose="02020603050405020304" pitchFamily="18" charset="0"/>
              </a:rPr>
              <a:t> </a:t>
            </a:r>
          </a:p>
          <a:p>
            <a:pPr fontAlgn="auto">
              <a:lnSpc>
                <a:spcPct val="130000"/>
              </a:lnSpc>
            </a:pPr>
            <a:r>
              <a:rPr lang="en-US" dirty="0">
                <a:latin typeface="Times New Roman" panose="02020603050405020304" pitchFamily="18" charset="0"/>
              </a:rPr>
              <a:t>       </a:t>
            </a:r>
            <a:r>
              <a:rPr dirty="0">
                <a:latin typeface="Times New Roman" panose="02020603050405020304" pitchFamily="18" charset="0"/>
              </a:rPr>
              <a:t>方法2：图4-4中，判定结点的个数为3，环形复杂度为</a:t>
            </a:r>
          </a:p>
          <a:p>
            <a:pPr fontAlgn="auto">
              <a:lnSpc>
                <a:spcPct val="130000"/>
              </a:lnSpc>
            </a:pPr>
            <a:r>
              <a:rPr dirty="0">
                <a:latin typeface="Times New Roman" panose="02020603050405020304" pitchFamily="18" charset="0"/>
              </a:rPr>
              <a:t> </a:t>
            </a:r>
          </a:p>
          <a:p>
            <a:pPr fontAlgn="auto">
              <a:lnSpc>
                <a:spcPct val="130000"/>
              </a:lnSpc>
            </a:pPr>
            <a:r>
              <a:rPr lang="en-US" dirty="0">
                <a:latin typeface="Times New Roman" panose="02020603050405020304" pitchFamily="18" charset="0"/>
              </a:rPr>
              <a:t>       </a:t>
            </a:r>
            <a:r>
              <a:rPr dirty="0">
                <a:latin typeface="Times New Roman" panose="02020603050405020304" pitchFamily="18" charset="0"/>
              </a:rPr>
              <a:t>方法3：先画出该题的程序流程图，如图4-3所示；进而得出程序图，如图4-4所示。图4-4中增加了一条从出口点到入口点的虚线有向弧。可见，图中有4个线性无关的有向环，即R1，R2，R3，R4，因而环形复杂度为4。</a:t>
            </a:r>
          </a:p>
          <a:p>
            <a:pPr fontAlgn="auto">
              <a:lnSpc>
                <a:spcPct val="130000"/>
              </a:lnSpc>
            </a:pPr>
            <a:r>
              <a:rPr lang="en-US" dirty="0">
                <a:latin typeface="Times New Roman" panose="02020603050405020304" pitchFamily="18" charset="0"/>
              </a:rPr>
              <a:t>       </a:t>
            </a:r>
            <a:r>
              <a:rPr dirty="0">
                <a:latin typeface="Times New Roman" panose="02020603050405020304" pitchFamily="18" charset="0"/>
              </a:rPr>
              <a:t>由此可见，利用3种环形复杂度计算公式得到的计算结果相同。</a:t>
            </a:r>
          </a:p>
        </p:txBody>
      </p:sp>
      <p:graphicFrame>
        <p:nvGraphicFramePr>
          <p:cNvPr id="160769" name="Object 1"/>
          <p:cNvGraphicFramePr>
            <a:graphicFrameLocks noChangeAspect="1"/>
          </p:cNvGraphicFramePr>
          <p:nvPr/>
        </p:nvGraphicFramePr>
        <p:xfrm>
          <a:off x="4658043" y="3702685"/>
          <a:ext cx="2276475" cy="365125"/>
        </p:xfrm>
        <a:graphic>
          <a:graphicData uri="http://schemas.openxmlformats.org/presentationml/2006/ole">
            <mc:AlternateContent xmlns:mc="http://schemas.openxmlformats.org/markup-compatibility/2006">
              <mc:Choice xmlns:v="urn:schemas-microsoft-com:vml" Requires="v">
                <p:oleObj name="公式" r:id="rId3" imgW="32308800" imgH="5181600" progId="">
                  <p:embed/>
                </p:oleObj>
              </mc:Choice>
              <mc:Fallback>
                <p:oleObj name="公式" r:id="rId3" imgW="32308800" imgH="5181600" progId="">
                  <p:embed/>
                  <p:pic>
                    <p:nvPicPr>
                      <p:cNvPr id="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58043" y="3702685"/>
                        <a:ext cx="2276475" cy="36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0" name="Object 2"/>
          <p:cNvGraphicFramePr>
            <a:graphicFrameLocks noChangeAspect="1"/>
          </p:cNvGraphicFramePr>
          <p:nvPr/>
        </p:nvGraphicFramePr>
        <p:xfrm>
          <a:off x="5037138" y="4405313"/>
          <a:ext cx="1674812" cy="365125"/>
        </p:xfrm>
        <a:graphic>
          <a:graphicData uri="http://schemas.openxmlformats.org/presentationml/2006/ole">
            <mc:AlternateContent xmlns:mc="http://schemas.openxmlformats.org/markup-compatibility/2006">
              <mc:Choice xmlns:v="urn:schemas-microsoft-com:vml" Requires="v">
                <p:oleObj name="公式" r:id="rId5" imgW="23774400" imgH="5181600" progId="">
                  <p:embed/>
                </p:oleObj>
              </mc:Choice>
              <mc:Fallback>
                <p:oleObj name="公式" r:id="rId5" imgW="23774400" imgH="5181600" progId="">
                  <p:embed/>
                  <p:pic>
                    <p:nvPicPr>
                      <p:cNvPr id="0" name="Picture 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37138" y="4405313"/>
                        <a:ext cx="1674812" cy="36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ransition>
    <p:pull dir="rd"/>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866630" cy="5443220"/>
          </a:xfrm>
          <a:prstGeom prst="rect">
            <a:avLst/>
          </a:prstGeom>
          <a:noFill/>
          <a:ln w="9525">
            <a:noFill/>
          </a:ln>
        </p:spPr>
      </p:pic>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endParaRPr lang="zh-CN" altLang="en-US" dirty="0">
              <a:sym typeface="+mn-ea"/>
            </a:endParaRPr>
          </a:p>
        </p:txBody>
      </p:sp>
      <p:sp>
        <p:nvSpPr>
          <p:cNvPr id="4" name="文本占位符 3">
            <a:extLst>
              <a:ext uri="{FF2B5EF4-FFF2-40B4-BE49-F238E27FC236}">
                <a16:creationId xmlns:a16="http://schemas.microsoft.com/office/drawing/2014/main" id="{B7A6F877-E8A3-57B9-31A3-CEA42F4A43A0}"/>
              </a:ext>
            </a:extLst>
          </p:cNvPr>
          <p:cNvSpPr>
            <a:spLocks noGrp="1"/>
          </p:cNvSpPr>
          <p:nvPr>
            <p:ph type="body" sz="quarter" idx="10"/>
          </p:nvPr>
        </p:nvSpPr>
        <p:spPr>
          <a:xfrm>
            <a:off x="696000" y="1322832"/>
            <a:ext cx="11160000" cy="400110"/>
          </a:xfrm>
        </p:spPr>
        <p:txBody>
          <a:bodyPr/>
          <a:lstStyle/>
          <a:p>
            <a:r>
              <a:rPr lang="en-US" altLang="zh-CN" dirty="0"/>
              <a:t>4.5.6 </a:t>
            </a:r>
            <a:r>
              <a:rPr lang="zh-CN" altLang="en-US" dirty="0"/>
              <a:t>因果图法</a:t>
            </a:r>
          </a:p>
        </p:txBody>
      </p:sp>
      <p:sp>
        <p:nvSpPr>
          <p:cNvPr id="8" name="文本占位符 7">
            <a:extLst>
              <a:ext uri="{FF2B5EF4-FFF2-40B4-BE49-F238E27FC236}">
                <a16:creationId xmlns:a16="http://schemas.microsoft.com/office/drawing/2014/main" id="{55D48A16-8848-E8C0-79FA-4290E798CA81}"/>
              </a:ext>
            </a:extLst>
          </p:cNvPr>
          <p:cNvSpPr>
            <a:spLocks noGrp="1"/>
          </p:cNvSpPr>
          <p:nvPr>
            <p:ph type="body" sz="quarter" idx="11"/>
          </p:nvPr>
        </p:nvSpPr>
        <p:spPr/>
        <p:txBody>
          <a:bodyPr/>
          <a:lstStyle/>
          <a:p>
            <a:endParaRPr lang="zh-CN" altLang="en-US"/>
          </a:p>
        </p:txBody>
      </p:sp>
      <p:sp>
        <p:nvSpPr>
          <p:cNvPr id="9" name="文本框 8">
            <a:extLst>
              <a:ext uri="{FF2B5EF4-FFF2-40B4-BE49-F238E27FC236}">
                <a16:creationId xmlns:a16="http://schemas.microsoft.com/office/drawing/2014/main" id="{E9072BCC-5924-B95E-D321-3C2C264E766F}"/>
              </a:ext>
            </a:extLst>
          </p:cNvPr>
          <p:cNvSpPr txBox="1"/>
          <p:nvPr/>
        </p:nvSpPr>
        <p:spPr>
          <a:xfrm>
            <a:off x="2329321" y="2681305"/>
            <a:ext cx="5983605" cy="2219134"/>
          </a:xfrm>
          <a:prstGeom prst="rect">
            <a:avLst/>
          </a:prstGeom>
          <a:noFill/>
        </p:spPr>
        <p:txBody>
          <a:bodyPr wrap="square" rtlCol="0" anchor="t">
            <a:spAutoFit/>
          </a:bodyPr>
          <a:lstStyle/>
          <a:p>
            <a:pPr algn="just">
              <a:lnSpc>
                <a:spcPct val="130000"/>
              </a:lnSpc>
            </a:pPr>
            <a:r>
              <a:rPr lang="zh-CN" altLang="en-US" dirty="0"/>
              <a:t> 等价类划分法和边界值分析法的测试用例还不能检查组合输入条件可能引起的软件错误。而因果图法可弥补这个不足。</a:t>
            </a:r>
          </a:p>
          <a:p>
            <a:pPr algn="just">
              <a:lnSpc>
                <a:spcPct val="130000"/>
              </a:lnSpc>
            </a:pPr>
            <a:r>
              <a:rPr lang="zh-CN" altLang="en-US" dirty="0"/>
              <a:t>       在因果图中，原因和结果分别写在一个圆圈中。通常，在左边的圆圈中写原因，在右边的圆圈中写结果，中间以直线连接，连接线上再加符号表示因与果的不同关系。</a:t>
            </a:r>
          </a:p>
        </p:txBody>
      </p:sp>
    </p:spTree>
  </p:cSld>
  <p:clrMapOvr>
    <a:masterClrMapping/>
  </p:clrMapOvr>
  <p:transition>
    <p:pull dir="rd"/>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endParaRPr lang="zh-CN" altLang="en-US" dirty="0">
              <a:sym typeface="+mn-ea"/>
            </a:endParaRPr>
          </a:p>
        </p:txBody>
      </p:sp>
      <p:sp>
        <p:nvSpPr>
          <p:cNvPr id="4" name="文本占位符 3">
            <a:extLst>
              <a:ext uri="{FF2B5EF4-FFF2-40B4-BE49-F238E27FC236}">
                <a16:creationId xmlns:a16="http://schemas.microsoft.com/office/drawing/2014/main" id="{72531A9D-930E-D9EA-5651-4F636B20CBB4}"/>
              </a:ext>
            </a:extLst>
          </p:cNvPr>
          <p:cNvSpPr>
            <a:spLocks noGrp="1"/>
          </p:cNvSpPr>
          <p:nvPr>
            <p:ph type="body" sz="quarter" idx="10"/>
          </p:nvPr>
        </p:nvSpPr>
        <p:spPr>
          <a:xfrm>
            <a:off x="696000" y="1322832"/>
            <a:ext cx="11160000" cy="400110"/>
          </a:xfrm>
        </p:spPr>
        <p:txBody>
          <a:bodyPr/>
          <a:lstStyle/>
          <a:p>
            <a:r>
              <a:rPr lang="en-US" altLang="zh-CN" dirty="0"/>
              <a:t>4.5.6 </a:t>
            </a:r>
            <a:r>
              <a:rPr lang="zh-CN" altLang="en-US" dirty="0"/>
              <a:t>因果图法</a:t>
            </a:r>
          </a:p>
        </p:txBody>
      </p:sp>
      <p:sp>
        <p:nvSpPr>
          <p:cNvPr id="15" name="文本占位符 14">
            <a:extLst>
              <a:ext uri="{FF2B5EF4-FFF2-40B4-BE49-F238E27FC236}">
                <a16:creationId xmlns:a16="http://schemas.microsoft.com/office/drawing/2014/main" id="{31968886-C54A-8E7C-BBC4-E1F10919A589}"/>
              </a:ext>
            </a:extLst>
          </p:cNvPr>
          <p:cNvSpPr>
            <a:spLocks noGrp="1"/>
          </p:cNvSpPr>
          <p:nvPr>
            <p:ph type="body" sz="quarter" idx="11"/>
          </p:nvPr>
        </p:nvSpPr>
        <p:spPr/>
        <p:txBody>
          <a:bodyPr/>
          <a:lstStyle/>
          <a:p>
            <a:endParaRPr lang="zh-CN" altLang="en-US"/>
          </a:p>
        </p:txBody>
      </p:sp>
      <p:grpSp>
        <p:nvGrpSpPr>
          <p:cNvPr id="6" name="组合 5"/>
          <p:cNvGrpSpPr/>
          <p:nvPr/>
        </p:nvGrpSpPr>
        <p:grpSpPr>
          <a:xfrm>
            <a:off x="2370142" y="2138045"/>
            <a:ext cx="9115425" cy="4057015"/>
            <a:chOff x="9622" y="2668"/>
            <a:chExt cx="15385" cy="7323"/>
          </a:xfrm>
        </p:grpSpPr>
        <p:sp>
          <p:nvSpPr>
            <p:cNvPr id="12" name="任意多边形 11"/>
            <p:cNvSpPr/>
            <p:nvPr>
              <p:custDataLst>
                <p:tags r:id="rId1"/>
              </p:custDataLst>
            </p:nvPr>
          </p:nvSpPr>
          <p:spPr>
            <a:xfrm>
              <a:off x="9622" y="2668"/>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8" name="圆角矩形 7"/>
            <p:cNvSpPr/>
            <p:nvPr>
              <p:custDataLst>
                <p:tags r:id="rId2"/>
              </p:custDataLst>
            </p:nvPr>
          </p:nvSpPr>
          <p:spPr>
            <a:xfrm>
              <a:off x="11539" y="3231"/>
              <a:ext cx="1343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9" name="椭圆 8"/>
            <p:cNvSpPr/>
            <p:nvPr>
              <p:custDataLst>
                <p:tags r:id="rId3"/>
              </p:custDataLst>
            </p:nvPr>
          </p:nvSpPr>
          <p:spPr>
            <a:xfrm>
              <a:off x="11502" y="315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solidFill>
                    <a:schemeClr val="bg1"/>
                  </a:solidFill>
                  <a:latin typeface="Times New Roman" panose="02020603050405020304" pitchFamily="18" charset="0"/>
                </a:rPr>
                <a:t>1</a:t>
              </a:r>
            </a:p>
          </p:txBody>
        </p:sp>
        <p:sp>
          <p:nvSpPr>
            <p:cNvPr id="16" name="圆角矩形 15"/>
            <p:cNvSpPr/>
            <p:nvPr>
              <p:custDataLst>
                <p:tags r:id="rId4"/>
              </p:custDataLst>
            </p:nvPr>
          </p:nvSpPr>
          <p:spPr>
            <a:xfrm>
              <a:off x="10426" y="4537"/>
              <a:ext cx="1371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10" name="椭圆 9"/>
            <p:cNvSpPr/>
            <p:nvPr>
              <p:custDataLst>
                <p:tags r:id="rId5"/>
              </p:custDataLst>
            </p:nvPr>
          </p:nvSpPr>
          <p:spPr>
            <a:xfrm>
              <a:off x="10393" y="446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latin typeface="Times New Roman" panose="02020603050405020304" pitchFamily="18" charset="0"/>
                </a:rPr>
                <a:t>2</a:t>
              </a:r>
            </a:p>
          </p:txBody>
        </p:sp>
        <p:sp>
          <p:nvSpPr>
            <p:cNvPr id="11" name="圆角矩形 10"/>
            <p:cNvSpPr/>
            <p:nvPr>
              <p:custDataLst>
                <p:tags r:id="rId6"/>
              </p:custDataLst>
            </p:nvPr>
          </p:nvSpPr>
          <p:spPr>
            <a:xfrm>
              <a:off x="10171" y="5867"/>
              <a:ext cx="13276"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19" name="椭圆 18"/>
            <p:cNvSpPr/>
            <p:nvPr>
              <p:custDataLst>
                <p:tags r:id="rId7"/>
              </p:custDataLst>
            </p:nvPr>
          </p:nvSpPr>
          <p:spPr>
            <a:xfrm>
              <a:off x="10135" y="5792"/>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latin typeface="Times New Roman" panose="02020603050405020304" pitchFamily="18" charset="0"/>
                </a:rPr>
                <a:t>3</a:t>
              </a:r>
            </a:p>
          </p:txBody>
        </p:sp>
        <p:sp>
          <p:nvSpPr>
            <p:cNvPr id="13" name="圆角矩形 12"/>
            <p:cNvSpPr/>
            <p:nvPr>
              <p:custDataLst>
                <p:tags r:id="rId8"/>
              </p:custDataLst>
            </p:nvPr>
          </p:nvSpPr>
          <p:spPr>
            <a:xfrm>
              <a:off x="10426" y="7265"/>
              <a:ext cx="1371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30" name="椭圆 29"/>
            <p:cNvSpPr/>
            <p:nvPr>
              <p:custDataLst>
                <p:tags r:id="rId9"/>
              </p:custDataLst>
            </p:nvPr>
          </p:nvSpPr>
          <p:spPr>
            <a:xfrm>
              <a:off x="10393" y="7187"/>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latin typeface="Times New Roman" panose="02020603050405020304" pitchFamily="18" charset="0"/>
                </a:rPr>
                <a:t>4</a:t>
              </a:r>
            </a:p>
          </p:txBody>
        </p:sp>
        <p:sp>
          <p:nvSpPr>
            <p:cNvPr id="31" name="圆角矩形 30"/>
            <p:cNvSpPr/>
            <p:nvPr>
              <p:custDataLst>
                <p:tags r:id="rId10"/>
              </p:custDataLst>
            </p:nvPr>
          </p:nvSpPr>
          <p:spPr>
            <a:xfrm>
              <a:off x="11539" y="8571"/>
              <a:ext cx="13468"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32" name="椭圆 31"/>
            <p:cNvSpPr/>
            <p:nvPr>
              <p:custDataLst>
                <p:tags r:id="rId11"/>
              </p:custDataLst>
            </p:nvPr>
          </p:nvSpPr>
          <p:spPr>
            <a:xfrm>
              <a:off x="11538" y="8494"/>
              <a:ext cx="1073"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latin typeface="Times New Roman" panose="02020603050405020304" pitchFamily="18" charset="0"/>
                </a:rPr>
                <a:t>5</a:t>
              </a:r>
            </a:p>
          </p:txBody>
        </p:sp>
        <p:sp>
          <p:nvSpPr>
            <p:cNvPr id="47" name="文本框 54"/>
            <p:cNvSpPr txBox="1">
              <a:spLocks noChangeArrowheads="1"/>
            </p:cNvSpPr>
            <p:nvPr>
              <p:custDataLst>
                <p:tags r:id="rId12"/>
              </p:custDataLst>
            </p:nvPr>
          </p:nvSpPr>
          <p:spPr bwMode="auto">
            <a:xfrm>
              <a:off x="13017" y="3367"/>
              <a:ext cx="8670"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mn-ea"/>
                </a:rPr>
                <a:t> 将规格说明中的输入作为因，输出作为果；</a:t>
              </a:r>
            </a:p>
          </p:txBody>
        </p:sp>
        <p:sp>
          <p:nvSpPr>
            <p:cNvPr id="48" name="文本框 55"/>
            <p:cNvSpPr txBox="1">
              <a:spLocks noChangeArrowheads="1"/>
            </p:cNvSpPr>
            <p:nvPr>
              <p:custDataLst>
                <p:tags r:id="rId13"/>
              </p:custDataLst>
            </p:nvPr>
          </p:nvSpPr>
          <p:spPr bwMode="auto">
            <a:xfrm>
              <a:off x="13017" y="4672"/>
              <a:ext cx="10430" cy="6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mn-ea"/>
                </a:rPr>
                <a:t>画出因果图；</a:t>
              </a:r>
            </a:p>
          </p:txBody>
        </p:sp>
        <p:sp>
          <p:nvSpPr>
            <p:cNvPr id="49" name="文本框 56"/>
            <p:cNvSpPr txBox="1">
              <a:spLocks noChangeArrowheads="1"/>
            </p:cNvSpPr>
            <p:nvPr>
              <p:custDataLst>
                <p:tags r:id="rId14"/>
              </p:custDataLst>
            </p:nvPr>
          </p:nvSpPr>
          <p:spPr bwMode="auto">
            <a:xfrm>
              <a:off x="13017" y="6003"/>
              <a:ext cx="10332"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mn-ea"/>
                </a:rPr>
                <a:t>标出因果图的约束条件；</a:t>
              </a:r>
            </a:p>
          </p:txBody>
        </p:sp>
        <p:sp>
          <p:nvSpPr>
            <p:cNvPr id="50" name="文本框 57"/>
            <p:cNvSpPr txBox="1">
              <a:spLocks noChangeArrowheads="1"/>
            </p:cNvSpPr>
            <p:nvPr>
              <p:custDataLst>
                <p:tags r:id="rId15"/>
              </p:custDataLst>
            </p:nvPr>
          </p:nvSpPr>
          <p:spPr bwMode="auto">
            <a:xfrm>
              <a:off x="13017" y="7401"/>
              <a:ext cx="11239"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mn-ea"/>
                </a:rPr>
                <a:t>把因果图转化为判定表；</a:t>
              </a:r>
            </a:p>
          </p:txBody>
        </p:sp>
        <p:sp>
          <p:nvSpPr>
            <p:cNvPr id="51" name="文本框 58"/>
            <p:cNvSpPr txBox="1">
              <a:spLocks noChangeArrowheads="1"/>
            </p:cNvSpPr>
            <p:nvPr>
              <p:custDataLst>
                <p:tags r:id="rId16"/>
              </p:custDataLst>
            </p:nvPr>
          </p:nvSpPr>
          <p:spPr bwMode="auto">
            <a:xfrm>
              <a:off x="13017" y="8706"/>
              <a:ext cx="9748"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mn-ea"/>
                </a:rPr>
                <a:t>在判定表的每一列设计一个测试用例。</a:t>
              </a:r>
            </a:p>
          </p:txBody>
        </p:sp>
      </p:grpSp>
      <p:sp>
        <p:nvSpPr>
          <p:cNvPr id="21" name="矩形 7"/>
          <p:cNvSpPr>
            <a:spLocks noChangeArrowheads="1"/>
          </p:cNvSpPr>
          <p:nvPr/>
        </p:nvSpPr>
        <p:spPr bwMode="auto">
          <a:xfrm>
            <a:off x="675201" y="3578375"/>
            <a:ext cx="1467497"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因果图测试用例的设计步骤为：</a:t>
            </a:r>
          </a:p>
        </p:txBody>
      </p:sp>
    </p:spTree>
  </p:cSld>
  <p:clrMapOvr>
    <a:masterClrMapping/>
  </p:clrMapOvr>
  <p:transition>
    <p:pull dir="rd"/>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endParaRPr lang="zh-CN" altLang="en-US" dirty="0">
              <a:sym typeface="+mn-ea"/>
            </a:endParaRPr>
          </a:p>
        </p:txBody>
      </p:sp>
      <p:sp>
        <p:nvSpPr>
          <p:cNvPr id="4" name="文本占位符 3">
            <a:extLst>
              <a:ext uri="{FF2B5EF4-FFF2-40B4-BE49-F238E27FC236}">
                <a16:creationId xmlns:a16="http://schemas.microsoft.com/office/drawing/2014/main" id="{0ABABC74-657F-7271-F071-33EC77D6BBD6}"/>
              </a:ext>
            </a:extLst>
          </p:cNvPr>
          <p:cNvSpPr>
            <a:spLocks noGrp="1"/>
          </p:cNvSpPr>
          <p:nvPr>
            <p:ph type="body" sz="quarter" idx="10"/>
          </p:nvPr>
        </p:nvSpPr>
        <p:spPr>
          <a:xfrm>
            <a:off x="696000" y="1322832"/>
            <a:ext cx="11160000" cy="400110"/>
          </a:xfrm>
        </p:spPr>
        <p:txBody>
          <a:bodyPr/>
          <a:lstStyle/>
          <a:p>
            <a:r>
              <a:rPr lang="en-US" altLang="zh-CN" dirty="0"/>
              <a:t>4.5.6 </a:t>
            </a:r>
            <a:r>
              <a:rPr lang="zh-CN" altLang="en-US" dirty="0"/>
              <a:t>因果图法</a:t>
            </a:r>
          </a:p>
        </p:txBody>
      </p:sp>
      <p:sp>
        <p:nvSpPr>
          <p:cNvPr id="9" name="文本占位符 8">
            <a:extLst>
              <a:ext uri="{FF2B5EF4-FFF2-40B4-BE49-F238E27FC236}">
                <a16:creationId xmlns:a16="http://schemas.microsoft.com/office/drawing/2014/main" id="{C2D35DCA-889F-3909-DBB8-35F64CEACC99}"/>
              </a:ext>
            </a:extLst>
          </p:cNvPr>
          <p:cNvSpPr>
            <a:spLocks noGrp="1"/>
          </p:cNvSpPr>
          <p:nvPr>
            <p:ph type="body" sz="quarter" idx="11"/>
          </p:nvPr>
        </p:nvSpPr>
        <p:spPr/>
        <p:txBody>
          <a:bodyPr/>
          <a:lstStyle/>
          <a:p>
            <a:endParaRPr lang="zh-CN" altLang="en-US"/>
          </a:p>
        </p:txBody>
      </p:sp>
      <p:graphicFrame>
        <p:nvGraphicFramePr>
          <p:cNvPr id="6" name="表格 5"/>
          <p:cNvGraphicFramePr>
            <a:graphicFrameLocks noGrp="1"/>
          </p:cNvGraphicFramePr>
          <p:nvPr/>
        </p:nvGraphicFramePr>
        <p:xfrm>
          <a:off x="941184" y="2151628"/>
          <a:ext cx="10026921" cy="4108268"/>
        </p:xfrm>
        <a:graphic>
          <a:graphicData uri="http://schemas.openxmlformats.org/drawingml/2006/table">
            <a:tbl>
              <a:tblPr firstRow="1" firstCol="1" bandRow="1">
                <a:tableStyleId>{F5AB1C69-6EDB-4FF4-983F-18BD219EF322}</a:tableStyleId>
              </a:tblPr>
              <a:tblGrid>
                <a:gridCol w="2930783">
                  <a:extLst>
                    <a:ext uri="{9D8B030D-6E8A-4147-A177-3AD203B41FA5}">
                      <a16:colId xmlns:a16="http://schemas.microsoft.com/office/drawing/2014/main" val="20000"/>
                    </a:ext>
                  </a:extLst>
                </a:gridCol>
                <a:gridCol w="7096138">
                  <a:extLst>
                    <a:ext uri="{9D8B030D-6E8A-4147-A177-3AD203B41FA5}">
                      <a16:colId xmlns:a16="http://schemas.microsoft.com/office/drawing/2014/main" val="20001"/>
                    </a:ext>
                  </a:extLst>
                </a:gridCol>
              </a:tblGrid>
              <a:tr h="610688">
                <a:tc>
                  <a:txBody>
                    <a:bodyPr/>
                    <a:lstStyle/>
                    <a:p>
                      <a:pPr algn="ctr">
                        <a:lnSpc>
                          <a:spcPct val="115000"/>
                        </a:lnSpc>
                        <a:spcAft>
                          <a:spcPts val="0"/>
                        </a:spcAft>
                      </a:pPr>
                      <a:r>
                        <a:rPr lang="zh-CN" altLang="en-US" sz="2000" kern="100" dirty="0">
                          <a:effectLst/>
                          <a:latin typeface="Times New Roman" panose="02020603050405020304" pitchFamily="18" charset="0"/>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latin typeface="Times New Roman" panose="02020603050405020304" pitchFamily="18" charset="0"/>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681924">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2000" kern="100" dirty="0">
                          <a:effectLst/>
                          <a:latin typeface="Times New Roman" panose="02020603050405020304" pitchFamily="18" charset="0"/>
                        </a:rPr>
                        <a:t>恒等：</a:t>
                      </a:r>
                      <a:r>
                        <a:rPr sz="2000" kern="100" dirty="0">
                          <a:effectLst/>
                        </a:rPr>
                        <a:t>若c1是1，则e1也是1，否则e1为0。</a:t>
                      </a:r>
                      <a:endParaRPr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70104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2000" kern="100" dirty="0">
                          <a:effectLst/>
                          <a:latin typeface="Times New Roman" panose="02020603050405020304" pitchFamily="18" charset="0"/>
                        </a:rPr>
                        <a:t>非（相反）：</a:t>
                      </a:r>
                      <a:r>
                        <a:rPr sz="2000" kern="100" dirty="0">
                          <a:effectLst/>
                        </a:rPr>
                        <a:t>若c1是1，则e1是0，否则e1为1。</a:t>
                      </a:r>
                      <a:endParaRPr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1173480">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a:effectLst/>
                          <a:latin typeface="Times New Roman" panose="02020603050405020304" pitchFamily="18" charset="0"/>
                        </a:rPr>
                        <a:t>或：若c1或c2或c3是1，则e1是1，否则e1为0。</a:t>
                      </a:r>
                      <a:endParaRPr lang="zh-CN" altLang="en-US"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3"/>
                  </a:ext>
                </a:extLst>
              </a:tr>
              <a:tr h="941136">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a:effectLst/>
                          <a:latin typeface="Times New Roman" panose="02020603050405020304" pitchFamily="18" charset="0"/>
                        </a:rPr>
                        <a:t>与：若c1和c2都是1，则e1是1，否则e1为0。</a:t>
                      </a:r>
                      <a:endParaRPr lang="zh-CN" altLang="en-US"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4"/>
                  </a:ext>
                </a:extLst>
              </a:tr>
            </a:tbl>
          </a:graphicData>
        </a:graphic>
      </p:graphicFrame>
      <p:pic>
        <p:nvPicPr>
          <p:cNvPr id="154625" name="Picture 1"/>
          <p:cNvPicPr>
            <a:picLocks noChangeAspect="1" noChangeArrowheads="1"/>
          </p:cNvPicPr>
          <p:nvPr/>
        </p:nvPicPr>
        <p:blipFill>
          <a:blip r:embed="rId3" cstate="print"/>
          <a:srcRect/>
          <a:stretch>
            <a:fillRect/>
          </a:stretch>
        </p:blipFill>
        <p:spPr bwMode="auto">
          <a:xfrm>
            <a:off x="1836420" y="2808923"/>
            <a:ext cx="1143000" cy="600075"/>
          </a:xfrm>
          <a:prstGeom prst="rect">
            <a:avLst/>
          </a:prstGeom>
          <a:noFill/>
          <a:ln w="9525">
            <a:noFill/>
            <a:miter lim="800000"/>
            <a:headEnd/>
            <a:tailEnd/>
          </a:ln>
          <a:effectLst/>
        </p:spPr>
      </p:pic>
      <p:pic>
        <p:nvPicPr>
          <p:cNvPr id="154626" name="Picture 2"/>
          <p:cNvPicPr>
            <a:picLocks noChangeAspect="1" noChangeArrowheads="1"/>
          </p:cNvPicPr>
          <p:nvPr/>
        </p:nvPicPr>
        <p:blipFill>
          <a:blip r:embed="rId4" cstate="print"/>
          <a:srcRect/>
          <a:stretch>
            <a:fillRect/>
          </a:stretch>
        </p:blipFill>
        <p:spPr bwMode="auto">
          <a:xfrm>
            <a:off x="1645920" y="3503295"/>
            <a:ext cx="1524000" cy="552450"/>
          </a:xfrm>
          <a:prstGeom prst="rect">
            <a:avLst/>
          </a:prstGeom>
          <a:noFill/>
          <a:ln w="9525">
            <a:noFill/>
            <a:miter lim="800000"/>
            <a:headEnd/>
            <a:tailEnd/>
          </a:ln>
          <a:effectLst/>
        </p:spPr>
      </p:pic>
      <p:pic>
        <p:nvPicPr>
          <p:cNvPr id="154627" name="Picture 3"/>
          <p:cNvPicPr>
            <a:picLocks noChangeAspect="1" noChangeArrowheads="1"/>
          </p:cNvPicPr>
          <p:nvPr/>
        </p:nvPicPr>
        <p:blipFill>
          <a:blip r:embed="rId5" cstate="print"/>
          <a:srcRect/>
          <a:stretch>
            <a:fillRect/>
          </a:stretch>
        </p:blipFill>
        <p:spPr bwMode="auto">
          <a:xfrm>
            <a:off x="1907859" y="4193859"/>
            <a:ext cx="1079181" cy="1079181"/>
          </a:xfrm>
          <a:prstGeom prst="rect">
            <a:avLst/>
          </a:prstGeom>
          <a:noFill/>
          <a:ln w="9525">
            <a:noFill/>
            <a:miter lim="800000"/>
            <a:headEnd/>
            <a:tailEnd/>
          </a:ln>
          <a:effectLst/>
        </p:spPr>
      </p:pic>
      <p:pic>
        <p:nvPicPr>
          <p:cNvPr id="154628" name="Picture 4"/>
          <p:cNvPicPr>
            <a:picLocks noChangeAspect="1" noChangeArrowheads="1"/>
          </p:cNvPicPr>
          <p:nvPr/>
        </p:nvPicPr>
        <p:blipFill>
          <a:blip r:embed="rId6" cstate="print"/>
          <a:srcRect/>
          <a:stretch>
            <a:fillRect/>
          </a:stretch>
        </p:blipFill>
        <p:spPr bwMode="auto">
          <a:xfrm>
            <a:off x="1973580" y="5367338"/>
            <a:ext cx="937260" cy="820103"/>
          </a:xfrm>
          <a:prstGeom prst="rect">
            <a:avLst/>
          </a:prstGeom>
          <a:noFill/>
          <a:ln w="9525">
            <a:noFill/>
            <a:miter lim="800000"/>
            <a:headEnd/>
            <a:tailEnd/>
          </a:ln>
          <a:effectLst/>
        </p:spPr>
      </p:pic>
      <p:sp>
        <p:nvSpPr>
          <p:cNvPr id="10" name="矩形 7"/>
          <p:cNvSpPr>
            <a:spLocks noChangeArrowheads="1"/>
          </p:cNvSpPr>
          <p:nvPr/>
        </p:nvSpPr>
        <p:spPr bwMode="auto">
          <a:xfrm>
            <a:off x="3213685" y="1476619"/>
            <a:ext cx="751345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因果图中的</a:t>
            </a:r>
            <a:r>
              <a:rPr lang="en-US" altLang="en-US" b="1" dirty="0">
                <a:solidFill>
                  <a:srgbClr val="E67819"/>
                </a:solidFill>
                <a:latin typeface="微软雅黑" panose="020B0503020204020204" charset="-122"/>
                <a:ea typeface="微软雅黑" panose="020B0503020204020204" charset="-122"/>
              </a:rPr>
              <a:t>4</a:t>
            </a:r>
            <a:r>
              <a:rPr lang="zh-CN" altLang="en-US" b="1" dirty="0">
                <a:solidFill>
                  <a:srgbClr val="E67819"/>
                </a:solidFill>
                <a:latin typeface="微软雅黑" panose="020B0503020204020204" charset="-122"/>
                <a:ea typeface="微软雅黑" panose="020B0503020204020204" charset="-122"/>
              </a:rPr>
              <a:t>种逻辑关系：</a:t>
            </a:r>
          </a:p>
        </p:txBody>
      </p:sp>
    </p:spTree>
  </p:cSld>
  <p:clrMapOvr>
    <a:masterClrMapping/>
  </p:clrMapOvr>
  <p:transition>
    <p:pull dir="rd"/>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endParaRPr lang="zh-CN" altLang="en-US" dirty="0">
              <a:sym typeface="+mn-ea"/>
            </a:endParaRPr>
          </a:p>
        </p:txBody>
      </p:sp>
      <p:sp>
        <p:nvSpPr>
          <p:cNvPr id="4" name="文本占位符 3">
            <a:extLst>
              <a:ext uri="{FF2B5EF4-FFF2-40B4-BE49-F238E27FC236}">
                <a16:creationId xmlns:a16="http://schemas.microsoft.com/office/drawing/2014/main" id="{0D4748DA-3527-107B-E1D1-64EBF84ECFA1}"/>
              </a:ext>
            </a:extLst>
          </p:cNvPr>
          <p:cNvSpPr>
            <a:spLocks noGrp="1"/>
          </p:cNvSpPr>
          <p:nvPr>
            <p:ph type="body" sz="quarter" idx="10"/>
          </p:nvPr>
        </p:nvSpPr>
        <p:spPr>
          <a:xfrm>
            <a:off x="696000" y="1322832"/>
            <a:ext cx="11160000" cy="400110"/>
          </a:xfrm>
        </p:spPr>
        <p:txBody>
          <a:bodyPr/>
          <a:lstStyle/>
          <a:p>
            <a:r>
              <a:rPr lang="en-US" altLang="zh-CN" dirty="0"/>
              <a:t>4.5.6 </a:t>
            </a:r>
            <a:r>
              <a:rPr lang="zh-CN" altLang="en-US" dirty="0"/>
              <a:t>因果图法</a:t>
            </a:r>
          </a:p>
        </p:txBody>
      </p:sp>
      <p:sp>
        <p:nvSpPr>
          <p:cNvPr id="13" name="文本占位符 12">
            <a:extLst>
              <a:ext uri="{FF2B5EF4-FFF2-40B4-BE49-F238E27FC236}">
                <a16:creationId xmlns:a16="http://schemas.microsoft.com/office/drawing/2014/main" id="{24F03EBC-8A95-9EEB-73AA-2CB4D7AABA79}"/>
              </a:ext>
            </a:extLst>
          </p:cNvPr>
          <p:cNvSpPr>
            <a:spLocks noGrp="1"/>
          </p:cNvSpPr>
          <p:nvPr>
            <p:ph type="body" sz="quarter" idx="11"/>
          </p:nvPr>
        </p:nvSpPr>
        <p:spPr/>
        <p:txBody>
          <a:bodyPr/>
          <a:lstStyle/>
          <a:p>
            <a:endParaRPr lang="zh-CN" altLang="en-US"/>
          </a:p>
        </p:txBody>
      </p:sp>
      <p:graphicFrame>
        <p:nvGraphicFramePr>
          <p:cNvPr id="6" name="表格 5"/>
          <p:cNvGraphicFramePr>
            <a:graphicFrameLocks noGrp="1"/>
          </p:cNvGraphicFramePr>
          <p:nvPr/>
        </p:nvGraphicFramePr>
        <p:xfrm>
          <a:off x="944880" y="2087880"/>
          <a:ext cx="10026650" cy="4130040"/>
        </p:xfrm>
        <a:graphic>
          <a:graphicData uri="http://schemas.openxmlformats.org/drawingml/2006/table">
            <a:tbl>
              <a:tblPr firstRow="1" firstCol="1" bandRow="1">
                <a:tableStyleId>{F5AB1C69-6EDB-4FF4-983F-18BD219EF322}</a:tableStyleId>
              </a:tblPr>
              <a:tblGrid>
                <a:gridCol w="1932305">
                  <a:extLst>
                    <a:ext uri="{9D8B030D-6E8A-4147-A177-3AD203B41FA5}">
                      <a16:colId xmlns:a16="http://schemas.microsoft.com/office/drawing/2014/main" val="20000"/>
                    </a:ext>
                  </a:extLst>
                </a:gridCol>
                <a:gridCol w="3477895">
                  <a:extLst>
                    <a:ext uri="{9D8B030D-6E8A-4147-A177-3AD203B41FA5}">
                      <a16:colId xmlns:a16="http://schemas.microsoft.com/office/drawing/2014/main" val="20001"/>
                    </a:ext>
                  </a:extLst>
                </a:gridCol>
                <a:gridCol w="1928495">
                  <a:extLst>
                    <a:ext uri="{9D8B030D-6E8A-4147-A177-3AD203B41FA5}">
                      <a16:colId xmlns:a16="http://schemas.microsoft.com/office/drawing/2014/main" val="20002"/>
                    </a:ext>
                  </a:extLst>
                </a:gridCol>
                <a:gridCol w="2687955">
                  <a:extLst>
                    <a:ext uri="{9D8B030D-6E8A-4147-A177-3AD203B41FA5}">
                      <a16:colId xmlns:a16="http://schemas.microsoft.com/office/drawing/2014/main" val="20003"/>
                    </a:ext>
                  </a:extLst>
                </a:gridCol>
              </a:tblGrid>
              <a:tr h="563880">
                <a:tc>
                  <a:txBody>
                    <a:bodyPr/>
                    <a:lstStyle/>
                    <a:p>
                      <a:pPr algn="ctr">
                        <a:lnSpc>
                          <a:spcPct val="115000"/>
                        </a:lnSpc>
                        <a:spcAft>
                          <a:spcPts val="0"/>
                        </a:spcAft>
                      </a:pPr>
                      <a:r>
                        <a:rPr lang="zh-CN" altLang="en-US" sz="2000" kern="100" dirty="0">
                          <a:effectLst/>
                          <a:latin typeface="Times New Roman" panose="02020603050405020304" pitchFamily="18" charset="0"/>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latin typeface="Times New Roman" panose="02020603050405020304" pitchFamily="18" charset="0"/>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buNone/>
                      </a:pPr>
                      <a:r>
                        <a:rPr lang="zh-CN" altLang="en-US" sz="2000" kern="100" dirty="0">
                          <a:effectLst/>
                          <a:latin typeface="Times New Roman" panose="02020603050405020304" pitchFamily="18" charset="0"/>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buNone/>
                      </a:pPr>
                      <a:r>
                        <a:rPr lang="zh-CN" altLang="en-US" sz="2000" kern="100" dirty="0">
                          <a:effectLst/>
                          <a:latin typeface="Times New Roman" panose="02020603050405020304" pitchFamily="18" charset="0"/>
                        </a:rPr>
                        <a:t>表示内容</a:t>
                      </a:r>
                      <a:endParaRPr lang="zh-CN" altLang="en-US"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1096051">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marR="0" indent="-285750" algn="just" defTabSz="914400" rtl="0" eaLnBrk="1" fontAlgn="auto" latinLnBrk="0" hangingPunct="1">
                        <a:lnSpc>
                          <a:spcPct val="120000"/>
                        </a:lnSpc>
                        <a:spcBef>
                          <a:spcPts val="0"/>
                        </a:spcBef>
                        <a:spcAft>
                          <a:spcPts val="0"/>
                        </a:spcAft>
                        <a:buClrTx/>
                        <a:buSzTx/>
                        <a:buFont typeface="Arial" panose="020B0604020202020204" pitchFamily="34" charset="0"/>
                        <a:buChar char="•"/>
                        <a:defRPr/>
                      </a:pPr>
                      <a:r>
                        <a:rPr lang="zh-CN" altLang="en-US" sz="2000" kern="100" dirty="0">
                          <a:effectLst/>
                          <a:latin typeface="Times New Roman" panose="02020603050405020304" pitchFamily="18" charset="0"/>
                        </a:rPr>
                        <a:t>异约束：</a:t>
                      </a:r>
                      <a:r>
                        <a:rPr sz="2000" kern="100" dirty="0">
                          <a:effectLst/>
                        </a:rPr>
                        <a:t>a和b只有一个可能为1，不能同时为1。</a:t>
                      </a:r>
                      <a:endParaRPr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a:effectLst/>
                          <a:latin typeface="Times New Roman" panose="02020603050405020304" pitchFamily="18" charset="0"/>
                        </a:rPr>
                        <a:t>要求约束：a是1时，b必须是1，不可能为0。</a:t>
                      </a:r>
                      <a:endParaRPr lang="zh-CN" altLang="en-US"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1311869">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a:effectLst/>
                          <a:latin typeface="Times New Roman" panose="02020603050405020304" pitchFamily="18" charset="0"/>
                        </a:rPr>
                        <a:t>或约束：</a:t>
                      </a:r>
                      <a:r>
                        <a:rPr sz="2000" kern="100" dirty="0">
                          <a:effectLst/>
                        </a:rPr>
                        <a:t>a，b，c中至少有一个必须为1，即a，b，c不能同时为0。</a:t>
                      </a:r>
                      <a:endParaRPr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a:effectLst/>
                          <a:latin typeface="Times New Roman" panose="02020603050405020304" pitchFamily="18" charset="0"/>
                        </a:rPr>
                        <a:t>强制约束：若结果a是1，则结果b强制为0。</a:t>
                      </a:r>
                      <a:endParaRPr lang="zh-CN" altLang="en-US"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115824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a:effectLst/>
                          <a:latin typeface="Times New Roman" panose="02020603050405020304" pitchFamily="18" charset="0"/>
                        </a:rPr>
                        <a:t>唯一约束：a和b中必须有一个为1，且只有一个为1。</a:t>
                      </a:r>
                      <a:endParaRPr lang="zh-CN" altLang="en-US" sz="2000" kern="100" dirty="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3"/>
                  </a:ext>
                </a:extLst>
              </a:tr>
            </a:tbl>
          </a:graphicData>
        </a:graphic>
      </p:graphicFrame>
      <p:pic>
        <p:nvPicPr>
          <p:cNvPr id="152577" name="Picture 1"/>
          <p:cNvPicPr>
            <a:picLocks noChangeAspect="1" noChangeArrowheads="1"/>
          </p:cNvPicPr>
          <p:nvPr/>
        </p:nvPicPr>
        <p:blipFill>
          <a:blip r:embed="rId3" cstate="print"/>
          <a:srcRect/>
          <a:stretch>
            <a:fillRect/>
          </a:stretch>
        </p:blipFill>
        <p:spPr bwMode="auto">
          <a:xfrm>
            <a:off x="1359218" y="2695575"/>
            <a:ext cx="1304925" cy="1009650"/>
          </a:xfrm>
          <a:prstGeom prst="rect">
            <a:avLst/>
          </a:prstGeom>
          <a:noFill/>
          <a:ln w="9525">
            <a:noFill/>
            <a:miter lim="800000"/>
            <a:headEnd/>
            <a:tailEnd/>
          </a:ln>
          <a:effectLst/>
        </p:spPr>
      </p:pic>
      <p:pic>
        <p:nvPicPr>
          <p:cNvPr id="152578" name="Picture 2"/>
          <p:cNvPicPr>
            <a:picLocks noChangeAspect="1" noChangeArrowheads="1"/>
          </p:cNvPicPr>
          <p:nvPr/>
        </p:nvPicPr>
        <p:blipFill>
          <a:blip r:embed="rId4" cstate="print"/>
          <a:srcRect/>
          <a:stretch>
            <a:fillRect/>
          </a:stretch>
        </p:blipFill>
        <p:spPr bwMode="auto">
          <a:xfrm>
            <a:off x="1508759" y="3788846"/>
            <a:ext cx="1064895" cy="1231782"/>
          </a:xfrm>
          <a:prstGeom prst="rect">
            <a:avLst/>
          </a:prstGeom>
          <a:noFill/>
          <a:ln w="9525">
            <a:noFill/>
            <a:miter lim="800000"/>
            <a:headEnd/>
            <a:tailEnd/>
          </a:ln>
          <a:effectLst/>
        </p:spPr>
      </p:pic>
      <p:pic>
        <p:nvPicPr>
          <p:cNvPr id="152579" name="Picture 3"/>
          <p:cNvPicPr>
            <a:picLocks noChangeAspect="1" noChangeArrowheads="1"/>
          </p:cNvPicPr>
          <p:nvPr/>
        </p:nvPicPr>
        <p:blipFill>
          <a:blip r:embed="rId5" cstate="print"/>
          <a:srcRect/>
          <a:stretch>
            <a:fillRect/>
          </a:stretch>
        </p:blipFill>
        <p:spPr bwMode="auto">
          <a:xfrm>
            <a:off x="1503045" y="5067300"/>
            <a:ext cx="1047750" cy="1143000"/>
          </a:xfrm>
          <a:prstGeom prst="rect">
            <a:avLst/>
          </a:prstGeom>
          <a:noFill/>
          <a:ln w="9525">
            <a:noFill/>
            <a:miter lim="800000"/>
            <a:headEnd/>
            <a:tailEnd/>
          </a:ln>
          <a:effectLst/>
        </p:spPr>
      </p:pic>
      <p:pic>
        <p:nvPicPr>
          <p:cNvPr id="152580" name="Picture 4"/>
          <p:cNvPicPr>
            <a:picLocks noChangeAspect="1" noChangeArrowheads="1"/>
          </p:cNvPicPr>
          <p:nvPr/>
        </p:nvPicPr>
        <p:blipFill>
          <a:blip r:embed="rId6" cstate="print"/>
          <a:srcRect/>
          <a:stretch>
            <a:fillRect/>
          </a:stretch>
        </p:blipFill>
        <p:spPr bwMode="auto">
          <a:xfrm>
            <a:off x="6672263" y="2709863"/>
            <a:ext cx="1133475" cy="993457"/>
          </a:xfrm>
          <a:prstGeom prst="rect">
            <a:avLst/>
          </a:prstGeom>
          <a:noFill/>
          <a:ln w="9525">
            <a:noFill/>
            <a:miter lim="800000"/>
            <a:headEnd/>
            <a:tailEnd/>
          </a:ln>
          <a:effectLst/>
        </p:spPr>
      </p:pic>
      <p:pic>
        <p:nvPicPr>
          <p:cNvPr id="152581" name="Picture 5"/>
          <p:cNvPicPr>
            <a:picLocks noChangeAspect="1" noChangeArrowheads="1"/>
          </p:cNvPicPr>
          <p:nvPr/>
        </p:nvPicPr>
        <p:blipFill>
          <a:blip r:embed="rId7" cstate="print"/>
          <a:srcRect/>
          <a:stretch>
            <a:fillRect/>
          </a:stretch>
        </p:blipFill>
        <p:spPr bwMode="auto">
          <a:xfrm>
            <a:off x="6805613" y="3798570"/>
            <a:ext cx="866775" cy="1181100"/>
          </a:xfrm>
          <a:prstGeom prst="rect">
            <a:avLst/>
          </a:prstGeom>
          <a:noFill/>
          <a:ln w="9525">
            <a:noFill/>
            <a:miter lim="800000"/>
            <a:headEnd/>
            <a:tailEnd/>
          </a:ln>
          <a:effectLst/>
        </p:spPr>
      </p:pic>
      <p:sp>
        <p:nvSpPr>
          <p:cNvPr id="11" name="矩形 7"/>
          <p:cNvSpPr>
            <a:spLocks noChangeArrowheads="1"/>
          </p:cNvSpPr>
          <p:nvPr/>
        </p:nvSpPr>
        <p:spPr bwMode="auto">
          <a:xfrm>
            <a:off x="3213685" y="1476619"/>
            <a:ext cx="751345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输入条件的约束有以下几种：</a:t>
            </a:r>
          </a:p>
        </p:txBody>
      </p:sp>
    </p:spTree>
  </p:cSld>
  <p:clrMapOvr>
    <a:masterClrMapping/>
  </p:clrMapOvr>
  <p:transition>
    <p:pull dir="rd"/>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10574655" cy="3609975"/>
            <a:chOff x="1275" y="2210"/>
            <a:chExt cx="16653" cy="5685"/>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6429" cy="4745"/>
              <a:chOff x="1499" y="3150"/>
              <a:chExt cx="16429" cy="4745"/>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用因果图法设计测试用例。</a:t>
                </a:r>
              </a:p>
            </p:txBody>
          </p:sp>
          <p:sp>
            <p:nvSpPr>
              <p:cNvPr id="24" name="矩形 23"/>
              <p:cNvSpPr>
                <a:spLocks noChangeAspect="1"/>
              </p:cNvSpPr>
              <p:nvPr/>
            </p:nvSpPr>
            <p:spPr>
              <a:xfrm>
                <a:off x="1499" y="4275"/>
                <a:ext cx="16429" cy="362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2981"/>
              </a:xfrm>
              <a:prstGeom prst="rect">
                <a:avLst/>
              </a:prstGeom>
              <a:solidFill>
                <a:schemeClr val="bg1">
                  <a:lumMod val="95000"/>
                </a:schemeClr>
              </a:solidFill>
            </p:spPr>
            <p:txBody>
              <a:bodyPr wrap="square">
                <a:spAutoFit/>
              </a:bodyPr>
              <a:lstStyle/>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grpSp>
      <p:sp>
        <p:nvSpPr>
          <p:cNvPr id="13" name="矩形 12"/>
          <p:cNvSpPr/>
          <p:nvPr/>
        </p:nvSpPr>
        <p:spPr>
          <a:xfrm>
            <a:off x="1402080" y="3214107"/>
            <a:ext cx="9220200" cy="1172629"/>
          </a:xfrm>
          <a:prstGeom prst="rect">
            <a:avLst/>
          </a:prstGeom>
        </p:spPr>
        <p:txBody>
          <a:bodyPr wrap="square">
            <a:spAutoFit/>
          </a:bodyPr>
          <a:lstStyle/>
          <a:p>
            <a:pPr fontAlgn="auto">
              <a:lnSpc>
                <a:spcPct val="130000"/>
              </a:lnSpc>
            </a:pPr>
            <a:r>
              <a:rPr lang="zh-CN" altLang="en-US" dirty="0">
                <a:latin typeface="Times New Roman" panose="02020603050405020304" charset="0"/>
                <a:ea typeface="微软雅黑 Light" panose="020B0502040204020203" pitchFamily="34" charset="-122"/>
              </a:rPr>
              <a:t>        某规格说明如下：输入的第一列字符必须是</a:t>
            </a:r>
            <a:r>
              <a:rPr lang="en-US" altLang="zh-CN" dirty="0">
                <a:latin typeface="Times New Roman" panose="02020603050405020304" charset="0"/>
                <a:ea typeface="微软雅黑 Light" panose="020B0502040204020203" pitchFamily="34" charset="-122"/>
              </a:rPr>
              <a:t>A</a:t>
            </a:r>
            <a:r>
              <a:rPr lang="zh-CN" altLang="en-US" dirty="0">
                <a:latin typeface="Times New Roman" panose="02020603050405020304" charset="0"/>
                <a:ea typeface="微软雅黑 Light" panose="020B0502040204020203" pitchFamily="34" charset="-122"/>
              </a:rPr>
              <a:t>或</a:t>
            </a:r>
            <a:r>
              <a:rPr lang="en-US" altLang="zh-CN" dirty="0">
                <a:latin typeface="Times New Roman" panose="02020603050405020304" charset="0"/>
                <a:ea typeface="微软雅黑 Light" panose="020B0502040204020203" pitchFamily="34" charset="-122"/>
              </a:rPr>
              <a:t>B</a:t>
            </a:r>
            <a:r>
              <a:rPr lang="zh-CN" altLang="en-US" dirty="0">
                <a:latin typeface="Times New Roman" panose="02020603050405020304" charset="0"/>
                <a:ea typeface="微软雅黑 Light" panose="020B0502040204020203" pitchFamily="34" charset="-122"/>
              </a:rPr>
              <a:t>，第二列字符必须是一个数字。第一、二列都满足条件时执行操作</a:t>
            </a:r>
            <a:r>
              <a:rPr lang="en-US" altLang="zh-CN" dirty="0">
                <a:latin typeface="Times New Roman" panose="02020603050405020304" charset="0"/>
                <a:ea typeface="微软雅黑 Light" panose="020B0502040204020203" pitchFamily="34" charset="-122"/>
              </a:rPr>
              <a:t>H</a:t>
            </a:r>
            <a:r>
              <a:rPr lang="zh-CN" altLang="en-US" dirty="0">
                <a:latin typeface="Times New Roman" panose="02020603050405020304" charset="0"/>
                <a:ea typeface="微软雅黑 Light" panose="020B0502040204020203" pitchFamily="34" charset="-122"/>
              </a:rPr>
              <a:t>；如果第一列字符不正确，则给出信息</a:t>
            </a:r>
            <a:r>
              <a:rPr lang="en-US" altLang="zh-CN" dirty="0">
                <a:latin typeface="Times New Roman" panose="02020603050405020304" charset="0"/>
                <a:ea typeface="微软雅黑 Light" panose="020B0502040204020203" pitchFamily="34" charset="-122"/>
              </a:rPr>
              <a:t>L</a:t>
            </a:r>
            <a:r>
              <a:rPr lang="zh-CN" altLang="en-US" dirty="0">
                <a:latin typeface="Times New Roman" panose="02020603050405020304" charset="0"/>
                <a:ea typeface="微软雅黑 Light" panose="020B0502040204020203" pitchFamily="34" charset="-122"/>
              </a:rPr>
              <a:t>；如果第二列字符不正确，则给出信息</a:t>
            </a:r>
            <a:r>
              <a:rPr lang="en-US" altLang="zh-CN" dirty="0">
                <a:latin typeface="Times New Roman" panose="02020603050405020304" charset="0"/>
                <a:ea typeface="微软雅黑 Light" panose="020B0502040204020203" pitchFamily="34" charset="-122"/>
              </a:rPr>
              <a:t>R</a:t>
            </a:r>
            <a:r>
              <a:rPr lang="zh-CN" altLang="en-US" dirty="0">
                <a:latin typeface="Times New Roman" panose="02020603050405020304" charset="0"/>
                <a:ea typeface="微软雅黑 Light" panose="020B0502040204020203" pitchFamily="34" charset="-122"/>
              </a:rPr>
              <a:t>。根据上述要求画出因果图，并设计测试用例。</a:t>
            </a:r>
          </a:p>
        </p:txBody>
      </p:sp>
    </p:spTree>
  </p:cSld>
  <p:clrMapOvr>
    <a:masterClrMapping/>
  </p:clrMapOvr>
  <p:transition>
    <p:pull dir="rd"/>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10574655" cy="4295775"/>
            <a:chOff x="1275" y="2210"/>
            <a:chExt cx="16653" cy="6765"/>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6429" cy="5825"/>
              <a:chOff x="1499" y="3150"/>
              <a:chExt cx="16429" cy="5825"/>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用因果图法设计测试用例。</a:t>
                </a:r>
              </a:p>
            </p:txBody>
          </p:sp>
          <p:sp>
            <p:nvSpPr>
              <p:cNvPr id="24" name="矩形 23"/>
              <p:cNvSpPr>
                <a:spLocks noChangeAspect="1"/>
              </p:cNvSpPr>
              <p:nvPr/>
            </p:nvSpPr>
            <p:spPr>
              <a:xfrm>
                <a:off x="1499" y="4275"/>
                <a:ext cx="16429" cy="470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115"/>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（1）分析因果。</a:t>
                </a:r>
              </a:p>
              <a:p>
                <a:pPr fontAlgn="auto">
                  <a:lnSpc>
                    <a:spcPct val="130000"/>
                  </a:lnSpc>
                </a:pPr>
                <a:r>
                  <a:rPr lang="en-US" altLang="en-US" dirty="0">
                    <a:latin typeface="Times New Roman" panose="02020603050405020304" charset="0"/>
                    <a:ea typeface="微软雅黑 Light" panose="020B0502040204020203" pitchFamily="34" charset="-122"/>
                  </a:rPr>
                  <a:t>先列出原因并编号：</a:t>
                </a:r>
              </a:p>
              <a:p>
                <a:pPr marL="285750" indent="-285750" fontAlgn="auto">
                  <a:lnSpc>
                    <a:spcPct val="130000"/>
                  </a:lnSpc>
                  <a:buClrTx/>
                  <a:buFont typeface="Wingdings" panose="05000000000000000000" charset="0"/>
                  <a:buChar char="Ø"/>
                </a:pPr>
                <a:r>
                  <a:rPr lang="en-US" altLang="en-US" dirty="0">
                    <a:latin typeface="Times New Roman" panose="02020603050405020304" charset="0"/>
                    <a:ea typeface="微软雅黑 Light" panose="020B0502040204020203" pitchFamily="34" charset="-122"/>
                  </a:rPr>
                  <a:t>条件原因1：第一列字符是A。</a:t>
                </a:r>
              </a:p>
              <a:p>
                <a:pPr marL="285750" indent="-285750" fontAlgn="auto">
                  <a:lnSpc>
                    <a:spcPct val="130000"/>
                  </a:lnSpc>
                  <a:buClrTx/>
                  <a:buFont typeface="Wingdings" panose="05000000000000000000" charset="0"/>
                  <a:buChar char="Ø"/>
                </a:pPr>
                <a:r>
                  <a:rPr lang="en-US" altLang="en-US" dirty="0">
                    <a:latin typeface="Times New Roman" panose="02020603050405020304" charset="0"/>
                    <a:ea typeface="微软雅黑 Light" panose="020B0502040204020203" pitchFamily="34" charset="-122"/>
                  </a:rPr>
                  <a:t>条件原因2：第一列字符是B。</a:t>
                </a:r>
              </a:p>
              <a:p>
                <a:pPr marL="285750" indent="-285750" fontAlgn="auto">
                  <a:lnSpc>
                    <a:spcPct val="130000"/>
                  </a:lnSpc>
                  <a:buClrTx/>
                  <a:buFont typeface="Wingdings" panose="05000000000000000000" charset="0"/>
                  <a:buChar char="Ø"/>
                </a:pPr>
                <a:r>
                  <a:rPr lang="en-US" altLang="en-US" dirty="0">
                    <a:latin typeface="Times New Roman" panose="02020603050405020304" charset="0"/>
                    <a:ea typeface="微软雅黑 Light" panose="020B0502040204020203" pitchFamily="34" charset="-122"/>
                  </a:rPr>
                  <a:t>条件原因3：第二列字符是一个数字。</a:t>
                </a:r>
              </a:p>
              <a:p>
                <a:pPr fontAlgn="auto">
                  <a:lnSpc>
                    <a:spcPct val="130000"/>
                  </a:lnSpc>
                </a:pPr>
                <a:r>
                  <a:rPr lang="en-US" altLang="en-US" dirty="0">
                    <a:latin typeface="Times New Roman" panose="02020603050405020304" charset="0"/>
                    <a:ea typeface="微软雅黑 Light" panose="020B0502040204020203" pitchFamily="34" charset="-122"/>
                  </a:rPr>
                  <a:t>由于原因1和原因2不可能同时成立，可</a:t>
                </a:r>
              </a:p>
              <a:p>
                <a:pPr fontAlgn="auto">
                  <a:lnSpc>
                    <a:spcPct val="130000"/>
                  </a:lnSpc>
                </a:pPr>
                <a:r>
                  <a:rPr lang="en-US" altLang="en-US" dirty="0" err="1">
                    <a:latin typeface="Times New Roman" panose="02020603050405020304" charset="0"/>
                    <a:ea typeface="微软雅黑 Light" panose="020B0502040204020203" pitchFamily="34" charset="-122"/>
                  </a:rPr>
                  <a:t>用E约束或O约束</a:t>
                </a:r>
                <a:r>
                  <a:rPr lang="en-US" altLang="en-US" dirty="0">
                    <a:latin typeface="Times New Roman" panose="02020603050405020304" charset="0"/>
                    <a:ea typeface="微软雅黑 Light" panose="020B0502040204020203" pitchFamily="34" charset="-122"/>
                  </a:rPr>
                  <a:t>。</a:t>
                </a:r>
              </a:p>
            </p:txBody>
          </p:sp>
        </p:grpSp>
      </p:grpSp>
      <p:sp>
        <p:nvSpPr>
          <p:cNvPr id="13" name="矩形 12"/>
          <p:cNvSpPr/>
          <p:nvPr/>
        </p:nvSpPr>
        <p:spPr>
          <a:xfrm>
            <a:off x="5577840" y="3263802"/>
            <a:ext cx="5501640" cy="2252924"/>
          </a:xfrm>
          <a:prstGeom prst="rect">
            <a:avLst/>
          </a:prstGeom>
        </p:spPr>
        <p:txBody>
          <a:bodyPr wrap="square">
            <a:spAutoFit/>
          </a:bodyPr>
          <a:lstStyle/>
          <a:p>
            <a:pPr fontAlgn="auto">
              <a:lnSpc>
                <a:spcPct val="130000"/>
              </a:lnSpc>
            </a:pPr>
            <a:r>
              <a:rPr lang="en-US" altLang="en-US" dirty="0" err="1">
                <a:latin typeface="Times New Roman" panose="02020603050405020304" charset="0"/>
                <a:ea typeface="微软雅黑 Light" panose="020B0502040204020203" pitchFamily="34" charset="-122"/>
              </a:rPr>
              <a:t>再列出结果并编号</a:t>
            </a:r>
            <a:r>
              <a:rPr lang="en-US" altLang="en-US" dirty="0">
                <a:latin typeface="Times New Roman" panose="02020603050405020304" charset="0"/>
                <a:ea typeface="微软雅黑 Light" panose="020B0502040204020203" pitchFamily="34" charset="-122"/>
              </a:rPr>
              <a:t>：</a:t>
            </a:r>
          </a:p>
          <a:p>
            <a:pPr marL="285750" indent="-285750" fontAlgn="auto">
              <a:lnSpc>
                <a:spcPct val="130000"/>
              </a:lnSpc>
              <a:buClrTx/>
              <a:buFont typeface="Wingdings" panose="05000000000000000000" charset="0"/>
              <a:buChar char="Ø"/>
            </a:pPr>
            <a:r>
              <a:rPr lang="en-US" altLang="en-US" dirty="0">
                <a:latin typeface="Times New Roman" panose="02020603050405020304" charset="0"/>
                <a:ea typeface="微软雅黑 Light" panose="020B0502040204020203" pitchFamily="34" charset="-122"/>
              </a:rPr>
              <a:t>结果21：执行操作H。</a:t>
            </a:r>
          </a:p>
          <a:p>
            <a:pPr marL="285750" indent="-285750" fontAlgn="auto">
              <a:lnSpc>
                <a:spcPct val="130000"/>
              </a:lnSpc>
              <a:buClrTx/>
              <a:buFont typeface="Wingdings" panose="05000000000000000000" charset="0"/>
              <a:buChar char="Ø"/>
            </a:pPr>
            <a:r>
              <a:rPr lang="en-US" altLang="en-US" dirty="0">
                <a:latin typeface="Times New Roman" panose="02020603050405020304" charset="0"/>
                <a:ea typeface="微软雅黑 Light" panose="020B0502040204020203" pitchFamily="34" charset="-122"/>
              </a:rPr>
              <a:t>结果22：给出信息L。</a:t>
            </a:r>
          </a:p>
          <a:p>
            <a:pPr marL="285750" indent="-285750" fontAlgn="auto">
              <a:lnSpc>
                <a:spcPct val="130000"/>
              </a:lnSpc>
              <a:buClrTx/>
              <a:buFont typeface="Wingdings" panose="05000000000000000000" charset="0"/>
              <a:buChar char="Ø"/>
            </a:pPr>
            <a:r>
              <a:rPr lang="en-US" altLang="en-US" dirty="0">
                <a:latin typeface="Times New Roman" panose="02020603050405020304" charset="0"/>
                <a:ea typeface="微软雅黑 Light" panose="020B0502040204020203" pitchFamily="34" charset="-122"/>
              </a:rPr>
              <a:t>结果23：给出信息R。</a:t>
            </a:r>
          </a:p>
          <a:p>
            <a:pPr fontAlgn="auto">
              <a:lnSpc>
                <a:spcPct val="130000"/>
              </a:lnSpc>
            </a:pPr>
            <a:r>
              <a:rPr lang="en-US" altLang="en-US" dirty="0" err="1">
                <a:latin typeface="Times New Roman" panose="02020603050405020304" charset="0"/>
                <a:ea typeface="微软雅黑 Light" panose="020B0502040204020203" pitchFamily="34" charset="-122"/>
              </a:rPr>
              <a:t>如果第一列符合条件，还应检查第二列是否正确</a:t>
            </a:r>
            <a:r>
              <a:rPr lang="en-US" altLang="en-US" dirty="0">
                <a:latin typeface="Times New Roman" panose="02020603050405020304" charset="0"/>
                <a:ea typeface="微软雅黑 Light" panose="020B0502040204020203" pitchFamily="34" charset="-122"/>
              </a:rPr>
              <a:t>。这里将第一列正确的情况编号为11，作为中间结果。</a:t>
            </a:r>
          </a:p>
        </p:txBody>
      </p:sp>
    </p:spTree>
  </p:cSld>
  <p:clrMapOvr>
    <a:masterClrMapping/>
  </p:clrMapOvr>
  <p:transition>
    <p:pull dir="rd"/>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10574655" cy="5004435"/>
            <a:chOff x="1275" y="2210"/>
            <a:chExt cx="16653" cy="78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6429" cy="6941"/>
              <a:chOff x="1499" y="3150"/>
              <a:chExt cx="16429" cy="694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用因果图法设计测试用例。</a:t>
                </a:r>
              </a:p>
            </p:txBody>
          </p:sp>
          <p:sp>
            <p:nvSpPr>
              <p:cNvPr id="24" name="矩形 23"/>
              <p:cNvSpPr>
                <a:spLocks noChangeAspect="1"/>
              </p:cNvSpPr>
              <p:nvPr/>
            </p:nvSpPr>
            <p:spPr>
              <a:xfrm>
                <a:off x="1499" y="4275"/>
                <a:ext cx="16429" cy="58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52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（2）画出因果图，如图所示。</a:t>
                </a: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grpSp>
      <p:pic>
        <p:nvPicPr>
          <p:cNvPr id="146434" name="图片 142"/>
          <p:cNvPicPr>
            <a:picLocks noChangeAspect="1" noChangeArrowheads="1"/>
          </p:cNvPicPr>
          <p:nvPr/>
        </p:nvPicPr>
        <p:blipFill>
          <a:blip r:embed="rId4" cstate="print"/>
          <a:srcRect/>
          <a:stretch>
            <a:fillRect/>
          </a:stretch>
        </p:blipFill>
        <p:spPr bwMode="auto">
          <a:xfrm>
            <a:off x="2360471" y="3337560"/>
            <a:ext cx="6836870" cy="2758440"/>
          </a:xfrm>
          <a:prstGeom prst="rect">
            <a:avLst/>
          </a:prstGeom>
          <a:noFill/>
          <a:ln w="9525">
            <a:noFill/>
            <a:miter lim="800000"/>
            <a:headEnd/>
            <a:tailEnd/>
          </a:ln>
        </p:spPr>
      </p:pic>
    </p:spTree>
  </p:cSld>
  <p:clrMapOvr>
    <a:masterClrMapping/>
  </p:clrMapOvr>
  <p:transition>
    <p:pull dir="rd"/>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5" name="组合 4"/>
          <p:cNvGrpSpPr/>
          <p:nvPr/>
        </p:nvGrpSpPr>
        <p:grpSpPr>
          <a:xfrm>
            <a:off x="879475" y="1482261"/>
            <a:ext cx="10432415" cy="4891405"/>
            <a:chOff x="1499" y="3150"/>
            <a:chExt cx="16429" cy="7703"/>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用因果图法设计测试用例。</a:t>
              </a:r>
            </a:p>
          </p:txBody>
        </p:sp>
        <p:sp>
          <p:nvSpPr>
            <p:cNvPr id="24" name="矩形 23"/>
            <p:cNvSpPr>
              <a:spLocks noChangeAspect="1"/>
            </p:cNvSpPr>
            <p:nvPr/>
          </p:nvSpPr>
          <p:spPr>
            <a:xfrm>
              <a:off x="1499" y="4275"/>
              <a:ext cx="16429" cy="657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6172"/>
            </a:xfrm>
            <a:prstGeom prst="rect">
              <a:avLst/>
            </a:prstGeom>
            <a:solidFill>
              <a:schemeClr val="bg1">
                <a:lumMod val="95000"/>
              </a:schemeClr>
            </a:solidFill>
          </p:spPr>
          <p:txBody>
            <a:bodyPr wrap="square">
              <a:noAutofit/>
            </a:bodyPr>
            <a:lstStyle/>
            <a:p>
              <a:pPr fontAlgn="auto">
                <a:lnSpc>
                  <a:spcPct val="130000"/>
                </a:lnSpc>
              </a:pPr>
              <a:r>
                <a:rPr lang="en-US" altLang="en-US" dirty="0">
                  <a:latin typeface="Times New Roman" panose="02020603050405020304" charset="0"/>
                  <a:ea typeface="微软雅黑 Light" panose="020B0502040204020203" pitchFamily="34" charset="-122"/>
                </a:rPr>
                <a:t>        （3）根据因果图建立判定表，如表所示。</a:t>
              </a: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graphicFrame>
        <p:nvGraphicFramePr>
          <p:cNvPr id="4" name="表格 -1"/>
          <p:cNvGraphicFramePr/>
          <p:nvPr/>
        </p:nvGraphicFramePr>
        <p:xfrm>
          <a:off x="1261110" y="2920612"/>
          <a:ext cx="9668510" cy="3321914"/>
        </p:xfrm>
        <a:graphic>
          <a:graphicData uri="http://schemas.openxmlformats.org/drawingml/2006/table">
            <a:tbl>
              <a:tblPr firstRow="1" bandRow="1">
                <a:tableStyleId>{5940675A-B579-460E-94D1-54222C63F5DA}</a:tableStyleId>
              </a:tblPr>
              <a:tblGrid>
                <a:gridCol w="1150620">
                  <a:extLst>
                    <a:ext uri="{9D8B030D-6E8A-4147-A177-3AD203B41FA5}">
                      <a16:colId xmlns:a16="http://schemas.microsoft.com/office/drawing/2014/main" val="20000"/>
                    </a:ext>
                  </a:extLst>
                </a:gridCol>
                <a:gridCol w="844550">
                  <a:extLst>
                    <a:ext uri="{9D8B030D-6E8A-4147-A177-3AD203B41FA5}">
                      <a16:colId xmlns:a16="http://schemas.microsoft.com/office/drawing/2014/main" val="20001"/>
                    </a:ext>
                  </a:extLst>
                </a:gridCol>
                <a:gridCol w="959485">
                  <a:extLst>
                    <a:ext uri="{9D8B030D-6E8A-4147-A177-3AD203B41FA5}">
                      <a16:colId xmlns:a16="http://schemas.microsoft.com/office/drawing/2014/main" val="20002"/>
                    </a:ext>
                  </a:extLst>
                </a:gridCol>
                <a:gridCol w="956945">
                  <a:extLst>
                    <a:ext uri="{9D8B030D-6E8A-4147-A177-3AD203B41FA5}">
                      <a16:colId xmlns:a16="http://schemas.microsoft.com/office/drawing/2014/main" val="20003"/>
                    </a:ext>
                  </a:extLst>
                </a:gridCol>
                <a:gridCol w="959485">
                  <a:extLst>
                    <a:ext uri="{9D8B030D-6E8A-4147-A177-3AD203B41FA5}">
                      <a16:colId xmlns:a16="http://schemas.microsoft.com/office/drawing/2014/main" val="20004"/>
                    </a:ext>
                  </a:extLst>
                </a:gridCol>
                <a:gridCol w="959485">
                  <a:extLst>
                    <a:ext uri="{9D8B030D-6E8A-4147-A177-3AD203B41FA5}">
                      <a16:colId xmlns:a16="http://schemas.microsoft.com/office/drawing/2014/main" val="20005"/>
                    </a:ext>
                  </a:extLst>
                </a:gridCol>
                <a:gridCol w="961390">
                  <a:extLst>
                    <a:ext uri="{9D8B030D-6E8A-4147-A177-3AD203B41FA5}">
                      <a16:colId xmlns:a16="http://schemas.microsoft.com/office/drawing/2014/main" val="20006"/>
                    </a:ext>
                  </a:extLst>
                </a:gridCol>
                <a:gridCol w="959485">
                  <a:extLst>
                    <a:ext uri="{9D8B030D-6E8A-4147-A177-3AD203B41FA5}">
                      <a16:colId xmlns:a16="http://schemas.microsoft.com/office/drawing/2014/main" val="20007"/>
                    </a:ext>
                  </a:extLst>
                </a:gridCol>
                <a:gridCol w="957580">
                  <a:extLst>
                    <a:ext uri="{9D8B030D-6E8A-4147-A177-3AD203B41FA5}">
                      <a16:colId xmlns:a16="http://schemas.microsoft.com/office/drawing/2014/main" val="20008"/>
                    </a:ext>
                  </a:extLst>
                </a:gridCol>
                <a:gridCol w="959485">
                  <a:extLst>
                    <a:ext uri="{9D8B030D-6E8A-4147-A177-3AD203B41FA5}">
                      <a16:colId xmlns:a16="http://schemas.microsoft.com/office/drawing/2014/main" val="20009"/>
                    </a:ext>
                  </a:extLst>
                </a:gridCol>
              </a:tblGrid>
              <a:tr h="700836">
                <a:tc gridSpan="2">
                  <a:txBody>
                    <a:bodyPr/>
                    <a:lstStyle/>
                    <a:p>
                      <a:pPr marL="0" indent="0" algn="ctr">
                        <a:buNone/>
                      </a:pPr>
                      <a:r>
                        <a:rPr lang="zh-CN" altLang="en-US"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组合条件</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hMerge="1">
                  <a:txBody>
                    <a:bodyPr/>
                    <a:lstStyle/>
                    <a:p>
                      <a:endParaRPr lang="zh-CN"/>
                    </a:p>
                  </a:txBody>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2</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3</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4</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5</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6</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7</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8</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701567">
                <a:tc>
                  <a:txBody>
                    <a:bodyPr/>
                    <a:lstStyle/>
                    <a:p>
                      <a:pPr marL="0" indent="0" algn="ctr">
                        <a:buNone/>
                      </a:pPr>
                      <a:r>
                        <a:rPr lang="zh-CN" altLang="en-US" sz="1800" b="0" u="none" dirty="0">
                          <a:latin typeface="微软雅黑 Light" panose="020B0502040204020203" pitchFamily="34" charset="-122"/>
                          <a:ea typeface="微软雅黑 Light" panose="020B0502040204020203" pitchFamily="34" charset="-122"/>
                          <a:cs typeface="宋体" panose="02010600030101010101" pitchFamily="2" charset="-122"/>
                        </a:rPr>
                        <a:t>条件原因</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2</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3</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700836">
                <a:tc>
                  <a:txBody>
                    <a:bodyPr/>
                    <a:lstStyle/>
                    <a:p>
                      <a:pPr marL="0" indent="0" algn="ctr">
                        <a:buNone/>
                      </a:pPr>
                      <a:r>
                        <a:rPr lang="zh-CN" altLang="en-US" sz="1800" b="0" u="none" dirty="0">
                          <a:latin typeface="微软雅黑 Light" panose="020B0502040204020203" pitchFamily="34" charset="-122"/>
                          <a:ea typeface="微软雅黑 Light" panose="020B0502040204020203" pitchFamily="34" charset="-122"/>
                          <a:cs typeface="宋体" panose="02010600030101010101" pitchFamily="2" charset="-122"/>
                        </a:rPr>
                        <a:t>结果</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22</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21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23</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0</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700836">
                <a:tc gridSpan="2">
                  <a:txBody>
                    <a:bodyPr/>
                    <a:lstStyle/>
                    <a:p>
                      <a:pPr marL="0" indent="0" algn="ctr">
                        <a:buNone/>
                      </a:pPr>
                      <a:r>
                        <a:rPr lang="zh-CN" altLang="en-US" sz="1800" b="0" u="none" dirty="0">
                          <a:latin typeface="微软雅黑 Light" panose="020B0502040204020203" pitchFamily="34" charset="-122"/>
                          <a:ea typeface="微软雅黑 Light" panose="020B0502040204020203" pitchFamily="34" charset="-122"/>
                          <a:cs typeface="宋体" panose="02010600030101010101" pitchFamily="2" charset="-122"/>
                        </a:rPr>
                        <a:t>测试用例</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xBody>
                    <a:bodyPr/>
                    <a:lstStyle/>
                    <a:p>
                      <a:endParaRPr lang="zh-CN"/>
                    </a:p>
                  </a:txBody>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A5</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A3</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A?</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AC</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B2</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B7</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BN</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B!</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C1</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F6</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DA</a:t>
                      </a:r>
                    </a:p>
                    <a:p>
                      <a:pPr marL="0" indent="0" algn="ctr">
                        <a:buNone/>
                      </a:pPr>
                      <a:r>
                        <a:rPr lang="en-US" altLang="zh-CN" sz="1800" b="0" u="none" dirty="0">
                          <a:latin typeface="微软雅黑 Light" panose="020B0502040204020203" pitchFamily="34" charset="-122"/>
                          <a:ea typeface="微软雅黑 Light" panose="020B0502040204020203" pitchFamily="34" charset="-122"/>
                          <a:cs typeface="宋体" panose="02010600030101010101" pitchFamily="2" charset="-122"/>
                        </a:rPr>
                        <a:t>PE</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Tree>
  </p:cSld>
  <p:clrMapOvr>
    <a:masterClrMapping/>
  </p:clrMapOvr>
  <p:transition>
    <p:pull dir="rd"/>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10574655" cy="4487545"/>
            <a:chOff x="1275" y="2210"/>
            <a:chExt cx="16653" cy="7067"/>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6429" cy="6127"/>
              <a:chOff x="1499" y="3150"/>
              <a:chExt cx="16429" cy="6127"/>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用因果图法设计测试用例。</a:t>
                </a:r>
              </a:p>
            </p:txBody>
          </p:sp>
          <p:sp>
            <p:nvSpPr>
              <p:cNvPr id="24" name="矩形 23"/>
              <p:cNvSpPr>
                <a:spLocks noChangeAspect="1"/>
              </p:cNvSpPr>
              <p:nvPr/>
            </p:nvSpPr>
            <p:spPr>
              <a:xfrm>
                <a:off x="1499" y="4275"/>
                <a:ext cx="16429" cy="495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682"/>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在</a:t>
                </a:r>
                <a:r>
                  <a:rPr lang="zh-CN" altLang="en-US" dirty="0">
                    <a:latin typeface="Times New Roman" panose="02020603050405020304" charset="0"/>
                    <a:ea typeface="微软雅黑 Light" panose="020B0502040204020203" pitchFamily="34" charset="-122"/>
                  </a:rPr>
                  <a:t>上表</a:t>
                </a:r>
                <a:r>
                  <a:rPr lang="en-US" altLang="en-US" dirty="0">
                    <a:latin typeface="Times New Roman" panose="02020603050405020304" charset="0"/>
                    <a:ea typeface="微软雅黑 Light" panose="020B0502040204020203" pitchFamily="34" charset="-122"/>
                  </a:rPr>
                  <a:t>中，用1表示条件成立，用0表示条件不成立。</a:t>
                </a:r>
              </a:p>
              <a:p>
                <a:pPr fontAlgn="auto">
                  <a:lnSpc>
                    <a:spcPct val="130000"/>
                  </a:lnSpc>
                </a:pPr>
                <a:r>
                  <a:rPr lang="en-US" altLang="en-US" dirty="0">
                    <a:latin typeface="Times New Roman" panose="02020603050405020304" charset="0"/>
                    <a:ea typeface="微软雅黑 Light" panose="020B0502040204020203" pitchFamily="34" charset="-122"/>
                  </a:rPr>
                  <a:t>        条件原因1为第一列字符是A；条件原因2为第一列字符是B；条件原因3为第二列字符是一个数字；条件原因11为第一列是A或B。</a:t>
                </a:r>
              </a:p>
              <a:p>
                <a:pPr fontAlgn="auto">
                  <a:lnSpc>
                    <a:spcPct val="130000"/>
                  </a:lnSpc>
                </a:pPr>
                <a:r>
                  <a:rPr lang="en-US" altLang="en-US" dirty="0">
                    <a:latin typeface="Times New Roman" panose="02020603050405020304" charset="0"/>
                    <a:ea typeface="微软雅黑 Light" panose="020B0502040204020203" pitchFamily="34" charset="-122"/>
                  </a:rPr>
                  <a:t>        结果22，给出信息L；结果21，执行操作H；结果23，给出信息R。</a:t>
                </a:r>
              </a:p>
              <a:p>
                <a:pPr fontAlgn="auto">
                  <a:lnSpc>
                    <a:spcPct val="130000"/>
                  </a:lnSpc>
                </a:pPr>
                <a:r>
                  <a:rPr lang="en-US" altLang="en-US" dirty="0">
                    <a:latin typeface="Times New Roman" panose="02020603050405020304" charset="0"/>
                    <a:ea typeface="微软雅黑 Light" panose="020B0502040204020203" pitchFamily="34" charset="-122"/>
                  </a:rPr>
                  <a:t>        判定表中原因1和原因2不可能同时成立，因而无需测试。表的下方列出针对可能出现的6种情况而设计的测试用例：A5，A?，B2，BN，C1，DA或者A3，AC，B7，B!，F6，PE。</a:t>
                </a:r>
              </a:p>
              <a:p>
                <a:pPr fontAlgn="auto">
                  <a:lnSpc>
                    <a:spcPct val="130000"/>
                  </a:lnSpc>
                </a:pPr>
                <a:r>
                  <a:rPr lang="en-US" altLang="en-US" dirty="0">
                    <a:latin typeface="Times New Roman" panose="02020603050405020304" charset="0"/>
                    <a:ea typeface="微软雅黑 Light" panose="020B0502040204020203" pitchFamily="34" charset="-122"/>
                  </a:rPr>
                  <a:t>        请注意，这是软件工程中判定表的第二个用法。判定表的第一个用法见3.5.4节详细设计工具判定表。</a:t>
                </a:r>
              </a:p>
            </p:txBody>
          </p:sp>
        </p:grpSp>
      </p:grpSp>
    </p:spTree>
  </p:cSld>
  <p:clrMapOvr>
    <a:masterClrMapping/>
  </p:clrMapOvr>
  <p:transition>
    <p:pull dir="rd"/>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sp>
        <p:nvSpPr>
          <p:cNvPr id="4" name="文本占位符 3">
            <a:extLst>
              <a:ext uri="{FF2B5EF4-FFF2-40B4-BE49-F238E27FC236}">
                <a16:creationId xmlns:a16="http://schemas.microsoft.com/office/drawing/2014/main" id="{9A82BD6F-DEB9-720E-7ABA-E9933BABCBA5}"/>
              </a:ext>
            </a:extLst>
          </p:cNvPr>
          <p:cNvSpPr>
            <a:spLocks noGrp="1"/>
          </p:cNvSpPr>
          <p:nvPr>
            <p:ph type="body" sz="quarter" idx="10"/>
          </p:nvPr>
        </p:nvSpPr>
        <p:spPr>
          <a:xfrm>
            <a:off x="696000" y="1322832"/>
            <a:ext cx="11160000" cy="400110"/>
          </a:xfrm>
        </p:spPr>
        <p:txBody>
          <a:bodyPr/>
          <a:lstStyle/>
          <a:p>
            <a:r>
              <a:rPr lang="en-US" altLang="zh-CN" dirty="0"/>
              <a:t>4.5.7 </a:t>
            </a:r>
            <a:r>
              <a:rPr lang="zh-CN" altLang="en-US" dirty="0"/>
              <a:t>用基本路径覆盖法设计测试用例</a:t>
            </a:r>
          </a:p>
        </p:txBody>
      </p:sp>
      <p:sp>
        <p:nvSpPr>
          <p:cNvPr id="9" name="文本占位符 8">
            <a:extLst>
              <a:ext uri="{FF2B5EF4-FFF2-40B4-BE49-F238E27FC236}">
                <a16:creationId xmlns:a16="http://schemas.microsoft.com/office/drawing/2014/main" id="{F9A274C1-4237-F492-D80B-8FF05E4004E9}"/>
              </a:ext>
            </a:extLst>
          </p:cNvPr>
          <p:cNvSpPr>
            <a:spLocks noGrp="1"/>
          </p:cNvSpPr>
          <p:nvPr>
            <p:ph type="body" sz="quarter" idx="11"/>
          </p:nvPr>
        </p:nvSpPr>
        <p:spPr/>
        <p:txBody>
          <a:bodyPr/>
          <a:lstStyle/>
          <a:p>
            <a:endParaRPr lang="zh-CN" altLang="en-US"/>
          </a:p>
        </p:txBody>
      </p:sp>
      <p:sp>
        <p:nvSpPr>
          <p:cNvPr id="100" name="文本框 99"/>
          <p:cNvSpPr txBox="1"/>
          <p:nvPr/>
        </p:nvSpPr>
        <p:spPr>
          <a:xfrm>
            <a:off x="695325" y="2436718"/>
            <a:ext cx="10826115" cy="2939331"/>
          </a:xfrm>
          <a:prstGeom prst="rect">
            <a:avLst/>
          </a:prstGeom>
          <a:noFill/>
          <a:ln w="9525">
            <a:noFill/>
          </a:ln>
        </p:spPr>
        <p:txBody>
          <a:bodyPr wrap="square">
            <a:spAutoFit/>
          </a:bodyPr>
          <a:lstStyle/>
          <a:p>
            <a:pPr marL="0" indent="0" algn="l" fontAlgn="auto">
              <a:lnSpc>
                <a:spcPct val="130000"/>
              </a:lnSpc>
            </a:pPr>
            <a:r>
              <a:rPr lang="en-US" dirty="0">
                <a:sym typeface="+mn-ea"/>
              </a:rPr>
              <a:t>       </a:t>
            </a:r>
            <a:r>
              <a:rPr dirty="0">
                <a:sym typeface="+mn-ea"/>
              </a:rPr>
              <a:t>基本路径覆盖测试是Tom McCabe提出的一种白盒法测试技术。使用这种技术设计测试用例时，首先计算程序的环形复杂度，然后以此复杂度为指南，定义执行路径的基本集合。从该基本集合导出的测试用例，可以保证程序中的每条语句至少执行一次，而且每个条件在执行时，都将分别取true（真）和false（假）值。</a:t>
            </a:r>
            <a:endParaRPr lang="en-US" dirty="0">
              <a:sym typeface="+mn-ea"/>
            </a:endParaRPr>
          </a:p>
          <a:p>
            <a:pPr marL="0" indent="0" algn="l" fontAlgn="auto">
              <a:lnSpc>
                <a:spcPct val="130000"/>
              </a:lnSpc>
            </a:pPr>
            <a:endParaRPr dirty="0">
              <a:sym typeface="+mn-ea"/>
            </a:endParaRPr>
          </a:p>
          <a:p>
            <a:pPr marL="0" indent="0" algn="l" fontAlgn="auto">
              <a:lnSpc>
                <a:spcPct val="130000"/>
              </a:lnSpc>
            </a:pPr>
            <a:r>
              <a:rPr dirty="0">
                <a:sym typeface="+mn-ea"/>
              </a:rPr>
              <a:t>      下面以一个用PDL描述的过程average为例，说明如何画出流图、计算环形复杂度、确定线性独立路径的基本集合，最后设计可强制执行基本集合中每条路径的测试用例。该题的算法虽然很简单，但其中包含了复合条件与循环。</a:t>
            </a:r>
          </a:p>
        </p:txBody>
      </p:sp>
    </p:spTree>
  </p:cSld>
  <p:clrMapOvr>
    <a:masterClrMapping/>
  </p:clrMapOvr>
  <p:transition>
    <p:pull dir="rd"/>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562"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8223" cy="5320"/>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下面这个过程，用来计算不超过100个在规定值域内的有效数字的平均值；同时计算有效数字的总和及个数</a:t>
                </a: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PROCEDURE average;</a:t>
                </a:r>
                <a:endParaRPr lang="en-US" altLang="en-US" sz="1600" dirty="0">
                  <a:latin typeface="Times New Roman" panose="02020603050405020304" charset="0"/>
                  <a:ea typeface="微软雅黑 Light" panose="020B0502040204020203" pitchFamily="34" charset="-122"/>
                </a:endParaRP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INTERFACE RETURNS average,total.input,total.valid;</a:t>
                </a:r>
                <a:endParaRPr lang="en-US" altLang="en-US" sz="1600" dirty="0">
                  <a:latin typeface="Times New Roman" panose="02020603050405020304" charset="0"/>
                  <a:ea typeface="微软雅黑 Light" panose="020B0502040204020203" pitchFamily="34" charset="-122"/>
                </a:endParaRP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INTERFACE ACCEPTS value,minimum,maximum;</a:t>
                </a:r>
                <a:endParaRPr lang="en-US" altLang="en-US" sz="1600" dirty="0">
                  <a:latin typeface="Times New Roman" panose="02020603050405020304" charset="0"/>
                  <a:ea typeface="微软雅黑 Light" panose="020B0502040204020203" pitchFamily="34" charset="-122"/>
                </a:endParaRP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TYPE value[1...100] IS SCALAR ARRAY;</a:t>
                </a:r>
                <a:endParaRPr lang="en-US" altLang="en-US" sz="1600" dirty="0">
                  <a:latin typeface="Times New Roman" panose="02020603050405020304" charset="0"/>
                  <a:ea typeface="微软雅黑 Light" panose="020B0502040204020203" pitchFamily="34" charset="-122"/>
                </a:endParaRP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TYPE average,total.input,total.valid;</a:t>
                </a:r>
                <a:endParaRPr lang="en-US" altLang="en-US" sz="1600" dirty="0">
                  <a:latin typeface="Times New Roman" panose="02020603050405020304" charset="0"/>
                  <a:ea typeface="微软雅黑 Light" panose="020B0502040204020203" pitchFamily="34" charset="-122"/>
                </a:endParaRP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minimum,maximum,sum IS SCALAR;</a:t>
                </a:r>
                <a:endParaRPr lang="en-US" altLang="en-US" sz="1600" dirty="0">
                  <a:latin typeface="Times New Roman" panose="02020603050405020304" charset="0"/>
                  <a:ea typeface="微软雅黑 Light" panose="020B0502040204020203" pitchFamily="34" charset="-122"/>
                </a:endParaRPr>
              </a:p>
              <a:p>
                <a:pPr fontAlgn="auto">
                  <a:lnSpc>
                    <a:spcPct val="130000"/>
                  </a:lnSpc>
                </a:pPr>
                <a:r>
                  <a:rPr lang="en-US" altLang="en-US" sz="1600" dirty="0">
                    <a:latin typeface="Times New Roman" panose="02020603050405020304" charset="0"/>
                    <a:ea typeface="微软雅黑 Light" panose="020B0502040204020203" pitchFamily="34" charset="-122"/>
                    <a:sym typeface="+mn-ea"/>
                  </a:rPr>
                  <a:t>TYPE i IS INTEGER;</a:t>
                </a: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842125" y="807719"/>
            <a:ext cx="4414520" cy="559244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7001510" y="868680"/>
            <a:ext cx="4064635" cy="5533823"/>
          </a:xfrm>
          <a:prstGeom prst="rect">
            <a:avLst/>
          </a:prstGeom>
          <a:solidFill>
            <a:schemeClr val="bg1">
              <a:lumMod val="95000"/>
            </a:schemeClr>
          </a:solidFill>
        </p:spPr>
        <p:txBody>
          <a:bodyPr wrap="square">
            <a:spAutoFit/>
          </a:bodyPr>
          <a:lstStyle/>
          <a:p>
            <a:pPr fontAlgn="auto">
              <a:lnSpc>
                <a:spcPct val="130000"/>
              </a:lnSpc>
            </a:pPr>
            <a:r>
              <a:rPr lang="en-US" altLang="en-US" sz="1600" dirty="0">
                <a:latin typeface="Times New Roman" panose="02020603050405020304" charset="0"/>
                <a:ea typeface="微软雅黑 Light" panose="020B0502040204020203" pitchFamily="34" charset="-122"/>
              </a:rPr>
              <a:t>1:i=1;</a:t>
            </a:r>
          </a:p>
          <a:p>
            <a:pPr fontAlgn="auto">
              <a:lnSpc>
                <a:spcPct val="130000"/>
              </a:lnSpc>
            </a:pPr>
            <a:r>
              <a:rPr lang="en-US" altLang="en-US" sz="1600" dirty="0">
                <a:latin typeface="Times New Roman" panose="02020603050405020304" charset="0"/>
                <a:ea typeface="微软雅黑 Light" panose="020B0502040204020203" pitchFamily="34" charset="-122"/>
              </a:rPr>
              <a:t>   total.input=total.valid=0;sum=0;</a:t>
            </a:r>
          </a:p>
          <a:p>
            <a:pPr fontAlgn="auto">
              <a:lnSpc>
                <a:spcPct val="130000"/>
              </a:lnSpc>
            </a:pPr>
            <a:r>
              <a:rPr lang="en-US" altLang="en-US" sz="1600" dirty="0">
                <a:latin typeface="Times New Roman" panose="02020603050405020304" charset="0"/>
                <a:ea typeface="微软雅黑 Light" panose="020B0502040204020203" pitchFamily="34" charset="-122"/>
              </a:rPr>
              <a:t>2:DO WHILE value[i]&lt;&gt;-999</a:t>
            </a:r>
          </a:p>
          <a:p>
            <a:pPr fontAlgn="auto">
              <a:lnSpc>
                <a:spcPct val="130000"/>
              </a:lnSpc>
            </a:pPr>
            <a:r>
              <a:rPr lang="en-US" altLang="en-US" sz="1600" dirty="0">
                <a:latin typeface="Times New Roman" panose="02020603050405020304" charset="0"/>
                <a:ea typeface="微软雅黑 Light" panose="020B0502040204020203" pitchFamily="34" charset="-122"/>
              </a:rPr>
              <a:t>3:AND total.input&lt;100</a:t>
            </a:r>
          </a:p>
          <a:p>
            <a:pPr fontAlgn="auto">
              <a:lnSpc>
                <a:spcPct val="130000"/>
              </a:lnSpc>
            </a:pPr>
            <a:r>
              <a:rPr lang="en-US" altLang="en-US" sz="1600" dirty="0">
                <a:latin typeface="Times New Roman" panose="02020603050405020304" charset="0"/>
                <a:ea typeface="微软雅黑 Light" panose="020B0502040204020203" pitchFamily="34" charset="-122"/>
              </a:rPr>
              <a:t>4:increment total.input by 1;</a:t>
            </a:r>
          </a:p>
          <a:p>
            <a:pPr fontAlgn="auto">
              <a:lnSpc>
                <a:spcPct val="130000"/>
              </a:lnSpc>
            </a:pPr>
            <a:r>
              <a:rPr lang="en-US" altLang="en-US" sz="1600" dirty="0">
                <a:latin typeface="Times New Roman" panose="02020603050405020304" charset="0"/>
                <a:ea typeface="微软雅黑 Light" panose="020B0502040204020203" pitchFamily="34" charset="-122"/>
              </a:rPr>
              <a:t>5:IF value[i]&gt;=minimum</a:t>
            </a:r>
          </a:p>
          <a:p>
            <a:pPr fontAlgn="auto">
              <a:lnSpc>
                <a:spcPct val="130000"/>
              </a:lnSpc>
            </a:pPr>
            <a:r>
              <a:rPr lang="en-US" altLang="en-US" sz="1600" dirty="0">
                <a:latin typeface="Times New Roman" panose="02020603050405020304" charset="0"/>
                <a:ea typeface="微软雅黑 Light" panose="020B0502040204020203" pitchFamily="34" charset="-122"/>
              </a:rPr>
              <a:t>6:AND value[i]&lt;=maximum</a:t>
            </a:r>
          </a:p>
          <a:p>
            <a:pPr fontAlgn="auto">
              <a:lnSpc>
                <a:spcPct val="130000"/>
              </a:lnSpc>
            </a:pPr>
            <a:r>
              <a:rPr lang="en-US" altLang="en-US" sz="1600" dirty="0">
                <a:latin typeface="Times New Roman" panose="02020603050405020304" charset="0"/>
                <a:ea typeface="微软雅黑 Light" panose="020B0502040204020203" pitchFamily="34" charset="-122"/>
              </a:rPr>
              <a:t>7:THEN increment total.valid by 1;</a:t>
            </a:r>
          </a:p>
          <a:p>
            <a:pPr fontAlgn="auto">
              <a:lnSpc>
                <a:spcPct val="130000"/>
              </a:lnSpc>
            </a:pPr>
            <a:r>
              <a:rPr lang="en-US" altLang="en-US" sz="1600" dirty="0">
                <a:latin typeface="Times New Roman" panose="02020603050405020304" charset="0"/>
                <a:ea typeface="微软雅黑 Light" panose="020B0502040204020203" pitchFamily="34" charset="-122"/>
              </a:rPr>
              <a:t>   sum=sum+value[i];</a:t>
            </a:r>
          </a:p>
          <a:p>
            <a:pPr fontAlgn="auto">
              <a:lnSpc>
                <a:spcPct val="130000"/>
              </a:lnSpc>
            </a:pPr>
            <a:r>
              <a:rPr lang="en-US" altLang="en-US" sz="1600" dirty="0">
                <a:latin typeface="Times New Roman" panose="02020603050405020304" charset="0"/>
                <a:ea typeface="微软雅黑 Light" panose="020B0502040204020203" pitchFamily="34" charset="-122"/>
              </a:rPr>
              <a:t>8:ENDIF</a:t>
            </a:r>
          </a:p>
          <a:p>
            <a:pPr fontAlgn="auto">
              <a:lnSpc>
                <a:spcPct val="130000"/>
              </a:lnSpc>
            </a:pPr>
            <a:r>
              <a:rPr lang="en-US" altLang="en-US" sz="1600" dirty="0">
                <a:latin typeface="Times New Roman" panose="02020603050405020304" charset="0"/>
                <a:ea typeface="微软雅黑 Light" panose="020B0502040204020203" pitchFamily="34" charset="-122"/>
              </a:rPr>
              <a:t>   increment i by 1;</a:t>
            </a:r>
          </a:p>
          <a:p>
            <a:pPr fontAlgn="auto">
              <a:lnSpc>
                <a:spcPct val="130000"/>
              </a:lnSpc>
            </a:pPr>
            <a:r>
              <a:rPr lang="en-US" altLang="en-US" sz="1600" dirty="0">
                <a:latin typeface="Times New Roman" panose="02020603050405020304" charset="0"/>
                <a:ea typeface="微软雅黑 Light" panose="020B0502040204020203" pitchFamily="34" charset="-122"/>
              </a:rPr>
              <a:t>9:ENDDO</a:t>
            </a:r>
          </a:p>
          <a:p>
            <a:pPr fontAlgn="auto">
              <a:lnSpc>
                <a:spcPct val="130000"/>
              </a:lnSpc>
            </a:pPr>
            <a:r>
              <a:rPr lang="en-US" altLang="en-US" sz="1600" dirty="0">
                <a:latin typeface="Times New Roman" panose="02020603050405020304" charset="0"/>
                <a:ea typeface="微软雅黑 Light" panose="020B0502040204020203" pitchFamily="34" charset="-122"/>
              </a:rPr>
              <a:t>10:IF total.valid&gt;0</a:t>
            </a:r>
          </a:p>
          <a:p>
            <a:pPr fontAlgn="auto">
              <a:lnSpc>
                <a:spcPct val="130000"/>
              </a:lnSpc>
            </a:pPr>
            <a:r>
              <a:rPr lang="en-US" altLang="en-US" sz="1600" dirty="0">
                <a:latin typeface="Times New Roman" panose="02020603050405020304" charset="0"/>
                <a:ea typeface="微软雅黑 Light" panose="020B0502040204020203" pitchFamily="34" charset="-122"/>
              </a:rPr>
              <a:t>11:THEN average=sum/total.valid;</a:t>
            </a:r>
          </a:p>
          <a:p>
            <a:pPr fontAlgn="auto">
              <a:lnSpc>
                <a:spcPct val="130000"/>
              </a:lnSpc>
            </a:pPr>
            <a:r>
              <a:rPr lang="en-US" altLang="en-US" sz="1600" dirty="0">
                <a:latin typeface="Times New Roman" panose="02020603050405020304" charset="0"/>
                <a:ea typeface="微软雅黑 Light" panose="020B0502040204020203" pitchFamily="34" charset="-122"/>
              </a:rPr>
              <a:t>12:ELSE average=-999;</a:t>
            </a:r>
          </a:p>
          <a:p>
            <a:pPr fontAlgn="auto">
              <a:lnSpc>
                <a:spcPct val="130000"/>
              </a:lnSpc>
            </a:pPr>
            <a:r>
              <a:rPr lang="en-US" altLang="en-US" sz="1600" dirty="0">
                <a:latin typeface="Times New Roman" panose="02020603050405020304" charset="0"/>
                <a:ea typeface="微软雅黑 Light" panose="020B0502040204020203" pitchFamily="34" charset="-122"/>
              </a:rPr>
              <a:t>13:ENDIF</a:t>
            </a:r>
          </a:p>
          <a:p>
            <a:pPr fontAlgn="auto">
              <a:lnSpc>
                <a:spcPct val="130000"/>
              </a:lnSpc>
            </a:pPr>
            <a:r>
              <a:rPr lang="en-US" altLang="en-US" sz="1600" dirty="0">
                <a:latin typeface="Times New Roman" panose="02020603050405020304" charset="0"/>
                <a:ea typeface="微软雅黑 Light" panose="020B0502040204020203" pitchFamily="34" charset="-122"/>
              </a:rPr>
              <a:t>END average</a:t>
            </a:r>
          </a:p>
        </p:txBody>
      </p:sp>
    </p:spTree>
  </p:cSld>
  <p:clrMapOvr>
    <a:masterClrMapping/>
  </p:clrMapOvr>
  <p:transition>
    <p:pull dir="rd"/>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74260"/>
            <a:chOff x="1275" y="2210"/>
            <a:chExt cx="15678" cy="7676"/>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5454" cy="6736"/>
              <a:chOff x="1499" y="3150"/>
              <a:chExt cx="15454" cy="6736"/>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1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02"/>
              </a:xfrm>
              <a:prstGeom prst="rect">
                <a:avLst/>
              </a:prstGeom>
              <a:solidFill>
                <a:schemeClr val="bg1">
                  <a:lumMod val="95000"/>
                </a:schemeClr>
              </a:solidFill>
            </p:spPr>
            <p:txBody>
              <a:bodyPr wrap="square">
                <a:noAutofit/>
              </a:bodyPr>
              <a:lstStyle/>
              <a:p>
                <a:pPr fontAlgn="auto">
                  <a:lnSpc>
                    <a:spcPct val="130000"/>
                  </a:lnSpc>
                </a:pPr>
                <a:r>
                  <a:rPr lang="en-US" altLang="en-US" dirty="0">
                    <a:latin typeface="Times New Roman" panose="02020603050405020304" charset="0"/>
                    <a:ea typeface="微软雅黑 Light" panose="020B0502040204020203" pitchFamily="34" charset="-122"/>
                  </a:rPr>
                  <a:t>1．根据过程设计结果画出相应的流图       </a:t>
                </a:r>
              </a:p>
              <a:p>
                <a:pPr fontAlgn="auto">
                  <a:lnSpc>
                    <a:spcPct val="130000"/>
                  </a:lnSpc>
                </a:pPr>
                <a:r>
                  <a:rPr lang="en-US" altLang="en-US" dirty="0">
                    <a:latin typeface="Times New Roman" panose="02020603050405020304" charset="0"/>
                    <a:ea typeface="微软雅黑 Light" panose="020B0502040204020203" pitchFamily="34" charset="-122"/>
                  </a:rPr>
                  <a:t>        </a:t>
                </a:r>
                <a:r>
                  <a:rPr lang="en-US" altLang="en-US" dirty="0">
                    <a:latin typeface="Times New Roman" panose="02020603050405020304" charset="0"/>
                    <a:ea typeface="微软雅黑 Light" panose="020B0502040204020203" pitchFamily="34" charset="-122"/>
                    <a:sym typeface="+mn-ea"/>
                  </a:rPr>
                  <a:t>为了正确地画出流图，我们把映射为流图结点的PDL语句都编了号。由此可画出流图，如图所示。</a:t>
                </a: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1073752572" name="组合 1073752571"/>
          <p:cNvGrpSpPr>
            <a:grpSpLocks noRot="1"/>
          </p:cNvGrpSpPr>
          <p:nvPr/>
        </p:nvGrpSpPr>
        <p:grpSpPr>
          <a:xfrm>
            <a:off x="6686550" y="1630680"/>
            <a:ext cx="4200525" cy="4587240"/>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2．计算流图的环形复杂度</a:t>
                </a:r>
              </a:p>
              <a:p>
                <a:pPr fontAlgn="auto">
                  <a:lnSpc>
                    <a:spcPct val="130000"/>
                  </a:lnSpc>
                </a:pPr>
                <a:r>
                  <a:rPr lang="en-US" altLang="en-US" dirty="0">
                    <a:latin typeface="Times New Roman" panose="02020603050405020304" charset="0"/>
                    <a:ea typeface="微软雅黑 Light" panose="020B0502040204020203" pitchFamily="34" charset="-122"/>
                  </a:rPr>
                  <a:t>用环形复杂度来定量度量程序的逻辑复杂性。有了描绘程序控制流的流图之后，可知流图的边数为17，结点数为13，判定结点数为5。可以用下述三种方法之一来计算环形复杂度，结果相同，程序的环形复杂度为6。</a:t>
                </a: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1073752572"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graphicFrame>
        <p:nvGraphicFramePr>
          <p:cNvPr id="207873" name="Object 1"/>
          <p:cNvGraphicFramePr>
            <a:graphicFrameLocks noChangeAspect="1"/>
          </p:cNvGraphicFramePr>
          <p:nvPr/>
        </p:nvGraphicFramePr>
        <p:xfrm>
          <a:off x="1444625" y="4999038"/>
          <a:ext cx="3825875" cy="365125"/>
        </p:xfrm>
        <a:graphic>
          <a:graphicData uri="http://schemas.openxmlformats.org/presentationml/2006/ole">
            <mc:AlternateContent xmlns:mc="http://schemas.openxmlformats.org/markup-compatibility/2006">
              <mc:Choice xmlns:v="urn:schemas-microsoft-com:vml" Requires="v">
                <p:oleObj name="公式" r:id="rId4" imgW="54254400" imgH="5181600" progId="">
                  <p:embed/>
                </p:oleObj>
              </mc:Choice>
              <mc:Fallback>
                <p:oleObj name="公式" r:id="rId4" imgW="54254400" imgH="5181600" progId="">
                  <p:embed/>
                  <p:pic>
                    <p:nvPicPr>
                      <p:cNvPr id="0"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44625" y="4999038"/>
                        <a:ext cx="3825875" cy="36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7874" name="Object 2"/>
          <p:cNvGraphicFramePr>
            <a:graphicFrameLocks noChangeAspect="1"/>
          </p:cNvGraphicFramePr>
          <p:nvPr/>
        </p:nvGraphicFramePr>
        <p:xfrm>
          <a:off x="1433513" y="5383213"/>
          <a:ext cx="3094037" cy="365125"/>
        </p:xfrm>
        <a:graphic>
          <a:graphicData uri="http://schemas.openxmlformats.org/presentationml/2006/ole">
            <mc:AlternateContent xmlns:mc="http://schemas.openxmlformats.org/markup-compatibility/2006">
              <mc:Choice xmlns:v="urn:schemas-microsoft-com:vml" Requires="v">
                <p:oleObj name="公式" r:id="rId6" imgW="43891200" imgH="5181600" progId="">
                  <p:embed/>
                </p:oleObj>
              </mc:Choice>
              <mc:Fallback>
                <p:oleObj name="公式" r:id="rId6" imgW="43891200" imgH="5181600" progId="">
                  <p:embed/>
                  <p:pic>
                    <p:nvPicPr>
                      <p:cNvPr id="0"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33513" y="5383213"/>
                        <a:ext cx="3094037" cy="36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7875" name="Object 3"/>
          <p:cNvGraphicFramePr>
            <a:graphicFrameLocks noChangeAspect="1"/>
          </p:cNvGraphicFramePr>
          <p:nvPr/>
        </p:nvGraphicFramePr>
        <p:xfrm>
          <a:off x="1446848" y="5775960"/>
          <a:ext cx="2149475" cy="368300"/>
        </p:xfrm>
        <a:graphic>
          <a:graphicData uri="http://schemas.openxmlformats.org/presentationml/2006/ole">
            <mc:AlternateContent xmlns:mc="http://schemas.openxmlformats.org/markup-compatibility/2006">
              <mc:Choice xmlns:v="urn:schemas-microsoft-com:vml" Requires="v">
                <p:oleObj name="公式" r:id="rId8" imgW="30480000" imgH="5181600" progId="">
                  <p:embed/>
                </p:oleObj>
              </mc:Choice>
              <mc:Fallback>
                <p:oleObj name="公式" r:id="rId8" imgW="30480000" imgH="5181600" progId="">
                  <p:embed/>
                  <p:pic>
                    <p:nvPicPr>
                      <p:cNvPr id="0" name="Picture 1"/>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446848" y="5775960"/>
                        <a:ext cx="2149475" cy="368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ransition>
    <p:pull dir="rd"/>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6" cy="52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3．确定线性独立路径的基本集合</a:t>
                </a:r>
              </a:p>
              <a:p>
                <a:pPr fontAlgn="auto">
                  <a:lnSpc>
                    <a:spcPct val="130000"/>
                  </a:lnSpc>
                </a:pPr>
                <a:r>
                  <a:rPr lang="en-US" altLang="en-US" dirty="0">
                    <a:latin typeface="Times New Roman" panose="02020603050405020304" charset="0"/>
                    <a:ea typeface="微软雅黑 Light" panose="020B0502040204020203" pitchFamily="34" charset="-122"/>
                  </a:rPr>
                  <a:t>         </a:t>
                </a:r>
                <a:r>
                  <a:rPr lang="en-US" altLang="en-US" dirty="0" err="1">
                    <a:latin typeface="Times New Roman" panose="02020603050405020304" charset="0"/>
                    <a:ea typeface="微软雅黑 Light" panose="020B0502040204020203" pitchFamily="34" charset="-122"/>
                  </a:rPr>
                  <a:t>使用基本路径覆盖测试法设计测试用例</a:t>
                </a:r>
                <a:r>
                  <a:rPr lang="zh-CN" altLang="en-US" dirty="0">
                    <a:latin typeface="Times New Roman" panose="02020603050405020304" charset="0"/>
                    <a:ea typeface="微软雅黑 Light" panose="020B0502040204020203" pitchFamily="34" charset="-122"/>
                  </a:rPr>
                  <a:t>的</a:t>
                </a:r>
                <a:r>
                  <a:rPr lang="en-US" altLang="en-US" dirty="0">
                    <a:latin typeface="Times New Roman" panose="02020603050405020304" charset="0"/>
                    <a:ea typeface="微软雅黑 Light" panose="020B0502040204020203" pitchFamily="34" charset="-122"/>
                  </a:rPr>
                  <a:t>时</a:t>
                </a:r>
                <a:r>
                  <a:rPr lang="zh-CN" altLang="en-US" dirty="0">
                    <a:latin typeface="Times New Roman" panose="02020603050405020304" charset="0"/>
                    <a:ea typeface="微软雅黑 Light" panose="020B0502040204020203" pitchFamily="34" charset="-122"/>
                  </a:rPr>
                  <a:t>候</a:t>
                </a:r>
                <a:r>
                  <a:rPr lang="en-US" altLang="en-US" dirty="0">
                    <a:latin typeface="Times New Roman" panose="02020603050405020304" charset="0"/>
                    <a:ea typeface="微软雅黑 Light" panose="020B0502040204020203" pitchFamily="34" charset="-122"/>
                  </a:rPr>
                  <a:t>，程序的环形复杂度决定了程序中独立路径的数量，而且这个数是确保程序中所有语句至少被执行一次所需的测试数量的上界。</a:t>
                </a:r>
              </a:p>
              <a:p>
                <a:pPr>
                  <a:lnSpc>
                    <a:spcPct val="130000"/>
                  </a:lnSpc>
                </a:pPr>
                <a:r>
                  <a:rPr lang="zh-CN" altLang="en-US" dirty="0">
                    <a:latin typeface="Times New Roman" panose="02020603050405020304" charset="0"/>
                    <a:ea typeface="微软雅黑 Light" panose="020B0502040204020203" pitchFamily="34" charset="-122"/>
                  </a:rPr>
                  <a:t>         通常在导出测试用例时，识别流图中的判定结点是很有必要的。本例中结点</a:t>
                </a:r>
                <a:r>
                  <a:rPr lang="en-US" altLang="zh-CN" dirty="0">
                    <a:latin typeface="Times New Roman" panose="02020603050405020304" charset="0"/>
                    <a:ea typeface="微软雅黑 Light" panose="020B0502040204020203" pitchFamily="34" charset="-122"/>
                  </a:rPr>
                  <a:t>2</a:t>
                </a:r>
                <a:r>
                  <a:rPr lang="zh-CN" altLang="en-US" dirty="0">
                    <a:latin typeface="Times New Roman" panose="02020603050405020304" charset="0"/>
                    <a:ea typeface="微软雅黑 Light" panose="020B0502040204020203" pitchFamily="34" charset="-122"/>
                  </a:rPr>
                  <a:t>，</a:t>
                </a:r>
                <a:r>
                  <a:rPr lang="en-US" altLang="zh-CN" dirty="0">
                    <a:latin typeface="Times New Roman" panose="02020603050405020304" charset="0"/>
                    <a:ea typeface="微软雅黑 Light" panose="020B0502040204020203" pitchFamily="34" charset="-122"/>
                  </a:rPr>
                  <a:t>3</a:t>
                </a:r>
                <a:r>
                  <a:rPr lang="zh-CN" altLang="en-US" dirty="0">
                    <a:latin typeface="Times New Roman" panose="02020603050405020304" charset="0"/>
                    <a:ea typeface="微软雅黑 Light" panose="020B0502040204020203" pitchFamily="34" charset="-122"/>
                  </a:rPr>
                  <a:t>，</a:t>
                </a:r>
                <a:r>
                  <a:rPr lang="en-US" altLang="zh-CN" dirty="0">
                    <a:latin typeface="Times New Roman" panose="02020603050405020304" charset="0"/>
                    <a:ea typeface="微软雅黑 Light" panose="020B0502040204020203" pitchFamily="34" charset="-122"/>
                  </a:rPr>
                  <a:t>5</a:t>
                </a:r>
                <a:r>
                  <a:rPr lang="zh-CN" altLang="en-US" dirty="0">
                    <a:latin typeface="Times New Roman" panose="02020603050405020304" charset="0"/>
                    <a:ea typeface="微软雅黑 Light" panose="020B0502040204020203" pitchFamily="34" charset="-122"/>
                  </a:rPr>
                  <a:t>，</a:t>
                </a:r>
                <a:r>
                  <a:rPr lang="en-US" altLang="zh-CN" dirty="0">
                    <a:latin typeface="Times New Roman" panose="02020603050405020304" charset="0"/>
                    <a:ea typeface="微软雅黑 Light" panose="020B0502040204020203" pitchFamily="34" charset="-122"/>
                  </a:rPr>
                  <a:t>6</a:t>
                </a:r>
                <a:r>
                  <a:rPr lang="zh-CN" altLang="en-US" dirty="0">
                    <a:latin typeface="Times New Roman" panose="02020603050405020304" charset="0"/>
                    <a:ea typeface="微软雅黑 Light" panose="020B0502040204020203" pitchFamily="34" charset="-122"/>
                  </a:rPr>
                  <a:t>和</a:t>
                </a:r>
                <a:r>
                  <a:rPr lang="en-US" altLang="zh-CN" dirty="0">
                    <a:latin typeface="Times New Roman" panose="02020603050405020304" charset="0"/>
                    <a:ea typeface="微软雅黑 Light" panose="020B0502040204020203" pitchFamily="34" charset="-122"/>
                  </a:rPr>
                  <a:t>10</a:t>
                </a:r>
                <a:r>
                  <a:rPr lang="zh-CN" altLang="en-US" dirty="0">
                    <a:latin typeface="Times New Roman" panose="02020603050405020304" charset="0"/>
                    <a:ea typeface="微软雅黑 Light" panose="020B0502040204020203" pitchFamily="34" charset="-122"/>
                  </a:rPr>
                  <a:t>是判定结点。从流图中找出的路径，有时实际情况可能并不会走，需要进一步核对。</a:t>
                </a: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1073752572"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4"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对于图4-8所描述的求平均值过程来说，下面列出的是程序的独立路径：</a:t>
                </a:r>
              </a:p>
              <a:p>
                <a:pPr fontAlgn="auto">
                  <a:lnSpc>
                    <a:spcPct val="130000"/>
                  </a:lnSpc>
                </a:pPr>
                <a:r>
                  <a:rPr lang="en-US" altLang="en-US" dirty="0">
                    <a:latin typeface="Times New Roman" panose="02020603050405020304" charset="0"/>
                    <a:ea typeface="微软雅黑 Light" panose="020B0502040204020203" pitchFamily="34" charset="-122"/>
                  </a:rPr>
                  <a:t>	路径1：1→2→10→11→13；</a:t>
                </a:r>
              </a:p>
              <a:p>
                <a:pPr fontAlgn="auto">
                  <a:lnSpc>
                    <a:spcPct val="130000"/>
                  </a:lnSpc>
                </a:pPr>
                <a:r>
                  <a:rPr lang="en-US" altLang="en-US" dirty="0">
                    <a:latin typeface="Times New Roman" panose="02020603050405020304" charset="0"/>
                    <a:ea typeface="微软雅黑 Light" panose="020B0502040204020203" pitchFamily="34" charset="-122"/>
                  </a:rPr>
                  <a:t>	路径2：1→2→10→12→13；</a:t>
                </a:r>
              </a:p>
              <a:p>
                <a:pPr fontAlgn="auto">
                  <a:lnSpc>
                    <a:spcPct val="130000"/>
                  </a:lnSpc>
                </a:pPr>
                <a:r>
                  <a:rPr lang="en-US" altLang="en-US" dirty="0">
                    <a:latin typeface="Times New Roman" panose="02020603050405020304" charset="0"/>
                    <a:ea typeface="微软雅黑 Light" panose="020B0502040204020203" pitchFamily="34" charset="-122"/>
                  </a:rPr>
                  <a:t>	路径3：1→2→3→10→11→13；</a:t>
                </a:r>
              </a:p>
              <a:p>
                <a:pPr fontAlgn="auto">
                  <a:lnSpc>
                    <a:spcPct val="130000"/>
                  </a:lnSpc>
                </a:pPr>
                <a:r>
                  <a:rPr lang="en-US" altLang="en-US" dirty="0">
                    <a:latin typeface="Times New Roman" panose="02020603050405020304" charset="0"/>
                    <a:ea typeface="微软雅黑 Light" panose="020B0502040204020203" pitchFamily="34" charset="-122"/>
                  </a:rPr>
                  <a:t>	路径4：1→2→3→10→12→13；</a:t>
                </a:r>
              </a:p>
              <a:p>
                <a:pPr fontAlgn="auto">
                  <a:lnSpc>
                    <a:spcPct val="130000"/>
                  </a:lnSpc>
                </a:pPr>
                <a:r>
                  <a:rPr lang="en-US" altLang="en-US" dirty="0">
                    <a:latin typeface="Times New Roman" panose="02020603050405020304" charset="0"/>
                    <a:ea typeface="微软雅黑 Light" panose="020B0502040204020203" pitchFamily="34" charset="-122"/>
                  </a:rPr>
                  <a:t>	路径5：1→2→3→4→5→8→9；</a:t>
                </a:r>
              </a:p>
              <a:p>
                <a:pPr fontAlgn="auto">
                  <a:lnSpc>
                    <a:spcPct val="130000"/>
                  </a:lnSpc>
                </a:pPr>
                <a:r>
                  <a:rPr lang="en-US" altLang="en-US" dirty="0">
                    <a:latin typeface="Times New Roman" panose="02020603050405020304" charset="0"/>
                    <a:ea typeface="微软雅黑 Light" panose="020B0502040204020203" pitchFamily="34" charset="-122"/>
                  </a:rPr>
                  <a:t>	路径6：1→2→3→4→5→6→8→9；</a:t>
                </a:r>
              </a:p>
              <a:p>
                <a:pPr fontAlgn="auto">
                  <a:lnSpc>
                    <a:spcPct val="130000"/>
                  </a:lnSpc>
                </a:pPr>
                <a:r>
                  <a:rPr lang="en-US" altLang="en-US" dirty="0">
                    <a:latin typeface="Times New Roman" panose="02020603050405020304" charset="0"/>
                    <a:ea typeface="微软雅黑 Light" panose="020B0502040204020203" pitchFamily="34" charset="-122"/>
                  </a:rPr>
                  <a:t>	路径7：1→2→3→4→5→6→7→8→9。</a:t>
                </a: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13935"/>
            <a:chOff x="1275" y="2210"/>
            <a:chExt cx="15678" cy="75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4" name="组合 4"/>
            <p:cNvGrpSpPr/>
            <p:nvPr/>
          </p:nvGrpSpPr>
          <p:grpSpPr>
            <a:xfrm>
              <a:off x="1499" y="3150"/>
              <a:ext cx="15454" cy="6641"/>
              <a:chOff x="1499" y="3150"/>
              <a:chExt cx="15454" cy="664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5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56" y="4330"/>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4．设计可强制执行集合中每条路径的测试用例</a:t>
                </a:r>
              </a:p>
              <a:p>
                <a:pPr>
                  <a:lnSpc>
                    <a:spcPct val="130000"/>
                  </a:lnSpc>
                </a:pPr>
                <a:r>
                  <a:rPr lang="zh-CN" altLang="en-US" dirty="0">
                    <a:latin typeface="Times New Roman" panose="02020603050405020304" charset="0"/>
                    <a:ea typeface="微软雅黑 Light" panose="020B0502040204020203" pitchFamily="34" charset="-122"/>
                  </a:rPr>
                  <a:t>        在选取测试数据时，应该使每条测试路径都适当地设置好了各个判定结点的条件。</a:t>
                </a:r>
                <a:r>
                  <a:rPr lang="en-US" altLang="en-US" dirty="0" err="1">
                    <a:latin typeface="Times New Roman" panose="02020603050405020304" charset="0"/>
                    <a:ea typeface="微软雅黑 Light" panose="020B0502040204020203" pitchFamily="34" charset="-122"/>
                  </a:rPr>
                  <a:t>可以设计上述基本集合的测试用例如下</a:t>
                </a:r>
                <a:r>
                  <a:rPr lang="en-US" altLang="en-US" dirty="0">
                    <a:latin typeface="Times New Roman" panose="02020603050405020304" charset="0"/>
                    <a:ea typeface="微软雅黑 Light" panose="020B0502040204020203" pitchFamily="34" charset="-122"/>
                  </a:rPr>
                  <a:t>：</a:t>
                </a:r>
              </a:p>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路径1的测试用例</a:t>
                </a:r>
              </a:p>
              <a:p>
                <a:pPr fontAlgn="auto">
                  <a:lnSpc>
                    <a:spcPct val="130000"/>
                  </a:lnSpc>
                </a:pPr>
                <a:r>
                  <a:rPr lang="en-US" altLang="en-US" dirty="0">
                    <a:latin typeface="Times New Roman" panose="02020603050405020304" charset="0"/>
                    <a:ea typeface="微软雅黑 Light" panose="020B0502040204020203" pitchFamily="34" charset="-122"/>
                  </a:rPr>
                  <a:t>value[i]=-999，其中2≤i≤100</a:t>
                </a:r>
              </a:p>
              <a:p>
                <a:pPr fontAlgn="auto">
                  <a:lnSpc>
                    <a:spcPct val="130000"/>
                  </a:lnSpc>
                </a:pPr>
                <a:r>
                  <a:rPr lang="en-US" altLang="en-US" dirty="0">
                    <a:latin typeface="Times New Roman" panose="02020603050405020304" charset="0"/>
                    <a:ea typeface="微软雅黑 Light" panose="020B0502040204020203" pitchFamily="34" charset="-122"/>
                  </a:rPr>
                  <a:t>Value[k]=有效输入值，其中k&lt;i</a:t>
                </a:r>
              </a:p>
              <a:p>
                <a:pPr fontAlgn="auto">
                  <a:lnSpc>
                    <a:spcPct val="130000"/>
                  </a:lnSpc>
                </a:pPr>
                <a:r>
                  <a:rPr lang="zh-CN" altLang="en-US" dirty="0">
                    <a:latin typeface="Times New Roman" panose="02020603050405020304" charset="0"/>
                    <a:ea typeface="微软雅黑 Light" panose="020B0502040204020203" pitchFamily="34" charset="-122"/>
                  </a:rPr>
                  <a:t>         预期的执行结果：基于</a:t>
                </a:r>
                <a:r>
                  <a:rPr lang="en-US" altLang="zh-CN" dirty="0">
                    <a:latin typeface="Times New Roman" panose="02020603050405020304" charset="0"/>
                    <a:ea typeface="微软雅黑 Light" panose="020B0502040204020203" pitchFamily="34" charset="-122"/>
                  </a:rPr>
                  <a:t>k</a:t>
                </a:r>
                <a:r>
                  <a:rPr lang="zh-CN" altLang="en-US" dirty="0">
                    <a:latin typeface="Times New Roman" panose="02020603050405020304" charset="0"/>
                    <a:ea typeface="微软雅黑 Light" panose="020B0502040204020203" pitchFamily="34" charset="-122"/>
                  </a:rPr>
                  <a:t>的输入正确数据的平均值、总和及个数。</a:t>
                </a: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4"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a:lnSpc>
                    <a:spcPct val="130000"/>
                  </a:lnSpc>
                </a:pPr>
                <a:r>
                  <a:rPr lang="en-US" altLang="en-US" dirty="0">
                    <a:latin typeface="Times New Roman" panose="02020603050405020304" charset="0"/>
                    <a:ea typeface="微软雅黑 Light" panose="020B0502040204020203" pitchFamily="34" charset="-122"/>
                  </a:rPr>
                  <a:t>4．设计可强制执行集合中每条路径的测试用例</a:t>
                </a:r>
              </a:p>
              <a:p>
                <a:pPr>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 路径2的测试用例</a:t>
                </a:r>
              </a:p>
              <a:p>
                <a:pPr fontAlgn="auto">
                  <a:lnSpc>
                    <a:spcPct val="130000"/>
                  </a:lnSpc>
                </a:pPr>
                <a:r>
                  <a:rPr lang="en-US" altLang="en-US" dirty="0">
                    <a:latin typeface="Times New Roman" panose="02020603050405020304" charset="0"/>
                    <a:ea typeface="微软雅黑 Light" panose="020B0502040204020203" pitchFamily="34" charset="-122"/>
                  </a:rPr>
                  <a:t>         value[1]=-999</a:t>
                </a:r>
              </a:p>
              <a:p>
                <a:pPr>
                  <a:lnSpc>
                    <a:spcPct val="130000"/>
                  </a:lnSpc>
                </a:pPr>
                <a:r>
                  <a:rPr lang="zh-CN" altLang="en-US" dirty="0">
                    <a:latin typeface="Times New Roman" panose="02020603050405020304" charset="0"/>
                    <a:ea typeface="微软雅黑 Light" panose="020B0502040204020203" pitchFamily="34" charset="-122"/>
                  </a:rPr>
                  <a:t>         预期的测试结果：</a:t>
                </a:r>
                <a:r>
                  <a:rPr lang="en-US" altLang="zh-CN" dirty="0">
                    <a:latin typeface="Times New Roman" panose="02020603050405020304" charset="0"/>
                    <a:ea typeface="微软雅黑 Light" panose="020B0502040204020203" pitchFamily="34" charset="-122"/>
                  </a:rPr>
                  <a:t>average=-999</a:t>
                </a:r>
                <a:r>
                  <a:rPr lang="zh-CN" altLang="en-US" dirty="0">
                    <a:latin typeface="Times New Roman" panose="02020603050405020304" charset="0"/>
                    <a:ea typeface="微软雅黑 Light" panose="020B0502040204020203" pitchFamily="34" charset="-122"/>
                  </a:rPr>
                  <a:t>。</a:t>
                </a:r>
                <a:endParaRPr lang="en-US" altLang="en-US" dirty="0">
                  <a:latin typeface="Times New Roman" panose="02020603050405020304" charset="0"/>
                  <a:ea typeface="微软雅黑 Light" panose="020B0502040204020203" pitchFamily="34" charset="-122"/>
                </a:endParaRPr>
              </a:p>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路径3的测试用例</a:t>
                </a:r>
              </a:p>
              <a:p>
                <a:pPr fontAlgn="auto">
                  <a:lnSpc>
                    <a:spcPct val="130000"/>
                  </a:lnSpc>
                </a:pPr>
                <a:r>
                  <a:rPr lang="en-US" altLang="en-US" dirty="0">
                    <a:latin typeface="Times New Roman" panose="02020603050405020304" charset="0"/>
                    <a:ea typeface="微软雅黑 Light" panose="020B0502040204020203" pitchFamily="34" charset="-122"/>
                  </a:rPr>
                  <a:t>        试图处理101个或者更多个值，前100个数值应该是有效输入值。</a:t>
                </a:r>
              </a:p>
              <a:p>
                <a:pPr fontAlgn="auto">
                  <a:lnSpc>
                    <a:spcPct val="130000"/>
                  </a:lnSpc>
                </a:pPr>
                <a:r>
                  <a:rPr lang="en-US" altLang="en-US" dirty="0">
                    <a:latin typeface="Times New Roman" panose="02020603050405020304" charset="0"/>
                    <a:ea typeface="微软雅黑 Light" panose="020B0502040204020203" pitchFamily="34" charset="-122"/>
                  </a:rPr>
                  <a:t>        预期测试结果：与测试用例1相同。</a:t>
                </a: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路径4的测试用例</a:t>
                </a:r>
              </a:p>
              <a:p>
                <a:pPr fontAlgn="auto">
                  <a:lnSpc>
                    <a:spcPct val="130000"/>
                  </a:lnSpc>
                </a:pPr>
                <a:r>
                  <a:rPr lang="en-US" altLang="en-US" dirty="0">
                    <a:latin typeface="Times New Roman" panose="02020603050405020304" charset="0"/>
                    <a:ea typeface="微软雅黑 Light" panose="020B0502040204020203" pitchFamily="34" charset="-122"/>
                  </a:rPr>
                  <a:t>        试图处理101个或者更多个值，前100个数值应该是有效输入值。</a:t>
                </a:r>
              </a:p>
              <a:p>
                <a:pPr fontAlgn="auto">
                  <a:lnSpc>
                    <a:spcPct val="130000"/>
                  </a:lnSpc>
                </a:pPr>
                <a:r>
                  <a:rPr lang="zh-CN" altLang="en-US" dirty="0">
                    <a:latin typeface="Times New Roman" panose="02020603050405020304" charset="0"/>
                    <a:ea typeface="微软雅黑 Light" panose="020B0502040204020203" pitchFamily="34" charset="-122"/>
                  </a:rPr>
                  <a:t>         预期测试结果：</a:t>
                </a:r>
                <a:r>
                  <a:rPr lang="en-US" altLang="zh-CN" dirty="0">
                    <a:latin typeface="Times New Roman" panose="02020603050405020304" charset="0"/>
                    <a:ea typeface="微软雅黑 Light" panose="020B0502040204020203" pitchFamily="34" charset="-122"/>
                  </a:rPr>
                  <a:t>average=-999</a:t>
                </a:r>
                <a:r>
                  <a:rPr lang="zh-CN" altLang="en-US" dirty="0">
                    <a:latin typeface="Times New Roman" panose="02020603050405020304" charset="0"/>
                    <a:ea typeface="微软雅黑 Light" panose="020B0502040204020203" pitchFamily="34" charset="-122"/>
                  </a:rPr>
                  <a:t>。</a:t>
                </a:r>
              </a:p>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路径5的测试用例</a:t>
                </a:r>
              </a:p>
              <a:p>
                <a:pPr fontAlgn="auto">
                  <a:lnSpc>
                    <a:spcPct val="130000"/>
                  </a:lnSpc>
                </a:pPr>
                <a:r>
                  <a:rPr lang="en-US" altLang="en-US" dirty="0">
                    <a:latin typeface="Times New Roman" panose="02020603050405020304" charset="0"/>
                    <a:ea typeface="微软雅黑 Light" panose="020B0502040204020203" pitchFamily="34" charset="-122"/>
                  </a:rPr>
                  <a:t>         value[</a:t>
                </a:r>
                <a:r>
                  <a:rPr lang="en-US" altLang="en-US" dirty="0" err="1">
                    <a:latin typeface="Times New Roman" panose="02020603050405020304" charset="0"/>
                    <a:ea typeface="微软雅黑 Light" panose="020B0502040204020203" pitchFamily="34" charset="-122"/>
                  </a:rPr>
                  <a:t>i</a:t>
                </a:r>
                <a:r>
                  <a:rPr lang="en-US" altLang="en-US" dirty="0">
                    <a:latin typeface="Times New Roman" panose="02020603050405020304" charset="0"/>
                    <a:ea typeface="微软雅黑 Light" panose="020B0502040204020203" pitchFamily="34" charset="-122"/>
                  </a:rPr>
                  <a:t>]=有效输入值，其中i&lt;100。</a:t>
                </a:r>
              </a:p>
              <a:p>
                <a:pPr fontAlgn="auto">
                  <a:lnSpc>
                    <a:spcPct val="130000"/>
                  </a:lnSpc>
                </a:pPr>
                <a:r>
                  <a:rPr lang="en-US" altLang="en-US" dirty="0">
                    <a:latin typeface="Times New Roman" panose="02020603050405020304" charset="0"/>
                    <a:ea typeface="微软雅黑 Light" panose="020B0502040204020203" pitchFamily="34" charset="-122"/>
                  </a:rPr>
                  <a:t>         value[k]&lt;minimum，其中k&lt;i。</a:t>
                </a:r>
              </a:p>
              <a:p>
                <a:pPr fontAlgn="auto">
                  <a:lnSpc>
                    <a:spcPct val="130000"/>
                  </a:lnSpc>
                </a:pPr>
                <a:r>
                  <a:rPr lang="zh-CN" altLang="en-US" dirty="0">
                    <a:latin typeface="Times New Roman" panose="02020603050405020304" charset="0"/>
                    <a:ea typeface="微软雅黑 Light" panose="020B0502040204020203" pitchFamily="34" charset="-122"/>
                  </a:rPr>
                  <a:t>         预期的测试结果：基于</a:t>
                </a:r>
                <a:r>
                  <a:rPr lang="en-US" altLang="zh-CN" dirty="0">
                    <a:latin typeface="Times New Roman" panose="02020603050405020304" charset="0"/>
                    <a:ea typeface="微软雅黑 Light" panose="020B0502040204020203" pitchFamily="34" charset="-122"/>
                  </a:rPr>
                  <a:t>k</a:t>
                </a:r>
                <a:r>
                  <a:rPr lang="zh-CN" altLang="en-US" dirty="0">
                    <a:latin typeface="Times New Roman" panose="02020603050405020304" charset="0"/>
                    <a:ea typeface="微软雅黑 Light" panose="020B0502040204020203" pitchFamily="34" charset="-122"/>
                  </a:rPr>
                  <a:t>的输入数据的正确平均值、总和及个数。</a:t>
                </a: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1073752572"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4"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路径6的测试用例</a:t>
                </a:r>
              </a:p>
              <a:p>
                <a:pPr fontAlgn="auto">
                  <a:lnSpc>
                    <a:spcPct val="130000"/>
                  </a:lnSpc>
                </a:pPr>
                <a:r>
                  <a:rPr lang="en-US" altLang="en-US" dirty="0">
                    <a:latin typeface="Times New Roman" panose="02020603050405020304" charset="0"/>
                    <a:ea typeface="微软雅黑 Light" panose="020B0502040204020203" pitchFamily="34" charset="-122"/>
                  </a:rPr>
                  <a:t>         value[</a:t>
                </a:r>
                <a:r>
                  <a:rPr lang="en-US" altLang="en-US" dirty="0" err="1">
                    <a:latin typeface="Times New Roman" panose="02020603050405020304" charset="0"/>
                    <a:ea typeface="微软雅黑 Light" panose="020B0502040204020203" pitchFamily="34" charset="-122"/>
                  </a:rPr>
                  <a:t>i</a:t>
                </a:r>
                <a:r>
                  <a:rPr lang="en-US" altLang="en-US" dirty="0">
                    <a:latin typeface="Times New Roman" panose="02020603050405020304" charset="0"/>
                    <a:ea typeface="微软雅黑 Light" panose="020B0502040204020203" pitchFamily="34" charset="-122"/>
                  </a:rPr>
                  <a:t>]=有效输入值，其中i&lt;100；</a:t>
                </a:r>
              </a:p>
              <a:p>
                <a:pPr fontAlgn="auto">
                  <a:lnSpc>
                    <a:spcPct val="130000"/>
                  </a:lnSpc>
                </a:pPr>
                <a:r>
                  <a:rPr lang="en-US" altLang="en-US" dirty="0">
                    <a:latin typeface="Times New Roman" panose="02020603050405020304" charset="0"/>
                    <a:ea typeface="微软雅黑 Light" panose="020B0502040204020203" pitchFamily="34" charset="-122"/>
                  </a:rPr>
                  <a:t>         value[k]&gt;maximum，其中k&lt;i。</a:t>
                </a:r>
              </a:p>
              <a:p>
                <a:pPr>
                  <a:lnSpc>
                    <a:spcPct val="130000"/>
                  </a:lnSpc>
                </a:pPr>
                <a:r>
                  <a:rPr lang="zh-CN" altLang="en-US" dirty="0">
                    <a:latin typeface="Times New Roman" panose="02020603050405020304" charset="0"/>
                    <a:ea typeface="微软雅黑 Light" panose="020B0502040204020203" pitchFamily="34" charset="-122"/>
                  </a:rPr>
                  <a:t>         预期的测试结果：基于</a:t>
                </a:r>
                <a:r>
                  <a:rPr lang="en-US" altLang="zh-CN" dirty="0">
                    <a:latin typeface="Times New Roman" panose="02020603050405020304" charset="0"/>
                    <a:ea typeface="微软雅黑 Light" panose="020B0502040204020203" pitchFamily="34" charset="-122"/>
                  </a:rPr>
                  <a:t>k</a:t>
                </a:r>
                <a:r>
                  <a:rPr lang="zh-CN" altLang="en-US" dirty="0">
                    <a:latin typeface="Times New Roman" panose="02020603050405020304" charset="0"/>
                    <a:ea typeface="微软雅黑 Light" panose="020B0502040204020203" pitchFamily="34" charset="-122"/>
                  </a:rPr>
                  <a:t>的输入正确数据的平均值、总和及个数。</a:t>
                </a:r>
                <a:endParaRPr lang="en-US" altLang="en-US" dirty="0">
                  <a:latin typeface="Times New Roman" panose="02020603050405020304" charset="0"/>
                  <a:ea typeface="微软雅黑 Light" panose="020B0502040204020203" pitchFamily="34" charset="-122"/>
                </a:endParaRPr>
              </a:p>
              <a:p>
                <a:pPr fontAlgn="auto">
                  <a:lnSpc>
                    <a:spcPct val="130000"/>
                  </a:lnSpc>
                  <a:buFont typeface="Wingdings" panose="05000000000000000000" pitchFamily="2" charset="2"/>
                  <a:buChar char="Ø"/>
                </a:pPr>
                <a:r>
                  <a:rPr lang="en-US" altLang="en-US" dirty="0">
                    <a:latin typeface="Times New Roman" panose="02020603050405020304" charset="0"/>
                    <a:ea typeface="微软雅黑 Light" panose="020B0502040204020203" pitchFamily="34" charset="-122"/>
                  </a:rPr>
                  <a:t>路径7的测试用例</a:t>
                </a:r>
              </a:p>
              <a:p>
                <a:pPr fontAlgn="auto">
                  <a:lnSpc>
                    <a:spcPct val="130000"/>
                  </a:lnSpc>
                </a:pPr>
                <a:r>
                  <a:rPr lang="en-US" altLang="en-US" dirty="0">
                    <a:latin typeface="Times New Roman" panose="02020603050405020304" charset="0"/>
                    <a:ea typeface="微软雅黑 Light" panose="020B0502040204020203" pitchFamily="34" charset="-122"/>
                  </a:rPr>
                  <a:t>         value[</a:t>
                </a:r>
                <a:r>
                  <a:rPr lang="en-US" altLang="en-US" dirty="0" err="1">
                    <a:latin typeface="Times New Roman" panose="02020603050405020304" charset="0"/>
                    <a:ea typeface="微软雅黑 Light" panose="020B0502040204020203" pitchFamily="34" charset="-122"/>
                  </a:rPr>
                  <a:t>i</a:t>
                </a:r>
                <a:r>
                  <a:rPr lang="en-US" altLang="en-US" dirty="0">
                    <a:latin typeface="Times New Roman" panose="02020603050405020304" charset="0"/>
                    <a:ea typeface="微软雅黑 Light" panose="020B0502040204020203" pitchFamily="34" charset="-122"/>
                  </a:rPr>
                  <a:t>]=有效输入值，其中i&lt;100。</a:t>
                </a:r>
              </a:p>
              <a:p>
                <a:pPr fontAlgn="auto">
                  <a:lnSpc>
                    <a:spcPct val="130000"/>
                  </a:lnSpc>
                </a:pPr>
                <a:r>
                  <a:rPr lang="zh-CN" altLang="en-US" dirty="0">
                    <a:latin typeface="Times New Roman" panose="02020603050405020304" charset="0"/>
                    <a:ea typeface="微软雅黑 Light" panose="020B0502040204020203" pitchFamily="34" charset="-122"/>
                  </a:rPr>
                  <a:t>        预期的测试结果：输入正确数据的平均值、总和及个数。</a:t>
                </a: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t>4.5 </a:t>
            </a:r>
            <a:r>
              <a:rPr lang="zh-CN" altLang="en-US" dirty="0"/>
              <a:t>设计软件测试方案</a:t>
            </a:r>
          </a:p>
        </p:txBody>
      </p:sp>
      <p:grpSp>
        <p:nvGrpSpPr>
          <p:cNvPr id="2" name="组合 1"/>
          <p:cNvGrpSpPr/>
          <p:nvPr/>
        </p:nvGrpSpPr>
        <p:grpSpPr>
          <a:xfrm>
            <a:off x="737235" y="1403985"/>
            <a:ext cx="9955530" cy="4768215"/>
            <a:chOff x="1275" y="2210"/>
            <a:chExt cx="15678" cy="7509"/>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4" name="组合 4"/>
            <p:cNvGrpSpPr/>
            <p:nvPr/>
          </p:nvGrpSpPr>
          <p:grpSpPr>
            <a:xfrm>
              <a:off x="1499" y="3150"/>
              <a:ext cx="15454" cy="6569"/>
              <a:chOff x="1499" y="3150"/>
              <a:chExt cx="15454" cy="6569"/>
            </a:xfrm>
          </p:grpSpPr>
          <p:sp>
            <p:nvSpPr>
              <p:cNvPr id="22" name="TextBox 21"/>
              <p:cNvSpPr txBox="1"/>
              <p:nvPr/>
            </p:nvSpPr>
            <p:spPr>
              <a:xfrm>
                <a:off x="3431" y="3419"/>
                <a:ext cx="13522" cy="624"/>
              </a:xfrm>
              <a:prstGeom prst="rect">
                <a:avLst/>
              </a:prstGeom>
              <a:noFill/>
            </p:spPr>
            <p:txBody>
              <a:bodyPr wrap="square">
                <a:spAutoFit/>
              </a:bodyPr>
              <a:lstStyle/>
              <a:p>
                <a:r>
                  <a:rPr sz="2000" dirty="0">
                    <a:latin typeface="Times New Roman" panose="02020603050405020304" pitchFamily="18" charset="0"/>
                    <a:sym typeface="+mn-ea"/>
                  </a:rPr>
                  <a:t>用基本路径覆盖法设计测试用例。</a:t>
                </a:r>
              </a:p>
            </p:txBody>
          </p:sp>
          <p:sp>
            <p:nvSpPr>
              <p:cNvPr id="24" name="矩形 23"/>
              <p:cNvSpPr>
                <a:spLocks noChangeAspect="1"/>
              </p:cNvSpPr>
              <p:nvPr/>
            </p:nvSpPr>
            <p:spPr>
              <a:xfrm>
                <a:off x="1499" y="4275"/>
                <a:ext cx="8213" cy="544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latin typeface="Times New Roman" panose="02020603050405020304" pitchFamily="18" charset="0"/>
                      <a:sym typeface="+mn-ea"/>
                    </a:rPr>
                    <a:t>例 </a:t>
                  </a:r>
                  <a:r>
                    <a:rPr lang="en-US" altLang="zh-CN" sz="2400" dirty="0">
                      <a:solidFill>
                        <a:schemeClr val="bg1"/>
                      </a:solidFill>
                      <a:latin typeface="Times New Roman" panose="02020603050405020304" pitchFamily="18" charset="0"/>
                      <a:sym typeface="+mn-ea"/>
                    </a:rPr>
                    <a:t>4-4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968" y="4666"/>
                <a:ext cx="7194" cy="4682"/>
              </a:xfrm>
              <a:prstGeom prst="rect">
                <a:avLst/>
              </a:prstGeom>
              <a:solidFill>
                <a:schemeClr val="bg1">
                  <a:lumMod val="95000"/>
                </a:schemeClr>
              </a:solidFill>
            </p:spPr>
            <p:txBody>
              <a:bodyPr wrap="square">
                <a:spAutoFit/>
              </a:bodyPr>
              <a:lstStyle/>
              <a:p>
                <a:pPr fontAlgn="auto">
                  <a:lnSpc>
                    <a:spcPct val="130000"/>
                  </a:lnSpc>
                </a:pPr>
                <a:r>
                  <a:rPr lang="zh-CN" altLang="en-US" dirty="0">
                    <a:latin typeface="Times New Roman" panose="02020603050405020304" charset="0"/>
                    <a:ea typeface="微软雅黑 Light" panose="020B0502040204020203" pitchFamily="34" charset="-122"/>
                  </a:rPr>
                  <a:t>        </a:t>
                </a:r>
                <a:endParaRPr lang="en-US" altLang="zh-CN" dirty="0">
                  <a:latin typeface="Times New Roman" panose="02020603050405020304" charset="0"/>
                  <a:ea typeface="微软雅黑 Light" panose="020B0502040204020203" pitchFamily="34" charset="-122"/>
                </a:endParaRPr>
              </a:p>
              <a:p>
                <a:pPr fontAlgn="auto">
                  <a:lnSpc>
                    <a:spcPct val="130000"/>
                  </a:lnSpc>
                </a:pPr>
                <a:endParaRPr lang="en-US" altLang="zh-CN" dirty="0">
                  <a:latin typeface="Times New Roman" panose="02020603050405020304" charset="0"/>
                  <a:ea typeface="微软雅黑 Light" panose="020B0502040204020203" pitchFamily="34" charset="-122"/>
                </a:endParaRPr>
              </a:p>
              <a:p>
                <a:pPr fontAlgn="auto">
                  <a:lnSpc>
                    <a:spcPct val="130000"/>
                  </a:lnSpc>
                </a:pPr>
                <a:r>
                  <a:rPr lang="zh-CN" altLang="en-US" dirty="0">
                    <a:latin typeface="Times New Roman" panose="02020603050405020304" charset="0"/>
                    <a:ea typeface="微软雅黑 Light" panose="020B0502040204020203" pitchFamily="34" charset="-122"/>
                  </a:rPr>
                  <a:t>在测试过程中，执行每个测试用例并把实际输出结果与预期结果相比较。一旦执行完所有测试用例，就可以确保程序中所有语句都至少被执行了一次，而且每个条件都分别取过</a:t>
                </a:r>
                <a:r>
                  <a:rPr lang="en-US" altLang="zh-CN" dirty="0">
                    <a:latin typeface="Times New Roman" panose="02020603050405020304" charset="0"/>
                    <a:ea typeface="微软雅黑 Light" panose="020B0502040204020203" pitchFamily="34" charset="-122"/>
                  </a:rPr>
                  <a:t>true</a:t>
                </a:r>
                <a:r>
                  <a:rPr lang="zh-CN" altLang="en-US" dirty="0">
                    <a:latin typeface="Times New Roman" panose="02020603050405020304" charset="0"/>
                    <a:ea typeface="微软雅黑 Light" panose="020B0502040204020203" pitchFamily="34" charset="-122"/>
                  </a:rPr>
                  <a:t>值和</a:t>
                </a:r>
                <a:r>
                  <a:rPr lang="en-US" altLang="zh-CN" dirty="0">
                    <a:latin typeface="Times New Roman" panose="02020603050405020304" charset="0"/>
                    <a:ea typeface="微软雅黑 Light" panose="020B0502040204020203" pitchFamily="34" charset="-122"/>
                  </a:rPr>
                  <a:t>false</a:t>
                </a:r>
                <a:r>
                  <a:rPr lang="zh-CN" altLang="en-US" dirty="0">
                    <a:latin typeface="Times New Roman" panose="02020603050405020304" charset="0"/>
                    <a:ea typeface="微软雅黑 Light" panose="020B0502040204020203" pitchFamily="34" charset="-122"/>
                  </a:rPr>
                  <a:t>值。</a:t>
                </a: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a:p>
            <a:pPr fontAlgn="auto">
              <a:lnSpc>
                <a:spcPct val="130000"/>
              </a:lnSpc>
            </a:pPr>
            <a:endParaRPr lang="en-US" altLang="en-US" sz="1600" dirty="0">
              <a:latin typeface="Times New Roman" panose="02020603050405020304" charset="0"/>
              <a:ea typeface="微软雅黑 Light" panose="020B0502040204020203" pitchFamily="34"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a:t>
              </a:r>
            </a:p>
            <a:p>
              <a:endParaRPr lang="zh-CN" altLang="en-US" dirty="0">
                <a:latin typeface="Times New Roman" panose="02020603050405020304" pitchFamily="18" charset="0"/>
              </a:endParaRPr>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2</a:t>
              </a:r>
            </a:p>
            <a:p>
              <a:endParaRPr lang="zh-CN" altLang="en-US" dirty="0">
                <a:latin typeface="Times New Roman" panose="02020603050405020304" pitchFamily="18" charset="0"/>
              </a:endParaRPr>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3</a:t>
              </a:r>
            </a:p>
            <a:p>
              <a:endParaRPr lang="zh-CN" altLang="en-US" dirty="0">
                <a:latin typeface="Times New Roman" panose="02020603050405020304" pitchFamily="18" charset="0"/>
              </a:endParaRPr>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4</a:t>
              </a:r>
            </a:p>
            <a:p>
              <a:endParaRPr lang="zh-CN" altLang="en-US" dirty="0">
                <a:latin typeface="Times New Roman" panose="02020603050405020304" pitchFamily="18" charset="0"/>
              </a:endParaRPr>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5</a:t>
              </a:r>
            </a:p>
            <a:p>
              <a:endParaRPr lang="zh-CN" altLang="en-US" dirty="0">
                <a:latin typeface="Times New Roman" panose="02020603050405020304" pitchFamily="18" charset="0"/>
              </a:endParaRPr>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6</a:t>
              </a:r>
            </a:p>
            <a:p>
              <a:endParaRPr lang="zh-CN" altLang="en-US" dirty="0">
                <a:latin typeface="Times New Roman" panose="02020603050405020304" pitchFamily="18" charset="0"/>
              </a:endParaRPr>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7</a:t>
              </a:r>
            </a:p>
            <a:p>
              <a:endParaRPr lang="zh-CN" altLang="en-US" dirty="0">
                <a:latin typeface="Times New Roman" panose="02020603050405020304" pitchFamily="18" charset="0"/>
              </a:endParaRPr>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8</a:t>
              </a:r>
            </a:p>
            <a:p>
              <a:endParaRPr lang="zh-CN" altLang="en-US" dirty="0">
                <a:latin typeface="Times New Roman" panose="02020603050405020304" pitchFamily="18" charset="0"/>
              </a:endParaRPr>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9</a:t>
              </a:r>
            </a:p>
            <a:p>
              <a:endParaRPr lang="zh-CN" altLang="en-US" dirty="0">
                <a:latin typeface="Times New Roman" panose="02020603050405020304" pitchFamily="18" charset="0"/>
              </a:endParaRPr>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10</a:t>
              </a:r>
            </a:p>
            <a:p>
              <a:endParaRPr lang="zh-CN" altLang="en-US" dirty="0">
                <a:latin typeface="Times New Roman" panose="02020603050405020304" pitchFamily="18" charset="0"/>
              </a:endParaRPr>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11</a:t>
              </a:r>
            </a:p>
            <a:p>
              <a:endParaRPr lang="zh-CN" altLang="en-US" dirty="0">
                <a:latin typeface="Times New Roman" panose="02020603050405020304" pitchFamily="18" charset="0"/>
              </a:endParaRPr>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12</a:t>
              </a:r>
            </a:p>
            <a:p>
              <a:endParaRPr lang="zh-CN" altLang="en-US" dirty="0">
                <a:latin typeface="Times New Roman" panose="02020603050405020304" pitchFamily="18" charset="0"/>
              </a:endParaRPr>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latin typeface="Times New Roman" panose="02020603050405020304" pitchFamily="18" charset="0"/>
                </a:rPr>
                <a:t>13</a:t>
              </a:r>
            </a:p>
            <a:p>
              <a:endParaRPr lang="zh-CN" altLang="en-US" dirty="0">
                <a:latin typeface="Times New Roman" panose="02020603050405020304" pitchFamily="18" charset="0"/>
              </a:endParaRPr>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txBody>
            <a:bodyPr/>
            <a:lstStyle/>
            <a:p>
              <a:endParaRPr lang="zh-CN" altLang="en-US"/>
            </a:p>
          </p:txBody>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dirty="0">
                <a:latin typeface="Times New Roman" panose="02020603050405020304" pitchFamily="18" charset="0"/>
              </a:endParaRPr>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dirty="0">
                <a:latin typeface="Times New Roman" panose="02020603050405020304" pitchFamily="18" charset="0"/>
              </a:endParaRPr>
            </a:p>
          </p:txBody>
        </p:sp>
      </p:grpSp>
    </p:spTree>
  </p:cSld>
  <p:clrMapOvr>
    <a:masterClrMapping/>
  </p:clrMapOvr>
  <p:transition>
    <p:pull dir="rd"/>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465" y="2935102"/>
            <a:ext cx="599567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软件测试原则和策略</a:t>
            </a:r>
          </a:p>
        </p:txBody>
      </p:sp>
      <p:sp>
        <p:nvSpPr>
          <p:cNvPr id="48" name="文本框 47"/>
          <p:cNvSpPr txBox="1"/>
          <p:nvPr/>
        </p:nvSpPr>
        <p:spPr>
          <a:xfrm>
            <a:off x="6006465" y="4135755"/>
            <a:ext cx="371284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软件测试原则</a:t>
            </a:r>
          </a:p>
        </p:txBody>
      </p:sp>
      <p:sp>
        <p:nvSpPr>
          <p:cNvPr id="50" name="文本框 49"/>
          <p:cNvSpPr txBox="1"/>
          <p:nvPr/>
        </p:nvSpPr>
        <p:spPr>
          <a:xfrm>
            <a:off x="6006465" y="4631055"/>
            <a:ext cx="371284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实用测试策略</a:t>
            </a:r>
          </a:p>
        </p:txBody>
      </p:sp>
      <p:sp>
        <p:nvSpPr>
          <p:cNvPr id="3" name="椭圆 2">
            <a:extLst>
              <a:ext uri="{FF2B5EF4-FFF2-40B4-BE49-F238E27FC236}">
                <a16:creationId xmlns:a16="http://schemas.microsoft.com/office/drawing/2014/main" id="{DBBD4620-820D-1048-A5D2-239FFB52FF6D}"/>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06</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sym typeface="+mn-ea"/>
              </a:rPr>
              <a:t>4.6 </a:t>
            </a:r>
            <a:r>
              <a:rPr lang="zh-CN" altLang="en-US" dirty="0">
                <a:sym typeface="+mn-ea"/>
              </a:rPr>
              <a:t>软件测试原则和策略</a:t>
            </a:r>
            <a:endParaRPr lang="zh-CN" altLang="en-US" dirty="0"/>
          </a:p>
        </p:txBody>
      </p:sp>
      <p:sp>
        <p:nvSpPr>
          <p:cNvPr id="23" name="文本框 44"/>
          <p:cNvSpPr txBox="1"/>
          <p:nvPr/>
        </p:nvSpPr>
        <p:spPr>
          <a:xfrm>
            <a:off x="-158115" y="3863340"/>
            <a:ext cx="309880"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2400" b="1" dirty="0">
                <a:solidFill>
                  <a:schemeClr val="bg1"/>
                </a:solidFill>
                <a:latin typeface="微软雅黑" panose="020B0503020204020204" charset="-122"/>
                <a:ea typeface="微软雅黑" panose="020B0503020204020204" charset="-122"/>
              </a:rPr>
              <a:t>2</a:t>
            </a:r>
          </a:p>
        </p:txBody>
      </p:sp>
      <p:grpSp>
        <p:nvGrpSpPr>
          <p:cNvPr id="81" name="组合 80"/>
          <p:cNvGrpSpPr/>
          <p:nvPr/>
        </p:nvGrpSpPr>
        <p:grpSpPr>
          <a:xfrm>
            <a:off x="213360" y="1859280"/>
            <a:ext cx="11978640" cy="4257756"/>
            <a:chOff x="-21" y="2136"/>
            <a:chExt cx="18345" cy="7323"/>
          </a:xfrm>
        </p:grpSpPr>
        <p:sp>
          <p:nvSpPr>
            <p:cNvPr id="66" name="文本框 44"/>
            <p:cNvSpPr txBox="1"/>
            <p:nvPr/>
          </p:nvSpPr>
          <p:spPr>
            <a:xfrm>
              <a:off x="1010" y="4518"/>
              <a:ext cx="488" cy="730"/>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010" y="7613"/>
              <a:ext cx="488" cy="730"/>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9347" y="2136"/>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46" name="任意多边形 45"/>
            <p:cNvSpPr/>
            <p:nvPr>
              <p:custDataLst>
                <p:tags r:id="rId2"/>
              </p:custDataLst>
            </p:nvPr>
          </p:nvSpPr>
          <p:spPr>
            <a:xfrm rot="10800000">
              <a:off x="5473" y="2136"/>
              <a:ext cx="3874"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51" name="圆角矩形 50"/>
            <p:cNvSpPr/>
            <p:nvPr>
              <p:custDataLst>
                <p:tags r:id="rId3"/>
              </p:custDataLst>
            </p:nvPr>
          </p:nvSpPr>
          <p:spPr>
            <a:xfrm>
              <a:off x="11264" y="2776"/>
              <a:ext cx="6835"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56" name="椭圆 55"/>
            <p:cNvSpPr/>
            <p:nvPr>
              <p:custDataLst>
                <p:tags r:id="rId4"/>
              </p:custDataLst>
            </p:nvPr>
          </p:nvSpPr>
          <p:spPr>
            <a:xfrm>
              <a:off x="11227" y="2698"/>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5</a:t>
              </a:r>
            </a:p>
          </p:txBody>
        </p:sp>
        <p:sp>
          <p:nvSpPr>
            <p:cNvPr id="57" name="文本框 54"/>
            <p:cNvSpPr txBox="1">
              <a:spLocks noChangeArrowheads="1"/>
            </p:cNvSpPr>
            <p:nvPr>
              <p:custDataLst>
                <p:tags r:id="rId5"/>
              </p:custDataLst>
            </p:nvPr>
          </p:nvSpPr>
          <p:spPr bwMode="auto">
            <a:xfrm>
              <a:off x="12390" y="2829"/>
              <a:ext cx="5934" cy="1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穷尽测试不可能，要精心设计测试方案，尽量把软件中的错误测试出来。</a:t>
              </a:r>
              <a:endParaRPr lang="zh-CN" altLang="en-US" sz="1600" dirty="0">
                <a:latin typeface="Times New Roman" panose="02020603050405020304" pitchFamily="18" charset="0"/>
                <a:ea typeface="黑体" panose="02010609060101010101" pitchFamily="49" charset="-122"/>
              </a:endParaRPr>
            </a:p>
          </p:txBody>
        </p:sp>
        <p:sp>
          <p:nvSpPr>
            <p:cNvPr id="58" name="圆角矩形 57"/>
            <p:cNvSpPr/>
            <p:nvPr>
              <p:custDataLst>
                <p:tags r:id="rId6"/>
              </p:custDataLst>
            </p:nvPr>
          </p:nvSpPr>
          <p:spPr>
            <a:xfrm>
              <a:off x="10169" y="4467"/>
              <a:ext cx="735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59" name="椭圆 58"/>
            <p:cNvSpPr/>
            <p:nvPr>
              <p:custDataLst>
                <p:tags r:id="rId7"/>
              </p:custDataLst>
            </p:nvPr>
          </p:nvSpPr>
          <p:spPr>
            <a:xfrm>
              <a:off x="10135" y="439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6</a:t>
              </a:r>
            </a:p>
          </p:txBody>
        </p:sp>
        <p:sp>
          <p:nvSpPr>
            <p:cNvPr id="60" name="文本框 55"/>
            <p:cNvSpPr txBox="1">
              <a:spLocks noChangeArrowheads="1"/>
            </p:cNvSpPr>
            <p:nvPr>
              <p:custDataLst>
                <p:tags r:id="rId8"/>
              </p:custDataLst>
            </p:nvPr>
          </p:nvSpPr>
          <p:spPr bwMode="auto">
            <a:xfrm>
              <a:off x="11211" y="4471"/>
              <a:ext cx="6706" cy="1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Pareto原理：测试发现的错误中的80%很可能是由程序中20%的模块造成的。</a:t>
              </a:r>
              <a:endParaRPr lang="zh-CN" altLang="en-US" sz="1600" dirty="0">
                <a:latin typeface="Times New Roman" panose="02020603050405020304" pitchFamily="18" charset="0"/>
                <a:ea typeface="黑体" panose="02010609060101010101" pitchFamily="49" charset="-122"/>
              </a:endParaRPr>
            </a:p>
          </p:txBody>
        </p:sp>
        <p:sp>
          <p:nvSpPr>
            <p:cNvPr id="61" name="圆角矩形 60"/>
            <p:cNvSpPr/>
            <p:nvPr>
              <p:custDataLst>
                <p:tags r:id="rId9"/>
              </p:custDataLst>
            </p:nvPr>
          </p:nvSpPr>
          <p:spPr>
            <a:xfrm>
              <a:off x="9997" y="6168"/>
              <a:ext cx="7523"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62" name="椭圆 61"/>
            <p:cNvSpPr/>
            <p:nvPr>
              <p:custDataLst>
                <p:tags r:id="rId10"/>
              </p:custDataLst>
            </p:nvPr>
          </p:nvSpPr>
          <p:spPr>
            <a:xfrm>
              <a:off x="9961" y="609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7</a:t>
              </a:r>
            </a:p>
          </p:txBody>
        </p:sp>
        <p:sp>
          <p:nvSpPr>
            <p:cNvPr id="63" name="文本框 56"/>
            <p:cNvSpPr txBox="1">
              <a:spLocks noChangeArrowheads="1"/>
            </p:cNvSpPr>
            <p:nvPr>
              <p:custDataLst>
                <p:tags r:id="rId11"/>
              </p:custDataLst>
            </p:nvPr>
          </p:nvSpPr>
          <p:spPr bwMode="auto">
            <a:xfrm>
              <a:off x="11212" y="6355"/>
              <a:ext cx="6365" cy="1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在软件需求分析阶段，就应制订测试计划。</a:t>
              </a:r>
              <a:endParaRPr lang="zh-CN" altLang="en-US" sz="1600" dirty="0">
                <a:latin typeface="Times New Roman" panose="02020603050405020304" pitchFamily="18" charset="0"/>
                <a:ea typeface="黑体" panose="02010609060101010101" pitchFamily="49" charset="-122"/>
              </a:endParaRPr>
            </a:p>
          </p:txBody>
        </p:sp>
        <p:sp>
          <p:nvSpPr>
            <p:cNvPr id="64" name="圆角矩形 63"/>
            <p:cNvSpPr/>
            <p:nvPr>
              <p:custDataLst>
                <p:tags r:id="rId12"/>
              </p:custDataLst>
            </p:nvPr>
          </p:nvSpPr>
          <p:spPr>
            <a:xfrm>
              <a:off x="11384" y="7959"/>
              <a:ext cx="6714"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65" name="椭圆 64"/>
            <p:cNvSpPr/>
            <p:nvPr>
              <p:custDataLst>
                <p:tags r:id="rId13"/>
              </p:custDataLst>
            </p:nvPr>
          </p:nvSpPr>
          <p:spPr>
            <a:xfrm>
              <a:off x="11350" y="788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8</a:t>
              </a:r>
            </a:p>
          </p:txBody>
        </p:sp>
        <p:sp>
          <p:nvSpPr>
            <p:cNvPr id="67" name="文本框 57"/>
            <p:cNvSpPr txBox="1">
              <a:spLocks noChangeArrowheads="1"/>
            </p:cNvSpPr>
            <p:nvPr>
              <p:custDataLst>
                <p:tags r:id="rId14"/>
              </p:custDataLst>
            </p:nvPr>
          </p:nvSpPr>
          <p:spPr bwMode="auto">
            <a:xfrm>
              <a:off x="12492" y="8033"/>
              <a:ext cx="5426" cy="13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应长期保存所有的测试用例，直至该程序被废弃。</a:t>
              </a:r>
              <a:endParaRPr lang="zh-CN" altLang="en-US" sz="1600" b="1" dirty="0">
                <a:latin typeface="Times New Roman" panose="02020603050405020304" pitchFamily="18" charset="0"/>
                <a:ea typeface="+mn-ea"/>
              </a:endParaRPr>
            </a:p>
          </p:txBody>
        </p:sp>
        <p:sp>
          <p:nvSpPr>
            <p:cNvPr id="68" name="圆角矩形 67"/>
            <p:cNvSpPr/>
            <p:nvPr>
              <p:custDataLst>
                <p:tags r:id="rId15"/>
              </p:custDataLst>
            </p:nvPr>
          </p:nvSpPr>
          <p:spPr>
            <a:xfrm rot="10800000">
              <a:off x="164" y="2777"/>
              <a:ext cx="7248"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69" name="椭圆 68"/>
            <p:cNvSpPr/>
            <p:nvPr>
              <p:custDataLst>
                <p:tags r:id="rId16"/>
              </p:custDataLst>
            </p:nvPr>
          </p:nvSpPr>
          <p:spPr>
            <a:xfrm>
              <a:off x="6372" y="2698"/>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1</a:t>
              </a:r>
            </a:p>
          </p:txBody>
        </p:sp>
        <p:sp>
          <p:nvSpPr>
            <p:cNvPr id="70" name="文本框 59"/>
            <p:cNvSpPr txBox="1">
              <a:spLocks noChangeArrowheads="1"/>
            </p:cNvSpPr>
            <p:nvPr>
              <p:custDataLst>
                <p:tags r:id="rId17"/>
              </p:custDataLst>
            </p:nvPr>
          </p:nvSpPr>
          <p:spPr bwMode="auto">
            <a:xfrm>
              <a:off x="323" y="2776"/>
              <a:ext cx="6048" cy="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fontAlgn="auto">
                <a:lnSpc>
                  <a:spcPct val="100000"/>
                </a:lnSpc>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最好不要由设计、编写某个软件的部门来测试该软件系统。</a:t>
              </a:r>
              <a:endParaRPr lang="zh-CN" altLang="en-US" sz="1600" dirty="0">
                <a:latin typeface="Times New Roman" panose="02020603050405020304" pitchFamily="18" charset="0"/>
                <a:ea typeface="黑体" panose="02010609060101010101" pitchFamily="49" charset="-122"/>
              </a:endParaRPr>
            </a:p>
          </p:txBody>
        </p:sp>
        <p:sp>
          <p:nvSpPr>
            <p:cNvPr id="71" name="圆角矩形 70"/>
            <p:cNvSpPr/>
            <p:nvPr>
              <p:custDataLst>
                <p:tags r:id="rId18"/>
              </p:custDataLst>
            </p:nvPr>
          </p:nvSpPr>
          <p:spPr>
            <a:xfrm rot="10800000">
              <a:off x="1270" y="4471"/>
              <a:ext cx="7236"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72" name="椭圆 71"/>
            <p:cNvSpPr/>
            <p:nvPr>
              <p:custDataLst>
                <p:tags r:id="rId19"/>
              </p:custDataLst>
            </p:nvPr>
          </p:nvSpPr>
          <p:spPr>
            <a:xfrm>
              <a:off x="7465" y="439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2</a:t>
              </a:r>
            </a:p>
          </p:txBody>
        </p:sp>
        <p:sp>
          <p:nvSpPr>
            <p:cNvPr id="73" name="文本框 60"/>
            <p:cNvSpPr txBox="1">
              <a:spLocks noChangeArrowheads="1"/>
            </p:cNvSpPr>
            <p:nvPr>
              <p:custDataLst>
                <p:tags r:id="rId20"/>
              </p:custDataLst>
            </p:nvPr>
          </p:nvSpPr>
          <p:spPr bwMode="auto">
            <a:xfrm>
              <a:off x="1640" y="4541"/>
              <a:ext cx="5787" cy="1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测试用例既要有输入数据，又要有对应的预期结果。</a:t>
              </a:r>
              <a:endParaRPr lang="zh-CN" altLang="en-US" sz="1600" dirty="0">
                <a:latin typeface="Times New Roman" panose="02020603050405020304" pitchFamily="18" charset="0"/>
                <a:ea typeface="黑体" panose="02010609060101010101" pitchFamily="49" charset="-122"/>
              </a:endParaRPr>
            </a:p>
          </p:txBody>
        </p:sp>
        <p:sp>
          <p:nvSpPr>
            <p:cNvPr id="74" name="圆角矩形 73"/>
            <p:cNvSpPr/>
            <p:nvPr>
              <p:custDataLst>
                <p:tags r:id="rId21"/>
              </p:custDataLst>
            </p:nvPr>
          </p:nvSpPr>
          <p:spPr>
            <a:xfrm rot="10800000">
              <a:off x="1270" y="6171"/>
              <a:ext cx="7472"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75" name="椭圆 74"/>
            <p:cNvSpPr/>
            <p:nvPr>
              <p:custDataLst>
                <p:tags r:id="rId22"/>
              </p:custDataLst>
            </p:nvPr>
          </p:nvSpPr>
          <p:spPr>
            <a:xfrm>
              <a:off x="7703" y="6093"/>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3</a:t>
              </a:r>
            </a:p>
          </p:txBody>
        </p:sp>
        <p:sp>
          <p:nvSpPr>
            <p:cNvPr id="76" name="文本框 61"/>
            <p:cNvSpPr txBox="1">
              <a:spLocks noChangeArrowheads="1"/>
            </p:cNvSpPr>
            <p:nvPr>
              <p:custDataLst>
                <p:tags r:id="rId23"/>
              </p:custDataLst>
            </p:nvPr>
          </p:nvSpPr>
          <p:spPr bwMode="auto">
            <a:xfrm>
              <a:off x="1640" y="6172"/>
              <a:ext cx="5929" cy="1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不仅要输入合理的输入数据，还应选用不合理的输入作为测试用例。</a:t>
              </a:r>
              <a:endParaRPr lang="zh-CN" altLang="en-US" sz="1600" dirty="0">
                <a:latin typeface="Times New Roman" panose="02020603050405020304" pitchFamily="18" charset="0"/>
                <a:ea typeface="黑体" panose="02010609060101010101" pitchFamily="49" charset="-122"/>
              </a:endParaRPr>
            </a:p>
          </p:txBody>
        </p:sp>
        <p:sp>
          <p:nvSpPr>
            <p:cNvPr id="77" name="圆角矩形 76"/>
            <p:cNvSpPr/>
            <p:nvPr>
              <p:custDataLst>
                <p:tags r:id="rId24"/>
              </p:custDataLst>
            </p:nvPr>
          </p:nvSpPr>
          <p:spPr>
            <a:xfrm rot="10800000">
              <a:off x="-21" y="7956"/>
              <a:ext cx="7342"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dirty="0">
                <a:solidFill>
                  <a:schemeClr val="tx1"/>
                </a:solidFill>
                <a:latin typeface="Times New Roman" panose="02020603050405020304" pitchFamily="18" charset="0"/>
              </a:endParaRPr>
            </a:p>
          </p:txBody>
        </p:sp>
        <p:sp>
          <p:nvSpPr>
            <p:cNvPr id="78" name="椭圆 77"/>
            <p:cNvSpPr/>
            <p:nvPr>
              <p:custDataLst>
                <p:tags r:id="rId25"/>
              </p:custDataLst>
            </p:nvPr>
          </p:nvSpPr>
          <p:spPr>
            <a:xfrm>
              <a:off x="6282" y="788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4</a:t>
              </a:r>
            </a:p>
          </p:txBody>
        </p:sp>
        <p:sp>
          <p:nvSpPr>
            <p:cNvPr id="79" name="文本框 62"/>
            <p:cNvSpPr txBox="1">
              <a:spLocks noChangeArrowheads="1"/>
            </p:cNvSpPr>
            <p:nvPr>
              <p:custDataLst>
                <p:tags r:id="rId26"/>
              </p:custDataLst>
            </p:nvPr>
          </p:nvSpPr>
          <p:spPr bwMode="auto">
            <a:xfrm>
              <a:off x="329" y="8037"/>
              <a:ext cx="5998"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除了检查程序是否做了应做的工作，还应检查程序是否做了它不应做的工作。</a:t>
              </a:r>
              <a:endParaRPr lang="zh-CN" altLang="en-US" sz="1600" b="1" dirty="0">
                <a:latin typeface="Times New Roman" panose="02020603050405020304" pitchFamily="18" charset="0"/>
                <a:ea typeface="+mn-ea"/>
              </a:endParaRPr>
            </a:p>
          </p:txBody>
        </p:sp>
      </p:grpSp>
      <p:sp>
        <p:nvSpPr>
          <p:cNvPr id="33"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4.6.1 </a:t>
            </a:r>
            <a:r>
              <a:rPr lang="zh-CN" altLang="en-US" sz="2400" dirty="0">
                <a:solidFill>
                  <a:schemeClr val="tx1"/>
                </a:solidFill>
              </a:rPr>
              <a:t>软件测试原则</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11520000" cy="535531"/>
          </a:xfrm>
        </p:spPr>
        <p:txBody>
          <a:bodyPr/>
          <a:lstStyle/>
          <a:p>
            <a:r>
              <a:rPr lang="en-US" dirty="0">
                <a:sym typeface="+mn-ea"/>
              </a:rPr>
              <a:t>4.6 </a:t>
            </a:r>
            <a:r>
              <a:rPr lang="zh-CN" altLang="en-US" dirty="0">
                <a:sym typeface="+mn-ea"/>
              </a:rPr>
              <a:t>软件测试原则和策略</a:t>
            </a:r>
            <a:endParaRPr lang="zh-CN" altLang="en-US" dirty="0"/>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实用测试策略</a:t>
            </a:r>
          </a:p>
        </p:txBody>
      </p:sp>
      <p:sp>
        <p:nvSpPr>
          <p:cNvPr id="6" name="MH_Other_1"/>
          <p:cNvSpPr>
            <a:spLocks noChangeArrowheads="1"/>
          </p:cNvSpPr>
          <p:nvPr>
            <p:custDataLst>
              <p:tags r:id="rId1"/>
            </p:custDataLst>
          </p:nvPr>
        </p:nvSpPr>
        <p:spPr bwMode="auto">
          <a:xfrm>
            <a:off x="784860" y="2171065"/>
            <a:ext cx="710565" cy="49466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01</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4" name="MH_Other_2"/>
          <p:cNvSpPr>
            <a:spLocks noChangeArrowheads="1"/>
          </p:cNvSpPr>
          <p:nvPr>
            <p:custDataLst>
              <p:tags r:id="rId2"/>
            </p:custDataLst>
          </p:nvPr>
        </p:nvSpPr>
        <p:spPr bwMode="auto">
          <a:xfrm>
            <a:off x="1535430" y="2273935"/>
            <a:ext cx="563245" cy="391795"/>
          </a:xfrm>
          <a:prstGeom prst="rect">
            <a:avLst/>
          </a:prstGeom>
          <a:solidFill>
            <a:srgbClr val="ACE3F6"/>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8" name="MH_Other_3"/>
          <p:cNvSpPr>
            <a:spLocks noChangeArrowheads="1"/>
          </p:cNvSpPr>
          <p:nvPr>
            <p:custDataLst>
              <p:tags r:id="rId3"/>
            </p:custDataLst>
          </p:nvPr>
        </p:nvSpPr>
        <p:spPr bwMode="auto">
          <a:xfrm>
            <a:off x="945515" y="2693670"/>
            <a:ext cx="549910" cy="382905"/>
          </a:xfrm>
          <a:prstGeom prst="rect">
            <a:avLst/>
          </a:prstGeom>
          <a:solidFill>
            <a:srgbClr val="67CBEF"/>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9" name="MH_Other_4"/>
          <p:cNvSpPr>
            <a:spLocks noChangeArrowheads="1"/>
          </p:cNvSpPr>
          <p:nvPr>
            <p:custDataLst>
              <p:tags r:id="rId4"/>
            </p:custDataLst>
          </p:nvPr>
        </p:nvSpPr>
        <p:spPr bwMode="auto">
          <a:xfrm>
            <a:off x="1535430" y="2693670"/>
            <a:ext cx="710565" cy="326390"/>
          </a:xfrm>
          <a:prstGeom prst="rect">
            <a:avLst/>
          </a:prstGeom>
          <a:solidFill>
            <a:srgbClr val="D9F2FB"/>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0" name="MH_SubTitle_1"/>
          <p:cNvSpPr/>
          <p:nvPr>
            <p:custDataLst>
              <p:tags r:id="rId5"/>
            </p:custDataLst>
          </p:nvPr>
        </p:nvSpPr>
        <p:spPr>
          <a:xfrm>
            <a:off x="2529290" y="2459402"/>
            <a:ext cx="3118485" cy="325025"/>
          </a:xfrm>
          <a:prstGeom prst="rect">
            <a:avLst/>
          </a:prstGeom>
        </p:spPr>
        <p:txBody>
          <a:bodyPr lIns="0" tIns="0" rIns="0" bIns="0" anchor="ctr">
            <a:spAutoFit/>
          </a:bodyPr>
          <a:lstStyle/>
          <a:p>
            <a:pPr marL="0" indent="0" algn="l" fontAlgn="auto">
              <a:lnSpc>
                <a:spcPct val="130000"/>
              </a:lnSpc>
            </a:pPr>
            <a:r>
              <a:rPr dirty="0" err="1">
                <a:solidFill>
                  <a:schemeClr val="tx1"/>
                </a:solidFill>
                <a:latin typeface="微软雅黑" panose="020B0503020204020204" charset="-122"/>
                <a:ea typeface="微软雅黑" panose="020B0503020204020204" charset="-122"/>
                <a:sym typeface="+mn-ea"/>
              </a:rPr>
              <a:t>用因果图法检查规范</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11" name="MH_Other_5"/>
          <p:cNvSpPr>
            <a:spLocks noChangeArrowheads="1"/>
          </p:cNvSpPr>
          <p:nvPr>
            <p:custDataLst>
              <p:tags r:id="rId6"/>
            </p:custDataLst>
          </p:nvPr>
        </p:nvSpPr>
        <p:spPr bwMode="auto">
          <a:xfrm>
            <a:off x="788120" y="4981414"/>
            <a:ext cx="710565" cy="49466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03</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12" name="MH_Other_6"/>
          <p:cNvSpPr>
            <a:spLocks noChangeArrowheads="1"/>
          </p:cNvSpPr>
          <p:nvPr>
            <p:custDataLst>
              <p:tags r:id="rId7"/>
            </p:custDataLst>
          </p:nvPr>
        </p:nvSpPr>
        <p:spPr bwMode="auto">
          <a:xfrm>
            <a:off x="1538690" y="5084284"/>
            <a:ext cx="563245" cy="391795"/>
          </a:xfrm>
          <a:prstGeom prst="rect">
            <a:avLst/>
          </a:prstGeom>
          <a:solidFill>
            <a:srgbClr val="B6E0C1"/>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3" name="MH_Other_7"/>
          <p:cNvSpPr>
            <a:spLocks noChangeArrowheads="1"/>
          </p:cNvSpPr>
          <p:nvPr>
            <p:custDataLst>
              <p:tags r:id="rId8"/>
            </p:custDataLst>
          </p:nvPr>
        </p:nvSpPr>
        <p:spPr bwMode="auto">
          <a:xfrm>
            <a:off x="948775" y="5504019"/>
            <a:ext cx="549910" cy="382905"/>
          </a:xfrm>
          <a:prstGeom prst="rect">
            <a:avLst/>
          </a:prstGeom>
          <a:solidFill>
            <a:srgbClr val="8DCF9E"/>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4" name="MH_Other_8"/>
          <p:cNvSpPr>
            <a:spLocks noChangeArrowheads="1"/>
          </p:cNvSpPr>
          <p:nvPr>
            <p:custDataLst>
              <p:tags r:id="rId9"/>
            </p:custDataLst>
          </p:nvPr>
        </p:nvSpPr>
        <p:spPr bwMode="auto">
          <a:xfrm>
            <a:off x="1538690" y="5504019"/>
            <a:ext cx="710565" cy="326390"/>
          </a:xfrm>
          <a:prstGeom prst="rect">
            <a:avLst/>
          </a:prstGeom>
          <a:solidFill>
            <a:srgbClr val="E1F3E5"/>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5" name="MH_SubTitle_3"/>
          <p:cNvSpPr/>
          <p:nvPr>
            <p:custDataLst>
              <p:tags r:id="rId10"/>
            </p:custDataLst>
          </p:nvPr>
        </p:nvSpPr>
        <p:spPr>
          <a:xfrm>
            <a:off x="2529290" y="4909653"/>
            <a:ext cx="3081020" cy="1045223"/>
          </a:xfrm>
          <a:prstGeom prst="rect">
            <a:avLst/>
          </a:prstGeom>
        </p:spPr>
        <p:txBody>
          <a:bodyPr lIns="0" tIns="0" rIns="0" bIns="0" anchor="ctr">
            <a:spAutoFit/>
          </a:bodyPr>
          <a:lstStyle/>
          <a:p>
            <a:pPr marL="0" indent="0" algn="l" fontAlgn="auto">
              <a:lnSpc>
                <a:spcPct val="130000"/>
              </a:lnSpc>
            </a:pPr>
            <a:r>
              <a:rPr dirty="0" err="1">
                <a:solidFill>
                  <a:schemeClr val="tx1"/>
                </a:solidFill>
                <a:latin typeface="微软雅黑" panose="020B0503020204020204" charset="-122"/>
                <a:ea typeface="微软雅黑" panose="020B0503020204020204" charset="-122"/>
                <a:sym typeface="+mn-ea"/>
              </a:rPr>
              <a:t>使用边界值分析方法，既测试输入数据的边界情况又检查输出数据的边界情况</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5" name="MH_Other_9"/>
          <p:cNvSpPr>
            <a:spLocks noChangeArrowheads="1"/>
          </p:cNvSpPr>
          <p:nvPr>
            <p:custDataLst>
              <p:tags r:id="rId11"/>
            </p:custDataLst>
          </p:nvPr>
        </p:nvSpPr>
        <p:spPr bwMode="auto">
          <a:xfrm>
            <a:off x="784860" y="3528060"/>
            <a:ext cx="710565" cy="49466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02</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17" name="MH_Other_10"/>
          <p:cNvSpPr>
            <a:spLocks noChangeArrowheads="1"/>
          </p:cNvSpPr>
          <p:nvPr>
            <p:custDataLst>
              <p:tags r:id="rId12"/>
            </p:custDataLst>
          </p:nvPr>
        </p:nvSpPr>
        <p:spPr bwMode="auto">
          <a:xfrm>
            <a:off x="1536065" y="3630930"/>
            <a:ext cx="563245" cy="39179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8" name="MH_Other_11"/>
          <p:cNvSpPr>
            <a:spLocks noChangeArrowheads="1"/>
          </p:cNvSpPr>
          <p:nvPr>
            <p:custDataLst>
              <p:tags r:id="rId13"/>
            </p:custDataLst>
          </p:nvPr>
        </p:nvSpPr>
        <p:spPr bwMode="auto">
          <a:xfrm>
            <a:off x="946150" y="4050665"/>
            <a:ext cx="549910" cy="38290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9" name="MH_Other_12"/>
          <p:cNvSpPr>
            <a:spLocks noChangeArrowheads="1"/>
          </p:cNvSpPr>
          <p:nvPr>
            <p:custDataLst>
              <p:tags r:id="rId14"/>
            </p:custDataLst>
          </p:nvPr>
        </p:nvSpPr>
        <p:spPr bwMode="auto">
          <a:xfrm>
            <a:off x="1536065" y="4050665"/>
            <a:ext cx="710565" cy="326390"/>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0" name="MH_SubTitle_2"/>
          <p:cNvSpPr/>
          <p:nvPr>
            <p:custDataLst>
              <p:tags r:id="rId15"/>
            </p:custDataLst>
          </p:nvPr>
        </p:nvSpPr>
        <p:spPr>
          <a:xfrm>
            <a:off x="2529290" y="3816397"/>
            <a:ext cx="3103245" cy="325025"/>
          </a:xfrm>
          <a:prstGeom prst="rect">
            <a:avLst/>
          </a:prstGeom>
        </p:spPr>
        <p:txBody>
          <a:bodyPr lIns="0" tIns="0" rIns="0" bIns="0" anchor="ctr">
            <a:spAutoFit/>
          </a:bodyPr>
          <a:lstStyle/>
          <a:p>
            <a:pPr marL="0" indent="0" algn="l" fontAlgn="auto">
              <a:lnSpc>
                <a:spcPct val="130000"/>
              </a:lnSpc>
            </a:pPr>
            <a:r>
              <a:rPr dirty="0" err="1">
                <a:solidFill>
                  <a:schemeClr val="tx1"/>
                </a:solidFill>
                <a:latin typeface="微软雅黑" panose="020B0503020204020204" charset="-122"/>
                <a:ea typeface="微软雅黑" panose="020B0503020204020204" charset="-122"/>
                <a:sym typeface="+mn-ea"/>
              </a:rPr>
              <a:t>用等价类划分法补充测试方</a:t>
            </a:r>
            <a:r>
              <a:rPr lang="zh-CN" altLang="en-US" dirty="0">
                <a:solidFill>
                  <a:schemeClr val="tx1"/>
                </a:solidFill>
                <a:latin typeface="微软雅黑" panose="020B0503020204020204" charset="-122"/>
                <a:ea typeface="微软雅黑" panose="020B0503020204020204" charset="-122"/>
                <a:sym typeface="+mn-ea"/>
              </a:rPr>
              <a:t>案</a:t>
            </a:r>
          </a:p>
        </p:txBody>
      </p:sp>
      <p:sp>
        <p:nvSpPr>
          <p:cNvPr id="25" name="MH_Other_5"/>
          <p:cNvSpPr>
            <a:spLocks noChangeArrowheads="1"/>
          </p:cNvSpPr>
          <p:nvPr>
            <p:custDataLst>
              <p:tags r:id="rId16"/>
            </p:custDataLst>
          </p:nvPr>
        </p:nvSpPr>
        <p:spPr bwMode="auto">
          <a:xfrm>
            <a:off x="6167613" y="2756839"/>
            <a:ext cx="710565" cy="494665"/>
          </a:xfrm>
          <a:prstGeom prst="rect">
            <a:avLst/>
          </a:prstGeom>
          <a:solidFill>
            <a:schemeClr val="accent6">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a:t>
            </a:r>
            <a:r>
              <a:rPr lang="en-US" sz="2400" b="1" dirty="0">
                <a:solidFill>
                  <a:srgbClr val="FFFFFF"/>
                </a:solidFill>
                <a:latin typeface="Times New Roman" panose="02020603050405020304" pitchFamily="18" charset="0"/>
                <a:ea typeface="微软雅黑" panose="020B0503020204020204" charset="-122"/>
              </a:rPr>
              <a:t>4</a:t>
            </a:r>
          </a:p>
        </p:txBody>
      </p:sp>
      <p:sp>
        <p:nvSpPr>
          <p:cNvPr id="26" name="MH_Other_6"/>
          <p:cNvSpPr>
            <a:spLocks noChangeArrowheads="1"/>
          </p:cNvSpPr>
          <p:nvPr>
            <p:custDataLst>
              <p:tags r:id="rId17"/>
            </p:custDataLst>
          </p:nvPr>
        </p:nvSpPr>
        <p:spPr bwMode="auto">
          <a:xfrm>
            <a:off x="6918183" y="2859709"/>
            <a:ext cx="563245" cy="391795"/>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7" name="MH_Other_7"/>
          <p:cNvSpPr>
            <a:spLocks noChangeArrowheads="1"/>
          </p:cNvSpPr>
          <p:nvPr>
            <p:custDataLst>
              <p:tags r:id="rId18"/>
            </p:custDataLst>
          </p:nvPr>
        </p:nvSpPr>
        <p:spPr bwMode="auto">
          <a:xfrm>
            <a:off x="6328268" y="3279444"/>
            <a:ext cx="549910" cy="382905"/>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8" name="MH_Other_8"/>
          <p:cNvSpPr>
            <a:spLocks noChangeArrowheads="1"/>
          </p:cNvSpPr>
          <p:nvPr>
            <p:custDataLst>
              <p:tags r:id="rId19"/>
            </p:custDataLst>
          </p:nvPr>
        </p:nvSpPr>
        <p:spPr bwMode="auto">
          <a:xfrm>
            <a:off x="6918183" y="3279444"/>
            <a:ext cx="710565" cy="326390"/>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9" name="MH_SubTitle_3"/>
          <p:cNvSpPr/>
          <p:nvPr>
            <p:custDataLst>
              <p:tags r:id="rId20"/>
            </p:custDataLst>
          </p:nvPr>
        </p:nvSpPr>
        <p:spPr>
          <a:xfrm>
            <a:off x="7908783" y="2812422"/>
            <a:ext cx="2970530" cy="685124"/>
          </a:xfrm>
          <a:prstGeom prst="rect">
            <a:avLst/>
          </a:prstGeom>
        </p:spPr>
        <p:txBody>
          <a:bodyPr lIns="0" tIns="0" rIns="0" bIns="0" anchor="ctr">
            <a:spAutoFit/>
          </a:bodyPr>
          <a:lstStyle/>
          <a:p>
            <a:pPr>
              <a:lnSpc>
                <a:spcPct val="130000"/>
              </a:lnSpc>
              <a:defRPr/>
            </a:pPr>
            <a:r>
              <a:rPr dirty="0" err="1">
                <a:solidFill>
                  <a:schemeClr val="tx1"/>
                </a:solidFill>
                <a:latin typeface="微软雅黑" panose="020B0503020204020204" charset="-122"/>
                <a:ea typeface="微软雅黑" panose="020B0503020204020204" charset="-122"/>
                <a:sym typeface="+mn-ea"/>
              </a:rPr>
              <a:t>必要时用错误推断法补充测试方案</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31" name="MH_Other_5"/>
          <p:cNvSpPr>
            <a:spLocks noChangeArrowheads="1"/>
          </p:cNvSpPr>
          <p:nvPr>
            <p:custDataLst>
              <p:tags r:id="rId21"/>
            </p:custDataLst>
          </p:nvPr>
        </p:nvSpPr>
        <p:spPr bwMode="auto">
          <a:xfrm>
            <a:off x="6227786" y="4487070"/>
            <a:ext cx="710565" cy="494665"/>
          </a:xfrm>
          <a:prstGeom prst="rect">
            <a:avLst/>
          </a:prstGeom>
          <a:solidFill>
            <a:schemeClr val="accent2">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a:t>
            </a:r>
            <a:r>
              <a:rPr lang="en-US" sz="2400" b="1" dirty="0">
                <a:solidFill>
                  <a:srgbClr val="FFFFFF"/>
                </a:solidFill>
                <a:latin typeface="Times New Roman" panose="02020603050405020304" pitchFamily="18" charset="0"/>
                <a:ea typeface="微软雅黑" panose="020B0503020204020204" charset="-122"/>
              </a:rPr>
              <a:t>5</a:t>
            </a:r>
          </a:p>
        </p:txBody>
      </p:sp>
      <p:sp>
        <p:nvSpPr>
          <p:cNvPr id="32" name="MH_Other_6"/>
          <p:cNvSpPr>
            <a:spLocks noChangeArrowheads="1"/>
          </p:cNvSpPr>
          <p:nvPr>
            <p:custDataLst>
              <p:tags r:id="rId22"/>
            </p:custDataLst>
          </p:nvPr>
        </p:nvSpPr>
        <p:spPr bwMode="auto">
          <a:xfrm>
            <a:off x="6978356" y="4589940"/>
            <a:ext cx="563245" cy="391795"/>
          </a:xfrm>
          <a:prstGeom prst="rect">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6" name="MH_Other_7"/>
          <p:cNvSpPr>
            <a:spLocks noChangeArrowheads="1"/>
          </p:cNvSpPr>
          <p:nvPr>
            <p:custDataLst>
              <p:tags r:id="rId23"/>
            </p:custDataLst>
          </p:nvPr>
        </p:nvSpPr>
        <p:spPr bwMode="auto">
          <a:xfrm>
            <a:off x="6388441" y="5009675"/>
            <a:ext cx="549910" cy="382905"/>
          </a:xfrm>
          <a:prstGeom prst="rect">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7" name="MH_Other_8"/>
          <p:cNvSpPr>
            <a:spLocks noChangeArrowheads="1"/>
          </p:cNvSpPr>
          <p:nvPr>
            <p:custDataLst>
              <p:tags r:id="rId24"/>
            </p:custDataLst>
          </p:nvPr>
        </p:nvSpPr>
        <p:spPr bwMode="auto">
          <a:xfrm>
            <a:off x="6978356" y="5009675"/>
            <a:ext cx="710565" cy="326390"/>
          </a:xfrm>
          <a:prstGeom prst="rect">
            <a:avLst/>
          </a:prstGeom>
          <a:solidFill>
            <a:schemeClr val="accent2">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8" name="MH_SubTitle_3"/>
          <p:cNvSpPr/>
          <p:nvPr>
            <p:custDataLst>
              <p:tags r:id="rId25"/>
            </p:custDataLst>
          </p:nvPr>
        </p:nvSpPr>
        <p:spPr>
          <a:xfrm>
            <a:off x="7908783" y="4362604"/>
            <a:ext cx="3484245" cy="1045223"/>
          </a:xfrm>
          <a:prstGeom prst="rect">
            <a:avLst/>
          </a:prstGeom>
        </p:spPr>
        <p:txBody>
          <a:bodyPr lIns="0" tIns="0" rIns="0" bIns="0" anchor="ctr">
            <a:spAutoFit/>
          </a:bodyPr>
          <a:lstStyle/>
          <a:p>
            <a:pPr marL="0" indent="0" algn="l" fontAlgn="auto">
              <a:lnSpc>
                <a:spcPct val="130000"/>
              </a:lnSpc>
            </a:pPr>
            <a:r>
              <a:rPr dirty="0" err="1">
                <a:solidFill>
                  <a:schemeClr val="tx1"/>
                </a:solidFill>
                <a:latin typeface="微软雅黑" panose="020B0503020204020204" charset="-122"/>
                <a:ea typeface="微软雅黑" panose="020B0503020204020204" charset="-122"/>
                <a:sym typeface="+mn-ea"/>
              </a:rPr>
              <a:t>用逻辑覆盖法检查现有测试方案，若没有达到逻辑覆盖标准，应再补充一些测试方案</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3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4.6.2 </a:t>
            </a:r>
            <a:r>
              <a:rPr lang="zh-CN" altLang="en-US" sz="2400" dirty="0">
                <a:solidFill>
                  <a:schemeClr val="tx1"/>
                </a:solidFill>
              </a:rPr>
              <a:t>实用测试策略</a:t>
            </a:r>
          </a:p>
        </p:txBody>
      </p:sp>
    </p:spTree>
  </p:cSld>
  <p:clrMapOvr>
    <a:masterClrMapping/>
  </p:clrMapOvr>
  <p:transition>
    <p:wheel spokes="3"/>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554" y="2935102"/>
            <a:ext cx="5861595"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软件调试验证与确认</a:t>
            </a:r>
          </a:p>
        </p:txBody>
      </p:sp>
      <p:sp>
        <p:nvSpPr>
          <p:cNvPr id="48" name="文本框 47"/>
          <p:cNvSpPr txBox="1"/>
          <p:nvPr/>
        </p:nvSpPr>
        <p:spPr>
          <a:xfrm>
            <a:off x="6006554" y="3766099"/>
            <a:ext cx="3712845" cy="400050"/>
          </a:xfrm>
          <a:prstGeom prst="rect">
            <a:avLst/>
          </a:prstGeom>
          <a:noFill/>
        </p:spPr>
        <p:txBody>
          <a:bodyPr wrap="square">
            <a:spAutoFit/>
          </a:bodyPr>
          <a:lstStyle/>
          <a:p>
            <a:pPr marL="180000" marR="0" lvl="0" indent="-216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软件调试方法和技术</a:t>
            </a:r>
          </a:p>
        </p:txBody>
      </p:sp>
      <p:sp>
        <p:nvSpPr>
          <p:cNvPr id="50" name="文本框 49"/>
          <p:cNvSpPr txBox="1"/>
          <p:nvPr/>
        </p:nvSpPr>
        <p:spPr>
          <a:xfrm>
            <a:off x="6006554" y="4261399"/>
            <a:ext cx="3712845" cy="400050"/>
          </a:xfrm>
          <a:prstGeom prst="rect">
            <a:avLst/>
          </a:prstGeom>
          <a:noFill/>
        </p:spPr>
        <p:txBody>
          <a:bodyPr wrap="square">
            <a:spAutoFit/>
          </a:bodyPr>
          <a:lstStyle/>
          <a:p>
            <a:pPr marL="180000" marR="0" lvl="0" indent="-216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软件验证</a:t>
            </a:r>
          </a:p>
        </p:txBody>
      </p:sp>
      <p:sp>
        <p:nvSpPr>
          <p:cNvPr id="3" name="文本框 2"/>
          <p:cNvSpPr txBox="1"/>
          <p:nvPr/>
        </p:nvSpPr>
        <p:spPr>
          <a:xfrm>
            <a:off x="6006554" y="4771304"/>
            <a:ext cx="3712845" cy="400110"/>
          </a:xfrm>
          <a:prstGeom prst="rect">
            <a:avLst/>
          </a:prstGeom>
          <a:noFill/>
        </p:spPr>
        <p:txBody>
          <a:bodyPr wrap="square">
            <a:spAutoFit/>
          </a:bodyPr>
          <a:lstStyle/>
          <a:p>
            <a:pPr marL="180000" marR="0" lvl="0" indent="-216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软件确认</a:t>
            </a:r>
          </a:p>
        </p:txBody>
      </p:sp>
      <p:sp>
        <p:nvSpPr>
          <p:cNvPr id="5" name="椭圆 4">
            <a:extLst>
              <a:ext uri="{FF2B5EF4-FFF2-40B4-BE49-F238E27FC236}">
                <a16:creationId xmlns:a16="http://schemas.microsoft.com/office/drawing/2014/main" id="{29F5EF21-B98E-B795-FF7C-B759ED75F70A}"/>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07</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p>
        </p:txBody>
      </p:sp>
      <p:sp>
        <p:nvSpPr>
          <p:cNvPr id="4" name="文本占位符 3">
            <a:extLst>
              <a:ext uri="{FF2B5EF4-FFF2-40B4-BE49-F238E27FC236}">
                <a16:creationId xmlns:a16="http://schemas.microsoft.com/office/drawing/2014/main" id="{2DCCDA4A-B182-8879-6A9A-903F61A31C03}"/>
              </a:ext>
            </a:extLst>
          </p:cNvPr>
          <p:cNvSpPr>
            <a:spLocks noGrp="1"/>
          </p:cNvSpPr>
          <p:nvPr>
            <p:ph type="body" sz="quarter" idx="10"/>
          </p:nvPr>
        </p:nvSpPr>
        <p:spPr>
          <a:xfrm>
            <a:off x="696000" y="1322832"/>
            <a:ext cx="5400000" cy="400110"/>
          </a:xfrm>
        </p:spPr>
        <p:txBody>
          <a:bodyPr/>
          <a:lstStyle/>
          <a:p>
            <a:r>
              <a:rPr lang="en-US" altLang="zh-CN" dirty="0"/>
              <a:t>4.7.1 </a:t>
            </a:r>
            <a:r>
              <a:rPr lang="zh-CN" altLang="en-US" dirty="0"/>
              <a:t>软件调试方法和技术</a:t>
            </a:r>
          </a:p>
        </p:txBody>
      </p:sp>
      <p:sp>
        <p:nvSpPr>
          <p:cNvPr id="9" name="文本占位符 8">
            <a:extLst>
              <a:ext uri="{FF2B5EF4-FFF2-40B4-BE49-F238E27FC236}">
                <a16:creationId xmlns:a16="http://schemas.microsoft.com/office/drawing/2014/main" id="{87B29EFB-EA47-083E-BB63-B76BD023DCF8}"/>
              </a:ext>
            </a:extLst>
          </p:cNvPr>
          <p:cNvSpPr>
            <a:spLocks noGrp="1"/>
          </p:cNvSpPr>
          <p:nvPr>
            <p:ph type="body" sz="quarter" idx="11"/>
          </p:nvPr>
        </p:nvSpPr>
        <p:spPr/>
        <p:txBody>
          <a:bodyPr/>
          <a:lstStyle/>
          <a:p>
            <a:endParaRPr lang="zh-CN" altLang="en-US"/>
          </a:p>
        </p:txBody>
      </p:sp>
      <p:sp>
        <p:nvSpPr>
          <p:cNvPr id="100" name="文本框 99"/>
          <p:cNvSpPr txBox="1"/>
          <p:nvPr/>
        </p:nvSpPr>
        <p:spPr>
          <a:xfrm>
            <a:off x="696000" y="2131060"/>
            <a:ext cx="10572075" cy="2938048"/>
          </a:xfrm>
          <a:prstGeom prst="rect">
            <a:avLst/>
          </a:prstGeom>
          <a:noFill/>
          <a:ln w="9525">
            <a:noFill/>
          </a:ln>
        </p:spPr>
        <p:txBody>
          <a:bodyPr wrap="square">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软件调试往往在软件测试后进行。</a:t>
            </a:r>
            <a:r>
              <a:rPr dirty="0">
                <a:solidFill>
                  <a:srgbClr val="C00000"/>
                </a:solidFill>
                <a:latin typeface="微软雅黑" panose="020B0503020204020204" charset="-122"/>
                <a:ea typeface="微软雅黑" panose="020B0503020204020204" charset="-122"/>
                <a:sym typeface="+mn-ea"/>
              </a:rPr>
              <a:t>软件调试是查找、分析和纠正程序中错误的过程。</a:t>
            </a:r>
          </a:p>
          <a:p>
            <a:pPr marL="0" indent="0" algn="l" fontAlgn="auto">
              <a:lnSpc>
                <a:spcPct val="130000"/>
              </a:lnSpc>
            </a:pPr>
            <a:r>
              <a:rPr dirty="0">
                <a:latin typeface="微软雅黑" panose="020B0503020204020204" charset="-122"/>
                <a:ea typeface="微软雅黑" panose="020B0503020204020204" charset="-122"/>
                <a:sym typeface="+mn-ea"/>
              </a:rPr>
              <a:t>       软件调试可将软件测试和纠错结合起来。</a:t>
            </a:r>
            <a:r>
              <a:rPr dirty="0">
                <a:solidFill>
                  <a:srgbClr val="00B050"/>
                </a:solidFill>
                <a:latin typeface="微软雅黑" panose="020B0503020204020204" charset="-122"/>
                <a:ea typeface="微软雅黑" panose="020B0503020204020204" charset="-122"/>
                <a:sym typeface="+mn-ea"/>
              </a:rPr>
              <a:t>首先进行软件测试，找出错误所在的“面”，发现哪个模块、哪段程序有错；第二步是纠错，要确定错误发生的“点”，确定错误的确切位置和错误的原因并改正错误。</a:t>
            </a:r>
          </a:p>
          <a:p>
            <a:pPr marL="0" indent="0" algn="l" fontAlgn="auto">
              <a:lnSpc>
                <a:spcPct val="130000"/>
              </a:lnSpc>
            </a:pPr>
            <a:r>
              <a:rPr dirty="0">
                <a:latin typeface="微软雅黑" panose="020B0503020204020204" charset="-122"/>
                <a:ea typeface="微软雅黑" panose="020B0503020204020204" charset="-122"/>
                <a:sym typeface="+mn-ea"/>
              </a:rPr>
              <a:t>       纠错主要靠分析与错误有关的信息。可对已查出的错误，先列出所有可能的错误原因，利用测试数据排除一些原因，然后证明、确定错误原因。也可把错误情况收集起来，分析它们之间的相互关系，找出其中的规律，以便找出错误原因。如果没有找到错误的原因，调试人员可以猜想一个原因，然后验证这个假设，反复此过程，直到找到原因。纠错也可采用一些自动纠错工具作为辅助手段。</a:t>
            </a:r>
          </a:p>
        </p:txBody>
      </p:sp>
    </p:spTree>
  </p:cSld>
  <p:clrMapOvr>
    <a:masterClrMapping/>
  </p:clrMapOvr>
  <p:transition>
    <p:diamond/>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zh-CN" dirty="0">
              <a:sym typeface="+mn-ea"/>
            </a:endParaRPr>
          </a:p>
        </p:txBody>
      </p:sp>
      <p:sp>
        <p:nvSpPr>
          <p:cNvPr id="7" name="文本占位符 6">
            <a:extLst>
              <a:ext uri="{FF2B5EF4-FFF2-40B4-BE49-F238E27FC236}">
                <a16:creationId xmlns:a16="http://schemas.microsoft.com/office/drawing/2014/main" id="{A7A253D3-BF76-D1CD-3CF1-FE05EF818A51}"/>
              </a:ext>
            </a:extLst>
          </p:cNvPr>
          <p:cNvSpPr>
            <a:spLocks noGrp="1"/>
          </p:cNvSpPr>
          <p:nvPr>
            <p:ph type="body" sz="quarter" idx="10"/>
          </p:nvPr>
        </p:nvSpPr>
        <p:spPr>
          <a:xfrm>
            <a:off x="696000" y="1322832"/>
            <a:ext cx="5400000" cy="400110"/>
          </a:xfrm>
        </p:spPr>
        <p:txBody>
          <a:bodyPr/>
          <a:lstStyle/>
          <a:p>
            <a:r>
              <a:rPr lang="en-US" altLang="zh-CN" dirty="0"/>
              <a:t>4.7.1 </a:t>
            </a:r>
            <a:r>
              <a:rPr lang="zh-CN" altLang="en-US" dirty="0"/>
              <a:t>软件调试方法和技术</a:t>
            </a:r>
          </a:p>
        </p:txBody>
      </p:sp>
      <p:sp>
        <p:nvSpPr>
          <p:cNvPr id="11" name="文本占位符 10">
            <a:extLst>
              <a:ext uri="{FF2B5EF4-FFF2-40B4-BE49-F238E27FC236}">
                <a16:creationId xmlns:a16="http://schemas.microsoft.com/office/drawing/2014/main" id="{C23C8C03-2796-AE14-F0D2-AA137B87549F}"/>
              </a:ext>
            </a:extLst>
          </p:cNvPr>
          <p:cNvSpPr>
            <a:spLocks noGrp="1"/>
          </p:cNvSpPr>
          <p:nvPr>
            <p:ph type="body" sz="quarter" idx="11"/>
          </p:nvPr>
        </p:nvSpPr>
        <p:spPr/>
        <p:txBody>
          <a:bodyPr/>
          <a:lstStyle/>
          <a:p>
            <a:endParaRPr lang="zh-CN" altLang="en-US"/>
          </a:p>
        </p:txBody>
      </p:sp>
      <p:grpSp>
        <p:nvGrpSpPr>
          <p:cNvPr id="5" name="组合 4"/>
          <p:cNvGrpSpPr/>
          <p:nvPr/>
        </p:nvGrpSpPr>
        <p:grpSpPr>
          <a:xfrm>
            <a:off x="869315" y="2603732"/>
            <a:ext cx="7773670" cy="590550"/>
            <a:chOff x="508000" y="3196191"/>
            <a:chExt cx="777359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charset="-128"/>
                </a:rPr>
                <a:t>1</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732084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sym typeface="+mn-ea"/>
                </a:rPr>
                <a:t>对计算机工作过程进行模仿或跟踪</a:t>
              </a:r>
              <a:endParaRPr lang="zh-CN" altLang="en-US" b="1" dirty="0">
                <a:solidFill>
                  <a:srgbClr val="E67819"/>
                </a:solidFill>
                <a:latin typeface="微软雅黑" panose="020B0503020204020204" charset="-122"/>
                <a:ea typeface="微软雅黑" panose="020B0503020204020204" charset="-122"/>
              </a:endParaRPr>
            </a:p>
          </p:txBody>
        </p:sp>
      </p:grpSp>
      <p:sp>
        <p:nvSpPr>
          <p:cNvPr id="24" name="矩形 8"/>
          <p:cNvSpPr>
            <a:spLocks noChangeArrowheads="1"/>
          </p:cNvSpPr>
          <p:nvPr/>
        </p:nvSpPr>
        <p:spPr bwMode="auto">
          <a:xfrm>
            <a:off x="1316990" y="3083792"/>
            <a:ext cx="9571990" cy="459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dirty="0">
                <a:latin typeface="微软雅黑" panose="020B0503020204020204" charset="-122"/>
                <a:ea typeface="微软雅黑" panose="020B0503020204020204" charset="-122"/>
                <a:sym typeface="+mn-ea"/>
              </a:rPr>
              <a:t>记录中间结果，发现错误立即纠正。</a:t>
            </a:r>
            <a:endParaRPr lang="zh-CN" altLang="en-US" dirty="0">
              <a:latin typeface="微软雅黑" panose="020B0503020204020204" charset="-122"/>
              <a:ea typeface="微软雅黑" panose="020B0503020204020204" charset="-122"/>
            </a:endParaRPr>
          </a:p>
        </p:txBody>
      </p:sp>
      <p:grpSp>
        <p:nvGrpSpPr>
          <p:cNvPr id="29" name="组合 28"/>
          <p:cNvGrpSpPr/>
          <p:nvPr/>
        </p:nvGrpSpPr>
        <p:grpSpPr>
          <a:xfrm>
            <a:off x="869315" y="3475990"/>
            <a:ext cx="2002155" cy="590550"/>
            <a:chOff x="512763" y="4940853"/>
            <a:chExt cx="2002081" cy="590550"/>
          </a:xfrm>
        </p:grpSpPr>
        <p:sp>
          <p:nvSpPr>
            <p:cNvPr id="25" name="TextBox 10"/>
            <p:cNvSpPr txBox="1">
              <a:spLocks noChangeArrowheads="1"/>
            </p:cNvSpPr>
            <p:nvPr/>
          </p:nvSpPr>
          <p:spPr bwMode="auto">
            <a:xfrm>
              <a:off x="512763" y="4940853"/>
              <a:ext cx="36129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charset="-128"/>
                </a:rPr>
                <a:t>2</a:t>
              </a: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1554406"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sym typeface="+mn-ea"/>
                </a:rPr>
                <a:t>设置打印语句</a:t>
              </a:r>
              <a:endParaRPr lang="zh-CN" altLang="en-US" b="1" dirty="0">
                <a:solidFill>
                  <a:srgbClr val="E67819"/>
                </a:solidFill>
                <a:latin typeface="微软雅黑" panose="020B0503020204020204" charset="-122"/>
                <a:ea typeface="微软雅黑" panose="020B0503020204020204" charset="-122"/>
              </a:endParaRPr>
            </a:p>
          </p:txBody>
        </p:sp>
      </p:grpSp>
      <p:sp>
        <p:nvSpPr>
          <p:cNvPr id="28" name="矩形 9"/>
          <p:cNvSpPr>
            <a:spLocks noChangeArrowheads="1"/>
          </p:cNvSpPr>
          <p:nvPr/>
        </p:nvSpPr>
        <p:spPr bwMode="auto">
          <a:xfrm>
            <a:off x="1316990" y="3999865"/>
            <a:ext cx="9571990" cy="18726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在程序中设置打印语句，可打印某些标记或变量值以确定错误的位置。</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在调用其他模块或函数之前、之后打印信息，以便确定错误发生在调用之前还是之后。</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在程序循环体内的第一个语句前设置打印信息，用以检查循环执行情况。</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在分支点之前打印标记或变量的当前值。</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抽点打印，在程序员认为必要的地方设置打印语句。</a:t>
            </a:r>
            <a:endParaRPr lang="zh-CN" altLang="en-US" dirty="0">
              <a:latin typeface="微软雅黑" panose="020B0503020204020204" charset="-122"/>
              <a:ea typeface="微软雅黑" panose="020B0503020204020204" charset="-122"/>
            </a:endParaRPr>
          </a:p>
        </p:txBody>
      </p:sp>
      <p:sp>
        <p:nvSpPr>
          <p:cNvPr id="16" name="矩形 7"/>
          <p:cNvSpPr>
            <a:spLocks noChangeArrowheads="1"/>
          </p:cNvSpPr>
          <p:nvPr/>
        </p:nvSpPr>
        <p:spPr bwMode="auto">
          <a:xfrm>
            <a:off x="702497" y="2036176"/>
            <a:ext cx="109390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latin typeface="微软雅黑" panose="020B0503020204020204" charset="-122"/>
                <a:ea typeface="微软雅黑" panose="020B0503020204020204" charset="-122"/>
              </a:rPr>
              <a:t>常用软件调试的辅助方法如下：</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zh-CN" dirty="0">
              <a:sym typeface="+mn-ea"/>
            </a:endParaRPr>
          </a:p>
        </p:txBody>
      </p:sp>
      <p:sp>
        <p:nvSpPr>
          <p:cNvPr id="7" name="文本占位符 6">
            <a:extLst>
              <a:ext uri="{FF2B5EF4-FFF2-40B4-BE49-F238E27FC236}">
                <a16:creationId xmlns:a16="http://schemas.microsoft.com/office/drawing/2014/main" id="{45F770F8-8033-DB6D-0AEC-9345023508CB}"/>
              </a:ext>
            </a:extLst>
          </p:cNvPr>
          <p:cNvSpPr>
            <a:spLocks noGrp="1"/>
          </p:cNvSpPr>
          <p:nvPr>
            <p:ph type="body" sz="quarter" idx="10"/>
          </p:nvPr>
        </p:nvSpPr>
        <p:spPr>
          <a:xfrm>
            <a:off x="696000" y="1322832"/>
            <a:ext cx="5400000" cy="400110"/>
          </a:xfrm>
        </p:spPr>
        <p:txBody>
          <a:bodyPr/>
          <a:lstStyle/>
          <a:p>
            <a:r>
              <a:rPr lang="en-US" altLang="zh-CN" dirty="0"/>
              <a:t>4.7.1 </a:t>
            </a:r>
            <a:r>
              <a:rPr lang="zh-CN" altLang="en-US" dirty="0"/>
              <a:t>软件调试方法和技术</a:t>
            </a:r>
          </a:p>
        </p:txBody>
      </p:sp>
      <p:sp>
        <p:nvSpPr>
          <p:cNvPr id="11" name="文本占位符 10">
            <a:extLst>
              <a:ext uri="{FF2B5EF4-FFF2-40B4-BE49-F238E27FC236}">
                <a16:creationId xmlns:a16="http://schemas.microsoft.com/office/drawing/2014/main" id="{9B4499A2-9173-EEDE-7450-08DCC0958D0D}"/>
              </a:ext>
            </a:extLst>
          </p:cNvPr>
          <p:cNvSpPr>
            <a:spLocks noGrp="1"/>
          </p:cNvSpPr>
          <p:nvPr>
            <p:ph type="body" sz="quarter" idx="11"/>
          </p:nvPr>
        </p:nvSpPr>
        <p:spPr/>
        <p:txBody>
          <a:bodyPr/>
          <a:lstStyle/>
          <a:p>
            <a:endParaRPr lang="zh-CN" altLang="en-US"/>
          </a:p>
        </p:txBody>
      </p:sp>
      <p:grpSp>
        <p:nvGrpSpPr>
          <p:cNvPr id="5" name="组合 4"/>
          <p:cNvGrpSpPr/>
          <p:nvPr/>
        </p:nvGrpSpPr>
        <p:grpSpPr>
          <a:xfrm>
            <a:off x="869315" y="2344420"/>
            <a:ext cx="7773670" cy="590550"/>
            <a:chOff x="508000" y="3196191"/>
            <a:chExt cx="7773594" cy="590550"/>
          </a:xfrm>
        </p:grpSpPr>
        <p:sp>
          <p:nvSpPr>
            <p:cNvPr id="21"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charset="-128"/>
                </a:rPr>
                <a:t>3</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732084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sym typeface="+mn-ea"/>
                </a:rPr>
                <a:t>逐层分块调试</a:t>
              </a:r>
              <a:endParaRPr lang="zh-CN" altLang="en-US" b="1" dirty="0">
                <a:solidFill>
                  <a:srgbClr val="E67819"/>
                </a:solidFill>
                <a:latin typeface="微软雅黑" panose="020B0503020204020204" charset="-122"/>
                <a:ea typeface="微软雅黑" panose="020B0503020204020204" charset="-122"/>
              </a:endParaRPr>
            </a:p>
          </p:txBody>
        </p:sp>
      </p:grpSp>
      <p:sp>
        <p:nvSpPr>
          <p:cNvPr id="24" name="矩形 8"/>
          <p:cNvSpPr>
            <a:spLocks noChangeArrowheads="1"/>
          </p:cNvSpPr>
          <p:nvPr/>
        </p:nvSpPr>
        <p:spPr bwMode="auto">
          <a:xfrm>
            <a:off x="1316990" y="2824480"/>
            <a:ext cx="9571990" cy="417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indent="0" algn="l" fontAlgn="auto">
              <a:lnSpc>
                <a:spcPct val="130000"/>
              </a:lnSpc>
            </a:pPr>
            <a:r>
              <a:rPr dirty="0" err="1">
                <a:latin typeface="微软雅黑" panose="020B0503020204020204" charset="-122"/>
                <a:ea typeface="微软雅黑" panose="020B0503020204020204" charset="-122"/>
                <a:sym typeface="+mn-ea"/>
              </a:rPr>
              <a:t>软件调试可先调试底层小模块，再调试上层模块，最后调试整个程序</a:t>
            </a:r>
            <a:r>
              <a:rPr dirty="0">
                <a:latin typeface="微软雅黑" panose="020B0503020204020204" charset="-122"/>
                <a:ea typeface="微软雅黑" panose="020B0503020204020204" charset="-122"/>
                <a:sym typeface="+mn-ea"/>
              </a:rPr>
              <a:t>。</a:t>
            </a:r>
            <a:endParaRPr lang="zh-CN" altLang="en-US" dirty="0">
              <a:latin typeface="微软雅黑" panose="020B0503020204020204" charset="-122"/>
              <a:ea typeface="微软雅黑" panose="020B0503020204020204" charset="-122"/>
            </a:endParaRPr>
          </a:p>
        </p:txBody>
      </p:sp>
      <p:grpSp>
        <p:nvGrpSpPr>
          <p:cNvPr id="29" name="组合 28"/>
          <p:cNvGrpSpPr/>
          <p:nvPr/>
        </p:nvGrpSpPr>
        <p:grpSpPr>
          <a:xfrm>
            <a:off x="869315" y="3475990"/>
            <a:ext cx="2002155" cy="590550"/>
            <a:chOff x="512763" y="4940853"/>
            <a:chExt cx="2002098" cy="590550"/>
          </a:xfrm>
        </p:grpSpPr>
        <p:sp>
          <p:nvSpPr>
            <p:cNvPr id="25" name="TextBox 10"/>
            <p:cNvSpPr txBox="1">
              <a:spLocks noChangeArrowheads="1"/>
            </p:cNvSpPr>
            <p:nvPr/>
          </p:nvSpPr>
          <p:spPr bwMode="auto">
            <a:xfrm>
              <a:off x="512763" y="4940853"/>
              <a:ext cx="36419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charset="-128"/>
                </a:rPr>
                <a:t>4</a:t>
              </a: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155442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sym typeface="+mn-ea"/>
                </a:rPr>
                <a:t>对分查找调试</a:t>
              </a:r>
              <a:endParaRPr lang="zh-CN" altLang="en-US" b="1" dirty="0">
                <a:solidFill>
                  <a:srgbClr val="E67819"/>
                </a:solidFill>
                <a:latin typeface="微软雅黑" panose="020B0503020204020204" charset="-122"/>
                <a:ea typeface="微软雅黑" panose="020B0503020204020204" charset="-122"/>
              </a:endParaRPr>
            </a:p>
          </p:txBody>
        </p:sp>
      </p:grpSp>
      <p:sp>
        <p:nvSpPr>
          <p:cNvPr id="28" name="矩形 9"/>
          <p:cNvSpPr>
            <a:spLocks noChangeArrowheads="1"/>
          </p:cNvSpPr>
          <p:nvPr/>
        </p:nvSpPr>
        <p:spPr bwMode="auto">
          <a:xfrm>
            <a:off x="1316990" y="3999865"/>
            <a:ext cx="9762490" cy="1532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indent="0" algn="l" fontAlgn="auto">
              <a:lnSpc>
                <a:spcPct val="130000"/>
              </a:lnSpc>
            </a:pPr>
            <a:r>
              <a:rPr dirty="0">
                <a:latin typeface="微软雅黑" panose="020B0503020204020204" charset="-122"/>
                <a:ea typeface="微软雅黑" panose="020B0503020204020204" charset="-122"/>
                <a:sym typeface="+mn-ea"/>
              </a:rPr>
              <a:t>如果已知程序内若干关键部位的某些变量的正确值，则可在程序的中点附近用赋值语句或输入语句对这些变量赋以正确值，然后检查程序的输出结果。如果输出结果正确，则可认为程序的后半段无错，接着到程序前半段查找错误，否则应在程序的后半段查错。反复使用此法，缩小查找范围，直到找出错误位置。</a:t>
            </a:r>
            <a:endParaRPr lang="zh-CN" altLang="en-US" dirty="0">
              <a:latin typeface="微软雅黑" panose="020B0503020204020204" charset="-122"/>
              <a:ea typeface="微软雅黑" panose="020B0503020204020204" charset="-122"/>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zh-CN" dirty="0">
              <a:sym typeface="+mn-ea"/>
            </a:endParaRPr>
          </a:p>
        </p:txBody>
      </p:sp>
      <p:sp>
        <p:nvSpPr>
          <p:cNvPr id="7" name="文本占位符 6">
            <a:extLst>
              <a:ext uri="{FF2B5EF4-FFF2-40B4-BE49-F238E27FC236}">
                <a16:creationId xmlns:a16="http://schemas.microsoft.com/office/drawing/2014/main" id="{735905B3-BAE6-713A-67FA-1C6F3328F2A7}"/>
              </a:ext>
            </a:extLst>
          </p:cNvPr>
          <p:cNvSpPr>
            <a:spLocks noGrp="1"/>
          </p:cNvSpPr>
          <p:nvPr>
            <p:ph type="body" sz="quarter" idx="10"/>
          </p:nvPr>
        </p:nvSpPr>
        <p:spPr>
          <a:xfrm>
            <a:off x="696000" y="1322832"/>
            <a:ext cx="5400000" cy="400110"/>
          </a:xfrm>
        </p:spPr>
        <p:txBody>
          <a:bodyPr/>
          <a:lstStyle/>
          <a:p>
            <a:r>
              <a:rPr lang="en-US" altLang="zh-CN" dirty="0"/>
              <a:t>4.7.1 </a:t>
            </a:r>
            <a:r>
              <a:rPr lang="zh-CN" altLang="en-US" dirty="0"/>
              <a:t>软件调试方法和技术</a:t>
            </a:r>
          </a:p>
        </p:txBody>
      </p:sp>
      <p:sp>
        <p:nvSpPr>
          <p:cNvPr id="11" name="文本占位符 10">
            <a:extLst>
              <a:ext uri="{FF2B5EF4-FFF2-40B4-BE49-F238E27FC236}">
                <a16:creationId xmlns:a16="http://schemas.microsoft.com/office/drawing/2014/main" id="{EB2FC02D-43B4-214E-70FF-12212471D190}"/>
              </a:ext>
            </a:extLst>
          </p:cNvPr>
          <p:cNvSpPr>
            <a:spLocks noGrp="1"/>
          </p:cNvSpPr>
          <p:nvPr>
            <p:ph type="body" sz="quarter" idx="11"/>
          </p:nvPr>
        </p:nvSpPr>
        <p:spPr/>
        <p:txBody>
          <a:bodyPr/>
          <a:lstStyle/>
          <a:p>
            <a:endParaRPr lang="zh-CN" altLang="en-US"/>
          </a:p>
        </p:txBody>
      </p:sp>
      <p:grpSp>
        <p:nvGrpSpPr>
          <p:cNvPr id="14" name="组合 13"/>
          <p:cNvGrpSpPr/>
          <p:nvPr/>
        </p:nvGrpSpPr>
        <p:grpSpPr>
          <a:xfrm>
            <a:off x="4929505" y="2787650"/>
            <a:ext cx="6267805" cy="2352675"/>
            <a:chOff x="1188" y="3092"/>
            <a:chExt cx="9203" cy="3705"/>
          </a:xfrm>
        </p:grpSpPr>
        <p:grpSp>
          <p:nvGrpSpPr>
            <p:cNvPr id="5" name="组合 4"/>
            <p:cNvGrpSpPr/>
            <p:nvPr/>
          </p:nvGrpSpPr>
          <p:grpSpPr>
            <a:xfrm>
              <a:off x="1188" y="3092"/>
              <a:ext cx="3561" cy="930"/>
              <a:chOff x="508000" y="3196191"/>
              <a:chExt cx="2260994" cy="590550"/>
            </a:xfrm>
          </p:grpSpPr>
          <p:sp>
            <p:nvSpPr>
              <p:cNvPr id="21"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charset="-128"/>
                  </a:rPr>
                  <a:t>5</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18082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回溯法</a:t>
                </a:r>
              </a:p>
            </p:txBody>
          </p:sp>
        </p:grpSp>
        <p:sp>
          <p:nvSpPr>
            <p:cNvPr id="24" name="矩形 8"/>
            <p:cNvSpPr>
              <a:spLocks noChangeArrowheads="1"/>
            </p:cNvSpPr>
            <p:nvPr/>
          </p:nvSpPr>
          <p:spPr bwMode="auto">
            <a:xfrm>
              <a:off x="1893" y="3848"/>
              <a:ext cx="8498" cy="29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indent="0" algn="l" fontAlgn="auto">
                <a:lnSpc>
                  <a:spcPct val="130000"/>
                </a:lnSpc>
              </a:pPr>
              <a:r>
                <a:rPr dirty="0">
                  <a:latin typeface="微软雅黑" panose="020B0503020204020204" charset="-122"/>
                  <a:ea typeface="微软雅黑" panose="020B0503020204020204" charset="-122"/>
                  <a:sym typeface="+mn-ea"/>
                </a:rPr>
                <a:t>回溯法是相当常用的调试方法，调试小程序时这种方法比较有效。具体做法是，从发现问题的地方开始，人工沿程序的控制流往回追踪源程序代码，直到找出错误原因为止。但是当程序规模扩大后，应该回溯的路径数目变大，回溯就变得不可能了。</a:t>
              </a:r>
              <a:endParaRPr lang="zh-CN" altLang="en-US" dirty="0">
                <a:latin typeface="微软雅黑" panose="020B0503020204020204" charset="-122"/>
                <a:ea typeface="微软雅黑" panose="020B0503020204020204" charset="-122"/>
              </a:endParaRPr>
            </a:p>
          </p:txBody>
        </p:sp>
      </p:grpSp>
      <p:grpSp>
        <p:nvGrpSpPr>
          <p:cNvPr id="33" name="组合 32"/>
          <p:cNvGrpSpPr/>
          <p:nvPr/>
        </p:nvGrpSpPr>
        <p:grpSpPr>
          <a:xfrm>
            <a:off x="809625" y="3111500"/>
            <a:ext cx="3716655" cy="1856740"/>
            <a:chOff x="881" y="2735"/>
            <a:chExt cx="5853" cy="2924"/>
          </a:xfrm>
        </p:grpSpPr>
        <p:sp>
          <p:nvSpPr>
            <p:cNvPr id="167" name="圆角矩形"/>
            <p:cNvSpPr/>
            <p:nvPr/>
          </p:nvSpPr>
          <p:spPr>
            <a:xfrm>
              <a:off x="1188" y="3071"/>
              <a:ext cx="5522" cy="258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latin typeface="Times New Roman" panose="02020603050405020304" pitchFamily="18" charset="0"/>
                </a:rPr>
                <a:t>   </a:t>
              </a:r>
              <a:endParaRPr lang="zh-CN" altLang="en-US" dirty="0">
                <a:solidFill>
                  <a:schemeClr val="bg2">
                    <a:lumMod val="50000"/>
                  </a:schemeClr>
                </a:solidFill>
                <a:latin typeface="Times New Roman" panose="02020603050405020304" pitchFamily="18" charset="0"/>
              </a:endParaRPr>
            </a:p>
          </p:txBody>
        </p:sp>
        <p:sp>
          <p:nvSpPr>
            <p:cNvPr id="2"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a typeface="微软雅黑 Light" panose="020B0502040204020203" pitchFamily="34" charset="-122"/>
              </a:endParaRPr>
            </a:p>
          </p:txBody>
        </p:sp>
        <p:sp>
          <p:nvSpPr>
            <p:cNvPr id="35" name="文本框 34"/>
            <p:cNvSpPr txBox="1"/>
            <p:nvPr/>
          </p:nvSpPr>
          <p:spPr>
            <a:xfrm>
              <a:off x="1156" y="3112"/>
              <a:ext cx="5578" cy="254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latin typeface="Times New Roman" panose="02020603050405020304" pitchFamily="18" charset="0"/>
                  <a:sym typeface="+mn-ea"/>
                </a:rPr>
                <a:t>     </a:t>
              </a:r>
              <a:r>
                <a:rPr dirty="0">
                  <a:latin typeface="微软雅黑" panose="020B0503020204020204" charset="-122"/>
                  <a:ea typeface="微软雅黑" panose="020B0503020204020204" charset="-122"/>
                  <a:sym typeface="+mn-ea"/>
                </a:rPr>
                <a:t> 软件测试计划描述测试活动的范围、方法、资源和进度。它规定被测试的项、特性、应完成的测试任务、承担各项工作的人员职责及与本计划有关的风险等。</a:t>
              </a:r>
              <a:endParaRPr dirty="0">
                <a:latin typeface="Times New Roman" panose="02020603050405020304" pitchFamily="18" charset="0"/>
                <a:sym typeface="+mn-ea"/>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en-US" dirty="0"/>
          </a:p>
        </p:txBody>
      </p:sp>
      <p:sp>
        <p:nvSpPr>
          <p:cNvPr id="4" name="文本占位符 3">
            <a:extLst>
              <a:ext uri="{FF2B5EF4-FFF2-40B4-BE49-F238E27FC236}">
                <a16:creationId xmlns:a16="http://schemas.microsoft.com/office/drawing/2014/main" id="{7693D35A-350F-6042-575E-C3C494DA1101}"/>
              </a:ext>
            </a:extLst>
          </p:cNvPr>
          <p:cNvSpPr>
            <a:spLocks noGrp="1"/>
          </p:cNvSpPr>
          <p:nvPr>
            <p:ph type="body" sz="quarter" idx="10"/>
          </p:nvPr>
        </p:nvSpPr>
        <p:spPr>
          <a:xfrm>
            <a:off x="696000" y="1322832"/>
            <a:ext cx="5400000" cy="400110"/>
          </a:xfrm>
        </p:spPr>
        <p:txBody>
          <a:bodyPr/>
          <a:lstStyle/>
          <a:p>
            <a:r>
              <a:rPr lang="en-US" altLang="zh-CN" dirty="0"/>
              <a:t>4.7.2 </a:t>
            </a:r>
            <a:r>
              <a:rPr lang="zh-CN" altLang="en-US" dirty="0"/>
              <a:t>软件验证 </a:t>
            </a:r>
            <a:r>
              <a:rPr lang="en-US" altLang="zh-CN" dirty="0"/>
              <a:t>Verification</a:t>
            </a:r>
            <a:endParaRPr lang="zh-CN" altLang="en-US" dirty="0"/>
          </a:p>
        </p:txBody>
      </p:sp>
      <p:sp>
        <p:nvSpPr>
          <p:cNvPr id="9" name="文本占位符 8">
            <a:extLst>
              <a:ext uri="{FF2B5EF4-FFF2-40B4-BE49-F238E27FC236}">
                <a16:creationId xmlns:a16="http://schemas.microsoft.com/office/drawing/2014/main" id="{8914374C-118F-3A36-427E-2A2ADE81E178}"/>
              </a:ext>
            </a:extLst>
          </p:cNvPr>
          <p:cNvSpPr>
            <a:spLocks noGrp="1"/>
          </p:cNvSpPr>
          <p:nvPr>
            <p:ph type="body" sz="quarter" idx="11"/>
          </p:nvPr>
        </p:nvSpPr>
        <p:spPr/>
        <p:txBody>
          <a:bodyPr/>
          <a:lstStyle/>
          <a:p>
            <a:endParaRPr lang="zh-CN" altLang="en-US"/>
          </a:p>
        </p:txBody>
      </p:sp>
      <p:sp>
        <p:nvSpPr>
          <p:cNvPr id="100" name="文本框 99"/>
          <p:cNvSpPr txBox="1"/>
          <p:nvPr/>
        </p:nvSpPr>
        <p:spPr>
          <a:xfrm>
            <a:off x="696000" y="2312285"/>
            <a:ext cx="10574615" cy="3254224"/>
          </a:xfrm>
          <a:prstGeom prst="rect">
            <a:avLst/>
          </a:prstGeom>
          <a:noFill/>
          <a:ln w="9525">
            <a:noFill/>
          </a:ln>
        </p:spPr>
        <p:txBody>
          <a:bodyPr wrap="square">
            <a:spAutoFit/>
          </a:bodyPr>
          <a:lstStyle/>
          <a:p>
            <a:pPr marL="0" indent="0" algn="l" fontAlgn="auto">
              <a:lnSpc>
                <a:spcPct val="130000"/>
              </a:lnSpc>
            </a:pPr>
            <a:r>
              <a:rPr lang="en-US" sz="2000" dirty="0">
                <a:latin typeface="微软雅黑" panose="020B0503020204020204" charset="-122"/>
                <a:ea typeface="微软雅黑" panose="020B0503020204020204" charset="-122"/>
                <a:sym typeface="+mn-ea"/>
              </a:rPr>
              <a:t>       </a:t>
            </a:r>
            <a:r>
              <a:rPr sz="2000" dirty="0">
                <a:latin typeface="微软雅黑" panose="020B0503020204020204" charset="-122"/>
                <a:ea typeface="微软雅黑" panose="020B0503020204020204" charset="-122"/>
                <a:sym typeface="+mn-ea"/>
              </a:rPr>
              <a:t>为了保证软件质量，在软件开发的整个过程中要坚持遵守软件开发的规范，</a:t>
            </a:r>
            <a:r>
              <a:rPr sz="2000" dirty="0">
                <a:solidFill>
                  <a:schemeClr val="accent2">
                    <a:lumMod val="75000"/>
                  </a:schemeClr>
                </a:solidFill>
                <a:latin typeface="微软雅黑" panose="020B0503020204020204" charset="-122"/>
                <a:ea typeface="微软雅黑" panose="020B0503020204020204" charset="-122"/>
                <a:sym typeface="+mn-ea"/>
              </a:rPr>
              <a:t>自始至终重视保证软件质量的问题。在软件生存期每一阶段结束时都要进行复审，在软件测试的每一阶段都要对软件进行验证。</a:t>
            </a:r>
            <a:endParaRPr lang="en-US" sz="2000" dirty="0">
              <a:solidFill>
                <a:schemeClr val="accent2">
                  <a:lumMod val="75000"/>
                </a:schemeClr>
              </a:solidFill>
              <a:latin typeface="微软雅黑" panose="020B0503020204020204" charset="-122"/>
              <a:ea typeface="微软雅黑" panose="020B0503020204020204" charset="-122"/>
              <a:sym typeface="+mn-ea"/>
            </a:endParaRPr>
          </a:p>
          <a:p>
            <a:pPr marL="0" indent="0" algn="l" fontAlgn="auto">
              <a:lnSpc>
                <a:spcPct val="130000"/>
              </a:lnSpc>
            </a:pPr>
            <a:endParaRPr sz="2000" dirty="0">
              <a:solidFill>
                <a:schemeClr val="accent2">
                  <a:lumMod val="75000"/>
                </a:schemeClr>
              </a:solidFill>
              <a:latin typeface="微软雅黑" panose="020B0503020204020204" charset="-122"/>
              <a:ea typeface="微软雅黑" panose="020B0503020204020204" charset="-122"/>
              <a:sym typeface="+mn-ea"/>
            </a:endParaRPr>
          </a:p>
          <a:p>
            <a:pPr marL="0" indent="0" algn="l" fontAlgn="auto">
              <a:lnSpc>
                <a:spcPct val="130000"/>
              </a:lnSpc>
            </a:pPr>
            <a:r>
              <a:rPr sz="2000" dirty="0">
                <a:latin typeface="微软雅黑" panose="020B0503020204020204" charset="-122"/>
                <a:ea typeface="微软雅黑" panose="020B0503020204020204" charset="-122"/>
                <a:sym typeface="+mn-ea"/>
              </a:rPr>
              <a:t>       软件的测试可以发现程序中的错误，但不能证明程序中没有错误，也就是说不能证明程序的正确性。因而要保证软件的可靠性，测试技术是一种重要的技术，但也是一种不完善的技术。如果能研制一种行之有效的程序正确性证明技术，那么软件测试的工作量将显著地减少。</a:t>
            </a:r>
            <a:endParaRPr dirty="0">
              <a:latin typeface="微软雅黑" panose="020B0503020204020204" charset="-122"/>
              <a:ea typeface="微软雅黑" panose="020B0503020204020204" charset="-122"/>
              <a:sym typeface="+mn-ea"/>
            </a:endParaRPr>
          </a:p>
        </p:txBody>
      </p:sp>
    </p:spTree>
  </p:cSld>
  <p:clrMapOvr>
    <a:masterClrMapping/>
  </p:clrMapOvr>
  <p:transition>
    <p:diamond/>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en-US" dirty="0"/>
          </a:p>
        </p:txBody>
      </p:sp>
      <p:sp>
        <p:nvSpPr>
          <p:cNvPr id="16" name="文本占位符 15">
            <a:extLst>
              <a:ext uri="{FF2B5EF4-FFF2-40B4-BE49-F238E27FC236}">
                <a16:creationId xmlns:a16="http://schemas.microsoft.com/office/drawing/2014/main" id="{AE844049-1D32-29FC-46BE-76B933026D65}"/>
              </a:ext>
            </a:extLst>
          </p:cNvPr>
          <p:cNvSpPr>
            <a:spLocks noGrp="1"/>
          </p:cNvSpPr>
          <p:nvPr>
            <p:ph type="body" sz="quarter" idx="10"/>
          </p:nvPr>
        </p:nvSpPr>
        <p:spPr>
          <a:xfrm>
            <a:off x="696000" y="1322832"/>
            <a:ext cx="5400000" cy="400110"/>
          </a:xfrm>
        </p:spPr>
        <p:txBody>
          <a:bodyPr/>
          <a:lstStyle/>
          <a:p>
            <a:r>
              <a:rPr lang="en-US" altLang="zh-CN" dirty="0"/>
              <a:t>4.7.2 </a:t>
            </a:r>
            <a:r>
              <a:rPr lang="zh-CN" altLang="en-US" dirty="0"/>
              <a:t>软件验证 </a:t>
            </a:r>
            <a:r>
              <a:rPr lang="en-US" altLang="zh-CN" dirty="0"/>
              <a:t>Verification</a:t>
            </a:r>
            <a:endParaRPr lang="zh-CN" altLang="en-US" dirty="0"/>
          </a:p>
        </p:txBody>
      </p:sp>
      <p:sp>
        <p:nvSpPr>
          <p:cNvPr id="35" name="文本占位符 34">
            <a:extLst>
              <a:ext uri="{FF2B5EF4-FFF2-40B4-BE49-F238E27FC236}">
                <a16:creationId xmlns:a16="http://schemas.microsoft.com/office/drawing/2014/main" id="{2C369187-2FD0-3B77-3810-E033EBF87D32}"/>
              </a:ext>
            </a:extLst>
          </p:cNvPr>
          <p:cNvSpPr>
            <a:spLocks noGrp="1"/>
          </p:cNvSpPr>
          <p:nvPr>
            <p:ph type="body" sz="quarter" idx="11"/>
          </p:nvPr>
        </p:nvSpPr>
        <p:spPr/>
        <p:txBody>
          <a:bodyPr/>
          <a:lstStyle/>
          <a:p>
            <a:endParaRPr lang="zh-CN" altLang="en-US"/>
          </a:p>
        </p:txBody>
      </p:sp>
      <p:sp>
        <p:nvSpPr>
          <p:cNvPr id="100" name="文本框 99"/>
          <p:cNvSpPr txBox="1"/>
          <p:nvPr/>
        </p:nvSpPr>
        <p:spPr>
          <a:xfrm>
            <a:off x="561975" y="4924058"/>
            <a:ext cx="11068685" cy="1137556"/>
          </a:xfrm>
          <a:prstGeom prst="rect">
            <a:avLst/>
          </a:prstGeom>
          <a:noFill/>
          <a:ln w="9525">
            <a:noFill/>
          </a:ln>
        </p:spPr>
        <p:txBody>
          <a:bodyPr wrap="square">
            <a:spAutoFit/>
          </a:bodyPr>
          <a:lstStyle/>
          <a:p>
            <a:pPr marL="285750" indent="-285750" algn="l" fontAlgn="auto">
              <a:lnSpc>
                <a:spcPct val="130000"/>
              </a:lnSpc>
              <a:buClrTx/>
              <a:buFont typeface="Arial" panose="020B0604020202020204" pitchFamily="34" charset="0"/>
              <a:buChar char="•"/>
            </a:pPr>
            <a:r>
              <a:rPr dirty="0">
                <a:latin typeface="微软雅黑" panose="020B0503020204020204" charset="-122"/>
                <a:ea typeface="微软雅黑" panose="020B0503020204020204" charset="-122"/>
                <a:sym typeface="+mn-ea"/>
              </a:rPr>
              <a:t>在软件测试（模块测试、集成测试）阶段，</a:t>
            </a:r>
            <a:r>
              <a:rPr dirty="0">
                <a:solidFill>
                  <a:schemeClr val="accent5">
                    <a:lumMod val="50000"/>
                  </a:schemeClr>
                </a:solidFill>
                <a:latin typeface="微软雅黑" panose="020B0503020204020204" charset="-122"/>
                <a:ea typeface="微软雅黑" panose="020B0503020204020204" charset="-122"/>
                <a:sym typeface="+mn-ea"/>
              </a:rPr>
              <a:t>软件开发人员用尽可能少的测试数据，尽可能多地发现程序中的错误。</a:t>
            </a:r>
            <a:r>
              <a:rPr dirty="0">
                <a:latin typeface="微软雅黑" panose="020B0503020204020204" charset="-122"/>
                <a:ea typeface="微软雅黑" panose="020B0503020204020204" charset="-122"/>
                <a:sym typeface="+mn-ea"/>
              </a:rPr>
              <a:t>软件验证要进行评审、审查、测试、检查、审计等活动，或对某些项、处理、服务或文件等是否和规定的需求相一致进行判断并提出报告。</a:t>
            </a:r>
          </a:p>
        </p:txBody>
      </p:sp>
      <p:sp>
        <p:nvSpPr>
          <p:cNvPr id="5" name="MH_Other_1"/>
          <p:cNvSpPr>
            <a:spLocks noChangeArrowheads="1"/>
          </p:cNvSpPr>
          <p:nvPr>
            <p:custDataLst>
              <p:tags r:id="rId1"/>
            </p:custDataLst>
          </p:nvPr>
        </p:nvSpPr>
        <p:spPr bwMode="auto">
          <a:xfrm>
            <a:off x="1215890" y="2761354"/>
            <a:ext cx="673100" cy="50482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01</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6" name="MH_Other_2"/>
          <p:cNvSpPr>
            <a:spLocks noChangeArrowheads="1"/>
          </p:cNvSpPr>
          <p:nvPr>
            <p:custDataLst>
              <p:tags r:id="rId2"/>
            </p:custDataLst>
          </p:nvPr>
        </p:nvSpPr>
        <p:spPr bwMode="auto">
          <a:xfrm>
            <a:off x="1927090" y="2866129"/>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4" name="MH_Other_3"/>
          <p:cNvSpPr>
            <a:spLocks noChangeArrowheads="1"/>
          </p:cNvSpPr>
          <p:nvPr>
            <p:custDataLst>
              <p:tags r:id="rId3"/>
            </p:custDataLst>
          </p:nvPr>
        </p:nvSpPr>
        <p:spPr bwMode="auto">
          <a:xfrm>
            <a:off x="1368290" y="3294754"/>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8" name="MH_Other_4"/>
          <p:cNvSpPr>
            <a:spLocks noChangeArrowheads="1"/>
          </p:cNvSpPr>
          <p:nvPr>
            <p:custDataLst>
              <p:tags r:id="rId4"/>
            </p:custDataLst>
          </p:nvPr>
        </p:nvSpPr>
        <p:spPr bwMode="auto">
          <a:xfrm>
            <a:off x="1927090" y="3294754"/>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9" name="MH_SubTitle_1"/>
          <p:cNvSpPr/>
          <p:nvPr>
            <p:custDataLst>
              <p:tags r:id="rId5"/>
            </p:custDataLst>
          </p:nvPr>
        </p:nvSpPr>
        <p:spPr>
          <a:xfrm>
            <a:off x="2764655" y="3084816"/>
            <a:ext cx="3389630" cy="276999"/>
          </a:xfrm>
          <a:prstGeom prst="rect">
            <a:avLst/>
          </a:prstGeom>
        </p:spPr>
        <p:txBody>
          <a:bodyPr lIns="0" tIns="0" rIns="0" bIns="0" anchor="ctr">
            <a:spAutoFit/>
          </a:bodyPr>
          <a:lstStyle/>
          <a:p>
            <a:pPr>
              <a:defRPr/>
            </a:pPr>
            <a:r>
              <a:rPr dirty="0" err="1">
                <a:solidFill>
                  <a:srgbClr val="C00000"/>
                </a:solidFill>
                <a:latin typeface="微软雅黑" panose="020B0503020204020204" charset="-122"/>
                <a:ea typeface="微软雅黑" panose="020B0503020204020204" charset="-122"/>
                <a:sym typeface="+mn-ea"/>
              </a:rPr>
              <a:t>断定软件操作正确</a:t>
            </a:r>
            <a:endParaRPr lang="zh-CN" altLang="en-US" dirty="0">
              <a:solidFill>
                <a:srgbClr val="000000"/>
              </a:solidFill>
              <a:latin typeface="微软雅黑" panose="020B0503020204020204" charset="-122"/>
              <a:ea typeface="微软雅黑" panose="020B0503020204020204" charset="-122"/>
              <a:sym typeface="+mn-ea"/>
            </a:endParaRPr>
          </a:p>
        </p:txBody>
      </p:sp>
      <p:sp>
        <p:nvSpPr>
          <p:cNvPr id="10" name="MH_Other_5"/>
          <p:cNvSpPr>
            <a:spLocks noChangeArrowheads="1"/>
          </p:cNvSpPr>
          <p:nvPr>
            <p:custDataLst>
              <p:tags r:id="rId6"/>
            </p:custDataLst>
          </p:nvPr>
        </p:nvSpPr>
        <p:spPr bwMode="auto">
          <a:xfrm>
            <a:off x="6000518" y="2761354"/>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03</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11" name="MH_Other_6"/>
          <p:cNvSpPr>
            <a:spLocks noChangeArrowheads="1"/>
          </p:cNvSpPr>
          <p:nvPr>
            <p:custDataLst>
              <p:tags r:id="rId7"/>
            </p:custDataLst>
          </p:nvPr>
        </p:nvSpPr>
        <p:spPr bwMode="auto">
          <a:xfrm>
            <a:off x="6711718" y="2866129"/>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2" name="MH_Other_7"/>
          <p:cNvSpPr>
            <a:spLocks noChangeArrowheads="1"/>
          </p:cNvSpPr>
          <p:nvPr>
            <p:custDataLst>
              <p:tags r:id="rId8"/>
            </p:custDataLst>
          </p:nvPr>
        </p:nvSpPr>
        <p:spPr bwMode="auto">
          <a:xfrm>
            <a:off x="6152918" y="3294754"/>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3" name="MH_Other_8"/>
          <p:cNvSpPr>
            <a:spLocks noChangeArrowheads="1"/>
          </p:cNvSpPr>
          <p:nvPr>
            <p:custDataLst>
              <p:tags r:id="rId9"/>
            </p:custDataLst>
          </p:nvPr>
        </p:nvSpPr>
        <p:spPr bwMode="auto">
          <a:xfrm>
            <a:off x="6711718" y="3294754"/>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4" name="MH_SubTitle_3"/>
          <p:cNvSpPr/>
          <p:nvPr>
            <p:custDataLst>
              <p:tags r:id="rId10"/>
            </p:custDataLst>
          </p:nvPr>
        </p:nvSpPr>
        <p:spPr>
          <a:xfrm>
            <a:off x="7649614" y="3029254"/>
            <a:ext cx="3572510" cy="276999"/>
          </a:xfrm>
          <a:prstGeom prst="rect">
            <a:avLst/>
          </a:prstGeom>
        </p:spPr>
        <p:txBody>
          <a:bodyPr wrap="square" lIns="0" tIns="0" rIns="0" bIns="0" anchor="ctr">
            <a:spAutoFit/>
          </a:bodyPr>
          <a:lstStyle/>
          <a:p>
            <a:pPr>
              <a:defRPr/>
            </a:pPr>
            <a:r>
              <a:rPr dirty="0" err="1">
                <a:solidFill>
                  <a:srgbClr val="C00000"/>
                </a:solidFill>
                <a:latin typeface="微软雅黑" panose="020B0503020204020204" charset="-122"/>
                <a:ea typeface="微软雅黑" panose="020B0503020204020204" charset="-122"/>
                <a:sym typeface="+mn-ea"/>
              </a:rPr>
              <a:t>指示软件执行时产生错误的原因</a:t>
            </a:r>
            <a:endParaRPr lang="zh-CN" altLang="en-US" dirty="0">
              <a:solidFill>
                <a:srgbClr val="000000"/>
              </a:solidFill>
              <a:latin typeface="微软雅黑" panose="020B0503020204020204" charset="-122"/>
              <a:ea typeface="微软雅黑" panose="020B0503020204020204" charset="-122"/>
              <a:sym typeface="+mn-ea"/>
            </a:endParaRPr>
          </a:p>
        </p:txBody>
      </p:sp>
      <p:sp>
        <p:nvSpPr>
          <p:cNvPr id="15" name="MH_Other_9"/>
          <p:cNvSpPr>
            <a:spLocks noChangeArrowheads="1"/>
          </p:cNvSpPr>
          <p:nvPr>
            <p:custDataLst>
              <p:tags r:id="rId11"/>
            </p:custDataLst>
          </p:nvPr>
        </p:nvSpPr>
        <p:spPr bwMode="auto">
          <a:xfrm>
            <a:off x="1215890" y="3921947"/>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02</a:t>
            </a:r>
            <a:endParaRPr lang="zh-CN" altLang="en-US" sz="2400" b="1" dirty="0">
              <a:solidFill>
                <a:srgbClr val="FFFFFF"/>
              </a:solidFill>
              <a:latin typeface="Times New Roman" panose="02020603050405020304" pitchFamily="18" charset="0"/>
              <a:ea typeface="微软雅黑" panose="020B0503020204020204" charset="-122"/>
            </a:endParaRPr>
          </a:p>
        </p:txBody>
      </p:sp>
      <p:sp>
        <p:nvSpPr>
          <p:cNvPr id="17" name="MH_Other_10"/>
          <p:cNvSpPr>
            <a:spLocks noChangeArrowheads="1"/>
          </p:cNvSpPr>
          <p:nvPr>
            <p:custDataLst>
              <p:tags r:id="rId12"/>
            </p:custDataLst>
          </p:nvPr>
        </p:nvSpPr>
        <p:spPr bwMode="auto">
          <a:xfrm>
            <a:off x="1927090" y="4026722"/>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8" name="MH_Other_11"/>
          <p:cNvSpPr>
            <a:spLocks noChangeArrowheads="1"/>
          </p:cNvSpPr>
          <p:nvPr>
            <p:custDataLst>
              <p:tags r:id="rId13"/>
            </p:custDataLst>
          </p:nvPr>
        </p:nvSpPr>
        <p:spPr bwMode="auto">
          <a:xfrm>
            <a:off x="1368290" y="4455347"/>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19" name="MH_Other_12"/>
          <p:cNvSpPr>
            <a:spLocks noChangeArrowheads="1"/>
          </p:cNvSpPr>
          <p:nvPr>
            <p:custDataLst>
              <p:tags r:id="rId14"/>
            </p:custDataLst>
          </p:nvPr>
        </p:nvSpPr>
        <p:spPr bwMode="auto">
          <a:xfrm>
            <a:off x="1927090" y="4455347"/>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3" name="MH_SubTitle_2"/>
          <p:cNvSpPr/>
          <p:nvPr>
            <p:custDataLst>
              <p:tags r:id="rId15"/>
            </p:custDataLst>
          </p:nvPr>
        </p:nvSpPr>
        <p:spPr>
          <a:xfrm>
            <a:off x="2764655" y="4294622"/>
            <a:ext cx="3294380" cy="276999"/>
          </a:xfrm>
          <a:prstGeom prst="rect">
            <a:avLst/>
          </a:prstGeom>
        </p:spPr>
        <p:txBody>
          <a:bodyPr lIns="0" tIns="0" rIns="0" bIns="0" anchor="ctr">
            <a:spAutoFit/>
          </a:bodyPr>
          <a:lstStyle/>
          <a:p>
            <a:pPr lvl="0"/>
            <a:r>
              <a:rPr dirty="0" err="1">
                <a:solidFill>
                  <a:srgbClr val="C00000"/>
                </a:solidFill>
                <a:latin typeface="微软雅黑" panose="020B0503020204020204" charset="-122"/>
                <a:ea typeface="微软雅黑" panose="020B0503020204020204" charset="-122"/>
                <a:sym typeface="+mn-ea"/>
              </a:rPr>
              <a:t>指示软件操作错误</a:t>
            </a:r>
            <a:endParaRPr lang="zh-CN" altLang="en-US" dirty="0">
              <a:solidFill>
                <a:srgbClr val="000000"/>
              </a:solidFill>
              <a:latin typeface="微软雅黑" panose="020B0503020204020204" charset="-122"/>
              <a:ea typeface="微软雅黑" panose="020B0503020204020204" charset="-122"/>
              <a:sym typeface="+mn-ea"/>
            </a:endParaRPr>
          </a:p>
        </p:txBody>
      </p:sp>
      <p:sp>
        <p:nvSpPr>
          <p:cNvPr id="25" name="MH_Other_5"/>
          <p:cNvSpPr>
            <a:spLocks noChangeArrowheads="1"/>
          </p:cNvSpPr>
          <p:nvPr>
            <p:custDataLst>
              <p:tags r:id="rId16"/>
            </p:custDataLst>
          </p:nvPr>
        </p:nvSpPr>
        <p:spPr bwMode="auto">
          <a:xfrm>
            <a:off x="6000518" y="3921947"/>
            <a:ext cx="673100" cy="50482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latin typeface="Times New Roman" panose="02020603050405020304" pitchFamily="18" charset="0"/>
                <a:ea typeface="微软雅黑" panose="020B0503020204020204" charset="-122"/>
              </a:rPr>
              <a:t>0</a:t>
            </a:r>
            <a:r>
              <a:rPr lang="en-US" sz="2400" b="1" dirty="0">
                <a:solidFill>
                  <a:srgbClr val="FFFFFF"/>
                </a:solidFill>
                <a:latin typeface="Times New Roman" panose="02020603050405020304" pitchFamily="18" charset="0"/>
                <a:ea typeface="微软雅黑" panose="020B0503020204020204" charset="-122"/>
              </a:rPr>
              <a:t>4</a:t>
            </a:r>
          </a:p>
        </p:txBody>
      </p:sp>
      <p:sp>
        <p:nvSpPr>
          <p:cNvPr id="26" name="MH_Other_6"/>
          <p:cNvSpPr>
            <a:spLocks noChangeArrowheads="1"/>
          </p:cNvSpPr>
          <p:nvPr>
            <p:custDataLst>
              <p:tags r:id="rId17"/>
            </p:custDataLst>
          </p:nvPr>
        </p:nvSpPr>
        <p:spPr bwMode="auto">
          <a:xfrm>
            <a:off x="6711718" y="4026722"/>
            <a:ext cx="533400"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7" name="MH_Other_7"/>
          <p:cNvSpPr>
            <a:spLocks noChangeArrowheads="1"/>
          </p:cNvSpPr>
          <p:nvPr>
            <p:custDataLst>
              <p:tags r:id="rId18"/>
            </p:custDataLst>
          </p:nvPr>
        </p:nvSpPr>
        <p:spPr bwMode="auto">
          <a:xfrm>
            <a:off x="6152918" y="4455347"/>
            <a:ext cx="520700"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28" name="MH_Other_8"/>
          <p:cNvSpPr>
            <a:spLocks noChangeArrowheads="1"/>
          </p:cNvSpPr>
          <p:nvPr>
            <p:custDataLst>
              <p:tags r:id="rId19"/>
            </p:custDataLst>
          </p:nvPr>
        </p:nvSpPr>
        <p:spPr bwMode="auto">
          <a:xfrm>
            <a:off x="6711718" y="4455347"/>
            <a:ext cx="673100"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dirty="0">
              <a:solidFill>
                <a:srgbClr val="FFFFFF"/>
              </a:solidFill>
              <a:latin typeface="Times New Roman" panose="02020603050405020304" pitchFamily="18" charset="0"/>
              <a:ea typeface="微软雅黑" panose="020B0503020204020204" charset="-122"/>
            </a:endParaRPr>
          </a:p>
        </p:txBody>
      </p:sp>
      <p:sp>
        <p:nvSpPr>
          <p:cNvPr id="30" name="MH_SubTitle_3"/>
          <p:cNvSpPr/>
          <p:nvPr>
            <p:custDataLst>
              <p:tags r:id="rId20"/>
            </p:custDataLst>
          </p:nvPr>
        </p:nvSpPr>
        <p:spPr>
          <a:xfrm>
            <a:off x="7649613" y="4051348"/>
            <a:ext cx="3572510" cy="553998"/>
          </a:xfrm>
          <a:prstGeom prst="rect">
            <a:avLst/>
          </a:prstGeom>
        </p:spPr>
        <p:txBody>
          <a:bodyPr lIns="0" tIns="0" rIns="0" bIns="0" anchor="ctr">
            <a:spAutoFit/>
          </a:bodyPr>
          <a:lstStyle/>
          <a:p>
            <a:pPr>
              <a:defRPr/>
            </a:pPr>
            <a:r>
              <a:rPr dirty="0" err="1">
                <a:solidFill>
                  <a:srgbClr val="C00000"/>
                </a:solidFill>
                <a:latin typeface="微软雅黑" panose="020B0503020204020204" charset="-122"/>
                <a:ea typeface="微软雅黑" panose="020B0503020204020204" charset="-122"/>
                <a:sym typeface="+mn-ea"/>
              </a:rPr>
              <a:t>把源程序和软件配置的其他成分自动输入系统</a:t>
            </a:r>
            <a:endParaRPr lang="zh-CN" altLang="en-US" dirty="0">
              <a:solidFill>
                <a:srgbClr val="000000"/>
              </a:solidFill>
              <a:latin typeface="微软雅黑" panose="020B0503020204020204" charset="-122"/>
              <a:ea typeface="微软雅黑" panose="020B0503020204020204" charset="-122"/>
              <a:sym typeface="+mn-ea"/>
            </a:endParaRPr>
          </a:p>
        </p:txBody>
      </p:sp>
      <p:sp>
        <p:nvSpPr>
          <p:cNvPr id="31" name="文本框 99"/>
          <p:cNvSpPr txBox="1"/>
          <p:nvPr/>
        </p:nvSpPr>
        <p:spPr>
          <a:xfrm>
            <a:off x="564247" y="2073898"/>
            <a:ext cx="11068685" cy="414344"/>
          </a:xfrm>
          <a:prstGeom prst="rect">
            <a:avLst/>
          </a:prstGeom>
          <a:noFill/>
          <a:ln w="9525">
            <a:noFill/>
          </a:ln>
        </p:spPr>
        <p:txBody>
          <a:bodyPr wrap="square">
            <a:spAutoFit/>
          </a:bodyPr>
          <a:lstStyle/>
          <a:p>
            <a:pPr marL="285750" indent="-285750">
              <a:lnSpc>
                <a:spcPct val="130000"/>
              </a:lnSpc>
              <a:buFont typeface="Arial" panose="020B0604020202020204" pitchFamily="34" charset="0"/>
              <a:buChar char="•"/>
            </a:pPr>
            <a:r>
              <a:rPr dirty="0">
                <a:solidFill>
                  <a:schemeClr val="accent6">
                    <a:lumMod val="50000"/>
                  </a:schemeClr>
                </a:solidFill>
                <a:latin typeface="微软雅黑" panose="020B0503020204020204" charset="-122"/>
                <a:ea typeface="微软雅黑" panose="020B0503020204020204" charset="-122"/>
                <a:sym typeface="+mn-ea"/>
              </a:rPr>
              <a:t>软件验证是确定软件开发周期中的一个给定阶段的产品是否达到需求的过程。</a:t>
            </a:r>
            <a:r>
              <a:rPr lang="zh-CN" altLang="en-US" dirty="0">
                <a:latin typeface="Times New Roman" panose="02020603050405020304" pitchFamily="18" charset="0"/>
              </a:rPr>
              <a:t>软件验证的方法如下：</a:t>
            </a:r>
          </a:p>
        </p:txBody>
      </p:sp>
    </p:spTree>
  </p:cSld>
  <p:clrMapOvr>
    <a:masterClrMapping/>
  </p:clrMapOvr>
  <p:transition>
    <p:diamond/>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en-US" dirty="0"/>
          </a:p>
        </p:txBody>
      </p:sp>
      <p:sp>
        <p:nvSpPr>
          <p:cNvPr id="11" name="文本占位符 10">
            <a:extLst>
              <a:ext uri="{FF2B5EF4-FFF2-40B4-BE49-F238E27FC236}">
                <a16:creationId xmlns:a16="http://schemas.microsoft.com/office/drawing/2014/main" id="{9DD542F7-C1DC-2731-4043-AE1DE5C252B7}"/>
              </a:ext>
            </a:extLst>
          </p:cNvPr>
          <p:cNvSpPr>
            <a:spLocks noGrp="1"/>
          </p:cNvSpPr>
          <p:nvPr>
            <p:ph type="body" sz="quarter" idx="10"/>
          </p:nvPr>
        </p:nvSpPr>
        <p:spPr>
          <a:xfrm>
            <a:off x="696000" y="1322832"/>
            <a:ext cx="5400000" cy="400110"/>
          </a:xfrm>
        </p:spPr>
        <p:txBody>
          <a:bodyPr/>
          <a:lstStyle/>
          <a:p>
            <a:r>
              <a:rPr lang="en-US" altLang="zh-CN" dirty="0">
                <a:sym typeface="+mn-ea"/>
              </a:rPr>
              <a:t>4.7.3 </a:t>
            </a:r>
            <a:r>
              <a:rPr lang="zh-CN" altLang="en-US" dirty="0">
                <a:sym typeface="+mn-ea"/>
              </a:rPr>
              <a:t>软件确认 </a:t>
            </a:r>
            <a:r>
              <a:rPr lang="en-US" altLang="zh-CN" dirty="0">
                <a:sym typeface="+mn-ea"/>
              </a:rPr>
              <a:t>Validation</a:t>
            </a:r>
            <a:endParaRPr lang="zh-CN" altLang="zh-CN" dirty="0"/>
          </a:p>
        </p:txBody>
      </p:sp>
      <p:sp>
        <p:nvSpPr>
          <p:cNvPr id="15" name="文本占位符 14">
            <a:extLst>
              <a:ext uri="{FF2B5EF4-FFF2-40B4-BE49-F238E27FC236}">
                <a16:creationId xmlns:a16="http://schemas.microsoft.com/office/drawing/2014/main" id="{8EA8A60B-E950-981E-3C83-F91EF7260DD3}"/>
              </a:ext>
            </a:extLst>
          </p:cNvPr>
          <p:cNvSpPr>
            <a:spLocks noGrp="1"/>
          </p:cNvSpPr>
          <p:nvPr>
            <p:ph type="body" sz="quarter" idx="11"/>
          </p:nvPr>
        </p:nvSpPr>
        <p:spPr/>
        <p:txBody>
          <a:bodyPr/>
          <a:lstStyle/>
          <a:p>
            <a:endParaRPr lang="zh-CN" altLang="en-US"/>
          </a:p>
        </p:txBody>
      </p:sp>
      <p:grpSp>
        <p:nvGrpSpPr>
          <p:cNvPr id="2" name="组合 1"/>
          <p:cNvGrpSpPr/>
          <p:nvPr/>
        </p:nvGrpSpPr>
        <p:grpSpPr>
          <a:xfrm>
            <a:off x="1854994" y="2061210"/>
            <a:ext cx="9113479" cy="3337675"/>
            <a:chOff x="2054" y="2256"/>
            <a:chExt cx="16562" cy="6514"/>
          </a:xfrm>
        </p:grpSpPr>
        <p:grpSp>
          <p:nvGrpSpPr>
            <p:cNvPr id="6" name="组合 5"/>
            <p:cNvGrpSpPr/>
            <p:nvPr/>
          </p:nvGrpSpPr>
          <p:grpSpPr>
            <a:xfrm>
              <a:off x="2054" y="2256"/>
              <a:ext cx="15060" cy="2487"/>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Times New Roman" panose="02020603050405020304" pitchFamily="18" charset="0"/>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Times New Roman" panose="02020603050405020304" pitchFamily="18" charset="0"/>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Times New Roman" panose="02020603050405020304" pitchFamily="18" charset="0"/>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mn-ea"/>
                  <a:sym typeface="Arial" panose="020B0604020202020204" pitchFamily="34" charset="0"/>
                </a:endParaRPr>
              </a:p>
            </p:txBody>
          </p:sp>
        </p:grpSp>
        <p:sp>
          <p:nvSpPr>
            <p:cNvPr id="5" name="文本框 4"/>
            <p:cNvSpPr txBox="1"/>
            <p:nvPr>
              <p:custDataLst>
                <p:tags r:id="rId2"/>
              </p:custDataLst>
            </p:nvPr>
          </p:nvSpPr>
          <p:spPr>
            <a:xfrm>
              <a:off x="7303" y="5319"/>
              <a:ext cx="5765"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latin typeface="Times New Roman" panose="02020603050405020304" pitchFamily="18" charset="0"/>
                </a:rPr>
                <a:t>       </a:t>
              </a:r>
              <a:r>
                <a:rPr dirty="0">
                  <a:latin typeface="微软雅黑" panose="020B0503020204020204" charset="-122"/>
                  <a:ea typeface="微软雅黑" panose="020B0503020204020204" charset="-122"/>
                  <a:sym typeface="+mn-ea"/>
                </a:rPr>
                <a:t>完成测试计划中的所有要求，分析测试结果，并书写测试分析报告和开发总结。</a:t>
              </a:r>
            </a:p>
            <a:p>
              <a:pPr marL="0" indent="0" algn="l" fontAlgn="auto">
                <a:lnSpc>
                  <a:spcPct val="130000"/>
                </a:lnSpc>
              </a:pPr>
              <a:endParaRPr dirty="0">
                <a:latin typeface="微软雅黑" panose="020B0503020204020204" charset="-122"/>
                <a:ea typeface="微软雅黑" panose="020B0503020204020204" charset="-122"/>
              </a:endParaRPr>
            </a:p>
          </p:txBody>
        </p:sp>
        <p:sp>
          <p:nvSpPr>
            <p:cNvPr id="8" name="文本框 7"/>
            <p:cNvSpPr txBox="1"/>
            <p:nvPr>
              <p:custDataLst>
                <p:tags r:id="rId3"/>
              </p:custDataLst>
            </p:nvPr>
          </p:nvSpPr>
          <p:spPr>
            <a:xfrm>
              <a:off x="13125" y="5320"/>
              <a:ext cx="549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latin typeface="Times New Roman" panose="02020603050405020304" pitchFamily="18" charset="0"/>
                </a:rPr>
                <a:t>       </a:t>
              </a:r>
              <a:r>
                <a:rPr dirty="0">
                  <a:latin typeface="微软雅黑" panose="020B0503020204020204" charset="-122"/>
                  <a:ea typeface="微软雅黑" panose="020B0503020204020204" charset="-122"/>
                  <a:sym typeface="+mn-ea"/>
                </a:rPr>
                <a:t>按用户手册和操作手册进行软件实际运行，验证软件的实用性和有效性并修正所发现的错误。</a:t>
              </a:r>
              <a:endParaRPr lang="zh-CN" altLang="en-US" dirty="0">
                <a:latin typeface="Times New Roman" panose="02020603050405020304" pitchFamily="18" charset="0"/>
              </a:endParaRPr>
            </a:p>
          </p:txBody>
        </p:sp>
      </p:grpSp>
      <p:sp>
        <p:nvSpPr>
          <p:cNvPr id="9" name="文本框 8"/>
          <p:cNvSpPr txBox="1"/>
          <p:nvPr>
            <p:custDataLst>
              <p:tags r:id="rId1"/>
            </p:custDataLst>
          </p:nvPr>
        </p:nvSpPr>
        <p:spPr>
          <a:xfrm>
            <a:off x="704215" y="3630930"/>
            <a:ext cx="3670300" cy="2577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sp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algn="l" fontAlgn="auto">
              <a:lnSpc>
                <a:spcPct val="130000"/>
              </a:lnSpc>
              <a:spcBef>
                <a:spcPct val="20000"/>
              </a:spcBef>
            </a:pPr>
            <a:r>
              <a:rPr lang="en-US" altLang="zh-CN" dirty="0">
                <a:latin typeface="Times New Roman" panose="02020603050405020304" pitchFamily="18" charset="0"/>
              </a:rPr>
              <a:t>       </a:t>
            </a:r>
            <a:r>
              <a:rPr dirty="0">
                <a:latin typeface="微软雅黑" panose="020B0503020204020204" charset="-122"/>
                <a:ea typeface="微软雅黑" panose="020B0503020204020204" charset="-122"/>
                <a:sym typeface="+mn-ea"/>
              </a:rPr>
              <a:t>软件确认工作应在用户直接参与下，在最终用户环境中进行软件的强度测试，即在事先规定的时期内运行软件的全部功能，考查软件运行有无严重错误。系统功能和性能满足需求说明书中的全部要求，得到用户认可。</a:t>
            </a:r>
            <a:endParaRPr dirty="0">
              <a:latin typeface="微软雅黑" panose="020B0503020204020204" charset="-122"/>
              <a:ea typeface="微软雅黑" panose="020B0503020204020204" charset="-122"/>
            </a:endParaRPr>
          </a:p>
        </p:txBody>
      </p:sp>
      <p:sp>
        <p:nvSpPr>
          <p:cNvPr id="167" name="圆角矩形"/>
          <p:cNvSpPr/>
          <p:nvPr/>
        </p:nvSpPr>
        <p:spPr>
          <a:xfrm>
            <a:off x="5124848" y="5365703"/>
            <a:ext cx="5318760" cy="99568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latin typeface="Times New Roman" panose="02020603050405020304" pitchFamily="18" charset="0"/>
              </a:rPr>
              <a:t>   </a:t>
            </a:r>
            <a:endParaRPr lang="zh-CN" altLang="en-US" dirty="0">
              <a:solidFill>
                <a:schemeClr val="bg2">
                  <a:lumMod val="50000"/>
                </a:schemeClr>
              </a:solidFill>
              <a:latin typeface="Times New Roman" panose="02020603050405020304" pitchFamily="18" charset="0"/>
            </a:endParaRPr>
          </a:p>
        </p:txBody>
      </p:sp>
      <p:sp>
        <p:nvSpPr>
          <p:cNvPr id="10" name="学士帽"/>
          <p:cNvSpPr/>
          <p:nvPr/>
        </p:nvSpPr>
        <p:spPr bwMode="auto">
          <a:xfrm>
            <a:off x="4929903" y="5152343"/>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a typeface="微软雅黑 Light" panose="020B0502040204020203" pitchFamily="34" charset="-122"/>
            </a:endParaRPr>
          </a:p>
        </p:txBody>
      </p:sp>
      <p:sp>
        <p:nvSpPr>
          <p:cNvPr id="35" name="文本框 34"/>
          <p:cNvSpPr txBox="1"/>
          <p:nvPr/>
        </p:nvSpPr>
        <p:spPr>
          <a:xfrm>
            <a:off x="5165488" y="5365703"/>
            <a:ext cx="5629910" cy="100647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latin typeface="Times New Roman" panose="02020603050405020304" pitchFamily="18" charset="0"/>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软件确认是指在软件开发过程结束时，对所开发的软件进行评价，以确定它是否和软件需求相一致的过程。</a:t>
            </a:r>
          </a:p>
        </p:txBody>
      </p:sp>
    </p:spTree>
  </p:cSld>
  <p:clrMapOvr>
    <a:masterClrMapping/>
  </p:clrMapOvr>
  <p:transition>
    <p:randomBar dir="vert"/>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en-US" dirty="0">
                <a:sym typeface="+mn-ea"/>
              </a:rPr>
              <a:t>4.7 </a:t>
            </a:r>
            <a:r>
              <a:rPr lang="zh-CN" altLang="en-US" dirty="0">
                <a:sym typeface="+mn-ea"/>
              </a:rPr>
              <a:t>软件调试、验证与确认</a:t>
            </a:r>
            <a:endParaRPr lang="zh-CN" altLang="en-US" dirty="0"/>
          </a:p>
        </p:txBody>
      </p:sp>
      <p:sp>
        <p:nvSpPr>
          <p:cNvPr id="4" name="文本占位符 3">
            <a:extLst>
              <a:ext uri="{FF2B5EF4-FFF2-40B4-BE49-F238E27FC236}">
                <a16:creationId xmlns:a16="http://schemas.microsoft.com/office/drawing/2014/main" id="{C18F5166-C293-BC10-5D24-2651BB1AD212}"/>
              </a:ext>
            </a:extLst>
          </p:cNvPr>
          <p:cNvSpPr>
            <a:spLocks noGrp="1"/>
          </p:cNvSpPr>
          <p:nvPr>
            <p:ph type="body" sz="quarter" idx="10"/>
          </p:nvPr>
        </p:nvSpPr>
        <p:spPr>
          <a:xfrm>
            <a:off x="696000" y="1322832"/>
            <a:ext cx="5400000" cy="400110"/>
          </a:xfrm>
        </p:spPr>
        <p:txBody>
          <a:bodyPr/>
          <a:lstStyle/>
          <a:p>
            <a:r>
              <a:rPr lang="en-US" altLang="zh-CN" dirty="0">
                <a:sym typeface="+mn-ea"/>
              </a:rPr>
              <a:t>4.7.3 </a:t>
            </a:r>
            <a:r>
              <a:rPr lang="zh-CN" altLang="en-US" dirty="0">
                <a:sym typeface="+mn-ea"/>
              </a:rPr>
              <a:t>软件确认 </a:t>
            </a:r>
            <a:r>
              <a:rPr lang="en-US" altLang="zh-CN" dirty="0">
                <a:sym typeface="+mn-ea"/>
              </a:rPr>
              <a:t>Validation</a:t>
            </a:r>
            <a:endParaRPr lang="zh-CN" altLang="zh-CN" dirty="0"/>
          </a:p>
        </p:txBody>
      </p:sp>
      <p:sp>
        <p:nvSpPr>
          <p:cNvPr id="5" name="文本占位符 4">
            <a:extLst>
              <a:ext uri="{FF2B5EF4-FFF2-40B4-BE49-F238E27FC236}">
                <a16:creationId xmlns:a16="http://schemas.microsoft.com/office/drawing/2014/main" id="{BC4ED908-2B3F-3958-28F8-5563D7E9FE0F}"/>
              </a:ext>
            </a:extLst>
          </p:cNvPr>
          <p:cNvSpPr>
            <a:spLocks noGrp="1"/>
          </p:cNvSpPr>
          <p:nvPr>
            <p:ph type="body" sz="quarter" idx="11"/>
          </p:nvPr>
        </p:nvSpPr>
        <p:spPr/>
        <p:txBody>
          <a:bodyPr/>
          <a:lstStyle/>
          <a:p>
            <a:endParaRPr lang="zh-CN" altLang="en-US"/>
          </a:p>
        </p:txBody>
      </p:sp>
      <p:sp>
        <p:nvSpPr>
          <p:cNvPr id="100" name="文本框 99"/>
          <p:cNvSpPr txBox="1"/>
          <p:nvPr/>
        </p:nvSpPr>
        <p:spPr>
          <a:xfrm>
            <a:off x="696000" y="2369820"/>
            <a:ext cx="10589855" cy="2577950"/>
          </a:xfrm>
          <a:prstGeom prst="rect">
            <a:avLst/>
          </a:prstGeom>
          <a:noFill/>
          <a:ln w="9525">
            <a:noFill/>
          </a:ln>
        </p:spPr>
        <p:txBody>
          <a:bodyPr wrap="square">
            <a:spAutoFit/>
          </a:bodyPr>
          <a:lstStyle/>
          <a:p>
            <a:pPr marL="0" indent="0" algn="l" fontAlgn="auto">
              <a:lnSpc>
                <a:spcPct val="130000"/>
              </a:lnSpc>
            </a:pPr>
            <a:r>
              <a:rPr dirty="0">
                <a:latin typeface="微软雅黑" panose="020B0503020204020204" charset="-122"/>
                <a:ea typeface="微软雅黑" panose="020B0503020204020204" charset="-122"/>
                <a:sym typeface="+mn-ea"/>
              </a:rPr>
              <a:t>       软件确认结束时应完成的文档有：</a:t>
            </a:r>
            <a:r>
              <a:rPr dirty="0">
                <a:solidFill>
                  <a:srgbClr val="C00000"/>
                </a:solidFill>
                <a:latin typeface="微软雅黑" panose="020B0503020204020204" charset="-122"/>
                <a:ea typeface="微软雅黑" panose="020B0503020204020204" charset="-122"/>
                <a:sym typeface="+mn-ea"/>
              </a:rPr>
              <a:t>① 软件测试报告；② 经修改并确认的用户手册和操作手册；③ 软件开发总结。</a:t>
            </a:r>
          </a:p>
          <a:p>
            <a:pPr marL="0" indent="0" algn="l" fontAlgn="auto">
              <a:lnSpc>
                <a:spcPct val="130000"/>
              </a:lnSpc>
            </a:pPr>
            <a:r>
              <a:rPr dirty="0">
                <a:latin typeface="微软雅黑" panose="020B0503020204020204" charset="-122"/>
                <a:ea typeface="微软雅黑" panose="020B0503020204020204" charset="-122"/>
                <a:sym typeface="+mn-ea"/>
              </a:rPr>
              <a:t>       软件确认工作最好</a:t>
            </a:r>
            <a:r>
              <a:rPr dirty="0">
                <a:solidFill>
                  <a:srgbClr val="C00000"/>
                </a:solidFill>
                <a:latin typeface="微软雅黑" panose="020B0503020204020204" charset="-122"/>
                <a:ea typeface="微软雅黑" panose="020B0503020204020204" charset="-122"/>
                <a:sym typeface="+mn-ea"/>
              </a:rPr>
              <a:t>由不参加设计或实现该软件的人员来进行并有用户及领导人士参加</a:t>
            </a:r>
            <a:r>
              <a:rPr dirty="0">
                <a:latin typeface="微软雅黑" panose="020B0503020204020204" charset="-122"/>
                <a:ea typeface="微软雅黑" panose="020B0503020204020204" charset="-122"/>
                <a:sym typeface="+mn-ea"/>
              </a:rPr>
              <a:t>。为了使用户能有效地操作软件系统，通常由开发部门对用户进行操作培训，以便使用户积极地参加确认工作。</a:t>
            </a:r>
          </a:p>
          <a:p>
            <a:pPr marL="0" indent="0" algn="l" fontAlgn="auto">
              <a:lnSpc>
                <a:spcPct val="130000"/>
              </a:lnSpc>
            </a:pPr>
            <a:r>
              <a:rPr dirty="0">
                <a:latin typeface="微软雅黑" panose="020B0503020204020204" charset="-122"/>
                <a:ea typeface="微软雅黑" panose="020B0503020204020204" charset="-122"/>
                <a:sym typeface="+mn-ea"/>
              </a:rPr>
              <a:t>       软件确认必须从</a:t>
            </a:r>
            <a:r>
              <a:rPr dirty="0">
                <a:solidFill>
                  <a:srgbClr val="C00000"/>
                </a:solidFill>
                <a:latin typeface="微软雅黑" panose="020B0503020204020204" charset="-122"/>
                <a:ea typeface="微软雅黑" panose="020B0503020204020204" charset="-122"/>
                <a:sym typeface="+mn-ea"/>
              </a:rPr>
              <a:t>用户的立场</a:t>
            </a:r>
            <a:r>
              <a:rPr dirty="0">
                <a:latin typeface="微软雅黑" panose="020B0503020204020204" charset="-122"/>
                <a:ea typeface="微软雅黑" panose="020B0503020204020204" charset="-122"/>
                <a:sym typeface="+mn-ea"/>
              </a:rPr>
              <a:t>出发，对测试结果进行评审，看软件是否确实满足用户需要。还要评审软件配置，这是软件生存周期中维护阶段的主要依据。要确保软件配置齐全、正确、符合要求。软件确认评审通过，意味着软件产品可以移交。</a:t>
            </a:r>
          </a:p>
        </p:txBody>
      </p:sp>
    </p:spTree>
  </p:cSld>
  <p:clrMapOvr>
    <a:masterClrMapping/>
  </p:clrMapOvr>
  <p:transition>
    <p:diamond/>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a typeface="微软雅黑 Light" panose="020B0502040204020203" pitchFamily="34" charset="-122"/>
            </a:endParaRPr>
          </a:p>
        </p:txBody>
      </p:sp>
      <p:sp>
        <p:nvSpPr>
          <p:cNvPr id="40" name="文本框 39"/>
          <p:cNvSpPr txBox="1"/>
          <p:nvPr/>
        </p:nvSpPr>
        <p:spPr>
          <a:xfrm>
            <a:off x="6006555" y="2935102"/>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i="0" u="none" strike="noStrike" kern="1200" cap="none" spc="0" normalizeH="0" baseline="0" noProof="0" dirty="0">
                <a:ln>
                  <a:noFill/>
                </a:ln>
                <a:effectLst/>
                <a:uLnTx/>
                <a:uFillTx/>
                <a:latin typeface="+mj-ea"/>
                <a:ea typeface="+mj-ea"/>
                <a:cs typeface="+mn-cs"/>
              </a:rPr>
              <a:t>软件测试文档</a:t>
            </a:r>
          </a:p>
        </p:txBody>
      </p:sp>
      <p:sp>
        <p:nvSpPr>
          <p:cNvPr id="48" name="文本框 47"/>
          <p:cNvSpPr txBox="1"/>
          <p:nvPr/>
        </p:nvSpPr>
        <p:spPr>
          <a:xfrm>
            <a:off x="6006555" y="3766099"/>
            <a:ext cx="371284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软件测试计划</a:t>
            </a:r>
          </a:p>
        </p:txBody>
      </p:sp>
      <p:sp>
        <p:nvSpPr>
          <p:cNvPr id="50" name="文本框 49"/>
          <p:cNvSpPr txBox="1"/>
          <p:nvPr/>
        </p:nvSpPr>
        <p:spPr>
          <a:xfrm>
            <a:off x="6006555" y="4261399"/>
            <a:ext cx="3712845" cy="40005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软件测试说明</a:t>
            </a:r>
          </a:p>
        </p:txBody>
      </p:sp>
      <p:sp>
        <p:nvSpPr>
          <p:cNvPr id="3" name="文本框 2"/>
          <p:cNvSpPr txBox="1"/>
          <p:nvPr/>
        </p:nvSpPr>
        <p:spPr>
          <a:xfrm>
            <a:off x="6006555" y="4771939"/>
            <a:ext cx="3712845" cy="400110"/>
          </a:xfrm>
          <a:prstGeom prst="rect">
            <a:avLst/>
          </a:prstGeom>
          <a:noFill/>
        </p:spPr>
        <p:txBody>
          <a:bodyPr wrap="square">
            <a:spAutoFit/>
          </a:bodyPr>
          <a:lstStyle/>
          <a:p>
            <a:pPr marL="180000" marR="0" lvl="0" indent="-1800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mj-ea"/>
                <a:ea typeface="+mj-ea"/>
                <a:cs typeface="+mn-cs"/>
              </a:rPr>
              <a:t>软件测试报告</a:t>
            </a:r>
          </a:p>
        </p:txBody>
      </p:sp>
      <p:sp>
        <p:nvSpPr>
          <p:cNvPr id="5" name="椭圆 4">
            <a:extLst>
              <a:ext uri="{FF2B5EF4-FFF2-40B4-BE49-F238E27FC236}">
                <a16:creationId xmlns:a16="http://schemas.microsoft.com/office/drawing/2014/main" id="{1F757910-AAC9-6F1C-36D4-211B96FEC44A}"/>
              </a:ext>
            </a:extLst>
          </p:cNvPr>
          <p:cNvSpPr/>
          <p:nvPr/>
        </p:nvSpPr>
        <p:spPr>
          <a:xfrm>
            <a:off x="3428455" y="2169500"/>
            <a:ext cx="2362200" cy="2362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9600" b="0" i="0" u="none" strike="noStrike" kern="1200" cap="none" spc="0" normalizeH="0" noProof="0" dirty="0">
                <a:ln>
                  <a:noFill/>
                </a:ln>
                <a:solidFill>
                  <a:schemeClr val="lt1"/>
                </a:solidFill>
                <a:effectLst/>
                <a:uLnTx/>
                <a:uFillTx/>
                <a:latin typeface="+mj-lt"/>
                <a:ea typeface="+mj-ea"/>
                <a:cs typeface="+mn-cs"/>
              </a:rPr>
              <a:t>08</a:t>
            </a:r>
            <a:endParaRPr kumimoji="0" lang="zh-CN" altLang="en-US" sz="9600" b="0" i="0" u="none" strike="noStrike" kern="1200" cap="none" spc="0" normalizeH="0" noProof="0" dirty="0">
              <a:ln>
                <a:noFill/>
              </a:ln>
              <a:solidFill>
                <a:schemeClr val="lt1"/>
              </a:solidFill>
              <a:effectLst/>
              <a:uLnTx/>
              <a:uFillTx/>
              <a:latin typeface="+mj-lt"/>
              <a:ea typeface="+mj-ea"/>
              <a:cs typeface="+mn-cs"/>
            </a:endParaRPr>
          </a:p>
        </p:txBody>
      </p:sp>
    </p:spTree>
  </p:cSld>
  <p:clrMapOvr>
    <a:masterClrMapping/>
  </p:clrMapOvr>
  <p:transition spd="slow">
    <p:wipe/>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866630" cy="5443220"/>
          </a:xfrm>
          <a:prstGeom prst="rect">
            <a:avLst/>
          </a:prstGeom>
          <a:noFill/>
          <a:ln w="9525">
            <a:noFill/>
          </a:ln>
        </p:spPr>
      </p:pic>
      <p:sp>
        <p:nvSpPr>
          <p:cNvPr id="3" name="标题 2"/>
          <p:cNvSpPr>
            <a:spLocks noGrp="1"/>
          </p:cNvSpPr>
          <p:nvPr>
            <p:ph type="title"/>
          </p:nvPr>
        </p:nvSpPr>
        <p:spPr>
          <a:xfrm>
            <a:off x="336000" y="360000"/>
            <a:ext cx="5760000" cy="535531"/>
          </a:xfrm>
        </p:spPr>
        <p:txBody>
          <a:bodyPr/>
          <a:lstStyle/>
          <a:p>
            <a:r>
              <a:rPr lang="zh-CN" altLang="en-US">
                <a:sym typeface="+mn-ea"/>
              </a:rPr>
              <a:t>4.8 软件测试文档</a:t>
            </a:r>
          </a:p>
        </p:txBody>
      </p:sp>
      <p:sp>
        <p:nvSpPr>
          <p:cNvPr id="4" name="文本占位符 3">
            <a:extLst>
              <a:ext uri="{FF2B5EF4-FFF2-40B4-BE49-F238E27FC236}">
                <a16:creationId xmlns:a16="http://schemas.microsoft.com/office/drawing/2014/main" id="{0F1B665E-0630-1930-988D-AD2A091015F0}"/>
              </a:ext>
            </a:extLst>
          </p:cNvPr>
          <p:cNvSpPr>
            <a:spLocks noGrp="1"/>
          </p:cNvSpPr>
          <p:nvPr>
            <p:ph type="body" sz="quarter" idx="10"/>
          </p:nvPr>
        </p:nvSpPr>
        <p:spPr>
          <a:xfrm>
            <a:off x="696000" y="1322832"/>
            <a:ext cx="5400000" cy="400110"/>
          </a:xfrm>
        </p:spPr>
        <p:txBody>
          <a:bodyPr/>
          <a:lstStyle/>
          <a:p>
            <a:r>
              <a:rPr lang="zh-CN" altLang="en-US" dirty="0"/>
              <a:t>引言</a:t>
            </a:r>
          </a:p>
        </p:txBody>
      </p:sp>
      <p:sp>
        <p:nvSpPr>
          <p:cNvPr id="8" name="文本占位符 7">
            <a:extLst>
              <a:ext uri="{FF2B5EF4-FFF2-40B4-BE49-F238E27FC236}">
                <a16:creationId xmlns:a16="http://schemas.microsoft.com/office/drawing/2014/main" id="{B86CC62D-35A7-B6C2-5FC6-74F62003CA54}"/>
              </a:ext>
            </a:extLst>
          </p:cNvPr>
          <p:cNvSpPr>
            <a:spLocks noGrp="1"/>
          </p:cNvSpPr>
          <p:nvPr>
            <p:ph type="body" sz="quarter" idx="11"/>
          </p:nvPr>
        </p:nvSpPr>
        <p:spPr/>
        <p:txBody>
          <a:bodyPr/>
          <a:lstStyle/>
          <a:p>
            <a:endParaRPr lang="zh-CN" altLang="en-US"/>
          </a:p>
        </p:txBody>
      </p:sp>
      <p:sp>
        <p:nvSpPr>
          <p:cNvPr id="14" name="文本框 13"/>
          <p:cNvSpPr txBox="1"/>
          <p:nvPr/>
        </p:nvSpPr>
        <p:spPr>
          <a:xfrm>
            <a:off x="2408555" y="2727960"/>
            <a:ext cx="5846445" cy="2606040"/>
          </a:xfrm>
          <a:prstGeom prst="rect">
            <a:avLst/>
          </a:prstGeom>
          <a:noFill/>
        </p:spPr>
        <p:txBody>
          <a:bodyPr wrap="square" rtlCol="0" anchor="t">
            <a:spAutoFit/>
          </a:bodyPr>
          <a:lstStyle/>
          <a:p>
            <a:pPr indent="0" fontAlgn="auto">
              <a:lnSpc>
                <a:spcPct val="150000"/>
              </a:lnSpc>
              <a:buClrTx/>
              <a:buNone/>
            </a:pPr>
            <a:r>
              <a:rPr lang="en-US" altLang="zh-CN" sz="2000"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国家标准GB/T 8567—2006《计算机软件文档编制规范》，规定了有关测试的文件有：</a:t>
            </a:r>
            <a:r>
              <a:rPr lang="zh-CN" altLang="en-US" dirty="0">
                <a:solidFill>
                  <a:srgbClr val="C00000"/>
                </a:solidFill>
                <a:latin typeface="微软雅黑" panose="020B0503020204020204" charset="-122"/>
                <a:ea typeface="微软雅黑" panose="020B0503020204020204" charset="-122"/>
              </a:rPr>
              <a:t>软件测试计划、软件测试说明和软件测试报告</a:t>
            </a:r>
            <a:r>
              <a:rPr lang="zh-CN" altLang="en-US" dirty="0">
                <a:latin typeface="微软雅黑" panose="020B0503020204020204" charset="-122"/>
                <a:ea typeface="微软雅黑" panose="020B0503020204020204" charset="-122"/>
              </a:rPr>
              <a:t>。每个软件项目可以根据需要选择文件的种类。软件测试计划和软件测试说明在需求分析阶段制订，在软件设计阶段进一步完善；软件测试报告在软件实现阶段完成。</a:t>
            </a:r>
          </a:p>
        </p:txBody>
      </p:sp>
    </p:spTree>
  </p:cSld>
  <p:clrMapOvr>
    <a:masterClrMapping/>
  </p:clrMapOvr>
  <p:transition>
    <p:randomBar dir="vert"/>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zh-CN" altLang="en-US" dirty="0">
                <a:sym typeface="+mn-ea"/>
              </a:rPr>
              <a:t>4.8 软件测试文档</a:t>
            </a:r>
            <a:endParaRPr lang="zh-CN" altLang="en-US" dirty="0"/>
          </a:p>
        </p:txBody>
      </p:sp>
      <p:sp>
        <p:nvSpPr>
          <p:cNvPr id="4" name="文本占位符 3">
            <a:extLst>
              <a:ext uri="{FF2B5EF4-FFF2-40B4-BE49-F238E27FC236}">
                <a16:creationId xmlns:a16="http://schemas.microsoft.com/office/drawing/2014/main" id="{8E4796CB-61B6-0435-B4DA-5269E1A7671D}"/>
              </a:ext>
            </a:extLst>
          </p:cNvPr>
          <p:cNvSpPr>
            <a:spLocks noGrp="1"/>
          </p:cNvSpPr>
          <p:nvPr>
            <p:ph type="body" sz="quarter" idx="10"/>
          </p:nvPr>
        </p:nvSpPr>
        <p:spPr>
          <a:xfrm>
            <a:off x="696000" y="1322832"/>
            <a:ext cx="5400000" cy="400110"/>
          </a:xfrm>
        </p:spPr>
        <p:txBody>
          <a:bodyPr/>
          <a:lstStyle/>
          <a:p>
            <a:r>
              <a:rPr lang="en-US" altLang="zh-CN" dirty="0"/>
              <a:t>4.8.1 </a:t>
            </a:r>
            <a:r>
              <a:rPr lang="zh-CN" altLang="zh-CN" dirty="0"/>
              <a:t>软件测试计划</a:t>
            </a:r>
          </a:p>
        </p:txBody>
      </p:sp>
      <p:sp>
        <p:nvSpPr>
          <p:cNvPr id="13" name="文本占位符 12">
            <a:extLst>
              <a:ext uri="{FF2B5EF4-FFF2-40B4-BE49-F238E27FC236}">
                <a16:creationId xmlns:a16="http://schemas.microsoft.com/office/drawing/2014/main" id="{8B23AFA5-402D-840D-E146-65480181A145}"/>
              </a:ext>
            </a:extLst>
          </p:cNvPr>
          <p:cNvSpPr>
            <a:spLocks noGrp="1"/>
          </p:cNvSpPr>
          <p:nvPr>
            <p:ph type="body" sz="quarter" idx="11"/>
          </p:nvPr>
        </p:nvSpPr>
        <p:spPr/>
        <p:txBody>
          <a:bodyPr/>
          <a:lstStyle/>
          <a:p>
            <a:endParaRPr lang="zh-CN" altLang="en-US"/>
          </a:p>
        </p:txBody>
      </p:sp>
      <p:grpSp>
        <p:nvGrpSpPr>
          <p:cNvPr id="11" name="组合 10"/>
          <p:cNvGrpSpPr/>
          <p:nvPr/>
        </p:nvGrpSpPr>
        <p:grpSpPr>
          <a:xfrm>
            <a:off x="1430750" y="3446961"/>
            <a:ext cx="9505112" cy="2694532"/>
            <a:chOff x="3934" y="3954"/>
            <a:chExt cx="14970" cy="4961"/>
          </a:xfrm>
        </p:grpSpPr>
        <p:sp>
          <p:nvSpPr>
            <p:cNvPr id="42" name="Freeform 5"/>
            <p:cNvSpPr/>
            <p:nvPr>
              <p:custDataLst>
                <p:tags r:id="rId1"/>
              </p:custDataLst>
            </p:nvPr>
          </p:nvSpPr>
          <p:spPr bwMode="auto">
            <a:xfrm>
              <a:off x="9377" y="4091"/>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1"/>
            </a:solidFill>
            <a:ln>
              <a:noFill/>
            </a:ln>
          </p:spPr>
          <p:txBody>
            <a:bodyPr>
              <a:normAutofit fontScale="67500" lnSpcReduction="20000"/>
            </a:bodyPr>
            <a:lstStyle/>
            <a:p>
              <a:endParaRPr lang="zh-CN" altLang="en-US" dirty="0">
                <a:latin typeface="Times New Roman" panose="02020603050405020304" pitchFamily="18" charset="0"/>
              </a:endParaRPr>
            </a:p>
          </p:txBody>
        </p:sp>
        <p:sp>
          <p:nvSpPr>
            <p:cNvPr id="43" name="Freeform 6"/>
            <p:cNvSpPr/>
            <p:nvPr>
              <p:custDataLst>
                <p:tags r:id="rId2"/>
              </p:custDataLst>
            </p:nvPr>
          </p:nvSpPr>
          <p:spPr bwMode="auto">
            <a:xfrm>
              <a:off x="9311" y="456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1"/>
            </a:solidFill>
            <a:ln>
              <a:noFill/>
            </a:ln>
          </p:spPr>
          <p:txBody>
            <a:bodyPr>
              <a:normAutofit/>
            </a:bodyPr>
            <a:lstStyle/>
            <a:p>
              <a:endParaRPr lang="zh-CN" altLang="en-US" dirty="0">
                <a:latin typeface="Times New Roman" panose="02020603050405020304" pitchFamily="18" charset="0"/>
              </a:endParaRPr>
            </a:p>
          </p:txBody>
        </p:sp>
        <p:sp>
          <p:nvSpPr>
            <p:cNvPr id="44" name="Freeform 5"/>
            <p:cNvSpPr/>
            <p:nvPr>
              <p:custDataLst>
                <p:tags r:id="rId3"/>
              </p:custDataLst>
            </p:nvPr>
          </p:nvSpPr>
          <p:spPr bwMode="auto">
            <a:xfrm rot="10800000">
              <a:off x="9368" y="8067"/>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2"/>
            </a:solidFill>
            <a:ln>
              <a:noFill/>
            </a:ln>
          </p:spPr>
          <p:txBody>
            <a:bodyPr>
              <a:normAutofit fontScale="67500" lnSpcReduction="20000"/>
            </a:bodyPr>
            <a:lstStyle/>
            <a:p>
              <a:endParaRPr lang="zh-CN" altLang="en-US" dirty="0">
                <a:latin typeface="Times New Roman" panose="02020603050405020304" pitchFamily="18" charset="0"/>
              </a:endParaRPr>
            </a:p>
          </p:txBody>
        </p:sp>
        <p:sp>
          <p:nvSpPr>
            <p:cNvPr id="45" name="Freeform 6"/>
            <p:cNvSpPr/>
            <p:nvPr>
              <p:custDataLst>
                <p:tags r:id="rId4"/>
              </p:custDataLst>
            </p:nvPr>
          </p:nvSpPr>
          <p:spPr bwMode="auto">
            <a:xfrm rot="10800000">
              <a:off x="9311" y="6703"/>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2"/>
            </a:solidFill>
            <a:ln>
              <a:noFill/>
            </a:ln>
          </p:spPr>
          <p:txBody>
            <a:bodyPr>
              <a:normAutofit/>
            </a:bodyPr>
            <a:lstStyle/>
            <a:p>
              <a:endParaRPr lang="zh-CN" altLang="en-US" dirty="0">
                <a:latin typeface="Times New Roman" panose="02020603050405020304" pitchFamily="18" charset="0"/>
              </a:endParaRPr>
            </a:p>
          </p:txBody>
        </p:sp>
        <p:sp>
          <p:nvSpPr>
            <p:cNvPr id="59" name="Freeform 5"/>
            <p:cNvSpPr/>
            <p:nvPr>
              <p:custDataLst>
                <p:tags r:id="rId5"/>
              </p:custDataLst>
            </p:nvPr>
          </p:nvSpPr>
          <p:spPr bwMode="auto">
            <a:xfrm rot="5400000">
              <a:off x="11361" y="6083"/>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3"/>
            </a:solidFill>
            <a:ln>
              <a:noFill/>
            </a:ln>
          </p:spPr>
          <p:txBody>
            <a:bodyPr>
              <a:normAutofit fontScale="82500" lnSpcReduction="20000"/>
            </a:bodyPr>
            <a:lstStyle/>
            <a:p>
              <a:endParaRPr lang="zh-CN" altLang="en-US" dirty="0">
                <a:latin typeface="Times New Roman" panose="02020603050405020304" pitchFamily="18" charset="0"/>
              </a:endParaRPr>
            </a:p>
          </p:txBody>
        </p:sp>
        <p:sp>
          <p:nvSpPr>
            <p:cNvPr id="60" name="Freeform 6"/>
            <p:cNvSpPr/>
            <p:nvPr>
              <p:custDataLst>
                <p:tags r:id="rId6"/>
              </p:custDataLst>
            </p:nvPr>
          </p:nvSpPr>
          <p:spPr bwMode="auto">
            <a:xfrm rot="5400000">
              <a:off x="10380"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3"/>
            </a:solidFill>
            <a:ln>
              <a:noFill/>
            </a:ln>
          </p:spPr>
          <p:txBody>
            <a:bodyPr>
              <a:normAutofit/>
            </a:bodyPr>
            <a:lstStyle/>
            <a:p>
              <a:endParaRPr lang="zh-CN" altLang="en-US" dirty="0">
                <a:latin typeface="Times New Roman" panose="02020603050405020304" pitchFamily="18" charset="0"/>
              </a:endParaRPr>
            </a:p>
          </p:txBody>
        </p:sp>
        <p:sp>
          <p:nvSpPr>
            <p:cNvPr id="61" name="Freeform 5"/>
            <p:cNvSpPr/>
            <p:nvPr>
              <p:custDataLst>
                <p:tags r:id="rId7"/>
              </p:custDataLst>
            </p:nvPr>
          </p:nvSpPr>
          <p:spPr bwMode="auto">
            <a:xfrm rot="16200000">
              <a:off x="7385" y="6075"/>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5"/>
            </a:solidFill>
            <a:ln>
              <a:noFill/>
            </a:ln>
          </p:spPr>
          <p:txBody>
            <a:bodyPr>
              <a:normAutofit fontScale="82500" lnSpcReduction="20000"/>
            </a:bodyPr>
            <a:lstStyle/>
            <a:p>
              <a:endParaRPr lang="zh-CN" altLang="en-US" dirty="0">
                <a:latin typeface="Times New Roman" panose="02020603050405020304" pitchFamily="18" charset="0"/>
              </a:endParaRPr>
            </a:p>
          </p:txBody>
        </p:sp>
        <p:sp>
          <p:nvSpPr>
            <p:cNvPr id="62" name="Freeform 6"/>
            <p:cNvSpPr/>
            <p:nvPr>
              <p:custDataLst>
                <p:tags r:id="rId8"/>
              </p:custDataLst>
            </p:nvPr>
          </p:nvSpPr>
          <p:spPr bwMode="auto">
            <a:xfrm rot="16200000">
              <a:off x="8241"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5"/>
            </a:solidFill>
            <a:ln>
              <a:noFill/>
            </a:ln>
          </p:spPr>
          <p:txBody>
            <a:bodyPr>
              <a:normAutofit/>
            </a:bodyPr>
            <a:lstStyle/>
            <a:p>
              <a:endParaRPr lang="zh-CN" altLang="en-US" dirty="0">
                <a:latin typeface="Times New Roman" panose="02020603050405020304" pitchFamily="18" charset="0"/>
              </a:endParaRPr>
            </a:p>
          </p:txBody>
        </p:sp>
        <p:sp>
          <p:nvSpPr>
            <p:cNvPr id="65" name="Freeform 13"/>
            <p:cNvSpPr/>
            <p:nvPr>
              <p:custDataLst>
                <p:tags r:id="rId9"/>
              </p:custDataLst>
            </p:nvPr>
          </p:nvSpPr>
          <p:spPr bwMode="auto">
            <a:xfrm rot="13352992">
              <a:off x="10435" y="4379"/>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1"/>
            </a:solidFill>
            <a:ln>
              <a:noFill/>
            </a:ln>
          </p:spPr>
          <p:txBody>
            <a:bodyPr>
              <a:normAutofit fontScale="62500" lnSpcReduction="20000"/>
            </a:bodyPr>
            <a:lstStyle/>
            <a:p>
              <a:endParaRPr lang="zh-CN" altLang="en-US" dirty="0">
                <a:latin typeface="Times New Roman" panose="02020603050405020304" pitchFamily="18" charset="0"/>
              </a:endParaRPr>
            </a:p>
          </p:txBody>
        </p:sp>
        <p:sp>
          <p:nvSpPr>
            <p:cNvPr id="66" name="Freeform 14"/>
            <p:cNvSpPr/>
            <p:nvPr>
              <p:custDataLst>
                <p:tags r:id="rId10"/>
              </p:custDataLst>
            </p:nvPr>
          </p:nvSpPr>
          <p:spPr bwMode="auto">
            <a:xfrm rot="13352992">
              <a:off x="11306" y="4964"/>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1"/>
            </a:solidFill>
            <a:ln>
              <a:noFill/>
            </a:ln>
          </p:spPr>
          <p:txBody>
            <a:bodyPr>
              <a:normAutofit fontScale="25000" lnSpcReduction="20000"/>
            </a:bodyPr>
            <a:lstStyle/>
            <a:p>
              <a:endParaRPr lang="zh-CN" altLang="en-US" dirty="0">
                <a:latin typeface="Times New Roman" panose="02020603050405020304" pitchFamily="18" charset="0"/>
              </a:endParaRPr>
            </a:p>
          </p:txBody>
        </p:sp>
        <p:sp>
          <p:nvSpPr>
            <p:cNvPr id="67" name="Freeform 13"/>
            <p:cNvSpPr/>
            <p:nvPr>
              <p:custDataLst>
                <p:tags r:id="rId11"/>
              </p:custDataLst>
            </p:nvPr>
          </p:nvSpPr>
          <p:spPr bwMode="auto">
            <a:xfrm rot="2552992">
              <a:off x="7354" y="7613"/>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2"/>
            </a:solidFill>
            <a:ln>
              <a:noFill/>
            </a:ln>
          </p:spPr>
          <p:txBody>
            <a:bodyPr>
              <a:normAutofit fontScale="62500" lnSpcReduction="20000"/>
            </a:bodyPr>
            <a:lstStyle/>
            <a:p>
              <a:endParaRPr lang="zh-CN" altLang="en-US" dirty="0">
                <a:latin typeface="Times New Roman" panose="02020603050405020304" pitchFamily="18" charset="0"/>
              </a:endParaRPr>
            </a:p>
          </p:txBody>
        </p:sp>
        <p:sp>
          <p:nvSpPr>
            <p:cNvPr id="70" name="Freeform 14"/>
            <p:cNvSpPr/>
            <p:nvPr>
              <p:custDataLst>
                <p:tags r:id="rId12"/>
              </p:custDataLst>
            </p:nvPr>
          </p:nvSpPr>
          <p:spPr bwMode="auto">
            <a:xfrm rot="2552992">
              <a:off x="7558" y="7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2"/>
            </a:solidFill>
            <a:ln>
              <a:noFill/>
            </a:ln>
          </p:spPr>
          <p:txBody>
            <a:bodyPr>
              <a:normAutofit fontScale="25000" lnSpcReduction="20000"/>
            </a:bodyPr>
            <a:lstStyle/>
            <a:p>
              <a:endParaRPr lang="zh-CN" altLang="en-US" dirty="0">
                <a:latin typeface="Times New Roman" panose="02020603050405020304" pitchFamily="18" charset="0"/>
              </a:endParaRPr>
            </a:p>
          </p:txBody>
        </p:sp>
        <p:sp>
          <p:nvSpPr>
            <p:cNvPr id="72" name="Freeform 13"/>
            <p:cNvSpPr/>
            <p:nvPr>
              <p:custDataLst>
                <p:tags r:id="rId13"/>
              </p:custDataLst>
            </p:nvPr>
          </p:nvSpPr>
          <p:spPr bwMode="auto">
            <a:xfrm rot="18752992">
              <a:off x="10511" y="753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3"/>
            </a:solidFill>
            <a:ln>
              <a:noFill/>
            </a:ln>
          </p:spPr>
          <p:txBody>
            <a:bodyPr>
              <a:normAutofit fontScale="85000" lnSpcReduction="20000"/>
            </a:bodyPr>
            <a:lstStyle/>
            <a:p>
              <a:endParaRPr lang="zh-CN" altLang="en-US" dirty="0">
                <a:latin typeface="Times New Roman" panose="02020603050405020304" pitchFamily="18" charset="0"/>
              </a:endParaRPr>
            </a:p>
          </p:txBody>
        </p:sp>
        <p:sp>
          <p:nvSpPr>
            <p:cNvPr id="75" name="Freeform 14"/>
            <p:cNvSpPr/>
            <p:nvPr>
              <p:custDataLst>
                <p:tags r:id="rId14"/>
              </p:custDataLst>
            </p:nvPr>
          </p:nvSpPr>
          <p:spPr bwMode="auto">
            <a:xfrm rot="18752992">
              <a:off x="10558" y="7965"/>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3"/>
            </a:solidFill>
            <a:ln>
              <a:noFill/>
            </a:ln>
          </p:spPr>
          <p:txBody>
            <a:bodyPr>
              <a:normAutofit fontScale="32500" lnSpcReduction="20000"/>
            </a:bodyPr>
            <a:lstStyle/>
            <a:p>
              <a:endParaRPr lang="zh-CN" altLang="en-US" dirty="0">
                <a:latin typeface="Times New Roman" panose="02020603050405020304" pitchFamily="18" charset="0"/>
              </a:endParaRPr>
            </a:p>
          </p:txBody>
        </p:sp>
        <p:sp>
          <p:nvSpPr>
            <p:cNvPr id="76" name="Freeform 13"/>
            <p:cNvSpPr/>
            <p:nvPr>
              <p:custDataLst>
                <p:tags r:id="rId15"/>
              </p:custDataLst>
            </p:nvPr>
          </p:nvSpPr>
          <p:spPr bwMode="auto">
            <a:xfrm rot="7952992">
              <a:off x="7278" y="445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5"/>
            </a:solidFill>
            <a:ln>
              <a:noFill/>
            </a:ln>
          </p:spPr>
          <p:txBody>
            <a:bodyPr>
              <a:normAutofit fontScale="85000" lnSpcReduction="20000"/>
            </a:bodyPr>
            <a:lstStyle/>
            <a:p>
              <a:endParaRPr lang="zh-CN" altLang="en-US" dirty="0">
                <a:latin typeface="Times New Roman" panose="02020603050405020304" pitchFamily="18" charset="0"/>
              </a:endParaRPr>
            </a:p>
          </p:txBody>
        </p:sp>
        <p:sp>
          <p:nvSpPr>
            <p:cNvPr id="77" name="Freeform 14"/>
            <p:cNvSpPr/>
            <p:nvPr>
              <p:custDataLst>
                <p:tags r:id="rId16"/>
              </p:custDataLst>
            </p:nvPr>
          </p:nvSpPr>
          <p:spPr bwMode="auto">
            <a:xfrm rot="7952992">
              <a:off x="8306" y="4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5"/>
            </a:solidFill>
            <a:ln>
              <a:noFill/>
            </a:ln>
          </p:spPr>
          <p:txBody>
            <a:bodyPr>
              <a:normAutofit fontScale="32500" lnSpcReduction="20000"/>
            </a:bodyPr>
            <a:lstStyle/>
            <a:p>
              <a:endParaRPr lang="zh-CN" altLang="en-US" dirty="0">
                <a:latin typeface="Times New Roman" panose="02020603050405020304" pitchFamily="18" charset="0"/>
              </a:endParaRPr>
            </a:p>
          </p:txBody>
        </p:sp>
        <p:sp>
          <p:nvSpPr>
            <p:cNvPr id="47" name="文本框 17"/>
            <p:cNvSpPr txBox="1">
              <a:spLocks noChangeArrowheads="1"/>
            </p:cNvSpPr>
            <p:nvPr>
              <p:custDataLst>
                <p:tags r:id="rId17"/>
              </p:custDataLst>
            </p:nvPr>
          </p:nvSpPr>
          <p:spPr bwMode="auto">
            <a:xfrm>
              <a:off x="4102" y="4057"/>
              <a:ext cx="3403"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Times New Roman" panose="02020603050405020304" pitchFamily="18" charset="0"/>
                  <a:ea typeface="+mj-ea"/>
                  <a:cs typeface="+mj-cs"/>
                </a:rPr>
                <a:t>（</a:t>
              </a:r>
              <a:r>
                <a:rPr lang="en-US" altLang="zh-CN" sz="1800" b="1" dirty="0">
                  <a:latin typeface="Times New Roman" panose="02020603050405020304" pitchFamily="18" charset="0"/>
                  <a:ea typeface="+mj-ea"/>
                  <a:cs typeface="+mj-cs"/>
                </a:rPr>
                <a:t>1</a:t>
              </a:r>
              <a:r>
                <a:rPr lang="zh-CN" altLang="en-US" sz="1800" b="1" dirty="0">
                  <a:latin typeface="Times New Roman" panose="02020603050405020304" pitchFamily="18" charset="0"/>
                  <a:ea typeface="+mj-ea"/>
                  <a:cs typeface="+mj-cs"/>
                </a:rPr>
                <a:t>）</a:t>
              </a:r>
              <a:r>
                <a:rPr sz="1800" b="1" dirty="0">
                  <a:latin typeface="微软雅黑" panose="020B0503020204020204" charset="-122"/>
                  <a:ea typeface="微软雅黑" panose="020B0503020204020204" charset="-122"/>
                  <a:sym typeface="+mn-ea"/>
                </a:rPr>
                <a:t>测试内容</a:t>
              </a:r>
              <a:endParaRPr lang="zh-CN" altLang="en-US" sz="1800" b="1" dirty="0">
                <a:latin typeface="Times New Roman" panose="02020603050405020304" pitchFamily="18" charset="0"/>
                <a:ea typeface="+mj-ea"/>
                <a:cs typeface="+mj-cs"/>
              </a:endParaRPr>
            </a:p>
          </p:txBody>
        </p:sp>
        <p:sp>
          <p:nvSpPr>
            <p:cNvPr id="51" name="文本框 23"/>
            <p:cNvSpPr txBox="1">
              <a:spLocks noChangeArrowheads="1"/>
            </p:cNvSpPr>
            <p:nvPr>
              <p:custDataLst>
                <p:tags r:id="rId18"/>
              </p:custDataLst>
            </p:nvPr>
          </p:nvSpPr>
          <p:spPr bwMode="auto">
            <a:xfrm>
              <a:off x="3934" y="7876"/>
              <a:ext cx="3738"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Times New Roman" panose="02020603050405020304" pitchFamily="18" charset="0"/>
                  <a:ea typeface="+mj-ea"/>
                  <a:cs typeface="+mj-cs"/>
                </a:rPr>
                <a:t>（</a:t>
              </a:r>
              <a:r>
                <a:rPr lang="en-US" altLang="zh-CN" sz="1800" b="1" dirty="0">
                  <a:latin typeface="Times New Roman" panose="02020603050405020304" pitchFamily="18" charset="0"/>
                  <a:ea typeface="+mj-ea"/>
                  <a:cs typeface="+mj-cs"/>
                </a:rPr>
                <a:t>3</a:t>
              </a:r>
              <a:r>
                <a:rPr lang="zh-CN" altLang="en-US" sz="1800" b="1" dirty="0">
                  <a:latin typeface="Times New Roman" panose="02020603050405020304" pitchFamily="18" charset="0"/>
                  <a:ea typeface="+mj-ea"/>
                  <a:cs typeface="+mj-cs"/>
                </a:rPr>
                <a:t>）</a:t>
              </a:r>
              <a:r>
                <a:rPr sz="1800" b="1" dirty="0">
                  <a:latin typeface="微软雅黑" panose="020B0503020204020204" charset="-122"/>
                  <a:ea typeface="微软雅黑" panose="020B0503020204020204" charset="-122"/>
                  <a:sym typeface="+mn-ea"/>
                </a:rPr>
                <a:t>设计考虑</a:t>
              </a:r>
              <a:endParaRPr lang="zh-CN" altLang="en-US" sz="1800" b="1" dirty="0">
                <a:latin typeface="Times New Roman" panose="02020603050405020304" pitchFamily="18" charset="0"/>
                <a:ea typeface="+mj-ea"/>
                <a:cs typeface="+mj-cs"/>
              </a:endParaRPr>
            </a:p>
          </p:txBody>
        </p:sp>
        <p:sp>
          <p:nvSpPr>
            <p:cNvPr id="86" name="文本框 17"/>
            <p:cNvSpPr txBox="1">
              <a:spLocks noChangeArrowheads="1"/>
            </p:cNvSpPr>
            <p:nvPr>
              <p:custDataLst>
                <p:tags r:id="rId19"/>
              </p:custDataLst>
            </p:nvPr>
          </p:nvSpPr>
          <p:spPr bwMode="auto">
            <a:xfrm>
              <a:off x="11815" y="3954"/>
              <a:ext cx="3468"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Times New Roman" panose="02020603050405020304" pitchFamily="18" charset="0"/>
                  <a:ea typeface="+mj-ea"/>
                  <a:cs typeface="+mj-cs"/>
                </a:rPr>
                <a:t>（</a:t>
              </a:r>
              <a:r>
                <a:rPr lang="en-US" altLang="zh-CN" sz="1800" b="1" dirty="0">
                  <a:latin typeface="Times New Roman" panose="02020603050405020304" pitchFamily="18" charset="0"/>
                  <a:ea typeface="+mj-ea"/>
                  <a:cs typeface="+mj-cs"/>
                </a:rPr>
                <a:t>2</a:t>
              </a:r>
              <a:r>
                <a:rPr lang="zh-CN" altLang="en-US" sz="1800" b="1" dirty="0">
                  <a:latin typeface="Times New Roman" panose="02020603050405020304" pitchFamily="18" charset="0"/>
                  <a:ea typeface="+mj-ea"/>
                  <a:cs typeface="+mj-cs"/>
                </a:rPr>
                <a:t>）</a:t>
              </a:r>
              <a:r>
                <a:rPr sz="1800" b="1" dirty="0" err="1">
                  <a:latin typeface="微软雅黑" panose="020B0503020204020204" charset="-122"/>
                  <a:ea typeface="微软雅黑" panose="020B0503020204020204" charset="-122"/>
                  <a:sym typeface="+mn-ea"/>
                </a:rPr>
                <a:t>进度安排</a:t>
              </a:r>
              <a:endParaRPr lang="zh-CN" altLang="en-US" sz="1800" b="1" dirty="0">
                <a:latin typeface="Times New Roman" panose="02020603050405020304" pitchFamily="18" charset="0"/>
                <a:ea typeface="+mj-ea"/>
                <a:cs typeface="+mj-cs"/>
              </a:endParaRPr>
            </a:p>
          </p:txBody>
        </p:sp>
        <p:sp>
          <p:nvSpPr>
            <p:cNvPr id="84" name="文本框 23"/>
            <p:cNvSpPr txBox="1">
              <a:spLocks noChangeArrowheads="1"/>
            </p:cNvSpPr>
            <p:nvPr>
              <p:custDataLst>
                <p:tags r:id="rId20"/>
              </p:custDataLst>
            </p:nvPr>
          </p:nvSpPr>
          <p:spPr bwMode="auto">
            <a:xfrm>
              <a:off x="11757" y="7876"/>
              <a:ext cx="7147"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Times New Roman" panose="02020603050405020304" pitchFamily="18" charset="0"/>
                  <a:ea typeface="+mj-ea"/>
                  <a:cs typeface="+mj-cs"/>
                </a:rPr>
                <a:t>（</a:t>
              </a:r>
              <a:r>
                <a:rPr lang="en-US" altLang="zh-CN" sz="1800" b="1" dirty="0">
                  <a:latin typeface="Times New Roman" panose="02020603050405020304" pitchFamily="18" charset="0"/>
                  <a:ea typeface="+mj-ea"/>
                  <a:cs typeface="+mj-cs"/>
                </a:rPr>
                <a:t>4</a:t>
              </a:r>
              <a:r>
                <a:rPr lang="zh-CN" altLang="en-US" sz="1800" b="1" dirty="0">
                  <a:latin typeface="Times New Roman" panose="02020603050405020304" pitchFamily="18" charset="0"/>
                  <a:ea typeface="+mj-ea"/>
                  <a:cs typeface="+mj-cs"/>
                </a:rPr>
                <a:t>）</a:t>
              </a:r>
              <a:r>
                <a:rPr sz="1800" b="1" dirty="0" err="1">
                  <a:latin typeface="微软雅黑" panose="020B0503020204020204" charset="-122"/>
                  <a:ea typeface="微软雅黑" panose="020B0503020204020204" charset="-122"/>
                  <a:sym typeface="+mn-ea"/>
                </a:rPr>
                <a:t>测试数据的整理方法及评价准则等</a:t>
              </a:r>
              <a:endParaRPr lang="zh-CN" altLang="en-US" sz="1800" b="1" dirty="0">
                <a:latin typeface="Times New Roman" panose="02020603050405020304" pitchFamily="18" charset="0"/>
                <a:ea typeface="+mj-ea"/>
                <a:cs typeface="+mj-cs"/>
              </a:endParaRPr>
            </a:p>
          </p:txBody>
        </p:sp>
      </p:grpSp>
      <p:sp>
        <p:nvSpPr>
          <p:cNvPr id="30" name="文本框 13"/>
          <p:cNvSpPr txBox="1"/>
          <p:nvPr/>
        </p:nvSpPr>
        <p:spPr>
          <a:xfrm>
            <a:off x="696001" y="2127459"/>
            <a:ext cx="10631642" cy="707886"/>
          </a:xfrm>
          <a:prstGeom prst="rect">
            <a:avLst/>
          </a:prstGeom>
          <a:noFill/>
        </p:spPr>
        <p:txBody>
          <a:bodyPr wrap="square" rtlCol="0" anchor="t">
            <a:spAutoFit/>
          </a:bodyPr>
          <a:lstStyle/>
          <a:p>
            <a:pPr indent="457200"/>
            <a:r>
              <a:rPr lang="zh-CN" altLang="en-US" sz="2000" dirty="0">
                <a:latin typeface="Times New Roman" panose="02020603050405020304" pitchFamily="18" charset="0"/>
              </a:rPr>
              <a:t>软件测试计划描述测试活动的</a:t>
            </a:r>
            <a:r>
              <a:rPr lang="zh-CN" altLang="en-US" sz="2000" dirty="0">
                <a:solidFill>
                  <a:schemeClr val="accent2"/>
                </a:solidFill>
                <a:latin typeface="Times New Roman" panose="02020603050405020304" pitchFamily="18" charset="0"/>
              </a:rPr>
              <a:t>范围</a:t>
            </a:r>
            <a:r>
              <a:rPr lang="zh-CN" altLang="en-US" sz="2000" dirty="0">
                <a:latin typeface="Times New Roman" panose="02020603050405020304" pitchFamily="18" charset="0"/>
              </a:rPr>
              <a:t>、</a:t>
            </a:r>
            <a:r>
              <a:rPr lang="zh-CN" altLang="en-US" sz="2000" dirty="0">
                <a:solidFill>
                  <a:schemeClr val="accent2"/>
                </a:solidFill>
                <a:latin typeface="Times New Roman" panose="02020603050405020304" pitchFamily="18" charset="0"/>
              </a:rPr>
              <a:t>方法</a:t>
            </a:r>
            <a:r>
              <a:rPr lang="zh-CN" altLang="en-US" sz="2000" dirty="0">
                <a:latin typeface="Times New Roman" panose="02020603050405020304" pitchFamily="18" charset="0"/>
              </a:rPr>
              <a:t>、</a:t>
            </a:r>
            <a:r>
              <a:rPr lang="zh-CN" altLang="en-US" sz="2000" dirty="0">
                <a:solidFill>
                  <a:schemeClr val="accent2"/>
                </a:solidFill>
                <a:latin typeface="Times New Roman" panose="02020603050405020304" pitchFamily="18" charset="0"/>
              </a:rPr>
              <a:t>资源</a:t>
            </a:r>
            <a:r>
              <a:rPr lang="zh-CN" altLang="en-US" sz="2000" dirty="0">
                <a:latin typeface="Times New Roman" panose="02020603050405020304" pitchFamily="18" charset="0"/>
              </a:rPr>
              <a:t>和</a:t>
            </a:r>
            <a:r>
              <a:rPr lang="zh-CN" altLang="en-US" sz="2000" dirty="0">
                <a:solidFill>
                  <a:schemeClr val="accent2"/>
                </a:solidFill>
                <a:latin typeface="Times New Roman" panose="02020603050405020304" pitchFamily="18" charset="0"/>
              </a:rPr>
              <a:t>进度</a:t>
            </a:r>
            <a:r>
              <a:rPr lang="zh-CN" altLang="en-US" sz="2000" dirty="0">
                <a:latin typeface="Times New Roman" panose="02020603050405020304" pitchFamily="18" charset="0"/>
              </a:rPr>
              <a:t>。规定被测试的项、特性、应完成的测试任务、承担各项工作的人员职责及与本计划有关的风险等。</a:t>
            </a:r>
          </a:p>
        </p:txBody>
      </p:sp>
    </p:spTree>
  </p:cSld>
  <p:clrMapOvr>
    <a:masterClrMapping/>
  </p:clrMapOvr>
  <p:transition>
    <p:randomBar dir="vert"/>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zh-CN" altLang="en-US">
                <a:sym typeface="+mn-ea"/>
              </a:rPr>
              <a:t>4.8 软件测试文档</a:t>
            </a:r>
            <a:endParaRPr lang="zh-CN" altLang="en-US"/>
          </a:p>
        </p:txBody>
      </p:sp>
      <p:sp>
        <p:nvSpPr>
          <p:cNvPr id="10" name="文本占位符 9">
            <a:extLst>
              <a:ext uri="{FF2B5EF4-FFF2-40B4-BE49-F238E27FC236}">
                <a16:creationId xmlns:a16="http://schemas.microsoft.com/office/drawing/2014/main" id="{E8B1CF0D-70D1-E26E-F1FF-22CFD6DBAE1F}"/>
              </a:ext>
            </a:extLst>
          </p:cNvPr>
          <p:cNvSpPr>
            <a:spLocks noGrp="1"/>
          </p:cNvSpPr>
          <p:nvPr>
            <p:ph type="body" sz="quarter" idx="10"/>
          </p:nvPr>
        </p:nvSpPr>
        <p:spPr>
          <a:xfrm>
            <a:off x="696000" y="1322832"/>
            <a:ext cx="5400000" cy="400110"/>
          </a:xfrm>
        </p:spPr>
        <p:txBody>
          <a:bodyPr/>
          <a:lstStyle/>
          <a:p>
            <a:r>
              <a:rPr lang="en-US" altLang="zh-CN" dirty="0"/>
              <a:t>4.8.2 </a:t>
            </a:r>
            <a:r>
              <a:rPr lang="zh-CN" altLang="zh-CN" dirty="0"/>
              <a:t>软件测试说明</a:t>
            </a:r>
          </a:p>
        </p:txBody>
      </p:sp>
      <p:sp>
        <p:nvSpPr>
          <p:cNvPr id="14" name="文本占位符 13">
            <a:extLst>
              <a:ext uri="{FF2B5EF4-FFF2-40B4-BE49-F238E27FC236}">
                <a16:creationId xmlns:a16="http://schemas.microsoft.com/office/drawing/2014/main" id="{7DEAC0A0-6D43-C3F8-B95C-564BB87B6E45}"/>
              </a:ext>
            </a:extLst>
          </p:cNvPr>
          <p:cNvSpPr>
            <a:spLocks noGrp="1"/>
          </p:cNvSpPr>
          <p:nvPr>
            <p:ph type="body" sz="quarter" idx="11"/>
          </p:nvPr>
        </p:nvSpPr>
        <p:spPr/>
        <p:txBody>
          <a:bodyPr/>
          <a:lstStyle/>
          <a:p>
            <a:endParaRPr lang="zh-CN" altLang="en-US"/>
          </a:p>
        </p:txBody>
      </p:sp>
      <p:grpSp>
        <p:nvGrpSpPr>
          <p:cNvPr id="2" name="组合 1"/>
          <p:cNvGrpSpPr/>
          <p:nvPr/>
        </p:nvGrpSpPr>
        <p:grpSpPr>
          <a:xfrm>
            <a:off x="1007745" y="2061210"/>
            <a:ext cx="9939976" cy="4006850"/>
            <a:chOff x="677" y="2256"/>
            <a:chExt cx="18064" cy="7820"/>
          </a:xfrm>
        </p:grpSpPr>
        <p:grpSp>
          <p:nvGrpSpPr>
            <p:cNvPr id="6" name="组合 5"/>
            <p:cNvGrpSpPr/>
            <p:nvPr/>
          </p:nvGrpSpPr>
          <p:grpSpPr>
            <a:xfrm>
              <a:off x="677" y="2256"/>
              <a:ext cx="17811" cy="4369"/>
              <a:chOff x="677" y="2256"/>
              <a:chExt cx="17811" cy="4369"/>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Times New Roman" panose="02020603050405020304" pitchFamily="18" charset="0"/>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Times New Roman" panose="02020603050405020304" pitchFamily="18" charset="0"/>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Times New Roman" panose="02020603050405020304" pitchFamily="18" charset="0"/>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mn-ea"/>
                  <a:sym typeface="Arial" panose="020B0604020202020204" pitchFamily="34" charset="0"/>
                </a:endParaRPr>
              </a:p>
            </p:txBody>
          </p:sp>
          <p:sp>
            <p:nvSpPr>
              <p:cNvPr id="17420" name="Text Box 10"/>
              <p:cNvSpPr txBox="1">
                <a:spLocks noChangeArrowheads="1"/>
              </p:cNvSpPr>
              <p:nvPr>
                <p:custDataLst>
                  <p:tags r:id="rId9"/>
                </p:custDataLst>
              </p:nvPr>
            </p:nvSpPr>
            <p:spPr bwMode="auto">
              <a:xfrm>
                <a:off x="677" y="5283"/>
                <a:ext cx="5244" cy="13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dirty="0" err="1">
                    <a:latin typeface="微软雅黑" panose="020B0503020204020204" charset="-122"/>
                    <a:ea typeface="微软雅黑" panose="020B0503020204020204" charset="-122"/>
                    <a:sym typeface="+mn-ea"/>
                  </a:rPr>
                  <a:t>测试设计说明</a:t>
                </a:r>
                <a:endParaRPr lang="zh-CN" altLang="zh-CN" sz="2400" b="1" dirty="0">
                  <a:solidFill>
                    <a:schemeClr val="tx2"/>
                  </a:solidFill>
                  <a:latin typeface="Times New Roman" panose="02020603050405020304" pitchFamily="18" charset="0"/>
                  <a:ea typeface="+mj-ea"/>
                  <a:cs typeface="+mj-cs"/>
                </a:endParaRPr>
              </a:p>
            </p:txBody>
          </p:sp>
          <p:sp>
            <p:nvSpPr>
              <p:cNvPr id="17421" name="Text Box 11"/>
              <p:cNvSpPr txBox="1">
                <a:spLocks noChangeArrowheads="1"/>
              </p:cNvSpPr>
              <p:nvPr>
                <p:custDataLst>
                  <p:tags r:id="rId10"/>
                </p:custDataLst>
              </p:nvPr>
            </p:nvSpPr>
            <p:spPr bwMode="auto">
              <a:xfrm>
                <a:off x="6961" y="5283"/>
                <a:ext cx="5244" cy="13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dirty="0" err="1">
                    <a:latin typeface="微软雅黑" panose="020B0503020204020204" charset="-122"/>
                    <a:ea typeface="微软雅黑" panose="020B0503020204020204" charset="-122"/>
                    <a:sym typeface="+mn-ea"/>
                  </a:rPr>
                  <a:t>测试用例说明</a:t>
                </a:r>
                <a:endParaRPr lang="zh-CN" altLang="zh-CN" sz="2400" b="1" dirty="0">
                  <a:solidFill>
                    <a:schemeClr val="tx2"/>
                  </a:solidFill>
                  <a:latin typeface="Times New Roman" panose="02020603050405020304" pitchFamily="18" charset="0"/>
                  <a:ea typeface="+mj-ea"/>
                  <a:cs typeface="+mj-cs"/>
                </a:endParaRPr>
              </a:p>
            </p:txBody>
          </p:sp>
          <p:sp>
            <p:nvSpPr>
              <p:cNvPr id="17422" name="Text Box 12"/>
              <p:cNvSpPr txBox="1">
                <a:spLocks noChangeArrowheads="1"/>
              </p:cNvSpPr>
              <p:nvPr>
                <p:custDataLst>
                  <p:tags r:id="rId11"/>
                </p:custDataLst>
              </p:nvPr>
            </p:nvSpPr>
            <p:spPr bwMode="auto">
              <a:xfrm>
                <a:off x="13244" y="5283"/>
                <a:ext cx="5244" cy="13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dirty="0" err="1">
                    <a:latin typeface="微软雅黑" panose="020B0503020204020204" charset="-122"/>
                    <a:ea typeface="微软雅黑" panose="020B0503020204020204" charset="-122"/>
                    <a:sym typeface="+mn-ea"/>
                  </a:rPr>
                  <a:t>测试规程说明</a:t>
                </a:r>
                <a:endParaRPr lang="zh-CN" altLang="zh-CN" sz="2400" b="1" dirty="0">
                  <a:solidFill>
                    <a:schemeClr val="tx2"/>
                  </a:solidFill>
                  <a:latin typeface="Times New Roman" panose="02020603050405020304" pitchFamily="18" charset="0"/>
                  <a:ea typeface="+mj-ea"/>
                  <a:cs typeface="+mj-cs"/>
                </a:endParaRPr>
              </a:p>
            </p:txBody>
          </p:sp>
        </p:grpSp>
        <p:sp>
          <p:nvSpPr>
            <p:cNvPr id="4" name="文本框 3"/>
            <p:cNvSpPr txBox="1"/>
            <p:nvPr>
              <p:custDataLst>
                <p:tags r:id="rId1"/>
              </p:custDataLst>
            </p:nvPr>
          </p:nvSpPr>
          <p:spPr>
            <a:xfrm>
              <a:off x="677" y="6626"/>
              <a:ext cx="524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buClrTx/>
              </a:pPr>
              <a:r>
                <a:rPr lang="en-US" altLang="zh-CN" dirty="0">
                  <a:latin typeface="Times New Roman" panose="02020603050405020304" pitchFamily="18" charset="0"/>
                </a:rPr>
                <a:t>        </a:t>
              </a:r>
              <a:r>
                <a:rPr dirty="0" err="1">
                  <a:latin typeface="微软雅黑" panose="020B0503020204020204" charset="-122"/>
                  <a:ea typeface="微软雅黑" panose="020B0503020204020204" charset="-122"/>
                  <a:sym typeface="+mn-ea"/>
                </a:rPr>
                <a:t>每项测试的控制、输入、输出、过程，评价准则、范围、数据整理、评价尺度等</a:t>
              </a:r>
              <a:r>
                <a:rPr dirty="0">
                  <a:latin typeface="微软雅黑" panose="020B0503020204020204" charset="-122"/>
                  <a:ea typeface="微软雅黑" panose="020B0503020204020204" charset="-122"/>
                  <a:sym typeface="+mn-ea"/>
                </a:rPr>
                <a:t>。</a:t>
              </a:r>
              <a:endParaRPr lang="zh-CN" altLang="en-US" dirty="0">
                <a:latin typeface="Times New Roman" panose="02020603050405020304" pitchFamily="18" charset="0"/>
              </a:endParaRPr>
            </a:p>
          </p:txBody>
        </p:sp>
        <p:sp>
          <p:nvSpPr>
            <p:cNvPr id="5" name="文本框 4"/>
            <p:cNvSpPr txBox="1"/>
            <p:nvPr>
              <p:custDataLst>
                <p:tags r:id="rId2"/>
              </p:custDataLst>
            </p:nvPr>
          </p:nvSpPr>
          <p:spPr>
            <a:xfrm>
              <a:off x="6964" y="6626"/>
              <a:ext cx="524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buClrTx/>
              </a:pPr>
              <a:r>
                <a:rPr lang="en-US" altLang="zh-CN" dirty="0">
                  <a:latin typeface="Times New Roman" panose="02020603050405020304" pitchFamily="18" charset="0"/>
                </a:rPr>
                <a:t>       </a:t>
              </a:r>
              <a:r>
                <a:rPr dirty="0" err="1">
                  <a:latin typeface="微软雅黑" panose="020B0503020204020204" charset="-122"/>
                  <a:ea typeface="微软雅黑" panose="020B0503020204020204" charset="-122"/>
                  <a:sym typeface="+mn-ea"/>
                </a:rPr>
                <a:t>输入值以及对应的输出结果，在使用具体测试用例时对测试规程的限制</a:t>
              </a:r>
              <a:r>
                <a:rPr dirty="0">
                  <a:latin typeface="微软雅黑" panose="020B0503020204020204" charset="-122"/>
                  <a:ea typeface="微软雅黑" panose="020B0503020204020204" charset="-122"/>
                  <a:sym typeface="+mn-ea"/>
                </a:rPr>
                <a:t>。</a:t>
              </a:r>
              <a:endParaRPr lang="zh-CN" altLang="en-US" dirty="0">
                <a:latin typeface="Times New Roman" panose="02020603050405020304" pitchFamily="18" charset="0"/>
              </a:endParaRPr>
            </a:p>
          </p:txBody>
        </p:sp>
        <p:sp>
          <p:nvSpPr>
            <p:cNvPr id="8" name="文本框 7"/>
            <p:cNvSpPr txBox="1"/>
            <p:nvPr>
              <p:custDataLst>
                <p:tags r:id="rId3"/>
              </p:custDataLst>
            </p:nvPr>
          </p:nvSpPr>
          <p:spPr>
            <a:xfrm>
              <a:off x="13250" y="6626"/>
              <a:ext cx="549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buClrTx/>
              </a:pPr>
              <a:r>
                <a:rPr lang="en-US" altLang="zh-CN" dirty="0">
                  <a:latin typeface="Times New Roman" panose="02020603050405020304" pitchFamily="18" charset="0"/>
                </a:rPr>
                <a:t>       </a:t>
              </a:r>
              <a:r>
                <a:rPr dirty="0" err="1">
                  <a:latin typeface="微软雅黑" panose="020B0503020204020204" charset="-122"/>
                  <a:ea typeface="微软雅黑" panose="020B0503020204020204" charset="-122"/>
                  <a:sym typeface="+mn-ea"/>
                </a:rPr>
                <a:t>规定对于系统和执行指定的测试用例来实现测试设计所要求的所有步骤</a:t>
              </a:r>
              <a:r>
                <a:rPr dirty="0">
                  <a:latin typeface="微软雅黑" panose="020B0503020204020204" charset="-122"/>
                  <a:ea typeface="微软雅黑" panose="020B0503020204020204" charset="-122"/>
                  <a:sym typeface="+mn-ea"/>
                </a:rPr>
                <a:t>。</a:t>
              </a:r>
              <a:endParaRPr lang="zh-CN" altLang="en-US" dirty="0">
                <a:latin typeface="Times New Roman" panose="02020603050405020304" pitchFamily="18" charset="0"/>
              </a:endParaRPr>
            </a:p>
          </p:txBody>
        </p:sp>
      </p:grpSp>
    </p:spTree>
  </p:cSld>
  <p:clrMapOvr>
    <a:masterClrMapping/>
  </p:clrMapOvr>
  <p:transition>
    <p:randomBar dir="vert"/>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zh-CN" altLang="en-US" dirty="0">
                <a:sym typeface="+mn-ea"/>
              </a:rPr>
              <a:t>4.8 软件测试文档</a:t>
            </a:r>
            <a:endParaRPr lang="zh-CN" altLang="en-US" dirty="0"/>
          </a:p>
        </p:txBody>
      </p:sp>
      <p:sp>
        <p:nvSpPr>
          <p:cNvPr id="4" name="文本占位符 3">
            <a:extLst>
              <a:ext uri="{FF2B5EF4-FFF2-40B4-BE49-F238E27FC236}">
                <a16:creationId xmlns:a16="http://schemas.microsoft.com/office/drawing/2014/main" id="{D0047BBC-2F5F-D89E-59D7-B9581976D392}"/>
              </a:ext>
            </a:extLst>
          </p:cNvPr>
          <p:cNvSpPr>
            <a:spLocks noGrp="1"/>
          </p:cNvSpPr>
          <p:nvPr>
            <p:ph type="body" sz="quarter" idx="10"/>
          </p:nvPr>
        </p:nvSpPr>
        <p:spPr>
          <a:xfrm>
            <a:off x="696000" y="1322832"/>
            <a:ext cx="5400000" cy="400110"/>
          </a:xfrm>
        </p:spPr>
        <p:txBody>
          <a:bodyPr/>
          <a:lstStyle/>
          <a:p>
            <a:r>
              <a:rPr lang="en-US" altLang="zh-CN" dirty="0"/>
              <a:t>4.8.3 </a:t>
            </a:r>
            <a:r>
              <a:rPr lang="zh-CN" altLang="en-US" dirty="0"/>
              <a:t>软件测试报告</a:t>
            </a:r>
          </a:p>
        </p:txBody>
      </p:sp>
      <p:sp>
        <p:nvSpPr>
          <p:cNvPr id="13" name="文本占位符 12">
            <a:extLst>
              <a:ext uri="{FF2B5EF4-FFF2-40B4-BE49-F238E27FC236}">
                <a16:creationId xmlns:a16="http://schemas.microsoft.com/office/drawing/2014/main" id="{4931CDD3-1B63-1A0D-3EEC-5549D1571F9A}"/>
              </a:ext>
            </a:extLst>
          </p:cNvPr>
          <p:cNvSpPr>
            <a:spLocks noGrp="1"/>
          </p:cNvSpPr>
          <p:nvPr>
            <p:ph type="body" sz="quarter" idx="11"/>
          </p:nvPr>
        </p:nvSpPr>
        <p:spPr/>
        <p:txBody>
          <a:bodyPr/>
          <a:lstStyle/>
          <a:p>
            <a:endParaRPr lang="zh-CN" altLang="en-US"/>
          </a:p>
        </p:txBody>
      </p:sp>
      <p:sp>
        <p:nvSpPr>
          <p:cNvPr id="18440" name="Line 5"/>
          <p:cNvSpPr>
            <a:spLocks noChangeShapeType="1"/>
          </p:cNvSpPr>
          <p:nvPr>
            <p:custDataLst>
              <p:tags r:id="rId1"/>
            </p:custDataLst>
          </p:nvPr>
        </p:nvSpPr>
        <p:spPr bwMode="auto">
          <a:xfrm flipV="1">
            <a:off x="5408295" y="2970530"/>
            <a:ext cx="956945" cy="1905"/>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dirty="0">
              <a:latin typeface="Times New Roman" panose="02020603050405020304" pitchFamily="18" charset="0"/>
              <a:ea typeface="黑体" panose="02010609060101010101" pitchFamily="49" charset="-122"/>
              <a:sym typeface="Arial" panose="020B0604020202020204" pitchFamily="34" charset="0"/>
            </a:endParaRPr>
          </a:p>
        </p:txBody>
      </p:sp>
      <p:sp>
        <p:nvSpPr>
          <p:cNvPr id="18441" name="Oval 6"/>
          <p:cNvSpPr>
            <a:spLocks noChangeArrowheads="1"/>
          </p:cNvSpPr>
          <p:nvPr>
            <p:custDataLst>
              <p:tags r:id="rId2"/>
            </p:custDataLst>
          </p:nvPr>
        </p:nvSpPr>
        <p:spPr bwMode="auto">
          <a:xfrm>
            <a:off x="6495415" y="2201545"/>
            <a:ext cx="1388745" cy="1388745"/>
          </a:xfrm>
          <a:prstGeom prst="ellipse">
            <a:avLst/>
          </a:prstGeom>
          <a:solidFill>
            <a:srgbClr val="D74B4B"/>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rgbClr val="FFFFFF"/>
                </a:solidFill>
                <a:latin typeface="Times New Roman" panose="02020603050405020304" pitchFamily="18" charset="0"/>
                <a:ea typeface="黑体" panose="02010609060101010101" pitchFamily="49" charset="-122"/>
              </a:rPr>
              <a:t>03</a:t>
            </a:r>
            <a:endParaRPr lang="zh-CN" altLang="zh-CN" sz="1800" dirty="0">
              <a:latin typeface="Times New Roman" panose="02020603050405020304" pitchFamily="18" charset="0"/>
              <a:ea typeface="黑体" panose="02010609060101010101" pitchFamily="49" charset="-122"/>
            </a:endParaRPr>
          </a:p>
        </p:txBody>
      </p:sp>
      <p:sp>
        <p:nvSpPr>
          <p:cNvPr id="18442" name="Oval 7"/>
          <p:cNvSpPr>
            <a:spLocks noChangeArrowheads="1"/>
          </p:cNvSpPr>
          <p:nvPr>
            <p:custDataLst>
              <p:tags r:id="rId3"/>
            </p:custDataLst>
          </p:nvPr>
        </p:nvSpPr>
        <p:spPr bwMode="auto">
          <a:xfrm>
            <a:off x="1281430" y="2201545"/>
            <a:ext cx="1388745" cy="1388745"/>
          </a:xfrm>
          <a:prstGeom prst="ellipse">
            <a:avLst/>
          </a:prstGeom>
          <a:solidFill>
            <a:srgbClr val="D74B4B"/>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rgbClr val="FFFFFF"/>
                </a:solidFill>
                <a:latin typeface="Times New Roman" panose="02020603050405020304" pitchFamily="18" charset="0"/>
                <a:ea typeface="黑体" panose="02010609060101010101" pitchFamily="49" charset="-122"/>
              </a:rPr>
              <a:t>01</a:t>
            </a:r>
            <a:endParaRPr lang="zh-CN" altLang="zh-CN" sz="1800" dirty="0">
              <a:latin typeface="Times New Roman" panose="02020603050405020304" pitchFamily="18" charset="0"/>
              <a:ea typeface="黑体" panose="02010609060101010101" pitchFamily="49" charset="-122"/>
            </a:endParaRPr>
          </a:p>
        </p:txBody>
      </p:sp>
      <p:sp>
        <p:nvSpPr>
          <p:cNvPr id="18443" name="Line 8"/>
          <p:cNvSpPr>
            <a:spLocks noChangeShapeType="1"/>
          </p:cNvSpPr>
          <p:nvPr>
            <p:custDataLst>
              <p:tags r:id="rId4"/>
            </p:custDataLst>
          </p:nvPr>
        </p:nvSpPr>
        <p:spPr bwMode="auto">
          <a:xfrm>
            <a:off x="2800350" y="2970530"/>
            <a:ext cx="956945"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dirty="0">
              <a:latin typeface="Times New Roman" panose="02020603050405020304" pitchFamily="18" charset="0"/>
              <a:ea typeface="黑体" panose="02010609060101010101" pitchFamily="49" charset="-122"/>
              <a:sym typeface="Arial" panose="020B0604020202020204" pitchFamily="34" charset="0"/>
            </a:endParaRPr>
          </a:p>
        </p:txBody>
      </p:sp>
      <p:sp>
        <p:nvSpPr>
          <p:cNvPr id="18444" name="Text Box 9"/>
          <p:cNvSpPr txBox="1">
            <a:spLocks noChangeArrowheads="1"/>
          </p:cNvSpPr>
          <p:nvPr>
            <p:custDataLst>
              <p:tags r:id="rId5"/>
            </p:custDataLst>
          </p:nvPr>
        </p:nvSpPr>
        <p:spPr bwMode="auto">
          <a:xfrm>
            <a:off x="853440" y="3933190"/>
            <a:ext cx="2245995" cy="708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170" tIns="46990" rIns="90170" bIns="46990" anchor="ctr">
            <a:normAutofit fontScale="97500"/>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测试项传递报告</a:t>
            </a:r>
          </a:p>
        </p:txBody>
      </p:sp>
      <p:sp>
        <p:nvSpPr>
          <p:cNvPr id="18445" name="Text Box 10"/>
          <p:cNvSpPr txBox="1">
            <a:spLocks noChangeArrowheads="1"/>
          </p:cNvSpPr>
          <p:nvPr>
            <p:custDataLst>
              <p:tags r:id="rId6"/>
            </p:custDataLst>
          </p:nvPr>
        </p:nvSpPr>
        <p:spPr bwMode="auto">
          <a:xfrm>
            <a:off x="6067425" y="3933190"/>
            <a:ext cx="2245995" cy="7086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测试事件报告</a:t>
            </a:r>
          </a:p>
        </p:txBody>
      </p:sp>
      <p:sp>
        <p:nvSpPr>
          <p:cNvPr id="18446" name="Text Box 11"/>
          <p:cNvSpPr txBox="1">
            <a:spLocks noChangeArrowheads="1"/>
          </p:cNvSpPr>
          <p:nvPr>
            <p:custDataLst>
              <p:tags r:id="rId7"/>
            </p:custDataLst>
          </p:nvPr>
        </p:nvSpPr>
        <p:spPr bwMode="auto">
          <a:xfrm>
            <a:off x="8673465" y="3933190"/>
            <a:ext cx="2245995" cy="7086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dirty="0" err="1">
                <a:solidFill>
                  <a:schemeClr val="tx1"/>
                </a:solidFill>
                <a:latin typeface="微软雅黑" panose="020B0503020204020204" charset="-122"/>
                <a:ea typeface="微软雅黑" panose="020B0503020204020204" charset="-122"/>
                <a:sym typeface="+mn-ea"/>
              </a:rPr>
              <a:t>测试总结报告</a:t>
            </a:r>
            <a:endParaRPr lang="zh-CN" altLang="en-US" sz="2400" b="1" dirty="0">
              <a:solidFill>
                <a:srgbClr val="D74B4B"/>
              </a:solidFill>
              <a:latin typeface="Times New Roman" panose="02020603050405020304" pitchFamily="18" charset="0"/>
              <a:ea typeface="黑体" panose="02010609060101010101" pitchFamily="49" charset="-122"/>
              <a:cs typeface="+mn-ea"/>
            </a:endParaRPr>
          </a:p>
        </p:txBody>
      </p:sp>
      <p:sp>
        <p:nvSpPr>
          <p:cNvPr id="18447" name="Oval 12"/>
          <p:cNvSpPr>
            <a:spLocks noChangeArrowheads="1"/>
          </p:cNvSpPr>
          <p:nvPr>
            <p:custDataLst>
              <p:tags r:id="rId8"/>
            </p:custDataLst>
          </p:nvPr>
        </p:nvSpPr>
        <p:spPr bwMode="auto">
          <a:xfrm>
            <a:off x="9101455" y="2201545"/>
            <a:ext cx="1386840" cy="1388745"/>
          </a:xfrm>
          <a:prstGeom prst="ellipse">
            <a:avLst/>
          </a:prstGeom>
          <a:solidFill>
            <a:srgbClr val="D74B4B"/>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rgbClr val="FFFFFF"/>
                </a:solidFill>
                <a:latin typeface="Times New Roman" panose="02020603050405020304" pitchFamily="18" charset="0"/>
                <a:ea typeface="黑体" panose="02010609060101010101" pitchFamily="49" charset="-122"/>
              </a:rPr>
              <a:t>04</a:t>
            </a:r>
            <a:endParaRPr lang="zh-CN" altLang="zh-CN" sz="1800" dirty="0">
              <a:latin typeface="Times New Roman" panose="02020603050405020304" pitchFamily="18" charset="0"/>
              <a:ea typeface="黑体" panose="02010609060101010101" pitchFamily="49" charset="-122"/>
            </a:endParaRPr>
          </a:p>
        </p:txBody>
      </p:sp>
      <p:sp>
        <p:nvSpPr>
          <p:cNvPr id="18448" name="Oval 13"/>
          <p:cNvSpPr>
            <a:spLocks noChangeArrowheads="1"/>
          </p:cNvSpPr>
          <p:nvPr>
            <p:custDataLst>
              <p:tags r:id="rId9"/>
            </p:custDataLst>
          </p:nvPr>
        </p:nvSpPr>
        <p:spPr bwMode="auto">
          <a:xfrm>
            <a:off x="3889375" y="2201545"/>
            <a:ext cx="1386840" cy="1388745"/>
          </a:xfrm>
          <a:prstGeom prst="ellipse">
            <a:avLst/>
          </a:prstGeom>
          <a:solidFill>
            <a:srgbClr val="D74B4B"/>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rgbClr val="FFFFFF"/>
                </a:solidFill>
                <a:latin typeface="Times New Roman" panose="02020603050405020304" pitchFamily="18" charset="0"/>
                <a:ea typeface="黑体" panose="02010609060101010101" pitchFamily="49" charset="-122"/>
              </a:rPr>
              <a:t>02</a:t>
            </a:r>
            <a:endParaRPr lang="zh-CN" altLang="zh-CN" sz="1800" dirty="0">
              <a:latin typeface="Times New Roman" panose="02020603050405020304" pitchFamily="18" charset="0"/>
              <a:ea typeface="黑体" panose="02010609060101010101" pitchFamily="49" charset="-122"/>
            </a:endParaRPr>
          </a:p>
        </p:txBody>
      </p:sp>
      <p:sp>
        <p:nvSpPr>
          <p:cNvPr id="18449" name="Line 14"/>
          <p:cNvSpPr>
            <a:spLocks noChangeShapeType="1"/>
          </p:cNvSpPr>
          <p:nvPr>
            <p:custDataLst>
              <p:tags r:id="rId10"/>
            </p:custDataLst>
          </p:nvPr>
        </p:nvSpPr>
        <p:spPr bwMode="auto">
          <a:xfrm flipV="1">
            <a:off x="8014335" y="2970530"/>
            <a:ext cx="956945" cy="1905"/>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dirty="0">
              <a:latin typeface="Times New Roman" panose="02020603050405020304" pitchFamily="18" charset="0"/>
              <a:ea typeface="黑体" panose="02010609060101010101" pitchFamily="49" charset="-122"/>
              <a:sym typeface="Arial" panose="020B0604020202020204" pitchFamily="34" charset="0"/>
            </a:endParaRPr>
          </a:p>
        </p:txBody>
      </p:sp>
      <p:sp>
        <p:nvSpPr>
          <p:cNvPr id="18450" name="Text Box 15"/>
          <p:cNvSpPr txBox="1">
            <a:spLocks noChangeArrowheads="1"/>
          </p:cNvSpPr>
          <p:nvPr>
            <p:custDataLst>
              <p:tags r:id="rId11"/>
            </p:custDataLst>
          </p:nvPr>
        </p:nvSpPr>
        <p:spPr bwMode="auto">
          <a:xfrm>
            <a:off x="3461385" y="3933190"/>
            <a:ext cx="2245995" cy="7086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测试日志</a:t>
            </a:r>
          </a:p>
        </p:txBody>
      </p:sp>
      <p:sp>
        <p:nvSpPr>
          <p:cNvPr id="9" name="文本框 8"/>
          <p:cNvSpPr txBox="1"/>
          <p:nvPr>
            <p:custDataLst>
              <p:tags r:id="rId12"/>
            </p:custDataLst>
          </p:nvPr>
        </p:nvSpPr>
        <p:spPr>
          <a:xfrm>
            <a:off x="685800" y="4643755"/>
            <a:ext cx="2419985" cy="1254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marL="0" indent="0" algn="l" fontAlgn="auto">
              <a:lnSpc>
                <a:spcPct val="130000"/>
              </a:lnSpc>
              <a:buClrTx/>
            </a:pPr>
            <a:r>
              <a:rPr lang="en-US" altLang="zh-CN" dirty="0">
                <a:latin typeface="Times New Roman" panose="02020603050405020304" pitchFamily="18" charset="0"/>
              </a:rPr>
              <a:t>        </a:t>
            </a:r>
            <a:r>
              <a:rPr dirty="0">
                <a:latin typeface="微软雅黑" panose="020B0503020204020204" charset="-122"/>
                <a:ea typeface="微软雅黑" panose="020B0503020204020204" charset="-122"/>
                <a:sym typeface="+mn-ea"/>
              </a:rPr>
              <a:t>测试项的位置、状态等。</a:t>
            </a:r>
            <a:endParaRPr dirty="0">
              <a:latin typeface="微软雅黑" panose="020B0503020204020204" charset="-122"/>
              <a:ea typeface="微软雅黑" panose="020B0503020204020204" charset="-122"/>
              <a:sym typeface="黑体" panose="02010609060101010101" pitchFamily="49" charset="-122"/>
            </a:endParaRPr>
          </a:p>
        </p:txBody>
      </p:sp>
      <p:sp>
        <p:nvSpPr>
          <p:cNvPr id="10" name="文本框 9"/>
          <p:cNvSpPr txBox="1"/>
          <p:nvPr>
            <p:custDataLst>
              <p:tags r:id="rId13"/>
            </p:custDataLst>
          </p:nvPr>
        </p:nvSpPr>
        <p:spPr>
          <a:xfrm>
            <a:off x="3242945" y="4643755"/>
            <a:ext cx="2470150" cy="1137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sp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marL="0" indent="0" algn="l" fontAlgn="auto">
              <a:lnSpc>
                <a:spcPct val="130000"/>
              </a:lnSpc>
              <a:buClrTx/>
            </a:pPr>
            <a:r>
              <a:rPr lang="en-US" altLang="zh-CN" dirty="0">
                <a:latin typeface="Times New Roman" panose="02020603050405020304" pitchFamily="18" charset="0"/>
              </a:rPr>
              <a:t>       </a:t>
            </a:r>
            <a:r>
              <a:rPr dirty="0" err="1">
                <a:latin typeface="微软雅黑" panose="020B0503020204020204" charset="-122"/>
                <a:ea typeface="微软雅黑" panose="020B0503020204020204" charset="-122"/>
                <a:sym typeface="+mn-ea"/>
              </a:rPr>
              <a:t>记录测试执行过程发生的情况，如活动和事件的条目、描述</a:t>
            </a:r>
            <a:r>
              <a:rPr dirty="0">
                <a:latin typeface="微软雅黑" panose="020B0503020204020204" charset="-122"/>
                <a:ea typeface="微软雅黑" panose="020B0503020204020204" charset="-122"/>
                <a:sym typeface="+mn-ea"/>
              </a:rPr>
              <a:t>。</a:t>
            </a:r>
            <a:endParaRPr dirty="0">
              <a:latin typeface="微软雅黑" panose="020B0503020204020204" charset="-122"/>
              <a:ea typeface="微软雅黑" panose="020B0503020204020204" charset="-122"/>
              <a:sym typeface="黑体" panose="02010609060101010101" pitchFamily="49" charset="-122"/>
            </a:endParaRPr>
          </a:p>
        </p:txBody>
      </p:sp>
      <p:sp>
        <p:nvSpPr>
          <p:cNvPr id="11" name="文本框 10"/>
          <p:cNvSpPr txBox="1"/>
          <p:nvPr>
            <p:custDataLst>
              <p:tags r:id="rId14"/>
            </p:custDataLst>
          </p:nvPr>
        </p:nvSpPr>
        <p:spPr>
          <a:xfrm>
            <a:off x="6055995" y="4643755"/>
            <a:ext cx="2257425" cy="1137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sp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marL="0" indent="0" algn="l" fontAlgn="auto">
              <a:lnSpc>
                <a:spcPct val="130000"/>
              </a:lnSpc>
              <a:buClrTx/>
            </a:pPr>
            <a:r>
              <a:rPr lang="en-US" altLang="zh-CN" dirty="0">
                <a:latin typeface="Times New Roman" panose="02020603050405020304" pitchFamily="18" charset="0"/>
              </a:rPr>
              <a:t>       </a:t>
            </a:r>
            <a:r>
              <a:rPr dirty="0" err="1">
                <a:latin typeface="微软雅黑" panose="020B0503020204020204" charset="-122"/>
                <a:ea typeface="微软雅黑" panose="020B0503020204020204" charset="-122"/>
                <a:sym typeface="+mn-ea"/>
              </a:rPr>
              <a:t>测试执行期间发生的一切事件的描述和影响</a:t>
            </a:r>
            <a:r>
              <a:rPr dirty="0">
                <a:latin typeface="微软雅黑" panose="020B0503020204020204" charset="-122"/>
                <a:ea typeface="微软雅黑" panose="020B0503020204020204" charset="-122"/>
                <a:sym typeface="+mn-ea"/>
              </a:rPr>
              <a:t>。</a:t>
            </a:r>
            <a:endParaRPr dirty="0">
              <a:latin typeface="微软雅黑" panose="020B0503020204020204" charset="-122"/>
              <a:ea typeface="微软雅黑" panose="020B0503020204020204" charset="-122"/>
              <a:sym typeface="黑体" panose="02010609060101010101" pitchFamily="49" charset="-122"/>
            </a:endParaRPr>
          </a:p>
        </p:txBody>
      </p:sp>
      <p:sp>
        <p:nvSpPr>
          <p:cNvPr id="12" name="文本框 11"/>
          <p:cNvSpPr txBox="1"/>
          <p:nvPr>
            <p:custDataLst>
              <p:tags r:id="rId15"/>
            </p:custDataLst>
          </p:nvPr>
        </p:nvSpPr>
        <p:spPr>
          <a:xfrm>
            <a:off x="8511540" y="4643755"/>
            <a:ext cx="3080385" cy="1497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sp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fontAlgn="auto">
              <a:lnSpc>
                <a:spcPct val="130000"/>
              </a:lnSpc>
              <a:spcBef>
                <a:spcPts val="0"/>
              </a:spcBef>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总结与测试设计说明有关的测试活动、差异、测试充分性、结果概述、评价、活动总结、批准者等。</a:t>
            </a:r>
            <a:endParaRPr>
              <a:latin typeface="微软雅黑" panose="020B0503020204020204" charset="-122"/>
              <a:ea typeface="微软雅黑" panose="020B0503020204020204" charset="-122"/>
            </a:endParaRPr>
          </a:p>
        </p:txBody>
      </p:sp>
    </p:spTree>
  </p:cSld>
  <p:clrMapOvr>
    <a:masterClrMapping/>
  </p:clrMapOvr>
  <p:transition>
    <p:randomBar dir="vert"/>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4D901C-490F-E876-4F16-E51CAF02330D}"/>
              </a:ext>
            </a:extLst>
          </p:cNvPr>
          <p:cNvSpPr>
            <a:spLocks noGrp="1"/>
          </p:cNvSpPr>
          <p:nvPr>
            <p:ph type="title"/>
          </p:nvPr>
        </p:nvSpPr>
        <p:spPr>
          <a:xfrm>
            <a:off x="336000" y="360000"/>
            <a:ext cx="5760000" cy="535531"/>
          </a:xfrm>
        </p:spPr>
        <p:txBody>
          <a:bodyPr/>
          <a:lstStyle/>
          <a:p>
            <a:r>
              <a:rPr lang="zh-CN" altLang="en-US" dirty="0">
                <a:sym typeface="+mn-ea"/>
              </a:rPr>
              <a:t>4.8 软件测试文档</a:t>
            </a:r>
            <a:endParaRPr lang="zh-CN" altLang="en-US" dirty="0"/>
          </a:p>
        </p:txBody>
      </p:sp>
      <p:sp>
        <p:nvSpPr>
          <p:cNvPr id="3" name="文本占位符 2">
            <a:extLst>
              <a:ext uri="{FF2B5EF4-FFF2-40B4-BE49-F238E27FC236}">
                <a16:creationId xmlns:a16="http://schemas.microsoft.com/office/drawing/2014/main" id="{2A7F7DBF-57E0-1445-E612-DD9454C2E321}"/>
              </a:ext>
            </a:extLst>
          </p:cNvPr>
          <p:cNvSpPr>
            <a:spLocks noGrp="1"/>
          </p:cNvSpPr>
          <p:nvPr>
            <p:ph type="body" sz="quarter" idx="10"/>
          </p:nvPr>
        </p:nvSpPr>
        <p:spPr>
          <a:xfrm>
            <a:off x="696000" y="1322832"/>
            <a:ext cx="5400000" cy="400110"/>
          </a:xfrm>
        </p:spPr>
        <p:txBody>
          <a:bodyPr/>
          <a:lstStyle/>
          <a:p>
            <a:r>
              <a:rPr lang="zh-CN" altLang="en-US" dirty="0"/>
              <a:t>例：测试用例</a:t>
            </a:r>
          </a:p>
        </p:txBody>
      </p:sp>
      <p:sp>
        <p:nvSpPr>
          <p:cNvPr id="8" name="文本占位符 7">
            <a:extLst>
              <a:ext uri="{FF2B5EF4-FFF2-40B4-BE49-F238E27FC236}">
                <a16:creationId xmlns:a16="http://schemas.microsoft.com/office/drawing/2014/main" id="{E621A15A-0EEC-D0E2-8316-2E3A9BAA1F74}"/>
              </a:ext>
            </a:extLst>
          </p:cNvPr>
          <p:cNvSpPr>
            <a:spLocks noGrp="1"/>
          </p:cNvSpPr>
          <p:nvPr>
            <p:ph type="body" sz="quarter" idx="11"/>
          </p:nvPr>
        </p:nvSpPr>
        <p:spPr/>
        <p:txBody>
          <a:bodyPr/>
          <a:lstStyle/>
          <a:p>
            <a:endParaRPr lang="zh-CN" altLang="en-US"/>
          </a:p>
        </p:txBody>
      </p:sp>
      <p:graphicFrame>
        <p:nvGraphicFramePr>
          <p:cNvPr id="5" name="表格 4">
            <a:extLst>
              <a:ext uri="{FF2B5EF4-FFF2-40B4-BE49-F238E27FC236}">
                <a16:creationId xmlns:a16="http://schemas.microsoft.com/office/drawing/2014/main" id="{6B7B2A30-1AAB-8845-F319-BD03682AF12E}"/>
              </a:ext>
            </a:extLst>
          </p:cNvPr>
          <p:cNvGraphicFramePr>
            <a:graphicFrameLocks noGrp="1"/>
          </p:cNvGraphicFramePr>
          <p:nvPr>
            <p:extLst>
              <p:ext uri="{D42A27DB-BD31-4B8C-83A1-F6EECF244321}">
                <p14:modId xmlns:p14="http://schemas.microsoft.com/office/powerpoint/2010/main" val="2692371365"/>
              </p:ext>
            </p:extLst>
          </p:nvPr>
        </p:nvGraphicFramePr>
        <p:xfrm>
          <a:off x="838200" y="2413476"/>
          <a:ext cx="10515600" cy="2346960"/>
        </p:xfrm>
        <a:graphic>
          <a:graphicData uri="http://schemas.openxmlformats.org/drawingml/2006/table">
            <a:tbl>
              <a:tblPr/>
              <a:tblGrid>
                <a:gridCol w="1009650">
                  <a:extLst>
                    <a:ext uri="{9D8B030D-6E8A-4147-A177-3AD203B41FA5}">
                      <a16:colId xmlns:a16="http://schemas.microsoft.com/office/drawing/2014/main" val="2948922892"/>
                    </a:ext>
                  </a:extLst>
                </a:gridCol>
                <a:gridCol w="1009650">
                  <a:extLst>
                    <a:ext uri="{9D8B030D-6E8A-4147-A177-3AD203B41FA5}">
                      <a16:colId xmlns:a16="http://schemas.microsoft.com/office/drawing/2014/main" val="1437251087"/>
                    </a:ext>
                  </a:extLst>
                </a:gridCol>
                <a:gridCol w="1438275">
                  <a:extLst>
                    <a:ext uri="{9D8B030D-6E8A-4147-A177-3AD203B41FA5}">
                      <a16:colId xmlns:a16="http://schemas.microsoft.com/office/drawing/2014/main" val="1510957478"/>
                    </a:ext>
                  </a:extLst>
                </a:gridCol>
                <a:gridCol w="1333500">
                  <a:extLst>
                    <a:ext uri="{9D8B030D-6E8A-4147-A177-3AD203B41FA5}">
                      <a16:colId xmlns:a16="http://schemas.microsoft.com/office/drawing/2014/main" val="2210717042"/>
                    </a:ext>
                  </a:extLst>
                </a:gridCol>
                <a:gridCol w="1809750">
                  <a:extLst>
                    <a:ext uri="{9D8B030D-6E8A-4147-A177-3AD203B41FA5}">
                      <a16:colId xmlns:a16="http://schemas.microsoft.com/office/drawing/2014/main" val="2652860255"/>
                    </a:ext>
                  </a:extLst>
                </a:gridCol>
                <a:gridCol w="1285875">
                  <a:extLst>
                    <a:ext uri="{9D8B030D-6E8A-4147-A177-3AD203B41FA5}">
                      <a16:colId xmlns:a16="http://schemas.microsoft.com/office/drawing/2014/main" val="1856156637"/>
                    </a:ext>
                  </a:extLst>
                </a:gridCol>
                <a:gridCol w="1314450">
                  <a:extLst>
                    <a:ext uri="{9D8B030D-6E8A-4147-A177-3AD203B41FA5}">
                      <a16:colId xmlns:a16="http://schemas.microsoft.com/office/drawing/2014/main" val="2463681287"/>
                    </a:ext>
                  </a:extLst>
                </a:gridCol>
                <a:gridCol w="1314450">
                  <a:extLst>
                    <a:ext uri="{9D8B030D-6E8A-4147-A177-3AD203B41FA5}">
                      <a16:colId xmlns:a16="http://schemas.microsoft.com/office/drawing/2014/main" val="2524713991"/>
                    </a:ext>
                  </a:extLst>
                </a:gridCol>
              </a:tblGrid>
              <a:tr h="0">
                <a:tc>
                  <a:txBody>
                    <a:bodyPr/>
                    <a:lstStyle/>
                    <a:p>
                      <a:pPr algn="l">
                        <a:buNone/>
                      </a:pPr>
                      <a:r>
                        <a:rPr lang="zh-CN" altLang="en-US" sz="1600" dirty="0"/>
                        <a:t>编号</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模块</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标题</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前置条件</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步骤</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测试数据</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预期结果</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优先级</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5325473"/>
                  </a:ext>
                </a:extLst>
              </a:tr>
              <a:tr h="0">
                <a:tc>
                  <a:txBody>
                    <a:bodyPr/>
                    <a:lstStyle/>
                    <a:p>
                      <a:pPr algn="l">
                        <a:buNone/>
                      </a:pPr>
                      <a:r>
                        <a:rPr lang="en-US" sz="1600" dirty="0"/>
                        <a:t>TC_01</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用户</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验证密码</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进入首页</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endParaRPr lang="en-US" sz="1600" dirty="0"/>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en-US" sz="1600" dirty="0"/>
                        <a:t>High</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08457656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TC_02</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订单</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endParaRPr lang="zh-CN" altLang="en-US" sz="1600" dirty="0"/>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endParaRPr lang="zh-CN" altLang="en-US" sz="1600" dirty="0"/>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endParaRPr lang="zh-CN" altLang="en-US" sz="1600" dirty="0"/>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endParaRPr lang="en-US" sz="1600" dirty="0"/>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endParaRPr lang="zh-CN" altLang="en-US" sz="1600" dirty="0"/>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en-US" altLang="zh-CN" sz="1600" dirty="0"/>
                        <a:t>Low</a:t>
                      </a:r>
                      <a:endParaRPr lang="en-US" sz="1600" dirty="0"/>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78004195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TC_03</a:t>
                      </a:r>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r>
                        <a:rPr lang="zh-CN" altLang="en-US" sz="1600" dirty="0"/>
                        <a:t>商品</a:t>
                      </a:r>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r>
                        <a:rPr lang="en-US" sz="1600" dirty="0"/>
                        <a:t>0</a:t>
                      </a:r>
                    </a:p>
                  </a:txBody>
                  <a:tcPr anchor="ctr">
                    <a:lnL>
                      <a:noFill/>
                    </a:lnL>
                    <a:lnR>
                      <a:noFill/>
                    </a:lnR>
                    <a:lnT>
                      <a:noFill/>
                    </a:lnT>
                    <a:lnB w="12700" cap="flat" cmpd="sng" algn="ctr">
                      <a:noFill/>
                      <a:prstDash val="solid"/>
                      <a:round/>
                      <a:headEnd type="none" w="med" len="med"/>
                      <a:tailEnd type="none" w="med" len="med"/>
                    </a:lnB>
                    <a:noFill/>
                  </a:tcPr>
                </a:tc>
                <a:extLst>
                  <a:ext uri="{0D108BD9-81ED-4DB2-BD59-A6C34878D82A}">
                    <a16:rowId xmlns:a16="http://schemas.microsoft.com/office/drawing/2014/main" val="3975958029"/>
                  </a:ext>
                </a:extLst>
              </a:tr>
              <a:tr h="0">
                <a:tc>
                  <a:txBody>
                    <a:bodyPr/>
                    <a:lstStyle/>
                    <a:p>
                      <a:pPr algn="l">
                        <a:buNone/>
                      </a:pPr>
                      <a:endParaRPr 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r>
                        <a:rPr lang="en-US" sz="1600" dirty="0"/>
                        <a:t>1</a:t>
                      </a:r>
                    </a:p>
                  </a:txBody>
                  <a:tcPr anchor="ctr">
                    <a:lnL>
                      <a:noFill/>
                    </a:lnL>
                    <a:lnR>
                      <a:noFill/>
                    </a:lnR>
                    <a:lnT>
                      <a:noFill/>
                    </a:lnT>
                    <a:lnB w="12700" cap="flat" cmpd="sng" algn="ctr">
                      <a:noFill/>
                      <a:prstDash val="solid"/>
                      <a:round/>
                      <a:headEnd type="none" w="med" len="med"/>
                      <a:tailEnd type="none" w="med" len="med"/>
                    </a:lnB>
                    <a:noFill/>
                  </a:tcPr>
                </a:tc>
                <a:extLst>
                  <a:ext uri="{0D108BD9-81ED-4DB2-BD59-A6C34878D82A}">
                    <a16:rowId xmlns:a16="http://schemas.microsoft.com/office/drawing/2014/main" val="3971116095"/>
                  </a:ext>
                </a:extLst>
              </a:tr>
              <a:tr h="0">
                <a:tc>
                  <a:txBody>
                    <a:bodyPr/>
                    <a:lstStyle/>
                    <a:p>
                      <a:pPr algn="l">
                        <a:buNone/>
                      </a:pPr>
                      <a:endParaRPr 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noFill/>
                      <a:prstDash val="solid"/>
                      <a:round/>
                      <a:headEnd type="none" w="med" len="med"/>
                      <a:tailEnd type="none" w="med" len="med"/>
                    </a:lnB>
                    <a:noFill/>
                  </a:tcPr>
                </a:tc>
                <a:tc>
                  <a:txBody>
                    <a:bodyPr/>
                    <a:lstStyle/>
                    <a:p>
                      <a:pPr algn="l">
                        <a:buNone/>
                      </a:pPr>
                      <a:endParaRPr lang="en-US" sz="1600" dirty="0"/>
                    </a:p>
                  </a:txBody>
                  <a:tcPr anchor="ctr">
                    <a:lnL>
                      <a:noFill/>
                    </a:lnL>
                    <a:lnR>
                      <a:noFill/>
                    </a:lnR>
                    <a:lnT>
                      <a:noFill/>
                    </a:lnT>
                    <a:lnB w="12700" cap="flat" cmpd="sng" algn="ctr">
                      <a:noFill/>
                      <a:prstDash val="solid"/>
                      <a:round/>
                      <a:headEnd type="none" w="med" len="med"/>
                      <a:tailEnd type="none" w="med" len="med"/>
                    </a:lnB>
                    <a:noFill/>
                  </a:tcPr>
                </a:tc>
                <a:extLst>
                  <a:ext uri="{0D108BD9-81ED-4DB2-BD59-A6C34878D82A}">
                    <a16:rowId xmlns:a16="http://schemas.microsoft.com/office/drawing/2014/main" val="3382245980"/>
                  </a:ext>
                </a:extLst>
              </a:tr>
              <a:tr h="0">
                <a:tc>
                  <a:txBody>
                    <a:bodyPr/>
                    <a:lstStyle/>
                    <a:p>
                      <a:pPr algn="l">
                        <a:buNone/>
                      </a:pPr>
                      <a:endParaRPr 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zh-CN" alt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4660821"/>
                  </a:ext>
                </a:extLst>
              </a:tr>
            </a:tbl>
          </a:graphicData>
        </a:graphic>
      </p:graphicFrame>
    </p:spTree>
    <p:extLst>
      <p:ext uri="{BB962C8B-B14F-4D97-AF65-F5344CB8AC3E}">
        <p14:creationId xmlns:p14="http://schemas.microsoft.com/office/powerpoint/2010/main" val="322442119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4D901C-490F-E876-4F16-E51CAF02330D}"/>
              </a:ext>
            </a:extLst>
          </p:cNvPr>
          <p:cNvSpPr>
            <a:spLocks noGrp="1"/>
          </p:cNvSpPr>
          <p:nvPr>
            <p:ph type="title"/>
          </p:nvPr>
        </p:nvSpPr>
        <p:spPr>
          <a:xfrm>
            <a:off x="336000" y="360000"/>
            <a:ext cx="5760000" cy="535531"/>
          </a:xfrm>
        </p:spPr>
        <p:txBody>
          <a:bodyPr/>
          <a:lstStyle/>
          <a:p>
            <a:r>
              <a:rPr lang="zh-CN" altLang="en-US" dirty="0">
                <a:sym typeface="+mn-ea"/>
              </a:rPr>
              <a:t>4.8 软件测试文档</a:t>
            </a:r>
            <a:endParaRPr lang="zh-CN" altLang="en-US" dirty="0"/>
          </a:p>
        </p:txBody>
      </p:sp>
      <p:sp>
        <p:nvSpPr>
          <p:cNvPr id="3" name="文本占位符 2">
            <a:extLst>
              <a:ext uri="{FF2B5EF4-FFF2-40B4-BE49-F238E27FC236}">
                <a16:creationId xmlns:a16="http://schemas.microsoft.com/office/drawing/2014/main" id="{2A7F7DBF-57E0-1445-E612-DD9454C2E321}"/>
              </a:ext>
            </a:extLst>
          </p:cNvPr>
          <p:cNvSpPr>
            <a:spLocks noGrp="1"/>
          </p:cNvSpPr>
          <p:nvPr>
            <p:ph type="body" sz="quarter" idx="10"/>
          </p:nvPr>
        </p:nvSpPr>
        <p:spPr>
          <a:xfrm>
            <a:off x="696000" y="1322832"/>
            <a:ext cx="5400000" cy="400110"/>
          </a:xfrm>
        </p:spPr>
        <p:txBody>
          <a:bodyPr/>
          <a:lstStyle/>
          <a:p>
            <a:r>
              <a:rPr lang="zh-CN" altLang="en-US" dirty="0"/>
              <a:t>例：测试用例 </a:t>
            </a:r>
            <a:r>
              <a:rPr lang="en-US" altLang="zh-CN" dirty="0"/>
              <a:t>-</a:t>
            </a:r>
            <a:r>
              <a:rPr lang="zh-CN" altLang="zh-CN" dirty="0"/>
              <a:t>注册功能测试用例表</a:t>
            </a:r>
            <a:endParaRPr lang="zh-CN" altLang="en-US" dirty="0"/>
          </a:p>
        </p:txBody>
      </p:sp>
      <p:sp>
        <p:nvSpPr>
          <p:cNvPr id="9" name="文本占位符 8">
            <a:extLst>
              <a:ext uri="{FF2B5EF4-FFF2-40B4-BE49-F238E27FC236}">
                <a16:creationId xmlns:a16="http://schemas.microsoft.com/office/drawing/2014/main" id="{0FF8DB85-96DF-233D-8448-09D7A9EDEACD}"/>
              </a:ext>
            </a:extLst>
          </p:cNvPr>
          <p:cNvSpPr>
            <a:spLocks noGrp="1"/>
          </p:cNvSpPr>
          <p:nvPr>
            <p:ph type="body" sz="quarter" idx="11"/>
          </p:nvPr>
        </p:nvSpPr>
        <p:spPr/>
        <p:txBody>
          <a:bodyPr/>
          <a:lstStyle/>
          <a:p>
            <a:endParaRPr lang="zh-CN" altLang="en-US"/>
          </a:p>
        </p:txBody>
      </p:sp>
      <p:graphicFrame>
        <p:nvGraphicFramePr>
          <p:cNvPr id="4" name="表格 3">
            <a:extLst>
              <a:ext uri="{FF2B5EF4-FFF2-40B4-BE49-F238E27FC236}">
                <a16:creationId xmlns:a16="http://schemas.microsoft.com/office/drawing/2014/main" id="{556D8B33-8C0C-614D-06B1-FA841D078F08}"/>
              </a:ext>
            </a:extLst>
          </p:cNvPr>
          <p:cNvGraphicFramePr>
            <a:graphicFrameLocks noGrp="1"/>
          </p:cNvGraphicFramePr>
          <p:nvPr>
            <p:extLst>
              <p:ext uri="{D42A27DB-BD31-4B8C-83A1-F6EECF244321}">
                <p14:modId xmlns:p14="http://schemas.microsoft.com/office/powerpoint/2010/main" val="3879669339"/>
              </p:ext>
            </p:extLst>
          </p:nvPr>
        </p:nvGraphicFramePr>
        <p:xfrm>
          <a:off x="838200" y="2234406"/>
          <a:ext cx="10515600" cy="2651760"/>
        </p:xfrm>
        <a:graphic>
          <a:graphicData uri="http://schemas.openxmlformats.org/drawingml/2006/table">
            <a:tbl>
              <a:tblPr/>
              <a:tblGrid>
                <a:gridCol w="971550">
                  <a:extLst>
                    <a:ext uri="{9D8B030D-6E8A-4147-A177-3AD203B41FA5}">
                      <a16:colId xmlns:a16="http://schemas.microsoft.com/office/drawing/2014/main" val="2459307841"/>
                    </a:ext>
                  </a:extLst>
                </a:gridCol>
                <a:gridCol w="1362075">
                  <a:extLst>
                    <a:ext uri="{9D8B030D-6E8A-4147-A177-3AD203B41FA5}">
                      <a16:colId xmlns:a16="http://schemas.microsoft.com/office/drawing/2014/main" val="205396109"/>
                    </a:ext>
                  </a:extLst>
                </a:gridCol>
                <a:gridCol w="2924175">
                  <a:extLst>
                    <a:ext uri="{9D8B030D-6E8A-4147-A177-3AD203B41FA5}">
                      <a16:colId xmlns:a16="http://schemas.microsoft.com/office/drawing/2014/main" val="3346633453"/>
                    </a:ext>
                  </a:extLst>
                </a:gridCol>
                <a:gridCol w="1752600">
                  <a:extLst>
                    <a:ext uri="{9D8B030D-6E8A-4147-A177-3AD203B41FA5}">
                      <a16:colId xmlns:a16="http://schemas.microsoft.com/office/drawing/2014/main" val="4254429463"/>
                    </a:ext>
                  </a:extLst>
                </a:gridCol>
                <a:gridCol w="2190750">
                  <a:extLst>
                    <a:ext uri="{9D8B030D-6E8A-4147-A177-3AD203B41FA5}">
                      <a16:colId xmlns:a16="http://schemas.microsoft.com/office/drawing/2014/main" val="1922249656"/>
                    </a:ext>
                  </a:extLst>
                </a:gridCol>
                <a:gridCol w="1314450">
                  <a:extLst>
                    <a:ext uri="{9D8B030D-6E8A-4147-A177-3AD203B41FA5}">
                      <a16:colId xmlns:a16="http://schemas.microsoft.com/office/drawing/2014/main" val="2737578026"/>
                    </a:ext>
                  </a:extLst>
                </a:gridCol>
              </a:tblGrid>
              <a:tr h="0">
                <a:tc>
                  <a:txBody>
                    <a:bodyPr/>
                    <a:lstStyle/>
                    <a:p>
                      <a:pPr algn="l">
                        <a:buNone/>
                      </a:pPr>
                      <a:r>
                        <a:rPr lang="zh-CN" altLang="en-US" sz="1600" dirty="0"/>
                        <a:t>编号</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测试模块</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测试用例描述</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预期结果</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实际结果</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测试结论</a:t>
                      </a:r>
                    </a:p>
                  </a:txBody>
                  <a:tcPr anchor="ctr">
                    <a:lnL>
                      <a:noFill/>
                    </a:lnL>
                    <a:lnR>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54291"/>
                  </a:ext>
                </a:extLst>
              </a:tr>
              <a:tr h="0">
                <a:tc>
                  <a:txBody>
                    <a:bodyPr/>
                    <a:lstStyle/>
                    <a:p>
                      <a:pPr algn="l">
                        <a:buNone/>
                      </a:pPr>
                      <a:r>
                        <a:rPr lang="en-US" sz="1600" dirty="0"/>
                        <a:t>TC_01</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a:t>用户管理</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输入已存在的用户名进行注册</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a:t>提示“用户已存在”，注册失败</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a:t>提示“用户已存在”</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a:t>通过</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846083696"/>
                  </a:ext>
                </a:extLst>
              </a:tr>
              <a:tr h="0">
                <a:tc>
                  <a:txBody>
                    <a:bodyPr/>
                    <a:lstStyle/>
                    <a:p>
                      <a:pPr algn="l">
                        <a:buNone/>
                      </a:pPr>
                      <a:r>
                        <a:rPr lang="en-US" sz="1600" dirty="0"/>
                        <a:t>TC_02</a:t>
                      </a:r>
                    </a:p>
                  </a:txBody>
                  <a:tcPr anchor="ctr">
                    <a:lnL>
                      <a:noFill/>
                    </a:lnL>
                    <a:lnR>
                      <a:noFill/>
                    </a:lnR>
                    <a:lnT>
                      <a:noFill/>
                    </a:lnT>
                    <a:lnB>
                      <a:noFill/>
                    </a:lnB>
                    <a:noFill/>
                  </a:tcPr>
                </a:tc>
                <a:tc>
                  <a:txBody>
                    <a:bodyPr/>
                    <a:lstStyle/>
                    <a:p>
                      <a:pPr algn="l">
                        <a:buNone/>
                      </a:pPr>
                      <a:r>
                        <a:rPr lang="zh-CN" altLang="en-US" sz="1600"/>
                        <a:t>用户管理</a:t>
                      </a:r>
                    </a:p>
                  </a:txBody>
                  <a:tcPr anchor="ctr">
                    <a:lnL>
                      <a:noFill/>
                    </a:lnL>
                    <a:lnR>
                      <a:noFill/>
                    </a:lnR>
                    <a:lnT>
                      <a:noFill/>
                    </a:lnT>
                    <a:lnB>
                      <a:noFill/>
                    </a:lnB>
                    <a:noFill/>
                  </a:tcPr>
                </a:tc>
                <a:tc>
                  <a:txBody>
                    <a:bodyPr/>
                    <a:lstStyle/>
                    <a:p>
                      <a:pPr algn="l">
                        <a:buNone/>
                      </a:pPr>
                      <a:r>
                        <a:rPr lang="zh-CN" altLang="en-US" sz="1600"/>
                        <a:t>输入正确的用户名密码登录</a:t>
                      </a:r>
                    </a:p>
                  </a:txBody>
                  <a:tcPr anchor="ctr">
                    <a:lnL>
                      <a:noFill/>
                    </a:lnL>
                    <a:lnR>
                      <a:noFill/>
                    </a:lnR>
                    <a:lnT>
                      <a:noFill/>
                    </a:lnT>
                    <a:lnB>
                      <a:noFill/>
                    </a:lnB>
                    <a:noFill/>
                  </a:tcPr>
                </a:tc>
                <a:tc>
                  <a:txBody>
                    <a:bodyPr/>
                    <a:lstStyle/>
                    <a:p>
                      <a:pPr algn="l">
                        <a:buNone/>
                      </a:pPr>
                      <a:r>
                        <a:rPr lang="zh-CN" altLang="en-US" sz="1600"/>
                        <a:t>登录成功，跳转至首页</a:t>
                      </a:r>
                    </a:p>
                  </a:txBody>
                  <a:tcPr anchor="ctr">
                    <a:lnL>
                      <a:noFill/>
                    </a:lnL>
                    <a:lnR>
                      <a:noFill/>
                    </a:lnR>
                    <a:lnT>
                      <a:noFill/>
                    </a:lnT>
                    <a:lnB>
                      <a:noFill/>
                    </a:lnB>
                    <a:noFill/>
                  </a:tcPr>
                </a:tc>
                <a:tc>
                  <a:txBody>
                    <a:bodyPr/>
                    <a:lstStyle/>
                    <a:p>
                      <a:pPr algn="l">
                        <a:buNone/>
                      </a:pPr>
                      <a:r>
                        <a:rPr lang="zh-CN" altLang="en-US" sz="1600"/>
                        <a:t>登录成功，跳转至首页</a:t>
                      </a:r>
                    </a:p>
                  </a:txBody>
                  <a:tcPr anchor="ctr">
                    <a:lnL>
                      <a:noFill/>
                    </a:lnL>
                    <a:lnR>
                      <a:noFill/>
                    </a:lnR>
                    <a:lnT>
                      <a:noFill/>
                    </a:lnT>
                    <a:lnB>
                      <a:noFill/>
                    </a:lnB>
                    <a:noFill/>
                  </a:tcPr>
                </a:tc>
                <a:tc>
                  <a:txBody>
                    <a:bodyPr/>
                    <a:lstStyle/>
                    <a:p>
                      <a:pPr algn="l">
                        <a:buNone/>
                      </a:pPr>
                      <a:r>
                        <a:rPr lang="zh-CN" altLang="en-US" sz="1600"/>
                        <a:t>通过</a:t>
                      </a:r>
                    </a:p>
                  </a:txBody>
                  <a:tcPr anchor="ctr">
                    <a:lnL>
                      <a:noFill/>
                    </a:lnL>
                    <a:lnR>
                      <a:noFill/>
                    </a:lnR>
                    <a:lnT>
                      <a:noFill/>
                    </a:lnT>
                    <a:lnB>
                      <a:noFill/>
                    </a:lnB>
                    <a:noFill/>
                  </a:tcPr>
                </a:tc>
                <a:extLst>
                  <a:ext uri="{0D108BD9-81ED-4DB2-BD59-A6C34878D82A}">
                    <a16:rowId xmlns:a16="http://schemas.microsoft.com/office/drawing/2014/main" val="1724953507"/>
                  </a:ext>
                </a:extLst>
              </a:tr>
              <a:tr h="0">
                <a:tc>
                  <a:txBody>
                    <a:bodyPr/>
                    <a:lstStyle/>
                    <a:p>
                      <a:pPr algn="l">
                        <a:buNone/>
                      </a:pPr>
                      <a:r>
                        <a:rPr lang="en-US" sz="1600" dirty="0"/>
                        <a:t>TC_03</a:t>
                      </a:r>
                    </a:p>
                  </a:txBody>
                  <a:tcPr anchor="ctr">
                    <a:lnL>
                      <a:noFill/>
                    </a:lnL>
                    <a:lnR>
                      <a:noFill/>
                    </a:lnR>
                    <a:lnT>
                      <a:noFill/>
                    </a:lnT>
                    <a:lnB>
                      <a:noFill/>
                    </a:lnB>
                    <a:noFill/>
                  </a:tcPr>
                </a:tc>
                <a:tc>
                  <a:txBody>
                    <a:bodyPr/>
                    <a:lstStyle/>
                    <a:p>
                      <a:pPr algn="l">
                        <a:buNone/>
                      </a:pPr>
                      <a:r>
                        <a:rPr lang="zh-CN" altLang="en-US" sz="1600"/>
                        <a:t>商品管理</a:t>
                      </a:r>
                    </a:p>
                  </a:txBody>
                  <a:tcPr anchor="ctr">
                    <a:lnL>
                      <a:noFill/>
                    </a:lnL>
                    <a:lnR>
                      <a:noFill/>
                    </a:lnR>
                    <a:lnT>
                      <a:noFill/>
                    </a:lnT>
                    <a:lnB>
                      <a:noFill/>
                    </a:lnB>
                    <a:noFill/>
                  </a:tcPr>
                </a:tc>
                <a:tc>
                  <a:txBody>
                    <a:bodyPr/>
                    <a:lstStyle/>
                    <a:p>
                      <a:pPr algn="l">
                        <a:buNone/>
                      </a:pPr>
                      <a:r>
                        <a:rPr lang="zh-CN" altLang="en-US" sz="1600"/>
                        <a:t>管理员添加新商品（名称、价格、库存）</a:t>
                      </a:r>
                    </a:p>
                  </a:txBody>
                  <a:tcPr anchor="ctr">
                    <a:lnL>
                      <a:noFill/>
                    </a:lnL>
                    <a:lnR>
                      <a:noFill/>
                    </a:lnR>
                    <a:lnT>
                      <a:noFill/>
                    </a:lnT>
                    <a:lnB>
                      <a:noFill/>
                    </a:lnB>
                    <a:noFill/>
                  </a:tcPr>
                </a:tc>
                <a:tc>
                  <a:txBody>
                    <a:bodyPr/>
                    <a:lstStyle/>
                    <a:p>
                      <a:pPr algn="l">
                        <a:buNone/>
                      </a:pPr>
                      <a:r>
                        <a:rPr lang="zh-CN" altLang="en-US" sz="1600"/>
                        <a:t>数据库新增记录，前台列表可见</a:t>
                      </a:r>
                    </a:p>
                  </a:txBody>
                  <a:tcPr anchor="ctr">
                    <a:lnL>
                      <a:noFill/>
                    </a:lnL>
                    <a:lnR>
                      <a:noFill/>
                    </a:lnR>
                    <a:lnT>
                      <a:noFill/>
                    </a:lnT>
                    <a:lnB>
                      <a:noFill/>
                    </a:lnB>
                    <a:noFill/>
                  </a:tcPr>
                </a:tc>
                <a:tc>
                  <a:txBody>
                    <a:bodyPr/>
                    <a:lstStyle/>
                    <a:p>
                      <a:pPr algn="l">
                        <a:buNone/>
                      </a:pPr>
                      <a:r>
                        <a:rPr lang="zh-CN" altLang="en-US" sz="1600"/>
                        <a:t>数据库新增记录，前台显示正常</a:t>
                      </a:r>
                    </a:p>
                  </a:txBody>
                  <a:tcPr anchor="ctr">
                    <a:lnL>
                      <a:noFill/>
                    </a:lnL>
                    <a:lnR>
                      <a:noFill/>
                    </a:lnR>
                    <a:lnT>
                      <a:noFill/>
                    </a:lnT>
                    <a:lnB>
                      <a:noFill/>
                    </a:lnB>
                    <a:noFill/>
                  </a:tcPr>
                </a:tc>
                <a:tc>
                  <a:txBody>
                    <a:bodyPr/>
                    <a:lstStyle/>
                    <a:p>
                      <a:pPr algn="l">
                        <a:buNone/>
                      </a:pPr>
                      <a:r>
                        <a:rPr lang="zh-CN" altLang="en-US" sz="1600"/>
                        <a:t>通过</a:t>
                      </a:r>
                    </a:p>
                  </a:txBody>
                  <a:tcPr anchor="ctr">
                    <a:lnL>
                      <a:noFill/>
                    </a:lnL>
                    <a:lnR>
                      <a:noFill/>
                    </a:lnR>
                    <a:lnT>
                      <a:noFill/>
                    </a:lnT>
                    <a:lnB>
                      <a:noFill/>
                    </a:lnB>
                    <a:noFill/>
                  </a:tcPr>
                </a:tc>
                <a:extLst>
                  <a:ext uri="{0D108BD9-81ED-4DB2-BD59-A6C34878D82A}">
                    <a16:rowId xmlns:a16="http://schemas.microsoft.com/office/drawing/2014/main" val="3072556633"/>
                  </a:ext>
                </a:extLst>
              </a:tr>
              <a:tr h="0">
                <a:tc>
                  <a:txBody>
                    <a:bodyPr/>
                    <a:lstStyle/>
                    <a:p>
                      <a:pPr algn="l">
                        <a:buNone/>
                      </a:pPr>
                      <a:r>
                        <a:rPr lang="en-US" sz="1600" dirty="0"/>
                        <a:t>TC_04</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性能测试</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50</a:t>
                      </a:r>
                      <a:r>
                        <a:rPr lang="zh-CN" altLang="en-US" sz="1600"/>
                        <a:t>用户并发访问首页</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平均响应时间 </a:t>
                      </a:r>
                      <a:r>
                        <a:rPr lang="en-US" altLang="zh-CN" sz="1600"/>
                        <a:t>&lt; 2s</a:t>
                      </a:r>
                      <a:r>
                        <a:rPr lang="zh-CN" altLang="en-US" sz="1600"/>
                        <a:t>，无报错</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平均响应时间 </a:t>
                      </a:r>
                      <a:r>
                        <a:rPr lang="en-US" altLang="zh-CN" sz="1600"/>
                        <a:t>0.8s</a:t>
                      </a:r>
                      <a:r>
                        <a:rPr lang="zh-CN" altLang="en-US" sz="1600"/>
                        <a:t>，无报错</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通过</a:t>
                      </a:r>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3412476"/>
                  </a:ext>
                </a:extLst>
              </a:tr>
            </a:tbl>
          </a:graphicData>
        </a:graphic>
      </p:graphicFrame>
    </p:spTree>
    <p:extLst>
      <p:ext uri="{BB962C8B-B14F-4D97-AF65-F5344CB8AC3E}">
        <p14:creationId xmlns:p14="http://schemas.microsoft.com/office/powerpoint/2010/main" val="406238978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4D901C-490F-E876-4F16-E51CAF02330D}"/>
              </a:ext>
            </a:extLst>
          </p:cNvPr>
          <p:cNvSpPr>
            <a:spLocks noGrp="1"/>
          </p:cNvSpPr>
          <p:nvPr>
            <p:ph type="title"/>
          </p:nvPr>
        </p:nvSpPr>
        <p:spPr>
          <a:xfrm>
            <a:off x="336000" y="360000"/>
            <a:ext cx="5760000" cy="535531"/>
          </a:xfrm>
        </p:spPr>
        <p:txBody>
          <a:bodyPr/>
          <a:lstStyle/>
          <a:p>
            <a:r>
              <a:rPr lang="zh-CN" altLang="en-US" dirty="0">
                <a:sym typeface="+mn-ea"/>
              </a:rPr>
              <a:t>4.8 软件测试文档</a:t>
            </a:r>
            <a:endParaRPr lang="zh-CN" altLang="en-US" dirty="0"/>
          </a:p>
        </p:txBody>
      </p:sp>
      <p:sp>
        <p:nvSpPr>
          <p:cNvPr id="3" name="文本占位符 2">
            <a:extLst>
              <a:ext uri="{FF2B5EF4-FFF2-40B4-BE49-F238E27FC236}">
                <a16:creationId xmlns:a16="http://schemas.microsoft.com/office/drawing/2014/main" id="{2A7F7DBF-57E0-1445-E612-DD9454C2E321}"/>
              </a:ext>
            </a:extLst>
          </p:cNvPr>
          <p:cNvSpPr>
            <a:spLocks noGrp="1"/>
          </p:cNvSpPr>
          <p:nvPr>
            <p:ph type="body" sz="quarter" idx="10"/>
          </p:nvPr>
        </p:nvSpPr>
        <p:spPr>
          <a:xfrm>
            <a:off x="696000" y="1322832"/>
            <a:ext cx="5400000" cy="400110"/>
          </a:xfrm>
        </p:spPr>
        <p:txBody>
          <a:bodyPr/>
          <a:lstStyle/>
          <a:p>
            <a:r>
              <a:rPr lang="zh-CN" altLang="en-US" dirty="0"/>
              <a:t>例：测试用例 </a:t>
            </a:r>
            <a:r>
              <a:rPr lang="en-US" altLang="zh-CN" dirty="0"/>
              <a:t>-</a:t>
            </a:r>
            <a:r>
              <a:rPr lang="zh-CN" altLang="zh-CN" dirty="0"/>
              <a:t>注册功能测试用例表</a:t>
            </a:r>
            <a:endParaRPr lang="zh-CN" altLang="en-US" dirty="0"/>
          </a:p>
        </p:txBody>
      </p:sp>
      <p:sp>
        <p:nvSpPr>
          <p:cNvPr id="9" name="文本占位符 8">
            <a:extLst>
              <a:ext uri="{FF2B5EF4-FFF2-40B4-BE49-F238E27FC236}">
                <a16:creationId xmlns:a16="http://schemas.microsoft.com/office/drawing/2014/main" id="{DFF909AD-E4A3-9E21-6245-9F4117786584}"/>
              </a:ext>
            </a:extLst>
          </p:cNvPr>
          <p:cNvSpPr>
            <a:spLocks noGrp="1"/>
          </p:cNvSpPr>
          <p:nvPr>
            <p:ph type="body" sz="quarter" idx="11"/>
          </p:nvPr>
        </p:nvSpPr>
        <p:spPr/>
        <p:txBody>
          <a:bodyPr/>
          <a:lstStyle/>
          <a:p>
            <a:endParaRPr lang="zh-CN" altLang="en-US"/>
          </a:p>
        </p:txBody>
      </p:sp>
      <p:graphicFrame>
        <p:nvGraphicFramePr>
          <p:cNvPr id="5" name="表格 4">
            <a:extLst>
              <a:ext uri="{FF2B5EF4-FFF2-40B4-BE49-F238E27FC236}">
                <a16:creationId xmlns:a16="http://schemas.microsoft.com/office/drawing/2014/main" id="{CE9DC231-E9A9-4AF2-2B4D-70BE6931CEF8}"/>
              </a:ext>
            </a:extLst>
          </p:cNvPr>
          <p:cNvGraphicFramePr>
            <a:graphicFrameLocks noGrp="1"/>
          </p:cNvGraphicFramePr>
          <p:nvPr>
            <p:extLst>
              <p:ext uri="{D42A27DB-BD31-4B8C-83A1-F6EECF244321}">
                <p14:modId xmlns:p14="http://schemas.microsoft.com/office/powerpoint/2010/main" val="303908863"/>
              </p:ext>
            </p:extLst>
          </p:nvPr>
        </p:nvGraphicFramePr>
        <p:xfrm>
          <a:off x="1010656" y="2868771"/>
          <a:ext cx="10170687" cy="2186940"/>
        </p:xfrm>
        <a:graphic>
          <a:graphicData uri="http://schemas.openxmlformats.org/drawingml/2006/table">
            <a:tbl>
              <a:tblPr firstRow="1" firstCol="1" bandRow="1">
                <a:tableStyleId>{2D5ABB26-0587-4C30-8999-92F81FD0307C}</a:tableStyleId>
              </a:tblPr>
              <a:tblGrid>
                <a:gridCol w="941969">
                  <a:extLst>
                    <a:ext uri="{9D8B030D-6E8A-4147-A177-3AD203B41FA5}">
                      <a16:colId xmlns:a16="http://schemas.microsoft.com/office/drawing/2014/main" val="2103878877"/>
                    </a:ext>
                  </a:extLst>
                </a:gridCol>
                <a:gridCol w="1478343">
                  <a:extLst>
                    <a:ext uri="{9D8B030D-6E8A-4147-A177-3AD203B41FA5}">
                      <a16:colId xmlns:a16="http://schemas.microsoft.com/office/drawing/2014/main" val="1800894143"/>
                    </a:ext>
                  </a:extLst>
                </a:gridCol>
                <a:gridCol w="2743020">
                  <a:extLst>
                    <a:ext uri="{9D8B030D-6E8A-4147-A177-3AD203B41FA5}">
                      <a16:colId xmlns:a16="http://schemas.microsoft.com/office/drawing/2014/main" val="2825322997"/>
                    </a:ext>
                  </a:extLst>
                </a:gridCol>
                <a:gridCol w="2465132">
                  <a:extLst>
                    <a:ext uri="{9D8B030D-6E8A-4147-A177-3AD203B41FA5}">
                      <a16:colId xmlns:a16="http://schemas.microsoft.com/office/drawing/2014/main" val="1613385800"/>
                    </a:ext>
                  </a:extLst>
                </a:gridCol>
                <a:gridCol w="1409755">
                  <a:extLst>
                    <a:ext uri="{9D8B030D-6E8A-4147-A177-3AD203B41FA5}">
                      <a16:colId xmlns:a16="http://schemas.microsoft.com/office/drawing/2014/main" val="798214032"/>
                    </a:ext>
                  </a:extLst>
                </a:gridCol>
                <a:gridCol w="1132468">
                  <a:extLst>
                    <a:ext uri="{9D8B030D-6E8A-4147-A177-3AD203B41FA5}">
                      <a16:colId xmlns:a16="http://schemas.microsoft.com/office/drawing/2014/main" val="2676258497"/>
                    </a:ext>
                  </a:extLst>
                </a:gridCol>
              </a:tblGrid>
              <a:tr h="0">
                <a:tc>
                  <a:txBody>
                    <a:bodyPr/>
                    <a:lstStyle/>
                    <a:p>
                      <a:pPr algn="l">
                        <a:buNone/>
                      </a:pPr>
                      <a:r>
                        <a:rPr lang="zh-CN" altLang="en-US" sz="1600" dirty="0"/>
                        <a:t>编号</a:t>
                      </a:r>
                    </a:p>
                  </a:txBody>
                  <a:tcPr anchor="ct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l">
                        <a:buNone/>
                      </a:pPr>
                      <a:r>
                        <a:rPr lang="zh-CN" altLang="en-US" sz="1600" dirty="0"/>
                        <a:t>测试项</a:t>
                      </a:r>
                    </a:p>
                  </a:txBody>
                  <a:tcPr marL="76200" marR="76200" marT="38100" marB="19050" anchor="ct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l">
                        <a:buNone/>
                      </a:pPr>
                      <a:r>
                        <a:rPr lang="zh-CN" altLang="en-US" sz="1600" dirty="0"/>
                        <a:t>输入数据</a:t>
                      </a:r>
                    </a:p>
                  </a:txBody>
                  <a:tcPr marL="76200" marR="76200" marT="38100" marB="19050" anchor="ct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l">
                        <a:buNone/>
                      </a:pPr>
                      <a:r>
                        <a:rPr lang="zh-CN" altLang="en-US" sz="1600" dirty="0"/>
                        <a:t>预期结果</a:t>
                      </a:r>
                    </a:p>
                  </a:txBody>
                  <a:tcPr marL="76200" marR="76200" marT="38100" marB="19050" anchor="ct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l">
                        <a:buNone/>
                      </a:pPr>
                      <a:r>
                        <a:rPr lang="zh-CN" altLang="en-US" sz="1600" dirty="0"/>
                        <a:t>实际结果</a:t>
                      </a:r>
                    </a:p>
                  </a:txBody>
                  <a:tcPr marL="76200" marR="76200" marT="38100" marB="19050" anchor="ct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l">
                        <a:buNone/>
                      </a:pPr>
                      <a:r>
                        <a:rPr lang="zh-CN" altLang="en-US" sz="1600" dirty="0"/>
                        <a:t>测试结果</a:t>
                      </a:r>
                    </a:p>
                  </a:txBody>
                  <a:tcPr marL="76200" marR="76200" marT="38100" marB="19050" anchor="ct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02665"/>
                  </a:ext>
                </a:extLst>
              </a:tr>
              <a:tr h="0">
                <a:tc>
                  <a:txBody>
                    <a:bodyPr/>
                    <a:lstStyle/>
                    <a:p>
                      <a:pPr algn="l">
                        <a:buNone/>
                      </a:pPr>
                      <a:r>
                        <a:rPr lang="en-US" sz="1600" dirty="0"/>
                        <a:t>TC_01</a:t>
                      </a:r>
                    </a:p>
                  </a:txBody>
                  <a:tcPr anchor="ctr">
                    <a:lnT w="6350" cap="flat" cmpd="sng" algn="ctr">
                      <a:solidFill>
                        <a:schemeClr val="tx1"/>
                      </a:solidFill>
                      <a:prstDash val="solid"/>
                      <a:round/>
                      <a:headEnd type="none" w="med" len="med"/>
                      <a:tailEnd type="none" w="med" len="med"/>
                    </a:lnT>
                  </a:tcPr>
                </a:tc>
                <a:tc>
                  <a:txBody>
                    <a:bodyPr/>
                    <a:lstStyle/>
                    <a:p>
                      <a:pPr algn="l">
                        <a:buNone/>
                      </a:pPr>
                      <a:r>
                        <a:rPr lang="zh-CN" altLang="en-US" sz="1600"/>
                        <a:t>信息完整注册</a:t>
                      </a:r>
                    </a:p>
                  </a:txBody>
                  <a:tcPr marL="76200" marR="76200" marT="38100" marB="19050" anchor="ctr">
                    <a:lnT w="6350" cap="flat" cmpd="sng" algn="ctr">
                      <a:solidFill>
                        <a:schemeClr val="tx1"/>
                      </a:solidFill>
                      <a:prstDash val="solid"/>
                      <a:round/>
                      <a:headEnd type="none" w="med" len="med"/>
                      <a:tailEnd type="none" w="med" len="med"/>
                    </a:lnT>
                  </a:tcPr>
                </a:tc>
                <a:tc>
                  <a:txBody>
                    <a:bodyPr/>
                    <a:lstStyle/>
                    <a:p>
                      <a:pPr algn="l">
                        <a:buNone/>
                      </a:pPr>
                      <a:r>
                        <a:rPr lang="zh-CN" altLang="en-US" sz="1600"/>
                        <a:t>用户名、手机号、密码合法</a:t>
                      </a:r>
                    </a:p>
                  </a:txBody>
                  <a:tcPr marL="76200" marR="76200" marT="38100" marB="19050" anchor="ctr">
                    <a:lnT w="6350" cap="flat" cmpd="sng" algn="ctr">
                      <a:solidFill>
                        <a:schemeClr val="tx1"/>
                      </a:solidFill>
                      <a:prstDash val="solid"/>
                      <a:round/>
                      <a:headEnd type="none" w="med" len="med"/>
                      <a:tailEnd type="none" w="med" len="med"/>
                    </a:lnT>
                  </a:tcPr>
                </a:tc>
                <a:tc>
                  <a:txBody>
                    <a:bodyPr/>
                    <a:lstStyle/>
                    <a:p>
                      <a:pPr algn="l">
                        <a:buNone/>
                      </a:pPr>
                      <a:r>
                        <a:rPr lang="zh-CN" altLang="en-US" sz="1600"/>
                        <a:t>注册成功，跳转登录</a:t>
                      </a:r>
                    </a:p>
                  </a:txBody>
                  <a:tcPr marL="76200" marR="76200" marT="38100" marB="19050" anchor="ctr">
                    <a:lnT w="6350" cap="flat" cmpd="sng" algn="ctr">
                      <a:solidFill>
                        <a:schemeClr val="tx1"/>
                      </a:solidFill>
                      <a:prstDash val="solid"/>
                      <a:round/>
                      <a:headEnd type="none" w="med" len="med"/>
                      <a:tailEnd type="none" w="med" len="med"/>
                    </a:lnT>
                  </a:tcPr>
                </a:tc>
                <a:tc>
                  <a:txBody>
                    <a:bodyPr/>
                    <a:lstStyle/>
                    <a:p>
                      <a:pPr algn="l">
                        <a:buNone/>
                      </a:pPr>
                      <a:r>
                        <a:rPr lang="zh-CN" altLang="en-US" sz="1600"/>
                        <a:t>与预期一致</a:t>
                      </a:r>
                    </a:p>
                  </a:txBody>
                  <a:tcPr marL="76200" marR="76200" marT="38100" marB="19050" anchor="ctr">
                    <a:lnT w="6350" cap="flat" cmpd="sng" algn="ctr">
                      <a:solidFill>
                        <a:schemeClr val="tx1"/>
                      </a:solidFill>
                      <a:prstDash val="solid"/>
                      <a:round/>
                      <a:headEnd type="none" w="med" len="med"/>
                      <a:tailEnd type="none" w="med" len="med"/>
                    </a:lnT>
                  </a:tcPr>
                </a:tc>
                <a:tc>
                  <a:txBody>
                    <a:bodyPr/>
                    <a:lstStyle/>
                    <a:p>
                      <a:pPr algn="l">
                        <a:buNone/>
                      </a:pPr>
                      <a:r>
                        <a:rPr lang="zh-CN" altLang="en-US" sz="1600"/>
                        <a:t>通过</a:t>
                      </a:r>
                    </a:p>
                  </a:txBody>
                  <a:tcPr marL="76200" marR="76200" marT="38100" marB="19050"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54018206"/>
                  </a:ext>
                </a:extLst>
              </a:tr>
              <a:tr h="0">
                <a:tc>
                  <a:txBody>
                    <a:bodyPr/>
                    <a:lstStyle/>
                    <a:p>
                      <a:pPr algn="l">
                        <a:buNone/>
                      </a:pPr>
                      <a:r>
                        <a:rPr lang="en-US" sz="1600" dirty="0"/>
                        <a:t>TC_02</a:t>
                      </a:r>
                    </a:p>
                  </a:txBody>
                  <a:tcPr anchor="ctr"/>
                </a:tc>
                <a:tc>
                  <a:txBody>
                    <a:bodyPr/>
                    <a:lstStyle/>
                    <a:p>
                      <a:pPr algn="l">
                        <a:buNone/>
                      </a:pPr>
                      <a:r>
                        <a:rPr lang="zh-CN" altLang="en-US" sz="1600"/>
                        <a:t>手机号已存在</a:t>
                      </a:r>
                    </a:p>
                  </a:txBody>
                  <a:tcPr marL="76200" marR="76200" marT="38100" marB="19050" anchor="ctr"/>
                </a:tc>
                <a:tc>
                  <a:txBody>
                    <a:bodyPr/>
                    <a:lstStyle/>
                    <a:p>
                      <a:pPr algn="l">
                        <a:buNone/>
                      </a:pPr>
                      <a:r>
                        <a:rPr lang="zh-CN" altLang="en-US" sz="1600"/>
                        <a:t>使用已注册手机号</a:t>
                      </a:r>
                    </a:p>
                  </a:txBody>
                  <a:tcPr marL="76200" marR="76200" marT="38100" marB="19050" anchor="ctr"/>
                </a:tc>
                <a:tc>
                  <a:txBody>
                    <a:bodyPr/>
                    <a:lstStyle/>
                    <a:p>
                      <a:pPr algn="l">
                        <a:buNone/>
                      </a:pPr>
                      <a:r>
                        <a:rPr lang="zh-CN" altLang="en-US" sz="1600"/>
                        <a:t>提示“手机号已被使用”</a:t>
                      </a:r>
                    </a:p>
                  </a:txBody>
                  <a:tcPr marL="76200" marR="76200" marT="38100" marB="19050" anchor="ctr"/>
                </a:tc>
                <a:tc>
                  <a:txBody>
                    <a:bodyPr/>
                    <a:lstStyle/>
                    <a:p>
                      <a:pPr algn="l">
                        <a:buNone/>
                      </a:pPr>
                      <a:r>
                        <a:rPr lang="zh-CN" altLang="en-US" sz="1600"/>
                        <a:t>与预期一致</a:t>
                      </a:r>
                    </a:p>
                  </a:txBody>
                  <a:tcPr marL="76200" marR="76200" marT="38100" marB="19050" anchor="ctr"/>
                </a:tc>
                <a:tc>
                  <a:txBody>
                    <a:bodyPr/>
                    <a:lstStyle/>
                    <a:p>
                      <a:pPr algn="l">
                        <a:buNone/>
                      </a:pPr>
                      <a:r>
                        <a:rPr lang="zh-CN" altLang="en-US" sz="1600"/>
                        <a:t>通过</a:t>
                      </a:r>
                    </a:p>
                  </a:txBody>
                  <a:tcPr marL="76200" marR="76200" marT="38100" marB="19050" anchor="ctr"/>
                </a:tc>
                <a:extLst>
                  <a:ext uri="{0D108BD9-81ED-4DB2-BD59-A6C34878D82A}">
                    <a16:rowId xmlns:a16="http://schemas.microsoft.com/office/drawing/2014/main" val="3114873075"/>
                  </a:ext>
                </a:extLst>
              </a:tr>
              <a:tr h="0">
                <a:tc>
                  <a:txBody>
                    <a:bodyPr/>
                    <a:lstStyle/>
                    <a:p>
                      <a:pPr algn="l">
                        <a:buNone/>
                      </a:pPr>
                      <a:r>
                        <a:rPr lang="en-US" sz="1600" dirty="0"/>
                        <a:t>TC_03</a:t>
                      </a:r>
                    </a:p>
                  </a:txBody>
                  <a:tcPr anchor="ctr"/>
                </a:tc>
                <a:tc>
                  <a:txBody>
                    <a:bodyPr/>
                    <a:lstStyle/>
                    <a:p>
                      <a:pPr algn="l">
                        <a:buNone/>
                      </a:pPr>
                      <a:r>
                        <a:rPr lang="zh-CN" altLang="en-US" sz="1600"/>
                        <a:t>密码长度不足</a:t>
                      </a:r>
                    </a:p>
                  </a:txBody>
                  <a:tcPr marL="76200" marR="76200" marT="38100" marB="19050" anchor="ctr"/>
                </a:tc>
                <a:tc>
                  <a:txBody>
                    <a:bodyPr/>
                    <a:lstStyle/>
                    <a:p>
                      <a:pPr algn="l">
                        <a:buNone/>
                      </a:pPr>
                      <a:r>
                        <a:rPr lang="zh-CN" altLang="en-US" sz="1600"/>
                        <a:t>密码：</a:t>
                      </a:r>
                      <a:r>
                        <a:rPr lang="en-US" sz="1600"/>
                        <a:t>123</a:t>
                      </a:r>
                      <a:endParaRPr lang="zh-CN" altLang="en-US" sz="1600"/>
                    </a:p>
                  </a:txBody>
                  <a:tcPr marL="76200" marR="76200" marT="38100" marB="19050" anchor="ctr"/>
                </a:tc>
                <a:tc>
                  <a:txBody>
                    <a:bodyPr/>
                    <a:lstStyle/>
                    <a:p>
                      <a:pPr algn="l">
                        <a:buNone/>
                      </a:pPr>
                      <a:r>
                        <a:rPr lang="zh-CN" altLang="en-US" sz="1600"/>
                        <a:t>提示“密码长度不合法”</a:t>
                      </a:r>
                    </a:p>
                  </a:txBody>
                  <a:tcPr marL="76200" marR="76200" marT="38100" marB="19050" anchor="ctr"/>
                </a:tc>
                <a:tc>
                  <a:txBody>
                    <a:bodyPr/>
                    <a:lstStyle/>
                    <a:p>
                      <a:pPr algn="l">
                        <a:buNone/>
                      </a:pPr>
                      <a:r>
                        <a:rPr lang="zh-CN" altLang="en-US" sz="1600"/>
                        <a:t>与预期一致</a:t>
                      </a:r>
                    </a:p>
                  </a:txBody>
                  <a:tcPr marL="76200" marR="76200" marT="38100" marB="19050" anchor="ctr"/>
                </a:tc>
                <a:tc>
                  <a:txBody>
                    <a:bodyPr/>
                    <a:lstStyle/>
                    <a:p>
                      <a:pPr algn="l">
                        <a:buNone/>
                      </a:pPr>
                      <a:r>
                        <a:rPr lang="zh-CN" altLang="en-US" sz="1600"/>
                        <a:t>通过</a:t>
                      </a:r>
                    </a:p>
                  </a:txBody>
                  <a:tcPr marL="76200" marR="76200" marT="38100" marB="19050" anchor="ctr"/>
                </a:tc>
                <a:extLst>
                  <a:ext uri="{0D108BD9-81ED-4DB2-BD59-A6C34878D82A}">
                    <a16:rowId xmlns:a16="http://schemas.microsoft.com/office/drawing/2014/main" val="3496513019"/>
                  </a:ext>
                </a:extLst>
              </a:tr>
              <a:tr h="0">
                <a:tc>
                  <a:txBody>
                    <a:bodyPr/>
                    <a:lstStyle/>
                    <a:p>
                      <a:pPr algn="l">
                        <a:buNone/>
                      </a:pPr>
                      <a:r>
                        <a:rPr lang="en-US" sz="1600" dirty="0"/>
                        <a:t>TC_04</a:t>
                      </a:r>
                    </a:p>
                  </a:txBody>
                  <a:tcPr anchor="ctr"/>
                </a:tc>
                <a:tc>
                  <a:txBody>
                    <a:bodyPr/>
                    <a:lstStyle/>
                    <a:p>
                      <a:pPr algn="l">
                        <a:buNone/>
                      </a:pPr>
                      <a:r>
                        <a:rPr lang="zh-CN" altLang="en-US" sz="1600"/>
                        <a:t>手机号格式错误</a:t>
                      </a:r>
                    </a:p>
                  </a:txBody>
                  <a:tcPr marL="76200" marR="76200" marT="38100" marB="19050" anchor="ctr"/>
                </a:tc>
                <a:tc>
                  <a:txBody>
                    <a:bodyPr/>
                    <a:lstStyle/>
                    <a:p>
                      <a:pPr algn="l">
                        <a:buNone/>
                      </a:pPr>
                      <a:r>
                        <a:rPr lang="zh-CN" altLang="en-US" sz="1600"/>
                        <a:t>手机号：</a:t>
                      </a:r>
                      <a:r>
                        <a:rPr lang="en-US" sz="1600"/>
                        <a:t>12345</a:t>
                      </a:r>
                      <a:endParaRPr lang="zh-CN" altLang="en-US" sz="1600"/>
                    </a:p>
                  </a:txBody>
                  <a:tcPr marL="76200" marR="76200" marT="38100" marB="19050" anchor="ctr"/>
                </a:tc>
                <a:tc>
                  <a:txBody>
                    <a:bodyPr/>
                    <a:lstStyle/>
                    <a:p>
                      <a:pPr algn="l">
                        <a:buNone/>
                      </a:pPr>
                      <a:r>
                        <a:rPr lang="zh-CN" altLang="en-US" sz="1600"/>
                        <a:t>提示“手机号格式错误”</a:t>
                      </a:r>
                    </a:p>
                  </a:txBody>
                  <a:tcPr marL="76200" marR="76200" marT="38100" marB="19050" anchor="ctr"/>
                </a:tc>
                <a:tc>
                  <a:txBody>
                    <a:bodyPr/>
                    <a:lstStyle/>
                    <a:p>
                      <a:pPr algn="l">
                        <a:buNone/>
                      </a:pPr>
                      <a:r>
                        <a:rPr lang="zh-CN" altLang="en-US" sz="1600"/>
                        <a:t>与预期一致</a:t>
                      </a:r>
                    </a:p>
                  </a:txBody>
                  <a:tcPr marL="76200" marR="76200" marT="38100" marB="19050" anchor="ctr"/>
                </a:tc>
                <a:tc>
                  <a:txBody>
                    <a:bodyPr/>
                    <a:lstStyle/>
                    <a:p>
                      <a:pPr algn="l">
                        <a:buNone/>
                      </a:pPr>
                      <a:r>
                        <a:rPr lang="zh-CN" altLang="en-US" sz="1600"/>
                        <a:t>通过</a:t>
                      </a:r>
                    </a:p>
                  </a:txBody>
                  <a:tcPr marL="76200" marR="76200" marT="38100" marB="19050" anchor="ctr"/>
                </a:tc>
                <a:extLst>
                  <a:ext uri="{0D108BD9-81ED-4DB2-BD59-A6C34878D82A}">
                    <a16:rowId xmlns:a16="http://schemas.microsoft.com/office/drawing/2014/main" val="287840331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TC_05</a:t>
                      </a:r>
                    </a:p>
                  </a:txBody>
                  <a:tcPr marL="76200" marR="76200" marT="38100" marB="19050" anchor="ctr">
                    <a:lnB w="12700" cap="flat" cmpd="sng" algn="ctr">
                      <a:solidFill>
                        <a:schemeClr val="tx1"/>
                      </a:solidFill>
                      <a:prstDash val="solid"/>
                      <a:round/>
                      <a:headEnd type="none" w="med" len="med"/>
                      <a:tailEnd type="none" w="med" len="med"/>
                    </a:lnB>
                  </a:tcPr>
                </a:tc>
                <a:tc>
                  <a:txBody>
                    <a:bodyPr/>
                    <a:lstStyle/>
                    <a:p>
                      <a:pPr algn="l">
                        <a:buNone/>
                      </a:pPr>
                      <a:r>
                        <a:rPr lang="zh-CN" altLang="en-US" sz="1600"/>
                        <a:t>用户名已存在</a:t>
                      </a:r>
                    </a:p>
                  </a:txBody>
                  <a:tcPr marL="76200" marR="76200" marT="38100" marB="19050" anchor="ctr">
                    <a:lnB w="12700" cap="flat" cmpd="sng" algn="ctr">
                      <a:solidFill>
                        <a:schemeClr val="tx1"/>
                      </a:solidFill>
                      <a:prstDash val="solid"/>
                      <a:round/>
                      <a:headEnd type="none" w="med" len="med"/>
                      <a:tailEnd type="none" w="med" len="med"/>
                    </a:lnB>
                  </a:tcPr>
                </a:tc>
                <a:tc>
                  <a:txBody>
                    <a:bodyPr/>
                    <a:lstStyle/>
                    <a:p>
                      <a:pPr algn="l">
                        <a:buNone/>
                      </a:pPr>
                      <a:r>
                        <a:rPr lang="zh-CN" altLang="en-US" sz="1600"/>
                        <a:t>使用已注册用户名</a:t>
                      </a:r>
                    </a:p>
                  </a:txBody>
                  <a:tcPr marL="76200" marR="76200" marT="38100" marB="19050" anchor="ctr">
                    <a:lnB w="12700" cap="flat" cmpd="sng" algn="ctr">
                      <a:solidFill>
                        <a:schemeClr val="tx1"/>
                      </a:solidFill>
                      <a:prstDash val="solid"/>
                      <a:round/>
                      <a:headEnd type="none" w="med" len="med"/>
                      <a:tailEnd type="none" w="med" len="med"/>
                    </a:lnB>
                  </a:tcPr>
                </a:tc>
                <a:tc>
                  <a:txBody>
                    <a:bodyPr/>
                    <a:lstStyle/>
                    <a:p>
                      <a:pPr algn="l">
                        <a:buNone/>
                      </a:pPr>
                      <a:r>
                        <a:rPr lang="zh-CN" altLang="en-US" sz="1600"/>
                        <a:t>提示“用户名已被占用”</a:t>
                      </a:r>
                    </a:p>
                  </a:txBody>
                  <a:tcPr marL="76200" marR="76200" marT="38100" marB="19050" anchor="ctr">
                    <a:lnB w="12700" cap="flat" cmpd="sng" algn="ctr">
                      <a:solidFill>
                        <a:schemeClr val="tx1"/>
                      </a:solidFill>
                      <a:prstDash val="solid"/>
                      <a:round/>
                      <a:headEnd type="none" w="med" len="med"/>
                      <a:tailEnd type="none" w="med" len="med"/>
                    </a:lnB>
                  </a:tcPr>
                </a:tc>
                <a:tc>
                  <a:txBody>
                    <a:bodyPr/>
                    <a:lstStyle/>
                    <a:p>
                      <a:pPr algn="l">
                        <a:buNone/>
                      </a:pPr>
                      <a:r>
                        <a:rPr lang="zh-CN" altLang="en-US" sz="1600"/>
                        <a:t>与预期一致</a:t>
                      </a:r>
                    </a:p>
                  </a:txBody>
                  <a:tcPr marL="76200" marR="76200" marT="38100" marB="19050" anchor="ctr">
                    <a:lnB w="12700" cap="flat" cmpd="sng" algn="ctr">
                      <a:solidFill>
                        <a:schemeClr val="tx1"/>
                      </a:solidFill>
                      <a:prstDash val="solid"/>
                      <a:round/>
                      <a:headEnd type="none" w="med" len="med"/>
                      <a:tailEnd type="none" w="med" len="med"/>
                    </a:lnB>
                  </a:tcPr>
                </a:tc>
                <a:tc>
                  <a:txBody>
                    <a:bodyPr/>
                    <a:lstStyle/>
                    <a:p>
                      <a:pPr algn="l">
                        <a:buNone/>
                      </a:pPr>
                      <a:r>
                        <a:rPr lang="zh-CN" altLang="en-US" sz="1600" dirty="0"/>
                        <a:t>通过</a:t>
                      </a:r>
                    </a:p>
                  </a:txBody>
                  <a:tcPr marL="76200" marR="76200" marT="38100" marB="1905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43637656"/>
                  </a:ext>
                </a:extLst>
              </a:tr>
            </a:tbl>
          </a:graphicData>
        </a:graphic>
      </p:graphicFrame>
    </p:spTree>
    <p:extLst>
      <p:ext uri="{BB962C8B-B14F-4D97-AF65-F5344CB8AC3E}">
        <p14:creationId xmlns:p14="http://schemas.microsoft.com/office/powerpoint/2010/main" val="132966249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zh-CN" altLang="en-US"/>
              <a:t>本章小结</a:t>
            </a:r>
          </a:p>
        </p:txBody>
      </p:sp>
      <p:sp>
        <p:nvSpPr>
          <p:cNvPr id="4" name="文本占位符 3">
            <a:extLst>
              <a:ext uri="{FF2B5EF4-FFF2-40B4-BE49-F238E27FC236}">
                <a16:creationId xmlns:a16="http://schemas.microsoft.com/office/drawing/2014/main" id="{135BB002-AB38-C701-4FEE-D37815F968F8}"/>
              </a:ext>
            </a:extLst>
          </p:cNvPr>
          <p:cNvSpPr>
            <a:spLocks noGrp="1"/>
          </p:cNvSpPr>
          <p:nvPr>
            <p:ph type="body" sz="quarter" idx="10"/>
          </p:nvPr>
        </p:nvSpPr>
        <p:spPr>
          <a:xfrm>
            <a:off x="696000" y="1322832"/>
            <a:ext cx="5400000" cy="400110"/>
          </a:xfrm>
        </p:spPr>
        <p:txBody>
          <a:bodyPr/>
          <a:lstStyle/>
          <a:p>
            <a:r>
              <a:rPr lang="zh-CN" altLang="en-US" dirty="0"/>
              <a:t>本章小结</a:t>
            </a:r>
          </a:p>
        </p:txBody>
      </p:sp>
      <p:sp>
        <p:nvSpPr>
          <p:cNvPr id="9" name="文本占位符 8">
            <a:extLst>
              <a:ext uri="{FF2B5EF4-FFF2-40B4-BE49-F238E27FC236}">
                <a16:creationId xmlns:a16="http://schemas.microsoft.com/office/drawing/2014/main" id="{B0CA1D27-5549-557E-2549-8F162694E3A0}"/>
              </a:ext>
            </a:extLst>
          </p:cNvPr>
          <p:cNvSpPr>
            <a:spLocks noGrp="1"/>
          </p:cNvSpPr>
          <p:nvPr>
            <p:ph type="body" sz="quarter" idx="11"/>
          </p:nvPr>
        </p:nvSpPr>
        <p:spPr/>
        <p:txBody>
          <a:bodyPr/>
          <a:lstStyle/>
          <a:p>
            <a:endParaRPr lang="zh-CN" altLang="en-US"/>
          </a:p>
        </p:txBody>
      </p:sp>
      <p:sp>
        <p:nvSpPr>
          <p:cNvPr id="100" name="文本框 99"/>
          <p:cNvSpPr txBox="1"/>
          <p:nvPr/>
        </p:nvSpPr>
        <p:spPr>
          <a:xfrm>
            <a:off x="1584961" y="2115820"/>
            <a:ext cx="9601199" cy="3693319"/>
          </a:xfrm>
          <a:prstGeom prst="rect">
            <a:avLst/>
          </a:prstGeom>
          <a:noFill/>
          <a:ln w="9525">
            <a:noFill/>
          </a:ln>
        </p:spPr>
        <p:txBody>
          <a:bodyPr wrap="square">
            <a:spAutoFit/>
          </a:bodyPr>
          <a:lstStyle/>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在设计应用软件时，</a:t>
            </a:r>
            <a:r>
              <a:rPr dirty="0">
                <a:solidFill>
                  <a:srgbClr val="C00000"/>
                </a:solidFill>
                <a:latin typeface="微软雅黑" panose="020B0503020204020204" charset="-122"/>
                <a:ea typeface="微软雅黑" panose="020B0503020204020204" charset="-122"/>
                <a:sym typeface="+mn-ea"/>
              </a:rPr>
              <a:t>应优先选用高级程序设计语言</a:t>
            </a:r>
            <a:r>
              <a:rPr dirty="0">
                <a:latin typeface="微软雅黑" panose="020B0503020204020204" charset="-122"/>
                <a:ea typeface="微软雅黑" panose="020B0503020204020204" charset="-122"/>
                <a:sym typeface="+mn-ea"/>
              </a:rPr>
              <a:t>，只有3种情况选用汇编语言。</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结构化程序设计将</a:t>
            </a:r>
            <a:r>
              <a:rPr dirty="0">
                <a:solidFill>
                  <a:srgbClr val="C00000"/>
                </a:solidFill>
                <a:latin typeface="微软雅黑" panose="020B0503020204020204" charset="-122"/>
                <a:ea typeface="微软雅黑" panose="020B0503020204020204" charset="-122"/>
                <a:sym typeface="+mn-ea"/>
              </a:rPr>
              <a:t>顺序、选择和循环3种基本控制结构进行组合和嵌套</a:t>
            </a:r>
            <a:r>
              <a:rPr dirty="0">
                <a:latin typeface="微软雅黑" panose="020B0503020204020204" charset="-122"/>
                <a:ea typeface="微软雅黑" panose="020B0503020204020204" charset="-122"/>
                <a:sym typeface="+mn-ea"/>
              </a:rPr>
              <a:t>，以容易理解的形式和避免使用GOTO语句等原则，进行程序设计。</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结构化程序设计使软件</a:t>
            </a:r>
            <a:r>
              <a:rPr dirty="0">
                <a:solidFill>
                  <a:srgbClr val="C00000"/>
                </a:solidFill>
                <a:latin typeface="微软雅黑" panose="020B0503020204020204" charset="-122"/>
                <a:ea typeface="微软雅黑" panose="020B0503020204020204" charset="-122"/>
                <a:sym typeface="+mn-ea"/>
              </a:rPr>
              <a:t>易于理解，易于修改，便于重复使用</a:t>
            </a:r>
            <a:r>
              <a:rPr dirty="0">
                <a:latin typeface="微软雅黑" panose="020B0503020204020204" charset="-122"/>
                <a:ea typeface="微软雅黑" panose="020B0503020204020204" charset="-122"/>
                <a:sym typeface="+mn-ea"/>
              </a:rPr>
              <a:t>。</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软件设计风格直接影响</a:t>
            </a:r>
            <a:r>
              <a:rPr dirty="0">
                <a:solidFill>
                  <a:srgbClr val="C00000"/>
                </a:solidFill>
                <a:latin typeface="微软雅黑" panose="020B0503020204020204" charset="-122"/>
                <a:ea typeface="微软雅黑" panose="020B0503020204020204" charset="-122"/>
                <a:sym typeface="+mn-ea"/>
              </a:rPr>
              <a:t>软件的质量</a:t>
            </a:r>
            <a:r>
              <a:rPr dirty="0">
                <a:latin typeface="微软雅黑" panose="020B0503020204020204" charset="-122"/>
                <a:ea typeface="微软雅黑" panose="020B0503020204020204" charset="-122"/>
                <a:sym typeface="+mn-ea"/>
              </a:rPr>
              <a:t>，影响</a:t>
            </a:r>
            <a:r>
              <a:rPr dirty="0">
                <a:solidFill>
                  <a:srgbClr val="C00000"/>
                </a:solidFill>
                <a:latin typeface="微软雅黑" panose="020B0503020204020204" charset="-122"/>
                <a:ea typeface="微软雅黑" panose="020B0503020204020204" charset="-122"/>
                <a:sym typeface="+mn-ea"/>
              </a:rPr>
              <a:t>软件的可维护性和可移植性。</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软件编码阶段应对源程序进行</a:t>
            </a:r>
            <a:r>
              <a:rPr dirty="0">
                <a:solidFill>
                  <a:srgbClr val="C00000"/>
                </a:solidFill>
                <a:latin typeface="微软雅黑" panose="020B0503020204020204" charset="-122"/>
                <a:ea typeface="微软雅黑" panose="020B0503020204020204" charset="-122"/>
                <a:sym typeface="+mn-ea"/>
              </a:rPr>
              <a:t>静态分析和模块测试</a:t>
            </a:r>
            <a:r>
              <a:rPr dirty="0">
                <a:latin typeface="微软雅黑" panose="020B0503020204020204" charset="-122"/>
                <a:ea typeface="微软雅黑" panose="020B0503020204020204" charset="-122"/>
                <a:sym typeface="+mn-ea"/>
              </a:rPr>
              <a:t>，以保证程序的正确性。</a:t>
            </a:r>
          </a:p>
          <a:p>
            <a:pPr marL="342900" indent="-342900" algn="l" fontAlgn="auto">
              <a:lnSpc>
                <a:spcPct val="130000"/>
              </a:lnSpc>
              <a:buClrTx/>
              <a:buFont typeface="+mj-ea"/>
              <a:buAutoNum type="circleNumDbPlain"/>
            </a:pPr>
            <a:r>
              <a:rPr dirty="0">
                <a:solidFill>
                  <a:srgbClr val="C00000"/>
                </a:solidFill>
                <a:latin typeface="微软雅黑" panose="020B0503020204020204" charset="-122"/>
                <a:ea typeface="微软雅黑" panose="020B0503020204020204" charset="-122"/>
                <a:sym typeface="+mn-ea"/>
              </a:rPr>
              <a:t>软件测试</a:t>
            </a:r>
            <a:r>
              <a:rPr dirty="0">
                <a:latin typeface="微软雅黑" panose="020B0503020204020204" charset="-122"/>
                <a:ea typeface="微软雅黑" panose="020B0503020204020204" charset="-122"/>
                <a:sym typeface="+mn-ea"/>
              </a:rPr>
              <a:t>是由人工或计算机来执行或评价系统的过程，以验证它是否满足规定的需求。</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测试的</a:t>
            </a:r>
            <a:r>
              <a:rPr dirty="0">
                <a:solidFill>
                  <a:srgbClr val="C00000"/>
                </a:solidFill>
                <a:latin typeface="微软雅黑" panose="020B0503020204020204" charset="-122"/>
                <a:ea typeface="微软雅黑" panose="020B0503020204020204" charset="-122"/>
                <a:sym typeface="+mn-ea"/>
              </a:rPr>
              <a:t>根本任务是发现软件中的错误</a:t>
            </a:r>
            <a:r>
              <a:rPr dirty="0">
                <a:latin typeface="微软雅黑" panose="020B0503020204020204" charset="-122"/>
                <a:ea typeface="微软雅黑" panose="020B0503020204020204" charset="-122"/>
                <a:sym typeface="+mn-ea"/>
              </a:rPr>
              <a:t>。测试过程的早期使用</a:t>
            </a:r>
            <a:r>
              <a:rPr b="1" dirty="0">
                <a:solidFill>
                  <a:schemeClr val="accent5">
                    <a:lumMod val="50000"/>
                  </a:schemeClr>
                </a:solidFill>
                <a:latin typeface="微软雅黑" panose="020B0503020204020204" charset="-122"/>
                <a:ea typeface="微软雅黑" panose="020B0503020204020204" charset="-122"/>
                <a:sym typeface="+mn-ea"/>
              </a:rPr>
              <a:t>白盒法</a:t>
            </a:r>
            <a:r>
              <a:rPr dirty="0">
                <a:latin typeface="微软雅黑" panose="020B0503020204020204" charset="-122"/>
                <a:ea typeface="微软雅黑" panose="020B0503020204020204" charset="-122"/>
                <a:sym typeface="+mn-ea"/>
              </a:rPr>
              <a:t>，后期使用</a:t>
            </a:r>
            <a:r>
              <a:rPr b="1" dirty="0">
                <a:solidFill>
                  <a:schemeClr val="accent5">
                    <a:lumMod val="50000"/>
                  </a:schemeClr>
                </a:solidFill>
                <a:latin typeface="微软雅黑" panose="020B0503020204020204" charset="-122"/>
                <a:ea typeface="微软雅黑" panose="020B0503020204020204" charset="-122"/>
                <a:sym typeface="+mn-ea"/>
              </a:rPr>
              <a:t>黑盒法</a:t>
            </a:r>
            <a:r>
              <a:rPr dirty="0">
                <a:latin typeface="微软雅黑" panose="020B0503020204020204" charset="-122"/>
                <a:ea typeface="微软雅黑" panose="020B0503020204020204" charset="-122"/>
                <a:sym typeface="+mn-ea"/>
              </a:rPr>
              <a:t>。</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设计测试方案的</a:t>
            </a:r>
            <a:r>
              <a:rPr dirty="0">
                <a:solidFill>
                  <a:srgbClr val="C00000"/>
                </a:solidFill>
                <a:latin typeface="微软雅黑" panose="020B0503020204020204" charset="-122"/>
                <a:ea typeface="微软雅黑" panose="020B0503020204020204" charset="-122"/>
                <a:sym typeface="+mn-ea"/>
              </a:rPr>
              <a:t>基本目标</a:t>
            </a:r>
            <a:r>
              <a:rPr dirty="0">
                <a:latin typeface="微软雅黑" panose="020B0503020204020204" charset="-122"/>
                <a:ea typeface="微软雅黑" panose="020B0503020204020204" charset="-122"/>
                <a:sym typeface="+mn-ea"/>
              </a:rPr>
              <a:t>是选用尽可能少的高效测试数据，从而尽可能多地发现软件中的错误。</a:t>
            </a:r>
          </a:p>
        </p:txBody>
      </p:sp>
    </p:spTree>
  </p:cSld>
  <p:clrMapOvr>
    <a:masterClrMapping/>
  </p:clrMapOvr>
  <p:transition>
    <p:randomBar dir="vert"/>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336000" y="360000"/>
            <a:ext cx="5760000" cy="535531"/>
          </a:xfrm>
        </p:spPr>
        <p:txBody>
          <a:bodyPr/>
          <a:lstStyle/>
          <a:p>
            <a:r>
              <a:rPr lang="zh-CN" altLang="en-US"/>
              <a:t>本章小结</a:t>
            </a:r>
          </a:p>
        </p:txBody>
      </p:sp>
      <p:sp>
        <p:nvSpPr>
          <p:cNvPr id="4" name="文本占位符 3">
            <a:extLst>
              <a:ext uri="{FF2B5EF4-FFF2-40B4-BE49-F238E27FC236}">
                <a16:creationId xmlns:a16="http://schemas.microsoft.com/office/drawing/2014/main" id="{4BF47E2B-7777-E7A7-8107-60B40D30AF36}"/>
              </a:ext>
            </a:extLst>
          </p:cNvPr>
          <p:cNvSpPr>
            <a:spLocks noGrp="1"/>
          </p:cNvSpPr>
          <p:nvPr>
            <p:ph type="body" sz="quarter" idx="10"/>
          </p:nvPr>
        </p:nvSpPr>
        <p:spPr>
          <a:xfrm>
            <a:off x="696000" y="1322832"/>
            <a:ext cx="5400000" cy="400110"/>
          </a:xfrm>
        </p:spPr>
        <p:txBody>
          <a:bodyPr/>
          <a:lstStyle/>
          <a:p>
            <a:r>
              <a:rPr lang="zh-CN" altLang="en-US" dirty="0"/>
              <a:t>本章小结</a:t>
            </a:r>
          </a:p>
        </p:txBody>
      </p:sp>
      <p:sp>
        <p:nvSpPr>
          <p:cNvPr id="9" name="文本占位符 8">
            <a:extLst>
              <a:ext uri="{FF2B5EF4-FFF2-40B4-BE49-F238E27FC236}">
                <a16:creationId xmlns:a16="http://schemas.microsoft.com/office/drawing/2014/main" id="{370CBECA-5039-BD26-D3F4-2471C38C84ED}"/>
              </a:ext>
            </a:extLst>
          </p:cNvPr>
          <p:cNvSpPr>
            <a:spLocks noGrp="1"/>
          </p:cNvSpPr>
          <p:nvPr>
            <p:ph type="body" sz="quarter" idx="11"/>
          </p:nvPr>
        </p:nvSpPr>
        <p:spPr/>
        <p:txBody>
          <a:bodyPr/>
          <a:lstStyle/>
          <a:p>
            <a:endParaRPr lang="zh-CN" altLang="en-US"/>
          </a:p>
        </p:txBody>
      </p:sp>
      <p:sp>
        <p:nvSpPr>
          <p:cNvPr id="100" name="文本框 99"/>
          <p:cNvSpPr txBox="1"/>
          <p:nvPr/>
        </p:nvSpPr>
        <p:spPr>
          <a:xfrm>
            <a:off x="1579245" y="2131060"/>
            <a:ext cx="9691370" cy="3653790"/>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使用</a:t>
            </a:r>
            <a:r>
              <a:rPr dirty="0">
                <a:solidFill>
                  <a:srgbClr val="C00000"/>
                </a:solidFill>
                <a:latin typeface="微软雅黑" panose="020B0503020204020204" charset="-122"/>
                <a:ea typeface="微软雅黑" panose="020B0503020204020204" charset="-122"/>
                <a:sym typeface="+mn-ea"/>
              </a:rPr>
              <a:t>边界值分析方法</a:t>
            </a:r>
            <a:r>
              <a:rPr dirty="0">
                <a:latin typeface="微软雅黑" panose="020B0503020204020204" charset="-122"/>
                <a:ea typeface="微软雅黑" panose="020B0503020204020204" charset="-122"/>
                <a:sym typeface="+mn-ea"/>
              </a:rPr>
              <a:t>，既测试输入数据的边界情况又检查输出数据的边界情况。</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用</a:t>
            </a:r>
            <a:r>
              <a:rPr dirty="0">
                <a:solidFill>
                  <a:srgbClr val="C00000"/>
                </a:solidFill>
                <a:latin typeface="微软雅黑" panose="020B0503020204020204" charset="-122"/>
                <a:ea typeface="微软雅黑" panose="020B0503020204020204" charset="-122"/>
                <a:sym typeface="+mn-ea"/>
              </a:rPr>
              <a:t>等价类划分法</a:t>
            </a:r>
            <a:r>
              <a:rPr dirty="0">
                <a:latin typeface="微软雅黑" panose="020B0503020204020204" charset="-122"/>
                <a:ea typeface="微软雅黑" panose="020B0503020204020204" charset="-122"/>
                <a:sym typeface="+mn-ea"/>
              </a:rPr>
              <a:t>补充测试方案。</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必要时用</a:t>
            </a:r>
            <a:r>
              <a:rPr dirty="0">
                <a:solidFill>
                  <a:srgbClr val="C00000"/>
                </a:solidFill>
                <a:latin typeface="微软雅黑" panose="020B0503020204020204" charset="-122"/>
                <a:ea typeface="微软雅黑" panose="020B0503020204020204" charset="-122"/>
                <a:sym typeface="+mn-ea"/>
              </a:rPr>
              <a:t>错误推断法</a:t>
            </a:r>
            <a:r>
              <a:rPr dirty="0">
                <a:latin typeface="微软雅黑" panose="020B0503020204020204" charset="-122"/>
                <a:ea typeface="微软雅黑" panose="020B0503020204020204" charset="-122"/>
                <a:sym typeface="+mn-ea"/>
              </a:rPr>
              <a:t>补充测试方案。</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用</a:t>
            </a:r>
            <a:r>
              <a:rPr dirty="0">
                <a:solidFill>
                  <a:srgbClr val="C00000"/>
                </a:solidFill>
                <a:latin typeface="微软雅黑" panose="020B0503020204020204" charset="-122"/>
                <a:ea typeface="微软雅黑" panose="020B0503020204020204" charset="-122"/>
                <a:sym typeface="+mn-ea"/>
              </a:rPr>
              <a:t>逻辑覆盖法</a:t>
            </a:r>
            <a:r>
              <a:rPr dirty="0">
                <a:latin typeface="微软雅黑" panose="020B0503020204020204" charset="-122"/>
                <a:ea typeface="微软雅黑" panose="020B0503020204020204" charset="-122"/>
                <a:sym typeface="+mn-ea"/>
              </a:rPr>
              <a:t>检查现有测试方案，若没有达到逻辑覆盖标准，应再补充一些测试方案。</a:t>
            </a:r>
          </a:p>
          <a:p>
            <a:pPr marL="342900" indent="-342900" algn="l" fontAlgn="auto">
              <a:lnSpc>
                <a:spcPct val="130000"/>
              </a:lnSpc>
              <a:buClrTx/>
              <a:buFont typeface="+mj-ea"/>
              <a:buAutoNum type="circleNumDbPlain" startAt="9"/>
            </a:pPr>
            <a:r>
              <a:rPr dirty="0">
                <a:solidFill>
                  <a:srgbClr val="C00000"/>
                </a:solidFill>
                <a:latin typeface="微软雅黑" panose="020B0503020204020204" charset="-122"/>
                <a:ea typeface="微软雅黑" panose="020B0503020204020204" charset="-122"/>
                <a:sym typeface="+mn-ea"/>
              </a:rPr>
              <a:t>软件调试是查找、分析和纠正程序中错误的过程。</a:t>
            </a:r>
            <a:r>
              <a:rPr dirty="0">
                <a:latin typeface="微软雅黑" panose="020B0503020204020204" charset="-122"/>
                <a:ea typeface="微软雅黑" panose="020B0503020204020204" charset="-122"/>
                <a:sym typeface="+mn-ea"/>
              </a:rPr>
              <a:t>调试不仅修改软件产品，还应改进软件过程，避免今后程序中可能出现的错误。</a:t>
            </a:r>
          </a:p>
          <a:p>
            <a:pPr marL="342900" indent="-342900" algn="l" fontAlgn="auto">
              <a:lnSpc>
                <a:spcPct val="130000"/>
              </a:lnSpc>
              <a:buClrTx/>
              <a:buFont typeface="+mj-ea"/>
              <a:buAutoNum type="circleNumDbPlain" startAt="9"/>
            </a:pPr>
            <a:r>
              <a:rPr dirty="0">
                <a:solidFill>
                  <a:srgbClr val="C00000"/>
                </a:solidFill>
                <a:latin typeface="微软雅黑" panose="020B0503020204020204" charset="-122"/>
                <a:ea typeface="微软雅黑" panose="020B0503020204020204" charset="-122"/>
                <a:sym typeface="+mn-ea"/>
              </a:rPr>
              <a:t>软件测试和软件调试常常交替进行。</a:t>
            </a:r>
          </a:p>
          <a:p>
            <a:pPr marL="342900" indent="-342900" algn="l" fontAlgn="auto">
              <a:lnSpc>
                <a:spcPct val="130000"/>
              </a:lnSpc>
              <a:buClrTx/>
              <a:buFont typeface="+mj-ea"/>
              <a:buAutoNum type="circleNumDbPlain" startAt="9"/>
            </a:pPr>
            <a:r>
              <a:rPr dirty="0">
                <a:solidFill>
                  <a:srgbClr val="C00000"/>
                </a:solidFill>
                <a:latin typeface="微软雅黑" panose="020B0503020204020204" charset="-122"/>
                <a:ea typeface="微软雅黑" panose="020B0503020204020204" charset="-122"/>
                <a:sym typeface="+mn-ea"/>
              </a:rPr>
              <a:t>软件确认</a:t>
            </a:r>
            <a:r>
              <a:rPr dirty="0">
                <a:latin typeface="微软雅黑" panose="020B0503020204020204" charset="-122"/>
                <a:ea typeface="微软雅黑" panose="020B0503020204020204" charset="-122"/>
                <a:sym typeface="+mn-ea"/>
              </a:rPr>
              <a:t>是指在软件开发过程结束时，对所开发的软件进行评价，以确定它是否和软件需求相一致的过程。</a:t>
            </a:r>
          </a:p>
          <a:p>
            <a:pPr marL="0" indent="0" algn="l" fontAlgn="auto">
              <a:lnSpc>
                <a:spcPct val="130000"/>
              </a:lnSpc>
            </a:pPr>
            <a:endParaRPr dirty="0">
              <a:latin typeface="微软雅黑" panose="020B0503020204020204" charset="-122"/>
              <a:ea typeface="微软雅黑" panose="020B0503020204020204" charset="-122"/>
              <a:sym typeface="+mn-ea"/>
            </a:endParaRPr>
          </a:p>
        </p:txBody>
      </p:sp>
    </p:spTree>
  </p:cSld>
  <p:clrMapOvr>
    <a:masterClrMapping/>
  </p:clrMapOvr>
  <p:transition>
    <p:randomBar dir="vert"/>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5.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2_1"/>
  <p:tag name="KSO_WM_UNIT_ID" val="diagram781_4*q_h_f*1_2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TEXT_FILL_FORE_SCHEMECOLOR_INDEX" val="13"/>
  <p:tag name="KSO_WM_UNIT_TEXT_FILL_TYPE" val="1"/>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4*i*2"/>
  <p:tag name="KSO_WM_TEMPLATE_CATEGORY" val="diagram"/>
  <p:tag name="KSO_WM_TEMPLATE_INDEX" val="781"/>
  <p:tag name="KSO_WM_UNIT_INDEX" val="2"/>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3_1"/>
  <p:tag name="KSO_WM_UNIT_ID" val="diagram781_4*q_h_f*1_3_1"/>
  <p:tag name="KSO_WM_UNIT_CLEAR" val="1"/>
  <p:tag name="KSO_WM_UNIT_LAYERLEVEL" val="1_1_1"/>
  <p:tag name="KSO_WM_UNIT_VALUE" val="32"/>
  <p:tag name="KSO_WM_UNIT_HIGHLIGHT" val="0"/>
  <p:tag name="KSO_WM_UNIT_COMPATIBLE" val="0"/>
  <p:tag name="KSO_WM_UNIT_PRESET_TEXT_INDEX" val="4"/>
  <p:tag name="KSO_WM_UNIT_PRESET_TEXT_LEN" val="57"/>
  <p:tag name="KSO_WM_DIAGRAM_GROUP_CODE" val="q1-1"/>
  <p:tag name="KSO_WM_UNIT_TEXT_FILL_FORE_SCHEMECOLOR_INDEX" val="13"/>
  <p:tag name="KSO_WM_UNIT_TEXT_FILL_TYPE" val="1"/>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1_1"/>
  <p:tag name="KSO_WM_UNIT_ID" val="diagram781_4*q_h_f*1_1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TEXT_FILL_FORE_SCHEMECOLOR_INDEX" val="13"/>
  <p:tag name="KSO_WM_UNIT_TEXT_FILL_TYPE" val="1"/>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0"/>
  <p:tag name="KSO_WM_UNIT_ID" val="diagram781_4*q_i*1_10"/>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1"/>
  <p:tag name="KSO_WM_UNIT_ID" val="diagram781_4*q_i*1_11"/>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2"/>
  <p:tag name="KSO_WM_UNIT_ID" val="diagram781_4*q_i*1_12"/>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8"/>
  <p:tag name="KSO_WM_UNIT_ID" val="diagram781_4*q_i*1_8"/>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9"/>
  <p:tag name="KSO_WM_UNIT_ID" val="diagram781_4*q_i*1_9"/>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6"/>
  <p:tag name="KSO_WM_UNIT_ID" val="diagram781_4*q_i*1_6"/>
  <p:tag name="KSO_WM_UNIT_CLEAR" val="1"/>
  <p:tag name="KSO_WM_UNIT_LAYERLEVEL" val="1_1"/>
  <p:tag name="KSO_WM_DIAGRAM_GROUP_CODE" val="q1-1"/>
  <p:tag name="KSO_WM_UNIT_FILL_FORE_SCHEMECOLOR_INDEX" val="7"/>
  <p:tag name="KSO_WM_UNIT_FILL_TYPE" val="1"/>
  <p:tag name="KSO_WM_UNIT_TEXT_FILL_FORE_SCHEMECOLOR_INDEX" val="2"/>
  <p:tag name="KSO_WM_UNIT_TEXT_FILL_TYPE" val="1"/>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7"/>
  <p:tag name="KSO_WM_UNIT_ID" val="diagram781_4*q_i*1_7"/>
  <p:tag name="KSO_WM_UNIT_CLEAR" val="1"/>
  <p:tag name="KSO_WM_UNIT_LAYERLEVEL" val="1_1"/>
  <p:tag name="KSO_WM_DIAGRAM_GROUP_CODE" val="q1-1"/>
  <p:tag name="KSO_WM_UNIT_FILL_FORE_SCHEMECOLOR_INDEX" val="7"/>
  <p:tag name="KSO_WM_UNIT_FILL_TYPE" val="1"/>
  <p:tag name="KSO_WM_UNIT_TEXT_FILL_FORE_SCHEMECOLOR_INDEX" val="2"/>
  <p:tag name="KSO_WM_UNIT_TEXT_FILL_TYPE" val="1"/>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4"/>
  <p:tag name="KSO_WM_UNIT_ID" val="diagram781_4*q_i*1_4"/>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5"/>
  <p:tag name="KSO_WM_UNIT_ID" val="diagram781_4*q_i*1_5"/>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
  <p:tag name="KSO_WM_UNIT_ID" val="diagram781_4*q_i*1_1"/>
  <p:tag name="KSO_WM_UNIT_CLEAR" val="1"/>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2"/>
  <p:tag name="KSO_WM_UNIT_ID" val="diagram781_4*q_i*1_2"/>
  <p:tag name="KSO_WM_UNIT_CLEAR" val="1"/>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3"/>
  <p:tag name="KSO_WM_UNIT_ID" val="diagram781_4*q_i*1_3"/>
  <p:tag name="KSO_WM_UNIT_CLEAR" val="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6.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Other"/>
  <p:tag name="MH_ORDER" val="1"/>
</p:tagLst>
</file>

<file path=ppt/tags/tag47.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Other"/>
  <p:tag name="MH_ORDER" val="2"/>
</p:tagLst>
</file>

<file path=ppt/tags/tag48.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SubTitle"/>
  <p:tag name="MH_ORDER" val="1"/>
</p:tagLst>
</file>

<file path=ppt/tags/tag49.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SubTitle"/>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Text"/>
  <p:tag name="MH_ORDER" val="1"/>
</p:tagLst>
</file>

<file path=ppt/tags/tag51.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Text"/>
  <p:tag name="MH_ORDER" val="2"/>
</p:tagLst>
</file>

<file path=ppt/tags/tag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4*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4*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5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6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70*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70*q_h_f*1_3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4_1"/>
  <p:tag name="KSO_WM_UNIT_ID" val="custom160596_70*q_h_f*1_4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70*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6_1"/>
  <p:tag name="KSO_WM_UNIT_ID" val="custom160596_70*q_h_f*1_6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70*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70*q_i*1_9"/>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70*q_i*1_11"/>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70*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5"/>
  <p:tag name="KSO_WM_UNIT_ID" val="custom160596_70*q_i*1_15"/>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7"/>
  <p:tag name="KSO_WM_UNIT_ID" val="custom160596_70*q_i*1_17"/>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9"/>
  <p:tag name="KSO_WM_UNIT_ID" val="custom160596_70*q_i*1_19"/>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1"/>
  <p:tag name="KSO_WM_UNIT_ID" val="custom160596_70*q_i*1_2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1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1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1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18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18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18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18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18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18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18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18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188.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189.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91.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9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9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9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9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9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9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2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2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2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2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2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2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2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2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2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2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2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9*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9*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9*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9*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9*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9*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9*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9*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9*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1"/>
  <p:tag name="KSO_WM_UNIT_ID" val="custom160596_39*r_i*1_1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2"/>
  <p:tag name="KSO_WM_UNIT_ID" val="custom160596_39*r_i*1_12"/>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9*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9*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9*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9*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0"/>
  <p:tag name="KSO_WM_UNIT_ID" val="custom160596_39*r_v*1_10"/>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8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0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3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3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3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3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3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3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3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3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25*l_i*1_1"/>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25*l_i*1_2"/>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25*l_i*1_3"/>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25*l_i*1_4"/>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25*l_i*1_5"/>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25*l_i*1_6"/>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25*l_i*1_7"/>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25*l_i*1_8"/>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25*l_i*1_9"/>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25*l_i*1_10"/>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25*l_i*1_11"/>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25*l_i*1_12"/>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25*l_i*1_13"/>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25*l_i*1_14"/>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5"/>
  <p:tag name="KSO_WM_UNIT_ID" val="custom160596_25*l_i*1_15"/>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6"/>
  <p:tag name="KSO_WM_UNIT_ID" val="custom160596_25*l_i*1_16"/>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25*l_h_a*1_4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25*l_h_a*1_3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25*l_h_a*1_1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25*l_h_a*1_2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1"/>
  <p:tag name="KSO_WM_UNIT_HIGHLIGHT" val="0"/>
  <p:tag name="KSO_WM_UNIT_COMPATIBLE" val="0"/>
  <p:tag name="KSO_WM_UNIT_ID" val="custom160034_20*m_h_f*1_1_1"/>
  <p:tag name="KSO_WM_UNIT_PRESET_TEXT_INDEX" val="2"/>
  <p:tag name="KSO_WM_UNIT_PRESET_TEXT_LEN" val="20"/>
  <p:tag name="KSO_WM_DIAGRAM_GROUP_CODE" val="m1-1"/>
  <p:tag name="KSO_WM_UNIT_USESOURCEFORMAT_APPLY" val="1"/>
</p:tagLst>
</file>

<file path=ppt/tags/tag3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3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3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3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3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3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3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1_1"/>
  <p:tag name="KSO_WM_UNIT_CLEAR" val="1"/>
  <p:tag name="KSO_WM_UNIT_LAYERLEVEL" val="1_1_1"/>
  <p:tag name="KSO_WM_UNIT_VALUE" val="24"/>
  <p:tag name="KSO_WM_UNIT_HIGHLIGHT" val="0"/>
  <p:tag name="KSO_WM_UNIT_COMPATIBLE" val="0"/>
  <p:tag name="KSO_WM_UNIT_ID" val="custom160034_20*m_h_a*1_1_1"/>
  <p:tag name="KSO_WM_UNIT_PRESET_TEXT_INDEX" val="0"/>
  <p:tag name="KSO_WM_UNIT_PRESET_TEXT_LEN" val="9"/>
  <p:tag name="KSO_WM_DIAGRAM_GROUP_CODE" val="m1-1"/>
  <p:tag name="KSO_WM_UNIT_USESOURCEFORMAT_APPLY" val="1"/>
</p:tagLst>
</file>

<file path=ppt/tags/tag3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2_1"/>
  <p:tag name="KSO_WM_UNIT_CLEAR" val="1"/>
  <p:tag name="KSO_WM_UNIT_LAYERLEVEL" val="1_1_1"/>
  <p:tag name="KSO_WM_UNIT_VALUE" val="24"/>
  <p:tag name="KSO_WM_UNIT_HIGHLIGHT" val="0"/>
  <p:tag name="KSO_WM_UNIT_COMPATIBLE" val="0"/>
  <p:tag name="KSO_WM_UNIT_ID" val="custom160034_20*m_h_a*1_2_1"/>
  <p:tag name="KSO_WM_UNIT_PRESET_TEXT_INDEX" val="0"/>
  <p:tag name="KSO_WM_UNIT_PRESET_TEXT_LEN" val="9"/>
  <p:tag name="KSO_WM_DIAGRAM_GROUP_CODE" val="m1-1"/>
  <p:tag name="KSO_WM_UNIT_USESOURCEFORMAT_APPLY" val="1"/>
</p:tagLst>
</file>

<file path=ppt/tags/tag3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3_1"/>
  <p:tag name="KSO_WM_UNIT_CLEAR" val="1"/>
  <p:tag name="KSO_WM_UNIT_LAYERLEVEL" val="1_1_1"/>
  <p:tag name="KSO_WM_UNIT_VALUE" val="24"/>
  <p:tag name="KSO_WM_UNIT_HIGHLIGHT" val="0"/>
  <p:tag name="KSO_WM_UNIT_COMPATIBLE" val="0"/>
  <p:tag name="KSO_WM_UNIT_ID" val="custom160034_20*m_h_a*1_3_1"/>
  <p:tag name="KSO_WM_UNIT_PRESET_TEXT_INDEX" val="0"/>
  <p:tag name="KSO_WM_UNIT_PRESET_TEXT_LEN" val="9"/>
  <p:tag name="KSO_WM_DIAGRAM_GROUP_CODE" val="m1-1"/>
  <p:tag name="KSO_WM_UNIT_USESOURCEFORMAT_APPLY" val="1"/>
</p:tagLst>
</file>

<file path=ppt/tags/tag3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1*m_i*1_1"/>
  <p:tag name="KSO_WM_DIAGRAM_GROUP_CODE" val="m1-1"/>
  <p:tag name="KSO_WM_UNIT_SHADOW_SCHEMECOLOR_INDEX" val="16"/>
  <p:tag name="KSO_WM_UNIT_TEXT_FILL_FORE_SCHEMECOLOR_INDEX" val="13"/>
  <p:tag name="KSO_WM_UNIT_TEXT_FILL_TYPE" val="1"/>
  <p:tag name="KSO_WM_UNIT_USESOURCEFORMAT_APPLY" val="1"/>
</p:tagLst>
</file>

<file path=ppt/tags/tag3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1*m_i*1_2"/>
  <p:tag name="KSO_WM_DIAGRAM_GROUP_CODE" val="m1-1"/>
  <p:tag name="KSO_WM_UNIT_SHADOW_SCHEMECOLOR_INDEX" val="16"/>
  <p:tag name="KSO_WM_UNIT_TEXT_FILL_FORE_SCHEMECOLOR_INDEX" val="14"/>
  <p:tag name="KSO_WM_UNIT_TEXT_FILL_TYPE" val="1"/>
  <p:tag name="KSO_WM_UNIT_USESOURCEFORMAT_APPLY" val="1"/>
</p:tagLst>
</file>

<file path=ppt/tags/tag3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1*m_i*1_3"/>
  <p:tag name="KSO_WM_DIAGRAM_GROUP_CODE" val="m1-1"/>
  <p:tag name="KSO_WM_UNIT_SHADOW_SCHEMECOLOR_INDEX" val="16"/>
  <p:tag name="KSO_WM_UNIT_TEXT_FILL_FORE_SCHEMECOLOR_INDEX" val="14"/>
  <p:tag name="KSO_WM_UNIT_TEXT_FILL_TYPE" val="1"/>
  <p:tag name="KSO_WM_UNIT_USESOURCEFORMAT_APPLY" val="1"/>
</p:tagLst>
</file>

<file path=ppt/tags/tag3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1*m_i*1_4"/>
  <p:tag name="KSO_WM_DIAGRAM_GROUP_CODE" val="m1-1"/>
  <p:tag name="KSO_WM_UNIT_SHADOW_SCHEMECOLOR_INDEX" val="16"/>
  <p:tag name="KSO_WM_UNIT_TEXT_FILL_FORE_SCHEMECOLOR_INDEX" val="13"/>
  <p:tag name="KSO_WM_UNIT_TEXT_FILL_TYPE" val="1"/>
  <p:tag name="KSO_WM_UNIT_USESOURCEFORMAT_APPLY" val="1"/>
</p:tagLst>
</file>

<file path=ppt/tags/tag3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1_1"/>
  <p:tag name="KSO_WM_UNIT_CLEAR" val="1"/>
  <p:tag name="KSO_WM_UNIT_LAYERLEVEL" val="1_1_1"/>
  <p:tag name="KSO_WM_UNIT_VALUE" val="8"/>
  <p:tag name="KSO_WM_UNIT_HIGHLIGHT" val="0"/>
  <p:tag name="KSO_WM_UNIT_COMPATIBLE" val="0"/>
  <p:tag name="KSO_WM_UNIT_ID" val="custom160034_21*m_h_a*1_1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3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3_1"/>
  <p:tag name="KSO_WM_UNIT_CLEAR" val="1"/>
  <p:tag name="KSO_WM_UNIT_LAYERLEVEL" val="1_1_1"/>
  <p:tag name="KSO_WM_UNIT_VALUE" val="8"/>
  <p:tag name="KSO_WM_UNIT_HIGHLIGHT" val="0"/>
  <p:tag name="KSO_WM_UNIT_COMPATIBLE" val="0"/>
  <p:tag name="KSO_WM_UNIT_ID" val="custom160034_21*m_h_a*1_3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3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4_1"/>
  <p:tag name="KSO_WM_UNIT_CLEAR" val="1"/>
  <p:tag name="KSO_WM_UNIT_LAYERLEVEL" val="1_1_1"/>
  <p:tag name="KSO_WM_UNIT_VALUE" val="8"/>
  <p:tag name="KSO_WM_UNIT_HIGHLIGHT" val="0"/>
  <p:tag name="KSO_WM_UNIT_COMPATIBLE" val="0"/>
  <p:tag name="KSO_WM_UNIT_ID" val="custom160034_21*m_h_a*1_4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3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1*m_i*1_5"/>
  <p:tag name="KSO_WM_DIAGRAM_GROUP_CODE" val="m1-1"/>
  <p:tag name="KSO_WM_UNIT_SHADOW_SCHEMECOLOR_INDEX" val="16"/>
  <p:tag name="KSO_WM_UNIT_TEXT_FILL_FORE_SCHEMECOLOR_INDEX" val="14"/>
  <p:tag name="KSO_WM_UNIT_TEXT_FILL_TYPE" val="1"/>
  <p:tag name="KSO_WM_UNIT_USESOURCEFORMAT_APPLY" val="1"/>
</p:tagLst>
</file>

<file path=ppt/tags/tag3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6"/>
  <p:tag name="KSO_WM_UNIT_CLEAR" val="1"/>
  <p:tag name="KSO_WM_UNIT_LAYERLEVEL" val="1_1"/>
  <p:tag name="KSO_WM_UNIT_ID" val="custom160034_21*m_i*1_6"/>
  <p:tag name="KSO_WM_DIAGRAM_GROUP_CODE" val="m1-1"/>
  <p:tag name="KSO_WM_UNIT_SHADOW_SCHEMECOLOR_INDEX" val="16"/>
  <p:tag name="KSO_WM_UNIT_TEXT_FILL_FORE_SCHEMECOLOR_INDEX" val="14"/>
  <p:tag name="KSO_WM_UNIT_TEXT_FILL_TYPE" val="1"/>
  <p:tag name="KSO_WM_UNIT_USESOURCEFORMAT_APPLY" val="1"/>
</p:tagLst>
</file>

<file path=ppt/tags/tag3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7"/>
  <p:tag name="KSO_WM_UNIT_CLEAR" val="1"/>
  <p:tag name="KSO_WM_UNIT_LAYERLEVEL" val="1_1"/>
  <p:tag name="KSO_WM_UNIT_ID" val="custom160034_21*m_i*1_7"/>
  <p:tag name="KSO_WM_DIAGRAM_GROUP_CODE" val="m1-1"/>
  <p:tag name="KSO_WM_UNIT_SHADOW_SCHEMECOLOR_INDEX" val="16"/>
  <p:tag name="KSO_WM_UNIT_TEXT_FILL_FORE_SCHEMECOLOR_INDEX" val="13"/>
  <p:tag name="KSO_WM_UNIT_TEXT_FILL_TYPE" val="1"/>
  <p:tag name="KSO_WM_UNIT_USESOURCEFORMAT_APPLY" val="1"/>
</p:tagLst>
</file>

<file path=ppt/tags/tag3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2_1"/>
  <p:tag name="KSO_WM_UNIT_CLEAR" val="1"/>
  <p:tag name="KSO_WM_UNIT_LAYERLEVEL" val="1_1_1"/>
  <p:tag name="KSO_WM_UNIT_VALUE" val="8"/>
  <p:tag name="KSO_WM_UNIT_HIGHLIGHT" val="0"/>
  <p:tag name="KSO_WM_UNIT_COMPATIBLE" val="0"/>
  <p:tag name="KSO_WM_UNIT_ID" val="custom160034_21*m_h_a*1_2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3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0"/>
  <p:tag name="KSO_WM_UNIT_HIGHLIGHT" val="0"/>
  <p:tag name="KSO_WM_UNIT_COMPATIBLE" val="0"/>
  <p:tag name="KSO_WM_UNIT_ID" val="custom160034_21*m_h_f*1_1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3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0"/>
  <p:tag name="KSO_WM_UNIT_HIGHLIGHT" val="0"/>
  <p:tag name="KSO_WM_UNIT_COMPATIBLE" val="0"/>
  <p:tag name="KSO_WM_UNIT_ID" val="custom160034_21*m_h_f*1_2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3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0"/>
  <p:tag name="KSO_WM_UNIT_HIGHLIGHT" val="0"/>
  <p:tag name="KSO_WM_UNIT_COMPATIBLE" val="0"/>
  <p:tag name="KSO_WM_UNIT_ID" val="custom160034_21*m_h_f*1_3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3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4_1"/>
  <p:tag name="KSO_WM_UNIT_CLEAR" val="1"/>
  <p:tag name="KSO_WM_UNIT_LAYERLEVEL" val="1_1_1"/>
  <p:tag name="KSO_WM_UNIT_VALUE" val="90"/>
  <p:tag name="KSO_WM_UNIT_HIGHLIGHT" val="0"/>
  <p:tag name="KSO_WM_UNIT_COMPATIBLE" val="0"/>
  <p:tag name="KSO_WM_UNIT_ID" val="custom160034_21*m_h_f*1_4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just">
          <a:defRPr dirty="0">
            <a:sym typeface="+mn-ea"/>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785</TotalTime>
  <Words>10530</Words>
  <Application>Microsoft Office PowerPoint</Application>
  <PresentationFormat>宽屏</PresentationFormat>
  <Paragraphs>1676</Paragraphs>
  <Slides>117</Slides>
  <Notes>93</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2</vt:i4>
      </vt:variant>
      <vt:variant>
        <vt:lpstr>幻灯片标题</vt:lpstr>
      </vt:variant>
      <vt:variant>
        <vt:i4>117</vt:i4>
      </vt:variant>
    </vt:vector>
  </HeadingPairs>
  <TitlesOfParts>
    <vt:vector size="126" baseType="lpstr">
      <vt:lpstr>微软雅黑</vt:lpstr>
      <vt:lpstr>微软雅黑 Light</vt:lpstr>
      <vt:lpstr>Arial</vt:lpstr>
      <vt:lpstr>Courier New</vt:lpstr>
      <vt:lpstr>Times New Roman</vt:lpstr>
      <vt:lpstr>Wingdings</vt:lpstr>
      <vt:lpstr>Office 主题</vt:lpstr>
      <vt:lpstr>Equation.3</vt:lpstr>
      <vt:lpstr>公式</vt:lpstr>
      <vt:lpstr>PowerPoint 演示文稿</vt:lpstr>
      <vt:lpstr>PowerPoint 演示文稿</vt:lpstr>
      <vt:lpstr>PowerPoint 演示文稿</vt:lpstr>
      <vt:lpstr>PowerPoint 演示文稿</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PowerPoint 演示文稿</vt:lpstr>
      <vt:lpstr>4.2 软件测试目标</vt:lpstr>
      <vt:lpstr>4.2 软件测试目标</vt:lpstr>
      <vt:lpstr>PowerPoint 演示文稿</vt:lpstr>
      <vt:lpstr>4.3 软件测试方法</vt:lpstr>
      <vt:lpstr>4.3 软件测试方法</vt:lpstr>
      <vt:lpstr>PowerPoint 演示文稿</vt:lpstr>
      <vt:lpstr>4.4 软件测试步骤</vt:lpstr>
      <vt:lpstr>4.4 软件测试步骤</vt:lpstr>
      <vt:lpstr>4.4 软件测试步骤</vt:lpstr>
      <vt:lpstr>4.4 软件测试步骤</vt:lpstr>
      <vt:lpstr>4.4 软件测试步骤</vt:lpstr>
      <vt:lpstr>PowerPoint 演示文稿</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PowerPoint 演示文稿</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PowerPoint 演示文稿</vt:lpstr>
      <vt:lpstr>4.6 软件测试原则和策略</vt:lpstr>
      <vt:lpstr>4.6 软件测试原则和策略</vt:lpstr>
      <vt:lpstr>PowerPoint 演示文稿</vt:lpstr>
      <vt:lpstr>4.7 软件调试、验证与确认</vt:lpstr>
      <vt:lpstr>4.7 软件调试、验证与确认</vt:lpstr>
      <vt:lpstr>4.7 软件调试、验证与确认</vt:lpstr>
      <vt:lpstr>4.7 软件调试、验证与确认</vt:lpstr>
      <vt:lpstr>4.7 软件调试、验证与确认</vt:lpstr>
      <vt:lpstr>4.7 软件调试、验证与确认</vt:lpstr>
      <vt:lpstr>4.7 软件调试、验证与确认</vt:lpstr>
      <vt:lpstr>4.7 软件调试、验证与确认</vt:lpstr>
      <vt:lpstr>PowerPoint 演示文稿</vt:lpstr>
      <vt:lpstr>4.8 软件测试文档</vt:lpstr>
      <vt:lpstr>4.8 软件测试文档</vt:lpstr>
      <vt:lpstr>4.8 软件测试文档</vt:lpstr>
      <vt:lpstr>4.8 软件测试文档</vt:lpstr>
      <vt:lpstr>4.8 软件测试文档</vt:lpstr>
      <vt:lpstr>4.8 软件测试文档</vt:lpstr>
      <vt:lpstr>4.8 软件测试文档</vt:lpstr>
      <vt:lpstr>本章小结</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210</cp:revision>
  <dcterms:created xsi:type="dcterms:W3CDTF">2015-05-05T08:02:00Z</dcterms:created>
  <dcterms:modified xsi:type="dcterms:W3CDTF">2026-04-27T04:44:06Z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2052-10.1.0.6135</vt:lpwstr>
  </property>
</Properties>
</file>