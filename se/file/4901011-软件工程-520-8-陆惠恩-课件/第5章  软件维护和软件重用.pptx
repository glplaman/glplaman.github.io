
<file path=[Content_Types].xml><?xml version="1.0" encoding="utf-8"?>
<Types xmlns="http://schemas.openxmlformats.org/package/2006/content-types">
  <Default Extension="docx" ContentType="application/vnd.openxmlformats-officedocument.wordprocessingml.document"/>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heme/theme2.xml" ContentType="application/vnd.openxmlformats-officedocument.them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notesSlides/notesSlide1.xml" ContentType="application/vnd.openxmlformats-officedocument.presentationml.notesSlide+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notesSlides/notesSlide2.xml" ContentType="application/vnd.openxmlformats-officedocument.presentationml.notesSlide+xml"/>
  <Override PartName="/ppt/tags/tag42.xml" ContentType="application/vnd.openxmlformats-officedocument.presentationml.tags+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ags/tag43.xml" ContentType="application/vnd.openxmlformats-officedocument.presentationml.tags+xml"/>
  <Override PartName="/ppt/notesSlides/notesSlide4.xml" ContentType="application/vnd.openxmlformats-officedocument.presentationml.notesSlide+xml"/>
  <Override PartName="/ppt/tags/tag44.xml" ContentType="application/vnd.openxmlformats-officedocument.presentationml.tags+xml"/>
  <Override PartName="/ppt/notesSlides/notesSlide5.xml" ContentType="application/vnd.openxmlformats-officedocument.presentationml.notesSlide+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65.xml" ContentType="application/vnd.openxmlformats-officedocument.presentationml.tags+xml"/>
  <Override PartName="/ppt/notesSlides/notesSlide10.xml" ContentType="application/vnd.openxmlformats-officedocument.presentationml.notesSlide+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notesSlides/notesSlide11.xml" ContentType="application/vnd.openxmlformats-officedocument.presentationml.notesSlide+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notesSlides/notesSlide12.xml" ContentType="application/vnd.openxmlformats-officedocument.presentationml.notesSlide+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notesSlides/notesSlide13.xml" ContentType="application/vnd.openxmlformats-officedocument.presentationml.notesSlide+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notesSlides/notesSlide14.xml" ContentType="application/vnd.openxmlformats-officedocument.presentationml.notesSlide+xml"/>
  <Override PartName="/ppt/tags/tag160.xml" ContentType="application/vnd.openxmlformats-officedocument.presentationml.tags+xml"/>
  <Override PartName="/ppt/notesSlides/notesSlide15.xml" ContentType="application/vnd.openxmlformats-officedocument.presentationml.notesSlide+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notesSlides/notesSlide16.xml" ContentType="application/vnd.openxmlformats-officedocument.presentationml.notesSlide+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notesSlides/notesSlide17.xml" ContentType="application/vnd.openxmlformats-officedocument.presentationml.notesSlide+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notesSlides/notesSlide18.xml" ContentType="application/vnd.openxmlformats-officedocument.presentationml.notesSlide+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notesSlides/notesSlide19.xml" ContentType="application/vnd.openxmlformats-officedocument.presentationml.notesSlide+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notesSlides/notesSlide20.xml" ContentType="application/vnd.openxmlformats-officedocument.presentationml.notesSlide+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notesSlides/notesSlide21.xml" ContentType="application/vnd.openxmlformats-officedocument.presentationml.notesSlide+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notesSlides/notesSlide22.xml" ContentType="application/vnd.openxmlformats-officedocument.presentationml.notesSlide+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notesSlides/notesSlide23.xml" ContentType="application/vnd.openxmlformats-officedocument.presentationml.notesSlide+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notesSlides/notesSlide24.xml" ContentType="application/vnd.openxmlformats-officedocument.presentationml.notesSlide+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notesSlides/notesSlide25.xml" ContentType="application/vnd.openxmlformats-officedocument.presentationml.notesSlide+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notesSlides/notesSlide26.xml" ContentType="application/vnd.openxmlformats-officedocument.presentationml.notesSlide+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notesSlides/notesSlide27.xml" ContentType="application/vnd.openxmlformats-officedocument.presentationml.notesSlide+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notesSlides/notesSlide28.xml" ContentType="application/vnd.openxmlformats-officedocument.presentationml.notesSlide+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notesSlides/notesSlide29.xml" ContentType="application/vnd.openxmlformats-officedocument.presentationml.notesSlide+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notesSlides/notesSlide30.xml" ContentType="application/vnd.openxmlformats-officedocument.presentationml.notesSlide+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notesSlides/notesSlide31.xml" ContentType="application/vnd.openxmlformats-officedocument.presentationml.notesSlide+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notesSlides/notesSlide32.xml" ContentType="application/vnd.openxmlformats-officedocument.presentationml.notesSlide+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notesSlides/notesSlide33.xml" ContentType="application/vnd.openxmlformats-officedocument.presentationml.notesSlide+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notesSlides/notesSlide34.xml" ContentType="application/vnd.openxmlformats-officedocument.presentationml.notesSlide+xml"/>
  <Override PartName="/ppt/tags/tag342.xml" ContentType="application/vnd.openxmlformats-officedocument.presentationml.tags+xml"/>
  <Override PartName="/ppt/notesSlides/notesSlide35.xml" ContentType="application/vnd.openxmlformats-officedocument.presentationml.notesSlide+xml"/>
  <Override PartName="/ppt/tags/tag343.xml" ContentType="application/vnd.openxmlformats-officedocument.presentationml.tags+xml"/>
  <Override PartName="/ppt/notesSlides/notesSlide36.xml" ContentType="application/vnd.openxmlformats-officedocument.presentationml.notesSlide+xml"/>
  <Override PartName="/ppt/tags/tag344.xml" ContentType="application/vnd.openxmlformats-officedocument.presentationml.tags+xml"/>
  <Override PartName="/ppt/notesSlides/notesSlide37.xml" ContentType="application/vnd.openxmlformats-officedocument.presentationml.notesSlide+xml"/>
  <Override PartName="/ppt/tags/tag345.xml" ContentType="application/vnd.openxmlformats-officedocument.presentationml.tags+xml"/>
  <Override PartName="/ppt/notesSlides/notesSlide38.xml" ContentType="application/vnd.openxmlformats-officedocument.presentationml.notesSlide+xml"/>
  <Override PartName="/ppt/tags/tag346.xml" ContentType="application/vnd.openxmlformats-officedocument.presentationml.tags+xml"/>
  <Override PartName="/ppt/notesSlides/notesSlide39.xml" ContentType="application/vnd.openxmlformats-officedocument.presentationml.notesSlide+xml"/>
  <Override PartName="/ppt/tags/tag347.xml" ContentType="application/vnd.openxmlformats-officedocument.presentationml.tags+xml"/>
  <Override PartName="/ppt/notesSlides/notesSlide40.xml" ContentType="application/vnd.openxmlformats-officedocument.presentationml.notesSlide+xml"/>
  <Override PartName="/ppt/tags/tag348.xml" ContentType="application/vnd.openxmlformats-officedocument.presentationml.tags+xml"/>
  <Override PartName="/ppt/notesSlides/notesSlide41.xml" ContentType="application/vnd.openxmlformats-officedocument.presentationml.notesSlide+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notesSlides/notesSlide42.xml" ContentType="application/vnd.openxmlformats-officedocument.presentationml.notesSlide+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notesSlides/notesSlide43.xml" ContentType="application/vnd.openxmlformats-officedocument.presentationml.notesSlide+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1" r:id="rId1"/>
  </p:sldMasterIdLst>
  <p:notesMasterIdLst>
    <p:notesMasterId r:id="rId70"/>
  </p:notesMasterIdLst>
  <p:sldIdLst>
    <p:sldId id="257" r:id="rId2"/>
    <p:sldId id="262" r:id="rId3"/>
    <p:sldId id="258" r:id="rId4"/>
    <p:sldId id="260" r:id="rId5"/>
    <p:sldId id="265" r:id="rId6"/>
    <p:sldId id="266" r:id="rId7"/>
    <p:sldId id="343" r:id="rId8"/>
    <p:sldId id="342" r:id="rId9"/>
    <p:sldId id="267" r:id="rId10"/>
    <p:sldId id="344" r:id="rId11"/>
    <p:sldId id="270" r:id="rId12"/>
    <p:sldId id="340" r:id="rId13"/>
    <p:sldId id="269" r:id="rId14"/>
    <p:sldId id="272" r:id="rId15"/>
    <p:sldId id="280" r:id="rId16"/>
    <p:sldId id="345" r:id="rId17"/>
    <p:sldId id="275" r:id="rId18"/>
    <p:sldId id="283" r:id="rId19"/>
    <p:sldId id="286" r:id="rId20"/>
    <p:sldId id="284" r:id="rId21"/>
    <p:sldId id="335" r:id="rId22"/>
    <p:sldId id="285" r:id="rId23"/>
    <p:sldId id="287" r:id="rId24"/>
    <p:sldId id="337" r:id="rId25"/>
    <p:sldId id="292" r:id="rId26"/>
    <p:sldId id="293" r:id="rId27"/>
    <p:sldId id="294" r:id="rId28"/>
    <p:sldId id="296" r:id="rId29"/>
    <p:sldId id="297" r:id="rId30"/>
    <p:sldId id="299" r:id="rId31"/>
    <p:sldId id="300" r:id="rId32"/>
    <p:sldId id="301" r:id="rId33"/>
    <p:sldId id="295" r:id="rId34"/>
    <p:sldId id="302" r:id="rId35"/>
    <p:sldId id="261" r:id="rId36"/>
    <p:sldId id="304" r:id="rId37"/>
    <p:sldId id="303" r:id="rId38"/>
    <p:sldId id="305" r:id="rId39"/>
    <p:sldId id="306" r:id="rId40"/>
    <p:sldId id="307" r:id="rId41"/>
    <p:sldId id="308" r:id="rId42"/>
    <p:sldId id="311" r:id="rId43"/>
    <p:sldId id="312" r:id="rId44"/>
    <p:sldId id="310" r:id="rId45"/>
    <p:sldId id="339" r:id="rId46"/>
    <p:sldId id="314" r:id="rId47"/>
    <p:sldId id="309" r:id="rId48"/>
    <p:sldId id="318" r:id="rId49"/>
    <p:sldId id="321" r:id="rId50"/>
    <p:sldId id="319" r:id="rId51"/>
    <p:sldId id="320" r:id="rId52"/>
    <p:sldId id="315" r:id="rId53"/>
    <p:sldId id="322" r:id="rId54"/>
    <p:sldId id="324" r:id="rId55"/>
    <p:sldId id="323" r:id="rId56"/>
    <p:sldId id="325" r:id="rId57"/>
    <p:sldId id="316" r:id="rId58"/>
    <p:sldId id="327" r:id="rId59"/>
    <p:sldId id="328" r:id="rId60"/>
    <p:sldId id="329" r:id="rId61"/>
    <p:sldId id="330" r:id="rId62"/>
    <p:sldId id="317" r:id="rId63"/>
    <p:sldId id="334" r:id="rId64"/>
    <p:sldId id="331" r:id="rId65"/>
    <p:sldId id="332" r:id="rId66"/>
    <p:sldId id="333" r:id="rId67"/>
    <p:sldId id="288" r:id="rId68"/>
    <p:sldId id="338" r:id="rId69"/>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71F1E"/>
    <a:srgbClr val="67B649"/>
    <a:srgbClr val="277F0D"/>
    <a:srgbClr val="008080"/>
    <a:srgbClr val="00B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61" autoAdjust="0"/>
    <p:restoredTop sz="94675" autoAdjust="0"/>
  </p:normalViewPr>
  <p:slideViewPr>
    <p:cSldViewPr snapToGrid="0">
      <p:cViewPr varScale="1">
        <p:scale>
          <a:sx n="103" d="100"/>
          <a:sy n="103" d="100"/>
        </p:scale>
        <p:origin x="138" y="198"/>
      </p:cViewPr>
      <p:guideLst>
        <p:guide orient="horz" pos="2160"/>
        <p:guide pos="3840"/>
      </p:guideLst>
    </p:cSldViewPr>
  </p:slideViewPr>
  <p:outlineViewPr>
    <p:cViewPr>
      <p:scale>
        <a:sx n="33" d="100"/>
        <a:sy n="33" d="100"/>
      </p:scale>
      <p:origin x="0" y="-525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百分比</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9AB8-45EB-9F3E-2ADD541D6E3E}"/>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9AB8-45EB-9F3E-2ADD541D6E3E}"/>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9AB8-45EB-9F3E-2ADD541D6E3E}"/>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9AB8-45EB-9F3E-2ADD541D6E3E}"/>
              </c:ext>
            </c:extLst>
          </c:dPt>
          <c:dLbls>
            <c:numFmt formatCode="0.00%" sourceLinked="0"/>
            <c:spPr>
              <a:noFill/>
              <a:ln>
                <a:noFill/>
              </a:ln>
              <a:effectLst/>
            </c:spPr>
            <c:txPr>
              <a:bodyPr rot="0" spcFirstLastPara="1" vertOverflow="ellipsis" vert="horz" wrap="square" lIns="38100" tIns="19050" rIns="38100" bIns="19050" anchor="ctr" anchorCtr="1">
                <a:spAutoFit/>
              </a:bodyPr>
              <a:lstStyle/>
              <a:p>
                <a:pPr>
                  <a:defRPr sz="1600" b="0" i="0" u="none" strike="noStrike" kern="1200" baseline="0">
                    <a:solidFill>
                      <a:schemeClr val="bg1"/>
                    </a:solidFill>
                    <a:latin typeface="+mn-lt"/>
                    <a:ea typeface="+mn-ea"/>
                    <a:cs typeface="+mn-cs"/>
                  </a:defRPr>
                </a:pPr>
                <a:endParaRPr lang="zh-CN"/>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Sheet1!$A$2:$A$5</c:f>
              <c:strCache>
                <c:ptCount val="4"/>
                <c:pt idx="0">
                  <c:v>适应性</c:v>
                </c:pt>
                <c:pt idx="1">
                  <c:v>改正性</c:v>
                </c:pt>
                <c:pt idx="2">
                  <c:v>预防性</c:v>
                </c:pt>
                <c:pt idx="3">
                  <c:v>完善性</c:v>
                </c:pt>
              </c:strCache>
            </c:strRef>
          </c:cat>
          <c:val>
            <c:numRef>
              <c:f>Sheet1!$B$2:$B$5</c:f>
              <c:numCache>
                <c:formatCode>General</c:formatCode>
                <c:ptCount val="4"/>
                <c:pt idx="0">
                  <c:v>0.25</c:v>
                </c:pt>
                <c:pt idx="1">
                  <c:v>0.2</c:v>
                </c:pt>
                <c:pt idx="2">
                  <c:v>0.05</c:v>
                </c:pt>
                <c:pt idx="3">
                  <c:v>0.5</c:v>
                </c:pt>
              </c:numCache>
            </c:numRef>
          </c:val>
          <c:extLst>
            <c:ext xmlns:c16="http://schemas.microsoft.com/office/drawing/2014/chart" uri="{C3380CC4-5D6E-409C-BE32-E72D297353CC}">
              <c16:uniqueId val="{00000000-4C2A-4ADF-9673-5B5A75BE25A8}"/>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0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4023812" y="0"/>
            <a:ext cx="3078290" cy="513492"/>
          </a:xfrm>
          <a:prstGeom prst="rect">
            <a:avLst/>
          </a:prstGeom>
        </p:spPr>
        <p:txBody>
          <a:bodyPr vert="horz" lIns="91440" tIns="45720" rIns="91440" bIns="45720" rtlCol="0"/>
          <a:lstStyle>
            <a:lvl1pPr algn="r">
              <a:defRPr sz="1200">
                <a:ea typeface="微软雅黑 Light" panose="020B0502040204020203" pitchFamily="34" charset="-122"/>
              </a:defRPr>
            </a:lvl1pPr>
          </a:lstStyle>
          <a:p>
            <a:fld id="{D2A48B96-639E-45A3-A0BA-2464DFDB1FAA}" type="datetimeFigureOut">
              <a:rPr lang="zh-CN" altLang="en-US" smtClean="0"/>
              <a:pPr/>
              <a:t>2026/4/28</a:t>
            </a:fld>
            <a:endParaRPr lang="zh-CN" altLang="en-US" dirty="0"/>
          </a:p>
        </p:txBody>
      </p:sp>
      <p:sp>
        <p:nvSpPr>
          <p:cNvPr id="4" name="幻灯片图像占位符 3"/>
          <p:cNvSpPr>
            <a:spLocks noGrp="1" noRot="1" noChangeAspect="1"/>
          </p:cNvSpPr>
          <p:nvPr>
            <p:ph type="sldImg" idx="2"/>
          </p:nvPr>
        </p:nvSpPr>
        <p:spPr>
          <a:xfrm>
            <a:off x="481584" y="1279287"/>
            <a:ext cx="6140578" cy="3454075"/>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710375" y="4925254"/>
            <a:ext cx="5682996" cy="4029754"/>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0804"/>
            <a:ext cx="3078290" cy="513491"/>
          </a:xfrm>
          <a:prstGeom prst="rect">
            <a:avLst/>
          </a:prstGeom>
        </p:spPr>
        <p:txBody>
          <a:bodyPr vert="horz" lIns="91440" tIns="45720" rIns="91440" bIns="45720" rtlCol="0" anchor="b"/>
          <a:lstStyle>
            <a:lvl1pPr algn="l">
              <a:defRPr sz="120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4023812" y="9720804"/>
            <a:ext cx="3078290" cy="513491"/>
          </a:xfrm>
          <a:prstGeom prst="rect">
            <a:avLst/>
          </a:prstGeom>
        </p:spPr>
        <p:txBody>
          <a:bodyPr vert="horz" lIns="91440" tIns="45720" rIns="91440" bIns="45720" rtlCol="0" anchor="b"/>
          <a:lstStyle>
            <a:lvl1pPr algn="r">
              <a:defRPr sz="1200">
                <a:ea typeface="微软雅黑 Light" panose="020B0502040204020203" pitchFamily="34" charset="-122"/>
              </a:defRPr>
            </a:lvl1pPr>
          </a:lstStyle>
          <a:p>
            <a:fld id="{A6837353-30EB-4A48-80EB-173D804AEFBD}" type="slidenum">
              <a:rPr lang="zh-CN" altLang="en-US" smtClean="0"/>
              <a:pPr/>
              <a:t>‹#›</a:t>
            </a:fld>
            <a:endParaRPr lang="zh-CN" alt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1013" y="1279525"/>
            <a:ext cx="6140450" cy="3454400"/>
          </a:xfrm>
        </p:spPr>
        <p:txBody>
          <a:bodyPr/>
          <a:lstStyle/>
          <a:p>
            <a:endParaRPr lang="zh-CN" altLang="en-US"/>
          </a:p>
        </p:txBody>
      </p:sp>
      <p:sp>
        <p:nvSpPr>
          <p:cNvPr id="6147" name="备注占位符 2"/>
          <p:cNvSpPr>
            <a:spLocks noGrp="1"/>
          </p:cNvSpPr>
          <p:nvPr>
            <p:ph type="body" idx="1"/>
          </p:nvPr>
        </p:nvSpPr>
        <p:spPr>
          <a:noFill/>
        </p:spPr>
        <p:txBody>
          <a:bodyPr anchor="t"/>
          <a:lstStyle/>
          <a:p>
            <a:pPr eaLnBrk="1" hangingPunct="1">
              <a:spcBef>
                <a:spcPct val="0"/>
              </a:spcBef>
            </a:pPr>
            <a:r>
              <a:rPr lang="zh-CN" altLang="en-US" dirty="0"/>
              <a:t>模板来自于 </a:t>
            </a:r>
            <a:r>
              <a:rPr lang="en-US" altLang="zh-CN" dirty="0"/>
              <a:t>http://docer.wps.cn</a:t>
            </a:r>
            <a:endParaRPr lang="zh-CN" altLang="en-US" dirty="0"/>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Calibri" panose="020F0502020204030204" charset="0"/>
                <a:ea typeface="微软雅黑 Light" panose="020B0502040204020203" pitchFamily="34" charset="-122"/>
              </a:rPr>
              <a:pPr algn="r" eaLnBrk="1" hangingPunct="1">
                <a:buFont typeface="Arial" panose="020B0604020202020204" pitchFamily="34" charset="0"/>
                <a:buNone/>
              </a:pPr>
              <a:t>3</a:t>
            </a:fld>
            <a:endParaRPr lang="zh-CN" altLang="en-US" sz="1300" dirty="0">
              <a:latin typeface="Calibri" panose="020F0502020204030204" charset="0"/>
              <a:ea typeface="微软雅黑 Light" panose="020B0502040204020203" pitchFamily="34"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C4FFD-C179-3920-BB73-DC61CED6DDF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46E94E6-7181-DC30-5C8E-BE4AA71709B7}"/>
              </a:ext>
            </a:extLst>
          </p:cNvPr>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a:extLst>
              <a:ext uri="{FF2B5EF4-FFF2-40B4-BE49-F238E27FC236}">
                <a16:creationId xmlns:a16="http://schemas.microsoft.com/office/drawing/2014/main" id="{AA58518F-D04B-C3B1-F435-23EABDF60BAF}"/>
              </a:ext>
            </a:extLst>
          </p:cNvPr>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39241131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3B5B6-41D1-2D73-21E6-8D3DF6388CA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2D95EC4-9384-FA9D-288D-0412DA3FA58C}"/>
              </a:ext>
            </a:extLst>
          </p:cNvPr>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a:extLst>
              <a:ext uri="{FF2B5EF4-FFF2-40B4-BE49-F238E27FC236}">
                <a16:creationId xmlns:a16="http://schemas.microsoft.com/office/drawing/2014/main" id="{AC1ACE94-74E5-7A75-E93E-80F3E573E9B1}"/>
              </a:ext>
            </a:extLst>
          </p:cNvPr>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7533266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sp>
      <p:sp>
        <p:nvSpPr>
          <p:cNvPr id="3" name="备注占位符 2"/>
          <p:cNvSpPr>
            <a:spLocks noGrp="1"/>
          </p:cNvSpPr>
          <p:nvPr>
            <p:ph type="body" idx="1"/>
          </p:nvPr>
        </p:nvSpPr>
        <p:spPr/>
        <p:txBody>
          <a:bodyPr/>
          <a:lstStyle/>
          <a:p>
            <a:r>
              <a:rPr lang="zh-CN" altLang="en-US" dirty="0"/>
              <a:t>两者的核心区别在于软件开发过程是否规范。结构化维护是“有备而来”，而非结构化维护则是“亡羊补牢”。采用结构化维护能显著降低长期成本，提高软件的可靠性和可维护性，这也是现代软件工程追求的目标。</a:t>
            </a:r>
          </a:p>
        </p:txBody>
      </p:sp>
      <p:sp>
        <p:nvSpPr>
          <p:cNvPr id="4" name="灯片编号占位符 3"/>
          <p:cNvSpPr>
            <a:spLocks noGrp="1"/>
          </p:cNvSpPr>
          <p:nvPr>
            <p:ph type="sldNum" sz="quarter" idx="5"/>
          </p:nvPr>
        </p:nvSpPr>
        <p:spPr/>
        <p:txBody>
          <a:bodyPr/>
          <a:lstStyle/>
          <a:p>
            <a:fld id="{A6837353-30EB-4A48-80EB-173D804AEFBD}" type="slidenum">
              <a:rPr lang="zh-CN" altLang="en-US" smtClean="0"/>
              <a:pPr/>
              <a:t>10</a:t>
            </a:fld>
            <a:endParaRPr lang="zh-CN" altLang="en-US" dirty="0"/>
          </a:p>
        </p:txBody>
      </p:sp>
    </p:spTree>
    <p:extLst>
      <p:ext uri="{BB962C8B-B14F-4D97-AF65-F5344CB8AC3E}">
        <p14:creationId xmlns:p14="http://schemas.microsoft.com/office/powerpoint/2010/main" val="15635413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0BA2D-A1CF-68DE-3C44-9F6EC1405FE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9139441-A7BC-386C-5F96-F8DB3CEF0472}"/>
              </a:ext>
            </a:extLst>
          </p:cNvPr>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a:extLst>
              <a:ext uri="{FF2B5EF4-FFF2-40B4-BE49-F238E27FC236}">
                <a16:creationId xmlns:a16="http://schemas.microsoft.com/office/drawing/2014/main" id="{2C65E985-29B6-9EE6-F001-CE2BF41262D6}"/>
              </a:ext>
            </a:extLst>
          </p:cNvPr>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30598549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03874-B0D5-921B-C02F-8347E72CEF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8F1867E-E9F0-FFD7-3EE4-99E57339162D}"/>
              </a:ext>
            </a:extLst>
          </p:cNvPr>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a:extLst>
              <a:ext uri="{FF2B5EF4-FFF2-40B4-BE49-F238E27FC236}">
                <a16:creationId xmlns:a16="http://schemas.microsoft.com/office/drawing/2014/main" id="{A871C58B-B7ED-2FCF-AEF9-C9A569E3631E}"/>
              </a:ext>
            </a:extLst>
          </p:cNvPr>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3824087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8CF72-7EB3-362C-DC8D-F170FD49184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C2B51F1-B1B9-CB9E-44A7-9C3EC92B2C1C}"/>
              </a:ext>
            </a:extLst>
          </p:cNvPr>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a:extLst>
              <a:ext uri="{FF2B5EF4-FFF2-40B4-BE49-F238E27FC236}">
                <a16:creationId xmlns:a16="http://schemas.microsoft.com/office/drawing/2014/main" id="{A3CF2C82-468D-04EA-2753-8DE6B1AAF8D7}"/>
              </a:ext>
            </a:extLst>
          </p:cNvPr>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40133258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10" name="矩形 9"/>
          <p:cNvSpPr/>
          <p:nvPr userDrawn="1"/>
        </p:nvSpPr>
        <p:spPr>
          <a:xfrm>
            <a:off x="403225" y="1918970"/>
            <a:ext cx="11303635" cy="40005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rIns="216000" rtlCol="0" anchor="ctr"/>
          <a:lstStyle/>
          <a:p>
            <a:pPr algn="just">
              <a:lnSpc>
                <a:spcPct val="200000"/>
              </a:lnSpc>
            </a:pPr>
            <a:endParaRPr lang="zh-CN" altLang="en-US" sz="1400">
              <a:solidFill>
                <a:schemeClr val="tx1">
                  <a:lumMod val="75000"/>
                  <a:lumOff val="25000"/>
                </a:schemeClr>
              </a:solidFill>
              <a:latin typeface="微软雅黑" panose="020B0503020204020204" charset="-122"/>
              <a:ea typeface="微软雅黑" panose="020B0503020204020204" charset="-122"/>
            </a:endParaRPr>
          </a:p>
        </p:txBody>
      </p:sp>
      <p:sp>
        <p:nvSpPr>
          <p:cNvPr id="11" name="矩形 10"/>
          <p:cNvSpPr/>
          <p:nvPr userDrawn="1"/>
        </p:nvSpPr>
        <p:spPr>
          <a:xfrm>
            <a:off x="626254" y="1775460"/>
            <a:ext cx="669087" cy="4248785"/>
          </a:xfrm>
          <a:prstGeom prst="rect">
            <a:avLst/>
          </a:prstGeom>
          <a:solidFill>
            <a:srgbClr val="008080"/>
          </a:solidFill>
          <a:effectLst>
            <a:outerShdw blurRad="50800" dist="38100" dir="2700000" algn="tl" rotWithShape="0">
              <a:prstClr val="black">
                <a:alpha val="40000"/>
              </a:prstClr>
            </a:outerShdw>
          </a:effectLst>
        </p:spPr>
        <p:txBody>
          <a:bodyPr tIns="0" bIns="0"/>
          <a:lstStyle/>
          <a:p>
            <a:pPr lvl="0">
              <a:lnSpc>
                <a:spcPct val="134000"/>
              </a:lnSpc>
              <a:spcBef>
                <a:spcPts val="600"/>
              </a:spcBef>
            </a:pPr>
            <a:endParaRPr lang="zh-CN" altLang="en-US" sz="1600">
              <a:solidFill>
                <a:schemeClr val="bg1"/>
              </a:solidFill>
              <a:latin typeface="微软雅黑" panose="020B0503020204020204" charset="-122"/>
              <a:ea typeface="微软雅黑" panose="020B0503020204020204" charset="-122"/>
            </a:endParaRPr>
          </a:p>
        </p:txBody>
      </p:sp>
      <p:cxnSp>
        <p:nvCxnSpPr>
          <p:cNvPr id="13" name="直接连接符 12"/>
          <p:cNvCxnSpPr/>
          <p:nvPr userDrawn="1"/>
        </p:nvCxnSpPr>
        <p:spPr>
          <a:xfrm>
            <a:off x="0" y="1583055"/>
            <a:ext cx="12192000" cy="0"/>
          </a:xfrm>
          <a:prstGeom prst="line">
            <a:avLst/>
          </a:prstGeom>
          <a:ln>
            <a:solidFill>
              <a:srgbClr val="148BDC"/>
            </a:solidFill>
            <a:prstDash val="dash"/>
          </a:ln>
        </p:spPr>
        <p:style>
          <a:lnRef idx="1">
            <a:schemeClr val="accent1"/>
          </a:lnRef>
          <a:fillRef idx="0">
            <a:schemeClr val="accent1"/>
          </a:fillRef>
          <a:effectRef idx="0">
            <a:schemeClr val="accent1"/>
          </a:effectRef>
          <a:fontRef idx="minor">
            <a:schemeClr val="tx1"/>
          </a:fontRef>
        </p:style>
      </p:cxnSp>
      <p:sp>
        <p:nvSpPr>
          <p:cNvPr id="32" name="矩形 31"/>
          <p:cNvSpPr/>
          <p:nvPr userDrawn="1"/>
        </p:nvSpPr>
        <p:spPr>
          <a:xfrm>
            <a:off x="0" y="1021715"/>
            <a:ext cx="10437495" cy="252095"/>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1" name="矩形 20"/>
          <p:cNvSpPr/>
          <p:nvPr userDrawn="1"/>
        </p:nvSpPr>
        <p:spPr>
          <a:xfrm>
            <a:off x="11471910" y="1021715"/>
            <a:ext cx="720090" cy="252095"/>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4" name="标题 3">
            <a:extLst>
              <a:ext uri="{FF2B5EF4-FFF2-40B4-BE49-F238E27FC236}">
                <a16:creationId xmlns:a16="http://schemas.microsoft.com/office/drawing/2014/main" id="{81C54ABB-ACA1-C305-01CB-0D1E0557EA44}"/>
              </a:ext>
            </a:extLst>
          </p:cNvPr>
          <p:cNvSpPr>
            <a:spLocks noGrp="1"/>
          </p:cNvSpPr>
          <p:nvPr>
            <p:ph type="title"/>
          </p:nvPr>
        </p:nvSpPr>
        <p:spPr/>
        <p:txBody>
          <a:bodyPr/>
          <a:lstStyle/>
          <a:p>
            <a:r>
              <a:rPr lang="zh-CN" altLang="en-US"/>
              <a:t>单击此处编辑母版标题样式</a:t>
            </a:r>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a:prstGeom prst="rect">
            <a:avLst/>
          </a:prstGeom>
        </p:spPr>
        <p:txBody>
          <a:bodyPr/>
          <a:lstStyle>
            <a:lvl1pPr>
              <a:defRPr lang="zh-CN" altLang="en-US"/>
            </a:lvl1pPr>
          </a:lstStyle>
          <a:p>
            <a:r>
              <a:rPr lang="zh-CN" altLang="en-US"/>
              <a:t>单击此处编辑母版标题样式</a:t>
            </a:r>
          </a:p>
        </p:txBody>
      </p:sp>
      <p:sp>
        <p:nvSpPr>
          <p:cNvPr id="18" name="任意多边形 17"/>
          <p:cNvSpPr/>
          <p:nvPr/>
        </p:nvSpPr>
        <p:spPr>
          <a:xfrm>
            <a:off x="523836" y="1214422"/>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userDrawn="1">
  <p:cSld name="1_首页">
    <p:bg>
      <p:bgPr>
        <a:solidFill>
          <a:schemeClr val="bg1"/>
        </a:solidFill>
        <a:effectLst/>
      </p:bgPr>
    </p:bg>
    <p:spTree>
      <p:nvGrpSpPr>
        <p:cNvPr id="1" name=""/>
        <p:cNvGrpSpPr/>
        <p:nvPr/>
      </p:nvGrpSpPr>
      <p:grpSpPr>
        <a:xfrm>
          <a:off x="0" y="0"/>
          <a:ext cx="0" cy="0"/>
          <a:chOff x="0" y="0"/>
          <a:chExt cx="0" cy="0"/>
        </a:xfrm>
      </p:grpSpPr>
      <p:sp>
        <p:nvSpPr>
          <p:cNvPr id="31" name="矩形 30"/>
          <p:cNvSpPr/>
          <p:nvPr userDrawn="1">
            <p:custDataLst>
              <p:tags r:id="rId1"/>
            </p:custDataLst>
          </p:nvPr>
        </p:nvSpPr>
        <p:spPr>
          <a:xfrm>
            <a:off x="0" y="-1"/>
            <a:ext cx="12192000" cy="35528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Box 2"/>
          <p:cNvSpPr txBox="1">
            <a:spLocks noChangeArrowheads="1"/>
          </p:cNvSpPr>
          <p:nvPr userDrawn="1">
            <p:custDataLst>
              <p:tags r:id="rId2"/>
            </p:custDataLst>
          </p:nvPr>
        </p:nvSpPr>
        <p:spPr bwMode="auto">
          <a:xfrm>
            <a:off x="2254956" y="1411817"/>
            <a:ext cx="4670777" cy="3073400"/>
          </a:xfrm>
          <a:prstGeom prst="rect">
            <a:avLst/>
          </a:prstGeom>
          <a:noFill/>
          <a:ln w="9525">
            <a:noFill/>
            <a:miter lim="800000"/>
            <a:headEnd/>
            <a:tailEnd/>
          </a:ln>
        </p:spPr>
        <p:txBody>
          <a:bodyPr lIns="145143" tIns="72571" rIns="145143" bIns="72571"/>
          <a:lstStyle/>
          <a:p>
            <a:pPr eaLnBrk="1" hangingPunct="1"/>
            <a:r>
              <a:rPr lang="en-US" altLang="zh-CN" sz="21400" dirty="0">
                <a:latin typeface="Arial" charset="0"/>
                <a:cs typeface="Arial" charset="0"/>
              </a:rPr>
              <a:t>T</a:t>
            </a:r>
            <a:endParaRPr lang="zh-CN" altLang="en-US" sz="21400" dirty="0">
              <a:latin typeface="Arial" charset="0"/>
              <a:cs typeface="Arial" charset="0"/>
            </a:endParaRPr>
          </a:p>
        </p:txBody>
      </p:sp>
      <p:sp>
        <p:nvSpPr>
          <p:cNvPr id="21" name="TextBox 20"/>
          <p:cNvSpPr txBox="1"/>
          <p:nvPr userDrawn="1">
            <p:custDataLst>
              <p:tags r:id="rId3"/>
            </p:custDataLst>
          </p:nvPr>
        </p:nvSpPr>
        <p:spPr>
          <a:xfrm>
            <a:off x="4591757" y="1873252"/>
            <a:ext cx="6019799" cy="1299633"/>
          </a:xfrm>
          <a:prstGeom prst="rect">
            <a:avLst/>
          </a:prstGeom>
          <a:noFill/>
        </p:spPr>
        <p:txBody>
          <a:bodyPr lIns="145143" tIns="72571" rIns="145143" bIns="72571">
            <a:normAutofit lnSpcReduction="10000"/>
          </a:bodyPr>
          <a:lstStyle/>
          <a:p>
            <a:pPr>
              <a:defRPr/>
            </a:pPr>
            <a:r>
              <a:rPr lang="zh-CN" altLang="en-US" sz="7600" dirty="0">
                <a:solidFill>
                  <a:srgbClr val="FF0080"/>
                </a:solidFill>
                <a:latin typeface="+mj-ea"/>
                <a:ea typeface="+mj-ea"/>
              </a:rPr>
              <a:t>谢</a:t>
            </a:r>
            <a:r>
              <a:rPr lang="zh-CN" altLang="en-US" sz="7600" dirty="0">
                <a:solidFill>
                  <a:srgbClr val="FF8000"/>
                </a:solidFill>
                <a:latin typeface="+mj-ea"/>
                <a:ea typeface="+mj-ea"/>
              </a:rPr>
              <a:t>谢</a:t>
            </a:r>
            <a:r>
              <a:rPr lang="zh-CN" altLang="en-US" sz="7600" dirty="0">
                <a:solidFill>
                  <a:srgbClr val="FFC000"/>
                </a:solidFill>
                <a:latin typeface="+mj-ea"/>
                <a:ea typeface="+mj-ea"/>
              </a:rPr>
              <a:t>观</a:t>
            </a:r>
            <a:r>
              <a:rPr lang="zh-CN" altLang="en-US" sz="7600" dirty="0">
                <a:solidFill>
                  <a:srgbClr val="92D050"/>
                </a:solidFill>
                <a:latin typeface="+mj-ea"/>
                <a:ea typeface="+mj-ea"/>
              </a:rPr>
              <a:t>看</a:t>
            </a:r>
          </a:p>
        </p:txBody>
      </p:sp>
      <p:sp>
        <p:nvSpPr>
          <p:cNvPr id="22" name="TextBox 4"/>
          <p:cNvSpPr txBox="1">
            <a:spLocks noChangeArrowheads="1"/>
          </p:cNvSpPr>
          <p:nvPr userDrawn="1">
            <p:custDataLst>
              <p:tags r:id="rId4"/>
            </p:custDataLst>
          </p:nvPr>
        </p:nvSpPr>
        <p:spPr bwMode="auto">
          <a:xfrm>
            <a:off x="4222045" y="2980267"/>
            <a:ext cx="6268156" cy="984251"/>
          </a:xfrm>
          <a:prstGeom prst="rect">
            <a:avLst/>
          </a:prstGeom>
          <a:noFill/>
          <a:ln w="9525">
            <a:noFill/>
            <a:miter lim="800000"/>
            <a:headEnd/>
            <a:tailEnd/>
          </a:ln>
        </p:spPr>
        <p:txBody>
          <a:bodyPr lIns="145143" tIns="72571" rIns="145143" bIns="72571"/>
          <a:lstStyle/>
          <a:p>
            <a:pPr eaLnBrk="1" hangingPunct="1"/>
            <a:r>
              <a:rPr lang="en-US" altLang="zh-CN" sz="5700" b="1" dirty="0">
                <a:latin typeface="Arial" charset="0"/>
                <a:cs typeface="Arial" charset="0"/>
              </a:rPr>
              <a:t>HANK   YOU!</a:t>
            </a:r>
            <a:endParaRPr lang="zh-CN" altLang="en-US" sz="5700" b="1" dirty="0">
              <a:latin typeface="Arial" charset="0"/>
              <a:cs typeface="Arial" charset="0"/>
            </a:endParaRPr>
          </a:p>
        </p:txBody>
      </p:sp>
      <p:sp>
        <p:nvSpPr>
          <p:cNvPr id="23" name="直角三角形 22"/>
          <p:cNvSpPr/>
          <p:nvPr userDrawn="1">
            <p:custDataLst>
              <p:tags r:id="rId5"/>
            </p:custDataLst>
          </p:nvPr>
        </p:nvSpPr>
        <p:spPr>
          <a:xfrm rot="1665221">
            <a:off x="10301111" y="4826000"/>
            <a:ext cx="259644" cy="391584"/>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4" name="直角三角形 23"/>
          <p:cNvSpPr/>
          <p:nvPr userDrawn="1">
            <p:custDataLst>
              <p:tags r:id="rId6"/>
            </p:custDataLst>
          </p:nvPr>
        </p:nvSpPr>
        <p:spPr>
          <a:xfrm rot="9441503">
            <a:off x="10947401" y="4068233"/>
            <a:ext cx="496711" cy="745067"/>
          </a:xfrm>
          <a:prstGeom prst="rtTriangle">
            <a:avLst/>
          </a:prstGeom>
          <a:solidFill>
            <a:srgbClr val="FF008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5" name="直角三角形 24"/>
          <p:cNvSpPr/>
          <p:nvPr userDrawn="1">
            <p:custDataLst>
              <p:tags r:id="rId7"/>
            </p:custDataLst>
          </p:nvPr>
        </p:nvSpPr>
        <p:spPr>
          <a:xfrm rot="14258978">
            <a:off x="7802740" y="4298951"/>
            <a:ext cx="376767"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6" name="直角三角形 25"/>
          <p:cNvSpPr/>
          <p:nvPr userDrawn="1">
            <p:custDataLst>
              <p:tags r:id="rId8"/>
            </p:custDataLst>
          </p:nvPr>
        </p:nvSpPr>
        <p:spPr>
          <a:xfrm rot="1312468">
            <a:off x="9214556" y="4974167"/>
            <a:ext cx="406400" cy="609600"/>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7" name="直角三角形 26"/>
          <p:cNvSpPr/>
          <p:nvPr userDrawn="1">
            <p:custDataLst>
              <p:tags r:id="rId9"/>
            </p:custDataLst>
          </p:nvPr>
        </p:nvSpPr>
        <p:spPr>
          <a:xfrm rot="14258978">
            <a:off x="1666170" y="4439710"/>
            <a:ext cx="378884"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8" name="直角三角形 27"/>
          <p:cNvSpPr/>
          <p:nvPr userDrawn="1">
            <p:custDataLst>
              <p:tags r:id="rId10"/>
            </p:custDataLst>
          </p:nvPr>
        </p:nvSpPr>
        <p:spPr>
          <a:xfrm rot="4526379">
            <a:off x="3207104" y="5064125"/>
            <a:ext cx="141816" cy="381001"/>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9" name="直角三角形 28"/>
          <p:cNvSpPr/>
          <p:nvPr userDrawn="1">
            <p:custDataLst>
              <p:tags r:id="rId11"/>
            </p:custDataLst>
          </p:nvPr>
        </p:nvSpPr>
        <p:spPr>
          <a:xfrm rot="1665221">
            <a:off x="5012267" y="4514851"/>
            <a:ext cx="632178" cy="952500"/>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Tree>
    <p:extLst>
      <p:ext uri="{BB962C8B-B14F-4D97-AF65-F5344CB8AC3E}">
        <p14:creationId xmlns:p14="http://schemas.microsoft.com/office/powerpoint/2010/main" val="4223807772"/>
      </p:ext>
    </p:extLst>
  </p:cSld>
  <p:clrMapOvr>
    <a:masterClrMapping/>
  </p:clrMapOvr>
  <p:transition>
    <p:randomBar dir="vert"/>
  </p:transition>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1" name="图片 10"/>
          <p:cNvPicPr>
            <a:picLocks noChangeAspect="1"/>
          </p:cNvPicPr>
          <p:nvPr userDrawn="1"/>
        </p:nvPicPr>
        <p:blipFill rotWithShape="1">
          <a:blip r:embed="rId6" cstate="print"/>
          <a:srcRect l="20452" r="17427" b="5390"/>
          <a:stretch>
            <a:fillRect/>
          </a:stretch>
        </p:blipFill>
        <p:spPr>
          <a:xfrm rot="16200000" flipV="1">
            <a:off x="-100248" y="100244"/>
            <a:ext cx="863601" cy="663109"/>
          </a:xfrm>
          <a:custGeom>
            <a:avLst/>
            <a:gdLst>
              <a:gd name="connsiteX0" fmla="*/ 1007279 w 1007279"/>
              <a:gd name="connsiteY0" fmla="*/ 773431 h 773431"/>
              <a:gd name="connsiteX1" fmla="*/ 1007279 w 1007279"/>
              <a:gd name="connsiteY1" fmla="*/ 0 h 773431"/>
              <a:gd name="connsiteX2" fmla="*/ 404691 w 1007279"/>
              <a:gd name="connsiteY2" fmla="*/ 0 h 773431"/>
              <a:gd name="connsiteX3" fmla="*/ 473879 w 1007279"/>
              <a:gd name="connsiteY3" fmla="*/ 45011 h 773431"/>
              <a:gd name="connsiteX4" fmla="*/ 0 w 1007279"/>
              <a:gd name="connsiteY4" fmla="*/ 773431 h 7734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7279" h="773431">
                <a:moveTo>
                  <a:pt x="1007279" y="773431"/>
                </a:moveTo>
                <a:lnTo>
                  <a:pt x="1007279" y="0"/>
                </a:lnTo>
                <a:lnTo>
                  <a:pt x="404691" y="0"/>
                </a:lnTo>
                <a:lnTo>
                  <a:pt x="473879" y="45011"/>
                </a:lnTo>
                <a:lnTo>
                  <a:pt x="0" y="773431"/>
                </a:lnTo>
                <a:close/>
              </a:path>
            </a:pathLst>
          </a:custGeom>
        </p:spPr>
      </p:pic>
      <p:sp>
        <p:nvSpPr>
          <p:cNvPr id="9" name="灯片编号占位符 8"/>
          <p:cNvSpPr txBox="1"/>
          <p:nvPr userDrawn="1"/>
        </p:nvSpPr>
        <p:spPr>
          <a:xfrm>
            <a:off x="8795068" y="5897402"/>
            <a:ext cx="2743200" cy="365125"/>
          </a:xfrm>
          <a:prstGeom prst="rect">
            <a:avLst/>
          </a:prstGeom>
        </p:spPr>
        <p:txBody>
          <a:bodyPr/>
          <a:lstStyle>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defRPr/>
            </a:pPr>
            <a:fld id="{EF906490-237C-474C-BA2E-D98840BC1F8F}" type="slidenum">
              <a:rPr kumimoji="0" lang="zh-CN" altLang="en-US" sz="1800" b="1" i="0" u="none" strike="noStrike" kern="1200" cap="none" spc="0" normalizeH="0" baseline="0" noProof="0" smtClean="0">
                <a:ln>
                  <a:noFill/>
                </a:ln>
                <a:solidFill>
                  <a:schemeClr val="bg1"/>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defRPr/>
              </a:pPr>
              <a:t>‹#›</a:t>
            </a:fld>
            <a:endParaRPr kumimoji="0" lang="zh-CN" altLang="en-US" sz="1800" b="1" i="0" u="none" strike="noStrike" kern="1200" cap="none" spc="0" normalizeH="0" baseline="0" noProof="0">
              <a:ln>
                <a:noFill/>
              </a:ln>
              <a:solidFill>
                <a:schemeClr val="bg1"/>
              </a:solidFill>
              <a:effectLst/>
              <a:uLnTx/>
              <a:uFillTx/>
              <a:latin typeface="+mn-lt"/>
              <a:ea typeface="+mn-ea"/>
              <a:cs typeface="+mn-cs"/>
            </a:endParaRPr>
          </a:p>
        </p:txBody>
      </p:sp>
      <p:sp>
        <p:nvSpPr>
          <p:cNvPr id="2" name="标题占位符 1">
            <a:extLst>
              <a:ext uri="{FF2B5EF4-FFF2-40B4-BE49-F238E27FC236}">
                <a16:creationId xmlns:a16="http://schemas.microsoft.com/office/drawing/2014/main" id="{43074C4D-FAB6-9CD5-4C50-B748826A4ED8}"/>
              </a:ext>
            </a:extLst>
          </p:cNvPr>
          <p:cNvSpPr>
            <a:spLocks noGrp="1"/>
          </p:cNvSpPr>
          <p:nvPr>
            <p:ph type="title"/>
          </p:nvPr>
        </p:nvSpPr>
        <p:spPr>
          <a:xfrm>
            <a:off x="838200" y="360000"/>
            <a:ext cx="10515600" cy="535531"/>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3F27DC13-5ED4-D8CD-F577-7CDDB12A694D}"/>
              </a:ext>
            </a:extLst>
          </p:cNvPr>
          <p:cNvSpPr>
            <a:spLocks noGrp="1"/>
          </p:cNvSpPr>
          <p:nvPr>
            <p:ph type="body" idx="1"/>
          </p:nvPr>
        </p:nvSpPr>
        <p:spPr>
          <a:xfrm>
            <a:off x="838200" y="1080000"/>
            <a:ext cx="10515600" cy="5418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 id="2147483662" r:id="rId3"/>
    <p:sldLayoutId id="2147483671" r:id="rId4"/>
  </p:sldLayoutIdLst>
  <p:hf hdr="0" ftr="0" dt="0"/>
  <p:txStyles>
    <p:titleStyle>
      <a:lvl1pPr algn="l" rtl="0" eaLnBrk="1" fontAlgn="base" hangingPunct="1">
        <a:lnSpc>
          <a:spcPct val="90000"/>
        </a:lnSpc>
        <a:spcBef>
          <a:spcPct val="0"/>
        </a:spcBef>
        <a:spcAft>
          <a:spcPct val="0"/>
        </a:spcAft>
        <a:defRPr sz="3200" kern="1200">
          <a:solidFill>
            <a:srgbClr val="00B0F0"/>
          </a:solidFill>
          <a:latin typeface="+mj-lt"/>
          <a:ea typeface="+mj-ea"/>
          <a:cs typeface="+mj-cs"/>
        </a:defRPr>
      </a:lvl1pPr>
      <a:lvl2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2pPr>
      <a:lvl3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3pPr>
      <a:lvl4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4pPr>
      <a:lvl5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5pPr>
      <a:lvl6pPr marL="4572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6pPr>
      <a:lvl7pPr marL="9144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7pPr>
      <a:lvl8pPr marL="13716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8pPr>
      <a:lvl9pPr marL="18288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9pPr>
    </p:titleStyle>
    <p:bodyStyle>
      <a:lvl1pPr marL="180000" indent="-180000" algn="l" rtl="0" eaLnBrk="1" fontAlgn="base" hangingPunct="1">
        <a:lnSpc>
          <a:spcPct val="100000"/>
        </a:lnSpc>
        <a:spcBef>
          <a:spcPts val="0"/>
        </a:spcBef>
        <a:spcAft>
          <a:spcPct val="0"/>
        </a:spcAft>
        <a:buClr>
          <a:schemeClr val="tx1"/>
        </a:buClr>
        <a:buSzPct val="80000"/>
        <a:buFont typeface="Arial" panose="020B0604020202020204" pitchFamily="34" charset="0"/>
        <a:buChar char="•"/>
        <a:defRPr lang="zh-CN" altLang="en-US" sz="2400" kern="1200" dirty="0" smtClean="0">
          <a:solidFill>
            <a:schemeClr val="tx1"/>
          </a:solidFill>
          <a:latin typeface="+mn-lt"/>
          <a:ea typeface="+mn-ea"/>
          <a:cs typeface="+mn-cs"/>
        </a:defRPr>
      </a:lvl1pPr>
      <a:lvl2pPr marL="360000" indent="-180000" algn="l" rtl="0" eaLnBrk="1" fontAlgn="base" hangingPunct="1">
        <a:lnSpc>
          <a:spcPct val="100000"/>
        </a:lnSpc>
        <a:spcBef>
          <a:spcPts val="0"/>
        </a:spcBef>
        <a:spcAft>
          <a:spcPct val="0"/>
        </a:spcAft>
        <a:buClr>
          <a:schemeClr val="tx1"/>
        </a:buClr>
        <a:buSzPct val="80000"/>
        <a:buFont typeface="Arial" panose="020B0604020202020204" pitchFamily="34" charset="0"/>
        <a:buChar char="•"/>
        <a:defRPr lang="zh-CN" altLang="en-US" sz="2000" kern="1200" dirty="0" smtClean="0">
          <a:solidFill>
            <a:schemeClr val="tx1"/>
          </a:solidFill>
          <a:latin typeface="+mn-lt"/>
          <a:ea typeface="+mn-ea"/>
          <a:cs typeface="+mn-cs"/>
        </a:defRPr>
      </a:lvl2pPr>
      <a:lvl3pPr marL="540000" indent="-180000" algn="l" rtl="0" eaLnBrk="1" fontAlgn="base" hangingPunct="1">
        <a:lnSpc>
          <a:spcPct val="100000"/>
        </a:lnSpc>
        <a:spcBef>
          <a:spcPts val="0"/>
        </a:spcBef>
        <a:spcAft>
          <a:spcPct val="0"/>
        </a:spcAft>
        <a:buClr>
          <a:schemeClr val="tx1"/>
        </a:buClr>
        <a:buSzPct val="80000"/>
        <a:buFont typeface="Arial" panose="020B0604020202020204" pitchFamily="34" charset="0"/>
        <a:buChar char="•"/>
        <a:defRPr lang="zh-CN" altLang="en-US" sz="1800" kern="1200" dirty="0" smtClean="0">
          <a:solidFill>
            <a:srgbClr val="262626"/>
          </a:solidFill>
          <a:latin typeface="+mn-lt"/>
          <a:ea typeface="+mn-ea"/>
          <a:cs typeface="+mn-cs"/>
        </a:defRPr>
      </a:lvl3pPr>
      <a:lvl4pPr marL="285750" indent="-285750" algn="l" rtl="0" eaLnBrk="1" fontAlgn="base" hangingPunct="1">
        <a:lnSpc>
          <a:spcPct val="100000"/>
        </a:lnSpc>
        <a:spcBef>
          <a:spcPts val="0"/>
        </a:spcBef>
        <a:spcAft>
          <a:spcPct val="0"/>
        </a:spcAft>
        <a:buClr>
          <a:schemeClr val="tx1"/>
        </a:buClr>
        <a:buSzPct val="80000"/>
        <a:buFont typeface="Arial" panose="020B0604020202020204" pitchFamily="34" charset="0"/>
        <a:buChar char="•"/>
        <a:defRPr lang="zh-CN" altLang="en-US" sz="1800" kern="1200" dirty="0" smtClean="0">
          <a:solidFill>
            <a:srgbClr val="262626"/>
          </a:solidFill>
          <a:latin typeface="+mn-lt"/>
          <a:ea typeface="+mn-ea"/>
          <a:cs typeface="+mn-cs"/>
        </a:defRPr>
      </a:lvl4pPr>
      <a:lvl5pPr marL="466090" indent="-285750" algn="l" rtl="0" eaLnBrk="1" fontAlgn="base" hangingPunct="1">
        <a:lnSpc>
          <a:spcPct val="100000"/>
        </a:lnSpc>
        <a:spcBef>
          <a:spcPts val="0"/>
        </a:spcBef>
        <a:spcAft>
          <a:spcPct val="0"/>
        </a:spcAft>
        <a:buClr>
          <a:schemeClr val="tx1"/>
        </a:buClr>
        <a:buSzPct val="80000"/>
        <a:buFont typeface="Arial" panose="020B0604020202020204" pitchFamily="34" charset="0"/>
        <a:buChar char="•"/>
        <a:defRPr lang="zh-CN" altLang="en-US" kern="1200" dirty="0" smtClean="0">
          <a:solidFill>
            <a:schemeClr val="tx1"/>
          </a:solidFill>
          <a:latin typeface="+mn-lt"/>
          <a:ea typeface="+mn-ea"/>
          <a:cs typeface="+mn-cs"/>
        </a:defRPr>
      </a:lvl5pPr>
      <a:lvl6pPr marL="0" indent="0" algn="l" defTabSz="914400" rtl="0" eaLnBrk="1" latinLnBrk="0" hangingPunct="1">
        <a:lnSpc>
          <a:spcPct val="9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6pPr>
      <a:lvl7pPr marL="72009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7pPr>
      <a:lvl8pPr marL="1080135"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8pPr>
      <a:lvl9pPr marL="144018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2.jpe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Layout" Target="../slideLayouts/slideLayout3.xml"/><Relationship Id="rId5" Type="http://schemas.openxmlformats.org/officeDocument/2006/relationships/tags" Target="../tags/tag16.xml"/><Relationship Id="rId4" Type="http://schemas.openxmlformats.org/officeDocument/2006/relationships/tags" Target="../tags/tag15.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7.xml"/></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1.xml"/><Relationship Id="rId3" Type="http://schemas.openxmlformats.org/officeDocument/2006/relationships/tags" Target="../tags/tag20.xml"/><Relationship Id="rId7" Type="http://schemas.openxmlformats.org/officeDocument/2006/relationships/slideLayout" Target="../slideLayouts/slideLayout3.xml"/><Relationship Id="rId2" Type="http://schemas.openxmlformats.org/officeDocument/2006/relationships/tags" Target="../tags/tag19.xml"/><Relationship Id="rId1" Type="http://schemas.openxmlformats.org/officeDocument/2006/relationships/tags" Target="../tags/tag18.xml"/><Relationship Id="rId6" Type="http://schemas.openxmlformats.org/officeDocument/2006/relationships/tags" Target="../tags/tag23.xml"/><Relationship Id="rId11" Type="http://schemas.openxmlformats.org/officeDocument/2006/relationships/image" Target="../media/image5.png"/><Relationship Id="rId5" Type="http://schemas.openxmlformats.org/officeDocument/2006/relationships/tags" Target="../tags/tag22.xml"/><Relationship Id="rId10" Type="http://schemas.openxmlformats.org/officeDocument/2006/relationships/image" Target="../media/image4.png"/><Relationship Id="rId4" Type="http://schemas.openxmlformats.org/officeDocument/2006/relationships/tags" Target="../tags/tag21.xml"/><Relationship Id="rId9"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24.xml"/></Relationships>
</file>

<file path=ppt/slides/_rels/slide5.xml.rels><?xml version="1.0" encoding="UTF-8" standalone="yes"?>
<Relationships xmlns="http://schemas.openxmlformats.org/package/2006/relationships"><Relationship Id="rId8" Type="http://schemas.openxmlformats.org/officeDocument/2006/relationships/tags" Target="../tags/tag32.xml"/><Relationship Id="rId13" Type="http://schemas.openxmlformats.org/officeDocument/2006/relationships/tags" Target="../tags/tag37.xml"/><Relationship Id="rId18" Type="http://schemas.openxmlformats.org/officeDocument/2006/relationships/slideLayout" Target="../slideLayouts/slideLayout2.xml"/><Relationship Id="rId3" Type="http://schemas.openxmlformats.org/officeDocument/2006/relationships/tags" Target="../tags/tag27.xml"/><Relationship Id="rId7" Type="http://schemas.openxmlformats.org/officeDocument/2006/relationships/tags" Target="../tags/tag31.xml"/><Relationship Id="rId12" Type="http://schemas.openxmlformats.org/officeDocument/2006/relationships/tags" Target="../tags/tag36.xml"/><Relationship Id="rId17" Type="http://schemas.openxmlformats.org/officeDocument/2006/relationships/tags" Target="../tags/tag41.xml"/><Relationship Id="rId2" Type="http://schemas.openxmlformats.org/officeDocument/2006/relationships/tags" Target="../tags/tag26.xml"/><Relationship Id="rId16" Type="http://schemas.openxmlformats.org/officeDocument/2006/relationships/tags" Target="../tags/tag40.xml"/><Relationship Id="rId1" Type="http://schemas.openxmlformats.org/officeDocument/2006/relationships/tags" Target="../tags/tag25.xml"/><Relationship Id="rId6" Type="http://schemas.openxmlformats.org/officeDocument/2006/relationships/tags" Target="../tags/tag30.xml"/><Relationship Id="rId11" Type="http://schemas.openxmlformats.org/officeDocument/2006/relationships/tags" Target="../tags/tag35.xml"/><Relationship Id="rId5" Type="http://schemas.openxmlformats.org/officeDocument/2006/relationships/tags" Target="../tags/tag29.xml"/><Relationship Id="rId15" Type="http://schemas.openxmlformats.org/officeDocument/2006/relationships/tags" Target="../tags/tag39.xml"/><Relationship Id="rId10" Type="http://schemas.openxmlformats.org/officeDocument/2006/relationships/tags" Target="../tags/tag34.xml"/><Relationship Id="rId19" Type="http://schemas.openxmlformats.org/officeDocument/2006/relationships/notesSlide" Target="../notesSlides/notesSlide2.xml"/><Relationship Id="rId4" Type="http://schemas.openxmlformats.org/officeDocument/2006/relationships/tags" Target="../tags/tag28.xml"/><Relationship Id="rId9" Type="http://schemas.openxmlformats.org/officeDocument/2006/relationships/tags" Target="../tags/tag33.xml"/><Relationship Id="rId14" Type="http://schemas.openxmlformats.org/officeDocument/2006/relationships/tags" Target="../tags/tag38.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42.xml"/><Relationship Id="rId4" Type="http://schemas.openxmlformats.org/officeDocument/2006/relationships/chart" Target="../charts/chart1.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43.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ags" Target="../tags/tag44.xml"/></Relationships>
</file>

<file path=ppt/slides/_rels/slide9.xml.rels><?xml version="1.0" encoding="UTF-8" standalone="yes"?>
<Relationships xmlns="http://schemas.openxmlformats.org/package/2006/relationships"><Relationship Id="rId8" Type="http://schemas.openxmlformats.org/officeDocument/2006/relationships/tags" Target="../tags/tag52.xml"/><Relationship Id="rId13" Type="http://schemas.openxmlformats.org/officeDocument/2006/relationships/tags" Target="../tags/tag57.xml"/><Relationship Id="rId18" Type="http://schemas.openxmlformats.org/officeDocument/2006/relationships/tags" Target="../tags/tag62.xml"/><Relationship Id="rId3" Type="http://schemas.openxmlformats.org/officeDocument/2006/relationships/tags" Target="../tags/tag47.xml"/><Relationship Id="rId21" Type="http://schemas.openxmlformats.org/officeDocument/2006/relationships/slideLayout" Target="../slideLayouts/slideLayout2.xml"/><Relationship Id="rId7" Type="http://schemas.openxmlformats.org/officeDocument/2006/relationships/tags" Target="../tags/tag51.xml"/><Relationship Id="rId12" Type="http://schemas.openxmlformats.org/officeDocument/2006/relationships/tags" Target="../tags/tag56.xml"/><Relationship Id="rId17" Type="http://schemas.openxmlformats.org/officeDocument/2006/relationships/tags" Target="../tags/tag61.xml"/><Relationship Id="rId2" Type="http://schemas.openxmlformats.org/officeDocument/2006/relationships/tags" Target="../tags/tag46.xml"/><Relationship Id="rId16" Type="http://schemas.openxmlformats.org/officeDocument/2006/relationships/tags" Target="../tags/tag60.xml"/><Relationship Id="rId20" Type="http://schemas.openxmlformats.org/officeDocument/2006/relationships/tags" Target="../tags/tag64.xml"/><Relationship Id="rId1" Type="http://schemas.openxmlformats.org/officeDocument/2006/relationships/tags" Target="../tags/tag45.xml"/><Relationship Id="rId6" Type="http://schemas.openxmlformats.org/officeDocument/2006/relationships/tags" Target="../tags/tag50.xml"/><Relationship Id="rId11" Type="http://schemas.openxmlformats.org/officeDocument/2006/relationships/tags" Target="../tags/tag55.xml"/><Relationship Id="rId5" Type="http://schemas.openxmlformats.org/officeDocument/2006/relationships/tags" Target="../tags/tag49.xml"/><Relationship Id="rId15" Type="http://schemas.openxmlformats.org/officeDocument/2006/relationships/tags" Target="../tags/tag59.xml"/><Relationship Id="rId10" Type="http://schemas.openxmlformats.org/officeDocument/2006/relationships/tags" Target="../tags/tag54.xml"/><Relationship Id="rId19" Type="http://schemas.openxmlformats.org/officeDocument/2006/relationships/tags" Target="../tags/tag63.xml"/><Relationship Id="rId4" Type="http://schemas.openxmlformats.org/officeDocument/2006/relationships/tags" Target="../tags/tag48.xml"/><Relationship Id="rId9" Type="http://schemas.openxmlformats.org/officeDocument/2006/relationships/tags" Target="../tags/tag53.xml"/><Relationship Id="rId14" Type="http://schemas.openxmlformats.org/officeDocument/2006/relationships/tags" Target="../tags/tag58.xml"/><Relationship Id="rId2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ags" Target="../tags/tag65.xml"/></Relationships>
</file>

<file path=ppt/slides/_rels/slide14.xml.rels><?xml version="1.0" encoding="UTF-8" standalone="yes"?>
<Relationships xmlns="http://schemas.openxmlformats.org/package/2006/relationships"><Relationship Id="rId8" Type="http://schemas.openxmlformats.org/officeDocument/2006/relationships/tags" Target="../tags/tag73.xml"/><Relationship Id="rId13" Type="http://schemas.openxmlformats.org/officeDocument/2006/relationships/tags" Target="../tags/tag78.xml"/><Relationship Id="rId18" Type="http://schemas.openxmlformats.org/officeDocument/2006/relationships/tags" Target="../tags/tag83.xml"/><Relationship Id="rId3" Type="http://schemas.openxmlformats.org/officeDocument/2006/relationships/tags" Target="../tags/tag68.xml"/><Relationship Id="rId21" Type="http://schemas.openxmlformats.org/officeDocument/2006/relationships/tags" Target="../tags/tag86.xml"/><Relationship Id="rId7" Type="http://schemas.openxmlformats.org/officeDocument/2006/relationships/tags" Target="../tags/tag72.xml"/><Relationship Id="rId12" Type="http://schemas.openxmlformats.org/officeDocument/2006/relationships/tags" Target="../tags/tag77.xml"/><Relationship Id="rId17" Type="http://schemas.openxmlformats.org/officeDocument/2006/relationships/tags" Target="../tags/tag82.xml"/><Relationship Id="rId2" Type="http://schemas.openxmlformats.org/officeDocument/2006/relationships/tags" Target="../tags/tag67.xml"/><Relationship Id="rId16" Type="http://schemas.openxmlformats.org/officeDocument/2006/relationships/tags" Target="../tags/tag81.xml"/><Relationship Id="rId20" Type="http://schemas.openxmlformats.org/officeDocument/2006/relationships/tags" Target="../tags/tag85.xml"/><Relationship Id="rId1" Type="http://schemas.openxmlformats.org/officeDocument/2006/relationships/tags" Target="../tags/tag66.xml"/><Relationship Id="rId6" Type="http://schemas.openxmlformats.org/officeDocument/2006/relationships/tags" Target="../tags/tag71.xml"/><Relationship Id="rId11" Type="http://schemas.openxmlformats.org/officeDocument/2006/relationships/tags" Target="../tags/tag76.xml"/><Relationship Id="rId5" Type="http://schemas.openxmlformats.org/officeDocument/2006/relationships/tags" Target="../tags/tag70.xml"/><Relationship Id="rId15" Type="http://schemas.openxmlformats.org/officeDocument/2006/relationships/tags" Target="../tags/tag80.xml"/><Relationship Id="rId23" Type="http://schemas.openxmlformats.org/officeDocument/2006/relationships/notesSlide" Target="../notesSlides/notesSlide11.xml"/><Relationship Id="rId10" Type="http://schemas.openxmlformats.org/officeDocument/2006/relationships/tags" Target="../tags/tag75.xml"/><Relationship Id="rId19" Type="http://schemas.openxmlformats.org/officeDocument/2006/relationships/tags" Target="../tags/tag84.xml"/><Relationship Id="rId4" Type="http://schemas.openxmlformats.org/officeDocument/2006/relationships/tags" Target="../tags/tag69.xml"/><Relationship Id="rId9" Type="http://schemas.openxmlformats.org/officeDocument/2006/relationships/tags" Target="../tags/tag74.xml"/><Relationship Id="rId14" Type="http://schemas.openxmlformats.org/officeDocument/2006/relationships/tags" Target="../tags/tag79.xml"/><Relationship Id="rId22"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tags" Target="../tags/tag89.xml"/><Relationship Id="rId2" Type="http://schemas.openxmlformats.org/officeDocument/2006/relationships/tags" Target="../tags/tag88.xml"/><Relationship Id="rId1" Type="http://schemas.openxmlformats.org/officeDocument/2006/relationships/tags" Target="../tags/tag87.xml"/><Relationship Id="rId5" Type="http://schemas.openxmlformats.org/officeDocument/2006/relationships/notesSlide" Target="../notesSlides/notesSlide12.xml"/><Relationship Id="rId4"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tags" Target="../tags/tag92.xml"/><Relationship Id="rId2" Type="http://schemas.openxmlformats.org/officeDocument/2006/relationships/tags" Target="../tags/tag91.xml"/><Relationship Id="rId1" Type="http://schemas.openxmlformats.org/officeDocument/2006/relationships/tags" Target="../tags/tag90.xml"/><Relationship Id="rId5" Type="http://schemas.openxmlformats.org/officeDocument/2006/relationships/notesSlide" Target="../notesSlides/notesSlide13.xml"/><Relationship Id="rId4"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tags" Target="../tags/tag100.xml"/><Relationship Id="rId13" Type="http://schemas.openxmlformats.org/officeDocument/2006/relationships/tags" Target="../tags/tag105.xml"/><Relationship Id="rId3" Type="http://schemas.openxmlformats.org/officeDocument/2006/relationships/tags" Target="../tags/tag95.xml"/><Relationship Id="rId7" Type="http://schemas.openxmlformats.org/officeDocument/2006/relationships/tags" Target="../tags/tag99.xml"/><Relationship Id="rId12" Type="http://schemas.openxmlformats.org/officeDocument/2006/relationships/tags" Target="../tags/tag104.xml"/><Relationship Id="rId2" Type="http://schemas.openxmlformats.org/officeDocument/2006/relationships/tags" Target="../tags/tag94.xml"/><Relationship Id="rId1" Type="http://schemas.openxmlformats.org/officeDocument/2006/relationships/tags" Target="../tags/tag93.xml"/><Relationship Id="rId6" Type="http://schemas.openxmlformats.org/officeDocument/2006/relationships/tags" Target="../tags/tag98.xml"/><Relationship Id="rId11" Type="http://schemas.openxmlformats.org/officeDocument/2006/relationships/tags" Target="../tags/tag103.xml"/><Relationship Id="rId5" Type="http://schemas.openxmlformats.org/officeDocument/2006/relationships/tags" Target="../tags/tag97.xml"/><Relationship Id="rId10" Type="http://schemas.openxmlformats.org/officeDocument/2006/relationships/tags" Target="../tags/tag102.xml"/><Relationship Id="rId4" Type="http://schemas.openxmlformats.org/officeDocument/2006/relationships/tags" Target="../tags/tag96.xml"/><Relationship Id="rId9" Type="http://schemas.openxmlformats.org/officeDocument/2006/relationships/tags" Target="../tags/tag101.xml"/><Relationship Id="rId14"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tags" Target="../tags/tag113.xml"/><Relationship Id="rId13" Type="http://schemas.openxmlformats.org/officeDocument/2006/relationships/tags" Target="../tags/tag118.xml"/><Relationship Id="rId18" Type="http://schemas.openxmlformats.org/officeDocument/2006/relationships/tags" Target="../tags/tag123.xml"/><Relationship Id="rId3" Type="http://schemas.openxmlformats.org/officeDocument/2006/relationships/tags" Target="../tags/tag108.xml"/><Relationship Id="rId7" Type="http://schemas.openxmlformats.org/officeDocument/2006/relationships/tags" Target="../tags/tag112.xml"/><Relationship Id="rId12" Type="http://schemas.openxmlformats.org/officeDocument/2006/relationships/tags" Target="../tags/tag117.xml"/><Relationship Id="rId17" Type="http://schemas.openxmlformats.org/officeDocument/2006/relationships/tags" Target="../tags/tag122.xml"/><Relationship Id="rId2" Type="http://schemas.openxmlformats.org/officeDocument/2006/relationships/tags" Target="../tags/tag107.xml"/><Relationship Id="rId16" Type="http://schemas.openxmlformats.org/officeDocument/2006/relationships/tags" Target="../tags/tag121.xml"/><Relationship Id="rId1" Type="http://schemas.openxmlformats.org/officeDocument/2006/relationships/tags" Target="../tags/tag106.xml"/><Relationship Id="rId6" Type="http://schemas.openxmlformats.org/officeDocument/2006/relationships/tags" Target="../tags/tag111.xml"/><Relationship Id="rId11" Type="http://schemas.openxmlformats.org/officeDocument/2006/relationships/tags" Target="../tags/tag116.xml"/><Relationship Id="rId5" Type="http://schemas.openxmlformats.org/officeDocument/2006/relationships/tags" Target="../tags/tag110.xml"/><Relationship Id="rId15" Type="http://schemas.openxmlformats.org/officeDocument/2006/relationships/tags" Target="../tags/tag120.xml"/><Relationship Id="rId10" Type="http://schemas.openxmlformats.org/officeDocument/2006/relationships/tags" Target="../tags/tag115.xml"/><Relationship Id="rId19" Type="http://schemas.openxmlformats.org/officeDocument/2006/relationships/slideLayout" Target="../slideLayouts/slideLayout2.xml"/><Relationship Id="rId4" Type="http://schemas.openxmlformats.org/officeDocument/2006/relationships/tags" Target="../tags/tag109.xml"/><Relationship Id="rId9" Type="http://schemas.openxmlformats.org/officeDocument/2006/relationships/tags" Target="../tags/tag114.xml"/><Relationship Id="rId14" Type="http://schemas.openxmlformats.org/officeDocument/2006/relationships/tags" Target="../tags/tag119.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tags" Target="../tags/tag131.xml"/><Relationship Id="rId13" Type="http://schemas.openxmlformats.org/officeDocument/2006/relationships/tags" Target="../tags/tag136.xml"/><Relationship Id="rId18" Type="http://schemas.openxmlformats.org/officeDocument/2006/relationships/tags" Target="../tags/tag141.xml"/><Relationship Id="rId26" Type="http://schemas.openxmlformats.org/officeDocument/2006/relationships/tags" Target="../tags/tag149.xml"/><Relationship Id="rId3" Type="http://schemas.openxmlformats.org/officeDocument/2006/relationships/tags" Target="../tags/tag126.xml"/><Relationship Id="rId21" Type="http://schemas.openxmlformats.org/officeDocument/2006/relationships/tags" Target="../tags/tag144.xml"/><Relationship Id="rId7" Type="http://schemas.openxmlformats.org/officeDocument/2006/relationships/tags" Target="../tags/tag130.xml"/><Relationship Id="rId12" Type="http://schemas.openxmlformats.org/officeDocument/2006/relationships/tags" Target="../tags/tag135.xml"/><Relationship Id="rId17" Type="http://schemas.openxmlformats.org/officeDocument/2006/relationships/tags" Target="../tags/tag140.xml"/><Relationship Id="rId25" Type="http://schemas.openxmlformats.org/officeDocument/2006/relationships/tags" Target="../tags/tag148.xml"/><Relationship Id="rId2" Type="http://schemas.openxmlformats.org/officeDocument/2006/relationships/tags" Target="../tags/tag125.xml"/><Relationship Id="rId16" Type="http://schemas.openxmlformats.org/officeDocument/2006/relationships/tags" Target="../tags/tag139.xml"/><Relationship Id="rId20" Type="http://schemas.openxmlformats.org/officeDocument/2006/relationships/tags" Target="../tags/tag143.xml"/><Relationship Id="rId1" Type="http://schemas.openxmlformats.org/officeDocument/2006/relationships/tags" Target="../tags/tag124.xml"/><Relationship Id="rId6" Type="http://schemas.openxmlformats.org/officeDocument/2006/relationships/tags" Target="../tags/tag129.xml"/><Relationship Id="rId11" Type="http://schemas.openxmlformats.org/officeDocument/2006/relationships/tags" Target="../tags/tag134.xml"/><Relationship Id="rId24" Type="http://schemas.openxmlformats.org/officeDocument/2006/relationships/tags" Target="../tags/tag147.xml"/><Relationship Id="rId5" Type="http://schemas.openxmlformats.org/officeDocument/2006/relationships/tags" Target="../tags/tag128.xml"/><Relationship Id="rId15" Type="http://schemas.openxmlformats.org/officeDocument/2006/relationships/tags" Target="../tags/tag138.xml"/><Relationship Id="rId23" Type="http://schemas.openxmlformats.org/officeDocument/2006/relationships/tags" Target="../tags/tag146.xml"/><Relationship Id="rId10" Type="http://schemas.openxmlformats.org/officeDocument/2006/relationships/tags" Target="../tags/tag133.xml"/><Relationship Id="rId19" Type="http://schemas.openxmlformats.org/officeDocument/2006/relationships/tags" Target="../tags/tag142.xml"/><Relationship Id="rId4" Type="http://schemas.openxmlformats.org/officeDocument/2006/relationships/tags" Target="../tags/tag127.xml"/><Relationship Id="rId9" Type="http://schemas.openxmlformats.org/officeDocument/2006/relationships/tags" Target="../tags/tag132.xml"/><Relationship Id="rId14" Type="http://schemas.openxmlformats.org/officeDocument/2006/relationships/tags" Target="../tags/tag137.xml"/><Relationship Id="rId22" Type="http://schemas.openxmlformats.org/officeDocument/2006/relationships/tags" Target="../tags/tag145.xml"/><Relationship Id="rId27"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51.xml"/><Relationship Id="rId1" Type="http://schemas.openxmlformats.org/officeDocument/2006/relationships/tags" Target="../tags/tag150.xml"/></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53.xml"/><Relationship Id="rId1" Type="http://schemas.openxmlformats.org/officeDocument/2006/relationships/tags" Target="../tags/tag152.xml"/></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55.xml"/><Relationship Id="rId1" Type="http://schemas.openxmlformats.org/officeDocument/2006/relationships/tags" Target="../tags/tag154.xml"/></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57.xml"/><Relationship Id="rId1" Type="http://schemas.openxmlformats.org/officeDocument/2006/relationships/tags" Target="../tags/tag15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158.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ags" Target="../tags/tag159.xml"/><Relationship Id="rId4" Type="http://schemas.openxmlformats.org/officeDocument/2006/relationships/image" Target="../media/image14.png"/></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160.xml"/><Relationship Id="rId4" Type="http://schemas.openxmlformats.org/officeDocument/2006/relationships/image" Target="../media/image14.png"/></Relationships>
</file>

<file path=ppt/slides/_rels/slide38.xml.rels><?xml version="1.0" encoding="UTF-8" standalone="yes"?>
<Relationships xmlns="http://schemas.openxmlformats.org/package/2006/relationships"><Relationship Id="rId8" Type="http://schemas.openxmlformats.org/officeDocument/2006/relationships/tags" Target="../tags/tag168.xml"/><Relationship Id="rId13" Type="http://schemas.openxmlformats.org/officeDocument/2006/relationships/notesSlide" Target="../notesSlides/notesSlide16.xml"/><Relationship Id="rId3" Type="http://schemas.openxmlformats.org/officeDocument/2006/relationships/tags" Target="../tags/tag163.xml"/><Relationship Id="rId7" Type="http://schemas.openxmlformats.org/officeDocument/2006/relationships/tags" Target="../tags/tag167.xml"/><Relationship Id="rId12" Type="http://schemas.openxmlformats.org/officeDocument/2006/relationships/slideLayout" Target="../slideLayouts/slideLayout2.xml"/><Relationship Id="rId2" Type="http://schemas.openxmlformats.org/officeDocument/2006/relationships/tags" Target="../tags/tag162.xml"/><Relationship Id="rId1" Type="http://schemas.openxmlformats.org/officeDocument/2006/relationships/tags" Target="../tags/tag161.xml"/><Relationship Id="rId6" Type="http://schemas.openxmlformats.org/officeDocument/2006/relationships/tags" Target="../tags/tag166.xml"/><Relationship Id="rId11" Type="http://schemas.openxmlformats.org/officeDocument/2006/relationships/tags" Target="../tags/tag171.xml"/><Relationship Id="rId5" Type="http://schemas.openxmlformats.org/officeDocument/2006/relationships/tags" Target="../tags/tag165.xml"/><Relationship Id="rId10" Type="http://schemas.openxmlformats.org/officeDocument/2006/relationships/tags" Target="../tags/tag170.xml"/><Relationship Id="rId4" Type="http://schemas.openxmlformats.org/officeDocument/2006/relationships/tags" Target="../tags/tag164.xml"/><Relationship Id="rId9" Type="http://schemas.openxmlformats.org/officeDocument/2006/relationships/tags" Target="../tags/tag169.xml"/></Relationships>
</file>

<file path=ppt/slides/_rels/slide39.xml.rels><?xml version="1.0" encoding="UTF-8" standalone="yes"?>
<Relationships xmlns="http://schemas.openxmlformats.org/package/2006/relationships"><Relationship Id="rId8" Type="http://schemas.openxmlformats.org/officeDocument/2006/relationships/tags" Target="../tags/tag179.xml"/><Relationship Id="rId13" Type="http://schemas.openxmlformats.org/officeDocument/2006/relationships/notesSlide" Target="../notesSlides/notesSlide17.xml"/><Relationship Id="rId3" Type="http://schemas.openxmlformats.org/officeDocument/2006/relationships/tags" Target="../tags/tag174.xml"/><Relationship Id="rId7" Type="http://schemas.openxmlformats.org/officeDocument/2006/relationships/tags" Target="../tags/tag178.xml"/><Relationship Id="rId12" Type="http://schemas.openxmlformats.org/officeDocument/2006/relationships/slideLayout" Target="../slideLayouts/slideLayout2.xml"/><Relationship Id="rId2" Type="http://schemas.openxmlformats.org/officeDocument/2006/relationships/tags" Target="../tags/tag173.xml"/><Relationship Id="rId1" Type="http://schemas.openxmlformats.org/officeDocument/2006/relationships/tags" Target="../tags/tag172.xml"/><Relationship Id="rId6" Type="http://schemas.openxmlformats.org/officeDocument/2006/relationships/tags" Target="../tags/tag177.xml"/><Relationship Id="rId11" Type="http://schemas.openxmlformats.org/officeDocument/2006/relationships/tags" Target="../tags/tag182.xml"/><Relationship Id="rId5" Type="http://schemas.openxmlformats.org/officeDocument/2006/relationships/tags" Target="../tags/tag176.xml"/><Relationship Id="rId10" Type="http://schemas.openxmlformats.org/officeDocument/2006/relationships/tags" Target="../tags/tag181.xml"/><Relationship Id="rId4" Type="http://schemas.openxmlformats.org/officeDocument/2006/relationships/tags" Target="../tags/tag175.xml"/><Relationship Id="rId9" Type="http://schemas.openxmlformats.org/officeDocument/2006/relationships/tags" Target="../tags/tag180.xml"/></Relationships>
</file>

<file path=ppt/slides/_rels/slide40.xml.rels><?xml version="1.0" encoding="UTF-8" standalone="yes"?>
<Relationships xmlns="http://schemas.openxmlformats.org/package/2006/relationships"><Relationship Id="rId8" Type="http://schemas.openxmlformats.org/officeDocument/2006/relationships/tags" Target="../tags/tag190.xml"/><Relationship Id="rId13" Type="http://schemas.openxmlformats.org/officeDocument/2006/relationships/notesSlide" Target="../notesSlides/notesSlide18.xml"/><Relationship Id="rId3" Type="http://schemas.openxmlformats.org/officeDocument/2006/relationships/tags" Target="../tags/tag185.xml"/><Relationship Id="rId7" Type="http://schemas.openxmlformats.org/officeDocument/2006/relationships/tags" Target="../tags/tag189.xml"/><Relationship Id="rId12" Type="http://schemas.openxmlformats.org/officeDocument/2006/relationships/slideLayout" Target="../slideLayouts/slideLayout2.xml"/><Relationship Id="rId2" Type="http://schemas.openxmlformats.org/officeDocument/2006/relationships/tags" Target="../tags/tag184.xml"/><Relationship Id="rId1" Type="http://schemas.openxmlformats.org/officeDocument/2006/relationships/tags" Target="../tags/tag183.xml"/><Relationship Id="rId6" Type="http://schemas.openxmlformats.org/officeDocument/2006/relationships/tags" Target="../tags/tag188.xml"/><Relationship Id="rId11" Type="http://schemas.openxmlformats.org/officeDocument/2006/relationships/tags" Target="../tags/tag193.xml"/><Relationship Id="rId5" Type="http://schemas.openxmlformats.org/officeDocument/2006/relationships/tags" Target="../tags/tag187.xml"/><Relationship Id="rId10" Type="http://schemas.openxmlformats.org/officeDocument/2006/relationships/tags" Target="../tags/tag192.xml"/><Relationship Id="rId4" Type="http://schemas.openxmlformats.org/officeDocument/2006/relationships/tags" Target="../tags/tag186.xml"/><Relationship Id="rId9" Type="http://schemas.openxmlformats.org/officeDocument/2006/relationships/tags" Target="../tags/tag191.xml"/></Relationships>
</file>

<file path=ppt/slides/_rels/slide41.xml.rels><?xml version="1.0" encoding="UTF-8" standalone="yes"?>
<Relationships xmlns="http://schemas.openxmlformats.org/package/2006/relationships"><Relationship Id="rId8" Type="http://schemas.openxmlformats.org/officeDocument/2006/relationships/tags" Target="../tags/tag201.xml"/><Relationship Id="rId13" Type="http://schemas.openxmlformats.org/officeDocument/2006/relationships/slideLayout" Target="../slideLayouts/slideLayout2.xml"/><Relationship Id="rId3" Type="http://schemas.openxmlformats.org/officeDocument/2006/relationships/tags" Target="../tags/tag196.xml"/><Relationship Id="rId7" Type="http://schemas.openxmlformats.org/officeDocument/2006/relationships/tags" Target="../tags/tag200.xml"/><Relationship Id="rId12" Type="http://schemas.openxmlformats.org/officeDocument/2006/relationships/tags" Target="../tags/tag205.xml"/><Relationship Id="rId2" Type="http://schemas.openxmlformats.org/officeDocument/2006/relationships/tags" Target="../tags/tag195.xml"/><Relationship Id="rId1" Type="http://schemas.openxmlformats.org/officeDocument/2006/relationships/tags" Target="../tags/tag194.xml"/><Relationship Id="rId6" Type="http://schemas.openxmlformats.org/officeDocument/2006/relationships/tags" Target="../tags/tag199.xml"/><Relationship Id="rId11" Type="http://schemas.openxmlformats.org/officeDocument/2006/relationships/tags" Target="../tags/tag204.xml"/><Relationship Id="rId5" Type="http://schemas.openxmlformats.org/officeDocument/2006/relationships/tags" Target="../tags/tag198.xml"/><Relationship Id="rId10" Type="http://schemas.openxmlformats.org/officeDocument/2006/relationships/tags" Target="../tags/tag203.xml"/><Relationship Id="rId4" Type="http://schemas.openxmlformats.org/officeDocument/2006/relationships/tags" Target="../tags/tag197.xml"/><Relationship Id="rId9" Type="http://schemas.openxmlformats.org/officeDocument/2006/relationships/tags" Target="../tags/tag202.xml"/><Relationship Id="rId14" Type="http://schemas.openxmlformats.org/officeDocument/2006/relationships/notesSlide" Target="../notesSlides/notesSlide19.xml"/></Relationships>
</file>

<file path=ppt/slides/_rels/slide42.xml.rels><?xml version="1.0" encoding="UTF-8" standalone="yes"?>
<Relationships xmlns="http://schemas.openxmlformats.org/package/2006/relationships"><Relationship Id="rId8" Type="http://schemas.openxmlformats.org/officeDocument/2006/relationships/tags" Target="../tags/tag213.xml"/><Relationship Id="rId13" Type="http://schemas.openxmlformats.org/officeDocument/2006/relationships/slideLayout" Target="../slideLayouts/slideLayout2.xml"/><Relationship Id="rId3" Type="http://schemas.openxmlformats.org/officeDocument/2006/relationships/tags" Target="../tags/tag208.xml"/><Relationship Id="rId7" Type="http://schemas.openxmlformats.org/officeDocument/2006/relationships/tags" Target="../tags/tag212.xml"/><Relationship Id="rId12" Type="http://schemas.openxmlformats.org/officeDocument/2006/relationships/tags" Target="../tags/tag217.xml"/><Relationship Id="rId2" Type="http://schemas.openxmlformats.org/officeDocument/2006/relationships/tags" Target="../tags/tag207.xml"/><Relationship Id="rId1" Type="http://schemas.openxmlformats.org/officeDocument/2006/relationships/tags" Target="../tags/tag206.xml"/><Relationship Id="rId6" Type="http://schemas.openxmlformats.org/officeDocument/2006/relationships/tags" Target="../tags/tag211.xml"/><Relationship Id="rId11" Type="http://schemas.openxmlformats.org/officeDocument/2006/relationships/tags" Target="../tags/tag216.xml"/><Relationship Id="rId5" Type="http://schemas.openxmlformats.org/officeDocument/2006/relationships/tags" Target="../tags/tag210.xml"/><Relationship Id="rId10" Type="http://schemas.openxmlformats.org/officeDocument/2006/relationships/tags" Target="../tags/tag215.xml"/><Relationship Id="rId4" Type="http://schemas.openxmlformats.org/officeDocument/2006/relationships/tags" Target="../tags/tag209.xml"/><Relationship Id="rId9" Type="http://schemas.openxmlformats.org/officeDocument/2006/relationships/tags" Target="../tags/tag214.xml"/><Relationship Id="rId14" Type="http://schemas.openxmlformats.org/officeDocument/2006/relationships/notesSlide" Target="../notesSlides/notesSlide20.xml"/></Relationships>
</file>

<file path=ppt/slides/_rels/slide43.xml.rels><?xml version="1.0" encoding="UTF-8" standalone="yes"?>
<Relationships xmlns="http://schemas.openxmlformats.org/package/2006/relationships"><Relationship Id="rId8" Type="http://schemas.openxmlformats.org/officeDocument/2006/relationships/tags" Target="../tags/tag225.xml"/><Relationship Id="rId13" Type="http://schemas.openxmlformats.org/officeDocument/2006/relationships/slideLayout" Target="../slideLayouts/slideLayout2.xml"/><Relationship Id="rId3" Type="http://schemas.openxmlformats.org/officeDocument/2006/relationships/tags" Target="../tags/tag220.xml"/><Relationship Id="rId7" Type="http://schemas.openxmlformats.org/officeDocument/2006/relationships/tags" Target="../tags/tag224.xml"/><Relationship Id="rId12" Type="http://schemas.openxmlformats.org/officeDocument/2006/relationships/tags" Target="../tags/tag229.xml"/><Relationship Id="rId2" Type="http://schemas.openxmlformats.org/officeDocument/2006/relationships/tags" Target="../tags/tag219.xml"/><Relationship Id="rId1" Type="http://schemas.openxmlformats.org/officeDocument/2006/relationships/tags" Target="../tags/tag218.xml"/><Relationship Id="rId6" Type="http://schemas.openxmlformats.org/officeDocument/2006/relationships/tags" Target="../tags/tag223.xml"/><Relationship Id="rId11" Type="http://schemas.openxmlformats.org/officeDocument/2006/relationships/tags" Target="../tags/tag228.xml"/><Relationship Id="rId5" Type="http://schemas.openxmlformats.org/officeDocument/2006/relationships/tags" Target="../tags/tag222.xml"/><Relationship Id="rId10" Type="http://schemas.openxmlformats.org/officeDocument/2006/relationships/tags" Target="../tags/tag227.xml"/><Relationship Id="rId4" Type="http://schemas.openxmlformats.org/officeDocument/2006/relationships/tags" Target="../tags/tag221.xml"/><Relationship Id="rId9" Type="http://schemas.openxmlformats.org/officeDocument/2006/relationships/tags" Target="../tags/tag226.xml"/><Relationship Id="rId14" Type="http://schemas.openxmlformats.org/officeDocument/2006/relationships/notesSlide" Target="../notesSlides/notesSlide21.xml"/></Relationships>
</file>

<file path=ppt/slides/_rels/slide44.xml.rels><?xml version="1.0" encoding="UTF-8" standalone="yes"?>
<Relationships xmlns="http://schemas.openxmlformats.org/package/2006/relationships"><Relationship Id="rId8" Type="http://schemas.openxmlformats.org/officeDocument/2006/relationships/tags" Target="../tags/tag237.xml"/><Relationship Id="rId13" Type="http://schemas.openxmlformats.org/officeDocument/2006/relationships/tags" Target="../tags/tag242.xml"/><Relationship Id="rId3" Type="http://schemas.openxmlformats.org/officeDocument/2006/relationships/tags" Target="../tags/tag232.xml"/><Relationship Id="rId7" Type="http://schemas.openxmlformats.org/officeDocument/2006/relationships/tags" Target="../tags/tag236.xml"/><Relationship Id="rId12" Type="http://schemas.openxmlformats.org/officeDocument/2006/relationships/tags" Target="../tags/tag241.xml"/><Relationship Id="rId2" Type="http://schemas.openxmlformats.org/officeDocument/2006/relationships/tags" Target="../tags/tag231.xml"/><Relationship Id="rId1" Type="http://schemas.openxmlformats.org/officeDocument/2006/relationships/tags" Target="../tags/tag230.xml"/><Relationship Id="rId6" Type="http://schemas.openxmlformats.org/officeDocument/2006/relationships/tags" Target="../tags/tag235.xml"/><Relationship Id="rId11" Type="http://schemas.openxmlformats.org/officeDocument/2006/relationships/tags" Target="../tags/tag240.xml"/><Relationship Id="rId5" Type="http://schemas.openxmlformats.org/officeDocument/2006/relationships/tags" Target="../tags/tag234.xml"/><Relationship Id="rId15" Type="http://schemas.openxmlformats.org/officeDocument/2006/relationships/notesSlide" Target="../notesSlides/notesSlide22.xml"/><Relationship Id="rId10" Type="http://schemas.openxmlformats.org/officeDocument/2006/relationships/tags" Target="../tags/tag239.xml"/><Relationship Id="rId4" Type="http://schemas.openxmlformats.org/officeDocument/2006/relationships/tags" Target="../tags/tag233.xml"/><Relationship Id="rId9" Type="http://schemas.openxmlformats.org/officeDocument/2006/relationships/tags" Target="../tags/tag238.xml"/><Relationship Id="rId14"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tags" Target="../tags/tag250.xml"/><Relationship Id="rId13" Type="http://schemas.openxmlformats.org/officeDocument/2006/relationships/tags" Target="../tags/tag255.xml"/><Relationship Id="rId3" Type="http://schemas.openxmlformats.org/officeDocument/2006/relationships/tags" Target="../tags/tag245.xml"/><Relationship Id="rId7" Type="http://schemas.openxmlformats.org/officeDocument/2006/relationships/tags" Target="../tags/tag249.xml"/><Relationship Id="rId12" Type="http://schemas.openxmlformats.org/officeDocument/2006/relationships/tags" Target="../tags/tag254.xml"/><Relationship Id="rId2" Type="http://schemas.openxmlformats.org/officeDocument/2006/relationships/tags" Target="../tags/tag244.xml"/><Relationship Id="rId1" Type="http://schemas.openxmlformats.org/officeDocument/2006/relationships/tags" Target="../tags/tag243.xml"/><Relationship Id="rId6" Type="http://schemas.openxmlformats.org/officeDocument/2006/relationships/tags" Target="../tags/tag248.xml"/><Relationship Id="rId11" Type="http://schemas.openxmlformats.org/officeDocument/2006/relationships/tags" Target="../tags/tag253.xml"/><Relationship Id="rId5" Type="http://schemas.openxmlformats.org/officeDocument/2006/relationships/tags" Target="../tags/tag247.xml"/><Relationship Id="rId15" Type="http://schemas.openxmlformats.org/officeDocument/2006/relationships/notesSlide" Target="../notesSlides/notesSlide23.xml"/><Relationship Id="rId10" Type="http://schemas.openxmlformats.org/officeDocument/2006/relationships/tags" Target="../tags/tag252.xml"/><Relationship Id="rId4" Type="http://schemas.openxmlformats.org/officeDocument/2006/relationships/tags" Target="../tags/tag246.xml"/><Relationship Id="rId9" Type="http://schemas.openxmlformats.org/officeDocument/2006/relationships/tags" Target="../tags/tag251.xml"/><Relationship Id="rId14"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8" Type="http://schemas.openxmlformats.org/officeDocument/2006/relationships/tags" Target="../tags/tag263.xml"/><Relationship Id="rId13" Type="http://schemas.openxmlformats.org/officeDocument/2006/relationships/tags" Target="../tags/tag268.xml"/><Relationship Id="rId18" Type="http://schemas.openxmlformats.org/officeDocument/2006/relationships/slideLayout" Target="../slideLayouts/slideLayout2.xml"/><Relationship Id="rId3" Type="http://schemas.openxmlformats.org/officeDocument/2006/relationships/tags" Target="../tags/tag258.xml"/><Relationship Id="rId7" Type="http://schemas.openxmlformats.org/officeDocument/2006/relationships/tags" Target="../tags/tag262.xml"/><Relationship Id="rId12" Type="http://schemas.openxmlformats.org/officeDocument/2006/relationships/tags" Target="../tags/tag267.xml"/><Relationship Id="rId17" Type="http://schemas.openxmlformats.org/officeDocument/2006/relationships/tags" Target="../tags/tag272.xml"/><Relationship Id="rId2" Type="http://schemas.openxmlformats.org/officeDocument/2006/relationships/tags" Target="../tags/tag257.xml"/><Relationship Id="rId16" Type="http://schemas.openxmlformats.org/officeDocument/2006/relationships/tags" Target="../tags/tag271.xml"/><Relationship Id="rId1" Type="http://schemas.openxmlformats.org/officeDocument/2006/relationships/tags" Target="../tags/tag256.xml"/><Relationship Id="rId6" Type="http://schemas.openxmlformats.org/officeDocument/2006/relationships/tags" Target="../tags/tag261.xml"/><Relationship Id="rId11" Type="http://schemas.openxmlformats.org/officeDocument/2006/relationships/tags" Target="../tags/tag266.xml"/><Relationship Id="rId5" Type="http://schemas.openxmlformats.org/officeDocument/2006/relationships/tags" Target="../tags/tag260.xml"/><Relationship Id="rId15" Type="http://schemas.openxmlformats.org/officeDocument/2006/relationships/tags" Target="../tags/tag270.xml"/><Relationship Id="rId10" Type="http://schemas.openxmlformats.org/officeDocument/2006/relationships/tags" Target="../tags/tag265.xml"/><Relationship Id="rId19" Type="http://schemas.openxmlformats.org/officeDocument/2006/relationships/notesSlide" Target="../notesSlides/notesSlide24.xml"/><Relationship Id="rId4" Type="http://schemas.openxmlformats.org/officeDocument/2006/relationships/tags" Target="../tags/tag259.xml"/><Relationship Id="rId9" Type="http://schemas.openxmlformats.org/officeDocument/2006/relationships/tags" Target="../tags/tag264.xml"/><Relationship Id="rId14" Type="http://schemas.openxmlformats.org/officeDocument/2006/relationships/tags" Target="../tags/tag269.xml"/></Relationships>
</file>

<file path=ppt/slides/_rels/slide47.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tags" Target="../tags/tag275.xml"/><Relationship Id="rId7" Type="http://schemas.openxmlformats.org/officeDocument/2006/relationships/notesSlide" Target="../notesSlides/notesSlide25.xml"/><Relationship Id="rId2" Type="http://schemas.openxmlformats.org/officeDocument/2006/relationships/tags" Target="../tags/tag274.xml"/><Relationship Id="rId1" Type="http://schemas.openxmlformats.org/officeDocument/2006/relationships/tags" Target="../tags/tag273.xml"/><Relationship Id="rId6" Type="http://schemas.openxmlformats.org/officeDocument/2006/relationships/slideLayout" Target="../slideLayouts/slideLayout2.xml"/><Relationship Id="rId5" Type="http://schemas.openxmlformats.org/officeDocument/2006/relationships/tags" Target="../tags/tag277.xml"/><Relationship Id="rId4" Type="http://schemas.openxmlformats.org/officeDocument/2006/relationships/tags" Target="../tags/tag276.xml"/></Relationships>
</file>

<file path=ppt/slides/_rels/slide48.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tags" Target="../tags/tag280.xml"/><Relationship Id="rId7" Type="http://schemas.openxmlformats.org/officeDocument/2006/relationships/notesSlide" Target="../notesSlides/notesSlide26.xml"/><Relationship Id="rId2" Type="http://schemas.openxmlformats.org/officeDocument/2006/relationships/tags" Target="../tags/tag279.xml"/><Relationship Id="rId1" Type="http://schemas.openxmlformats.org/officeDocument/2006/relationships/tags" Target="../tags/tag278.xml"/><Relationship Id="rId6" Type="http://schemas.openxmlformats.org/officeDocument/2006/relationships/slideLayout" Target="../slideLayouts/slideLayout2.xml"/><Relationship Id="rId5" Type="http://schemas.openxmlformats.org/officeDocument/2006/relationships/tags" Target="../tags/tag282.xml"/><Relationship Id="rId4" Type="http://schemas.openxmlformats.org/officeDocument/2006/relationships/tags" Target="../tags/tag281.xml"/></Relationships>
</file>

<file path=ppt/slides/_rels/slide49.xml.rels><?xml version="1.0" encoding="UTF-8" standalone="yes"?>
<Relationships xmlns="http://schemas.openxmlformats.org/package/2006/relationships"><Relationship Id="rId8" Type="http://schemas.openxmlformats.org/officeDocument/2006/relationships/tags" Target="../tags/tag290.xml"/><Relationship Id="rId13" Type="http://schemas.openxmlformats.org/officeDocument/2006/relationships/tags" Target="../tags/tag295.xml"/><Relationship Id="rId3" Type="http://schemas.openxmlformats.org/officeDocument/2006/relationships/tags" Target="../tags/tag285.xml"/><Relationship Id="rId7" Type="http://schemas.openxmlformats.org/officeDocument/2006/relationships/tags" Target="../tags/tag289.xml"/><Relationship Id="rId12" Type="http://schemas.openxmlformats.org/officeDocument/2006/relationships/tags" Target="../tags/tag294.xml"/><Relationship Id="rId2" Type="http://schemas.openxmlformats.org/officeDocument/2006/relationships/tags" Target="../tags/tag284.xml"/><Relationship Id="rId16" Type="http://schemas.openxmlformats.org/officeDocument/2006/relationships/notesSlide" Target="../notesSlides/notesSlide27.xml"/><Relationship Id="rId1" Type="http://schemas.openxmlformats.org/officeDocument/2006/relationships/tags" Target="../tags/tag283.xml"/><Relationship Id="rId6" Type="http://schemas.openxmlformats.org/officeDocument/2006/relationships/tags" Target="../tags/tag288.xml"/><Relationship Id="rId11" Type="http://schemas.openxmlformats.org/officeDocument/2006/relationships/tags" Target="../tags/tag293.xml"/><Relationship Id="rId5" Type="http://schemas.openxmlformats.org/officeDocument/2006/relationships/tags" Target="../tags/tag287.xml"/><Relationship Id="rId15" Type="http://schemas.openxmlformats.org/officeDocument/2006/relationships/slideLayout" Target="../slideLayouts/slideLayout2.xml"/><Relationship Id="rId10" Type="http://schemas.openxmlformats.org/officeDocument/2006/relationships/tags" Target="../tags/tag292.xml"/><Relationship Id="rId4" Type="http://schemas.openxmlformats.org/officeDocument/2006/relationships/tags" Target="../tags/tag286.xml"/><Relationship Id="rId9" Type="http://schemas.openxmlformats.org/officeDocument/2006/relationships/tags" Target="../tags/tag291.xml"/><Relationship Id="rId14" Type="http://schemas.openxmlformats.org/officeDocument/2006/relationships/tags" Target="../tags/tag296.xml"/></Relationships>
</file>

<file path=ppt/slides/_rels/slide50.xml.rels><?xml version="1.0" encoding="UTF-8" standalone="yes"?>
<Relationships xmlns="http://schemas.openxmlformats.org/package/2006/relationships"><Relationship Id="rId8" Type="http://schemas.openxmlformats.org/officeDocument/2006/relationships/package" Target="../embeddings/Microsoft_Word_Document.docx"/><Relationship Id="rId3" Type="http://schemas.openxmlformats.org/officeDocument/2006/relationships/tags" Target="../tags/tag299.xml"/><Relationship Id="rId7" Type="http://schemas.openxmlformats.org/officeDocument/2006/relationships/notesSlide" Target="../notesSlides/notesSlide28.xml"/><Relationship Id="rId2" Type="http://schemas.openxmlformats.org/officeDocument/2006/relationships/tags" Target="../tags/tag298.xml"/><Relationship Id="rId1" Type="http://schemas.openxmlformats.org/officeDocument/2006/relationships/tags" Target="../tags/tag297.xml"/><Relationship Id="rId6" Type="http://schemas.openxmlformats.org/officeDocument/2006/relationships/slideLayout" Target="../slideLayouts/slideLayout2.xml"/><Relationship Id="rId5" Type="http://schemas.openxmlformats.org/officeDocument/2006/relationships/tags" Target="../tags/tag301.xml"/><Relationship Id="rId4" Type="http://schemas.openxmlformats.org/officeDocument/2006/relationships/tags" Target="../tags/tag300.xml"/><Relationship Id="rId9" Type="http://schemas.openxmlformats.org/officeDocument/2006/relationships/image" Target="../media/image17.emf"/></Relationships>
</file>

<file path=ppt/slides/_rels/slide51.xml.rels><?xml version="1.0" encoding="UTF-8" standalone="yes"?>
<Relationships xmlns="http://schemas.openxmlformats.org/package/2006/relationships"><Relationship Id="rId8" Type="http://schemas.openxmlformats.org/officeDocument/2006/relationships/package" Target="../embeddings/Microsoft_Word_Document.docx"/><Relationship Id="rId3" Type="http://schemas.openxmlformats.org/officeDocument/2006/relationships/tags" Target="../tags/tag304.xml"/><Relationship Id="rId7" Type="http://schemas.openxmlformats.org/officeDocument/2006/relationships/notesSlide" Target="../notesSlides/notesSlide29.xml"/><Relationship Id="rId2" Type="http://schemas.openxmlformats.org/officeDocument/2006/relationships/tags" Target="../tags/tag303.xml"/><Relationship Id="rId1" Type="http://schemas.openxmlformats.org/officeDocument/2006/relationships/tags" Target="../tags/tag302.xml"/><Relationship Id="rId6" Type="http://schemas.openxmlformats.org/officeDocument/2006/relationships/slideLayout" Target="../slideLayouts/slideLayout2.xml"/><Relationship Id="rId5" Type="http://schemas.openxmlformats.org/officeDocument/2006/relationships/tags" Target="../tags/tag306.xml"/><Relationship Id="rId4" Type="http://schemas.openxmlformats.org/officeDocument/2006/relationships/tags" Target="../tags/tag305.xml"/><Relationship Id="rId9" Type="http://schemas.openxmlformats.org/officeDocument/2006/relationships/image" Target="../media/image17.emf"/></Relationships>
</file>

<file path=ppt/slides/_rels/slide52.xml.rels><?xml version="1.0" encoding="UTF-8" standalone="yes"?>
<Relationships xmlns="http://schemas.openxmlformats.org/package/2006/relationships"><Relationship Id="rId8" Type="http://schemas.openxmlformats.org/officeDocument/2006/relationships/tags" Target="../tags/tag314.xml"/><Relationship Id="rId13" Type="http://schemas.openxmlformats.org/officeDocument/2006/relationships/tags" Target="../tags/tag319.xml"/><Relationship Id="rId3" Type="http://schemas.openxmlformats.org/officeDocument/2006/relationships/tags" Target="../tags/tag309.xml"/><Relationship Id="rId7" Type="http://schemas.openxmlformats.org/officeDocument/2006/relationships/tags" Target="../tags/tag313.xml"/><Relationship Id="rId12" Type="http://schemas.openxmlformats.org/officeDocument/2006/relationships/tags" Target="../tags/tag318.xml"/><Relationship Id="rId2" Type="http://schemas.openxmlformats.org/officeDocument/2006/relationships/tags" Target="../tags/tag308.xml"/><Relationship Id="rId16" Type="http://schemas.openxmlformats.org/officeDocument/2006/relationships/notesSlide" Target="../notesSlides/notesSlide30.xml"/><Relationship Id="rId1" Type="http://schemas.openxmlformats.org/officeDocument/2006/relationships/tags" Target="../tags/tag307.xml"/><Relationship Id="rId6" Type="http://schemas.openxmlformats.org/officeDocument/2006/relationships/tags" Target="../tags/tag312.xml"/><Relationship Id="rId11" Type="http://schemas.openxmlformats.org/officeDocument/2006/relationships/tags" Target="../tags/tag317.xml"/><Relationship Id="rId5" Type="http://schemas.openxmlformats.org/officeDocument/2006/relationships/tags" Target="../tags/tag311.xml"/><Relationship Id="rId15" Type="http://schemas.openxmlformats.org/officeDocument/2006/relationships/slideLayout" Target="../slideLayouts/slideLayout2.xml"/><Relationship Id="rId10" Type="http://schemas.openxmlformats.org/officeDocument/2006/relationships/tags" Target="../tags/tag316.xml"/><Relationship Id="rId4" Type="http://schemas.openxmlformats.org/officeDocument/2006/relationships/tags" Target="../tags/tag310.xml"/><Relationship Id="rId9" Type="http://schemas.openxmlformats.org/officeDocument/2006/relationships/tags" Target="../tags/tag315.xml"/><Relationship Id="rId14" Type="http://schemas.openxmlformats.org/officeDocument/2006/relationships/tags" Target="../tags/tag320.xml"/></Relationships>
</file>

<file path=ppt/slides/_rels/slide53.xml.rels><?xml version="1.0" encoding="UTF-8" standalone="yes"?>
<Relationships xmlns="http://schemas.openxmlformats.org/package/2006/relationships"><Relationship Id="rId8" Type="http://schemas.openxmlformats.org/officeDocument/2006/relationships/notesSlide" Target="../notesSlides/notesSlide31.xml"/><Relationship Id="rId3" Type="http://schemas.openxmlformats.org/officeDocument/2006/relationships/tags" Target="../tags/tag323.xml"/><Relationship Id="rId7" Type="http://schemas.openxmlformats.org/officeDocument/2006/relationships/slideLayout" Target="../slideLayouts/slideLayout2.xml"/><Relationship Id="rId12" Type="http://schemas.openxmlformats.org/officeDocument/2006/relationships/image" Target="../media/image21.png"/><Relationship Id="rId2" Type="http://schemas.openxmlformats.org/officeDocument/2006/relationships/tags" Target="../tags/tag322.xml"/><Relationship Id="rId1" Type="http://schemas.openxmlformats.org/officeDocument/2006/relationships/tags" Target="../tags/tag321.xml"/><Relationship Id="rId6" Type="http://schemas.openxmlformats.org/officeDocument/2006/relationships/tags" Target="../tags/tag326.xml"/><Relationship Id="rId11" Type="http://schemas.openxmlformats.org/officeDocument/2006/relationships/image" Target="../media/image20.jpeg"/><Relationship Id="rId5" Type="http://schemas.openxmlformats.org/officeDocument/2006/relationships/tags" Target="../tags/tag325.xml"/><Relationship Id="rId10" Type="http://schemas.openxmlformats.org/officeDocument/2006/relationships/image" Target="../media/image19.jpeg"/><Relationship Id="rId4" Type="http://schemas.openxmlformats.org/officeDocument/2006/relationships/tags" Target="../tags/tag324.xml"/><Relationship Id="rId9" Type="http://schemas.openxmlformats.org/officeDocument/2006/relationships/image" Target="../media/image18.jpeg"/></Relationships>
</file>

<file path=ppt/slides/_rels/slide54.xml.rels><?xml version="1.0" encoding="UTF-8" standalone="yes"?>
<Relationships xmlns="http://schemas.openxmlformats.org/package/2006/relationships"><Relationship Id="rId3" Type="http://schemas.openxmlformats.org/officeDocument/2006/relationships/tags" Target="../tags/tag329.xml"/><Relationship Id="rId7" Type="http://schemas.openxmlformats.org/officeDocument/2006/relationships/notesSlide" Target="../notesSlides/notesSlide32.xml"/><Relationship Id="rId2" Type="http://schemas.openxmlformats.org/officeDocument/2006/relationships/tags" Target="../tags/tag328.xml"/><Relationship Id="rId1" Type="http://schemas.openxmlformats.org/officeDocument/2006/relationships/tags" Target="../tags/tag327.xml"/><Relationship Id="rId6" Type="http://schemas.openxmlformats.org/officeDocument/2006/relationships/slideLayout" Target="../slideLayouts/slideLayout2.xml"/><Relationship Id="rId5" Type="http://schemas.openxmlformats.org/officeDocument/2006/relationships/tags" Target="../tags/tag331.xml"/><Relationship Id="rId4" Type="http://schemas.openxmlformats.org/officeDocument/2006/relationships/tags" Target="../tags/tag330.xml"/></Relationships>
</file>

<file path=ppt/slides/_rels/slide55.xml.rels><?xml version="1.0" encoding="UTF-8" standalone="yes"?>
<Relationships xmlns="http://schemas.openxmlformats.org/package/2006/relationships"><Relationship Id="rId3" Type="http://schemas.openxmlformats.org/officeDocument/2006/relationships/tags" Target="../tags/tag334.xml"/><Relationship Id="rId7" Type="http://schemas.openxmlformats.org/officeDocument/2006/relationships/notesSlide" Target="../notesSlides/notesSlide33.xml"/><Relationship Id="rId2" Type="http://schemas.openxmlformats.org/officeDocument/2006/relationships/tags" Target="../tags/tag333.xml"/><Relationship Id="rId1" Type="http://schemas.openxmlformats.org/officeDocument/2006/relationships/tags" Target="../tags/tag332.xml"/><Relationship Id="rId6" Type="http://schemas.openxmlformats.org/officeDocument/2006/relationships/slideLayout" Target="../slideLayouts/slideLayout2.xml"/><Relationship Id="rId5" Type="http://schemas.openxmlformats.org/officeDocument/2006/relationships/tags" Target="../tags/tag336.xml"/><Relationship Id="rId4" Type="http://schemas.openxmlformats.org/officeDocument/2006/relationships/tags" Target="../tags/tag335.xml"/></Relationships>
</file>

<file path=ppt/slides/_rels/slide56.xml.rels><?xml version="1.0" encoding="UTF-8" standalone="yes"?>
<Relationships xmlns="http://schemas.openxmlformats.org/package/2006/relationships"><Relationship Id="rId3" Type="http://schemas.openxmlformats.org/officeDocument/2006/relationships/tags" Target="../tags/tag339.xml"/><Relationship Id="rId7" Type="http://schemas.openxmlformats.org/officeDocument/2006/relationships/notesSlide" Target="../notesSlides/notesSlide34.xml"/><Relationship Id="rId2" Type="http://schemas.openxmlformats.org/officeDocument/2006/relationships/tags" Target="../tags/tag338.xml"/><Relationship Id="rId1" Type="http://schemas.openxmlformats.org/officeDocument/2006/relationships/tags" Target="../tags/tag337.xml"/><Relationship Id="rId6" Type="http://schemas.openxmlformats.org/officeDocument/2006/relationships/slideLayout" Target="../slideLayouts/slideLayout2.xml"/><Relationship Id="rId5" Type="http://schemas.openxmlformats.org/officeDocument/2006/relationships/tags" Target="../tags/tag341.xml"/><Relationship Id="rId4" Type="http://schemas.openxmlformats.org/officeDocument/2006/relationships/tags" Target="../tags/tag340.xml"/></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2.xml"/><Relationship Id="rId1" Type="http://schemas.openxmlformats.org/officeDocument/2006/relationships/tags" Target="../tags/tag342.xml"/><Relationship Id="rId6" Type="http://schemas.openxmlformats.org/officeDocument/2006/relationships/image" Target="../media/image24.jpeg"/><Relationship Id="rId5" Type="http://schemas.openxmlformats.org/officeDocument/2006/relationships/image" Target="../media/image23.jpeg"/><Relationship Id="rId4" Type="http://schemas.openxmlformats.org/officeDocument/2006/relationships/image" Target="../media/image22.jpeg"/></Relationships>
</file>

<file path=ppt/slides/_rels/slide58.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2.xml"/><Relationship Id="rId1" Type="http://schemas.openxmlformats.org/officeDocument/2006/relationships/tags" Target="../tags/tag343.xml"/><Relationship Id="rId4" Type="http://schemas.openxmlformats.org/officeDocument/2006/relationships/image" Target="../media/image25.jpe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37.xml"/><Relationship Id="rId2" Type="http://schemas.openxmlformats.org/officeDocument/2006/relationships/slideLayout" Target="../slideLayouts/slideLayout2.xml"/><Relationship Id="rId1" Type="http://schemas.openxmlformats.org/officeDocument/2006/relationships/tags" Target="../tags/tag344.xml"/></Relationships>
</file>

<file path=ppt/slides/_rels/slide60.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ags" Target="../tags/tag345.xml"/></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ags" Target="../tags/tag346.xml"/><Relationship Id="rId4" Type="http://schemas.openxmlformats.org/officeDocument/2006/relationships/image" Target="../media/image26.png"/></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40.xml"/><Relationship Id="rId2" Type="http://schemas.openxmlformats.org/officeDocument/2006/relationships/slideLayout" Target="../slideLayouts/slideLayout2.xml"/><Relationship Id="rId1" Type="http://schemas.openxmlformats.org/officeDocument/2006/relationships/tags" Target="../tags/tag347.xml"/><Relationship Id="rId4" Type="http://schemas.openxmlformats.org/officeDocument/2006/relationships/image" Target="../media/image27.png"/></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41.xml"/><Relationship Id="rId2" Type="http://schemas.openxmlformats.org/officeDocument/2006/relationships/slideLayout" Target="../slideLayouts/slideLayout2.xml"/><Relationship Id="rId1" Type="http://schemas.openxmlformats.org/officeDocument/2006/relationships/tags" Target="../tags/tag348.xml"/><Relationship Id="rId4" Type="http://schemas.openxmlformats.org/officeDocument/2006/relationships/image" Target="../media/image28.jpeg"/></Relationships>
</file>

<file path=ppt/slides/_rels/slide64.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tags" Target="../tags/tag351.xml"/><Relationship Id="rId7" Type="http://schemas.openxmlformats.org/officeDocument/2006/relationships/notesSlide" Target="../notesSlides/notesSlide42.xml"/><Relationship Id="rId2" Type="http://schemas.openxmlformats.org/officeDocument/2006/relationships/tags" Target="../tags/tag350.xml"/><Relationship Id="rId1" Type="http://schemas.openxmlformats.org/officeDocument/2006/relationships/tags" Target="../tags/tag349.xml"/><Relationship Id="rId6" Type="http://schemas.openxmlformats.org/officeDocument/2006/relationships/slideLayout" Target="../slideLayouts/slideLayout2.xml"/><Relationship Id="rId5" Type="http://schemas.openxmlformats.org/officeDocument/2006/relationships/tags" Target="../tags/tag353.xml"/><Relationship Id="rId4" Type="http://schemas.openxmlformats.org/officeDocument/2006/relationships/tags" Target="../tags/tag352.xml"/></Relationships>
</file>

<file path=ppt/slides/_rels/slide65.xml.rels><?xml version="1.0" encoding="UTF-8" standalone="yes"?>
<Relationships xmlns="http://schemas.openxmlformats.org/package/2006/relationships"><Relationship Id="rId8" Type="http://schemas.openxmlformats.org/officeDocument/2006/relationships/image" Target="../media/image30.jpeg"/><Relationship Id="rId3" Type="http://schemas.openxmlformats.org/officeDocument/2006/relationships/tags" Target="../tags/tag356.xml"/><Relationship Id="rId7" Type="http://schemas.openxmlformats.org/officeDocument/2006/relationships/notesSlide" Target="../notesSlides/notesSlide43.xml"/><Relationship Id="rId2" Type="http://schemas.openxmlformats.org/officeDocument/2006/relationships/tags" Target="../tags/tag355.xml"/><Relationship Id="rId1" Type="http://schemas.openxmlformats.org/officeDocument/2006/relationships/tags" Target="../tags/tag354.xml"/><Relationship Id="rId6" Type="http://schemas.openxmlformats.org/officeDocument/2006/relationships/slideLayout" Target="../slideLayouts/slideLayout2.xml"/><Relationship Id="rId5" Type="http://schemas.openxmlformats.org/officeDocument/2006/relationships/tags" Target="../tags/tag358.xml"/><Relationship Id="rId4" Type="http://schemas.openxmlformats.org/officeDocument/2006/relationships/tags" Target="../tags/tag357.xml"/></Relationships>
</file>

<file path=ppt/slides/_rels/slide66.xml.rels><?xml version="1.0" encoding="UTF-8" standalone="yes"?>
<Relationships xmlns="http://schemas.openxmlformats.org/package/2006/relationships"><Relationship Id="rId8" Type="http://schemas.openxmlformats.org/officeDocument/2006/relationships/image" Target="../media/image31.jpeg"/><Relationship Id="rId3" Type="http://schemas.openxmlformats.org/officeDocument/2006/relationships/tags" Target="../tags/tag361.xml"/><Relationship Id="rId7" Type="http://schemas.openxmlformats.org/officeDocument/2006/relationships/notesSlide" Target="../notesSlides/notesSlide44.xml"/><Relationship Id="rId2" Type="http://schemas.openxmlformats.org/officeDocument/2006/relationships/tags" Target="../tags/tag360.xml"/><Relationship Id="rId1" Type="http://schemas.openxmlformats.org/officeDocument/2006/relationships/tags" Target="../tags/tag359.xml"/><Relationship Id="rId6" Type="http://schemas.openxmlformats.org/officeDocument/2006/relationships/slideLayout" Target="../slideLayouts/slideLayout2.xml"/><Relationship Id="rId5" Type="http://schemas.openxmlformats.org/officeDocument/2006/relationships/tags" Target="../tags/tag363.xml"/><Relationship Id="rId4" Type="http://schemas.openxmlformats.org/officeDocument/2006/relationships/tags" Target="../tags/tag36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MH_Picture_1"/>
          <p:cNvSpPr/>
          <p:nvPr>
            <p:custDataLst>
              <p:tags r:id="rId2"/>
            </p:custDataLst>
          </p:nvPr>
        </p:nvSpPr>
        <p:spPr>
          <a:xfrm>
            <a:off x="2397843" y="1061577"/>
            <a:ext cx="9794157" cy="4218037"/>
          </a:xfrm>
          <a:custGeom>
            <a:avLst/>
            <a:gdLst>
              <a:gd name="connsiteX0" fmla="*/ 0 w 7345618"/>
              <a:gd name="connsiteY0" fmla="*/ 0 h 4218037"/>
              <a:gd name="connsiteX1" fmla="*/ 7345618 w 7345618"/>
              <a:gd name="connsiteY1" fmla="*/ 0 h 4218037"/>
              <a:gd name="connsiteX2" fmla="*/ 7345618 w 7345618"/>
              <a:gd name="connsiteY2" fmla="*/ 4218037 h 4218037"/>
              <a:gd name="connsiteX3" fmla="*/ 2604652 w 7345618"/>
              <a:gd name="connsiteY3" fmla="*/ 4218037 h 4218037"/>
            </a:gdLst>
            <a:ahLst/>
            <a:cxnLst>
              <a:cxn ang="0">
                <a:pos x="connsiteX0" y="connsiteY0"/>
              </a:cxn>
              <a:cxn ang="0">
                <a:pos x="connsiteX1" y="connsiteY1"/>
              </a:cxn>
              <a:cxn ang="0">
                <a:pos x="connsiteX2" y="connsiteY2"/>
              </a:cxn>
              <a:cxn ang="0">
                <a:pos x="connsiteX3" y="connsiteY3"/>
              </a:cxn>
            </a:cxnLst>
            <a:rect l="l" t="t" r="r" b="b"/>
            <a:pathLst>
              <a:path w="7345618" h="4218037">
                <a:moveTo>
                  <a:pt x="0" y="0"/>
                </a:moveTo>
                <a:lnTo>
                  <a:pt x="7345618" y="0"/>
                </a:lnTo>
                <a:lnTo>
                  <a:pt x="7345618" y="4218037"/>
                </a:lnTo>
                <a:lnTo>
                  <a:pt x="2604652" y="4218037"/>
                </a:lnTo>
                <a:close/>
              </a:path>
            </a:pathLst>
          </a:custGeom>
          <a:blipFill dpi="0" rotWithShape="1">
            <a:blip r:embed="rId7" cstate="print">
              <a:alphaModFix amt="80000"/>
            </a:blip>
            <a:srcRect/>
            <a:stretch>
              <a:fillRect t="-3066" b="-2835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MH_Text_1"/>
          <p:cNvSpPr/>
          <p:nvPr>
            <p:custDataLst>
              <p:tags r:id="rId3"/>
            </p:custDataLst>
          </p:nvPr>
        </p:nvSpPr>
        <p:spPr>
          <a:xfrm>
            <a:off x="4643" y="1060521"/>
            <a:ext cx="5308601" cy="4234460"/>
          </a:xfrm>
          <a:custGeom>
            <a:avLst/>
            <a:gdLst>
              <a:gd name="connsiteX0" fmla="*/ 0 w 3905250"/>
              <a:gd name="connsiteY0" fmla="*/ 0 h 4204068"/>
              <a:gd name="connsiteX1" fmla="*/ 1314884 w 3905250"/>
              <a:gd name="connsiteY1" fmla="*/ 0 h 4204068"/>
              <a:gd name="connsiteX2" fmla="*/ 3905250 w 3905250"/>
              <a:gd name="connsiteY2" fmla="*/ 4204068 h 4204068"/>
              <a:gd name="connsiteX3" fmla="*/ 0 w 3905250"/>
              <a:gd name="connsiteY3" fmla="*/ 4204068 h 4204068"/>
            </a:gdLst>
            <a:ahLst/>
            <a:cxnLst>
              <a:cxn ang="0">
                <a:pos x="connsiteX0" y="connsiteY0"/>
              </a:cxn>
              <a:cxn ang="0">
                <a:pos x="connsiteX1" y="connsiteY1"/>
              </a:cxn>
              <a:cxn ang="0">
                <a:pos x="connsiteX2" y="connsiteY2"/>
              </a:cxn>
              <a:cxn ang="0">
                <a:pos x="connsiteX3" y="connsiteY3"/>
              </a:cxn>
            </a:cxnLst>
            <a:rect l="l" t="t" r="r" b="b"/>
            <a:pathLst>
              <a:path w="3905250" h="4204068">
                <a:moveTo>
                  <a:pt x="0" y="0"/>
                </a:moveTo>
                <a:lnTo>
                  <a:pt x="1314884" y="0"/>
                </a:lnTo>
                <a:lnTo>
                  <a:pt x="3905250" y="4204068"/>
                </a:lnTo>
                <a:lnTo>
                  <a:pt x="0" y="4204068"/>
                </a:lnTo>
                <a:close/>
              </a:path>
            </a:pathLst>
          </a:custGeom>
          <a:solidFill>
            <a:srgbClr val="0080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0000" tIns="0" rIns="0" bIns="144000" rtlCol="0" anchor="b" anchorCtr="0">
            <a:normAutofit/>
          </a:bodyPr>
          <a:lstStyle/>
          <a:p>
            <a:pPr>
              <a:lnSpc>
                <a:spcPct val="120000"/>
              </a:lnSpc>
            </a:pPr>
            <a:endParaRPr lang="en-US" altLang="zh-CN" sz="2000" dirty="0">
              <a:solidFill>
                <a:srgbClr val="292929"/>
              </a:solidFill>
              <a:latin typeface="Calibri" panose="020F0502020204030204" charset="0"/>
            </a:endParaRPr>
          </a:p>
        </p:txBody>
      </p:sp>
      <p:cxnSp>
        <p:nvCxnSpPr>
          <p:cNvPr id="9" name="MH_Other_2"/>
          <p:cNvCxnSpPr/>
          <p:nvPr>
            <p:custDataLst>
              <p:tags r:id="rId4"/>
            </p:custDataLst>
          </p:nvPr>
        </p:nvCxnSpPr>
        <p:spPr>
          <a:xfrm>
            <a:off x="1200897" y="0"/>
            <a:ext cx="5683044" cy="685800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22" name="MH_Other_3"/>
          <p:cNvSpPr/>
          <p:nvPr>
            <p:custDataLst>
              <p:tags r:id="rId5"/>
            </p:custDataLst>
          </p:nvPr>
        </p:nvSpPr>
        <p:spPr>
          <a:xfrm>
            <a:off x="5404987" y="4717307"/>
            <a:ext cx="6787015" cy="385547"/>
          </a:xfrm>
          <a:custGeom>
            <a:avLst/>
            <a:gdLst>
              <a:gd name="connsiteX0" fmla="*/ 0 w 5090261"/>
              <a:gd name="connsiteY0" fmla="*/ 0 h 385547"/>
              <a:gd name="connsiteX1" fmla="*/ 5090261 w 5090261"/>
              <a:gd name="connsiteY1" fmla="*/ 0 h 385547"/>
              <a:gd name="connsiteX2" fmla="*/ 5090261 w 5090261"/>
              <a:gd name="connsiteY2" fmla="*/ 385547 h 385547"/>
              <a:gd name="connsiteX3" fmla="*/ 240311 w 5090261"/>
              <a:gd name="connsiteY3" fmla="*/ 385547 h 385547"/>
            </a:gdLst>
            <a:ahLst/>
            <a:cxnLst>
              <a:cxn ang="0">
                <a:pos x="connsiteX0" y="connsiteY0"/>
              </a:cxn>
              <a:cxn ang="0">
                <a:pos x="connsiteX1" y="connsiteY1"/>
              </a:cxn>
              <a:cxn ang="0">
                <a:pos x="connsiteX2" y="connsiteY2"/>
              </a:cxn>
              <a:cxn ang="0">
                <a:pos x="connsiteX3" y="connsiteY3"/>
              </a:cxn>
            </a:cxnLst>
            <a:rect l="l" t="t" r="r" b="b"/>
            <a:pathLst>
              <a:path w="5090261" h="385547">
                <a:moveTo>
                  <a:pt x="0" y="0"/>
                </a:moveTo>
                <a:lnTo>
                  <a:pt x="5090261" y="0"/>
                </a:lnTo>
                <a:lnTo>
                  <a:pt x="5090261" y="385547"/>
                </a:lnTo>
                <a:lnTo>
                  <a:pt x="240311" y="385547"/>
                </a:lnTo>
                <a:close/>
              </a:path>
            </a:pathLst>
          </a:custGeom>
          <a:solidFill>
            <a:srgbClr val="66CC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rIns="324000" rtlCol="0" anchor="ctr"/>
          <a:lstStyle/>
          <a:p>
            <a:pPr algn="r"/>
            <a:endParaRPr lang="zh-CN" altLang="en-US" dirty="0">
              <a:solidFill>
                <a:srgbClr val="292929"/>
              </a:solidFill>
            </a:endParaRPr>
          </a:p>
        </p:txBody>
      </p:sp>
      <p:sp>
        <p:nvSpPr>
          <p:cNvPr id="10" name="TextBox 9"/>
          <p:cNvSpPr txBox="1"/>
          <p:nvPr/>
        </p:nvSpPr>
        <p:spPr>
          <a:xfrm>
            <a:off x="201928" y="2586439"/>
            <a:ext cx="3866607" cy="2616200"/>
          </a:xfrm>
          <a:prstGeom prst="rect">
            <a:avLst/>
          </a:prstGeom>
          <a:noFill/>
        </p:spPr>
        <p:txBody>
          <a:bodyPr wrap="square" rtlCol="0">
            <a:spAutoFit/>
          </a:bodyPr>
          <a:lstStyle/>
          <a:p>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软件</a:t>
            </a:r>
            <a:endParaRPr lang="en-US" altLang="zh-CN"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endParaRPr>
          </a:p>
          <a:p>
            <a:pPr algn="r"/>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工程</a:t>
            </a:r>
          </a:p>
        </p:txBody>
      </p:sp>
    </p:spTree>
    <p:custDataLst>
      <p:tags r:id="rId1"/>
    </p:custDataLst>
  </p:cSld>
  <p:clrMapOvr>
    <a:masterClrMapping/>
  </p:clrMapOvr>
  <p:transition>
    <p:randomBar dir="vert"/>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200" y="360000"/>
            <a:ext cx="10515600" cy="535531"/>
          </a:xfrm>
        </p:spPr>
        <p:txBody>
          <a:bodyPr/>
          <a:lstStyle/>
          <a:p>
            <a:r>
              <a:rPr lang="en-US" dirty="0"/>
              <a:t>5 </a:t>
            </a:r>
            <a:r>
              <a:rPr lang="zh-CN" dirty="0"/>
              <a:t>软件维护</a:t>
            </a:r>
            <a:r>
              <a:rPr lang="zh-CN" altLang="en-US" dirty="0"/>
              <a:t>和软件重用</a:t>
            </a:r>
            <a:endParaRPr lang="zh-CN" altLang="zh-CN" dirty="0"/>
          </a:p>
        </p:txBody>
      </p:sp>
      <p:sp>
        <p:nvSpPr>
          <p:cNvPr id="100" name="文本框 99"/>
          <p:cNvSpPr txBox="1"/>
          <p:nvPr/>
        </p:nvSpPr>
        <p:spPr>
          <a:xfrm>
            <a:off x="1452880" y="1871980"/>
            <a:ext cx="10137140" cy="4019627"/>
          </a:xfrm>
          <a:prstGeom prst="rect">
            <a:avLst/>
          </a:prstGeom>
          <a:noFill/>
          <a:ln w="9525">
            <a:noFill/>
          </a:ln>
        </p:spPr>
        <p:txBody>
          <a:bodyPr wrap="square">
            <a:spAutoFit/>
          </a:bodyPr>
          <a:lstStyle/>
          <a:p>
            <a:pPr marL="0" indent="0" algn="l" fontAlgn="auto">
              <a:lnSpc>
                <a:spcPct val="130000"/>
              </a:lnSpc>
            </a:pPr>
            <a:r>
              <a:rPr lang="en-US" altLang="zh-CN" dirty="0">
                <a:sym typeface="+mn-ea"/>
              </a:rPr>
              <a:t>       </a:t>
            </a:r>
            <a:r>
              <a:rPr lang="zh-CN" altLang="en-US" dirty="0">
                <a:sym typeface="+mn-ea"/>
              </a:rPr>
              <a:t>软件维护（Software Maintenance）就是在软件产品交付之后对其进行修改，以排除故障，或改进性能和其他属性，或使产品适应改变了的环境。</a:t>
            </a:r>
          </a:p>
          <a:p>
            <a:pPr marL="0" indent="0" algn="l" fontAlgn="auto">
              <a:lnSpc>
                <a:spcPct val="130000"/>
              </a:lnSpc>
            </a:pPr>
            <a:r>
              <a:rPr lang="zh-CN" altLang="en-US" dirty="0">
                <a:sym typeface="+mn-ea"/>
              </a:rPr>
              <a:t>       软件维护是软件生存周期中</a:t>
            </a:r>
            <a:r>
              <a:rPr lang="zh-CN" altLang="en-US" dirty="0">
                <a:latin typeface="+mj-ea"/>
                <a:ea typeface="+mj-ea"/>
                <a:sym typeface="+mn-ea"/>
              </a:rPr>
              <a:t>持续时间最长</a:t>
            </a:r>
            <a:r>
              <a:rPr lang="zh-CN" altLang="en-US" dirty="0">
                <a:sym typeface="+mn-ea"/>
              </a:rPr>
              <a:t>的一个阶段，也是花费精力和费用最多的一个阶段。在软件运行的过程中，维护工作可以占到软件开发全部工作量的一半以上。</a:t>
            </a:r>
          </a:p>
          <a:p>
            <a:pPr marL="0" indent="0" algn="l" fontAlgn="auto">
              <a:lnSpc>
                <a:spcPct val="130000"/>
              </a:lnSpc>
            </a:pPr>
            <a:r>
              <a:rPr lang="zh-CN" altLang="en-US" dirty="0">
                <a:sym typeface="+mn-ea"/>
              </a:rPr>
              <a:t>       软件的可维护性：软件被理解、改正、调整和改进的难易程度，它是指导软件工程各阶段工作的一条基本原则。提高可维护性、减少维护的工作量、降低软件的总成本是软件工程的一个重要任务。</a:t>
            </a:r>
          </a:p>
          <a:p>
            <a:pPr marL="0" indent="0" algn="l" fontAlgn="auto">
              <a:lnSpc>
                <a:spcPct val="130000"/>
              </a:lnSpc>
            </a:pPr>
            <a:r>
              <a:rPr lang="zh-CN" altLang="en-US" dirty="0">
                <a:sym typeface="+mn-ea"/>
              </a:rPr>
              <a:t>       软件重用：在软件开发、维护过程中不作修改或稍加修改就可以重复使用相同或相似的软件元素的过程。软件重用的目的是能更快、更好、成本更低地生产软件。在软件维护时，目前常采用软件重用技术、逆向工程和再工程。</a:t>
            </a:r>
          </a:p>
          <a:p>
            <a:pPr marL="0" indent="0" algn="l" fontAlgn="auto">
              <a:lnSpc>
                <a:spcPct val="130000"/>
              </a:lnSpc>
            </a:pPr>
            <a:r>
              <a:rPr lang="zh-CN" altLang="en-US" dirty="0">
                <a:sym typeface="+mn-ea"/>
              </a:rPr>
              <a:t>★ 本章重点：如何提高软件的可维护性；软件重用。</a:t>
            </a:r>
            <a:endParaRPr lang="zh-CN" altLang="en-US" dirty="0"/>
          </a:p>
        </p:txBody>
      </p:sp>
      <p:sp>
        <p:nvSpPr>
          <p:cNvPr id="7" name="文本框 6"/>
          <p:cNvSpPr txBox="1"/>
          <p:nvPr/>
        </p:nvSpPr>
        <p:spPr>
          <a:xfrm>
            <a:off x="753728" y="2626360"/>
            <a:ext cx="461665" cy="2169825"/>
          </a:xfrm>
          <a:prstGeom prst="rect">
            <a:avLst/>
          </a:prstGeom>
          <a:noFill/>
        </p:spPr>
        <p:txBody>
          <a:bodyPr vert="eaVert" wrap="none" rtlCol="0">
            <a:spAutoFit/>
          </a:bodyPr>
          <a:lstStyle/>
          <a:p>
            <a:pPr algn="l"/>
            <a:r>
              <a:rPr lang="zh-CN" altLang="en-US" dirty="0">
                <a:solidFill>
                  <a:schemeClr val="bg1"/>
                </a:solidFill>
              </a:rPr>
              <a:t>软件维护和软件重用</a:t>
            </a:r>
          </a:p>
        </p:txBody>
      </p:sp>
    </p:spTree>
    <p:custDataLst>
      <p:tags r:id="rId1"/>
    </p:custDataLst>
  </p:cSld>
  <p:clrMapOvr>
    <a:masterClrMapping/>
  </p:clrMapOvr>
  <p:transition>
    <p:wedg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5123" name="Text Box 20"/>
          <p:cNvSpPr txBox="1">
            <a:spLocks noChangeArrowheads="1"/>
          </p:cNvSpPr>
          <p:nvPr>
            <p:custDataLst>
              <p:tags r:id="rId3"/>
            </p:custDataLst>
          </p:nvPr>
        </p:nvSpPr>
        <p:spPr bwMode="auto">
          <a:xfrm>
            <a:off x="1794269" y="1781267"/>
            <a:ext cx="2415116" cy="46166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Times New Roman" panose="02020603050405020304" pitchFamily="18" charset="0"/>
                <a:ea typeface="华文新魏" panose="02010800040101010101" pitchFamily="2" charset="-122"/>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微软雅黑" panose="020B0503020204020204" charset="-122"/>
              </a:rPr>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pic>
        <p:nvPicPr>
          <p:cNvPr id="47" name="图片 14"/>
          <p:cNvPicPr>
            <a:picLocks noChangeAspect="1"/>
          </p:cNvPicPr>
          <p:nvPr/>
        </p:nvPicPr>
        <p:blipFill>
          <a:blip r:embed="rId9" cstate="print"/>
          <a:stretch>
            <a:fillRect/>
          </a:stretch>
        </p:blipFill>
        <p:spPr>
          <a:xfrm>
            <a:off x="4733290" y="2599055"/>
            <a:ext cx="611505" cy="611505"/>
          </a:xfrm>
          <a:prstGeom prst="rect">
            <a:avLst/>
          </a:prstGeom>
          <a:noFill/>
          <a:ln w="9525">
            <a:noFill/>
          </a:ln>
        </p:spPr>
      </p:pic>
      <p:sp>
        <p:nvSpPr>
          <p:cNvPr id="48" name="椭圆 47"/>
          <p:cNvSpPr/>
          <p:nvPr/>
        </p:nvSpPr>
        <p:spPr>
          <a:xfrm>
            <a:off x="4733290" y="2599055"/>
            <a:ext cx="611505" cy="61150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2" name="组合 20"/>
          <p:cNvGrpSpPr/>
          <p:nvPr/>
        </p:nvGrpSpPr>
        <p:grpSpPr>
          <a:xfrm>
            <a:off x="5466715" y="2599055"/>
            <a:ext cx="4351655" cy="609600"/>
            <a:chOff x="6004452" y="1971917"/>
            <a:chExt cx="3406249" cy="610204"/>
          </a:xfrm>
        </p:grpSpPr>
        <p:pic>
          <p:nvPicPr>
            <p:cNvPr id="50" name="图片 10"/>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51" name="圆角矩形 50"/>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2" name="文本框 19"/>
          <p:cNvSpPr txBox="1"/>
          <p:nvPr/>
        </p:nvSpPr>
        <p:spPr>
          <a:xfrm>
            <a:off x="5747385" y="2659380"/>
            <a:ext cx="3947795" cy="483235"/>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zh-CN" sz="2400" b="1" dirty="0">
                <a:solidFill>
                  <a:schemeClr val="bg1"/>
                </a:solidFill>
                <a:latin typeface="微软雅黑" panose="020B0503020204020204" charset="-122"/>
                <a:ea typeface="微软雅黑" panose="020B0503020204020204" charset="-122"/>
              </a:rPr>
              <a:t>软件维护</a:t>
            </a:r>
          </a:p>
        </p:txBody>
      </p:sp>
      <p:sp>
        <p:nvSpPr>
          <p:cNvPr id="53" name="文本框 21"/>
          <p:cNvSpPr txBox="1"/>
          <p:nvPr/>
        </p:nvSpPr>
        <p:spPr>
          <a:xfrm>
            <a:off x="4771390" y="2684780"/>
            <a:ext cx="63500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01</a:t>
            </a:r>
            <a:endParaRPr lang="zh-CN" altLang="en-US" sz="2400" b="1" dirty="0">
              <a:solidFill>
                <a:schemeClr val="bg1"/>
              </a:solidFill>
              <a:latin typeface="微软雅黑" panose="020B0503020204020204" charset="-122"/>
              <a:ea typeface="微软雅黑" panose="020B0503020204020204" charset="-122"/>
            </a:endParaRPr>
          </a:p>
        </p:txBody>
      </p:sp>
      <p:pic>
        <p:nvPicPr>
          <p:cNvPr id="54" name="图片 24"/>
          <p:cNvPicPr>
            <a:picLocks noChangeAspect="1"/>
          </p:cNvPicPr>
          <p:nvPr/>
        </p:nvPicPr>
        <p:blipFill>
          <a:blip r:embed="rId9" cstate="print"/>
          <a:stretch>
            <a:fillRect/>
          </a:stretch>
        </p:blipFill>
        <p:spPr>
          <a:xfrm>
            <a:off x="4099560" y="3518535"/>
            <a:ext cx="611505" cy="612775"/>
          </a:xfrm>
          <a:prstGeom prst="rect">
            <a:avLst/>
          </a:prstGeom>
          <a:noFill/>
          <a:ln w="9525">
            <a:noFill/>
          </a:ln>
        </p:spPr>
      </p:pic>
      <p:sp>
        <p:nvSpPr>
          <p:cNvPr id="55" name="椭圆 54"/>
          <p:cNvSpPr/>
          <p:nvPr/>
        </p:nvSpPr>
        <p:spPr>
          <a:xfrm>
            <a:off x="4099560" y="3518535"/>
            <a:ext cx="611505" cy="61277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3" name="组合 26"/>
          <p:cNvGrpSpPr/>
          <p:nvPr/>
        </p:nvGrpSpPr>
        <p:grpSpPr>
          <a:xfrm>
            <a:off x="4832985" y="3518535"/>
            <a:ext cx="4038600" cy="611505"/>
            <a:chOff x="6004452" y="1971917"/>
            <a:chExt cx="3406249" cy="610204"/>
          </a:xfrm>
        </p:grpSpPr>
        <p:pic>
          <p:nvPicPr>
            <p:cNvPr id="57" name="图片 29"/>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58" name="圆角矩形 57"/>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9" name="文本框 27"/>
          <p:cNvSpPr txBox="1"/>
          <p:nvPr/>
        </p:nvSpPr>
        <p:spPr>
          <a:xfrm>
            <a:off x="5114290" y="3580765"/>
            <a:ext cx="331470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软件重用和再工程</a:t>
            </a:r>
          </a:p>
        </p:txBody>
      </p:sp>
      <p:sp>
        <p:nvSpPr>
          <p:cNvPr id="60" name="文本框 28"/>
          <p:cNvSpPr txBox="1"/>
          <p:nvPr/>
        </p:nvSpPr>
        <p:spPr>
          <a:xfrm>
            <a:off x="4137660" y="3606165"/>
            <a:ext cx="63500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02</a:t>
            </a:r>
            <a:endParaRPr lang="zh-CN" altLang="en-US" sz="2400" b="1" dirty="0">
              <a:solidFill>
                <a:schemeClr val="bg1"/>
              </a:solidFill>
              <a:latin typeface="微软雅黑" panose="020B0503020204020204" charset="-122"/>
              <a:ea typeface="微软雅黑" panose="020B0503020204020204" charset="-122"/>
            </a:endParaRPr>
          </a:p>
        </p:txBody>
      </p:sp>
    </p:spTree>
    <p:custDataLst>
      <p:tags r:id="rId1"/>
    </p:custDataLst>
  </p:cSld>
  <p:clrMapOvr>
    <a:masterClrMapping/>
  </p:clrMapOvr>
  <p:transition>
    <p:dissolv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2" name="椭圆 1"/>
          <p:cNvSpPr/>
          <p:nvPr/>
        </p:nvSpPr>
        <p:spPr>
          <a:xfrm>
            <a:off x="3428455" y="2169500"/>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3766951" y="2565770"/>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1</a:t>
            </a:r>
          </a:p>
        </p:txBody>
      </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软件维护</a:t>
            </a:r>
          </a:p>
        </p:txBody>
      </p:sp>
      <p:sp>
        <p:nvSpPr>
          <p:cNvPr id="48" name="文本框 47"/>
          <p:cNvSpPr txBox="1"/>
          <p:nvPr/>
        </p:nvSpPr>
        <p:spPr>
          <a:xfrm>
            <a:off x="6006465" y="413575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软件维护的种类</a:t>
            </a:r>
          </a:p>
        </p:txBody>
      </p:sp>
      <p:sp>
        <p:nvSpPr>
          <p:cNvPr id="50" name="文本框 49"/>
          <p:cNvSpPr txBox="1"/>
          <p:nvPr/>
        </p:nvSpPr>
        <p:spPr>
          <a:xfrm>
            <a:off x="6006465" y="463105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软件维护的特点</a:t>
            </a:r>
          </a:p>
        </p:txBody>
      </p:sp>
      <p:sp>
        <p:nvSpPr>
          <p:cNvPr id="5" name="文本框 4"/>
          <p:cNvSpPr txBox="1"/>
          <p:nvPr/>
        </p:nvSpPr>
        <p:spPr>
          <a:xfrm>
            <a:off x="8722360" y="4135755"/>
            <a:ext cx="2360295" cy="40005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软件维护过程</a:t>
            </a:r>
          </a:p>
        </p:txBody>
      </p:sp>
      <p:sp>
        <p:nvSpPr>
          <p:cNvPr id="6" name="文本框 5"/>
          <p:cNvSpPr txBox="1"/>
          <p:nvPr/>
        </p:nvSpPr>
        <p:spPr>
          <a:xfrm>
            <a:off x="8722360" y="4631055"/>
            <a:ext cx="2910840" cy="40005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提高软件的可维护性</a:t>
            </a:r>
          </a:p>
        </p:txBody>
      </p:sp>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19" name="椭圆 18"/>
          <p:cNvSpPr/>
          <p:nvPr>
            <p:custDataLst>
              <p:tags r:id="rId2"/>
            </p:custDataLst>
          </p:nvPr>
        </p:nvSpPr>
        <p:spPr>
          <a:xfrm>
            <a:off x="4558352" y="3723290"/>
            <a:ext cx="1694473" cy="159166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20" name="文本框 22"/>
          <p:cNvSpPr txBox="1">
            <a:spLocks noChangeArrowheads="1"/>
          </p:cNvSpPr>
          <p:nvPr>
            <p:custDataLst>
              <p:tags r:id="rId3"/>
            </p:custDataLst>
          </p:nvPr>
        </p:nvSpPr>
        <p:spPr bwMode="auto">
          <a:xfrm>
            <a:off x="5122100" y="4110848"/>
            <a:ext cx="566977" cy="816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6600" b="1" dirty="0">
                <a:solidFill>
                  <a:schemeClr val="bg1"/>
                </a:solidFill>
                <a:latin typeface="+mn-lt"/>
                <a:ea typeface="+mn-ea"/>
              </a:rPr>
              <a:t>4</a:t>
            </a:r>
            <a:endParaRPr lang="zh-CN" altLang="en-US" sz="6600" b="1" dirty="0">
              <a:solidFill>
                <a:schemeClr val="bg1"/>
              </a:solidFill>
              <a:latin typeface="+mn-lt"/>
              <a:ea typeface="+mn-ea"/>
            </a:endParaRPr>
          </a:p>
        </p:txBody>
      </p:sp>
      <p:sp>
        <p:nvSpPr>
          <p:cNvPr id="39" name="椭圆 38"/>
          <p:cNvSpPr/>
          <p:nvPr>
            <p:custDataLst>
              <p:tags r:id="rId4"/>
            </p:custDataLst>
          </p:nvPr>
        </p:nvSpPr>
        <p:spPr>
          <a:xfrm>
            <a:off x="4558352" y="2606722"/>
            <a:ext cx="1694473" cy="1591660"/>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0" name="椭圆 39"/>
          <p:cNvSpPr/>
          <p:nvPr>
            <p:custDataLst>
              <p:tags r:id="rId5"/>
            </p:custDataLst>
          </p:nvPr>
        </p:nvSpPr>
        <p:spPr>
          <a:xfrm>
            <a:off x="5780775" y="2606722"/>
            <a:ext cx="1694473" cy="159166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2" name="椭圆 41"/>
          <p:cNvSpPr/>
          <p:nvPr>
            <p:custDataLst>
              <p:tags r:id="rId6"/>
            </p:custDataLst>
          </p:nvPr>
        </p:nvSpPr>
        <p:spPr>
          <a:xfrm>
            <a:off x="5780775" y="3723290"/>
            <a:ext cx="1694473" cy="1591660"/>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nvGrpSpPr>
          <p:cNvPr id="43" name="组合 42"/>
          <p:cNvGrpSpPr/>
          <p:nvPr>
            <p:custDataLst>
              <p:tags r:id="rId7"/>
            </p:custDataLst>
          </p:nvPr>
        </p:nvGrpSpPr>
        <p:grpSpPr>
          <a:xfrm>
            <a:off x="4800512" y="2847943"/>
            <a:ext cx="2428702" cy="2213758"/>
            <a:chOff x="4933659" y="1528513"/>
            <a:chExt cx="3096541" cy="3006076"/>
          </a:xfrm>
          <a:solidFill>
            <a:schemeClr val="bg1"/>
          </a:solidFill>
        </p:grpSpPr>
        <p:sp>
          <p:nvSpPr>
            <p:cNvPr id="44" name="Freeform 16@|5FFC:0|FBC:0|LFC:16777215|LBC:16777215"/>
            <p:cNvSpPr/>
            <p:nvPr>
              <p:custDataLst>
                <p:tags r:id="rId14"/>
              </p:custDataLst>
            </p:nvPr>
          </p:nvSpPr>
          <p:spPr>
            <a:xfrm>
              <a:off x="6181299" y="1528513"/>
              <a:ext cx="601263" cy="1489462"/>
            </a:xfrm>
            <a:custGeom>
              <a:avLst/>
              <a:gdLst>
                <a:gd name="connsiteX0" fmla="*/ 300632 w 601263"/>
                <a:gd name="connsiteY0" fmla="*/ 0 h 1489462"/>
                <a:gd name="connsiteX1" fmla="*/ 416779 w 601263"/>
                <a:gd name="connsiteY1" fmla="*/ 140772 h 1489462"/>
                <a:gd name="connsiteX2" fmla="*/ 601263 w 601263"/>
                <a:gd name="connsiteY2" fmla="*/ 744731 h 1489462"/>
                <a:gd name="connsiteX3" fmla="*/ 416779 w 601263"/>
                <a:gd name="connsiteY3" fmla="*/ 1348690 h 1489462"/>
                <a:gd name="connsiteX4" fmla="*/ 300632 w 601263"/>
                <a:gd name="connsiteY4" fmla="*/ 1489462 h 1489462"/>
                <a:gd name="connsiteX5" fmla="*/ 184484 w 601263"/>
                <a:gd name="connsiteY5" fmla="*/ 1348690 h 1489462"/>
                <a:gd name="connsiteX6" fmla="*/ 0 w 601263"/>
                <a:gd name="connsiteY6" fmla="*/ 744731 h 1489462"/>
                <a:gd name="connsiteX7" fmla="*/ 184484 w 601263"/>
                <a:gd name="connsiteY7" fmla="*/ 140772 h 1489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2">
                  <a:moveTo>
                    <a:pt x="300632" y="0"/>
                  </a:moveTo>
                  <a:lnTo>
                    <a:pt x="416779" y="140772"/>
                  </a:lnTo>
                  <a:cubicBezTo>
                    <a:pt x="533253" y="313176"/>
                    <a:pt x="601263" y="521011"/>
                    <a:pt x="601263" y="744731"/>
                  </a:cubicBezTo>
                  <a:cubicBezTo>
                    <a:pt x="601263" y="968451"/>
                    <a:pt x="533253" y="1176287"/>
                    <a:pt x="416779" y="1348690"/>
                  </a:cubicBezTo>
                  <a:lnTo>
                    <a:pt x="300632" y="1489462"/>
                  </a:lnTo>
                  <a:lnTo>
                    <a:pt x="184484" y="1348690"/>
                  </a:lnTo>
                  <a:cubicBezTo>
                    <a:pt x="68011" y="1176287"/>
                    <a:pt x="0" y="968451"/>
                    <a:pt x="0" y="744731"/>
                  </a:cubicBezTo>
                  <a:cubicBezTo>
                    <a:pt x="0" y="521011"/>
                    <a:pt x="68011" y="313176"/>
                    <a:pt x="184484" y="14077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5" name="Freeform 17@|5FFC:0|FBC:0|LFC:16777215|LBC:16777215"/>
            <p:cNvSpPr/>
            <p:nvPr>
              <p:custDataLst>
                <p:tags r:id="rId15"/>
              </p:custDataLst>
            </p:nvPr>
          </p:nvSpPr>
          <p:spPr>
            <a:xfrm>
              <a:off x="6181299" y="3045126"/>
              <a:ext cx="601263" cy="1489463"/>
            </a:xfrm>
            <a:custGeom>
              <a:avLst/>
              <a:gdLst>
                <a:gd name="connsiteX0" fmla="*/ 300923 w 601263"/>
                <a:gd name="connsiteY0" fmla="*/ 0 h 1489463"/>
                <a:gd name="connsiteX1" fmla="*/ 416779 w 601263"/>
                <a:gd name="connsiteY1" fmla="*/ 140419 h 1489463"/>
                <a:gd name="connsiteX2" fmla="*/ 601263 w 601263"/>
                <a:gd name="connsiteY2" fmla="*/ 744378 h 1489463"/>
                <a:gd name="connsiteX3" fmla="*/ 416779 w 601263"/>
                <a:gd name="connsiteY3" fmla="*/ 1348337 h 1489463"/>
                <a:gd name="connsiteX4" fmla="*/ 300340 w 601263"/>
                <a:gd name="connsiteY4" fmla="*/ 1489463 h 1489463"/>
                <a:gd name="connsiteX5" fmla="*/ 184484 w 601263"/>
                <a:gd name="connsiteY5" fmla="*/ 1349044 h 1489463"/>
                <a:gd name="connsiteX6" fmla="*/ 0 w 601263"/>
                <a:gd name="connsiteY6" fmla="*/ 745085 h 1489463"/>
                <a:gd name="connsiteX7" fmla="*/ 184484 w 601263"/>
                <a:gd name="connsiteY7" fmla="*/ 141126 h 1489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3">
                  <a:moveTo>
                    <a:pt x="300923" y="0"/>
                  </a:moveTo>
                  <a:lnTo>
                    <a:pt x="416779" y="140419"/>
                  </a:lnTo>
                  <a:cubicBezTo>
                    <a:pt x="533253" y="312823"/>
                    <a:pt x="601263" y="520658"/>
                    <a:pt x="601263" y="744378"/>
                  </a:cubicBezTo>
                  <a:cubicBezTo>
                    <a:pt x="601263" y="968098"/>
                    <a:pt x="533253" y="1175934"/>
                    <a:pt x="416779" y="1348337"/>
                  </a:cubicBezTo>
                  <a:lnTo>
                    <a:pt x="300340" y="1489463"/>
                  </a:lnTo>
                  <a:lnTo>
                    <a:pt x="184484" y="1349044"/>
                  </a:lnTo>
                  <a:cubicBezTo>
                    <a:pt x="68011" y="1176641"/>
                    <a:pt x="0" y="968805"/>
                    <a:pt x="0" y="745085"/>
                  </a:cubicBezTo>
                  <a:cubicBezTo>
                    <a:pt x="0" y="521365"/>
                    <a:pt x="68011" y="313530"/>
                    <a:pt x="184484" y="141126"/>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6" name="Freeform 18@|5FFC:0|FBC:0|LFC:16777215|LBC:16777215"/>
            <p:cNvSpPr/>
            <p:nvPr>
              <p:custDataLst>
                <p:tags r:id="rId16"/>
              </p:custDataLst>
            </p:nvPr>
          </p:nvSpPr>
          <p:spPr>
            <a:xfrm>
              <a:off x="4933659" y="2709994"/>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7" name="Freeform 19@|5FFC:0|FBC:0|LFC:16777215|LBC:16777215"/>
            <p:cNvSpPr/>
            <p:nvPr>
              <p:custDataLst>
                <p:tags r:id="rId17"/>
              </p:custDataLst>
            </p:nvPr>
          </p:nvSpPr>
          <p:spPr>
            <a:xfrm>
              <a:off x="6492828" y="2708580"/>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sp>
        <p:nvSpPr>
          <p:cNvPr id="48" name="文本框 20"/>
          <p:cNvSpPr txBox="1">
            <a:spLocks noChangeArrowheads="1"/>
          </p:cNvSpPr>
          <p:nvPr>
            <p:custDataLst>
              <p:tags r:id="rId8"/>
            </p:custDataLst>
          </p:nvPr>
        </p:nvSpPr>
        <p:spPr bwMode="auto">
          <a:xfrm>
            <a:off x="5122100" y="2994280"/>
            <a:ext cx="566977" cy="816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6600" b="1" dirty="0">
                <a:solidFill>
                  <a:schemeClr val="bg1"/>
                </a:solidFill>
                <a:latin typeface="+mn-lt"/>
                <a:ea typeface="+mn-ea"/>
              </a:rPr>
              <a:t>1</a:t>
            </a:r>
            <a:endParaRPr lang="zh-CN" altLang="en-US" sz="6600" b="1" dirty="0">
              <a:solidFill>
                <a:schemeClr val="bg1"/>
              </a:solidFill>
              <a:latin typeface="+mn-lt"/>
              <a:ea typeface="+mn-ea"/>
            </a:endParaRPr>
          </a:p>
        </p:txBody>
      </p:sp>
      <p:sp>
        <p:nvSpPr>
          <p:cNvPr id="49" name="文本框 21"/>
          <p:cNvSpPr txBox="1">
            <a:spLocks noChangeArrowheads="1"/>
          </p:cNvSpPr>
          <p:nvPr>
            <p:custDataLst>
              <p:tags r:id="rId9"/>
            </p:custDataLst>
          </p:nvPr>
        </p:nvSpPr>
        <p:spPr bwMode="auto">
          <a:xfrm>
            <a:off x="6345169" y="2994280"/>
            <a:ext cx="565685" cy="816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6600" b="1" dirty="0">
                <a:solidFill>
                  <a:schemeClr val="bg1"/>
                </a:solidFill>
                <a:latin typeface="+mn-lt"/>
                <a:ea typeface="+mn-ea"/>
              </a:rPr>
              <a:t>2</a:t>
            </a:r>
            <a:endParaRPr lang="zh-CN" altLang="en-US" sz="6600" b="1" dirty="0">
              <a:solidFill>
                <a:schemeClr val="bg1"/>
              </a:solidFill>
              <a:latin typeface="+mn-lt"/>
              <a:ea typeface="+mn-ea"/>
            </a:endParaRPr>
          </a:p>
        </p:txBody>
      </p:sp>
      <p:sp>
        <p:nvSpPr>
          <p:cNvPr id="51" name="文本框 23"/>
          <p:cNvSpPr txBox="1">
            <a:spLocks noChangeArrowheads="1"/>
          </p:cNvSpPr>
          <p:nvPr>
            <p:custDataLst>
              <p:tags r:id="rId10"/>
            </p:custDataLst>
          </p:nvPr>
        </p:nvSpPr>
        <p:spPr bwMode="auto">
          <a:xfrm>
            <a:off x="6345169" y="4110848"/>
            <a:ext cx="565685" cy="816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6600" b="1" dirty="0">
                <a:solidFill>
                  <a:schemeClr val="bg1"/>
                </a:solidFill>
                <a:latin typeface="+mn-lt"/>
                <a:ea typeface="+mn-ea"/>
              </a:rPr>
              <a:t>3</a:t>
            </a:r>
            <a:endParaRPr lang="zh-CN" altLang="en-US" sz="6600" b="1" dirty="0">
              <a:solidFill>
                <a:schemeClr val="bg1"/>
              </a:solidFill>
              <a:latin typeface="+mn-lt"/>
              <a:ea typeface="+mn-ea"/>
            </a:endParaRPr>
          </a:p>
        </p:txBody>
      </p:sp>
      <p:sp>
        <p:nvSpPr>
          <p:cNvPr id="7" name="文本框 6"/>
          <p:cNvSpPr txBox="1"/>
          <p:nvPr>
            <p:custDataLst>
              <p:tags r:id="rId11"/>
            </p:custDataLst>
          </p:nvPr>
        </p:nvSpPr>
        <p:spPr>
          <a:xfrm>
            <a:off x="420370" y="2116455"/>
            <a:ext cx="4034790" cy="1840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fontAlgn="auto">
              <a:lnSpc>
                <a:spcPct val="120000"/>
              </a:lnSpc>
            </a:pPr>
            <a:r>
              <a:rPr lang="en-US" altLang="zh-CN" sz="1600" dirty="0">
                <a:solidFill>
                  <a:srgbClr val="C00000"/>
                </a:solidFill>
                <a:latin typeface="微软雅黑" panose="020B0503020204020204" charset="-122"/>
                <a:ea typeface="微软雅黑" panose="020B0503020204020204" charset="-122"/>
                <a:sym typeface="+mn-ea"/>
              </a:rPr>
              <a:t>1. </a:t>
            </a:r>
            <a:r>
              <a:rPr lang="zh-CN" altLang="en-US" sz="1600" dirty="0">
                <a:solidFill>
                  <a:srgbClr val="C00000"/>
                </a:solidFill>
                <a:latin typeface="微软雅黑" panose="020B0503020204020204" charset="-122"/>
                <a:ea typeface="微软雅黑" panose="020B0503020204020204" charset="-122"/>
                <a:sym typeface="+mn-ea"/>
              </a:rPr>
              <a:t>改正性维护 </a:t>
            </a:r>
            <a:r>
              <a:rPr lang="en-US" altLang="zh-CN" sz="1600" dirty="0">
                <a:solidFill>
                  <a:srgbClr val="C00000"/>
                </a:solidFill>
                <a:latin typeface="微软雅黑" panose="020B0503020204020204" charset="-122"/>
                <a:ea typeface="微软雅黑" panose="020B0503020204020204" charset="-122"/>
                <a:sym typeface="+mn-ea"/>
              </a:rPr>
              <a:t>Corrective Maintenance</a:t>
            </a:r>
            <a:endParaRPr lang="zh-CN" altLang="en-US" sz="1600" dirty="0">
              <a:solidFill>
                <a:srgbClr val="C00000"/>
              </a:solidFill>
              <a:latin typeface="微软雅黑" panose="020B0503020204020204" charset="-122"/>
              <a:ea typeface="微软雅黑" panose="020B0503020204020204" charset="-122"/>
              <a:sym typeface="+mn-ea"/>
            </a:endParaRPr>
          </a:p>
          <a:p>
            <a:pPr fontAlgn="auto">
              <a:lnSpc>
                <a:spcPct val="120000"/>
              </a:lnSpc>
            </a:pPr>
            <a:r>
              <a:rPr lang="zh-CN" altLang="en-US" sz="1600" dirty="0">
                <a:latin typeface="+mn-ea"/>
                <a:sym typeface="+mn-ea"/>
              </a:rPr>
              <a:t>       软件测试不大可能找出一个大型软件系统的全部隐含错误。也就是说，几乎每一个大型程序在运行过程中，都会不可避免地出现各种错误。为克服现有软件故障而进行的维护称为改正性维护。</a:t>
            </a:r>
          </a:p>
        </p:txBody>
      </p:sp>
      <p:sp>
        <p:nvSpPr>
          <p:cNvPr id="9" name="文本框 8"/>
          <p:cNvSpPr txBox="1"/>
          <p:nvPr>
            <p:custDataLst>
              <p:tags r:id="rId12"/>
            </p:custDataLst>
          </p:nvPr>
        </p:nvSpPr>
        <p:spPr>
          <a:xfrm>
            <a:off x="7558405" y="4255770"/>
            <a:ext cx="4322445" cy="1840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marL="0" indent="0" algn="l" fontAlgn="auto">
              <a:lnSpc>
                <a:spcPct val="120000"/>
              </a:lnSpc>
            </a:pPr>
            <a:r>
              <a:rPr lang="en-US" sz="1600" dirty="0">
                <a:solidFill>
                  <a:srgbClr val="C00000"/>
                </a:solidFill>
                <a:latin typeface="微软雅黑" panose="020B0503020204020204" charset="-122"/>
                <a:ea typeface="微软雅黑" panose="020B0503020204020204" charset="-122"/>
                <a:sym typeface="+mn-ea"/>
              </a:rPr>
              <a:t>3</a:t>
            </a:r>
            <a:r>
              <a:rPr lang="en-US" altLang="zh-CN" sz="1600" dirty="0">
                <a:solidFill>
                  <a:srgbClr val="C00000"/>
                </a:solidFill>
                <a:latin typeface="微软雅黑" panose="020B0503020204020204" charset="-122"/>
                <a:ea typeface="微软雅黑" panose="020B0503020204020204" charset="-122"/>
                <a:sym typeface="+mn-ea"/>
              </a:rPr>
              <a:t>. </a:t>
            </a:r>
            <a:r>
              <a:rPr lang="zh-CN" altLang="en-US" sz="1600" dirty="0">
                <a:solidFill>
                  <a:srgbClr val="C00000"/>
                </a:solidFill>
                <a:latin typeface="微软雅黑" panose="020B0503020204020204" charset="-122"/>
                <a:ea typeface="微软雅黑" panose="020B0503020204020204" charset="-122"/>
                <a:sym typeface="+mn-ea"/>
              </a:rPr>
              <a:t>完善性维护 </a:t>
            </a:r>
            <a:r>
              <a:rPr lang="en-US" altLang="zh-CN" sz="1600" dirty="0">
                <a:solidFill>
                  <a:srgbClr val="C00000"/>
                </a:solidFill>
                <a:latin typeface="微软雅黑" panose="020B0503020204020204" charset="-122"/>
                <a:ea typeface="微软雅黑" panose="020B0503020204020204" charset="-122"/>
                <a:sym typeface="+mn-ea"/>
              </a:rPr>
              <a:t>Perfective Maintenance</a:t>
            </a:r>
            <a:endParaRPr lang="zh-CN" altLang="en-US" sz="1600" dirty="0">
              <a:solidFill>
                <a:srgbClr val="C00000"/>
              </a:solidFill>
              <a:latin typeface="微软雅黑" panose="020B0503020204020204" charset="-122"/>
              <a:ea typeface="微软雅黑" panose="020B0503020204020204" charset="-122"/>
              <a:sym typeface="+mn-ea"/>
            </a:endParaRPr>
          </a:p>
          <a:p>
            <a:pPr marL="0" indent="0" algn="l" fontAlgn="auto">
              <a:lnSpc>
                <a:spcPct val="120000"/>
              </a:lnSpc>
            </a:pPr>
            <a:r>
              <a:rPr sz="1600" dirty="0">
                <a:latin typeface="微软雅黑" panose="020B0503020204020204" charset="-122"/>
                <a:ea typeface="微软雅黑" panose="020B0503020204020204" charset="-122"/>
                <a:sym typeface="+mn-ea"/>
              </a:rPr>
              <a:t>      </a:t>
            </a:r>
            <a:r>
              <a:rPr sz="1600" dirty="0">
                <a:latin typeface="+mn-ea"/>
                <a:sym typeface="+mn-ea"/>
              </a:rPr>
              <a:t>软件交给用户使用后，用户往往会因为工作流程、应用环境的变化，要求增加新的功能和完善性能等。为增加软件功能、增强软件性能、提高软件运行效率而进行的维护称为完善性维护。</a:t>
            </a:r>
          </a:p>
        </p:txBody>
      </p:sp>
      <p:sp>
        <p:nvSpPr>
          <p:cNvPr id="10" name="文本框 9"/>
          <p:cNvSpPr txBox="1"/>
          <p:nvPr>
            <p:custDataLst>
              <p:tags r:id="rId13"/>
            </p:custDataLst>
          </p:nvPr>
        </p:nvSpPr>
        <p:spPr>
          <a:xfrm>
            <a:off x="7557770" y="1503680"/>
            <a:ext cx="4323080" cy="2277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algn="just">
              <a:lnSpc>
                <a:spcPct val="120000"/>
              </a:lnSpc>
            </a:pPr>
            <a:r>
              <a:rPr lang="en-US" sz="1600" dirty="0">
                <a:solidFill>
                  <a:srgbClr val="C00000"/>
                </a:solidFill>
                <a:latin typeface="微软雅黑" panose="020B0503020204020204" charset="-122"/>
                <a:ea typeface="微软雅黑" panose="020B0503020204020204" charset="-122"/>
                <a:sym typeface="+mn-ea"/>
              </a:rPr>
              <a:t>2</a:t>
            </a:r>
            <a:r>
              <a:rPr lang="en-US" altLang="zh-CN" sz="1600" dirty="0">
                <a:solidFill>
                  <a:srgbClr val="C00000"/>
                </a:solidFill>
                <a:latin typeface="微软雅黑" panose="020B0503020204020204" charset="-122"/>
                <a:ea typeface="微软雅黑" panose="020B0503020204020204" charset="-122"/>
                <a:sym typeface="+mn-ea"/>
              </a:rPr>
              <a:t>. </a:t>
            </a:r>
            <a:r>
              <a:rPr lang="zh-CN" altLang="en-US" sz="1600" dirty="0">
                <a:solidFill>
                  <a:srgbClr val="C00000"/>
                </a:solidFill>
                <a:latin typeface="微软雅黑" panose="020B0503020204020204" charset="-122"/>
                <a:ea typeface="微软雅黑" panose="020B0503020204020204" charset="-122"/>
                <a:sym typeface="+mn-ea"/>
              </a:rPr>
              <a:t>适应性维护 </a:t>
            </a:r>
            <a:r>
              <a:rPr lang="en-US" altLang="zh-CN" sz="1600" dirty="0">
                <a:solidFill>
                  <a:srgbClr val="C00000"/>
                </a:solidFill>
                <a:latin typeface="微软雅黑" panose="020B0503020204020204" charset="-122"/>
                <a:ea typeface="微软雅黑" panose="020B0503020204020204" charset="-122"/>
                <a:sym typeface="+mn-ea"/>
              </a:rPr>
              <a:t>Adaptive Maintenance</a:t>
            </a:r>
            <a:endParaRPr lang="zh-CN" altLang="en-US" sz="1600" dirty="0">
              <a:solidFill>
                <a:srgbClr val="C00000"/>
              </a:solidFill>
              <a:latin typeface="微软雅黑" panose="020B0503020204020204" charset="-122"/>
              <a:ea typeface="微软雅黑" panose="020B0503020204020204" charset="-122"/>
              <a:sym typeface="+mn-ea"/>
            </a:endParaRPr>
          </a:p>
          <a:p>
            <a:pPr algn="just" fontAlgn="auto">
              <a:lnSpc>
                <a:spcPct val="130000"/>
              </a:lnSpc>
            </a:pPr>
            <a:r>
              <a:rPr sz="1600" dirty="0">
                <a:latin typeface="微软雅黑" panose="020B0503020204020204" charset="-122"/>
                <a:ea typeface="微软雅黑" panose="020B0503020204020204" charset="-122"/>
                <a:sym typeface="+mn-ea"/>
              </a:rPr>
              <a:t>       </a:t>
            </a:r>
            <a:r>
              <a:rPr sz="1600" dirty="0">
                <a:latin typeface="+mn-ea"/>
                <a:sym typeface="+mn-ea"/>
              </a:rPr>
              <a:t>计算机技术的发展十分迅速，计算机的软件、硬件环境也在不断发生变化，而应用软件的使用寿命往往比原先开发时的系统环境更为长久，因此，常常需对软件加以修改使之适应改变了的环境。为使软件产品适应环境的变化而进行的软件维护称为适应性维护。</a:t>
            </a:r>
          </a:p>
        </p:txBody>
      </p:sp>
      <p:sp>
        <p:nvSpPr>
          <p:cNvPr id="13" name="文本框 12"/>
          <p:cNvSpPr txBox="1"/>
          <p:nvPr/>
        </p:nvSpPr>
        <p:spPr>
          <a:xfrm>
            <a:off x="420370" y="4255770"/>
            <a:ext cx="4034790" cy="1249188"/>
          </a:xfrm>
          <a:prstGeom prst="rect">
            <a:avLst/>
          </a:prstGeom>
          <a:noFill/>
        </p:spPr>
        <p:txBody>
          <a:bodyPr wrap="square" rtlCol="0">
            <a:spAutoFit/>
          </a:bodyPr>
          <a:lstStyle/>
          <a:p>
            <a:pPr algn="just">
              <a:lnSpc>
                <a:spcPct val="120000"/>
              </a:lnSpc>
              <a:buFontTx/>
            </a:pPr>
            <a:r>
              <a:rPr lang="en-US" altLang="zh-CN" sz="1600" dirty="0">
                <a:solidFill>
                  <a:srgbClr val="C00000"/>
                </a:solidFill>
                <a:latin typeface="微软雅黑" panose="020B0503020204020204" charset="-122"/>
                <a:ea typeface="微软雅黑" panose="020B0503020204020204" charset="-122"/>
                <a:sym typeface="+mn-ea"/>
              </a:rPr>
              <a:t>4. </a:t>
            </a:r>
            <a:r>
              <a:rPr lang="zh-CN" altLang="en-US" sz="1600" dirty="0">
                <a:solidFill>
                  <a:srgbClr val="C00000"/>
                </a:solidFill>
                <a:latin typeface="微软雅黑" panose="020B0503020204020204" charset="-122"/>
                <a:ea typeface="微软雅黑" panose="020B0503020204020204" charset="-122"/>
                <a:sym typeface="+mn-ea"/>
              </a:rPr>
              <a:t>预防性维护 </a:t>
            </a:r>
            <a:r>
              <a:rPr lang="en-US" altLang="zh-CN" sz="1600" dirty="0">
                <a:solidFill>
                  <a:srgbClr val="C00000"/>
                </a:solidFill>
                <a:latin typeface="微软雅黑" panose="020B0503020204020204" charset="-122"/>
                <a:ea typeface="微软雅黑" panose="020B0503020204020204" charset="-122"/>
                <a:sym typeface="+mn-ea"/>
              </a:rPr>
              <a:t>Preventive Maintenance</a:t>
            </a:r>
            <a:endParaRPr lang="zh-CN" altLang="en-US" sz="1600" dirty="0">
              <a:solidFill>
                <a:srgbClr val="C00000"/>
              </a:solidFill>
              <a:latin typeface="微软雅黑" panose="020B0503020204020204" charset="-122"/>
              <a:ea typeface="微软雅黑" panose="020B0503020204020204" charset="-122"/>
              <a:sym typeface="+mn-ea"/>
            </a:endParaRPr>
          </a:p>
          <a:p>
            <a:pPr algn="just">
              <a:lnSpc>
                <a:spcPct val="120000"/>
              </a:lnSpc>
              <a:buFontTx/>
            </a:pPr>
            <a:r>
              <a:rPr sz="1600" dirty="0">
                <a:latin typeface="微软雅黑" panose="020B0503020204020204" charset="-122"/>
                <a:ea typeface="微软雅黑" panose="020B0503020204020204" charset="-122"/>
                <a:sym typeface="+mn-ea"/>
              </a:rPr>
              <a:t>       </a:t>
            </a:r>
            <a:r>
              <a:rPr sz="1600" dirty="0" err="1">
                <a:latin typeface="+mn-ea"/>
                <a:sym typeface="+mn-ea"/>
              </a:rPr>
              <a:t>为了进一步提高软件的可维护性和可靠性，为改进软件性能创造条件，需要对软件进行的其他维护称为预防性维护</a:t>
            </a:r>
            <a:r>
              <a:rPr sz="1600" dirty="0">
                <a:latin typeface="+mn-ea"/>
                <a:sym typeface="+mn-ea"/>
              </a:rPr>
              <a:t>。</a:t>
            </a:r>
          </a:p>
        </p:txBody>
      </p:sp>
      <p:sp>
        <p:nvSpPr>
          <p:cNvPr id="4" name="TextBox 6">
            <a:extLst>
              <a:ext uri="{FF2B5EF4-FFF2-40B4-BE49-F238E27FC236}">
                <a16:creationId xmlns:a16="http://schemas.microsoft.com/office/drawing/2014/main" id="{EE38495F-70E2-85B7-0C3B-0D64A015B1D2}"/>
              </a:ext>
            </a:extLst>
          </p:cNvPr>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5.1.1 </a:t>
            </a:r>
            <a:r>
              <a:rPr lang="zh-CN" altLang="en-US" sz="2400" dirty="0">
                <a:solidFill>
                  <a:schemeClr val="tx1"/>
                </a:solidFill>
              </a:rPr>
              <a:t>软件维护的种类</a:t>
            </a:r>
          </a:p>
        </p:txBody>
      </p:sp>
    </p:spTree>
    <p:custDataLst>
      <p:tags r:id="rId1"/>
    </p:custDataLst>
  </p:cSld>
  <p:clrMapOvr>
    <a:masterClrMapping/>
  </p:clrMapOvr>
  <p:transition>
    <p:zoom/>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5.1.1 </a:t>
            </a:r>
            <a:r>
              <a:rPr lang="zh-CN" altLang="en-US" sz="2400" dirty="0">
                <a:solidFill>
                  <a:schemeClr val="tx1"/>
                </a:solidFill>
              </a:rPr>
              <a:t>软件维护的种类</a:t>
            </a:r>
          </a:p>
        </p:txBody>
      </p:sp>
      <p:graphicFrame>
        <p:nvGraphicFramePr>
          <p:cNvPr id="10" name="图表 9">
            <a:extLst>
              <a:ext uri="{FF2B5EF4-FFF2-40B4-BE49-F238E27FC236}">
                <a16:creationId xmlns:a16="http://schemas.microsoft.com/office/drawing/2014/main" id="{9F4436D5-466B-3D55-B741-07837DCFE6BA}"/>
              </a:ext>
            </a:extLst>
          </p:cNvPr>
          <p:cNvGraphicFramePr>
            <a:graphicFrameLocks noChangeAspect="1"/>
          </p:cNvGraphicFramePr>
          <p:nvPr>
            <p:extLst>
              <p:ext uri="{D42A27DB-BD31-4B8C-83A1-F6EECF244321}">
                <p14:modId xmlns:p14="http://schemas.microsoft.com/office/powerpoint/2010/main" val="905770068"/>
              </p:ext>
            </p:extLst>
          </p:nvPr>
        </p:nvGraphicFramePr>
        <p:xfrm>
          <a:off x="2844800" y="1933337"/>
          <a:ext cx="6502400" cy="4334934"/>
        </p:xfrm>
        <a:graphic>
          <a:graphicData uri="http://schemas.openxmlformats.org/drawingml/2006/chart">
            <c:chart xmlns:c="http://schemas.openxmlformats.org/drawingml/2006/chart" xmlns:r="http://schemas.openxmlformats.org/officeDocument/2006/relationships" r:id="rId4"/>
          </a:graphicData>
        </a:graphic>
      </p:graphicFrame>
    </p:spTree>
    <p:custDataLst>
      <p:tags r:id="rId1"/>
    </p:custDataLst>
  </p:cSld>
  <p:clrMapOvr>
    <a:masterClrMapping/>
  </p:clrMapOvr>
  <p:transition>
    <p:zoom/>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A7B08-DE22-16DF-FA48-35909226F69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EDC21AC-E753-66E3-0F28-7D262F9E51B4}"/>
              </a:ext>
            </a:extLst>
          </p:cNvPr>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a:extLst>
              <a:ext uri="{FF2B5EF4-FFF2-40B4-BE49-F238E27FC236}">
                <a16:creationId xmlns:a16="http://schemas.microsoft.com/office/drawing/2014/main" id="{CCB5DB67-D137-0928-EAEB-53E95D4CF371}"/>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例</a:t>
            </a:r>
            <a:r>
              <a:rPr lang="en-US" altLang="zh-CN" sz="2400" dirty="0">
                <a:solidFill>
                  <a:schemeClr val="tx1"/>
                </a:solidFill>
              </a:rPr>
              <a:t>1 </a:t>
            </a:r>
            <a:r>
              <a:rPr lang="zh-CN" altLang="en-US" sz="2400" dirty="0">
                <a:solidFill>
                  <a:schemeClr val="tx1"/>
                </a:solidFill>
              </a:rPr>
              <a:t>考试成绩</a:t>
            </a:r>
          </a:p>
        </p:txBody>
      </p:sp>
      <p:sp>
        <p:nvSpPr>
          <p:cNvPr id="24" name="矩形 23">
            <a:extLst>
              <a:ext uri="{FF2B5EF4-FFF2-40B4-BE49-F238E27FC236}">
                <a16:creationId xmlns:a16="http://schemas.microsoft.com/office/drawing/2014/main" id="{4DA94614-838F-DD5B-1E93-22218C426009}"/>
              </a:ext>
            </a:extLst>
          </p:cNvPr>
          <p:cNvSpPr>
            <a:spLocks noChangeAspect="1"/>
          </p:cNvSpPr>
          <p:nvPr/>
        </p:nvSpPr>
        <p:spPr>
          <a:xfrm>
            <a:off x="3597909" y="1032539"/>
            <a:ext cx="4996181" cy="5355312"/>
          </a:xfrm>
          <a:prstGeom prst="rect">
            <a:avLst/>
          </a:prstGeom>
          <a:solidFill>
            <a:schemeClr val="bg1">
              <a:lumMod val="95000"/>
            </a:schemeClr>
          </a:solidFill>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t" anchorCtr="0">
            <a:spAutoFit/>
          </a:bodyPr>
          <a:lstStyle/>
          <a:p>
            <a:r>
              <a:rPr lang="en-US" altLang="zh-CN" dirty="0"/>
              <a:t>    let score = 80;</a:t>
            </a:r>
          </a:p>
          <a:p>
            <a:r>
              <a:rPr lang="en-US" altLang="zh-CN" dirty="0"/>
              <a:t>    let grade = </a:t>
            </a:r>
            <a:r>
              <a:rPr lang="en-US" altLang="zh-CN" dirty="0" err="1"/>
              <a:t>Math.floor</a:t>
            </a:r>
            <a:r>
              <a:rPr lang="en-US" altLang="zh-CN" dirty="0"/>
              <a:t>(score / 10);</a:t>
            </a:r>
          </a:p>
          <a:p>
            <a:r>
              <a:rPr lang="en-US" altLang="zh-CN" dirty="0"/>
              <a:t>    switch (grade) {</a:t>
            </a:r>
          </a:p>
          <a:p>
            <a:r>
              <a:rPr lang="en-US" altLang="zh-CN" dirty="0"/>
              <a:t>      case 6:</a:t>
            </a:r>
          </a:p>
          <a:p>
            <a:r>
              <a:rPr lang="en-US" altLang="zh-CN" dirty="0"/>
              <a:t>        console.log('</a:t>
            </a:r>
            <a:r>
              <a:rPr lang="zh-CN" altLang="en-US" dirty="0"/>
              <a:t>及格</a:t>
            </a:r>
            <a:r>
              <a:rPr lang="en-US" altLang="zh-CN" dirty="0"/>
              <a:t>');</a:t>
            </a:r>
          </a:p>
          <a:p>
            <a:r>
              <a:rPr lang="en-US" altLang="zh-CN" dirty="0"/>
              <a:t>        break;</a:t>
            </a:r>
          </a:p>
          <a:p>
            <a:r>
              <a:rPr lang="en-US" altLang="zh-CN" dirty="0"/>
              <a:t>      case 7:</a:t>
            </a:r>
          </a:p>
          <a:p>
            <a:r>
              <a:rPr lang="en-US" altLang="zh-CN" dirty="0"/>
              <a:t>        console.log('</a:t>
            </a:r>
            <a:r>
              <a:rPr lang="zh-CN" altLang="en-US" dirty="0"/>
              <a:t>中</a:t>
            </a:r>
            <a:r>
              <a:rPr lang="en-US" altLang="zh-CN" dirty="0"/>
              <a:t>');</a:t>
            </a:r>
          </a:p>
          <a:p>
            <a:r>
              <a:rPr lang="en-US" altLang="zh-CN" dirty="0"/>
              <a:t>        break;</a:t>
            </a:r>
          </a:p>
          <a:p>
            <a:r>
              <a:rPr lang="en-US" altLang="zh-CN" dirty="0"/>
              <a:t>      case 8:</a:t>
            </a:r>
          </a:p>
          <a:p>
            <a:r>
              <a:rPr lang="en-US" altLang="zh-CN" dirty="0"/>
              <a:t>        console.log('</a:t>
            </a:r>
            <a:r>
              <a:rPr lang="zh-CN" altLang="en-US" dirty="0"/>
              <a:t>良</a:t>
            </a:r>
            <a:r>
              <a:rPr lang="en-US" altLang="zh-CN" dirty="0"/>
              <a:t>');</a:t>
            </a:r>
          </a:p>
          <a:p>
            <a:r>
              <a:rPr lang="en-US" altLang="zh-CN" dirty="0"/>
              <a:t>        break;</a:t>
            </a:r>
          </a:p>
          <a:p>
            <a:r>
              <a:rPr lang="en-US" altLang="zh-CN" dirty="0"/>
              <a:t>      case 9:</a:t>
            </a:r>
          </a:p>
          <a:p>
            <a:r>
              <a:rPr lang="en-US" altLang="zh-CN" dirty="0"/>
              <a:t>        console.log('</a:t>
            </a:r>
            <a:r>
              <a:rPr lang="zh-CN" altLang="en-US" dirty="0"/>
              <a:t>优</a:t>
            </a:r>
            <a:r>
              <a:rPr lang="en-US" altLang="zh-CN" dirty="0"/>
              <a:t>');</a:t>
            </a:r>
          </a:p>
          <a:p>
            <a:r>
              <a:rPr lang="en-US" altLang="zh-CN" dirty="0"/>
              <a:t>        break;</a:t>
            </a:r>
          </a:p>
          <a:p>
            <a:r>
              <a:rPr lang="en-US" altLang="zh-CN" dirty="0"/>
              <a:t>      default:</a:t>
            </a:r>
          </a:p>
          <a:p>
            <a:r>
              <a:rPr lang="en-US" altLang="zh-CN" dirty="0"/>
              <a:t>        console.log('</a:t>
            </a:r>
            <a:r>
              <a:rPr lang="zh-CN" altLang="en-US" dirty="0"/>
              <a:t>不及格</a:t>
            </a:r>
            <a:r>
              <a:rPr lang="en-US" altLang="zh-CN" dirty="0"/>
              <a:t>');</a:t>
            </a:r>
          </a:p>
          <a:p>
            <a:r>
              <a:rPr lang="en-US" altLang="zh-CN" dirty="0"/>
              <a:t>        break;</a:t>
            </a:r>
          </a:p>
          <a:p>
            <a:r>
              <a:rPr lang="en-US" altLang="zh-CN" dirty="0"/>
              <a:t>    }</a:t>
            </a:r>
          </a:p>
        </p:txBody>
      </p:sp>
    </p:spTree>
    <p:custDataLst>
      <p:tags r:id="rId1"/>
    </p:custDataLst>
    <p:extLst>
      <p:ext uri="{BB962C8B-B14F-4D97-AF65-F5344CB8AC3E}">
        <p14:creationId xmlns:p14="http://schemas.microsoft.com/office/powerpoint/2010/main" val="400855254"/>
      </p:ext>
    </p:extLst>
  </p:cSld>
  <p:clrMapOvr>
    <a:masterClrMapping/>
  </p:clrMapOvr>
  <p:transition>
    <p:zoom/>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505C6-2585-A772-E651-F1539A47B99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E1A393F-2374-9F17-DB42-A28F110582B3}"/>
              </a:ext>
            </a:extLst>
          </p:cNvPr>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a:extLst>
              <a:ext uri="{FF2B5EF4-FFF2-40B4-BE49-F238E27FC236}">
                <a16:creationId xmlns:a16="http://schemas.microsoft.com/office/drawing/2014/main" id="{82A4D4FD-633A-A92B-046F-0664B134CCA3}"/>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例</a:t>
            </a:r>
            <a:r>
              <a:rPr lang="en-US" altLang="zh-CN" sz="2400" dirty="0">
                <a:solidFill>
                  <a:schemeClr val="tx1"/>
                </a:solidFill>
              </a:rPr>
              <a:t>2 </a:t>
            </a:r>
            <a:r>
              <a:rPr lang="zh-CN" altLang="en-US" sz="2400" dirty="0">
                <a:solidFill>
                  <a:schemeClr val="tx1"/>
                </a:solidFill>
              </a:rPr>
              <a:t>求和</a:t>
            </a:r>
          </a:p>
        </p:txBody>
      </p:sp>
      <p:sp>
        <p:nvSpPr>
          <p:cNvPr id="3" name="流程图: 终止 2">
            <a:extLst>
              <a:ext uri="{FF2B5EF4-FFF2-40B4-BE49-F238E27FC236}">
                <a16:creationId xmlns:a16="http://schemas.microsoft.com/office/drawing/2014/main" id="{1A568E1C-FF5F-90C9-AC08-F544B69F9CA1}"/>
              </a:ext>
            </a:extLst>
          </p:cNvPr>
          <p:cNvSpPr/>
          <p:nvPr/>
        </p:nvSpPr>
        <p:spPr>
          <a:xfrm>
            <a:off x="5066287" y="70419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Start</a:t>
            </a:r>
            <a:endParaRPr lang="zh-CN" altLang="en-US" dirty="0">
              <a:solidFill>
                <a:schemeClr val="tx1"/>
              </a:solidFill>
            </a:endParaRPr>
          </a:p>
        </p:txBody>
      </p:sp>
      <p:sp>
        <p:nvSpPr>
          <p:cNvPr id="4" name="流程图: 终止 3">
            <a:extLst>
              <a:ext uri="{FF2B5EF4-FFF2-40B4-BE49-F238E27FC236}">
                <a16:creationId xmlns:a16="http://schemas.microsoft.com/office/drawing/2014/main" id="{14378168-0980-E324-7218-ED9E1428FE3E}"/>
              </a:ext>
            </a:extLst>
          </p:cNvPr>
          <p:cNvSpPr/>
          <p:nvPr/>
        </p:nvSpPr>
        <p:spPr>
          <a:xfrm>
            <a:off x="7059021" y="5709424"/>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End</a:t>
            </a:r>
            <a:endParaRPr lang="zh-CN" altLang="en-US" dirty="0">
              <a:solidFill>
                <a:schemeClr val="tx1"/>
              </a:solidFill>
            </a:endParaRPr>
          </a:p>
        </p:txBody>
      </p:sp>
      <p:sp>
        <p:nvSpPr>
          <p:cNvPr id="5" name="流程图: 过程 4">
            <a:extLst>
              <a:ext uri="{FF2B5EF4-FFF2-40B4-BE49-F238E27FC236}">
                <a16:creationId xmlns:a16="http://schemas.microsoft.com/office/drawing/2014/main" id="{49A2BF5D-FC5D-5921-4032-B3CBD67C8925}"/>
              </a:ext>
            </a:extLst>
          </p:cNvPr>
          <p:cNvSpPr/>
          <p:nvPr/>
        </p:nvSpPr>
        <p:spPr>
          <a:xfrm>
            <a:off x="4786855" y="1343927"/>
            <a:ext cx="180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solidFill>
              </a:rPr>
              <a:t>i</a:t>
            </a:r>
            <a:r>
              <a:rPr lang="en-US" altLang="zh-CN" dirty="0">
                <a:solidFill>
                  <a:schemeClr val="tx1"/>
                </a:solidFill>
              </a:rPr>
              <a:t> = 0</a:t>
            </a:r>
            <a:endParaRPr lang="zh-CN" altLang="en-US" dirty="0">
              <a:solidFill>
                <a:schemeClr val="tx1"/>
              </a:solidFill>
            </a:endParaRPr>
          </a:p>
        </p:txBody>
      </p:sp>
      <p:sp>
        <p:nvSpPr>
          <p:cNvPr id="6" name="流程图: 过程 5">
            <a:extLst>
              <a:ext uri="{FF2B5EF4-FFF2-40B4-BE49-F238E27FC236}">
                <a16:creationId xmlns:a16="http://schemas.microsoft.com/office/drawing/2014/main" id="{45F133CF-4368-6FF8-AB98-76A7C21C1659}"/>
              </a:ext>
            </a:extLst>
          </p:cNvPr>
          <p:cNvSpPr/>
          <p:nvPr/>
        </p:nvSpPr>
        <p:spPr>
          <a:xfrm>
            <a:off x="7173321" y="4928994"/>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sum</a:t>
            </a:r>
            <a:endParaRPr lang="zh-CN" altLang="en-US" dirty="0">
              <a:solidFill>
                <a:schemeClr val="tx1"/>
              </a:solidFill>
            </a:endParaRPr>
          </a:p>
        </p:txBody>
      </p:sp>
      <p:sp>
        <p:nvSpPr>
          <p:cNvPr id="7" name="流程图: 决策 6">
            <a:extLst>
              <a:ext uri="{FF2B5EF4-FFF2-40B4-BE49-F238E27FC236}">
                <a16:creationId xmlns:a16="http://schemas.microsoft.com/office/drawing/2014/main" id="{0E7F50F1-B986-3FFD-51AD-2FB6F799414E}"/>
              </a:ext>
            </a:extLst>
          </p:cNvPr>
          <p:cNvSpPr/>
          <p:nvPr/>
        </p:nvSpPr>
        <p:spPr>
          <a:xfrm>
            <a:off x="4786855" y="2835411"/>
            <a:ext cx="180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i &lt;= 10</a:t>
            </a:r>
            <a:endParaRPr lang="zh-CN" altLang="en-US" dirty="0">
              <a:solidFill>
                <a:schemeClr val="tx1"/>
              </a:solidFill>
            </a:endParaRPr>
          </a:p>
        </p:txBody>
      </p:sp>
      <p:sp>
        <p:nvSpPr>
          <p:cNvPr id="8" name="流程图: 过程 7">
            <a:extLst>
              <a:ext uri="{FF2B5EF4-FFF2-40B4-BE49-F238E27FC236}">
                <a16:creationId xmlns:a16="http://schemas.microsoft.com/office/drawing/2014/main" id="{7216507F-260F-F7F2-FBC8-D08C0CE6D197}"/>
              </a:ext>
            </a:extLst>
          </p:cNvPr>
          <p:cNvSpPr/>
          <p:nvPr/>
        </p:nvSpPr>
        <p:spPr>
          <a:xfrm>
            <a:off x="4786855" y="4096648"/>
            <a:ext cx="180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solidFill>
              </a:rPr>
              <a:t>i</a:t>
            </a:r>
            <a:r>
              <a:rPr lang="en-US" altLang="zh-CN" dirty="0">
                <a:solidFill>
                  <a:schemeClr val="tx1"/>
                </a:solidFill>
              </a:rPr>
              <a:t> = </a:t>
            </a:r>
            <a:r>
              <a:rPr lang="en-US" altLang="zh-CN" dirty="0" err="1">
                <a:solidFill>
                  <a:schemeClr val="tx1"/>
                </a:solidFill>
              </a:rPr>
              <a:t>i</a:t>
            </a:r>
            <a:r>
              <a:rPr lang="en-US" altLang="zh-CN" dirty="0">
                <a:solidFill>
                  <a:schemeClr val="tx1"/>
                </a:solidFill>
              </a:rPr>
              <a:t> + 1</a:t>
            </a:r>
            <a:endParaRPr lang="zh-CN" altLang="en-US" dirty="0">
              <a:solidFill>
                <a:schemeClr val="tx1"/>
              </a:solidFill>
            </a:endParaRPr>
          </a:p>
        </p:txBody>
      </p:sp>
      <p:cxnSp>
        <p:nvCxnSpPr>
          <p:cNvPr id="9" name="直接箭头连接符 8">
            <a:extLst>
              <a:ext uri="{FF2B5EF4-FFF2-40B4-BE49-F238E27FC236}">
                <a16:creationId xmlns:a16="http://schemas.microsoft.com/office/drawing/2014/main" id="{B73940D4-1E9E-286A-8D42-19433E90A92F}"/>
              </a:ext>
            </a:extLst>
          </p:cNvPr>
          <p:cNvCxnSpPr>
            <a:stCxn id="7" idx="2"/>
            <a:endCxn id="8" idx="0"/>
          </p:cNvCxnSpPr>
          <p:nvPr/>
        </p:nvCxnSpPr>
        <p:spPr>
          <a:xfrm>
            <a:off x="5686855" y="3645036"/>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D2656769-CF4D-A1AA-C1FF-DB57F55B55BC}"/>
              </a:ext>
            </a:extLst>
          </p:cNvPr>
          <p:cNvSpPr txBox="1"/>
          <p:nvPr/>
        </p:nvSpPr>
        <p:spPr>
          <a:xfrm>
            <a:off x="5852908" y="3661859"/>
            <a:ext cx="351378" cy="369332"/>
          </a:xfrm>
          <a:prstGeom prst="rect">
            <a:avLst/>
          </a:prstGeom>
          <a:noFill/>
          <a:ln>
            <a:noFill/>
          </a:ln>
        </p:spPr>
        <p:txBody>
          <a:bodyPr wrap="none" rtlCol="0">
            <a:spAutoFit/>
          </a:bodyPr>
          <a:lstStyle/>
          <a:p>
            <a:pPr algn="l"/>
            <a:r>
              <a:rPr lang="en-US" altLang="zh-CN" dirty="0"/>
              <a:t>Y</a:t>
            </a:r>
            <a:endParaRPr lang="zh-CN" altLang="en-US" dirty="0"/>
          </a:p>
        </p:txBody>
      </p:sp>
      <p:cxnSp>
        <p:nvCxnSpPr>
          <p:cNvPr id="12" name="连接符: 肘形 11">
            <a:extLst>
              <a:ext uri="{FF2B5EF4-FFF2-40B4-BE49-F238E27FC236}">
                <a16:creationId xmlns:a16="http://schemas.microsoft.com/office/drawing/2014/main" id="{78976B7D-9039-D5BA-71A4-351468C5FDC9}"/>
              </a:ext>
            </a:extLst>
          </p:cNvPr>
          <p:cNvCxnSpPr>
            <a:cxnSpLocks/>
            <a:stCxn id="7" idx="3"/>
            <a:endCxn id="6" idx="0"/>
          </p:cNvCxnSpPr>
          <p:nvPr/>
        </p:nvCxnSpPr>
        <p:spPr>
          <a:xfrm>
            <a:off x="6586855" y="3240224"/>
            <a:ext cx="1092734"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210E300-1BFF-978D-E30C-7941ED50BA77}"/>
              </a:ext>
            </a:extLst>
          </p:cNvPr>
          <p:cNvSpPr txBox="1"/>
          <p:nvPr/>
        </p:nvSpPr>
        <p:spPr>
          <a:xfrm>
            <a:off x="6534893" y="2868541"/>
            <a:ext cx="351378" cy="369332"/>
          </a:xfrm>
          <a:prstGeom prst="rect">
            <a:avLst/>
          </a:prstGeom>
          <a:noFill/>
          <a:ln>
            <a:noFill/>
          </a:ln>
        </p:spPr>
        <p:txBody>
          <a:bodyPr wrap="none" rtlCol="0">
            <a:spAutoFit/>
          </a:bodyPr>
          <a:lstStyle/>
          <a:p>
            <a:pPr algn="l"/>
            <a:r>
              <a:rPr lang="en-US" altLang="zh-CN" dirty="0"/>
              <a:t>N</a:t>
            </a:r>
            <a:endParaRPr lang="zh-CN" altLang="en-US" dirty="0"/>
          </a:p>
        </p:txBody>
      </p:sp>
      <p:sp>
        <p:nvSpPr>
          <p:cNvPr id="14" name="流程图: 过程 13">
            <a:extLst>
              <a:ext uri="{FF2B5EF4-FFF2-40B4-BE49-F238E27FC236}">
                <a16:creationId xmlns:a16="http://schemas.microsoft.com/office/drawing/2014/main" id="{20215F40-D7AC-84E8-FBFC-A6EAD892EB7E}"/>
              </a:ext>
            </a:extLst>
          </p:cNvPr>
          <p:cNvSpPr/>
          <p:nvPr/>
        </p:nvSpPr>
        <p:spPr>
          <a:xfrm>
            <a:off x="4786855" y="4780249"/>
            <a:ext cx="180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sum = sum + </a:t>
            </a:r>
            <a:r>
              <a:rPr lang="en-US" altLang="zh-CN" dirty="0" err="1">
                <a:solidFill>
                  <a:schemeClr val="tx1"/>
                </a:solidFill>
              </a:rPr>
              <a:t>i</a:t>
            </a:r>
            <a:endParaRPr lang="zh-CN" altLang="en-US" dirty="0">
              <a:solidFill>
                <a:schemeClr val="tx1"/>
              </a:solidFill>
            </a:endParaRPr>
          </a:p>
        </p:txBody>
      </p:sp>
      <p:sp>
        <p:nvSpPr>
          <p:cNvPr id="15" name="流程图: 过程 14">
            <a:extLst>
              <a:ext uri="{FF2B5EF4-FFF2-40B4-BE49-F238E27FC236}">
                <a16:creationId xmlns:a16="http://schemas.microsoft.com/office/drawing/2014/main" id="{95112C53-D5CC-A5CA-4939-31630925420F}"/>
              </a:ext>
            </a:extLst>
          </p:cNvPr>
          <p:cNvSpPr/>
          <p:nvPr/>
        </p:nvSpPr>
        <p:spPr>
          <a:xfrm>
            <a:off x="4786855" y="1984482"/>
            <a:ext cx="180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sum = 0</a:t>
            </a:r>
            <a:endParaRPr lang="zh-CN" altLang="en-US" dirty="0">
              <a:solidFill>
                <a:schemeClr val="tx1"/>
              </a:solidFill>
            </a:endParaRPr>
          </a:p>
        </p:txBody>
      </p:sp>
      <p:cxnSp>
        <p:nvCxnSpPr>
          <p:cNvPr id="16" name="直接箭头连接符 15">
            <a:extLst>
              <a:ext uri="{FF2B5EF4-FFF2-40B4-BE49-F238E27FC236}">
                <a16:creationId xmlns:a16="http://schemas.microsoft.com/office/drawing/2014/main" id="{ECFFC892-C9FA-AAE1-1A0A-2CB6B4A2B5E2}"/>
              </a:ext>
            </a:extLst>
          </p:cNvPr>
          <p:cNvCxnSpPr>
            <a:stCxn id="3" idx="2"/>
            <a:endCxn id="5" idx="0"/>
          </p:cNvCxnSpPr>
          <p:nvPr/>
        </p:nvCxnSpPr>
        <p:spPr>
          <a:xfrm>
            <a:off x="5686855" y="1113773"/>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CC4CF2D5-B607-10BF-E330-D9A9C72BB590}"/>
              </a:ext>
            </a:extLst>
          </p:cNvPr>
          <p:cNvCxnSpPr>
            <a:stCxn id="5" idx="2"/>
            <a:endCxn id="15" idx="0"/>
          </p:cNvCxnSpPr>
          <p:nvPr/>
        </p:nvCxnSpPr>
        <p:spPr>
          <a:xfrm>
            <a:off x="5686855" y="1754327"/>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9900E3FF-2B63-ED10-B4DF-31FBAA794779}"/>
              </a:ext>
            </a:extLst>
          </p:cNvPr>
          <p:cNvCxnSpPr>
            <a:stCxn id="15" idx="2"/>
            <a:endCxn id="7" idx="0"/>
          </p:cNvCxnSpPr>
          <p:nvPr/>
        </p:nvCxnSpPr>
        <p:spPr>
          <a:xfrm>
            <a:off x="5686855" y="2394882"/>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936B9352-02BF-DC15-0B57-F62290C8459C}"/>
              </a:ext>
            </a:extLst>
          </p:cNvPr>
          <p:cNvCxnSpPr>
            <a:stCxn id="8" idx="2"/>
            <a:endCxn id="14" idx="0"/>
          </p:cNvCxnSpPr>
          <p:nvPr/>
        </p:nvCxnSpPr>
        <p:spPr>
          <a:xfrm>
            <a:off x="5686855" y="4507048"/>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12A2372A-74D2-6FA7-060C-198229480015}"/>
              </a:ext>
            </a:extLst>
          </p:cNvPr>
          <p:cNvCxnSpPr>
            <a:cxnSpLocks/>
            <a:stCxn id="14" idx="2"/>
            <a:endCxn id="7" idx="1"/>
          </p:cNvCxnSpPr>
          <p:nvPr/>
        </p:nvCxnSpPr>
        <p:spPr>
          <a:xfrm rot="5400000" flipH="1">
            <a:off x="4261642" y="3765437"/>
            <a:ext cx="1950425" cy="900000"/>
          </a:xfrm>
          <a:prstGeom prst="bentConnector4">
            <a:avLst>
              <a:gd name="adj1" fmla="val -11721"/>
              <a:gd name="adj2" fmla="val 22285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D279ED85-DBC3-F5F8-03FB-35539BC0358D}"/>
              </a:ext>
            </a:extLst>
          </p:cNvPr>
          <p:cNvCxnSpPr>
            <a:stCxn id="6" idx="2"/>
            <a:endCxn id="4" idx="0"/>
          </p:cNvCxnSpPr>
          <p:nvPr/>
        </p:nvCxnSpPr>
        <p:spPr>
          <a:xfrm>
            <a:off x="7679589" y="5339394"/>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3759746723"/>
      </p:ext>
    </p:extLst>
  </p:cSld>
  <p:clrMapOvr>
    <a:masterClrMapping/>
  </p:clrMapOvr>
  <p:transition>
    <p:zoom/>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5.1.2 </a:t>
            </a:r>
            <a:r>
              <a:rPr lang="zh-CN" altLang="en-US" sz="2400" dirty="0">
                <a:solidFill>
                  <a:schemeClr val="tx1"/>
                </a:solidFill>
              </a:rPr>
              <a:t>软件维护的特点</a:t>
            </a:r>
          </a:p>
        </p:txBody>
      </p:sp>
      <p:grpSp>
        <p:nvGrpSpPr>
          <p:cNvPr id="48" name="组合 21"/>
          <p:cNvGrpSpPr/>
          <p:nvPr>
            <p:custDataLst>
              <p:tags r:id="rId2"/>
            </p:custDataLst>
          </p:nvPr>
        </p:nvGrpSpPr>
        <p:grpSpPr bwMode="auto">
          <a:xfrm>
            <a:off x="6562725" y="1747520"/>
            <a:ext cx="1234440" cy="756285"/>
            <a:chOff x="6965968" y="728424"/>
            <a:chExt cx="1469889" cy="733259"/>
          </a:xfrm>
        </p:grpSpPr>
        <p:cxnSp>
          <p:nvCxnSpPr>
            <p:cNvPr id="49" name="Straight Connector 39@|9FFC:0|FBC:0|LFC:6905428|LBC:16777215"/>
            <p:cNvCxnSpPr/>
            <p:nvPr>
              <p:custDataLst>
                <p:tags r:id="rId19"/>
              </p:custDataLst>
            </p:nvPr>
          </p:nvCxnSpPr>
          <p:spPr>
            <a:xfrm flipV="1">
              <a:off x="6965968" y="732733"/>
              <a:ext cx="877094" cy="72895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0@|9FFC:0|FBC:0|LFC:6905428|LBC:16777215"/>
            <p:cNvCxnSpPr/>
            <p:nvPr>
              <p:custDataLst>
                <p:tags r:id="rId20"/>
              </p:custDataLst>
            </p:nvPr>
          </p:nvCxnSpPr>
          <p:spPr>
            <a:xfrm flipH="1">
              <a:off x="7843062" y="728424"/>
              <a:ext cx="592795" cy="43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51" name="文本框 50"/>
          <p:cNvSpPr txBox="1"/>
          <p:nvPr>
            <p:custDataLst>
              <p:tags r:id="rId3"/>
            </p:custDataLst>
          </p:nvPr>
        </p:nvSpPr>
        <p:spPr>
          <a:xfrm>
            <a:off x="7936865" y="1546225"/>
            <a:ext cx="3383280" cy="1754326"/>
          </a:xfrm>
          <a:prstGeom prst="rect">
            <a:avLst/>
          </a:prstGeom>
          <a:noFill/>
        </p:spPr>
        <p:txBody>
          <a:bodyPr>
            <a:spAutoFit/>
          </a:bodyPr>
          <a:lstStyle/>
          <a:p>
            <a:pPr eaLnBrk="1" hangingPunct="1">
              <a:spcBef>
                <a:spcPts val="0"/>
              </a:spcBef>
              <a:spcAft>
                <a:spcPts val="0"/>
              </a:spcAft>
              <a:defRPr/>
            </a:pPr>
            <a:r>
              <a:rPr lang="zh-CN" altLang="en-US" dirty="0">
                <a:latin typeface="+mj-ea"/>
                <a:ea typeface="+mj-ea"/>
              </a:rPr>
              <a:t>结构化</a:t>
            </a:r>
            <a:r>
              <a:rPr lang="zh-CN" altLang="en-US" dirty="0"/>
              <a:t>维护与</a:t>
            </a:r>
            <a:r>
              <a:rPr lang="zh-CN" altLang="en-US" dirty="0">
                <a:latin typeface="+mj-ea"/>
                <a:ea typeface="+mj-ea"/>
              </a:rPr>
              <a:t>非结构化</a:t>
            </a:r>
            <a:r>
              <a:rPr lang="zh-CN" altLang="en-US" dirty="0"/>
              <a:t>维护差别巨大</a:t>
            </a:r>
          </a:p>
          <a:p>
            <a:pPr eaLnBrk="1" hangingPunct="1">
              <a:spcBef>
                <a:spcPts val="0"/>
              </a:spcBef>
              <a:spcAft>
                <a:spcPts val="0"/>
              </a:spcAft>
              <a:defRPr/>
            </a:pPr>
            <a:r>
              <a:rPr lang="zh-CN" altLang="en-US" dirty="0"/>
              <a:t>与非结构化维护相比，结构化维护能减少工作量并提高维护的总体质量。这是在软件开发的早期就运用软件工程方法论的结果。</a:t>
            </a:r>
          </a:p>
        </p:txBody>
      </p:sp>
      <p:sp>
        <p:nvSpPr>
          <p:cNvPr id="54" name="六边形 53"/>
          <p:cNvSpPr/>
          <p:nvPr>
            <p:custDataLst>
              <p:tags r:id="rId4"/>
            </p:custDataLst>
          </p:nvPr>
        </p:nvSpPr>
        <p:spPr>
          <a:xfrm>
            <a:off x="5605145" y="2503805"/>
            <a:ext cx="1205230" cy="1050925"/>
          </a:xfrm>
          <a:prstGeom prst="hexagon">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400" b="1" dirty="0">
                <a:solidFill>
                  <a:schemeClr val="bg1"/>
                </a:solidFill>
                <a:latin typeface="+mj-lt"/>
              </a:rPr>
              <a:t>01</a:t>
            </a:r>
            <a:endParaRPr lang="zh-CN" altLang="en-US" sz="2400" b="1" dirty="0">
              <a:solidFill>
                <a:schemeClr val="bg1"/>
              </a:solidFill>
              <a:latin typeface="+mj-lt"/>
            </a:endParaRPr>
          </a:p>
        </p:txBody>
      </p:sp>
      <p:sp>
        <p:nvSpPr>
          <p:cNvPr id="56" name="六边形 55"/>
          <p:cNvSpPr/>
          <p:nvPr>
            <p:custDataLst>
              <p:tags r:id="rId5"/>
            </p:custDataLst>
          </p:nvPr>
        </p:nvSpPr>
        <p:spPr>
          <a:xfrm>
            <a:off x="6922770" y="4632325"/>
            <a:ext cx="1203325" cy="1052830"/>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b="1" dirty="0">
                <a:solidFill>
                  <a:schemeClr val="bg1"/>
                </a:solidFill>
                <a:latin typeface="+mj-lt"/>
              </a:rPr>
              <a:t>03</a:t>
            </a:r>
            <a:endParaRPr lang="zh-CN" altLang="en-US" sz="2400" b="1" dirty="0">
              <a:solidFill>
                <a:schemeClr val="bg1"/>
              </a:solidFill>
              <a:latin typeface="+mj-lt"/>
            </a:endParaRPr>
          </a:p>
        </p:txBody>
      </p:sp>
      <p:sp>
        <p:nvSpPr>
          <p:cNvPr id="64" name="六边形 63"/>
          <p:cNvSpPr/>
          <p:nvPr>
            <p:custDataLst>
              <p:tags r:id="rId6"/>
            </p:custDataLst>
          </p:nvPr>
        </p:nvSpPr>
        <p:spPr>
          <a:xfrm>
            <a:off x="5264150" y="3649980"/>
            <a:ext cx="1887220" cy="1591945"/>
          </a:xfrm>
          <a:prstGeom prst="hexagon">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grpSp>
        <p:nvGrpSpPr>
          <p:cNvPr id="65" name="组合 64"/>
          <p:cNvGrpSpPr>
            <a:grpSpLocks noChangeAspect="1"/>
          </p:cNvGrpSpPr>
          <p:nvPr>
            <p:custDataLst>
              <p:tags r:id="rId7"/>
            </p:custDataLst>
          </p:nvPr>
        </p:nvGrpSpPr>
        <p:grpSpPr>
          <a:xfrm>
            <a:off x="5709920" y="4092575"/>
            <a:ext cx="965835" cy="647700"/>
            <a:chOff x="3784600" y="1525588"/>
            <a:chExt cx="935038" cy="568325"/>
          </a:xfrm>
          <a:solidFill>
            <a:schemeClr val="bg1"/>
          </a:solidFill>
        </p:grpSpPr>
        <p:sp>
          <p:nvSpPr>
            <p:cNvPr id="66" name="Freeform 8@|5FFC:16777215|FBC:16777215|LFC:11960852|LBC:16777215"/>
            <p:cNvSpPr/>
            <p:nvPr>
              <p:custDataLst>
                <p:tags r:id="rId13"/>
              </p:custDataLst>
            </p:nvPr>
          </p:nvSpPr>
          <p:spPr bwMode="auto">
            <a:xfrm>
              <a:off x="3871913" y="2011363"/>
              <a:ext cx="112713" cy="82550"/>
            </a:xfrm>
            <a:custGeom>
              <a:avLst/>
              <a:gdLst>
                <a:gd name="T0" fmla="*/ 30 w 30"/>
                <a:gd name="T1" fmla="*/ 19 h 22"/>
                <a:gd name="T2" fmla="*/ 30 w 30"/>
                <a:gd name="T3" fmla="*/ 0 h 22"/>
                <a:gd name="T4" fmla="*/ 1 w 30"/>
                <a:gd name="T5" fmla="*/ 22 h 22"/>
                <a:gd name="T6" fmla="*/ 27 w 30"/>
                <a:gd name="T7" fmla="*/ 22 h 22"/>
                <a:gd name="T8" fmla="*/ 30 w 30"/>
                <a:gd name="T9" fmla="*/ 19 h 22"/>
              </a:gdLst>
              <a:ahLst/>
              <a:cxnLst>
                <a:cxn ang="0">
                  <a:pos x="T0" y="T1"/>
                </a:cxn>
                <a:cxn ang="0">
                  <a:pos x="T2" y="T3"/>
                </a:cxn>
                <a:cxn ang="0">
                  <a:pos x="T4" y="T5"/>
                </a:cxn>
                <a:cxn ang="0">
                  <a:pos x="T6" y="T7"/>
                </a:cxn>
                <a:cxn ang="0">
                  <a:pos x="T8" y="T9"/>
                </a:cxn>
              </a:cxnLst>
              <a:rect l="0" t="0" r="r" b="b"/>
              <a:pathLst>
                <a:path w="30" h="22">
                  <a:moveTo>
                    <a:pt x="30" y="19"/>
                  </a:moveTo>
                  <a:cubicBezTo>
                    <a:pt x="30" y="0"/>
                    <a:pt x="30" y="0"/>
                    <a:pt x="30" y="0"/>
                  </a:cubicBezTo>
                  <a:cubicBezTo>
                    <a:pt x="30" y="0"/>
                    <a:pt x="0" y="22"/>
                    <a:pt x="1" y="22"/>
                  </a:cubicBezTo>
                  <a:cubicBezTo>
                    <a:pt x="27" y="22"/>
                    <a:pt x="27" y="22"/>
                    <a:pt x="27" y="22"/>
                  </a:cubicBezTo>
                  <a:cubicBezTo>
                    <a:pt x="29" y="22"/>
                    <a:pt x="30" y="21"/>
                    <a:pt x="30" y="19"/>
                  </a:cubicBez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fontScale="25000" lnSpcReduction="20000"/>
            </a:bodyPr>
            <a:lstStyle/>
            <a:p>
              <a:pPr eaLnBrk="1" hangingPunct="1">
                <a:spcBef>
                  <a:spcPts val="0"/>
                </a:spcBef>
                <a:spcAft>
                  <a:spcPts val="0"/>
                </a:spcAft>
                <a:defRPr/>
              </a:pPr>
              <a:endParaRPr lang="zh-CN" altLang="en-US" sz="1800"/>
            </a:p>
          </p:txBody>
        </p:sp>
        <p:sp>
          <p:nvSpPr>
            <p:cNvPr id="67" name="Freeform 9@|5FFC:16777215|FBC:16777215|LFC:11960852|LBC:16777215"/>
            <p:cNvSpPr/>
            <p:nvPr>
              <p:custDataLst>
                <p:tags r:id="rId14"/>
              </p:custDataLst>
            </p:nvPr>
          </p:nvSpPr>
          <p:spPr bwMode="auto">
            <a:xfrm>
              <a:off x="4022725" y="1893888"/>
              <a:ext cx="120650" cy="200025"/>
            </a:xfrm>
            <a:custGeom>
              <a:avLst/>
              <a:gdLst>
                <a:gd name="T0" fmla="*/ 29 w 32"/>
                <a:gd name="T1" fmla="*/ 53 h 53"/>
                <a:gd name="T2" fmla="*/ 32 w 32"/>
                <a:gd name="T3" fmla="*/ 50 h 53"/>
                <a:gd name="T4" fmla="*/ 32 w 32"/>
                <a:gd name="T5" fmla="*/ 0 h 53"/>
                <a:gd name="T6" fmla="*/ 0 w 32"/>
                <a:gd name="T7" fmla="*/ 23 h 53"/>
                <a:gd name="T8" fmla="*/ 0 w 32"/>
                <a:gd name="T9" fmla="*/ 24 h 53"/>
                <a:gd name="T10" fmla="*/ 0 w 32"/>
                <a:gd name="T11" fmla="*/ 50 h 53"/>
                <a:gd name="T12" fmla="*/ 2 w 32"/>
                <a:gd name="T13" fmla="*/ 53 h 53"/>
                <a:gd name="T14" fmla="*/ 29 w 32"/>
                <a:gd name="T15" fmla="*/ 53 h 5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53">
                  <a:moveTo>
                    <a:pt x="29" y="53"/>
                  </a:moveTo>
                  <a:cubicBezTo>
                    <a:pt x="30" y="53"/>
                    <a:pt x="32" y="52"/>
                    <a:pt x="32" y="50"/>
                  </a:cubicBezTo>
                  <a:cubicBezTo>
                    <a:pt x="32" y="0"/>
                    <a:pt x="32" y="0"/>
                    <a:pt x="32" y="0"/>
                  </a:cubicBezTo>
                  <a:cubicBezTo>
                    <a:pt x="0" y="23"/>
                    <a:pt x="0" y="23"/>
                    <a:pt x="0" y="23"/>
                  </a:cubicBezTo>
                  <a:cubicBezTo>
                    <a:pt x="0" y="24"/>
                    <a:pt x="0" y="24"/>
                    <a:pt x="0" y="24"/>
                  </a:cubicBezTo>
                  <a:cubicBezTo>
                    <a:pt x="0" y="50"/>
                    <a:pt x="0" y="50"/>
                    <a:pt x="0" y="50"/>
                  </a:cubicBezTo>
                  <a:cubicBezTo>
                    <a:pt x="0" y="52"/>
                    <a:pt x="1" y="53"/>
                    <a:pt x="2" y="53"/>
                  </a:cubicBezTo>
                  <a:lnTo>
                    <a:pt x="29" y="53"/>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fontScale="62500" lnSpcReduction="20000"/>
            </a:bodyPr>
            <a:lstStyle/>
            <a:p>
              <a:pPr eaLnBrk="1" hangingPunct="1">
                <a:spcBef>
                  <a:spcPts val="0"/>
                </a:spcBef>
                <a:spcAft>
                  <a:spcPts val="0"/>
                </a:spcAft>
                <a:defRPr/>
              </a:pPr>
              <a:endParaRPr lang="zh-CN" altLang="en-US" sz="1800"/>
            </a:p>
          </p:txBody>
        </p:sp>
        <p:sp>
          <p:nvSpPr>
            <p:cNvPr id="68" name="Freeform 10@|5FFC:16777215|FBC:16777215|LFC:11960852|LBC:16777215"/>
            <p:cNvSpPr/>
            <p:nvPr>
              <p:custDataLst>
                <p:tags r:id="rId15"/>
              </p:custDataLst>
            </p:nvPr>
          </p:nvSpPr>
          <p:spPr bwMode="auto">
            <a:xfrm>
              <a:off x="4176713" y="1800225"/>
              <a:ext cx="120650" cy="293688"/>
            </a:xfrm>
            <a:custGeom>
              <a:avLst/>
              <a:gdLst>
                <a:gd name="T0" fmla="*/ 29 w 32"/>
                <a:gd name="T1" fmla="*/ 78 h 78"/>
                <a:gd name="T2" fmla="*/ 32 w 32"/>
                <a:gd name="T3" fmla="*/ 75 h 78"/>
                <a:gd name="T4" fmla="*/ 32 w 32"/>
                <a:gd name="T5" fmla="*/ 9 h 78"/>
                <a:gd name="T6" fmla="*/ 23 w 32"/>
                <a:gd name="T7" fmla="*/ 0 h 78"/>
                <a:gd name="T8" fmla="*/ 10 w 32"/>
                <a:gd name="T9" fmla="*/ 10 h 78"/>
                <a:gd name="T10" fmla="*/ 0 w 32"/>
                <a:gd name="T11" fmla="*/ 17 h 78"/>
                <a:gd name="T12" fmla="*/ 0 w 32"/>
                <a:gd name="T13" fmla="*/ 75 h 78"/>
                <a:gd name="T14" fmla="*/ 3 w 32"/>
                <a:gd name="T15" fmla="*/ 78 h 78"/>
                <a:gd name="T16" fmla="*/ 29 w 32"/>
                <a:gd name="T17" fmla="*/ 78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78">
                  <a:moveTo>
                    <a:pt x="29" y="78"/>
                  </a:moveTo>
                  <a:cubicBezTo>
                    <a:pt x="31" y="78"/>
                    <a:pt x="32" y="77"/>
                    <a:pt x="32" y="75"/>
                  </a:cubicBezTo>
                  <a:cubicBezTo>
                    <a:pt x="32" y="9"/>
                    <a:pt x="32" y="9"/>
                    <a:pt x="32" y="9"/>
                  </a:cubicBezTo>
                  <a:cubicBezTo>
                    <a:pt x="23" y="0"/>
                    <a:pt x="23" y="0"/>
                    <a:pt x="23" y="0"/>
                  </a:cubicBezTo>
                  <a:cubicBezTo>
                    <a:pt x="10" y="10"/>
                    <a:pt x="10" y="10"/>
                    <a:pt x="10" y="10"/>
                  </a:cubicBezTo>
                  <a:cubicBezTo>
                    <a:pt x="0" y="17"/>
                    <a:pt x="0" y="17"/>
                    <a:pt x="0" y="17"/>
                  </a:cubicBezTo>
                  <a:cubicBezTo>
                    <a:pt x="0" y="75"/>
                    <a:pt x="0" y="75"/>
                    <a:pt x="0" y="75"/>
                  </a:cubicBezTo>
                  <a:cubicBezTo>
                    <a:pt x="0" y="77"/>
                    <a:pt x="1" y="78"/>
                    <a:pt x="3" y="78"/>
                  </a:cubicBezTo>
                  <a:lnTo>
                    <a:pt x="29" y="78"/>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fontScale="92500" lnSpcReduction="10000"/>
            </a:bodyPr>
            <a:lstStyle/>
            <a:p>
              <a:pPr eaLnBrk="1" hangingPunct="1">
                <a:spcBef>
                  <a:spcPts val="0"/>
                </a:spcBef>
                <a:spcAft>
                  <a:spcPts val="0"/>
                </a:spcAft>
                <a:defRPr/>
              </a:pPr>
              <a:endParaRPr lang="zh-CN" altLang="en-US" sz="1800"/>
            </a:p>
          </p:txBody>
        </p:sp>
        <p:sp>
          <p:nvSpPr>
            <p:cNvPr id="69" name="Freeform 11@|5FFC:16777215|FBC:16777215|LFC:11960852|LBC:16777215"/>
            <p:cNvSpPr/>
            <p:nvPr>
              <p:custDataLst>
                <p:tags r:id="rId16"/>
              </p:custDataLst>
            </p:nvPr>
          </p:nvSpPr>
          <p:spPr bwMode="auto">
            <a:xfrm>
              <a:off x="4330700" y="1841500"/>
              <a:ext cx="120650" cy="252413"/>
            </a:xfrm>
            <a:custGeom>
              <a:avLst/>
              <a:gdLst>
                <a:gd name="T0" fmla="*/ 30 w 32"/>
                <a:gd name="T1" fmla="*/ 67 h 67"/>
                <a:gd name="T2" fmla="*/ 32 w 32"/>
                <a:gd name="T3" fmla="*/ 64 h 67"/>
                <a:gd name="T4" fmla="*/ 32 w 32"/>
                <a:gd name="T5" fmla="*/ 0 h 67"/>
                <a:gd name="T6" fmla="*/ 20 w 32"/>
                <a:gd name="T7" fmla="*/ 10 h 67"/>
                <a:gd name="T8" fmla="*/ 16 w 32"/>
                <a:gd name="T9" fmla="*/ 13 h 67"/>
                <a:gd name="T10" fmla="*/ 5 w 32"/>
                <a:gd name="T11" fmla="*/ 12 h 67"/>
                <a:gd name="T12" fmla="*/ 4 w 32"/>
                <a:gd name="T13" fmla="*/ 11 h 67"/>
                <a:gd name="T14" fmla="*/ 0 w 32"/>
                <a:gd name="T15" fmla="*/ 7 h 67"/>
                <a:gd name="T16" fmla="*/ 0 w 32"/>
                <a:gd name="T17" fmla="*/ 64 h 67"/>
                <a:gd name="T18" fmla="*/ 3 w 32"/>
                <a:gd name="T19" fmla="*/ 67 h 67"/>
                <a:gd name="T20" fmla="*/ 30 w 32"/>
                <a:gd name="T21" fmla="*/ 67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 h="67">
                  <a:moveTo>
                    <a:pt x="30" y="67"/>
                  </a:moveTo>
                  <a:cubicBezTo>
                    <a:pt x="31" y="67"/>
                    <a:pt x="32" y="66"/>
                    <a:pt x="32" y="64"/>
                  </a:cubicBezTo>
                  <a:cubicBezTo>
                    <a:pt x="32" y="0"/>
                    <a:pt x="32" y="0"/>
                    <a:pt x="32" y="0"/>
                  </a:cubicBezTo>
                  <a:cubicBezTo>
                    <a:pt x="20" y="10"/>
                    <a:pt x="20" y="10"/>
                    <a:pt x="20" y="10"/>
                  </a:cubicBezTo>
                  <a:cubicBezTo>
                    <a:pt x="16" y="13"/>
                    <a:pt x="16" y="13"/>
                    <a:pt x="16" y="13"/>
                  </a:cubicBezTo>
                  <a:cubicBezTo>
                    <a:pt x="13" y="16"/>
                    <a:pt x="8" y="15"/>
                    <a:pt x="5" y="12"/>
                  </a:cubicBezTo>
                  <a:cubicBezTo>
                    <a:pt x="4" y="11"/>
                    <a:pt x="4" y="11"/>
                    <a:pt x="4" y="11"/>
                  </a:cubicBezTo>
                  <a:cubicBezTo>
                    <a:pt x="0" y="7"/>
                    <a:pt x="0" y="7"/>
                    <a:pt x="0" y="7"/>
                  </a:cubicBezTo>
                  <a:cubicBezTo>
                    <a:pt x="0" y="64"/>
                    <a:pt x="0" y="64"/>
                    <a:pt x="0" y="64"/>
                  </a:cubicBezTo>
                  <a:cubicBezTo>
                    <a:pt x="0" y="66"/>
                    <a:pt x="2" y="67"/>
                    <a:pt x="3" y="67"/>
                  </a:cubicBezTo>
                  <a:lnTo>
                    <a:pt x="30" y="67"/>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fontScale="85000" lnSpcReduction="20000"/>
            </a:bodyPr>
            <a:lstStyle/>
            <a:p>
              <a:pPr eaLnBrk="1" hangingPunct="1">
                <a:spcBef>
                  <a:spcPts val="0"/>
                </a:spcBef>
                <a:spcAft>
                  <a:spcPts val="0"/>
                </a:spcAft>
                <a:defRPr/>
              </a:pPr>
              <a:endParaRPr lang="zh-CN" altLang="en-US" sz="1800"/>
            </a:p>
          </p:txBody>
        </p:sp>
        <p:sp>
          <p:nvSpPr>
            <p:cNvPr id="70" name="Freeform 12@|5FFC:16777215|FBC:16777215|LFC:11960852|LBC:16777215"/>
            <p:cNvSpPr/>
            <p:nvPr>
              <p:custDataLst>
                <p:tags r:id="rId17"/>
              </p:custDataLst>
            </p:nvPr>
          </p:nvSpPr>
          <p:spPr bwMode="auto">
            <a:xfrm>
              <a:off x="4489450" y="1720850"/>
              <a:ext cx="120650" cy="373063"/>
            </a:xfrm>
            <a:custGeom>
              <a:avLst/>
              <a:gdLst>
                <a:gd name="T0" fmla="*/ 29 w 32"/>
                <a:gd name="T1" fmla="*/ 99 h 99"/>
                <a:gd name="T2" fmla="*/ 32 w 32"/>
                <a:gd name="T3" fmla="*/ 96 h 99"/>
                <a:gd name="T4" fmla="*/ 32 w 32"/>
                <a:gd name="T5" fmla="*/ 0 h 99"/>
                <a:gd name="T6" fmla="*/ 13 w 32"/>
                <a:gd name="T7" fmla="*/ 15 h 99"/>
                <a:gd name="T8" fmla="*/ 0 w 32"/>
                <a:gd name="T9" fmla="*/ 25 h 99"/>
                <a:gd name="T10" fmla="*/ 0 w 32"/>
                <a:gd name="T11" fmla="*/ 96 h 99"/>
                <a:gd name="T12" fmla="*/ 3 w 32"/>
                <a:gd name="T13" fmla="*/ 99 h 99"/>
                <a:gd name="T14" fmla="*/ 29 w 32"/>
                <a:gd name="T15" fmla="*/ 99 h 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99">
                  <a:moveTo>
                    <a:pt x="29" y="99"/>
                  </a:moveTo>
                  <a:cubicBezTo>
                    <a:pt x="31" y="99"/>
                    <a:pt x="32" y="98"/>
                    <a:pt x="32" y="96"/>
                  </a:cubicBezTo>
                  <a:cubicBezTo>
                    <a:pt x="32" y="0"/>
                    <a:pt x="32" y="0"/>
                    <a:pt x="32" y="0"/>
                  </a:cubicBezTo>
                  <a:cubicBezTo>
                    <a:pt x="13" y="15"/>
                    <a:pt x="13" y="15"/>
                    <a:pt x="13" y="15"/>
                  </a:cubicBezTo>
                  <a:cubicBezTo>
                    <a:pt x="0" y="25"/>
                    <a:pt x="0" y="25"/>
                    <a:pt x="0" y="25"/>
                  </a:cubicBezTo>
                  <a:cubicBezTo>
                    <a:pt x="0" y="96"/>
                    <a:pt x="0" y="96"/>
                    <a:pt x="0" y="96"/>
                  </a:cubicBezTo>
                  <a:cubicBezTo>
                    <a:pt x="0" y="98"/>
                    <a:pt x="1" y="99"/>
                    <a:pt x="3" y="99"/>
                  </a:cubicBezTo>
                  <a:lnTo>
                    <a:pt x="29" y="99"/>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a:bodyPr>
            <a:lstStyle/>
            <a:p>
              <a:pPr eaLnBrk="1" hangingPunct="1">
                <a:spcBef>
                  <a:spcPts val="0"/>
                </a:spcBef>
                <a:spcAft>
                  <a:spcPts val="0"/>
                </a:spcAft>
                <a:defRPr/>
              </a:pPr>
              <a:endParaRPr lang="zh-CN" altLang="en-US" sz="1800"/>
            </a:p>
          </p:txBody>
        </p:sp>
        <p:sp>
          <p:nvSpPr>
            <p:cNvPr id="71" name="Freeform 13@|5FFC:16777215|FBC:16777215|LFC:11960852|LBC:16777215"/>
            <p:cNvSpPr/>
            <p:nvPr>
              <p:custDataLst>
                <p:tags r:id="rId18"/>
              </p:custDataLst>
            </p:nvPr>
          </p:nvSpPr>
          <p:spPr bwMode="auto">
            <a:xfrm>
              <a:off x="3784600" y="1525588"/>
              <a:ext cx="935038" cy="541338"/>
            </a:xfrm>
            <a:custGeom>
              <a:avLst/>
              <a:gdLst>
                <a:gd name="T0" fmla="*/ 248 w 248"/>
                <a:gd name="T1" fmla="*/ 8 h 144"/>
                <a:gd name="T2" fmla="*/ 245 w 248"/>
                <a:gd name="T3" fmla="*/ 2 h 144"/>
                <a:gd name="T4" fmla="*/ 239 w 248"/>
                <a:gd name="T5" fmla="*/ 0 h 144"/>
                <a:gd name="T6" fmla="*/ 230 w 248"/>
                <a:gd name="T7" fmla="*/ 0 h 144"/>
                <a:gd name="T8" fmla="*/ 200 w 248"/>
                <a:gd name="T9" fmla="*/ 0 h 144"/>
                <a:gd name="T10" fmla="*/ 197 w 248"/>
                <a:gd name="T11" fmla="*/ 1 h 144"/>
                <a:gd name="T12" fmla="*/ 196 w 248"/>
                <a:gd name="T13" fmla="*/ 1 h 144"/>
                <a:gd name="T14" fmla="*/ 191 w 248"/>
                <a:gd name="T15" fmla="*/ 8 h 144"/>
                <a:gd name="T16" fmla="*/ 197 w 248"/>
                <a:gd name="T17" fmla="*/ 16 h 144"/>
                <a:gd name="T18" fmla="*/ 200 w 248"/>
                <a:gd name="T19" fmla="*/ 17 h 144"/>
                <a:gd name="T20" fmla="*/ 210 w 248"/>
                <a:gd name="T21" fmla="*/ 17 h 144"/>
                <a:gd name="T22" fmla="*/ 215 w 248"/>
                <a:gd name="T23" fmla="*/ 17 h 144"/>
                <a:gd name="T24" fmla="*/ 206 w 248"/>
                <a:gd name="T25" fmla="*/ 24 h 144"/>
                <a:gd name="T26" fmla="*/ 189 w 248"/>
                <a:gd name="T27" fmla="*/ 39 h 144"/>
                <a:gd name="T28" fmla="*/ 179 w 248"/>
                <a:gd name="T29" fmla="*/ 47 h 144"/>
                <a:gd name="T30" fmla="*/ 166 w 248"/>
                <a:gd name="T31" fmla="*/ 57 h 144"/>
                <a:gd name="T32" fmla="*/ 158 w 248"/>
                <a:gd name="T33" fmla="*/ 63 h 144"/>
                <a:gd name="T34" fmla="*/ 150 w 248"/>
                <a:gd name="T35" fmla="*/ 55 h 144"/>
                <a:gd name="T36" fmla="*/ 146 w 248"/>
                <a:gd name="T37" fmla="*/ 52 h 144"/>
                <a:gd name="T38" fmla="*/ 136 w 248"/>
                <a:gd name="T39" fmla="*/ 42 h 144"/>
                <a:gd name="T40" fmla="*/ 134 w 248"/>
                <a:gd name="T41" fmla="*/ 40 h 144"/>
                <a:gd name="T42" fmla="*/ 123 w 248"/>
                <a:gd name="T43" fmla="*/ 39 h 144"/>
                <a:gd name="T44" fmla="*/ 114 w 248"/>
                <a:gd name="T45" fmla="*/ 46 h 144"/>
                <a:gd name="T46" fmla="*/ 104 w 248"/>
                <a:gd name="T47" fmla="*/ 54 h 144"/>
                <a:gd name="T48" fmla="*/ 97 w 248"/>
                <a:gd name="T49" fmla="*/ 58 h 144"/>
                <a:gd name="T50" fmla="*/ 94 w 248"/>
                <a:gd name="T51" fmla="*/ 61 h 144"/>
                <a:gd name="T52" fmla="*/ 62 w 248"/>
                <a:gd name="T53" fmla="*/ 85 h 144"/>
                <a:gd name="T54" fmla="*/ 61 w 248"/>
                <a:gd name="T55" fmla="*/ 86 h 144"/>
                <a:gd name="T56" fmla="*/ 51 w 248"/>
                <a:gd name="T57" fmla="*/ 93 h 144"/>
                <a:gd name="T58" fmla="*/ 9 w 248"/>
                <a:gd name="T59" fmla="*/ 124 h 144"/>
                <a:gd name="T60" fmla="*/ 4 w 248"/>
                <a:gd name="T61" fmla="*/ 128 h 144"/>
                <a:gd name="T62" fmla="*/ 3 w 248"/>
                <a:gd name="T63" fmla="*/ 140 h 144"/>
                <a:gd name="T64" fmla="*/ 11 w 248"/>
                <a:gd name="T65" fmla="*/ 143 h 144"/>
                <a:gd name="T66" fmla="*/ 15 w 248"/>
                <a:gd name="T67" fmla="*/ 142 h 144"/>
                <a:gd name="T68" fmla="*/ 51 w 248"/>
                <a:gd name="T69" fmla="*/ 114 h 144"/>
                <a:gd name="T70" fmla="*/ 61 w 248"/>
                <a:gd name="T71" fmla="*/ 107 h 144"/>
                <a:gd name="T72" fmla="*/ 62 w 248"/>
                <a:gd name="T73" fmla="*/ 107 h 144"/>
                <a:gd name="T74" fmla="*/ 94 w 248"/>
                <a:gd name="T75" fmla="*/ 82 h 144"/>
                <a:gd name="T76" fmla="*/ 98 w 248"/>
                <a:gd name="T77" fmla="*/ 80 h 144"/>
                <a:gd name="T78" fmla="*/ 104 w 248"/>
                <a:gd name="T79" fmla="*/ 75 h 144"/>
                <a:gd name="T80" fmla="*/ 114 w 248"/>
                <a:gd name="T81" fmla="*/ 67 h 144"/>
                <a:gd name="T82" fmla="*/ 127 w 248"/>
                <a:gd name="T83" fmla="*/ 57 h 144"/>
                <a:gd name="T84" fmla="*/ 136 w 248"/>
                <a:gd name="T85" fmla="*/ 66 h 144"/>
                <a:gd name="T86" fmla="*/ 146 w 248"/>
                <a:gd name="T87" fmla="*/ 76 h 144"/>
                <a:gd name="T88" fmla="*/ 150 w 248"/>
                <a:gd name="T89" fmla="*/ 79 h 144"/>
                <a:gd name="T90" fmla="*/ 151 w 248"/>
                <a:gd name="T91" fmla="*/ 81 h 144"/>
                <a:gd name="T92" fmla="*/ 162 w 248"/>
                <a:gd name="T93" fmla="*/ 82 h 144"/>
                <a:gd name="T94" fmla="*/ 166 w 248"/>
                <a:gd name="T95" fmla="*/ 79 h 144"/>
                <a:gd name="T96" fmla="*/ 179 w 248"/>
                <a:gd name="T97" fmla="*/ 69 h 144"/>
                <a:gd name="T98" fmla="*/ 189 w 248"/>
                <a:gd name="T99" fmla="*/ 61 h 144"/>
                <a:gd name="T100" fmla="*/ 202 w 248"/>
                <a:gd name="T101" fmla="*/ 51 h 144"/>
                <a:gd name="T102" fmla="*/ 230 w 248"/>
                <a:gd name="T103" fmla="*/ 27 h 144"/>
                <a:gd name="T104" fmla="*/ 231 w 248"/>
                <a:gd name="T105" fmla="*/ 26 h 144"/>
                <a:gd name="T106" fmla="*/ 231 w 248"/>
                <a:gd name="T107" fmla="*/ 46 h 144"/>
                <a:gd name="T108" fmla="*/ 239 w 248"/>
                <a:gd name="T109" fmla="*/ 54 h 144"/>
                <a:gd name="T110" fmla="*/ 248 w 248"/>
                <a:gd name="T111" fmla="*/ 46 h 144"/>
                <a:gd name="T112" fmla="*/ 248 w 248"/>
                <a:gd name="T113" fmla="*/ 8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48" h="144">
                  <a:moveTo>
                    <a:pt x="248" y="8"/>
                  </a:moveTo>
                  <a:cubicBezTo>
                    <a:pt x="248" y="6"/>
                    <a:pt x="247" y="4"/>
                    <a:pt x="245" y="2"/>
                  </a:cubicBezTo>
                  <a:cubicBezTo>
                    <a:pt x="243" y="1"/>
                    <a:pt x="241" y="0"/>
                    <a:pt x="239" y="0"/>
                  </a:cubicBezTo>
                  <a:cubicBezTo>
                    <a:pt x="230" y="0"/>
                    <a:pt x="230" y="0"/>
                    <a:pt x="230" y="0"/>
                  </a:cubicBezTo>
                  <a:cubicBezTo>
                    <a:pt x="200" y="0"/>
                    <a:pt x="200" y="0"/>
                    <a:pt x="200" y="0"/>
                  </a:cubicBezTo>
                  <a:cubicBezTo>
                    <a:pt x="199" y="0"/>
                    <a:pt x="198" y="0"/>
                    <a:pt x="197" y="1"/>
                  </a:cubicBezTo>
                  <a:cubicBezTo>
                    <a:pt x="197" y="1"/>
                    <a:pt x="196" y="1"/>
                    <a:pt x="196" y="1"/>
                  </a:cubicBezTo>
                  <a:cubicBezTo>
                    <a:pt x="193" y="2"/>
                    <a:pt x="191" y="5"/>
                    <a:pt x="191" y="8"/>
                  </a:cubicBezTo>
                  <a:cubicBezTo>
                    <a:pt x="191" y="12"/>
                    <a:pt x="194" y="15"/>
                    <a:pt x="197" y="16"/>
                  </a:cubicBezTo>
                  <a:cubicBezTo>
                    <a:pt x="198" y="17"/>
                    <a:pt x="199" y="17"/>
                    <a:pt x="200" y="17"/>
                  </a:cubicBezTo>
                  <a:cubicBezTo>
                    <a:pt x="210" y="17"/>
                    <a:pt x="210" y="17"/>
                    <a:pt x="210" y="17"/>
                  </a:cubicBezTo>
                  <a:cubicBezTo>
                    <a:pt x="215" y="17"/>
                    <a:pt x="215" y="17"/>
                    <a:pt x="215" y="17"/>
                  </a:cubicBezTo>
                  <a:cubicBezTo>
                    <a:pt x="206" y="24"/>
                    <a:pt x="206" y="24"/>
                    <a:pt x="206" y="24"/>
                  </a:cubicBezTo>
                  <a:cubicBezTo>
                    <a:pt x="189" y="39"/>
                    <a:pt x="189" y="39"/>
                    <a:pt x="189" y="39"/>
                  </a:cubicBezTo>
                  <a:cubicBezTo>
                    <a:pt x="179" y="47"/>
                    <a:pt x="179" y="47"/>
                    <a:pt x="179" y="47"/>
                  </a:cubicBezTo>
                  <a:cubicBezTo>
                    <a:pt x="166" y="57"/>
                    <a:pt x="166" y="57"/>
                    <a:pt x="166" y="57"/>
                  </a:cubicBezTo>
                  <a:cubicBezTo>
                    <a:pt x="158" y="63"/>
                    <a:pt x="158" y="63"/>
                    <a:pt x="158" y="63"/>
                  </a:cubicBezTo>
                  <a:cubicBezTo>
                    <a:pt x="150" y="55"/>
                    <a:pt x="150" y="55"/>
                    <a:pt x="150" y="55"/>
                  </a:cubicBezTo>
                  <a:cubicBezTo>
                    <a:pt x="146" y="52"/>
                    <a:pt x="146" y="52"/>
                    <a:pt x="146" y="52"/>
                  </a:cubicBezTo>
                  <a:cubicBezTo>
                    <a:pt x="136" y="42"/>
                    <a:pt x="136" y="42"/>
                    <a:pt x="136" y="42"/>
                  </a:cubicBezTo>
                  <a:cubicBezTo>
                    <a:pt x="134" y="40"/>
                    <a:pt x="134" y="40"/>
                    <a:pt x="134" y="40"/>
                  </a:cubicBezTo>
                  <a:cubicBezTo>
                    <a:pt x="131" y="37"/>
                    <a:pt x="127" y="36"/>
                    <a:pt x="123" y="39"/>
                  </a:cubicBezTo>
                  <a:cubicBezTo>
                    <a:pt x="114" y="46"/>
                    <a:pt x="114" y="46"/>
                    <a:pt x="114" y="46"/>
                  </a:cubicBezTo>
                  <a:cubicBezTo>
                    <a:pt x="104" y="54"/>
                    <a:pt x="104" y="54"/>
                    <a:pt x="104" y="54"/>
                  </a:cubicBezTo>
                  <a:cubicBezTo>
                    <a:pt x="97" y="58"/>
                    <a:pt x="97" y="58"/>
                    <a:pt x="97" y="58"/>
                  </a:cubicBezTo>
                  <a:cubicBezTo>
                    <a:pt x="94" y="61"/>
                    <a:pt x="94" y="61"/>
                    <a:pt x="94" y="61"/>
                  </a:cubicBezTo>
                  <a:cubicBezTo>
                    <a:pt x="62" y="85"/>
                    <a:pt x="62" y="85"/>
                    <a:pt x="62" y="85"/>
                  </a:cubicBezTo>
                  <a:cubicBezTo>
                    <a:pt x="61" y="86"/>
                    <a:pt x="61" y="86"/>
                    <a:pt x="61" y="86"/>
                  </a:cubicBezTo>
                  <a:cubicBezTo>
                    <a:pt x="51" y="93"/>
                    <a:pt x="51" y="93"/>
                    <a:pt x="51" y="93"/>
                  </a:cubicBezTo>
                  <a:cubicBezTo>
                    <a:pt x="9" y="124"/>
                    <a:pt x="9" y="124"/>
                    <a:pt x="9" y="124"/>
                  </a:cubicBezTo>
                  <a:cubicBezTo>
                    <a:pt x="4" y="128"/>
                    <a:pt x="4" y="128"/>
                    <a:pt x="4" y="128"/>
                  </a:cubicBezTo>
                  <a:cubicBezTo>
                    <a:pt x="1" y="131"/>
                    <a:pt x="0" y="136"/>
                    <a:pt x="3" y="140"/>
                  </a:cubicBezTo>
                  <a:cubicBezTo>
                    <a:pt x="5" y="143"/>
                    <a:pt x="8" y="144"/>
                    <a:pt x="11" y="143"/>
                  </a:cubicBezTo>
                  <a:cubicBezTo>
                    <a:pt x="12" y="143"/>
                    <a:pt x="14" y="143"/>
                    <a:pt x="15" y="142"/>
                  </a:cubicBezTo>
                  <a:cubicBezTo>
                    <a:pt x="51" y="114"/>
                    <a:pt x="51" y="114"/>
                    <a:pt x="51" y="114"/>
                  </a:cubicBezTo>
                  <a:cubicBezTo>
                    <a:pt x="61" y="107"/>
                    <a:pt x="61" y="107"/>
                    <a:pt x="61" y="107"/>
                  </a:cubicBezTo>
                  <a:cubicBezTo>
                    <a:pt x="62" y="107"/>
                    <a:pt x="62" y="107"/>
                    <a:pt x="62" y="107"/>
                  </a:cubicBezTo>
                  <a:cubicBezTo>
                    <a:pt x="94" y="82"/>
                    <a:pt x="94" y="82"/>
                    <a:pt x="94" y="82"/>
                  </a:cubicBezTo>
                  <a:cubicBezTo>
                    <a:pt x="98" y="80"/>
                    <a:pt x="98" y="80"/>
                    <a:pt x="98" y="80"/>
                  </a:cubicBezTo>
                  <a:cubicBezTo>
                    <a:pt x="104" y="75"/>
                    <a:pt x="104" y="75"/>
                    <a:pt x="104" y="75"/>
                  </a:cubicBezTo>
                  <a:cubicBezTo>
                    <a:pt x="114" y="67"/>
                    <a:pt x="114" y="67"/>
                    <a:pt x="114" y="67"/>
                  </a:cubicBezTo>
                  <a:cubicBezTo>
                    <a:pt x="127" y="57"/>
                    <a:pt x="127" y="57"/>
                    <a:pt x="127" y="57"/>
                  </a:cubicBezTo>
                  <a:cubicBezTo>
                    <a:pt x="136" y="66"/>
                    <a:pt x="136" y="66"/>
                    <a:pt x="136" y="66"/>
                  </a:cubicBezTo>
                  <a:cubicBezTo>
                    <a:pt x="146" y="76"/>
                    <a:pt x="146" y="76"/>
                    <a:pt x="146" y="76"/>
                  </a:cubicBezTo>
                  <a:cubicBezTo>
                    <a:pt x="150" y="79"/>
                    <a:pt x="150" y="79"/>
                    <a:pt x="150" y="79"/>
                  </a:cubicBezTo>
                  <a:cubicBezTo>
                    <a:pt x="151" y="81"/>
                    <a:pt x="151" y="81"/>
                    <a:pt x="151" y="81"/>
                  </a:cubicBezTo>
                  <a:cubicBezTo>
                    <a:pt x="154" y="84"/>
                    <a:pt x="159" y="84"/>
                    <a:pt x="162" y="82"/>
                  </a:cubicBezTo>
                  <a:cubicBezTo>
                    <a:pt x="166" y="79"/>
                    <a:pt x="166" y="79"/>
                    <a:pt x="166" y="79"/>
                  </a:cubicBezTo>
                  <a:cubicBezTo>
                    <a:pt x="179" y="69"/>
                    <a:pt x="179" y="69"/>
                    <a:pt x="179" y="69"/>
                  </a:cubicBezTo>
                  <a:cubicBezTo>
                    <a:pt x="189" y="61"/>
                    <a:pt x="189" y="61"/>
                    <a:pt x="189" y="61"/>
                  </a:cubicBezTo>
                  <a:cubicBezTo>
                    <a:pt x="202" y="51"/>
                    <a:pt x="202" y="51"/>
                    <a:pt x="202" y="51"/>
                  </a:cubicBezTo>
                  <a:cubicBezTo>
                    <a:pt x="230" y="27"/>
                    <a:pt x="230" y="27"/>
                    <a:pt x="230" y="27"/>
                  </a:cubicBezTo>
                  <a:cubicBezTo>
                    <a:pt x="231" y="26"/>
                    <a:pt x="231" y="26"/>
                    <a:pt x="231" y="26"/>
                  </a:cubicBezTo>
                  <a:cubicBezTo>
                    <a:pt x="231" y="46"/>
                    <a:pt x="231" y="46"/>
                    <a:pt x="231" y="46"/>
                  </a:cubicBezTo>
                  <a:cubicBezTo>
                    <a:pt x="231" y="50"/>
                    <a:pt x="234" y="54"/>
                    <a:pt x="239" y="54"/>
                  </a:cubicBezTo>
                  <a:cubicBezTo>
                    <a:pt x="244" y="54"/>
                    <a:pt x="248" y="50"/>
                    <a:pt x="248" y="46"/>
                  </a:cubicBezTo>
                  <a:lnTo>
                    <a:pt x="248" y="8"/>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a:bodyPr>
            <a:lstStyle/>
            <a:p>
              <a:pPr eaLnBrk="1" hangingPunct="1">
                <a:spcBef>
                  <a:spcPts val="0"/>
                </a:spcBef>
                <a:spcAft>
                  <a:spcPts val="0"/>
                </a:spcAft>
                <a:defRPr/>
              </a:pPr>
              <a:endParaRPr lang="zh-CN" altLang="en-US" sz="1800"/>
            </a:p>
          </p:txBody>
        </p:sp>
      </p:grpSp>
      <p:sp>
        <p:nvSpPr>
          <p:cNvPr id="28" name="六边形 27"/>
          <p:cNvSpPr/>
          <p:nvPr>
            <p:custDataLst>
              <p:tags r:id="rId8"/>
            </p:custDataLst>
          </p:nvPr>
        </p:nvSpPr>
        <p:spPr>
          <a:xfrm>
            <a:off x="4286250" y="4632325"/>
            <a:ext cx="1203325" cy="1052830"/>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b="1" dirty="0">
                <a:solidFill>
                  <a:schemeClr val="bg1"/>
                </a:solidFill>
                <a:latin typeface="+mj-lt"/>
              </a:rPr>
              <a:t>02</a:t>
            </a:r>
            <a:endParaRPr lang="zh-CN" altLang="en-US" sz="2400" b="1" dirty="0">
              <a:solidFill>
                <a:schemeClr val="bg1"/>
              </a:solidFill>
              <a:latin typeface="+mj-lt"/>
            </a:endParaRPr>
          </a:p>
        </p:txBody>
      </p:sp>
      <p:cxnSp>
        <p:nvCxnSpPr>
          <p:cNvPr id="36" name="直接连接符 35"/>
          <p:cNvCxnSpPr/>
          <p:nvPr>
            <p:custDataLst>
              <p:tags r:id="rId9"/>
            </p:custDataLst>
          </p:nvPr>
        </p:nvCxnSpPr>
        <p:spPr>
          <a:xfrm flipH="1">
            <a:off x="8138160" y="5142230"/>
            <a:ext cx="61277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文本框 36"/>
          <p:cNvSpPr txBox="1"/>
          <p:nvPr>
            <p:custDataLst>
              <p:tags r:id="rId10"/>
            </p:custDataLst>
          </p:nvPr>
        </p:nvSpPr>
        <p:spPr>
          <a:xfrm>
            <a:off x="8863330" y="4914900"/>
            <a:ext cx="2935605" cy="397866"/>
          </a:xfrm>
          <a:prstGeom prst="rect">
            <a:avLst/>
          </a:prstGeom>
          <a:noFill/>
        </p:spPr>
        <p:txBody>
          <a:bodyPr>
            <a:spAutoFit/>
          </a:bodyPr>
          <a:lstStyle/>
          <a:p>
            <a:pPr eaLnBrk="1" hangingPunct="1">
              <a:lnSpc>
                <a:spcPct val="120000"/>
              </a:lnSpc>
              <a:spcBef>
                <a:spcPts val="0"/>
              </a:spcBef>
              <a:spcAft>
                <a:spcPts val="0"/>
              </a:spcAft>
              <a:defRPr/>
            </a:pPr>
            <a:r>
              <a:rPr lang="zh-CN" altLang="en-US" dirty="0"/>
              <a:t>维护的问题很多</a:t>
            </a:r>
          </a:p>
        </p:txBody>
      </p:sp>
      <p:cxnSp>
        <p:nvCxnSpPr>
          <p:cNvPr id="31" name="直接连接符 30"/>
          <p:cNvCxnSpPr/>
          <p:nvPr>
            <p:custDataLst>
              <p:tags r:id="rId11"/>
            </p:custDataLst>
          </p:nvPr>
        </p:nvCxnSpPr>
        <p:spPr>
          <a:xfrm flipH="1">
            <a:off x="3673475" y="5161280"/>
            <a:ext cx="61277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文本框 31"/>
          <p:cNvSpPr txBox="1"/>
          <p:nvPr>
            <p:custDataLst>
              <p:tags r:id="rId12"/>
            </p:custDataLst>
          </p:nvPr>
        </p:nvSpPr>
        <p:spPr>
          <a:xfrm>
            <a:off x="1310640" y="4969510"/>
            <a:ext cx="2934970" cy="369332"/>
          </a:xfrm>
          <a:prstGeom prst="rect">
            <a:avLst/>
          </a:prstGeom>
          <a:noFill/>
        </p:spPr>
        <p:txBody>
          <a:bodyPr>
            <a:spAutoFit/>
          </a:bodyPr>
          <a:lstStyle/>
          <a:p>
            <a:pPr eaLnBrk="1" hangingPunct="1">
              <a:spcBef>
                <a:spcPts val="0"/>
              </a:spcBef>
              <a:spcAft>
                <a:spcPts val="0"/>
              </a:spcAft>
              <a:defRPr/>
            </a:pPr>
            <a:r>
              <a:rPr lang="zh-CN" altLang="en-US" dirty="0"/>
              <a:t>维护的代价高昂</a:t>
            </a:r>
          </a:p>
        </p:txBody>
      </p:sp>
    </p:spTree>
    <p:custDataLst>
      <p:tags r:id="rId1"/>
    </p:custDataLst>
  </p:cSld>
  <p:clrMapOvr>
    <a:masterClrMapping/>
  </p:clrMapOvr>
  <p:transition>
    <p:zoom/>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3082" name="MH_Text_2"/>
          <p:cNvSpPr>
            <a:spLocks noChangeArrowheads="1"/>
          </p:cNvSpPr>
          <p:nvPr/>
        </p:nvSpPr>
        <p:spPr bwMode="auto">
          <a:xfrm>
            <a:off x="809469" y="3456000"/>
            <a:ext cx="5286532" cy="3148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108000" tIns="108000" rIns="108000" bIns="10800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fontAlgn="auto">
              <a:lnSpc>
                <a:spcPct val="120000"/>
              </a:lnSpc>
              <a:defRPr/>
            </a:pPr>
            <a:r>
              <a:rPr lang="zh-CN" altLang="en-US" sz="1600" dirty="0">
                <a:latin typeface="+mj-ea"/>
                <a:ea typeface="+mj-ea"/>
              </a:rPr>
              <a:t>结构化维护</a:t>
            </a:r>
          </a:p>
          <a:p>
            <a:pPr indent="457200" algn="l" fontAlgn="auto">
              <a:lnSpc>
                <a:spcPct val="120000"/>
              </a:lnSpc>
              <a:defRPr/>
            </a:pPr>
            <a:r>
              <a:rPr lang="zh-CN" altLang="en-US" sz="1600" dirty="0"/>
              <a:t>定义：指在软件开发的早期阶段就应用了软件工程方法论，如需求分析、设计文档、模块化编程、版本控制、测试用例等，使得软件具有良好的可维护性。</a:t>
            </a:r>
          </a:p>
          <a:p>
            <a:pPr algn="l" fontAlgn="auto">
              <a:lnSpc>
                <a:spcPct val="120000"/>
              </a:lnSpc>
              <a:defRPr/>
            </a:pPr>
            <a:r>
              <a:rPr lang="zh-CN" altLang="en-US" sz="1600" dirty="0"/>
              <a:t>特点：</a:t>
            </a:r>
          </a:p>
          <a:p>
            <a:pPr indent="457200" algn="l" fontAlgn="auto">
              <a:lnSpc>
                <a:spcPct val="120000"/>
              </a:lnSpc>
              <a:defRPr/>
            </a:pPr>
            <a:r>
              <a:rPr lang="zh-CN" altLang="en-US" sz="1600" dirty="0"/>
              <a:t>维护工作量相对较少。</a:t>
            </a:r>
          </a:p>
          <a:p>
            <a:pPr indent="457200" algn="l" fontAlgn="auto">
              <a:lnSpc>
                <a:spcPct val="120000"/>
              </a:lnSpc>
              <a:defRPr/>
            </a:pPr>
            <a:r>
              <a:rPr lang="zh-CN" altLang="en-US" sz="1600" dirty="0"/>
              <a:t>维护质量更高；因为修改有据可依，不易引入新错误。</a:t>
            </a:r>
          </a:p>
          <a:p>
            <a:pPr indent="457200" algn="l" fontAlgn="auto">
              <a:lnSpc>
                <a:spcPct val="120000"/>
              </a:lnSpc>
              <a:defRPr/>
            </a:pPr>
            <a:r>
              <a:rPr lang="zh-CN" altLang="en-US" sz="1600" dirty="0"/>
              <a:t>依赖完整的文档和清晰的结构。</a:t>
            </a:r>
          </a:p>
          <a:p>
            <a:pPr indent="457200" algn="l" fontAlgn="auto">
              <a:lnSpc>
                <a:spcPct val="120000"/>
              </a:lnSpc>
              <a:defRPr/>
            </a:pPr>
            <a:r>
              <a:rPr lang="zh-CN" altLang="en-US" sz="1600" dirty="0"/>
              <a:t>是软件工程实践的必然结果。</a:t>
            </a:r>
            <a:endParaRPr lang="en-US" altLang="zh-CN" sz="1600" dirty="0"/>
          </a:p>
        </p:txBody>
      </p:sp>
      <p:cxnSp>
        <p:nvCxnSpPr>
          <p:cNvPr id="3083" name="MH_Other_5"/>
          <p:cNvCxnSpPr>
            <a:cxnSpLocks noChangeShapeType="1"/>
          </p:cNvCxnSpPr>
          <p:nvPr/>
        </p:nvCxnSpPr>
        <p:spPr bwMode="auto">
          <a:xfrm>
            <a:off x="577047" y="2695663"/>
            <a:ext cx="11037907" cy="0"/>
          </a:xfrm>
          <a:prstGeom prst="line">
            <a:avLst/>
          </a:prstGeom>
          <a:noFill/>
          <a:ln w="19050" algn="ctr">
            <a:solidFill>
              <a:srgbClr val="BFBFBF"/>
            </a:solidFill>
            <a:prstDash val="sysDash"/>
            <a:miter lim="800000"/>
          </a:ln>
        </p:spPr>
      </p:cxnSp>
      <p:sp>
        <p:nvSpPr>
          <p:cNvPr id="4" name="MH_Text_2"/>
          <p:cNvSpPr>
            <a:spLocks noChangeArrowheads="1"/>
          </p:cNvSpPr>
          <p:nvPr/>
        </p:nvSpPr>
        <p:spPr bwMode="auto">
          <a:xfrm>
            <a:off x="6096000" y="3456000"/>
            <a:ext cx="5286531" cy="3148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108000" tIns="108000" rIns="108000" bIns="108000">
            <a:spAutoFit/>
          </a:bodyPr>
          <a:lstStyle/>
          <a:p>
            <a:pPr>
              <a:lnSpc>
                <a:spcPct val="120000"/>
              </a:lnSpc>
            </a:pPr>
            <a:r>
              <a:rPr lang="zh-CN" altLang="en-US" sz="1600" dirty="0">
                <a:latin typeface="+mj-ea"/>
                <a:ea typeface="+mj-ea"/>
              </a:rPr>
              <a:t>非结构化维护</a:t>
            </a:r>
          </a:p>
          <a:p>
            <a:pPr indent="457200">
              <a:lnSpc>
                <a:spcPct val="120000"/>
              </a:lnSpc>
            </a:pPr>
            <a:r>
              <a:rPr lang="zh-CN" altLang="en-US" sz="1600" dirty="0"/>
              <a:t>定义：指软件在开发时缺乏系统化的工程方法，没有或仅有极少的文档，代码结构混乱，通常被称为“意大利面式代码”。</a:t>
            </a:r>
          </a:p>
          <a:p>
            <a:pPr>
              <a:lnSpc>
                <a:spcPct val="120000"/>
              </a:lnSpc>
            </a:pPr>
            <a:r>
              <a:rPr lang="zh-CN" altLang="en-US" sz="1600" dirty="0"/>
              <a:t>特点：</a:t>
            </a:r>
          </a:p>
          <a:p>
            <a:pPr indent="457200">
              <a:lnSpc>
                <a:spcPct val="120000"/>
              </a:lnSpc>
            </a:pPr>
            <a:r>
              <a:rPr lang="zh-CN" altLang="en-US" sz="1600" dirty="0"/>
              <a:t>维护工作量巨大，效率低下。</a:t>
            </a:r>
          </a:p>
          <a:p>
            <a:pPr indent="457200">
              <a:lnSpc>
                <a:spcPct val="120000"/>
              </a:lnSpc>
            </a:pPr>
            <a:r>
              <a:rPr lang="zh-CN" altLang="en-US" sz="1600" dirty="0"/>
              <a:t>维护质量难以保证，容易“牵一发而动全身”，引入新的错误。</a:t>
            </a:r>
          </a:p>
          <a:p>
            <a:pPr indent="457200">
              <a:lnSpc>
                <a:spcPct val="120000"/>
              </a:lnSpc>
            </a:pPr>
            <a:r>
              <a:rPr lang="zh-CN" altLang="en-US" sz="1600" dirty="0"/>
              <a:t>维护人员需要花费大量时间“逆向工程”来理解代码。</a:t>
            </a:r>
          </a:p>
          <a:p>
            <a:pPr indent="457200">
              <a:lnSpc>
                <a:spcPct val="120000"/>
              </a:lnSpc>
            </a:pPr>
            <a:r>
              <a:rPr lang="zh-CN" altLang="en-US" sz="1600" dirty="0"/>
              <a:t>是早期或缺乏规范的软件开发项目的常见问题。</a:t>
            </a:r>
            <a:endParaRPr lang="en-US" altLang="zh-CN" sz="1600" dirty="0"/>
          </a:p>
        </p:txBody>
      </p:sp>
      <p:sp>
        <p:nvSpPr>
          <p:cNvPr id="8" name="MH_Text_2">
            <a:extLst>
              <a:ext uri="{FF2B5EF4-FFF2-40B4-BE49-F238E27FC236}">
                <a16:creationId xmlns:a16="http://schemas.microsoft.com/office/drawing/2014/main" id="{9CC92966-A7F2-CF28-3C34-85F7FEDDA330}"/>
              </a:ext>
            </a:extLst>
          </p:cNvPr>
          <p:cNvSpPr>
            <a:spLocks noChangeArrowheads="1"/>
          </p:cNvSpPr>
          <p:nvPr/>
        </p:nvSpPr>
        <p:spPr bwMode="auto">
          <a:xfrm>
            <a:off x="838800" y="2695663"/>
            <a:ext cx="10543731" cy="7851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108000" tIns="108000" rIns="108000" bIns="10800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nSpc>
                <a:spcPct val="120000"/>
              </a:lnSpc>
              <a:defRPr/>
            </a:pPr>
            <a:r>
              <a:rPr lang="zh-CN" altLang="en-US" sz="1600" dirty="0"/>
              <a:t>结构化维护与非结构化维护是两种截然不同的维护模式，其核心区别在于软件开发过程是否遵循了系统化的工程方法。</a:t>
            </a:r>
            <a:endParaRPr lang="en-US" altLang="zh-CN" sz="1600" dirty="0"/>
          </a:p>
        </p:txBody>
      </p:sp>
      <p:sp>
        <p:nvSpPr>
          <p:cNvPr id="5" name="TextBox 6">
            <a:extLst>
              <a:ext uri="{FF2B5EF4-FFF2-40B4-BE49-F238E27FC236}">
                <a16:creationId xmlns:a16="http://schemas.microsoft.com/office/drawing/2014/main" id="{ADB628DF-B598-B4DF-B0D1-A2665547B9C4}"/>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pPr>
              <a:defRPr/>
            </a:pPr>
            <a:r>
              <a:rPr lang="en-US" altLang="zh-CN" sz="2400" dirty="0">
                <a:solidFill>
                  <a:schemeClr val="tx1"/>
                </a:solidFill>
              </a:rPr>
              <a:t>5.1.2 </a:t>
            </a:r>
            <a:r>
              <a:rPr lang="zh-CN" altLang="en-US" sz="2400" dirty="0">
                <a:solidFill>
                  <a:schemeClr val="tx1"/>
                </a:solidFill>
              </a:rPr>
              <a:t>软件维护的特点</a:t>
            </a:r>
          </a:p>
        </p:txBody>
      </p:sp>
      <p:sp>
        <p:nvSpPr>
          <p:cNvPr id="6" name="TextBox 1">
            <a:extLst>
              <a:ext uri="{FF2B5EF4-FFF2-40B4-BE49-F238E27FC236}">
                <a16:creationId xmlns:a16="http://schemas.microsoft.com/office/drawing/2014/main" id="{17CA2183-6A75-9402-9DBB-32E7C5642D45}"/>
              </a:ext>
            </a:extLst>
          </p:cNvPr>
          <p:cNvSpPr txBox="1">
            <a:spLocks noChangeArrowheads="1"/>
          </p:cNvSpPr>
          <p:nvPr/>
        </p:nvSpPr>
        <p:spPr bwMode="auto">
          <a:xfrm>
            <a:off x="809625" y="1995518"/>
            <a:ext cx="54373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01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7" name="直接连接符 6">
            <a:extLst>
              <a:ext uri="{FF2B5EF4-FFF2-40B4-BE49-F238E27FC236}">
                <a16:creationId xmlns:a16="http://schemas.microsoft.com/office/drawing/2014/main" id="{9D6EE640-4E0C-BCB1-8552-16052F651D3E}"/>
              </a:ext>
            </a:extLst>
          </p:cNvPr>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9" name="矩形 7">
            <a:extLst>
              <a:ext uri="{FF2B5EF4-FFF2-40B4-BE49-F238E27FC236}">
                <a16:creationId xmlns:a16="http://schemas.microsoft.com/office/drawing/2014/main" id="{EBF902D1-D795-D85B-B298-101E3A0AD1F7}"/>
              </a:ext>
            </a:extLst>
          </p:cNvPr>
          <p:cNvSpPr>
            <a:spLocks noChangeArrowheads="1"/>
          </p:cNvSpPr>
          <p:nvPr/>
        </p:nvSpPr>
        <p:spPr bwMode="auto">
          <a:xfrm>
            <a:off x="1262066" y="2090768"/>
            <a:ext cx="461359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结构化维护与非结构化维护差别巨大</a:t>
            </a:r>
          </a:p>
        </p:txBody>
      </p:sp>
    </p:spTree>
    <p:extLst>
      <p:ext uri="{BB962C8B-B14F-4D97-AF65-F5344CB8AC3E}">
        <p14:creationId xmlns:p14="http://schemas.microsoft.com/office/powerpoint/2010/main" val="3720849953"/>
      </p:ext>
    </p:extLst>
  </p:cSld>
  <p:clrMapOvr>
    <a:masterClrMapping/>
  </p:clrMapOvr>
  <p:transition>
    <p:zoom/>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altLang="zh-CN" dirty="0">
                <a:sym typeface="+mn-ea"/>
              </a:rPr>
              <a:t>5.1 </a:t>
            </a:r>
            <a:r>
              <a:rPr lang="zh-CN" altLang="en-US" dirty="0">
                <a:sym typeface="+mn-ea"/>
              </a:rPr>
              <a:t>软件维护</a:t>
            </a:r>
          </a:p>
        </p:txBody>
      </p:sp>
      <p:sp>
        <p:nvSpPr>
          <p:cNvPr id="27" name="TextBox 7"/>
          <p:cNvSpPr txBox="1"/>
          <p:nvPr/>
        </p:nvSpPr>
        <p:spPr>
          <a:xfrm>
            <a:off x="963930" y="2110740"/>
            <a:ext cx="1142365" cy="457200"/>
          </a:xfrm>
          <a:prstGeom prst="rect">
            <a:avLst/>
          </a:prstGeom>
          <a:noFill/>
        </p:spPr>
        <p:txBody>
          <a:bodyPr wrap="square" rtlCol="0">
            <a:spAutoFit/>
          </a:bodyPr>
          <a:lstStyle/>
          <a:p>
            <a:r>
              <a:rPr lang="zh-CN" altLang="en-US" sz="2400" dirty="0">
                <a:solidFill>
                  <a:schemeClr val="bg1"/>
                </a:solidFill>
                <a:sym typeface="+mn-ea"/>
              </a:rPr>
              <a:t>图 </a:t>
            </a:r>
            <a:r>
              <a:rPr lang="en-US" altLang="zh-CN" sz="2400" dirty="0">
                <a:solidFill>
                  <a:schemeClr val="bg1"/>
                </a:solidFill>
                <a:sym typeface="+mn-ea"/>
              </a:rPr>
              <a:t>5-2</a:t>
            </a:r>
            <a:endParaRPr lang="en-US" altLang="zh-CN" sz="2400" b="1" dirty="0">
              <a:solidFill>
                <a:schemeClr val="bg1"/>
              </a:solidFill>
              <a:latin typeface="微软雅黑" panose="020B0503020204020204" charset="-122"/>
              <a:ea typeface="微软雅黑" panose="020B0503020204020204" charset="-122"/>
              <a:sym typeface="+mn-ea"/>
            </a:endParaRPr>
          </a:p>
        </p:txBody>
      </p:sp>
      <p:sp>
        <p:nvSpPr>
          <p:cNvPr id="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pPr>
              <a:defRPr/>
            </a:pPr>
            <a:r>
              <a:rPr lang="en-US" altLang="zh-CN" sz="2400" dirty="0">
                <a:solidFill>
                  <a:schemeClr val="tx1"/>
                </a:solidFill>
              </a:rPr>
              <a:t>5.1.2 </a:t>
            </a:r>
            <a:r>
              <a:rPr lang="zh-CN" altLang="en-US" sz="2400" dirty="0">
                <a:solidFill>
                  <a:schemeClr val="tx1"/>
                </a:solidFill>
              </a:rPr>
              <a:t>软件维护的特点</a:t>
            </a:r>
          </a:p>
        </p:txBody>
      </p:sp>
      <p:sp>
        <p:nvSpPr>
          <p:cNvPr id="10" name="矩形 9">
            <a:extLst>
              <a:ext uri="{FF2B5EF4-FFF2-40B4-BE49-F238E27FC236}">
                <a16:creationId xmlns:a16="http://schemas.microsoft.com/office/drawing/2014/main" id="{9C41E5C7-6C74-82D2-D7F1-11F62C175C7A}"/>
              </a:ext>
            </a:extLst>
          </p:cNvPr>
          <p:cNvSpPr>
            <a:spLocks noChangeAspect="1"/>
          </p:cNvSpPr>
          <p:nvPr/>
        </p:nvSpPr>
        <p:spPr>
          <a:xfrm>
            <a:off x="879475" y="2880000"/>
            <a:ext cx="4996181" cy="3578860"/>
          </a:xfrm>
          <a:prstGeom prst="rect">
            <a:avLst/>
          </a:prstGeom>
          <a:solidFill>
            <a:schemeClr val="bg1">
              <a:lumMod val="95000"/>
            </a:schemeClr>
          </a:solidFill>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t" anchorCtr="0"/>
          <a:lstStyle/>
          <a:p>
            <a:pPr>
              <a:lnSpc>
                <a:spcPct val="120000"/>
              </a:lnSpc>
            </a:pPr>
            <a:r>
              <a:rPr lang="zh-CN" altLang="en-US" dirty="0"/>
              <a:t>图</a:t>
            </a:r>
            <a:r>
              <a:rPr lang="en-US" altLang="zh-CN" dirty="0"/>
              <a:t>5-2</a:t>
            </a:r>
            <a:r>
              <a:rPr lang="zh-CN" altLang="en-US" dirty="0"/>
              <a:t>右侧的流程：非结构化维护</a:t>
            </a:r>
            <a:endParaRPr lang="en-US" altLang="zh-CN" dirty="0"/>
          </a:p>
          <a:p>
            <a:pPr>
              <a:lnSpc>
                <a:spcPct val="120000"/>
              </a:lnSpc>
            </a:pPr>
            <a:r>
              <a:rPr lang="zh-CN" altLang="en-US" dirty="0"/>
              <a:t>所掌握的软件文件只有源程序，维护工作只能从分析源程序开始。源程序内部的注解和说明一般来讲不会很详尽，而软件结构、全程数据结构、系统接口、性能和设计约束等细微的特征往往很难完全搞清。在没有软件文档的情况下，维护工作往往要进行这种非结构化维护，并为此而付出代价。这种代价是由于没有使用良好的软件开发方法所造成的。</a:t>
            </a:r>
          </a:p>
        </p:txBody>
      </p:sp>
      <p:sp>
        <p:nvSpPr>
          <p:cNvPr id="11" name="矩形 10">
            <a:extLst>
              <a:ext uri="{FF2B5EF4-FFF2-40B4-BE49-F238E27FC236}">
                <a16:creationId xmlns:a16="http://schemas.microsoft.com/office/drawing/2014/main" id="{ADD73A2E-470C-28DB-2E16-AFE34497F009}"/>
              </a:ext>
            </a:extLst>
          </p:cNvPr>
          <p:cNvSpPr>
            <a:spLocks noChangeAspect="1"/>
          </p:cNvSpPr>
          <p:nvPr/>
        </p:nvSpPr>
        <p:spPr>
          <a:xfrm>
            <a:off x="6316345" y="140299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pic>
        <p:nvPicPr>
          <p:cNvPr id="12" name="图片 148">
            <a:extLst>
              <a:ext uri="{FF2B5EF4-FFF2-40B4-BE49-F238E27FC236}">
                <a16:creationId xmlns:a16="http://schemas.microsoft.com/office/drawing/2014/main" id="{57FC3AA0-0C78-5248-7771-4C93CFCE22CF}"/>
              </a:ext>
            </a:extLst>
          </p:cNvPr>
          <p:cNvPicPr>
            <a:picLocks noChangeAspect="1"/>
          </p:cNvPicPr>
          <p:nvPr/>
        </p:nvPicPr>
        <p:blipFill>
          <a:blip r:embed="rId3" cstate="print"/>
          <a:stretch>
            <a:fillRect/>
          </a:stretch>
        </p:blipFill>
        <p:spPr>
          <a:xfrm>
            <a:off x="6515735" y="1781133"/>
            <a:ext cx="4541520" cy="4299585"/>
          </a:xfrm>
          <a:prstGeom prst="rect">
            <a:avLst/>
          </a:prstGeom>
          <a:noFill/>
          <a:ln w="9525">
            <a:noFill/>
          </a:ln>
        </p:spPr>
      </p:pic>
      <p:sp>
        <p:nvSpPr>
          <p:cNvPr id="13" name="TextBox 1">
            <a:extLst>
              <a:ext uri="{FF2B5EF4-FFF2-40B4-BE49-F238E27FC236}">
                <a16:creationId xmlns:a16="http://schemas.microsoft.com/office/drawing/2014/main" id="{2F70F7A2-49A2-624B-BB99-D66DD250CB03}"/>
              </a:ext>
            </a:extLst>
          </p:cNvPr>
          <p:cNvSpPr txBox="1">
            <a:spLocks noChangeArrowheads="1"/>
          </p:cNvSpPr>
          <p:nvPr/>
        </p:nvSpPr>
        <p:spPr bwMode="auto">
          <a:xfrm>
            <a:off x="809625" y="1995518"/>
            <a:ext cx="54373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01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4" name="直接连接符 13">
            <a:extLst>
              <a:ext uri="{FF2B5EF4-FFF2-40B4-BE49-F238E27FC236}">
                <a16:creationId xmlns:a16="http://schemas.microsoft.com/office/drawing/2014/main" id="{6B9D1D2F-F911-F994-5B17-9A36BCC40971}"/>
              </a:ext>
            </a:extLst>
          </p:cNvPr>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7">
            <a:extLst>
              <a:ext uri="{FF2B5EF4-FFF2-40B4-BE49-F238E27FC236}">
                <a16:creationId xmlns:a16="http://schemas.microsoft.com/office/drawing/2014/main" id="{C12B2B25-168F-9F38-7C77-6C7F136A2082}"/>
              </a:ext>
            </a:extLst>
          </p:cNvPr>
          <p:cNvSpPr>
            <a:spLocks noChangeArrowheads="1"/>
          </p:cNvSpPr>
          <p:nvPr/>
        </p:nvSpPr>
        <p:spPr bwMode="auto">
          <a:xfrm>
            <a:off x="1262066" y="2090768"/>
            <a:ext cx="461359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结构化维护与非结构化维护差别巨大</a:t>
            </a:r>
          </a:p>
        </p:txBody>
      </p:sp>
    </p:spTree>
  </p:cSld>
  <p:clrMapOvr>
    <a:masterClrMapping/>
  </p:clrMapOvr>
  <p:transition>
    <p:zoom/>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84324-9D74-2881-C401-52D9BD470CB3}"/>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C8E148C-3F8D-F9AE-EE0A-5E1D5DB310D7}"/>
              </a:ext>
            </a:extLst>
          </p:cNvPr>
          <p:cNvSpPr>
            <a:spLocks noGrp="1"/>
          </p:cNvSpPr>
          <p:nvPr>
            <p:ph type="title"/>
          </p:nvPr>
        </p:nvSpPr>
        <p:spPr>
          <a:xfrm>
            <a:off x="838800" y="360000"/>
            <a:ext cx="8415337" cy="535531"/>
          </a:xfrm>
        </p:spPr>
        <p:txBody>
          <a:bodyPr/>
          <a:lstStyle/>
          <a:p>
            <a:r>
              <a:rPr lang="en-US" altLang="zh-CN" dirty="0">
                <a:sym typeface="+mn-ea"/>
              </a:rPr>
              <a:t>5.1 </a:t>
            </a:r>
            <a:r>
              <a:rPr lang="zh-CN" altLang="en-US" dirty="0">
                <a:sym typeface="+mn-ea"/>
              </a:rPr>
              <a:t>软件维护</a:t>
            </a:r>
          </a:p>
        </p:txBody>
      </p:sp>
      <p:sp>
        <p:nvSpPr>
          <p:cNvPr id="24" name="矩形 23">
            <a:extLst>
              <a:ext uri="{FF2B5EF4-FFF2-40B4-BE49-F238E27FC236}">
                <a16:creationId xmlns:a16="http://schemas.microsoft.com/office/drawing/2014/main" id="{7518778F-70AE-5392-7DB9-05906B9529DB}"/>
              </a:ext>
            </a:extLst>
          </p:cNvPr>
          <p:cNvSpPr>
            <a:spLocks noChangeAspect="1"/>
          </p:cNvSpPr>
          <p:nvPr/>
        </p:nvSpPr>
        <p:spPr>
          <a:xfrm>
            <a:off x="879475" y="2880000"/>
            <a:ext cx="4996181" cy="3578860"/>
          </a:xfrm>
          <a:prstGeom prst="rect">
            <a:avLst/>
          </a:prstGeom>
          <a:solidFill>
            <a:schemeClr val="bg1">
              <a:lumMod val="95000"/>
            </a:schemeClr>
          </a:solidFill>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t" anchorCtr="0"/>
          <a:lstStyle/>
          <a:p>
            <a:pPr>
              <a:lnSpc>
                <a:spcPct val="120000"/>
              </a:lnSpc>
            </a:pPr>
            <a:r>
              <a:rPr lang="zh-CN" altLang="en-US" dirty="0"/>
              <a:t>图</a:t>
            </a:r>
            <a:r>
              <a:rPr lang="en-US" altLang="zh-CN" dirty="0"/>
              <a:t>5-2</a:t>
            </a:r>
            <a:r>
              <a:rPr lang="zh-CN" altLang="en-US" dirty="0"/>
              <a:t>左侧的流程：结构化维护</a:t>
            </a:r>
            <a:endParaRPr lang="en-US" altLang="zh-CN" dirty="0"/>
          </a:p>
          <a:p>
            <a:pPr>
              <a:lnSpc>
                <a:spcPct val="120000"/>
              </a:lnSpc>
            </a:pPr>
            <a:r>
              <a:rPr lang="zh-CN" altLang="en-US" dirty="0"/>
              <a:t>有完整的软件文档，软件维护工作就可从分析软件文档开始，进而确定软件的结构特性、功能特性和接口特性，确定所要求的修改将会带来的影响并计划实施方法。然后修改设计、编写相应的源程序代码、对所做的修改进行复查，并利用在测试说明书中包含的信息重复过去的测试，以确保没有因修改而把错误引入到先前运行的软件中。最后，把修改后的软件再次交付使用。结构化维护能减少工作量并提高维护的总体质量。</a:t>
            </a:r>
          </a:p>
          <a:p>
            <a:pPr>
              <a:lnSpc>
                <a:spcPct val="120000"/>
              </a:lnSpc>
            </a:pPr>
            <a:endParaRPr lang="zh-CN" altLang="en-US" dirty="0"/>
          </a:p>
        </p:txBody>
      </p:sp>
      <p:sp>
        <p:nvSpPr>
          <p:cNvPr id="7" name="矩形 6">
            <a:extLst>
              <a:ext uri="{FF2B5EF4-FFF2-40B4-BE49-F238E27FC236}">
                <a16:creationId xmlns:a16="http://schemas.microsoft.com/office/drawing/2014/main" id="{D74A4C1F-3FBE-F311-07BF-E8366FD7C0B2}"/>
              </a:ext>
            </a:extLst>
          </p:cNvPr>
          <p:cNvSpPr>
            <a:spLocks noChangeAspect="1"/>
          </p:cNvSpPr>
          <p:nvPr/>
        </p:nvSpPr>
        <p:spPr>
          <a:xfrm>
            <a:off x="6316345" y="140299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pic>
        <p:nvPicPr>
          <p:cNvPr id="2" name="图片 148">
            <a:extLst>
              <a:ext uri="{FF2B5EF4-FFF2-40B4-BE49-F238E27FC236}">
                <a16:creationId xmlns:a16="http://schemas.microsoft.com/office/drawing/2014/main" id="{17A36AC1-FDA1-CD5E-786F-C56FFE70148E}"/>
              </a:ext>
            </a:extLst>
          </p:cNvPr>
          <p:cNvPicPr>
            <a:picLocks noChangeAspect="1"/>
          </p:cNvPicPr>
          <p:nvPr/>
        </p:nvPicPr>
        <p:blipFill>
          <a:blip r:embed="rId3" cstate="print"/>
          <a:stretch>
            <a:fillRect/>
          </a:stretch>
        </p:blipFill>
        <p:spPr>
          <a:xfrm>
            <a:off x="6515735" y="1781133"/>
            <a:ext cx="4541520" cy="4299585"/>
          </a:xfrm>
          <a:prstGeom prst="rect">
            <a:avLst/>
          </a:prstGeom>
          <a:noFill/>
          <a:ln w="9525">
            <a:noFill/>
          </a:ln>
        </p:spPr>
      </p:pic>
      <p:sp>
        <p:nvSpPr>
          <p:cNvPr id="9" name="TextBox 6">
            <a:extLst>
              <a:ext uri="{FF2B5EF4-FFF2-40B4-BE49-F238E27FC236}">
                <a16:creationId xmlns:a16="http://schemas.microsoft.com/office/drawing/2014/main" id="{D914BF48-F9F3-7236-44CD-9682D22823D2}"/>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pPr>
              <a:defRPr/>
            </a:pPr>
            <a:r>
              <a:rPr lang="en-US" altLang="zh-CN" sz="2400" dirty="0">
                <a:solidFill>
                  <a:schemeClr val="tx1"/>
                </a:solidFill>
              </a:rPr>
              <a:t>5.1.2 </a:t>
            </a:r>
            <a:r>
              <a:rPr lang="zh-CN" altLang="en-US" sz="2400" dirty="0">
                <a:solidFill>
                  <a:schemeClr val="tx1"/>
                </a:solidFill>
              </a:rPr>
              <a:t>软件维护的特点</a:t>
            </a:r>
          </a:p>
        </p:txBody>
      </p:sp>
      <p:sp>
        <p:nvSpPr>
          <p:cNvPr id="6" name="TextBox 7">
            <a:extLst>
              <a:ext uri="{FF2B5EF4-FFF2-40B4-BE49-F238E27FC236}">
                <a16:creationId xmlns:a16="http://schemas.microsoft.com/office/drawing/2014/main" id="{6BB449C4-CB6F-61AC-6B16-0CDF9A320386}"/>
              </a:ext>
            </a:extLst>
          </p:cNvPr>
          <p:cNvSpPr txBox="1"/>
          <p:nvPr/>
        </p:nvSpPr>
        <p:spPr>
          <a:xfrm>
            <a:off x="963930" y="2110740"/>
            <a:ext cx="1142365" cy="457200"/>
          </a:xfrm>
          <a:prstGeom prst="rect">
            <a:avLst/>
          </a:prstGeom>
          <a:noFill/>
        </p:spPr>
        <p:txBody>
          <a:bodyPr wrap="square" rtlCol="0">
            <a:spAutoFit/>
          </a:bodyPr>
          <a:lstStyle/>
          <a:p>
            <a:r>
              <a:rPr lang="zh-CN" altLang="en-US" sz="2400" dirty="0">
                <a:solidFill>
                  <a:schemeClr val="bg1"/>
                </a:solidFill>
                <a:sym typeface="+mn-ea"/>
              </a:rPr>
              <a:t>图 </a:t>
            </a:r>
            <a:r>
              <a:rPr lang="en-US" altLang="zh-CN" sz="2400" dirty="0">
                <a:solidFill>
                  <a:schemeClr val="bg1"/>
                </a:solidFill>
                <a:sym typeface="+mn-ea"/>
              </a:rPr>
              <a:t>5-2</a:t>
            </a:r>
            <a:endParaRPr lang="en-US" altLang="zh-CN" sz="2400" b="1" dirty="0">
              <a:solidFill>
                <a:schemeClr val="bg1"/>
              </a:solidFill>
              <a:latin typeface="微软雅黑" panose="020B0503020204020204" charset="-122"/>
              <a:ea typeface="微软雅黑" panose="020B0503020204020204" charset="-122"/>
              <a:sym typeface="+mn-ea"/>
            </a:endParaRPr>
          </a:p>
        </p:txBody>
      </p:sp>
      <p:sp>
        <p:nvSpPr>
          <p:cNvPr id="8" name="TextBox 1">
            <a:extLst>
              <a:ext uri="{FF2B5EF4-FFF2-40B4-BE49-F238E27FC236}">
                <a16:creationId xmlns:a16="http://schemas.microsoft.com/office/drawing/2014/main" id="{8EBFE814-B35E-B7AB-53C2-C9CE407DD586}"/>
              </a:ext>
            </a:extLst>
          </p:cNvPr>
          <p:cNvSpPr txBox="1">
            <a:spLocks noChangeArrowheads="1"/>
          </p:cNvSpPr>
          <p:nvPr/>
        </p:nvSpPr>
        <p:spPr bwMode="auto">
          <a:xfrm>
            <a:off x="809625" y="1995518"/>
            <a:ext cx="54373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01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0" name="直接连接符 9">
            <a:extLst>
              <a:ext uri="{FF2B5EF4-FFF2-40B4-BE49-F238E27FC236}">
                <a16:creationId xmlns:a16="http://schemas.microsoft.com/office/drawing/2014/main" id="{C8ADF567-54F6-E1C6-BF0A-F1476D34B1F7}"/>
              </a:ext>
            </a:extLst>
          </p:cNvPr>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1" name="矩形 7">
            <a:extLst>
              <a:ext uri="{FF2B5EF4-FFF2-40B4-BE49-F238E27FC236}">
                <a16:creationId xmlns:a16="http://schemas.microsoft.com/office/drawing/2014/main" id="{1718F458-C806-4D9B-BC8D-053BD222B1EB}"/>
              </a:ext>
            </a:extLst>
          </p:cNvPr>
          <p:cNvSpPr>
            <a:spLocks noChangeArrowheads="1"/>
          </p:cNvSpPr>
          <p:nvPr/>
        </p:nvSpPr>
        <p:spPr bwMode="auto">
          <a:xfrm>
            <a:off x="1262066" y="2090768"/>
            <a:ext cx="461359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结构化维护与非结构化维护差别巨大</a:t>
            </a:r>
          </a:p>
        </p:txBody>
      </p:sp>
    </p:spTree>
    <p:extLst>
      <p:ext uri="{BB962C8B-B14F-4D97-AF65-F5344CB8AC3E}">
        <p14:creationId xmlns:p14="http://schemas.microsoft.com/office/powerpoint/2010/main" val="2278720051"/>
      </p:ext>
    </p:extLst>
  </p:cSld>
  <p:clrMapOvr>
    <a:masterClrMapping/>
  </p:clrMapOvr>
  <p:transition>
    <p:zoom/>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altLang="zh-CN" dirty="0">
                <a:sym typeface="+mn-ea"/>
              </a:rPr>
              <a:t>5.1 </a:t>
            </a:r>
            <a:r>
              <a:rPr lang="zh-CN" altLang="en-US" dirty="0">
                <a:sym typeface="+mn-ea"/>
              </a:rPr>
              <a:t>软件维护</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pPr>
              <a:defRPr/>
            </a:pPr>
            <a:r>
              <a:rPr lang="en-US" altLang="zh-CN" sz="2400" dirty="0">
                <a:solidFill>
                  <a:schemeClr val="tx1"/>
                </a:solidFill>
              </a:rPr>
              <a:t>5.1.2 </a:t>
            </a:r>
            <a:r>
              <a:rPr lang="zh-CN" altLang="en-US" sz="2400" dirty="0">
                <a:solidFill>
                  <a:schemeClr val="tx1"/>
                </a:solidFill>
              </a:rPr>
              <a:t>软件维护的特点</a:t>
            </a:r>
          </a:p>
        </p:txBody>
      </p:sp>
      <p:sp>
        <p:nvSpPr>
          <p:cNvPr id="5" name="任意多边形 4"/>
          <p:cNvSpPr/>
          <p:nvPr/>
        </p:nvSpPr>
        <p:spPr>
          <a:xfrm rot="10800000">
            <a:off x="9128759" y="2272574"/>
            <a:ext cx="2195830" cy="4149725"/>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mn-ea"/>
              <a:cs typeface="+mn-cs"/>
            </a:endParaRPr>
          </a:p>
        </p:txBody>
      </p:sp>
      <p:sp>
        <p:nvSpPr>
          <p:cNvPr id="6" name="圆角矩形 5"/>
          <p:cNvSpPr/>
          <p:nvPr/>
        </p:nvSpPr>
        <p:spPr>
          <a:xfrm>
            <a:off x="917573" y="5578384"/>
            <a:ext cx="8640447"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r>
              <a:rPr lang="zh-CN" altLang="en-US" dirty="0">
                <a:solidFill>
                  <a:schemeClr val="tx1"/>
                </a:solidFill>
              </a:rPr>
              <a:t>每条指令的维护成本数十倍于每条指令的开发成本，造成生产率的大幅下降</a:t>
            </a:r>
          </a:p>
        </p:txBody>
      </p:sp>
      <p:sp>
        <p:nvSpPr>
          <p:cNvPr id="58" name="椭圆 57"/>
          <p:cNvSpPr/>
          <p:nvPr/>
        </p:nvSpPr>
        <p:spPr>
          <a:xfrm>
            <a:off x="8970009" y="5534569"/>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1" i="0" u="none" strike="noStrike" kern="1200" cap="none" spc="0" normalizeH="0" baseline="0" noProof="0" dirty="0">
                <a:ln>
                  <a:noFill/>
                </a:ln>
                <a:solidFill>
                  <a:schemeClr val="bg1"/>
                </a:solidFill>
                <a:effectLst/>
                <a:uLnTx/>
                <a:uFillTx/>
                <a:latin typeface="+mn-lt"/>
                <a:ea typeface="+mn-ea"/>
                <a:cs typeface="+mn-cs"/>
              </a:rPr>
              <a:t>5</a:t>
            </a:r>
            <a:endParaRPr kumimoji="0" lang="zh-CN" altLang="en-US" sz="2400" b="1" i="0" u="none" strike="noStrike" kern="1200" cap="none" spc="0" normalizeH="0" baseline="0" noProof="0" dirty="0">
              <a:ln>
                <a:noFill/>
              </a:ln>
              <a:solidFill>
                <a:schemeClr val="bg1"/>
              </a:solidFill>
              <a:effectLst/>
              <a:uLnTx/>
              <a:uFillTx/>
              <a:latin typeface="+mn-lt"/>
              <a:ea typeface="+mn-ea"/>
              <a:cs typeface="+mn-cs"/>
            </a:endParaRPr>
          </a:p>
        </p:txBody>
      </p:sp>
      <p:sp>
        <p:nvSpPr>
          <p:cNvPr id="59" name="圆角矩形 58"/>
          <p:cNvSpPr/>
          <p:nvPr/>
        </p:nvSpPr>
        <p:spPr>
          <a:xfrm>
            <a:off x="918208" y="4837974"/>
            <a:ext cx="9257032"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r>
              <a:rPr lang="zh-CN" altLang="en-US" dirty="0">
                <a:solidFill>
                  <a:schemeClr val="tx1"/>
                </a:solidFill>
              </a:rPr>
              <a:t>当必须把从事开发的软件人员调去从事维护工作时，将可能打乱软件开发过程</a:t>
            </a:r>
          </a:p>
        </p:txBody>
      </p:sp>
      <p:sp>
        <p:nvSpPr>
          <p:cNvPr id="60" name="椭圆 59"/>
          <p:cNvSpPr/>
          <p:nvPr/>
        </p:nvSpPr>
        <p:spPr>
          <a:xfrm>
            <a:off x="9599930" y="4794794"/>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1" i="0" u="none" strike="noStrike" kern="1200" cap="none" spc="0" normalizeH="0" baseline="0" noProof="0" dirty="0">
                <a:ln>
                  <a:noFill/>
                </a:ln>
                <a:solidFill>
                  <a:schemeClr val="bg1"/>
                </a:solidFill>
                <a:effectLst/>
                <a:uLnTx/>
                <a:uFillTx/>
                <a:latin typeface="+mn-lt"/>
                <a:ea typeface="+mn-ea"/>
                <a:cs typeface="+mn-cs"/>
              </a:rPr>
              <a:t>4</a:t>
            </a:r>
            <a:endParaRPr kumimoji="0" lang="zh-CN" altLang="en-US" sz="2400" b="1" i="0" u="none" strike="noStrike" kern="1200" cap="none" spc="0" normalizeH="0" baseline="0" noProof="0" dirty="0">
              <a:ln>
                <a:noFill/>
              </a:ln>
              <a:solidFill>
                <a:schemeClr val="bg1"/>
              </a:solidFill>
              <a:effectLst/>
              <a:uLnTx/>
              <a:uFillTx/>
              <a:latin typeface="+mn-lt"/>
              <a:ea typeface="+mn-ea"/>
              <a:cs typeface="+mn-cs"/>
            </a:endParaRPr>
          </a:p>
        </p:txBody>
      </p:sp>
      <p:sp>
        <p:nvSpPr>
          <p:cNvPr id="61" name="圆角矩形 60"/>
          <p:cNvSpPr/>
          <p:nvPr/>
        </p:nvSpPr>
        <p:spPr>
          <a:xfrm>
            <a:off x="918208" y="4102644"/>
            <a:ext cx="9406257"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r>
              <a:rPr lang="zh-CN" altLang="en-US" dirty="0">
                <a:solidFill>
                  <a:schemeClr val="tx1"/>
                </a:solidFill>
              </a:rPr>
              <a:t>在所维护的软件中，由于修改软件而引入潜伏的新的错误，导致软件质量下降</a:t>
            </a:r>
          </a:p>
        </p:txBody>
      </p:sp>
      <p:sp>
        <p:nvSpPr>
          <p:cNvPr id="62" name="圆角矩形 61"/>
          <p:cNvSpPr/>
          <p:nvPr/>
        </p:nvSpPr>
        <p:spPr>
          <a:xfrm>
            <a:off x="917573" y="3335564"/>
            <a:ext cx="9286877"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r>
              <a:rPr lang="zh-CN" altLang="en-US" dirty="0">
                <a:solidFill>
                  <a:schemeClr val="tx1"/>
                </a:solidFill>
              </a:rPr>
              <a:t>有关改错或修改的要求不能及时满足，引起用户不满</a:t>
            </a:r>
          </a:p>
        </p:txBody>
      </p:sp>
      <p:sp>
        <p:nvSpPr>
          <p:cNvPr id="63" name="椭圆 62"/>
          <p:cNvSpPr/>
          <p:nvPr/>
        </p:nvSpPr>
        <p:spPr>
          <a:xfrm>
            <a:off x="9640570" y="3289209"/>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1" i="0" u="none" strike="noStrike" kern="1200" cap="none" spc="0" normalizeH="0" baseline="0" noProof="0" dirty="0">
                <a:ln>
                  <a:noFill/>
                </a:ln>
                <a:solidFill>
                  <a:schemeClr val="bg1"/>
                </a:solidFill>
                <a:effectLst/>
                <a:uLnTx/>
                <a:uFillTx/>
                <a:latin typeface="+mn-lt"/>
                <a:ea typeface="+mn-ea"/>
                <a:cs typeface="+mn-cs"/>
              </a:rPr>
              <a:t>2</a:t>
            </a:r>
            <a:endParaRPr kumimoji="0" lang="zh-CN" altLang="en-US" sz="2400" b="1" i="0" u="none" strike="noStrike" kern="1200" cap="none" spc="0" normalizeH="0" baseline="0" noProof="0" dirty="0">
              <a:ln>
                <a:noFill/>
              </a:ln>
              <a:solidFill>
                <a:schemeClr val="bg1"/>
              </a:solidFill>
              <a:effectLst/>
              <a:uLnTx/>
              <a:uFillTx/>
              <a:latin typeface="+mn-lt"/>
              <a:ea typeface="+mn-ea"/>
              <a:cs typeface="+mn-cs"/>
            </a:endParaRPr>
          </a:p>
        </p:txBody>
      </p:sp>
      <p:sp>
        <p:nvSpPr>
          <p:cNvPr id="7" name="圆角矩形 6"/>
          <p:cNvSpPr/>
          <p:nvPr/>
        </p:nvSpPr>
        <p:spPr>
          <a:xfrm>
            <a:off x="918208" y="2595789"/>
            <a:ext cx="8661402"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defTabSz="9144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schemeClr val="tx1"/>
                </a:solidFill>
                <a:effectLst/>
                <a:uLnTx/>
                <a:uFillTx/>
                <a:latin typeface="+mn-lt"/>
                <a:ea typeface="+mn-ea"/>
                <a:cs typeface="+mn-cs"/>
              </a:rPr>
              <a:t>由于可用的资源必须供软件维护任务使用，导致耽误甚至丧失开发良机</a:t>
            </a:r>
          </a:p>
        </p:txBody>
      </p:sp>
      <p:sp>
        <p:nvSpPr>
          <p:cNvPr id="8" name="椭圆 7"/>
          <p:cNvSpPr/>
          <p:nvPr/>
        </p:nvSpPr>
        <p:spPr>
          <a:xfrm>
            <a:off x="8990329" y="2551339"/>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1" i="0" u="none" strike="noStrike" kern="1200" cap="none" spc="0" normalizeH="0" baseline="0" noProof="0" dirty="0">
                <a:ln>
                  <a:noFill/>
                </a:ln>
                <a:solidFill>
                  <a:schemeClr val="bg1"/>
                </a:solidFill>
                <a:effectLst/>
                <a:uLnTx/>
                <a:uFillTx/>
                <a:latin typeface="+mn-lt"/>
                <a:ea typeface="+mn-ea"/>
                <a:cs typeface="+mn-cs"/>
              </a:rPr>
              <a:t>1</a:t>
            </a:r>
            <a:endParaRPr kumimoji="0" lang="zh-CN" altLang="en-US" sz="2400" b="1" i="0" u="none" strike="noStrike" kern="1200" cap="none" spc="0" normalizeH="0" baseline="0" noProof="0" dirty="0">
              <a:ln>
                <a:noFill/>
              </a:ln>
              <a:solidFill>
                <a:schemeClr val="bg1"/>
              </a:solidFill>
              <a:effectLst/>
              <a:uLnTx/>
              <a:uFillTx/>
              <a:latin typeface="+mn-lt"/>
              <a:ea typeface="+mn-ea"/>
              <a:cs typeface="+mn-cs"/>
            </a:endParaRPr>
          </a:p>
        </p:txBody>
      </p:sp>
      <p:sp>
        <p:nvSpPr>
          <p:cNvPr id="76" name="椭圆 75"/>
          <p:cNvSpPr/>
          <p:nvPr/>
        </p:nvSpPr>
        <p:spPr>
          <a:xfrm>
            <a:off x="9755505" y="4080419"/>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1" i="0" u="none" strike="noStrike" kern="1200" cap="none" spc="0" normalizeH="0" baseline="0" noProof="0" dirty="0">
                <a:ln>
                  <a:noFill/>
                </a:ln>
                <a:solidFill>
                  <a:schemeClr val="bg1"/>
                </a:solidFill>
                <a:effectLst/>
                <a:uLnTx/>
                <a:uFillTx/>
                <a:latin typeface="+mn-lt"/>
                <a:ea typeface="+mn-ea"/>
                <a:cs typeface="+mn-cs"/>
              </a:rPr>
              <a:t>3</a:t>
            </a:r>
            <a:endParaRPr kumimoji="0" lang="zh-CN" altLang="en-US" sz="2400" b="1" i="0" u="none" strike="noStrike" kern="1200" cap="none" spc="0" normalizeH="0" baseline="0" noProof="0" dirty="0">
              <a:ln>
                <a:noFill/>
              </a:ln>
              <a:solidFill>
                <a:schemeClr val="bg1"/>
              </a:solidFill>
              <a:effectLst/>
              <a:uLnTx/>
              <a:uFillTx/>
              <a:latin typeface="+mn-lt"/>
              <a:ea typeface="+mn-ea"/>
              <a:cs typeface="+mn-cs"/>
            </a:endParaRPr>
          </a:p>
        </p:txBody>
      </p:sp>
      <p:sp>
        <p:nvSpPr>
          <p:cNvPr id="30" name="TextBox 1"/>
          <p:cNvSpPr txBox="1">
            <a:spLocks noChangeArrowheads="1"/>
          </p:cNvSpPr>
          <p:nvPr/>
        </p:nvSpPr>
        <p:spPr bwMode="auto">
          <a:xfrm>
            <a:off x="809625" y="1995518"/>
            <a:ext cx="54373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02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31" name="直接连接符 30"/>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2" name="矩形 7"/>
          <p:cNvSpPr>
            <a:spLocks noChangeArrowheads="1"/>
          </p:cNvSpPr>
          <p:nvPr/>
        </p:nvSpPr>
        <p:spPr bwMode="auto">
          <a:xfrm>
            <a:off x="1262066" y="2090768"/>
            <a:ext cx="268890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维护的代价高昂</a:t>
            </a:r>
          </a:p>
        </p:txBody>
      </p:sp>
    </p:spTree>
    <p:custDataLst>
      <p:tags r:id="rId1"/>
    </p:custDataLst>
  </p:cSld>
  <p:clrMapOvr>
    <a:masterClrMapping/>
  </p:clrMapOvr>
  <p:transition>
    <p:zoom/>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altLang="zh-CN" dirty="0">
                <a:sym typeface="+mn-ea"/>
              </a:rPr>
              <a:t>5.1 </a:t>
            </a:r>
            <a:r>
              <a:rPr lang="zh-CN" altLang="en-US" dirty="0">
                <a:sym typeface="+mn-ea"/>
              </a:rPr>
              <a:t>软件维护</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pPr>
              <a:defRPr/>
            </a:pPr>
            <a:r>
              <a:rPr lang="en-US" altLang="zh-CN" sz="2400" dirty="0">
                <a:solidFill>
                  <a:schemeClr val="tx1"/>
                </a:solidFill>
              </a:rPr>
              <a:t>5.1.2 </a:t>
            </a:r>
            <a:r>
              <a:rPr lang="zh-CN" altLang="en-US" sz="2400" dirty="0">
                <a:solidFill>
                  <a:schemeClr val="tx1"/>
                </a:solidFill>
              </a:rPr>
              <a:t>软件维护的特点</a:t>
            </a:r>
            <a:endParaRPr lang="zh-CN" altLang="en-US" sz="2400" dirty="0">
              <a:sym typeface="+mn-ea"/>
            </a:endParaRPr>
          </a:p>
        </p:txBody>
      </p:sp>
      <p:sp>
        <p:nvSpPr>
          <p:cNvPr id="15" name="MH_Other_1"/>
          <p:cNvSpPr>
            <a:spLocks noChangeArrowheads="1"/>
          </p:cNvSpPr>
          <p:nvPr>
            <p:custDataLst>
              <p:tags r:id="rId2"/>
            </p:custDataLst>
          </p:nvPr>
        </p:nvSpPr>
        <p:spPr bwMode="auto">
          <a:xfrm>
            <a:off x="754380" y="2918245"/>
            <a:ext cx="673100" cy="50482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16" name="MH_Other_2"/>
          <p:cNvSpPr>
            <a:spLocks noChangeArrowheads="1"/>
          </p:cNvSpPr>
          <p:nvPr>
            <p:custDataLst>
              <p:tags r:id="rId3"/>
            </p:custDataLst>
          </p:nvPr>
        </p:nvSpPr>
        <p:spPr bwMode="auto">
          <a:xfrm>
            <a:off x="1465580" y="3023020"/>
            <a:ext cx="533400" cy="40005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7" name="MH_Other_3"/>
          <p:cNvSpPr>
            <a:spLocks noChangeArrowheads="1"/>
          </p:cNvSpPr>
          <p:nvPr>
            <p:custDataLst>
              <p:tags r:id="rId4"/>
            </p:custDataLst>
          </p:nvPr>
        </p:nvSpPr>
        <p:spPr bwMode="auto">
          <a:xfrm>
            <a:off x="906780" y="3451645"/>
            <a:ext cx="520700" cy="39052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4"/>
          <p:cNvSpPr>
            <a:spLocks noChangeArrowheads="1"/>
          </p:cNvSpPr>
          <p:nvPr>
            <p:custDataLst>
              <p:tags r:id="rId5"/>
            </p:custDataLst>
          </p:nvPr>
        </p:nvSpPr>
        <p:spPr bwMode="auto">
          <a:xfrm>
            <a:off x="1465580" y="3451645"/>
            <a:ext cx="673100" cy="33337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SubTitle_1"/>
          <p:cNvSpPr/>
          <p:nvPr>
            <p:custDataLst>
              <p:tags r:id="rId6"/>
            </p:custDataLst>
          </p:nvPr>
        </p:nvSpPr>
        <p:spPr>
          <a:xfrm>
            <a:off x="2263775" y="2554115"/>
            <a:ext cx="3451225" cy="1115736"/>
          </a:xfrm>
          <a:prstGeom prst="rect">
            <a:avLst/>
          </a:prstGeom>
        </p:spPr>
        <p:txBody>
          <a:bodyPr wrap="square" lIns="72000" tIns="72000" rIns="72000" bIns="72000" anchor="ctr">
            <a:spAutoFit/>
          </a:bodyPr>
          <a:lstStyle/>
          <a:p>
            <a:pPr fontAlgn="auto">
              <a:lnSpc>
                <a:spcPct val="120000"/>
              </a:lnSpc>
              <a:defRPr/>
            </a:pPr>
            <a:r>
              <a:rPr lang="zh-CN" altLang="en-US" dirty="0">
                <a:sym typeface="+mn-ea"/>
              </a:rPr>
              <a:t>软件人员经常流动，因而当需要维护时，往往无法依赖开发者本人来对软件进行解释和说明。</a:t>
            </a:r>
          </a:p>
        </p:txBody>
      </p:sp>
      <p:sp>
        <p:nvSpPr>
          <p:cNvPr id="20" name="MH_Other_5"/>
          <p:cNvSpPr>
            <a:spLocks noChangeArrowheads="1"/>
          </p:cNvSpPr>
          <p:nvPr>
            <p:custDataLst>
              <p:tags r:id="rId7"/>
            </p:custDataLst>
          </p:nvPr>
        </p:nvSpPr>
        <p:spPr bwMode="auto">
          <a:xfrm>
            <a:off x="6207760" y="2918245"/>
            <a:ext cx="673100" cy="504825"/>
          </a:xfrm>
          <a:prstGeom prst="rect">
            <a:avLst/>
          </a:prstGeom>
          <a:solidFill>
            <a:srgbClr val="4FB46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03</a:t>
            </a:r>
            <a:endParaRPr lang="zh-CN" altLang="en-US" sz="2400" b="1" dirty="0">
              <a:solidFill>
                <a:srgbClr val="FFFFFF"/>
              </a:solidFill>
              <a:ea typeface="微软雅黑" panose="020B0503020204020204" charset="-122"/>
            </a:endParaRPr>
          </a:p>
        </p:txBody>
      </p:sp>
      <p:sp>
        <p:nvSpPr>
          <p:cNvPr id="23" name="MH_Other_6"/>
          <p:cNvSpPr>
            <a:spLocks noChangeArrowheads="1"/>
          </p:cNvSpPr>
          <p:nvPr>
            <p:custDataLst>
              <p:tags r:id="rId8"/>
            </p:custDataLst>
          </p:nvPr>
        </p:nvSpPr>
        <p:spPr bwMode="auto">
          <a:xfrm>
            <a:off x="6918960" y="3023020"/>
            <a:ext cx="533400" cy="40005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4" name="MH_Other_7"/>
          <p:cNvSpPr>
            <a:spLocks noChangeArrowheads="1"/>
          </p:cNvSpPr>
          <p:nvPr>
            <p:custDataLst>
              <p:tags r:id="rId9"/>
            </p:custDataLst>
          </p:nvPr>
        </p:nvSpPr>
        <p:spPr bwMode="auto">
          <a:xfrm>
            <a:off x="6360160" y="3451645"/>
            <a:ext cx="520700" cy="39052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5" name="MH_Other_8"/>
          <p:cNvSpPr>
            <a:spLocks noChangeArrowheads="1"/>
          </p:cNvSpPr>
          <p:nvPr>
            <p:custDataLst>
              <p:tags r:id="rId10"/>
            </p:custDataLst>
          </p:nvPr>
        </p:nvSpPr>
        <p:spPr bwMode="auto">
          <a:xfrm>
            <a:off x="6918960" y="3451645"/>
            <a:ext cx="673100" cy="33337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SubTitle_3"/>
          <p:cNvSpPr/>
          <p:nvPr>
            <p:custDataLst>
              <p:tags r:id="rId11"/>
            </p:custDataLst>
          </p:nvPr>
        </p:nvSpPr>
        <p:spPr>
          <a:xfrm>
            <a:off x="7931150" y="2554115"/>
            <a:ext cx="3451225" cy="1780534"/>
          </a:xfrm>
          <a:prstGeom prst="rect">
            <a:avLst/>
          </a:prstGeom>
        </p:spPr>
        <p:txBody>
          <a:bodyPr wrap="square" lIns="72000" tIns="72000" rIns="72000" bIns="72000" anchor="ctr">
            <a:spAutoFit/>
          </a:bodyPr>
          <a:lstStyle/>
          <a:p>
            <a:pPr fontAlgn="auto">
              <a:lnSpc>
                <a:spcPct val="120000"/>
              </a:lnSpc>
              <a:defRPr/>
            </a:pPr>
            <a:r>
              <a:rPr lang="zh-CN" altLang="en-US" dirty="0">
                <a:sym typeface="+mn-ea"/>
              </a:rPr>
              <a:t>需要维护的软件往往没有足够的、合格的文档。维护时仅有文档是不够的，容易理解的并且和程序代码完全一致的文档，才对维护真正有价值。</a:t>
            </a:r>
          </a:p>
        </p:txBody>
      </p:sp>
      <p:sp>
        <p:nvSpPr>
          <p:cNvPr id="28" name="MH_Other_9"/>
          <p:cNvSpPr>
            <a:spLocks noChangeArrowheads="1"/>
          </p:cNvSpPr>
          <p:nvPr>
            <p:custDataLst>
              <p:tags r:id="rId12"/>
            </p:custDataLst>
          </p:nvPr>
        </p:nvSpPr>
        <p:spPr bwMode="auto">
          <a:xfrm>
            <a:off x="754380" y="4565901"/>
            <a:ext cx="673100" cy="50482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30" name="MH_Other_10"/>
          <p:cNvSpPr>
            <a:spLocks noChangeArrowheads="1"/>
          </p:cNvSpPr>
          <p:nvPr>
            <p:custDataLst>
              <p:tags r:id="rId13"/>
            </p:custDataLst>
          </p:nvPr>
        </p:nvSpPr>
        <p:spPr bwMode="auto">
          <a:xfrm>
            <a:off x="1465580" y="4670676"/>
            <a:ext cx="533400" cy="40005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1" name="MH_Other_11"/>
          <p:cNvSpPr>
            <a:spLocks noChangeArrowheads="1"/>
          </p:cNvSpPr>
          <p:nvPr>
            <p:custDataLst>
              <p:tags r:id="rId14"/>
            </p:custDataLst>
          </p:nvPr>
        </p:nvSpPr>
        <p:spPr bwMode="auto">
          <a:xfrm>
            <a:off x="906780" y="5099301"/>
            <a:ext cx="520700" cy="39052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2" name="MH_Other_12"/>
          <p:cNvSpPr>
            <a:spLocks noChangeArrowheads="1"/>
          </p:cNvSpPr>
          <p:nvPr>
            <p:custDataLst>
              <p:tags r:id="rId15"/>
            </p:custDataLst>
          </p:nvPr>
        </p:nvSpPr>
        <p:spPr bwMode="auto">
          <a:xfrm>
            <a:off x="1465580" y="5099301"/>
            <a:ext cx="673100" cy="33337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3" name="MH_SubTitle_2"/>
          <p:cNvSpPr/>
          <p:nvPr>
            <p:custDataLst>
              <p:tags r:id="rId16"/>
            </p:custDataLst>
          </p:nvPr>
        </p:nvSpPr>
        <p:spPr>
          <a:xfrm>
            <a:off x="2263775" y="4404615"/>
            <a:ext cx="3451225" cy="1780534"/>
          </a:xfrm>
          <a:prstGeom prst="rect">
            <a:avLst/>
          </a:prstGeom>
        </p:spPr>
        <p:txBody>
          <a:bodyPr wrap="square" lIns="72000" tIns="72000" rIns="72000" bIns="72000" anchor="ctr">
            <a:spAutoFit/>
          </a:bodyPr>
          <a:lstStyle/>
          <a:p>
            <a:pPr lvl="0" algn="just">
              <a:lnSpc>
                <a:spcPct val="120000"/>
              </a:lnSpc>
              <a:spcBef>
                <a:spcPct val="0"/>
              </a:spcBef>
            </a:pPr>
            <a:r>
              <a:rPr lang="zh-CN" altLang="en-US" dirty="0">
                <a:sym typeface="+mn-ea"/>
              </a:rPr>
              <a:t>理解他人编写的程序往往是非常困难的，而且软件文档越少，维护难度越大。如果只有程序代码而没有说明文档，则将出现严重困难。</a:t>
            </a:r>
          </a:p>
        </p:txBody>
      </p:sp>
      <p:sp>
        <p:nvSpPr>
          <p:cNvPr id="35" name="MH_Other_5"/>
          <p:cNvSpPr>
            <a:spLocks noChangeArrowheads="1"/>
          </p:cNvSpPr>
          <p:nvPr>
            <p:custDataLst>
              <p:tags r:id="rId17"/>
            </p:custDataLst>
          </p:nvPr>
        </p:nvSpPr>
        <p:spPr bwMode="auto">
          <a:xfrm>
            <a:off x="6207760" y="4565901"/>
            <a:ext cx="673100" cy="504825"/>
          </a:xfrm>
          <a:prstGeom prst="rect">
            <a:avLst/>
          </a:prstGeom>
          <a:solidFill>
            <a:schemeClr val="accent4">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04</a:t>
            </a:r>
            <a:endParaRPr lang="zh-CN" altLang="en-US" sz="2400" b="1" dirty="0">
              <a:solidFill>
                <a:srgbClr val="FFFFFF"/>
              </a:solidFill>
              <a:ea typeface="微软雅黑" panose="020B0503020204020204" charset="-122"/>
            </a:endParaRPr>
          </a:p>
        </p:txBody>
      </p:sp>
      <p:sp>
        <p:nvSpPr>
          <p:cNvPr id="36" name="MH_Other_6"/>
          <p:cNvSpPr>
            <a:spLocks noChangeArrowheads="1"/>
          </p:cNvSpPr>
          <p:nvPr>
            <p:custDataLst>
              <p:tags r:id="rId18"/>
            </p:custDataLst>
          </p:nvPr>
        </p:nvSpPr>
        <p:spPr bwMode="auto">
          <a:xfrm>
            <a:off x="6918960" y="4670676"/>
            <a:ext cx="533400" cy="400050"/>
          </a:xfrm>
          <a:prstGeom prst="rect">
            <a:avLst/>
          </a:prstGeom>
          <a:solidFill>
            <a:schemeClr val="accent4">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7" name="MH_Other_7"/>
          <p:cNvSpPr>
            <a:spLocks noChangeArrowheads="1"/>
          </p:cNvSpPr>
          <p:nvPr>
            <p:custDataLst>
              <p:tags r:id="rId19"/>
            </p:custDataLst>
          </p:nvPr>
        </p:nvSpPr>
        <p:spPr bwMode="auto">
          <a:xfrm>
            <a:off x="6360160" y="5099301"/>
            <a:ext cx="520700" cy="390525"/>
          </a:xfrm>
          <a:prstGeom prst="rect">
            <a:avLst/>
          </a:prstGeom>
          <a:solidFill>
            <a:schemeClr val="accent4">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8" name="MH_Other_8"/>
          <p:cNvSpPr>
            <a:spLocks noChangeArrowheads="1"/>
          </p:cNvSpPr>
          <p:nvPr>
            <p:custDataLst>
              <p:tags r:id="rId20"/>
            </p:custDataLst>
          </p:nvPr>
        </p:nvSpPr>
        <p:spPr bwMode="auto">
          <a:xfrm>
            <a:off x="6918960" y="5099301"/>
            <a:ext cx="673100" cy="333375"/>
          </a:xfrm>
          <a:prstGeom prst="rect">
            <a:avLst/>
          </a:prstGeom>
          <a:solidFill>
            <a:schemeClr val="accent4">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9" name="MH_SubTitle_3"/>
          <p:cNvSpPr/>
          <p:nvPr>
            <p:custDataLst>
              <p:tags r:id="rId21"/>
            </p:custDataLst>
          </p:nvPr>
        </p:nvSpPr>
        <p:spPr>
          <a:xfrm>
            <a:off x="7931149" y="4404615"/>
            <a:ext cx="3329941" cy="1115736"/>
          </a:xfrm>
          <a:prstGeom prst="rect">
            <a:avLst/>
          </a:prstGeom>
        </p:spPr>
        <p:txBody>
          <a:bodyPr wrap="square" lIns="72000" tIns="72000" rIns="72000" bIns="72000" anchor="ctr">
            <a:spAutoFit/>
          </a:bodyPr>
          <a:lstStyle/>
          <a:p>
            <a:pPr fontAlgn="auto">
              <a:lnSpc>
                <a:spcPct val="120000"/>
              </a:lnSpc>
              <a:defRPr/>
            </a:pPr>
            <a:r>
              <a:rPr lang="zh-CN" altLang="en-US" dirty="0">
                <a:sym typeface="+mn-ea"/>
              </a:rPr>
              <a:t>由于维护工作十分困难，又容易受挫，因而难以成为一项吸引人的工作。</a:t>
            </a:r>
          </a:p>
        </p:txBody>
      </p:sp>
      <p:sp>
        <p:nvSpPr>
          <p:cNvPr id="42" name="TextBox 1"/>
          <p:cNvSpPr txBox="1">
            <a:spLocks noChangeArrowheads="1"/>
          </p:cNvSpPr>
          <p:nvPr/>
        </p:nvSpPr>
        <p:spPr bwMode="auto">
          <a:xfrm>
            <a:off x="809625" y="1995518"/>
            <a:ext cx="54373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03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43" name="直接连接符 42"/>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4" name="矩形 7"/>
          <p:cNvSpPr>
            <a:spLocks noChangeArrowheads="1"/>
          </p:cNvSpPr>
          <p:nvPr/>
        </p:nvSpPr>
        <p:spPr bwMode="auto">
          <a:xfrm>
            <a:off x="1262066" y="2090768"/>
            <a:ext cx="268890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维护的问题很多</a:t>
            </a:r>
          </a:p>
        </p:txBody>
      </p:sp>
    </p:spTree>
    <p:custDataLst>
      <p:tags r:id="rId1"/>
    </p:custDataLst>
  </p:cSld>
  <p:clrMapOvr>
    <a:masterClrMapping/>
  </p:clrMapOvr>
  <p:transition>
    <p:zoom/>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11" name="MH_Text_1"/>
          <p:cNvSpPr/>
          <p:nvPr>
            <p:custDataLst>
              <p:tags r:id="rId2"/>
            </p:custDataLst>
          </p:nvPr>
        </p:nvSpPr>
        <p:spPr bwMode="auto">
          <a:xfrm>
            <a:off x="1180213" y="2053824"/>
            <a:ext cx="9831574" cy="1521351"/>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108000" rIns="108000" bIns="108000" anchor="ctr">
            <a:spAutoFit/>
          </a:bodyPr>
          <a:lstStyle/>
          <a:p>
            <a:pPr indent="457200">
              <a:lnSpc>
                <a:spcPct val="120000"/>
              </a:lnSpc>
            </a:pPr>
            <a:r>
              <a:rPr dirty="0">
                <a:latin typeface="+mn-ea"/>
              </a:rPr>
              <a:t>软件维护过程实际上也是软件问题定义和开发的过程。维护活动和软件开发一样，要有严格的规范，才能保证质量。软件开发机构应建立维护组织，当用户需要软件维护时，应填写维护申请表，维护组织对此进行评价，安排维护活动，软件人员的维护过程要详细记录，并填写维护报告，最后要复审。</a:t>
            </a:r>
          </a:p>
        </p:txBody>
      </p:sp>
      <p:sp>
        <p:nvSpPr>
          <p:cNvPr id="12" name="MH_Text_2"/>
          <p:cNvSpPr/>
          <p:nvPr>
            <p:custDataLst>
              <p:tags r:id="rId3"/>
            </p:custDataLst>
          </p:nvPr>
        </p:nvSpPr>
        <p:spPr bwMode="auto">
          <a:xfrm>
            <a:off x="1180213" y="3731868"/>
            <a:ext cx="9831575" cy="2518547"/>
          </a:xfrm>
          <a:custGeom>
            <a:avLst/>
            <a:gdLst>
              <a:gd name="T0" fmla="*/ 0 w 3882059"/>
              <a:gd name="T1" fmla="*/ 0 h 805263"/>
              <a:gd name="T2" fmla="*/ 18915162 w 3882059"/>
              <a:gd name="T3" fmla="*/ 0 h 805263"/>
              <a:gd name="T4" fmla="*/ 18915162 w 3882059"/>
              <a:gd name="T5" fmla="*/ 12673192 h 805263"/>
              <a:gd name="T6" fmla="*/ 0 w 3882059"/>
              <a:gd name="T7" fmla="*/ 12673192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108000" rIns="108000" bIns="108000" anchor="ctr">
            <a:spAutoFit/>
          </a:bodyPr>
          <a:lstStyle/>
          <a:p>
            <a:pPr indent="457200">
              <a:lnSpc>
                <a:spcPct val="120000"/>
              </a:lnSpc>
            </a:pPr>
            <a:r>
              <a:rPr dirty="0" err="1">
                <a:latin typeface="+mn-ea"/>
              </a:rPr>
              <a:t>软件维护时，首先要确定维护属于哪种类型</a:t>
            </a:r>
            <a:r>
              <a:rPr dirty="0">
                <a:latin typeface="+mn-ea"/>
              </a:rPr>
              <a:t>。</a:t>
            </a:r>
            <a:endParaRPr lang="en-US" dirty="0">
              <a:latin typeface="+mn-ea"/>
            </a:endParaRPr>
          </a:p>
          <a:p>
            <a:pPr indent="457200">
              <a:lnSpc>
                <a:spcPct val="120000"/>
              </a:lnSpc>
            </a:pPr>
            <a:r>
              <a:rPr dirty="0">
                <a:latin typeface="+mn-ea"/>
              </a:rPr>
              <a:t>如果属于改正性维护，则需要评价其出错的严重性。如果错误严重，就进一步指定人员，在系统管理员的指导配合下，分析错误的原因，进行维护。对于不太严重的错误，则该项改正性维护和其他软件开发的任务一起统筹安排。</a:t>
            </a:r>
            <a:endParaRPr lang="en-US" dirty="0">
              <a:latin typeface="+mn-ea"/>
            </a:endParaRPr>
          </a:p>
          <a:p>
            <a:pPr indent="457200">
              <a:lnSpc>
                <a:spcPct val="120000"/>
              </a:lnSpc>
            </a:pPr>
            <a:r>
              <a:rPr dirty="0" err="1">
                <a:latin typeface="+mn-ea"/>
              </a:rPr>
              <a:t>如果属于完善性或适应性维护</a:t>
            </a:r>
            <a:r>
              <a:rPr dirty="0">
                <a:latin typeface="+mn-ea"/>
              </a:rPr>
              <a:t>，</a:t>
            </a:r>
            <a:r>
              <a:rPr lang="zh-CN" altLang="en-US" dirty="0">
                <a:latin typeface="+mn-ea"/>
              </a:rPr>
              <a:t>先</a:t>
            </a:r>
            <a:r>
              <a:rPr dirty="0">
                <a:latin typeface="+mn-ea"/>
              </a:rPr>
              <a:t>确定各个维护要求的优先次序，并安排所需工作时间。从其意图和目标来看，属于开发工作，因此可将其视为开发任务。如果某项维护要求的优先次序特别高，可立即开始维护工作。</a:t>
            </a:r>
          </a:p>
        </p:txBody>
      </p:sp>
    </p:spTree>
    <p:custDataLst>
      <p:tags r:id="rId1"/>
    </p:custDataLst>
  </p:cSld>
  <p:clrMapOvr>
    <a:masterClrMapping/>
  </p:clrMapOvr>
  <p:transition>
    <p:zoom/>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70794-01D7-6088-A926-EB5F4EE0A6C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DC19C45-C644-C04F-0E6E-78CC5F9844FB}"/>
              </a:ext>
            </a:extLst>
          </p:cNvPr>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a:extLst>
              <a:ext uri="{FF2B5EF4-FFF2-40B4-BE49-F238E27FC236}">
                <a16:creationId xmlns:a16="http://schemas.microsoft.com/office/drawing/2014/main" id="{FEBFB2BD-A9BF-BAB4-932F-6C09B4B88BB4}"/>
              </a:ext>
            </a:extLst>
          </p:cNvPr>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11" name="MH_Text_1">
            <a:extLst>
              <a:ext uri="{FF2B5EF4-FFF2-40B4-BE49-F238E27FC236}">
                <a16:creationId xmlns:a16="http://schemas.microsoft.com/office/drawing/2014/main" id="{BEF8F71E-FF71-0917-6082-0348F6293642}"/>
              </a:ext>
            </a:extLst>
          </p:cNvPr>
          <p:cNvSpPr/>
          <p:nvPr>
            <p:custDataLst>
              <p:tags r:id="rId2"/>
            </p:custDataLst>
          </p:nvPr>
        </p:nvSpPr>
        <p:spPr bwMode="auto">
          <a:xfrm>
            <a:off x="1180213" y="2386222"/>
            <a:ext cx="9831574" cy="856554"/>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108000" rIns="108000" bIns="108000" anchor="ctr">
            <a:spAutoFit/>
          </a:bodyPr>
          <a:lstStyle/>
          <a:p>
            <a:pPr indent="457200">
              <a:lnSpc>
                <a:spcPct val="120000"/>
              </a:lnSpc>
            </a:pPr>
            <a:r>
              <a:rPr lang="zh-CN" altLang="en-US" dirty="0">
                <a:latin typeface="+mn-ea"/>
              </a:rPr>
              <a:t>不管是改正性、完善性还是适应性维护，都需要进行同样的技术工作。</a:t>
            </a:r>
          </a:p>
          <a:p>
            <a:pPr indent="457200">
              <a:lnSpc>
                <a:spcPct val="120000"/>
              </a:lnSpc>
            </a:pPr>
            <a:r>
              <a:rPr lang="zh-CN" altLang="en-US" dirty="0">
                <a:latin typeface="+mn-ea"/>
              </a:rPr>
              <a:t>包括修改软件设计、对源程序进行修改、单元测试、组装、有效性测试及复审等。</a:t>
            </a:r>
          </a:p>
        </p:txBody>
      </p:sp>
      <p:sp>
        <p:nvSpPr>
          <p:cNvPr id="12" name="MH_Text_2">
            <a:extLst>
              <a:ext uri="{FF2B5EF4-FFF2-40B4-BE49-F238E27FC236}">
                <a16:creationId xmlns:a16="http://schemas.microsoft.com/office/drawing/2014/main" id="{7836A4D2-9E0D-ABD7-6C7A-9F255CFA1A12}"/>
              </a:ext>
            </a:extLst>
          </p:cNvPr>
          <p:cNvSpPr/>
          <p:nvPr>
            <p:custDataLst>
              <p:tags r:id="rId3"/>
            </p:custDataLst>
          </p:nvPr>
        </p:nvSpPr>
        <p:spPr bwMode="auto">
          <a:xfrm>
            <a:off x="1180213" y="4230466"/>
            <a:ext cx="9831575" cy="1521351"/>
          </a:xfrm>
          <a:custGeom>
            <a:avLst/>
            <a:gdLst>
              <a:gd name="T0" fmla="*/ 0 w 3882059"/>
              <a:gd name="T1" fmla="*/ 0 h 805263"/>
              <a:gd name="T2" fmla="*/ 18915162 w 3882059"/>
              <a:gd name="T3" fmla="*/ 0 h 805263"/>
              <a:gd name="T4" fmla="*/ 18915162 w 3882059"/>
              <a:gd name="T5" fmla="*/ 12673192 h 805263"/>
              <a:gd name="T6" fmla="*/ 0 w 3882059"/>
              <a:gd name="T7" fmla="*/ 12673192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108000" rIns="108000" bIns="108000" anchor="ctr">
            <a:spAutoFit/>
          </a:bodyPr>
          <a:lstStyle/>
          <a:p>
            <a:pPr indent="457200">
              <a:lnSpc>
                <a:spcPct val="120000"/>
              </a:lnSpc>
            </a:pPr>
            <a:r>
              <a:rPr lang="zh-CN" altLang="en-US" dirty="0">
                <a:latin typeface="+mn-ea"/>
              </a:rPr>
              <a:t>参加软件维护工作的人员并不是越多越好。</a:t>
            </a:r>
          </a:p>
          <a:p>
            <a:pPr indent="457200">
              <a:lnSpc>
                <a:spcPct val="120000"/>
              </a:lnSpc>
            </a:pPr>
            <a:r>
              <a:rPr lang="zh-CN" altLang="en-US" dirty="0">
                <a:latin typeface="+mn-ea"/>
              </a:rPr>
              <a:t>一般情况下，对需要维护的软件比较熟悉的人员，其维护工作的效率比较高。维护人员在维护过程中要做好详细的记录。对于不同类型的维护，其工作的侧重点会有所不同，但总的处理方法基本上是相同的。</a:t>
            </a:r>
          </a:p>
        </p:txBody>
      </p:sp>
    </p:spTree>
    <p:custDataLst>
      <p:tags r:id="rId1"/>
    </p:custDataLst>
    <p:extLst>
      <p:ext uri="{BB962C8B-B14F-4D97-AF65-F5344CB8AC3E}">
        <p14:creationId xmlns:p14="http://schemas.microsoft.com/office/powerpoint/2010/main" val="4141459783"/>
      </p:ext>
    </p:extLst>
  </p:cSld>
  <p:clrMapOvr>
    <a:masterClrMapping/>
  </p:clrMapOvr>
  <p:transition>
    <p:zoom/>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3077" name="MH_Text_1"/>
          <p:cNvSpPr>
            <a:spLocks noChangeArrowheads="1"/>
          </p:cNvSpPr>
          <p:nvPr/>
        </p:nvSpPr>
        <p:spPr bwMode="auto">
          <a:xfrm>
            <a:off x="1578824" y="2880000"/>
            <a:ext cx="8506460" cy="17274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20000"/>
              </a:lnSpc>
              <a:defRPr/>
            </a:pPr>
            <a:r>
              <a:rPr lang="en-US" altLang="zh-CN" dirty="0" err="1"/>
              <a:t>软件开发机构应当建立</a:t>
            </a:r>
            <a:r>
              <a:rPr lang="en-US" altLang="zh-CN" dirty="0" err="1">
                <a:latin typeface="+mj-ea"/>
                <a:ea typeface="+mj-ea"/>
              </a:rPr>
              <a:t>正式</a:t>
            </a:r>
            <a:r>
              <a:rPr lang="en-US" altLang="zh-CN" dirty="0" err="1"/>
              <a:t>的维护组织，或设立专门负责维护工作的非正式组织。维护组织由</a:t>
            </a:r>
            <a:r>
              <a:rPr lang="en-US" altLang="zh-CN" dirty="0" err="1">
                <a:latin typeface="+mj-ea"/>
                <a:ea typeface="+mj-ea"/>
              </a:rPr>
              <a:t>维护管理员</a:t>
            </a:r>
            <a:r>
              <a:rPr lang="en-US" altLang="zh-CN" dirty="0" err="1"/>
              <a:t>、</a:t>
            </a:r>
            <a:r>
              <a:rPr lang="en-US" altLang="zh-CN" dirty="0" err="1">
                <a:latin typeface="+mj-ea"/>
                <a:ea typeface="+mj-ea"/>
              </a:rPr>
              <a:t>系统管理员</a:t>
            </a:r>
            <a:r>
              <a:rPr lang="en-US" altLang="zh-CN" dirty="0" err="1"/>
              <a:t>、</a:t>
            </a:r>
            <a:r>
              <a:rPr lang="en-US" altLang="zh-CN" dirty="0" err="1">
                <a:latin typeface="+mj-ea"/>
                <a:ea typeface="+mj-ea"/>
              </a:rPr>
              <a:t>维护人员</a:t>
            </a:r>
            <a:r>
              <a:rPr lang="en-US" altLang="zh-CN" dirty="0" err="1"/>
              <a:t>组成</a:t>
            </a:r>
            <a:r>
              <a:rPr lang="en-US" altLang="zh-CN" dirty="0"/>
              <a:t>。</a:t>
            </a:r>
          </a:p>
          <a:p>
            <a:pPr indent="457200" algn="just" fontAlgn="auto">
              <a:lnSpc>
                <a:spcPct val="120000"/>
              </a:lnSpc>
              <a:defRPr/>
            </a:pPr>
            <a:r>
              <a:rPr lang="en-US" altLang="zh-CN" dirty="0"/>
              <a:t>系统管理员必须对软件产品程序或将被修改的那类程序相当熟悉。每当软件开发机构收到用户的维护申请后，交给负责此事的维护管理员，由他把维护申请交给系统管理员评价，再由维护人员决定如何进行修改。</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pic>
        <p:nvPicPr>
          <p:cNvPr id="428034" name="图片 1" descr="www.tuweimei.comComp_6852315_um7hk670Afe6IVuLfho4x4urYrm6Q6OA.jpg"/>
          <p:cNvPicPr>
            <a:picLocks noGrp="1" noChangeAspect="1"/>
          </p:cNvPicPr>
          <p:nvPr/>
        </p:nvPicPr>
        <p:blipFill>
          <a:blip r:embed="rId2" cstate="print"/>
          <a:stretch>
            <a:fillRect/>
          </a:stretch>
        </p:blipFill>
        <p:spPr>
          <a:xfrm>
            <a:off x="8259445" y="-13335"/>
            <a:ext cx="2857500" cy="2857500"/>
          </a:xfrm>
          <a:prstGeom prst="rect">
            <a:avLst/>
          </a:prstGeom>
          <a:noFill/>
          <a:ln w="9525">
            <a:noFill/>
          </a:ln>
        </p:spPr>
      </p:pic>
      <p:sp>
        <p:nvSpPr>
          <p:cNvPr id="5" name="MH_SubTitle_3">
            <a:extLst>
              <a:ext uri="{FF2B5EF4-FFF2-40B4-BE49-F238E27FC236}">
                <a16:creationId xmlns:a16="http://schemas.microsoft.com/office/drawing/2014/main" id="{41C0C6C2-F159-E369-04A8-36E4FD7667B6}"/>
              </a:ext>
            </a:extLst>
          </p:cNvPr>
          <p:cNvSpPr>
            <a:spLocks noChangeArrowheads="1"/>
          </p:cNvSpPr>
          <p:nvPr/>
        </p:nvSpPr>
        <p:spPr bwMode="auto">
          <a:xfrm>
            <a:off x="1478811" y="1970066"/>
            <a:ext cx="4572000" cy="600075"/>
          </a:xfrm>
          <a:prstGeom prst="rect">
            <a:avLst/>
          </a:prstGeom>
          <a:noFill/>
          <a:ln w="9525">
            <a:noFill/>
            <a:miter lim="800000"/>
          </a:ln>
        </p:spPr>
        <p:txBody>
          <a:bodyPr anchor="b"/>
          <a:lstStyle/>
          <a:p>
            <a:r>
              <a:rPr lang="zh-CN" altLang="en-US" sz="2000" b="1" dirty="0">
                <a:solidFill>
                  <a:srgbClr val="E26664"/>
                </a:solidFill>
                <a:latin typeface="Arial" panose="020B0604020202020204" pitchFamily="34" charset="0"/>
                <a:ea typeface="微软雅黑 Light" panose="020B0502040204020203" pitchFamily="34" charset="-122"/>
                <a:cs typeface="Arial" panose="020B0604020202020204" pitchFamily="34" charset="0"/>
              </a:rPr>
              <a:t>维护组织</a:t>
            </a:r>
          </a:p>
        </p:txBody>
      </p:sp>
      <p:sp>
        <p:nvSpPr>
          <p:cNvPr id="6" name="MH_Other_7">
            <a:extLst>
              <a:ext uri="{FF2B5EF4-FFF2-40B4-BE49-F238E27FC236}">
                <a16:creationId xmlns:a16="http://schemas.microsoft.com/office/drawing/2014/main" id="{B6C32234-F6C7-58F4-4B5C-79137376AB2C}"/>
              </a:ext>
            </a:extLst>
          </p:cNvPr>
          <p:cNvSpPr/>
          <p:nvPr/>
        </p:nvSpPr>
        <p:spPr>
          <a:xfrm>
            <a:off x="1410549" y="198594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p>
            <a:pPr algn="ctr"/>
            <a:endParaRPr lang="zh-CN" altLang="en-US" kern="0" dirty="0">
              <a:solidFill>
                <a:srgbClr val="FFFFFF"/>
              </a:solidFill>
              <a:latin typeface="Calibri" panose="020F0502020204030204"/>
              <a:ea typeface="微软雅黑 Light" panose="020B0502040204020203" pitchFamily="34" charset="-122"/>
            </a:endParaRPr>
          </a:p>
        </p:txBody>
      </p:sp>
      <p:cxnSp>
        <p:nvCxnSpPr>
          <p:cNvPr id="7" name="MH_Other_8">
            <a:extLst>
              <a:ext uri="{FF2B5EF4-FFF2-40B4-BE49-F238E27FC236}">
                <a16:creationId xmlns:a16="http://schemas.microsoft.com/office/drawing/2014/main" id="{44FDD4BA-86DD-B34C-D204-4D383B7BFE7E}"/>
              </a:ext>
            </a:extLst>
          </p:cNvPr>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8" name="MH_Other_9">
            <a:extLst>
              <a:ext uri="{FF2B5EF4-FFF2-40B4-BE49-F238E27FC236}">
                <a16:creationId xmlns:a16="http://schemas.microsoft.com/office/drawing/2014/main" id="{BD20F595-C804-88AA-82B3-EA79B4CC3FC1}"/>
              </a:ext>
            </a:extLst>
          </p:cNvPr>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defPPr>
              <a:defRPr lang="zh-CN"/>
            </a:defPPr>
            <a:lvl1pPr algn="ctr">
              <a:defRPr sz="4800" b="1">
                <a:solidFill>
                  <a:srgbClr val="E26664"/>
                </a:solidFill>
                <a:ea typeface="微软雅黑 Light" panose="020B0502040204020203" pitchFamily="34" charset="-122"/>
              </a:defRPr>
            </a:lvl1pPr>
          </a:lstStyle>
          <a:p>
            <a:r>
              <a:rPr lang="en-US" altLang="zh-CN" dirty="0"/>
              <a:t>01</a:t>
            </a:r>
          </a:p>
        </p:txBody>
      </p:sp>
    </p:spTree>
  </p:cSld>
  <p:clrMapOvr>
    <a:masterClrMapping/>
  </p:clrMapOvr>
  <p:transition>
    <p:zoom/>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3635" name="图片 2"/>
          <p:cNvPicPr>
            <a:picLocks noChangeAspect="1"/>
          </p:cNvPicPr>
          <p:nvPr/>
        </p:nvPicPr>
        <p:blipFill>
          <a:blip r:embed="rId2" cstate="print"/>
          <a:stretch>
            <a:fillRect/>
          </a:stretch>
        </p:blipFill>
        <p:spPr>
          <a:xfrm>
            <a:off x="9462135" y="-12700"/>
            <a:ext cx="2079625" cy="2773680"/>
          </a:xfrm>
          <a:prstGeom prst="rect">
            <a:avLst/>
          </a:prstGeom>
          <a:noFill/>
          <a:ln w="9525">
            <a:noFill/>
          </a:ln>
        </p:spPr>
      </p:pic>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3082" name="MH_Text_2"/>
          <p:cNvSpPr>
            <a:spLocks noChangeArrowheads="1"/>
          </p:cNvSpPr>
          <p:nvPr/>
        </p:nvSpPr>
        <p:spPr bwMode="auto">
          <a:xfrm>
            <a:off x="1360012" y="3625828"/>
            <a:ext cx="5226685" cy="3182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tIns="108000" rIns="108000" bIns="10800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defRPr/>
            </a:pPr>
            <a:r>
              <a:rPr lang="en-US" altLang="zh-CN" dirty="0"/>
              <a:t>1. </a:t>
            </a:r>
            <a:r>
              <a:rPr lang="en-US" altLang="zh-CN" dirty="0" err="1"/>
              <a:t>维护申请表</a:t>
            </a:r>
            <a:endParaRPr lang="en-US" altLang="zh-CN" dirty="0"/>
          </a:p>
          <a:p>
            <a:pPr indent="457200" algn="l" fontAlgn="auto">
              <a:lnSpc>
                <a:spcPct val="120000"/>
              </a:lnSpc>
              <a:defRPr/>
            </a:pPr>
            <a:r>
              <a:rPr lang="en-US" altLang="zh-CN" dirty="0"/>
              <a:t>软件开发机构的维护组织向用户提供空白的维护申请表，由要求维护的用户填写，该表应能完整描述软件产生错误的情况（包括输入数据、输出数据及其他有关信息）。</a:t>
            </a:r>
            <a:r>
              <a:rPr lang="en-US" altLang="zh-CN" dirty="0" err="1"/>
              <a:t>对于适应性或完善性的维护要求，则应提出简单明了的维护要求规格说明</a:t>
            </a:r>
            <a:r>
              <a:rPr lang="en-US" altLang="zh-CN" dirty="0"/>
              <a:t>。</a:t>
            </a:r>
          </a:p>
          <a:p>
            <a:pPr indent="457200" algn="l" fontAlgn="auto">
              <a:lnSpc>
                <a:spcPct val="120000"/>
              </a:lnSpc>
              <a:defRPr/>
            </a:pPr>
            <a:r>
              <a:rPr lang="en-US" altLang="zh-CN" dirty="0" err="1"/>
              <a:t>维护申请表由维护管理员和系统管理员负责研究处理</a:t>
            </a:r>
            <a:r>
              <a:rPr lang="en-US" altLang="zh-CN" dirty="0"/>
              <a:t>。</a:t>
            </a:r>
          </a:p>
        </p:txBody>
      </p:sp>
      <p:sp>
        <p:nvSpPr>
          <p:cNvPr id="4" name="MH_Text_2"/>
          <p:cNvSpPr>
            <a:spLocks noChangeArrowheads="1"/>
          </p:cNvSpPr>
          <p:nvPr/>
        </p:nvSpPr>
        <p:spPr bwMode="auto">
          <a:xfrm>
            <a:off x="6813559" y="3625828"/>
            <a:ext cx="4381292" cy="3182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108000" tIns="108000" rIns="108000" bIns="10800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defRPr/>
            </a:pPr>
            <a:r>
              <a:rPr lang="en-US" altLang="zh-CN" dirty="0"/>
              <a:t>2. </a:t>
            </a:r>
            <a:r>
              <a:rPr lang="en-US" altLang="zh-CN" dirty="0" err="1"/>
              <a:t>维护报告</a:t>
            </a:r>
            <a:endParaRPr lang="en-US" altLang="zh-CN" dirty="0"/>
          </a:p>
          <a:p>
            <a:pPr indent="457200" algn="l" fontAlgn="auto">
              <a:lnSpc>
                <a:spcPct val="120000"/>
              </a:lnSpc>
              <a:defRPr/>
            </a:pPr>
            <a:r>
              <a:rPr lang="en-US" altLang="zh-CN" dirty="0" err="1"/>
              <a:t>软件开发组织在收到用户的维护要求表后，维护管理员应写一份软件维护报告</a:t>
            </a:r>
            <a:r>
              <a:rPr lang="en-US" altLang="zh-CN" dirty="0"/>
              <a:t>。</a:t>
            </a:r>
            <a:r>
              <a:rPr lang="en-US" altLang="zh-CN" dirty="0" err="1"/>
              <a:t>该报告应包含下述内容</a:t>
            </a:r>
            <a:r>
              <a:rPr lang="en-US" altLang="zh-CN" dirty="0"/>
              <a:t>：</a:t>
            </a:r>
          </a:p>
          <a:p>
            <a:pPr marL="285750" indent="-285750" algn="l" fontAlgn="auto">
              <a:lnSpc>
                <a:spcPct val="120000"/>
              </a:lnSpc>
              <a:buFont typeface="Wingdings" panose="05000000000000000000" charset="0"/>
              <a:buChar char="Ø"/>
              <a:defRPr/>
            </a:pPr>
            <a:r>
              <a:rPr lang="en-US" altLang="zh-CN" dirty="0" err="1"/>
              <a:t>按照要求进行维护所需要的工作量</a:t>
            </a:r>
            <a:r>
              <a:rPr lang="en-US" altLang="zh-CN" dirty="0"/>
              <a:t>；</a:t>
            </a:r>
          </a:p>
          <a:p>
            <a:pPr marL="285750" indent="-285750" algn="l" fontAlgn="auto">
              <a:lnSpc>
                <a:spcPct val="120000"/>
              </a:lnSpc>
              <a:buFont typeface="Wingdings" panose="05000000000000000000" charset="0"/>
              <a:buChar char="Ø"/>
              <a:defRPr/>
            </a:pPr>
            <a:r>
              <a:rPr lang="en-US" altLang="zh-CN" dirty="0" err="1"/>
              <a:t>维护要求的性质</a:t>
            </a:r>
            <a:r>
              <a:rPr lang="en-US" altLang="zh-CN" dirty="0"/>
              <a:t>；</a:t>
            </a:r>
          </a:p>
          <a:p>
            <a:pPr marL="285750" indent="-285750" algn="l" fontAlgn="auto">
              <a:lnSpc>
                <a:spcPct val="120000"/>
              </a:lnSpc>
              <a:buFont typeface="Wingdings" panose="05000000000000000000" charset="0"/>
              <a:buChar char="Ø"/>
              <a:defRPr/>
            </a:pPr>
            <a:r>
              <a:rPr lang="en-US" altLang="zh-CN" dirty="0" err="1"/>
              <a:t>该项要求与其他维护要求相比的优先程度</a:t>
            </a:r>
            <a:r>
              <a:rPr lang="en-US" altLang="zh-CN" dirty="0"/>
              <a:t>；</a:t>
            </a:r>
          </a:p>
          <a:p>
            <a:pPr marL="285750" indent="-285750" algn="l" fontAlgn="auto">
              <a:lnSpc>
                <a:spcPct val="120000"/>
              </a:lnSpc>
              <a:buFont typeface="Wingdings" panose="05000000000000000000" charset="0"/>
              <a:buChar char="Ø"/>
              <a:defRPr/>
            </a:pPr>
            <a:r>
              <a:rPr lang="en-US" altLang="zh-CN" dirty="0" err="1"/>
              <a:t>预计软件维护后的状况</a:t>
            </a:r>
            <a:r>
              <a:rPr lang="en-US" altLang="zh-CN" dirty="0"/>
              <a:t>。</a:t>
            </a:r>
          </a:p>
        </p:txBody>
      </p:sp>
      <p:sp>
        <p:nvSpPr>
          <p:cNvPr id="8" name="MH_Text_2">
            <a:extLst>
              <a:ext uri="{FF2B5EF4-FFF2-40B4-BE49-F238E27FC236}">
                <a16:creationId xmlns:a16="http://schemas.microsoft.com/office/drawing/2014/main" id="{9CC92966-A7F2-CF28-3C34-85F7FEDDA330}"/>
              </a:ext>
            </a:extLst>
          </p:cNvPr>
          <p:cNvSpPr>
            <a:spLocks noChangeArrowheads="1"/>
          </p:cNvSpPr>
          <p:nvPr/>
        </p:nvSpPr>
        <p:spPr bwMode="auto">
          <a:xfrm>
            <a:off x="1360012" y="2797292"/>
            <a:ext cx="9834839" cy="856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108000" tIns="108000" rIns="108000" bIns="10800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nSpc>
                <a:spcPct val="120000"/>
              </a:lnSpc>
              <a:defRPr/>
            </a:pPr>
            <a:r>
              <a:rPr lang="en-US" altLang="zh-CN" dirty="0" err="1"/>
              <a:t>软件维护要有书面文件：用户填写</a:t>
            </a:r>
            <a:r>
              <a:rPr lang="en-US" altLang="zh-CN" dirty="0" err="1">
                <a:latin typeface="+mj-ea"/>
                <a:ea typeface="+mj-ea"/>
              </a:rPr>
              <a:t>维护申请表</a:t>
            </a:r>
            <a:r>
              <a:rPr lang="en-US" altLang="zh-CN" dirty="0" err="1"/>
              <a:t>、维护管理员填写</a:t>
            </a:r>
            <a:r>
              <a:rPr lang="en-US" altLang="zh-CN" dirty="0" err="1">
                <a:latin typeface="+mj-ea"/>
                <a:ea typeface="+mj-ea"/>
              </a:rPr>
              <a:t>维护报告</a:t>
            </a:r>
            <a:r>
              <a:rPr lang="en-US" altLang="zh-CN" dirty="0" err="1"/>
              <a:t>、维护人员填写</a:t>
            </a:r>
            <a:r>
              <a:rPr lang="en-US" altLang="zh-CN" dirty="0" err="1">
                <a:latin typeface="+mj-ea"/>
                <a:ea typeface="+mj-ea"/>
              </a:rPr>
              <a:t>维护记录</a:t>
            </a:r>
            <a:r>
              <a:rPr lang="en-US" altLang="zh-CN" dirty="0"/>
              <a:t>。</a:t>
            </a:r>
          </a:p>
        </p:txBody>
      </p:sp>
      <p:sp>
        <p:nvSpPr>
          <p:cNvPr id="5" name="MH_SubTitle_3">
            <a:extLst>
              <a:ext uri="{FF2B5EF4-FFF2-40B4-BE49-F238E27FC236}">
                <a16:creationId xmlns:a16="http://schemas.microsoft.com/office/drawing/2014/main" id="{8E134FF2-7F62-E5F1-DAA4-A42FDEA325B2}"/>
              </a:ext>
            </a:extLst>
          </p:cNvPr>
          <p:cNvSpPr>
            <a:spLocks noChangeArrowheads="1"/>
          </p:cNvSpPr>
          <p:nvPr/>
        </p:nvSpPr>
        <p:spPr bwMode="auto">
          <a:xfrm>
            <a:off x="1478811" y="1970066"/>
            <a:ext cx="4572000" cy="600075"/>
          </a:xfrm>
          <a:prstGeom prst="rect">
            <a:avLst/>
          </a:prstGeom>
          <a:noFill/>
          <a:ln w="9525">
            <a:noFill/>
            <a:miter lim="800000"/>
          </a:ln>
        </p:spPr>
        <p:txBody>
          <a:bodyPr anchor="b"/>
          <a:lstStyle/>
          <a:p>
            <a:pPr eaLnBrk="1" hangingPunct="1"/>
            <a:r>
              <a:rPr lang="zh-CN" altLang="en-US" sz="2000" b="1" dirty="0">
                <a:solidFill>
                  <a:schemeClr val="accent4">
                    <a:lumMod val="60000"/>
                    <a:lumOff val="40000"/>
                  </a:schemeClr>
                </a:solidFill>
                <a:latin typeface="Arial" panose="020B0604020202020204" pitchFamily="34" charset="0"/>
                <a:ea typeface="微软雅黑 Light" panose="020B0502040204020203" pitchFamily="34" charset="-122"/>
                <a:cs typeface="Arial" panose="020B0604020202020204" pitchFamily="34" charset="0"/>
              </a:rPr>
              <a:t>维护文件</a:t>
            </a:r>
          </a:p>
        </p:txBody>
      </p:sp>
      <p:sp>
        <p:nvSpPr>
          <p:cNvPr id="6" name="MH_Other_7">
            <a:extLst>
              <a:ext uri="{FF2B5EF4-FFF2-40B4-BE49-F238E27FC236}">
                <a16:creationId xmlns:a16="http://schemas.microsoft.com/office/drawing/2014/main" id="{955B15A9-6B98-55DE-CB22-2863B0106A34}"/>
              </a:ext>
            </a:extLst>
          </p:cNvPr>
          <p:cNvSpPr/>
          <p:nvPr/>
        </p:nvSpPr>
        <p:spPr>
          <a:xfrm>
            <a:off x="1410549" y="1985941"/>
            <a:ext cx="68262" cy="1320800"/>
          </a:xfrm>
          <a:prstGeom prst="rect">
            <a:avLst/>
          </a:prstGeom>
          <a:solidFill>
            <a:schemeClr val="accent4">
              <a:lumMod val="40000"/>
              <a:lumOff val="60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cxnSp>
        <p:nvCxnSpPr>
          <p:cNvPr id="7" name="MH_Other_8">
            <a:extLst>
              <a:ext uri="{FF2B5EF4-FFF2-40B4-BE49-F238E27FC236}">
                <a16:creationId xmlns:a16="http://schemas.microsoft.com/office/drawing/2014/main" id="{E8BF326A-8D2D-DDC9-300C-420166F14264}"/>
              </a:ext>
            </a:extLst>
          </p:cNvPr>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9" name="MH_Other_9">
            <a:extLst>
              <a:ext uri="{FF2B5EF4-FFF2-40B4-BE49-F238E27FC236}">
                <a16:creationId xmlns:a16="http://schemas.microsoft.com/office/drawing/2014/main" id="{1093AFDE-5004-95D6-8A55-5DE225DC900A}"/>
              </a:ext>
            </a:extLst>
          </p:cNvPr>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chemeClr val="accent4">
                    <a:lumMod val="60000"/>
                    <a:lumOff val="40000"/>
                  </a:schemeClr>
                </a:solidFill>
                <a:ea typeface="微软雅黑 Light" panose="020B0502040204020203" pitchFamily="34" charset="-122"/>
              </a:rPr>
              <a:t>02</a:t>
            </a:r>
          </a:p>
        </p:txBody>
      </p:sp>
    </p:spTree>
  </p:cSld>
  <p:clrMapOvr>
    <a:masterClrMapping/>
  </p:clrMapOvr>
  <p:transition>
    <p:zoom/>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3082" name="MH_Text_2"/>
          <p:cNvSpPr>
            <a:spLocks noChangeArrowheads="1"/>
          </p:cNvSpPr>
          <p:nvPr/>
        </p:nvSpPr>
        <p:spPr bwMode="auto">
          <a:xfrm>
            <a:off x="1387317" y="2890361"/>
            <a:ext cx="5265420" cy="29330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defRPr/>
            </a:pPr>
            <a:endParaRPr lang="en-US" altLang="zh-CN">
              <a:solidFill>
                <a:schemeClr val="tx1"/>
              </a:solidFill>
              <a:latin typeface="微软雅黑" panose="020B0503020204020204" charset="-122"/>
              <a:ea typeface="微软雅黑" panose="020B0503020204020204" charset="-122"/>
              <a:cs typeface="Arial" panose="020B0604020202020204" pitchFamily="34" charset="0"/>
            </a:endParaRPr>
          </a:p>
        </p:txBody>
      </p:sp>
      <p:sp>
        <p:nvSpPr>
          <p:cNvPr id="2" name="文本框 1"/>
          <p:cNvSpPr txBox="1"/>
          <p:nvPr/>
        </p:nvSpPr>
        <p:spPr>
          <a:xfrm>
            <a:off x="5681980" y="3887557"/>
            <a:ext cx="5997575" cy="2185636"/>
          </a:xfrm>
          <a:prstGeom prst="rect">
            <a:avLst/>
          </a:prstGeom>
          <a:noFill/>
        </p:spPr>
        <p:txBody>
          <a:bodyPr wrap="square" lIns="108000" tIns="108000" rIns="108000" bIns="108000" rtlCol="0">
            <a:spAutoFit/>
          </a:bodyPr>
          <a:lstStyle/>
          <a:p>
            <a:pPr marL="285750" indent="-285750" algn="l" fontAlgn="auto">
              <a:lnSpc>
                <a:spcPct val="120000"/>
              </a:lnSpc>
              <a:buFont typeface="Wingdings" panose="05000000000000000000" charset="0"/>
              <a:buChar char="Ø"/>
              <a:defRPr/>
            </a:pPr>
            <a:r>
              <a:rPr lang="en-US" altLang="zh-CN" dirty="0" err="1">
                <a:sym typeface="+mn-ea"/>
              </a:rPr>
              <a:t>修改程序所增加的源语行数、所删除的源语行数</a:t>
            </a:r>
            <a:r>
              <a:rPr lang="en-US" altLang="zh-CN" dirty="0">
                <a:sym typeface="+mn-ea"/>
              </a:rPr>
              <a:t>；</a:t>
            </a:r>
          </a:p>
          <a:p>
            <a:pPr marL="285750" indent="-285750" algn="l" fontAlgn="auto">
              <a:lnSpc>
                <a:spcPct val="120000"/>
              </a:lnSpc>
              <a:buFont typeface="Wingdings" panose="05000000000000000000" charset="0"/>
              <a:buChar char="Ø"/>
              <a:defRPr/>
            </a:pPr>
            <a:r>
              <a:rPr lang="en-US" altLang="zh-CN" dirty="0" err="1">
                <a:sym typeface="+mn-ea"/>
              </a:rPr>
              <a:t>各次修改耗费的人时数、累计用于维护的人时数</a:t>
            </a:r>
            <a:r>
              <a:rPr lang="en-US" altLang="zh-CN" dirty="0">
                <a:sym typeface="+mn-ea"/>
              </a:rPr>
              <a:t>；</a:t>
            </a:r>
          </a:p>
          <a:p>
            <a:pPr marL="285750" indent="-285750" algn="l" fontAlgn="auto">
              <a:lnSpc>
                <a:spcPct val="120000"/>
              </a:lnSpc>
              <a:buFont typeface="Wingdings" panose="05000000000000000000" charset="0"/>
              <a:buChar char="Ø"/>
              <a:defRPr/>
            </a:pPr>
            <a:r>
              <a:rPr lang="en-US" altLang="zh-CN" dirty="0" err="1">
                <a:sym typeface="+mn-ea"/>
              </a:rPr>
              <a:t>软件工程师的姓名</a:t>
            </a:r>
            <a:r>
              <a:rPr lang="en-US" altLang="zh-CN" dirty="0">
                <a:sym typeface="+mn-ea"/>
              </a:rPr>
              <a:t>；</a:t>
            </a:r>
          </a:p>
          <a:p>
            <a:pPr marL="285750" indent="-285750" algn="l" fontAlgn="auto">
              <a:lnSpc>
                <a:spcPct val="120000"/>
              </a:lnSpc>
              <a:buFont typeface="Wingdings" panose="05000000000000000000" charset="0"/>
              <a:buChar char="Ø"/>
              <a:defRPr/>
            </a:pPr>
            <a:r>
              <a:rPr lang="en-US" altLang="zh-CN" dirty="0" err="1">
                <a:sym typeface="+mn-ea"/>
              </a:rPr>
              <a:t>维护要求表的标识</a:t>
            </a:r>
            <a:r>
              <a:rPr lang="en-US" altLang="zh-CN" dirty="0">
                <a:sym typeface="+mn-ea"/>
              </a:rPr>
              <a:t>；</a:t>
            </a:r>
          </a:p>
          <a:p>
            <a:pPr marL="285750" indent="-285750" algn="l" fontAlgn="auto">
              <a:lnSpc>
                <a:spcPct val="120000"/>
              </a:lnSpc>
              <a:buFont typeface="Wingdings" panose="05000000000000000000" charset="0"/>
              <a:buChar char="Ø"/>
              <a:defRPr/>
            </a:pPr>
            <a:r>
              <a:rPr lang="en-US" altLang="zh-CN" dirty="0" err="1">
                <a:sym typeface="+mn-ea"/>
              </a:rPr>
              <a:t>维护开始和结束的日期</a:t>
            </a:r>
            <a:r>
              <a:rPr lang="en-US" altLang="zh-CN" dirty="0">
                <a:sym typeface="+mn-ea"/>
              </a:rPr>
              <a:t>；</a:t>
            </a:r>
          </a:p>
          <a:p>
            <a:pPr marL="285750" indent="-285750" algn="l" fontAlgn="auto">
              <a:lnSpc>
                <a:spcPct val="120000"/>
              </a:lnSpc>
              <a:buFont typeface="Wingdings" panose="05000000000000000000" charset="0"/>
              <a:buChar char="Ø"/>
              <a:defRPr/>
            </a:pPr>
            <a:r>
              <a:rPr lang="en-US" altLang="zh-CN" dirty="0" err="1">
                <a:sym typeface="+mn-ea"/>
              </a:rPr>
              <a:t>维护工作的净收益</a:t>
            </a:r>
            <a:r>
              <a:rPr lang="en-US" altLang="zh-CN" dirty="0">
                <a:sym typeface="+mn-ea"/>
              </a:rPr>
              <a:t>。</a:t>
            </a:r>
          </a:p>
        </p:txBody>
      </p:sp>
      <p:sp>
        <p:nvSpPr>
          <p:cNvPr id="4" name="MH_Text_2"/>
          <p:cNvSpPr>
            <a:spLocks noChangeArrowheads="1"/>
          </p:cNvSpPr>
          <p:nvPr/>
        </p:nvSpPr>
        <p:spPr bwMode="auto">
          <a:xfrm>
            <a:off x="1641317" y="2890361"/>
            <a:ext cx="5226685" cy="3182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tIns="108000" rIns="108000" bIns="10800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0" algn="l" fontAlgn="auto">
              <a:lnSpc>
                <a:spcPct val="120000"/>
              </a:lnSpc>
              <a:defRPr/>
            </a:pPr>
            <a:r>
              <a:rPr lang="en-US" altLang="zh-CN" dirty="0">
                <a:sym typeface="+mn-ea"/>
              </a:rPr>
              <a:t>3. </a:t>
            </a:r>
            <a:r>
              <a:rPr lang="en-US" altLang="zh-CN" dirty="0" err="1">
                <a:sym typeface="+mn-ea"/>
              </a:rPr>
              <a:t>维护记录</a:t>
            </a:r>
            <a:endParaRPr lang="en-US" altLang="zh-CN" dirty="0"/>
          </a:p>
          <a:p>
            <a:pPr indent="0" algn="l" fontAlgn="auto">
              <a:lnSpc>
                <a:spcPct val="120000"/>
              </a:lnSpc>
              <a:defRPr/>
            </a:pPr>
            <a:r>
              <a:rPr lang="en-US" altLang="zh-CN" dirty="0">
                <a:sym typeface="+mn-ea"/>
              </a:rPr>
              <a:t>维护记录可以包括如下内容：</a:t>
            </a:r>
            <a:endParaRPr lang="en-US" altLang="zh-CN" dirty="0"/>
          </a:p>
          <a:p>
            <a:pPr marL="285750" indent="-285750" algn="l" fontAlgn="auto">
              <a:lnSpc>
                <a:spcPct val="120000"/>
              </a:lnSpc>
              <a:buFont typeface="Wingdings" panose="05000000000000000000" charset="0"/>
              <a:buChar char="Ø"/>
              <a:defRPr/>
            </a:pPr>
            <a:r>
              <a:rPr lang="en-US" altLang="zh-CN" dirty="0">
                <a:sym typeface="+mn-ea"/>
              </a:rPr>
              <a:t>程序名称；</a:t>
            </a:r>
          </a:p>
          <a:p>
            <a:pPr marL="285750" indent="-285750" algn="l" fontAlgn="auto">
              <a:lnSpc>
                <a:spcPct val="120000"/>
              </a:lnSpc>
              <a:buFont typeface="Wingdings" panose="05000000000000000000" charset="0"/>
              <a:buChar char="Ø"/>
              <a:defRPr/>
            </a:pPr>
            <a:r>
              <a:rPr lang="en-US" altLang="zh-CN" dirty="0" err="1">
                <a:sym typeface="+mn-ea"/>
              </a:rPr>
              <a:t>维护类型</a:t>
            </a:r>
            <a:r>
              <a:rPr lang="en-US" altLang="zh-CN" dirty="0">
                <a:sym typeface="+mn-ea"/>
              </a:rPr>
              <a:t>；</a:t>
            </a:r>
          </a:p>
          <a:p>
            <a:pPr marL="285750" indent="-285750" algn="l" fontAlgn="auto">
              <a:lnSpc>
                <a:spcPct val="120000"/>
              </a:lnSpc>
              <a:buFont typeface="Wingdings" panose="05000000000000000000" charset="0"/>
              <a:buChar char="Ø"/>
              <a:defRPr/>
            </a:pPr>
            <a:r>
              <a:rPr lang="en-US" altLang="zh-CN" dirty="0" err="1">
                <a:sym typeface="+mn-ea"/>
              </a:rPr>
              <a:t>所用的编程语言</a:t>
            </a:r>
            <a:r>
              <a:rPr lang="en-US" altLang="zh-CN" dirty="0">
                <a:sym typeface="+mn-ea"/>
              </a:rPr>
              <a:t>；</a:t>
            </a:r>
          </a:p>
          <a:p>
            <a:pPr marL="285750" indent="-285750" algn="l" fontAlgn="auto">
              <a:lnSpc>
                <a:spcPct val="120000"/>
              </a:lnSpc>
              <a:buFont typeface="Wingdings" panose="05000000000000000000" charset="0"/>
              <a:buChar char="Ø"/>
              <a:defRPr/>
            </a:pPr>
            <a:r>
              <a:rPr lang="en-US" altLang="zh-CN" dirty="0" err="1">
                <a:sym typeface="+mn-ea"/>
              </a:rPr>
              <a:t>程序行数或机器指令条数</a:t>
            </a:r>
            <a:r>
              <a:rPr lang="en-US" altLang="zh-CN" dirty="0">
                <a:sym typeface="+mn-ea"/>
              </a:rPr>
              <a:t>；</a:t>
            </a:r>
          </a:p>
          <a:p>
            <a:pPr marL="285750" indent="-285750" algn="l" fontAlgn="auto">
              <a:lnSpc>
                <a:spcPct val="120000"/>
              </a:lnSpc>
              <a:buFont typeface="Wingdings" panose="05000000000000000000" charset="0"/>
              <a:buChar char="Ø"/>
              <a:defRPr/>
            </a:pPr>
            <a:r>
              <a:rPr lang="en-US" altLang="zh-CN" dirty="0" err="1">
                <a:sym typeface="+mn-ea"/>
              </a:rPr>
              <a:t>程序开始使用的日期</a:t>
            </a:r>
            <a:r>
              <a:rPr lang="en-US" altLang="zh-CN" dirty="0">
                <a:sym typeface="+mn-ea"/>
              </a:rPr>
              <a:t>；</a:t>
            </a:r>
          </a:p>
          <a:p>
            <a:pPr marL="285750" indent="-285750" algn="l" fontAlgn="auto">
              <a:lnSpc>
                <a:spcPct val="120000"/>
              </a:lnSpc>
              <a:buFont typeface="Wingdings" panose="05000000000000000000" charset="0"/>
              <a:buChar char="Ø"/>
              <a:defRPr/>
            </a:pPr>
            <a:r>
              <a:rPr lang="en-US" altLang="zh-CN" dirty="0" err="1">
                <a:sym typeface="+mn-ea"/>
              </a:rPr>
              <a:t>已运行次数、故障处理次数</a:t>
            </a:r>
            <a:r>
              <a:rPr lang="en-US" altLang="zh-CN" dirty="0">
                <a:sym typeface="+mn-ea"/>
              </a:rPr>
              <a:t>；</a:t>
            </a:r>
          </a:p>
          <a:p>
            <a:pPr marL="285750" indent="-285750" algn="l" fontAlgn="auto">
              <a:lnSpc>
                <a:spcPct val="120000"/>
              </a:lnSpc>
              <a:buFont typeface="Wingdings" panose="05000000000000000000" charset="0"/>
              <a:buChar char="Ø"/>
              <a:defRPr/>
            </a:pPr>
            <a:r>
              <a:rPr lang="en-US" altLang="zh-CN" dirty="0" err="1">
                <a:sym typeface="+mn-ea"/>
              </a:rPr>
              <a:t>程序改变的级别及名称</a:t>
            </a:r>
            <a:r>
              <a:rPr lang="en-US" altLang="zh-CN" dirty="0">
                <a:sym typeface="+mn-ea"/>
              </a:rPr>
              <a:t>；</a:t>
            </a:r>
            <a:endParaRPr lang="en-US" altLang="zh-CN" dirty="0"/>
          </a:p>
        </p:txBody>
      </p:sp>
      <p:pic>
        <p:nvPicPr>
          <p:cNvPr id="453635" name="图片 2"/>
          <p:cNvPicPr>
            <a:picLocks noChangeAspect="1"/>
          </p:cNvPicPr>
          <p:nvPr/>
        </p:nvPicPr>
        <p:blipFill>
          <a:blip r:embed="rId2" cstate="print"/>
          <a:stretch>
            <a:fillRect/>
          </a:stretch>
        </p:blipFill>
        <p:spPr>
          <a:xfrm>
            <a:off x="9469755" y="-1905"/>
            <a:ext cx="2072005" cy="2762885"/>
          </a:xfrm>
          <a:prstGeom prst="rect">
            <a:avLst/>
          </a:prstGeom>
          <a:noFill/>
          <a:ln w="9525">
            <a:noFill/>
          </a:ln>
        </p:spPr>
      </p:pic>
      <p:sp>
        <p:nvSpPr>
          <p:cNvPr id="11" name="MH_SubTitle_3">
            <a:extLst>
              <a:ext uri="{FF2B5EF4-FFF2-40B4-BE49-F238E27FC236}">
                <a16:creationId xmlns:a16="http://schemas.microsoft.com/office/drawing/2014/main" id="{FC1AA3B7-72E5-7802-5DDE-8302FBDAFFEA}"/>
              </a:ext>
            </a:extLst>
          </p:cNvPr>
          <p:cNvSpPr>
            <a:spLocks noChangeArrowheads="1"/>
          </p:cNvSpPr>
          <p:nvPr/>
        </p:nvSpPr>
        <p:spPr bwMode="auto">
          <a:xfrm>
            <a:off x="1478811" y="1970066"/>
            <a:ext cx="4572000" cy="600075"/>
          </a:xfrm>
          <a:prstGeom prst="rect">
            <a:avLst/>
          </a:prstGeom>
          <a:noFill/>
          <a:ln w="9525">
            <a:noFill/>
            <a:miter lim="800000"/>
          </a:ln>
        </p:spPr>
        <p:txBody>
          <a:bodyPr anchor="b"/>
          <a:lstStyle/>
          <a:p>
            <a:pPr eaLnBrk="1" hangingPunct="1"/>
            <a:r>
              <a:rPr lang="zh-CN" altLang="en-US" sz="2000" b="1" dirty="0">
                <a:solidFill>
                  <a:schemeClr val="accent4">
                    <a:lumMod val="60000"/>
                    <a:lumOff val="40000"/>
                  </a:schemeClr>
                </a:solidFill>
                <a:latin typeface="Arial" panose="020B0604020202020204" pitchFamily="34" charset="0"/>
                <a:ea typeface="微软雅黑 Light" panose="020B0502040204020203" pitchFamily="34" charset="-122"/>
                <a:cs typeface="Arial" panose="020B0604020202020204" pitchFamily="34" charset="0"/>
              </a:rPr>
              <a:t>维护文件</a:t>
            </a:r>
          </a:p>
        </p:txBody>
      </p:sp>
      <p:sp>
        <p:nvSpPr>
          <p:cNvPr id="12" name="MH_Other_7">
            <a:extLst>
              <a:ext uri="{FF2B5EF4-FFF2-40B4-BE49-F238E27FC236}">
                <a16:creationId xmlns:a16="http://schemas.microsoft.com/office/drawing/2014/main" id="{7C5BC864-8ABC-DA15-8288-DFD4DADE557B}"/>
              </a:ext>
            </a:extLst>
          </p:cNvPr>
          <p:cNvSpPr/>
          <p:nvPr/>
        </p:nvSpPr>
        <p:spPr>
          <a:xfrm>
            <a:off x="1410549" y="1985941"/>
            <a:ext cx="68262" cy="1320800"/>
          </a:xfrm>
          <a:prstGeom prst="rect">
            <a:avLst/>
          </a:prstGeom>
          <a:solidFill>
            <a:schemeClr val="accent4">
              <a:lumMod val="40000"/>
              <a:lumOff val="60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cxnSp>
        <p:nvCxnSpPr>
          <p:cNvPr id="13" name="MH_Other_8">
            <a:extLst>
              <a:ext uri="{FF2B5EF4-FFF2-40B4-BE49-F238E27FC236}">
                <a16:creationId xmlns:a16="http://schemas.microsoft.com/office/drawing/2014/main" id="{822F9881-83BA-6F4F-BF10-5DED6BA4E44B}"/>
              </a:ext>
            </a:extLst>
          </p:cNvPr>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14" name="MH_Other_9">
            <a:extLst>
              <a:ext uri="{FF2B5EF4-FFF2-40B4-BE49-F238E27FC236}">
                <a16:creationId xmlns:a16="http://schemas.microsoft.com/office/drawing/2014/main" id="{A18F14C6-AD3C-84C1-B15F-5D01F2C65240}"/>
              </a:ext>
            </a:extLst>
          </p:cNvPr>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chemeClr val="accent4">
                    <a:lumMod val="60000"/>
                    <a:lumOff val="40000"/>
                  </a:schemeClr>
                </a:solidFill>
                <a:ea typeface="微软雅黑 Light" panose="020B0502040204020203" pitchFamily="34" charset="-122"/>
              </a:rPr>
              <a:t>02</a:t>
            </a:r>
          </a:p>
        </p:txBody>
      </p:sp>
    </p:spTree>
  </p:cSld>
  <p:clrMapOvr>
    <a:masterClrMapping/>
  </p:clrMapOvr>
  <p:transition>
    <p:zoom/>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3087" name="MH_Text_3"/>
          <p:cNvSpPr>
            <a:spLocks noChangeArrowheads="1"/>
          </p:cNvSpPr>
          <p:nvPr/>
        </p:nvSpPr>
        <p:spPr bwMode="auto">
          <a:xfrm>
            <a:off x="1574378" y="2913041"/>
            <a:ext cx="10207695" cy="1853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tIns="108000" rIns="108000" bIns="108000">
            <a:spAutoFit/>
          </a:bodyPr>
          <a:lstStyle/>
          <a:p>
            <a:pPr algn="l" fontAlgn="auto">
              <a:lnSpc>
                <a:spcPct val="120000"/>
              </a:lnSpc>
              <a:defRPr/>
            </a:pPr>
            <a:r>
              <a:rPr lang="en-US" altLang="zh-CN" dirty="0" err="1"/>
              <a:t>维护工作流程如下</a:t>
            </a:r>
            <a:r>
              <a:rPr lang="en-US" altLang="zh-CN" dirty="0"/>
              <a:t>：</a:t>
            </a:r>
          </a:p>
          <a:p>
            <a:pPr algn="l" fontAlgn="auto">
              <a:lnSpc>
                <a:spcPct val="120000"/>
              </a:lnSpc>
              <a:defRPr/>
            </a:pPr>
            <a:r>
              <a:rPr lang="en-US" altLang="zh-CN" dirty="0"/>
              <a:t>1. </a:t>
            </a:r>
            <a:r>
              <a:rPr lang="en-US" altLang="zh-CN" dirty="0" err="1"/>
              <a:t>用户提出维护申请</a:t>
            </a:r>
            <a:r>
              <a:rPr lang="en-US" altLang="zh-CN" dirty="0"/>
              <a:t>。</a:t>
            </a:r>
          </a:p>
          <a:p>
            <a:pPr algn="l" fontAlgn="auto">
              <a:lnSpc>
                <a:spcPct val="120000"/>
              </a:lnSpc>
              <a:defRPr/>
            </a:pPr>
            <a:r>
              <a:rPr lang="en-US" altLang="zh-CN" dirty="0"/>
              <a:t>2. </a:t>
            </a:r>
            <a:r>
              <a:rPr lang="en-US" altLang="zh-CN" dirty="0" err="1"/>
              <a:t>维护组织审查申请报告并安排维护工作</a:t>
            </a:r>
            <a:r>
              <a:rPr lang="en-US" altLang="zh-CN" dirty="0"/>
              <a:t>。</a:t>
            </a:r>
          </a:p>
          <a:p>
            <a:pPr algn="l" fontAlgn="auto">
              <a:lnSpc>
                <a:spcPct val="120000"/>
              </a:lnSpc>
              <a:defRPr/>
            </a:pPr>
            <a:r>
              <a:rPr lang="en-US" altLang="zh-CN" dirty="0"/>
              <a:t>3. </a:t>
            </a:r>
            <a:r>
              <a:rPr lang="en-US" altLang="zh-CN" dirty="0" err="1"/>
              <a:t>进行维护并做详细的维护记录</a:t>
            </a:r>
            <a:r>
              <a:rPr lang="en-US" altLang="zh-CN" dirty="0"/>
              <a:t>。</a:t>
            </a:r>
          </a:p>
          <a:p>
            <a:pPr algn="l" fontAlgn="auto">
              <a:lnSpc>
                <a:spcPct val="120000"/>
              </a:lnSpc>
              <a:defRPr/>
            </a:pPr>
            <a:r>
              <a:rPr lang="en-US" altLang="zh-CN" dirty="0"/>
              <a:t>4. </a:t>
            </a:r>
            <a:r>
              <a:rPr lang="en-US" altLang="zh-CN" dirty="0" err="1"/>
              <a:t>复审</a:t>
            </a:r>
            <a:r>
              <a:rPr lang="en-US" altLang="zh-CN" dirty="0"/>
              <a:t>。</a:t>
            </a:r>
          </a:p>
        </p:txBody>
      </p:sp>
      <p:pic>
        <p:nvPicPr>
          <p:cNvPr id="2" name="图片 149"/>
          <p:cNvPicPr>
            <a:picLocks noChangeAspect="1"/>
          </p:cNvPicPr>
          <p:nvPr/>
        </p:nvPicPr>
        <p:blipFill>
          <a:blip r:embed="rId2" cstate="print">
            <a:clrChange>
              <a:clrFrom>
                <a:srgbClr val="FFFFFF"/>
              </a:clrFrom>
              <a:clrTo>
                <a:srgbClr val="FFFFFF">
                  <a:alpha val="0"/>
                </a:srgbClr>
              </a:clrTo>
            </a:clrChange>
          </a:blip>
          <a:stretch>
            <a:fillRect/>
          </a:stretch>
        </p:blipFill>
        <p:spPr>
          <a:xfrm>
            <a:off x="7024280" y="2561196"/>
            <a:ext cx="4020320" cy="3816104"/>
          </a:xfrm>
          <a:prstGeom prst="rect">
            <a:avLst/>
          </a:prstGeom>
          <a:noFill/>
          <a:ln w="9525">
            <a:noFill/>
          </a:ln>
        </p:spPr>
      </p:pic>
      <p:sp>
        <p:nvSpPr>
          <p:cNvPr id="9" name="MH_SubTitle_3">
            <a:extLst>
              <a:ext uri="{FF2B5EF4-FFF2-40B4-BE49-F238E27FC236}">
                <a16:creationId xmlns:a16="http://schemas.microsoft.com/office/drawing/2014/main" id="{51F240CE-A76C-399D-E161-3467471BCC9D}"/>
              </a:ext>
            </a:extLst>
          </p:cNvPr>
          <p:cNvSpPr>
            <a:spLocks noChangeArrowheads="1"/>
          </p:cNvSpPr>
          <p:nvPr/>
        </p:nvSpPr>
        <p:spPr bwMode="auto">
          <a:xfrm>
            <a:off x="1478811" y="1970066"/>
            <a:ext cx="4572000" cy="600075"/>
          </a:xfrm>
          <a:prstGeom prst="rect">
            <a:avLst/>
          </a:prstGeom>
          <a:noFill/>
          <a:ln w="9525">
            <a:noFill/>
            <a:miter lim="800000"/>
          </a:ln>
        </p:spPr>
        <p:txBody>
          <a:bodyPr anchor="b"/>
          <a:lstStyle/>
          <a:p>
            <a:pPr eaLnBrk="1" hangingPunct="1"/>
            <a:r>
              <a:rPr lang="zh-CN" altLang="en-US" sz="2000" b="1" dirty="0">
                <a:solidFill>
                  <a:schemeClr val="accent1"/>
                </a:solidFill>
                <a:latin typeface="Arial" panose="020B0604020202020204" pitchFamily="34" charset="0"/>
                <a:ea typeface="微软雅黑 Light" panose="020B0502040204020203" pitchFamily="34" charset="-122"/>
                <a:cs typeface="Arial" panose="020B0604020202020204" pitchFamily="34" charset="0"/>
              </a:rPr>
              <a:t>维护工作流程</a:t>
            </a:r>
          </a:p>
        </p:txBody>
      </p:sp>
      <p:sp>
        <p:nvSpPr>
          <p:cNvPr id="10" name="MH_Other_7">
            <a:extLst>
              <a:ext uri="{FF2B5EF4-FFF2-40B4-BE49-F238E27FC236}">
                <a16:creationId xmlns:a16="http://schemas.microsoft.com/office/drawing/2014/main" id="{76510BCA-E5E1-F1C3-BF78-85947D822A59}"/>
              </a:ext>
            </a:extLst>
          </p:cNvPr>
          <p:cNvSpPr/>
          <p:nvPr/>
        </p:nvSpPr>
        <p:spPr>
          <a:xfrm>
            <a:off x="1410549" y="1985941"/>
            <a:ext cx="68262" cy="1320800"/>
          </a:xfrm>
          <a:prstGeom prst="rect">
            <a:avLst/>
          </a:prstGeom>
          <a:solidFill>
            <a:schemeClr val="accent5">
              <a:lumMod val="40000"/>
              <a:lumOff val="60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cxnSp>
        <p:nvCxnSpPr>
          <p:cNvPr id="11" name="MH_Other_8">
            <a:extLst>
              <a:ext uri="{FF2B5EF4-FFF2-40B4-BE49-F238E27FC236}">
                <a16:creationId xmlns:a16="http://schemas.microsoft.com/office/drawing/2014/main" id="{FBDD6C9A-40C2-BAB8-B370-B2B4E9923EDD}"/>
              </a:ext>
            </a:extLst>
          </p:cNvPr>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12" name="MH_Other_9">
            <a:extLst>
              <a:ext uri="{FF2B5EF4-FFF2-40B4-BE49-F238E27FC236}">
                <a16:creationId xmlns:a16="http://schemas.microsoft.com/office/drawing/2014/main" id="{566F35D9-B9AF-BDB6-F425-8937261A89DC}"/>
              </a:ext>
            </a:extLst>
          </p:cNvPr>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chemeClr val="accent1"/>
                </a:solidFill>
                <a:ea typeface="微软雅黑 Light" panose="020B0502040204020203" pitchFamily="34" charset="-122"/>
              </a:rPr>
              <a:t>03</a:t>
            </a:r>
          </a:p>
        </p:txBody>
      </p:sp>
    </p:spTree>
  </p:cSld>
  <p:clrMapOvr>
    <a:masterClrMapping/>
  </p:clrMapOvr>
  <p:transition>
    <p:zoom/>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3087" name="MH_Text_3"/>
          <p:cNvSpPr>
            <a:spLocks noChangeArrowheads="1"/>
          </p:cNvSpPr>
          <p:nvPr/>
        </p:nvSpPr>
        <p:spPr bwMode="auto">
          <a:xfrm>
            <a:off x="1559139" y="2913041"/>
            <a:ext cx="9658350" cy="2850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tIns="108000" rIns="108000" bIns="108000">
            <a:spAutoFit/>
          </a:bodyPr>
          <a:lstStyle/>
          <a:p>
            <a:pPr indent="457200" algn="l" fontAlgn="auto">
              <a:lnSpc>
                <a:spcPct val="120000"/>
              </a:lnSpc>
              <a:defRPr/>
            </a:pPr>
            <a:r>
              <a:rPr lang="en-US" altLang="zh-CN" dirty="0"/>
              <a:t>当然，有时维护申请的处理过程并不完全符合上述事件流。例如，当出现紧急软件问题时，就出现所谓“救火”维护要求。在这种情况下，就需要立即投入人力进行维护。</a:t>
            </a:r>
          </a:p>
          <a:p>
            <a:pPr indent="457200" algn="l" fontAlgn="auto">
              <a:lnSpc>
                <a:spcPct val="120000"/>
              </a:lnSpc>
              <a:buFont typeface="Wingdings" panose="05000000000000000000" charset="0"/>
              <a:buNone/>
              <a:defRPr/>
            </a:pPr>
            <a:r>
              <a:rPr lang="en-US" altLang="zh-CN" dirty="0" err="1"/>
              <a:t>软件维护的复审要明确下列问题</a:t>
            </a:r>
            <a:r>
              <a:rPr lang="en-US" altLang="zh-CN" dirty="0"/>
              <a:t>：</a:t>
            </a:r>
          </a:p>
          <a:p>
            <a:pPr marL="285750" indent="-285750" algn="l" fontAlgn="auto">
              <a:lnSpc>
                <a:spcPct val="120000"/>
              </a:lnSpc>
              <a:buFont typeface="Wingdings" panose="05000000000000000000" charset="0"/>
              <a:buChar char="Ø"/>
              <a:defRPr/>
            </a:pPr>
            <a:r>
              <a:rPr lang="en-US" altLang="zh-CN" dirty="0" err="1"/>
              <a:t>在目前的状况下，设计、编程、测试等方面有什么可改进的</a:t>
            </a:r>
            <a:r>
              <a:rPr lang="en-US" altLang="zh-CN" dirty="0"/>
              <a:t>。</a:t>
            </a:r>
          </a:p>
          <a:p>
            <a:pPr marL="285750" indent="-285750" algn="l" fontAlgn="auto">
              <a:lnSpc>
                <a:spcPct val="120000"/>
              </a:lnSpc>
              <a:buFont typeface="Wingdings" panose="05000000000000000000" charset="0"/>
              <a:buChar char="Ø"/>
              <a:defRPr/>
            </a:pPr>
            <a:r>
              <a:rPr lang="en-US" altLang="zh-CN" dirty="0" err="1"/>
              <a:t>哪些维护资源应该有，实际上却没有</a:t>
            </a:r>
            <a:r>
              <a:rPr lang="en-US" altLang="zh-CN" dirty="0"/>
              <a:t>。</a:t>
            </a:r>
          </a:p>
          <a:p>
            <a:pPr marL="285750" indent="-285750" algn="l" fontAlgn="auto">
              <a:lnSpc>
                <a:spcPct val="120000"/>
              </a:lnSpc>
              <a:buFont typeface="Wingdings" panose="05000000000000000000" charset="0"/>
              <a:buChar char="Ø"/>
              <a:defRPr/>
            </a:pPr>
            <a:r>
              <a:rPr lang="en-US" altLang="zh-CN" dirty="0" err="1"/>
              <a:t>什么是这项维护工作中最主要的障碍</a:t>
            </a:r>
            <a:r>
              <a:rPr lang="en-US" altLang="zh-CN" dirty="0"/>
              <a:t>。</a:t>
            </a:r>
          </a:p>
          <a:p>
            <a:pPr marL="285750" indent="-285750" algn="l" fontAlgn="auto">
              <a:lnSpc>
                <a:spcPct val="120000"/>
              </a:lnSpc>
              <a:buFont typeface="Wingdings" panose="05000000000000000000" charset="0"/>
              <a:buChar char="Ø"/>
              <a:defRPr/>
            </a:pPr>
            <a:r>
              <a:rPr lang="en-US" altLang="zh-CN" dirty="0" err="1"/>
              <a:t>是否需要预防性维护</a:t>
            </a:r>
            <a:r>
              <a:rPr lang="en-US" altLang="zh-CN" dirty="0"/>
              <a:t>。</a:t>
            </a:r>
          </a:p>
          <a:p>
            <a:pPr indent="457200" algn="l" fontAlgn="auto">
              <a:lnSpc>
                <a:spcPct val="120000"/>
              </a:lnSpc>
              <a:defRPr/>
            </a:pPr>
            <a:r>
              <a:rPr lang="en-US" altLang="zh-CN" dirty="0" err="1"/>
              <a:t>维护情况复查对将来的维护工作有重要意义，可为提高软件组织的管理效能提供重要意见</a:t>
            </a:r>
            <a:r>
              <a:rPr lang="en-US" altLang="zh-CN" dirty="0"/>
              <a:t>。</a:t>
            </a:r>
          </a:p>
        </p:txBody>
      </p:sp>
      <p:sp>
        <p:nvSpPr>
          <p:cNvPr id="5" name="MH_SubTitle_3">
            <a:extLst>
              <a:ext uri="{FF2B5EF4-FFF2-40B4-BE49-F238E27FC236}">
                <a16:creationId xmlns:a16="http://schemas.microsoft.com/office/drawing/2014/main" id="{B2CA8BAB-CFF1-DD3B-A9BF-2C0BB42DF346}"/>
              </a:ext>
            </a:extLst>
          </p:cNvPr>
          <p:cNvSpPr>
            <a:spLocks noChangeArrowheads="1"/>
          </p:cNvSpPr>
          <p:nvPr/>
        </p:nvSpPr>
        <p:spPr bwMode="auto">
          <a:xfrm>
            <a:off x="1478811" y="1970066"/>
            <a:ext cx="4572000" cy="600075"/>
          </a:xfrm>
          <a:prstGeom prst="rect">
            <a:avLst/>
          </a:prstGeom>
          <a:noFill/>
          <a:ln w="9525">
            <a:noFill/>
            <a:miter lim="800000"/>
          </a:ln>
        </p:spPr>
        <p:txBody>
          <a:bodyPr anchor="b"/>
          <a:lstStyle/>
          <a:p>
            <a:pPr eaLnBrk="1" hangingPunct="1"/>
            <a:r>
              <a:rPr lang="zh-CN" altLang="en-US" sz="2000" b="1" dirty="0">
                <a:solidFill>
                  <a:schemeClr val="accent1"/>
                </a:solidFill>
                <a:latin typeface="Arial" panose="020B0604020202020204" pitchFamily="34" charset="0"/>
                <a:ea typeface="微软雅黑 Light" panose="020B0502040204020203" pitchFamily="34" charset="-122"/>
                <a:cs typeface="Arial" panose="020B0604020202020204" pitchFamily="34" charset="0"/>
              </a:rPr>
              <a:t>维护工作流程</a:t>
            </a:r>
          </a:p>
        </p:txBody>
      </p:sp>
      <p:sp>
        <p:nvSpPr>
          <p:cNvPr id="6" name="MH_Other_7">
            <a:extLst>
              <a:ext uri="{FF2B5EF4-FFF2-40B4-BE49-F238E27FC236}">
                <a16:creationId xmlns:a16="http://schemas.microsoft.com/office/drawing/2014/main" id="{BD72EC4F-DA27-C7DD-C63F-ABC790D6FFA5}"/>
              </a:ext>
            </a:extLst>
          </p:cNvPr>
          <p:cNvSpPr/>
          <p:nvPr/>
        </p:nvSpPr>
        <p:spPr>
          <a:xfrm>
            <a:off x="1410549" y="1985941"/>
            <a:ext cx="68262" cy="1320800"/>
          </a:xfrm>
          <a:prstGeom prst="rect">
            <a:avLst/>
          </a:prstGeom>
          <a:solidFill>
            <a:schemeClr val="accent5">
              <a:lumMod val="40000"/>
              <a:lumOff val="60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cxnSp>
        <p:nvCxnSpPr>
          <p:cNvPr id="7" name="MH_Other_8">
            <a:extLst>
              <a:ext uri="{FF2B5EF4-FFF2-40B4-BE49-F238E27FC236}">
                <a16:creationId xmlns:a16="http://schemas.microsoft.com/office/drawing/2014/main" id="{6287939A-4192-E375-8F5E-9C7BF161860A}"/>
              </a:ext>
            </a:extLst>
          </p:cNvPr>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8" name="MH_Other_9">
            <a:extLst>
              <a:ext uri="{FF2B5EF4-FFF2-40B4-BE49-F238E27FC236}">
                <a16:creationId xmlns:a16="http://schemas.microsoft.com/office/drawing/2014/main" id="{E3DC8D82-2679-5DA4-1285-CAE8D51F77CC}"/>
              </a:ext>
            </a:extLst>
          </p:cNvPr>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chemeClr val="accent1"/>
                </a:solidFill>
                <a:ea typeface="微软雅黑 Light" panose="020B0502040204020203" pitchFamily="34" charset="-122"/>
              </a:rPr>
              <a:t>03</a:t>
            </a:r>
          </a:p>
        </p:txBody>
      </p:sp>
    </p:spTree>
  </p:cSld>
  <p:clrMapOvr>
    <a:masterClrMapping/>
  </p:clrMapOvr>
  <p:transition>
    <p:zoom/>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3087" name="MH_Text_3"/>
          <p:cNvSpPr>
            <a:spLocks noChangeArrowheads="1"/>
          </p:cNvSpPr>
          <p:nvPr/>
        </p:nvSpPr>
        <p:spPr bwMode="auto">
          <a:xfrm>
            <a:off x="1478176" y="2689834"/>
            <a:ext cx="9765665" cy="30746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indent="457200" algn="l" fontAlgn="auto">
              <a:lnSpc>
                <a:spcPct val="120000"/>
              </a:lnSpc>
              <a:defRPr/>
            </a:pPr>
            <a:r>
              <a:rPr lang="en-US" altLang="zh-CN" dirty="0" err="1"/>
              <a:t>在维护过程中，如果缺乏详尽可靠的数据，要评价软件维护工作就很困难</a:t>
            </a:r>
            <a:r>
              <a:rPr lang="en-US" altLang="zh-CN" dirty="0"/>
              <a:t>。</a:t>
            </a:r>
            <a:r>
              <a:rPr lang="en-US" altLang="zh-CN" dirty="0" err="1"/>
              <a:t>如果有良好的维护记录，就可对维护工作做一些定量的评价，可计算如下一些指标</a:t>
            </a:r>
            <a:r>
              <a:rPr lang="en-US" altLang="zh-CN" dirty="0"/>
              <a:t>：</a:t>
            </a:r>
          </a:p>
          <a:p>
            <a:pPr indent="457200" algn="l" fontAlgn="auto">
              <a:lnSpc>
                <a:spcPct val="120000"/>
              </a:lnSpc>
              <a:defRPr/>
            </a:pPr>
            <a:r>
              <a:rPr lang="en-US" altLang="zh-CN" dirty="0"/>
              <a:t>1. </a:t>
            </a:r>
            <a:r>
              <a:rPr lang="en-US" altLang="zh-CN" dirty="0" err="1"/>
              <a:t>每次程序运行的平均出错次数</a:t>
            </a:r>
            <a:r>
              <a:rPr lang="en-US" altLang="zh-CN" dirty="0"/>
              <a:t>。</a:t>
            </a:r>
          </a:p>
          <a:p>
            <a:pPr indent="457200" algn="l" fontAlgn="auto">
              <a:lnSpc>
                <a:spcPct val="120000"/>
              </a:lnSpc>
              <a:defRPr/>
            </a:pPr>
            <a:r>
              <a:rPr lang="en-US" altLang="zh-CN" dirty="0"/>
              <a:t>2. </a:t>
            </a:r>
            <a:r>
              <a:rPr lang="en-US" altLang="zh-CN" dirty="0" err="1"/>
              <a:t>用在各类维护上的总的人时数</a:t>
            </a:r>
            <a:r>
              <a:rPr lang="en-US" altLang="zh-CN" dirty="0"/>
              <a:t>。</a:t>
            </a:r>
          </a:p>
          <a:p>
            <a:pPr indent="457200" algn="l" fontAlgn="auto">
              <a:lnSpc>
                <a:spcPct val="120000"/>
              </a:lnSpc>
              <a:defRPr/>
            </a:pPr>
            <a:r>
              <a:rPr lang="en-US" altLang="zh-CN" dirty="0"/>
              <a:t>3. </a:t>
            </a:r>
            <a:r>
              <a:rPr lang="en-US" altLang="zh-CN" dirty="0" err="1"/>
              <a:t>平均每个程序、每种语言、每种类型的维护所做的程序变动数</a:t>
            </a:r>
            <a:r>
              <a:rPr lang="en-US" altLang="zh-CN" dirty="0"/>
              <a:t>。</a:t>
            </a:r>
          </a:p>
          <a:p>
            <a:pPr indent="457200" algn="l" fontAlgn="auto">
              <a:lnSpc>
                <a:spcPct val="120000"/>
              </a:lnSpc>
              <a:defRPr/>
            </a:pPr>
            <a:r>
              <a:rPr lang="en-US" altLang="zh-CN" dirty="0"/>
              <a:t>4. </a:t>
            </a:r>
            <a:r>
              <a:rPr lang="en-US" altLang="zh-CN" dirty="0" err="1"/>
              <a:t>维护过程中每增加或减少一个源语句所平均花费的人时数</a:t>
            </a:r>
            <a:r>
              <a:rPr lang="en-US" altLang="zh-CN" dirty="0"/>
              <a:t>。</a:t>
            </a:r>
          </a:p>
          <a:p>
            <a:pPr indent="457200" algn="l" fontAlgn="auto">
              <a:lnSpc>
                <a:spcPct val="120000"/>
              </a:lnSpc>
              <a:defRPr/>
            </a:pPr>
            <a:r>
              <a:rPr lang="en-US" altLang="zh-CN" dirty="0"/>
              <a:t>5. </a:t>
            </a:r>
            <a:r>
              <a:rPr lang="en-US" altLang="zh-CN" dirty="0" err="1"/>
              <a:t>维护每种语言所平均花费的人时数</a:t>
            </a:r>
            <a:r>
              <a:rPr lang="en-US" altLang="zh-CN" dirty="0"/>
              <a:t>。</a:t>
            </a:r>
          </a:p>
          <a:p>
            <a:pPr indent="457200" algn="l" fontAlgn="auto">
              <a:lnSpc>
                <a:spcPct val="120000"/>
              </a:lnSpc>
              <a:defRPr/>
            </a:pPr>
            <a:r>
              <a:rPr lang="en-US" altLang="zh-CN" dirty="0"/>
              <a:t>6. </a:t>
            </a:r>
            <a:r>
              <a:rPr lang="en-US" altLang="zh-CN" dirty="0" err="1"/>
              <a:t>处理一张维护要求表平均所需时间</a:t>
            </a:r>
            <a:r>
              <a:rPr lang="en-US" altLang="zh-CN" dirty="0"/>
              <a:t>。</a:t>
            </a:r>
          </a:p>
          <a:p>
            <a:pPr indent="457200" algn="l" fontAlgn="auto">
              <a:lnSpc>
                <a:spcPct val="120000"/>
              </a:lnSpc>
              <a:defRPr/>
            </a:pPr>
            <a:r>
              <a:rPr lang="en-US" altLang="zh-CN" dirty="0"/>
              <a:t>7. </a:t>
            </a:r>
            <a:r>
              <a:rPr lang="en-US" altLang="zh-CN" dirty="0" err="1"/>
              <a:t>各类维护申请的百分比</a:t>
            </a:r>
            <a:r>
              <a:rPr lang="en-US" altLang="zh-CN" dirty="0"/>
              <a:t>。</a:t>
            </a:r>
          </a:p>
        </p:txBody>
      </p:sp>
      <p:sp>
        <p:nvSpPr>
          <p:cNvPr id="3085" name="MH_SubTitle_3"/>
          <p:cNvSpPr>
            <a:spLocks noChangeArrowheads="1"/>
          </p:cNvSpPr>
          <p:nvPr/>
        </p:nvSpPr>
        <p:spPr bwMode="auto">
          <a:xfrm>
            <a:off x="1478811" y="1970066"/>
            <a:ext cx="4572000" cy="600075"/>
          </a:xfrm>
          <a:prstGeom prst="rect">
            <a:avLst/>
          </a:prstGeom>
          <a:noFill/>
          <a:ln w="9525">
            <a:noFill/>
            <a:miter lim="800000"/>
          </a:ln>
        </p:spPr>
        <p:txBody>
          <a:bodyPr anchor="b"/>
          <a:lstStyle/>
          <a:p>
            <a:pPr eaLnBrk="1" hangingPunct="1"/>
            <a:r>
              <a:rPr lang="zh-CN" altLang="en-US" sz="2000" b="1" dirty="0">
                <a:solidFill>
                  <a:srgbClr val="277F0D"/>
                </a:solidFill>
                <a:latin typeface="Arial" panose="020B0604020202020204" pitchFamily="34" charset="0"/>
                <a:ea typeface="微软雅黑 Light" panose="020B0502040204020203" pitchFamily="34" charset="-122"/>
                <a:cs typeface="Arial" panose="020B0604020202020204" pitchFamily="34" charset="0"/>
              </a:rPr>
              <a:t>对维护的评价</a:t>
            </a:r>
          </a:p>
        </p:txBody>
      </p:sp>
      <p:sp>
        <p:nvSpPr>
          <p:cNvPr id="54" name="MH_Other_7"/>
          <p:cNvSpPr/>
          <p:nvPr/>
        </p:nvSpPr>
        <p:spPr>
          <a:xfrm>
            <a:off x="1410549" y="1985941"/>
            <a:ext cx="68262" cy="1320800"/>
          </a:xfrm>
          <a:prstGeom prst="rect">
            <a:avLst/>
          </a:prstGeom>
          <a:solidFill>
            <a:srgbClr val="67B649">
              <a:alpha val="40000"/>
            </a:srgb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67B649"/>
              </a:solidFill>
              <a:latin typeface="Calibri" panose="020F0502020204030204"/>
              <a:ea typeface="微软雅黑 Light" panose="020B0502040204020203" pitchFamily="34" charset="-122"/>
            </a:endParaRPr>
          </a:p>
        </p:txBody>
      </p:sp>
      <p:cxnSp>
        <p:nvCxnSpPr>
          <p:cNvPr id="3088" name="MH_Other_8"/>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rgbClr val="277F0D"/>
                </a:solidFill>
                <a:ea typeface="微软雅黑 Light" panose="020B0502040204020203" pitchFamily="34" charset="-122"/>
              </a:rPr>
              <a:t>04</a:t>
            </a:r>
          </a:p>
        </p:txBody>
      </p:sp>
      <p:pic>
        <p:nvPicPr>
          <p:cNvPr id="454658" name="图片 1"/>
          <p:cNvPicPr>
            <a:picLocks noChangeAspect="1"/>
          </p:cNvPicPr>
          <p:nvPr/>
        </p:nvPicPr>
        <p:blipFill>
          <a:blip r:embed="rId2" cstate="print">
            <a:clrChange>
              <a:clrFrom>
                <a:srgbClr val="FFFFFF"/>
              </a:clrFrom>
              <a:clrTo>
                <a:srgbClr val="FFFFFF">
                  <a:alpha val="0"/>
                </a:srgbClr>
              </a:clrTo>
            </a:clrChange>
          </a:blip>
          <a:stretch>
            <a:fillRect/>
          </a:stretch>
        </p:blipFill>
        <p:spPr>
          <a:xfrm>
            <a:off x="8858013" y="3800124"/>
            <a:ext cx="2422525" cy="2422525"/>
          </a:xfrm>
          <a:prstGeom prst="rect">
            <a:avLst/>
          </a:prstGeom>
          <a:noFill/>
          <a:ln w="9525">
            <a:noFill/>
          </a:ln>
        </p:spPr>
      </p:pic>
    </p:spTree>
  </p:cSld>
  <p:clrMapOvr>
    <a:masterClrMapping/>
  </p:clrMapOvr>
  <p:transition>
    <p:zoom/>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3087" name="MH_Text_3"/>
          <p:cNvSpPr>
            <a:spLocks noChangeArrowheads="1"/>
          </p:cNvSpPr>
          <p:nvPr/>
        </p:nvSpPr>
        <p:spPr bwMode="auto">
          <a:xfrm>
            <a:off x="1578824" y="2880000"/>
            <a:ext cx="8082280" cy="19848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tIns="108000" rIns="108000" bIns="108000">
            <a:spAutoFit/>
          </a:bodyPr>
          <a:lstStyle/>
          <a:p>
            <a:pPr indent="457200" algn="l" fontAlgn="auto">
              <a:lnSpc>
                <a:spcPct val="130000"/>
              </a:lnSpc>
              <a:defRPr/>
            </a:pPr>
            <a:r>
              <a:rPr lang="en-US" altLang="zh-CN" dirty="0"/>
              <a:t>维护是为了延长软件的寿命，让软件创造更多的价值。但是维护会产生潜在的错误或其他不希望出现的情况，称为维护的副作用。维护的副作用有</a:t>
            </a:r>
            <a:r>
              <a:rPr lang="zh-CN" altLang="en-US" dirty="0"/>
              <a:t>：</a:t>
            </a:r>
            <a:endParaRPr lang="en-US" altLang="zh-CN" dirty="0"/>
          </a:p>
          <a:p>
            <a:pPr indent="457200" algn="l" fontAlgn="auto">
              <a:lnSpc>
                <a:spcPct val="130000"/>
              </a:lnSpc>
              <a:defRPr/>
            </a:pPr>
            <a:r>
              <a:rPr lang="en-US" altLang="zh-CN" dirty="0"/>
              <a:t>1. </a:t>
            </a:r>
            <a:r>
              <a:rPr lang="en-US" altLang="zh-CN" dirty="0" err="1"/>
              <a:t>编码副作用</a:t>
            </a:r>
            <a:endParaRPr lang="en-US" altLang="zh-CN" dirty="0"/>
          </a:p>
          <a:p>
            <a:pPr indent="457200" algn="l" fontAlgn="auto">
              <a:lnSpc>
                <a:spcPct val="130000"/>
              </a:lnSpc>
              <a:defRPr/>
            </a:pPr>
            <a:r>
              <a:rPr lang="en-US" altLang="zh-CN" dirty="0"/>
              <a:t>2. </a:t>
            </a:r>
            <a:r>
              <a:rPr lang="en-US" altLang="zh-CN" dirty="0" err="1"/>
              <a:t>数据副作用</a:t>
            </a:r>
            <a:endParaRPr lang="en-US" altLang="zh-CN" dirty="0"/>
          </a:p>
          <a:p>
            <a:pPr indent="457200" algn="l" fontAlgn="auto">
              <a:lnSpc>
                <a:spcPct val="130000"/>
              </a:lnSpc>
              <a:defRPr/>
            </a:pPr>
            <a:r>
              <a:rPr lang="en-US" altLang="zh-CN" dirty="0"/>
              <a:t>3. </a:t>
            </a:r>
            <a:r>
              <a:rPr lang="en-US" altLang="zh-CN" dirty="0" err="1"/>
              <a:t>文档副作用</a:t>
            </a:r>
            <a:endParaRPr lang="en-US" altLang="zh-CN" dirty="0"/>
          </a:p>
        </p:txBody>
      </p:sp>
      <p:sp>
        <p:nvSpPr>
          <p:cNvPr id="4" name="MH_SubTitle_3">
            <a:extLst>
              <a:ext uri="{FF2B5EF4-FFF2-40B4-BE49-F238E27FC236}">
                <a16:creationId xmlns:a16="http://schemas.microsoft.com/office/drawing/2014/main" id="{8E681FF6-DEE8-8B1C-234A-0A4467D45521}"/>
              </a:ext>
            </a:extLst>
          </p:cNvPr>
          <p:cNvSpPr>
            <a:spLocks noChangeArrowheads="1"/>
          </p:cNvSpPr>
          <p:nvPr/>
        </p:nvSpPr>
        <p:spPr bwMode="auto">
          <a:xfrm>
            <a:off x="1478811" y="1970066"/>
            <a:ext cx="4572000" cy="600075"/>
          </a:xfrm>
          <a:prstGeom prst="rect">
            <a:avLst/>
          </a:prstGeom>
          <a:noFill/>
          <a:ln w="9525">
            <a:noFill/>
            <a:miter lim="800000"/>
          </a:ln>
        </p:spPr>
        <p:txBody>
          <a:bodyPr anchor="b"/>
          <a:lstStyle/>
          <a:p>
            <a:pPr eaLnBrk="1" hangingPunct="1"/>
            <a:r>
              <a:rPr lang="zh-CN" altLang="en-US" sz="2000" b="1" dirty="0">
                <a:solidFill>
                  <a:srgbClr val="B71F1E"/>
                </a:solidFill>
                <a:latin typeface="Arial" panose="020B0604020202020204" pitchFamily="34" charset="0"/>
                <a:ea typeface="微软雅黑 Light" panose="020B0502040204020203" pitchFamily="34" charset="-122"/>
                <a:cs typeface="Arial" panose="020B0604020202020204" pitchFamily="34" charset="0"/>
              </a:rPr>
              <a:t>维护副作用</a:t>
            </a:r>
          </a:p>
        </p:txBody>
      </p:sp>
      <p:sp>
        <p:nvSpPr>
          <p:cNvPr id="5" name="MH_Other_7">
            <a:extLst>
              <a:ext uri="{FF2B5EF4-FFF2-40B4-BE49-F238E27FC236}">
                <a16:creationId xmlns:a16="http://schemas.microsoft.com/office/drawing/2014/main" id="{E8771782-3145-E400-6C08-D0C0ACF97A5C}"/>
              </a:ext>
            </a:extLst>
          </p:cNvPr>
          <p:cNvSpPr/>
          <p:nvPr/>
        </p:nvSpPr>
        <p:spPr>
          <a:xfrm>
            <a:off x="1410549" y="1985941"/>
            <a:ext cx="68262" cy="1320800"/>
          </a:xfrm>
          <a:prstGeom prst="rect">
            <a:avLst/>
          </a:prstGeom>
          <a:solidFill>
            <a:srgbClr val="B71F1E"/>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cxnSp>
        <p:nvCxnSpPr>
          <p:cNvPr id="6" name="MH_Other_8">
            <a:extLst>
              <a:ext uri="{FF2B5EF4-FFF2-40B4-BE49-F238E27FC236}">
                <a16:creationId xmlns:a16="http://schemas.microsoft.com/office/drawing/2014/main" id="{1F675294-A0BC-6FF2-7D2A-9B86877AF4C0}"/>
              </a:ext>
            </a:extLst>
          </p:cNvPr>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7" name="MH_Other_9">
            <a:extLst>
              <a:ext uri="{FF2B5EF4-FFF2-40B4-BE49-F238E27FC236}">
                <a16:creationId xmlns:a16="http://schemas.microsoft.com/office/drawing/2014/main" id="{F2692FEE-9659-CBD0-D690-A0787AE24B3D}"/>
              </a:ext>
            </a:extLst>
          </p:cNvPr>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rgbClr val="B71F1E"/>
                </a:solidFill>
                <a:ea typeface="微软雅黑 Light" panose="020B0502040204020203" pitchFamily="34" charset="-122"/>
              </a:rPr>
              <a:t>05</a:t>
            </a:r>
          </a:p>
        </p:txBody>
      </p:sp>
      <p:pic>
        <p:nvPicPr>
          <p:cNvPr id="460802" name="图片 1" descr="Comp_8011070746.jpg"/>
          <p:cNvPicPr>
            <a:picLocks noGrp="1" noChangeAspect="1"/>
          </p:cNvPicPr>
          <p:nvPr/>
        </p:nvPicPr>
        <p:blipFill>
          <a:blip r:embed="rId2" cstate="print"/>
          <a:stretch>
            <a:fillRect/>
          </a:stretch>
        </p:blipFill>
        <p:spPr>
          <a:xfrm>
            <a:off x="8611738" y="0"/>
            <a:ext cx="2731930" cy="2538484"/>
          </a:xfrm>
          <a:prstGeom prst="rect">
            <a:avLst/>
          </a:prstGeom>
          <a:noFill/>
          <a:ln w="9525">
            <a:noFill/>
          </a:ln>
        </p:spPr>
      </p:pic>
    </p:spTree>
  </p:cSld>
  <p:clrMapOvr>
    <a:masterClrMapping/>
  </p:clrMapOvr>
  <p:transition>
    <p:zoom/>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grpSp>
        <p:nvGrpSpPr>
          <p:cNvPr id="23" name="组合 22"/>
          <p:cNvGrpSpPr/>
          <p:nvPr/>
        </p:nvGrpSpPr>
        <p:grpSpPr>
          <a:xfrm>
            <a:off x="4417060" y="2137410"/>
            <a:ext cx="2858135" cy="2667000"/>
            <a:chOff x="3529044" y="1886732"/>
            <a:chExt cx="4781534" cy="4078163"/>
          </a:xfrm>
        </p:grpSpPr>
        <p:sp>
          <p:nvSpPr>
            <p:cNvPr id="24" name="MH_SubTitle_1"/>
            <p:cNvSpPr/>
            <p:nvPr>
              <p:custDataLst>
                <p:tags r:id="rId7"/>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8"/>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9"/>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3568838" y="2222360"/>
              <a:ext cx="4560555" cy="3742535"/>
              <a:chOff x="3568838" y="2222360"/>
              <a:chExt cx="4560555" cy="3742535"/>
            </a:xfrm>
          </p:grpSpPr>
          <p:sp>
            <p:nvSpPr>
              <p:cNvPr id="30" name="MH_SubTitle_2"/>
              <p:cNvSpPr/>
              <p:nvPr>
                <p:custDataLst>
                  <p:tags r:id="rId11"/>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数据副作用</a:t>
                </a:r>
              </a:p>
            </p:txBody>
          </p:sp>
          <p:sp>
            <p:nvSpPr>
              <p:cNvPr id="31" name="MH_Other_2"/>
              <p:cNvSpPr/>
              <p:nvPr>
                <p:custDataLst>
                  <p:tags r:id="rId12"/>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文档副作用</a:t>
                </a:r>
              </a:p>
            </p:txBody>
          </p:sp>
          <p:sp>
            <p:nvSpPr>
              <p:cNvPr id="32" name="MH_Other_3"/>
              <p:cNvSpPr/>
              <p:nvPr>
                <p:custDataLst>
                  <p:tags r:id="rId13"/>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编码副作用</a:t>
                </a:r>
              </a:p>
            </p:txBody>
          </p:sp>
        </p:grpSp>
        <p:sp>
          <p:nvSpPr>
            <p:cNvPr id="33" name="MH_Title_1"/>
            <p:cNvSpPr/>
            <p:nvPr>
              <p:custDataLst>
                <p:tags r:id="rId10"/>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800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软件维护副作用</a:t>
              </a:r>
            </a:p>
          </p:txBody>
        </p:sp>
      </p:grpSp>
      <p:sp>
        <p:nvSpPr>
          <p:cNvPr id="34" name="MH_Other_2"/>
          <p:cNvSpPr/>
          <p:nvPr>
            <p:custDataLst>
              <p:tags r:id="rId1"/>
            </p:custDataLst>
          </p:nvPr>
        </p:nvSpPr>
        <p:spPr>
          <a:xfrm rot="16200000" flipH="1" flipV="1">
            <a:off x="6859905" y="1769745"/>
            <a:ext cx="466725" cy="708025"/>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5" name="MH_SubTitle_4"/>
          <p:cNvSpPr txBox="1"/>
          <p:nvPr>
            <p:custDataLst>
              <p:tags r:id="rId2"/>
            </p:custDataLst>
          </p:nvPr>
        </p:nvSpPr>
        <p:spPr bwMode="auto">
          <a:xfrm>
            <a:off x="7526020" y="1837020"/>
            <a:ext cx="3633392" cy="2418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b="1" dirty="0">
                <a:solidFill>
                  <a:srgbClr val="00B0F0"/>
                </a:solidFill>
                <a:latin typeface="微软雅黑" panose="020B0503020204020204" charset="-122"/>
                <a:ea typeface="微软雅黑" panose="020B0503020204020204" charset="-122"/>
              </a:rPr>
              <a:t>数据副作用</a:t>
            </a:r>
            <a:endParaRPr lang="en-US" altLang="zh-CN" dirty="0">
              <a:ea typeface="微软雅黑 Light" panose="020B0502040204020203" pitchFamily="34" charset="-122"/>
            </a:endParaRPr>
          </a:p>
          <a:p>
            <a:pPr indent="457200" fontAlgn="auto">
              <a:lnSpc>
                <a:spcPct val="120000"/>
              </a:lnSpc>
              <a:defRPr/>
            </a:pPr>
            <a:r>
              <a:rPr lang="zh-CN" altLang="en-US" dirty="0">
                <a:latin typeface="+mn-ea"/>
                <a:ea typeface="+mn-ea"/>
                <a:sym typeface="+mn-ea"/>
              </a:rPr>
              <a:t>修改</a:t>
            </a:r>
            <a:r>
              <a:rPr lang="zh-CN" altLang="en-US" dirty="0">
                <a:latin typeface="+mj-ea"/>
                <a:ea typeface="+mj-ea"/>
                <a:sym typeface="+mn-ea"/>
              </a:rPr>
              <a:t>数据结构</a:t>
            </a:r>
            <a:r>
              <a:rPr lang="zh-CN" altLang="en-US" dirty="0">
                <a:latin typeface="+mn-ea"/>
                <a:ea typeface="+mn-ea"/>
                <a:sym typeface="+mn-ea"/>
              </a:rPr>
              <a:t>可能造成软件设计与数据结构不匹配，从而导致软件错误。例如，修改局部量、全局量、记录或文件的格式、初始化控制或指针、输入输出或子程序的参数等容易导致设计与数据不一致。</a:t>
            </a:r>
          </a:p>
        </p:txBody>
      </p:sp>
      <p:sp>
        <p:nvSpPr>
          <p:cNvPr id="36" name="MH_Other_2"/>
          <p:cNvSpPr/>
          <p:nvPr>
            <p:custDataLst>
              <p:tags r:id="rId3"/>
            </p:custDataLst>
          </p:nvPr>
        </p:nvSpPr>
        <p:spPr>
          <a:xfrm rot="5400000" flipV="1">
            <a:off x="4302125" y="2014855"/>
            <a:ext cx="393700" cy="694690"/>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7" name="MH_SubTitle_4"/>
          <p:cNvSpPr txBox="1"/>
          <p:nvPr>
            <p:custDataLst>
              <p:tags r:id="rId4"/>
            </p:custDataLst>
          </p:nvPr>
        </p:nvSpPr>
        <p:spPr bwMode="auto">
          <a:xfrm>
            <a:off x="838199" y="1837020"/>
            <a:ext cx="3546625" cy="2086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30000"/>
              </a:lnSpc>
              <a:defRPr/>
            </a:pPr>
            <a:r>
              <a:rPr lang="zh-CN" altLang="en-US" b="1" dirty="0">
                <a:solidFill>
                  <a:srgbClr val="00B0F0"/>
                </a:solidFill>
                <a:latin typeface="微软雅黑" panose="020B0503020204020204" charset="-122"/>
                <a:ea typeface="微软雅黑" panose="020B0503020204020204" charset="-122"/>
              </a:rPr>
              <a:t>编码副作用</a:t>
            </a:r>
          </a:p>
          <a:p>
            <a:pPr indent="457200" algn="l">
              <a:lnSpc>
                <a:spcPct val="120000"/>
              </a:lnSpc>
              <a:defRPr/>
            </a:pPr>
            <a:r>
              <a:rPr lang="zh-CN" altLang="en-US" dirty="0">
                <a:latin typeface="+mn-ea"/>
                <a:ea typeface="+mn-ea"/>
              </a:rPr>
              <a:t>修改</a:t>
            </a:r>
            <a:r>
              <a:rPr lang="zh-CN" altLang="en-US" dirty="0">
                <a:latin typeface="+mj-ea"/>
                <a:ea typeface="+mj-ea"/>
              </a:rPr>
              <a:t>源程序</a:t>
            </a:r>
            <a:r>
              <a:rPr lang="zh-CN" altLang="en-US" dirty="0">
                <a:latin typeface="+mn-ea"/>
                <a:ea typeface="+mn-ea"/>
              </a:rPr>
              <a:t>时可能引入错误。例如，修改程序的标号、标识符、运算符、边界条件、程序的时序关系等，要特别仔细、避免引入新的错误。</a:t>
            </a:r>
          </a:p>
        </p:txBody>
      </p:sp>
      <p:sp>
        <p:nvSpPr>
          <p:cNvPr id="38" name="MH_Other_2"/>
          <p:cNvSpPr/>
          <p:nvPr>
            <p:custDataLst>
              <p:tags r:id="rId5"/>
            </p:custDataLst>
          </p:nvPr>
        </p:nvSpPr>
        <p:spPr>
          <a:xfrm rot="16200000">
            <a:off x="4454525" y="4053840"/>
            <a:ext cx="214630" cy="1357630"/>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9" name="MH_SubTitle_4"/>
          <p:cNvSpPr txBox="1"/>
          <p:nvPr>
            <p:custDataLst>
              <p:tags r:id="rId6"/>
            </p:custDataLst>
          </p:nvPr>
        </p:nvSpPr>
        <p:spPr bwMode="auto">
          <a:xfrm>
            <a:off x="838199" y="4793293"/>
            <a:ext cx="10321213" cy="14214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30000"/>
              </a:lnSpc>
              <a:defRPr/>
            </a:pPr>
            <a:r>
              <a:rPr lang="en-US" altLang="zh-CN" b="1" dirty="0">
                <a:solidFill>
                  <a:srgbClr val="00B0F0"/>
                </a:solidFill>
                <a:latin typeface="微软雅黑" panose="020B0503020204020204" charset="-122"/>
                <a:ea typeface="微软雅黑" panose="020B0503020204020204" charset="-122"/>
              </a:rPr>
              <a:t>                                         </a:t>
            </a:r>
            <a:r>
              <a:rPr lang="zh-CN" altLang="en-US" b="1" dirty="0">
                <a:solidFill>
                  <a:srgbClr val="00B0F0"/>
                </a:solidFill>
                <a:latin typeface="微软雅黑" panose="020B0503020204020204" charset="-122"/>
                <a:ea typeface="微软雅黑" panose="020B0503020204020204" charset="-122"/>
              </a:rPr>
              <a:t>文档副作用</a:t>
            </a:r>
            <a:endParaRPr lang="zh-CN" altLang="en-US" dirty="0">
              <a:latin typeface="+mn-ea"/>
              <a:ea typeface="+mn-ea"/>
            </a:endParaRPr>
          </a:p>
          <a:p>
            <a:pPr indent="457200">
              <a:lnSpc>
                <a:spcPct val="120000"/>
              </a:lnSpc>
              <a:defRPr/>
            </a:pPr>
            <a:r>
              <a:rPr lang="zh-CN" altLang="en-US" dirty="0">
                <a:latin typeface="+mn-ea"/>
                <a:ea typeface="+mn-ea"/>
                <a:sym typeface="+mn-ea"/>
              </a:rPr>
              <a:t>修改</a:t>
            </a:r>
            <a:r>
              <a:rPr lang="zh-CN" altLang="en-US" dirty="0">
                <a:latin typeface="+mj-ea"/>
                <a:ea typeface="+mj-ea"/>
                <a:sym typeface="+mn-ea"/>
              </a:rPr>
              <a:t>数据流</a:t>
            </a:r>
            <a:r>
              <a:rPr lang="zh-CN" altLang="en-US" dirty="0">
                <a:latin typeface="+mn-ea"/>
                <a:ea typeface="+mn-ea"/>
                <a:sym typeface="+mn-ea"/>
              </a:rPr>
              <a:t>、</a:t>
            </a:r>
            <a:r>
              <a:rPr lang="zh-CN" altLang="en-US" dirty="0">
                <a:latin typeface="+mj-ea"/>
                <a:ea typeface="+mj-ea"/>
                <a:sym typeface="+mn-ea"/>
              </a:rPr>
              <a:t>软件结构</a:t>
            </a:r>
            <a:r>
              <a:rPr lang="zh-CN" altLang="en-US" dirty="0">
                <a:latin typeface="+mn-ea"/>
                <a:ea typeface="+mn-ea"/>
                <a:sym typeface="+mn-ea"/>
              </a:rPr>
              <a:t>、</a:t>
            </a:r>
            <a:r>
              <a:rPr lang="zh-CN" altLang="en-US" dirty="0">
                <a:latin typeface="+mj-ea"/>
                <a:ea typeface="+mj-ea"/>
                <a:sym typeface="+mn-ea"/>
              </a:rPr>
              <a:t>模块逻辑</a:t>
            </a:r>
            <a:r>
              <a:rPr lang="zh-CN" altLang="en-US" dirty="0">
                <a:latin typeface="+mn-ea"/>
                <a:ea typeface="+mn-ea"/>
                <a:sym typeface="+mn-ea"/>
              </a:rPr>
              <a:t>或其他特性时，必须对相关的文档进行相应的修改，否则可能会导致文档与程序功能不匹配、文档不能反映软件当前的状态。因此，必须在软件交付之前对软件配置进行评审，以减少文档的副作用。</a:t>
            </a:r>
          </a:p>
        </p:txBody>
      </p:sp>
    </p:spTree>
  </p:cSld>
  <p:clrMapOvr>
    <a:masterClrMapping/>
  </p:clrMapOvr>
  <p:transition>
    <p:zoom/>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10" name="矩形 9"/>
          <p:cNvSpPr/>
          <p:nvPr/>
        </p:nvSpPr>
        <p:spPr>
          <a:xfrm>
            <a:off x="0" y="2443480"/>
            <a:ext cx="12192000" cy="3074035"/>
          </a:xfrm>
          <a:prstGeom prst="rect">
            <a:avLst/>
          </a:prstGeom>
          <a:solidFill>
            <a:srgbClr val="008080"/>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zh-CN" altLang="en-US" dirty="0"/>
          </a:p>
        </p:txBody>
      </p:sp>
      <p:sp>
        <p:nvSpPr>
          <p:cNvPr id="7" name="矩形 6"/>
          <p:cNvSpPr/>
          <p:nvPr/>
        </p:nvSpPr>
        <p:spPr>
          <a:xfrm>
            <a:off x="754380" y="2949575"/>
            <a:ext cx="6479540" cy="1737360"/>
          </a:xfrm>
          <a:prstGeom prst="rect">
            <a:avLst/>
          </a:prstGeom>
        </p:spPr>
        <p:txBody>
          <a:bodyPr wrap="square">
            <a:spAutoFit/>
          </a:bodyPr>
          <a:lstStyle/>
          <a:p>
            <a:pPr indent="457200">
              <a:lnSpc>
                <a:spcPct val="150000"/>
              </a:lnSpc>
              <a:defRPr/>
            </a:pP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软件可维护性是指软件功能被理解、改正、适应和增强的难易程度，是维护人员对软件进行维护的难易程度。可维护性是指导软件工程各阶段的一条基本原则，提高可维护性是软件工程追求的目标之一</a:t>
            </a:r>
          </a:p>
        </p:txBody>
      </p:sp>
      <p:pic>
        <p:nvPicPr>
          <p:cNvPr id="8" name="图片 7" descr="A000220150821A64PPIC.png"/>
          <p:cNvPicPr>
            <a:picLocks noChangeAspect="1"/>
          </p:cNvPicPr>
          <p:nvPr/>
        </p:nvPicPr>
        <p:blipFill>
          <a:blip r:embed="rId2" cstate="print"/>
          <a:stretch>
            <a:fillRect/>
          </a:stretch>
        </p:blipFill>
        <p:spPr>
          <a:xfrm>
            <a:off x="7586345" y="1800225"/>
            <a:ext cx="4364990" cy="3041650"/>
          </a:xfrm>
          <a:prstGeom prst="rect">
            <a:avLst/>
          </a:prstGeom>
        </p:spPr>
      </p:pic>
    </p:spTree>
  </p:cSld>
  <p:clrMapOvr>
    <a:masterClrMapping/>
  </p:clrMapOvr>
  <p:transition>
    <p:zoom/>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5" name="Oval 15"/>
          <p:cNvSpPr>
            <a:spLocks noChangeArrowheads="1"/>
          </p:cNvSpPr>
          <p:nvPr>
            <p:custDataLst>
              <p:tags r:id="rId1"/>
            </p:custDataLst>
          </p:nvPr>
        </p:nvSpPr>
        <p:spPr bwMode="auto">
          <a:xfrm>
            <a:off x="3834979" y="2609414"/>
            <a:ext cx="3149506" cy="3182620"/>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6" name="Line 16"/>
          <p:cNvSpPr>
            <a:spLocks noChangeShapeType="1"/>
          </p:cNvSpPr>
          <p:nvPr>
            <p:custDataLst>
              <p:tags r:id="rId2"/>
            </p:custDataLst>
          </p:nvPr>
        </p:nvSpPr>
        <p:spPr bwMode="gray">
          <a:xfrm>
            <a:off x="3662473" y="4207709"/>
            <a:ext cx="3479298"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7" name="Line 17"/>
          <p:cNvSpPr>
            <a:spLocks noChangeShapeType="1"/>
          </p:cNvSpPr>
          <p:nvPr>
            <p:custDataLst>
              <p:tags r:id="rId3"/>
            </p:custDataLst>
          </p:nvPr>
        </p:nvSpPr>
        <p:spPr bwMode="gray">
          <a:xfrm>
            <a:off x="5402122" y="2374464"/>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8" name="Oval 10"/>
          <p:cNvSpPr>
            <a:spLocks noChangeArrowheads="1"/>
          </p:cNvSpPr>
          <p:nvPr>
            <p:custDataLst>
              <p:tags r:id="rId4"/>
            </p:custDataLst>
          </p:nvPr>
        </p:nvSpPr>
        <p:spPr bwMode="gray">
          <a:xfrm>
            <a:off x="4007485" y="2789754"/>
            <a:ext cx="2786102" cy="2811145"/>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0" name="Oval 13"/>
          <p:cNvSpPr>
            <a:spLocks noChangeArrowheads="1"/>
          </p:cNvSpPr>
          <p:nvPr>
            <p:custDataLst>
              <p:tags r:id="rId5"/>
            </p:custDataLst>
          </p:nvPr>
        </p:nvSpPr>
        <p:spPr bwMode="gray">
          <a:xfrm>
            <a:off x="4325861" y="3126939"/>
            <a:ext cx="2134764" cy="2181860"/>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9" name="KSO_GT1"/>
          <p:cNvSpPr>
            <a:spLocks noChangeArrowheads="1"/>
          </p:cNvSpPr>
          <p:nvPr>
            <p:custDataLst>
              <p:tags r:id="rId6"/>
            </p:custDataLst>
          </p:nvPr>
        </p:nvSpPr>
        <p:spPr bwMode="gray">
          <a:xfrm>
            <a:off x="4710194" y="3519369"/>
            <a:ext cx="1366731" cy="1397635"/>
          </a:xfrm>
          <a:prstGeom prst="ellipse">
            <a:avLst/>
          </a:prstGeom>
          <a:solidFill>
            <a:srgbClr val="4F5A71"/>
          </a:solidFill>
          <a:ln>
            <a:noFill/>
          </a:ln>
          <a:effectLst/>
        </p:spPr>
        <p:txBody>
          <a:bodyPr wrap="square" lIns="0" tIns="0" rIns="0" bIns="0" anchor="ctr">
            <a:normAutofit/>
          </a:bodyPr>
          <a:lstStyle/>
          <a:p>
            <a:pPr algn="ctr">
              <a:defRPr/>
            </a:pPr>
            <a:r>
              <a:rPr lang="zh-CN" altLang="en-US" sz="28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rPr>
              <a:t>可维护性</a:t>
            </a:r>
          </a:p>
        </p:txBody>
      </p:sp>
      <p:sp>
        <p:nvSpPr>
          <p:cNvPr id="43" name="Oval 19"/>
          <p:cNvSpPr>
            <a:spLocks noChangeArrowheads="1"/>
          </p:cNvSpPr>
          <p:nvPr>
            <p:custDataLst>
              <p:tags r:id="rId7"/>
            </p:custDataLst>
          </p:nvPr>
        </p:nvSpPr>
        <p:spPr bwMode="gray">
          <a:xfrm>
            <a:off x="5573360" y="2538294"/>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0" name="文本框 9"/>
          <p:cNvSpPr txBox="1"/>
          <p:nvPr>
            <p:custDataLst>
              <p:tags r:id="rId8"/>
            </p:custDataLst>
          </p:nvPr>
        </p:nvSpPr>
        <p:spPr>
          <a:xfrm>
            <a:off x="6596982" y="2220794"/>
            <a:ext cx="4879672" cy="422405"/>
          </a:xfrm>
          <a:prstGeom prst="rect">
            <a:avLst/>
          </a:prstGeom>
          <a:noFill/>
        </p:spPr>
        <p:txBody>
          <a:bodyPr wrap="square" lIns="72000" tIns="72000" rIns="72000" bIns="72000">
            <a:spAutoFit/>
          </a:bodyPr>
          <a:lstStyle/>
          <a:p>
            <a:pPr>
              <a:defRPr/>
            </a:pPr>
            <a:r>
              <a:rPr dirty="0"/>
              <a:t>1</a:t>
            </a:r>
            <a:r>
              <a:rPr lang="en-US" dirty="0"/>
              <a:t>. </a:t>
            </a:r>
            <a:r>
              <a:rPr dirty="0" err="1"/>
              <a:t>是否拥有一组训练有素的软件人员</a:t>
            </a:r>
            <a:endParaRPr dirty="0"/>
          </a:p>
        </p:txBody>
      </p:sp>
      <p:sp>
        <p:nvSpPr>
          <p:cNvPr id="46" name="Oval 19"/>
          <p:cNvSpPr>
            <a:spLocks noChangeArrowheads="1"/>
          </p:cNvSpPr>
          <p:nvPr>
            <p:custDataLst>
              <p:tags r:id="rId9"/>
            </p:custDataLst>
          </p:nvPr>
        </p:nvSpPr>
        <p:spPr bwMode="gray">
          <a:xfrm>
            <a:off x="6209476" y="2992954"/>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0"/>
            </p:custDataLst>
          </p:nvPr>
        </p:nvSpPr>
        <p:spPr>
          <a:xfrm>
            <a:off x="7488686" y="3314623"/>
            <a:ext cx="3987968" cy="422405"/>
          </a:xfrm>
          <a:prstGeom prst="rect">
            <a:avLst/>
          </a:prstGeom>
          <a:noFill/>
        </p:spPr>
        <p:txBody>
          <a:bodyPr wrap="square" lIns="72000" tIns="72000" rIns="72000" bIns="72000">
            <a:spAutoFit/>
          </a:bodyPr>
          <a:lstStyle/>
          <a:p>
            <a:pPr>
              <a:defRPr/>
            </a:pPr>
            <a:r>
              <a:rPr dirty="0"/>
              <a:t>3</a:t>
            </a:r>
            <a:r>
              <a:rPr lang="en-US" dirty="0"/>
              <a:t>. </a:t>
            </a:r>
            <a:r>
              <a:rPr dirty="0" err="1"/>
              <a:t>文档结构是否标准化</a:t>
            </a:r>
            <a:endParaRPr dirty="0"/>
          </a:p>
        </p:txBody>
      </p:sp>
      <p:sp>
        <p:nvSpPr>
          <p:cNvPr id="49" name="Oval 19"/>
          <p:cNvSpPr>
            <a:spLocks noChangeArrowheads="1"/>
          </p:cNvSpPr>
          <p:nvPr>
            <p:custDataLst>
              <p:tags r:id="rId11"/>
            </p:custDataLst>
          </p:nvPr>
        </p:nvSpPr>
        <p:spPr bwMode="gray">
          <a:xfrm>
            <a:off x="6596981" y="4092774"/>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1" name="文本框 10"/>
          <p:cNvSpPr txBox="1"/>
          <p:nvPr>
            <p:custDataLst>
              <p:tags r:id="rId12"/>
            </p:custDataLst>
          </p:nvPr>
        </p:nvSpPr>
        <p:spPr>
          <a:xfrm>
            <a:off x="7488686" y="4457761"/>
            <a:ext cx="3987967" cy="422405"/>
          </a:xfrm>
          <a:prstGeom prst="rect">
            <a:avLst/>
          </a:prstGeom>
          <a:noFill/>
        </p:spPr>
        <p:txBody>
          <a:bodyPr wrap="square" lIns="72000" tIns="72000" rIns="72000" bIns="72000">
            <a:spAutoFit/>
          </a:bodyPr>
          <a:lstStyle/>
          <a:p>
            <a:pPr>
              <a:defRPr/>
            </a:pPr>
            <a:r>
              <a:rPr lang="zh-CN" altLang="en-US" dirty="0"/>
              <a:t>5</a:t>
            </a:r>
            <a:r>
              <a:rPr lang="en-US" altLang="zh-CN" dirty="0"/>
              <a:t>. </a:t>
            </a:r>
            <a:r>
              <a:rPr lang="zh-CN" altLang="en-US" dirty="0"/>
              <a:t>是否已有嵌入系统的调试工具</a:t>
            </a:r>
          </a:p>
        </p:txBody>
      </p:sp>
      <p:sp>
        <p:nvSpPr>
          <p:cNvPr id="53" name="Oval 19"/>
          <p:cNvSpPr>
            <a:spLocks noChangeArrowheads="1"/>
          </p:cNvSpPr>
          <p:nvPr>
            <p:custDataLst>
              <p:tags r:id="rId13"/>
            </p:custDataLst>
          </p:nvPr>
        </p:nvSpPr>
        <p:spPr bwMode="gray">
          <a:xfrm>
            <a:off x="6209476" y="5057339"/>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2" name="文本框 11"/>
          <p:cNvSpPr txBox="1"/>
          <p:nvPr>
            <p:custDataLst>
              <p:tags r:id="rId14"/>
            </p:custDataLst>
          </p:nvPr>
        </p:nvSpPr>
        <p:spPr>
          <a:xfrm>
            <a:off x="6460624" y="5600899"/>
            <a:ext cx="5016027" cy="422405"/>
          </a:xfrm>
          <a:prstGeom prst="rect">
            <a:avLst/>
          </a:prstGeom>
          <a:noFill/>
        </p:spPr>
        <p:txBody>
          <a:bodyPr wrap="square" lIns="72000" tIns="72000" rIns="72000" bIns="72000">
            <a:spAutoFit/>
          </a:bodyPr>
          <a:lstStyle/>
          <a:p>
            <a:pPr>
              <a:defRPr/>
            </a:pPr>
            <a:r>
              <a:rPr lang="zh-CN" altLang="en-US" dirty="0"/>
              <a:t>7</a:t>
            </a:r>
            <a:r>
              <a:rPr lang="en-US" altLang="zh-CN" dirty="0"/>
              <a:t>. </a:t>
            </a:r>
            <a:r>
              <a:rPr lang="zh-CN" altLang="en-US" dirty="0"/>
              <a:t>是否使用了标准的操作系统</a:t>
            </a:r>
          </a:p>
        </p:txBody>
      </p:sp>
      <p:sp>
        <p:nvSpPr>
          <p:cNvPr id="56" name="Oval 19"/>
          <p:cNvSpPr>
            <a:spLocks noChangeArrowheads="1"/>
          </p:cNvSpPr>
          <p:nvPr>
            <p:custDataLst>
              <p:tags r:id="rId15"/>
            </p:custDataLst>
          </p:nvPr>
        </p:nvSpPr>
        <p:spPr bwMode="gray">
          <a:xfrm>
            <a:off x="5573360" y="5600899"/>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7" name="文本框 56"/>
          <p:cNvSpPr txBox="1"/>
          <p:nvPr>
            <p:custDataLst>
              <p:tags r:id="rId16"/>
            </p:custDataLst>
          </p:nvPr>
        </p:nvSpPr>
        <p:spPr>
          <a:xfrm>
            <a:off x="7640896" y="3886192"/>
            <a:ext cx="3835757" cy="422405"/>
          </a:xfrm>
          <a:prstGeom prst="rect">
            <a:avLst/>
          </a:prstGeom>
          <a:noFill/>
        </p:spPr>
        <p:txBody>
          <a:bodyPr wrap="square" lIns="72000" tIns="72000" rIns="72000" bIns="72000">
            <a:spAutoFit/>
          </a:bodyPr>
          <a:lstStyle/>
          <a:p>
            <a:pPr>
              <a:defRPr/>
            </a:pPr>
            <a:r>
              <a:rPr dirty="0">
                <a:sym typeface="+mn-ea"/>
              </a:rPr>
              <a:t>4</a:t>
            </a:r>
            <a:r>
              <a:rPr lang="en-US" dirty="0">
                <a:sym typeface="+mn-ea"/>
              </a:rPr>
              <a:t>. </a:t>
            </a:r>
            <a:r>
              <a:rPr dirty="0" err="1">
                <a:sym typeface="+mn-ea"/>
              </a:rPr>
              <a:t>测试用例是否合适</a:t>
            </a:r>
            <a:endParaRPr dirty="0">
              <a:sym typeface="+mn-ea"/>
            </a:endParaRPr>
          </a:p>
        </p:txBody>
      </p:sp>
      <p:sp>
        <p:nvSpPr>
          <p:cNvPr id="13" name="Oval 19"/>
          <p:cNvSpPr>
            <a:spLocks noChangeArrowheads="1"/>
          </p:cNvSpPr>
          <p:nvPr>
            <p:custDataLst>
              <p:tags r:id="rId17"/>
            </p:custDataLst>
          </p:nvPr>
        </p:nvSpPr>
        <p:spPr bwMode="gray">
          <a:xfrm>
            <a:off x="6758071" y="3406339"/>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4" name="Oval 19"/>
          <p:cNvSpPr>
            <a:spLocks noChangeArrowheads="1"/>
          </p:cNvSpPr>
          <p:nvPr>
            <p:custDataLst>
              <p:tags r:id="rId18"/>
            </p:custDataLst>
          </p:nvPr>
        </p:nvSpPr>
        <p:spPr bwMode="gray">
          <a:xfrm>
            <a:off x="6733337" y="4805879"/>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5" name="文本框 14"/>
          <p:cNvSpPr txBox="1"/>
          <p:nvPr/>
        </p:nvSpPr>
        <p:spPr>
          <a:xfrm>
            <a:off x="6984486" y="2792363"/>
            <a:ext cx="4492168" cy="422405"/>
          </a:xfrm>
          <a:prstGeom prst="rect">
            <a:avLst/>
          </a:prstGeom>
          <a:noFill/>
        </p:spPr>
        <p:txBody>
          <a:bodyPr wrap="square" lIns="72000" tIns="72000" rIns="72000" bIns="72000" rtlCol="0" anchor="t">
            <a:spAutoFit/>
          </a:bodyPr>
          <a:lstStyle/>
          <a:p>
            <a:pPr algn="l"/>
            <a:r>
              <a:rPr dirty="0">
                <a:sym typeface="+mn-ea"/>
              </a:rPr>
              <a:t>2</a:t>
            </a:r>
            <a:r>
              <a:rPr lang="en-US" dirty="0">
                <a:sym typeface="+mn-ea"/>
              </a:rPr>
              <a:t>. </a:t>
            </a:r>
            <a:r>
              <a:rPr dirty="0" err="1">
                <a:sym typeface="+mn-ea"/>
              </a:rPr>
              <a:t>系统结构是否可理解、是否合理</a:t>
            </a:r>
            <a:endParaRPr dirty="0">
              <a:sym typeface="+mn-ea"/>
            </a:endParaRPr>
          </a:p>
        </p:txBody>
      </p:sp>
      <p:sp>
        <p:nvSpPr>
          <p:cNvPr id="16" name="文本框 15"/>
          <p:cNvSpPr txBox="1"/>
          <p:nvPr/>
        </p:nvSpPr>
        <p:spPr>
          <a:xfrm>
            <a:off x="7009219" y="5029330"/>
            <a:ext cx="4467433" cy="422405"/>
          </a:xfrm>
          <a:prstGeom prst="rect">
            <a:avLst/>
          </a:prstGeom>
          <a:noFill/>
        </p:spPr>
        <p:txBody>
          <a:bodyPr wrap="square" lIns="72000" tIns="72000" rIns="72000" bIns="72000" rtlCol="0" anchor="t">
            <a:spAutoFit/>
          </a:bodyPr>
          <a:lstStyle/>
          <a:p>
            <a:pPr algn="l">
              <a:defRPr/>
            </a:pPr>
            <a:r>
              <a:rPr lang="zh-CN" altLang="en-US" dirty="0">
                <a:sym typeface="+mn-ea"/>
              </a:rPr>
              <a:t>6</a:t>
            </a:r>
            <a:r>
              <a:rPr lang="en-US" altLang="zh-CN" dirty="0">
                <a:sym typeface="+mn-ea"/>
              </a:rPr>
              <a:t>. </a:t>
            </a:r>
            <a:r>
              <a:rPr lang="zh-CN" altLang="en-US" dirty="0">
                <a:sym typeface="+mn-ea"/>
              </a:rPr>
              <a:t>是否使用了合适的程序设计语言</a:t>
            </a:r>
          </a:p>
        </p:txBody>
      </p:sp>
      <p:sp>
        <p:nvSpPr>
          <p:cNvPr id="167" name="圆角矩形"/>
          <p:cNvSpPr/>
          <p:nvPr/>
        </p:nvSpPr>
        <p:spPr>
          <a:xfrm>
            <a:off x="964281" y="2926613"/>
            <a:ext cx="2420620" cy="2873375"/>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indent="457200" algn="l" eaLnBrk="1" fontAlgn="auto" hangingPunct="1">
              <a:lnSpc>
                <a:spcPct val="120000"/>
              </a:lnSpc>
              <a:spcBef>
                <a:spcPts val="0"/>
              </a:spcBef>
              <a:spcAft>
                <a:spcPts val="0"/>
              </a:spcAft>
              <a:defRPr/>
            </a:pPr>
            <a:r>
              <a:rPr lang="zh-CN" altLang="en-US" sz="1600" dirty="0">
                <a:solidFill>
                  <a:schemeClr val="tx1"/>
                </a:solidFill>
              </a:rPr>
              <a:t>造成软件维护工作变得困难的原因是多方面的，有维护人员素质方面的因素，也有技术条件和管理方面的因素等。与开发环境有关的可维护性影响因素如右</a:t>
            </a:r>
          </a:p>
        </p:txBody>
      </p:sp>
      <p:sp>
        <p:nvSpPr>
          <p:cNvPr id="2" name="学士帽"/>
          <p:cNvSpPr/>
          <p:nvPr/>
        </p:nvSpPr>
        <p:spPr bwMode="auto">
          <a:xfrm>
            <a:off x="769336" y="2713253"/>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31" name="TextBox 1"/>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32" name="直接连接符 31"/>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4" name="矩形 7"/>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决定软件可维护性的因素</a:t>
            </a:r>
          </a:p>
        </p:txBody>
      </p:sp>
    </p:spTree>
  </p:cSld>
  <p:clrMapOvr>
    <a:masterClrMapping/>
  </p:clrMapOvr>
  <p:transition>
    <p:zoom/>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cxnSp>
        <p:nvCxnSpPr>
          <p:cNvPr id="40" name="MH_Other_5"/>
          <p:cNvCxnSpPr/>
          <p:nvPr/>
        </p:nvCxnSpPr>
        <p:spPr>
          <a:xfrm>
            <a:off x="949960" y="2232660"/>
            <a:ext cx="2372995" cy="0"/>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cxnSp>
        <p:nvCxnSpPr>
          <p:cNvPr id="43" name="MH_Other_6"/>
          <p:cNvCxnSpPr/>
          <p:nvPr/>
        </p:nvCxnSpPr>
        <p:spPr>
          <a:xfrm>
            <a:off x="949960" y="2427605"/>
            <a:ext cx="0" cy="741680"/>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cxnSp>
        <p:nvCxnSpPr>
          <p:cNvPr id="53" name="MH_Other_7"/>
          <p:cNvCxnSpPr/>
          <p:nvPr/>
        </p:nvCxnSpPr>
        <p:spPr>
          <a:xfrm rot="10800000">
            <a:off x="5240655" y="6099810"/>
            <a:ext cx="2371725" cy="0"/>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cxnSp>
        <p:nvCxnSpPr>
          <p:cNvPr id="54" name="MH_Other_8"/>
          <p:cNvCxnSpPr/>
          <p:nvPr/>
        </p:nvCxnSpPr>
        <p:spPr>
          <a:xfrm rot="10800000">
            <a:off x="7611110" y="5161280"/>
            <a:ext cx="0" cy="741045"/>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sp>
        <p:nvSpPr>
          <p:cNvPr id="5135" name="MH_Desc_1"/>
          <p:cNvSpPr txBox="1">
            <a:spLocks noChangeArrowheads="1"/>
          </p:cNvSpPr>
          <p:nvPr/>
        </p:nvSpPr>
        <p:spPr bwMode="auto">
          <a:xfrm>
            <a:off x="1072515" y="2540211"/>
            <a:ext cx="6289040" cy="3182832"/>
          </a:xfrm>
          <a:prstGeom prst="rect">
            <a:avLst/>
          </a:prstGeom>
          <a:noFill/>
          <a:ln w="9525">
            <a:noFill/>
            <a:miter lim="800000"/>
          </a:ln>
        </p:spPr>
        <p:txBody>
          <a:bodyPr lIns="108000" tIns="108000" rIns="108000" bIns="108000"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pPr>
            <a:r>
              <a:rPr lang="en-US" altLang="zh-CN" dirty="0"/>
              <a:t>以上影响软件可维护性的因素中，结构合理性是软件设计时应当考虑的。系统结构若不合理，对其维护当然困难较大。所谓结构的合理性主要是以下列几点为基础的：模块化、层次组织、系统文档的结构、命令的格式和约定、程序的复杂性等</a:t>
            </a:r>
            <a:r>
              <a:rPr lang="zh-CN" altLang="en-US" dirty="0"/>
              <a:t>。</a:t>
            </a:r>
          </a:p>
          <a:p>
            <a:pPr indent="457200" algn="l" fontAlgn="auto">
              <a:lnSpc>
                <a:spcPct val="120000"/>
              </a:lnSpc>
            </a:pPr>
            <a:r>
              <a:rPr lang="en-US" altLang="zh-CN" dirty="0" err="1"/>
              <a:t>其他影响软件可维护性的因素还有应用的类型、使用的数据库技术、开关与标号的数量、IF语句的嵌套层次、索引或下标变量的数量等</a:t>
            </a:r>
            <a:r>
              <a:rPr lang="en-US" altLang="zh-CN" dirty="0"/>
              <a:t>。</a:t>
            </a:r>
          </a:p>
          <a:p>
            <a:pPr indent="457200" algn="l" fontAlgn="auto">
              <a:lnSpc>
                <a:spcPct val="120000"/>
              </a:lnSpc>
            </a:pPr>
            <a:r>
              <a:rPr lang="en-US" altLang="zh-CN" dirty="0" err="1"/>
              <a:t>此外软件开发人员是否能参加维护也是值得考虑的因素</a:t>
            </a:r>
            <a:r>
              <a:rPr lang="en-US" altLang="zh-CN" dirty="0"/>
              <a:t>。</a:t>
            </a:r>
          </a:p>
        </p:txBody>
      </p:sp>
      <p:pic>
        <p:nvPicPr>
          <p:cNvPr id="4" name="图片 3" descr="A000220150319F73PPIC.png"/>
          <p:cNvPicPr>
            <a:picLocks noChangeAspect="1"/>
          </p:cNvPicPr>
          <p:nvPr/>
        </p:nvPicPr>
        <p:blipFill>
          <a:blip r:embed="rId2" cstate="print"/>
          <a:stretch>
            <a:fillRect/>
          </a:stretch>
        </p:blipFill>
        <p:spPr>
          <a:xfrm>
            <a:off x="7764780" y="2882900"/>
            <a:ext cx="4427220" cy="2629535"/>
          </a:xfrm>
          <a:prstGeom prst="rect">
            <a:avLst/>
          </a:prstGeom>
        </p:spPr>
      </p:pic>
    </p:spTree>
  </p:cSld>
  <p:clrMapOvr>
    <a:masterClrMapping/>
  </p:clrMapOvr>
  <p:transition>
    <p:zoom/>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66" name="文本框 44"/>
          <p:cNvSpPr txBox="1"/>
          <p:nvPr/>
        </p:nvSpPr>
        <p:spPr>
          <a:xfrm>
            <a:off x="1291770" y="3910767"/>
            <a:ext cx="282458" cy="40707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24" name="文本框 44"/>
          <p:cNvSpPr txBox="1"/>
          <p:nvPr/>
        </p:nvSpPr>
        <p:spPr>
          <a:xfrm>
            <a:off x="1291770" y="5355602"/>
            <a:ext cx="282458" cy="40707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45" name="任意多边形 44"/>
          <p:cNvSpPr/>
          <p:nvPr>
            <p:custDataLst>
              <p:tags r:id="rId1"/>
            </p:custDataLst>
          </p:nvPr>
        </p:nvSpPr>
        <p:spPr>
          <a:xfrm>
            <a:off x="6117293" y="2798781"/>
            <a:ext cx="2241145" cy="3418586"/>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6" name="任意多边形 45"/>
          <p:cNvSpPr/>
          <p:nvPr>
            <p:custDataLst>
              <p:tags r:id="rId2"/>
            </p:custDataLst>
          </p:nvPr>
        </p:nvSpPr>
        <p:spPr>
          <a:xfrm rot="10800000">
            <a:off x="3874990" y="2798781"/>
            <a:ext cx="2242303" cy="3418586"/>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1" name="圆角矩形 50"/>
          <p:cNvSpPr/>
          <p:nvPr>
            <p:custDataLst>
              <p:tags r:id="rId3"/>
            </p:custDataLst>
          </p:nvPr>
        </p:nvSpPr>
        <p:spPr>
          <a:xfrm>
            <a:off x="7226868" y="3097551"/>
            <a:ext cx="3956153" cy="430416"/>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2500" lnSpcReduction="20000"/>
          </a:bodyPr>
          <a:lstStyle/>
          <a:p>
            <a:pPr algn="ctr" eaLnBrk="1" hangingPunct="1">
              <a:spcBef>
                <a:spcPts val="0"/>
              </a:spcBef>
              <a:spcAft>
                <a:spcPts val="0"/>
              </a:spcAft>
              <a:defRPr/>
            </a:pPr>
            <a:endParaRPr lang="zh-CN" altLang="en-US" sz="1800">
              <a:solidFill>
                <a:schemeClr val="tx1"/>
              </a:solidFill>
            </a:endParaRPr>
          </a:p>
        </p:txBody>
      </p:sp>
      <p:sp>
        <p:nvSpPr>
          <p:cNvPr id="56" name="椭圆 55"/>
          <p:cNvSpPr/>
          <p:nvPr>
            <p:custDataLst>
              <p:tags r:id="rId4"/>
            </p:custDataLst>
          </p:nvPr>
        </p:nvSpPr>
        <p:spPr>
          <a:xfrm>
            <a:off x="7205452" y="3061139"/>
            <a:ext cx="622798" cy="502308"/>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2500" lnSpcReduction="20000"/>
          </a:bodyPr>
          <a:lstStyle/>
          <a:p>
            <a:pPr algn="ctr" eaLnBrk="1" hangingPunct="1">
              <a:spcBef>
                <a:spcPts val="0"/>
              </a:spcBef>
              <a:spcAft>
                <a:spcPts val="0"/>
              </a:spcAft>
              <a:defRPr/>
            </a:pPr>
            <a:r>
              <a:rPr lang="en-US" altLang="zh-CN" sz="2400" b="1" dirty="0">
                <a:solidFill>
                  <a:schemeClr val="bg1"/>
                </a:solidFill>
                <a:latin typeface="微软雅黑 Light" panose="020B0502040204020203" pitchFamily="34" charset="-122"/>
                <a:ea typeface="微软雅黑 Light" panose="020B0502040204020203" pitchFamily="34" charset="-122"/>
              </a:rPr>
              <a:t>5</a:t>
            </a:r>
          </a:p>
        </p:txBody>
      </p:sp>
      <p:sp>
        <p:nvSpPr>
          <p:cNvPr id="57" name="文本框 54"/>
          <p:cNvSpPr txBox="1">
            <a:spLocks noChangeArrowheads="1"/>
          </p:cNvSpPr>
          <p:nvPr>
            <p:custDataLst>
              <p:tags r:id="rId5"/>
            </p:custDataLst>
          </p:nvPr>
        </p:nvSpPr>
        <p:spPr bwMode="auto">
          <a:xfrm>
            <a:off x="7828250" y="3182514"/>
            <a:ext cx="3610026" cy="3416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800" dirty="0" err="1">
                <a:latin typeface="+mn-ea"/>
                <a:ea typeface="+mn-ea"/>
                <a:sym typeface="+mn-ea"/>
              </a:rPr>
              <a:t>纠错或修改软件的时间</a:t>
            </a:r>
            <a:r>
              <a:rPr sz="1800" dirty="0">
                <a:latin typeface="+mn-ea"/>
                <a:ea typeface="+mn-ea"/>
                <a:sym typeface="+mn-ea"/>
              </a:rPr>
              <a:t>；</a:t>
            </a:r>
          </a:p>
        </p:txBody>
      </p:sp>
      <p:sp>
        <p:nvSpPr>
          <p:cNvPr id="58" name="圆角矩形 57"/>
          <p:cNvSpPr/>
          <p:nvPr>
            <p:custDataLst>
              <p:tags r:id="rId6"/>
            </p:custDataLst>
          </p:nvPr>
        </p:nvSpPr>
        <p:spPr>
          <a:xfrm>
            <a:off x="6593073" y="3886959"/>
            <a:ext cx="4254818" cy="430416"/>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2500" lnSpcReduction="20000"/>
          </a:bodyPr>
          <a:lstStyle/>
          <a:p>
            <a:pPr algn="ctr" eaLnBrk="1" hangingPunct="1">
              <a:spcBef>
                <a:spcPts val="0"/>
              </a:spcBef>
              <a:spcAft>
                <a:spcPts val="0"/>
              </a:spcAft>
              <a:defRPr/>
            </a:pPr>
            <a:endParaRPr lang="zh-CN" altLang="en-US" sz="1800">
              <a:solidFill>
                <a:schemeClr val="tx1"/>
              </a:solidFill>
            </a:endParaRPr>
          </a:p>
        </p:txBody>
      </p:sp>
      <p:sp>
        <p:nvSpPr>
          <p:cNvPr id="59" name="椭圆 58"/>
          <p:cNvSpPr/>
          <p:nvPr>
            <p:custDataLst>
              <p:tags r:id="rId7"/>
            </p:custDataLst>
          </p:nvPr>
        </p:nvSpPr>
        <p:spPr>
          <a:xfrm>
            <a:off x="6573394" y="3851480"/>
            <a:ext cx="622798" cy="502308"/>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2500" lnSpcReduction="20000"/>
          </a:bodyPr>
          <a:lstStyle/>
          <a:p>
            <a:pPr algn="ctr" eaLnBrk="1" hangingPunct="1">
              <a:spcBef>
                <a:spcPts val="0"/>
              </a:spcBef>
              <a:spcAft>
                <a:spcPts val="0"/>
              </a:spcAft>
              <a:defRPr/>
            </a:pPr>
            <a:r>
              <a:rPr lang="en-US" altLang="zh-CN" sz="2400" b="1" dirty="0">
                <a:solidFill>
                  <a:schemeClr val="bg1"/>
                </a:solidFill>
                <a:latin typeface="微软雅黑 Light" panose="020B0502040204020203" pitchFamily="34" charset="-122"/>
                <a:ea typeface="微软雅黑 Light" panose="020B0502040204020203" pitchFamily="34" charset="-122"/>
              </a:rPr>
              <a:t>6</a:t>
            </a:r>
          </a:p>
        </p:txBody>
      </p:sp>
      <p:sp>
        <p:nvSpPr>
          <p:cNvPr id="60" name="文本框 55"/>
          <p:cNvSpPr txBox="1">
            <a:spLocks noChangeArrowheads="1"/>
          </p:cNvSpPr>
          <p:nvPr>
            <p:custDataLst>
              <p:tags r:id="rId8"/>
            </p:custDataLst>
          </p:nvPr>
        </p:nvSpPr>
        <p:spPr bwMode="auto">
          <a:xfrm>
            <a:off x="7221679" y="4003199"/>
            <a:ext cx="3881487" cy="3416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800" dirty="0" err="1">
                <a:latin typeface="+mn-ea"/>
                <a:ea typeface="+mn-ea"/>
                <a:sym typeface="+mn-ea"/>
              </a:rPr>
              <a:t>测试软件的时间</a:t>
            </a:r>
            <a:r>
              <a:rPr sz="1800" dirty="0">
                <a:latin typeface="+mn-ea"/>
                <a:ea typeface="+mn-ea"/>
                <a:sym typeface="+mn-ea"/>
              </a:rPr>
              <a:t>；</a:t>
            </a:r>
          </a:p>
        </p:txBody>
      </p:sp>
      <p:sp>
        <p:nvSpPr>
          <p:cNvPr id="61" name="圆角矩形 60"/>
          <p:cNvSpPr/>
          <p:nvPr>
            <p:custDataLst>
              <p:tags r:id="rId9"/>
            </p:custDataLst>
          </p:nvPr>
        </p:nvSpPr>
        <p:spPr>
          <a:xfrm>
            <a:off x="6493518" y="4681034"/>
            <a:ext cx="4354373" cy="431350"/>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2500" lnSpcReduction="20000"/>
          </a:bodyPr>
          <a:lstStyle/>
          <a:p>
            <a:pPr algn="ctr" eaLnBrk="1" hangingPunct="1">
              <a:spcBef>
                <a:spcPts val="0"/>
              </a:spcBef>
              <a:spcAft>
                <a:spcPts val="0"/>
              </a:spcAft>
              <a:defRPr/>
            </a:pPr>
            <a:endParaRPr lang="zh-CN" altLang="en-US" sz="1800">
              <a:solidFill>
                <a:schemeClr val="tx1"/>
              </a:solidFill>
            </a:endParaRPr>
          </a:p>
        </p:txBody>
      </p:sp>
      <p:sp>
        <p:nvSpPr>
          <p:cNvPr id="62" name="椭圆 61"/>
          <p:cNvSpPr/>
          <p:nvPr>
            <p:custDataLst>
              <p:tags r:id="rId10"/>
            </p:custDataLst>
          </p:nvPr>
        </p:nvSpPr>
        <p:spPr>
          <a:xfrm>
            <a:off x="6472681" y="4646022"/>
            <a:ext cx="622798" cy="502308"/>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2500" lnSpcReduction="20000"/>
          </a:bodyPr>
          <a:lstStyle/>
          <a:p>
            <a:pPr algn="ctr" eaLnBrk="1" hangingPunct="1">
              <a:spcBef>
                <a:spcPts val="0"/>
              </a:spcBef>
              <a:spcAft>
                <a:spcPts val="0"/>
              </a:spcAft>
              <a:defRPr/>
            </a:pPr>
            <a:r>
              <a:rPr lang="en-US" altLang="zh-CN" sz="2400" b="1" dirty="0">
                <a:solidFill>
                  <a:schemeClr val="bg1"/>
                </a:solidFill>
                <a:latin typeface="微软雅黑 Light" panose="020B0502040204020203" pitchFamily="34" charset="-122"/>
                <a:ea typeface="微软雅黑 Light" panose="020B0502040204020203" pitchFamily="34" charset="-122"/>
              </a:rPr>
              <a:t>7</a:t>
            </a:r>
          </a:p>
        </p:txBody>
      </p:sp>
      <p:sp>
        <p:nvSpPr>
          <p:cNvPr id="63" name="文本框 56"/>
          <p:cNvSpPr txBox="1">
            <a:spLocks noChangeArrowheads="1"/>
          </p:cNvSpPr>
          <p:nvPr>
            <p:custDataLst>
              <p:tags r:id="rId11"/>
            </p:custDataLst>
          </p:nvPr>
        </p:nvSpPr>
        <p:spPr bwMode="auto">
          <a:xfrm>
            <a:off x="7152801" y="4808012"/>
            <a:ext cx="3485004" cy="3416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800">
                <a:latin typeface="+mn-ea"/>
                <a:ea typeface="+mn-ea"/>
                <a:sym typeface="+mn-ea"/>
              </a:rPr>
              <a:t>维护评审的时间；</a:t>
            </a:r>
          </a:p>
        </p:txBody>
      </p:sp>
      <p:sp>
        <p:nvSpPr>
          <p:cNvPr id="64" name="圆角矩形 63"/>
          <p:cNvSpPr/>
          <p:nvPr>
            <p:custDataLst>
              <p:tags r:id="rId12"/>
            </p:custDataLst>
          </p:nvPr>
        </p:nvSpPr>
        <p:spPr>
          <a:xfrm>
            <a:off x="7296325" y="5517124"/>
            <a:ext cx="3886118" cy="430416"/>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2500" lnSpcReduction="20000"/>
          </a:bodyPr>
          <a:lstStyle/>
          <a:p>
            <a:pPr algn="ctr" eaLnBrk="1" hangingPunct="1">
              <a:spcBef>
                <a:spcPts val="0"/>
              </a:spcBef>
              <a:spcAft>
                <a:spcPts val="0"/>
              </a:spcAft>
              <a:defRPr/>
            </a:pPr>
            <a:endParaRPr lang="zh-CN" altLang="en-US" sz="1800">
              <a:solidFill>
                <a:schemeClr val="tx1"/>
              </a:solidFill>
            </a:endParaRPr>
          </a:p>
        </p:txBody>
      </p:sp>
      <p:sp>
        <p:nvSpPr>
          <p:cNvPr id="65" name="椭圆 64"/>
          <p:cNvSpPr/>
          <p:nvPr>
            <p:custDataLst>
              <p:tags r:id="rId13"/>
            </p:custDataLst>
          </p:nvPr>
        </p:nvSpPr>
        <p:spPr>
          <a:xfrm>
            <a:off x="7276646" y="5480712"/>
            <a:ext cx="622798" cy="502308"/>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2500" lnSpcReduction="20000"/>
          </a:bodyPr>
          <a:lstStyle/>
          <a:p>
            <a:pPr algn="ctr" eaLnBrk="1" hangingPunct="1">
              <a:spcBef>
                <a:spcPts val="0"/>
              </a:spcBef>
              <a:spcAft>
                <a:spcPts val="0"/>
              </a:spcAft>
              <a:defRPr/>
            </a:pPr>
            <a:r>
              <a:rPr lang="en-US" altLang="zh-CN" sz="2400" b="1" dirty="0">
                <a:solidFill>
                  <a:schemeClr val="bg1"/>
                </a:solidFill>
                <a:latin typeface="微软雅黑 Light" panose="020B0502040204020203" pitchFamily="34" charset="-122"/>
                <a:ea typeface="微软雅黑 Light" panose="020B0502040204020203" pitchFamily="34" charset="-122"/>
              </a:rPr>
              <a:t>8</a:t>
            </a:r>
          </a:p>
        </p:txBody>
      </p:sp>
      <p:sp>
        <p:nvSpPr>
          <p:cNvPr id="67" name="文本框 57"/>
          <p:cNvSpPr txBox="1">
            <a:spLocks noChangeArrowheads="1"/>
          </p:cNvSpPr>
          <p:nvPr>
            <p:custDataLst>
              <p:tags r:id="rId14"/>
            </p:custDataLst>
          </p:nvPr>
        </p:nvSpPr>
        <p:spPr bwMode="auto">
          <a:xfrm>
            <a:off x="7899443" y="5585748"/>
            <a:ext cx="3140613" cy="3416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800">
                <a:latin typeface="+mn-ea"/>
                <a:ea typeface="+mn-ea"/>
                <a:sym typeface="+mn-ea"/>
              </a:rPr>
              <a:t>软件恢复运行的时间。</a:t>
            </a:r>
          </a:p>
        </p:txBody>
      </p:sp>
      <p:sp>
        <p:nvSpPr>
          <p:cNvPr id="68" name="圆角矩形 67"/>
          <p:cNvSpPr/>
          <p:nvPr>
            <p:custDataLst>
              <p:tags r:id="rId15"/>
            </p:custDataLst>
          </p:nvPr>
        </p:nvSpPr>
        <p:spPr>
          <a:xfrm rot="10800000">
            <a:off x="802098" y="3098018"/>
            <a:ext cx="4195201" cy="430416"/>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2500" lnSpcReduction="20000"/>
          </a:bodyPr>
          <a:lstStyle/>
          <a:p>
            <a:pPr algn="ctr" eaLnBrk="1" hangingPunct="1">
              <a:spcBef>
                <a:spcPts val="0"/>
              </a:spcBef>
              <a:spcAft>
                <a:spcPts val="0"/>
              </a:spcAft>
              <a:defRPr/>
            </a:pPr>
            <a:endParaRPr lang="zh-CN" altLang="en-US" sz="1800">
              <a:solidFill>
                <a:schemeClr val="tx1"/>
              </a:solidFill>
            </a:endParaRPr>
          </a:p>
        </p:txBody>
      </p:sp>
      <p:sp>
        <p:nvSpPr>
          <p:cNvPr id="69" name="椭圆 68"/>
          <p:cNvSpPr/>
          <p:nvPr>
            <p:custDataLst>
              <p:tags r:id="rId16"/>
            </p:custDataLst>
          </p:nvPr>
        </p:nvSpPr>
        <p:spPr>
          <a:xfrm>
            <a:off x="4395339" y="3061139"/>
            <a:ext cx="622798" cy="502308"/>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2500" lnSpcReduction="20000"/>
          </a:bodyPr>
          <a:lstStyle/>
          <a:p>
            <a:pPr algn="ctr" eaLnBrk="1" hangingPunct="1">
              <a:spcBef>
                <a:spcPts val="0"/>
              </a:spcBef>
              <a:spcAft>
                <a:spcPts val="0"/>
              </a:spcAft>
              <a:defRPr/>
            </a:pPr>
            <a:r>
              <a:rPr lang="en-US" altLang="zh-CN" sz="2400" b="1" dirty="0">
                <a:solidFill>
                  <a:schemeClr val="bg1"/>
                </a:solidFill>
                <a:latin typeface="微软雅黑 Light" panose="020B0502040204020203" pitchFamily="34" charset="-122"/>
                <a:ea typeface="微软雅黑 Light" panose="020B0502040204020203" pitchFamily="34" charset="-122"/>
              </a:rPr>
              <a:t>1</a:t>
            </a:r>
          </a:p>
        </p:txBody>
      </p:sp>
      <p:sp>
        <p:nvSpPr>
          <p:cNvPr id="70" name="文本框 59"/>
          <p:cNvSpPr txBox="1">
            <a:spLocks noChangeArrowheads="1"/>
          </p:cNvSpPr>
          <p:nvPr>
            <p:custDataLst>
              <p:tags r:id="rId17"/>
            </p:custDataLst>
          </p:nvPr>
        </p:nvSpPr>
        <p:spPr bwMode="auto">
          <a:xfrm>
            <a:off x="904567" y="3158706"/>
            <a:ext cx="350063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fontAlgn="auto">
              <a:lnSpc>
                <a:spcPct val="100000"/>
              </a:lnSpc>
              <a:spcBef>
                <a:spcPct val="0"/>
              </a:spcBef>
              <a:buFontTx/>
              <a:buNone/>
            </a:pPr>
            <a:r>
              <a:rPr sz="1800" dirty="0" err="1">
                <a:latin typeface="+mn-ea"/>
                <a:ea typeface="+mn-ea"/>
                <a:sym typeface="+mn-ea"/>
              </a:rPr>
              <a:t>识别问题的时间</a:t>
            </a:r>
            <a:endParaRPr sz="1800" dirty="0">
              <a:latin typeface="+mn-ea"/>
              <a:ea typeface="+mn-ea"/>
              <a:sym typeface="+mn-ea"/>
            </a:endParaRPr>
          </a:p>
        </p:txBody>
      </p:sp>
      <p:sp>
        <p:nvSpPr>
          <p:cNvPr id="71" name="圆角矩形 70"/>
          <p:cNvSpPr/>
          <p:nvPr>
            <p:custDataLst>
              <p:tags r:id="rId18"/>
            </p:custDataLst>
          </p:nvPr>
        </p:nvSpPr>
        <p:spPr>
          <a:xfrm rot="10800000">
            <a:off x="1442260" y="3888826"/>
            <a:ext cx="4188256" cy="430416"/>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2500" lnSpcReduction="20000"/>
          </a:bodyPr>
          <a:lstStyle/>
          <a:p>
            <a:pPr algn="ctr" eaLnBrk="1" hangingPunct="1">
              <a:spcBef>
                <a:spcPts val="0"/>
              </a:spcBef>
              <a:spcAft>
                <a:spcPts val="0"/>
              </a:spcAft>
              <a:defRPr/>
            </a:pPr>
            <a:endParaRPr lang="zh-CN" altLang="en-US" sz="1800">
              <a:solidFill>
                <a:schemeClr val="tx1"/>
              </a:solidFill>
            </a:endParaRPr>
          </a:p>
        </p:txBody>
      </p:sp>
      <p:sp>
        <p:nvSpPr>
          <p:cNvPr id="72" name="椭圆 71"/>
          <p:cNvSpPr/>
          <p:nvPr>
            <p:custDataLst>
              <p:tags r:id="rId19"/>
            </p:custDataLst>
          </p:nvPr>
        </p:nvSpPr>
        <p:spPr>
          <a:xfrm>
            <a:off x="5027976" y="3851480"/>
            <a:ext cx="622798" cy="502308"/>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2500" lnSpcReduction="20000"/>
          </a:bodyPr>
          <a:lstStyle/>
          <a:p>
            <a:pPr algn="ctr" eaLnBrk="1" hangingPunct="1">
              <a:spcBef>
                <a:spcPts val="0"/>
              </a:spcBef>
              <a:spcAft>
                <a:spcPts val="0"/>
              </a:spcAft>
              <a:defRPr/>
            </a:pPr>
            <a:r>
              <a:rPr lang="en-US" altLang="zh-CN" sz="2400" b="1" dirty="0">
                <a:solidFill>
                  <a:schemeClr val="bg1"/>
                </a:solidFill>
                <a:latin typeface="微软雅黑 Light" panose="020B0502040204020203" pitchFamily="34" charset="-122"/>
                <a:ea typeface="微软雅黑 Light" panose="020B0502040204020203" pitchFamily="34" charset="-122"/>
              </a:rPr>
              <a:t>2</a:t>
            </a:r>
          </a:p>
        </p:txBody>
      </p:sp>
      <p:sp>
        <p:nvSpPr>
          <p:cNvPr id="73" name="文本框 60"/>
          <p:cNvSpPr txBox="1">
            <a:spLocks noChangeArrowheads="1"/>
          </p:cNvSpPr>
          <p:nvPr>
            <p:custDataLst>
              <p:tags r:id="rId20"/>
            </p:custDataLst>
          </p:nvPr>
        </p:nvSpPr>
        <p:spPr bwMode="auto">
          <a:xfrm>
            <a:off x="1833702" y="4003199"/>
            <a:ext cx="3118618" cy="3416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eaLnBrk="1" hangingPunct="1">
              <a:spcBef>
                <a:spcPct val="0"/>
              </a:spcBef>
              <a:buFontTx/>
              <a:buNone/>
            </a:pPr>
            <a:r>
              <a:rPr sz="1800" dirty="0" err="1">
                <a:latin typeface="+mn-ea"/>
                <a:ea typeface="+mn-ea"/>
                <a:sym typeface="+mn-ea"/>
              </a:rPr>
              <a:t>修改规格说明书的时间</a:t>
            </a:r>
            <a:endParaRPr sz="1800" dirty="0">
              <a:latin typeface="+mn-ea"/>
              <a:ea typeface="+mn-ea"/>
              <a:sym typeface="+mn-ea"/>
            </a:endParaRPr>
          </a:p>
        </p:txBody>
      </p:sp>
      <p:sp>
        <p:nvSpPr>
          <p:cNvPr id="74" name="圆角矩形 73"/>
          <p:cNvSpPr/>
          <p:nvPr>
            <p:custDataLst>
              <p:tags r:id="rId21"/>
            </p:custDataLst>
          </p:nvPr>
        </p:nvSpPr>
        <p:spPr>
          <a:xfrm rot="10800000">
            <a:off x="1442260" y="4682435"/>
            <a:ext cx="4324854" cy="430416"/>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2500" lnSpcReduction="20000"/>
          </a:bodyPr>
          <a:lstStyle/>
          <a:p>
            <a:pPr algn="ctr" eaLnBrk="1" hangingPunct="1">
              <a:spcBef>
                <a:spcPts val="0"/>
              </a:spcBef>
              <a:spcAft>
                <a:spcPts val="0"/>
              </a:spcAft>
              <a:defRPr/>
            </a:pPr>
            <a:endParaRPr lang="zh-CN" altLang="en-US" sz="1800">
              <a:solidFill>
                <a:schemeClr val="tx1"/>
              </a:solidFill>
            </a:endParaRPr>
          </a:p>
        </p:txBody>
      </p:sp>
      <p:sp>
        <p:nvSpPr>
          <p:cNvPr id="75" name="椭圆 74"/>
          <p:cNvSpPr/>
          <p:nvPr>
            <p:custDataLst>
              <p:tags r:id="rId22"/>
            </p:custDataLst>
          </p:nvPr>
        </p:nvSpPr>
        <p:spPr>
          <a:xfrm>
            <a:off x="5165732" y="4646022"/>
            <a:ext cx="622798" cy="502308"/>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2500" lnSpcReduction="20000"/>
          </a:bodyPr>
          <a:lstStyle/>
          <a:p>
            <a:pPr algn="ctr" eaLnBrk="1" hangingPunct="1">
              <a:spcBef>
                <a:spcPts val="0"/>
              </a:spcBef>
              <a:spcAft>
                <a:spcPts val="0"/>
              </a:spcAft>
              <a:defRPr/>
            </a:pPr>
            <a:r>
              <a:rPr lang="en-US" altLang="zh-CN" sz="2400" b="1" dirty="0">
                <a:solidFill>
                  <a:schemeClr val="bg1"/>
                </a:solidFill>
                <a:latin typeface="微软雅黑 Light" panose="020B0502040204020203" pitchFamily="34" charset="-122"/>
                <a:ea typeface="微软雅黑 Light" panose="020B0502040204020203" pitchFamily="34" charset="-122"/>
              </a:rPr>
              <a:t>3</a:t>
            </a:r>
          </a:p>
        </p:txBody>
      </p:sp>
      <p:sp>
        <p:nvSpPr>
          <p:cNvPr id="76" name="文本框 61"/>
          <p:cNvSpPr txBox="1">
            <a:spLocks noChangeArrowheads="1"/>
          </p:cNvSpPr>
          <p:nvPr>
            <p:custDataLst>
              <p:tags r:id="rId23"/>
            </p:custDataLst>
          </p:nvPr>
        </p:nvSpPr>
        <p:spPr bwMode="auto">
          <a:xfrm>
            <a:off x="1889846" y="4808012"/>
            <a:ext cx="3254638" cy="3416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eaLnBrk="1" hangingPunct="1">
              <a:spcBef>
                <a:spcPct val="0"/>
              </a:spcBef>
              <a:buFontTx/>
              <a:buNone/>
            </a:pPr>
            <a:r>
              <a:rPr sz="1800" dirty="0" err="1">
                <a:latin typeface="+mn-ea"/>
                <a:ea typeface="+mn-ea"/>
                <a:sym typeface="+mn-ea"/>
              </a:rPr>
              <a:t>分析、诊断问题的时间</a:t>
            </a:r>
            <a:endParaRPr sz="1800" dirty="0">
              <a:latin typeface="+mn-ea"/>
              <a:ea typeface="+mn-ea"/>
              <a:sym typeface="+mn-ea"/>
            </a:endParaRPr>
          </a:p>
        </p:txBody>
      </p:sp>
      <p:sp>
        <p:nvSpPr>
          <p:cNvPr id="77" name="圆角矩形 76"/>
          <p:cNvSpPr/>
          <p:nvPr>
            <p:custDataLst>
              <p:tags r:id="rId24"/>
            </p:custDataLst>
          </p:nvPr>
        </p:nvSpPr>
        <p:spPr>
          <a:xfrm rot="10800000">
            <a:off x="802098" y="5515724"/>
            <a:ext cx="4142530" cy="430416"/>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2500" lnSpcReduction="20000"/>
          </a:bodyPr>
          <a:lstStyle/>
          <a:p>
            <a:pPr algn="ctr" eaLnBrk="1" hangingPunct="1">
              <a:spcBef>
                <a:spcPts val="0"/>
              </a:spcBef>
              <a:spcAft>
                <a:spcPts val="0"/>
              </a:spcAft>
              <a:defRPr/>
            </a:pPr>
            <a:endParaRPr lang="zh-CN" altLang="en-US" sz="1800">
              <a:solidFill>
                <a:schemeClr val="tx1"/>
              </a:solidFill>
            </a:endParaRPr>
          </a:p>
        </p:txBody>
      </p:sp>
      <p:sp>
        <p:nvSpPr>
          <p:cNvPr id="78" name="椭圆 77"/>
          <p:cNvSpPr/>
          <p:nvPr>
            <p:custDataLst>
              <p:tags r:id="rId25"/>
            </p:custDataLst>
          </p:nvPr>
        </p:nvSpPr>
        <p:spPr>
          <a:xfrm>
            <a:off x="4343246" y="5480712"/>
            <a:ext cx="622798" cy="502308"/>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2500" lnSpcReduction="20000"/>
          </a:bodyPr>
          <a:lstStyle/>
          <a:p>
            <a:pPr algn="ctr" eaLnBrk="1" hangingPunct="1">
              <a:spcBef>
                <a:spcPts val="0"/>
              </a:spcBef>
              <a:spcAft>
                <a:spcPts val="0"/>
              </a:spcAft>
              <a:defRPr/>
            </a:pPr>
            <a:r>
              <a:rPr lang="en-US" altLang="zh-CN" sz="2400" b="1" dirty="0">
                <a:solidFill>
                  <a:schemeClr val="bg1"/>
                </a:solidFill>
                <a:latin typeface="微软雅黑 Light" panose="020B0502040204020203" pitchFamily="34" charset="-122"/>
                <a:ea typeface="微软雅黑 Light" panose="020B0502040204020203" pitchFamily="34" charset="-122"/>
              </a:rPr>
              <a:t>4</a:t>
            </a:r>
          </a:p>
        </p:txBody>
      </p:sp>
      <p:sp>
        <p:nvSpPr>
          <p:cNvPr id="79" name="文本框 62"/>
          <p:cNvSpPr txBox="1">
            <a:spLocks noChangeArrowheads="1"/>
          </p:cNvSpPr>
          <p:nvPr>
            <p:custDataLst>
              <p:tags r:id="rId26"/>
            </p:custDataLst>
          </p:nvPr>
        </p:nvSpPr>
        <p:spPr bwMode="auto">
          <a:xfrm>
            <a:off x="661969" y="5645035"/>
            <a:ext cx="3670801" cy="3416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eaLnBrk="1" hangingPunct="1">
              <a:spcBef>
                <a:spcPct val="0"/>
              </a:spcBef>
              <a:buFontTx/>
              <a:buNone/>
            </a:pPr>
            <a:r>
              <a:rPr sz="1800" dirty="0" err="1">
                <a:latin typeface="+mn-ea"/>
                <a:ea typeface="+mn-ea"/>
                <a:sym typeface="+mn-ea"/>
              </a:rPr>
              <a:t>选择维护工具的时间</a:t>
            </a:r>
            <a:endParaRPr sz="1800" dirty="0">
              <a:latin typeface="+mn-ea"/>
              <a:ea typeface="+mn-ea"/>
              <a:sym typeface="+mn-ea"/>
            </a:endParaRPr>
          </a:p>
        </p:txBody>
      </p:sp>
      <p:sp>
        <p:nvSpPr>
          <p:cNvPr id="167" name="圆角矩形"/>
          <p:cNvSpPr/>
          <p:nvPr/>
        </p:nvSpPr>
        <p:spPr>
          <a:xfrm>
            <a:off x="5694936" y="1533952"/>
            <a:ext cx="5495925" cy="900430"/>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5499991" y="1320592"/>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35" name="文本框 34"/>
          <p:cNvSpPr txBox="1"/>
          <p:nvPr/>
        </p:nvSpPr>
        <p:spPr>
          <a:xfrm>
            <a:off x="5735576" y="1533952"/>
            <a:ext cx="5401310" cy="914400"/>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ym typeface="+mn-ea"/>
              </a:rPr>
              <a:t>      </a:t>
            </a:r>
            <a:r>
              <a:rPr dirty="0">
                <a:sym typeface="+mn-ea"/>
              </a:rPr>
              <a:t>软件的可维护性是难以量化的概念，然而借助维护活动中可以定量估算的属性，可以从下列维护工作所需的时间间接地度量可维护性。</a:t>
            </a:r>
          </a:p>
        </p:txBody>
      </p:sp>
      <p:sp>
        <p:nvSpPr>
          <p:cNvPr id="38" name="TextBox 1"/>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39" name="直接连接符 38"/>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7"/>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软件可维护性的度量</a:t>
            </a:r>
          </a:p>
        </p:txBody>
      </p:sp>
    </p:spTree>
  </p:cSld>
  <p:clrMapOvr>
    <a:masterClrMapping/>
  </p:clrMapOvr>
  <p:transition>
    <p:zoom/>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167" name="圆角矩形"/>
          <p:cNvSpPr/>
          <p:nvPr/>
        </p:nvSpPr>
        <p:spPr>
          <a:xfrm>
            <a:off x="1195951" y="2199508"/>
            <a:ext cx="10118090" cy="816610"/>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1001006" y="1986148"/>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35" name="文本框 34"/>
          <p:cNvSpPr txBox="1"/>
          <p:nvPr/>
        </p:nvSpPr>
        <p:spPr>
          <a:xfrm>
            <a:off x="1236591" y="2200778"/>
            <a:ext cx="9981565" cy="646430"/>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dirty="0">
                <a:sym typeface="+mn-ea"/>
              </a:rPr>
              <a:t>软件的可维护性，主要表现在它的可理解性、可测试性、可修改性、可移植性等方面。因而，对可维护性的度量问题，也可分解成</a:t>
            </a:r>
            <a:r>
              <a:rPr dirty="0">
                <a:solidFill>
                  <a:srgbClr val="C00000"/>
                </a:solidFill>
                <a:sym typeface="+mn-ea"/>
              </a:rPr>
              <a:t>对可理解性、可测试性、可修改性、可移植性的度量问题</a:t>
            </a:r>
            <a:r>
              <a:rPr dirty="0">
                <a:sym typeface="+mn-ea"/>
              </a:rPr>
              <a:t>。</a:t>
            </a:r>
          </a:p>
        </p:txBody>
      </p:sp>
      <p:sp>
        <p:nvSpPr>
          <p:cNvPr id="21" name="MH_Text_1"/>
          <p:cNvSpPr/>
          <p:nvPr>
            <p:custDataLst>
              <p:tags r:id="rId1"/>
            </p:custDataLst>
          </p:nvPr>
        </p:nvSpPr>
        <p:spPr>
          <a:xfrm>
            <a:off x="1146411" y="3811316"/>
            <a:ext cx="10112991" cy="2066925"/>
          </a:xfrm>
          <a:prstGeom prst="rect">
            <a:avLst/>
          </a:prstGeom>
          <a:noFill/>
          <a:ln w="12700" cap="flat" cmpd="sng" algn="ctr">
            <a:solidFill>
              <a:srgbClr val="CC0066"/>
            </a:solidFill>
            <a:prstDash val="solid"/>
            <a:miter lim="800000"/>
          </a:ln>
          <a:effectLst/>
        </p:spPr>
        <p:txBody>
          <a:bodyPr anchor="ctr">
            <a:normAutofit/>
          </a:bodyP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dirty="0">
                <a:solidFill>
                  <a:srgbClr val="00B050"/>
                </a:solidFill>
                <a:latin typeface="微软雅黑" panose="020B0503020204020204" charset="-122"/>
                <a:ea typeface="微软雅黑" panose="020B0503020204020204" charset="-122"/>
                <a:sym typeface="+mn-ea"/>
              </a:rPr>
              <a:t>软件的可理解性表现为维护人员理解软件结构、接口、功能和内部过程的难易程度。</a:t>
            </a:r>
            <a:r>
              <a:rPr dirty="0">
                <a:latin typeface="微软雅黑" panose="020B0503020204020204" charset="-122"/>
                <a:ea typeface="微软雅黑" panose="020B0503020204020204" charset="-122"/>
                <a:sym typeface="+mn-ea"/>
              </a:rPr>
              <a:t>模块化；结构化设计或面向对象设计；与源程序一致的、完整正确详尽的设计文档、源代码内部的文档和良好的高级程序设计语言等，都能提高软件的可理解性。</a:t>
            </a:r>
          </a:p>
          <a:p>
            <a:pPr marL="0" indent="0" algn="l" fontAlgn="auto">
              <a:lnSpc>
                <a:spcPct val="130000"/>
              </a:lnSpc>
            </a:pPr>
            <a:r>
              <a:rPr dirty="0">
                <a:latin typeface="微软雅黑" panose="020B0503020204020204" charset="-122"/>
                <a:ea typeface="微软雅黑" panose="020B0503020204020204" charset="-122"/>
                <a:sym typeface="+mn-ea"/>
              </a:rPr>
              <a:t>       也可以通过对软件复杂性的度量来评价软件的可理解性。软件越复杂，理解就越困难。具体可参考本书第4.5.5节“程序环形复杂程度的度量”。</a:t>
            </a:r>
          </a:p>
        </p:txBody>
      </p:sp>
      <p:sp>
        <p:nvSpPr>
          <p:cNvPr id="22" name="MH_SubTitle_1"/>
          <p:cNvSpPr/>
          <p:nvPr>
            <p:custDataLst>
              <p:tags r:id="rId2"/>
            </p:custDataLst>
          </p:nvPr>
        </p:nvSpPr>
        <p:spPr>
          <a:xfrm>
            <a:off x="1173709" y="3250611"/>
            <a:ext cx="6432310"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1）可理解性</a:t>
            </a:r>
          </a:p>
        </p:txBody>
      </p:sp>
    </p:spTree>
  </p:cSld>
  <p:clrMapOvr>
    <a:masterClrMapping/>
  </p:clrMapOvr>
  <p:transition>
    <p:zoom/>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21" name="MH_Text_1"/>
          <p:cNvSpPr/>
          <p:nvPr>
            <p:custDataLst>
              <p:tags r:id="rId1"/>
            </p:custDataLst>
          </p:nvPr>
        </p:nvSpPr>
        <p:spPr>
          <a:xfrm>
            <a:off x="1316959" y="3169544"/>
            <a:ext cx="10051626" cy="2701925"/>
          </a:xfrm>
          <a:prstGeom prst="rect">
            <a:avLst/>
          </a:prstGeom>
          <a:noFill/>
          <a:ln w="12700" cap="flat" cmpd="sng" algn="ctr">
            <a:solidFill>
              <a:srgbClr val="CC0066"/>
            </a:solidFill>
            <a:prstDash val="solid"/>
            <a:miter lim="800000"/>
          </a:ln>
          <a:effectLst/>
        </p:spPr>
        <p:txBody>
          <a:bodyPr anchor="ctr">
            <a:normAutofit/>
          </a:bodyP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dirty="0">
                <a:solidFill>
                  <a:srgbClr val="00B050"/>
                </a:solidFill>
                <a:latin typeface="微软雅黑" panose="020B0503020204020204" charset="-122"/>
                <a:ea typeface="微软雅黑" panose="020B0503020204020204" charset="-122"/>
                <a:sym typeface="+mn-ea"/>
              </a:rPr>
              <a:t>可测试性代表了软件容易被测试的程度。</a:t>
            </a:r>
            <a:r>
              <a:rPr dirty="0">
                <a:latin typeface="微软雅黑" panose="020B0503020204020204" charset="-122"/>
                <a:ea typeface="微软雅黑" panose="020B0503020204020204" charset="-122"/>
                <a:sym typeface="+mn-ea"/>
              </a:rPr>
              <a:t>它与源代码有关，要求程序易于理解，还要求有齐全的测试文档，保留开发时期使用的测试用例。好的文档资料对诊断和测试至关重要。</a:t>
            </a:r>
          </a:p>
          <a:p>
            <a:pPr marL="0" indent="0" algn="l" fontAlgn="auto">
              <a:lnSpc>
                <a:spcPct val="130000"/>
              </a:lnSpc>
            </a:pPr>
            <a:r>
              <a:rPr dirty="0">
                <a:latin typeface="微软雅黑" panose="020B0503020204020204" charset="-122"/>
                <a:ea typeface="微软雅黑" panose="020B0503020204020204" charset="-122"/>
                <a:sym typeface="+mn-ea"/>
              </a:rPr>
              <a:t>       </a:t>
            </a:r>
            <a:r>
              <a:rPr dirty="0">
                <a:solidFill>
                  <a:srgbClr val="00B0F0"/>
                </a:solidFill>
                <a:latin typeface="微软雅黑" panose="020B0503020204020204" charset="-122"/>
                <a:ea typeface="微软雅黑" panose="020B0503020204020204" charset="-122"/>
                <a:sym typeface="+mn-ea"/>
              </a:rPr>
              <a:t>可测试性要求软件需求的定义要便于对需求进行分析并易于建立测试准则；还要便于就这些准则对软件进行评价。</a:t>
            </a:r>
            <a:r>
              <a:rPr dirty="0">
                <a:latin typeface="微软雅黑" panose="020B0503020204020204" charset="-122"/>
                <a:ea typeface="微软雅黑" panose="020B0503020204020204" charset="-122"/>
                <a:sym typeface="+mn-ea"/>
              </a:rPr>
              <a:t>可测试性是指证实程序正确性的难易程度。</a:t>
            </a:r>
          </a:p>
          <a:p>
            <a:pPr marL="0" indent="0" algn="l" fontAlgn="auto">
              <a:lnSpc>
                <a:spcPct val="130000"/>
              </a:lnSpc>
            </a:pPr>
            <a:r>
              <a:rPr dirty="0">
                <a:latin typeface="微软雅黑" panose="020B0503020204020204" charset="-122"/>
                <a:ea typeface="微软雅黑" panose="020B0503020204020204" charset="-122"/>
                <a:sym typeface="+mn-ea"/>
              </a:rPr>
              <a:t>       此外，有无可用的测试、调试工具及测试过程的确定也非常重要。在软件设计阶段就应该注意使差错容易定位，以便维护时容易找到纠错的办法。</a:t>
            </a:r>
          </a:p>
        </p:txBody>
      </p:sp>
      <p:sp>
        <p:nvSpPr>
          <p:cNvPr id="22" name="MH_SubTitle_1"/>
          <p:cNvSpPr/>
          <p:nvPr>
            <p:custDataLst>
              <p:tags r:id="rId2"/>
            </p:custDataLst>
          </p:nvPr>
        </p:nvSpPr>
        <p:spPr>
          <a:xfrm>
            <a:off x="1316959" y="2609156"/>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2）可测试性</a:t>
            </a:r>
          </a:p>
        </p:txBody>
      </p:sp>
    </p:spTree>
  </p:cSld>
  <p:clrMapOvr>
    <a:masterClrMapping/>
  </p:clrMapOvr>
  <p:transition>
    <p:zoom/>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21" name="MH_Text_1"/>
          <p:cNvSpPr/>
          <p:nvPr>
            <p:custDataLst>
              <p:tags r:id="rId1"/>
            </p:custDataLst>
          </p:nvPr>
        </p:nvSpPr>
        <p:spPr>
          <a:xfrm>
            <a:off x="1229626" y="2866390"/>
            <a:ext cx="10248141" cy="3190875"/>
          </a:xfrm>
          <a:prstGeom prst="rect">
            <a:avLst/>
          </a:prstGeom>
          <a:noFill/>
          <a:ln w="12700" cap="flat" cmpd="sng" algn="ctr">
            <a:solidFill>
              <a:srgbClr val="CC0066"/>
            </a:solidFill>
            <a:prstDash val="solid"/>
            <a:miter lim="800000"/>
          </a:ln>
          <a:effectLst/>
        </p:spPr>
        <p:txBody>
          <a:bodyPr anchor="ctr">
            <a:normAutofit/>
          </a:bodyPr>
          <a:lstStyle/>
          <a:p>
            <a:pPr marL="0" indent="0" algn="l" fontAlgn="auto">
              <a:lnSpc>
                <a:spcPct val="130000"/>
              </a:lnSpc>
            </a:pPr>
            <a:endParaRPr>
              <a:latin typeface="微软雅黑" panose="020B0503020204020204" charset="-122"/>
              <a:ea typeface="微软雅黑" panose="020B0503020204020204" charset="-122"/>
              <a:sym typeface="+mn-ea"/>
            </a:endParaRPr>
          </a:p>
        </p:txBody>
      </p:sp>
      <p:sp>
        <p:nvSpPr>
          <p:cNvPr id="22" name="MH_SubTitle_1"/>
          <p:cNvSpPr/>
          <p:nvPr>
            <p:custDataLst>
              <p:tags r:id="rId2"/>
            </p:custDataLst>
          </p:nvPr>
        </p:nvSpPr>
        <p:spPr>
          <a:xfrm>
            <a:off x="1229626" y="2305685"/>
            <a:ext cx="6153185"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3）可修改性</a:t>
            </a:r>
          </a:p>
        </p:txBody>
      </p:sp>
      <p:sp>
        <p:nvSpPr>
          <p:cNvPr id="2" name="文本框 1"/>
          <p:cNvSpPr txBox="1"/>
          <p:nvPr/>
        </p:nvSpPr>
        <p:spPr>
          <a:xfrm>
            <a:off x="1384935" y="2990850"/>
            <a:ext cx="9778934" cy="2973122"/>
          </a:xfrm>
          <a:prstGeom prst="rect">
            <a:avLst/>
          </a:prstGeom>
          <a:noFill/>
        </p:spPr>
        <p:txBody>
          <a:bodyPr wrap="square" rtlCol="0">
            <a:spAutoFit/>
          </a:bodyP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dirty="0">
                <a:solidFill>
                  <a:srgbClr val="00B050"/>
                </a:solidFill>
                <a:latin typeface="微软雅黑" panose="020B0503020204020204" charset="-122"/>
                <a:ea typeface="微软雅黑" panose="020B0503020204020204" charset="-122"/>
                <a:sym typeface="+mn-ea"/>
              </a:rPr>
              <a:t>可修改性是指程序容易修改的程度。</a:t>
            </a:r>
            <a:r>
              <a:rPr dirty="0">
                <a:latin typeface="微软雅黑" panose="020B0503020204020204" charset="-122"/>
                <a:ea typeface="微软雅黑" panose="020B0503020204020204" charset="-122"/>
                <a:sym typeface="+mn-ea"/>
              </a:rPr>
              <a:t>一个可修改的程序往往是可理解的、通用的、灵活的和简明的。所谓通用，是指不需要修改程序就可使程序改变功能。所谓灵活，是指程序容易被分解和组合。</a:t>
            </a:r>
          </a:p>
          <a:p>
            <a:pPr marL="0" indent="0" algn="l" fontAlgn="auto">
              <a:lnSpc>
                <a:spcPct val="130000"/>
              </a:lnSpc>
            </a:pPr>
            <a:r>
              <a:rPr dirty="0">
                <a:latin typeface="微软雅黑" panose="020B0503020204020204" charset="-122"/>
                <a:ea typeface="微软雅黑" panose="020B0503020204020204" charset="-122"/>
                <a:sym typeface="+mn-ea"/>
              </a:rPr>
              <a:t>       要度量一个程序的可修改性，可以通过对该程序做少量简单的改变来估算修改这个程序的困难程度，例如对程序增加新类型的作业、改变输入/输出设备、取消输出报告等。如果对于一个简单的改变，程序中必须修改的模块超过30%，则该程序属于难修改之列。</a:t>
            </a:r>
          </a:p>
          <a:p>
            <a:pPr marL="0" indent="0" algn="l" fontAlgn="auto">
              <a:lnSpc>
                <a:spcPct val="130000"/>
              </a:lnSpc>
            </a:pPr>
            <a:r>
              <a:rPr dirty="0">
                <a:latin typeface="微软雅黑" panose="020B0503020204020204" charset="-122"/>
                <a:ea typeface="微软雅黑" panose="020B0503020204020204" charset="-122"/>
                <a:sym typeface="+mn-ea"/>
              </a:rPr>
              <a:t>       </a:t>
            </a:r>
            <a:r>
              <a:rPr dirty="0">
                <a:solidFill>
                  <a:srgbClr val="00B0F0"/>
                </a:solidFill>
                <a:latin typeface="微软雅黑" panose="020B0503020204020204" charset="-122"/>
                <a:ea typeface="微软雅黑" panose="020B0503020204020204" charset="-122"/>
                <a:sym typeface="+mn-ea"/>
              </a:rPr>
              <a:t>模块设计的内聚、耦合、局部化等因素都会影响软件的可修改性。</a:t>
            </a:r>
            <a:r>
              <a:rPr dirty="0">
                <a:latin typeface="微软雅黑" panose="020B0503020204020204" charset="-122"/>
                <a:ea typeface="微软雅黑" panose="020B0503020204020204" charset="-122"/>
                <a:sym typeface="+mn-ea"/>
              </a:rPr>
              <a:t>模块抽象和信息隐蔽愈好，模块的独立性愈高，则修改时出错的机会也就愈少。</a:t>
            </a:r>
            <a:endParaRPr lang="zh-CN" altLang="en-US" dirty="0"/>
          </a:p>
        </p:txBody>
      </p:sp>
    </p:spTree>
  </p:cSld>
  <p:clrMapOvr>
    <a:masterClrMapping/>
  </p:clrMapOvr>
  <p:transition>
    <p:zoom/>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21" name="MH_Text_1"/>
          <p:cNvSpPr/>
          <p:nvPr>
            <p:custDataLst>
              <p:tags r:id="rId1"/>
            </p:custDataLst>
          </p:nvPr>
        </p:nvSpPr>
        <p:spPr>
          <a:xfrm>
            <a:off x="1320102" y="3430533"/>
            <a:ext cx="9966592" cy="1608455"/>
          </a:xfrm>
          <a:prstGeom prst="rect">
            <a:avLst/>
          </a:prstGeom>
          <a:noFill/>
          <a:ln w="12700" cap="flat" cmpd="sng" algn="ctr">
            <a:solidFill>
              <a:srgbClr val="CC0066"/>
            </a:solidFill>
            <a:prstDash val="solid"/>
            <a:miter lim="800000"/>
          </a:ln>
          <a:effectLst/>
        </p:spPr>
        <p:txBody>
          <a:bodyPr anchor="ctr">
            <a:normAutofit/>
          </a:bodyP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dirty="0">
                <a:solidFill>
                  <a:srgbClr val="00B050"/>
                </a:solidFill>
                <a:latin typeface="微软雅黑" panose="020B0503020204020204" charset="-122"/>
                <a:ea typeface="微软雅黑" panose="020B0503020204020204" charset="-122"/>
                <a:sym typeface="+mn-ea"/>
              </a:rPr>
              <a:t>可移植性是指软件不加改动地从一种运行环境转移到另一种运行环境下运行的能力，即程序在不同计算机环境下能够有效地运行的程度。</a:t>
            </a:r>
            <a:r>
              <a:rPr dirty="0">
                <a:latin typeface="微软雅黑" panose="020B0503020204020204" charset="-122"/>
                <a:ea typeface="微软雅黑" panose="020B0503020204020204" charset="-122"/>
                <a:sym typeface="+mn-ea"/>
              </a:rPr>
              <a:t>可移植性好的软件容易维护。</a:t>
            </a:r>
          </a:p>
        </p:txBody>
      </p:sp>
      <p:sp>
        <p:nvSpPr>
          <p:cNvPr id="22" name="MH_SubTitle_1"/>
          <p:cNvSpPr/>
          <p:nvPr>
            <p:custDataLst>
              <p:tags r:id="rId2"/>
            </p:custDataLst>
          </p:nvPr>
        </p:nvSpPr>
        <p:spPr>
          <a:xfrm>
            <a:off x="1320102" y="2869828"/>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4）可移植性</a:t>
            </a:r>
          </a:p>
        </p:txBody>
      </p:sp>
    </p:spTree>
  </p:cSld>
  <p:clrMapOvr>
    <a:masterClrMapping/>
  </p:clrMapOvr>
  <p:transition>
    <p:zoom/>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grpSp>
        <p:nvGrpSpPr>
          <p:cNvPr id="7" name="组合 6"/>
          <p:cNvGrpSpPr/>
          <p:nvPr/>
        </p:nvGrpSpPr>
        <p:grpSpPr>
          <a:xfrm>
            <a:off x="901065" y="2606943"/>
            <a:ext cx="3141345" cy="590550"/>
            <a:chOff x="508000" y="3196191"/>
            <a:chExt cx="3141314" cy="590550"/>
          </a:xfrm>
        </p:grpSpPr>
        <p:sp>
          <p:nvSpPr>
            <p:cNvPr id="21"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明确软件的质量目标</a:t>
              </a:r>
            </a:p>
          </p:txBody>
        </p:sp>
      </p:grpSp>
      <p:sp>
        <p:nvSpPr>
          <p:cNvPr id="24" name="矩形 8"/>
          <p:cNvSpPr>
            <a:spLocks noChangeArrowheads="1"/>
          </p:cNvSpPr>
          <p:nvPr/>
        </p:nvSpPr>
        <p:spPr bwMode="auto">
          <a:xfrm>
            <a:off x="1348740" y="3087003"/>
            <a:ext cx="4587240" cy="13950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indent="457200">
              <a:lnSpc>
                <a:spcPct val="120000"/>
              </a:lnSpc>
            </a:pPr>
            <a:r>
              <a:rPr dirty="0" err="1"/>
              <a:t>在软件开发的整个过程中，始终应该考虑并努力提高软件的可维护性，尽力将软件设计成容易理解、容易测试和容易修改的软件</a:t>
            </a:r>
            <a:r>
              <a:rPr dirty="0"/>
              <a:t>。</a:t>
            </a:r>
          </a:p>
        </p:txBody>
      </p:sp>
      <p:grpSp>
        <p:nvGrpSpPr>
          <p:cNvPr id="4" name="组合 3"/>
          <p:cNvGrpSpPr/>
          <p:nvPr/>
        </p:nvGrpSpPr>
        <p:grpSpPr>
          <a:xfrm>
            <a:off x="845820" y="4593223"/>
            <a:ext cx="4542790" cy="754380"/>
            <a:chOff x="508000" y="3196191"/>
            <a:chExt cx="4542746" cy="754380"/>
          </a:xfrm>
        </p:grpSpPr>
        <p:sp>
          <p:nvSpPr>
            <p:cNvPr id="5" name="TextBox 1"/>
            <p:cNvSpPr txBox="1">
              <a:spLocks noChangeArrowheads="1"/>
            </p:cNvSpPr>
            <p:nvPr/>
          </p:nvSpPr>
          <p:spPr bwMode="auto">
            <a:xfrm>
              <a:off x="508000" y="3196191"/>
              <a:ext cx="36131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8" name="矩形 7"/>
            <p:cNvSpPr>
              <a:spLocks noChangeArrowheads="1"/>
            </p:cNvSpPr>
            <p:nvPr/>
          </p:nvSpPr>
          <p:spPr bwMode="auto">
            <a:xfrm>
              <a:off x="960751" y="3291441"/>
              <a:ext cx="4089995" cy="6591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利用先进的软件技术和工具</a:t>
              </a:r>
            </a:p>
          </p:txBody>
        </p:sp>
      </p:grpSp>
      <p:sp>
        <p:nvSpPr>
          <p:cNvPr id="9" name="矩形 8"/>
          <p:cNvSpPr>
            <a:spLocks noChangeArrowheads="1"/>
          </p:cNvSpPr>
          <p:nvPr/>
        </p:nvSpPr>
        <p:spPr bwMode="auto">
          <a:xfrm>
            <a:off x="1293495" y="5073283"/>
            <a:ext cx="4587240" cy="1062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indent="457200">
              <a:lnSpc>
                <a:spcPct val="120000"/>
              </a:lnSpc>
            </a:pPr>
            <a:r>
              <a:rPr dirty="0" err="1"/>
              <a:t>软件工程在不断发展，新的技术和工具在不断出现，对软件工程的新技术和新工具，应及时学习并应用</a:t>
            </a:r>
            <a:r>
              <a:rPr dirty="0"/>
              <a:t>。</a:t>
            </a:r>
          </a:p>
        </p:txBody>
      </p:sp>
      <p:grpSp>
        <p:nvGrpSpPr>
          <p:cNvPr id="11" name="组合 10"/>
          <p:cNvGrpSpPr/>
          <p:nvPr/>
        </p:nvGrpSpPr>
        <p:grpSpPr>
          <a:xfrm>
            <a:off x="6139180" y="2552065"/>
            <a:ext cx="4208145" cy="754380"/>
            <a:chOff x="508000" y="3196191"/>
            <a:chExt cx="4208104" cy="754380"/>
          </a:xfrm>
        </p:grpSpPr>
        <p:sp>
          <p:nvSpPr>
            <p:cNvPr id="1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3" name="直接连接符 12"/>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14"/>
            <p:cNvSpPr>
              <a:spLocks noChangeArrowheads="1"/>
            </p:cNvSpPr>
            <p:nvPr/>
          </p:nvSpPr>
          <p:spPr bwMode="auto">
            <a:xfrm>
              <a:off x="960751" y="3291441"/>
              <a:ext cx="3755353" cy="6591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选择便于维护的程序设计语言</a:t>
              </a:r>
            </a:p>
          </p:txBody>
        </p:sp>
      </p:grpSp>
      <p:sp>
        <p:nvSpPr>
          <p:cNvPr id="16" name="矩形 15"/>
          <p:cNvSpPr>
            <a:spLocks noChangeArrowheads="1"/>
          </p:cNvSpPr>
          <p:nvPr/>
        </p:nvSpPr>
        <p:spPr bwMode="auto">
          <a:xfrm>
            <a:off x="6586855" y="3032125"/>
            <a:ext cx="4918075" cy="3057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indent="457200">
              <a:lnSpc>
                <a:spcPct val="120000"/>
              </a:lnSpc>
            </a:pPr>
            <a:r>
              <a:rPr dirty="0"/>
              <a:t>机器语言、汇编语言不易理解，难以维护。一般只有在对软件的运行时间和使用空间有严格限制或系统硬件有特殊要求时，才使用机器语言或汇编语言。</a:t>
            </a:r>
          </a:p>
          <a:p>
            <a:pPr indent="457200">
              <a:lnSpc>
                <a:spcPct val="120000"/>
              </a:lnSpc>
            </a:pPr>
            <a:r>
              <a:rPr dirty="0"/>
              <a:t>高级语言容易理解，可维护性较好。查询语言、报表生成语言、图像语言更容易理解、使用和维护。选择适当的程序设计语言非常重要，要慎重、综合地考虑各种因素，征求用户的意见。</a:t>
            </a:r>
          </a:p>
        </p:txBody>
      </p:sp>
      <p:sp>
        <p:nvSpPr>
          <p:cNvPr id="26" name="矩形 7"/>
          <p:cNvSpPr>
            <a:spLocks noChangeArrowheads="1"/>
          </p:cNvSpPr>
          <p:nvPr/>
        </p:nvSpPr>
        <p:spPr bwMode="auto">
          <a:xfrm>
            <a:off x="1262066" y="2090768"/>
            <a:ext cx="59576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latin typeface="微软雅黑" panose="020B0503020204020204" charset="-122"/>
                <a:ea typeface="微软雅黑" panose="020B0503020204020204" charset="-122"/>
              </a:rPr>
              <a:t>要提高软件的可维护性，应从以下几个方面入手。</a:t>
            </a:r>
          </a:p>
        </p:txBody>
      </p:sp>
    </p:spTree>
  </p:cSld>
  <p:clrMapOvr>
    <a:masterClrMapping/>
  </p:clrMapOvr>
  <p:transition>
    <p:zoom/>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21" name="TextBox 1"/>
          <p:cNvSpPr txBox="1">
            <a:spLocks noChangeArrowheads="1"/>
          </p:cNvSpPr>
          <p:nvPr/>
        </p:nvSpPr>
        <p:spPr bwMode="auto">
          <a:xfrm>
            <a:off x="564193" y="2071721"/>
            <a:ext cx="36068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4</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564193" y="2071721"/>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1016948" y="2166971"/>
            <a:ext cx="3633470" cy="3012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采取有效的质量保证措施</a:t>
            </a:r>
          </a:p>
        </p:txBody>
      </p:sp>
      <p:sp>
        <p:nvSpPr>
          <p:cNvPr id="24" name="矩形 8"/>
          <p:cNvSpPr>
            <a:spLocks noChangeArrowheads="1"/>
          </p:cNvSpPr>
          <p:nvPr/>
        </p:nvSpPr>
        <p:spPr bwMode="auto">
          <a:xfrm>
            <a:off x="1011868" y="2551781"/>
            <a:ext cx="4313555" cy="3057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indent="457200">
              <a:lnSpc>
                <a:spcPct val="120000"/>
              </a:lnSpc>
            </a:pPr>
            <a:r>
              <a:rPr dirty="0"/>
              <a:t>在软件开发时需要确定中间及最终交付的成果以及所有开发阶段各项工作的质量特征和评价标准。在每个阶段结束前的技术审查和管理复审中，也应着重对可维护性进行复审。加强软件测试工作，保证软件的质量。用户要求确保软件质量，如果做不到这一点，软件开发人员就无法生存。本书第10.6节将进一步介绍软件质量保证知识。</a:t>
            </a:r>
          </a:p>
        </p:txBody>
      </p:sp>
      <p:sp>
        <p:nvSpPr>
          <p:cNvPr id="12" name="TextBox 1"/>
          <p:cNvSpPr txBox="1">
            <a:spLocks noChangeArrowheads="1"/>
          </p:cNvSpPr>
          <p:nvPr/>
        </p:nvSpPr>
        <p:spPr bwMode="auto">
          <a:xfrm>
            <a:off x="5514671" y="2017764"/>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5</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3" name="直接连接符 12"/>
          <p:cNvCxnSpPr/>
          <p:nvPr/>
        </p:nvCxnSpPr>
        <p:spPr>
          <a:xfrm flipH="1">
            <a:off x="5514671" y="2017764"/>
            <a:ext cx="609031"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14"/>
          <p:cNvSpPr>
            <a:spLocks noChangeArrowheads="1"/>
          </p:cNvSpPr>
          <p:nvPr/>
        </p:nvSpPr>
        <p:spPr bwMode="auto">
          <a:xfrm>
            <a:off x="5981591" y="2112375"/>
            <a:ext cx="3872876" cy="369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完善程序的文档</a:t>
            </a:r>
          </a:p>
        </p:txBody>
      </p:sp>
      <p:sp>
        <p:nvSpPr>
          <p:cNvPr id="16" name="矩形 15"/>
          <p:cNvSpPr>
            <a:spLocks noChangeArrowheads="1"/>
          </p:cNvSpPr>
          <p:nvPr/>
        </p:nvSpPr>
        <p:spPr bwMode="auto">
          <a:xfrm>
            <a:off x="5976351" y="2497189"/>
            <a:ext cx="5828962" cy="3389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dirty="0"/>
              <a:t>软件文档应满足下述要求：</a:t>
            </a:r>
          </a:p>
          <a:p>
            <a:pPr indent="457200">
              <a:lnSpc>
                <a:spcPct val="120000"/>
              </a:lnSpc>
            </a:pPr>
            <a:r>
              <a:rPr dirty="0"/>
              <a:t>1</a:t>
            </a:r>
            <a:r>
              <a:rPr lang="en-US" dirty="0"/>
              <a:t>. </a:t>
            </a:r>
            <a:r>
              <a:rPr dirty="0" err="1"/>
              <a:t>描述如何使用系统，没有这种描述，系统将无法使用</a:t>
            </a:r>
            <a:endParaRPr dirty="0"/>
          </a:p>
          <a:p>
            <a:pPr indent="457200">
              <a:lnSpc>
                <a:spcPct val="120000"/>
              </a:lnSpc>
            </a:pPr>
            <a:r>
              <a:rPr dirty="0"/>
              <a:t>2</a:t>
            </a:r>
            <a:r>
              <a:rPr lang="en-US" dirty="0"/>
              <a:t>. </a:t>
            </a:r>
            <a:r>
              <a:rPr dirty="0" err="1"/>
              <a:t>描述怎样安装和管理系统</a:t>
            </a:r>
            <a:endParaRPr dirty="0"/>
          </a:p>
          <a:p>
            <a:pPr indent="457200">
              <a:lnSpc>
                <a:spcPct val="120000"/>
              </a:lnSpc>
            </a:pPr>
            <a:r>
              <a:rPr dirty="0"/>
              <a:t>3</a:t>
            </a:r>
            <a:r>
              <a:rPr lang="en-US" dirty="0"/>
              <a:t>. </a:t>
            </a:r>
            <a:r>
              <a:rPr dirty="0" err="1"/>
              <a:t>描述系统需求和设计</a:t>
            </a:r>
            <a:endParaRPr dirty="0"/>
          </a:p>
          <a:p>
            <a:pPr indent="457200">
              <a:lnSpc>
                <a:spcPct val="120000"/>
              </a:lnSpc>
            </a:pPr>
            <a:r>
              <a:rPr dirty="0"/>
              <a:t>4</a:t>
            </a:r>
            <a:r>
              <a:rPr lang="en-US" dirty="0"/>
              <a:t>. </a:t>
            </a:r>
            <a:r>
              <a:rPr dirty="0" err="1"/>
              <a:t>描述系统的实现和测试</a:t>
            </a:r>
            <a:endParaRPr dirty="0"/>
          </a:p>
          <a:p>
            <a:pPr>
              <a:lnSpc>
                <a:spcPct val="120000"/>
              </a:lnSpc>
            </a:pPr>
            <a:r>
              <a:rPr dirty="0" err="1"/>
              <a:t>软件工程生存周期每个阶段的技术复审和管理复审中，应对文档进行检查，对可维护性进行复审</a:t>
            </a:r>
            <a:endParaRPr dirty="0"/>
          </a:p>
          <a:p>
            <a:pPr>
              <a:lnSpc>
                <a:spcPct val="120000"/>
              </a:lnSpc>
            </a:pPr>
            <a:r>
              <a:rPr dirty="0"/>
              <a:t>在维护阶段，利用历史文档可大大简化维护工作。历史文档有3种：系统开发文档、错误记录和系统维护文档</a:t>
            </a:r>
          </a:p>
        </p:txBody>
      </p:sp>
    </p:spTree>
  </p:cSld>
  <p:clrMapOvr>
    <a:masterClrMapping/>
  </p:clrMapOvr>
  <p:transition>
    <p:zoom/>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r>
              <a:rPr lang="en-US" altLang="zh-CN" dirty="0"/>
              <a:t>1</a:t>
            </a:r>
            <a:endParaRPr lang="zh-CN" altLang="en-US" dirty="0"/>
          </a:p>
        </p:txBody>
      </p:sp>
      <p:sp>
        <p:nvSpPr>
          <p:cNvPr id="2" name="椭圆 1"/>
          <p:cNvSpPr/>
          <p:nvPr/>
        </p:nvSpPr>
        <p:spPr>
          <a:xfrm>
            <a:off x="3428455" y="2169500"/>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3766951" y="2565770"/>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2</a:t>
            </a:r>
          </a:p>
        </p:txBody>
      </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软件重用和再工程</a:t>
            </a:r>
          </a:p>
        </p:txBody>
      </p:sp>
      <p:sp>
        <p:nvSpPr>
          <p:cNvPr id="48" name="文本框 47"/>
          <p:cNvSpPr txBox="1"/>
          <p:nvPr/>
        </p:nvSpPr>
        <p:spPr>
          <a:xfrm>
            <a:off x="6006465" y="413575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软件的重用</a:t>
            </a:r>
          </a:p>
        </p:txBody>
      </p:sp>
      <p:sp>
        <p:nvSpPr>
          <p:cNvPr id="50" name="文本框 49"/>
          <p:cNvSpPr txBox="1"/>
          <p:nvPr/>
        </p:nvSpPr>
        <p:spPr>
          <a:xfrm>
            <a:off x="6006465" y="463105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软件重用过程模型</a:t>
            </a:r>
          </a:p>
        </p:txBody>
      </p:sp>
      <p:sp>
        <p:nvSpPr>
          <p:cNvPr id="5" name="文本框 4"/>
          <p:cNvSpPr txBox="1"/>
          <p:nvPr/>
        </p:nvSpPr>
        <p:spPr>
          <a:xfrm>
            <a:off x="6006465" y="5138420"/>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开发可重用的软件构件</a:t>
            </a:r>
          </a:p>
        </p:txBody>
      </p:sp>
      <p:sp>
        <p:nvSpPr>
          <p:cNvPr id="6" name="文本框 5"/>
          <p:cNvSpPr txBox="1"/>
          <p:nvPr/>
        </p:nvSpPr>
        <p:spPr>
          <a:xfrm>
            <a:off x="8737601" y="4114165"/>
            <a:ext cx="2627086" cy="40011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软件逆向工程</a:t>
            </a:r>
          </a:p>
        </p:txBody>
      </p:sp>
      <p:sp>
        <p:nvSpPr>
          <p:cNvPr id="7" name="文本框 6"/>
          <p:cNvSpPr txBox="1"/>
          <p:nvPr/>
        </p:nvSpPr>
        <p:spPr>
          <a:xfrm>
            <a:off x="8737601" y="4631055"/>
            <a:ext cx="2627086" cy="40011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软件再工程</a:t>
            </a:r>
          </a:p>
        </p:txBody>
      </p:sp>
    </p:spTree>
  </p:cSld>
  <p:clrMapOvr>
    <a:masterClrMapping/>
  </p:clrMapOvr>
  <p:transition spd="slow">
    <p:wip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6" name="矩形 5"/>
          <p:cNvSpPr/>
          <p:nvPr/>
        </p:nvSpPr>
        <p:spPr>
          <a:xfrm>
            <a:off x="0" y="2160000"/>
            <a:ext cx="12192000" cy="3456000"/>
          </a:xfrm>
          <a:prstGeom prst="rect">
            <a:avLst/>
          </a:prstGeom>
          <a:solidFill>
            <a:srgbClr val="00808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681355" y="2444328"/>
            <a:ext cx="7305675" cy="2887345"/>
          </a:xfrm>
          <a:prstGeom prst="rect">
            <a:avLst/>
          </a:prstGeom>
        </p:spPr>
        <p:txBody>
          <a:bodyPr wrap="square">
            <a:spAutoFit/>
          </a:bodyPr>
          <a:lstStyle/>
          <a:p>
            <a:pPr indent="457200">
              <a:lnSpc>
                <a:spcPct val="150000"/>
              </a:lnSpc>
              <a:defRPr/>
            </a:pPr>
            <a:r>
              <a:rPr dirty="0" err="1">
                <a:solidFill>
                  <a:schemeClr val="bg1"/>
                </a:solidFill>
              </a:rPr>
              <a:t>软件重用</a:t>
            </a:r>
            <a:r>
              <a:rPr lang="zh-CN" altLang="en-US" dirty="0">
                <a:solidFill>
                  <a:schemeClr val="bg1"/>
                </a:solidFill>
              </a:rPr>
              <a:t>：</a:t>
            </a:r>
            <a:r>
              <a:rPr dirty="0">
                <a:solidFill>
                  <a:schemeClr val="bg1"/>
                </a:solidFill>
              </a:rPr>
              <a:t>指在软件开发、维护过程中不作修改或稍加修改就可以重复使用相同或相似的软件元素的过程。这些软件元素包括应用领域知识、开发经验、设计经验、体系结构、需求分析文档、设计文档、程序代码和测试用例等。对于新的软件开发项目而言，它们是构成整个软件系统的部件，或者在软件开发过程中可发挥某种作用。通常把这些软件元素称为软件构件。</a:t>
            </a:r>
          </a:p>
          <a:p>
            <a:pPr indent="457200">
              <a:lnSpc>
                <a:spcPct val="120000"/>
              </a:lnSpc>
              <a:defRPr/>
            </a:pPr>
            <a:endParaRPr dirty="0">
              <a:solidFill>
                <a:schemeClr val="bg1"/>
              </a:solidFill>
            </a:endParaRPr>
          </a:p>
        </p:txBody>
      </p:sp>
      <p:pic>
        <p:nvPicPr>
          <p:cNvPr id="4" name="图片 3" descr="A000220150318R99PPIC"/>
          <p:cNvPicPr>
            <a:picLocks noChangeAspect="1"/>
          </p:cNvPicPr>
          <p:nvPr/>
        </p:nvPicPr>
        <p:blipFill>
          <a:blip r:embed="rId4" cstate="print"/>
          <a:stretch>
            <a:fillRect/>
          </a:stretch>
        </p:blipFill>
        <p:spPr>
          <a:xfrm>
            <a:off x="8169910" y="2313835"/>
            <a:ext cx="3915410" cy="3148330"/>
          </a:xfrm>
          <a:prstGeom prst="rect">
            <a:avLst/>
          </a:prstGeom>
        </p:spPr>
      </p:pic>
      <p:sp>
        <p:nvSpPr>
          <p:cNvPr id="9" name="TextBox 6">
            <a:extLst>
              <a:ext uri="{FF2B5EF4-FFF2-40B4-BE49-F238E27FC236}">
                <a16:creationId xmlns:a16="http://schemas.microsoft.com/office/drawing/2014/main" id="{C6368B45-6A83-7543-7697-B6DBD0E6C0FA}"/>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软件重用 </a:t>
            </a:r>
            <a:r>
              <a:rPr lang="en-US" sz="2400" dirty="0">
                <a:solidFill>
                  <a:schemeClr val="tx1"/>
                </a:solidFill>
              </a:rPr>
              <a:t>Software Reuse</a:t>
            </a:r>
          </a:p>
        </p:txBody>
      </p:sp>
    </p:spTree>
    <p:custDataLst>
      <p:tags r:id="rId1"/>
    </p:custDataLst>
  </p:cSld>
  <p:clrMapOvr>
    <a:masterClrMapping/>
  </p:clrMapOvr>
  <p:transition>
    <p:wheel spokes="3"/>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6" name="矩形 5"/>
          <p:cNvSpPr/>
          <p:nvPr/>
        </p:nvSpPr>
        <p:spPr>
          <a:xfrm>
            <a:off x="0" y="2160000"/>
            <a:ext cx="12192000" cy="3456000"/>
          </a:xfrm>
          <a:prstGeom prst="rect">
            <a:avLst/>
          </a:prstGeom>
          <a:solidFill>
            <a:srgbClr val="00808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278765" y="2179850"/>
            <a:ext cx="8073390" cy="3416300"/>
          </a:xfrm>
          <a:prstGeom prst="rect">
            <a:avLst/>
          </a:prstGeom>
        </p:spPr>
        <p:txBody>
          <a:bodyPr wrap="square">
            <a:spAutoFit/>
          </a:bodyPr>
          <a:lstStyle/>
          <a:p>
            <a:pPr indent="457200">
              <a:lnSpc>
                <a:spcPct val="150000"/>
              </a:lnSpc>
              <a:defRPr/>
            </a:pPr>
            <a:r>
              <a:rPr dirty="0">
                <a:solidFill>
                  <a:schemeClr val="bg1"/>
                </a:solidFill>
              </a:rPr>
              <a:t>逆向工程（Reverse Engineer）</a:t>
            </a:r>
            <a:r>
              <a:rPr lang="zh-CN" altLang="en-US" dirty="0">
                <a:solidFill>
                  <a:schemeClr val="bg1"/>
                </a:solidFill>
              </a:rPr>
              <a:t>：</a:t>
            </a:r>
            <a:r>
              <a:rPr dirty="0" err="1">
                <a:solidFill>
                  <a:schemeClr val="bg1"/>
                </a:solidFill>
              </a:rPr>
              <a:t>指根据已有的源代码构造软件中间产品，包括重新创建设计和规约</a:t>
            </a:r>
            <a:r>
              <a:rPr dirty="0">
                <a:solidFill>
                  <a:schemeClr val="bg1"/>
                </a:solidFill>
              </a:rPr>
              <a:t>。</a:t>
            </a:r>
          </a:p>
          <a:p>
            <a:pPr indent="457200">
              <a:lnSpc>
                <a:spcPct val="150000"/>
              </a:lnSpc>
              <a:defRPr/>
            </a:pPr>
            <a:r>
              <a:rPr dirty="0" err="1">
                <a:solidFill>
                  <a:schemeClr val="bg1"/>
                </a:solidFill>
              </a:rPr>
              <a:t>再工程</a:t>
            </a:r>
            <a:r>
              <a:rPr lang="zh-CN" altLang="en-US" dirty="0">
                <a:solidFill>
                  <a:schemeClr val="bg1"/>
                </a:solidFill>
              </a:rPr>
              <a:t>：</a:t>
            </a:r>
            <a:r>
              <a:rPr dirty="0" err="1">
                <a:solidFill>
                  <a:schemeClr val="bg1"/>
                </a:solidFill>
              </a:rPr>
              <a:t>指在逆向工程所获得信息的基础上，重新进行软件设计，重构已有系统的一个新版本</a:t>
            </a:r>
            <a:r>
              <a:rPr dirty="0">
                <a:solidFill>
                  <a:schemeClr val="bg1"/>
                </a:solidFill>
              </a:rPr>
              <a:t>。</a:t>
            </a:r>
          </a:p>
          <a:p>
            <a:pPr indent="457200">
              <a:lnSpc>
                <a:spcPct val="150000"/>
              </a:lnSpc>
              <a:defRPr/>
            </a:pPr>
            <a:r>
              <a:rPr dirty="0">
                <a:solidFill>
                  <a:schemeClr val="bg1"/>
                </a:solidFill>
              </a:rPr>
              <a:t>在软件开发、维护中采用重用软件构件，一般可以比从头开发这个软件更加容易。软件重用的目的是能更快、更好、成本更低地生产软件制品。各种软件开发过程都能使用重用软件构件，利用面向对象技术，可以方便有效地实现软件重用。</a:t>
            </a:r>
          </a:p>
        </p:txBody>
      </p:sp>
      <p:pic>
        <p:nvPicPr>
          <p:cNvPr id="8" name="图片 7" descr="A000220150318R99PPIC"/>
          <p:cNvPicPr>
            <a:picLocks noChangeAspect="1"/>
          </p:cNvPicPr>
          <p:nvPr/>
        </p:nvPicPr>
        <p:blipFill>
          <a:blip r:embed="rId4" cstate="print"/>
          <a:stretch>
            <a:fillRect/>
          </a:stretch>
        </p:blipFill>
        <p:spPr>
          <a:xfrm>
            <a:off x="8169910" y="2329815"/>
            <a:ext cx="3915410" cy="3148330"/>
          </a:xfrm>
          <a:prstGeom prst="rect">
            <a:avLst/>
          </a:prstGeom>
        </p:spPr>
      </p:pic>
      <p:sp>
        <p:nvSpPr>
          <p:cNvPr id="3" name="TextBox 6">
            <a:extLst>
              <a:ext uri="{FF2B5EF4-FFF2-40B4-BE49-F238E27FC236}">
                <a16:creationId xmlns:a16="http://schemas.microsoft.com/office/drawing/2014/main" id="{9232C680-A8EB-28CE-B067-EE51F579D332}"/>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再工程 </a:t>
            </a:r>
            <a:r>
              <a:rPr lang="en-US" sz="2400" dirty="0">
                <a:solidFill>
                  <a:schemeClr val="tx1"/>
                </a:solidFill>
              </a:rPr>
              <a:t>Reengineering</a:t>
            </a:r>
          </a:p>
        </p:txBody>
      </p:sp>
    </p:spTree>
    <p:custDataLst>
      <p:tags r:id="rId1"/>
    </p:custDataLst>
  </p:cSld>
  <p:clrMapOvr>
    <a:masterClrMapping/>
  </p:clrMapOvr>
  <p:transition>
    <p:wheel spokes="3"/>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en-US" dirty="0" err="1">
                <a:sym typeface="+mn-ea"/>
              </a:rPr>
              <a:t>软件重用和再工程</a:t>
            </a:r>
            <a:endParaRPr lang="en-US" dirty="0">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19" name="MH_SubTitle_1"/>
          <p:cNvSpPr/>
          <p:nvPr>
            <p:custDataLst>
              <p:tags r:id="rId2"/>
            </p:custDataLst>
          </p:nvPr>
        </p:nvSpPr>
        <p:spPr bwMode="auto">
          <a:xfrm>
            <a:off x="1143570" y="2935437"/>
            <a:ext cx="1398016" cy="1818107"/>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0" name="MH_SubTitle_3"/>
          <p:cNvSpPr/>
          <p:nvPr>
            <p:custDataLst>
              <p:tags r:id="rId3"/>
            </p:custDataLst>
          </p:nvPr>
        </p:nvSpPr>
        <p:spPr bwMode="auto">
          <a:xfrm>
            <a:off x="1383868" y="4551117"/>
            <a:ext cx="2246361" cy="80657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1" name="MH_Other_1"/>
          <p:cNvSpPr/>
          <p:nvPr>
            <p:custDataLst>
              <p:tags r:id="rId4"/>
            </p:custDataLst>
          </p:nvPr>
        </p:nvSpPr>
        <p:spPr bwMode="auto">
          <a:xfrm>
            <a:off x="2424193" y="2935842"/>
            <a:ext cx="1352292" cy="1764217"/>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chemeClr val="accent6">
              <a:lumMod val="40000"/>
              <a:lumOff val="60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2" name="MH_Title_1"/>
          <p:cNvSpPr/>
          <p:nvPr>
            <p:custDataLst>
              <p:tags r:id="rId5"/>
            </p:custDataLst>
          </p:nvPr>
        </p:nvSpPr>
        <p:spPr>
          <a:xfrm>
            <a:off x="1666975" y="3428275"/>
            <a:ext cx="1601346" cy="1454132"/>
          </a:xfrm>
          <a:prstGeom prst="ellipse">
            <a:avLst/>
          </a:prstGeom>
          <a:solidFill>
            <a:schemeClr val="accent6"/>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925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软件</a:t>
            </a:r>
          </a:p>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重用</a:t>
            </a:r>
          </a:p>
        </p:txBody>
      </p:sp>
      <p:sp>
        <p:nvSpPr>
          <p:cNvPr id="23" name="MH_Other_2"/>
          <p:cNvSpPr/>
          <p:nvPr>
            <p:custDataLst>
              <p:tags r:id="rId6"/>
            </p:custDataLst>
          </p:nvPr>
        </p:nvSpPr>
        <p:spPr>
          <a:xfrm rot="10873167">
            <a:off x="1400269" y="3186088"/>
            <a:ext cx="2134756" cy="193850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软件成分的重用</a:t>
            </a:r>
          </a:p>
        </p:txBody>
      </p:sp>
      <p:sp>
        <p:nvSpPr>
          <p:cNvPr id="17" name="MH_SubTitle_2"/>
          <p:cNvSpPr/>
          <p:nvPr>
            <p:custDataLst>
              <p:tags r:id="rId7"/>
            </p:custDataLst>
          </p:nvPr>
        </p:nvSpPr>
        <p:spPr>
          <a:xfrm rot="3673167">
            <a:off x="950885" y="3057150"/>
            <a:ext cx="2682690" cy="2512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b="1" dirty="0">
                <a:solidFill>
                  <a:schemeClr val="tx1"/>
                </a:solidFill>
                <a:latin typeface="微软雅黑" panose="020B0503020204020204" charset="-122"/>
                <a:ea typeface="微软雅黑" panose="020B0503020204020204" charset="-122"/>
              </a:rPr>
              <a:t>知识重用</a:t>
            </a:r>
          </a:p>
        </p:txBody>
      </p:sp>
      <p:sp>
        <p:nvSpPr>
          <p:cNvPr id="18" name="MH_Other_3"/>
          <p:cNvSpPr/>
          <p:nvPr>
            <p:custDataLst>
              <p:tags r:id="rId8"/>
            </p:custDataLst>
          </p:nvPr>
        </p:nvSpPr>
        <p:spPr>
          <a:xfrm rot="18073167">
            <a:off x="1301223" y="3284196"/>
            <a:ext cx="1748964" cy="15151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方法和标准重用</a:t>
            </a:r>
          </a:p>
        </p:txBody>
      </p:sp>
      <p:sp>
        <p:nvSpPr>
          <p:cNvPr id="8" name="任意多边形 7"/>
          <p:cNvSpPr/>
          <p:nvPr/>
        </p:nvSpPr>
        <p:spPr>
          <a:xfrm flipH="1">
            <a:off x="3393336" y="2567772"/>
            <a:ext cx="8001000" cy="714375"/>
          </a:xfrm>
          <a:custGeom>
            <a:avLst/>
            <a:gdLst>
              <a:gd name="connsiteX0" fmla="*/ 3336967 w 3336967"/>
              <a:gd name="connsiteY0" fmla="*/ 534390 h 534390"/>
              <a:gd name="connsiteX1" fmla="*/ 2315689 w 3336967"/>
              <a:gd name="connsiteY1" fmla="*/ 0 h 534390"/>
              <a:gd name="connsiteX2" fmla="*/ 0 w 3336967"/>
              <a:gd name="connsiteY2" fmla="*/ 0 h 534390"/>
              <a:gd name="connsiteX0-1" fmla="*/ 3336967 w 3336967"/>
              <a:gd name="connsiteY0-2" fmla="*/ 534390 h 534390"/>
              <a:gd name="connsiteX1-3" fmla="*/ 2955249 w 3336967"/>
              <a:gd name="connsiteY1-4" fmla="*/ 0 h 534390"/>
              <a:gd name="connsiteX2-5" fmla="*/ 0 w 3336967"/>
              <a:gd name="connsiteY2-6" fmla="*/ 0 h 534390"/>
              <a:gd name="connsiteX0-7" fmla="*/ 3336967 w 3336967"/>
              <a:gd name="connsiteY0-8" fmla="*/ 534390 h 534390"/>
              <a:gd name="connsiteX1-9" fmla="*/ 3160870 w 3336967"/>
              <a:gd name="connsiteY1-10" fmla="*/ 0 h 534390"/>
              <a:gd name="connsiteX2-11" fmla="*/ 0 w 3336967"/>
              <a:gd name="connsiteY2-12" fmla="*/ 0 h 534390"/>
            </a:gdLst>
            <a:ahLst/>
            <a:cxnLst>
              <a:cxn ang="0">
                <a:pos x="connsiteX0-1" y="connsiteY0-2"/>
              </a:cxn>
              <a:cxn ang="0">
                <a:pos x="connsiteX1-3" y="connsiteY1-4"/>
              </a:cxn>
              <a:cxn ang="0">
                <a:pos x="connsiteX2-5" y="connsiteY2-6"/>
              </a:cxn>
            </a:cxnLst>
            <a:rect l="l" t="t" r="r" b="b"/>
            <a:pathLst>
              <a:path w="3336967" h="534390">
                <a:moveTo>
                  <a:pt x="3336967" y="534390"/>
                </a:moveTo>
                <a:lnTo>
                  <a:pt x="3160870" y="0"/>
                </a:lnTo>
                <a:lnTo>
                  <a:pt x="0" y="0"/>
                </a:lnTo>
              </a:path>
            </a:pathLst>
          </a:custGeom>
          <a:ln w="28575">
            <a:solidFill>
              <a:schemeClr val="tx1"/>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4" name="MH_SubTitle_1"/>
          <p:cNvSpPr/>
          <p:nvPr>
            <p:custDataLst>
              <p:tags r:id="rId9"/>
            </p:custDataLst>
          </p:nvPr>
        </p:nvSpPr>
        <p:spPr>
          <a:xfrm>
            <a:off x="4291226" y="2750652"/>
            <a:ext cx="3356610" cy="527050"/>
          </a:xfrm>
          <a:prstGeom prst="rect">
            <a:avLst/>
          </a:prstGeom>
          <a:solidFill>
            <a:schemeClr val="accent6"/>
          </a:solidFill>
          <a:ln w="28575" cap="flat" cmpd="sng" algn="ctr">
            <a:solidFill>
              <a:srgbClr val="FFFFFF"/>
            </a:solidFill>
            <a:prstDash val="solid"/>
            <a:miter lim="800000"/>
          </a:ln>
          <a:effectLst>
            <a:outerShdw blurRad="50800" dist="25400" dir="2700000" algn="tl" rotWithShape="0">
              <a:srgbClr val="3D3F41">
                <a:lumMod val="40000"/>
                <a:lumOff val="60000"/>
                <a:alpha val="40000"/>
              </a:srgbClr>
            </a:outerShdw>
          </a:effectLst>
        </p:spPr>
        <p:txBody>
          <a:bodyPr lIns="432000" tIns="36000" rIns="72000" bIns="36000" anchor="ctr">
            <a:normAutofit/>
          </a:bodyPr>
          <a:lstStyle/>
          <a:p>
            <a:pPr algn="just">
              <a:lnSpc>
                <a:spcPct val="110000"/>
              </a:lnSpc>
              <a:defRPr/>
            </a:pPr>
            <a:r>
              <a:rPr lang="zh-CN" altLang="en-US" sz="2100" b="1" dirty="0">
                <a:solidFill>
                  <a:schemeClr val="bg1"/>
                </a:solidFill>
                <a:latin typeface="微软雅黑" panose="020B0503020204020204" charset="-122"/>
                <a:ea typeface="微软雅黑" panose="020B0503020204020204" charset="-122"/>
              </a:rPr>
              <a:t>知识重用</a:t>
            </a:r>
          </a:p>
        </p:txBody>
      </p:sp>
      <p:sp>
        <p:nvSpPr>
          <p:cNvPr id="15" name="MH_Other_1"/>
          <p:cNvSpPr/>
          <p:nvPr>
            <p:custDataLst>
              <p:tags r:id="rId10"/>
            </p:custDataLst>
          </p:nvPr>
        </p:nvSpPr>
        <p:spPr>
          <a:xfrm>
            <a:off x="4038496" y="2746842"/>
            <a:ext cx="574012" cy="535305"/>
          </a:xfrm>
          <a:prstGeom prst="ellipse">
            <a:avLst/>
          </a:prstGeom>
          <a:solidFill>
            <a:srgbClr val="FFFFFF"/>
          </a:solidFill>
          <a:ln w="28575" cap="flat" cmpd="sng" algn="ctr">
            <a:solidFill>
              <a:schemeClr val="accent6"/>
            </a:solidFill>
            <a:prstDash val="solid"/>
            <a:miter lim="800000"/>
          </a:ln>
          <a:effectLst>
            <a:outerShdw blurRad="50800" dist="12700" dir="2700000" algn="tl" rotWithShape="0">
              <a:srgbClr val="3D3F41">
                <a:lumMod val="20000"/>
                <a:lumOff val="80000"/>
                <a:alpha val="36000"/>
              </a:srgbClr>
            </a:outerShdw>
          </a:effectLst>
        </p:spPr>
        <p:txBody>
          <a:bodyPr lIns="0" tIns="0" rIns="0" bIns="0" anchor="ctr">
            <a:normAutofit/>
          </a:bodyPr>
          <a:lstStyle/>
          <a:p>
            <a:pPr algn="ctr" eaLnBrk="1" fontAlgn="auto" hangingPunct="1">
              <a:spcBef>
                <a:spcPts val="0"/>
              </a:spcBef>
              <a:spcAft>
                <a:spcPts val="0"/>
              </a:spcAft>
              <a:defRPr/>
            </a:pPr>
            <a:r>
              <a:rPr lang="en-US" altLang="zh-CN" sz="2000" b="1" kern="0" dirty="0">
                <a:solidFill>
                  <a:schemeClr val="accent6"/>
                </a:solidFill>
                <a:latin typeface="Times New Roman" panose="02020603050405020304" pitchFamily="18" charset="0"/>
                <a:ea typeface="Kozuka Gothic Pr6N B" panose="020B0800000000000000" pitchFamily="34" charset="-128"/>
              </a:rPr>
              <a:t>1</a:t>
            </a:r>
            <a:endParaRPr lang="zh-CN" altLang="en-US" sz="2000" b="1" kern="0" dirty="0">
              <a:solidFill>
                <a:schemeClr val="accent6"/>
              </a:solidFill>
              <a:latin typeface="Times New Roman" panose="02020603050405020304" pitchFamily="18" charset="0"/>
              <a:ea typeface="Kozuka Gothic Pr6N B" panose="020B0800000000000000" pitchFamily="34" charset="-128"/>
            </a:endParaRPr>
          </a:p>
        </p:txBody>
      </p:sp>
      <p:sp>
        <p:nvSpPr>
          <p:cNvPr id="10" name="MH_SubTitle_1"/>
          <p:cNvSpPr txBox="1">
            <a:spLocks noChangeArrowheads="1"/>
          </p:cNvSpPr>
          <p:nvPr>
            <p:custDataLst>
              <p:tags r:id="rId11"/>
            </p:custDataLst>
          </p:nvPr>
        </p:nvSpPr>
        <p:spPr bwMode="auto">
          <a:xfrm flipH="1">
            <a:off x="4291224" y="3612982"/>
            <a:ext cx="7011973" cy="857250"/>
          </a:xfrm>
          <a:prstGeom prst="rect">
            <a:avLst/>
          </a:prstGeom>
          <a:noFill/>
          <a:ln w="9525">
            <a:noFill/>
            <a:miter lim="800000"/>
          </a:ln>
        </p:spPr>
        <p:txBody>
          <a:bodyPr lIns="216000" tIns="34290" rIns="68580" bIns="34290" anchor="ctr"/>
          <a:lstStyle/>
          <a:p>
            <a:pPr indent="457200">
              <a:lnSpc>
                <a:spcPct val="120000"/>
              </a:lnSpc>
            </a:pPr>
            <a:r>
              <a:rPr lang="zh-CN" altLang="en-US" sz="2000" dirty="0"/>
              <a:t>知识重用是多方面的，例如，软件工程知识，开发经验、设计经验、应用领域知识等的重用。</a:t>
            </a:r>
          </a:p>
        </p:txBody>
      </p:sp>
    </p:spTree>
    <p:custDataLst>
      <p:tags r:id="rId1"/>
    </p:custDataLst>
  </p:cSld>
  <p:clrMapOvr>
    <a:masterClrMapping/>
  </p:clrMapOvr>
  <p:transition>
    <p:wheel spokes="3"/>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en-US" dirty="0" err="1">
                <a:sym typeface="+mn-ea"/>
              </a:rPr>
              <a:t>软件重用和再工程</a:t>
            </a:r>
            <a:endParaRPr lang="en-US" dirty="0">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19" name="MH_SubTitle_1"/>
          <p:cNvSpPr/>
          <p:nvPr>
            <p:custDataLst>
              <p:tags r:id="rId2"/>
            </p:custDataLst>
          </p:nvPr>
        </p:nvSpPr>
        <p:spPr bwMode="auto">
          <a:xfrm>
            <a:off x="1143571" y="2935437"/>
            <a:ext cx="1398016" cy="1818107"/>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0" name="MH_SubTitle_3"/>
          <p:cNvSpPr/>
          <p:nvPr>
            <p:custDataLst>
              <p:tags r:id="rId3"/>
            </p:custDataLst>
          </p:nvPr>
        </p:nvSpPr>
        <p:spPr bwMode="auto">
          <a:xfrm>
            <a:off x="1383869" y="4551117"/>
            <a:ext cx="2246361" cy="80657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1" name="MH_Other_1"/>
          <p:cNvSpPr/>
          <p:nvPr>
            <p:custDataLst>
              <p:tags r:id="rId4"/>
            </p:custDataLst>
          </p:nvPr>
        </p:nvSpPr>
        <p:spPr bwMode="auto">
          <a:xfrm>
            <a:off x="2424194" y="2935842"/>
            <a:ext cx="1352292" cy="1764217"/>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chemeClr val="accent6">
              <a:lumMod val="40000"/>
              <a:lumOff val="60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2" name="MH_Title_1"/>
          <p:cNvSpPr/>
          <p:nvPr>
            <p:custDataLst>
              <p:tags r:id="rId5"/>
            </p:custDataLst>
          </p:nvPr>
        </p:nvSpPr>
        <p:spPr>
          <a:xfrm>
            <a:off x="1666976" y="3428275"/>
            <a:ext cx="1601346" cy="1454132"/>
          </a:xfrm>
          <a:prstGeom prst="ellipse">
            <a:avLst/>
          </a:prstGeom>
          <a:solidFill>
            <a:schemeClr val="accent6"/>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925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软件</a:t>
            </a:r>
          </a:p>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重用</a:t>
            </a:r>
          </a:p>
        </p:txBody>
      </p:sp>
      <p:sp>
        <p:nvSpPr>
          <p:cNvPr id="23" name="MH_Other_2"/>
          <p:cNvSpPr/>
          <p:nvPr>
            <p:custDataLst>
              <p:tags r:id="rId6"/>
            </p:custDataLst>
          </p:nvPr>
        </p:nvSpPr>
        <p:spPr>
          <a:xfrm rot="10873167">
            <a:off x="1400270" y="3186088"/>
            <a:ext cx="2134756" cy="193850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软件成分的重用</a:t>
            </a:r>
          </a:p>
        </p:txBody>
      </p:sp>
      <p:sp>
        <p:nvSpPr>
          <p:cNvPr id="17" name="MH_SubTitle_2"/>
          <p:cNvSpPr/>
          <p:nvPr>
            <p:custDataLst>
              <p:tags r:id="rId7"/>
            </p:custDataLst>
          </p:nvPr>
        </p:nvSpPr>
        <p:spPr>
          <a:xfrm rot="3673167">
            <a:off x="1186530" y="2983427"/>
            <a:ext cx="2130405" cy="25120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b="1" dirty="0">
                <a:solidFill>
                  <a:schemeClr val="tx1"/>
                </a:solidFill>
                <a:latin typeface="微软雅黑" panose="020B0503020204020204" charset="-122"/>
                <a:ea typeface="微软雅黑" panose="020B0503020204020204" charset="-122"/>
              </a:rPr>
              <a:t>方法和标准重用</a:t>
            </a:r>
          </a:p>
        </p:txBody>
      </p:sp>
      <p:sp>
        <p:nvSpPr>
          <p:cNvPr id="18" name="MH_Other_3"/>
          <p:cNvSpPr/>
          <p:nvPr>
            <p:custDataLst>
              <p:tags r:id="rId8"/>
            </p:custDataLst>
          </p:nvPr>
        </p:nvSpPr>
        <p:spPr>
          <a:xfrm rot="18073167">
            <a:off x="1076221" y="3284688"/>
            <a:ext cx="2198371" cy="15151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知识重用</a:t>
            </a:r>
          </a:p>
        </p:txBody>
      </p:sp>
      <p:sp>
        <p:nvSpPr>
          <p:cNvPr id="8" name="任意多边形 7"/>
          <p:cNvSpPr/>
          <p:nvPr/>
        </p:nvSpPr>
        <p:spPr>
          <a:xfrm flipH="1">
            <a:off x="3393336" y="2567772"/>
            <a:ext cx="8001000" cy="714375"/>
          </a:xfrm>
          <a:custGeom>
            <a:avLst/>
            <a:gdLst>
              <a:gd name="connsiteX0" fmla="*/ 3336967 w 3336967"/>
              <a:gd name="connsiteY0" fmla="*/ 534390 h 534390"/>
              <a:gd name="connsiteX1" fmla="*/ 2315689 w 3336967"/>
              <a:gd name="connsiteY1" fmla="*/ 0 h 534390"/>
              <a:gd name="connsiteX2" fmla="*/ 0 w 3336967"/>
              <a:gd name="connsiteY2" fmla="*/ 0 h 534390"/>
              <a:gd name="connsiteX0-1" fmla="*/ 3336967 w 3336967"/>
              <a:gd name="connsiteY0-2" fmla="*/ 534390 h 534390"/>
              <a:gd name="connsiteX1-3" fmla="*/ 2955249 w 3336967"/>
              <a:gd name="connsiteY1-4" fmla="*/ 0 h 534390"/>
              <a:gd name="connsiteX2-5" fmla="*/ 0 w 3336967"/>
              <a:gd name="connsiteY2-6" fmla="*/ 0 h 534390"/>
              <a:gd name="connsiteX0-7" fmla="*/ 3336967 w 3336967"/>
              <a:gd name="connsiteY0-8" fmla="*/ 534390 h 534390"/>
              <a:gd name="connsiteX1-9" fmla="*/ 3160870 w 3336967"/>
              <a:gd name="connsiteY1-10" fmla="*/ 0 h 534390"/>
              <a:gd name="connsiteX2-11" fmla="*/ 0 w 3336967"/>
              <a:gd name="connsiteY2-12" fmla="*/ 0 h 534390"/>
            </a:gdLst>
            <a:ahLst/>
            <a:cxnLst>
              <a:cxn ang="0">
                <a:pos x="connsiteX0-1" y="connsiteY0-2"/>
              </a:cxn>
              <a:cxn ang="0">
                <a:pos x="connsiteX1-3" y="connsiteY1-4"/>
              </a:cxn>
              <a:cxn ang="0">
                <a:pos x="connsiteX2-5" y="connsiteY2-6"/>
              </a:cxn>
            </a:cxnLst>
            <a:rect l="l" t="t" r="r" b="b"/>
            <a:pathLst>
              <a:path w="3336967" h="534390">
                <a:moveTo>
                  <a:pt x="3336967" y="534390"/>
                </a:moveTo>
                <a:lnTo>
                  <a:pt x="3160870" y="0"/>
                </a:lnTo>
                <a:lnTo>
                  <a:pt x="0" y="0"/>
                </a:lnTo>
              </a:path>
            </a:pathLst>
          </a:custGeom>
          <a:ln w="28575">
            <a:solidFill>
              <a:schemeClr val="tx1"/>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4" name="MH_SubTitle_1"/>
          <p:cNvSpPr/>
          <p:nvPr>
            <p:custDataLst>
              <p:tags r:id="rId9"/>
            </p:custDataLst>
          </p:nvPr>
        </p:nvSpPr>
        <p:spPr>
          <a:xfrm>
            <a:off x="4291226" y="2750652"/>
            <a:ext cx="3356610" cy="527050"/>
          </a:xfrm>
          <a:prstGeom prst="rect">
            <a:avLst/>
          </a:prstGeom>
          <a:solidFill>
            <a:schemeClr val="accent6"/>
          </a:solidFill>
          <a:ln w="28575" cap="flat" cmpd="sng" algn="ctr">
            <a:solidFill>
              <a:srgbClr val="FFFFFF"/>
            </a:solidFill>
            <a:prstDash val="solid"/>
            <a:miter lim="800000"/>
          </a:ln>
          <a:effectLst>
            <a:outerShdw blurRad="50800" dist="25400" dir="2700000" algn="tl" rotWithShape="0">
              <a:srgbClr val="3D3F41">
                <a:lumMod val="40000"/>
                <a:lumOff val="60000"/>
                <a:alpha val="40000"/>
              </a:srgbClr>
            </a:outerShdw>
          </a:effectLst>
        </p:spPr>
        <p:txBody>
          <a:bodyPr lIns="432000" tIns="36000" rIns="72000" bIns="36000" anchor="ctr">
            <a:normAutofit/>
          </a:bodyPr>
          <a:lstStyle/>
          <a:p>
            <a:pPr algn="just">
              <a:lnSpc>
                <a:spcPct val="110000"/>
              </a:lnSpc>
              <a:defRPr/>
            </a:pPr>
            <a:r>
              <a:rPr lang="zh-CN" altLang="en-US" sz="2100" b="1" dirty="0">
                <a:solidFill>
                  <a:schemeClr val="bg1"/>
                </a:solidFill>
                <a:latin typeface="微软雅黑" panose="020B0503020204020204" charset="-122"/>
                <a:ea typeface="微软雅黑" panose="020B0503020204020204" charset="-122"/>
              </a:rPr>
              <a:t>方法和标准重用</a:t>
            </a:r>
          </a:p>
        </p:txBody>
      </p:sp>
      <p:sp>
        <p:nvSpPr>
          <p:cNvPr id="15" name="MH_Other_1"/>
          <p:cNvSpPr/>
          <p:nvPr>
            <p:custDataLst>
              <p:tags r:id="rId10"/>
            </p:custDataLst>
          </p:nvPr>
        </p:nvSpPr>
        <p:spPr>
          <a:xfrm>
            <a:off x="4038496" y="2746842"/>
            <a:ext cx="574012" cy="535305"/>
          </a:xfrm>
          <a:prstGeom prst="ellipse">
            <a:avLst/>
          </a:prstGeom>
          <a:solidFill>
            <a:srgbClr val="FFFFFF"/>
          </a:solidFill>
          <a:ln w="28575" cap="flat" cmpd="sng" algn="ctr">
            <a:solidFill>
              <a:schemeClr val="accent6"/>
            </a:solidFill>
            <a:prstDash val="solid"/>
            <a:miter lim="800000"/>
          </a:ln>
          <a:effectLst>
            <a:outerShdw blurRad="50800" dist="12700" dir="2700000" algn="tl" rotWithShape="0">
              <a:srgbClr val="3D3F41">
                <a:lumMod val="20000"/>
                <a:lumOff val="80000"/>
                <a:alpha val="36000"/>
              </a:srgbClr>
            </a:outerShdw>
          </a:effectLst>
        </p:spPr>
        <p:txBody>
          <a:bodyPr lIns="0" tIns="0" rIns="0" bIns="0" anchor="ctr">
            <a:normAutofit/>
          </a:bodyPr>
          <a:lstStyle/>
          <a:p>
            <a:pPr algn="ctr" eaLnBrk="1" fontAlgn="auto" hangingPunct="1">
              <a:spcBef>
                <a:spcPts val="0"/>
              </a:spcBef>
              <a:spcAft>
                <a:spcPts val="0"/>
              </a:spcAft>
              <a:defRPr/>
            </a:pPr>
            <a:r>
              <a:rPr lang="en-US" altLang="zh-CN" sz="2000" b="1" kern="0" dirty="0">
                <a:solidFill>
                  <a:schemeClr val="accent6"/>
                </a:solidFill>
                <a:latin typeface="Times New Roman" panose="02020603050405020304" pitchFamily="18" charset="0"/>
                <a:ea typeface="Kozuka Gothic Pr6N B" panose="020B0800000000000000" pitchFamily="34" charset="-128"/>
              </a:rPr>
              <a:t>2</a:t>
            </a:r>
            <a:endParaRPr lang="zh-CN" altLang="en-US" sz="2000" b="1" kern="0" dirty="0">
              <a:solidFill>
                <a:schemeClr val="accent6"/>
              </a:solidFill>
              <a:latin typeface="Times New Roman" panose="02020603050405020304" pitchFamily="18" charset="0"/>
              <a:ea typeface="Kozuka Gothic Pr6N B" panose="020B0800000000000000" pitchFamily="34" charset="-128"/>
            </a:endParaRPr>
          </a:p>
        </p:txBody>
      </p:sp>
      <p:sp>
        <p:nvSpPr>
          <p:cNvPr id="10" name="MH_SubTitle_1"/>
          <p:cNvSpPr txBox="1">
            <a:spLocks noChangeArrowheads="1"/>
          </p:cNvSpPr>
          <p:nvPr>
            <p:custDataLst>
              <p:tags r:id="rId11"/>
            </p:custDataLst>
          </p:nvPr>
        </p:nvSpPr>
        <p:spPr bwMode="auto">
          <a:xfrm flipH="1">
            <a:off x="4291224" y="3283259"/>
            <a:ext cx="7011973" cy="1516697"/>
          </a:xfrm>
          <a:prstGeom prst="rect">
            <a:avLst/>
          </a:prstGeom>
          <a:noFill/>
          <a:ln w="9525">
            <a:noFill/>
            <a:miter lim="800000"/>
          </a:ln>
        </p:spPr>
        <p:txBody>
          <a:bodyPr lIns="216000" tIns="34290" rIns="68580" bIns="34290" anchor="ctr">
            <a:spAutoFit/>
          </a:bodyPr>
          <a:lstStyle/>
          <a:p>
            <a:pPr>
              <a:lnSpc>
                <a:spcPct val="120000"/>
              </a:lnSpc>
            </a:pPr>
            <a:r>
              <a:rPr lang="zh-CN" altLang="en-US" sz="2000" dirty="0"/>
              <a:t>方法和标准的重用包括：</a:t>
            </a:r>
            <a:endParaRPr lang="en-US" altLang="zh-CN" sz="2000" dirty="0"/>
          </a:p>
          <a:p>
            <a:pPr indent="457200">
              <a:lnSpc>
                <a:spcPct val="120000"/>
              </a:lnSpc>
            </a:pPr>
            <a:r>
              <a:rPr lang="zh-CN" altLang="en-US" sz="2000" dirty="0"/>
              <a:t>传统软件工程方法</a:t>
            </a:r>
            <a:endParaRPr lang="en-US" altLang="zh-CN" sz="2000" dirty="0"/>
          </a:p>
          <a:p>
            <a:pPr indent="457200">
              <a:lnSpc>
                <a:spcPct val="120000"/>
              </a:lnSpc>
            </a:pPr>
            <a:r>
              <a:rPr lang="zh-CN" altLang="en-US" sz="2000" dirty="0"/>
              <a:t>面向对象方法</a:t>
            </a:r>
            <a:endParaRPr lang="en-US" altLang="zh-CN" sz="2000" dirty="0"/>
          </a:p>
          <a:p>
            <a:pPr indent="457200">
              <a:lnSpc>
                <a:spcPct val="120000"/>
              </a:lnSpc>
            </a:pPr>
            <a:r>
              <a:rPr lang="zh-CN" altLang="en-US" sz="2000" dirty="0"/>
              <a:t>有关软件开发的国家标准和国际标准的重用</a:t>
            </a:r>
          </a:p>
        </p:txBody>
      </p:sp>
    </p:spTree>
    <p:custDataLst>
      <p:tags r:id="rId1"/>
    </p:custDataLst>
  </p:cSld>
  <p:clrMapOvr>
    <a:masterClrMapping/>
  </p:clrMapOvr>
  <p:transition>
    <p:wheel spokes="3"/>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en-US" dirty="0" err="1">
                <a:sym typeface="+mn-ea"/>
              </a:rPr>
              <a:t>软件重用和再工程</a:t>
            </a:r>
            <a:endParaRPr lang="en-US" dirty="0">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19" name="MH_SubTitle_1"/>
          <p:cNvSpPr/>
          <p:nvPr>
            <p:custDataLst>
              <p:tags r:id="rId2"/>
            </p:custDataLst>
          </p:nvPr>
        </p:nvSpPr>
        <p:spPr bwMode="auto">
          <a:xfrm>
            <a:off x="1143570" y="2935437"/>
            <a:ext cx="1398016" cy="1818107"/>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0" name="MH_SubTitle_3"/>
          <p:cNvSpPr/>
          <p:nvPr>
            <p:custDataLst>
              <p:tags r:id="rId3"/>
            </p:custDataLst>
          </p:nvPr>
        </p:nvSpPr>
        <p:spPr bwMode="auto">
          <a:xfrm>
            <a:off x="1383868" y="4551117"/>
            <a:ext cx="2246361" cy="80657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1" name="MH_Other_1"/>
          <p:cNvSpPr/>
          <p:nvPr>
            <p:custDataLst>
              <p:tags r:id="rId4"/>
            </p:custDataLst>
          </p:nvPr>
        </p:nvSpPr>
        <p:spPr bwMode="auto">
          <a:xfrm>
            <a:off x="2424193" y="2935842"/>
            <a:ext cx="1352292" cy="1764217"/>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chemeClr val="accent6">
              <a:lumMod val="40000"/>
              <a:lumOff val="60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2" name="MH_Title_1"/>
          <p:cNvSpPr/>
          <p:nvPr>
            <p:custDataLst>
              <p:tags r:id="rId5"/>
            </p:custDataLst>
          </p:nvPr>
        </p:nvSpPr>
        <p:spPr>
          <a:xfrm>
            <a:off x="1666975" y="3428275"/>
            <a:ext cx="1601346" cy="1454132"/>
          </a:xfrm>
          <a:prstGeom prst="ellipse">
            <a:avLst/>
          </a:prstGeom>
          <a:solidFill>
            <a:schemeClr val="accent6"/>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925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软件</a:t>
            </a:r>
          </a:p>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重用</a:t>
            </a:r>
          </a:p>
        </p:txBody>
      </p:sp>
      <p:sp>
        <p:nvSpPr>
          <p:cNvPr id="23" name="MH_Other_2"/>
          <p:cNvSpPr/>
          <p:nvPr>
            <p:custDataLst>
              <p:tags r:id="rId6"/>
            </p:custDataLst>
          </p:nvPr>
        </p:nvSpPr>
        <p:spPr>
          <a:xfrm rot="10873167">
            <a:off x="1400269" y="3186088"/>
            <a:ext cx="2134756" cy="193850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知识重用</a:t>
            </a:r>
          </a:p>
        </p:txBody>
      </p:sp>
      <p:sp>
        <p:nvSpPr>
          <p:cNvPr id="17" name="MH_SubTitle_2"/>
          <p:cNvSpPr/>
          <p:nvPr>
            <p:custDataLst>
              <p:tags r:id="rId7"/>
            </p:custDataLst>
          </p:nvPr>
        </p:nvSpPr>
        <p:spPr>
          <a:xfrm rot="3673167">
            <a:off x="1166664" y="3040751"/>
            <a:ext cx="2271555" cy="2512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9745372"/>
              </a:avLst>
            </a:prstTxWarp>
            <a:normAutofit/>
          </a:bodyPr>
          <a:lstStyle/>
          <a:p>
            <a:pPr algn="ctr">
              <a:defRPr/>
            </a:pPr>
            <a:r>
              <a:rPr lang="zh-CN" altLang="en-US" sz="2000" b="1" dirty="0">
                <a:solidFill>
                  <a:schemeClr val="tx1"/>
                </a:solidFill>
                <a:latin typeface="微软雅黑" panose="020B0503020204020204" charset="-122"/>
                <a:ea typeface="微软雅黑" panose="020B0503020204020204" charset="-122"/>
              </a:rPr>
              <a:t>软件成分的重用</a:t>
            </a:r>
          </a:p>
        </p:txBody>
      </p:sp>
      <p:sp>
        <p:nvSpPr>
          <p:cNvPr id="18" name="MH_Other_3"/>
          <p:cNvSpPr/>
          <p:nvPr>
            <p:custDataLst>
              <p:tags r:id="rId8"/>
            </p:custDataLst>
          </p:nvPr>
        </p:nvSpPr>
        <p:spPr>
          <a:xfrm rot="18073167">
            <a:off x="1186069" y="3328202"/>
            <a:ext cx="1968936" cy="15151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38535"/>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方法和标准重用</a:t>
            </a:r>
          </a:p>
        </p:txBody>
      </p:sp>
      <p:sp>
        <p:nvSpPr>
          <p:cNvPr id="8" name="任意多边形 7"/>
          <p:cNvSpPr/>
          <p:nvPr/>
        </p:nvSpPr>
        <p:spPr>
          <a:xfrm flipH="1">
            <a:off x="3393336" y="2567772"/>
            <a:ext cx="8001000" cy="714375"/>
          </a:xfrm>
          <a:custGeom>
            <a:avLst/>
            <a:gdLst>
              <a:gd name="connsiteX0" fmla="*/ 3336967 w 3336967"/>
              <a:gd name="connsiteY0" fmla="*/ 534390 h 534390"/>
              <a:gd name="connsiteX1" fmla="*/ 2315689 w 3336967"/>
              <a:gd name="connsiteY1" fmla="*/ 0 h 534390"/>
              <a:gd name="connsiteX2" fmla="*/ 0 w 3336967"/>
              <a:gd name="connsiteY2" fmla="*/ 0 h 534390"/>
              <a:gd name="connsiteX0-1" fmla="*/ 3336967 w 3336967"/>
              <a:gd name="connsiteY0-2" fmla="*/ 534390 h 534390"/>
              <a:gd name="connsiteX1-3" fmla="*/ 2955249 w 3336967"/>
              <a:gd name="connsiteY1-4" fmla="*/ 0 h 534390"/>
              <a:gd name="connsiteX2-5" fmla="*/ 0 w 3336967"/>
              <a:gd name="connsiteY2-6" fmla="*/ 0 h 534390"/>
              <a:gd name="connsiteX0-7" fmla="*/ 3336967 w 3336967"/>
              <a:gd name="connsiteY0-8" fmla="*/ 534390 h 534390"/>
              <a:gd name="connsiteX1-9" fmla="*/ 3160870 w 3336967"/>
              <a:gd name="connsiteY1-10" fmla="*/ 0 h 534390"/>
              <a:gd name="connsiteX2-11" fmla="*/ 0 w 3336967"/>
              <a:gd name="connsiteY2-12" fmla="*/ 0 h 534390"/>
            </a:gdLst>
            <a:ahLst/>
            <a:cxnLst>
              <a:cxn ang="0">
                <a:pos x="connsiteX0-1" y="connsiteY0-2"/>
              </a:cxn>
              <a:cxn ang="0">
                <a:pos x="connsiteX1-3" y="connsiteY1-4"/>
              </a:cxn>
              <a:cxn ang="0">
                <a:pos x="connsiteX2-5" y="connsiteY2-6"/>
              </a:cxn>
            </a:cxnLst>
            <a:rect l="l" t="t" r="r" b="b"/>
            <a:pathLst>
              <a:path w="3336967" h="534390">
                <a:moveTo>
                  <a:pt x="3336967" y="534390"/>
                </a:moveTo>
                <a:lnTo>
                  <a:pt x="3160870" y="0"/>
                </a:lnTo>
                <a:lnTo>
                  <a:pt x="0" y="0"/>
                </a:lnTo>
              </a:path>
            </a:pathLst>
          </a:custGeom>
          <a:ln w="28575">
            <a:solidFill>
              <a:schemeClr val="tx1"/>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4" name="MH_SubTitle_1"/>
          <p:cNvSpPr/>
          <p:nvPr>
            <p:custDataLst>
              <p:tags r:id="rId9"/>
            </p:custDataLst>
          </p:nvPr>
        </p:nvSpPr>
        <p:spPr>
          <a:xfrm>
            <a:off x="4291224" y="2750652"/>
            <a:ext cx="3356610" cy="527050"/>
          </a:xfrm>
          <a:prstGeom prst="rect">
            <a:avLst/>
          </a:prstGeom>
          <a:solidFill>
            <a:schemeClr val="accent6"/>
          </a:solidFill>
          <a:ln w="28575" cap="flat" cmpd="sng" algn="ctr">
            <a:solidFill>
              <a:srgbClr val="FFFFFF"/>
            </a:solidFill>
            <a:prstDash val="solid"/>
            <a:miter lim="800000"/>
          </a:ln>
          <a:effectLst>
            <a:outerShdw blurRad="50800" dist="25400" dir="2700000" algn="tl" rotWithShape="0">
              <a:srgbClr val="3D3F41">
                <a:lumMod val="40000"/>
                <a:lumOff val="60000"/>
                <a:alpha val="40000"/>
              </a:srgbClr>
            </a:outerShdw>
          </a:effectLst>
        </p:spPr>
        <p:txBody>
          <a:bodyPr lIns="432000" tIns="36000" rIns="72000" bIns="36000" anchor="ctr">
            <a:normAutofit/>
          </a:bodyPr>
          <a:lstStyle/>
          <a:p>
            <a:pPr algn="just">
              <a:lnSpc>
                <a:spcPct val="110000"/>
              </a:lnSpc>
              <a:defRPr/>
            </a:pPr>
            <a:r>
              <a:rPr lang="zh-CN" altLang="en-US" sz="2100" b="1" dirty="0">
                <a:solidFill>
                  <a:schemeClr val="bg1"/>
                </a:solidFill>
                <a:latin typeface="微软雅黑" panose="020B0503020204020204" charset="-122"/>
                <a:ea typeface="微软雅黑" panose="020B0503020204020204" charset="-122"/>
              </a:rPr>
              <a:t>软件成分的重用</a:t>
            </a:r>
          </a:p>
        </p:txBody>
      </p:sp>
      <p:sp>
        <p:nvSpPr>
          <p:cNvPr id="15" name="MH_Other_1"/>
          <p:cNvSpPr/>
          <p:nvPr>
            <p:custDataLst>
              <p:tags r:id="rId10"/>
            </p:custDataLst>
          </p:nvPr>
        </p:nvSpPr>
        <p:spPr>
          <a:xfrm>
            <a:off x="4038496" y="2746842"/>
            <a:ext cx="574012" cy="535305"/>
          </a:xfrm>
          <a:prstGeom prst="ellipse">
            <a:avLst/>
          </a:prstGeom>
          <a:solidFill>
            <a:srgbClr val="FFFFFF"/>
          </a:solidFill>
          <a:ln w="28575" cap="flat" cmpd="sng" algn="ctr">
            <a:solidFill>
              <a:schemeClr val="accent6"/>
            </a:solidFill>
            <a:prstDash val="solid"/>
            <a:miter lim="800000"/>
          </a:ln>
          <a:effectLst>
            <a:outerShdw blurRad="50800" dist="12700" dir="2700000" algn="tl" rotWithShape="0">
              <a:srgbClr val="3D3F41">
                <a:lumMod val="20000"/>
                <a:lumOff val="80000"/>
                <a:alpha val="36000"/>
              </a:srgbClr>
            </a:outerShdw>
          </a:effectLst>
        </p:spPr>
        <p:txBody>
          <a:bodyPr lIns="0" tIns="0" rIns="0" bIns="0" anchor="ctr">
            <a:normAutofit/>
          </a:bodyPr>
          <a:lstStyle/>
          <a:p>
            <a:pPr algn="ctr" eaLnBrk="1" fontAlgn="auto" hangingPunct="1">
              <a:spcBef>
                <a:spcPts val="0"/>
              </a:spcBef>
              <a:spcAft>
                <a:spcPts val="0"/>
              </a:spcAft>
              <a:defRPr/>
            </a:pPr>
            <a:r>
              <a:rPr lang="en-US" altLang="zh-CN" sz="2000" b="1" kern="0" dirty="0">
                <a:solidFill>
                  <a:schemeClr val="accent6"/>
                </a:solidFill>
                <a:latin typeface="Times New Roman" panose="02020603050405020304" pitchFamily="18" charset="0"/>
                <a:ea typeface="Kozuka Gothic Pr6N B" panose="020B0800000000000000" pitchFamily="34" charset="-128"/>
              </a:rPr>
              <a:t>3</a:t>
            </a:r>
            <a:endParaRPr lang="zh-CN" altLang="en-US" sz="2000" b="1" kern="0" dirty="0">
              <a:solidFill>
                <a:schemeClr val="accent6"/>
              </a:solidFill>
              <a:latin typeface="Times New Roman" panose="02020603050405020304" pitchFamily="18" charset="0"/>
              <a:ea typeface="Kozuka Gothic Pr6N B" panose="020B0800000000000000" pitchFamily="34" charset="-128"/>
            </a:endParaRPr>
          </a:p>
        </p:txBody>
      </p:sp>
      <p:sp>
        <p:nvSpPr>
          <p:cNvPr id="10" name="MH_SubTitle_1"/>
          <p:cNvSpPr txBox="1">
            <a:spLocks noChangeArrowheads="1"/>
          </p:cNvSpPr>
          <p:nvPr>
            <p:custDataLst>
              <p:tags r:id="rId11"/>
            </p:custDataLst>
          </p:nvPr>
        </p:nvSpPr>
        <p:spPr bwMode="auto">
          <a:xfrm flipH="1">
            <a:off x="4291224" y="3267870"/>
            <a:ext cx="7011973" cy="1547475"/>
          </a:xfrm>
          <a:prstGeom prst="rect">
            <a:avLst/>
          </a:prstGeom>
          <a:noFill/>
          <a:ln w="9525">
            <a:noFill/>
            <a:miter lim="800000"/>
          </a:ln>
        </p:spPr>
        <p:txBody>
          <a:bodyPr lIns="216000" tIns="34290" rIns="68580" bIns="34290" anchor="ctr">
            <a:spAutoFit/>
          </a:bodyPr>
          <a:lstStyle/>
          <a:p>
            <a:pPr>
              <a:lnSpc>
                <a:spcPct val="120000"/>
              </a:lnSpc>
            </a:pPr>
            <a:r>
              <a:rPr lang="zh-CN" altLang="en-US" sz="2000" dirty="0"/>
              <a:t>软件成分的重用可分为3个级别：</a:t>
            </a:r>
            <a:endParaRPr lang="en-US" altLang="zh-CN" sz="2000" dirty="0"/>
          </a:p>
          <a:p>
            <a:pPr indent="457200">
              <a:lnSpc>
                <a:spcPct val="120000"/>
              </a:lnSpc>
            </a:pPr>
            <a:r>
              <a:rPr lang="zh-CN" altLang="en-US" sz="2000" dirty="0"/>
              <a:t>源代码重用</a:t>
            </a:r>
            <a:endParaRPr lang="en-US" altLang="zh-CN" sz="2000" dirty="0"/>
          </a:p>
          <a:p>
            <a:pPr indent="457200">
              <a:lnSpc>
                <a:spcPct val="120000"/>
              </a:lnSpc>
            </a:pPr>
            <a:r>
              <a:rPr lang="zh-CN" altLang="en-US" sz="2000" dirty="0"/>
              <a:t>设计结果重用</a:t>
            </a:r>
            <a:endParaRPr lang="en-US" altLang="zh-CN" sz="2000" dirty="0"/>
          </a:p>
          <a:p>
            <a:pPr indent="457200">
              <a:lnSpc>
                <a:spcPct val="120000"/>
              </a:lnSpc>
            </a:pPr>
            <a:r>
              <a:rPr lang="zh-CN" altLang="en-US" sz="2000" dirty="0"/>
              <a:t>规格说明重用</a:t>
            </a:r>
          </a:p>
        </p:txBody>
      </p:sp>
    </p:spTree>
    <p:custDataLst>
      <p:tags r:id="rId1"/>
    </p:custData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27" name="MH_Text_1"/>
          <p:cNvSpPr/>
          <p:nvPr>
            <p:custDataLst>
              <p:tags r:id="rId2"/>
            </p:custDataLst>
          </p:nvPr>
        </p:nvSpPr>
        <p:spPr bwMode="auto">
          <a:xfrm>
            <a:off x="2429285" y="3240000"/>
            <a:ext cx="9498563" cy="1635128"/>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indent="457200">
              <a:lnSpc>
                <a:spcPct val="120000"/>
              </a:lnSpc>
              <a:defRPr/>
            </a:pPr>
            <a:r>
              <a:rPr lang="da-DK" altLang="zh-CN" dirty="0">
                <a:solidFill>
                  <a:schemeClr val="tx1"/>
                </a:solidFill>
              </a:rPr>
              <a:t>源代码的剪贴：这种重用存在配置管理问题，无法跟踪代码块的修改重用过程。</a:t>
            </a:r>
          </a:p>
          <a:p>
            <a:pPr indent="457200">
              <a:lnSpc>
                <a:spcPct val="120000"/>
              </a:lnSpc>
              <a:defRPr/>
            </a:pPr>
            <a:r>
              <a:rPr lang="da-DK" altLang="zh-CN" dirty="0">
                <a:solidFill>
                  <a:schemeClr val="tx1"/>
                </a:solidFill>
              </a:rPr>
              <a:t>源代码包含（Include）：许多程序设计语言都提供Include机制，所包含的程序库要经过重新编译，才能运行。</a:t>
            </a:r>
          </a:p>
          <a:p>
            <a:pPr indent="457200">
              <a:lnSpc>
                <a:spcPct val="120000"/>
              </a:lnSpc>
              <a:defRPr/>
            </a:pPr>
            <a:r>
              <a:rPr lang="da-DK" altLang="zh-CN" dirty="0">
                <a:solidFill>
                  <a:schemeClr val="tx1"/>
                </a:solidFill>
              </a:rPr>
              <a:t>继承：利用继承机制重用类库中的类时，不必修改已有代码，就可以扩充类，或找到需要的类。</a:t>
            </a:r>
          </a:p>
        </p:txBody>
      </p:sp>
      <p:sp>
        <p:nvSpPr>
          <p:cNvPr id="35" name="MH_SubTitle_2"/>
          <p:cNvSpPr/>
          <p:nvPr>
            <p:custDataLst>
              <p:tags r:id="rId3"/>
            </p:custDataLst>
          </p:nvPr>
        </p:nvSpPr>
        <p:spPr>
          <a:xfrm flipH="1">
            <a:off x="7178567" y="1864321"/>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dirty="0">
                <a:solidFill>
                  <a:schemeClr val="bg1"/>
                </a:solidFill>
                <a:latin typeface="微软雅黑" panose="020B0503020204020204" charset="-122"/>
                <a:ea typeface="微软雅黑" panose="020B0503020204020204" charset="-122"/>
              </a:rPr>
              <a:t>源代码重用</a:t>
            </a:r>
          </a:p>
        </p:txBody>
      </p:sp>
      <p:sp>
        <p:nvSpPr>
          <p:cNvPr id="36" name="MH_Other_5"/>
          <p:cNvSpPr/>
          <p:nvPr>
            <p:custDataLst>
              <p:tags r:id="rId4"/>
            </p:custDataLst>
          </p:nvPr>
        </p:nvSpPr>
        <p:spPr>
          <a:xfrm flipH="1">
            <a:off x="11185407" y="1742659"/>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01</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37" name="MH_Other_6"/>
          <p:cNvSpPr/>
          <p:nvPr>
            <p:custDataLst>
              <p:tags r:id="rId5"/>
            </p:custDataLst>
          </p:nvPr>
        </p:nvSpPr>
        <p:spPr>
          <a:xfrm flipH="1">
            <a:off x="10688324" y="1741079"/>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nvGrpSpPr>
          <p:cNvPr id="17" name="组合 6"/>
          <p:cNvGrpSpPr/>
          <p:nvPr/>
        </p:nvGrpSpPr>
        <p:grpSpPr>
          <a:xfrm>
            <a:off x="809625" y="1995518"/>
            <a:ext cx="3557659" cy="590550"/>
            <a:chOff x="508000" y="3196191"/>
            <a:chExt cx="3557624" cy="590550"/>
          </a:xfrm>
        </p:grpSpPr>
        <p:sp>
          <p:nvSpPr>
            <p:cNvPr id="18"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9" name="直接连接符 1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0" name="矩形 7"/>
            <p:cNvSpPr>
              <a:spLocks noChangeArrowheads="1"/>
            </p:cNvSpPr>
            <p:nvPr/>
          </p:nvSpPr>
          <p:spPr bwMode="auto">
            <a:xfrm>
              <a:off x="960437" y="3291441"/>
              <a:ext cx="3105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可重用的软件成分</a:t>
              </a:r>
            </a:p>
          </p:txBody>
        </p:sp>
      </p:grpSp>
      <p:grpSp>
        <p:nvGrpSpPr>
          <p:cNvPr id="3" name="组合 2">
            <a:extLst>
              <a:ext uri="{FF2B5EF4-FFF2-40B4-BE49-F238E27FC236}">
                <a16:creationId xmlns:a16="http://schemas.microsoft.com/office/drawing/2014/main" id="{570404D0-F24E-831A-7536-8FBF8527A337}"/>
              </a:ext>
            </a:extLst>
          </p:cNvPr>
          <p:cNvGrpSpPr/>
          <p:nvPr/>
        </p:nvGrpSpPr>
        <p:grpSpPr>
          <a:xfrm>
            <a:off x="15240" y="3600000"/>
            <a:ext cx="12122867" cy="1515492"/>
            <a:chOff x="15240" y="2694427"/>
            <a:chExt cx="12122867" cy="1515492"/>
          </a:xfrm>
        </p:grpSpPr>
        <p:sp>
          <p:nvSpPr>
            <p:cNvPr id="4" name="MH_Other_1">
              <a:extLst>
                <a:ext uri="{FF2B5EF4-FFF2-40B4-BE49-F238E27FC236}">
                  <a16:creationId xmlns:a16="http://schemas.microsoft.com/office/drawing/2014/main" id="{6F33FFD3-B7BD-4F36-AE56-EAE981EF8958}"/>
                </a:ext>
              </a:extLst>
            </p:cNvPr>
            <p:cNvSpPr/>
            <p:nvPr>
              <p:custDataLst>
                <p:tags r:id="rId6"/>
              </p:custDataLst>
            </p:nvPr>
          </p:nvSpPr>
          <p:spPr bwMode="auto">
            <a:xfrm>
              <a:off x="15240" y="2703368"/>
              <a:ext cx="1632627"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2">
              <a:extLst>
                <a:ext uri="{FF2B5EF4-FFF2-40B4-BE49-F238E27FC236}">
                  <a16:creationId xmlns:a16="http://schemas.microsoft.com/office/drawing/2014/main" id="{639D332C-F0E3-91AA-5B55-1A36395D0C58}"/>
                </a:ext>
              </a:extLst>
            </p:cNvPr>
            <p:cNvSpPr/>
            <p:nvPr>
              <p:custDataLst>
                <p:tags r:id="rId7"/>
              </p:custDataLst>
            </p:nvPr>
          </p:nvSpPr>
          <p:spPr bwMode="auto">
            <a:xfrm>
              <a:off x="1338107" y="4137919"/>
              <a:ext cx="1080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9" name="MH_Other_3">
              <a:extLst>
                <a:ext uri="{FF2B5EF4-FFF2-40B4-BE49-F238E27FC236}">
                  <a16:creationId xmlns:a16="http://schemas.microsoft.com/office/drawing/2014/main" id="{49DDD4C7-671B-8198-AAF1-9FF004F3A70A}"/>
                </a:ext>
              </a:extLst>
            </p:cNvPr>
            <p:cNvSpPr/>
            <p:nvPr>
              <p:custDataLst>
                <p:tags r:id="rId8"/>
              </p:custDataLst>
            </p:nvPr>
          </p:nvSpPr>
          <p:spPr>
            <a:xfrm>
              <a:off x="1545225" y="2880487"/>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0" name="MH_Other_4">
              <a:extLst>
                <a:ext uri="{FF2B5EF4-FFF2-40B4-BE49-F238E27FC236}">
                  <a16:creationId xmlns:a16="http://schemas.microsoft.com/office/drawing/2014/main" id="{DF9B1312-9C35-B624-B203-CBD3CCF45045}"/>
                </a:ext>
              </a:extLst>
            </p:cNvPr>
            <p:cNvSpPr>
              <a:spLocks noChangeArrowheads="1"/>
            </p:cNvSpPr>
            <p:nvPr>
              <p:custDataLst>
                <p:tags r:id="rId9"/>
              </p:custDataLst>
            </p:nvPr>
          </p:nvSpPr>
          <p:spPr bwMode="gray">
            <a:xfrm rot="15266332" flipV="1">
              <a:off x="1529849" y="2845453"/>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4" name="MH_Other_5">
              <a:extLst>
                <a:ext uri="{FF2B5EF4-FFF2-40B4-BE49-F238E27FC236}">
                  <a16:creationId xmlns:a16="http://schemas.microsoft.com/office/drawing/2014/main" id="{0E95C63D-30F8-0A26-621F-FA99D23CCF71}"/>
                </a:ext>
              </a:extLst>
            </p:cNvPr>
            <p:cNvSpPr>
              <a:spLocks noChangeArrowheads="1"/>
            </p:cNvSpPr>
            <p:nvPr>
              <p:custDataLst>
                <p:tags r:id="rId10"/>
              </p:custDataLst>
            </p:nvPr>
          </p:nvSpPr>
          <p:spPr bwMode="gray">
            <a:xfrm rot="15334360" flipV="1">
              <a:off x="1197584" y="4027219"/>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6">
              <a:extLst>
                <a:ext uri="{FF2B5EF4-FFF2-40B4-BE49-F238E27FC236}">
                  <a16:creationId xmlns:a16="http://schemas.microsoft.com/office/drawing/2014/main" id="{2D92E5B1-5C64-9D50-B120-7E34F00AB17B}"/>
                </a:ext>
              </a:extLst>
            </p:cNvPr>
            <p:cNvSpPr>
              <a:spLocks noChangeArrowheads="1"/>
            </p:cNvSpPr>
            <p:nvPr>
              <p:custDataLst>
                <p:tags r:id="rId11"/>
              </p:custDataLst>
            </p:nvPr>
          </p:nvSpPr>
          <p:spPr bwMode="gray">
            <a:xfrm rot="19641219">
              <a:off x="1351808" y="3423946"/>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7">
              <a:extLst>
                <a:ext uri="{FF2B5EF4-FFF2-40B4-BE49-F238E27FC236}">
                  <a16:creationId xmlns:a16="http://schemas.microsoft.com/office/drawing/2014/main" id="{C5997BD1-3813-08DB-20CC-BB476B057406}"/>
                </a:ext>
              </a:extLst>
            </p:cNvPr>
            <p:cNvSpPr/>
            <p:nvPr>
              <p:custDataLst>
                <p:tags r:id="rId12"/>
              </p:custDataLst>
            </p:nvPr>
          </p:nvSpPr>
          <p:spPr>
            <a:xfrm>
              <a:off x="990466" y="3306922"/>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grpSp>
    </p:spTree>
    <p:custDataLst>
      <p:tags r:id="rId1"/>
    </p:custDataLst>
  </p:cSld>
  <p:clrMapOvr>
    <a:masterClrMapping/>
  </p:clrMapOvr>
  <p:transition>
    <p:wheel spokes="3"/>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9396A25C-1B92-0A10-6015-10FA64064C66}"/>
              </a:ext>
            </a:extLst>
          </p:cNvPr>
          <p:cNvGrpSpPr/>
          <p:nvPr/>
        </p:nvGrpSpPr>
        <p:grpSpPr>
          <a:xfrm>
            <a:off x="15240" y="3600000"/>
            <a:ext cx="12122867" cy="1515492"/>
            <a:chOff x="15240" y="2694427"/>
            <a:chExt cx="12122867" cy="1515492"/>
          </a:xfrm>
        </p:grpSpPr>
        <p:sp>
          <p:nvSpPr>
            <p:cNvPr id="6" name="MH_Other_1"/>
            <p:cNvSpPr/>
            <p:nvPr>
              <p:custDataLst>
                <p:tags r:id="rId6"/>
              </p:custDataLst>
            </p:nvPr>
          </p:nvSpPr>
          <p:spPr bwMode="auto">
            <a:xfrm>
              <a:off x="15240" y="2703368"/>
              <a:ext cx="1632627"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7"/>
              </p:custDataLst>
            </p:nvPr>
          </p:nvSpPr>
          <p:spPr bwMode="auto">
            <a:xfrm>
              <a:off x="1338107" y="4137919"/>
              <a:ext cx="1080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8"/>
              </p:custDataLst>
            </p:nvPr>
          </p:nvSpPr>
          <p:spPr>
            <a:xfrm>
              <a:off x="1545225" y="2880487"/>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9"/>
              </p:custDataLst>
            </p:nvPr>
          </p:nvSpPr>
          <p:spPr bwMode="gray">
            <a:xfrm rot="15266332" flipV="1">
              <a:off x="1529849" y="2845453"/>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10"/>
              </p:custDataLst>
            </p:nvPr>
          </p:nvSpPr>
          <p:spPr bwMode="gray">
            <a:xfrm rot="15334360" flipV="1">
              <a:off x="1197584" y="4027219"/>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1"/>
              </p:custDataLst>
            </p:nvPr>
          </p:nvSpPr>
          <p:spPr bwMode="gray">
            <a:xfrm rot="19641219">
              <a:off x="1351808" y="3423946"/>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2"/>
              </p:custDataLst>
            </p:nvPr>
          </p:nvSpPr>
          <p:spPr>
            <a:xfrm>
              <a:off x="990466" y="3306922"/>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grpSp>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27" name="MH_Text_1"/>
          <p:cNvSpPr/>
          <p:nvPr>
            <p:custDataLst>
              <p:tags r:id="rId2"/>
            </p:custDataLst>
          </p:nvPr>
        </p:nvSpPr>
        <p:spPr bwMode="auto">
          <a:xfrm>
            <a:off x="2814675" y="4163706"/>
            <a:ext cx="7505008" cy="637932"/>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indent="457200">
              <a:lnSpc>
                <a:spcPct val="120000"/>
              </a:lnSpc>
              <a:defRPr/>
            </a:pPr>
            <a:r>
              <a:rPr lang="da-DK" altLang="zh-CN" dirty="0">
                <a:solidFill>
                  <a:schemeClr val="tx1"/>
                </a:solidFill>
              </a:rPr>
              <a:t>设计结果的重用包括体系结构的重用。设计结果的重用有助于把应用软件系统移植到不同的软件或硬件平台上。</a:t>
            </a:r>
          </a:p>
        </p:txBody>
      </p:sp>
      <p:sp>
        <p:nvSpPr>
          <p:cNvPr id="18" name="TextBox 1"/>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9" name="直接连接符 18"/>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0" name="矩形 7"/>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可重用的软件成分</a:t>
            </a:r>
          </a:p>
        </p:txBody>
      </p:sp>
      <p:sp>
        <p:nvSpPr>
          <p:cNvPr id="4" name="MH_SubTitle_2">
            <a:extLst>
              <a:ext uri="{FF2B5EF4-FFF2-40B4-BE49-F238E27FC236}">
                <a16:creationId xmlns:a16="http://schemas.microsoft.com/office/drawing/2014/main" id="{BF363A85-9767-AA8A-BB38-EF63B2B0E788}"/>
              </a:ext>
            </a:extLst>
          </p:cNvPr>
          <p:cNvSpPr/>
          <p:nvPr>
            <p:custDataLst>
              <p:tags r:id="rId3"/>
            </p:custDataLst>
          </p:nvPr>
        </p:nvSpPr>
        <p:spPr>
          <a:xfrm flipH="1">
            <a:off x="7178567" y="1864321"/>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dirty="0">
                <a:solidFill>
                  <a:schemeClr val="bg1"/>
                </a:solidFill>
                <a:latin typeface="微软雅黑" panose="020B0503020204020204" charset="-122"/>
                <a:ea typeface="微软雅黑" panose="020B0503020204020204" charset="-122"/>
              </a:rPr>
              <a:t>设计结果重用</a:t>
            </a:r>
          </a:p>
        </p:txBody>
      </p:sp>
      <p:sp>
        <p:nvSpPr>
          <p:cNvPr id="8" name="MH_Other_5">
            <a:extLst>
              <a:ext uri="{FF2B5EF4-FFF2-40B4-BE49-F238E27FC236}">
                <a16:creationId xmlns:a16="http://schemas.microsoft.com/office/drawing/2014/main" id="{5E4EDB74-46DC-88B3-DD4E-49E8C7B45DC9}"/>
              </a:ext>
            </a:extLst>
          </p:cNvPr>
          <p:cNvSpPr/>
          <p:nvPr>
            <p:custDataLst>
              <p:tags r:id="rId4"/>
            </p:custDataLst>
          </p:nvPr>
        </p:nvSpPr>
        <p:spPr>
          <a:xfrm flipH="1">
            <a:off x="11185407" y="1742659"/>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02</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9" name="MH_Other_6">
            <a:extLst>
              <a:ext uri="{FF2B5EF4-FFF2-40B4-BE49-F238E27FC236}">
                <a16:creationId xmlns:a16="http://schemas.microsoft.com/office/drawing/2014/main" id="{F59E672E-E543-7A31-0922-AE28CDD3A2EE}"/>
              </a:ext>
            </a:extLst>
          </p:cNvPr>
          <p:cNvSpPr/>
          <p:nvPr>
            <p:custDataLst>
              <p:tags r:id="rId5"/>
            </p:custDataLst>
          </p:nvPr>
        </p:nvSpPr>
        <p:spPr>
          <a:xfrm flipH="1">
            <a:off x="10688324" y="1741079"/>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wheel spokes="3"/>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BF638BDD-44A3-B8CC-E1C2-8C94CFAF51EE}"/>
              </a:ext>
            </a:extLst>
          </p:cNvPr>
          <p:cNvGrpSpPr/>
          <p:nvPr/>
        </p:nvGrpSpPr>
        <p:grpSpPr>
          <a:xfrm>
            <a:off x="15240" y="3600000"/>
            <a:ext cx="12122867" cy="1515492"/>
            <a:chOff x="15240" y="2694427"/>
            <a:chExt cx="12122867" cy="1515492"/>
          </a:xfrm>
        </p:grpSpPr>
        <p:sp>
          <p:nvSpPr>
            <p:cNvPr id="4" name="MH_Other_1">
              <a:extLst>
                <a:ext uri="{FF2B5EF4-FFF2-40B4-BE49-F238E27FC236}">
                  <a16:creationId xmlns:a16="http://schemas.microsoft.com/office/drawing/2014/main" id="{3ED788DB-33C0-7AE6-34AC-5F98E6826E6D}"/>
                </a:ext>
              </a:extLst>
            </p:cNvPr>
            <p:cNvSpPr/>
            <p:nvPr>
              <p:custDataLst>
                <p:tags r:id="rId6"/>
              </p:custDataLst>
            </p:nvPr>
          </p:nvSpPr>
          <p:spPr bwMode="auto">
            <a:xfrm>
              <a:off x="15240" y="2703368"/>
              <a:ext cx="1632627"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2">
              <a:extLst>
                <a:ext uri="{FF2B5EF4-FFF2-40B4-BE49-F238E27FC236}">
                  <a16:creationId xmlns:a16="http://schemas.microsoft.com/office/drawing/2014/main" id="{DF552613-011A-5FD1-EA9E-F1B068A6D79B}"/>
                </a:ext>
              </a:extLst>
            </p:cNvPr>
            <p:cNvSpPr/>
            <p:nvPr>
              <p:custDataLst>
                <p:tags r:id="rId7"/>
              </p:custDataLst>
            </p:nvPr>
          </p:nvSpPr>
          <p:spPr bwMode="auto">
            <a:xfrm>
              <a:off x="1338107" y="4137919"/>
              <a:ext cx="1080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9" name="MH_Other_3">
              <a:extLst>
                <a:ext uri="{FF2B5EF4-FFF2-40B4-BE49-F238E27FC236}">
                  <a16:creationId xmlns:a16="http://schemas.microsoft.com/office/drawing/2014/main" id="{0A5EAE9F-D1D8-C69E-6EE6-0794A3530D42}"/>
                </a:ext>
              </a:extLst>
            </p:cNvPr>
            <p:cNvSpPr/>
            <p:nvPr>
              <p:custDataLst>
                <p:tags r:id="rId8"/>
              </p:custDataLst>
            </p:nvPr>
          </p:nvSpPr>
          <p:spPr>
            <a:xfrm>
              <a:off x="1545225" y="2880487"/>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0" name="MH_Other_4">
              <a:extLst>
                <a:ext uri="{FF2B5EF4-FFF2-40B4-BE49-F238E27FC236}">
                  <a16:creationId xmlns:a16="http://schemas.microsoft.com/office/drawing/2014/main" id="{234153A5-3415-FFB4-7B4F-2B23155E0543}"/>
                </a:ext>
              </a:extLst>
            </p:cNvPr>
            <p:cNvSpPr>
              <a:spLocks noChangeArrowheads="1"/>
            </p:cNvSpPr>
            <p:nvPr>
              <p:custDataLst>
                <p:tags r:id="rId9"/>
              </p:custDataLst>
            </p:nvPr>
          </p:nvSpPr>
          <p:spPr bwMode="gray">
            <a:xfrm rot="15266332" flipV="1">
              <a:off x="1529849" y="2845453"/>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4" name="MH_Other_5">
              <a:extLst>
                <a:ext uri="{FF2B5EF4-FFF2-40B4-BE49-F238E27FC236}">
                  <a16:creationId xmlns:a16="http://schemas.microsoft.com/office/drawing/2014/main" id="{F9B026CF-A01B-B075-15B2-E6A860BA79CE}"/>
                </a:ext>
              </a:extLst>
            </p:cNvPr>
            <p:cNvSpPr>
              <a:spLocks noChangeArrowheads="1"/>
            </p:cNvSpPr>
            <p:nvPr>
              <p:custDataLst>
                <p:tags r:id="rId10"/>
              </p:custDataLst>
            </p:nvPr>
          </p:nvSpPr>
          <p:spPr bwMode="gray">
            <a:xfrm rot="15334360" flipV="1">
              <a:off x="1197584" y="4027219"/>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6">
              <a:extLst>
                <a:ext uri="{FF2B5EF4-FFF2-40B4-BE49-F238E27FC236}">
                  <a16:creationId xmlns:a16="http://schemas.microsoft.com/office/drawing/2014/main" id="{A3C67145-2966-8CF6-E0BB-F7E25F286429}"/>
                </a:ext>
              </a:extLst>
            </p:cNvPr>
            <p:cNvSpPr>
              <a:spLocks noChangeArrowheads="1"/>
            </p:cNvSpPr>
            <p:nvPr>
              <p:custDataLst>
                <p:tags r:id="rId11"/>
              </p:custDataLst>
            </p:nvPr>
          </p:nvSpPr>
          <p:spPr bwMode="gray">
            <a:xfrm rot="19641219">
              <a:off x="1351808" y="3423946"/>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7">
              <a:extLst>
                <a:ext uri="{FF2B5EF4-FFF2-40B4-BE49-F238E27FC236}">
                  <a16:creationId xmlns:a16="http://schemas.microsoft.com/office/drawing/2014/main" id="{88DEE6E5-6641-CD3B-C518-082285E1929C}"/>
                </a:ext>
              </a:extLst>
            </p:cNvPr>
            <p:cNvSpPr/>
            <p:nvPr>
              <p:custDataLst>
                <p:tags r:id="rId12"/>
              </p:custDataLst>
            </p:nvPr>
          </p:nvSpPr>
          <p:spPr>
            <a:xfrm>
              <a:off x="990466" y="3306922"/>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grpSp>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27" name="MH_Text_1"/>
          <p:cNvSpPr/>
          <p:nvPr>
            <p:custDataLst>
              <p:tags r:id="rId2"/>
            </p:custDataLst>
          </p:nvPr>
        </p:nvSpPr>
        <p:spPr bwMode="auto">
          <a:xfrm>
            <a:off x="2893216" y="4242211"/>
            <a:ext cx="7387278" cy="637932"/>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lnSpc>
                <a:spcPct val="120000"/>
              </a:lnSpc>
              <a:defRPr/>
            </a:pPr>
            <a:r>
              <a:rPr lang="da-DK" altLang="zh-CN" dirty="0">
                <a:solidFill>
                  <a:schemeClr val="tx1"/>
                </a:solidFill>
              </a:rPr>
              <a:t>规格说明重用</a:t>
            </a:r>
            <a:r>
              <a:rPr lang="zh-CN" altLang="en-US" dirty="0">
                <a:solidFill>
                  <a:schemeClr val="tx1"/>
                </a:solidFill>
              </a:rPr>
              <a:t>；</a:t>
            </a:r>
            <a:endParaRPr lang="en-US" altLang="zh-CN" dirty="0">
              <a:solidFill>
                <a:schemeClr val="tx1"/>
              </a:solidFill>
            </a:endParaRPr>
          </a:p>
          <a:p>
            <a:pPr>
              <a:lnSpc>
                <a:spcPct val="120000"/>
              </a:lnSpc>
              <a:defRPr/>
            </a:pPr>
            <a:r>
              <a:rPr lang="da-DK" altLang="zh-CN" dirty="0">
                <a:solidFill>
                  <a:schemeClr val="tx1"/>
                </a:solidFill>
              </a:rPr>
              <a:t>特别适用于用户需求没有改变，但是系统体系结构发生了变化的场合。</a:t>
            </a:r>
          </a:p>
        </p:txBody>
      </p:sp>
      <p:grpSp>
        <p:nvGrpSpPr>
          <p:cNvPr id="17" name="组合 6"/>
          <p:cNvGrpSpPr/>
          <p:nvPr/>
        </p:nvGrpSpPr>
        <p:grpSpPr>
          <a:xfrm>
            <a:off x="809625" y="1995518"/>
            <a:ext cx="3557659" cy="590550"/>
            <a:chOff x="508000" y="3196191"/>
            <a:chExt cx="3557624" cy="590550"/>
          </a:xfrm>
        </p:grpSpPr>
        <p:sp>
          <p:nvSpPr>
            <p:cNvPr id="18"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9" name="直接连接符 1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0" name="矩形 7"/>
            <p:cNvSpPr>
              <a:spLocks noChangeArrowheads="1"/>
            </p:cNvSpPr>
            <p:nvPr/>
          </p:nvSpPr>
          <p:spPr bwMode="auto">
            <a:xfrm>
              <a:off x="960437" y="3291441"/>
              <a:ext cx="3105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可重用的软件成分</a:t>
              </a:r>
            </a:p>
          </p:txBody>
        </p:sp>
      </p:grpSp>
      <p:sp>
        <p:nvSpPr>
          <p:cNvPr id="21" name="MH_SubTitle_2">
            <a:extLst>
              <a:ext uri="{FF2B5EF4-FFF2-40B4-BE49-F238E27FC236}">
                <a16:creationId xmlns:a16="http://schemas.microsoft.com/office/drawing/2014/main" id="{3FE405EE-3058-D59F-ADC6-67EAE26DE778}"/>
              </a:ext>
            </a:extLst>
          </p:cNvPr>
          <p:cNvSpPr/>
          <p:nvPr>
            <p:custDataLst>
              <p:tags r:id="rId3"/>
            </p:custDataLst>
          </p:nvPr>
        </p:nvSpPr>
        <p:spPr>
          <a:xfrm flipH="1">
            <a:off x="7178567" y="1864321"/>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dirty="0">
                <a:solidFill>
                  <a:schemeClr val="bg1"/>
                </a:solidFill>
                <a:latin typeface="微软雅黑" panose="020B0503020204020204" charset="-122"/>
                <a:ea typeface="微软雅黑" panose="020B0503020204020204" charset="-122"/>
              </a:rPr>
              <a:t>规格说明重用</a:t>
            </a:r>
          </a:p>
        </p:txBody>
      </p:sp>
      <p:sp>
        <p:nvSpPr>
          <p:cNvPr id="22" name="MH_Other_5">
            <a:extLst>
              <a:ext uri="{FF2B5EF4-FFF2-40B4-BE49-F238E27FC236}">
                <a16:creationId xmlns:a16="http://schemas.microsoft.com/office/drawing/2014/main" id="{77AA77B3-09B9-AC58-7EE2-1AED886386E4}"/>
              </a:ext>
            </a:extLst>
          </p:cNvPr>
          <p:cNvSpPr/>
          <p:nvPr>
            <p:custDataLst>
              <p:tags r:id="rId4"/>
            </p:custDataLst>
          </p:nvPr>
        </p:nvSpPr>
        <p:spPr>
          <a:xfrm flipH="1">
            <a:off x="11185407" y="1742659"/>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03</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23" name="MH_Other_6">
            <a:extLst>
              <a:ext uri="{FF2B5EF4-FFF2-40B4-BE49-F238E27FC236}">
                <a16:creationId xmlns:a16="http://schemas.microsoft.com/office/drawing/2014/main" id="{E186A32F-968B-6707-7E46-8C2EC54EEB06}"/>
              </a:ext>
            </a:extLst>
          </p:cNvPr>
          <p:cNvSpPr/>
          <p:nvPr>
            <p:custDataLst>
              <p:tags r:id="rId5"/>
            </p:custDataLst>
          </p:nvPr>
        </p:nvSpPr>
        <p:spPr>
          <a:xfrm flipH="1">
            <a:off x="10688324" y="1741079"/>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wheel spokes="3"/>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14" name="Oval 5"/>
          <p:cNvSpPr/>
          <p:nvPr>
            <p:custDataLst>
              <p:tags r:id="rId2"/>
            </p:custDataLst>
          </p:nvPr>
        </p:nvSpPr>
        <p:spPr>
          <a:xfrm>
            <a:off x="604217" y="2703028"/>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5" name="Freeform 7"/>
          <p:cNvSpPr>
            <a:spLocks noEditPoints="1"/>
          </p:cNvSpPr>
          <p:nvPr>
            <p:custDataLst>
              <p:tags r:id="rId3"/>
            </p:custDataLst>
          </p:nvPr>
        </p:nvSpPr>
        <p:spPr bwMode="auto">
          <a:xfrm>
            <a:off x="789637" y="2887178"/>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p:cNvSpPr txBox="1">
            <a:spLocks noChangeArrowheads="1"/>
          </p:cNvSpPr>
          <p:nvPr>
            <p:custDataLst>
              <p:tags r:id="rId4"/>
            </p:custDataLst>
          </p:nvPr>
        </p:nvSpPr>
        <p:spPr bwMode="auto">
          <a:xfrm>
            <a:off x="1504012" y="2588093"/>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项目计划</a:t>
            </a:r>
          </a:p>
        </p:txBody>
      </p:sp>
      <p:sp>
        <p:nvSpPr>
          <p:cNvPr id="21" name="文本框 20"/>
          <p:cNvSpPr txBox="1"/>
          <p:nvPr>
            <p:custDataLst>
              <p:tags r:id="rId5"/>
            </p:custDataLst>
          </p:nvPr>
        </p:nvSpPr>
        <p:spPr>
          <a:xfrm>
            <a:off x="1514172" y="2985603"/>
            <a:ext cx="8103235" cy="732446"/>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软件项目计划的基本结构和许多内容是可以重用的。这样，可以减少制订计划的时间，降低建立进度表和进行风险分析等活动的不确定性。</a:t>
            </a:r>
          </a:p>
        </p:txBody>
      </p:sp>
      <p:sp>
        <p:nvSpPr>
          <p:cNvPr id="5" name="Oval 5"/>
          <p:cNvSpPr/>
          <p:nvPr>
            <p:custDataLst>
              <p:tags r:id="rId6"/>
            </p:custDataLst>
          </p:nvPr>
        </p:nvSpPr>
        <p:spPr>
          <a:xfrm>
            <a:off x="2454910" y="5149215"/>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6" name="Freeform 7"/>
          <p:cNvSpPr>
            <a:spLocks noEditPoints="1"/>
          </p:cNvSpPr>
          <p:nvPr>
            <p:custDataLst>
              <p:tags r:id="rId7"/>
            </p:custDataLst>
          </p:nvPr>
        </p:nvSpPr>
        <p:spPr bwMode="auto">
          <a:xfrm>
            <a:off x="2640330" y="5333365"/>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7" name="文本框 18"/>
          <p:cNvSpPr txBox="1">
            <a:spLocks noChangeArrowheads="1"/>
          </p:cNvSpPr>
          <p:nvPr>
            <p:custDataLst>
              <p:tags r:id="rId8"/>
            </p:custDataLst>
          </p:nvPr>
        </p:nvSpPr>
        <p:spPr bwMode="auto">
          <a:xfrm>
            <a:off x="3354705" y="5034280"/>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软件结构</a:t>
            </a:r>
          </a:p>
        </p:txBody>
      </p:sp>
      <p:sp>
        <p:nvSpPr>
          <p:cNvPr id="8" name="文本框 7"/>
          <p:cNvSpPr txBox="1"/>
          <p:nvPr>
            <p:custDataLst>
              <p:tags r:id="rId9"/>
            </p:custDataLst>
          </p:nvPr>
        </p:nvSpPr>
        <p:spPr>
          <a:xfrm>
            <a:off x="3364866" y="5431790"/>
            <a:ext cx="6252542" cy="732446"/>
          </a:xfrm>
          <a:prstGeom prst="rect">
            <a:avLst/>
          </a:prstGeom>
        </p:spPr>
        <p:txBody>
          <a:bodyPr wrap="square"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在很多情况下，软件结构有相似或相同之处。可以创建一组软件结构模板，作为重用的设计框架。</a:t>
            </a:r>
          </a:p>
        </p:txBody>
      </p:sp>
      <p:sp>
        <p:nvSpPr>
          <p:cNvPr id="10" name="Oval 5"/>
          <p:cNvSpPr/>
          <p:nvPr>
            <p:custDataLst>
              <p:tags r:id="rId10"/>
            </p:custDataLst>
          </p:nvPr>
        </p:nvSpPr>
        <p:spPr>
          <a:xfrm>
            <a:off x="1555115" y="3952780"/>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1" name="Freeform 7"/>
          <p:cNvSpPr>
            <a:spLocks noEditPoints="1"/>
          </p:cNvSpPr>
          <p:nvPr>
            <p:custDataLst>
              <p:tags r:id="rId11"/>
            </p:custDataLst>
          </p:nvPr>
        </p:nvSpPr>
        <p:spPr bwMode="auto">
          <a:xfrm>
            <a:off x="1740535" y="4136930"/>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2" name="文本框 18"/>
          <p:cNvSpPr txBox="1">
            <a:spLocks noChangeArrowheads="1"/>
          </p:cNvSpPr>
          <p:nvPr>
            <p:custDataLst>
              <p:tags r:id="rId12"/>
            </p:custDataLst>
          </p:nvPr>
        </p:nvSpPr>
        <p:spPr bwMode="auto">
          <a:xfrm>
            <a:off x="2454910" y="3837845"/>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成本估计</a:t>
            </a:r>
          </a:p>
        </p:txBody>
      </p:sp>
      <p:sp>
        <p:nvSpPr>
          <p:cNvPr id="13" name="文本框 12"/>
          <p:cNvSpPr txBox="1"/>
          <p:nvPr>
            <p:custDataLst>
              <p:tags r:id="rId13"/>
            </p:custDataLst>
          </p:nvPr>
        </p:nvSpPr>
        <p:spPr>
          <a:xfrm>
            <a:off x="2465070" y="4235355"/>
            <a:ext cx="7152337" cy="732446"/>
          </a:xfrm>
          <a:prstGeom prst="rect">
            <a:avLst/>
          </a:prstGeom>
        </p:spPr>
        <p:txBody>
          <a:bodyPr wrap="square"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不同的项目中经常含有类似的功能，在做成本估计时，重用部分的成本也可重用。</a:t>
            </a:r>
          </a:p>
        </p:txBody>
      </p:sp>
      <p:sp>
        <p:nvSpPr>
          <p:cNvPr id="20" name="TextBox 1"/>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可重用软件成分的具体内容</a:t>
            </a:r>
          </a:p>
        </p:txBody>
      </p:sp>
    </p:spTree>
    <p:custDataLst>
      <p:tags r:id="rId1"/>
    </p:custDataLst>
  </p:cSld>
  <p:clrMapOvr>
    <a:masterClrMapping/>
  </p:clrMapOvr>
  <p:transition>
    <p:wheel spokes="3"/>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B2E88-6FB0-B3C5-9172-963706022D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E59A04E-3F6C-515F-423D-7D90812A8E5B}"/>
              </a:ext>
            </a:extLst>
          </p:cNvPr>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a:extLst>
              <a:ext uri="{FF2B5EF4-FFF2-40B4-BE49-F238E27FC236}">
                <a16:creationId xmlns:a16="http://schemas.microsoft.com/office/drawing/2014/main" id="{DE972108-DD17-0887-BA72-F1C865D3ED5F}"/>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14" name="Oval 5">
            <a:extLst>
              <a:ext uri="{FF2B5EF4-FFF2-40B4-BE49-F238E27FC236}">
                <a16:creationId xmlns:a16="http://schemas.microsoft.com/office/drawing/2014/main" id="{68E9DAE6-EF30-E355-2EDD-381223D9E8BC}"/>
              </a:ext>
            </a:extLst>
          </p:cNvPr>
          <p:cNvSpPr/>
          <p:nvPr>
            <p:custDataLst>
              <p:tags r:id="rId2"/>
            </p:custDataLst>
          </p:nvPr>
        </p:nvSpPr>
        <p:spPr>
          <a:xfrm>
            <a:off x="604217" y="2703028"/>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5" name="Freeform 7">
            <a:extLst>
              <a:ext uri="{FF2B5EF4-FFF2-40B4-BE49-F238E27FC236}">
                <a16:creationId xmlns:a16="http://schemas.microsoft.com/office/drawing/2014/main" id="{F1E9546C-0691-BD6E-5BD2-42129F144AC1}"/>
              </a:ext>
            </a:extLst>
          </p:cNvPr>
          <p:cNvSpPr>
            <a:spLocks noEditPoints="1"/>
          </p:cNvSpPr>
          <p:nvPr>
            <p:custDataLst>
              <p:tags r:id="rId3"/>
            </p:custDataLst>
          </p:nvPr>
        </p:nvSpPr>
        <p:spPr bwMode="auto">
          <a:xfrm>
            <a:off x="789637" y="2887178"/>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a:extLst>
              <a:ext uri="{FF2B5EF4-FFF2-40B4-BE49-F238E27FC236}">
                <a16:creationId xmlns:a16="http://schemas.microsoft.com/office/drawing/2014/main" id="{A473985D-F2B8-6A06-D922-22D58B7D303F}"/>
              </a:ext>
            </a:extLst>
          </p:cNvPr>
          <p:cNvSpPr txBox="1">
            <a:spLocks noChangeArrowheads="1"/>
          </p:cNvSpPr>
          <p:nvPr>
            <p:custDataLst>
              <p:tags r:id="rId4"/>
            </p:custDataLst>
          </p:nvPr>
        </p:nvSpPr>
        <p:spPr bwMode="auto">
          <a:xfrm>
            <a:off x="1504012" y="2588093"/>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需求模型和规格说明</a:t>
            </a:r>
          </a:p>
        </p:txBody>
      </p:sp>
      <p:sp>
        <p:nvSpPr>
          <p:cNvPr id="21" name="文本框 20">
            <a:extLst>
              <a:ext uri="{FF2B5EF4-FFF2-40B4-BE49-F238E27FC236}">
                <a16:creationId xmlns:a16="http://schemas.microsoft.com/office/drawing/2014/main" id="{0CF2B3DF-50AE-32B2-BAF7-A832FFFCF9CF}"/>
              </a:ext>
            </a:extLst>
          </p:cNvPr>
          <p:cNvSpPr txBox="1"/>
          <p:nvPr>
            <p:custDataLst>
              <p:tags r:id="rId5"/>
            </p:custDataLst>
          </p:nvPr>
        </p:nvSpPr>
        <p:spPr>
          <a:xfrm>
            <a:off x="1514172" y="2985603"/>
            <a:ext cx="8103235" cy="400047"/>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类和对象的模型及规格说明、数据流图等可以重用。</a:t>
            </a:r>
          </a:p>
        </p:txBody>
      </p:sp>
      <p:sp>
        <p:nvSpPr>
          <p:cNvPr id="5" name="Oval 5">
            <a:extLst>
              <a:ext uri="{FF2B5EF4-FFF2-40B4-BE49-F238E27FC236}">
                <a16:creationId xmlns:a16="http://schemas.microsoft.com/office/drawing/2014/main" id="{EBCD9A2F-F84D-BE70-B02F-3EA13361FD6A}"/>
              </a:ext>
            </a:extLst>
          </p:cNvPr>
          <p:cNvSpPr/>
          <p:nvPr>
            <p:custDataLst>
              <p:tags r:id="rId6"/>
            </p:custDataLst>
          </p:nvPr>
        </p:nvSpPr>
        <p:spPr>
          <a:xfrm>
            <a:off x="2454910" y="5149215"/>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6" name="Freeform 7">
            <a:extLst>
              <a:ext uri="{FF2B5EF4-FFF2-40B4-BE49-F238E27FC236}">
                <a16:creationId xmlns:a16="http://schemas.microsoft.com/office/drawing/2014/main" id="{EEE32093-880C-6A15-B2A9-3259C903E436}"/>
              </a:ext>
            </a:extLst>
          </p:cNvPr>
          <p:cNvSpPr>
            <a:spLocks noEditPoints="1"/>
          </p:cNvSpPr>
          <p:nvPr>
            <p:custDataLst>
              <p:tags r:id="rId7"/>
            </p:custDataLst>
          </p:nvPr>
        </p:nvSpPr>
        <p:spPr bwMode="auto">
          <a:xfrm>
            <a:off x="2640330" y="5333365"/>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7" name="文本框 18">
            <a:extLst>
              <a:ext uri="{FF2B5EF4-FFF2-40B4-BE49-F238E27FC236}">
                <a16:creationId xmlns:a16="http://schemas.microsoft.com/office/drawing/2014/main" id="{DDE032D1-54E0-35AB-570E-0C7E9369CFF9}"/>
              </a:ext>
            </a:extLst>
          </p:cNvPr>
          <p:cNvSpPr txBox="1">
            <a:spLocks noChangeArrowheads="1"/>
          </p:cNvSpPr>
          <p:nvPr>
            <p:custDataLst>
              <p:tags r:id="rId8"/>
            </p:custDataLst>
          </p:nvPr>
        </p:nvSpPr>
        <p:spPr bwMode="auto">
          <a:xfrm>
            <a:off x="3354705" y="5034280"/>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源代码</a:t>
            </a:r>
          </a:p>
        </p:txBody>
      </p:sp>
      <p:sp>
        <p:nvSpPr>
          <p:cNvPr id="8" name="文本框 7">
            <a:extLst>
              <a:ext uri="{FF2B5EF4-FFF2-40B4-BE49-F238E27FC236}">
                <a16:creationId xmlns:a16="http://schemas.microsoft.com/office/drawing/2014/main" id="{EEB79A2C-DE98-5412-6625-FDFCD5FB0801}"/>
              </a:ext>
            </a:extLst>
          </p:cNvPr>
          <p:cNvSpPr txBox="1"/>
          <p:nvPr>
            <p:custDataLst>
              <p:tags r:id="rId9"/>
            </p:custDataLst>
          </p:nvPr>
        </p:nvSpPr>
        <p:spPr>
          <a:xfrm>
            <a:off x="3364865" y="5431790"/>
            <a:ext cx="7873365" cy="400047"/>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经过验证的程序构件可以重用。</a:t>
            </a:r>
          </a:p>
        </p:txBody>
      </p:sp>
      <p:sp>
        <p:nvSpPr>
          <p:cNvPr id="10" name="Oval 5">
            <a:extLst>
              <a:ext uri="{FF2B5EF4-FFF2-40B4-BE49-F238E27FC236}">
                <a16:creationId xmlns:a16="http://schemas.microsoft.com/office/drawing/2014/main" id="{C7F67A0A-DB3A-F0EA-EBB8-4404FA45B3CA}"/>
              </a:ext>
            </a:extLst>
          </p:cNvPr>
          <p:cNvSpPr/>
          <p:nvPr>
            <p:custDataLst>
              <p:tags r:id="rId10"/>
            </p:custDataLst>
          </p:nvPr>
        </p:nvSpPr>
        <p:spPr>
          <a:xfrm>
            <a:off x="1555115" y="3952780"/>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1" name="Freeform 7">
            <a:extLst>
              <a:ext uri="{FF2B5EF4-FFF2-40B4-BE49-F238E27FC236}">
                <a16:creationId xmlns:a16="http://schemas.microsoft.com/office/drawing/2014/main" id="{40023F86-FB2B-4488-2871-EF9C0107CE3C}"/>
              </a:ext>
            </a:extLst>
          </p:cNvPr>
          <p:cNvSpPr>
            <a:spLocks noEditPoints="1"/>
          </p:cNvSpPr>
          <p:nvPr>
            <p:custDataLst>
              <p:tags r:id="rId11"/>
            </p:custDataLst>
          </p:nvPr>
        </p:nvSpPr>
        <p:spPr bwMode="auto">
          <a:xfrm>
            <a:off x="1740535" y="4136930"/>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2" name="文本框 18">
            <a:extLst>
              <a:ext uri="{FF2B5EF4-FFF2-40B4-BE49-F238E27FC236}">
                <a16:creationId xmlns:a16="http://schemas.microsoft.com/office/drawing/2014/main" id="{3551C5EB-AABF-2A89-7F11-92D513A3096A}"/>
              </a:ext>
            </a:extLst>
          </p:cNvPr>
          <p:cNvSpPr txBox="1">
            <a:spLocks noChangeArrowheads="1"/>
          </p:cNvSpPr>
          <p:nvPr>
            <p:custDataLst>
              <p:tags r:id="rId12"/>
            </p:custDataLst>
          </p:nvPr>
        </p:nvSpPr>
        <p:spPr bwMode="auto">
          <a:xfrm>
            <a:off x="2454910" y="3837845"/>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设计</a:t>
            </a:r>
          </a:p>
        </p:txBody>
      </p:sp>
      <p:sp>
        <p:nvSpPr>
          <p:cNvPr id="13" name="文本框 12">
            <a:extLst>
              <a:ext uri="{FF2B5EF4-FFF2-40B4-BE49-F238E27FC236}">
                <a16:creationId xmlns:a16="http://schemas.microsoft.com/office/drawing/2014/main" id="{48287E50-7C87-BCB3-26CC-6A425E5FAE84}"/>
              </a:ext>
            </a:extLst>
          </p:cNvPr>
          <p:cNvSpPr txBox="1"/>
          <p:nvPr>
            <p:custDataLst>
              <p:tags r:id="rId13"/>
            </p:custDataLst>
          </p:nvPr>
        </p:nvSpPr>
        <p:spPr>
          <a:xfrm>
            <a:off x="2465069" y="4235355"/>
            <a:ext cx="7152338" cy="732446"/>
          </a:xfrm>
          <a:prstGeom prst="rect">
            <a:avLst/>
          </a:prstGeom>
        </p:spPr>
        <p:txBody>
          <a:bodyPr wrap="square"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系统和对象设计可以重用，用传统方法开发的软件结构、接口、设计过程等可以重用。</a:t>
            </a:r>
          </a:p>
        </p:txBody>
      </p:sp>
      <p:sp>
        <p:nvSpPr>
          <p:cNvPr id="20" name="TextBox 1">
            <a:extLst>
              <a:ext uri="{FF2B5EF4-FFF2-40B4-BE49-F238E27FC236}">
                <a16:creationId xmlns:a16="http://schemas.microsoft.com/office/drawing/2014/main" id="{C0A5C047-382D-17F0-CCD0-0C25D964826E}"/>
              </a:ext>
            </a:extLst>
          </p:cNvPr>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a:extLst>
              <a:ext uri="{FF2B5EF4-FFF2-40B4-BE49-F238E27FC236}">
                <a16:creationId xmlns:a16="http://schemas.microsoft.com/office/drawing/2014/main" id="{3B732102-3F94-A155-EA1B-A70A695D71DF}"/>
              </a:ext>
            </a:extLst>
          </p:cNvPr>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a:extLst>
              <a:ext uri="{FF2B5EF4-FFF2-40B4-BE49-F238E27FC236}">
                <a16:creationId xmlns:a16="http://schemas.microsoft.com/office/drawing/2014/main" id="{87AE9CF2-4A5F-FCEC-2F18-3C4C49905E20}"/>
              </a:ext>
            </a:extLst>
          </p:cNvPr>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可重用软件成分的具体内容</a:t>
            </a:r>
          </a:p>
        </p:txBody>
      </p:sp>
    </p:spTree>
    <p:custDataLst>
      <p:tags r:id="rId1"/>
    </p:custDataLst>
    <p:extLst>
      <p:ext uri="{BB962C8B-B14F-4D97-AF65-F5344CB8AC3E}">
        <p14:creationId xmlns:p14="http://schemas.microsoft.com/office/powerpoint/2010/main" val="1829726085"/>
      </p:ext>
    </p:extLst>
  </p:cSld>
  <p:clrMapOvr>
    <a:masterClrMapping/>
  </p:clrMapOvr>
  <p:transition>
    <p:wheel spokes="3"/>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14" name="Oval 5"/>
          <p:cNvSpPr/>
          <p:nvPr>
            <p:custDataLst>
              <p:tags r:id="rId2"/>
            </p:custDataLst>
          </p:nvPr>
        </p:nvSpPr>
        <p:spPr>
          <a:xfrm>
            <a:off x="931768" y="2940899"/>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a:endParaRPr lang="en-US" kern="0" dirty="0"/>
          </a:p>
        </p:txBody>
      </p:sp>
      <p:sp>
        <p:nvSpPr>
          <p:cNvPr id="15" name="Freeform 7"/>
          <p:cNvSpPr>
            <a:spLocks noEditPoints="1"/>
          </p:cNvSpPr>
          <p:nvPr>
            <p:custDataLst>
              <p:tags r:id="rId3"/>
            </p:custDataLst>
          </p:nvPr>
        </p:nvSpPr>
        <p:spPr bwMode="auto">
          <a:xfrm>
            <a:off x="1117188" y="3125049"/>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p:cNvSpPr txBox="1">
            <a:spLocks noChangeArrowheads="1"/>
          </p:cNvSpPr>
          <p:nvPr>
            <p:custDataLst>
              <p:tags r:id="rId4"/>
            </p:custDataLst>
          </p:nvPr>
        </p:nvSpPr>
        <p:spPr bwMode="auto">
          <a:xfrm>
            <a:off x="1831563" y="2825964"/>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用户文档和技术文档</a:t>
            </a:r>
          </a:p>
        </p:txBody>
      </p:sp>
      <p:sp>
        <p:nvSpPr>
          <p:cNvPr id="21" name="文本框 20"/>
          <p:cNvSpPr txBox="1"/>
          <p:nvPr>
            <p:custDataLst>
              <p:tags r:id="rId5"/>
            </p:custDataLst>
          </p:nvPr>
        </p:nvSpPr>
        <p:spPr>
          <a:xfrm>
            <a:off x="1841723" y="3223474"/>
            <a:ext cx="4182110" cy="400047"/>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经常可以重用这些文档的较大部分内容。</a:t>
            </a:r>
          </a:p>
        </p:txBody>
      </p:sp>
      <p:sp>
        <p:nvSpPr>
          <p:cNvPr id="5" name="Oval 5"/>
          <p:cNvSpPr/>
          <p:nvPr>
            <p:custDataLst>
              <p:tags r:id="rId6"/>
            </p:custDataLst>
          </p:nvPr>
        </p:nvSpPr>
        <p:spPr>
          <a:xfrm>
            <a:off x="6483985" y="2913603"/>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a:endParaRPr lang="en-US" kern="0" dirty="0"/>
          </a:p>
        </p:txBody>
      </p:sp>
      <p:sp>
        <p:nvSpPr>
          <p:cNvPr id="6" name="Freeform 7"/>
          <p:cNvSpPr>
            <a:spLocks noEditPoints="1"/>
          </p:cNvSpPr>
          <p:nvPr>
            <p:custDataLst>
              <p:tags r:id="rId7"/>
            </p:custDataLst>
          </p:nvPr>
        </p:nvSpPr>
        <p:spPr bwMode="auto">
          <a:xfrm>
            <a:off x="6669405" y="3097753"/>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7" name="文本框 18"/>
          <p:cNvSpPr txBox="1">
            <a:spLocks noChangeArrowheads="1"/>
          </p:cNvSpPr>
          <p:nvPr>
            <p:custDataLst>
              <p:tags r:id="rId8"/>
            </p:custDataLst>
          </p:nvPr>
        </p:nvSpPr>
        <p:spPr bwMode="auto">
          <a:xfrm>
            <a:off x="7383780" y="2798668"/>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数据重用</a:t>
            </a:r>
          </a:p>
        </p:txBody>
      </p:sp>
      <p:sp>
        <p:nvSpPr>
          <p:cNvPr id="8" name="文本框 7"/>
          <p:cNvSpPr txBox="1"/>
          <p:nvPr>
            <p:custDataLst>
              <p:tags r:id="rId9"/>
            </p:custDataLst>
          </p:nvPr>
        </p:nvSpPr>
        <p:spPr>
          <a:xfrm>
            <a:off x="7393940" y="3196178"/>
            <a:ext cx="4445000" cy="732446"/>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包括数据结构的重用、输入数据的重用和中间结果的重用等。</a:t>
            </a:r>
          </a:p>
        </p:txBody>
      </p:sp>
      <p:sp>
        <p:nvSpPr>
          <p:cNvPr id="10" name="Oval 5"/>
          <p:cNvSpPr/>
          <p:nvPr>
            <p:custDataLst>
              <p:tags r:id="rId10"/>
            </p:custDataLst>
          </p:nvPr>
        </p:nvSpPr>
        <p:spPr>
          <a:xfrm>
            <a:off x="931768" y="4504296"/>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a:endParaRPr lang="en-US" kern="0" dirty="0"/>
          </a:p>
        </p:txBody>
      </p:sp>
      <p:sp>
        <p:nvSpPr>
          <p:cNvPr id="11" name="Freeform 7"/>
          <p:cNvSpPr>
            <a:spLocks noEditPoints="1"/>
          </p:cNvSpPr>
          <p:nvPr>
            <p:custDataLst>
              <p:tags r:id="rId11"/>
            </p:custDataLst>
          </p:nvPr>
        </p:nvSpPr>
        <p:spPr bwMode="auto">
          <a:xfrm>
            <a:off x="1117188" y="4688446"/>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2" name="文本框 18"/>
          <p:cNvSpPr txBox="1">
            <a:spLocks noChangeArrowheads="1"/>
          </p:cNvSpPr>
          <p:nvPr>
            <p:custDataLst>
              <p:tags r:id="rId12"/>
            </p:custDataLst>
          </p:nvPr>
        </p:nvSpPr>
        <p:spPr bwMode="auto">
          <a:xfrm>
            <a:off x="1831563" y="4389361"/>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用户界面</a:t>
            </a:r>
          </a:p>
        </p:txBody>
      </p:sp>
      <p:sp>
        <p:nvSpPr>
          <p:cNvPr id="13" name="文本框 12"/>
          <p:cNvSpPr txBox="1"/>
          <p:nvPr>
            <p:custDataLst>
              <p:tags r:id="rId13"/>
            </p:custDataLst>
          </p:nvPr>
        </p:nvSpPr>
        <p:spPr>
          <a:xfrm>
            <a:off x="1841723" y="4786871"/>
            <a:ext cx="4335145" cy="400047"/>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很多情况下用户界面可以重用。</a:t>
            </a:r>
          </a:p>
        </p:txBody>
      </p:sp>
      <p:sp>
        <p:nvSpPr>
          <p:cNvPr id="17" name="Oval 5"/>
          <p:cNvSpPr/>
          <p:nvPr>
            <p:custDataLst>
              <p:tags r:id="rId14"/>
            </p:custDataLst>
          </p:nvPr>
        </p:nvSpPr>
        <p:spPr>
          <a:xfrm>
            <a:off x="6483985" y="4537343"/>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a:endParaRPr lang="en-US" kern="0" dirty="0"/>
          </a:p>
        </p:txBody>
      </p:sp>
      <p:sp>
        <p:nvSpPr>
          <p:cNvPr id="18" name="Freeform 7"/>
          <p:cNvSpPr>
            <a:spLocks noEditPoints="1"/>
          </p:cNvSpPr>
          <p:nvPr>
            <p:custDataLst>
              <p:tags r:id="rId15"/>
            </p:custDataLst>
          </p:nvPr>
        </p:nvSpPr>
        <p:spPr bwMode="auto">
          <a:xfrm>
            <a:off x="6669405" y="4721493"/>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9" name="文本框 18"/>
          <p:cNvSpPr txBox="1">
            <a:spLocks noChangeArrowheads="1"/>
          </p:cNvSpPr>
          <p:nvPr>
            <p:custDataLst>
              <p:tags r:id="rId16"/>
            </p:custDataLst>
          </p:nvPr>
        </p:nvSpPr>
        <p:spPr bwMode="auto">
          <a:xfrm>
            <a:off x="7383780" y="4422408"/>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测试用例</a:t>
            </a:r>
          </a:p>
        </p:txBody>
      </p:sp>
      <p:sp>
        <p:nvSpPr>
          <p:cNvPr id="20" name="文本框 19"/>
          <p:cNvSpPr txBox="1"/>
          <p:nvPr>
            <p:custDataLst>
              <p:tags r:id="rId17"/>
            </p:custDataLst>
          </p:nvPr>
        </p:nvSpPr>
        <p:spPr>
          <a:xfrm>
            <a:off x="7393940" y="4819918"/>
            <a:ext cx="4383405" cy="732446"/>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dirty="0"/>
              <a:t>一旦设计或代码构件被重用，相关的测试用例也应该被重用。</a:t>
            </a:r>
          </a:p>
        </p:txBody>
      </p:sp>
      <p:sp>
        <p:nvSpPr>
          <p:cNvPr id="25" name="TextBox 1"/>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7" name="直接连接符 26"/>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8" name="矩形 7"/>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可重用软件成分的具体内容</a:t>
            </a:r>
          </a:p>
        </p:txBody>
      </p:sp>
    </p:spTree>
    <p:custDataLst>
      <p:tags r:id="rId1"/>
    </p:custDataLst>
  </p:cSld>
  <p:clrMapOvr>
    <a:masterClrMapping/>
  </p:clrMapOvr>
  <p:transition>
    <p:wheel spokes="3"/>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5.2.2 </a:t>
            </a:r>
            <a:r>
              <a:rPr lang="zh-CN" altLang="en-US" sz="2400" dirty="0">
                <a:solidFill>
                  <a:schemeClr val="tx1"/>
                </a:solidFill>
              </a:rPr>
              <a:t>软件重用的过程模型</a:t>
            </a:r>
          </a:p>
        </p:txBody>
      </p:sp>
      <p:sp>
        <p:nvSpPr>
          <p:cNvPr id="6" name="MH_SubTitle_1"/>
          <p:cNvSpPr/>
          <p:nvPr>
            <p:custDataLst>
              <p:tags r:id="rId2"/>
            </p:custDataLst>
          </p:nvPr>
        </p:nvSpPr>
        <p:spPr>
          <a:xfrm>
            <a:off x="1501867" y="2343753"/>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软件重用的组装模型</a:t>
            </a:r>
          </a:p>
        </p:txBody>
      </p:sp>
      <p:sp>
        <p:nvSpPr>
          <p:cNvPr id="7" name="MH_Other_1"/>
          <p:cNvSpPr/>
          <p:nvPr>
            <p:custDataLst>
              <p:tags r:id="rId3"/>
            </p:custDataLst>
          </p:nvPr>
        </p:nvSpPr>
        <p:spPr>
          <a:xfrm>
            <a:off x="0" y="2220532"/>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01</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4"/>
            </p:custDataLst>
          </p:nvPr>
        </p:nvSpPr>
        <p:spPr>
          <a:xfrm>
            <a:off x="987043" y="2220532"/>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12" name="MH_Desc_1"/>
          <p:cNvSpPr/>
          <p:nvPr>
            <p:custDataLst>
              <p:tags r:id="rId5"/>
            </p:custDataLst>
          </p:nvPr>
        </p:nvSpPr>
        <p:spPr>
          <a:xfrm>
            <a:off x="5981700" y="3059229"/>
            <a:ext cx="5628005" cy="2111650"/>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spAutoFit/>
          </a:bodyPr>
          <a:lstStyle/>
          <a:p>
            <a:pPr indent="457200">
              <a:lnSpc>
                <a:spcPct val="120000"/>
              </a:lnSpc>
            </a:pPr>
            <a:r>
              <a:rPr dirty="0">
                <a:solidFill>
                  <a:schemeClr val="tx1"/>
                </a:solidFill>
              </a:rPr>
              <a:t>最简单的软件重用过程是，先将以往软件工程项目中建立的软件构件存储在构件库中；通过对软件构件库进行查询，提取可以重用的构件，为了适应新系统，对它们做一些修改，并建造新系统需要的其他构件，再将需要的所有构件组装成新系统。图5-4描述了软件重用的组装模型。</a:t>
            </a:r>
          </a:p>
        </p:txBody>
      </p:sp>
      <p:pic>
        <p:nvPicPr>
          <p:cNvPr id="1026" name="图片 150"/>
          <p:cNvPicPr>
            <a:picLocks noChangeAspect="1" noChangeArrowheads="1"/>
          </p:cNvPicPr>
          <p:nvPr/>
        </p:nvPicPr>
        <p:blipFill>
          <a:blip r:embed="rId8" cstate="print"/>
          <a:srcRect/>
          <a:stretch>
            <a:fillRect/>
          </a:stretch>
        </p:blipFill>
        <p:spPr bwMode="auto">
          <a:xfrm>
            <a:off x="504966" y="3794081"/>
            <a:ext cx="5076967" cy="1073624"/>
          </a:xfrm>
          <a:prstGeom prst="rect">
            <a:avLst/>
          </a:prstGeom>
          <a:noFill/>
          <a:ln w="9525">
            <a:noFill/>
            <a:miter lim="800000"/>
            <a:headEnd/>
            <a:tailEnd/>
          </a:ln>
        </p:spPr>
      </p:pic>
    </p:spTree>
    <p:custDataLst>
      <p:tags r:id="rId1"/>
    </p:custDataLst>
  </p:cSld>
  <p:clrMapOvr>
    <a:masterClrMapping/>
  </p:clrMapOvr>
  <p:transition>
    <p:wheel spokes="3"/>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en-US" dirty="0" err="1">
                <a:sym typeface="+mn-ea"/>
              </a:rPr>
              <a:t>软件重用和再工程</a:t>
            </a:r>
            <a:endParaRPr lang="en-US" dirty="0">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5.2.2 </a:t>
            </a:r>
            <a:r>
              <a:rPr lang="zh-CN" altLang="en-US" sz="2400" dirty="0">
                <a:solidFill>
                  <a:schemeClr val="tx1"/>
                </a:solidFill>
              </a:rPr>
              <a:t>软件重用的过程模型</a:t>
            </a:r>
          </a:p>
        </p:txBody>
      </p:sp>
      <p:sp>
        <p:nvSpPr>
          <p:cNvPr id="12" name="MH_Desc_1"/>
          <p:cNvSpPr/>
          <p:nvPr>
            <p:custDataLst>
              <p:tags r:id="rId2"/>
            </p:custDataLst>
          </p:nvPr>
        </p:nvSpPr>
        <p:spPr>
          <a:xfrm>
            <a:off x="5981700" y="3544179"/>
            <a:ext cx="5628005" cy="1114454"/>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spAutoFit/>
          </a:bodyPr>
          <a:lstStyle/>
          <a:p>
            <a:pPr indent="457200">
              <a:lnSpc>
                <a:spcPct val="120000"/>
              </a:lnSpc>
            </a:pPr>
            <a:r>
              <a:rPr dirty="0">
                <a:solidFill>
                  <a:schemeClr val="tx1"/>
                </a:solidFill>
              </a:rPr>
              <a:t>利用面向对象技术，可以比较方便、有效地实现软件重用。面向对象技术中的类是比较理想的可重用软件构件，不妨称之为类构件。</a:t>
            </a:r>
          </a:p>
        </p:txBody>
      </p:sp>
      <p:pic>
        <p:nvPicPr>
          <p:cNvPr id="3" name="图片 2" descr="A000220150322D19PPIC"/>
          <p:cNvPicPr>
            <a:picLocks noChangeAspect="1"/>
          </p:cNvPicPr>
          <p:nvPr/>
        </p:nvPicPr>
        <p:blipFill>
          <a:blip r:embed="rId8" cstate="print"/>
          <a:stretch>
            <a:fillRect/>
          </a:stretch>
        </p:blipFill>
        <p:spPr>
          <a:xfrm>
            <a:off x="1006475" y="3539749"/>
            <a:ext cx="3197225" cy="2413635"/>
          </a:xfrm>
          <a:prstGeom prst="rect">
            <a:avLst/>
          </a:prstGeom>
        </p:spPr>
      </p:pic>
      <p:sp>
        <p:nvSpPr>
          <p:cNvPr id="9" name="MH_SubTitle_1">
            <a:extLst>
              <a:ext uri="{FF2B5EF4-FFF2-40B4-BE49-F238E27FC236}">
                <a16:creationId xmlns:a16="http://schemas.microsoft.com/office/drawing/2014/main" id="{07BBB876-1AC5-7089-4B90-188DF2D9C20B}"/>
              </a:ext>
            </a:extLst>
          </p:cNvPr>
          <p:cNvSpPr/>
          <p:nvPr>
            <p:custDataLst>
              <p:tags r:id="rId3"/>
            </p:custDataLst>
          </p:nvPr>
        </p:nvSpPr>
        <p:spPr>
          <a:xfrm>
            <a:off x="1501867" y="2343753"/>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类构件的重用</a:t>
            </a:r>
          </a:p>
        </p:txBody>
      </p:sp>
      <p:sp>
        <p:nvSpPr>
          <p:cNvPr id="10" name="MH_Other_1">
            <a:extLst>
              <a:ext uri="{FF2B5EF4-FFF2-40B4-BE49-F238E27FC236}">
                <a16:creationId xmlns:a16="http://schemas.microsoft.com/office/drawing/2014/main" id="{94F54CCF-6A2B-0AAE-88F6-50ABC61D5B08}"/>
              </a:ext>
            </a:extLst>
          </p:cNvPr>
          <p:cNvSpPr/>
          <p:nvPr>
            <p:custDataLst>
              <p:tags r:id="rId4"/>
            </p:custDataLst>
          </p:nvPr>
        </p:nvSpPr>
        <p:spPr>
          <a:xfrm>
            <a:off x="0" y="2220532"/>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02</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13" name="MH_Other_2">
            <a:extLst>
              <a:ext uri="{FF2B5EF4-FFF2-40B4-BE49-F238E27FC236}">
                <a16:creationId xmlns:a16="http://schemas.microsoft.com/office/drawing/2014/main" id="{8E1D28BE-F8D0-2A9C-CEF1-0DBE9CE6986A}"/>
              </a:ext>
            </a:extLst>
          </p:cNvPr>
          <p:cNvSpPr/>
          <p:nvPr>
            <p:custDataLst>
              <p:tags r:id="rId5"/>
            </p:custDataLst>
          </p:nvPr>
        </p:nvSpPr>
        <p:spPr>
          <a:xfrm>
            <a:off x="987043" y="2220532"/>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wheel spokes="3"/>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5.2.2 </a:t>
            </a:r>
            <a:r>
              <a:rPr lang="zh-CN" altLang="en-US" sz="2400" dirty="0">
                <a:solidFill>
                  <a:schemeClr val="tx1"/>
                </a:solidFill>
              </a:rPr>
              <a:t>软件重用的过程模型</a:t>
            </a:r>
          </a:p>
        </p:txBody>
      </p:sp>
      <p:sp>
        <p:nvSpPr>
          <p:cNvPr id="24" name="MH_SubTitle_1"/>
          <p:cNvSpPr/>
          <p:nvPr>
            <p:custDataLst>
              <p:tags r:id="rId2"/>
            </p:custDataLst>
          </p:nvPr>
        </p:nvSpPr>
        <p:spPr bwMode="auto">
          <a:xfrm>
            <a:off x="4417060" y="2143210"/>
            <a:ext cx="1534383" cy="201704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3"/>
            </p:custDataLst>
          </p:nvPr>
        </p:nvSpPr>
        <p:spPr bwMode="auto">
          <a:xfrm>
            <a:off x="4670394" y="3886319"/>
            <a:ext cx="2465478" cy="894832"/>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4"/>
            </p:custDataLst>
          </p:nvPr>
        </p:nvSpPr>
        <p:spPr bwMode="auto">
          <a:xfrm>
            <a:off x="5790996" y="2137410"/>
            <a:ext cx="1484199" cy="1957260"/>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4440847" y="2356901"/>
            <a:ext cx="2726046" cy="2447509"/>
            <a:chOff x="3568838" y="2222360"/>
            <a:chExt cx="4560555" cy="3742535"/>
          </a:xfrm>
        </p:grpSpPr>
        <p:sp>
          <p:nvSpPr>
            <p:cNvPr id="30" name="MH_SubTitle_2"/>
            <p:cNvSpPr/>
            <p:nvPr>
              <p:custDataLst>
                <p:tags r:id="rId12"/>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继承重用</a:t>
              </a:r>
            </a:p>
          </p:txBody>
        </p:sp>
        <p:sp>
          <p:nvSpPr>
            <p:cNvPr id="31" name="MH_Other_2"/>
            <p:cNvSpPr/>
            <p:nvPr>
              <p:custDataLst>
                <p:tags r:id="rId13"/>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多态重用</a:t>
              </a:r>
            </a:p>
          </p:txBody>
        </p:sp>
        <p:sp>
          <p:nvSpPr>
            <p:cNvPr id="32" name="MH_Other_3"/>
            <p:cNvSpPr/>
            <p:nvPr>
              <p:custDataLst>
                <p:tags r:id="rId14"/>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实例重用</a:t>
              </a:r>
            </a:p>
          </p:txBody>
        </p:sp>
      </p:grpSp>
      <p:sp>
        <p:nvSpPr>
          <p:cNvPr id="33" name="MH_Title_1"/>
          <p:cNvSpPr/>
          <p:nvPr>
            <p:custDataLst>
              <p:tags r:id="rId5"/>
            </p:custDataLst>
          </p:nvPr>
        </p:nvSpPr>
        <p:spPr>
          <a:xfrm>
            <a:off x="4981772" y="2657540"/>
            <a:ext cx="1757547" cy="16132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类构件的重用</a:t>
            </a:r>
          </a:p>
        </p:txBody>
      </p:sp>
      <p:sp>
        <p:nvSpPr>
          <p:cNvPr id="34" name="MH_Other_2"/>
          <p:cNvSpPr/>
          <p:nvPr>
            <p:custDataLst>
              <p:tags r:id="rId6"/>
            </p:custDataLst>
          </p:nvPr>
        </p:nvSpPr>
        <p:spPr>
          <a:xfrm rot="16200000" flipH="1" flipV="1">
            <a:off x="6859905" y="1769745"/>
            <a:ext cx="466725" cy="708025"/>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5" name="MH_SubTitle_4"/>
          <p:cNvSpPr txBox="1"/>
          <p:nvPr>
            <p:custDataLst>
              <p:tags r:id="rId7"/>
            </p:custDataLst>
          </p:nvPr>
        </p:nvSpPr>
        <p:spPr bwMode="auto">
          <a:xfrm>
            <a:off x="7526021" y="1743710"/>
            <a:ext cx="3856354" cy="38105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72000" tIns="72000" rIns="72000" bIns="72000">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20000"/>
              </a:lnSpc>
              <a:defRPr/>
            </a:pPr>
            <a:r>
              <a:rPr lang="zh-CN" altLang="en-US" sz="2000" b="1" dirty="0">
                <a:solidFill>
                  <a:srgbClr val="00B0F0"/>
                </a:solidFill>
                <a:latin typeface="微软雅黑" panose="020B0503020204020204" charset="-122"/>
                <a:ea typeface="微软雅黑" panose="020B0503020204020204" charset="-122"/>
              </a:rPr>
              <a:t>继承重用</a:t>
            </a:r>
            <a:endParaRPr lang="en-US" altLang="zh-CN" sz="2000" dirty="0">
              <a:ea typeface="微软雅黑 Light" panose="020B0502040204020203" pitchFamily="34" charset="-122"/>
            </a:endParaRPr>
          </a:p>
          <a:p>
            <a:pPr fontAlgn="auto">
              <a:lnSpc>
                <a:spcPct val="120000"/>
              </a:lnSpc>
              <a:defRPr/>
            </a:pPr>
            <a:r>
              <a:rPr lang="zh-CN" altLang="en-US" dirty="0">
                <a:latin typeface="+mn-ea"/>
                <a:ea typeface="+mn-ea"/>
                <a:sym typeface="+mn-ea"/>
              </a:rPr>
              <a:t>利用面向对象编程 </a:t>
            </a:r>
            <a:r>
              <a:rPr lang="en-US" altLang="zh-CN" dirty="0">
                <a:latin typeface="+mn-ea"/>
                <a:ea typeface="+mn-ea"/>
                <a:sym typeface="+mn-ea"/>
              </a:rPr>
              <a:t>OOP </a:t>
            </a:r>
            <a:r>
              <a:rPr lang="zh-CN" altLang="en-US" dirty="0">
                <a:latin typeface="+mn-ea"/>
                <a:ea typeface="+mn-ea"/>
                <a:sym typeface="+mn-ea"/>
              </a:rPr>
              <a:t>的继承性机制，子类可以继承父类已经定义的所有数据和操作，也可以另外定义新的数据和操作。</a:t>
            </a:r>
            <a:endParaRPr lang="zh-CN" altLang="en-US" dirty="0">
              <a:latin typeface="+mn-ea"/>
              <a:ea typeface="+mn-ea"/>
            </a:endParaRPr>
          </a:p>
          <a:p>
            <a:pPr fontAlgn="auto">
              <a:lnSpc>
                <a:spcPct val="120000"/>
              </a:lnSpc>
              <a:defRPr/>
            </a:pPr>
            <a:r>
              <a:rPr lang="zh-CN" altLang="en-US" dirty="0">
                <a:latin typeface="+mn-ea"/>
                <a:ea typeface="+mn-ea"/>
                <a:sym typeface="+mn-ea"/>
              </a:rPr>
              <a:t>为提高继承重用的效果，关键是设计一个合理的、具有一定深度的类构件继承层次结构。这样可以降低类构件的接口复杂度，提高类的可理解性，为软件开发人员提供更多可重用的类构件。</a:t>
            </a:r>
            <a:endParaRPr lang="zh-CN" altLang="en-US" dirty="0">
              <a:latin typeface="+mn-ea"/>
              <a:ea typeface="+mn-ea"/>
            </a:endParaRPr>
          </a:p>
        </p:txBody>
      </p:sp>
      <p:sp>
        <p:nvSpPr>
          <p:cNvPr id="36" name="MH_Other_2"/>
          <p:cNvSpPr/>
          <p:nvPr>
            <p:custDataLst>
              <p:tags r:id="rId8"/>
            </p:custDataLst>
          </p:nvPr>
        </p:nvSpPr>
        <p:spPr>
          <a:xfrm rot="5400000" flipV="1">
            <a:off x="4302125" y="2014855"/>
            <a:ext cx="393700" cy="694690"/>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7" name="MH_SubTitle_4"/>
          <p:cNvSpPr txBox="1"/>
          <p:nvPr>
            <p:custDataLst>
              <p:tags r:id="rId9"/>
            </p:custDataLst>
          </p:nvPr>
        </p:nvSpPr>
        <p:spPr bwMode="auto">
          <a:xfrm>
            <a:off x="809625" y="1969770"/>
            <a:ext cx="3354070" cy="1483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72000" tIns="72000" rIns="72000" bIns="72000">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20000"/>
              </a:lnSpc>
              <a:defRPr/>
            </a:pPr>
            <a:r>
              <a:rPr lang="zh-CN" altLang="en-US" sz="2000" b="1" dirty="0">
                <a:solidFill>
                  <a:srgbClr val="00B0F0"/>
                </a:solidFill>
                <a:latin typeface="微软雅黑" panose="020B0503020204020204" charset="-122"/>
                <a:ea typeface="微软雅黑" panose="020B0503020204020204" charset="-122"/>
              </a:rPr>
              <a:t>实例重用</a:t>
            </a:r>
          </a:p>
          <a:p>
            <a:pPr algn="l">
              <a:lnSpc>
                <a:spcPct val="120000"/>
              </a:lnSpc>
              <a:defRPr/>
            </a:pPr>
            <a:r>
              <a:rPr lang="zh-CN" altLang="en-US" dirty="0">
                <a:latin typeface="+mn-ea"/>
                <a:ea typeface="+mn-ea"/>
              </a:rPr>
              <a:t>按照需要创建类的实例，然后向该实例发送适当的消息，启动相应的服务，完成所需要的工作。</a:t>
            </a:r>
          </a:p>
        </p:txBody>
      </p:sp>
      <p:sp>
        <p:nvSpPr>
          <p:cNvPr id="38" name="MH_Other_2"/>
          <p:cNvSpPr/>
          <p:nvPr>
            <p:custDataLst>
              <p:tags r:id="rId10"/>
            </p:custDataLst>
          </p:nvPr>
        </p:nvSpPr>
        <p:spPr>
          <a:xfrm rot="16200000">
            <a:off x="4454525" y="4053840"/>
            <a:ext cx="214630" cy="1357630"/>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9" name="MH_SubTitle_4"/>
          <p:cNvSpPr txBox="1"/>
          <p:nvPr>
            <p:custDataLst>
              <p:tags r:id="rId11"/>
            </p:custDataLst>
          </p:nvPr>
        </p:nvSpPr>
        <p:spPr bwMode="auto">
          <a:xfrm>
            <a:off x="809625" y="4625340"/>
            <a:ext cx="6466205" cy="1151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72000" tIns="72000" rIns="72000" bIns="72000">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20000"/>
              </a:lnSpc>
              <a:defRPr/>
            </a:pPr>
            <a:r>
              <a:rPr lang="en-US" altLang="zh-CN" sz="2000" b="1" dirty="0">
                <a:solidFill>
                  <a:srgbClr val="00B0F0"/>
                </a:solidFill>
                <a:latin typeface="微软雅黑" panose="020B0503020204020204" charset="-122"/>
                <a:ea typeface="微软雅黑" panose="020B0503020204020204" charset="-122"/>
              </a:rPr>
              <a:t>                                         </a:t>
            </a:r>
            <a:r>
              <a:rPr lang="zh-CN" altLang="en-US" sz="2000" b="1" dirty="0">
                <a:solidFill>
                  <a:srgbClr val="00B0F0"/>
                </a:solidFill>
                <a:latin typeface="微软雅黑" panose="020B0503020204020204" charset="-122"/>
                <a:ea typeface="微软雅黑" panose="020B0503020204020204" charset="-122"/>
              </a:rPr>
              <a:t>多态重用</a:t>
            </a:r>
          </a:p>
          <a:p>
            <a:pPr>
              <a:lnSpc>
                <a:spcPct val="120000"/>
              </a:lnSpc>
              <a:defRPr/>
            </a:pPr>
            <a:r>
              <a:rPr lang="zh-CN" altLang="en-US" dirty="0">
                <a:latin typeface="+mn-ea"/>
                <a:ea typeface="+mn-ea"/>
                <a:sym typeface="+mn-ea"/>
              </a:rPr>
              <a:t>多态重用方法根据接收消息的对象类型，在响应一个一般化的消息时，由多态性机制启动正确的方法，执行不同的操作。</a:t>
            </a:r>
          </a:p>
        </p:txBody>
      </p:sp>
    </p:spTree>
    <p:custDataLst>
      <p:tags r:id="rId1"/>
    </p:custDataLst>
  </p:cSld>
  <p:clrMapOvr>
    <a:masterClrMapping/>
  </p:clrMapOvr>
  <p:transition>
    <p:wheel spokes="3"/>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en-US" dirty="0" err="1">
                <a:sym typeface="+mn-ea"/>
              </a:rPr>
              <a:t>软件重用和再工程</a:t>
            </a:r>
            <a:endParaRPr lang="en-US" dirty="0">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5.2.2 </a:t>
            </a:r>
            <a:r>
              <a:rPr lang="zh-CN" altLang="en-US" sz="2400" dirty="0">
                <a:solidFill>
                  <a:schemeClr val="tx1"/>
                </a:solidFill>
              </a:rPr>
              <a:t>软件重用的过程模型</a:t>
            </a:r>
          </a:p>
        </p:txBody>
      </p:sp>
      <p:sp>
        <p:nvSpPr>
          <p:cNvPr id="12" name="MH_Desc_1"/>
          <p:cNvSpPr/>
          <p:nvPr>
            <p:custDataLst>
              <p:tags r:id="rId2"/>
            </p:custDataLst>
          </p:nvPr>
        </p:nvSpPr>
        <p:spPr>
          <a:xfrm>
            <a:off x="5546090" y="2433718"/>
            <a:ext cx="6300470" cy="3773644"/>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spAutoFit/>
          </a:bodyPr>
          <a:lstStyle/>
          <a:p>
            <a:pPr indent="457200">
              <a:lnSpc>
                <a:spcPct val="120000"/>
              </a:lnSpc>
            </a:pPr>
            <a:r>
              <a:rPr dirty="0">
                <a:solidFill>
                  <a:schemeClr val="tx1"/>
                </a:solidFill>
              </a:rPr>
              <a:t>为了实现软件重用，已经有许多过程模型，这些模型都强调领域工程和软件工程同时进行。</a:t>
            </a:r>
          </a:p>
          <a:p>
            <a:pPr indent="457200">
              <a:lnSpc>
                <a:spcPct val="120000"/>
              </a:lnSpc>
            </a:pPr>
            <a:r>
              <a:rPr dirty="0">
                <a:solidFill>
                  <a:schemeClr val="tx1"/>
                </a:solidFill>
              </a:rPr>
              <a:t>所谓“领域”，是指具有相似或者相近软件需求的应用系统所覆盖的一组功能区域。可以根据领域的特性及相似性，预测软件构件的可重用性。领域工程就是分析、设计和构造具有重用价值的软件构件，进而建立可重用的软件构件库的过程。</a:t>
            </a:r>
          </a:p>
          <a:p>
            <a:pPr indent="457200">
              <a:lnSpc>
                <a:spcPct val="120000"/>
              </a:lnSpc>
            </a:pPr>
            <a:r>
              <a:rPr lang="zh-CN" altLang="en-US" dirty="0">
                <a:solidFill>
                  <a:schemeClr val="tx1"/>
                </a:solidFill>
              </a:rPr>
              <a:t>左图</a:t>
            </a:r>
            <a:r>
              <a:rPr dirty="0">
                <a:solidFill>
                  <a:schemeClr val="tx1"/>
                </a:solidFill>
              </a:rPr>
              <a:t>描述了适用于软件重用的过程模型。领域工程在特定的领域中创建应用领域的模型，设计软件体系结构模型，开发可重用的软件成分，建立可重用的软件构件库。显然，对软件构件库应当不断地积累构件、不断地进行完善。</a:t>
            </a:r>
          </a:p>
        </p:txBody>
      </p:sp>
      <p:graphicFrame>
        <p:nvGraphicFramePr>
          <p:cNvPr id="8" name="对象 7"/>
          <p:cNvGraphicFramePr>
            <a:graphicFrameLocks/>
          </p:cNvGraphicFramePr>
          <p:nvPr/>
        </p:nvGraphicFramePr>
        <p:xfrm>
          <a:off x="0" y="3154363"/>
          <a:ext cx="5311775" cy="3602990"/>
        </p:xfrm>
        <a:graphic>
          <a:graphicData uri="http://schemas.openxmlformats.org/presentationml/2006/ole">
            <mc:AlternateContent xmlns:mc="http://schemas.openxmlformats.org/markup-compatibility/2006">
              <mc:Choice xmlns:v="urn:schemas-microsoft-com:vml" Requires="v">
                <p:oleObj r:id="rId8" imgW="3783810" imgH="2976575" progId="Word.Document.12">
                  <p:embed/>
                </p:oleObj>
              </mc:Choice>
              <mc:Fallback>
                <p:oleObj r:id="rId8" imgW="3783810" imgH="2976575" progId="Word.Document.12">
                  <p:embed/>
                  <p:pic>
                    <p:nvPicPr>
                      <p:cNvPr id="0" name="Picture 1"/>
                      <p:cNvPicPr>
                        <a:picLocks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3154363"/>
                        <a:ext cx="5311775" cy="360299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MH_SubTitle_1">
            <a:extLst>
              <a:ext uri="{FF2B5EF4-FFF2-40B4-BE49-F238E27FC236}">
                <a16:creationId xmlns:a16="http://schemas.microsoft.com/office/drawing/2014/main" id="{3347814E-7D31-80BB-09D4-227D86CB67FD}"/>
              </a:ext>
            </a:extLst>
          </p:cNvPr>
          <p:cNvSpPr/>
          <p:nvPr>
            <p:custDataLst>
              <p:tags r:id="rId3"/>
            </p:custDataLst>
          </p:nvPr>
        </p:nvSpPr>
        <p:spPr>
          <a:xfrm>
            <a:off x="1501867" y="2343753"/>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软件重用过程模型</a:t>
            </a:r>
          </a:p>
        </p:txBody>
      </p:sp>
      <p:sp>
        <p:nvSpPr>
          <p:cNvPr id="10" name="MH_Other_1">
            <a:extLst>
              <a:ext uri="{FF2B5EF4-FFF2-40B4-BE49-F238E27FC236}">
                <a16:creationId xmlns:a16="http://schemas.microsoft.com/office/drawing/2014/main" id="{54C0B11F-EB86-E794-0571-BC096FDCA613}"/>
              </a:ext>
            </a:extLst>
          </p:cNvPr>
          <p:cNvSpPr/>
          <p:nvPr>
            <p:custDataLst>
              <p:tags r:id="rId4"/>
            </p:custDataLst>
          </p:nvPr>
        </p:nvSpPr>
        <p:spPr>
          <a:xfrm>
            <a:off x="0" y="2220532"/>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03</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13" name="MH_Other_2">
            <a:extLst>
              <a:ext uri="{FF2B5EF4-FFF2-40B4-BE49-F238E27FC236}">
                <a16:creationId xmlns:a16="http://schemas.microsoft.com/office/drawing/2014/main" id="{83646057-F4F1-37D5-26D3-D545D78866C0}"/>
              </a:ext>
            </a:extLst>
          </p:cNvPr>
          <p:cNvSpPr/>
          <p:nvPr>
            <p:custDataLst>
              <p:tags r:id="rId5"/>
            </p:custDataLst>
          </p:nvPr>
        </p:nvSpPr>
        <p:spPr>
          <a:xfrm>
            <a:off x="987043" y="2220532"/>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wheel spokes="3"/>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en-US" dirty="0" err="1">
                <a:sym typeface="+mn-ea"/>
              </a:rPr>
              <a:t>软件重用和再工程</a:t>
            </a:r>
            <a:endParaRPr lang="en-US" dirty="0">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5.2.2 </a:t>
            </a:r>
            <a:r>
              <a:rPr lang="zh-CN" altLang="en-US" sz="2400" dirty="0">
                <a:solidFill>
                  <a:schemeClr val="tx1"/>
                </a:solidFill>
              </a:rPr>
              <a:t>软件重用的过程模型</a:t>
            </a:r>
          </a:p>
        </p:txBody>
      </p:sp>
      <p:sp>
        <p:nvSpPr>
          <p:cNvPr id="12" name="MH_Desc_1"/>
          <p:cNvSpPr/>
          <p:nvPr>
            <p:custDataLst>
              <p:tags r:id="rId2"/>
            </p:custDataLst>
          </p:nvPr>
        </p:nvSpPr>
        <p:spPr>
          <a:xfrm>
            <a:off x="5546090" y="3268525"/>
            <a:ext cx="6063615" cy="2111650"/>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spAutoFit/>
          </a:bodyPr>
          <a:lstStyle/>
          <a:p>
            <a:pPr indent="457200">
              <a:lnSpc>
                <a:spcPct val="120000"/>
              </a:lnSpc>
            </a:pPr>
            <a:r>
              <a:rPr dirty="0">
                <a:solidFill>
                  <a:schemeClr val="tx1"/>
                </a:solidFill>
              </a:rPr>
              <a:t>基于构件的软件工程，根据用户的实际需求，参照领域模型进行系统分析，使用领域的结构模型进行结构设计，从可重用软件构件库中查找需要的构件，对构件进行鉴定、调整以构造新的软件构件，对软件构件进行组合以开发应用软件，软件构件不断更新，并补充到可重用软件构件库中去。</a:t>
            </a:r>
          </a:p>
        </p:txBody>
      </p:sp>
      <p:graphicFrame>
        <p:nvGraphicFramePr>
          <p:cNvPr id="8" name="对象 7"/>
          <p:cNvGraphicFramePr>
            <a:graphicFrameLocks/>
          </p:cNvGraphicFramePr>
          <p:nvPr/>
        </p:nvGraphicFramePr>
        <p:xfrm>
          <a:off x="0" y="3123883"/>
          <a:ext cx="5311775" cy="3602990"/>
        </p:xfrm>
        <a:graphic>
          <a:graphicData uri="http://schemas.openxmlformats.org/presentationml/2006/ole">
            <mc:AlternateContent xmlns:mc="http://schemas.openxmlformats.org/markup-compatibility/2006">
              <mc:Choice xmlns:v="urn:schemas-microsoft-com:vml" Requires="v">
                <p:oleObj r:id="rId8" imgW="3783810" imgH="2976575" progId="Word.Document.12">
                  <p:embed/>
                </p:oleObj>
              </mc:Choice>
              <mc:Fallback>
                <p:oleObj r:id="rId8" imgW="3783810" imgH="2976575" progId="Word.Document.12">
                  <p:embed/>
                  <p:pic>
                    <p:nvPicPr>
                      <p:cNvPr id="0" name="Picture 1"/>
                      <p:cNvPicPr>
                        <a:picLocks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3123883"/>
                        <a:ext cx="5311775" cy="360299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MH_SubTitle_1">
            <a:extLst>
              <a:ext uri="{FF2B5EF4-FFF2-40B4-BE49-F238E27FC236}">
                <a16:creationId xmlns:a16="http://schemas.microsoft.com/office/drawing/2014/main" id="{46394BD9-6362-C275-E98B-42915D96CE07}"/>
              </a:ext>
            </a:extLst>
          </p:cNvPr>
          <p:cNvSpPr/>
          <p:nvPr>
            <p:custDataLst>
              <p:tags r:id="rId3"/>
            </p:custDataLst>
          </p:nvPr>
        </p:nvSpPr>
        <p:spPr>
          <a:xfrm>
            <a:off x="1501867" y="2343753"/>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软件重用过程模型</a:t>
            </a:r>
          </a:p>
        </p:txBody>
      </p:sp>
      <p:sp>
        <p:nvSpPr>
          <p:cNvPr id="10" name="MH_Other_1">
            <a:extLst>
              <a:ext uri="{FF2B5EF4-FFF2-40B4-BE49-F238E27FC236}">
                <a16:creationId xmlns:a16="http://schemas.microsoft.com/office/drawing/2014/main" id="{20466FC7-0A83-0FC7-709A-18DF7351F055}"/>
              </a:ext>
            </a:extLst>
          </p:cNvPr>
          <p:cNvSpPr/>
          <p:nvPr>
            <p:custDataLst>
              <p:tags r:id="rId4"/>
            </p:custDataLst>
          </p:nvPr>
        </p:nvSpPr>
        <p:spPr>
          <a:xfrm>
            <a:off x="0" y="2220532"/>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03</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13" name="MH_Other_2">
            <a:extLst>
              <a:ext uri="{FF2B5EF4-FFF2-40B4-BE49-F238E27FC236}">
                <a16:creationId xmlns:a16="http://schemas.microsoft.com/office/drawing/2014/main" id="{DF26B65C-B060-AED7-2DE1-269B1BB12E27}"/>
              </a:ext>
            </a:extLst>
          </p:cNvPr>
          <p:cNvSpPr/>
          <p:nvPr>
            <p:custDataLst>
              <p:tags r:id="rId5"/>
            </p:custDataLst>
          </p:nvPr>
        </p:nvSpPr>
        <p:spPr>
          <a:xfrm>
            <a:off x="987043" y="2220532"/>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wheel spokes="3"/>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5.2.3 </a:t>
            </a:r>
            <a:r>
              <a:rPr lang="zh-CN" altLang="en-US" sz="2400" dirty="0">
                <a:solidFill>
                  <a:schemeClr val="tx1"/>
                </a:solidFill>
              </a:rPr>
              <a:t>开发可重用的软件构件</a:t>
            </a:r>
          </a:p>
        </p:txBody>
      </p:sp>
      <p:grpSp>
        <p:nvGrpSpPr>
          <p:cNvPr id="22" name="组合 21"/>
          <p:cNvGrpSpPr/>
          <p:nvPr/>
        </p:nvGrpSpPr>
        <p:grpSpPr>
          <a:xfrm>
            <a:off x="686795" y="2260240"/>
            <a:ext cx="11079480" cy="4258310"/>
            <a:chOff x="1218" y="3375"/>
            <a:chExt cx="17448" cy="6706"/>
          </a:xfrm>
        </p:grpSpPr>
        <p:grpSp>
          <p:nvGrpSpPr>
            <p:cNvPr id="23" name="组合 22"/>
            <p:cNvGrpSpPr/>
            <p:nvPr/>
          </p:nvGrpSpPr>
          <p:grpSpPr>
            <a:xfrm>
              <a:off x="6899" y="3375"/>
              <a:ext cx="4501" cy="4200"/>
              <a:chOff x="3529044" y="1886732"/>
              <a:chExt cx="4781534" cy="4078163"/>
            </a:xfrm>
          </p:grpSpPr>
          <p:sp>
            <p:nvSpPr>
              <p:cNvPr id="24" name="MH_SubTitle_1"/>
              <p:cNvSpPr/>
              <p:nvPr>
                <p:custDataLst>
                  <p:tags r:id="rId8"/>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9"/>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10"/>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3568838" y="2222360"/>
                <a:ext cx="4560555" cy="3742535"/>
                <a:chOff x="3568838" y="2222360"/>
                <a:chExt cx="4560555" cy="3742535"/>
              </a:xfrm>
            </p:grpSpPr>
            <p:sp>
              <p:nvSpPr>
                <p:cNvPr id="30" name="MH_SubTitle_2"/>
                <p:cNvSpPr/>
                <p:nvPr>
                  <p:custDataLst>
                    <p:tags r:id="rId12"/>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开发可重用的软件构件</a:t>
                  </a:r>
                </a:p>
              </p:txBody>
            </p:sp>
            <p:sp>
              <p:nvSpPr>
                <p:cNvPr id="31" name="MH_Other_2"/>
                <p:cNvSpPr/>
                <p:nvPr>
                  <p:custDataLst>
                    <p:tags r:id="rId13"/>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传播软件构件</a:t>
                  </a:r>
                </a:p>
              </p:txBody>
            </p:sp>
            <p:sp>
              <p:nvSpPr>
                <p:cNvPr id="32" name="MH_Other_3"/>
                <p:cNvSpPr/>
                <p:nvPr>
                  <p:custDataLst>
                    <p:tags r:id="rId14"/>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分析过程</a:t>
                  </a:r>
                </a:p>
              </p:txBody>
            </p:sp>
          </p:grpSp>
          <p:sp>
            <p:nvSpPr>
              <p:cNvPr id="33" name="MH_Title_1"/>
              <p:cNvSpPr/>
              <p:nvPr>
                <p:custDataLst>
                  <p:tags r:id="rId11"/>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领域</a:t>
                </a:r>
              </a:p>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工程</a:t>
                </a:r>
              </a:p>
            </p:txBody>
          </p:sp>
        </p:grpSp>
        <p:sp>
          <p:nvSpPr>
            <p:cNvPr id="34" name="MH_Other_2"/>
            <p:cNvSpPr/>
            <p:nvPr>
              <p:custDataLst>
                <p:tags r:id="rId2"/>
              </p:custDataLst>
            </p:nvPr>
          </p:nvSpPr>
          <p:spPr>
            <a:xfrm rot="16200000" flipV="1">
              <a:off x="10861" y="3417"/>
              <a:ext cx="457" cy="1067"/>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5" name="MH_SubTitle_4"/>
            <p:cNvSpPr txBox="1"/>
            <p:nvPr>
              <p:custDataLst>
                <p:tags r:id="rId3"/>
              </p:custDataLst>
            </p:nvPr>
          </p:nvSpPr>
          <p:spPr bwMode="auto">
            <a:xfrm>
              <a:off x="11794" y="3846"/>
              <a:ext cx="6872" cy="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b="1" dirty="0">
                  <a:solidFill>
                    <a:srgbClr val="00B0F0"/>
                  </a:solidFill>
                  <a:latin typeface="微软雅黑" panose="020B0503020204020204" charset="-122"/>
                  <a:ea typeface="微软雅黑" panose="020B0503020204020204" charset="-122"/>
                </a:rPr>
                <a:t>开发可重用的软件构件</a:t>
              </a:r>
              <a:endParaRPr lang="en-US" altLang="zh-CN" dirty="0">
                <a:ea typeface="微软雅黑 Light" panose="020B0502040204020203" pitchFamily="34" charset="-122"/>
              </a:endParaRPr>
            </a:p>
            <a:p>
              <a:pPr fontAlgn="auto">
                <a:lnSpc>
                  <a:spcPct val="130000"/>
                </a:lnSpc>
                <a:defRPr/>
              </a:pPr>
              <a:r>
                <a:rPr lang="zh-CN" altLang="en-US" dirty="0">
                  <a:ea typeface="微软雅黑 Light" panose="020B0502040204020203" pitchFamily="34" charset="-122"/>
                </a:rPr>
                <a:t>         </a:t>
              </a:r>
              <a:r>
                <a:rPr lang="zh-CN" altLang="en-US" dirty="0">
                  <a:latin typeface="微软雅黑" pitchFamily="34" charset="-122"/>
                  <a:ea typeface="微软雅黑" pitchFamily="34" charset="-122"/>
                  <a:sym typeface="+mn-ea"/>
                </a:rPr>
                <a:t>为了开发可重用的软件构件，应该考虑以下问题：标准的数据结构、标准的接口协议、设计程序模板等。</a:t>
              </a:r>
            </a:p>
          </p:txBody>
        </p:sp>
        <p:sp>
          <p:nvSpPr>
            <p:cNvPr id="36" name="MH_Other_2"/>
            <p:cNvSpPr/>
            <p:nvPr>
              <p:custDataLst>
                <p:tags r:id="rId4"/>
              </p:custDataLst>
            </p:nvPr>
          </p:nvSpPr>
          <p:spPr>
            <a:xfrm rot="5400000" flipH="1" flipV="1">
              <a:off x="6883" y="3637"/>
              <a:ext cx="290" cy="1094"/>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7" name="MH_SubTitle_4"/>
            <p:cNvSpPr txBox="1"/>
            <p:nvPr>
              <p:custDataLst>
                <p:tags r:id="rId5"/>
              </p:custDataLst>
            </p:nvPr>
          </p:nvSpPr>
          <p:spPr bwMode="auto">
            <a:xfrm>
              <a:off x="1218" y="3928"/>
              <a:ext cx="5282" cy="27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30000"/>
                </a:lnSpc>
                <a:defRPr/>
              </a:pPr>
              <a:r>
                <a:rPr lang="zh-CN" altLang="en-US" b="1" dirty="0">
                  <a:solidFill>
                    <a:srgbClr val="00B0F0"/>
                  </a:solidFill>
                  <a:latin typeface="微软雅黑" panose="020B0503020204020204" charset="-122"/>
                  <a:ea typeface="微软雅黑" panose="020B0503020204020204" charset="-122"/>
                </a:rPr>
                <a:t>分析过程</a:t>
              </a:r>
            </a:p>
            <a:p>
              <a:pPr algn="l">
                <a:lnSpc>
                  <a:spcPct val="130000"/>
                </a:lnSpc>
                <a:defRPr/>
              </a:pPr>
              <a:r>
                <a:rPr lang="zh-CN" altLang="en-US" dirty="0">
                  <a:latin typeface="微软雅黑" pitchFamily="34" charset="-122"/>
                  <a:ea typeface="微软雅黑" pitchFamily="34" charset="-122"/>
                </a:rPr>
                <a:t>         领域工程分析过程的主要任务是标识可重用的软件构件。</a:t>
              </a:r>
            </a:p>
          </p:txBody>
        </p:sp>
        <p:sp>
          <p:nvSpPr>
            <p:cNvPr id="38" name="MH_Other_2"/>
            <p:cNvSpPr/>
            <p:nvPr>
              <p:custDataLst>
                <p:tags r:id="rId6"/>
              </p:custDataLst>
            </p:nvPr>
          </p:nvSpPr>
          <p:spPr>
            <a:xfrm rot="16200000">
              <a:off x="6958" y="6393"/>
              <a:ext cx="338" cy="21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9" name="MH_SubTitle_4"/>
            <p:cNvSpPr txBox="1"/>
            <p:nvPr>
              <p:custDataLst>
                <p:tags r:id="rId7"/>
              </p:custDataLst>
            </p:nvPr>
          </p:nvSpPr>
          <p:spPr bwMode="auto">
            <a:xfrm>
              <a:off x="1445" y="7293"/>
              <a:ext cx="17221" cy="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30000"/>
                </a:lnSpc>
                <a:defRPr/>
              </a:pPr>
              <a:r>
                <a:rPr lang="en-US" altLang="zh-CN" b="1" dirty="0">
                  <a:solidFill>
                    <a:srgbClr val="00B0F0"/>
                  </a:solidFill>
                  <a:latin typeface="微软雅黑" panose="020B0503020204020204" charset="-122"/>
                  <a:ea typeface="微软雅黑" panose="020B0503020204020204" charset="-122"/>
                </a:rPr>
                <a:t>                                         </a:t>
              </a:r>
              <a:r>
                <a:rPr lang="zh-CN" altLang="en-US" b="1" dirty="0">
                  <a:solidFill>
                    <a:srgbClr val="00B0F0"/>
                  </a:solidFill>
                  <a:latin typeface="微软雅黑" panose="020B0503020204020204" charset="-122"/>
                  <a:ea typeface="微软雅黑" panose="020B0503020204020204" charset="-122"/>
                </a:rPr>
                <a:t>传播软件构件</a:t>
              </a:r>
            </a:p>
            <a:p>
              <a:pPr>
                <a:lnSpc>
                  <a:spcPct val="130000"/>
                </a:lnSpc>
                <a:defRPr/>
              </a:pPr>
              <a:r>
                <a:rPr lang="zh-CN" altLang="en-US" dirty="0">
                  <a:ea typeface="微软雅黑 Light" panose="020B0502040204020203" pitchFamily="34" charset="-122"/>
                </a:rPr>
                <a:t>         </a:t>
              </a:r>
              <a:r>
                <a:rPr lang="zh-CN" altLang="en-US" dirty="0">
                  <a:latin typeface="微软雅黑" pitchFamily="34" charset="-122"/>
                  <a:ea typeface="微软雅黑" pitchFamily="34" charset="-122"/>
                  <a:sym typeface="+mn-ea"/>
                </a:rPr>
                <a:t>传播软件构件就是让用户能在成千上万的软件构件中找到他所需要的构件，这需要很好地描述构件。构件的描述包括构件的功能、使用条件、接口和如何实现等。构件如何实现的问题，只有准备修改构件的人需要知道，其他人只要了解构件的功能、使用条件和接口即可。</a:t>
              </a:r>
            </a:p>
          </p:txBody>
        </p:sp>
      </p:grpSp>
      <p:grpSp>
        <p:nvGrpSpPr>
          <p:cNvPr id="26" name="组合 6"/>
          <p:cNvGrpSpPr/>
          <p:nvPr/>
        </p:nvGrpSpPr>
        <p:grpSpPr>
          <a:xfrm>
            <a:off x="809625" y="1995518"/>
            <a:ext cx="3557659" cy="590550"/>
            <a:chOff x="508000" y="3196191"/>
            <a:chExt cx="3557624" cy="590550"/>
          </a:xfrm>
        </p:grpSpPr>
        <p:sp>
          <p:nvSpPr>
            <p:cNvPr id="40"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41" name="直接连接符 40"/>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2" name="矩形 7"/>
            <p:cNvSpPr>
              <a:spLocks noChangeArrowheads="1"/>
            </p:cNvSpPr>
            <p:nvPr/>
          </p:nvSpPr>
          <p:spPr bwMode="auto">
            <a:xfrm>
              <a:off x="960437" y="3291441"/>
              <a:ext cx="3105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领域工程</a:t>
              </a:r>
            </a:p>
          </p:txBody>
        </p:sp>
      </p:grpSp>
    </p:spTree>
    <p:custDataLst>
      <p:tags r:id="rId1"/>
    </p:custDataLst>
  </p:cSld>
  <p:clrMapOvr>
    <a:masterClrMapping/>
  </p:clrMapOvr>
  <p:transition>
    <p:wheel spokes="3"/>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5.2.3 </a:t>
            </a:r>
            <a:r>
              <a:rPr lang="zh-CN" altLang="en-US" sz="2400" dirty="0">
                <a:solidFill>
                  <a:schemeClr val="tx1"/>
                </a:solidFill>
              </a:rPr>
              <a:t>开发可重用的软件构件</a:t>
            </a:r>
          </a:p>
        </p:txBody>
      </p:sp>
      <p:grpSp>
        <p:nvGrpSpPr>
          <p:cNvPr id="15" name="组合 14"/>
          <p:cNvGrpSpPr/>
          <p:nvPr/>
        </p:nvGrpSpPr>
        <p:grpSpPr>
          <a:xfrm>
            <a:off x="8061590" y="1352127"/>
            <a:ext cx="2870791" cy="4403864"/>
            <a:chOff x="1512023" y="798757"/>
            <a:chExt cx="3849385" cy="5378884"/>
          </a:xfrm>
        </p:grpSpPr>
        <p:sp>
          <p:nvSpPr>
            <p:cNvPr id="16" name="MH_Picture_1"/>
            <p:cNvSpPr/>
            <p:nvPr>
              <p:custDataLst>
                <p:tags r:id="rId3"/>
              </p:custDataLst>
            </p:nvPr>
          </p:nvSpPr>
          <p:spPr>
            <a:xfrm>
              <a:off x="1891766" y="798757"/>
              <a:ext cx="3244175" cy="2433130"/>
            </a:xfrm>
            <a:prstGeom prst="ellipse">
              <a:avLst/>
            </a:prstGeom>
            <a:blipFill dpi="0" rotWithShape="1">
              <a:blip r:embed="rId9"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sysClr val="window" lastClr="FFFFFF"/>
                </a:solidFill>
                <a:effectLst/>
                <a:uLnTx/>
                <a:uFillTx/>
                <a:latin typeface="Calibri" panose="020F0502020204030204"/>
                <a:ea typeface="+mn-ea"/>
                <a:cs typeface="+mn-cs"/>
              </a:endParaRPr>
            </a:p>
          </p:txBody>
        </p:sp>
        <p:sp>
          <p:nvSpPr>
            <p:cNvPr id="17" name="MH_Picture_2"/>
            <p:cNvSpPr/>
            <p:nvPr>
              <p:custDataLst>
                <p:tags r:id="rId4"/>
              </p:custDataLst>
            </p:nvPr>
          </p:nvSpPr>
          <p:spPr>
            <a:xfrm>
              <a:off x="1512023" y="2739752"/>
              <a:ext cx="2687517" cy="2015638"/>
            </a:xfrm>
            <a:prstGeom prst="ellipse">
              <a:avLst/>
            </a:prstGeom>
            <a:blipFill dpi="0" rotWithShape="1">
              <a:blip r:embed="rId10"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sysClr val="window" lastClr="FFFFFF"/>
                </a:solidFill>
                <a:effectLst/>
                <a:uLnTx/>
                <a:uFillTx/>
                <a:latin typeface="Calibri" panose="020F0502020204030204"/>
                <a:ea typeface="+mn-ea"/>
                <a:cs typeface="+mn-cs"/>
              </a:endParaRPr>
            </a:p>
          </p:txBody>
        </p:sp>
        <p:sp>
          <p:nvSpPr>
            <p:cNvPr id="18" name="MH_Picture_3"/>
            <p:cNvSpPr/>
            <p:nvPr>
              <p:custDataLst>
                <p:tags r:id="rId5"/>
              </p:custDataLst>
            </p:nvPr>
          </p:nvSpPr>
          <p:spPr>
            <a:xfrm>
              <a:off x="3393049" y="4072548"/>
              <a:ext cx="1968359" cy="1476270"/>
            </a:xfrm>
            <a:prstGeom prst="ellipse">
              <a:avLst/>
            </a:prstGeom>
            <a:blipFill dpi="0" rotWithShape="1">
              <a:blip r:embed="rId11"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sysClr val="window" lastClr="FFFFFF"/>
                </a:solidFill>
                <a:effectLst/>
                <a:uLnTx/>
                <a:uFillTx/>
                <a:latin typeface="Calibri" panose="020F0502020204030204"/>
                <a:ea typeface="+mn-ea"/>
                <a:cs typeface="+mn-cs"/>
              </a:endParaRPr>
            </a:p>
          </p:txBody>
        </p:sp>
        <p:sp>
          <p:nvSpPr>
            <p:cNvPr id="19" name="MH_Picture_4"/>
            <p:cNvSpPr/>
            <p:nvPr>
              <p:custDataLst>
                <p:tags r:id="rId6"/>
              </p:custDataLst>
            </p:nvPr>
          </p:nvSpPr>
          <p:spPr>
            <a:xfrm>
              <a:off x="2812931" y="5143326"/>
              <a:ext cx="1379085" cy="1034315"/>
            </a:xfrm>
            <a:prstGeom prst="ellipse">
              <a:avLst/>
            </a:prstGeom>
            <a:blipFill dpi="0" rotWithShape="1">
              <a:blip r:embed="rId12"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sysClr val="window" lastClr="FFFFFF"/>
                </a:solidFill>
                <a:effectLst/>
                <a:uLnTx/>
                <a:uFillTx/>
                <a:latin typeface="Calibri" panose="020F0502020204030204"/>
                <a:ea typeface="+mn-ea"/>
                <a:cs typeface="+mn-cs"/>
              </a:endParaRPr>
            </a:p>
          </p:txBody>
        </p:sp>
      </p:grpSp>
      <p:sp>
        <p:nvSpPr>
          <p:cNvPr id="6" name="MH_Other_1"/>
          <p:cNvSpPr/>
          <p:nvPr>
            <p:custDataLst>
              <p:tags r:id="rId2"/>
            </p:custDataLst>
          </p:nvPr>
        </p:nvSpPr>
        <p:spPr bwMode="auto">
          <a:xfrm>
            <a:off x="802640" y="1969135"/>
            <a:ext cx="10513060" cy="4015105"/>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
        <p:nvSpPr>
          <p:cNvPr id="5" name="文本框 4"/>
          <p:cNvSpPr txBox="1"/>
          <p:nvPr/>
        </p:nvSpPr>
        <p:spPr>
          <a:xfrm>
            <a:off x="1401445" y="2632298"/>
            <a:ext cx="5776595" cy="3261360"/>
          </a:xfrm>
          <a:prstGeom prst="rect">
            <a:avLst/>
          </a:prstGeom>
          <a:noFill/>
        </p:spPr>
        <p:txBody>
          <a:bodyPr wrap="square" rtlCol="0">
            <a:spAutoFit/>
          </a:bodyPr>
          <a:lstStyle/>
          <a:p>
            <a:pPr fontAlgn="auto">
              <a:lnSpc>
                <a:spcPct val="130000"/>
              </a:lnSpc>
            </a:pPr>
            <a:r>
              <a:rPr lang="en-US" altLang="zh-CN" dirty="0"/>
              <a:t>       </a:t>
            </a:r>
            <a:r>
              <a:rPr lang="zh-CN" altLang="en-US" sz="2000" dirty="0"/>
              <a:t>随着软件构件的不断丰富，软件构件库的规模会不断扩大，软件构件库组织结构的合理性将直接影响构件的检索效率。库结构的设计和检索方法的选用，应当尽量保证用户容易理解、便于使用。</a:t>
            </a:r>
          </a:p>
          <a:p>
            <a:pPr fontAlgn="auto">
              <a:lnSpc>
                <a:spcPct val="130000"/>
              </a:lnSpc>
            </a:pPr>
            <a:endParaRPr lang="zh-CN" altLang="en-US" sz="2000" dirty="0"/>
          </a:p>
          <a:p>
            <a:pPr fontAlgn="auto">
              <a:lnSpc>
                <a:spcPct val="130000"/>
              </a:lnSpc>
            </a:pPr>
            <a:r>
              <a:rPr lang="zh-CN" altLang="en-US" sz="2000" dirty="0"/>
              <a:t>        对可重用软件构件库要进行分类，以便于用户检索使用。软件构件分类的方法有3种典型模式：</a:t>
            </a:r>
            <a:r>
              <a:rPr lang="zh-CN" altLang="en-US" sz="2000" b="1" dirty="0">
                <a:solidFill>
                  <a:srgbClr val="FF0000"/>
                </a:solidFill>
              </a:rPr>
              <a:t>枚举分类、刻面分类和属性值分类</a:t>
            </a:r>
            <a:r>
              <a:rPr lang="zh-CN" altLang="en-US" sz="2000" dirty="0"/>
              <a:t>。</a:t>
            </a:r>
          </a:p>
        </p:txBody>
      </p:sp>
      <p:grpSp>
        <p:nvGrpSpPr>
          <p:cNvPr id="11" name="组合 6"/>
          <p:cNvGrpSpPr/>
          <p:nvPr/>
        </p:nvGrpSpPr>
        <p:grpSpPr>
          <a:xfrm>
            <a:off x="809625" y="1995518"/>
            <a:ext cx="3557659" cy="590550"/>
            <a:chOff x="508000" y="3196191"/>
            <a:chExt cx="3557624" cy="590550"/>
          </a:xfrm>
        </p:grpSpPr>
        <p:sp>
          <p:nvSpPr>
            <p:cNvPr id="12"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3" name="直接连接符 12"/>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4" name="矩形 7"/>
            <p:cNvSpPr>
              <a:spLocks noChangeArrowheads="1"/>
            </p:cNvSpPr>
            <p:nvPr/>
          </p:nvSpPr>
          <p:spPr bwMode="auto">
            <a:xfrm>
              <a:off x="960437" y="3291441"/>
              <a:ext cx="3105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分类和检索软件构件</a:t>
              </a:r>
            </a:p>
          </p:txBody>
        </p:sp>
      </p:grpSp>
    </p:spTree>
    <p:custDataLst>
      <p:tags r:id="rId1"/>
    </p:custDataLst>
  </p:cSld>
  <p:clrMapOvr>
    <a:masterClrMapping/>
  </p:clrMapOvr>
  <p:transition>
    <p:wheel spokes="3"/>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5.2.3 </a:t>
            </a:r>
            <a:r>
              <a:rPr lang="zh-CN" altLang="en-US" sz="2400" dirty="0">
                <a:solidFill>
                  <a:schemeClr val="tx1"/>
                </a:solidFill>
              </a:rPr>
              <a:t>开发可重用的软件构件</a:t>
            </a:r>
          </a:p>
        </p:txBody>
      </p:sp>
      <p:grpSp>
        <p:nvGrpSpPr>
          <p:cNvPr id="5" name="组合 4"/>
          <p:cNvGrpSpPr/>
          <p:nvPr/>
        </p:nvGrpSpPr>
        <p:grpSpPr>
          <a:xfrm>
            <a:off x="0" y="2029460"/>
            <a:ext cx="11609705" cy="3502660"/>
            <a:chOff x="0" y="3196"/>
            <a:chExt cx="18283" cy="5516"/>
          </a:xfrm>
        </p:grpSpPr>
        <p:grpSp>
          <p:nvGrpSpPr>
            <p:cNvPr id="6" name="组合 5"/>
            <p:cNvGrpSpPr/>
            <p:nvPr/>
          </p:nvGrpSpPr>
          <p:grpSpPr>
            <a:xfrm>
              <a:off x="0" y="3196"/>
              <a:ext cx="7895" cy="1530"/>
              <a:chOff x="1" y="2565401"/>
              <a:chExt cx="5013433" cy="971723"/>
            </a:xfrm>
          </p:grpSpPr>
          <p:sp>
            <p:nvSpPr>
              <p:cNvPr id="7" name="MH_SubTitle_1"/>
              <p:cNvSpPr/>
              <p:nvPr>
                <p:custDataLst>
                  <p:tags r:id="rId3"/>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枚举分类</a:t>
                </a:r>
              </a:p>
            </p:txBody>
          </p:sp>
          <p:sp>
            <p:nvSpPr>
              <p:cNvPr id="8"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1</a:t>
                </a: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9420" y="3647"/>
              <a:ext cx="8863" cy="506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枚举分类方法通过层次结构来描述构件，在该结构中定义软件构件的类以及子类的不同层次。它把实际构件放在枚举层次的适当路径的最底层。</a:t>
              </a:r>
            </a:p>
            <a:p>
              <a:pPr indent="457200">
                <a:lnSpc>
                  <a:spcPct val="120000"/>
                </a:lnSpc>
              </a:pPr>
              <a:r>
                <a:rPr dirty="0">
                  <a:solidFill>
                    <a:schemeClr val="tx1"/>
                  </a:solidFill>
                  <a:latin typeface="微软雅黑" panose="020B0503020204020204" charset="-122"/>
                  <a:ea typeface="微软雅黑" panose="020B0503020204020204" charset="-122"/>
                </a:rPr>
                <a:t>枚举分类模式的层次结构容易理解和使用，但在建立层次之前必须完成领域工程，以使层次中的项具有足够的信息。</a:t>
              </a:r>
            </a:p>
          </p:txBody>
        </p:sp>
      </p:grpSp>
      <p:sp>
        <p:nvSpPr>
          <p:cNvPr id="3" name="矩形 2"/>
          <p:cNvSpPr/>
          <p:nvPr/>
        </p:nvSpPr>
        <p:spPr>
          <a:xfrm>
            <a:off x="595630" y="3444240"/>
            <a:ext cx="4682490" cy="1737360"/>
          </a:xfrm>
          <a:prstGeom prst="rect">
            <a:avLst/>
          </a:prstGeom>
          <a:noFill/>
          <a:ln>
            <a:noFill/>
          </a:ln>
        </p:spPr>
        <p:txBody>
          <a:bodyPr wrap="square" rtlCol="0" anchor="t">
            <a:prstTxWarp prst="textDoubleWave1">
              <a:avLst/>
            </a:prstTxWarp>
            <a:spAutoFit/>
          </a:bodyPr>
          <a:lstStyle/>
          <a:p>
            <a:pPr algn="ctr"/>
            <a:r>
              <a:rPr lang="zh-CN" altLang="en-US" sz="4000" b="1">
                <a:ln/>
                <a:solidFill>
                  <a:schemeClr val="tx1"/>
                </a:solidFill>
                <a:effectLst>
                  <a:outerShdw blurRad="38100" dist="19050" dir="2700000" algn="tl" rotWithShape="0">
                    <a:schemeClr val="dk1">
                      <a:alpha val="40000"/>
                    </a:schemeClr>
                  </a:outerShdw>
                </a:effectLst>
              </a:rPr>
              <a:t>Enumerated Classification</a:t>
            </a:r>
          </a:p>
        </p:txBody>
      </p:sp>
    </p:spTree>
    <p:custDataLst>
      <p:tags r:id="rId1"/>
    </p:custDataLst>
  </p:cSld>
  <p:clrMapOvr>
    <a:masterClrMapping/>
  </p:clrMapOvr>
  <p:transition>
    <p:wheel spokes="3"/>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5.2.3 </a:t>
            </a:r>
            <a:r>
              <a:rPr lang="zh-CN" altLang="en-US" sz="2400" dirty="0">
                <a:solidFill>
                  <a:schemeClr val="tx1"/>
                </a:solidFill>
              </a:rPr>
              <a:t>开发可重用的软件构件</a:t>
            </a:r>
          </a:p>
        </p:txBody>
      </p:sp>
      <p:grpSp>
        <p:nvGrpSpPr>
          <p:cNvPr id="5" name="组合 4"/>
          <p:cNvGrpSpPr/>
          <p:nvPr/>
        </p:nvGrpSpPr>
        <p:grpSpPr>
          <a:xfrm>
            <a:off x="0" y="2029460"/>
            <a:ext cx="11609705" cy="4339590"/>
            <a:chOff x="0" y="3196"/>
            <a:chExt cx="18283" cy="6834"/>
          </a:xfrm>
        </p:grpSpPr>
        <p:grpSp>
          <p:nvGrpSpPr>
            <p:cNvPr id="6" name="组合 5"/>
            <p:cNvGrpSpPr/>
            <p:nvPr/>
          </p:nvGrpSpPr>
          <p:grpSpPr>
            <a:xfrm>
              <a:off x="0" y="3196"/>
              <a:ext cx="7895" cy="1530"/>
              <a:chOff x="1" y="2565401"/>
              <a:chExt cx="5013433" cy="971723"/>
            </a:xfrm>
          </p:grpSpPr>
          <p:sp>
            <p:nvSpPr>
              <p:cNvPr id="7" name="MH_SubTitle_1"/>
              <p:cNvSpPr/>
              <p:nvPr>
                <p:custDataLst>
                  <p:tags r:id="rId3"/>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刻面分类</a:t>
                </a:r>
              </a:p>
            </p:txBody>
          </p:sp>
          <p:sp>
            <p:nvSpPr>
              <p:cNvPr id="8"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8797" y="3389"/>
              <a:ext cx="9486" cy="6641"/>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分析应用领域并标识出一组基本的描述特征，这些描述特征称为刻面。</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描述一个构件的刻面的集合称为刻面描述表。</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根据重要性确定刻面的优先次序，并把它们与构件联系起来。</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刻面可以描述构件所完成的功能、加工的数据、应用构件的操作和实现方法等特征。</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通常，刻面描述不超过7个。</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把关键词的值赋给重用库中每个构件的刻面集。</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使用自动工具完成同义词词典功能，从而可以根据关键词或关键词的同义词，在构件库中查找所需要的构件。</a:t>
              </a:r>
            </a:p>
          </p:txBody>
        </p:sp>
      </p:grpSp>
      <p:grpSp>
        <p:nvGrpSpPr>
          <p:cNvPr id="9" name="组合 8"/>
          <p:cNvGrpSpPr/>
          <p:nvPr/>
        </p:nvGrpSpPr>
        <p:grpSpPr>
          <a:xfrm>
            <a:off x="6468726" y="653728"/>
            <a:ext cx="5159375" cy="1289050"/>
            <a:chOff x="849" y="2735"/>
            <a:chExt cx="8125" cy="2030"/>
          </a:xfrm>
        </p:grpSpPr>
        <p:sp>
          <p:nvSpPr>
            <p:cNvPr id="13" name="圆角矩形"/>
            <p:cNvSpPr/>
            <p:nvPr/>
          </p:nvSpPr>
          <p:spPr>
            <a:xfrm>
              <a:off x="1188" y="3071"/>
              <a:ext cx="7786" cy="156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15" name="文本框 14"/>
            <p:cNvSpPr txBox="1"/>
            <p:nvPr/>
          </p:nvSpPr>
          <p:spPr>
            <a:xfrm>
              <a:off x="849" y="3049"/>
              <a:ext cx="8124" cy="1716"/>
            </a:xfrm>
            <a:prstGeom prst="rect">
              <a:avLst/>
            </a:prstGeom>
            <a:noFill/>
          </p:spPr>
          <p:txBody>
            <a:bodyPr wrap="square" rtlCol="0">
              <a:spAutoFit/>
            </a:bodyPr>
            <a:lstStyle/>
            <a:p>
              <a:pPr marL="285750">
                <a:lnSpc>
                  <a:spcPct val="12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latin typeface="微软雅黑" panose="020B0503020204020204" charset="-122"/>
                  <a:ea typeface="微软雅黑" panose="020B0503020204020204" charset="-122"/>
                  <a:sym typeface="+mn-ea"/>
                </a:rPr>
                <a:t>刻面分类方法通过分析软件构件的基本特征，并分析这些基本特征的优先次序，来建立软件构件库。</a:t>
              </a:r>
              <a:endParaRPr lang="zh-CN" dirty="0">
                <a:solidFill>
                  <a:schemeClr val="tx1"/>
                </a:solidFill>
                <a:latin typeface="微软雅黑" panose="020B0503020204020204" charset="-122"/>
                <a:ea typeface="微软雅黑" panose="020B0503020204020204" charset="-122"/>
                <a:sym typeface="+mn-ea"/>
              </a:endParaRPr>
            </a:p>
          </p:txBody>
        </p:sp>
      </p:grpSp>
      <p:sp>
        <p:nvSpPr>
          <p:cNvPr id="16" name="矩形 15"/>
          <p:cNvSpPr/>
          <p:nvPr/>
        </p:nvSpPr>
        <p:spPr>
          <a:xfrm>
            <a:off x="483235" y="3520440"/>
            <a:ext cx="4682490" cy="1737360"/>
          </a:xfrm>
          <a:prstGeom prst="rect">
            <a:avLst/>
          </a:prstGeom>
          <a:noFill/>
          <a:ln>
            <a:noFill/>
          </a:ln>
        </p:spPr>
        <p:txBody>
          <a:bodyPr wrap="square" rtlCol="0" anchor="t">
            <a:prstTxWarp prst="textDoubleWave1">
              <a:avLst/>
            </a:prstTxWarp>
            <a:spAutoFit/>
          </a:bodyPr>
          <a:lstStyle/>
          <a:p>
            <a:pPr algn="ctr"/>
            <a:r>
              <a:rPr lang="zh-CN" altLang="en-US" sz="4000" b="1">
                <a:solidFill>
                  <a:schemeClr val="tx1"/>
                </a:solidFill>
                <a:effectLst>
                  <a:outerShdw blurRad="38100" dist="19050" dir="2700000" algn="tl" rotWithShape="0">
                    <a:schemeClr val="dk1">
                      <a:alpha val="40000"/>
                    </a:schemeClr>
                  </a:outerShdw>
                </a:effectLst>
              </a:rPr>
              <a:t>Faceted Classification</a:t>
            </a:r>
          </a:p>
        </p:txBody>
      </p:sp>
    </p:spTree>
    <p:custDataLst>
      <p:tags r:id="rId1"/>
    </p:custDataLst>
  </p:cSld>
  <p:clrMapOvr>
    <a:masterClrMapping/>
  </p:clrMapOvr>
  <p:transition>
    <p:wheel spokes="3"/>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5.2.3 </a:t>
            </a:r>
            <a:r>
              <a:rPr lang="zh-CN" altLang="en-US" sz="2400" dirty="0">
                <a:solidFill>
                  <a:schemeClr val="tx1"/>
                </a:solidFill>
              </a:rPr>
              <a:t>开发可重用的软件构件</a:t>
            </a:r>
          </a:p>
        </p:txBody>
      </p:sp>
      <p:grpSp>
        <p:nvGrpSpPr>
          <p:cNvPr id="5" name="组合 4"/>
          <p:cNvGrpSpPr/>
          <p:nvPr/>
        </p:nvGrpSpPr>
        <p:grpSpPr>
          <a:xfrm>
            <a:off x="0" y="2029460"/>
            <a:ext cx="11609705" cy="3502660"/>
            <a:chOff x="0" y="3196"/>
            <a:chExt cx="18283" cy="5516"/>
          </a:xfrm>
        </p:grpSpPr>
        <p:grpSp>
          <p:nvGrpSpPr>
            <p:cNvPr id="6" name="组合 5"/>
            <p:cNvGrpSpPr/>
            <p:nvPr/>
          </p:nvGrpSpPr>
          <p:grpSpPr>
            <a:xfrm>
              <a:off x="0" y="3196"/>
              <a:ext cx="7895" cy="1530"/>
              <a:chOff x="1" y="2565401"/>
              <a:chExt cx="5013433" cy="971723"/>
            </a:xfrm>
          </p:grpSpPr>
          <p:sp>
            <p:nvSpPr>
              <p:cNvPr id="7" name="MH_SubTitle_1"/>
              <p:cNvSpPr/>
              <p:nvPr>
                <p:custDataLst>
                  <p:tags r:id="rId3"/>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属性值分类</a:t>
                </a:r>
              </a:p>
            </p:txBody>
          </p:sp>
          <p:sp>
            <p:nvSpPr>
              <p:cNvPr id="8"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03</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9420" y="3647"/>
              <a:ext cx="8863" cy="506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lang="zh-CN" altLang="en-US" dirty="0">
                  <a:solidFill>
                    <a:schemeClr val="tx1"/>
                  </a:solidFill>
                  <a:latin typeface="微软雅黑" panose="020B0503020204020204" charset="-122"/>
                  <a:ea typeface="微软雅黑" panose="020B0503020204020204" charset="-122"/>
                </a:rPr>
                <a:t>属性值分类模式是指为一个领域中的所有构件定义一组属性，然后与刻面分类法类似地给这些属性赋值。</a:t>
              </a:r>
              <a:endParaRPr lang="en-US" altLang="zh-CN" dirty="0">
                <a:solidFill>
                  <a:schemeClr val="tx1"/>
                </a:solidFill>
                <a:latin typeface="微软雅黑" panose="020B0503020204020204" charset="-122"/>
                <a:ea typeface="微软雅黑" panose="020B0503020204020204" charset="-122"/>
              </a:endParaRPr>
            </a:p>
            <a:p>
              <a:pPr marL="285750" indent="-285750" fontAlgn="auto">
                <a:lnSpc>
                  <a:spcPct val="120000"/>
                </a:lnSpc>
                <a:buFont typeface="Arial" panose="020B0604020202020204" pitchFamily="34" charset="0"/>
                <a:buChar char="•"/>
              </a:pPr>
              <a:r>
                <a:rPr lang="zh-CN" altLang="en-US" dirty="0">
                  <a:solidFill>
                    <a:schemeClr val="tx1"/>
                  </a:solidFill>
                </a:rPr>
                <a:t>属性值分类法与刻面分类法相似，区别如下：</a:t>
              </a:r>
            </a:p>
            <a:p>
              <a:pPr marL="285750" indent="-285750" fontAlgn="auto">
                <a:lnSpc>
                  <a:spcPct val="120000"/>
                </a:lnSpc>
                <a:buFont typeface="Wingdings" panose="05000000000000000000" charset="0"/>
                <a:buChar char="Ø"/>
              </a:pPr>
              <a:r>
                <a:rPr lang="zh-CN" altLang="en-US" dirty="0">
                  <a:solidFill>
                    <a:schemeClr val="tx1"/>
                  </a:solidFill>
                </a:rPr>
                <a:t>对可重用的属性个数没有限制。</a:t>
              </a:r>
            </a:p>
            <a:p>
              <a:pPr marL="285750" indent="-285750" fontAlgn="auto">
                <a:lnSpc>
                  <a:spcPct val="120000"/>
                </a:lnSpc>
                <a:buFont typeface="Wingdings" panose="05000000000000000000" charset="0"/>
                <a:buChar char="Ø"/>
              </a:pPr>
              <a:r>
                <a:rPr lang="zh-CN" altLang="en-US" dirty="0">
                  <a:solidFill>
                    <a:schemeClr val="tx1"/>
                  </a:solidFill>
                </a:rPr>
                <a:t>属性没有优先级。</a:t>
              </a:r>
            </a:p>
            <a:p>
              <a:pPr marL="285750" indent="-285750" fontAlgn="auto">
                <a:lnSpc>
                  <a:spcPct val="120000"/>
                </a:lnSpc>
                <a:buFont typeface="Wingdings" panose="05000000000000000000" charset="0"/>
                <a:buChar char="Ø"/>
              </a:pPr>
              <a:r>
                <a:rPr lang="zh-CN" altLang="en-US" dirty="0">
                  <a:solidFill>
                    <a:schemeClr val="tx1"/>
                  </a:solidFill>
                </a:rPr>
                <a:t>不使用同义词词典功能。</a:t>
              </a:r>
              <a:endParaRPr lang="zh-CN" altLang="en-US" dirty="0">
                <a:solidFill>
                  <a:schemeClr val="tx1"/>
                </a:solidFill>
                <a:latin typeface="微软雅黑" panose="020B0503020204020204" charset="-122"/>
                <a:ea typeface="微软雅黑" panose="020B0503020204020204" charset="-122"/>
              </a:endParaRPr>
            </a:p>
            <a:p>
              <a:pPr indent="457200">
                <a:lnSpc>
                  <a:spcPct val="120000"/>
                </a:lnSpc>
              </a:pPr>
              <a:endParaRPr dirty="0">
                <a:solidFill>
                  <a:schemeClr val="tx1"/>
                </a:solidFill>
                <a:latin typeface="微软雅黑" panose="020B0503020204020204" charset="-122"/>
                <a:ea typeface="微软雅黑" panose="020B0503020204020204" charset="-122"/>
              </a:endParaRPr>
            </a:p>
          </p:txBody>
        </p:sp>
      </p:grpSp>
      <p:sp>
        <p:nvSpPr>
          <p:cNvPr id="3" name="矩形 2"/>
          <p:cNvSpPr/>
          <p:nvPr/>
        </p:nvSpPr>
        <p:spPr>
          <a:xfrm>
            <a:off x="595630" y="3444240"/>
            <a:ext cx="4682490" cy="1737360"/>
          </a:xfrm>
          <a:prstGeom prst="rect">
            <a:avLst/>
          </a:prstGeom>
          <a:noFill/>
          <a:ln>
            <a:noFill/>
          </a:ln>
        </p:spPr>
        <p:txBody>
          <a:bodyPr wrap="square" rtlCol="0" anchor="t">
            <a:prstTxWarp prst="textDoubleWave1">
              <a:avLst/>
            </a:prstTxWarp>
            <a:spAutoFit/>
          </a:bodyPr>
          <a:lstStyle/>
          <a:p>
            <a:pPr algn="ctr"/>
            <a:r>
              <a:rPr lang="zh-CN" altLang="en-US" sz="4000" b="1">
                <a:solidFill>
                  <a:schemeClr val="tx1"/>
                </a:solidFill>
                <a:effectLst>
                  <a:outerShdw blurRad="38100" dist="19050" dir="2700000" algn="tl" rotWithShape="0">
                    <a:schemeClr val="dk1">
                      <a:alpha val="40000"/>
                    </a:schemeClr>
                  </a:outerShdw>
                </a:effectLst>
              </a:rPr>
              <a:t>Attribute-Value Classification</a:t>
            </a:r>
          </a:p>
        </p:txBody>
      </p:sp>
    </p:spTree>
    <p:custDataLst>
      <p:tags r:id="rId1"/>
    </p:custDataLst>
  </p:cSld>
  <p:clrMapOvr>
    <a:masterClrMapping/>
  </p:clrMapOvr>
  <p:transition>
    <p:wheel spokes="3"/>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en-US" dirty="0" err="1">
                <a:sym typeface="+mn-ea"/>
              </a:rPr>
              <a:t>软件重用和再工程</a:t>
            </a:r>
            <a:endParaRPr lang="en-US" dirty="0">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5.2.4 </a:t>
            </a:r>
            <a:r>
              <a:rPr lang="zh-CN" altLang="en-US" sz="2400" dirty="0">
                <a:solidFill>
                  <a:schemeClr val="tx1"/>
                </a:solidFill>
              </a:rPr>
              <a:t>软件逆向工程</a:t>
            </a:r>
          </a:p>
        </p:txBody>
      </p:sp>
      <p:grpSp>
        <p:nvGrpSpPr>
          <p:cNvPr id="4" name="组合 3"/>
          <p:cNvGrpSpPr/>
          <p:nvPr/>
        </p:nvGrpSpPr>
        <p:grpSpPr>
          <a:xfrm>
            <a:off x="0" y="2428240"/>
            <a:ext cx="12192000" cy="3074035"/>
            <a:chOff x="0" y="3848"/>
            <a:chExt cx="19200" cy="4841"/>
          </a:xfrm>
        </p:grpSpPr>
        <p:sp>
          <p:nvSpPr>
            <p:cNvPr id="10" name="矩形 9"/>
            <p:cNvSpPr/>
            <p:nvPr/>
          </p:nvSpPr>
          <p:spPr>
            <a:xfrm>
              <a:off x="0" y="3848"/>
              <a:ext cx="19200" cy="4841"/>
            </a:xfrm>
            <a:prstGeom prst="rect">
              <a:avLst/>
            </a:prstGeom>
            <a:solidFill>
              <a:srgbClr val="008080"/>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188" y="3928"/>
              <a:ext cx="10204" cy="4680"/>
            </a:xfrm>
            <a:prstGeom prst="rect">
              <a:avLst/>
            </a:prstGeom>
          </p:spPr>
          <p:txBody>
            <a:bodyPr wrap="square">
              <a:spAutoFit/>
            </a:bodyPr>
            <a:lstStyle/>
            <a:p>
              <a:pPr indent="457200">
                <a:lnSpc>
                  <a:spcPct val="150000"/>
                </a:lnSpc>
                <a:defRPr/>
              </a:pP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逆向工程是一种产品设计技术的再现过程，即对一项目标产品进行逆向分析及研究，从而演绎并得出该产品的处理流程、组织结构、功能特性及技术规格等设计要素，以制作出功能相近，但又不完全一样的产品。简单地说，逆向工程就是根据已有的产品，反向推出产品设计数据（包括各类设计图或数据模型）的过程。因此，逆向工程可以被认为是一个从产品到设计的过程。</a:t>
              </a:r>
            </a:p>
          </p:txBody>
        </p:sp>
      </p:grpSp>
      <p:grpSp>
        <p:nvGrpSpPr>
          <p:cNvPr id="11" name="组合 10"/>
          <p:cNvGrpSpPr/>
          <p:nvPr/>
        </p:nvGrpSpPr>
        <p:grpSpPr>
          <a:xfrm>
            <a:off x="7711089" y="1639445"/>
            <a:ext cx="3933825" cy="4373563"/>
            <a:chOff x="711200" y="1781334"/>
            <a:chExt cx="3933825" cy="4373563"/>
          </a:xfrm>
        </p:grpSpPr>
        <p:sp>
          <p:nvSpPr>
            <p:cNvPr id="5" name="MH_Picture_1"/>
            <p:cNvSpPr/>
            <p:nvPr/>
          </p:nvSpPr>
          <p:spPr>
            <a:xfrm>
              <a:off x="711200" y="1781334"/>
              <a:ext cx="2133600" cy="2133445"/>
            </a:xfrm>
            <a:prstGeom prst="ellipse">
              <a:avLst/>
            </a:prstGeom>
            <a:blipFill dpi="0" rotWithShape="1">
              <a:blip r:embed="rId4" cstate="print"/>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6" name="MH_Picture_2"/>
            <p:cNvSpPr/>
            <p:nvPr/>
          </p:nvSpPr>
          <p:spPr>
            <a:xfrm>
              <a:off x="2903855" y="3345226"/>
              <a:ext cx="1741170" cy="1741044"/>
            </a:xfrm>
            <a:prstGeom prst="ellipse">
              <a:avLst/>
            </a:prstGeom>
            <a:blipFill dpi="0" rotWithShape="1">
              <a:blip r:embed="rId5" cstate="print"/>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3" name="MH_Picture_3"/>
            <p:cNvSpPr/>
            <p:nvPr/>
          </p:nvSpPr>
          <p:spPr>
            <a:xfrm>
              <a:off x="1266825" y="4517986"/>
              <a:ext cx="1637030" cy="1636911"/>
            </a:xfrm>
            <a:prstGeom prst="ellipse">
              <a:avLst/>
            </a:prstGeom>
            <a:blipFill dpi="0" rotWithShape="1">
              <a:blip r:embed="rId6" cstate="print"/>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9" name="MH_Other_2"/>
            <p:cNvSpPr/>
            <p:nvPr/>
          </p:nvSpPr>
          <p:spPr>
            <a:xfrm>
              <a:off x="3048000" y="2865835"/>
              <a:ext cx="434975" cy="434943"/>
            </a:xfrm>
            <a:prstGeom prst="ellipse">
              <a:avLst/>
            </a:prstGeom>
            <a:solidFill>
              <a:srgbClr val="EAEAE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12" name="MH_Other_4"/>
            <p:cNvSpPr/>
            <p:nvPr/>
          </p:nvSpPr>
          <p:spPr>
            <a:xfrm>
              <a:off x="1160780" y="4184635"/>
              <a:ext cx="363220" cy="363829"/>
            </a:xfrm>
            <a:prstGeom prst="ellipse">
              <a:avLst/>
            </a:prstGeom>
            <a:solidFill>
              <a:srgbClr val="FFFFFF">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grpSp>
    </p:spTree>
    <p:custDataLst>
      <p:tags r:id="rId1"/>
    </p:custDataLst>
  </p:cSld>
  <p:clrMapOvr>
    <a:masterClrMapping/>
  </p:clrMapOvr>
  <p:transition>
    <p:wheel spokes="3"/>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en-US" dirty="0" err="1">
                <a:sym typeface="+mn-ea"/>
              </a:rPr>
              <a:t>软件重用和再工程</a:t>
            </a:r>
            <a:endParaRPr lang="en-US" dirty="0">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5.2.4 </a:t>
            </a:r>
            <a:r>
              <a:rPr lang="zh-CN" altLang="en-US" sz="2400" dirty="0">
                <a:solidFill>
                  <a:schemeClr val="tx1"/>
                </a:solidFill>
              </a:rPr>
              <a:t>软件逆向工程</a:t>
            </a:r>
          </a:p>
        </p:txBody>
      </p:sp>
      <p:grpSp>
        <p:nvGrpSpPr>
          <p:cNvPr id="4" name="组合 3"/>
          <p:cNvGrpSpPr/>
          <p:nvPr/>
        </p:nvGrpSpPr>
        <p:grpSpPr>
          <a:xfrm>
            <a:off x="0" y="2428240"/>
            <a:ext cx="12192000" cy="3074035"/>
            <a:chOff x="0" y="3848"/>
            <a:chExt cx="19200" cy="4841"/>
          </a:xfrm>
        </p:grpSpPr>
        <p:sp>
          <p:nvSpPr>
            <p:cNvPr id="10" name="矩形 9"/>
            <p:cNvSpPr/>
            <p:nvPr/>
          </p:nvSpPr>
          <p:spPr>
            <a:xfrm>
              <a:off x="0" y="3848"/>
              <a:ext cx="19200" cy="4841"/>
            </a:xfrm>
            <a:prstGeom prst="rect">
              <a:avLst/>
            </a:prstGeom>
            <a:solidFill>
              <a:srgbClr val="008080"/>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391" y="4252"/>
              <a:ext cx="16419" cy="4032"/>
            </a:xfrm>
            <a:prstGeom prst="rect">
              <a:avLst/>
            </a:prstGeom>
          </p:spPr>
          <p:txBody>
            <a:bodyPr wrap="square">
              <a:spAutoFit/>
            </a:bodyPr>
            <a:lstStyle/>
            <a:p>
              <a:pPr indent="457200">
                <a:lnSpc>
                  <a:spcPct val="150000"/>
                </a:lnSpc>
                <a:defRPr/>
              </a:pP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软件的逆向工程是分析程序，力图在比源代码更高的抽象层次上，建立程序的表示过程</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它不仅是设计的恢复过程，还可以借助工具从已经存在的程序中抽取数据结构、体系结构和程序设计信息</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软件逆向工程也可被视作“开发周期的逆行</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对一项软件程序进行逆向工程，类似于逆行传统瀑布模型中的开发步骤，即从实现阶段的输出（即软件程序）还原出在设计阶段所做的构思</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软件逆向工程仅仅是一种检测或分析的过程，它并不会更改目标系统</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。软件的逆向工程可以使用净室技术（将在第11.2节介绍）来避免侵犯版权。</a:t>
              </a:r>
            </a:p>
          </p:txBody>
        </p:sp>
      </p:grpSp>
      <p:pic>
        <p:nvPicPr>
          <p:cNvPr id="299012" name="图片 3" descr="www.tuweimei.comComp_9723849_IeOC5ewZgBYT5mSXyrn8oDulZ8bDAS6J.jpg"/>
          <p:cNvPicPr>
            <a:picLocks noGrp="1" noChangeAspect="1"/>
          </p:cNvPicPr>
          <p:nvPr/>
        </p:nvPicPr>
        <p:blipFill>
          <a:blip r:embed="rId4" cstate="print"/>
          <a:srcRect t="11085"/>
          <a:stretch>
            <a:fillRect/>
          </a:stretch>
        </p:blipFill>
        <p:spPr>
          <a:xfrm>
            <a:off x="7734935" y="-11430"/>
            <a:ext cx="3733165" cy="2439670"/>
          </a:xfrm>
          <a:prstGeom prst="rect">
            <a:avLst/>
          </a:prstGeom>
          <a:noFill/>
          <a:ln w="9525">
            <a:noFill/>
          </a:ln>
        </p:spPr>
      </p:pic>
    </p:spTree>
    <p:custDataLst>
      <p:tags r:id="rId1"/>
    </p:custDataLst>
  </p:cSld>
  <p:clrMapOvr>
    <a:masterClrMapping/>
  </p:clrMapOvr>
  <p:transition>
    <p:wheel spokes="3"/>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en-US" dirty="0" err="1">
                <a:sym typeface="+mn-ea"/>
              </a:rPr>
              <a:t>软件重用和再工程</a:t>
            </a:r>
            <a:endParaRPr lang="en-US" dirty="0">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5.2.4 </a:t>
            </a:r>
            <a:r>
              <a:rPr lang="zh-CN" altLang="en-US" sz="2400" dirty="0">
                <a:solidFill>
                  <a:schemeClr val="tx1"/>
                </a:solidFill>
              </a:rPr>
              <a:t>软件逆向工程</a:t>
            </a:r>
          </a:p>
        </p:txBody>
      </p:sp>
      <p:sp>
        <p:nvSpPr>
          <p:cNvPr id="6" name="文本框 5"/>
          <p:cNvSpPr txBox="1"/>
          <p:nvPr/>
        </p:nvSpPr>
        <p:spPr>
          <a:xfrm>
            <a:off x="3061970" y="5724553"/>
            <a:ext cx="6557010" cy="365760"/>
          </a:xfrm>
          <a:prstGeom prst="rect">
            <a:avLst/>
          </a:prstGeom>
          <a:noFill/>
        </p:spPr>
        <p:txBody>
          <a:bodyPr wrap="square" rtlCol="0" anchor="t">
            <a:spAutoFit/>
          </a:bodyPr>
          <a:lstStyle/>
          <a:p>
            <a:r>
              <a:rPr lang="zh-CN" altLang="en-US" dirty="0">
                <a:solidFill>
                  <a:schemeClr val="accent6">
                    <a:lumMod val="50000"/>
                  </a:schemeClr>
                </a:solidFill>
              </a:rPr>
              <a:t>图5-6  软件逆向工程的过程及可能恢复的信息</a:t>
            </a:r>
          </a:p>
        </p:txBody>
      </p:sp>
      <p:sp>
        <p:nvSpPr>
          <p:cNvPr id="117778" name="Rectangle 18"/>
          <p:cNvSpPr>
            <a:spLocks noChangeArrowheads="1"/>
          </p:cNvSpPr>
          <p:nvPr/>
        </p:nvSpPr>
        <p:spPr bwMode="auto">
          <a:xfrm>
            <a:off x="0" y="0"/>
            <a:ext cx="12192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grpSp>
        <p:nvGrpSpPr>
          <p:cNvPr id="117761" name="组合 8900"/>
          <p:cNvGrpSpPr>
            <a:grpSpLocks/>
          </p:cNvGrpSpPr>
          <p:nvPr/>
        </p:nvGrpSpPr>
        <p:grpSpPr bwMode="auto">
          <a:xfrm>
            <a:off x="1610436" y="1733266"/>
            <a:ext cx="7915701" cy="3684896"/>
            <a:chOff x="1343" y="3287"/>
            <a:chExt cx="7957" cy="2834"/>
          </a:xfrm>
        </p:grpSpPr>
        <p:sp>
          <p:nvSpPr>
            <p:cNvPr id="117777" name="Rectangle 29"/>
            <p:cNvSpPr>
              <a:spLocks noChangeArrowheads="1"/>
            </p:cNvSpPr>
            <p:nvPr/>
          </p:nvSpPr>
          <p:spPr bwMode="auto">
            <a:xfrm>
              <a:off x="4099" y="3287"/>
              <a:ext cx="5201" cy="2834"/>
            </a:xfrm>
            <a:prstGeom prst="rect">
              <a:avLst/>
            </a:prstGeom>
            <a:solidFill>
              <a:srgbClr val="FFFFFF"/>
            </a:solidFill>
            <a:ln w="9525">
              <a:solidFill>
                <a:srgbClr val="000000"/>
              </a:solidFill>
              <a:miter lim="200000"/>
              <a:headEnd/>
              <a:tailEnd/>
            </a:ln>
          </p:spPr>
          <p:txBody>
            <a:bodyPr vert="horz" wrap="square" lIns="91440" tIns="45720" rIns="91440" bIns="45720" numCol="1" anchor="t" anchorCtr="0" compatLnSpc="1">
              <a:prstTxWarp prst="textNoShape">
                <a:avLst/>
              </a:prstTxWarp>
            </a:bodyPr>
            <a:lstStyle/>
            <a:p>
              <a:endParaRPr lang="zh-CN" altLang="en-US" sz="2400" dirty="0"/>
            </a:p>
          </p:txBody>
        </p:sp>
        <p:sp>
          <p:nvSpPr>
            <p:cNvPr id="117776" name="Quad Arrow 33"/>
            <p:cNvSpPr txBox="1">
              <a:spLocks noChangeArrowheads="1"/>
            </p:cNvSpPr>
            <p:nvPr/>
          </p:nvSpPr>
          <p:spPr bwMode="auto">
            <a:xfrm>
              <a:off x="4490" y="5175"/>
              <a:ext cx="1339" cy="76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a:t>
              </a: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处理规则</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●构件调用</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●伪代码</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117775" name="Flowchart: Predefined Process 34"/>
            <p:cNvSpPr>
              <a:spLocks noChangeArrowheads="1"/>
            </p:cNvSpPr>
            <p:nvPr/>
          </p:nvSpPr>
          <p:spPr bwMode="auto">
            <a:xfrm>
              <a:off x="4348" y="3621"/>
              <a:ext cx="1253" cy="576"/>
            </a:xfrm>
            <a:prstGeom prst="flowChartPredefinedProcess">
              <a:avLst/>
            </a:prstGeom>
            <a:solidFill>
              <a:srgbClr val="FFFFFF"/>
            </a:solidFill>
            <a:ln w="9525">
              <a:solidFill>
                <a:srgbClr val="000000"/>
              </a:solidFill>
              <a:miter lim="200000"/>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17774" name="Documents"/>
            <p:cNvSpPr>
              <a:spLocks noChangeArrowheads="1"/>
            </p:cNvSpPr>
            <p:nvPr/>
          </p:nvSpPr>
          <p:spPr bwMode="auto">
            <a:xfrm rot="10800000">
              <a:off x="8108" y="3463"/>
              <a:ext cx="671" cy="893"/>
            </a:xfrm>
            <a:custGeom>
              <a:avLst/>
              <a:gdLst>
                <a:gd name="T0" fmla="*/ 1645 w 21600"/>
                <a:gd name="T1" fmla="*/ 4171 h 21600"/>
                <a:gd name="T2" fmla="*/ 16522 w 21600"/>
                <a:gd name="T3" fmla="*/ 17314 h 21600"/>
              </a:gdLst>
              <a:ahLst/>
              <a:cxnLst>
                <a:cxn ang="0">
                  <a:pos x="0" y="18014"/>
                </a:cxn>
                <a:cxn ang="0">
                  <a:pos x="0" y="2800"/>
                </a:cxn>
                <a:cxn ang="0">
                  <a:pos x="1645" y="2800"/>
                </a:cxn>
                <a:cxn ang="0">
                  <a:pos x="1645" y="1428"/>
                </a:cxn>
                <a:cxn ang="0">
                  <a:pos x="3468" y="1428"/>
                </a:cxn>
                <a:cxn ang="0">
                  <a:pos x="3468" y="0"/>
                </a:cxn>
                <a:cxn ang="0">
                  <a:pos x="21653" y="0"/>
                </a:cxn>
                <a:cxn ang="0">
                  <a:pos x="21653" y="18828"/>
                </a:cxn>
                <a:cxn ang="0">
                  <a:pos x="19954" y="18828"/>
                </a:cxn>
                <a:cxn ang="0">
                  <a:pos x="19954" y="20214"/>
                </a:cxn>
                <a:cxn ang="0">
                  <a:pos x="18256" y="20214"/>
                </a:cxn>
                <a:cxn ang="0">
                  <a:pos x="18256" y="21600"/>
                </a:cxn>
                <a:cxn ang="0">
                  <a:pos x="4434" y="21600"/>
                </a:cxn>
                <a:cxn ang="0">
                  <a:pos x="0" y="18014"/>
                </a:cxn>
                <a:cxn ang="0">
                  <a:pos x="3486" y="1428"/>
                </a:cxn>
                <a:cxn ang="0">
                  <a:pos x="19954" y="1428"/>
                </a:cxn>
                <a:cxn ang="0">
                  <a:pos x="19954" y="20214"/>
                </a:cxn>
                <a:cxn ang="0">
                  <a:pos x="18256" y="20214"/>
                </a:cxn>
                <a:cxn ang="0">
                  <a:pos x="18256" y="2800"/>
                </a:cxn>
                <a:cxn ang="0">
                  <a:pos x="1645" y="2800"/>
                </a:cxn>
                <a:cxn ang="0">
                  <a:pos x="1645" y="1428"/>
                </a:cxn>
                <a:cxn ang="0">
                  <a:pos x="3486" y="1428"/>
                </a:cxn>
                <a:cxn ang="0">
                  <a:pos x="0" y="18014"/>
                </a:cxn>
                <a:cxn ang="0">
                  <a:pos x="4434" y="18000"/>
                </a:cxn>
                <a:cxn ang="0">
                  <a:pos x="4434" y="21600"/>
                </a:cxn>
                <a:cxn ang="0">
                  <a:pos x="0" y="18014"/>
                </a:cxn>
              </a:cxnLst>
              <a:rect l="T0" t="T1" r="T2" b="T3"/>
              <a:pathLst>
                <a:path w="21600" h="2160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a:moveTo>
                    <a:pt x="3486" y="1428"/>
                  </a:moveTo>
                  <a:lnTo>
                    <a:pt x="19954" y="1428"/>
                  </a:lnTo>
                  <a:lnTo>
                    <a:pt x="19954" y="20214"/>
                  </a:lnTo>
                  <a:lnTo>
                    <a:pt x="18256" y="20214"/>
                  </a:lnTo>
                  <a:lnTo>
                    <a:pt x="18256" y="2800"/>
                  </a:lnTo>
                  <a:lnTo>
                    <a:pt x="1645" y="2800"/>
                  </a:lnTo>
                  <a:lnTo>
                    <a:pt x="1645" y="1428"/>
                  </a:lnTo>
                  <a:lnTo>
                    <a:pt x="3486" y="1428"/>
                  </a:lnTo>
                  <a:close/>
                </a:path>
                <a:path w="21600" h="21600">
                  <a:moveTo>
                    <a:pt x="0" y="18014"/>
                  </a:moveTo>
                  <a:lnTo>
                    <a:pt x="4434" y="18000"/>
                  </a:lnTo>
                  <a:lnTo>
                    <a:pt x="4434" y="21600"/>
                  </a:lnTo>
                  <a:lnTo>
                    <a:pt x="0" y="18014"/>
                  </a:lnTo>
                  <a:close/>
                </a:path>
              </a:pathLst>
            </a:custGeom>
            <a:solidFill>
              <a:srgbClr val="D8D8D8"/>
            </a:solidFill>
            <a:ln w="9525">
              <a:solidFill>
                <a:srgbClr val="000000"/>
              </a:solidFill>
              <a:round/>
              <a:headEnd/>
              <a:tailEnd/>
            </a:ln>
            <a:effectLst>
              <a:outerShdw dist="107763" dir="2700000" algn="ctr" rotWithShape="0">
                <a:srgbClr val="808080"/>
              </a:outerShdw>
            </a:effectLst>
          </p:spPr>
          <p:txBody>
            <a:bodyPr vert="horz" wrap="square" lIns="91440" tIns="45720" rIns="91440" bIns="45720" numCol="1" anchor="t" anchorCtr="0" compatLnSpc="1">
              <a:prstTxWarp prst="textNoShape">
                <a:avLst/>
              </a:prstTxWarp>
            </a:bodyPr>
            <a:lstStyle/>
            <a:p>
              <a:endParaRPr lang="zh-CN" altLang="en-US"/>
            </a:p>
          </p:txBody>
        </p:sp>
        <p:sp>
          <p:nvSpPr>
            <p:cNvPr id="117773" name="Document"/>
            <p:cNvSpPr>
              <a:spLocks noChangeArrowheads="1"/>
            </p:cNvSpPr>
            <p:nvPr/>
          </p:nvSpPr>
          <p:spPr bwMode="auto">
            <a:xfrm rot="10800000">
              <a:off x="6320" y="3550"/>
              <a:ext cx="647" cy="718"/>
            </a:xfrm>
            <a:custGeom>
              <a:avLst/>
              <a:gdLst>
                <a:gd name="T0" fmla="*/ 977 w 21600"/>
                <a:gd name="T1" fmla="*/ 818 h 21600"/>
                <a:gd name="T2" fmla="*/ 20622 w 21600"/>
                <a:gd name="T3" fmla="*/ 16429 h 21600"/>
              </a:gdLst>
              <a:ahLst/>
              <a:cxnLst>
                <a:cxn ang="0">
                  <a:pos x="10757" y="21632"/>
                </a:cxn>
                <a:cxn ang="0">
                  <a:pos x="5187" y="21632"/>
                </a:cxn>
                <a:cxn ang="0">
                  <a:pos x="85" y="17509"/>
                </a:cxn>
                <a:cxn ang="0">
                  <a:pos x="85" y="10849"/>
                </a:cxn>
                <a:cxn ang="0">
                  <a:pos x="85" y="81"/>
                </a:cxn>
                <a:cxn ang="0">
                  <a:pos x="10757" y="81"/>
                </a:cxn>
                <a:cxn ang="0">
                  <a:pos x="21706" y="81"/>
                </a:cxn>
                <a:cxn ang="0">
                  <a:pos x="21706" y="10652"/>
                </a:cxn>
                <a:cxn ang="0">
                  <a:pos x="21706" y="21632"/>
                </a:cxn>
                <a:cxn ang="0">
                  <a:pos x="10757" y="21632"/>
                </a:cxn>
                <a:cxn ang="0">
                  <a:pos x="85" y="17509"/>
                </a:cxn>
                <a:cxn ang="0">
                  <a:pos x="5187" y="17509"/>
                </a:cxn>
                <a:cxn ang="0">
                  <a:pos x="5187" y="21632"/>
                </a:cxn>
                <a:cxn ang="0">
                  <a:pos x="85" y="17509"/>
                </a:cxn>
              </a:cxnLst>
              <a:rect l="T0" t="T1" r="T2" b="T3"/>
              <a:pathLst>
                <a:path w="21600" h="21600">
                  <a:moveTo>
                    <a:pt x="10757" y="21632"/>
                  </a:moveTo>
                  <a:lnTo>
                    <a:pt x="5187" y="21632"/>
                  </a:lnTo>
                  <a:lnTo>
                    <a:pt x="85" y="17509"/>
                  </a:lnTo>
                  <a:lnTo>
                    <a:pt x="85" y="10849"/>
                  </a:lnTo>
                  <a:lnTo>
                    <a:pt x="85" y="81"/>
                  </a:lnTo>
                  <a:lnTo>
                    <a:pt x="10757" y="81"/>
                  </a:lnTo>
                  <a:lnTo>
                    <a:pt x="21706" y="81"/>
                  </a:lnTo>
                  <a:lnTo>
                    <a:pt x="21706" y="10652"/>
                  </a:lnTo>
                  <a:lnTo>
                    <a:pt x="21706" y="21632"/>
                  </a:lnTo>
                  <a:lnTo>
                    <a:pt x="10757" y="21632"/>
                  </a:lnTo>
                  <a:close/>
                </a:path>
                <a:path w="21600" h="21600">
                  <a:moveTo>
                    <a:pt x="85" y="17509"/>
                  </a:moveTo>
                  <a:lnTo>
                    <a:pt x="5187" y="17509"/>
                  </a:lnTo>
                  <a:lnTo>
                    <a:pt x="5187" y="21632"/>
                  </a:lnTo>
                  <a:lnTo>
                    <a:pt x="85" y="17509"/>
                  </a:lnTo>
                  <a:close/>
                </a:path>
              </a:pathLst>
            </a:custGeom>
            <a:solidFill>
              <a:srgbClr val="D8D8D8"/>
            </a:solidFill>
            <a:ln w="9525">
              <a:solidFill>
                <a:srgbClr val="000000"/>
              </a:solidFill>
              <a:round/>
              <a:headEnd/>
              <a:tailEnd/>
            </a:ln>
            <a:effectLst>
              <a:outerShdw dist="107763" dir="2700000" algn="ctr" rotWithShape="0">
                <a:srgbClr val="808080"/>
              </a:outerShdw>
            </a:effectLst>
          </p:spPr>
          <p:txBody>
            <a:bodyPr vert="horz" wrap="square" lIns="91440" tIns="45720" rIns="91440" bIns="45720" numCol="1" anchor="t" anchorCtr="0" compatLnSpc="1">
              <a:prstTxWarp prst="textNoShape">
                <a:avLst/>
              </a:prstTxWarp>
            </a:bodyPr>
            <a:lstStyle/>
            <a:p>
              <a:endParaRPr lang="zh-CN" altLang="en-US"/>
            </a:p>
          </p:txBody>
        </p:sp>
        <p:sp>
          <p:nvSpPr>
            <p:cNvPr id="117772" name="Quad Arrow 37"/>
            <p:cNvSpPr txBox="1">
              <a:spLocks noChangeArrowheads="1"/>
            </p:cNvSpPr>
            <p:nvPr/>
          </p:nvSpPr>
          <p:spPr bwMode="auto">
            <a:xfrm>
              <a:off x="6197" y="5175"/>
              <a:ext cx="1320" cy="76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a:t>
              </a: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数据、控制</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●流程图</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●数据结构图</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117771" name="Quad Arrow 38"/>
            <p:cNvSpPr txBox="1">
              <a:spLocks noChangeArrowheads="1"/>
            </p:cNvSpPr>
            <p:nvPr/>
          </p:nvSpPr>
          <p:spPr bwMode="auto">
            <a:xfrm>
              <a:off x="7930" y="5175"/>
              <a:ext cx="1288" cy="53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a:t>
              </a: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数据接口表</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●测试路径</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nvGrpSpPr>
            <p:cNvPr id="117768" name="组合 8908"/>
            <p:cNvGrpSpPr>
              <a:grpSpLocks/>
            </p:cNvGrpSpPr>
            <p:nvPr/>
          </p:nvGrpSpPr>
          <p:grpSpPr bwMode="auto">
            <a:xfrm>
              <a:off x="1343" y="4455"/>
              <a:ext cx="881" cy="769"/>
              <a:chOff x="1387" y="4503"/>
              <a:chExt cx="881" cy="769"/>
            </a:xfrm>
          </p:grpSpPr>
          <p:sp>
            <p:nvSpPr>
              <p:cNvPr id="117770" name="Flowchart: Document 24"/>
              <p:cNvSpPr>
                <a:spLocks noChangeArrowheads="1"/>
              </p:cNvSpPr>
              <p:nvPr/>
            </p:nvSpPr>
            <p:spPr bwMode="auto">
              <a:xfrm>
                <a:off x="1387" y="4503"/>
                <a:ext cx="881" cy="769"/>
              </a:xfrm>
              <a:prstGeom prst="flowChartMultidocument">
                <a:avLst/>
              </a:prstGeom>
              <a:solidFill>
                <a:srgbClr val="FFFFFF"/>
              </a:solidFill>
              <a:ln w="9525">
                <a:solidFill>
                  <a:srgbClr val="000000"/>
                </a:solidFill>
                <a:miter lim="200000"/>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17769" name="Quad Arrow 25"/>
              <p:cNvSpPr txBox="1">
                <a:spLocks noChangeArrowheads="1"/>
              </p:cNvSpPr>
              <p:nvPr/>
            </p:nvSpPr>
            <p:spPr bwMode="auto">
              <a:xfrm>
                <a:off x="1468" y="4783"/>
                <a:ext cx="588" cy="24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源代码</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grpSp>
          <p:nvGrpSpPr>
            <p:cNvPr id="117765" name="组合 8911"/>
            <p:cNvGrpSpPr>
              <a:grpSpLocks/>
            </p:cNvGrpSpPr>
            <p:nvPr/>
          </p:nvGrpSpPr>
          <p:grpSpPr bwMode="auto">
            <a:xfrm>
              <a:off x="2414" y="4423"/>
              <a:ext cx="1587" cy="600"/>
              <a:chOff x="2358" y="4575"/>
              <a:chExt cx="1587" cy="600"/>
            </a:xfrm>
          </p:grpSpPr>
          <p:sp>
            <p:nvSpPr>
              <p:cNvPr id="117767" name="Notched Right Arrow 27"/>
              <p:cNvSpPr>
                <a:spLocks noChangeArrowheads="1"/>
              </p:cNvSpPr>
              <p:nvPr/>
            </p:nvSpPr>
            <p:spPr bwMode="auto">
              <a:xfrm>
                <a:off x="2358" y="4575"/>
                <a:ext cx="1587" cy="600"/>
              </a:xfrm>
              <a:prstGeom prst="notchedRightArrow">
                <a:avLst>
                  <a:gd name="adj1" fmla="val 50000"/>
                  <a:gd name="adj2" fmla="val 66125"/>
                </a:avLst>
              </a:prstGeom>
              <a:solidFill>
                <a:srgbClr val="FFFFFF"/>
              </a:solidFill>
              <a:ln w="9525">
                <a:solidFill>
                  <a:srgbClr val="000000"/>
                </a:solidFill>
                <a:miter lim="200000"/>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17766" name="Quad Arrow 25"/>
              <p:cNvSpPr txBox="1">
                <a:spLocks noChangeArrowheads="1"/>
              </p:cNvSpPr>
              <p:nvPr/>
            </p:nvSpPr>
            <p:spPr bwMode="auto">
              <a:xfrm>
                <a:off x="2685" y="4758"/>
                <a:ext cx="741" cy="24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静态分析</a:t>
                </a:r>
                <a:endParaRPr kumimoji="0" lang="zh-CN"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sp>
          <p:nvSpPr>
            <p:cNvPr id="117764" name="Quad Arrow 25"/>
            <p:cNvSpPr txBox="1">
              <a:spLocks noChangeArrowheads="1"/>
            </p:cNvSpPr>
            <p:nvPr/>
          </p:nvSpPr>
          <p:spPr bwMode="auto">
            <a:xfrm>
              <a:off x="4361" y="4500"/>
              <a:ext cx="987" cy="267"/>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数据字典</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117763" name="Quad Arrow 25"/>
            <p:cNvSpPr txBox="1">
              <a:spLocks noChangeArrowheads="1"/>
            </p:cNvSpPr>
            <p:nvPr/>
          </p:nvSpPr>
          <p:spPr bwMode="auto">
            <a:xfrm>
              <a:off x="6131" y="4500"/>
              <a:ext cx="914" cy="29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E-R</a:t>
              </a:r>
              <a:r>
                <a:rPr kumimoji="0" lang="zh-CN" altLang="en-US"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a:t>
              </a:r>
              <a:endParaRPr kumimoji="0" lang="zh-CN" altLang="en-US"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117762" name="Quad Arrow 25"/>
            <p:cNvSpPr txBox="1">
              <a:spLocks noChangeArrowheads="1"/>
            </p:cNvSpPr>
            <p:nvPr/>
          </p:nvSpPr>
          <p:spPr bwMode="auto">
            <a:xfrm>
              <a:off x="7626" y="4500"/>
              <a:ext cx="1430" cy="28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模块、变量表</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grpSp>
    </p:spTree>
    <p:custDataLst>
      <p:tags r:id="rId1"/>
    </p:custDataLst>
  </p:cSld>
  <p:clrMapOvr>
    <a:masterClrMapping/>
  </p:clrMapOvr>
  <p:transition>
    <p:wheel spokes="3"/>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endParaRPr 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5.2.4 </a:t>
            </a:r>
            <a:r>
              <a:rPr lang="zh-CN" altLang="en-US" sz="2400" dirty="0">
                <a:solidFill>
                  <a:schemeClr val="tx1"/>
                </a:solidFill>
              </a:rPr>
              <a:t>软件逆向工程</a:t>
            </a:r>
          </a:p>
        </p:txBody>
      </p:sp>
      <p:grpSp>
        <p:nvGrpSpPr>
          <p:cNvPr id="3" name="组合 2"/>
          <p:cNvGrpSpPr/>
          <p:nvPr/>
        </p:nvGrpSpPr>
        <p:grpSpPr>
          <a:xfrm>
            <a:off x="809494" y="2420000"/>
            <a:ext cx="10473690" cy="1565910"/>
            <a:chOff x="1630" y="5726"/>
            <a:chExt cx="16494" cy="2466"/>
          </a:xfrm>
        </p:grpSpPr>
        <p:cxnSp>
          <p:nvCxnSpPr>
            <p:cNvPr id="4"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7" name="MH_SubTitle_1"/>
            <p:cNvSpPr txBox="1">
              <a:spLocks noChangeArrowheads="1"/>
            </p:cNvSpPr>
            <p:nvPr/>
          </p:nvSpPr>
          <p:spPr bwMode="auto">
            <a:xfrm>
              <a:off x="3283" y="5726"/>
              <a:ext cx="14841" cy="2466"/>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分析通过信息交换所得的观察</a:t>
              </a:r>
            </a:p>
            <a:p>
              <a:pPr indent="457200" fontAlgn="auto">
                <a:lnSpc>
                  <a:spcPct val="120000"/>
                </a:lnSpc>
              </a:pPr>
              <a:r>
                <a:rPr dirty="0"/>
                <a:t>最常用于协议逆向工程，涉及使用总线分析器和数据包嗅探器。在接入计算机总线或网络的连接，并成功截取到通信数据后，可以对总线或网络行为进行分析，以制造出拥有相同行为的通信实现。此法特别适用于设备驱动程序的逆向工程。</a:t>
              </a:r>
            </a:p>
          </p:txBody>
        </p:sp>
        <p:sp>
          <p:nvSpPr>
            <p:cNvPr id="8"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Times New Roman" panose="02020603050405020304" pitchFamily="18" charset="0"/>
                  <a:ea typeface="微软雅黑" panose="020B0503020204020204" charset="-122"/>
                </a:rPr>
                <a:t>1</a:t>
              </a:r>
            </a:p>
          </p:txBody>
        </p:sp>
      </p:grpSp>
      <p:grpSp>
        <p:nvGrpSpPr>
          <p:cNvPr id="9" name="组合 8"/>
          <p:cNvGrpSpPr/>
          <p:nvPr/>
        </p:nvGrpSpPr>
        <p:grpSpPr>
          <a:xfrm>
            <a:off x="809494" y="3726598"/>
            <a:ext cx="10449560" cy="1632585"/>
            <a:chOff x="1630" y="5726"/>
            <a:chExt cx="16456" cy="2571"/>
          </a:xfrm>
        </p:grpSpPr>
        <p:cxnSp>
          <p:nvCxnSpPr>
            <p:cNvPr id="10"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1"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2" name="MH_SubTitle_1"/>
            <p:cNvSpPr txBox="1">
              <a:spLocks noChangeArrowheads="1"/>
            </p:cNvSpPr>
            <p:nvPr/>
          </p:nvSpPr>
          <p:spPr bwMode="auto">
            <a:xfrm>
              <a:off x="3474" y="5988"/>
              <a:ext cx="14612"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反汇编</a:t>
              </a:r>
            </a:p>
            <a:p>
              <a:pPr indent="457200" fontAlgn="auto">
                <a:lnSpc>
                  <a:spcPct val="120000"/>
                </a:lnSpc>
              </a:pPr>
              <a:r>
                <a:rPr dirty="0"/>
                <a:t>使用反汇编器把程序的原始机器码翻译成较便于阅读理解的汇编代码。这适用于任何的计算机程序，对不熟悉机器码的人特别有用。流行的相关工具有OllyDebug和IDA。</a:t>
              </a:r>
            </a:p>
          </p:txBody>
        </p:sp>
        <p:sp>
          <p:nvSpPr>
            <p:cNvPr id="13"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Times New Roman" panose="02020603050405020304" pitchFamily="18" charset="0"/>
                  <a:ea typeface="微软雅黑" panose="020B0503020204020204" charset="-122"/>
                </a:rPr>
                <a:t>2</a:t>
              </a:r>
            </a:p>
          </p:txBody>
        </p:sp>
      </p:grpSp>
      <p:grpSp>
        <p:nvGrpSpPr>
          <p:cNvPr id="14" name="组合 13"/>
          <p:cNvGrpSpPr/>
          <p:nvPr/>
        </p:nvGrpSpPr>
        <p:grpSpPr>
          <a:xfrm>
            <a:off x="859024" y="5083951"/>
            <a:ext cx="10473690" cy="1466215"/>
            <a:chOff x="1630" y="5726"/>
            <a:chExt cx="16494" cy="2309"/>
          </a:xfrm>
        </p:grpSpPr>
        <p:cxnSp>
          <p:nvCxnSpPr>
            <p:cNvPr id="15"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6"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7" name="MH_SubTitle_1"/>
            <p:cNvSpPr txBox="1">
              <a:spLocks noChangeArrowheads="1"/>
            </p:cNvSpPr>
            <p:nvPr/>
          </p:nvSpPr>
          <p:spPr bwMode="auto">
            <a:xfrm>
              <a:off x="3496" y="5726"/>
              <a:ext cx="14628"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反编译</a:t>
              </a:r>
            </a:p>
            <a:p>
              <a:pPr indent="457200" fontAlgn="auto">
                <a:lnSpc>
                  <a:spcPct val="120000"/>
                </a:lnSpc>
              </a:pPr>
              <a:r>
                <a:rPr dirty="0"/>
                <a:t>使用反编译器尝试从程序的机器码或字节码中重现高级语言形式的源代码。</a:t>
              </a:r>
            </a:p>
          </p:txBody>
        </p:sp>
        <p:sp>
          <p:nvSpPr>
            <p:cNvPr id="18"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Times New Roman" panose="02020603050405020304" pitchFamily="18" charset="0"/>
                  <a:ea typeface="微软雅黑" panose="020B0503020204020204" charset="-122"/>
                </a:rPr>
                <a:t>3</a:t>
              </a:r>
            </a:p>
          </p:txBody>
        </p:sp>
      </p:grpSp>
      <p:sp>
        <p:nvSpPr>
          <p:cNvPr id="22" name="矩形 7"/>
          <p:cNvSpPr>
            <a:spLocks noChangeArrowheads="1"/>
          </p:cNvSpPr>
          <p:nvPr/>
        </p:nvSpPr>
        <p:spPr bwMode="auto">
          <a:xfrm>
            <a:off x="838978" y="2090768"/>
            <a:ext cx="718589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latin typeface="微软雅黑" panose="020B0503020204020204" charset="-122"/>
                <a:ea typeface="微软雅黑" panose="020B0503020204020204" charset="-122"/>
              </a:rPr>
              <a:t>软件逆向工程的实现方法很多，主要有以下</a:t>
            </a:r>
            <a:r>
              <a:rPr lang="en-US" altLang="en-US" b="1" dirty="0">
                <a:latin typeface="微软雅黑" panose="020B0503020204020204" charset="-122"/>
                <a:ea typeface="微软雅黑" panose="020B0503020204020204" charset="-122"/>
              </a:rPr>
              <a:t>3</a:t>
            </a:r>
            <a:r>
              <a:rPr lang="zh-CN" altLang="en-US" b="1" dirty="0">
                <a:latin typeface="微软雅黑" panose="020B0503020204020204" charset="-122"/>
                <a:ea typeface="微软雅黑" panose="020B0503020204020204" charset="-122"/>
              </a:rPr>
              <a:t>种。</a:t>
            </a:r>
          </a:p>
        </p:txBody>
      </p:sp>
    </p:spTree>
    <p:custDataLst>
      <p:tags r:id="rId1"/>
    </p:custDataLst>
  </p:cSld>
  <p:clrMapOvr>
    <a:masterClrMapping/>
  </p:clrMapOvr>
  <p:transition>
    <p:wheel spokes="3"/>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0" y="2428240"/>
            <a:ext cx="12192000" cy="3074035"/>
            <a:chOff x="0" y="3848"/>
            <a:chExt cx="19200" cy="4841"/>
          </a:xfrm>
        </p:grpSpPr>
        <p:sp>
          <p:nvSpPr>
            <p:cNvPr id="10" name="矩形 9"/>
            <p:cNvSpPr/>
            <p:nvPr/>
          </p:nvSpPr>
          <p:spPr>
            <a:xfrm>
              <a:off x="0" y="3848"/>
              <a:ext cx="19200" cy="4841"/>
            </a:xfrm>
            <a:prstGeom prst="rect">
              <a:avLst/>
            </a:prstGeom>
            <a:solidFill>
              <a:srgbClr val="008080"/>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804" y="4252"/>
              <a:ext cx="9389" cy="4032"/>
            </a:xfrm>
            <a:prstGeom prst="rect">
              <a:avLst/>
            </a:prstGeom>
          </p:spPr>
          <p:txBody>
            <a:bodyPr wrap="square">
              <a:spAutoFit/>
            </a:bodyPr>
            <a:lstStyle/>
            <a:p>
              <a:pPr indent="457200">
                <a:lnSpc>
                  <a:spcPct val="150000"/>
                </a:lnSpc>
                <a:defRPr/>
              </a:pP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随着计算机技术在各个领域的广泛应用，特别是软件开发技术的迅猛发展，基于某个软件，以反汇编阅读源码的方式去推断其数据结构、体系结构和程序设计信息，成为软件逆向工程技术关注的主要对象。目前主流应用的四大逆向工程软件为：Imageware </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Surfacer，Geomagic</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 </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Studio，CopyCAD，RapidForm</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a:t>
              </a:r>
            </a:p>
          </p:txBody>
        </p:sp>
      </p:grpSp>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en-US" dirty="0" err="1">
                <a:sym typeface="+mn-ea"/>
              </a:rPr>
              <a:t>软件重用和再工程</a:t>
            </a:r>
            <a:endParaRPr lang="en-US" dirty="0">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5.2.4 </a:t>
            </a:r>
            <a:r>
              <a:rPr lang="zh-CN" altLang="en-US" sz="2400" dirty="0">
                <a:solidFill>
                  <a:schemeClr val="tx1"/>
                </a:solidFill>
              </a:rPr>
              <a:t>软件逆向工程</a:t>
            </a:r>
          </a:p>
        </p:txBody>
      </p:sp>
      <p:pic>
        <p:nvPicPr>
          <p:cNvPr id="8" name="图片 7" descr="A000220150321G02PPIC.png"/>
          <p:cNvPicPr>
            <a:picLocks noChangeAspect="1"/>
          </p:cNvPicPr>
          <p:nvPr/>
        </p:nvPicPr>
        <p:blipFill>
          <a:blip r:embed="rId4" cstate="print"/>
          <a:stretch>
            <a:fillRect/>
          </a:stretch>
        </p:blipFill>
        <p:spPr>
          <a:xfrm>
            <a:off x="6472183" y="961697"/>
            <a:ext cx="5719817" cy="2472077"/>
          </a:xfrm>
          <a:prstGeom prst="rect">
            <a:avLst/>
          </a:prstGeom>
        </p:spPr>
      </p:pic>
      <p:sp>
        <p:nvSpPr>
          <p:cNvPr id="3" name="矩形 2"/>
          <p:cNvSpPr/>
          <p:nvPr/>
        </p:nvSpPr>
        <p:spPr>
          <a:xfrm>
            <a:off x="6656070" y="3261995"/>
            <a:ext cx="5351780" cy="2148840"/>
          </a:xfrm>
          <a:prstGeom prst="rect">
            <a:avLst/>
          </a:prstGeom>
        </p:spPr>
        <p:txBody>
          <a:bodyPr wrap="square">
            <a:spAutoFit/>
          </a:bodyPr>
          <a:lstStyle/>
          <a:p>
            <a:pPr indent="457200">
              <a:lnSpc>
                <a:spcPct val="150000"/>
              </a:lnSpc>
              <a:defRPr/>
            </a:pP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软件逆向技术的目的是用来研究和学习先进的技术，特别是当手里没有合适的文档资料，又很需要实现某个软件功能的时候。也正因为这样，很多软件为了垄断技术，在软件安装之前，要求用户同意不去逆向研究。</a:t>
            </a:r>
          </a:p>
        </p:txBody>
      </p:sp>
    </p:spTree>
    <p:custDataLst>
      <p:tags r:id="rId1"/>
    </p:custDataLst>
  </p:cSld>
  <p:clrMapOvr>
    <a:masterClrMapping/>
  </p:clrMapOvr>
  <p:transition>
    <p:wheel spokes="2"/>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en-US" dirty="0" err="1">
                <a:sym typeface="+mn-ea"/>
              </a:rPr>
              <a:t>软件重用和再工程</a:t>
            </a:r>
            <a:endParaRPr lang="en-US" dirty="0">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5.2.5 </a:t>
            </a:r>
            <a:r>
              <a:rPr lang="zh-CN" altLang="en-US" sz="2400" dirty="0">
                <a:solidFill>
                  <a:schemeClr val="tx1"/>
                </a:solidFill>
              </a:rPr>
              <a:t>软件再工程</a:t>
            </a:r>
          </a:p>
        </p:txBody>
      </p:sp>
      <p:grpSp>
        <p:nvGrpSpPr>
          <p:cNvPr id="4" name="组合 3"/>
          <p:cNvGrpSpPr/>
          <p:nvPr/>
        </p:nvGrpSpPr>
        <p:grpSpPr>
          <a:xfrm>
            <a:off x="0" y="2428240"/>
            <a:ext cx="12192000" cy="3074035"/>
            <a:chOff x="0" y="3848"/>
            <a:chExt cx="19200" cy="4841"/>
          </a:xfrm>
        </p:grpSpPr>
        <p:sp>
          <p:nvSpPr>
            <p:cNvPr id="10" name="矩形 9"/>
            <p:cNvSpPr/>
            <p:nvPr/>
          </p:nvSpPr>
          <p:spPr>
            <a:xfrm>
              <a:off x="0" y="3848"/>
              <a:ext cx="19200" cy="4841"/>
            </a:xfrm>
            <a:prstGeom prst="rect">
              <a:avLst/>
            </a:prstGeom>
            <a:solidFill>
              <a:srgbClr val="008080"/>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275" y="4228"/>
              <a:ext cx="9628" cy="4032"/>
            </a:xfrm>
            <a:prstGeom prst="rect">
              <a:avLst/>
            </a:prstGeom>
          </p:spPr>
          <p:txBody>
            <a:bodyPr wrap="square">
              <a:spAutoFit/>
            </a:bodyPr>
            <a:lstStyle/>
            <a:p>
              <a:pPr indent="457200">
                <a:lnSpc>
                  <a:spcPct val="150000"/>
                </a:lnSpc>
                <a:defRPr/>
              </a:pP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软件再工程（Reengineering）是软件逆向工程的扩充。软件逆向工程提取需要的信息后，软件再工程基于对原系统的理解和转换，在不变更整个系统功能的前提下，生产新的软件源代码。软件工程的再工程是以软件工程方法学为指导，对既有对象系统进行调查，并将其重构为新形式代码的开发过程。</a:t>
              </a:r>
            </a:p>
          </p:txBody>
        </p:sp>
      </p:grpSp>
      <p:pic>
        <p:nvPicPr>
          <p:cNvPr id="160769" name="Picture 1"/>
          <p:cNvPicPr>
            <a:picLocks noChangeAspect="1" noChangeArrowheads="1"/>
          </p:cNvPicPr>
          <p:nvPr/>
        </p:nvPicPr>
        <p:blipFill>
          <a:blip r:embed="rId4" cstate="print"/>
          <a:srcRect/>
          <a:stretch>
            <a:fillRect/>
          </a:stretch>
        </p:blipFill>
        <p:spPr bwMode="auto">
          <a:xfrm>
            <a:off x="7341870" y="2669540"/>
            <a:ext cx="4294505" cy="2559685"/>
          </a:xfrm>
          <a:prstGeom prst="ellipse">
            <a:avLst/>
          </a:prstGeom>
          <a:noFill/>
          <a:ln w="9525">
            <a:noFill/>
            <a:miter lim="800000"/>
            <a:headEnd/>
            <a:tailEnd/>
          </a:ln>
          <a:effectLst/>
        </p:spPr>
      </p:pic>
    </p:spTree>
    <p:custDataLst>
      <p:tags r:id="rId1"/>
    </p:custDataLst>
  </p:cSld>
  <p:clrMapOvr>
    <a:masterClrMapping/>
  </p:clrMapOvr>
  <p:transition>
    <p:wheel spokes="2"/>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en-US" dirty="0" err="1">
                <a:sym typeface="+mn-ea"/>
              </a:rPr>
              <a:t>软件重用和再工程</a:t>
            </a:r>
            <a:endParaRPr lang="en-US" dirty="0">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5.2.5 </a:t>
            </a:r>
            <a:r>
              <a:rPr lang="zh-CN" altLang="en-US" sz="2400" dirty="0">
                <a:solidFill>
                  <a:schemeClr val="tx1"/>
                </a:solidFill>
              </a:rPr>
              <a:t>软件再工程</a:t>
            </a:r>
          </a:p>
        </p:txBody>
      </p:sp>
      <p:grpSp>
        <p:nvGrpSpPr>
          <p:cNvPr id="4" name="组合 3"/>
          <p:cNvGrpSpPr/>
          <p:nvPr/>
        </p:nvGrpSpPr>
        <p:grpSpPr>
          <a:xfrm>
            <a:off x="0" y="2042160"/>
            <a:ext cx="12192000" cy="3831590"/>
            <a:chOff x="0" y="3240"/>
            <a:chExt cx="19200" cy="6034"/>
          </a:xfrm>
        </p:grpSpPr>
        <p:sp>
          <p:nvSpPr>
            <p:cNvPr id="10" name="矩形 9"/>
            <p:cNvSpPr/>
            <p:nvPr/>
          </p:nvSpPr>
          <p:spPr>
            <a:xfrm>
              <a:off x="0" y="3317"/>
              <a:ext cx="19200" cy="5803"/>
            </a:xfrm>
            <a:prstGeom prst="rect">
              <a:avLst/>
            </a:prstGeom>
            <a:solidFill>
              <a:srgbClr val="008080"/>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5768" y="3240"/>
              <a:ext cx="12834" cy="6034"/>
            </a:xfrm>
            <a:prstGeom prst="rect">
              <a:avLst/>
            </a:prstGeom>
          </p:spPr>
          <p:txBody>
            <a:bodyPr wrap="square">
              <a:spAutoFit/>
            </a:bodyPr>
            <a:lstStyle/>
            <a:p>
              <a:pPr indent="457200">
                <a:lnSpc>
                  <a:spcPct val="150000"/>
                </a:lnSpc>
                <a:defRPr/>
              </a:pP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软件再工程的成本取决于重做工程的难度</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源代码转换最便宜，程序结构重构次之，接下来是程序和数据重构，而体系结构迁移成本最高</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尽管如此，软件再工程与重新开发软件相比，成本和风险还是更小一些，原因是开发软件的起点不同</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在软件再工程的各个阶段，软件的可重用程度都将决定着软件再工程的工作量</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a:t>
              </a:r>
            </a:p>
            <a:p>
              <a:pPr indent="457200">
                <a:lnSpc>
                  <a:spcPct val="150000"/>
                </a:lnSpc>
                <a:defRPr/>
              </a:pP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由于软件规模庞大，种类很多，因此不是每个软件都需要进行再工程</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大多数情况下，那些决定要移植、或要重新设计、或为复用而需验证其正确性的程序才被选择实施再工程</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a:solidFill>
                    <a:schemeClr val="bg1"/>
                  </a:solidFill>
                  <a:latin typeface="微软雅黑" panose="020B0503020204020204" charset="-122"/>
                  <a:ea typeface="微软雅黑" panose="020B0503020204020204" charset="-122"/>
                  <a:cs typeface="宋体" panose="02010600030101010101" pitchFamily="2" charset="-122"/>
                </a:rPr>
                <a:t>目前再工程最成功的例子是人们理解深刻、相对稳定的一些领域，如信息系统等</a:t>
              </a:r>
              <a:r>
                <a:rPr lang="en-US" altLang="zh-CN" kern="0" dirty="0">
                  <a:solidFill>
                    <a:schemeClr val="bg1"/>
                  </a:solidFill>
                  <a:latin typeface="微软雅黑" panose="020B0503020204020204" charset="-122"/>
                  <a:ea typeface="微软雅黑" panose="020B0503020204020204" charset="-122"/>
                  <a:cs typeface="宋体" panose="02010600030101010101" pitchFamily="2" charset="-122"/>
                </a:rPr>
                <a:t>。</a:t>
              </a:r>
            </a:p>
          </p:txBody>
        </p:sp>
      </p:grpSp>
      <p:pic>
        <p:nvPicPr>
          <p:cNvPr id="5" name="图片 4" descr="timg (2)"/>
          <p:cNvPicPr>
            <a:picLocks noChangeAspect="1"/>
          </p:cNvPicPr>
          <p:nvPr/>
        </p:nvPicPr>
        <p:blipFill>
          <a:blip r:embed="rId4" cstate="print"/>
          <a:stretch>
            <a:fillRect/>
          </a:stretch>
        </p:blipFill>
        <p:spPr>
          <a:xfrm>
            <a:off x="0" y="2091055"/>
            <a:ext cx="3465830" cy="3685540"/>
          </a:xfrm>
          <a:prstGeom prst="rect">
            <a:avLst/>
          </a:prstGeom>
        </p:spPr>
      </p:pic>
    </p:spTree>
    <p:custDataLst>
      <p:tags r:id="rId1"/>
    </p:custDataLst>
  </p:cSld>
  <p:clrMapOvr>
    <a:masterClrMapping/>
  </p:clrMapOvr>
  <p:transition>
    <p:wheel spokes="2"/>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5.2.5 </a:t>
            </a:r>
            <a:r>
              <a:rPr lang="zh-CN" altLang="en-US" sz="2400" dirty="0">
                <a:solidFill>
                  <a:schemeClr val="tx1"/>
                </a:solidFill>
              </a:rPr>
              <a:t>软件再工程</a:t>
            </a:r>
          </a:p>
        </p:txBody>
      </p:sp>
      <p:grpSp>
        <p:nvGrpSpPr>
          <p:cNvPr id="15" name="组合 14"/>
          <p:cNvGrpSpPr/>
          <p:nvPr/>
        </p:nvGrpSpPr>
        <p:grpSpPr>
          <a:xfrm>
            <a:off x="754380" y="1741170"/>
            <a:ext cx="11437620" cy="4107180"/>
            <a:chOff x="1188" y="2742"/>
            <a:chExt cx="18012" cy="6468"/>
          </a:xfrm>
        </p:grpSpPr>
        <p:grpSp>
          <p:nvGrpSpPr>
            <p:cNvPr id="16" name="组合 15"/>
            <p:cNvGrpSpPr/>
            <p:nvPr/>
          </p:nvGrpSpPr>
          <p:grpSpPr>
            <a:xfrm flipH="1">
              <a:off x="11305" y="2742"/>
              <a:ext cx="7895" cy="1533"/>
              <a:chOff x="1" y="3428100"/>
              <a:chExt cx="5013433" cy="973302"/>
            </a:xfrm>
          </p:grpSpPr>
          <p:sp>
            <p:nvSpPr>
              <p:cNvPr id="19" name="MH_SubTitle_2"/>
              <p:cNvSpPr/>
              <p:nvPr>
                <p:custDataLst>
                  <p:tags r:id="rId3"/>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再分析阶段</a:t>
                </a:r>
              </a:p>
            </p:txBody>
          </p:sp>
          <p:sp>
            <p:nvSpPr>
              <p:cNvPr id="20"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2"/>
              </p:custDataLst>
            </p:nvPr>
          </p:nvSpPr>
          <p:spPr>
            <a:xfrm>
              <a:off x="1188" y="3625"/>
              <a:ext cx="9795" cy="558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再分析阶段的主要任务是对既存系统的规模、体系结构、外部功能、内部算法、复杂度等进行调查分析。这一阶段早期分析的最直接目的就是调查和预测再工程涉及的范围。重用是软件工程经济学最重要的原则之一，重用得越多，再工程成本越低。所以，再分析阶段最重要的目的是寻找可重用的对象和重用策略，最终确定的再工程任务和工作量也将依存于可重用对象范围和重用策略。再工程分析者最终提出的重用范围和重用策略将成为决定再工程成败以及再工程产品系统可维护性高低的关键因素。</a:t>
              </a:r>
            </a:p>
          </p:txBody>
        </p:sp>
      </p:grpSp>
      <p:pic>
        <p:nvPicPr>
          <p:cNvPr id="24" name="图片 23" descr="474ffc7bc8a9e8770776b7c07f58d0fdad576b94.png"/>
          <p:cNvPicPr>
            <a:picLocks noChangeAspect="1"/>
          </p:cNvPicPr>
          <p:nvPr/>
        </p:nvPicPr>
        <p:blipFill>
          <a:blip r:embed="rId8" cstate="print"/>
          <a:stretch>
            <a:fillRect/>
          </a:stretch>
        </p:blipFill>
        <p:spPr>
          <a:xfrm>
            <a:off x="8392160" y="2792095"/>
            <a:ext cx="2443480" cy="3056255"/>
          </a:xfrm>
          <a:prstGeom prst="rect">
            <a:avLst/>
          </a:prstGeom>
        </p:spPr>
      </p:pic>
    </p:spTree>
    <p:custDataLst>
      <p:tags r:id="rId1"/>
    </p:custDataLst>
  </p:cSld>
  <p:clrMapOvr>
    <a:masterClrMapping/>
  </p:clrMapOvr>
  <p:transition>
    <p:wheel spokes="1"/>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5.2.5 </a:t>
            </a:r>
            <a:r>
              <a:rPr lang="zh-CN" altLang="en-US" sz="2400" dirty="0">
                <a:solidFill>
                  <a:schemeClr val="tx1"/>
                </a:solidFill>
              </a:rPr>
              <a:t>软件再工程</a:t>
            </a:r>
          </a:p>
        </p:txBody>
      </p:sp>
      <p:grpSp>
        <p:nvGrpSpPr>
          <p:cNvPr id="15" name="组合 14"/>
          <p:cNvGrpSpPr/>
          <p:nvPr/>
        </p:nvGrpSpPr>
        <p:grpSpPr>
          <a:xfrm>
            <a:off x="672465" y="1741170"/>
            <a:ext cx="11519535" cy="4154805"/>
            <a:chOff x="1059" y="2742"/>
            <a:chExt cx="18141" cy="6543"/>
          </a:xfrm>
        </p:grpSpPr>
        <p:grpSp>
          <p:nvGrpSpPr>
            <p:cNvPr id="16" name="组合 15"/>
            <p:cNvGrpSpPr/>
            <p:nvPr/>
          </p:nvGrpSpPr>
          <p:grpSpPr>
            <a:xfrm flipH="1">
              <a:off x="11305" y="2742"/>
              <a:ext cx="7895" cy="1533"/>
              <a:chOff x="1" y="3428100"/>
              <a:chExt cx="5013433" cy="973302"/>
            </a:xfrm>
          </p:grpSpPr>
          <p:sp>
            <p:nvSpPr>
              <p:cNvPr id="19" name="MH_SubTitle_2"/>
              <p:cNvSpPr/>
              <p:nvPr>
                <p:custDataLst>
                  <p:tags r:id="rId3"/>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再编码阶段</a:t>
                </a:r>
              </a:p>
            </p:txBody>
          </p:sp>
          <p:sp>
            <p:nvSpPr>
              <p:cNvPr id="20"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2"/>
              </p:custDataLst>
            </p:nvPr>
          </p:nvSpPr>
          <p:spPr>
            <a:xfrm>
              <a:off x="1059" y="3374"/>
              <a:ext cx="9645" cy="5911"/>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根据再分析阶段做成的再工程设计书，再编码阶段将在系统整体再分析的基础上对代码做进一步分析。如果说再分析阶段的产品是再工程的基本设计书，那么再编码阶段就要产生类似详细设计书的编码设计书。不过注意到再工程是个整体，无法将再分析、再设计、再编码截然分开，因此瀑布模型更不适应再工程。</a:t>
              </a:r>
            </a:p>
          </p:txBody>
        </p:sp>
      </p:grpSp>
      <p:pic>
        <p:nvPicPr>
          <p:cNvPr id="11" name="图片 10" descr="0_1326776093VBOq.gif"/>
          <p:cNvPicPr>
            <a:picLocks noChangeAspect="1"/>
          </p:cNvPicPr>
          <p:nvPr/>
        </p:nvPicPr>
        <p:blipFill>
          <a:blip r:embed="rId8" cstate="print">
            <a:clrChange>
              <a:clrFrom>
                <a:srgbClr val="FAFAFA"/>
              </a:clrFrom>
              <a:clrTo>
                <a:srgbClr val="FAFAFA">
                  <a:alpha val="0"/>
                </a:srgbClr>
              </a:clrTo>
            </a:clrChange>
          </a:blip>
          <a:srcRect l="2716"/>
          <a:stretch>
            <a:fillRect/>
          </a:stretch>
        </p:blipFill>
        <p:spPr>
          <a:xfrm>
            <a:off x="7705725" y="3048635"/>
            <a:ext cx="3983355" cy="2863215"/>
          </a:xfrm>
          <a:prstGeom prst="rect">
            <a:avLst/>
          </a:prstGeom>
        </p:spPr>
      </p:pic>
    </p:spTree>
    <p:custDataLst>
      <p:tags r:id="rId1"/>
    </p:custDataLst>
  </p:cSld>
  <p:clrMapOvr>
    <a:masterClrMapping/>
  </p:clrMapOvr>
  <p:transition>
    <p:wheel spokes="1"/>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5.2.5 </a:t>
            </a:r>
            <a:r>
              <a:rPr lang="zh-CN" altLang="en-US" sz="2400" dirty="0">
                <a:solidFill>
                  <a:schemeClr val="tx1"/>
                </a:solidFill>
              </a:rPr>
              <a:t>软件再工程</a:t>
            </a:r>
          </a:p>
        </p:txBody>
      </p:sp>
      <p:grpSp>
        <p:nvGrpSpPr>
          <p:cNvPr id="15" name="组合 14"/>
          <p:cNvGrpSpPr/>
          <p:nvPr/>
        </p:nvGrpSpPr>
        <p:grpSpPr>
          <a:xfrm>
            <a:off x="754380" y="1741170"/>
            <a:ext cx="11437620" cy="4222750"/>
            <a:chOff x="1188" y="2742"/>
            <a:chExt cx="18012" cy="6650"/>
          </a:xfrm>
        </p:grpSpPr>
        <p:grpSp>
          <p:nvGrpSpPr>
            <p:cNvPr id="16" name="组合 15"/>
            <p:cNvGrpSpPr/>
            <p:nvPr/>
          </p:nvGrpSpPr>
          <p:grpSpPr>
            <a:xfrm flipH="1">
              <a:off x="11305" y="2742"/>
              <a:ext cx="7895" cy="1533"/>
              <a:chOff x="1" y="3428100"/>
              <a:chExt cx="5013433" cy="973302"/>
            </a:xfrm>
          </p:grpSpPr>
          <p:sp>
            <p:nvSpPr>
              <p:cNvPr id="19" name="MH_SubTitle_2"/>
              <p:cNvSpPr/>
              <p:nvPr>
                <p:custDataLst>
                  <p:tags r:id="rId3"/>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再测试阶段</a:t>
                </a:r>
              </a:p>
            </p:txBody>
          </p:sp>
          <p:sp>
            <p:nvSpPr>
              <p:cNvPr id="20"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03</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2"/>
              </p:custDataLst>
            </p:nvPr>
          </p:nvSpPr>
          <p:spPr>
            <a:xfrm>
              <a:off x="1188" y="3625"/>
              <a:ext cx="9645" cy="5767"/>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一般来说，再测试是再工程过程中工作量最大的一项工作。如果能够重用原有的测试用例及运行结果，将能大大降低再工程成本。对于可重用的部分，特别是可重用的局部系统，还可以免除测试，这也正是重用技术被再工程高度评价的关键原因之一。当然，再工程后的系统总有变动和增加的部分，对受其影响的整个范围都要毫无遗漏地进行测试。</a:t>
              </a:r>
            </a:p>
          </p:txBody>
        </p:sp>
      </p:grpSp>
      <p:pic>
        <p:nvPicPr>
          <p:cNvPr id="7" name="图片 6" descr="20150912095423385.jpg"/>
          <p:cNvPicPr>
            <a:picLocks noChangeAspect="1"/>
          </p:cNvPicPr>
          <p:nvPr/>
        </p:nvPicPr>
        <p:blipFill>
          <a:blip r:embed="rId8" cstate="print"/>
          <a:stretch>
            <a:fillRect/>
          </a:stretch>
        </p:blipFill>
        <p:spPr>
          <a:xfrm>
            <a:off x="7610475" y="2908300"/>
            <a:ext cx="4147820" cy="2544445"/>
          </a:xfrm>
          <a:prstGeom prst="rect">
            <a:avLst/>
          </a:prstGeom>
        </p:spPr>
      </p:pic>
    </p:spTree>
    <p:custDataLst>
      <p:tags r:id="rId1"/>
    </p:custDataLst>
  </p:cSld>
  <p:clrMapOvr>
    <a:masterClrMapping/>
  </p:clrMapOvr>
  <p:transition>
    <p:wheel spokes="1"/>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200" y="360000"/>
            <a:ext cx="10515600" cy="535531"/>
          </a:xfrm>
        </p:spPr>
        <p:txBody>
          <a:bodyPr/>
          <a:lstStyle/>
          <a:p>
            <a:r>
              <a:rPr lang="zh-CN" altLang="en-US"/>
              <a:t>本章小结</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100" name="文本框 99"/>
          <p:cNvSpPr txBox="1"/>
          <p:nvPr/>
        </p:nvSpPr>
        <p:spPr>
          <a:xfrm>
            <a:off x="1579244" y="2131060"/>
            <a:ext cx="9953113" cy="3693319"/>
          </a:xfrm>
          <a:prstGeom prst="rect">
            <a:avLst/>
          </a:prstGeom>
          <a:noFill/>
          <a:ln w="9525">
            <a:noFill/>
          </a:ln>
        </p:spPr>
        <p:txBody>
          <a:bodyPr wrap="square">
            <a:spAutoFit/>
          </a:bodyPr>
          <a:lstStyle/>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软件维护就是在软件产品交付之后对其进行修改，以排除故障，或改进性能和其他属性，或使产品适应改变了的环境。</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软件维护分为4种，即改正性维护、适应性维护、完善性维护、预防性维护。</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软件可维护性是指软件功能被理解、改正、适应和增强的难易程度，是维护人员对软件进行维护的难易程度。</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可维护性是指导软件工程各阶段的一条基本原则，提高可维护性是软件工程追求的目标之一。</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在软件开发时明确质量目标、考虑软件的维护问题是必需的、重要的。在软件开发阶段提供完整的、一致的文档，采用先进的软件开发方法和软件开发工具是提高软件可维护性的关键。</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在软件维护时，目前常采用软件重用技术、逆向工程和再工程。</a:t>
            </a:r>
          </a:p>
          <a:p>
            <a:pPr marL="0" indent="0" algn="l" fontAlgn="auto">
              <a:lnSpc>
                <a:spcPct val="130000"/>
              </a:lnSpc>
            </a:pPr>
            <a:endParaRPr dirty="0">
              <a:latin typeface="微软雅黑" panose="020B0503020204020204" charset="-122"/>
              <a:ea typeface="微软雅黑" panose="020B0503020204020204" charset="-122"/>
              <a:sym typeface="+mn-ea"/>
            </a:endParaRPr>
          </a:p>
        </p:txBody>
      </p:sp>
      <p:sp>
        <p:nvSpPr>
          <p:cNvPr id="7" name="文本框 6"/>
          <p:cNvSpPr txBox="1"/>
          <p:nvPr/>
        </p:nvSpPr>
        <p:spPr>
          <a:xfrm>
            <a:off x="754380" y="319024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newsflash/>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randomBar dir="vert"/>
  </p:transition>
</p:sld>
</file>

<file path=ppt/tags/tag1.xml><?xml version="1.0" encoding="utf-8"?>
<p:tagLst xmlns:a="http://schemas.openxmlformats.org/drawingml/2006/main" xmlns:r="http://schemas.openxmlformats.org/officeDocument/2006/relationships" xmlns:p="http://schemas.openxmlformats.org/presentationml/2006/main">
  <p:tag name="MH" val="20150911154116"/>
  <p:tag name="MH_LIBRARY" val="GRAPHIC"/>
  <p:tag name="MH_ORDER" val="矩形 2"/>
</p:tagLst>
</file>

<file path=ppt/tags/tag2.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2"/>
</p:tagLst>
</file>

<file path=ppt/tags/tag3.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3"/>
</p:tagLst>
</file>

<file path=ppt/tags/tag4.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4"/>
</p:tagLst>
</file>

<file path=ppt/tags/tag5.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6"/>
</p:tagLst>
</file>

<file path=ppt/tags/tag6.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7"/>
</p:tagLst>
</file>

<file path=ppt/tags/tag7.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8"/>
</p:tagLst>
</file>

<file path=ppt/tags/tag8.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9"/>
</p:tagLst>
</file>

<file path=ppt/tags/tag9.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0"/>
</p:tagLst>
</file>

<file path=ppt/tags/tag10.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1"/>
</p:tagLst>
</file>

<file path=ppt/tags/tag11.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2"/>
</p:tagLst>
</file>

<file path=ppt/tags/tag12.xml><?xml version="1.0" encoding="utf-8"?>
<p:tagLst xmlns:a="http://schemas.openxmlformats.org/drawingml/2006/main" xmlns:r="http://schemas.openxmlformats.org/officeDocument/2006/relationships" xmlns:p="http://schemas.openxmlformats.org/presentationml/2006/main">
  <p:tag name="MH_TYPE" val="#NeiR#"/>
  <p:tag name="MH_NUMBER" val="1"/>
  <p:tag name="MH_CATEGORY" val="#TuWHP#"/>
  <p:tag name="MH_LAYOUT" val="SubTitleText"/>
  <p:tag name="MH" val="20161213152808"/>
  <p:tag name="MH_LIBRARY" val="GRAPHIC"/>
</p:tagLst>
</file>

<file path=ppt/tags/tag13.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Picture"/>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Text"/>
  <p:tag name="MH_ORDER" val="1"/>
</p:tagLst>
</file>

<file path=ppt/tags/tag15.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2"/>
</p:tagLst>
</file>

<file path=ppt/tags/tag16.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3"/>
</p:tagLst>
</file>

<file path=ppt/tags/tag1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8.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1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2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24.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80*q_i*1_3"/>
  <p:tag name="KSO_WM_UNIT_LAYERLEVEL" val="1_1"/>
  <p:tag name="KSO_WM_DIAGRAM_GROUP_CODE" val="q1-2"/>
  <p:tag name="KSO_WM_UNIT_USESOURCEFORMAT_APPLY" val="1"/>
</p:tagLst>
</file>

<file path=ppt/tags/tag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1"/>
  <p:tag name="KSO_WM_UNIT_ID" val="custom160596_80*q_i*1_11"/>
  <p:tag name="KSO_WM_UNIT_LAYERLEVEL" val="1_1"/>
  <p:tag name="KSO_WM_DIAGRAM_GROUP_CODE" val="q1-2"/>
  <p:tag name="KSO_WM_UNIT_USESOURCEFORMAT_APPLY" val="1"/>
</p:tagLst>
</file>

<file path=ppt/tags/tag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
  <p:tag name="KSO_WM_UNIT_ID" val="custom160596_80*q_i*1_1"/>
  <p:tag name="KSO_WM_UNIT_LAYERLEVEL" val="1_1"/>
  <p:tag name="KSO_WM_DIAGRAM_GROUP_CODE" val="q1-2"/>
  <p:tag name="KSO_WM_UNIT_USESOURCEFORMAT_APPLY" val="1"/>
</p:tagLst>
</file>

<file path=ppt/tags/tag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
  <p:tag name="KSO_WM_UNIT_ID" val="custom160596_80*q_i*1_2"/>
  <p:tag name="KSO_WM_UNIT_LAYERLEVEL" val="1_1"/>
  <p:tag name="KSO_WM_DIAGRAM_GROUP_CODE" val="q1-2"/>
  <p:tag name="KSO_WM_UNIT_USESOURCEFORMAT_APPLY" val="1"/>
</p:tagLst>
</file>

<file path=ppt/tags/tag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4"/>
  <p:tag name="KSO_WM_UNIT_ID" val="custom160596_80*q_i*1_4"/>
  <p:tag name="KSO_WM_UNIT_LAYERLEVEL" val="1_1"/>
  <p:tag name="KSO_WM_DIAGRAM_GROUP_CODE" val="q1-2"/>
  <p:tag name="KSO_WM_UNIT_USESOURCEFORMAT_APPLY" val="1"/>
</p:tagLst>
</file>

<file path=ppt/tags/tag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80*i*5"/>
  <p:tag name="KSO_WM_TEMPLATE_CATEGORY" val="custom"/>
  <p:tag name="KSO_WM_TEMPLATE_INDEX" val="160596"/>
  <p:tag name="KSO_WM_UNIT_INDEX" val="5"/>
</p:tagLst>
</file>

<file path=ppt/tags/tag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9"/>
  <p:tag name="KSO_WM_UNIT_ID" val="custom160596_80*q_i*1_9"/>
  <p:tag name="KSO_WM_UNIT_LAYERLEVEL" val="1_1"/>
  <p:tag name="KSO_WM_DIAGRAM_GROUP_CODE" val="q1-2"/>
  <p:tag name="KSO_WM_UNIT_USESOURCEFORMAT_APPLY" val="1"/>
</p:tagLst>
</file>

<file path=ppt/tags/tag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0"/>
  <p:tag name="KSO_WM_UNIT_ID" val="custom160596_80*q_i*1_10"/>
  <p:tag name="KSO_WM_UNIT_LAYERLEVEL" val="1_1"/>
  <p:tag name="KSO_WM_DIAGRAM_GROUP_CODE" val="q1-2"/>
  <p:tag name="KSO_WM_UNIT_USESOURCEFORMAT_APPLY" val="1"/>
</p:tagLst>
</file>

<file path=ppt/tags/tag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2"/>
  <p:tag name="KSO_WM_UNIT_ID" val="custom160596_80*q_i*1_12"/>
  <p:tag name="KSO_WM_UNIT_LAYERLEVEL" val="1_1"/>
  <p:tag name="KSO_WM_DIAGRAM_GROUP_CODE" val="q1-2"/>
  <p:tag name="KSO_WM_UNIT_USESOURCEFORMAT_APPLY" val="1"/>
</p:tagLst>
</file>

<file path=ppt/tags/tag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1_1"/>
  <p:tag name="KSO_WM_UNIT_ID" val="custom160596_80*q_h_f*1_1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3_1"/>
  <p:tag name="KSO_WM_UNIT_ID" val="custom160596_80*q_h_f*1_3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2_1"/>
  <p:tag name="KSO_WM_UNIT_ID" val="custom160596_80*q_h_f*1_2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80*q_i*1_5"/>
  <p:tag name="KSO_WM_UNIT_LAYERLEVEL" val="1_1"/>
  <p:tag name="KSO_WM_DIAGRAM_GROUP_CODE" val="q1-2"/>
  <p:tag name="KSO_WM_UNIT_USESOURCEFORMAT_APPLY" val="1"/>
</p:tagLst>
</file>

<file path=ppt/tags/tag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80*q_i*1_6"/>
  <p:tag name="KSO_WM_UNIT_LAYERLEVEL" val="1_1"/>
  <p:tag name="KSO_WM_DIAGRAM_GROUP_CODE" val="q1-2"/>
  <p:tag name="KSO_WM_UNIT_USESOURCEFORMAT_APPLY" val="1"/>
</p:tagLst>
</file>

<file path=ppt/tags/tag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7"/>
  <p:tag name="KSO_WM_UNIT_ID" val="custom160596_80*q_i*1_7"/>
  <p:tag name="KSO_WM_UNIT_LAYERLEVEL" val="1_1"/>
  <p:tag name="KSO_WM_DIAGRAM_GROUP_CODE" val="q1-2"/>
  <p:tag name="KSO_WM_UNIT_USESOURCEFORMAT_APPLY" val="1"/>
</p:tagLst>
</file>

<file path=ppt/tags/tag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8"/>
  <p:tag name="KSO_WM_UNIT_ID" val="custom160596_80*q_i*1_8"/>
  <p:tag name="KSO_WM_UNIT_LAYERLEVEL" val="1_1"/>
  <p:tag name="KSO_WM_DIAGRAM_GROUP_CODE" val="q1-2"/>
  <p:tag name="KSO_WM_UNIT_USESOURCEFORMAT_APPLY" val="1"/>
</p:tagLst>
</file>

<file path=ppt/tags/tag4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67*i*0"/>
  <p:tag name="KSO_WM_TEMPLATE_CATEGORY" val="custom"/>
  <p:tag name="KSO_WM_TEMPLATE_INDEX" val="160596"/>
  <p:tag name="KSO_WM_UNIT_INDEX" val="0"/>
</p:tagLst>
</file>

<file path=ppt/tags/tag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1_1"/>
  <p:tag name="KSO_WM_UNIT_ID" val="custom160596_67*q_h_f*1_1_1"/>
  <p:tag name="KSO_WM_UNIT_LAYERLEVEL" val="1_1_1"/>
  <p:tag name="KSO_WM_UNIT_VALUE" val="20"/>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67*i*10"/>
  <p:tag name="KSO_WM_TEMPLATE_CATEGORY" val="custom"/>
  <p:tag name="KSO_WM_TEMPLATE_INDEX" val="160596"/>
  <p:tag name="KSO_WM_UNIT_INDEX" val="10"/>
</p:tagLst>
</file>

<file path=ppt/tags/tag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4"/>
  <p:tag name="KSO_WM_UNIT_ID" val="custom160596_67*q_i*1_14"/>
  <p:tag name="KSO_WM_UNIT_LAYERLEVEL" val="1_1"/>
  <p:tag name="KSO_WM_DIAGRAM_GROUP_CODE" val="q1-1"/>
  <p:tag name="KSO_WM_UNIT_LINE_FORE_SCHEMECOLOR_INDEX" val="13"/>
  <p:tag name="KSO_WM_UNIT_LINE_FILL_TYPE" val="2"/>
  <p:tag name="KSO_WM_UNIT_USESOURCEFORMAT_APPLY" val="1"/>
</p:tagLst>
</file>

<file path=ppt/tags/tag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2_1"/>
  <p:tag name="KSO_WM_UNIT_ID" val="custom160596_67*q_h_f*1_2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7"/>
  <p:tag name="KSO_WM_UNIT_ID" val="custom160596_67*q_i*1_17"/>
  <p:tag name="KSO_WM_UNIT_LAYERLEVEL" val="1_1"/>
  <p:tag name="KSO_WM_DIAGRAM_GROUP_CODE" val="q1-1"/>
  <p:tag name="KSO_WM_UNIT_LINE_FORE_SCHEMECOLOR_INDEX" val="13"/>
  <p:tag name="KSO_WM_UNIT_LINE_FILL_TYPE" val="2"/>
  <p:tag name="KSO_WM_UNIT_USESOURCEFORMAT_APPLY" val="1"/>
</p:tagLst>
</file>

<file path=ppt/tags/tag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5_1"/>
  <p:tag name="KSO_WM_UNIT_ID" val="custom160596_67*q_h_f*1_5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7"/>
  <p:tag name="KSO_WM_UNIT_ID" val="custom160596_67*q_i*1_7"/>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8"/>
  <p:tag name="KSO_WM_UNIT_ID" val="custom160596_67*q_i*1_8"/>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9"/>
  <p:tag name="KSO_WM_UNIT_ID" val="custom160596_67*q_i*1_9"/>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0"/>
  <p:tag name="KSO_WM_UNIT_ID" val="custom160596_67*q_i*1_10"/>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1"/>
  <p:tag name="KSO_WM_UNIT_ID" val="custom160596_67*q_i*1_11"/>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2"/>
  <p:tag name="KSO_WM_UNIT_ID" val="custom160596_67*q_i*1_12"/>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
  <p:tag name="KSO_WM_UNIT_ID" val="custom160596_67*q_i*1_1"/>
  <p:tag name="KSO_WM_UNIT_LAYERLEVEL" val="1_1"/>
  <p:tag name="KSO_WM_DIAGRAM_GROUP_CODE" val="q1-1"/>
  <p:tag name="KSO_WM_UNIT_LINE_FORE_SCHEMECOLOR_INDEX" val="13"/>
  <p:tag name="KSO_WM_UNIT_LINE_FILL_TYPE" val="2"/>
  <p:tag name="KSO_WM_UNIT_USESOURCEFORMAT_APPLY" val="1"/>
</p:tagLst>
</file>

<file path=ppt/tags/tag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
  <p:tag name="KSO_WM_UNIT_ID" val="custom160596_67*q_i*1_2"/>
  <p:tag name="KSO_WM_UNIT_LAYERLEVEL" val="1_1"/>
  <p:tag name="KSO_WM_DIAGRAM_GROUP_CODE" val="q1-1"/>
  <p:tag name="KSO_WM_UNIT_LINE_FORE_SCHEMECOLOR_INDEX" val="13"/>
  <p:tag name="KSO_WM_UNIT_LINE_FILL_TYPE" val="2"/>
  <p:tag name="KSO_WM_UNIT_USESOURCEFORMAT_APPLY" val="1"/>
</p:tagLst>
</file>

<file path=ppt/tags/tag6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6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6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7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7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7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7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7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7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7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7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7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7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8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8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8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8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8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8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8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8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8.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89.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2"/>
</p:tagLst>
</file>

<file path=ppt/tags/tag9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91.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92.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2"/>
</p:tagLst>
</file>

<file path=ppt/tags/tag93.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94.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95.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96.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97.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98.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99.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100.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101.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102.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103.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10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105.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1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7*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7*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7*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7*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7*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1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7*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1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7*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7*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7*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2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2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
  <p:tag name="KSO_WM_UNIT_ID" val="custom160596_38*r_i*1_1"/>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2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
  <p:tag name="KSO_WM_UNIT_ID" val="custom160596_38*r_i*1_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3"/>
  <p:tag name="KSO_WM_UNIT_ID" val="custom160596_38*r_i*1_3"/>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1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4"/>
  <p:tag name="KSO_WM_UNIT_ID" val="custom160596_38*r_i*1_4"/>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2"/>
  <p:tag name="KSO_WM_UNIT_ID" val="custom160596_38*r_v*1_2"/>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1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5"/>
  <p:tag name="KSO_WM_UNIT_ID" val="custom160596_38*r_i*1_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1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6"/>
  <p:tag name="KSO_WM_UNIT_ID" val="custom160596_38*r_i*1_6"/>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4"/>
  <p:tag name="KSO_WM_UNIT_ID" val="custom160596_38*r_v*1_4"/>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1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7"/>
  <p:tag name="KSO_WM_UNIT_ID" val="custom160596_38*r_i*1_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1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8"/>
  <p:tag name="KSO_WM_UNIT_ID" val="custom160596_38*r_i*1_8"/>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6"/>
  <p:tag name="KSO_WM_UNIT_ID" val="custom160596_38*r_v*1_6"/>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1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9"/>
  <p:tag name="KSO_WM_UNIT_ID" val="custom160596_38*r_i*1_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1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0"/>
  <p:tag name="KSO_WM_UNIT_ID" val="custom160596_38*r_i*1_10"/>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8"/>
  <p:tag name="KSO_WM_UNIT_ID" val="custom160596_38*r_v*1_8"/>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1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1"/>
  <p:tag name="KSO_WM_UNIT_ID" val="custom160596_38*r_i*1_21"/>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1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2"/>
  <p:tag name="KSO_WM_UNIT_ID" val="custom160596_38*r_i*1_2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1"/>
  <p:tag name="KSO_WM_UNIT_ID" val="custom160596_38*r_v*1_1"/>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1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9"/>
  <p:tag name="KSO_WM_UNIT_ID" val="custom160596_38*r_i*1_1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1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0"/>
  <p:tag name="KSO_WM_UNIT_ID" val="custom160596_38*r_i*1_20"/>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3"/>
  <p:tag name="KSO_WM_UNIT_ID" val="custom160596_38*r_v*1_3"/>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1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7"/>
  <p:tag name="KSO_WM_UNIT_ID" val="custom160596_38*r_i*1_1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1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8"/>
  <p:tag name="KSO_WM_UNIT_ID" val="custom160596_38*r_i*1_18"/>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5"/>
  <p:tag name="KSO_WM_UNIT_ID" val="custom160596_38*r_v*1_5"/>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1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5"/>
  <p:tag name="KSO_WM_UNIT_ID" val="custom160596_38*r_i*1_1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1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6"/>
  <p:tag name="KSO_WM_UNIT_ID" val="custom160596_38*r_i*1_16"/>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7"/>
  <p:tag name="KSO_WM_UNIT_ID" val="custom160596_38*r_v*1_7"/>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150.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51.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52.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53.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54.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55.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56.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57.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5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5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6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6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62.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1"/>
</p:tagLst>
</file>

<file path=ppt/tags/tag163.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3"/>
</p:tagLst>
</file>

<file path=ppt/tags/tag164.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1"/>
</p:tagLst>
</file>

<file path=ppt/tags/tag165.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Title"/>
  <p:tag name="MH_ORDER" val="1"/>
</p:tagLst>
</file>

<file path=ppt/tags/tag166.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2"/>
</p:tagLst>
</file>

<file path=ppt/tags/tag167.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2"/>
</p:tagLst>
</file>

<file path=ppt/tags/tag168.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3"/>
</p:tagLst>
</file>

<file path=ppt/tags/tag169.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SubTitle"/>
  <p:tag name="MH_ORDER" val="1"/>
</p:tagLst>
</file>

<file path=ppt/tags/tag170.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Other"/>
  <p:tag name="MH_ORDER" val="1"/>
</p:tagLst>
</file>

<file path=ppt/tags/tag171.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17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73.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1"/>
</p:tagLst>
</file>

<file path=ppt/tags/tag174.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3"/>
</p:tagLst>
</file>

<file path=ppt/tags/tag175.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1"/>
</p:tagLst>
</file>

<file path=ppt/tags/tag176.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Title"/>
  <p:tag name="MH_ORDER" val="1"/>
</p:tagLst>
</file>

<file path=ppt/tags/tag177.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2"/>
</p:tagLst>
</file>

<file path=ppt/tags/tag178.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2"/>
</p:tagLst>
</file>

<file path=ppt/tags/tag179.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3"/>
</p:tagLst>
</file>

<file path=ppt/tags/tag180.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SubTitle"/>
  <p:tag name="MH_ORDER" val="1"/>
</p:tagLst>
</file>

<file path=ppt/tags/tag181.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Other"/>
  <p:tag name="MH_ORDER" val="1"/>
</p:tagLst>
</file>

<file path=ppt/tags/tag182.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18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84.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1"/>
</p:tagLst>
</file>

<file path=ppt/tags/tag185.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3"/>
</p:tagLst>
</file>

<file path=ppt/tags/tag186.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1"/>
</p:tagLst>
</file>

<file path=ppt/tags/tag187.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Title"/>
  <p:tag name="MH_ORDER" val="1"/>
</p:tagLst>
</file>

<file path=ppt/tags/tag188.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2"/>
</p:tagLst>
</file>

<file path=ppt/tags/tag189.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2"/>
</p:tagLst>
</file>

<file path=ppt/tags/tag190.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3"/>
</p:tagLst>
</file>

<file path=ppt/tags/tag191.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SubTitle"/>
  <p:tag name="MH_ORDER" val="1"/>
</p:tagLst>
</file>

<file path=ppt/tags/tag192.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Other"/>
  <p:tag name="MH_ORDER" val="1"/>
</p:tagLst>
</file>

<file path=ppt/tags/tag193.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19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9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9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9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9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9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20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20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20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20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20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20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20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0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20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0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1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2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2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21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21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21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21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21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1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2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2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22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22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22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22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22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22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23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4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5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7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7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27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27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27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7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7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8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28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28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28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8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285.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286.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28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288.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89.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290.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91.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29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93.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29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295.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296.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29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9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9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0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0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0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0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0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0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0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0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08.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09.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10.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11.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1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13.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1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315.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316.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31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318.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319.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320.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32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2.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323.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1"/>
</p:tagLst>
</file>

<file path=ppt/tags/tag324.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2"/>
</p:tagLst>
</file>

<file path=ppt/tags/tag325.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3"/>
</p:tagLst>
</file>

<file path=ppt/tags/tag326.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4"/>
</p:tagLst>
</file>

<file path=ppt/tags/tag32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2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3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3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3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3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3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4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5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5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5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5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5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5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5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5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6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6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6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6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heme/theme1.xml><?xml version="1.0" encoding="utf-8"?>
<a:theme xmlns:a="http://schemas.openxmlformats.org/drawingml/2006/main" name="1_A000120141119A01PPBG">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Times New Roman"/>
        <a:ea typeface="微软雅黑"/>
        <a:cs typeface=""/>
      </a:majorFont>
      <a:minorFont>
        <a:latin typeface="Times New Roman"/>
        <a:ea typeface="微软雅黑 Light"/>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1060</TotalTime>
  <Words>4263</Words>
  <Application>Microsoft Office PowerPoint</Application>
  <PresentationFormat>宽屏</PresentationFormat>
  <Paragraphs>605</Paragraphs>
  <Slides>68</Slides>
  <Notes>45</Notes>
  <HiddenSlides>0</HiddenSlides>
  <MMClips>0</MMClips>
  <ScaleCrop>false</ScaleCrop>
  <HeadingPairs>
    <vt:vector size="8" baseType="variant">
      <vt:variant>
        <vt:lpstr>已用的字体</vt:lpstr>
      </vt:variant>
      <vt:variant>
        <vt:i4>7</vt:i4>
      </vt:variant>
      <vt:variant>
        <vt:lpstr>主题</vt:lpstr>
      </vt:variant>
      <vt:variant>
        <vt:i4>1</vt:i4>
      </vt:variant>
      <vt:variant>
        <vt:lpstr>嵌入 OLE 服务器</vt:lpstr>
      </vt:variant>
      <vt:variant>
        <vt:i4>1</vt:i4>
      </vt:variant>
      <vt:variant>
        <vt:lpstr>幻灯片标题</vt:lpstr>
      </vt:variant>
      <vt:variant>
        <vt:i4>68</vt:i4>
      </vt:variant>
    </vt:vector>
  </HeadingPairs>
  <TitlesOfParts>
    <vt:vector size="77" baseType="lpstr">
      <vt:lpstr>微软雅黑</vt:lpstr>
      <vt:lpstr>微软雅黑 Light</vt:lpstr>
      <vt:lpstr>Arial</vt:lpstr>
      <vt:lpstr>Calibri</vt:lpstr>
      <vt:lpstr>Tempus Sans ITC</vt:lpstr>
      <vt:lpstr>Times New Roman</vt:lpstr>
      <vt:lpstr>Wingdings</vt:lpstr>
      <vt:lpstr>1_A000120141119A01PPBG</vt:lpstr>
      <vt:lpstr>Microsoft Word Document</vt:lpstr>
      <vt:lpstr>PowerPoint 演示文稿</vt:lpstr>
      <vt:lpstr>5 软件维护和软件重用</vt:lpstr>
      <vt:lpstr>PowerPoint 演示文稿</vt:lpstr>
      <vt:lpstr>PowerPoint 演示文稿</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PowerPoint 演示文稿</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本章小结</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glplaman.github.io</dc:creator>
  <cp:lastModifiedBy>cn plaman</cp:lastModifiedBy>
  <cp:revision>71</cp:revision>
  <dcterms:created xsi:type="dcterms:W3CDTF">2017-01-18T10:59:00Z</dcterms:created>
  <dcterms:modified xsi:type="dcterms:W3CDTF">2026-04-29T01:51:49Z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2052-10.1.0.6206</vt:lpwstr>
  </property>
</Properties>
</file>