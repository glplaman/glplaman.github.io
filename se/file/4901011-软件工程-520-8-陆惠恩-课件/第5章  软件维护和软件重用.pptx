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1.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notesSlides/notesSlide2.xml" ContentType="application/vnd.openxmlformats-officedocument.presentationml.notesSlide+xml"/>
  <Override PartName="/ppt/tags/tag39.xml" ContentType="application/vnd.openxmlformats-officedocument.presentationml.tags+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40.xml" ContentType="application/vnd.openxmlformats-officedocument.presentationml.tags+xml"/>
  <Override PartName="/ppt/notesSlides/notesSlide4.xml" ContentType="application/vnd.openxmlformats-officedocument.presentationml.notesSlide+xml"/>
  <Override PartName="/ppt/tags/tag41.xml" ContentType="application/vnd.openxmlformats-officedocument.presentationml.tags+xml"/>
  <Override PartName="/ppt/notesSlides/notesSlide5.xml" ContentType="application/vnd.openxmlformats-officedocument.presentationml.notesSlide+xml"/>
  <Override PartName="/ppt/tags/tag42.xml" ContentType="application/vnd.openxmlformats-officedocument.presentationml.tags+xml"/>
  <Override PartName="/ppt/notesSlides/notesSlide6.xml" ContentType="application/vnd.openxmlformats-officedocument.presentationml.notesSlide+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58.xml" ContentType="application/vnd.openxmlformats-officedocument.presentationml.tags+xml"/>
  <Override PartName="/ppt/notesSlides/notesSlide9.xml" ContentType="application/vnd.openxmlformats-officedocument.presentationml.notesSlide+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notesSlides/notesSlide10.xml" ContentType="application/vnd.openxmlformats-officedocument.presentationml.notesSlide+xml"/>
  <Override PartName="/ppt/tags/tag80.xml" ContentType="application/vnd.openxmlformats-officedocument.presentationml.tags+xml"/>
  <Override PartName="/ppt/notesSlides/notesSlide11.xml" ContentType="application/vnd.openxmlformats-officedocument.presentationml.notesSlide+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notesSlides/notesSlide12.xml" ContentType="application/vnd.openxmlformats-officedocument.presentationml.notesSlide+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notesSlides/notesSlide13.xml" ContentType="application/vnd.openxmlformats-officedocument.presentationml.notesSlide+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notesSlides/notesSlide14.xml" ContentType="application/vnd.openxmlformats-officedocument.presentationml.notesSlide+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notesSlides/notesSlide15.xml" ContentType="application/vnd.openxmlformats-officedocument.presentationml.notesSlide+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notesSlides/notesSlide16.xml" ContentType="application/vnd.openxmlformats-officedocument.presentationml.notesSlide+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notesSlides/notesSlide17.xml" ContentType="application/vnd.openxmlformats-officedocument.presentationml.notesSlide+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notesSlides/notesSlide18.xml" ContentType="application/vnd.openxmlformats-officedocument.presentationml.notesSlide+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notesSlides/notesSlide19.xml" ContentType="application/vnd.openxmlformats-officedocument.presentationml.notesSlide+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notesSlides/notesSlide20.xml" ContentType="application/vnd.openxmlformats-officedocument.presentationml.notesSlide+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notesSlides/notesSlide21.xml" ContentType="application/vnd.openxmlformats-officedocument.presentationml.notesSlide+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notesSlides/notesSlide22.xml" ContentType="application/vnd.openxmlformats-officedocument.presentationml.notesSlide+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notesSlides/notesSlide23.xml" ContentType="application/vnd.openxmlformats-officedocument.presentationml.notesSlide+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notesSlides/notesSlide24.xml" ContentType="application/vnd.openxmlformats-officedocument.presentationml.notesSlide+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notesSlides/notesSlide25.xml" ContentType="application/vnd.openxmlformats-officedocument.presentationml.notesSlide+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notesSlides/notesSlide26.xml" ContentType="application/vnd.openxmlformats-officedocument.presentationml.notesSlide+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notesSlides/notesSlide27.xml" ContentType="application/vnd.openxmlformats-officedocument.presentationml.notesSlide+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notesSlides/notesSlide28.xml" ContentType="application/vnd.openxmlformats-officedocument.presentationml.notesSlide+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notesSlides/notesSlide29.xml" ContentType="application/vnd.openxmlformats-officedocument.presentationml.notesSlide+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notesSlides/notesSlide30.xml" ContentType="application/vnd.openxmlformats-officedocument.presentationml.notesSlide+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notesSlides/notesSlide31.xml" ContentType="application/vnd.openxmlformats-officedocument.presentationml.notesSlide+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notesSlides/notesSlide32.xml" ContentType="application/vnd.openxmlformats-officedocument.presentationml.notesSlide+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notesSlides/notesSlide33.xml" ContentType="application/vnd.openxmlformats-officedocument.presentationml.notesSlide+xml"/>
  <Override PartName="/ppt/tags/tag324.xml" ContentType="application/vnd.openxmlformats-officedocument.presentationml.tags+xml"/>
  <Override PartName="/ppt/notesSlides/notesSlide34.xml" ContentType="application/vnd.openxmlformats-officedocument.presentationml.notesSlide+xml"/>
  <Override PartName="/ppt/tags/tag325.xml" ContentType="application/vnd.openxmlformats-officedocument.presentationml.tags+xml"/>
  <Override PartName="/ppt/notesSlides/notesSlide35.xml" ContentType="application/vnd.openxmlformats-officedocument.presentationml.notesSlide+xml"/>
  <Override PartName="/ppt/tags/tag326.xml" ContentType="application/vnd.openxmlformats-officedocument.presentationml.tags+xml"/>
  <Override PartName="/ppt/notesSlides/notesSlide36.xml" ContentType="application/vnd.openxmlformats-officedocument.presentationml.notesSlide+xml"/>
  <Override PartName="/ppt/tags/tag327.xml" ContentType="application/vnd.openxmlformats-officedocument.presentationml.tags+xml"/>
  <Override PartName="/ppt/notesSlides/notesSlide37.xml" ContentType="application/vnd.openxmlformats-officedocument.presentationml.notesSlide+xml"/>
  <Override PartName="/ppt/tags/tag328.xml" ContentType="application/vnd.openxmlformats-officedocument.presentationml.tags+xml"/>
  <Override PartName="/ppt/notesSlides/notesSlide38.xml" ContentType="application/vnd.openxmlformats-officedocument.presentationml.notesSlide+xml"/>
  <Override PartName="/ppt/tags/tag329.xml" ContentType="application/vnd.openxmlformats-officedocument.presentationml.tags+xml"/>
  <Override PartName="/ppt/notesSlides/notesSlide39.xml" ContentType="application/vnd.openxmlformats-officedocument.presentationml.notesSlide+xml"/>
  <Override PartName="/ppt/tags/tag330.xml" ContentType="application/vnd.openxmlformats-officedocument.presentationml.tags+xml"/>
  <Override PartName="/ppt/notesSlides/notesSlide40.xml" ContentType="application/vnd.openxmlformats-officedocument.presentationml.notesSlide+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notesSlides/notesSlide41.xml" ContentType="application/vnd.openxmlformats-officedocument.presentationml.notesSlide+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0.xml" ContentType="application/vnd.openxmlformats-officedocument.presentationml.tags+xml"/>
  <Override PartName="/ppt/notesSlides/notesSlide42.xml" ContentType="application/vnd.openxmlformats-officedocument.presentationml.notesSlide+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69"/>
  </p:notesMasterIdLst>
  <p:sldIdLst>
    <p:sldId id="257" r:id="rId2"/>
    <p:sldId id="262" r:id="rId3"/>
    <p:sldId id="258" r:id="rId4"/>
    <p:sldId id="260" r:id="rId5"/>
    <p:sldId id="265" r:id="rId6"/>
    <p:sldId id="266" r:id="rId7"/>
    <p:sldId id="343" r:id="rId8"/>
    <p:sldId id="342" r:id="rId9"/>
    <p:sldId id="346" r:id="rId10"/>
    <p:sldId id="267" r:id="rId11"/>
    <p:sldId id="344" r:id="rId12"/>
    <p:sldId id="269" r:id="rId13"/>
    <p:sldId id="272" r:id="rId14"/>
    <p:sldId id="280" r:id="rId15"/>
    <p:sldId id="345" r:id="rId16"/>
    <p:sldId id="275" r:id="rId17"/>
    <p:sldId id="283" r:id="rId18"/>
    <p:sldId id="286" r:id="rId19"/>
    <p:sldId id="284" r:id="rId20"/>
    <p:sldId id="335" r:id="rId21"/>
    <p:sldId id="285" r:id="rId22"/>
    <p:sldId id="287" r:id="rId23"/>
    <p:sldId id="337" r:id="rId24"/>
    <p:sldId id="292" r:id="rId25"/>
    <p:sldId id="293" r:id="rId26"/>
    <p:sldId id="294" r:id="rId27"/>
    <p:sldId id="296" r:id="rId28"/>
    <p:sldId id="297" r:id="rId29"/>
    <p:sldId id="299" r:id="rId30"/>
    <p:sldId id="300" r:id="rId31"/>
    <p:sldId id="301" r:id="rId32"/>
    <p:sldId id="295" r:id="rId33"/>
    <p:sldId id="302" r:id="rId34"/>
    <p:sldId id="261" r:id="rId35"/>
    <p:sldId id="347" r:id="rId36"/>
    <p:sldId id="304" r:id="rId37"/>
    <p:sldId id="305" r:id="rId38"/>
    <p:sldId id="306" r:id="rId39"/>
    <p:sldId id="307" r:id="rId40"/>
    <p:sldId id="308" r:id="rId41"/>
    <p:sldId id="311" r:id="rId42"/>
    <p:sldId id="312" r:id="rId43"/>
    <p:sldId id="310" r:id="rId44"/>
    <p:sldId id="339" r:id="rId45"/>
    <p:sldId id="314" r:id="rId46"/>
    <p:sldId id="309" r:id="rId47"/>
    <p:sldId id="318" r:id="rId48"/>
    <p:sldId id="321" r:id="rId49"/>
    <p:sldId id="319" r:id="rId50"/>
    <p:sldId id="320" r:id="rId51"/>
    <p:sldId id="315" r:id="rId52"/>
    <p:sldId id="322" r:id="rId53"/>
    <p:sldId id="324" r:id="rId54"/>
    <p:sldId id="323" r:id="rId55"/>
    <p:sldId id="325" r:id="rId56"/>
    <p:sldId id="316" r:id="rId57"/>
    <p:sldId id="327" r:id="rId58"/>
    <p:sldId id="330" r:id="rId59"/>
    <p:sldId id="328" r:id="rId60"/>
    <p:sldId id="329" r:id="rId61"/>
    <p:sldId id="317" r:id="rId62"/>
    <p:sldId id="334" r:id="rId63"/>
    <p:sldId id="331" r:id="rId64"/>
    <p:sldId id="332" r:id="rId65"/>
    <p:sldId id="333" r:id="rId66"/>
    <p:sldId id="288" r:id="rId67"/>
    <p:sldId id="338" r:id="rId68"/>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BDA8"/>
    <a:srgbClr val="00B050"/>
    <a:srgbClr val="008080"/>
    <a:srgbClr val="E67819"/>
    <a:srgbClr val="00B0F0"/>
    <a:srgbClr val="67B649"/>
    <a:srgbClr val="B71F1E"/>
    <a:srgbClr val="003366"/>
    <a:srgbClr val="006666"/>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61" autoAdjust="0"/>
    <p:restoredTop sz="94675" autoAdjust="0"/>
  </p:normalViewPr>
  <p:slideViewPr>
    <p:cSldViewPr snapToGrid="0">
      <p:cViewPr varScale="1">
        <p:scale>
          <a:sx n="103" d="100"/>
          <a:sy n="103" d="100"/>
        </p:scale>
        <p:origin x="138" y="198"/>
      </p:cViewPr>
      <p:guideLst>
        <p:guide orient="horz" pos="2160"/>
        <p:guide pos="3840"/>
      </p:guideLst>
    </p:cSldViewPr>
  </p:slideViewPr>
  <p:outlineViewPr>
    <p:cViewPr>
      <p:scale>
        <a:sx n="33" d="100"/>
        <a:sy n="33" d="100"/>
      </p:scale>
      <p:origin x="0" y="-525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百分比</c:v>
                </c:pt>
              </c:strCache>
            </c:strRef>
          </c:tx>
          <c:dPt>
            <c:idx val="0"/>
            <c:bubble3D val="0"/>
            <c:spPr>
              <a:solidFill>
                <a:srgbClr val="FFC000"/>
              </a:solidFill>
              <a:ln w="25400">
                <a:solidFill>
                  <a:schemeClr val="lt1"/>
                </a:solidFill>
              </a:ln>
              <a:effectLst/>
              <a:sp3d contourW="25400">
                <a:contourClr>
                  <a:schemeClr val="lt1"/>
                </a:contourClr>
              </a:sp3d>
            </c:spPr>
            <c:extLst>
              <c:ext xmlns:c16="http://schemas.microsoft.com/office/drawing/2014/chart" uri="{C3380CC4-5D6E-409C-BE32-E72D297353CC}">
                <c16:uniqueId val="{00000001-9AB8-45EB-9F3E-2ADD541D6E3E}"/>
              </c:ext>
            </c:extLst>
          </c:dPt>
          <c:dPt>
            <c:idx val="1"/>
            <c:bubble3D val="0"/>
            <c:spPr>
              <a:solidFill>
                <a:srgbClr val="C00000"/>
              </a:solidFill>
              <a:ln w="25400">
                <a:solidFill>
                  <a:schemeClr val="lt1"/>
                </a:solidFill>
              </a:ln>
              <a:effectLst/>
              <a:sp3d contourW="25400">
                <a:contourClr>
                  <a:schemeClr val="lt1"/>
                </a:contourClr>
              </a:sp3d>
            </c:spPr>
            <c:extLst>
              <c:ext xmlns:c16="http://schemas.microsoft.com/office/drawing/2014/chart" uri="{C3380CC4-5D6E-409C-BE32-E72D297353CC}">
                <c16:uniqueId val="{00000003-9AB8-45EB-9F3E-2ADD541D6E3E}"/>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9AB8-45EB-9F3E-2ADD541D6E3E}"/>
              </c:ext>
            </c:extLst>
          </c:dPt>
          <c:dPt>
            <c:idx val="3"/>
            <c:bubble3D val="0"/>
            <c:spPr>
              <a:solidFill>
                <a:srgbClr val="67B649"/>
              </a:solidFill>
              <a:ln w="25400">
                <a:solidFill>
                  <a:schemeClr val="lt1"/>
                </a:solidFill>
              </a:ln>
              <a:effectLst/>
              <a:sp3d contourW="25400">
                <a:contourClr>
                  <a:schemeClr val="lt1"/>
                </a:contourClr>
              </a:sp3d>
            </c:spPr>
            <c:extLst>
              <c:ext xmlns:c16="http://schemas.microsoft.com/office/drawing/2014/chart" uri="{C3380CC4-5D6E-409C-BE32-E72D297353CC}">
                <c16:uniqueId val="{00000007-9AB8-45EB-9F3E-2ADD541D6E3E}"/>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600" b="0" i="0" u="none" strike="noStrike" kern="1200" baseline="0">
                    <a:solidFill>
                      <a:schemeClr val="bg1"/>
                    </a:solidFill>
                    <a:latin typeface="+mn-lt"/>
                    <a:ea typeface="+mn-ea"/>
                    <a:cs typeface="+mn-cs"/>
                  </a:defRPr>
                </a:pPr>
                <a:endParaRPr lang="zh-CN"/>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适应性</c:v>
                </c:pt>
                <c:pt idx="1">
                  <c:v>改正性</c:v>
                </c:pt>
                <c:pt idx="2">
                  <c:v>预防性</c:v>
                </c:pt>
                <c:pt idx="3">
                  <c:v>完善性</c:v>
                </c:pt>
              </c:strCache>
            </c:strRef>
          </c:cat>
          <c:val>
            <c:numRef>
              <c:f>Sheet1!$B$2:$B$5</c:f>
              <c:numCache>
                <c:formatCode>General</c:formatCode>
                <c:ptCount val="4"/>
                <c:pt idx="0">
                  <c:v>0.25</c:v>
                </c:pt>
                <c:pt idx="1">
                  <c:v>0.2</c:v>
                </c:pt>
                <c:pt idx="2">
                  <c:v>0.05</c:v>
                </c:pt>
                <c:pt idx="3">
                  <c:v>0.5</c:v>
                </c:pt>
              </c:numCache>
            </c:numRef>
          </c:val>
          <c:extLst>
            <c:ext xmlns:c16="http://schemas.microsoft.com/office/drawing/2014/chart" uri="{C3380CC4-5D6E-409C-BE32-E72D297353CC}">
              <c16:uniqueId val="{00000000-4C2A-4ADF-9673-5B5A75BE25A8}"/>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Light" panose="020B0502040204020203" pitchFamily="34" charset="-122"/>
              </a:defRPr>
            </a:lvl1pPr>
          </a:lstStyle>
          <a:p>
            <a:fld id="{D2A48B96-639E-45A3-A0BA-2464DFDB1FAA}" type="datetimeFigureOut">
              <a:rPr lang="zh-CN" altLang="en-US" smtClean="0"/>
              <a:pPr/>
              <a:t>2026/5/6</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Light" panose="020B0502040204020203"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txBody>
          <a:bodyPr/>
          <a:lstStyle/>
          <a:p>
            <a:endParaRPr lang="zh-CN" altLang="en-US"/>
          </a:p>
        </p:txBody>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Light" panose="020B0502040204020203"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Light" panose="020B0502040204020203"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C4FFD-C179-3920-BB73-DC61CED6DDF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46E94E6-7181-DC30-5C8E-BE4AA71709B7}"/>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A58518F-D04B-C3B1-F435-23EABDF60BAF}"/>
              </a:ext>
            </a:extLst>
          </p:cNvPr>
          <p:cNvSpPr>
            <a:spLocks noGrp="1"/>
          </p:cNvSpPr>
          <p:nvPr>
            <p:ph type="body" idx="3"/>
          </p:nvPr>
        </p:nvSpPr>
        <p:spPr/>
        <p:txBody>
          <a:bodyPr/>
          <a:lstStyle/>
          <a:p>
            <a:r>
              <a:rPr lang="zh-CN" altLang="en-US" dirty="0"/>
              <a:t>完善性</a:t>
            </a:r>
          </a:p>
        </p:txBody>
      </p:sp>
    </p:spTree>
    <p:extLst>
      <p:ext uri="{BB962C8B-B14F-4D97-AF65-F5344CB8AC3E}">
        <p14:creationId xmlns:p14="http://schemas.microsoft.com/office/powerpoint/2010/main" val="3924113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3B5B6-41D1-2D73-21E6-8D3DF6388CA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D95EC4-9384-FA9D-288D-0412DA3FA58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C1ACE94-74E5-7A75-E93E-80F3E573E9B1}"/>
              </a:ext>
            </a:extLst>
          </p:cNvPr>
          <p:cNvSpPr>
            <a:spLocks noGrp="1"/>
          </p:cNvSpPr>
          <p:nvPr>
            <p:ph type="body" idx="3"/>
          </p:nvPr>
        </p:nvSpPr>
        <p:spPr/>
        <p:txBody>
          <a:bodyPr/>
          <a:lstStyle/>
          <a:p>
            <a:r>
              <a:rPr lang="zh-CN" altLang="en-US" dirty="0"/>
              <a:t>改正性维护</a:t>
            </a:r>
          </a:p>
        </p:txBody>
      </p:sp>
    </p:spTree>
    <p:extLst>
      <p:ext uri="{BB962C8B-B14F-4D97-AF65-F5344CB8AC3E}">
        <p14:creationId xmlns:p14="http://schemas.microsoft.com/office/powerpoint/2010/main" val="7533266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6622D-A82D-2AC1-FFD3-E7369B218CD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060604B-8BF6-B466-C7C0-9F4CE0384484}"/>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C96D9A89-E6AA-97E1-CD6F-72EAE79CE3C3}"/>
              </a:ext>
            </a:extLst>
          </p:cNvPr>
          <p:cNvSpPr>
            <a:spLocks noGrp="1"/>
          </p:cNvSpPr>
          <p:nvPr>
            <p:ph type="body" idx="3"/>
          </p:nvPr>
        </p:nvSpPr>
        <p:spPr/>
        <p:txBody>
          <a:bodyPr/>
          <a:lstStyle/>
          <a:p>
            <a:r>
              <a:rPr lang="zh-CN" altLang="en-US" dirty="0"/>
              <a:t>√</a:t>
            </a:r>
          </a:p>
        </p:txBody>
      </p:sp>
    </p:spTree>
    <p:extLst>
      <p:ext uri="{BB962C8B-B14F-4D97-AF65-F5344CB8AC3E}">
        <p14:creationId xmlns:p14="http://schemas.microsoft.com/office/powerpoint/2010/main" val="3745666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txBody>
          <a:bodyPr/>
          <a:lstStyle/>
          <a:p>
            <a:endParaRPr lang="zh-CN" altLang="en-US"/>
          </a:p>
        </p:txBody>
      </p:sp>
      <p:sp>
        <p:nvSpPr>
          <p:cNvPr id="3" name="备注占位符 2"/>
          <p:cNvSpPr>
            <a:spLocks noGrp="1"/>
          </p:cNvSpPr>
          <p:nvPr>
            <p:ph type="body" idx="1"/>
          </p:nvPr>
        </p:nvSpPr>
        <p:spPr/>
        <p:txBody>
          <a:bodyPr/>
          <a:lstStyle/>
          <a:p>
            <a:r>
              <a:rPr lang="zh-CN" altLang="en-US" dirty="0"/>
              <a:t>两者的核心区别在于软件开发过程是否规范。结构化维护是“有备而来”，而非结构化维护则是“亡羊补牢”。采用结构化维护能显著降低长期成本，提高软件的可靠性和可维护性，这也是现代软件工程追求的目标。</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11</a:t>
            </a:fld>
            <a:endParaRPr lang="zh-CN" altLang="en-US" dirty="0"/>
          </a:p>
        </p:txBody>
      </p:sp>
    </p:spTree>
    <p:extLst>
      <p:ext uri="{BB962C8B-B14F-4D97-AF65-F5344CB8AC3E}">
        <p14:creationId xmlns:p14="http://schemas.microsoft.com/office/powerpoint/2010/main" val="1563541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人料物时间金钱</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用户对维护的评价</a:t>
            </a:r>
            <a:endParaRPr lang="en-US" altLang="zh-CN" dirty="0"/>
          </a:p>
          <a:p>
            <a:endParaRPr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3874-B0D5-921B-C02F-8347E72CEF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8F1867E-E9F0-FFD7-3EE4-99E57339162D}"/>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871C58B-B7ED-2FCF-AEF9-C9A569E3631E}"/>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382408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txBody>
          <a:bodyPr/>
          <a:lstStyle/>
          <a:p>
            <a:endParaRPr lang="zh-CN" altLang="en-US"/>
          </a:p>
        </p:txBody>
      </p:sp>
      <p:sp>
        <p:nvSpPr>
          <p:cNvPr id="3" name="备注占位符 2"/>
          <p:cNvSpPr>
            <a:spLocks noGrp="1"/>
          </p:cNvSpPr>
          <p:nvPr>
            <p:ph type="body" idx="1"/>
          </p:nvPr>
        </p:nvSpPr>
        <p:spPr/>
        <p:txBody>
          <a:bodyPr/>
          <a:lstStyle/>
          <a:p>
            <a:r>
              <a:rPr lang="zh-CN" altLang="en-US" dirty="0"/>
              <a:t>冰箱的数字指示</a:t>
            </a:r>
            <a:r>
              <a:rPr lang="en-US" altLang="zh-CN" dirty="0"/>
              <a:t>12345</a:t>
            </a:r>
          </a:p>
          <a:p>
            <a:r>
              <a:rPr lang="zh-CN" altLang="en-US" dirty="0"/>
              <a:t>降低复杂度、提升可理解性</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28</a:t>
            </a:fld>
            <a:endParaRPr lang="zh-CN" altLang="en-US" dirty="0"/>
          </a:p>
        </p:txBody>
      </p:sp>
    </p:spTree>
    <p:extLst>
      <p:ext uri="{BB962C8B-B14F-4D97-AF65-F5344CB8AC3E}">
        <p14:creationId xmlns:p14="http://schemas.microsoft.com/office/powerpoint/2010/main" val="16609027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8CF72-7EB3-362C-DC8D-F170FD49184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C2B51F1-B1B9-CB9E-44A7-9C3EC92B2C1C}"/>
              </a:ext>
            </a:extLst>
          </p:cNvPr>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a:extLst>
              <a:ext uri="{FF2B5EF4-FFF2-40B4-BE49-F238E27FC236}">
                <a16:creationId xmlns:a16="http://schemas.microsoft.com/office/drawing/2014/main" id="{A3CF2C82-468D-04EA-2753-8DE6B1AAF8D7}"/>
              </a:ext>
            </a:extLst>
          </p:cNvPr>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40133258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左图描述了适用于软件重用的过程模型。领域工程在特定的领域中创建应用领域的模型，设计软件体系结构模型，开发可重用的软件成分，建立可重用的软件构件库。</a:t>
            </a:r>
            <a:endParaRPr lang="en-US" altLang="zh-CN" dirty="0"/>
          </a:p>
          <a:p>
            <a:r>
              <a:rPr lang="zh-CN" altLang="en-US" dirty="0"/>
              <a:t>显然，对软件构件库应当不断地积累构件、不断地进行完善。</a:t>
            </a:r>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r>
              <a:rPr lang="zh-CN" altLang="en-US" dirty="0"/>
              <a:t>给老旧软件做彻底翻新</a:t>
            </a:r>
            <a:endParaRPr lang="en-US" altLang="zh-CN" dirty="0"/>
          </a:p>
          <a:p>
            <a:r>
              <a:rPr lang="zh-CN" altLang="en-US" dirty="0"/>
              <a:t>再工程可以看作是预防性维护的一种高级形式。它不仅仅是为了修复当前的错误（改正性），也不仅仅是为了适应新环境（适应性），而是为了从根本上提高软件的可维护性和可靠性，延长软件的寿命。</a:t>
            </a:r>
            <a:endParaRPr lang="en-US" altLang="zh-CN" dirty="0"/>
          </a:p>
          <a:p>
            <a:endParaRPr lang="zh-CN" alt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txBody>
          <a:bodyPr/>
          <a:lstStyle/>
          <a:p>
            <a:endParaRPr lang="zh-CN" altLang="en-US"/>
          </a:p>
        </p:txBody>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10" name="矩形 9"/>
          <p:cNvSpPr/>
          <p:nvPr userDrawn="1"/>
        </p:nvSpPr>
        <p:spPr>
          <a:xfrm>
            <a:off x="403225" y="1918969"/>
            <a:ext cx="11303635" cy="457902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626254" y="1702970"/>
            <a:ext cx="669087" cy="4795015"/>
          </a:xfrm>
          <a:prstGeom prst="rect">
            <a:avLst/>
          </a:prstGeom>
          <a:solidFill>
            <a:srgbClr val="008080"/>
          </a:solidFill>
          <a:effectLst/>
        </p:spPr>
        <p:txBody>
          <a:bodyPr tIns="0" bIns="0"/>
          <a:lstStyle/>
          <a:p>
            <a:pPr lvl="0">
              <a:lnSpc>
                <a:spcPct val="134000"/>
              </a:lnSpc>
              <a:spcBef>
                <a:spcPts val="600"/>
              </a:spcBef>
            </a:pPr>
            <a:endParaRPr lang="zh-CN" altLang="en-US" sz="1600" dirty="0">
              <a:solidFill>
                <a:schemeClr val="bg1"/>
              </a:solidFill>
              <a:latin typeface="微软雅黑" panose="020B0503020204020204" charset="-122"/>
              <a:ea typeface="微软雅黑" panose="020B0503020204020204" charset="-122"/>
            </a:endParaRPr>
          </a:p>
        </p:txBody>
      </p:sp>
      <p:sp>
        <p:nvSpPr>
          <p:cNvPr id="4" name="标题 3">
            <a:extLst>
              <a:ext uri="{FF2B5EF4-FFF2-40B4-BE49-F238E27FC236}">
                <a16:creationId xmlns:a16="http://schemas.microsoft.com/office/drawing/2014/main" id="{81C54ABB-ACA1-C305-01CB-0D1E0557EA44}"/>
              </a:ext>
            </a:extLst>
          </p:cNvPr>
          <p:cNvSpPr>
            <a:spLocks noGrp="1"/>
          </p:cNvSpPr>
          <p:nvPr>
            <p:ph type="title"/>
          </p:nvPr>
        </p:nvSpPr>
        <p:spPr>
          <a:xfrm>
            <a:off x="838200" y="360000"/>
            <a:ext cx="5257800" cy="535531"/>
          </a:xfrm>
        </p:spPr>
        <p:txBody>
          <a:bodyPr/>
          <a:lstStyle/>
          <a:p>
            <a:r>
              <a:rPr lang="zh-CN" altLang="en-US"/>
              <a:t>单击此处编辑母版标题样式</a:t>
            </a:r>
          </a:p>
        </p:txBody>
      </p:sp>
      <p:sp>
        <p:nvSpPr>
          <p:cNvPr id="2" name="直角三角形 1">
            <a:extLst>
              <a:ext uri="{FF2B5EF4-FFF2-40B4-BE49-F238E27FC236}">
                <a16:creationId xmlns:a16="http://schemas.microsoft.com/office/drawing/2014/main" id="{C853D252-491D-6C91-1A8C-AB0F3C671FCD}"/>
              </a:ext>
            </a:extLst>
          </p:cNvPr>
          <p:cNvSpPr>
            <a:spLocks/>
          </p:cNvSpPr>
          <p:nvPr userDrawn="1"/>
        </p:nvSpPr>
        <p:spPr>
          <a:xfrm>
            <a:off x="1295341" y="1702970"/>
            <a:ext cx="216000" cy="216000"/>
          </a:xfrm>
          <a:prstGeom prst="r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a:prstGeom prst="rect">
            <a:avLst/>
          </a:prstGeom>
        </p:spPr>
        <p:txBody>
          <a:bodyPr/>
          <a:lstStyle>
            <a:lvl1pPr>
              <a:defRPr lang="zh-CN" altLang="en-US"/>
            </a:lvl1pPr>
          </a:lstStyle>
          <a:p>
            <a:r>
              <a:rPr lang="zh-CN" altLang="en-US" dirty="0"/>
              <a:t>单击此处编辑母版标题样式</a:t>
            </a:r>
          </a:p>
        </p:txBody>
      </p:sp>
      <p:sp>
        <p:nvSpPr>
          <p:cNvPr id="18" name="任意多边形 17"/>
          <p:cNvSpPr/>
          <p:nvPr/>
        </p:nvSpPr>
        <p:spPr>
          <a:xfrm>
            <a:off x="523836" y="1214422"/>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a:prstGeom prst="rect">
            <a:avLst/>
          </a:prstGeom>
        </p:spPr>
        <p:txBody>
          <a:bodyPr/>
          <a:lstStyle>
            <a:lvl1pPr>
              <a:defRPr lang="zh-CN" altLang="en-US"/>
            </a:lvl1pPr>
          </a:lstStyle>
          <a:p>
            <a:r>
              <a:rPr lang="zh-CN" altLang="en-US"/>
              <a:t>单击此处编辑母版标题样式</a:t>
            </a:r>
          </a:p>
        </p:txBody>
      </p:sp>
      <p:sp>
        <p:nvSpPr>
          <p:cNvPr id="18" name="任意多边形 17"/>
          <p:cNvSpPr/>
          <p:nvPr/>
        </p:nvSpPr>
        <p:spPr>
          <a:xfrm>
            <a:off x="523836" y="1214422"/>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E7A221F8-3BDD-B204-23BD-B9038E1280F9}"/>
              </a:ext>
            </a:extLst>
          </p:cNvPr>
          <p:cNvSpPr/>
          <p:nvPr userDrawn="1"/>
        </p:nvSpPr>
        <p:spPr>
          <a:xfrm>
            <a:off x="0" y="2520000"/>
            <a:ext cx="12192000" cy="3600000"/>
          </a:xfrm>
          <a:prstGeom prst="rect">
            <a:avLst/>
          </a:pr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占位符 4">
            <a:extLst>
              <a:ext uri="{FF2B5EF4-FFF2-40B4-BE49-F238E27FC236}">
                <a16:creationId xmlns:a16="http://schemas.microsoft.com/office/drawing/2014/main" id="{10F2E5C1-7E93-1FE1-6E49-6B5CA66E9CAD}"/>
              </a:ext>
            </a:extLst>
          </p:cNvPr>
          <p:cNvSpPr>
            <a:spLocks noGrp="1"/>
          </p:cNvSpPr>
          <p:nvPr>
            <p:ph type="body" sz="quarter" idx="10"/>
          </p:nvPr>
        </p:nvSpPr>
        <p:spPr>
          <a:xfrm>
            <a:off x="504000" y="2664000"/>
            <a:ext cx="8125424" cy="3312000"/>
          </a:xfrm>
        </p:spPr>
        <p:txBody>
          <a:bodyPr/>
          <a:lstStyle>
            <a:lvl1pPr marL="0" indent="0">
              <a:lnSpc>
                <a:spcPct val="120000"/>
              </a:lnSpc>
              <a:buNone/>
              <a:defRPr sz="1600">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zh-CN" altLang="en-US" dirty="0"/>
              <a:t>单击此处编辑母版文本样式</a:t>
            </a:r>
          </a:p>
        </p:txBody>
      </p:sp>
    </p:spTree>
    <p:extLst>
      <p:ext uri="{BB962C8B-B14F-4D97-AF65-F5344CB8AC3E}">
        <p14:creationId xmlns:p14="http://schemas.microsoft.com/office/powerpoint/2010/main" val="33879334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7"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43074C4D-FAB6-9CD5-4C50-B748826A4ED8}"/>
              </a:ext>
            </a:extLst>
          </p:cNvPr>
          <p:cNvSpPr>
            <a:spLocks noGrp="1"/>
          </p:cNvSpPr>
          <p:nvPr>
            <p:ph type="title"/>
          </p:nvPr>
        </p:nvSpPr>
        <p:spPr>
          <a:xfrm>
            <a:off x="838200" y="360000"/>
            <a:ext cx="10515600" cy="535531"/>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3F27DC13-5ED4-D8CD-F577-7CDDB12A694D}"/>
              </a:ext>
            </a:extLst>
          </p:cNvPr>
          <p:cNvSpPr>
            <a:spLocks noGrp="1"/>
          </p:cNvSpPr>
          <p:nvPr>
            <p:ph type="body" idx="1"/>
          </p:nvPr>
        </p:nvSpPr>
        <p:spPr>
          <a:xfrm>
            <a:off x="838200" y="1080000"/>
            <a:ext cx="10515600" cy="541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72" r:id="rId3"/>
    <p:sldLayoutId id="2147483662" r:id="rId4"/>
    <p:sldLayoutId id="2147483671" r:id="rId5"/>
  </p:sldLayoutIdLst>
  <p:hf hdr="0" ftr="0" dt="0"/>
  <p:txStyles>
    <p:titleStyle>
      <a:lvl1pPr algn="l" rtl="0" eaLnBrk="1" fontAlgn="base" hangingPunct="1">
        <a:lnSpc>
          <a:spcPct val="90000"/>
        </a:lnSpc>
        <a:spcBef>
          <a:spcPct val="0"/>
        </a:spcBef>
        <a:spcAft>
          <a:spcPct val="0"/>
        </a:spcAft>
        <a:defRPr sz="3200" kern="120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18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400" kern="1200" dirty="0" smtClean="0">
          <a:solidFill>
            <a:schemeClr val="tx1"/>
          </a:solidFill>
          <a:latin typeface="+mn-lt"/>
          <a:ea typeface="+mn-ea"/>
          <a:cs typeface="+mn-cs"/>
        </a:defRPr>
      </a:lvl1pPr>
      <a:lvl2pPr marL="36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2000" kern="1200" dirty="0" smtClean="0">
          <a:solidFill>
            <a:schemeClr val="tx1"/>
          </a:solidFill>
          <a:latin typeface="+mn-lt"/>
          <a:ea typeface="+mn-ea"/>
          <a:cs typeface="+mn-cs"/>
        </a:defRPr>
      </a:lvl2pPr>
      <a:lvl3pPr marL="540000" indent="-18000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3pPr>
      <a:lvl4pPr marL="28575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sz="1800" kern="1200" dirty="0" smtClean="0">
          <a:solidFill>
            <a:srgbClr val="262626"/>
          </a:solidFill>
          <a:latin typeface="+mn-lt"/>
          <a:ea typeface="+mn-ea"/>
          <a:cs typeface="+mn-cs"/>
        </a:defRPr>
      </a:lvl4pPr>
      <a:lvl5pPr marL="466090" indent="-285750" algn="l" rtl="0" eaLnBrk="1" fontAlgn="base" hangingPunct="1">
        <a:lnSpc>
          <a:spcPct val="100000"/>
        </a:lnSpc>
        <a:spcBef>
          <a:spcPts val="0"/>
        </a:spcBef>
        <a:spcAft>
          <a:spcPct val="0"/>
        </a:spcAft>
        <a:buClr>
          <a:schemeClr val="tx1"/>
        </a:buClr>
        <a:buSzPct val="80000"/>
        <a:buFont typeface="Arial" panose="020B0604020202020204" pitchFamily="34" charset="0"/>
        <a:buChar char="•"/>
        <a:defRPr lang="zh-CN" altLang="en-US" kern="1200" dirty="0" smtClean="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0.xml"/><Relationship Id="rId7" Type="http://schemas.openxmlformats.org/officeDocument/2006/relationships/slideLayout" Target="../slideLayouts/slideLayout4.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tags" Target="../tags/tag23.xml"/><Relationship Id="rId11" Type="http://schemas.openxmlformats.org/officeDocument/2006/relationships/image" Target="../media/image5.png"/><Relationship Id="rId5" Type="http://schemas.openxmlformats.org/officeDocument/2006/relationships/tags" Target="../tags/tag22.xml"/><Relationship Id="rId10" Type="http://schemas.openxmlformats.org/officeDocument/2006/relationships/image" Target="../media/image4.png"/><Relationship Id="rId4" Type="http://schemas.openxmlformats.org/officeDocument/2006/relationships/tags" Target="../tags/tag21.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4.xml"/></Relationships>
</file>

<file path=ppt/slides/_rels/slide5.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2" Type="http://schemas.openxmlformats.org/officeDocument/2006/relationships/tags" Target="../tags/tag26.xml"/><Relationship Id="rId16" Type="http://schemas.openxmlformats.org/officeDocument/2006/relationships/notesSlide" Target="../notesSlides/notesSlide2.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slideLayout" Target="../slideLayouts/slideLayout2.xml"/><Relationship Id="rId10" Type="http://schemas.openxmlformats.org/officeDocument/2006/relationships/tags" Target="../tags/tag34.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39.xml"/><Relationship Id="rId4" Type="http://schemas.openxmlformats.org/officeDocument/2006/relationships/chart" Target="../charts/char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40.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4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42.xml"/></Relationships>
</file>

<file path=ppt/slides/_rels/slide10.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tags" Target="../tags/tag55.xml"/><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tags" Target="../tags/tag54.xml"/><Relationship Id="rId17" Type="http://schemas.openxmlformats.org/officeDocument/2006/relationships/notesSlide" Target="../notesSlides/notesSlide7.xml"/><Relationship Id="rId2" Type="http://schemas.openxmlformats.org/officeDocument/2006/relationships/tags" Target="../tags/tag44.xml"/><Relationship Id="rId16" Type="http://schemas.openxmlformats.org/officeDocument/2006/relationships/slideLayout" Target="../slideLayouts/slideLayout2.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tags" Target="../tags/tag53.xml"/><Relationship Id="rId5" Type="http://schemas.openxmlformats.org/officeDocument/2006/relationships/tags" Target="../tags/tag47.xml"/><Relationship Id="rId15" Type="http://schemas.openxmlformats.org/officeDocument/2006/relationships/tags" Target="../tags/tag57.xml"/><Relationship Id="rId10" Type="http://schemas.openxmlformats.org/officeDocument/2006/relationships/tags" Target="../tags/tag52.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tags" Target="../tags/tag56.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58.xml"/></Relationships>
</file>

<file path=ppt/slides/_rels/slide13.xml.rels><?xml version="1.0" encoding="UTF-8" standalone="yes"?>
<Relationships xmlns="http://schemas.openxmlformats.org/package/2006/relationships"><Relationship Id="rId8" Type="http://schemas.openxmlformats.org/officeDocument/2006/relationships/tags" Target="../tags/tag66.xml"/><Relationship Id="rId13" Type="http://schemas.openxmlformats.org/officeDocument/2006/relationships/tags" Target="../tags/tag71.xml"/><Relationship Id="rId18" Type="http://schemas.openxmlformats.org/officeDocument/2006/relationships/tags" Target="../tags/tag76.xml"/><Relationship Id="rId3" Type="http://schemas.openxmlformats.org/officeDocument/2006/relationships/tags" Target="../tags/tag61.xml"/><Relationship Id="rId21" Type="http://schemas.openxmlformats.org/officeDocument/2006/relationships/tags" Target="../tags/tag79.xml"/><Relationship Id="rId7" Type="http://schemas.openxmlformats.org/officeDocument/2006/relationships/tags" Target="../tags/tag65.xml"/><Relationship Id="rId12" Type="http://schemas.openxmlformats.org/officeDocument/2006/relationships/tags" Target="../tags/tag70.xml"/><Relationship Id="rId17" Type="http://schemas.openxmlformats.org/officeDocument/2006/relationships/tags" Target="../tags/tag75.xml"/><Relationship Id="rId2" Type="http://schemas.openxmlformats.org/officeDocument/2006/relationships/tags" Target="../tags/tag60.xml"/><Relationship Id="rId16" Type="http://schemas.openxmlformats.org/officeDocument/2006/relationships/tags" Target="../tags/tag74.xml"/><Relationship Id="rId20" Type="http://schemas.openxmlformats.org/officeDocument/2006/relationships/tags" Target="../tags/tag78.xml"/><Relationship Id="rId1" Type="http://schemas.openxmlformats.org/officeDocument/2006/relationships/tags" Target="../tags/tag59.xml"/><Relationship Id="rId6" Type="http://schemas.openxmlformats.org/officeDocument/2006/relationships/tags" Target="../tags/tag64.xml"/><Relationship Id="rId11" Type="http://schemas.openxmlformats.org/officeDocument/2006/relationships/tags" Target="../tags/tag69.xml"/><Relationship Id="rId5" Type="http://schemas.openxmlformats.org/officeDocument/2006/relationships/tags" Target="../tags/tag63.xml"/><Relationship Id="rId15" Type="http://schemas.openxmlformats.org/officeDocument/2006/relationships/tags" Target="../tags/tag73.xml"/><Relationship Id="rId23" Type="http://schemas.openxmlformats.org/officeDocument/2006/relationships/notesSlide" Target="../notesSlides/notesSlide10.xml"/><Relationship Id="rId10" Type="http://schemas.openxmlformats.org/officeDocument/2006/relationships/tags" Target="../tags/tag68.xml"/><Relationship Id="rId19" Type="http://schemas.openxmlformats.org/officeDocument/2006/relationships/tags" Target="../tags/tag77.xml"/><Relationship Id="rId4" Type="http://schemas.openxmlformats.org/officeDocument/2006/relationships/tags" Target="../tags/tag62.xml"/><Relationship Id="rId9" Type="http://schemas.openxmlformats.org/officeDocument/2006/relationships/tags" Target="../tags/tag67.xml"/><Relationship Id="rId14" Type="http://schemas.openxmlformats.org/officeDocument/2006/relationships/tags" Target="../tags/tag72.xml"/><Relationship Id="rId22"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80.xml"/><Relationship Id="rId4" Type="http://schemas.openxmlformats.org/officeDocument/2006/relationships/image" Target="../media/image7.svg"/></Relationships>
</file>

<file path=ppt/slides/_rels/slide15.xml.rels><?xml version="1.0" encoding="UTF-8" standalone="yes"?>
<Relationships xmlns="http://schemas.openxmlformats.org/package/2006/relationships"><Relationship Id="rId3" Type="http://schemas.openxmlformats.org/officeDocument/2006/relationships/tags" Target="../tags/tag83.xml"/><Relationship Id="rId2" Type="http://schemas.openxmlformats.org/officeDocument/2006/relationships/tags" Target="../tags/tag82.xml"/><Relationship Id="rId1" Type="http://schemas.openxmlformats.org/officeDocument/2006/relationships/tags" Target="../tags/tag81.xml"/><Relationship Id="rId6" Type="http://schemas.openxmlformats.org/officeDocument/2006/relationships/notesSlide" Target="../notesSlides/notesSlide12.xml"/><Relationship Id="rId5" Type="http://schemas.openxmlformats.org/officeDocument/2006/relationships/slideLayout" Target="../slideLayouts/slideLayout2.xml"/><Relationship Id="rId4" Type="http://schemas.openxmlformats.org/officeDocument/2006/relationships/tags" Target="../tags/tag84.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tags" Target="../tags/tag92.xml"/><Relationship Id="rId13" Type="http://schemas.openxmlformats.org/officeDocument/2006/relationships/tags" Target="../tags/tag97.xml"/><Relationship Id="rId3" Type="http://schemas.openxmlformats.org/officeDocument/2006/relationships/tags" Target="../tags/tag87.xml"/><Relationship Id="rId7" Type="http://schemas.openxmlformats.org/officeDocument/2006/relationships/tags" Target="../tags/tag91.xml"/><Relationship Id="rId12" Type="http://schemas.openxmlformats.org/officeDocument/2006/relationships/tags" Target="../tags/tag96.xml"/><Relationship Id="rId2" Type="http://schemas.openxmlformats.org/officeDocument/2006/relationships/tags" Target="../tags/tag86.xml"/><Relationship Id="rId1" Type="http://schemas.openxmlformats.org/officeDocument/2006/relationships/tags" Target="../tags/tag85.xml"/><Relationship Id="rId6" Type="http://schemas.openxmlformats.org/officeDocument/2006/relationships/tags" Target="../tags/tag90.xml"/><Relationship Id="rId11" Type="http://schemas.openxmlformats.org/officeDocument/2006/relationships/tags" Target="../tags/tag95.xml"/><Relationship Id="rId5" Type="http://schemas.openxmlformats.org/officeDocument/2006/relationships/tags" Target="../tags/tag89.xml"/><Relationship Id="rId10" Type="http://schemas.openxmlformats.org/officeDocument/2006/relationships/tags" Target="../tags/tag94.xml"/><Relationship Id="rId4" Type="http://schemas.openxmlformats.org/officeDocument/2006/relationships/tags" Target="../tags/tag88.xml"/><Relationship Id="rId9" Type="http://schemas.openxmlformats.org/officeDocument/2006/relationships/tags" Target="../tags/tag93.xml"/><Relationship Id="rId14"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tags" Target="../tags/tag105.xml"/><Relationship Id="rId13" Type="http://schemas.openxmlformats.org/officeDocument/2006/relationships/tags" Target="../tags/tag110.xml"/><Relationship Id="rId18" Type="http://schemas.openxmlformats.org/officeDocument/2006/relationships/tags" Target="../tags/tag115.xml"/><Relationship Id="rId3" Type="http://schemas.openxmlformats.org/officeDocument/2006/relationships/tags" Target="../tags/tag100.xml"/><Relationship Id="rId7" Type="http://schemas.openxmlformats.org/officeDocument/2006/relationships/tags" Target="../tags/tag104.xml"/><Relationship Id="rId12" Type="http://schemas.openxmlformats.org/officeDocument/2006/relationships/tags" Target="../tags/tag109.xml"/><Relationship Id="rId17" Type="http://schemas.openxmlformats.org/officeDocument/2006/relationships/tags" Target="../tags/tag114.xml"/><Relationship Id="rId2" Type="http://schemas.openxmlformats.org/officeDocument/2006/relationships/tags" Target="../tags/tag99.xml"/><Relationship Id="rId16" Type="http://schemas.openxmlformats.org/officeDocument/2006/relationships/tags" Target="../tags/tag113.xml"/><Relationship Id="rId1" Type="http://schemas.openxmlformats.org/officeDocument/2006/relationships/tags" Target="../tags/tag98.xml"/><Relationship Id="rId6" Type="http://schemas.openxmlformats.org/officeDocument/2006/relationships/tags" Target="../tags/tag103.xml"/><Relationship Id="rId11" Type="http://schemas.openxmlformats.org/officeDocument/2006/relationships/tags" Target="../tags/tag108.xml"/><Relationship Id="rId5" Type="http://schemas.openxmlformats.org/officeDocument/2006/relationships/tags" Target="../tags/tag102.xml"/><Relationship Id="rId15" Type="http://schemas.openxmlformats.org/officeDocument/2006/relationships/tags" Target="../tags/tag112.xml"/><Relationship Id="rId10" Type="http://schemas.openxmlformats.org/officeDocument/2006/relationships/tags" Target="../tags/tag107.xml"/><Relationship Id="rId19" Type="http://schemas.openxmlformats.org/officeDocument/2006/relationships/slideLayout" Target="../slideLayouts/slideLayout2.xml"/><Relationship Id="rId4" Type="http://schemas.openxmlformats.org/officeDocument/2006/relationships/tags" Target="../tags/tag101.xml"/><Relationship Id="rId9" Type="http://schemas.openxmlformats.org/officeDocument/2006/relationships/tags" Target="../tags/tag106.xml"/><Relationship Id="rId14" Type="http://schemas.openxmlformats.org/officeDocument/2006/relationships/tags" Target="../tags/tag111.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18" Type="http://schemas.openxmlformats.org/officeDocument/2006/relationships/tags" Target="../tags/tag133.xml"/><Relationship Id="rId3" Type="http://schemas.openxmlformats.org/officeDocument/2006/relationships/tags" Target="../tags/tag118.xml"/><Relationship Id="rId7" Type="http://schemas.openxmlformats.org/officeDocument/2006/relationships/tags" Target="../tags/tag122.xml"/><Relationship Id="rId12" Type="http://schemas.openxmlformats.org/officeDocument/2006/relationships/tags" Target="../tags/tag127.xml"/><Relationship Id="rId17" Type="http://schemas.openxmlformats.org/officeDocument/2006/relationships/tags" Target="../tags/tag132.xml"/><Relationship Id="rId2" Type="http://schemas.openxmlformats.org/officeDocument/2006/relationships/tags" Target="../tags/tag117.xml"/><Relationship Id="rId16" Type="http://schemas.openxmlformats.org/officeDocument/2006/relationships/tags" Target="../tags/tag131.xml"/><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5" Type="http://schemas.openxmlformats.org/officeDocument/2006/relationships/tags" Target="../tags/tag120.xml"/><Relationship Id="rId15" Type="http://schemas.openxmlformats.org/officeDocument/2006/relationships/tags" Target="../tags/tag130.xml"/><Relationship Id="rId10" Type="http://schemas.openxmlformats.org/officeDocument/2006/relationships/tags" Target="../tags/tag125.xml"/><Relationship Id="rId19" Type="http://schemas.openxmlformats.org/officeDocument/2006/relationships/slideLayout" Target="../slideLayouts/slideLayout2.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5.xml"/><Relationship Id="rId1" Type="http://schemas.openxmlformats.org/officeDocument/2006/relationships/tags" Target="../tags/tag134.xml"/><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7.xml"/><Relationship Id="rId1" Type="http://schemas.openxmlformats.org/officeDocument/2006/relationships/tags" Target="../tags/tag136.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9.xml"/><Relationship Id="rId1" Type="http://schemas.openxmlformats.org/officeDocument/2006/relationships/tags" Target="../tags/tag138.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41.xml"/><Relationship Id="rId1" Type="http://schemas.openxmlformats.org/officeDocument/2006/relationships/tags" Target="../tags/tag1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43.xml"/><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8" Type="http://schemas.openxmlformats.org/officeDocument/2006/relationships/tags" Target="../tags/tag151.xml"/><Relationship Id="rId13" Type="http://schemas.openxmlformats.org/officeDocument/2006/relationships/notesSlide" Target="../notesSlides/notesSlide15.xml"/><Relationship Id="rId3" Type="http://schemas.openxmlformats.org/officeDocument/2006/relationships/tags" Target="../tags/tag146.xml"/><Relationship Id="rId7" Type="http://schemas.openxmlformats.org/officeDocument/2006/relationships/tags" Target="../tags/tag150.xml"/><Relationship Id="rId12" Type="http://schemas.openxmlformats.org/officeDocument/2006/relationships/slideLayout" Target="../slideLayouts/slideLayout2.xml"/><Relationship Id="rId2" Type="http://schemas.openxmlformats.org/officeDocument/2006/relationships/tags" Target="../tags/tag145.xml"/><Relationship Id="rId1" Type="http://schemas.openxmlformats.org/officeDocument/2006/relationships/tags" Target="../tags/tag144.xml"/><Relationship Id="rId6" Type="http://schemas.openxmlformats.org/officeDocument/2006/relationships/tags" Target="../tags/tag149.xml"/><Relationship Id="rId11" Type="http://schemas.openxmlformats.org/officeDocument/2006/relationships/tags" Target="../tags/tag154.xml"/><Relationship Id="rId5" Type="http://schemas.openxmlformats.org/officeDocument/2006/relationships/tags" Target="../tags/tag148.xml"/><Relationship Id="rId10" Type="http://schemas.openxmlformats.org/officeDocument/2006/relationships/tags" Target="../tags/tag153.xml"/><Relationship Id="rId4" Type="http://schemas.openxmlformats.org/officeDocument/2006/relationships/tags" Target="../tags/tag147.xml"/><Relationship Id="rId9" Type="http://schemas.openxmlformats.org/officeDocument/2006/relationships/tags" Target="../tags/tag152.xml"/></Relationships>
</file>

<file path=ppt/slides/_rels/slide38.xml.rels><?xml version="1.0" encoding="UTF-8" standalone="yes"?>
<Relationships xmlns="http://schemas.openxmlformats.org/package/2006/relationships"><Relationship Id="rId8" Type="http://schemas.openxmlformats.org/officeDocument/2006/relationships/tags" Target="../tags/tag162.xml"/><Relationship Id="rId13" Type="http://schemas.openxmlformats.org/officeDocument/2006/relationships/notesSlide" Target="../notesSlides/notesSlide16.xml"/><Relationship Id="rId3" Type="http://schemas.openxmlformats.org/officeDocument/2006/relationships/tags" Target="../tags/tag157.xml"/><Relationship Id="rId7" Type="http://schemas.openxmlformats.org/officeDocument/2006/relationships/tags" Target="../tags/tag161.xml"/><Relationship Id="rId12" Type="http://schemas.openxmlformats.org/officeDocument/2006/relationships/slideLayout" Target="../slideLayouts/slideLayout2.xml"/><Relationship Id="rId2" Type="http://schemas.openxmlformats.org/officeDocument/2006/relationships/tags" Target="../tags/tag156.xml"/><Relationship Id="rId1" Type="http://schemas.openxmlformats.org/officeDocument/2006/relationships/tags" Target="../tags/tag155.xml"/><Relationship Id="rId6" Type="http://schemas.openxmlformats.org/officeDocument/2006/relationships/tags" Target="../tags/tag160.xml"/><Relationship Id="rId11" Type="http://schemas.openxmlformats.org/officeDocument/2006/relationships/tags" Target="../tags/tag165.xml"/><Relationship Id="rId5" Type="http://schemas.openxmlformats.org/officeDocument/2006/relationships/tags" Target="../tags/tag159.xml"/><Relationship Id="rId10" Type="http://schemas.openxmlformats.org/officeDocument/2006/relationships/tags" Target="../tags/tag164.xml"/><Relationship Id="rId4" Type="http://schemas.openxmlformats.org/officeDocument/2006/relationships/tags" Target="../tags/tag158.xml"/><Relationship Id="rId9" Type="http://schemas.openxmlformats.org/officeDocument/2006/relationships/tags" Target="../tags/tag163.xml"/></Relationships>
</file>

<file path=ppt/slides/_rels/slide39.xml.rels><?xml version="1.0" encoding="UTF-8" standalone="yes"?>
<Relationships xmlns="http://schemas.openxmlformats.org/package/2006/relationships"><Relationship Id="rId8" Type="http://schemas.openxmlformats.org/officeDocument/2006/relationships/tags" Target="../tags/tag173.xml"/><Relationship Id="rId13" Type="http://schemas.openxmlformats.org/officeDocument/2006/relationships/notesSlide" Target="../notesSlides/notesSlide17.xml"/><Relationship Id="rId3" Type="http://schemas.openxmlformats.org/officeDocument/2006/relationships/tags" Target="../tags/tag168.xml"/><Relationship Id="rId7" Type="http://schemas.openxmlformats.org/officeDocument/2006/relationships/tags" Target="../tags/tag172.xml"/><Relationship Id="rId12" Type="http://schemas.openxmlformats.org/officeDocument/2006/relationships/slideLayout" Target="../slideLayouts/slideLayout2.xml"/><Relationship Id="rId2" Type="http://schemas.openxmlformats.org/officeDocument/2006/relationships/tags" Target="../tags/tag167.xml"/><Relationship Id="rId1" Type="http://schemas.openxmlformats.org/officeDocument/2006/relationships/tags" Target="../tags/tag166.xml"/><Relationship Id="rId6" Type="http://schemas.openxmlformats.org/officeDocument/2006/relationships/tags" Target="../tags/tag171.xml"/><Relationship Id="rId11" Type="http://schemas.openxmlformats.org/officeDocument/2006/relationships/tags" Target="../tags/tag176.xml"/><Relationship Id="rId5" Type="http://schemas.openxmlformats.org/officeDocument/2006/relationships/tags" Target="../tags/tag170.xml"/><Relationship Id="rId10" Type="http://schemas.openxmlformats.org/officeDocument/2006/relationships/tags" Target="../tags/tag175.xml"/><Relationship Id="rId4" Type="http://schemas.openxmlformats.org/officeDocument/2006/relationships/tags" Target="../tags/tag169.xml"/><Relationship Id="rId9" Type="http://schemas.openxmlformats.org/officeDocument/2006/relationships/tags" Target="../tags/tag174.xml"/></Relationships>
</file>

<file path=ppt/slides/_rels/slide40.xml.rels><?xml version="1.0" encoding="UTF-8" standalone="yes"?>
<Relationships xmlns="http://schemas.openxmlformats.org/package/2006/relationships"><Relationship Id="rId8" Type="http://schemas.openxmlformats.org/officeDocument/2006/relationships/tags" Target="../tags/tag184.xml"/><Relationship Id="rId13" Type="http://schemas.openxmlformats.org/officeDocument/2006/relationships/slideLayout" Target="../slideLayouts/slideLayout2.xml"/><Relationship Id="rId3" Type="http://schemas.openxmlformats.org/officeDocument/2006/relationships/tags" Target="../tags/tag179.xml"/><Relationship Id="rId7" Type="http://schemas.openxmlformats.org/officeDocument/2006/relationships/tags" Target="../tags/tag183.xml"/><Relationship Id="rId12" Type="http://schemas.openxmlformats.org/officeDocument/2006/relationships/tags" Target="../tags/tag188.xml"/><Relationship Id="rId2" Type="http://schemas.openxmlformats.org/officeDocument/2006/relationships/tags" Target="../tags/tag178.xml"/><Relationship Id="rId1" Type="http://schemas.openxmlformats.org/officeDocument/2006/relationships/tags" Target="../tags/tag177.xml"/><Relationship Id="rId6" Type="http://schemas.openxmlformats.org/officeDocument/2006/relationships/tags" Target="../tags/tag182.xml"/><Relationship Id="rId11" Type="http://schemas.openxmlformats.org/officeDocument/2006/relationships/tags" Target="../tags/tag187.xml"/><Relationship Id="rId5" Type="http://schemas.openxmlformats.org/officeDocument/2006/relationships/tags" Target="../tags/tag181.xml"/><Relationship Id="rId10" Type="http://schemas.openxmlformats.org/officeDocument/2006/relationships/tags" Target="../tags/tag186.xml"/><Relationship Id="rId4" Type="http://schemas.openxmlformats.org/officeDocument/2006/relationships/tags" Target="../tags/tag180.xml"/><Relationship Id="rId9" Type="http://schemas.openxmlformats.org/officeDocument/2006/relationships/tags" Target="../tags/tag185.xml"/><Relationship Id="rId14"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8" Type="http://schemas.openxmlformats.org/officeDocument/2006/relationships/tags" Target="../tags/tag196.xml"/><Relationship Id="rId13" Type="http://schemas.openxmlformats.org/officeDocument/2006/relationships/slideLayout" Target="../slideLayouts/slideLayout2.xml"/><Relationship Id="rId3" Type="http://schemas.openxmlformats.org/officeDocument/2006/relationships/tags" Target="../tags/tag191.xml"/><Relationship Id="rId7" Type="http://schemas.openxmlformats.org/officeDocument/2006/relationships/tags" Target="../tags/tag195.xml"/><Relationship Id="rId12" Type="http://schemas.openxmlformats.org/officeDocument/2006/relationships/tags" Target="../tags/tag200.xml"/><Relationship Id="rId2" Type="http://schemas.openxmlformats.org/officeDocument/2006/relationships/tags" Target="../tags/tag190.xml"/><Relationship Id="rId1" Type="http://schemas.openxmlformats.org/officeDocument/2006/relationships/tags" Target="../tags/tag189.xml"/><Relationship Id="rId6" Type="http://schemas.openxmlformats.org/officeDocument/2006/relationships/tags" Target="../tags/tag194.xml"/><Relationship Id="rId11" Type="http://schemas.openxmlformats.org/officeDocument/2006/relationships/tags" Target="../tags/tag199.xml"/><Relationship Id="rId5" Type="http://schemas.openxmlformats.org/officeDocument/2006/relationships/tags" Target="../tags/tag193.xml"/><Relationship Id="rId10" Type="http://schemas.openxmlformats.org/officeDocument/2006/relationships/tags" Target="../tags/tag198.xml"/><Relationship Id="rId4" Type="http://schemas.openxmlformats.org/officeDocument/2006/relationships/tags" Target="../tags/tag192.xml"/><Relationship Id="rId9" Type="http://schemas.openxmlformats.org/officeDocument/2006/relationships/tags" Target="../tags/tag197.xml"/><Relationship Id="rId14"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8" Type="http://schemas.openxmlformats.org/officeDocument/2006/relationships/tags" Target="../tags/tag208.xml"/><Relationship Id="rId13" Type="http://schemas.openxmlformats.org/officeDocument/2006/relationships/slideLayout" Target="../slideLayouts/slideLayout2.xml"/><Relationship Id="rId3" Type="http://schemas.openxmlformats.org/officeDocument/2006/relationships/tags" Target="../tags/tag203.xml"/><Relationship Id="rId7" Type="http://schemas.openxmlformats.org/officeDocument/2006/relationships/tags" Target="../tags/tag207.xml"/><Relationship Id="rId12" Type="http://schemas.openxmlformats.org/officeDocument/2006/relationships/tags" Target="../tags/tag212.xml"/><Relationship Id="rId2" Type="http://schemas.openxmlformats.org/officeDocument/2006/relationships/tags" Target="../tags/tag202.xml"/><Relationship Id="rId1" Type="http://schemas.openxmlformats.org/officeDocument/2006/relationships/tags" Target="../tags/tag201.xml"/><Relationship Id="rId6" Type="http://schemas.openxmlformats.org/officeDocument/2006/relationships/tags" Target="../tags/tag206.xml"/><Relationship Id="rId11" Type="http://schemas.openxmlformats.org/officeDocument/2006/relationships/tags" Target="../tags/tag211.xml"/><Relationship Id="rId5" Type="http://schemas.openxmlformats.org/officeDocument/2006/relationships/tags" Target="../tags/tag205.xml"/><Relationship Id="rId10" Type="http://schemas.openxmlformats.org/officeDocument/2006/relationships/tags" Target="../tags/tag210.xml"/><Relationship Id="rId4" Type="http://schemas.openxmlformats.org/officeDocument/2006/relationships/tags" Target="../tags/tag204.xml"/><Relationship Id="rId9" Type="http://schemas.openxmlformats.org/officeDocument/2006/relationships/tags" Target="../tags/tag209.xml"/><Relationship Id="rId14"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8" Type="http://schemas.openxmlformats.org/officeDocument/2006/relationships/tags" Target="../tags/tag220.xml"/><Relationship Id="rId13" Type="http://schemas.openxmlformats.org/officeDocument/2006/relationships/tags" Target="../tags/tag225.xml"/><Relationship Id="rId3" Type="http://schemas.openxmlformats.org/officeDocument/2006/relationships/tags" Target="../tags/tag215.xml"/><Relationship Id="rId7" Type="http://schemas.openxmlformats.org/officeDocument/2006/relationships/tags" Target="../tags/tag219.xml"/><Relationship Id="rId12" Type="http://schemas.openxmlformats.org/officeDocument/2006/relationships/tags" Target="../tags/tag224.xml"/><Relationship Id="rId2" Type="http://schemas.openxmlformats.org/officeDocument/2006/relationships/tags" Target="../tags/tag214.xml"/><Relationship Id="rId1" Type="http://schemas.openxmlformats.org/officeDocument/2006/relationships/tags" Target="../tags/tag213.xml"/><Relationship Id="rId6" Type="http://schemas.openxmlformats.org/officeDocument/2006/relationships/tags" Target="../tags/tag218.xml"/><Relationship Id="rId11" Type="http://schemas.openxmlformats.org/officeDocument/2006/relationships/tags" Target="../tags/tag223.xml"/><Relationship Id="rId5" Type="http://schemas.openxmlformats.org/officeDocument/2006/relationships/tags" Target="../tags/tag217.xml"/><Relationship Id="rId15" Type="http://schemas.openxmlformats.org/officeDocument/2006/relationships/notesSlide" Target="../notesSlides/notesSlide21.xml"/><Relationship Id="rId10" Type="http://schemas.openxmlformats.org/officeDocument/2006/relationships/tags" Target="../tags/tag222.xml"/><Relationship Id="rId4" Type="http://schemas.openxmlformats.org/officeDocument/2006/relationships/tags" Target="../tags/tag216.xml"/><Relationship Id="rId9" Type="http://schemas.openxmlformats.org/officeDocument/2006/relationships/tags" Target="../tags/tag221.xml"/><Relationship Id="rId14"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8" Type="http://schemas.openxmlformats.org/officeDocument/2006/relationships/tags" Target="../tags/tag233.xml"/><Relationship Id="rId13" Type="http://schemas.openxmlformats.org/officeDocument/2006/relationships/tags" Target="../tags/tag238.xml"/><Relationship Id="rId3" Type="http://schemas.openxmlformats.org/officeDocument/2006/relationships/tags" Target="../tags/tag228.xml"/><Relationship Id="rId7" Type="http://schemas.openxmlformats.org/officeDocument/2006/relationships/tags" Target="../tags/tag232.xml"/><Relationship Id="rId12" Type="http://schemas.openxmlformats.org/officeDocument/2006/relationships/tags" Target="../tags/tag237.xml"/><Relationship Id="rId2" Type="http://schemas.openxmlformats.org/officeDocument/2006/relationships/tags" Target="../tags/tag227.xml"/><Relationship Id="rId1" Type="http://schemas.openxmlformats.org/officeDocument/2006/relationships/tags" Target="../tags/tag226.xml"/><Relationship Id="rId6" Type="http://schemas.openxmlformats.org/officeDocument/2006/relationships/tags" Target="../tags/tag231.xml"/><Relationship Id="rId11" Type="http://schemas.openxmlformats.org/officeDocument/2006/relationships/tags" Target="../tags/tag236.xml"/><Relationship Id="rId5" Type="http://schemas.openxmlformats.org/officeDocument/2006/relationships/tags" Target="../tags/tag230.xml"/><Relationship Id="rId15" Type="http://schemas.openxmlformats.org/officeDocument/2006/relationships/notesSlide" Target="../notesSlides/notesSlide22.xml"/><Relationship Id="rId10" Type="http://schemas.openxmlformats.org/officeDocument/2006/relationships/tags" Target="../tags/tag235.xml"/><Relationship Id="rId4" Type="http://schemas.openxmlformats.org/officeDocument/2006/relationships/tags" Target="../tags/tag229.xml"/><Relationship Id="rId9" Type="http://schemas.openxmlformats.org/officeDocument/2006/relationships/tags" Target="../tags/tag234.xml"/><Relationship Id="rId14"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tags" Target="../tags/tag246.xml"/><Relationship Id="rId13" Type="http://schemas.openxmlformats.org/officeDocument/2006/relationships/tags" Target="../tags/tag251.xml"/><Relationship Id="rId18" Type="http://schemas.openxmlformats.org/officeDocument/2006/relationships/slideLayout" Target="../slideLayouts/slideLayout2.xml"/><Relationship Id="rId3" Type="http://schemas.openxmlformats.org/officeDocument/2006/relationships/tags" Target="../tags/tag241.xml"/><Relationship Id="rId7" Type="http://schemas.openxmlformats.org/officeDocument/2006/relationships/tags" Target="../tags/tag245.xml"/><Relationship Id="rId12" Type="http://schemas.openxmlformats.org/officeDocument/2006/relationships/tags" Target="../tags/tag250.xml"/><Relationship Id="rId17" Type="http://schemas.openxmlformats.org/officeDocument/2006/relationships/tags" Target="../tags/tag255.xml"/><Relationship Id="rId2" Type="http://schemas.openxmlformats.org/officeDocument/2006/relationships/tags" Target="../tags/tag240.xml"/><Relationship Id="rId16" Type="http://schemas.openxmlformats.org/officeDocument/2006/relationships/tags" Target="../tags/tag254.xml"/><Relationship Id="rId1" Type="http://schemas.openxmlformats.org/officeDocument/2006/relationships/tags" Target="../tags/tag239.xml"/><Relationship Id="rId6" Type="http://schemas.openxmlformats.org/officeDocument/2006/relationships/tags" Target="../tags/tag244.xml"/><Relationship Id="rId11" Type="http://schemas.openxmlformats.org/officeDocument/2006/relationships/tags" Target="../tags/tag249.xml"/><Relationship Id="rId5" Type="http://schemas.openxmlformats.org/officeDocument/2006/relationships/tags" Target="../tags/tag243.xml"/><Relationship Id="rId15" Type="http://schemas.openxmlformats.org/officeDocument/2006/relationships/tags" Target="../tags/tag253.xml"/><Relationship Id="rId10" Type="http://schemas.openxmlformats.org/officeDocument/2006/relationships/tags" Target="../tags/tag248.xml"/><Relationship Id="rId19" Type="http://schemas.openxmlformats.org/officeDocument/2006/relationships/notesSlide" Target="../notesSlides/notesSlide23.xml"/><Relationship Id="rId4" Type="http://schemas.openxmlformats.org/officeDocument/2006/relationships/tags" Target="../tags/tag242.xml"/><Relationship Id="rId9" Type="http://schemas.openxmlformats.org/officeDocument/2006/relationships/tags" Target="../tags/tag247.xml"/><Relationship Id="rId14" Type="http://schemas.openxmlformats.org/officeDocument/2006/relationships/tags" Target="../tags/tag252.xml"/></Relationships>
</file>

<file path=ppt/slides/_rels/slide46.xml.rels><?xml version="1.0" encoding="UTF-8" standalone="yes"?>
<Relationships xmlns="http://schemas.openxmlformats.org/package/2006/relationships"><Relationship Id="rId3" Type="http://schemas.openxmlformats.org/officeDocument/2006/relationships/tags" Target="../tags/tag258.xml"/><Relationship Id="rId7" Type="http://schemas.openxmlformats.org/officeDocument/2006/relationships/notesSlide" Target="../notesSlides/notesSlide24.xml"/><Relationship Id="rId2" Type="http://schemas.openxmlformats.org/officeDocument/2006/relationships/tags" Target="../tags/tag257.xml"/><Relationship Id="rId1" Type="http://schemas.openxmlformats.org/officeDocument/2006/relationships/tags" Target="../tags/tag256.xml"/><Relationship Id="rId6" Type="http://schemas.openxmlformats.org/officeDocument/2006/relationships/slideLayout" Target="../slideLayouts/slideLayout2.xml"/><Relationship Id="rId5" Type="http://schemas.openxmlformats.org/officeDocument/2006/relationships/tags" Target="../tags/tag260.xml"/><Relationship Id="rId4" Type="http://schemas.openxmlformats.org/officeDocument/2006/relationships/tags" Target="../tags/tag259.xml"/></Relationships>
</file>

<file path=ppt/slides/_rels/slide4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263.xml"/><Relationship Id="rId7" Type="http://schemas.openxmlformats.org/officeDocument/2006/relationships/notesSlide" Target="../notesSlides/notesSlide25.xml"/><Relationship Id="rId2" Type="http://schemas.openxmlformats.org/officeDocument/2006/relationships/tags" Target="../tags/tag262.xml"/><Relationship Id="rId1" Type="http://schemas.openxmlformats.org/officeDocument/2006/relationships/tags" Target="../tags/tag261.xml"/><Relationship Id="rId6" Type="http://schemas.openxmlformats.org/officeDocument/2006/relationships/slideLayout" Target="../slideLayouts/slideLayout2.xml"/><Relationship Id="rId5" Type="http://schemas.openxmlformats.org/officeDocument/2006/relationships/tags" Target="../tags/tag265.xml"/><Relationship Id="rId4" Type="http://schemas.openxmlformats.org/officeDocument/2006/relationships/tags" Target="../tags/tag264.xml"/></Relationships>
</file>

<file path=ppt/slides/_rels/slide48.xml.rels><?xml version="1.0" encoding="UTF-8" standalone="yes"?>
<Relationships xmlns="http://schemas.openxmlformats.org/package/2006/relationships"><Relationship Id="rId8" Type="http://schemas.openxmlformats.org/officeDocument/2006/relationships/tags" Target="../tags/tag273.xml"/><Relationship Id="rId13" Type="http://schemas.openxmlformats.org/officeDocument/2006/relationships/tags" Target="../tags/tag278.xml"/><Relationship Id="rId3" Type="http://schemas.openxmlformats.org/officeDocument/2006/relationships/tags" Target="../tags/tag268.xml"/><Relationship Id="rId7" Type="http://schemas.openxmlformats.org/officeDocument/2006/relationships/tags" Target="../tags/tag272.xml"/><Relationship Id="rId12" Type="http://schemas.openxmlformats.org/officeDocument/2006/relationships/tags" Target="../tags/tag277.xml"/><Relationship Id="rId2" Type="http://schemas.openxmlformats.org/officeDocument/2006/relationships/tags" Target="../tags/tag267.xml"/><Relationship Id="rId16" Type="http://schemas.openxmlformats.org/officeDocument/2006/relationships/notesSlide" Target="../notesSlides/notesSlide26.xml"/><Relationship Id="rId1" Type="http://schemas.openxmlformats.org/officeDocument/2006/relationships/tags" Target="../tags/tag266.xml"/><Relationship Id="rId6" Type="http://schemas.openxmlformats.org/officeDocument/2006/relationships/tags" Target="../tags/tag271.xml"/><Relationship Id="rId11" Type="http://schemas.openxmlformats.org/officeDocument/2006/relationships/tags" Target="../tags/tag276.xml"/><Relationship Id="rId5" Type="http://schemas.openxmlformats.org/officeDocument/2006/relationships/tags" Target="../tags/tag270.xml"/><Relationship Id="rId15" Type="http://schemas.openxmlformats.org/officeDocument/2006/relationships/slideLayout" Target="../slideLayouts/slideLayout2.xml"/><Relationship Id="rId10" Type="http://schemas.openxmlformats.org/officeDocument/2006/relationships/tags" Target="../tags/tag275.xml"/><Relationship Id="rId4" Type="http://schemas.openxmlformats.org/officeDocument/2006/relationships/tags" Target="../tags/tag269.xml"/><Relationship Id="rId9" Type="http://schemas.openxmlformats.org/officeDocument/2006/relationships/tags" Target="../tags/tag274.xml"/><Relationship Id="rId14" Type="http://schemas.openxmlformats.org/officeDocument/2006/relationships/tags" Target="../tags/tag279.xml"/></Relationships>
</file>

<file path=ppt/slides/_rels/slide49.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282.xml"/><Relationship Id="rId7" Type="http://schemas.openxmlformats.org/officeDocument/2006/relationships/notesSlide" Target="../notesSlides/notesSlide27.xml"/><Relationship Id="rId2" Type="http://schemas.openxmlformats.org/officeDocument/2006/relationships/tags" Target="../tags/tag281.xml"/><Relationship Id="rId1" Type="http://schemas.openxmlformats.org/officeDocument/2006/relationships/tags" Target="../tags/tag280.xml"/><Relationship Id="rId6" Type="http://schemas.openxmlformats.org/officeDocument/2006/relationships/slideLayout" Target="../slideLayouts/slideLayout2.xml"/><Relationship Id="rId5" Type="http://schemas.openxmlformats.org/officeDocument/2006/relationships/tags" Target="../tags/tag284.xml"/><Relationship Id="rId4" Type="http://schemas.openxmlformats.org/officeDocument/2006/relationships/tags" Target="../tags/tag283.xml"/><Relationship Id="rId9" Type="http://schemas.openxmlformats.org/officeDocument/2006/relationships/image" Target="../media/image17.emf"/></Relationships>
</file>

<file path=ppt/slides/_rels/slide50.xml.rels><?xml version="1.0" encoding="UTF-8" standalone="yes"?>
<Relationships xmlns="http://schemas.openxmlformats.org/package/2006/relationships"><Relationship Id="rId8" Type="http://schemas.openxmlformats.org/officeDocument/2006/relationships/package" Target="../embeddings/Microsoft_Word_Document.docx"/><Relationship Id="rId3" Type="http://schemas.openxmlformats.org/officeDocument/2006/relationships/tags" Target="../tags/tag287.xml"/><Relationship Id="rId7" Type="http://schemas.openxmlformats.org/officeDocument/2006/relationships/notesSlide" Target="../notesSlides/notesSlide28.xml"/><Relationship Id="rId2" Type="http://schemas.openxmlformats.org/officeDocument/2006/relationships/tags" Target="../tags/tag286.xml"/><Relationship Id="rId1" Type="http://schemas.openxmlformats.org/officeDocument/2006/relationships/tags" Target="../tags/tag285.xml"/><Relationship Id="rId6" Type="http://schemas.openxmlformats.org/officeDocument/2006/relationships/slideLayout" Target="../slideLayouts/slideLayout2.xml"/><Relationship Id="rId5" Type="http://schemas.openxmlformats.org/officeDocument/2006/relationships/tags" Target="../tags/tag289.xml"/><Relationship Id="rId4" Type="http://schemas.openxmlformats.org/officeDocument/2006/relationships/tags" Target="../tags/tag288.xml"/><Relationship Id="rId9" Type="http://schemas.openxmlformats.org/officeDocument/2006/relationships/image" Target="../media/image17.emf"/></Relationships>
</file>

<file path=ppt/slides/_rels/slide51.xml.rels><?xml version="1.0" encoding="UTF-8" standalone="yes"?>
<Relationships xmlns="http://schemas.openxmlformats.org/package/2006/relationships"><Relationship Id="rId8" Type="http://schemas.openxmlformats.org/officeDocument/2006/relationships/tags" Target="../tags/tag297.xml"/><Relationship Id="rId13" Type="http://schemas.openxmlformats.org/officeDocument/2006/relationships/tags" Target="../tags/tag302.xml"/><Relationship Id="rId3" Type="http://schemas.openxmlformats.org/officeDocument/2006/relationships/tags" Target="../tags/tag292.xml"/><Relationship Id="rId7" Type="http://schemas.openxmlformats.org/officeDocument/2006/relationships/tags" Target="../tags/tag296.xml"/><Relationship Id="rId12" Type="http://schemas.openxmlformats.org/officeDocument/2006/relationships/tags" Target="../tags/tag301.xml"/><Relationship Id="rId2" Type="http://schemas.openxmlformats.org/officeDocument/2006/relationships/tags" Target="../tags/tag291.xml"/><Relationship Id="rId1" Type="http://schemas.openxmlformats.org/officeDocument/2006/relationships/tags" Target="../tags/tag290.xml"/><Relationship Id="rId6" Type="http://schemas.openxmlformats.org/officeDocument/2006/relationships/tags" Target="../tags/tag295.xml"/><Relationship Id="rId11" Type="http://schemas.openxmlformats.org/officeDocument/2006/relationships/tags" Target="../tags/tag300.xml"/><Relationship Id="rId5" Type="http://schemas.openxmlformats.org/officeDocument/2006/relationships/tags" Target="../tags/tag294.xml"/><Relationship Id="rId15" Type="http://schemas.openxmlformats.org/officeDocument/2006/relationships/notesSlide" Target="../notesSlides/notesSlide29.xml"/><Relationship Id="rId10" Type="http://schemas.openxmlformats.org/officeDocument/2006/relationships/tags" Target="../tags/tag299.xml"/><Relationship Id="rId4" Type="http://schemas.openxmlformats.org/officeDocument/2006/relationships/tags" Target="../tags/tag293.xml"/><Relationship Id="rId9" Type="http://schemas.openxmlformats.org/officeDocument/2006/relationships/tags" Target="../tags/tag298.xml"/><Relationship Id="rId14"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notesSlide" Target="../notesSlides/notesSlide30.xml"/><Relationship Id="rId3" Type="http://schemas.openxmlformats.org/officeDocument/2006/relationships/tags" Target="../tags/tag305.xml"/><Relationship Id="rId7" Type="http://schemas.openxmlformats.org/officeDocument/2006/relationships/slideLayout" Target="../slideLayouts/slideLayout2.xml"/><Relationship Id="rId12" Type="http://schemas.openxmlformats.org/officeDocument/2006/relationships/image" Target="../media/image21.png"/><Relationship Id="rId2" Type="http://schemas.openxmlformats.org/officeDocument/2006/relationships/tags" Target="../tags/tag304.xml"/><Relationship Id="rId1" Type="http://schemas.openxmlformats.org/officeDocument/2006/relationships/tags" Target="../tags/tag303.xml"/><Relationship Id="rId6" Type="http://schemas.openxmlformats.org/officeDocument/2006/relationships/tags" Target="../tags/tag308.xml"/><Relationship Id="rId11" Type="http://schemas.openxmlformats.org/officeDocument/2006/relationships/image" Target="../media/image20.jpeg"/><Relationship Id="rId5" Type="http://schemas.openxmlformats.org/officeDocument/2006/relationships/tags" Target="../tags/tag307.xml"/><Relationship Id="rId10" Type="http://schemas.openxmlformats.org/officeDocument/2006/relationships/image" Target="../media/image19.jpeg"/><Relationship Id="rId4" Type="http://schemas.openxmlformats.org/officeDocument/2006/relationships/tags" Target="../tags/tag306.xml"/><Relationship Id="rId9" Type="http://schemas.openxmlformats.org/officeDocument/2006/relationships/image" Target="../media/image18.jpeg"/></Relationships>
</file>

<file path=ppt/slides/_rels/slide53.xml.rels><?xml version="1.0" encoding="UTF-8" standalone="yes"?>
<Relationships xmlns="http://schemas.openxmlformats.org/package/2006/relationships"><Relationship Id="rId3" Type="http://schemas.openxmlformats.org/officeDocument/2006/relationships/tags" Target="../tags/tag311.xml"/><Relationship Id="rId7" Type="http://schemas.openxmlformats.org/officeDocument/2006/relationships/notesSlide" Target="../notesSlides/notesSlide31.xml"/><Relationship Id="rId2" Type="http://schemas.openxmlformats.org/officeDocument/2006/relationships/tags" Target="../tags/tag310.xml"/><Relationship Id="rId1" Type="http://schemas.openxmlformats.org/officeDocument/2006/relationships/tags" Target="../tags/tag309.xml"/><Relationship Id="rId6" Type="http://schemas.openxmlformats.org/officeDocument/2006/relationships/slideLayout" Target="../slideLayouts/slideLayout2.xml"/><Relationship Id="rId5" Type="http://schemas.openxmlformats.org/officeDocument/2006/relationships/tags" Target="../tags/tag313.xml"/><Relationship Id="rId4" Type="http://schemas.openxmlformats.org/officeDocument/2006/relationships/tags" Target="../tags/tag312.xml"/></Relationships>
</file>

<file path=ppt/slides/_rels/slide54.xml.rels><?xml version="1.0" encoding="UTF-8" standalone="yes"?>
<Relationships xmlns="http://schemas.openxmlformats.org/package/2006/relationships"><Relationship Id="rId3" Type="http://schemas.openxmlformats.org/officeDocument/2006/relationships/tags" Target="../tags/tag316.xml"/><Relationship Id="rId7" Type="http://schemas.openxmlformats.org/officeDocument/2006/relationships/notesSlide" Target="../notesSlides/notesSlide32.xml"/><Relationship Id="rId2" Type="http://schemas.openxmlformats.org/officeDocument/2006/relationships/tags" Target="../tags/tag315.xml"/><Relationship Id="rId1" Type="http://schemas.openxmlformats.org/officeDocument/2006/relationships/tags" Target="../tags/tag314.xml"/><Relationship Id="rId6" Type="http://schemas.openxmlformats.org/officeDocument/2006/relationships/slideLayout" Target="../slideLayouts/slideLayout2.xml"/><Relationship Id="rId5" Type="http://schemas.openxmlformats.org/officeDocument/2006/relationships/tags" Target="../tags/tag318.xml"/><Relationship Id="rId4" Type="http://schemas.openxmlformats.org/officeDocument/2006/relationships/tags" Target="../tags/tag317.xml"/></Relationships>
</file>

<file path=ppt/slides/_rels/slide55.xml.rels><?xml version="1.0" encoding="UTF-8" standalone="yes"?>
<Relationships xmlns="http://schemas.openxmlformats.org/package/2006/relationships"><Relationship Id="rId3" Type="http://schemas.openxmlformats.org/officeDocument/2006/relationships/tags" Target="../tags/tag321.xml"/><Relationship Id="rId7" Type="http://schemas.openxmlformats.org/officeDocument/2006/relationships/notesSlide" Target="../notesSlides/notesSlide33.xml"/><Relationship Id="rId2" Type="http://schemas.openxmlformats.org/officeDocument/2006/relationships/tags" Target="../tags/tag320.xml"/><Relationship Id="rId1" Type="http://schemas.openxmlformats.org/officeDocument/2006/relationships/tags" Target="../tags/tag319.xml"/><Relationship Id="rId6" Type="http://schemas.openxmlformats.org/officeDocument/2006/relationships/slideLayout" Target="../slideLayouts/slideLayout2.xml"/><Relationship Id="rId5" Type="http://schemas.openxmlformats.org/officeDocument/2006/relationships/tags" Target="../tags/tag323.xml"/><Relationship Id="rId4" Type="http://schemas.openxmlformats.org/officeDocument/2006/relationships/tags" Target="../tags/tag322.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3.xml"/><Relationship Id="rId1" Type="http://schemas.openxmlformats.org/officeDocument/2006/relationships/tags" Target="../tags/tag32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3.xml"/><Relationship Id="rId1" Type="http://schemas.openxmlformats.org/officeDocument/2006/relationships/tags" Target="../tags/tag325.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3.xml"/><Relationship Id="rId1" Type="http://schemas.openxmlformats.org/officeDocument/2006/relationships/tags" Target="../tags/tag32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2.xml"/><Relationship Id="rId1" Type="http://schemas.openxmlformats.org/officeDocument/2006/relationships/tags" Target="../tags/tag32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ags" Target="../tags/tag328.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3.xml"/><Relationship Id="rId1" Type="http://schemas.openxmlformats.org/officeDocument/2006/relationships/tags" Target="../tags/tag329.xml"/><Relationship Id="rId4" Type="http://schemas.openxmlformats.org/officeDocument/2006/relationships/image" Target="../media/image25.jpeg"/></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3.xml"/><Relationship Id="rId1" Type="http://schemas.openxmlformats.org/officeDocument/2006/relationships/tags" Target="../tags/tag330.xml"/><Relationship Id="rId4" Type="http://schemas.openxmlformats.org/officeDocument/2006/relationships/image" Target="../media/image25.jpeg"/></Relationships>
</file>

<file path=ppt/slides/_rels/slide6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333.xml"/><Relationship Id="rId7" Type="http://schemas.openxmlformats.org/officeDocument/2006/relationships/notesSlide" Target="../notesSlides/notesSlide41.xml"/><Relationship Id="rId2" Type="http://schemas.openxmlformats.org/officeDocument/2006/relationships/tags" Target="../tags/tag332.xml"/><Relationship Id="rId1" Type="http://schemas.openxmlformats.org/officeDocument/2006/relationships/tags" Target="../tags/tag331.xml"/><Relationship Id="rId6" Type="http://schemas.openxmlformats.org/officeDocument/2006/relationships/slideLayout" Target="../slideLayouts/slideLayout2.xml"/><Relationship Id="rId5" Type="http://schemas.openxmlformats.org/officeDocument/2006/relationships/tags" Target="../tags/tag335.xml"/><Relationship Id="rId4" Type="http://schemas.openxmlformats.org/officeDocument/2006/relationships/tags" Target="../tags/tag334.xml"/></Relationships>
</file>

<file path=ppt/slides/_rels/slide64.xml.rels><?xml version="1.0" encoding="UTF-8" standalone="yes"?>
<Relationships xmlns="http://schemas.openxmlformats.org/package/2006/relationships"><Relationship Id="rId8" Type="http://schemas.openxmlformats.org/officeDocument/2006/relationships/image" Target="../media/image27.jpeg"/><Relationship Id="rId3" Type="http://schemas.openxmlformats.org/officeDocument/2006/relationships/tags" Target="../tags/tag338.xml"/><Relationship Id="rId7" Type="http://schemas.openxmlformats.org/officeDocument/2006/relationships/notesSlide" Target="../notesSlides/notesSlide42.xml"/><Relationship Id="rId2" Type="http://schemas.openxmlformats.org/officeDocument/2006/relationships/tags" Target="../tags/tag337.xml"/><Relationship Id="rId1" Type="http://schemas.openxmlformats.org/officeDocument/2006/relationships/tags" Target="../tags/tag336.xml"/><Relationship Id="rId6" Type="http://schemas.openxmlformats.org/officeDocument/2006/relationships/slideLayout" Target="../slideLayouts/slideLayout2.xml"/><Relationship Id="rId5" Type="http://schemas.openxmlformats.org/officeDocument/2006/relationships/tags" Target="../tags/tag340.xml"/><Relationship Id="rId4" Type="http://schemas.openxmlformats.org/officeDocument/2006/relationships/tags" Target="../tags/tag339.xml"/></Relationships>
</file>

<file path=ppt/slides/_rels/slide65.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tags" Target="../tags/tag343.xml"/><Relationship Id="rId7" Type="http://schemas.openxmlformats.org/officeDocument/2006/relationships/notesSlide" Target="../notesSlides/notesSlide43.xml"/><Relationship Id="rId2" Type="http://schemas.openxmlformats.org/officeDocument/2006/relationships/tags" Target="../tags/tag342.xml"/><Relationship Id="rId1" Type="http://schemas.openxmlformats.org/officeDocument/2006/relationships/tags" Target="../tags/tag341.xml"/><Relationship Id="rId6" Type="http://schemas.openxmlformats.org/officeDocument/2006/relationships/slideLayout" Target="../slideLayouts/slideLayout2.xml"/><Relationship Id="rId5" Type="http://schemas.openxmlformats.org/officeDocument/2006/relationships/tags" Target="../tags/tag345.xml"/><Relationship Id="rId4" Type="http://schemas.openxmlformats.org/officeDocument/2006/relationships/tags" Target="../tags/tag34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4" y="1061577"/>
            <a:ext cx="9789514"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5257800" cy="535531"/>
          </a:xfrm>
        </p:spPr>
        <p:txBody>
          <a:bodyPr/>
          <a:lstStyle/>
          <a:p>
            <a:r>
              <a:rPr lang="en-US" dirty="0"/>
              <a:t>5 </a:t>
            </a:r>
            <a:r>
              <a:rPr lang="zh-CN" dirty="0"/>
              <a:t>软件维护</a:t>
            </a:r>
            <a:r>
              <a:rPr lang="zh-CN" altLang="en-US" dirty="0"/>
              <a:t>和软件重用</a:t>
            </a:r>
            <a:endParaRPr lang="zh-CN" altLang="zh-CN" dirty="0"/>
          </a:p>
        </p:txBody>
      </p:sp>
      <p:sp>
        <p:nvSpPr>
          <p:cNvPr id="100" name="文本框 99"/>
          <p:cNvSpPr txBox="1"/>
          <p:nvPr/>
        </p:nvSpPr>
        <p:spPr>
          <a:xfrm>
            <a:off x="1452880" y="4184876"/>
            <a:ext cx="10137140" cy="1498936"/>
          </a:xfrm>
          <a:prstGeom prst="rect">
            <a:avLst/>
          </a:prstGeom>
          <a:noFill/>
          <a:ln w="9525">
            <a:noFill/>
          </a:ln>
        </p:spPr>
        <p:txBody>
          <a:bodyPr wrap="square">
            <a:spAutoFit/>
          </a:bodyPr>
          <a:lstStyle/>
          <a:p>
            <a:pPr marL="0" indent="0" algn="l" fontAlgn="auto">
              <a:lnSpc>
                <a:spcPct val="130000"/>
              </a:lnSpc>
            </a:pPr>
            <a:r>
              <a:rPr lang="zh-CN" altLang="en-US" dirty="0">
                <a:sym typeface="+mn-ea"/>
              </a:rPr>
              <a:t>软件重用 </a:t>
            </a:r>
            <a:r>
              <a:rPr lang="en-US" altLang="zh-CN" dirty="0">
                <a:sym typeface="+mn-ea"/>
              </a:rPr>
              <a:t>reuse</a:t>
            </a:r>
          </a:p>
          <a:p>
            <a:pPr marL="0" indent="457200" algn="l" fontAlgn="auto">
              <a:lnSpc>
                <a:spcPct val="130000"/>
              </a:lnSpc>
            </a:pPr>
            <a:r>
              <a:rPr lang="zh-CN" altLang="en-US" dirty="0">
                <a:sym typeface="+mn-ea"/>
              </a:rPr>
              <a:t>在软件开发、维护过程中</a:t>
            </a:r>
            <a:r>
              <a:rPr lang="zh-CN" altLang="en-US" dirty="0">
                <a:solidFill>
                  <a:srgbClr val="00B0F0"/>
                </a:solidFill>
                <a:sym typeface="+mn-ea"/>
              </a:rPr>
              <a:t>不作修改</a:t>
            </a:r>
            <a:r>
              <a:rPr lang="zh-CN" altLang="en-US" dirty="0">
                <a:sym typeface="+mn-ea"/>
              </a:rPr>
              <a:t>或</a:t>
            </a:r>
            <a:r>
              <a:rPr lang="zh-CN" altLang="en-US" dirty="0">
                <a:solidFill>
                  <a:srgbClr val="00B0F0"/>
                </a:solidFill>
                <a:sym typeface="+mn-ea"/>
              </a:rPr>
              <a:t>稍加修改</a:t>
            </a:r>
            <a:r>
              <a:rPr lang="zh-CN" altLang="en-US" dirty="0">
                <a:sym typeface="+mn-ea"/>
              </a:rPr>
              <a:t>就可以重复使用相同或相似的软件元素的过程。</a:t>
            </a:r>
            <a:endParaRPr lang="en-US" altLang="zh-CN" dirty="0">
              <a:sym typeface="+mn-ea"/>
            </a:endParaRPr>
          </a:p>
          <a:p>
            <a:pPr marL="0" indent="457200" algn="l" fontAlgn="auto">
              <a:lnSpc>
                <a:spcPct val="130000"/>
              </a:lnSpc>
            </a:pPr>
            <a:r>
              <a:rPr lang="zh-CN" altLang="en-US" dirty="0">
                <a:sym typeface="+mn-ea"/>
              </a:rPr>
              <a:t>能更快、更好、成本更低地生产软件</a:t>
            </a:r>
            <a:endParaRPr lang="en-US" altLang="zh-CN" dirty="0">
              <a:sym typeface="+mn-ea"/>
            </a:endParaRPr>
          </a:p>
          <a:p>
            <a:pPr marL="0" indent="457200" algn="l" fontAlgn="auto">
              <a:lnSpc>
                <a:spcPct val="130000"/>
              </a:lnSpc>
            </a:pPr>
            <a:r>
              <a:rPr lang="zh-CN" altLang="en-US" dirty="0">
                <a:sym typeface="+mn-ea"/>
              </a:rPr>
              <a:t>软件重用技术、逆向工程和再工程</a:t>
            </a:r>
          </a:p>
        </p:txBody>
      </p:sp>
      <p:sp>
        <p:nvSpPr>
          <p:cNvPr id="7" name="文本框 6"/>
          <p:cNvSpPr txBox="1"/>
          <p:nvPr/>
        </p:nvSpPr>
        <p:spPr>
          <a:xfrm>
            <a:off x="753728" y="2626360"/>
            <a:ext cx="461665" cy="2169825"/>
          </a:xfrm>
          <a:prstGeom prst="rect">
            <a:avLst/>
          </a:prstGeom>
          <a:noFill/>
        </p:spPr>
        <p:txBody>
          <a:bodyPr vert="eaVert" wrap="none" rtlCol="0">
            <a:spAutoFit/>
          </a:bodyPr>
          <a:lstStyle/>
          <a:p>
            <a:pPr algn="l"/>
            <a:r>
              <a:rPr lang="zh-CN" altLang="en-US" dirty="0">
                <a:solidFill>
                  <a:schemeClr val="bg1"/>
                </a:solidFill>
              </a:rPr>
              <a:t>软件维护和软件重用</a:t>
            </a:r>
          </a:p>
        </p:txBody>
      </p:sp>
      <p:sp>
        <p:nvSpPr>
          <p:cNvPr id="2" name="文本框 1">
            <a:extLst>
              <a:ext uri="{FF2B5EF4-FFF2-40B4-BE49-F238E27FC236}">
                <a16:creationId xmlns:a16="http://schemas.microsoft.com/office/drawing/2014/main" id="{1C02ADF1-17A8-8F5B-C34F-0F00A3C5C9CF}"/>
              </a:ext>
            </a:extLst>
          </p:cNvPr>
          <p:cNvSpPr txBox="1"/>
          <p:nvPr/>
        </p:nvSpPr>
        <p:spPr>
          <a:xfrm>
            <a:off x="1452880" y="2090031"/>
            <a:ext cx="9900920" cy="1727461"/>
          </a:xfrm>
          <a:prstGeom prst="rect">
            <a:avLst/>
          </a:prstGeom>
          <a:noFill/>
        </p:spPr>
        <p:txBody>
          <a:bodyPr wrap="square" rtlCol="0">
            <a:spAutoFit/>
          </a:bodyPr>
          <a:lstStyle/>
          <a:p>
            <a:pPr>
              <a:lnSpc>
                <a:spcPct val="120000"/>
              </a:lnSpc>
            </a:pPr>
            <a:r>
              <a:rPr lang="zh-CN" altLang="en-US" dirty="0">
                <a:sym typeface="+mn-ea"/>
              </a:rPr>
              <a:t>软件维护 Software Maintenance</a:t>
            </a:r>
            <a:endParaRPr lang="en-US" altLang="zh-CN" dirty="0">
              <a:sym typeface="+mn-ea"/>
            </a:endParaRPr>
          </a:p>
          <a:p>
            <a:pPr indent="457200">
              <a:lnSpc>
                <a:spcPct val="120000"/>
              </a:lnSpc>
            </a:pPr>
            <a:r>
              <a:rPr lang="zh-CN" altLang="en-US" dirty="0">
                <a:sym typeface="+mn-ea"/>
              </a:rPr>
              <a:t>软件产品交付之后对其进行修改，以</a:t>
            </a:r>
            <a:r>
              <a:rPr lang="zh-CN" altLang="en-US" dirty="0">
                <a:solidFill>
                  <a:srgbClr val="00B0F0"/>
                </a:solidFill>
                <a:sym typeface="+mn-ea"/>
              </a:rPr>
              <a:t>排除故障</a:t>
            </a:r>
            <a:r>
              <a:rPr lang="zh-CN" altLang="en-US" dirty="0">
                <a:sym typeface="+mn-ea"/>
              </a:rPr>
              <a:t>，或</a:t>
            </a:r>
            <a:r>
              <a:rPr lang="zh-CN" altLang="en-US" dirty="0">
                <a:solidFill>
                  <a:srgbClr val="00B0F0"/>
                </a:solidFill>
                <a:sym typeface="+mn-ea"/>
              </a:rPr>
              <a:t>改进性能和其他属性</a:t>
            </a:r>
            <a:r>
              <a:rPr lang="zh-CN" altLang="en-US" dirty="0">
                <a:sym typeface="+mn-ea"/>
              </a:rPr>
              <a:t>，或使产品</a:t>
            </a:r>
            <a:r>
              <a:rPr lang="zh-CN" altLang="en-US" dirty="0">
                <a:solidFill>
                  <a:srgbClr val="00B0F0"/>
                </a:solidFill>
                <a:sym typeface="+mn-ea"/>
              </a:rPr>
              <a:t>适应改变了的环境</a:t>
            </a:r>
            <a:endParaRPr lang="en-US" altLang="zh-CN" dirty="0">
              <a:solidFill>
                <a:srgbClr val="00B0F0"/>
              </a:solidFill>
              <a:sym typeface="+mn-ea"/>
            </a:endParaRPr>
          </a:p>
          <a:p>
            <a:pPr indent="457200">
              <a:lnSpc>
                <a:spcPct val="120000"/>
              </a:lnSpc>
            </a:pPr>
            <a:r>
              <a:rPr lang="zh-CN" altLang="en-US" dirty="0">
                <a:solidFill>
                  <a:srgbClr val="00B0F0"/>
                </a:solidFill>
                <a:latin typeface="+mj-ea"/>
                <a:sym typeface="+mn-ea"/>
              </a:rPr>
              <a:t>持续时间最长</a:t>
            </a:r>
            <a:endParaRPr lang="en-US" altLang="zh-CN" dirty="0">
              <a:sym typeface="+mn-ea"/>
            </a:endParaRPr>
          </a:p>
          <a:p>
            <a:pPr indent="457200">
              <a:lnSpc>
                <a:spcPct val="120000"/>
              </a:lnSpc>
            </a:pPr>
            <a:r>
              <a:rPr lang="zh-CN" altLang="en-US" dirty="0">
                <a:solidFill>
                  <a:srgbClr val="00B0F0"/>
                </a:solidFill>
                <a:sym typeface="+mn-ea"/>
              </a:rPr>
              <a:t>花费精力和费用最多</a:t>
            </a:r>
            <a:endParaRPr lang="zh-CN" altLang="en-US" dirty="0">
              <a:solidFill>
                <a:schemeClr val="bg1"/>
              </a:solidFill>
            </a:endParaRPr>
          </a:p>
        </p:txBody>
      </p:sp>
    </p:spTree>
    <p:custDataLst>
      <p:tags r:id="rId1"/>
    </p:custDataLst>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mj-ea"/>
                <a:ea typeface="+mj-ea"/>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mj-ea"/>
                <a:ea typeface="+mj-ea"/>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pic>
        <p:nvPicPr>
          <p:cNvPr id="47" name="图片 14"/>
          <p:cNvPicPr>
            <a:picLocks noChangeAspect="1"/>
          </p:cNvPicPr>
          <p:nvPr/>
        </p:nvPicPr>
        <p:blipFill>
          <a:blip r:embed="rId9" cstate="print"/>
          <a:stretch>
            <a:fillRect/>
          </a:stretch>
        </p:blipFill>
        <p:spPr>
          <a:xfrm>
            <a:off x="4733290" y="2599055"/>
            <a:ext cx="611505" cy="611505"/>
          </a:xfrm>
          <a:prstGeom prst="rect">
            <a:avLst/>
          </a:prstGeom>
          <a:noFill/>
          <a:ln w="9525">
            <a:noFill/>
          </a:ln>
        </p:spPr>
      </p:pic>
      <p:sp>
        <p:nvSpPr>
          <p:cNvPr id="48" name="椭圆 47"/>
          <p:cNvSpPr/>
          <p:nvPr/>
        </p:nvSpPr>
        <p:spPr>
          <a:xfrm>
            <a:off x="4733290" y="2599055"/>
            <a:ext cx="611505" cy="61150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5466715" y="2599055"/>
            <a:ext cx="4351655" cy="60960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5747385" y="2659380"/>
            <a:ext cx="39477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软件维护</a:t>
            </a:r>
          </a:p>
        </p:txBody>
      </p:sp>
      <p:sp>
        <p:nvSpPr>
          <p:cNvPr id="53" name="文本框 21"/>
          <p:cNvSpPr txBox="1"/>
          <p:nvPr/>
        </p:nvSpPr>
        <p:spPr>
          <a:xfrm>
            <a:off x="4771390" y="2684780"/>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pic>
        <p:nvPicPr>
          <p:cNvPr id="54" name="图片 24"/>
          <p:cNvPicPr>
            <a:picLocks noChangeAspect="1"/>
          </p:cNvPicPr>
          <p:nvPr/>
        </p:nvPicPr>
        <p:blipFill>
          <a:blip r:embed="rId9" cstate="print"/>
          <a:stretch>
            <a:fillRect/>
          </a:stretch>
        </p:blipFill>
        <p:spPr>
          <a:xfrm>
            <a:off x="4099560" y="3518535"/>
            <a:ext cx="611505" cy="612775"/>
          </a:xfrm>
          <a:prstGeom prst="rect">
            <a:avLst/>
          </a:prstGeom>
          <a:noFill/>
          <a:ln w="9525">
            <a:noFill/>
          </a:ln>
        </p:spPr>
      </p:pic>
      <p:sp>
        <p:nvSpPr>
          <p:cNvPr id="55" name="椭圆 54"/>
          <p:cNvSpPr/>
          <p:nvPr/>
        </p:nvSpPr>
        <p:spPr>
          <a:xfrm>
            <a:off x="4099560" y="3518535"/>
            <a:ext cx="611505" cy="61277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4832985" y="3518535"/>
            <a:ext cx="4038600" cy="611505"/>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5114290" y="3580765"/>
            <a:ext cx="33147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软件重用和再工程</a:t>
            </a:r>
          </a:p>
        </p:txBody>
      </p:sp>
      <p:sp>
        <p:nvSpPr>
          <p:cNvPr id="60" name="文本框 28"/>
          <p:cNvSpPr txBox="1"/>
          <p:nvPr/>
        </p:nvSpPr>
        <p:spPr>
          <a:xfrm>
            <a:off x="4137660" y="3606165"/>
            <a:ext cx="63500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dissolv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sp>
        <p:nvSpPr>
          <p:cNvPr id="40" name="文本框 39"/>
          <p:cNvSpPr txBox="1"/>
          <p:nvPr/>
        </p:nvSpPr>
        <p:spPr>
          <a:xfrm>
            <a:off x="6006555" y="2913198"/>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a:t>
            </a:r>
          </a:p>
        </p:txBody>
      </p:sp>
      <p:sp>
        <p:nvSpPr>
          <p:cNvPr id="48" name="文本框 47"/>
          <p:cNvSpPr txBox="1"/>
          <p:nvPr/>
        </p:nvSpPr>
        <p:spPr>
          <a:xfrm>
            <a:off x="6006465" y="4135755"/>
            <a:ext cx="3712845"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软件维护的种类</a:t>
            </a:r>
          </a:p>
        </p:txBody>
      </p:sp>
      <p:sp>
        <p:nvSpPr>
          <p:cNvPr id="50" name="文本框 49"/>
          <p:cNvSpPr txBox="1"/>
          <p:nvPr/>
        </p:nvSpPr>
        <p:spPr>
          <a:xfrm>
            <a:off x="6006465" y="4631055"/>
            <a:ext cx="3712845"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软件维护的特点</a:t>
            </a:r>
          </a:p>
        </p:txBody>
      </p:sp>
      <p:sp>
        <p:nvSpPr>
          <p:cNvPr id="5" name="文本框 4"/>
          <p:cNvSpPr txBox="1"/>
          <p:nvPr/>
        </p:nvSpPr>
        <p:spPr>
          <a:xfrm>
            <a:off x="8722360" y="4135755"/>
            <a:ext cx="2360295"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软件维护过程</a:t>
            </a:r>
          </a:p>
        </p:txBody>
      </p:sp>
      <p:sp>
        <p:nvSpPr>
          <p:cNvPr id="6" name="文本框 5"/>
          <p:cNvSpPr txBox="1"/>
          <p:nvPr/>
        </p:nvSpPr>
        <p:spPr>
          <a:xfrm>
            <a:off x="8722360" y="4631055"/>
            <a:ext cx="2910840" cy="40005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提高软件的可维护性</a:t>
            </a: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lstStyle/>
          <a:p>
            <a:r>
              <a:rPr lang="en-US" dirty="0">
                <a:sym typeface="+mn-ea"/>
              </a:rPr>
              <a:t>5.1 </a:t>
            </a:r>
            <a:r>
              <a:rPr lang="zh-CN" altLang="en-US" dirty="0">
                <a:sym typeface="+mn-ea"/>
              </a:rPr>
              <a:t>软件维护</a:t>
            </a:r>
          </a:p>
        </p:txBody>
      </p:sp>
      <p:sp>
        <p:nvSpPr>
          <p:cNvPr id="19" name="椭圆 18"/>
          <p:cNvSpPr/>
          <p:nvPr>
            <p:custDataLst>
              <p:tags r:id="rId2"/>
            </p:custDataLst>
          </p:nvPr>
        </p:nvSpPr>
        <p:spPr>
          <a:xfrm>
            <a:off x="4558352" y="3723290"/>
            <a:ext cx="1694473" cy="1591660"/>
          </a:xfrm>
          <a:prstGeom prst="ellipse">
            <a:avLst/>
          </a:prstGeom>
          <a:solidFill>
            <a:srgbClr val="B71F1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20" name="文本框 22"/>
          <p:cNvSpPr txBox="1">
            <a:spLocks noChangeArrowheads="1"/>
          </p:cNvSpPr>
          <p:nvPr>
            <p:custDataLst>
              <p:tags r:id="rId3"/>
            </p:custDataLst>
          </p:nvPr>
        </p:nvSpPr>
        <p:spPr bwMode="auto">
          <a:xfrm>
            <a:off x="5122100" y="4110848"/>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4</a:t>
            </a:r>
            <a:endParaRPr lang="zh-CN" altLang="en-US" sz="6600" b="1" dirty="0">
              <a:solidFill>
                <a:schemeClr val="bg1"/>
              </a:solidFill>
              <a:latin typeface="+mn-lt"/>
              <a:ea typeface="+mn-ea"/>
            </a:endParaRPr>
          </a:p>
        </p:txBody>
      </p:sp>
      <p:sp>
        <p:nvSpPr>
          <p:cNvPr id="39" name="椭圆 38"/>
          <p:cNvSpPr/>
          <p:nvPr>
            <p:custDataLst>
              <p:tags r:id="rId4"/>
            </p:custDataLst>
          </p:nvPr>
        </p:nvSpPr>
        <p:spPr>
          <a:xfrm>
            <a:off x="4558352" y="2606722"/>
            <a:ext cx="1694473" cy="1591660"/>
          </a:xfrm>
          <a:prstGeom prst="ellipse">
            <a:avLst/>
          </a:prstGeom>
          <a:solidFill>
            <a:srgbClr val="67B64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5"/>
            </p:custDataLst>
          </p:nvPr>
        </p:nvSpPr>
        <p:spPr>
          <a:xfrm>
            <a:off x="5780775" y="2606722"/>
            <a:ext cx="1694473" cy="1591660"/>
          </a:xfrm>
          <a:prstGeom prst="ellipse">
            <a:avLst/>
          </a:prstGeom>
          <a:solidFill>
            <a:srgbClr val="B71F1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6"/>
            </p:custDataLst>
          </p:nvPr>
        </p:nvSpPr>
        <p:spPr>
          <a:xfrm>
            <a:off x="5780775" y="3723290"/>
            <a:ext cx="1694473" cy="1591660"/>
          </a:xfrm>
          <a:prstGeom prst="ellipse">
            <a:avLst/>
          </a:prstGeom>
          <a:solidFill>
            <a:srgbClr val="67B64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43" name="组合 42"/>
          <p:cNvGrpSpPr/>
          <p:nvPr>
            <p:custDataLst>
              <p:tags r:id="rId7"/>
            </p:custDataLst>
          </p:nvPr>
        </p:nvGrpSpPr>
        <p:grpSpPr>
          <a:xfrm>
            <a:off x="4800512" y="2847943"/>
            <a:ext cx="2428702" cy="2213758"/>
            <a:chOff x="4933659" y="1528513"/>
            <a:chExt cx="3096541" cy="3006076"/>
          </a:xfrm>
          <a:solidFill>
            <a:schemeClr val="bg1"/>
          </a:solidFill>
        </p:grpSpPr>
        <p:sp>
          <p:nvSpPr>
            <p:cNvPr id="44" name="Freeform 16@|5FFC:0|FBC:0|LFC:16777215|LBC:16777215"/>
            <p:cNvSpPr/>
            <p:nvPr>
              <p:custDataLst>
                <p:tags r:id="rId11"/>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5" name="Freeform 17@|5FFC:0|FBC:0|LFC:16777215|LBC:16777215"/>
            <p:cNvSpPr/>
            <p:nvPr>
              <p:custDataLst>
                <p:tags r:id="rId12"/>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3"/>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4"/>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8"/>
            </p:custDataLst>
          </p:nvPr>
        </p:nvSpPr>
        <p:spPr bwMode="auto">
          <a:xfrm>
            <a:off x="5122100" y="2994280"/>
            <a:ext cx="566977"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1</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9"/>
            </p:custDataLst>
          </p:nvPr>
        </p:nvSpPr>
        <p:spPr bwMode="auto">
          <a:xfrm>
            <a:off x="6345169" y="2994280"/>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2</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10"/>
            </p:custDataLst>
          </p:nvPr>
        </p:nvSpPr>
        <p:spPr bwMode="auto">
          <a:xfrm>
            <a:off x="6345169" y="4110848"/>
            <a:ext cx="565685" cy="81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6600" b="1" dirty="0">
                <a:solidFill>
                  <a:schemeClr val="bg1"/>
                </a:solidFill>
                <a:latin typeface="+mn-lt"/>
                <a:ea typeface="+mn-ea"/>
              </a:rPr>
              <a:t>3</a:t>
            </a:r>
            <a:endParaRPr lang="zh-CN" altLang="en-US" sz="6600" b="1" dirty="0">
              <a:solidFill>
                <a:schemeClr val="bg1"/>
              </a:solidFill>
              <a:latin typeface="+mn-lt"/>
              <a:ea typeface="+mn-ea"/>
            </a:endParaRPr>
          </a:p>
        </p:txBody>
      </p:sp>
      <p:sp>
        <p:nvSpPr>
          <p:cNvPr id="13" name="文本框 12"/>
          <p:cNvSpPr txBox="1"/>
          <p:nvPr/>
        </p:nvSpPr>
        <p:spPr>
          <a:xfrm>
            <a:off x="420370" y="4437883"/>
            <a:ext cx="4120886" cy="1106008"/>
          </a:xfrm>
          <a:prstGeom prst="rect">
            <a:avLst/>
          </a:prstGeom>
          <a:noFill/>
        </p:spPr>
        <p:txBody>
          <a:bodyPr wrap="square" rtlCol="0">
            <a:spAutoFit/>
          </a:bodyPr>
          <a:lstStyle/>
          <a:p>
            <a:pPr algn="just">
              <a:lnSpc>
                <a:spcPct val="120000"/>
              </a:lnSpc>
              <a:buFontTx/>
            </a:pPr>
            <a:r>
              <a:rPr lang="en-US" altLang="zh-CN" sz="1400" dirty="0">
                <a:solidFill>
                  <a:srgbClr val="00B0F0"/>
                </a:solidFill>
                <a:latin typeface="微软雅黑" panose="020B0503020204020204" charset="-122"/>
                <a:ea typeface="微软雅黑" panose="020B0503020204020204" charset="-122"/>
                <a:sym typeface="+mn-ea"/>
              </a:rPr>
              <a:t>4. </a:t>
            </a:r>
            <a:r>
              <a:rPr lang="zh-CN" altLang="en-US" sz="1400" dirty="0">
                <a:solidFill>
                  <a:srgbClr val="00B0F0"/>
                </a:solidFill>
                <a:latin typeface="微软雅黑" panose="020B0503020204020204" charset="-122"/>
                <a:ea typeface="微软雅黑" panose="020B0503020204020204" charset="-122"/>
                <a:sym typeface="+mn-ea"/>
              </a:rPr>
              <a:t>预防性维护 </a:t>
            </a:r>
            <a:r>
              <a:rPr lang="en-US" altLang="zh-CN" sz="1400" dirty="0">
                <a:solidFill>
                  <a:srgbClr val="00B0F0"/>
                </a:solidFill>
                <a:latin typeface="微软雅黑" panose="020B0503020204020204" charset="-122"/>
                <a:ea typeface="微软雅黑" panose="020B0503020204020204" charset="-122"/>
                <a:sym typeface="+mn-ea"/>
              </a:rPr>
              <a:t>Preventive Maintenance</a:t>
            </a:r>
            <a:endParaRPr lang="zh-CN" altLang="en-US" sz="1400" dirty="0">
              <a:solidFill>
                <a:srgbClr val="00B0F0"/>
              </a:solidFill>
              <a:latin typeface="微软雅黑" panose="020B0503020204020204" charset="-122"/>
              <a:ea typeface="微软雅黑" panose="020B0503020204020204" charset="-122"/>
              <a:sym typeface="+mn-ea"/>
            </a:endParaRPr>
          </a:p>
          <a:p>
            <a:pPr algn="just">
              <a:lnSpc>
                <a:spcPct val="120000"/>
              </a:lnSpc>
              <a:buFontTx/>
            </a:pPr>
            <a:r>
              <a:rPr lang="zh-CN" altLang="en-US" sz="1400" dirty="0">
                <a:latin typeface="微软雅黑" panose="020B0503020204020204" charset="-122"/>
                <a:ea typeface="微软雅黑" panose="020B0503020204020204" charset="-122"/>
                <a:sym typeface="+mn-ea"/>
              </a:rPr>
              <a:t>       </a:t>
            </a:r>
            <a:r>
              <a:rPr lang="zh-CN" altLang="en-US" sz="1400" dirty="0">
                <a:latin typeface="+mn-ea"/>
                <a:sym typeface="+mn-ea"/>
              </a:rPr>
              <a:t>为了进一步提高软件的可维护性和可靠性，为改进软件性能</a:t>
            </a:r>
            <a:r>
              <a:rPr lang="zh-CN" altLang="en-US" sz="1400" b="1" dirty="0">
                <a:latin typeface="+mn-ea"/>
                <a:sym typeface="+mn-ea"/>
              </a:rPr>
              <a:t>创造条件</a:t>
            </a:r>
            <a:r>
              <a:rPr lang="zh-CN" altLang="en-US" sz="1400" dirty="0">
                <a:latin typeface="+mn-ea"/>
                <a:sym typeface="+mn-ea"/>
              </a:rPr>
              <a:t>，需要对软件进行的其他维护称为预防性维护。</a:t>
            </a:r>
          </a:p>
        </p:txBody>
      </p:sp>
      <p:sp>
        <p:nvSpPr>
          <p:cNvPr id="4" name="TextBox 6">
            <a:extLst>
              <a:ext uri="{FF2B5EF4-FFF2-40B4-BE49-F238E27FC236}">
                <a16:creationId xmlns:a16="http://schemas.microsoft.com/office/drawing/2014/main" id="{EE38495F-70E2-85B7-0C3B-0D64A015B1D2}"/>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sp>
        <p:nvSpPr>
          <p:cNvPr id="5" name="文本框 4">
            <a:extLst>
              <a:ext uri="{FF2B5EF4-FFF2-40B4-BE49-F238E27FC236}">
                <a16:creationId xmlns:a16="http://schemas.microsoft.com/office/drawing/2014/main" id="{F819011E-DF40-4434-2A2A-EC11F7549DD9}"/>
              </a:ext>
            </a:extLst>
          </p:cNvPr>
          <p:cNvSpPr txBox="1"/>
          <p:nvPr/>
        </p:nvSpPr>
        <p:spPr>
          <a:xfrm>
            <a:off x="420370" y="2239941"/>
            <a:ext cx="4120886" cy="1621021"/>
          </a:xfrm>
          <a:prstGeom prst="rect">
            <a:avLst/>
          </a:prstGeom>
          <a:noFill/>
        </p:spPr>
        <p:txBody>
          <a:bodyPr wrap="square" rtlCol="0">
            <a:spAutoFit/>
          </a:bodyPr>
          <a:lstStyle/>
          <a:p>
            <a:pPr fontAlgn="auto">
              <a:lnSpc>
                <a:spcPct val="120000"/>
              </a:lnSpc>
            </a:pPr>
            <a:r>
              <a:rPr lang="en-US" altLang="zh-CN" sz="1400" dirty="0">
                <a:solidFill>
                  <a:srgbClr val="00B0F0"/>
                </a:solidFill>
                <a:latin typeface="微软雅黑" panose="020B0503020204020204" charset="-122"/>
                <a:ea typeface="微软雅黑" panose="020B0503020204020204" charset="-122"/>
                <a:sym typeface="+mn-ea"/>
              </a:rPr>
              <a:t>1. </a:t>
            </a:r>
            <a:r>
              <a:rPr lang="zh-CN" altLang="en-US" sz="1400" dirty="0">
                <a:solidFill>
                  <a:srgbClr val="00B0F0"/>
                </a:solidFill>
                <a:latin typeface="微软雅黑" panose="020B0503020204020204" charset="-122"/>
                <a:ea typeface="微软雅黑" panose="020B0503020204020204" charset="-122"/>
                <a:sym typeface="+mn-ea"/>
              </a:rPr>
              <a:t>改正性维护 </a:t>
            </a:r>
            <a:r>
              <a:rPr lang="en-US" altLang="zh-CN" sz="1400" dirty="0">
                <a:solidFill>
                  <a:srgbClr val="00B0F0"/>
                </a:solidFill>
                <a:latin typeface="微软雅黑" panose="020B0503020204020204" charset="-122"/>
                <a:ea typeface="微软雅黑" panose="020B0503020204020204" charset="-122"/>
                <a:sym typeface="+mn-ea"/>
              </a:rPr>
              <a:t>Corrective Maintenance</a:t>
            </a:r>
            <a:endParaRPr lang="zh-CN" altLang="en-US" sz="1400" dirty="0">
              <a:solidFill>
                <a:srgbClr val="00B0F0"/>
              </a:solidFill>
              <a:latin typeface="微软雅黑" panose="020B0503020204020204" charset="-122"/>
              <a:ea typeface="微软雅黑" panose="020B0503020204020204" charset="-122"/>
              <a:sym typeface="+mn-ea"/>
            </a:endParaRPr>
          </a:p>
          <a:p>
            <a:pPr fontAlgn="auto">
              <a:lnSpc>
                <a:spcPct val="120000"/>
              </a:lnSpc>
            </a:pPr>
            <a:r>
              <a:rPr lang="zh-CN" altLang="en-US" sz="1400" dirty="0">
                <a:latin typeface="+mn-ea"/>
                <a:sym typeface="+mn-ea"/>
              </a:rPr>
              <a:t>       软件测试不大可能找出一个大型软件系统的全部隐含</a:t>
            </a:r>
            <a:r>
              <a:rPr lang="zh-CN" altLang="en-US" sz="1400" b="1" dirty="0">
                <a:latin typeface="+mn-ea"/>
                <a:sym typeface="+mn-ea"/>
              </a:rPr>
              <a:t>错误</a:t>
            </a:r>
            <a:r>
              <a:rPr lang="zh-CN" altLang="en-US" sz="1400" dirty="0">
                <a:latin typeface="+mn-ea"/>
                <a:sym typeface="+mn-ea"/>
              </a:rPr>
              <a:t>。也就是说，几乎每一个大型程序在运行过程中，都会不可避免地出现各种错误。为克服现有软件故障而进行的维护称为改正性维护。</a:t>
            </a:r>
          </a:p>
          <a:p>
            <a:pPr algn="l">
              <a:lnSpc>
                <a:spcPct val="120000"/>
              </a:lnSpc>
            </a:pPr>
            <a:endParaRPr lang="zh-CN" altLang="en-US" sz="1400" dirty="0">
              <a:solidFill>
                <a:schemeClr val="bg1"/>
              </a:solidFill>
            </a:endParaRPr>
          </a:p>
        </p:txBody>
      </p:sp>
      <p:sp>
        <p:nvSpPr>
          <p:cNvPr id="6" name="文本框 5">
            <a:extLst>
              <a:ext uri="{FF2B5EF4-FFF2-40B4-BE49-F238E27FC236}">
                <a16:creationId xmlns:a16="http://schemas.microsoft.com/office/drawing/2014/main" id="{921D1098-6865-7030-15F0-97075DB676A9}"/>
              </a:ext>
            </a:extLst>
          </p:cNvPr>
          <p:cNvSpPr txBox="1"/>
          <p:nvPr/>
        </p:nvSpPr>
        <p:spPr>
          <a:xfrm>
            <a:off x="7650743" y="2239941"/>
            <a:ext cx="4120887" cy="2267352"/>
          </a:xfrm>
          <a:prstGeom prst="rect">
            <a:avLst/>
          </a:prstGeom>
          <a:noFill/>
        </p:spPr>
        <p:txBody>
          <a:bodyPr wrap="square" rtlCol="0">
            <a:spAutoFit/>
          </a:bodyPr>
          <a:lstStyle/>
          <a:p>
            <a:pPr algn="just">
              <a:lnSpc>
                <a:spcPct val="120000"/>
              </a:lnSpc>
            </a:pPr>
            <a:r>
              <a:rPr lang="en-US" altLang="zh-CN" sz="1400" dirty="0">
                <a:solidFill>
                  <a:srgbClr val="00B0F0"/>
                </a:solidFill>
                <a:latin typeface="微软雅黑" panose="020B0503020204020204" charset="-122"/>
                <a:ea typeface="微软雅黑" panose="020B0503020204020204" charset="-122"/>
                <a:sym typeface="+mn-ea"/>
              </a:rPr>
              <a:t>2. </a:t>
            </a:r>
            <a:r>
              <a:rPr lang="zh-CN" altLang="en-US" sz="1400" dirty="0">
                <a:solidFill>
                  <a:srgbClr val="00B0F0"/>
                </a:solidFill>
                <a:latin typeface="微软雅黑" panose="020B0503020204020204" charset="-122"/>
                <a:ea typeface="微软雅黑" panose="020B0503020204020204" charset="-122"/>
                <a:sym typeface="+mn-ea"/>
              </a:rPr>
              <a:t>适应性维护 </a:t>
            </a:r>
            <a:r>
              <a:rPr lang="en-US" altLang="zh-CN" sz="1400" dirty="0">
                <a:solidFill>
                  <a:srgbClr val="00B0F0"/>
                </a:solidFill>
                <a:latin typeface="微软雅黑" panose="020B0503020204020204" charset="-122"/>
                <a:ea typeface="微软雅黑" panose="020B0503020204020204" charset="-122"/>
                <a:sym typeface="+mn-ea"/>
              </a:rPr>
              <a:t>Adaptive Maintenance</a:t>
            </a:r>
            <a:endParaRPr lang="zh-CN" altLang="en-US" sz="1400" dirty="0">
              <a:solidFill>
                <a:srgbClr val="00B0F0"/>
              </a:solidFill>
              <a:latin typeface="微软雅黑" panose="020B0503020204020204" charset="-122"/>
              <a:ea typeface="微软雅黑" panose="020B0503020204020204" charset="-122"/>
              <a:sym typeface="+mn-ea"/>
            </a:endParaRPr>
          </a:p>
          <a:p>
            <a:pPr algn="just" fontAlgn="auto">
              <a:lnSpc>
                <a:spcPct val="130000"/>
              </a:lnSpc>
            </a:pPr>
            <a:r>
              <a:rPr lang="zh-CN" altLang="en-US" sz="1400" dirty="0">
                <a:latin typeface="微软雅黑" panose="020B0503020204020204" charset="-122"/>
                <a:ea typeface="微软雅黑" panose="020B0503020204020204" charset="-122"/>
                <a:sym typeface="+mn-ea"/>
              </a:rPr>
              <a:t>       </a:t>
            </a:r>
            <a:r>
              <a:rPr lang="zh-CN" altLang="en-US" sz="1400" dirty="0">
                <a:latin typeface="+mn-ea"/>
                <a:sym typeface="+mn-ea"/>
              </a:rPr>
              <a:t>计算机技术的发展十分迅速，计算机的软件、硬件</a:t>
            </a:r>
            <a:r>
              <a:rPr lang="zh-CN" altLang="en-US" sz="1400" b="1" dirty="0">
                <a:latin typeface="+mn-ea"/>
                <a:sym typeface="+mn-ea"/>
              </a:rPr>
              <a:t>环境</a:t>
            </a:r>
            <a:r>
              <a:rPr lang="zh-CN" altLang="en-US" sz="1400" dirty="0">
                <a:latin typeface="+mn-ea"/>
                <a:sym typeface="+mn-ea"/>
              </a:rPr>
              <a:t>也在不断发生变化，而应用软件的使用寿命往往比原先开发时的系统环境更为长久，因此，常常需对软件加以修改使之适应改变了的环境。为使软件产品适应环境的变化而进行的软件维护称为适应性维护。</a:t>
            </a:r>
          </a:p>
          <a:p>
            <a:pPr algn="l">
              <a:lnSpc>
                <a:spcPct val="120000"/>
              </a:lnSpc>
            </a:pPr>
            <a:endParaRPr lang="zh-CN" altLang="en-US" sz="1400" dirty="0">
              <a:solidFill>
                <a:schemeClr val="bg1"/>
              </a:solidFill>
            </a:endParaRPr>
          </a:p>
        </p:txBody>
      </p:sp>
      <p:sp>
        <p:nvSpPr>
          <p:cNvPr id="8" name="文本框 7">
            <a:extLst>
              <a:ext uri="{FF2B5EF4-FFF2-40B4-BE49-F238E27FC236}">
                <a16:creationId xmlns:a16="http://schemas.microsoft.com/office/drawing/2014/main" id="{B216E4A7-AF0E-21A0-6A79-67F16F39B76E}"/>
              </a:ext>
            </a:extLst>
          </p:cNvPr>
          <p:cNvSpPr txBox="1"/>
          <p:nvPr/>
        </p:nvSpPr>
        <p:spPr>
          <a:xfrm>
            <a:off x="7650743" y="4437883"/>
            <a:ext cx="4120887" cy="1621021"/>
          </a:xfrm>
          <a:prstGeom prst="rect">
            <a:avLst/>
          </a:prstGeom>
          <a:noFill/>
        </p:spPr>
        <p:txBody>
          <a:bodyPr wrap="square" rtlCol="0">
            <a:spAutoFit/>
          </a:bodyPr>
          <a:lstStyle/>
          <a:p>
            <a:pPr>
              <a:lnSpc>
                <a:spcPct val="120000"/>
              </a:lnSpc>
            </a:pPr>
            <a:r>
              <a:rPr lang="en-US" altLang="zh-CN" sz="1400" dirty="0">
                <a:solidFill>
                  <a:srgbClr val="00B0F0"/>
                </a:solidFill>
                <a:latin typeface="微软雅黑" panose="020B0503020204020204" charset="-122"/>
                <a:ea typeface="微软雅黑" panose="020B0503020204020204" charset="-122"/>
                <a:sym typeface="+mn-ea"/>
              </a:rPr>
              <a:t>3. </a:t>
            </a:r>
            <a:r>
              <a:rPr lang="zh-CN" altLang="en-US" sz="1400" dirty="0">
                <a:solidFill>
                  <a:srgbClr val="00B0F0"/>
                </a:solidFill>
                <a:latin typeface="微软雅黑" panose="020B0503020204020204" charset="-122"/>
                <a:ea typeface="微软雅黑" panose="020B0503020204020204" charset="-122"/>
                <a:sym typeface="+mn-ea"/>
              </a:rPr>
              <a:t>完善性维护 </a:t>
            </a:r>
            <a:r>
              <a:rPr lang="en-US" altLang="zh-CN" sz="1400" dirty="0">
                <a:solidFill>
                  <a:srgbClr val="00B0F0"/>
                </a:solidFill>
                <a:latin typeface="微软雅黑" panose="020B0503020204020204" charset="-122"/>
                <a:ea typeface="微软雅黑" panose="020B0503020204020204" charset="-122"/>
                <a:sym typeface="+mn-ea"/>
              </a:rPr>
              <a:t>Perfective Maintenance</a:t>
            </a:r>
            <a:endParaRPr lang="zh-CN" altLang="en-US" sz="1400" dirty="0">
              <a:solidFill>
                <a:srgbClr val="00B0F0"/>
              </a:solidFill>
              <a:latin typeface="微软雅黑" panose="020B0503020204020204" charset="-122"/>
              <a:ea typeface="微软雅黑" panose="020B0503020204020204" charset="-122"/>
              <a:sym typeface="+mn-ea"/>
            </a:endParaRPr>
          </a:p>
          <a:p>
            <a:pPr>
              <a:lnSpc>
                <a:spcPct val="120000"/>
              </a:lnSpc>
            </a:pPr>
            <a:r>
              <a:rPr lang="zh-CN" altLang="en-US" sz="1400" dirty="0">
                <a:latin typeface="微软雅黑" panose="020B0503020204020204" charset="-122"/>
                <a:ea typeface="微软雅黑" panose="020B0503020204020204" charset="-122"/>
                <a:sym typeface="+mn-ea"/>
              </a:rPr>
              <a:t>      </a:t>
            </a:r>
            <a:r>
              <a:rPr lang="zh-CN" altLang="en-US" sz="1400" dirty="0">
                <a:latin typeface="+mn-ea"/>
                <a:sym typeface="+mn-ea"/>
              </a:rPr>
              <a:t>软件交给用户使用后，用户往往会因为工作流程、应用环境的变化，要求增加新的功能和完善</a:t>
            </a:r>
            <a:r>
              <a:rPr lang="zh-CN" altLang="en-US" sz="1400" b="1" dirty="0">
                <a:latin typeface="+mn-ea"/>
                <a:sym typeface="+mn-ea"/>
              </a:rPr>
              <a:t>性能</a:t>
            </a:r>
            <a:r>
              <a:rPr lang="zh-CN" altLang="en-US" sz="1400" dirty="0">
                <a:latin typeface="+mn-ea"/>
                <a:sym typeface="+mn-ea"/>
              </a:rPr>
              <a:t>等。为增加软件功能、增强软件性能、提高软件运行效率而进行的维护称为完善性维护。</a:t>
            </a:r>
          </a:p>
          <a:p>
            <a:pPr algn="l">
              <a:lnSpc>
                <a:spcPct val="120000"/>
              </a:lnSpc>
            </a:pPr>
            <a:endParaRPr lang="zh-CN" altLang="en-US" sz="1400" dirty="0">
              <a:solidFill>
                <a:schemeClr val="bg1"/>
              </a:solidFill>
            </a:endParaRPr>
          </a:p>
        </p:txBody>
      </p:sp>
    </p:spTree>
    <p:custDataLst>
      <p:tags r:id="rId1"/>
    </p:custDataLst>
  </p:cSld>
  <p:clrMapOvr>
    <a:masterClrMapping/>
  </p:clrMapOvr>
  <p:transition>
    <p:zoom/>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5.1.1 </a:t>
            </a:r>
            <a:r>
              <a:rPr lang="zh-CN" altLang="en-US" sz="2400" dirty="0">
                <a:solidFill>
                  <a:schemeClr val="tx1"/>
                </a:solidFill>
              </a:rPr>
              <a:t>软件维护的种类</a:t>
            </a:r>
          </a:p>
        </p:txBody>
      </p:sp>
      <p:graphicFrame>
        <p:nvGraphicFramePr>
          <p:cNvPr id="10" name="图表 9">
            <a:extLst>
              <a:ext uri="{FF2B5EF4-FFF2-40B4-BE49-F238E27FC236}">
                <a16:creationId xmlns:a16="http://schemas.microsoft.com/office/drawing/2014/main" id="{9F4436D5-466B-3D55-B741-07837DCFE6BA}"/>
              </a:ext>
            </a:extLst>
          </p:cNvPr>
          <p:cNvGraphicFramePr>
            <a:graphicFrameLocks noChangeAspect="1"/>
          </p:cNvGraphicFramePr>
          <p:nvPr>
            <p:extLst>
              <p:ext uri="{D42A27DB-BD31-4B8C-83A1-F6EECF244321}">
                <p14:modId xmlns:p14="http://schemas.microsoft.com/office/powerpoint/2010/main" val="2794209847"/>
              </p:ext>
            </p:extLst>
          </p:nvPr>
        </p:nvGraphicFramePr>
        <p:xfrm>
          <a:off x="2844800" y="1933337"/>
          <a:ext cx="6502400" cy="4334934"/>
        </p:xfrm>
        <a:graphic>
          <a:graphicData uri="http://schemas.openxmlformats.org/drawingml/2006/chart">
            <c:chart xmlns:c="http://schemas.openxmlformats.org/drawingml/2006/chart" xmlns:r="http://schemas.openxmlformats.org/officeDocument/2006/relationships" r:id="rId4"/>
          </a:graphicData>
        </a:graphic>
      </p:graphicFrame>
    </p:spTree>
    <p:custDataLst>
      <p:tags r:id="rId1"/>
    </p:custDataLst>
  </p:cSld>
  <p:clrMapOvr>
    <a:masterClrMapping/>
  </p:clrMapOvr>
  <p:transition>
    <p:zoom/>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A7B08-DE22-16DF-FA48-35909226F6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EDC21AC-E753-66E3-0F28-7D262F9E51B4}"/>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CCB5DB67-D137-0928-EAEB-53E95D4CF371}"/>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1 </a:t>
            </a:r>
            <a:r>
              <a:rPr lang="zh-CN" altLang="en-US" sz="2400" dirty="0">
                <a:solidFill>
                  <a:schemeClr val="tx1"/>
                </a:solidFill>
              </a:rPr>
              <a:t>考试成绩</a:t>
            </a:r>
          </a:p>
        </p:txBody>
      </p:sp>
      <p:sp>
        <p:nvSpPr>
          <p:cNvPr id="24" name="矩形 23">
            <a:extLst>
              <a:ext uri="{FF2B5EF4-FFF2-40B4-BE49-F238E27FC236}">
                <a16:creationId xmlns:a16="http://schemas.microsoft.com/office/drawing/2014/main" id="{4DA94614-838F-DD5B-1E93-22218C426009}"/>
              </a:ext>
            </a:extLst>
          </p:cNvPr>
          <p:cNvSpPr>
            <a:spLocks noChangeAspect="1"/>
          </p:cNvSpPr>
          <p:nvPr/>
        </p:nvSpPr>
        <p:spPr>
          <a:xfrm>
            <a:off x="3597909" y="1032539"/>
            <a:ext cx="4996181" cy="5355312"/>
          </a:xfrm>
          <a:prstGeom prst="rect">
            <a:avLst/>
          </a:prstGeom>
          <a:solidFill>
            <a:schemeClr val="bg1">
              <a:lumMod val="95000"/>
            </a:schemeClr>
          </a:solidFill>
          <a:ln w="12700">
            <a:noFill/>
            <a:prstDash val="dash"/>
          </a:ln>
        </p:spPr>
        <p:style>
          <a:lnRef idx="1">
            <a:schemeClr val="accent6"/>
          </a:lnRef>
          <a:fillRef idx="0">
            <a:schemeClr val="accent6"/>
          </a:fillRef>
          <a:effectRef idx="0">
            <a:schemeClr val="accent6"/>
          </a:effectRef>
          <a:fontRef idx="minor">
            <a:schemeClr val="tx1"/>
          </a:fontRef>
        </p:style>
        <p:txBody>
          <a:bodyPr rtlCol="0" anchor="t" anchorCtr="0">
            <a:spAutoFit/>
          </a:bodyPr>
          <a:lstStyle/>
          <a:p>
            <a:r>
              <a:rPr lang="en-US" altLang="zh-CN" dirty="0"/>
              <a:t>    let score = 80;</a:t>
            </a:r>
          </a:p>
          <a:p>
            <a:r>
              <a:rPr lang="en-US" altLang="zh-CN" dirty="0"/>
              <a:t>    let grade = Math.floor(score / 10);</a:t>
            </a:r>
          </a:p>
          <a:p>
            <a:r>
              <a:rPr lang="en-US" altLang="zh-CN" dirty="0"/>
              <a:t>    switch (grade) {</a:t>
            </a:r>
          </a:p>
          <a:p>
            <a:r>
              <a:rPr lang="en-US" altLang="zh-CN" dirty="0"/>
              <a:t>      case 6:</a:t>
            </a:r>
          </a:p>
          <a:p>
            <a:r>
              <a:rPr lang="en-US" altLang="zh-CN" dirty="0"/>
              <a:t>        console.log('</a:t>
            </a:r>
            <a:r>
              <a:rPr lang="zh-CN" altLang="en-US" dirty="0"/>
              <a:t>及格</a:t>
            </a:r>
            <a:r>
              <a:rPr lang="en-US" altLang="zh-CN" dirty="0"/>
              <a:t>');</a:t>
            </a:r>
          </a:p>
          <a:p>
            <a:r>
              <a:rPr lang="en-US" altLang="zh-CN" dirty="0"/>
              <a:t>        break;</a:t>
            </a:r>
          </a:p>
          <a:p>
            <a:r>
              <a:rPr lang="en-US" altLang="zh-CN" dirty="0"/>
              <a:t>      case 7:</a:t>
            </a:r>
          </a:p>
          <a:p>
            <a:r>
              <a:rPr lang="en-US" altLang="zh-CN" dirty="0"/>
              <a:t>        console.log('</a:t>
            </a:r>
            <a:r>
              <a:rPr lang="zh-CN" altLang="en-US" dirty="0"/>
              <a:t>中</a:t>
            </a:r>
            <a:r>
              <a:rPr lang="en-US" altLang="zh-CN" dirty="0"/>
              <a:t>');</a:t>
            </a:r>
          </a:p>
          <a:p>
            <a:r>
              <a:rPr lang="en-US" altLang="zh-CN" dirty="0"/>
              <a:t>        break;</a:t>
            </a:r>
          </a:p>
          <a:p>
            <a:r>
              <a:rPr lang="en-US" altLang="zh-CN" dirty="0"/>
              <a:t>      case 8:</a:t>
            </a:r>
          </a:p>
          <a:p>
            <a:r>
              <a:rPr lang="en-US" altLang="zh-CN" dirty="0"/>
              <a:t>        console.log('</a:t>
            </a:r>
            <a:r>
              <a:rPr lang="zh-CN" altLang="en-US" dirty="0"/>
              <a:t>良</a:t>
            </a:r>
            <a:r>
              <a:rPr lang="en-US" altLang="zh-CN" dirty="0"/>
              <a:t>');</a:t>
            </a:r>
          </a:p>
          <a:p>
            <a:r>
              <a:rPr lang="en-US" altLang="zh-CN" dirty="0"/>
              <a:t>        break;</a:t>
            </a:r>
          </a:p>
          <a:p>
            <a:r>
              <a:rPr lang="en-US" altLang="zh-CN" dirty="0"/>
              <a:t>      case 9:</a:t>
            </a:r>
          </a:p>
          <a:p>
            <a:r>
              <a:rPr lang="en-US" altLang="zh-CN" dirty="0"/>
              <a:t>        console.log('</a:t>
            </a:r>
            <a:r>
              <a:rPr lang="zh-CN" altLang="en-US" dirty="0"/>
              <a:t>优</a:t>
            </a:r>
            <a:r>
              <a:rPr lang="en-US" altLang="zh-CN" dirty="0"/>
              <a:t>');</a:t>
            </a:r>
          </a:p>
          <a:p>
            <a:r>
              <a:rPr lang="en-US" altLang="zh-CN" dirty="0"/>
              <a:t>        break;</a:t>
            </a:r>
          </a:p>
          <a:p>
            <a:r>
              <a:rPr lang="en-US" altLang="zh-CN" dirty="0"/>
              <a:t>      default:</a:t>
            </a:r>
          </a:p>
          <a:p>
            <a:r>
              <a:rPr lang="en-US" altLang="zh-CN" dirty="0"/>
              <a:t>        console.log('</a:t>
            </a:r>
            <a:r>
              <a:rPr lang="zh-CN" altLang="en-US" dirty="0"/>
              <a:t>不及格</a:t>
            </a:r>
            <a:r>
              <a:rPr lang="en-US" altLang="zh-CN" dirty="0"/>
              <a:t>');</a:t>
            </a:r>
          </a:p>
          <a:p>
            <a:r>
              <a:rPr lang="en-US" altLang="zh-CN" dirty="0"/>
              <a:t>        break;</a:t>
            </a:r>
          </a:p>
          <a:p>
            <a:r>
              <a:rPr lang="en-US" altLang="zh-CN" dirty="0"/>
              <a:t>    }</a:t>
            </a:r>
          </a:p>
        </p:txBody>
      </p:sp>
    </p:spTree>
    <p:custDataLst>
      <p:tags r:id="rId1"/>
    </p:custDataLst>
    <p:extLst>
      <p:ext uri="{BB962C8B-B14F-4D97-AF65-F5344CB8AC3E}">
        <p14:creationId xmlns:p14="http://schemas.microsoft.com/office/powerpoint/2010/main" val="400855254"/>
      </p:ext>
    </p:extLst>
  </p:cSld>
  <p:clrMapOvr>
    <a:masterClrMapping/>
  </p:clrMapOvr>
  <p:transition>
    <p:zoom/>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505C6-2585-A772-E651-F1539A47B9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E1A393F-2374-9F17-DB42-A28F110582B3}"/>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82A4D4FD-633A-A92B-046F-0664B134CCA3}"/>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2 </a:t>
            </a:r>
            <a:r>
              <a:rPr lang="zh-CN" altLang="en-US" sz="2400" dirty="0">
                <a:solidFill>
                  <a:schemeClr val="tx1"/>
                </a:solidFill>
              </a:rPr>
              <a:t>求和</a:t>
            </a:r>
          </a:p>
        </p:txBody>
      </p:sp>
      <p:sp>
        <p:nvSpPr>
          <p:cNvPr id="3" name="流程图: 终止 2">
            <a:extLst>
              <a:ext uri="{FF2B5EF4-FFF2-40B4-BE49-F238E27FC236}">
                <a16:creationId xmlns:a16="http://schemas.microsoft.com/office/drawing/2014/main" id="{1A568E1C-FF5F-90C9-AC08-F544B69F9CA1}"/>
              </a:ext>
            </a:extLst>
          </p:cNvPr>
          <p:cNvSpPr/>
          <p:nvPr/>
        </p:nvSpPr>
        <p:spPr>
          <a:xfrm>
            <a:off x="5066287" y="70419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Start</a:t>
            </a:r>
            <a:endParaRPr lang="zh-CN" altLang="en-US" dirty="0">
              <a:solidFill>
                <a:schemeClr val="tx1"/>
              </a:solidFill>
            </a:endParaRPr>
          </a:p>
        </p:txBody>
      </p:sp>
      <p:sp>
        <p:nvSpPr>
          <p:cNvPr id="4" name="流程图: 终止 3">
            <a:extLst>
              <a:ext uri="{FF2B5EF4-FFF2-40B4-BE49-F238E27FC236}">
                <a16:creationId xmlns:a16="http://schemas.microsoft.com/office/drawing/2014/main" id="{14378168-0980-E324-7218-ED9E1428FE3E}"/>
              </a:ext>
            </a:extLst>
          </p:cNvPr>
          <p:cNvSpPr/>
          <p:nvPr/>
        </p:nvSpPr>
        <p:spPr>
          <a:xfrm>
            <a:off x="7059021" y="5709424"/>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End</a:t>
            </a:r>
            <a:endParaRPr lang="zh-CN" altLang="en-US" dirty="0">
              <a:solidFill>
                <a:schemeClr val="tx1"/>
              </a:solidFill>
            </a:endParaRPr>
          </a:p>
        </p:txBody>
      </p:sp>
      <p:sp>
        <p:nvSpPr>
          <p:cNvPr id="5" name="流程图: 过程 4">
            <a:extLst>
              <a:ext uri="{FF2B5EF4-FFF2-40B4-BE49-F238E27FC236}">
                <a16:creationId xmlns:a16="http://schemas.microsoft.com/office/drawing/2014/main" id="{49A2BF5D-FC5D-5921-4032-B3CBD67C8925}"/>
              </a:ext>
            </a:extLst>
          </p:cNvPr>
          <p:cNvSpPr/>
          <p:nvPr/>
        </p:nvSpPr>
        <p:spPr>
          <a:xfrm>
            <a:off x="4786855" y="1343927"/>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 0</a:t>
            </a:r>
            <a:endParaRPr lang="zh-CN" altLang="en-US" dirty="0">
              <a:solidFill>
                <a:schemeClr val="tx1"/>
              </a:solidFill>
            </a:endParaRPr>
          </a:p>
        </p:txBody>
      </p:sp>
      <p:sp>
        <p:nvSpPr>
          <p:cNvPr id="6" name="流程图: 过程 5">
            <a:extLst>
              <a:ext uri="{FF2B5EF4-FFF2-40B4-BE49-F238E27FC236}">
                <a16:creationId xmlns:a16="http://schemas.microsoft.com/office/drawing/2014/main" id="{45F133CF-4368-6FF8-AB98-76A7C21C1659}"/>
              </a:ext>
            </a:extLst>
          </p:cNvPr>
          <p:cNvSpPr/>
          <p:nvPr/>
        </p:nvSpPr>
        <p:spPr>
          <a:xfrm>
            <a:off x="7173321" y="4928994"/>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t>
            </a:r>
            <a:endParaRPr lang="zh-CN" altLang="en-US" dirty="0">
              <a:solidFill>
                <a:schemeClr val="tx1"/>
              </a:solidFill>
            </a:endParaRPr>
          </a:p>
        </p:txBody>
      </p:sp>
      <p:sp>
        <p:nvSpPr>
          <p:cNvPr id="7" name="流程图: 决策 6">
            <a:extLst>
              <a:ext uri="{FF2B5EF4-FFF2-40B4-BE49-F238E27FC236}">
                <a16:creationId xmlns:a16="http://schemas.microsoft.com/office/drawing/2014/main" id="{0E7F50F1-B986-3FFD-51AD-2FB6F799414E}"/>
              </a:ext>
            </a:extLst>
          </p:cNvPr>
          <p:cNvSpPr/>
          <p:nvPr/>
        </p:nvSpPr>
        <p:spPr>
          <a:xfrm>
            <a:off x="4786855" y="2835411"/>
            <a:ext cx="180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&lt;= 10</a:t>
            </a:r>
            <a:endParaRPr lang="zh-CN" altLang="en-US" dirty="0">
              <a:solidFill>
                <a:schemeClr val="tx1"/>
              </a:solidFill>
            </a:endParaRPr>
          </a:p>
        </p:txBody>
      </p:sp>
      <p:sp>
        <p:nvSpPr>
          <p:cNvPr id="8" name="流程图: 过程 7">
            <a:extLst>
              <a:ext uri="{FF2B5EF4-FFF2-40B4-BE49-F238E27FC236}">
                <a16:creationId xmlns:a16="http://schemas.microsoft.com/office/drawing/2014/main" id="{7216507F-260F-F7F2-FBC8-D08C0CE6D197}"/>
              </a:ext>
            </a:extLst>
          </p:cNvPr>
          <p:cNvSpPr/>
          <p:nvPr/>
        </p:nvSpPr>
        <p:spPr>
          <a:xfrm>
            <a:off x="4786855" y="4096648"/>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 = i + 1</a:t>
            </a:r>
            <a:endParaRPr lang="zh-CN" altLang="en-US" dirty="0">
              <a:solidFill>
                <a:schemeClr val="tx1"/>
              </a:solidFill>
            </a:endParaRPr>
          </a:p>
        </p:txBody>
      </p:sp>
      <p:cxnSp>
        <p:nvCxnSpPr>
          <p:cNvPr id="9" name="直接箭头连接符 8">
            <a:extLst>
              <a:ext uri="{FF2B5EF4-FFF2-40B4-BE49-F238E27FC236}">
                <a16:creationId xmlns:a16="http://schemas.microsoft.com/office/drawing/2014/main" id="{B73940D4-1E9E-286A-8D42-19433E90A92F}"/>
              </a:ext>
            </a:extLst>
          </p:cNvPr>
          <p:cNvCxnSpPr>
            <a:stCxn id="7" idx="2"/>
            <a:endCxn id="8" idx="0"/>
          </p:cNvCxnSpPr>
          <p:nvPr/>
        </p:nvCxnSpPr>
        <p:spPr>
          <a:xfrm>
            <a:off x="5686855" y="3645036"/>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D2656769-CF4D-A1AA-C1FF-DB57F55B55BC}"/>
              </a:ext>
            </a:extLst>
          </p:cNvPr>
          <p:cNvSpPr txBox="1"/>
          <p:nvPr/>
        </p:nvSpPr>
        <p:spPr>
          <a:xfrm>
            <a:off x="5852908" y="3661859"/>
            <a:ext cx="351378" cy="369332"/>
          </a:xfrm>
          <a:prstGeom prst="rect">
            <a:avLst/>
          </a:prstGeom>
          <a:noFill/>
          <a:ln>
            <a:noFill/>
          </a:ln>
        </p:spPr>
        <p:txBody>
          <a:bodyPr wrap="none" rtlCol="0">
            <a:spAutoFit/>
          </a:bodyPr>
          <a:lstStyle/>
          <a:p>
            <a:pPr algn="l"/>
            <a:r>
              <a:rPr lang="en-US" altLang="zh-CN" dirty="0"/>
              <a:t>Y</a:t>
            </a:r>
            <a:endParaRPr lang="zh-CN" altLang="en-US" dirty="0"/>
          </a:p>
        </p:txBody>
      </p:sp>
      <p:cxnSp>
        <p:nvCxnSpPr>
          <p:cNvPr id="12" name="连接符: 肘形 11">
            <a:extLst>
              <a:ext uri="{FF2B5EF4-FFF2-40B4-BE49-F238E27FC236}">
                <a16:creationId xmlns:a16="http://schemas.microsoft.com/office/drawing/2014/main" id="{78976B7D-9039-D5BA-71A4-351468C5FDC9}"/>
              </a:ext>
            </a:extLst>
          </p:cNvPr>
          <p:cNvCxnSpPr>
            <a:cxnSpLocks/>
            <a:stCxn id="7" idx="3"/>
            <a:endCxn id="6" idx="0"/>
          </p:cNvCxnSpPr>
          <p:nvPr/>
        </p:nvCxnSpPr>
        <p:spPr>
          <a:xfrm>
            <a:off x="6586855" y="3240224"/>
            <a:ext cx="1092734"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210E300-1BFF-978D-E30C-7941ED50BA77}"/>
              </a:ext>
            </a:extLst>
          </p:cNvPr>
          <p:cNvSpPr txBox="1"/>
          <p:nvPr/>
        </p:nvSpPr>
        <p:spPr>
          <a:xfrm>
            <a:off x="6534893" y="2868541"/>
            <a:ext cx="351378" cy="369332"/>
          </a:xfrm>
          <a:prstGeom prst="rect">
            <a:avLst/>
          </a:prstGeom>
          <a:noFill/>
          <a:ln>
            <a:noFill/>
          </a:ln>
        </p:spPr>
        <p:txBody>
          <a:bodyPr wrap="none" rtlCol="0">
            <a:spAutoFit/>
          </a:bodyPr>
          <a:lstStyle/>
          <a:p>
            <a:pPr algn="l"/>
            <a:r>
              <a:rPr lang="en-US" altLang="zh-CN" dirty="0"/>
              <a:t>N</a:t>
            </a:r>
            <a:endParaRPr lang="zh-CN" altLang="en-US" dirty="0"/>
          </a:p>
        </p:txBody>
      </p:sp>
      <p:sp>
        <p:nvSpPr>
          <p:cNvPr id="14" name="流程图: 过程 13">
            <a:extLst>
              <a:ext uri="{FF2B5EF4-FFF2-40B4-BE49-F238E27FC236}">
                <a16:creationId xmlns:a16="http://schemas.microsoft.com/office/drawing/2014/main" id="{20215F40-D7AC-84E8-FBFC-A6EAD892EB7E}"/>
              </a:ext>
            </a:extLst>
          </p:cNvPr>
          <p:cNvSpPr/>
          <p:nvPr/>
        </p:nvSpPr>
        <p:spPr>
          <a:xfrm>
            <a:off x="4786855" y="4780249"/>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sum + i</a:t>
            </a:r>
            <a:endParaRPr lang="zh-CN" altLang="en-US" dirty="0">
              <a:solidFill>
                <a:schemeClr val="tx1"/>
              </a:solidFill>
            </a:endParaRPr>
          </a:p>
        </p:txBody>
      </p:sp>
      <p:sp>
        <p:nvSpPr>
          <p:cNvPr id="15" name="流程图: 过程 14">
            <a:extLst>
              <a:ext uri="{FF2B5EF4-FFF2-40B4-BE49-F238E27FC236}">
                <a16:creationId xmlns:a16="http://schemas.microsoft.com/office/drawing/2014/main" id="{95112C53-D5CC-A5CA-4939-31630925420F}"/>
              </a:ext>
            </a:extLst>
          </p:cNvPr>
          <p:cNvSpPr/>
          <p:nvPr/>
        </p:nvSpPr>
        <p:spPr>
          <a:xfrm>
            <a:off x="4786855" y="1984482"/>
            <a:ext cx="180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 = 0</a:t>
            </a:r>
            <a:endParaRPr lang="zh-CN" altLang="en-US" dirty="0">
              <a:solidFill>
                <a:schemeClr val="tx1"/>
              </a:solidFill>
            </a:endParaRPr>
          </a:p>
        </p:txBody>
      </p:sp>
      <p:cxnSp>
        <p:nvCxnSpPr>
          <p:cNvPr id="16" name="直接箭头连接符 15">
            <a:extLst>
              <a:ext uri="{FF2B5EF4-FFF2-40B4-BE49-F238E27FC236}">
                <a16:creationId xmlns:a16="http://schemas.microsoft.com/office/drawing/2014/main" id="{ECFFC892-C9FA-AAE1-1A0A-2CB6B4A2B5E2}"/>
              </a:ext>
            </a:extLst>
          </p:cNvPr>
          <p:cNvCxnSpPr>
            <a:stCxn id="3" idx="2"/>
            <a:endCxn id="5" idx="0"/>
          </p:cNvCxnSpPr>
          <p:nvPr/>
        </p:nvCxnSpPr>
        <p:spPr>
          <a:xfrm>
            <a:off x="5686855" y="1113773"/>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C4CF2D5-B607-10BF-E330-D9A9C72BB590}"/>
              </a:ext>
            </a:extLst>
          </p:cNvPr>
          <p:cNvCxnSpPr>
            <a:stCxn id="5" idx="2"/>
            <a:endCxn id="15" idx="0"/>
          </p:cNvCxnSpPr>
          <p:nvPr/>
        </p:nvCxnSpPr>
        <p:spPr>
          <a:xfrm>
            <a:off x="5686855" y="1754327"/>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9900E3FF-2B63-ED10-B4DF-31FBAA794779}"/>
              </a:ext>
            </a:extLst>
          </p:cNvPr>
          <p:cNvCxnSpPr>
            <a:stCxn id="15" idx="2"/>
            <a:endCxn id="7" idx="0"/>
          </p:cNvCxnSpPr>
          <p:nvPr/>
        </p:nvCxnSpPr>
        <p:spPr>
          <a:xfrm>
            <a:off x="5686855" y="2394882"/>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936B9352-02BF-DC15-0B57-F62290C8459C}"/>
              </a:ext>
            </a:extLst>
          </p:cNvPr>
          <p:cNvCxnSpPr>
            <a:stCxn id="8" idx="2"/>
            <a:endCxn id="14" idx="0"/>
          </p:cNvCxnSpPr>
          <p:nvPr/>
        </p:nvCxnSpPr>
        <p:spPr>
          <a:xfrm>
            <a:off x="5686855" y="4507048"/>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12A2372A-74D2-6FA7-060C-198229480015}"/>
              </a:ext>
            </a:extLst>
          </p:cNvPr>
          <p:cNvCxnSpPr>
            <a:cxnSpLocks/>
            <a:stCxn id="14" idx="2"/>
            <a:endCxn id="7" idx="1"/>
          </p:cNvCxnSpPr>
          <p:nvPr/>
        </p:nvCxnSpPr>
        <p:spPr>
          <a:xfrm rot="5400000" flipH="1">
            <a:off x="4261642" y="3765437"/>
            <a:ext cx="1950425" cy="900000"/>
          </a:xfrm>
          <a:prstGeom prst="bentConnector4">
            <a:avLst>
              <a:gd name="adj1" fmla="val -11721"/>
              <a:gd name="adj2" fmla="val 22285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D279ED85-DBC3-F5F8-03FB-35539BC0358D}"/>
              </a:ext>
            </a:extLst>
          </p:cNvPr>
          <p:cNvCxnSpPr>
            <a:stCxn id="6" idx="2"/>
            <a:endCxn id="4" idx="0"/>
          </p:cNvCxnSpPr>
          <p:nvPr/>
        </p:nvCxnSpPr>
        <p:spPr>
          <a:xfrm>
            <a:off x="7679589" y="5339394"/>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759746723"/>
      </p:ext>
    </p:extLst>
  </p:cSld>
  <p:clrMapOvr>
    <a:masterClrMapping/>
  </p:clrMapOvr>
  <p:transition>
    <p:zoom/>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50337-91D9-EE33-99B0-9A7C28A6D5C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7D7EEB-66FF-6897-2E3F-06EC787BD702}"/>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461C5BF8-2859-A6D0-8B6A-61CE0581BB1C}"/>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例</a:t>
            </a:r>
            <a:r>
              <a:rPr lang="en-US" altLang="zh-CN" sz="2400" dirty="0">
                <a:solidFill>
                  <a:schemeClr val="tx1"/>
                </a:solidFill>
              </a:rPr>
              <a:t>3 </a:t>
            </a:r>
            <a:r>
              <a:rPr lang="zh-CN" altLang="en-US" sz="2400" dirty="0">
                <a:solidFill>
                  <a:schemeClr val="tx1"/>
                </a:solidFill>
              </a:rPr>
              <a:t>判断题</a:t>
            </a:r>
          </a:p>
        </p:txBody>
      </p:sp>
      <p:sp>
        <p:nvSpPr>
          <p:cNvPr id="10" name="文本框 9">
            <a:extLst>
              <a:ext uri="{FF2B5EF4-FFF2-40B4-BE49-F238E27FC236}">
                <a16:creationId xmlns:a16="http://schemas.microsoft.com/office/drawing/2014/main" id="{893F058A-7C79-562E-6395-C0BD47FE6CFE}"/>
              </a:ext>
            </a:extLst>
          </p:cNvPr>
          <p:cNvSpPr txBox="1"/>
          <p:nvPr/>
        </p:nvSpPr>
        <p:spPr>
          <a:xfrm>
            <a:off x="809625" y="2252160"/>
            <a:ext cx="5955476" cy="369332"/>
          </a:xfrm>
          <a:prstGeom prst="rect">
            <a:avLst/>
          </a:prstGeom>
          <a:noFill/>
        </p:spPr>
        <p:txBody>
          <a:bodyPr wrap="none" rtlCol="0">
            <a:spAutoFit/>
          </a:bodyPr>
          <a:lstStyle/>
          <a:p>
            <a:r>
              <a:rPr lang="zh-CN" altLang="en-US" dirty="0"/>
              <a:t>从单纯的桌面端到支持移动端的适配是适应性维护。（）</a:t>
            </a:r>
          </a:p>
        </p:txBody>
      </p:sp>
    </p:spTree>
    <p:custDataLst>
      <p:tags r:id="rId1"/>
    </p:custDataLst>
    <p:extLst>
      <p:ext uri="{BB962C8B-B14F-4D97-AF65-F5344CB8AC3E}">
        <p14:creationId xmlns:p14="http://schemas.microsoft.com/office/powerpoint/2010/main" val="2224122199"/>
      </p:ext>
    </p:extLst>
  </p:cSld>
  <p:clrMapOvr>
    <a:masterClrMapping/>
  </p:clrMapOvr>
  <p:transition>
    <p:zoom/>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5.1.2 </a:t>
            </a:r>
            <a:r>
              <a:rPr lang="zh-CN" altLang="en-US" sz="2400" dirty="0">
                <a:solidFill>
                  <a:schemeClr val="tx1"/>
                </a:solidFill>
              </a:rPr>
              <a:t>软件维护的特点</a:t>
            </a:r>
          </a:p>
        </p:txBody>
      </p:sp>
      <p:sp>
        <p:nvSpPr>
          <p:cNvPr id="51" name="文本框 50"/>
          <p:cNvSpPr txBox="1"/>
          <p:nvPr>
            <p:custDataLst>
              <p:tags r:id="rId2"/>
            </p:custDataLst>
          </p:nvPr>
        </p:nvSpPr>
        <p:spPr>
          <a:xfrm>
            <a:off x="7507657" y="1546225"/>
            <a:ext cx="3862070" cy="369332"/>
          </a:xfrm>
          <a:prstGeom prst="rect">
            <a:avLst/>
          </a:prstGeom>
          <a:noFill/>
        </p:spPr>
        <p:txBody>
          <a:bodyPr wrap="square">
            <a:spAutoFit/>
          </a:bodyPr>
          <a:lstStyle/>
          <a:p>
            <a:pPr eaLnBrk="1" hangingPunct="1">
              <a:spcBef>
                <a:spcPts val="0"/>
              </a:spcBef>
              <a:spcAft>
                <a:spcPts val="0"/>
              </a:spcAft>
              <a:defRPr/>
            </a:pPr>
            <a:r>
              <a:rPr lang="zh-CN" altLang="en-US" dirty="0"/>
              <a:t>结构化维护与非结构化维护差别巨大</a:t>
            </a:r>
          </a:p>
        </p:txBody>
      </p:sp>
      <p:sp>
        <p:nvSpPr>
          <p:cNvPr id="54" name="六边形 53"/>
          <p:cNvSpPr/>
          <p:nvPr>
            <p:custDataLst>
              <p:tags r:id="rId3"/>
            </p:custDataLst>
          </p:nvPr>
        </p:nvSpPr>
        <p:spPr>
          <a:xfrm>
            <a:off x="5605145" y="2503805"/>
            <a:ext cx="1205230" cy="1050925"/>
          </a:xfrm>
          <a:prstGeom prst="hexagon">
            <a:avLst/>
          </a:prstGeom>
          <a:solidFill>
            <a:srgbClr val="00B050"/>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01</a:t>
            </a:r>
            <a:endParaRPr lang="zh-CN" altLang="en-US" sz="2400" b="1" dirty="0">
              <a:solidFill>
                <a:schemeClr val="bg1"/>
              </a:solidFill>
              <a:latin typeface="+mj-lt"/>
            </a:endParaRPr>
          </a:p>
        </p:txBody>
      </p:sp>
      <p:sp>
        <p:nvSpPr>
          <p:cNvPr id="56" name="六边形 55"/>
          <p:cNvSpPr/>
          <p:nvPr>
            <p:custDataLst>
              <p:tags r:id="rId4"/>
            </p:custDataLst>
          </p:nvPr>
        </p:nvSpPr>
        <p:spPr>
          <a:xfrm>
            <a:off x="6922770" y="4632325"/>
            <a:ext cx="1203325" cy="1052830"/>
          </a:xfrm>
          <a:prstGeom prst="hexagon">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03</a:t>
            </a:r>
            <a:endParaRPr lang="zh-CN" altLang="en-US" sz="2400" b="1" dirty="0">
              <a:solidFill>
                <a:schemeClr val="bg1"/>
              </a:solidFill>
              <a:latin typeface="+mj-lt"/>
            </a:endParaRPr>
          </a:p>
        </p:txBody>
      </p:sp>
      <p:sp>
        <p:nvSpPr>
          <p:cNvPr id="64" name="六边形 63"/>
          <p:cNvSpPr/>
          <p:nvPr>
            <p:custDataLst>
              <p:tags r:id="rId5"/>
            </p:custDataLst>
          </p:nvPr>
        </p:nvSpPr>
        <p:spPr>
          <a:xfrm>
            <a:off x="5264150" y="3649980"/>
            <a:ext cx="1887220" cy="1591945"/>
          </a:xfrm>
          <a:prstGeom prst="hexagon">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6"/>
            </p:custDataLst>
          </p:nvPr>
        </p:nvGrpSpPr>
        <p:grpSpPr>
          <a:xfrm>
            <a:off x="5709920" y="4092575"/>
            <a:ext cx="965835" cy="647700"/>
            <a:chOff x="3784600" y="1525588"/>
            <a:chExt cx="935038" cy="568325"/>
          </a:xfrm>
          <a:solidFill>
            <a:schemeClr val="bg1"/>
          </a:solidFill>
        </p:grpSpPr>
        <p:sp>
          <p:nvSpPr>
            <p:cNvPr id="66" name="Freeform 8@|5FFC:16777215|FBC:16777215|LFC:11960852|LBC:16777215"/>
            <p:cNvSpPr/>
            <p:nvPr>
              <p:custDataLst>
                <p:tags r:id="rId10"/>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11"/>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12"/>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92500" lnSpcReduction="1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13"/>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fontScale="850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14"/>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15"/>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sp>
        <p:nvSpPr>
          <p:cNvPr id="28" name="六边形 27"/>
          <p:cNvSpPr/>
          <p:nvPr>
            <p:custDataLst>
              <p:tags r:id="rId7"/>
            </p:custDataLst>
          </p:nvPr>
        </p:nvSpPr>
        <p:spPr>
          <a:xfrm>
            <a:off x="4286250" y="4632325"/>
            <a:ext cx="1203325" cy="1052830"/>
          </a:xfrm>
          <a:prstGeom prst="hexagon">
            <a:avLst/>
          </a:prstGeom>
          <a:solidFill>
            <a:srgbClr val="E6781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b="1" dirty="0">
                <a:solidFill>
                  <a:schemeClr val="bg1"/>
                </a:solidFill>
                <a:latin typeface="+mj-lt"/>
              </a:rPr>
              <a:t>02</a:t>
            </a:r>
            <a:endParaRPr lang="zh-CN" altLang="en-US" sz="2400" b="1" dirty="0">
              <a:solidFill>
                <a:schemeClr val="bg1"/>
              </a:solidFill>
              <a:latin typeface="+mj-lt"/>
            </a:endParaRPr>
          </a:p>
        </p:txBody>
      </p:sp>
      <p:sp>
        <p:nvSpPr>
          <p:cNvPr id="37" name="文本框 36"/>
          <p:cNvSpPr txBox="1"/>
          <p:nvPr>
            <p:custDataLst>
              <p:tags r:id="rId8"/>
            </p:custDataLst>
          </p:nvPr>
        </p:nvSpPr>
        <p:spPr>
          <a:xfrm>
            <a:off x="8842838" y="3893642"/>
            <a:ext cx="2935605" cy="397866"/>
          </a:xfrm>
          <a:prstGeom prst="rect">
            <a:avLst/>
          </a:prstGeom>
          <a:noFill/>
        </p:spPr>
        <p:txBody>
          <a:bodyPr>
            <a:spAutoFit/>
          </a:bodyPr>
          <a:lstStyle/>
          <a:p>
            <a:pPr eaLnBrk="1" hangingPunct="1">
              <a:lnSpc>
                <a:spcPct val="120000"/>
              </a:lnSpc>
              <a:spcBef>
                <a:spcPts val="0"/>
              </a:spcBef>
              <a:spcAft>
                <a:spcPts val="0"/>
              </a:spcAft>
              <a:defRPr/>
            </a:pPr>
            <a:r>
              <a:rPr lang="zh-CN" altLang="en-US" dirty="0"/>
              <a:t>维护的问题很多</a:t>
            </a:r>
          </a:p>
        </p:txBody>
      </p:sp>
      <p:sp>
        <p:nvSpPr>
          <p:cNvPr id="32" name="文本框 31"/>
          <p:cNvSpPr txBox="1"/>
          <p:nvPr>
            <p:custDataLst>
              <p:tags r:id="rId9"/>
            </p:custDataLst>
          </p:nvPr>
        </p:nvSpPr>
        <p:spPr>
          <a:xfrm>
            <a:off x="804347" y="4261286"/>
            <a:ext cx="2934970" cy="369332"/>
          </a:xfrm>
          <a:prstGeom prst="rect">
            <a:avLst/>
          </a:prstGeom>
          <a:noFill/>
        </p:spPr>
        <p:txBody>
          <a:bodyPr>
            <a:spAutoFit/>
          </a:bodyPr>
          <a:lstStyle/>
          <a:p>
            <a:pPr algn="r" eaLnBrk="1" hangingPunct="1">
              <a:spcBef>
                <a:spcPts val="0"/>
              </a:spcBef>
              <a:spcAft>
                <a:spcPts val="0"/>
              </a:spcAft>
              <a:defRPr/>
            </a:pPr>
            <a:r>
              <a:rPr lang="zh-CN" altLang="en-US" dirty="0"/>
              <a:t>维护的代价高昂</a:t>
            </a:r>
          </a:p>
        </p:txBody>
      </p:sp>
      <p:cxnSp>
        <p:nvCxnSpPr>
          <p:cNvPr id="8" name="连接符: 肘形 7">
            <a:extLst>
              <a:ext uri="{FF2B5EF4-FFF2-40B4-BE49-F238E27FC236}">
                <a16:creationId xmlns:a16="http://schemas.microsoft.com/office/drawing/2014/main" id="{526504DD-0F9E-DCF0-AC40-23997151A364}"/>
              </a:ext>
            </a:extLst>
          </p:cNvPr>
          <p:cNvCxnSpPr>
            <a:stCxn id="54" idx="5"/>
            <a:endCxn id="51" idx="1"/>
          </p:cNvCxnSpPr>
          <p:nvPr/>
        </p:nvCxnSpPr>
        <p:spPr>
          <a:xfrm rot="5400000" flipH="1" flipV="1">
            <a:off x="6641193" y="1637342"/>
            <a:ext cx="772914" cy="960013"/>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FBF9CEEE-4491-983B-668F-9473D2C04FFE}"/>
              </a:ext>
            </a:extLst>
          </p:cNvPr>
          <p:cNvCxnSpPr>
            <a:cxnSpLocks/>
            <a:stCxn id="56" idx="5"/>
            <a:endCxn id="37" idx="1"/>
          </p:cNvCxnSpPr>
          <p:nvPr/>
        </p:nvCxnSpPr>
        <p:spPr>
          <a:xfrm rot="5400000" flipH="1" flipV="1">
            <a:off x="8082988" y="3872475"/>
            <a:ext cx="539750" cy="979950"/>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15C7057D-ADB4-45E3-5C5D-5A5F76C06984}"/>
              </a:ext>
            </a:extLst>
          </p:cNvPr>
          <p:cNvCxnSpPr>
            <a:cxnSpLocks/>
            <a:stCxn id="28" idx="4"/>
            <a:endCxn id="32" idx="3"/>
          </p:cNvCxnSpPr>
          <p:nvPr/>
        </p:nvCxnSpPr>
        <p:spPr>
          <a:xfrm rot="16200000" flipV="1">
            <a:off x="4051202" y="4134068"/>
            <a:ext cx="186373" cy="810141"/>
          </a:xfrm>
          <a:prstGeom prst="bentConnector2">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cSld>
  <p:clrMapOvr>
    <a:masterClrMapping/>
  </p:clrMapOvr>
  <p:transition>
    <p:zoom/>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82" name="MH_Text_2"/>
          <p:cNvSpPr>
            <a:spLocks noChangeArrowheads="1"/>
          </p:cNvSpPr>
          <p:nvPr/>
        </p:nvSpPr>
        <p:spPr bwMode="auto">
          <a:xfrm>
            <a:off x="809469" y="2695663"/>
            <a:ext cx="3015771" cy="34443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fontAlgn="auto">
              <a:lnSpc>
                <a:spcPct val="120000"/>
              </a:lnSpc>
              <a:defRPr/>
            </a:pPr>
            <a:r>
              <a:rPr lang="zh-CN" altLang="en-US" sz="1600" dirty="0">
                <a:latin typeface="+mj-ea"/>
                <a:ea typeface="+mj-ea"/>
              </a:rPr>
              <a:t>结构化维护</a:t>
            </a:r>
            <a:endParaRPr lang="en-US" altLang="zh-CN" sz="1600" dirty="0">
              <a:latin typeface="+mj-ea"/>
              <a:ea typeface="+mj-ea"/>
            </a:endParaRPr>
          </a:p>
          <a:p>
            <a:pPr algn="l" fontAlgn="auto">
              <a:lnSpc>
                <a:spcPct val="120000"/>
              </a:lnSpc>
              <a:defRPr/>
            </a:pPr>
            <a:r>
              <a:rPr lang="zh-CN" altLang="en-US" sz="1600" dirty="0"/>
              <a:t>开发早期就应用系统化的工程方法论，如需求分析、设计文档、模块化编程、版本控制、测试用例等，使得软件具有良好的可维护性</a:t>
            </a:r>
          </a:p>
          <a:p>
            <a:pPr marL="285750" indent="-285750" algn="l" fontAlgn="auto">
              <a:lnSpc>
                <a:spcPct val="120000"/>
              </a:lnSpc>
              <a:buFont typeface="Arial" panose="020B0604020202020204" pitchFamily="34" charset="0"/>
              <a:buChar char="•"/>
              <a:defRPr/>
            </a:pPr>
            <a:r>
              <a:rPr lang="zh-CN" altLang="en-US" sz="1600" dirty="0"/>
              <a:t>维护工作量相对较少</a:t>
            </a:r>
          </a:p>
          <a:p>
            <a:pPr marL="285750" indent="-285750" algn="l" fontAlgn="auto">
              <a:lnSpc>
                <a:spcPct val="120000"/>
              </a:lnSpc>
              <a:buFont typeface="Arial" panose="020B0604020202020204" pitchFamily="34" charset="0"/>
              <a:buChar char="•"/>
              <a:defRPr/>
            </a:pPr>
            <a:r>
              <a:rPr lang="zh-CN" altLang="en-US" sz="1600" dirty="0"/>
              <a:t>维护质量更高；修改有据可依，不易引入新错误</a:t>
            </a:r>
          </a:p>
          <a:p>
            <a:pPr marL="285750" indent="-285750" algn="l" fontAlgn="auto">
              <a:lnSpc>
                <a:spcPct val="120000"/>
              </a:lnSpc>
              <a:buFont typeface="Arial" panose="020B0604020202020204" pitchFamily="34" charset="0"/>
              <a:buChar char="•"/>
              <a:defRPr/>
            </a:pPr>
            <a:r>
              <a:rPr lang="zh-CN" altLang="en-US" sz="1600" dirty="0"/>
              <a:t>依赖完整的文档和清晰的结构</a:t>
            </a:r>
            <a:endParaRPr lang="en-US" altLang="zh-CN" sz="1600" dirty="0"/>
          </a:p>
        </p:txBody>
      </p:sp>
      <p:sp>
        <p:nvSpPr>
          <p:cNvPr id="4" name="MH_Text_2"/>
          <p:cNvSpPr>
            <a:spLocks noChangeArrowheads="1"/>
          </p:cNvSpPr>
          <p:nvPr/>
        </p:nvSpPr>
        <p:spPr bwMode="auto">
          <a:xfrm>
            <a:off x="8366759" y="2695663"/>
            <a:ext cx="3016800" cy="3148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p>
            <a:pPr algn="r">
              <a:lnSpc>
                <a:spcPct val="120000"/>
              </a:lnSpc>
            </a:pPr>
            <a:r>
              <a:rPr lang="zh-CN" altLang="en-US" sz="1600" dirty="0">
                <a:latin typeface="+mj-ea"/>
                <a:ea typeface="+mj-ea"/>
              </a:rPr>
              <a:t>非结构化维护</a:t>
            </a:r>
            <a:endParaRPr lang="en-US" altLang="zh-CN" sz="1600" dirty="0">
              <a:latin typeface="+mj-ea"/>
              <a:ea typeface="+mj-ea"/>
            </a:endParaRPr>
          </a:p>
          <a:p>
            <a:pPr>
              <a:lnSpc>
                <a:spcPct val="120000"/>
              </a:lnSpc>
            </a:pPr>
            <a:r>
              <a:rPr lang="zh-CN" altLang="en-US" sz="1600" dirty="0"/>
              <a:t>开发时缺乏系统化的工程方法论，</a:t>
            </a:r>
            <a:r>
              <a:rPr lang="zh-CN" altLang="en-US" sz="1600" dirty="0">
                <a:solidFill>
                  <a:srgbClr val="E67819"/>
                </a:solidFill>
              </a:rPr>
              <a:t>没有或仅有极少的开发文档</a:t>
            </a:r>
            <a:r>
              <a:rPr lang="zh-CN" altLang="en-US" sz="1600" dirty="0"/>
              <a:t>，代码结构混乱，通常被称为意大利面式代码</a:t>
            </a:r>
          </a:p>
          <a:p>
            <a:pPr marL="285750" indent="-285750">
              <a:lnSpc>
                <a:spcPct val="120000"/>
              </a:lnSpc>
              <a:buFont typeface="Arial" panose="020B0604020202020204" pitchFamily="34" charset="0"/>
              <a:buChar char="•"/>
            </a:pPr>
            <a:r>
              <a:rPr lang="zh-CN" altLang="en-US" sz="1600" dirty="0"/>
              <a:t>维护工作量巨大，效率低下</a:t>
            </a:r>
          </a:p>
          <a:p>
            <a:pPr marL="285750" indent="-285750">
              <a:lnSpc>
                <a:spcPct val="120000"/>
              </a:lnSpc>
              <a:buFont typeface="Arial" panose="020B0604020202020204" pitchFamily="34" charset="0"/>
              <a:buChar char="•"/>
            </a:pPr>
            <a:r>
              <a:rPr lang="zh-CN" altLang="en-US" sz="1600" dirty="0"/>
              <a:t>维护质量难以保证，容易引入新的错误</a:t>
            </a:r>
          </a:p>
          <a:p>
            <a:pPr marL="285750" indent="-285750">
              <a:lnSpc>
                <a:spcPct val="120000"/>
              </a:lnSpc>
              <a:buFont typeface="Arial" panose="020B0604020202020204" pitchFamily="34" charset="0"/>
              <a:buChar char="•"/>
            </a:pPr>
            <a:r>
              <a:rPr lang="zh-CN" altLang="en-US" sz="1600" dirty="0"/>
              <a:t>维护人员需要花费大量时间逆向工程来理解代码</a:t>
            </a:r>
          </a:p>
        </p:txBody>
      </p:sp>
      <p:sp>
        <p:nvSpPr>
          <p:cNvPr id="5" name="TextBox 6">
            <a:extLst>
              <a:ext uri="{FF2B5EF4-FFF2-40B4-BE49-F238E27FC236}">
                <a16:creationId xmlns:a16="http://schemas.microsoft.com/office/drawing/2014/main" id="{ADB628DF-B598-B4DF-B0D1-A2665547B9C4}"/>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TextBox 1">
            <a:extLst>
              <a:ext uri="{FF2B5EF4-FFF2-40B4-BE49-F238E27FC236}">
                <a16:creationId xmlns:a16="http://schemas.microsoft.com/office/drawing/2014/main" id="{17CA2183-6A75-9402-9DBB-32E7C5642D45}"/>
              </a:ext>
            </a:extLst>
          </p:cNvPr>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7" name="直接连接符 6">
            <a:extLst>
              <a:ext uri="{FF2B5EF4-FFF2-40B4-BE49-F238E27FC236}">
                <a16:creationId xmlns:a16="http://schemas.microsoft.com/office/drawing/2014/main" id="{9D6EE640-4E0C-BCB1-8552-16052F651D3E}"/>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a:extLst>
              <a:ext uri="{FF2B5EF4-FFF2-40B4-BE49-F238E27FC236}">
                <a16:creationId xmlns:a16="http://schemas.microsoft.com/office/drawing/2014/main" id="{EBF902D1-D795-D85B-B298-101E3A0AD1F7}"/>
              </a:ext>
            </a:extLst>
          </p:cNvPr>
          <p:cNvSpPr>
            <a:spLocks noChangeArrowheads="1"/>
          </p:cNvSpPr>
          <p:nvPr/>
        </p:nvSpPr>
        <p:spPr bwMode="auto">
          <a:xfrm>
            <a:off x="1262066" y="2090768"/>
            <a:ext cx="46135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结构化维护与非结构化维护差别巨大</a:t>
            </a:r>
          </a:p>
        </p:txBody>
      </p:sp>
      <p:pic>
        <p:nvPicPr>
          <p:cNvPr id="2" name="图片 148">
            <a:extLst>
              <a:ext uri="{FF2B5EF4-FFF2-40B4-BE49-F238E27FC236}">
                <a16:creationId xmlns:a16="http://schemas.microsoft.com/office/drawing/2014/main" id="{5D54F848-0387-FFA0-C0B3-E24C69DE47BA}"/>
              </a:ext>
            </a:extLst>
          </p:cNvPr>
          <p:cNvPicPr>
            <a:picLocks noChangeAspect="1"/>
          </p:cNvPicPr>
          <p:nvPr/>
        </p:nvPicPr>
        <p:blipFill>
          <a:blip r:embed="rId3" cstate="print"/>
          <a:stretch>
            <a:fillRect/>
          </a:stretch>
        </p:blipFill>
        <p:spPr>
          <a:xfrm>
            <a:off x="3825240" y="2465105"/>
            <a:ext cx="4541520" cy="4299585"/>
          </a:xfrm>
          <a:prstGeom prst="rect">
            <a:avLst/>
          </a:prstGeom>
          <a:noFill/>
          <a:ln w="9525">
            <a:noFill/>
          </a:ln>
        </p:spPr>
      </p:pic>
      <p:cxnSp>
        <p:nvCxnSpPr>
          <p:cNvPr id="17" name="直接连接符 16">
            <a:extLst>
              <a:ext uri="{FF2B5EF4-FFF2-40B4-BE49-F238E27FC236}">
                <a16:creationId xmlns:a16="http://schemas.microsoft.com/office/drawing/2014/main" id="{65BACD98-CBDA-05B6-CF2E-75024A276DE1}"/>
              </a:ext>
            </a:extLst>
          </p:cNvPr>
          <p:cNvCxnSpPr>
            <a:cxnSpLocks/>
          </p:cNvCxnSpPr>
          <p:nvPr/>
        </p:nvCxnSpPr>
        <p:spPr>
          <a:xfrm>
            <a:off x="8518560" y="2956482"/>
            <a:ext cx="1440000" cy="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64118F82-6BCA-CCBF-2ABB-700367372E14}"/>
              </a:ext>
            </a:extLst>
          </p:cNvPr>
          <p:cNvCxnSpPr>
            <a:cxnSpLocks/>
          </p:cNvCxnSpPr>
          <p:nvPr/>
        </p:nvCxnSpPr>
        <p:spPr>
          <a:xfrm>
            <a:off x="1993355" y="2956482"/>
            <a:ext cx="1440000" cy="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6AA275E8-F997-045E-2DC3-1C3F69E928FF}"/>
              </a:ext>
            </a:extLst>
          </p:cNvPr>
          <p:cNvCxnSpPr>
            <a:cxnSpLocks/>
          </p:cNvCxnSpPr>
          <p:nvPr/>
        </p:nvCxnSpPr>
        <p:spPr>
          <a:xfrm>
            <a:off x="809469" y="2956482"/>
            <a:ext cx="0" cy="288000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3B2FD3D-7099-BE8E-A7D2-942D247F4C8C}"/>
              </a:ext>
            </a:extLst>
          </p:cNvPr>
          <p:cNvCxnSpPr>
            <a:cxnSpLocks/>
          </p:cNvCxnSpPr>
          <p:nvPr/>
        </p:nvCxnSpPr>
        <p:spPr>
          <a:xfrm>
            <a:off x="11383559" y="2956482"/>
            <a:ext cx="0" cy="2880000"/>
          </a:xfrm>
          <a:prstGeom prst="line">
            <a:avLst/>
          </a:prstGeom>
          <a:ln w="12700">
            <a:solidFill>
              <a:srgbClr val="58BDA8"/>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0849953"/>
      </p:ext>
    </p:extLst>
  </p:cSld>
  <p:clrMapOvr>
    <a:masterClrMapping/>
  </p:clrMapOvr>
  <p:transition>
    <p:zoom/>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p>
        </p:txBody>
      </p:sp>
      <p:sp>
        <p:nvSpPr>
          <p:cNvPr id="6" name="圆角矩形 5"/>
          <p:cNvSpPr/>
          <p:nvPr/>
        </p:nvSpPr>
        <p:spPr>
          <a:xfrm>
            <a:off x="1598707" y="5601651"/>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每条指令的维护</a:t>
            </a:r>
            <a:r>
              <a:rPr lang="zh-CN" altLang="en-US" sz="1600" b="1" dirty="0">
                <a:solidFill>
                  <a:srgbClr val="58BDA8"/>
                </a:solidFill>
                <a:latin typeface="+mj-ea"/>
                <a:ea typeface="+mj-ea"/>
              </a:rPr>
              <a:t>成本</a:t>
            </a:r>
            <a:r>
              <a:rPr lang="zh-CN" altLang="en-US" sz="1600" dirty="0">
                <a:solidFill>
                  <a:schemeClr val="tx1"/>
                </a:solidFill>
              </a:rPr>
              <a:t>数十倍于每条指令的开发成本，造成生产率的大幅下降</a:t>
            </a:r>
          </a:p>
        </p:txBody>
      </p:sp>
      <p:sp>
        <p:nvSpPr>
          <p:cNvPr id="58" name="椭圆 57"/>
          <p:cNvSpPr/>
          <p:nvPr/>
        </p:nvSpPr>
        <p:spPr>
          <a:xfrm>
            <a:off x="8970009" y="553456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bg1"/>
                </a:solidFill>
                <a:effectLst/>
                <a:uLnTx/>
                <a:uFillTx/>
                <a:latin typeface="+mn-lt"/>
                <a:ea typeface="+mn-ea"/>
                <a:cs typeface="+mn-cs"/>
              </a:rPr>
              <a:t>05</a:t>
            </a:r>
            <a:endParaRPr kumimoji="0" lang="zh-CN" altLang="en-US" sz="2000" b="1" i="0" u="none" strike="noStrike" kern="1200" cap="none" spc="0" normalizeH="0" baseline="0" noProof="0" dirty="0">
              <a:ln>
                <a:noFill/>
              </a:ln>
              <a:solidFill>
                <a:schemeClr val="bg1"/>
              </a:solidFill>
              <a:effectLst/>
              <a:uLnTx/>
              <a:uFillTx/>
              <a:latin typeface="+mn-lt"/>
              <a:ea typeface="+mn-ea"/>
              <a:cs typeface="+mn-cs"/>
            </a:endParaRPr>
          </a:p>
        </p:txBody>
      </p:sp>
      <p:sp>
        <p:nvSpPr>
          <p:cNvPr id="59" name="圆角矩形 58"/>
          <p:cNvSpPr/>
          <p:nvPr/>
        </p:nvSpPr>
        <p:spPr>
          <a:xfrm>
            <a:off x="2056226" y="4856003"/>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当必须把从事开发的软件</a:t>
            </a:r>
            <a:r>
              <a:rPr lang="zh-CN" altLang="en-US" sz="1600" b="1" dirty="0">
                <a:solidFill>
                  <a:srgbClr val="58BDA8"/>
                </a:solidFill>
                <a:latin typeface="+mj-ea"/>
                <a:ea typeface="+mj-ea"/>
              </a:rPr>
              <a:t>人</a:t>
            </a:r>
            <a:r>
              <a:rPr lang="zh-CN" altLang="en-US" sz="1600" dirty="0">
                <a:solidFill>
                  <a:schemeClr val="tx1"/>
                </a:solidFill>
              </a:rPr>
              <a:t>员调去从事维护工作时，将可能打乱软件开发过程</a:t>
            </a:r>
          </a:p>
        </p:txBody>
      </p:sp>
      <p:sp>
        <p:nvSpPr>
          <p:cNvPr id="60" name="椭圆 59"/>
          <p:cNvSpPr/>
          <p:nvPr/>
        </p:nvSpPr>
        <p:spPr>
          <a:xfrm>
            <a:off x="9437402" y="4788761"/>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bg1"/>
                </a:solidFill>
                <a:effectLst/>
                <a:uLnTx/>
                <a:uFillTx/>
                <a:latin typeface="+mn-lt"/>
                <a:ea typeface="+mn-ea"/>
                <a:cs typeface="+mn-cs"/>
              </a:rPr>
              <a:t>04</a:t>
            </a:r>
            <a:endParaRPr kumimoji="0" lang="zh-CN" altLang="en-US" sz="2000" b="1" i="0" u="none" strike="noStrike" kern="1200" cap="none" spc="0" normalizeH="0" baseline="0" noProof="0" dirty="0">
              <a:ln>
                <a:noFill/>
              </a:ln>
              <a:solidFill>
                <a:schemeClr val="bg1"/>
              </a:solidFill>
              <a:effectLst/>
              <a:uLnTx/>
              <a:uFillTx/>
              <a:latin typeface="+mn-lt"/>
              <a:ea typeface="+mn-ea"/>
              <a:cs typeface="+mn-cs"/>
            </a:endParaRPr>
          </a:p>
        </p:txBody>
      </p:sp>
      <p:sp>
        <p:nvSpPr>
          <p:cNvPr id="61" name="圆角矩形 60"/>
          <p:cNvSpPr/>
          <p:nvPr/>
        </p:nvSpPr>
        <p:spPr>
          <a:xfrm>
            <a:off x="2513746" y="4110354"/>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在所维护的软件中，由于修改软件而引入潜伏的新的错误，导致软件</a:t>
            </a:r>
            <a:r>
              <a:rPr lang="zh-CN" altLang="en-US" sz="1600" b="1" dirty="0">
                <a:solidFill>
                  <a:srgbClr val="58BDA8"/>
                </a:solidFill>
                <a:latin typeface="+mj-ea"/>
                <a:ea typeface="+mj-ea"/>
              </a:rPr>
              <a:t>质量</a:t>
            </a:r>
            <a:r>
              <a:rPr lang="zh-CN" altLang="en-US" sz="1600" dirty="0">
                <a:solidFill>
                  <a:schemeClr val="tx1"/>
                </a:solidFill>
              </a:rPr>
              <a:t>下降</a:t>
            </a:r>
          </a:p>
        </p:txBody>
      </p:sp>
      <p:sp>
        <p:nvSpPr>
          <p:cNvPr id="62" name="圆角矩形 61"/>
          <p:cNvSpPr/>
          <p:nvPr/>
        </p:nvSpPr>
        <p:spPr>
          <a:xfrm>
            <a:off x="2056544" y="3364705"/>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r>
              <a:rPr lang="zh-CN" altLang="en-US" sz="1600" dirty="0">
                <a:solidFill>
                  <a:schemeClr val="tx1"/>
                </a:solidFill>
              </a:rPr>
              <a:t>有关改错或修改的要求不能</a:t>
            </a:r>
            <a:r>
              <a:rPr lang="zh-CN" altLang="en-US" sz="1600" b="1" dirty="0">
                <a:solidFill>
                  <a:srgbClr val="58BDA8"/>
                </a:solidFill>
                <a:latin typeface="+mj-ea"/>
                <a:ea typeface="+mj-ea"/>
              </a:rPr>
              <a:t>及时</a:t>
            </a:r>
            <a:r>
              <a:rPr lang="zh-CN" altLang="en-US" sz="1600" dirty="0">
                <a:solidFill>
                  <a:schemeClr val="tx1"/>
                </a:solidFill>
              </a:rPr>
              <a:t>满足，引起用户不满</a:t>
            </a:r>
          </a:p>
        </p:txBody>
      </p:sp>
      <p:sp>
        <p:nvSpPr>
          <p:cNvPr id="63" name="椭圆 62"/>
          <p:cNvSpPr/>
          <p:nvPr/>
        </p:nvSpPr>
        <p:spPr>
          <a:xfrm>
            <a:off x="9447562" y="3297147"/>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bg1"/>
                </a:solidFill>
                <a:effectLst/>
                <a:uLnTx/>
                <a:uFillTx/>
                <a:latin typeface="+mn-lt"/>
                <a:ea typeface="+mn-ea"/>
                <a:cs typeface="+mn-cs"/>
              </a:rPr>
              <a:t>02</a:t>
            </a:r>
            <a:endParaRPr kumimoji="0" lang="zh-CN" altLang="en-US" sz="2000" b="1" i="0" u="none" strike="noStrike" kern="1200" cap="none" spc="0" normalizeH="0" baseline="0" noProof="0" dirty="0">
              <a:ln>
                <a:noFill/>
              </a:ln>
              <a:solidFill>
                <a:schemeClr val="bg1"/>
              </a:solidFill>
              <a:effectLst/>
              <a:uLnTx/>
              <a:uFillTx/>
              <a:latin typeface="+mn-lt"/>
              <a:ea typeface="+mn-ea"/>
              <a:cs typeface="+mn-cs"/>
            </a:endParaRPr>
          </a:p>
        </p:txBody>
      </p:sp>
      <p:sp>
        <p:nvSpPr>
          <p:cNvPr id="7" name="圆角矩形 6"/>
          <p:cNvSpPr/>
          <p:nvPr/>
        </p:nvSpPr>
        <p:spPr>
          <a:xfrm>
            <a:off x="1599342" y="2619056"/>
            <a:ext cx="7344000" cy="476071"/>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marL="0" marR="0" lvl="0" indent="0" algn="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tx1"/>
                </a:solidFill>
                <a:effectLst/>
                <a:uLnTx/>
                <a:uFillTx/>
                <a:latin typeface="+mn-lt"/>
                <a:ea typeface="+mn-ea"/>
                <a:cs typeface="+mn-cs"/>
              </a:rPr>
              <a:t>由于可用的</a:t>
            </a:r>
            <a:r>
              <a:rPr kumimoji="0" lang="zh-CN" altLang="en-US" sz="1600" b="1" i="0" u="none" strike="noStrike" kern="1200" cap="none" spc="0" normalizeH="0" baseline="0" noProof="0" dirty="0">
                <a:ln>
                  <a:noFill/>
                </a:ln>
                <a:solidFill>
                  <a:srgbClr val="58BDA8"/>
                </a:solidFill>
                <a:effectLst/>
                <a:uLnTx/>
                <a:uFillTx/>
                <a:latin typeface="+mj-ea"/>
                <a:ea typeface="+mj-ea"/>
                <a:cs typeface="+mn-cs"/>
              </a:rPr>
              <a:t>资源</a:t>
            </a:r>
            <a:r>
              <a:rPr kumimoji="0" lang="zh-CN" altLang="en-US" sz="1600" b="0" i="0" u="none" strike="noStrike" kern="1200" cap="none" spc="0" normalizeH="0" baseline="0" noProof="0" dirty="0">
                <a:ln>
                  <a:noFill/>
                </a:ln>
                <a:solidFill>
                  <a:schemeClr val="tx1"/>
                </a:solidFill>
                <a:effectLst/>
                <a:uLnTx/>
                <a:uFillTx/>
                <a:latin typeface="+mn-lt"/>
                <a:ea typeface="+mn-ea"/>
                <a:cs typeface="+mn-cs"/>
              </a:rPr>
              <a:t>必须供软件维护任务使用，导致耽误甚至丧失开发良机</a:t>
            </a:r>
          </a:p>
        </p:txBody>
      </p:sp>
      <p:sp>
        <p:nvSpPr>
          <p:cNvPr id="8" name="椭圆 7"/>
          <p:cNvSpPr/>
          <p:nvPr/>
        </p:nvSpPr>
        <p:spPr>
          <a:xfrm>
            <a:off x="8990329" y="2551339"/>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bg1"/>
                </a:solidFill>
                <a:effectLst/>
                <a:uLnTx/>
                <a:uFillTx/>
                <a:latin typeface="+mn-lt"/>
                <a:ea typeface="+mn-ea"/>
                <a:cs typeface="+mn-cs"/>
              </a:rPr>
              <a:t>01</a:t>
            </a:r>
            <a:endParaRPr kumimoji="0" lang="zh-CN" altLang="en-US" sz="2000" b="1" i="0" u="none" strike="noStrike" kern="1200" cap="none" spc="0" normalizeH="0" baseline="0" noProof="0" dirty="0">
              <a:ln>
                <a:noFill/>
              </a:ln>
              <a:solidFill>
                <a:schemeClr val="bg1"/>
              </a:solidFill>
              <a:effectLst/>
              <a:uLnTx/>
              <a:uFillTx/>
              <a:latin typeface="+mn-lt"/>
              <a:ea typeface="+mn-ea"/>
              <a:cs typeface="+mn-cs"/>
            </a:endParaRPr>
          </a:p>
        </p:txBody>
      </p:sp>
      <p:sp>
        <p:nvSpPr>
          <p:cNvPr id="76" name="椭圆 75"/>
          <p:cNvSpPr/>
          <p:nvPr/>
        </p:nvSpPr>
        <p:spPr>
          <a:xfrm>
            <a:off x="9904796" y="4042954"/>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bg1"/>
                </a:solidFill>
                <a:effectLst/>
                <a:uLnTx/>
                <a:uFillTx/>
                <a:latin typeface="+mn-lt"/>
                <a:ea typeface="+mn-ea"/>
                <a:cs typeface="+mn-cs"/>
              </a:rPr>
              <a:t>03</a:t>
            </a:r>
            <a:endParaRPr kumimoji="0" lang="zh-CN" altLang="en-US" sz="2000" b="1" i="0" u="none" strike="noStrike" kern="1200" cap="none" spc="0" normalizeH="0" baseline="0" noProof="0" dirty="0">
              <a:ln>
                <a:noFill/>
              </a:ln>
              <a:solidFill>
                <a:schemeClr val="bg1"/>
              </a:solidFill>
              <a:effectLst/>
              <a:uLnTx/>
              <a:uFillTx/>
              <a:latin typeface="+mn-lt"/>
              <a:ea typeface="+mn-ea"/>
              <a:cs typeface="+mn-cs"/>
            </a:endParaRPr>
          </a:p>
        </p:txBody>
      </p:sp>
      <p:sp>
        <p:nvSpPr>
          <p:cNvPr id="30"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1" name="直接连接符 30"/>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维护的代价高昂</a:t>
            </a:r>
          </a:p>
        </p:txBody>
      </p:sp>
      <p:sp>
        <p:nvSpPr>
          <p:cNvPr id="9" name="任意多边形: 形状 8">
            <a:extLst>
              <a:ext uri="{FF2B5EF4-FFF2-40B4-BE49-F238E27FC236}">
                <a16:creationId xmlns:a16="http://schemas.microsoft.com/office/drawing/2014/main" id="{7935BBB6-D652-1AE5-43B0-36AF5CBD829E}"/>
              </a:ext>
            </a:extLst>
          </p:cNvPr>
          <p:cNvSpPr/>
          <p:nvPr/>
        </p:nvSpPr>
        <p:spPr>
          <a:xfrm>
            <a:off x="8751611" y="2178000"/>
            <a:ext cx="2306369" cy="4320000"/>
          </a:xfrm>
          <a:custGeom>
            <a:avLst/>
            <a:gdLst>
              <a:gd name="csX0" fmla="*/ 146369 w 2306369"/>
              <a:gd name="csY0" fmla="*/ 0 h 4320000"/>
              <a:gd name="csX1" fmla="*/ 2306369 w 2306369"/>
              <a:gd name="csY1" fmla="*/ 2160000 h 4320000"/>
              <a:gd name="csX2" fmla="*/ 146369 w 2306369"/>
              <a:gd name="csY2" fmla="*/ 4320000 h 4320000"/>
              <a:gd name="csX3" fmla="*/ 0 w 2306369"/>
              <a:gd name="csY3" fmla="*/ 4312609 h 4320000"/>
              <a:gd name="csX4" fmla="*/ 74478 w 2306369"/>
              <a:gd name="csY4" fmla="*/ 4308848 h 4320000"/>
              <a:gd name="csX5" fmla="*/ 2013630 w 2306369"/>
              <a:gd name="csY5" fmla="*/ 2160000 h 4320000"/>
              <a:gd name="csX6" fmla="*/ 74478 w 2306369"/>
              <a:gd name="csY6" fmla="*/ 11152 h 4320000"/>
              <a:gd name="csX7" fmla="*/ 0 w 2306369"/>
              <a:gd name="csY7" fmla="*/ 7391 h 432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06369" h="4320000">
                <a:moveTo>
                  <a:pt x="146369" y="0"/>
                </a:moveTo>
                <a:cubicBezTo>
                  <a:pt x="1339304" y="0"/>
                  <a:pt x="2306369" y="967065"/>
                  <a:pt x="2306369" y="2160000"/>
                </a:cubicBezTo>
                <a:cubicBezTo>
                  <a:pt x="2306369" y="3352935"/>
                  <a:pt x="1339304" y="4320000"/>
                  <a:pt x="146369" y="4320000"/>
                </a:cubicBezTo>
                <a:lnTo>
                  <a:pt x="0" y="4312609"/>
                </a:lnTo>
                <a:lnTo>
                  <a:pt x="74478" y="4308848"/>
                </a:lnTo>
                <a:cubicBezTo>
                  <a:pt x="1163671" y="4198235"/>
                  <a:pt x="2013630" y="3278377"/>
                  <a:pt x="2013630" y="2160000"/>
                </a:cubicBezTo>
                <a:cubicBezTo>
                  <a:pt x="2013630" y="1041624"/>
                  <a:pt x="1163671" y="121766"/>
                  <a:pt x="74478" y="11152"/>
                </a:cubicBezTo>
                <a:lnTo>
                  <a:pt x="0" y="7391"/>
                </a:lnTo>
                <a:close/>
              </a:path>
            </a:pathLst>
          </a:custGeom>
          <a:solidFill>
            <a:srgbClr val="58BD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Tree>
    <p:custDataLst>
      <p:tags r:id="rId1"/>
    </p:custDataLst>
  </p:cSld>
  <p:clrMapOvr>
    <a:masterClrMapping/>
  </p:clrMapOvr>
  <p:transition>
    <p:zoom/>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lstStyle/>
          <a:p>
            <a:r>
              <a:rPr lang="en-US" altLang="zh-CN" dirty="0">
                <a:sym typeface="+mn-ea"/>
              </a:rPr>
              <a:t>5.1 </a:t>
            </a:r>
            <a:r>
              <a:rPr lang="zh-CN" altLang="en-US" dirty="0">
                <a:sym typeface="+mn-ea"/>
              </a:rPr>
              <a:t>软件维护</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a:solidFill>
                  <a:schemeClr val="tx1"/>
                </a:solidFill>
              </a:rPr>
              <a:t>5.1.2 </a:t>
            </a:r>
            <a:r>
              <a:rPr lang="zh-CN" altLang="en-US" sz="2400" dirty="0">
                <a:solidFill>
                  <a:schemeClr val="tx1"/>
                </a:solidFill>
              </a:rPr>
              <a:t>软件维护的特点</a:t>
            </a:r>
            <a:endParaRPr lang="zh-CN" altLang="en-US" sz="2400" dirty="0">
              <a:sym typeface="+mn-ea"/>
            </a:endParaRPr>
          </a:p>
        </p:txBody>
      </p:sp>
      <p:grpSp>
        <p:nvGrpSpPr>
          <p:cNvPr id="3" name="组合 2">
            <a:extLst>
              <a:ext uri="{FF2B5EF4-FFF2-40B4-BE49-F238E27FC236}">
                <a16:creationId xmlns:a16="http://schemas.microsoft.com/office/drawing/2014/main" id="{04F5D03B-DB31-C851-5700-CAFB87D4A3FB}"/>
              </a:ext>
            </a:extLst>
          </p:cNvPr>
          <p:cNvGrpSpPr/>
          <p:nvPr/>
        </p:nvGrpSpPr>
        <p:grpSpPr>
          <a:xfrm>
            <a:off x="754380" y="2908678"/>
            <a:ext cx="1384300" cy="923925"/>
            <a:chOff x="754380" y="2918245"/>
            <a:chExt cx="1384300" cy="923925"/>
          </a:xfrm>
        </p:grpSpPr>
        <p:sp>
          <p:nvSpPr>
            <p:cNvPr id="15" name="MH_Other_1"/>
            <p:cNvSpPr>
              <a:spLocks noChangeArrowheads="1"/>
            </p:cNvSpPr>
            <p:nvPr>
              <p:custDataLst>
                <p:tags r:id="rId18"/>
              </p:custDataLst>
            </p:nvPr>
          </p:nvSpPr>
          <p:spPr bwMode="auto">
            <a:xfrm>
              <a:off x="754380" y="2918245"/>
              <a:ext cx="673100" cy="50482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dirty="0">
                <a:solidFill>
                  <a:srgbClr val="FFFFFF"/>
                </a:solidFill>
                <a:ea typeface="微软雅黑" panose="020B0503020204020204" charset="-122"/>
              </a:endParaRPr>
            </a:p>
          </p:txBody>
        </p:sp>
        <p:sp>
          <p:nvSpPr>
            <p:cNvPr id="16" name="MH_Other_2"/>
            <p:cNvSpPr>
              <a:spLocks noChangeArrowheads="1"/>
            </p:cNvSpPr>
            <p:nvPr>
              <p:custDataLst>
                <p:tags r:id="rId19"/>
              </p:custDataLst>
            </p:nvPr>
          </p:nvSpPr>
          <p:spPr bwMode="auto">
            <a:xfrm>
              <a:off x="1465580" y="3023020"/>
              <a:ext cx="533400" cy="40005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3"/>
            <p:cNvSpPr>
              <a:spLocks noChangeArrowheads="1"/>
            </p:cNvSpPr>
            <p:nvPr>
              <p:custDataLst>
                <p:tags r:id="rId20"/>
              </p:custDataLst>
            </p:nvPr>
          </p:nvSpPr>
          <p:spPr bwMode="auto">
            <a:xfrm>
              <a:off x="906780" y="3451645"/>
              <a:ext cx="520700" cy="39052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4"/>
            <p:cNvSpPr>
              <a:spLocks noChangeArrowheads="1"/>
            </p:cNvSpPr>
            <p:nvPr>
              <p:custDataLst>
                <p:tags r:id="rId21"/>
              </p:custDataLst>
            </p:nvPr>
          </p:nvSpPr>
          <p:spPr bwMode="auto">
            <a:xfrm>
              <a:off x="1465580" y="3451645"/>
              <a:ext cx="673100" cy="33337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19" name="MH_SubTitle_1"/>
          <p:cNvSpPr/>
          <p:nvPr>
            <p:custDataLst>
              <p:tags r:id="rId2"/>
            </p:custDataLst>
          </p:nvPr>
        </p:nvSpPr>
        <p:spPr>
          <a:xfrm>
            <a:off x="2208527" y="2908678"/>
            <a:ext cx="3451225" cy="1007886"/>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软件人员经常流动，需要维护时，往往无法依赖开发者</a:t>
            </a:r>
            <a:r>
              <a:rPr lang="zh-CN" altLang="en-US" sz="1600" dirty="0">
                <a:solidFill>
                  <a:srgbClr val="58BDA8"/>
                </a:solidFill>
                <a:sym typeface="+mn-ea"/>
              </a:rPr>
              <a:t>本人</a:t>
            </a:r>
            <a:r>
              <a:rPr lang="zh-CN" altLang="en-US" sz="1600" dirty="0">
                <a:sym typeface="+mn-ea"/>
              </a:rPr>
              <a:t>来对软件进行解释和说明。</a:t>
            </a:r>
          </a:p>
        </p:txBody>
      </p:sp>
      <p:grpSp>
        <p:nvGrpSpPr>
          <p:cNvPr id="5" name="组合 4">
            <a:extLst>
              <a:ext uri="{FF2B5EF4-FFF2-40B4-BE49-F238E27FC236}">
                <a16:creationId xmlns:a16="http://schemas.microsoft.com/office/drawing/2014/main" id="{FB33A8CF-2052-5A8A-05EC-A6B938A4736C}"/>
              </a:ext>
            </a:extLst>
          </p:cNvPr>
          <p:cNvGrpSpPr/>
          <p:nvPr/>
        </p:nvGrpSpPr>
        <p:grpSpPr>
          <a:xfrm>
            <a:off x="6477002" y="2908678"/>
            <a:ext cx="1384300" cy="923925"/>
            <a:chOff x="6207760" y="2918245"/>
            <a:chExt cx="1384300" cy="923925"/>
          </a:xfrm>
        </p:grpSpPr>
        <p:sp>
          <p:nvSpPr>
            <p:cNvPr id="20" name="MH_Other_5"/>
            <p:cNvSpPr>
              <a:spLocks noChangeArrowheads="1"/>
            </p:cNvSpPr>
            <p:nvPr>
              <p:custDataLst>
                <p:tags r:id="rId14"/>
              </p:custDataLst>
            </p:nvPr>
          </p:nvSpPr>
          <p:spPr bwMode="auto">
            <a:xfrm>
              <a:off x="6207760" y="2918245"/>
              <a:ext cx="673100" cy="50482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23" name="MH_Other_6"/>
            <p:cNvSpPr>
              <a:spLocks noChangeArrowheads="1"/>
            </p:cNvSpPr>
            <p:nvPr>
              <p:custDataLst>
                <p:tags r:id="rId15"/>
              </p:custDataLst>
            </p:nvPr>
          </p:nvSpPr>
          <p:spPr bwMode="auto">
            <a:xfrm>
              <a:off x="6918960" y="3023020"/>
              <a:ext cx="533400" cy="40005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Other_7"/>
            <p:cNvSpPr>
              <a:spLocks noChangeArrowheads="1"/>
            </p:cNvSpPr>
            <p:nvPr>
              <p:custDataLst>
                <p:tags r:id="rId16"/>
              </p:custDataLst>
            </p:nvPr>
          </p:nvSpPr>
          <p:spPr bwMode="auto">
            <a:xfrm>
              <a:off x="6360160" y="3451645"/>
              <a:ext cx="520700" cy="39052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8"/>
            <p:cNvSpPr>
              <a:spLocks noChangeArrowheads="1"/>
            </p:cNvSpPr>
            <p:nvPr>
              <p:custDataLst>
                <p:tags r:id="rId17"/>
              </p:custDataLst>
            </p:nvPr>
          </p:nvSpPr>
          <p:spPr bwMode="auto">
            <a:xfrm>
              <a:off x="6918960" y="3451645"/>
              <a:ext cx="673100" cy="33337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26" name="MH_SubTitle_3"/>
          <p:cNvSpPr/>
          <p:nvPr>
            <p:custDataLst>
              <p:tags r:id="rId3"/>
            </p:custDataLst>
          </p:nvPr>
        </p:nvSpPr>
        <p:spPr>
          <a:xfrm>
            <a:off x="7931150" y="2908678"/>
            <a:ext cx="3451225" cy="1303352"/>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需要维护的软件往往没有</a:t>
            </a:r>
            <a:r>
              <a:rPr lang="zh-CN" altLang="en-US" sz="1600" dirty="0">
                <a:solidFill>
                  <a:srgbClr val="58BDA8"/>
                </a:solidFill>
                <a:sym typeface="+mn-ea"/>
              </a:rPr>
              <a:t>足够的</a:t>
            </a:r>
            <a:r>
              <a:rPr lang="zh-CN" altLang="en-US" sz="1600" dirty="0">
                <a:sym typeface="+mn-ea"/>
              </a:rPr>
              <a:t>、</a:t>
            </a:r>
            <a:r>
              <a:rPr lang="zh-CN" altLang="en-US" sz="1600" dirty="0">
                <a:solidFill>
                  <a:srgbClr val="58BDA8"/>
                </a:solidFill>
                <a:sym typeface="+mn-ea"/>
              </a:rPr>
              <a:t>合格</a:t>
            </a:r>
            <a:r>
              <a:rPr lang="zh-CN" altLang="en-US" sz="1600" dirty="0">
                <a:sym typeface="+mn-ea"/>
              </a:rPr>
              <a:t>的文档。维护时仅有文档是不够的，</a:t>
            </a:r>
            <a:r>
              <a:rPr lang="zh-CN" altLang="en-US" sz="1600" dirty="0">
                <a:solidFill>
                  <a:srgbClr val="58BDA8"/>
                </a:solidFill>
                <a:sym typeface="+mn-ea"/>
              </a:rPr>
              <a:t>容易理解</a:t>
            </a:r>
            <a:r>
              <a:rPr lang="zh-CN" altLang="en-US" sz="1600" dirty="0">
                <a:sym typeface="+mn-ea"/>
              </a:rPr>
              <a:t>的并且和程序代码完全一致的文档，才对维护真正有价值。</a:t>
            </a:r>
          </a:p>
        </p:txBody>
      </p:sp>
      <p:grpSp>
        <p:nvGrpSpPr>
          <p:cNvPr id="4" name="组合 3">
            <a:extLst>
              <a:ext uri="{FF2B5EF4-FFF2-40B4-BE49-F238E27FC236}">
                <a16:creationId xmlns:a16="http://schemas.microsoft.com/office/drawing/2014/main" id="{B2C36913-4981-9081-3323-569553A08BB2}"/>
              </a:ext>
            </a:extLst>
          </p:cNvPr>
          <p:cNvGrpSpPr/>
          <p:nvPr/>
        </p:nvGrpSpPr>
        <p:grpSpPr>
          <a:xfrm>
            <a:off x="754380" y="4759178"/>
            <a:ext cx="1384300" cy="923925"/>
            <a:chOff x="754380" y="4565901"/>
            <a:chExt cx="1384300" cy="923925"/>
          </a:xfrm>
        </p:grpSpPr>
        <p:sp>
          <p:nvSpPr>
            <p:cNvPr id="28" name="MH_Other_9"/>
            <p:cNvSpPr>
              <a:spLocks noChangeArrowheads="1"/>
            </p:cNvSpPr>
            <p:nvPr>
              <p:custDataLst>
                <p:tags r:id="rId10"/>
              </p:custDataLst>
            </p:nvPr>
          </p:nvSpPr>
          <p:spPr bwMode="auto">
            <a:xfrm>
              <a:off x="754380" y="4565901"/>
              <a:ext cx="673100" cy="50482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0" name="MH_Other_10"/>
            <p:cNvSpPr>
              <a:spLocks noChangeArrowheads="1"/>
            </p:cNvSpPr>
            <p:nvPr>
              <p:custDataLst>
                <p:tags r:id="rId11"/>
              </p:custDataLst>
            </p:nvPr>
          </p:nvSpPr>
          <p:spPr bwMode="auto">
            <a:xfrm>
              <a:off x="1465580" y="4670676"/>
              <a:ext cx="533400" cy="40005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Other_11"/>
            <p:cNvSpPr>
              <a:spLocks noChangeArrowheads="1"/>
            </p:cNvSpPr>
            <p:nvPr>
              <p:custDataLst>
                <p:tags r:id="rId12"/>
              </p:custDataLst>
            </p:nvPr>
          </p:nvSpPr>
          <p:spPr bwMode="auto">
            <a:xfrm>
              <a:off x="906780" y="5099301"/>
              <a:ext cx="520700" cy="39052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13"/>
              </p:custDataLst>
            </p:nvPr>
          </p:nvSpPr>
          <p:spPr bwMode="auto">
            <a:xfrm>
              <a:off x="1465580" y="5099301"/>
              <a:ext cx="673100" cy="33337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33" name="MH_SubTitle_2"/>
          <p:cNvSpPr/>
          <p:nvPr>
            <p:custDataLst>
              <p:tags r:id="rId4"/>
            </p:custDataLst>
          </p:nvPr>
        </p:nvSpPr>
        <p:spPr>
          <a:xfrm>
            <a:off x="2208527" y="4759178"/>
            <a:ext cx="3451225" cy="1303352"/>
          </a:xfrm>
          <a:prstGeom prst="rect">
            <a:avLst/>
          </a:prstGeom>
        </p:spPr>
        <p:txBody>
          <a:bodyPr wrap="square" lIns="72000" tIns="72000" rIns="72000" bIns="72000" anchor="t" anchorCtr="0">
            <a:spAutoFit/>
          </a:bodyPr>
          <a:lstStyle/>
          <a:p>
            <a:pPr lvl="0" algn="just">
              <a:lnSpc>
                <a:spcPct val="120000"/>
              </a:lnSpc>
              <a:spcBef>
                <a:spcPct val="0"/>
              </a:spcBef>
            </a:pPr>
            <a:r>
              <a:rPr lang="zh-CN" altLang="en-US" sz="1600" dirty="0">
                <a:sym typeface="+mn-ea"/>
              </a:rPr>
              <a:t>理解他人编写的程序往往是非常困难的，而且</a:t>
            </a:r>
            <a:r>
              <a:rPr lang="zh-CN" altLang="en-US" sz="1600" dirty="0">
                <a:solidFill>
                  <a:srgbClr val="58BDA8"/>
                </a:solidFill>
                <a:sym typeface="+mn-ea"/>
              </a:rPr>
              <a:t>软件文档越少</a:t>
            </a:r>
            <a:r>
              <a:rPr lang="zh-CN" altLang="en-US" sz="1600" dirty="0">
                <a:sym typeface="+mn-ea"/>
              </a:rPr>
              <a:t>，维护难度越大。如果只有程序代码而</a:t>
            </a:r>
            <a:r>
              <a:rPr lang="zh-CN" altLang="en-US" sz="1600" dirty="0">
                <a:solidFill>
                  <a:srgbClr val="58BDA8"/>
                </a:solidFill>
                <a:sym typeface="+mn-ea"/>
              </a:rPr>
              <a:t>没有说明文档</a:t>
            </a:r>
            <a:r>
              <a:rPr lang="zh-CN" altLang="en-US" sz="1600" dirty="0">
                <a:sym typeface="+mn-ea"/>
              </a:rPr>
              <a:t>，则将出现严重困难。</a:t>
            </a:r>
          </a:p>
        </p:txBody>
      </p:sp>
      <p:grpSp>
        <p:nvGrpSpPr>
          <p:cNvPr id="6" name="组合 5">
            <a:extLst>
              <a:ext uri="{FF2B5EF4-FFF2-40B4-BE49-F238E27FC236}">
                <a16:creationId xmlns:a16="http://schemas.microsoft.com/office/drawing/2014/main" id="{7544B122-5246-8E35-F2A3-10BD9B7CE261}"/>
              </a:ext>
            </a:extLst>
          </p:cNvPr>
          <p:cNvGrpSpPr/>
          <p:nvPr/>
        </p:nvGrpSpPr>
        <p:grpSpPr>
          <a:xfrm>
            <a:off x="6477002" y="4759178"/>
            <a:ext cx="1384300" cy="923925"/>
            <a:chOff x="6207760" y="4565901"/>
            <a:chExt cx="1384300" cy="923925"/>
          </a:xfrm>
        </p:grpSpPr>
        <p:sp>
          <p:nvSpPr>
            <p:cNvPr id="35" name="MH_Other_5"/>
            <p:cNvSpPr>
              <a:spLocks noChangeArrowheads="1"/>
            </p:cNvSpPr>
            <p:nvPr>
              <p:custDataLst>
                <p:tags r:id="rId6"/>
              </p:custDataLst>
            </p:nvPr>
          </p:nvSpPr>
          <p:spPr bwMode="auto">
            <a:xfrm>
              <a:off x="6207760" y="4565901"/>
              <a:ext cx="673100" cy="50482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6" name="MH_Other_6"/>
            <p:cNvSpPr>
              <a:spLocks noChangeArrowheads="1"/>
            </p:cNvSpPr>
            <p:nvPr>
              <p:custDataLst>
                <p:tags r:id="rId7"/>
              </p:custDataLst>
            </p:nvPr>
          </p:nvSpPr>
          <p:spPr bwMode="auto">
            <a:xfrm>
              <a:off x="6918960" y="4670676"/>
              <a:ext cx="533400" cy="40005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7"/>
            <p:cNvSpPr>
              <a:spLocks noChangeArrowheads="1"/>
            </p:cNvSpPr>
            <p:nvPr>
              <p:custDataLst>
                <p:tags r:id="rId8"/>
              </p:custDataLst>
            </p:nvPr>
          </p:nvSpPr>
          <p:spPr bwMode="auto">
            <a:xfrm>
              <a:off x="6360160" y="5099301"/>
              <a:ext cx="520700" cy="39052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Other_8"/>
            <p:cNvSpPr>
              <a:spLocks noChangeArrowheads="1"/>
            </p:cNvSpPr>
            <p:nvPr>
              <p:custDataLst>
                <p:tags r:id="rId9"/>
              </p:custDataLst>
            </p:nvPr>
          </p:nvSpPr>
          <p:spPr bwMode="auto">
            <a:xfrm>
              <a:off x="6918960" y="5099301"/>
              <a:ext cx="673100" cy="33337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grpSp>
      <p:sp>
        <p:nvSpPr>
          <p:cNvPr id="39" name="MH_SubTitle_3"/>
          <p:cNvSpPr/>
          <p:nvPr>
            <p:custDataLst>
              <p:tags r:id="rId5"/>
            </p:custDataLst>
          </p:nvPr>
        </p:nvSpPr>
        <p:spPr>
          <a:xfrm>
            <a:off x="7931149" y="4759178"/>
            <a:ext cx="3451225" cy="712421"/>
          </a:xfrm>
          <a:prstGeom prst="rect">
            <a:avLst/>
          </a:prstGeom>
        </p:spPr>
        <p:txBody>
          <a:bodyPr wrap="square" lIns="72000" tIns="72000" rIns="72000" bIns="72000" anchor="t" anchorCtr="0">
            <a:spAutoFit/>
          </a:bodyPr>
          <a:lstStyle/>
          <a:p>
            <a:pPr fontAlgn="auto">
              <a:lnSpc>
                <a:spcPct val="120000"/>
              </a:lnSpc>
              <a:defRPr/>
            </a:pPr>
            <a:r>
              <a:rPr lang="zh-CN" altLang="en-US" sz="1600" dirty="0">
                <a:sym typeface="+mn-ea"/>
              </a:rPr>
              <a:t>维护工作十分困难，又容易受挫，难以成为一项吸引人的工作。</a:t>
            </a:r>
          </a:p>
        </p:txBody>
      </p:sp>
      <p:sp>
        <p:nvSpPr>
          <p:cNvPr id="42" name="TextBox 1"/>
          <p:cNvSpPr txBox="1">
            <a:spLocks noChangeArrowheads="1"/>
          </p:cNvSpPr>
          <p:nvPr/>
        </p:nvSpPr>
        <p:spPr bwMode="auto">
          <a:xfrm>
            <a:off x="809625" y="1995518"/>
            <a:ext cx="5437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03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3" name="直接连接符 42"/>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4" name="矩形 7"/>
          <p:cNvSpPr>
            <a:spLocks noChangeArrowheads="1"/>
          </p:cNvSpPr>
          <p:nvPr/>
        </p:nvSpPr>
        <p:spPr bwMode="auto">
          <a:xfrm>
            <a:off x="1262066" y="2090768"/>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维护的问题很多</a:t>
            </a:r>
          </a:p>
        </p:txBody>
      </p:sp>
    </p:spTree>
    <p:custDataLst>
      <p:tags r:id="rId1"/>
    </p:custDataLst>
  </p:cSld>
  <p:clrMapOvr>
    <a:masterClrMapping/>
  </p:clrMapOvr>
  <p:transition>
    <p:zoom/>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4" name="矩形 3">
            <a:extLst>
              <a:ext uri="{FF2B5EF4-FFF2-40B4-BE49-F238E27FC236}">
                <a16:creationId xmlns:a16="http://schemas.microsoft.com/office/drawing/2014/main" id="{7A174B26-774F-E941-8BE2-F1FDA38E443F}"/>
              </a:ext>
            </a:extLst>
          </p:cNvPr>
          <p:cNvSpPr/>
          <p:nvPr/>
        </p:nvSpPr>
        <p:spPr>
          <a:xfrm>
            <a:off x="1113548" y="3590223"/>
            <a:ext cx="108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用户</a:t>
            </a:r>
          </a:p>
        </p:txBody>
      </p:sp>
      <p:sp>
        <p:nvSpPr>
          <p:cNvPr id="9" name="矩形 8">
            <a:extLst>
              <a:ext uri="{FF2B5EF4-FFF2-40B4-BE49-F238E27FC236}">
                <a16:creationId xmlns:a16="http://schemas.microsoft.com/office/drawing/2014/main" id="{3A9A8CA7-02DA-A60A-1FB2-7538ADF79DA2}"/>
              </a:ext>
            </a:extLst>
          </p:cNvPr>
          <p:cNvSpPr/>
          <p:nvPr/>
        </p:nvSpPr>
        <p:spPr>
          <a:xfrm>
            <a:off x="3512463" y="3590223"/>
            <a:ext cx="1296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维护管理员</a:t>
            </a:r>
          </a:p>
        </p:txBody>
      </p:sp>
      <p:sp>
        <p:nvSpPr>
          <p:cNvPr id="10" name="矩形 9">
            <a:extLst>
              <a:ext uri="{FF2B5EF4-FFF2-40B4-BE49-F238E27FC236}">
                <a16:creationId xmlns:a16="http://schemas.microsoft.com/office/drawing/2014/main" id="{426C3AB7-D2CF-CCB7-9BB1-4FD5961E4624}"/>
              </a:ext>
            </a:extLst>
          </p:cNvPr>
          <p:cNvSpPr/>
          <p:nvPr/>
        </p:nvSpPr>
        <p:spPr>
          <a:xfrm>
            <a:off x="6127378" y="3590223"/>
            <a:ext cx="1296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系统管理员</a:t>
            </a:r>
          </a:p>
        </p:txBody>
      </p:sp>
      <p:sp>
        <p:nvSpPr>
          <p:cNvPr id="14" name="矩形 13">
            <a:extLst>
              <a:ext uri="{FF2B5EF4-FFF2-40B4-BE49-F238E27FC236}">
                <a16:creationId xmlns:a16="http://schemas.microsoft.com/office/drawing/2014/main" id="{E921CF1B-4D38-D356-C8B2-2305C0388283}"/>
              </a:ext>
            </a:extLst>
          </p:cNvPr>
          <p:cNvSpPr/>
          <p:nvPr/>
        </p:nvSpPr>
        <p:spPr>
          <a:xfrm>
            <a:off x="8742295" y="3590223"/>
            <a:ext cx="108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维护人员</a:t>
            </a:r>
          </a:p>
        </p:txBody>
      </p:sp>
      <p:cxnSp>
        <p:nvCxnSpPr>
          <p:cNvPr id="20" name="直接箭头连接符 19">
            <a:extLst>
              <a:ext uri="{FF2B5EF4-FFF2-40B4-BE49-F238E27FC236}">
                <a16:creationId xmlns:a16="http://schemas.microsoft.com/office/drawing/2014/main" id="{7D93E25F-A5D2-79F2-CB0F-5F82457E5827}"/>
              </a:ext>
            </a:extLst>
          </p:cNvPr>
          <p:cNvCxnSpPr>
            <a:cxnSpLocks/>
            <a:stCxn id="4" idx="3"/>
            <a:endCxn id="9" idx="1"/>
          </p:cNvCxnSpPr>
          <p:nvPr/>
        </p:nvCxnSpPr>
        <p:spPr>
          <a:xfrm>
            <a:off x="2193548" y="3806223"/>
            <a:ext cx="1318915"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19D62F1-953F-C59B-A57A-8030AD1B8CAF}"/>
              </a:ext>
            </a:extLst>
          </p:cNvPr>
          <p:cNvCxnSpPr>
            <a:cxnSpLocks/>
            <a:stCxn id="9" idx="3"/>
            <a:endCxn id="10" idx="1"/>
          </p:cNvCxnSpPr>
          <p:nvPr/>
        </p:nvCxnSpPr>
        <p:spPr>
          <a:xfrm>
            <a:off x="4808463" y="3806223"/>
            <a:ext cx="1318915"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A11E9112-AF40-1DA3-209D-71F6A1E8EB1E}"/>
              </a:ext>
            </a:extLst>
          </p:cNvPr>
          <p:cNvSpPr txBox="1"/>
          <p:nvPr/>
        </p:nvSpPr>
        <p:spPr>
          <a:xfrm>
            <a:off x="4936366" y="3439601"/>
            <a:ext cx="1063112" cy="363882"/>
          </a:xfrm>
          <a:prstGeom prst="rect">
            <a:avLst/>
          </a:prstGeom>
          <a:noFill/>
        </p:spPr>
        <p:txBody>
          <a:bodyPr wrap="none" rtlCol="0">
            <a:spAutoFit/>
          </a:bodyPr>
          <a:lstStyle/>
          <a:p>
            <a:pPr algn="ctr">
              <a:lnSpc>
                <a:spcPct val="120000"/>
              </a:lnSpc>
            </a:pPr>
            <a:r>
              <a:rPr lang="zh-CN" altLang="en-US" sz="1600" dirty="0">
                <a:solidFill>
                  <a:srgbClr val="E67819"/>
                </a:solidFill>
              </a:rPr>
              <a:t>评价</a:t>
            </a:r>
            <a:r>
              <a:rPr lang="en-US" altLang="zh-CN" sz="1600" dirty="0">
                <a:solidFill>
                  <a:srgbClr val="E67819"/>
                </a:solidFill>
              </a:rPr>
              <a:t>/</a:t>
            </a:r>
            <a:r>
              <a:rPr lang="zh-CN" altLang="en-US" sz="1600" dirty="0">
                <a:solidFill>
                  <a:srgbClr val="E67819"/>
                </a:solidFill>
              </a:rPr>
              <a:t>审核</a:t>
            </a:r>
          </a:p>
        </p:txBody>
      </p:sp>
      <p:sp>
        <p:nvSpPr>
          <p:cNvPr id="52" name="文本框 51">
            <a:extLst>
              <a:ext uri="{FF2B5EF4-FFF2-40B4-BE49-F238E27FC236}">
                <a16:creationId xmlns:a16="http://schemas.microsoft.com/office/drawing/2014/main" id="{162FDF88-CF00-1A22-7F18-7EBA5A58446F}"/>
              </a:ext>
            </a:extLst>
          </p:cNvPr>
          <p:cNvSpPr txBox="1"/>
          <p:nvPr/>
        </p:nvSpPr>
        <p:spPr>
          <a:xfrm>
            <a:off x="2555488"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申请</a:t>
            </a:r>
          </a:p>
        </p:txBody>
      </p:sp>
      <p:sp>
        <p:nvSpPr>
          <p:cNvPr id="56" name="文本框 55">
            <a:extLst>
              <a:ext uri="{FF2B5EF4-FFF2-40B4-BE49-F238E27FC236}">
                <a16:creationId xmlns:a16="http://schemas.microsoft.com/office/drawing/2014/main" id="{96182765-E2F9-A4FE-CE19-E498C5C84FBB}"/>
              </a:ext>
            </a:extLst>
          </p:cNvPr>
          <p:cNvSpPr txBox="1"/>
          <p:nvPr/>
        </p:nvSpPr>
        <p:spPr>
          <a:xfrm>
            <a:off x="7785318"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派单</a:t>
            </a:r>
          </a:p>
        </p:txBody>
      </p:sp>
      <p:sp>
        <p:nvSpPr>
          <p:cNvPr id="57" name="文本框 56">
            <a:extLst>
              <a:ext uri="{FF2B5EF4-FFF2-40B4-BE49-F238E27FC236}">
                <a16:creationId xmlns:a16="http://schemas.microsoft.com/office/drawing/2014/main" id="{BD211084-6769-EF4B-1454-21F5ED66A259}"/>
              </a:ext>
            </a:extLst>
          </p:cNvPr>
          <p:cNvSpPr txBox="1"/>
          <p:nvPr/>
        </p:nvSpPr>
        <p:spPr>
          <a:xfrm>
            <a:off x="10102715" y="3439601"/>
            <a:ext cx="595035" cy="363882"/>
          </a:xfrm>
          <a:prstGeom prst="rect">
            <a:avLst/>
          </a:prstGeom>
          <a:noFill/>
        </p:spPr>
        <p:txBody>
          <a:bodyPr wrap="none" rtlCol="0">
            <a:spAutoFit/>
          </a:bodyPr>
          <a:lstStyle/>
          <a:p>
            <a:pPr algn="ctr">
              <a:lnSpc>
                <a:spcPct val="120000"/>
              </a:lnSpc>
            </a:pPr>
            <a:r>
              <a:rPr lang="zh-CN" altLang="en-US" sz="1600" dirty="0">
                <a:solidFill>
                  <a:srgbClr val="E67819"/>
                </a:solidFill>
              </a:rPr>
              <a:t>维护</a:t>
            </a:r>
          </a:p>
        </p:txBody>
      </p:sp>
      <p:sp>
        <p:nvSpPr>
          <p:cNvPr id="59" name="文本框 58">
            <a:extLst>
              <a:ext uri="{FF2B5EF4-FFF2-40B4-BE49-F238E27FC236}">
                <a16:creationId xmlns:a16="http://schemas.microsoft.com/office/drawing/2014/main" id="{A1F8C10E-D573-1F9A-7CE1-BF0DBE7B9588}"/>
              </a:ext>
            </a:extLst>
          </p:cNvPr>
          <p:cNvSpPr txBox="1"/>
          <p:nvPr/>
        </p:nvSpPr>
        <p:spPr>
          <a:xfrm>
            <a:off x="4757423" y="2994943"/>
            <a:ext cx="595035" cy="363882"/>
          </a:xfrm>
          <a:prstGeom prst="rect">
            <a:avLst/>
          </a:prstGeom>
          <a:noFill/>
        </p:spPr>
        <p:txBody>
          <a:bodyPr wrap="none" rtlCol="0">
            <a:spAutoFit/>
          </a:bodyPr>
          <a:lstStyle/>
          <a:p>
            <a:pPr algn="ctr">
              <a:lnSpc>
                <a:spcPct val="120000"/>
              </a:lnSpc>
            </a:pPr>
            <a:r>
              <a:rPr lang="zh-CN" altLang="en-US" sz="1600" dirty="0">
                <a:solidFill>
                  <a:srgbClr val="00B050"/>
                </a:solidFill>
              </a:rPr>
              <a:t>复审</a:t>
            </a:r>
          </a:p>
        </p:txBody>
      </p:sp>
      <p:cxnSp>
        <p:nvCxnSpPr>
          <p:cNvPr id="61" name="直接箭头连接符 60">
            <a:extLst>
              <a:ext uri="{FF2B5EF4-FFF2-40B4-BE49-F238E27FC236}">
                <a16:creationId xmlns:a16="http://schemas.microsoft.com/office/drawing/2014/main" id="{2DB0A899-1369-B527-27FC-8C165F361E19}"/>
              </a:ext>
            </a:extLst>
          </p:cNvPr>
          <p:cNvCxnSpPr>
            <a:cxnSpLocks/>
            <a:stCxn id="10" idx="3"/>
            <a:endCxn id="14" idx="1"/>
          </p:cNvCxnSpPr>
          <p:nvPr/>
        </p:nvCxnSpPr>
        <p:spPr>
          <a:xfrm>
            <a:off x="7423378" y="3806223"/>
            <a:ext cx="1318917" cy="0"/>
          </a:xfrm>
          <a:prstGeom prst="straightConnector1">
            <a:avLst/>
          </a:prstGeom>
          <a:ln>
            <a:solidFill>
              <a:srgbClr val="E67819"/>
            </a:solidFill>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C70E9DD4-C913-EBD9-C9CF-D00ED1A18A47}"/>
              </a:ext>
            </a:extLst>
          </p:cNvPr>
          <p:cNvSpPr txBox="1"/>
          <p:nvPr/>
        </p:nvSpPr>
        <p:spPr>
          <a:xfrm>
            <a:off x="2311832" y="3816824"/>
            <a:ext cx="1082348" cy="329962"/>
          </a:xfrm>
          <a:prstGeom prst="rect">
            <a:avLst/>
          </a:prstGeom>
          <a:noFill/>
        </p:spPr>
        <p:txBody>
          <a:bodyPr wrap="none" rtlCol="0">
            <a:spAutoFit/>
          </a:bodyPr>
          <a:lstStyle/>
          <a:p>
            <a:pPr algn="ctr">
              <a:lnSpc>
                <a:spcPct val="120000"/>
              </a:lnSpc>
            </a:pPr>
            <a:r>
              <a:rPr lang="zh-CN" altLang="en-US" sz="1400" dirty="0"/>
              <a:t>维护申请表</a:t>
            </a:r>
          </a:p>
        </p:txBody>
      </p:sp>
      <p:sp>
        <p:nvSpPr>
          <p:cNvPr id="65" name="文本框 64">
            <a:extLst>
              <a:ext uri="{FF2B5EF4-FFF2-40B4-BE49-F238E27FC236}">
                <a16:creationId xmlns:a16="http://schemas.microsoft.com/office/drawing/2014/main" id="{9E492512-0B85-7E66-2C52-58E4DED937C8}"/>
              </a:ext>
            </a:extLst>
          </p:cNvPr>
          <p:cNvSpPr txBox="1"/>
          <p:nvPr/>
        </p:nvSpPr>
        <p:spPr>
          <a:xfrm>
            <a:off x="9910388" y="3816824"/>
            <a:ext cx="902812" cy="329962"/>
          </a:xfrm>
          <a:prstGeom prst="rect">
            <a:avLst/>
          </a:prstGeom>
          <a:noFill/>
        </p:spPr>
        <p:txBody>
          <a:bodyPr wrap="none" rtlCol="0">
            <a:spAutoFit/>
          </a:bodyPr>
          <a:lstStyle/>
          <a:p>
            <a:pPr algn="ctr">
              <a:lnSpc>
                <a:spcPct val="120000"/>
              </a:lnSpc>
            </a:pPr>
            <a:r>
              <a:rPr lang="zh-CN" altLang="en-US" sz="1400" dirty="0"/>
              <a:t>维护记录</a:t>
            </a:r>
          </a:p>
        </p:txBody>
      </p:sp>
      <p:sp>
        <p:nvSpPr>
          <p:cNvPr id="66" name="文本框 65">
            <a:extLst>
              <a:ext uri="{FF2B5EF4-FFF2-40B4-BE49-F238E27FC236}">
                <a16:creationId xmlns:a16="http://schemas.microsoft.com/office/drawing/2014/main" id="{968BA127-46F3-577A-777E-A2B016A5F7A7}"/>
              </a:ext>
            </a:extLst>
          </p:cNvPr>
          <p:cNvSpPr txBox="1"/>
          <p:nvPr/>
        </p:nvSpPr>
        <p:spPr>
          <a:xfrm>
            <a:off x="5005294" y="3816824"/>
            <a:ext cx="925253" cy="329962"/>
          </a:xfrm>
          <a:prstGeom prst="rect">
            <a:avLst/>
          </a:prstGeom>
          <a:noFill/>
        </p:spPr>
        <p:txBody>
          <a:bodyPr wrap="none" rtlCol="0">
            <a:spAutoFit/>
          </a:bodyPr>
          <a:lstStyle/>
          <a:p>
            <a:pPr algn="ctr">
              <a:lnSpc>
                <a:spcPct val="120000"/>
              </a:lnSpc>
            </a:pPr>
            <a:r>
              <a:rPr lang="zh-CN" altLang="en-US" sz="1400" dirty="0"/>
              <a:t>维护报告</a:t>
            </a:r>
          </a:p>
        </p:txBody>
      </p:sp>
      <p:cxnSp>
        <p:nvCxnSpPr>
          <p:cNvPr id="68" name="连接符: 肘形 67">
            <a:extLst>
              <a:ext uri="{FF2B5EF4-FFF2-40B4-BE49-F238E27FC236}">
                <a16:creationId xmlns:a16="http://schemas.microsoft.com/office/drawing/2014/main" id="{CE25CA03-4BF6-A663-2D3C-F575AEE556DC}"/>
              </a:ext>
            </a:extLst>
          </p:cNvPr>
          <p:cNvCxnSpPr>
            <a:stCxn id="4" idx="2"/>
            <a:endCxn id="64" idx="2"/>
          </p:cNvCxnSpPr>
          <p:nvPr/>
        </p:nvCxnSpPr>
        <p:spPr>
          <a:xfrm rot="16200000" flipH="1">
            <a:off x="2190996" y="3484775"/>
            <a:ext cx="124563" cy="1199458"/>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CEFED2E7-73F5-5948-6F6B-0D9C6DDF6054}"/>
              </a:ext>
            </a:extLst>
          </p:cNvPr>
          <p:cNvCxnSpPr>
            <a:cxnSpLocks/>
            <a:stCxn id="9" idx="2"/>
            <a:endCxn id="66" idx="2"/>
          </p:cNvCxnSpPr>
          <p:nvPr/>
        </p:nvCxnSpPr>
        <p:spPr>
          <a:xfrm rot="16200000" flipH="1">
            <a:off x="4751911" y="3430775"/>
            <a:ext cx="124563" cy="1307458"/>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B60E6714-8C31-FDBE-68D0-22E45BB056E0}"/>
              </a:ext>
            </a:extLst>
          </p:cNvPr>
          <p:cNvCxnSpPr>
            <a:stCxn id="14" idx="3"/>
            <a:endCxn id="9" idx="0"/>
          </p:cNvCxnSpPr>
          <p:nvPr/>
        </p:nvCxnSpPr>
        <p:spPr>
          <a:xfrm flipH="1" flipV="1">
            <a:off x="4160463" y="3590223"/>
            <a:ext cx="5661832" cy="216000"/>
          </a:xfrm>
          <a:prstGeom prst="bentConnector4">
            <a:avLst>
              <a:gd name="adj1" fmla="val -4038"/>
              <a:gd name="adj2" fmla="val 205833"/>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400F1E06-F295-9BFC-0EF8-842FB3EAE6FF}"/>
              </a:ext>
            </a:extLst>
          </p:cNvPr>
          <p:cNvCxnSpPr>
            <a:stCxn id="9" idx="0"/>
            <a:endCxn id="4" idx="0"/>
          </p:cNvCxnSpPr>
          <p:nvPr/>
        </p:nvCxnSpPr>
        <p:spPr>
          <a:xfrm rot="16200000" flipV="1">
            <a:off x="2697549" y="2546222"/>
            <a:ext cx="12700" cy="208800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6" name="文本框 75">
            <a:extLst>
              <a:ext uri="{FF2B5EF4-FFF2-40B4-BE49-F238E27FC236}">
                <a16:creationId xmlns:a16="http://schemas.microsoft.com/office/drawing/2014/main" id="{8414F594-9FC2-AB6F-4476-6902352091AD}"/>
              </a:ext>
            </a:extLst>
          </p:cNvPr>
          <p:cNvSpPr txBox="1"/>
          <p:nvPr/>
        </p:nvSpPr>
        <p:spPr>
          <a:xfrm>
            <a:off x="1818469" y="2994943"/>
            <a:ext cx="1531188" cy="363882"/>
          </a:xfrm>
          <a:prstGeom prst="rect">
            <a:avLst/>
          </a:prstGeom>
          <a:noFill/>
        </p:spPr>
        <p:txBody>
          <a:bodyPr wrap="none" rtlCol="0">
            <a:spAutoFit/>
          </a:bodyPr>
          <a:lstStyle/>
          <a:p>
            <a:pPr algn="ctr">
              <a:lnSpc>
                <a:spcPct val="120000"/>
              </a:lnSpc>
            </a:pPr>
            <a:r>
              <a:rPr lang="zh-CN" altLang="en-US" sz="1600" dirty="0">
                <a:solidFill>
                  <a:srgbClr val="00B050"/>
                </a:solidFill>
              </a:rPr>
              <a:t>交付</a:t>
            </a:r>
            <a:r>
              <a:rPr lang="en-US" altLang="zh-CN" sz="1600" dirty="0">
                <a:solidFill>
                  <a:srgbClr val="00B050"/>
                </a:solidFill>
              </a:rPr>
              <a:t>/</a:t>
            </a:r>
            <a:r>
              <a:rPr lang="zh-CN" altLang="en-US" sz="1600" dirty="0">
                <a:solidFill>
                  <a:srgbClr val="00B050"/>
                </a:solidFill>
              </a:rPr>
              <a:t>验收</a:t>
            </a:r>
            <a:r>
              <a:rPr lang="en-US" altLang="zh-CN" sz="1600" dirty="0">
                <a:solidFill>
                  <a:srgbClr val="00B050"/>
                </a:solidFill>
              </a:rPr>
              <a:t>/</a:t>
            </a:r>
            <a:r>
              <a:rPr lang="zh-CN" altLang="en-US" sz="1600" dirty="0">
                <a:solidFill>
                  <a:srgbClr val="00B050"/>
                </a:solidFill>
              </a:rPr>
              <a:t>测试</a:t>
            </a:r>
          </a:p>
        </p:txBody>
      </p:sp>
      <p:cxnSp>
        <p:nvCxnSpPr>
          <p:cNvPr id="79" name="连接符: 肘形 78">
            <a:extLst>
              <a:ext uri="{FF2B5EF4-FFF2-40B4-BE49-F238E27FC236}">
                <a16:creationId xmlns:a16="http://schemas.microsoft.com/office/drawing/2014/main" id="{F8FC7FAD-C3F2-9BAA-0E24-F602CC34F77A}"/>
              </a:ext>
            </a:extLst>
          </p:cNvPr>
          <p:cNvCxnSpPr>
            <a:cxnSpLocks/>
            <a:stCxn id="14" idx="2"/>
            <a:endCxn id="65" idx="2"/>
          </p:cNvCxnSpPr>
          <p:nvPr/>
        </p:nvCxnSpPr>
        <p:spPr>
          <a:xfrm rot="16200000" flipH="1">
            <a:off x="9759763" y="3544754"/>
            <a:ext cx="124563" cy="1079499"/>
          </a:xfrm>
          <a:prstGeom prst="bentConnector3">
            <a:avLst>
              <a:gd name="adj1" fmla="val 283522"/>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90" name="直接连接符 89">
            <a:extLst>
              <a:ext uri="{FF2B5EF4-FFF2-40B4-BE49-F238E27FC236}">
                <a16:creationId xmlns:a16="http://schemas.microsoft.com/office/drawing/2014/main" id="{ABB9A882-4562-CB66-7BF4-B8844E3CC825}"/>
              </a:ext>
            </a:extLst>
          </p:cNvPr>
          <p:cNvCxnSpPr>
            <a:cxnSpLocks/>
          </p:cNvCxnSpPr>
          <p:nvPr/>
        </p:nvCxnSpPr>
        <p:spPr>
          <a:xfrm>
            <a:off x="3354878" y="2492575"/>
            <a:ext cx="0" cy="2880000"/>
          </a:xfrm>
          <a:prstGeom prst="line">
            <a:avLst/>
          </a:prstGeom>
          <a:ln>
            <a:solidFill>
              <a:schemeClr val="bg1">
                <a:lumMod val="65000"/>
              </a:schemeClr>
            </a:solidFill>
            <a:prstDash val="lgDash"/>
          </a:ln>
        </p:spPr>
        <p:style>
          <a:lnRef idx="1">
            <a:schemeClr val="accent1"/>
          </a:lnRef>
          <a:fillRef idx="0">
            <a:schemeClr val="accent1"/>
          </a:fillRef>
          <a:effectRef idx="0">
            <a:schemeClr val="accent1"/>
          </a:effectRef>
          <a:fontRef idx="minor">
            <a:schemeClr val="tx1"/>
          </a:fontRef>
        </p:style>
      </p:cxnSp>
      <p:sp>
        <p:nvSpPr>
          <p:cNvPr id="91" name="文本框 90">
            <a:extLst>
              <a:ext uri="{FF2B5EF4-FFF2-40B4-BE49-F238E27FC236}">
                <a16:creationId xmlns:a16="http://schemas.microsoft.com/office/drawing/2014/main" id="{53AA2FE9-0319-5D0A-17A3-83D8A9C1A3F9}"/>
              </a:ext>
            </a:extLst>
          </p:cNvPr>
          <p:cNvSpPr txBox="1"/>
          <p:nvPr/>
        </p:nvSpPr>
        <p:spPr>
          <a:xfrm>
            <a:off x="2626143" y="2492575"/>
            <a:ext cx="723275" cy="329962"/>
          </a:xfrm>
          <a:prstGeom prst="rect">
            <a:avLst/>
          </a:prstGeom>
          <a:noFill/>
        </p:spPr>
        <p:txBody>
          <a:bodyPr wrap="none" rtlCol="0">
            <a:spAutoFit/>
          </a:bodyPr>
          <a:lstStyle/>
          <a:p>
            <a:pPr algn="ctr">
              <a:lnSpc>
                <a:spcPct val="120000"/>
              </a:lnSpc>
            </a:pPr>
            <a:r>
              <a:rPr lang="zh-CN" altLang="en-US" sz="1400" dirty="0"/>
              <a:t>用户侧</a:t>
            </a:r>
          </a:p>
        </p:txBody>
      </p:sp>
      <p:sp>
        <p:nvSpPr>
          <p:cNvPr id="92" name="文本框 91">
            <a:extLst>
              <a:ext uri="{FF2B5EF4-FFF2-40B4-BE49-F238E27FC236}">
                <a16:creationId xmlns:a16="http://schemas.microsoft.com/office/drawing/2014/main" id="{B418B973-60AA-88C7-BE57-C933FD958104}"/>
              </a:ext>
            </a:extLst>
          </p:cNvPr>
          <p:cNvSpPr txBox="1"/>
          <p:nvPr/>
        </p:nvSpPr>
        <p:spPr>
          <a:xfrm>
            <a:off x="3363497" y="2492575"/>
            <a:ext cx="723275" cy="329962"/>
          </a:xfrm>
          <a:prstGeom prst="rect">
            <a:avLst/>
          </a:prstGeom>
          <a:noFill/>
        </p:spPr>
        <p:txBody>
          <a:bodyPr wrap="none" rtlCol="0">
            <a:spAutoFit/>
          </a:bodyPr>
          <a:lstStyle/>
          <a:p>
            <a:pPr algn="ctr">
              <a:lnSpc>
                <a:spcPct val="120000"/>
              </a:lnSpc>
            </a:pPr>
            <a:r>
              <a:rPr lang="zh-CN" altLang="en-US" sz="1400" dirty="0"/>
              <a:t>维护侧</a:t>
            </a:r>
          </a:p>
        </p:txBody>
      </p:sp>
      <p:pic>
        <p:nvPicPr>
          <p:cNvPr id="94" name="图形 93" descr="文档">
            <a:extLst>
              <a:ext uri="{FF2B5EF4-FFF2-40B4-BE49-F238E27FC236}">
                <a16:creationId xmlns:a16="http://schemas.microsoft.com/office/drawing/2014/main" id="{1DDF3D19-1681-8EE7-3C19-60509FF8A2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77969" y="4146785"/>
            <a:ext cx="360000" cy="360000"/>
          </a:xfrm>
          <a:prstGeom prst="rect">
            <a:avLst/>
          </a:prstGeom>
        </p:spPr>
      </p:pic>
      <p:pic>
        <p:nvPicPr>
          <p:cNvPr id="95" name="图形 94" descr="文档">
            <a:extLst>
              <a:ext uri="{FF2B5EF4-FFF2-40B4-BE49-F238E27FC236}">
                <a16:creationId xmlns:a16="http://schemas.microsoft.com/office/drawing/2014/main" id="{8812A161-0E8A-26DE-DA56-5C0FB1FF18B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6524" y="4146785"/>
            <a:ext cx="360000" cy="360000"/>
          </a:xfrm>
          <a:prstGeom prst="rect">
            <a:avLst/>
          </a:prstGeom>
        </p:spPr>
      </p:pic>
      <p:pic>
        <p:nvPicPr>
          <p:cNvPr id="96" name="图形 95" descr="文档">
            <a:extLst>
              <a:ext uri="{FF2B5EF4-FFF2-40B4-BE49-F238E27FC236}">
                <a16:creationId xmlns:a16="http://schemas.microsoft.com/office/drawing/2014/main" id="{13FC2E1B-2A7A-FFE7-2B64-C4023AE311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07497" y="4146785"/>
            <a:ext cx="360000" cy="360000"/>
          </a:xfrm>
          <a:prstGeom prst="rect">
            <a:avLst/>
          </a:prstGeom>
        </p:spPr>
      </p:pic>
    </p:spTree>
    <p:custDataLst>
      <p:tags r:id="rId1"/>
    </p:custDataLst>
  </p:cSld>
  <p:clrMapOvr>
    <a:masterClrMapping/>
  </p:clrMapOvr>
  <p:transition>
    <p:zo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70794-01D7-6088-A926-EB5F4EE0A6C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DC19C45-C644-C04F-0E6E-78CC5F9844FB}"/>
              </a:ext>
            </a:extLst>
          </p:cNvPr>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p>
        </p:txBody>
      </p:sp>
      <p:sp>
        <p:nvSpPr>
          <p:cNvPr id="29" name="TextBox 6">
            <a:extLst>
              <a:ext uri="{FF2B5EF4-FFF2-40B4-BE49-F238E27FC236}">
                <a16:creationId xmlns:a16="http://schemas.microsoft.com/office/drawing/2014/main" id="{FEBFB2BD-A9BF-BAB4-932F-6C09B4B88BB4}"/>
              </a:ext>
            </a:extLst>
          </p:cNvPr>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11" name="MH_Text_1">
            <a:extLst>
              <a:ext uri="{FF2B5EF4-FFF2-40B4-BE49-F238E27FC236}">
                <a16:creationId xmlns:a16="http://schemas.microsoft.com/office/drawing/2014/main" id="{BEF8F71E-FF71-0917-6082-0348F6293642}"/>
              </a:ext>
            </a:extLst>
          </p:cNvPr>
          <p:cNvSpPr/>
          <p:nvPr>
            <p:custDataLst>
              <p:tags r:id="rId2"/>
            </p:custDataLst>
          </p:nvPr>
        </p:nvSpPr>
        <p:spPr bwMode="auto">
          <a:xfrm>
            <a:off x="807867" y="4661670"/>
            <a:ext cx="10296000" cy="52415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lang="zh-CN" altLang="en-US" dirty="0">
                <a:latin typeface="+mn-ea"/>
              </a:rPr>
              <a:t>不管是改正性、完善性还是适应性维护，都需要进行同样的技术工作</a:t>
            </a:r>
          </a:p>
        </p:txBody>
      </p:sp>
      <p:sp>
        <p:nvSpPr>
          <p:cNvPr id="12" name="MH_Text_2">
            <a:extLst>
              <a:ext uri="{FF2B5EF4-FFF2-40B4-BE49-F238E27FC236}">
                <a16:creationId xmlns:a16="http://schemas.microsoft.com/office/drawing/2014/main" id="{7836A4D2-9E0D-ABD7-6C7A-9F255CFA1A12}"/>
              </a:ext>
            </a:extLst>
          </p:cNvPr>
          <p:cNvSpPr/>
          <p:nvPr>
            <p:custDataLst>
              <p:tags r:id="rId3"/>
            </p:custDataLst>
          </p:nvPr>
        </p:nvSpPr>
        <p:spPr bwMode="auto">
          <a:xfrm>
            <a:off x="838800" y="5327170"/>
            <a:ext cx="10265067" cy="524155"/>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lang="zh-CN" altLang="en-US" dirty="0">
                <a:latin typeface="+mn-ea"/>
              </a:rPr>
              <a:t>参加软件维护工作的人员并不是越多越好</a:t>
            </a:r>
          </a:p>
        </p:txBody>
      </p:sp>
      <p:sp>
        <p:nvSpPr>
          <p:cNvPr id="3" name="MH_Text_2"/>
          <p:cNvSpPr/>
          <p:nvPr>
            <p:custDataLst>
              <p:tags r:id="rId4"/>
            </p:custDataLst>
          </p:nvPr>
        </p:nvSpPr>
        <p:spPr bwMode="auto">
          <a:xfrm>
            <a:off x="807867" y="2001778"/>
            <a:ext cx="10296000" cy="2518547"/>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wrap="square" lIns="108000" tIns="108000" rIns="108000" bIns="108000" anchor="t" anchorCtr="0">
            <a:spAutoFit/>
          </a:bodyPr>
          <a:lstStyle/>
          <a:p>
            <a:pPr>
              <a:lnSpc>
                <a:spcPct val="120000"/>
              </a:lnSpc>
            </a:pPr>
            <a:r>
              <a:rPr dirty="0" err="1">
                <a:latin typeface="+mn-ea"/>
              </a:rPr>
              <a:t>软件维护时，首先要确定维护属于哪种类型</a:t>
            </a:r>
            <a:r>
              <a:rPr dirty="0">
                <a:latin typeface="+mn-ea"/>
              </a:rPr>
              <a:t>。</a:t>
            </a:r>
            <a:endParaRPr lang="en-US" dirty="0">
              <a:latin typeface="+mn-ea"/>
            </a:endParaRPr>
          </a:p>
          <a:p>
            <a:pPr>
              <a:lnSpc>
                <a:spcPct val="120000"/>
              </a:lnSpc>
            </a:pPr>
            <a:r>
              <a:rPr dirty="0">
                <a:latin typeface="+mn-ea"/>
              </a:rPr>
              <a:t>如果属于改正性维护，则需要评价其出错的严重性。如果错误严重，就进一步指定人员，在系统管理员的指导配合下，分析错误的原因，进行维护。对于不太严重的错误，则该项改正性维护和其他软件开发的任务一起统筹安排。</a:t>
            </a:r>
            <a:endParaRPr lang="en-US" dirty="0">
              <a:latin typeface="+mn-ea"/>
            </a:endParaRPr>
          </a:p>
          <a:p>
            <a:pPr>
              <a:lnSpc>
                <a:spcPct val="120000"/>
              </a:lnSpc>
            </a:pPr>
            <a:r>
              <a:rPr dirty="0" err="1">
                <a:latin typeface="+mn-ea"/>
              </a:rPr>
              <a:t>如果属于完善性或适应性维护</a:t>
            </a:r>
            <a:r>
              <a:rPr dirty="0">
                <a:latin typeface="+mn-ea"/>
              </a:rPr>
              <a:t>，</a:t>
            </a:r>
            <a:r>
              <a:rPr lang="zh-CN" altLang="en-US" dirty="0">
                <a:latin typeface="+mn-ea"/>
              </a:rPr>
              <a:t>先</a:t>
            </a:r>
            <a:r>
              <a:rPr dirty="0">
                <a:latin typeface="+mn-ea"/>
              </a:rPr>
              <a:t>确定各个维护要求的优先次序，并安排所需工作时间。从其意图和目标来看，属于开发工作，因此可将其视为开发任务。如果某项维护要求的优先次序特别高，可立即开始维护工作。</a:t>
            </a:r>
          </a:p>
        </p:txBody>
      </p:sp>
    </p:spTree>
    <p:custDataLst>
      <p:tags r:id="rId1"/>
    </p:custDataLst>
    <p:extLst>
      <p:ext uri="{BB962C8B-B14F-4D97-AF65-F5344CB8AC3E}">
        <p14:creationId xmlns:p14="http://schemas.microsoft.com/office/powerpoint/2010/main" val="4141459783"/>
      </p:ext>
    </p:extLst>
  </p:cSld>
  <p:clrMapOvr>
    <a:masterClrMapping/>
  </p:clrMapOvr>
  <p:transition>
    <p:zo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3077" name="MH_Text_1"/>
          <p:cNvSpPr>
            <a:spLocks noChangeArrowheads="1"/>
          </p:cNvSpPr>
          <p:nvPr/>
        </p:nvSpPr>
        <p:spPr bwMode="auto">
          <a:xfrm>
            <a:off x="1578824" y="2880000"/>
            <a:ext cx="8506460" cy="1727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a:t>软件开发机构应当建立</a:t>
            </a:r>
            <a:r>
              <a:rPr lang="en-US" altLang="zh-CN" dirty="0">
                <a:latin typeface="+mj-ea"/>
                <a:ea typeface="+mj-ea"/>
              </a:rPr>
              <a:t>正式</a:t>
            </a:r>
            <a:r>
              <a:rPr lang="en-US" altLang="zh-CN" dirty="0"/>
              <a:t>的维护组织，或设立专门负责维护工作的非正式组织。维护组织由</a:t>
            </a:r>
            <a:r>
              <a:rPr lang="en-US" altLang="zh-CN" dirty="0">
                <a:latin typeface="+mj-ea"/>
                <a:ea typeface="+mj-ea"/>
              </a:rPr>
              <a:t>维护管理员</a:t>
            </a:r>
            <a:r>
              <a:rPr lang="en-US" altLang="zh-CN" dirty="0"/>
              <a:t>、</a:t>
            </a:r>
            <a:r>
              <a:rPr lang="en-US" altLang="zh-CN" dirty="0">
                <a:latin typeface="+mj-ea"/>
                <a:ea typeface="+mj-ea"/>
              </a:rPr>
              <a:t>系统管理员</a:t>
            </a:r>
            <a:r>
              <a:rPr lang="en-US" altLang="zh-CN" dirty="0"/>
              <a:t>、</a:t>
            </a:r>
            <a:r>
              <a:rPr lang="en-US" altLang="zh-CN" dirty="0">
                <a:latin typeface="+mj-ea"/>
                <a:ea typeface="+mj-ea"/>
              </a:rPr>
              <a:t>维护人员</a:t>
            </a:r>
            <a:r>
              <a:rPr lang="en-US" altLang="zh-CN" dirty="0"/>
              <a:t>组成。</a:t>
            </a:r>
          </a:p>
          <a:p>
            <a:pPr indent="457200" algn="just" fontAlgn="auto">
              <a:lnSpc>
                <a:spcPct val="120000"/>
              </a:lnSpc>
              <a:defRPr/>
            </a:pPr>
            <a:r>
              <a:rPr lang="en-US" altLang="zh-CN" dirty="0"/>
              <a:t>系统管理员必须对软件产品程序或将被修改的那类程序相当熟悉。每当软件开发机构收到用户的维护申请后，交给负责此事的维护管理员，由他把维护申请交给系统管理员评价，再由维护人员决定如何进行修改。</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pic>
        <p:nvPicPr>
          <p:cNvPr id="428034" name="图片 1" descr="www.tuweimei.comComp_6852315_um7hk670Afe6IVuLfho4x4urYrm6Q6OA.jpg"/>
          <p:cNvPicPr>
            <a:picLocks noGrp="1" noChangeAspect="1"/>
          </p:cNvPicPr>
          <p:nvPr/>
        </p:nvPicPr>
        <p:blipFill>
          <a:blip r:embed="rId2" cstate="print"/>
          <a:stretch>
            <a:fillRect/>
          </a:stretch>
        </p:blipFill>
        <p:spPr>
          <a:xfrm>
            <a:off x="8259445" y="-13335"/>
            <a:ext cx="2857500" cy="2857500"/>
          </a:xfrm>
          <a:prstGeom prst="rect">
            <a:avLst/>
          </a:prstGeom>
          <a:noFill/>
          <a:ln w="9525">
            <a:noFill/>
          </a:ln>
        </p:spPr>
      </p:pic>
      <p:sp>
        <p:nvSpPr>
          <p:cNvPr id="5" name="MH_SubTitle_3">
            <a:extLst>
              <a:ext uri="{FF2B5EF4-FFF2-40B4-BE49-F238E27FC236}">
                <a16:creationId xmlns:a16="http://schemas.microsoft.com/office/drawing/2014/main" id="{41C0C6C2-F159-E369-04A8-36E4FD7667B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r>
              <a:rPr lang="zh-CN" altLang="en-US" sz="2000" b="1" dirty="0">
                <a:solidFill>
                  <a:srgbClr val="E26664"/>
                </a:solidFill>
                <a:latin typeface="Arial" panose="020B0604020202020204" pitchFamily="34" charset="0"/>
                <a:ea typeface="微软雅黑 Light" panose="020B0502040204020203" pitchFamily="34" charset="-122"/>
                <a:cs typeface="Arial" panose="020B0604020202020204" pitchFamily="34" charset="0"/>
              </a:rPr>
              <a:t>维护组织</a:t>
            </a:r>
          </a:p>
        </p:txBody>
      </p:sp>
      <p:sp>
        <p:nvSpPr>
          <p:cNvPr id="6" name="MH_Other_7">
            <a:extLst>
              <a:ext uri="{FF2B5EF4-FFF2-40B4-BE49-F238E27FC236}">
                <a16:creationId xmlns:a16="http://schemas.microsoft.com/office/drawing/2014/main" id="{B6C32234-F6C7-58F4-4B5C-79137376AB2C}"/>
              </a:ext>
            </a:extLst>
          </p:cNvPr>
          <p:cNvSpPr/>
          <p:nvPr/>
        </p:nvSpPr>
        <p:spPr>
          <a:xfrm>
            <a:off x="1410549" y="198594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p>
            <a:pPr algn="ct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44FDD4BA-86DD-B34C-D204-4D383B7BFE7E}"/>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BD20F595-C804-88AA-82B3-EA79B4CC3FC1}"/>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defPPr>
              <a:defRPr lang="zh-CN"/>
            </a:defPPr>
            <a:lvl1pPr algn="ctr">
              <a:defRPr sz="4800" b="1">
                <a:solidFill>
                  <a:srgbClr val="E26664"/>
                </a:solidFill>
                <a:ea typeface="微软雅黑 Light" panose="020B0502040204020203" pitchFamily="34" charset="-122"/>
              </a:defRPr>
            </a:lvl1pPr>
          </a:lstStyle>
          <a:p>
            <a:r>
              <a:rPr lang="en-US" altLang="zh-CN" dirty="0"/>
              <a:t>01</a:t>
            </a:r>
          </a:p>
        </p:txBody>
      </p:sp>
    </p:spTree>
  </p:cSld>
  <p:clrMapOvr>
    <a:masterClrMapping/>
  </p:clrMapOvr>
  <p:transition>
    <p:zo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3635" name="图片 2"/>
          <p:cNvPicPr>
            <a:picLocks noChangeAspect="1"/>
          </p:cNvPicPr>
          <p:nvPr/>
        </p:nvPicPr>
        <p:blipFill>
          <a:blip r:embed="rId2" cstate="print"/>
          <a:stretch>
            <a:fillRect/>
          </a:stretch>
        </p:blipFill>
        <p:spPr>
          <a:xfrm>
            <a:off x="9462135" y="-12700"/>
            <a:ext cx="2079625" cy="2773680"/>
          </a:xfrm>
          <a:prstGeom prst="rect">
            <a:avLst/>
          </a:prstGeom>
          <a:noFill/>
          <a:ln w="9525">
            <a:noFill/>
          </a:ln>
        </p:spPr>
      </p:pic>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60012" y="3625828"/>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1. 维护申请表</a:t>
            </a:r>
          </a:p>
          <a:p>
            <a:pPr indent="457200" algn="l" fontAlgn="auto">
              <a:lnSpc>
                <a:spcPct val="120000"/>
              </a:lnSpc>
              <a:defRPr/>
            </a:pPr>
            <a:r>
              <a:rPr lang="en-US" altLang="zh-CN" dirty="0"/>
              <a:t>软件开发机构的维护组织向用户提供空白的维护申请表，由要求维护的用户填写，该表应能完整描述软件产生错误的情况（包括输入数据、输出数据及其他有关信息）。对于适应性或完善性的维护要求，则应提出简单明了的维护要求规格说明。</a:t>
            </a:r>
          </a:p>
          <a:p>
            <a:pPr indent="457200" algn="l" fontAlgn="auto">
              <a:lnSpc>
                <a:spcPct val="120000"/>
              </a:lnSpc>
              <a:defRPr/>
            </a:pPr>
            <a:r>
              <a:rPr lang="en-US" altLang="zh-CN" dirty="0"/>
              <a:t>维护申请表由维护管理员和系统管理员负责研究处理。</a:t>
            </a:r>
          </a:p>
        </p:txBody>
      </p:sp>
      <p:sp>
        <p:nvSpPr>
          <p:cNvPr id="4" name="MH_Text_2"/>
          <p:cNvSpPr>
            <a:spLocks noChangeArrowheads="1"/>
          </p:cNvSpPr>
          <p:nvPr/>
        </p:nvSpPr>
        <p:spPr bwMode="auto">
          <a:xfrm>
            <a:off x="6813559" y="3625828"/>
            <a:ext cx="4381292"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t>2. 维护报告</a:t>
            </a:r>
          </a:p>
          <a:p>
            <a:pPr indent="457200" algn="l" fontAlgn="auto">
              <a:lnSpc>
                <a:spcPct val="120000"/>
              </a:lnSpc>
              <a:defRPr/>
            </a:pPr>
            <a:r>
              <a:rPr lang="en-US" altLang="zh-CN" dirty="0"/>
              <a:t>软件开发组织在收到用户的维护要求表后，维护管理员应写一份软件维护报告。该报告应包含下述内容：</a:t>
            </a:r>
          </a:p>
          <a:p>
            <a:pPr marL="285750" indent="-285750" algn="l" fontAlgn="auto">
              <a:lnSpc>
                <a:spcPct val="120000"/>
              </a:lnSpc>
              <a:buFont typeface="Wingdings" panose="05000000000000000000" charset="0"/>
              <a:buChar char="Ø"/>
              <a:defRPr/>
            </a:pPr>
            <a:r>
              <a:rPr lang="en-US" altLang="zh-CN" dirty="0"/>
              <a:t>按照要求进行维护所需要的工作量；</a:t>
            </a:r>
          </a:p>
          <a:p>
            <a:pPr marL="285750" indent="-285750" algn="l" fontAlgn="auto">
              <a:lnSpc>
                <a:spcPct val="120000"/>
              </a:lnSpc>
              <a:buFont typeface="Wingdings" panose="05000000000000000000" charset="0"/>
              <a:buChar char="Ø"/>
              <a:defRPr/>
            </a:pPr>
            <a:r>
              <a:rPr lang="en-US" altLang="zh-CN" dirty="0"/>
              <a:t>维护要求的性质；</a:t>
            </a:r>
          </a:p>
          <a:p>
            <a:pPr marL="285750" indent="-285750" algn="l" fontAlgn="auto">
              <a:lnSpc>
                <a:spcPct val="120000"/>
              </a:lnSpc>
              <a:buFont typeface="Wingdings" panose="05000000000000000000" charset="0"/>
              <a:buChar char="Ø"/>
              <a:defRPr/>
            </a:pPr>
            <a:r>
              <a:rPr lang="en-US" altLang="zh-CN" dirty="0"/>
              <a:t>该项要求与其他维护要求相比的优先程度；</a:t>
            </a:r>
          </a:p>
          <a:p>
            <a:pPr marL="285750" indent="-285750" algn="l" fontAlgn="auto">
              <a:lnSpc>
                <a:spcPct val="120000"/>
              </a:lnSpc>
              <a:buFont typeface="Wingdings" panose="05000000000000000000" charset="0"/>
              <a:buChar char="Ø"/>
              <a:defRPr/>
            </a:pPr>
            <a:r>
              <a:rPr lang="en-US" altLang="zh-CN" dirty="0"/>
              <a:t>预计软件维护后的状况。</a:t>
            </a:r>
          </a:p>
        </p:txBody>
      </p:sp>
      <p:sp>
        <p:nvSpPr>
          <p:cNvPr id="8" name="MH_Text_2">
            <a:extLst>
              <a:ext uri="{FF2B5EF4-FFF2-40B4-BE49-F238E27FC236}">
                <a16:creationId xmlns:a16="http://schemas.microsoft.com/office/drawing/2014/main" id="{9CC92966-A7F2-CF28-3C34-85F7FEDDA330}"/>
              </a:ext>
            </a:extLst>
          </p:cNvPr>
          <p:cNvSpPr>
            <a:spLocks noChangeArrowheads="1"/>
          </p:cNvSpPr>
          <p:nvPr/>
        </p:nvSpPr>
        <p:spPr bwMode="auto">
          <a:xfrm>
            <a:off x="1360012" y="2797292"/>
            <a:ext cx="9834839" cy="856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nSpc>
                <a:spcPct val="120000"/>
              </a:lnSpc>
              <a:defRPr/>
            </a:pPr>
            <a:r>
              <a:rPr lang="en-US" altLang="zh-CN" dirty="0"/>
              <a:t>软件维护要有书面文件：用户填写</a:t>
            </a:r>
            <a:r>
              <a:rPr lang="en-US" altLang="zh-CN" dirty="0">
                <a:latin typeface="+mj-ea"/>
                <a:ea typeface="+mj-ea"/>
              </a:rPr>
              <a:t>维护申请表</a:t>
            </a:r>
            <a:r>
              <a:rPr lang="en-US" altLang="zh-CN" dirty="0"/>
              <a:t>、维护管理员填写</a:t>
            </a:r>
            <a:r>
              <a:rPr lang="en-US" altLang="zh-CN" dirty="0">
                <a:latin typeface="+mj-ea"/>
                <a:ea typeface="+mj-ea"/>
              </a:rPr>
              <a:t>维护报告</a:t>
            </a:r>
            <a:r>
              <a:rPr lang="en-US" altLang="zh-CN" dirty="0"/>
              <a:t>、维护人员填写</a:t>
            </a:r>
            <a:r>
              <a:rPr lang="en-US" altLang="zh-CN" dirty="0">
                <a:latin typeface="+mj-ea"/>
                <a:ea typeface="+mj-ea"/>
              </a:rPr>
              <a:t>维护记录</a:t>
            </a:r>
            <a:r>
              <a:rPr lang="en-US" altLang="zh-CN" dirty="0"/>
              <a:t>。</a:t>
            </a:r>
          </a:p>
        </p:txBody>
      </p:sp>
      <p:sp>
        <p:nvSpPr>
          <p:cNvPr id="5" name="MH_SubTitle_3">
            <a:extLst>
              <a:ext uri="{FF2B5EF4-FFF2-40B4-BE49-F238E27FC236}">
                <a16:creationId xmlns:a16="http://schemas.microsoft.com/office/drawing/2014/main" id="{8E134FF2-7F62-E5F1-DAA4-A42FDEA325B2}"/>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6" name="MH_Other_7">
            <a:extLst>
              <a:ext uri="{FF2B5EF4-FFF2-40B4-BE49-F238E27FC236}">
                <a16:creationId xmlns:a16="http://schemas.microsoft.com/office/drawing/2014/main" id="{955B15A9-6B98-55DE-CB22-2863B0106A34}"/>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E8BF326A-8D2D-DDC9-300C-420166F14264}"/>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9" name="MH_Other_9">
            <a:extLst>
              <a:ext uri="{FF2B5EF4-FFF2-40B4-BE49-F238E27FC236}">
                <a16:creationId xmlns:a16="http://schemas.microsoft.com/office/drawing/2014/main" id="{1093AFDE-5004-95D6-8A55-5DE225DC900A}"/>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2" name="MH_Text_2"/>
          <p:cNvSpPr>
            <a:spLocks noChangeArrowheads="1"/>
          </p:cNvSpPr>
          <p:nvPr/>
        </p:nvSpPr>
        <p:spPr bwMode="auto">
          <a:xfrm>
            <a:off x="1387317" y="2890361"/>
            <a:ext cx="526542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endParaRPr lang="en-US" altLang="zh-CN" dirty="0">
              <a:solidFill>
                <a:schemeClr val="tx1"/>
              </a:solidFill>
              <a:latin typeface="微软雅黑" panose="020B0503020204020204" charset="-122"/>
              <a:ea typeface="微软雅黑" panose="020B0503020204020204" charset="-122"/>
              <a:cs typeface="Arial" panose="020B0604020202020204" pitchFamily="34" charset="0"/>
            </a:endParaRPr>
          </a:p>
        </p:txBody>
      </p:sp>
      <p:sp>
        <p:nvSpPr>
          <p:cNvPr id="2" name="文本框 1"/>
          <p:cNvSpPr txBox="1"/>
          <p:nvPr/>
        </p:nvSpPr>
        <p:spPr>
          <a:xfrm>
            <a:off x="5681980" y="3887557"/>
            <a:ext cx="5997575" cy="2185636"/>
          </a:xfrm>
          <a:prstGeom prst="rect">
            <a:avLst/>
          </a:prstGeom>
          <a:noFill/>
        </p:spPr>
        <p:txBody>
          <a:bodyPr wrap="square" lIns="108000" tIns="108000" rIns="108000" bIns="108000" rtlCol="0">
            <a:spAutoFit/>
          </a:bodyPr>
          <a:lstStyle/>
          <a:p>
            <a:pPr marL="285750" indent="-285750" algn="l" fontAlgn="auto">
              <a:lnSpc>
                <a:spcPct val="120000"/>
              </a:lnSpc>
              <a:buFont typeface="Wingdings" panose="05000000000000000000" charset="0"/>
              <a:buChar char="Ø"/>
              <a:defRPr/>
            </a:pPr>
            <a:r>
              <a:rPr lang="en-US" altLang="zh-CN" dirty="0">
                <a:sym typeface="+mn-ea"/>
              </a:rPr>
              <a:t>修改程序所增加的源语行数、所删除的源语行数</a:t>
            </a:r>
          </a:p>
          <a:p>
            <a:pPr marL="285750" indent="-285750" algn="l" fontAlgn="auto">
              <a:lnSpc>
                <a:spcPct val="120000"/>
              </a:lnSpc>
              <a:buFont typeface="Wingdings" panose="05000000000000000000" charset="0"/>
              <a:buChar char="Ø"/>
              <a:defRPr/>
            </a:pPr>
            <a:r>
              <a:rPr lang="en-US" altLang="zh-CN" dirty="0">
                <a:sym typeface="+mn-ea"/>
              </a:rPr>
              <a:t>各次修改耗费的人时数、累计用于维护的人时数</a:t>
            </a:r>
          </a:p>
          <a:p>
            <a:pPr marL="285750" indent="-285750" algn="l" fontAlgn="auto">
              <a:lnSpc>
                <a:spcPct val="120000"/>
              </a:lnSpc>
              <a:buFont typeface="Wingdings" panose="05000000000000000000" charset="0"/>
              <a:buChar char="Ø"/>
              <a:defRPr/>
            </a:pPr>
            <a:r>
              <a:rPr lang="en-US" altLang="zh-CN" dirty="0">
                <a:sym typeface="+mn-ea"/>
              </a:rPr>
              <a:t>软件工程师的姓名</a:t>
            </a:r>
          </a:p>
          <a:p>
            <a:pPr marL="285750" indent="-285750" algn="l" fontAlgn="auto">
              <a:lnSpc>
                <a:spcPct val="120000"/>
              </a:lnSpc>
              <a:buFont typeface="Wingdings" panose="05000000000000000000" charset="0"/>
              <a:buChar char="Ø"/>
              <a:defRPr/>
            </a:pPr>
            <a:r>
              <a:rPr lang="en-US" altLang="zh-CN" dirty="0">
                <a:sym typeface="+mn-ea"/>
              </a:rPr>
              <a:t>维护要求表的标识</a:t>
            </a:r>
          </a:p>
          <a:p>
            <a:pPr marL="285750" indent="-285750" algn="l" fontAlgn="auto">
              <a:lnSpc>
                <a:spcPct val="120000"/>
              </a:lnSpc>
              <a:buFont typeface="Wingdings" panose="05000000000000000000" charset="0"/>
              <a:buChar char="Ø"/>
              <a:defRPr/>
            </a:pPr>
            <a:r>
              <a:rPr lang="en-US" altLang="zh-CN" dirty="0">
                <a:sym typeface="+mn-ea"/>
              </a:rPr>
              <a:t>维护开始和结束的日期</a:t>
            </a:r>
          </a:p>
          <a:p>
            <a:pPr marL="285750" indent="-285750" algn="l" fontAlgn="auto">
              <a:lnSpc>
                <a:spcPct val="120000"/>
              </a:lnSpc>
              <a:buFont typeface="Wingdings" panose="05000000000000000000" charset="0"/>
              <a:buChar char="Ø"/>
              <a:defRPr/>
            </a:pPr>
            <a:r>
              <a:rPr lang="en-US" altLang="zh-CN" dirty="0">
                <a:sym typeface="+mn-ea"/>
              </a:rPr>
              <a:t>维护工作的净收益</a:t>
            </a:r>
          </a:p>
        </p:txBody>
      </p:sp>
      <p:sp>
        <p:nvSpPr>
          <p:cNvPr id="4" name="MH_Text_2"/>
          <p:cNvSpPr>
            <a:spLocks noChangeArrowheads="1"/>
          </p:cNvSpPr>
          <p:nvPr/>
        </p:nvSpPr>
        <p:spPr bwMode="auto">
          <a:xfrm>
            <a:off x="1641317" y="2890361"/>
            <a:ext cx="5226685" cy="3182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lgn="l" fontAlgn="auto">
              <a:lnSpc>
                <a:spcPct val="120000"/>
              </a:lnSpc>
              <a:defRPr/>
            </a:pPr>
            <a:r>
              <a:rPr lang="en-US" altLang="zh-CN" dirty="0">
                <a:sym typeface="+mn-ea"/>
              </a:rPr>
              <a:t>3. 维护记录</a:t>
            </a:r>
            <a:endParaRPr lang="en-US" altLang="zh-CN" dirty="0"/>
          </a:p>
          <a:p>
            <a:pPr indent="0" algn="l" fontAlgn="auto">
              <a:lnSpc>
                <a:spcPct val="120000"/>
              </a:lnSpc>
              <a:defRPr/>
            </a:pPr>
            <a:r>
              <a:rPr lang="en-US" altLang="zh-CN" dirty="0">
                <a:sym typeface="+mn-ea"/>
              </a:rPr>
              <a:t>维护记录可以包括如下内容：</a:t>
            </a:r>
            <a:endParaRPr lang="en-US" altLang="zh-CN" dirty="0"/>
          </a:p>
          <a:p>
            <a:pPr marL="285750" indent="-285750" algn="l" fontAlgn="auto">
              <a:lnSpc>
                <a:spcPct val="120000"/>
              </a:lnSpc>
              <a:buFont typeface="Wingdings" panose="05000000000000000000" charset="0"/>
              <a:buChar char="Ø"/>
              <a:defRPr/>
            </a:pPr>
            <a:r>
              <a:rPr lang="en-US" altLang="zh-CN" dirty="0" err="1">
                <a:sym typeface="+mn-ea"/>
              </a:rPr>
              <a:t>程序名称</a:t>
            </a:r>
            <a:endParaRPr lang="en-US" altLang="zh-CN" dirty="0">
              <a:sym typeface="+mn-ea"/>
            </a:endParaRPr>
          </a:p>
          <a:p>
            <a:pPr marL="285750" indent="-285750" algn="l" fontAlgn="auto">
              <a:lnSpc>
                <a:spcPct val="120000"/>
              </a:lnSpc>
              <a:buFont typeface="Wingdings" panose="05000000000000000000" charset="0"/>
              <a:buChar char="Ø"/>
              <a:defRPr/>
            </a:pPr>
            <a:r>
              <a:rPr lang="en-US" altLang="zh-CN" dirty="0">
                <a:sym typeface="+mn-ea"/>
              </a:rPr>
              <a:t>维护类型</a:t>
            </a:r>
          </a:p>
          <a:p>
            <a:pPr marL="285750" indent="-285750" algn="l" fontAlgn="auto">
              <a:lnSpc>
                <a:spcPct val="120000"/>
              </a:lnSpc>
              <a:buFont typeface="Wingdings" panose="05000000000000000000" charset="0"/>
              <a:buChar char="Ø"/>
              <a:defRPr/>
            </a:pPr>
            <a:r>
              <a:rPr lang="en-US" altLang="zh-CN" dirty="0">
                <a:sym typeface="+mn-ea"/>
              </a:rPr>
              <a:t>所用的编程语言</a:t>
            </a:r>
          </a:p>
          <a:p>
            <a:pPr marL="285750" indent="-285750" algn="l" fontAlgn="auto">
              <a:lnSpc>
                <a:spcPct val="120000"/>
              </a:lnSpc>
              <a:buFont typeface="Wingdings" panose="05000000000000000000" charset="0"/>
              <a:buChar char="Ø"/>
              <a:defRPr/>
            </a:pPr>
            <a:r>
              <a:rPr lang="en-US" altLang="zh-CN" dirty="0">
                <a:sym typeface="+mn-ea"/>
              </a:rPr>
              <a:t>程序行数或机器指令条数</a:t>
            </a:r>
          </a:p>
          <a:p>
            <a:pPr marL="285750" indent="-285750" algn="l" fontAlgn="auto">
              <a:lnSpc>
                <a:spcPct val="120000"/>
              </a:lnSpc>
              <a:buFont typeface="Wingdings" panose="05000000000000000000" charset="0"/>
              <a:buChar char="Ø"/>
              <a:defRPr/>
            </a:pPr>
            <a:r>
              <a:rPr lang="en-US" altLang="zh-CN" dirty="0">
                <a:sym typeface="+mn-ea"/>
              </a:rPr>
              <a:t>程序开始使用的日期</a:t>
            </a:r>
          </a:p>
          <a:p>
            <a:pPr marL="285750" indent="-285750" algn="l" fontAlgn="auto">
              <a:lnSpc>
                <a:spcPct val="120000"/>
              </a:lnSpc>
              <a:buFont typeface="Wingdings" panose="05000000000000000000" charset="0"/>
              <a:buChar char="Ø"/>
              <a:defRPr/>
            </a:pPr>
            <a:r>
              <a:rPr lang="en-US" altLang="zh-CN" dirty="0">
                <a:sym typeface="+mn-ea"/>
              </a:rPr>
              <a:t>已运行次数、故障处理次数</a:t>
            </a:r>
          </a:p>
          <a:p>
            <a:pPr marL="285750" indent="-285750" algn="l" fontAlgn="auto">
              <a:lnSpc>
                <a:spcPct val="120000"/>
              </a:lnSpc>
              <a:buFont typeface="Wingdings" panose="05000000000000000000" charset="0"/>
              <a:buChar char="Ø"/>
              <a:defRPr/>
            </a:pPr>
            <a:r>
              <a:rPr lang="en-US" altLang="zh-CN" dirty="0">
                <a:sym typeface="+mn-ea"/>
              </a:rPr>
              <a:t>程序改变的级别及名称</a:t>
            </a:r>
            <a:endParaRPr lang="en-US" altLang="zh-CN" dirty="0"/>
          </a:p>
        </p:txBody>
      </p:sp>
      <p:pic>
        <p:nvPicPr>
          <p:cNvPr id="453635" name="图片 2"/>
          <p:cNvPicPr>
            <a:picLocks noChangeAspect="1"/>
          </p:cNvPicPr>
          <p:nvPr/>
        </p:nvPicPr>
        <p:blipFill>
          <a:blip r:embed="rId2" cstate="print"/>
          <a:stretch>
            <a:fillRect/>
          </a:stretch>
        </p:blipFill>
        <p:spPr>
          <a:xfrm>
            <a:off x="9469755" y="-1905"/>
            <a:ext cx="2072005" cy="2762885"/>
          </a:xfrm>
          <a:prstGeom prst="rect">
            <a:avLst/>
          </a:prstGeom>
          <a:noFill/>
          <a:ln w="9525">
            <a:noFill/>
          </a:ln>
        </p:spPr>
      </p:pic>
      <p:sp>
        <p:nvSpPr>
          <p:cNvPr id="11" name="MH_SubTitle_3">
            <a:extLst>
              <a:ext uri="{FF2B5EF4-FFF2-40B4-BE49-F238E27FC236}">
                <a16:creationId xmlns:a16="http://schemas.microsoft.com/office/drawing/2014/main" id="{FC1AA3B7-72E5-7802-5DDE-8302FBDAFFEA}"/>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4">
                    <a:lumMod val="60000"/>
                    <a:lumOff val="40000"/>
                  </a:schemeClr>
                </a:solidFill>
                <a:latin typeface="Arial" panose="020B0604020202020204" pitchFamily="34" charset="0"/>
                <a:ea typeface="微软雅黑 Light" panose="020B0502040204020203" pitchFamily="34" charset="-122"/>
                <a:cs typeface="Arial" panose="020B0604020202020204" pitchFamily="34" charset="0"/>
              </a:rPr>
              <a:t>维护文件</a:t>
            </a:r>
          </a:p>
        </p:txBody>
      </p:sp>
      <p:sp>
        <p:nvSpPr>
          <p:cNvPr id="12" name="MH_Other_7">
            <a:extLst>
              <a:ext uri="{FF2B5EF4-FFF2-40B4-BE49-F238E27FC236}">
                <a16:creationId xmlns:a16="http://schemas.microsoft.com/office/drawing/2014/main" id="{7C5BC864-8ABC-DA15-8288-DFD4DADE557B}"/>
              </a:ext>
            </a:extLst>
          </p:cNvPr>
          <p:cNvSpPr/>
          <p:nvPr/>
        </p:nvSpPr>
        <p:spPr>
          <a:xfrm>
            <a:off x="1410549" y="1985941"/>
            <a:ext cx="68262" cy="1320800"/>
          </a:xfrm>
          <a:prstGeom prst="rect">
            <a:avLst/>
          </a:prstGeom>
          <a:solidFill>
            <a:schemeClr val="accent4">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3" name="MH_Other_8">
            <a:extLst>
              <a:ext uri="{FF2B5EF4-FFF2-40B4-BE49-F238E27FC236}">
                <a16:creationId xmlns:a16="http://schemas.microsoft.com/office/drawing/2014/main" id="{822F9881-83BA-6F4F-BF10-5DED6BA4E44B}"/>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4" name="MH_Other_9">
            <a:extLst>
              <a:ext uri="{FF2B5EF4-FFF2-40B4-BE49-F238E27FC236}">
                <a16:creationId xmlns:a16="http://schemas.microsoft.com/office/drawing/2014/main" id="{A18F14C6-AD3C-84C1-B15F-5D01F2C65240}"/>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4">
                    <a:lumMod val="60000"/>
                    <a:lumOff val="40000"/>
                  </a:schemeClr>
                </a:solidFill>
                <a:ea typeface="微软雅黑 Light" panose="020B0502040204020203" pitchFamily="34" charset="-122"/>
              </a:rPr>
              <a:t>02</a:t>
            </a:r>
          </a:p>
        </p:txBody>
      </p:sp>
    </p:spTree>
  </p:cSld>
  <p:clrMapOvr>
    <a:masterClrMapping/>
  </p:clrMapOvr>
  <p:transition>
    <p:zo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4378" y="2913041"/>
            <a:ext cx="10207695" cy="185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algn="l" fontAlgn="auto">
              <a:lnSpc>
                <a:spcPct val="120000"/>
              </a:lnSpc>
              <a:defRPr/>
            </a:pPr>
            <a:r>
              <a:rPr lang="en-US" altLang="zh-CN" dirty="0"/>
              <a:t>维护工作流程如下：</a:t>
            </a:r>
          </a:p>
          <a:p>
            <a:pPr algn="l" fontAlgn="auto">
              <a:lnSpc>
                <a:spcPct val="120000"/>
              </a:lnSpc>
              <a:defRPr/>
            </a:pPr>
            <a:r>
              <a:rPr lang="en-US" altLang="zh-CN" dirty="0"/>
              <a:t>1. 用户提出维护申请。</a:t>
            </a:r>
          </a:p>
          <a:p>
            <a:pPr algn="l" fontAlgn="auto">
              <a:lnSpc>
                <a:spcPct val="120000"/>
              </a:lnSpc>
              <a:defRPr/>
            </a:pPr>
            <a:r>
              <a:rPr lang="en-US" altLang="zh-CN" dirty="0"/>
              <a:t>2. 维护组织审查申请报告并安排维护工作。</a:t>
            </a:r>
          </a:p>
          <a:p>
            <a:pPr algn="l" fontAlgn="auto">
              <a:lnSpc>
                <a:spcPct val="120000"/>
              </a:lnSpc>
              <a:defRPr/>
            </a:pPr>
            <a:r>
              <a:rPr lang="en-US" altLang="zh-CN" dirty="0"/>
              <a:t>3. 进行维护并做详细的维护记录。</a:t>
            </a:r>
          </a:p>
          <a:p>
            <a:pPr algn="l" fontAlgn="auto">
              <a:lnSpc>
                <a:spcPct val="120000"/>
              </a:lnSpc>
              <a:defRPr/>
            </a:pPr>
            <a:r>
              <a:rPr lang="en-US" altLang="zh-CN" dirty="0"/>
              <a:t>4. 复审。</a:t>
            </a:r>
          </a:p>
        </p:txBody>
      </p:sp>
      <p:pic>
        <p:nvPicPr>
          <p:cNvPr id="2" name="图片 149"/>
          <p:cNvPicPr>
            <a:picLocks noChangeAspect="1"/>
          </p:cNvPicPr>
          <p:nvPr/>
        </p:nvPicPr>
        <p:blipFill>
          <a:blip r:embed="rId2" cstate="print">
            <a:clrChange>
              <a:clrFrom>
                <a:srgbClr val="FFFFFF"/>
              </a:clrFrom>
              <a:clrTo>
                <a:srgbClr val="FFFFFF">
                  <a:alpha val="0"/>
                </a:srgbClr>
              </a:clrTo>
            </a:clrChange>
          </a:blip>
          <a:stretch>
            <a:fillRect/>
          </a:stretch>
        </p:blipFill>
        <p:spPr>
          <a:xfrm>
            <a:off x="7024280" y="2561196"/>
            <a:ext cx="4020320" cy="3816104"/>
          </a:xfrm>
          <a:prstGeom prst="rect">
            <a:avLst/>
          </a:prstGeom>
          <a:noFill/>
          <a:ln w="9525">
            <a:noFill/>
          </a:ln>
        </p:spPr>
      </p:pic>
      <p:sp>
        <p:nvSpPr>
          <p:cNvPr id="9" name="MH_SubTitle_3">
            <a:extLst>
              <a:ext uri="{FF2B5EF4-FFF2-40B4-BE49-F238E27FC236}">
                <a16:creationId xmlns:a16="http://schemas.microsoft.com/office/drawing/2014/main" id="{51F240CE-A76C-399D-E161-3467471BCC9D}"/>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10" name="MH_Other_7">
            <a:extLst>
              <a:ext uri="{FF2B5EF4-FFF2-40B4-BE49-F238E27FC236}">
                <a16:creationId xmlns:a16="http://schemas.microsoft.com/office/drawing/2014/main" id="{76510BCA-E5E1-F1C3-BF78-85947D822A59}"/>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11" name="MH_Other_8">
            <a:extLst>
              <a:ext uri="{FF2B5EF4-FFF2-40B4-BE49-F238E27FC236}">
                <a16:creationId xmlns:a16="http://schemas.microsoft.com/office/drawing/2014/main" id="{FBDD6C9A-40C2-BAB8-B370-B2B4E9923EDD}"/>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12" name="MH_Other_9">
            <a:extLst>
              <a:ext uri="{FF2B5EF4-FFF2-40B4-BE49-F238E27FC236}">
                <a16:creationId xmlns:a16="http://schemas.microsoft.com/office/drawing/2014/main" id="{566F35D9-B9AF-BDB6-F425-8937261A89D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59139" y="2913041"/>
            <a:ext cx="9658350" cy="2850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20000"/>
              </a:lnSpc>
              <a:defRPr/>
            </a:pPr>
            <a:r>
              <a:rPr lang="en-US" altLang="zh-CN" dirty="0"/>
              <a:t>当然，有时维护申请的处理过程并不完全符合上述事件流。例如，当出现紧急软件问题时，就出现所谓“救火”维护要求。在这种情况下，就需要立即投入人力进行维护。</a:t>
            </a:r>
          </a:p>
          <a:p>
            <a:pPr indent="457200" algn="l" fontAlgn="auto">
              <a:lnSpc>
                <a:spcPct val="120000"/>
              </a:lnSpc>
              <a:buFont typeface="Wingdings" panose="05000000000000000000" charset="0"/>
              <a:buNone/>
              <a:defRPr/>
            </a:pPr>
            <a:r>
              <a:rPr lang="en-US" altLang="zh-CN" dirty="0"/>
              <a:t>软件维护的复审要明确下列问题：</a:t>
            </a:r>
          </a:p>
          <a:p>
            <a:pPr marL="285750" indent="-285750" algn="l" fontAlgn="auto">
              <a:lnSpc>
                <a:spcPct val="120000"/>
              </a:lnSpc>
              <a:buFont typeface="Wingdings" panose="05000000000000000000" charset="0"/>
              <a:buChar char="Ø"/>
              <a:defRPr/>
            </a:pPr>
            <a:r>
              <a:rPr lang="en-US" altLang="zh-CN" dirty="0"/>
              <a:t>在目前的状况下，设计、编程、测试等方面有什么可改进的。</a:t>
            </a:r>
          </a:p>
          <a:p>
            <a:pPr marL="285750" indent="-285750" algn="l" fontAlgn="auto">
              <a:lnSpc>
                <a:spcPct val="120000"/>
              </a:lnSpc>
              <a:buFont typeface="Wingdings" panose="05000000000000000000" charset="0"/>
              <a:buChar char="Ø"/>
              <a:defRPr/>
            </a:pPr>
            <a:r>
              <a:rPr lang="en-US" altLang="zh-CN" dirty="0"/>
              <a:t>哪些维护资源应该有，实际上却没有。</a:t>
            </a:r>
          </a:p>
          <a:p>
            <a:pPr marL="285750" indent="-285750" algn="l" fontAlgn="auto">
              <a:lnSpc>
                <a:spcPct val="120000"/>
              </a:lnSpc>
              <a:buFont typeface="Wingdings" panose="05000000000000000000" charset="0"/>
              <a:buChar char="Ø"/>
              <a:defRPr/>
            </a:pPr>
            <a:r>
              <a:rPr lang="en-US" altLang="zh-CN" dirty="0"/>
              <a:t>什么是这项维护工作中最主要的障碍。</a:t>
            </a:r>
          </a:p>
          <a:p>
            <a:pPr marL="285750" indent="-285750" algn="l" fontAlgn="auto">
              <a:lnSpc>
                <a:spcPct val="120000"/>
              </a:lnSpc>
              <a:buFont typeface="Wingdings" panose="05000000000000000000" charset="0"/>
              <a:buChar char="Ø"/>
              <a:defRPr/>
            </a:pPr>
            <a:r>
              <a:rPr lang="en-US" altLang="zh-CN" dirty="0"/>
              <a:t>是否需要预防性维护。</a:t>
            </a:r>
          </a:p>
          <a:p>
            <a:pPr indent="457200" algn="l" fontAlgn="auto">
              <a:lnSpc>
                <a:spcPct val="120000"/>
              </a:lnSpc>
              <a:defRPr/>
            </a:pPr>
            <a:r>
              <a:rPr lang="en-US" altLang="zh-CN" dirty="0"/>
              <a:t>维护情况复查对将来的维护工作有重要意义，可为提高软件组织的管理效能提供重要意见。</a:t>
            </a:r>
          </a:p>
        </p:txBody>
      </p:sp>
      <p:sp>
        <p:nvSpPr>
          <p:cNvPr id="5" name="MH_SubTitle_3">
            <a:extLst>
              <a:ext uri="{FF2B5EF4-FFF2-40B4-BE49-F238E27FC236}">
                <a16:creationId xmlns:a16="http://schemas.microsoft.com/office/drawing/2014/main" id="{B2CA8BAB-CFF1-DD3B-A9BF-2C0BB42DF346}"/>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chemeClr val="accent1"/>
                </a:solidFill>
                <a:latin typeface="Arial" panose="020B0604020202020204" pitchFamily="34" charset="0"/>
                <a:ea typeface="微软雅黑 Light" panose="020B0502040204020203" pitchFamily="34" charset="-122"/>
                <a:cs typeface="Arial" panose="020B0604020202020204" pitchFamily="34" charset="0"/>
              </a:rPr>
              <a:t>维护工作流程</a:t>
            </a:r>
          </a:p>
        </p:txBody>
      </p:sp>
      <p:sp>
        <p:nvSpPr>
          <p:cNvPr id="6" name="MH_Other_7">
            <a:extLst>
              <a:ext uri="{FF2B5EF4-FFF2-40B4-BE49-F238E27FC236}">
                <a16:creationId xmlns:a16="http://schemas.microsoft.com/office/drawing/2014/main" id="{BD72EC4F-DA27-C7DD-C63F-ABC790D6FFA5}"/>
              </a:ext>
            </a:extLst>
          </p:cNvPr>
          <p:cNvSpPr/>
          <p:nvPr/>
        </p:nvSpPr>
        <p:spPr>
          <a:xfrm>
            <a:off x="1410549" y="1985941"/>
            <a:ext cx="68262" cy="1320800"/>
          </a:xfrm>
          <a:prstGeom prst="rect">
            <a:avLst/>
          </a:prstGeom>
          <a:solidFill>
            <a:schemeClr val="accent5">
              <a:lumMod val="40000"/>
              <a:lumOff val="60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7" name="MH_Other_8">
            <a:extLst>
              <a:ext uri="{FF2B5EF4-FFF2-40B4-BE49-F238E27FC236}">
                <a16:creationId xmlns:a16="http://schemas.microsoft.com/office/drawing/2014/main" id="{6287939A-4192-E375-8F5E-9C7BF161860A}"/>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8" name="MH_Other_9">
            <a:extLst>
              <a:ext uri="{FF2B5EF4-FFF2-40B4-BE49-F238E27FC236}">
                <a16:creationId xmlns:a16="http://schemas.microsoft.com/office/drawing/2014/main" id="{E3DC8D82-2679-5DA4-1285-CAE8D51F77CC}"/>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chemeClr val="accent1"/>
                </a:solidFill>
                <a:ea typeface="微软雅黑 Light" panose="020B0502040204020203" pitchFamily="34" charset="-122"/>
              </a:rPr>
              <a:t>03</a:t>
            </a:r>
          </a:p>
        </p:txBody>
      </p:sp>
    </p:spTree>
  </p:cSld>
  <p:clrMapOvr>
    <a:masterClrMapping/>
  </p:clrMapOvr>
  <p:transition>
    <p:zo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478176" y="2689834"/>
            <a:ext cx="9765665"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indent="457200" algn="l" fontAlgn="auto">
              <a:lnSpc>
                <a:spcPct val="120000"/>
              </a:lnSpc>
              <a:defRPr/>
            </a:pPr>
            <a:r>
              <a:rPr lang="en-US" altLang="zh-CN" dirty="0"/>
              <a:t>在维护过程中，如果缺乏详尽可靠的数据，要评价软件维护工作就很困难。如果有良好的维护记录，就可对维护工作做一些定量的评价，可计算如下一些指标：</a:t>
            </a:r>
          </a:p>
          <a:p>
            <a:pPr indent="457200" algn="l" fontAlgn="auto">
              <a:lnSpc>
                <a:spcPct val="120000"/>
              </a:lnSpc>
              <a:defRPr/>
            </a:pPr>
            <a:r>
              <a:rPr lang="en-US" altLang="zh-CN" dirty="0"/>
              <a:t>1. 每次程序运行的平均出错次数。</a:t>
            </a:r>
          </a:p>
          <a:p>
            <a:pPr indent="457200" algn="l" fontAlgn="auto">
              <a:lnSpc>
                <a:spcPct val="120000"/>
              </a:lnSpc>
              <a:defRPr/>
            </a:pPr>
            <a:r>
              <a:rPr lang="en-US" altLang="zh-CN" dirty="0"/>
              <a:t>2. 用在各类维护上的总的人时数。</a:t>
            </a:r>
          </a:p>
          <a:p>
            <a:pPr indent="457200" algn="l" fontAlgn="auto">
              <a:lnSpc>
                <a:spcPct val="120000"/>
              </a:lnSpc>
              <a:defRPr/>
            </a:pPr>
            <a:r>
              <a:rPr lang="en-US" altLang="zh-CN" dirty="0"/>
              <a:t>3. 平均每个程序、每种语言、每种类型的维护所做的程序变动数。</a:t>
            </a:r>
          </a:p>
          <a:p>
            <a:pPr indent="457200" algn="l" fontAlgn="auto">
              <a:lnSpc>
                <a:spcPct val="120000"/>
              </a:lnSpc>
              <a:defRPr/>
            </a:pPr>
            <a:r>
              <a:rPr lang="en-US" altLang="zh-CN" dirty="0"/>
              <a:t>4. 维护过程中每增加或减少一个源语句所平均花费的人时数。</a:t>
            </a:r>
          </a:p>
          <a:p>
            <a:pPr indent="457200" algn="l" fontAlgn="auto">
              <a:lnSpc>
                <a:spcPct val="120000"/>
              </a:lnSpc>
              <a:defRPr/>
            </a:pPr>
            <a:r>
              <a:rPr lang="en-US" altLang="zh-CN" dirty="0"/>
              <a:t>5. 维护每种语言所平均花费的人时数。</a:t>
            </a:r>
          </a:p>
          <a:p>
            <a:pPr indent="457200" algn="l" fontAlgn="auto">
              <a:lnSpc>
                <a:spcPct val="120000"/>
              </a:lnSpc>
              <a:defRPr/>
            </a:pPr>
            <a:r>
              <a:rPr lang="en-US" altLang="zh-CN" dirty="0"/>
              <a:t>6. 处理一张维护要求表平均所需时间。</a:t>
            </a:r>
          </a:p>
          <a:p>
            <a:pPr indent="457200" algn="l" fontAlgn="auto">
              <a:lnSpc>
                <a:spcPct val="120000"/>
              </a:lnSpc>
              <a:defRPr/>
            </a:pPr>
            <a:r>
              <a:rPr lang="en-US" altLang="zh-CN" dirty="0"/>
              <a:t>7. 各类维护申请的百分比。</a:t>
            </a:r>
          </a:p>
        </p:txBody>
      </p:sp>
      <p:sp>
        <p:nvSpPr>
          <p:cNvPr id="3085" name="MH_SubTitle_3"/>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277F0D"/>
                </a:solidFill>
                <a:latin typeface="Arial" panose="020B0604020202020204" pitchFamily="34" charset="0"/>
                <a:ea typeface="微软雅黑 Light" panose="020B0502040204020203" pitchFamily="34" charset="-122"/>
                <a:cs typeface="Arial" panose="020B0604020202020204" pitchFamily="34" charset="0"/>
              </a:rPr>
              <a:t>对维护的评价</a:t>
            </a:r>
          </a:p>
        </p:txBody>
      </p:sp>
      <p:sp>
        <p:nvSpPr>
          <p:cNvPr id="54" name="MH_Other_7"/>
          <p:cNvSpPr/>
          <p:nvPr/>
        </p:nvSpPr>
        <p:spPr>
          <a:xfrm>
            <a:off x="1410549" y="1985941"/>
            <a:ext cx="68262" cy="1320800"/>
          </a:xfrm>
          <a:prstGeom prst="rect">
            <a:avLst/>
          </a:prstGeom>
          <a:solidFill>
            <a:srgbClr val="67B649">
              <a:alpha val="4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67B649"/>
              </a:solidFill>
              <a:latin typeface="Calibri" panose="020F0502020204030204"/>
              <a:ea typeface="微软雅黑 Light" panose="020B0502040204020203" pitchFamily="34" charset="-122"/>
            </a:endParaRPr>
          </a:p>
        </p:txBody>
      </p:sp>
      <p:cxnSp>
        <p:nvCxnSpPr>
          <p:cNvPr id="3088" name="MH_Other_8"/>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277F0D"/>
                </a:solidFill>
                <a:ea typeface="微软雅黑 Light" panose="020B0502040204020203" pitchFamily="34" charset="-122"/>
              </a:rPr>
              <a:t>04</a:t>
            </a:r>
          </a:p>
        </p:txBody>
      </p:sp>
      <p:pic>
        <p:nvPicPr>
          <p:cNvPr id="454658" name="图片 1"/>
          <p:cNvPicPr>
            <a:picLocks noChangeAspect="1"/>
          </p:cNvPicPr>
          <p:nvPr/>
        </p:nvPicPr>
        <p:blipFill>
          <a:blip r:embed="rId2" cstate="print">
            <a:clrChange>
              <a:clrFrom>
                <a:srgbClr val="FFFFFF"/>
              </a:clrFrom>
              <a:clrTo>
                <a:srgbClr val="FFFFFF">
                  <a:alpha val="0"/>
                </a:srgbClr>
              </a:clrTo>
            </a:clrChange>
          </a:blip>
          <a:stretch>
            <a:fillRect/>
          </a:stretch>
        </p:blipFill>
        <p:spPr>
          <a:xfrm>
            <a:off x="8858013" y="3800124"/>
            <a:ext cx="2422525" cy="2422525"/>
          </a:xfrm>
          <a:prstGeom prst="rect">
            <a:avLst/>
          </a:prstGeom>
          <a:noFill/>
          <a:ln w="9525">
            <a:noFill/>
          </a:ln>
        </p:spPr>
      </p:pic>
    </p:spTree>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sp>
        <p:nvSpPr>
          <p:cNvPr id="3087" name="MH_Text_3"/>
          <p:cNvSpPr>
            <a:spLocks noChangeArrowheads="1"/>
          </p:cNvSpPr>
          <p:nvPr/>
        </p:nvSpPr>
        <p:spPr bwMode="auto">
          <a:xfrm>
            <a:off x="1578824" y="2880000"/>
            <a:ext cx="8082280" cy="1984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08000" tIns="108000" rIns="108000" bIns="108000">
            <a:spAutoFit/>
          </a:bodyPr>
          <a:lstStyle/>
          <a:p>
            <a:pPr indent="457200" algn="l" fontAlgn="auto">
              <a:lnSpc>
                <a:spcPct val="130000"/>
              </a:lnSpc>
              <a:defRPr/>
            </a:pPr>
            <a:r>
              <a:rPr lang="en-US" altLang="zh-CN" dirty="0"/>
              <a:t>维护是为了延长软件的寿命，让软件创造更多的价值。但是维护会产生潜在的错误或其他不希望出现的情况，称为维护的副作用。维护的副作用有</a:t>
            </a:r>
            <a:r>
              <a:rPr lang="zh-CN" altLang="en-US" dirty="0"/>
              <a:t>：</a:t>
            </a:r>
            <a:endParaRPr lang="en-US" altLang="zh-CN" dirty="0"/>
          </a:p>
          <a:p>
            <a:pPr indent="457200" algn="l" fontAlgn="auto">
              <a:lnSpc>
                <a:spcPct val="130000"/>
              </a:lnSpc>
              <a:defRPr/>
            </a:pPr>
            <a:r>
              <a:rPr lang="en-US" altLang="zh-CN" dirty="0"/>
              <a:t>1. 编码副作用</a:t>
            </a:r>
          </a:p>
          <a:p>
            <a:pPr indent="457200" algn="l" fontAlgn="auto">
              <a:lnSpc>
                <a:spcPct val="130000"/>
              </a:lnSpc>
              <a:defRPr/>
            </a:pPr>
            <a:r>
              <a:rPr lang="en-US" altLang="zh-CN" dirty="0"/>
              <a:t>2. 数据副作用</a:t>
            </a:r>
          </a:p>
          <a:p>
            <a:pPr indent="457200" algn="l" fontAlgn="auto">
              <a:lnSpc>
                <a:spcPct val="130000"/>
              </a:lnSpc>
              <a:defRPr/>
            </a:pPr>
            <a:r>
              <a:rPr lang="en-US" altLang="zh-CN" dirty="0"/>
              <a:t>3. 文档副作用</a:t>
            </a:r>
          </a:p>
        </p:txBody>
      </p:sp>
      <p:sp>
        <p:nvSpPr>
          <p:cNvPr id="4" name="MH_SubTitle_3">
            <a:extLst>
              <a:ext uri="{FF2B5EF4-FFF2-40B4-BE49-F238E27FC236}">
                <a16:creationId xmlns:a16="http://schemas.microsoft.com/office/drawing/2014/main" id="{8E681FF6-DEE8-8B1C-234A-0A4467D45521}"/>
              </a:ext>
            </a:extLst>
          </p:cNvPr>
          <p:cNvSpPr>
            <a:spLocks noChangeArrowheads="1"/>
          </p:cNvSpPr>
          <p:nvPr/>
        </p:nvSpPr>
        <p:spPr bwMode="auto">
          <a:xfrm>
            <a:off x="1478811" y="1970066"/>
            <a:ext cx="4572000" cy="600075"/>
          </a:xfrm>
          <a:prstGeom prst="rect">
            <a:avLst/>
          </a:prstGeom>
          <a:noFill/>
          <a:ln w="9525">
            <a:noFill/>
            <a:miter lim="800000"/>
          </a:ln>
        </p:spPr>
        <p:txBody>
          <a:bodyPr anchor="b"/>
          <a:lstStyle/>
          <a:p>
            <a:pPr eaLnBrk="1" hangingPunct="1"/>
            <a:r>
              <a:rPr lang="zh-CN" altLang="en-US" sz="2000" b="1" dirty="0">
                <a:solidFill>
                  <a:srgbClr val="B71F1E"/>
                </a:solidFill>
                <a:latin typeface="Arial" panose="020B0604020202020204" pitchFamily="34" charset="0"/>
                <a:ea typeface="微软雅黑 Light" panose="020B0502040204020203" pitchFamily="34" charset="-122"/>
                <a:cs typeface="Arial" panose="020B0604020202020204" pitchFamily="34" charset="0"/>
              </a:rPr>
              <a:t>维护副作用</a:t>
            </a:r>
          </a:p>
        </p:txBody>
      </p:sp>
      <p:sp>
        <p:nvSpPr>
          <p:cNvPr id="5" name="MH_Other_7">
            <a:extLst>
              <a:ext uri="{FF2B5EF4-FFF2-40B4-BE49-F238E27FC236}">
                <a16:creationId xmlns:a16="http://schemas.microsoft.com/office/drawing/2014/main" id="{E8771782-3145-E400-6C08-D0C0ACF97A5C}"/>
              </a:ext>
            </a:extLst>
          </p:cNvPr>
          <p:cNvSpPr/>
          <p:nvPr/>
        </p:nvSpPr>
        <p:spPr>
          <a:xfrm>
            <a:off x="1410549" y="1985941"/>
            <a:ext cx="68262" cy="1320800"/>
          </a:xfrm>
          <a:prstGeom prst="rect">
            <a:avLst/>
          </a:prstGeom>
          <a:solidFill>
            <a:srgbClr val="B71F1E"/>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dirty="0">
              <a:solidFill>
                <a:srgbClr val="FFFFFF"/>
              </a:solidFill>
              <a:latin typeface="Calibri" panose="020F0502020204030204"/>
              <a:ea typeface="微软雅黑 Light" panose="020B0502040204020203" pitchFamily="34" charset="-122"/>
            </a:endParaRPr>
          </a:p>
        </p:txBody>
      </p:sp>
      <p:cxnSp>
        <p:nvCxnSpPr>
          <p:cNvPr id="6" name="MH_Other_8">
            <a:extLst>
              <a:ext uri="{FF2B5EF4-FFF2-40B4-BE49-F238E27FC236}">
                <a16:creationId xmlns:a16="http://schemas.microsoft.com/office/drawing/2014/main" id="{1F675294-A0BC-6FF2-7D2A-9B86877AF4C0}"/>
              </a:ext>
            </a:extLst>
          </p:cNvPr>
          <p:cNvCxnSpPr>
            <a:cxnSpLocks noChangeShapeType="1"/>
          </p:cNvCxnSpPr>
          <p:nvPr/>
        </p:nvCxnSpPr>
        <p:spPr bwMode="auto">
          <a:xfrm flipV="1">
            <a:off x="1578824" y="2561196"/>
            <a:ext cx="9933945" cy="8947"/>
          </a:xfrm>
          <a:prstGeom prst="line">
            <a:avLst/>
          </a:prstGeom>
          <a:noFill/>
          <a:ln w="19050" algn="ctr">
            <a:solidFill>
              <a:srgbClr val="BFBFBF"/>
            </a:solidFill>
            <a:prstDash val="sysDash"/>
            <a:miter lim="800000"/>
          </a:ln>
        </p:spPr>
      </p:cxnSp>
      <p:sp>
        <p:nvSpPr>
          <p:cNvPr id="7" name="MH_Other_9">
            <a:extLst>
              <a:ext uri="{FF2B5EF4-FFF2-40B4-BE49-F238E27FC236}">
                <a16:creationId xmlns:a16="http://schemas.microsoft.com/office/drawing/2014/main" id="{F2692FEE-9659-CBD0-D690-A0787AE24B3D}"/>
              </a:ext>
            </a:extLst>
          </p:cNvPr>
          <p:cNvSpPr txBox="1">
            <a:spLocks noChangeArrowheads="1"/>
          </p:cNvSpPr>
          <p:nvPr/>
        </p:nvSpPr>
        <p:spPr bwMode="auto">
          <a:xfrm>
            <a:off x="671567" y="1985623"/>
            <a:ext cx="738664" cy="1303338"/>
          </a:xfrm>
          <a:prstGeom prst="rect">
            <a:avLst/>
          </a:prstGeom>
          <a:noFill/>
          <a:ln w="9525">
            <a:noFill/>
            <a:miter lim="800000"/>
          </a:ln>
        </p:spPr>
        <p:txBody>
          <a:bodyPr vert="eaVert" lIns="0" tIns="0" rIns="0" bIns="0">
            <a:spAutoFit/>
          </a:bodyPr>
          <a:lstStyle/>
          <a:p>
            <a:pPr algn="ctr" eaLnBrk="1" hangingPunct="1"/>
            <a:r>
              <a:rPr lang="en-US" altLang="zh-CN" sz="4800" b="1" dirty="0">
                <a:solidFill>
                  <a:srgbClr val="B71F1E"/>
                </a:solidFill>
                <a:ea typeface="微软雅黑 Light" panose="020B0502040204020203" pitchFamily="34" charset="-122"/>
              </a:rPr>
              <a:t>05</a:t>
            </a:r>
          </a:p>
        </p:txBody>
      </p:sp>
      <p:pic>
        <p:nvPicPr>
          <p:cNvPr id="460802" name="图片 1" descr="Comp_8011070746.jpg"/>
          <p:cNvPicPr>
            <a:picLocks noGrp="1" noChangeAspect="1"/>
          </p:cNvPicPr>
          <p:nvPr/>
        </p:nvPicPr>
        <p:blipFill>
          <a:blip r:embed="rId2" cstate="print"/>
          <a:stretch>
            <a:fillRect/>
          </a:stretch>
        </p:blipFill>
        <p:spPr>
          <a:xfrm>
            <a:off x="8611738" y="0"/>
            <a:ext cx="2731930" cy="2538484"/>
          </a:xfrm>
          <a:prstGeom prst="rect">
            <a:avLst/>
          </a:prstGeom>
          <a:noFill/>
          <a:ln w="9525">
            <a:noFill/>
          </a:ln>
        </p:spPr>
      </p:pic>
    </p:spTree>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5.1.3 </a:t>
            </a:r>
            <a:r>
              <a:rPr lang="zh-CN" altLang="en-US" sz="2400" dirty="0">
                <a:solidFill>
                  <a:schemeClr val="tx1"/>
                </a:solidFill>
              </a:rPr>
              <a:t>软件维护过程</a:t>
            </a:r>
            <a:endParaRPr lang="en-US" altLang="zh-CN" sz="2400" dirty="0">
              <a:solidFill>
                <a:schemeClr val="tx1"/>
              </a:solidFill>
            </a:endParaRPr>
          </a:p>
        </p:txBody>
      </p:sp>
      <p:grpSp>
        <p:nvGrpSpPr>
          <p:cNvPr id="23" name="组合 22"/>
          <p:cNvGrpSpPr/>
          <p:nvPr/>
        </p:nvGrpSpPr>
        <p:grpSpPr>
          <a:xfrm>
            <a:off x="4417060" y="2137410"/>
            <a:ext cx="2858135" cy="26670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数据副作用</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文档副作用</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编码副作用</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0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软件维护副作用</a:t>
              </a:r>
            </a:p>
          </p:txBody>
        </p:sp>
      </p:grpSp>
      <p:sp>
        <p:nvSpPr>
          <p:cNvPr id="34" name="MH_Other_2"/>
          <p:cNvSpPr/>
          <p:nvPr>
            <p:custDataLst>
              <p:tags r:id="rId1"/>
            </p:custDataLst>
          </p:nvPr>
        </p:nvSpPr>
        <p:spPr>
          <a:xfrm rot="16200000" flipH="1" flipV="1">
            <a:off x="6946075" y="178579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7526020" y="1989420"/>
            <a:ext cx="3633392" cy="20603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fontAlgn="auto">
              <a:lnSpc>
                <a:spcPct val="120000"/>
              </a:lnSpc>
              <a:defRPr/>
            </a:pPr>
            <a:r>
              <a:rPr lang="zh-CN" altLang="en-US" dirty="0">
                <a:latin typeface="+mn-ea"/>
                <a:ea typeface="+mn-ea"/>
                <a:sym typeface="+mn-ea"/>
              </a:rPr>
              <a:t>修改数据结构可能造成软件设计与</a:t>
            </a:r>
            <a:r>
              <a:rPr lang="zh-CN" altLang="en-US" dirty="0">
                <a:solidFill>
                  <a:srgbClr val="E67819"/>
                </a:solidFill>
                <a:latin typeface="+mn-ea"/>
                <a:ea typeface="+mn-ea"/>
                <a:sym typeface="+mn-ea"/>
              </a:rPr>
              <a:t>数据结构不匹配</a:t>
            </a:r>
            <a:r>
              <a:rPr lang="zh-CN" altLang="en-US" dirty="0">
                <a:latin typeface="+mn-ea"/>
                <a:ea typeface="+mn-ea"/>
                <a:sym typeface="+mn-ea"/>
              </a:rPr>
              <a:t>，从而导致软件错误。例如，修改局部量、全局量、记录或文件的格式、初始化控制或指针、输入输出或子程序的参数等。</a:t>
            </a:r>
          </a:p>
        </p:txBody>
      </p:sp>
      <p:sp>
        <p:nvSpPr>
          <p:cNvPr id="36" name="MH_Other_2"/>
          <p:cNvSpPr/>
          <p:nvPr>
            <p:custDataLst>
              <p:tags r:id="rId3"/>
            </p:custDataLst>
          </p:nvPr>
        </p:nvSpPr>
        <p:spPr>
          <a:xfrm rot="16200000">
            <a:off x="4502273" y="2128974"/>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532824" y="2841068"/>
            <a:ext cx="3852000" cy="106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lgn="l">
              <a:lnSpc>
                <a:spcPct val="120000"/>
              </a:lnSpc>
              <a:defRPr/>
            </a:pPr>
            <a:r>
              <a:rPr lang="zh-CN" altLang="en-US" dirty="0">
                <a:latin typeface="+mn-ea"/>
                <a:ea typeface="+mn-ea"/>
              </a:rPr>
              <a:t>修改源程序时可能引入</a:t>
            </a:r>
            <a:r>
              <a:rPr lang="zh-CN" altLang="en-US" dirty="0">
                <a:solidFill>
                  <a:srgbClr val="E67819"/>
                </a:solidFill>
                <a:latin typeface="+mn-ea"/>
                <a:ea typeface="+mn-ea"/>
              </a:rPr>
              <a:t>错误</a:t>
            </a:r>
            <a:r>
              <a:rPr lang="zh-CN" altLang="en-US" dirty="0">
                <a:latin typeface="+mn-ea"/>
                <a:ea typeface="+mn-ea"/>
              </a:rPr>
              <a:t>。例如，修改程序的标识符、运算符、边界条件、程序的时序关系等。</a:t>
            </a:r>
          </a:p>
        </p:txBody>
      </p:sp>
      <p:sp>
        <p:nvSpPr>
          <p:cNvPr id="38" name="MH_Other_2"/>
          <p:cNvSpPr/>
          <p:nvPr>
            <p:custDataLst>
              <p:tags r:id="rId5"/>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2720569" y="5142916"/>
            <a:ext cx="8438843" cy="11393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indent="457200" algn="l">
              <a:lnSpc>
                <a:spcPct val="130000"/>
              </a:lnSpc>
              <a:defRPr/>
            </a:pPr>
            <a:r>
              <a:rPr lang="zh-CN" altLang="en-US" dirty="0">
                <a:latin typeface="+mn-ea"/>
                <a:ea typeface="+mn-ea"/>
                <a:sym typeface="+mn-ea"/>
              </a:rPr>
              <a:t>修改数据流、软件结构、模块逻辑或其他特性时，必须对相关的文档进行相应的修改，否则可能会导致</a:t>
            </a:r>
            <a:r>
              <a:rPr lang="zh-CN" altLang="en-US" dirty="0">
                <a:solidFill>
                  <a:srgbClr val="E67819"/>
                </a:solidFill>
                <a:latin typeface="+mn-ea"/>
                <a:ea typeface="+mn-ea"/>
                <a:sym typeface="+mn-ea"/>
              </a:rPr>
              <a:t>文档与程序功能不匹配</a:t>
            </a:r>
            <a:r>
              <a:rPr lang="zh-CN" altLang="en-US" dirty="0">
                <a:latin typeface="+mn-ea"/>
                <a:ea typeface="+mn-ea"/>
                <a:sym typeface="+mn-ea"/>
              </a:rPr>
              <a:t>、文档不能反映软件当前的状态。因此，交付之前对软件配置进行评审。</a:t>
            </a:r>
          </a:p>
        </p:txBody>
      </p:sp>
      <p:sp>
        <p:nvSpPr>
          <p:cNvPr id="7" name="文本框 6">
            <a:extLst>
              <a:ext uri="{FF2B5EF4-FFF2-40B4-BE49-F238E27FC236}">
                <a16:creationId xmlns:a16="http://schemas.microsoft.com/office/drawing/2014/main" id="{DEEC981A-159D-8079-7CCE-DFFC6EBF666A}"/>
              </a:ext>
            </a:extLst>
          </p:cNvPr>
          <p:cNvSpPr txBox="1"/>
          <p:nvPr/>
        </p:nvSpPr>
        <p:spPr>
          <a:xfrm>
            <a:off x="7526020" y="1681389"/>
            <a:ext cx="1338828" cy="396391"/>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数据副作用</a:t>
            </a:r>
            <a:endParaRPr lang="en-US" altLang="zh-CN" dirty="0">
              <a:ea typeface="微软雅黑 Light" panose="020B0502040204020203" pitchFamily="34" charset="-122"/>
            </a:endParaRPr>
          </a:p>
        </p:txBody>
      </p:sp>
      <p:sp>
        <p:nvSpPr>
          <p:cNvPr id="13" name="文本框 12">
            <a:extLst>
              <a:ext uri="{FF2B5EF4-FFF2-40B4-BE49-F238E27FC236}">
                <a16:creationId xmlns:a16="http://schemas.microsoft.com/office/drawing/2014/main" id="{5752F7E2-0CDC-EADE-4396-29E1B45F10CB}"/>
              </a:ext>
            </a:extLst>
          </p:cNvPr>
          <p:cNvSpPr txBox="1"/>
          <p:nvPr/>
        </p:nvSpPr>
        <p:spPr>
          <a:xfrm>
            <a:off x="3045996" y="2456743"/>
            <a:ext cx="1338828" cy="396583"/>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编码副作用</a:t>
            </a:r>
          </a:p>
        </p:txBody>
      </p:sp>
      <p:sp>
        <p:nvSpPr>
          <p:cNvPr id="14" name="文本框 13">
            <a:extLst>
              <a:ext uri="{FF2B5EF4-FFF2-40B4-BE49-F238E27FC236}">
                <a16:creationId xmlns:a16="http://schemas.microsoft.com/office/drawing/2014/main" id="{CC762EDD-1A89-7E6E-DC53-340D0FD6CF38}"/>
              </a:ext>
            </a:extLst>
          </p:cNvPr>
          <p:cNvSpPr txBox="1"/>
          <p:nvPr/>
        </p:nvSpPr>
        <p:spPr>
          <a:xfrm>
            <a:off x="2720569" y="4822626"/>
            <a:ext cx="1338828" cy="396391"/>
          </a:xfrm>
          <a:prstGeom prst="rect">
            <a:avLst/>
          </a:prstGeom>
          <a:noFill/>
        </p:spPr>
        <p:txBody>
          <a:bodyPr wrap="none" rtlCol="0">
            <a:spAutoFit/>
          </a:bodyPr>
          <a:lstStyle/>
          <a:p>
            <a:pPr>
              <a:lnSpc>
                <a:spcPct val="120000"/>
              </a:lnSpc>
            </a:pPr>
            <a:r>
              <a:rPr lang="zh-CN" altLang="en-US" b="1" dirty="0">
                <a:solidFill>
                  <a:srgbClr val="00B0F0"/>
                </a:solidFill>
                <a:latin typeface="微软雅黑" panose="020B0503020204020204" charset="-122"/>
                <a:ea typeface="微软雅黑" panose="020B0503020204020204" charset="-122"/>
              </a:rPr>
              <a:t>文档副作用</a:t>
            </a:r>
            <a:endParaRPr lang="zh-CN" altLang="en-US" dirty="0">
              <a:solidFill>
                <a:schemeClr val="bg1"/>
              </a:solidFill>
            </a:endParaRPr>
          </a:p>
        </p:txBody>
      </p:sp>
    </p:spTree>
  </p:cSld>
  <p:clrMapOvr>
    <a:masterClrMapping/>
  </p:clrMapOvr>
  <p:transition>
    <p:zo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1" y="360000"/>
            <a:ext cx="5257200" cy="535531"/>
          </a:xfrm>
        </p:spPr>
        <p:txBody>
          <a:bodyPr/>
          <a:lstStyle/>
          <a:p>
            <a:r>
              <a:rPr lang="en-US" dirty="0">
                <a:sym typeface="+mn-ea"/>
              </a:rPr>
              <a:t>5.1 </a:t>
            </a:r>
            <a:r>
              <a:rPr lang="zh-CN" altLang="en-US" dirty="0">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0" name="矩形 9"/>
          <p:cNvSpPr/>
          <p:nvPr/>
        </p:nvSpPr>
        <p:spPr>
          <a:xfrm>
            <a:off x="0" y="2443480"/>
            <a:ext cx="12192000" cy="3074035"/>
          </a:xfrm>
          <a:prstGeom prst="rect">
            <a:avLst/>
          </a:prstGeom>
          <a:solidFill>
            <a:srgbClr val="008080"/>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dirty="0"/>
          </a:p>
        </p:txBody>
      </p:sp>
      <p:sp>
        <p:nvSpPr>
          <p:cNvPr id="7" name="矩形 6"/>
          <p:cNvSpPr/>
          <p:nvPr/>
        </p:nvSpPr>
        <p:spPr>
          <a:xfrm>
            <a:off x="754380" y="2949575"/>
            <a:ext cx="6479540" cy="1737360"/>
          </a:xfrm>
          <a:prstGeom prst="rect">
            <a:avLst/>
          </a:prstGeom>
        </p:spPr>
        <p:txBody>
          <a:bodyPr wrap="square">
            <a:spAutoFit/>
          </a:bodyPr>
          <a:lstStyle/>
          <a:p>
            <a:pPr indent="457200">
              <a:lnSpc>
                <a:spcPct val="150000"/>
              </a:lnSpc>
              <a:defRPr/>
            </a:pPr>
            <a:r>
              <a:rPr lang="en-US" altLang="zh-CN" dirty="0">
                <a:solidFill>
                  <a:schemeClr val="bg1"/>
                </a:solidFill>
              </a:rPr>
              <a:t>软件可维护性是指软件功能被理解、改正、适应和增强的难易程度，是维护人员对软件进行维护的难易程度。可维护性是指导软件工程各阶段的一条基本原则，提高可维护性是软件工程追求的目标之一</a:t>
            </a:r>
          </a:p>
        </p:txBody>
      </p:sp>
      <p:pic>
        <p:nvPicPr>
          <p:cNvPr id="8" name="图片 7" descr="A000220150821A64PPIC.png"/>
          <p:cNvPicPr>
            <a:picLocks noChangeAspect="1"/>
          </p:cNvPicPr>
          <p:nvPr/>
        </p:nvPicPr>
        <p:blipFill>
          <a:blip r:embed="rId2" cstate="print"/>
          <a:stretch>
            <a:fillRect/>
          </a:stretch>
        </p:blipFill>
        <p:spPr>
          <a:xfrm>
            <a:off x="7586345" y="1800225"/>
            <a:ext cx="4364990" cy="3041650"/>
          </a:xfrm>
          <a:prstGeom prst="rect">
            <a:avLst/>
          </a:prstGeom>
        </p:spPr>
      </p:pic>
    </p:spTree>
  </p:cSld>
  <p:clrMapOvr>
    <a:masterClrMapping/>
  </p:clrMapOvr>
  <p:transition>
    <p:zoom/>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5" name="Oval 15"/>
          <p:cNvSpPr>
            <a:spLocks noChangeArrowheads="1"/>
          </p:cNvSpPr>
          <p:nvPr>
            <p:custDataLst>
              <p:tags r:id="rId1"/>
            </p:custDataLst>
          </p:nvPr>
        </p:nvSpPr>
        <p:spPr bwMode="auto">
          <a:xfrm>
            <a:off x="3834979" y="2609414"/>
            <a:ext cx="3149506"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3662473" y="4207709"/>
            <a:ext cx="3479298"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5402122" y="2374464"/>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4"/>
            </p:custDataLst>
          </p:nvPr>
        </p:nvSpPr>
        <p:spPr bwMode="gray">
          <a:xfrm>
            <a:off x="4007485" y="2789754"/>
            <a:ext cx="2786102"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4325861" y="3126939"/>
            <a:ext cx="2134764" cy="2181860"/>
          </a:xfrm>
          <a:prstGeom prst="ellipse">
            <a:avLst/>
          </a:prstGeom>
          <a:solidFill>
            <a:schemeClr val="bg1">
              <a:lumMod val="85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6"/>
            </p:custDataLst>
          </p:nvPr>
        </p:nvSpPr>
        <p:spPr bwMode="gray">
          <a:xfrm>
            <a:off x="4710194" y="3519369"/>
            <a:ext cx="1366731" cy="1397635"/>
          </a:xfrm>
          <a:prstGeom prst="ellipse">
            <a:avLst/>
          </a:prstGeom>
          <a:solidFill>
            <a:srgbClr val="92D050"/>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微软雅黑 Light" panose="020B0502040204020203" pitchFamily="34" charset="-122"/>
                <a:cs typeface="黑体" panose="02010609060101010101" pitchFamily="49" charset="-122"/>
              </a:rPr>
              <a:t>可维护性</a:t>
            </a:r>
          </a:p>
        </p:txBody>
      </p:sp>
      <p:sp>
        <p:nvSpPr>
          <p:cNvPr id="43" name="Oval 19"/>
          <p:cNvSpPr>
            <a:spLocks noChangeArrowheads="1"/>
          </p:cNvSpPr>
          <p:nvPr>
            <p:custDataLst>
              <p:tags r:id="rId7"/>
            </p:custDataLst>
          </p:nvPr>
        </p:nvSpPr>
        <p:spPr bwMode="gray">
          <a:xfrm>
            <a:off x="5573360" y="253829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6596982" y="2220794"/>
            <a:ext cx="4879672" cy="422405"/>
          </a:xfrm>
          <a:prstGeom prst="rect">
            <a:avLst/>
          </a:prstGeom>
          <a:noFill/>
        </p:spPr>
        <p:txBody>
          <a:bodyPr wrap="square" lIns="72000" tIns="72000" rIns="72000" bIns="72000">
            <a:spAutoFit/>
          </a:bodyPr>
          <a:lstStyle/>
          <a:p>
            <a:pPr>
              <a:defRPr/>
            </a:pPr>
            <a:r>
              <a:rPr dirty="0"/>
              <a:t>1</a:t>
            </a:r>
            <a:r>
              <a:rPr lang="en-US" dirty="0"/>
              <a:t>. </a:t>
            </a:r>
            <a:r>
              <a:rPr dirty="0" err="1"/>
              <a:t>是否拥有一组训练有素的软件人员</a:t>
            </a:r>
            <a:endParaRPr dirty="0"/>
          </a:p>
        </p:txBody>
      </p:sp>
      <p:sp>
        <p:nvSpPr>
          <p:cNvPr id="46" name="Oval 19"/>
          <p:cNvSpPr>
            <a:spLocks noChangeArrowheads="1"/>
          </p:cNvSpPr>
          <p:nvPr>
            <p:custDataLst>
              <p:tags r:id="rId9"/>
            </p:custDataLst>
          </p:nvPr>
        </p:nvSpPr>
        <p:spPr bwMode="gray">
          <a:xfrm>
            <a:off x="6209476" y="299295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7488686" y="3314623"/>
            <a:ext cx="3987968" cy="422405"/>
          </a:xfrm>
          <a:prstGeom prst="rect">
            <a:avLst/>
          </a:prstGeom>
          <a:noFill/>
        </p:spPr>
        <p:txBody>
          <a:bodyPr wrap="square" lIns="72000" tIns="72000" rIns="72000" bIns="72000">
            <a:spAutoFit/>
          </a:bodyPr>
          <a:lstStyle/>
          <a:p>
            <a:pPr>
              <a:defRPr/>
            </a:pPr>
            <a:r>
              <a:rPr dirty="0"/>
              <a:t>3</a:t>
            </a:r>
            <a:r>
              <a:rPr lang="en-US" dirty="0"/>
              <a:t>. </a:t>
            </a:r>
            <a:r>
              <a:rPr dirty="0" err="1"/>
              <a:t>文档结构是否标准化</a:t>
            </a:r>
            <a:endParaRPr dirty="0"/>
          </a:p>
        </p:txBody>
      </p:sp>
      <p:sp>
        <p:nvSpPr>
          <p:cNvPr id="49" name="Oval 19"/>
          <p:cNvSpPr>
            <a:spLocks noChangeArrowheads="1"/>
          </p:cNvSpPr>
          <p:nvPr>
            <p:custDataLst>
              <p:tags r:id="rId11"/>
            </p:custDataLst>
          </p:nvPr>
        </p:nvSpPr>
        <p:spPr bwMode="gray">
          <a:xfrm>
            <a:off x="6596981" y="4092774"/>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2"/>
            </p:custDataLst>
          </p:nvPr>
        </p:nvSpPr>
        <p:spPr>
          <a:xfrm>
            <a:off x="7488686" y="4457761"/>
            <a:ext cx="3987967" cy="422405"/>
          </a:xfrm>
          <a:prstGeom prst="rect">
            <a:avLst/>
          </a:prstGeom>
          <a:noFill/>
        </p:spPr>
        <p:txBody>
          <a:bodyPr wrap="square" lIns="72000" tIns="72000" rIns="72000" bIns="72000">
            <a:spAutoFit/>
          </a:bodyPr>
          <a:lstStyle/>
          <a:p>
            <a:pPr>
              <a:defRPr/>
            </a:pPr>
            <a:r>
              <a:rPr lang="zh-CN" altLang="en-US" dirty="0"/>
              <a:t>5</a:t>
            </a:r>
            <a:r>
              <a:rPr lang="en-US" altLang="zh-CN" dirty="0"/>
              <a:t>. </a:t>
            </a:r>
            <a:r>
              <a:rPr lang="zh-CN" altLang="en-US" dirty="0"/>
              <a:t>是否已有嵌入系统的调试工具</a:t>
            </a:r>
          </a:p>
        </p:txBody>
      </p:sp>
      <p:sp>
        <p:nvSpPr>
          <p:cNvPr id="53" name="Oval 19"/>
          <p:cNvSpPr>
            <a:spLocks noChangeArrowheads="1"/>
          </p:cNvSpPr>
          <p:nvPr>
            <p:custDataLst>
              <p:tags r:id="rId13"/>
            </p:custDataLst>
          </p:nvPr>
        </p:nvSpPr>
        <p:spPr bwMode="gray">
          <a:xfrm>
            <a:off x="6209476" y="5057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4"/>
            </p:custDataLst>
          </p:nvPr>
        </p:nvSpPr>
        <p:spPr>
          <a:xfrm>
            <a:off x="6460624" y="5600899"/>
            <a:ext cx="5016027" cy="422405"/>
          </a:xfrm>
          <a:prstGeom prst="rect">
            <a:avLst/>
          </a:prstGeom>
          <a:noFill/>
        </p:spPr>
        <p:txBody>
          <a:bodyPr wrap="square" lIns="72000" tIns="72000" rIns="72000" bIns="72000">
            <a:spAutoFit/>
          </a:bodyPr>
          <a:lstStyle/>
          <a:p>
            <a:pPr>
              <a:defRPr/>
            </a:pPr>
            <a:r>
              <a:rPr lang="zh-CN" altLang="en-US" dirty="0"/>
              <a:t>7</a:t>
            </a:r>
            <a:r>
              <a:rPr lang="en-US" altLang="zh-CN" dirty="0"/>
              <a:t>. </a:t>
            </a:r>
            <a:r>
              <a:rPr lang="zh-CN" altLang="en-US" dirty="0"/>
              <a:t>是否使用了标准的操作系统</a:t>
            </a:r>
          </a:p>
        </p:txBody>
      </p:sp>
      <p:sp>
        <p:nvSpPr>
          <p:cNvPr id="56" name="Oval 19"/>
          <p:cNvSpPr>
            <a:spLocks noChangeArrowheads="1"/>
          </p:cNvSpPr>
          <p:nvPr>
            <p:custDataLst>
              <p:tags r:id="rId15"/>
            </p:custDataLst>
          </p:nvPr>
        </p:nvSpPr>
        <p:spPr bwMode="gray">
          <a:xfrm>
            <a:off x="5573360" y="560089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7640896" y="3886192"/>
            <a:ext cx="3835757" cy="422405"/>
          </a:xfrm>
          <a:prstGeom prst="rect">
            <a:avLst/>
          </a:prstGeom>
          <a:noFill/>
        </p:spPr>
        <p:txBody>
          <a:bodyPr wrap="square" lIns="72000" tIns="72000" rIns="72000" bIns="72000">
            <a:spAutoFit/>
          </a:bodyPr>
          <a:lstStyle/>
          <a:p>
            <a:pPr>
              <a:defRPr/>
            </a:pPr>
            <a:r>
              <a:rPr dirty="0">
                <a:sym typeface="+mn-ea"/>
              </a:rPr>
              <a:t>4</a:t>
            </a:r>
            <a:r>
              <a:rPr lang="en-US" dirty="0">
                <a:sym typeface="+mn-ea"/>
              </a:rPr>
              <a:t>. </a:t>
            </a:r>
            <a:r>
              <a:rPr dirty="0" err="1">
                <a:sym typeface="+mn-ea"/>
              </a:rPr>
              <a:t>测试用例是否合适</a:t>
            </a:r>
            <a:endParaRPr dirty="0">
              <a:sym typeface="+mn-ea"/>
            </a:endParaRPr>
          </a:p>
        </p:txBody>
      </p:sp>
      <p:sp>
        <p:nvSpPr>
          <p:cNvPr id="13" name="Oval 19"/>
          <p:cNvSpPr>
            <a:spLocks noChangeArrowheads="1"/>
          </p:cNvSpPr>
          <p:nvPr>
            <p:custDataLst>
              <p:tags r:id="rId17"/>
            </p:custDataLst>
          </p:nvPr>
        </p:nvSpPr>
        <p:spPr bwMode="gray">
          <a:xfrm>
            <a:off x="6758071" y="340633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8"/>
            </p:custDataLst>
          </p:nvPr>
        </p:nvSpPr>
        <p:spPr bwMode="gray">
          <a:xfrm>
            <a:off x="6733337" y="4805879"/>
            <a:ext cx="251149"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984486" y="2792363"/>
            <a:ext cx="4492168" cy="422405"/>
          </a:xfrm>
          <a:prstGeom prst="rect">
            <a:avLst/>
          </a:prstGeom>
          <a:noFill/>
        </p:spPr>
        <p:txBody>
          <a:bodyPr wrap="square" lIns="72000" tIns="72000" rIns="72000" bIns="72000" rtlCol="0" anchor="t">
            <a:spAutoFit/>
          </a:bodyPr>
          <a:lstStyle/>
          <a:p>
            <a:pPr algn="l"/>
            <a:r>
              <a:rPr dirty="0">
                <a:sym typeface="+mn-ea"/>
              </a:rPr>
              <a:t>2</a:t>
            </a:r>
            <a:r>
              <a:rPr lang="en-US" dirty="0">
                <a:sym typeface="+mn-ea"/>
              </a:rPr>
              <a:t>. </a:t>
            </a:r>
            <a:r>
              <a:rPr dirty="0" err="1">
                <a:sym typeface="+mn-ea"/>
              </a:rPr>
              <a:t>系统结构是否可理解、是否合理</a:t>
            </a:r>
            <a:endParaRPr dirty="0">
              <a:sym typeface="+mn-ea"/>
            </a:endParaRPr>
          </a:p>
        </p:txBody>
      </p:sp>
      <p:sp>
        <p:nvSpPr>
          <p:cNvPr id="16" name="文本框 15"/>
          <p:cNvSpPr txBox="1"/>
          <p:nvPr/>
        </p:nvSpPr>
        <p:spPr>
          <a:xfrm>
            <a:off x="7009219" y="5029330"/>
            <a:ext cx="4467433" cy="422405"/>
          </a:xfrm>
          <a:prstGeom prst="rect">
            <a:avLst/>
          </a:prstGeom>
          <a:noFill/>
        </p:spPr>
        <p:txBody>
          <a:bodyPr wrap="square" lIns="72000" tIns="72000" rIns="72000" bIns="72000" rtlCol="0" anchor="t">
            <a:spAutoFit/>
          </a:bodyPr>
          <a:lstStyle/>
          <a:p>
            <a:pPr algn="l">
              <a:defRPr/>
            </a:pPr>
            <a:r>
              <a:rPr lang="zh-CN" altLang="en-US" dirty="0">
                <a:sym typeface="+mn-ea"/>
              </a:rPr>
              <a:t>6</a:t>
            </a:r>
            <a:r>
              <a:rPr lang="en-US" altLang="zh-CN" dirty="0">
                <a:sym typeface="+mn-ea"/>
              </a:rPr>
              <a:t>. </a:t>
            </a:r>
            <a:r>
              <a:rPr lang="zh-CN" altLang="en-US" dirty="0">
                <a:sym typeface="+mn-ea"/>
              </a:rPr>
              <a:t>是否使用了合适的程序设计语言</a:t>
            </a:r>
          </a:p>
        </p:txBody>
      </p:sp>
      <p:sp>
        <p:nvSpPr>
          <p:cNvPr id="167" name="圆角矩形"/>
          <p:cNvSpPr/>
          <p:nvPr/>
        </p:nvSpPr>
        <p:spPr>
          <a:xfrm>
            <a:off x="964281" y="2926613"/>
            <a:ext cx="2420620" cy="287337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algn="l" eaLnBrk="1" fontAlgn="auto" hangingPunct="1">
              <a:lnSpc>
                <a:spcPct val="120000"/>
              </a:lnSpc>
              <a:spcBef>
                <a:spcPts val="0"/>
              </a:spcBef>
              <a:spcAft>
                <a:spcPts val="0"/>
              </a:spcAft>
              <a:defRPr/>
            </a:pPr>
            <a:r>
              <a:rPr lang="zh-CN" altLang="en-US" sz="1600" dirty="0">
                <a:solidFill>
                  <a:schemeClr val="tx1"/>
                </a:solidFill>
              </a:rPr>
              <a:t>造成软件维护工作变得困难的原因是多方面的，有维护人员素质方面的因素，也有技术条件和管理方面的因素等。与开发环境有关的可维护性影响因素如右</a:t>
            </a:r>
          </a:p>
        </p:txBody>
      </p:sp>
      <p:sp>
        <p:nvSpPr>
          <p:cNvPr id="2" name="学士帽"/>
          <p:cNvSpPr/>
          <p:nvPr/>
        </p:nvSpPr>
        <p:spPr bwMode="auto">
          <a:xfrm>
            <a:off x="769336" y="2713253"/>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1"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2" name="直接连接符 3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4"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决定软件可维护性的因素</a:t>
            </a:r>
          </a:p>
        </p:txBody>
      </p:sp>
    </p:spTree>
  </p:cSld>
  <p:clrMapOvr>
    <a:masterClrMapping/>
  </p:clrMapOvr>
  <p:transition>
    <p:zoom/>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cxnSp>
        <p:nvCxnSpPr>
          <p:cNvPr id="40" name="MH_Other_5"/>
          <p:cNvCxnSpPr/>
          <p:nvPr/>
        </p:nvCxnSpPr>
        <p:spPr>
          <a:xfrm>
            <a:off x="949960" y="2232660"/>
            <a:ext cx="237299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43" name="MH_Other_6"/>
          <p:cNvCxnSpPr/>
          <p:nvPr/>
        </p:nvCxnSpPr>
        <p:spPr>
          <a:xfrm>
            <a:off x="949960" y="2427605"/>
            <a:ext cx="0" cy="74168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3" name="MH_Other_7"/>
          <p:cNvCxnSpPr/>
          <p:nvPr/>
        </p:nvCxnSpPr>
        <p:spPr>
          <a:xfrm rot="10800000">
            <a:off x="5240655" y="6099810"/>
            <a:ext cx="237172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4" name="MH_Other_8"/>
          <p:cNvCxnSpPr/>
          <p:nvPr/>
        </p:nvCxnSpPr>
        <p:spPr>
          <a:xfrm rot="10800000">
            <a:off x="7611110" y="5161280"/>
            <a:ext cx="0" cy="741045"/>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sp>
        <p:nvSpPr>
          <p:cNvPr id="5135" name="MH_Desc_1"/>
          <p:cNvSpPr txBox="1">
            <a:spLocks noChangeArrowheads="1"/>
          </p:cNvSpPr>
          <p:nvPr/>
        </p:nvSpPr>
        <p:spPr bwMode="auto">
          <a:xfrm>
            <a:off x="1072515" y="2540211"/>
            <a:ext cx="6289040" cy="3182832"/>
          </a:xfrm>
          <a:prstGeom prst="rect">
            <a:avLst/>
          </a:prstGeom>
          <a:noFill/>
          <a:ln w="9525">
            <a:noFill/>
            <a:miter lim="800000"/>
          </a:ln>
        </p:spPr>
        <p:txBody>
          <a:bodyPr lIns="108000" tIns="108000" rIns="108000" bIns="108000"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pPr>
            <a:r>
              <a:rPr lang="en-US" altLang="zh-CN" dirty="0"/>
              <a:t>以上影响软件可维护性的因素中，结构合理性是软件设计时应当考虑的。系统结构若不合理，对其维护当然困难较大。所谓结构的合理性主要是以下列几点为基础的：模块化、层次组织、系统文档的结构、命令的格式和约定、程序的复杂性等</a:t>
            </a:r>
            <a:r>
              <a:rPr lang="zh-CN" altLang="en-US" dirty="0"/>
              <a:t>。</a:t>
            </a:r>
          </a:p>
          <a:p>
            <a:pPr indent="457200" algn="l" fontAlgn="auto">
              <a:lnSpc>
                <a:spcPct val="120000"/>
              </a:lnSpc>
            </a:pPr>
            <a:r>
              <a:rPr lang="en-US" altLang="zh-CN" dirty="0"/>
              <a:t>其他影响软件可维护性的因素还有应用的类型、使用的数据库技术、开关与标号的数量、IF语句的嵌套层次、索引或下标变量的数量等。</a:t>
            </a:r>
          </a:p>
          <a:p>
            <a:pPr indent="457200" algn="l" fontAlgn="auto">
              <a:lnSpc>
                <a:spcPct val="120000"/>
              </a:lnSpc>
            </a:pPr>
            <a:r>
              <a:rPr lang="en-US" altLang="zh-CN" dirty="0"/>
              <a:t>此外软件开发人员是否能参加维护也是值得考虑的因素。</a:t>
            </a:r>
          </a:p>
        </p:txBody>
      </p:sp>
      <p:pic>
        <p:nvPicPr>
          <p:cNvPr id="4" name="图片 3" descr="A000220150319F73PPIC.png"/>
          <p:cNvPicPr>
            <a:picLocks noChangeAspect="1"/>
          </p:cNvPicPr>
          <p:nvPr/>
        </p:nvPicPr>
        <p:blipFill>
          <a:blip r:embed="rId2" cstate="print"/>
          <a:stretch>
            <a:fillRect/>
          </a:stretch>
        </p:blipFill>
        <p:spPr>
          <a:xfrm>
            <a:off x="7764780" y="2882900"/>
            <a:ext cx="4427220" cy="2629535"/>
          </a:xfrm>
          <a:prstGeom prst="rect">
            <a:avLst/>
          </a:prstGeom>
        </p:spPr>
      </p:pic>
    </p:spTree>
  </p:cSld>
  <p:clrMapOvr>
    <a:masterClrMapping/>
  </p:clrMapOvr>
  <p:transition>
    <p:zoom/>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1" y="360000"/>
            <a:ext cx="5257200"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45" name="任意多边形 44"/>
          <p:cNvSpPr/>
          <p:nvPr>
            <p:custDataLst>
              <p:tags r:id="rId1"/>
            </p:custDataLst>
          </p:nvPr>
        </p:nvSpPr>
        <p:spPr>
          <a:xfrm>
            <a:off x="6117293" y="2798781"/>
            <a:ext cx="2241145"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874990" y="2798781"/>
            <a:ext cx="2242303" cy="3418586"/>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7754320" y="3053472"/>
            <a:ext cx="2880000" cy="47607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600" dirty="0">
                <a:solidFill>
                  <a:schemeClr val="tx1"/>
                </a:solidFill>
              </a:rPr>
              <a:t>纠错或修改软件的时间</a:t>
            </a:r>
          </a:p>
        </p:txBody>
      </p:sp>
      <p:sp>
        <p:nvSpPr>
          <p:cNvPr id="56" name="椭圆 55"/>
          <p:cNvSpPr/>
          <p:nvPr>
            <p:custDataLst>
              <p:tags r:id="rId4"/>
            </p:custDataLst>
          </p:nvPr>
        </p:nvSpPr>
        <p:spPr>
          <a:xfrm>
            <a:off x="7187522" y="3021507"/>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5</a:t>
            </a:r>
          </a:p>
        </p:txBody>
      </p:sp>
      <p:sp>
        <p:nvSpPr>
          <p:cNvPr id="58" name="圆角矩形 57"/>
          <p:cNvSpPr/>
          <p:nvPr>
            <p:custDataLst>
              <p:tags r:id="rId5"/>
            </p:custDataLst>
          </p:nvPr>
        </p:nvSpPr>
        <p:spPr>
          <a:xfrm>
            <a:off x="7120525" y="3859996"/>
            <a:ext cx="2880000" cy="47607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600" dirty="0">
                <a:solidFill>
                  <a:schemeClr val="tx1"/>
                </a:solidFill>
              </a:rPr>
              <a:t>测试软件的时间</a:t>
            </a:r>
          </a:p>
        </p:txBody>
      </p:sp>
      <p:sp>
        <p:nvSpPr>
          <p:cNvPr id="59" name="椭圆 58"/>
          <p:cNvSpPr/>
          <p:nvPr>
            <p:custDataLst>
              <p:tags r:id="rId6"/>
            </p:custDataLst>
          </p:nvPr>
        </p:nvSpPr>
        <p:spPr>
          <a:xfrm>
            <a:off x="6555464" y="3828031"/>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6</a:t>
            </a:r>
          </a:p>
        </p:txBody>
      </p:sp>
      <p:sp>
        <p:nvSpPr>
          <p:cNvPr id="61" name="圆角矩形 60"/>
          <p:cNvSpPr/>
          <p:nvPr>
            <p:custDataLst>
              <p:tags r:id="rId7"/>
            </p:custDataLst>
          </p:nvPr>
        </p:nvSpPr>
        <p:spPr>
          <a:xfrm>
            <a:off x="7020970" y="4666520"/>
            <a:ext cx="2880000" cy="47607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600" dirty="0">
                <a:solidFill>
                  <a:schemeClr val="tx1"/>
                </a:solidFill>
              </a:rPr>
              <a:t>维护评审的时间</a:t>
            </a:r>
          </a:p>
        </p:txBody>
      </p:sp>
      <p:sp>
        <p:nvSpPr>
          <p:cNvPr id="62" name="椭圆 61"/>
          <p:cNvSpPr/>
          <p:nvPr>
            <p:custDataLst>
              <p:tags r:id="rId8"/>
            </p:custDataLst>
          </p:nvPr>
        </p:nvSpPr>
        <p:spPr>
          <a:xfrm>
            <a:off x="6454751" y="4634555"/>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7</a:t>
            </a:r>
          </a:p>
        </p:txBody>
      </p:sp>
      <p:sp>
        <p:nvSpPr>
          <p:cNvPr id="64" name="圆角矩形 63"/>
          <p:cNvSpPr/>
          <p:nvPr>
            <p:custDataLst>
              <p:tags r:id="rId9"/>
            </p:custDataLst>
          </p:nvPr>
        </p:nvSpPr>
        <p:spPr>
          <a:xfrm>
            <a:off x="7823777" y="5473045"/>
            <a:ext cx="2880000" cy="476071"/>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eaLnBrk="1" hangingPunct="1">
              <a:spcBef>
                <a:spcPts val="0"/>
              </a:spcBef>
              <a:spcAft>
                <a:spcPts val="0"/>
              </a:spcAft>
              <a:defRPr/>
            </a:pPr>
            <a:r>
              <a:rPr lang="zh-CN" altLang="en-US" sz="1600" dirty="0">
                <a:solidFill>
                  <a:schemeClr val="tx1"/>
                </a:solidFill>
              </a:rPr>
              <a:t>软件恢复运行的时间</a:t>
            </a:r>
          </a:p>
        </p:txBody>
      </p:sp>
      <p:sp>
        <p:nvSpPr>
          <p:cNvPr id="65" name="椭圆 64"/>
          <p:cNvSpPr/>
          <p:nvPr>
            <p:custDataLst>
              <p:tags r:id="rId10"/>
            </p:custDataLst>
          </p:nvPr>
        </p:nvSpPr>
        <p:spPr>
          <a:xfrm>
            <a:off x="7258716" y="5441080"/>
            <a:ext cx="540000" cy="54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8</a:t>
            </a:r>
          </a:p>
        </p:txBody>
      </p:sp>
      <p:sp>
        <p:nvSpPr>
          <p:cNvPr id="68" name="圆角矩形 67"/>
          <p:cNvSpPr/>
          <p:nvPr>
            <p:custDataLst>
              <p:tags r:id="rId11"/>
            </p:custDataLst>
          </p:nvPr>
        </p:nvSpPr>
        <p:spPr>
          <a:xfrm rot="10800000" flipV="1">
            <a:off x="1548134" y="3053472"/>
            <a:ext cx="2880000" cy="47607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eaLnBrk="1" hangingPunct="1">
              <a:spcBef>
                <a:spcPts val="0"/>
              </a:spcBef>
              <a:spcAft>
                <a:spcPts val="0"/>
              </a:spcAft>
              <a:defRPr/>
            </a:pPr>
            <a:r>
              <a:rPr lang="zh-CN" altLang="en-US" sz="1600" dirty="0">
                <a:solidFill>
                  <a:sysClr val="windowText" lastClr="000000"/>
                </a:solidFill>
              </a:rPr>
              <a:t>识别问题的时间</a:t>
            </a:r>
          </a:p>
        </p:txBody>
      </p:sp>
      <p:sp>
        <p:nvSpPr>
          <p:cNvPr id="69" name="椭圆 68"/>
          <p:cNvSpPr/>
          <p:nvPr>
            <p:custDataLst>
              <p:tags r:id="rId12"/>
            </p:custDataLst>
          </p:nvPr>
        </p:nvSpPr>
        <p:spPr>
          <a:xfrm>
            <a:off x="4467059" y="3021507"/>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1</a:t>
            </a:r>
          </a:p>
        </p:txBody>
      </p:sp>
      <p:sp>
        <p:nvSpPr>
          <p:cNvPr id="71" name="圆角矩形 70"/>
          <p:cNvSpPr/>
          <p:nvPr>
            <p:custDataLst>
              <p:tags r:id="rId13"/>
            </p:custDataLst>
          </p:nvPr>
        </p:nvSpPr>
        <p:spPr>
          <a:xfrm rot="10800000" flipV="1">
            <a:off x="2181352" y="3859996"/>
            <a:ext cx="2880000" cy="47607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eaLnBrk="1" hangingPunct="1">
              <a:spcBef>
                <a:spcPts val="0"/>
              </a:spcBef>
              <a:spcAft>
                <a:spcPts val="0"/>
              </a:spcAft>
              <a:defRPr/>
            </a:pPr>
            <a:r>
              <a:rPr lang="zh-CN" altLang="en-US" sz="1600" dirty="0">
                <a:solidFill>
                  <a:sysClr val="windowText" lastClr="000000"/>
                </a:solidFill>
              </a:rPr>
              <a:t>修改规格说明书的时间</a:t>
            </a:r>
          </a:p>
        </p:txBody>
      </p:sp>
      <p:sp>
        <p:nvSpPr>
          <p:cNvPr id="72" name="椭圆 71"/>
          <p:cNvSpPr/>
          <p:nvPr>
            <p:custDataLst>
              <p:tags r:id="rId14"/>
            </p:custDataLst>
          </p:nvPr>
        </p:nvSpPr>
        <p:spPr>
          <a:xfrm>
            <a:off x="5099696" y="3828031"/>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2</a:t>
            </a:r>
          </a:p>
        </p:txBody>
      </p:sp>
      <p:sp>
        <p:nvSpPr>
          <p:cNvPr id="74" name="圆角矩形 73"/>
          <p:cNvSpPr/>
          <p:nvPr>
            <p:custDataLst>
              <p:tags r:id="rId15"/>
            </p:custDataLst>
          </p:nvPr>
        </p:nvSpPr>
        <p:spPr>
          <a:xfrm rot="10800000" flipV="1">
            <a:off x="2317950" y="4666520"/>
            <a:ext cx="2880000" cy="47607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defRPr/>
            </a:pPr>
            <a:r>
              <a:rPr lang="zh-CN" altLang="en-US" sz="1600" dirty="0">
                <a:solidFill>
                  <a:sysClr val="windowText" lastClr="000000"/>
                </a:solidFill>
                <a:latin typeface="+mn-ea"/>
                <a:sym typeface="+mn-ea"/>
              </a:rPr>
              <a:t>分析、诊断问题的时间</a:t>
            </a:r>
            <a:endParaRPr lang="zh-CN" altLang="en-US" sz="1600" dirty="0">
              <a:solidFill>
                <a:sysClr val="windowText" lastClr="000000"/>
              </a:solidFill>
            </a:endParaRPr>
          </a:p>
        </p:txBody>
      </p:sp>
      <p:sp>
        <p:nvSpPr>
          <p:cNvPr id="75" name="椭圆 74"/>
          <p:cNvSpPr/>
          <p:nvPr>
            <p:custDataLst>
              <p:tags r:id="rId16"/>
            </p:custDataLst>
          </p:nvPr>
        </p:nvSpPr>
        <p:spPr>
          <a:xfrm>
            <a:off x="5237452" y="4634555"/>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3</a:t>
            </a:r>
          </a:p>
        </p:txBody>
      </p:sp>
      <p:sp>
        <p:nvSpPr>
          <p:cNvPr id="77" name="圆角矩形 76"/>
          <p:cNvSpPr/>
          <p:nvPr>
            <p:custDataLst>
              <p:tags r:id="rId17"/>
            </p:custDataLst>
          </p:nvPr>
        </p:nvSpPr>
        <p:spPr>
          <a:xfrm rot="10800000" flipV="1">
            <a:off x="1495464" y="5473045"/>
            <a:ext cx="2880000" cy="476071"/>
          </a:xfrm>
          <a:prstGeom prst="roundRect">
            <a:avLst>
              <a:gd name="adj" fmla="val 50000"/>
            </a:avLst>
          </a:prstGeom>
          <a:solidFill>
            <a:schemeClr val="bg1"/>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anchor="ctr">
            <a:spAutoFit/>
          </a:bodyPr>
          <a:lstStyle/>
          <a:p>
            <a:pPr algn="r">
              <a:defRPr/>
            </a:pPr>
            <a:r>
              <a:rPr lang="zh-CN" altLang="en-US" sz="1600" dirty="0">
                <a:solidFill>
                  <a:sysClr val="windowText" lastClr="000000"/>
                </a:solidFill>
                <a:latin typeface="+mn-ea"/>
                <a:sym typeface="+mn-ea"/>
              </a:rPr>
              <a:t>选择维护工具的时间</a:t>
            </a:r>
            <a:endParaRPr lang="zh-CN" altLang="en-US" sz="1600" dirty="0">
              <a:solidFill>
                <a:sysClr val="windowText" lastClr="000000"/>
              </a:solidFill>
            </a:endParaRPr>
          </a:p>
        </p:txBody>
      </p:sp>
      <p:sp>
        <p:nvSpPr>
          <p:cNvPr id="78" name="椭圆 77"/>
          <p:cNvSpPr/>
          <p:nvPr>
            <p:custDataLst>
              <p:tags r:id="rId18"/>
            </p:custDataLst>
          </p:nvPr>
        </p:nvSpPr>
        <p:spPr>
          <a:xfrm>
            <a:off x="4414966" y="5441080"/>
            <a:ext cx="540000" cy="54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t>4</a:t>
            </a:r>
          </a:p>
        </p:txBody>
      </p:sp>
      <p:sp>
        <p:nvSpPr>
          <p:cNvPr id="167" name="圆角矩形"/>
          <p:cNvSpPr/>
          <p:nvPr/>
        </p:nvSpPr>
        <p:spPr>
          <a:xfrm>
            <a:off x="7993661" y="624396"/>
            <a:ext cx="3852000" cy="900430"/>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sz="1400" dirty="0">
                <a:solidFill>
                  <a:schemeClr val="bg2">
                    <a:lumMod val="50000"/>
                  </a:schemeClr>
                </a:solidFill>
              </a:rPr>
              <a:t>   </a:t>
            </a:r>
            <a:r>
              <a:rPr lang="zh-CN" altLang="en-US" sz="1400" dirty="0">
                <a:solidFill>
                  <a:schemeClr val="bg2">
                    <a:lumMod val="50000"/>
                  </a:schemeClr>
                </a:solidFill>
              </a:rPr>
              <a:t> 软件的可维护性是难以量化的概念，然而借助维护活动中可以定量估算的属性，可以从下列维护工作所需的时间间接地度量可维护性。</a:t>
            </a:r>
          </a:p>
        </p:txBody>
      </p:sp>
      <p:sp>
        <p:nvSpPr>
          <p:cNvPr id="34" name="学士帽"/>
          <p:cNvSpPr/>
          <p:nvPr/>
        </p:nvSpPr>
        <p:spPr bwMode="auto">
          <a:xfrm>
            <a:off x="7798716" y="411036"/>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3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9" name="直接连接符 3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软件可维护性的度量</a:t>
            </a:r>
          </a:p>
        </p:txBody>
      </p:sp>
    </p:spTree>
  </p:cSld>
  <p:clrMapOvr>
    <a:masterClrMapping/>
  </p:clrMapOvr>
  <p:transition>
    <p:zoom/>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167" name="圆角矩形"/>
          <p:cNvSpPr/>
          <p:nvPr/>
        </p:nvSpPr>
        <p:spPr>
          <a:xfrm>
            <a:off x="10635067" y="504899"/>
            <a:ext cx="1248669" cy="10556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r" eaLnBrk="1" fontAlgn="auto" hangingPunct="1">
              <a:spcBef>
                <a:spcPts val="0"/>
              </a:spcBef>
              <a:spcAft>
                <a:spcPts val="0"/>
              </a:spcAft>
              <a:defRPr/>
            </a:pPr>
            <a:r>
              <a:rPr lang="zh-CN" altLang="en-US" sz="1400" dirty="0">
                <a:solidFill>
                  <a:schemeClr val="bg2">
                    <a:lumMod val="50000"/>
                  </a:schemeClr>
                </a:solidFill>
              </a:rPr>
              <a:t>可理解性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可测试性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可修改性</a:t>
            </a:r>
            <a:endParaRPr lang="en-US" altLang="zh-CN" sz="1400" dirty="0">
              <a:solidFill>
                <a:schemeClr val="bg2">
                  <a:lumMod val="50000"/>
                </a:schemeClr>
              </a:solidFill>
            </a:endParaRPr>
          </a:p>
          <a:p>
            <a:pPr algn="r" eaLnBrk="1" fontAlgn="auto" hangingPunct="1">
              <a:spcBef>
                <a:spcPts val="0"/>
              </a:spcBef>
              <a:spcAft>
                <a:spcPts val="0"/>
              </a:spcAft>
              <a:defRPr/>
            </a:pPr>
            <a:r>
              <a:rPr lang="zh-CN" altLang="en-US" sz="1400" dirty="0">
                <a:solidFill>
                  <a:schemeClr val="bg2">
                    <a:lumMod val="50000"/>
                  </a:schemeClr>
                </a:solidFill>
              </a:rPr>
              <a:t>可移植性</a:t>
            </a:r>
          </a:p>
        </p:txBody>
      </p:sp>
      <p:sp>
        <p:nvSpPr>
          <p:cNvPr id="34" name="学士帽"/>
          <p:cNvSpPr/>
          <p:nvPr/>
        </p:nvSpPr>
        <p:spPr bwMode="auto">
          <a:xfrm>
            <a:off x="10411754" y="262806"/>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21" name="MH_Text_1"/>
          <p:cNvSpPr/>
          <p:nvPr>
            <p:custDataLst>
              <p:tags r:id="rId1"/>
            </p:custDataLst>
          </p:nvPr>
        </p:nvSpPr>
        <p:spPr>
          <a:xfrm>
            <a:off x="1440000" y="2880000"/>
            <a:ext cx="9792000" cy="2392258"/>
          </a:xfrm>
          <a:prstGeom prst="rect">
            <a:avLst/>
          </a:prstGeom>
          <a:noFill/>
          <a:ln w="12700" cap="flat" cmpd="sng" algn="ctr">
            <a:solidFill>
              <a:srgbClr val="CC0066"/>
            </a:solidFill>
            <a:prstDash val="solid"/>
            <a:miter lim="800000"/>
          </a:ln>
          <a:effectLst/>
        </p:spPr>
        <p:txBody>
          <a:bodyPr anchor="t" anchorCtr="0">
            <a:spAutoFit/>
          </a:bodyPr>
          <a:lstStyle/>
          <a:p>
            <a:pPr>
              <a:lnSpc>
                <a:spcPct val="120000"/>
              </a:lnSpc>
            </a:pPr>
            <a:r>
              <a:rPr lang="zh-CN" altLang="en-US" b="1" dirty="0">
                <a:solidFill>
                  <a:srgbClr val="00B050"/>
                </a:solidFill>
                <a:sym typeface="+mn-ea"/>
              </a:rPr>
              <a:t>维护人员理解软件结构、接口、功能和内部过程的难易程度。</a:t>
            </a:r>
          </a:p>
          <a:p>
            <a:pPr>
              <a:lnSpc>
                <a:spcPct val="120000"/>
              </a:lnSpc>
            </a:pPr>
            <a:r>
              <a:rPr lang="zh-CN" altLang="en-US" dirty="0">
                <a:sym typeface="+mn-ea"/>
              </a:rPr>
              <a:t>也可以通过对软件复杂性的度量来评价软件的可理解性。软件越复杂，理解就越困难。</a:t>
            </a:r>
          </a:p>
          <a:p>
            <a:pPr>
              <a:lnSpc>
                <a:spcPct val="120000"/>
              </a:lnSpc>
            </a:pPr>
            <a:r>
              <a:rPr lang="zh-CN" altLang="en-US" dirty="0">
                <a:sym typeface="+mn-ea"/>
              </a:rPr>
              <a:t>降低复杂度、提升可理解性</a:t>
            </a:r>
          </a:p>
          <a:p>
            <a:pPr>
              <a:lnSpc>
                <a:spcPct val="120000"/>
              </a:lnSpc>
            </a:pPr>
            <a:r>
              <a:rPr lang="zh-CN" altLang="en-US" dirty="0">
                <a:sym typeface="+mn-ea"/>
              </a:rPr>
              <a:t>模块化</a:t>
            </a:r>
          </a:p>
          <a:p>
            <a:pPr>
              <a:lnSpc>
                <a:spcPct val="120000"/>
              </a:lnSpc>
            </a:pPr>
            <a:r>
              <a:rPr lang="zh-CN" altLang="en-US" dirty="0">
                <a:sym typeface="+mn-ea"/>
              </a:rPr>
              <a:t>结构化设计或面向对象设计</a:t>
            </a:r>
          </a:p>
          <a:p>
            <a:pPr>
              <a:lnSpc>
                <a:spcPct val="120000"/>
              </a:lnSpc>
            </a:pPr>
            <a:r>
              <a:rPr lang="zh-CN" altLang="en-US" dirty="0">
                <a:sym typeface="+mn-ea"/>
              </a:rPr>
              <a:t>与源程序一致的、完整正确详尽的设计文档</a:t>
            </a:r>
          </a:p>
          <a:p>
            <a:pPr>
              <a:lnSpc>
                <a:spcPct val="120000"/>
              </a:lnSpc>
            </a:pPr>
            <a:r>
              <a:rPr lang="zh-CN" altLang="en-US" dirty="0">
                <a:sym typeface="+mn-ea"/>
              </a:rPr>
              <a:t>源代码内部的文档和良好的高级程序设计语言</a:t>
            </a:r>
          </a:p>
        </p:txBody>
      </p:sp>
      <p:sp>
        <p:nvSpPr>
          <p:cNvPr id="22" name="MH_SubTitle_1"/>
          <p:cNvSpPr/>
          <p:nvPr>
            <p:custDataLst>
              <p:tags r:id="rId2"/>
            </p:custDataLst>
          </p:nvPr>
        </p:nvSpPr>
        <p:spPr>
          <a:xfrm>
            <a:off x="1440000"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1）可理解性</a:t>
            </a:r>
          </a:p>
        </p:txBody>
      </p:sp>
    </p:spTree>
  </p:cSld>
  <p:clrMapOvr>
    <a:masterClrMapping/>
  </p:clrMapOvr>
  <p:transition>
    <p:zoom/>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880000"/>
            <a:ext cx="9792000" cy="2392258"/>
          </a:xfrm>
          <a:prstGeom prst="rect">
            <a:avLst/>
          </a:prstGeom>
          <a:noFill/>
          <a:ln w="12700" cap="flat" cmpd="sng" algn="ctr">
            <a:solidFill>
              <a:srgbClr val="CC0066"/>
            </a:solidFill>
            <a:prstDash val="solid"/>
            <a:miter lim="800000"/>
          </a:ln>
          <a:effectLst/>
        </p:spPr>
        <p:txBody>
          <a:bodyPr anchor="t" anchorCtr="0">
            <a:spAutoFit/>
          </a:bodyPr>
          <a:lstStyle/>
          <a:p>
            <a:pPr marL="0" indent="0" algn="l" fontAlgn="auto">
              <a:lnSpc>
                <a:spcPct val="120000"/>
              </a:lnSpc>
            </a:pPr>
            <a:r>
              <a:rPr lang="zh-CN" altLang="en-US" b="1" dirty="0">
                <a:solidFill>
                  <a:srgbClr val="00B050"/>
                </a:solidFill>
                <a:sym typeface="+mn-ea"/>
              </a:rPr>
              <a:t>软件容易被测试的程度。</a:t>
            </a:r>
          </a:p>
          <a:p>
            <a:pPr marL="0" indent="0" algn="l" fontAlgn="auto">
              <a:lnSpc>
                <a:spcPct val="120000"/>
              </a:lnSpc>
            </a:pPr>
            <a:r>
              <a:rPr lang="zh-CN" altLang="en-US" dirty="0">
                <a:sym typeface="+mn-ea"/>
              </a:rPr>
              <a:t>它与源代码有关，要求程序易于理解，还要求有齐全的测试文档，保留开发时期使用的测试用例。好的文档资料对诊断和测试至关重要。</a:t>
            </a:r>
          </a:p>
          <a:p>
            <a:pPr marL="0" indent="0" algn="l" fontAlgn="auto">
              <a:lnSpc>
                <a:spcPct val="120000"/>
              </a:lnSpc>
            </a:pPr>
            <a:r>
              <a:rPr lang="zh-CN" altLang="en-US" dirty="0">
                <a:sym typeface="+mn-ea"/>
              </a:rPr>
              <a:t>可测试性要求软件需求的定义要便于对需求进行分析并易于建立测试准则；还要便于就这些准则对软件进行评价。可测试性是指证实程序正确性的难易程度。</a:t>
            </a:r>
          </a:p>
          <a:p>
            <a:pPr marL="0" indent="0" algn="l" fontAlgn="auto">
              <a:lnSpc>
                <a:spcPct val="120000"/>
              </a:lnSpc>
            </a:pPr>
            <a:r>
              <a:rPr lang="zh-CN" altLang="en-US" dirty="0">
                <a:sym typeface="+mn-ea"/>
              </a:rPr>
              <a:t>此外，有无可用的测试、调试工具及测试过程的确定也非常重要。在软件设计阶段就应该注意使差错容易定位，以便维护时容易找到纠错的办法。</a:t>
            </a: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2）可测试性</a:t>
            </a:r>
          </a:p>
        </p:txBody>
      </p:sp>
    </p:spTree>
  </p:cSld>
  <p:clrMapOvr>
    <a:masterClrMapping/>
  </p:clrMapOvr>
  <p:transition>
    <p:zoom/>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880000"/>
            <a:ext cx="9792000" cy="3057055"/>
          </a:xfrm>
          <a:prstGeom prst="rect">
            <a:avLst/>
          </a:prstGeom>
          <a:noFill/>
          <a:ln w="12700" cap="flat" cmpd="sng" algn="ctr">
            <a:solidFill>
              <a:srgbClr val="CC0066"/>
            </a:solidFill>
            <a:prstDash val="solid"/>
            <a:miter lim="800000"/>
          </a:ln>
          <a:effectLst/>
        </p:spPr>
        <p:txBody>
          <a:bodyPr anchor="t" anchorCtr="0">
            <a:spAutoFit/>
          </a:bodyPr>
          <a:lstStyle/>
          <a:p>
            <a:pPr>
              <a:lnSpc>
                <a:spcPct val="120000"/>
              </a:lnSpc>
            </a:pPr>
            <a:r>
              <a:rPr lang="zh-CN" altLang="en-US" b="1" dirty="0">
                <a:solidFill>
                  <a:srgbClr val="00B050"/>
                </a:solidFill>
                <a:sym typeface="+mn-ea"/>
              </a:rPr>
              <a:t>软件容易修改的程度。</a:t>
            </a:r>
            <a:endParaRPr lang="en-US" altLang="zh-CN" b="1" dirty="0">
              <a:solidFill>
                <a:srgbClr val="00B050"/>
              </a:solidFill>
              <a:sym typeface="+mn-ea"/>
            </a:endParaRPr>
          </a:p>
          <a:p>
            <a:pPr>
              <a:lnSpc>
                <a:spcPct val="120000"/>
              </a:lnSpc>
            </a:pPr>
            <a:r>
              <a:rPr lang="zh-CN" altLang="en-US" dirty="0">
                <a:sym typeface="+mn-ea"/>
              </a:rPr>
              <a:t>一个可修改的程序往往是可理解的、通用的、灵活的和简明的。</a:t>
            </a:r>
            <a:endParaRPr lang="en-US" altLang="zh-CN" dirty="0">
              <a:sym typeface="+mn-ea"/>
            </a:endParaRPr>
          </a:p>
          <a:p>
            <a:pPr>
              <a:lnSpc>
                <a:spcPct val="120000"/>
              </a:lnSpc>
            </a:pPr>
            <a:r>
              <a:rPr lang="zh-CN" altLang="en-US" dirty="0">
                <a:sym typeface="+mn-ea"/>
              </a:rPr>
              <a:t>所谓通用，是指不需要修改程序就可使程序改变功能。</a:t>
            </a:r>
            <a:endParaRPr lang="en-US" altLang="zh-CN" dirty="0">
              <a:sym typeface="+mn-ea"/>
            </a:endParaRPr>
          </a:p>
          <a:p>
            <a:pPr>
              <a:lnSpc>
                <a:spcPct val="120000"/>
              </a:lnSpc>
            </a:pPr>
            <a:r>
              <a:rPr lang="zh-CN" altLang="en-US" dirty="0">
                <a:sym typeface="+mn-ea"/>
              </a:rPr>
              <a:t>所谓灵活，是指程序容易被分解和组合。</a:t>
            </a:r>
          </a:p>
          <a:p>
            <a:pPr>
              <a:lnSpc>
                <a:spcPct val="120000"/>
              </a:lnSpc>
            </a:pPr>
            <a:r>
              <a:rPr lang="zh-CN" altLang="en-US" dirty="0">
                <a:sym typeface="+mn-ea"/>
              </a:rPr>
              <a:t>要度量一个程序的可修改性，可以通过对该程序做少量简单的改变来估算修改这个程序的困难程度，例如对程序增加新类型的作业、改变输入输出设备、取消输出报告等。如果对于一个简单的改变，程序中必须修改的模块超过</a:t>
            </a:r>
            <a:r>
              <a:rPr lang="en-US" altLang="zh-CN" dirty="0">
                <a:sym typeface="+mn-ea"/>
              </a:rPr>
              <a:t>30%</a:t>
            </a:r>
            <a:r>
              <a:rPr lang="zh-CN" altLang="en-US" dirty="0">
                <a:sym typeface="+mn-ea"/>
              </a:rPr>
              <a:t>，则该程序属于难修改之列。</a:t>
            </a:r>
          </a:p>
          <a:p>
            <a:pPr>
              <a:lnSpc>
                <a:spcPct val="120000"/>
              </a:lnSpc>
            </a:pPr>
            <a:r>
              <a:rPr lang="zh-CN" altLang="en-US" dirty="0">
                <a:sym typeface="+mn-ea"/>
              </a:rPr>
              <a:t>模块设计的内聚、耦合、局部化等因素都会影响软件的可修改性。模块抽象和信息隐蔽愈好，模块的独立性愈高，则修改时出错的机会也就愈少。</a:t>
            </a:r>
            <a:endParaRPr dirty="0">
              <a:sym typeface="+mn-ea"/>
            </a:endParaRP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3）可修改性</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0" y="360000"/>
            <a:ext cx="8415337"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1" name="MH_Text_1"/>
          <p:cNvSpPr/>
          <p:nvPr>
            <p:custDataLst>
              <p:tags r:id="rId1"/>
            </p:custDataLst>
          </p:nvPr>
        </p:nvSpPr>
        <p:spPr>
          <a:xfrm>
            <a:off x="1440000" y="2904237"/>
            <a:ext cx="9792000" cy="730265"/>
          </a:xfrm>
          <a:prstGeom prst="rect">
            <a:avLst/>
          </a:prstGeom>
          <a:noFill/>
          <a:ln w="12700" cap="flat" cmpd="sng" algn="ctr">
            <a:solidFill>
              <a:srgbClr val="CC0066"/>
            </a:solidFill>
            <a:prstDash val="solid"/>
            <a:miter lim="800000"/>
          </a:ln>
          <a:effectLst/>
        </p:spPr>
        <p:txBody>
          <a:bodyPr anchor="ctr">
            <a:spAutoFit/>
          </a:bodyPr>
          <a:lstStyle/>
          <a:p>
            <a:pPr marL="0" indent="0" algn="l" fontAlgn="auto">
              <a:lnSpc>
                <a:spcPct val="120000"/>
              </a:lnSpc>
            </a:pPr>
            <a:r>
              <a:rPr lang="zh-CN" altLang="en-US" dirty="0">
                <a:sym typeface="+mn-ea"/>
              </a:rPr>
              <a:t>可移植性是指软件不加改动地从一种运行环境转移到另一种运行环境下运行的能力，即程序在不同计算机环境下能够有效地运行的程度。可移植性好的软件容易维护。</a:t>
            </a:r>
            <a:endParaRPr dirty="0">
              <a:sym typeface="+mn-ea"/>
            </a:endParaRPr>
          </a:p>
        </p:txBody>
      </p:sp>
      <p:sp>
        <p:nvSpPr>
          <p:cNvPr id="22" name="MH_SubTitle_1"/>
          <p:cNvSpPr/>
          <p:nvPr>
            <p:custDataLst>
              <p:tags r:id="rId2"/>
            </p:custDataLst>
          </p:nvPr>
        </p:nvSpPr>
        <p:spPr>
          <a:xfrm>
            <a:off x="1439999" y="2318948"/>
            <a:ext cx="6480000" cy="54000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sp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4）可移植性</a:t>
            </a:r>
          </a:p>
        </p:txBody>
      </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1" y="360000"/>
            <a:ext cx="5257200"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3" name="矩形 7"/>
          <p:cNvSpPr>
            <a:spLocks noChangeArrowheads="1"/>
          </p:cNvSpPr>
          <p:nvPr/>
        </p:nvSpPr>
        <p:spPr bwMode="auto">
          <a:xfrm>
            <a:off x="809625" y="2702193"/>
            <a:ext cx="268890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dirty="0">
                <a:solidFill>
                  <a:srgbClr val="E67819"/>
                </a:solidFill>
                <a:latin typeface="+mj-lt"/>
                <a:ea typeface="+mj-ea"/>
              </a:rPr>
              <a:t>3.1 </a:t>
            </a:r>
            <a:r>
              <a:rPr lang="zh-CN" altLang="en-US" dirty="0">
                <a:solidFill>
                  <a:srgbClr val="E67819"/>
                </a:solidFill>
                <a:latin typeface="+mj-lt"/>
                <a:ea typeface="+mj-ea"/>
              </a:rPr>
              <a:t>明确软件的质量目标</a:t>
            </a:r>
          </a:p>
        </p:txBody>
      </p:sp>
      <p:sp>
        <p:nvSpPr>
          <p:cNvPr id="8" name="矩形 7"/>
          <p:cNvSpPr>
            <a:spLocks noChangeArrowheads="1"/>
          </p:cNvSpPr>
          <p:nvPr/>
        </p:nvSpPr>
        <p:spPr bwMode="auto">
          <a:xfrm>
            <a:off x="809625" y="4688473"/>
            <a:ext cx="409003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dirty="0">
                <a:solidFill>
                  <a:srgbClr val="E67819"/>
                </a:solidFill>
                <a:latin typeface="+mj-lt"/>
                <a:ea typeface="+mj-ea"/>
              </a:rPr>
              <a:t>3.2 </a:t>
            </a:r>
            <a:r>
              <a:rPr lang="zh-CN" altLang="en-US" dirty="0">
                <a:solidFill>
                  <a:srgbClr val="E67819"/>
                </a:solidFill>
                <a:latin typeface="+mj-lt"/>
                <a:ea typeface="+mj-ea"/>
              </a:rPr>
              <a:t>利用先进的软件技术和工具</a:t>
            </a:r>
          </a:p>
        </p:txBody>
      </p:sp>
      <p:sp>
        <p:nvSpPr>
          <p:cNvPr id="2" name="TextBox 1">
            <a:extLst>
              <a:ext uri="{FF2B5EF4-FFF2-40B4-BE49-F238E27FC236}">
                <a16:creationId xmlns:a16="http://schemas.microsoft.com/office/drawing/2014/main" id="{34ADD5E2-404C-18F3-8D93-343705DC7B93}"/>
              </a:ext>
            </a:extLst>
          </p:cNvPr>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0" name="直接连接符 9">
            <a:extLst>
              <a:ext uri="{FF2B5EF4-FFF2-40B4-BE49-F238E27FC236}">
                <a16:creationId xmlns:a16="http://schemas.microsoft.com/office/drawing/2014/main" id="{278BB3E0-7180-9426-5084-14C6E563E8F7}"/>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a:extLst>
              <a:ext uri="{FF2B5EF4-FFF2-40B4-BE49-F238E27FC236}">
                <a16:creationId xmlns:a16="http://schemas.microsoft.com/office/drawing/2014/main" id="{4451140F-2052-957A-24C7-CD1EA7D18D58}"/>
              </a:ext>
            </a:extLst>
          </p:cNvPr>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如何提高软件的可维护性</a:t>
            </a:r>
          </a:p>
        </p:txBody>
      </p:sp>
      <p:sp>
        <p:nvSpPr>
          <p:cNvPr id="19" name="文本框 18">
            <a:extLst>
              <a:ext uri="{FF2B5EF4-FFF2-40B4-BE49-F238E27FC236}">
                <a16:creationId xmlns:a16="http://schemas.microsoft.com/office/drawing/2014/main" id="{CA479685-06CE-2868-CD31-948D9027796A}"/>
              </a:ext>
            </a:extLst>
          </p:cNvPr>
          <p:cNvSpPr txBox="1"/>
          <p:nvPr/>
        </p:nvSpPr>
        <p:spPr>
          <a:xfrm>
            <a:off x="809625" y="5057805"/>
            <a:ext cx="4860000" cy="954813"/>
          </a:xfrm>
          <a:prstGeom prst="rect">
            <a:avLst/>
          </a:prstGeom>
          <a:noFill/>
        </p:spPr>
        <p:txBody>
          <a:bodyPr wrap="square" rtlCol="0">
            <a:spAutoFit/>
          </a:bodyPr>
          <a:lstStyle/>
          <a:p>
            <a:pPr algn="l">
              <a:lnSpc>
                <a:spcPct val="120000"/>
              </a:lnSpc>
            </a:pPr>
            <a:r>
              <a:rPr lang="zh-CN" altLang="en-US" sz="1600" dirty="0"/>
              <a:t>在软件开发的整个过程中，始终应该考虑并努力提高软件的可维护性，尽力将软件设计成容易理解、容易测试和容易修改的软件。</a:t>
            </a:r>
          </a:p>
        </p:txBody>
      </p:sp>
      <p:sp>
        <p:nvSpPr>
          <p:cNvPr id="20" name="文本框 19">
            <a:extLst>
              <a:ext uri="{FF2B5EF4-FFF2-40B4-BE49-F238E27FC236}">
                <a16:creationId xmlns:a16="http://schemas.microsoft.com/office/drawing/2014/main" id="{1D8B5DA0-AA77-4084-D3EA-7840D57CBA27}"/>
              </a:ext>
            </a:extLst>
          </p:cNvPr>
          <p:cNvSpPr txBox="1"/>
          <p:nvPr/>
        </p:nvSpPr>
        <p:spPr>
          <a:xfrm>
            <a:off x="809625" y="3163732"/>
            <a:ext cx="4860000" cy="659348"/>
          </a:xfrm>
          <a:prstGeom prst="rect">
            <a:avLst/>
          </a:prstGeom>
          <a:noFill/>
        </p:spPr>
        <p:txBody>
          <a:bodyPr wrap="square" rtlCol="0">
            <a:spAutoFit/>
          </a:bodyPr>
          <a:lstStyle/>
          <a:p>
            <a:pPr>
              <a:lnSpc>
                <a:spcPct val="120000"/>
              </a:lnSpc>
            </a:pPr>
            <a:r>
              <a:rPr lang="zh-CN" altLang="en-US" sz="1600" dirty="0"/>
              <a:t>软件工程在不断发展，新的技术和工具在不断出现，对软件工程的新技术和新工具，应及时学习并应用。</a:t>
            </a:r>
          </a:p>
        </p:txBody>
      </p:sp>
      <p:sp>
        <p:nvSpPr>
          <p:cNvPr id="25" name="矩形 24">
            <a:extLst>
              <a:ext uri="{FF2B5EF4-FFF2-40B4-BE49-F238E27FC236}">
                <a16:creationId xmlns:a16="http://schemas.microsoft.com/office/drawing/2014/main" id="{FDC8B1EB-0A4B-514A-1E80-615DCF3A27A1}"/>
              </a:ext>
            </a:extLst>
          </p:cNvPr>
          <p:cNvSpPr>
            <a:spLocks noChangeArrowheads="1"/>
          </p:cNvSpPr>
          <p:nvPr/>
        </p:nvSpPr>
        <p:spPr bwMode="auto">
          <a:xfrm>
            <a:off x="6095999" y="2702193"/>
            <a:ext cx="3872876" cy="369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dirty="0">
                <a:solidFill>
                  <a:srgbClr val="E67819"/>
                </a:solidFill>
                <a:latin typeface="+mj-lt"/>
                <a:ea typeface="+mj-ea"/>
              </a:rPr>
              <a:t>3.3 </a:t>
            </a:r>
            <a:r>
              <a:rPr lang="zh-CN" altLang="en-US" dirty="0">
                <a:solidFill>
                  <a:srgbClr val="E67819"/>
                </a:solidFill>
                <a:latin typeface="+mj-lt"/>
                <a:ea typeface="+mj-ea"/>
              </a:rPr>
              <a:t>选择便于维护的程序设计语言</a:t>
            </a:r>
          </a:p>
        </p:txBody>
      </p:sp>
      <p:sp>
        <p:nvSpPr>
          <p:cNvPr id="27" name="文本框 26">
            <a:extLst>
              <a:ext uri="{FF2B5EF4-FFF2-40B4-BE49-F238E27FC236}">
                <a16:creationId xmlns:a16="http://schemas.microsoft.com/office/drawing/2014/main" id="{D207D01A-2F6A-F634-874F-FB1113CD1B14}"/>
              </a:ext>
            </a:extLst>
          </p:cNvPr>
          <p:cNvSpPr txBox="1"/>
          <p:nvPr/>
        </p:nvSpPr>
        <p:spPr>
          <a:xfrm>
            <a:off x="6095999" y="3163732"/>
            <a:ext cx="5286375" cy="2136675"/>
          </a:xfrm>
          <a:prstGeom prst="rect">
            <a:avLst/>
          </a:prstGeom>
          <a:noFill/>
        </p:spPr>
        <p:txBody>
          <a:bodyPr wrap="square" rtlCol="0">
            <a:spAutoFit/>
          </a:bodyPr>
          <a:lstStyle/>
          <a:p>
            <a:pPr algn="l">
              <a:lnSpc>
                <a:spcPct val="120000"/>
              </a:lnSpc>
            </a:pPr>
            <a:r>
              <a:rPr lang="zh-CN" altLang="en-US" sz="1600" dirty="0"/>
              <a:t>机器语言、汇编语言不易理解，难以维护。一般只有在对软件的运行时间和使用空间有严格限制或系统硬件有特殊要求时，才使用机器语言或汇编语言。</a:t>
            </a:r>
          </a:p>
          <a:p>
            <a:pPr algn="l">
              <a:lnSpc>
                <a:spcPct val="120000"/>
              </a:lnSpc>
            </a:pPr>
            <a:r>
              <a:rPr lang="zh-CN" altLang="en-US" sz="1600" dirty="0"/>
              <a:t>高级语言容易理解，可维护性较好。查询语言、报表生成语言、图像语言更容易理解、使用和维护。选择适当的程序设计语言非常重要，要慎重、综合地考虑各种因素，征求用户的意见。</a:t>
            </a:r>
          </a:p>
        </p:txBody>
      </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801" y="360000"/>
            <a:ext cx="5257200" cy="535531"/>
          </a:xfrm>
        </p:spPr>
        <p:txBody>
          <a:bodyPr>
            <a:normAutofit/>
          </a:bodyPr>
          <a:lstStyle/>
          <a:p>
            <a:r>
              <a:rPr lang="en-US" dirty="0">
                <a:sym typeface="+mn-ea"/>
              </a:rPr>
              <a:t>5.1 </a:t>
            </a:r>
            <a:r>
              <a:rPr lang="zh-CN" altLang="en-US" dirty="0">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5.1.4 </a:t>
            </a:r>
            <a:r>
              <a:rPr lang="zh-CN" altLang="en-US" sz="2400" dirty="0">
                <a:solidFill>
                  <a:schemeClr val="tx1"/>
                </a:solidFill>
              </a:rPr>
              <a:t>提高软件的可维护性</a:t>
            </a:r>
          </a:p>
        </p:txBody>
      </p:sp>
      <p:sp>
        <p:nvSpPr>
          <p:cNvPr id="23" name="矩形 7"/>
          <p:cNvSpPr>
            <a:spLocks noChangeArrowheads="1"/>
          </p:cNvSpPr>
          <p:nvPr/>
        </p:nvSpPr>
        <p:spPr bwMode="auto">
          <a:xfrm>
            <a:off x="809625" y="2166971"/>
            <a:ext cx="36334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dirty="0">
                <a:solidFill>
                  <a:srgbClr val="E67819"/>
                </a:solidFill>
                <a:latin typeface="+mj-lt"/>
                <a:ea typeface="+mj-ea"/>
              </a:rPr>
              <a:t>3.4 </a:t>
            </a:r>
            <a:r>
              <a:rPr lang="zh-CN" altLang="en-US" dirty="0">
                <a:solidFill>
                  <a:srgbClr val="E67819"/>
                </a:solidFill>
                <a:latin typeface="+mj-lt"/>
                <a:ea typeface="+mj-ea"/>
              </a:rPr>
              <a:t>采取有效的质量保证措施</a:t>
            </a:r>
          </a:p>
        </p:txBody>
      </p:sp>
      <p:sp>
        <p:nvSpPr>
          <p:cNvPr id="15" name="矩形 14"/>
          <p:cNvSpPr>
            <a:spLocks noChangeArrowheads="1"/>
          </p:cNvSpPr>
          <p:nvPr/>
        </p:nvSpPr>
        <p:spPr bwMode="auto">
          <a:xfrm>
            <a:off x="6095999" y="2166988"/>
            <a:ext cx="3872876" cy="369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zh-CN" dirty="0">
                <a:solidFill>
                  <a:srgbClr val="E67819"/>
                </a:solidFill>
                <a:latin typeface="+mj-lt"/>
                <a:ea typeface="+mj-ea"/>
              </a:rPr>
              <a:t>3.5 </a:t>
            </a:r>
            <a:r>
              <a:rPr lang="zh-CN" altLang="en-US" dirty="0">
                <a:solidFill>
                  <a:srgbClr val="E67819"/>
                </a:solidFill>
                <a:latin typeface="+mj-lt"/>
                <a:ea typeface="+mj-ea"/>
              </a:rPr>
              <a:t>完善程序的文档</a:t>
            </a:r>
          </a:p>
        </p:txBody>
      </p:sp>
      <p:sp>
        <p:nvSpPr>
          <p:cNvPr id="2" name="文本框 1">
            <a:extLst>
              <a:ext uri="{FF2B5EF4-FFF2-40B4-BE49-F238E27FC236}">
                <a16:creationId xmlns:a16="http://schemas.microsoft.com/office/drawing/2014/main" id="{B267159D-4D2F-0FBE-B454-B52BE185C0DA}"/>
              </a:ext>
            </a:extLst>
          </p:cNvPr>
          <p:cNvSpPr txBox="1"/>
          <p:nvPr/>
        </p:nvSpPr>
        <p:spPr>
          <a:xfrm>
            <a:off x="809625" y="2774267"/>
            <a:ext cx="4860000" cy="2136675"/>
          </a:xfrm>
          <a:prstGeom prst="rect">
            <a:avLst/>
          </a:prstGeom>
          <a:noFill/>
        </p:spPr>
        <p:txBody>
          <a:bodyPr wrap="square" rtlCol="0">
            <a:spAutoFit/>
          </a:bodyPr>
          <a:lstStyle/>
          <a:p>
            <a:pPr algn="l">
              <a:lnSpc>
                <a:spcPct val="120000"/>
              </a:lnSpc>
            </a:pPr>
            <a:r>
              <a:rPr lang="zh-CN" altLang="en-US" sz="1600" dirty="0"/>
              <a:t>软件开发时需要确定中间及最终交付的成果以及所有开发阶段各项工作的质量特征和评价标准。</a:t>
            </a:r>
          </a:p>
          <a:p>
            <a:pPr algn="l">
              <a:lnSpc>
                <a:spcPct val="120000"/>
              </a:lnSpc>
            </a:pPr>
            <a:r>
              <a:rPr lang="zh-CN" altLang="en-US" sz="1600" dirty="0"/>
              <a:t>每个阶段结束前的技术审查和管理复审中，也应着重对可维护性进行复审。</a:t>
            </a:r>
          </a:p>
          <a:p>
            <a:pPr algn="l">
              <a:lnSpc>
                <a:spcPct val="120000"/>
              </a:lnSpc>
            </a:pPr>
            <a:r>
              <a:rPr lang="zh-CN" altLang="en-US" sz="1600" dirty="0"/>
              <a:t>加强软件测试工作，保证软件的质量。</a:t>
            </a:r>
          </a:p>
          <a:p>
            <a:pPr algn="l">
              <a:lnSpc>
                <a:spcPct val="120000"/>
              </a:lnSpc>
            </a:pPr>
            <a:r>
              <a:rPr lang="zh-CN" altLang="en-US" sz="1600" dirty="0"/>
              <a:t>用户要求确保软件质量，如果做不到，软件开发人员就无法生存。</a:t>
            </a:r>
          </a:p>
        </p:txBody>
      </p:sp>
      <p:sp>
        <p:nvSpPr>
          <p:cNvPr id="4" name="文本框 3">
            <a:extLst>
              <a:ext uri="{FF2B5EF4-FFF2-40B4-BE49-F238E27FC236}">
                <a16:creationId xmlns:a16="http://schemas.microsoft.com/office/drawing/2014/main" id="{5F82B5FA-2132-F5BA-130F-D0808C0CD96F}"/>
              </a:ext>
            </a:extLst>
          </p:cNvPr>
          <p:cNvSpPr txBox="1"/>
          <p:nvPr/>
        </p:nvSpPr>
        <p:spPr>
          <a:xfrm>
            <a:off x="6095999" y="2774267"/>
            <a:ext cx="5286375" cy="2727606"/>
          </a:xfrm>
          <a:prstGeom prst="rect">
            <a:avLst/>
          </a:prstGeom>
          <a:noFill/>
        </p:spPr>
        <p:txBody>
          <a:bodyPr wrap="square" rtlCol="0">
            <a:spAutoFit/>
          </a:bodyPr>
          <a:lstStyle/>
          <a:p>
            <a:pPr algn="l">
              <a:lnSpc>
                <a:spcPct val="120000"/>
              </a:lnSpc>
            </a:pPr>
            <a:r>
              <a:rPr lang="zh-CN" altLang="en-US" sz="1600" dirty="0"/>
              <a:t>软件文档应满足下述要求：</a:t>
            </a:r>
          </a:p>
          <a:p>
            <a:pPr algn="l">
              <a:lnSpc>
                <a:spcPct val="120000"/>
              </a:lnSpc>
            </a:pPr>
            <a:r>
              <a:rPr lang="en-US" altLang="zh-CN" sz="1600" dirty="0"/>
              <a:t>1. </a:t>
            </a:r>
            <a:r>
              <a:rPr lang="zh-CN" altLang="en-US" sz="1600" dirty="0"/>
              <a:t>描述如何使用系统，没有这种描述，系统将无法使用</a:t>
            </a:r>
          </a:p>
          <a:p>
            <a:pPr algn="l">
              <a:lnSpc>
                <a:spcPct val="120000"/>
              </a:lnSpc>
            </a:pPr>
            <a:r>
              <a:rPr lang="en-US" altLang="zh-CN" sz="1600" dirty="0"/>
              <a:t>2. </a:t>
            </a:r>
            <a:r>
              <a:rPr lang="zh-CN" altLang="en-US" sz="1600" dirty="0"/>
              <a:t>描述怎样安装和管理系统</a:t>
            </a:r>
          </a:p>
          <a:p>
            <a:pPr algn="l">
              <a:lnSpc>
                <a:spcPct val="120000"/>
              </a:lnSpc>
            </a:pPr>
            <a:r>
              <a:rPr lang="en-US" altLang="zh-CN" sz="1600" dirty="0"/>
              <a:t>3. </a:t>
            </a:r>
            <a:r>
              <a:rPr lang="zh-CN" altLang="en-US" sz="1600" dirty="0"/>
              <a:t>描述系统需求和设计</a:t>
            </a:r>
          </a:p>
          <a:p>
            <a:pPr algn="l">
              <a:lnSpc>
                <a:spcPct val="120000"/>
              </a:lnSpc>
            </a:pPr>
            <a:r>
              <a:rPr lang="en-US" altLang="zh-CN" sz="1600" dirty="0"/>
              <a:t>4. </a:t>
            </a:r>
            <a:r>
              <a:rPr lang="zh-CN" altLang="en-US" sz="1600" dirty="0"/>
              <a:t>描述系统的实现和测试</a:t>
            </a:r>
          </a:p>
          <a:p>
            <a:pPr algn="l">
              <a:lnSpc>
                <a:spcPct val="120000"/>
              </a:lnSpc>
            </a:pPr>
            <a:r>
              <a:rPr lang="zh-CN" altLang="en-US" sz="1600" dirty="0"/>
              <a:t>软件工程生存周期每个阶段的技术复审和管理复审中，应对文档进行检查，对可维护性进行复审</a:t>
            </a:r>
          </a:p>
          <a:p>
            <a:pPr algn="l">
              <a:lnSpc>
                <a:spcPct val="120000"/>
              </a:lnSpc>
            </a:pPr>
            <a:r>
              <a:rPr lang="zh-CN" altLang="en-US" sz="1600" dirty="0"/>
              <a:t>在维护阶段，利用历史文档可大大简化维护工作。历史文档有</a:t>
            </a:r>
            <a:r>
              <a:rPr lang="en-US" altLang="zh-CN" sz="1600" dirty="0"/>
              <a:t>3</a:t>
            </a:r>
            <a:r>
              <a:rPr lang="zh-CN" altLang="en-US" sz="1600" dirty="0"/>
              <a:t>种：系统开发文档、错误记录和系统维护文档</a:t>
            </a:r>
          </a:p>
        </p:txBody>
      </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r>
              <a:rPr lang="en-US" altLang="zh-CN" dirty="0"/>
              <a:t>1</a:t>
            </a:r>
            <a:endParaRPr lang="zh-CN" altLang="en-US" dirty="0"/>
          </a:p>
        </p:txBody>
      </p:sp>
      <p:sp>
        <p:nvSpPr>
          <p:cNvPr id="2" name="椭圆 1"/>
          <p:cNvSpPr/>
          <p:nvPr/>
        </p:nvSpPr>
        <p:spPr>
          <a:xfrm>
            <a:off x="3428455" y="2169500"/>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3766951" y="2565770"/>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sp>
        <p:nvSpPr>
          <p:cNvPr id="40" name="文本框 39"/>
          <p:cNvSpPr txBox="1"/>
          <p:nvPr/>
        </p:nvSpPr>
        <p:spPr>
          <a:xfrm>
            <a:off x="6006555" y="2913198"/>
            <a:ext cx="5137150" cy="830997"/>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effectLst/>
                <a:uLnTx/>
                <a:uFillTx/>
                <a:latin typeface="微软雅黑" panose="020B0503020204020204" charset="-122"/>
                <a:ea typeface="微软雅黑" panose="020B0503020204020204" charset="-122"/>
                <a:cs typeface="+mn-cs"/>
              </a:rPr>
              <a:t>软件重用和再工程</a:t>
            </a:r>
          </a:p>
        </p:txBody>
      </p:sp>
      <p:sp>
        <p:nvSpPr>
          <p:cNvPr id="48" name="文本框 47"/>
          <p:cNvSpPr txBox="1"/>
          <p:nvPr/>
        </p:nvSpPr>
        <p:spPr>
          <a:xfrm>
            <a:off x="6006465" y="4170174"/>
            <a:ext cx="1800000" cy="40011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i="0" u="none" strike="noStrike" kern="1200" cap="none" spc="0" normalizeH="0" noProof="0" dirty="0">
                <a:ln>
                  <a:noFill/>
                </a:ln>
                <a:effectLst/>
                <a:uLnTx/>
                <a:uFillTx/>
                <a:latin typeface="+mj-lt"/>
                <a:ea typeface="+mj-ea"/>
                <a:cs typeface="+mn-cs"/>
              </a:rPr>
              <a:t>软件的重用</a:t>
            </a:r>
          </a:p>
        </p:txBody>
      </p:sp>
      <p:sp>
        <p:nvSpPr>
          <p:cNvPr id="50" name="文本框 49"/>
          <p:cNvSpPr txBox="1"/>
          <p:nvPr/>
        </p:nvSpPr>
        <p:spPr>
          <a:xfrm>
            <a:off x="6006465" y="4654297"/>
            <a:ext cx="2088000" cy="400110"/>
          </a:xfrm>
          <a:prstGeom prst="rect">
            <a:avLst/>
          </a:prstGeom>
          <a:noFill/>
        </p:spPr>
        <p:txBody>
          <a:bodyPr wrap="square">
            <a:spAutoFit/>
          </a:bodyPr>
          <a:lstStyle/>
          <a:p>
            <a:pPr marL="342900" indent="-342900">
              <a:buFont typeface="Arial" panose="020B0604020202020204" pitchFamily="34" charset="0"/>
              <a:buChar char="•"/>
              <a:defRPr/>
            </a:pPr>
            <a:r>
              <a:rPr lang="zh-CN" altLang="en-US" sz="2000" dirty="0">
                <a:latin typeface="+mj-lt"/>
                <a:ea typeface="+mj-ea"/>
              </a:rPr>
              <a:t>软件逆向工程</a:t>
            </a:r>
          </a:p>
        </p:txBody>
      </p:sp>
      <p:sp>
        <p:nvSpPr>
          <p:cNvPr id="5" name="文本框 4"/>
          <p:cNvSpPr txBox="1"/>
          <p:nvPr/>
        </p:nvSpPr>
        <p:spPr>
          <a:xfrm>
            <a:off x="6006465" y="5138420"/>
            <a:ext cx="2088000" cy="400110"/>
          </a:xfrm>
          <a:prstGeom prst="rect">
            <a:avLst/>
          </a:prstGeom>
          <a:noFill/>
        </p:spPr>
        <p:txBody>
          <a:bodyPr wrap="square">
            <a:spAutoFit/>
          </a:bodyPr>
          <a:lstStyle/>
          <a:p>
            <a:pPr marL="342900" indent="-342900">
              <a:buFont typeface="Arial" panose="020B0604020202020204" pitchFamily="34" charset="0"/>
              <a:buChar char="•"/>
              <a:defRPr/>
            </a:pPr>
            <a:r>
              <a:rPr lang="zh-CN" altLang="en-US" sz="2000" dirty="0">
                <a:latin typeface="+mj-lt"/>
                <a:ea typeface="+mj-ea"/>
              </a:rPr>
              <a:t>软件再工程</a:t>
            </a:r>
          </a:p>
        </p:txBody>
      </p:sp>
      <p:sp>
        <p:nvSpPr>
          <p:cNvPr id="6" name="文本框 5"/>
          <p:cNvSpPr txBox="1"/>
          <p:nvPr/>
        </p:nvSpPr>
        <p:spPr>
          <a:xfrm>
            <a:off x="8426824" y="3944888"/>
            <a:ext cx="3168000" cy="338554"/>
          </a:xfrm>
          <a:prstGeom prst="rect">
            <a:avLst/>
          </a:prstGeom>
          <a:noFill/>
        </p:spPr>
        <p:txBody>
          <a:bodyPr wrap="square">
            <a:spAutoFit/>
          </a:bodyPr>
          <a:lstStyle/>
          <a:p>
            <a:pPr lvl="0">
              <a:defRPr/>
            </a:pPr>
            <a:r>
              <a:rPr lang="zh-CN" altLang="en-US" sz="1600" dirty="0">
                <a:latin typeface="+mj-lt"/>
                <a:ea typeface="+mj-ea"/>
              </a:rPr>
              <a:t>软件重用过程模型</a:t>
            </a:r>
            <a:endParaRPr kumimoji="0" lang="zh-CN" altLang="en-US" sz="1600" i="0" u="none" strike="noStrike" kern="1200" cap="none" spc="0" normalizeH="0" noProof="0" dirty="0">
              <a:ln>
                <a:noFill/>
              </a:ln>
              <a:effectLst/>
              <a:uLnTx/>
              <a:uFillTx/>
              <a:latin typeface="+mj-lt"/>
              <a:ea typeface="+mj-ea"/>
              <a:cs typeface="+mn-cs"/>
            </a:endParaRPr>
          </a:p>
        </p:txBody>
      </p:sp>
      <p:sp>
        <p:nvSpPr>
          <p:cNvPr id="7" name="文本框 6"/>
          <p:cNvSpPr txBox="1"/>
          <p:nvPr/>
        </p:nvSpPr>
        <p:spPr>
          <a:xfrm>
            <a:off x="8426824" y="4457015"/>
            <a:ext cx="3168000" cy="338554"/>
          </a:xfrm>
          <a:prstGeom prst="rect">
            <a:avLst/>
          </a:prstGeom>
          <a:noFill/>
        </p:spPr>
        <p:txBody>
          <a:bodyPr wrap="square">
            <a:spAutoFit/>
          </a:bodyPr>
          <a:lstStyle/>
          <a:p>
            <a:pPr lvl="0">
              <a:defRPr/>
            </a:pPr>
            <a:r>
              <a:rPr lang="zh-CN" altLang="en-US" sz="1600" dirty="0">
                <a:latin typeface="+mj-lt"/>
                <a:ea typeface="+mj-ea"/>
              </a:rPr>
              <a:t>开发可重用的软件构件</a:t>
            </a:r>
            <a:endParaRPr kumimoji="0" lang="zh-CN" altLang="en-US" sz="1600" i="0" u="none" strike="noStrike" kern="1200" cap="none" spc="0" normalizeH="0" noProof="0" dirty="0">
              <a:ln>
                <a:noFill/>
              </a:ln>
              <a:effectLst/>
              <a:uLnTx/>
              <a:uFillTx/>
              <a:latin typeface="+mj-lt"/>
              <a:ea typeface="+mj-ea"/>
              <a:cs typeface="+mn-cs"/>
            </a:endParaRPr>
          </a:p>
        </p:txBody>
      </p:sp>
      <p:cxnSp>
        <p:nvCxnSpPr>
          <p:cNvPr id="4" name="连接符: 肘形 3">
            <a:extLst>
              <a:ext uri="{FF2B5EF4-FFF2-40B4-BE49-F238E27FC236}">
                <a16:creationId xmlns:a16="http://schemas.microsoft.com/office/drawing/2014/main" id="{995318F0-DB7F-90B3-BB07-09C93C1275DD}"/>
              </a:ext>
            </a:extLst>
          </p:cNvPr>
          <p:cNvCxnSpPr>
            <a:stCxn id="6" idx="1"/>
            <a:endCxn id="48" idx="3"/>
          </p:cNvCxnSpPr>
          <p:nvPr/>
        </p:nvCxnSpPr>
        <p:spPr>
          <a:xfrm rot="10800000" flipV="1">
            <a:off x="7806466" y="4114165"/>
            <a:ext cx="620359" cy="256064"/>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B33EA21-5E37-BB88-04BA-DF15705BD5BA}"/>
              </a:ext>
            </a:extLst>
          </p:cNvPr>
          <p:cNvCxnSpPr>
            <a:stCxn id="7" idx="1"/>
            <a:endCxn id="48" idx="3"/>
          </p:cNvCxnSpPr>
          <p:nvPr/>
        </p:nvCxnSpPr>
        <p:spPr>
          <a:xfrm rot="10800000">
            <a:off x="7806466" y="4370230"/>
            <a:ext cx="620359" cy="256063"/>
          </a:xfrm>
          <a:prstGeom prst="bentConnector3">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D005234D-90AB-423E-6D40-110D2946A790}"/>
              </a:ext>
            </a:extLst>
          </p:cNvPr>
          <p:cNvSpPr txBox="1"/>
          <p:nvPr/>
        </p:nvSpPr>
        <p:spPr>
          <a:xfrm>
            <a:off x="1640633" y="2724538"/>
            <a:ext cx="8910735" cy="1062663"/>
          </a:xfrm>
          <a:prstGeom prst="rect">
            <a:avLst/>
          </a:prstGeom>
          <a:noFill/>
        </p:spPr>
        <p:txBody>
          <a:bodyPr wrap="square" rtlCol="0">
            <a:spAutoFit/>
          </a:bodyPr>
          <a:lstStyle/>
          <a:p>
            <a:pPr algn="l">
              <a:lnSpc>
                <a:spcPct val="120000"/>
              </a:lnSpc>
            </a:pPr>
            <a:r>
              <a:rPr lang="zh-CN" altLang="en-US" dirty="0"/>
              <a:t>在软件开发、维护中采用重用软件构件，一般可以比从头开发这个软件更加容易。软件重用的目的是能更快、更好、成本更低地生产软件制品。各种软件开发过程都能使用重用软件构件，利用面向对象技术，可以方便有效地实现软件重用。</a:t>
            </a:r>
          </a:p>
        </p:txBody>
      </p:sp>
    </p:spTree>
    <p:extLst>
      <p:ext uri="{BB962C8B-B14F-4D97-AF65-F5344CB8AC3E}">
        <p14:creationId xmlns:p14="http://schemas.microsoft.com/office/powerpoint/2010/main" val="25254557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6" name="矩形 5"/>
          <p:cNvSpPr/>
          <p:nvPr/>
        </p:nvSpPr>
        <p:spPr>
          <a:xfrm>
            <a:off x="0" y="2160000"/>
            <a:ext cx="12192000" cy="3456000"/>
          </a:xfrm>
          <a:prstGeom prst="rect">
            <a:avLst/>
          </a:prstGeom>
          <a:solidFill>
            <a:srgbClr val="00808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TextBox 6">
            <a:extLst>
              <a:ext uri="{FF2B5EF4-FFF2-40B4-BE49-F238E27FC236}">
                <a16:creationId xmlns:a16="http://schemas.microsoft.com/office/drawing/2014/main" id="{C6368B45-6A83-7543-7697-B6DBD0E6C0FA}"/>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软件重用 </a:t>
            </a:r>
            <a:r>
              <a:rPr lang="en-US" sz="2400" dirty="0">
                <a:solidFill>
                  <a:schemeClr val="tx1"/>
                </a:solidFill>
              </a:rPr>
              <a:t>Software Reuse</a:t>
            </a:r>
          </a:p>
        </p:txBody>
      </p:sp>
      <p:sp>
        <p:nvSpPr>
          <p:cNvPr id="5" name="文本框 4">
            <a:extLst>
              <a:ext uri="{FF2B5EF4-FFF2-40B4-BE49-F238E27FC236}">
                <a16:creationId xmlns:a16="http://schemas.microsoft.com/office/drawing/2014/main" id="{B5E9FB24-3719-4302-E018-E9D5E6BB2AD1}"/>
              </a:ext>
            </a:extLst>
          </p:cNvPr>
          <p:cNvSpPr txBox="1"/>
          <p:nvPr/>
        </p:nvSpPr>
        <p:spPr>
          <a:xfrm>
            <a:off x="809625" y="2593492"/>
            <a:ext cx="7056081" cy="2392258"/>
          </a:xfrm>
          <a:prstGeom prst="rect">
            <a:avLst/>
          </a:prstGeom>
          <a:noFill/>
        </p:spPr>
        <p:txBody>
          <a:bodyPr wrap="square" rtlCol="0">
            <a:spAutoFit/>
          </a:bodyPr>
          <a:lstStyle/>
          <a:p>
            <a:pPr>
              <a:lnSpc>
                <a:spcPct val="120000"/>
              </a:lnSpc>
            </a:pPr>
            <a:r>
              <a:rPr lang="zh-CN" altLang="en-US" dirty="0">
                <a:solidFill>
                  <a:schemeClr val="bg1"/>
                </a:solidFill>
              </a:rPr>
              <a:t>软件重用：指在软件开发、维护过程中不作修改或稍加修改就可以重复使用相同或相似的软件元素的过程。</a:t>
            </a:r>
            <a:endParaRPr lang="en-US" altLang="zh-CN" dirty="0">
              <a:solidFill>
                <a:schemeClr val="bg1"/>
              </a:solidFill>
            </a:endParaRPr>
          </a:p>
          <a:p>
            <a:pPr>
              <a:lnSpc>
                <a:spcPct val="120000"/>
              </a:lnSpc>
            </a:pPr>
            <a:r>
              <a:rPr lang="zh-CN" altLang="en-US" dirty="0">
                <a:solidFill>
                  <a:schemeClr val="bg1"/>
                </a:solidFill>
              </a:rPr>
              <a:t>这些软件元素包括应用领域知识、开发经验、设计经验、体系结构、需求分析文档、设计文档、程序代码和测试用例等。</a:t>
            </a:r>
            <a:endParaRPr lang="en-US" altLang="zh-CN" dirty="0">
              <a:solidFill>
                <a:schemeClr val="bg1"/>
              </a:solidFill>
            </a:endParaRPr>
          </a:p>
          <a:p>
            <a:pPr>
              <a:lnSpc>
                <a:spcPct val="120000"/>
              </a:lnSpc>
            </a:pPr>
            <a:r>
              <a:rPr lang="zh-CN" altLang="en-US" dirty="0">
                <a:solidFill>
                  <a:schemeClr val="bg1"/>
                </a:solidFill>
              </a:rPr>
              <a:t>对于新的软件开发项目而言，它们是构成整个软件系统的部件，或者在软件开发过程中可发挥某种作用。</a:t>
            </a:r>
            <a:endParaRPr lang="en-US" altLang="zh-CN" dirty="0">
              <a:solidFill>
                <a:schemeClr val="bg1"/>
              </a:solidFill>
            </a:endParaRPr>
          </a:p>
          <a:p>
            <a:pPr>
              <a:lnSpc>
                <a:spcPct val="120000"/>
              </a:lnSpc>
            </a:pPr>
            <a:r>
              <a:rPr lang="zh-CN" altLang="en-US" dirty="0">
                <a:solidFill>
                  <a:schemeClr val="bg1"/>
                </a:solidFill>
              </a:rPr>
              <a:t>通常把这些软件元素称为软件构件。</a:t>
            </a:r>
          </a:p>
        </p:txBody>
      </p:sp>
      <p:pic>
        <p:nvPicPr>
          <p:cNvPr id="8" name="图片 7" descr="A000220150318R99PPIC">
            <a:extLst>
              <a:ext uri="{FF2B5EF4-FFF2-40B4-BE49-F238E27FC236}">
                <a16:creationId xmlns:a16="http://schemas.microsoft.com/office/drawing/2014/main" id="{BE4B83B6-E987-D32B-61F7-B737DC26B45E}"/>
              </a:ext>
            </a:extLst>
          </p:cNvPr>
          <p:cNvPicPr>
            <a:picLocks noChangeAspect="1"/>
          </p:cNvPicPr>
          <p:nvPr/>
        </p:nvPicPr>
        <p:blipFill>
          <a:blip r:embed="rId4" cstate="print"/>
          <a:stretch>
            <a:fillRect/>
          </a:stretch>
        </p:blipFill>
        <p:spPr>
          <a:xfrm>
            <a:off x="8169910" y="2329815"/>
            <a:ext cx="3915410" cy="3148330"/>
          </a:xfrm>
          <a:prstGeom prst="rect">
            <a:avLst/>
          </a:prstGeom>
        </p:spPr>
      </p:pic>
    </p:spTree>
    <p:custDataLst>
      <p:tags r:id="rId1"/>
    </p:custDataLst>
  </p:cSld>
  <p:clrMapOvr>
    <a:masterClrMapping/>
  </p:clrMapOvr>
  <p:transition>
    <p:wheel spokes="3"/>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950885" y="3057150"/>
            <a:ext cx="2682690"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知识重用</a:t>
            </a:r>
          </a:p>
        </p:txBody>
      </p:sp>
      <p:sp>
        <p:nvSpPr>
          <p:cNvPr id="18" name="MH_Other_3"/>
          <p:cNvSpPr/>
          <p:nvPr>
            <p:custDataLst>
              <p:tags r:id="rId8"/>
            </p:custDataLst>
          </p:nvPr>
        </p:nvSpPr>
        <p:spPr>
          <a:xfrm rot="18073167">
            <a:off x="1301223" y="3284196"/>
            <a:ext cx="1748964"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知识重用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1</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612982"/>
            <a:ext cx="7011973" cy="857250"/>
          </a:xfrm>
          <a:prstGeom prst="rect">
            <a:avLst/>
          </a:prstGeom>
          <a:noFill/>
          <a:ln w="9525">
            <a:noFill/>
            <a:miter lim="800000"/>
          </a:ln>
        </p:spPr>
        <p:txBody>
          <a:bodyPr lIns="216000" tIns="34290" rIns="68580" bIns="34290" anchor="ctr"/>
          <a:lstStyle/>
          <a:p>
            <a:pPr>
              <a:lnSpc>
                <a:spcPct val="120000"/>
              </a:lnSpc>
            </a:pPr>
            <a:r>
              <a:rPr lang="zh-CN" altLang="en-US" sz="2000" dirty="0"/>
              <a:t>知识重用是多方面的，例如，软件工程知识，开发经验、设计经验、应用领域知识等的重用。</a:t>
            </a:r>
          </a:p>
        </p:txBody>
      </p:sp>
    </p:spTree>
    <p:custDataLst>
      <p:tags r:id="rId1"/>
    </p:custDataLst>
  </p:cSld>
  <p:clrMapOvr>
    <a:masterClrMapping/>
  </p:clrMapOvr>
  <p:transition>
    <p:wheel spokes="3"/>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1"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9"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4"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6"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70"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软件成分的重用</a:t>
            </a:r>
          </a:p>
        </p:txBody>
      </p:sp>
      <p:sp>
        <p:nvSpPr>
          <p:cNvPr id="17" name="MH_SubTitle_2"/>
          <p:cNvSpPr/>
          <p:nvPr>
            <p:custDataLst>
              <p:tags r:id="rId7"/>
            </p:custDataLst>
          </p:nvPr>
        </p:nvSpPr>
        <p:spPr>
          <a:xfrm rot="3673167">
            <a:off x="1186530" y="2983427"/>
            <a:ext cx="2130405" cy="25120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方法和标准重用</a:t>
            </a:r>
          </a:p>
        </p:txBody>
      </p:sp>
      <p:sp>
        <p:nvSpPr>
          <p:cNvPr id="18" name="MH_Other_3"/>
          <p:cNvSpPr/>
          <p:nvPr>
            <p:custDataLst>
              <p:tags r:id="rId8"/>
            </p:custDataLst>
          </p:nvPr>
        </p:nvSpPr>
        <p:spPr>
          <a:xfrm rot="18073167">
            <a:off x="1076221" y="3284688"/>
            <a:ext cx="2198371"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6"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方法和标准重用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2</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83259"/>
            <a:ext cx="7011973" cy="1516697"/>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方法和标准的重用包括：</a:t>
            </a:r>
            <a:endParaRPr lang="en-US" altLang="zh-CN" sz="2000" dirty="0"/>
          </a:p>
          <a:p>
            <a:pPr indent="457200">
              <a:lnSpc>
                <a:spcPct val="120000"/>
              </a:lnSpc>
            </a:pPr>
            <a:r>
              <a:rPr lang="zh-CN" altLang="en-US" sz="2000" dirty="0"/>
              <a:t>传统软件工程方法</a:t>
            </a:r>
            <a:endParaRPr lang="en-US" altLang="zh-CN" sz="2000" dirty="0"/>
          </a:p>
          <a:p>
            <a:pPr indent="457200">
              <a:lnSpc>
                <a:spcPct val="120000"/>
              </a:lnSpc>
            </a:pPr>
            <a:r>
              <a:rPr lang="zh-CN" altLang="en-US" sz="2000" dirty="0"/>
              <a:t>面向对象方法</a:t>
            </a:r>
            <a:endParaRPr lang="en-US" altLang="zh-CN" sz="2000" dirty="0"/>
          </a:p>
          <a:p>
            <a:pPr indent="457200">
              <a:lnSpc>
                <a:spcPct val="120000"/>
              </a:lnSpc>
            </a:pPr>
            <a:r>
              <a:rPr lang="zh-CN" altLang="en-US" sz="2000" dirty="0"/>
              <a:t>有关软件开发的国家标准和国际标准的重用</a:t>
            </a:r>
          </a:p>
        </p:txBody>
      </p:sp>
    </p:spTree>
    <p:custDataLst>
      <p:tags r:id="rId1"/>
    </p:custDataLst>
  </p:cSld>
  <p:clrMapOvr>
    <a:masterClrMapping/>
  </p:clrMapOvr>
  <p:transition>
    <p:wheel spokes="3"/>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9" name="MH_SubTitle_1"/>
          <p:cNvSpPr/>
          <p:nvPr>
            <p:custDataLst>
              <p:tags r:id="rId2"/>
            </p:custDataLst>
          </p:nvPr>
        </p:nvSpPr>
        <p:spPr bwMode="auto">
          <a:xfrm>
            <a:off x="1143570" y="2935437"/>
            <a:ext cx="1398016" cy="1818107"/>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3"/>
            </p:custDataLst>
          </p:nvPr>
        </p:nvSpPr>
        <p:spPr bwMode="auto">
          <a:xfrm>
            <a:off x="1383868" y="4551117"/>
            <a:ext cx="2246361" cy="80657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4"/>
            </p:custDataLst>
          </p:nvPr>
        </p:nvSpPr>
        <p:spPr bwMode="auto">
          <a:xfrm>
            <a:off x="2424193" y="2935842"/>
            <a:ext cx="1352292" cy="1764217"/>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6">
              <a:lumMod val="40000"/>
              <a:lumOff val="6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5"/>
            </p:custDataLst>
          </p:nvPr>
        </p:nvSpPr>
        <p:spPr>
          <a:xfrm>
            <a:off x="1666975" y="3428275"/>
            <a:ext cx="1601346" cy="1454132"/>
          </a:xfrm>
          <a:prstGeom prst="ellipse">
            <a:avLst/>
          </a:prstGeom>
          <a:solidFill>
            <a:schemeClr val="accent6"/>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6"/>
            </p:custDataLst>
          </p:nvPr>
        </p:nvSpPr>
        <p:spPr>
          <a:xfrm rot="10873167">
            <a:off x="1400269" y="3186088"/>
            <a:ext cx="2134756" cy="193850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知识重用</a:t>
            </a:r>
          </a:p>
        </p:txBody>
      </p:sp>
      <p:sp>
        <p:nvSpPr>
          <p:cNvPr id="17" name="MH_SubTitle_2"/>
          <p:cNvSpPr/>
          <p:nvPr>
            <p:custDataLst>
              <p:tags r:id="rId7"/>
            </p:custDataLst>
          </p:nvPr>
        </p:nvSpPr>
        <p:spPr>
          <a:xfrm rot="3673167">
            <a:off x="1166664" y="3040751"/>
            <a:ext cx="2271555" cy="25120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9745372"/>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软件成分的重用</a:t>
            </a:r>
          </a:p>
        </p:txBody>
      </p:sp>
      <p:sp>
        <p:nvSpPr>
          <p:cNvPr id="18" name="MH_Other_3"/>
          <p:cNvSpPr/>
          <p:nvPr>
            <p:custDataLst>
              <p:tags r:id="rId8"/>
            </p:custDataLst>
          </p:nvPr>
        </p:nvSpPr>
        <p:spPr>
          <a:xfrm rot="18073167">
            <a:off x="1186069" y="3328202"/>
            <a:ext cx="1968936" cy="15151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38535"/>
              </a:avLst>
            </a:prstTxWarp>
            <a:normAutofit/>
          </a:bodyPr>
          <a:lstStyle/>
          <a:p>
            <a:pPr algn="ctr">
              <a:defRPr/>
            </a:pPr>
            <a:r>
              <a:rPr lang="zh-CN" altLang="en-US" sz="2000" dirty="0">
                <a:solidFill>
                  <a:srgbClr val="7D7D7D"/>
                </a:solidFill>
                <a:latin typeface="微软雅黑" panose="020B0503020204020204" charset="-122"/>
                <a:ea typeface="微软雅黑" panose="020B0503020204020204" charset="-122"/>
              </a:rPr>
              <a:t>方法和标准重用</a:t>
            </a:r>
          </a:p>
        </p:txBody>
      </p:sp>
      <p:sp>
        <p:nvSpPr>
          <p:cNvPr id="8" name="任意多边形 7"/>
          <p:cNvSpPr/>
          <p:nvPr/>
        </p:nvSpPr>
        <p:spPr>
          <a:xfrm flipH="1">
            <a:off x="3393336" y="2567772"/>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4" name="MH_SubTitle_1"/>
          <p:cNvSpPr/>
          <p:nvPr>
            <p:custDataLst>
              <p:tags r:id="rId9"/>
            </p:custDataLst>
          </p:nvPr>
        </p:nvSpPr>
        <p:spPr>
          <a:xfrm>
            <a:off x="4291224" y="2750652"/>
            <a:ext cx="3356610" cy="527050"/>
          </a:xfrm>
          <a:prstGeom prst="rect">
            <a:avLst/>
          </a:prstGeom>
          <a:solidFill>
            <a:schemeClr val="accent6"/>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软件成分的重用</a:t>
            </a:r>
          </a:p>
        </p:txBody>
      </p:sp>
      <p:sp>
        <p:nvSpPr>
          <p:cNvPr id="15" name="MH_Other_1"/>
          <p:cNvSpPr/>
          <p:nvPr>
            <p:custDataLst>
              <p:tags r:id="rId10"/>
            </p:custDataLst>
          </p:nvPr>
        </p:nvSpPr>
        <p:spPr>
          <a:xfrm>
            <a:off x="4038496" y="2746842"/>
            <a:ext cx="574012" cy="535305"/>
          </a:xfrm>
          <a:prstGeom prst="ellipse">
            <a:avLst/>
          </a:prstGeom>
          <a:solidFill>
            <a:srgbClr val="FFFFFF"/>
          </a:solidFill>
          <a:ln w="28575" cap="flat" cmpd="sng" algn="ctr">
            <a:solidFill>
              <a:schemeClr val="accent6"/>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6"/>
                </a:solidFill>
                <a:latin typeface="Times New Roman" panose="02020603050405020304" pitchFamily="18" charset="0"/>
                <a:ea typeface="Kozuka Gothic Pr6N B" panose="020B0800000000000000" pitchFamily="34" charset="-128"/>
              </a:rPr>
              <a:t>3</a:t>
            </a:r>
            <a:endParaRPr lang="zh-CN" altLang="en-US" sz="2000" b="1" kern="0" dirty="0">
              <a:solidFill>
                <a:schemeClr val="accent6"/>
              </a:solidFill>
              <a:latin typeface="Times New Roman" panose="02020603050405020304" pitchFamily="18" charset="0"/>
              <a:ea typeface="Kozuka Gothic Pr6N B" panose="020B0800000000000000" pitchFamily="34" charset="-128"/>
            </a:endParaRPr>
          </a:p>
        </p:txBody>
      </p:sp>
      <p:sp>
        <p:nvSpPr>
          <p:cNvPr id="10" name="MH_SubTitle_1"/>
          <p:cNvSpPr txBox="1">
            <a:spLocks noChangeArrowheads="1"/>
          </p:cNvSpPr>
          <p:nvPr>
            <p:custDataLst>
              <p:tags r:id="rId11"/>
            </p:custDataLst>
          </p:nvPr>
        </p:nvSpPr>
        <p:spPr bwMode="auto">
          <a:xfrm flipH="1">
            <a:off x="4291224" y="3267870"/>
            <a:ext cx="7011973" cy="1547475"/>
          </a:xfrm>
          <a:prstGeom prst="rect">
            <a:avLst/>
          </a:prstGeom>
          <a:noFill/>
          <a:ln w="9525">
            <a:noFill/>
            <a:miter lim="800000"/>
          </a:ln>
        </p:spPr>
        <p:txBody>
          <a:bodyPr lIns="216000" tIns="34290" rIns="68580" bIns="34290" anchor="ctr">
            <a:spAutoFit/>
          </a:bodyPr>
          <a:lstStyle/>
          <a:p>
            <a:pPr>
              <a:lnSpc>
                <a:spcPct val="120000"/>
              </a:lnSpc>
            </a:pPr>
            <a:r>
              <a:rPr lang="zh-CN" altLang="en-US" sz="2000" dirty="0"/>
              <a:t>软件成分的重用可分为3个级别：</a:t>
            </a:r>
            <a:endParaRPr lang="en-US" altLang="zh-CN" sz="2000" dirty="0"/>
          </a:p>
          <a:p>
            <a:pPr indent="457200">
              <a:lnSpc>
                <a:spcPct val="120000"/>
              </a:lnSpc>
            </a:pPr>
            <a:r>
              <a:rPr lang="zh-CN" altLang="en-US" sz="2000" dirty="0"/>
              <a:t>源代码重用</a:t>
            </a:r>
            <a:endParaRPr lang="en-US" altLang="zh-CN" sz="2000" dirty="0"/>
          </a:p>
          <a:p>
            <a:pPr indent="457200">
              <a:lnSpc>
                <a:spcPct val="120000"/>
              </a:lnSpc>
            </a:pPr>
            <a:r>
              <a:rPr lang="zh-CN" altLang="en-US" sz="2000" dirty="0"/>
              <a:t>设计结果重用</a:t>
            </a:r>
            <a:endParaRPr lang="en-US" altLang="zh-CN" sz="2000" dirty="0"/>
          </a:p>
          <a:p>
            <a:pPr indent="457200">
              <a:lnSpc>
                <a:spcPct val="120000"/>
              </a:lnSpc>
            </a:pPr>
            <a:r>
              <a:rPr lang="zh-CN" altLang="en-US" sz="2000" dirty="0"/>
              <a:t>规格说明重用</a:t>
            </a:r>
          </a:p>
        </p:txBody>
      </p:sp>
    </p:spTree>
    <p:custDataLst>
      <p:tags r:id="rId1"/>
    </p:custData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429285" y="3240000"/>
            <a:ext cx="9498563" cy="1635128"/>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源代码的剪贴：这种重用存在配置管理问题，无法跟踪代码块的修改重用过程。</a:t>
            </a:r>
          </a:p>
          <a:p>
            <a:pPr indent="457200">
              <a:lnSpc>
                <a:spcPct val="120000"/>
              </a:lnSpc>
              <a:defRPr/>
            </a:pPr>
            <a:r>
              <a:rPr lang="da-DK" altLang="zh-CN" dirty="0">
                <a:solidFill>
                  <a:schemeClr val="tx1"/>
                </a:solidFill>
              </a:rPr>
              <a:t>源代码包含（Include）：许多程序设计语言都提供Include机制，所包含的程序库要经过重新编译，才能运行。</a:t>
            </a:r>
          </a:p>
          <a:p>
            <a:pPr indent="457200">
              <a:lnSpc>
                <a:spcPct val="120000"/>
              </a:lnSpc>
              <a:defRPr/>
            </a:pPr>
            <a:r>
              <a:rPr lang="da-DK" altLang="zh-CN" dirty="0">
                <a:solidFill>
                  <a:schemeClr val="tx1"/>
                </a:solidFill>
              </a:rPr>
              <a:t>继承：利用继承机制重用类库中的类时，不必修改已有代码，就可以扩充类，或找到需要的类。</a:t>
            </a:r>
          </a:p>
        </p:txBody>
      </p:sp>
      <p:sp>
        <p:nvSpPr>
          <p:cNvPr id="35" name="MH_SubTitle_2"/>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源代码重用</a:t>
            </a:r>
          </a:p>
        </p:txBody>
      </p:sp>
      <p:sp>
        <p:nvSpPr>
          <p:cNvPr id="36" name="MH_Other_5"/>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grpSp>
        <p:nvGrpSpPr>
          <p:cNvPr id="3" name="组合 2">
            <a:extLst>
              <a:ext uri="{FF2B5EF4-FFF2-40B4-BE49-F238E27FC236}">
                <a16:creationId xmlns:a16="http://schemas.microsoft.com/office/drawing/2014/main" id="{570404D0-F24E-831A-7536-8FBF8527A337}"/>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6F33FFD3-B7BD-4F36-AE56-EAE981EF8958}"/>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639D332C-F0E3-91AA-5B55-1A36395D0C58}"/>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49DDD4C7-671B-8198-AAF1-9FF004F3A70A}"/>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DF9B1312-9C35-B624-B203-CBD3CCF45045}"/>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0E95C63D-30F8-0A26-621F-FA99D23CCF71}"/>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2D92E5B1-5C64-9D50-B120-7E34F00AB17B}"/>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C5997BD1-3813-08DB-20CC-BB476B057406}"/>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Tree>
    <p:custDataLst>
      <p:tags r:id="rId1"/>
    </p:custDataLst>
  </p:cSld>
  <p:clrMapOvr>
    <a:masterClrMapping/>
  </p:clrMapOvr>
  <p:transition>
    <p:wheel spokes="3"/>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9396A25C-1B92-0A10-6015-10FA64064C66}"/>
              </a:ext>
            </a:extLst>
          </p:cNvPr>
          <p:cNvGrpSpPr/>
          <p:nvPr/>
        </p:nvGrpSpPr>
        <p:grpSpPr>
          <a:xfrm>
            <a:off x="15240" y="3600000"/>
            <a:ext cx="12122867" cy="1515492"/>
            <a:chOff x="15240" y="2694427"/>
            <a:chExt cx="12122867" cy="1515492"/>
          </a:xfrm>
        </p:grpSpPr>
        <p:sp>
          <p:nvSpPr>
            <p:cNvPr id="6" name="MH_Other_1"/>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14675" y="4163706"/>
            <a:ext cx="750500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indent="457200">
              <a:lnSpc>
                <a:spcPct val="120000"/>
              </a:lnSpc>
              <a:defRPr/>
            </a:pPr>
            <a:r>
              <a:rPr lang="da-DK" altLang="zh-CN" dirty="0">
                <a:solidFill>
                  <a:schemeClr val="tx1"/>
                </a:solidFill>
              </a:rPr>
              <a:t>设计结果的重用包括体系结构的重用。设计结果的重用有助于把应用软件系统移植到不同的软件或硬件平台上。</a:t>
            </a:r>
          </a:p>
        </p:txBody>
      </p:sp>
      <p:sp>
        <p:nvSpPr>
          <p:cNvPr id="18"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sp>
        <p:nvSpPr>
          <p:cNvPr id="4" name="MH_SubTitle_2">
            <a:extLst>
              <a:ext uri="{FF2B5EF4-FFF2-40B4-BE49-F238E27FC236}">
                <a16:creationId xmlns:a16="http://schemas.microsoft.com/office/drawing/2014/main" id="{BF363A85-9767-AA8A-BB38-EF63B2B0E78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设计结果重用</a:t>
            </a:r>
          </a:p>
        </p:txBody>
      </p:sp>
      <p:sp>
        <p:nvSpPr>
          <p:cNvPr id="8" name="MH_Other_5">
            <a:extLst>
              <a:ext uri="{FF2B5EF4-FFF2-40B4-BE49-F238E27FC236}">
                <a16:creationId xmlns:a16="http://schemas.microsoft.com/office/drawing/2014/main" id="{5E4EDB74-46DC-88B3-DD4E-49E8C7B45DC9}"/>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9" name="MH_Other_6">
            <a:extLst>
              <a:ext uri="{FF2B5EF4-FFF2-40B4-BE49-F238E27FC236}">
                <a16:creationId xmlns:a16="http://schemas.microsoft.com/office/drawing/2014/main" id="{F59E672E-E543-7A31-0922-AE28CDD3A2EE}"/>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BF638BDD-44A3-B8CC-E1C2-8C94CFAF51EE}"/>
              </a:ext>
            </a:extLst>
          </p:cNvPr>
          <p:cNvGrpSpPr/>
          <p:nvPr/>
        </p:nvGrpSpPr>
        <p:grpSpPr>
          <a:xfrm>
            <a:off x="15240" y="3600000"/>
            <a:ext cx="12122867" cy="1515492"/>
            <a:chOff x="15240" y="2694427"/>
            <a:chExt cx="12122867" cy="1515492"/>
          </a:xfrm>
        </p:grpSpPr>
        <p:sp>
          <p:nvSpPr>
            <p:cNvPr id="4" name="MH_Other_1">
              <a:extLst>
                <a:ext uri="{FF2B5EF4-FFF2-40B4-BE49-F238E27FC236}">
                  <a16:creationId xmlns:a16="http://schemas.microsoft.com/office/drawing/2014/main" id="{3ED788DB-33C0-7AE6-34AC-5F98E6826E6D}"/>
                </a:ext>
              </a:extLst>
            </p:cNvPr>
            <p:cNvSpPr/>
            <p:nvPr>
              <p:custDataLst>
                <p:tags r:id="rId6"/>
              </p:custDataLst>
            </p:nvPr>
          </p:nvSpPr>
          <p:spPr bwMode="auto">
            <a:xfrm>
              <a:off x="15240" y="2703368"/>
              <a:ext cx="1632627"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2">
              <a:extLst>
                <a:ext uri="{FF2B5EF4-FFF2-40B4-BE49-F238E27FC236}">
                  <a16:creationId xmlns:a16="http://schemas.microsoft.com/office/drawing/2014/main" id="{DF552613-011A-5FD1-EA9E-F1B068A6D79B}"/>
                </a:ext>
              </a:extLst>
            </p:cNvPr>
            <p:cNvSpPr/>
            <p:nvPr>
              <p:custDataLst>
                <p:tags r:id="rId7"/>
              </p:custDataLst>
            </p:nvPr>
          </p:nvSpPr>
          <p:spPr bwMode="auto">
            <a:xfrm>
              <a:off x="1338107" y="4137919"/>
              <a:ext cx="1080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9" name="MH_Other_3">
              <a:extLst>
                <a:ext uri="{FF2B5EF4-FFF2-40B4-BE49-F238E27FC236}">
                  <a16:creationId xmlns:a16="http://schemas.microsoft.com/office/drawing/2014/main" id="{0A5EAE9F-D1D8-C69E-6EE6-0794A3530D42}"/>
                </a:ext>
              </a:extLst>
            </p:cNvPr>
            <p:cNvSpPr/>
            <p:nvPr>
              <p:custDataLst>
                <p:tags r:id="rId8"/>
              </p:custDataLst>
            </p:nvPr>
          </p:nvSpPr>
          <p:spPr>
            <a:xfrm>
              <a:off x="1545225" y="2880487"/>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0" name="MH_Other_4">
              <a:extLst>
                <a:ext uri="{FF2B5EF4-FFF2-40B4-BE49-F238E27FC236}">
                  <a16:creationId xmlns:a16="http://schemas.microsoft.com/office/drawing/2014/main" id="{234153A5-3415-FFB4-7B4F-2B23155E0543}"/>
                </a:ext>
              </a:extLst>
            </p:cNvPr>
            <p:cNvSpPr>
              <a:spLocks noChangeArrowheads="1"/>
            </p:cNvSpPr>
            <p:nvPr>
              <p:custDataLst>
                <p:tags r:id="rId9"/>
              </p:custDataLst>
            </p:nvPr>
          </p:nvSpPr>
          <p:spPr bwMode="gray">
            <a:xfrm rot="15266332" flipV="1">
              <a:off x="1529849" y="2845453"/>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4" name="MH_Other_5">
              <a:extLst>
                <a:ext uri="{FF2B5EF4-FFF2-40B4-BE49-F238E27FC236}">
                  <a16:creationId xmlns:a16="http://schemas.microsoft.com/office/drawing/2014/main" id="{F9B026CF-A01B-B075-15B2-E6A860BA79CE}"/>
                </a:ext>
              </a:extLst>
            </p:cNvPr>
            <p:cNvSpPr>
              <a:spLocks noChangeArrowheads="1"/>
            </p:cNvSpPr>
            <p:nvPr>
              <p:custDataLst>
                <p:tags r:id="rId10"/>
              </p:custDataLst>
            </p:nvPr>
          </p:nvSpPr>
          <p:spPr bwMode="gray">
            <a:xfrm rot="15334360" flipV="1">
              <a:off x="1197584" y="4027219"/>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5" name="MH_Other_6">
              <a:extLst>
                <a:ext uri="{FF2B5EF4-FFF2-40B4-BE49-F238E27FC236}">
                  <a16:creationId xmlns:a16="http://schemas.microsoft.com/office/drawing/2014/main" id="{A3C67145-2966-8CF6-E0BB-F7E25F286429}"/>
                </a:ext>
              </a:extLst>
            </p:cNvPr>
            <p:cNvSpPr>
              <a:spLocks noChangeArrowheads="1"/>
            </p:cNvSpPr>
            <p:nvPr>
              <p:custDataLst>
                <p:tags r:id="rId11"/>
              </p:custDataLst>
            </p:nvPr>
          </p:nvSpPr>
          <p:spPr bwMode="gray">
            <a:xfrm rot="19641219">
              <a:off x="1351808" y="3423946"/>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6" name="MH_Other_7">
              <a:extLst>
                <a:ext uri="{FF2B5EF4-FFF2-40B4-BE49-F238E27FC236}">
                  <a16:creationId xmlns:a16="http://schemas.microsoft.com/office/drawing/2014/main" id="{88DEE6E5-6641-CD3B-C518-082285E1929C}"/>
                </a:ext>
              </a:extLst>
            </p:cNvPr>
            <p:cNvSpPr/>
            <p:nvPr>
              <p:custDataLst>
                <p:tags r:id="rId12"/>
              </p:custDataLst>
            </p:nvPr>
          </p:nvSpPr>
          <p:spPr>
            <a:xfrm>
              <a:off x="990466" y="3306922"/>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grpSp>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27" name="MH_Text_1"/>
          <p:cNvSpPr/>
          <p:nvPr>
            <p:custDataLst>
              <p:tags r:id="rId2"/>
            </p:custDataLst>
          </p:nvPr>
        </p:nvSpPr>
        <p:spPr bwMode="auto">
          <a:xfrm>
            <a:off x="2893216" y="4242211"/>
            <a:ext cx="7387278" cy="637932"/>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lnSpc>
                <a:spcPct val="120000"/>
              </a:lnSpc>
              <a:defRPr/>
            </a:pPr>
            <a:r>
              <a:rPr lang="da-DK" altLang="zh-CN" dirty="0">
                <a:solidFill>
                  <a:schemeClr val="tx1"/>
                </a:solidFill>
              </a:rPr>
              <a:t>规格说明重用</a:t>
            </a:r>
            <a:r>
              <a:rPr lang="zh-CN" altLang="en-US" dirty="0">
                <a:solidFill>
                  <a:schemeClr val="tx1"/>
                </a:solidFill>
              </a:rPr>
              <a:t>；</a:t>
            </a:r>
            <a:endParaRPr lang="en-US" altLang="zh-CN" dirty="0">
              <a:solidFill>
                <a:schemeClr val="tx1"/>
              </a:solidFill>
            </a:endParaRPr>
          </a:p>
          <a:p>
            <a:pPr>
              <a:lnSpc>
                <a:spcPct val="120000"/>
              </a:lnSpc>
              <a:defRPr/>
            </a:pPr>
            <a:r>
              <a:rPr lang="da-DK" altLang="zh-CN" dirty="0">
                <a:solidFill>
                  <a:schemeClr val="tx1"/>
                </a:solidFill>
              </a:rPr>
              <a:t>特别适用于用户需求没有改变，但是系统体系结构发生了变化的场合。</a:t>
            </a:r>
          </a:p>
        </p:txBody>
      </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可重用的软件成分</a:t>
              </a:r>
            </a:p>
          </p:txBody>
        </p:sp>
      </p:grpSp>
      <p:sp>
        <p:nvSpPr>
          <p:cNvPr id="21" name="MH_SubTitle_2">
            <a:extLst>
              <a:ext uri="{FF2B5EF4-FFF2-40B4-BE49-F238E27FC236}">
                <a16:creationId xmlns:a16="http://schemas.microsoft.com/office/drawing/2014/main" id="{3FE405EE-3058-D59F-ADC6-67EAE26DE778}"/>
              </a:ext>
            </a:extLst>
          </p:cNvPr>
          <p:cNvSpPr/>
          <p:nvPr>
            <p:custDataLst>
              <p:tags r:id="rId3"/>
            </p:custDataLst>
          </p:nvPr>
        </p:nvSpPr>
        <p:spPr>
          <a:xfrm flipH="1">
            <a:off x="7178567" y="1864321"/>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dirty="0">
                <a:solidFill>
                  <a:schemeClr val="bg1"/>
                </a:solidFill>
                <a:latin typeface="微软雅黑" panose="020B0503020204020204" charset="-122"/>
                <a:ea typeface="微软雅黑" panose="020B0503020204020204" charset="-122"/>
              </a:rPr>
              <a:t>规格说明重用</a:t>
            </a:r>
          </a:p>
        </p:txBody>
      </p:sp>
      <p:sp>
        <p:nvSpPr>
          <p:cNvPr id="22" name="MH_Other_5">
            <a:extLst>
              <a:ext uri="{FF2B5EF4-FFF2-40B4-BE49-F238E27FC236}">
                <a16:creationId xmlns:a16="http://schemas.microsoft.com/office/drawing/2014/main" id="{77AA77B3-09B9-AC58-7EE2-1AED886386E4}"/>
              </a:ext>
            </a:extLst>
          </p:cNvPr>
          <p:cNvSpPr/>
          <p:nvPr>
            <p:custDataLst>
              <p:tags r:id="rId4"/>
            </p:custDataLst>
          </p:nvPr>
        </p:nvSpPr>
        <p:spPr>
          <a:xfrm flipH="1">
            <a:off x="11185407" y="1742659"/>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3" name="MH_Other_6">
            <a:extLst>
              <a:ext uri="{FF2B5EF4-FFF2-40B4-BE49-F238E27FC236}">
                <a16:creationId xmlns:a16="http://schemas.microsoft.com/office/drawing/2014/main" id="{E186A32F-968B-6707-7E46-8C2EC54EEB06}"/>
              </a:ext>
            </a:extLst>
          </p:cNvPr>
          <p:cNvSpPr/>
          <p:nvPr>
            <p:custDataLst>
              <p:tags r:id="rId5"/>
            </p:custDataLst>
          </p:nvPr>
        </p:nvSpPr>
        <p:spPr>
          <a:xfrm flipH="1">
            <a:off x="10688324" y="1741079"/>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项目计划</a:t>
            </a:r>
          </a:p>
        </p:txBody>
      </p:sp>
      <p:sp>
        <p:nvSpPr>
          <p:cNvPr id="21" name="文本框 20"/>
          <p:cNvSpPr txBox="1"/>
          <p:nvPr>
            <p:custDataLst>
              <p:tags r:id="rId5"/>
            </p:custDataLst>
          </p:nvPr>
        </p:nvSpPr>
        <p:spPr>
          <a:xfrm>
            <a:off x="1514172" y="2985603"/>
            <a:ext cx="8761424" cy="661529"/>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软件项目计划的基本结构和许多内容是可以重用的。这样，可以减少制订计划的时间，降低建立进度表和进行风险分析等活动的不确定性。</a:t>
            </a:r>
          </a:p>
        </p:txBody>
      </p:sp>
      <p:sp>
        <p:nvSpPr>
          <p:cNvPr id="5" name="Oval 5"/>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软件结构</a:t>
            </a:r>
          </a:p>
        </p:txBody>
      </p:sp>
      <p:sp>
        <p:nvSpPr>
          <p:cNvPr id="8" name="文本框 7"/>
          <p:cNvSpPr txBox="1"/>
          <p:nvPr>
            <p:custDataLst>
              <p:tags r:id="rId9"/>
            </p:custDataLst>
          </p:nvPr>
        </p:nvSpPr>
        <p:spPr>
          <a:xfrm>
            <a:off x="3364866" y="5431790"/>
            <a:ext cx="6760408" cy="661529"/>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在很多情况下，软件结构有相似或相同之处。可以创建一组软件结构模板，作为重用的设计框架。</a:t>
            </a:r>
          </a:p>
        </p:txBody>
      </p:sp>
      <p:sp>
        <p:nvSpPr>
          <p:cNvPr id="10" name="Oval 5"/>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成本估计</a:t>
            </a:r>
          </a:p>
        </p:txBody>
      </p:sp>
      <p:sp>
        <p:nvSpPr>
          <p:cNvPr id="13" name="文本框 12"/>
          <p:cNvSpPr txBox="1"/>
          <p:nvPr>
            <p:custDataLst>
              <p:tags r:id="rId13"/>
            </p:custDataLst>
          </p:nvPr>
        </p:nvSpPr>
        <p:spPr>
          <a:xfrm>
            <a:off x="2465070" y="4235355"/>
            <a:ext cx="7733289" cy="366063"/>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不同的项目中经常含有类似的功能，在做成本估计时，重用部分的成本也可重用。</a:t>
            </a:r>
          </a:p>
        </p:txBody>
      </p:sp>
      <p:sp>
        <p:nvSpPr>
          <p:cNvPr id="20"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B2E88-6FB0-B3C5-9172-963706022D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59A04E-3F6C-515F-423D-7D90812A8E5B}"/>
              </a:ext>
            </a:extLst>
          </p:cNvPr>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a:extLst>
              <a:ext uri="{FF2B5EF4-FFF2-40B4-BE49-F238E27FC236}">
                <a16:creationId xmlns:a16="http://schemas.microsoft.com/office/drawing/2014/main" id="{DE972108-DD17-0887-BA72-F1C865D3ED5F}"/>
              </a:ext>
            </a:extLst>
          </p:cNvPr>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a:extLst>
              <a:ext uri="{FF2B5EF4-FFF2-40B4-BE49-F238E27FC236}">
                <a16:creationId xmlns:a16="http://schemas.microsoft.com/office/drawing/2014/main" id="{68E9DAE6-EF30-E355-2EDD-381223D9E8BC}"/>
              </a:ext>
            </a:extLst>
          </p:cNvPr>
          <p:cNvSpPr/>
          <p:nvPr>
            <p:custDataLst>
              <p:tags r:id="rId2"/>
            </p:custDataLst>
          </p:nvPr>
        </p:nvSpPr>
        <p:spPr>
          <a:xfrm>
            <a:off x="604217" y="2703028"/>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a:extLst>
              <a:ext uri="{FF2B5EF4-FFF2-40B4-BE49-F238E27FC236}">
                <a16:creationId xmlns:a16="http://schemas.microsoft.com/office/drawing/2014/main" id="{F1E9546C-0691-BD6E-5BD2-42129F144AC1}"/>
              </a:ext>
            </a:extLst>
          </p:cNvPr>
          <p:cNvSpPr>
            <a:spLocks noEditPoints="1"/>
          </p:cNvSpPr>
          <p:nvPr>
            <p:custDataLst>
              <p:tags r:id="rId3"/>
            </p:custDataLst>
          </p:nvPr>
        </p:nvSpPr>
        <p:spPr bwMode="auto">
          <a:xfrm>
            <a:off x="789637" y="2887178"/>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a:extLst>
              <a:ext uri="{FF2B5EF4-FFF2-40B4-BE49-F238E27FC236}">
                <a16:creationId xmlns:a16="http://schemas.microsoft.com/office/drawing/2014/main" id="{A473985D-F2B8-6A06-D922-22D58B7D303F}"/>
              </a:ext>
            </a:extLst>
          </p:cNvPr>
          <p:cNvSpPr txBox="1">
            <a:spLocks noChangeArrowheads="1"/>
          </p:cNvSpPr>
          <p:nvPr>
            <p:custDataLst>
              <p:tags r:id="rId4"/>
            </p:custDataLst>
          </p:nvPr>
        </p:nvSpPr>
        <p:spPr bwMode="auto">
          <a:xfrm>
            <a:off x="1504012" y="2588093"/>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需求模型和规格说明</a:t>
            </a:r>
          </a:p>
        </p:txBody>
      </p:sp>
      <p:sp>
        <p:nvSpPr>
          <p:cNvPr id="21" name="文本框 20">
            <a:extLst>
              <a:ext uri="{FF2B5EF4-FFF2-40B4-BE49-F238E27FC236}">
                <a16:creationId xmlns:a16="http://schemas.microsoft.com/office/drawing/2014/main" id="{0CF2B3DF-50AE-32B2-BAF7-A832FFFCF9CF}"/>
              </a:ext>
            </a:extLst>
          </p:cNvPr>
          <p:cNvSpPr txBox="1"/>
          <p:nvPr>
            <p:custDataLst>
              <p:tags r:id="rId5"/>
            </p:custDataLst>
          </p:nvPr>
        </p:nvSpPr>
        <p:spPr>
          <a:xfrm>
            <a:off x="1514172" y="2985603"/>
            <a:ext cx="8103235" cy="366063"/>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类和对象的模型及规格说明、数据流图等可以重用。</a:t>
            </a:r>
          </a:p>
        </p:txBody>
      </p:sp>
      <p:sp>
        <p:nvSpPr>
          <p:cNvPr id="5" name="Oval 5">
            <a:extLst>
              <a:ext uri="{FF2B5EF4-FFF2-40B4-BE49-F238E27FC236}">
                <a16:creationId xmlns:a16="http://schemas.microsoft.com/office/drawing/2014/main" id="{EBCD9A2F-F84D-BE70-B02F-3EA13361FD6A}"/>
              </a:ext>
            </a:extLst>
          </p:cNvPr>
          <p:cNvSpPr/>
          <p:nvPr>
            <p:custDataLst>
              <p:tags r:id="rId6"/>
            </p:custDataLst>
          </p:nvPr>
        </p:nvSpPr>
        <p:spPr>
          <a:xfrm>
            <a:off x="2454910" y="5149215"/>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a:extLst>
              <a:ext uri="{FF2B5EF4-FFF2-40B4-BE49-F238E27FC236}">
                <a16:creationId xmlns:a16="http://schemas.microsoft.com/office/drawing/2014/main" id="{EEE32093-880C-6A15-B2A9-3259C903E436}"/>
              </a:ext>
            </a:extLst>
          </p:cNvPr>
          <p:cNvSpPr>
            <a:spLocks noEditPoints="1"/>
          </p:cNvSpPr>
          <p:nvPr>
            <p:custDataLst>
              <p:tags r:id="rId7"/>
            </p:custDataLst>
          </p:nvPr>
        </p:nvSpPr>
        <p:spPr bwMode="auto">
          <a:xfrm>
            <a:off x="2640330" y="5333365"/>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a:extLst>
              <a:ext uri="{FF2B5EF4-FFF2-40B4-BE49-F238E27FC236}">
                <a16:creationId xmlns:a16="http://schemas.microsoft.com/office/drawing/2014/main" id="{DDE032D1-54E0-35AB-570E-0C7E9369CFF9}"/>
              </a:ext>
            </a:extLst>
          </p:cNvPr>
          <p:cNvSpPr txBox="1">
            <a:spLocks noChangeArrowheads="1"/>
          </p:cNvSpPr>
          <p:nvPr>
            <p:custDataLst>
              <p:tags r:id="rId8"/>
            </p:custDataLst>
          </p:nvPr>
        </p:nvSpPr>
        <p:spPr bwMode="auto">
          <a:xfrm>
            <a:off x="3354705" y="5034280"/>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源代码</a:t>
            </a:r>
          </a:p>
        </p:txBody>
      </p:sp>
      <p:sp>
        <p:nvSpPr>
          <p:cNvPr id="8" name="文本框 7">
            <a:extLst>
              <a:ext uri="{FF2B5EF4-FFF2-40B4-BE49-F238E27FC236}">
                <a16:creationId xmlns:a16="http://schemas.microsoft.com/office/drawing/2014/main" id="{EEB79A2C-DE98-5412-6625-FDFCD5FB0801}"/>
              </a:ext>
            </a:extLst>
          </p:cNvPr>
          <p:cNvSpPr txBox="1"/>
          <p:nvPr>
            <p:custDataLst>
              <p:tags r:id="rId9"/>
            </p:custDataLst>
          </p:nvPr>
        </p:nvSpPr>
        <p:spPr>
          <a:xfrm>
            <a:off x="3364865" y="5431790"/>
            <a:ext cx="7873365" cy="366063"/>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经过验证的程序构件可以重用。</a:t>
            </a:r>
          </a:p>
        </p:txBody>
      </p:sp>
      <p:sp>
        <p:nvSpPr>
          <p:cNvPr id="10" name="Oval 5">
            <a:extLst>
              <a:ext uri="{FF2B5EF4-FFF2-40B4-BE49-F238E27FC236}">
                <a16:creationId xmlns:a16="http://schemas.microsoft.com/office/drawing/2014/main" id="{C7F67A0A-DB3A-F0EA-EBB8-4404FA45B3CA}"/>
              </a:ext>
            </a:extLst>
          </p:cNvPr>
          <p:cNvSpPr/>
          <p:nvPr>
            <p:custDataLst>
              <p:tags r:id="rId10"/>
            </p:custDataLst>
          </p:nvPr>
        </p:nvSpPr>
        <p:spPr>
          <a:xfrm>
            <a:off x="1555115" y="3952780"/>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a:extLst>
              <a:ext uri="{FF2B5EF4-FFF2-40B4-BE49-F238E27FC236}">
                <a16:creationId xmlns:a16="http://schemas.microsoft.com/office/drawing/2014/main" id="{40023F86-FB2B-4488-2871-EF9C0107CE3C}"/>
              </a:ext>
            </a:extLst>
          </p:cNvPr>
          <p:cNvSpPr>
            <a:spLocks noEditPoints="1"/>
          </p:cNvSpPr>
          <p:nvPr>
            <p:custDataLst>
              <p:tags r:id="rId11"/>
            </p:custDataLst>
          </p:nvPr>
        </p:nvSpPr>
        <p:spPr bwMode="auto">
          <a:xfrm>
            <a:off x="1740535" y="4136930"/>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a:extLst>
              <a:ext uri="{FF2B5EF4-FFF2-40B4-BE49-F238E27FC236}">
                <a16:creationId xmlns:a16="http://schemas.microsoft.com/office/drawing/2014/main" id="{3551C5EB-AABF-2A89-7F11-92D513A3096A}"/>
              </a:ext>
            </a:extLst>
          </p:cNvPr>
          <p:cNvSpPr txBox="1">
            <a:spLocks noChangeArrowheads="1"/>
          </p:cNvSpPr>
          <p:nvPr>
            <p:custDataLst>
              <p:tags r:id="rId12"/>
            </p:custDataLst>
          </p:nvPr>
        </p:nvSpPr>
        <p:spPr bwMode="auto">
          <a:xfrm>
            <a:off x="2454910" y="3837845"/>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设计</a:t>
            </a:r>
          </a:p>
        </p:txBody>
      </p:sp>
      <p:sp>
        <p:nvSpPr>
          <p:cNvPr id="13" name="文本框 12">
            <a:extLst>
              <a:ext uri="{FF2B5EF4-FFF2-40B4-BE49-F238E27FC236}">
                <a16:creationId xmlns:a16="http://schemas.microsoft.com/office/drawing/2014/main" id="{48287E50-7C87-BCB3-26CC-6A425E5FAE84}"/>
              </a:ext>
            </a:extLst>
          </p:cNvPr>
          <p:cNvSpPr txBox="1"/>
          <p:nvPr>
            <p:custDataLst>
              <p:tags r:id="rId13"/>
            </p:custDataLst>
          </p:nvPr>
        </p:nvSpPr>
        <p:spPr>
          <a:xfrm>
            <a:off x="2465069" y="4235355"/>
            <a:ext cx="7986396" cy="366063"/>
          </a:xfrm>
          <a:prstGeom prst="rect">
            <a:avLst/>
          </a:prstGeom>
        </p:spPr>
        <p:txBody>
          <a:bodyPr wrap="square"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系统和对象设计可以重用，用传统方法开发的软件结构、接口、设计过程等可以重用。</a:t>
            </a:r>
          </a:p>
        </p:txBody>
      </p:sp>
      <p:sp>
        <p:nvSpPr>
          <p:cNvPr id="20" name="TextBox 1">
            <a:extLst>
              <a:ext uri="{FF2B5EF4-FFF2-40B4-BE49-F238E27FC236}">
                <a16:creationId xmlns:a16="http://schemas.microsoft.com/office/drawing/2014/main" id="{C0A5C047-382D-17F0-CCD0-0C25D964826E}"/>
              </a:ext>
            </a:extLst>
          </p:cNvPr>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a:extLst>
              <a:ext uri="{FF2B5EF4-FFF2-40B4-BE49-F238E27FC236}">
                <a16:creationId xmlns:a16="http://schemas.microsoft.com/office/drawing/2014/main" id="{3B732102-3F94-A155-EA1B-A70A695D71DF}"/>
              </a:ext>
            </a:extLst>
          </p:cNvPr>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a:extLst>
              <a:ext uri="{FF2B5EF4-FFF2-40B4-BE49-F238E27FC236}">
                <a16:creationId xmlns:a16="http://schemas.microsoft.com/office/drawing/2014/main" id="{87AE9CF2-4A5F-FCEC-2F18-3C4C49905E20}"/>
              </a:ext>
            </a:extLst>
          </p:cNvPr>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extLst>
      <p:ext uri="{BB962C8B-B14F-4D97-AF65-F5344CB8AC3E}">
        <p14:creationId xmlns:p14="http://schemas.microsoft.com/office/powerpoint/2010/main" val="1829726085"/>
      </p:ext>
    </p:extLst>
  </p:cSld>
  <p:clrMapOvr>
    <a:masterClrMapping/>
  </p:clrMapOvr>
  <p:transition>
    <p:wheel spokes="3"/>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5.2.1 </a:t>
            </a:r>
            <a:r>
              <a:rPr lang="zh-CN" altLang="en-US" sz="2400" dirty="0">
                <a:solidFill>
                  <a:schemeClr val="tx1"/>
                </a:solidFill>
              </a:rPr>
              <a:t>软件的重用</a:t>
            </a:r>
          </a:p>
        </p:txBody>
      </p:sp>
      <p:sp>
        <p:nvSpPr>
          <p:cNvPr id="14" name="Oval 5"/>
          <p:cNvSpPr/>
          <p:nvPr>
            <p:custDataLst>
              <p:tags r:id="rId2"/>
            </p:custDataLst>
          </p:nvPr>
        </p:nvSpPr>
        <p:spPr>
          <a:xfrm>
            <a:off x="931768" y="2940899"/>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5" name="Freeform 7"/>
          <p:cNvSpPr>
            <a:spLocks noEditPoints="1"/>
          </p:cNvSpPr>
          <p:nvPr>
            <p:custDataLst>
              <p:tags r:id="rId3"/>
            </p:custDataLst>
          </p:nvPr>
        </p:nvSpPr>
        <p:spPr bwMode="auto">
          <a:xfrm>
            <a:off x="1117188" y="3125049"/>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4"/>
            </p:custDataLst>
          </p:nvPr>
        </p:nvSpPr>
        <p:spPr bwMode="auto">
          <a:xfrm>
            <a:off x="1831563" y="2825964"/>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用户文档和技术文档</a:t>
            </a:r>
          </a:p>
        </p:txBody>
      </p:sp>
      <p:sp>
        <p:nvSpPr>
          <p:cNvPr id="21" name="文本框 20"/>
          <p:cNvSpPr txBox="1"/>
          <p:nvPr>
            <p:custDataLst>
              <p:tags r:id="rId5"/>
            </p:custDataLst>
          </p:nvPr>
        </p:nvSpPr>
        <p:spPr>
          <a:xfrm>
            <a:off x="1841723" y="3223474"/>
            <a:ext cx="4182110" cy="366063"/>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经常可以重用这些文档的较大部分内容。</a:t>
            </a:r>
          </a:p>
        </p:txBody>
      </p:sp>
      <p:sp>
        <p:nvSpPr>
          <p:cNvPr id="5" name="Oval 5"/>
          <p:cNvSpPr/>
          <p:nvPr>
            <p:custDataLst>
              <p:tags r:id="rId6"/>
            </p:custDataLst>
          </p:nvPr>
        </p:nvSpPr>
        <p:spPr>
          <a:xfrm>
            <a:off x="6483985" y="291360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6" name="Freeform 7"/>
          <p:cNvSpPr>
            <a:spLocks noEditPoints="1"/>
          </p:cNvSpPr>
          <p:nvPr>
            <p:custDataLst>
              <p:tags r:id="rId7"/>
            </p:custDataLst>
          </p:nvPr>
        </p:nvSpPr>
        <p:spPr bwMode="auto">
          <a:xfrm>
            <a:off x="6669405" y="309775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7383780" y="279866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数据重用</a:t>
            </a:r>
          </a:p>
        </p:txBody>
      </p:sp>
      <p:sp>
        <p:nvSpPr>
          <p:cNvPr id="8" name="文本框 7"/>
          <p:cNvSpPr txBox="1"/>
          <p:nvPr>
            <p:custDataLst>
              <p:tags r:id="rId9"/>
            </p:custDataLst>
          </p:nvPr>
        </p:nvSpPr>
        <p:spPr>
          <a:xfrm>
            <a:off x="7393940" y="3196178"/>
            <a:ext cx="4445000" cy="661529"/>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包括数据结构的重用、输入数据的重用和中间结果的重用等。</a:t>
            </a:r>
          </a:p>
        </p:txBody>
      </p:sp>
      <p:sp>
        <p:nvSpPr>
          <p:cNvPr id="10" name="Oval 5"/>
          <p:cNvSpPr/>
          <p:nvPr>
            <p:custDataLst>
              <p:tags r:id="rId10"/>
            </p:custDataLst>
          </p:nvPr>
        </p:nvSpPr>
        <p:spPr>
          <a:xfrm>
            <a:off x="931768" y="4504296"/>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1" name="Freeform 7"/>
          <p:cNvSpPr>
            <a:spLocks noEditPoints="1"/>
          </p:cNvSpPr>
          <p:nvPr>
            <p:custDataLst>
              <p:tags r:id="rId11"/>
            </p:custDataLst>
          </p:nvPr>
        </p:nvSpPr>
        <p:spPr bwMode="auto">
          <a:xfrm>
            <a:off x="1117188" y="4688446"/>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12"/>
            </p:custDataLst>
          </p:nvPr>
        </p:nvSpPr>
        <p:spPr bwMode="auto">
          <a:xfrm>
            <a:off x="1831563" y="4389361"/>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用户界面</a:t>
            </a:r>
          </a:p>
        </p:txBody>
      </p:sp>
      <p:sp>
        <p:nvSpPr>
          <p:cNvPr id="13" name="文本框 12"/>
          <p:cNvSpPr txBox="1"/>
          <p:nvPr>
            <p:custDataLst>
              <p:tags r:id="rId13"/>
            </p:custDataLst>
          </p:nvPr>
        </p:nvSpPr>
        <p:spPr>
          <a:xfrm>
            <a:off x="1841723" y="4786871"/>
            <a:ext cx="4335145" cy="366063"/>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很多情况下用户界面可以重用。</a:t>
            </a:r>
          </a:p>
        </p:txBody>
      </p:sp>
      <p:sp>
        <p:nvSpPr>
          <p:cNvPr id="17" name="Oval 5"/>
          <p:cNvSpPr/>
          <p:nvPr>
            <p:custDataLst>
              <p:tags r:id="rId14"/>
            </p:custDataLst>
          </p:nvPr>
        </p:nvSpPr>
        <p:spPr>
          <a:xfrm>
            <a:off x="6483985" y="4537343"/>
            <a:ext cx="775970" cy="774700"/>
          </a:xfrm>
          <a:prstGeom prst="ellipse">
            <a:avLst/>
          </a:prstGeom>
          <a:solidFill>
            <a:schemeClr val="accent5"/>
          </a:solidFill>
          <a:ln w="25400" cap="flat" cmpd="sng" algn="ctr">
            <a:noFill/>
            <a:prstDash val="solid"/>
          </a:ln>
          <a:effectLst/>
        </p:spPr>
        <p:txBody>
          <a:bodyPr anchor="ctr">
            <a:normAutofit/>
          </a:bodyPr>
          <a:lstStyle/>
          <a:p>
            <a:pPr algn="ctr" defTabSz="1217295"/>
            <a:endParaRPr lang="en-US" kern="0" dirty="0"/>
          </a:p>
        </p:txBody>
      </p:sp>
      <p:sp>
        <p:nvSpPr>
          <p:cNvPr id="18" name="Freeform 7"/>
          <p:cNvSpPr>
            <a:spLocks noEditPoints="1"/>
          </p:cNvSpPr>
          <p:nvPr>
            <p:custDataLst>
              <p:tags r:id="rId15"/>
            </p:custDataLst>
          </p:nvPr>
        </p:nvSpPr>
        <p:spPr bwMode="auto">
          <a:xfrm>
            <a:off x="6669405" y="4721493"/>
            <a:ext cx="405130" cy="40640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16"/>
            </p:custDataLst>
          </p:nvPr>
        </p:nvSpPr>
        <p:spPr bwMode="auto">
          <a:xfrm>
            <a:off x="7383780" y="4422408"/>
            <a:ext cx="237807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dirty="0">
                <a:latin typeface="+mj-lt"/>
                <a:ea typeface="+mj-ea"/>
                <a:cs typeface="+mj-cs"/>
              </a:rPr>
              <a:t>测试用例</a:t>
            </a:r>
          </a:p>
        </p:txBody>
      </p:sp>
      <p:sp>
        <p:nvSpPr>
          <p:cNvPr id="20" name="文本框 19"/>
          <p:cNvSpPr txBox="1"/>
          <p:nvPr>
            <p:custDataLst>
              <p:tags r:id="rId17"/>
            </p:custDataLst>
          </p:nvPr>
        </p:nvSpPr>
        <p:spPr>
          <a:xfrm>
            <a:off x="7393940" y="4819918"/>
            <a:ext cx="4383405" cy="661529"/>
          </a:xfrm>
          <a:prstGeom prst="rect">
            <a:avLst/>
          </a:prstGeom>
        </p:spPr>
        <p:txBody>
          <a:bodyPr lIns="90000" tIns="46800" rIns="90000" bIns="46800">
            <a:spAutoFit/>
          </a:bodyPr>
          <a:lstStyle>
            <a:defPPr>
              <a:defRPr lang="zh-CN"/>
            </a:defPPr>
            <a:lvl1pPr>
              <a:spcBef>
                <a:spcPts val="0"/>
              </a:spcBef>
              <a:spcAft>
                <a:spcPts val="0"/>
              </a:spcAft>
              <a:defRPr sz="1800"/>
            </a:lvl1pPr>
          </a:lstStyle>
          <a:p>
            <a:pPr>
              <a:lnSpc>
                <a:spcPct val="120000"/>
              </a:lnSpc>
            </a:pPr>
            <a:r>
              <a:rPr lang="zh-CN" altLang="en-US" sz="1600" dirty="0"/>
              <a:t>一旦设计或代码构件被重用，相关的测试用例也应该被重用。</a:t>
            </a:r>
          </a:p>
        </p:txBody>
      </p:sp>
      <p:sp>
        <p:nvSpPr>
          <p:cNvPr id="25"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7" name="直接连接符 26"/>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可重用软件成分的具体内容</a:t>
            </a:r>
          </a:p>
        </p:txBody>
      </p:sp>
    </p:spTree>
    <p:custDataLst>
      <p:tags r:id="rId1"/>
    </p:custDataLst>
  </p:cSld>
  <p:clrMapOvr>
    <a:masterClrMapping/>
  </p:clrMapOvr>
  <p:transition>
    <p:wheel spokes="3"/>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6" name="MH_SubTitle_1"/>
          <p:cNvSpPr/>
          <p:nvPr>
            <p:custDataLst>
              <p:tags r:id="rId2"/>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软件重用的组装模型</a:t>
            </a:r>
          </a:p>
        </p:txBody>
      </p:sp>
      <p:sp>
        <p:nvSpPr>
          <p:cNvPr id="7" name="MH_Other_1"/>
          <p:cNvSpPr/>
          <p:nvPr>
            <p:custDataLst>
              <p:tags r:id="rId3"/>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01</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3224787"/>
            <a:ext cx="5628005" cy="178053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dirty="0">
                <a:solidFill>
                  <a:schemeClr val="tx1"/>
                </a:solidFill>
              </a:rPr>
              <a:t>最简单的软件重用过程是，先将以往软件工程项目中建立的软件构件存储在构件库中；通过对软件构件库进行查询，提取可以重用的构件，为了适应新系统，对它们做一些修改，并建造新系统需要的其他构件，再将需要的所有构件组装成新系统。</a:t>
            </a:r>
          </a:p>
        </p:txBody>
      </p:sp>
      <p:sp>
        <p:nvSpPr>
          <p:cNvPr id="3" name="流程图: 决策 2">
            <a:extLst>
              <a:ext uri="{FF2B5EF4-FFF2-40B4-BE49-F238E27FC236}">
                <a16:creationId xmlns:a16="http://schemas.microsoft.com/office/drawing/2014/main" id="{835C3BBE-8E03-4C5D-184C-8D76E98901C9}"/>
              </a:ext>
            </a:extLst>
          </p:cNvPr>
          <p:cNvSpPr/>
          <p:nvPr/>
        </p:nvSpPr>
        <p:spPr>
          <a:xfrm>
            <a:off x="382552" y="4450702"/>
            <a:ext cx="1184988" cy="485192"/>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查询</a:t>
            </a:r>
          </a:p>
        </p:txBody>
      </p:sp>
      <p:sp>
        <p:nvSpPr>
          <p:cNvPr id="4" name="椭圆 3">
            <a:extLst>
              <a:ext uri="{FF2B5EF4-FFF2-40B4-BE49-F238E27FC236}">
                <a16:creationId xmlns:a16="http://schemas.microsoft.com/office/drawing/2014/main" id="{FB9BC450-CE77-D5EC-5368-68AA0E089C32}"/>
              </a:ext>
            </a:extLst>
          </p:cNvPr>
          <p:cNvSpPr/>
          <p:nvPr/>
        </p:nvSpPr>
        <p:spPr>
          <a:xfrm>
            <a:off x="2343079" y="4450702"/>
            <a:ext cx="1184988" cy="48519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构件库</a:t>
            </a:r>
          </a:p>
        </p:txBody>
      </p:sp>
      <p:sp>
        <p:nvSpPr>
          <p:cNvPr id="5" name="矩形 4">
            <a:extLst>
              <a:ext uri="{FF2B5EF4-FFF2-40B4-BE49-F238E27FC236}">
                <a16:creationId xmlns:a16="http://schemas.microsoft.com/office/drawing/2014/main" id="{C458C0AA-6FE1-0059-D84A-A2E7B0CDB059}"/>
              </a:ext>
            </a:extLst>
          </p:cNvPr>
          <p:cNvSpPr/>
          <p:nvPr/>
        </p:nvSpPr>
        <p:spPr>
          <a:xfrm>
            <a:off x="4161134" y="4450702"/>
            <a:ext cx="1184988" cy="48519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新系统</a:t>
            </a:r>
          </a:p>
        </p:txBody>
      </p:sp>
      <p:cxnSp>
        <p:nvCxnSpPr>
          <p:cNvPr id="9" name="直接箭头连接符 8">
            <a:extLst>
              <a:ext uri="{FF2B5EF4-FFF2-40B4-BE49-F238E27FC236}">
                <a16:creationId xmlns:a16="http://schemas.microsoft.com/office/drawing/2014/main" id="{8CE3512B-A4D3-4F4F-DECE-90E2A35618EA}"/>
              </a:ext>
            </a:extLst>
          </p:cNvPr>
          <p:cNvCxnSpPr>
            <a:stCxn id="3" idx="3"/>
            <a:endCxn id="4" idx="2"/>
          </p:cNvCxnSpPr>
          <p:nvPr/>
        </p:nvCxnSpPr>
        <p:spPr>
          <a:xfrm>
            <a:off x="1567540" y="4693298"/>
            <a:ext cx="77553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446D9682-A82C-B085-31D8-47C344D4C0DB}"/>
              </a:ext>
            </a:extLst>
          </p:cNvPr>
          <p:cNvCxnSpPr>
            <a:stCxn id="4" idx="6"/>
            <a:endCxn id="5" idx="1"/>
          </p:cNvCxnSpPr>
          <p:nvPr/>
        </p:nvCxnSpPr>
        <p:spPr>
          <a:xfrm>
            <a:off x="3528067" y="4693298"/>
            <a:ext cx="63306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226F0369-6819-E016-00BB-A19F34A1F7FF}"/>
              </a:ext>
            </a:extLst>
          </p:cNvPr>
          <p:cNvCxnSpPr>
            <a:cxnSpLocks/>
            <a:stCxn id="4" idx="0"/>
            <a:endCxn id="17" idx="0"/>
          </p:cNvCxnSpPr>
          <p:nvPr/>
        </p:nvCxnSpPr>
        <p:spPr>
          <a:xfrm rot="16200000" flipH="1">
            <a:off x="3265817" y="4120458"/>
            <a:ext cx="248540" cy="909028"/>
          </a:xfrm>
          <a:prstGeom prst="bentConnector3">
            <a:avLst>
              <a:gd name="adj1" fmla="val -919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EC822BDF-5D60-A8B8-EFF2-51670FE9F999}"/>
              </a:ext>
            </a:extLst>
          </p:cNvPr>
          <p:cNvSpPr txBox="1"/>
          <p:nvPr/>
        </p:nvSpPr>
        <p:spPr>
          <a:xfrm>
            <a:off x="3572731" y="4699242"/>
            <a:ext cx="543739" cy="329962"/>
          </a:xfrm>
          <a:prstGeom prst="rect">
            <a:avLst/>
          </a:prstGeom>
          <a:noFill/>
        </p:spPr>
        <p:txBody>
          <a:bodyPr wrap="none" rtlCol="0">
            <a:spAutoFit/>
          </a:bodyPr>
          <a:lstStyle/>
          <a:p>
            <a:pPr algn="l">
              <a:lnSpc>
                <a:spcPct val="120000"/>
              </a:lnSpc>
            </a:pPr>
            <a:r>
              <a:rPr lang="zh-CN" altLang="en-US" sz="1400" dirty="0"/>
              <a:t>组装</a:t>
            </a:r>
          </a:p>
        </p:txBody>
      </p:sp>
      <p:sp>
        <p:nvSpPr>
          <p:cNvPr id="19" name="文本框 18">
            <a:extLst>
              <a:ext uri="{FF2B5EF4-FFF2-40B4-BE49-F238E27FC236}">
                <a16:creationId xmlns:a16="http://schemas.microsoft.com/office/drawing/2014/main" id="{D7986FF0-BA0F-56C1-2996-9D103D32DA51}"/>
              </a:ext>
            </a:extLst>
          </p:cNvPr>
          <p:cNvSpPr txBox="1"/>
          <p:nvPr/>
        </p:nvSpPr>
        <p:spPr>
          <a:xfrm>
            <a:off x="2856029" y="3887733"/>
            <a:ext cx="1074333" cy="329962"/>
          </a:xfrm>
          <a:prstGeom prst="rect">
            <a:avLst/>
          </a:prstGeom>
          <a:noFill/>
        </p:spPr>
        <p:txBody>
          <a:bodyPr wrap="none" rtlCol="0">
            <a:spAutoFit/>
          </a:bodyPr>
          <a:lstStyle/>
          <a:p>
            <a:pPr algn="ctr">
              <a:lnSpc>
                <a:spcPct val="120000"/>
              </a:lnSpc>
            </a:pPr>
            <a:r>
              <a:rPr lang="zh-CN" altLang="en-US" sz="1400" dirty="0"/>
              <a:t>适应性修改</a:t>
            </a:r>
          </a:p>
        </p:txBody>
      </p:sp>
      <p:sp>
        <p:nvSpPr>
          <p:cNvPr id="20" name="文本框 19">
            <a:extLst>
              <a:ext uri="{FF2B5EF4-FFF2-40B4-BE49-F238E27FC236}">
                <a16:creationId xmlns:a16="http://schemas.microsoft.com/office/drawing/2014/main" id="{557DFD72-388C-A0C0-9513-16E6F900F53A}"/>
              </a:ext>
            </a:extLst>
          </p:cNvPr>
          <p:cNvSpPr txBox="1"/>
          <p:nvPr/>
        </p:nvSpPr>
        <p:spPr>
          <a:xfrm>
            <a:off x="1503903" y="4389799"/>
            <a:ext cx="902812" cy="329962"/>
          </a:xfrm>
          <a:prstGeom prst="rect">
            <a:avLst/>
          </a:prstGeom>
          <a:noFill/>
        </p:spPr>
        <p:txBody>
          <a:bodyPr wrap="none" rtlCol="0">
            <a:spAutoFit/>
          </a:bodyPr>
          <a:lstStyle/>
          <a:p>
            <a:pPr algn="ctr">
              <a:lnSpc>
                <a:spcPct val="120000"/>
              </a:lnSpc>
            </a:pPr>
            <a:r>
              <a:rPr lang="zh-CN" altLang="en-US" sz="1400" dirty="0"/>
              <a:t>构建理解</a:t>
            </a:r>
          </a:p>
        </p:txBody>
      </p:sp>
    </p:spTree>
    <p:custDataLst>
      <p:tags r:id="rId1"/>
    </p:custDataLst>
  </p:cSld>
  <p:clrMapOvr>
    <a:masterClrMapping/>
  </p:clrMapOvr>
  <p:transition>
    <p:wheel spokes="3"/>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5981700" y="3543537"/>
            <a:ext cx="5436000" cy="111573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lang="zh-CN" altLang="en-US" dirty="0">
                <a:solidFill>
                  <a:schemeClr val="tx1"/>
                </a:solidFill>
              </a:rPr>
              <a:t>利用面向对象技术，可以比较方便、有效地实现软件重用。面向对象技术中的类是比较理想的可重用软件构件，称之为类构件。</a:t>
            </a:r>
            <a:endParaRPr dirty="0">
              <a:solidFill>
                <a:schemeClr val="tx1"/>
              </a:solidFill>
            </a:endParaRPr>
          </a:p>
        </p:txBody>
      </p:sp>
      <p:pic>
        <p:nvPicPr>
          <p:cNvPr id="3" name="图片 2" descr="A000220150322D19PPIC"/>
          <p:cNvPicPr>
            <a:picLocks noChangeAspect="1"/>
          </p:cNvPicPr>
          <p:nvPr/>
        </p:nvPicPr>
        <p:blipFill>
          <a:blip r:embed="rId8" cstate="print"/>
          <a:stretch>
            <a:fillRect/>
          </a:stretch>
        </p:blipFill>
        <p:spPr>
          <a:xfrm>
            <a:off x="1006475" y="3539749"/>
            <a:ext cx="3197225" cy="2413635"/>
          </a:xfrm>
          <a:prstGeom prst="rect">
            <a:avLst/>
          </a:prstGeom>
        </p:spPr>
      </p:pic>
      <p:sp>
        <p:nvSpPr>
          <p:cNvPr id="9" name="MH_SubTitle_1">
            <a:extLst>
              <a:ext uri="{FF2B5EF4-FFF2-40B4-BE49-F238E27FC236}">
                <a16:creationId xmlns:a16="http://schemas.microsoft.com/office/drawing/2014/main" id="{07BBB876-1AC5-7089-4B90-188DF2D9C20B}"/>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类构件的重用</a:t>
            </a:r>
          </a:p>
        </p:txBody>
      </p:sp>
      <p:sp>
        <p:nvSpPr>
          <p:cNvPr id="10" name="MH_Other_1">
            <a:extLst>
              <a:ext uri="{FF2B5EF4-FFF2-40B4-BE49-F238E27FC236}">
                <a16:creationId xmlns:a16="http://schemas.microsoft.com/office/drawing/2014/main" id="{94F54CCF-6A2B-0AAE-88F6-50ABC61D5B08}"/>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02</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E1D28BE-F8D0-2A9C-CEF1-0DBE9CE6986A}"/>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lstStyle/>
          <a:p>
            <a:r>
              <a:rPr lang="en-US" dirty="0">
                <a:sym typeface="+mn-ea"/>
              </a:rPr>
              <a:t>5.2 </a:t>
            </a:r>
            <a:r>
              <a:rPr lang="zh-CN" altLang="en-US" dirty="0">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24" name="MH_SubTitle_1"/>
          <p:cNvSpPr/>
          <p:nvPr>
            <p:custDataLst>
              <p:tags r:id="rId2"/>
            </p:custDataLst>
          </p:nvPr>
        </p:nvSpPr>
        <p:spPr bwMode="auto">
          <a:xfrm>
            <a:off x="4417060" y="2143210"/>
            <a:ext cx="1534383" cy="201704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3"/>
            </p:custDataLst>
          </p:nvPr>
        </p:nvSpPr>
        <p:spPr bwMode="auto">
          <a:xfrm>
            <a:off x="4670394" y="3886319"/>
            <a:ext cx="2465478" cy="894832"/>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4"/>
            </p:custDataLst>
          </p:nvPr>
        </p:nvSpPr>
        <p:spPr bwMode="auto">
          <a:xfrm>
            <a:off x="5790996" y="2137410"/>
            <a:ext cx="1484199" cy="195726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4440847" y="2356901"/>
            <a:ext cx="2726046" cy="2447509"/>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继承重用</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多态重用</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实例重用</a:t>
              </a:r>
            </a:p>
          </p:txBody>
        </p:sp>
      </p:grpSp>
      <p:sp>
        <p:nvSpPr>
          <p:cNvPr id="33" name="MH_Title_1"/>
          <p:cNvSpPr/>
          <p:nvPr>
            <p:custDataLst>
              <p:tags r:id="rId5"/>
            </p:custDataLst>
          </p:nvPr>
        </p:nvSpPr>
        <p:spPr>
          <a:xfrm>
            <a:off x="4981772" y="2657540"/>
            <a:ext cx="1757547" cy="16132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类构件的重用</a:t>
            </a:r>
          </a:p>
        </p:txBody>
      </p:sp>
      <p:sp>
        <p:nvSpPr>
          <p:cNvPr id="34" name="MH_Other_2"/>
          <p:cNvSpPr/>
          <p:nvPr>
            <p:custDataLst>
              <p:tags r:id="rId6"/>
            </p:custDataLst>
          </p:nvPr>
        </p:nvSpPr>
        <p:spPr>
          <a:xfrm rot="16200000" flipH="1" flipV="1">
            <a:off x="6859905" y="1769745"/>
            <a:ext cx="466725" cy="70802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7"/>
            </p:custDataLst>
          </p:nvPr>
        </p:nvSpPr>
        <p:spPr bwMode="auto">
          <a:xfrm>
            <a:off x="7526021" y="1743710"/>
            <a:ext cx="3856354" cy="38105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20000"/>
              </a:lnSpc>
              <a:defRPr/>
            </a:pPr>
            <a:r>
              <a:rPr lang="zh-CN" altLang="en-US" sz="2000" dirty="0">
                <a:solidFill>
                  <a:srgbClr val="00B0F0"/>
                </a:solidFill>
                <a:latin typeface="+mj-ea"/>
                <a:ea typeface="+mj-ea"/>
              </a:rPr>
              <a:t>继承重用</a:t>
            </a:r>
            <a:endParaRPr lang="en-US" altLang="zh-CN" sz="2000" dirty="0">
              <a:latin typeface="+mj-ea"/>
              <a:ea typeface="+mj-ea"/>
            </a:endParaRPr>
          </a:p>
          <a:p>
            <a:pPr fontAlgn="auto">
              <a:lnSpc>
                <a:spcPct val="120000"/>
              </a:lnSpc>
              <a:defRPr/>
            </a:pPr>
            <a:r>
              <a:rPr lang="zh-CN" altLang="en-US" dirty="0">
                <a:latin typeface="+mn-ea"/>
                <a:ea typeface="+mn-ea"/>
                <a:sym typeface="+mn-ea"/>
              </a:rPr>
              <a:t>利用面向对象编程 </a:t>
            </a:r>
            <a:r>
              <a:rPr lang="en-US" altLang="zh-CN" dirty="0">
                <a:latin typeface="+mn-ea"/>
                <a:ea typeface="+mn-ea"/>
                <a:sym typeface="+mn-ea"/>
              </a:rPr>
              <a:t>OOP </a:t>
            </a:r>
            <a:r>
              <a:rPr lang="zh-CN" altLang="en-US" dirty="0">
                <a:latin typeface="+mn-ea"/>
                <a:ea typeface="+mn-ea"/>
                <a:sym typeface="+mn-ea"/>
              </a:rPr>
              <a:t>的继承性机制，子类可以继承父类已经定义的所有数据和操作，也可以另外定义新的数据和操作。</a:t>
            </a:r>
            <a:endParaRPr lang="zh-CN" altLang="en-US" dirty="0">
              <a:latin typeface="+mn-ea"/>
              <a:ea typeface="+mn-ea"/>
            </a:endParaRPr>
          </a:p>
          <a:p>
            <a:pPr fontAlgn="auto">
              <a:lnSpc>
                <a:spcPct val="120000"/>
              </a:lnSpc>
              <a:defRPr/>
            </a:pPr>
            <a:r>
              <a:rPr lang="zh-CN" altLang="en-US" dirty="0">
                <a:latin typeface="+mn-ea"/>
                <a:ea typeface="+mn-ea"/>
                <a:sym typeface="+mn-ea"/>
              </a:rPr>
              <a:t>为提高继承重用的效果，关键是设计一个合理的、具有一定深度的类构件继承层次结构。这样可以降低类构件的接口复杂度，提高类的可理解性，为软件开发人员提供更多可重用的类构件。</a:t>
            </a:r>
            <a:endParaRPr lang="zh-CN" altLang="en-US" dirty="0">
              <a:latin typeface="+mn-ea"/>
              <a:ea typeface="+mn-ea"/>
            </a:endParaRPr>
          </a:p>
        </p:txBody>
      </p:sp>
      <p:sp>
        <p:nvSpPr>
          <p:cNvPr id="36" name="MH_Other_2"/>
          <p:cNvSpPr/>
          <p:nvPr>
            <p:custDataLst>
              <p:tags r:id="rId8"/>
            </p:custDataLst>
          </p:nvPr>
        </p:nvSpPr>
        <p:spPr>
          <a:xfrm rot="5400000" flipV="1">
            <a:off x="4302125" y="2014855"/>
            <a:ext cx="39370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9"/>
            </p:custDataLst>
          </p:nvPr>
        </p:nvSpPr>
        <p:spPr bwMode="auto">
          <a:xfrm>
            <a:off x="809625" y="1969770"/>
            <a:ext cx="3354070" cy="1483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20000"/>
              </a:lnSpc>
              <a:defRPr/>
            </a:pPr>
            <a:r>
              <a:rPr lang="zh-CN" altLang="en-US" sz="2000" dirty="0">
                <a:solidFill>
                  <a:srgbClr val="00B0F0"/>
                </a:solidFill>
                <a:latin typeface="+mj-ea"/>
                <a:ea typeface="+mj-ea"/>
              </a:rPr>
              <a:t>实例重用</a:t>
            </a:r>
          </a:p>
          <a:p>
            <a:pPr algn="l">
              <a:lnSpc>
                <a:spcPct val="120000"/>
              </a:lnSpc>
              <a:defRPr/>
            </a:pPr>
            <a:r>
              <a:rPr lang="zh-CN" altLang="en-US" dirty="0">
                <a:latin typeface="+mn-ea"/>
                <a:ea typeface="+mn-ea"/>
              </a:rPr>
              <a:t>按照需要创建类的实例，然后向该实例发送适当的消息，启动相应的服务，完成所需要的工作。</a:t>
            </a:r>
          </a:p>
        </p:txBody>
      </p:sp>
      <p:sp>
        <p:nvSpPr>
          <p:cNvPr id="38" name="MH_Other_2"/>
          <p:cNvSpPr/>
          <p:nvPr>
            <p:custDataLst>
              <p:tags r:id="rId10"/>
            </p:custDataLst>
          </p:nvPr>
        </p:nvSpPr>
        <p:spPr>
          <a:xfrm rot="16200000">
            <a:off x="4454525" y="405384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11"/>
            </p:custDataLst>
          </p:nvPr>
        </p:nvSpPr>
        <p:spPr bwMode="auto">
          <a:xfrm>
            <a:off x="809625" y="4625340"/>
            <a:ext cx="6466205" cy="1151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72000" tIns="72000" rIns="72000" bIns="72000">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2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dirty="0">
                <a:solidFill>
                  <a:srgbClr val="00B0F0"/>
                </a:solidFill>
                <a:latin typeface="+mj-ea"/>
                <a:ea typeface="+mj-ea"/>
              </a:rPr>
              <a:t>多态重用</a:t>
            </a:r>
          </a:p>
          <a:p>
            <a:pPr>
              <a:lnSpc>
                <a:spcPct val="120000"/>
              </a:lnSpc>
              <a:defRPr/>
            </a:pPr>
            <a:r>
              <a:rPr lang="zh-CN" altLang="en-US" dirty="0">
                <a:latin typeface="+mn-ea"/>
                <a:ea typeface="+mn-ea"/>
                <a:sym typeface="+mn-ea"/>
              </a:rPr>
              <a:t>多态重用方法根据接收消息的对象类型，在响应一个一般化的消息时，由多态性机制启动正确的方法，执行不同的操作。</a:t>
            </a:r>
          </a:p>
        </p:txBody>
      </p:sp>
    </p:spTree>
    <p:custDataLst>
      <p:tags r:id="rId1"/>
    </p:custDataLst>
  </p:cSld>
  <p:clrMapOvr>
    <a:masterClrMapping/>
  </p:clrMapOvr>
  <p:transition>
    <p:wheel spokes="3"/>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对象 2">
            <a:extLst>
              <a:ext uri="{FF2B5EF4-FFF2-40B4-BE49-F238E27FC236}">
                <a16:creationId xmlns:a16="http://schemas.microsoft.com/office/drawing/2014/main" id="{5D76D7DE-F314-5DEF-9757-DBDAD468CA1F}"/>
              </a:ext>
            </a:extLst>
          </p:cNvPr>
          <p:cNvGraphicFramePr>
            <a:graphicFrameLocks/>
          </p:cNvGraphicFramePr>
          <p:nvPr>
            <p:extLst>
              <p:ext uri="{D42A27DB-BD31-4B8C-83A1-F6EECF244321}">
                <p14:modId xmlns:p14="http://schemas.microsoft.com/office/powerpoint/2010/main" val="1961710481"/>
              </p:ext>
            </p:extLst>
          </p:nvPr>
        </p:nvGraphicFramePr>
        <p:xfrm>
          <a:off x="0" y="3240000"/>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8" name="对象 7"/>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240000"/>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sp>
        <p:nvSpPr>
          <p:cNvPr id="12" name="MH_Desc_1"/>
          <p:cNvSpPr/>
          <p:nvPr>
            <p:custDataLst>
              <p:tags r:id="rId2"/>
            </p:custDataLst>
          </p:nvPr>
        </p:nvSpPr>
        <p:spPr>
          <a:xfrm>
            <a:off x="6009859" y="2511797"/>
            <a:ext cx="5436000" cy="27777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a:lnSpc>
                <a:spcPct val="120000"/>
              </a:lnSpc>
            </a:pPr>
            <a:r>
              <a:rPr lang="zh-CN" altLang="en-US" dirty="0">
                <a:solidFill>
                  <a:schemeClr val="tx1"/>
                </a:solidFill>
              </a:rPr>
              <a:t>为了实现软件重用，已经有许多过程模型，这些模型都强调领域工程和软件工程同时进行。</a:t>
            </a:r>
          </a:p>
          <a:p>
            <a:pPr>
              <a:lnSpc>
                <a:spcPct val="120000"/>
              </a:lnSpc>
            </a:pPr>
            <a:r>
              <a:rPr lang="zh-CN" altLang="en-US" dirty="0">
                <a:solidFill>
                  <a:schemeClr val="tx1"/>
                </a:solidFill>
              </a:rPr>
              <a:t>领域是指具有相似或者相近软件需求的应用系统所覆盖的一组功能区域。</a:t>
            </a:r>
            <a:endParaRPr lang="en-US" altLang="zh-CN" dirty="0">
              <a:solidFill>
                <a:schemeClr val="tx1"/>
              </a:solidFill>
            </a:endParaRPr>
          </a:p>
          <a:p>
            <a:pPr>
              <a:lnSpc>
                <a:spcPct val="120000"/>
              </a:lnSpc>
            </a:pPr>
            <a:r>
              <a:rPr lang="zh-CN" altLang="en-US" dirty="0">
                <a:solidFill>
                  <a:schemeClr val="tx1"/>
                </a:solidFill>
              </a:rPr>
              <a:t>可以根据领域的特性及相似性，预测软件构件的可重用性。</a:t>
            </a:r>
            <a:endParaRPr lang="en-US" altLang="zh-CN" dirty="0">
              <a:solidFill>
                <a:schemeClr val="tx1"/>
              </a:solidFill>
            </a:endParaRPr>
          </a:p>
          <a:p>
            <a:pPr>
              <a:lnSpc>
                <a:spcPct val="120000"/>
              </a:lnSpc>
            </a:pPr>
            <a:r>
              <a:rPr lang="zh-CN" altLang="en-US" dirty="0">
                <a:solidFill>
                  <a:schemeClr val="tx1"/>
                </a:solidFill>
              </a:rPr>
              <a:t>领域工程就是分析、设计和构造具有重用价值的软件构件，进而建立可重用的软件构件库的过程。</a:t>
            </a:r>
          </a:p>
        </p:txBody>
      </p:sp>
      <p:sp>
        <p:nvSpPr>
          <p:cNvPr id="9" name="MH_SubTitle_1">
            <a:extLst>
              <a:ext uri="{FF2B5EF4-FFF2-40B4-BE49-F238E27FC236}">
                <a16:creationId xmlns:a16="http://schemas.microsoft.com/office/drawing/2014/main" id="{3347814E-7D31-80BB-09D4-227D86CB67FD}"/>
              </a:ext>
            </a:extLst>
          </p:cNvPr>
          <p:cNvSpPr/>
          <p:nvPr>
            <p:custDataLst>
              <p:tags r:id="rId3"/>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54C0B11F-EB86-E794-0571-BC096FDCA613}"/>
              </a:ext>
            </a:extLst>
          </p:cNvPr>
          <p:cNvSpPr/>
          <p:nvPr>
            <p:custDataLst>
              <p:tags r:id="rId4"/>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83646057-F4F1-37D5-26D3-D545D78866C0}"/>
              </a:ext>
            </a:extLst>
          </p:cNvPr>
          <p:cNvSpPr/>
          <p:nvPr>
            <p:custDataLst>
              <p:tags r:id="rId5"/>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Tree>
    <p:custDataLst>
      <p:tags r:id="rId1"/>
    </p:custDataLst>
  </p:cSld>
  <p:clrMapOvr>
    <a:masterClrMapping/>
  </p:clrMapOvr>
  <p:transition>
    <p:wheel spokes="3"/>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5.2.2 </a:t>
            </a:r>
            <a:r>
              <a:rPr lang="zh-CN" altLang="en-US" sz="2400" dirty="0">
                <a:solidFill>
                  <a:schemeClr val="tx1"/>
                </a:solidFill>
              </a:rPr>
              <a:t>软件重用的过程模型</a:t>
            </a:r>
          </a:p>
        </p:txBody>
      </p:sp>
      <p:graphicFrame>
        <p:nvGraphicFramePr>
          <p:cNvPr id="8" name="对象 7"/>
          <p:cNvGraphicFramePr>
            <a:graphicFrameLocks/>
          </p:cNvGraphicFramePr>
          <p:nvPr>
            <p:extLst>
              <p:ext uri="{D42A27DB-BD31-4B8C-83A1-F6EECF244321}">
                <p14:modId xmlns:p14="http://schemas.microsoft.com/office/powerpoint/2010/main" val="509409786"/>
              </p:ext>
            </p:extLst>
          </p:nvPr>
        </p:nvGraphicFramePr>
        <p:xfrm>
          <a:off x="0" y="3240000"/>
          <a:ext cx="5311775" cy="3602990"/>
        </p:xfrm>
        <a:graphic>
          <a:graphicData uri="http://schemas.openxmlformats.org/presentationml/2006/ole">
            <mc:AlternateContent xmlns:mc="http://schemas.openxmlformats.org/markup-compatibility/2006">
              <mc:Choice xmlns:v="urn:schemas-microsoft-com:vml" Requires="v">
                <p:oleObj r:id="rId8" imgW="3783810" imgH="2976575" progId="Word.Document.12">
                  <p:embed/>
                </p:oleObj>
              </mc:Choice>
              <mc:Fallback>
                <p:oleObj r:id="rId8" imgW="3783810" imgH="2976575" progId="Word.Document.12">
                  <p:embed/>
                  <p:pic>
                    <p:nvPicPr>
                      <p:cNvPr id="0" name="Picture 1"/>
                      <p:cNvPicPr>
                        <a:picLocks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3240000"/>
                        <a:ext cx="5311775" cy="360299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MH_SubTitle_1">
            <a:extLst>
              <a:ext uri="{FF2B5EF4-FFF2-40B4-BE49-F238E27FC236}">
                <a16:creationId xmlns:a16="http://schemas.microsoft.com/office/drawing/2014/main" id="{46394BD9-6362-C275-E98B-42915D96CE07}"/>
              </a:ext>
            </a:extLst>
          </p:cNvPr>
          <p:cNvSpPr/>
          <p:nvPr>
            <p:custDataLst>
              <p:tags r:id="rId2"/>
            </p:custDataLst>
          </p:nvPr>
        </p:nvSpPr>
        <p:spPr>
          <a:xfrm>
            <a:off x="1501867" y="2343753"/>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10" name="MH_Other_1">
            <a:extLst>
              <a:ext uri="{FF2B5EF4-FFF2-40B4-BE49-F238E27FC236}">
                <a16:creationId xmlns:a16="http://schemas.microsoft.com/office/drawing/2014/main" id="{20466FC7-0A83-0FC7-709A-18DF7351F055}"/>
              </a:ext>
            </a:extLst>
          </p:cNvPr>
          <p:cNvSpPr/>
          <p:nvPr>
            <p:custDataLst>
              <p:tags r:id="rId3"/>
            </p:custDataLst>
          </p:nvPr>
        </p:nvSpPr>
        <p:spPr>
          <a:xfrm>
            <a:off x="0" y="2220532"/>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03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13" name="MH_Other_2">
            <a:extLst>
              <a:ext uri="{FF2B5EF4-FFF2-40B4-BE49-F238E27FC236}">
                <a16:creationId xmlns:a16="http://schemas.microsoft.com/office/drawing/2014/main" id="{DF26B65C-B060-AED7-2DE1-269B1BB12E27}"/>
              </a:ext>
            </a:extLst>
          </p:cNvPr>
          <p:cNvSpPr/>
          <p:nvPr>
            <p:custDataLst>
              <p:tags r:id="rId4"/>
            </p:custDataLst>
          </p:nvPr>
        </p:nvSpPr>
        <p:spPr>
          <a:xfrm>
            <a:off x="987043" y="2220532"/>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3" name="MH_Desc_1">
            <a:extLst>
              <a:ext uri="{FF2B5EF4-FFF2-40B4-BE49-F238E27FC236}">
                <a16:creationId xmlns:a16="http://schemas.microsoft.com/office/drawing/2014/main" id="{C4ACFC99-EB03-93DF-0D32-89752F6645C4}"/>
              </a:ext>
            </a:extLst>
          </p:cNvPr>
          <p:cNvSpPr/>
          <p:nvPr>
            <p:custDataLst>
              <p:tags r:id="rId5"/>
            </p:custDataLst>
          </p:nvPr>
        </p:nvSpPr>
        <p:spPr>
          <a:xfrm>
            <a:off x="6009859" y="2844195"/>
            <a:ext cx="5436000" cy="211293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a:lnSpc>
                <a:spcPct val="120000"/>
              </a:lnSpc>
            </a:pPr>
            <a:r>
              <a:rPr lang="zh-CN" altLang="en-US" dirty="0">
                <a:solidFill>
                  <a:schemeClr val="tx1"/>
                </a:solidFill>
              </a:rPr>
              <a:t>基于构件的软件工程，根据用户的实际需求，参照领域模型进行系统分析，使用领域的结构模型进行结构设计，从可重用软件构件库中查找需要的构件，对构件进行鉴定、调整以构造新的软件构件，对软件构件进行组合以开发应用软件，软件构件不断更新，并补充到可重用软件构件库中去。</a:t>
            </a:r>
          </a:p>
        </p:txBody>
      </p:sp>
    </p:spTree>
    <p:custDataLst>
      <p:tags r:id="rId1"/>
    </p:custDataLst>
  </p:cSld>
  <p:clrMapOvr>
    <a:masterClrMapping/>
  </p:clrMapOvr>
  <p:transition>
    <p:wheel spokes="3"/>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a:sym typeface="+mn-ea"/>
              </a:rPr>
              <a:t>5.2 </a:t>
            </a:r>
            <a:r>
              <a:rPr lang="zh-CN" altLang="en-US">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24" name="MH_SubTitle_1"/>
          <p:cNvSpPr/>
          <p:nvPr>
            <p:custDataLst>
              <p:tags r:id="rId2"/>
            </p:custDataLst>
          </p:nvPr>
        </p:nvSpPr>
        <p:spPr bwMode="auto">
          <a:xfrm>
            <a:off x="4294230" y="2266040"/>
            <a:ext cx="1534383" cy="201704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3"/>
            </p:custDataLst>
          </p:nvPr>
        </p:nvSpPr>
        <p:spPr bwMode="auto">
          <a:xfrm>
            <a:off x="4547564" y="4009149"/>
            <a:ext cx="2465478" cy="894832"/>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4"/>
            </p:custDataLst>
          </p:nvPr>
        </p:nvSpPr>
        <p:spPr bwMode="auto">
          <a:xfrm>
            <a:off x="5668166" y="2260240"/>
            <a:ext cx="1484199" cy="195726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30" name="MH_SubTitle_2"/>
          <p:cNvSpPr/>
          <p:nvPr>
            <p:custDataLst>
              <p:tags r:id="rId5"/>
            </p:custDataLst>
          </p:nvPr>
        </p:nvSpPr>
        <p:spPr>
          <a:xfrm rot="3733167">
            <a:off x="4386824" y="2410924"/>
            <a:ext cx="2447509" cy="258512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dirty="0">
                <a:solidFill>
                  <a:schemeClr val="tx1"/>
                </a:solidFill>
                <a:latin typeface="+mj-ea"/>
                <a:ea typeface="+mj-ea"/>
              </a:rPr>
              <a:t>开发可重用的软件构件</a:t>
            </a:r>
          </a:p>
        </p:txBody>
      </p:sp>
      <p:sp>
        <p:nvSpPr>
          <p:cNvPr id="31" name="MH_Other_2"/>
          <p:cNvSpPr/>
          <p:nvPr>
            <p:custDataLst>
              <p:tags r:id="rId6"/>
            </p:custDataLst>
          </p:nvPr>
        </p:nvSpPr>
        <p:spPr>
          <a:xfrm rot="10873167">
            <a:off x="4535686" y="2505156"/>
            <a:ext cx="2342988" cy="21504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dirty="0">
                <a:solidFill>
                  <a:schemeClr val="tx1"/>
                </a:solidFill>
                <a:latin typeface="+mj-ea"/>
                <a:ea typeface="+mj-ea"/>
              </a:rPr>
              <a:t>传播软件构件</a:t>
            </a:r>
          </a:p>
        </p:txBody>
      </p:sp>
      <p:sp>
        <p:nvSpPr>
          <p:cNvPr id="32" name="MH_Other_3"/>
          <p:cNvSpPr/>
          <p:nvPr>
            <p:custDataLst>
              <p:tags r:id="rId7"/>
            </p:custDataLst>
          </p:nvPr>
        </p:nvSpPr>
        <p:spPr>
          <a:xfrm rot="18073167">
            <a:off x="4639300" y="2438424"/>
            <a:ext cx="2307590" cy="25019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dirty="0">
                <a:solidFill>
                  <a:schemeClr val="tx1"/>
                </a:solidFill>
                <a:latin typeface="+mj-ea"/>
                <a:ea typeface="+mj-ea"/>
              </a:rPr>
              <a:t>分析过程</a:t>
            </a:r>
          </a:p>
        </p:txBody>
      </p:sp>
      <p:sp>
        <p:nvSpPr>
          <p:cNvPr id="33" name="MH_Title_1"/>
          <p:cNvSpPr/>
          <p:nvPr>
            <p:custDataLst>
              <p:tags r:id="rId8"/>
            </p:custDataLst>
          </p:nvPr>
        </p:nvSpPr>
        <p:spPr>
          <a:xfrm>
            <a:off x="4858942" y="2780370"/>
            <a:ext cx="1757547" cy="16132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defRPr/>
            </a:pPr>
            <a:r>
              <a:rPr lang="zh-CN" altLang="en-US" sz="2800" b="1" dirty="0">
                <a:solidFill>
                  <a:srgbClr val="FFFFFF"/>
                </a:solidFill>
                <a:latin typeface="微软雅黑" panose="020B0503020204020204" charset="-122"/>
                <a:ea typeface="微软雅黑" panose="020B0503020204020204" charset="-122"/>
              </a:rPr>
              <a:t>领域</a:t>
            </a:r>
          </a:p>
          <a:p>
            <a:pPr algn="ctr">
              <a:defRPr/>
            </a:pPr>
            <a:r>
              <a:rPr lang="zh-CN" altLang="en-US" sz="2800" b="1" dirty="0">
                <a:solidFill>
                  <a:srgbClr val="FFFFFF"/>
                </a:solidFill>
                <a:latin typeface="微软雅黑" panose="020B0503020204020204" charset="-122"/>
                <a:ea typeface="微软雅黑" panose="020B0503020204020204" charset="-122"/>
              </a:rPr>
              <a:t>工程</a:t>
            </a:r>
          </a:p>
        </p:txBody>
      </p:sp>
      <p:sp>
        <p:nvSpPr>
          <p:cNvPr id="34" name="MH_Other_2"/>
          <p:cNvSpPr/>
          <p:nvPr>
            <p:custDataLst>
              <p:tags r:id="rId9"/>
            </p:custDataLst>
          </p:nvPr>
        </p:nvSpPr>
        <p:spPr>
          <a:xfrm rot="16200000" flipV="1">
            <a:off x="6810100" y="2286910"/>
            <a:ext cx="290195" cy="67754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10"/>
            </p:custDataLst>
          </p:nvPr>
        </p:nvSpPr>
        <p:spPr bwMode="auto">
          <a:xfrm>
            <a:off x="7402555" y="2559325"/>
            <a:ext cx="4363720" cy="1463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dirty="0">
                <a:solidFill>
                  <a:srgbClr val="00B0F0"/>
                </a:solidFill>
                <a:latin typeface="+mj-ea"/>
                <a:ea typeface="+mj-ea"/>
              </a:rPr>
              <a:t>开发可重用的软件构件</a:t>
            </a:r>
            <a:endParaRPr lang="en-US" altLang="zh-CN" sz="2000" dirty="0">
              <a:latin typeface="+mj-ea"/>
              <a:ea typeface="+mj-ea"/>
            </a:endParaRPr>
          </a:p>
          <a:p>
            <a:pPr fontAlgn="auto">
              <a:lnSpc>
                <a:spcPct val="120000"/>
              </a:lnSpc>
              <a:defRPr/>
            </a:pPr>
            <a:r>
              <a:rPr lang="zh-CN" altLang="en-US" dirty="0">
                <a:latin typeface="+mn-ea"/>
                <a:ea typeface="+mn-ea"/>
                <a:sym typeface="+mn-ea"/>
              </a:rPr>
              <a:t>为了开发可重用的软件构件，应该考虑以下问题：标准的数据结构、标准的接口协议、设计程序模板等。</a:t>
            </a:r>
          </a:p>
        </p:txBody>
      </p:sp>
      <p:sp>
        <p:nvSpPr>
          <p:cNvPr id="36" name="MH_Other_2"/>
          <p:cNvSpPr/>
          <p:nvPr>
            <p:custDataLst>
              <p:tags r:id="rId11"/>
            </p:custDataLst>
          </p:nvPr>
        </p:nvSpPr>
        <p:spPr>
          <a:xfrm rot="5400000" flipH="1" flipV="1">
            <a:off x="4284070" y="2426610"/>
            <a:ext cx="184150" cy="69469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8" name="MH_Other_2"/>
          <p:cNvSpPr/>
          <p:nvPr>
            <p:custDataLst>
              <p:tags r:id="rId12"/>
            </p:custDataLst>
          </p:nvPr>
        </p:nvSpPr>
        <p:spPr>
          <a:xfrm rot="16200000">
            <a:off x="4331695" y="4176670"/>
            <a:ext cx="214630" cy="1357630"/>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13"/>
            </p:custDataLst>
          </p:nvPr>
        </p:nvSpPr>
        <p:spPr bwMode="auto">
          <a:xfrm>
            <a:off x="809624" y="4748170"/>
            <a:ext cx="10956651" cy="14632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b="1" dirty="0">
                <a:solidFill>
                  <a:srgbClr val="00B0F0"/>
                </a:solidFill>
                <a:latin typeface="微软雅黑" panose="020B0503020204020204" charset="-122"/>
                <a:ea typeface="微软雅黑" panose="020B0503020204020204" charset="-122"/>
              </a:rPr>
              <a:t>                                         </a:t>
            </a:r>
            <a:r>
              <a:rPr lang="zh-CN" altLang="en-US" sz="2000" dirty="0">
                <a:solidFill>
                  <a:srgbClr val="00B0F0"/>
                </a:solidFill>
                <a:latin typeface="微软雅黑" panose="020B0503020204020204" charset="-122"/>
                <a:ea typeface="微软雅黑" panose="020B0503020204020204" charset="-122"/>
              </a:rPr>
              <a:t>传播软件构件</a:t>
            </a:r>
            <a:endParaRPr lang="zh-CN" altLang="en-US" dirty="0">
              <a:solidFill>
                <a:srgbClr val="00B0F0"/>
              </a:solidFill>
              <a:latin typeface="微软雅黑" panose="020B0503020204020204" charset="-122"/>
              <a:ea typeface="微软雅黑" panose="020B0503020204020204" charset="-122"/>
            </a:endParaRPr>
          </a:p>
          <a:p>
            <a:pPr>
              <a:lnSpc>
                <a:spcPct val="120000"/>
              </a:lnSpc>
              <a:defRPr/>
            </a:pPr>
            <a:r>
              <a:rPr lang="zh-CN" altLang="en-US" dirty="0">
                <a:latin typeface="+mn-ea"/>
                <a:ea typeface="+mn-ea"/>
                <a:sym typeface="+mn-ea"/>
              </a:rPr>
              <a:t>传播软件构件就是让用户能在成千上万的软件构件中找到他所需要的构件，这需要很好地描述构件。构件的描述包括构件的功能、使用条件、接口和如何实现等。构件如何实现的问题，只有准备修改构件的人需要知道，其他人只要了解构件的功能、使用条件和接口即可。</a:t>
            </a:r>
          </a:p>
        </p:txBody>
      </p:sp>
      <p:grpSp>
        <p:nvGrpSpPr>
          <p:cNvPr id="26" name="组合 6"/>
          <p:cNvGrpSpPr/>
          <p:nvPr/>
        </p:nvGrpSpPr>
        <p:grpSpPr>
          <a:xfrm>
            <a:off x="809625" y="1995518"/>
            <a:ext cx="3557659" cy="590550"/>
            <a:chOff x="508000" y="3196191"/>
            <a:chExt cx="3557624" cy="590550"/>
          </a:xfrm>
        </p:grpSpPr>
        <p:sp>
          <p:nvSpPr>
            <p:cNvPr id="4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1" name="直接连接符 4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2" name="矩形 7"/>
            <p:cNvSpPr>
              <a:spLocks noChangeArrowheads="1"/>
            </p:cNvSpPr>
            <p:nvPr/>
          </p:nvSpPr>
          <p:spPr bwMode="auto">
            <a:xfrm>
              <a:off x="960437" y="3291441"/>
              <a:ext cx="3105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领域工程</a:t>
              </a:r>
            </a:p>
          </p:txBody>
        </p:sp>
      </p:grpSp>
      <p:sp>
        <p:nvSpPr>
          <p:cNvPr id="4" name="文本框 3">
            <a:extLst>
              <a:ext uri="{FF2B5EF4-FFF2-40B4-BE49-F238E27FC236}">
                <a16:creationId xmlns:a16="http://schemas.microsoft.com/office/drawing/2014/main" id="{7EB696BA-2599-F8E2-6117-C49C323BD035}"/>
              </a:ext>
            </a:extLst>
          </p:cNvPr>
          <p:cNvSpPr txBox="1"/>
          <p:nvPr/>
        </p:nvSpPr>
        <p:spPr>
          <a:xfrm>
            <a:off x="838800" y="3063179"/>
            <a:ext cx="3283260" cy="1099596"/>
          </a:xfrm>
          <a:prstGeom prst="rect">
            <a:avLst/>
          </a:prstGeom>
          <a:noFill/>
        </p:spPr>
        <p:txBody>
          <a:bodyPr wrap="square" rtlCol="0">
            <a:spAutoFit/>
          </a:bodyPr>
          <a:lstStyle/>
          <a:p>
            <a:pPr algn="r">
              <a:lnSpc>
                <a:spcPct val="120000"/>
              </a:lnSpc>
            </a:pPr>
            <a:r>
              <a:rPr lang="zh-CN" altLang="en-US" sz="2000" dirty="0">
                <a:solidFill>
                  <a:srgbClr val="00B0F0"/>
                </a:solidFill>
                <a:latin typeface="+mj-ea"/>
                <a:ea typeface="+mj-ea"/>
              </a:rPr>
              <a:t>分析过程</a:t>
            </a:r>
          </a:p>
          <a:p>
            <a:pPr>
              <a:lnSpc>
                <a:spcPct val="120000"/>
              </a:lnSpc>
            </a:pPr>
            <a:r>
              <a:rPr lang="zh-CN" altLang="en-US" dirty="0"/>
              <a:t>领域工程分析过程的主要任务是标识可重用的软件构件。</a:t>
            </a:r>
          </a:p>
        </p:txBody>
      </p:sp>
    </p:spTree>
    <p:custDataLst>
      <p:tags r:id="rId1"/>
    </p:custDataLst>
  </p:cSld>
  <p:clrMapOvr>
    <a:masterClrMapping/>
  </p:clrMapOvr>
  <p:transition>
    <p:wheel spokes="3"/>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16" name="MH_Picture_1"/>
          <p:cNvSpPr/>
          <p:nvPr>
            <p:custDataLst>
              <p:tags r:id="rId2"/>
            </p:custDataLst>
          </p:nvPr>
        </p:nvSpPr>
        <p:spPr>
          <a:xfrm>
            <a:off x="8344794" y="1352127"/>
            <a:ext cx="2419438" cy="1992081"/>
          </a:xfrm>
          <a:prstGeom prst="ellipse">
            <a:avLst/>
          </a:prstGeom>
          <a:blipFill dpi="0" rotWithShape="1">
            <a:blip r:embed="rId9"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7" name="MH_Picture_2"/>
          <p:cNvSpPr/>
          <p:nvPr>
            <p:custDataLst>
              <p:tags r:id="rId3"/>
            </p:custDataLst>
          </p:nvPr>
        </p:nvSpPr>
        <p:spPr>
          <a:xfrm>
            <a:off x="8061590" y="2941282"/>
            <a:ext cx="2004294" cy="1650267"/>
          </a:xfrm>
          <a:prstGeom prst="ellipse">
            <a:avLst/>
          </a:prstGeom>
          <a:blipFill dpi="0" rotWithShape="1">
            <a:blip r:embed="rId10"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8" name="MH_Picture_3"/>
          <p:cNvSpPr/>
          <p:nvPr>
            <p:custDataLst>
              <p:tags r:id="rId4"/>
            </p:custDataLst>
          </p:nvPr>
        </p:nvSpPr>
        <p:spPr>
          <a:xfrm>
            <a:off x="9464420" y="4032484"/>
            <a:ext cx="1467961" cy="1208669"/>
          </a:xfrm>
          <a:prstGeom prst="ellipse">
            <a:avLst/>
          </a:prstGeom>
          <a:blipFill dpi="0" rotWithShape="1">
            <a:blip r:embed="rId11"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19" name="MH_Picture_4"/>
          <p:cNvSpPr/>
          <p:nvPr>
            <p:custDataLst>
              <p:tags r:id="rId5"/>
            </p:custDataLst>
          </p:nvPr>
        </p:nvSpPr>
        <p:spPr>
          <a:xfrm>
            <a:off x="9031780" y="4909164"/>
            <a:ext cx="1028493" cy="846827"/>
          </a:xfrm>
          <a:prstGeom prst="ellipse">
            <a:avLst/>
          </a:prstGeom>
          <a:blipFill dpi="0" rotWithShape="1">
            <a:blip r:embed="rId12"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dirty="0">
              <a:ln>
                <a:noFill/>
              </a:ln>
              <a:solidFill>
                <a:sysClr val="window" lastClr="FFFFFF"/>
              </a:solidFill>
              <a:effectLst/>
              <a:uLnTx/>
              <a:uFillTx/>
              <a:latin typeface="Calibri" panose="020F0502020204030204"/>
              <a:ea typeface="+mn-ea"/>
              <a:cs typeface="+mn-cs"/>
            </a:endParaRPr>
          </a:p>
        </p:txBody>
      </p:sp>
      <p:sp>
        <p:nvSpPr>
          <p:cNvPr id="6" name="MH_Other_1"/>
          <p:cNvSpPr/>
          <p:nvPr>
            <p:custDataLst>
              <p:tags r:id="rId6"/>
            </p:custDataLst>
          </p:nvPr>
        </p:nvSpPr>
        <p:spPr bwMode="auto">
          <a:xfrm>
            <a:off x="802640" y="1969135"/>
            <a:ext cx="10513060" cy="401510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5" name="文本框 4"/>
          <p:cNvSpPr txBox="1"/>
          <p:nvPr/>
        </p:nvSpPr>
        <p:spPr>
          <a:xfrm>
            <a:off x="1440000" y="2632298"/>
            <a:ext cx="5688000" cy="2724657"/>
          </a:xfrm>
          <a:prstGeom prst="rect">
            <a:avLst/>
          </a:prstGeom>
          <a:noFill/>
        </p:spPr>
        <p:txBody>
          <a:bodyPr wrap="square" rtlCol="0">
            <a:spAutoFit/>
          </a:bodyPr>
          <a:lstStyle/>
          <a:p>
            <a:pPr fontAlgn="auto">
              <a:lnSpc>
                <a:spcPct val="120000"/>
              </a:lnSpc>
            </a:pPr>
            <a:r>
              <a:rPr lang="zh-CN" altLang="en-US" dirty="0"/>
              <a:t>随着软件构件的不断丰富，软件构件库的规模会不断扩大，软件构件库组织结构的合理性将直接影响构件的检索效率。库结构的设计和检索方法的选用，应当尽量保证用户容易理解、便于使用。</a:t>
            </a:r>
          </a:p>
          <a:p>
            <a:pPr fontAlgn="auto">
              <a:lnSpc>
                <a:spcPct val="120000"/>
              </a:lnSpc>
            </a:pPr>
            <a:endParaRPr lang="zh-CN" altLang="en-US" dirty="0"/>
          </a:p>
          <a:p>
            <a:pPr fontAlgn="auto">
              <a:lnSpc>
                <a:spcPct val="120000"/>
              </a:lnSpc>
            </a:pPr>
            <a:r>
              <a:rPr lang="zh-CN" altLang="en-US" dirty="0"/>
              <a:t>对可重用软件构件库要进行分类，以便于用户检索使用。软件构件分类的方法有3种典型模式：</a:t>
            </a:r>
            <a:r>
              <a:rPr lang="zh-CN" altLang="en-US" b="1" dirty="0">
                <a:solidFill>
                  <a:srgbClr val="FF0000"/>
                </a:solidFill>
              </a:rPr>
              <a:t>枚举分类、刻面分类和属性值分类</a:t>
            </a:r>
            <a:r>
              <a:rPr lang="zh-CN" altLang="en-US" dirty="0"/>
              <a:t>。</a:t>
            </a:r>
          </a:p>
        </p:txBody>
      </p:sp>
      <p:sp>
        <p:nvSpPr>
          <p:cNvPr id="12" name="TextBox 1"/>
          <p:cNvSpPr txBox="1">
            <a:spLocks noChangeArrowheads="1"/>
          </p:cNvSpPr>
          <p:nvPr/>
        </p:nvSpPr>
        <p:spPr bwMode="auto">
          <a:xfrm>
            <a:off x="809625" y="1995518"/>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3" name="直接连接符 12"/>
          <p:cNvCxnSpPr/>
          <p:nvPr/>
        </p:nvCxnSpPr>
        <p:spPr>
          <a:xfrm flipH="1">
            <a:off x="809625" y="1995518"/>
            <a:ext cx="590556"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1262066" y="2090768"/>
            <a:ext cx="310521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分类和检索软件构件</a:t>
            </a:r>
          </a:p>
        </p:txBody>
      </p:sp>
    </p:spTree>
    <p:custDataLst>
      <p:tags r:id="rId1"/>
    </p:custDataLst>
  </p:cSld>
  <p:clrMapOvr>
    <a:masterClrMapping/>
  </p:clrMapOvr>
  <p:transition>
    <p:wheel spokes="3"/>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枚举分类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2372534"/>
            <a:ext cx="5628005" cy="211293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spAutoFit/>
          </a:bodyPr>
          <a:lstStyle/>
          <a:p>
            <a:pPr indent="457200">
              <a:lnSpc>
                <a:spcPct val="120000"/>
              </a:lnSpc>
            </a:pPr>
            <a:r>
              <a:rPr dirty="0">
                <a:solidFill>
                  <a:schemeClr val="tx1"/>
                </a:solidFill>
              </a:rPr>
              <a:t>枚举分类方法通过层次结构来描述构件，在该结构中定义软件构件的类以及子类的不同层次。它把实际构件放在枚举层次的适当路径的最底层。</a:t>
            </a:r>
          </a:p>
          <a:p>
            <a:pPr indent="457200">
              <a:lnSpc>
                <a:spcPct val="120000"/>
              </a:lnSpc>
            </a:pPr>
            <a:r>
              <a:rPr dirty="0">
                <a:solidFill>
                  <a:schemeClr val="tx1"/>
                </a:solidFill>
              </a:rPr>
              <a:t>枚举分类模式的层次结构容易理解和使用，但在建立层次之前必须完成领域工程，以使层次中的项具有足够的信息。</a:t>
            </a:r>
          </a:p>
        </p:txBody>
      </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ln/>
                <a:solidFill>
                  <a:schemeClr val="tx1"/>
                </a:solidFill>
                <a:effectLst>
                  <a:outerShdw blurRad="38100" dist="19050" dir="2700000" algn="tl" rotWithShape="0">
                    <a:schemeClr val="dk1">
                      <a:alpha val="40000"/>
                    </a:schemeClr>
                  </a:outerShdw>
                </a:effectLst>
              </a:rPr>
              <a:t>Enumerated Classification</a:t>
            </a:r>
          </a:p>
        </p:txBody>
      </p:sp>
    </p:spTree>
    <p:custDataLst>
      <p:tags r:id="rId1"/>
    </p:custDataLst>
  </p:cSld>
  <p:clrMapOvr>
    <a:masterClrMapping/>
  </p:clrMapOvr>
  <p:transition>
    <p:wheel spokes="3"/>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刻面分类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586095" y="1523361"/>
            <a:ext cx="6023610" cy="3811278"/>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anchor="ctr">
            <a:spAutoFit/>
          </a:bodyPr>
          <a:lstStyle/>
          <a:p>
            <a:pPr marL="285750" indent="-285750">
              <a:lnSpc>
                <a:spcPct val="120000"/>
              </a:lnSpc>
              <a:buFont typeface="Wingdings" panose="05000000000000000000" charset="0"/>
              <a:buChar char="Ø"/>
            </a:pPr>
            <a:r>
              <a:rPr dirty="0">
                <a:solidFill>
                  <a:schemeClr val="tx1"/>
                </a:solidFill>
              </a:rPr>
              <a:t>分析应用领域并标识出一组基本的描述特征，这些描述特征称为刻面。</a:t>
            </a:r>
          </a:p>
          <a:p>
            <a:pPr marL="285750" indent="-285750">
              <a:lnSpc>
                <a:spcPct val="120000"/>
              </a:lnSpc>
              <a:buFont typeface="Wingdings" panose="05000000000000000000" charset="0"/>
              <a:buChar char="Ø"/>
            </a:pPr>
            <a:r>
              <a:rPr dirty="0">
                <a:solidFill>
                  <a:schemeClr val="tx1"/>
                </a:solidFill>
              </a:rPr>
              <a:t>描述一个构件的刻面的集合称为刻面描述表。</a:t>
            </a:r>
          </a:p>
          <a:p>
            <a:pPr marL="285750" indent="-285750">
              <a:lnSpc>
                <a:spcPct val="120000"/>
              </a:lnSpc>
              <a:buFont typeface="Wingdings" panose="05000000000000000000" charset="0"/>
              <a:buChar char="Ø"/>
            </a:pPr>
            <a:r>
              <a:rPr dirty="0">
                <a:solidFill>
                  <a:schemeClr val="tx1"/>
                </a:solidFill>
              </a:rPr>
              <a:t>根据重要性确定刻面的优先次序，并把它们与构件联系起来。</a:t>
            </a:r>
          </a:p>
          <a:p>
            <a:pPr marL="285750" indent="-285750">
              <a:lnSpc>
                <a:spcPct val="120000"/>
              </a:lnSpc>
              <a:buFont typeface="Wingdings" panose="05000000000000000000" charset="0"/>
              <a:buChar char="Ø"/>
            </a:pPr>
            <a:r>
              <a:rPr dirty="0">
                <a:solidFill>
                  <a:schemeClr val="tx1"/>
                </a:solidFill>
              </a:rPr>
              <a:t>刻面可以描述构件所完成的功能、加工的数据、应用构件的操作和实现方法等特征。</a:t>
            </a:r>
          </a:p>
          <a:p>
            <a:pPr marL="285750" indent="-285750">
              <a:lnSpc>
                <a:spcPct val="120000"/>
              </a:lnSpc>
              <a:buFont typeface="Wingdings" panose="05000000000000000000" charset="0"/>
              <a:buChar char="Ø"/>
            </a:pPr>
            <a:r>
              <a:rPr dirty="0">
                <a:solidFill>
                  <a:schemeClr val="tx1"/>
                </a:solidFill>
              </a:rPr>
              <a:t>通常，刻面描述不超过7个。</a:t>
            </a:r>
          </a:p>
          <a:p>
            <a:pPr marL="285750" indent="-285750">
              <a:lnSpc>
                <a:spcPct val="120000"/>
              </a:lnSpc>
              <a:buFont typeface="Wingdings" panose="05000000000000000000" charset="0"/>
              <a:buChar char="Ø"/>
            </a:pPr>
            <a:r>
              <a:rPr dirty="0">
                <a:solidFill>
                  <a:schemeClr val="tx1"/>
                </a:solidFill>
              </a:rPr>
              <a:t>把关键词的值赋给重用库中每个构件的刻面集。</a:t>
            </a:r>
          </a:p>
          <a:p>
            <a:pPr marL="285750" indent="-285750">
              <a:lnSpc>
                <a:spcPct val="120000"/>
              </a:lnSpc>
              <a:buFont typeface="Wingdings" panose="05000000000000000000" charset="0"/>
              <a:buChar char="Ø"/>
            </a:pPr>
            <a:r>
              <a:rPr dirty="0">
                <a:solidFill>
                  <a:schemeClr val="tx1"/>
                </a:solidFill>
              </a:rPr>
              <a:t>使用自动工具完成同义词词典功能，从而可以根据关键词或关键词的同义词，在构件库中查找所需要的构件。</a:t>
            </a:r>
          </a:p>
        </p:txBody>
      </p:sp>
      <p:sp>
        <p:nvSpPr>
          <p:cNvPr id="13" name="圆角矩形"/>
          <p:cNvSpPr/>
          <p:nvPr/>
        </p:nvSpPr>
        <p:spPr>
          <a:xfrm>
            <a:off x="8528179" y="387616"/>
            <a:ext cx="3099921" cy="102155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zh-CN" altLang="en-US" dirty="0">
                <a:solidFill>
                  <a:schemeClr val="bg2">
                    <a:lumMod val="50000"/>
                  </a:schemeClr>
                </a:solidFill>
              </a:rPr>
              <a:t>分析过程</a:t>
            </a:r>
          </a:p>
          <a:p>
            <a:pPr algn="l" eaLnBrk="1" fontAlgn="auto" hangingPunct="1">
              <a:spcBef>
                <a:spcPts val="0"/>
              </a:spcBef>
              <a:spcAft>
                <a:spcPts val="0"/>
              </a:spcAft>
              <a:defRPr/>
            </a:pPr>
            <a:r>
              <a:rPr lang="zh-CN" altLang="en-US" dirty="0">
                <a:solidFill>
                  <a:schemeClr val="bg2">
                    <a:lumMod val="50000"/>
                  </a:schemeClr>
                </a:solidFill>
              </a:rPr>
              <a:t>领域工程分析过程的主要任务是标识可重用的软件构件</a:t>
            </a:r>
          </a:p>
        </p:txBody>
      </p:sp>
      <p:sp>
        <p:nvSpPr>
          <p:cNvPr id="14" name="学士帽"/>
          <p:cNvSpPr/>
          <p:nvPr/>
        </p:nvSpPr>
        <p:spPr bwMode="auto">
          <a:xfrm>
            <a:off x="11292820" y="192777"/>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Light" panose="020B0502040204020203" pitchFamily="34" charset="-122"/>
            </a:endParaRPr>
          </a:p>
        </p:txBody>
      </p:sp>
      <p:sp>
        <p:nvSpPr>
          <p:cNvPr id="16" name="矩形 15"/>
          <p:cNvSpPr/>
          <p:nvPr/>
        </p:nvSpPr>
        <p:spPr>
          <a:xfrm>
            <a:off x="483235" y="35204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Faceted Classification</a:t>
            </a:r>
          </a:p>
        </p:txBody>
      </p:sp>
    </p:spTree>
    <p:custDataLst>
      <p:tags r:id="rId1"/>
    </p:custDataLst>
  </p:cSld>
  <p:clrMapOvr>
    <a:masterClrMapping/>
  </p:clrMapOvr>
  <p:transition>
    <p:wheel spokes="3"/>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5.2.3 </a:t>
            </a:r>
            <a:r>
              <a:rPr lang="zh-CN" altLang="en-US" sz="2400" dirty="0">
                <a:solidFill>
                  <a:schemeClr val="tx1"/>
                </a:solidFill>
              </a:rPr>
              <a:t>开发可重用的软件构件</a:t>
            </a:r>
          </a:p>
        </p:txBody>
      </p:sp>
      <p:sp>
        <p:nvSpPr>
          <p:cNvPr id="7" name="MH_SubTitle_1"/>
          <p:cNvSpPr/>
          <p:nvPr>
            <p:custDataLst>
              <p:tags r:id="rId2"/>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属性值分类</a:t>
            </a:r>
          </a:p>
        </p:txBody>
      </p:sp>
      <p:sp>
        <p:nvSpPr>
          <p:cNvPr id="8" name="MH_Other_1"/>
          <p:cNvSpPr/>
          <p:nvPr>
            <p:custDataLst>
              <p:tags r:id="rId3"/>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4"/>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5"/>
            </p:custDataLst>
          </p:nvPr>
        </p:nvSpPr>
        <p:spPr>
          <a:xfrm>
            <a:off x="5981700" y="2206335"/>
            <a:ext cx="5628005" cy="244533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anchor="ctr">
            <a:spAutoFit/>
          </a:bodyPr>
          <a:lstStyle/>
          <a:p>
            <a:pPr indent="457200">
              <a:lnSpc>
                <a:spcPct val="120000"/>
              </a:lnSpc>
            </a:pPr>
            <a:r>
              <a:rPr lang="zh-CN" altLang="en-US" dirty="0">
                <a:solidFill>
                  <a:schemeClr val="tx1"/>
                </a:solidFill>
              </a:rPr>
              <a:t>属性值分类模式是指为一个领域中的所有构件定义一组属性，然后与刻面分类法类似地给这些属性赋值。</a:t>
            </a:r>
            <a:endParaRPr lang="en-US" altLang="zh-CN" dirty="0">
              <a:solidFill>
                <a:schemeClr val="tx1"/>
              </a:solidFill>
            </a:endParaRPr>
          </a:p>
          <a:p>
            <a:pPr fontAlgn="auto">
              <a:lnSpc>
                <a:spcPct val="120000"/>
              </a:lnSpc>
            </a:pPr>
            <a:r>
              <a:rPr lang="zh-CN" altLang="en-US" dirty="0">
                <a:solidFill>
                  <a:schemeClr val="tx1"/>
                </a:solidFill>
              </a:rPr>
              <a:t>属性值分类法与刻面分类法相似，区别如下：</a:t>
            </a:r>
          </a:p>
          <a:p>
            <a:pPr marL="285750" indent="-285750" fontAlgn="auto">
              <a:lnSpc>
                <a:spcPct val="120000"/>
              </a:lnSpc>
              <a:buFont typeface="Arial" panose="020B0604020202020204" pitchFamily="34" charset="0"/>
              <a:buChar char="•"/>
            </a:pPr>
            <a:r>
              <a:rPr lang="zh-CN" altLang="en-US" dirty="0">
                <a:solidFill>
                  <a:schemeClr val="tx1"/>
                </a:solidFill>
              </a:rPr>
              <a:t>对可重用的属性个数没有限制。</a:t>
            </a:r>
          </a:p>
          <a:p>
            <a:pPr marL="285750" indent="-285750" fontAlgn="auto">
              <a:lnSpc>
                <a:spcPct val="120000"/>
              </a:lnSpc>
              <a:buFont typeface="Arial" panose="020B0604020202020204" pitchFamily="34" charset="0"/>
              <a:buChar char="•"/>
            </a:pPr>
            <a:r>
              <a:rPr lang="zh-CN" altLang="en-US" dirty="0">
                <a:solidFill>
                  <a:schemeClr val="tx1"/>
                </a:solidFill>
              </a:rPr>
              <a:t>属性没有优先级。</a:t>
            </a:r>
          </a:p>
          <a:p>
            <a:pPr marL="285750" indent="-285750" fontAlgn="auto">
              <a:lnSpc>
                <a:spcPct val="120000"/>
              </a:lnSpc>
              <a:buFont typeface="Arial" panose="020B0604020202020204" pitchFamily="34" charset="0"/>
              <a:buChar char="•"/>
            </a:pPr>
            <a:r>
              <a:rPr lang="zh-CN" altLang="en-US" dirty="0">
                <a:solidFill>
                  <a:schemeClr val="tx1"/>
                </a:solidFill>
              </a:rPr>
              <a:t>不使用同义词词典功能。</a:t>
            </a:r>
            <a:endParaRPr dirty="0">
              <a:solidFill>
                <a:schemeClr val="tx1"/>
              </a:solidFill>
            </a:endParaRPr>
          </a:p>
        </p:txBody>
      </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Attribute-Value Classification</a:t>
            </a:r>
          </a:p>
        </p:txBody>
      </p:sp>
    </p:spTree>
    <p:custDataLst>
      <p:tags r:id="rId1"/>
    </p:custDataLst>
  </p:cSld>
  <p:clrMapOvr>
    <a:masterClrMapping/>
  </p:clrMapOvr>
  <p:transition>
    <p:wheel spokes="3"/>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11" name="文本占位符 10">
            <a:extLst>
              <a:ext uri="{FF2B5EF4-FFF2-40B4-BE49-F238E27FC236}">
                <a16:creationId xmlns:a16="http://schemas.microsoft.com/office/drawing/2014/main" id="{6E603408-85D8-CF4A-C040-08F1284A26DA}"/>
              </a:ext>
            </a:extLst>
          </p:cNvPr>
          <p:cNvSpPr>
            <a:spLocks noGrp="1"/>
          </p:cNvSpPr>
          <p:nvPr>
            <p:ph type="body" sz="quarter" idx="10"/>
          </p:nvPr>
        </p:nvSpPr>
        <p:spPr>
          <a:xfrm>
            <a:off x="504000" y="2664000"/>
            <a:ext cx="8125424" cy="3312000"/>
          </a:xfrm>
        </p:spPr>
        <p:txBody>
          <a:bodyPr>
            <a:spAutoFit/>
          </a:bodyPr>
          <a:lstStyle/>
          <a:p>
            <a:r>
              <a:rPr lang="zh-CN" altLang="en-US" dirty="0"/>
              <a:t>又称反向工程；</a:t>
            </a:r>
          </a:p>
          <a:p>
            <a:r>
              <a:rPr lang="zh-CN" altLang="en-US" dirty="0"/>
              <a:t>根据已有的源代码构造软件中间产品，包括：重新创建设计和规约</a:t>
            </a:r>
          </a:p>
          <a:p>
            <a:endParaRPr lang="en-US" altLang="zh-CN" dirty="0"/>
          </a:p>
          <a:p>
            <a:r>
              <a:rPr lang="zh-CN" altLang="en-US" dirty="0"/>
              <a:t>逆向工程是一种产品设计技术的再现过程；即对一项目标产品进行逆向分析及研究，从而演绎并得出该产品的处理流程、组织结构、功能特性及技术规格等设计要素，以制作出功能相近，但又不完全一样的产品。</a:t>
            </a:r>
            <a:endParaRPr lang="en-US" altLang="zh-CN" dirty="0"/>
          </a:p>
          <a:p>
            <a:endParaRPr lang="en-US" altLang="zh-CN" dirty="0"/>
          </a:p>
          <a:p>
            <a:r>
              <a:rPr lang="zh-CN" altLang="en-US" dirty="0"/>
              <a:t>简单地说，逆向工程就是根据已有的产品，反向推出产品设计数据（包括各类设计图或数据模型）的过程，被认为是一个从产品到设计的过程。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5" name="MH_Picture_1"/>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6" name="MH_Picture_2"/>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 name="MH_Picture_3"/>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9" name="MH_Other_2"/>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2" name="MH_Other_4"/>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7" name="MH_Other_4">
            <a:extLst>
              <a:ext uri="{FF2B5EF4-FFF2-40B4-BE49-F238E27FC236}">
                <a16:creationId xmlns:a16="http://schemas.microsoft.com/office/drawing/2014/main" id="{423D38F7-2914-AE46-3A8D-2C46007B9B25}"/>
              </a:ext>
            </a:extLst>
          </p:cNvPr>
          <p:cNvSpPr/>
          <p:nvPr/>
        </p:nvSpPr>
        <p:spPr>
          <a:xfrm>
            <a:off x="7837650" y="1942938"/>
            <a:ext cx="792000" cy="792000"/>
          </a:xfrm>
          <a:prstGeom prst="ellipse">
            <a:avLst/>
          </a:prstGeom>
          <a:solidFill>
            <a:srgbClr val="008080"/>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r>
              <a:rPr lang="zh-CN" altLang="en-US" sz="1400" dirty="0">
                <a:solidFill>
                  <a:schemeClr val="bg1"/>
                </a:solidFill>
                <a:latin typeface="+mj-ea"/>
                <a:ea typeface="+mj-ea"/>
              </a:rPr>
              <a:t>高仿</a:t>
            </a:r>
          </a:p>
        </p:txBody>
      </p:sp>
    </p:spTree>
    <p:custDataLst>
      <p:tags r:id="rId1"/>
    </p:custDataLst>
  </p:cSld>
  <p:clrMapOvr>
    <a:masterClrMapping/>
  </p:clrMapOvr>
  <p:transition>
    <p:wheel spokes="3"/>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5" name="文本占位符 4">
            <a:extLst>
              <a:ext uri="{FF2B5EF4-FFF2-40B4-BE49-F238E27FC236}">
                <a16:creationId xmlns:a16="http://schemas.microsoft.com/office/drawing/2014/main" id="{F210EB6E-00EF-4CF8-A79D-2BD723DA2915}"/>
              </a:ext>
            </a:extLst>
          </p:cNvPr>
          <p:cNvSpPr>
            <a:spLocks noGrp="1"/>
          </p:cNvSpPr>
          <p:nvPr>
            <p:ph type="body" sz="quarter" idx="10"/>
          </p:nvPr>
        </p:nvSpPr>
        <p:spPr>
          <a:xfrm>
            <a:off x="504000" y="2664000"/>
            <a:ext cx="8125424" cy="3312000"/>
          </a:xfrm>
        </p:spPr>
        <p:txBody>
          <a:bodyPr/>
          <a:lstStyle/>
          <a:p>
            <a:r>
              <a:rPr lang="zh-CN" altLang="en-US" dirty="0"/>
              <a:t>软件的逆向工程是分析程序，力图在比源代码更高的抽象层次上，建立程序的表示过程。</a:t>
            </a:r>
            <a:endParaRPr lang="en-US" altLang="zh-CN" dirty="0"/>
          </a:p>
          <a:p>
            <a:r>
              <a:rPr lang="zh-CN" altLang="en-US" dirty="0"/>
              <a:t>它不仅是设计的恢复过程，还可以借助工具从已经存在的程序中抽取数据结构、体系结构和程序设计信息。</a:t>
            </a:r>
            <a:endParaRPr lang="en-US" altLang="zh-CN" dirty="0"/>
          </a:p>
          <a:p>
            <a:endParaRPr lang="en-US" altLang="zh-CN" dirty="0"/>
          </a:p>
          <a:p>
            <a:r>
              <a:rPr lang="zh-CN" altLang="en-US" dirty="0"/>
              <a:t>软件逆向工程也可被视作开发周期的逆行。对一项软件程序进行逆向工程，类似于逆行传统瀑布模型中的开发步骤，即从实现阶段的输出（即软件程序）还原出在设计阶段所做的构思。</a:t>
            </a:r>
            <a:endParaRPr lang="en-US" altLang="zh-CN" dirty="0"/>
          </a:p>
          <a:p>
            <a:endParaRPr lang="en-US" altLang="zh-CN" dirty="0"/>
          </a:p>
          <a:p>
            <a:r>
              <a:rPr lang="zh-CN" altLang="en-US" dirty="0"/>
              <a:t>软件逆向工程仅仅是一种检测或分析的过程，它并不会更改目标系统。软件的逆向工程可以使用净室技术避免侵犯版权。</a:t>
            </a:r>
          </a:p>
          <a:p>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17" name="MH_Other_2">
            <a:extLst>
              <a:ext uri="{FF2B5EF4-FFF2-40B4-BE49-F238E27FC236}">
                <a16:creationId xmlns:a16="http://schemas.microsoft.com/office/drawing/2014/main" id="{ECCE36C1-457D-D91C-99DD-1DED9650054C}"/>
              </a:ext>
            </a:extLst>
          </p:cNvPr>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8" name="MH_Other_4">
            <a:extLst>
              <a:ext uri="{FF2B5EF4-FFF2-40B4-BE49-F238E27FC236}">
                <a16:creationId xmlns:a16="http://schemas.microsoft.com/office/drawing/2014/main" id="{D7E0C6D6-6865-B7F6-F852-E47823A0B8F9}"/>
              </a:ext>
            </a:extLst>
          </p:cNvPr>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7" name="MH_Picture_1">
            <a:extLst>
              <a:ext uri="{FF2B5EF4-FFF2-40B4-BE49-F238E27FC236}">
                <a16:creationId xmlns:a16="http://schemas.microsoft.com/office/drawing/2014/main" id="{A65133C8-EAE4-981C-C427-5E350A0EC3D8}"/>
              </a:ext>
            </a:extLst>
          </p:cNvPr>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8" name="MH_Picture_2">
            <a:extLst>
              <a:ext uri="{FF2B5EF4-FFF2-40B4-BE49-F238E27FC236}">
                <a16:creationId xmlns:a16="http://schemas.microsoft.com/office/drawing/2014/main" id="{AFA46AFC-ECE9-6D32-F46F-35584E8F8396}"/>
              </a:ext>
            </a:extLst>
          </p:cNvPr>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 name="MH_Picture_3">
            <a:extLst>
              <a:ext uri="{FF2B5EF4-FFF2-40B4-BE49-F238E27FC236}">
                <a16:creationId xmlns:a16="http://schemas.microsoft.com/office/drawing/2014/main" id="{1896E414-EBDC-7B8C-B270-4D9422DC2F1C}"/>
              </a:ext>
            </a:extLst>
          </p:cNvPr>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3"/>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7" name="文本占位符 6">
            <a:extLst>
              <a:ext uri="{FF2B5EF4-FFF2-40B4-BE49-F238E27FC236}">
                <a16:creationId xmlns:a16="http://schemas.microsoft.com/office/drawing/2014/main" id="{E7AADF8E-5357-33A2-5104-DC0817480FB4}"/>
              </a:ext>
            </a:extLst>
          </p:cNvPr>
          <p:cNvSpPr>
            <a:spLocks noGrp="1"/>
          </p:cNvSpPr>
          <p:nvPr>
            <p:ph type="body" sz="quarter" idx="10"/>
          </p:nvPr>
        </p:nvSpPr>
        <p:spPr>
          <a:xfrm>
            <a:off x="504000" y="2664000"/>
            <a:ext cx="8125424" cy="3312000"/>
          </a:xfrm>
        </p:spPr>
        <p:txBody>
          <a:bodyPr/>
          <a:lstStyle/>
          <a:p>
            <a:r>
              <a:rPr lang="zh-CN" altLang="en-US" dirty="0"/>
              <a:t>随着计算机技术在各个领域的广泛应用，特别是软件开发技术的迅猛发展，基于某个软件，以反汇编阅读源码的方式去推断其数据结构、体系结构和程序设计信息，成为软件逆向工程技术关注的主要对象。</a:t>
            </a:r>
            <a:endParaRPr lang="en-US" altLang="zh-CN" dirty="0"/>
          </a:p>
          <a:p>
            <a:r>
              <a:rPr lang="zh-CN" altLang="en-US" dirty="0"/>
              <a:t>软件逆向技术的目的是用来研究和学习先进的技术，特别是当手里没有合适的文档资料，又很需要实现某个软件功能的时候。也正因为这样，很多软件为了垄断技术，在软件安装之前，要求用户同意不去逆向研究。</a:t>
            </a:r>
            <a:endParaRPr lang="en-US" altLang="zh-CN" dirty="0"/>
          </a:p>
          <a:p>
            <a:endParaRPr lang="en-US" altLang="zh-CN" dirty="0"/>
          </a:p>
          <a:p>
            <a:r>
              <a:rPr lang="zh-CN" altLang="en-US" dirty="0"/>
              <a:t>主要方法：分析通过信息交换获得的观察、反汇编、反编译</a:t>
            </a:r>
            <a:endParaRPr lang="en-US" altLang="zh-CN" dirty="0"/>
          </a:p>
          <a:p>
            <a:endParaRPr lang="zh-CN" altLang="en-US" dirty="0"/>
          </a:p>
          <a:p>
            <a:r>
              <a:rPr lang="zh-CN" altLang="en-US" dirty="0"/>
              <a:t>目前主流应用的四大逆向工程软件为：</a:t>
            </a:r>
            <a:r>
              <a:rPr lang="en-US" altLang="zh-CN" dirty="0" err="1"/>
              <a:t>Imageware</a:t>
            </a:r>
            <a:r>
              <a:rPr lang="en-US" altLang="zh-CN" dirty="0"/>
              <a:t> Surfacer</a:t>
            </a:r>
            <a:r>
              <a:rPr lang="zh-CN" altLang="en-US" dirty="0"/>
              <a:t>，</a:t>
            </a:r>
            <a:r>
              <a:rPr lang="en-US" altLang="zh-CN" dirty="0"/>
              <a:t>Geomagic Studio</a:t>
            </a:r>
            <a:r>
              <a:rPr lang="zh-CN" altLang="en-US" dirty="0"/>
              <a:t>，</a:t>
            </a:r>
            <a:r>
              <a:rPr lang="en-US" altLang="zh-CN" dirty="0" err="1"/>
              <a:t>CopyCAD</a:t>
            </a:r>
            <a:r>
              <a:rPr lang="zh-CN" altLang="en-US" dirty="0"/>
              <a:t>，</a:t>
            </a:r>
            <a:r>
              <a:rPr lang="en-US" altLang="zh-CN" dirty="0" err="1"/>
              <a:t>RapidForm</a:t>
            </a:r>
            <a:r>
              <a:rPr lang="zh-CN" altLang="en-US" dirty="0"/>
              <a:t>。</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20" name="MH_Other_2">
            <a:extLst>
              <a:ext uri="{FF2B5EF4-FFF2-40B4-BE49-F238E27FC236}">
                <a16:creationId xmlns:a16="http://schemas.microsoft.com/office/drawing/2014/main" id="{49C5972F-3D50-877C-95B3-4CCD3139148B}"/>
              </a:ext>
            </a:extLst>
          </p:cNvPr>
          <p:cNvSpPr/>
          <p:nvPr/>
        </p:nvSpPr>
        <p:spPr>
          <a:xfrm>
            <a:off x="9805892" y="3075168"/>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1" name="MH_Other_4">
            <a:extLst>
              <a:ext uri="{FF2B5EF4-FFF2-40B4-BE49-F238E27FC236}">
                <a16:creationId xmlns:a16="http://schemas.microsoft.com/office/drawing/2014/main" id="{463BB6F8-A8E3-7897-B9CF-2B2916C6D26E}"/>
              </a:ext>
            </a:extLst>
          </p:cNvPr>
          <p:cNvSpPr/>
          <p:nvPr/>
        </p:nvSpPr>
        <p:spPr>
          <a:xfrm>
            <a:off x="10313349" y="3607129"/>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6" name="MH_Picture_1">
            <a:extLst>
              <a:ext uri="{FF2B5EF4-FFF2-40B4-BE49-F238E27FC236}">
                <a16:creationId xmlns:a16="http://schemas.microsoft.com/office/drawing/2014/main" id="{3FC466F0-22F6-976A-41FA-1AD58A6D2226}"/>
              </a:ext>
            </a:extLst>
          </p:cNvPr>
          <p:cNvSpPr/>
          <p:nvPr/>
        </p:nvSpPr>
        <p:spPr>
          <a:xfrm>
            <a:off x="8342279" y="767853"/>
            <a:ext cx="2133600" cy="2133445"/>
          </a:xfrm>
          <a:prstGeom prst="ellipse">
            <a:avLst/>
          </a:prstGeom>
          <a:blipFill dpi="0" rotWithShape="1">
            <a:blip r:embed="rId4"/>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7" name="MH_Picture_2">
            <a:extLst>
              <a:ext uri="{FF2B5EF4-FFF2-40B4-BE49-F238E27FC236}">
                <a16:creationId xmlns:a16="http://schemas.microsoft.com/office/drawing/2014/main" id="{9FCB722D-CF7E-1C7C-4A91-0E8FEE23C09B}"/>
              </a:ext>
            </a:extLst>
          </p:cNvPr>
          <p:cNvSpPr/>
          <p:nvPr/>
        </p:nvSpPr>
        <p:spPr>
          <a:xfrm>
            <a:off x="10313349" y="1942938"/>
            <a:ext cx="1741170" cy="1741044"/>
          </a:xfrm>
          <a:prstGeom prst="ellipse">
            <a:avLst/>
          </a:prstGeom>
          <a:blipFill dpi="0" rotWithShape="1">
            <a:blip r:embed="rId5"/>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28" name="MH_Picture_3">
            <a:extLst>
              <a:ext uri="{FF2B5EF4-FFF2-40B4-BE49-F238E27FC236}">
                <a16:creationId xmlns:a16="http://schemas.microsoft.com/office/drawing/2014/main" id="{BBFEADCE-5AD8-A969-FFB0-FCDBF9B697E2}"/>
              </a:ext>
            </a:extLst>
          </p:cNvPr>
          <p:cNvSpPr/>
          <p:nvPr/>
        </p:nvSpPr>
        <p:spPr>
          <a:xfrm>
            <a:off x="10265376" y="4786644"/>
            <a:ext cx="1637030" cy="1636911"/>
          </a:xfrm>
          <a:prstGeom prst="ellipse">
            <a:avLst/>
          </a:prstGeom>
          <a:blipFill dpi="0" rotWithShape="1">
            <a:blip r:embed="rId6"/>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sp>
        <p:nvSpPr>
          <p:cNvPr id="117778" name="Rectangle 18"/>
          <p:cNvSpPr>
            <a:spLocks noChangeArrowheads="1"/>
          </p:cNvSpPr>
          <p:nvPr/>
        </p:nvSpPr>
        <p:spPr bwMode="auto">
          <a:xfrm>
            <a:off x="0" y="0"/>
            <a:ext cx="12192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sp>
        <p:nvSpPr>
          <p:cNvPr id="117777" name="Rectangle 29"/>
          <p:cNvSpPr>
            <a:spLocks noChangeArrowheads="1"/>
          </p:cNvSpPr>
          <p:nvPr/>
        </p:nvSpPr>
        <p:spPr bwMode="auto">
          <a:xfrm>
            <a:off x="5191887" y="2436826"/>
            <a:ext cx="5174005" cy="3456053"/>
          </a:xfrm>
          <a:prstGeom prst="rect">
            <a:avLst/>
          </a:prstGeom>
          <a:noFill/>
          <a:ln w="9525">
            <a:solidFill>
              <a:srgbClr val="000000"/>
            </a:solidFill>
            <a:prstDash val="lgDash"/>
            <a:miter lim="200000"/>
            <a:headEnd/>
            <a:tailEnd/>
          </a:ln>
        </p:spPr>
        <p:txBody>
          <a:bodyPr vert="horz" wrap="square" lIns="91440" tIns="45720" rIns="91440" bIns="45720" numCol="1" anchor="t" anchorCtr="0" compatLnSpc="1">
            <a:prstTxWarp prst="textNoShape">
              <a:avLst/>
            </a:prstTxWarp>
          </a:bodyPr>
          <a:lstStyle/>
          <a:p>
            <a:endParaRPr lang="zh-CN" altLang="en-US" sz="2400" dirty="0"/>
          </a:p>
        </p:txBody>
      </p:sp>
      <p:sp>
        <p:nvSpPr>
          <p:cNvPr id="117776" name="Quad Arrow 33"/>
          <p:cNvSpPr txBox="1">
            <a:spLocks noChangeArrowheads="1"/>
          </p:cNvSpPr>
          <p:nvPr/>
        </p:nvSpPr>
        <p:spPr bwMode="auto">
          <a:xfrm>
            <a:off x="5422234" y="4970760"/>
            <a:ext cx="1332050" cy="73866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处理规则</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构件调用</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伪代码</a:t>
            </a:r>
          </a:p>
        </p:txBody>
      </p:sp>
      <p:sp>
        <p:nvSpPr>
          <p:cNvPr id="117775" name="Flowchart: Predefined Process 34"/>
          <p:cNvSpPr>
            <a:spLocks noChangeArrowheads="1"/>
          </p:cNvSpPr>
          <p:nvPr/>
        </p:nvSpPr>
        <p:spPr bwMode="auto">
          <a:xfrm>
            <a:off x="5439594" y="2825175"/>
            <a:ext cx="1246497" cy="748941"/>
          </a:xfrm>
          <a:prstGeom prst="flowChartPredefinedProcess">
            <a:avLst/>
          </a:prstGeom>
          <a:solidFill>
            <a:schemeClr val="bg1"/>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74" name="Documents"/>
          <p:cNvSpPr>
            <a:spLocks noChangeArrowheads="1"/>
          </p:cNvSpPr>
          <p:nvPr/>
        </p:nvSpPr>
        <p:spPr bwMode="auto">
          <a:xfrm rot="10800000">
            <a:off x="9078111" y="2619086"/>
            <a:ext cx="667517" cy="1161119"/>
          </a:xfrm>
          <a:custGeom>
            <a:avLst/>
            <a:gdLst>
              <a:gd name="T0" fmla="*/ 1645 w 21600"/>
              <a:gd name="T1" fmla="*/ 4171 h 21600"/>
              <a:gd name="T2" fmla="*/ 16522 w 21600"/>
              <a:gd name="T3" fmla="*/ 17314 h 21600"/>
            </a:gdLst>
            <a:ahLst/>
            <a:cxnLst>
              <a:cxn ang="0">
                <a:pos x="0" y="18014"/>
              </a:cxn>
              <a:cxn ang="0">
                <a:pos x="0" y="2800"/>
              </a:cxn>
              <a:cxn ang="0">
                <a:pos x="1645" y="2800"/>
              </a:cxn>
              <a:cxn ang="0">
                <a:pos x="1645" y="1428"/>
              </a:cxn>
              <a:cxn ang="0">
                <a:pos x="3468" y="1428"/>
              </a:cxn>
              <a:cxn ang="0">
                <a:pos x="3468" y="0"/>
              </a:cxn>
              <a:cxn ang="0">
                <a:pos x="21653" y="0"/>
              </a:cxn>
              <a:cxn ang="0">
                <a:pos x="21653" y="18828"/>
              </a:cxn>
              <a:cxn ang="0">
                <a:pos x="19954" y="18828"/>
              </a:cxn>
              <a:cxn ang="0">
                <a:pos x="19954" y="20214"/>
              </a:cxn>
              <a:cxn ang="0">
                <a:pos x="18256" y="20214"/>
              </a:cxn>
              <a:cxn ang="0">
                <a:pos x="18256" y="21600"/>
              </a:cxn>
              <a:cxn ang="0">
                <a:pos x="4434" y="21600"/>
              </a:cxn>
              <a:cxn ang="0">
                <a:pos x="0" y="18014"/>
              </a:cxn>
              <a:cxn ang="0">
                <a:pos x="3486" y="1428"/>
              </a:cxn>
              <a:cxn ang="0">
                <a:pos x="19954" y="1428"/>
              </a:cxn>
              <a:cxn ang="0">
                <a:pos x="19954" y="20214"/>
              </a:cxn>
              <a:cxn ang="0">
                <a:pos x="18256" y="20214"/>
              </a:cxn>
              <a:cxn ang="0">
                <a:pos x="18256" y="2800"/>
              </a:cxn>
              <a:cxn ang="0">
                <a:pos x="1645" y="2800"/>
              </a:cxn>
              <a:cxn ang="0">
                <a:pos x="1645" y="1428"/>
              </a:cxn>
              <a:cxn ang="0">
                <a:pos x="3486" y="1428"/>
              </a:cxn>
              <a:cxn ang="0">
                <a:pos x="0" y="18014"/>
              </a:cxn>
              <a:cxn ang="0">
                <a:pos x="4434" y="18000"/>
              </a:cxn>
              <a:cxn ang="0">
                <a:pos x="4434" y="21600"/>
              </a:cxn>
              <a:cxn ang="0">
                <a:pos x="0" y="18014"/>
              </a:cxn>
            </a:cxnLst>
            <a:rect l="T0" t="T1" r="T2" b="T3"/>
            <a:pathLst>
              <a:path w="21600" h="2160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a:moveTo>
                  <a:pt x="3486" y="1428"/>
                </a:moveTo>
                <a:lnTo>
                  <a:pt x="19954" y="1428"/>
                </a:lnTo>
                <a:lnTo>
                  <a:pt x="19954" y="20214"/>
                </a:lnTo>
                <a:lnTo>
                  <a:pt x="18256" y="20214"/>
                </a:lnTo>
                <a:lnTo>
                  <a:pt x="18256" y="2800"/>
                </a:lnTo>
                <a:lnTo>
                  <a:pt x="1645" y="2800"/>
                </a:lnTo>
                <a:lnTo>
                  <a:pt x="1645" y="1428"/>
                </a:lnTo>
                <a:lnTo>
                  <a:pt x="3486" y="1428"/>
                </a:lnTo>
                <a:close/>
              </a:path>
              <a:path w="21600" h="21600">
                <a:moveTo>
                  <a:pt x="0" y="18014"/>
                </a:moveTo>
                <a:lnTo>
                  <a:pt x="4434" y="18000"/>
                </a:lnTo>
                <a:lnTo>
                  <a:pt x="4434" y="21600"/>
                </a:lnTo>
                <a:lnTo>
                  <a:pt x="0" y="18014"/>
                </a:lnTo>
                <a:close/>
              </a:path>
            </a:pathLst>
          </a:custGeom>
          <a:solidFill>
            <a:schemeClr val="bg1"/>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3" name="Document"/>
          <p:cNvSpPr>
            <a:spLocks noChangeArrowheads="1"/>
          </p:cNvSpPr>
          <p:nvPr/>
        </p:nvSpPr>
        <p:spPr bwMode="auto">
          <a:xfrm rot="10800000">
            <a:off x="7401359" y="2732857"/>
            <a:ext cx="643642" cy="933576"/>
          </a:xfrm>
          <a:custGeom>
            <a:avLst/>
            <a:gdLst>
              <a:gd name="T0" fmla="*/ 977 w 21600"/>
              <a:gd name="T1" fmla="*/ 818 h 21600"/>
              <a:gd name="T2" fmla="*/ 20622 w 21600"/>
              <a:gd name="T3" fmla="*/ 16429 h 21600"/>
            </a:gdLst>
            <a:ahLst/>
            <a:cxnLst>
              <a:cxn ang="0">
                <a:pos x="10757" y="21632"/>
              </a:cxn>
              <a:cxn ang="0">
                <a:pos x="5187" y="21632"/>
              </a:cxn>
              <a:cxn ang="0">
                <a:pos x="85" y="17509"/>
              </a:cxn>
              <a:cxn ang="0">
                <a:pos x="85" y="10849"/>
              </a:cxn>
              <a:cxn ang="0">
                <a:pos x="85" y="81"/>
              </a:cxn>
              <a:cxn ang="0">
                <a:pos x="10757" y="81"/>
              </a:cxn>
              <a:cxn ang="0">
                <a:pos x="21706" y="81"/>
              </a:cxn>
              <a:cxn ang="0">
                <a:pos x="21706" y="10652"/>
              </a:cxn>
              <a:cxn ang="0">
                <a:pos x="21706" y="21632"/>
              </a:cxn>
              <a:cxn ang="0">
                <a:pos x="10757" y="21632"/>
              </a:cxn>
              <a:cxn ang="0">
                <a:pos x="85" y="17509"/>
              </a:cxn>
              <a:cxn ang="0">
                <a:pos x="5187" y="17509"/>
              </a:cxn>
              <a:cxn ang="0">
                <a:pos x="5187" y="21632"/>
              </a:cxn>
              <a:cxn ang="0">
                <a:pos x="85" y="17509"/>
              </a:cxn>
            </a:cxnLst>
            <a:rect l="T0" t="T1" r="T2" b="T3"/>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chemeClr val="bg1"/>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2" name="Quad Arrow 37"/>
          <p:cNvSpPr txBox="1">
            <a:spLocks noChangeArrowheads="1"/>
          </p:cNvSpPr>
          <p:nvPr/>
        </p:nvSpPr>
        <p:spPr bwMode="auto">
          <a:xfrm>
            <a:off x="7120374" y="4970760"/>
            <a:ext cx="1313149" cy="738664"/>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数据、控制</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流程图</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数据结构图</a:t>
            </a:r>
          </a:p>
        </p:txBody>
      </p:sp>
      <p:sp>
        <p:nvSpPr>
          <p:cNvPr id="117771" name="Quad Arrow 38"/>
          <p:cNvSpPr txBox="1">
            <a:spLocks noChangeArrowheads="1"/>
          </p:cNvSpPr>
          <p:nvPr/>
        </p:nvSpPr>
        <p:spPr bwMode="auto">
          <a:xfrm>
            <a:off x="8844380" y="4970760"/>
            <a:ext cx="1559250" cy="492443"/>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p>
            <a:pPr marL="285750" marR="0" lvl="0" indent="-285750" algn="l"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lang="zh-CN" altLang="en-US" sz="1600" dirty="0"/>
              <a:t>数据接口表</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zh-CN" altLang="en-US" sz="1600" dirty="0"/>
              <a:t>测试路径</a:t>
            </a:r>
          </a:p>
        </p:txBody>
      </p:sp>
      <p:sp>
        <p:nvSpPr>
          <p:cNvPr id="117770" name="Flowchart: Document 24"/>
          <p:cNvSpPr>
            <a:spLocks noChangeArrowheads="1"/>
          </p:cNvSpPr>
          <p:nvPr/>
        </p:nvSpPr>
        <p:spPr bwMode="auto">
          <a:xfrm>
            <a:off x="2048786" y="3664908"/>
            <a:ext cx="1109212" cy="999889"/>
          </a:xfrm>
          <a:prstGeom prst="flowChartMultidocument">
            <a:avLst/>
          </a:prstGeom>
          <a:solidFill>
            <a:srgbClr val="FFFFFF"/>
          </a:solidFill>
          <a:ln w="9525">
            <a:solidFill>
              <a:srgbClr val="000000"/>
            </a:solidFill>
            <a:miter lim="200000"/>
            <a:headEnd/>
            <a:tailEnd/>
          </a:ln>
        </p:spPr>
        <p:txBody>
          <a:bodyPr vert="horz" wrap="square" lIns="91440" tIns="45720" rIns="91440" bIns="45720" numCol="1" anchor="ctr" anchorCtr="0" compatLnSpc="1">
            <a:prstTxWarp prst="textNoShape">
              <a:avLst/>
            </a:prstTxWarp>
          </a:bodyPr>
          <a:lstStyle/>
          <a:p>
            <a:pPr algn="ctr"/>
            <a:r>
              <a:rPr lang="zh-CN" altLang="zh-CN" sz="1600" dirty="0">
                <a:latin typeface="Times New Roman" pitchFamily="18" charset="0"/>
                <a:ea typeface="微软雅黑 Light" panose="020B0502040204020203" pitchFamily="34" charset="-122"/>
                <a:cs typeface="Times New Roman" pitchFamily="18" charset="0"/>
              </a:rPr>
              <a:t>源代码</a:t>
            </a:r>
            <a:endParaRPr lang="zh-CN" altLang="zh-CN" sz="1600" dirty="0">
              <a:latin typeface="Arial" pitchFamily="34" charset="0"/>
              <a:ea typeface="微软雅黑 Light" panose="020B0502040204020203" pitchFamily="34" charset="-122"/>
              <a:cs typeface="宋体" pitchFamily="2" charset="-122"/>
            </a:endParaRPr>
          </a:p>
        </p:txBody>
      </p:sp>
      <p:sp>
        <p:nvSpPr>
          <p:cNvPr id="117767" name="Notched Right Arrow 27"/>
          <p:cNvSpPr>
            <a:spLocks noChangeArrowheads="1"/>
          </p:cNvSpPr>
          <p:nvPr/>
        </p:nvSpPr>
        <p:spPr bwMode="auto">
          <a:xfrm>
            <a:off x="3515632" y="3774779"/>
            <a:ext cx="1578763" cy="780147"/>
          </a:xfrm>
          <a:prstGeom prst="notchedRightArrow">
            <a:avLst>
              <a:gd name="adj1" fmla="val 50000"/>
              <a:gd name="adj2" fmla="val 66125"/>
            </a:avLst>
          </a:prstGeom>
          <a:solidFill>
            <a:srgbClr val="FFFFFF"/>
          </a:solidFill>
          <a:ln w="9525">
            <a:solidFill>
              <a:srgbClr val="000000"/>
            </a:solidFill>
            <a:miter lim="200000"/>
            <a:headEnd/>
            <a:tailEnd/>
          </a:ln>
        </p:spPr>
        <p:txBody>
          <a:bodyPr vert="horz" wrap="square" lIns="91440" tIns="45720" rIns="91440" bIns="45720" numCol="1" anchor="ctr" anchorCtr="0" compatLnSpc="1">
            <a:prstTxWarp prst="textNoShape">
              <a:avLst/>
            </a:prstTxWarp>
          </a:bodyPr>
          <a:lstStyle/>
          <a:p>
            <a:r>
              <a:rPr lang="zh-CN" altLang="zh-CN" sz="1600" dirty="0"/>
              <a:t>静态分析</a:t>
            </a:r>
          </a:p>
        </p:txBody>
      </p:sp>
      <p:sp>
        <p:nvSpPr>
          <p:cNvPr id="117764" name="Quad Arrow 25"/>
          <p:cNvSpPr txBox="1">
            <a:spLocks noChangeArrowheads="1"/>
          </p:cNvSpPr>
          <p:nvPr/>
        </p:nvSpPr>
        <p:spPr bwMode="auto">
          <a:xfrm>
            <a:off x="5452527" y="3962465"/>
            <a:ext cx="981877" cy="347166"/>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数据字典</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3" name="Quad Arrow 25"/>
          <p:cNvSpPr txBox="1">
            <a:spLocks noChangeArrowheads="1"/>
          </p:cNvSpPr>
          <p:nvPr/>
        </p:nvSpPr>
        <p:spPr bwMode="auto">
          <a:xfrm>
            <a:off x="7213340" y="3962465"/>
            <a:ext cx="909256" cy="387473"/>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E-R</a:t>
            </a:r>
            <a:r>
              <a:rPr kumimoji="0" lang="zh-CN" altLang="en-US" sz="14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图</a:t>
            </a:r>
            <a:endParaRPr kumimoji="0" lang="zh-CN" altLang="en-US" sz="14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
        <p:nvSpPr>
          <p:cNvPr id="117762" name="Quad Arrow 25"/>
          <p:cNvSpPr txBox="1">
            <a:spLocks noChangeArrowheads="1"/>
          </p:cNvSpPr>
          <p:nvPr/>
        </p:nvSpPr>
        <p:spPr bwMode="auto">
          <a:xfrm>
            <a:off x="8700581" y="3962465"/>
            <a:ext cx="1422578" cy="37447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a:ln>
                  <a:noFill/>
                </a:ln>
                <a:solidFill>
                  <a:schemeClr val="tx1"/>
                </a:solidFill>
                <a:effectLst/>
                <a:latin typeface="Times New Roman" pitchFamily="18" charset="0"/>
                <a:ea typeface="微软雅黑 Light" panose="020B0502040204020203" pitchFamily="34" charset="-122"/>
                <a:cs typeface="Times New Roman" pitchFamily="18" charset="0"/>
              </a:rPr>
              <a:t>模块、变量表</a:t>
            </a:r>
            <a:endParaRPr kumimoji="0" lang="zh-CN" sz="1600" b="0" i="0" u="none" strike="noStrike" cap="none" normalizeH="0" baseline="0" dirty="0">
              <a:ln>
                <a:noFill/>
              </a:ln>
              <a:solidFill>
                <a:schemeClr val="tx1"/>
              </a:solidFill>
              <a:effectLst/>
              <a:latin typeface="Arial" pitchFamily="34" charset="0"/>
              <a:ea typeface="微软雅黑 Light" panose="020B0502040204020203" pitchFamily="34" charset="-122"/>
              <a:cs typeface="宋体" pitchFamily="2" charset="-122"/>
            </a:endParaRPr>
          </a:p>
        </p:txBody>
      </p:sp>
    </p:spTree>
    <p:custDataLst>
      <p:tags r:id="rId1"/>
    </p:custDataLst>
  </p:cSld>
  <p:clrMapOvr>
    <a:masterClrMapping/>
  </p:clrMapOvr>
  <p:transition>
    <p:wheel spokes="3"/>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lstStyle/>
          <a:p>
            <a:r>
              <a:rPr lang="en-US" dirty="0">
                <a:sym typeface="+mn-ea"/>
              </a:rPr>
              <a:t>5.2 </a:t>
            </a:r>
            <a:r>
              <a:rPr lang="zh-CN" altLang="en-US" dirty="0">
                <a:sym typeface="+mn-ea"/>
              </a:rPr>
              <a:t>软件重用和再工程</a:t>
            </a:r>
            <a:endParaRPr lang="zh-CN"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5.2.4 </a:t>
            </a:r>
            <a:r>
              <a:rPr lang="zh-CN" altLang="en-US" sz="2400" dirty="0">
                <a:solidFill>
                  <a:schemeClr val="tx1"/>
                </a:solidFill>
              </a:rPr>
              <a:t>软件逆向工程 </a:t>
            </a:r>
            <a:r>
              <a:rPr lang="en-US" altLang="zh-CN" sz="2400" dirty="0">
                <a:solidFill>
                  <a:schemeClr val="tx1"/>
                </a:solidFill>
              </a:rPr>
              <a:t>Reverse Engineer</a:t>
            </a:r>
            <a:endParaRPr lang="zh-CN" altLang="en-US" sz="2400" dirty="0">
              <a:solidFill>
                <a:schemeClr val="tx1"/>
              </a:solidFill>
            </a:endParaRPr>
          </a:p>
        </p:txBody>
      </p:sp>
      <p:cxnSp>
        <p:nvCxnSpPr>
          <p:cNvPr id="4" name="MH_Other_1"/>
          <p:cNvCxnSpPr/>
          <p:nvPr/>
        </p:nvCxnSpPr>
        <p:spPr>
          <a:xfrm flipH="1">
            <a:off x="1342894" y="2620025"/>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833624" y="3157870"/>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7" name="MH_SubTitle_1"/>
          <p:cNvSpPr txBox="1">
            <a:spLocks noChangeArrowheads="1"/>
          </p:cNvSpPr>
          <p:nvPr/>
        </p:nvSpPr>
        <p:spPr bwMode="auto">
          <a:xfrm>
            <a:off x="2261765" y="2494628"/>
            <a:ext cx="9108000" cy="1431995"/>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分析通过信息交换所得的观察</a:t>
            </a:r>
          </a:p>
          <a:p>
            <a:pPr fontAlgn="auto">
              <a:lnSpc>
                <a:spcPct val="120000"/>
              </a:lnSpc>
            </a:pPr>
            <a:r>
              <a:rPr dirty="0"/>
              <a:t>最常用于协议逆向工程，涉及使用总线分析器和数据包嗅探器。在接入计算机总线或网络的连接，并成功截取到通信数据后，可以对总线或网络行为进行分析，以制造出拥有相同行为的通信实现。此法特别适用于设备驱动程序的逆向工程。</a:t>
            </a:r>
          </a:p>
        </p:txBody>
      </p:sp>
      <p:sp>
        <p:nvSpPr>
          <p:cNvPr id="8" name="MH_Other_3"/>
          <p:cNvSpPr txBox="1">
            <a:spLocks noChangeArrowheads="1"/>
          </p:cNvSpPr>
          <p:nvPr/>
        </p:nvSpPr>
        <p:spPr bwMode="auto">
          <a:xfrm>
            <a:off x="809494" y="2420000"/>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01</a:t>
            </a:r>
          </a:p>
        </p:txBody>
      </p:sp>
      <p:cxnSp>
        <p:nvCxnSpPr>
          <p:cNvPr id="10" name="MH_Other_1"/>
          <p:cNvCxnSpPr/>
          <p:nvPr/>
        </p:nvCxnSpPr>
        <p:spPr>
          <a:xfrm flipH="1">
            <a:off x="1342894" y="3926623"/>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1" name="MH_Other_2"/>
          <p:cNvSpPr/>
          <p:nvPr/>
        </p:nvSpPr>
        <p:spPr>
          <a:xfrm>
            <a:off x="833624" y="4464468"/>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2" name="MH_SubTitle_1"/>
          <p:cNvSpPr txBox="1">
            <a:spLocks noChangeArrowheads="1"/>
          </p:cNvSpPr>
          <p:nvPr/>
        </p:nvSpPr>
        <p:spPr bwMode="auto">
          <a:xfrm>
            <a:off x="2261765" y="4134079"/>
            <a:ext cx="9108000" cy="1099596"/>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反汇编</a:t>
            </a:r>
          </a:p>
          <a:p>
            <a:pPr fontAlgn="auto">
              <a:lnSpc>
                <a:spcPct val="120000"/>
              </a:lnSpc>
            </a:pPr>
            <a:r>
              <a:rPr dirty="0"/>
              <a:t>使用反汇编器把程序的原始机器码翻译成较便于阅读理解的汇编代码。这适用于任何的计算机程序，对不熟悉机器码的人特别有用。流行的相关工具有</a:t>
            </a:r>
            <a:r>
              <a:rPr lang="en-US" dirty="0"/>
              <a:t> </a:t>
            </a:r>
            <a:r>
              <a:rPr dirty="0"/>
              <a:t>OllyDebug</a:t>
            </a:r>
            <a:r>
              <a:rPr lang="en-US" dirty="0"/>
              <a:t> </a:t>
            </a:r>
            <a:r>
              <a:rPr dirty="0"/>
              <a:t>和</a:t>
            </a:r>
            <a:r>
              <a:rPr lang="en-US" dirty="0"/>
              <a:t> </a:t>
            </a:r>
            <a:r>
              <a:rPr dirty="0"/>
              <a:t>IDA。</a:t>
            </a:r>
          </a:p>
        </p:txBody>
      </p:sp>
      <p:sp>
        <p:nvSpPr>
          <p:cNvPr id="13" name="MH_Other_3"/>
          <p:cNvSpPr txBox="1">
            <a:spLocks noChangeArrowheads="1"/>
          </p:cNvSpPr>
          <p:nvPr/>
        </p:nvSpPr>
        <p:spPr bwMode="auto">
          <a:xfrm>
            <a:off x="809494" y="3726598"/>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02</a:t>
            </a:r>
          </a:p>
        </p:txBody>
      </p:sp>
      <p:cxnSp>
        <p:nvCxnSpPr>
          <p:cNvPr id="15" name="MH_Other_1"/>
          <p:cNvCxnSpPr/>
          <p:nvPr/>
        </p:nvCxnSpPr>
        <p:spPr>
          <a:xfrm flipH="1">
            <a:off x="1392424" y="5283976"/>
            <a:ext cx="981075" cy="9207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6" name="MH_Other_2"/>
          <p:cNvSpPr/>
          <p:nvPr/>
        </p:nvSpPr>
        <p:spPr>
          <a:xfrm>
            <a:off x="883154" y="5821821"/>
            <a:ext cx="715645" cy="32385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Times New Roman" panose="02020603050405020304" pitchFamily="18" charset="0"/>
              <a:ea typeface="微软雅黑" panose="020B0503020204020204" charset="-122"/>
            </a:endParaRPr>
          </a:p>
        </p:txBody>
      </p:sp>
      <p:sp>
        <p:nvSpPr>
          <p:cNvPr id="17" name="MH_SubTitle_1"/>
          <p:cNvSpPr txBox="1">
            <a:spLocks noChangeArrowheads="1"/>
          </p:cNvSpPr>
          <p:nvPr/>
        </p:nvSpPr>
        <p:spPr bwMode="auto">
          <a:xfrm>
            <a:off x="2261764" y="5441130"/>
            <a:ext cx="9108000" cy="767198"/>
          </a:xfrm>
          <a:prstGeom prst="rect">
            <a:avLst/>
          </a:prstGeom>
          <a:noFill/>
          <a:ln w="9525">
            <a:noFill/>
            <a:miter lim="800000"/>
          </a:ln>
        </p:spPr>
        <p:txBody>
          <a:bodyPr wrap="squar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fontAlgn="auto">
              <a:lnSpc>
                <a:spcPct val="120000"/>
              </a:lnSpc>
            </a:pPr>
            <a:r>
              <a:rPr lang="zh-CN" altLang="en-US" sz="2000" b="1" dirty="0">
                <a:solidFill>
                  <a:srgbClr val="00B0F0"/>
                </a:solidFill>
              </a:rPr>
              <a:t>反编译</a:t>
            </a:r>
          </a:p>
          <a:p>
            <a:pPr fontAlgn="auto">
              <a:lnSpc>
                <a:spcPct val="120000"/>
              </a:lnSpc>
            </a:pPr>
            <a:r>
              <a:rPr dirty="0"/>
              <a:t>使用反编译器尝试从程序的机器码或字节码中重现高级语言形式的源代码。</a:t>
            </a:r>
          </a:p>
        </p:txBody>
      </p:sp>
      <p:sp>
        <p:nvSpPr>
          <p:cNvPr id="18" name="MH_Other_3"/>
          <p:cNvSpPr txBox="1">
            <a:spLocks noChangeArrowheads="1"/>
          </p:cNvSpPr>
          <p:nvPr/>
        </p:nvSpPr>
        <p:spPr bwMode="auto">
          <a:xfrm>
            <a:off x="859024" y="5083951"/>
            <a:ext cx="758825" cy="738505"/>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dirty="0">
                <a:solidFill>
                  <a:srgbClr val="00A8E7"/>
                </a:solidFill>
                <a:latin typeface="Times New Roman" panose="02020603050405020304" pitchFamily="18" charset="0"/>
                <a:ea typeface="微软雅黑" panose="020B0503020204020204" charset="-122"/>
              </a:rPr>
              <a:t>03</a:t>
            </a:r>
          </a:p>
        </p:txBody>
      </p:sp>
      <p:sp>
        <p:nvSpPr>
          <p:cNvPr id="22" name="矩形 7"/>
          <p:cNvSpPr>
            <a:spLocks noChangeArrowheads="1"/>
          </p:cNvSpPr>
          <p:nvPr/>
        </p:nvSpPr>
        <p:spPr bwMode="auto">
          <a:xfrm>
            <a:off x="838978" y="2090768"/>
            <a:ext cx="71858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latin typeface="微软雅黑" panose="020B0503020204020204" charset="-122"/>
                <a:ea typeface="微软雅黑" panose="020B0503020204020204" charset="-122"/>
              </a:rPr>
              <a:t>软件逆向工程的实现方法很多，主要有以下</a:t>
            </a:r>
            <a:r>
              <a:rPr lang="en-US" altLang="en-US" b="1" dirty="0">
                <a:latin typeface="微软雅黑" panose="020B0503020204020204" charset="-122"/>
                <a:ea typeface="微软雅黑" panose="020B0503020204020204" charset="-122"/>
              </a:rPr>
              <a:t>3</a:t>
            </a:r>
            <a:r>
              <a:rPr lang="zh-CN" altLang="en-US" b="1" dirty="0">
                <a:latin typeface="微软雅黑" panose="020B0503020204020204" charset="-122"/>
                <a:ea typeface="微软雅黑" panose="020B0503020204020204" charset="-122"/>
              </a:rPr>
              <a:t>种。</a:t>
            </a:r>
          </a:p>
        </p:txBody>
      </p:sp>
    </p:spTree>
    <p:custDataLst>
      <p:tags r:id="rId1"/>
    </p:custDataLst>
  </p:cSld>
  <p:clrMapOvr>
    <a:masterClrMapping/>
  </p:clrMapOvr>
  <p:transition>
    <p:wheel spokes="3"/>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a:sym typeface="+mn-ea"/>
              </a:rPr>
              <a:t>5.2 软件重用和再工程</a:t>
            </a:r>
            <a:endParaRPr lang="en-US" dirty="0">
              <a:sym typeface="+mn-ea"/>
            </a:endParaRPr>
          </a:p>
        </p:txBody>
      </p:sp>
      <p:sp>
        <p:nvSpPr>
          <p:cNvPr id="5" name="文本占位符 4">
            <a:extLst>
              <a:ext uri="{FF2B5EF4-FFF2-40B4-BE49-F238E27FC236}">
                <a16:creationId xmlns:a16="http://schemas.microsoft.com/office/drawing/2014/main" id="{13A04080-353C-3AA0-1D38-C29FBF7BD4C3}"/>
              </a:ext>
            </a:extLst>
          </p:cNvPr>
          <p:cNvSpPr>
            <a:spLocks noGrp="1"/>
          </p:cNvSpPr>
          <p:nvPr>
            <p:ph type="body" sz="quarter" idx="10"/>
          </p:nvPr>
        </p:nvSpPr>
        <p:spPr>
          <a:xfrm>
            <a:off x="504000" y="2664000"/>
            <a:ext cx="8125424" cy="3312000"/>
          </a:xfrm>
        </p:spPr>
        <p:txBody>
          <a:bodyPr/>
          <a:lstStyle/>
          <a:p>
            <a:r>
              <a:rPr lang="zh-CN" altLang="en-US" dirty="0"/>
              <a:t>软件再工程（</a:t>
            </a:r>
            <a:r>
              <a:rPr lang="en-US" altLang="zh-CN" dirty="0"/>
              <a:t>Reengineering</a:t>
            </a:r>
            <a:r>
              <a:rPr lang="zh-CN" altLang="en-US" dirty="0"/>
              <a:t>）是软件逆向工程的扩充。</a:t>
            </a:r>
            <a:endParaRPr lang="en-US" altLang="zh-CN" dirty="0"/>
          </a:p>
          <a:p>
            <a:endParaRPr lang="en-US" altLang="zh-CN" dirty="0"/>
          </a:p>
          <a:p>
            <a:r>
              <a:rPr lang="zh-CN" altLang="en-US" dirty="0"/>
              <a:t>软件逆向工程提取需要的信息后，软件再工程基于对原系统的理解和转换，在不变更整个系统功能的前提下，生产新的软件源代码。</a:t>
            </a:r>
            <a:endParaRPr lang="en-US" altLang="zh-CN" dirty="0"/>
          </a:p>
          <a:p>
            <a:endParaRPr lang="en-US" altLang="zh-CN" dirty="0"/>
          </a:p>
          <a:p>
            <a:r>
              <a:rPr lang="zh-CN" altLang="en-US" dirty="0"/>
              <a:t>软件工程的再工程是以软件工程方法学为指导，对既有对象系统进行调查，并将其重构为新形式代码的开发过程。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3" name="椭圆 12">
            <a:extLst>
              <a:ext uri="{FF2B5EF4-FFF2-40B4-BE49-F238E27FC236}">
                <a16:creationId xmlns:a16="http://schemas.microsoft.com/office/drawing/2014/main" id="{B151CE98-CF4C-A41E-40E6-B95C895BD3E3}"/>
              </a:ext>
            </a:extLst>
          </p:cNvPr>
          <p:cNvSpPr/>
          <p:nvPr/>
        </p:nvSpPr>
        <p:spPr>
          <a:xfrm>
            <a:off x="9234810" y="895350"/>
            <a:ext cx="2677886" cy="2677886"/>
          </a:xfrm>
          <a:prstGeom prst="ellipse">
            <a:avLst/>
          </a:prstGeom>
          <a:blipFill>
            <a:blip r:embed="rId4"/>
            <a:stretch>
              <a:fillRect/>
            </a:stretch>
          </a:blip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H_Other_2">
            <a:extLst>
              <a:ext uri="{FF2B5EF4-FFF2-40B4-BE49-F238E27FC236}">
                <a16:creationId xmlns:a16="http://schemas.microsoft.com/office/drawing/2014/main" id="{25154215-C3ED-C2CE-01C6-3F422203C1AD}"/>
              </a:ext>
            </a:extLst>
          </p:cNvPr>
          <p:cNvSpPr/>
          <p:nvPr/>
        </p:nvSpPr>
        <p:spPr>
          <a:xfrm>
            <a:off x="10241594" y="4352244"/>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5" name="MH_Other_4">
            <a:extLst>
              <a:ext uri="{FF2B5EF4-FFF2-40B4-BE49-F238E27FC236}">
                <a16:creationId xmlns:a16="http://schemas.microsoft.com/office/drawing/2014/main" id="{219FE0FA-A077-59B5-1277-5C59657CECE8}"/>
              </a:ext>
            </a:extLst>
          </p:cNvPr>
          <p:cNvSpPr/>
          <p:nvPr/>
        </p:nvSpPr>
        <p:spPr>
          <a:xfrm>
            <a:off x="9436272" y="3383161"/>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软件重用和再工程</a:t>
            </a:r>
          </a:p>
        </p:txBody>
      </p:sp>
      <p:sp>
        <p:nvSpPr>
          <p:cNvPr id="7" name="文本占位符 6">
            <a:extLst>
              <a:ext uri="{FF2B5EF4-FFF2-40B4-BE49-F238E27FC236}">
                <a16:creationId xmlns:a16="http://schemas.microsoft.com/office/drawing/2014/main" id="{CCE6E4A4-A93D-B675-94D2-C77AD256B927}"/>
              </a:ext>
            </a:extLst>
          </p:cNvPr>
          <p:cNvSpPr>
            <a:spLocks noGrp="1"/>
          </p:cNvSpPr>
          <p:nvPr>
            <p:ph type="body" sz="quarter" idx="10"/>
          </p:nvPr>
        </p:nvSpPr>
        <p:spPr>
          <a:xfrm>
            <a:off x="504000" y="2664000"/>
            <a:ext cx="8125424" cy="3312000"/>
          </a:xfrm>
        </p:spPr>
        <p:txBody>
          <a:bodyPr/>
          <a:lstStyle/>
          <a:p>
            <a:r>
              <a:rPr lang="zh-CN" altLang="en-US" dirty="0"/>
              <a:t>软件再工程的成本取决于重做工程的难度。</a:t>
            </a:r>
            <a:endParaRPr lang="en-US" altLang="zh-CN" dirty="0"/>
          </a:p>
          <a:p>
            <a:r>
              <a:rPr lang="zh-CN" altLang="en-US" dirty="0"/>
              <a:t>源代码转换最便宜，程序结构重构次之，接下来是程序和数据重构，而体系结构迁移成本最高。</a:t>
            </a:r>
            <a:endParaRPr lang="en-US" altLang="zh-CN" dirty="0"/>
          </a:p>
          <a:p>
            <a:r>
              <a:rPr lang="zh-CN" altLang="en-US" dirty="0"/>
              <a:t>尽管如此，软件再工程与重新开发软件相比，成本和风险还是更小一些。原因是开发软件的起点不同。</a:t>
            </a:r>
            <a:endParaRPr lang="en-US" altLang="zh-CN" dirty="0"/>
          </a:p>
          <a:p>
            <a:r>
              <a:rPr lang="zh-CN" altLang="en-US" dirty="0"/>
              <a:t>在软件再工程的各个阶段，软件的可重用程度都将决定着软件再工程的工作量。</a:t>
            </a:r>
            <a:endParaRPr lang="en-US" altLang="zh-CN" dirty="0"/>
          </a:p>
          <a:p>
            <a:endParaRPr lang="zh-CN" altLang="en-US" dirty="0"/>
          </a:p>
          <a:p>
            <a:r>
              <a:rPr lang="zh-CN" altLang="en-US" dirty="0"/>
              <a:t>由于软件规模庞大，种类很多，因此不是每个软件都需要进行再工程。</a:t>
            </a:r>
            <a:endParaRPr lang="en-US" altLang="zh-CN" dirty="0"/>
          </a:p>
          <a:p>
            <a:r>
              <a:rPr lang="zh-CN" altLang="en-US" dirty="0"/>
              <a:t>大多数情况下，那些决定要移植、或要重新设计、或为复用而需验证其正确性的程序才被选择实施再工程。</a:t>
            </a:r>
            <a:endParaRPr lang="en-US" altLang="zh-CN" dirty="0"/>
          </a:p>
          <a:p>
            <a:r>
              <a:rPr lang="zh-CN" altLang="en-US" dirty="0"/>
              <a:t>目前再工程最成功的例子是人们理解深刻、相对稳定的一些领域，如信息系统等。</a:t>
            </a:r>
          </a:p>
          <a:p>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1" name="椭圆 10">
            <a:extLst>
              <a:ext uri="{FF2B5EF4-FFF2-40B4-BE49-F238E27FC236}">
                <a16:creationId xmlns:a16="http://schemas.microsoft.com/office/drawing/2014/main" id="{49863028-1483-9502-47F5-827F3C1F8B5A}"/>
              </a:ext>
            </a:extLst>
          </p:cNvPr>
          <p:cNvSpPr/>
          <p:nvPr/>
        </p:nvSpPr>
        <p:spPr>
          <a:xfrm>
            <a:off x="9234810" y="895350"/>
            <a:ext cx="2677886" cy="2677886"/>
          </a:xfrm>
          <a:prstGeom prst="ellipse">
            <a:avLst/>
          </a:prstGeom>
          <a:blipFill>
            <a:blip r:embed="rId4"/>
            <a:stretch>
              <a:fillRect/>
            </a:stretch>
          </a:blip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H_Other_2">
            <a:extLst>
              <a:ext uri="{FF2B5EF4-FFF2-40B4-BE49-F238E27FC236}">
                <a16:creationId xmlns:a16="http://schemas.microsoft.com/office/drawing/2014/main" id="{C1E30019-F4BB-2DA8-A284-58D6F6AE4BD6}"/>
              </a:ext>
            </a:extLst>
          </p:cNvPr>
          <p:cNvSpPr/>
          <p:nvPr/>
        </p:nvSpPr>
        <p:spPr>
          <a:xfrm>
            <a:off x="10241594" y="4352244"/>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6" name="MH_Other_4">
            <a:extLst>
              <a:ext uri="{FF2B5EF4-FFF2-40B4-BE49-F238E27FC236}">
                <a16:creationId xmlns:a16="http://schemas.microsoft.com/office/drawing/2014/main" id="{BF6B51AA-CED6-8938-CE27-E2B59CDE3C36}"/>
              </a:ext>
            </a:extLst>
          </p:cNvPr>
          <p:cNvSpPr/>
          <p:nvPr/>
        </p:nvSpPr>
        <p:spPr>
          <a:xfrm>
            <a:off x="9436272" y="3383161"/>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Tree>
    <p:custDataLst>
      <p:tags r:id="rId1"/>
    </p:custDataLst>
  </p:cSld>
  <p:clrMapOvr>
    <a:masterClrMapping/>
  </p:clrMapOvr>
  <p:transition>
    <p:wheel spokes="2"/>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再分析阶段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1/3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22" name="MH_Desc_1"/>
          <p:cNvSpPr/>
          <p:nvPr>
            <p:custDataLst>
              <p:tags r:id="rId5"/>
            </p:custDataLst>
          </p:nvPr>
        </p:nvSpPr>
        <p:spPr>
          <a:xfrm>
            <a:off x="809625" y="2598924"/>
            <a:ext cx="6219825" cy="366707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主要任务：对既存系统的规模、体系结构、外部功能、内部算法、复杂度等进行调查分析。</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最直接目的：调查和预测再工程涉及的范围。</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重用是软件工程经济学最重要的原则之一，重用得越多，再工程成本越低。所以，再分析阶段最重要的目的是寻找可重用的对象和重用策略，最终确定的再工程任务和工作量也将依存于可重用对象范围和重用策略。</a:t>
            </a:r>
            <a:endParaRPr lang="en-US" altLang="zh-CN" sz="1600" dirty="0">
              <a:solidFill>
                <a:schemeClr val="tx1"/>
              </a:solidFill>
            </a:endParaRPr>
          </a:p>
          <a:p>
            <a:pPr>
              <a:lnSpc>
                <a:spcPct val="120000"/>
              </a:lnSpc>
            </a:pPr>
            <a:endParaRPr lang="zh-CN" altLang="en-US" sz="1600" dirty="0">
              <a:solidFill>
                <a:schemeClr val="tx1"/>
              </a:solidFill>
            </a:endParaRPr>
          </a:p>
          <a:p>
            <a:pPr>
              <a:lnSpc>
                <a:spcPct val="120000"/>
              </a:lnSpc>
            </a:pPr>
            <a:r>
              <a:rPr lang="zh-CN" altLang="en-US" sz="1600" dirty="0">
                <a:solidFill>
                  <a:schemeClr val="tx1"/>
                </a:solidFill>
              </a:rPr>
              <a:t>再工程分析者最终提出的重用范围和重用策略将成为决定再工程成败以及再工程产品系统可维护性高低的关键因素。</a:t>
            </a:r>
          </a:p>
        </p:txBody>
      </p:sp>
      <p:pic>
        <p:nvPicPr>
          <p:cNvPr id="24" name="图片 23" descr="474ffc7bc8a9e8770776b7c07f58d0fdad576b94.png"/>
          <p:cNvPicPr>
            <a:picLocks noChangeAspect="1"/>
          </p:cNvPicPr>
          <p:nvPr/>
        </p:nvPicPr>
        <p:blipFill>
          <a:blip r:embed="rId8" cstate="print"/>
          <a:stretch>
            <a:fillRect/>
          </a:stretch>
        </p:blipFill>
        <p:spPr>
          <a:xfrm>
            <a:off x="8392160" y="2792095"/>
            <a:ext cx="2443480" cy="3056255"/>
          </a:xfrm>
          <a:prstGeom prst="rect">
            <a:avLst/>
          </a:prstGeom>
        </p:spPr>
      </p:pic>
    </p:spTree>
    <p:custDataLst>
      <p:tags r:id="rId1"/>
    </p:custDataLst>
  </p:cSld>
  <p:clrMapOvr>
    <a:masterClrMapping/>
  </p:clrMapOvr>
  <p:transition>
    <p:wheel spokes="1"/>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0" y="360000"/>
            <a:ext cx="8415337"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再编码阶段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2/3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pic>
        <p:nvPicPr>
          <p:cNvPr id="11" name="图片 10" descr="0_1326776093VBOq.gif"/>
          <p:cNvPicPr>
            <a:picLocks noChangeAspect="1"/>
          </p:cNvPicPr>
          <p:nvPr/>
        </p:nvPicPr>
        <p:blipFill>
          <a:blip r:embed="rId8" cstate="print">
            <a:clrChange>
              <a:clrFrom>
                <a:srgbClr val="FAFAFA"/>
              </a:clrFrom>
              <a:clrTo>
                <a:srgbClr val="FAFAFA">
                  <a:alpha val="0"/>
                </a:srgbClr>
              </a:clrTo>
            </a:clrChange>
          </a:blip>
          <a:srcRect l="2716"/>
          <a:stretch>
            <a:fillRect/>
          </a:stretch>
        </p:blipFill>
        <p:spPr>
          <a:xfrm>
            <a:off x="7705725" y="3048635"/>
            <a:ext cx="3983355" cy="2863215"/>
          </a:xfrm>
          <a:prstGeom prst="rect">
            <a:avLst/>
          </a:prstGeom>
        </p:spPr>
      </p:pic>
      <p:sp>
        <p:nvSpPr>
          <p:cNvPr id="3" name="MH_Desc_1">
            <a:extLst>
              <a:ext uri="{FF2B5EF4-FFF2-40B4-BE49-F238E27FC236}">
                <a16:creationId xmlns:a16="http://schemas.microsoft.com/office/drawing/2014/main" id="{B0490ABC-64DA-5950-A7F2-0D3622DE4052}"/>
              </a:ext>
            </a:extLst>
          </p:cNvPr>
          <p:cNvSpPr/>
          <p:nvPr>
            <p:custDataLst>
              <p:tags r:id="rId5"/>
            </p:custDataLst>
          </p:nvPr>
        </p:nvSpPr>
        <p:spPr>
          <a:xfrm>
            <a:off x="809625" y="2598924"/>
            <a:ext cx="6219825" cy="248521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根据再分析阶段做成的再工程设计书，再编码阶段将在系统整体再分析的基础上对代码做进一步分析。</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如果说再分析阶段的产品是再工程的</a:t>
            </a:r>
            <a:r>
              <a:rPr lang="zh-CN" altLang="en-US" sz="1600" dirty="0">
                <a:solidFill>
                  <a:srgbClr val="C00000"/>
                </a:solidFill>
              </a:rPr>
              <a:t>基本设计书</a:t>
            </a:r>
            <a:r>
              <a:rPr lang="zh-CN" altLang="en-US" sz="1600" dirty="0">
                <a:solidFill>
                  <a:schemeClr val="tx1"/>
                </a:solidFill>
              </a:rPr>
              <a:t>，那么再编码阶段就要产生类似详细设计书的</a:t>
            </a:r>
            <a:r>
              <a:rPr lang="zh-CN" altLang="en-US" sz="1600" dirty="0">
                <a:solidFill>
                  <a:srgbClr val="C00000"/>
                </a:solidFill>
              </a:rPr>
              <a:t>编码设计书</a:t>
            </a:r>
            <a:r>
              <a:rPr lang="zh-CN" altLang="en-US" sz="1600" dirty="0">
                <a:solidFill>
                  <a:schemeClr val="tx1"/>
                </a:solidFill>
              </a:rPr>
              <a:t>。</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注意到再工程是个整体，无法将再分析、再设计、再编码截然分开，因此瀑布模型更不适应再工程。</a:t>
            </a:r>
          </a:p>
        </p:txBody>
      </p:sp>
    </p:spTree>
    <p:custDataLst>
      <p:tags r:id="rId1"/>
    </p:custDataLst>
  </p:cSld>
  <p:clrMapOvr>
    <a:masterClrMapping/>
  </p:clrMapOvr>
  <p:transition>
    <p:wheel spokes="1"/>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8801" y="360000"/>
            <a:ext cx="5257200" cy="535531"/>
          </a:xfrm>
        </p:spPr>
        <p:txBody>
          <a:bodyPr>
            <a:normAutofit/>
          </a:bodyPr>
          <a:lstStyle/>
          <a:p>
            <a:r>
              <a:rPr lang="en-US" dirty="0">
                <a:sym typeface="+mn-ea"/>
              </a:rPr>
              <a:t>5.2 </a:t>
            </a:r>
            <a:r>
              <a:rPr lang="zh-CN" altLang="en-US" dirty="0">
                <a:sym typeface="+mn-ea"/>
              </a:rPr>
              <a:t>软件重用和再工程</a:t>
            </a:r>
            <a:endParaRPr lang="en-US" dirty="0">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a:solidFill>
                  <a:schemeClr val="tx1"/>
                </a:solidFill>
              </a:rPr>
              <a:t>5.2.5 </a:t>
            </a:r>
            <a:r>
              <a:rPr lang="zh-CN" altLang="en-US" sz="2400" dirty="0">
                <a:solidFill>
                  <a:schemeClr val="tx1"/>
                </a:solidFill>
              </a:rPr>
              <a:t>软件再工程 </a:t>
            </a:r>
            <a:r>
              <a:rPr lang="en-US" altLang="zh-CN" sz="2400" dirty="0">
                <a:solidFill>
                  <a:schemeClr val="tx1"/>
                </a:solidFill>
              </a:rPr>
              <a:t>Reengineering</a:t>
            </a:r>
          </a:p>
        </p:txBody>
      </p:sp>
      <p:sp>
        <p:nvSpPr>
          <p:cNvPr id="19" name="MH_SubTitle_2"/>
          <p:cNvSpPr/>
          <p:nvPr>
            <p:custDataLst>
              <p:tags r:id="rId2"/>
            </p:custDataLst>
          </p:nvPr>
        </p:nvSpPr>
        <p:spPr>
          <a:xfrm flipH="1">
            <a:off x="7178675" y="1864431"/>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再测试阶段</a:t>
            </a:r>
          </a:p>
        </p:txBody>
      </p:sp>
      <p:sp>
        <p:nvSpPr>
          <p:cNvPr id="20" name="MH_Other_5"/>
          <p:cNvSpPr/>
          <p:nvPr>
            <p:custDataLst>
              <p:tags r:id="rId3"/>
            </p:custDataLst>
          </p:nvPr>
        </p:nvSpPr>
        <p:spPr>
          <a:xfrm flipH="1">
            <a:off x="11185429" y="1742750"/>
            <a:ext cx="1006571" cy="971875"/>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b="1" dirty="0">
                <a:solidFill>
                  <a:srgbClr val="FFFFFF"/>
                </a:solidFill>
                <a:latin typeface="Times New Roman" panose="02020603050405020304" pitchFamily="18" charset="0"/>
                <a:ea typeface="微软雅黑" panose="020B0503020204020204" charset="-122"/>
              </a:rPr>
              <a:t>3/3</a:t>
            </a:r>
            <a:endParaRPr lang="zh-CN" altLang="en-US" sz="3200" b="1"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flipH="1">
            <a:off x="10688356" y="1741170"/>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pic>
        <p:nvPicPr>
          <p:cNvPr id="7" name="图片 6" descr="20150912095423385.jpg"/>
          <p:cNvPicPr>
            <a:picLocks noChangeAspect="1"/>
          </p:cNvPicPr>
          <p:nvPr/>
        </p:nvPicPr>
        <p:blipFill>
          <a:blip r:embed="rId8" cstate="print"/>
          <a:stretch>
            <a:fillRect/>
          </a:stretch>
        </p:blipFill>
        <p:spPr>
          <a:xfrm>
            <a:off x="7610475" y="2908300"/>
            <a:ext cx="4147820" cy="2544445"/>
          </a:xfrm>
          <a:prstGeom prst="rect">
            <a:avLst/>
          </a:prstGeom>
        </p:spPr>
      </p:pic>
      <p:sp>
        <p:nvSpPr>
          <p:cNvPr id="3" name="MH_Desc_1">
            <a:extLst>
              <a:ext uri="{FF2B5EF4-FFF2-40B4-BE49-F238E27FC236}">
                <a16:creationId xmlns:a16="http://schemas.microsoft.com/office/drawing/2014/main" id="{8105BA4A-0A2C-DE84-50A6-C1F0544BC35A}"/>
              </a:ext>
            </a:extLst>
          </p:cNvPr>
          <p:cNvSpPr/>
          <p:nvPr>
            <p:custDataLst>
              <p:tags r:id="rId5"/>
            </p:custDataLst>
          </p:nvPr>
        </p:nvSpPr>
        <p:spPr>
          <a:xfrm>
            <a:off x="809625" y="2598924"/>
            <a:ext cx="6219825" cy="248521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anchor="t" anchorCtr="0">
            <a:spAutoFit/>
          </a:bodyPr>
          <a:lstStyle/>
          <a:p>
            <a:pPr>
              <a:lnSpc>
                <a:spcPct val="120000"/>
              </a:lnSpc>
            </a:pPr>
            <a:r>
              <a:rPr lang="zh-CN" altLang="en-US" sz="1600" dirty="0">
                <a:solidFill>
                  <a:schemeClr val="tx1"/>
                </a:solidFill>
              </a:rPr>
              <a:t>一般来说，再测试是再工程过程中工作量最大的一项工作。</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如果能够重用原有的测试用例及运行结果，将能大大降低再工程成本。对于可重用的部分，特别是可重用的局部系统，还可以免除测试，这也正是重用技术被再工程高度评价的关键原因之一。</a:t>
            </a:r>
            <a:endParaRPr lang="en-US" altLang="zh-CN" sz="1600" dirty="0">
              <a:solidFill>
                <a:schemeClr val="tx1"/>
              </a:solidFill>
            </a:endParaRPr>
          </a:p>
          <a:p>
            <a:pPr>
              <a:lnSpc>
                <a:spcPct val="120000"/>
              </a:lnSpc>
            </a:pPr>
            <a:endParaRPr lang="en-US" altLang="zh-CN" sz="1600" dirty="0">
              <a:solidFill>
                <a:schemeClr val="tx1"/>
              </a:solidFill>
            </a:endParaRPr>
          </a:p>
          <a:p>
            <a:pPr>
              <a:lnSpc>
                <a:spcPct val="120000"/>
              </a:lnSpc>
            </a:pPr>
            <a:r>
              <a:rPr lang="zh-CN" altLang="en-US" sz="1600" dirty="0">
                <a:solidFill>
                  <a:schemeClr val="tx1"/>
                </a:solidFill>
              </a:rPr>
              <a:t>再工程后的系统总有变动和增加的部分，对受其影响的整个范围都要毫无遗漏地进行测试。</a:t>
            </a:r>
          </a:p>
        </p:txBody>
      </p:sp>
    </p:spTree>
    <p:custDataLst>
      <p:tags r:id="rId1"/>
    </p:custDataLst>
  </p:cSld>
  <p:clrMapOvr>
    <a:masterClrMapping/>
  </p:clrMapOvr>
  <p:transition>
    <p:wheel spokes="1"/>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38200" y="360000"/>
            <a:ext cx="5257800" cy="535531"/>
          </a:xfrm>
        </p:spPr>
        <p:txBody>
          <a:bodyPr/>
          <a:lstStyle/>
          <a:p>
            <a:r>
              <a:rPr lang="zh-CN" altLang="en-US" dirty="0"/>
              <a:t>本章小结</a:t>
            </a: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
        <p:nvSpPr>
          <p:cNvPr id="5" name="文本框 4">
            <a:extLst>
              <a:ext uri="{FF2B5EF4-FFF2-40B4-BE49-F238E27FC236}">
                <a16:creationId xmlns:a16="http://schemas.microsoft.com/office/drawing/2014/main" id="{E4C1C188-8940-0256-9166-1EB2CCA4BDB1}"/>
              </a:ext>
            </a:extLst>
          </p:cNvPr>
          <p:cNvSpPr txBox="1"/>
          <p:nvPr/>
        </p:nvSpPr>
        <p:spPr>
          <a:xfrm>
            <a:off x="1791478" y="2071394"/>
            <a:ext cx="8424000" cy="3721853"/>
          </a:xfrm>
          <a:prstGeom prst="rect">
            <a:avLst/>
          </a:prstGeom>
          <a:noFill/>
        </p:spPr>
        <p:txBody>
          <a:bodyPr wrap="square" rtlCol="0">
            <a:spAutoFit/>
          </a:bodyPr>
          <a:lstStyle/>
          <a:p>
            <a:pPr algn="l">
              <a:lnSpc>
                <a:spcPct val="120000"/>
              </a:lnSpc>
            </a:pPr>
            <a:r>
              <a:rPr lang="zh-CN" altLang="en-US" dirty="0"/>
              <a:t>软件维护就是在软件产品交付之后对其进行修改，以排除故障，或改进性能和其他属性，或使产品适应改变了的环境。</a:t>
            </a:r>
          </a:p>
          <a:p>
            <a:pPr algn="l">
              <a:lnSpc>
                <a:spcPct val="120000"/>
              </a:lnSpc>
            </a:pPr>
            <a:r>
              <a:rPr lang="zh-CN" altLang="en-US" dirty="0"/>
              <a:t>软件维护种类：改正性维护、适应性维护、完善性维护、预防性维护。</a:t>
            </a:r>
          </a:p>
          <a:p>
            <a:pPr algn="l">
              <a:lnSpc>
                <a:spcPct val="120000"/>
              </a:lnSpc>
            </a:pPr>
            <a:r>
              <a:rPr lang="zh-CN" altLang="en-US" dirty="0"/>
              <a:t>软件可维护性是指软件功能被理解、改正、适应和增强的难易程度，是维护人员对软件进行维护的难易程度。</a:t>
            </a:r>
          </a:p>
          <a:p>
            <a:pPr algn="l">
              <a:lnSpc>
                <a:spcPct val="120000"/>
              </a:lnSpc>
            </a:pPr>
            <a:r>
              <a:rPr lang="zh-CN" altLang="en-US" dirty="0"/>
              <a:t>可维护性是指导软件工程各阶段的一条基本原则，提高可维护性是软件工程追求的目标之一。</a:t>
            </a:r>
          </a:p>
          <a:p>
            <a:pPr algn="l">
              <a:lnSpc>
                <a:spcPct val="120000"/>
              </a:lnSpc>
            </a:pPr>
            <a:r>
              <a:rPr lang="zh-CN" altLang="en-US" dirty="0"/>
              <a:t>在软件开发时明确质量目标、考虑软件的维护问题是必需的、重要的。在软件开发阶段提供完整的、一致的文档，采用先进的软件开发方法和软件开发工具是提高软件可维护性的关键。</a:t>
            </a:r>
          </a:p>
          <a:p>
            <a:pPr algn="l">
              <a:lnSpc>
                <a:spcPct val="120000"/>
              </a:lnSpc>
            </a:pPr>
            <a:r>
              <a:rPr lang="zh-CN" altLang="en-US" dirty="0"/>
              <a:t>软件维护常采用：软件重用技术、逆向工程和再工程。</a:t>
            </a:r>
          </a:p>
        </p:txBody>
      </p:sp>
    </p:spTree>
  </p:cSld>
  <p:clrMapOvr>
    <a:masterClrMapping/>
  </p:clrMapOvr>
  <p:transition>
    <p:newsflash/>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67*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10"/>
  <p:tag name="KSO_WM_TEMPLATE_CATEGORY" val="custom"/>
  <p:tag name="KSO_WM_TEMPLATE_INDEX" val="160596"/>
  <p:tag name="KSO_WM_UNIT_INDEX" val="10"/>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67*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67*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67*q_i*1_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67*q_i*1_8"/>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67*q_i*1_9"/>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67*q_i*1_10"/>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67*q_i*1_11"/>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67*q_i*1_1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83.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8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8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8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8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9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9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3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3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3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3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3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4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4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4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45.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4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4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4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4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5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5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52.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53.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5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5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5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5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6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6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6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63.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64.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6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6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6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7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7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7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7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74.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75.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7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7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8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8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8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8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8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8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8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8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8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9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9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9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9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9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0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0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0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0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0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1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2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6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6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7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7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7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7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7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7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7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7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2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8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9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9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2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9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0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0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4.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3"/>
</p:tagLst>
</file>

<file path=ppt/tags/tag307.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308.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0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1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1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1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1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heme/theme1.xml><?xml version="1.0" encoding="utf-8"?>
<a:theme xmlns:a="http://schemas.openxmlformats.org/drawingml/2006/main" name="1_A000120141119A01PPB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lnSpc>
            <a:spcPct val="120000"/>
          </a:lnSpc>
          <a:defRPr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1760</TotalTime>
  <Words>5413</Words>
  <Application>Microsoft Office PowerPoint</Application>
  <PresentationFormat>宽屏</PresentationFormat>
  <Paragraphs>665</Paragraphs>
  <Slides>67</Slides>
  <Notes>44</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67</vt:i4>
      </vt:variant>
    </vt:vector>
  </HeadingPairs>
  <TitlesOfParts>
    <vt:vector size="76" baseType="lpstr">
      <vt:lpstr>微软雅黑</vt:lpstr>
      <vt:lpstr>微软雅黑 Light</vt:lpstr>
      <vt:lpstr>Arial</vt:lpstr>
      <vt:lpstr>Calibri</vt:lpstr>
      <vt:lpstr>Tempus Sans ITC</vt:lpstr>
      <vt:lpstr>Times New Roman</vt:lpstr>
      <vt:lpstr>Wingdings</vt:lpstr>
      <vt:lpstr>1_A000120141119A01PPBG</vt:lpstr>
      <vt:lpstr>Microsoft Word Document</vt:lpstr>
      <vt:lpstr>PowerPoint 演示文稿</vt:lpstr>
      <vt:lpstr>5 软件维护和软件重用</vt:lpstr>
      <vt:lpstr>PowerPoint 演示文稿</vt:lpstr>
      <vt:lpstr>PowerPoint 演示文稿</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PowerPoint 演示文稿</vt:lpstr>
      <vt:lpstr>PowerPoint 演示文稿</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191</cp:revision>
  <dcterms:created xsi:type="dcterms:W3CDTF">2017-01-18T10:59:00Z</dcterms:created>
  <dcterms:modified xsi:type="dcterms:W3CDTF">2026-05-06T01:58:06Z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