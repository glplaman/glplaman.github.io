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notesSlides/notesSlide5.xml" ContentType="application/vnd.openxmlformats-officedocument.presentationml.notesSlide+xml"/>
  <Override PartName="/ppt/tags/tag42.xml" ContentType="application/vnd.openxmlformats-officedocument.presentationml.tags+xml"/>
  <Override PartName="/ppt/notesSlides/notesSlide6.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8.xml" ContentType="application/vnd.openxmlformats-officedocument.presentationml.tags+xml"/>
  <Override PartName="/ppt/notesSlides/notesSlide9.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0.xml" ContentType="application/vnd.openxmlformats-officedocument.presentationml.notesSlide+xml"/>
  <Override PartName="/ppt/tags/tag80.xml" ContentType="application/vnd.openxmlformats-officedocument.presentationml.tags+xml"/>
  <Override PartName="/ppt/notesSlides/notesSlide11.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2.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13.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14.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15.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16.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notesSlides/notesSlide17.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18.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19.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20.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notesSlides/notesSlide21.xml" ContentType="application/vnd.openxmlformats-officedocument.presentationml.notesSlide+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notesSlides/notesSlide22.xml" ContentType="application/vnd.openxmlformats-officedocument.presentationml.notesSlid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notesSlides/notesSlide23.xml" ContentType="application/vnd.openxmlformats-officedocument.presentationml.notesSlide+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notesSlides/notesSlide24.xml" ContentType="application/vnd.openxmlformats-officedocument.presentationml.notesSlid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notesSlides/notesSlide25.xml" ContentType="application/vnd.openxmlformats-officedocument.presentationml.notesSlide+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notesSlides/notesSlide26.xml" ContentType="application/vnd.openxmlformats-officedocument.presentationml.notesSlide+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notesSlides/notesSlide27.xml" ContentType="application/vnd.openxmlformats-officedocument.presentationml.notesSlide+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notesSlides/notesSlide28.xml" ContentType="application/vnd.openxmlformats-officedocument.presentationml.notesSlide+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notesSlides/notesSlide29.xml" ContentType="application/vnd.openxmlformats-officedocument.presentationml.notesSlide+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notesSlides/notesSlide30.xml" ContentType="application/vnd.openxmlformats-officedocument.presentationml.notesSlide+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31.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notesSlides/notesSlide32.xml" ContentType="application/vnd.openxmlformats-officedocument.presentationml.notesSlide+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notesSlides/notesSlide33.xml" ContentType="application/vnd.openxmlformats-officedocument.presentationml.notesSlide+xml"/>
  <Override PartName="/ppt/tags/tag324.xml" ContentType="application/vnd.openxmlformats-officedocument.presentationml.tags+xml"/>
  <Override PartName="/ppt/notesSlides/notesSlide34.xml" ContentType="application/vnd.openxmlformats-officedocument.presentationml.notesSlide+xml"/>
  <Override PartName="/ppt/tags/tag325.xml" ContentType="application/vnd.openxmlformats-officedocument.presentationml.tags+xml"/>
  <Override PartName="/ppt/notesSlides/notesSlide35.xml" ContentType="application/vnd.openxmlformats-officedocument.presentationml.notesSlide+xml"/>
  <Override PartName="/ppt/tags/tag326.xml" ContentType="application/vnd.openxmlformats-officedocument.presentationml.tags+xml"/>
  <Override PartName="/ppt/notesSlides/notesSlide36.xml" ContentType="application/vnd.openxmlformats-officedocument.presentationml.notesSlide+xml"/>
  <Override PartName="/ppt/tags/tag327.xml" ContentType="application/vnd.openxmlformats-officedocument.presentationml.tags+xml"/>
  <Override PartName="/ppt/notesSlides/notesSlide37.xml" ContentType="application/vnd.openxmlformats-officedocument.presentationml.notesSlide+xml"/>
  <Override PartName="/ppt/tags/tag328.xml" ContentType="application/vnd.openxmlformats-officedocument.presentationml.tags+xml"/>
  <Override PartName="/ppt/notesSlides/notesSlide38.xml" ContentType="application/vnd.openxmlformats-officedocument.presentationml.notesSlide+xml"/>
  <Override PartName="/ppt/tags/tag329.xml" ContentType="application/vnd.openxmlformats-officedocument.presentationml.tags+xml"/>
  <Override PartName="/ppt/notesSlides/notesSlide39.xml" ContentType="application/vnd.openxmlformats-officedocument.presentationml.notesSlide+xml"/>
  <Override PartName="/ppt/tags/tag330.xml" ContentType="application/vnd.openxmlformats-officedocument.presentationml.tags+xml"/>
  <Override PartName="/ppt/notesSlides/notesSlide40.xml" ContentType="application/vnd.openxmlformats-officedocument.presentationml.notesSlide+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notesSlides/notesSlide41.xml" ContentType="application/vnd.openxmlformats-officedocument.presentationml.notesSlide+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notesSlides/notesSlide42.xml" ContentType="application/vnd.openxmlformats-officedocument.presentationml.notesSlide+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69"/>
  </p:notesMasterIdLst>
  <p:sldIdLst>
    <p:sldId id="257" r:id="rId2"/>
    <p:sldId id="262" r:id="rId3"/>
    <p:sldId id="258" r:id="rId4"/>
    <p:sldId id="260" r:id="rId5"/>
    <p:sldId id="265" r:id="rId6"/>
    <p:sldId id="266" r:id="rId7"/>
    <p:sldId id="343" r:id="rId8"/>
    <p:sldId id="342" r:id="rId9"/>
    <p:sldId id="346" r:id="rId10"/>
    <p:sldId id="267" r:id="rId11"/>
    <p:sldId id="344" r:id="rId12"/>
    <p:sldId id="269" r:id="rId13"/>
    <p:sldId id="272" r:id="rId14"/>
    <p:sldId id="280" r:id="rId15"/>
    <p:sldId id="345" r:id="rId16"/>
    <p:sldId id="275" r:id="rId17"/>
    <p:sldId id="283" r:id="rId18"/>
    <p:sldId id="286" r:id="rId19"/>
    <p:sldId id="284" r:id="rId20"/>
    <p:sldId id="335" r:id="rId21"/>
    <p:sldId id="285" r:id="rId22"/>
    <p:sldId id="287" r:id="rId23"/>
    <p:sldId id="337" r:id="rId24"/>
    <p:sldId id="292" r:id="rId25"/>
    <p:sldId id="293" r:id="rId26"/>
    <p:sldId id="294" r:id="rId27"/>
    <p:sldId id="296" r:id="rId28"/>
    <p:sldId id="297" r:id="rId29"/>
    <p:sldId id="299" r:id="rId30"/>
    <p:sldId id="300" r:id="rId31"/>
    <p:sldId id="301" r:id="rId32"/>
    <p:sldId id="295" r:id="rId33"/>
    <p:sldId id="302" r:id="rId34"/>
    <p:sldId id="261" r:id="rId35"/>
    <p:sldId id="347" r:id="rId36"/>
    <p:sldId id="304" r:id="rId37"/>
    <p:sldId id="305" r:id="rId38"/>
    <p:sldId id="306" r:id="rId39"/>
    <p:sldId id="307" r:id="rId40"/>
    <p:sldId id="308" r:id="rId41"/>
    <p:sldId id="311" r:id="rId42"/>
    <p:sldId id="312" r:id="rId43"/>
    <p:sldId id="310" r:id="rId44"/>
    <p:sldId id="339" r:id="rId45"/>
    <p:sldId id="314" r:id="rId46"/>
    <p:sldId id="309" r:id="rId47"/>
    <p:sldId id="318" r:id="rId48"/>
    <p:sldId id="321" r:id="rId49"/>
    <p:sldId id="319" r:id="rId50"/>
    <p:sldId id="320" r:id="rId51"/>
    <p:sldId id="315" r:id="rId52"/>
    <p:sldId id="322" r:id="rId53"/>
    <p:sldId id="324" r:id="rId54"/>
    <p:sldId id="323" r:id="rId55"/>
    <p:sldId id="325" r:id="rId56"/>
    <p:sldId id="316" r:id="rId57"/>
    <p:sldId id="327" r:id="rId58"/>
    <p:sldId id="330" r:id="rId59"/>
    <p:sldId id="328" r:id="rId60"/>
    <p:sldId id="329" r:id="rId61"/>
    <p:sldId id="317" r:id="rId62"/>
    <p:sldId id="334" r:id="rId63"/>
    <p:sldId id="331" r:id="rId64"/>
    <p:sldId id="332" r:id="rId65"/>
    <p:sldId id="333" r:id="rId66"/>
    <p:sldId id="288" r:id="rId67"/>
    <p:sldId id="338" r:id="rId68"/>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BDA8"/>
    <a:srgbClr val="00B050"/>
    <a:srgbClr val="008080"/>
    <a:srgbClr val="E67819"/>
    <a:srgbClr val="00B0F0"/>
    <a:srgbClr val="67B649"/>
    <a:srgbClr val="B71F1E"/>
    <a:srgbClr val="003366"/>
    <a:srgbClr val="006666"/>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1" autoAdjust="0"/>
    <p:restoredTop sz="94675" autoAdjust="0"/>
  </p:normalViewPr>
  <p:slideViewPr>
    <p:cSldViewPr snapToGrid="0">
      <p:cViewPr varScale="1">
        <p:scale>
          <a:sx n="107" d="100"/>
          <a:sy n="107" d="100"/>
        </p:scale>
        <p:origin x="696" y="108"/>
      </p:cViewPr>
      <p:guideLst>
        <p:guide orient="horz" pos="2160"/>
        <p:guide pos="3840"/>
      </p:guideLst>
    </p:cSldViewPr>
  </p:slideViewPr>
  <p:outlineViewPr>
    <p:cViewPr>
      <p:scale>
        <a:sx n="33" d="100"/>
        <a:sy n="33" d="100"/>
      </p:scale>
      <p:origin x="0" y="-52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百分比</c:v>
                </c:pt>
              </c:strCache>
            </c:strRef>
          </c:tx>
          <c:dPt>
            <c:idx val="0"/>
            <c:bubble3D val="0"/>
            <c:spPr>
              <a:solidFill>
                <a:srgbClr val="FFC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1-9AB8-45EB-9F3E-2ADD541D6E3E}"/>
              </c:ext>
            </c:extLst>
          </c:dPt>
          <c:dPt>
            <c:idx val="1"/>
            <c:bubble3D val="0"/>
            <c:spPr>
              <a:solidFill>
                <a:srgbClr val="C0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3-9AB8-45EB-9F3E-2ADD541D6E3E}"/>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9AB8-45EB-9F3E-2ADD541D6E3E}"/>
              </c:ext>
            </c:extLst>
          </c:dPt>
          <c:dPt>
            <c:idx val="3"/>
            <c:bubble3D val="0"/>
            <c:spPr>
              <a:solidFill>
                <a:srgbClr val="67B649"/>
              </a:solidFill>
              <a:ln w="25400">
                <a:solidFill>
                  <a:schemeClr val="lt1"/>
                </a:solidFill>
              </a:ln>
              <a:effectLst/>
              <a:sp3d contourW="25400">
                <a:contourClr>
                  <a:schemeClr val="lt1"/>
                </a:contourClr>
              </a:sp3d>
            </c:spPr>
            <c:extLst>
              <c:ext xmlns:c16="http://schemas.microsoft.com/office/drawing/2014/chart" uri="{C3380CC4-5D6E-409C-BE32-E72D297353CC}">
                <c16:uniqueId val="{00000007-9AB8-45EB-9F3E-2ADD541D6E3E}"/>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适应性</c:v>
                </c:pt>
                <c:pt idx="1">
                  <c:v>改正性</c:v>
                </c:pt>
                <c:pt idx="2">
                  <c:v>预防性</c:v>
                </c:pt>
                <c:pt idx="3">
                  <c:v>完善性</c:v>
                </c:pt>
              </c:strCache>
            </c:strRef>
          </c:cat>
          <c:val>
            <c:numRef>
              <c:f>Sheet1!$B$2:$B$5</c:f>
              <c:numCache>
                <c:formatCode>General</c:formatCode>
                <c:ptCount val="4"/>
                <c:pt idx="0">
                  <c:v>0.25</c:v>
                </c:pt>
                <c:pt idx="1">
                  <c:v>0.2</c:v>
                </c:pt>
                <c:pt idx="2">
                  <c:v>0.05</c:v>
                </c:pt>
                <c:pt idx="3">
                  <c:v>0.5</c:v>
                </c:pt>
              </c:numCache>
            </c:numRef>
          </c:val>
          <c:extLst>
            <c:ext xmlns:c16="http://schemas.microsoft.com/office/drawing/2014/chart" uri="{C3380CC4-5D6E-409C-BE32-E72D297353CC}">
              <c16:uniqueId val="{00000000-4C2A-4ADF-9673-5B5A75BE25A8}"/>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ea typeface="微软雅黑 Light" panose="020B0502040204020203" pitchFamily="34" charset="-122"/>
              </a:defRPr>
            </a:lvl1pPr>
          </a:lstStyle>
          <a:p>
            <a:endParaRPr lang="zh-CN" altLang="en-US" dirty="0"/>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ea typeface="微软雅黑 Light" panose="020B0502040204020203" pitchFamily="34" charset="-122"/>
              </a:defRPr>
            </a:lvl1pPr>
          </a:lstStyle>
          <a:p>
            <a:fld id="{D2A48B96-639E-45A3-A0BA-2464DFDB1FAA}" type="datetimeFigureOut">
              <a:rPr lang="zh-CN" altLang="en-US" smtClean="0"/>
              <a:pPr/>
              <a:t>2026/5/18</a:t>
            </a:fld>
            <a:endParaRPr lang="zh-CN" altLang="en-US" dirty="0"/>
          </a:p>
        </p:txBody>
      </p:sp>
      <p:sp>
        <p:nvSpPr>
          <p:cNvPr id="4" name="幻灯片图像占位符 3"/>
          <p:cNvSpPr>
            <a:spLocks noGrp="1" noRot="1" noChangeAspect="1"/>
          </p:cNvSpPr>
          <p:nvPr>
            <p:ph type="sldImg" idx="2"/>
          </p:nvPr>
        </p:nvSpPr>
        <p:spPr>
          <a:xfrm>
            <a:off x="481584" y="1279287"/>
            <a:ext cx="6140578" cy="3454075"/>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ea typeface="微软雅黑 Light" panose="020B0502040204020203" pitchFamily="34" charset="-122"/>
              </a:defRPr>
            </a:lvl1pPr>
          </a:lstStyle>
          <a:p>
            <a:endParaRPr lang="zh-CN" altLang="en-US" dirty="0"/>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ea typeface="微软雅黑 Light" panose="020B0502040204020203" pitchFamily="34" charset="-122"/>
              </a:defRPr>
            </a:lvl1pPr>
          </a:lstStyle>
          <a:p>
            <a:fld id="{A6837353-30EB-4A48-80EB-173D804AEFBD}"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Light" panose="020B0502040204020203"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txBody>
          <a:bodyPr/>
          <a:lstStyle/>
          <a:p>
            <a:endParaRPr lang="zh-CN" altLang="en-US"/>
          </a:p>
        </p:txBody>
      </p:sp>
      <p:sp>
        <p:nvSpPr>
          <p:cNvPr id="6147" name="备注占位符 2"/>
          <p:cNvSpPr>
            <a:spLocks noGrp="1"/>
          </p:cNvSpPr>
          <p:nvPr>
            <p:ph type="body" idx="1"/>
          </p:nvPr>
        </p:nvSpPr>
        <p:spPr>
          <a:noFill/>
        </p:spPr>
        <p:txBody>
          <a:bodyPr anchor="t"/>
          <a:lstStyle/>
          <a:p>
            <a:pPr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微软雅黑 Light" panose="020B0502040204020203" pitchFamily="34" charset="-122"/>
              </a:rPr>
              <a:pPr algn="r" eaLnBrk="1" hangingPunct="1">
                <a:buFont typeface="Arial" panose="020B0604020202020204" pitchFamily="34" charset="0"/>
                <a:buNone/>
              </a:pPr>
              <a:t>3</a:t>
            </a:fld>
            <a:endParaRPr lang="zh-CN" altLang="en-US" sz="1300" dirty="0">
              <a:latin typeface="Calibri" panose="020F0502020204030204" charset="0"/>
              <a:ea typeface="微软雅黑 Light" panose="020B0502040204020203" pitchFamily="34"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C4FFD-C179-3920-BB73-DC61CED6DD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6E94E6-7181-DC30-5C8E-BE4AA71709B7}"/>
              </a:ext>
            </a:extLst>
          </p:cNvPr>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a:extLst>
              <a:ext uri="{FF2B5EF4-FFF2-40B4-BE49-F238E27FC236}">
                <a16:creationId xmlns:a16="http://schemas.microsoft.com/office/drawing/2014/main" id="{AA58518F-D04B-C3B1-F435-23EABDF60BAF}"/>
              </a:ext>
            </a:extLst>
          </p:cNvPr>
          <p:cNvSpPr>
            <a:spLocks noGrp="1"/>
          </p:cNvSpPr>
          <p:nvPr>
            <p:ph type="body" idx="3"/>
          </p:nvPr>
        </p:nvSpPr>
        <p:spPr/>
        <p:txBody>
          <a:bodyPr/>
          <a:lstStyle/>
          <a:p>
            <a:r>
              <a:rPr lang="zh-CN" altLang="en-US" dirty="0"/>
              <a:t>完善性</a:t>
            </a:r>
          </a:p>
        </p:txBody>
      </p:sp>
    </p:spTree>
    <p:extLst>
      <p:ext uri="{BB962C8B-B14F-4D97-AF65-F5344CB8AC3E}">
        <p14:creationId xmlns:p14="http://schemas.microsoft.com/office/powerpoint/2010/main" val="3924113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B5B6-41D1-2D73-21E6-8D3DF6388C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D95EC4-9384-FA9D-288D-0412DA3FA58C}"/>
              </a:ext>
            </a:extLst>
          </p:cNvPr>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a:extLst>
              <a:ext uri="{FF2B5EF4-FFF2-40B4-BE49-F238E27FC236}">
                <a16:creationId xmlns:a16="http://schemas.microsoft.com/office/drawing/2014/main" id="{AC1ACE94-74E5-7A75-E93E-80F3E573E9B1}"/>
              </a:ext>
            </a:extLst>
          </p:cNvPr>
          <p:cNvSpPr>
            <a:spLocks noGrp="1"/>
          </p:cNvSpPr>
          <p:nvPr>
            <p:ph type="body" idx="3"/>
          </p:nvPr>
        </p:nvSpPr>
        <p:spPr/>
        <p:txBody>
          <a:bodyPr/>
          <a:lstStyle/>
          <a:p>
            <a:r>
              <a:rPr lang="zh-CN" altLang="en-US" dirty="0"/>
              <a:t>改正性维护</a:t>
            </a:r>
          </a:p>
        </p:txBody>
      </p:sp>
    </p:spTree>
    <p:extLst>
      <p:ext uri="{BB962C8B-B14F-4D97-AF65-F5344CB8AC3E}">
        <p14:creationId xmlns:p14="http://schemas.microsoft.com/office/powerpoint/2010/main" val="753326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622D-A82D-2AC1-FFD3-E7369B218C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60604B-8BF6-B466-C7C0-9F4CE0384484}"/>
              </a:ext>
            </a:extLst>
          </p:cNvPr>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a:extLst>
              <a:ext uri="{FF2B5EF4-FFF2-40B4-BE49-F238E27FC236}">
                <a16:creationId xmlns:a16="http://schemas.microsoft.com/office/drawing/2014/main" id="{C96D9A89-E6AA-97E1-CD6F-72EAE79CE3C3}"/>
              </a:ext>
            </a:extLst>
          </p:cNvPr>
          <p:cNvSpPr>
            <a:spLocks noGrp="1"/>
          </p:cNvSpPr>
          <p:nvPr>
            <p:ph type="body" idx="3"/>
          </p:nvPr>
        </p:nvSpPr>
        <p:spPr/>
        <p:txBody>
          <a:bodyPr/>
          <a:lstStyle/>
          <a:p>
            <a:r>
              <a:rPr lang="zh-CN" altLang="en-US" dirty="0"/>
              <a:t>√</a:t>
            </a:r>
          </a:p>
        </p:txBody>
      </p:sp>
    </p:spTree>
    <p:extLst>
      <p:ext uri="{BB962C8B-B14F-4D97-AF65-F5344CB8AC3E}">
        <p14:creationId xmlns:p14="http://schemas.microsoft.com/office/powerpoint/2010/main" val="374566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r>
              <a:rPr lang="zh-CN" altLang="en-US" dirty="0"/>
              <a:t>两者的核心区别在于软件开发过程是否规范。结构化维护是“有备而来”，而非结构化维护则是“亡羊补牢”。采用结构化维护能显著降低长期成本，提高软件的可靠性和可维护性，这也是现代软件工程追求的目标。</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11</a:t>
            </a:fld>
            <a:endParaRPr lang="zh-CN" altLang="en-US" dirty="0"/>
          </a:p>
        </p:txBody>
      </p:sp>
    </p:spTree>
    <p:extLst>
      <p:ext uri="{BB962C8B-B14F-4D97-AF65-F5344CB8AC3E}">
        <p14:creationId xmlns:p14="http://schemas.microsoft.com/office/powerpoint/2010/main" val="1563541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r>
              <a:rPr lang="zh-CN" altLang="en-US" dirty="0"/>
              <a:t>人料物时间金钱</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r>
              <a:rPr lang="zh-CN" altLang="en-US" dirty="0"/>
              <a:t>用户对维护的评价</a:t>
            </a:r>
            <a:endParaRPr lang="en-US" altLang="zh-CN" dirty="0"/>
          </a:p>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03874-B0D5-921B-C02F-8347E72CEF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F1867E-E9F0-FFD7-3EE4-99E57339162D}"/>
              </a:ext>
            </a:extLst>
          </p:cNvPr>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a:extLst>
              <a:ext uri="{FF2B5EF4-FFF2-40B4-BE49-F238E27FC236}">
                <a16:creationId xmlns:a16="http://schemas.microsoft.com/office/drawing/2014/main" id="{A871C58B-B7ED-2FCF-AEF9-C9A569E3631E}"/>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82408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txBody>
          <a:bodyPr/>
          <a:lstStyle/>
          <a:p>
            <a:endParaRPr lang="zh-CN" altLang="en-US"/>
          </a:p>
        </p:txBody>
      </p:sp>
      <p:sp>
        <p:nvSpPr>
          <p:cNvPr id="3" name="备注占位符 2"/>
          <p:cNvSpPr>
            <a:spLocks noGrp="1"/>
          </p:cNvSpPr>
          <p:nvPr>
            <p:ph type="body" idx="1"/>
          </p:nvPr>
        </p:nvSpPr>
        <p:spPr/>
        <p:txBody>
          <a:bodyPr/>
          <a:lstStyle/>
          <a:p>
            <a:r>
              <a:rPr lang="zh-CN" altLang="en-US" dirty="0"/>
              <a:t>冰箱的数字指示</a:t>
            </a:r>
            <a:r>
              <a:rPr lang="en-US" altLang="zh-CN" dirty="0"/>
              <a:t>12345</a:t>
            </a:r>
          </a:p>
          <a:p>
            <a:r>
              <a:rPr lang="zh-CN" altLang="en-US" dirty="0"/>
              <a:t>降低复杂度、提升可理解性</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pPr/>
              <a:t>28</a:t>
            </a:fld>
            <a:endParaRPr lang="zh-CN" altLang="en-US" dirty="0"/>
          </a:p>
        </p:txBody>
      </p:sp>
    </p:spTree>
    <p:extLst>
      <p:ext uri="{BB962C8B-B14F-4D97-AF65-F5344CB8AC3E}">
        <p14:creationId xmlns:p14="http://schemas.microsoft.com/office/powerpoint/2010/main" val="1660902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8CF72-7EB3-362C-DC8D-F170FD4918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2B51F1-B1B9-CB9E-44A7-9C3EC92B2C1C}"/>
              </a:ext>
            </a:extLst>
          </p:cNvPr>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a:extLst>
              <a:ext uri="{FF2B5EF4-FFF2-40B4-BE49-F238E27FC236}">
                <a16:creationId xmlns:a16="http://schemas.microsoft.com/office/drawing/2014/main" id="{A3CF2C82-468D-04EA-2753-8DE6B1AAF8D7}"/>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013325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r>
              <a:rPr lang="zh-CN" altLang="en-US" dirty="0"/>
              <a:t>左图描述了适用于软件重用的过程模型。领域工程在特定的领域中创建应用领域的模型，设计软件体系结构模型，开发可重用的软件成分，建立可重用的软件构件库。</a:t>
            </a:r>
            <a:endParaRPr lang="en-US" altLang="zh-CN" dirty="0"/>
          </a:p>
          <a:p>
            <a:r>
              <a:rPr lang="zh-CN" altLang="en-US" dirty="0"/>
              <a:t>显然，对软件构件库应当不断地积累构件、不断地进行完善。</a:t>
            </a:r>
          </a:p>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r>
              <a:rPr lang="zh-CN" altLang="en-US" dirty="0"/>
              <a:t>给老旧软件做彻底翻新</a:t>
            </a:r>
            <a:endParaRPr lang="en-US" altLang="zh-CN" dirty="0"/>
          </a:p>
          <a:p>
            <a:r>
              <a:rPr lang="zh-CN" altLang="en-US" dirty="0"/>
              <a:t>再工程可以看作是预防性维护的一种高级形式。它不仅仅是为了修复当前的错误（改正性），也不仅仅是为了适应新环境（适应性），而是为了从根本上提高软件的可维护性和可靠性，延长软件的寿命。</a:t>
            </a:r>
            <a:endParaRPr lang="en-US" altLang="zh-CN" dirty="0"/>
          </a:p>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10" name="矩形 9"/>
          <p:cNvSpPr/>
          <p:nvPr userDrawn="1"/>
        </p:nvSpPr>
        <p:spPr>
          <a:xfrm>
            <a:off x="403225" y="1918969"/>
            <a:ext cx="11303635" cy="45790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626254" y="1702970"/>
            <a:ext cx="669087" cy="4795015"/>
          </a:xfrm>
          <a:prstGeom prst="rect">
            <a:avLst/>
          </a:prstGeom>
          <a:solidFill>
            <a:srgbClr val="008080"/>
          </a:solidFill>
          <a:effectLst/>
        </p:spPr>
        <p:txBody>
          <a:bodyPr tIns="0" bIns="0"/>
          <a:lstStyle/>
          <a:p>
            <a:pPr lvl="0">
              <a:lnSpc>
                <a:spcPct val="134000"/>
              </a:lnSpc>
              <a:spcBef>
                <a:spcPts val="600"/>
              </a:spcBef>
            </a:pPr>
            <a:endParaRPr lang="zh-CN" altLang="en-US" sz="1600" dirty="0">
              <a:solidFill>
                <a:schemeClr val="bg1"/>
              </a:solidFill>
              <a:latin typeface="微软雅黑" panose="020B0503020204020204" charset="-122"/>
              <a:ea typeface="微软雅黑" panose="020B0503020204020204" charset="-122"/>
            </a:endParaRPr>
          </a:p>
        </p:txBody>
      </p:sp>
      <p:sp>
        <p:nvSpPr>
          <p:cNvPr id="4" name="标题 3">
            <a:extLst>
              <a:ext uri="{FF2B5EF4-FFF2-40B4-BE49-F238E27FC236}">
                <a16:creationId xmlns:a16="http://schemas.microsoft.com/office/drawing/2014/main" id="{81C54ABB-ACA1-C305-01CB-0D1E0557EA44}"/>
              </a:ext>
            </a:extLst>
          </p:cNvPr>
          <p:cNvSpPr>
            <a:spLocks noGrp="1"/>
          </p:cNvSpPr>
          <p:nvPr>
            <p:ph type="title"/>
          </p:nvPr>
        </p:nvSpPr>
        <p:spPr>
          <a:xfrm>
            <a:off x="838200" y="360000"/>
            <a:ext cx="5257800" cy="535531"/>
          </a:xfrm>
        </p:spPr>
        <p:txBody>
          <a:bodyPr/>
          <a:lstStyle/>
          <a:p>
            <a:r>
              <a:rPr lang="zh-CN" altLang="en-US"/>
              <a:t>单击此处编辑母版标题样式</a:t>
            </a:r>
          </a:p>
        </p:txBody>
      </p:sp>
      <p:sp>
        <p:nvSpPr>
          <p:cNvPr id="2" name="直角三角形 1">
            <a:extLst>
              <a:ext uri="{FF2B5EF4-FFF2-40B4-BE49-F238E27FC236}">
                <a16:creationId xmlns:a16="http://schemas.microsoft.com/office/drawing/2014/main" id="{C853D252-491D-6C91-1A8C-AB0F3C671FCD}"/>
              </a:ext>
            </a:extLst>
          </p:cNvPr>
          <p:cNvSpPr>
            <a:spLocks/>
          </p:cNvSpPr>
          <p:nvPr userDrawn="1"/>
        </p:nvSpPr>
        <p:spPr>
          <a:xfrm>
            <a:off x="1295341" y="1702970"/>
            <a:ext cx="216000" cy="216000"/>
          </a:xfrm>
          <a:prstGeom prst="r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a:prstGeom prst="rect">
            <a:avLst/>
          </a:prstGeom>
        </p:spPr>
        <p:txBody>
          <a:bodyPr/>
          <a:lstStyle>
            <a:lvl1pPr>
              <a:defRPr lang="zh-CN" altLang="en-US"/>
            </a:lvl1pPr>
          </a:lstStyle>
          <a:p>
            <a:r>
              <a:rPr lang="zh-CN" altLang="en-US" dirty="0"/>
              <a:t>单击此处编辑母版标题样式</a:t>
            </a:r>
          </a:p>
        </p:txBody>
      </p:sp>
      <p:sp>
        <p:nvSpPr>
          <p:cNvPr id="18" name="任意多边形 17"/>
          <p:cNvSpPr/>
          <p:nvPr/>
        </p:nvSpPr>
        <p:spPr>
          <a:xfrm>
            <a:off x="523836" y="1214422"/>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a:prstGeom prst="rect">
            <a:avLst/>
          </a:prstGeom>
        </p:spPr>
        <p:txBody>
          <a:bodyPr/>
          <a:lstStyle>
            <a:lvl1pPr>
              <a:defRPr lang="zh-CN" altLang="en-US"/>
            </a:lvl1pPr>
          </a:lstStyle>
          <a:p>
            <a:r>
              <a:rPr lang="zh-CN" altLang="en-US"/>
              <a:t>单击此处编辑母版标题样式</a:t>
            </a:r>
          </a:p>
        </p:txBody>
      </p:sp>
      <p:sp>
        <p:nvSpPr>
          <p:cNvPr id="18" name="任意多边形 17"/>
          <p:cNvSpPr/>
          <p:nvPr/>
        </p:nvSpPr>
        <p:spPr>
          <a:xfrm>
            <a:off x="523836" y="1214422"/>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7A221F8-3BDD-B204-23BD-B9038E1280F9}"/>
              </a:ext>
            </a:extLst>
          </p:cNvPr>
          <p:cNvSpPr/>
          <p:nvPr userDrawn="1"/>
        </p:nvSpPr>
        <p:spPr>
          <a:xfrm>
            <a:off x="0" y="2520000"/>
            <a:ext cx="12192000" cy="3600000"/>
          </a:xfrm>
          <a:prstGeom prst="rect">
            <a:avLst/>
          </a:pr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占位符 4">
            <a:extLst>
              <a:ext uri="{FF2B5EF4-FFF2-40B4-BE49-F238E27FC236}">
                <a16:creationId xmlns:a16="http://schemas.microsoft.com/office/drawing/2014/main" id="{10F2E5C1-7E93-1FE1-6E49-6B5CA66E9CAD}"/>
              </a:ext>
            </a:extLst>
          </p:cNvPr>
          <p:cNvSpPr>
            <a:spLocks noGrp="1"/>
          </p:cNvSpPr>
          <p:nvPr>
            <p:ph type="body" sz="quarter" idx="10"/>
          </p:nvPr>
        </p:nvSpPr>
        <p:spPr>
          <a:xfrm>
            <a:off x="504000" y="2664000"/>
            <a:ext cx="8125424" cy="3312000"/>
          </a:xfrm>
        </p:spPr>
        <p:txBody>
          <a:bodyPr/>
          <a:lstStyle>
            <a:lvl1pPr marL="0" indent="0">
              <a:lnSpc>
                <a:spcPct val="120000"/>
              </a:lnSpc>
              <a:buNone/>
              <a:defRPr sz="160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zh-CN" altLang="en-US" dirty="0"/>
              <a:t>单击此处编辑母版文本样式</a:t>
            </a:r>
          </a:p>
        </p:txBody>
      </p:sp>
    </p:spTree>
    <p:extLst>
      <p:ext uri="{BB962C8B-B14F-4D97-AF65-F5344CB8AC3E}">
        <p14:creationId xmlns:p14="http://schemas.microsoft.com/office/powerpoint/2010/main" val="3387933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p14="http://schemas.microsoft.com/office/powerpoint/2010/main" val="4223807772"/>
      </p:ext>
    </p:extLst>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7"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
        <p:nvSpPr>
          <p:cNvPr id="2" name="标题占位符 1">
            <a:extLst>
              <a:ext uri="{FF2B5EF4-FFF2-40B4-BE49-F238E27FC236}">
                <a16:creationId xmlns:a16="http://schemas.microsoft.com/office/drawing/2014/main" id="{43074C4D-FAB6-9CD5-4C50-B748826A4ED8}"/>
              </a:ext>
            </a:extLst>
          </p:cNvPr>
          <p:cNvSpPr>
            <a:spLocks noGrp="1"/>
          </p:cNvSpPr>
          <p:nvPr>
            <p:ph type="title"/>
          </p:nvPr>
        </p:nvSpPr>
        <p:spPr>
          <a:xfrm>
            <a:off x="838200" y="360000"/>
            <a:ext cx="10515600" cy="535531"/>
          </a:xfrm>
          <a:prstGeom prst="rect">
            <a:avLst/>
          </a:prstGeom>
        </p:spPr>
        <p:txBody>
          <a:bodyPr vert="horz" lIns="91440" tIns="45720" rIns="91440" bIns="45720" rtlCol="0" anchor="ctr">
            <a:sp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F27DC13-5ED4-D8CD-F577-7CDDB12A694D}"/>
              </a:ext>
            </a:extLst>
          </p:cNvPr>
          <p:cNvSpPr>
            <a:spLocks noGrp="1"/>
          </p:cNvSpPr>
          <p:nvPr>
            <p:ph type="body" idx="1"/>
          </p:nvPr>
        </p:nvSpPr>
        <p:spPr>
          <a:xfrm>
            <a:off x="838200" y="1080000"/>
            <a:ext cx="10515600" cy="54180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72" r:id="rId3"/>
    <p:sldLayoutId id="2147483662" r:id="rId4"/>
    <p:sldLayoutId id="2147483671" r:id="rId5"/>
  </p:sldLayoutIdLst>
  <p:hf hdr="0" ftr="0" dt="0"/>
  <p:txStyles>
    <p:titleStyle>
      <a:lvl1pPr algn="l" rtl="0" eaLnBrk="1" fontAlgn="base" hangingPunct="1">
        <a:lnSpc>
          <a:spcPct val="90000"/>
        </a:lnSpc>
        <a:spcBef>
          <a:spcPct val="0"/>
        </a:spcBef>
        <a:spcAft>
          <a:spcPct val="0"/>
        </a:spcAft>
        <a:defRPr sz="3200" kern="1200">
          <a:solidFill>
            <a:srgbClr val="00B0F0"/>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180000" indent="-180000" algn="l" rtl="0" eaLnBrk="1" fontAlgn="base" hangingPunct="1">
        <a:lnSpc>
          <a:spcPct val="100000"/>
        </a:lnSpc>
        <a:spcBef>
          <a:spcPts val="0"/>
        </a:spcBef>
        <a:spcAft>
          <a:spcPct val="0"/>
        </a:spcAft>
        <a:buClr>
          <a:schemeClr val="tx1"/>
        </a:buClr>
        <a:buSzPct val="80000"/>
        <a:buFont typeface="Arial" panose="020B0604020202020204" pitchFamily="34" charset="0"/>
        <a:buChar char="•"/>
        <a:defRPr lang="zh-CN" altLang="en-US" sz="2400" kern="1200" dirty="0" smtClean="0">
          <a:solidFill>
            <a:schemeClr val="tx1"/>
          </a:solidFill>
          <a:latin typeface="+mn-lt"/>
          <a:ea typeface="+mn-ea"/>
          <a:cs typeface="+mn-cs"/>
        </a:defRPr>
      </a:lvl1pPr>
      <a:lvl2pPr marL="360000" indent="-180000" algn="l" rtl="0" eaLnBrk="1" fontAlgn="base" hangingPunct="1">
        <a:lnSpc>
          <a:spcPct val="100000"/>
        </a:lnSpc>
        <a:spcBef>
          <a:spcPts val="0"/>
        </a:spcBef>
        <a:spcAft>
          <a:spcPct val="0"/>
        </a:spcAft>
        <a:buClr>
          <a:schemeClr val="tx1"/>
        </a:buClr>
        <a:buSzPct val="80000"/>
        <a:buFont typeface="Arial" panose="020B0604020202020204" pitchFamily="34" charset="0"/>
        <a:buChar char="•"/>
        <a:defRPr lang="zh-CN" altLang="en-US" sz="2000" kern="1200" dirty="0" smtClean="0">
          <a:solidFill>
            <a:schemeClr val="tx1"/>
          </a:solidFill>
          <a:latin typeface="+mn-lt"/>
          <a:ea typeface="+mn-ea"/>
          <a:cs typeface="+mn-cs"/>
        </a:defRPr>
      </a:lvl2pPr>
      <a:lvl3pPr marL="540000" indent="-180000" algn="l" rtl="0" eaLnBrk="1" fontAlgn="base" hangingPunct="1">
        <a:lnSpc>
          <a:spcPct val="100000"/>
        </a:lnSpc>
        <a:spcBef>
          <a:spcPts val="0"/>
        </a:spcBef>
        <a:spcAft>
          <a:spcPct val="0"/>
        </a:spcAft>
        <a:buClr>
          <a:schemeClr val="tx1"/>
        </a:buClr>
        <a:buSzPct val="80000"/>
        <a:buFont typeface="Arial" panose="020B0604020202020204" pitchFamily="34" charset="0"/>
        <a:buChar char="•"/>
        <a:defRPr lang="zh-CN" altLang="en-US" sz="1800" kern="1200" dirty="0" smtClean="0">
          <a:solidFill>
            <a:srgbClr val="262626"/>
          </a:solidFill>
          <a:latin typeface="+mn-lt"/>
          <a:ea typeface="+mn-ea"/>
          <a:cs typeface="+mn-cs"/>
        </a:defRPr>
      </a:lvl3pPr>
      <a:lvl4pPr marL="285750" indent="-285750" algn="l" rtl="0" eaLnBrk="1" fontAlgn="base" hangingPunct="1">
        <a:lnSpc>
          <a:spcPct val="100000"/>
        </a:lnSpc>
        <a:spcBef>
          <a:spcPts val="0"/>
        </a:spcBef>
        <a:spcAft>
          <a:spcPct val="0"/>
        </a:spcAft>
        <a:buClr>
          <a:schemeClr val="tx1"/>
        </a:buClr>
        <a:buSzPct val="80000"/>
        <a:buFont typeface="Arial" panose="020B0604020202020204" pitchFamily="34" charset="0"/>
        <a:buChar char="•"/>
        <a:defRPr lang="zh-CN" altLang="en-US" sz="1800" kern="1200" dirty="0" smtClean="0">
          <a:solidFill>
            <a:srgbClr val="262626"/>
          </a:solidFill>
          <a:latin typeface="+mn-lt"/>
          <a:ea typeface="+mn-ea"/>
          <a:cs typeface="+mn-cs"/>
        </a:defRPr>
      </a:lvl4pPr>
      <a:lvl5pPr marL="466090" indent="-285750" algn="l" rtl="0" eaLnBrk="1" fontAlgn="base" hangingPunct="1">
        <a:lnSpc>
          <a:spcPct val="100000"/>
        </a:lnSpc>
        <a:spcBef>
          <a:spcPts val="0"/>
        </a:spcBef>
        <a:spcAft>
          <a:spcPct val="0"/>
        </a:spcAft>
        <a:buClr>
          <a:schemeClr val="tx1"/>
        </a:buClr>
        <a:buSzPct val="80000"/>
        <a:buFont typeface="Arial" panose="020B0604020202020204" pitchFamily="34" charset="0"/>
        <a:buChar char="•"/>
        <a:defRPr lang="zh-CN" altLang="en-US" kern="1200" dirty="0" smtClean="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4.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0.xml"/><Relationship Id="rId7"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5.png"/><Relationship Id="rId5" Type="http://schemas.openxmlformats.org/officeDocument/2006/relationships/tags" Target="../tags/tag22.xml"/><Relationship Id="rId10" Type="http://schemas.openxmlformats.org/officeDocument/2006/relationships/image" Target="../media/image4.png"/><Relationship Id="rId4" Type="http://schemas.openxmlformats.org/officeDocument/2006/relationships/tags" Target="../tags/tag2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5.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2" Type="http://schemas.openxmlformats.org/officeDocument/2006/relationships/tags" Target="../tags/tag26.xml"/><Relationship Id="rId16" Type="http://schemas.openxmlformats.org/officeDocument/2006/relationships/notesSlide" Target="../notesSlides/notesSlide2.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slideLayout" Target="../slideLayouts/slideLayout2.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9.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10.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notesSlide" Target="../notesSlides/notesSlide7.xml"/><Relationship Id="rId2" Type="http://schemas.openxmlformats.org/officeDocument/2006/relationships/tags" Target="../tags/tag44.xml"/><Relationship Id="rId16"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tags" Target="../tags/tag5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3.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tags" Target="../tags/tag76.xml"/><Relationship Id="rId3" Type="http://schemas.openxmlformats.org/officeDocument/2006/relationships/tags" Target="../tags/tag61.xml"/><Relationship Id="rId21" Type="http://schemas.openxmlformats.org/officeDocument/2006/relationships/tags" Target="../tags/tag79.xml"/><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 Type="http://schemas.openxmlformats.org/officeDocument/2006/relationships/tags" Target="../tags/tag60.xml"/><Relationship Id="rId16" Type="http://schemas.openxmlformats.org/officeDocument/2006/relationships/tags" Target="../tags/tag74.xml"/><Relationship Id="rId20" Type="http://schemas.openxmlformats.org/officeDocument/2006/relationships/tags" Target="../tags/tag78.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notesSlide" Target="../notesSlides/notesSlide10.xml"/><Relationship Id="rId10" Type="http://schemas.openxmlformats.org/officeDocument/2006/relationships/tags" Target="../tags/tag68.xml"/><Relationship Id="rId19" Type="http://schemas.openxmlformats.org/officeDocument/2006/relationships/tags" Target="../tags/tag77.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7.svg"/></Relationships>
</file>

<file path=ppt/slides/_rels/slide15.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84.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tags" Target="../tags/tag97.xml"/><Relationship Id="rId3" Type="http://schemas.openxmlformats.org/officeDocument/2006/relationships/tags" Target="../tags/tag87.xml"/><Relationship Id="rId7" Type="http://schemas.openxmlformats.org/officeDocument/2006/relationships/tags" Target="../tags/tag91.xml"/><Relationship Id="rId12" Type="http://schemas.openxmlformats.org/officeDocument/2006/relationships/tags" Target="../tags/tag96.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5" Type="http://schemas.openxmlformats.org/officeDocument/2006/relationships/tags" Target="../tags/tag89.xml"/><Relationship Id="rId10" Type="http://schemas.openxmlformats.org/officeDocument/2006/relationships/tags" Target="../tags/tag94.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tags" Target="../tags/tag115.xml"/><Relationship Id="rId3" Type="http://schemas.openxmlformats.org/officeDocument/2006/relationships/tags" Target="../tags/tag100.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 Type="http://schemas.openxmlformats.org/officeDocument/2006/relationships/tags" Target="../tags/tag99.xml"/><Relationship Id="rId16" Type="http://schemas.openxmlformats.org/officeDocument/2006/relationships/tags" Target="../tags/tag113.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5" Type="http://schemas.openxmlformats.org/officeDocument/2006/relationships/tags" Target="../tags/tag112.xml"/><Relationship Id="rId10" Type="http://schemas.openxmlformats.org/officeDocument/2006/relationships/tags" Target="../tags/tag107.xml"/><Relationship Id="rId19" Type="http://schemas.openxmlformats.org/officeDocument/2006/relationships/slideLayout" Target="../slideLayouts/slideLayout2.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tags" Target="../tags/tag133.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tags" Target="../tags/tag132.xml"/><Relationship Id="rId2" Type="http://schemas.openxmlformats.org/officeDocument/2006/relationships/tags" Target="../tags/tag117.xml"/><Relationship Id="rId16" Type="http://schemas.openxmlformats.org/officeDocument/2006/relationships/tags" Target="../tags/tag131.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5" Type="http://schemas.openxmlformats.org/officeDocument/2006/relationships/tags" Target="../tags/tag130.xml"/><Relationship Id="rId10" Type="http://schemas.openxmlformats.org/officeDocument/2006/relationships/tags" Target="../tags/tag125.xml"/><Relationship Id="rId19" Type="http://schemas.openxmlformats.org/officeDocument/2006/relationships/slideLayout" Target="../slideLayouts/slideLayout2.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5.xml"/><Relationship Id="rId1" Type="http://schemas.openxmlformats.org/officeDocument/2006/relationships/tags" Target="../tags/tag134.xml"/><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9.xml"/><Relationship Id="rId1" Type="http://schemas.openxmlformats.org/officeDocument/2006/relationships/tags" Target="../tags/tag13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1.xml"/><Relationship Id="rId1" Type="http://schemas.openxmlformats.org/officeDocument/2006/relationships/tags" Target="../tags/tag1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4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3.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notesSlide" Target="../notesSlides/notesSlide15.xml"/><Relationship Id="rId3" Type="http://schemas.openxmlformats.org/officeDocument/2006/relationships/tags" Target="../tags/tag146.xml"/><Relationship Id="rId7" Type="http://schemas.openxmlformats.org/officeDocument/2006/relationships/tags" Target="../tags/tag150.xml"/><Relationship Id="rId12"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5" Type="http://schemas.openxmlformats.org/officeDocument/2006/relationships/tags" Target="../tags/tag148.xml"/><Relationship Id="rId10" Type="http://schemas.openxmlformats.org/officeDocument/2006/relationships/tags" Target="../tags/tag153.xml"/><Relationship Id="rId4" Type="http://schemas.openxmlformats.org/officeDocument/2006/relationships/tags" Target="../tags/tag147.xml"/><Relationship Id="rId9" Type="http://schemas.openxmlformats.org/officeDocument/2006/relationships/tags" Target="../tags/tag152.xml"/></Relationships>
</file>

<file path=ppt/slides/_rels/slide38.xml.rels><?xml version="1.0" encoding="UTF-8" standalone="yes"?>
<Relationships xmlns="http://schemas.openxmlformats.org/package/2006/relationships"><Relationship Id="rId8" Type="http://schemas.openxmlformats.org/officeDocument/2006/relationships/tags" Target="../tags/tag162.xml"/><Relationship Id="rId13" Type="http://schemas.openxmlformats.org/officeDocument/2006/relationships/notesSlide" Target="../notesSlides/notesSlide16.xml"/><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slideLayout" Target="../slideLayouts/slideLayout2.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tags" Target="../tags/tag165.xml"/><Relationship Id="rId5" Type="http://schemas.openxmlformats.org/officeDocument/2006/relationships/tags" Target="../tags/tag159.xml"/><Relationship Id="rId10" Type="http://schemas.openxmlformats.org/officeDocument/2006/relationships/tags" Target="../tags/tag164.xml"/><Relationship Id="rId4" Type="http://schemas.openxmlformats.org/officeDocument/2006/relationships/tags" Target="../tags/tag158.xml"/><Relationship Id="rId9" Type="http://schemas.openxmlformats.org/officeDocument/2006/relationships/tags" Target="../tags/tag163.xml"/></Relationships>
</file>

<file path=ppt/slides/_rels/slide39.xml.rels><?xml version="1.0" encoding="UTF-8" standalone="yes"?>
<Relationships xmlns="http://schemas.openxmlformats.org/package/2006/relationships"><Relationship Id="rId8" Type="http://schemas.openxmlformats.org/officeDocument/2006/relationships/tags" Target="../tags/tag173.xml"/><Relationship Id="rId13" Type="http://schemas.openxmlformats.org/officeDocument/2006/relationships/notesSlide" Target="../notesSlides/notesSlide17.xml"/><Relationship Id="rId3" Type="http://schemas.openxmlformats.org/officeDocument/2006/relationships/tags" Target="../tags/tag168.xml"/><Relationship Id="rId7" Type="http://schemas.openxmlformats.org/officeDocument/2006/relationships/tags" Target="../tags/tag172.xml"/><Relationship Id="rId12" Type="http://schemas.openxmlformats.org/officeDocument/2006/relationships/slideLayout" Target="../slideLayouts/slideLayout2.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tags" Target="../tags/tag171.xml"/><Relationship Id="rId11" Type="http://schemas.openxmlformats.org/officeDocument/2006/relationships/tags" Target="../tags/tag176.xml"/><Relationship Id="rId5" Type="http://schemas.openxmlformats.org/officeDocument/2006/relationships/tags" Target="../tags/tag170.xml"/><Relationship Id="rId10" Type="http://schemas.openxmlformats.org/officeDocument/2006/relationships/tags" Target="../tags/tag175.xml"/><Relationship Id="rId4" Type="http://schemas.openxmlformats.org/officeDocument/2006/relationships/tags" Target="../tags/tag169.xml"/><Relationship Id="rId9" Type="http://schemas.openxmlformats.org/officeDocument/2006/relationships/tags" Target="../tags/tag174.xml"/></Relationships>
</file>

<file path=ppt/slides/_rels/slide40.xml.rels><?xml version="1.0" encoding="UTF-8" standalone="yes"?>
<Relationships xmlns="http://schemas.openxmlformats.org/package/2006/relationships"><Relationship Id="rId8" Type="http://schemas.openxmlformats.org/officeDocument/2006/relationships/tags" Target="../tags/tag184.xml"/><Relationship Id="rId13" Type="http://schemas.openxmlformats.org/officeDocument/2006/relationships/slideLayout" Target="../slideLayouts/slideLayout2.xml"/><Relationship Id="rId3" Type="http://schemas.openxmlformats.org/officeDocument/2006/relationships/tags" Target="../tags/tag179.xml"/><Relationship Id="rId7" Type="http://schemas.openxmlformats.org/officeDocument/2006/relationships/tags" Target="../tags/tag183.xml"/><Relationship Id="rId12" Type="http://schemas.openxmlformats.org/officeDocument/2006/relationships/tags" Target="../tags/tag188.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tags" Target="../tags/tag187.xml"/><Relationship Id="rId5" Type="http://schemas.openxmlformats.org/officeDocument/2006/relationships/tags" Target="../tags/tag181.xml"/><Relationship Id="rId10" Type="http://schemas.openxmlformats.org/officeDocument/2006/relationships/tags" Target="../tags/tag186.xml"/><Relationship Id="rId4" Type="http://schemas.openxmlformats.org/officeDocument/2006/relationships/tags" Target="../tags/tag180.xml"/><Relationship Id="rId9" Type="http://schemas.openxmlformats.org/officeDocument/2006/relationships/tags" Target="../tags/tag185.xml"/><Relationship Id="rId14"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8" Type="http://schemas.openxmlformats.org/officeDocument/2006/relationships/tags" Target="../tags/tag196.xml"/><Relationship Id="rId13" Type="http://schemas.openxmlformats.org/officeDocument/2006/relationships/slideLayout" Target="../slideLayouts/slideLayout2.xml"/><Relationship Id="rId3" Type="http://schemas.openxmlformats.org/officeDocument/2006/relationships/tags" Target="../tags/tag191.xml"/><Relationship Id="rId7" Type="http://schemas.openxmlformats.org/officeDocument/2006/relationships/tags" Target="../tags/tag195.xml"/><Relationship Id="rId12" Type="http://schemas.openxmlformats.org/officeDocument/2006/relationships/tags" Target="../tags/tag200.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tags" Target="../tags/tag194.xml"/><Relationship Id="rId11" Type="http://schemas.openxmlformats.org/officeDocument/2006/relationships/tags" Target="../tags/tag199.xml"/><Relationship Id="rId5" Type="http://schemas.openxmlformats.org/officeDocument/2006/relationships/tags" Target="../tags/tag193.xml"/><Relationship Id="rId10" Type="http://schemas.openxmlformats.org/officeDocument/2006/relationships/tags" Target="../tags/tag198.xml"/><Relationship Id="rId4" Type="http://schemas.openxmlformats.org/officeDocument/2006/relationships/tags" Target="../tags/tag192.xml"/><Relationship Id="rId9" Type="http://schemas.openxmlformats.org/officeDocument/2006/relationships/tags" Target="../tags/tag197.xml"/><Relationship Id="rId14"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8" Type="http://schemas.openxmlformats.org/officeDocument/2006/relationships/tags" Target="../tags/tag208.xml"/><Relationship Id="rId13" Type="http://schemas.openxmlformats.org/officeDocument/2006/relationships/slideLayout" Target="../slideLayouts/slideLayout2.xml"/><Relationship Id="rId3" Type="http://schemas.openxmlformats.org/officeDocument/2006/relationships/tags" Target="../tags/tag203.xml"/><Relationship Id="rId7" Type="http://schemas.openxmlformats.org/officeDocument/2006/relationships/tags" Target="../tags/tag207.xml"/><Relationship Id="rId12" Type="http://schemas.openxmlformats.org/officeDocument/2006/relationships/tags" Target="../tags/tag212.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tags" Target="../tags/tag211.xml"/><Relationship Id="rId5" Type="http://schemas.openxmlformats.org/officeDocument/2006/relationships/tags" Target="../tags/tag205.xml"/><Relationship Id="rId10" Type="http://schemas.openxmlformats.org/officeDocument/2006/relationships/tags" Target="../tags/tag210.xml"/><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notesSlide" Target="../notesSlides/notesSlide20.xml"/></Relationships>
</file>

<file path=ppt/slides/_rels/slide43.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tags" Target="../tags/tag225.xml"/><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tags" Target="../tags/tag224.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notesSlide" Target="../notesSlides/notesSlide21.xml"/><Relationship Id="rId10" Type="http://schemas.openxmlformats.org/officeDocument/2006/relationships/tags" Target="../tags/tag222.xml"/><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tags" Target="../tags/tag233.xml"/><Relationship Id="rId13" Type="http://schemas.openxmlformats.org/officeDocument/2006/relationships/tags" Target="../tags/tag238.xml"/><Relationship Id="rId3" Type="http://schemas.openxmlformats.org/officeDocument/2006/relationships/tags" Target="../tags/tag228.xml"/><Relationship Id="rId7" Type="http://schemas.openxmlformats.org/officeDocument/2006/relationships/tags" Target="../tags/tag232.xml"/><Relationship Id="rId12" Type="http://schemas.openxmlformats.org/officeDocument/2006/relationships/tags" Target="../tags/tag237.xml"/><Relationship Id="rId2" Type="http://schemas.openxmlformats.org/officeDocument/2006/relationships/tags" Target="../tags/tag227.xml"/><Relationship Id="rId1" Type="http://schemas.openxmlformats.org/officeDocument/2006/relationships/tags" Target="../tags/tag226.xml"/><Relationship Id="rId6" Type="http://schemas.openxmlformats.org/officeDocument/2006/relationships/tags" Target="../tags/tag231.xml"/><Relationship Id="rId11" Type="http://schemas.openxmlformats.org/officeDocument/2006/relationships/tags" Target="../tags/tag236.xml"/><Relationship Id="rId5" Type="http://schemas.openxmlformats.org/officeDocument/2006/relationships/tags" Target="../tags/tag230.xml"/><Relationship Id="rId15" Type="http://schemas.openxmlformats.org/officeDocument/2006/relationships/notesSlide" Target="../notesSlides/notesSlide22.xml"/><Relationship Id="rId10" Type="http://schemas.openxmlformats.org/officeDocument/2006/relationships/tags" Target="../tags/tag235.xml"/><Relationship Id="rId4" Type="http://schemas.openxmlformats.org/officeDocument/2006/relationships/tags" Target="../tags/tag229.xml"/><Relationship Id="rId9" Type="http://schemas.openxmlformats.org/officeDocument/2006/relationships/tags" Target="../tags/tag234.xml"/><Relationship Id="rId1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tags" Target="../tags/tag246.xml"/><Relationship Id="rId13" Type="http://schemas.openxmlformats.org/officeDocument/2006/relationships/tags" Target="../tags/tag251.xml"/><Relationship Id="rId18" Type="http://schemas.openxmlformats.org/officeDocument/2006/relationships/slideLayout" Target="../slideLayouts/slideLayout2.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tags" Target="../tags/tag250.xml"/><Relationship Id="rId17" Type="http://schemas.openxmlformats.org/officeDocument/2006/relationships/tags" Target="../tags/tag255.xml"/><Relationship Id="rId2" Type="http://schemas.openxmlformats.org/officeDocument/2006/relationships/tags" Target="../tags/tag240.xml"/><Relationship Id="rId16" Type="http://schemas.openxmlformats.org/officeDocument/2006/relationships/tags" Target="../tags/tag254.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tags" Target="../tags/tag249.xml"/><Relationship Id="rId5" Type="http://schemas.openxmlformats.org/officeDocument/2006/relationships/tags" Target="../tags/tag243.xml"/><Relationship Id="rId15" Type="http://schemas.openxmlformats.org/officeDocument/2006/relationships/tags" Target="../tags/tag253.xml"/><Relationship Id="rId10" Type="http://schemas.openxmlformats.org/officeDocument/2006/relationships/tags" Target="../tags/tag248.xml"/><Relationship Id="rId19" Type="http://schemas.openxmlformats.org/officeDocument/2006/relationships/notesSlide" Target="../notesSlides/notesSlide23.xml"/><Relationship Id="rId4" Type="http://schemas.openxmlformats.org/officeDocument/2006/relationships/tags" Target="../tags/tag242.xml"/><Relationship Id="rId9" Type="http://schemas.openxmlformats.org/officeDocument/2006/relationships/tags" Target="../tags/tag247.xml"/><Relationship Id="rId14" Type="http://schemas.openxmlformats.org/officeDocument/2006/relationships/tags" Target="../tags/tag252.xml"/></Relationships>
</file>

<file path=ppt/slides/_rels/slide46.xml.rels><?xml version="1.0" encoding="UTF-8" standalone="yes"?>
<Relationships xmlns="http://schemas.openxmlformats.org/package/2006/relationships"><Relationship Id="rId3" Type="http://schemas.openxmlformats.org/officeDocument/2006/relationships/tags" Target="../tags/tag258.xml"/><Relationship Id="rId7" Type="http://schemas.openxmlformats.org/officeDocument/2006/relationships/notesSlide" Target="../notesSlides/notesSlide24.xml"/><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slideLayout" Target="../slideLayouts/slideLayout2.xml"/><Relationship Id="rId5" Type="http://schemas.openxmlformats.org/officeDocument/2006/relationships/tags" Target="../tags/tag260.xml"/><Relationship Id="rId4" Type="http://schemas.openxmlformats.org/officeDocument/2006/relationships/tags" Target="../tags/tag259.xml"/></Relationships>
</file>

<file path=ppt/slides/_rels/slide4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263.xml"/><Relationship Id="rId7" Type="http://schemas.openxmlformats.org/officeDocument/2006/relationships/notesSlide" Target="../notesSlides/notesSlide25.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slideLayout" Target="../slideLayouts/slideLayout2.xml"/><Relationship Id="rId5" Type="http://schemas.openxmlformats.org/officeDocument/2006/relationships/tags" Target="../tags/tag265.xml"/><Relationship Id="rId4" Type="http://schemas.openxmlformats.org/officeDocument/2006/relationships/tags" Target="../tags/tag264.xml"/></Relationships>
</file>

<file path=ppt/slides/_rels/slide48.xml.rels><?xml version="1.0" encoding="UTF-8" standalone="yes"?>
<Relationships xmlns="http://schemas.openxmlformats.org/package/2006/relationships"><Relationship Id="rId8" Type="http://schemas.openxmlformats.org/officeDocument/2006/relationships/tags" Target="../tags/tag273.xml"/><Relationship Id="rId13" Type="http://schemas.openxmlformats.org/officeDocument/2006/relationships/tags" Target="../tags/tag278.xml"/><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tags" Target="../tags/tag277.xml"/><Relationship Id="rId2" Type="http://schemas.openxmlformats.org/officeDocument/2006/relationships/tags" Target="../tags/tag267.xml"/><Relationship Id="rId16" Type="http://schemas.openxmlformats.org/officeDocument/2006/relationships/notesSlide" Target="../notesSlides/notesSlide26.xml"/><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tags" Target="../tags/tag276.xml"/><Relationship Id="rId5" Type="http://schemas.openxmlformats.org/officeDocument/2006/relationships/tags" Target="../tags/tag270.xml"/><Relationship Id="rId15" Type="http://schemas.openxmlformats.org/officeDocument/2006/relationships/slideLayout" Target="../slideLayouts/slideLayout2.xml"/><Relationship Id="rId10" Type="http://schemas.openxmlformats.org/officeDocument/2006/relationships/tags" Target="../tags/tag275.xml"/><Relationship Id="rId4" Type="http://schemas.openxmlformats.org/officeDocument/2006/relationships/tags" Target="../tags/tag269.xml"/><Relationship Id="rId9" Type="http://schemas.openxmlformats.org/officeDocument/2006/relationships/tags" Target="../tags/tag274.xml"/><Relationship Id="rId14" Type="http://schemas.openxmlformats.org/officeDocument/2006/relationships/tags" Target="../tags/tag279.xml"/></Relationships>
</file>

<file path=ppt/slides/_rels/slide49.xml.rels><?xml version="1.0" encoding="UTF-8" standalone="yes"?>
<Relationships xmlns="http://schemas.openxmlformats.org/package/2006/relationships"><Relationship Id="rId8" Type="http://schemas.openxmlformats.org/officeDocument/2006/relationships/package" Target="../embeddings/Microsoft_Word_Document.docx"/><Relationship Id="rId3" Type="http://schemas.openxmlformats.org/officeDocument/2006/relationships/tags" Target="../tags/tag282.xml"/><Relationship Id="rId7" Type="http://schemas.openxmlformats.org/officeDocument/2006/relationships/notesSlide" Target="../notesSlides/notesSlide27.xml"/><Relationship Id="rId2" Type="http://schemas.openxmlformats.org/officeDocument/2006/relationships/tags" Target="../tags/tag281.xml"/><Relationship Id="rId1" Type="http://schemas.openxmlformats.org/officeDocument/2006/relationships/tags" Target="../tags/tag280.xml"/><Relationship Id="rId6" Type="http://schemas.openxmlformats.org/officeDocument/2006/relationships/slideLayout" Target="../slideLayouts/slideLayout2.xml"/><Relationship Id="rId5" Type="http://schemas.openxmlformats.org/officeDocument/2006/relationships/tags" Target="../tags/tag284.xml"/><Relationship Id="rId4" Type="http://schemas.openxmlformats.org/officeDocument/2006/relationships/tags" Target="../tags/tag283.xml"/><Relationship Id="rId9" Type="http://schemas.openxmlformats.org/officeDocument/2006/relationships/image" Target="../media/image17.emf"/></Relationships>
</file>

<file path=ppt/slides/_rels/slide50.xml.rels><?xml version="1.0" encoding="UTF-8" standalone="yes"?>
<Relationships xmlns="http://schemas.openxmlformats.org/package/2006/relationships"><Relationship Id="rId8" Type="http://schemas.openxmlformats.org/officeDocument/2006/relationships/package" Target="../embeddings/Microsoft_Word_Document.docx"/><Relationship Id="rId3" Type="http://schemas.openxmlformats.org/officeDocument/2006/relationships/tags" Target="../tags/tag287.xml"/><Relationship Id="rId7" Type="http://schemas.openxmlformats.org/officeDocument/2006/relationships/notesSlide" Target="../notesSlides/notesSlide28.xml"/><Relationship Id="rId2" Type="http://schemas.openxmlformats.org/officeDocument/2006/relationships/tags" Target="../tags/tag286.xml"/><Relationship Id="rId1" Type="http://schemas.openxmlformats.org/officeDocument/2006/relationships/tags" Target="../tags/tag285.xml"/><Relationship Id="rId6" Type="http://schemas.openxmlformats.org/officeDocument/2006/relationships/slideLayout" Target="../slideLayouts/slideLayout2.xml"/><Relationship Id="rId5" Type="http://schemas.openxmlformats.org/officeDocument/2006/relationships/tags" Target="../tags/tag289.xml"/><Relationship Id="rId4" Type="http://schemas.openxmlformats.org/officeDocument/2006/relationships/tags" Target="../tags/tag288.xml"/><Relationship Id="rId9" Type="http://schemas.openxmlformats.org/officeDocument/2006/relationships/image" Target="../media/image17.emf"/></Relationships>
</file>

<file path=ppt/slides/_rels/slide51.xml.rels><?xml version="1.0" encoding="UTF-8" standalone="yes"?>
<Relationships xmlns="http://schemas.openxmlformats.org/package/2006/relationships"><Relationship Id="rId8" Type="http://schemas.openxmlformats.org/officeDocument/2006/relationships/tags" Target="../tags/tag297.xml"/><Relationship Id="rId13" Type="http://schemas.openxmlformats.org/officeDocument/2006/relationships/tags" Target="../tags/tag302.xml"/><Relationship Id="rId3" Type="http://schemas.openxmlformats.org/officeDocument/2006/relationships/tags" Target="../tags/tag292.xml"/><Relationship Id="rId7" Type="http://schemas.openxmlformats.org/officeDocument/2006/relationships/tags" Target="../tags/tag296.xml"/><Relationship Id="rId12" Type="http://schemas.openxmlformats.org/officeDocument/2006/relationships/tags" Target="../tags/tag301.xml"/><Relationship Id="rId2" Type="http://schemas.openxmlformats.org/officeDocument/2006/relationships/tags" Target="../tags/tag291.xml"/><Relationship Id="rId1" Type="http://schemas.openxmlformats.org/officeDocument/2006/relationships/tags" Target="../tags/tag290.xml"/><Relationship Id="rId6" Type="http://schemas.openxmlformats.org/officeDocument/2006/relationships/tags" Target="../tags/tag295.xml"/><Relationship Id="rId11" Type="http://schemas.openxmlformats.org/officeDocument/2006/relationships/tags" Target="../tags/tag300.xml"/><Relationship Id="rId5" Type="http://schemas.openxmlformats.org/officeDocument/2006/relationships/tags" Target="../tags/tag294.xml"/><Relationship Id="rId15" Type="http://schemas.openxmlformats.org/officeDocument/2006/relationships/notesSlide" Target="../notesSlides/notesSlide29.xml"/><Relationship Id="rId10" Type="http://schemas.openxmlformats.org/officeDocument/2006/relationships/tags" Target="../tags/tag299.xml"/><Relationship Id="rId4" Type="http://schemas.openxmlformats.org/officeDocument/2006/relationships/tags" Target="../tags/tag293.xml"/><Relationship Id="rId9" Type="http://schemas.openxmlformats.org/officeDocument/2006/relationships/tags" Target="../tags/tag298.xml"/><Relationship Id="rId1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notesSlide" Target="../notesSlides/notesSlide30.xml"/><Relationship Id="rId3" Type="http://schemas.openxmlformats.org/officeDocument/2006/relationships/tags" Target="../tags/tag305.xml"/><Relationship Id="rId7" Type="http://schemas.openxmlformats.org/officeDocument/2006/relationships/slideLayout" Target="../slideLayouts/slideLayout2.xml"/><Relationship Id="rId12" Type="http://schemas.openxmlformats.org/officeDocument/2006/relationships/image" Target="../media/image21.png"/><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tags" Target="../tags/tag308.xml"/><Relationship Id="rId11" Type="http://schemas.openxmlformats.org/officeDocument/2006/relationships/image" Target="../media/image20.jpeg"/><Relationship Id="rId5" Type="http://schemas.openxmlformats.org/officeDocument/2006/relationships/tags" Target="../tags/tag307.xml"/><Relationship Id="rId10" Type="http://schemas.openxmlformats.org/officeDocument/2006/relationships/image" Target="../media/image19.jpeg"/><Relationship Id="rId4" Type="http://schemas.openxmlformats.org/officeDocument/2006/relationships/tags" Target="../tags/tag306.xml"/><Relationship Id="rId9" Type="http://schemas.openxmlformats.org/officeDocument/2006/relationships/image" Target="../media/image18.jpeg"/></Relationships>
</file>

<file path=ppt/slides/_rels/slide53.xml.rels><?xml version="1.0" encoding="UTF-8" standalone="yes"?>
<Relationships xmlns="http://schemas.openxmlformats.org/package/2006/relationships"><Relationship Id="rId3" Type="http://schemas.openxmlformats.org/officeDocument/2006/relationships/tags" Target="../tags/tag311.xml"/><Relationship Id="rId7" Type="http://schemas.openxmlformats.org/officeDocument/2006/relationships/notesSlide" Target="../notesSlides/notesSlide31.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slideLayout" Target="../slideLayouts/slideLayout2.xml"/><Relationship Id="rId5" Type="http://schemas.openxmlformats.org/officeDocument/2006/relationships/tags" Target="../tags/tag313.xml"/><Relationship Id="rId4" Type="http://schemas.openxmlformats.org/officeDocument/2006/relationships/tags" Target="../tags/tag312.xml"/></Relationships>
</file>

<file path=ppt/slides/_rels/slide54.xml.rels><?xml version="1.0" encoding="UTF-8" standalone="yes"?>
<Relationships xmlns="http://schemas.openxmlformats.org/package/2006/relationships"><Relationship Id="rId3" Type="http://schemas.openxmlformats.org/officeDocument/2006/relationships/tags" Target="../tags/tag316.xml"/><Relationship Id="rId7" Type="http://schemas.openxmlformats.org/officeDocument/2006/relationships/notesSlide" Target="../notesSlides/notesSlide32.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slideLayout" Target="../slideLayouts/slideLayout2.xml"/><Relationship Id="rId5" Type="http://schemas.openxmlformats.org/officeDocument/2006/relationships/tags" Target="../tags/tag318.xml"/><Relationship Id="rId4" Type="http://schemas.openxmlformats.org/officeDocument/2006/relationships/tags" Target="../tags/tag317.xml"/></Relationships>
</file>

<file path=ppt/slides/_rels/slide55.xml.rels><?xml version="1.0" encoding="UTF-8" standalone="yes"?>
<Relationships xmlns="http://schemas.openxmlformats.org/package/2006/relationships"><Relationship Id="rId3" Type="http://schemas.openxmlformats.org/officeDocument/2006/relationships/tags" Target="../tags/tag321.xml"/><Relationship Id="rId7" Type="http://schemas.openxmlformats.org/officeDocument/2006/relationships/notesSlide" Target="../notesSlides/notesSlide33.xml"/><Relationship Id="rId2" Type="http://schemas.openxmlformats.org/officeDocument/2006/relationships/tags" Target="../tags/tag320.xml"/><Relationship Id="rId1" Type="http://schemas.openxmlformats.org/officeDocument/2006/relationships/tags" Target="../tags/tag319.xml"/><Relationship Id="rId6" Type="http://schemas.openxmlformats.org/officeDocument/2006/relationships/slideLayout" Target="../slideLayouts/slideLayout2.xml"/><Relationship Id="rId5" Type="http://schemas.openxmlformats.org/officeDocument/2006/relationships/tags" Target="../tags/tag323.xml"/><Relationship Id="rId4" Type="http://schemas.openxmlformats.org/officeDocument/2006/relationships/tags" Target="../tags/tag32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32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32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32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2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2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329.xml"/><Relationship Id="rId4" Type="http://schemas.openxmlformats.org/officeDocument/2006/relationships/image" Target="../media/image25.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330.xml"/><Relationship Id="rId4" Type="http://schemas.openxmlformats.org/officeDocument/2006/relationships/image" Target="../media/image25.jpeg"/></Relationships>
</file>

<file path=ppt/slides/_rels/slide6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333.xml"/><Relationship Id="rId7" Type="http://schemas.openxmlformats.org/officeDocument/2006/relationships/notesSlide" Target="../notesSlides/notesSlide41.xml"/><Relationship Id="rId2" Type="http://schemas.openxmlformats.org/officeDocument/2006/relationships/tags" Target="../tags/tag332.xml"/><Relationship Id="rId1" Type="http://schemas.openxmlformats.org/officeDocument/2006/relationships/tags" Target="../tags/tag331.xml"/><Relationship Id="rId6" Type="http://schemas.openxmlformats.org/officeDocument/2006/relationships/slideLayout" Target="../slideLayouts/slideLayout2.xml"/><Relationship Id="rId5" Type="http://schemas.openxmlformats.org/officeDocument/2006/relationships/tags" Target="../tags/tag335.xml"/><Relationship Id="rId4" Type="http://schemas.openxmlformats.org/officeDocument/2006/relationships/tags" Target="../tags/tag334.xml"/></Relationships>
</file>

<file path=ppt/slides/_rels/slide64.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tags" Target="../tags/tag338.xml"/><Relationship Id="rId7" Type="http://schemas.openxmlformats.org/officeDocument/2006/relationships/notesSlide" Target="../notesSlides/notesSlide42.xml"/><Relationship Id="rId2" Type="http://schemas.openxmlformats.org/officeDocument/2006/relationships/tags" Target="../tags/tag337.xml"/><Relationship Id="rId1" Type="http://schemas.openxmlformats.org/officeDocument/2006/relationships/tags" Target="../tags/tag336.xml"/><Relationship Id="rId6" Type="http://schemas.openxmlformats.org/officeDocument/2006/relationships/slideLayout" Target="../slideLayouts/slideLayout2.xml"/><Relationship Id="rId5" Type="http://schemas.openxmlformats.org/officeDocument/2006/relationships/tags" Target="../tags/tag340.xml"/><Relationship Id="rId4" Type="http://schemas.openxmlformats.org/officeDocument/2006/relationships/tags" Target="../tags/tag339.xml"/></Relationships>
</file>

<file path=ppt/slides/_rels/slide65.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tags" Target="../tags/tag343.xml"/><Relationship Id="rId7" Type="http://schemas.openxmlformats.org/officeDocument/2006/relationships/notesSlide" Target="../notesSlides/notesSlide43.xml"/><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slideLayout" Target="../slideLayouts/slideLayout2.xml"/><Relationship Id="rId5" Type="http://schemas.openxmlformats.org/officeDocument/2006/relationships/tags" Target="../tags/tag345.xml"/><Relationship Id="rId4" Type="http://schemas.openxmlformats.org/officeDocument/2006/relationships/tags" Target="../tags/tag34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4" y="1061577"/>
            <a:ext cx="9789514"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p>
        </p:txBody>
      </p:sp>
    </p:spTree>
    <p:custDataLst>
      <p:tags r:id="rId1"/>
    </p:custDataLst>
  </p:cSld>
  <p:clrMapOvr>
    <a:masterClrMapping/>
  </p:clrMapOvr>
  <p:transition>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360000"/>
            <a:ext cx="5257800" cy="535531"/>
          </a:xfrm>
        </p:spPr>
        <p:txBody>
          <a:bodyPr/>
          <a:lstStyle/>
          <a:p>
            <a:r>
              <a:rPr lang="en-US" dirty="0"/>
              <a:t>5 </a:t>
            </a:r>
            <a:r>
              <a:rPr lang="zh-CN" dirty="0"/>
              <a:t>软件维护</a:t>
            </a:r>
            <a:r>
              <a:rPr lang="zh-CN" altLang="en-US" dirty="0"/>
              <a:t>和软件重用</a:t>
            </a:r>
            <a:endParaRPr lang="zh-CN" altLang="zh-CN" dirty="0"/>
          </a:p>
        </p:txBody>
      </p:sp>
      <p:sp>
        <p:nvSpPr>
          <p:cNvPr id="100" name="文本框 99"/>
          <p:cNvSpPr txBox="1"/>
          <p:nvPr/>
        </p:nvSpPr>
        <p:spPr>
          <a:xfrm>
            <a:off x="1452880" y="4184876"/>
            <a:ext cx="10137140" cy="1498936"/>
          </a:xfrm>
          <a:prstGeom prst="rect">
            <a:avLst/>
          </a:prstGeom>
          <a:noFill/>
          <a:ln w="9525">
            <a:noFill/>
          </a:ln>
        </p:spPr>
        <p:txBody>
          <a:bodyPr wrap="square">
            <a:spAutoFit/>
          </a:bodyPr>
          <a:lstStyle/>
          <a:p>
            <a:pPr marL="0" indent="0" algn="l" fontAlgn="auto">
              <a:lnSpc>
                <a:spcPct val="130000"/>
              </a:lnSpc>
            </a:pPr>
            <a:r>
              <a:rPr lang="zh-CN" altLang="en-US" dirty="0">
                <a:sym typeface="+mn-ea"/>
              </a:rPr>
              <a:t>软件重用 </a:t>
            </a:r>
            <a:r>
              <a:rPr lang="en-US" altLang="zh-CN" dirty="0">
                <a:sym typeface="+mn-ea"/>
              </a:rPr>
              <a:t>reuse</a:t>
            </a:r>
          </a:p>
          <a:p>
            <a:pPr marL="0" indent="457200" algn="l" fontAlgn="auto">
              <a:lnSpc>
                <a:spcPct val="130000"/>
              </a:lnSpc>
            </a:pPr>
            <a:r>
              <a:rPr lang="zh-CN" altLang="en-US" dirty="0">
                <a:sym typeface="+mn-ea"/>
              </a:rPr>
              <a:t>在软件开发、维护过程中</a:t>
            </a:r>
            <a:r>
              <a:rPr lang="zh-CN" altLang="en-US" dirty="0">
                <a:solidFill>
                  <a:srgbClr val="00B0F0"/>
                </a:solidFill>
                <a:sym typeface="+mn-ea"/>
              </a:rPr>
              <a:t>不作修改</a:t>
            </a:r>
            <a:r>
              <a:rPr lang="zh-CN" altLang="en-US" dirty="0">
                <a:sym typeface="+mn-ea"/>
              </a:rPr>
              <a:t>或</a:t>
            </a:r>
            <a:r>
              <a:rPr lang="zh-CN" altLang="en-US" dirty="0">
                <a:solidFill>
                  <a:srgbClr val="00B0F0"/>
                </a:solidFill>
                <a:sym typeface="+mn-ea"/>
              </a:rPr>
              <a:t>稍加修改</a:t>
            </a:r>
            <a:r>
              <a:rPr lang="zh-CN" altLang="en-US" dirty="0">
                <a:sym typeface="+mn-ea"/>
              </a:rPr>
              <a:t>就可以重复使用相同或相似的软件元素的过程。</a:t>
            </a:r>
            <a:endParaRPr lang="en-US" altLang="zh-CN" dirty="0">
              <a:sym typeface="+mn-ea"/>
            </a:endParaRPr>
          </a:p>
          <a:p>
            <a:pPr marL="0" indent="457200" algn="l" fontAlgn="auto">
              <a:lnSpc>
                <a:spcPct val="130000"/>
              </a:lnSpc>
            </a:pPr>
            <a:r>
              <a:rPr lang="zh-CN" altLang="en-US" dirty="0">
                <a:sym typeface="+mn-ea"/>
              </a:rPr>
              <a:t>能更快、更好、成本更低地生产软件</a:t>
            </a:r>
            <a:endParaRPr lang="en-US" altLang="zh-CN" dirty="0">
              <a:sym typeface="+mn-ea"/>
            </a:endParaRPr>
          </a:p>
          <a:p>
            <a:pPr marL="0" indent="457200" algn="l" fontAlgn="auto">
              <a:lnSpc>
                <a:spcPct val="130000"/>
              </a:lnSpc>
            </a:pPr>
            <a:r>
              <a:rPr lang="zh-CN" altLang="en-US" dirty="0">
                <a:sym typeface="+mn-ea"/>
              </a:rPr>
              <a:t>软件重用技术、逆向工程和再工程</a:t>
            </a:r>
          </a:p>
        </p:txBody>
      </p:sp>
      <p:sp>
        <p:nvSpPr>
          <p:cNvPr id="7" name="文本框 6"/>
          <p:cNvSpPr txBox="1"/>
          <p:nvPr/>
        </p:nvSpPr>
        <p:spPr>
          <a:xfrm>
            <a:off x="753728" y="2626360"/>
            <a:ext cx="461665" cy="2169825"/>
          </a:xfrm>
          <a:prstGeom prst="rect">
            <a:avLst/>
          </a:prstGeom>
          <a:noFill/>
        </p:spPr>
        <p:txBody>
          <a:bodyPr vert="eaVert" wrap="none" rtlCol="0">
            <a:spAutoFit/>
          </a:bodyPr>
          <a:lstStyle/>
          <a:p>
            <a:pPr algn="l"/>
            <a:r>
              <a:rPr lang="zh-CN" altLang="en-US" dirty="0">
                <a:solidFill>
                  <a:schemeClr val="bg1"/>
                </a:solidFill>
              </a:rPr>
              <a:t>软件维护和软件重用</a:t>
            </a:r>
          </a:p>
        </p:txBody>
      </p:sp>
      <p:sp>
        <p:nvSpPr>
          <p:cNvPr id="2" name="文本框 1">
            <a:extLst>
              <a:ext uri="{FF2B5EF4-FFF2-40B4-BE49-F238E27FC236}">
                <a16:creationId xmlns:a16="http://schemas.microsoft.com/office/drawing/2014/main" id="{1C02ADF1-17A8-8F5B-C34F-0F00A3C5C9CF}"/>
              </a:ext>
            </a:extLst>
          </p:cNvPr>
          <p:cNvSpPr txBox="1"/>
          <p:nvPr/>
        </p:nvSpPr>
        <p:spPr>
          <a:xfrm>
            <a:off x="1452880" y="2090031"/>
            <a:ext cx="9900920" cy="1727461"/>
          </a:xfrm>
          <a:prstGeom prst="rect">
            <a:avLst/>
          </a:prstGeom>
          <a:noFill/>
        </p:spPr>
        <p:txBody>
          <a:bodyPr wrap="square" rtlCol="0">
            <a:spAutoFit/>
          </a:bodyPr>
          <a:lstStyle/>
          <a:p>
            <a:pPr>
              <a:lnSpc>
                <a:spcPct val="120000"/>
              </a:lnSpc>
            </a:pPr>
            <a:r>
              <a:rPr lang="zh-CN" altLang="en-US" dirty="0">
                <a:sym typeface="+mn-ea"/>
              </a:rPr>
              <a:t>软件维护 Software Maintenance</a:t>
            </a:r>
            <a:endParaRPr lang="en-US" altLang="zh-CN" dirty="0">
              <a:sym typeface="+mn-ea"/>
            </a:endParaRPr>
          </a:p>
          <a:p>
            <a:pPr indent="457200">
              <a:lnSpc>
                <a:spcPct val="120000"/>
              </a:lnSpc>
            </a:pPr>
            <a:r>
              <a:rPr lang="zh-CN" altLang="en-US" dirty="0">
                <a:sym typeface="+mn-ea"/>
              </a:rPr>
              <a:t>软件产品交付之后对其进行修改，以</a:t>
            </a:r>
            <a:r>
              <a:rPr lang="zh-CN" altLang="en-US" dirty="0">
                <a:solidFill>
                  <a:srgbClr val="00B0F0"/>
                </a:solidFill>
                <a:sym typeface="+mn-ea"/>
              </a:rPr>
              <a:t>排除故障</a:t>
            </a:r>
            <a:r>
              <a:rPr lang="zh-CN" altLang="en-US" dirty="0">
                <a:sym typeface="+mn-ea"/>
              </a:rPr>
              <a:t>，或</a:t>
            </a:r>
            <a:r>
              <a:rPr lang="zh-CN" altLang="en-US" dirty="0">
                <a:solidFill>
                  <a:srgbClr val="00B0F0"/>
                </a:solidFill>
                <a:sym typeface="+mn-ea"/>
              </a:rPr>
              <a:t>改进性能和其他属性</a:t>
            </a:r>
            <a:r>
              <a:rPr lang="zh-CN" altLang="en-US" dirty="0">
                <a:sym typeface="+mn-ea"/>
              </a:rPr>
              <a:t>，或使产品</a:t>
            </a:r>
            <a:r>
              <a:rPr lang="zh-CN" altLang="en-US" dirty="0">
                <a:solidFill>
                  <a:srgbClr val="00B0F0"/>
                </a:solidFill>
                <a:sym typeface="+mn-ea"/>
              </a:rPr>
              <a:t>适应改变了的环境</a:t>
            </a:r>
            <a:endParaRPr lang="en-US" altLang="zh-CN" dirty="0">
              <a:solidFill>
                <a:srgbClr val="00B0F0"/>
              </a:solidFill>
              <a:sym typeface="+mn-ea"/>
            </a:endParaRPr>
          </a:p>
          <a:p>
            <a:pPr indent="457200">
              <a:lnSpc>
                <a:spcPct val="120000"/>
              </a:lnSpc>
            </a:pPr>
            <a:r>
              <a:rPr lang="zh-CN" altLang="en-US" dirty="0">
                <a:solidFill>
                  <a:srgbClr val="00B0F0"/>
                </a:solidFill>
                <a:latin typeface="+mj-ea"/>
                <a:sym typeface="+mn-ea"/>
              </a:rPr>
              <a:t>持续时间最长</a:t>
            </a:r>
            <a:endParaRPr lang="en-US" altLang="zh-CN" dirty="0">
              <a:sym typeface="+mn-ea"/>
            </a:endParaRPr>
          </a:p>
          <a:p>
            <a:pPr indent="457200">
              <a:lnSpc>
                <a:spcPct val="120000"/>
              </a:lnSpc>
            </a:pPr>
            <a:r>
              <a:rPr lang="zh-CN" altLang="en-US" dirty="0">
                <a:solidFill>
                  <a:srgbClr val="00B0F0"/>
                </a:solidFill>
                <a:sym typeface="+mn-ea"/>
              </a:rPr>
              <a:t>花费精力和费用最多</a:t>
            </a:r>
            <a:endParaRPr lang="zh-CN" altLang="en-US" dirty="0">
              <a:solidFill>
                <a:schemeClr val="bg1"/>
              </a:solidFill>
            </a:endParaRPr>
          </a:p>
        </p:txBody>
      </p:sp>
    </p:spTree>
    <p:custDataLst>
      <p:tags r:id="rId1"/>
    </p:custDataLst>
  </p:cSld>
  <p:clrMapOvr>
    <a:masterClrMapping/>
  </p:clrMapOvr>
  <p:transition>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6166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mj-ea"/>
                <a:ea typeface="+mj-ea"/>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mj-ea"/>
                <a:ea typeface="+mj-ea"/>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pic>
        <p:nvPicPr>
          <p:cNvPr id="47" name="图片 14"/>
          <p:cNvPicPr>
            <a:picLocks noChangeAspect="1"/>
          </p:cNvPicPr>
          <p:nvPr/>
        </p:nvPicPr>
        <p:blipFill>
          <a:blip r:embed="rId9" cstate="print"/>
          <a:stretch>
            <a:fillRect/>
          </a:stretch>
        </p:blipFill>
        <p:spPr>
          <a:xfrm>
            <a:off x="4733290" y="2599055"/>
            <a:ext cx="611505" cy="611505"/>
          </a:xfrm>
          <a:prstGeom prst="rect">
            <a:avLst/>
          </a:prstGeom>
          <a:noFill/>
          <a:ln w="9525">
            <a:noFill/>
          </a:ln>
        </p:spPr>
      </p:pic>
      <p:sp>
        <p:nvSpPr>
          <p:cNvPr id="48" name="椭圆 47"/>
          <p:cNvSpPr/>
          <p:nvPr/>
        </p:nvSpPr>
        <p:spPr>
          <a:xfrm>
            <a:off x="4733290" y="2599055"/>
            <a:ext cx="611505" cy="61150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5466715" y="2599055"/>
            <a:ext cx="4351655" cy="60960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5747385" y="2659380"/>
            <a:ext cx="3947795"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软件维护</a:t>
            </a:r>
          </a:p>
        </p:txBody>
      </p:sp>
      <p:sp>
        <p:nvSpPr>
          <p:cNvPr id="53" name="文本框 21"/>
          <p:cNvSpPr txBox="1"/>
          <p:nvPr/>
        </p:nvSpPr>
        <p:spPr>
          <a:xfrm>
            <a:off x="4771390" y="2684780"/>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pic>
        <p:nvPicPr>
          <p:cNvPr id="54" name="图片 24"/>
          <p:cNvPicPr>
            <a:picLocks noChangeAspect="1"/>
          </p:cNvPicPr>
          <p:nvPr/>
        </p:nvPicPr>
        <p:blipFill>
          <a:blip r:embed="rId9" cstate="print"/>
          <a:stretch>
            <a:fillRect/>
          </a:stretch>
        </p:blipFill>
        <p:spPr>
          <a:xfrm>
            <a:off x="4099560" y="3518535"/>
            <a:ext cx="611505" cy="612775"/>
          </a:xfrm>
          <a:prstGeom prst="rect">
            <a:avLst/>
          </a:prstGeom>
          <a:noFill/>
          <a:ln w="9525">
            <a:noFill/>
          </a:ln>
        </p:spPr>
      </p:pic>
      <p:sp>
        <p:nvSpPr>
          <p:cNvPr id="55" name="椭圆 54"/>
          <p:cNvSpPr/>
          <p:nvPr/>
        </p:nvSpPr>
        <p:spPr>
          <a:xfrm>
            <a:off x="4099560" y="3518535"/>
            <a:ext cx="611505" cy="61277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4832985" y="3518535"/>
            <a:ext cx="4038600" cy="611505"/>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5114290" y="3580765"/>
            <a:ext cx="33147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软件重用和再工程</a:t>
            </a:r>
          </a:p>
        </p:txBody>
      </p:sp>
      <p:sp>
        <p:nvSpPr>
          <p:cNvPr id="60" name="文本框 28"/>
          <p:cNvSpPr txBox="1"/>
          <p:nvPr/>
        </p:nvSpPr>
        <p:spPr>
          <a:xfrm>
            <a:off x="4137660" y="3606165"/>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spTree>
    <p:custDataLst>
      <p:tags r:id="rId1"/>
    </p:custDataLst>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2" name="椭圆 1"/>
          <p:cNvSpPr/>
          <p:nvPr/>
        </p:nvSpPr>
        <p:spPr>
          <a:xfrm>
            <a:off x="3428455" y="2169500"/>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3766951" y="2565770"/>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sp>
        <p:nvSpPr>
          <p:cNvPr id="40" name="文本框 39"/>
          <p:cNvSpPr txBox="1"/>
          <p:nvPr/>
        </p:nvSpPr>
        <p:spPr>
          <a:xfrm>
            <a:off x="6006555" y="2913198"/>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软件维护</a:t>
            </a:r>
          </a:p>
        </p:txBody>
      </p:sp>
      <p:sp>
        <p:nvSpPr>
          <p:cNvPr id="48" name="文本框 47"/>
          <p:cNvSpPr txBox="1"/>
          <p:nvPr/>
        </p:nvSpPr>
        <p:spPr>
          <a:xfrm>
            <a:off x="6006465" y="4135755"/>
            <a:ext cx="3712845" cy="40011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软件维护的种类</a:t>
            </a:r>
          </a:p>
        </p:txBody>
      </p:sp>
      <p:sp>
        <p:nvSpPr>
          <p:cNvPr id="50" name="文本框 49"/>
          <p:cNvSpPr txBox="1"/>
          <p:nvPr/>
        </p:nvSpPr>
        <p:spPr>
          <a:xfrm>
            <a:off x="6006465" y="4631055"/>
            <a:ext cx="3712845" cy="40011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软件维护的特点</a:t>
            </a:r>
          </a:p>
        </p:txBody>
      </p:sp>
      <p:sp>
        <p:nvSpPr>
          <p:cNvPr id="5" name="文本框 4"/>
          <p:cNvSpPr txBox="1"/>
          <p:nvPr/>
        </p:nvSpPr>
        <p:spPr>
          <a:xfrm>
            <a:off x="8722360" y="4135755"/>
            <a:ext cx="2360295" cy="40005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软件维护过程</a:t>
            </a:r>
          </a:p>
        </p:txBody>
      </p:sp>
      <p:sp>
        <p:nvSpPr>
          <p:cNvPr id="6" name="文本框 5"/>
          <p:cNvSpPr txBox="1"/>
          <p:nvPr/>
        </p:nvSpPr>
        <p:spPr>
          <a:xfrm>
            <a:off x="8722360" y="4631055"/>
            <a:ext cx="2910840" cy="40005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提高软件的可维护性</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lstStyle/>
          <a:p>
            <a:r>
              <a:rPr lang="en-US" dirty="0">
                <a:sym typeface="+mn-ea"/>
              </a:rPr>
              <a:t>5.1 </a:t>
            </a:r>
            <a:r>
              <a:rPr lang="zh-CN" altLang="en-US" dirty="0">
                <a:sym typeface="+mn-ea"/>
              </a:rPr>
              <a:t>软件维护</a:t>
            </a:r>
          </a:p>
        </p:txBody>
      </p:sp>
      <p:sp>
        <p:nvSpPr>
          <p:cNvPr id="19" name="椭圆 18"/>
          <p:cNvSpPr/>
          <p:nvPr>
            <p:custDataLst>
              <p:tags r:id="rId2"/>
            </p:custDataLst>
          </p:nvPr>
        </p:nvSpPr>
        <p:spPr>
          <a:xfrm>
            <a:off x="4558352" y="3723290"/>
            <a:ext cx="1694473" cy="1591660"/>
          </a:xfrm>
          <a:prstGeom prst="ellipse">
            <a:avLst/>
          </a:prstGeom>
          <a:solidFill>
            <a:srgbClr val="B71F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20" name="文本框 22"/>
          <p:cNvSpPr txBox="1">
            <a:spLocks noChangeArrowheads="1"/>
          </p:cNvSpPr>
          <p:nvPr>
            <p:custDataLst>
              <p:tags r:id="rId3"/>
            </p:custDataLst>
          </p:nvPr>
        </p:nvSpPr>
        <p:spPr bwMode="auto">
          <a:xfrm>
            <a:off x="5122100" y="4110848"/>
            <a:ext cx="566977" cy="81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mn-lt"/>
                <a:ea typeface="+mn-ea"/>
              </a:rPr>
              <a:t>4</a:t>
            </a:r>
            <a:endParaRPr lang="zh-CN" altLang="en-US" sz="6600" b="1" dirty="0">
              <a:solidFill>
                <a:schemeClr val="bg1"/>
              </a:solidFill>
              <a:latin typeface="+mn-lt"/>
              <a:ea typeface="+mn-ea"/>
            </a:endParaRPr>
          </a:p>
        </p:txBody>
      </p:sp>
      <p:sp>
        <p:nvSpPr>
          <p:cNvPr id="39" name="椭圆 38"/>
          <p:cNvSpPr/>
          <p:nvPr>
            <p:custDataLst>
              <p:tags r:id="rId4"/>
            </p:custDataLst>
          </p:nvPr>
        </p:nvSpPr>
        <p:spPr>
          <a:xfrm>
            <a:off x="4558352" y="2606722"/>
            <a:ext cx="1694473" cy="1591660"/>
          </a:xfrm>
          <a:prstGeom prst="ellipse">
            <a:avLst/>
          </a:prstGeom>
          <a:solidFill>
            <a:srgbClr val="67B6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0" name="椭圆 39"/>
          <p:cNvSpPr/>
          <p:nvPr>
            <p:custDataLst>
              <p:tags r:id="rId5"/>
            </p:custDataLst>
          </p:nvPr>
        </p:nvSpPr>
        <p:spPr>
          <a:xfrm>
            <a:off x="5780775" y="2606722"/>
            <a:ext cx="1694473" cy="1591660"/>
          </a:xfrm>
          <a:prstGeom prst="ellipse">
            <a:avLst/>
          </a:prstGeom>
          <a:solidFill>
            <a:srgbClr val="B71F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2" name="椭圆 41"/>
          <p:cNvSpPr/>
          <p:nvPr>
            <p:custDataLst>
              <p:tags r:id="rId6"/>
            </p:custDataLst>
          </p:nvPr>
        </p:nvSpPr>
        <p:spPr>
          <a:xfrm>
            <a:off x="5780775" y="3723290"/>
            <a:ext cx="1694473" cy="1591660"/>
          </a:xfrm>
          <a:prstGeom prst="ellipse">
            <a:avLst/>
          </a:prstGeom>
          <a:solidFill>
            <a:srgbClr val="67B6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43" name="组合 42"/>
          <p:cNvGrpSpPr/>
          <p:nvPr>
            <p:custDataLst>
              <p:tags r:id="rId7"/>
            </p:custDataLst>
          </p:nvPr>
        </p:nvGrpSpPr>
        <p:grpSpPr>
          <a:xfrm>
            <a:off x="4800512" y="2847943"/>
            <a:ext cx="2428702" cy="2213758"/>
            <a:chOff x="4933659" y="1528513"/>
            <a:chExt cx="3096541" cy="3006076"/>
          </a:xfrm>
          <a:solidFill>
            <a:schemeClr val="bg1"/>
          </a:solidFill>
        </p:grpSpPr>
        <p:sp>
          <p:nvSpPr>
            <p:cNvPr id="44" name="Freeform 16@|5FFC:0|FBC:0|LFC:16777215|LBC:16777215"/>
            <p:cNvSpPr/>
            <p:nvPr>
              <p:custDataLst>
                <p:tags r:id="rId11"/>
              </p:custDataLst>
            </p:nvPr>
          </p:nvSpPr>
          <p:spPr>
            <a:xfrm>
              <a:off x="6181299" y="1528513"/>
              <a:ext cx="601263" cy="1489462"/>
            </a:xfrm>
            <a:custGeom>
              <a:avLst/>
              <a:gdLst>
                <a:gd name="connsiteX0" fmla="*/ 300632 w 601263"/>
                <a:gd name="connsiteY0" fmla="*/ 0 h 1489462"/>
                <a:gd name="connsiteX1" fmla="*/ 416779 w 601263"/>
                <a:gd name="connsiteY1" fmla="*/ 140772 h 1489462"/>
                <a:gd name="connsiteX2" fmla="*/ 601263 w 601263"/>
                <a:gd name="connsiteY2" fmla="*/ 744731 h 1489462"/>
                <a:gd name="connsiteX3" fmla="*/ 416779 w 601263"/>
                <a:gd name="connsiteY3" fmla="*/ 1348690 h 1489462"/>
                <a:gd name="connsiteX4" fmla="*/ 300632 w 601263"/>
                <a:gd name="connsiteY4" fmla="*/ 1489462 h 1489462"/>
                <a:gd name="connsiteX5" fmla="*/ 184484 w 601263"/>
                <a:gd name="connsiteY5" fmla="*/ 1348690 h 1489462"/>
                <a:gd name="connsiteX6" fmla="*/ 0 w 601263"/>
                <a:gd name="connsiteY6" fmla="*/ 744731 h 1489462"/>
                <a:gd name="connsiteX7" fmla="*/ 184484 w 601263"/>
                <a:gd name="connsiteY7" fmla="*/ 140772 h 1489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2">
                  <a:moveTo>
                    <a:pt x="300632" y="0"/>
                  </a:moveTo>
                  <a:lnTo>
                    <a:pt x="416779" y="140772"/>
                  </a:lnTo>
                  <a:cubicBezTo>
                    <a:pt x="533253" y="313176"/>
                    <a:pt x="601263" y="521011"/>
                    <a:pt x="601263" y="744731"/>
                  </a:cubicBezTo>
                  <a:cubicBezTo>
                    <a:pt x="601263" y="968451"/>
                    <a:pt x="533253" y="1176287"/>
                    <a:pt x="416779" y="1348690"/>
                  </a:cubicBezTo>
                  <a:lnTo>
                    <a:pt x="300632" y="1489462"/>
                  </a:lnTo>
                  <a:lnTo>
                    <a:pt x="184484" y="1348690"/>
                  </a:lnTo>
                  <a:cubicBezTo>
                    <a:pt x="68011" y="1176287"/>
                    <a:pt x="0" y="968451"/>
                    <a:pt x="0" y="744731"/>
                  </a:cubicBezTo>
                  <a:cubicBezTo>
                    <a:pt x="0" y="521011"/>
                    <a:pt x="68011" y="313176"/>
                    <a:pt x="184484" y="14077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5" name="Freeform 17@|5FFC:0|FBC:0|LFC:16777215|LBC:16777215"/>
            <p:cNvSpPr/>
            <p:nvPr>
              <p:custDataLst>
                <p:tags r:id="rId12"/>
              </p:custDataLst>
            </p:nvPr>
          </p:nvSpPr>
          <p:spPr>
            <a:xfrm>
              <a:off x="6181299" y="3045126"/>
              <a:ext cx="601263" cy="1489463"/>
            </a:xfrm>
            <a:custGeom>
              <a:avLst/>
              <a:gdLst>
                <a:gd name="connsiteX0" fmla="*/ 300923 w 601263"/>
                <a:gd name="connsiteY0" fmla="*/ 0 h 1489463"/>
                <a:gd name="connsiteX1" fmla="*/ 416779 w 601263"/>
                <a:gd name="connsiteY1" fmla="*/ 140419 h 1489463"/>
                <a:gd name="connsiteX2" fmla="*/ 601263 w 601263"/>
                <a:gd name="connsiteY2" fmla="*/ 744378 h 1489463"/>
                <a:gd name="connsiteX3" fmla="*/ 416779 w 601263"/>
                <a:gd name="connsiteY3" fmla="*/ 1348337 h 1489463"/>
                <a:gd name="connsiteX4" fmla="*/ 300340 w 601263"/>
                <a:gd name="connsiteY4" fmla="*/ 1489463 h 1489463"/>
                <a:gd name="connsiteX5" fmla="*/ 184484 w 601263"/>
                <a:gd name="connsiteY5" fmla="*/ 1349044 h 1489463"/>
                <a:gd name="connsiteX6" fmla="*/ 0 w 601263"/>
                <a:gd name="connsiteY6" fmla="*/ 745085 h 1489463"/>
                <a:gd name="connsiteX7" fmla="*/ 184484 w 601263"/>
                <a:gd name="connsiteY7" fmla="*/ 141126 h 148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263" h="1489463">
                  <a:moveTo>
                    <a:pt x="300923" y="0"/>
                  </a:moveTo>
                  <a:lnTo>
                    <a:pt x="416779" y="140419"/>
                  </a:lnTo>
                  <a:cubicBezTo>
                    <a:pt x="533253" y="312823"/>
                    <a:pt x="601263" y="520658"/>
                    <a:pt x="601263" y="744378"/>
                  </a:cubicBezTo>
                  <a:cubicBezTo>
                    <a:pt x="601263" y="968098"/>
                    <a:pt x="533253" y="1175934"/>
                    <a:pt x="416779" y="1348337"/>
                  </a:cubicBezTo>
                  <a:lnTo>
                    <a:pt x="300340" y="1489463"/>
                  </a:lnTo>
                  <a:lnTo>
                    <a:pt x="184484" y="1349044"/>
                  </a:lnTo>
                  <a:cubicBezTo>
                    <a:pt x="68011" y="1176641"/>
                    <a:pt x="0" y="968805"/>
                    <a:pt x="0" y="745085"/>
                  </a:cubicBezTo>
                  <a:cubicBezTo>
                    <a:pt x="0" y="521365"/>
                    <a:pt x="68011" y="313530"/>
                    <a:pt x="184484" y="14112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6" name="Freeform 18@|5FFC:0|FBC:0|LFC:16777215|LBC:16777215"/>
            <p:cNvSpPr/>
            <p:nvPr>
              <p:custDataLst>
                <p:tags r:id="rId13"/>
              </p:custDataLst>
            </p:nvPr>
          </p:nvSpPr>
          <p:spPr>
            <a:xfrm>
              <a:off x="4933659" y="2709994"/>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sp>
          <p:nvSpPr>
            <p:cNvPr id="47" name="Freeform 19@|5FFC:0|FBC:0|LFC:16777215|LBC:16777215"/>
            <p:cNvSpPr/>
            <p:nvPr>
              <p:custDataLst>
                <p:tags r:id="rId14"/>
              </p:custDataLst>
            </p:nvPr>
          </p:nvSpPr>
          <p:spPr>
            <a:xfrm>
              <a:off x="6492828" y="2708580"/>
              <a:ext cx="1537372" cy="643466"/>
            </a:xfrm>
            <a:custGeom>
              <a:avLst/>
              <a:gdLst>
                <a:gd name="connsiteX0" fmla="*/ 768686 w 1537372"/>
                <a:gd name="connsiteY0" fmla="*/ 0 h 643466"/>
                <a:gd name="connsiteX1" fmla="*/ 1532514 w 1537372"/>
                <a:gd name="connsiteY1" fmla="*/ 316388 h 643466"/>
                <a:gd name="connsiteX2" fmla="*/ 1537372 w 1537372"/>
                <a:gd name="connsiteY2" fmla="*/ 321733 h 643466"/>
                <a:gd name="connsiteX3" fmla="*/ 1532514 w 1537372"/>
                <a:gd name="connsiteY3" fmla="*/ 327078 h 643466"/>
                <a:gd name="connsiteX4" fmla="*/ 768686 w 1537372"/>
                <a:gd name="connsiteY4" fmla="*/ 643466 h 643466"/>
                <a:gd name="connsiteX5" fmla="*/ 4858 w 1537372"/>
                <a:gd name="connsiteY5" fmla="*/ 327078 h 643466"/>
                <a:gd name="connsiteX6" fmla="*/ 0 w 1537372"/>
                <a:gd name="connsiteY6" fmla="*/ 321733 h 643466"/>
                <a:gd name="connsiteX7" fmla="*/ 4858 w 1537372"/>
                <a:gd name="connsiteY7" fmla="*/ 316388 h 643466"/>
                <a:gd name="connsiteX8" fmla="*/ 768686 w 1537372"/>
                <a:gd name="connsiteY8" fmla="*/ 0 h 6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7372" h="643466">
                  <a:moveTo>
                    <a:pt x="768686" y="0"/>
                  </a:moveTo>
                  <a:cubicBezTo>
                    <a:pt x="1066980" y="0"/>
                    <a:pt x="1337034" y="120907"/>
                    <a:pt x="1532514" y="316388"/>
                  </a:cubicBezTo>
                  <a:lnTo>
                    <a:pt x="1537372" y="321733"/>
                  </a:lnTo>
                  <a:lnTo>
                    <a:pt x="1532514" y="327078"/>
                  </a:lnTo>
                  <a:cubicBezTo>
                    <a:pt x="1337034" y="522559"/>
                    <a:pt x="1066980" y="643466"/>
                    <a:pt x="768686" y="643466"/>
                  </a:cubicBezTo>
                  <a:cubicBezTo>
                    <a:pt x="470393" y="643466"/>
                    <a:pt x="200339" y="522559"/>
                    <a:pt x="4858" y="327078"/>
                  </a:cubicBezTo>
                  <a:lnTo>
                    <a:pt x="0" y="321733"/>
                  </a:lnTo>
                  <a:lnTo>
                    <a:pt x="4858" y="316388"/>
                  </a:lnTo>
                  <a:cubicBezTo>
                    <a:pt x="200339" y="120907"/>
                    <a:pt x="470393" y="0"/>
                    <a:pt x="768686"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sp>
        <p:nvSpPr>
          <p:cNvPr id="48" name="文本框 20"/>
          <p:cNvSpPr txBox="1">
            <a:spLocks noChangeArrowheads="1"/>
          </p:cNvSpPr>
          <p:nvPr>
            <p:custDataLst>
              <p:tags r:id="rId8"/>
            </p:custDataLst>
          </p:nvPr>
        </p:nvSpPr>
        <p:spPr bwMode="auto">
          <a:xfrm>
            <a:off x="5122100" y="2994280"/>
            <a:ext cx="566977" cy="81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mn-lt"/>
                <a:ea typeface="+mn-ea"/>
              </a:rPr>
              <a:t>1</a:t>
            </a:r>
            <a:endParaRPr lang="zh-CN" altLang="en-US" sz="6600" b="1" dirty="0">
              <a:solidFill>
                <a:schemeClr val="bg1"/>
              </a:solidFill>
              <a:latin typeface="+mn-lt"/>
              <a:ea typeface="+mn-ea"/>
            </a:endParaRPr>
          </a:p>
        </p:txBody>
      </p:sp>
      <p:sp>
        <p:nvSpPr>
          <p:cNvPr id="49" name="文本框 21"/>
          <p:cNvSpPr txBox="1">
            <a:spLocks noChangeArrowheads="1"/>
          </p:cNvSpPr>
          <p:nvPr>
            <p:custDataLst>
              <p:tags r:id="rId9"/>
            </p:custDataLst>
          </p:nvPr>
        </p:nvSpPr>
        <p:spPr bwMode="auto">
          <a:xfrm>
            <a:off x="6345169" y="2994280"/>
            <a:ext cx="565685" cy="81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mn-lt"/>
                <a:ea typeface="+mn-ea"/>
              </a:rPr>
              <a:t>2</a:t>
            </a:r>
            <a:endParaRPr lang="zh-CN" altLang="en-US" sz="6600" b="1" dirty="0">
              <a:solidFill>
                <a:schemeClr val="bg1"/>
              </a:solidFill>
              <a:latin typeface="+mn-lt"/>
              <a:ea typeface="+mn-ea"/>
            </a:endParaRPr>
          </a:p>
        </p:txBody>
      </p:sp>
      <p:sp>
        <p:nvSpPr>
          <p:cNvPr id="51" name="文本框 23"/>
          <p:cNvSpPr txBox="1">
            <a:spLocks noChangeArrowheads="1"/>
          </p:cNvSpPr>
          <p:nvPr>
            <p:custDataLst>
              <p:tags r:id="rId10"/>
            </p:custDataLst>
          </p:nvPr>
        </p:nvSpPr>
        <p:spPr bwMode="auto">
          <a:xfrm>
            <a:off x="6345169" y="4110848"/>
            <a:ext cx="565685" cy="81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spcBef>
                <a:spcPct val="0"/>
              </a:spcBef>
              <a:buFontTx/>
              <a:buNone/>
            </a:pPr>
            <a:r>
              <a:rPr lang="en-US" altLang="zh-CN" sz="6600" b="1" dirty="0">
                <a:solidFill>
                  <a:schemeClr val="bg1"/>
                </a:solidFill>
                <a:latin typeface="+mn-lt"/>
                <a:ea typeface="+mn-ea"/>
              </a:rPr>
              <a:t>3</a:t>
            </a:r>
            <a:endParaRPr lang="zh-CN" altLang="en-US" sz="6600" b="1" dirty="0">
              <a:solidFill>
                <a:schemeClr val="bg1"/>
              </a:solidFill>
              <a:latin typeface="+mn-lt"/>
              <a:ea typeface="+mn-ea"/>
            </a:endParaRPr>
          </a:p>
        </p:txBody>
      </p:sp>
      <p:sp>
        <p:nvSpPr>
          <p:cNvPr id="13" name="文本框 12"/>
          <p:cNvSpPr txBox="1"/>
          <p:nvPr/>
        </p:nvSpPr>
        <p:spPr>
          <a:xfrm>
            <a:off x="420370" y="4437883"/>
            <a:ext cx="4120886" cy="1106008"/>
          </a:xfrm>
          <a:prstGeom prst="rect">
            <a:avLst/>
          </a:prstGeom>
          <a:noFill/>
        </p:spPr>
        <p:txBody>
          <a:bodyPr wrap="square" rtlCol="0">
            <a:spAutoFit/>
          </a:bodyPr>
          <a:lstStyle/>
          <a:p>
            <a:pPr algn="just">
              <a:lnSpc>
                <a:spcPct val="120000"/>
              </a:lnSpc>
              <a:buFontTx/>
            </a:pPr>
            <a:r>
              <a:rPr lang="en-US" altLang="zh-CN" sz="1400" dirty="0">
                <a:solidFill>
                  <a:srgbClr val="00B0F0"/>
                </a:solidFill>
                <a:latin typeface="微软雅黑" panose="020B0503020204020204" charset="-122"/>
                <a:ea typeface="微软雅黑" panose="020B0503020204020204" charset="-122"/>
                <a:sym typeface="+mn-ea"/>
              </a:rPr>
              <a:t>4. </a:t>
            </a:r>
            <a:r>
              <a:rPr lang="zh-CN" altLang="en-US" sz="1400" dirty="0">
                <a:solidFill>
                  <a:srgbClr val="00B0F0"/>
                </a:solidFill>
                <a:latin typeface="微软雅黑" panose="020B0503020204020204" charset="-122"/>
                <a:ea typeface="微软雅黑" panose="020B0503020204020204" charset="-122"/>
                <a:sym typeface="+mn-ea"/>
              </a:rPr>
              <a:t>预防性维护 </a:t>
            </a:r>
            <a:r>
              <a:rPr lang="en-US" altLang="zh-CN" sz="1400" dirty="0">
                <a:solidFill>
                  <a:srgbClr val="00B0F0"/>
                </a:solidFill>
                <a:latin typeface="微软雅黑" panose="020B0503020204020204" charset="-122"/>
                <a:ea typeface="微软雅黑" panose="020B0503020204020204" charset="-122"/>
                <a:sym typeface="+mn-ea"/>
              </a:rPr>
              <a:t>Preventive Maintenance</a:t>
            </a:r>
            <a:endParaRPr lang="zh-CN" altLang="en-US" sz="1400" dirty="0">
              <a:solidFill>
                <a:srgbClr val="00B0F0"/>
              </a:solidFill>
              <a:latin typeface="微软雅黑" panose="020B0503020204020204" charset="-122"/>
              <a:ea typeface="微软雅黑" panose="020B0503020204020204" charset="-122"/>
              <a:sym typeface="+mn-ea"/>
            </a:endParaRPr>
          </a:p>
          <a:p>
            <a:pPr algn="just">
              <a:lnSpc>
                <a:spcPct val="120000"/>
              </a:lnSpc>
              <a:buFontTx/>
            </a:pPr>
            <a:r>
              <a:rPr lang="zh-CN" altLang="en-US" sz="1400" dirty="0">
                <a:latin typeface="+mn-ea"/>
                <a:sym typeface="+mn-ea"/>
              </a:rPr>
              <a:t>为了进一步提高软件的可维护性和可靠性，为改进软件性能</a:t>
            </a:r>
            <a:r>
              <a:rPr lang="zh-CN" altLang="en-US" sz="1400" b="1" dirty="0">
                <a:latin typeface="+mn-ea"/>
                <a:sym typeface="+mn-ea"/>
              </a:rPr>
              <a:t>创造条件</a:t>
            </a:r>
            <a:r>
              <a:rPr lang="zh-CN" altLang="en-US" sz="1400" dirty="0">
                <a:latin typeface="+mn-ea"/>
                <a:sym typeface="+mn-ea"/>
              </a:rPr>
              <a:t>，需要对软件进行的其他维护称为预防性维护。</a:t>
            </a:r>
          </a:p>
        </p:txBody>
      </p:sp>
      <p:sp>
        <p:nvSpPr>
          <p:cNvPr id="4" name="TextBox 6">
            <a:extLst>
              <a:ext uri="{FF2B5EF4-FFF2-40B4-BE49-F238E27FC236}">
                <a16:creationId xmlns:a16="http://schemas.microsoft.com/office/drawing/2014/main" id="{EE38495F-70E2-85B7-0C3B-0D64A015B1D2}"/>
              </a:ext>
            </a:extLst>
          </p:cNvPr>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5.1.1 </a:t>
            </a:r>
            <a:r>
              <a:rPr lang="zh-CN" altLang="en-US" sz="2400" dirty="0">
                <a:solidFill>
                  <a:schemeClr val="tx1"/>
                </a:solidFill>
              </a:rPr>
              <a:t>软件维护的种类</a:t>
            </a:r>
          </a:p>
        </p:txBody>
      </p:sp>
      <p:sp>
        <p:nvSpPr>
          <p:cNvPr id="5" name="文本框 4">
            <a:extLst>
              <a:ext uri="{FF2B5EF4-FFF2-40B4-BE49-F238E27FC236}">
                <a16:creationId xmlns:a16="http://schemas.microsoft.com/office/drawing/2014/main" id="{F819011E-DF40-4434-2A2A-EC11F7549DD9}"/>
              </a:ext>
            </a:extLst>
          </p:cNvPr>
          <p:cNvSpPr txBox="1"/>
          <p:nvPr/>
        </p:nvSpPr>
        <p:spPr>
          <a:xfrm>
            <a:off x="420370" y="2239941"/>
            <a:ext cx="4120886" cy="1621021"/>
          </a:xfrm>
          <a:prstGeom prst="rect">
            <a:avLst/>
          </a:prstGeom>
          <a:noFill/>
        </p:spPr>
        <p:txBody>
          <a:bodyPr wrap="square" rtlCol="0">
            <a:spAutoFit/>
          </a:bodyPr>
          <a:lstStyle/>
          <a:p>
            <a:pPr fontAlgn="auto">
              <a:lnSpc>
                <a:spcPct val="120000"/>
              </a:lnSpc>
            </a:pPr>
            <a:r>
              <a:rPr lang="en-US" altLang="zh-CN" sz="1400" dirty="0">
                <a:solidFill>
                  <a:srgbClr val="00B0F0"/>
                </a:solidFill>
                <a:latin typeface="微软雅黑" panose="020B0503020204020204" charset="-122"/>
                <a:ea typeface="微软雅黑" panose="020B0503020204020204" charset="-122"/>
                <a:sym typeface="+mn-ea"/>
              </a:rPr>
              <a:t>1. </a:t>
            </a:r>
            <a:r>
              <a:rPr lang="zh-CN" altLang="en-US" sz="1400" dirty="0">
                <a:solidFill>
                  <a:srgbClr val="00B0F0"/>
                </a:solidFill>
                <a:latin typeface="微软雅黑" panose="020B0503020204020204" charset="-122"/>
                <a:ea typeface="微软雅黑" panose="020B0503020204020204" charset="-122"/>
                <a:sym typeface="+mn-ea"/>
              </a:rPr>
              <a:t>改正性维护 </a:t>
            </a:r>
            <a:r>
              <a:rPr lang="en-US" altLang="zh-CN" sz="1400" dirty="0">
                <a:solidFill>
                  <a:srgbClr val="00B0F0"/>
                </a:solidFill>
                <a:latin typeface="微软雅黑" panose="020B0503020204020204" charset="-122"/>
                <a:ea typeface="微软雅黑" panose="020B0503020204020204" charset="-122"/>
                <a:sym typeface="+mn-ea"/>
              </a:rPr>
              <a:t>Corrective Maintenance</a:t>
            </a:r>
            <a:endParaRPr lang="zh-CN" altLang="en-US" sz="1400" dirty="0">
              <a:solidFill>
                <a:srgbClr val="00B0F0"/>
              </a:solidFill>
              <a:latin typeface="微软雅黑" panose="020B0503020204020204" charset="-122"/>
              <a:ea typeface="微软雅黑" panose="020B0503020204020204" charset="-122"/>
              <a:sym typeface="+mn-ea"/>
            </a:endParaRPr>
          </a:p>
          <a:p>
            <a:pPr fontAlgn="auto">
              <a:lnSpc>
                <a:spcPct val="120000"/>
              </a:lnSpc>
            </a:pPr>
            <a:r>
              <a:rPr lang="zh-CN" altLang="en-US" sz="1400" dirty="0">
                <a:latin typeface="+mn-ea"/>
                <a:sym typeface="+mn-ea"/>
              </a:rPr>
              <a:t>软件测试不大可能找出一个大型软件系统的全部隐含</a:t>
            </a:r>
            <a:r>
              <a:rPr lang="zh-CN" altLang="en-US" sz="1400" b="1" dirty="0">
                <a:latin typeface="+mn-ea"/>
                <a:sym typeface="+mn-ea"/>
              </a:rPr>
              <a:t>错误</a:t>
            </a:r>
            <a:r>
              <a:rPr lang="zh-CN" altLang="en-US" sz="1400" dirty="0">
                <a:latin typeface="+mn-ea"/>
                <a:sym typeface="+mn-ea"/>
              </a:rPr>
              <a:t>。也就是说，几乎每一个大型程序在运行过程中，都会不可避免地出现各种错误。为克服现有软件故障而进行的维护称为改正性维护。</a:t>
            </a:r>
          </a:p>
          <a:p>
            <a:pPr algn="l">
              <a:lnSpc>
                <a:spcPct val="120000"/>
              </a:lnSpc>
            </a:pPr>
            <a:endParaRPr lang="zh-CN" altLang="en-US" sz="1400" dirty="0">
              <a:solidFill>
                <a:schemeClr val="bg1"/>
              </a:solidFill>
            </a:endParaRPr>
          </a:p>
        </p:txBody>
      </p:sp>
      <p:sp>
        <p:nvSpPr>
          <p:cNvPr id="6" name="文本框 5">
            <a:extLst>
              <a:ext uri="{FF2B5EF4-FFF2-40B4-BE49-F238E27FC236}">
                <a16:creationId xmlns:a16="http://schemas.microsoft.com/office/drawing/2014/main" id="{921D1098-6865-7030-15F0-97075DB676A9}"/>
              </a:ext>
            </a:extLst>
          </p:cNvPr>
          <p:cNvSpPr txBox="1"/>
          <p:nvPr/>
        </p:nvSpPr>
        <p:spPr>
          <a:xfrm>
            <a:off x="7650743" y="2239941"/>
            <a:ext cx="4120887" cy="2267352"/>
          </a:xfrm>
          <a:prstGeom prst="rect">
            <a:avLst/>
          </a:prstGeom>
          <a:noFill/>
        </p:spPr>
        <p:txBody>
          <a:bodyPr wrap="square" rtlCol="0">
            <a:spAutoFit/>
          </a:bodyPr>
          <a:lstStyle/>
          <a:p>
            <a:pPr algn="just">
              <a:lnSpc>
                <a:spcPct val="120000"/>
              </a:lnSpc>
            </a:pPr>
            <a:r>
              <a:rPr lang="en-US" altLang="zh-CN" sz="1400" dirty="0">
                <a:solidFill>
                  <a:srgbClr val="00B0F0"/>
                </a:solidFill>
                <a:latin typeface="微软雅黑" panose="020B0503020204020204" charset="-122"/>
                <a:ea typeface="微软雅黑" panose="020B0503020204020204" charset="-122"/>
                <a:sym typeface="+mn-ea"/>
              </a:rPr>
              <a:t>2. </a:t>
            </a:r>
            <a:r>
              <a:rPr lang="zh-CN" altLang="en-US" sz="1400" dirty="0">
                <a:solidFill>
                  <a:srgbClr val="00B0F0"/>
                </a:solidFill>
                <a:latin typeface="微软雅黑" panose="020B0503020204020204" charset="-122"/>
                <a:ea typeface="微软雅黑" panose="020B0503020204020204" charset="-122"/>
                <a:sym typeface="+mn-ea"/>
              </a:rPr>
              <a:t>适应性维护 </a:t>
            </a:r>
            <a:r>
              <a:rPr lang="en-US" altLang="zh-CN" sz="1400" dirty="0">
                <a:solidFill>
                  <a:srgbClr val="00B0F0"/>
                </a:solidFill>
                <a:latin typeface="微软雅黑" panose="020B0503020204020204" charset="-122"/>
                <a:ea typeface="微软雅黑" panose="020B0503020204020204" charset="-122"/>
                <a:sym typeface="+mn-ea"/>
              </a:rPr>
              <a:t>Adaptive Maintenance</a:t>
            </a:r>
            <a:endParaRPr lang="zh-CN" altLang="en-US" sz="1400" dirty="0">
              <a:solidFill>
                <a:srgbClr val="00B0F0"/>
              </a:solidFill>
              <a:latin typeface="微软雅黑" panose="020B0503020204020204" charset="-122"/>
              <a:ea typeface="微软雅黑" panose="020B0503020204020204" charset="-122"/>
              <a:sym typeface="+mn-ea"/>
            </a:endParaRPr>
          </a:p>
          <a:p>
            <a:pPr algn="just" fontAlgn="auto">
              <a:lnSpc>
                <a:spcPct val="130000"/>
              </a:lnSpc>
            </a:pPr>
            <a:r>
              <a:rPr lang="zh-CN" altLang="en-US" sz="1400" dirty="0">
                <a:latin typeface="+mn-ea"/>
                <a:sym typeface="+mn-ea"/>
              </a:rPr>
              <a:t>计算机技术的发展十分迅速，计算机的软件、硬件</a:t>
            </a:r>
            <a:r>
              <a:rPr lang="zh-CN" altLang="en-US" sz="1400" b="1" dirty="0">
                <a:latin typeface="+mn-ea"/>
                <a:sym typeface="+mn-ea"/>
              </a:rPr>
              <a:t>环境</a:t>
            </a:r>
            <a:r>
              <a:rPr lang="zh-CN" altLang="en-US" sz="1400" dirty="0">
                <a:latin typeface="+mn-ea"/>
                <a:sym typeface="+mn-ea"/>
              </a:rPr>
              <a:t>也在不断发生变化，而应用软件的使用寿命往往比原先开发时的系统环境更为长久，因此，常常需对软件加以修改使之适应改变了的环境。为使软件产品适应环境的变化而进行的软件维护称为适应性维护。</a:t>
            </a:r>
          </a:p>
          <a:p>
            <a:pPr algn="l">
              <a:lnSpc>
                <a:spcPct val="120000"/>
              </a:lnSpc>
            </a:pPr>
            <a:endParaRPr lang="zh-CN" altLang="en-US" sz="1400" dirty="0">
              <a:solidFill>
                <a:schemeClr val="bg1"/>
              </a:solidFill>
            </a:endParaRPr>
          </a:p>
        </p:txBody>
      </p:sp>
      <p:sp>
        <p:nvSpPr>
          <p:cNvPr id="8" name="文本框 7">
            <a:extLst>
              <a:ext uri="{FF2B5EF4-FFF2-40B4-BE49-F238E27FC236}">
                <a16:creationId xmlns:a16="http://schemas.microsoft.com/office/drawing/2014/main" id="{B216E4A7-AF0E-21A0-6A79-67F16F39B76E}"/>
              </a:ext>
            </a:extLst>
          </p:cNvPr>
          <p:cNvSpPr txBox="1"/>
          <p:nvPr/>
        </p:nvSpPr>
        <p:spPr>
          <a:xfrm>
            <a:off x="7650743" y="4437883"/>
            <a:ext cx="4120887" cy="1621021"/>
          </a:xfrm>
          <a:prstGeom prst="rect">
            <a:avLst/>
          </a:prstGeom>
          <a:noFill/>
        </p:spPr>
        <p:txBody>
          <a:bodyPr wrap="square" rtlCol="0">
            <a:spAutoFit/>
          </a:bodyPr>
          <a:lstStyle/>
          <a:p>
            <a:pPr>
              <a:lnSpc>
                <a:spcPct val="120000"/>
              </a:lnSpc>
            </a:pPr>
            <a:r>
              <a:rPr lang="en-US" altLang="zh-CN" sz="1400" dirty="0">
                <a:solidFill>
                  <a:srgbClr val="00B0F0"/>
                </a:solidFill>
                <a:latin typeface="微软雅黑" panose="020B0503020204020204" charset="-122"/>
                <a:ea typeface="微软雅黑" panose="020B0503020204020204" charset="-122"/>
                <a:sym typeface="+mn-ea"/>
              </a:rPr>
              <a:t>3. </a:t>
            </a:r>
            <a:r>
              <a:rPr lang="zh-CN" altLang="en-US" sz="1400" dirty="0">
                <a:solidFill>
                  <a:srgbClr val="00B0F0"/>
                </a:solidFill>
                <a:latin typeface="微软雅黑" panose="020B0503020204020204" charset="-122"/>
                <a:ea typeface="微软雅黑" panose="020B0503020204020204" charset="-122"/>
                <a:sym typeface="+mn-ea"/>
              </a:rPr>
              <a:t>完善性维护 </a:t>
            </a:r>
            <a:r>
              <a:rPr lang="en-US" altLang="zh-CN" sz="1400" dirty="0">
                <a:solidFill>
                  <a:srgbClr val="00B0F0"/>
                </a:solidFill>
                <a:latin typeface="微软雅黑" panose="020B0503020204020204" charset="-122"/>
                <a:ea typeface="微软雅黑" panose="020B0503020204020204" charset="-122"/>
                <a:sym typeface="+mn-ea"/>
              </a:rPr>
              <a:t>Perfective Maintenance</a:t>
            </a:r>
            <a:endParaRPr lang="zh-CN" altLang="en-US" sz="1400" dirty="0">
              <a:solidFill>
                <a:srgbClr val="00B0F0"/>
              </a:solidFill>
              <a:latin typeface="微软雅黑" panose="020B0503020204020204" charset="-122"/>
              <a:ea typeface="微软雅黑" panose="020B0503020204020204" charset="-122"/>
              <a:sym typeface="+mn-ea"/>
            </a:endParaRPr>
          </a:p>
          <a:p>
            <a:pPr>
              <a:lnSpc>
                <a:spcPct val="120000"/>
              </a:lnSpc>
            </a:pPr>
            <a:r>
              <a:rPr lang="zh-CN" altLang="en-US" sz="1400" dirty="0">
                <a:latin typeface="+mn-ea"/>
                <a:sym typeface="+mn-ea"/>
              </a:rPr>
              <a:t>软件交给用户使用后，用户往往会因为工作流程、应用环境的变化，要求增加新的功能和完善</a:t>
            </a:r>
            <a:r>
              <a:rPr lang="zh-CN" altLang="en-US" sz="1400" b="1" dirty="0">
                <a:latin typeface="+mn-ea"/>
                <a:sym typeface="+mn-ea"/>
              </a:rPr>
              <a:t>性能</a:t>
            </a:r>
            <a:r>
              <a:rPr lang="zh-CN" altLang="en-US" sz="1400" dirty="0">
                <a:latin typeface="+mn-ea"/>
                <a:sym typeface="+mn-ea"/>
              </a:rPr>
              <a:t>等。为增加软件功能、增强软件性能、提高软件运行效率而进行的维护称为完善性维护。</a:t>
            </a:r>
          </a:p>
          <a:p>
            <a:pPr algn="l">
              <a:lnSpc>
                <a:spcPct val="120000"/>
              </a:lnSpc>
            </a:pPr>
            <a:endParaRPr lang="zh-CN" altLang="en-US" sz="1400" dirty="0">
              <a:solidFill>
                <a:schemeClr val="bg1"/>
              </a:solidFill>
            </a:endParaRPr>
          </a:p>
        </p:txBody>
      </p:sp>
    </p:spTree>
    <p:custDataLst>
      <p:tags r:id="rId1"/>
    </p:custData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5.1.1 </a:t>
            </a:r>
            <a:r>
              <a:rPr lang="zh-CN" altLang="en-US" sz="2400" dirty="0">
                <a:solidFill>
                  <a:schemeClr val="tx1"/>
                </a:solidFill>
              </a:rPr>
              <a:t>软件维护的种类</a:t>
            </a:r>
          </a:p>
        </p:txBody>
      </p:sp>
      <p:graphicFrame>
        <p:nvGraphicFramePr>
          <p:cNvPr id="10" name="图表 9">
            <a:extLst>
              <a:ext uri="{FF2B5EF4-FFF2-40B4-BE49-F238E27FC236}">
                <a16:creationId xmlns:a16="http://schemas.microsoft.com/office/drawing/2014/main" id="{9F4436D5-466B-3D55-B741-07837DCFE6BA}"/>
              </a:ext>
            </a:extLst>
          </p:cNvPr>
          <p:cNvGraphicFramePr>
            <a:graphicFrameLocks noChangeAspect="1"/>
          </p:cNvGraphicFramePr>
          <p:nvPr>
            <p:extLst>
              <p:ext uri="{D42A27DB-BD31-4B8C-83A1-F6EECF244321}">
                <p14:modId xmlns:p14="http://schemas.microsoft.com/office/powerpoint/2010/main" val="2794209847"/>
              </p:ext>
            </p:extLst>
          </p:nvPr>
        </p:nvGraphicFramePr>
        <p:xfrm>
          <a:off x="2844800" y="1933337"/>
          <a:ext cx="6502400" cy="4334934"/>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A7B08-DE22-16DF-FA48-35909226F6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EDC21AC-E753-66E3-0F28-7D262F9E51B4}"/>
              </a:ext>
            </a:extLst>
          </p:cNvPr>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p>
        </p:txBody>
      </p:sp>
      <p:sp>
        <p:nvSpPr>
          <p:cNvPr id="29" name="TextBox 6">
            <a:extLst>
              <a:ext uri="{FF2B5EF4-FFF2-40B4-BE49-F238E27FC236}">
                <a16:creationId xmlns:a16="http://schemas.microsoft.com/office/drawing/2014/main" id="{CCB5DB67-D137-0928-EAEB-53E95D4CF371}"/>
              </a:ext>
            </a:extLst>
          </p:cNvPr>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例</a:t>
            </a:r>
            <a:r>
              <a:rPr lang="en-US" altLang="zh-CN" sz="2400" dirty="0">
                <a:solidFill>
                  <a:schemeClr val="tx1"/>
                </a:solidFill>
              </a:rPr>
              <a:t>1 </a:t>
            </a:r>
            <a:r>
              <a:rPr lang="zh-CN" altLang="en-US" sz="2400" dirty="0">
                <a:solidFill>
                  <a:schemeClr val="tx1"/>
                </a:solidFill>
              </a:rPr>
              <a:t>考试成绩</a:t>
            </a:r>
          </a:p>
        </p:txBody>
      </p:sp>
      <p:sp>
        <p:nvSpPr>
          <p:cNvPr id="24" name="矩形 23">
            <a:extLst>
              <a:ext uri="{FF2B5EF4-FFF2-40B4-BE49-F238E27FC236}">
                <a16:creationId xmlns:a16="http://schemas.microsoft.com/office/drawing/2014/main" id="{4DA94614-838F-DD5B-1E93-22218C426009}"/>
              </a:ext>
            </a:extLst>
          </p:cNvPr>
          <p:cNvSpPr>
            <a:spLocks noChangeAspect="1"/>
          </p:cNvSpPr>
          <p:nvPr/>
        </p:nvSpPr>
        <p:spPr>
          <a:xfrm>
            <a:off x="3597909" y="1032539"/>
            <a:ext cx="4996181" cy="5355312"/>
          </a:xfrm>
          <a:prstGeom prst="rect">
            <a:avLst/>
          </a:prstGeom>
          <a:solidFill>
            <a:schemeClr val="bg1">
              <a:lumMod val="95000"/>
            </a:schemeClr>
          </a:solidFill>
          <a:ln w="12700">
            <a:noFill/>
            <a:prstDash val="dash"/>
          </a:ln>
        </p:spPr>
        <p:style>
          <a:lnRef idx="1">
            <a:schemeClr val="accent6"/>
          </a:lnRef>
          <a:fillRef idx="0">
            <a:schemeClr val="accent6"/>
          </a:fillRef>
          <a:effectRef idx="0">
            <a:schemeClr val="accent6"/>
          </a:effectRef>
          <a:fontRef idx="minor">
            <a:schemeClr val="tx1"/>
          </a:fontRef>
        </p:style>
        <p:txBody>
          <a:bodyPr rtlCol="0" anchor="t" anchorCtr="0">
            <a:spAutoFit/>
          </a:bodyPr>
          <a:lstStyle/>
          <a:p>
            <a:r>
              <a:rPr lang="en-US" altLang="zh-CN" dirty="0"/>
              <a:t>    let score = 80;</a:t>
            </a:r>
          </a:p>
          <a:p>
            <a:r>
              <a:rPr lang="en-US" altLang="zh-CN" dirty="0"/>
              <a:t>    let grade = Math.floor(score / 10);</a:t>
            </a:r>
          </a:p>
          <a:p>
            <a:r>
              <a:rPr lang="en-US" altLang="zh-CN" dirty="0"/>
              <a:t>    switch (grade) {</a:t>
            </a:r>
          </a:p>
          <a:p>
            <a:r>
              <a:rPr lang="en-US" altLang="zh-CN" dirty="0"/>
              <a:t>      case 6:</a:t>
            </a:r>
          </a:p>
          <a:p>
            <a:r>
              <a:rPr lang="en-US" altLang="zh-CN" dirty="0"/>
              <a:t>        console.log('</a:t>
            </a:r>
            <a:r>
              <a:rPr lang="zh-CN" altLang="en-US" dirty="0"/>
              <a:t>及格</a:t>
            </a:r>
            <a:r>
              <a:rPr lang="en-US" altLang="zh-CN" dirty="0"/>
              <a:t>');</a:t>
            </a:r>
          </a:p>
          <a:p>
            <a:r>
              <a:rPr lang="en-US" altLang="zh-CN" dirty="0"/>
              <a:t>        break;</a:t>
            </a:r>
          </a:p>
          <a:p>
            <a:r>
              <a:rPr lang="en-US" altLang="zh-CN" dirty="0"/>
              <a:t>      case 7:</a:t>
            </a:r>
          </a:p>
          <a:p>
            <a:r>
              <a:rPr lang="en-US" altLang="zh-CN" dirty="0"/>
              <a:t>        console.log('</a:t>
            </a:r>
            <a:r>
              <a:rPr lang="zh-CN" altLang="en-US" dirty="0"/>
              <a:t>中</a:t>
            </a:r>
            <a:r>
              <a:rPr lang="en-US" altLang="zh-CN" dirty="0"/>
              <a:t>');</a:t>
            </a:r>
          </a:p>
          <a:p>
            <a:r>
              <a:rPr lang="en-US" altLang="zh-CN" dirty="0"/>
              <a:t>        break;</a:t>
            </a:r>
          </a:p>
          <a:p>
            <a:r>
              <a:rPr lang="en-US" altLang="zh-CN" dirty="0"/>
              <a:t>      case 8:</a:t>
            </a:r>
          </a:p>
          <a:p>
            <a:r>
              <a:rPr lang="en-US" altLang="zh-CN" dirty="0"/>
              <a:t>        console.log('</a:t>
            </a:r>
            <a:r>
              <a:rPr lang="zh-CN" altLang="en-US" dirty="0"/>
              <a:t>良</a:t>
            </a:r>
            <a:r>
              <a:rPr lang="en-US" altLang="zh-CN" dirty="0"/>
              <a:t>');</a:t>
            </a:r>
          </a:p>
          <a:p>
            <a:r>
              <a:rPr lang="en-US" altLang="zh-CN" dirty="0"/>
              <a:t>        break;</a:t>
            </a:r>
          </a:p>
          <a:p>
            <a:r>
              <a:rPr lang="en-US" altLang="zh-CN" dirty="0"/>
              <a:t>      case 9:</a:t>
            </a:r>
          </a:p>
          <a:p>
            <a:r>
              <a:rPr lang="en-US" altLang="zh-CN" dirty="0"/>
              <a:t>        console.log('</a:t>
            </a:r>
            <a:r>
              <a:rPr lang="zh-CN" altLang="en-US" dirty="0"/>
              <a:t>优</a:t>
            </a:r>
            <a:r>
              <a:rPr lang="en-US" altLang="zh-CN" dirty="0"/>
              <a:t>');</a:t>
            </a:r>
          </a:p>
          <a:p>
            <a:r>
              <a:rPr lang="en-US" altLang="zh-CN" dirty="0"/>
              <a:t>        break;</a:t>
            </a:r>
          </a:p>
          <a:p>
            <a:r>
              <a:rPr lang="en-US" altLang="zh-CN" dirty="0"/>
              <a:t>      default:</a:t>
            </a:r>
          </a:p>
          <a:p>
            <a:r>
              <a:rPr lang="en-US" altLang="zh-CN" dirty="0"/>
              <a:t>        console.log('</a:t>
            </a:r>
            <a:r>
              <a:rPr lang="zh-CN" altLang="en-US" dirty="0"/>
              <a:t>不及格</a:t>
            </a:r>
            <a:r>
              <a:rPr lang="en-US" altLang="zh-CN" dirty="0"/>
              <a:t>');</a:t>
            </a:r>
          </a:p>
          <a:p>
            <a:r>
              <a:rPr lang="en-US" altLang="zh-CN" dirty="0"/>
              <a:t>        break;</a:t>
            </a:r>
          </a:p>
          <a:p>
            <a:r>
              <a:rPr lang="en-US" altLang="zh-CN" dirty="0"/>
              <a:t>    }</a:t>
            </a:r>
          </a:p>
        </p:txBody>
      </p:sp>
    </p:spTree>
    <p:custDataLst>
      <p:tags r:id="rId1"/>
    </p:custDataLst>
    <p:extLst>
      <p:ext uri="{BB962C8B-B14F-4D97-AF65-F5344CB8AC3E}">
        <p14:creationId xmlns:p14="http://schemas.microsoft.com/office/powerpoint/2010/main" val="400855254"/>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505C6-2585-A772-E651-F1539A47B9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E1A393F-2374-9F17-DB42-A28F110582B3}"/>
              </a:ext>
            </a:extLst>
          </p:cNvPr>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p>
        </p:txBody>
      </p:sp>
      <p:sp>
        <p:nvSpPr>
          <p:cNvPr id="29" name="TextBox 6">
            <a:extLst>
              <a:ext uri="{FF2B5EF4-FFF2-40B4-BE49-F238E27FC236}">
                <a16:creationId xmlns:a16="http://schemas.microsoft.com/office/drawing/2014/main" id="{82A4D4FD-633A-A92B-046F-0664B134CCA3}"/>
              </a:ext>
            </a:extLst>
          </p:cNvPr>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例</a:t>
            </a:r>
            <a:r>
              <a:rPr lang="en-US" altLang="zh-CN" sz="2400" dirty="0">
                <a:solidFill>
                  <a:schemeClr val="tx1"/>
                </a:solidFill>
              </a:rPr>
              <a:t>2 </a:t>
            </a:r>
            <a:r>
              <a:rPr lang="zh-CN" altLang="en-US" sz="2400" dirty="0">
                <a:solidFill>
                  <a:schemeClr val="tx1"/>
                </a:solidFill>
              </a:rPr>
              <a:t>求和</a:t>
            </a:r>
          </a:p>
        </p:txBody>
      </p:sp>
      <p:sp>
        <p:nvSpPr>
          <p:cNvPr id="3" name="流程图: 终止 2">
            <a:extLst>
              <a:ext uri="{FF2B5EF4-FFF2-40B4-BE49-F238E27FC236}">
                <a16:creationId xmlns:a16="http://schemas.microsoft.com/office/drawing/2014/main" id="{1A568E1C-FF5F-90C9-AC08-F544B69F9CA1}"/>
              </a:ext>
            </a:extLst>
          </p:cNvPr>
          <p:cNvSpPr/>
          <p:nvPr/>
        </p:nvSpPr>
        <p:spPr>
          <a:xfrm>
            <a:off x="5066287" y="704198"/>
            <a:ext cx="1241136" cy="409575"/>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Start</a:t>
            </a:r>
            <a:endParaRPr lang="zh-CN" altLang="en-US" dirty="0">
              <a:solidFill>
                <a:schemeClr val="tx1"/>
              </a:solidFill>
            </a:endParaRPr>
          </a:p>
        </p:txBody>
      </p:sp>
      <p:sp>
        <p:nvSpPr>
          <p:cNvPr id="4" name="流程图: 终止 3">
            <a:extLst>
              <a:ext uri="{FF2B5EF4-FFF2-40B4-BE49-F238E27FC236}">
                <a16:creationId xmlns:a16="http://schemas.microsoft.com/office/drawing/2014/main" id="{14378168-0980-E324-7218-ED9E1428FE3E}"/>
              </a:ext>
            </a:extLst>
          </p:cNvPr>
          <p:cNvSpPr/>
          <p:nvPr/>
        </p:nvSpPr>
        <p:spPr>
          <a:xfrm>
            <a:off x="7059021" y="5709424"/>
            <a:ext cx="1241136" cy="409575"/>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End</a:t>
            </a:r>
            <a:endParaRPr lang="zh-CN" altLang="en-US" dirty="0">
              <a:solidFill>
                <a:schemeClr val="tx1"/>
              </a:solidFill>
            </a:endParaRPr>
          </a:p>
        </p:txBody>
      </p:sp>
      <p:sp>
        <p:nvSpPr>
          <p:cNvPr id="5" name="流程图: 过程 4">
            <a:extLst>
              <a:ext uri="{FF2B5EF4-FFF2-40B4-BE49-F238E27FC236}">
                <a16:creationId xmlns:a16="http://schemas.microsoft.com/office/drawing/2014/main" id="{49A2BF5D-FC5D-5921-4032-B3CBD67C8925}"/>
              </a:ext>
            </a:extLst>
          </p:cNvPr>
          <p:cNvSpPr/>
          <p:nvPr/>
        </p:nvSpPr>
        <p:spPr>
          <a:xfrm>
            <a:off x="4786855" y="1343927"/>
            <a:ext cx="1800000"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 = 0</a:t>
            </a:r>
            <a:endParaRPr lang="zh-CN" altLang="en-US" dirty="0">
              <a:solidFill>
                <a:schemeClr val="tx1"/>
              </a:solidFill>
            </a:endParaRPr>
          </a:p>
        </p:txBody>
      </p:sp>
      <p:sp>
        <p:nvSpPr>
          <p:cNvPr id="6" name="流程图: 过程 5">
            <a:extLst>
              <a:ext uri="{FF2B5EF4-FFF2-40B4-BE49-F238E27FC236}">
                <a16:creationId xmlns:a16="http://schemas.microsoft.com/office/drawing/2014/main" id="{45F133CF-4368-6FF8-AB98-76A7C21C1659}"/>
              </a:ext>
            </a:extLst>
          </p:cNvPr>
          <p:cNvSpPr/>
          <p:nvPr/>
        </p:nvSpPr>
        <p:spPr>
          <a:xfrm>
            <a:off x="7173321" y="4928994"/>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sum</a:t>
            </a:r>
            <a:endParaRPr lang="zh-CN" altLang="en-US" dirty="0">
              <a:solidFill>
                <a:schemeClr val="tx1"/>
              </a:solidFill>
            </a:endParaRPr>
          </a:p>
        </p:txBody>
      </p:sp>
      <p:sp>
        <p:nvSpPr>
          <p:cNvPr id="7" name="流程图: 决策 6">
            <a:extLst>
              <a:ext uri="{FF2B5EF4-FFF2-40B4-BE49-F238E27FC236}">
                <a16:creationId xmlns:a16="http://schemas.microsoft.com/office/drawing/2014/main" id="{0E7F50F1-B986-3FFD-51AD-2FB6F799414E}"/>
              </a:ext>
            </a:extLst>
          </p:cNvPr>
          <p:cNvSpPr/>
          <p:nvPr/>
        </p:nvSpPr>
        <p:spPr>
          <a:xfrm>
            <a:off x="4786855" y="2835411"/>
            <a:ext cx="1800000" cy="809625"/>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 &lt;= 10</a:t>
            </a:r>
            <a:endParaRPr lang="zh-CN" altLang="en-US" dirty="0">
              <a:solidFill>
                <a:schemeClr val="tx1"/>
              </a:solidFill>
            </a:endParaRPr>
          </a:p>
        </p:txBody>
      </p:sp>
      <p:sp>
        <p:nvSpPr>
          <p:cNvPr id="8" name="流程图: 过程 7">
            <a:extLst>
              <a:ext uri="{FF2B5EF4-FFF2-40B4-BE49-F238E27FC236}">
                <a16:creationId xmlns:a16="http://schemas.microsoft.com/office/drawing/2014/main" id="{7216507F-260F-F7F2-FBC8-D08C0CE6D197}"/>
              </a:ext>
            </a:extLst>
          </p:cNvPr>
          <p:cNvSpPr/>
          <p:nvPr/>
        </p:nvSpPr>
        <p:spPr>
          <a:xfrm>
            <a:off x="4786855" y="4096648"/>
            <a:ext cx="1800000"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 = i + 1</a:t>
            </a:r>
            <a:endParaRPr lang="zh-CN" altLang="en-US" dirty="0">
              <a:solidFill>
                <a:schemeClr val="tx1"/>
              </a:solidFill>
            </a:endParaRPr>
          </a:p>
        </p:txBody>
      </p:sp>
      <p:cxnSp>
        <p:nvCxnSpPr>
          <p:cNvPr id="9" name="直接箭头连接符 8">
            <a:extLst>
              <a:ext uri="{FF2B5EF4-FFF2-40B4-BE49-F238E27FC236}">
                <a16:creationId xmlns:a16="http://schemas.microsoft.com/office/drawing/2014/main" id="{B73940D4-1E9E-286A-8D42-19433E90A92F}"/>
              </a:ext>
            </a:extLst>
          </p:cNvPr>
          <p:cNvCxnSpPr>
            <a:stCxn id="7" idx="2"/>
            <a:endCxn id="8" idx="0"/>
          </p:cNvCxnSpPr>
          <p:nvPr/>
        </p:nvCxnSpPr>
        <p:spPr>
          <a:xfrm>
            <a:off x="5686855" y="3645036"/>
            <a:ext cx="0" cy="4516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D2656769-CF4D-A1AA-C1FF-DB57F55B55BC}"/>
              </a:ext>
            </a:extLst>
          </p:cNvPr>
          <p:cNvSpPr txBox="1"/>
          <p:nvPr/>
        </p:nvSpPr>
        <p:spPr>
          <a:xfrm>
            <a:off x="5852908" y="3661859"/>
            <a:ext cx="351378" cy="369332"/>
          </a:xfrm>
          <a:prstGeom prst="rect">
            <a:avLst/>
          </a:prstGeom>
          <a:noFill/>
          <a:ln>
            <a:noFill/>
          </a:ln>
        </p:spPr>
        <p:txBody>
          <a:bodyPr wrap="none" rtlCol="0">
            <a:spAutoFit/>
          </a:bodyPr>
          <a:lstStyle/>
          <a:p>
            <a:pPr algn="l"/>
            <a:r>
              <a:rPr lang="en-US" altLang="zh-CN" dirty="0"/>
              <a:t>Y</a:t>
            </a:r>
            <a:endParaRPr lang="zh-CN" altLang="en-US" dirty="0"/>
          </a:p>
        </p:txBody>
      </p:sp>
      <p:cxnSp>
        <p:nvCxnSpPr>
          <p:cNvPr id="12" name="连接符: 肘形 11">
            <a:extLst>
              <a:ext uri="{FF2B5EF4-FFF2-40B4-BE49-F238E27FC236}">
                <a16:creationId xmlns:a16="http://schemas.microsoft.com/office/drawing/2014/main" id="{78976B7D-9039-D5BA-71A4-351468C5FDC9}"/>
              </a:ext>
            </a:extLst>
          </p:cNvPr>
          <p:cNvCxnSpPr>
            <a:cxnSpLocks/>
            <a:stCxn id="7" idx="3"/>
            <a:endCxn id="6" idx="0"/>
          </p:cNvCxnSpPr>
          <p:nvPr/>
        </p:nvCxnSpPr>
        <p:spPr>
          <a:xfrm>
            <a:off x="6586855" y="3240224"/>
            <a:ext cx="1092734" cy="168877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210E300-1BFF-978D-E30C-7941ED50BA77}"/>
              </a:ext>
            </a:extLst>
          </p:cNvPr>
          <p:cNvSpPr txBox="1"/>
          <p:nvPr/>
        </p:nvSpPr>
        <p:spPr>
          <a:xfrm>
            <a:off x="6534893" y="2868541"/>
            <a:ext cx="351378" cy="369332"/>
          </a:xfrm>
          <a:prstGeom prst="rect">
            <a:avLst/>
          </a:prstGeom>
          <a:noFill/>
          <a:ln>
            <a:noFill/>
          </a:ln>
        </p:spPr>
        <p:txBody>
          <a:bodyPr wrap="none" rtlCol="0">
            <a:spAutoFit/>
          </a:bodyPr>
          <a:lstStyle/>
          <a:p>
            <a:pPr algn="l"/>
            <a:r>
              <a:rPr lang="en-US" altLang="zh-CN" dirty="0"/>
              <a:t>N</a:t>
            </a:r>
            <a:endParaRPr lang="zh-CN" altLang="en-US" dirty="0"/>
          </a:p>
        </p:txBody>
      </p:sp>
      <p:sp>
        <p:nvSpPr>
          <p:cNvPr id="14" name="流程图: 过程 13">
            <a:extLst>
              <a:ext uri="{FF2B5EF4-FFF2-40B4-BE49-F238E27FC236}">
                <a16:creationId xmlns:a16="http://schemas.microsoft.com/office/drawing/2014/main" id="{20215F40-D7AC-84E8-FBFC-A6EAD892EB7E}"/>
              </a:ext>
            </a:extLst>
          </p:cNvPr>
          <p:cNvSpPr/>
          <p:nvPr/>
        </p:nvSpPr>
        <p:spPr>
          <a:xfrm>
            <a:off x="4786855" y="4780249"/>
            <a:ext cx="1800000"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sum = sum + i</a:t>
            </a:r>
            <a:endParaRPr lang="zh-CN" altLang="en-US" dirty="0">
              <a:solidFill>
                <a:schemeClr val="tx1"/>
              </a:solidFill>
            </a:endParaRPr>
          </a:p>
        </p:txBody>
      </p:sp>
      <p:sp>
        <p:nvSpPr>
          <p:cNvPr id="15" name="流程图: 过程 14">
            <a:extLst>
              <a:ext uri="{FF2B5EF4-FFF2-40B4-BE49-F238E27FC236}">
                <a16:creationId xmlns:a16="http://schemas.microsoft.com/office/drawing/2014/main" id="{95112C53-D5CC-A5CA-4939-31630925420F}"/>
              </a:ext>
            </a:extLst>
          </p:cNvPr>
          <p:cNvSpPr/>
          <p:nvPr/>
        </p:nvSpPr>
        <p:spPr>
          <a:xfrm>
            <a:off x="4786855" y="1984482"/>
            <a:ext cx="1800000"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sum = 0</a:t>
            </a:r>
            <a:endParaRPr lang="zh-CN" altLang="en-US" dirty="0">
              <a:solidFill>
                <a:schemeClr val="tx1"/>
              </a:solidFill>
            </a:endParaRPr>
          </a:p>
        </p:txBody>
      </p:sp>
      <p:cxnSp>
        <p:nvCxnSpPr>
          <p:cNvPr id="16" name="直接箭头连接符 15">
            <a:extLst>
              <a:ext uri="{FF2B5EF4-FFF2-40B4-BE49-F238E27FC236}">
                <a16:creationId xmlns:a16="http://schemas.microsoft.com/office/drawing/2014/main" id="{ECFFC892-C9FA-AAE1-1A0A-2CB6B4A2B5E2}"/>
              </a:ext>
            </a:extLst>
          </p:cNvPr>
          <p:cNvCxnSpPr>
            <a:stCxn id="3" idx="2"/>
            <a:endCxn id="5" idx="0"/>
          </p:cNvCxnSpPr>
          <p:nvPr/>
        </p:nvCxnSpPr>
        <p:spPr>
          <a:xfrm>
            <a:off x="5686855" y="1113773"/>
            <a:ext cx="0" cy="2301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C4CF2D5-B607-10BF-E330-D9A9C72BB590}"/>
              </a:ext>
            </a:extLst>
          </p:cNvPr>
          <p:cNvCxnSpPr>
            <a:stCxn id="5" idx="2"/>
            <a:endCxn id="15" idx="0"/>
          </p:cNvCxnSpPr>
          <p:nvPr/>
        </p:nvCxnSpPr>
        <p:spPr>
          <a:xfrm>
            <a:off x="5686855" y="1754327"/>
            <a:ext cx="0" cy="230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9900E3FF-2B63-ED10-B4DF-31FBAA794779}"/>
              </a:ext>
            </a:extLst>
          </p:cNvPr>
          <p:cNvCxnSpPr>
            <a:stCxn id="15" idx="2"/>
            <a:endCxn id="7" idx="0"/>
          </p:cNvCxnSpPr>
          <p:nvPr/>
        </p:nvCxnSpPr>
        <p:spPr>
          <a:xfrm>
            <a:off x="5686855" y="2394882"/>
            <a:ext cx="0" cy="440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936B9352-02BF-DC15-0B57-F62290C8459C}"/>
              </a:ext>
            </a:extLst>
          </p:cNvPr>
          <p:cNvCxnSpPr>
            <a:stCxn id="8" idx="2"/>
            <a:endCxn id="14" idx="0"/>
          </p:cNvCxnSpPr>
          <p:nvPr/>
        </p:nvCxnSpPr>
        <p:spPr>
          <a:xfrm>
            <a:off x="5686855" y="4507048"/>
            <a:ext cx="0" cy="273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12A2372A-74D2-6FA7-060C-198229480015}"/>
              </a:ext>
            </a:extLst>
          </p:cNvPr>
          <p:cNvCxnSpPr>
            <a:cxnSpLocks/>
            <a:stCxn id="14" idx="2"/>
            <a:endCxn id="7" idx="1"/>
          </p:cNvCxnSpPr>
          <p:nvPr/>
        </p:nvCxnSpPr>
        <p:spPr>
          <a:xfrm rot="5400000" flipH="1">
            <a:off x="4261642" y="3765437"/>
            <a:ext cx="1950425" cy="900000"/>
          </a:xfrm>
          <a:prstGeom prst="bentConnector4">
            <a:avLst>
              <a:gd name="adj1" fmla="val -11721"/>
              <a:gd name="adj2" fmla="val 22285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279ED85-DBC3-F5F8-03FB-35539BC0358D}"/>
              </a:ext>
            </a:extLst>
          </p:cNvPr>
          <p:cNvCxnSpPr>
            <a:stCxn id="6" idx="2"/>
            <a:endCxn id="4" idx="0"/>
          </p:cNvCxnSpPr>
          <p:nvPr/>
        </p:nvCxnSpPr>
        <p:spPr>
          <a:xfrm>
            <a:off x="7679589" y="5339394"/>
            <a:ext cx="0" cy="3700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59746723"/>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50337-91D9-EE33-99B0-9A7C28A6D5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7D7EEB-66FF-6897-2E3F-06EC787BD702}"/>
              </a:ext>
            </a:extLst>
          </p:cNvPr>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p>
        </p:txBody>
      </p:sp>
      <p:sp>
        <p:nvSpPr>
          <p:cNvPr id="29" name="TextBox 6">
            <a:extLst>
              <a:ext uri="{FF2B5EF4-FFF2-40B4-BE49-F238E27FC236}">
                <a16:creationId xmlns:a16="http://schemas.microsoft.com/office/drawing/2014/main" id="{461C5BF8-2859-A6D0-8B6A-61CE0581BB1C}"/>
              </a:ext>
            </a:extLst>
          </p:cNvPr>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例</a:t>
            </a:r>
            <a:r>
              <a:rPr lang="en-US" altLang="zh-CN" sz="2400" dirty="0">
                <a:solidFill>
                  <a:schemeClr val="tx1"/>
                </a:solidFill>
              </a:rPr>
              <a:t>3 </a:t>
            </a:r>
            <a:r>
              <a:rPr lang="zh-CN" altLang="en-US" sz="2400" dirty="0">
                <a:solidFill>
                  <a:schemeClr val="tx1"/>
                </a:solidFill>
              </a:rPr>
              <a:t>判断题</a:t>
            </a:r>
          </a:p>
        </p:txBody>
      </p:sp>
      <p:sp>
        <p:nvSpPr>
          <p:cNvPr id="10" name="文本框 9">
            <a:extLst>
              <a:ext uri="{FF2B5EF4-FFF2-40B4-BE49-F238E27FC236}">
                <a16:creationId xmlns:a16="http://schemas.microsoft.com/office/drawing/2014/main" id="{893F058A-7C79-562E-6395-C0BD47FE6CFE}"/>
              </a:ext>
            </a:extLst>
          </p:cNvPr>
          <p:cNvSpPr txBox="1"/>
          <p:nvPr/>
        </p:nvSpPr>
        <p:spPr>
          <a:xfrm>
            <a:off x="809625" y="2252160"/>
            <a:ext cx="5955476" cy="369332"/>
          </a:xfrm>
          <a:prstGeom prst="rect">
            <a:avLst/>
          </a:prstGeom>
          <a:noFill/>
        </p:spPr>
        <p:txBody>
          <a:bodyPr wrap="none" rtlCol="0">
            <a:spAutoFit/>
          </a:bodyPr>
          <a:lstStyle/>
          <a:p>
            <a:r>
              <a:rPr lang="zh-CN" altLang="en-US" dirty="0"/>
              <a:t>从单纯的桌面端到支持移动端的适配是适应性维护。（）</a:t>
            </a:r>
          </a:p>
        </p:txBody>
      </p:sp>
    </p:spTree>
    <p:custDataLst>
      <p:tags r:id="rId1"/>
    </p:custDataLst>
    <p:extLst>
      <p:ext uri="{BB962C8B-B14F-4D97-AF65-F5344CB8AC3E}">
        <p14:creationId xmlns:p14="http://schemas.microsoft.com/office/powerpoint/2010/main" val="2224122199"/>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5.1.2 </a:t>
            </a:r>
            <a:r>
              <a:rPr lang="zh-CN" altLang="en-US" sz="2400" dirty="0">
                <a:solidFill>
                  <a:schemeClr val="tx1"/>
                </a:solidFill>
              </a:rPr>
              <a:t>软件维护的特点</a:t>
            </a:r>
          </a:p>
        </p:txBody>
      </p:sp>
      <p:sp>
        <p:nvSpPr>
          <p:cNvPr id="51" name="文本框 50"/>
          <p:cNvSpPr txBox="1"/>
          <p:nvPr>
            <p:custDataLst>
              <p:tags r:id="rId2"/>
            </p:custDataLst>
          </p:nvPr>
        </p:nvSpPr>
        <p:spPr>
          <a:xfrm>
            <a:off x="7507657" y="1546225"/>
            <a:ext cx="3862070" cy="369332"/>
          </a:xfrm>
          <a:prstGeom prst="rect">
            <a:avLst/>
          </a:prstGeom>
          <a:noFill/>
        </p:spPr>
        <p:txBody>
          <a:bodyPr wrap="square">
            <a:spAutoFit/>
          </a:bodyPr>
          <a:lstStyle/>
          <a:p>
            <a:pPr eaLnBrk="1" hangingPunct="1">
              <a:spcBef>
                <a:spcPts val="0"/>
              </a:spcBef>
              <a:spcAft>
                <a:spcPts val="0"/>
              </a:spcAft>
              <a:defRPr/>
            </a:pPr>
            <a:r>
              <a:rPr lang="zh-CN" altLang="en-US" dirty="0"/>
              <a:t>结构化维护与非结构化维护差别巨大</a:t>
            </a:r>
          </a:p>
        </p:txBody>
      </p:sp>
      <p:sp>
        <p:nvSpPr>
          <p:cNvPr id="54" name="六边形 53"/>
          <p:cNvSpPr/>
          <p:nvPr>
            <p:custDataLst>
              <p:tags r:id="rId3"/>
            </p:custDataLst>
          </p:nvPr>
        </p:nvSpPr>
        <p:spPr>
          <a:xfrm>
            <a:off x="5605145" y="2503805"/>
            <a:ext cx="1205230" cy="1050925"/>
          </a:xfrm>
          <a:prstGeom prst="hexagon">
            <a:avLst/>
          </a:prstGeom>
          <a:solidFill>
            <a:srgbClr val="00B050"/>
          </a:solidFill>
          <a:ln>
            <a:noFill/>
          </a:ln>
        </p:spPr>
        <p:style>
          <a:lnRef idx="0">
            <a:scrgbClr r="0" g="0" b="0"/>
          </a:lnRef>
          <a:fillRef idx="0">
            <a:scrgbClr r="0" g="0" b="0"/>
          </a:fillRef>
          <a:effectRef idx="0">
            <a:scrgbClr r="0" g="0" b="0"/>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mj-lt"/>
              </a:rPr>
              <a:t>01</a:t>
            </a:r>
            <a:endParaRPr lang="zh-CN" altLang="en-US" sz="2400" b="1" dirty="0">
              <a:solidFill>
                <a:schemeClr val="bg1"/>
              </a:solidFill>
              <a:latin typeface="+mj-lt"/>
            </a:endParaRPr>
          </a:p>
        </p:txBody>
      </p:sp>
      <p:sp>
        <p:nvSpPr>
          <p:cNvPr id="56" name="六边形 55"/>
          <p:cNvSpPr/>
          <p:nvPr>
            <p:custDataLst>
              <p:tags r:id="rId4"/>
            </p:custDataLst>
          </p:nvPr>
        </p:nvSpPr>
        <p:spPr>
          <a:xfrm>
            <a:off x="6922770" y="4632325"/>
            <a:ext cx="1203325" cy="1052830"/>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mj-lt"/>
              </a:rPr>
              <a:t>03</a:t>
            </a:r>
            <a:endParaRPr lang="zh-CN" altLang="en-US" sz="2400" b="1" dirty="0">
              <a:solidFill>
                <a:schemeClr val="bg1"/>
              </a:solidFill>
              <a:latin typeface="+mj-lt"/>
            </a:endParaRPr>
          </a:p>
        </p:txBody>
      </p:sp>
      <p:sp>
        <p:nvSpPr>
          <p:cNvPr id="64" name="六边形 63"/>
          <p:cNvSpPr/>
          <p:nvPr>
            <p:custDataLst>
              <p:tags r:id="rId5"/>
            </p:custDataLst>
          </p:nvPr>
        </p:nvSpPr>
        <p:spPr>
          <a:xfrm>
            <a:off x="5264150" y="3649980"/>
            <a:ext cx="1887220" cy="1591945"/>
          </a:xfrm>
          <a:prstGeom prst="hexag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grpSp>
        <p:nvGrpSpPr>
          <p:cNvPr id="65" name="组合 64"/>
          <p:cNvGrpSpPr>
            <a:grpSpLocks noChangeAspect="1"/>
          </p:cNvGrpSpPr>
          <p:nvPr>
            <p:custDataLst>
              <p:tags r:id="rId6"/>
            </p:custDataLst>
          </p:nvPr>
        </p:nvGrpSpPr>
        <p:grpSpPr>
          <a:xfrm>
            <a:off x="5709920" y="4092575"/>
            <a:ext cx="965835" cy="647700"/>
            <a:chOff x="3784600" y="1525588"/>
            <a:chExt cx="935038" cy="568325"/>
          </a:xfrm>
          <a:solidFill>
            <a:schemeClr val="bg1"/>
          </a:solidFill>
        </p:grpSpPr>
        <p:sp>
          <p:nvSpPr>
            <p:cNvPr id="66" name="Freeform 8@|5FFC:16777215|FBC:16777215|LFC:11960852|LBC:16777215"/>
            <p:cNvSpPr/>
            <p:nvPr>
              <p:custDataLst>
                <p:tags r:id="rId10"/>
              </p:custDataLst>
            </p:nvPr>
          </p:nvSpPr>
          <p:spPr bwMode="auto">
            <a:xfrm>
              <a:off x="3871913" y="2011363"/>
              <a:ext cx="112713" cy="82550"/>
            </a:xfrm>
            <a:custGeom>
              <a:avLst/>
              <a:gdLst>
                <a:gd name="T0" fmla="*/ 30 w 30"/>
                <a:gd name="T1" fmla="*/ 19 h 22"/>
                <a:gd name="T2" fmla="*/ 30 w 30"/>
                <a:gd name="T3" fmla="*/ 0 h 22"/>
                <a:gd name="T4" fmla="*/ 1 w 30"/>
                <a:gd name="T5" fmla="*/ 22 h 22"/>
                <a:gd name="T6" fmla="*/ 27 w 30"/>
                <a:gd name="T7" fmla="*/ 22 h 22"/>
                <a:gd name="T8" fmla="*/ 30 w 30"/>
                <a:gd name="T9" fmla="*/ 19 h 22"/>
              </a:gdLst>
              <a:ahLst/>
              <a:cxnLst>
                <a:cxn ang="0">
                  <a:pos x="T0" y="T1"/>
                </a:cxn>
                <a:cxn ang="0">
                  <a:pos x="T2" y="T3"/>
                </a:cxn>
                <a:cxn ang="0">
                  <a:pos x="T4" y="T5"/>
                </a:cxn>
                <a:cxn ang="0">
                  <a:pos x="T6" y="T7"/>
                </a:cxn>
                <a:cxn ang="0">
                  <a:pos x="T8" y="T9"/>
                </a:cxn>
              </a:cxnLst>
              <a:rect l="0" t="0" r="r" b="b"/>
              <a:pathLst>
                <a:path w="30" h="22">
                  <a:moveTo>
                    <a:pt x="30" y="19"/>
                  </a:moveTo>
                  <a:cubicBezTo>
                    <a:pt x="30" y="0"/>
                    <a:pt x="30" y="0"/>
                    <a:pt x="30" y="0"/>
                  </a:cubicBezTo>
                  <a:cubicBezTo>
                    <a:pt x="30" y="0"/>
                    <a:pt x="0" y="22"/>
                    <a:pt x="1" y="22"/>
                  </a:cubicBezTo>
                  <a:cubicBezTo>
                    <a:pt x="27" y="22"/>
                    <a:pt x="27" y="22"/>
                    <a:pt x="27" y="22"/>
                  </a:cubicBezTo>
                  <a:cubicBezTo>
                    <a:pt x="29" y="22"/>
                    <a:pt x="30" y="21"/>
                    <a:pt x="30" y="19"/>
                  </a:cubicBez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25000" lnSpcReduction="20000"/>
            </a:bodyPr>
            <a:lstStyle/>
            <a:p>
              <a:pPr eaLnBrk="1" hangingPunct="1">
                <a:spcBef>
                  <a:spcPts val="0"/>
                </a:spcBef>
                <a:spcAft>
                  <a:spcPts val="0"/>
                </a:spcAft>
                <a:defRPr/>
              </a:pPr>
              <a:endParaRPr lang="zh-CN" altLang="en-US" sz="1800"/>
            </a:p>
          </p:txBody>
        </p:sp>
        <p:sp>
          <p:nvSpPr>
            <p:cNvPr id="67" name="Freeform 9@|5FFC:16777215|FBC:16777215|LFC:11960852|LBC:16777215"/>
            <p:cNvSpPr/>
            <p:nvPr>
              <p:custDataLst>
                <p:tags r:id="rId11"/>
              </p:custDataLst>
            </p:nvPr>
          </p:nvSpPr>
          <p:spPr bwMode="auto">
            <a:xfrm>
              <a:off x="4022725" y="1893888"/>
              <a:ext cx="120650" cy="200025"/>
            </a:xfrm>
            <a:custGeom>
              <a:avLst/>
              <a:gdLst>
                <a:gd name="T0" fmla="*/ 29 w 32"/>
                <a:gd name="T1" fmla="*/ 53 h 53"/>
                <a:gd name="T2" fmla="*/ 32 w 32"/>
                <a:gd name="T3" fmla="*/ 50 h 53"/>
                <a:gd name="T4" fmla="*/ 32 w 32"/>
                <a:gd name="T5" fmla="*/ 0 h 53"/>
                <a:gd name="T6" fmla="*/ 0 w 32"/>
                <a:gd name="T7" fmla="*/ 23 h 53"/>
                <a:gd name="T8" fmla="*/ 0 w 32"/>
                <a:gd name="T9" fmla="*/ 24 h 53"/>
                <a:gd name="T10" fmla="*/ 0 w 32"/>
                <a:gd name="T11" fmla="*/ 50 h 53"/>
                <a:gd name="T12" fmla="*/ 2 w 32"/>
                <a:gd name="T13" fmla="*/ 53 h 53"/>
                <a:gd name="T14" fmla="*/ 29 w 32"/>
                <a:gd name="T15" fmla="*/ 53 h 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53">
                  <a:moveTo>
                    <a:pt x="29" y="53"/>
                  </a:moveTo>
                  <a:cubicBezTo>
                    <a:pt x="30" y="53"/>
                    <a:pt x="32" y="52"/>
                    <a:pt x="32" y="50"/>
                  </a:cubicBezTo>
                  <a:cubicBezTo>
                    <a:pt x="32" y="0"/>
                    <a:pt x="32" y="0"/>
                    <a:pt x="32" y="0"/>
                  </a:cubicBezTo>
                  <a:cubicBezTo>
                    <a:pt x="0" y="23"/>
                    <a:pt x="0" y="23"/>
                    <a:pt x="0" y="23"/>
                  </a:cubicBezTo>
                  <a:cubicBezTo>
                    <a:pt x="0" y="24"/>
                    <a:pt x="0" y="24"/>
                    <a:pt x="0" y="24"/>
                  </a:cubicBezTo>
                  <a:cubicBezTo>
                    <a:pt x="0" y="50"/>
                    <a:pt x="0" y="50"/>
                    <a:pt x="0" y="50"/>
                  </a:cubicBezTo>
                  <a:cubicBezTo>
                    <a:pt x="0" y="52"/>
                    <a:pt x="1" y="53"/>
                    <a:pt x="2" y="53"/>
                  </a:cubicBezTo>
                  <a:lnTo>
                    <a:pt x="29" y="53"/>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62500" lnSpcReduction="20000"/>
            </a:bodyPr>
            <a:lstStyle/>
            <a:p>
              <a:pPr eaLnBrk="1" hangingPunct="1">
                <a:spcBef>
                  <a:spcPts val="0"/>
                </a:spcBef>
                <a:spcAft>
                  <a:spcPts val="0"/>
                </a:spcAft>
                <a:defRPr/>
              </a:pPr>
              <a:endParaRPr lang="zh-CN" altLang="en-US" sz="1800"/>
            </a:p>
          </p:txBody>
        </p:sp>
        <p:sp>
          <p:nvSpPr>
            <p:cNvPr id="68" name="Freeform 10@|5FFC:16777215|FBC:16777215|LFC:11960852|LBC:16777215"/>
            <p:cNvSpPr/>
            <p:nvPr>
              <p:custDataLst>
                <p:tags r:id="rId12"/>
              </p:custDataLst>
            </p:nvPr>
          </p:nvSpPr>
          <p:spPr bwMode="auto">
            <a:xfrm>
              <a:off x="4176713" y="1800225"/>
              <a:ext cx="120650" cy="293688"/>
            </a:xfrm>
            <a:custGeom>
              <a:avLst/>
              <a:gdLst>
                <a:gd name="T0" fmla="*/ 29 w 32"/>
                <a:gd name="T1" fmla="*/ 78 h 78"/>
                <a:gd name="T2" fmla="*/ 32 w 32"/>
                <a:gd name="T3" fmla="*/ 75 h 78"/>
                <a:gd name="T4" fmla="*/ 32 w 32"/>
                <a:gd name="T5" fmla="*/ 9 h 78"/>
                <a:gd name="T6" fmla="*/ 23 w 32"/>
                <a:gd name="T7" fmla="*/ 0 h 78"/>
                <a:gd name="T8" fmla="*/ 10 w 32"/>
                <a:gd name="T9" fmla="*/ 10 h 78"/>
                <a:gd name="T10" fmla="*/ 0 w 32"/>
                <a:gd name="T11" fmla="*/ 17 h 78"/>
                <a:gd name="T12" fmla="*/ 0 w 32"/>
                <a:gd name="T13" fmla="*/ 75 h 78"/>
                <a:gd name="T14" fmla="*/ 3 w 32"/>
                <a:gd name="T15" fmla="*/ 78 h 78"/>
                <a:gd name="T16" fmla="*/ 29 w 32"/>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78">
                  <a:moveTo>
                    <a:pt x="29" y="78"/>
                  </a:moveTo>
                  <a:cubicBezTo>
                    <a:pt x="31" y="78"/>
                    <a:pt x="32" y="77"/>
                    <a:pt x="32" y="75"/>
                  </a:cubicBezTo>
                  <a:cubicBezTo>
                    <a:pt x="32" y="9"/>
                    <a:pt x="32" y="9"/>
                    <a:pt x="32" y="9"/>
                  </a:cubicBezTo>
                  <a:cubicBezTo>
                    <a:pt x="23" y="0"/>
                    <a:pt x="23" y="0"/>
                    <a:pt x="23" y="0"/>
                  </a:cubicBezTo>
                  <a:cubicBezTo>
                    <a:pt x="10" y="10"/>
                    <a:pt x="10" y="10"/>
                    <a:pt x="10" y="10"/>
                  </a:cubicBezTo>
                  <a:cubicBezTo>
                    <a:pt x="0" y="17"/>
                    <a:pt x="0" y="17"/>
                    <a:pt x="0" y="17"/>
                  </a:cubicBezTo>
                  <a:cubicBezTo>
                    <a:pt x="0" y="75"/>
                    <a:pt x="0" y="75"/>
                    <a:pt x="0" y="75"/>
                  </a:cubicBezTo>
                  <a:cubicBezTo>
                    <a:pt x="0" y="77"/>
                    <a:pt x="1" y="78"/>
                    <a:pt x="3" y="78"/>
                  </a:cubicBezTo>
                  <a:lnTo>
                    <a:pt x="29" y="78"/>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92500" lnSpcReduction="10000"/>
            </a:bodyPr>
            <a:lstStyle/>
            <a:p>
              <a:pPr eaLnBrk="1" hangingPunct="1">
                <a:spcBef>
                  <a:spcPts val="0"/>
                </a:spcBef>
                <a:spcAft>
                  <a:spcPts val="0"/>
                </a:spcAft>
                <a:defRPr/>
              </a:pPr>
              <a:endParaRPr lang="zh-CN" altLang="en-US" sz="1800"/>
            </a:p>
          </p:txBody>
        </p:sp>
        <p:sp>
          <p:nvSpPr>
            <p:cNvPr id="69" name="Freeform 11@|5FFC:16777215|FBC:16777215|LFC:11960852|LBC:16777215"/>
            <p:cNvSpPr/>
            <p:nvPr>
              <p:custDataLst>
                <p:tags r:id="rId13"/>
              </p:custDataLst>
            </p:nvPr>
          </p:nvSpPr>
          <p:spPr bwMode="auto">
            <a:xfrm>
              <a:off x="4330700" y="1841500"/>
              <a:ext cx="120650" cy="252413"/>
            </a:xfrm>
            <a:custGeom>
              <a:avLst/>
              <a:gdLst>
                <a:gd name="T0" fmla="*/ 30 w 32"/>
                <a:gd name="T1" fmla="*/ 67 h 67"/>
                <a:gd name="T2" fmla="*/ 32 w 32"/>
                <a:gd name="T3" fmla="*/ 64 h 67"/>
                <a:gd name="T4" fmla="*/ 32 w 32"/>
                <a:gd name="T5" fmla="*/ 0 h 67"/>
                <a:gd name="T6" fmla="*/ 20 w 32"/>
                <a:gd name="T7" fmla="*/ 10 h 67"/>
                <a:gd name="T8" fmla="*/ 16 w 32"/>
                <a:gd name="T9" fmla="*/ 13 h 67"/>
                <a:gd name="T10" fmla="*/ 5 w 32"/>
                <a:gd name="T11" fmla="*/ 12 h 67"/>
                <a:gd name="T12" fmla="*/ 4 w 32"/>
                <a:gd name="T13" fmla="*/ 11 h 67"/>
                <a:gd name="T14" fmla="*/ 0 w 32"/>
                <a:gd name="T15" fmla="*/ 7 h 67"/>
                <a:gd name="T16" fmla="*/ 0 w 32"/>
                <a:gd name="T17" fmla="*/ 64 h 67"/>
                <a:gd name="T18" fmla="*/ 3 w 32"/>
                <a:gd name="T19" fmla="*/ 67 h 67"/>
                <a:gd name="T20" fmla="*/ 30 w 32"/>
                <a:gd name="T21"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67">
                  <a:moveTo>
                    <a:pt x="30" y="67"/>
                  </a:moveTo>
                  <a:cubicBezTo>
                    <a:pt x="31" y="67"/>
                    <a:pt x="32" y="66"/>
                    <a:pt x="32" y="64"/>
                  </a:cubicBezTo>
                  <a:cubicBezTo>
                    <a:pt x="32" y="0"/>
                    <a:pt x="32" y="0"/>
                    <a:pt x="32" y="0"/>
                  </a:cubicBezTo>
                  <a:cubicBezTo>
                    <a:pt x="20" y="10"/>
                    <a:pt x="20" y="10"/>
                    <a:pt x="20" y="10"/>
                  </a:cubicBezTo>
                  <a:cubicBezTo>
                    <a:pt x="16" y="13"/>
                    <a:pt x="16" y="13"/>
                    <a:pt x="16" y="13"/>
                  </a:cubicBezTo>
                  <a:cubicBezTo>
                    <a:pt x="13" y="16"/>
                    <a:pt x="8" y="15"/>
                    <a:pt x="5" y="12"/>
                  </a:cubicBezTo>
                  <a:cubicBezTo>
                    <a:pt x="4" y="11"/>
                    <a:pt x="4" y="11"/>
                    <a:pt x="4" y="11"/>
                  </a:cubicBezTo>
                  <a:cubicBezTo>
                    <a:pt x="0" y="7"/>
                    <a:pt x="0" y="7"/>
                    <a:pt x="0" y="7"/>
                  </a:cubicBezTo>
                  <a:cubicBezTo>
                    <a:pt x="0" y="64"/>
                    <a:pt x="0" y="64"/>
                    <a:pt x="0" y="64"/>
                  </a:cubicBezTo>
                  <a:cubicBezTo>
                    <a:pt x="0" y="66"/>
                    <a:pt x="2" y="67"/>
                    <a:pt x="3" y="67"/>
                  </a:cubicBezTo>
                  <a:lnTo>
                    <a:pt x="30" y="67"/>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fontScale="85000" lnSpcReduction="20000"/>
            </a:bodyPr>
            <a:lstStyle/>
            <a:p>
              <a:pPr eaLnBrk="1" hangingPunct="1">
                <a:spcBef>
                  <a:spcPts val="0"/>
                </a:spcBef>
                <a:spcAft>
                  <a:spcPts val="0"/>
                </a:spcAft>
                <a:defRPr/>
              </a:pPr>
              <a:endParaRPr lang="zh-CN" altLang="en-US" sz="1800"/>
            </a:p>
          </p:txBody>
        </p:sp>
        <p:sp>
          <p:nvSpPr>
            <p:cNvPr id="70" name="Freeform 12@|5FFC:16777215|FBC:16777215|LFC:11960852|LBC:16777215"/>
            <p:cNvSpPr/>
            <p:nvPr>
              <p:custDataLst>
                <p:tags r:id="rId14"/>
              </p:custDataLst>
            </p:nvPr>
          </p:nvSpPr>
          <p:spPr bwMode="auto">
            <a:xfrm>
              <a:off x="4489450" y="1720850"/>
              <a:ext cx="120650" cy="373063"/>
            </a:xfrm>
            <a:custGeom>
              <a:avLst/>
              <a:gdLst>
                <a:gd name="T0" fmla="*/ 29 w 32"/>
                <a:gd name="T1" fmla="*/ 99 h 99"/>
                <a:gd name="T2" fmla="*/ 32 w 32"/>
                <a:gd name="T3" fmla="*/ 96 h 99"/>
                <a:gd name="T4" fmla="*/ 32 w 32"/>
                <a:gd name="T5" fmla="*/ 0 h 99"/>
                <a:gd name="T6" fmla="*/ 13 w 32"/>
                <a:gd name="T7" fmla="*/ 15 h 99"/>
                <a:gd name="T8" fmla="*/ 0 w 32"/>
                <a:gd name="T9" fmla="*/ 25 h 99"/>
                <a:gd name="T10" fmla="*/ 0 w 32"/>
                <a:gd name="T11" fmla="*/ 96 h 99"/>
                <a:gd name="T12" fmla="*/ 3 w 32"/>
                <a:gd name="T13" fmla="*/ 99 h 99"/>
                <a:gd name="T14" fmla="*/ 29 w 32"/>
                <a:gd name="T15" fmla="*/ 99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99">
                  <a:moveTo>
                    <a:pt x="29" y="99"/>
                  </a:moveTo>
                  <a:cubicBezTo>
                    <a:pt x="31" y="99"/>
                    <a:pt x="32" y="98"/>
                    <a:pt x="32" y="96"/>
                  </a:cubicBezTo>
                  <a:cubicBezTo>
                    <a:pt x="32" y="0"/>
                    <a:pt x="32" y="0"/>
                    <a:pt x="32" y="0"/>
                  </a:cubicBezTo>
                  <a:cubicBezTo>
                    <a:pt x="13" y="15"/>
                    <a:pt x="13" y="15"/>
                    <a:pt x="13" y="15"/>
                  </a:cubicBezTo>
                  <a:cubicBezTo>
                    <a:pt x="0" y="25"/>
                    <a:pt x="0" y="25"/>
                    <a:pt x="0" y="25"/>
                  </a:cubicBezTo>
                  <a:cubicBezTo>
                    <a:pt x="0" y="96"/>
                    <a:pt x="0" y="96"/>
                    <a:pt x="0" y="96"/>
                  </a:cubicBezTo>
                  <a:cubicBezTo>
                    <a:pt x="0" y="98"/>
                    <a:pt x="1" y="99"/>
                    <a:pt x="3" y="99"/>
                  </a:cubicBezTo>
                  <a:lnTo>
                    <a:pt x="29" y="99"/>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a:bodyPr>
            <a:lstStyle/>
            <a:p>
              <a:pPr eaLnBrk="1" hangingPunct="1">
                <a:spcBef>
                  <a:spcPts val="0"/>
                </a:spcBef>
                <a:spcAft>
                  <a:spcPts val="0"/>
                </a:spcAft>
                <a:defRPr/>
              </a:pPr>
              <a:endParaRPr lang="zh-CN" altLang="en-US" sz="1800"/>
            </a:p>
          </p:txBody>
        </p:sp>
        <p:sp>
          <p:nvSpPr>
            <p:cNvPr id="71" name="Freeform 13@|5FFC:16777215|FBC:16777215|LFC:11960852|LBC:16777215"/>
            <p:cNvSpPr/>
            <p:nvPr>
              <p:custDataLst>
                <p:tags r:id="rId15"/>
              </p:custDataLst>
            </p:nvPr>
          </p:nvSpPr>
          <p:spPr bwMode="auto">
            <a:xfrm>
              <a:off x="3784600" y="1525588"/>
              <a:ext cx="935038" cy="541338"/>
            </a:xfrm>
            <a:custGeom>
              <a:avLst/>
              <a:gdLst>
                <a:gd name="T0" fmla="*/ 248 w 248"/>
                <a:gd name="T1" fmla="*/ 8 h 144"/>
                <a:gd name="T2" fmla="*/ 245 w 248"/>
                <a:gd name="T3" fmla="*/ 2 h 144"/>
                <a:gd name="T4" fmla="*/ 239 w 248"/>
                <a:gd name="T5" fmla="*/ 0 h 144"/>
                <a:gd name="T6" fmla="*/ 230 w 248"/>
                <a:gd name="T7" fmla="*/ 0 h 144"/>
                <a:gd name="T8" fmla="*/ 200 w 248"/>
                <a:gd name="T9" fmla="*/ 0 h 144"/>
                <a:gd name="T10" fmla="*/ 197 w 248"/>
                <a:gd name="T11" fmla="*/ 1 h 144"/>
                <a:gd name="T12" fmla="*/ 196 w 248"/>
                <a:gd name="T13" fmla="*/ 1 h 144"/>
                <a:gd name="T14" fmla="*/ 191 w 248"/>
                <a:gd name="T15" fmla="*/ 8 h 144"/>
                <a:gd name="T16" fmla="*/ 197 w 248"/>
                <a:gd name="T17" fmla="*/ 16 h 144"/>
                <a:gd name="T18" fmla="*/ 200 w 248"/>
                <a:gd name="T19" fmla="*/ 17 h 144"/>
                <a:gd name="T20" fmla="*/ 210 w 248"/>
                <a:gd name="T21" fmla="*/ 17 h 144"/>
                <a:gd name="T22" fmla="*/ 215 w 248"/>
                <a:gd name="T23" fmla="*/ 17 h 144"/>
                <a:gd name="T24" fmla="*/ 206 w 248"/>
                <a:gd name="T25" fmla="*/ 24 h 144"/>
                <a:gd name="T26" fmla="*/ 189 w 248"/>
                <a:gd name="T27" fmla="*/ 39 h 144"/>
                <a:gd name="T28" fmla="*/ 179 w 248"/>
                <a:gd name="T29" fmla="*/ 47 h 144"/>
                <a:gd name="T30" fmla="*/ 166 w 248"/>
                <a:gd name="T31" fmla="*/ 57 h 144"/>
                <a:gd name="T32" fmla="*/ 158 w 248"/>
                <a:gd name="T33" fmla="*/ 63 h 144"/>
                <a:gd name="T34" fmla="*/ 150 w 248"/>
                <a:gd name="T35" fmla="*/ 55 h 144"/>
                <a:gd name="T36" fmla="*/ 146 w 248"/>
                <a:gd name="T37" fmla="*/ 52 h 144"/>
                <a:gd name="T38" fmla="*/ 136 w 248"/>
                <a:gd name="T39" fmla="*/ 42 h 144"/>
                <a:gd name="T40" fmla="*/ 134 w 248"/>
                <a:gd name="T41" fmla="*/ 40 h 144"/>
                <a:gd name="T42" fmla="*/ 123 w 248"/>
                <a:gd name="T43" fmla="*/ 39 h 144"/>
                <a:gd name="T44" fmla="*/ 114 w 248"/>
                <a:gd name="T45" fmla="*/ 46 h 144"/>
                <a:gd name="T46" fmla="*/ 104 w 248"/>
                <a:gd name="T47" fmla="*/ 54 h 144"/>
                <a:gd name="T48" fmla="*/ 97 w 248"/>
                <a:gd name="T49" fmla="*/ 58 h 144"/>
                <a:gd name="T50" fmla="*/ 94 w 248"/>
                <a:gd name="T51" fmla="*/ 61 h 144"/>
                <a:gd name="T52" fmla="*/ 62 w 248"/>
                <a:gd name="T53" fmla="*/ 85 h 144"/>
                <a:gd name="T54" fmla="*/ 61 w 248"/>
                <a:gd name="T55" fmla="*/ 86 h 144"/>
                <a:gd name="T56" fmla="*/ 51 w 248"/>
                <a:gd name="T57" fmla="*/ 93 h 144"/>
                <a:gd name="T58" fmla="*/ 9 w 248"/>
                <a:gd name="T59" fmla="*/ 124 h 144"/>
                <a:gd name="T60" fmla="*/ 4 w 248"/>
                <a:gd name="T61" fmla="*/ 128 h 144"/>
                <a:gd name="T62" fmla="*/ 3 w 248"/>
                <a:gd name="T63" fmla="*/ 140 h 144"/>
                <a:gd name="T64" fmla="*/ 11 w 248"/>
                <a:gd name="T65" fmla="*/ 143 h 144"/>
                <a:gd name="T66" fmla="*/ 15 w 248"/>
                <a:gd name="T67" fmla="*/ 142 h 144"/>
                <a:gd name="T68" fmla="*/ 51 w 248"/>
                <a:gd name="T69" fmla="*/ 114 h 144"/>
                <a:gd name="T70" fmla="*/ 61 w 248"/>
                <a:gd name="T71" fmla="*/ 107 h 144"/>
                <a:gd name="T72" fmla="*/ 62 w 248"/>
                <a:gd name="T73" fmla="*/ 107 h 144"/>
                <a:gd name="T74" fmla="*/ 94 w 248"/>
                <a:gd name="T75" fmla="*/ 82 h 144"/>
                <a:gd name="T76" fmla="*/ 98 w 248"/>
                <a:gd name="T77" fmla="*/ 80 h 144"/>
                <a:gd name="T78" fmla="*/ 104 w 248"/>
                <a:gd name="T79" fmla="*/ 75 h 144"/>
                <a:gd name="T80" fmla="*/ 114 w 248"/>
                <a:gd name="T81" fmla="*/ 67 h 144"/>
                <a:gd name="T82" fmla="*/ 127 w 248"/>
                <a:gd name="T83" fmla="*/ 57 h 144"/>
                <a:gd name="T84" fmla="*/ 136 w 248"/>
                <a:gd name="T85" fmla="*/ 66 h 144"/>
                <a:gd name="T86" fmla="*/ 146 w 248"/>
                <a:gd name="T87" fmla="*/ 76 h 144"/>
                <a:gd name="T88" fmla="*/ 150 w 248"/>
                <a:gd name="T89" fmla="*/ 79 h 144"/>
                <a:gd name="T90" fmla="*/ 151 w 248"/>
                <a:gd name="T91" fmla="*/ 81 h 144"/>
                <a:gd name="T92" fmla="*/ 162 w 248"/>
                <a:gd name="T93" fmla="*/ 82 h 144"/>
                <a:gd name="T94" fmla="*/ 166 w 248"/>
                <a:gd name="T95" fmla="*/ 79 h 144"/>
                <a:gd name="T96" fmla="*/ 179 w 248"/>
                <a:gd name="T97" fmla="*/ 69 h 144"/>
                <a:gd name="T98" fmla="*/ 189 w 248"/>
                <a:gd name="T99" fmla="*/ 61 h 144"/>
                <a:gd name="T100" fmla="*/ 202 w 248"/>
                <a:gd name="T101" fmla="*/ 51 h 144"/>
                <a:gd name="T102" fmla="*/ 230 w 248"/>
                <a:gd name="T103" fmla="*/ 27 h 144"/>
                <a:gd name="T104" fmla="*/ 231 w 248"/>
                <a:gd name="T105" fmla="*/ 26 h 144"/>
                <a:gd name="T106" fmla="*/ 231 w 248"/>
                <a:gd name="T107" fmla="*/ 46 h 144"/>
                <a:gd name="T108" fmla="*/ 239 w 248"/>
                <a:gd name="T109" fmla="*/ 54 h 144"/>
                <a:gd name="T110" fmla="*/ 248 w 248"/>
                <a:gd name="T111" fmla="*/ 46 h 144"/>
                <a:gd name="T112" fmla="*/ 248 w 248"/>
                <a:gd name="T113" fmla="*/ 8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8" h="144">
                  <a:moveTo>
                    <a:pt x="248" y="8"/>
                  </a:moveTo>
                  <a:cubicBezTo>
                    <a:pt x="248" y="6"/>
                    <a:pt x="247" y="4"/>
                    <a:pt x="245" y="2"/>
                  </a:cubicBezTo>
                  <a:cubicBezTo>
                    <a:pt x="243" y="1"/>
                    <a:pt x="241" y="0"/>
                    <a:pt x="239" y="0"/>
                  </a:cubicBezTo>
                  <a:cubicBezTo>
                    <a:pt x="230" y="0"/>
                    <a:pt x="230" y="0"/>
                    <a:pt x="230" y="0"/>
                  </a:cubicBezTo>
                  <a:cubicBezTo>
                    <a:pt x="200" y="0"/>
                    <a:pt x="200" y="0"/>
                    <a:pt x="200" y="0"/>
                  </a:cubicBezTo>
                  <a:cubicBezTo>
                    <a:pt x="199" y="0"/>
                    <a:pt x="198" y="0"/>
                    <a:pt x="197" y="1"/>
                  </a:cubicBezTo>
                  <a:cubicBezTo>
                    <a:pt x="197" y="1"/>
                    <a:pt x="196" y="1"/>
                    <a:pt x="196" y="1"/>
                  </a:cubicBezTo>
                  <a:cubicBezTo>
                    <a:pt x="193" y="2"/>
                    <a:pt x="191" y="5"/>
                    <a:pt x="191" y="8"/>
                  </a:cubicBezTo>
                  <a:cubicBezTo>
                    <a:pt x="191" y="12"/>
                    <a:pt x="194" y="15"/>
                    <a:pt x="197" y="16"/>
                  </a:cubicBezTo>
                  <a:cubicBezTo>
                    <a:pt x="198" y="17"/>
                    <a:pt x="199" y="17"/>
                    <a:pt x="200" y="17"/>
                  </a:cubicBezTo>
                  <a:cubicBezTo>
                    <a:pt x="210" y="17"/>
                    <a:pt x="210" y="17"/>
                    <a:pt x="210" y="17"/>
                  </a:cubicBezTo>
                  <a:cubicBezTo>
                    <a:pt x="215" y="17"/>
                    <a:pt x="215" y="17"/>
                    <a:pt x="215" y="17"/>
                  </a:cubicBezTo>
                  <a:cubicBezTo>
                    <a:pt x="206" y="24"/>
                    <a:pt x="206" y="24"/>
                    <a:pt x="206" y="24"/>
                  </a:cubicBezTo>
                  <a:cubicBezTo>
                    <a:pt x="189" y="39"/>
                    <a:pt x="189" y="39"/>
                    <a:pt x="189" y="39"/>
                  </a:cubicBezTo>
                  <a:cubicBezTo>
                    <a:pt x="179" y="47"/>
                    <a:pt x="179" y="47"/>
                    <a:pt x="179" y="47"/>
                  </a:cubicBezTo>
                  <a:cubicBezTo>
                    <a:pt x="166" y="57"/>
                    <a:pt x="166" y="57"/>
                    <a:pt x="166" y="57"/>
                  </a:cubicBezTo>
                  <a:cubicBezTo>
                    <a:pt x="158" y="63"/>
                    <a:pt x="158" y="63"/>
                    <a:pt x="158" y="63"/>
                  </a:cubicBezTo>
                  <a:cubicBezTo>
                    <a:pt x="150" y="55"/>
                    <a:pt x="150" y="55"/>
                    <a:pt x="150" y="55"/>
                  </a:cubicBezTo>
                  <a:cubicBezTo>
                    <a:pt x="146" y="52"/>
                    <a:pt x="146" y="52"/>
                    <a:pt x="146" y="52"/>
                  </a:cubicBezTo>
                  <a:cubicBezTo>
                    <a:pt x="136" y="42"/>
                    <a:pt x="136" y="42"/>
                    <a:pt x="136" y="42"/>
                  </a:cubicBezTo>
                  <a:cubicBezTo>
                    <a:pt x="134" y="40"/>
                    <a:pt x="134" y="40"/>
                    <a:pt x="134" y="40"/>
                  </a:cubicBezTo>
                  <a:cubicBezTo>
                    <a:pt x="131" y="37"/>
                    <a:pt x="127" y="36"/>
                    <a:pt x="123" y="39"/>
                  </a:cubicBezTo>
                  <a:cubicBezTo>
                    <a:pt x="114" y="46"/>
                    <a:pt x="114" y="46"/>
                    <a:pt x="114" y="46"/>
                  </a:cubicBezTo>
                  <a:cubicBezTo>
                    <a:pt x="104" y="54"/>
                    <a:pt x="104" y="54"/>
                    <a:pt x="104" y="54"/>
                  </a:cubicBezTo>
                  <a:cubicBezTo>
                    <a:pt x="97" y="58"/>
                    <a:pt x="97" y="58"/>
                    <a:pt x="97" y="58"/>
                  </a:cubicBezTo>
                  <a:cubicBezTo>
                    <a:pt x="94" y="61"/>
                    <a:pt x="94" y="61"/>
                    <a:pt x="94" y="61"/>
                  </a:cubicBezTo>
                  <a:cubicBezTo>
                    <a:pt x="62" y="85"/>
                    <a:pt x="62" y="85"/>
                    <a:pt x="62" y="85"/>
                  </a:cubicBezTo>
                  <a:cubicBezTo>
                    <a:pt x="61" y="86"/>
                    <a:pt x="61" y="86"/>
                    <a:pt x="61" y="86"/>
                  </a:cubicBezTo>
                  <a:cubicBezTo>
                    <a:pt x="51" y="93"/>
                    <a:pt x="51" y="93"/>
                    <a:pt x="51" y="93"/>
                  </a:cubicBezTo>
                  <a:cubicBezTo>
                    <a:pt x="9" y="124"/>
                    <a:pt x="9" y="124"/>
                    <a:pt x="9" y="124"/>
                  </a:cubicBezTo>
                  <a:cubicBezTo>
                    <a:pt x="4" y="128"/>
                    <a:pt x="4" y="128"/>
                    <a:pt x="4" y="128"/>
                  </a:cubicBezTo>
                  <a:cubicBezTo>
                    <a:pt x="1" y="131"/>
                    <a:pt x="0" y="136"/>
                    <a:pt x="3" y="140"/>
                  </a:cubicBezTo>
                  <a:cubicBezTo>
                    <a:pt x="5" y="143"/>
                    <a:pt x="8" y="144"/>
                    <a:pt x="11" y="143"/>
                  </a:cubicBezTo>
                  <a:cubicBezTo>
                    <a:pt x="12" y="143"/>
                    <a:pt x="14" y="143"/>
                    <a:pt x="15" y="142"/>
                  </a:cubicBezTo>
                  <a:cubicBezTo>
                    <a:pt x="51" y="114"/>
                    <a:pt x="51" y="114"/>
                    <a:pt x="51" y="114"/>
                  </a:cubicBezTo>
                  <a:cubicBezTo>
                    <a:pt x="61" y="107"/>
                    <a:pt x="61" y="107"/>
                    <a:pt x="61" y="107"/>
                  </a:cubicBezTo>
                  <a:cubicBezTo>
                    <a:pt x="62" y="107"/>
                    <a:pt x="62" y="107"/>
                    <a:pt x="62" y="107"/>
                  </a:cubicBezTo>
                  <a:cubicBezTo>
                    <a:pt x="94" y="82"/>
                    <a:pt x="94" y="82"/>
                    <a:pt x="94" y="82"/>
                  </a:cubicBezTo>
                  <a:cubicBezTo>
                    <a:pt x="98" y="80"/>
                    <a:pt x="98" y="80"/>
                    <a:pt x="98" y="80"/>
                  </a:cubicBezTo>
                  <a:cubicBezTo>
                    <a:pt x="104" y="75"/>
                    <a:pt x="104" y="75"/>
                    <a:pt x="104" y="75"/>
                  </a:cubicBezTo>
                  <a:cubicBezTo>
                    <a:pt x="114" y="67"/>
                    <a:pt x="114" y="67"/>
                    <a:pt x="114" y="67"/>
                  </a:cubicBezTo>
                  <a:cubicBezTo>
                    <a:pt x="127" y="57"/>
                    <a:pt x="127" y="57"/>
                    <a:pt x="127" y="57"/>
                  </a:cubicBezTo>
                  <a:cubicBezTo>
                    <a:pt x="136" y="66"/>
                    <a:pt x="136" y="66"/>
                    <a:pt x="136" y="66"/>
                  </a:cubicBezTo>
                  <a:cubicBezTo>
                    <a:pt x="146" y="76"/>
                    <a:pt x="146" y="76"/>
                    <a:pt x="146" y="76"/>
                  </a:cubicBezTo>
                  <a:cubicBezTo>
                    <a:pt x="150" y="79"/>
                    <a:pt x="150" y="79"/>
                    <a:pt x="150" y="79"/>
                  </a:cubicBezTo>
                  <a:cubicBezTo>
                    <a:pt x="151" y="81"/>
                    <a:pt x="151" y="81"/>
                    <a:pt x="151" y="81"/>
                  </a:cubicBezTo>
                  <a:cubicBezTo>
                    <a:pt x="154" y="84"/>
                    <a:pt x="159" y="84"/>
                    <a:pt x="162" y="82"/>
                  </a:cubicBezTo>
                  <a:cubicBezTo>
                    <a:pt x="166" y="79"/>
                    <a:pt x="166" y="79"/>
                    <a:pt x="166" y="79"/>
                  </a:cubicBezTo>
                  <a:cubicBezTo>
                    <a:pt x="179" y="69"/>
                    <a:pt x="179" y="69"/>
                    <a:pt x="179" y="69"/>
                  </a:cubicBezTo>
                  <a:cubicBezTo>
                    <a:pt x="189" y="61"/>
                    <a:pt x="189" y="61"/>
                    <a:pt x="189" y="61"/>
                  </a:cubicBezTo>
                  <a:cubicBezTo>
                    <a:pt x="202" y="51"/>
                    <a:pt x="202" y="51"/>
                    <a:pt x="202" y="51"/>
                  </a:cubicBezTo>
                  <a:cubicBezTo>
                    <a:pt x="230" y="27"/>
                    <a:pt x="230" y="27"/>
                    <a:pt x="230" y="27"/>
                  </a:cubicBezTo>
                  <a:cubicBezTo>
                    <a:pt x="231" y="26"/>
                    <a:pt x="231" y="26"/>
                    <a:pt x="231" y="26"/>
                  </a:cubicBezTo>
                  <a:cubicBezTo>
                    <a:pt x="231" y="46"/>
                    <a:pt x="231" y="46"/>
                    <a:pt x="231" y="46"/>
                  </a:cubicBezTo>
                  <a:cubicBezTo>
                    <a:pt x="231" y="50"/>
                    <a:pt x="234" y="54"/>
                    <a:pt x="239" y="54"/>
                  </a:cubicBezTo>
                  <a:cubicBezTo>
                    <a:pt x="244" y="54"/>
                    <a:pt x="248" y="50"/>
                    <a:pt x="248" y="46"/>
                  </a:cubicBezTo>
                  <a:lnTo>
                    <a:pt x="248" y="8"/>
                  </a:lnTo>
                  <a:close/>
                </a:path>
              </a:pathLst>
            </a:custGeom>
            <a:grpFill/>
            <a:ln>
              <a:noFill/>
            </a:ln>
            <a:extLst>
              <a:ext uri="{91240B29-F687-4F45-9708-019B960494DF}">
                <a14:hiddenLine xmlns:a14="http://schemas.microsoft.com/office/drawing/2010/main" w="9525">
                  <a:solidFill>
                    <a:srgbClr val="1482B6"/>
                  </a:solidFill>
                  <a:round/>
                </a14:hiddenLine>
              </a:ext>
            </a:extLst>
          </p:spPr>
          <p:txBody>
            <a:bodyPr>
              <a:normAutofit/>
            </a:bodyPr>
            <a:lstStyle/>
            <a:p>
              <a:pPr eaLnBrk="1" hangingPunct="1">
                <a:spcBef>
                  <a:spcPts val="0"/>
                </a:spcBef>
                <a:spcAft>
                  <a:spcPts val="0"/>
                </a:spcAft>
                <a:defRPr/>
              </a:pPr>
              <a:endParaRPr lang="zh-CN" altLang="en-US" sz="1800"/>
            </a:p>
          </p:txBody>
        </p:sp>
      </p:grpSp>
      <p:sp>
        <p:nvSpPr>
          <p:cNvPr id="28" name="六边形 27"/>
          <p:cNvSpPr/>
          <p:nvPr>
            <p:custDataLst>
              <p:tags r:id="rId7"/>
            </p:custDataLst>
          </p:nvPr>
        </p:nvSpPr>
        <p:spPr>
          <a:xfrm>
            <a:off x="4286250" y="4632325"/>
            <a:ext cx="1203325" cy="1052830"/>
          </a:xfrm>
          <a:prstGeom prst="hexagon">
            <a:avLst/>
          </a:prstGeom>
          <a:solidFill>
            <a:srgbClr val="E6781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b="1" dirty="0">
                <a:solidFill>
                  <a:schemeClr val="bg1"/>
                </a:solidFill>
                <a:latin typeface="+mj-lt"/>
              </a:rPr>
              <a:t>02</a:t>
            </a:r>
            <a:endParaRPr lang="zh-CN" altLang="en-US" sz="2400" b="1" dirty="0">
              <a:solidFill>
                <a:schemeClr val="bg1"/>
              </a:solidFill>
              <a:latin typeface="+mj-lt"/>
            </a:endParaRPr>
          </a:p>
        </p:txBody>
      </p:sp>
      <p:sp>
        <p:nvSpPr>
          <p:cNvPr id="37" name="文本框 36"/>
          <p:cNvSpPr txBox="1"/>
          <p:nvPr>
            <p:custDataLst>
              <p:tags r:id="rId8"/>
            </p:custDataLst>
          </p:nvPr>
        </p:nvSpPr>
        <p:spPr>
          <a:xfrm>
            <a:off x="8842838" y="3893642"/>
            <a:ext cx="2935605" cy="397866"/>
          </a:xfrm>
          <a:prstGeom prst="rect">
            <a:avLst/>
          </a:prstGeom>
          <a:noFill/>
        </p:spPr>
        <p:txBody>
          <a:bodyPr>
            <a:spAutoFit/>
          </a:bodyPr>
          <a:lstStyle/>
          <a:p>
            <a:pPr eaLnBrk="1" hangingPunct="1">
              <a:lnSpc>
                <a:spcPct val="120000"/>
              </a:lnSpc>
              <a:spcBef>
                <a:spcPts val="0"/>
              </a:spcBef>
              <a:spcAft>
                <a:spcPts val="0"/>
              </a:spcAft>
              <a:defRPr/>
            </a:pPr>
            <a:r>
              <a:rPr lang="zh-CN" altLang="en-US" dirty="0"/>
              <a:t>维护的问题很多</a:t>
            </a:r>
          </a:p>
        </p:txBody>
      </p:sp>
      <p:sp>
        <p:nvSpPr>
          <p:cNvPr id="32" name="文本框 31"/>
          <p:cNvSpPr txBox="1"/>
          <p:nvPr>
            <p:custDataLst>
              <p:tags r:id="rId9"/>
            </p:custDataLst>
          </p:nvPr>
        </p:nvSpPr>
        <p:spPr>
          <a:xfrm>
            <a:off x="804347" y="4261286"/>
            <a:ext cx="2934970" cy="369332"/>
          </a:xfrm>
          <a:prstGeom prst="rect">
            <a:avLst/>
          </a:prstGeom>
          <a:noFill/>
        </p:spPr>
        <p:txBody>
          <a:bodyPr>
            <a:spAutoFit/>
          </a:bodyPr>
          <a:lstStyle/>
          <a:p>
            <a:pPr algn="r" eaLnBrk="1" hangingPunct="1">
              <a:spcBef>
                <a:spcPts val="0"/>
              </a:spcBef>
              <a:spcAft>
                <a:spcPts val="0"/>
              </a:spcAft>
              <a:defRPr/>
            </a:pPr>
            <a:r>
              <a:rPr lang="zh-CN" altLang="en-US" dirty="0"/>
              <a:t>维护的代价高昂</a:t>
            </a:r>
          </a:p>
        </p:txBody>
      </p:sp>
      <p:cxnSp>
        <p:nvCxnSpPr>
          <p:cNvPr id="8" name="连接符: 肘形 7">
            <a:extLst>
              <a:ext uri="{FF2B5EF4-FFF2-40B4-BE49-F238E27FC236}">
                <a16:creationId xmlns:a16="http://schemas.microsoft.com/office/drawing/2014/main" id="{526504DD-0F9E-DCF0-AC40-23997151A364}"/>
              </a:ext>
            </a:extLst>
          </p:cNvPr>
          <p:cNvCxnSpPr>
            <a:stCxn id="54" idx="5"/>
            <a:endCxn id="51" idx="1"/>
          </p:cNvCxnSpPr>
          <p:nvPr/>
        </p:nvCxnSpPr>
        <p:spPr>
          <a:xfrm rot="5400000" flipH="1" flipV="1">
            <a:off x="6641193" y="1637342"/>
            <a:ext cx="772914" cy="96001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FBF9CEEE-4491-983B-668F-9473D2C04FFE}"/>
              </a:ext>
            </a:extLst>
          </p:cNvPr>
          <p:cNvCxnSpPr>
            <a:cxnSpLocks/>
            <a:stCxn id="56" idx="5"/>
            <a:endCxn id="37" idx="1"/>
          </p:cNvCxnSpPr>
          <p:nvPr/>
        </p:nvCxnSpPr>
        <p:spPr>
          <a:xfrm rot="5400000" flipH="1" flipV="1">
            <a:off x="8082988" y="3872475"/>
            <a:ext cx="539750" cy="97995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15C7057D-ADB4-45E3-5C5D-5A5F76C06984}"/>
              </a:ext>
            </a:extLst>
          </p:cNvPr>
          <p:cNvCxnSpPr>
            <a:cxnSpLocks/>
            <a:stCxn id="28" idx="4"/>
            <a:endCxn id="32" idx="3"/>
          </p:cNvCxnSpPr>
          <p:nvPr/>
        </p:nvCxnSpPr>
        <p:spPr>
          <a:xfrm rot="16200000" flipV="1">
            <a:off x="4051202" y="4134068"/>
            <a:ext cx="186373" cy="810141"/>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a:p>
        </p:txBody>
      </p:sp>
      <p:sp>
        <p:nvSpPr>
          <p:cNvPr id="3082" name="MH_Text_2"/>
          <p:cNvSpPr>
            <a:spLocks noChangeArrowheads="1"/>
          </p:cNvSpPr>
          <p:nvPr/>
        </p:nvSpPr>
        <p:spPr bwMode="auto">
          <a:xfrm>
            <a:off x="809469" y="2695663"/>
            <a:ext cx="3015771" cy="344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108000" rIns="108000" bIns="108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20000"/>
              </a:lnSpc>
              <a:defRPr/>
            </a:pPr>
            <a:r>
              <a:rPr lang="zh-CN" altLang="en-US" sz="1600" dirty="0">
                <a:latin typeface="+mj-ea"/>
                <a:ea typeface="+mj-ea"/>
              </a:rPr>
              <a:t>结构化维护</a:t>
            </a:r>
            <a:endParaRPr lang="en-US" altLang="zh-CN" sz="1600" dirty="0">
              <a:latin typeface="+mj-ea"/>
              <a:ea typeface="+mj-ea"/>
            </a:endParaRPr>
          </a:p>
          <a:p>
            <a:pPr algn="l" fontAlgn="auto">
              <a:lnSpc>
                <a:spcPct val="120000"/>
              </a:lnSpc>
              <a:defRPr/>
            </a:pPr>
            <a:r>
              <a:rPr lang="zh-CN" altLang="en-US" sz="1600" dirty="0"/>
              <a:t>开发早期就应用系统化的工程方法论，如需求分析、设计文档、模块化编程、版本控制、测试用例等，使得软件具有良好的可维护性</a:t>
            </a:r>
          </a:p>
          <a:p>
            <a:pPr marL="285750" indent="-285750" algn="l" fontAlgn="auto">
              <a:lnSpc>
                <a:spcPct val="120000"/>
              </a:lnSpc>
              <a:buFont typeface="Arial" panose="020B0604020202020204" pitchFamily="34" charset="0"/>
              <a:buChar char="•"/>
              <a:defRPr/>
            </a:pPr>
            <a:r>
              <a:rPr lang="zh-CN" altLang="en-US" sz="1600" dirty="0"/>
              <a:t>维护工作量相对较少</a:t>
            </a:r>
          </a:p>
          <a:p>
            <a:pPr marL="285750" indent="-285750" algn="l" fontAlgn="auto">
              <a:lnSpc>
                <a:spcPct val="120000"/>
              </a:lnSpc>
              <a:buFont typeface="Arial" panose="020B0604020202020204" pitchFamily="34" charset="0"/>
              <a:buChar char="•"/>
              <a:defRPr/>
            </a:pPr>
            <a:r>
              <a:rPr lang="zh-CN" altLang="en-US" sz="1600" dirty="0"/>
              <a:t>维护质量更高；修改有据可依，不易引入新错误</a:t>
            </a:r>
          </a:p>
          <a:p>
            <a:pPr marL="285750" indent="-285750" algn="l" fontAlgn="auto">
              <a:lnSpc>
                <a:spcPct val="120000"/>
              </a:lnSpc>
              <a:buFont typeface="Arial" panose="020B0604020202020204" pitchFamily="34" charset="0"/>
              <a:buChar char="•"/>
              <a:defRPr/>
            </a:pPr>
            <a:r>
              <a:rPr lang="zh-CN" altLang="en-US" sz="1600" dirty="0"/>
              <a:t>依赖完整的文档和清晰的结构</a:t>
            </a:r>
            <a:endParaRPr lang="en-US" altLang="zh-CN" sz="1600" dirty="0"/>
          </a:p>
        </p:txBody>
      </p:sp>
      <p:sp>
        <p:nvSpPr>
          <p:cNvPr id="4" name="MH_Text_2"/>
          <p:cNvSpPr>
            <a:spLocks noChangeArrowheads="1"/>
          </p:cNvSpPr>
          <p:nvPr/>
        </p:nvSpPr>
        <p:spPr bwMode="auto">
          <a:xfrm>
            <a:off x="8366759" y="2695663"/>
            <a:ext cx="3016800" cy="314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108000" rIns="108000" bIns="108000">
            <a:spAutoFit/>
          </a:bodyPr>
          <a:lstStyle/>
          <a:p>
            <a:pPr algn="r">
              <a:lnSpc>
                <a:spcPct val="120000"/>
              </a:lnSpc>
            </a:pPr>
            <a:r>
              <a:rPr lang="zh-CN" altLang="en-US" sz="1600" dirty="0">
                <a:latin typeface="+mj-ea"/>
                <a:ea typeface="+mj-ea"/>
              </a:rPr>
              <a:t>非结构化维护</a:t>
            </a:r>
            <a:endParaRPr lang="en-US" altLang="zh-CN" sz="1600" dirty="0">
              <a:latin typeface="+mj-ea"/>
              <a:ea typeface="+mj-ea"/>
            </a:endParaRPr>
          </a:p>
          <a:p>
            <a:pPr>
              <a:lnSpc>
                <a:spcPct val="120000"/>
              </a:lnSpc>
            </a:pPr>
            <a:r>
              <a:rPr lang="zh-CN" altLang="en-US" sz="1600" dirty="0"/>
              <a:t>开发时缺乏系统化的工程方法论，</a:t>
            </a:r>
            <a:r>
              <a:rPr lang="zh-CN" altLang="en-US" sz="1600" dirty="0">
                <a:solidFill>
                  <a:srgbClr val="E67819"/>
                </a:solidFill>
              </a:rPr>
              <a:t>没有或仅有极少的开发文档</a:t>
            </a:r>
            <a:r>
              <a:rPr lang="zh-CN" altLang="en-US" sz="1600" dirty="0"/>
              <a:t>，代码结构混乱，通常被称为意大利面式代码</a:t>
            </a:r>
          </a:p>
          <a:p>
            <a:pPr marL="285750" indent="-285750">
              <a:lnSpc>
                <a:spcPct val="120000"/>
              </a:lnSpc>
              <a:buFont typeface="Arial" panose="020B0604020202020204" pitchFamily="34" charset="0"/>
              <a:buChar char="•"/>
            </a:pPr>
            <a:r>
              <a:rPr lang="zh-CN" altLang="en-US" sz="1600" dirty="0"/>
              <a:t>维护工作量巨大，效率低下</a:t>
            </a:r>
          </a:p>
          <a:p>
            <a:pPr marL="285750" indent="-285750">
              <a:lnSpc>
                <a:spcPct val="120000"/>
              </a:lnSpc>
              <a:buFont typeface="Arial" panose="020B0604020202020204" pitchFamily="34" charset="0"/>
              <a:buChar char="•"/>
            </a:pPr>
            <a:r>
              <a:rPr lang="zh-CN" altLang="en-US" sz="1600" dirty="0"/>
              <a:t>维护质量难以保证，容易引入新的错误</a:t>
            </a:r>
          </a:p>
          <a:p>
            <a:pPr marL="285750" indent="-285750">
              <a:lnSpc>
                <a:spcPct val="120000"/>
              </a:lnSpc>
              <a:buFont typeface="Arial" panose="020B0604020202020204" pitchFamily="34" charset="0"/>
              <a:buChar char="•"/>
            </a:pPr>
            <a:r>
              <a:rPr lang="zh-CN" altLang="en-US" sz="1600" dirty="0"/>
              <a:t>维护人员需要花费大量时间逆向工程来理解代码</a:t>
            </a:r>
          </a:p>
        </p:txBody>
      </p:sp>
      <p:sp>
        <p:nvSpPr>
          <p:cNvPr id="5" name="TextBox 6">
            <a:extLst>
              <a:ext uri="{FF2B5EF4-FFF2-40B4-BE49-F238E27FC236}">
                <a16:creationId xmlns:a16="http://schemas.microsoft.com/office/drawing/2014/main" id="{ADB628DF-B598-B4DF-B0D1-A2665547B9C4}"/>
              </a:ext>
            </a:extLst>
          </p:cNvPr>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pPr>
              <a:defRPr/>
            </a:pPr>
            <a:r>
              <a:rPr lang="en-US" altLang="zh-CN" sz="2400" dirty="0">
                <a:solidFill>
                  <a:schemeClr val="tx1"/>
                </a:solidFill>
              </a:rPr>
              <a:t>5.1.2 </a:t>
            </a:r>
            <a:r>
              <a:rPr lang="zh-CN" altLang="en-US" sz="2400" dirty="0">
                <a:solidFill>
                  <a:schemeClr val="tx1"/>
                </a:solidFill>
              </a:rPr>
              <a:t>软件维护的特点</a:t>
            </a:r>
          </a:p>
        </p:txBody>
      </p:sp>
      <p:sp>
        <p:nvSpPr>
          <p:cNvPr id="6" name="TextBox 1">
            <a:extLst>
              <a:ext uri="{FF2B5EF4-FFF2-40B4-BE49-F238E27FC236}">
                <a16:creationId xmlns:a16="http://schemas.microsoft.com/office/drawing/2014/main" id="{17CA2183-6A75-9402-9DBB-32E7C5642D45}"/>
              </a:ext>
            </a:extLst>
          </p:cNvPr>
          <p:cNvSpPr txBox="1">
            <a:spLocks noChangeArrowheads="1"/>
          </p:cNvSpPr>
          <p:nvPr/>
        </p:nvSpPr>
        <p:spPr bwMode="auto">
          <a:xfrm>
            <a:off x="809625" y="1995518"/>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01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7" name="直接连接符 6">
            <a:extLst>
              <a:ext uri="{FF2B5EF4-FFF2-40B4-BE49-F238E27FC236}">
                <a16:creationId xmlns:a16="http://schemas.microsoft.com/office/drawing/2014/main" id="{9D6EE640-4E0C-BCB1-8552-16052F651D3E}"/>
              </a:ext>
            </a:extLst>
          </p:cNvPr>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9" name="矩形 7">
            <a:extLst>
              <a:ext uri="{FF2B5EF4-FFF2-40B4-BE49-F238E27FC236}">
                <a16:creationId xmlns:a16="http://schemas.microsoft.com/office/drawing/2014/main" id="{EBF902D1-D795-D85B-B298-101E3A0AD1F7}"/>
              </a:ext>
            </a:extLst>
          </p:cNvPr>
          <p:cNvSpPr>
            <a:spLocks noChangeArrowheads="1"/>
          </p:cNvSpPr>
          <p:nvPr/>
        </p:nvSpPr>
        <p:spPr bwMode="auto">
          <a:xfrm>
            <a:off x="1262066" y="2090768"/>
            <a:ext cx="46135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结构化维护与非结构化维护差别巨大</a:t>
            </a:r>
          </a:p>
        </p:txBody>
      </p:sp>
      <p:pic>
        <p:nvPicPr>
          <p:cNvPr id="2" name="图片 148">
            <a:extLst>
              <a:ext uri="{FF2B5EF4-FFF2-40B4-BE49-F238E27FC236}">
                <a16:creationId xmlns:a16="http://schemas.microsoft.com/office/drawing/2014/main" id="{5D54F848-0387-FFA0-C0B3-E24C69DE47BA}"/>
              </a:ext>
            </a:extLst>
          </p:cNvPr>
          <p:cNvPicPr>
            <a:picLocks noChangeAspect="1"/>
          </p:cNvPicPr>
          <p:nvPr/>
        </p:nvPicPr>
        <p:blipFill>
          <a:blip r:embed="rId3" cstate="print"/>
          <a:stretch>
            <a:fillRect/>
          </a:stretch>
        </p:blipFill>
        <p:spPr>
          <a:xfrm>
            <a:off x="3825240" y="2465105"/>
            <a:ext cx="4541520" cy="4299585"/>
          </a:xfrm>
          <a:prstGeom prst="rect">
            <a:avLst/>
          </a:prstGeom>
          <a:noFill/>
          <a:ln w="9525">
            <a:noFill/>
          </a:ln>
        </p:spPr>
      </p:pic>
      <p:cxnSp>
        <p:nvCxnSpPr>
          <p:cNvPr id="17" name="直接连接符 16">
            <a:extLst>
              <a:ext uri="{FF2B5EF4-FFF2-40B4-BE49-F238E27FC236}">
                <a16:creationId xmlns:a16="http://schemas.microsoft.com/office/drawing/2014/main" id="{65BACD98-CBDA-05B6-CF2E-75024A276DE1}"/>
              </a:ext>
            </a:extLst>
          </p:cNvPr>
          <p:cNvCxnSpPr>
            <a:cxnSpLocks/>
          </p:cNvCxnSpPr>
          <p:nvPr/>
        </p:nvCxnSpPr>
        <p:spPr>
          <a:xfrm>
            <a:off x="8518560" y="2956482"/>
            <a:ext cx="1440000" cy="0"/>
          </a:xfrm>
          <a:prstGeom prst="line">
            <a:avLst/>
          </a:prstGeom>
          <a:ln w="12700">
            <a:solidFill>
              <a:srgbClr val="58BDA8"/>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4118F82-6BCA-CCBF-2ABB-700367372E14}"/>
              </a:ext>
            </a:extLst>
          </p:cNvPr>
          <p:cNvCxnSpPr>
            <a:cxnSpLocks/>
          </p:cNvCxnSpPr>
          <p:nvPr/>
        </p:nvCxnSpPr>
        <p:spPr>
          <a:xfrm>
            <a:off x="1993355" y="2956482"/>
            <a:ext cx="1440000" cy="0"/>
          </a:xfrm>
          <a:prstGeom prst="line">
            <a:avLst/>
          </a:prstGeom>
          <a:ln w="12700">
            <a:solidFill>
              <a:srgbClr val="58BDA8"/>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AA275E8-F997-045E-2DC3-1C3F69E928FF}"/>
              </a:ext>
            </a:extLst>
          </p:cNvPr>
          <p:cNvCxnSpPr>
            <a:cxnSpLocks/>
          </p:cNvCxnSpPr>
          <p:nvPr/>
        </p:nvCxnSpPr>
        <p:spPr>
          <a:xfrm>
            <a:off x="809469" y="2956482"/>
            <a:ext cx="0" cy="2880000"/>
          </a:xfrm>
          <a:prstGeom prst="line">
            <a:avLst/>
          </a:prstGeom>
          <a:ln w="12700">
            <a:solidFill>
              <a:srgbClr val="58BDA8"/>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3B2FD3D-7099-BE8E-A7D2-942D247F4C8C}"/>
              </a:ext>
            </a:extLst>
          </p:cNvPr>
          <p:cNvCxnSpPr>
            <a:cxnSpLocks/>
          </p:cNvCxnSpPr>
          <p:nvPr/>
        </p:nvCxnSpPr>
        <p:spPr>
          <a:xfrm>
            <a:off x="11383559" y="2956482"/>
            <a:ext cx="0" cy="2880000"/>
          </a:xfrm>
          <a:prstGeom prst="line">
            <a:avLst/>
          </a:prstGeom>
          <a:ln w="12700">
            <a:solidFill>
              <a:srgbClr val="58BDA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0849953"/>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altLang="zh-CN" dirty="0">
                <a:sym typeface="+mn-ea"/>
              </a:rPr>
              <a:t>5.1 </a:t>
            </a:r>
            <a:r>
              <a:rPr lang="zh-CN" altLang="en-US" dirty="0">
                <a:sym typeface="+mn-ea"/>
              </a:rPr>
              <a:t>软件维护</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pPr>
              <a:defRPr/>
            </a:pPr>
            <a:r>
              <a:rPr lang="en-US" altLang="zh-CN" sz="2400" dirty="0">
                <a:solidFill>
                  <a:schemeClr val="tx1"/>
                </a:solidFill>
              </a:rPr>
              <a:t>5.1.2 </a:t>
            </a:r>
            <a:r>
              <a:rPr lang="zh-CN" altLang="en-US" sz="2400" dirty="0">
                <a:solidFill>
                  <a:schemeClr val="tx1"/>
                </a:solidFill>
              </a:rPr>
              <a:t>软件维护的特点</a:t>
            </a:r>
          </a:p>
        </p:txBody>
      </p:sp>
      <p:sp>
        <p:nvSpPr>
          <p:cNvPr id="6" name="圆角矩形 5"/>
          <p:cNvSpPr/>
          <p:nvPr/>
        </p:nvSpPr>
        <p:spPr>
          <a:xfrm>
            <a:off x="1598707" y="5601651"/>
            <a:ext cx="7344000" cy="476071"/>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a:r>
              <a:rPr lang="zh-CN" altLang="en-US" sz="1600" dirty="0">
                <a:solidFill>
                  <a:schemeClr val="tx1"/>
                </a:solidFill>
              </a:rPr>
              <a:t>每条指令的维护</a:t>
            </a:r>
            <a:r>
              <a:rPr lang="zh-CN" altLang="en-US" sz="1600" b="1" dirty="0">
                <a:solidFill>
                  <a:srgbClr val="58BDA8"/>
                </a:solidFill>
                <a:latin typeface="+mj-ea"/>
                <a:ea typeface="+mj-ea"/>
              </a:rPr>
              <a:t>成本</a:t>
            </a:r>
            <a:r>
              <a:rPr lang="zh-CN" altLang="en-US" sz="1600" dirty="0">
                <a:solidFill>
                  <a:schemeClr val="tx1"/>
                </a:solidFill>
              </a:rPr>
              <a:t>数十倍于每条指令的开发成本，造成生产率的大幅下降</a:t>
            </a:r>
          </a:p>
        </p:txBody>
      </p:sp>
      <p:sp>
        <p:nvSpPr>
          <p:cNvPr id="58" name="椭圆 57"/>
          <p:cNvSpPr/>
          <p:nvPr/>
        </p:nvSpPr>
        <p:spPr>
          <a:xfrm>
            <a:off x="8970009" y="5534569"/>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bg1"/>
                </a:solidFill>
                <a:effectLst/>
                <a:uLnTx/>
                <a:uFillTx/>
                <a:latin typeface="+mn-lt"/>
                <a:ea typeface="+mn-ea"/>
                <a:cs typeface="+mn-cs"/>
              </a:rPr>
              <a:t>05</a:t>
            </a:r>
            <a:endParaRPr kumimoji="0" lang="zh-CN" altLang="en-US" sz="2000" b="1" i="0" u="none" strike="noStrike" kern="1200" cap="none" spc="0" normalizeH="0" baseline="0" noProof="0" dirty="0">
              <a:ln>
                <a:noFill/>
              </a:ln>
              <a:solidFill>
                <a:schemeClr val="bg1"/>
              </a:solidFill>
              <a:effectLst/>
              <a:uLnTx/>
              <a:uFillTx/>
              <a:latin typeface="+mn-lt"/>
              <a:ea typeface="+mn-ea"/>
              <a:cs typeface="+mn-cs"/>
            </a:endParaRPr>
          </a:p>
        </p:txBody>
      </p:sp>
      <p:sp>
        <p:nvSpPr>
          <p:cNvPr id="59" name="圆角矩形 58"/>
          <p:cNvSpPr/>
          <p:nvPr/>
        </p:nvSpPr>
        <p:spPr>
          <a:xfrm>
            <a:off x="2056226" y="4856003"/>
            <a:ext cx="7344000" cy="476071"/>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a:r>
              <a:rPr lang="zh-CN" altLang="en-US" sz="1600" dirty="0">
                <a:solidFill>
                  <a:schemeClr val="tx1"/>
                </a:solidFill>
              </a:rPr>
              <a:t>当必须把从事开发的软件</a:t>
            </a:r>
            <a:r>
              <a:rPr lang="zh-CN" altLang="en-US" sz="1600" b="1" dirty="0">
                <a:solidFill>
                  <a:srgbClr val="58BDA8"/>
                </a:solidFill>
                <a:latin typeface="+mj-ea"/>
                <a:ea typeface="+mj-ea"/>
              </a:rPr>
              <a:t>人</a:t>
            </a:r>
            <a:r>
              <a:rPr lang="zh-CN" altLang="en-US" sz="1600" dirty="0">
                <a:solidFill>
                  <a:schemeClr val="tx1"/>
                </a:solidFill>
              </a:rPr>
              <a:t>员调去从事维护工作时，将可能打乱软件开发过程</a:t>
            </a:r>
          </a:p>
        </p:txBody>
      </p:sp>
      <p:sp>
        <p:nvSpPr>
          <p:cNvPr id="60" name="椭圆 59"/>
          <p:cNvSpPr/>
          <p:nvPr/>
        </p:nvSpPr>
        <p:spPr>
          <a:xfrm>
            <a:off x="9437402" y="4788761"/>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bg1"/>
                </a:solidFill>
                <a:effectLst/>
                <a:uLnTx/>
                <a:uFillTx/>
                <a:latin typeface="+mn-lt"/>
                <a:ea typeface="+mn-ea"/>
                <a:cs typeface="+mn-cs"/>
              </a:rPr>
              <a:t>04</a:t>
            </a:r>
            <a:endParaRPr kumimoji="0" lang="zh-CN" altLang="en-US" sz="2000" b="1" i="0" u="none" strike="noStrike" kern="1200" cap="none" spc="0" normalizeH="0" baseline="0" noProof="0" dirty="0">
              <a:ln>
                <a:noFill/>
              </a:ln>
              <a:solidFill>
                <a:schemeClr val="bg1"/>
              </a:solidFill>
              <a:effectLst/>
              <a:uLnTx/>
              <a:uFillTx/>
              <a:latin typeface="+mn-lt"/>
              <a:ea typeface="+mn-ea"/>
              <a:cs typeface="+mn-cs"/>
            </a:endParaRPr>
          </a:p>
        </p:txBody>
      </p:sp>
      <p:sp>
        <p:nvSpPr>
          <p:cNvPr id="61" name="圆角矩形 60"/>
          <p:cNvSpPr/>
          <p:nvPr/>
        </p:nvSpPr>
        <p:spPr>
          <a:xfrm>
            <a:off x="2513746" y="4110354"/>
            <a:ext cx="7344000" cy="476071"/>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a:r>
              <a:rPr lang="zh-CN" altLang="en-US" sz="1600" dirty="0">
                <a:solidFill>
                  <a:schemeClr val="tx1"/>
                </a:solidFill>
              </a:rPr>
              <a:t>在所维护的软件中，由于修改软件而引入潜伏的新的错误，导致软件</a:t>
            </a:r>
            <a:r>
              <a:rPr lang="zh-CN" altLang="en-US" sz="1600" b="1" dirty="0">
                <a:solidFill>
                  <a:srgbClr val="58BDA8"/>
                </a:solidFill>
                <a:latin typeface="+mj-ea"/>
                <a:ea typeface="+mj-ea"/>
              </a:rPr>
              <a:t>质量</a:t>
            </a:r>
            <a:r>
              <a:rPr lang="zh-CN" altLang="en-US" sz="1600" dirty="0">
                <a:solidFill>
                  <a:schemeClr val="tx1"/>
                </a:solidFill>
              </a:rPr>
              <a:t>下降</a:t>
            </a:r>
          </a:p>
        </p:txBody>
      </p:sp>
      <p:sp>
        <p:nvSpPr>
          <p:cNvPr id="62" name="圆角矩形 61"/>
          <p:cNvSpPr/>
          <p:nvPr/>
        </p:nvSpPr>
        <p:spPr>
          <a:xfrm>
            <a:off x="2056544" y="3364705"/>
            <a:ext cx="7344000" cy="476071"/>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a:r>
              <a:rPr lang="zh-CN" altLang="en-US" sz="1600" dirty="0">
                <a:solidFill>
                  <a:schemeClr val="tx1"/>
                </a:solidFill>
              </a:rPr>
              <a:t>有关改错或修改的要求不能</a:t>
            </a:r>
            <a:r>
              <a:rPr lang="zh-CN" altLang="en-US" sz="1600" b="1" dirty="0">
                <a:solidFill>
                  <a:srgbClr val="58BDA8"/>
                </a:solidFill>
                <a:latin typeface="+mj-ea"/>
                <a:ea typeface="+mj-ea"/>
              </a:rPr>
              <a:t>及时</a:t>
            </a:r>
            <a:r>
              <a:rPr lang="zh-CN" altLang="en-US" sz="1600" dirty="0">
                <a:solidFill>
                  <a:schemeClr val="tx1"/>
                </a:solidFill>
              </a:rPr>
              <a:t>满足，引起用户不满</a:t>
            </a:r>
          </a:p>
        </p:txBody>
      </p:sp>
      <p:sp>
        <p:nvSpPr>
          <p:cNvPr id="63" name="椭圆 62"/>
          <p:cNvSpPr/>
          <p:nvPr/>
        </p:nvSpPr>
        <p:spPr>
          <a:xfrm>
            <a:off x="9447562" y="3297147"/>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bg1"/>
                </a:solidFill>
                <a:effectLst/>
                <a:uLnTx/>
                <a:uFillTx/>
                <a:latin typeface="+mn-lt"/>
                <a:ea typeface="+mn-ea"/>
                <a:cs typeface="+mn-cs"/>
              </a:rPr>
              <a:t>02</a:t>
            </a:r>
            <a:endParaRPr kumimoji="0" lang="zh-CN" altLang="en-US" sz="2000" b="1" i="0" u="none" strike="noStrike" kern="1200" cap="none" spc="0" normalizeH="0" baseline="0" noProof="0" dirty="0">
              <a:ln>
                <a:noFill/>
              </a:ln>
              <a:solidFill>
                <a:schemeClr val="bg1"/>
              </a:solidFill>
              <a:effectLst/>
              <a:uLnTx/>
              <a:uFillTx/>
              <a:latin typeface="+mn-lt"/>
              <a:ea typeface="+mn-ea"/>
              <a:cs typeface="+mn-cs"/>
            </a:endParaRPr>
          </a:p>
        </p:txBody>
      </p:sp>
      <p:sp>
        <p:nvSpPr>
          <p:cNvPr id="7" name="圆角矩形 6"/>
          <p:cNvSpPr/>
          <p:nvPr/>
        </p:nvSpPr>
        <p:spPr>
          <a:xfrm>
            <a:off x="1599342" y="2619056"/>
            <a:ext cx="7344000" cy="476071"/>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tx1"/>
                </a:solidFill>
                <a:effectLst/>
                <a:uLnTx/>
                <a:uFillTx/>
                <a:latin typeface="+mn-lt"/>
                <a:ea typeface="+mn-ea"/>
                <a:cs typeface="+mn-cs"/>
              </a:rPr>
              <a:t>由于可用的</a:t>
            </a:r>
            <a:r>
              <a:rPr kumimoji="0" lang="zh-CN" altLang="en-US" sz="1600" b="1" i="0" u="none" strike="noStrike" kern="1200" cap="none" spc="0" normalizeH="0" baseline="0" noProof="0" dirty="0">
                <a:ln>
                  <a:noFill/>
                </a:ln>
                <a:solidFill>
                  <a:srgbClr val="58BDA8"/>
                </a:solidFill>
                <a:effectLst/>
                <a:uLnTx/>
                <a:uFillTx/>
                <a:latin typeface="+mj-ea"/>
                <a:ea typeface="+mj-ea"/>
                <a:cs typeface="+mn-cs"/>
              </a:rPr>
              <a:t>资源</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必须供软件维护任务使用，导致耽误甚至丧失开发良机</a:t>
            </a:r>
          </a:p>
        </p:txBody>
      </p:sp>
      <p:sp>
        <p:nvSpPr>
          <p:cNvPr id="8" name="椭圆 7"/>
          <p:cNvSpPr/>
          <p:nvPr/>
        </p:nvSpPr>
        <p:spPr>
          <a:xfrm>
            <a:off x="8990329" y="2551339"/>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bg1"/>
                </a:solidFill>
                <a:effectLst/>
                <a:uLnTx/>
                <a:uFillTx/>
                <a:latin typeface="+mn-lt"/>
                <a:ea typeface="+mn-ea"/>
                <a:cs typeface="+mn-cs"/>
              </a:rPr>
              <a:t>01</a:t>
            </a:r>
            <a:endParaRPr kumimoji="0" lang="zh-CN" altLang="en-US" sz="2000" b="1" i="0" u="none" strike="noStrike" kern="1200" cap="none" spc="0" normalizeH="0" baseline="0" noProof="0" dirty="0">
              <a:ln>
                <a:noFill/>
              </a:ln>
              <a:solidFill>
                <a:schemeClr val="bg1"/>
              </a:solidFill>
              <a:effectLst/>
              <a:uLnTx/>
              <a:uFillTx/>
              <a:latin typeface="+mn-lt"/>
              <a:ea typeface="+mn-ea"/>
              <a:cs typeface="+mn-cs"/>
            </a:endParaRPr>
          </a:p>
        </p:txBody>
      </p:sp>
      <p:sp>
        <p:nvSpPr>
          <p:cNvPr id="76" name="椭圆 75"/>
          <p:cNvSpPr/>
          <p:nvPr/>
        </p:nvSpPr>
        <p:spPr>
          <a:xfrm>
            <a:off x="9904796" y="4042954"/>
            <a:ext cx="609600" cy="60960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bg1"/>
                </a:solidFill>
                <a:effectLst/>
                <a:uLnTx/>
                <a:uFillTx/>
                <a:latin typeface="+mn-lt"/>
                <a:ea typeface="+mn-ea"/>
                <a:cs typeface="+mn-cs"/>
              </a:rPr>
              <a:t>03</a:t>
            </a:r>
            <a:endParaRPr kumimoji="0" lang="zh-CN" altLang="en-US" sz="2000" b="1" i="0" u="none" strike="noStrike" kern="1200" cap="none" spc="0" normalizeH="0" baseline="0" noProof="0" dirty="0">
              <a:ln>
                <a:noFill/>
              </a:ln>
              <a:solidFill>
                <a:schemeClr val="bg1"/>
              </a:solidFill>
              <a:effectLst/>
              <a:uLnTx/>
              <a:uFillTx/>
              <a:latin typeface="+mn-lt"/>
              <a:ea typeface="+mn-ea"/>
              <a:cs typeface="+mn-cs"/>
            </a:endParaRPr>
          </a:p>
        </p:txBody>
      </p:sp>
      <p:sp>
        <p:nvSpPr>
          <p:cNvPr id="30" name="TextBox 1"/>
          <p:cNvSpPr txBox="1">
            <a:spLocks noChangeArrowheads="1"/>
          </p:cNvSpPr>
          <p:nvPr/>
        </p:nvSpPr>
        <p:spPr bwMode="auto">
          <a:xfrm>
            <a:off x="809625" y="1995518"/>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02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31" name="直接连接符 30"/>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2" name="矩形 7"/>
          <p:cNvSpPr>
            <a:spLocks noChangeArrowheads="1"/>
          </p:cNvSpPr>
          <p:nvPr/>
        </p:nvSpPr>
        <p:spPr bwMode="auto">
          <a:xfrm>
            <a:off x="1262066" y="2090768"/>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维护的代价高昂</a:t>
            </a:r>
          </a:p>
        </p:txBody>
      </p:sp>
      <p:sp>
        <p:nvSpPr>
          <p:cNvPr id="9" name="任意多边形: 形状 8">
            <a:extLst>
              <a:ext uri="{FF2B5EF4-FFF2-40B4-BE49-F238E27FC236}">
                <a16:creationId xmlns:a16="http://schemas.microsoft.com/office/drawing/2014/main" id="{7935BBB6-D652-1AE5-43B0-36AF5CBD829E}"/>
              </a:ext>
            </a:extLst>
          </p:cNvPr>
          <p:cNvSpPr/>
          <p:nvPr/>
        </p:nvSpPr>
        <p:spPr>
          <a:xfrm>
            <a:off x="8751611" y="2178000"/>
            <a:ext cx="2306369" cy="4320000"/>
          </a:xfrm>
          <a:custGeom>
            <a:avLst/>
            <a:gdLst>
              <a:gd name="csX0" fmla="*/ 146369 w 2306369"/>
              <a:gd name="csY0" fmla="*/ 0 h 4320000"/>
              <a:gd name="csX1" fmla="*/ 2306369 w 2306369"/>
              <a:gd name="csY1" fmla="*/ 2160000 h 4320000"/>
              <a:gd name="csX2" fmla="*/ 146369 w 2306369"/>
              <a:gd name="csY2" fmla="*/ 4320000 h 4320000"/>
              <a:gd name="csX3" fmla="*/ 0 w 2306369"/>
              <a:gd name="csY3" fmla="*/ 4312609 h 4320000"/>
              <a:gd name="csX4" fmla="*/ 74478 w 2306369"/>
              <a:gd name="csY4" fmla="*/ 4308848 h 4320000"/>
              <a:gd name="csX5" fmla="*/ 2013630 w 2306369"/>
              <a:gd name="csY5" fmla="*/ 2160000 h 4320000"/>
              <a:gd name="csX6" fmla="*/ 74478 w 2306369"/>
              <a:gd name="csY6" fmla="*/ 11152 h 4320000"/>
              <a:gd name="csX7" fmla="*/ 0 w 2306369"/>
              <a:gd name="csY7" fmla="*/ 7391 h 432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06369" h="4320000">
                <a:moveTo>
                  <a:pt x="146369" y="0"/>
                </a:moveTo>
                <a:cubicBezTo>
                  <a:pt x="1339304" y="0"/>
                  <a:pt x="2306369" y="967065"/>
                  <a:pt x="2306369" y="2160000"/>
                </a:cubicBezTo>
                <a:cubicBezTo>
                  <a:pt x="2306369" y="3352935"/>
                  <a:pt x="1339304" y="4320000"/>
                  <a:pt x="146369" y="4320000"/>
                </a:cubicBezTo>
                <a:lnTo>
                  <a:pt x="0" y="4312609"/>
                </a:lnTo>
                <a:lnTo>
                  <a:pt x="74478" y="4308848"/>
                </a:lnTo>
                <a:cubicBezTo>
                  <a:pt x="1163671" y="4198235"/>
                  <a:pt x="2013630" y="3278377"/>
                  <a:pt x="2013630" y="2160000"/>
                </a:cubicBezTo>
                <a:cubicBezTo>
                  <a:pt x="2013630" y="1041624"/>
                  <a:pt x="1163671" y="121766"/>
                  <a:pt x="74478" y="11152"/>
                </a:cubicBezTo>
                <a:lnTo>
                  <a:pt x="0" y="7391"/>
                </a:lnTo>
                <a:close/>
              </a:path>
            </a:pathLst>
          </a:custGeom>
          <a:solidFill>
            <a:srgbClr val="58BDA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
    </p:custData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lstStyle/>
          <a:p>
            <a:r>
              <a:rPr lang="en-US" altLang="zh-CN" dirty="0">
                <a:sym typeface="+mn-ea"/>
              </a:rPr>
              <a:t>5.1 </a:t>
            </a:r>
            <a:r>
              <a:rPr lang="zh-CN" altLang="en-US" dirty="0">
                <a:sym typeface="+mn-ea"/>
              </a:rPr>
              <a:t>软件维护</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pPr>
              <a:defRPr/>
            </a:pPr>
            <a:r>
              <a:rPr lang="en-US" altLang="zh-CN" sz="2400" dirty="0">
                <a:solidFill>
                  <a:schemeClr val="tx1"/>
                </a:solidFill>
              </a:rPr>
              <a:t>5.1.2 </a:t>
            </a:r>
            <a:r>
              <a:rPr lang="zh-CN" altLang="en-US" sz="2400" dirty="0">
                <a:solidFill>
                  <a:schemeClr val="tx1"/>
                </a:solidFill>
              </a:rPr>
              <a:t>软件维护的特点</a:t>
            </a:r>
            <a:endParaRPr lang="zh-CN" altLang="en-US" sz="2400" dirty="0">
              <a:sym typeface="+mn-ea"/>
            </a:endParaRPr>
          </a:p>
        </p:txBody>
      </p:sp>
      <p:grpSp>
        <p:nvGrpSpPr>
          <p:cNvPr id="3" name="组合 2">
            <a:extLst>
              <a:ext uri="{FF2B5EF4-FFF2-40B4-BE49-F238E27FC236}">
                <a16:creationId xmlns:a16="http://schemas.microsoft.com/office/drawing/2014/main" id="{04F5D03B-DB31-C851-5700-CAFB87D4A3FB}"/>
              </a:ext>
            </a:extLst>
          </p:cNvPr>
          <p:cNvGrpSpPr/>
          <p:nvPr/>
        </p:nvGrpSpPr>
        <p:grpSpPr>
          <a:xfrm>
            <a:off x="754380" y="2908678"/>
            <a:ext cx="1384300" cy="923925"/>
            <a:chOff x="754380" y="2918245"/>
            <a:chExt cx="1384300" cy="923925"/>
          </a:xfrm>
        </p:grpSpPr>
        <p:sp>
          <p:nvSpPr>
            <p:cNvPr id="15" name="MH_Other_1"/>
            <p:cNvSpPr>
              <a:spLocks noChangeArrowheads="1"/>
            </p:cNvSpPr>
            <p:nvPr>
              <p:custDataLst>
                <p:tags r:id="rId18"/>
              </p:custDataLst>
            </p:nvPr>
          </p:nvSpPr>
          <p:spPr bwMode="auto">
            <a:xfrm>
              <a:off x="754380" y="2918245"/>
              <a:ext cx="673100" cy="50482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dirty="0">
                <a:solidFill>
                  <a:srgbClr val="FFFFFF"/>
                </a:solidFill>
                <a:ea typeface="微软雅黑" panose="020B0503020204020204" charset="-122"/>
              </a:endParaRPr>
            </a:p>
          </p:txBody>
        </p:sp>
        <p:sp>
          <p:nvSpPr>
            <p:cNvPr id="16" name="MH_Other_2"/>
            <p:cNvSpPr>
              <a:spLocks noChangeArrowheads="1"/>
            </p:cNvSpPr>
            <p:nvPr>
              <p:custDataLst>
                <p:tags r:id="rId19"/>
              </p:custDataLst>
            </p:nvPr>
          </p:nvSpPr>
          <p:spPr bwMode="auto">
            <a:xfrm>
              <a:off x="1465580" y="3023020"/>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3"/>
            <p:cNvSpPr>
              <a:spLocks noChangeArrowheads="1"/>
            </p:cNvSpPr>
            <p:nvPr>
              <p:custDataLst>
                <p:tags r:id="rId20"/>
              </p:custDataLst>
            </p:nvPr>
          </p:nvSpPr>
          <p:spPr bwMode="auto">
            <a:xfrm>
              <a:off x="906780" y="3451645"/>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4"/>
            <p:cNvSpPr>
              <a:spLocks noChangeArrowheads="1"/>
            </p:cNvSpPr>
            <p:nvPr>
              <p:custDataLst>
                <p:tags r:id="rId21"/>
              </p:custDataLst>
            </p:nvPr>
          </p:nvSpPr>
          <p:spPr bwMode="auto">
            <a:xfrm>
              <a:off x="1465580" y="3451645"/>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grpSp>
      <p:sp>
        <p:nvSpPr>
          <p:cNvPr id="19" name="MH_SubTitle_1"/>
          <p:cNvSpPr/>
          <p:nvPr>
            <p:custDataLst>
              <p:tags r:id="rId2"/>
            </p:custDataLst>
          </p:nvPr>
        </p:nvSpPr>
        <p:spPr>
          <a:xfrm>
            <a:off x="2208527" y="2908678"/>
            <a:ext cx="3451225" cy="1007886"/>
          </a:xfrm>
          <a:prstGeom prst="rect">
            <a:avLst/>
          </a:prstGeom>
        </p:spPr>
        <p:txBody>
          <a:bodyPr wrap="square" lIns="72000" tIns="72000" rIns="72000" bIns="72000" anchor="t" anchorCtr="0">
            <a:spAutoFit/>
          </a:bodyPr>
          <a:lstStyle/>
          <a:p>
            <a:pPr fontAlgn="auto">
              <a:lnSpc>
                <a:spcPct val="120000"/>
              </a:lnSpc>
              <a:defRPr/>
            </a:pPr>
            <a:r>
              <a:rPr lang="zh-CN" altLang="en-US" sz="1600" dirty="0">
                <a:sym typeface="+mn-ea"/>
              </a:rPr>
              <a:t>软件人员经常流动，需要维护时，往往无法依赖开发者</a:t>
            </a:r>
            <a:r>
              <a:rPr lang="zh-CN" altLang="en-US" sz="1600" dirty="0">
                <a:solidFill>
                  <a:srgbClr val="58BDA8"/>
                </a:solidFill>
                <a:sym typeface="+mn-ea"/>
              </a:rPr>
              <a:t>本人</a:t>
            </a:r>
            <a:r>
              <a:rPr lang="zh-CN" altLang="en-US" sz="1600" dirty="0">
                <a:sym typeface="+mn-ea"/>
              </a:rPr>
              <a:t>来对软件进行解释和说明。</a:t>
            </a:r>
          </a:p>
        </p:txBody>
      </p:sp>
      <p:grpSp>
        <p:nvGrpSpPr>
          <p:cNvPr id="5" name="组合 4">
            <a:extLst>
              <a:ext uri="{FF2B5EF4-FFF2-40B4-BE49-F238E27FC236}">
                <a16:creationId xmlns:a16="http://schemas.microsoft.com/office/drawing/2014/main" id="{FB33A8CF-2052-5A8A-05EC-A6B938A4736C}"/>
              </a:ext>
            </a:extLst>
          </p:cNvPr>
          <p:cNvGrpSpPr/>
          <p:nvPr/>
        </p:nvGrpSpPr>
        <p:grpSpPr>
          <a:xfrm>
            <a:off x="6477002" y="2908678"/>
            <a:ext cx="1384300" cy="923925"/>
            <a:chOff x="6207760" y="2918245"/>
            <a:chExt cx="1384300" cy="923925"/>
          </a:xfrm>
        </p:grpSpPr>
        <p:sp>
          <p:nvSpPr>
            <p:cNvPr id="20" name="MH_Other_5"/>
            <p:cNvSpPr>
              <a:spLocks noChangeArrowheads="1"/>
            </p:cNvSpPr>
            <p:nvPr>
              <p:custDataLst>
                <p:tags r:id="rId14"/>
              </p:custDataLst>
            </p:nvPr>
          </p:nvSpPr>
          <p:spPr bwMode="auto">
            <a:xfrm>
              <a:off x="6207760" y="2918245"/>
              <a:ext cx="673100" cy="50482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dirty="0">
                <a:solidFill>
                  <a:srgbClr val="FFFFFF"/>
                </a:solidFill>
                <a:ea typeface="微软雅黑" panose="020B0503020204020204" charset="-122"/>
              </a:endParaRPr>
            </a:p>
          </p:txBody>
        </p:sp>
        <p:sp>
          <p:nvSpPr>
            <p:cNvPr id="23" name="MH_Other_6"/>
            <p:cNvSpPr>
              <a:spLocks noChangeArrowheads="1"/>
            </p:cNvSpPr>
            <p:nvPr>
              <p:custDataLst>
                <p:tags r:id="rId15"/>
              </p:custDataLst>
            </p:nvPr>
          </p:nvSpPr>
          <p:spPr bwMode="auto">
            <a:xfrm>
              <a:off x="6918960" y="3023020"/>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4" name="MH_Other_7"/>
            <p:cNvSpPr>
              <a:spLocks noChangeArrowheads="1"/>
            </p:cNvSpPr>
            <p:nvPr>
              <p:custDataLst>
                <p:tags r:id="rId16"/>
              </p:custDataLst>
            </p:nvPr>
          </p:nvSpPr>
          <p:spPr bwMode="auto">
            <a:xfrm>
              <a:off x="6360160" y="3451645"/>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5" name="MH_Other_8"/>
            <p:cNvSpPr>
              <a:spLocks noChangeArrowheads="1"/>
            </p:cNvSpPr>
            <p:nvPr>
              <p:custDataLst>
                <p:tags r:id="rId17"/>
              </p:custDataLst>
            </p:nvPr>
          </p:nvSpPr>
          <p:spPr bwMode="auto">
            <a:xfrm>
              <a:off x="6918960" y="3451645"/>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grpSp>
      <p:sp>
        <p:nvSpPr>
          <p:cNvPr id="26" name="MH_SubTitle_3"/>
          <p:cNvSpPr/>
          <p:nvPr>
            <p:custDataLst>
              <p:tags r:id="rId3"/>
            </p:custDataLst>
          </p:nvPr>
        </p:nvSpPr>
        <p:spPr>
          <a:xfrm>
            <a:off x="7931150" y="2908678"/>
            <a:ext cx="3451225" cy="1303352"/>
          </a:xfrm>
          <a:prstGeom prst="rect">
            <a:avLst/>
          </a:prstGeom>
        </p:spPr>
        <p:txBody>
          <a:bodyPr wrap="square" lIns="72000" tIns="72000" rIns="72000" bIns="72000" anchor="t" anchorCtr="0">
            <a:spAutoFit/>
          </a:bodyPr>
          <a:lstStyle/>
          <a:p>
            <a:pPr fontAlgn="auto">
              <a:lnSpc>
                <a:spcPct val="120000"/>
              </a:lnSpc>
              <a:defRPr/>
            </a:pPr>
            <a:r>
              <a:rPr lang="zh-CN" altLang="en-US" sz="1600" dirty="0">
                <a:sym typeface="+mn-ea"/>
              </a:rPr>
              <a:t>需要维护的软件往往没有</a:t>
            </a:r>
            <a:r>
              <a:rPr lang="zh-CN" altLang="en-US" sz="1600" dirty="0">
                <a:solidFill>
                  <a:srgbClr val="58BDA8"/>
                </a:solidFill>
                <a:sym typeface="+mn-ea"/>
              </a:rPr>
              <a:t>足够的</a:t>
            </a:r>
            <a:r>
              <a:rPr lang="zh-CN" altLang="en-US" sz="1600" dirty="0">
                <a:sym typeface="+mn-ea"/>
              </a:rPr>
              <a:t>、</a:t>
            </a:r>
            <a:r>
              <a:rPr lang="zh-CN" altLang="en-US" sz="1600" dirty="0">
                <a:solidFill>
                  <a:srgbClr val="58BDA8"/>
                </a:solidFill>
                <a:sym typeface="+mn-ea"/>
              </a:rPr>
              <a:t>合格</a:t>
            </a:r>
            <a:r>
              <a:rPr lang="zh-CN" altLang="en-US" sz="1600" dirty="0">
                <a:sym typeface="+mn-ea"/>
              </a:rPr>
              <a:t>的文档。维护时仅有文档是不够的，</a:t>
            </a:r>
            <a:r>
              <a:rPr lang="zh-CN" altLang="en-US" sz="1600" dirty="0">
                <a:solidFill>
                  <a:srgbClr val="58BDA8"/>
                </a:solidFill>
                <a:sym typeface="+mn-ea"/>
              </a:rPr>
              <a:t>容易理解</a:t>
            </a:r>
            <a:r>
              <a:rPr lang="zh-CN" altLang="en-US" sz="1600" dirty="0">
                <a:sym typeface="+mn-ea"/>
              </a:rPr>
              <a:t>的并且和程序代码完全一致的文档，才对维护真正有价值。</a:t>
            </a:r>
          </a:p>
        </p:txBody>
      </p:sp>
      <p:grpSp>
        <p:nvGrpSpPr>
          <p:cNvPr id="4" name="组合 3">
            <a:extLst>
              <a:ext uri="{FF2B5EF4-FFF2-40B4-BE49-F238E27FC236}">
                <a16:creationId xmlns:a16="http://schemas.microsoft.com/office/drawing/2014/main" id="{B2C36913-4981-9081-3323-569553A08BB2}"/>
              </a:ext>
            </a:extLst>
          </p:cNvPr>
          <p:cNvGrpSpPr/>
          <p:nvPr/>
        </p:nvGrpSpPr>
        <p:grpSpPr>
          <a:xfrm>
            <a:off x="754380" y="4759178"/>
            <a:ext cx="1384300" cy="923925"/>
            <a:chOff x="754380" y="4565901"/>
            <a:chExt cx="1384300" cy="923925"/>
          </a:xfrm>
        </p:grpSpPr>
        <p:sp>
          <p:nvSpPr>
            <p:cNvPr id="28" name="MH_Other_9"/>
            <p:cNvSpPr>
              <a:spLocks noChangeArrowheads="1"/>
            </p:cNvSpPr>
            <p:nvPr>
              <p:custDataLst>
                <p:tags r:id="rId10"/>
              </p:custDataLst>
            </p:nvPr>
          </p:nvSpPr>
          <p:spPr bwMode="auto">
            <a:xfrm>
              <a:off x="754380" y="4565901"/>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30" name="MH_Other_10"/>
            <p:cNvSpPr>
              <a:spLocks noChangeArrowheads="1"/>
            </p:cNvSpPr>
            <p:nvPr>
              <p:custDataLst>
                <p:tags r:id="rId11"/>
              </p:custDataLst>
            </p:nvPr>
          </p:nvSpPr>
          <p:spPr bwMode="auto">
            <a:xfrm>
              <a:off x="1465580" y="4670676"/>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1" name="MH_Other_11"/>
            <p:cNvSpPr>
              <a:spLocks noChangeArrowheads="1"/>
            </p:cNvSpPr>
            <p:nvPr>
              <p:custDataLst>
                <p:tags r:id="rId12"/>
              </p:custDataLst>
            </p:nvPr>
          </p:nvSpPr>
          <p:spPr bwMode="auto">
            <a:xfrm>
              <a:off x="906780" y="5099301"/>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12"/>
            <p:cNvSpPr>
              <a:spLocks noChangeArrowheads="1"/>
            </p:cNvSpPr>
            <p:nvPr>
              <p:custDataLst>
                <p:tags r:id="rId13"/>
              </p:custDataLst>
            </p:nvPr>
          </p:nvSpPr>
          <p:spPr bwMode="auto">
            <a:xfrm>
              <a:off x="1465580" y="5099301"/>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grpSp>
      <p:sp>
        <p:nvSpPr>
          <p:cNvPr id="33" name="MH_SubTitle_2"/>
          <p:cNvSpPr/>
          <p:nvPr>
            <p:custDataLst>
              <p:tags r:id="rId4"/>
            </p:custDataLst>
          </p:nvPr>
        </p:nvSpPr>
        <p:spPr>
          <a:xfrm>
            <a:off x="2208527" y="4759178"/>
            <a:ext cx="3451225" cy="1303352"/>
          </a:xfrm>
          <a:prstGeom prst="rect">
            <a:avLst/>
          </a:prstGeom>
        </p:spPr>
        <p:txBody>
          <a:bodyPr wrap="square" lIns="72000" tIns="72000" rIns="72000" bIns="72000" anchor="t" anchorCtr="0">
            <a:spAutoFit/>
          </a:bodyPr>
          <a:lstStyle/>
          <a:p>
            <a:pPr lvl="0" algn="just">
              <a:lnSpc>
                <a:spcPct val="120000"/>
              </a:lnSpc>
              <a:spcBef>
                <a:spcPct val="0"/>
              </a:spcBef>
            </a:pPr>
            <a:r>
              <a:rPr lang="zh-CN" altLang="en-US" sz="1600" dirty="0">
                <a:sym typeface="+mn-ea"/>
              </a:rPr>
              <a:t>理解他人编写的程序往往是非常困难的，而且</a:t>
            </a:r>
            <a:r>
              <a:rPr lang="zh-CN" altLang="en-US" sz="1600" dirty="0">
                <a:solidFill>
                  <a:srgbClr val="58BDA8"/>
                </a:solidFill>
                <a:sym typeface="+mn-ea"/>
              </a:rPr>
              <a:t>软件文档越少</a:t>
            </a:r>
            <a:r>
              <a:rPr lang="zh-CN" altLang="en-US" sz="1600" dirty="0">
                <a:sym typeface="+mn-ea"/>
              </a:rPr>
              <a:t>，维护难度越大。如果只有程序代码而</a:t>
            </a:r>
            <a:r>
              <a:rPr lang="zh-CN" altLang="en-US" sz="1600" dirty="0">
                <a:solidFill>
                  <a:srgbClr val="58BDA8"/>
                </a:solidFill>
                <a:sym typeface="+mn-ea"/>
              </a:rPr>
              <a:t>没有说明文档</a:t>
            </a:r>
            <a:r>
              <a:rPr lang="zh-CN" altLang="en-US" sz="1600" dirty="0">
                <a:sym typeface="+mn-ea"/>
              </a:rPr>
              <a:t>，则将出现严重困难。</a:t>
            </a:r>
          </a:p>
        </p:txBody>
      </p:sp>
      <p:grpSp>
        <p:nvGrpSpPr>
          <p:cNvPr id="6" name="组合 5">
            <a:extLst>
              <a:ext uri="{FF2B5EF4-FFF2-40B4-BE49-F238E27FC236}">
                <a16:creationId xmlns:a16="http://schemas.microsoft.com/office/drawing/2014/main" id="{7544B122-5246-8E35-F2A3-10BD9B7CE261}"/>
              </a:ext>
            </a:extLst>
          </p:cNvPr>
          <p:cNvGrpSpPr/>
          <p:nvPr/>
        </p:nvGrpSpPr>
        <p:grpSpPr>
          <a:xfrm>
            <a:off x="6477002" y="4759178"/>
            <a:ext cx="1384300" cy="923925"/>
            <a:chOff x="6207760" y="4565901"/>
            <a:chExt cx="1384300" cy="923925"/>
          </a:xfrm>
        </p:grpSpPr>
        <p:sp>
          <p:nvSpPr>
            <p:cNvPr id="35" name="MH_Other_5"/>
            <p:cNvSpPr>
              <a:spLocks noChangeArrowheads="1"/>
            </p:cNvSpPr>
            <p:nvPr>
              <p:custDataLst>
                <p:tags r:id="rId6"/>
              </p:custDataLst>
            </p:nvPr>
          </p:nvSpPr>
          <p:spPr bwMode="auto">
            <a:xfrm>
              <a:off x="6207760" y="4565901"/>
              <a:ext cx="673100" cy="504825"/>
            </a:xfrm>
            <a:prstGeom prst="rect">
              <a:avLst/>
            </a:prstGeom>
            <a:solidFill>
              <a:schemeClr val="accent4">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04</a:t>
              </a:r>
              <a:endParaRPr lang="zh-CN" altLang="en-US" sz="2400" b="1" dirty="0">
                <a:solidFill>
                  <a:srgbClr val="FFFFFF"/>
                </a:solidFill>
                <a:ea typeface="微软雅黑" panose="020B0503020204020204" charset="-122"/>
              </a:endParaRPr>
            </a:p>
          </p:txBody>
        </p:sp>
        <p:sp>
          <p:nvSpPr>
            <p:cNvPr id="36" name="MH_Other_6"/>
            <p:cNvSpPr>
              <a:spLocks noChangeArrowheads="1"/>
            </p:cNvSpPr>
            <p:nvPr>
              <p:custDataLst>
                <p:tags r:id="rId7"/>
              </p:custDataLst>
            </p:nvPr>
          </p:nvSpPr>
          <p:spPr bwMode="auto">
            <a:xfrm>
              <a:off x="6918960" y="4670676"/>
              <a:ext cx="533400" cy="40005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7" name="MH_Other_7"/>
            <p:cNvSpPr>
              <a:spLocks noChangeArrowheads="1"/>
            </p:cNvSpPr>
            <p:nvPr>
              <p:custDataLst>
                <p:tags r:id="rId8"/>
              </p:custDataLst>
            </p:nvPr>
          </p:nvSpPr>
          <p:spPr bwMode="auto">
            <a:xfrm>
              <a:off x="6360160" y="5099301"/>
              <a:ext cx="520700" cy="39052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8" name="MH_Other_8"/>
            <p:cNvSpPr>
              <a:spLocks noChangeArrowheads="1"/>
            </p:cNvSpPr>
            <p:nvPr>
              <p:custDataLst>
                <p:tags r:id="rId9"/>
              </p:custDataLst>
            </p:nvPr>
          </p:nvSpPr>
          <p:spPr bwMode="auto">
            <a:xfrm>
              <a:off x="6918960" y="5099301"/>
              <a:ext cx="673100" cy="33337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grpSp>
      <p:sp>
        <p:nvSpPr>
          <p:cNvPr id="39" name="MH_SubTitle_3"/>
          <p:cNvSpPr/>
          <p:nvPr>
            <p:custDataLst>
              <p:tags r:id="rId5"/>
            </p:custDataLst>
          </p:nvPr>
        </p:nvSpPr>
        <p:spPr>
          <a:xfrm>
            <a:off x="7931149" y="4759178"/>
            <a:ext cx="3451225" cy="712421"/>
          </a:xfrm>
          <a:prstGeom prst="rect">
            <a:avLst/>
          </a:prstGeom>
        </p:spPr>
        <p:txBody>
          <a:bodyPr wrap="square" lIns="72000" tIns="72000" rIns="72000" bIns="72000" anchor="t" anchorCtr="0">
            <a:spAutoFit/>
          </a:bodyPr>
          <a:lstStyle/>
          <a:p>
            <a:pPr fontAlgn="auto">
              <a:lnSpc>
                <a:spcPct val="120000"/>
              </a:lnSpc>
              <a:defRPr/>
            </a:pPr>
            <a:r>
              <a:rPr lang="zh-CN" altLang="en-US" sz="1600" dirty="0">
                <a:sym typeface="+mn-ea"/>
              </a:rPr>
              <a:t>维护工作十分困难，又容易受挫，难以成为一项吸引人的工作。</a:t>
            </a:r>
          </a:p>
        </p:txBody>
      </p:sp>
      <p:sp>
        <p:nvSpPr>
          <p:cNvPr id="42" name="TextBox 1"/>
          <p:cNvSpPr txBox="1">
            <a:spLocks noChangeArrowheads="1"/>
          </p:cNvSpPr>
          <p:nvPr/>
        </p:nvSpPr>
        <p:spPr bwMode="auto">
          <a:xfrm>
            <a:off x="809625" y="1995518"/>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03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3" name="直接连接符 42"/>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4" name="矩形 7"/>
          <p:cNvSpPr>
            <a:spLocks noChangeArrowheads="1"/>
          </p:cNvSpPr>
          <p:nvPr/>
        </p:nvSpPr>
        <p:spPr bwMode="auto">
          <a:xfrm>
            <a:off x="1262066" y="2090768"/>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维护的问题很多</a:t>
            </a:r>
          </a:p>
        </p:txBody>
      </p:sp>
    </p:spTree>
    <p:custDataLst>
      <p:tags r:id="rId1"/>
    </p:custData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4" name="矩形 3">
            <a:extLst>
              <a:ext uri="{FF2B5EF4-FFF2-40B4-BE49-F238E27FC236}">
                <a16:creationId xmlns:a16="http://schemas.microsoft.com/office/drawing/2014/main" id="{7A174B26-774F-E941-8BE2-F1FDA38E443F}"/>
              </a:ext>
            </a:extLst>
          </p:cNvPr>
          <p:cNvSpPr/>
          <p:nvPr/>
        </p:nvSpPr>
        <p:spPr>
          <a:xfrm>
            <a:off x="1113548" y="3590223"/>
            <a:ext cx="108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用户</a:t>
            </a:r>
          </a:p>
        </p:txBody>
      </p:sp>
      <p:sp>
        <p:nvSpPr>
          <p:cNvPr id="9" name="矩形 8">
            <a:extLst>
              <a:ext uri="{FF2B5EF4-FFF2-40B4-BE49-F238E27FC236}">
                <a16:creationId xmlns:a16="http://schemas.microsoft.com/office/drawing/2014/main" id="{3A9A8CA7-02DA-A60A-1FB2-7538ADF79DA2}"/>
              </a:ext>
            </a:extLst>
          </p:cNvPr>
          <p:cNvSpPr/>
          <p:nvPr/>
        </p:nvSpPr>
        <p:spPr>
          <a:xfrm>
            <a:off x="3512463" y="3590223"/>
            <a:ext cx="1296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维护管理员</a:t>
            </a:r>
          </a:p>
        </p:txBody>
      </p:sp>
      <p:sp>
        <p:nvSpPr>
          <p:cNvPr id="10" name="矩形 9">
            <a:extLst>
              <a:ext uri="{FF2B5EF4-FFF2-40B4-BE49-F238E27FC236}">
                <a16:creationId xmlns:a16="http://schemas.microsoft.com/office/drawing/2014/main" id="{426C3AB7-D2CF-CCB7-9BB1-4FD5961E4624}"/>
              </a:ext>
            </a:extLst>
          </p:cNvPr>
          <p:cNvSpPr/>
          <p:nvPr/>
        </p:nvSpPr>
        <p:spPr>
          <a:xfrm>
            <a:off x="6127378" y="3590223"/>
            <a:ext cx="1296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系统管理员</a:t>
            </a:r>
          </a:p>
        </p:txBody>
      </p:sp>
      <p:sp>
        <p:nvSpPr>
          <p:cNvPr id="14" name="矩形 13">
            <a:extLst>
              <a:ext uri="{FF2B5EF4-FFF2-40B4-BE49-F238E27FC236}">
                <a16:creationId xmlns:a16="http://schemas.microsoft.com/office/drawing/2014/main" id="{E921CF1B-4D38-D356-C8B2-2305C0388283}"/>
              </a:ext>
            </a:extLst>
          </p:cNvPr>
          <p:cNvSpPr/>
          <p:nvPr/>
        </p:nvSpPr>
        <p:spPr>
          <a:xfrm>
            <a:off x="8742295" y="3590223"/>
            <a:ext cx="108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维护人员</a:t>
            </a:r>
          </a:p>
        </p:txBody>
      </p:sp>
      <p:cxnSp>
        <p:nvCxnSpPr>
          <p:cNvPr id="20" name="直接箭头连接符 19">
            <a:extLst>
              <a:ext uri="{FF2B5EF4-FFF2-40B4-BE49-F238E27FC236}">
                <a16:creationId xmlns:a16="http://schemas.microsoft.com/office/drawing/2014/main" id="{7D93E25F-A5D2-79F2-CB0F-5F82457E5827}"/>
              </a:ext>
            </a:extLst>
          </p:cNvPr>
          <p:cNvCxnSpPr>
            <a:cxnSpLocks/>
            <a:stCxn id="4" idx="3"/>
            <a:endCxn id="9" idx="1"/>
          </p:cNvCxnSpPr>
          <p:nvPr/>
        </p:nvCxnSpPr>
        <p:spPr>
          <a:xfrm>
            <a:off x="2193548" y="3806223"/>
            <a:ext cx="1318915" cy="0"/>
          </a:xfrm>
          <a:prstGeom prst="straightConnector1">
            <a:avLst/>
          </a:prstGeom>
          <a:ln>
            <a:solidFill>
              <a:srgbClr val="E67819"/>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219D62F1-953F-C59B-A57A-8030AD1B8CAF}"/>
              </a:ext>
            </a:extLst>
          </p:cNvPr>
          <p:cNvCxnSpPr>
            <a:cxnSpLocks/>
            <a:stCxn id="9" idx="3"/>
            <a:endCxn id="10" idx="1"/>
          </p:cNvCxnSpPr>
          <p:nvPr/>
        </p:nvCxnSpPr>
        <p:spPr>
          <a:xfrm>
            <a:off x="4808463" y="3806223"/>
            <a:ext cx="1318915" cy="0"/>
          </a:xfrm>
          <a:prstGeom prst="straightConnector1">
            <a:avLst/>
          </a:prstGeom>
          <a:ln>
            <a:solidFill>
              <a:srgbClr val="E67819"/>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A11E9112-AF40-1DA3-209D-71F6A1E8EB1E}"/>
              </a:ext>
            </a:extLst>
          </p:cNvPr>
          <p:cNvSpPr txBox="1"/>
          <p:nvPr/>
        </p:nvSpPr>
        <p:spPr>
          <a:xfrm>
            <a:off x="4936366" y="3439601"/>
            <a:ext cx="1063112" cy="363882"/>
          </a:xfrm>
          <a:prstGeom prst="rect">
            <a:avLst/>
          </a:prstGeom>
          <a:noFill/>
        </p:spPr>
        <p:txBody>
          <a:bodyPr wrap="none" rtlCol="0">
            <a:spAutoFit/>
          </a:bodyPr>
          <a:lstStyle/>
          <a:p>
            <a:pPr algn="ctr">
              <a:lnSpc>
                <a:spcPct val="120000"/>
              </a:lnSpc>
            </a:pPr>
            <a:r>
              <a:rPr lang="zh-CN" altLang="en-US" sz="1600" dirty="0">
                <a:solidFill>
                  <a:srgbClr val="E67819"/>
                </a:solidFill>
              </a:rPr>
              <a:t>评价</a:t>
            </a:r>
            <a:r>
              <a:rPr lang="en-US" altLang="zh-CN" sz="1600" dirty="0">
                <a:solidFill>
                  <a:srgbClr val="E67819"/>
                </a:solidFill>
              </a:rPr>
              <a:t>/</a:t>
            </a:r>
            <a:r>
              <a:rPr lang="zh-CN" altLang="en-US" sz="1600" dirty="0">
                <a:solidFill>
                  <a:srgbClr val="E67819"/>
                </a:solidFill>
              </a:rPr>
              <a:t>审核</a:t>
            </a:r>
          </a:p>
        </p:txBody>
      </p:sp>
      <p:sp>
        <p:nvSpPr>
          <p:cNvPr id="52" name="文本框 51">
            <a:extLst>
              <a:ext uri="{FF2B5EF4-FFF2-40B4-BE49-F238E27FC236}">
                <a16:creationId xmlns:a16="http://schemas.microsoft.com/office/drawing/2014/main" id="{162FDF88-CF00-1A22-7F18-7EBA5A58446F}"/>
              </a:ext>
            </a:extLst>
          </p:cNvPr>
          <p:cNvSpPr txBox="1"/>
          <p:nvPr/>
        </p:nvSpPr>
        <p:spPr>
          <a:xfrm>
            <a:off x="2555488" y="3439601"/>
            <a:ext cx="595035" cy="363882"/>
          </a:xfrm>
          <a:prstGeom prst="rect">
            <a:avLst/>
          </a:prstGeom>
          <a:noFill/>
        </p:spPr>
        <p:txBody>
          <a:bodyPr wrap="none" rtlCol="0">
            <a:spAutoFit/>
          </a:bodyPr>
          <a:lstStyle/>
          <a:p>
            <a:pPr algn="ctr">
              <a:lnSpc>
                <a:spcPct val="120000"/>
              </a:lnSpc>
            </a:pPr>
            <a:r>
              <a:rPr lang="zh-CN" altLang="en-US" sz="1600" dirty="0">
                <a:solidFill>
                  <a:srgbClr val="E67819"/>
                </a:solidFill>
              </a:rPr>
              <a:t>申请</a:t>
            </a:r>
          </a:p>
        </p:txBody>
      </p:sp>
      <p:sp>
        <p:nvSpPr>
          <p:cNvPr id="56" name="文本框 55">
            <a:extLst>
              <a:ext uri="{FF2B5EF4-FFF2-40B4-BE49-F238E27FC236}">
                <a16:creationId xmlns:a16="http://schemas.microsoft.com/office/drawing/2014/main" id="{96182765-E2F9-A4FE-CE19-E498C5C84FBB}"/>
              </a:ext>
            </a:extLst>
          </p:cNvPr>
          <p:cNvSpPr txBox="1"/>
          <p:nvPr/>
        </p:nvSpPr>
        <p:spPr>
          <a:xfrm>
            <a:off x="7785318" y="3439601"/>
            <a:ext cx="595035" cy="363882"/>
          </a:xfrm>
          <a:prstGeom prst="rect">
            <a:avLst/>
          </a:prstGeom>
          <a:noFill/>
        </p:spPr>
        <p:txBody>
          <a:bodyPr wrap="none" rtlCol="0">
            <a:spAutoFit/>
          </a:bodyPr>
          <a:lstStyle/>
          <a:p>
            <a:pPr algn="ctr">
              <a:lnSpc>
                <a:spcPct val="120000"/>
              </a:lnSpc>
            </a:pPr>
            <a:r>
              <a:rPr lang="zh-CN" altLang="en-US" sz="1600" dirty="0">
                <a:solidFill>
                  <a:srgbClr val="E67819"/>
                </a:solidFill>
              </a:rPr>
              <a:t>派单</a:t>
            </a:r>
          </a:p>
        </p:txBody>
      </p:sp>
      <p:sp>
        <p:nvSpPr>
          <p:cNvPr id="57" name="文本框 56">
            <a:extLst>
              <a:ext uri="{FF2B5EF4-FFF2-40B4-BE49-F238E27FC236}">
                <a16:creationId xmlns:a16="http://schemas.microsoft.com/office/drawing/2014/main" id="{BD211084-6769-EF4B-1454-21F5ED66A259}"/>
              </a:ext>
            </a:extLst>
          </p:cNvPr>
          <p:cNvSpPr txBox="1"/>
          <p:nvPr/>
        </p:nvSpPr>
        <p:spPr>
          <a:xfrm>
            <a:off x="10102715" y="3439601"/>
            <a:ext cx="595035" cy="363882"/>
          </a:xfrm>
          <a:prstGeom prst="rect">
            <a:avLst/>
          </a:prstGeom>
          <a:noFill/>
        </p:spPr>
        <p:txBody>
          <a:bodyPr wrap="none" rtlCol="0">
            <a:spAutoFit/>
          </a:bodyPr>
          <a:lstStyle/>
          <a:p>
            <a:pPr algn="ctr">
              <a:lnSpc>
                <a:spcPct val="120000"/>
              </a:lnSpc>
            </a:pPr>
            <a:r>
              <a:rPr lang="zh-CN" altLang="en-US" sz="1600" dirty="0">
                <a:solidFill>
                  <a:srgbClr val="E67819"/>
                </a:solidFill>
              </a:rPr>
              <a:t>维护</a:t>
            </a:r>
          </a:p>
        </p:txBody>
      </p:sp>
      <p:sp>
        <p:nvSpPr>
          <p:cNvPr id="59" name="文本框 58">
            <a:extLst>
              <a:ext uri="{FF2B5EF4-FFF2-40B4-BE49-F238E27FC236}">
                <a16:creationId xmlns:a16="http://schemas.microsoft.com/office/drawing/2014/main" id="{A1F8C10E-D573-1F9A-7CE1-BF0DBE7B9588}"/>
              </a:ext>
            </a:extLst>
          </p:cNvPr>
          <p:cNvSpPr txBox="1"/>
          <p:nvPr/>
        </p:nvSpPr>
        <p:spPr>
          <a:xfrm>
            <a:off x="4757423" y="2994943"/>
            <a:ext cx="595035" cy="363882"/>
          </a:xfrm>
          <a:prstGeom prst="rect">
            <a:avLst/>
          </a:prstGeom>
          <a:noFill/>
        </p:spPr>
        <p:txBody>
          <a:bodyPr wrap="none" rtlCol="0">
            <a:spAutoFit/>
          </a:bodyPr>
          <a:lstStyle/>
          <a:p>
            <a:pPr algn="ctr">
              <a:lnSpc>
                <a:spcPct val="120000"/>
              </a:lnSpc>
            </a:pPr>
            <a:r>
              <a:rPr lang="zh-CN" altLang="en-US" sz="1600" dirty="0">
                <a:solidFill>
                  <a:srgbClr val="00B050"/>
                </a:solidFill>
              </a:rPr>
              <a:t>复审</a:t>
            </a:r>
          </a:p>
        </p:txBody>
      </p:sp>
      <p:cxnSp>
        <p:nvCxnSpPr>
          <p:cNvPr id="61" name="直接箭头连接符 60">
            <a:extLst>
              <a:ext uri="{FF2B5EF4-FFF2-40B4-BE49-F238E27FC236}">
                <a16:creationId xmlns:a16="http://schemas.microsoft.com/office/drawing/2014/main" id="{2DB0A899-1369-B527-27FC-8C165F361E19}"/>
              </a:ext>
            </a:extLst>
          </p:cNvPr>
          <p:cNvCxnSpPr>
            <a:cxnSpLocks/>
            <a:stCxn id="10" idx="3"/>
            <a:endCxn id="14" idx="1"/>
          </p:cNvCxnSpPr>
          <p:nvPr/>
        </p:nvCxnSpPr>
        <p:spPr>
          <a:xfrm>
            <a:off x="7423378" y="3806223"/>
            <a:ext cx="1318917" cy="0"/>
          </a:xfrm>
          <a:prstGeom prst="straightConnector1">
            <a:avLst/>
          </a:prstGeom>
          <a:ln>
            <a:solidFill>
              <a:srgbClr val="E67819"/>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C70E9DD4-C913-EBD9-C9CF-D00ED1A18A47}"/>
              </a:ext>
            </a:extLst>
          </p:cNvPr>
          <p:cNvSpPr txBox="1"/>
          <p:nvPr/>
        </p:nvSpPr>
        <p:spPr>
          <a:xfrm>
            <a:off x="2311832" y="3816824"/>
            <a:ext cx="1082348" cy="329962"/>
          </a:xfrm>
          <a:prstGeom prst="rect">
            <a:avLst/>
          </a:prstGeom>
          <a:noFill/>
        </p:spPr>
        <p:txBody>
          <a:bodyPr wrap="none" rtlCol="0">
            <a:spAutoFit/>
          </a:bodyPr>
          <a:lstStyle/>
          <a:p>
            <a:pPr algn="ctr">
              <a:lnSpc>
                <a:spcPct val="120000"/>
              </a:lnSpc>
            </a:pPr>
            <a:r>
              <a:rPr lang="zh-CN" altLang="en-US" sz="1400" dirty="0"/>
              <a:t>维护申请表</a:t>
            </a:r>
          </a:p>
        </p:txBody>
      </p:sp>
      <p:sp>
        <p:nvSpPr>
          <p:cNvPr id="65" name="文本框 64">
            <a:extLst>
              <a:ext uri="{FF2B5EF4-FFF2-40B4-BE49-F238E27FC236}">
                <a16:creationId xmlns:a16="http://schemas.microsoft.com/office/drawing/2014/main" id="{9E492512-0B85-7E66-2C52-58E4DED937C8}"/>
              </a:ext>
            </a:extLst>
          </p:cNvPr>
          <p:cNvSpPr txBox="1"/>
          <p:nvPr/>
        </p:nvSpPr>
        <p:spPr>
          <a:xfrm>
            <a:off x="9910388" y="3816824"/>
            <a:ext cx="902812" cy="329962"/>
          </a:xfrm>
          <a:prstGeom prst="rect">
            <a:avLst/>
          </a:prstGeom>
          <a:noFill/>
        </p:spPr>
        <p:txBody>
          <a:bodyPr wrap="none" rtlCol="0">
            <a:spAutoFit/>
          </a:bodyPr>
          <a:lstStyle/>
          <a:p>
            <a:pPr algn="ctr">
              <a:lnSpc>
                <a:spcPct val="120000"/>
              </a:lnSpc>
            </a:pPr>
            <a:r>
              <a:rPr lang="zh-CN" altLang="en-US" sz="1400" dirty="0"/>
              <a:t>维护记录</a:t>
            </a:r>
          </a:p>
        </p:txBody>
      </p:sp>
      <p:sp>
        <p:nvSpPr>
          <p:cNvPr id="66" name="文本框 65">
            <a:extLst>
              <a:ext uri="{FF2B5EF4-FFF2-40B4-BE49-F238E27FC236}">
                <a16:creationId xmlns:a16="http://schemas.microsoft.com/office/drawing/2014/main" id="{968BA127-46F3-577A-777E-A2B016A5F7A7}"/>
              </a:ext>
            </a:extLst>
          </p:cNvPr>
          <p:cNvSpPr txBox="1"/>
          <p:nvPr/>
        </p:nvSpPr>
        <p:spPr>
          <a:xfrm>
            <a:off x="5005294" y="3816824"/>
            <a:ext cx="925253" cy="329962"/>
          </a:xfrm>
          <a:prstGeom prst="rect">
            <a:avLst/>
          </a:prstGeom>
          <a:noFill/>
        </p:spPr>
        <p:txBody>
          <a:bodyPr wrap="none" rtlCol="0">
            <a:spAutoFit/>
          </a:bodyPr>
          <a:lstStyle/>
          <a:p>
            <a:pPr algn="ctr">
              <a:lnSpc>
                <a:spcPct val="120000"/>
              </a:lnSpc>
            </a:pPr>
            <a:r>
              <a:rPr lang="zh-CN" altLang="en-US" sz="1400" dirty="0"/>
              <a:t>维护报告</a:t>
            </a:r>
          </a:p>
        </p:txBody>
      </p:sp>
      <p:cxnSp>
        <p:nvCxnSpPr>
          <p:cNvPr id="68" name="连接符: 肘形 67">
            <a:extLst>
              <a:ext uri="{FF2B5EF4-FFF2-40B4-BE49-F238E27FC236}">
                <a16:creationId xmlns:a16="http://schemas.microsoft.com/office/drawing/2014/main" id="{CE25CA03-4BF6-A663-2D3C-F575AEE556DC}"/>
              </a:ext>
            </a:extLst>
          </p:cNvPr>
          <p:cNvCxnSpPr>
            <a:stCxn id="4" idx="2"/>
            <a:endCxn id="64" idx="2"/>
          </p:cNvCxnSpPr>
          <p:nvPr/>
        </p:nvCxnSpPr>
        <p:spPr>
          <a:xfrm rot="16200000" flipH="1">
            <a:off x="2190996" y="3484775"/>
            <a:ext cx="124563" cy="1199458"/>
          </a:xfrm>
          <a:prstGeom prst="bentConnector3">
            <a:avLst>
              <a:gd name="adj1" fmla="val 283522"/>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69" name="连接符: 肘形 68">
            <a:extLst>
              <a:ext uri="{FF2B5EF4-FFF2-40B4-BE49-F238E27FC236}">
                <a16:creationId xmlns:a16="http://schemas.microsoft.com/office/drawing/2014/main" id="{CEFED2E7-73F5-5948-6F6B-0D9C6DDF6054}"/>
              </a:ext>
            </a:extLst>
          </p:cNvPr>
          <p:cNvCxnSpPr>
            <a:cxnSpLocks/>
            <a:stCxn id="9" idx="2"/>
            <a:endCxn id="66" idx="2"/>
          </p:cNvCxnSpPr>
          <p:nvPr/>
        </p:nvCxnSpPr>
        <p:spPr>
          <a:xfrm rot="16200000" flipH="1">
            <a:off x="4751911" y="3430775"/>
            <a:ext cx="124563" cy="1307458"/>
          </a:xfrm>
          <a:prstGeom prst="bentConnector3">
            <a:avLst>
              <a:gd name="adj1" fmla="val 283522"/>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B60E6714-8C31-FDBE-68D0-22E45BB056E0}"/>
              </a:ext>
            </a:extLst>
          </p:cNvPr>
          <p:cNvCxnSpPr>
            <a:stCxn id="14" idx="3"/>
            <a:endCxn id="9" idx="0"/>
          </p:cNvCxnSpPr>
          <p:nvPr/>
        </p:nvCxnSpPr>
        <p:spPr>
          <a:xfrm flipH="1" flipV="1">
            <a:off x="4160463" y="3590223"/>
            <a:ext cx="5661832" cy="216000"/>
          </a:xfrm>
          <a:prstGeom prst="bentConnector4">
            <a:avLst>
              <a:gd name="adj1" fmla="val -4038"/>
              <a:gd name="adj2" fmla="val 205833"/>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400F1E06-F295-9BFC-0EF8-842FB3EAE6FF}"/>
              </a:ext>
            </a:extLst>
          </p:cNvPr>
          <p:cNvCxnSpPr>
            <a:stCxn id="9" idx="0"/>
            <a:endCxn id="4" idx="0"/>
          </p:cNvCxnSpPr>
          <p:nvPr/>
        </p:nvCxnSpPr>
        <p:spPr>
          <a:xfrm rot="16200000" flipV="1">
            <a:off x="2697549" y="2546222"/>
            <a:ext cx="12700" cy="2088000"/>
          </a:xfrm>
          <a:prstGeom prst="bentConnector3">
            <a:avLst>
              <a:gd name="adj1" fmla="val 180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8414F594-9FC2-AB6F-4476-6902352091AD}"/>
              </a:ext>
            </a:extLst>
          </p:cNvPr>
          <p:cNvSpPr txBox="1"/>
          <p:nvPr/>
        </p:nvSpPr>
        <p:spPr>
          <a:xfrm>
            <a:off x="1818469" y="2994943"/>
            <a:ext cx="1531188" cy="363882"/>
          </a:xfrm>
          <a:prstGeom prst="rect">
            <a:avLst/>
          </a:prstGeom>
          <a:noFill/>
        </p:spPr>
        <p:txBody>
          <a:bodyPr wrap="none" rtlCol="0">
            <a:spAutoFit/>
          </a:bodyPr>
          <a:lstStyle/>
          <a:p>
            <a:pPr algn="ctr">
              <a:lnSpc>
                <a:spcPct val="120000"/>
              </a:lnSpc>
            </a:pPr>
            <a:r>
              <a:rPr lang="zh-CN" altLang="en-US" sz="1600" dirty="0">
                <a:solidFill>
                  <a:srgbClr val="00B050"/>
                </a:solidFill>
              </a:rPr>
              <a:t>交付</a:t>
            </a:r>
            <a:r>
              <a:rPr lang="en-US" altLang="zh-CN" sz="1600" dirty="0">
                <a:solidFill>
                  <a:srgbClr val="00B050"/>
                </a:solidFill>
              </a:rPr>
              <a:t>/</a:t>
            </a:r>
            <a:r>
              <a:rPr lang="zh-CN" altLang="en-US" sz="1600" dirty="0">
                <a:solidFill>
                  <a:srgbClr val="00B050"/>
                </a:solidFill>
              </a:rPr>
              <a:t>验收</a:t>
            </a:r>
            <a:r>
              <a:rPr lang="en-US" altLang="zh-CN" sz="1600" dirty="0">
                <a:solidFill>
                  <a:srgbClr val="00B050"/>
                </a:solidFill>
              </a:rPr>
              <a:t>/</a:t>
            </a:r>
            <a:r>
              <a:rPr lang="zh-CN" altLang="en-US" sz="1600" dirty="0">
                <a:solidFill>
                  <a:srgbClr val="00B050"/>
                </a:solidFill>
              </a:rPr>
              <a:t>测试</a:t>
            </a:r>
          </a:p>
        </p:txBody>
      </p:sp>
      <p:cxnSp>
        <p:nvCxnSpPr>
          <p:cNvPr id="79" name="连接符: 肘形 78">
            <a:extLst>
              <a:ext uri="{FF2B5EF4-FFF2-40B4-BE49-F238E27FC236}">
                <a16:creationId xmlns:a16="http://schemas.microsoft.com/office/drawing/2014/main" id="{F8FC7FAD-C3F2-9BAA-0E24-F602CC34F77A}"/>
              </a:ext>
            </a:extLst>
          </p:cNvPr>
          <p:cNvCxnSpPr>
            <a:cxnSpLocks/>
            <a:stCxn id="14" idx="2"/>
            <a:endCxn id="65" idx="2"/>
          </p:cNvCxnSpPr>
          <p:nvPr/>
        </p:nvCxnSpPr>
        <p:spPr>
          <a:xfrm rot="16200000" flipH="1">
            <a:off x="9759763" y="3544754"/>
            <a:ext cx="124563" cy="1079499"/>
          </a:xfrm>
          <a:prstGeom prst="bentConnector3">
            <a:avLst>
              <a:gd name="adj1" fmla="val 283522"/>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ABB9A882-4562-CB66-7BF4-B8844E3CC825}"/>
              </a:ext>
            </a:extLst>
          </p:cNvPr>
          <p:cNvCxnSpPr>
            <a:cxnSpLocks/>
          </p:cNvCxnSpPr>
          <p:nvPr/>
        </p:nvCxnSpPr>
        <p:spPr>
          <a:xfrm>
            <a:off x="3354878" y="2492575"/>
            <a:ext cx="0" cy="288000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1" name="文本框 90">
            <a:extLst>
              <a:ext uri="{FF2B5EF4-FFF2-40B4-BE49-F238E27FC236}">
                <a16:creationId xmlns:a16="http://schemas.microsoft.com/office/drawing/2014/main" id="{53AA2FE9-0319-5D0A-17A3-83D8A9C1A3F9}"/>
              </a:ext>
            </a:extLst>
          </p:cNvPr>
          <p:cNvSpPr txBox="1"/>
          <p:nvPr/>
        </p:nvSpPr>
        <p:spPr>
          <a:xfrm>
            <a:off x="2626143" y="2492575"/>
            <a:ext cx="723275" cy="329962"/>
          </a:xfrm>
          <a:prstGeom prst="rect">
            <a:avLst/>
          </a:prstGeom>
          <a:noFill/>
        </p:spPr>
        <p:txBody>
          <a:bodyPr wrap="none" rtlCol="0">
            <a:spAutoFit/>
          </a:bodyPr>
          <a:lstStyle/>
          <a:p>
            <a:pPr algn="ctr">
              <a:lnSpc>
                <a:spcPct val="120000"/>
              </a:lnSpc>
            </a:pPr>
            <a:r>
              <a:rPr lang="zh-CN" altLang="en-US" sz="1400" dirty="0"/>
              <a:t>用户侧</a:t>
            </a:r>
          </a:p>
        </p:txBody>
      </p:sp>
      <p:sp>
        <p:nvSpPr>
          <p:cNvPr id="92" name="文本框 91">
            <a:extLst>
              <a:ext uri="{FF2B5EF4-FFF2-40B4-BE49-F238E27FC236}">
                <a16:creationId xmlns:a16="http://schemas.microsoft.com/office/drawing/2014/main" id="{B418B973-60AA-88C7-BE57-C933FD958104}"/>
              </a:ext>
            </a:extLst>
          </p:cNvPr>
          <p:cNvSpPr txBox="1"/>
          <p:nvPr/>
        </p:nvSpPr>
        <p:spPr>
          <a:xfrm>
            <a:off x="3363497" y="2492575"/>
            <a:ext cx="723275" cy="329962"/>
          </a:xfrm>
          <a:prstGeom prst="rect">
            <a:avLst/>
          </a:prstGeom>
          <a:noFill/>
        </p:spPr>
        <p:txBody>
          <a:bodyPr wrap="none" rtlCol="0">
            <a:spAutoFit/>
          </a:bodyPr>
          <a:lstStyle/>
          <a:p>
            <a:pPr algn="ctr">
              <a:lnSpc>
                <a:spcPct val="120000"/>
              </a:lnSpc>
            </a:pPr>
            <a:r>
              <a:rPr lang="zh-CN" altLang="en-US" sz="1400" dirty="0"/>
              <a:t>维护侧</a:t>
            </a:r>
          </a:p>
        </p:txBody>
      </p:sp>
      <p:pic>
        <p:nvPicPr>
          <p:cNvPr id="94" name="图形 93" descr="文档">
            <a:extLst>
              <a:ext uri="{FF2B5EF4-FFF2-40B4-BE49-F238E27FC236}">
                <a16:creationId xmlns:a16="http://schemas.microsoft.com/office/drawing/2014/main" id="{1DDF3D19-1681-8EE7-3C19-60509FF8A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77969" y="4146785"/>
            <a:ext cx="360000" cy="360000"/>
          </a:xfrm>
          <a:prstGeom prst="rect">
            <a:avLst/>
          </a:prstGeom>
        </p:spPr>
      </p:pic>
      <p:pic>
        <p:nvPicPr>
          <p:cNvPr id="95" name="图形 94" descr="文档">
            <a:extLst>
              <a:ext uri="{FF2B5EF4-FFF2-40B4-BE49-F238E27FC236}">
                <a16:creationId xmlns:a16="http://schemas.microsoft.com/office/drawing/2014/main" id="{8812A161-0E8A-26DE-DA56-5C0FB1FF18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96524" y="4146785"/>
            <a:ext cx="360000" cy="360000"/>
          </a:xfrm>
          <a:prstGeom prst="rect">
            <a:avLst/>
          </a:prstGeom>
        </p:spPr>
      </p:pic>
      <p:pic>
        <p:nvPicPr>
          <p:cNvPr id="96" name="图形 95" descr="文档">
            <a:extLst>
              <a:ext uri="{FF2B5EF4-FFF2-40B4-BE49-F238E27FC236}">
                <a16:creationId xmlns:a16="http://schemas.microsoft.com/office/drawing/2014/main" id="{13FC2E1B-2A7A-FFE7-2B64-C4023AE311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07497" y="4146785"/>
            <a:ext cx="360000" cy="360000"/>
          </a:xfrm>
          <a:prstGeom prst="rect">
            <a:avLst/>
          </a:prstGeom>
        </p:spPr>
      </p:pic>
    </p:spTree>
    <p:custDataLst>
      <p:tags r:id="rId1"/>
    </p:custData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70794-01D7-6088-A926-EB5F4EE0A6C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DC19C45-C644-C04F-0E6E-78CC5F9844FB}"/>
              </a:ext>
            </a:extLst>
          </p:cNvPr>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p>
        </p:txBody>
      </p:sp>
      <p:sp>
        <p:nvSpPr>
          <p:cNvPr id="29" name="TextBox 6">
            <a:extLst>
              <a:ext uri="{FF2B5EF4-FFF2-40B4-BE49-F238E27FC236}">
                <a16:creationId xmlns:a16="http://schemas.microsoft.com/office/drawing/2014/main" id="{FEBFB2BD-A9BF-BAB4-932F-6C09B4B88BB4}"/>
              </a:ext>
            </a:extLst>
          </p:cNvPr>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11" name="MH_Text_1">
            <a:extLst>
              <a:ext uri="{FF2B5EF4-FFF2-40B4-BE49-F238E27FC236}">
                <a16:creationId xmlns:a16="http://schemas.microsoft.com/office/drawing/2014/main" id="{BEF8F71E-FF71-0917-6082-0348F6293642}"/>
              </a:ext>
            </a:extLst>
          </p:cNvPr>
          <p:cNvSpPr/>
          <p:nvPr>
            <p:custDataLst>
              <p:tags r:id="rId2"/>
            </p:custDataLst>
          </p:nvPr>
        </p:nvSpPr>
        <p:spPr bwMode="auto">
          <a:xfrm>
            <a:off x="807867" y="4661670"/>
            <a:ext cx="10296000" cy="524155"/>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wrap="square" lIns="108000" tIns="108000" rIns="108000" bIns="108000" anchor="t" anchorCtr="0">
            <a:spAutoFit/>
          </a:bodyPr>
          <a:lstStyle/>
          <a:p>
            <a:pPr>
              <a:lnSpc>
                <a:spcPct val="120000"/>
              </a:lnSpc>
            </a:pPr>
            <a:r>
              <a:rPr lang="zh-CN" altLang="en-US" dirty="0">
                <a:latin typeface="+mn-ea"/>
              </a:rPr>
              <a:t>不管是改正性、完善性还是适应性维护，都需要进行同样的技术工作</a:t>
            </a:r>
          </a:p>
        </p:txBody>
      </p:sp>
      <p:sp>
        <p:nvSpPr>
          <p:cNvPr id="12" name="MH_Text_2">
            <a:extLst>
              <a:ext uri="{FF2B5EF4-FFF2-40B4-BE49-F238E27FC236}">
                <a16:creationId xmlns:a16="http://schemas.microsoft.com/office/drawing/2014/main" id="{7836A4D2-9E0D-ABD7-6C7A-9F255CFA1A12}"/>
              </a:ext>
            </a:extLst>
          </p:cNvPr>
          <p:cNvSpPr/>
          <p:nvPr>
            <p:custDataLst>
              <p:tags r:id="rId3"/>
            </p:custDataLst>
          </p:nvPr>
        </p:nvSpPr>
        <p:spPr bwMode="auto">
          <a:xfrm>
            <a:off x="838800" y="5327170"/>
            <a:ext cx="10265067" cy="524155"/>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wrap="square" lIns="108000" tIns="108000" rIns="108000" bIns="108000" anchor="t" anchorCtr="0">
            <a:spAutoFit/>
          </a:bodyPr>
          <a:lstStyle/>
          <a:p>
            <a:pPr>
              <a:lnSpc>
                <a:spcPct val="120000"/>
              </a:lnSpc>
            </a:pPr>
            <a:r>
              <a:rPr lang="zh-CN" altLang="en-US" dirty="0">
                <a:latin typeface="+mn-ea"/>
              </a:rPr>
              <a:t>参加软件维护工作的人员并不是越多越好</a:t>
            </a:r>
          </a:p>
        </p:txBody>
      </p:sp>
      <p:sp>
        <p:nvSpPr>
          <p:cNvPr id="3" name="MH_Text_2"/>
          <p:cNvSpPr/>
          <p:nvPr>
            <p:custDataLst>
              <p:tags r:id="rId4"/>
            </p:custDataLst>
          </p:nvPr>
        </p:nvSpPr>
        <p:spPr bwMode="auto">
          <a:xfrm>
            <a:off x="807867" y="2001778"/>
            <a:ext cx="10296000" cy="2518547"/>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wrap="square" lIns="108000" tIns="108000" rIns="108000" bIns="108000" anchor="t" anchorCtr="0">
            <a:spAutoFit/>
          </a:bodyPr>
          <a:lstStyle/>
          <a:p>
            <a:pPr>
              <a:lnSpc>
                <a:spcPct val="120000"/>
              </a:lnSpc>
            </a:pPr>
            <a:r>
              <a:rPr dirty="0" err="1">
                <a:latin typeface="+mn-ea"/>
              </a:rPr>
              <a:t>软件维护时，首先要确定维护属于哪种类型</a:t>
            </a:r>
            <a:r>
              <a:rPr dirty="0">
                <a:latin typeface="+mn-ea"/>
              </a:rPr>
              <a:t>。</a:t>
            </a:r>
            <a:endParaRPr lang="en-US" dirty="0">
              <a:latin typeface="+mn-ea"/>
            </a:endParaRPr>
          </a:p>
          <a:p>
            <a:pPr>
              <a:lnSpc>
                <a:spcPct val="120000"/>
              </a:lnSpc>
            </a:pPr>
            <a:r>
              <a:rPr dirty="0">
                <a:latin typeface="+mn-ea"/>
              </a:rPr>
              <a:t>如果属于改正性维护，则需要评价其出错的严重性。如果错误严重，就进一步指定人员，在系统管理员的指导配合下，分析错误的原因，进行维护。对于不太严重的错误，则该项改正性维护和其他软件开发的任务一起统筹安排。</a:t>
            </a:r>
            <a:endParaRPr lang="en-US" dirty="0">
              <a:latin typeface="+mn-ea"/>
            </a:endParaRPr>
          </a:p>
          <a:p>
            <a:pPr>
              <a:lnSpc>
                <a:spcPct val="120000"/>
              </a:lnSpc>
            </a:pPr>
            <a:r>
              <a:rPr dirty="0" err="1">
                <a:latin typeface="+mn-ea"/>
              </a:rPr>
              <a:t>如果属于完善性或适应性维护</a:t>
            </a:r>
            <a:r>
              <a:rPr dirty="0">
                <a:latin typeface="+mn-ea"/>
              </a:rPr>
              <a:t>，</a:t>
            </a:r>
            <a:r>
              <a:rPr lang="zh-CN" altLang="en-US" dirty="0">
                <a:latin typeface="+mn-ea"/>
              </a:rPr>
              <a:t>先</a:t>
            </a:r>
            <a:r>
              <a:rPr dirty="0">
                <a:latin typeface="+mn-ea"/>
              </a:rPr>
              <a:t>确定各个维护要求的优先次序，并安排所需工作时间。从其意图和目标来看，属于开发工作，因此可将其视为开发任务。如果某项维护要求的优先次序特别高，可立即开始维护工作。</a:t>
            </a:r>
          </a:p>
        </p:txBody>
      </p:sp>
    </p:spTree>
    <p:custDataLst>
      <p:tags r:id="rId1"/>
    </p:custDataLst>
    <p:extLst>
      <p:ext uri="{BB962C8B-B14F-4D97-AF65-F5344CB8AC3E}">
        <p14:creationId xmlns:p14="http://schemas.microsoft.com/office/powerpoint/2010/main" val="4141459783"/>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a:p>
        </p:txBody>
      </p:sp>
      <p:sp>
        <p:nvSpPr>
          <p:cNvPr id="3077" name="MH_Text_1"/>
          <p:cNvSpPr>
            <a:spLocks noChangeArrowheads="1"/>
          </p:cNvSpPr>
          <p:nvPr/>
        </p:nvSpPr>
        <p:spPr bwMode="auto">
          <a:xfrm>
            <a:off x="1578824" y="2880000"/>
            <a:ext cx="8506460" cy="1727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defRPr/>
            </a:pPr>
            <a:r>
              <a:rPr lang="en-US" altLang="zh-CN" dirty="0"/>
              <a:t>软件开发机构应当建立</a:t>
            </a:r>
            <a:r>
              <a:rPr lang="en-US" altLang="zh-CN" dirty="0">
                <a:latin typeface="+mj-ea"/>
                <a:ea typeface="+mj-ea"/>
              </a:rPr>
              <a:t>正式</a:t>
            </a:r>
            <a:r>
              <a:rPr lang="en-US" altLang="zh-CN" dirty="0"/>
              <a:t>的维护组织，或设立专门负责维护工作的非正式组织。维护组织由</a:t>
            </a:r>
            <a:r>
              <a:rPr lang="en-US" altLang="zh-CN" dirty="0">
                <a:latin typeface="+mj-ea"/>
                <a:ea typeface="+mj-ea"/>
              </a:rPr>
              <a:t>维护管理员</a:t>
            </a:r>
            <a:r>
              <a:rPr lang="en-US" altLang="zh-CN" dirty="0"/>
              <a:t>、</a:t>
            </a:r>
            <a:r>
              <a:rPr lang="en-US" altLang="zh-CN" dirty="0">
                <a:latin typeface="+mj-ea"/>
                <a:ea typeface="+mj-ea"/>
              </a:rPr>
              <a:t>系统管理员</a:t>
            </a:r>
            <a:r>
              <a:rPr lang="en-US" altLang="zh-CN" dirty="0"/>
              <a:t>、</a:t>
            </a:r>
            <a:r>
              <a:rPr lang="en-US" altLang="zh-CN" dirty="0">
                <a:latin typeface="+mj-ea"/>
                <a:ea typeface="+mj-ea"/>
              </a:rPr>
              <a:t>维护人员</a:t>
            </a:r>
            <a:r>
              <a:rPr lang="en-US" altLang="zh-CN" dirty="0"/>
              <a:t>组成。</a:t>
            </a:r>
          </a:p>
          <a:p>
            <a:pPr indent="457200" algn="just" fontAlgn="auto">
              <a:lnSpc>
                <a:spcPct val="120000"/>
              </a:lnSpc>
              <a:defRPr/>
            </a:pPr>
            <a:r>
              <a:rPr lang="en-US" altLang="zh-CN" dirty="0"/>
              <a:t>系统管理员必须对软件产品程序或将被修改的那类程序相当熟悉。每当软件开发机构收到用户的维护申请后，交给负责此事的维护管理员，由他把维护申请交给系统管理员评价，再由维护人员决定如何进行修改。</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pic>
        <p:nvPicPr>
          <p:cNvPr id="428034" name="图片 1" descr="www.tuweimei.comComp_6852315_um7hk670Afe6IVuLfho4x4urYrm6Q6OA.jpg"/>
          <p:cNvPicPr>
            <a:picLocks noGrp="1" noChangeAspect="1"/>
          </p:cNvPicPr>
          <p:nvPr/>
        </p:nvPicPr>
        <p:blipFill>
          <a:blip r:embed="rId2" cstate="print"/>
          <a:stretch>
            <a:fillRect/>
          </a:stretch>
        </p:blipFill>
        <p:spPr>
          <a:xfrm>
            <a:off x="8259445" y="-13335"/>
            <a:ext cx="2857500" cy="2857500"/>
          </a:xfrm>
          <a:prstGeom prst="rect">
            <a:avLst/>
          </a:prstGeom>
          <a:noFill/>
          <a:ln w="9525">
            <a:noFill/>
          </a:ln>
        </p:spPr>
      </p:pic>
      <p:sp>
        <p:nvSpPr>
          <p:cNvPr id="5" name="MH_SubTitle_3">
            <a:extLst>
              <a:ext uri="{FF2B5EF4-FFF2-40B4-BE49-F238E27FC236}">
                <a16:creationId xmlns:a16="http://schemas.microsoft.com/office/drawing/2014/main" id="{41C0C6C2-F159-E369-04A8-36E4FD7667B6}"/>
              </a:ext>
            </a:extLst>
          </p:cNvPr>
          <p:cNvSpPr>
            <a:spLocks noChangeArrowheads="1"/>
          </p:cNvSpPr>
          <p:nvPr/>
        </p:nvSpPr>
        <p:spPr bwMode="auto">
          <a:xfrm>
            <a:off x="1478811" y="1970066"/>
            <a:ext cx="4572000" cy="600075"/>
          </a:xfrm>
          <a:prstGeom prst="rect">
            <a:avLst/>
          </a:prstGeom>
          <a:noFill/>
          <a:ln w="9525">
            <a:noFill/>
            <a:miter lim="800000"/>
          </a:ln>
        </p:spPr>
        <p:txBody>
          <a:bodyPr anchor="b"/>
          <a:lstStyle/>
          <a:p>
            <a:r>
              <a:rPr lang="zh-CN" altLang="en-US" sz="2000" b="1" dirty="0">
                <a:solidFill>
                  <a:srgbClr val="E26664"/>
                </a:solidFill>
                <a:latin typeface="Arial" panose="020B0604020202020204" pitchFamily="34" charset="0"/>
                <a:ea typeface="微软雅黑 Light" panose="020B0502040204020203" pitchFamily="34" charset="-122"/>
                <a:cs typeface="Arial" panose="020B0604020202020204" pitchFamily="34" charset="0"/>
              </a:rPr>
              <a:t>维护组织</a:t>
            </a:r>
          </a:p>
        </p:txBody>
      </p:sp>
      <p:sp>
        <p:nvSpPr>
          <p:cNvPr id="6" name="MH_Other_7">
            <a:extLst>
              <a:ext uri="{FF2B5EF4-FFF2-40B4-BE49-F238E27FC236}">
                <a16:creationId xmlns:a16="http://schemas.microsoft.com/office/drawing/2014/main" id="{B6C32234-F6C7-58F4-4B5C-79137376AB2C}"/>
              </a:ext>
            </a:extLst>
          </p:cNvPr>
          <p:cNvSpPr/>
          <p:nvPr/>
        </p:nvSpPr>
        <p:spPr>
          <a:xfrm>
            <a:off x="1410549" y="1985941"/>
            <a:ext cx="68262" cy="1320800"/>
          </a:xfrm>
          <a:prstGeom prst="rect">
            <a:avLst/>
          </a:prstGeom>
          <a:solidFill>
            <a:srgbClr val="E26664">
              <a:lumMod val="40000"/>
              <a:lumOff val="60000"/>
            </a:srgbClr>
          </a:solidFill>
          <a:ln w="12700" cap="flat" cmpd="sng" algn="ctr">
            <a:noFill/>
            <a:prstDash val="solid"/>
            <a:miter lim="800000"/>
          </a:ln>
          <a:effectLst/>
        </p:spPr>
        <p:txBody>
          <a:bodyPr anchor="ctr">
            <a:normAutofit/>
          </a:bodyPr>
          <a:lstStyle/>
          <a:p>
            <a:pPr algn="ctr"/>
            <a:endParaRPr lang="zh-CN" altLang="en-US" kern="0" dirty="0">
              <a:solidFill>
                <a:srgbClr val="FFFFFF"/>
              </a:solidFill>
              <a:latin typeface="Calibri" panose="020F0502020204030204"/>
              <a:ea typeface="微软雅黑 Light" panose="020B0502040204020203" pitchFamily="34" charset="-122"/>
            </a:endParaRPr>
          </a:p>
        </p:txBody>
      </p:sp>
      <p:cxnSp>
        <p:nvCxnSpPr>
          <p:cNvPr id="7" name="MH_Other_8">
            <a:extLst>
              <a:ext uri="{FF2B5EF4-FFF2-40B4-BE49-F238E27FC236}">
                <a16:creationId xmlns:a16="http://schemas.microsoft.com/office/drawing/2014/main" id="{44FDD4BA-86DD-B34C-D204-4D383B7BFE7E}"/>
              </a:ext>
            </a:extLst>
          </p:cNvPr>
          <p:cNvCxnSpPr>
            <a:cxnSpLocks noChangeShapeType="1"/>
          </p:cNvCxnSpPr>
          <p:nvPr/>
        </p:nvCxnSpPr>
        <p:spPr bwMode="auto">
          <a:xfrm flipV="1">
            <a:off x="1578824" y="2561196"/>
            <a:ext cx="9933945" cy="8947"/>
          </a:xfrm>
          <a:prstGeom prst="line">
            <a:avLst/>
          </a:prstGeom>
          <a:noFill/>
          <a:ln w="19050" algn="ctr">
            <a:solidFill>
              <a:srgbClr val="BFBFBF"/>
            </a:solidFill>
            <a:prstDash val="sysDash"/>
            <a:miter lim="800000"/>
          </a:ln>
        </p:spPr>
      </p:cxnSp>
      <p:sp>
        <p:nvSpPr>
          <p:cNvPr id="8" name="MH_Other_9">
            <a:extLst>
              <a:ext uri="{FF2B5EF4-FFF2-40B4-BE49-F238E27FC236}">
                <a16:creationId xmlns:a16="http://schemas.microsoft.com/office/drawing/2014/main" id="{BD20F595-C804-88AA-82B3-EA79B4CC3FC1}"/>
              </a:ext>
            </a:extLst>
          </p:cNvPr>
          <p:cNvSpPr txBox="1">
            <a:spLocks noChangeArrowheads="1"/>
          </p:cNvSpPr>
          <p:nvPr/>
        </p:nvSpPr>
        <p:spPr bwMode="auto">
          <a:xfrm>
            <a:off x="671567" y="1985623"/>
            <a:ext cx="738664" cy="1303338"/>
          </a:xfrm>
          <a:prstGeom prst="rect">
            <a:avLst/>
          </a:prstGeom>
          <a:noFill/>
          <a:ln w="9525">
            <a:noFill/>
            <a:miter lim="800000"/>
          </a:ln>
        </p:spPr>
        <p:txBody>
          <a:bodyPr vert="eaVert" lIns="0" tIns="0" rIns="0" bIns="0">
            <a:spAutoFit/>
          </a:bodyPr>
          <a:lstStyle>
            <a:defPPr>
              <a:defRPr lang="zh-CN"/>
            </a:defPPr>
            <a:lvl1pPr algn="ctr">
              <a:defRPr sz="4800" b="1">
                <a:solidFill>
                  <a:srgbClr val="E26664"/>
                </a:solidFill>
                <a:ea typeface="微软雅黑 Light" panose="020B0502040204020203" pitchFamily="34" charset="-122"/>
              </a:defRPr>
            </a:lvl1pPr>
          </a:lstStyle>
          <a:p>
            <a:r>
              <a:rPr lang="en-US" altLang="zh-CN" dirty="0"/>
              <a:t>01</a:t>
            </a: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3635" name="图片 2"/>
          <p:cNvPicPr>
            <a:picLocks noChangeAspect="1"/>
          </p:cNvPicPr>
          <p:nvPr/>
        </p:nvPicPr>
        <p:blipFill>
          <a:blip r:embed="rId2" cstate="print"/>
          <a:stretch>
            <a:fillRect/>
          </a:stretch>
        </p:blipFill>
        <p:spPr>
          <a:xfrm>
            <a:off x="9462135" y="-12700"/>
            <a:ext cx="2079625" cy="2773680"/>
          </a:xfrm>
          <a:prstGeom prst="rect">
            <a:avLst/>
          </a:prstGeom>
          <a:noFill/>
          <a:ln w="9525">
            <a:noFill/>
          </a:ln>
        </p:spPr>
      </p:pic>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3082" name="MH_Text_2"/>
          <p:cNvSpPr>
            <a:spLocks noChangeArrowheads="1"/>
          </p:cNvSpPr>
          <p:nvPr/>
        </p:nvSpPr>
        <p:spPr bwMode="auto">
          <a:xfrm>
            <a:off x="1360012" y="3625828"/>
            <a:ext cx="5226685" cy="3182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000" tIns="108000" rIns="108000" bIns="108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defRPr/>
            </a:pPr>
            <a:r>
              <a:rPr lang="en-US" altLang="zh-CN" dirty="0"/>
              <a:t>1. 维护申请表</a:t>
            </a:r>
          </a:p>
          <a:p>
            <a:pPr indent="457200" algn="l" fontAlgn="auto">
              <a:lnSpc>
                <a:spcPct val="120000"/>
              </a:lnSpc>
              <a:defRPr/>
            </a:pPr>
            <a:r>
              <a:rPr lang="en-US" altLang="zh-CN" dirty="0"/>
              <a:t>软件开发机构的维护组织向用户提供空白的维护申请表，由要求维护的用户填写，该表应能完整描述软件产生错误的情况（包括输入数据、输出数据及其他有关信息）。对于适应性或完善性的维护要求，则应提出简单明了的维护要求规格说明。</a:t>
            </a:r>
          </a:p>
          <a:p>
            <a:pPr indent="457200" algn="l" fontAlgn="auto">
              <a:lnSpc>
                <a:spcPct val="120000"/>
              </a:lnSpc>
              <a:defRPr/>
            </a:pPr>
            <a:r>
              <a:rPr lang="en-US" altLang="zh-CN" dirty="0"/>
              <a:t>维护申请表由维护管理员和系统管理员负责研究处理。</a:t>
            </a:r>
          </a:p>
        </p:txBody>
      </p:sp>
      <p:sp>
        <p:nvSpPr>
          <p:cNvPr id="4" name="MH_Text_2"/>
          <p:cNvSpPr>
            <a:spLocks noChangeArrowheads="1"/>
          </p:cNvSpPr>
          <p:nvPr/>
        </p:nvSpPr>
        <p:spPr bwMode="auto">
          <a:xfrm>
            <a:off x="6813559" y="3625828"/>
            <a:ext cx="4381292" cy="3182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108000" rIns="108000" bIns="108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defRPr/>
            </a:pPr>
            <a:r>
              <a:rPr lang="en-US" altLang="zh-CN" dirty="0"/>
              <a:t>2. 维护报告</a:t>
            </a:r>
          </a:p>
          <a:p>
            <a:pPr indent="457200" algn="l" fontAlgn="auto">
              <a:lnSpc>
                <a:spcPct val="120000"/>
              </a:lnSpc>
              <a:defRPr/>
            </a:pPr>
            <a:r>
              <a:rPr lang="en-US" altLang="zh-CN" dirty="0"/>
              <a:t>软件开发组织在收到用户的维护要求表后，维护管理员应写一份软件维护报告。该报告应包含下述内容：</a:t>
            </a:r>
          </a:p>
          <a:p>
            <a:pPr marL="285750" indent="-285750" algn="l" fontAlgn="auto">
              <a:lnSpc>
                <a:spcPct val="120000"/>
              </a:lnSpc>
              <a:buFont typeface="Wingdings" panose="05000000000000000000" charset="0"/>
              <a:buChar char="Ø"/>
              <a:defRPr/>
            </a:pPr>
            <a:r>
              <a:rPr lang="en-US" altLang="zh-CN" dirty="0"/>
              <a:t>按照要求进行维护所需要的工作量；</a:t>
            </a:r>
          </a:p>
          <a:p>
            <a:pPr marL="285750" indent="-285750" algn="l" fontAlgn="auto">
              <a:lnSpc>
                <a:spcPct val="120000"/>
              </a:lnSpc>
              <a:buFont typeface="Wingdings" panose="05000000000000000000" charset="0"/>
              <a:buChar char="Ø"/>
              <a:defRPr/>
            </a:pPr>
            <a:r>
              <a:rPr lang="en-US" altLang="zh-CN" dirty="0"/>
              <a:t>维护要求的性质；</a:t>
            </a:r>
          </a:p>
          <a:p>
            <a:pPr marL="285750" indent="-285750" algn="l" fontAlgn="auto">
              <a:lnSpc>
                <a:spcPct val="120000"/>
              </a:lnSpc>
              <a:buFont typeface="Wingdings" panose="05000000000000000000" charset="0"/>
              <a:buChar char="Ø"/>
              <a:defRPr/>
            </a:pPr>
            <a:r>
              <a:rPr lang="en-US" altLang="zh-CN" dirty="0"/>
              <a:t>该项要求与其他维护要求相比的优先程度；</a:t>
            </a:r>
          </a:p>
          <a:p>
            <a:pPr marL="285750" indent="-285750" algn="l" fontAlgn="auto">
              <a:lnSpc>
                <a:spcPct val="120000"/>
              </a:lnSpc>
              <a:buFont typeface="Wingdings" panose="05000000000000000000" charset="0"/>
              <a:buChar char="Ø"/>
              <a:defRPr/>
            </a:pPr>
            <a:r>
              <a:rPr lang="en-US" altLang="zh-CN" dirty="0"/>
              <a:t>预计软件维护后的状况。</a:t>
            </a:r>
          </a:p>
        </p:txBody>
      </p:sp>
      <p:sp>
        <p:nvSpPr>
          <p:cNvPr id="8" name="MH_Text_2">
            <a:extLst>
              <a:ext uri="{FF2B5EF4-FFF2-40B4-BE49-F238E27FC236}">
                <a16:creationId xmlns:a16="http://schemas.microsoft.com/office/drawing/2014/main" id="{9CC92966-A7F2-CF28-3C34-85F7FEDDA330}"/>
              </a:ext>
            </a:extLst>
          </p:cNvPr>
          <p:cNvSpPr>
            <a:spLocks noChangeArrowheads="1"/>
          </p:cNvSpPr>
          <p:nvPr/>
        </p:nvSpPr>
        <p:spPr bwMode="auto">
          <a:xfrm>
            <a:off x="1360012" y="2797292"/>
            <a:ext cx="9834839" cy="85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000" tIns="108000" rIns="108000" bIns="108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nSpc>
                <a:spcPct val="120000"/>
              </a:lnSpc>
              <a:defRPr/>
            </a:pPr>
            <a:r>
              <a:rPr lang="en-US" altLang="zh-CN" dirty="0"/>
              <a:t>软件维护要有书面文件：用户填写</a:t>
            </a:r>
            <a:r>
              <a:rPr lang="en-US" altLang="zh-CN" dirty="0">
                <a:latin typeface="+mj-ea"/>
                <a:ea typeface="+mj-ea"/>
              </a:rPr>
              <a:t>维护申请表</a:t>
            </a:r>
            <a:r>
              <a:rPr lang="en-US" altLang="zh-CN" dirty="0"/>
              <a:t>、维护管理员填写</a:t>
            </a:r>
            <a:r>
              <a:rPr lang="en-US" altLang="zh-CN" dirty="0">
                <a:latin typeface="+mj-ea"/>
                <a:ea typeface="+mj-ea"/>
              </a:rPr>
              <a:t>维护报告</a:t>
            </a:r>
            <a:r>
              <a:rPr lang="en-US" altLang="zh-CN" dirty="0"/>
              <a:t>、维护人员填写</a:t>
            </a:r>
            <a:r>
              <a:rPr lang="en-US" altLang="zh-CN" dirty="0">
                <a:latin typeface="+mj-ea"/>
                <a:ea typeface="+mj-ea"/>
              </a:rPr>
              <a:t>维护记录</a:t>
            </a:r>
            <a:r>
              <a:rPr lang="en-US" altLang="zh-CN" dirty="0"/>
              <a:t>。</a:t>
            </a:r>
          </a:p>
        </p:txBody>
      </p:sp>
      <p:sp>
        <p:nvSpPr>
          <p:cNvPr id="5" name="MH_SubTitle_3">
            <a:extLst>
              <a:ext uri="{FF2B5EF4-FFF2-40B4-BE49-F238E27FC236}">
                <a16:creationId xmlns:a16="http://schemas.microsoft.com/office/drawing/2014/main" id="{8E134FF2-7F62-E5F1-DAA4-A42FDEA325B2}"/>
              </a:ext>
            </a:extLst>
          </p:cNvPr>
          <p:cNvSpPr>
            <a:spLocks noChangeArrowheads="1"/>
          </p:cNvSpPr>
          <p:nvPr/>
        </p:nvSpPr>
        <p:spPr bwMode="auto">
          <a:xfrm>
            <a:off x="1478811" y="1970066"/>
            <a:ext cx="4572000" cy="600075"/>
          </a:xfrm>
          <a:prstGeom prst="rect">
            <a:avLst/>
          </a:prstGeom>
          <a:noFill/>
          <a:ln w="9525">
            <a:noFill/>
            <a:miter lim="800000"/>
          </a:ln>
        </p:spPr>
        <p:txBody>
          <a:bodyPr anchor="b"/>
          <a:lstStyle/>
          <a:p>
            <a:pPr eaLnBrk="1" hangingPunct="1"/>
            <a:r>
              <a:rPr lang="zh-CN" altLang="en-US" sz="2000" b="1" dirty="0">
                <a:solidFill>
                  <a:schemeClr val="accent4">
                    <a:lumMod val="60000"/>
                    <a:lumOff val="40000"/>
                  </a:schemeClr>
                </a:solidFill>
                <a:latin typeface="Arial" panose="020B0604020202020204" pitchFamily="34" charset="0"/>
                <a:ea typeface="微软雅黑 Light" panose="020B0502040204020203" pitchFamily="34" charset="-122"/>
                <a:cs typeface="Arial" panose="020B0604020202020204" pitchFamily="34" charset="0"/>
              </a:rPr>
              <a:t>维护文件</a:t>
            </a:r>
          </a:p>
        </p:txBody>
      </p:sp>
      <p:sp>
        <p:nvSpPr>
          <p:cNvPr id="6" name="MH_Other_7">
            <a:extLst>
              <a:ext uri="{FF2B5EF4-FFF2-40B4-BE49-F238E27FC236}">
                <a16:creationId xmlns:a16="http://schemas.microsoft.com/office/drawing/2014/main" id="{955B15A9-6B98-55DE-CB22-2863B0106A34}"/>
              </a:ext>
            </a:extLst>
          </p:cNvPr>
          <p:cNvSpPr/>
          <p:nvPr/>
        </p:nvSpPr>
        <p:spPr>
          <a:xfrm>
            <a:off x="1410549" y="1985941"/>
            <a:ext cx="68262" cy="1320800"/>
          </a:xfrm>
          <a:prstGeom prst="rect">
            <a:avLst/>
          </a:prstGeom>
          <a:solidFill>
            <a:schemeClr val="accent4">
              <a:lumMod val="40000"/>
              <a:lumOff val="60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dirty="0">
              <a:solidFill>
                <a:srgbClr val="FFFFFF"/>
              </a:solidFill>
              <a:latin typeface="Calibri" panose="020F0502020204030204"/>
              <a:ea typeface="微软雅黑 Light" panose="020B0502040204020203" pitchFamily="34" charset="-122"/>
            </a:endParaRPr>
          </a:p>
        </p:txBody>
      </p:sp>
      <p:cxnSp>
        <p:nvCxnSpPr>
          <p:cNvPr id="7" name="MH_Other_8">
            <a:extLst>
              <a:ext uri="{FF2B5EF4-FFF2-40B4-BE49-F238E27FC236}">
                <a16:creationId xmlns:a16="http://schemas.microsoft.com/office/drawing/2014/main" id="{E8BF326A-8D2D-DDC9-300C-420166F14264}"/>
              </a:ext>
            </a:extLst>
          </p:cNvPr>
          <p:cNvCxnSpPr>
            <a:cxnSpLocks noChangeShapeType="1"/>
          </p:cNvCxnSpPr>
          <p:nvPr/>
        </p:nvCxnSpPr>
        <p:spPr bwMode="auto">
          <a:xfrm flipV="1">
            <a:off x="1578824" y="2561196"/>
            <a:ext cx="9933945" cy="8947"/>
          </a:xfrm>
          <a:prstGeom prst="line">
            <a:avLst/>
          </a:prstGeom>
          <a:noFill/>
          <a:ln w="19050" algn="ctr">
            <a:solidFill>
              <a:srgbClr val="BFBFBF"/>
            </a:solidFill>
            <a:prstDash val="sysDash"/>
            <a:miter lim="800000"/>
          </a:ln>
        </p:spPr>
      </p:cxnSp>
      <p:sp>
        <p:nvSpPr>
          <p:cNvPr id="9" name="MH_Other_9">
            <a:extLst>
              <a:ext uri="{FF2B5EF4-FFF2-40B4-BE49-F238E27FC236}">
                <a16:creationId xmlns:a16="http://schemas.microsoft.com/office/drawing/2014/main" id="{1093AFDE-5004-95D6-8A55-5DE225DC900A}"/>
              </a:ext>
            </a:extLst>
          </p:cNvPr>
          <p:cNvSpPr txBox="1">
            <a:spLocks noChangeArrowheads="1"/>
          </p:cNvSpPr>
          <p:nvPr/>
        </p:nvSpPr>
        <p:spPr bwMode="auto">
          <a:xfrm>
            <a:off x="671567" y="1985623"/>
            <a:ext cx="738664" cy="1303338"/>
          </a:xfrm>
          <a:prstGeom prst="rect">
            <a:avLst/>
          </a:prstGeom>
          <a:noFill/>
          <a:ln w="9525">
            <a:noFill/>
            <a:miter lim="800000"/>
          </a:ln>
        </p:spPr>
        <p:txBody>
          <a:bodyPr vert="eaVert" lIns="0" tIns="0" rIns="0" bIns="0">
            <a:spAutoFit/>
          </a:bodyPr>
          <a:lstStyle/>
          <a:p>
            <a:pPr algn="ctr" eaLnBrk="1" hangingPunct="1"/>
            <a:r>
              <a:rPr lang="en-US" altLang="zh-CN" sz="4800" b="1" dirty="0">
                <a:solidFill>
                  <a:schemeClr val="accent4">
                    <a:lumMod val="60000"/>
                    <a:lumOff val="40000"/>
                  </a:schemeClr>
                </a:solidFill>
                <a:ea typeface="微软雅黑 Light" panose="020B0502040204020203" pitchFamily="34" charset="-122"/>
              </a:rPr>
              <a:t>02</a:t>
            </a: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3082" name="MH_Text_2"/>
          <p:cNvSpPr>
            <a:spLocks noChangeArrowheads="1"/>
          </p:cNvSpPr>
          <p:nvPr/>
        </p:nvSpPr>
        <p:spPr bwMode="auto">
          <a:xfrm>
            <a:off x="1387317" y="2890361"/>
            <a:ext cx="5265420" cy="293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defRPr/>
            </a:pPr>
            <a:endParaRPr lang="en-US" altLang="zh-CN" dirty="0">
              <a:solidFill>
                <a:schemeClr val="tx1"/>
              </a:solidFill>
              <a:latin typeface="微软雅黑" panose="020B0503020204020204" charset="-122"/>
              <a:ea typeface="微软雅黑" panose="020B0503020204020204" charset="-122"/>
              <a:cs typeface="Arial" panose="020B0604020202020204" pitchFamily="34" charset="0"/>
            </a:endParaRPr>
          </a:p>
        </p:txBody>
      </p:sp>
      <p:sp>
        <p:nvSpPr>
          <p:cNvPr id="2" name="文本框 1"/>
          <p:cNvSpPr txBox="1"/>
          <p:nvPr/>
        </p:nvSpPr>
        <p:spPr>
          <a:xfrm>
            <a:off x="5681980" y="3887557"/>
            <a:ext cx="5997575" cy="2185636"/>
          </a:xfrm>
          <a:prstGeom prst="rect">
            <a:avLst/>
          </a:prstGeom>
          <a:noFill/>
        </p:spPr>
        <p:txBody>
          <a:bodyPr wrap="square" lIns="108000" tIns="108000" rIns="108000" bIns="108000" rtlCol="0">
            <a:spAutoFit/>
          </a:bodyPr>
          <a:lstStyle/>
          <a:p>
            <a:pPr marL="285750" indent="-285750" algn="l" fontAlgn="auto">
              <a:lnSpc>
                <a:spcPct val="120000"/>
              </a:lnSpc>
              <a:buFont typeface="Wingdings" panose="05000000000000000000" charset="0"/>
              <a:buChar char="Ø"/>
              <a:defRPr/>
            </a:pPr>
            <a:r>
              <a:rPr lang="en-US" altLang="zh-CN" dirty="0">
                <a:sym typeface="+mn-ea"/>
              </a:rPr>
              <a:t>修改程序所增加的源语行数、所删除的源语行数</a:t>
            </a:r>
          </a:p>
          <a:p>
            <a:pPr marL="285750" indent="-285750" algn="l" fontAlgn="auto">
              <a:lnSpc>
                <a:spcPct val="120000"/>
              </a:lnSpc>
              <a:buFont typeface="Wingdings" panose="05000000000000000000" charset="0"/>
              <a:buChar char="Ø"/>
              <a:defRPr/>
            </a:pPr>
            <a:r>
              <a:rPr lang="en-US" altLang="zh-CN" dirty="0">
                <a:sym typeface="+mn-ea"/>
              </a:rPr>
              <a:t>各次修改耗费的人时数、累计用于维护的人时数</a:t>
            </a:r>
          </a:p>
          <a:p>
            <a:pPr marL="285750" indent="-285750" algn="l" fontAlgn="auto">
              <a:lnSpc>
                <a:spcPct val="120000"/>
              </a:lnSpc>
              <a:buFont typeface="Wingdings" panose="05000000000000000000" charset="0"/>
              <a:buChar char="Ø"/>
              <a:defRPr/>
            </a:pPr>
            <a:r>
              <a:rPr lang="en-US" altLang="zh-CN" dirty="0">
                <a:sym typeface="+mn-ea"/>
              </a:rPr>
              <a:t>软件工程师的姓名</a:t>
            </a:r>
          </a:p>
          <a:p>
            <a:pPr marL="285750" indent="-285750" algn="l" fontAlgn="auto">
              <a:lnSpc>
                <a:spcPct val="120000"/>
              </a:lnSpc>
              <a:buFont typeface="Wingdings" panose="05000000000000000000" charset="0"/>
              <a:buChar char="Ø"/>
              <a:defRPr/>
            </a:pPr>
            <a:r>
              <a:rPr lang="en-US" altLang="zh-CN" dirty="0">
                <a:sym typeface="+mn-ea"/>
              </a:rPr>
              <a:t>维护要求表的标识</a:t>
            </a:r>
          </a:p>
          <a:p>
            <a:pPr marL="285750" indent="-285750" algn="l" fontAlgn="auto">
              <a:lnSpc>
                <a:spcPct val="120000"/>
              </a:lnSpc>
              <a:buFont typeface="Wingdings" panose="05000000000000000000" charset="0"/>
              <a:buChar char="Ø"/>
              <a:defRPr/>
            </a:pPr>
            <a:r>
              <a:rPr lang="en-US" altLang="zh-CN" dirty="0">
                <a:sym typeface="+mn-ea"/>
              </a:rPr>
              <a:t>维护开始和结束的日期</a:t>
            </a:r>
          </a:p>
          <a:p>
            <a:pPr marL="285750" indent="-285750" algn="l" fontAlgn="auto">
              <a:lnSpc>
                <a:spcPct val="120000"/>
              </a:lnSpc>
              <a:buFont typeface="Wingdings" panose="05000000000000000000" charset="0"/>
              <a:buChar char="Ø"/>
              <a:defRPr/>
            </a:pPr>
            <a:r>
              <a:rPr lang="en-US" altLang="zh-CN" dirty="0">
                <a:sym typeface="+mn-ea"/>
              </a:rPr>
              <a:t>维护工作的净收益</a:t>
            </a:r>
          </a:p>
        </p:txBody>
      </p:sp>
      <p:sp>
        <p:nvSpPr>
          <p:cNvPr id="4" name="MH_Text_2"/>
          <p:cNvSpPr>
            <a:spLocks noChangeArrowheads="1"/>
          </p:cNvSpPr>
          <p:nvPr/>
        </p:nvSpPr>
        <p:spPr bwMode="auto">
          <a:xfrm>
            <a:off x="1641317" y="2890361"/>
            <a:ext cx="5226685" cy="3182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000" tIns="108000" rIns="108000" bIns="1080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20000"/>
              </a:lnSpc>
              <a:defRPr/>
            </a:pPr>
            <a:r>
              <a:rPr lang="en-US" altLang="zh-CN" dirty="0">
                <a:sym typeface="+mn-ea"/>
              </a:rPr>
              <a:t>3. 维护记录</a:t>
            </a:r>
            <a:endParaRPr lang="en-US" altLang="zh-CN" dirty="0"/>
          </a:p>
          <a:p>
            <a:pPr indent="0" algn="l" fontAlgn="auto">
              <a:lnSpc>
                <a:spcPct val="120000"/>
              </a:lnSpc>
              <a:defRPr/>
            </a:pPr>
            <a:r>
              <a:rPr lang="en-US" altLang="zh-CN" dirty="0">
                <a:sym typeface="+mn-ea"/>
              </a:rPr>
              <a:t>维护记录可以包括如下内容：</a:t>
            </a:r>
            <a:endParaRPr lang="en-US" altLang="zh-CN" dirty="0"/>
          </a:p>
          <a:p>
            <a:pPr marL="285750" indent="-285750" algn="l" fontAlgn="auto">
              <a:lnSpc>
                <a:spcPct val="120000"/>
              </a:lnSpc>
              <a:buFont typeface="Wingdings" panose="05000000000000000000" charset="0"/>
              <a:buChar char="Ø"/>
              <a:defRPr/>
            </a:pPr>
            <a:r>
              <a:rPr lang="en-US" altLang="zh-CN" dirty="0" err="1">
                <a:sym typeface="+mn-ea"/>
              </a:rPr>
              <a:t>程序名称</a:t>
            </a:r>
            <a:endParaRPr lang="en-US" altLang="zh-CN" dirty="0">
              <a:sym typeface="+mn-ea"/>
            </a:endParaRPr>
          </a:p>
          <a:p>
            <a:pPr marL="285750" indent="-285750" algn="l" fontAlgn="auto">
              <a:lnSpc>
                <a:spcPct val="120000"/>
              </a:lnSpc>
              <a:buFont typeface="Wingdings" panose="05000000000000000000" charset="0"/>
              <a:buChar char="Ø"/>
              <a:defRPr/>
            </a:pPr>
            <a:r>
              <a:rPr lang="en-US" altLang="zh-CN" dirty="0">
                <a:sym typeface="+mn-ea"/>
              </a:rPr>
              <a:t>维护类型</a:t>
            </a:r>
          </a:p>
          <a:p>
            <a:pPr marL="285750" indent="-285750" algn="l" fontAlgn="auto">
              <a:lnSpc>
                <a:spcPct val="120000"/>
              </a:lnSpc>
              <a:buFont typeface="Wingdings" panose="05000000000000000000" charset="0"/>
              <a:buChar char="Ø"/>
              <a:defRPr/>
            </a:pPr>
            <a:r>
              <a:rPr lang="en-US" altLang="zh-CN" dirty="0">
                <a:sym typeface="+mn-ea"/>
              </a:rPr>
              <a:t>所用的编程语言</a:t>
            </a:r>
          </a:p>
          <a:p>
            <a:pPr marL="285750" indent="-285750" algn="l" fontAlgn="auto">
              <a:lnSpc>
                <a:spcPct val="120000"/>
              </a:lnSpc>
              <a:buFont typeface="Wingdings" panose="05000000000000000000" charset="0"/>
              <a:buChar char="Ø"/>
              <a:defRPr/>
            </a:pPr>
            <a:r>
              <a:rPr lang="en-US" altLang="zh-CN" dirty="0">
                <a:sym typeface="+mn-ea"/>
              </a:rPr>
              <a:t>程序行数或机器指令条数</a:t>
            </a:r>
          </a:p>
          <a:p>
            <a:pPr marL="285750" indent="-285750" algn="l" fontAlgn="auto">
              <a:lnSpc>
                <a:spcPct val="120000"/>
              </a:lnSpc>
              <a:buFont typeface="Wingdings" panose="05000000000000000000" charset="0"/>
              <a:buChar char="Ø"/>
              <a:defRPr/>
            </a:pPr>
            <a:r>
              <a:rPr lang="en-US" altLang="zh-CN" dirty="0">
                <a:sym typeface="+mn-ea"/>
              </a:rPr>
              <a:t>程序开始使用的日期</a:t>
            </a:r>
          </a:p>
          <a:p>
            <a:pPr marL="285750" indent="-285750" algn="l" fontAlgn="auto">
              <a:lnSpc>
                <a:spcPct val="120000"/>
              </a:lnSpc>
              <a:buFont typeface="Wingdings" panose="05000000000000000000" charset="0"/>
              <a:buChar char="Ø"/>
              <a:defRPr/>
            </a:pPr>
            <a:r>
              <a:rPr lang="en-US" altLang="zh-CN" dirty="0">
                <a:sym typeface="+mn-ea"/>
              </a:rPr>
              <a:t>已运行次数、故障处理次数</a:t>
            </a:r>
          </a:p>
          <a:p>
            <a:pPr marL="285750" indent="-285750" algn="l" fontAlgn="auto">
              <a:lnSpc>
                <a:spcPct val="120000"/>
              </a:lnSpc>
              <a:buFont typeface="Wingdings" panose="05000000000000000000" charset="0"/>
              <a:buChar char="Ø"/>
              <a:defRPr/>
            </a:pPr>
            <a:r>
              <a:rPr lang="en-US" altLang="zh-CN" dirty="0">
                <a:sym typeface="+mn-ea"/>
              </a:rPr>
              <a:t>程序改变的级别及名称</a:t>
            </a:r>
            <a:endParaRPr lang="en-US" altLang="zh-CN" dirty="0"/>
          </a:p>
        </p:txBody>
      </p:sp>
      <p:pic>
        <p:nvPicPr>
          <p:cNvPr id="453635" name="图片 2"/>
          <p:cNvPicPr>
            <a:picLocks noChangeAspect="1"/>
          </p:cNvPicPr>
          <p:nvPr/>
        </p:nvPicPr>
        <p:blipFill>
          <a:blip r:embed="rId2" cstate="print"/>
          <a:stretch>
            <a:fillRect/>
          </a:stretch>
        </p:blipFill>
        <p:spPr>
          <a:xfrm>
            <a:off x="9469755" y="-1905"/>
            <a:ext cx="2072005" cy="2762885"/>
          </a:xfrm>
          <a:prstGeom prst="rect">
            <a:avLst/>
          </a:prstGeom>
          <a:noFill/>
          <a:ln w="9525">
            <a:noFill/>
          </a:ln>
        </p:spPr>
      </p:pic>
      <p:sp>
        <p:nvSpPr>
          <p:cNvPr id="11" name="MH_SubTitle_3">
            <a:extLst>
              <a:ext uri="{FF2B5EF4-FFF2-40B4-BE49-F238E27FC236}">
                <a16:creationId xmlns:a16="http://schemas.microsoft.com/office/drawing/2014/main" id="{FC1AA3B7-72E5-7802-5DDE-8302FBDAFFEA}"/>
              </a:ext>
            </a:extLst>
          </p:cNvPr>
          <p:cNvSpPr>
            <a:spLocks noChangeArrowheads="1"/>
          </p:cNvSpPr>
          <p:nvPr/>
        </p:nvSpPr>
        <p:spPr bwMode="auto">
          <a:xfrm>
            <a:off x="1478811" y="1970066"/>
            <a:ext cx="4572000" cy="600075"/>
          </a:xfrm>
          <a:prstGeom prst="rect">
            <a:avLst/>
          </a:prstGeom>
          <a:noFill/>
          <a:ln w="9525">
            <a:noFill/>
            <a:miter lim="800000"/>
          </a:ln>
        </p:spPr>
        <p:txBody>
          <a:bodyPr anchor="b"/>
          <a:lstStyle/>
          <a:p>
            <a:pPr eaLnBrk="1" hangingPunct="1"/>
            <a:r>
              <a:rPr lang="zh-CN" altLang="en-US" sz="2000" b="1" dirty="0">
                <a:solidFill>
                  <a:schemeClr val="accent4">
                    <a:lumMod val="60000"/>
                    <a:lumOff val="40000"/>
                  </a:schemeClr>
                </a:solidFill>
                <a:latin typeface="Arial" panose="020B0604020202020204" pitchFamily="34" charset="0"/>
                <a:ea typeface="微软雅黑 Light" panose="020B0502040204020203" pitchFamily="34" charset="-122"/>
                <a:cs typeface="Arial" panose="020B0604020202020204" pitchFamily="34" charset="0"/>
              </a:rPr>
              <a:t>维护文件</a:t>
            </a:r>
          </a:p>
        </p:txBody>
      </p:sp>
      <p:sp>
        <p:nvSpPr>
          <p:cNvPr id="12" name="MH_Other_7">
            <a:extLst>
              <a:ext uri="{FF2B5EF4-FFF2-40B4-BE49-F238E27FC236}">
                <a16:creationId xmlns:a16="http://schemas.microsoft.com/office/drawing/2014/main" id="{7C5BC864-8ABC-DA15-8288-DFD4DADE557B}"/>
              </a:ext>
            </a:extLst>
          </p:cNvPr>
          <p:cNvSpPr/>
          <p:nvPr/>
        </p:nvSpPr>
        <p:spPr>
          <a:xfrm>
            <a:off x="1410549" y="1985941"/>
            <a:ext cx="68262" cy="1320800"/>
          </a:xfrm>
          <a:prstGeom prst="rect">
            <a:avLst/>
          </a:prstGeom>
          <a:solidFill>
            <a:schemeClr val="accent4">
              <a:lumMod val="40000"/>
              <a:lumOff val="60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dirty="0">
              <a:solidFill>
                <a:srgbClr val="FFFFFF"/>
              </a:solidFill>
              <a:latin typeface="Calibri" panose="020F0502020204030204"/>
              <a:ea typeface="微软雅黑 Light" panose="020B0502040204020203" pitchFamily="34" charset="-122"/>
            </a:endParaRPr>
          </a:p>
        </p:txBody>
      </p:sp>
      <p:cxnSp>
        <p:nvCxnSpPr>
          <p:cNvPr id="13" name="MH_Other_8">
            <a:extLst>
              <a:ext uri="{FF2B5EF4-FFF2-40B4-BE49-F238E27FC236}">
                <a16:creationId xmlns:a16="http://schemas.microsoft.com/office/drawing/2014/main" id="{822F9881-83BA-6F4F-BF10-5DED6BA4E44B}"/>
              </a:ext>
            </a:extLst>
          </p:cNvPr>
          <p:cNvCxnSpPr>
            <a:cxnSpLocks noChangeShapeType="1"/>
          </p:cNvCxnSpPr>
          <p:nvPr/>
        </p:nvCxnSpPr>
        <p:spPr bwMode="auto">
          <a:xfrm flipV="1">
            <a:off x="1578824" y="2561196"/>
            <a:ext cx="9933945" cy="8947"/>
          </a:xfrm>
          <a:prstGeom prst="line">
            <a:avLst/>
          </a:prstGeom>
          <a:noFill/>
          <a:ln w="19050" algn="ctr">
            <a:solidFill>
              <a:srgbClr val="BFBFBF"/>
            </a:solidFill>
            <a:prstDash val="sysDash"/>
            <a:miter lim="800000"/>
          </a:ln>
        </p:spPr>
      </p:cxnSp>
      <p:sp>
        <p:nvSpPr>
          <p:cNvPr id="14" name="MH_Other_9">
            <a:extLst>
              <a:ext uri="{FF2B5EF4-FFF2-40B4-BE49-F238E27FC236}">
                <a16:creationId xmlns:a16="http://schemas.microsoft.com/office/drawing/2014/main" id="{A18F14C6-AD3C-84C1-B15F-5D01F2C65240}"/>
              </a:ext>
            </a:extLst>
          </p:cNvPr>
          <p:cNvSpPr txBox="1">
            <a:spLocks noChangeArrowheads="1"/>
          </p:cNvSpPr>
          <p:nvPr/>
        </p:nvSpPr>
        <p:spPr bwMode="auto">
          <a:xfrm>
            <a:off x="671567" y="1985623"/>
            <a:ext cx="738664" cy="1303338"/>
          </a:xfrm>
          <a:prstGeom prst="rect">
            <a:avLst/>
          </a:prstGeom>
          <a:noFill/>
          <a:ln w="9525">
            <a:noFill/>
            <a:miter lim="800000"/>
          </a:ln>
        </p:spPr>
        <p:txBody>
          <a:bodyPr vert="eaVert" lIns="0" tIns="0" rIns="0" bIns="0">
            <a:spAutoFit/>
          </a:bodyPr>
          <a:lstStyle/>
          <a:p>
            <a:pPr algn="ctr" eaLnBrk="1" hangingPunct="1"/>
            <a:r>
              <a:rPr lang="en-US" altLang="zh-CN" sz="4800" b="1" dirty="0">
                <a:solidFill>
                  <a:schemeClr val="accent4">
                    <a:lumMod val="60000"/>
                    <a:lumOff val="40000"/>
                  </a:schemeClr>
                </a:solidFill>
                <a:ea typeface="微软雅黑 Light" panose="020B0502040204020203" pitchFamily="34" charset="-122"/>
              </a:rPr>
              <a:t>02</a:t>
            </a: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3087" name="MH_Text_3"/>
          <p:cNvSpPr>
            <a:spLocks noChangeArrowheads="1"/>
          </p:cNvSpPr>
          <p:nvPr/>
        </p:nvSpPr>
        <p:spPr bwMode="auto">
          <a:xfrm>
            <a:off x="1574378" y="2913041"/>
            <a:ext cx="10207695" cy="1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000" tIns="108000" rIns="108000" bIns="108000">
            <a:spAutoFit/>
          </a:bodyPr>
          <a:lstStyle/>
          <a:p>
            <a:pPr algn="l" fontAlgn="auto">
              <a:lnSpc>
                <a:spcPct val="120000"/>
              </a:lnSpc>
              <a:defRPr/>
            </a:pPr>
            <a:r>
              <a:rPr lang="en-US" altLang="zh-CN" dirty="0"/>
              <a:t>维护工作流程如下：</a:t>
            </a:r>
          </a:p>
          <a:p>
            <a:pPr algn="l" fontAlgn="auto">
              <a:lnSpc>
                <a:spcPct val="120000"/>
              </a:lnSpc>
              <a:defRPr/>
            </a:pPr>
            <a:r>
              <a:rPr lang="en-US" altLang="zh-CN" dirty="0"/>
              <a:t>1. 用户提出维护申请。</a:t>
            </a:r>
          </a:p>
          <a:p>
            <a:pPr algn="l" fontAlgn="auto">
              <a:lnSpc>
                <a:spcPct val="120000"/>
              </a:lnSpc>
              <a:defRPr/>
            </a:pPr>
            <a:r>
              <a:rPr lang="en-US" altLang="zh-CN" dirty="0"/>
              <a:t>2. 维护组织审查申请报告并安排维护工作。</a:t>
            </a:r>
          </a:p>
          <a:p>
            <a:pPr algn="l" fontAlgn="auto">
              <a:lnSpc>
                <a:spcPct val="120000"/>
              </a:lnSpc>
              <a:defRPr/>
            </a:pPr>
            <a:r>
              <a:rPr lang="en-US" altLang="zh-CN" dirty="0"/>
              <a:t>3. 进行维护并做详细的维护记录。</a:t>
            </a:r>
          </a:p>
          <a:p>
            <a:pPr algn="l" fontAlgn="auto">
              <a:lnSpc>
                <a:spcPct val="120000"/>
              </a:lnSpc>
              <a:defRPr/>
            </a:pPr>
            <a:r>
              <a:rPr lang="en-US" altLang="zh-CN" dirty="0"/>
              <a:t>4. 复审。</a:t>
            </a:r>
          </a:p>
        </p:txBody>
      </p:sp>
      <p:pic>
        <p:nvPicPr>
          <p:cNvPr id="2" name="图片 149"/>
          <p:cNvPicPr>
            <a:picLocks noChangeAspect="1"/>
          </p:cNvPicPr>
          <p:nvPr/>
        </p:nvPicPr>
        <p:blipFill>
          <a:blip r:embed="rId2" cstate="print">
            <a:clrChange>
              <a:clrFrom>
                <a:srgbClr val="FFFFFF"/>
              </a:clrFrom>
              <a:clrTo>
                <a:srgbClr val="FFFFFF">
                  <a:alpha val="0"/>
                </a:srgbClr>
              </a:clrTo>
            </a:clrChange>
          </a:blip>
          <a:stretch>
            <a:fillRect/>
          </a:stretch>
        </p:blipFill>
        <p:spPr>
          <a:xfrm>
            <a:off x="7024280" y="2561196"/>
            <a:ext cx="4020320" cy="3816104"/>
          </a:xfrm>
          <a:prstGeom prst="rect">
            <a:avLst/>
          </a:prstGeom>
          <a:noFill/>
          <a:ln w="9525">
            <a:noFill/>
          </a:ln>
        </p:spPr>
      </p:pic>
      <p:sp>
        <p:nvSpPr>
          <p:cNvPr id="9" name="MH_SubTitle_3">
            <a:extLst>
              <a:ext uri="{FF2B5EF4-FFF2-40B4-BE49-F238E27FC236}">
                <a16:creationId xmlns:a16="http://schemas.microsoft.com/office/drawing/2014/main" id="{51F240CE-A76C-399D-E161-3467471BCC9D}"/>
              </a:ext>
            </a:extLst>
          </p:cNvPr>
          <p:cNvSpPr>
            <a:spLocks noChangeArrowheads="1"/>
          </p:cNvSpPr>
          <p:nvPr/>
        </p:nvSpPr>
        <p:spPr bwMode="auto">
          <a:xfrm>
            <a:off x="1478811" y="1970066"/>
            <a:ext cx="4572000" cy="600075"/>
          </a:xfrm>
          <a:prstGeom prst="rect">
            <a:avLst/>
          </a:prstGeom>
          <a:noFill/>
          <a:ln w="9525">
            <a:noFill/>
            <a:miter lim="800000"/>
          </a:ln>
        </p:spPr>
        <p:txBody>
          <a:bodyPr anchor="b"/>
          <a:lstStyle/>
          <a:p>
            <a:pPr eaLnBrk="1" hangingPunct="1"/>
            <a:r>
              <a:rPr lang="zh-CN" altLang="en-US" sz="2000" b="1" dirty="0">
                <a:solidFill>
                  <a:schemeClr val="accent1"/>
                </a:solidFill>
                <a:latin typeface="Arial" panose="020B0604020202020204" pitchFamily="34" charset="0"/>
                <a:ea typeface="微软雅黑 Light" panose="020B0502040204020203" pitchFamily="34" charset="-122"/>
                <a:cs typeface="Arial" panose="020B0604020202020204" pitchFamily="34" charset="0"/>
              </a:rPr>
              <a:t>维护工作流程</a:t>
            </a:r>
          </a:p>
        </p:txBody>
      </p:sp>
      <p:sp>
        <p:nvSpPr>
          <p:cNvPr id="10" name="MH_Other_7">
            <a:extLst>
              <a:ext uri="{FF2B5EF4-FFF2-40B4-BE49-F238E27FC236}">
                <a16:creationId xmlns:a16="http://schemas.microsoft.com/office/drawing/2014/main" id="{76510BCA-E5E1-F1C3-BF78-85947D822A59}"/>
              </a:ext>
            </a:extLst>
          </p:cNvPr>
          <p:cNvSpPr/>
          <p:nvPr/>
        </p:nvSpPr>
        <p:spPr>
          <a:xfrm>
            <a:off x="1410549" y="1985941"/>
            <a:ext cx="68262" cy="1320800"/>
          </a:xfrm>
          <a:prstGeom prst="rect">
            <a:avLst/>
          </a:prstGeom>
          <a:solidFill>
            <a:schemeClr val="accent5">
              <a:lumMod val="40000"/>
              <a:lumOff val="60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dirty="0">
              <a:solidFill>
                <a:srgbClr val="FFFFFF"/>
              </a:solidFill>
              <a:latin typeface="Calibri" panose="020F0502020204030204"/>
              <a:ea typeface="微软雅黑 Light" panose="020B0502040204020203" pitchFamily="34" charset="-122"/>
            </a:endParaRPr>
          </a:p>
        </p:txBody>
      </p:sp>
      <p:cxnSp>
        <p:nvCxnSpPr>
          <p:cNvPr id="11" name="MH_Other_8">
            <a:extLst>
              <a:ext uri="{FF2B5EF4-FFF2-40B4-BE49-F238E27FC236}">
                <a16:creationId xmlns:a16="http://schemas.microsoft.com/office/drawing/2014/main" id="{FBDD6C9A-40C2-BAB8-B370-B2B4E9923EDD}"/>
              </a:ext>
            </a:extLst>
          </p:cNvPr>
          <p:cNvCxnSpPr>
            <a:cxnSpLocks noChangeShapeType="1"/>
          </p:cNvCxnSpPr>
          <p:nvPr/>
        </p:nvCxnSpPr>
        <p:spPr bwMode="auto">
          <a:xfrm flipV="1">
            <a:off x="1578824" y="2561196"/>
            <a:ext cx="9933945" cy="8947"/>
          </a:xfrm>
          <a:prstGeom prst="line">
            <a:avLst/>
          </a:prstGeom>
          <a:noFill/>
          <a:ln w="19050" algn="ctr">
            <a:solidFill>
              <a:srgbClr val="BFBFBF"/>
            </a:solidFill>
            <a:prstDash val="sysDash"/>
            <a:miter lim="800000"/>
          </a:ln>
        </p:spPr>
      </p:cxnSp>
      <p:sp>
        <p:nvSpPr>
          <p:cNvPr id="12" name="MH_Other_9">
            <a:extLst>
              <a:ext uri="{FF2B5EF4-FFF2-40B4-BE49-F238E27FC236}">
                <a16:creationId xmlns:a16="http://schemas.microsoft.com/office/drawing/2014/main" id="{566F35D9-B9AF-BDB6-F425-8937261A89DC}"/>
              </a:ext>
            </a:extLst>
          </p:cNvPr>
          <p:cNvSpPr txBox="1">
            <a:spLocks noChangeArrowheads="1"/>
          </p:cNvSpPr>
          <p:nvPr/>
        </p:nvSpPr>
        <p:spPr bwMode="auto">
          <a:xfrm>
            <a:off x="671567" y="1985623"/>
            <a:ext cx="738664" cy="1303338"/>
          </a:xfrm>
          <a:prstGeom prst="rect">
            <a:avLst/>
          </a:prstGeom>
          <a:noFill/>
          <a:ln w="9525">
            <a:noFill/>
            <a:miter lim="800000"/>
          </a:ln>
        </p:spPr>
        <p:txBody>
          <a:bodyPr vert="eaVert" lIns="0" tIns="0" rIns="0" bIns="0">
            <a:spAutoFit/>
          </a:bodyPr>
          <a:lstStyle/>
          <a:p>
            <a:pPr algn="ctr" eaLnBrk="1" hangingPunct="1"/>
            <a:r>
              <a:rPr lang="en-US" altLang="zh-CN" sz="4800" b="1" dirty="0">
                <a:solidFill>
                  <a:schemeClr val="accent1"/>
                </a:solidFill>
                <a:ea typeface="微软雅黑 Light" panose="020B0502040204020203" pitchFamily="34" charset="-122"/>
              </a:rPr>
              <a:t>03</a:t>
            </a:r>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3087" name="MH_Text_3"/>
          <p:cNvSpPr>
            <a:spLocks noChangeArrowheads="1"/>
          </p:cNvSpPr>
          <p:nvPr/>
        </p:nvSpPr>
        <p:spPr bwMode="auto">
          <a:xfrm>
            <a:off x="1559139" y="2913041"/>
            <a:ext cx="9658350" cy="285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000" tIns="108000" rIns="108000" bIns="108000">
            <a:spAutoFit/>
          </a:bodyPr>
          <a:lstStyle/>
          <a:p>
            <a:pPr indent="457200" algn="l" fontAlgn="auto">
              <a:lnSpc>
                <a:spcPct val="120000"/>
              </a:lnSpc>
              <a:defRPr/>
            </a:pPr>
            <a:r>
              <a:rPr lang="en-US" altLang="zh-CN" dirty="0"/>
              <a:t>当然，有时维护申请的处理过程并不完全符合上述事件流。例如，当出现紧急软件问题时，就出现所谓“救火”维护要求。在这种情况下，就需要立即投入人力进行维护。</a:t>
            </a:r>
          </a:p>
          <a:p>
            <a:pPr indent="457200" algn="l" fontAlgn="auto">
              <a:lnSpc>
                <a:spcPct val="120000"/>
              </a:lnSpc>
              <a:buFont typeface="Wingdings" panose="05000000000000000000" charset="0"/>
              <a:buNone/>
              <a:defRPr/>
            </a:pPr>
            <a:r>
              <a:rPr lang="en-US" altLang="zh-CN" dirty="0"/>
              <a:t>软件维护的复审要明确下列问题：</a:t>
            </a:r>
          </a:p>
          <a:p>
            <a:pPr marL="285750" indent="-285750" algn="l" fontAlgn="auto">
              <a:lnSpc>
                <a:spcPct val="120000"/>
              </a:lnSpc>
              <a:buFont typeface="Wingdings" panose="05000000000000000000" charset="0"/>
              <a:buChar char="Ø"/>
              <a:defRPr/>
            </a:pPr>
            <a:r>
              <a:rPr lang="en-US" altLang="zh-CN" dirty="0"/>
              <a:t>在目前的状况下，设计、编程、测试等方面有什么可改进的。</a:t>
            </a:r>
          </a:p>
          <a:p>
            <a:pPr marL="285750" indent="-285750" algn="l" fontAlgn="auto">
              <a:lnSpc>
                <a:spcPct val="120000"/>
              </a:lnSpc>
              <a:buFont typeface="Wingdings" panose="05000000000000000000" charset="0"/>
              <a:buChar char="Ø"/>
              <a:defRPr/>
            </a:pPr>
            <a:r>
              <a:rPr lang="en-US" altLang="zh-CN" dirty="0"/>
              <a:t>哪些维护资源应该有，实际上却没有。</a:t>
            </a:r>
          </a:p>
          <a:p>
            <a:pPr marL="285750" indent="-285750" algn="l" fontAlgn="auto">
              <a:lnSpc>
                <a:spcPct val="120000"/>
              </a:lnSpc>
              <a:buFont typeface="Wingdings" panose="05000000000000000000" charset="0"/>
              <a:buChar char="Ø"/>
              <a:defRPr/>
            </a:pPr>
            <a:r>
              <a:rPr lang="en-US" altLang="zh-CN" dirty="0"/>
              <a:t>什么是这项维护工作中最主要的障碍。</a:t>
            </a:r>
          </a:p>
          <a:p>
            <a:pPr marL="285750" indent="-285750" algn="l" fontAlgn="auto">
              <a:lnSpc>
                <a:spcPct val="120000"/>
              </a:lnSpc>
              <a:buFont typeface="Wingdings" panose="05000000000000000000" charset="0"/>
              <a:buChar char="Ø"/>
              <a:defRPr/>
            </a:pPr>
            <a:r>
              <a:rPr lang="en-US" altLang="zh-CN" dirty="0"/>
              <a:t>是否需要预防性维护。</a:t>
            </a:r>
          </a:p>
          <a:p>
            <a:pPr indent="457200" algn="l" fontAlgn="auto">
              <a:lnSpc>
                <a:spcPct val="120000"/>
              </a:lnSpc>
              <a:defRPr/>
            </a:pPr>
            <a:r>
              <a:rPr lang="en-US" altLang="zh-CN" dirty="0"/>
              <a:t>维护情况复查对将来的维护工作有重要意义，可为提高软件组织的管理效能提供重要意见。</a:t>
            </a:r>
          </a:p>
        </p:txBody>
      </p:sp>
      <p:sp>
        <p:nvSpPr>
          <p:cNvPr id="5" name="MH_SubTitle_3">
            <a:extLst>
              <a:ext uri="{FF2B5EF4-FFF2-40B4-BE49-F238E27FC236}">
                <a16:creationId xmlns:a16="http://schemas.microsoft.com/office/drawing/2014/main" id="{B2CA8BAB-CFF1-DD3B-A9BF-2C0BB42DF346}"/>
              </a:ext>
            </a:extLst>
          </p:cNvPr>
          <p:cNvSpPr>
            <a:spLocks noChangeArrowheads="1"/>
          </p:cNvSpPr>
          <p:nvPr/>
        </p:nvSpPr>
        <p:spPr bwMode="auto">
          <a:xfrm>
            <a:off x="1478811" y="1970066"/>
            <a:ext cx="4572000" cy="600075"/>
          </a:xfrm>
          <a:prstGeom prst="rect">
            <a:avLst/>
          </a:prstGeom>
          <a:noFill/>
          <a:ln w="9525">
            <a:noFill/>
            <a:miter lim="800000"/>
          </a:ln>
        </p:spPr>
        <p:txBody>
          <a:bodyPr anchor="b"/>
          <a:lstStyle/>
          <a:p>
            <a:pPr eaLnBrk="1" hangingPunct="1"/>
            <a:r>
              <a:rPr lang="zh-CN" altLang="en-US" sz="2000" b="1" dirty="0">
                <a:solidFill>
                  <a:schemeClr val="accent1"/>
                </a:solidFill>
                <a:latin typeface="Arial" panose="020B0604020202020204" pitchFamily="34" charset="0"/>
                <a:ea typeface="微软雅黑 Light" panose="020B0502040204020203" pitchFamily="34" charset="-122"/>
                <a:cs typeface="Arial" panose="020B0604020202020204" pitchFamily="34" charset="0"/>
              </a:rPr>
              <a:t>维护工作流程</a:t>
            </a:r>
          </a:p>
        </p:txBody>
      </p:sp>
      <p:sp>
        <p:nvSpPr>
          <p:cNvPr id="6" name="MH_Other_7">
            <a:extLst>
              <a:ext uri="{FF2B5EF4-FFF2-40B4-BE49-F238E27FC236}">
                <a16:creationId xmlns:a16="http://schemas.microsoft.com/office/drawing/2014/main" id="{BD72EC4F-DA27-C7DD-C63F-ABC790D6FFA5}"/>
              </a:ext>
            </a:extLst>
          </p:cNvPr>
          <p:cNvSpPr/>
          <p:nvPr/>
        </p:nvSpPr>
        <p:spPr>
          <a:xfrm>
            <a:off x="1410549" y="1985941"/>
            <a:ext cx="68262" cy="1320800"/>
          </a:xfrm>
          <a:prstGeom prst="rect">
            <a:avLst/>
          </a:prstGeom>
          <a:solidFill>
            <a:schemeClr val="accent5">
              <a:lumMod val="40000"/>
              <a:lumOff val="60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dirty="0">
              <a:solidFill>
                <a:srgbClr val="FFFFFF"/>
              </a:solidFill>
              <a:latin typeface="Calibri" panose="020F0502020204030204"/>
              <a:ea typeface="微软雅黑 Light" panose="020B0502040204020203" pitchFamily="34" charset="-122"/>
            </a:endParaRPr>
          </a:p>
        </p:txBody>
      </p:sp>
      <p:cxnSp>
        <p:nvCxnSpPr>
          <p:cNvPr id="7" name="MH_Other_8">
            <a:extLst>
              <a:ext uri="{FF2B5EF4-FFF2-40B4-BE49-F238E27FC236}">
                <a16:creationId xmlns:a16="http://schemas.microsoft.com/office/drawing/2014/main" id="{6287939A-4192-E375-8F5E-9C7BF161860A}"/>
              </a:ext>
            </a:extLst>
          </p:cNvPr>
          <p:cNvCxnSpPr>
            <a:cxnSpLocks noChangeShapeType="1"/>
          </p:cNvCxnSpPr>
          <p:nvPr/>
        </p:nvCxnSpPr>
        <p:spPr bwMode="auto">
          <a:xfrm flipV="1">
            <a:off x="1578824" y="2561196"/>
            <a:ext cx="9933945" cy="8947"/>
          </a:xfrm>
          <a:prstGeom prst="line">
            <a:avLst/>
          </a:prstGeom>
          <a:noFill/>
          <a:ln w="19050" algn="ctr">
            <a:solidFill>
              <a:srgbClr val="BFBFBF"/>
            </a:solidFill>
            <a:prstDash val="sysDash"/>
            <a:miter lim="800000"/>
          </a:ln>
        </p:spPr>
      </p:cxnSp>
      <p:sp>
        <p:nvSpPr>
          <p:cNvPr id="8" name="MH_Other_9">
            <a:extLst>
              <a:ext uri="{FF2B5EF4-FFF2-40B4-BE49-F238E27FC236}">
                <a16:creationId xmlns:a16="http://schemas.microsoft.com/office/drawing/2014/main" id="{E3DC8D82-2679-5DA4-1285-CAE8D51F77CC}"/>
              </a:ext>
            </a:extLst>
          </p:cNvPr>
          <p:cNvSpPr txBox="1">
            <a:spLocks noChangeArrowheads="1"/>
          </p:cNvSpPr>
          <p:nvPr/>
        </p:nvSpPr>
        <p:spPr bwMode="auto">
          <a:xfrm>
            <a:off x="671567" y="1985623"/>
            <a:ext cx="738664" cy="1303338"/>
          </a:xfrm>
          <a:prstGeom prst="rect">
            <a:avLst/>
          </a:prstGeom>
          <a:noFill/>
          <a:ln w="9525">
            <a:noFill/>
            <a:miter lim="800000"/>
          </a:ln>
        </p:spPr>
        <p:txBody>
          <a:bodyPr vert="eaVert" lIns="0" tIns="0" rIns="0" bIns="0">
            <a:spAutoFit/>
          </a:bodyPr>
          <a:lstStyle/>
          <a:p>
            <a:pPr algn="ctr" eaLnBrk="1" hangingPunct="1"/>
            <a:r>
              <a:rPr lang="en-US" altLang="zh-CN" sz="4800" b="1" dirty="0">
                <a:solidFill>
                  <a:schemeClr val="accent1"/>
                </a:solidFill>
                <a:ea typeface="微软雅黑 Light" panose="020B0502040204020203" pitchFamily="34" charset="-122"/>
              </a:rPr>
              <a:t>03</a:t>
            </a: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3087" name="MH_Text_3"/>
          <p:cNvSpPr>
            <a:spLocks noChangeArrowheads="1"/>
          </p:cNvSpPr>
          <p:nvPr/>
        </p:nvSpPr>
        <p:spPr bwMode="auto">
          <a:xfrm>
            <a:off x="1478176" y="2689834"/>
            <a:ext cx="9765665" cy="307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l" fontAlgn="auto">
              <a:lnSpc>
                <a:spcPct val="120000"/>
              </a:lnSpc>
              <a:defRPr/>
            </a:pPr>
            <a:r>
              <a:rPr lang="en-US" altLang="zh-CN" dirty="0"/>
              <a:t>在维护过程中，如果缺乏详尽可靠的数据，要评价软件维护工作就很困难。如果有良好的维护记录，就可对维护工作做一些定量的评价，可计算如下一些指标：</a:t>
            </a:r>
          </a:p>
          <a:p>
            <a:pPr indent="457200" algn="l" fontAlgn="auto">
              <a:lnSpc>
                <a:spcPct val="120000"/>
              </a:lnSpc>
              <a:defRPr/>
            </a:pPr>
            <a:r>
              <a:rPr lang="en-US" altLang="zh-CN" dirty="0"/>
              <a:t>1. 每次程序运行的平均出错次数。</a:t>
            </a:r>
          </a:p>
          <a:p>
            <a:pPr indent="457200" algn="l" fontAlgn="auto">
              <a:lnSpc>
                <a:spcPct val="120000"/>
              </a:lnSpc>
              <a:defRPr/>
            </a:pPr>
            <a:r>
              <a:rPr lang="en-US" altLang="zh-CN" dirty="0"/>
              <a:t>2. 用在各类维护上的总的人时数。</a:t>
            </a:r>
          </a:p>
          <a:p>
            <a:pPr indent="457200" algn="l" fontAlgn="auto">
              <a:lnSpc>
                <a:spcPct val="120000"/>
              </a:lnSpc>
              <a:defRPr/>
            </a:pPr>
            <a:r>
              <a:rPr lang="en-US" altLang="zh-CN" dirty="0"/>
              <a:t>3. 平均每个程序、每种语言、每种类型的维护所做的程序变动数。</a:t>
            </a:r>
          </a:p>
          <a:p>
            <a:pPr indent="457200" algn="l" fontAlgn="auto">
              <a:lnSpc>
                <a:spcPct val="120000"/>
              </a:lnSpc>
              <a:defRPr/>
            </a:pPr>
            <a:r>
              <a:rPr lang="en-US" altLang="zh-CN" dirty="0"/>
              <a:t>4. 维护过程中每增加或减少一个源语句所平均花费的人时数。</a:t>
            </a:r>
          </a:p>
          <a:p>
            <a:pPr indent="457200" algn="l" fontAlgn="auto">
              <a:lnSpc>
                <a:spcPct val="120000"/>
              </a:lnSpc>
              <a:defRPr/>
            </a:pPr>
            <a:r>
              <a:rPr lang="en-US" altLang="zh-CN" dirty="0"/>
              <a:t>5. 维护每种语言所平均花费的人时数。</a:t>
            </a:r>
          </a:p>
          <a:p>
            <a:pPr indent="457200" algn="l" fontAlgn="auto">
              <a:lnSpc>
                <a:spcPct val="120000"/>
              </a:lnSpc>
              <a:defRPr/>
            </a:pPr>
            <a:r>
              <a:rPr lang="en-US" altLang="zh-CN" dirty="0"/>
              <a:t>6. 处理一张维护要求表平均所需时间。</a:t>
            </a:r>
          </a:p>
          <a:p>
            <a:pPr indent="457200" algn="l" fontAlgn="auto">
              <a:lnSpc>
                <a:spcPct val="120000"/>
              </a:lnSpc>
              <a:defRPr/>
            </a:pPr>
            <a:r>
              <a:rPr lang="en-US" altLang="zh-CN" dirty="0"/>
              <a:t>7. 各类维护申请的百分比。</a:t>
            </a:r>
          </a:p>
        </p:txBody>
      </p:sp>
      <p:sp>
        <p:nvSpPr>
          <p:cNvPr id="3085" name="MH_SubTitle_3"/>
          <p:cNvSpPr>
            <a:spLocks noChangeArrowheads="1"/>
          </p:cNvSpPr>
          <p:nvPr/>
        </p:nvSpPr>
        <p:spPr bwMode="auto">
          <a:xfrm>
            <a:off x="1478811" y="1970066"/>
            <a:ext cx="4572000" cy="600075"/>
          </a:xfrm>
          <a:prstGeom prst="rect">
            <a:avLst/>
          </a:prstGeom>
          <a:noFill/>
          <a:ln w="9525">
            <a:noFill/>
            <a:miter lim="800000"/>
          </a:ln>
        </p:spPr>
        <p:txBody>
          <a:bodyPr anchor="b"/>
          <a:lstStyle/>
          <a:p>
            <a:pPr eaLnBrk="1" hangingPunct="1"/>
            <a:r>
              <a:rPr lang="zh-CN" altLang="en-US" sz="2000" b="1" dirty="0">
                <a:solidFill>
                  <a:srgbClr val="277F0D"/>
                </a:solidFill>
                <a:latin typeface="Arial" panose="020B0604020202020204" pitchFamily="34" charset="0"/>
                <a:ea typeface="微软雅黑 Light" panose="020B0502040204020203" pitchFamily="34" charset="-122"/>
                <a:cs typeface="Arial" panose="020B0604020202020204" pitchFamily="34" charset="0"/>
              </a:rPr>
              <a:t>对维护的评价</a:t>
            </a:r>
          </a:p>
        </p:txBody>
      </p:sp>
      <p:sp>
        <p:nvSpPr>
          <p:cNvPr id="54" name="MH_Other_7"/>
          <p:cNvSpPr/>
          <p:nvPr/>
        </p:nvSpPr>
        <p:spPr>
          <a:xfrm>
            <a:off x="1410549" y="1985941"/>
            <a:ext cx="68262" cy="1320800"/>
          </a:xfrm>
          <a:prstGeom prst="rect">
            <a:avLst/>
          </a:prstGeom>
          <a:solidFill>
            <a:srgbClr val="67B649">
              <a:alpha val="40000"/>
            </a:srgb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dirty="0">
              <a:solidFill>
                <a:srgbClr val="67B649"/>
              </a:solidFill>
              <a:latin typeface="Calibri" panose="020F0502020204030204"/>
              <a:ea typeface="微软雅黑 Light" panose="020B0502040204020203" pitchFamily="34" charset="-122"/>
            </a:endParaRPr>
          </a:p>
        </p:txBody>
      </p:sp>
      <p:cxnSp>
        <p:nvCxnSpPr>
          <p:cNvPr id="3088" name="MH_Other_8"/>
          <p:cNvCxnSpPr>
            <a:cxnSpLocks noChangeShapeType="1"/>
          </p:cNvCxnSpPr>
          <p:nvPr/>
        </p:nvCxnSpPr>
        <p:spPr bwMode="auto">
          <a:xfrm flipV="1">
            <a:off x="1578824" y="2561196"/>
            <a:ext cx="9933945" cy="8947"/>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671567" y="1985623"/>
            <a:ext cx="738664" cy="1303338"/>
          </a:xfrm>
          <a:prstGeom prst="rect">
            <a:avLst/>
          </a:prstGeom>
          <a:noFill/>
          <a:ln w="9525">
            <a:noFill/>
            <a:miter lim="800000"/>
          </a:ln>
        </p:spPr>
        <p:txBody>
          <a:bodyPr vert="eaVert" lIns="0" tIns="0" rIns="0" bIns="0">
            <a:spAutoFit/>
          </a:bodyPr>
          <a:lstStyle/>
          <a:p>
            <a:pPr algn="ctr" eaLnBrk="1" hangingPunct="1"/>
            <a:r>
              <a:rPr lang="en-US" altLang="zh-CN" sz="4800" b="1" dirty="0">
                <a:solidFill>
                  <a:srgbClr val="277F0D"/>
                </a:solidFill>
                <a:ea typeface="微软雅黑 Light" panose="020B0502040204020203" pitchFamily="34" charset="-122"/>
              </a:rPr>
              <a:t>04</a:t>
            </a:r>
          </a:p>
        </p:txBody>
      </p:sp>
      <p:pic>
        <p:nvPicPr>
          <p:cNvPr id="454658" name="图片 1"/>
          <p:cNvPicPr>
            <a:picLocks noChangeAspect="1"/>
          </p:cNvPicPr>
          <p:nvPr/>
        </p:nvPicPr>
        <p:blipFill>
          <a:blip r:embed="rId2" cstate="print">
            <a:clrChange>
              <a:clrFrom>
                <a:srgbClr val="FFFFFF"/>
              </a:clrFrom>
              <a:clrTo>
                <a:srgbClr val="FFFFFF">
                  <a:alpha val="0"/>
                </a:srgbClr>
              </a:clrTo>
            </a:clrChange>
          </a:blip>
          <a:stretch>
            <a:fillRect/>
          </a:stretch>
        </p:blipFill>
        <p:spPr>
          <a:xfrm>
            <a:off x="8858013" y="3800124"/>
            <a:ext cx="2422525" cy="2422525"/>
          </a:xfrm>
          <a:prstGeom prst="rect">
            <a:avLst/>
          </a:prstGeom>
          <a:noFill/>
          <a:ln w="9525">
            <a:noFill/>
          </a:ln>
        </p:spPr>
      </p:pic>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sp>
        <p:nvSpPr>
          <p:cNvPr id="3087" name="MH_Text_3"/>
          <p:cNvSpPr>
            <a:spLocks noChangeArrowheads="1"/>
          </p:cNvSpPr>
          <p:nvPr/>
        </p:nvSpPr>
        <p:spPr bwMode="auto">
          <a:xfrm>
            <a:off x="1578824" y="2880000"/>
            <a:ext cx="8082280" cy="1984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000" tIns="108000" rIns="108000" bIns="108000">
            <a:spAutoFit/>
          </a:bodyPr>
          <a:lstStyle/>
          <a:p>
            <a:pPr indent="457200" algn="l" fontAlgn="auto">
              <a:lnSpc>
                <a:spcPct val="130000"/>
              </a:lnSpc>
              <a:defRPr/>
            </a:pPr>
            <a:r>
              <a:rPr lang="en-US" altLang="zh-CN" dirty="0"/>
              <a:t>维护是为了延长软件的寿命，让软件创造更多的价值。但是维护会产生潜在的错误或其他不希望出现的情况，称为维护的副作用。维护的副作用有</a:t>
            </a:r>
            <a:r>
              <a:rPr lang="zh-CN" altLang="en-US" dirty="0"/>
              <a:t>：</a:t>
            </a:r>
            <a:endParaRPr lang="en-US" altLang="zh-CN" dirty="0"/>
          </a:p>
          <a:p>
            <a:pPr indent="457200" algn="l" fontAlgn="auto">
              <a:lnSpc>
                <a:spcPct val="130000"/>
              </a:lnSpc>
              <a:defRPr/>
            </a:pPr>
            <a:r>
              <a:rPr lang="en-US" altLang="zh-CN" dirty="0"/>
              <a:t>1. 编码副作用</a:t>
            </a:r>
          </a:p>
          <a:p>
            <a:pPr indent="457200" algn="l" fontAlgn="auto">
              <a:lnSpc>
                <a:spcPct val="130000"/>
              </a:lnSpc>
              <a:defRPr/>
            </a:pPr>
            <a:r>
              <a:rPr lang="en-US" altLang="zh-CN" dirty="0"/>
              <a:t>2. 数据副作用</a:t>
            </a:r>
          </a:p>
          <a:p>
            <a:pPr indent="457200" algn="l" fontAlgn="auto">
              <a:lnSpc>
                <a:spcPct val="130000"/>
              </a:lnSpc>
              <a:defRPr/>
            </a:pPr>
            <a:r>
              <a:rPr lang="en-US" altLang="zh-CN" dirty="0"/>
              <a:t>3. 文档副作用</a:t>
            </a:r>
          </a:p>
        </p:txBody>
      </p:sp>
      <p:sp>
        <p:nvSpPr>
          <p:cNvPr id="4" name="MH_SubTitle_3">
            <a:extLst>
              <a:ext uri="{FF2B5EF4-FFF2-40B4-BE49-F238E27FC236}">
                <a16:creationId xmlns:a16="http://schemas.microsoft.com/office/drawing/2014/main" id="{8E681FF6-DEE8-8B1C-234A-0A4467D45521}"/>
              </a:ext>
            </a:extLst>
          </p:cNvPr>
          <p:cNvSpPr>
            <a:spLocks noChangeArrowheads="1"/>
          </p:cNvSpPr>
          <p:nvPr/>
        </p:nvSpPr>
        <p:spPr bwMode="auto">
          <a:xfrm>
            <a:off x="1478811" y="1970066"/>
            <a:ext cx="4572000" cy="600075"/>
          </a:xfrm>
          <a:prstGeom prst="rect">
            <a:avLst/>
          </a:prstGeom>
          <a:noFill/>
          <a:ln w="9525">
            <a:noFill/>
            <a:miter lim="800000"/>
          </a:ln>
        </p:spPr>
        <p:txBody>
          <a:bodyPr anchor="b"/>
          <a:lstStyle/>
          <a:p>
            <a:pPr eaLnBrk="1" hangingPunct="1"/>
            <a:r>
              <a:rPr lang="zh-CN" altLang="en-US" sz="2000" b="1" dirty="0">
                <a:solidFill>
                  <a:srgbClr val="B71F1E"/>
                </a:solidFill>
                <a:latin typeface="Arial" panose="020B0604020202020204" pitchFamily="34" charset="0"/>
                <a:ea typeface="微软雅黑 Light" panose="020B0502040204020203" pitchFamily="34" charset="-122"/>
                <a:cs typeface="Arial" panose="020B0604020202020204" pitchFamily="34" charset="0"/>
              </a:rPr>
              <a:t>维护副作用</a:t>
            </a:r>
          </a:p>
        </p:txBody>
      </p:sp>
      <p:sp>
        <p:nvSpPr>
          <p:cNvPr id="5" name="MH_Other_7">
            <a:extLst>
              <a:ext uri="{FF2B5EF4-FFF2-40B4-BE49-F238E27FC236}">
                <a16:creationId xmlns:a16="http://schemas.microsoft.com/office/drawing/2014/main" id="{E8771782-3145-E400-6C08-D0C0ACF97A5C}"/>
              </a:ext>
            </a:extLst>
          </p:cNvPr>
          <p:cNvSpPr/>
          <p:nvPr/>
        </p:nvSpPr>
        <p:spPr>
          <a:xfrm>
            <a:off x="1410549" y="1985941"/>
            <a:ext cx="68262" cy="1320800"/>
          </a:xfrm>
          <a:prstGeom prst="rect">
            <a:avLst/>
          </a:prstGeom>
          <a:solidFill>
            <a:srgbClr val="B71F1E"/>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dirty="0">
              <a:solidFill>
                <a:srgbClr val="FFFFFF"/>
              </a:solidFill>
              <a:latin typeface="Calibri" panose="020F0502020204030204"/>
              <a:ea typeface="微软雅黑 Light" panose="020B0502040204020203" pitchFamily="34" charset="-122"/>
            </a:endParaRPr>
          </a:p>
        </p:txBody>
      </p:sp>
      <p:cxnSp>
        <p:nvCxnSpPr>
          <p:cNvPr id="6" name="MH_Other_8">
            <a:extLst>
              <a:ext uri="{FF2B5EF4-FFF2-40B4-BE49-F238E27FC236}">
                <a16:creationId xmlns:a16="http://schemas.microsoft.com/office/drawing/2014/main" id="{1F675294-A0BC-6FF2-7D2A-9B86877AF4C0}"/>
              </a:ext>
            </a:extLst>
          </p:cNvPr>
          <p:cNvCxnSpPr>
            <a:cxnSpLocks noChangeShapeType="1"/>
          </p:cNvCxnSpPr>
          <p:nvPr/>
        </p:nvCxnSpPr>
        <p:spPr bwMode="auto">
          <a:xfrm flipV="1">
            <a:off x="1578824" y="2561196"/>
            <a:ext cx="9933945" cy="8947"/>
          </a:xfrm>
          <a:prstGeom prst="line">
            <a:avLst/>
          </a:prstGeom>
          <a:noFill/>
          <a:ln w="19050" algn="ctr">
            <a:solidFill>
              <a:srgbClr val="BFBFBF"/>
            </a:solidFill>
            <a:prstDash val="sysDash"/>
            <a:miter lim="800000"/>
          </a:ln>
        </p:spPr>
      </p:cxnSp>
      <p:sp>
        <p:nvSpPr>
          <p:cNvPr id="7" name="MH_Other_9">
            <a:extLst>
              <a:ext uri="{FF2B5EF4-FFF2-40B4-BE49-F238E27FC236}">
                <a16:creationId xmlns:a16="http://schemas.microsoft.com/office/drawing/2014/main" id="{F2692FEE-9659-CBD0-D690-A0787AE24B3D}"/>
              </a:ext>
            </a:extLst>
          </p:cNvPr>
          <p:cNvSpPr txBox="1">
            <a:spLocks noChangeArrowheads="1"/>
          </p:cNvSpPr>
          <p:nvPr/>
        </p:nvSpPr>
        <p:spPr bwMode="auto">
          <a:xfrm>
            <a:off x="671567" y="1985623"/>
            <a:ext cx="738664" cy="1303338"/>
          </a:xfrm>
          <a:prstGeom prst="rect">
            <a:avLst/>
          </a:prstGeom>
          <a:noFill/>
          <a:ln w="9525">
            <a:noFill/>
            <a:miter lim="800000"/>
          </a:ln>
        </p:spPr>
        <p:txBody>
          <a:bodyPr vert="eaVert" lIns="0" tIns="0" rIns="0" bIns="0">
            <a:spAutoFit/>
          </a:bodyPr>
          <a:lstStyle/>
          <a:p>
            <a:pPr algn="ctr" eaLnBrk="1" hangingPunct="1"/>
            <a:r>
              <a:rPr lang="en-US" altLang="zh-CN" sz="4800" b="1" dirty="0">
                <a:solidFill>
                  <a:srgbClr val="B71F1E"/>
                </a:solidFill>
                <a:ea typeface="微软雅黑 Light" panose="020B0502040204020203" pitchFamily="34" charset="-122"/>
              </a:rPr>
              <a:t>05</a:t>
            </a:r>
          </a:p>
        </p:txBody>
      </p:sp>
      <p:pic>
        <p:nvPicPr>
          <p:cNvPr id="460802" name="图片 1" descr="Comp_8011070746.jpg"/>
          <p:cNvPicPr>
            <a:picLocks noGrp="1" noChangeAspect="1"/>
          </p:cNvPicPr>
          <p:nvPr/>
        </p:nvPicPr>
        <p:blipFill>
          <a:blip r:embed="rId2" cstate="print"/>
          <a:stretch>
            <a:fillRect/>
          </a:stretch>
        </p:blipFill>
        <p:spPr>
          <a:xfrm>
            <a:off x="8611738" y="0"/>
            <a:ext cx="2731930" cy="2538484"/>
          </a:xfrm>
          <a:prstGeom prst="rect">
            <a:avLst/>
          </a:prstGeom>
          <a:noFill/>
          <a:ln w="9525">
            <a:noFill/>
          </a:ln>
        </p:spPr>
      </p:pic>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5.1.3 </a:t>
            </a:r>
            <a:r>
              <a:rPr lang="zh-CN" altLang="en-US" sz="2400" dirty="0">
                <a:solidFill>
                  <a:schemeClr val="tx1"/>
                </a:solidFill>
              </a:rPr>
              <a:t>软件维护过程</a:t>
            </a:r>
            <a:endParaRPr lang="en-US" altLang="zh-CN" sz="2400" dirty="0">
              <a:solidFill>
                <a:schemeClr val="tx1"/>
              </a:solidFill>
            </a:endParaRPr>
          </a:p>
        </p:txBody>
      </p:sp>
      <p:grpSp>
        <p:nvGrpSpPr>
          <p:cNvPr id="23" name="组合 22"/>
          <p:cNvGrpSpPr/>
          <p:nvPr/>
        </p:nvGrpSpPr>
        <p:grpSpPr>
          <a:xfrm>
            <a:off x="4417060" y="2137410"/>
            <a:ext cx="2858135" cy="2667000"/>
            <a:chOff x="3529044" y="1886732"/>
            <a:chExt cx="4781534" cy="4078163"/>
          </a:xfrm>
        </p:grpSpPr>
        <p:sp>
          <p:nvSpPr>
            <p:cNvPr id="24"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28" name="组合 12"/>
            <p:cNvGrpSpPr/>
            <p:nvPr/>
          </p:nvGrpSpPr>
          <p:grpSpPr>
            <a:xfrm>
              <a:off x="3568838" y="2222360"/>
              <a:ext cx="4560555" cy="3742535"/>
              <a:chOff x="3568838" y="2222360"/>
              <a:chExt cx="4560555" cy="3742535"/>
            </a:xfrm>
          </p:grpSpPr>
          <p:sp>
            <p:nvSpPr>
              <p:cNvPr id="30" name="MH_SubTitle_2"/>
              <p:cNvSpPr/>
              <p:nvPr>
                <p:custDataLst>
                  <p:tags r:id="rId11"/>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数据副作用</a:t>
                </a:r>
              </a:p>
            </p:txBody>
          </p:sp>
          <p:sp>
            <p:nvSpPr>
              <p:cNvPr id="31" name="MH_Other_2"/>
              <p:cNvSpPr/>
              <p:nvPr>
                <p:custDataLst>
                  <p:tags r:id="rId12"/>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文档副作用</a:t>
                </a:r>
              </a:p>
            </p:txBody>
          </p:sp>
          <p:sp>
            <p:nvSpPr>
              <p:cNvPr id="32" name="MH_Other_3"/>
              <p:cNvSpPr/>
              <p:nvPr>
                <p:custDataLst>
                  <p:tags r:id="rId13"/>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编码副作用</a:t>
                </a:r>
              </a:p>
            </p:txBody>
          </p:sp>
        </p:grpSp>
        <p:sp>
          <p:nvSpPr>
            <p:cNvPr id="33"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80000" lnSpcReduction="10000"/>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软件维护副作用</a:t>
              </a:r>
            </a:p>
          </p:txBody>
        </p:sp>
      </p:grpSp>
      <p:sp>
        <p:nvSpPr>
          <p:cNvPr id="34" name="MH_Other_2"/>
          <p:cNvSpPr/>
          <p:nvPr>
            <p:custDataLst>
              <p:tags r:id="rId1"/>
            </p:custDataLst>
          </p:nvPr>
        </p:nvSpPr>
        <p:spPr>
          <a:xfrm rot="16200000" flipH="1" flipV="1">
            <a:off x="6946075" y="1785795"/>
            <a:ext cx="466725" cy="708025"/>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5" name="MH_SubTitle_4"/>
          <p:cNvSpPr txBox="1"/>
          <p:nvPr>
            <p:custDataLst>
              <p:tags r:id="rId2"/>
            </p:custDataLst>
          </p:nvPr>
        </p:nvSpPr>
        <p:spPr bwMode="auto">
          <a:xfrm>
            <a:off x="7526020" y="1989420"/>
            <a:ext cx="3633392" cy="206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indent="457200" fontAlgn="auto">
              <a:lnSpc>
                <a:spcPct val="120000"/>
              </a:lnSpc>
              <a:defRPr/>
            </a:pPr>
            <a:r>
              <a:rPr lang="zh-CN" altLang="en-US" dirty="0">
                <a:latin typeface="+mn-ea"/>
                <a:ea typeface="+mn-ea"/>
                <a:sym typeface="+mn-ea"/>
              </a:rPr>
              <a:t>修改数据结构可能造成软件设计与</a:t>
            </a:r>
            <a:r>
              <a:rPr lang="zh-CN" altLang="en-US" dirty="0">
                <a:solidFill>
                  <a:srgbClr val="E67819"/>
                </a:solidFill>
                <a:latin typeface="+mn-ea"/>
                <a:ea typeface="+mn-ea"/>
                <a:sym typeface="+mn-ea"/>
              </a:rPr>
              <a:t>数据结构不匹配</a:t>
            </a:r>
            <a:r>
              <a:rPr lang="zh-CN" altLang="en-US" dirty="0">
                <a:latin typeface="+mn-ea"/>
                <a:ea typeface="+mn-ea"/>
                <a:sym typeface="+mn-ea"/>
              </a:rPr>
              <a:t>，从而导致软件错误。例如，修改局部量、全局量、记录或文件的格式、初始化控制或指针、输入输出或子程序的参数等。</a:t>
            </a:r>
          </a:p>
        </p:txBody>
      </p:sp>
      <p:sp>
        <p:nvSpPr>
          <p:cNvPr id="36" name="MH_Other_2"/>
          <p:cNvSpPr/>
          <p:nvPr>
            <p:custDataLst>
              <p:tags r:id="rId3"/>
            </p:custDataLst>
          </p:nvPr>
        </p:nvSpPr>
        <p:spPr>
          <a:xfrm rot="16200000">
            <a:off x="4502273" y="2128974"/>
            <a:ext cx="393700" cy="69469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7" name="MH_SubTitle_4"/>
          <p:cNvSpPr txBox="1"/>
          <p:nvPr>
            <p:custDataLst>
              <p:tags r:id="rId4"/>
            </p:custDataLst>
          </p:nvPr>
        </p:nvSpPr>
        <p:spPr bwMode="auto">
          <a:xfrm>
            <a:off x="532824" y="2841068"/>
            <a:ext cx="3852000" cy="106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indent="457200" algn="l">
              <a:lnSpc>
                <a:spcPct val="120000"/>
              </a:lnSpc>
              <a:defRPr/>
            </a:pPr>
            <a:r>
              <a:rPr lang="zh-CN" altLang="en-US" dirty="0">
                <a:latin typeface="+mn-ea"/>
                <a:ea typeface="+mn-ea"/>
              </a:rPr>
              <a:t>修改源程序时可能引入</a:t>
            </a:r>
            <a:r>
              <a:rPr lang="zh-CN" altLang="en-US" dirty="0">
                <a:solidFill>
                  <a:srgbClr val="E67819"/>
                </a:solidFill>
                <a:latin typeface="+mn-ea"/>
                <a:ea typeface="+mn-ea"/>
              </a:rPr>
              <a:t>错误</a:t>
            </a:r>
            <a:r>
              <a:rPr lang="zh-CN" altLang="en-US" dirty="0">
                <a:latin typeface="+mn-ea"/>
                <a:ea typeface="+mn-ea"/>
              </a:rPr>
              <a:t>。例如，修改程序的标识符、运算符、边界条件、程序的时序关系等。</a:t>
            </a:r>
          </a:p>
        </p:txBody>
      </p:sp>
      <p:sp>
        <p:nvSpPr>
          <p:cNvPr id="38" name="MH_Other_2"/>
          <p:cNvSpPr/>
          <p:nvPr>
            <p:custDataLst>
              <p:tags r:id="rId5"/>
            </p:custDataLst>
          </p:nvPr>
        </p:nvSpPr>
        <p:spPr>
          <a:xfrm rot="16200000">
            <a:off x="4454525" y="4053840"/>
            <a:ext cx="214630" cy="135763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9" name="MH_SubTitle_4"/>
          <p:cNvSpPr txBox="1"/>
          <p:nvPr>
            <p:custDataLst>
              <p:tags r:id="rId6"/>
            </p:custDataLst>
          </p:nvPr>
        </p:nvSpPr>
        <p:spPr bwMode="auto">
          <a:xfrm>
            <a:off x="2720569" y="5142916"/>
            <a:ext cx="8438843" cy="113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indent="457200" algn="l">
              <a:lnSpc>
                <a:spcPct val="130000"/>
              </a:lnSpc>
              <a:defRPr/>
            </a:pPr>
            <a:r>
              <a:rPr lang="zh-CN" altLang="en-US" dirty="0">
                <a:latin typeface="+mn-ea"/>
                <a:ea typeface="+mn-ea"/>
                <a:sym typeface="+mn-ea"/>
              </a:rPr>
              <a:t>修改数据流、软件结构、模块逻辑或其他特性时，必须对相关的文档进行相应的修改，否则可能会导致</a:t>
            </a:r>
            <a:r>
              <a:rPr lang="zh-CN" altLang="en-US" dirty="0">
                <a:solidFill>
                  <a:srgbClr val="E67819"/>
                </a:solidFill>
                <a:latin typeface="+mn-ea"/>
                <a:ea typeface="+mn-ea"/>
                <a:sym typeface="+mn-ea"/>
              </a:rPr>
              <a:t>文档与程序功能不匹配</a:t>
            </a:r>
            <a:r>
              <a:rPr lang="zh-CN" altLang="en-US" dirty="0">
                <a:latin typeface="+mn-ea"/>
                <a:ea typeface="+mn-ea"/>
                <a:sym typeface="+mn-ea"/>
              </a:rPr>
              <a:t>、文档不能反映软件当前的状态。因此，交付之前对软件配置进行评审。</a:t>
            </a:r>
          </a:p>
        </p:txBody>
      </p:sp>
      <p:sp>
        <p:nvSpPr>
          <p:cNvPr id="7" name="文本框 6">
            <a:extLst>
              <a:ext uri="{FF2B5EF4-FFF2-40B4-BE49-F238E27FC236}">
                <a16:creationId xmlns:a16="http://schemas.microsoft.com/office/drawing/2014/main" id="{DEEC981A-159D-8079-7CCE-DFFC6EBF666A}"/>
              </a:ext>
            </a:extLst>
          </p:cNvPr>
          <p:cNvSpPr txBox="1"/>
          <p:nvPr/>
        </p:nvSpPr>
        <p:spPr>
          <a:xfrm>
            <a:off x="7526020" y="1681389"/>
            <a:ext cx="1338828" cy="396391"/>
          </a:xfrm>
          <a:prstGeom prst="rect">
            <a:avLst/>
          </a:prstGeom>
          <a:noFill/>
        </p:spPr>
        <p:txBody>
          <a:bodyPr wrap="none" rtlCol="0">
            <a:spAutoFit/>
          </a:bodyPr>
          <a:lstStyle/>
          <a:p>
            <a:pPr>
              <a:lnSpc>
                <a:spcPct val="120000"/>
              </a:lnSpc>
            </a:pPr>
            <a:r>
              <a:rPr lang="zh-CN" altLang="en-US" b="1" dirty="0">
                <a:solidFill>
                  <a:srgbClr val="00B0F0"/>
                </a:solidFill>
                <a:latin typeface="微软雅黑" panose="020B0503020204020204" charset="-122"/>
                <a:ea typeface="微软雅黑" panose="020B0503020204020204" charset="-122"/>
              </a:rPr>
              <a:t>数据副作用</a:t>
            </a:r>
            <a:endParaRPr lang="en-US" altLang="zh-CN" dirty="0">
              <a:ea typeface="微软雅黑 Light" panose="020B0502040204020203" pitchFamily="34" charset="-122"/>
            </a:endParaRPr>
          </a:p>
        </p:txBody>
      </p:sp>
      <p:sp>
        <p:nvSpPr>
          <p:cNvPr id="13" name="文本框 12">
            <a:extLst>
              <a:ext uri="{FF2B5EF4-FFF2-40B4-BE49-F238E27FC236}">
                <a16:creationId xmlns:a16="http://schemas.microsoft.com/office/drawing/2014/main" id="{5752F7E2-0CDC-EADE-4396-29E1B45F10CB}"/>
              </a:ext>
            </a:extLst>
          </p:cNvPr>
          <p:cNvSpPr txBox="1"/>
          <p:nvPr/>
        </p:nvSpPr>
        <p:spPr>
          <a:xfrm>
            <a:off x="3045996" y="2456743"/>
            <a:ext cx="1338828" cy="396583"/>
          </a:xfrm>
          <a:prstGeom prst="rect">
            <a:avLst/>
          </a:prstGeom>
          <a:noFill/>
        </p:spPr>
        <p:txBody>
          <a:bodyPr wrap="none" rtlCol="0">
            <a:spAutoFit/>
          </a:bodyPr>
          <a:lstStyle/>
          <a:p>
            <a:pPr>
              <a:lnSpc>
                <a:spcPct val="120000"/>
              </a:lnSpc>
            </a:pPr>
            <a:r>
              <a:rPr lang="zh-CN" altLang="en-US" b="1" dirty="0">
                <a:solidFill>
                  <a:srgbClr val="00B0F0"/>
                </a:solidFill>
                <a:latin typeface="微软雅黑" panose="020B0503020204020204" charset="-122"/>
                <a:ea typeface="微软雅黑" panose="020B0503020204020204" charset="-122"/>
              </a:rPr>
              <a:t>编码副作用</a:t>
            </a:r>
          </a:p>
        </p:txBody>
      </p:sp>
      <p:sp>
        <p:nvSpPr>
          <p:cNvPr id="14" name="文本框 13">
            <a:extLst>
              <a:ext uri="{FF2B5EF4-FFF2-40B4-BE49-F238E27FC236}">
                <a16:creationId xmlns:a16="http://schemas.microsoft.com/office/drawing/2014/main" id="{CC762EDD-1A89-7E6E-DC53-340D0FD6CF38}"/>
              </a:ext>
            </a:extLst>
          </p:cNvPr>
          <p:cNvSpPr txBox="1"/>
          <p:nvPr/>
        </p:nvSpPr>
        <p:spPr>
          <a:xfrm>
            <a:off x="2720569" y="4822626"/>
            <a:ext cx="1338828" cy="396391"/>
          </a:xfrm>
          <a:prstGeom prst="rect">
            <a:avLst/>
          </a:prstGeom>
          <a:noFill/>
        </p:spPr>
        <p:txBody>
          <a:bodyPr wrap="none" rtlCol="0">
            <a:spAutoFit/>
          </a:bodyPr>
          <a:lstStyle/>
          <a:p>
            <a:pPr>
              <a:lnSpc>
                <a:spcPct val="120000"/>
              </a:lnSpc>
            </a:pPr>
            <a:r>
              <a:rPr lang="zh-CN" altLang="en-US" b="1" dirty="0">
                <a:solidFill>
                  <a:srgbClr val="00B0F0"/>
                </a:solidFill>
                <a:latin typeface="微软雅黑" panose="020B0503020204020204" charset="-122"/>
                <a:ea typeface="微软雅黑" panose="020B0503020204020204" charset="-122"/>
              </a:rPr>
              <a:t>文档副作用</a:t>
            </a:r>
            <a:endParaRPr lang="zh-CN" altLang="en-US" dirty="0">
              <a:solidFill>
                <a:schemeClr val="bg1"/>
              </a:solidFill>
            </a:endParaRPr>
          </a:p>
        </p:txBody>
      </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1" y="360000"/>
            <a:ext cx="5257200" cy="535531"/>
          </a:xfrm>
        </p:spPr>
        <p:txBody>
          <a:bodyPr/>
          <a:lstStyle/>
          <a:p>
            <a:r>
              <a:rPr lang="en-US" dirty="0">
                <a:sym typeface="+mn-ea"/>
              </a:rPr>
              <a:t>5.1 </a:t>
            </a:r>
            <a:r>
              <a:rPr lang="zh-CN" altLang="en-US" dirty="0">
                <a:sym typeface="+mn-ea"/>
              </a:rPr>
              <a:t>软件维护</a:t>
            </a:r>
            <a:endParaRPr lang="zh-CN" altLang="en-US"/>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10" name="矩形 9"/>
          <p:cNvSpPr/>
          <p:nvPr/>
        </p:nvSpPr>
        <p:spPr>
          <a:xfrm>
            <a:off x="0" y="2443480"/>
            <a:ext cx="12192000" cy="3074035"/>
          </a:xfrm>
          <a:prstGeom prst="rect">
            <a:avLst/>
          </a:prstGeom>
          <a:solidFill>
            <a:srgbClr val="008080"/>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p>
        </p:txBody>
      </p:sp>
      <p:sp>
        <p:nvSpPr>
          <p:cNvPr id="7" name="矩形 6"/>
          <p:cNvSpPr/>
          <p:nvPr/>
        </p:nvSpPr>
        <p:spPr>
          <a:xfrm>
            <a:off x="754380" y="2949575"/>
            <a:ext cx="6479540" cy="1737360"/>
          </a:xfrm>
          <a:prstGeom prst="rect">
            <a:avLst/>
          </a:prstGeom>
        </p:spPr>
        <p:txBody>
          <a:bodyPr wrap="square">
            <a:spAutoFit/>
          </a:bodyPr>
          <a:lstStyle/>
          <a:p>
            <a:pPr indent="457200">
              <a:lnSpc>
                <a:spcPct val="150000"/>
              </a:lnSpc>
              <a:defRPr/>
            </a:pPr>
            <a:r>
              <a:rPr lang="en-US" altLang="zh-CN" dirty="0">
                <a:solidFill>
                  <a:schemeClr val="bg1"/>
                </a:solidFill>
              </a:rPr>
              <a:t>软件可维护性是指软件功能被理解、改正、适应和增强的难易程度，是维护人员对软件进行维护的难易程度。可维护性是指导软件工程各阶段的一条基本原则，提高可维护性是软件工程追求的目标之一</a:t>
            </a:r>
          </a:p>
        </p:txBody>
      </p:sp>
      <p:pic>
        <p:nvPicPr>
          <p:cNvPr id="8" name="图片 7" descr="A000220150821A64PPIC.png"/>
          <p:cNvPicPr>
            <a:picLocks noChangeAspect="1"/>
          </p:cNvPicPr>
          <p:nvPr/>
        </p:nvPicPr>
        <p:blipFill>
          <a:blip r:embed="rId2" cstate="print"/>
          <a:stretch>
            <a:fillRect/>
          </a:stretch>
        </p:blipFill>
        <p:spPr>
          <a:xfrm>
            <a:off x="7586345" y="1800225"/>
            <a:ext cx="4364990" cy="3041650"/>
          </a:xfrm>
          <a:prstGeom prst="rect">
            <a:avLst/>
          </a:prstGeom>
        </p:spPr>
      </p:pic>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normAutofit/>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5" name="Oval 15"/>
          <p:cNvSpPr>
            <a:spLocks noChangeArrowheads="1"/>
          </p:cNvSpPr>
          <p:nvPr>
            <p:custDataLst>
              <p:tags r:id="rId1"/>
            </p:custDataLst>
          </p:nvPr>
        </p:nvSpPr>
        <p:spPr bwMode="auto">
          <a:xfrm>
            <a:off x="3834979" y="2609414"/>
            <a:ext cx="3149506" cy="3182620"/>
          </a:xfrm>
          <a:prstGeom prst="ellipse">
            <a:avLst/>
          </a:prstGeom>
          <a:noFill/>
          <a:ln w="19050">
            <a:solidFill>
              <a:srgbClr val="4F5A71">
                <a:alpha val="50000"/>
              </a:srgbClr>
            </a:solidFill>
            <a:round/>
          </a:ln>
          <a:effectLst/>
          <a:extLst>
            <a:ext uri="{909E8E84-426E-40DD-AFC4-6F175D3DCCD1}">
              <a14:hiddenFill xmlns:a14="http://schemas.microsoft.com/office/drawing/2010/main">
                <a:solidFill>
                  <a:srgbClr val="4F5A71"/>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2"/>
            </p:custDataLst>
          </p:nvPr>
        </p:nvSpPr>
        <p:spPr bwMode="gray">
          <a:xfrm>
            <a:off x="3662473" y="4207709"/>
            <a:ext cx="3479298" cy="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3"/>
            </p:custDataLst>
          </p:nvPr>
        </p:nvSpPr>
        <p:spPr bwMode="gray">
          <a:xfrm>
            <a:off x="5402122" y="2374464"/>
            <a:ext cx="0" cy="3663950"/>
          </a:xfrm>
          <a:prstGeom prst="line">
            <a:avLst/>
          </a:prstGeom>
          <a:noFill/>
          <a:ln w="28575">
            <a:solidFill>
              <a:srgbClr val="4F5A71">
                <a:alpha val="50000"/>
              </a:srgb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4"/>
            </p:custDataLst>
          </p:nvPr>
        </p:nvSpPr>
        <p:spPr bwMode="gray">
          <a:xfrm>
            <a:off x="4007485" y="2789754"/>
            <a:ext cx="2786102" cy="2811145"/>
          </a:xfrm>
          <a:prstGeom prst="ellipse">
            <a:avLst/>
          </a:prstGeom>
          <a:noFill/>
          <a:ln w="9525">
            <a:solidFill>
              <a:srgbClr val="4F5A71">
                <a:alpha val="50000"/>
              </a:srgbClr>
            </a:solidFill>
            <a:round/>
          </a:ln>
          <a:effectLst/>
          <a:extLst>
            <a:ext uri="{909E8E84-426E-40DD-AFC4-6F175D3DCCD1}">
              <a14:hiddenFill xmlns:a14="http://schemas.microsoft.com/office/drawing/2010/main">
                <a:solidFill>
                  <a:srgbClr val="4F5A71">
                    <a:alpha val="64999"/>
                  </a:srgbClr>
                </a:solidFill>
              </a14:hiddenFill>
            </a:ext>
            <a:ext uri="{AF507438-7753-43E0-B8FC-AC1667EBCBE1}">
              <a14:hiddenEffect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5"/>
            </p:custDataLst>
          </p:nvPr>
        </p:nvSpPr>
        <p:spPr bwMode="gray">
          <a:xfrm>
            <a:off x="4325861" y="3126939"/>
            <a:ext cx="2134764" cy="2181860"/>
          </a:xfrm>
          <a:prstGeom prst="ellipse">
            <a:avLst/>
          </a:prstGeom>
          <a:solidFill>
            <a:schemeClr val="bg1">
              <a:lumMod val="85000"/>
            </a:scheme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6"/>
            </p:custDataLst>
          </p:nvPr>
        </p:nvSpPr>
        <p:spPr bwMode="gray">
          <a:xfrm>
            <a:off x="4710194" y="3519369"/>
            <a:ext cx="1366731" cy="1397635"/>
          </a:xfrm>
          <a:prstGeom prst="ellipse">
            <a:avLst/>
          </a:prstGeom>
          <a:solidFill>
            <a:srgbClr val="92D050"/>
          </a:solidFill>
          <a:ln>
            <a:noFill/>
          </a:ln>
          <a:effectLst/>
        </p:spPr>
        <p:txBody>
          <a:bodyPr wrap="square" lIns="0" tIns="0" rIns="0" bIns="0" anchor="ctr">
            <a:normAutofit/>
          </a:bodyPr>
          <a:lstStyle/>
          <a:p>
            <a:pPr algn="ctr">
              <a:defRPr/>
            </a:pPr>
            <a:r>
              <a:rPr lang="zh-CN" altLang="en-US" sz="2800" kern="0" dirty="0">
                <a:solidFill>
                  <a:srgbClr val="FFFFFF"/>
                </a:solidFill>
                <a:latin typeface="Arial" panose="020B0604020202020204" pitchFamily="34" charset="0"/>
                <a:ea typeface="微软雅黑 Light" panose="020B0502040204020203" pitchFamily="34" charset="-122"/>
                <a:cs typeface="黑体" panose="02010609060101010101" pitchFamily="49" charset="-122"/>
              </a:rPr>
              <a:t>可维护性</a:t>
            </a:r>
          </a:p>
        </p:txBody>
      </p:sp>
      <p:sp>
        <p:nvSpPr>
          <p:cNvPr id="43" name="Oval 19"/>
          <p:cNvSpPr>
            <a:spLocks noChangeArrowheads="1"/>
          </p:cNvSpPr>
          <p:nvPr>
            <p:custDataLst>
              <p:tags r:id="rId7"/>
            </p:custDataLst>
          </p:nvPr>
        </p:nvSpPr>
        <p:spPr bwMode="gray">
          <a:xfrm>
            <a:off x="5573360" y="2538294"/>
            <a:ext cx="251149"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8"/>
            </p:custDataLst>
          </p:nvPr>
        </p:nvSpPr>
        <p:spPr>
          <a:xfrm>
            <a:off x="6596982" y="2220794"/>
            <a:ext cx="4879672" cy="422405"/>
          </a:xfrm>
          <a:prstGeom prst="rect">
            <a:avLst/>
          </a:prstGeom>
          <a:noFill/>
        </p:spPr>
        <p:txBody>
          <a:bodyPr wrap="square" lIns="72000" tIns="72000" rIns="72000" bIns="72000">
            <a:spAutoFit/>
          </a:bodyPr>
          <a:lstStyle/>
          <a:p>
            <a:pPr>
              <a:defRPr/>
            </a:pPr>
            <a:r>
              <a:rPr dirty="0"/>
              <a:t>1</a:t>
            </a:r>
            <a:r>
              <a:rPr lang="en-US" dirty="0"/>
              <a:t>. </a:t>
            </a:r>
            <a:r>
              <a:rPr dirty="0" err="1"/>
              <a:t>是否拥有一组训练有素的软件人员</a:t>
            </a:r>
            <a:endParaRPr dirty="0"/>
          </a:p>
        </p:txBody>
      </p:sp>
      <p:sp>
        <p:nvSpPr>
          <p:cNvPr id="46" name="Oval 19"/>
          <p:cNvSpPr>
            <a:spLocks noChangeArrowheads="1"/>
          </p:cNvSpPr>
          <p:nvPr>
            <p:custDataLst>
              <p:tags r:id="rId9"/>
            </p:custDataLst>
          </p:nvPr>
        </p:nvSpPr>
        <p:spPr bwMode="gray">
          <a:xfrm>
            <a:off x="6209476" y="2992954"/>
            <a:ext cx="251149"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0"/>
            </p:custDataLst>
          </p:nvPr>
        </p:nvSpPr>
        <p:spPr>
          <a:xfrm>
            <a:off x="7488686" y="3314623"/>
            <a:ext cx="3987968" cy="422405"/>
          </a:xfrm>
          <a:prstGeom prst="rect">
            <a:avLst/>
          </a:prstGeom>
          <a:noFill/>
        </p:spPr>
        <p:txBody>
          <a:bodyPr wrap="square" lIns="72000" tIns="72000" rIns="72000" bIns="72000">
            <a:spAutoFit/>
          </a:bodyPr>
          <a:lstStyle/>
          <a:p>
            <a:pPr>
              <a:defRPr/>
            </a:pPr>
            <a:r>
              <a:rPr dirty="0"/>
              <a:t>3</a:t>
            </a:r>
            <a:r>
              <a:rPr lang="en-US" dirty="0"/>
              <a:t>. </a:t>
            </a:r>
            <a:r>
              <a:rPr dirty="0" err="1"/>
              <a:t>文档结构是否标准化</a:t>
            </a:r>
            <a:endParaRPr dirty="0"/>
          </a:p>
        </p:txBody>
      </p:sp>
      <p:sp>
        <p:nvSpPr>
          <p:cNvPr id="49" name="Oval 19"/>
          <p:cNvSpPr>
            <a:spLocks noChangeArrowheads="1"/>
          </p:cNvSpPr>
          <p:nvPr>
            <p:custDataLst>
              <p:tags r:id="rId11"/>
            </p:custDataLst>
          </p:nvPr>
        </p:nvSpPr>
        <p:spPr bwMode="gray">
          <a:xfrm>
            <a:off x="6596981" y="4092774"/>
            <a:ext cx="251149"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2"/>
            </p:custDataLst>
          </p:nvPr>
        </p:nvSpPr>
        <p:spPr>
          <a:xfrm>
            <a:off x="7488686" y="4457761"/>
            <a:ext cx="3987967" cy="422405"/>
          </a:xfrm>
          <a:prstGeom prst="rect">
            <a:avLst/>
          </a:prstGeom>
          <a:noFill/>
        </p:spPr>
        <p:txBody>
          <a:bodyPr wrap="square" lIns="72000" tIns="72000" rIns="72000" bIns="72000">
            <a:spAutoFit/>
          </a:bodyPr>
          <a:lstStyle/>
          <a:p>
            <a:pPr>
              <a:defRPr/>
            </a:pPr>
            <a:r>
              <a:rPr lang="zh-CN" altLang="en-US" dirty="0"/>
              <a:t>5</a:t>
            </a:r>
            <a:r>
              <a:rPr lang="en-US" altLang="zh-CN" dirty="0"/>
              <a:t>. </a:t>
            </a:r>
            <a:r>
              <a:rPr lang="zh-CN" altLang="en-US" dirty="0"/>
              <a:t>是否已有嵌入系统的调试工具</a:t>
            </a:r>
          </a:p>
        </p:txBody>
      </p:sp>
      <p:sp>
        <p:nvSpPr>
          <p:cNvPr id="53" name="Oval 19"/>
          <p:cNvSpPr>
            <a:spLocks noChangeArrowheads="1"/>
          </p:cNvSpPr>
          <p:nvPr>
            <p:custDataLst>
              <p:tags r:id="rId13"/>
            </p:custDataLst>
          </p:nvPr>
        </p:nvSpPr>
        <p:spPr bwMode="gray">
          <a:xfrm>
            <a:off x="6209476" y="5057339"/>
            <a:ext cx="251149"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4"/>
            </p:custDataLst>
          </p:nvPr>
        </p:nvSpPr>
        <p:spPr>
          <a:xfrm>
            <a:off x="6460624" y="5600899"/>
            <a:ext cx="5016027" cy="422405"/>
          </a:xfrm>
          <a:prstGeom prst="rect">
            <a:avLst/>
          </a:prstGeom>
          <a:noFill/>
        </p:spPr>
        <p:txBody>
          <a:bodyPr wrap="square" lIns="72000" tIns="72000" rIns="72000" bIns="72000">
            <a:spAutoFit/>
          </a:bodyPr>
          <a:lstStyle/>
          <a:p>
            <a:pPr>
              <a:defRPr/>
            </a:pPr>
            <a:r>
              <a:rPr lang="zh-CN" altLang="en-US" dirty="0"/>
              <a:t>7</a:t>
            </a:r>
            <a:r>
              <a:rPr lang="en-US" altLang="zh-CN" dirty="0"/>
              <a:t>. </a:t>
            </a:r>
            <a:r>
              <a:rPr lang="zh-CN" altLang="en-US" dirty="0"/>
              <a:t>是否使用了标准的操作系统</a:t>
            </a:r>
          </a:p>
        </p:txBody>
      </p:sp>
      <p:sp>
        <p:nvSpPr>
          <p:cNvPr id="56" name="Oval 19"/>
          <p:cNvSpPr>
            <a:spLocks noChangeArrowheads="1"/>
          </p:cNvSpPr>
          <p:nvPr>
            <p:custDataLst>
              <p:tags r:id="rId15"/>
            </p:custDataLst>
          </p:nvPr>
        </p:nvSpPr>
        <p:spPr bwMode="gray">
          <a:xfrm>
            <a:off x="5573360" y="5600899"/>
            <a:ext cx="251149"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6"/>
            </p:custDataLst>
          </p:nvPr>
        </p:nvSpPr>
        <p:spPr>
          <a:xfrm>
            <a:off x="7640896" y="3886192"/>
            <a:ext cx="3835757" cy="422405"/>
          </a:xfrm>
          <a:prstGeom prst="rect">
            <a:avLst/>
          </a:prstGeom>
          <a:noFill/>
        </p:spPr>
        <p:txBody>
          <a:bodyPr wrap="square" lIns="72000" tIns="72000" rIns="72000" bIns="72000">
            <a:spAutoFit/>
          </a:bodyPr>
          <a:lstStyle/>
          <a:p>
            <a:pPr>
              <a:defRPr/>
            </a:pPr>
            <a:r>
              <a:rPr dirty="0">
                <a:sym typeface="+mn-ea"/>
              </a:rPr>
              <a:t>4</a:t>
            </a:r>
            <a:r>
              <a:rPr lang="en-US" dirty="0">
                <a:sym typeface="+mn-ea"/>
              </a:rPr>
              <a:t>. </a:t>
            </a:r>
            <a:r>
              <a:rPr dirty="0" err="1">
                <a:sym typeface="+mn-ea"/>
              </a:rPr>
              <a:t>测试用例是否合适</a:t>
            </a:r>
            <a:endParaRPr dirty="0">
              <a:sym typeface="+mn-ea"/>
            </a:endParaRPr>
          </a:p>
        </p:txBody>
      </p:sp>
      <p:sp>
        <p:nvSpPr>
          <p:cNvPr id="13" name="Oval 19"/>
          <p:cNvSpPr>
            <a:spLocks noChangeArrowheads="1"/>
          </p:cNvSpPr>
          <p:nvPr>
            <p:custDataLst>
              <p:tags r:id="rId17"/>
            </p:custDataLst>
          </p:nvPr>
        </p:nvSpPr>
        <p:spPr bwMode="gray">
          <a:xfrm>
            <a:off x="6758071" y="3406339"/>
            <a:ext cx="251149"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8"/>
            </p:custDataLst>
          </p:nvPr>
        </p:nvSpPr>
        <p:spPr bwMode="gray">
          <a:xfrm>
            <a:off x="6733337" y="4805879"/>
            <a:ext cx="251149" cy="251460"/>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984486" y="2792363"/>
            <a:ext cx="4492168" cy="422405"/>
          </a:xfrm>
          <a:prstGeom prst="rect">
            <a:avLst/>
          </a:prstGeom>
          <a:noFill/>
        </p:spPr>
        <p:txBody>
          <a:bodyPr wrap="square" lIns="72000" tIns="72000" rIns="72000" bIns="72000" rtlCol="0" anchor="t">
            <a:spAutoFit/>
          </a:bodyPr>
          <a:lstStyle/>
          <a:p>
            <a:pPr algn="l"/>
            <a:r>
              <a:rPr dirty="0">
                <a:sym typeface="+mn-ea"/>
              </a:rPr>
              <a:t>2</a:t>
            </a:r>
            <a:r>
              <a:rPr lang="en-US" dirty="0">
                <a:sym typeface="+mn-ea"/>
              </a:rPr>
              <a:t>. </a:t>
            </a:r>
            <a:r>
              <a:rPr dirty="0" err="1">
                <a:sym typeface="+mn-ea"/>
              </a:rPr>
              <a:t>系统结构是否可理解、是否合理</a:t>
            </a:r>
            <a:endParaRPr dirty="0">
              <a:sym typeface="+mn-ea"/>
            </a:endParaRPr>
          </a:p>
        </p:txBody>
      </p:sp>
      <p:sp>
        <p:nvSpPr>
          <p:cNvPr id="16" name="文本框 15"/>
          <p:cNvSpPr txBox="1"/>
          <p:nvPr/>
        </p:nvSpPr>
        <p:spPr>
          <a:xfrm>
            <a:off x="7009219" y="5029330"/>
            <a:ext cx="4467433" cy="422405"/>
          </a:xfrm>
          <a:prstGeom prst="rect">
            <a:avLst/>
          </a:prstGeom>
          <a:noFill/>
        </p:spPr>
        <p:txBody>
          <a:bodyPr wrap="square" lIns="72000" tIns="72000" rIns="72000" bIns="72000" rtlCol="0" anchor="t">
            <a:spAutoFit/>
          </a:bodyPr>
          <a:lstStyle/>
          <a:p>
            <a:pPr algn="l">
              <a:defRPr/>
            </a:pPr>
            <a:r>
              <a:rPr lang="zh-CN" altLang="en-US" dirty="0">
                <a:sym typeface="+mn-ea"/>
              </a:rPr>
              <a:t>6</a:t>
            </a:r>
            <a:r>
              <a:rPr lang="en-US" altLang="zh-CN" dirty="0">
                <a:sym typeface="+mn-ea"/>
              </a:rPr>
              <a:t>. </a:t>
            </a:r>
            <a:r>
              <a:rPr lang="zh-CN" altLang="en-US" dirty="0">
                <a:sym typeface="+mn-ea"/>
              </a:rPr>
              <a:t>是否使用了合适的程序设计语言</a:t>
            </a:r>
          </a:p>
        </p:txBody>
      </p:sp>
      <p:sp>
        <p:nvSpPr>
          <p:cNvPr id="167" name="圆角矩形"/>
          <p:cNvSpPr/>
          <p:nvPr/>
        </p:nvSpPr>
        <p:spPr>
          <a:xfrm>
            <a:off x="964281" y="2926613"/>
            <a:ext cx="2420620" cy="2873375"/>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indent="457200" algn="l" eaLnBrk="1" fontAlgn="auto" hangingPunct="1">
              <a:lnSpc>
                <a:spcPct val="120000"/>
              </a:lnSpc>
              <a:spcBef>
                <a:spcPts val="0"/>
              </a:spcBef>
              <a:spcAft>
                <a:spcPts val="0"/>
              </a:spcAft>
              <a:defRPr/>
            </a:pPr>
            <a:r>
              <a:rPr lang="zh-CN" altLang="en-US" sz="1600" dirty="0">
                <a:solidFill>
                  <a:schemeClr val="tx1"/>
                </a:solidFill>
              </a:rPr>
              <a:t>造成软件维护工作变得困难的原因是多方面的，有维护人员素质方面的因素，也有技术条件和管理方面的因素等。与开发环境有关的可维护性影响因素如右</a:t>
            </a:r>
          </a:p>
        </p:txBody>
      </p:sp>
      <p:sp>
        <p:nvSpPr>
          <p:cNvPr id="2" name="学士帽"/>
          <p:cNvSpPr/>
          <p:nvPr/>
        </p:nvSpPr>
        <p:spPr bwMode="auto">
          <a:xfrm>
            <a:off x="769336" y="2713253"/>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31" name="TextBox 1"/>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32" name="直接连接符 31"/>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4" name="矩形 7"/>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决定软件可维护性的因素</a:t>
            </a:r>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cxnSp>
        <p:nvCxnSpPr>
          <p:cNvPr id="40" name="MH_Other_5"/>
          <p:cNvCxnSpPr/>
          <p:nvPr/>
        </p:nvCxnSpPr>
        <p:spPr>
          <a:xfrm>
            <a:off x="949960" y="2232660"/>
            <a:ext cx="2372995"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43" name="MH_Other_6"/>
          <p:cNvCxnSpPr/>
          <p:nvPr/>
        </p:nvCxnSpPr>
        <p:spPr>
          <a:xfrm>
            <a:off x="949960" y="2427605"/>
            <a:ext cx="0" cy="74168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3" name="MH_Other_7"/>
          <p:cNvCxnSpPr/>
          <p:nvPr/>
        </p:nvCxnSpPr>
        <p:spPr>
          <a:xfrm rot="10800000">
            <a:off x="5240655" y="6099810"/>
            <a:ext cx="2371725" cy="0"/>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cxnSp>
        <p:nvCxnSpPr>
          <p:cNvPr id="54" name="MH_Other_8"/>
          <p:cNvCxnSpPr/>
          <p:nvPr/>
        </p:nvCxnSpPr>
        <p:spPr>
          <a:xfrm rot="10800000">
            <a:off x="7611110" y="5161280"/>
            <a:ext cx="0" cy="741045"/>
          </a:xfrm>
          <a:prstGeom prst="line">
            <a:avLst/>
          </a:prstGeom>
          <a:ln w="3175">
            <a:solidFill>
              <a:srgbClr val="3CC2F2"/>
            </a:solidFill>
            <a:prstDash val="sysDash"/>
            <a:headEnd type="diamond" w="sm" len="sm"/>
            <a:tailEnd type="diamond" w="sm" len="sm"/>
          </a:ln>
        </p:spPr>
        <p:style>
          <a:lnRef idx="1">
            <a:schemeClr val="accent6"/>
          </a:lnRef>
          <a:fillRef idx="0">
            <a:schemeClr val="accent6"/>
          </a:fillRef>
          <a:effectRef idx="0">
            <a:schemeClr val="accent6"/>
          </a:effectRef>
          <a:fontRef idx="minor">
            <a:schemeClr val="tx1"/>
          </a:fontRef>
        </p:style>
      </p:cxnSp>
      <p:sp>
        <p:nvSpPr>
          <p:cNvPr id="5135" name="MH_Desc_1"/>
          <p:cNvSpPr txBox="1">
            <a:spLocks noChangeArrowheads="1"/>
          </p:cNvSpPr>
          <p:nvPr/>
        </p:nvSpPr>
        <p:spPr bwMode="auto">
          <a:xfrm>
            <a:off x="1072515" y="2540211"/>
            <a:ext cx="6289040" cy="3182832"/>
          </a:xfrm>
          <a:prstGeom prst="rect">
            <a:avLst/>
          </a:prstGeom>
          <a:noFill/>
          <a:ln w="9525">
            <a:noFill/>
            <a:miter lim="800000"/>
          </a:ln>
        </p:spPr>
        <p:txBody>
          <a:bodyPr lIns="108000" tIns="108000" rIns="108000" bIns="10800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pPr>
            <a:r>
              <a:rPr lang="en-US" altLang="zh-CN" dirty="0"/>
              <a:t>以上影响软件可维护性的因素中，结构合理性是软件设计时应当考虑的。系统结构若不合理，对其维护当然困难较大。所谓结构的合理性主要是以下列几点为基础的：模块化、层次组织、系统文档的结构、命令的格式和约定、程序的复杂性等</a:t>
            </a:r>
            <a:r>
              <a:rPr lang="zh-CN" altLang="en-US" dirty="0"/>
              <a:t>。</a:t>
            </a:r>
          </a:p>
          <a:p>
            <a:pPr indent="457200" algn="l" fontAlgn="auto">
              <a:lnSpc>
                <a:spcPct val="120000"/>
              </a:lnSpc>
            </a:pPr>
            <a:r>
              <a:rPr lang="en-US" altLang="zh-CN" dirty="0"/>
              <a:t>其他影响软件可维护性的因素还有应用的类型、使用的数据库技术、开关与标号的数量、IF语句的嵌套层次、索引或下标变量的数量等。</a:t>
            </a:r>
          </a:p>
          <a:p>
            <a:pPr indent="457200" algn="l" fontAlgn="auto">
              <a:lnSpc>
                <a:spcPct val="120000"/>
              </a:lnSpc>
            </a:pPr>
            <a:r>
              <a:rPr lang="en-US" altLang="zh-CN" dirty="0"/>
              <a:t>此外软件开发人员是否能参加维护也是值得考虑的因素。</a:t>
            </a:r>
          </a:p>
        </p:txBody>
      </p:sp>
      <p:pic>
        <p:nvPicPr>
          <p:cNvPr id="4" name="图片 3" descr="A000220150319F73PPIC.png"/>
          <p:cNvPicPr>
            <a:picLocks noChangeAspect="1"/>
          </p:cNvPicPr>
          <p:nvPr/>
        </p:nvPicPr>
        <p:blipFill>
          <a:blip r:embed="rId2" cstate="print"/>
          <a:stretch>
            <a:fillRect/>
          </a:stretch>
        </p:blipFill>
        <p:spPr>
          <a:xfrm>
            <a:off x="7764780" y="2882900"/>
            <a:ext cx="4427220" cy="2629535"/>
          </a:xfrm>
          <a:prstGeom prst="rect">
            <a:avLst/>
          </a:prstGeom>
        </p:spPr>
      </p:pic>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1" y="360000"/>
            <a:ext cx="5257200" cy="535531"/>
          </a:xfrm>
        </p:spPr>
        <p:txBody>
          <a:bodyPr>
            <a:normAutofit/>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45" name="任意多边形 44"/>
          <p:cNvSpPr/>
          <p:nvPr>
            <p:custDataLst>
              <p:tags r:id="rId1"/>
            </p:custDataLst>
          </p:nvPr>
        </p:nvSpPr>
        <p:spPr>
          <a:xfrm>
            <a:off x="6117293" y="2798781"/>
            <a:ext cx="2241145" cy="3418586"/>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6" name="任意多边形 45"/>
          <p:cNvSpPr/>
          <p:nvPr>
            <p:custDataLst>
              <p:tags r:id="rId2"/>
            </p:custDataLst>
          </p:nvPr>
        </p:nvSpPr>
        <p:spPr>
          <a:xfrm rot="10800000">
            <a:off x="3874990" y="2798781"/>
            <a:ext cx="2242303" cy="3418586"/>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51" name="圆角矩形 50"/>
          <p:cNvSpPr/>
          <p:nvPr>
            <p:custDataLst>
              <p:tags r:id="rId3"/>
            </p:custDataLst>
          </p:nvPr>
        </p:nvSpPr>
        <p:spPr>
          <a:xfrm>
            <a:off x="7754320" y="3053472"/>
            <a:ext cx="2880000" cy="476071"/>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spcBef>
                <a:spcPts val="0"/>
              </a:spcBef>
              <a:spcAft>
                <a:spcPts val="0"/>
              </a:spcAft>
              <a:defRPr/>
            </a:pPr>
            <a:r>
              <a:rPr lang="zh-CN" altLang="en-US" sz="1600" dirty="0">
                <a:solidFill>
                  <a:schemeClr val="tx1"/>
                </a:solidFill>
              </a:rPr>
              <a:t>纠错或修改软件的时间</a:t>
            </a:r>
          </a:p>
        </p:txBody>
      </p:sp>
      <p:sp>
        <p:nvSpPr>
          <p:cNvPr id="56" name="椭圆 55"/>
          <p:cNvSpPr/>
          <p:nvPr>
            <p:custDataLst>
              <p:tags r:id="rId4"/>
            </p:custDataLst>
          </p:nvPr>
        </p:nvSpPr>
        <p:spPr>
          <a:xfrm>
            <a:off x="7187522" y="3021507"/>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5</a:t>
            </a:r>
          </a:p>
        </p:txBody>
      </p:sp>
      <p:sp>
        <p:nvSpPr>
          <p:cNvPr id="58" name="圆角矩形 57"/>
          <p:cNvSpPr/>
          <p:nvPr>
            <p:custDataLst>
              <p:tags r:id="rId5"/>
            </p:custDataLst>
          </p:nvPr>
        </p:nvSpPr>
        <p:spPr>
          <a:xfrm>
            <a:off x="7120525" y="3859996"/>
            <a:ext cx="2880000" cy="476071"/>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spcBef>
                <a:spcPts val="0"/>
              </a:spcBef>
              <a:spcAft>
                <a:spcPts val="0"/>
              </a:spcAft>
              <a:defRPr/>
            </a:pPr>
            <a:r>
              <a:rPr lang="zh-CN" altLang="en-US" sz="1600" dirty="0">
                <a:solidFill>
                  <a:schemeClr val="tx1"/>
                </a:solidFill>
              </a:rPr>
              <a:t>测试软件的时间</a:t>
            </a:r>
          </a:p>
        </p:txBody>
      </p:sp>
      <p:sp>
        <p:nvSpPr>
          <p:cNvPr id="59" name="椭圆 58"/>
          <p:cNvSpPr/>
          <p:nvPr>
            <p:custDataLst>
              <p:tags r:id="rId6"/>
            </p:custDataLst>
          </p:nvPr>
        </p:nvSpPr>
        <p:spPr>
          <a:xfrm>
            <a:off x="6555464" y="3828031"/>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6</a:t>
            </a:r>
          </a:p>
        </p:txBody>
      </p:sp>
      <p:sp>
        <p:nvSpPr>
          <p:cNvPr id="61" name="圆角矩形 60"/>
          <p:cNvSpPr/>
          <p:nvPr>
            <p:custDataLst>
              <p:tags r:id="rId7"/>
            </p:custDataLst>
          </p:nvPr>
        </p:nvSpPr>
        <p:spPr>
          <a:xfrm>
            <a:off x="7020970" y="4666520"/>
            <a:ext cx="2880000" cy="476071"/>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spcBef>
                <a:spcPts val="0"/>
              </a:spcBef>
              <a:spcAft>
                <a:spcPts val="0"/>
              </a:spcAft>
              <a:defRPr/>
            </a:pPr>
            <a:r>
              <a:rPr lang="zh-CN" altLang="en-US" sz="1600" dirty="0">
                <a:solidFill>
                  <a:schemeClr val="tx1"/>
                </a:solidFill>
              </a:rPr>
              <a:t>维护评审的时间</a:t>
            </a:r>
          </a:p>
        </p:txBody>
      </p:sp>
      <p:sp>
        <p:nvSpPr>
          <p:cNvPr id="62" name="椭圆 61"/>
          <p:cNvSpPr/>
          <p:nvPr>
            <p:custDataLst>
              <p:tags r:id="rId8"/>
            </p:custDataLst>
          </p:nvPr>
        </p:nvSpPr>
        <p:spPr>
          <a:xfrm>
            <a:off x="6454751" y="4634555"/>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7</a:t>
            </a:r>
          </a:p>
        </p:txBody>
      </p:sp>
      <p:sp>
        <p:nvSpPr>
          <p:cNvPr id="64" name="圆角矩形 63"/>
          <p:cNvSpPr/>
          <p:nvPr>
            <p:custDataLst>
              <p:tags r:id="rId9"/>
            </p:custDataLst>
          </p:nvPr>
        </p:nvSpPr>
        <p:spPr>
          <a:xfrm>
            <a:off x="7823777" y="5473045"/>
            <a:ext cx="2880000" cy="476071"/>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spcBef>
                <a:spcPts val="0"/>
              </a:spcBef>
              <a:spcAft>
                <a:spcPts val="0"/>
              </a:spcAft>
              <a:defRPr/>
            </a:pPr>
            <a:r>
              <a:rPr lang="zh-CN" altLang="en-US" sz="1600" dirty="0">
                <a:solidFill>
                  <a:schemeClr val="tx1"/>
                </a:solidFill>
              </a:rPr>
              <a:t>软件恢复运行的时间</a:t>
            </a:r>
          </a:p>
        </p:txBody>
      </p:sp>
      <p:sp>
        <p:nvSpPr>
          <p:cNvPr id="65" name="椭圆 64"/>
          <p:cNvSpPr/>
          <p:nvPr>
            <p:custDataLst>
              <p:tags r:id="rId10"/>
            </p:custDataLst>
          </p:nvPr>
        </p:nvSpPr>
        <p:spPr>
          <a:xfrm>
            <a:off x="7258716" y="5441080"/>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8</a:t>
            </a:r>
          </a:p>
        </p:txBody>
      </p:sp>
      <p:sp>
        <p:nvSpPr>
          <p:cNvPr id="68" name="圆角矩形 67"/>
          <p:cNvSpPr/>
          <p:nvPr>
            <p:custDataLst>
              <p:tags r:id="rId11"/>
            </p:custDataLst>
          </p:nvPr>
        </p:nvSpPr>
        <p:spPr>
          <a:xfrm rot="10800000" flipV="1">
            <a:off x="1548134" y="3053472"/>
            <a:ext cx="2880000" cy="476071"/>
          </a:xfrm>
          <a:prstGeom prst="roundRect">
            <a:avLst>
              <a:gd name="adj" fmla="val 50000"/>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eaLnBrk="1" hangingPunct="1">
              <a:spcBef>
                <a:spcPts val="0"/>
              </a:spcBef>
              <a:spcAft>
                <a:spcPts val="0"/>
              </a:spcAft>
              <a:defRPr/>
            </a:pPr>
            <a:r>
              <a:rPr lang="zh-CN" altLang="en-US" sz="1600" dirty="0">
                <a:solidFill>
                  <a:sysClr val="windowText" lastClr="000000"/>
                </a:solidFill>
              </a:rPr>
              <a:t>识别问题的时间</a:t>
            </a:r>
          </a:p>
        </p:txBody>
      </p:sp>
      <p:sp>
        <p:nvSpPr>
          <p:cNvPr id="69" name="椭圆 68"/>
          <p:cNvSpPr/>
          <p:nvPr>
            <p:custDataLst>
              <p:tags r:id="rId12"/>
            </p:custDataLst>
          </p:nvPr>
        </p:nvSpPr>
        <p:spPr>
          <a:xfrm>
            <a:off x="4467059" y="3021507"/>
            <a:ext cx="540000" cy="54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1</a:t>
            </a:r>
          </a:p>
        </p:txBody>
      </p:sp>
      <p:sp>
        <p:nvSpPr>
          <p:cNvPr id="71" name="圆角矩形 70"/>
          <p:cNvSpPr/>
          <p:nvPr>
            <p:custDataLst>
              <p:tags r:id="rId13"/>
            </p:custDataLst>
          </p:nvPr>
        </p:nvSpPr>
        <p:spPr>
          <a:xfrm rot="10800000" flipV="1">
            <a:off x="2181352" y="3859996"/>
            <a:ext cx="2880000" cy="476071"/>
          </a:xfrm>
          <a:prstGeom prst="roundRect">
            <a:avLst>
              <a:gd name="adj" fmla="val 50000"/>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eaLnBrk="1" hangingPunct="1">
              <a:spcBef>
                <a:spcPts val="0"/>
              </a:spcBef>
              <a:spcAft>
                <a:spcPts val="0"/>
              </a:spcAft>
              <a:defRPr/>
            </a:pPr>
            <a:r>
              <a:rPr lang="zh-CN" altLang="en-US" sz="1600" dirty="0">
                <a:solidFill>
                  <a:sysClr val="windowText" lastClr="000000"/>
                </a:solidFill>
              </a:rPr>
              <a:t>修改规格说明书的时间</a:t>
            </a:r>
          </a:p>
        </p:txBody>
      </p:sp>
      <p:sp>
        <p:nvSpPr>
          <p:cNvPr id="72" name="椭圆 71"/>
          <p:cNvSpPr/>
          <p:nvPr>
            <p:custDataLst>
              <p:tags r:id="rId14"/>
            </p:custDataLst>
          </p:nvPr>
        </p:nvSpPr>
        <p:spPr>
          <a:xfrm>
            <a:off x="5099696" y="3828031"/>
            <a:ext cx="540000" cy="54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2</a:t>
            </a:r>
          </a:p>
        </p:txBody>
      </p:sp>
      <p:sp>
        <p:nvSpPr>
          <p:cNvPr id="74" name="圆角矩形 73"/>
          <p:cNvSpPr/>
          <p:nvPr>
            <p:custDataLst>
              <p:tags r:id="rId15"/>
            </p:custDataLst>
          </p:nvPr>
        </p:nvSpPr>
        <p:spPr>
          <a:xfrm rot="10800000" flipV="1">
            <a:off x="2317950" y="4666520"/>
            <a:ext cx="2880000" cy="476071"/>
          </a:xfrm>
          <a:prstGeom prst="roundRect">
            <a:avLst>
              <a:gd name="adj" fmla="val 50000"/>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a:defRPr/>
            </a:pPr>
            <a:r>
              <a:rPr lang="zh-CN" altLang="en-US" sz="1600" dirty="0">
                <a:solidFill>
                  <a:sysClr val="windowText" lastClr="000000"/>
                </a:solidFill>
                <a:latin typeface="+mn-ea"/>
                <a:sym typeface="+mn-ea"/>
              </a:rPr>
              <a:t>分析、诊断问题的时间</a:t>
            </a:r>
            <a:endParaRPr lang="zh-CN" altLang="en-US" sz="1600" dirty="0">
              <a:solidFill>
                <a:sysClr val="windowText" lastClr="000000"/>
              </a:solidFill>
            </a:endParaRPr>
          </a:p>
        </p:txBody>
      </p:sp>
      <p:sp>
        <p:nvSpPr>
          <p:cNvPr id="75" name="椭圆 74"/>
          <p:cNvSpPr/>
          <p:nvPr>
            <p:custDataLst>
              <p:tags r:id="rId16"/>
            </p:custDataLst>
          </p:nvPr>
        </p:nvSpPr>
        <p:spPr>
          <a:xfrm>
            <a:off x="5237452" y="4634555"/>
            <a:ext cx="540000" cy="54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3</a:t>
            </a:r>
          </a:p>
        </p:txBody>
      </p:sp>
      <p:sp>
        <p:nvSpPr>
          <p:cNvPr id="77" name="圆角矩形 76"/>
          <p:cNvSpPr/>
          <p:nvPr>
            <p:custDataLst>
              <p:tags r:id="rId17"/>
            </p:custDataLst>
          </p:nvPr>
        </p:nvSpPr>
        <p:spPr>
          <a:xfrm rot="10800000" flipV="1">
            <a:off x="1495464" y="5473045"/>
            <a:ext cx="2880000" cy="476071"/>
          </a:xfrm>
          <a:prstGeom prst="roundRect">
            <a:avLst>
              <a:gd name="adj" fmla="val 50000"/>
            </a:avLst>
          </a:prstGeom>
          <a:solidFill>
            <a:schemeClr val="bg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r">
              <a:defRPr/>
            </a:pPr>
            <a:r>
              <a:rPr lang="zh-CN" altLang="en-US" sz="1600" dirty="0">
                <a:solidFill>
                  <a:sysClr val="windowText" lastClr="000000"/>
                </a:solidFill>
                <a:latin typeface="+mn-ea"/>
                <a:sym typeface="+mn-ea"/>
              </a:rPr>
              <a:t>选择维护工具的时间</a:t>
            </a:r>
            <a:endParaRPr lang="zh-CN" altLang="en-US" sz="1600" dirty="0">
              <a:solidFill>
                <a:sysClr val="windowText" lastClr="000000"/>
              </a:solidFill>
            </a:endParaRPr>
          </a:p>
        </p:txBody>
      </p:sp>
      <p:sp>
        <p:nvSpPr>
          <p:cNvPr id="78" name="椭圆 77"/>
          <p:cNvSpPr/>
          <p:nvPr>
            <p:custDataLst>
              <p:tags r:id="rId18"/>
            </p:custDataLst>
          </p:nvPr>
        </p:nvSpPr>
        <p:spPr>
          <a:xfrm>
            <a:off x="4414966" y="5441080"/>
            <a:ext cx="540000" cy="5400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eaLnBrk="1" hangingPunct="1">
              <a:spcBef>
                <a:spcPts val="0"/>
              </a:spcBef>
              <a:spcAft>
                <a:spcPts val="0"/>
              </a:spcAft>
              <a:defRPr/>
            </a:pPr>
            <a:r>
              <a:rPr lang="en-US" altLang="zh-CN" sz="2400" dirty="0"/>
              <a:t>4</a:t>
            </a:r>
          </a:p>
        </p:txBody>
      </p:sp>
      <p:sp>
        <p:nvSpPr>
          <p:cNvPr id="167" name="圆角矩形"/>
          <p:cNvSpPr/>
          <p:nvPr/>
        </p:nvSpPr>
        <p:spPr>
          <a:xfrm>
            <a:off x="7993661" y="624396"/>
            <a:ext cx="3852000" cy="90043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sz="1400" dirty="0">
                <a:solidFill>
                  <a:schemeClr val="bg2">
                    <a:lumMod val="50000"/>
                  </a:schemeClr>
                </a:solidFill>
              </a:rPr>
              <a:t>   </a:t>
            </a:r>
            <a:r>
              <a:rPr lang="zh-CN" altLang="en-US" sz="1400" dirty="0">
                <a:solidFill>
                  <a:schemeClr val="bg2">
                    <a:lumMod val="50000"/>
                  </a:schemeClr>
                </a:solidFill>
              </a:rPr>
              <a:t> 软件的可维护性是难以量化的概念，然而借助维护活动中可以定量估算的属性，可以从下列维护工作所需的时间间接地度量可维护性。</a:t>
            </a:r>
          </a:p>
        </p:txBody>
      </p:sp>
      <p:sp>
        <p:nvSpPr>
          <p:cNvPr id="34" name="学士帽"/>
          <p:cNvSpPr/>
          <p:nvPr/>
        </p:nvSpPr>
        <p:spPr bwMode="auto">
          <a:xfrm>
            <a:off x="7798716" y="411036"/>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38" name="TextBox 1"/>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39" name="直接连接符 38"/>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7"/>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软件可维护性的度量</a:t>
            </a:r>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normAutofit/>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167" name="圆角矩形"/>
          <p:cNvSpPr/>
          <p:nvPr/>
        </p:nvSpPr>
        <p:spPr>
          <a:xfrm>
            <a:off x="10635067" y="504899"/>
            <a:ext cx="1248669" cy="1055608"/>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r" eaLnBrk="1" fontAlgn="auto" hangingPunct="1">
              <a:spcBef>
                <a:spcPts val="0"/>
              </a:spcBef>
              <a:spcAft>
                <a:spcPts val="0"/>
              </a:spcAft>
              <a:defRPr/>
            </a:pPr>
            <a:r>
              <a:rPr lang="zh-CN" altLang="en-US" sz="1400" dirty="0">
                <a:solidFill>
                  <a:schemeClr val="bg2">
                    <a:lumMod val="50000"/>
                  </a:schemeClr>
                </a:solidFill>
              </a:rPr>
              <a:t>可理解性</a:t>
            </a:r>
            <a:endParaRPr lang="en-US" altLang="zh-CN" sz="1400" dirty="0">
              <a:solidFill>
                <a:schemeClr val="bg2">
                  <a:lumMod val="50000"/>
                </a:schemeClr>
              </a:solidFill>
            </a:endParaRPr>
          </a:p>
          <a:p>
            <a:pPr algn="r" eaLnBrk="1" fontAlgn="auto" hangingPunct="1">
              <a:spcBef>
                <a:spcPts val="0"/>
              </a:spcBef>
              <a:spcAft>
                <a:spcPts val="0"/>
              </a:spcAft>
              <a:defRPr/>
            </a:pPr>
            <a:r>
              <a:rPr lang="zh-CN" altLang="en-US" sz="1400" dirty="0">
                <a:solidFill>
                  <a:schemeClr val="bg2">
                    <a:lumMod val="50000"/>
                  </a:schemeClr>
                </a:solidFill>
              </a:rPr>
              <a:t>可测试性</a:t>
            </a:r>
            <a:endParaRPr lang="en-US" altLang="zh-CN" sz="1400" dirty="0">
              <a:solidFill>
                <a:schemeClr val="bg2">
                  <a:lumMod val="50000"/>
                </a:schemeClr>
              </a:solidFill>
            </a:endParaRPr>
          </a:p>
          <a:p>
            <a:pPr algn="r" eaLnBrk="1" fontAlgn="auto" hangingPunct="1">
              <a:spcBef>
                <a:spcPts val="0"/>
              </a:spcBef>
              <a:spcAft>
                <a:spcPts val="0"/>
              </a:spcAft>
              <a:defRPr/>
            </a:pPr>
            <a:r>
              <a:rPr lang="zh-CN" altLang="en-US" sz="1400" dirty="0">
                <a:solidFill>
                  <a:schemeClr val="bg2">
                    <a:lumMod val="50000"/>
                  </a:schemeClr>
                </a:solidFill>
              </a:rPr>
              <a:t>可修改性</a:t>
            </a:r>
            <a:endParaRPr lang="en-US" altLang="zh-CN" sz="1400" dirty="0">
              <a:solidFill>
                <a:schemeClr val="bg2">
                  <a:lumMod val="50000"/>
                </a:schemeClr>
              </a:solidFill>
            </a:endParaRPr>
          </a:p>
          <a:p>
            <a:pPr algn="r" eaLnBrk="1" fontAlgn="auto" hangingPunct="1">
              <a:spcBef>
                <a:spcPts val="0"/>
              </a:spcBef>
              <a:spcAft>
                <a:spcPts val="0"/>
              </a:spcAft>
              <a:defRPr/>
            </a:pPr>
            <a:r>
              <a:rPr lang="zh-CN" altLang="en-US" sz="1400" dirty="0">
                <a:solidFill>
                  <a:schemeClr val="bg2">
                    <a:lumMod val="50000"/>
                  </a:schemeClr>
                </a:solidFill>
              </a:rPr>
              <a:t>可移植性</a:t>
            </a:r>
          </a:p>
        </p:txBody>
      </p:sp>
      <p:sp>
        <p:nvSpPr>
          <p:cNvPr id="34" name="学士帽"/>
          <p:cNvSpPr/>
          <p:nvPr/>
        </p:nvSpPr>
        <p:spPr bwMode="auto">
          <a:xfrm>
            <a:off x="10411754" y="262806"/>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21" name="MH_Text_1"/>
          <p:cNvSpPr/>
          <p:nvPr>
            <p:custDataLst>
              <p:tags r:id="rId1"/>
            </p:custDataLst>
          </p:nvPr>
        </p:nvSpPr>
        <p:spPr>
          <a:xfrm>
            <a:off x="1440000" y="2880000"/>
            <a:ext cx="9792000" cy="2392258"/>
          </a:xfrm>
          <a:prstGeom prst="rect">
            <a:avLst/>
          </a:prstGeom>
          <a:noFill/>
          <a:ln w="12700" cap="flat" cmpd="sng" algn="ctr">
            <a:solidFill>
              <a:srgbClr val="CC0066"/>
            </a:solidFill>
            <a:prstDash val="solid"/>
            <a:miter lim="800000"/>
          </a:ln>
          <a:effectLst/>
        </p:spPr>
        <p:txBody>
          <a:bodyPr anchor="t" anchorCtr="0">
            <a:spAutoFit/>
          </a:bodyPr>
          <a:lstStyle/>
          <a:p>
            <a:pPr>
              <a:lnSpc>
                <a:spcPct val="120000"/>
              </a:lnSpc>
            </a:pPr>
            <a:r>
              <a:rPr lang="zh-CN" altLang="en-US" b="1" dirty="0">
                <a:solidFill>
                  <a:srgbClr val="00B050"/>
                </a:solidFill>
                <a:sym typeface="+mn-ea"/>
              </a:rPr>
              <a:t>维护人员理解软件结构、接口、功能和内部过程的难易程度。</a:t>
            </a:r>
          </a:p>
          <a:p>
            <a:pPr>
              <a:lnSpc>
                <a:spcPct val="120000"/>
              </a:lnSpc>
            </a:pPr>
            <a:r>
              <a:rPr lang="zh-CN" altLang="en-US" dirty="0">
                <a:sym typeface="+mn-ea"/>
              </a:rPr>
              <a:t>也可以通过对软件复杂性的度量来评价软件的可理解性。软件越复杂，理解就越困难。</a:t>
            </a:r>
          </a:p>
          <a:p>
            <a:pPr>
              <a:lnSpc>
                <a:spcPct val="120000"/>
              </a:lnSpc>
            </a:pPr>
            <a:r>
              <a:rPr lang="zh-CN" altLang="en-US" dirty="0">
                <a:sym typeface="+mn-ea"/>
              </a:rPr>
              <a:t>降低复杂度、提升可理解性</a:t>
            </a:r>
          </a:p>
          <a:p>
            <a:pPr>
              <a:lnSpc>
                <a:spcPct val="120000"/>
              </a:lnSpc>
            </a:pPr>
            <a:r>
              <a:rPr lang="zh-CN" altLang="en-US" dirty="0">
                <a:sym typeface="+mn-ea"/>
              </a:rPr>
              <a:t>模块化</a:t>
            </a:r>
          </a:p>
          <a:p>
            <a:pPr>
              <a:lnSpc>
                <a:spcPct val="120000"/>
              </a:lnSpc>
            </a:pPr>
            <a:r>
              <a:rPr lang="zh-CN" altLang="en-US" dirty="0">
                <a:sym typeface="+mn-ea"/>
              </a:rPr>
              <a:t>结构化设计或面向对象设计</a:t>
            </a:r>
          </a:p>
          <a:p>
            <a:pPr>
              <a:lnSpc>
                <a:spcPct val="120000"/>
              </a:lnSpc>
            </a:pPr>
            <a:r>
              <a:rPr lang="zh-CN" altLang="en-US" dirty="0">
                <a:sym typeface="+mn-ea"/>
              </a:rPr>
              <a:t>与源程序一致的、完整正确详尽的设计文档</a:t>
            </a:r>
          </a:p>
          <a:p>
            <a:pPr>
              <a:lnSpc>
                <a:spcPct val="120000"/>
              </a:lnSpc>
            </a:pPr>
            <a:r>
              <a:rPr lang="zh-CN" altLang="en-US" dirty="0">
                <a:sym typeface="+mn-ea"/>
              </a:rPr>
              <a:t>源代码内部的文档和良好的高级程序设计语言</a:t>
            </a:r>
          </a:p>
        </p:txBody>
      </p:sp>
      <p:sp>
        <p:nvSpPr>
          <p:cNvPr id="22" name="MH_SubTitle_1"/>
          <p:cNvSpPr/>
          <p:nvPr>
            <p:custDataLst>
              <p:tags r:id="rId2"/>
            </p:custDataLst>
          </p:nvPr>
        </p:nvSpPr>
        <p:spPr>
          <a:xfrm>
            <a:off x="1440000" y="2318948"/>
            <a:ext cx="6480000" cy="54000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sp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1）可理解性</a:t>
            </a: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21" name="MH_Text_1"/>
          <p:cNvSpPr/>
          <p:nvPr>
            <p:custDataLst>
              <p:tags r:id="rId1"/>
            </p:custDataLst>
          </p:nvPr>
        </p:nvSpPr>
        <p:spPr>
          <a:xfrm>
            <a:off x="1440000" y="2880000"/>
            <a:ext cx="9792000" cy="2392258"/>
          </a:xfrm>
          <a:prstGeom prst="rect">
            <a:avLst/>
          </a:prstGeom>
          <a:noFill/>
          <a:ln w="12700" cap="flat" cmpd="sng" algn="ctr">
            <a:solidFill>
              <a:srgbClr val="CC0066"/>
            </a:solidFill>
            <a:prstDash val="solid"/>
            <a:miter lim="800000"/>
          </a:ln>
          <a:effectLst/>
        </p:spPr>
        <p:txBody>
          <a:bodyPr anchor="t" anchorCtr="0">
            <a:spAutoFit/>
          </a:bodyPr>
          <a:lstStyle/>
          <a:p>
            <a:pPr marL="0" indent="0" algn="l" fontAlgn="auto">
              <a:lnSpc>
                <a:spcPct val="120000"/>
              </a:lnSpc>
            </a:pPr>
            <a:r>
              <a:rPr lang="zh-CN" altLang="en-US" b="1" dirty="0">
                <a:solidFill>
                  <a:srgbClr val="00B050"/>
                </a:solidFill>
                <a:sym typeface="+mn-ea"/>
              </a:rPr>
              <a:t>软件容易被测试的程度。</a:t>
            </a:r>
          </a:p>
          <a:p>
            <a:pPr marL="0" indent="0" algn="l" fontAlgn="auto">
              <a:lnSpc>
                <a:spcPct val="120000"/>
              </a:lnSpc>
            </a:pPr>
            <a:r>
              <a:rPr lang="zh-CN" altLang="en-US" dirty="0">
                <a:sym typeface="+mn-ea"/>
              </a:rPr>
              <a:t>它与源代码有关，要求程序易于理解，还要求有齐全的测试文档，保留开发时期使用的测试用例。好的文档资料对诊断和测试至关重要。</a:t>
            </a:r>
          </a:p>
          <a:p>
            <a:pPr marL="0" indent="0" algn="l" fontAlgn="auto">
              <a:lnSpc>
                <a:spcPct val="120000"/>
              </a:lnSpc>
            </a:pPr>
            <a:r>
              <a:rPr lang="zh-CN" altLang="en-US" dirty="0">
                <a:sym typeface="+mn-ea"/>
              </a:rPr>
              <a:t>可测试性要求软件需求的定义要便于对需求进行分析并易于建立测试准则；还要便于就这些准则对软件进行评价。可测试性是指证实程序正确性的难易程度。</a:t>
            </a:r>
          </a:p>
          <a:p>
            <a:pPr marL="0" indent="0" algn="l" fontAlgn="auto">
              <a:lnSpc>
                <a:spcPct val="120000"/>
              </a:lnSpc>
            </a:pPr>
            <a:r>
              <a:rPr lang="zh-CN" altLang="en-US" dirty="0">
                <a:sym typeface="+mn-ea"/>
              </a:rPr>
              <a:t>此外，有无可用的测试、调试工具及测试过程的确定也非常重要。在软件设计阶段就应该注意使差错容易定位，以便维护时容易找到纠错的办法。</a:t>
            </a:r>
          </a:p>
        </p:txBody>
      </p:sp>
      <p:sp>
        <p:nvSpPr>
          <p:cNvPr id="22" name="MH_SubTitle_1"/>
          <p:cNvSpPr/>
          <p:nvPr>
            <p:custDataLst>
              <p:tags r:id="rId2"/>
            </p:custDataLst>
          </p:nvPr>
        </p:nvSpPr>
        <p:spPr>
          <a:xfrm>
            <a:off x="1439999" y="2318948"/>
            <a:ext cx="6480000" cy="54000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sp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2）可测试性</a:t>
            </a: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normAutofit/>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21" name="MH_Text_1"/>
          <p:cNvSpPr/>
          <p:nvPr>
            <p:custDataLst>
              <p:tags r:id="rId1"/>
            </p:custDataLst>
          </p:nvPr>
        </p:nvSpPr>
        <p:spPr>
          <a:xfrm>
            <a:off x="1440000" y="2880000"/>
            <a:ext cx="9792000" cy="3057055"/>
          </a:xfrm>
          <a:prstGeom prst="rect">
            <a:avLst/>
          </a:prstGeom>
          <a:noFill/>
          <a:ln w="12700" cap="flat" cmpd="sng" algn="ctr">
            <a:solidFill>
              <a:srgbClr val="CC0066"/>
            </a:solidFill>
            <a:prstDash val="solid"/>
            <a:miter lim="800000"/>
          </a:ln>
          <a:effectLst/>
        </p:spPr>
        <p:txBody>
          <a:bodyPr anchor="t" anchorCtr="0">
            <a:spAutoFit/>
          </a:bodyPr>
          <a:lstStyle/>
          <a:p>
            <a:pPr>
              <a:lnSpc>
                <a:spcPct val="120000"/>
              </a:lnSpc>
            </a:pPr>
            <a:r>
              <a:rPr lang="zh-CN" altLang="en-US" b="1" dirty="0">
                <a:solidFill>
                  <a:srgbClr val="00B050"/>
                </a:solidFill>
                <a:sym typeface="+mn-ea"/>
              </a:rPr>
              <a:t>软件容易修改的程度。</a:t>
            </a:r>
            <a:endParaRPr lang="en-US" altLang="zh-CN" b="1" dirty="0">
              <a:solidFill>
                <a:srgbClr val="00B050"/>
              </a:solidFill>
              <a:sym typeface="+mn-ea"/>
            </a:endParaRPr>
          </a:p>
          <a:p>
            <a:pPr>
              <a:lnSpc>
                <a:spcPct val="120000"/>
              </a:lnSpc>
            </a:pPr>
            <a:r>
              <a:rPr lang="zh-CN" altLang="en-US" dirty="0">
                <a:sym typeface="+mn-ea"/>
              </a:rPr>
              <a:t>一个可修改的程序往往是可理解的、通用的、灵活的和简明的。</a:t>
            </a:r>
            <a:endParaRPr lang="en-US" altLang="zh-CN" dirty="0">
              <a:sym typeface="+mn-ea"/>
            </a:endParaRPr>
          </a:p>
          <a:p>
            <a:pPr>
              <a:lnSpc>
                <a:spcPct val="120000"/>
              </a:lnSpc>
            </a:pPr>
            <a:r>
              <a:rPr lang="zh-CN" altLang="en-US" dirty="0">
                <a:sym typeface="+mn-ea"/>
              </a:rPr>
              <a:t>所谓通用，是指不需要修改程序就可使程序改变功能。</a:t>
            </a:r>
            <a:endParaRPr lang="en-US" altLang="zh-CN" dirty="0">
              <a:sym typeface="+mn-ea"/>
            </a:endParaRPr>
          </a:p>
          <a:p>
            <a:pPr>
              <a:lnSpc>
                <a:spcPct val="120000"/>
              </a:lnSpc>
            </a:pPr>
            <a:r>
              <a:rPr lang="zh-CN" altLang="en-US" dirty="0">
                <a:sym typeface="+mn-ea"/>
              </a:rPr>
              <a:t>所谓灵活，是指程序容易被分解和组合。</a:t>
            </a:r>
          </a:p>
          <a:p>
            <a:pPr>
              <a:lnSpc>
                <a:spcPct val="120000"/>
              </a:lnSpc>
            </a:pPr>
            <a:r>
              <a:rPr lang="zh-CN" altLang="en-US" dirty="0">
                <a:sym typeface="+mn-ea"/>
              </a:rPr>
              <a:t>要度量一个程序的可修改性，可以通过对该程序做少量简单的改变来估算修改这个程序的困难程度，例如对程序增加新类型的作业、改变输入输出设备、取消输出报告等。如果对于一个简单的改变，程序中必须修改的模块超过</a:t>
            </a:r>
            <a:r>
              <a:rPr lang="en-US" altLang="zh-CN" dirty="0">
                <a:sym typeface="+mn-ea"/>
              </a:rPr>
              <a:t>30%</a:t>
            </a:r>
            <a:r>
              <a:rPr lang="zh-CN" altLang="en-US" dirty="0">
                <a:sym typeface="+mn-ea"/>
              </a:rPr>
              <a:t>，则该程序属于难修改之列。</a:t>
            </a:r>
          </a:p>
          <a:p>
            <a:pPr>
              <a:lnSpc>
                <a:spcPct val="120000"/>
              </a:lnSpc>
            </a:pPr>
            <a:r>
              <a:rPr lang="zh-CN" altLang="en-US" dirty="0">
                <a:sym typeface="+mn-ea"/>
              </a:rPr>
              <a:t>模块设计的内聚、耦合、局部化等因素都会影响软件的可修改性。模块抽象和信息隐蔽愈好，模块的独立性愈高，则修改时出错的机会也就愈少。</a:t>
            </a:r>
            <a:endParaRPr dirty="0">
              <a:sym typeface="+mn-ea"/>
            </a:endParaRPr>
          </a:p>
        </p:txBody>
      </p:sp>
      <p:sp>
        <p:nvSpPr>
          <p:cNvPr id="22" name="MH_SubTitle_1"/>
          <p:cNvSpPr/>
          <p:nvPr>
            <p:custDataLst>
              <p:tags r:id="rId2"/>
            </p:custDataLst>
          </p:nvPr>
        </p:nvSpPr>
        <p:spPr>
          <a:xfrm>
            <a:off x="1439999" y="2318948"/>
            <a:ext cx="6480000" cy="54000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sp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3）可修改性</a:t>
            </a: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0" y="360000"/>
            <a:ext cx="8415337" cy="535531"/>
          </a:xfrm>
        </p:spPr>
        <p:txBody>
          <a:bodyPr>
            <a:normAutofit/>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21" name="MH_Text_1"/>
          <p:cNvSpPr/>
          <p:nvPr>
            <p:custDataLst>
              <p:tags r:id="rId1"/>
            </p:custDataLst>
          </p:nvPr>
        </p:nvSpPr>
        <p:spPr>
          <a:xfrm>
            <a:off x="1440000" y="2904237"/>
            <a:ext cx="9792000" cy="730265"/>
          </a:xfrm>
          <a:prstGeom prst="rect">
            <a:avLst/>
          </a:prstGeom>
          <a:noFill/>
          <a:ln w="12700" cap="flat" cmpd="sng" algn="ctr">
            <a:solidFill>
              <a:srgbClr val="CC0066"/>
            </a:solidFill>
            <a:prstDash val="solid"/>
            <a:miter lim="800000"/>
          </a:ln>
          <a:effectLst/>
        </p:spPr>
        <p:txBody>
          <a:bodyPr anchor="ctr">
            <a:spAutoFit/>
          </a:bodyPr>
          <a:lstStyle/>
          <a:p>
            <a:pPr marL="0" indent="0" algn="l" fontAlgn="auto">
              <a:lnSpc>
                <a:spcPct val="120000"/>
              </a:lnSpc>
            </a:pPr>
            <a:r>
              <a:rPr lang="zh-CN" altLang="en-US" dirty="0">
                <a:sym typeface="+mn-ea"/>
              </a:rPr>
              <a:t>可移植性是指软件不加改动地从一种运行环境转移到另一种运行环境下运行的能力，即程序在不同计算机环境下能够有效地运行的程度。可移植性好的软件容易维护。</a:t>
            </a:r>
            <a:endParaRPr dirty="0">
              <a:sym typeface="+mn-ea"/>
            </a:endParaRPr>
          </a:p>
        </p:txBody>
      </p:sp>
      <p:sp>
        <p:nvSpPr>
          <p:cNvPr id="22" name="MH_SubTitle_1"/>
          <p:cNvSpPr/>
          <p:nvPr>
            <p:custDataLst>
              <p:tags r:id="rId2"/>
            </p:custDataLst>
          </p:nvPr>
        </p:nvSpPr>
        <p:spPr>
          <a:xfrm>
            <a:off x="1439999" y="2318948"/>
            <a:ext cx="6480000" cy="540000"/>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spAutoFit/>
          </a:bodyPr>
          <a:lstStyle/>
          <a:p>
            <a:pPr algn="ctr" eaLnBrk="1" fontAlgn="auto" hangingPunct="1">
              <a:spcBef>
                <a:spcPts val="0"/>
              </a:spcBef>
              <a:spcAft>
                <a:spcPts val="0"/>
              </a:spcAft>
              <a:defRPr/>
            </a:pPr>
            <a:r>
              <a:rPr lang="en-US" altLang="zh-CN" sz="2400" b="1" kern="0" dirty="0">
                <a:solidFill>
                  <a:srgbClr val="FFFFFF"/>
                </a:solidFill>
                <a:latin typeface="微软雅黑" panose="020B0503020204020204" charset="-122"/>
                <a:ea typeface="微软雅黑" panose="020B0503020204020204" charset="-122"/>
                <a:cs typeface="Arial" panose="020B0604020202020204" pitchFamily="34" charset="0"/>
              </a:rPr>
              <a:t>4）可移植性</a:t>
            </a:r>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1" y="360000"/>
            <a:ext cx="5257200" cy="535531"/>
          </a:xfrm>
        </p:spPr>
        <p:txBody>
          <a:bodyPr>
            <a:normAutofit/>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23" name="矩形 7"/>
          <p:cNvSpPr>
            <a:spLocks noChangeArrowheads="1"/>
          </p:cNvSpPr>
          <p:nvPr/>
        </p:nvSpPr>
        <p:spPr bwMode="auto">
          <a:xfrm>
            <a:off x="809625" y="2702193"/>
            <a:ext cx="26889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E67819"/>
                </a:solidFill>
                <a:latin typeface="+mj-lt"/>
                <a:ea typeface="+mj-ea"/>
              </a:rPr>
              <a:t>3.1 </a:t>
            </a:r>
            <a:r>
              <a:rPr lang="zh-CN" altLang="en-US" dirty="0">
                <a:solidFill>
                  <a:srgbClr val="E67819"/>
                </a:solidFill>
                <a:latin typeface="+mj-lt"/>
                <a:ea typeface="+mj-ea"/>
              </a:rPr>
              <a:t>明确软件的质量目标</a:t>
            </a:r>
          </a:p>
        </p:txBody>
      </p:sp>
      <p:sp>
        <p:nvSpPr>
          <p:cNvPr id="8" name="矩形 7"/>
          <p:cNvSpPr>
            <a:spLocks noChangeArrowheads="1"/>
          </p:cNvSpPr>
          <p:nvPr/>
        </p:nvSpPr>
        <p:spPr bwMode="auto">
          <a:xfrm>
            <a:off x="809625" y="4688473"/>
            <a:ext cx="40900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E67819"/>
                </a:solidFill>
                <a:latin typeface="+mj-lt"/>
                <a:ea typeface="+mj-ea"/>
              </a:rPr>
              <a:t>3.2 </a:t>
            </a:r>
            <a:r>
              <a:rPr lang="zh-CN" altLang="en-US" dirty="0">
                <a:solidFill>
                  <a:srgbClr val="E67819"/>
                </a:solidFill>
                <a:latin typeface="+mj-lt"/>
                <a:ea typeface="+mj-ea"/>
              </a:rPr>
              <a:t>利用先进的软件技术和工具</a:t>
            </a:r>
          </a:p>
        </p:txBody>
      </p:sp>
      <p:sp>
        <p:nvSpPr>
          <p:cNvPr id="2" name="TextBox 1">
            <a:extLst>
              <a:ext uri="{FF2B5EF4-FFF2-40B4-BE49-F238E27FC236}">
                <a16:creationId xmlns:a16="http://schemas.microsoft.com/office/drawing/2014/main" id="{34ADD5E2-404C-18F3-8D93-343705DC7B93}"/>
              </a:ext>
            </a:extLst>
          </p:cNvPr>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3</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0" name="直接连接符 9">
            <a:extLst>
              <a:ext uri="{FF2B5EF4-FFF2-40B4-BE49-F238E27FC236}">
                <a16:creationId xmlns:a16="http://schemas.microsoft.com/office/drawing/2014/main" id="{278BB3E0-7180-9426-5084-14C6E563E8F7}"/>
              </a:ext>
            </a:extLst>
          </p:cNvPr>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4" name="矩形 7">
            <a:extLst>
              <a:ext uri="{FF2B5EF4-FFF2-40B4-BE49-F238E27FC236}">
                <a16:creationId xmlns:a16="http://schemas.microsoft.com/office/drawing/2014/main" id="{4451140F-2052-957A-24C7-CD1EA7D18D58}"/>
              </a:ext>
            </a:extLst>
          </p:cNvPr>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如何提高软件的可维护性</a:t>
            </a:r>
          </a:p>
        </p:txBody>
      </p:sp>
      <p:sp>
        <p:nvSpPr>
          <p:cNvPr id="19" name="文本框 18">
            <a:extLst>
              <a:ext uri="{FF2B5EF4-FFF2-40B4-BE49-F238E27FC236}">
                <a16:creationId xmlns:a16="http://schemas.microsoft.com/office/drawing/2014/main" id="{CA479685-06CE-2868-CD31-948D9027796A}"/>
              </a:ext>
            </a:extLst>
          </p:cNvPr>
          <p:cNvSpPr txBox="1"/>
          <p:nvPr/>
        </p:nvSpPr>
        <p:spPr>
          <a:xfrm>
            <a:off x="809625" y="5057805"/>
            <a:ext cx="4860000" cy="954813"/>
          </a:xfrm>
          <a:prstGeom prst="rect">
            <a:avLst/>
          </a:prstGeom>
          <a:noFill/>
        </p:spPr>
        <p:txBody>
          <a:bodyPr wrap="square" rtlCol="0">
            <a:spAutoFit/>
          </a:bodyPr>
          <a:lstStyle/>
          <a:p>
            <a:pPr algn="l">
              <a:lnSpc>
                <a:spcPct val="120000"/>
              </a:lnSpc>
            </a:pPr>
            <a:r>
              <a:rPr lang="zh-CN" altLang="en-US" sz="1600" dirty="0"/>
              <a:t>在软件开发的整个过程中，始终应该考虑并努力提高软件的可维护性，尽力将软件设计成容易理解、容易测试和容易修改的软件。</a:t>
            </a:r>
          </a:p>
        </p:txBody>
      </p:sp>
      <p:sp>
        <p:nvSpPr>
          <p:cNvPr id="20" name="文本框 19">
            <a:extLst>
              <a:ext uri="{FF2B5EF4-FFF2-40B4-BE49-F238E27FC236}">
                <a16:creationId xmlns:a16="http://schemas.microsoft.com/office/drawing/2014/main" id="{1D8B5DA0-AA77-4084-D3EA-7840D57CBA27}"/>
              </a:ext>
            </a:extLst>
          </p:cNvPr>
          <p:cNvSpPr txBox="1"/>
          <p:nvPr/>
        </p:nvSpPr>
        <p:spPr>
          <a:xfrm>
            <a:off x="809625" y="3163732"/>
            <a:ext cx="4860000" cy="659348"/>
          </a:xfrm>
          <a:prstGeom prst="rect">
            <a:avLst/>
          </a:prstGeom>
          <a:noFill/>
        </p:spPr>
        <p:txBody>
          <a:bodyPr wrap="square" rtlCol="0">
            <a:spAutoFit/>
          </a:bodyPr>
          <a:lstStyle/>
          <a:p>
            <a:pPr>
              <a:lnSpc>
                <a:spcPct val="120000"/>
              </a:lnSpc>
            </a:pPr>
            <a:r>
              <a:rPr lang="zh-CN" altLang="en-US" sz="1600" dirty="0"/>
              <a:t>软件工程在不断发展，新的技术和工具在不断出现，对软件工程的新技术和新工具，应及时学习并应用。</a:t>
            </a:r>
          </a:p>
        </p:txBody>
      </p:sp>
      <p:sp>
        <p:nvSpPr>
          <p:cNvPr id="25" name="矩形 24">
            <a:extLst>
              <a:ext uri="{FF2B5EF4-FFF2-40B4-BE49-F238E27FC236}">
                <a16:creationId xmlns:a16="http://schemas.microsoft.com/office/drawing/2014/main" id="{FDC8B1EB-0A4B-514A-1E80-615DCF3A27A1}"/>
              </a:ext>
            </a:extLst>
          </p:cNvPr>
          <p:cNvSpPr>
            <a:spLocks noChangeArrowheads="1"/>
          </p:cNvSpPr>
          <p:nvPr/>
        </p:nvSpPr>
        <p:spPr bwMode="auto">
          <a:xfrm>
            <a:off x="6095999" y="2702193"/>
            <a:ext cx="3872876"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E67819"/>
                </a:solidFill>
                <a:latin typeface="+mj-lt"/>
                <a:ea typeface="+mj-ea"/>
              </a:rPr>
              <a:t>3.3 </a:t>
            </a:r>
            <a:r>
              <a:rPr lang="zh-CN" altLang="en-US" dirty="0">
                <a:solidFill>
                  <a:srgbClr val="E67819"/>
                </a:solidFill>
                <a:latin typeface="+mj-lt"/>
                <a:ea typeface="+mj-ea"/>
              </a:rPr>
              <a:t>选择便于维护的程序设计语言</a:t>
            </a:r>
          </a:p>
        </p:txBody>
      </p:sp>
      <p:sp>
        <p:nvSpPr>
          <p:cNvPr id="27" name="文本框 26">
            <a:extLst>
              <a:ext uri="{FF2B5EF4-FFF2-40B4-BE49-F238E27FC236}">
                <a16:creationId xmlns:a16="http://schemas.microsoft.com/office/drawing/2014/main" id="{D207D01A-2F6A-F634-874F-FB1113CD1B14}"/>
              </a:ext>
            </a:extLst>
          </p:cNvPr>
          <p:cNvSpPr txBox="1"/>
          <p:nvPr/>
        </p:nvSpPr>
        <p:spPr>
          <a:xfrm>
            <a:off x="6095999" y="3163732"/>
            <a:ext cx="5286375" cy="2136675"/>
          </a:xfrm>
          <a:prstGeom prst="rect">
            <a:avLst/>
          </a:prstGeom>
          <a:noFill/>
        </p:spPr>
        <p:txBody>
          <a:bodyPr wrap="square" rtlCol="0">
            <a:spAutoFit/>
          </a:bodyPr>
          <a:lstStyle/>
          <a:p>
            <a:pPr algn="l">
              <a:lnSpc>
                <a:spcPct val="120000"/>
              </a:lnSpc>
            </a:pPr>
            <a:r>
              <a:rPr lang="zh-CN" altLang="en-US" sz="1600" dirty="0"/>
              <a:t>机器语言、汇编语言不易理解，难以维护。一般只有在对软件的运行时间和使用空间有严格限制或系统硬件有特殊要求时，才使用机器语言或汇编语言。</a:t>
            </a:r>
          </a:p>
          <a:p>
            <a:pPr algn="l">
              <a:lnSpc>
                <a:spcPct val="120000"/>
              </a:lnSpc>
            </a:pPr>
            <a:r>
              <a:rPr lang="zh-CN" altLang="en-US" sz="1600" dirty="0"/>
              <a:t>高级语言容易理解，可维护性较好。查询语言、报表生成语言、图像语言更容易理解、使用和维护。选择适当的程序设计语言非常重要，要慎重、综合地考虑各种因素，征求用户的意见。</a:t>
            </a: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801" y="360000"/>
            <a:ext cx="5257200" cy="535531"/>
          </a:xfrm>
        </p:spPr>
        <p:txBody>
          <a:bodyPr>
            <a:normAutofit/>
          </a:bodyPr>
          <a:lstStyle/>
          <a:p>
            <a:r>
              <a:rPr lang="en-US" dirty="0">
                <a:sym typeface="+mn-ea"/>
              </a:rPr>
              <a:t>5.1 </a:t>
            </a:r>
            <a:r>
              <a:rPr lang="zh-CN" altLang="en-US" dirty="0">
                <a:sym typeface="+mn-ea"/>
              </a:rPr>
              <a:t>软件维护</a:t>
            </a:r>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5.1.4 </a:t>
            </a:r>
            <a:r>
              <a:rPr lang="zh-CN" altLang="en-US" sz="2400" dirty="0">
                <a:solidFill>
                  <a:schemeClr val="tx1"/>
                </a:solidFill>
              </a:rPr>
              <a:t>提高软件的可维护性</a:t>
            </a:r>
          </a:p>
        </p:txBody>
      </p:sp>
      <p:sp>
        <p:nvSpPr>
          <p:cNvPr id="23" name="矩形 7"/>
          <p:cNvSpPr>
            <a:spLocks noChangeArrowheads="1"/>
          </p:cNvSpPr>
          <p:nvPr/>
        </p:nvSpPr>
        <p:spPr bwMode="auto">
          <a:xfrm>
            <a:off x="809625" y="2166971"/>
            <a:ext cx="36334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E67819"/>
                </a:solidFill>
                <a:latin typeface="+mj-lt"/>
                <a:ea typeface="+mj-ea"/>
              </a:rPr>
              <a:t>3.4 </a:t>
            </a:r>
            <a:r>
              <a:rPr lang="zh-CN" altLang="en-US" dirty="0">
                <a:solidFill>
                  <a:srgbClr val="E67819"/>
                </a:solidFill>
                <a:latin typeface="+mj-lt"/>
                <a:ea typeface="+mj-ea"/>
              </a:rPr>
              <a:t>采取有效的质量保证措施</a:t>
            </a:r>
          </a:p>
        </p:txBody>
      </p:sp>
      <p:sp>
        <p:nvSpPr>
          <p:cNvPr id="15" name="矩形 14"/>
          <p:cNvSpPr>
            <a:spLocks noChangeArrowheads="1"/>
          </p:cNvSpPr>
          <p:nvPr/>
        </p:nvSpPr>
        <p:spPr bwMode="auto">
          <a:xfrm>
            <a:off x="6095999" y="2166988"/>
            <a:ext cx="3872876"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E67819"/>
                </a:solidFill>
                <a:latin typeface="+mj-lt"/>
                <a:ea typeface="+mj-ea"/>
              </a:rPr>
              <a:t>3.5 </a:t>
            </a:r>
            <a:r>
              <a:rPr lang="zh-CN" altLang="en-US" dirty="0">
                <a:solidFill>
                  <a:srgbClr val="E67819"/>
                </a:solidFill>
                <a:latin typeface="+mj-lt"/>
                <a:ea typeface="+mj-ea"/>
              </a:rPr>
              <a:t>完善程序的文档</a:t>
            </a:r>
          </a:p>
        </p:txBody>
      </p:sp>
      <p:sp>
        <p:nvSpPr>
          <p:cNvPr id="2" name="文本框 1">
            <a:extLst>
              <a:ext uri="{FF2B5EF4-FFF2-40B4-BE49-F238E27FC236}">
                <a16:creationId xmlns:a16="http://schemas.microsoft.com/office/drawing/2014/main" id="{B267159D-4D2F-0FBE-B454-B52BE185C0DA}"/>
              </a:ext>
            </a:extLst>
          </p:cNvPr>
          <p:cNvSpPr txBox="1"/>
          <p:nvPr/>
        </p:nvSpPr>
        <p:spPr>
          <a:xfrm>
            <a:off x="809625" y="2774267"/>
            <a:ext cx="4860000" cy="2136675"/>
          </a:xfrm>
          <a:prstGeom prst="rect">
            <a:avLst/>
          </a:prstGeom>
          <a:noFill/>
        </p:spPr>
        <p:txBody>
          <a:bodyPr wrap="square" rtlCol="0">
            <a:spAutoFit/>
          </a:bodyPr>
          <a:lstStyle/>
          <a:p>
            <a:pPr algn="l">
              <a:lnSpc>
                <a:spcPct val="120000"/>
              </a:lnSpc>
            </a:pPr>
            <a:r>
              <a:rPr lang="zh-CN" altLang="en-US" sz="1600" dirty="0"/>
              <a:t>软件开发时需要确定中间及最终交付的成果以及所有开发阶段各项工作的质量特征和评价标准。</a:t>
            </a:r>
          </a:p>
          <a:p>
            <a:pPr algn="l">
              <a:lnSpc>
                <a:spcPct val="120000"/>
              </a:lnSpc>
            </a:pPr>
            <a:r>
              <a:rPr lang="zh-CN" altLang="en-US" sz="1600" dirty="0"/>
              <a:t>每个阶段结束前的技术审查和管理复审中，也应着重对可维护性进行复审。</a:t>
            </a:r>
          </a:p>
          <a:p>
            <a:pPr algn="l">
              <a:lnSpc>
                <a:spcPct val="120000"/>
              </a:lnSpc>
            </a:pPr>
            <a:r>
              <a:rPr lang="zh-CN" altLang="en-US" sz="1600" dirty="0"/>
              <a:t>加强软件测试工作，保证软件的质量。</a:t>
            </a:r>
          </a:p>
          <a:p>
            <a:pPr algn="l">
              <a:lnSpc>
                <a:spcPct val="120000"/>
              </a:lnSpc>
            </a:pPr>
            <a:r>
              <a:rPr lang="zh-CN" altLang="en-US" sz="1600" dirty="0"/>
              <a:t>用户要求确保软件质量，如果做不到，软件开发人员就无法生存。</a:t>
            </a:r>
          </a:p>
        </p:txBody>
      </p:sp>
      <p:sp>
        <p:nvSpPr>
          <p:cNvPr id="4" name="文本框 3">
            <a:extLst>
              <a:ext uri="{FF2B5EF4-FFF2-40B4-BE49-F238E27FC236}">
                <a16:creationId xmlns:a16="http://schemas.microsoft.com/office/drawing/2014/main" id="{5F82B5FA-2132-F5BA-130F-D0808C0CD96F}"/>
              </a:ext>
            </a:extLst>
          </p:cNvPr>
          <p:cNvSpPr txBox="1"/>
          <p:nvPr/>
        </p:nvSpPr>
        <p:spPr>
          <a:xfrm>
            <a:off x="6095999" y="2774267"/>
            <a:ext cx="5286375" cy="2727606"/>
          </a:xfrm>
          <a:prstGeom prst="rect">
            <a:avLst/>
          </a:prstGeom>
          <a:noFill/>
        </p:spPr>
        <p:txBody>
          <a:bodyPr wrap="square" rtlCol="0">
            <a:spAutoFit/>
          </a:bodyPr>
          <a:lstStyle/>
          <a:p>
            <a:pPr algn="l">
              <a:lnSpc>
                <a:spcPct val="120000"/>
              </a:lnSpc>
            </a:pPr>
            <a:r>
              <a:rPr lang="zh-CN" altLang="en-US" sz="1600" dirty="0"/>
              <a:t>软件文档应满足下述要求：</a:t>
            </a:r>
          </a:p>
          <a:p>
            <a:pPr algn="l">
              <a:lnSpc>
                <a:spcPct val="120000"/>
              </a:lnSpc>
            </a:pPr>
            <a:r>
              <a:rPr lang="en-US" altLang="zh-CN" sz="1600" dirty="0"/>
              <a:t>1. </a:t>
            </a:r>
            <a:r>
              <a:rPr lang="zh-CN" altLang="en-US" sz="1600" dirty="0"/>
              <a:t>描述如何使用系统，没有这种描述，系统将无法使用</a:t>
            </a:r>
          </a:p>
          <a:p>
            <a:pPr algn="l">
              <a:lnSpc>
                <a:spcPct val="120000"/>
              </a:lnSpc>
            </a:pPr>
            <a:r>
              <a:rPr lang="en-US" altLang="zh-CN" sz="1600" dirty="0"/>
              <a:t>2. </a:t>
            </a:r>
            <a:r>
              <a:rPr lang="zh-CN" altLang="en-US" sz="1600" dirty="0"/>
              <a:t>描述怎样安装和管理系统</a:t>
            </a:r>
          </a:p>
          <a:p>
            <a:pPr algn="l">
              <a:lnSpc>
                <a:spcPct val="120000"/>
              </a:lnSpc>
            </a:pPr>
            <a:r>
              <a:rPr lang="en-US" altLang="zh-CN" sz="1600" dirty="0"/>
              <a:t>3. </a:t>
            </a:r>
            <a:r>
              <a:rPr lang="zh-CN" altLang="en-US" sz="1600" dirty="0"/>
              <a:t>描述系统需求和设计</a:t>
            </a:r>
          </a:p>
          <a:p>
            <a:pPr algn="l">
              <a:lnSpc>
                <a:spcPct val="120000"/>
              </a:lnSpc>
            </a:pPr>
            <a:r>
              <a:rPr lang="en-US" altLang="zh-CN" sz="1600" dirty="0"/>
              <a:t>4. </a:t>
            </a:r>
            <a:r>
              <a:rPr lang="zh-CN" altLang="en-US" sz="1600" dirty="0"/>
              <a:t>描述系统的实现和测试</a:t>
            </a:r>
          </a:p>
          <a:p>
            <a:pPr algn="l">
              <a:lnSpc>
                <a:spcPct val="120000"/>
              </a:lnSpc>
            </a:pPr>
            <a:r>
              <a:rPr lang="zh-CN" altLang="en-US" sz="1600" dirty="0"/>
              <a:t>软件工程生存周期每个阶段的技术复审和管理复审中，应对文档进行检查，对可维护性进行复审</a:t>
            </a:r>
          </a:p>
          <a:p>
            <a:pPr algn="l">
              <a:lnSpc>
                <a:spcPct val="120000"/>
              </a:lnSpc>
            </a:pPr>
            <a:r>
              <a:rPr lang="zh-CN" altLang="en-US" sz="1600" dirty="0"/>
              <a:t>在维护阶段，利用历史文档可大大简化维护工作。历史文档有</a:t>
            </a:r>
            <a:r>
              <a:rPr lang="en-US" altLang="zh-CN" sz="1600" dirty="0"/>
              <a:t>3</a:t>
            </a:r>
            <a:r>
              <a:rPr lang="zh-CN" altLang="en-US" sz="1600" dirty="0"/>
              <a:t>种：系统开发文档、错误记录和系统维护文档</a:t>
            </a:r>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r>
              <a:rPr lang="en-US" altLang="zh-CN" dirty="0"/>
              <a:t>1</a:t>
            </a:r>
            <a:endParaRPr lang="zh-CN" altLang="en-US" dirty="0"/>
          </a:p>
        </p:txBody>
      </p:sp>
      <p:sp>
        <p:nvSpPr>
          <p:cNvPr id="2" name="椭圆 1"/>
          <p:cNvSpPr/>
          <p:nvPr/>
        </p:nvSpPr>
        <p:spPr>
          <a:xfrm>
            <a:off x="3428455" y="2169500"/>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3766951" y="2565770"/>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sp>
        <p:nvSpPr>
          <p:cNvPr id="40" name="文本框 39"/>
          <p:cNvSpPr txBox="1"/>
          <p:nvPr/>
        </p:nvSpPr>
        <p:spPr>
          <a:xfrm>
            <a:off x="6006555" y="2913198"/>
            <a:ext cx="5137150" cy="83099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软件重用和再工程</a:t>
            </a:r>
          </a:p>
        </p:txBody>
      </p:sp>
      <p:sp>
        <p:nvSpPr>
          <p:cNvPr id="48" name="文本框 47"/>
          <p:cNvSpPr txBox="1"/>
          <p:nvPr/>
        </p:nvSpPr>
        <p:spPr>
          <a:xfrm>
            <a:off x="6006465" y="4170174"/>
            <a:ext cx="1800000" cy="40011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i="0" u="none" strike="noStrike" kern="1200" cap="none" spc="0" normalizeH="0" noProof="0" dirty="0">
                <a:ln>
                  <a:noFill/>
                </a:ln>
                <a:effectLst/>
                <a:uLnTx/>
                <a:uFillTx/>
                <a:latin typeface="+mj-lt"/>
                <a:ea typeface="+mj-ea"/>
                <a:cs typeface="+mn-cs"/>
              </a:rPr>
              <a:t>软件的重用</a:t>
            </a:r>
          </a:p>
        </p:txBody>
      </p:sp>
      <p:sp>
        <p:nvSpPr>
          <p:cNvPr id="50" name="文本框 49"/>
          <p:cNvSpPr txBox="1"/>
          <p:nvPr/>
        </p:nvSpPr>
        <p:spPr>
          <a:xfrm>
            <a:off x="6006465" y="4654297"/>
            <a:ext cx="2088000" cy="400110"/>
          </a:xfrm>
          <a:prstGeom prst="rect">
            <a:avLst/>
          </a:prstGeom>
          <a:noFill/>
        </p:spPr>
        <p:txBody>
          <a:bodyPr wrap="square">
            <a:spAutoFit/>
          </a:bodyPr>
          <a:lstStyle/>
          <a:p>
            <a:pPr marL="342900" indent="-342900">
              <a:buFont typeface="Arial" panose="020B0604020202020204" pitchFamily="34" charset="0"/>
              <a:buChar char="•"/>
              <a:defRPr/>
            </a:pPr>
            <a:r>
              <a:rPr lang="zh-CN" altLang="en-US" sz="2000" dirty="0">
                <a:latin typeface="+mj-lt"/>
                <a:ea typeface="+mj-ea"/>
              </a:rPr>
              <a:t>软件逆向工程</a:t>
            </a:r>
          </a:p>
        </p:txBody>
      </p:sp>
      <p:sp>
        <p:nvSpPr>
          <p:cNvPr id="5" name="文本框 4"/>
          <p:cNvSpPr txBox="1"/>
          <p:nvPr/>
        </p:nvSpPr>
        <p:spPr>
          <a:xfrm>
            <a:off x="6006465" y="5138420"/>
            <a:ext cx="2088000" cy="400110"/>
          </a:xfrm>
          <a:prstGeom prst="rect">
            <a:avLst/>
          </a:prstGeom>
          <a:noFill/>
        </p:spPr>
        <p:txBody>
          <a:bodyPr wrap="square">
            <a:spAutoFit/>
          </a:bodyPr>
          <a:lstStyle/>
          <a:p>
            <a:pPr marL="342900" indent="-342900">
              <a:buFont typeface="Arial" panose="020B0604020202020204" pitchFamily="34" charset="0"/>
              <a:buChar char="•"/>
              <a:defRPr/>
            </a:pPr>
            <a:r>
              <a:rPr lang="zh-CN" altLang="en-US" sz="2000" dirty="0">
                <a:latin typeface="+mj-lt"/>
                <a:ea typeface="+mj-ea"/>
              </a:rPr>
              <a:t>软件再工程</a:t>
            </a:r>
          </a:p>
        </p:txBody>
      </p:sp>
      <p:sp>
        <p:nvSpPr>
          <p:cNvPr id="6" name="文本框 5"/>
          <p:cNvSpPr txBox="1"/>
          <p:nvPr/>
        </p:nvSpPr>
        <p:spPr>
          <a:xfrm>
            <a:off x="8426824" y="3944888"/>
            <a:ext cx="3168000" cy="338554"/>
          </a:xfrm>
          <a:prstGeom prst="rect">
            <a:avLst/>
          </a:prstGeom>
          <a:noFill/>
        </p:spPr>
        <p:txBody>
          <a:bodyPr wrap="square">
            <a:spAutoFit/>
          </a:bodyPr>
          <a:lstStyle/>
          <a:p>
            <a:pPr lvl="0">
              <a:defRPr/>
            </a:pPr>
            <a:r>
              <a:rPr lang="zh-CN" altLang="en-US" sz="1600" dirty="0">
                <a:latin typeface="+mj-lt"/>
                <a:ea typeface="+mj-ea"/>
              </a:rPr>
              <a:t>软件重用过程模型</a:t>
            </a:r>
            <a:endParaRPr kumimoji="0" lang="zh-CN" altLang="en-US" sz="1600" i="0" u="none" strike="noStrike" kern="1200" cap="none" spc="0" normalizeH="0" noProof="0" dirty="0">
              <a:ln>
                <a:noFill/>
              </a:ln>
              <a:effectLst/>
              <a:uLnTx/>
              <a:uFillTx/>
              <a:latin typeface="+mj-lt"/>
              <a:ea typeface="+mj-ea"/>
              <a:cs typeface="+mn-cs"/>
            </a:endParaRPr>
          </a:p>
        </p:txBody>
      </p:sp>
      <p:sp>
        <p:nvSpPr>
          <p:cNvPr id="7" name="文本框 6"/>
          <p:cNvSpPr txBox="1"/>
          <p:nvPr/>
        </p:nvSpPr>
        <p:spPr>
          <a:xfrm>
            <a:off x="8426824" y="4457015"/>
            <a:ext cx="3168000" cy="338554"/>
          </a:xfrm>
          <a:prstGeom prst="rect">
            <a:avLst/>
          </a:prstGeom>
          <a:noFill/>
        </p:spPr>
        <p:txBody>
          <a:bodyPr wrap="square">
            <a:spAutoFit/>
          </a:bodyPr>
          <a:lstStyle/>
          <a:p>
            <a:pPr lvl="0">
              <a:defRPr/>
            </a:pPr>
            <a:r>
              <a:rPr lang="zh-CN" altLang="en-US" sz="1600" dirty="0">
                <a:latin typeface="+mj-lt"/>
                <a:ea typeface="+mj-ea"/>
              </a:rPr>
              <a:t>开发可重用的软件构件</a:t>
            </a:r>
            <a:endParaRPr kumimoji="0" lang="zh-CN" altLang="en-US" sz="1600" i="0" u="none" strike="noStrike" kern="1200" cap="none" spc="0" normalizeH="0" noProof="0" dirty="0">
              <a:ln>
                <a:noFill/>
              </a:ln>
              <a:effectLst/>
              <a:uLnTx/>
              <a:uFillTx/>
              <a:latin typeface="+mj-lt"/>
              <a:ea typeface="+mj-ea"/>
              <a:cs typeface="+mn-cs"/>
            </a:endParaRPr>
          </a:p>
        </p:txBody>
      </p:sp>
      <p:cxnSp>
        <p:nvCxnSpPr>
          <p:cNvPr id="4" name="连接符: 肘形 3">
            <a:extLst>
              <a:ext uri="{FF2B5EF4-FFF2-40B4-BE49-F238E27FC236}">
                <a16:creationId xmlns:a16="http://schemas.microsoft.com/office/drawing/2014/main" id="{995318F0-DB7F-90B3-BB07-09C93C1275DD}"/>
              </a:ext>
            </a:extLst>
          </p:cNvPr>
          <p:cNvCxnSpPr>
            <a:stCxn id="6" idx="1"/>
            <a:endCxn id="48" idx="3"/>
          </p:cNvCxnSpPr>
          <p:nvPr/>
        </p:nvCxnSpPr>
        <p:spPr>
          <a:xfrm rot="10800000" flipV="1">
            <a:off x="7806466" y="4114165"/>
            <a:ext cx="620359" cy="256064"/>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连接符: 肘形 10">
            <a:extLst>
              <a:ext uri="{FF2B5EF4-FFF2-40B4-BE49-F238E27FC236}">
                <a16:creationId xmlns:a16="http://schemas.microsoft.com/office/drawing/2014/main" id="{EB33EA21-5E37-BB88-04BA-DF15705BD5BA}"/>
              </a:ext>
            </a:extLst>
          </p:cNvPr>
          <p:cNvCxnSpPr>
            <a:stCxn id="7" idx="1"/>
            <a:endCxn id="48" idx="3"/>
          </p:cNvCxnSpPr>
          <p:nvPr/>
        </p:nvCxnSpPr>
        <p:spPr>
          <a:xfrm rot="10800000">
            <a:off x="7806466" y="4370230"/>
            <a:ext cx="620359" cy="256063"/>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005234D-90AB-423E-6D40-110D2946A790}"/>
              </a:ext>
            </a:extLst>
          </p:cNvPr>
          <p:cNvSpPr txBox="1"/>
          <p:nvPr/>
        </p:nvSpPr>
        <p:spPr>
          <a:xfrm>
            <a:off x="1640633" y="2724538"/>
            <a:ext cx="8910735" cy="1062663"/>
          </a:xfrm>
          <a:prstGeom prst="rect">
            <a:avLst/>
          </a:prstGeom>
          <a:noFill/>
        </p:spPr>
        <p:txBody>
          <a:bodyPr wrap="square" rtlCol="0">
            <a:spAutoFit/>
          </a:bodyPr>
          <a:lstStyle/>
          <a:p>
            <a:pPr algn="l">
              <a:lnSpc>
                <a:spcPct val="120000"/>
              </a:lnSpc>
            </a:pPr>
            <a:r>
              <a:rPr lang="zh-CN" altLang="en-US" dirty="0"/>
              <a:t>在软件开发、维护中采用重用软件构件，一般可以比从头开发这个软件更加容易。软件重用的目的是能更快、更好、成本更低地生产软件制品。各种软件开发过程都能使用重用软件构件，利用面向对象技术，可以方便有效地实现软件重用。</a:t>
            </a:r>
          </a:p>
        </p:txBody>
      </p:sp>
    </p:spTree>
    <p:extLst>
      <p:ext uri="{BB962C8B-B14F-4D97-AF65-F5344CB8AC3E}">
        <p14:creationId xmlns:p14="http://schemas.microsoft.com/office/powerpoint/2010/main" val="25254557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6" name="矩形 5"/>
          <p:cNvSpPr/>
          <p:nvPr/>
        </p:nvSpPr>
        <p:spPr>
          <a:xfrm>
            <a:off x="0" y="2160000"/>
            <a:ext cx="12192000" cy="3456000"/>
          </a:xfrm>
          <a:prstGeom prst="rect">
            <a:avLst/>
          </a:prstGeom>
          <a:solidFill>
            <a:srgbClr val="00808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6">
            <a:extLst>
              <a:ext uri="{FF2B5EF4-FFF2-40B4-BE49-F238E27FC236}">
                <a16:creationId xmlns:a16="http://schemas.microsoft.com/office/drawing/2014/main" id="{C6368B45-6A83-7543-7697-B6DBD0E6C0FA}"/>
              </a:ext>
            </a:extLst>
          </p:cNvPr>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a:solidFill>
                  <a:schemeClr val="tx1"/>
                </a:solidFill>
              </a:rPr>
              <a:t>软件重用 </a:t>
            </a:r>
            <a:r>
              <a:rPr lang="en-US" sz="2400" dirty="0">
                <a:solidFill>
                  <a:schemeClr val="tx1"/>
                </a:solidFill>
              </a:rPr>
              <a:t>Software Reuse</a:t>
            </a:r>
          </a:p>
        </p:txBody>
      </p:sp>
      <p:sp>
        <p:nvSpPr>
          <p:cNvPr id="5" name="文本框 4">
            <a:extLst>
              <a:ext uri="{FF2B5EF4-FFF2-40B4-BE49-F238E27FC236}">
                <a16:creationId xmlns:a16="http://schemas.microsoft.com/office/drawing/2014/main" id="{B5E9FB24-3719-4302-E018-E9D5E6BB2AD1}"/>
              </a:ext>
            </a:extLst>
          </p:cNvPr>
          <p:cNvSpPr txBox="1"/>
          <p:nvPr/>
        </p:nvSpPr>
        <p:spPr>
          <a:xfrm>
            <a:off x="809625" y="2593492"/>
            <a:ext cx="7056081" cy="2392258"/>
          </a:xfrm>
          <a:prstGeom prst="rect">
            <a:avLst/>
          </a:prstGeom>
          <a:noFill/>
        </p:spPr>
        <p:txBody>
          <a:bodyPr wrap="square" rtlCol="0">
            <a:spAutoFit/>
          </a:bodyPr>
          <a:lstStyle/>
          <a:p>
            <a:pPr>
              <a:lnSpc>
                <a:spcPct val="120000"/>
              </a:lnSpc>
            </a:pPr>
            <a:r>
              <a:rPr lang="zh-CN" altLang="en-US" dirty="0">
                <a:solidFill>
                  <a:schemeClr val="bg1"/>
                </a:solidFill>
              </a:rPr>
              <a:t>软件重用：指在软件开发、维护过程中不作修改或稍加修改就可以重复使用相同或相似的软件元素的过程。</a:t>
            </a:r>
            <a:endParaRPr lang="en-US" altLang="zh-CN" dirty="0">
              <a:solidFill>
                <a:schemeClr val="bg1"/>
              </a:solidFill>
            </a:endParaRPr>
          </a:p>
          <a:p>
            <a:pPr>
              <a:lnSpc>
                <a:spcPct val="120000"/>
              </a:lnSpc>
            </a:pPr>
            <a:r>
              <a:rPr lang="zh-CN" altLang="en-US" dirty="0">
                <a:solidFill>
                  <a:schemeClr val="bg1"/>
                </a:solidFill>
              </a:rPr>
              <a:t>这些软件元素包括应用领域知识、开发经验、设计经验、体系结构、需求分析文档、设计文档、程序代码和测试用例等。</a:t>
            </a:r>
            <a:endParaRPr lang="en-US" altLang="zh-CN" dirty="0">
              <a:solidFill>
                <a:schemeClr val="bg1"/>
              </a:solidFill>
            </a:endParaRPr>
          </a:p>
          <a:p>
            <a:pPr>
              <a:lnSpc>
                <a:spcPct val="120000"/>
              </a:lnSpc>
            </a:pPr>
            <a:r>
              <a:rPr lang="zh-CN" altLang="en-US" dirty="0">
                <a:solidFill>
                  <a:schemeClr val="bg1"/>
                </a:solidFill>
              </a:rPr>
              <a:t>对于新的软件开发项目而言，它们是构成整个软件系统的部件，或者在软件开发过程中可发挥某种作用。</a:t>
            </a:r>
            <a:endParaRPr lang="en-US" altLang="zh-CN" dirty="0">
              <a:solidFill>
                <a:schemeClr val="bg1"/>
              </a:solidFill>
            </a:endParaRPr>
          </a:p>
          <a:p>
            <a:pPr>
              <a:lnSpc>
                <a:spcPct val="120000"/>
              </a:lnSpc>
            </a:pPr>
            <a:r>
              <a:rPr lang="zh-CN" altLang="en-US" dirty="0">
                <a:solidFill>
                  <a:schemeClr val="bg1"/>
                </a:solidFill>
              </a:rPr>
              <a:t>通常把这些软件元素称为软件构件。</a:t>
            </a:r>
          </a:p>
        </p:txBody>
      </p:sp>
      <p:pic>
        <p:nvPicPr>
          <p:cNvPr id="8" name="图片 7" descr="A000220150318R99PPIC">
            <a:extLst>
              <a:ext uri="{FF2B5EF4-FFF2-40B4-BE49-F238E27FC236}">
                <a16:creationId xmlns:a16="http://schemas.microsoft.com/office/drawing/2014/main" id="{BE4B83B6-E987-D32B-61F7-B737DC26B45E}"/>
              </a:ext>
            </a:extLst>
          </p:cNvPr>
          <p:cNvPicPr>
            <a:picLocks noChangeAspect="1"/>
          </p:cNvPicPr>
          <p:nvPr/>
        </p:nvPicPr>
        <p:blipFill>
          <a:blip r:embed="rId4" cstate="print"/>
          <a:stretch>
            <a:fillRect/>
          </a:stretch>
        </p:blipFill>
        <p:spPr>
          <a:xfrm>
            <a:off x="8169910" y="2329815"/>
            <a:ext cx="3915410" cy="3148330"/>
          </a:xfrm>
          <a:prstGeom prst="rect">
            <a:avLst/>
          </a:prstGeom>
        </p:spPr>
      </p:pic>
    </p:spTree>
    <p:custDataLst>
      <p:tags r:id="rId1"/>
    </p:custDataLst>
  </p:cSld>
  <p:clrMapOvr>
    <a:masterClrMapping/>
  </p:clrMapOvr>
  <p:transition>
    <p:wheel spokes="3"/>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软件重用和再工程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19" name="MH_SubTitle_1"/>
          <p:cNvSpPr/>
          <p:nvPr>
            <p:custDataLst>
              <p:tags r:id="rId2"/>
            </p:custDataLst>
          </p:nvPr>
        </p:nvSpPr>
        <p:spPr bwMode="auto">
          <a:xfrm>
            <a:off x="1143570" y="2935437"/>
            <a:ext cx="1398016" cy="1818107"/>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0" name="MH_SubTitle_3"/>
          <p:cNvSpPr/>
          <p:nvPr>
            <p:custDataLst>
              <p:tags r:id="rId3"/>
            </p:custDataLst>
          </p:nvPr>
        </p:nvSpPr>
        <p:spPr bwMode="auto">
          <a:xfrm>
            <a:off x="1383868" y="4551117"/>
            <a:ext cx="2246361" cy="80657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1" name="MH_Other_1"/>
          <p:cNvSpPr/>
          <p:nvPr>
            <p:custDataLst>
              <p:tags r:id="rId4"/>
            </p:custDataLst>
          </p:nvPr>
        </p:nvSpPr>
        <p:spPr bwMode="auto">
          <a:xfrm>
            <a:off x="2424193" y="2935842"/>
            <a:ext cx="1352292" cy="1764217"/>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6">
              <a:lumMod val="40000"/>
              <a:lumOff val="6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2" name="MH_Title_1"/>
          <p:cNvSpPr/>
          <p:nvPr>
            <p:custDataLst>
              <p:tags r:id="rId5"/>
            </p:custDataLst>
          </p:nvPr>
        </p:nvSpPr>
        <p:spPr>
          <a:xfrm>
            <a:off x="1666975" y="3428275"/>
            <a:ext cx="1601346" cy="1454132"/>
          </a:xfrm>
          <a:prstGeom prst="ellipse">
            <a:avLst/>
          </a:prstGeom>
          <a:solidFill>
            <a:schemeClr val="accent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92500" lnSpcReduction="10000"/>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软件</a:t>
            </a:r>
          </a:p>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重用</a:t>
            </a:r>
          </a:p>
        </p:txBody>
      </p:sp>
      <p:sp>
        <p:nvSpPr>
          <p:cNvPr id="23" name="MH_Other_2"/>
          <p:cNvSpPr/>
          <p:nvPr>
            <p:custDataLst>
              <p:tags r:id="rId6"/>
            </p:custDataLst>
          </p:nvPr>
        </p:nvSpPr>
        <p:spPr>
          <a:xfrm rot="10873167">
            <a:off x="1400269" y="3186088"/>
            <a:ext cx="2134756" cy="19385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软件成分的重用</a:t>
            </a:r>
          </a:p>
        </p:txBody>
      </p:sp>
      <p:sp>
        <p:nvSpPr>
          <p:cNvPr id="17" name="MH_SubTitle_2"/>
          <p:cNvSpPr/>
          <p:nvPr>
            <p:custDataLst>
              <p:tags r:id="rId7"/>
            </p:custDataLst>
          </p:nvPr>
        </p:nvSpPr>
        <p:spPr>
          <a:xfrm rot="3673167">
            <a:off x="950885" y="3057150"/>
            <a:ext cx="2682690" cy="2512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a:solidFill>
                  <a:schemeClr val="tx1"/>
                </a:solidFill>
                <a:latin typeface="微软雅黑" panose="020B0503020204020204" charset="-122"/>
                <a:ea typeface="微软雅黑" panose="020B0503020204020204" charset="-122"/>
              </a:rPr>
              <a:t>知识重用</a:t>
            </a:r>
          </a:p>
        </p:txBody>
      </p:sp>
      <p:sp>
        <p:nvSpPr>
          <p:cNvPr id="18" name="MH_Other_3"/>
          <p:cNvSpPr/>
          <p:nvPr>
            <p:custDataLst>
              <p:tags r:id="rId8"/>
            </p:custDataLst>
          </p:nvPr>
        </p:nvSpPr>
        <p:spPr>
          <a:xfrm rot="18073167">
            <a:off x="1301223" y="3284196"/>
            <a:ext cx="1748964" cy="1515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方法和标准重用</a:t>
            </a:r>
          </a:p>
        </p:txBody>
      </p:sp>
      <p:sp>
        <p:nvSpPr>
          <p:cNvPr id="8" name="任意多边形 7"/>
          <p:cNvSpPr/>
          <p:nvPr/>
        </p:nvSpPr>
        <p:spPr>
          <a:xfrm flipH="1">
            <a:off x="3393336" y="2567772"/>
            <a:ext cx="8001000" cy="71437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MH_SubTitle_1"/>
          <p:cNvSpPr/>
          <p:nvPr>
            <p:custDataLst>
              <p:tags r:id="rId9"/>
            </p:custDataLst>
          </p:nvPr>
        </p:nvSpPr>
        <p:spPr>
          <a:xfrm>
            <a:off x="4291226" y="2750652"/>
            <a:ext cx="3356610" cy="527050"/>
          </a:xfrm>
          <a:prstGeom prst="rect">
            <a:avLst/>
          </a:prstGeom>
          <a:solidFill>
            <a:schemeClr val="accent6"/>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知识重用</a:t>
            </a:r>
          </a:p>
        </p:txBody>
      </p:sp>
      <p:sp>
        <p:nvSpPr>
          <p:cNvPr id="15" name="MH_Other_1"/>
          <p:cNvSpPr/>
          <p:nvPr>
            <p:custDataLst>
              <p:tags r:id="rId10"/>
            </p:custDataLst>
          </p:nvPr>
        </p:nvSpPr>
        <p:spPr>
          <a:xfrm>
            <a:off x="4038496" y="2746842"/>
            <a:ext cx="574012" cy="535305"/>
          </a:xfrm>
          <a:prstGeom prst="ellipse">
            <a:avLst/>
          </a:prstGeom>
          <a:solidFill>
            <a:srgbClr val="FFFFFF"/>
          </a:solidFill>
          <a:ln w="28575" cap="flat" cmpd="sng" algn="ctr">
            <a:solidFill>
              <a:schemeClr val="accent6"/>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6"/>
                </a:solidFill>
                <a:latin typeface="Times New Roman" panose="02020603050405020304" pitchFamily="18" charset="0"/>
                <a:ea typeface="Kozuka Gothic Pr6N B" panose="020B0800000000000000" pitchFamily="34" charset="-128"/>
              </a:rPr>
              <a:t>1</a:t>
            </a:r>
            <a:endParaRPr lang="zh-CN" altLang="en-US" sz="2000" b="1" kern="0" dirty="0">
              <a:solidFill>
                <a:schemeClr val="accent6"/>
              </a:solidFill>
              <a:latin typeface="Times New Roman" panose="02020603050405020304" pitchFamily="18" charset="0"/>
              <a:ea typeface="Kozuka Gothic Pr6N B" panose="020B0800000000000000" pitchFamily="34" charset="-128"/>
            </a:endParaRPr>
          </a:p>
        </p:txBody>
      </p:sp>
      <p:sp>
        <p:nvSpPr>
          <p:cNvPr id="10" name="MH_SubTitle_1"/>
          <p:cNvSpPr txBox="1">
            <a:spLocks noChangeArrowheads="1"/>
          </p:cNvSpPr>
          <p:nvPr>
            <p:custDataLst>
              <p:tags r:id="rId11"/>
            </p:custDataLst>
          </p:nvPr>
        </p:nvSpPr>
        <p:spPr bwMode="auto">
          <a:xfrm flipH="1">
            <a:off x="4291224" y="3612982"/>
            <a:ext cx="7011973" cy="857250"/>
          </a:xfrm>
          <a:prstGeom prst="rect">
            <a:avLst/>
          </a:prstGeom>
          <a:noFill/>
          <a:ln w="9525">
            <a:noFill/>
            <a:miter lim="800000"/>
          </a:ln>
        </p:spPr>
        <p:txBody>
          <a:bodyPr lIns="216000" tIns="34290" rIns="68580" bIns="34290" anchor="ctr"/>
          <a:lstStyle/>
          <a:p>
            <a:pPr>
              <a:lnSpc>
                <a:spcPct val="120000"/>
              </a:lnSpc>
            </a:pPr>
            <a:r>
              <a:rPr lang="zh-CN" altLang="en-US" sz="2000" dirty="0"/>
              <a:t>知识重用是多方面的，例如，软件工程知识，开发经验、设计经验、应用领域知识等的重用。</a:t>
            </a:r>
          </a:p>
        </p:txBody>
      </p:sp>
    </p:spTree>
    <p:custDataLst>
      <p:tags r:id="rId1"/>
    </p:custDataLst>
  </p:cSld>
  <p:clrMapOvr>
    <a:masterClrMapping/>
  </p:clrMapOvr>
  <p:transition>
    <p:wheel spokes="3"/>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软件重用和再工程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19" name="MH_SubTitle_1"/>
          <p:cNvSpPr/>
          <p:nvPr>
            <p:custDataLst>
              <p:tags r:id="rId2"/>
            </p:custDataLst>
          </p:nvPr>
        </p:nvSpPr>
        <p:spPr bwMode="auto">
          <a:xfrm>
            <a:off x="1143571" y="2935437"/>
            <a:ext cx="1398016" cy="1818107"/>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0" name="MH_SubTitle_3"/>
          <p:cNvSpPr/>
          <p:nvPr>
            <p:custDataLst>
              <p:tags r:id="rId3"/>
            </p:custDataLst>
          </p:nvPr>
        </p:nvSpPr>
        <p:spPr bwMode="auto">
          <a:xfrm>
            <a:off x="1383869" y="4551117"/>
            <a:ext cx="2246361" cy="80657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1" name="MH_Other_1"/>
          <p:cNvSpPr/>
          <p:nvPr>
            <p:custDataLst>
              <p:tags r:id="rId4"/>
            </p:custDataLst>
          </p:nvPr>
        </p:nvSpPr>
        <p:spPr bwMode="auto">
          <a:xfrm>
            <a:off x="2424194" y="2935842"/>
            <a:ext cx="1352292" cy="1764217"/>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6">
              <a:lumMod val="40000"/>
              <a:lumOff val="6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2" name="MH_Title_1"/>
          <p:cNvSpPr/>
          <p:nvPr>
            <p:custDataLst>
              <p:tags r:id="rId5"/>
            </p:custDataLst>
          </p:nvPr>
        </p:nvSpPr>
        <p:spPr>
          <a:xfrm>
            <a:off x="1666976" y="3428275"/>
            <a:ext cx="1601346" cy="1454132"/>
          </a:xfrm>
          <a:prstGeom prst="ellipse">
            <a:avLst/>
          </a:prstGeom>
          <a:solidFill>
            <a:schemeClr val="accent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92500" lnSpcReduction="10000"/>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软件</a:t>
            </a:r>
          </a:p>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重用</a:t>
            </a:r>
          </a:p>
        </p:txBody>
      </p:sp>
      <p:sp>
        <p:nvSpPr>
          <p:cNvPr id="23" name="MH_Other_2"/>
          <p:cNvSpPr/>
          <p:nvPr>
            <p:custDataLst>
              <p:tags r:id="rId6"/>
            </p:custDataLst>
          </p:nvPr>
        </p:nvSpPr>
        <p:spPr>
          <a:xfrm rot="10873167">
            <a:off x="1400270" y="3186088"/>
            <a:ext cx="2134756" cy="19385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软件成分的重用</a:t>
            </a:r>
          </a:p>
        </p:txBody>
      </p:sp>
      <p:sp>
        <p:nvSpPr>
          <p:cNvPr id="17" name="MH_SubTitle_2"/>
          <p:cNvSpPr/>
          <p:nvPr>
            <p:custDataLst>
              <p:tags r:id="rId7"/>
            </p:custDataLst>
          </p:nvPr>
        </p:nvSpPr>
        <p:spPr>
          <a:xfrm rot="3673167">
            <a:off x="1186530" y="2983427"/>
            <a:ext cx="2130405" cy="25120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a:solidFill>
                  <a:schemeClr val="tx1"/>
                </a:solidFill>
                <a:latin typeface="微软雅黑" panose="020B0503020204020204" charset="-122"/>
                <a:ea typeface="微软雅黑" panose="020B0503020204020204" charset="-122"/>
              </a:rPr>
              <a:t>方法和标准重用</a:t>
            </a:r>
          </a:p>
        </p:txBody>
      </p:sp>
      <p:sp>
        <p:nvSpPr>
          <p:cNvPr id="18" name="MH_Other_3"/>
          <p:cNvSpPr/>
          <p:nvPr>
            <p:custDataLst>
              <p:tags r:id="rId8"/>
            </p:custDataLst>
          </p:nvPr>
        </p:nvSpPr>
        <p:spPr>
          <a:xfrm rot="18073167">
            <a:off x="1076221" y="3284688"/>
            <a:ext cx="2198371" cy="1515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知识重用</a:t>
            </a:r>
          </a:p>
        </p:txBody>
      </p:sp>
      <p:sp>
        <p:nvSpPr>
          <p:cNvPr id="8" name="任意多边形 7"/>
          <p:cNvSpPr/>
          <p:nvPr/>
        </p:nvSpPr>
        <p:spPr>
          <a:xfrm flipH="1">
            <a:off x="3393336" y="2567772"/>
            <a:ext cx="8001000" cy="71437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MH_SubTitle_1"/>
          <p:cNvSpPr/>
          <p:nvPr>
            <p:custDataLst>
              <p:tags r:id="rId9"/>
            </p:custDataLst>
          </p:nvPr>
        </p:nvSpPr>
        <p:spPr>
          <a:xfrm>
            <a:off x="4291226" y="2750652"/>
            <a:ext cx="3356610" cy="527050"/>
          </a:xfrm>
          <a:prstGeom prst="rect">
            <a:avLst/>
          </a:prstGeom>
          <a:solidFill>
            <a:schemeClr val="accent6"/>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方法和标准重用</a:t>
            </a:r>
          </a:p>
        </p:txBody>
      </p:sp>
      <p:sp>
        <p:nvSpPr>
          <p:cNvPr id="15" name="MH_Other_1"/>
          <p:cNvSpPr/>
          <p:nvPr>
            <p:custDataLst>
              <p:tags r:id="rId10"/>
            </p:custDataLst>
          </p:nvPr>
        </p:nvSpPr>
        <p:spPr>
          <a:xfrm>
            <a:off x="4038496" y="2746842"/>
            <a:ext cx="574012" cy="535305"/>
          </a:xfrm>
          <a:prstGeom prst="ellipse">
            <a:avLst/>
          </a:prstGeom>
          <a:solidFill>
            <a:srgbClr val="FFFFFF"/>
          </a:solidFill>
          <a:ln w="28575" cap="flat" cmpd="sng" algn="ctr">
            <a:solidFill>
              <a:schemeClr val="accent6"/>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6"/>
                </a:solidFill>
                <a:latin typeface="Times New Roman" panose="02020603050405020304" pitchFamily="18" charset="0"/>
                <a:ea typeface="Kozuka Gothic Pr6N B" panose="020B0800000000000000" pitchFamily="34" charset="-128"/>
              </a:rPr>
              <a:t>2</a:t>
            </a:r>
            <a:endParaRPr lang="zh-CN" altLang="en-US" sz="2000" b="1" kern="0" dirty="0">
              <a:solidFill>
                <a:schemeClr val="accent6"/>
              </a:solidFill>
              <a:latin typeface="Times New Roman" panose="02020603050405020304" pitchFamily="18" charset="0"/>
              <a:ea typeface="Kozuka Gothic Pr6N B" panose="020B0800000000000000" pitchFamily="34" charset="-128"/>
            </a:endParaRPr>
          </a:p>
        </p:txBody>
      </p:sp>
      <p:sp>
        <p:nvSpPr>
          <p:cNvPr id="10" name="MH_SubTitle_1"/>
          <p:cNvSpPr txBox="1">
            <a:spLocks noChangeArrowheads="1"/>
          </p:cNvSpPr>
          <p:nvPr>
            <p:custDataLst>
              <p:tags r:id="rId11"/>
            </p:custDataLst>
          </p:nvPr>
        </p:nvSpPr>
        <p:spPr bwMode="auto">
          <a:xfrm flipH="1">
            <a:off x="4291224" y="3283259"/>
            <a:ext cx="7011973" cy="1516697"/>
          </a:xfrm>
          <a:prstGeom prst="rect">
            <a:avLst/>
          </a:prstGeom>
          <a:noFill/>
          <a:ln w="9525">
            <a:noFill/>
            <a:miter lim="800000"/>
          </a:ln>
        </p:spPr>
        <p:txBody>
          <a:bodyPr lIns="216000" tIns="34290" rIns="68580" bIns="34290" anchor="ctr">
            <a:spAutoFit/>
          </a:bodyPr>
          <a:lstStyle/>
          <a:p>
            <a:pPr>
              <a:lnSpc>
                <a:spcPct val="120000"/>
              </a:lnSpc>
            </a:pPr>
            <a:r>
              <a:rPr lang="zh-CN" altLang="en-US" sz="2000" dirty="0"/>
              <a:t>方法和标准的重用包括：</a:t>
            </a:r>
            <a:endParaRPr lang="en-US" altLang="zh-CN" sz="2000" dirty="0"/>
          </a:p>
          <a:p>
            <a:pPr indent="457200">
              <a:lnSpc>
                <a:spcPct val="120000"/>
              </a:lnSpc>
            </a:pPr>
            <a:r>
              <a:rPr lang="zh-CN" altLang="en-US" sz="2000" dirty="0"/>
              <a:t>传统软件工程方法</a:t>
            </a:r>
            <a:endParaRPr lang="en-US" altLang="zh-CN" sz="2000" dirty="0"/>
          </a:p>
          <a:p>
            <a:pPr indent="457200">
              <a:lnSpc>
                <a:spcPct val="120000"/>
              </a:lnSpc>
            </a:pPr>
            <a:r>
              <a:rPr lang="zh-CN" altLang="en-US" sz="2000" dirty="0"/>
              <a:t>面向对象方法</a:t>
            </a:r>
            <a:endParaRPr lang="en-US" altLang="zh-CN" sz="2000" dirty="0"/>
          </a:p>
          <a:p>
            <a:pPr indent="457200">
              <a:lnSpc>
                <a:spcPct val="120000"/>
              </a:lnSpc>
            </a:pPr>
            <a:r>
              <a:rPr lang="zh-CN" altLang="en-US" sz="2000" dirty="0"/>
              <a:t>有关软件开发的国家标准和国际标准的重用</a:t>
            </a:r>
          </a:p>
        </p:txBody>
      </p:sp>
    </p:spTree>
    <p:custDataLst>
      <p:tags r:id="rId1"/>
    </p:custDataLst>
  </p:cSld>
  <p:clrMapOvr>
    <a:masterClrMapping/>
  </p:clrMapOvr>
  <p:transition>
    <p:wheel spokes="3"/>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软件重用和再工程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19" name="MH_SubTitle_1"/>
          <p:cNvSpPr/>
          <p:nvPr>
            <p:custDataLst>
              <p:tags r:id="rId2"/>
            </p:custDataLst>
          </p:nvPr>
        </p:nvSpPr>
        <p:spPr bwMode="auto">
          <a:xfrm>
            <a:off x="1143570" y="2935437"/>
            <a:ext cx="1398016" cy="1818107"/>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0" name="MH_SubTitle_3"/>
          <p:cNvSpPr/>
          <p:nvPr>
            <p:custDataLst>
              <p:tags r:id="rId3"/>
            </p:custDataLst>
          </p:nvPr>
        </p:nvSpPr>
        <p:spPr bwMode="auto">
          <a:xfrm>
            <a:off x="1383868" y="4551117"/>
            <a:ext cx="2246361" cy="80657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1" name="MH_Other_1"/>
          <p:cNvSpPr/>
          <p:nvPr>
            <p:custDataLst>
              <p:tags r:id="rId4"/>
            </p:custDataLst>
          </p:nvPr>
        </p:nvSpPr>
        <p:spPr bwMode="auto">
          <a:xfrm>
            <a:off x="2424193" y="2935842"/>
            <a:ext cx="1352292" cy="1764217"/>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6">
              <a:lumMod val="40000"/>
              <a:lumOff val="6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2" name="MH_Title_1"/>
          <p:cNvSpPr/>
          <p:nvPr>
            <p:custDataLst>
              <p:tags r:id="rId5"/>
            </p:custDataLst>
          </p:nvPr>
        </p:nvSpPr>
        <p:spPr>
          <a:xfrm>
            <a:off x="1666975" y="3428275"/>
            <a:ext cx="1601346" cy="1454132"/>
          </a:xfrm>
          <a:prstGeom prst="ellipse">
            <a:avLst/>
          </a:prstGeom>
          <a:solidFill>
            <a:schemeClr val="accent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92500" lnSpcReduction="10000"/>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软件</a:t>
            </a:r>
          </a:p>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重用</a:t>
            </a:r>
          </a:p>
        </p:txBody>
      </p:sp>
      <p:sp>
        <p:nvSpPr>
          <p:cNvPr id="23" name="MH_Other_2"/>
          <p:cNvSpPr/>
          <p:nvPr>
            <p:custDataLst>
              <p:tags r:id="rId6"/>
            </p:custDataLst>
          </p:nvPr>
        </p:nvSpPr>
        <p:spPr>
          <a:xfrm rot="10873167">
            <a:off x="1400269" y="3186088"/>
            <a:ext cx="2134756" cy="19385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知识重用</a:t>
            </a:r>
          </a:p>
        </p:txBody>
      </p:sp>
      <p:sp>
        <p:nvSpPr>
          <p:cNvPr id="17" name="MH_SubTitle_2"/>
          <p:cNvSpPr/>
          <p:nvPr>
            <p:custDataLst>
              <p:tags r:id="rId7"/>
            </p:custDataLst>
          </p:nvPr>
        </p:nvSpPr>
        <p:spPr>
          <a:xfrm rot="3673167">
            <a:off x="1166664" y="3040751"/>
            <a:ext cx="2271555" cy="25120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9745372"/>
              </a:avLst>
            </a:prstTxWarp>
            <a:normAutofit/>
          </a:bodyPr>
          <a:lstStyle/>
          <a:p>
            <a:pPr algn="ctr">
              <a:defRPr/>
            </a:pPr>
            <a:r>
              <a:rPr lang="zh-CN" altLang="en-US" sz="2000" b="1" dirty="0">
                <a:solidFill>
                  <a:schemeClr val="tx1"/>
                </a:solidFill>
                <a:latin typeface="微软雅黑" panose="020B0503020204020204" charset="-122"/>
                <a:ea typeface="微软雅黑" panose="020B0503020204020204" charset="-122"/>
              </a:rPr>
              <a:t>软件成分的重用</a:t>
            </a:r>
          </a:p>
        </p:txBody>
      </p:sp>
      <p:sp>
        <p:nvSpPr>
          <p:cNvPr id="18" name="MH_Other_3"/>
          <p:cNvSpPr/>
          <p:nvPr>
            <p:custDataLst>
              <p:tags r:id="rId8"/>
            </p:custDataLst>
          </p:nvPr>
        </p:nvSpPr>
        <p:spPr>
          <a:xfrm rot="18073167">
            <a:off x="1186069" y="3328202"/>
            <a:ext cx="1968936" cy="1515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38535"/>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方法和标准重用</a:t>
            </a:r>
          </a:p>
        </p:txBody>
      </p:sp>
      <p:sp>
        <p:nvSpPr>
          <p:cNvPr id="8" name="任意多边形 7"/>
          <p:cNvSpPr/>
          <p:nvPr/>
        </p:nvSpPr>
        <p:spPr>
          <a:xfrm flipH="1">
            <a:off x="3393336" y="2567772"/>
            <a:ext cx="8001000" cy="71437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MH_SubTitle_1"/>
          <p:cNvSpPr/>
          <p:nvPr>
            <p:custDataLst>
              <p:tags r:id="rId9"/>
            </p:custDataLst>
          </p:nvPr>
        </p:nvSpPr>
        <p:spPr>
          <a:xfrm>
            <a:off x="4291224" y="2750652"/>
            <a:ext cx="3356610" cy="527050"/>
          </a:xfrm>
          <a:prstGeom prst="rect">
            <a:avLst/>
          </a:prstGeom>
          <a:solidFill>
            <a:schemeClr val="accent6"/>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软件成分的重用</a:t>
            </a:r>
          </a:p>
        </p:txBody>
      </p:sp>
      <p:sp>
        <p:nvSpPr>
          <p:cNvPr id="15" name="MH_Other_1"/>
          <p:cNvSpPr/>
          <p:nvPr>
            <p:custDataLst>
              <p:tags r:id="rId10"/>
            </p:custDataLst>
          </p:nvPr>
        </p:nvSpPr>
        <p:spPr>
          <a:xfrm>
            <a:off x="4038496" y="2746842"/>
            <a:ext cx="574012" cy="535305"/>
          </a:xfrm>
          <a:prstGeom prst="ellipse">
            <a:avLst/>
          </a:prstGeom>
          <a:solidFill>
            <a:srgbClr val="FFFFFF"/>
          </a:solidFill>
          <a:ln w="28575" cap="flat" cmpd="sng" algn="ctr">
            <a:solidFill>
              <a:schemeClr val="accent6"/>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6"/>
                </a:solidFill>
                <a:latin typeface="Times New Roman" panose="02020603050405020304" pitchFamily="18" charset="0"/>
                <a:ea typeface="Kozuka Gothic Pr6N B" panose="020B0800000000000000" pitchFamily="34" charset="-128"/>
              </a:rPr>
              <a:t>3</a:t>
            </a:r>
            <a:endParaRPr lang="zh-CN" altLang="en-US" sz="2000" b="1" kern="0" dirty="0">
              <a:solidFill>
                <a:schemeClr val="accent6"/>
              </a:solidFill>
              <a:latin typeface="Times New Roman" panose="02020603050405020304" pitchFamily="18" charset="0"/>
              <a:ea typeface="Kozuka Gothic Pr6N B" panose="020B0800000000000000" pitchFamily="34" charset="-128"/>
            </a:endParaRPr>
          </a:p>
        </p:txBody>
      </p:sp>
      <p:sp>
        <p:nvSpPr>
          <p:cNvPr id="10" name="MH_SubTitle_1"/>
          <p:cNvSpPr txBox="1">
            <a:spLocks noChangeArrowheads="1"/>
          </p:cNvSpPr>
          <p:nvPr>
            <p:custDataLst>
              <p:tags r:id="rId11"/>
            </p:custDataLst>
          </p:nvPr>
        </p:nvSpPr>
        <p:spPr bwMode="auto">
          <a:xfrm flipH="1">
            <a:off x="4291224" y="3267870"/>
            <a:ext cx="7011973" cy="1547475"/>
          </a:xfrm>
          <a:prstGeom prst="rect">
            <a:avLst/>
          </a:prstGeom>
          <a:noFill/>
          <a:ln w="9525">
            <a:noFill/>
            <a:miter lim="800000"/>
          </a:ln>
        </p:spPr>
        <p:txBody>
          <a:bodyPr lIns="216000" tIns="34290" rIns="68580" bIns="34290" anchor="ctr">
            <a:spAutoFit/>
          </a:bodyPr>
          <a:lstStyle/>
          <a:p>
            <a:pPr>
              <a:lnSpc>
                <a:spcPct val="120000"/>
              </a:lnSpc>
            </a:pPr>
            <a:r>
              <a:rPr lang="zh-CN" altLang="en-US" sz="2000" dirty="0"/>
              <a:t>软件成分的重用可分为3个级别：</a:t>
            </a:r>
            <a:endParaRPr lang="en-US" altLang="zh-CN" sz="2000" dirty="0"/>
          </a:p>
          <a:p>
            <a:pPr indent="457200">
              <a:lnSpc>
                <a:spcPct val="120000"/>
              </a:lnSpc>
            </a:pPr>
            <a:r>
              <a:rPr lang="zh-CN" altLang="en-US" sz="2000" dirty="0"/>
              <a:t>源代码重用</a:t>
            </a:r>
            <a:endParaRPr lang="en-US" altLang="zh-CN" sz="2000" dirty="0"/>
          </a:p>
          <a:p>
            <a:pPr indent="457200">
              <a:lnSpc>
                <a:spcPct val="120000"/>
              </a:lnSpc>
            </a:pPr>
            <a:r>
              <a:rPr lang="zh-CN" altLang="en-US" sz="2000" dirty="0"/>
              <a:t>设计结果重用</a:t>
            </a:r>
            <a:endParaRPr lang="en-US" altLang="zh-CN" sz="2000" dirty="0"/>
          </a:p>
          <a:p>
            <a:pPr indent="457200">
              <a:lnSpc>
                <a:spcPct val="120000"/>
              </a:lnSpc>
            </a:pPr>
            <a:r>
              <a:rPr lang="zh-CN" altLang="en-US" sz="2000" dirty="0"/>
              <a:t>规格说明重用</a:t>
            </a: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27" name="MH_Text_1"/>
          <p:cNvSpPr/>
          <p:nvPr>
            <p:custDataLst>
              <p:tags r:id="rId2"/>
            </p:custDataLst>
          </p:nvPr>
        </p:nvSpPr>
        <p:spPr bwMode="auto">
          <a:xfrm>
            <a:off x="2429285" y="3240000"/>
            <a:ext cx="9498563" cy="1635128"/>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a:spAutoFit/>
          </a:bodyPr>
          <a:lstStyle/>
          <a:p>
            <a:pPr indent="457200">
              <a:lnSpc>
                <a:spcPct val="120000"/>
              </a:lnSpc>
              <a:defRPr/>
            </a:pPr>
            <a:r>
              <a:rPr lang="da-DK" altLang="zh-CN" dirty="0">
                <a:solidFill>
                  <a:schemeClr val="tx1"/>
                </a:solidFill>
              </a:rPr>
              <a:t>源代码的剪贴：这种重用存在配置管理问题，无法跟踪代码块的修改重用过程。</a:t>
            </a:r>
          </a:p>
          <a:p>
            <a:pPr indent="457200">
              <a:lnSpc>
                <a:spcPct val="120000"/>
              </a:lnSpc>
              <a:defRPr/>
            </a:pPr>
            <a:r>
              <a:rPr lang="da-DK" altLang="zh-CN" dirty="0">
                <a:solidFill>
                  <a:schemeClr val="tx1"/>
                </a:solidFill>
              </a:rPr>
              <a:t>源代码包含（Include）：许多程序设计语言都提供Include机制，所包含的程序库要经过重新编译，才能运行。</a:t>
            </a:r>
          </a:p>
          <a:p>
            <a:pPr indent="457200">
              <a:lnSpc>
                <a:spcPct val="120000"/>
              </a:lnSpc>
              <a:defRPr/>
            </a:pPr>
            <a:r>
              <a:rPr lang="da-DK" altLang="zh-CN" dirty="0">
                <a:solidFill>
                  <a:schemeClr val="tx1"/>
                </a:solidFill>
              </a:rPr>
              <a:t>继承：利用继承机制重用类库中的类时，不必修改已有代码，就可以扩充类，或找到需要的类。</a:t>
            </a:r>
          </a:p>
        </p:txBody>
      </p:sp>
      <p:sp>
        <p:nvSpPr>
          <p:cNvPr id="35" name="MH_SubTitle_2"/>
          <p:cNvSpPr/>
          <p:nvPr>
            <p:custDataLst>
              <p:tags r:id="rId3"/>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dirty="0">
                <a:solidFill>
                  <a:schemeClr val="bg1"/>
                </a:solidFill>
                <a:latin typeface="微软雅黑" panose="020B0503020204020204" charset="-122"/>
                <a:ea typeface="微软雅黑" panose="020B0503020204020204" charset="-122"/>
              </a:rPr>
              <a:t>源代码重用</a:t>
            </a:r>
          </a:p>
        </p:txBody>
      </p:sp>
      <p:sp>
        <p:nvSpPr>
          <p:cNvPr id="36" name="MH_Other_5"/>
          <p:cNvSpPr/>
          <p:nvPr>
            <p:custDataLst>
              <p:tags r:id="rId4"/>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01</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37" name="MH_Other_6"/>
          <p:cNvSpPr/>
          <p:nvPr>
            <p:custDataLst>
              <p:tags r:id="rId5"/>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nvGrpSpPr>
          <p:cNvPr id="17" name="组合 6"/>
          <p:cNvGrpSpPr/>
          <p:nvPr/>
        </p:nvGrpSpPr>
        <p:grpSpPr>
          <a:xfrm>
            <a:off x="809625" y="1995518"/>
            <a:ext cx="3557659" cy="590550"/>
            <a:chOff x="508000" y="3196191"/>
            <a:chExt cx="3557624" cy="590550"/>
          </a:xfrm>
        </p:grpSpPr>
        <p:sp>
          <p:nvSpPr>
            <p:cNvPr id="18"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9" name="直接连接符 1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0" name="矩形 7"/>
            <p:cNvSpPr>
              <a:spLocks noChangeArrowheads="1"/>
            </p:cNvSpPr>
            <p:nvPr/>
          </p:nvSpPr>
          <p:spPr bwMode="auto">
            <a:xfrm>
              <a:off x="960437" y="3291441"/>
              <a:ext cx="3105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可重用的软件成分</a:t>
              </a:r>
            </a:p>
          </p:txBody>
        </p:sp>
      </p:grpSp>
      <p:grpSp>
        <p:nvGrpSpPr>
          <p:cNvPr id="3" name="组合 2">
            <a:extLst>
              <a:ext uri="{FF2B5EF4-FFF2-40B4-BE49-F238E27FC236}">
                <a16:creationId xmlns:a16="http://schemas.microsoft.com/office/drawing/2014/main" id="{570404D0-F24E-831A-7536-8FBF8527A337}"/>
              </a:ext>
            </a:extLst>
          </p:cNvPr>
          <p:cNvGrpSpPr/>
          <p:nvPr/>
        </p:nvGrpSpPr>
        <p:grpSpPr>
          <a:xfrm>
            <a:off x="15240" y="3600000"/>
            <a:ext cx="12122867" cy="1515492"/>
            <a:chOff x="15240" y="2694427"/>
            <a:chExt cx="12122867" cy="1515492"/>
          </a:xfrm>
        </p:grpSpPr>
        <p:sp>
          <p:nvSpPr>
            <p:cNvPr id="4" name="MH_Other_1">
              <a:extLst>
                <a:ext uri="{FF2B5EF4-FFF2-40B4-BE49-F238E27FC236}">
                  <a16:creationId xmlns:a16="http://schemas.microsoft.com/office/drawing/2014/main" id="{6F33FFD3-B7BD-4F36-AE56-EAE981EF8958}"/>
                </a:ext>
              </a:extLst>
            </p:cNvPr>
            <p:cNvSpPr/>
            <p:nvPr>
              <p:custDataLst>
                <p:tags r:id="rId6"/>
              </p:custDataLst>
            </p:nvPr>
          </p:nvSpPr>
          <p:spPr bwMode="auto">
            <a:xfrm>
              <a:off x="15240" y="2703368"/>
              <a:ext cx="1632627"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2">
              <a:extLst>
                <a:ext uri="{FF2B5EF4-FFF2-40B4-BE49-F238E27FC236}">
                  <a16:creationId xmlns:a16="http://schemas.microsoft.com/office/drawing/2014/main" id="{639D332C-F0E3-91AA-5B55-1A36395D0C58}"/>
                </a:ext>
              </a:extLst>
            </p:cNvPr>
            <p:cNvSpPr/>
            <p:nvPr>
              <p:custDataLst>
                <p:tags r:id="rId7"/>
              </p:custDataLst>
            </p:nvPr>
          </p:nvSpPr>
          <p:spPr bwMode="auto">
            <a:xfrm>
              <a:off x="1338107" y="4137919"/>
              <a:ext cx="1080000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9" name="MH_Other_3">
              <a:extLst>
                <a:ext uri="{FF2B5EF4-FFF2-40B4-BE49-F238E27FC236}">
                  <a16:creationId xmlns:a16="http://schemas.microsoft.com/office/drawing/2014/main" id="{49DDD4C7-671B-8198-AAF1-9FF004F3A70A}"/>
                </a:ext>
              </a:extLst>
            </p:cNvPr>
            <p:cNvSpPr/>
            <p:nvPr>
              <p:custDataLst>
                <p:tags r:id="rId8"/>
              </p:custDataLst>
            </p:nvPr>
          </p:nvSpPr>
          <p:spPr>
            <a:xfrm>
              <a:off x="1545225" y="2880487"/>
              <a:ext cx="392523" cy="377646"/>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0" name="MH_Other_4">
              <a:extLst>
                <a:ext uri="{FF2B5EF4-FFF2-40B4-BE49-F238E27FC236}">
                  <a16:creationId xmlns:a16="http://schemas.microsoft.com/office/drawing/2014/main" id="{DF9B1312-9C35-B624-B203-CBD3CCF45045}"/>
                </a:ext>
              </a:extLst>
            </p:cNvPr>
            <p:cNvSpPr>
              <a:spLocks noChangeArrowheads="1"/>
            </p:cNvSpPr>
            <p:nvPr>
              <p:custDataLst>
                <p:tags r:id="rId9"/>
              </p:custDataLst>
            </p:nvPr>
          </p:nvSpPr>
          <p:spPr bwMode="gray">
            <a:xfrm rot="15266332" flipV="1">
              <a:off x="1529849" y="2845453"/>
              <a:ext cx="374051" cy="7200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4" name="MH_Other_5">
              <a:extLst>
                <a:ext uri="{FF2B5EF4-FFF2-40B4-BE49-F238E27FC236}">
                  <a16:creationId xmlns:a16="http://schemas.microsoft.com/office/drawing/2014/main" id="{0E95C63D-30F8-0A26-621F-FA99D23CCF71}"/>
                </a:ext>
              </a:extLst>
            </p:cNvPr>
            <p:cNvSpPr>
              <a:spLocks noChangeArrowheads="1"/>
            </p:cNvSpPr>
            <p:nvPr>
              <p:custDataLst>
                <p:tags r:id="rId10"/>
              </p:custDataLst>
            </p:nvPr>
          </p:nvSpPr>
          <p:spPr bwMode="gray">
            <a:xfrm rot="15334360" flipV="1">
              <a:off x="1197584" y="4027219"/>
              <a:ext cx="254645" cy="43884"/>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6">
              <a:extLst>
                <a:ext uri="{FF2B5EF4-FFF2-40B4-BE49-F238E27FC236}">
                  <a16:creationId xmlns:a16="http://schemas.microsoft.com/office/drawing/2014/main" id="{2D92E5B1-5C64-9D50-B120-7E34F00AB17B}"/>
                </a:ext>
              </a:extLst>
            </p:cNvPr>
            <p:cNvSpPr>
              <a:spLocks noChangeArrowheads="1"/>
            </p:cNvSpPr>
            <p:nvPr>
              <p:custDataLst>
                <p:tags r:id="rId11"/>
              </p:custDataLst>
            </p:nvPr>
          </p:nvSpPr>
          <p:spPr bwMode="gray">
            <a:xfrm rot="19641219">
              <a:off x="1351808" y="3423946"/>
              <a:ext cx="35313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7">
              <a:extLst>
                <a:ext uri="{FF2B5EF4-FFF2-40B4-BE49-F238E27FC236}">
                  <a16:creationId xmlns:a16="http://schemas.microsoft.com/office/drawing/2014/main" id="{C5997BD1-3813-08DB-20CC-BB476B057406}"/>
                </a:ext>
              </a:extLst>
            </p:cNvPr>
            <p:cNvSpPr/>
            <p:nvPr>
              <p:custDataLst>
                <p:tags r:id="rId12"/>
              </p:custDataLst>
            </p:nvPr>
          </p:nvSpPr>
          <p:spPr>
            <a:xfrm>
              <a:off x="990466" y="3306922"/>
              <a:ext cx="392523" cy="377646"/>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grpSp>
    </p:spTree>
    <p:custDataLst>
      <p:tags r:id="rId1"/>
    </p:custDataLst>
  </p:cSld>
  <p:clrMapOvr>
    <a:masterClrMapping/>
  </p:clrMapOvr>
  <p:transition>
    <p:wheel spokes="3"/>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396A25C-1B92-0A10-6015-10FA64064C66}"/>
              </a:ext>
            </a:extLst>
          </p:cNvPr>
          <p:cNvGrpSpPr/>
          <p:nvPr/>
        </p:nvGrpSpPr>
        <p:grpSpPr>
          <a:xfrm>
            <a:off x="15240" y="3600000"/>
            <a:ext cx="12122867" cy="1515492"/>
            <a:chOff x="15240" y="2694427"/>
            <a:chExt cx="12122867" cy="1515492"/>
          </a:xfrm>
        </p:grpSpPr>
        <p:sp>
          <p:nvSpPr>
            <p:cNvPr id="6" name="MH_Other_1"/>
            <p:cNvSpPr/>
            <p:nvPr>
              <p:custDataLst>
                <p:tags r:id="rId6"/>
              </p:custDataLst>
            </p:nvPr>
          </p:nvSpPr>
          <p:spPr bwMode="auto">
            <a:xfrm>
              <a:off x="15240" y="2703368"/>
              <a:ext cx="1632627"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7"/>
              </p:custDataLst>
            </p:nvPr>
          </p:nvSpPr>
          <p:spPr bwMode="auto">
            <a:xfrm>
              <a:off x="1338107" y="4137919"/>
              <a:ext cx="1080000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8"/>
              </p:custDataLst>
            </p:nvPr>
          </p:nvSpPr>
          <p:spPr>
            <a:xfrm>
              <a:off x="1545225" y="2880487"/>
              <a:ext cx="392523" cy="377646"/>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9"/>
              </p:custDataLst>
            </p:nvPr>
          </p:nvSpPr>
          <p:spPr bwMode="gray">
            <a:xfrm rot="15266332" flipV="1">
              <a:off x="1529849" y="2845453"/>
              <a:ext cx="374051" cy="7200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10"/>
              </p:custDataLst>
            </p:nvPr>
          </p:nvSpPr>
          <p:spPr bwMode="gray">
            <a:xfrm rot="15334360" flipV="1">
              <a:off x="1197584" y="4027219"/>
              <a:ext cx="254645" cy="43884"/>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1"/>
              </p:custDataLst>
            </p:nvPr>
          </p:nvSpPr>
          <p:spPr bwMode="gray">
            <a:xfrm rot="19641219">
              <a:off x="1351808" y="3423946"/>
              <a:ext cx="35313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2"/>
              </p:custDataLst>
            </p:nvPr>
          </p:nvSpPr>
          <p:spPr>
            <a:xfrm>
              <a:off x="990466" y="3306922"/>
              <a:ext cx="392523" cy="377646"/>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grpSp>
      <p:sp>
        <p:nvSpPr>
          <p:cNvPr id="2" name="标题 1"/>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27" name="MH_Text_1"/>
          <p:cNvSpPr/>
          <p:nvPr>
            <p:custDataLst>
              <p:tags r:id="rId2"/>
            </p:custDataLst>
          </p:nvPr>
        </p:nvSpPr>
        <p:spPr bwMode="auto">
          <a:xfrm>
            <a:off x="2814675" y="4163706"/>
            <a:ext cx="7505008" cy="63793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a:spAutoFit/>
          </a:bodyPr>
          <a:lstStyle/>
          <a:p>
            <a:pPr indent="457200">
              <a:lnSpc>
                <a:spcPct val="120000"/>
              </a:lnSpc>
              <a:defRPr/>
            </a:pPr>
            <a:r>
              <a:rPr lang="da-DK" altLang="zh-CN" dirty="0">
                <a:solidFill>
                  <a:schemeClr val="tx1"/>
                </a:solidFill>
              </a:rPr>
              <a:t>设计结果的重用包括体系结构的重用。设计结果的重用有助于把应用软件系统移植到不同的软件或硬件平台上。</a:t>
            </a:r>
          </a:p>
        </p:txBody>
      </p:sp>
      <p:sp>
        <p:nvSpPr>
          <p:cNvPr id="18" name="TextBox 1"/>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9" name="直接连接符 18"/>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0" name="矩形 7"/>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可重用的软件成分</a:t>
            </a:r>
          </a:p>
        </p:txBody>
      </p:sp>
      <p:sp>
        <p:nvSpPr>
          <p:cNvPr id="4" name="MH_SubTitle_2">
            <a:extLst>
              <a:ext uri="{FF2B5EF4-FFF2-40B4-BE49-F238E27FC236}">
                <a16:creationId xmlns:a16="http://schemas.microsoft.com/office/drawing/2014/main" id="{BF363A85-9767-AA8A-BB38-EF63B2B0E788}"/>
              </a:ext>
            </a:extLst>
          </p:cNvPr>
          <p:cNvSpPr/>
          <p:nvPr>
            <p:custDataLst>
              <p:tags r:id="rId3"/>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dirty="0">
                <a:solidFill>
                  <a:schemeClr val="bg1"/>
                </a:solidFill>
                <a:latin typeface="微软雅黑" panose="020B0503020204020204" charset="-122"/>
                <a:ea typeface="微软雅黑" panose="020B0503020204020204" charset="-122"/>
              </a:rPr>
              <a:t>设计结果重用</a:t>
            </a:r>
          </a:p>
        </p:txBody>
      </p:sp>
      <p:sp>
        <p:nvSpPr>
          <p:cNvPr id="8" name="MH_Other_5">
            <a:extLst>
              <a:ext uri="{FF2B5EF4-FFF2-40B4-BE49-F238E27FC236}">
                <a16:creationId xmlns:a16="http://schemas.microsoft.com/office/drawing/2014/main" id="{5E4EDB74-46DC-88B3-DD4E-49E8C7B45DC9}"/>
              </a:ext>
            </a:extLst>
          </p:cNvPr>
          <p:cNvSpPr/>
          <p:nvPr>
            <p:custDataLst>
              <p:tags r:id="rId4"/>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02</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9" name="MH_Other_6">
            <a:extLst>
              <a:ext uri="{FF2B5EF4-FFF2-40B4-BE49-F238E27FC236}">
                <a16:creationId xmlns:a16="http://schemas.microsoft.com/office/drawing/2014/main" id="{F59E672E-E543-7A31-0922-AE28CDD3A2EE}"/>
              </a:ext>
            </a:extLst>
          </p:cNvPr>
          <p:cNvSpPr/>
          <p:nvPr>
            <p:custDataLst>
              <p:tags r:id="rId5"/>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wheel spokes="3"/>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F638BDD-44A3-B8CC-E1C2-8C94CFAF51EE}"/>
              </a:ext>
            </a:extLst>
          </p:cNvPr>
          <p:cNvGrpSpPr/>
          <p:nvPr/>
        </p:nvGrpSpPr>
        <p:grpSpPr>
          <a:xfrm>
            <a:off x="15240" y="3600000"/>
            <a:ext cx="12122867" cy="1515492"/>
            <a:chOff x="15240" y="2694427"/>
            <a:chExt cx="12122867" cy="1515492"/>
          </a:xfrm>
        </p:grpSpPr>
        <p:sp>
          <p:nvSpPr>
            <p:cNvPr id="4" name="MH_Other_1">
              <a:extLst>
                <a:ext uri="{FF2B5EF4-FFF2-40B4-BE49-F238E27FC236}">
                  <a16:creationId xmlns:a16="http://schemas.microsoft.com/office/drawing/2014/main" id="{3ED788DB-33C0-7AE6-34AC-5F98E6826E6D}"/>
                </a:ext>
              </a:extLst>
            </p:cNvPr>
            <p:cNvSpPr/>
            <p:nvPr>
              <p:custDataLst>
                <p:tags r:id="rId6"/>
              </p:custDataLst>
            </p:nvPr>
          </p:nvSpPr>
          <p:spPr bwMode="auto">
            <a:xfrm>
              <a:off x="15240" y="2703368"/>
              <a:ext cx="1632627"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2">
              <a:extLst>
                <a:ext uri="{FF2B5EF4-FFF2-40B4-BE49-F238E27FC236}">
                  <a16:creationId xmlns:a16="http://schemas.microsoft.com/office/drawing/2014/main" id="{DF552613-011A-5FD1-EA9E-F1B068A6D79B}"/>
                </a:ext>
              </a:extLst>
            </p:cNvPr>
            <p:cNvSpPr/>
            <p:nvPr>
              <p:custDataLst>
                <p:tags r:id="rId7"/>
              </p:custDataLst>
            </p:nvPr>
          </p:nvSpPr>
          <p:spPr bwMode="auto">
            <a:xfrm>
              <a:off x="1338107" y="4137919"/>
              <a:ext cx="1080000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9" name="MH_Other_3">
              <a:extLst>
                <a:ext uri="{FF2B5EF4-FFF2-40B4-BE49-F238E27FC236}">
                  <a16:creationId xmlns:a16="http://schemas.microsoft.com/office/drawing/2014/main" id="{0A5EAE9F-D1D8-C69E-6EE6-0794A3530D42}"/>
                </a:ext>
              </a:extLst>
            </p:cNvPr>
            <p:cNvSpPr/>
            <p:nvPr>
              <p:custDataLst>
                <p:tags r:id="rId8"/>
              </p:custDataLst>
            </p:nvPr>
          </p:nvSpPr>
          <p:spPr>
            <a:xfrm>
              <a:off x="1545225" y="2880487"/>
              <a:ext cx="392523" cy="377646"/>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0" name="MH_Other_4">
              <a:extLst>
                <a:ext uri="{FF2B5EF4-FFF2-40B4-BE49-F238E27FC236}">
                  <a16:creationId xmlns:a16="http://schemas.microsoft.com/office/drawing/2014/main" id="{234153A5-3415-FFB4-7B4F-2B23155E0543}"/>
                </a:ext>
              </a:extLst>
            </p:cNvPr>
            <p:cNvSpPr>
              <a:spLocks noChangeArrowheads="1"/>
            </p:cNvSpPr>
            <p:nvPr>
              <p:custDataLst>
                <p:tags r:id="rId9"/>
              </p:custDataLst>
            </p:nvPr>
          </p:nvSpPr>
          <p:spPr bwMode="gray">
            <a:xfrm rot="15266332" flipV="1">
              <a:off x="1529849" y="2845453"/>
              <a:ext cx="374051" cy="7200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4" name="MH_Other_5">
              <a:extLst>
                <a:ext uri="{FF2B5EF4-FFF2-40B4-BE49-F238E27FC236}">
                  <a16:creationId xmlns:a16="http://schemas.microsoft.com/office/drawing/2014/main" id="{F9B026CF-A01B-B075-15B2-E6A860BA79CE}"/>
                </a:ext>
              </a:extLst>
            </p:cNvPr>
            <p:cNvSpPr>
              <a:spLocks noChangeArrowheads="1"/>
            </p:cNvSpPr>
            <p:nvPr>
              <p:custDataLst>
                <p:tags r:id="rId10"/>
              </p:custDataLst>
            </p:nvPr>
          </p:nvSpPr>
          <p:spPr bwMode="gray">
            <a:xfrm rot="15334360" flipV="1">
              <a:off x="1197584" y="4027219"/>
              <a:ext cx="254645" cy="43884"/>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6">
              <a:extLst>
                <a:ext uri="{FF2B5EF4-FFF2-40B4-BE49-F238E27FC236}">
                  <a16:creationId xmlns:a16="http://schemas.microsoft.com/office/drawing/2014/main" id="{A3C67145-2966-8CF6-E0BB-F7E25F286429}"/>
                </a:ext>
              </a:extLst>
            </p:cNvPr>
            <p:cNvSpPr>
              <a:spLocks noChangeArrowheads="1"/>
            </p:cNvSpPr>
            <p:nvPr>
              <p:custDataLst>
                <p:tags r:id="rId11"/>
              </p:custDataLst>
            </p:nvPr>
          </p:nvSpPr>
          <p:spPr bwMode="gray">
            <a:xfrm rot="19641219">
              <a:off x="1351808" y="3423946"/>
              <a:ext cx="35313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7">
              <a:extLst>
                <a:ext uri="{FF2B5EF4-FFF2-40B4-BE49-F238E27FC236}">
                  <a16:creationId xmlns:a16="http://schemas.microsoft.com/office/drawing/2014/main" id="{88DEE6E5-6641-CD3B-C518-082285E1929C}"/>
                </a:ext>
              </a:extLst>
            </p:cNvPr>
            <p:cNvSpPr/>
            <p:nvPr>
              <p:custDataLst>
                <p:tags r:id="rId12"/>
              </p:custDataLst>
            </p:nvPr>
          </p:nvSpPr>
          <p:spPr>
            <a:xfrm>
              <a:off x="990466" y="3306922"/>
              <a:ext cx="392523" cy="377646"/>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grpSp>
      <p:sp>
        <p:nvSpPr>
          <p:cNvPr id="2" name="标题 1"/>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27" name="MH_Text_1"/>
          <p:cNvSpPr/>
          <p:nvPr>
            <p:custDataLst>
              <p:tags r:id="rId2"/>
            </p:custDataLst>
          </p:nvPr>
        </p:nvSpPr>
        <p:spPr bwMode="auto">
          <a:xfrm>
            <a:off x="2893216" y="4242211"/>
            <a:ext cx="7387278" cy="63793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a:spAutoFit/>
          </a:bodyPr>
          <a:lstStyle/>
          <a:p>
            <a:pPr>
              <a:lnSpc>
                <a:spcPct val="120000"/>
              </a:lnSpc>
              <a:defRPr/>
            </a:pPr>
            <a:r>
              <a:rPr lang="da-DK" altLang="zh-CN" dirty="0">
                <a:solidFill>
                  <a:schemeClr val="tx1"/>
                </a:solidFill>
              </a:rPr>
              <a:t>规格说明重用</a:t>
            </a:r>
            <a:r>
              <a:rPr lang="zh-CN" altLang="en-US" dirty="0">
                <a:solidFill>
                  <a:schemeClr val="tx1"/>
                </a:solidFill>
              </a:rPr>
              <a:t>；</a:t>
            </a:r>
            <a:endParaRPr lang="en-US" altLang="zh-CN" dirty="0">
              <a:solidFill>
                <a:schemeClr val="tx1"/>
              </a:solidFill>
            </a:endParaRPr>
          </a:p>
          <a:p>
            <a:pPr>
              <a:lnSpc>
                <a:spcPct val="120000"/>
              </a:lnSpc>
              <a:defRPr/>
            </a:pPr>
            <a:r>
              <a:rPr lang="da-DK" altLang="zh-CN" dirty="0">
                <a:solidFill>
                  <a:schemeClr val="tx1"/>
                </a:solidFill>
              </a:rPr>
              <a:t>特别适用于用户需求没有改变，但是系统体系结构发生了变化的场合。</a:t>
            </a:r>
          </a:p>
        </p:txBody>
      </p:sp>
      <p:grpSp>
        <p:nvGrpSpPr>
          <p:cNvPr id="17" name="组合 6"/>
          <p:cNvGrpSpPr/>
          <p:nvPr/>
        </p:nvGrpSpPr>
        <p:grpSpPr>
          <a:xfrm>
            <a:off x="809625" y="1995518"/>
            <a:ext cx="3557659" cy="590550"/>
            <a:chOff x="508000" y="3196191"/>
            <a:chExt cx="3557624" cy="590550"/>
          </a:xfrm>
        </p:grpSpPr>
        <p:sp>
          <p:nvSpPr>
            <p:cNvPr id="18"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9" name="直接连接符 1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0" name="矩形 7"/>
            <p:cNvSpPr>
              <a:spLocks noChangeArrowheads="1"/>
            </p:cNvSpPr>
            <p:nvPr/>
          </p:nvSpPr>
          <p:spPr bwMode="auto">
            <a:xfrm>
              <a:off x="960437" y="3291441"/>
              <a:ext cx="3105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可重用的软件成分</a:t>
              </a:r>
            </a:p>
          </p:txBody>
        </p:sp>
      </p:grpSp>
      <p:sp>
        <p:nvSpPr>
          <p:cNvPr id="21" name="MH_SubTitle_2">
            <a:extLst>
              <a:ext uri="{FF2B5EF4-FFF2-40B4-BE49-F238E27FC236}">
                <a16:creationId xmlns:a16="http://schemas.microsoft.com/office/drawing/2014/main" id="{3FE405EE-3058-D59F-ADC6-67EAE26DE778}"/>
              </a:ext>
            </a:extLst>
          </p:cNvPr>
          <p:cNvSpPr/>
          <p:nvPr>
            <p:custDataLst>
              <p:tags r:id="rId3"/>
            </p:custDataLst>
          </p:nvPr>
        </p:nvSpPr>
        <p:spPr>
          <a:xfrm flipH="1">
            <a:off x="7178567" y="1864321"/>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dirty="0">
                <a:solidFill>
                  <a:schemeClr val="bg1"/>
                </a:solidFill>
                <a:latin typeface="微软雅黑" panose="020B0503020204020204" charset="-122"/>
                <a:ea typeface="微软雅黑" panose="020B0503020204020204" charset="-122"/>
              </a:rPr>
              <a:t>规格说明重用</a:t>
            </a:r>
          </a:p>
        </p:txBody>
      </p:sp>
      <p:sp>
        <p:nvSpPr>
          <p:cNvPr id="22" name="MH_Other_5">
            <a:extLst>
              <a:ext uri="{FF2B5EF4-FFF2-40B4-BE49-F238E27FC236}">
                <a16:creationId xmlns:a16="http://schemas.microsoft.com/office/drawing/2014/main" id="{77AA77B3-09B9-AC58-7EE2-1AED886386E4}"/>
              </a:ext>
            </a:extLst>
          </p:cNvPr>
          <p:cNvSpPr/>
          <p:nvPr>
            <p:custDataLst>
              <p:tags r:id="rId4"/>
            </p:custDataLst>
          </p:nvPr>
        </p:nvSpPr>
        <p:spPr>
          <a:xfrm flipH="1">
            <a:off x="11185407" y="1742659"/>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03</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23" name="MH_Other_6">
            <a:extLst>
              <a:ext uri="{FF2B5EF4-FFF2-40B4-BE49-F238E27FC236}">
                <a16:creationId xmlns:a16="http://schemas.microsoft.com/office/drawing/2014/main" id="{E186A32F-968B-6707-7E46-8C2EC54EEB06}"/>
              </a:ext>
            </a:extLst>
          </p:cNvPr>
          <p:cNvSpPr/>
          <p:nvPr>
            <p:custDataLst>
              <p:tags r:id="rId5"/>
            </p:custDataLst>
          </p:nvPr>
        </p:nvSpPr>
        <p:spPr>
          <a:xfrm flipH="1">
            <a:off x="10688324" y="1741079"/>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wheel spokes="3"/>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14" name="Oval 5"/>
          <p:cNvSpPr/>
          <p:nvPr>
            <p:custDataLst>
              <p:tags r:id="rId2"/>
            </p:custDataLst>
          </p:nvPr>
        </p:nvSpPr>
        <p:spPr>
          <a:xfrm>
            <a:off x="604217" y="2703028"/>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p:cNvSpPr>
            <a:spLocks noEditPoints="1"/>
          </p:cNvSpPr>
          <p:nvPr>
            <p:custDataLst>
              <p:tags r:id="rId3"/>
            </p:custDataLst>
          </p:nvPr>
        </p:nvSpPr>
        <p:spPr bwMode="auto">
          <a:xfrm>
            <a:off x="789637" y="2887178"/>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4"/>
            </p:custDataLst>
          </p:nvPr>
        </p:nvSpPr>
        <p:spPr bwMode="auto">
          <a:xfrm>
            <a:off x="1504012" y="2588093"/>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项目计划</a:t>
            </a:r>
          </a:p>
        </p:txBody>
      </p:sp>
      <p:sp>
        <p:nvSpPr>
          <p:cNvPr id="21" name="文本框 20"/>
          <p:cNvSpPr txBox="1"/>
          <p:nvPr>
            <p:custDataLst>
              <p:tags r:id="rId5"/>
            </p:custDataLst>
          </p:nvPr>
        </p:nvSpPr>
        <p:spPr>
          <a:xfrm>
            <a:off x="1514172" y="2985603"/>
            <a:ext cx="8761424" cy="661529"/>
          </a:xfrm>
          <a:prstGeom prst="rect">
            <a:avLst/>
          </a:prstGeom>
        </p:spPr>
        <p:txBody>
          <a:bodyPr wrap="square"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软件项目计划的基本结构和许多内容是可以重用的。这样，可以减少制订计划的时间，降低建立进度表和进行风险分析等活动的不确定性。</a:t>
            </a:r>
          </a:p>
        </p:txBody>
      </p:sp>
      <p:sp>
        <p:nvSpPr>
          <p:cNvPr id="5" name="Oval 5"/>
          <p:cNvSpPr/>
          <p:nvPr>
            <p:custDataLst>
              <p:tags r:id="rId6"/>
            </p:custDataLst>
          </p:nvPr>
        </p:nvSpPr>
        <p:spPr>
          <a:xfrm>
            <a:off x="2454910" y="5149215"/>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Freeform 7"/>
          <p:cNvSpPr>
            <a:spLocks noEditPoints="1"/>
          </p:cNvSpPr>
          <p:nvPr>
            <p:custDataLst>
              <p:tags r:id="rId7"/>
            </p:custDataLst>
          </p:nvPr>
        </p:nvSpPr>
        <p:spPr bwMode="auto">
          <a:xfrm>
            <a:off x="2640330" y="5333365"/>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7" name="文本框 18"/>
          <p:cNvSpPr txBox="1">
            <a:spLocks noChangeArrowheads="1"/>
          </p:cNvSpPr>
          <p:nvPr>
            <p:custDataLst>
              <p:tags r:id="rId8"/>
            </p:custDataLst>
          </p:nvPr>
        </p:nvSpPr>
        <p:spPr bwMode="auto">
          <a:xfrm>
            <a:off x="3354705" y="5034280"/>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软件结构</a:t>
            </a:r>
          </a:p>
        </p:txBody>
      </p:sp>
      <p:sp>
        <p:nvSpPr>
          <p:cNvPr id="8" name="文本框 7"/>
          <p:cNvSpPr txBox="1"/>
          <p:nvPr>
            <p:custDataLst>
              <p:tags r:id="rId9"/>
            </p:custDataLst>
          </p:nvPr>
        </p:nvSpPr>
        <p:spPr>
          <a:xfrm>
            <a:off x="3364866" y="5431790"/>
            <a:ext cx="6760408" cy="661529"/>
          </a:xfrm>
          <a:prstGeom prst="rect">
            <a:avLst/>
          </a:prstGeom>
        </p:spPr>
        <p:txBody>
          <a:bodyPr wrap="square"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在很多情况下，软件结构有相似或相同之处。可以创建一组软件结构模板，作为重用的设计框架。</a:t>
            </a:r>
          </a:p>
        </p:txBody>
      </p:sp>
      <p:sp>
        <p:nvSpPr>
          <p:cNvPr id="10" name="Oval 5"/>
          <p:cNvSpPr/>
          <p:nvPr>
            <p:custDataLst>
              <p:tags r:id="rId10"/>
            </p:custDataLst>
          </p:nvPr>
        </p:nvSpPr>
        <p:spPr>
          <a:xfrm>
            <a:off x="1555115" y="3952780"/>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1" name="Freeform 7"/>
          <p:cNvSpPr>
            <a:spLocks noEditPoints="1"/>
          </p:cNvSpPr>
          <p:nvPr>
            <p:custDataLst>
              <p:tags r:id="rId11"/>
            </p:custDataLst>
          </p:nvPr>
        </p:nvSpPr>
        <p:spPr bwMode="auto">
          <a:xfrm>
            <a:off x="1740535" y="413693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2" name="文本框 18"/>
          <p:cNvSpPr txBox="1">
            <a:spLocks noChangeArrowheads="1"/>
          </p:cNvSpPr>
          <p:nvPr>
            <p:custDataLst>
              <p:tags r:id="rId12"/>
            </p:custDataLst>
          </p:nvPr>
        </p:nvSpPr>
        <p:spPr bwMode="auto">
          <a:xfrm>
            <a:off x="2454910" y="3837845"/>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成本估计</a:t>
            </a:r>
          </a:p>
        </p:txBody>
      </p:sp>
      <p:sp>
        <p:nvSpPr>
          <p:cNvPr id="13" name="文本框 12"/>
          <p:cNvSpPr txBox="1"/>
          <p:nvPr>
            <p:custDataLst>
              <p:tags r:id="rId13"/>
            </p:custDataLst>
          </p:nvPr>
        </p:nvSpPr>
        <p:spPr>
          <a:xfrm>
            <a:off x="2465070" y="4235355"/>
            <a:ext cx="7733289" cy="366063"/>
          </a:xfrm>
          <a:prstGeom prst="rect">
            <a:avLst/>
          </a:prstGeom>
        </p:spPr>
        <p:txBody>
          <a:bodyPr wrap="square"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不同的项目中经常含有类似的功能，在做成本估计时，重用部分的成本也可重用。</a:t>
            </a:r>
          </a:p>
        </p:txBody>
      </p:sp>
      <p:sp>
        <p:nvSpPr>
          <p:cNvPr id="20" name="TextBox 1"/>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可重用软件成分的具体内容</a:t>
            </a:r>
          </a:p>
        </p:txBody>
      </p:sp>
    </p:spTree>
    <p:custDataLst>
      <p:tags r:id="rId1"/>
    </p:custDataLst>
  </p:cSld>
  <p:clrMapOvr>
    <a:masterClrMapping/>
  </p:clrMapOvr>
  <p:transition>
    <p:wheel spokes="3"/>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B2E88-6FB0-B3C5-9172-963706022D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59A04E-3F6C-515F-423D-7D90812A8E5B}"/>
              </a:ext>
            </a:extLst>
          </p:cNvPr>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29" name="TextBox 6">
            <a:extLst>
              <a:ext uri="{FF2B5EF4-FFF2-40B4-BE49-F238E27FC236}">
                <a16:creationId xmlns:a16="http://schemas.microsoft.com/office/drawing/2014/main" id="{DE972108-DD17-0887-BA72-F1C865D3ED5F}"/>
              </a:ext>
            </a:extLst>
          </p:cNvPr>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14" name="Oval 5">
            <a:extLst>
              <a:ext uri="{FF2B5EF4-FFF2-40B4-BE49-F238E27FC236}">
                <a16:creationId xmlns:a16="http://schemas.microsoft.com/office/drawing/2014/main" id="{68E9DAE6-EF30-E355-2EDD-381223D9E8BC}"/>
              </a:ext>
            </a:extLst>
          </p:cNvPr>
          <p:cNvSpPr/>
          <p:nvPr>
            <p:custDataLst>
              <p:tags r:id="rId2"/>
            </p:custDataLst>
          </p:nvPr>
        </p:nvSpPr>
        <p:spPr>
          <a:xfrm>
            <a:off x="604217" y="2703028"/>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5" name="Freeform 7">
            <a:extLst>
              <a:ext uri="{FF2B5EF4-FFF2-40B4-BE49-F238E27FC236}">
                <a16:creationId xmlns:a16="http://schemas.microsoft.com/office/drawing/2014/main" id="{F1E9546C-0691-BD6E-5BD2-42129F144AC1}"/>
              </a:ext>
            </a:extLst>
          </p:cNvPr>
          <p:cNvSpPr>
            <a:spLocks noEditPoints="1"/>
          </p:cNvSpPr>
          <p:nvPr>
            <p:custDataLst>
              <p:tags r:id="rId3"/>
            </p:custDataLst>
          </p:nvPr>
        </p:nvSpPr>
        <p:spPr bwMode="auto">
          <a:xfrm>
            <a:off x="789637" y="2887178"/>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a:extLst>
              <a:ext uri="{FF2B5EF4-FFF2-40B4-BE49-F238E27FC236}">
                <a16:creationId xmlns:a16="http://schemas.microsoft.com/office/drawing/2014/main" id="{A473985D-F2B8-6A06-D922-22D58B7D303F}"/>
              </a:ext>
            </a:extLst>
          </p:cNvPr>
          <p:cNvSpPr txBox="1">
            <a:spLocks noChangeArrowheads="1"/>
          </p:cNvSpPr>
          <p:nvPr>
            <p:custDataLst>
              <p:tags r:id="rId4"/>
            </p:custDataLst>
          </p:nvPr>
        </p:nvSpPr>
        <p:spPr bwMode="auto">
          <a:xfrm>
            <a:off x="1504012" y="2588093"/>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需求模型和规格说明</a:t>
            </a:r>
          </a:p>
        </p:txBody>
      </p:sp>
      <p:sp>
        <p:nvSpPr>
          <p:cNvPr id="21" name="文本框 20">
            <a:extLst>
              <a:ext uri="{FF2B5EF4-FFF2-40B4-BE49-F238E27FC236}">
                <a16:creationId xmlns:a16="http://schemas.microsoft.com/office/drawing/2014/main" id="{0CF2B3DF-50AE-32B2-BAF7-A832FFFCF9CF}"/>
              </a:ext>
            </a:extLst>
          </p:cNvPr>
          <p:cNvSpPr txBox="1"/>
          <p:nvPr>
            <p:custDataLst>
              <p:tags r:id="rId5"/>
            </p:custDataLst>
          </p:nvPr>
        </p:nvSpPr>
        <p:spPr>
          <a:xfrm>
            <a:off x="1514172" y="2985603"/>
            <a:ext cx="8103235" cy="366063"/>
          </a:xfrm>
          <a:prstGeom prst="rect">
            <a:avLst/>
          </a:prstGeom>
        </p:spPr>
        <p:txBody>
          <a:bodyPr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类和对象的模型及规格说明、数据流图等可以重用。</a:t>
            </a:r>
          </a:p>
        </p:txBody>
      </p:sp>
      <p:sp>
        <p:nvSpPr>
          <p:cNvPr id="5" name="Oval 5">
            <a:extLst>
              <a:ext uri="{FF2B5EF4-FFF2-40B4-BE49-F238E27FC236}">
                <a16:creationId xmlns:a16="http://schemas.microsoft.com/office/drawing/2014/main" id="{EBCD9A2F-F84D-BE70-B02F-3EA13361FD6A}"/>
              </a:ext>
            </a:extLst>
          </p:cNvPr>
          <p:cNvSpPr/>
          <p:nvPr>
            <p:custDataLst>
              <p:tags r:id="rId6"/>
            </p:custDataLst>
          </p:nvPr>
        </p:nvSpPr>
        <p:spPr>
          <a:xfrm>
            <a:off x="2454910" y="5149215"/>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6" name="Freeform 7">
            <a:extLst>
              <a:ext uri="{FF2B5EF4-FFF2-40B4-BE49-F238E27FC236}">
                <a16:creationId xmlns:a16="http://schemas.microsoft.com/office/drawing/2014/main" id="{EEE32093-880C-6A15-B2A9-3259C903E436}"/>
              </a:ext>
            </a:extLst>
          </p:cNvPr>
          <p:cNvSpPr>
            <a:spLocks noEditPoints="1"/>
          </p:cNvSpPr>
          <p:nvPr>
            <p:custDataLst>
              <p:tags r:id="rId7"/>
            </p:custDataLst>
          </p:nvPr>
        </p:nvSpPr>
        <p:spPr bwMode="auto">
          <a:xfrm>
            <a:off x="2640330" y="5333365"/>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7" name="文本框 18">
            <a:extLst>
              <a:ext uri="{FF2B5EF4-FFF2-40B4-BE49-F238E27FC236}">
                <a16:creationId xmlns:a16="http://schemas.microsoft.com/office/drawing/2014/main" id="{DDE032D1-54E0-35AB-570E-0C7E9369CFF9}"/>
              </a:ext>
            </a:extLst>
          </p:cNvPr>
          <p:cNvSpPr txBox="1">
            <a:spLocks noChangeArrowheads="1"/>
          </p:cNvSpPr>
          <p:nvPr>
            <p:custDataLst>
              <p:tags r:id="rId8"/>
            </p:custDataLst>
          </p:nvPr>
        </p:nvSpPr>
        <p:spPr bwMode="auto">
          <a:xfrm>
            <a:off x="3354705" y="5034280"/>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源代码</a:t>
            </a:r>
          </a:p>
        </p:txBody>
      </p:sp>
      <p:sp>
        <p:nvSpPr>
          <p:cNvPr id="8" name="文本框 7">
            <a:extLst>
              <a:ext uri="{FF2B5EF4-FFF2-40B4-BE49-F238E27FC236}">
                <a16:creationId xmlns:a16="http://schemas.microsoft.com/office/drawing/2014/main" id="{EEB79A2C-DE98-5412-6625-FDFCD5FB0801}"/>
              </a:ext>
            </a:extLst>
          </p:cNvPr>
          <p:cNvSpPr txBox="1"/>
          <p:nvPr>
            <p:custDataLst>
              <p:tags r:id="rId9"/>
            </p:custDataLst>
          </p:nvPr>
        </p:nvSpPr>
        <p:spPr>
          <a:xfrm>
            <a:off x="3364865" y="5431790"/>
            <a:ext cx="7873365" cy="366063"/>
          </a:xfrm>
          <a:prstGeom prst="rect">
            <a:avLst/>
          </a:prstGeom>
        </p:spPr>
        <p:txBody>
          <a:bodyPr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经过验证的程序构件可以重用。</a:t>
            </a:r>
          </a:p>
        </p:txBody>
      </p:sp>
      <p:sp>
        <p:nvSpPr>
          <p:cNvPr id="10" name="Oval 5">
            <a:extLst>
              <a:ext uri="{FF2B5EF4-FFF2-40B4-BE49-F238E27FC236}">
                <a16:creationId xmlns:a16="http://schemas.microsoft.com/office/drawing/2014/main" id="{C7F67A0A-DB3A-F0EA-EBB8-4404FA45B3CA}"/>
              </a:ext>
            </a:extLst>
          </p:cNvPr>
          <p:cNvSpPr/>
          <p:nvPr>
            <p:custDataLst>
              <p:tags r:id="rId10"/>
            </p:custDataLst>
          </p:nvPr>
        </p:nvSpPr>
        <p:spPr>
          <a:xfrm>
            <a:off x="1555115" y="3952780"/>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eaLnBrk="1" hangingPunct="1">
              <a:spcBef>
                <a:spcPts val="0"/>
              </a:spcBef>
              <a:spcAft>
                <a:spcPts val="0"/>
              </a:spcAft>
              <a:defRPr/>
            </a:pPr>
            <a:endParaRPr lang="en-US" sz="1800" kern="0" dirty="0"/>
          </a:p>
        </p:txBody>
      </p:sp>
      <p:sp>
        <p:nvSpPr>
          <p:cNvPr id="11" name="Freeform 7">
            <a:extLst>
              <a:ext uri="{FF2B5EF4-FFF2-40B4-BE49-F238E27FC236}">
                <a16:creationId xmlns:a16="http://schemas.microsoft.com/office/drawing/2014/main" id="{40023F86-FB2B-4488-2871-EF9C0107CE3C}"/>
              </a:ext>
            </a:extLst>
          </p:cNvPr>
          <p:cNvSpPr>
            <a:spLocks noEditPoints="1"/>
          </p:cNvSpPr>
          <p:nvPr>
            <p:custDataLst>
              <p:tags r:id="rId11"/>
            </p:custDataLst>
          </p:nvPr>
        </p:nvSpPr>
        <p:spPr bwMode="auto">
          <a:xfrm>
            <a:off x="1740535" y="4136930"/>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2" name="文本框 18">
            <a:extLst>
              <a:ext uri="{FF2B5EF4-FFF2-40B4-BE49-F238E27FC236}">
                <a16:creationId xmlns:a16="http://schemas.microsoft.com/office/drawing/2014/main" id="{3551C5EB-AABF-2A89-7F11-92D513A3096A}"/>
              </a:ext>
            </a:extLst>
          </p:cNvPr>
          <p:cNvSpPr txBox="1">
            <a:spLocks noChangeArrowheads="1"/>
          </p:cNvSpPr>
          <p:nvPr>
            <p:custDataLst>
              <p:tags r:id="rId12"/>
            </p:custDataLst>
          </p:nvPr>
        </p:nvSpPr>
        <p:spPr bwMode="auto">
          <a:xfrm>
            <a:off x="2454910" y="3837845"/>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设计</a:t>
            </a:r>
          </a:p>
        </p:txBody>
      </p:sp>
      <p:sp>
        <p:nvSpPr>
          <p:cNvPr id="13" name="文本框 12">
            <a:extLst>
              <a:ext uri="{FF2B5EF4-FFF2-40B4-BE49-F238E27FC236}">
                <a16:creationId xmlns:a16="http://schemas.microsoft.com/office/drawing/2014/main" id="{48287E50-7C87-BCB3-26CC-6A425E5FAE84}"/>
              </a:ext>
            </a:extLst>
          </p:cNvPr>
          <p:cNvSpPr txBox="1"/>
          <p:nvPr>
            <p:custDataLst>
              <p:tags r:id="rId13"/>
            </p:custDataLst>
          </p:nvPr>
        </p:nvSpPr>
        <p:spPr>
          <a:xfrm>
            <a:off x="2465069" y="4235355"/>
            <a:ext cx="7986396" cy="366063"/>
          </a:xfrm>
          <a:prstGeom prst="rect">
            <a:avLst/>
          </a:prstGeom>
        </p:spPr>
        <p:txBody>
          <a:bodyPr wrap="square"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系统和对象设计可以重用，用传统方法开发的软件结构、接口、设计过程等可以重用。</a:t>
            </a:r>
          </a:p>
        </p:txBody>
      </p:sp>
      <p:sp>
        <p:nvSpPr>
          <p:cNvPr id="20" name="TextBox 1">
            <a:extLst>
              <a:ext uri="{FF2B5EF4-FFF2-40B4-BE49-F238E27FC236}">
                <a16:creationId xmlns:a16="http://schemas.microsoft.com/office/drawing/2014/main" id="{C0A5C047-382D-17F0-CCD0-0C25D964826E}"/>
              </a:ext>
            </a:extLst>
          </p:cNvPr>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2" name="直接连接符 21">
            <a:extLst>
              <a:ext uri="{FF2B5EF4-FFF2-40B4-BE49-F238E27FC236}">
                <a16:creationId xmlns:a16="http://schemas.microsoft.com/office/drawing/2014/main" id="{3B732102-3F94-A155-EA1B-A70A695D71DF}"/>
              </a:ext>
            </a:extLst>
          </p:cNvPr>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a:extLst>
              <a:ext uri="{FF2B5EF4-FFF2-40B4-BE49-F238E27FC236}">
                <a16:creationId xmlns:a16="http://schemas.microsoft.com/office/drawing/2014/main" id="{87AE9CF2-4A5F-FCEC-2F18-3C4C49905E20}"/>
              </a:ext>
            </a:extLst>
          </p:cNvPr>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可重用软件成分的具体内容</a:t>
            </a:r>
          </a:p>
        </p:txBody>
      </p:sp>
    </p:spTree>
    <p:custDataLst>
      <p:tags r:id="rId1"/>
    </p:custDataLst>
    <p:extLst>
      <p:ext uri="{BB962C8B-B14F-4D97-AF65-F5344CB8AC3E}">
        <p14:creationId xmlns:p14="http://schemas.microsoft.com/office/powerpoint/2010/main" val="1829726085"/>
      </p:ext>
    </p:extLst>
  </p:cSld>
  <p:clrMapOvr>
    <a:masterClrMapping/>
  </p:clrMapOvr>
  <p:transition>
    <p:wheel spokes="3"/>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5.2.1 </a:t>
            </a:r>
            <a:r>
              <a:rPr lang="zh-CN" altLang="en-US" sz="2400" dirty="0">
                <a:solidFill>
                  <a:schemeClr val="tx1"/>
                </a:solidFill>
              </a:rPr>
              <a:t>软件的重用</a:t>
            </a:r>
          </a:p>
        </p:txBody>
      </p:sp>
      <p:sp>
        <p:nvSpPr>
          <p:cNvPr id="14" name="Oval 5"/>
          <p:cNvSpPr/>
          <p:nvPr>
            <p:custDataLst>
              <p:tags r:id="rId2"/>
            </p:custDataLst>
          </p:nvPr>
        </p:nvSpPr>
        <p:spPr>
          <a:xfrm>
            <a:off x="931768" y="2940899"/>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a:endParaRPr lang="en-US" kern="0" dirty="0"/>
          </a:p>
        </p:txBody>
      </p:sp>
      <p:sp>
        <p:nvSpPr>
          <p:cNvPr id="15" name="Freeform 7"/>
          <p:cNvSpPr>
            <a:spLocks noEditPoints="1"/>
          </p:cNvSpPr>
          <p:nvPr>
            <p:custDataLst>
              <p:tags r:id="rId3"/>
            </p:custDataLst>
          </p:nvPr>
        </p:nvSpPr>
        <p:spPr bwMode="auto">
          <a:xfrm>
            <a:off x="1117188" y="3125049"/>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6" name="文本框 18"/>
          <p:cNvSpPr txBox="1">
            <a:spLocks noChangeArrowheads="1"/>
          </p:cNvSpPr>
          <p:nvPr>
            <p:custDataLst>
              <p:tags r:id="rId4"/>
            </p:custDataLst>
          </p:nvPr>
        </p:nvSpPr>
        <p:spPr bwMode="auto">
          <a:xfrm>
            <a:off x="1831563" y="2825964"/>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用户文档和技术文档</a:t>
            </a:r>
          </a:p>
        </p:txBody>
      </p:sp>
      <p:sp>
        <p:nvSpPr>
          <p:cNvPr id="21" name="文本框 20"/>
          <p:cNvSpPr txBox="1"/>
          <p:nvPr>
            <p:custDataLst>
              <p:tags r:id="rId5"/>
            </p:custDataLst>
          </p:nvPr>
        </p:nvSpPr>
        <p:spPr>
          <a:xfrm>
            <a:off x="1841723" y="3223474"/>
            <a:ext cx="4182110" cy="366063"/>
          </a:xfrm>
          <a:prstGeom prst="rect">
            <a:avLst/>
          </a:prstGeom>
        </p:spPr>
        <p:txBody>
          <a:bodyPr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经常可以重用这些文档的较大部分内容。</a:t>
            </a:r>
          </a:p>
        </p:txBody>
      </p:sp>
      <p:sp>
        <p:nvSpPr>
          <p:cNvPr id="5" name="Oval 5"/>
          <p:cNvSpPr/>
          <p:nvPr>
            <p:custDataLst>
              <p:tags r:id="rId6"/>
            </p:custDataLst>
          </p:nvPr>
        </p:nvSpPr>
        <p:spPr>
          <a:xfrm>
            <a:off x="6483985" y="2913603"/>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a:endParaRPr lang="en-US" kern="0" dirty="0"/>
          </a:p>
        </p:txBody>
      </p:sp>
      <p:sp>
        <p:nvSpPr>
          <p:cNvPr id="6" name="Freeform 7"/>
          <p:cNvSpPr>
            <a:spLocks noEditPoints="1"/>
          </p:cNvSpPr>
          <p:nvPr>
            <p:custDataLst>
              <p:tags r:id="rId7"/>
            </p:custDataLst>
          </p:nvPr>
        </p:nvSpPr>
        <p:spPr bwMode="auto">
          <a:xfrm>
            <a:off x="6669405" y="3097753"/>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7" name="文本框 18"/>
          <p:cNvSpPr txBox="1">
            <a:spLocks noChangeArrowheads="1"/>
          </p:cNvSpPr>
          <p:nvPr>
            <p:custDataLst>
              <p:tags r:id="rId8"/>
            </p:custDataLst>
          </p:nvPr>
        </p:nvSpPr>
        <p:spPr bwMode="auto">
          <a:xfrm>
            <a:off x="7383780" y="2798668"/>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数据重用</a:t>
            </a:r>
          </a:p>
        </p:txBody>
      </p:sp>
      <p:sp>
        <p:nvSpPr>
          <p:cNvPr id="8" name="文本框 7"/>
          <p:cNvSpPr txBox="1"/>
          <p:nvPr>
            <p:custDataLst>
              <p:tags r:id="rId9"/>
            </p:custDataLst>
          </p:nvPr>
        </p:nvSpPr>
        <p:spPr>
          <a:xfrm>
            <a:off x="7393940" y="3196178"/>
            <a:ext cx="4445000" cy="661529"/>
          </a:xfrm>
          <a:prstGeom prst="rect">
            <a:avLst/>
          </a:prstGeom>
        </p:spPr>
        <p:txBody>
          <a:bodyPr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包括数据结构的重用、输入数据的重用和中间结果的重用等。</a:t>
            </a:r>
          </a:p>
        </p:txBody>
      </p:sp>
      <p:sp>
        <p:nvSpPr>
          <p:cNvPr id="10" name="Oval 5"/>
          <p:cNvSpPr/>
          <p:nvPr>
            <p:custDataLst>
              <p:tags r:id="rId10"/>
            </p:custDataLst>
          </p:nvPr>
        </p:nvSpPr>
        <p:spPr>
          <a:xfrm>
            <a:off x="931768" y="4504296"/>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a:endParaRPr lang="en-US" kern="0" dirty="0"/>
          </a:p>
        </p:txBody>
      </p:sp>
      <p:sp>
        <p:nvSpPr>
          <p:cNvPr id="11" name="Freeform 7"/>
          <p:cNvSpPr>
            <a:spLocks noEditPoints="1"/>
          </p:cNvSpPr>
          <p:nvPr>
            <p:custDataLst>
              <p:tags r:id="rId11"/>
            </p:custDataLst>
          </p:nvPr>
        </p:nvSpPr>
        <p:spPr bwMode="auto">
          <a:xfrm>
            <a:off x="1117188" y="4688446"/>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2" name="文本框 18"/>
          <p:cNvSpPr txBox="1">
            <a:spLocks noChangeArrowheads="1"/>
          </p:cNvSpPr>
          <p:nvPr>
            <p:custDataLst>
              <p:tags r:id="rId12"/>
            </p:custDataLst>
          </p:nvPr>
        </p:nvSpPr>
        <p:spPr bwMode="auto">
          <a:xfrm>
            <a:off x="1831563" y="4389361"/>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用户界面</a:t>
            </a:r>
          </a:p>
        </p:txBody>
      </p:sp>
      <p:sp>
        <p:nvSpPr>
          <p:cNvPr id="13" name="文本框 12"/>
          <p:cNvSpPr txBox="1"/>
          <p:nvPr>
            <p:custDataLst>
              <p:tags r:id="rId13"/>
            </p:custDataLst>
          </p:nvPr>
        </p:nvSpPr>
        <p:spPr>
          <a:xfrm>
            <a:off x="1841723" y="4786871"/>
            <a:ext cx="4335145" cy="366063"/>
          </a:xfrm>
          <a:prstGeom prst="rect">
            <a:avLst/>
          </a:prstGeom>
        </p:spPr>
        <p:txBody>
          <a:bodyPr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很多情况下用户界面可以重用。</a:t>
            </a:r>
          </a:p>
        </p:txBody>
      </p:sp>
      <p:sp>
        <p:nvSpPr>
          <p:cNvPr id="17" name="Oval 5"/>
          <p:cNvSpPr/>
          <p:nvPr>
            <p:custDataLst>
              <p:tags r:id="rId14"/>
            </p:custDataLst>
          </p:nvPr>
        </p:nvSpPr>
        <p:spPr>
          <a:xfrm>
            <a:off x="6483985" y="4537343"/>
            <a:ext cx="775970" cy="774700"/>
          </a:xfrm>
          <a:prstGeom prst="ellipse">
            <a:avLst/>
          </a:prstGeom>
          <a:solidFill>
            <a:schemeClr val="accent5"/>
          </a:solidFill>
          <a:ln w="25400" cap="flat" cmpd="sng" algn="ctr">
            <a:noFill/>
            <a:prstDash val="solid"/>
          </a:ln>
          <a:effectLst/>
        </p:spPr>
        <p:txBody>
          <a:bodyPr anchor="ctr">
            <a:normAutofit/>
          </a:bodyPr>
          <a:lstStyle/>
          <a:p>
            <a:pPr algn="ctr" defTabSz="1217295"/>
            <a:endParaRPr lang="en-US" kern="0" dirty="0"/>
          </a:p>
        </p:txBody>
      </p:sp>
      <p:sp>
        <p:nvSpPr>
          <p:cNvPr id="18" name="Freeform 7"/>
          <p:cNvSpPr>
            <a:spLocks noEditPoints="1"/>
          </p:cNvSpPr>
          <p:nvPr>
            <p:custDataLst>
              <p:tags r:id="rId15"/>
            </p:custDataLst>
          </p:nvPr>
        </p:nvSpPr>
        <p:spPr bwMode="auto">
          <a:xfrm>
            <a:off x="6669405" y="4721493"/>
            <a:ext cx="405130" cy="40640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lIns="121682" tIns="60841" rIns="121682" bIns="60841">
            <a:normAutofit/>
          </a:bodyPr>
          <a:lstStyle/>
          <a:p>
            <a:pPr defTabSz="1217295" eaLnBrk="1" hangingPunct="1">
              <a:spcBef>
                <a:spcPts val="0"/>
              </a:spcBef>
              <a:spcAft>
                <a:spcPts val="0"/>
              </a:spcAft>
              <a:defRPr/>
            </a:pPr>
            <a:endParaRPr lang="en-US" sz="1800" kern="0" dirty="0"/>
          </a:p>
        </p:txBody>
      </p:sp>
      <p:sp>
        <p:nvSpPr>
          <p:cNvPr id="19" name="文本框 18"/>
          <p:cNvSpPr txBox="1">
            <a:spLocks noChangeArrowheads="1"/>
          </p:cNvSpPr>
          <p:nvPr>
            <p:custDataLst>
              <p:tags r:id="rId16"/>
            </p:custDataLst>
          </p:nvPr>
        </p:nvSpPr>
        <p:spPr bwMode="auto">
          <a:xfrm>
            <a:off x="7383780" y="4422408"/>
            <a:ext cx="2378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mj-lt"/>
                <a:ea typeface="+mj-ea"/>
                <a:cs typeface="+mj-cs"/>
              </a:rPr>
              <a:t>测试用例</a:t>
            </a:r>
          </a:p>
        </p:txBody>
      </p:sp>
      <p:sp>
        <p:nvSpPr>
          <p:cNvPr id="20" name="文本框 19"/>
          <p:cNvSpPr txBox="1"/>
          <p:nvPr>
            <p:custDataLst>
              <p:tags r:id="rId17"/>
            </p:custDataLst>
          </p:nvPr>
        </p:nvSpPr>
        <p:spPr>
          <a:xfrm>
            <a:off x="7393940" y="4819918"/>
            <a:ext cx="4383405" cy="661529"/>
          </a:xfrm>
          <a:prstGeom prst="rect">
            <a:avLst/>
          </a:prstGeom>
        </p:spPr>
        <p:txBody>
          <a:bodyPr lIns="90000" tIns="46800" rIns="90000" bIns="46800">
            <a:spAutoFit/>
          </a:bodyPr>
          <a:lstStyle>
            <a:defPPr>
              <a:defRPr lang="zh-CN"/>
            </a:defPPr>
            <a:lvl1pPr>
              <a:spcBef>
                <a:spcPts val="0"/>
              </a:spcBef>
              <a:spcAft>
                <a:spcPts val="0"/>
              </a:spcAft>
              <a:defRPr sz="1800"/>
            </a:lvl1pPr>
          </a:lstStyle>
          <a:p>
            <a:pPr>
              <a:lnSpc>
                <a:spcPct val="120000"/>
              </a:lnSpc>
            </a:pPr>
            <a:r>
              <a:rPr lang="zh-CN" altLang="en-US" sz="1600" dirty="0"/>
              <a:t>一旦设计或代码构件被重用，相关的测试用例也应该被重用。</a:t>
            </a:r>
          </a:p>
        </p:txBody>
      </p:sp>
      <p:sp>
        <p:nvSpPr>
          <p:cNvPr id="25" name="TextBox 1"/>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27" name="直接连接符 26"/>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8" name="矩形 7"/>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可重用软件成分的具体内容</a:t>
            </a:r>
          </a:p>
        </p:txBody>
      </p:sp>
    </p:spTree>
    <p:custDataLst>
      <p:tags r:id="rId1"/>
    </p:custDataLst>
  </p:cSld>
  <p:clrMapOvr>
    <a:masterClrMapping/>
  </p:clrMapOvr>
  <p:transition>
    <p:wheel spokes="3"/>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5.2.2 </a:t>
            </a:r>
            <a:r>
              <a:rPr lang="zh-CN" altLang="en-US" sz="2400" dirty="0">
                <a:solidFill>
                  <a:schemeClr val="tx1"/>
                </a:solidFill>
              </a:rPr>
              <a:t>软件重用的过程模型</a:t>
            </a:r>
          </a:p>
        </p:txBody>
      </p:sp>
      <p:sp>
        <p:nvSpPr>
          <p:cNvPr id="6" name="MH_SubTitle_1"/>
          <p:cNvSpPr/>
          <p:nvPr>
            <p:custDataLst>
              <p:tags r:id="rId2"/>
            </p:custDataLst>
          </p:nvPr>
        </p:nvSpPr>
        <p:spPr>
          <a:xfrm>
            <a:off x="1501867" y="2343753"/>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软件重用的组装模型</a:t>
            </a:r>
          </a:p>
        </p:txBody>
      </p:sp>
      <p:sp>
        <p:nvSpPr>
          <p:cNvPr id="7" name="MH_Other_1"/>
          <p:cNvSpPr/>
          <p:nvPr>
            <p:custDataLst>
              <p:tags r:id="rId3"/>
            </p:custDataLst>
          </p:nvPr>
        </p:nvSpPr>
        <p:spPr>
          <a:xfrm>
            <a:off x="0" y="2220532"/>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01</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4"/>
            </p:custDataLst>
          </p:nvPr>
        </p:nvSpPr>
        <p:spPr>
          <a:xfrm>
            <a:off x="987043" y="2220532"/>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2" name="MH_Desc_1"/>
          <p:cNvSpPr/>
          <p:nvPr>
            <p:custDataLst>
              <p:tags r:id="rId5"/>
            </p:custDataLst>
          </p:nvPr>
        </p:nvSpPr>
        <p:spPr>
          <a:xfrm>
            <a:off x="5981700" y="3224787"/>
            <a:ext cx="5628005" cy="1780534"/>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spAutoFit/>
          </a:bodyPr>
          <a:lstStyle/>
          <a:p>
            <a:pPr indent="457200">
              <a:lnSpc>
                <a:spcPct val="120000"/>
              </a:lnSpc>
            </a:pPr>
            <a:r>
              <a:rPr dirty="0">
                <a:solidFill>
                  <a:schemeClr val="tx1"/>
                </a:solidFill>
              </a:rPr>
              <a:t>最简单的软件重用过程是，先将以往软件工程项目中建立的软件构件存储在构件库中；通过对软件构件库进行查询，提取可以重用的构件，为了适应新系统，对它们做一些修改，并建造新系统需要的其他构件，再将需要的所有构件组装成新系统。</a:t>
            </a:r>
          </a:p>
        </p:txBody>
      </p:sp>
      <p:sp>
        <p:nvSpPr>
          <p:cNvPr id="3" name="流程图: 决策 2">
            <a:extLst>
              <a:ext uri="{FF2B5EF4-FFF2-40B4-BE49-F238E27FC236}">
                <a16:creationId xmlns:a16="http://schemas.microsoft.com/office/drawing/2014/main" id="{835C3BBE-8E03-4C5D-184C-8D76E98901C9}"/>
              </a:ext>
            </a:extLst>
          </p:cNvPr>
          <p:cNvSpPr/>
          <p:nvPr/>
        </p:nvSpPr>
        <p:spPr>
          <a:xfrm>
            <a:off x="382552" y="4450702"/>
            <a:ext cx="1184988" cy="485192"/>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查询</a:t>
            </a:r>
          </a:p>
        </p:txBody>
      </p:sp>
      <p:sp>
        <p:nvSpPr>
          <p:cNvPr id="4" name="椭圆 3">
            <a:extLst>
              <a:ext uri="{FF2B5EF4-FFF2-40B4-BE49-F238E27FC236}">
                <a16:creationId xmlns:a16="http://schemas.microsoft.com/office/drawing/2014/main" id="{FB9BC450-CE77-D5EC-5368-68AA0E089C32}"/>
              </a:ext>
            </a:extLst>
          </p:cNvPr>
          <p:cNvSpPr/>
          <p:nvPr/>
        </p:nvSpPr>
        <p:spPr>
          <a:xfrm>
            <a:off x="2343079" y="4450702"/>
            <a:ext cx="1184988" cy="48519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构件库</a:t>
            </a:r>
          </a:p>
        </p:txBody>
      </p:sp>
      <p:sp>
        <p:nvSpPr>
          <p:cNvPr id="5" name="矩形 4">
            <a:extLst>
              <a:ext uri="{FF2B5EF4-FFF2-40B4-BE49-F238E27FC236}">
                <a16:creationId xmlns:a16="http://schemas.microsoft.com/office/drawing/2014/main" id="{C458C0AA-6FE1-0059-D84A-A2E7B0CDB059}"/>
              </a:ext>
            </a:extLst>
          </p:cNvPr>
          <p:cNvSpPr/>
          <p:nvPr/>
        </p:nvSpPr>
        <p:spPr>
          <a:xfrm>
            <a:off x="4161134" y="4450702"/>
            <a:ext cx="1184988" cy="48519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新系统</a:t>
            </a:r>
          </a:p>
        </p:txBody>
      </p:sp>
      <p:cxnSp>
        <p:nvCxnSpPr>
          <p:cNvPr id="9" name="直接箭头连接符 8">
            <a:extLst>
              <a:ext uri="{FF2B5EF4-FFF2-40B4-BE49-F238E27FC236}">
                <a16:creationId xmlns:a16="http://schemas.microsoft.com/office/drawing/2014/main" id="{8CE3512B-A4D3-4F4F-DECE-90E2A35618EA}"/>
              </a:ext>
            </a:extLst>
          </p:cNvPr>
          <p:cNvCxnSpPr>
            <a:stCxn id="3" idx="3"/>
            <a:endCxn id="4" idx="2"/>
          </p:cNvCxnSpPr>
          <p:nvPr/>
        </p:nvCxnSpPr>
        <p:spPr>
          <a:xfrm>
            <a:off x="1567540" y="4693298"/>
            <a:ext cx="77553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446D9682-A82C-B085-31D8-47C344D4C0DB}"/>
              </a:ext>
            </a:extLst>
          </p:cNvPr>
          <p:cNvCxnSpPr>
            <a:stCxn id="4" idx="6"/>
            <a:endCxn id="5" idx="1"/>
          </p:cNvCxnSpPr>
          <p:nvPr/>
        </p:nvCxnSpPr>
        <p:spPr>
          <a:xfrm>
            <a:off x="3528067" y="4693298"/>
            <a:ext cx="6330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连接符: 肘形 14">
            <a:extLst>
              <a:ext uri="{FF2B5EF4-FFF2-40B4-BE49-F238E27FC236}">
                <a16:creationId xmlns:a16="http://schemas.microsoft.com/office/drawing/2014/main" id="{226F0369-6819-E016-00BB-A19F34A1F7FF}"/>
              </a:ext>
            </a:extLst>
          </p:cNvPr>
          <p:cNvCxnSpPr>
            <a:cxnSpLocks/>
            <a:stCxn id="4" idx="0"/>
            <a:endCxn id="17" idx="0"/>
          </p:cNvCxnSpPr>
          <p:nvPr/>
        </p:nvCxnSpPr>
        <p:spPr>
          <a:xfrm rot="16200000" flipH="1">
            <a:off x="3265817" y="4120458"/>
            <a:ext cx="248540" cy="909028"/>
          </a:xfrm>
          <a:prstGeom prst="bentConnector3">
            <a:avLst>
              <a:gd name="adj1" fmla="val -919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EC822BDF-5D60-A8B8-EFF2-51670FE9F999}"/>
              </a:ext>
            </a:extLst>
          </p:cNvPr>
          <p:cNvSpPr txBox="1"/>
          <p:nvPr/>
        </p:nvSpPr>
        <p:spPr>
          <a:xfrm>
            <a:off x="3572731" y="4699242"/>
            <a:ext cx="543739" cy="329962"/>
          </a:xfrm>
          <a:prstGeom prst="rect">
            <a:avLst/>
          </a:prstGeom>
          <a:noFill/>
        </p:spPr>
        <p:txBody>
          <a:bodyPr wrap="none" rtlCol="0">
            <a:spAutoFit/>
          </a:bodyPr>
          <a:lstStyle/>
          <a:p>
            <a:pPr algn="l">
              <a:lnSpc>
                <a:spcPct val="120000"/>
              </a:lnSpc>
            </a:pPr>
            <a:r>
              <a:rPr lang="zh-CN" altLang="en-US" sz="1400" dirty="0"/>
              <a:t>组装</a:t>
            </a:r>
          </a:p>
        </p:txBody>
      </p:sp>
      <p:sp>
        <p:nvSpPr>
          <p:cNvPr id="19" name="文本框 18">
            <a:extLst>
              <a:ext uri="{FF2B5EF4-FFF2-40B4-BE49-F238E27FC236}">
                <a16:creationId xmlns:a16="http://schemas.microsoft.com/office/drawing/2014/main" id="{D7986FF0-BA0F-56C1-2996-9D103D32DA51}"/>
              </a:ext>
            </a:extLst>
          </p:cNvPr>
          <p:cNvSpPr txBox="1"/>
          <p:nvPr/>
        </p:nvSpPr>
        <p:spPr>
          <a:xfrm>
            <a:off x="2856029" y="3887733"/>
            <a:ext cx="1074333" cy="329962"/>
          </a:xfrm>
          <a:prstGeom prst="rect">
            <a:avLst/>
          </a:prstGeom>
          <a:noFill/>
        </p:spPr>
        <p:txBody>
          <a:bodyPr wrap="none" rtlCol="0">
            <a:spAutoFit/>
          </a:bodyPr>
          <a:lstStyle/>
          <a:p>
            <a:pPr algn="ctr">
              <a:lnSpc>
                <a:spcPct val="120000"/>
              </a:lnSpc>
            </a:pPr>
            <a:r>
              <a:rPr lang="zh-CN" altLang="en-US" sz="1400" dirty="0"/>
              <a:t>适应性修改</a:t>
            </a:r>
          </a:p>
        </p:txBody>
      </p:sp>
      <p:sp>
        <p:nvSpPr>
          <p:cNvPr id="20" name="文本框 19">
            <a:extLst>
              <a:ext uri="{FF2B5EF4-FFF2-40B4-BE49-F238E27FC236}">
                <a16:creationId xmlns:a16="http://schemas.microsoft.com/office/drawing/2014/main" id="{557DFD72-388C-A0C0-9513-16E6F900F53A}"/>
              </a:ext>
            </a:extLst>
          </p:cNvPr>
          <p:cNvSpPr txBox="1"/>
          <p:nvPr/>
        </p:nvSpPr>
        <p:spPr>
          <a:xfrm>
            <a:off x="1503903" y="4389799"/>
            <a:ext cx="902812" cy="329962"/>
          </a:xfrm>
          <a:prstGeom prst="rect">
            <a:avLst/>
          </a:prstGeom>
          <a:noFill/>
        </p:spPr>
        <p:txBody>
          <a:bodyPr wrap="none" rtlCol="0">
            <a:spAutoFit/>
          </a:bodyPr>
          <a:lstStyle/>
          <a:p>
            <a:pPr algn="ctr">
              <a:lnSpc>
                <a:spcPct val="120000"/>
              </a:lnSpc>
            </a:pPr>
            <a:r>
              <a:rPr lang="zh-CN" altLang="en-US" sz="1400" dirty="0"/>
              <a:t>构建理解</a:t>
            </a:r>
          </a:p>
        </p:txBody>
      </p:sp>
    </p:spTree>
    <p:custDataLst>
      <p:tags r:id="rId1"/>
    </p:custDataLst>
  </p:cSld>
  <p:clrMapOvr>
    <a:masterClrMapping/>
  </p:clrMapOvr>
  <p:transition>
    <p:wheel spokes="3"/>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软件重用和再工程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5.2.2 </a:t>
            </a:r>
            <a:r>
              <a:rPr lang="zh-CN" altLang="en-US" sz="2400" dirty="0">
                <a:solidFill>
                  <a:schemeClr val="tx1"/>
                </a:solidFill>
              </a:rPr>
              <a:t>软件重用的过程模型</a:t>
            </a:r>
          </a:p>
        </p:txBody>
      </p:sp>
      <p:sp>
        <p:nvSpPr>
          <p:cNvPr id="12" name="MH_Desc_1"/>
          <p:cNvSpPr/>
          <p:nvPr>
            <p:custDataLst>
              <p:tags r:id="rId2"/>
            </p:custDataLst>
          </p:nvPr>
        </p:nvSpPr>
        <p:spPr>
          <a:xfrm>
            <a:off x="5981700" y="3543537"/>
            <a:ext cx="5436000" cy="1115736"/>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spAutoFit/>
          </a:bodyPr>
          <a:lstStyle/>
          <a:p>
            <a:pPr indent="457200">
              <a:lnSpc>
                <a:spcPct val="120000"/>
              </a:lnSpc>
            </a:pPr>
            <a:r>
              <a:rPr lang="zh-CN" altLang="en-US" dirty="0">
                <a:solidFill>
                  <a:schemeClr val="tx1"/>
                </a:solidFill>
              </a:rPr>
              <a:t>利用面向对象技术，可以比较方便、有效地实现软件重用。面向对象技术中的类是比较理想的可重用软件构件，称之为类构件。</a:t>
            </a:r>
            <a:endParaRPr dirty="0">
              <a:solidFill>
                <a:schemeClr val="tx1"/>
              </a:solidFill>
            </a:endParaRPr>
          </a:p>
        </p:txBody>
      </p:sp>
      <p:pic>
        <p:nvPicPr>
          <p:cNvPr id="3" name="图片 2" descr="A000220150322D19PPIC"/>
          <p:cNvPicPr>
            <a:picLocks noChangeAspect="1"/>
          </p:cNvPicPr>
          <p:nvPr/>
        </p:nvPicPr>
        <p:blipFill>
          <a:blip r:embed="rId8" cstate="print"/>
          <a:stretch>
            <a:fillRect/>
          </a:stretch>
        </p:blipFill>
        <p:spPr>
          <a:xfrm>
            <a:off x="1006475" y="3539749"/>
            <a:ext cx="3197225" cy="2413635"/>
          </a:xfrm>
          <a:prstGeom prst="rect">
            <a:avLst/>
          </a:prstGeom>
        </p:spPr>
      </p:pic>
      <p:sp>
        <p:nvSpPr>
          <p:cNvPr id="9" name="MH_SubTitle_1">
            <a:extLst>
              <a:ext uri="{FF2B5EF4-FFF2-40B4-BE49-F238E27FC236}">
                <a16:creationId xmlns:a16="http://schemas.microsoft.com/office/drawing/2014/main" id="{07BBB876-1AC5-7089-4B90-188DF2D9C20B}"/>
              </a:ext>
            </a:extLst>
          </p:cNvPr>
          <p:cNvSpPr/>
          <p:nvPr>
            <p:custDataLst>
              <p:tags r:id="rId3"/>
            </p:custDataLst>
          </p:nvPr>
        </p:nvSpPr>
        <p:spPr>
          <a:xfrm>
            <a:off x="1501867" y="2343753"/>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类构件的重用</a:t>
            </a:r>
          </a:p>
        </p:txBody>
      </p:sp>
      <p:sp>
        <p:nvSpPr>
          <p:cNvPr id="10" name="MH_Other_1">
            <a:extLst>
              <a:ext uri="{FF2B5EF4-FFF2-40B4-BE49-F238E27FC236}">
                <a16:creationId xmlns:a16="http://schemas.microsoft.com/office/drawing/2014/main" id="{94F54CCF-6A2B-0AAE-88F6-50ABC61D5B08}"/>
              </a:ext>
            </a:extLst>
          </p:cNvPr>
          <p:cNvSpPr/>
          <p:nvPr>
            <p:custDataLst>
              <p:tags r:id="rId4"/>
            </p:custDataLst>
          </p:nvPr>
        </p:nvSpPr>
        <p:spPr>
          <a:xfrm>
            <a:off x="0" y="2220532"/>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02</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13" name="MH_Other_2">
            <a:extLst>
              <a:ext uri="{FF2B5EF4-FFF2-40B4-BE49-F238E27FC236}">
                <a16:creationId xmlns:a16="http://schemas.microsoft.com/office/drawing/2014/main" id="{8E1D28BE-F8D0-2A9C-CEF1-0DBE9CE6986A}"/>
              </a:ext>
            </a:extLst>
          </p:cNvPr>
          <p:cNvSpPr/>
          <p:nvPr>
            <p:custDataLst>
              <p:tags r:id="rId5"/>
            </p:custDataLst>
          </p:nvPr>
        </p:nvSpPr>
        <p:spPr>
          <a:xfrm>
            <a:off x="987043" y="2220532"/>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wheel spokes="3"/>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lstStyle/>
          <a:p>
            <a:r>
              <a:rPr lang="en-US" dirty="0">
                <a:sym typeface="+mn-ea"/>
              </a:rPr>
              <a:t>5.2 </a:t>
            </a:r>
            <a:r>
              <a:rPr lang="zh-CN" altLang="en-US" dirty="0">
                <a:sym typeface="+mn-ea"/>
              </a:rPr>
              <a:t>软件重用和再工程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5.2.2 </a:t>
            </a:r>
            <a:r>
              <a:rPr lang="zh-CN" altLang="en-US" sz="2400" dirty="0">
                <a:solidFill>
                  <a:schemeClr val="tx1"/>
                </a:solidFill>
              </a:rPr>
              <a:t>软件重用的过程模型</a:t>
            </a:r>
          </a:p>
        </p:txBody>
      </p:sp>
      <p:sp>
        <p:nvSpPr>
          <p:cNvPr id="24" name="MH_SubTitle_1"/>
          <p:cNvSpPr/>
          <p:nvPr>
            <p:custDataLst>
              <p:tags r:id="rId2"/>
            </p:custDataLst>
          </p:nvPr>
        </p:nvSpPr>
        <p:spPr bwMode="auto">
          <a:xfrm>
            <a:off x="4417060" y="2143210"/>
            <a:ext cx="1534383" cy="201704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3"/>
            </p:custDataLst>
          </p:nvPr>
        </p:nvSpPr>
        <p:spPr bwMode="auto">
          <a:xfrm>
            <a:off x="4670394" y="3886319"/>
            <a:ext cx="2465478" cy="894832"/>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4"/>
            </p:custDataLst>
          </p:nvPr>
        </p:nvSpPr>
        <p:spPr bwMode="auto">
          <a:xfrm>
            <a:off x="5790996" y="2137410"/>
            <a:ext cx="1484199" cy="195726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28" name="组合 12"/>
          <p:cNvGrpSpPr/>
          <p:nvPr/>
        </p:nvGrpSpPr>
        <p:grpSpPr>
          <a:xfrm>
            <a:off x="4440847" y="2356901"/>
            <a:ext cx="2726046" cy="2447509"/>
            <a:chOff x="3568838" y="2222360"/>
            <a:chExt cx="4560555" cy="3742535"/>
          </a:xfrm>
        </p:grpSpPr>
        <p:sp>
          <p:nvSpPr>
            <p:cNvPr id="30" name="MH_SubTitle_2"/>
            <p:cNvSpPr/>
            <p:nvPr>
              <p:custDataLst>
                <p:tags r:id="rId12"/>
              </p:custDataLst>
            </p:nvPr>
          </p:nvSpPr>
          <p:spPr>
            <a:xfrm rot="3733167">
              <a:off x="3859969" y="1931229"/>
              <a:ext cx="3742535" cy="4324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继承重用</a:t>
              </a:r>
            </a:p>
          </p:txBody>
        </p:sp>
        <p:sp>
          <p:nvSpPr>
            <p:cNvPr id="31" name="MH_Other_2"/>
            <p:cNvSpPr/>
            <p:nvPr>
              <p:custDataLst>
                <p:tags r:id="rId13"/>
              </p:custDataLst>
            </p:nvPr>
          </p:nvSpPr>
          <p:spPr>
            <a:xfrm rot="10873167">
              <a:off x="3932989" y="2261238"/>
              <a:ext cx="3919715" cy="32882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多态重用</a:t>
              </a:r>
            </a:p>
          </p:txBody>
        </p:sp>
        <p:sp>
          <p:nvSpPr>
            <p:cNvPr id="32" name="MH_Other_3"/>
            <p:cNvSpPr/>
            <p:nvPr>
              <p:custDataLst>
                <p:tags r:id="rId14"/>
              </p:custDataLst>
            </p:nvPr>
          </p:nvSpPr>
          <p:spPr>
            <a:xfrm rot="18073167">
              <a:off x="4272288" y="1979262"/>
              <a:ext cx="3528582" cy="41856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实例重用</a:t>
              </a:r>
            </a:p>
          </p:txBody>
        </p:sp>
      </p:grpSp>
      <p:sp>
        <p:nvSpPr>
          <p:cNvPr id="33" name="MH_Title_1"/>
          <p:cNvSpPr/>
          <p:nvPr>
            <p:custDataLst>
              <p:tags r:id="rId5"/>
            </p:custDataLst>
          </p:nvPr>
        </p:nvSpPr>
        <p:spPr>
          <a:xfrm>
            <a:off x="4981772" y="2657540"/>
            <a:ext cx="1757547" cy="16132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类构件的重用</a:t>
            </a:r>
          </a:p>
        </p:txBody>
      </p:sp>
      <p:sp>
        <p:nvSpPr>
          <p:cNvPr id="34" name="MH_Other_2"/>
          <p:cNvSpPr/>
          <p:nvPr>
            <p:custDataLst>
              <p:tags r:id="rId6"/>
            </p:custDataLst>
          </p:nvPr>
        </p:nvSpPr>
        <p:spPr>
          <a:xfrm rot="16200000" flipH="1" flipV="1">
            <a:off x="6859905" y="1769745"/>
            <a:ext cx="466725" cy="708025"/>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5" name="MH_SubTitle_4"/>
          <p:cNvSpPr txBox="1"/>
          <p:nvPr>
            <p:custDataLst>
              <p:tags r:id="rId7"/>
            </p:custDataLst>
          </p:nvPr>
        </p:nvSpPr>
        <p:spPr bwMode="auto">
          <a:xfrm>
            <a:off x="7526021" y="1743710"/>
            <a:ext cx="3856354" cy="3810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zh-CN" altLang="en-US" sz="2000" dirty="0">
                <a:solidFill>
                  <a:srgbClr val="00B0F0"/>
                </a:solidFill>
                <a:latin typeface="+mj-ea"/>
                <a:ea typeface="+mj-ea"/>
              </a:rPr>
              <a:t>继承重用</a:t>
            </a:r>
            <a:endParaRPr lang="en-US" altLang="zh-CN" sz="2000" dirty="0">
              <a:latin typeface="+mj-ea"/>
              <a:ea typeface="+mj-ea"/>
            </a:endParaRPr>
          </a:p>
          <a:p>
            <a:pPr fontAlgn="auto">
              <a:lnSpc>
                <a:spcPct val="120000"/>
              </a:lnSpc>
              <a:defRPr/>
            </a:pPr>
            <a:r>
              <a:rPr lang="zh-CN" altLang="en-US" dirty="0">
                <a:latin typeface="+mn-ea"/>
                <a:ea typeface="+mn-ea"/>
                <a:sym typeface="+mn-ea"/>
              </a:rPr>
              <a:t>利用面向对象编程 </a:t>
            </a:r>
            <a:r>
              <a:rPr lang="en-US" altLang="zh-CN" dirty="0">
                <a:latin typeface="+mn-ea"/>
                <a:ea typeface="+mn-ea"/>
                <a:sym typeface="+mn-ea"/>
              </a:rPr>
              <a:t>OOP </a:t>
            </a:r>
            <a:r>
              <a:rPr lang="zh-CN" altLang="en-US" dirty="0">
                <a:latin typeface="+mn-ea"/>
                <a:ea typeface="+mn-ea"/>
                <a:sym typeface="+mn-ea"/>
              </a:rPr>
              <a:t>的继承性机制，子类可以继承父类已经定义的所有数据和操作，也可以另外定义新的数据和操作。</a:t>
            </a:r>
            <a:endParaRPr lang="zh-CN" altLang="en-US" dirty="0">
              <a:latin typeface="+mn-ea"/>
              <a:ea typeface="+mn-ea"/>
            </a:endParaRPr>
          </a:p>
          <a:p>
            <a:pPr fontAlgn="auto">
              <a:lnSpc>
                <a:spcPct val="120000"/>
              </a:lnSpc>
              <a:defRPr/>
            </a:pPr>
            <a:r>
              <a:rPr lang="zh-CN" altLang="en-US" dirty="0">
                <a:latin typeface="+mn-ea"/>
                <a:ea typeface="+mn-ea"/>
                <a:sym typeface="+mn-ea"/>
              </a:rPr>
              <a:t>为提高继承重用的效果，关键是设计一个合理的、具有一定深度的类构件继承层次结构。这样可以降低类构件的接口复杂度，提高类的可理解性，为软件开发人员提供更多可重用的类构件。</a:t>
            </a:r>
            <a:endParaRPr lang="zh-CN" altLang="en-US" dirty="0">
              <a:latin typeface="+mn-ea"/>
              <a:ea typeface="+mn-ea"/>
            </a:endParaRPr>
          </a:p>
        </p:txBody>
      </p:sp>
      <p:sp>
        <p:nvSpPr>
          <p:cNvPr id="36" name="MH_Other_2"/>
          <p:cNvSpPr/>
          <p:nvPr>
            <p:custDataLst>
              <p:tags r:id="rId8"/>
            </p:custDataLst>
          </p:nvPr>
        </p:nvSpPr>
        <p:spPr>
          <a:xfrm rot="5400000" flipV="1">
            <a:off x="4302125" y="2014855"/>
            <a:ext cx="393700" cy="69469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7" name="MH_SubTitle_4"/>
          <p:cNvSpPr txBox="1"/>
          <p:nvPr>
            <p:custDataLst>
              <p:tags r:id="rId9"/>
            </p:custDataLst>
          </p:nvPr>
        </p:nvSpPr>
        <p:spPr bwMode="auto">
          <a:xfrm>
            <a:off x="809625" y="1969770"/>
            <a:ext cx="3354070" cy="1483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20000"/>
              </a:lnSpc>
              <a:defRPr/>
            </a:pPr>
            <a:r>
              <a:rPr lang="zh-CN" altLang="en-US" sz="2000" dirty="0">
                <a:solidFill>
                  <a:srgbClr val="00B0F0"/>
                </a:solidFill>
                <a:latin typeface="+mj-ea"/>
                <a:ea typeface="+mj-ea"/>
              </a:rPr>
              <a:t>实例重用</a:t>
            </a:r>
          </a:p>
          <a:p>
            <a:pPr algn="l">
              <a:lnSpc>
                <a:spcPct val="120000"/>
              </a:lnSpc>
              <a:defRPr/>
            </a:pPr>
            <a:r>
              <a:rPr lang="zh-CN" altLang="en-US" dirty="0">
                <a:latin typeface="+mn-ea"/>
                <a:ea typeface="+mn-ea"/>
              </a:rPr>
              <a:t>按照需要创建类的实例，然后向该实例发送适当的消息，启动相应的服务，完成所需要的工作。</a:t>
            </a:r>
          </a:p>
        </p:txBody>
      </p:sp>
      <p:sp>
        <p:nvSpPr>
          <p:cNvPr id="38" name="MH_Other_2"/>
          <p:cNvSpPr/>
          <p:nvPr>
            <p:custDataLst>
              <p:tags r:id="rId10"/>
            </p:custDataLst>
          </p:nvPr>
        </p:nvSpPr>
        <p:spPr>
          <a:xfrm rot="16200000">
            <a:off x="4454525" y="4053840"/>
            <a:ext cx="214630" cy="135763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9" name="MH_SubTitle_4"/>
          <p:cNvSpPr txBox="1"/>
          <p:nvPr>
            <p:custDataLst>
              <p:tags r:id="rId11"/>
            </p:custDataLst>
          </p:nvPr>
        </p:nvSpPr>
        <p:spPr bwMode="auto">
          <a:xfrm>
            <a:off x="809625" y="4625340"/>
            <a:ext cx="6466205" cy="11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2000" tIns="72000" rIns="72000" bIns="72000">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20000"/>
              </a:lnSpc>
              <a:defRPr/>
            </a:pPr>
            <a:r>
              <a:rPr lang="en-US" altLang="zh-CN" sz="2000" b="1" dirty="0">
                <a:solidFill>
                  <a:srgbClr val="00B0F0"/>
                </a:solidFill>
                <a:latin typeface="微软雅黑" panose="020B0503020204020204" charset="-122"/>
                <a:ea typeface="微软雅黑" panose="020B0503020204020204" charset="-122"/>
              </a:rPr>
              <a:t>                                         </a:t>
            </a:r>
            <a:r>
              <a:rPr lang="zh-CN" altLang="en-US" sz="2000" dirty="0">
                <a:solidFill>
                  <a:srgbClr val="00B0F0"/>
                </a:solidFill>
                <a:latin typeface="+mj-ea"/>
                <a:ea typeface="+mj-ea"/>
              </a:rPr>
              <a:t>多态重用</a:t>
            </a:r>
          </a:p>
          <a:p>
            <a:pPr>
              <a:lnSpc>
                <a:spcPct val="120000"/>
              </a:lnSpc>
              <a:defRPr/>
            </a:pPr>
            <a:r>
              <a:rPr lang="zh-CN" altLang="en-US" dirty="0">
                <a:latin typeface="+mn-ea"/>
                <a:ea typeface="+mn-ea"/>
                <a:sym typeface="+mn-ea"/>
              </a:rPr>
              <a:t>多态重用方法根据接收消息的对象类型，在响应一个一般化的消息时，由多态性机制启动正确的方法，执行不同的操作。</a:t>
            </a:r>
          </a:p>
        </p:txBody>
      </p:sp>
    </p:spTree>
    <p:custDataLst>
      <p:tags r:id="rId1"/>
    </p:custDataLst>
  </p:cSld>
  <p:clrMapOvr>
    <a:masterClrMapping/>
  </p:clrMapOvr>
  <p:transition>
    <p:wheel spokes="3"/>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5D76D7DE-F314-5DEF-9757-DBDAD468CA1F}"/>
              </a:ext>
            </a:extLst>
          </p:cNvPr>
          <p:cNvGraphicFramePr>
            <a:graphicFrameLocks/>
          </p:cNvGraphicFramePr>
          <p:nvPr>
            <p:extLst>
              <p:ext uri="{D42A27DB-BD31-4B8C-83A1-F6EECF244321}">
                <p14:modId xmlns:p14="http://schemas.microsoft.com/office/powerpoint/2010/main" val="1961710481"/>
              </p:ext>
            </p:extLst>
          </p:nvPr>
        </p:nvGraphicFramePr>
        <p:xfrm>
          <a:off x="0" y="3240000"/>
          <a:ext cx="5311775" cy="3602990"/>
        </p:xfrm>
        <a:graphic>
          <a:graphicData uri="http://schemas.openxmlformats.org/presentationml/2006/ole">
            <mc:AlternateContent xmlns:mc="http://schemas.openxmlformats.org/markup-compatibility/2006">
              <mc:Choice xmlns:v="urn:schemas-microsoft-com:vml" Requires="v">
                <p:oleObj r:id="rId8" imgW="3783810" imgH="2976575" progId="Word.Document.12">
                  <p:embed/>
                </p:oleObj>
              </mc:Choice>
              <mc:Fallback>
                <p:oleObj r:id="rId8" imgW="3783810" imgH="2976575" progId="Word.Document.12">
                  <p:embed/>
                  <p:pic>
                    <p:nvPicPr>
                      <p:cNvPr id="8" name="对象 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3240000"/>
                        <a:ext cx="5311775" cy="36029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a:xfrm>
            <a:off x="838800" y="360000"/>
            <a:ext cx="8415337" cy="535531"/>
          </a:xfrm>
        </p:spPr>
        <p:txBody>
          <a:bodyPr>
            <a:normAutofit/>
          </a:bodyPr>
          <a:lstStyle/>
          <a:p>
            <a:r>
              <a:rPr lang="en-US" dirty="0">
                <a:sym typeface="+mn-ea"/>
              </a:rPr>
              <a:t>5.2 软件重用和再工程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5.2.2 </a:t>
            </a:r>
            <a:r>
              <a:rPr lang="zh-CN" altLang="en-US" sz="2400" dirty="0">
                <a:solidFill>
                  <a:schemeClr val="tx1"/>
                </a:solidFill>
              </a:rPr>
              <a:t>软件重用的过程模型</a:t>
            </a:r>
          </a:p>
        </p:txBody>
      </p:sp>
      <p:sp>
        <p:nvSpPr>
          <p:cNvPr id="12" name="MH_Desc_1"/>
          <p:cNvSpPr/>
          <p:nvPr>
            <p:custDataLst>
              <p:tags r:id="rId2"/>
            </p:custDataLst>
          </p:nvPr>
        </p:nvSpPr>
        <p:spPr>
          <a:xfrm>
            <a:off x="6009859" y="2511797"/>
            <a:ext cx="5436000" cy="27777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spAutoFit/>
          </a:bodyPr>
          <a:lstStyle/>
          <a:p>
            <a:pPr>
              <a:lnSpc>
                <a:spcPct val="120000"/>
              </a:lnSpc>
            </a:pPr>
            <a:r>
              <a:rPr lang="zh-CN" altLang="en-US" dirty="0">
                <a:solidFill>
                  <a:schemeClr val="tx1"/>
                </a:solidFill>
              </a:rPr>
              <a:t>为了实现软件重用，已经有许多过程模型，这些模型都强调领域工程和软件工程同时进行。</a:t>
            </a:r>
          </a:p>
          <a:p>
            <a:pPr>
              <a:lnSpc>
                <a:spcPct val="120000"/>
              </a:lnSpc>
            </a:pPr>
            <a:r>
              <a:rPr lang="zh-CN" altLang="en-US" dirty="0">
                <a:solidFill>
                  <a:schemeClr val="tx1"/>
                </a:solidFill>
              </a:rPr>
              <a:t>领域是指具有相似或者相近软件需求的应用系统所覆盖的一组功能区域。</a:t>
            </a:r>
            <a:endParaRPr lang="en-US" altLang="zh-CN" dirty="0">
              <a:solidFill>
                <a:schemeClr val="tx1"/>
              </a:solidFill>
            </a:endParaRPr>
          </a:p>
          <a:p>
            <a:pPr>
              <a:lnSpc>
                <a:spcPct val="120000"/>
              </a:lnSpc>
            </a:pPr>
            <a:r>
              <a:rPr lang="zh-CN" altLang="en-US" dirty="0">
                <a:solidFill>
                  <a:schemeClr val="tx1"/>
                </a:solidFill>
              </a:rPr>
              <a:t>可以根据领域的特性及相似性，预测软件构件的可重用性。</a:t>
            </a:r>
            <a:endParaRPr lang="en-US" altLang="zh-CN" dirty="0">
              <a:solidFill>
                <a:schemeClr val="tx1"/>
              </a:solidFill>
            </a:endParaRPr>
          </a:p>
          <a:p>
            <a:pPr>
              <a:lnSpc>
                <a:spcPct val="120000"/>
              </a:lnSpc>
            </a:pPr>
            <a:r>
              <a:rPr lang="zh-CN" altLang="en-US" dirty="0">
                <a:solidFill>
                  <a:schemeClr val="tx1"/>
                </a:solidFill>
              </a:rPr>
              <a:t>领域工程就是分析、设计和构造具有重用价值的软件构件，进而建立可重用的软件构件库的过程。</a:t>
            </a:r>
          </a:p>
        </p:txBody>
      </p:sp>
      <p:sp>
        <p:nvSpPr>
          <p:cNvPr id="9" name="MH_SubTitle_1">
            <a:extLst>
              <a:ext uri="{FF2B5EF4-FFF2-40B4-BE49-F238E27FC236}">
                <a16:creationId xmlns:a16="http://schemas.microsoft.com/office/drawing/2014/main" id="{3347814E-7D31-80BB-09D4-227D86CB67FD}"/>
              </a:ext>
            </a:extLst>
          </p:cNvPr>
          <p:cNvSpPr/>
          <p:nvPr>
            <p:custDataLst>
              <p:tags r:id="rId3"/>
            </p:custDataLst>
          </p:nvPr>
        </p:nvSpPr>
        <p:spPr>
          <a:xfrm>
            <a:off x="1501867" y="2343753"/>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软件重用过程模型</a:t>
            </a:r>
          </a:p>
        </p:txBody>
      </p:sp>
      <p:sp>
        <p:nvSpPr>
          <p:cNvPr id="10" name="MH_Other_1">
            <a:extLst>
              <a:ext uri="{FF2B5EF4-FFF2-40B4-BE49-F238E27FC236}">
                <a16:creationId xmlns:a16="http://schemas.microsoft.com/office/drawing/2014/main" id="{54C0B11F-EB86-E794-0571-BC096FDCA613}"/>
              </a:ext>
            </a:extLst>
          </p:cNvPr>
          <p:cNvSpPr/>
          <p:nvPr>
            <p:custDataLst>
              <p:tags r:id="rId4"/>
            </p:custDataLst>
          </p:nvPr>
        </p:nvSpPr>
        <p:spPr>
          <a:xfrm>
            <a:off x="0" y="2220532"/>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03</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13" name="MH_Other_2">
            <a:extLst>
              <a:ext uri="{FF2B5EF4-FFF2-40B4-BE49-F238E27FC236}">
                <a16:creationId xmlns:a16="http://schemas.microsoft.com/office/drawing/2014/main" id="{83646057-F4F1-37D5-26D3-D545D78866C0}"/>
              </a:ext>
            </a:extLst>
          </p:cNvPr>
          <p:cNvSpPr/>
          <p:nvPr>
            <p:custDataLst>
              <p:tags r:id="rId5"/>
            </p:custDataLst>
          </p:nvPr>
        </p:nvSpPr>
        <p:spPr>
          <a:xfrm>
            <a:off x="987043" y="2220532"/>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wheel spokes="3"/>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软件重用和再工程</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5.2.2 </a:t>
            </a:r>
            <a:r>
              <a:rPr lang="zh-CN" altLang="en-US" sz="2400" dirty="0">
                <a:solidFill>
                  <a:schemeClr val="tx1"/>
                </a:solidFill>
              </a:rPr>
              <a:t>软件重用的过程模型</a:t>
            </a:r>
          </a:p>
        </p:txBody>
      </p:sp>
      <p:graphicFrame>
        <p:nvGraphicFramePr>
          <p:cNvPr id="8" name="对象 7"/>
          <p:cNvGraphicFramePr>
            <a:graphicFrameLocks/>
          </p:cNvGraphicFramePr>
          <p:nvPr>
            <p:extLst>
              <p:ext uri="{D42A27DB-BD31-4B8C-83A1-F6EECF244321}">
                <p14:modId xmlns:p14="http://schemas.microsoft.com/office/powerpoint/2010/main" val="509409786"/>
              </p:ext>
            </p:extLst>
          </p:nvPr>
        </p:nvGraphicFramePr>
        <p:xfrm>
          <a:off x="0" y="3240000"/>
          <a:ext cx="5311775" cy="3602990"/>
        </p:xfrm>
        <a:graphic>
          <a:graphicData uri="http://schemas.openxmlformats.org/presentationml/2006/ole">
            <mc:AlternateContent xmlns:mc="http://schemas.openxmlformats.org/markup-compatibility/2006">
              <mc:Choice xmlns:v="urn:schemas-microsoft-com:vml" Requires="v">
                <p:oleObj r:id="rId8" imgW="3783810" imgH="2976575" progId="Word.Document.12">
                  <p:embed/>
                </p:oleObj>
              </mc:Choice>
              <mc:Fallback>
                <p:oleObj r:id="rId8" imgW="3783810" imgH="2976575" progId="Word.Document.12">
                  <p:embed/>
                  <p:pic>
                    <p:nvPicPr>
                      <p:cNvPr id="0" name="Picture 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3240000"/>
                        <a:ext cx="5311775" cy="36029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MH_SubTitle_1">
            <a:extLst>
              <a:ext uri="{FF2B5EF4-FFF2-40B4-BE49-F238E27FC236}">
                <a16:creationId xmlns:a16="http://schemas.microsoft.com/office/drawing/2014/main" id="{46394BD9-6362-C275-E98B-42915D96CE07}"/>
              </a:ext>
            </a:extLst>
          </p:cNvPr>
          <p:cNvSpPr/>
          <p:nvPr>
            <p:custDataLst>
              <p:tags r:id="rId2"/>
            </p:custDataLst>
          </p:nvPr>
        </p:nvSpPr>
        <p:spPr>
          <a:xfrm>
            <a:off x="1501867" y="2343753"/>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软件重用过程模型</a:t>
            </a:r>
          </a:p>
        </p:txBody>
      </p:sp>
      <p:sp>
        <p:nvSpPr>
          <p:cNvPr id="10" name="MH_Other_1">
            <a:extLst>
              <a:ext uri="{FF2B5EF4-FFF2-40B4-BE49-F238E27FC236}">
                <a16:creationId xmlns:a16="http://schemas.microsoft.com/office/drawing/2014/main" id="{20466FC7-0A83-0FC7-709A-18DF7351F055}"/>
              </a:ext>
            </a:extLst>
          </p:cNvPr>
          <p:cNvSpPr/>
          <p:nvPr>
            <p:custDataLst>
              <p:tags r:id="rId3"/>
            </p:custDataLst>
          </p:nvPr>
        </p:nvSpPr>
        <p:spPr>
          <a:xfrm>
            <a:off x="0" y="2220532"/>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03</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13" name="MH_Other_2">
            <a:extLst>
              <a:ext uri="{FF2B5EF4-FFF2-40B4-BE49-F238E27FC236}">
                <a16:creationId xmlns:a16="http://schemas.microsoft.com/office/drawing/2014/main" id="{DF26B65C-B060-AED7-2DE1-269B1BB12E27}"/>
              </a:ext>
            </a:extLst>
          </p:cNvPr>
          <p:cNvSpPr/>
          <p:nvPr>
            <p:custDataLst>
              <p:tags r:id="rId4"/>
            </p:custDataLst>
          </p:nvPr>
        </p:nvSpPr>
        <p:spPr>
          <a:xfrm>
            <a:off x="987043" y="2220532"/>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3" name="MH_Desc_1">
            <a:extLst>
              <a:ext uri="{FF2B5EF4-FFF2-40B4-BE49-F238E27FC236}">
                <a16:creationId xmlns:a16="http://schemas.microsoft.com/office/drawing/2014/main" id="{C4ACFC99-EB03-93DF-0D32-89752F6645C4}"/>
              </a:ext>
            </a:extLst>
          </p:cNvPr>
          <p:cNvSpPr/>
          <p:nvPr>
            <p:custDataLst>
              <p:tags r:id="rId5"/>
            </p:custDataLst>
          </p:nvPr>
        </p:nvSpPr>
        <p:spPr>
          <a:xfrm>
            <a:off x="6009859" y="2844195"/>
            <a:ext cx="5436000" cy="211293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spAutoFit/>
          </a:bodyPr>
          <a:lstStyle/>
          <a:p>
            <a:pPr>
              <a:lnSpc>
                <a:spcPct val="120000"/>
              </a:lnSpc>
            </a:pPr>
            <a:r>
              <a:rPr lang="zh-CN" altLang="en-US" dirty="0">
                <a:solidFill>
                  <a:schemeClr val="tx1"/>
                </a:solidFill>
              </a:rPr>
              <a:t>基于构件的软件工程，根据用户的实际需求，参照领域模型进行系统分析，使用领域的结构模型进行结构设计，从可重用软件构件库中查找需要的构件，对构件进行鉴定、调整以构造新的软件构件，对软件构件进行组合以开发应用软件，软件构件不断更新，并补充到可重用软件构件库中去。</a:t>
            </a:r>
          </a:p>
        </p:txBody>
      </p:sp>
    </p:spTree>
    <p:custDataLst>
      <p:tags r:id="rId1"/>
    </p:custDataLst>
  </p:cSld>
  <p:clrMapOvr>
    <a:masterClrMapping/>
  </p:clrMapOvr>
  <p:transition>
    <p:wheel spokes="3"/>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a:sym typeface="+mn-ea"/>
              </a:rPr>
              <a:t>5.2 </a:t>
            </a:r>
            <a:r>
              <a:rPr lang="zh-CN" altLang="en-US">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5.2.3 </a:t>
            </a:r>
            <a:r>
              <a:rPr lang="zh-CN" altLang="en-US" sz="2400" dirty="0">
                <a:solidFill>
                  <a:schemeClr val="tx1"/>
                </a:solidFill>
              </a:rPr>
              <a:t>开发可重用的软件构件</a:t>
            </a:r>
          </a:p>
        </p:txBody>
      </p:sp>
      <p:sp>
        <p:nvSpPr>
          <p:cNvPr id="24" name="MH_SubTitle_1"/>
          <p:cNvSpPr/>
          <p:nvPr>
            <p:custDataLst>
              <p:tags r:id="rId2"/>
            </p:custDataLst>
          </p:nvPr>
        </p:nvSpPr>
        <p:spPr bwMode="auto">
          <a:xfrm>
            <a:off x="4294230" y="2266040"/>
            <a:ext cx="1534383" cy="201704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5" name="MH_SubTitle_3"/>
          <p:cNvSpPr/>
          <p:nvPr>
            <p:custDataLst>
              <p:tags r:id="rId3"/>
            </p:custDataLst>
          </p:nvPr>
        </p:nvSpPr>
        <p:spPr bwMode="auto">
          <a:xfrm>
            <a:off x="4547564" y="4009149"/>
            <a:ext cx="2465478" cy="894832"/>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27" name="MH_Other_1"/>
          <p:cNvSpPr/>
          <p:nvPr>
            <p:custDataLst>
              <p:tags r:id="rId4"/>
            </p:custDataLst>
          </p:nvPr>
        </p:nvSpPr>
        <p:spPr bwMode="auto">
          <a:xfrm>
            <a:off x="5668166" y="2260240"/>
            <a:ext cx="1484199" cy="195726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30" name="MH_SubTitle_2"/>
          <p:cNvSpPr/>
          <p:nvPr>
            <p:custDataLst>
              <p:tags r:id="rId5"/>
            </p:custDataLst>
          </p:nvPr>
        </p:nvSpPr>
        <p:spPr>
          <a:xfrm rot="3733167">
            <a:off x="4386824" y="2410924"/>
            <a:ext cx="2447509" cy="2585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dirty="0">
                <a:solidFill>
                  <a:schemeClr val="tx1"/>
                </a:solidFill>
                <a:latin typeface="+mj-ea"/>
                <a:ea typeface="+mj-ea"/>
              </a:rPr>
              <a:t>开发可重用的软件构件</a:t>
            </a:r>
          </a:p>
        </p:txBody>
      </p:sp>
      <p:sp>
        <p:nvSpPr>
          <p:cNvPr id="31" name="MH_Other_2"/>
          <p:cNvSpPr/>
          <p:nvPr>
            <p:custDataLst>
              <p:tags r:id="rId6"/>
            </p:custDataLst>
          </p:nvPr>
        </p:nvSpPr>
        <p:spPr>
          <a:xfrm rot="10873167">
            <a:off x="4535686" y="2505156"/>
            <a:ext cx="2342988" cy="2150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dirty="0">
                <a:solidFill>
                  <a:schemeClr val="tx1"/>
                </a:solidFill>
                <a:latin typeface="+mj-ea"/>
                <a:ea typeface="+mj-ea"/>
              </a:rPr>
              <a:t>传播软件构件</a:t>
            </a:r>
          </a:p>
        </p:txBody>
      </p:sp>
      <p:sp>
        <p:nvSpPr>
          <p:cNvPr id="32" name="MH_Other_3"/>
          <p:cNvSpPr/>
          <p:nvPr>
            <p:custDataLst>
              <p:tags r:id="rId7"/>
            </p:custDataLst>
          </p:nvPr>
        </p:nvSpPr>
        <p:spPr>
          <a:xfrm rot="18073167">
            <a:off x="4639300" y="2438424"/>
            <a:ext cx="2307590" cy="2501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gd name="adj" fmla="val 10883097"/>
              </a:avLst>
            </a:prstTxWarp>
            <a:normAutofit/>
          </a:bodyPr>
          <a:lstStyle/>
          <a:p>
            <a:pPr algn="ctr">
              <a:defRPr/>
            </a:pPr>
            <a:r>
              <a:rPr lang="zh-CN" altLang="en-US" dirty="0">
                <a:solidFill>
                  <a:schemeClr val="tx1"/>
                </a:solidFill>
                <a:latin typeface="+mj-ea"/>
                <a:ea typeface="+mj-ea"/>
              </a:rPr>
              <a:t>分析过程</a:t>
            </a:r>
          </a:p>
        </p:txBody>
      </p:sp>
      <p:sp>
        <p:nvSpPr>
          <p:cNvPr id="33" name="MH_Title_1"/>
          <p:cNvSpPr/>
          <p:nvPr>
            <p:custDataLst>
              <p:tags r:id="rId8"/>
            </p:custDataLst>
          </p:nvPr>
        </p:nvSpPr>
        <p:spPr>
          <a:xfrm>
            <a:off x="4858942" y="2780370"/>
            <a:ext cx="1757547" cy="16132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defRPr/>
            </a:pPr>
            <a:r>
              <a:rPr lang="zh-CN" altLang="en-US" sz="2800" b="1" dirty="0">
                <a:solidFill>
                  <a:srgbClr val="FFFFFF"/>
                </a:solidFill>
                <a:latin typeface="微软雅黑" panose="020B0503020204020204" charset="-122"/>
                <a:ea typeface="微软雅黑" panose="020B0503020204020204" charset="-122"/>
              </a:rPr>
              <a:t>领域</a:t>
            </a:r>
          </a:p>
          <a:p>
            <a:pPr algn="ctr">
              <a:defRPr/>
            </a:pPr>
            <a:r>
              <a:rPr lang="zh-CN" altLang="en-US" sz="2800" b="1" dirty="0">
                <a:solidFill>
                  <a:srgbClr val="FFFFFF"/>
                </a:solidFill>
                <a:latin typeface="微软雅黑" panose="020B0503020204020204" charset="-122"/>
                <a:ea typeface="微软雅黑" panose="020B0503020204020204" charset="-122"/>
              </a:rPr>
              <a:t>工程</a:t>
            </a:r>
          </a:p>
        </p:txBody>
      </p:sp>
      <p:sp>
        <p:nvSpPr>
          <p:cNvPr id="34" name="MH_Other_2"/>
          <p:cNvSpPr/>
          <p:nvPr>
            <p:custDataLst>
              <p:tags r:id="rId9"/>
            </p:custDataLst>
          </p:nvPr>
        </p:nvSpPr>
        <p:spPr>
          <a:xfrm rot="16200000" flipV="1">
            <a:off x="6810100" y="2286910"/>
            <a:ext cx="290195" cy="677545"/>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5" name="MH_SubTitle_4"/>
          <p:cNvSpPr txBox="1"/>
          <p:nvPr>
            <p:custDataLst>
              <p:tags r:id="rId10"/>
            </p:custDataLst>
          </p:nvPr>
        </p:nvSpPr>
        <p:spPr bwMode="auto">
          <a:xfrm>
            <a:off x="7402555" y="2559325"/>
            <a:ext cx="4363720" cy="146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dirty="0">
                <a:solidFill>
                  <a:srgbClr val="00B0F0"/>
                </a:solidFill>
                <a:latin typeface="+mj-ea"/>
                <a:ea typeface="+mj-ea"/>
              </a:rPr>
              <a:t>开发可重用的软件构件</a:t>
            </a:r>
            <a:endParaRPr lang="en-US" altLang="zh-CN" sz="2000" dirty="0">
              <a:latin typeface="+mj-ea"/>
              <a:ea typeface="+mj-ea"/>
            </a:endParaRPr>
          </a:p>
          <a:p>
            <a:pPr fontAlgn="auto">
              <a:lnSpc>
                <a:spcPct val="120000"/>
              </a:lnSpc>
              <a:defRPr/>
            </a:pPr>
            <a:r>
              <a:rPr lang="zh-CN" altLang="en-US" dirty="0">
                <a:latin typeface="+mn-ea"/>
                <a:ea typeface="+mn-ea"/>
                <a:sym typeface="+mn-ea"/>
              </a:rPr>
              <a:t>为了开发可重用的软件构件，应该考虑以下问题：标准的数据结构、标准的接口协议、设计程序模板等。</a:t>
            </a:r>
          </a:p>
        </p:txBody>
      </p:sp>
      <p:sp>
        <p:nvSpPr>
          <p:cNvPr id="36" name="MH_Other_2"/>
          <p:cNvSpPr/>
          <p:nvPr>
            <p:custDataLst>
              <p:tags r:id="rId11"/>
            </p:custDataLst>
          </p:nvPr>
        </p:nvSpPr>
        <p:spPr>
          <a:xfrm rot="5400000" flipH="1" flipV="1">
            <a:off x="4284070" y="2426610"/>
            <a:ext cx="184150" cy="69469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8" name="MH_Other_2"/>
          <p:cNvSpPr/>
          <p:nvPr>
            <p:custDataLst>
              <p:tags r:id="rId12"/>
            </p:custDataLst>
          </p:nvPr>
        </p:nvSpPr>
        <p:spPr>
          <a:xfrm rot="16200000">
            <a:off x="4331695" y="4176670"/>
            <a:ext cx="214630" cy="1357630"/>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39" name="MH_SubTitle_4"/>
          <p:cNvSpPr txBox="1"/>
          <p:nvPr>
            <p:custDataLst>
              <p:tags r:id="rId13"/>
            </p:custDataLst>
          </p:nvPr>
        </p:nvSpPr>
        <p:spPr bwMode="auto">
          <a:xfrm>
            <a:off x="809624" y="4748170"/>
            <a:ext cx="10956651" cy="1463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lnSpc>
                <a:spcPct val="130000"/>
              </a:lnSpc>
              <a:defRPr/>
            </a:pPr>
            <a:r>
              <a:rPr lang="en-US" altLang="zh-CN" b="1" dirty="0">
                <a:solidFill>
                  <a:srgbClr val="00B0F0"/>
                </a:solidFill>
                <a:latin typeface="微软雅黑" panose="020B0503020204020204" charset="-122"/>
                <a:ea typeface="微软雅黑" panose="020B0503020204020204" charset="-122"/>
              </a:rPr>
              <a:t>                                         </a:t>
            </a:r>
            <a:r>
              <a:rPr lang="zh-CN" altLang="en-US" sz="2000" dirty="0">
                <a:solidFill>
                  <a:srgbClr val="00B0F0"/>
                </a:solidFill>
                <a:latin typeface="微软雅黑" panose="020B0503020204020204" charset="-122"/>
                <a:ea typeface="微软雅黑" panose="020B0503020204020204" charset="-122"/>
              </a:rPr>
              <a:t>传播软件构件</a:t>
            </a:r>
            <a:endParaRPr lang="zh-CN" altLang="en-US" dirty="0">
              <a:solidFill>
                <a:srgbClr val="00B0F0"/>
              </a:solidFill>
              <a:latin typeface="微软雅黑" panose="020B0503020204020204" charset="-122"/>
              <a:ea typeface="微软雅黑" panose="020B0503020204020204" charset="-122"/>
            </a:endParaRPr>
          </a:p>
          <a:p>
            <a:pPr>
              <a:lnSpc>
                <a:spcPct val="120000"/>
              </a:lnSpc>
              <a:defRPr/>
            </a:pPr>
            <a:r>
              <a:rPr lang="zh-CN" altLang="en-US" dirty="0">
                <a:latin typeface="+mn-ea"/>
                <a:ea typeface="+mn-ea"/>
                <a:sym typeface="+mn-ea"/>
              </a:rPr>
              <a:t>传播软件构件就是让用户能在成千上万的软件构件中找到他所需要的构件，这需要很好地描述构件。构件的描述包括构件的功能、使用条件、接口和如何实现等。构件如何实现的问题，只有准备修改构件的人需要知道，其他人只要了解构件的功能、使用条件和接口即可。</a:t>
            </a:r>
          </a:p>
        </p:txBody>
      </p:sp>
      <p:grpSp>
        <p:nvGrpSpPr>
          <p:cNvPr id="26" name="组合 6"/>
          <p:cNvGrpSpPr/>
          <p:nvPr/>
        </p:nvGrpSpPr>
        <p:grpSpPr>
          <a:xfrm>
            <a:off x="809625" y="1995518"/>
            <a:ext cx="3557659" cy="590550"/>
            <a:chOff x="508000" y="3196191"/>
            <a:chExt cx="3557624" cy="590550"/>
          </a:xfrm>
        </p:grpSpPr>
        <p:sp>
          <p:nvSpPr>
            <p:cNvPr id="40" name="TextBox 1"/>
            <p:cNvSpPr txBox="1">
              <a:spLocks noChangeArrowheads="1"/>
            </p:cNvSpPr>
            <p:nvPr/>
          </p:nvSpPr>
          <p:spPr bwMode="auto">
            <a:xfrm>
              <a:off x="508000" y="3196191"/>
              <a:ext cx="3641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1</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41" name="直接连接符 4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2" name="矩形 7"/>
            <p:cNvSpPr>
              <a:spLocks noChangeArrowheads="1"/>
            </p:cNvSpPr>
            <p:nvPr/>
          </p:nvSpPr>
          <p:spPr bwMode="auto">
            <a:xfrm>
              <a:off x="960437" y="3291441"/>
              <a:ext cx="3105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领域工程</a:t>
              </a:r>
            </a:p>
          </p:txBody>
        </p:sp>
      </p:grpSp>
      <p:sp>
        <p:nvSpPr>
          <p:cNvPr id="4" name="文本框 3">
            <a:extLst>
              <a:ext uri="{FF2B5EF4-FFF2-40B4-BE49-F238E27FC236}">
                <a16:creationId xmlns:a16="http://schemas.microsoft.com/office/drawing/2014/main" id="{7EB696BA-2599-F8E2-6117-C49C323BD035}"/>
              </a:ext>
            </a:extLst>
          </p:cNvPr>
          <p:cNvSpPr txBox="1"/>
          <p:nvPr/>
        </p:nvSpPr>
        <p:spPr>
          <a:xfrm>
            <a:off x="838800" y="3063179"/>
            <a:ext cx="3283260" cy="1099596"/>
          </a:xfrm>
          <a:prstGeom prst="rect">
            <a:avLst/>
          </a:prstGeom>
          <a:noFill/>
        </p:spPr>
        <p:txBody>
          <a:bodyPr wrap="square" rtlCol="0">
            <a:spAutoFit/>
          </a:bodyPr>
          <a:lstStyle/>
          <a:p>
            <a:pPr algn="r">
              <a:lnSpc>
                <a:spcPct val="120000"/>
              </a:lnSpc>
            </a:pPr>
            <a:r>
              <a:rPr lang="zh-CN" altLang="en-US" sz="2000" dirty="0">
                <a:solidFill>
                  <a:srgbClr val="00B0F0"/>
                </a:solidFill>
                <a:latin typeface="+mj-ea"/>
                <a:ea typeface="+mj-ea"/>
              </a:rPr>
              <a:t>分析过程</a:t>
            </a:r>
          </a:p>
          <a:p>
            <a:pPr>
              <a:lnSpc>
                <a:spcPct val="120000"/>
              </a:lnSpc>
            </a:pPr>
            <a:r>
              <a:rPr lang="zh-CN" altLang="en-US" dirty="0"/>
              <a:t>领域工程分析过程的主要任务是标识可重用的软件构件。</a:t>
            </a:r>
          </a:p>
        </p:txBody>
      </p:sp>
    </p:spTree>
    <p:custDataLst>
      <p:tags r:id="rId1"/>
    </p:custDataLst>
  </p:cSld>
  <p:clrMapOvr>
    <a:masterClrMapping/>
  </p:clrMapOvr>
  <p:transition>
    <p:wheel spokes="3"/>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5.2.3 </a:t>
            </a:r>
            <a:r>
              <a:rPr lang="zh-CN" altLang="en-US" sz="2400" dirty="0">
                <a:solidFill>
                  <a:schemeClr val="tx1"/>
                </a:solidFill>
              </a:rPr>
              <a:t>开发可重用的软件构件</a:t>
            </a:r>
          </a:p>
        </p:txBody>
      </p:sp>
      <p:sp>
        <p:nvSpPr>
          <p:cNvPr id="16" name="MH_Picture_1"/>
          <p:cNvSpPr/>
          <p:nvPr>
            <p:custDataLst>
              <p:tags r:id="rId2"/>
            </p:custDataLst>
          </p:nvPr>
        </p:nvSpPr>
        <p:spPr>
          <a:xfrm>
            <a:off x="8344794" y="1352127"/>
            <a:ext cx="2419438" cy="1992081"/>
          </a:xfrm>
          <a:prstGeom prst="ellipse">
            <a:avLst/>
          </a:prstGeom>
          <a:blipFill dpi="0" rotWithShape="1">
            <a:blip r:embed="rId9"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7" name="MH_Picture_2"/>
          <p:cNvSpPr/>
          <p:nvPr>
            <p:custDataLst>
              <p:tags r:id="rId3"/>
            </p:custDataLst>
          </p:nvPr>
        </p:nvSpPr>
        <p:spPr>
          <a:xfrm>
            <a:off x="8061590" y="2941282"/>
            <a:ext cx="2004294" cy="1650267"/>
          </a:xfrm>
          <a:prstGeom prst="ellipse">
            <a:avLst/>
          </a:prstGeom>
          <a:blipFill dpi="0" rotWithShape="1">
            <a:blip r:embed="rId10"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8" name="MH_Picture_3"/>
          <p:cNvSpPr/>
          <p:nvPr>
            <p:custDataLst>
              <p:tags r:id="rId4"/>
            </p:custDataLst>
          </p:nvPr>
        </p:nvSpPr>
        <p:spPr>
          <a:xfrm>
            <a:off x="9464420" y="4032484"/>
            <a:ext cx="1467961" cy="1208669"/>
          </a:xfrm>
          <a:prstGeom prst="ellipse">
            <a:avLst/>
          </a:prstGeom>
          <a:blipFill dpi="0" rotWithShape="1">
            <a:blip r:embed="rId11"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9" name="MH_Picture_4"/>
          <p:cNvSpPr/>
          <p:nvPr>
            <p:custDataLst>
              <p:tags r:id="rId5"/>
            </p:custDataLst>
          </p:nvPr>
        </p:nvSpPr>
        <p:spPr>
          <a:xfrm>
            <a:off x="9031780" y="4909164"/>
            <a:ext cx="1028493" cy="846827"/>
          </a:xfrm>
          <a:prstGeom prst="ellipse">
            <a:avLst/>
          </a:prstGeom>
          <a:blipFill dpi="0" rotWithShape="1">
            <a:blip r:embed="rId12" cstate="print"/>
            <a:srcRect/>
            <a:stretch>
              <a:fillRect/>
            </a:stretch>
          </a:blipFill>
          <a:ln w="25400" cap="flat" cmpd="sng" algn="ctr">
            <a:solidFill>
              <a:sysClr val="window" lastClr="FFFFFF">
                <a:lumMod val="95000"/>
              </a:sysClr>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6" name="MH_Other_1"/>
          <p:cNvSpPr/>
          <p:nvPr>
            <p:custDataLst>
              <p:tags r:id="rId6"/>
            </p:custDataLst>
          </p:nvPr>
        </p:nvSpPr>
        <p:spPr bwMode="auto">
          <a:xfrm>
            <a:off x="802640" y="1969135"/>
            <a:ext cx="10513060" cy="4015105"/>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5" name="文本框 4"/>
          <p:cNvSpPr txBox="1"/>
          <p:nvPr/>
        </p:nvSpPr>
        <p:spPr>
          <a:xfrm>
            <a:off x="1440000" y="2632298"/>
            <a:ext cx="5688000" cy="2724657"/>
          </a:xfrm>
          <a:prstGeom prst="rect">
            <a:avLst/>
          </a:prstGeom>
          <a:noFill/>
        </p:spPr>
        <p:txBody>
          <a:bodyPr wrap="square" rtlCol="0">
            <a:spAutoFit/>
          </a:bodyPr>
          <a:lstStyle/>
          <a:p>
            <a:pPr fontAlgn="auto">
              <a:lnSpc>
                <a:spcPct val="120000"/>
              </a:lnSpc>
            </a:pPr>
            <a:r>
              <a:rPr lang="zh-CN" altLang="en-US" dirty="0"/>
              <a:t>随着软件构件的不断丰富，软件构件库的规模会不断扩大，软件构件库组织结构的合理性将直接影响构件的检索效率。库结构的设计和检索方法的选用，应当尽量保证用户容易理解、便于使用。</a:t>
            </a:r>
          </a:p>
          <a:p>
            <a:pPr fontAlgn="auto">
              <a:lnSpc>
                <a:spcPct val="120000"/>
              </a:lnSpc>
            </a:pPr>
            <a:endParaRPr lang="zh-CN" altLang="en-US" dirty="0"/>
          </a:p>
          <a:p>
            <a:pPr fontAlgn="auto">
              <a:lnSpc>
                <a:spcPct val="120000"/>
              </a:lnSpc>
            </a:pPr>
            <a:r>
              <a:rPr lang="zh-CN" altLang="en-US" dirty="0"/>
              <a:t>对可重用软件构件库要进行分类，以便于用户检索使用。软件构件分类的方法有3种典型模式：</a:t>
            </a:r>
            <a:r>
              <a:rPr lang="zh-CN" altLang="en-US" b="1" dirty="0">
                <a:solidFill>
                  <a:srgbClr val="FF0000"/>
                </a:solidFill>
              </a:rPr>
              <a:t>枚举分类、刻面分类和属性值分类</a:t>
            </a:r>
            <a:r>
              <a:rPr lang="zh-CN" altLang="en-US" dirty="0"/>
              <a:t>。</a:t>
            </a:r>
          </a:p>
        </p:txBody>
      </p:sp>
      <p:sp>
        <p:nvSpPr>
          <p:cNvPr id="12" name="TextBox 1"/>
          <p:cNvSpPr txBox="1">
            <a:spLocks noChangeArrowheads="1"/>
          </p:cNvSpPr>
          <p:nvPr/>
        </p:nvSpPr>
        <p:spPr bwMode="auto">
          <a:xfrm>
            <a:off x="809625" y="1995518"/>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Times New Roman" panose="02020603050405020304" pitchFamily="18" charset="0"/>
                <a:ea typeface="MS UI Gothic" panose="020B0600070205080204" pitchFamily="34" charset="-128"/>
              </a:rPr>
              <a:t>2</a:t>
            </a:r>
            <a:endParaRPr lang="zh-CN" altLang="en-US" sz="2800" dirty="0">
              <a:solidFill>
                <a:srgbClr val="E67819"/>
              </a:solidFill>
              <a:latin typeface="Times New Roman" panose="02020603050405020304" pitchFamily="18" charset="0"/>
              <a:ea typeface="MS UI Gothic" panose="020B0600070205080204" pitchFamily="34" charset="-128"/>
            </a:endParaRPr>
          </a:p>
        </p:txBody>
      </p:sp>
      <p:cxnSp>
        <p:nvCxnSpPr>
          <p:cNvPr id="13" name="直接连接符 12"/>
          <p:cNvCxnSpPr/>
          <p:nvPr/>
        </p:nvCxnSpPr>
        <p:spPr>
          <a:xfrm flipH="1">
            <a:off x="809625" y="1995518"/>
            <a:ext cx="590556"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4" name="矩形 7"/>
          <p:cNvSpPr>
            <a:spLocks noChangeArrowheads="1"/>
          </p:cNvSpPr>
          <p:nvPr/>
        </p:nvSpPr>
        <p:spPr bwMode="auto">
          <a:xfrm>
            <a:off x="1262066" y="2090768"/>
            <a:ext cx="3105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分类和检索软件构件</a:t>
            </a:r>
          </a:p>
        </p:txBody>
      </p:sp>
    </p:spTree>
    <p:custDataLst>
      <p:tags r:id="rId1"/>
    </p:custDataLst>
  </p:cSld>
  <p:clrMapOvr>
    <a:masterClrMapping/>
  </p:clrMapOvr>
  <p:transition>
    <p:wheel spokes="3"/>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5.2.3 </a:t>
            </a:r>
            <a:r>
              <a:rPr lang="zh-CN" altLang="en-US" sz="2400" dirty="0">
                <a:solidFill>
                  <a:schemeClr val="tx1"/>
                </a:solidFill>
              </a:rPr>
              <a:t>开发可重用的软件构件</a:t>
            </a:r>
          </a:p>
        </p:txBody>
      </p:sp>
      <p:sp>
        <p:nvSpPr>
          <p:cNvPr id="7" name="MH_SubTitle_1"/>
          <p:cNvSpPr/>
          <p:nvPr>
            <p:custDataLst>
              <p:tags r:id="rId2"/>
            </p:custDataLst>
          </p:nvPr>
        </p:nvSpPr>
        <p:spPr>
          <a:xfrm>
            <a:off x="1501867" y="2152681"/>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枚举分类</a:t>
            </a:r>
          </a:p>
        </p:txBody>
      </p:sp>
      <p:sp>
        <p:nvSpPr>
          <p:cNvPr id="8" name="MH_Other_1"/>
          <p:cNvSpPr/>
          <p:nvPr>
            <p:custDataLst>
              <p:tags r:id="rId3"/>
            </p:custDataLst>
          </p:nvPr>
        </p:nvSpPr>
        <p:spPr>
          <a:xfrm>
            <a:off x="0" y="2029460"/>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a:t>
            </a:r>
            <a:r>
              <a:rPr lang="en-US" sz="3200" dirty="0">
                <a:solidFill>
                  <a:srgbClr val="FFFFFF"/>
                </a:solidFill>
                <a:latin typeface="Times New Roman" panose="02020603050405020304" pitchFamily="18" charset="0"/>
                <a:ea typeface="微软雅黑" panose="020B0503020204020204" charset="-122"/>
              </a:rPr>
              <a:t>1</a:t>
            </a:r>
          </a:p>
        </p:txBody>
      </p:sp>
      <p:sp>
        <p:nvSpPr>
          <p:cNvPr id="11" name="MH_Other_2"/>
          <p:cNvSpPr/>
          <p:nvPr>
            <p:custDataLst>
              <p:tags r:id="rId4"/>
            </p:custDataLst>
          </p:nvPr>
        </p:nvSpPr>
        <p:spPr>
          <a:xfrm>
            <a:off x="987043" y="2029460"/>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2" name="MH_Desc_1"/>
          <p:cNvSpPr/>
          <p:nvPr>
            <p:custDataLst>
              <p:tags r:id="rId5"/>
            </p:custDataLst>
          </p:nvPr>
        </p:nvSpPr>
        <p:spPr>
          <a:xfrm>
            <a:off x="5981700" y="2372534"/>
            <a:ext cx="5628005" cy="211293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spAutoFit/>
          </a:bodyPr>
          <a:lstStyle/>
          <a:p>
            <a:pPr indent="457200">
              <a:lnSpc>
                <a:spcPct val="120000"/>
              </a:lnSpc>
            </a:pPr>
            <a:r>
              <a:rPr dirty="0">
                <a:solidFill>
                  <a:schemeClr val="tx1"/>
                </a:solidFill>
              </a:rPr>
              <a:t>枚举分类方法通过层次结构来描述构件，在该结构中定义软件构件的类以及子类的不同层次。它把实际构件放在枚举层次的适当路径的最底层。</a:t>
            </a:r>
          </a:p>
          <a:p>
            <a:pPr indent="457200">
              <a:lnSpc>
                <a:spcPct val="120000"/>
              </a:lnSpc>
            </a:pPr>
            <a:r>
              <a:rPr dirty="0">
                <a:solidFill>
                  <a:schemeClr val="tx1"/>
                </a:solidFill>
              </a:rPr>
              <a:t>枚举分类模式的层次结构容易理解和使用，但在建立层次之前必须完成领域工程，以使层次中的项具有足够的信息。</a:t>
            </a:r>
          </a:p>
        </p:txBody>
      </p:sp>
      <p:sp>
        <p:nvSpPr>
          <p:cNvPr id="3" name="矩形 2"/>
          <p:cNvSpPr/>
          <p:nvPr/>
        </p:nvSpPr>
        <p:spPr>
          <a:xfrm>
            <a:off x="595630" y="3444240"/>
            <a:ext cx="4682490" cy="1737360"/>
          </a:xfrm>
          <a:prstGeom prst="rect">
            <a:avLst/>
          </a:prstGeom>
          <a:noFill/>
          <a:ln>
            <a:noFill/>
          </a:ln>
        </p:spPr>
        <p:txBody>
          <a:bodyPr wrap="square" rtlCol="0" anchor="t">
            <a:prstTxWarp prst="textDoubleWave1">
              <a:avLst/>
            </a:prstTxWarp>
            <a:spAutoFit/>
          </a:bodyPr>
          <a:lstStyle/>
          <a:p>
            <a:pPr algn="ctr"/>
            <a:r>
              <a:rPr lang="zh-CN" altLang="en-US" sz="4000" b="1">
                <a:ln/>
                <a:solidFill>
                  <a:schemeClr val="tx1"/>
                </a:solidFill>
                <a:effectLst>
                  <a:outerShdw blurRad="38100" dist="19050" dir="2700000" algn="tl" rotWithShape="0">
                    <a:schemeClr val="dk1">
                      <a:alpha val="40000"/>
                    </a:schemeClr>
                  </a:outerShdw>
                </a:effectLst>
              </a:rPr>
              <a:t>Enumerated Classification</a:t>
            </a:r>
          </a:p>
        </p:txBody>
      </p:sp>
    </p:spTree>
    <p:custDataLst>
      <p:tags r:id="rId1"/>
    </p:custDataLst>
  </p:cSld>
  <p:clrMapOvr>
    <a:masterClrMapping/>
  </p:clrMapOvr>
  <p:transition>
    <p:wheel spokes="3"/>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5.2.3 </a:t>
            </a:r>
            <a:r>
              <a:rPr lang="zh-CN" altLang="en-US" sz="2400" dirty="0">
                <a:solidFill>
                  <a:schemeClr val="tx1"/>
                </a:solidFill>
              </a:rPr>
              <a:t>开发可重用的软件构件</a:t>
            </a:r>
          </a:p>
        </p:txBody>
      </p:sp>
      <p:sp>
        <p:nvSpPr>
          <p:cNvPr id="7" name="MH_SubTitle_1"/>
          <p:cNvSpPr/>
          <p:nvPr>
            <p:custDataLst>
              <p:tags r:id="rId2"/>
            </p:custDataLst>
          </p:nvPr>
        </p:nvSpPr>
        <p:spPr>
          <a:xfrm>
            <a:off x="1501867" y="2152681"/>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刻面分类</a:t>
            </a:r>
          </a:p>
        </p:txBody>
      </p:sp>
      <p:sp>
        <p:nvSpPr>
          <p:cNvPr id="8" name="MH_Other_1"/>
          <p:cNvSpPr/>
          <p:nvPr>
            <p:custDataLst>
              <p:tags r:id="rId3"/>
            </p:custDataLst>
          </p:nvPr>
        </p:nvSpPr>
        <p:spPr>
          <a:xfrm>
            <a:off x="0" y="2029460"/>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02</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4"/>
            </p:custDataLst>
          </p:nvPr>
        </p:nvSpPr>
        <p:spPr>
          <a:xfrm>
            <a:off x="987043" y="2029460"/>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2" name="MH_Desc_1"/>
          <p:cNvSpPr/>
          <p:nvPr>
            <p:custDataLst>
              <p:tags r:id="rId5"/>
            </p:custDataLst>
          </p:nvPr>
        </p:nvSpPr>
        <p:spPr>
          <a:xfrm>
            <a:off x="5586095" y="1523361"/>
            <a:ext cx="6023610" cy="3811278"/>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anchor="ctr">
            <a:spAutoFit/>
          </a:bodyPr>
          <a:lstStyle/>
          <a:p>
            <a:pPr marL="285750" indent="-285750">
              <a:lnSpc>
                <a:spcPct val="120000"/>
              </a:lnSpc>
              <a:buFont typeface="Wingdings" panose="05000000000000000000" charset="0"/>
              <a:buChar char="Ø"/>
            </a:pPr>
            <a:r>
              <a:rPr dirty="0">
                <a:solidFill>
                  <a:schemeClr val="tx1"/>
                </a:solidFill>
              </a:rPr>
              <a:t>分析应用领域并标识出一组基本的描述特征，这些描述特征称为刻面。</a:t>
            </a:r>
          </a:p>
          <a:p>
            <a:pPr marL="285750" indent="-285750">
              <a:lnSpc>
                <a:spcPct val="120000"/>
              </a:lnSpc>
              <a:buFont typeface="Wingdings" panose="05000000000000000000" charset="0"/>
              <a:buChar char="Ø"/>
            </a:pPr>
            <a:r>
              <a:rPr dirty="0">
                <a:solidFill>
                  <a:schemeClr val="tx1"/>
                </a:solidFill>
              </a:rPr>
              <a:t>描述一个构件的刻面的集合称为刻面描述表。</a:t>
            </a:r>
          </a:p>
          <a:p>
            <a:pPr marL="285750" indent="-285750">
              <a:lnSpc>
                <a:spcPct val="120000"/>
              </a:lnSpc>
              <a:buFont typeface="Wingdings" panose="05000000000000000000" charset="0"/>
              <a:buChar char="Ø"/>
            </a:pPr>
            <a:r>
              <a:rPr dirty="0">
                <a:solidFill>
                  <a:schemeClr val="tx1"/>
                </a:solidFill>
              </a:rPr>
              <a:t>根据重要性确定刻面的优先次序，并把它们与构件联系起来。</a:t>
            </a:r>
          </a:p>
          <a:p>
            <a:pPr marL="285750" indent="-285750">
              <a:lnSpc>
                <a:spcPct val="120000"/>
              </a:lnSpc>
              <a:buFont typeface="Wingdings" panose="05000000000000000000" charset="0"/>
              <a:buChar char="Ø"/>
            </a:pPr>
            <a:r>
              <a:rPr dirty="0">
                <a:solidFill>
                  <a:schemeClr val="tx1"/>
                </a:solidFill>
              </a:rPr>
              <a:t>刻面可以描述构件所完成的功能、加工的数据、应用构件的操作和实现方法等特征。</a:t>
            </a:r>
          </a:p>
          <a:p>
            <a:pPr marL="285750" indent="-285750">
              <a:lnSpc>
                <a:spcPct val="120000"/>
              </a:lnSpc>
              <a:buFont typeface="Wingdings" panose="05000000000000000000" charset="0"/>
              <a:buChar char="Ø"/>
            </a:pPr>
            <a:r>
              <a:rPr dirty="0">
                <a:solidFill>
                  <a:schemeClr val="tx1"/>
                </a:solidFill>
              </a:rPr>
              <a:t>通常，刻面描述不超过7个。</a:t>
            </a:r>
          </a:p>
          <a:p>
            <a:pPr marL="285750" indent="-285750">
              <a:lnSpc>
                <a:spcPct val="120000"/>
              </a:lnSpc>
              <a:buFont typeface="Wingdings" panose="05000000000000000000" charset="0"/>
              <a:buChar char="Ø"/>
            </a:pPr>
            <a:r>
              <a:rPr dirty="0">
                <a:solidFill>
                  <a:schemeClr val="tx1"/>
                </a:solidFill>
              </a:rPr>
              <a:t>把关键词的值赋给重用库中每个构件的刻面集。</a:t>
            </a:r>
          </a:p>
          <a:p>
            <a:pPr marL="285750" indent="-285750">
              <a:lnSpc>
                <a:spcPct val="120000"/>
              </a:lnSpc>
              <a:buFont typeface="Wingdings" panose="05000000000000000000" charset="0"/>
              <a:buChar char="Ø"/>
            </a:pPr>
            <a:r>
              <a:rPr dirty="0">
                <a:solidFill>
                  <a:schemeClr val="tx1"/>
                </a:solidFill>
              </a:rPr>
              <a:t>使用自动工具完成同义词词典功能，从而可以根据关键词或关键词的同义词，在构件库中查找所需要的构件。</a:t>
            </a:r>
          </a:p>
        </p:txBody>
      </p:sp>
      <p:sp>
        <p:nvSpPr>
          <p:cNvPr id="13" name="圆角矩形"/>
          <p:cNvSpPr/>
          <p:nvPr/>
        </p:nvSpPr>
        <p:spPr>
          <a:xfrm>
            <a:off x="8528179" y="387616"/>
            <a:ext cx="3099921" cy="102155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zh-CN" altLang="en-US" dirty="0">
                <a:solidFill>
                  <a:schemeClr val="bg2">
                    <a:lumMod val="50000"/>
                  </a:schemeClr>
                </a:solidFill>
              </a:rPr>
              <a:t>分析过程</a:t>
            </a:r>
          </a:p>
          <a:p>
            <a:pPr algn="l" eaLnBrk="1" fontAlgn="auto" hangingPunct="1">
              <a:spcBef>
                <a:spcPts val="0"/>
              </a:spcBef>
              <a:spcAft>
                <a:spcPts val="0"/>
              </a:spcAft>
              <a:defRPr/>
            </a:pPr>
            <a:r>
              <a:rPr lang="zh-CN" altLang="en-US" dirty="0">
                <a:solidFill>
                  <a:schemeClr val="bg2">
                    <a:lumMod val="50000"/>
                  </a:schemeClr>
                </a:solidFill>
              </a:rPr>
              <a:t>领域工程分析过程的主要任务是标识可重用的软件构件</a:t>
            </a:r>
          </a:p>
        </p:txBody>
      </p:sp>
      <p:sp>
        <p:nvSpPr>
          <p:cNvPr id="14" name="学士帽"/>
          <p:cNvSpPr/>
          <p:nvPr/>
        </p:nvSpPr>
        <p:spPr bwMode="auto">
          <a:xfrm>
            <a:off x="11292820" y="192777"/>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dirty="0">
              <a:ea typeface="微软雅黑 Light" panose="020B0502040204020203" pitchFamily="34" charset="-122"/>
            </a:endParaRPr>
          </a:p>
        </p:txBody>
      </p:sp>
      <p:sp>
        <p:nvSpPr>
          <p:cNvPr id="16" name="矩形 15"/>
          <p:cNvSpPr/>
          <p:nvPr/>
        </p:nvSpPr>
        <p:spPr>
          <a:xfrm>
            <a:off x="483235" y="3520440"/>
            <a:ext cx="4682490" cy="1737360"/>
          </a:xfrm>
          <a:prstGeom prst="rect">
            <a:avLst/>
          </a:prstGeom>
          <a:noFill/>
          <a:ln>
            <a:noFill/>
          </a:ln>
        </p:spPr>
        <p:txBody>
          <a:bodyPr wrap="square" rtlCol="0" anchor="t">
            <a:prstTxWarp prst="textDoubleWave1">
              <a:avLst/>
            </a:prstTxWarp>
            <a:spAutoFit/>
          </a:bodyPr>
          <a:lstStyle/>
          <a:p>
            <a:pPr algn="ctr"/>
            <a:r>
              <a:rPr lang="zh-CN" altLang="en-US" sz="4000" b="1">
                <a:solidFill>
                  <a:schemeClr val="tx1"/>
                </a:solidFill>
                <a:effectLst>
                  <a:outerShdw blurRad="38100" dist="19050" dir="2700000" algn="tl" rotWithShape="0">
                    <a:schemeClr val="dk1">
                      <a:alpha val="40000"/>
                    </a:schemeClr>
                  </a:outerShdw>
                </a:effectLst>
              </a:rPr>
              <a:t>Faceted Classification</a:t>
            </a:r>
          </a:p>
        </p:txBody>
      </p:sp>
    </p:spTree>
    <p:custDataLst>
      <p:tags r:id="rId1"/>
    </p:custDataLst>
  </p:cSld>
  <p:clrMapOvr>
    <a:masterClrMapping/>
  </p:clrMapOvr>
  <p:transition>
    <p:wheel spokes="3"/>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5.2.3 </a:t>
            </a:r>
            <a:r>
              <a:rPr lang="zh-CN" altLang="en-US" sz="2400" dirty="0">
                <a:solidFill>
                  <a:schemeClr val="tx1"/>
                </a:solidFill>
              </a:rPr>
              <a:t>开发可重用的软件构件</a:t>
            </a:r>
          </a:p>
        </p:txBody>
      </p:sp>
      <p:sp>
        <p:nvSpPr>
          <p:cNvPr id="7" name="MH_SubTitle_1"/>
          <p:cNvSpPr/>
          <p:nvPr>
            <p:custDataLst>
              <p:tags r:id="rId2"/>
            </p:custDataLst>
          </p:nvPr>
        </p:nvSpPr>
        <p:spPr>
          <a:xfrm>
            <a:off x="1501867" y="2152681"/>
            <a:ext cx="3511458" cy="731427"/>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属性值分类</a:t>
            </a:r>
          </a:p>
        </p:txBody>
      </p:sp>
      <p:sp>
        <p:nvSpPr>
          <p:cNvPr id="8" name="MH_Other_1"/>
          <p:cNvSpPr/>
          <p:nvPr>
            <p:custDataLst>
              <p:tags r:id="rId3"/>
            </p:custDataLst>
          </p:nvPr>
        </p:nvSpPr>
        <p:spPr>
          <a:xfrm>
            <a:off x="0" y="2029460"/>
            <a:ext cx="1006571" cy="971550"/>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Times New Roman" panose="02020603050405020304" pitchFamily="18" charset="0"/>
                <a:ea typeface="微软雅黑" panose="020B0503020204020204" charset="-122"/>
              </a:rPr>
              <a:t>03</a:t>
            </a:r>
            <a:endParaRPr lang="zh-CN" altLang="en-US" sz="3200" dirty="0">
              <a:solidFill>
                <a:srgbClr val="FFFFFF"/>
              </a:solidFill>
              <a:latin typeface="Times New Roman" panose="02020603050405020304" pitchFamily="18" charset="0"/>
              <a:ea typeface="微软雅黑" panose="020B0503020204020204" charset="-122"/>
            </a:endParaRPr>
          </a:p>
        </p:txBody>
      </p:sp>
      <p:sp>
        <p:nvSpPr>
          <p:cNvPr id="11" name="MH_Other_2"/>
          <p:cNvSpPr/>
          <p:nvPr>
            <p:custDataLst>
              <p:tags r:id="rId4"/>
            </p:custDataLst>
          </p:nvPr>
        </p:nvSpPr>
        <p:spPr>
          <a:xfrm>
            <a:off x="987043" y="2029460"/>
            <a:ext cx="516601" cy="971550"/>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2" name="MH_Desc_1"/>
          <p:cNvSpPr/>
          <p:nvPr>
            <p:custDataLst>
              <p:tags r:id="rId5"/>
            </p:custDataLst>
          </p:nvPr>
        </p:nvSpPr>
        <p:spPr>
          <a:xfrm>
            <a:off x="5981700" y="2206335"/>
            <a:ext cx="5628005" cy="244533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spAutoFit/>
          </a:bodyPr>
          <a:lstStyle/>
          <a:p>
            <a:pPr indent="457200">
              <a:lnSpc>
                <a:spcPct val="120000"/>
              </a:lnSpc>
            </a:pPr>
            <a:r>
              <a:rPr lang="zh-CN" altLang="en-US" dirty="0">
                <a:solidFill>
                  <a:schemeClr val="tx1"/>
                </a:solidFill>
              </a:rPr>
              <a:t>属性值分类模式是指为一个领域中的所有构件定义一组属性，然后与刻面分类法类似地给这些属性赋值。</a:t>
            </a:r>
            <a:endParaRPr lang="en-US" altLang="zh-CN" dirty="0">
              <a:solidFill>
                <a:schemeClr val="tx1"/>
              </a:solidFill>
            </a:endParaRPr>
          </a:p>
          <a:p>
            <a:pPr fontAlgn="auto">
              <a:lnSpc>
                <a:spcPct val="120000"/>
              </a:lnSpc>
            </a:pPr>
            <a:r>
              <a:rPr lang="zh-CN" altLang="en-US" dirty="0">
                <a:solidFill>
                  <a:schemeClr val="tx1"/>
                </a:solidFill>
              </a:rPr>
              <a:t>属性值分类法与刻面分类法相似，区别如下：</a:t>
            </a:r>
          </a:p>
          <a:p>
            <a:pPr marL="285750" indent="-285750" fontAlgn="auto">
              <a:lnSpc>
                <a:spcPct val="120000"/>
              </a:lnSpc>
              <a:buFont typeface="Arial" panose="020B0604020202020204" pitchFamily="34" charset="0"/>
              <a:buChar char="•"/>
            </a:pPr>
            <a:r>
              <a:rPr lang="zh-CN" altLang="en-US" dirty="0">
                <a:solidFill>
                  <a:schemeClr val="tx1"/>
                </a:solidFill>
              </a:rPr>
              <a:t>对可重用的属性个数没有限制。</a:t>
            </a:r>
          </a:p>
          <a:p>
            <a:pPr marL="285750" indent="-285750" fontAlgn="auto">
              <a:lnSpc>
                <a:spcPct val="120000"/>
              </a:lnSpc>
              <a:buFont typeface="Arial" panose="020B0604020202020204" pitchFamily="34" charset="0"/>
              <a:buChar char="•"/>
            </a:pPr>
            <a:r>
              <a:rPr lang="zh-CN" altLang="en-US" dirty="0">
                <a:solidFill>
                  <a:schemeClr val="tx1"/>
                </a:solidFill>
              </a:rPr>
              <a:t>属性没有优先级。</a:t>
            </a:r>
          </a:p>
          <a:p>
            <a:pPr marL="285750" indent="-285750" fontAlgn="auto">
              <a:lnSpc>
                <a:spcPct val="120000"/>
              </a:lnSpc>
              <a:buFont typeface="Arial" panose="020B0604020202020204" pitchFamily="34" charset="0"/>
              <a:buChar char="•"/>
            </a:pPr>
            <a:r>
              <a:rPr lang="zh-CN" altLang="en-US" dirty="0">
                <a:solidFill>
                  <a:schemeClr val="tx1"/>
                </a:solidFill>
              </a:rPr>
              <a:t>不使用同义词词典功能。</a:t>
            </a:r>
            <a:endParaRPr dirty="0">
              <a:solidFill>
                <a:schemeClr val="tx1"/>
              </a:solidFill>
            </a:endParaRPr>
          </a:p>
        </p:txBody>
      </p:sp>
      <p:sp>
        <p:nvSpPr>
          <p:cNvPr id="3" name="矩形 2"/>
          <p:cNvSpPr/>
          <p:nvPr/>
        </p:nvSpPr>
        <p:spPr>
          <a:xfrm>
            <a:off x="595630" y="3444240"/>
            <a:ext cx="4682490" cy="1737360"/>
          </a:xfrm>
          <a:prstGeom prst="rect">
            <a:avLst/>
          </a:prstGeom>
          <a:noFill/>
          <a:ln>
            <a:noFill/>
          </a:ln>
        </p:spPr>
        <p:txBody>
          <a:bodyPr wrap="square" rtlCol="0" anchor="t">
            <a:prstTxWarp prst="textDoubleWave1">
              <a:avLst/>
            </a:prstTxWarp>
            <a:spAutoFit/>
          </a:bodyPr>
          <a:lstStyle/>
          <a:p>
            <a:pPr algn="ctr"/>
            <a:r>
              <a:rPr lang="zh-CN" altLang="en-US" sz="4000" b="1">
                <a:solidFill>
                  <a:schemeClr val="tx1"/>
                </a:solidFill>
                <a:effectLst>
                  <a:outerShdw blurRad="38100" dist="19050" dir="2700000" algn="tl" rotWithShape="0">
                    <a:schemeClr val="dk1">
                      <a:alpha val="40000"/>
                    </a:schemeClr>
                  </a:outerShdw>
                </a:effectLst>
              </a:rPr>
              <a:t>Attribute-Value Classification</a:t>
            </a:r>
          </a:p>
        </p:txBody>
      </p:sp>
    </p:spTree>
    <p:custDataLst>
      <p:tags r:id="rId1"/>
    </p:custDataLst>
  </p:cSld>
  <p:clrMapOvr>
    <a:masterClrMapping/>
  </p:clrMapOvr>
  <p:transition>
    <p:wheel spokes="3"/>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normAutofit/>
          </a:bodyPr>
          <a:lstStyle/>
          <a:p>
            <a:r>
              <a:rPr lang="en-US" dirty="0">
                <a:sym typeface="+mn-ea"/>
              </a:rPr>
              <a:t>5.2 软件重用和再工程</a:t>
            </a:r>
          </a:p>
        </p:txBody>
      </p:sp>
      <p:sp>
        <p:nvSpPr>
          <p:cNvPr id="11" name="文本占位符 10">
            <a:extLst>
              <a:ext uri="{FF2B5EF4-FFF2-40B4-BE49-F238E27FC236}">
                <a16:creationId xmlns:a16="http://schemas.microsoft.com/office/drawing/2014/main" id="{6E603408-85D8-CF4A-C040-08F1284A26DA}"/>
              </a:ext>
            </a:extLst>
          </p:cNvPr>
          <p:cNvSpPr>
            <a:spLocks noGrp="1"/>
          </p:cNvSpPr>
          <p:nvPr>
            <p:ph type="body" sz="quarter" idx="10"/>
          </p:nvPr>
        </p:nvSpPr>
        <p:spPr>
          <a:xfrm>
            <a:off x="504000" y="2664000"/>
            <a:ext cx="8125424" cy="3312000"/>
          </a:xfrm>
        </p:spPr>
        <p:txBody>
          <a:bodyPr>
            <a:spAutoFit/>
          </a:bodyPr>
          <a:lstStyle/>
          <a:p>
            <a:r>
              <a:rPr lang="zh-CN" altLang="en-US" dirty="0"/>
              <a:t>又称反向工程；</a:t>
            </a:r>
          </a:p>
          <a:p>
            <a:r>
              <a:rPr lang="zh-CN" altLang="en-US" dirty="0"/>
              <a:t>根据已有的源代码构造软件中间产品，包括：重新创建设计和规约</a:t>
            </a:r>
          </a:p>
          <a:p>
            <a:endParaRPr lang="en-US" altLang="zh-CN" dirty="0"/>
          </a:p>
          <a:p>
            <a:r>
              <a:rPr lang="zh-CN" altLang="en-US" dirty="0"/>
              <a:t>逆向工程是一种产品设计技术的再现过程；即对一项目标产品进行逆向分析及研究，从而演绎并得出该产品的处理流程、组织结构、功能特性及技术规格等设计要素，以制作出功能相近，但又不完全一样的产品。</a:t>
            </a:r>
            <a:endParaRPr lang="en-US" altLang="zh-CN" dirty="0"/>
          </a:p>
          <a:p>
            <a:endParaRPr lang="en-US" altLang="zh-CN" dirty="0"/>
          </a:p>
          <a:p>
            <a:r>
              <a:rPr lang="zh-CN" altLang="en-US" dirty="0"/>
              <a:t>简单地说，逆向工程就是根据已有的产品，反向推出产品设计数据（包括各类设计图或数据模型）的过程，被认为是一个从产品到设计的过程。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a:solidFill>
                  <a:schemeClr val="tx1"/>
                </a:solidFill>
              </a:rPr>
              <a:t>5.2.4 </a:t>
            </a:r>
            <a:r>
              <a:rPr lang="zh-CN" altLang="en-US" sz="2400" dirty="0">
                <a:solidFill>
                  <a:schemeClr val="tx1"/>
                </a:solidFill>
              </a:rPr>
              <a:t>软件逆向工程 </a:t>
            </a:r>
            <a:r>
              <a:rPr lang="en-US" altLang="zh-CN" sz="2400" dirty="0">
                <a:solidFill>
                  <a:schemeClr val="tx1"/>
                </a:solidFill>
              </a:rPr>
              <a:t>Reverse Engineer</a:t>
            </a:r>
            <a:endParaRPr lang="zh-CN" altLang="en-US" sz="2400" dirty="0">
              <a:solidFill>
                <a:schemeClr val="tx1"/>
              </a:solidFill>
            </a:endParaRPr>
          </a:p>
        </p:txBody>
      </p:sp>
      <p:sp>
        <p:nvSpPr>
          <p:cNvPr id="5" name="MH_Picture_1"/>
          <p:cNvSpPr/>
          <p:nvPr/>
        </p:nvSpPr>
        <p:spPr>
          <a:xfrm>
            <a:off x="8342279" y="767853"/>
            <a:ext cx="2133600" cy="2133445"/>
          </a:xfrm>
          <a:prstGeom prst="ellipse">
            <a:avLst/>
          </a:prstGeom>
          <a:blipFill dpi="0" rotWithShape="1">
            <a:blip r:embed="rId4"/>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6" name="MH_Picture_2"/>
          <p:cNvSpPr/>
          <p:nvPr/>
        </p:nvSpPr>
        <p:spPr>
          <a:xfrm>
            <a:off x="10313349" y="1942938"/>
            <a:ext cx="1741170" cy="1741044"/>
          </a:xfrm>
          <a:prstGeom prst="ellipse">
            <a:avLst/>
          </a:prstGeom>
          <a:blipFill dpi="0" rotWithShape="1">
            <a:blip r:embed="rId5"/>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 name="MH_Picture_3"/>
          <p:cNvSpPr/>
          <p:nvPr/>
        </p:nvSpPr>
        <p:spPr>
          <a:xfrm>
            <a:off x="10265376" y="4786644"/>
            <a:ext cx="1637030" cy="1636911"/>
          </a:xfrm>
          <a:prstGeom prst="ellipse">
            <a:avLst/>
          </a:prstGeom>
          <a:blipFill dpi="0" rotWithShape="1">
            <a:blip r:embed="rId6"/>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9" name="MH_Other_2"/>
          <p:cNvSpPr/>
          <p:nvPr/>
        </p:nvSpPr>
        <p:spPr>
          <a:xfrm>
            <a:off x="9805892" y="3075168"/>
            <a:ext cx="434975" cy="434943"/>
          </a:xfrm>
          <a:prstGeom prst="ellipse">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2" name="MH_Other_4"/>
          <p:cNvSpPr/>
          <p:nvPr/>
        </p:nvSpPr>
        <p:spPr>
          <a:xfrm>
            <a:off x="10313349" y="3607129"/>
            <a:ext cx="363220" cy="363829"/>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7" name="MH_Other_4">
            <a:extLst>
              <a:ext uri="{FF2B5EF4-FFF2-40B4-BE49-F238E27FC236}">
                <a16:creationId xmlns:a16="http://schemas.microsoft.com/office/drawing/2014/main" id="{423D38F7-2914-AE46-3A8D-2C46007B9B25}"/>
              </a:ext>
            </a:extLst>
          </p:cNvPr>
          <p:cNvSpPr/>
          <p:nvPr/>
        </p:nvSpPr>
        <p:spPr>
          <a:xfrm>
            <a:off x="7837650" y="1942938"/>
            <a:ext cx="792000" cy="792000"/>
          </a:xfrm>
          <a:prstGeom prst="ellipse">
            <a:avLst/>
          </a:prstGeom>
          <a:solidFill>
            <a:srgbClr val="00808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sz="1400" dirty="0">
                <a:solidFill>
                  <a:schemeClr val="bg1"/>
                </a:solidFill>
                <a:latin typeface="+mj-ea"/>
                <a:ea typeface="+mj-ea"/>
              </a:rPr>
              <a:t>高仿</a:t>
            </a:r>
          </a:p>
        </p:txBody>
      </p:sp>
    </p:spTree>
    <p:custDataLst>
      <p:tags r:id="rId1"/>
    </p:custDataLst>
  </p:cSld>
  <p:clrMapOvr>
    <a:masterClrMapping/>
  </p:clrMapOvr>
  <p:transition>
    <p:wheel spokes="3"/>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normAutofit/>
          </a:bodyPr>
          <a:lstStyle/>
          <a:p>
            <a:r>
              <a:rPr lang="en-US" dirty="0">
                <a:sym typeface="+mn-ea"/>
              </a:rPr>
              <a:t>5.2 软件重用和再工程</a:t>
            </a:r>
          </a:p>
        </p:txBody>
      </p:sp>
      <p:sp>
        <p:nvSpPr>
          <p:cNvPr id="5" name="文本占位符 4">
            <a:extLst>
              <a:ext uri="{FF2B5EF4-FFF2-40B4-BE49-F238E27FC236}">
                <a16:creationId xmlns:a16="http://schemas.microsoft.com/office/drawing/2014/main" id="{F210EB6E-00EF-4CF8-A79D-2BD723DA2915}"/>
              </a:ext>
            </a:extLst>
          </p:cNvPr>
          <p:cNvSpPr>
            <a:spLocks noGrp="1"/>
          </p:cNvSpPr>
          <p:nvPr>
            <p:ph type="body" sz="quarter" idx="10"/>
          </p:nvPr>
        </p:nvSpPr>
        <p:spPr>
          <a:xfrm>
            <a:off x="504000" y="2664000"/>
            <a:ext cx="8125424" cy="3312000"/>
          </a:xfrm>
        </p:spPr>
        <p:txBody>
          <a:bodyPr/>
          <a:lstStyle/>
          <a:p>
            <a:r>
              <a:rPr lang="zh-CN" altLang="en-US" dirty="0"/>
              <a:t>软件的逆向工程是分析程序，力图在比源代码更高的抽象层次上，建立程序的表示过程。</a:t>
            </a:r>
            <a:endParaRPr lang="en-US" altLang="zh-CN" dirty="0"/>
          </a:p>
          <a:p>
            <a:r>
              <a:rPr lang="zh-CN" altLang="en-US" dirty="0"/>
              <a:t>它不仅是设计的恢复过程，还可以借助工具从已经存在的程序中抽取数据结构、体系结构和程序设计信息。</a:t>
            </a:r>
            <a:endParaRPr lang="en-US" altLang="zh-CN" dirty="0"/>
          </a:p>
          <a:p>
            <a:endParaRPr lang="en-US" altLang="zh-CN" dirty="0"/>
          </a:p>
          <a:p>
            <a:r>
              <a:rPr lang="zh-CN" altLang="en-US" dirty="0"/>
              <a:t>软件逆向工程也可被视作开发周期的逆行。对一项软件程序进行逆向工程，类似于逆行传统瀑布模型中的开发步骤，即从实现阶段的输出（即软件程序）还原出在设计阶段所做的构思。</a:t>
            </a:r>
            <a:endParaRPr lang="en-US" altLang="zh-CN" dirty="0"/>
          </a:p>
          <a:p>
            <a:endParaRPr lang="en-US" altLang="zh-CN" dirty="0"/>
          </a:p>
          <a:p>
            <a:r>
              <a:rPr lang="zh-CN" altLang="en-US" dirty="0"/>
              <a:t>软件逆向工程仅仅是一种检测或分析的过程，它并不会更改目标系统。软件的逆向工程可以使用净室技术避免侵犯版权。</a:t>
            </a:r>
          </a:p>
          <a:p>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5.2.4 </a:t>
            </a:r>
            <a:r>
              <a:rPr lang="zh-CN" altLang="en-US" sz="2400" dirty="0">
                <a:solidFill>
                  <a:schemeClr val="tx1"/>
                </a:solidFill>
              </a:rPr>
              <a:t>软件逆向工程 </a:t>
            </a:r>
            <a:r>
              <a:rPr lang="en-US" altLang="zh-CN" sz="2400" dirty="0">
                <a:solidFill>
                  <a:schemeClr val="tx1"/>
                </a:solidFill>
              </a:rPr>
              <a:t>Reverse Engineer</a:t>
            </a:r>
            <a:endParaRPr lang="zh-CN" altLang="en-US" sz="2400" dirty="0">
              <a:solidFill>
                <a:schemeClr val="tx1"/>
              </a:solidFill>
            </a:endParaRPr>
          </a:p>
        </p:txBody>
      </p:sp>
      <p:sp>
        <p:nvSpPr>
          <p:cNvPr id="17" name="MH_Other_2">
            <a:extLst>
              <a:ext uri="{FF2B5EF4-FFF2-40B4-BE49-F238E27FC236}">
                <a16:creationId xmlns:a16="http://schemas.microsoft.com/office/drawing/2014/main" id="{ECCE36C1-457D-D91C-99DD-1DED9650054C}"/>
              </a:ext>
            </a:extLst>
          </p:cNvPr>
          <p:cNvSpPr/>
          <p:nvPr/>
        </p:nvSpPr>
        <p:spPr>
          <a:xfrm>
            <a:off x="9805892" y="3075168"/>
            <a:ext cx="434975" cy="434943"/>
          </a:xfrm>
          <a:prstGeom prst="ellipse">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8" name="MH_Other_4">
            <a:extLst>
              <a:ext uri="{FF2B5EF4-FFF2-40B4-BE49-F238E27FC236}">
                <a16:creationId xmlns:a16="http://schemas.microsoft.com/office/drawing/2014/main" id="{D7E0C6D6-6865-B7F6-F852-E47823A0B8F9}"/>
              </a:ext>
            </a:extLst>
          </p:cNvPr>
          <p:cNvSpPr/>
          <p:nvPr/>
        </p:nvSpPr>
        <p:spPr>
          <a:xfrm>
            <a:off x="10313349" y="3607129"/>
            <a:ext cx="363220" cy="363829"/>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27" name="MH_Picture_1">
            <a:extLst>
              <a:ext uri="{FF2B5EF4-FFF2-40B4-BE49-F238E27FC236}">
                <a16:creationId xmlns:a16="http://schemas.microsoft.com/office/drawing/2014/main" id="{A65133C8-EAE4-981C-C427-5E350A0EC3D8}"/>
              </a:ext>
            </a:extLst>
          </p:cNvPr>
          <p:cNvSpPr/>
          <p:nvPr/>
        </p:nvSpPr>
        <p:spPr>
          <a:xfrm>
            <a:off x="8342279" y="767853"/>
            <a:ext cx="2133600" cy="2133445"/>
          </a:xfrm>
          <a:prstGeom prst="ellipse">
            <a:avLst/>
          </a:prstGeom>
          <a:blipFill dpi="0" rotWithShape="1">
            <a:blip r:embed="rId4"/>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28" name="MH_Picture_2">
            <a:extLst>
              <a:ext uri="{FF2B5EF4-FFF2-40B4-BE49-F238E27FC236}">
                <a16:creationId xmlns:a16="http://schemas.microsoft.com/office/drawing/2014/main" id="{AFA46AFC-ECE9-6D32-F46F-35584E8F8396}"/>
              </a:ext>
            </a:extLst>
          </p:cNvPr>
          <p:cNvSpPr/>
          <p:nvPr/>
        </p:nvSpPr>
        <p:spPr>
          <a:xfrm>
            <a:off x="10313349" y="1942938"/>
            <a:ext cx="1741170" cy="1741044"/>
          </a:xfrm>
          <a:prstGeom prst="ellipse">
            <a:avLst/>
          </a:prstGeom>
          <a:blipFill dpi="0" rotWithShape="1">
            <a:blip r:embed="rId5"/>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 name="MH_Picture_3">
            <a:extLst>
              <a:ext uri="{FF2B5EF4-FFF2-40B4-BE49-F238E27FC236}">
                <a16:creationId xmlns:a16="http://schemas.microsoft.com/office/drawing/2014/main" id="{1896E414-EBDC-7B8C-B270-4D9422DC2F1C}"/>
              </a:ext>
            </a:extLst>
          </p:cNvPr>
          <p:cNvSpPr/>
          <p:nvPr/>
        </p:nvSpPr>
        <p:spPr>
          <a:xfrm>
            <a:off x="10265376" y="4786644"/>
            <a:ext cx="1637030" cy="1636911"/>
          </a:xfrm>
          <a:prstGeom prst="ellipse">
            <a:avLst/>
          </a:prstGeom>
          <a:blipFill dpi="0" rotWithShape="1">
            <a:blip r:embed="rId6"/>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Tree>
    <p:custDataLst>
      <p:tags r:id="rId1"/>
    </p:custDataLst>
  </p:cSld>
  <p:clrMapOvr>
    <a:masterClrMapping/>
  </p:clrMapOvr>
  <p:transition>
    <p:wheel spokes="3"/>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normAutofit/>
          </a:bodyPr>
          <a:lstStyle/>
          <a:p>
            <a:r>
              <a:rPr lang="en-US" dirty="0">
                <a:sym typeface="+mn-ea"/>
              </a:rPr>
              <a:t>5.2 软件重用和再工程</a:t>
            </a:r>
          </a:p>
        </p:txBody>
      </p:sp>
      <p:sp>
        <p:nvSpPr>
          <p:cNvPr id="7" name="文本占位符 6">
            <a:extLst>
              <a:ext uri="{FF2B5EF4-FFF2-40B4-BE49-F238E27FC236}">
                <a16:creationId xmlns:a16="http://schemas.microsoft.com/office/drawing/2014/main" id="{E7AADF8E-5357-33A2-5104-DC0817480FB4}"/>
              </a:ext>
            </a:extLst>
          </p:cNvPr>
          <p:cNvSpPr>
            <a:spLocks noGrp="1"/>
          </p:cNvSpPr>
          <p:nvPr>
            <p:ph type="body" sz="quarter" idx="10"/>
          </p:nvPr>
        </p:nvSpPr>
        <p:spPr>
          <a:xfrm>
            <a:off x="504000" y="2664000"/>
            <a:ext cx="8125424" cy="3312000"/>
          </a:xfrm>
        </p:spPr>
        <p:txBody>
          <a:bodyPr/>
          <a:lstStyle/>
          <a:p>
            <a:r>
              <a:rPr lang="zh-CN" altLang="en-US" dirty="0"/>
              <a:t>随着计算机技术在各个领域的广泛应用，特别是软件开发技术的迅猛发展，基于某个软件，以反汇编阅读源码的方式去推断其数据结构、体系结构和程序设计信息，成为软件逆向工程技术关注的主要对象。</a:t>
            </a:r>
            <a:endParaRPr lang="en-US" altLang="zh-CN" dirty="0"/>
          </a:p>
          <a:p>
            <a:r>
              <a:rPr lang="zh-CN" altLang="en-US" dirty="0"/>
              <a:t>软件逆向技术的目的是用来研究和学习先进的技术，特别是当手里没有合适的文档资料，又很需要实现某个软件功能的时候。也正因为这样，很多软件为了垄断技术，在软件安装之前，要求用户同意不去逆向研究。</a:t>
            </a:r>
            <a:endParaRPr lang="en-US" altLang="zh-CN" dirty="0"/>
          </a:p>
          <a:p>
            <a:endParaRPr lang="en-US" altLang="zh-CN" dirty="0"/>
          </a:p>
          <a:p>
            <a:r>
              <a:rPr lang="zh-CN" altLang="en-US" dirty="0"/>
              <a:t>主要方法：分析通过信息交换获得的观察、反汇编、反编译</a:t>
            </a:r>
            <a:endParaRPr lang="en-US" altLang="zh-CN" dirty="0"/>
          </a:p>
          <a:p>
            <a:endParaRPr lang="zh-CN" altLang="en-US" dirty="0"/>
          </a:p>
          <a:p>
            <a:r>
              <a:rPr lang="zh-CN" altLang="en-US" dirty="0"/>
              <a:t>目前主流应用的四大逆向工程软件为：</a:t>
            </a:r>
            <a:r>
              <a:rPr lang="en-US" altLang="zh-CN" dirty="0" err="1"/>
              <a:t>Imageware</a:t>
            </a:r>
            <a:r>
              <a:rPr lang="en-US" altLang="zh-CN" dirty="0"/>
              <a:t> Surfacer</a:t>
            </a:r>
            <a:r>
              <a:rPr lang="zh-CN" altLang="en-US" dirty="0"/>
              <a:t>，</a:t>
            </a:r>
            <a:r>
              <a:rPr lang="en-US" altLang="zh-CN" dirty="0"/>
              <a:t>Geomagic Studio</a:t>
            </a:r>
            <a:r>
              <a:rPr lang="zh-CN" altLang="en-US" dirty="0"/>
              <a:t>，</a:t>
            </a:r>
            <a:r>
              <a:rPr lang="en-US" altLang="zh-CN" dirty="0" err="1"/>
              <a:t>CopyCAD</a:t>
            </a:r>
            <a:r>
              <a:rPr lang="zh-CN" altLang="en-US" dirty="0"/>
              <a:t>，</a:t>
            </a:r>
            <a:r>
              <a:rPr lang="en-US" altLang="zh-CN" dirty="0" err="1"/>
              <a:t>RapidForm</a:t>
            </a:r>
            <a:r>
              <a:rPr lang="zh-CN" altLang="en-US" dirty="0"/>
              <a:t>。</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5.2.4 </a:t>
            </a:r>
            <a:r>
              <a:rPr lang="zh-CN" altLang="en-US" sz="2400" dirty="0">
                <a:solidFill>
                  <a:schemeClr val="tx1"/>
                </a:solidFill>
              </a:rPr>
              <a:t>软件逆向工程 </a:t>
            </a:r>
            <a:r>
              <a:rPr lang="en-US" altLang="zh-CN" sz="2400" dirty="0">
                <a:solidFill>
                  <a:schemeClr val="tx1"/>
                </a:solidFill>
              </a:rPr>
              <a:t>Reverse Engineer</a:t>
            </a:r>
            <a:endParaRPr lang="zh-CN" altLang="en-US" sz="2400" dirty="0">
              <a:solidFill>
                <a:schemeClr val="tx1"/>
              </a:solidFill>
            </a:endParaRPr>
          </a:p>
        </p:txBody>
      </p:sp>
      <p:sp>
        <p:nvSpPr>
          <p:cNvPr id="20" name="MH_Other_2">
            <a:extLst>
              <a:ext uri="{FF2B5EF4-FFF2-40B4-BE49-F238E27FC236}">
                <a16:creationId xmlns:a16="http://schemas.microsoft.com/office/drawing/2014/main" id="{49C5972F-3D50-877C-95B3-4CCD3139148B}"/>
              </a:ext>
            </a:extLst>
          </p:cNvPr>
          <p:cNvSpPr/>
          <p:nvPr/>
        </p:nvSpPr>
        <p:spPr>
          <a:xfrm>
            <a:off x="9805892" y="3075168"/>
            <a:ext cx="434975" cy="434943"/>
          </a:xfrm>
          <a:prstGeom prst="ellipse">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21" name="MH_Other_4">
            <a:extLst>
              <a:ext uri="{FF2B5EF4-FFF2-40B4-BE49-F238E27FC236}">
                <a16:creationId xmlns:a16="http://schemas.microsoft.com/office/drawing/2014/main" id="{463BB6F8-A8E3-7897-B9CF-2B2916C6D26E}"/>
              </a:ext>
            </a:extLst>
          </p:cNvPr>
          <p:cNvSpPr/>
          <p:nvPr/>
        </p:nvSpPr>
        <p:spPr>
          <a:xfrm>
            <a:off x="10313349" y="3607129"/>
            <a:ext cx="363220" cy="363829"/>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26" name="MH_Picture_1">
            <a:extLst>
              <a:ext uri="{FF2B5EF4-FFF2-40B4-BE49-F238E27FC236}">
                <a16:creationId xmlns:a16="http://schemas.microsoft.com/office/drawing/2014/main" id="{3FC466F0-22F6-976A-41FA-1AD58A6D2226}"/>
              </a:ext>
            </a:extLst>
          </p:cNvPr>
          <p:cNvSpPr/>
          <p:nvPr/>
        </p:nvSpPr>
        <p:spPr>
          <a:xfrm>
            <a:off x="8342279" y="767853"/>
            <a:ext cx="2133600" cy="2133445"/>
          </a:xfrm>
          <a:prstGeom prst="ellipse">
            <a:avLst/>
          </a:prstGeom>
          <a:blipFill dpi="0" rotWithShape="1">
            <a:blip r:embed="rId4"/>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27" name="MH_Picture_2">
            <a:extLst>
              <a:ext uri="{FF2B5EF4-FFF2-40B4-BE49-F238E27FC236}">
                <a16:creationId xmlns:a16="http://schemas.microsoft.com/office/drawing/2014/main" id="{9FCB722D-CF7E-1C7C-4A91-0E8FEE23C09B}"/>
              </a:ext>
            </a:extLst>
          </p:cNvPr>
          <p:cNvSpPr/>
          <p:nvPr/>
        </p:nvSpPr>
        <p:spPr>
          <a:xfrm>
            <a:off x="10313349" y="1942938"/>
            <a:ext cx="1741170" cy="1741044"/>
          </a:xfrm>
          <a:prstGeom prst="ellipse">
            <a:avLst/>
          </a:prstGeom>
          <a:blipFill dpi="0" rotWithShape="1">
            <a:blip r:embed="rId5"/>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28" name="MH_Picture_3">
            <a:extLst>
              <a:ext uri="{FF2B5EF4-FFF2-40B4-BE49-F238E27FC236}">
                <a16:creationId xmlns:a16="http://schemas.microsoft.com/office/drawing/2014/main" id="{BBFEADCE-5AD8-A969-FFB0-FCDBF9B697E2}"/>
              </a:ext>
            </a:extLst>
          </p:cNvPr>
          <p:cNvSpPr/>
          <p:nvPr/>
        </p:nvSpPr>
        <p:spPr>
          <a:xfrm>
            <a:off x="10265376" y="4786644"/>
            <a:ext cx="1637030" cy="1636911"/>
          </a:xfrm>
          <a:prstGeom prst="ellipse">
            <a:avLst/>
          </a:prstGeom>
          <a:blipFill dpi="0" rotWithShape="1">
            <a:blip r:embed="rId6"/>
            <a:srcRect/>
            <a:stretch>
              <a:fillRect/>
            </a:stretch>
          </a:blip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Tree>
    <p:custDataLst>
      <p:tags r:id="rId1"/>
    </p:custDataLst>
  </p:cSld>
  <p:clrMapOvr>
    <a:masterClrMapping/>
  </p:clrMapOvr>
  <p:transition>
    <p:wheel spokes="2"/>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软件重用和再工程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5.2.4 </a:t>
            </a:r>
            <a:r>
              <a:rPr lang="zh-CN" altLang="en-US" sz="2400" dirty="0">
                <a:solidFill>
                  <a:schemeClr val="tx1"/>
                </a:solidFill>
              </a:rPr>
              <a:t>软件逆向工程 </a:t>
            </a:r>
            <a:r>
              <a:rPr lang="en-US" altLang="zh-CN" sz="2400" dirty="0">
                <a:solidFill>
                  <a:schemeClr val="tx1"/>
                </a:solidFill>
              </a:rPr>
              <a:t>Reverse Engineer</a:t>
            </a:r>
            <a:endParaRPr lang="zh-CN" altLang="en-US" sz="2400" dirty="0">
              <a:solidFill>
                <a:schemeClr val="tx1"/>
              </a:solidFill>
            </a:endParaRPr>
          </a:p>
        </p:txBody>
      </p:sp>
      <p:sp>
        <p:nvSpPr>
          <p:cNvPr id="117778" name="Rectangle 18"/>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17777" name="Rectangle 29"/>
          <p:cNvSpPr>
            <a:spLocks noChangeArrowheads="1"/>
          </p:cNvSpPr>
          <p:nvPr/>
        </p:nvSpPr>
        <p:spPr bwMode="auto">
          <a:xfrm>
            <a:off x="5191887" y="2436826"/>
            <a:ext cx="5174005" cy="3456053"/>
          </a:xfrm>
          <a:prstGeom prst="rect">
            <a:avLst/>
          </a:prstGeom>
          <a:noFill/>
          <a:ln w="9525">
            <a:solidFill>
              <a:srgbClr val="000000"/>
            </a:solidFill>
            <a:prstDash val="lgDash"/>
            <a:miter lim="200000"/>
            <a:headEnd/>
            <a:tailEnd/>
          </a:ln>
        </p:spPr>
        <p:txBody>
          <a:bodyPr vert="horz" wrap="square" lIns="91440" tIns="45720" rIns="91440" bIns="45720" numCol="1" anchor="t" anchorCtr="0" compatLnSpc="1">
            <a:prstTxWarp prst="textNoShape">
              <a:avLst/>
            </a:prstTxWarp>
          </a:bodyPr>
          <a:lstStyle/>
          <a:p>
            <a:endParaRPr lang="zh-CN" altLang="en-US" sz="2400" dirty="0"/>
          </a:p>
        </p:txBody>
      </p:sp>
      <p:sp>
        <p:nvSpPr>
          <p:cNvPr id="117776" name="Quad Arrow 33"/>
          <p:cNvSpPr txBox="1">
            <a:spLocks noChangeArrowheads="1"/>
          </p:cNvSpPr>
          <p:nvPr/>
        </p:nvSpPr>
        <p:spPr bwMode="auto">
          <a:xfrm>
            <a:off x="5422234" y="4970760"/>
            <a:ext cx="1332050" cy="7386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lang="zh-CN" altLang="en-US" sz="1600" dirty="0"/>
              <a:t>处理规则</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600" dirty="0"/>
              <a:t>构件调用</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600" dirty="0"/>
              <a:t>伪代码</a:t>
            </a:r>
          </a:p>
        </p:txBody>
      </p:sp>
      <p:sp>
        <p:nvSpPr>
          <p:cNvPr id="117775" name="Flowchart: Predefined Process 34"/>
          <p:cNvSpPr>
            <a:spLocks noChangeArrowheads="1"/>
          </p:cNvSpPr>
          <p:nvPr/>
        </p:nvSpPr>
        <p:spPr bwMode="auto">
          <a:xfrm>
            <a:off x="5439594" y="2825175"/>
            <a:ext cx="1246497" cy="748941"/>
          </a:xfrm>
          <a:prstGeom prst="flowChartPredefinedProcess">
            <a:avLst/>
          </a:prstGeom>
          <a:solidFill>
            <a:schemeClr val="bg1"/>
          </a:solidFill>
          <a:ln w="9525">
            <a:solidFill>
              <a:srgbClr val="000000"/>
            </a:solidFill>
            <a:miter lim="2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7774" name="Documents"/>
          <p:cNvSpPr>
            <a:spLocks noChangeArrowheads="1"/>
          </p:cNvSpPr>
          <p:nvPr/>
        </p:nvSpPr>
        <p:spPr bwMode="auto">
          <a:xfrm rot="10800000">
            <a:off x="9078111" y="2619086"/>
            <a:ext cx="667517" cy="1161119"/>
          </a:xfrm>
          <a:custGeom>
            <a:avLst/>
            <a:gdLst>
              <a:gd name="T0" fmla="*/ 1645 w 21600"/>
              <a:gd name="T1" fmla="*/ 4171 h 21600"/>
              <a:gd name="T2" fmla="*/ 16522 w 21600"/>
              <a:gd name="T3" fmla="*/ 17314 h 21600"/>
            </a:gdLst>
            <a:ahLst/>
            <a:cxnLst>
              <a:cxn ang="0">
                <a:pos x="0" y="18014"/>
              </a:cxn>
              <a:cxn ang="0">
                <a:pos x="0" y="2800"/>
              </a:cxn>
              <a:cxn ang="0">
                <a:pos x="1645" y="2800"/>
              </a:cxn>
              <a:cxn ang="0">
                <a:pos x="1645" y="1428"/>
              </a:cxn>
              <a:cxn ang="0">
                <a:pos x="3468" y="1428"/>
              </a:cxn>
              <a:cxn ang="0">
                <a:pos x="3468" y="0"/>
              </a:cxn>
              <a:cxn ang="0">
                <a:pos x="21653" y="0"/>
              </a:cxn>
              <a:cxn ang="0">
                <a:pos x="21653" y="18828"/>
              </a:cxn>
              <a:cxn ang="0">
                <a:pos x="19954" y="18828"/>
              </a:cxn>
              <a:cxn ang="0">
                <a:pos x="19954" y="20214"/>
              </a:cxn>
              <a:cxn ang="0">
                <a:pos x="18256" y="20214"/>
              </a:cxn>
              <a:cxn ang="0">
                <a:pos x="18256" y="21600"/>
              </a:cxn>
              <a:cxn ang="0">
                <a:pos x="4434" y="21600"/>
              </a:cxn>
              <a:cxn ang="0">
                <a:pos x="0" y="18014"/>
              </a:cxn>
              <a:cxn ang="0">
                <a:pos x="3486" y="1428"/>
              </a:cxn>
              <a:cxn ang="0">
                <a:pos x="19954" y="1428"/>
              </a:cxn>
              <a:cxn ang="0">
                <a:pos x="19954" y="20214"/>
              </a:cxn>
              <a:cxn ang="0">
                <a:pos x="18256" y="20214"/>
              </a:cxn>
              <a:cxn ang="0">
                <a:pos x="18256" y="2800"/>
              </a:cxn>
              <a:cxn ang="0">
                <a:pos x="1645" y="2800"/>
              </a:cxn>
              <a:cxn ang="0">
                <a:pos x="1645" y="1428"/>
              </a:cxn>
              <a:cxn ang="0">
                <a:pos x="3486" y="1428"/>
              </a:cxn>
              <a:cxn ang="0">
                <a:pos x="0" y="18014"/>
              </a:cxn>
              <a:cxn ang="0">
                <a:pos x="4434" y="18000"/>
              </a:cxn>
              <a:cxn ang="0">
                <a:pos x="4434" y="21600"/>
              </a:cxn>
              <a:cxn ang="0">
                <a:pos x="0" y="18014"/>
              </a:cxn>
            </a:cxnLst>
            <a:rect l="T0" t="T1" r="T2" b="T3"/>
            <a:pathLst>
              <a:path w="21600" h="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a:moveTo>
                  <a:pt x="3486" y="1428"/>
                </a:moveTo>
                <a:lnTo>
                  <a:pt x="19954" y="1428"/>
                </a:lnTo>
                <a:lnTo>
                  <a:pt x="19954" y="20214"/>
                </a:lnTo>
                <a:lnTo>
                  <a:pt x="18256" y="20214"/>
                </a:lnTo>
                <a:lnTo>
                  <a:pt x="18256" y="2800"/>
                </a:lnTo>
                <a:lnTo>
                  <a:pt x="1645" y="2800"/>
                </a:lnTo>
                <a:lnTo>
                  <a:pt x="1645" y="1428"/>
                </a:lnTo>
                <a:lnTo>
                  <a:pt x="3486" y="1428"/>
                </a:lnTo>
                <a:close/>
              </a:path>
              <a:path w="21600" h="21600">
                <a:moveTo>
                  <a:pt x="0" y="18014"/>
                </a:moveTo>
                <a:lnTo>
                  <a:pt x="4434" y="18000"/>
                </a:lnTo>
                <a:lnTo>
                  <a:pt x="4434" y="21600"/>
                </a:lnTo>
                <a:lnTo>
                  <a:pt x="0" y="18014"/>
                </a:lnTo>
                <a:close/>
              </a:path>
            </a:pathLst>
          </a:custGeom>
          <a:solidFill>
            <a:schemeClr val="bg1"/>
          </a:solidFill>
          <a:ln w="9525">
            <a:solidFill>
              <a:srgbClr val="000000"/>
            </a:solidFill>
            <a:round/>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117773" name="Document"/>
          <p:cNvSpPr>
            <a:spLocks noChangeArrowheads="1"/>
          </p:cNvSpPr>
          <p:nvPr/>
        </p:nvSpPr>
        <p:spPr bwMode="auto">
          <a:xfrm rot="10800000">
            <a:off x="7401359" y="2732857"/>
            <a:ext cx="643642" cy="933576"/>
          </a:xfrm>
          <a:custGeom>
            <a:avLst/>
            <a:gdLst>
              <a:gd name="T0" fmla="*/ 977 w 21600"/>
              <a:gd name="T1" fmla="*/ 818 h 21600"/>
              <a:gd name="T2" fmla="*/ 20622 w 21600"/>
              <a:gd name="T3" fmla="*/ 16429 h 21600"/>
            </a:gdLst>
            <a:ahLst/>
            <a:cxnLst>
              <a:cxn ang="0">
                <a:pos x="10757" y="21632"/>
              </a:cxn>
              <a:cxn ang="0">
                <a:pos x="5187" y="21632"/>
              </a:cxn>
              <a:cxn ang="0">
                <a:pos x="85" y="17509"/>
              </a:cxn>
              <a:cxn ang="0">
                <a:pos x="85" y="10849"/>
              </a:cxn>
              <a:cxn ang="0">
                <a:pos x="85" y="81"/>
              </a:cxn>
              <a:cxn ang="0">
                <a:pos x="10757" y="81"/>
              </a:cxn>
              <a:cxn ang="0">
                <a:pos x="21706" y="81"/>
              </a:cxn>
              <a:cxn ang="0">
                <a:pos x="21706" y="10652"/>
              </a:cxn>
              <a:cxn ang="0">
                <a:pos x="21706" y="21632"/>
              </a:cxn>
              <a:cxn ang="0">
                <a:pos x="10757" y="21632"/>
              </a:cxn>
              <a:cxn ang="0">
                <a:pos x="85" y="17509"/>
              </a:cxn>
              <a:cxn ang="0">
                <a:pos x="5187" y="17509"/>
              </a:cxn>
              <a:cxn ang="0">
                <a:pos x="5187" y="21632"/>
              </a:cxn>
              <a:cxn ang="0">
                <a:pos x="85" y="17509"/>
              </a:cxn>
            </a:cxnLst>
            <a:rect l="T0" t="T1" r="T2" b="T3"/>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chemeClr val="bg1"/>
          </a:solidFill>
          <a:ln w="9525">
            <a:solidFill>
              <a:srgbClr val="000000"/>
            </a:solidFill>
            <a:round/>
            <a:headEnd/>
            <a:tailEnd/>
          </a:ln>
          <a:effectLst>
            <a:outerShdw dist="107763" dir="2700000" algn="ctr" rotWithShape="0">
              <a:srgbClr val="808080"/>
            </a:outerShdw>
          </a:effectLst>
        </p:spPr>
        <p:txBody>
          <a:bodyPr vert="horz" wrap="square" lIns="91440" tIns="45720" rIns="91440" bIns="45720" numCol="1" anchor="t" anchorCtr="0" compatLnSpc="1">
            <a:prstTxWarp prst="textNoShape">
              <a:avLst/>
            </a:prstTxWarp>
          </a:bodyPr>
          <a:lstStyle/>
          <a:p>
            <a:endParaRPr lang="zh-CN" altLang="en-US"/>
          </a:p>
        </p:txBody>
      </p:sp>
      <p:sp>
        <p:nvSpPr>
          <p:cNvPr id="117772" name="Quad Arrow 37"/>
          <p:cNvSpPr txBox="1">
            <a:spLocks noChangeArrowheads="1"/>
          </p:cNvSpPr>
          <p:nvPr/>
        </p:nvSpPr>
        <p:spPr bwMode="auto">
          <a:xfrm>
            <a:off x="7120374" y="4970760"/>
            <a:ext cx="1313149" cy="73866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lang="zh-CN" altLang="en-US" sz="1600" dirty="0"/>
              <a:t>数据、控制</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600" dirty="0"/>
              <a:t>流程图</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600" dirty="0"/>
              <a:t>数据结构图</a:t>
            </a:r>
          </a:p>
        </p:txBody>
      </p:sp>
      <p:sp>
        <p:nvSpPr>
          <p:cNvPr id="117771" name="Quad Arrow 38"/>
          <p:cNvSpPr txBox="1">
            <a:spLocks noChangeArrowheads="1"/>
          </p:cNvSpPr>
          <p:nvPr/>
        </p:nvSpPr>
        <p:spPr bwMode="auto">
          <a:xfrm>
            <a:off x="8844380" y="4970760"/>
            <a:ext cx="1559250"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lang="zh-CN" altLang="en-US" sz="1600" dirty="0"/>
              <a:t>数据接口表</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600" dirty="0"/>
              <a:t>测试路径</a:t>
            </a:r>
          </a:p>
        </p:txBody>
      </p:sp>
      <p:sp>
        <p:nvSpPr>
          <p:cNvPr id="117770" name="Flowchart: Document 24"/>
          <p:cNvSpPr>
            <a:spLocks noChangeArrowheads="1"/>
          </p:cNvSpPr>
          <p:nvPr/>
        </p:nvSpPr>
        <p:spPr bwMode="auto">
          <a:xfrm>
            <a:off x="2048786" y="3664908"/>
            <a:ext cx="1109212" cy="999889"/>
          </a:xfrm>
          <a:prstGeom prst="flowChartMultidocument">
            <a:avLst/>
          </a:prstGeom>
          <a:solidFill>
            <a:srgbClr val="FFFFFF"/>
          </a:solidFill>
          <a:ln w="9525">
            <a:solidFill>
              <a:srgbClr val="000000"/>
            </a:solidFill>
            <a:miter lim="200000"/>
            <a:headEnd/>
            <a:tailEnd/>
          </a:ln>
        </p:spPr>
        <p:txBody>
          <a:bodyPr vert="horz" wrap="square" lIns="91440" tIns="45720" rIns="91440" bIns="45720" numCol="1" anchor="ctr" anchorCtr="0" compatLnSpc="1">
            <a:prstTxWarp prst="textNoShape">
              <a:avLst/>
            </a:prstTxWarp>
          </a:bodyPr>
          <a:lstStyle/>
          <a:p>
            <a:pPr algn="ctr"/>
            <a:r>
              <a:rPr lang="zh-CN" altLang="zh-CN" sz="1600" dirty="0">
                <a:latin typeface="Times New Roman" pitchFamily="18" charset="0"/>
                <a:ea typeface="微软雅黑 Light" panose="020B0502040204020203" pitchFamily="34" charset="-122"/>
                <a:cs typeface="Times New Roman" pitchFamily="18" charset="0"/>
              </a:rPr>
              <a:t>源代码</a:t>
            </a:r>
            <a:endParaRPr lang="zh-CN" altLang="zh-CN" sz="1600" dirty="0">
              <a:latin typeface="Arial" pitchFamily="34" charset="0"/>
              <a:ea typeface="微软雅黑 Light" panose="020B0502040204020203" pitchFamily="34" charset="-122"/>
              <a:cs typeface="宋体" pitchFamily="2" charset="-122"/>
            </a:endParaRPr>
          </a:p>
        </p:txBody>
      </p:sp>
      <p:sp>
        <p:nvSpPr>
          <p:cNvPr id="117767" name="Notched Right Arrow 27"/>
          <p:cNvSpPr>
            <a:spLocks noChangeArrowheads="1"/>
          </p:cNvSpPr>
          <p:nvPr/>
        </p:nvSpPr>
        <p:spPr bwMode="auto">
          <a:xfrm>
            <a:off x="3515632" y="3774779"/>
            <a:ext cx="1578763" cy="780147"/>
          </a:xfrm>
          <a:prstGeom prst="notchedRightArrow">
            <a:avLst>
              <a:gd name="adj1" fmla="val 50000"/>
              <a:gd name="adj2" fmla="val 66125"/>
            </a:avLst>
          </a:prstGeom>
          <a:solidFill>
            <a:srgbClr val="FFFFFF"/>
          </a:solidFill>
          <a:ln w="9525">
            <a:solidFill>
              <a:srgbClr val="000000"/>
            </a:solidFill>
            <a:miter lim="200000"/>
            <a:headEnd/>
            <a:tailEnd/>
          </a:ln>
        </p:spPr>
        <p:txBody>
          <a:bodyPr vert="horz" wrap="square" lIns="91440" tIns="45720" rIns="91440" bIns="45720" numCol="1" anchor="ctr" anchorCtr="0" compatLnSpc="1">
            <a:prstTxWarp prst="textNoShape">
              <a:avLst/>
            </a:prstTxWarp>
          </a:bodyPr>
          <a:lstStyle/>
          <a:p>
            <a:r>
              <a:rPr lang="zh-CN" altLang="zh-CN" sz="1600" dirty="0"/>
              <a:t>静态分析</a:t>
            </a:r>
          </a:p>
        </p:txBody>
      </p:sp>
      <p:sp>
        <p:nvSpPr>
          <p:cNvPr id="117764" name="Quad Arrow 25"/>
          <p:cNvSpPr txBox="1">
            <a:spLocks noChangeArrowheads="1"/>
          </p:cNvSpPr>
          <p:nvPr/>
        </p:nvSpPr>
        <p:spPr bwMode="auto">
          <a:xfrm>
            <a:off x="5452527" y="3962465"/>
            <a:ext cx="981877" cy="34716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数据字典</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117763" name="Quad Arrow 25"/>
          <p:cNvSpPr txBox="1">
            <a:spLocks noChangeArrowheads="1"/>
          </p:cNvSpPr>
          <p:nvPr/>
        </p:nvSpPr>
        <p:spPr bwMode="auto">
          <a:xfrm>
            <a:off x="7213340" y="3962465"/>
            <a:ext cx="909256" cy="38747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E-R</a:t>
            </a:r>
            <a:r>
              <a:rPr kumimoji="0" lang="zh-CN" altLang="en-US" sz="14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图</a:t>
            </a:r>
            <a:endParaRPr kumimoji="0" lang="zh-CN" altLang="en-US" sz="14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
        <p:nvSpPr>
          <p:cNvPr id="117762" name="Quad Arrow 25"/>
          <p:cNvSpPr txBox="1">
            <a:spLocks noChangeArrowheads="1"/>
          </p:cNvSpPr>
          <p:nvPr/>
        </p:nvSpPr>
        <p:spPr bwMode="auto">
          <a:xfrm>
            <a:off x="8700581" y="3962465"/>
            <a:ext cx="1422578" cy="3744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b="0" i="0" u="none" strike="noStrike" cap="none" normalizeH="0" baseline="0" dirty="0">
                <a:ln>
                  <a:noFill/>
                </a:ln>
                <a:solidFill>
                  <a:schemeClr val="tx1"/>
                </a:solidFill>
                <a:effectLst/>
                <a:latin typeface="Times New Roman" pitchFamily="18" charset="0"/>
                <a:ea typeface="微软雅黑 Light" panose="020B0502040204020203" pitchFamily="34" charset="-122"/>
                <a:cs typeface="Times New Roman" pitchFamily="18" charset="0"/>
              </a:rPr>
              <a:t>模块、变量表</a:t>
            </a:r>
            <a:endParaRPr kumimoji="0" lang="zh-CN" sz="1600" b="0" i="0" u="none" strike="noStrike" cap="none" normalizeH="0" baseline="0" dirty="0">
              <a:ln>
                <a:noFill/>
              </a:ln>
              <a:solidFill>
                <a:schemeClr val="tx1"/>
              </a:solidFill>
              <a:effectLst/>
              <a:latin typeface="Arial" pitchFamily="34" charset="0"/>
              <a:ea typeface="微软雅黑 Light" panose="020B0502040204020203" pitchFamily="34" charset="-122"/>
              <a:cs typeface="宋体" pitchFamily="2" charset="-122"/>
            </a:endParaRPr>
          </a:p>
        </p:txBody>
      </p:sp>
    </p:spTree>
    <p:custDataLst>
      <p:tags r:id="rId1"/>
    </p:custDataLst>
  </p:cSld>
  <p:clrMapOvr>
    <a:masterClrMapping/>
  </p:clrMapOvr>
  <p:transition>
    <p:wheel spokes="3"/>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lstStyle/>
          <a:p>
            <a:r>
              <a:rPr lang="en-US" dirty="0">
                <a:sym typeface="+mn-ea"/>
              </a:rPr>
              <a:t>5.2 </a:t>
            </a:r>
            <a:r>
              <a:rPr lang="zh-CN" altLang="en-US" dirty="0">
                <a:sym typeface="+mn-ea"/>
              </a:rPr>
              <a:t>软件重用和再工程</a:t>
            </a:r>
            <a:endParaRPr lang="zh-CN"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5.2.4 </a:t>
            </a:r>
            <a:r>
              <a:rPr lang="zh-CN" altLang="en-US" sz="2400" dirty="0">
                <a:solidFill>
                  <a:schemeClr val="tx1"/>
                </a:solidFill>
              </a:rPr>
              <a:t>软件逆向工程 </a:t>
            </a:r>
            <a:r>
              <a:rPr lang="en-US" altLang="zh-CN" sz="2400" dirty="0">
                <a:solidFill>
                  <a:schemeClr val="tx1"/>
                </a:solidFill>
              </a:rPr>
              <a:t>Reverse Engineer</a:t>
            </a:r>
            <a:endParaRPr lang="zh-CN" altLang="en-US" sz="2400" dirty="0">
              <a:solidFill>
                <a:schemeClr val="tx1"/>
              </a:solidFill>
            </a:endParaRPr>
          </a:p>
        </p:txBody>
      </p:sp>
      <p:cxnSp>
        <p:nvCxnSpPr>
          <p:cNvPr id="4" name="MH_Other_1"/>
          <p:cNvCxnSpPr/>
          <p:nvPr/>
        </p:nvCxnSpPr>
        <p:spPr>
          <a:xfrm flipH="1">
            <a:off x="1342894" y="2620025"/>
            <a:ext cx="981075" cy="9207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833624" y="3157870"/>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7" name="MH_SubTitle_1"/>
          <p:cNvSpPr txBox="1">
            <a:spLocks noChangeArrowheads="1"/>
          </p:cNvSpPr>
          <p:nvPr/>
        </p:nvSpPr>
        <p:spPr bwMode="auto">
          <a:xfrm>
            <a:off x="2261765" y="2494628"/>
            <a:ext cx="9108000" cy="1431995"/>
          </a:xfrm>
          <a:prstGeom prst="rect">
            <a:avLst/>
          </a:prstGeom>
          <a:noFill/>
          <a:ln w="9525">
            <a:noFill/>
            <a:miter lim="800000"/>
          </a:ln>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a:solidFill>
                  <a:srgbClr val="00B0F0"/>
                </a:solidFill>
              </a:rPr>
              <a:t>分析通过信息交换所得的观察</a:t>
            </a:r>
          </a:p>
          <a:p>
            <a:pPr fontAlgn="auto">
              <a:lnSpc>
                <a:spcPct val="120000"/>
              </a:lnSpc>
            </a:pPr>
            <a:r>
              <a:rPr dirty="0"/>
              <a:t>最常用于协议逆向工程，涉及使用总线分析器和数据包嗅探器。在接入计算机总线或网络的连接，并成功截取到通信数据后，可以对总线或网络行为进行分析，以制造出拥有相同行为的通信实现。此法特别适用于设备驱动程序的逆向工程。</a:t>
            </a:r>
          </a:p>
        </p:txBody>
      </p:sp>
      <p:sp>
        <p:nvSpPr>
          <p:cNvPr id="8" name="MH_Other_3"/>
          <p:cNvSpPr txBox="1">
            <a:spLocks noChangeArrowheads="1"/>
          </p:cNvSpPr>
          <p:nvPr/>
        </p:nvSpPr>
        <p:spPr bwMode="auto">
          <a:xfrm>
            <a:off x="809494" y="2420000"/>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dirty="0">
                <a:solidFill>
                  <a:srgbClr val="00A8E7"/>
                </a:solidFill>
                <a:latin typeface="Times New Roman" panose="02020603050405020304" pitchFamily="18" charset="0"/>
                <a:ea typeface="微软雅黑" panose="020B0503020204020204" charset="-122"/>
              </a:rPr>
              <a:t>01</a:t>
            </a:r>
          </a:p>
        </p:txBody>
      </p:sp>
      <p:cxnSp>
        <p:nvCxnSpPr>
          <p:cNvPr id="10" name="MH_Other_1"/>
          <p:cNvCxnSpPr/>
          <p:nvPr/>
        </p:nvCxnSpPr>
        <p:spPr>
          <a:xfrm flipH="1">
            <a:off x="1342894" y="3926623"/>
            <a:ext cx="981075" cy="9207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1" name="MH_Other_2"/>
          <p:cNvSpPr/>
          <p:nvPr/>
        </p:nvSpPr>
        <p:spPr>
          <a:xfrm>
            <a:off x="833624" y="4464468"/>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2" name="MH_SubTitle_1"/>
          <p:cNvSpPr txBox="1">
            <a:spLocks noChangeArrowheads="1"/>
          </p:cNvSpPr>
          <p:nvPr/>
        </p:nvSpPr>
        <p:spPr bwMode="auto">
          <a:xfrm>
            <a:off x="2261765" y="4134079"/>
            <a:ext cx="9108000" cy="1099596"/>
          </a:xfrm>
          <a:prstGeom prst="rect">
            <a:avLst/>
          </a:prstGeom>
          <a:noFill/>
          <a:ln w="9525">
            <a:noFill/>
            <a:miter lim="800000"/>
          </a:ln>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a:solidFill>
                  <a:srgbClr val="00B0F0"/>
                </a:solidFill>
              </a:rPr>
              <a:t>反汇编</a:t>
            </a:r>
          </a:p>
          <a:p>
            <a:pPr fontAlgn="auto">
              <a:lnSpc>
                <a:spcPct val="120000"/>
              </a:lnSpc>
            </a:pPr>
            <a:r>
              <a:rPr dirty="0"/>
              <a:t>使用反汇编器把程序的原始机器码翻译成较便于阅读理解的汇编代码。这适用于任何的计算机程序，对不熟悉机器码的人特别有用。流行的相关工具有</a:t>
            </a:r>
            <a:r>
              <a:rPr lang="en-US" dirty="0"/>
              <a:t> </a:t>
            </a:r>
            <a:r>
              <a:rPr dirty="0"/>
              <a:t>OllyDebug</a:t>
            </a:r>
            <a:r>
              <a:rPr lang="en-US" dirty="0"/>
              <a:t> </a:t>
            </a:r>
            <a:r>
              <a:rPr dirty="0"/>
              <a:t>和</a:t>
            </a:r>
            <a:r>
              <a:rPr lang="en-US" dirty="0"/>
              <a:t> </a:t>
            </a:r>
            <a:r>
              <a:rPr dirty="0"/>
              <a:t>IDA。</a:t>
            </a:r>
          </a:p>
        </p:txBody>
      </p:sp>
      <p:sp>
        <p:nvSpPr>
          <p:cNvPr id="13" name="MH_Other_3"/>
          <p:cNvSpPr txBox="1">
            <a:spLocks noChangeArrowheads="1"/>
          </p:cNvSpPr>
          <p:nvPr/>
        </p:nvSpPr>
        <p:spPr bwMode="auto">
          <a:xfrm>
            <a:off x="809494" y="3726598"/>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dirty="0">
                <a:solidFill>
                  <a:srgbClr val="00A8E7"/>
                </a:solidFill>
                <a:latin typeface="Times New Roman" panose="02020603050405020304" pitchFamily="18" charset="0"/>
                <a:ea typeface="微软雅黑" panose="020B0503020204020204" charset="-122"/>
              </a:rPr>
              <a:t>02</a:t>
            </a:r>
          </a:p>
        </p:txBody>
      </p:sp>
      <p:cxnSp>
        <p:nvCxnSpPr>
          <p:cNvPr id="15" name="MH_Other_1"/>
          <p:cNvCxnSpPr/>
          <p:nvPr/>
        </p:nvCxnSpPr>
        <p:spPr>
          <a:xfrm flipH="1">
            <a:off x="1392424" y="5283976"/>
            <a:ext cx="981075" cy="9207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6" name="MH_Other_2"/>
          <p:cNvSpPr/>
          <p:nvPr/>
        </p:nvSpPr>
        <p:spPr>
          <a:xfrm>
            <a:off x="883154" y="5821821"/>
            <a:ext cx="715645" cy="32385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dirty="0">
              <a:solidFill>
                <a:schemeClr val="accent1">
                  <a:lumMod val="50000"/>
                </a:schemeClr>
              </a:solidFill>
              <a:latin typeface="Times New Roman" panose="02020603050405020304" pitchFamily="18" charset="0"/>
              <a:ea typeface="微软雅黑" panose="020B0503020204020204" charset="-122"/>
            </a:endParaRPr>
          </a:p>
        </p:txBody>
      </p:sp>
      <p:sp>
        <p:nvSpPr>
          <p:cNvPr id="17" name="MH_SubTitle_1"/>
          <p:cNvSpPr txBox="1">
            <a:spLocks noChangeArrowheads="1"/>
          </p:cNvSpPr>
          <p:nvPr/>
        </p:nvSpPr>
        <p:spPr bwMode="auto">
          <a:xfrm>
            <a:off x="2261764" y="5441130"/>
            <a:ext cx="9108000" cy="767198"/>
          </a:xfrm>
          <a:prstGeom prst="rect">
            <a:avLst/>
          </a:prstGeom>
          <a:noFill/>
          <a:ln w="9525">
            <a:noFill/>
            <a:miter lim="800000"/>
          </a:ln>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120000"/>
              </a:lnSpc>
            </a:pPr>
            <a:r>
              <a:rPr lang="zh-CN" altLang="en-US" sz="2000" b="1" dirty="0">
                <a:solidFill>
                  <a:srgbClr val="00B0F0"/>
                </a:solidFill>
              </a:rPr>
              <a:t>反编译</a:t>
            </a:r>
          </a:p>
          <a:p>
            <a:pPr fontAlgn="auto">
              <a:lnSpc>
                <a:spcPct val="120000"/>
              </a:lnSpc>
            </a:pPr>
            <a:r>
              <a:rPr dirty="0"/>
              <a:t>使用反编译器尝试从程序的机器码或字节码中重现高级语言形式的源代码。</a:t>
            </a:r>
          </a:p>
        </p:txBody>
      </p:sp>
      <p:sp>
        <p:nvSpPr>
          <p:cNvPr id="18" name="MH_Other_3"/>
          <p:cNvSpPr txBox="1">
            <a:spLocks noChangeArrowheads="1"/>
          </p:cNvSpPr>
          <p:nvPr/>
        </p:nvSpPr>
        <p:spPr bwMode="auto">
          <a:xfrm>
            <a:off x="859024" y="5083951"/>
            <a:ext cx="758825" cy="738505"/>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dirty="0">
                <a:solidFill>
                  <a:srgbClr val="00A8E7"/>
                </a:solidFill>
                <a:latin typeface="Times New Roman" panose="02020603050405020304" pitchFamily="18" charset="0"/>
                <a:ea typeface="微软雅黑" panose="020B0503020204020204" charset="-122"/>
              </a:rPr>
              <a:t>03</a:t>
            </a:r>
          </a:p>
        </p:txBody>
      </p:sp>
      <p:sp>
        <p:nvSpPr>
          <p:cNvPr id="22" name="矩形 7"/>
          <p:cNvSpPr>
            <a:spLocks noChangeArrowheads="1"/>
          </p:cNvSpPr>
          <p:nvPr/>
        </p:nvSpPr>
        <p:spPr bwMode="auto">
          <a:xfrm>
            <a:off x="838978" y="2090768"/>
            <a:ext cx="71858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latin typeface="微软雅黑" panose="020B0503020204020204" charset="-122"/>
                <a:ea typeface="微软雅黑" panose="020B0503020204020204" charset="-122"/>
              </a:rPr>
              <a:t>软件逆向工程的实现方法很多，主要有以下</a:t>
            </a:r>
            <a:r>
              <a:rPr lang="en-US" altLang="en-US" b="1" dirty="0">
                <a:latin typeface="微软雅黑" panose="020B0503020204020204" charset="-122"/>
                <a:ea typeface="微软雅黑" panose="020B0503020204020204" charset="-122"/>
              </a:rPr>
              <a:t>3</a:t>
            </a:r>
            <a:r>
              <a:rPr lang="zh-CN" altLang="en-US" b="1" dirty="0">
                <a:latin typeface="微软雅黑" panose="020B0503020204020204" charset="-122"/>
                <a:ea typeface="微软雅黑" panose="020B0503020204020204" charset="-122"/>
              </a:rPr>
              <a:t>种。</a:t>
            </a:r>
          </a:p>
        </p:txBody>
      </p:sp>
    </p:spTree>
    <p:custDataLst>
      <p:tags r:id="rId1"/>
    </p:custDataLst>
  </p:cSld>
  <p:clrMapOvr>
    <a:masterClrMapping/>
  </p:clrMapOvr>
  <p:transition>
    <p:wheel spokes="3"/>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normAutofit/>
          </a:bodyPr>
          <a:lstStyle/>
          <a:p>
            <a:r>
              <a:rPr lang="en-US">
                <a:sym typeface="+mn-ea"/>
              </a:rPr>
              <a:t>5.2 软件重用和再工程</a:t>
            </a:r>
            <a:endParaRPr lang="en-US" dirty="0">
              <a:sym typeface="+mn-ea"/>
            </a:endParaRPr>
          </a:p>
        </p:txBody>
      </p:sp>
      <p:sp>
        <p:nvSpPr>
          <p:cNvPr id="5" name="文本占位符 4">
            <a:extLst>
              <a:ext uri="{FF2B5EF4-FFF2-40B4-BE49-F238E27FC236}">
                <a16:creationId xmlns:a16="http://schemas.microsoft.com/office/drawing/2014/main" id="{13A04080-353C-3AA0-1D38-C29FBF7BD4C3}"/>
              </a:ext>
            </a:extLst>
          </p:cNvPr>
          <p:cNvSpPr>
            <a:spLocks noGrp="1"/>
          </p:cNvSpPr>
          <p:nvPr>
            <p:ph type="body" sz="quarter" idx="10"/>
          </p:nvPr>
        </p:nvSpPr>
        <p:spPr>
          <a:xfrm>
            <a:off x="504000" y="2664000"/>
            <a:ext cx="8125424" cy="3312000"/>
          </a:xfrm>
        </p:spPr>
        <p:txBody>
          <a:bodyPr/>
          <a:lstStyle/>
          <a:p>
            <a:r>
              <a:rPr lang="zh-CN" altLang="en-US" dirty="0"/>
              <a:t>软件再工程（</a:t>
            </a:r>
            <a:r>
              <a:rPr lang="en-US" altLang="zh-CN" dirty="0"/>
              <a:t>Reengineering</a:t>
            </a:r>
            <a:r>
              <a:rPr lang="zh-CN" altLang="en-US" dirty="0"/>
              <a:t>）是软件逆向工程的扩充。</a:t>
            </a:r>
            <a:endParaRPr lang="en-US" altLang="zh-CN" dirty="0"/>
          </a:p>
          <a:p>
            <a:endParaRPr lang="en-US" altLang="zh-CN" dirty="0"/>
          </a:p>
          <a:p>
            <a:r>
              <a:rPr lang="zh-CN" altLang="en-US" dirty="0"/>
              <a:t>软件逆向工程提取需要的信息后，软件再工程基于对原系统的理解和转换，在不变更整个系统功能的前提下，生产新的软件源代码。</a:t>
            </a:r>
            <a:endParaRPr lang="en-US" altLang="zh-CN" dirty="0"/>
          </a:p>
          <a:p>
            <a:endParaRPr lang="en-US" altLang="zh-CN" dirty="0"/>
          </a:p>
          <a:p>
            <a:r>
              <a:rPr lang="zh-CN" altLang="en-US" dirty="0"/>
              <a:t>软件工程的再工程是以软件工程方法学为指导，对既有对象系统进行调查，并将其重构为新形式代码的开发过程。</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5.2.5 </a:t>
            </a:r>
            <a:r>
              <a:rPr lang="zh-CN" altLang="en-US" sz="2400" dirty="0">
                <a:solidFill>
                  <a:schemeClr val="tx1"/>
                </a:solidFill>
              </a:rPr>
              <a:t>软件再工程 </a:t>
            </a:r>
            <a:r>
              <a:rPr lang="en-US" altLang="zh-CN" sz="2400" dirty="0">
                <a:solidFill>
                  <a:schemeClr val="tx1"/>
                </a:solidFill>
              </a:rPr>
              <a:t>Reengineering</a:t>
            </a:r>
          </a:p>
        </p:txBody>
      </p:sp>
      <p:sp>
        <p:nvSpPr>
          <p:cNvPr id="13" name="椭圆 12">
            <a:extLst>
              <a:ext uri="{FF2B5EF4-FFF2-40B4-BE49-F238E27FC236}">
                <a16:creationId xmlns:a16="http://schemas.microsoft.com/office/drawing/2014/main" id="{B151CE98-CF4C-A41E-40E6-B95C895BD3E3}"/>
              </a:ext>
            </a:extLst>
          </p:cNvPr>
          <p:cNvSpPr/>
          <p:nvPr/>
        </p:nvSpPr>
        <p:spPr>
          <a:xfrm>
            <a:off x="9234810" y="895350"/>
            <a:ext cx="2677886" cy="2677886"/>
          </a:xfrm>
          <a:prstGeom prst="ellipse">
            <a:avLst/>
          </a:prstGeom>
          <a:blipFill>
            <a:blip r:embed="rId4"/>
            <a:stretch>
              <a:fillRect/>
            </a:stretch>
          </a:blip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MH_Other_2">
            <a:extLst>
              <a:ext uri="{FF2B5EF4-FFF2-40B4-BE49-F238E27FC236}">
                <a16:creationId xmlns:a16="http://schemas.microsoft.com/office/drawing/2014/main" id="{25154215-C3ED-C2CE-01C6-3F422203C1AD}"/>
              </a:ext>
            </a:extLst>
          </p:cNvPr>
          <p:cNvSpPr/>
          <p:nvPr/>
        </p:nvSpPr>
        <p:spPr>
          <a:xfrm>
            <a:off x="10241594" y="4352244"/>
            <a:ext cx="434975" cy="434943"/>
          </a:xfrm>
          <a:prstGeom prst="ellipse">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5" name="MH_Other_4">
            <a:extLst>
              <a:ext uri="{FF2B5EF4-FFF2-40B4-BE49-F238E27FC236}">
                <a16:creationId xmlns:a16="http://schemas.microsoft.com/office/drawing/2014/main" id="{219FE0FA-A077-59B5-1277-5C59657CECE8}"/>
              </a:ext>
            </a:extLst>
          </p:cNvPr>
          <p:cNvSpPr/>
          <p:nvPr/>
        </p:nvSpPr>
        <p:spPr>
          <a:xfrm>
            <a:off x="9436272" y="3383161"/>
            <a:ext cx="363220" cy="363829"/>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Tree>
    <p:custDataLst>
      <p:tags r:id="rId1"/>
    </p:custDataLst>
  </p:cSld>
  <p:clrMapOvr>
    <a:masterClrMapping/>
  </p:clrMapOvr>
  <p:transition>
    <p:wheel spokes="2"/>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normAutofit/>
          </a:bodyPr>
          <a:lstStyle/>
          <a:p>
            <a:r>
              <a:rPr lang="en-US" dirty="0">
                <a:sym typeface="+mn-ea"/>
              </a:rPr>
              <a:t>5.2 软件重用和再工程</a:t>
            </a:r>
          </a:p>
        </p:txBody>
      </p:sp>
      <p:sp>
        <p:nvSpPr>
          <p:cNvPr id="7" name="文本占位符 6">
            <a:extLst>
              <a:ext uri="{FF2B5EF4-FFF2-40B4-BE49-F238E27FC236}">
                <a16:creationId xmlns:a16="http://schemas.microsoft.com/office/drawing/2014/main" id="{CCE6E4A4-A93D-B675-94D2-C77AD256B927}"/>
              </a:ext>
            </a:extLst>
          </p:cNvPr>
          <p:cNvSpPr>
            <a:spLocks noGrp="1"/>
          </p:cNvSpPr>
          <p:nvPr>
            <p:ph type="body" sz="quarter" idx="10"/>
          </p:nvPr>
        </p:nvSpPr>
        <p:spPr>
          <a:xfrm>
            <a:off x="504000" y="2664000"/>
            <a:ext cx="8125424" cy="3312000"/>
          </a:xfrm>
        </p:spPr>
        <p:txBody>
          <a:bodyPr/>
          <a:lstStyle/>
          <a:p>
            <a:r>
              <a:rPr lang="zh-CN" altLang="en-US" dirty="0"/>
              <a:t>软件再工程的成本取决于重做工程的难度。</a:t>
            </a:r>
            <a:endParaRPr lang="en-US" altLang="zh-CN" dirty="0"/>
          </a:p>
          <a:p>
            <a:r>
              <a:rPr lang="zh-CN" altLang="en-US" dirty="0"/>
              <a:t>源代码转换最便宜，程序结构重构次之，接下来是程序和数据重构，而体系结构迁移成本最高。</a:t>
            </a:r>
            <a:endParaRPr lang="en-US" altLang="zh-CN" dirty="0"/>
          </a:p>
          <a:p>
            <a:r>
              <a:rPr lang="zh-CN" altLang="en-US" dirty="0"/>
              <a:t>尽管如此，软件再工程与重新开发软件相比，成本和风险还是更小一些。原因是开发软件的起点不同。</a:t>
            </a:r>
            <a:endParaRPr lang="en-US" altLang="zh-CN" dirty="0"/>
          </a:p>
          <a:p>
            <a:r>
              <a:rPr lang="zh-CN" altLang="en-US" dirty="0"/>
              <a:t>在软件再工程的各个阶段，软件的可重用程度都将决定着软件再工程的工作量。</a:t>
            </a:r>
            <a:endParaRPr lang="en-US" altLang="zh-CN" dirty="0"/>
          </a:p>
          <a:p>
            <a:endParaRPr lang="zh-CN" altLang="en-US" dirty="0"/>
          </a:p>
          <a:p>
            <a:r>
              <a:rPr lang="zh-CN" altLang="en-US" dirty="0"/>
              <a:t>由于软件规模庞大，种类很多，因此不是每个软件都需要进行再工程。</a:t>
            </a:r>
            <a:endParaRPr lang="en-US" altLang="zh-CN" dirty="0"/>
          </a:p>
          <a:p>
            <a:r>
              <a:rPr lang="zh-CN" altLang="en-US" dirty="0"/>
              <a:t>大多数情况下，那些决定要移植、或要重新设计、或为复用而需验证其正确性的程序才被选择实施再工程。</a:t>
            </a:r>
            <a:endParaRPr lang="en-US" altLang="zh-CN" dirty="0"/>
          </a:p>
          <a:p>
            <a:r>
              <a:rPr lang="zh-CN" altLang="en-US" dirty="0"/>
              <a:t>目前再工程最成功的例子是人们理解深刻、相对稳定的一些领域，如信息系统等。</a:t>
            </a:r>
          </a:p>
          <a:p>
            <a:endParaRPr lang="zh-CN" altLang="en-US" dirty="0"/>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5.2.5 </a:t>
            </a:r>
            <a:r>
              <a:rPr lang="zh-CN" altLang="en-US" sz="2400" dirty="0">
                <a:solidFill>
                  <a:schemeClr val="tx1"/>
                </a:solidFill>
              </a:rPr>
              <a:t>软件再工程 </a:t>
            </a:r>
            <a:r>
              <a:rPr lang="en-US" altLang="zh-CN" sz="2400" dirty="0">
                <a:solidFill>
                  <a:schemeClr val="tx1"/>
                </a:solidFill>
              </a:rPr>
              <a:t>Reengineering</a:t>
            </a:r>
          </a:p>
        </p:txBody>
      </p:sp>
      <p:sp>
        <p:nvSpPr>
          <p:cNvPr id="11" name="椭圆 10">
            <a:extLst>
              <a:ext uri="{FF2B5EF4-FFF2-40B4-BE49-F238E27FC236}">
                <a16:creationId xmlns:a16="http://schemas.microsoft.com/office/drawing/2014/main" id="{49863028-1483-9502-47F5-827F3C1F8B5A}"/>
              </a:ext>
            </a:extLst>
          </p:cNvPr>
          <p:cNvSpPr/>
          <p:nvPr/>
        </p:nvSpPr>
        <p:spPr>
          <a:xfrm>
            <a:off x="9234810" y="895350"/>
            <a:ext cx="2677886" cy="2677886"/>
          </a:xfrm>
          <a:prstGeom prst="ellipse">
            <a:avLst/>
          </a:prstGeom>
          <a:blipFill>
            <a:blip r:embed="rId4"/>
            <a:stretch>
              <a:fillRect/>
            </a:stretch>
          </a:blip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MH_Other_2">
            <a:extLst>
              <a:ext uri="{FF2B5EF4-FFF2-40B4-BE49-F238E27FC236}">
                <a16:creationId xmlns:a16="http://schemas.microsoft.com/office/drawing/2014/main" id="{C1E30019-F4BB-2DA8-A284-58D6F6AE4BD6}"/>
              </a:ext>
            </a:extLst>
          </p:cNvPr>
          <p:cNvSpPr/>
          <p:nvPr/>
        </p:nvSpPr>
        <p:spPr>
          <a:xfrm>
            <a:off x="10241594" y="4352244"/>
            <a:ext cx="434975" cy="434943"/>
          </a:xfrm>
          <a:prstGeom prst="ellipse">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6" name="MH_Other_4">
            <a:extLst>
              <a:ext uri="{FF2B5EF4-FFF2-40B4-BE49-F238E27FC236}">
                <a16:creationId xmlns:a16="http://schemas.microsoft.com/office/drawing/2014/main" id="{BF6B51AA-CED6-8938-CE27-E2B59CDE3C36}"/>
              </a:ext>
            </a:extLst>
          </p:cNvPr>
          <p:cNvSpPr/>
          <p:nvPr/>
        </p:nvSpPr>
        <p:spPr>
          <a:xfrm>
            <a:off x="9436272" y="3383161"/>
            <a:ext cx="363220" cy="363829"/>
          </a:xfrm>
          <a:prstGeom prst="ellipse">
            <a:avLst/>
          </a:pr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Tree>
    <p:custDataLst>
      <p:tags r:id="rId1"/>
    </p:custDataLst>
  </p:cSld>
  <p:clrMapOvr>
    <a:masterClrMapping/>
  </p:clrMapOvr>
  <p:transition>
    <p:wheel spokes="2"/>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5.2.5 </a:t>
            </a:r>
            <a:r>
              <a:rPr lang="zh-CN" altLang="en-US" sz="2400" dirty="0">
                <a:solidFill>
                  <a:schemeClr val="tx1"/>
                </a:solidFill>
              </a:rPr>
              <a:t>软件再工程 </a:t>
            </a:r>
            <a:r>
              <a:rPr lang="en-US" altLang="zh-CN" sz="2400" dirty="0">
                <a:solidFill>
                  <a:schemeClr val="tx1"/>
                </a:solidFill>
              </a:rPr>
              <a:t>Reengineering</a:t>
            </a:r>
          </a:p>
        </p:txBody>
      </p:sp>
      <p:sp>
        <p:nvSpPr>
          <p:cNvPr id="19" name="MH_SubTitle_2"/>
          <p:cNvSpPr/>
          <p:nvPr>
            <p:custDataLst>
              <p:tags r:id="rId2"/>
            </p:custDataLst>
          </p:nvPr>
        </p:nvSpPr>
        <p:spPr>
          <a:xfrm flipH="1">
            <a:off x="7178675" y="186443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再分析阶段</a:t>
            </a:r>
          </a:p>
        </p:txBody>
      </p:sp>
      <p:sp>
        <p:nvSpPr>
          <p:cNvPr id="20" name="MH_Other_5"/>
          <p:cNvSpPr/>
          <p:nvPr>
            <p:custDataLst>
              <p:tags r:id="rId3"/>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1/3</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22" name="MH_Desc_1"/>
          <p:cNvSpPr/>
          <p:nvPr>
            <p:custDataLst>
              <p:tags r:id="rId5"/>
            </p:custDataLst>
          </p:nvPr>
        </p:nvSpPr>
        <p:spPr>
          <a:xfrm>
            <a:off x="809625" y="2598924"/>
            <a:ext cx="6219825" cy="3667076"/>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anchor="t" anchorCtr="0">
            <a:spAutoFit/>
          </a:bodyPr>
          <a:lstStyle/>
          <a:p>
            <a:pPr>
              <a:lnSpc>
                <a:spcPct val="120000"/>
              </a:lnSpc>
            </a:pPr>
            <a:r>
              <a:rPr lang="zh-CN" altLang="en-US" sz="1600" dirty="0">
                <a:solidFill>
                  <a:schemeClr val="tx1"/>
                </a:solidFill>
              </a:rPr>
              <a:t>主要任务：对既存系统的规模、体系结构、外部功能、内部算法、复杂度等进行调查分析。</a:t>
            </a:r>
            <a:endParaRPr lang="en-US" altLang="zh-CN" sz="1600" dirty="0">
              <a:solidFill>
                <a:schemeClr val="tx1"/>
              </a:solidFill>
            </a:endParaRPr>
          </a:p>
          <a:p>
            <a:pPr>
              <a:lnSpc>
                <a:spcPct val="120000"/>
              </a:lnSpc>
            </a:pPr>
            <a:endParaRPr lang="zh-CN" altLang="en-US" sz="1600" dirty="0">
              <a:solidFill>
                <a:schemeClr val="tx1"/>
              </a:solidFill>
            </a:endParaRPr>
          </a:p>
          <a:p>
            <a:pPr>
              <a:lnSpc>
                <a:spcPct val="120000"/>
              </a:lnSpc>
            </a:pPr>
            <a:r>
              <a:rPr lang="zh-CN" altLang="en-US" sz="1600" dirty="0">
                <a:solidFill>
                  <a:schemeClr val="tx1"/>
                </a:solidFill>
              </a:rPr>
              <a:t>最直接目的：调查和预测再工程涉及的范围。</a:t>
            </a:r>
            <a:endParaRPr lang="en-US" altLang="zh-CN" sz="1600" dirty="0">
              <a:solidFill>
                <a:schemeClr val="tx1"/>
              </a:solidFill>
            </a:endParaRPr>
          </a:p>
          <a:p>
            <a:pPr>
              <a:lnSpc>
                <a:spcPct val="120000"/>
              </a:lnSpc>
            </a:pPr>
            <a:endParaRPr lang="zh-CN" altLang="en-US" sz="1600" dirty="0">
              <a:solidFill>
                <a:schemeClr val="tx1"/>
              </a:solidFill>
            </a:endParaRPr>
          </a:p>
          <a:p>
            <a:pPr>
              <a:lnSpc>
                <a:spcPct val="120000"/>
              </a:lnSpc>
            </a:pPr>
            <a:r>
              <a:rPr lang="zh-CN" altLang="en-US" sz="1600" dirty="0">
                <a:solidFill>
                  <a:schemeClr val="tx1"/>
                </a:solidFill>
              </a:rPr>
              <a:t>重用是软件工程经济学最重要的原则之一，重用得越多，再工程成本越低。所以，再分析阶段最重要的目的是寻找可重用的对象和重用策略，最终确定的再工程任务和工作量也将依存于可重用对象范围和重用策略。</a:t>
            </a:r>
            <a:endParaRPr lang="en-US" altLang="zh-CN" sz="1600" dirty="0">
              <a:solidFill>
                <a:schemeClr val="tx1"/>
              </a:solidFill>
            </a:endParaRPr>
          </a:p>
          <a:p>
            <a:pPr>
              <a:lnSpc>
                <a:spcPct val="120000"/>
              </a:lnSpc>
            </a:pPr>
            <a:endParaRPr lang="zh-CN" altLang="en-US" sz="1600" dirty="0">
              <a:solidFill>
                <a:schemeClr val="tx1"/>
              </a:solidFill>
            </a:endParaRPr>
          </a:p>
          <a:p>
            <a:pPr>
              <a:lnSpc>
                <a:spcPct val="120000"/>
              </a:lnSpc>
            </a:pPr>
            <a:r>
              <a:rPr lang="zh-CN" altLang="en-US" sz="1600" dirty="0">
                <a:solidFill>
                  <a:schemeClr val="tx1"/>
                </a:solidFill>
              </a:rPr>
              <a:t>再工程分析者最终提出的重用范围和重用策略将成为决定再工程成败以及再工程产品系统可维护性高低的关键因素。</a:t>
            </a:r>
          </a:p>
        </p:txBody>
      </p:sp>
      <p:pic>
        <p:nvPicPr>
          <p:cNvPr id="24" name="图片 23" descr="474ffc7bc8a9e8770776b7c07f58d0fdad576b94.png"/>
          <p:cNvPicPr>
            <a:picLocks noChangeAspect="1"/>
          </p:cNvPicPr>
          <p:nvPr/>
        </p:nvPicPr>
        <p:blipFill>
          <a:blip r:embed="rId8" cstate="print"/>
          <a:stretch>
            <a:fillRect/>
          </a:stretch>
        </p:blipFill>
        <p:spPr>
          <a:xfrm>
            <a:off x="8392160" y="2792095"/>
            <a:ext cx="2443480" cy="3056255"/>
          </a:xfrm>
          <a:prstGeom prst="rect">
            <a:avLst/>
          </a:prstGeom>
        </p:spPr>
      </p:pic>
    </p:spTree>
    <p:custDataLst>
      <p:tags r:id="rId1"/>
    </p:custDataLst>
  </p:cSld>
  <p:clrMapOvr>
    <a:masterClrMapping/>
  </p:clrMapOvr>
  <p:transition>
    <p:wheel spokes="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0" y="360000"/>
            <a:ext cx="8415337"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5.2.5 </a:t>
            </a:r>
            <a:r>
              <a:rPr lang="zh-CN" altLang="en-US" sz="2400" dirty="0">
                <a:solidFill>
                  <a:schemeClr val="tx1"/>
                </a:solidFill>
              </a:rPr>
              <a:t>软件再工程 </a:t>
            </a:r>
            <a:r>
              <a:rPr lang="en-US" altLang="zh-CN" sz="2400" dirty="0">
                <a:solidFill>
                  <a:schemeClr val="tx1"/>
                </a:solidFill>
              </a:rPr>
              <a:t>Reengineering</a:t>
            </a:r>
          </a:p>
        </p:txBody>
      </p:sp>
      <p:sp>
        <p:nvSpPr>
          <p:cNvPr id="19" name="MH_SubTitle_2"/>
          <p:cNvSpPr/>
          <p:nvPr>
            <p:custDataLst>
              <p:tags r:id="rId2"/>
            </p:custDataLst>
          </p:nvPr>
        </p:nvSpPr>
        <p:spPr>
          <a:xfrm flipH="1">
            <a:off x="7178675" y="186443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再编码阶段</a:t>
            </a:r>
          </a:p>
        </p:txBody>
      </p:sp>
      <p:sp>
        <p:nvSpPr>
          <p:cNvPr id="20" name="MH_Other_5"/>
          <p:cNvSpPr/>
          <p:nvPr>
            <p:custDataLst>
              <p:tags r:id="rId3"/>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2/3</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pic>
        <p:nvPicPr>
          <p:cNvPr id="11" name="图片 10" descr="0_1326776093VBOq.gif"/>
          <p:cNvPicPr>
            <a:picLocks noChangeAspect="1"/>
          </p:cNvPicPr>
          <p:nvPr/>
        </p:nvPicPr>
        <p:blipFill>
          <a:blip r:embed="rId8" cstate="print">
            <a:clrChange>
              <a:clrFrom>
                <a:srgbClr val="FAFAFA"/>
              </a:clrFrom>
              <a:clrTo>
                <a:srgbClr val="FAFAFA">
                  <a:alpha val="0"/>
                </a:srgbClr>
              </a:clrTo>
            </a:clrChange>
          </a:blip>
          <a:srcRect l="2716"/>
          <a:stretch>
            <a:fillRect/>
          </a:stretch>
        </p:blipFill>
        <p:spPr>
          <a:xfrm>
            <a:off x="7705725" y="3048635"/>
            <a:ext cx="3983355" cy="2863215"/>
          </a:xfrm>
          <a:prstGeom prst="rect">
            <a:avLst/>
          </a:prstGeom>
        </p:spPr>
      </p:pic>
      <p:sp>
        <p:nvSpPr>
          <p:cNvPr id="3" name="MH_Desc_1">
            <a:extLst>
              <a:ext uri="{FF2B5EF4-FFF2-40B4-BE49-F238E27FC236}">
                <a16:creationId xmlns:a16="http://schemas.microsoft.com/office/drawing/2014/main" id="{B0490ABC-64DA-5950-A7F2-0D3622DE4052}"/>
              </a:ext>
            </a:extLst>
          </p:cNvPr>
          <p:cNvSpPr/>
          <p:nvPr>
            <p:custDataLst>
              <p:tags r:id="rId5"/>
            </p:custDataLst>
          </p:nvPr>
        </p:nvSpPr>
        <p:spPr>
          <a:xfrm>
            <a:off x="809625" y="2598924"/>
            <a:ext cx="6219825" cy="2485214"/>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anchor="t" anchorCtr="0">
            <a:spAutoFit/>
          </a:bodyPr>
          <a:lstStyle/>
          <a:p>
            <a:pPr>
              <a:lnSpc>
                <a:spcPct val="120000"/>
              </a:lnSpc>
            </a:pPr>
            <a:r>
              <a:rPr lang="zh-CN" altLang="en-US" sz="1600" dirty="0">
                <a:solidFill>
                  <a:schemeClr val="tx1"/>
                </a:solidFill>
              </a:rPr>
              <a:t>根据再分析阶段做成的再工程设计书，再编码阶段将在系统整体再分析的基础上对代码做进一步分析。</a:t>
            </a:r>
            <a:endParaRPr lang="en-US" altLang="zh-CN" sz="1600" dirty="0">
              <a:solidFill>
                <a:schemeClr val="tx1"/>
              </a:solidFill>
            </a:endParaRPr>
          </a:p>
          <a:p>
            <a:pPr>
              <a:lnSpc>
                <a:spcPct val="120000"/>
              </a:lnSpc>
            </a:pPr>
            <a:endParaRPr lang="en-US" altLang="zh-CN" sz="1600" dirty="0">
              <a:solidFill>
                <a:schemeClr val="tx1"/>
              </a:solidFill>
            </a:endParaRPr>
          </a:p>
          <a:p>
            <a:pPr>
              <a:lnSpc>
                <a:spcPct val="120000"/>
              </a:lnSpc>
            </a:pPr>
            <a:r>
              <a:rPr lang="zh-CN" altLang="en-US" sz="1600" dirty="0">
                <a:solidFill>
                  <a:schemeClr val="tx1"/>
                </a:solidFill>
              </a:rPr>
              <a:t>如果说再分析阶段的产品是再工程的</a:t>
            </a:r>
            <a:r>
              <a:rPr lang="zh-CN" altLang="en-US" sz="1600" dirty="0">
                <a:solidFill>
                  <a:srgbClr val="C00000"/>
                </a:solidFill>
              </a:rPr>
              <a:t>基本设计书</a:t>
            </a:r>
            <a:r>
              <a:rPr lang="zh-CN" altLang="en-US" sz="1600" dirty="0">
                <a:solidFill>
                  <a:schemeClr val="tx1"/>
                </a:solidFill>
              </a:rPr>
              <a:t>，那么再编码阶段就要产生类似详细设计书的</a:t>
            </a:r>
            <a:r>
              <a:rPr lang="zh-CN" altLang="en-US" sz="1600" dirty="0">
                <a:solidFill>
                  <a:srgbClr val="C00000"/>
                </a:solidFill>
              </a:rPr>
              <a:t>编码设计书</a:t>
            </a:r>
            <a:r>
              <a:rPr lang="zh-CN" altLang="en-US" sz="1600" dirty="0">
                <a:solidFill>
                  <a:schemeClr val="tx1"/>
                </a:solidFill>
              </a:rPr>
              <a:t>。</a:t>
            </a:r>
            <a:endParaRPr lang="en-US" altLang="zh-CN" sz="1600" dirty="0">
              <a:solidFill>
                <a:schemeClr val="tx1"/>
              </a:solidFill>
            </a:endParaRPr>
          </a:p>
          <a:p>
            <a:pPr>
              <a:lnSpc>
                <a:spcPct val="120000"/>
              </a:lnSpc>
            </a:pPr>
            <a:endParaRPr lang="en-US" altLang="zh-CN" sz="1600" dirty="0">
              <a:solidFill>
                <a:schemeClr val="tx1"/>
              </a:solidFill>
            </a:endParaRPr>
          </a:p>
          <a:p>
            <a:pPr>
              <a:lnSpc>
                <a:spcPct val="120000"/>
              </a:lnSpc>
            </a:pPr>
            <a:r>
              <a:rPr lang="zh-CN" altLang="en-US" sz="1600" dirty="0">
                <a:solidFill>
                  <a:schemeClr val="tx1"/>
                </a:solidFill>
              </a:rPr>
              <a:t>注意到再工程是个整体，无法将再分析、再设计、再编码截然分开，因此瀑布模型更不适应再工程。</a:t>
            </a:r>
          </a:p>
        </p:txBody>
      </p:sp>
    </p:spTree>
    <p:custDataLst>
      <p:tags r:id="rId1"/>
    </p:custDataLst>
  </p:cSld>
  <p:clrMapOvr>
    <a:masterClrMapping/>
  </p:clrMapOvr>
  <p:transition>
    <p:wheel spokes="1"/>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801" y="360000"/>
            <a:ext cx="5257200" cy="535531"/>
          </a:xfrm>
        </p:spPr>
        <p:txBody>
          <a:bodyPr>
            <a:normAutofit/>
          </a:bodyPr>
          <a:lstStyle/>
          <a:p>
            <a:r>
              <a:rPr lang="en-US" dirty="0">
                <a:sym typeface="+mn-ea"/>
              </a:rPr>
              <a:t>5.2 </a:t>
            </a:r>
            <a:r>
              <a:rPr lang="zh-CN" altLang="en-US" dirty="0">
                <a:sym typeface="+mn-ea"/>
              </a:rPr>
              <a:t>软件重用和再工程</a:t>
            </a:r>
            <a:endParaRPr lang="en-US" dirty="0">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a:solidFill>
                  <a:schemeClr val="tx1"/>
                </a:solidFill>
              </a:rPr>
              <a:t>5.2.5 </a:t>
            </a:r>
            <a:r>
              <a:rPr lang="zh-CN" altLang="en-US" sz="2400" dirty="0">
                <a:solidFill>
                  <a:schemeClr val="tx1"/>
                </a:solidFill>
              </a:rPr>
              <a:t>软件再工程 </a:t>
            </a:r>
            <a:r>
              <a:rPr lang="en-US" altLang="zh-CN" sz="2400" dirty="0">
                <a:solidFill>
                  <a:schemeClr val="tx1"/>
                </a:solidFill>
              </a:rPr>
              <a:t>Reengineering</a:t>
            </a:r>
          </a:p>
        </p:txBody>
      </p:sp>
      <p:sp>
        <p:nvSpPr>
          <p:cNvPr id="19" name="MH_SubTitle_2"/>
          <p:cNvSpPr/>
          <p:nvPr>
            <p:custDataLst>
              <p:tags r:id="rId2"/>
            </p:custDataLst>
          </p:nvPr>
        </p:nvSpPr>
        <p:spPr>
          <a:xfrm flipH="1">
            <a:off x="7178675" y="186443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cs typeface="黑体" panose="02010609060101010101" pitchFamily="49" charset="-122"/>
              </a:rPr>
              <a:t>再测试阶段</a:t>
            </a:r>
          </a:p>
        </p:txBody>
      </p:sp>
      <p:sp>
        <p:nvSpPr>
          <p:cNvPr id="20" name="MH_Other_5"/>
          <p:cNvSpPr/>
          <p:nvPr>
            <p:custDataLst>
              <p:tags r:id="rId3"/>
            </p:custDataLst>
          </p:nvPr>
        </p:nvSpPr>
        <p:spPr>
          <a:xfrm flipH="1">
            <a:off x="11185429" y="174275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solidFill>
                  <a:srgbClr val="FFFFFF"/>
                </a:solidFill>
                <a:latin typeface="Times New Roman" panose="02020603050405020304" pitchFamily="18" charset="0"/>
                <a:ea typeface="微软雅黑" panose="020B0503020204020204" charset="-122"/>
              </a:rPr>
              <a:t>3/3</a:t>
            </a:r>
            <a:endParaRPr lang="zh-CN" altLang="en-US" sz="3200" b="1" dirty="0">
              <a:solidFill>
                <a:srgbClr val="FFFFFF"/>
              </a:solidFill>
              <a:latin typeface="Times New Roman" panose="02020603050405020304" pitchFamily="18" charset="0"/>
              <a:ea typeface="微软雅黑" panose="020B0503020204020204" charset="-122"/>
            </a:endParaRPr>
          </a:p>
        </p:txBody>
      </p:sp>
      <p:sp>
        <p:nvSpPr>
          <p:cNvPr id="21" name="MH_Other_6"/>
          <p:cNvSpPr/>
          <p:nvPr>
            <p:custDataLst>
              <p:tags r:id="rId4"/>
            </p:custDataLst>
          </p:nvPr>
        </p:nvSpPr>
        <p:spPr>
          <a:xfrm flipH="1">
            <a:off x="10688356" y="174117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pic>
        <p:nvPicPr>
          <p:cNvPr id="7" name="图片 6" descr="20150912095423385.jpg"/>
          <p:cNvPicPr>
            <a:picLocks noChangeAspect="1"/>
          </p:cNvPicPr>
          <p:nvPr/>
        </p:nvPicPr>
        <p:blipFill>
          <a:blip r:embed="rId8" cstate="print"/>
          <a:stretch>
            <a:fillRect/>
          </a:stretch>
        </p:blipFill>
        <p:spPr>
          <a:xfrm>
            <a:off x="7610475" y="2908300"/>
            <a:ext cx="4147820" cy="2544445"/>
          </a:xfrm>
          <a:prstGeom prst="rect">
            <a:avLst/>
          </a:prstGeom>
        </p:spPr>
      </p:pic>
      <p:sp>
        <p:nvSpPr>
          <p:cNvPr id="3" name="MH_Desc_1">
            <a:extLst>
              <a:ext uri="{FF2B5EF4-FFF2-40B4-BE49-F238E27FC236}">
                <a16:creationId xmlns:a16="http://schemas.microsoft.com/office/drawing/2014/main" id="{8105BA4A-0A2C-DE84-50A6-C1F0544BC35A}"/>
              </a:ext>
            </a:extLst>
          </p:cNvPr>
          <p:cNvSpPr/>
          <p:nvPr>
            <p:custDataLst>
              <p:tags r:id="rId5"/>
            </p:custDataLst>
          </p:nvPr>
        </p:nvSpPr>
        <p:spPr>
          <a:xfrm>
            <a:off x="809625" y="2598924"/>
            <a:ext cx="6219825" cy="2485214"/>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anchor="t" anchorCtr="0">
            <a:spAutoFit/>
          </a:bodyPr>
          <a:lstStyle/>
          <a:p>
            <a:pPr>
              <a:lnSpc>
                <a:spcPct val="120000"/>
              </a:lnSpc>
            </a:pPr>
            <a:r>
              <a:rPr lang="zh-CN" altLang="en-US" sz="1600" dirty="0">
                <a:solidFill>
                  <a:schemeClr val="tx1"/>
                </a:solidFill>
              </a:rPr>
              <a:t>一般来说，再测试是再工程过程中工作量最大的一项工作。</a:t>
            </a:r>
            <a:endParaRPr lang="en-US" altLang="zh-CN" sz="1600" dirty="0">
              <a:solidFill>
                <a:schemeClr val="tx1"/>
              </a:solidFill>
            </a:endParaRPr>
          </a:p>
          <a:p>
            <a:pPr>
              <a:lnSpc>
                <a:spcPct val="120000"/>
              </a:lnSpc>
            </a:pPr>
            <a:endParaRPr lang="en-US" altLang="zh-CN" sz="1600" dirty="0">
              <a:solidFill>
                <a:schemeClr val="tx1"/>
              </a:solidFill>
            </a:endParaRPr>
          </a:p>
          <a:p>
            <a:pPr>
              <a:lnSpc>
                <a:spcPct val="120000"/>
              </a:lnSpc>
            </a:pPr>
            <a:r>
              <a:rPr lang="zh-CN" altLang="en-US" sz="1600" dirty="0">
                <a:solidFill>
                  <a:schemeClr val="tx1"/>
                </a:solidFill>
              </a:rPr>
              <a:t>如果能够重用原有的测试用例及运行结果，将能大大降低再工程成本。对于可重用的部分，特别是可重用的局部系统，还可以免除测试，这也正是重用技术被再工程高度评价的关键原因之一。</a:t>
            </a:r>
            <a:endParaRPr lang="en-US" altLang="zh-CN" sz="1600" dirty="0">
              <a:solidFill>
                <a:schemeClr val="tx1"/>
              </a:solidFill>
            </a:endParaRPr>
          </a:p>
          <a:p>
            <a:pPr>
              <a:lnSpc>
                <a:spcPct val="120000"/>
              </a:lnSpc>
            </a:pPr>
            <a:endParaRPr lang="en-US" altLang="zh-CN" sz="1600" dirty="0">
              <a:solidFill>
                <a:schemeClr val="tx1"/>
              </a:solidFill>
            </a:endParaRPr>
          </a:p>
          <a:p>
            <a:pPr>
              <a:lnSpc>
                <a:spcPct val="120000"/>
              </a:lnSpc>
            </a:pPr>
            <a:r>
              <a:rPr lang="zh-CN" altLang="en-US" sz="1600" dirty="0">
                <a:solidFill>
                  <a:schemeClr val="tx1"/>
                </a:solidFill>
              </a:rPr>
              <a:t>再工程后的系统总有变动和增加的部分，对受其影响的整个范围都要毫无遗漏地进行测试。</a:t>
            </a:r>
          </a:p>
        </p:txBody>
      </p:sp>
    </p:spTree>
    <p:custDataLst>
      <p:tags r:id="rId1"/>
    </p:custDataLst>
  </p:cSld>
  <p:clrMapOvr>
    <a:masterClrMapping/>
  </p:clrMapOvr>
  <p:transition>
    <p:wheel spokes="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360000"/>
            <a:ext cx="5257800" cy="535531"/>
          </a:xfrm>
        </p:spPr>
        <p:txBody>
          <a:bodyPr/>
          <a:lstStyle/>
          <a:p>
            <a:r>
              <a:rPr lang="zh-CN" altLang="en-US" dirty="0"/>
              <a:t>本章小结</a:t>
            </a:r>
          </a:p>
        </p:txBody>
      </p:sp>
      <p:sp>
        <p:nvSpPr>
          <p:cNvPr id="7" name="文本框 6"/>
          <p:cNvSpPr txBox="1"/>
          <p:nvPr/>
        </p:nvSpPr>
        <p:spPr>
          <a:xfrm>
            <a:off x="754380" y="319024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
        <p:nvSpPr>
          <p:cNvPr id="5" name="文本框 4">
            <a:extLst>
              <a:ext uri="{FF2B5EF4-FFF2-40B4-BE49-F238E27FC236}">
                <a16:creationId xmlns:a16="http://schemas.microsoft.com/office/drawing/2014/main" id="{E4C1C188-8940-0256-9166-1EB2CCA4BDB1}"/>
              </a:ext>
            </a:extLst>
          </p:cNvPr>
          <p:cNvSpPr txBox="1"/>
          <p:nvPr/>
        </p:nvSpPr>
        <p:spPr>
          <a:xfrm>
            <a:off x="1791478" y="2071394"/>
            <a:ext cx="8424000" cy="3721853"/>
          </a:xfrm>
          <a:prstGeom prst="rect">
            <a:avLst/>
          </a:prstGeom>
          <a:noFill/>
        </p:spPr>
        <p:txBody>
          <a:bodyPr wrap="square" rtlCol="0">
            <a:spAutoFit/>
          </a:bodyPr>
          <a:lstStyle/>
          <a:p>
            <a:pPr algn="l">
              <a:lnSpc>
                <a:spcPct val="120000"/>
              </a:lnSpc>
            </a:pPr>
            <a:r>
              <a:rPr lang="zh-CN" altLang="en-US" dirty="0"/>
              <a:t>软件维护就是在软件产品交付之后对其进行修改，以排除故障，或改进性能和其他属性，或使产品适应改变了的环境。</a:t>
            </a:r>
          </a:p>
          <a:p>
            <a:pPr algn="l">
              <a:lnSpc>
                <a:spcPct val="120000"/>
              </a:lnSpc>
            </a:pPr>
            <a:r>
              <a:rPr lang="zh-CN" altLang="en-US" dirty="0"/>
              <a:t>软件维护种类：改正性维护、适应性维护、完善性维护、预防性维护。</a:t>
            </a:r>
          </a:p>
          <a:p>
            <a:pPr algn="l">
              <a:lnSpc>
                <a:spcPct val="120000"/>
              </a:lnSpc>
            </a:pPr>
            <a:r>
              <a:rPr lang="zh-CN" altLang="en-US" dirty="0"/>
              <a:t>软件可维护性是指软件功能被理解、改正、适应和增强的难易程度，是维护人员对软件进行维护的难易程度。</a:t>
            </a:r>
          </a:p>
          <a:p>
            <a:pPr algn="l">
              <a:lnSpc>
                <a:spcPct val="120000"/>
              </a:lnSpc>
            </a:pPr>
            <a:r>
              <a:rPr lang="zh-CN" altLang="en-US" dirty="0"/>
              <a:t>可维护性是指导软件工程各阶段的一条基本原则，提高可维护性是软件工程追求的目标之一。</a:t>
            </a:r>
          </a:p>
          <a:p>
            <a:pPr algn="l">
              <a:lnSpc>
                <a:spcPct val="120000"/>
              </a:lnSpc>
            </a:pPr>
            <a:r>
              <a:rPr lang="zh-CN" altLang="en-US" dirty="0"/>
              <a:t>在软件开发时明确质量目标、考虑软件的维护问题是必需的、重要的。在软件开发阶段提供完整的、一致的文档，采用先进的软件开发方法和软件开发工具是提高软件可维护性的关键。</a:t>
            </a:r>
          </a:p>
          <a:p>
            <a:pPr algn="l">
              <a:lnSpc>
                <a:spcPct val="120000"/>
              </a:lnSpc>
            </a:pPr>
            <a:r>
              <a:rPr lang="zh-CN" altLang="en-US" dirty="0"/>
              <a:t>软件维护常采用：软件重用技术、逆向工程和再工程。</a:t>
            </a:r>
          </a:p>
        </p:txBody>
      </p:sp>
    </p:spTree>
  </p:cSld>
  <p:clrMapOvr>
    <a:masterClrMapping/>
  </p:clrMapOvr>
  <p:transition>
    <p:newsfla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80*q_i*1_3"/>
  <p:tag name="KSO_WM_UNIT_LAYERLEVEL" val="1_1"/>
  <p:tag name="KSO_WM_DIAGRAM_GROUP_CODE" val="q1-2"/>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80*q_i*1_11"/>
  <p:tag name="KSO_WM_UNIT_LAYERLEVEL" val="1_1"/>
  <p:tag name="KSO_WM_DIAGRAM_GROUP_CODE" val="q1-2"/>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
  <p:tag name="KSO_WM_UNIT_ID" val="custom160596_80*q_i*1_1"/>
  <p:tag name="KSO_WM_UNIT_LAYERLEVEL" val="1_1"/>
  <p:tag name="KSO_WM_DIAGRAM_GROUP_CODE" val="q1-2"/>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2"/>
  <p:tag name="KSO_WM_UNIT_ID" val="custom160596_80*q_i*1_2"/>
  <p:tag name="KSO_WM_UNIT_LAYERLEVEL" val="1_1"/>
  <p:tag name="KSO_WM_DIAGRAM_GROUP_CODE" val="q1-2"/>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4"/>
  <p:tag name="KSO_WM_UNIT_ID" val="custom160596_80*q_i*1_4"/>
  <p:tag name="KSO_WM_UNIT_LAYERLEVEL" val="1_1"/>
  <p:tag name="KSO_WM_DIAGRAM_GROUP_CODE" val="q1-2"/>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80*i*5"/>
  <p:tag name="KSO_WM_TEMPLATE_CATEGORY" val="custom"/>
  <p:tag name="KSO_WM_TEMPLATE_INDEX" val="160596"/>
  <p:tag name="KSO_WM_UNIT_INDEX" val="5"/>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80*q_i*1_9"/>
  <p:tag name="KSO_WM_UNIT_LAYERLEVEL" val="1_1"/>
  <p:tag name="KSO_WM_DIAGRAM_GROUP_CODE" val="q1-2"/>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80*q_i*1_10"/>
  <p:tag name="KSO_WM_UNIT_LAYERLEVEL" val="1_1"/>
  <p:tag name="KSO_WM_DIAGRAM_GROUP_CODE" val="q1-2"/>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80*q_i*1_12"/>
  <p:tag name="KSO_WM_UNIT_LAYERLEVEL" val="1_1"/>
  <p:tag name="KSO_WM_DIAGRAM_GROUP_CODE" val="q1-2"/>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80*q_i*1_5"/>
  <p:tag name="KSO_WM_UNIT_LAYERLEVEL" val="1_1"/>
  <p:tag name="KSO_WM_DIAGRAM_GROUP_CODE" val="q1-2"/>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80*q_i*1_6"/>
  <p:tag name="KSO_WM_UNIT_LAYERLEVEL" val="1_1"/>
  <p:tag name="KSO_WM_DIAGRAM_GROUP_CODE" val="q1-2"/>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80*q_i*1_7"/>
  <p:tag name="KSO_WM_UNIT_LAYERLEVEL" val="1_1"/>
  <p:tag name="KSO_WM_DIAGRAM_GROUP_CODE" val="q1-2"/>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80*q_i*1_8"/>
  <p:tag name="KSO_WM_UNIT_LAYERLEVEL" val="1_1"/>
  <p:tag name="KSO_WM_DIAGRAM_GROUP_CODE" val="q1-2"/>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1_1"/>
  <p:tag name="KSO_WM_UNIT_ID" val="custom160596_67*q_h_f*1_1_1"/>
  <p:tag name="KSO_WM_UNIT_LAYERLEVEL" val="1_1_1"/>
  <p:tag name="KSO_WM_UNIT_VALUE" val="20"/>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67*q_i*1_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67*q_i*1_5"/>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67*q_i*1_6"/>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67*i*10"/>
  <p:tag name="KSO_WM_TEMPLATE_CATEGORY" val="custom"/>
  <p:tag name="KSO_WM_TEMPLATE_INDEX" val="160596"/>
  <p:tag name="KSO_WM_UNIT_INDEX" val="10"/>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3"/>
  <p:tag name="KSO_WM_UNIT_ID" val="custom160596_67*q_i*1_1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2_1"/>
  <p:tag name="KSO_WM_UNIT_ID" val="custom160596_67*q_h_f*1_2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h_f"/>
  <p:tag name="KSO_WM_UNIT_INDEX" val="1_5_1"/>
  <p:tag name="KSO_WM_UNIT_ID" val="custom160596_67*q_h_f*1_5_1"/>
  <p:tag name="KSO_WM_UNIT_LAYERLEVEL" val="1_1_1"/>
  <p:tag name="KSO_WM_UNIT_VALUE" val="24"/>
  <p:tag name="KSO_WM_UNIT_HIGHLIGHT" val="0"/>
  <p:tag name="KSO_WM_UNIT_COMPATIBLE" val="0"/>
  <p:tag name="KSO_WM_UNIT_CLEAR" val="0"/>
  <p:tag name="KSO_WM_UNIT_PRESET_TEXT_INDEX" val="2"/>
  <p:tag name="KSO_WM_UNIT_PRESET_TEXT_LEN" val="20"/>
  <p:tag name="KSO_WM_DIAGRAM_GROUP_CODE" val="q1-1"/>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7"/>
  <p:tag name="KSO_WM_UNIT_ID" val="custom160596_67*q_i*1_7"/>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8"/>
  <p:tag name="KSO_WM_UNIT_ID" val="custom160596_67*q_i*1_8"/>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9"/>
  <p:tag name="KSO_WM_UNIT_ID" val="custom160596_67*q_i*1_9"/>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0"/>
  <p:tag name="KSO_WM_UNIT_ID" val="custom160596_67*q_i*1_10"/>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1"/>
  <p:tag name="KSO_WM_UNIT_ID" val="custom160596_67*q_i*1_11"/>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2"/>
  <p:tag name="KSO_WM_UNIT_ID" val="custom160596_67*q_i*1_12"/>
  <p:tag name="KSO_WM_UNIT_LAYERLEVEL" val="1_1"/>
  <p:tag name="KSO_WM_DIAGRAM_GROUP_CODE" val="q1-1"/>
  <p:tag name="KSO_WM_UNIT_FILL_FORE_SCHEMECOLOR_INDEX" val="14"/>
  <p:tag name="KSO_WM_UNIT_FILL_TYPE" val="1"/>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7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7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7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7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7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7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7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7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7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2.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8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8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8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87.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88.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8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9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9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9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9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9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9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9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9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8*r_i*1_1"/>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
  <p:tag name="KSO_WM_UNIT_ID" val="custom160596_38*r_i*1_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8*r_i*1_3"/>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8*r_i*1_4"/>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8*r_i*1_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8*r_i*1_6"/>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8*r_i*1_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8*r_i*1_8"/>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9"/>
  <p:tag name="KSO_WM_UNIT_ID" val="custom160596_38*r_i*1_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5"/>
  <p:tag name="KSO_WM_UNIT_LINE_FILL_TYPE" val="2"/>
  <p:tag name="KSO_WM_UNIT_TEXT_FILL_FORE_SCHEMECOLOR_INDEX" val="13"/>
  <p:tag name="KSO_WM_UNIT_TEXT_FILL_TYPE" val="1"/>
  <p:tag name="KSO_WM_UNIT_USESOURCEFORMAT_APPLY" val="1"/>
</p:tagLst>
</file>

<file path=ppt/tags/tag1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0"/>
  <p:tag name="KSO_WM_UNIT_ID" val="custom160596_38*r_i*1_10"/>
  <p:tag name="KSO_WM_UNIT_LAYERLEVEL" val="1_1"/>
  <p:tag name="KSO_WM_DIAGRAM_GROUP_CODE" val="r1-1"/>
  <p:tag name="KSO_WM_UNIT_DIAGRAM_CONTRAST_TITLE_CNT" val="5"/>
  <p:tag name="KSO_WM_UNIT_DIAGRAM_DIMENSION_TITLE_CNT" val="2"/>
  <p:tag name="KSO_WM_UNIT_FILL_FORE_SCHEMECOLOR_INDEX" val="5"/>
  <p:tag name="KSO_WM_UNIT_FILL_TYPE" val="1"/>
  <p:tag name="KSO_WM_UNIT_TEXT_FILL_FORE_SCHEMECOLOR_INDEX" val="13"/>
  <p:tag name="KSO_WM_UNIT_TEXT_FILL_TYPE" val="1"/>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1"/>
  <p:tag name="KSO_WM_UNIT_ID" val="custom160596_38*r_i*1_21"/>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2"/>
  <p:tag name="KSO_WM_UNIT_ID" val="custom160596_38*r_i*1_22"/>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9"/>
  <p:tag name="KSO_WM_UNIT_ID" val="custom160596_38*r_i*1_19"/>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0"/>
  <p:tag name="KSO_WM_UNIT_ID" val="custom160596_38*r_i*1_20"/>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7"/>
  <p:tag name="KSO_WM_UNIT_ID" val="custom160596_38*r_i*1_17"/>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1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8"/>
  <p:tag name="KSO_WM_UNIT_ID" val="custom160596_38*r_i*1_18"/>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1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5"/>
  <p:tag name="KSO_WM_UNIT_ID" val="custom160596_38*r_i*1_15"/>
  <p:tag name="KSO_WM_UNIT_LAYERLEVEL" val="1_1"/>
  <p:tag name="KSO_WM_DIAGRAM_GROUP_CODE" val="r1-1"/>
  <p:tag name="KSO_WM_UNIT_DIAGRAM_CONTRAST_TITLE_CNT" val="5"/>
  <p:tag name="KSO_WM_UNIT_DIAGRAM_DIMENSION_TITLE_CNT" val="2"/>
  <p:tag name="KSO_WM_UNIT_FILL_FORE_SCHEMECOLOR_INDEX" val="14"/>
  <p:tag name="KSO_WM_UNIT_FILL_TYPE" val="1"/>
  <p:tag name="KSO_WM_UNIT_LINE_FORE_SCHEMECOLOR_INDEX" val="7"/>
  <p:tag name="KSO_WM_UNIT_LINE_FILL_TYPE" val="2"/>
  <p:tag name="KSO_WM_UNIT_TEXT_FILL_FORE_SCHEMECOLOR_INDEX" val="13"/>
  <p:tag name="KSO_WM_UNIT_TEXT_FILL_TYPE" val="1"/>
  <p:tag name="KSO_WM_UNIT_USESOURCEFORMAT_APPLY" val="1"/>
</p:tagLst>
</file>

<file path=ppt/tags/tag1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6"/>
  <p:tag name="KSO_WM_UNIT_ID" val="custom160596_38*r_i*1_16"/>
  <p:tag name="KSO_WM_UNIT_LAYERLEVEL" val="1_1"/>
  <p:tag name="KSO_WM_DIAGRAM_GROUP_CODE" val="r1-1"/>
  <p:tag name="KSO_WM_UNIT_DIAGRAM_CONTRAST_TITLE_CNT" val="5"/>
  <p:tag name="KSO_WM_UNIT_DIAGRAM_DIMENSION_TITLE_CNT" val="2"/>
  <p:tag name="KSO_WM_UNIT_FILL_FORE_SCHEMECOLOR_INDEX" val="7"/>
  <p:tag name="KSO_WM_UNIT_FILL_TYPE" val="1"/>
  <p:tag name="KSO_WM_UNIT_TEXT_FILL_FORE_SCHEMECOLOR_INDEX" val="13"/>
  <p:tag name="KSO_WM_UNIT_TEXT_FILL_TYPE" val="1"/>
  <p:tag name="KSO_WM_UNIT_USESOURCEFORMAT_APPLY" val="1"/>
</p:tagLst>
</file>

<file path=ppt/tags/tag13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3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136.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3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13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3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14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14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14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5.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14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14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14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14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150.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151.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152.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153.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154.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15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5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15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15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15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160.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161.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162.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163.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164.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165.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1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6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16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16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170.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171.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172.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173.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174.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175.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17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7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8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8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8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8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8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8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8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8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8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9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9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9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9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9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9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9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0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0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0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0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0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0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1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1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1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1"/>
  <p:tag name="KSO_WM_UNIT_ID" val="custom160596_94*l_i*1_1"/>
  <p:tag name="KSO_WM_UNIT_LAYERLEVEL" val="1_1"/>
  <p:tag name="KSO_WM_DIAGRAM_GROUP_CODE" val="l1-19"/>
  <p:tag name="KSO_WM_UNIT_FILL_FORE_SCHEMECOLOR_INDEX" val="7"/>
  <p:tag name="KSO_WM_UNIT_FILL_TYPE" val="1"/>
  <p:tag name="KSO_WM_UNIT_TEXT_FILL_FORE_SCHEMECOLOR_INDEX" val="13"/>
  <p:tag name="KSO_WM_UNIT_TEXT_FILL_TYPE" val="1"/>
  <p:tag name="KSO_WM_UNIT_USESOURCEFORMAT_APPLY" val="1"/>
</p:tagLst>
</file>

<file path=ppt/tags/tag2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i"/>
  <p:tag name="KSO_WM_UNIT_INDEX" val="1_2"/>
  <p:tag name="KSO_WM_UNIT_ID" val="custom160596_94*l_i*1_2"/>
  <p:tag name="KSO_WM_UNIT_LAYERLEVEL" val="1_1"/>
  <p:tag name="KSO_WM_DIAGRAM_GROUP_CODE" val="l1-19"/>
  <p:tag name="KSO_WM_UNIT_FILL_FORE_SCHEMECOLOR_INDEX" val="14"/>
  <p:tag name="KSO_WM_UNIT_FILL_TYPE" val="1"/>
  <p:tag name="KSO_WM_UNIT_TEXT_FILL_FORE_SCHEMECOLOR_INDEX" val="13"/>
  <p:tag name="KSO_WM_UNIT_TEXT_FILL_TYPE" val="1"/>
  <p:tag name="KSO_WM_UNIT_USESOURCEFORMAT_APPLY" val="1"/>
</p:tagLst>
</file>

<file path=ppt/tags/tag2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a"/>
  <p:tag name="KSO_WM_UNIT_INDEX" val="1_1_1"/>
  <p:tag name="KSO_WM_UNIT_ID" val="custom160596_94*l_h_a*1_1_1"/>
  <p:tag name="KSO_WM_UNIT_LAYERLEVEL" val="1_1_1"/>
  <p:tag name="KSO_WM_UNIT_VALUE" val="9"/>
  <p:tag name="KSO_WM_UNIT_HIGHLIGHT" val="0"/>
  <p:tag name="KSO_WM_UNIT_COMPATIBLE" val="0"/>
  <p:tag name="KSO_WM_UNIT_CLEAR" val="0"/>
  <p:tag name="KSO_WM_UNIT_PRESET_TEXT_INDEX" val="0"/>
  <p:tag name="KSO_WM_UNIT_PRESET_TEXT_LEN" val="9"/>
  <p:tag name="KSO_WM_DIAGRAM_GROUP_CODE" val="l1-19"/>
  <p:tag name="KSO_WM_UNIT_TEXT_FILL_FORE_SCHEMECOLOR_INDEX" val="13"/>
  <p:tag name="KSO_WM_UNIT_TEXT_FILL_TYPE" val="1"/>
  <p:tag name="KSO_WM_UNIT_USESOURCEFORMAT_APPLY" val="1"/>
</p:tagLst>
</file>

<file path=ppt/tags/tag2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l_h_f"/>
  <p:tag name="KSO_WM_UNIT_INDEX" val="1_1_1"/>
  <p:tag name="KSO_WM_UNIT_ID" val="custom160596_94*l_h_f*1_1_1"/>
  <p:tag name="KSO_WM_UNIT_LAYERLEVEL" val="1_1_1"/>
  <p:tag name="KSO_WM_UNIT_VALUE" val="34"/>
  <p:tag name="KSO_WM_UNIT_HIGHLIGHT" val="0"/>
  <p:tag name="KSO_WM_UNIT_COMPATIBLE" val="0"/>
  <p:tag name="KSO_WM_UNIT_CLEAR" val="0"/>
  <p:tag name="KSO_WM_UNIT_PRESET_TEXT_INDEX" val="2"/>
  <p:tag name="KSO_WM_UNIT_PRESET_TEXT_LEN" val="20"/>
  <p:tag name="KSO_WM_DIAGRAM_GROUP_CODE" val="l1-19"/>
  <p:tag name="KSO_WM_UNIT_TEXT_FILL_FORE_SCHEMECOLOR_INDEX" val="13"/>
  <p:tag name="KSO_WM_UNIT_TEXT_FILL_TYPE" val="1"/>
  <p:tag name="KSO_WM_UNIT_USESOURCEFORMAT_APPLY" val="1"/>
</p:tagLst>
</file>

<file path=ppt/tags/tag2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5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6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26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26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27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27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27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27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27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275.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276.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27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27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27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2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8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9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292.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29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29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29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29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29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298.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29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0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0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30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3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04.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1"/>
</p:tagLst>
</file>

<file path=ppt/tags/tag305.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2"/>
</p:tagLst>
</file>

<file path=ppt/tags/tag306.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3"/>
</p:tagLst>
</file>

<file path=ppt/tags/tag307.xml><?xml version="1.0" encoding="utf-8"?>
<p:tagLst xmlns:a="http://schemas.openxmlformats.org/drawingml/2006/main" xmlns:r="http://schemas.openxmlformats.org/officeDocument/2006/relationships" xmlns:p="http://schemas.openxmlformats.org/presentationml/2006/main">
  <p:tag name="MH" val="20170104193507"/>
  <p:tag name="MH_LIBRARY" val="GRAPHIC"/>
  <p:tag name="MH_TYPE" val="Picture"/>
  <p:tag name="MH_ORDER" val="4"/>
</p:tagLst>
</file>

<file path=ppt/tags/tag308.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30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1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1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1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1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1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1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1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1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32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32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32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heme/theme1.xml><?xml version="1.0" encoding="utf-8"?>
<a:theme xmlns:a="http://schemas.openxmlformats.org/drawingml/2006/main" name="1_A000120141119A01PPB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lpla">
      <a:majorFont>
        <a:latin typeface="Times New Roman"/>
        <a:ea typeface="微软雅黑"/>
        <a:cs typeface=""/>
      </a:majorFont>
      <a:minorFont>
        <a:latin typeface="Times New Roman"/>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20000"/>
          </a:lnSpc>
          <a:defRPr dirty="0" smtClean="0">
            <a:solidFill>
              <a:schemeClr val="bg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1761</TotalTime>
  <Words>5409</Words>
  <Application>Microsoft Office PowerPoint</Application>
  <PresentationFormat>宽屏</PresentationFormat>
  <Paragraphs>665</Paragraphs>
  <Slides>67</Slides>
  <Notes>44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67</vt:i4>
      </vt:variant>
    </vt:vector>
  </HeadingPairs>
  <TitlesOfParts>
    <vt:vector size="76" baseType="lpstr">
      <vt:lpstr>微软雅黑</vt:lpstr>
      <vt:lpstr>微软雅黑 Light</vt:lpstr>
      <vt:lpstr>Arial</vt:lpstr>
      <vt:lpstr>Calibri</vt:lpstr>
      <vt:lpstr>Tempus Sans ITC</vt:lpstr>
      <vt:lpstr>Times New Roman</vt:lpstr>
      <vt:lpstr>Wingdings</vt:lpstr>
      <vt:lpstr>1_A000120141119A01PPBG</vt:lpstr>
      <vt:lpstr>Microsoft Word Document</vt:lpstr>
      <vt:lpstr>PowerPoint 演示文稿</vt:lpstr>
      <vt:lpstr>5 软件维护和软件重用</vt:lpstr>
      <vt:lpstr>PowerPoint 演示文稿</vt:lpstr>
      <vt:lpstr>PowerPoint 演示文稿</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5.1 软件维护</vt:lpstr>
      <vt:lpstr>PowerPoint 演示文稿</vt:lpstr>
      <vt:lpstr>PowerPoint 演示文稿</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5.2 软件重用和再工程</vt:lpstr>
      <vt:lpstr>本章小结</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glplaman.github.io</dc:creator>
  <cp:lastModifiedBy>cn plaman</cp:lastModifiedBy>
  <cp:revision>192</cp:revision>
  <dcterms:created xsi:type="dcterms:W3CDTF">2017-01-18T10:59:00Z</dcterms:created>
  <dcterms:modified xsi:type="dcterms:W3CDTF">2026-05-18T13:41:11Z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