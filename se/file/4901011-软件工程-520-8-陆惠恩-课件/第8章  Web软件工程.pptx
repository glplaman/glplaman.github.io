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heme/theme2.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notesSlides/notesSlide1.xml" ContentType="application/vnd.openxmlformats-officedocument.presentationml.notesSlide+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notesSlides/notesSlide2.xml" ContentType="application/vnd.openxmlformats-officedocument.presentationml.notesSlide+xml"/>
  <Override PartName="/ppt/tags/tag31.xml" ContentType="application/vnd.openxmlformats-officedocument.presentationml.tags+xml"/>
  <Override PartName="/ppt/tags/tag32.xml" ContentType="application/vnd.openxmlformats-officedocument.presentationml.tags+xml"/>
  <Override PartName="/ppt/notesSlides/notesSlide3.xml" ContentType="application/vnd.openxmlformats-officedocument.presentationml.notesSlide+xml"/>
  <Override PartName="/ppt/tags/tag33.xml" ContentType="application/vnd.openxmlformats-officedocument.presentationml.tags+xml"/>
  <Override PartName="/ppt/notesSlides/notesSlide4.xml" ContentType="application/vnd.openxmlformats-officedocument.presentationml.notesSlide+xml"/>
  <Override PartName="/ppt/tags/tag34.xml" ContentType="application/vnd.openxmlformats-officedocument.presentationml.tags+xml"/>
  <Override PartName="/ppt/notesSlides/notesSlide5.xml" ContentType="application/vnd.openxmlformats-officedocument.presentationml.notesSlide+xml"/>
  <Override PartName="/ppt/tags/tag35.xml" ContentType="application/vnd.openxmlformats-officedocument.presentationml.tags+xml"/>
  <Override PartName="/ppt/notesSlides/notesSlide6.xml" ContentType="application/vnd.openxmlformats-officedocument.presentationml.notesSlide+xml"/>
  <Override PartName="/ppt/tags/tag36.xml" ContentType="application/vnd.openxmlformats-officedocument.presentationml.tags+xml"/>
  <Override PartName="/ppt/tags/tag37.xml" ContentType="application/vnd.openxmlformats-officedocument.presentationml.tags+xml"/>
  <Override PartName="/ppt/notesSlides/notesSlide7.xml" ContentType="application/vnd.openxmlformats-officedocument.presentationml.notesSlide+xml"/>
  <Override PartName="/ppt/tags/tag38.xml" ContentType="application/vnd.openxmlformats-officedocument.presentationml.tags+xml"/>
  <Override PartName="/ppt/notesSlides/notesSlide8.xml" ContentType="application/vnd.openxmlformats-officedocument.presentationml.notesSlide+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notesSlides/notesSlide9.xml" ContentType="application/vnd.openxmlformats-officedocument.presentationml.notesSlid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notesSlides/notesSlide10.xml" ContentType="application/vnd.openxmlformats-officedocument.presentationml.notesSlide+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notesSlides/notesSlide11.xml" ContentType="application/vnd.openxmlformats-officedocument.presentationml.notesSlid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notesSlides/notesSlide12.xml" ContentType="application/vnd.openxmlformats-officedocument.presentationml.notesSlide+xml"/>
  <Override PartName="/ppt/tags/tag62.xml" ContentType="application/vnd.openxmlformats-officedocument.presentationml.tags+xml"/>
  <Override PartName="/ppt/notesSlides/notesSlide13.xml" ContentType="application/vnd.openxmlformats-officedocument.presentationml.notesSlide+xml"/>
  <Override PartName="/ppt/tags/tag63.xml" ContentType="application/vnd.openxmlformats-officedocument.presentationml.tags+xml"/>
  <Override PartName="/ppt/tags/tag64.xml" ContentType="application/vnd.openxmlformats-officedocument.presentationml.tags+xml"/>
  <Override PartName="/ppt/notesSlides/notesSlide14.xml" ContentType="application/vnd.openxmlformats-officedocument.presentationml.notesSlide+xml"/>
  <Override PartName="/ppt/tags/tag65.xml" ContentType="application/vnd.openxmlformats-officedocument.presentationml.tags+xml"/>
  <Override PartName="/ppt/notesSlides/notesSlide15.xml" ContentType="application/vnd.openxmlformats-officedocument.presentationml.notesSlide+xml"/>
  <Override PartName="/ppt/tags/tag66.xml" ContentType="application/vnd.openxmlformats-officedocument.presentationml.tags+xml"/>
  <Override PartName="/ppt/tags/tag67.xml" ContentType="application/vnd.openxmlformats-officedocument.presentationml.tags+xml"/>
  <Override PartName="/ppt/notesSlides/notesSlide16.xml" ContentType="application/vnd.openxmlformats-officedocument.presentationml.notesSlide+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notesSlides/notesSlide17.xml" ContentType="application/vnd.openxmlformats-officedocument.presentationml.notesSlide+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notesSlides/notesSlide18.xml" ContentType="application/vnd.openxmlformats-officedocument.presentationml.notesSlide+xml"/>
  <Override PartName="/ppt/tags/tag91.xml" ContentType="application/vnd.openxmlformats-officedocument.presentationml.tags+xml"/>
  <Override PartName="/ppt/tags/tag92.xml" ContentType="application/vnd.openxmlformats-officedocument.presentationml.tags+xml"/>
  <Override PartName="/ppt/notesSlides/notesSlide19.xml" ContentType="application/vnd.openxmlformats-officedocument.presentationml.notesSlide+xml"/>
  <Override PartName="/ppt/tags/tag93.xml" ContentType="application/vnd.openxmlformats-officedocument.presentationml.tags+xml"/>
  <Override PartName="/ppt/notesSlides/notesSlide20.xml" ContentType="application/vnd.openxmlformats-officedocument.presentationml.notesSlide+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notesSlides/notesSlide21.xml" ContentType="application/vnd.openxmlformats-officedocument.presentationml.notesSlide+xml"/>
  <Override PartName="/ppt/tags/tag113.xml" ContentType="application/vnd.openxmlformats-officedocument.presentationml.tags+xml"/>
  <Override PartName="/ppt/tags/tag114.xml" ContentType="application/vnd.openxmlformats-officedocument.presentationml.tags+xml"/>
  <Override PartName="/ppt/notesSlides/notesSlide22.xml" ContentType="application/vnd.openxmlformats-officedocument.presentationml.notesSlide+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notesSlides/notesSlide23.xml" ContentType="application/vnd.openxmlformats-officedocument.presentationml.notesSlide+xml"/>
  <Override PartName="/ppt/tags/tag118.xml" ContentType="application/vnd.openxmlformats-officedocument.presentationml.tags+xml"/>
  <Override PartName="/ppt/tags/tag119.xml" ContentType="application/vnd.openxmlformats-officedocument.presentationml.tags+xml"/>
  <Override PartName="/ppt/notesSlides/notesSlide24.xml" ContentType="application/vnd.openxmlformats-officedocument.presentationml.notesSlide+xml"/>
  <Override PartName="/ppt/tags/tag120.xml" ContentType="application/vnd.openxmlformats-officedocument.presentationml.tags+xml"/>
  <Override PartName="/ppt/notesSlides/notesSlide25.xml" ContentType="application/vnd.openxmlformats-officedocument.presentationml.notesSlide+xml"/>
  <Override PartName="/ppt/tags/tag121.xml" ContentType="application/vnd.openxmlformats-officedocument.presentationml.tags+xml"/>
  <Override PartName="/ppt/notesSlides/notesSlide26.xml" ContentType="application/vnd.openxmlformats-officedocument.presentationml.notesSlide+xml"/>
  <Override PartName="/ppt/tags/tag122.xml" ContentType="application/vnd.openxmlformats-officedocument.presentationml.tags+xml"/>
  <Override PartName="/ppt/tags/tag123.xml" ContentType="application/vnd.openxmlformats-officedocument.presentationml.tags+xml"/>
  <Override PartName="/ppt/notesSlides/notesSlide27.xml" ContentType="application/vnd.openxmlformats-officedocument.presentationml.notesSlide+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notesSlides/notesSlide28.xml" ContentType="application/vnd.openxmlformats-officedocument.presentationml.notesSlide+xml"/>
  <Override PartName="/ppt/tags/tag140.xml" ContentType="application/vnd.openxmlformats-officedocument.presentationml.tags+xml"/>
  <Override PartName="/ppt/notesSlides/notesSlide29.xml" ContentType="application/vnd.openxmlformats-officedocument.presentationml.notesSlide+xml"/>
  <Override PartName="/ppt/tags/tag141.xml" ContentType="application/vnd.openxmlformats-officedocument.presentationml.tags+xml"/>
  <Override PartName="/ppt/notesSlides/notesSlide30.xml" ContentType="application/vnd.openxmlformats-officedocument.presentationml.notesSlide+xml"/>
  <Override PartName="/ppt/tags/tag142.xml" ContentType="application/vnd.openxmlformats-officedocument.presentationml.tags+xml"/>
  <Override PartName="/ppt/notesSlides/notesSlide31.xml" ContentType="application/vnd.openxmlformats-officedocument.presentationml.notesSlide+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notesSlides/notesSlide32.xml" ContentType="application/vnd.openxmlformats-officedocument.presentationml.notesSlide+xml"/>
  <Override PartName="/ppt/tags/tag150.xml" ContentType="application/vnd.openxmlformats-officedocument.presentationml.tags+xml"/>
  <Override PartName="/ppt/notesSlides/notesSlide33.xml" ContentType="application/vnd.openxmlformats-officedocument.presentationml.notesSlide+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notesSlides/notesSlide34.xml" ContentType="application/vnd.openxmlformats-officedocument.presentationml.notesSlide+xml"/>
  <Override PartName="/ppt/tags/tag154.xml" ContentType="application/vnd.openxmlformats-officedocument.presentationml.tags+xml"/>
  <Override PartName="/ppt/tags/tag155.xml" ContentType="application/vnd.openxmlformats-officedocument.presentationml.tags+xml"/>
  <Override PartName="/ppt/notesSlides/notesSlide35.xml" ContentType="application/vnd.openxmlformats-officedocument.presentationml.notesSlide+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notesSlides/notesSlide36.xml" ContentType="application/vnd.openxmlformats-officedocument.presentationml.notesSlide+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notesSlides/notesSlide37.xml" ContentType="application/vnd.openxmlformats-officedocument.presentationml.notesSlide+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notesSlides/notesSlide38.xml" ContentType="application/vnd.openxmlformats-officedocument.presentationml.notesSlide+xml"/>
  <Override PartName="/ppt/tags/tag195.xml" ContentType="application/vnd.openxmlformats-officedocument.presentationml.tags+xml"/>
  <Override PartName="/ppt/notesSlides/notesSlide39.xml" ContentType="application/vnd.openxmlformats-officedocument.presentationml.notesSlide+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notesSlides/notesSlide40.xml" ContentType="application/vnd.openxmlformats-officedocument.presentationml.notesSlide+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notesSlides/notesSlide41.xml" ContentType="application/vnd.openxmlformats-officedocument.presentationml.notesSlide+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notesSlides/notesSlide42.xml" ContentType="application/vnd.openxmlformats-officedocument.presentationml.notesSlide+xml"/>
  <Override PartName="/ppt/tags/tag232.xml" ContentType="application/vnd.openxmlformats-officedocument.presentationml.tags+xml"/>
  <Override PartName="/ppt/tags/tag233.xml" ContentType="application/vnd.openxmlformats-officedocument.presentationml.tags+xml"/>
  <Override PartName="/ppt/notesSlides/notesSlide43.xml" ContentType="application/vnd.openxmlformats-officedocument.presentationml.notesSlide+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notesSlides/notesSlide44.xml" ContentType="application/vnd.openxmlformats-officedocument.presentationml.notesSlide+xml"/>
  <Override PartName="/ppt/tags/tag242.xml" ContentType="application/vnd.openxmlformats-officedocument.presentationml.tags+xml"/>
  <Override PartName="/ppt/notesSlides/notesSlide45.xml" ContentType="application/vnd.openxmlformats-officedocument.presentationml.notesSlide+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notesSlides/notesSlide46.xml" ContentType="application/vnd.openxmlformats-officedocument.presentationml.notesSlide+xml"/>
  <Override PartName="/ppt/tags/tag262.xml" ContentType="application/vnd.openxmlformats-officedocument.presentationml.tags+xml"/>
  <Override PartName="/ppt/notesSlides/notesSlide47.xml" ContentType="application/vnd.openxmlformats-officedocument.presentationml.notesSlide+xml"/>
  <Override PartName="/ppt/tags/tag263.xml" ContentType="application/vnd.openxmlformats-officedocument.presentationml.tags+xml"/>
  <Override PartName="/ppt/notesSlides/notesSlide48.xml" ContentType="application/vnd.openxmlformats-officedocument.presentationml.notesSlide+xml"/>
  <Override PartName="/ppt/tags/tag264.xml" ContentType="application/vnd.openxmlformats-officedocument.presentationml.tags+xml"/>
  <Override PartName="/ppt/tags/tag265.xml" ContentType="application/vnd.openxmlformats-officedocument.presentationml.tags+xml"/>
  <Override PartName="/ppt/notesSlides/notesSlide49.xml" ContentType="application/vnd.openxmlformats-officedocument.presentationml.notesSlide+xml"/>
  <Override PartName="/ppt/tags/tag266.xml" ContentType="application/vnd.openxmlformats-officedocument.presentationml.tags+xml"/>
  <Override PartName="/ppt/tags/tag267.xml" ContentType="application/vnd.openxmlformats-officedocument.presentationml.tags+xml"/>
  <Override PartName="/ppt/notesSlides/notesSlide50.xml" ContentType="application/vnd.openxmlformats-officedocument.presentationml.notesSlide+xml"/>
  <Override PartName="/ppt/tags/tag268.xml" ContentType="application/vnd.openxmlformats-officedocument.presentationml.tags+xml"/>
  <Override PartName="/ppt/notesSlides/notesSlide51.xml" ContentType="application/vnd.openxmlformats-officedocument.presentationml.notesSlide+xml"/>
  <Override PartName="/ppt/tags/tag269.xml" ContentType="application/vnd.openxmlformats-officedocument.presentationml.tags+xml"/>
  <Override PartName="/ppt/notesSlides/notesSlide52.xml" ContentType="application/vnd.openxmlformats-officedocument.presentationml.notesSlide+xml"/>
  <Override PartName="/ppt/tags/tag270.xml" ContentType="application/vnd.openxmlformats-officedocument.presentationml.tags+xml"/>
  <Override PartName="/ppt/notesSlides/notesSlide53.xml" ContentType="application/vnd.openxmlformats-officedocument.presentationml.notesSlide+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notesSlides/notesSlide54.xml" ContentType="application/vnd.openxmlformats-officedocument.presentationml.notesSlide+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notesSlides/notesSlide55.xml" ContentType="application/vnd.openxmlformats-officedocument.presentationml.notesSlide+xml"/>
  <Override PartName="/ppt/tags/tag300.xml" ContentType="application/vnd.openxmlformats-officedocument.presentationml.tags+xml"/>
  <Override PartName="/ppt/notesSlides/notesSlide56.xml" ContentType="application/vnd.openxmlformats-officedocument.presentationml.notesSlide+xml"/>
  <Override PartName="/ppt/tags/tag301.xml" ContentType="application/vnd.openxmlformats-officedocument.presentationml.tags+xml"/>
  <Override PartName="/ppt/notesSlides/notesSlide57.xml" ContentType="application/vnd.openxmlformats-officedocument.presentationml.notesSlide+xml"/>
  <Override PartName="/ppt/tags/tag302.xml" ContentType="application/vnd.openxmlformats-officedocument.presentationml.tags+xml"/>
  <Override PartName="/ppt/notesSlides/notesSlide58.xml" ContentType="application/vnd.openxmlformats-officedocument.presentationml.notesSlide+xml"/>
  <Override PartName="/ppt/tags/tag303.xml" ContentType="application/vnd.openxmlformats-officedocument.presentationml.tags+xml"/>
  <Override PartName="/ppt/notesSlides/notesSlide59.xml" ContentType="application/vnd.openxmlformats-officedocument.presentationml.notesSlide+xml"/>
  <Override PartName="/ppt/tags/tag304.xml" ContentType="application/vnd.openxmlformats-officedocument.presentationml.tags+xml"/>
  <Override PartName="/ppt/notesSlides/notesSlide60.xml" ContentType="application/vnd.openxmlformats-officedocument.presentationml.notesSlide+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notesSlides/notesSlide61.xml" ContentType="application/vnd.openxmlformats-officedocument.presentationml.notesSlide+xml"/>
  <Override PartName="/ppt/tags/tag318.xml" ContentType="application/vnd.openxmlformats-officedocument.presentationml.tags+xml"/>
  <Override PartName="/ppt/notesSlides/notesSlide62.xml" ContentType="application/vnd.openxmlformats-officedocument.presentationml.notesSlide+xml"/>
  <Override PartName="/ppt/tags/tag319.xml" ContentType="application/vnd.openxmlformats-officedocument.presentationml.tags+xml"/>
  <Override PartName="/ppt/notesSlides/notesSlide63.xml" ContentType="application/vnd.openxmlformats-officedocument.presentationml.notesSlide+xml"/>
  <Override PartName="/ppt/tags/tag320.xml" ContentType="application/vnd.openxmlformats-officedocument.presentationml.tags+xml"/>
  <Override PartName="/ppt/notesSlides/notesSlide64.xml" ContentType="application/vnd.openxmlformats-officedocument.presentationml.notesSlide+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notesSlides/notesSlide65.xml" ContentType="application/vnd.openxmlformats-officedocument.presentationml.notesSlide+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notesSlides/notesSlide66.xml" ContentType="application/vnd.openxmlformats-officedocument.presentationml.notesSlide+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notesSlides/notesSlide67.xml" ContentType="application/vnd.openxmlformats-officedocument.presentationml.notesSlide+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notesSlides/notesSlide68.xml" ContentType="application/vnd.openxmlformats-officedocument.presentationml.notesSlide+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notesSlides/notesSlide69.xml" ContentType="application/vnd.openxmlformats-officedocument.presentationml.notesSlide+xml"/>
  <Override PartName="/ppt/tags/tag365.xml" ContentType="application/vnd.openxmlformats-officedocument.presentationml.tags+xml"/>
  <Override PartName="/ppt/tags/tag366.xml" ContentType="application/vnd.openxmlformats-officedocument.presentationml.tags+xml"/>
  <Override PartName="/ppt/notesSlides/notesSlide70.xml" ContentType="application/vnd.openxmlformats-officedocument.presentationml.notesSlide+xml"/>
  <Override PartName="/ppt/tags/tag367.xml" ContentType="application/vnd.openxmlformats-officedocument.presentationml.tags+xml"/>
  <Override PartName="/ppt/notesSlides/notesSlide71.xml" ContentType="application/vnd.openxmlformats-officedocument.presentationml.notesSlide+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notesSlides/notesSlide72.xml" ContentType="application/vnd.openxmlformats-officedocument.presentationml.notesSlide+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notesSlides/notesSlide73.xml" ContentType="application/vnd.openxmlformats-officedocument.presentationml.notesSlide+xml"/>
  <Override PartName="/ppt/tags/tag390.xml" ContentType="application/vnd.openxmlformats-officedocument.presentationml.tags+xml"/>
  <Override PartName="/ppt/notesSlides/notesSlide74.xml" ContentType="application/vnd.openxmlformats-officedocument.presentationml.notesSlide+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notesSlides/notesSlide75.xml" ContentType="application/vnd.openxmlformats-officedocument.presentationml.notesSlide+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notesSlides/notesSlide76.xml" ContentType="application/vnd.openxmlformats-officedocument.presentationml.notesSlide+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notesSlides/notesSlide77.xml" ContentType="application/vnd.openxmlformats-officedocument.presentationml.notesSlide+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notesSlides/notesSlide78.xml" ContentType="application/vnd.openxmlformats-officedocument.presentationml.notesSlide+xml"/>
  <Override PartName="/ppt/tags/tag431.xml" ContentType="application/vnd.openxmlformats-officedocument.presentationml.tags+xml"/>
  <Override PartName="/ppt/notesSlides/notesSlide79.xml" ContentType="application/vnd.openxmlformats-officedocument.presentationml.notesSlide+xml"/>
  <Override PartName="/ppt/tags/tag432.xml" ContentType="application/vnd.openxmlformats-officedocument.presentationml.tags+xml"/>
  <Override PartName="/ppt/notesSlides/notesSlide80.xml" ContentType="application/vnd.openxmlformats-officedocument.presentationml.notesSlide+xml"/>
  <Override PartName="/ppt/tags/tag433.xml" ContentType="application/vnd.openxmlformats-officedocument.presentationml.tags+xml"/>
  <Override PartName="/ppt/notesSlides/notesSlide81.xml" ContentType="application/vnd.openxmlformats-officedocument.presentationml.notesSlide+xml"/>
  <Override PartName="/ppt/tags/tag434.xml" ContentType="application/vnd.openxmlformats-officedocument.presentationml.tags+xml"/>
  <Override PartName="/ppt/notesSlides/notesSlide82.xml" ContentType="application/vnd.openxmlformats-officedocument.presentationml.notesSlide+xml"/>
  <Override PartName="/ppt/tags/tag435.xml" ContentType="application/vnd.openxmlformats-officedocument.presentationml.tags+xml"/>
  <Override PartName="/ppt/notesSlides/notesSlide83.xml" ContentType="application/vnd.openxmlformats-officedocument.presentationml.notesSlide+xml"/>
  <Override PartName="/ppt/tags/tag436.xml" ContentType="application/vnd.openxmlformats-officedocument.presentationml.tags+xml"/>
  <Override PartName="/ppt/tags/tag437.xml" ContentType="application/vnd.openxmlformats-officedocument.presentationml.tags+xml"/>
  <Override PartName="/ppt/notesSlides/notesSlide84.xml" ContentType="application/vnd.openxmlformats-officedocument.presentationml.notesSlide+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notesSlides/notesSlide85.xml" ContentType="application/vnd.openxmlformats-officedocument.presentationml.notesSlide+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notesSlides/notesSlide86.xml" ContentType="application/vnd.openxmlformats-officedocument.presentationml.notesSlide+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notesSlides/notesSlide87.xml" ContentType="application/vnd.openxmlformats-officedocument.presentationml.notesSlide+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notesSlides/notesSlide88.xml" ContentType="application/vnd.openxmlformats-officedocument.presentationml.notesSlide+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notesSlides/notesSlide89.xml" ContentType="application/vnd.openxmlformats-officedocument.presentationml.notesSlide+xml"/>
  <Override PartName="/ppt/tags/tag498.xml" ContentType="application/vnd.openxmlformats-officedocument.presentationml.tags+xml"/>
  <Override PartName="/ppt/tags/tag499.xml" ContentType="application/vnd.openxmlformats-officedocument.presentationml.tags+xml"/>
  <Override PartName="/ppt/notesSlides/notesSlide90.xml" ContentType="application/vnd.openxmlformats-officedocument.presentationml.notesSlide+xml"/>
  <Override PartName="/ppt/tags/tag500.xml" ContentType="application/vnd.openxmlformats-officedocument.presentationml.tags+xml"/>
  <Override PartName="/ppt/notesSlides/notesSlide91.xml" ContentType="application/vnd.openxmlformats-officedocument.presentationml.notesSlide+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notesSlides/notesSlide92.xml" ContentType="application/vnd.openxmlformats-officedocument.presentationml.notesSlide+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notesSlides/notesSlide93.xml" ContentType="application/vnd.openxmlformats-officedocument.presentationml.notesSlide+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notesSlides/notesSlide94.xml" ContentType="application/vnd.openxmlformats-officedocument.presentationml.notesSlide+xml"/>
  <Override PartName="/ppt/tags/tag540.xml" ContentType="application/vnd.openxmlformats-officedocument.presentationml.tags+xml"/>
  <Override PartName="/ppt/notesSlides/notesSlide95.xml" ContentType="application/vnd.openxmlformats-officedocument.presentationml.notesSlide+xml"/>
  <Override PartName="/ppt/tags/tag541.xml" ContentType="application/vnd.openxmlformats-officedocument.presentationml.tags+xml"/>
  <Override PartName="/ppt/notesSlides/notesSlide96.xml" ContentType="application/vnd.openxmlformats-officedocument.presentationml.notesSlide+xml"/>
  <Override PartName="/ppt/tags/tag542.xml" ContentType="application/vnd.openxmlformats-officedocument.presentationml.tags+xml"/>
  <Override PartName="/ppt/notesSlides/notesSlide97.xml" ContentType="application/vnd.openxmlformats-officedocument.presentationml.notesSlide+xml"/>
  <Override PartName="/ppt/tags/tag543.xml" ContentType="application/vnd.openxmlformats-officedocument.presentationml.tags+xml"/>
  <Override PartName="/ppt/notesSlides/notesSlide98.xml" ContentType="application/vnd.openxmlformats-officedocument.presentationml.notesSlide+xml"/>
  <Override PartName="/ppt/tags/tag544.xml" ContentType="application/vnd.openxmlformats-officedocument.presentationml.tags+xml"/>
  <Override PartName="/ppt/notesSlides/notesSlide99.xml" ContentType="application/vnd.openxmlformats-officedocument.presentationml.notesSlide+xml"/>
  <Override PartName="/ppt/tags/tag545.xml" ContentType="application/vnd.openxmlformats-officedocument.presentationml.tags+xml"/>
  <Override PartName="/ppt/notesSlides/notesSlide100.xml" ContentType="application/vnd.openxmlformats-officedocument.presentationml.notesSlide+xml"/>
  <Override PartName="/ppt/tags/tag546.xml" ContentType="application/vnd.openxmlformats-officedocument.presentationml.tags+xml"/>
  <Override PartName="/ppt/notesSlides/notesSlide101.xml" ContentType="application/vnd.openxmlformats-officedocument.presentationml.notesSlide+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notesSlides/notesSlide102.xml" ContentType="application/vnd.openxmlformats-officedocument.presentationml.notesSlide+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notesSlides/notesSlide103.xml" ContentType="application/vnd.openxmlformats-officedocument.presentationml.notesSlide+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notesSlides/notesSlide104.xml" ContentType="application/vnd.openxmlformats-officedocument.presentationml.notesSlide+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notesSlides/notesSlide105.xml" ContentType="application/vnd.openxmlformats-officedocument.presentationml.notesSlide+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notesSlides/notesSlide106.xml" ContentType="application/vnd.openxmlformats-officedocument.presentationml.notesSlide+xml"/>
  <Override PartName="/ppt/tags/tag562.xml" ContentType="application/vnd.openxmlformats-officedocument.presentationml.tags+xml"/>
  <Override PartName="/ppt/tags/tag563.xml" ContentType="application/vnd.openxmlformats-officedocument.presentationml.tags+xml"/>
  <Override PartName="/ppt/notesSlides/notesSlide107.xml" ContentType="application/vnd.openxmlformats-officedocument.presentationml.notesSlide+xml"/>
  <Override PartName="/ppt/tags/tag564.xml" ContentType="application/vnd.openxmlformats-officedocument.presentationml.tags+xml"/>
  <Override PartName="/ppt/tags/tag565.xml" ContentType="application/vnd.openxmlformats-officedocument.presentationml.tags+xml"/>
  <Override PartName="/ppt/notesSlides/notesSlide108.xml" ContentType="application/vnd.openxmlformats-officedocument.presentationml.notesSlide+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notesSlides/notesSlide109.xml" ContentType="application/vnd.openxmlformats-officedocument.presentationml.notesSlide+xml"/>
  <Override PartName="/ppt/tags/tag575.xml" ContentType="application/vnd.openxmlformats-officedocument.presentationml.tags+xml"/>
  <Override PartName="/ppt/notesSlides/notesSlide110.xml" ContentType="application/vnd.openxmlformats-officedocument.presentationml.notesSlide+xml"/>
  <Override PartName="/ppt/tags/tag576.xml" ContentType="application/vnd.openxmlformats-officedocument.presentationml.tags+xml"/>
  <Override PartName="/ppt/notesSlides/notesSlide111.xml" ContentType="application/vnd.openxmlformats-officedocument.presentationml.notesSlide+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tags/tag583.xml" ContentType="application/vnd.openxmlformats-officedocument.presentationml.tags+xml"/>
  <Override PartName="/ppt/tags/tag584.xml" ContentType="application/vnd.openxmlformats-officedocument.presentationml.tags+xml"/>
  <Override PartName="/ppt/notesSlides/notesSlide112.xml" ContentType="application/vnd.openxmlformats-officedocument.presentationml.notesSlide+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notesSlides/notesSlide113.xml" ContentType="application/vnd.openxmlformats-officedocument.presentationml.notesSlide+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notesSlides/notesSlide114.xml" ContentType="application/vnd.openxmlformats-officedocument.presentationml.notesSlide+xml"/>
  <Override PartName="/ppt/tags/tag601.xml" ContentType="application/vnd.openxmlformats-officedocument.presentationml.tags+xml"/>
  <Override PartName="/ppt/notesSlides/notesSlide115.xml" ContentType="application/vnd.openxmlformats-officedocument.presentationml.notesSlide+xml"/>
  <Override PartName="/ppt/tags/tag602.xml" ContentType="application/vnd.openxmlformats-officedocument.presentationml.tags+xml"/>
  <Override PartName="/ppt/notesSlides/notesSlide116.xml" ContentType="application/vnd.openxmlformats-officedocument.presentationml.notesSlide+xml"/>
  <Override PartName="/ppt/tags/tag603.xml" ContentType="application/vnd.openxmlformats-officedocument.presentationml.tags+xml"/>
  <Override PartName="/ppt/notesSlides/notesSlide117.xml" ContentType="application/vnd.openxmlformats-officedocument.presentationml.notesSlide+xml"/>
  <Override PartName="/ppt/tags/tag604.xml" ContentType="application/vnd.openxmlformats-officedocument.presentationml.tags+xml"/>
  <Override PartName="/ppt/notesSlides/notesSlide118.xml" ContentType="application/vnd.openxmlformats-officedocument.presentationml.notesSlide+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notesSlides/notesSlide119.xml" ContentType="application/vnd.openxmlformats-officedocument.presentationml.notesSlide+xml"/>
  <Override PartName="/ppt/tags/tag621.xml" ContentType="application/vnd.openxmlformats-officedocument.presentationml.tags+xml"/>
  <Override PartName="/ppt/notesSlides/notesSlide120.xml" ContentType="application/vnd.openxmlformats-officedocument.presentationml.notesSlide+xml"/>
  <Override PartName="/ppt/tags/tag622.xml" ContentType="application/vnd.openxmlformats-officedocument.presentationml.tags+xml"/>
  <Override PartName="/ppt/notesSlides/notesSlide121.xml" ContentType="application/vnd.openxmlformats-officedocument.presentationml.notesSlide+xml"/>
  <Override PartName="/ppt/tags/tag623.xml" ContentType="application/vnd.openxmlformats-officedocument.presentationml.tags+xml"/>
  <Override PartName="/ppt/notesSlides/notesSlide122.xml" ContentType="application/vnd.openxmlformats-officedocument.presentationml.notesSlide+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notesSlides/notesSlide123.xml" ContentType="application/vnd.openxmlformats-officedocument.presentationml.notesSlide+xml"/>
  <Override PartName="/ppt/tags/tag629.xml" ContentType="application/vnd.openxmlformats-officedocument.presentationml.tags+xml"/>
  <Override PartName="/ppt/tags/tag630.xml" ContentType="application/vnd.openxmlformats-officedocument.presentationml.tags+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notesSlides/notesSlide124.xml" ContentType="application/vnd.openxmlformats-officedocument.presentationml.notesSlide+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notesSlides/notesSlide125.xml" ContentType="application/vnd.openxmlformats-officedocument.presentationml.notesSlide+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notesSlides/notesSlide126.xml" ContentType="application/vnd.openxmlformats-officedocument.presentationml.notesSlide+xml"/>
  <Override PartName="/ppt/tags/tag644.xml" ContentType="application/vnd.openxmlformats-officedocument.presentationml.tags+xml"/>
  <Override PartName="/ppt/notesSlides/notesSlide127.xml" ContentType="application/vnd.openxmlformats-officedocument.presentationml.notesSlide+xml"/>
  <Override PartName="/ppt/tags/tag645.xml" ContentType="application/vnd.openxmlformats-officedocument.presentationml.tags+xml"/>
  <Override PartName="/ppt/notesSlides/notesSlide128.xml" ContentType="application/vnd.openxmlformats-officedocument.presentationml.notesSlide+xml"/>
  <Override PartName="/ppt/tags/tag646.xml" ContentType="application/vnd.openxmlformats-officedocument.presentationml.tags+xml"/>
  <Override PartName="/ppt/notesSlides/notesSlide129.xml" ContentType="application/vnd.openxmlformats-officedocument.presentationml.notesSlide+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notesSlides/notesSlide130.xml" ContentType="application/vnd.openxmlformats-officedocument.presentationml.notesSlide+xml"/>
  <Override PartName="/ppt/tags/tag664.xml" ContentType="application/vnd.openxmlformats-officedocument.presentationml.tags+xml"/>
  <Override PartName="/ppt/notesSlides/notesSlide131.xml" ContentType="application/vnd.openxmlformats-officedocument.presentationml.notesSlide+xml"/>
  <Override PartName="/ppt/tags/tag665.xml" ContentType="application/vnd.openxmlformats-officedocument.presentationml.tags+xml"/>
  <Override PartName="/ppt/notesSlides/notesSlide132.xml" ContentType="application/vnd.openxmlformats-officedocument.presentationml.notesSlide+xml"/>
  <Override PartName="/ppt/tags/tag666.xml" ContentType="application/vnd.openxmlformats-officedocument.presentationml.tags+xml"/>
  <Override PartName="/ppt/notesSlides/notesSlide133.xml" ContentType="application/vnd.openxmlformats-officedocument.presentationml.notesSlide+xml"/>
  <Override PartName="/ppt/tags/tag667.xml" ContentType="application/vnd.openxmlformats-officedocument.presentationml.tags+xml"/>
  <Override PartName="/ppt/notesSlides/notesSlide134.xml" ContentType="application/vnd.openxmlformats-officedocument.presentationml.notesSlide+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notesSlides/notesSlide135.xml" ContentType="application/vnd.openxmlformats-officedocument.presentationml.notesSlide+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notesSlides/notesSlide136.xml" ContentType="application/vnd.openxmlformats-officedocument.presentationml.notesSlide+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notesSlides/notesSlide137.xml" ContentType="application/vnd.openxmlformats-officedocument.presentationml.notesSlide+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notesSlides/notesSlide138.xml" ContentType="application/vnd.openxmlformats-officedocument.presentationml.notesSlide+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notesSlides/notesSlide139.xml" ContentType="application/vnd.openxmlformats-officedocument.presentationml.notesSlide+xml"/>
  <Override PartName="/ppt/tags/tag734.xml" ContentType="application/vnd.openxmlformats-officedocument.presentationml.tags+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notesSlides/notesSlide140.xml" ContentType="application/vnd.openxmlformats-officedocument.presentationml.notesSlide+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notesSlides/notesSlide141.xml" ContentType="application/vnd.openxmlformats-officedocument.presentationml.notesSlide+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notesSlides/notesSlide142.xml" ContentType="application/vnd.openxmlformats-officedocument.presentationml.notesSlide+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notesSlides/notesSlide143.xml" ContentType="application/vnd.openxmlformats-officedocument.presentationml.notesSlide+xml"/>
  <Override PartName="/ppt/tags/tag788.xml" ContentType="application/vnd.openxmlformats-officedocument.presentationml.tags+xml"/>
  <Override PartName="/ppt/notesSlides/notesSlide144.xml" ContentType="application/vnd.openxmlformats-officedocument.presentationml.notesSlide+xml"/>
  <Override PartName="/ppt/tags/tag789.xml" ContentType="application/vnd.openxmlformats-officedocument.presentationml.tags+xml"/>
  <Override PartName="/ppt/notesSlides/notesSlide145.xml" ContentType="application/vnd.openxmlformats-officedocument.presentationml.notesSlide+xml"/>
  <Override PartName="/ppt/tags/tag790.xml" ContentType="application/vnd.openxmlformats-officedocument.presentationml.tags+xml"/>
  <Override PartName="/ppt/notesSlides/notesSlide146.xml" ContentType="application/vnd.openxmlformats-officedocument.presentationml.notesSlide+xml"/>
  <Override PartName="/ppt/tags/tag791.xml" ContentType="application/vnd.openxmlformats-officedocument.presentationml.tags+xml"/>
  <Override PartName="/ppt/notesSlides/notesSlide147.xml" ContentType="application/vnd.openxmlformats-officedocument.presentationml.notesSlide+xml"/>
  <Override PartName="/ppt/tags/tag792.xml" ContentType="application/vnd.openxmlformats-officedocument.presentationml.tags+xml"/>
  <Override PartName="/ppt/tags/tag793.xml" ContentType="application/vnd.openxmlformats-officedocument.presentationml.tags+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notesSlides/notesSlide148.xml" ContentType="application/vnd.openxmlformats-officedocument.presentationml.notesSlide+xml"/>
  <Override PartName="/ppt/tags/tag805.xml" ContentType="application/vnd.openxmlformats-officedocument.presentationml.tags+xml"/>
  <Override PartName="/ppt/notesSlides/notesSlide149.xml" ContentType="application/vnd.openxmlformats-officedocument.presentationml.notesSlide+xml"/>
  <Override PartName="/ppt/tags/tag806.xml" ContentType="application/vnd.openxmlformats-officedocument.presentationml.tags+xml"/>
  <Override PartName="/ppt/notesSlides/notesSlide150.xml" ContentType="application/vnd.openxmlformats-officedocument.presentationml.notesSlide+xml"/>
  <Override PartName="/ppt/tags/tag807.xml" ContentType="application/vnd.openxmlformats-officedocument.presentationml.tags+xml"/>
  <Override PartName="/ppt/notesSlides/notesSlide151.xml" ContentType="application/vnd.openxmlformats-officedocument.presentationml.notesSlide+xml"/>
  <Override PartName="/ppt/tags/tag808.xml" ContentType="application/vnd.openxmlformats-officedocument.presentationml.tags+xml"/>
  <Override PartName="/ppt/tags/tag809.xml" ContentType="application/vnd.openxmlformats-officedocument.presentationml.tags+xml"/>
  <Override PartName="/ppt/notesSlides/notesSlide152.xml" ContentType="application/vnd.openxmlformats-officedocument.presentationml.notesSlide+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notesSlides/notesSlide153.xml" ContentType="application/vnd.openxmlformats-officedocument.presentationml.notesSlide+xml"/>
  <Override PartName="/ppt/tags/tag829.xml" ContentType="application/vnd.openxmlformats-officedocument.presentationml.tags+xml"/>
  <Override PartName="/ppt/notesSlides/notesSlide154.xml" ContentType="application/vnd.openxmlformats-officedocument.presentationml.notesSlide+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tags/tag834.xml" ContentType="application/vnd.openxmlformats-officedocument.presentationml.tags+xml"/>
  <Override PartName="/ppt/tags/tag835.xml" ContentType="application/vnd.openxmlformats-officedocument.presentationml.tags+xml"/>
  <Override PartName="/ppt/tags/tag836.xml" ContentType="application/vnd.openxmlformats-officedocument.presentationml.tags+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6"/>
  </p:notesMasterIdLst>
  <p:sldIdLst>
    <p:sldId id="257" r:id="rId2"/>
    <p:sldId id="271" r:id="rId3"/>
    <p:sldId id="272" r:id="rId4"/>
    <p:sldId id="260" r:id="rId5"/>
    <p:sldId id="258" r:id="rId6"/>
    <p:sldId id="259" r:id="rId7"/>
    <p:sldId id="269" r:id="rId8"/>
    <p:sldId id="320" r:id="rId9"/>
    <p:sldId id="321" r:id="rId10"/>
    <p:sldId id="322" r:id="rId11"/>
    <p:sldId id="263" r:id="rId12"/>
    <p:sldId id="273" r:id="rId13"/>
    <p:sldId id="279" r:id="rId14"/>
    <p:sldId id="325" r:id="rId15"/>
    <p:sldId id="560" r:id="rId16"/>
    <p:sldId id="326" r:id="rId17"/>
    <p:sldId id="328" r:id="rId18"/>
    <p:sldId id="329" r:id="rId19"/>
    <p:sldId id="327" r:id="rId20"/>
    <p:sldId id="280" r:id="rId21"/>
    <p:sldId id="330" r:id="rId22"/>
    <p:sldId id="331" r:id="rId23"/>
    <p:sldId id="332" r:id="rId24"/>
    <p:sldId id="333" r:id="rId25"/>
    <p:sldId id="334" r:id="rId26"/>
    <p:sldId id="335" r:id="rId27"/>
    <p:sldId id="336" r:id="rId28"/>
    <p:sldId id="337" r:id="rId29"/>
    <p:sldId id="281" r:id="rId30"/>
    <p:sldId id="338" r:id="rId31"/>
    <p:sldId id="339" r:id="rId32"/>
    <p:sldId id="340" r:id="rId33"/>
    <p:sldId id="282" r:id="rId34"/>
    <p:sldId id="341" r:id="rId35"/>
    <p:sldId id="342" r:id="rId36"/>
    <p:sldId id="347" r:id="rId37"/>
    <p:sldId id="346" r:id="rId38"/>
    <p:sldId id="264" r:id="rId39"/>
    <p:sldId id="275" r:id="rId40"/>
    <p:sldId id="283" r:id="rId41"/>
    <p:sldId id="348" r:id="rId42"/>
    <p:sldId id="284" r:id="rId43"/>
    <p:sldId id="354" r:id="rId44"/>
    <p:sldId id="355" r:id="rId45"/>
    <p:sldId id="356" r:id="rId46"/>
    <p:sldId id="285" r:id="rId47"/>
    <p:sldId id="286" r:id="rId48"/>
    <p:sldId id="358" r:id="rId49"/>
    <p:sldId id="359" r:id="rId50"/>
    <p:sldId id="265" r:id="rId51"/>
    <p:sldId id="288" r:id="rId52"/>
    <p:sldId id="362" r:id="rId53"/>
    <p:sldId id="363" r:id="rId54"/>
    <p:sldId id="364" r:id="rId55"/>
    <p:sldId id="365" r:id="rId56"/>
    <p:sldId id="289" r:id="rId57"/>
    <p:sldId id="561" r:id="rId58"/>
    <p:sldId id="366" r:id="rId59"/>
    <p:sldId id="266" r:id="rId60"/>
    <p:sldId id="277" r:id="rId61"/>
    <p:sldId id="290" r:id="rId62"/>
    <p:sldId id="400" r:id="rId63"/>
    <p:sldId id="401" r:id="rId64"/>
    <p:sldId id="404" r:id="rId65"/>
    <p:sldId id="562" r:id="rId66"/>
    <p:sldId id="405" r:id="rId67"/>
    <p:sldId id="406" r:id="rId68"/>
    <p:sldId id="403" r:id="rId69"/>
    <p:sldId id="291" r:id="rId70"/>
    <p:sldId id="407" r:id="rId71"/>
    <p:sldId id="408" r:id="rId72"/>
    <p:sldId id="292" r:id="rId73"/>
    <p:sldId id="410" r:id="rId74"/>
    <p:sldId id="411" r:id="rId75"/>
    <p:sldId id="415" r:id="rId76"/>
    <p:sldId id="416" r:id="rId77"/>
    <p:sldId id="293" r:id="rId78"/>
    <p:sldId id="421" r:id="rId79"/>
    <p:sldId id="423" r:id="rId80"/>
    <p:sldId id="424" r:id="rId81"/>
    <p:sldId id="425" r:id="rId82"/>
    <p:sldId id="422" r:id="rId83"/>
    <p:sldId id="426" r:id="rId84"/>
    <p:sldId id="294" r:id="rId85"/>
    <p:sldId id="449" r:id="rId86"/>
    <p:sldId id="450" r:id="rId87"/>
    <p:sldId id="451" r:id="rId88"/>
    <p:sldId id="452" r:id="rId89"/>
    <p:sldId id="267" r:id="rId90"/>
    <p:sldId id="278" r:id="rId91"/>
    <p:sldId id="295" r:id="rId92"/>
    <p:sldId id="453" r:id="rId93"/>
    <p:sldId id="296" r:id="rId94"/>
    <p:sldId id="455" r:id="rId95"/>
    <p:sldId id="454" r:id="rId96"/>
    <p:sldId id="456" r:id="rId97"/>
    <p:sldId id="478" r:id="rId98"/>
    <p:sldId id="479" r:id="rId99"/>
    <p:sldId id="480" r:id="rId100"/>
    <p:sldId id="481" r:id="rId101"/>
    <p:sldId id="482" r:id="rId102"/>
    <p:sldId id="483" r:id="rId103"/>
    <p:sldId id="457" r:id="rId104"/>
    <p:sldId id="484" r:id="rId105"/>
    <p:sldId id="485" r:id="rId106"/>
    <p:sldId id="486" r:id="rId107"/>
    <p:sldId id="487" r:id="rId108"/>
    <p:sldId id="488" r:id="rId109"/>
    <p:sldId id="489" r:id="rId110"/>
    <p:sldId id="563" r:id="rId111"/>
    <p:sldId id="297" r:id="rId112"/>
    <p:sldId id="491" r:id="rId113"/>
    <p:sldId id="494" r:id="rId114"/>
    <p:sldId id="495" r:id="rId115"/>
    <p:sldId id="492" r:id="rId116"/>
    <p:sldId id="496" r:id="rId117"/>
    <p:sldId id="497" r:id="rId118"/>
    <p:sldId id="498" r:id="rId119"/>
    <p:sldId id="499" r:id="rId120"/>
    <p:sldId id="493" r:id="rId121"/>
    <p:sldId id="501" r:id="rId122"/>
    <p:sldId id="502" r:id="rId123"/>
    <p:sldId id="298" r:id="rId124"/>
    <p:sldId id="503" r:id="rId125"/>
    <p:sldId id="506" r:id="rId126"/>
    <p:sldId id="507" r:id="rId127"/>
    <p:sldId id="508" r:id="rId128"/>
    <p:sldId id="504" r:id="rId129"/>
    <p:sldId id="509" r:id="rId130"/>
    <p:sldId id="510" r:id="rId131"/>
    <p:sldId id="505" r:id="rId132"/>
    <p:sldId id="511" r:id="rId133"/>
    <p:sldId id="512" r:id="rId134"/>
    <p:sldId id="513" r:id="rId135"/>
    <p:sldId id="515" r:id="rId136"/>
    <p:sldId id="564" r:id="rId137"/>
    <p:sldId id="299" r:id="rId138"/>
    <p:sldId id="516" r:id="rId139"/>
    <p:sldId id="517" r:id="rId140"/>
    <p:sldId id="518" r:id="rId141"/>
    <p:sldId id="520" r:id="rId142"/>
    <p:sldId id="300" r:id="rId143"/>
    <p:sldId id="521" r:id="rId144"/>
    <p:sldId id="525" r:id="rId145"/>
    <p:sldId id="526" r:id="rId146"/>
    <p:sldId id="524" r:id="rId147"/>
    <p:sldId id="522" r:id="rId148"/>
    <p:sldId id="523" r:id="rId149"/>
    <p:sldId id="268" r:id="rId150"/>
    <p:sldId id="274" r:id="rId151"/>
    <p:sldId id="301" r:id="rId152"/>
    <p:sldId id="527" r:id="rId153"/>
    <p:sldId id="302" r:id="rId154"/>
    <p:sldId id="528" r:id="rId155"/>
    <p:sldId id="529" r:id="rId156"/>
    <p:sldId id="303" r:id="rId157"/>
    <p:sldId id="545" r:id="rId158"/>
    <p:sldId id="546" r:id="rId159"/>
    <p:sldId id="549" r:id="rId160"/>
    <p:sldId id="550" r:id="rId161"/>
    <p:sldId id="552" r:id="rId162"/>
    <p:sldId id="304" r:id="rId163"/>
    <p:sldId id="305" r:id="rId164"/>
    <p:sldId id="553" r:id="rId165"/>
    <p:sldId id="306" r:id="rId166"/>
    <p:sldId id="555" r:id="rId167"/>
    <p:sldId id="556" r:id="rId168"/>
    <p:sldId id="307" r:id="rId169"/>
    <p:sldId id="557" r:id="rId170"/>
    <p:sldId id="558" r:id="rId171"/>
    <p:sldId id="309" r:id="rId172"/>
    <p:sldId id="308" r:id="rId173"/>
    <p:sldId id="310" r:id="rId174"/>
    <p:sldId id="565" r:id="rId175"/>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p:scale>
          <a:sx n="100" d="100"/>
          <a:sy n="100" d="100"/>
        </p:scale>
        <p:origin x="216" y="37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presProps" Target="presProps.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tableStyles" Target="tableStyles.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notesMaster" Target="notesMasters/notesMaster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ea typeface="微软雅黑 Light" panose="020B0502040204020203" pitchFamily="34" charset="-122"/>
              </a:defRPr>
            </a:lvl1pPr>
          </a:lstStyle>
          <a:p>
            <a:fld id="{D2A48B96-639E-45A3-A0BA-2464DFDB1FAA}" type="datetimeFigureOut">
              <a:rPr lang="zh-CN" altLang="en-US" smtClean="0"/>
              <a:pPr/>
              <a:t>2026/5/24</a:t>
            </a:fld>
            <a:endParaRPr lang="zh-CN" altLang="en-US" dirty="0"/>
          </a:p>
        </p:txBody>
      </p:sp>
      <p:sp>
        <p:nvSpPr>
          <p:cNvPr id="4" name="幻灯片图像占位符 3"/>
          <p:cNvSpPr>
            <a:spLocks noGrp="1" noRot="1" noChangeAspect="1"/>
          </p:cNvSpPr>
          <p:nvPr>
            <p:ph type="sldImg" idx="2"/>
          </p:nvPr>
        </p:nvSpPr>
        <p:spPr>
          <a:xfrm>
            <a:off x="481584" y="1279287"/>
            <a:ext cx="6140577" cy="3454075"/>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ea typeface="微软雅黑 Light" panose="020B0502040204020203" pitchFamily="34" charset="-122"/>
              </a:defRPr>
            </a:lvl1pPr>
          </a:lstStyle>
          <a:p>
            <a:fld id="{A6837353-30EB-4A48-80EB-173D804AEFBD}" type="slidenum">
              <a:rPr lang="zh-CN" altLang="en-US" smtClean="0"/>
              <a:pPr/>
              <a:t>‹#›</a:t>
            </a:fld>
            <a:endParaRPr lang="zh-CN" alt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dirty="0"/>
              <a:t>模板来自于 </a:t>
            </a:r>
            <a:r>
              <a:rPr lang="en-US" altLang="zh-CN" dirty="0"/>
              <a:t>http://docer.wps.cn</a:t>
            </a:r>
            <a:endParaRPr lang="zh-CN" altLang="en-US" dirty="0"/>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微软雅黑 Light" panose="020B0502040204020203" pitchFamily="34" charset="-122"/>
              </a:rPr>
              <a:pPr algn="r" eaLnBrk="1" hangingPunct="1">
                <a:buFont typeface="Arial" panose="020B0604020202020204" pitchFamily="34" charset="0"/>
                <a:buNone/>
              </a:pPr>
              <a:t>4</a:t>
            </a:fld>
            <a:endParaRPr lang="zh-CN" altLang="en-US" sz="1300" dirty="0">
              <a:latin typeface="Calibri" panose="020F0502020204030204" charset="0"/>
              <a:ea typeface="微软雅黑 Light" panose="020B0502040204020203" pitchFamily="34"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dirty="0"/>
              <a:t>模板来自于 </a:t>
            </a:r>
            <a:r>
              <a:rPr lang="en-US" altLang="zh-CN" dirty="0"/>
              <a:t>http://docer.wps.cn</a:t>
            </a:r>
            <a:endParaRPr lang="zh-CN" altLang="en-US" dirty="0"/>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微软雅黑 Light" panose="020B0502040204020203" pitchFamily="34" charset="-122"/>
              </a:rPr>
              <a:pPr algn="r" eaLnBrk="1" hangingPunct="1">
                <a:buFont typeface="Arial" panose="020B0604020202020204" pitchFamily="34" charset="0"/>
                <a:buNone/>
              </a:pPr>
              <a:t>5</a:t>
            </a:fld>
            <a:endParaRPr lang="zh-CN" altLang="en-US" sz="1300" dirty="0">
              <a:latin typeface="Calibri" panose="020F0502020204030204" charset="0"/>
              <a:ea typeface="微软雅黑 Light" panose="020B0502040204020203" pitchFamily="34"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48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a:prstGeom prst="rect">
            <a:avLst/>
          </a:prstGeom>
        </p:spPr>
        <p:txBody>
          <a:bodyPr/>
          <a:lstStyle>
            <a:lvl1pPr>
              <a:defRPr lang="zh-CN" altLang="en-US"/>
            </a:lvl1pPr>
          </a:lstStyle>
          <a:p>
            <a:r>
              <a:rPr lang="zh-CN" altLang="en-US"/>
              <a:t>单击此处编辑母版标题样式</a:t>
            </a: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 title">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a:prstGeom prst="rect">
            <a:avLst/>
          </a:prstGeom>
        </p:spPr>
        <p:txBody>
          <a:bodyPr/>
          <a:lstStyle>
            <a:lvl1pPr>
              <a:defRPr lang="zh-CN" altLang="en-US"/>
            </a:lvl1pPr>
          </a:lstStyle>
          <a:p>
            <a:r>
              <a:rPr lang="zh-CN" altLang="en-US"/>
              <a:t>单击此处编辑母版标题样式</a:t>
            </a:r>
          </a:p>
        </p:txBody>
      </p:sp>
      <p:grpSp>
        <p:nvGrpSpPr>
          <p:cNvPr id="17" name="组合 16"/>
          <p:cNvGrpSpPr/>
          <p:nvPr userDrawn="1"/>
        </p:nvGrpSpPr>
        <p:grpSpPr>
          <a:xfrm>
            <a:off x="523836" y="1214422"/>
            <a:ext cx="3357586" cy="755143"/>
            <a:chOff x="523836" y="1428736"/>
            <a:chExt cx="3357586" cy="755143"/>
          </a:xfrm>
        </p:grpSpPr>
        <p:sp>
          <p:nvSpPr>
            <p:cNvPr id="18" name="任意多边形 17"/>
            <p:cNvSpPr/>
            <p:nvPr/>
          </p:nvSpPr>
          <p:spPr>
            <a:xfrm>
              <a:off x="523836" y="1428736"/>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TextBox 6"/>
            <p:cNvSpPr txBox="1"/>
            <p:nvPr/>
          </p:nvSpPr>
          <p:spPr>
            <a:xfrm>
              <a:off x="809588" y="1617459"/>
              <a:ext cx="3071834"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endParaRPr lang="zh-CN" altLang="zh-CN" sz="2400" dirty="0">
                <a:solidFill>
                  <a:schemeClr val="tx1"/>
                </a:solidFill>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a:prstGeom prst="rect">
            <a:avLst/>
          </a:prstGeom>
        </p:spPr>
        <p:txBody>
          <a:bodyPr/>
          <a:lstStyle/>
          <a:p>
            <a:fld id="{82F288E0-7875-42C4-84C8-98DBBD3BF4D2}" type="datetimeFigureOut">
              <a:rPr lang="zh-CN" altLang="en-US" smtClean="0"/>
              <a:pPr/>
              <a:t>2026/5/24</a:t>
            </a:fld>
            <a:endParaRPr lang="zh-CN" altLang="en-US"/>
          </a:p>
        </p:txBody>
      </p:sp>
      <p:sp>
        <p:nvSpPr>
          <p:cNvPr id="3" name="页脚占位符 2"/>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a:prstGeom prst="rect">
            <a:avLst/>
          </a:prstGeom>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p:nvSpPr>
          <p:cNvPr id="10" name="矩形 9"/>
          <p:cNvSpPr/>
          <p:nvPr userDrawn="1"/>
        </p:nvSpPr>
        <p:spPr>
          <a:xfrm>
            <a:off x="403225" y="1599242"/>
            <a:ext cx="11303635" cy="432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dirty="0">
              <a:solidFill>
                <a:schemeClr val="tx1">
                  <a:lumMod val="75000"/>
                  <a:lumOff val="25000"/>
                </a:schemeClr>
              </a:solidFill>
              <a:latin typeface="微软雅黑" panose="020B0503020204020204" charset="-122"/>
              <a:ea typeface="微软雅黑" panose="020B0503020204020204" charset="-122"/>
            </a:endParaRPr>
          </a:p>
        </p:txBody>
      </p:sp>
      <p:sp>
        <p:nvSpPr>
          <p:cNvPr id="2" name="标题 1"/>
          <p:cNvSpPr>
            <a:spLocks noGrp="1"/>
          </p:cNvSpPr>
          <p:nvPr userDrawn="1">
            <p:ph type="title"/>
          </p:nvPr>
        </p:nvSpPr>
        <p:spPr>
          <a:xfrm>
            <a:off x="754063" y="427293"/>
            <a:ext cx="8415337" cy="523220"/>
          </a:xfrm>
          <a:prstGeom prst="rect">
            <a:avLst/>
          </a:prstGeom>
        </p:spPr>
        <p:txBody>
          <a:bodyPr/>
          <a:lstStyle>
            <a:lvl1pPr>
              <a:defRPr lang="zh-CN" altLang="en-US" dirty="0"/>
            </a:lvl1pPr>
          </a:lstStyle>
          <a:p>
            <a:r>
              <a:rPr lang="zh-CN" altLang="en-US" dirty="0"/>
              <a:t>单击此处编辑母版标题样式</a:t>
            </a:r>
          </a:p>
        </p:txBody>
      </p:sp>
      <p:cxnSp>
        <p:nvCxnSpPr>
          <p:cNvPr id="13" name="直接连接符 12"/>
          <p:cNvCxnSpPr/>
          <p:nvPr userDrawn="1"/>
        </p:nvCxnSpPr>
        <p:spPr>
          <a:xfrm>
            <a:off x="0" y="1080000"/>
            <a:ext cx="121920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11" name="矩形 10"/>
          <p:cNvSpPr/>
          <p:nvPr userDrawn="1"/>
        </p:nvSpPr>
        <p:spPr>
          <a:xfrm>
            <a:off x="754063" y="1368000"/>
            <a:ext cx="669087" cy="4680000"/>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dirty="0">
              <a:solidFill>
                <a:schemeClr val="bg1"/>
              </a:solidFill>
              <a:latin typeface="微软雅黑" panose="020B0503020204020204" charset="-122"/>
              <a:ea typeface="微软雅黑" panose="020B0503020204020204" charset="-122"/>
            </a:endParaRPr>
          </a:p>
        </p:txBody>
      </p:sp>
      <p:sp>
        <p:nvSpPr>
          <p:cNvPr id="3" name="等腰三角形 2">
            <a:extLst>
              <a:ext uri="{FF2B5EF4-FFF2-40B4-BE49-F238E27FC236}">
                <a16:creationId xmlns:a16="http://schemas.microsoft.com/office/drawing/2014/main" id="{39C50360-056A-5B66-29BD-7E24C7DD8BD8}"/>
              </a:ext>
            </a:extLst>
          </p:cNvPr>
          <p:cNvSpPr/>
          <p:nvPr userDrawn="1"/>
        </p:nvSpPr>
        <p:spPr>
          <a:xfrm>
            <a:off x="1423150" y="1383241"/>
            <a:ext cx="144000" cy="216000"/>
          </a:xfrm>
          <a:prstGeom prst="triangle">
            <a:avLst>
              <a:gd name="adj" fmla="val 0"/>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userDrawn="1">
  <p:cSld name="1_首页">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Arial" charset="0"/>
                <a:cs typeface="Arial" charset="0"/>
              </a:rPr>
              <a:t>T</a:t>
            </a:r>
            <a:endParaRPr lang="zh-CN" altLang="en-US" sz="21400" dirty="0">
              <a:latin typeface="Arial" charset="0"/>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Arial" charset="0"/>
                <a:cs typeface="Arial" charset="0"/>
              </a:rPr>
              <a:t>HANK   YOU!</a:t>
            </a:r>
            <a:endParaRPr lang="zh-CN" altLang="en-US" sz="5700" b="1" dirty="0">
              <a:latin typeface="Arial" charset="0"/>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p14="http://schemas.microsoft.com/office/powerpoint/2010/main" val="4223807772"/>
      </p:ext>
    </p:extLst>
  </p:cSld>
  <p:clrMapOvr>
    <a:masterClrMapping/>
  </p:clrMapOvr>
  <p:transition>
    <p:randomBar dir="vert"/>
  </p:transition>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766297"/>
            <a:ext cx="10515600" cy="523220"/>
          </a:xfrm>
          <a:prstGeom prst="rect">
            <a:avLst/>
          </a:prstGeom>
        </p:spPr>
        <p:txBody>
          <a:bodyPr vert="horz" lIns="91440" tIns="45720" rIns="91440" bIns="45720" rtlCol="0" anchor="ctr">
            <a:spAutoFit/>
          </a:bodyPr>
          <a:lstStyle/>
          <a:p>
            <a:r>
              <a:rPr lang="zh-CN" altLang="en-US"/>
              <a:t>单击此处编辑母版标题样式</a:t>
            </a:r>
          </a:p>
        </p:txBody>
      </p:sp>
      <p:sp>
        <p:nvSpPr>
          <p:cNvPr id="3" name="文本占位符 2"/>
          <p:cNvSpPr>
            <a:spLocks noGrp="1"/>
          </p:cNvSpPr>
          <p:nvPr>
            <p:ph type="body" idx="1"/>
          </p:nvPr>
        </p:nvSpPr>
        <p:spPr>
          <a:xfrm>
            <a:off x="838200" y="1289517"/>
            <a:ext cx="10515600" cy="4887446"/>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pic>
        <p:nvPicPr>
          <p:cNvPr id="11" name="图片 10"/>
          <p:cNvPicPr>
            <a:picLocks noChangeAspect="1"/>
          </p:cNvPicPr>
          <p:nvPr userDrawn="1"/>
        </p:nvPicPr>
        <p:blipFill rotWithShape="1">
          <a:blip r:embed="rId8"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Tree>
  </p:cSld>
  <p:clrMap bg1="lt1" tx1="dk1" bg2="lt2" tx2="dk2" accent1="accent1" accent2="accent2" accent3="accent3" accent4="accent4" accent5="accent5" accent6="accent6" hlink="hlink" folHlink="folHlink"/>
  <p:sldLayoutIdLst>
    <p:sldLayoutId id="2147483649" r:id="rId1"/>
    <p:sldLayoutId id="2147483664" r:id="rId2"/>
    <p:sldLayoutId id="2147483666" r:id="rId3"/>
    <p:sldLayoutId id="2147483655" r:id="rId4"/>
    <p:sldLayoutId id="2147483665" r:id="rId5"/>
    <p:sldLayoutId id="2147483670" r:id="rId6"/>
  </p:sldLayoutIdLst>
  <p:txStyles>
    <p:titleStyle>
      <a:lvl1pPr algn="l" defTabSz="914400" rtl="0" eaLnBrk="1" latinLnBrk="0" hangingPunct="1">
        <a:lnSpc>
          <a:spcPct val="100000"/>
        </a:lnSpc>
        <a:spcBef>
          <a:spcPct val="0"/>
        </a:spcBef>
        <a:buNone/>
        <a:defRPr sz="2800" kern="1200">
          <a:solidFill>
            <a:srgbClr val="00B0F0"/>
          </a:solidFill>
          <a:latin typeface="+mj-lt"/>
          <a:ea typeface="+mj-ea"/>
          <a:cs typeface="+mj-cs"/>
        </a:defRPr>
      </a:lvl1pPr>
    </p:titleStyle>
    <p:bodyStyle>
      <a:lvl1pPr marL="228600" indent="-228600" algn="l" defTabSz="914400" rtl="0" eaLnBrk="1" latinLnBrk="0" hangingPunct="1">
        <a:lnSpc>
          <a:spcPct val="150000"/>
        </a:lnSpc>
        <a:spcBef>
          <a:spcPts val="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50000"/>
        </a:lnSpc>
        <a:spcBef>
          <a:spcPts val="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50000"/>
        </a:lnSpc>
        <a:spcBef>
          <a:spcPts val="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50000"/>
        </a:lnSpc>
        <a:spcBef>
          <a:spcPts val="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50000"/>
        </a:lnSpc>
        <a:spcBef>
          <a:spcPts val="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2.jpe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4.xml"/><Relationship Id="rId5" Type="http://schemas.openxmlformats.org/officeDocument/2006/relationships/tags" Target="../tags/tag16.xml"/><Relationship Id="rId4" Type="http://schemas.openxmlformats.org/officeDocument/2006/relationships/tags" Target="../tags/tag15.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17.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18.xml"/></Relationships>
</file>

<file path=ppt/slides/_rels/slide4.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21.xml"/><Relationship Id="rId7" Type="http://schemas.openxmlformats.org/officeDocument/2006/relationships/slideLayout" Target="../slideLayouts/slideLayout4.xml"/><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tags" Target="../tags/tag24.xml"/><Relationship Id="rId11" Type="http://schemas.openxmlformats.org/officeDocument/2006/relationships/image" Target="../media/image5.png"/><Relationship Id="rId5" Type="http://schemas.openxmlformats.org/officeDocument/2006/relationships/tags" Target="../tags/tag23.xml"/><Relationship Id="rId10" Type="http://schemas.openxmlformats.org/officeDocument/2006/relationships/image" Target="../media/image4.png"/><Relationship Id="rId4" Type="http://schemas.openxmlformats.org/officeDocument/2006/relationships/tags" Target="../tags/tag22.xml"/><Relationship Id="rId9"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openxmlformats.org/officeDocument/2006/relationships/notesSlide" Target="../notesSlides/notesSlide2.xml"/><Relationship Id="rId3" Type="http://schemas.openxmlformats.org/officeDocument/2006/relationships/tags" Target="../tags/tag27.xml"/><Relationship Id="rId7" Type="http://schemas.openxmlformats.org/officeDocument/2006/relationships/slideLayout" Target="../slideLayouts/slideLayout4.xml"/><Relationship Id="rId2" Type="http://schemas.openxmlformats.org/officeDocument/2006/relationships/tags" Target="../tags/tag26.xml"/><Relationship Id="rId1" Type="http://schemas.openxmlformats.org/officeDocument/2006/relationships/tags" Target="../tags/tag25.xml"/><Relationship Id="rId6" Type="http://schemas.openxmlformats.org/officeDocument/2006/relationships/tags" Target="../tags/tag30.xml"/><Relationship Id="rId11" Type="http://schemas.openxmlformats.org/officeDocument/2006/relationships/image" Target="../media/image5.png"/><Relationship Id="rId5" Type="http://schemas.openxmlformats.org/officeDocument/2006/relationships/tags" Target="../tags/tag29.xml"/><Relationship Id="rId10" Type="http://schemas.openxmlformats.org/officeDocument/2006/relationships/image" Target="../media/image4.png"/><Relationship Id="rId4" Type="http://schemas.openxmlformats.org/officeDocument/2006/relationships/tags" Target="../tags/tag28.xml"/><Relationship Id="rId9"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31.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3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33.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34.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35.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36.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37.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3.xml"/><Relationship Id="rId1" Type="http://schemas.openxmlformats.org/officeDocument/2006/relationships/tags" Target="../tags/tag38.xml"/></Relationships>
</file>

<file path=ppt/slides/_rels/slide14.xml.rels><?xml version="1.0" encoding="UTF-8" standalone="yes"?>
<Relationships xmlns="http://schemas.openxmlformats.org/package/2006/relationships"><Relationship Id="rId8" Type="http://schemas.openxmlformats.org/officeDocument/2006/relationships/tags" Target="../tags/tag46.xml"/><Relationship Id="rId3" Type="http://schemas.openxmlformats.org/officeDocument/2006/relationships/tags" Target="../tags/tag41.xml"/><Relationship Id="rId7" Type="http://schemas.openxmlformats.org/officeDocument/2006/relationships/tags" Target="../tags/tag45.xml"/><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5" Type="http://schemas.openxmlformats.org/officeDocument/2006/relationships/tags" Target="../tags/tag43.xml"/><Relationship Id="rId10" Type="http://schemas.openxmlformats.org/officeDocument/2006/relationships/notesSlide" Target="../notesSlides/notesSlide9.xml"/><Relationship Id="rId4" Type="http://schemas.openxmlformats.org/officeDocument/2006/relationships/tags" Target="../tags/tag42.xml"/><Relationship Id="rId9"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tags" Target="../tags/tag49.xml"/><Relationship Id="rId7" Type="http://schemas.openxmlformats.org/officeDocument/2006/relationships/notesSlide" Target="../notesSlides/notesSlide10.xml"/><Relationship Id="rId2" Type="http://schemas.openxmlformats.org/officeDocument/2006/relationships/tags" Target="../tags/tag48.xml"/><Relationship Id="rId1" Type="http://schemas.openxmlformats.org/officeDocument/2006/relationships/tags" Target="../tags/tag47.xml"/><Relationship Id="rId6" Type="http://schemas.openxmlformats.org/officeDocument/2006/relationships/slideLayout" Target="../slideLayouts/slideLayout3.xml"/><Relationship Id="rId5" Type="http://schemas.openxmlformats.org/officeDocument/2006/relationships/tags" Target="../tags/tag51.xml"/><Relationship Id="rId4" Type="http://schemas.openxmlformats.org/officeDocument/2006/relationships/tags" Target="../tags/tag50.xml"/></Relationships>
</file>

<file path=ppt/slides/_rels/slide1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tags" Target="../tags/tag54.xml"/><Relationship Id="rId7" Type="http://schemas.openxmlformats.org/officeDocument/2006/relationships/notesSlide" Target="../notesSlides/notesSlide11.xml"/><Relationship Id="rId2" Type="http://schemas.openxmlformats.org/officeDocument/2006/relationships/tags" Target="../tags/tag53.xml"/><Relationship Id="rId1" Type="http://schemas.openxmlformats.org/officeDocument/2006/relationships/tags" Target="../tags/tag52.xml"/><Relationship Id="rId6" Type="http://schemas.openxmlformats.org/officeDocument/2006/relationships/slideLayout" Target="../slideLayouts/slideLayout3.xml"/><Relationship Id="rId5" Type="http://schemas.openxmlformats.org/officeDocument/2006/relationships/tags" Target="../tags/tag56.xml"/><Relationship Id="rId4" Type="http://schemas.openxmlformats.org/officeDocument/2006/relationships/tags" Target="../tags/tag55.xml"/></Relationships>
</file>

<file path=ppt/slides/_rels/slide1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tags" Target="../tags/tag59.xml"/><Relationship Id="rId7" Type="http://schemas.openxmlformats.org/officeDocument/2006/relationships/notesSlide" Target="../notesSlides/notesSlide12.xml"/><Relationship Id="rId2" Type="http://schemas.openxmlformats.org/officeDocument/2006/relationships/tags" Target="../tags/tag58.xml"/><Relationship Id="rId1" Type="http://schemas.openxmlformats.org/officeDocument/2006/relationships/tags" Target="../tags/tag57.xml"/><Relationship Id="rId6" Type="http://schemas.openxmlformats.org/officeDocument/2006/relationships/slideLayout" Target="../slideLayouts/slideLayout3.xml"/><Relationship Id="rId5" Type="http://schemas.openxmlformats.org/officeDocument/2006/relationships/tags" Target="../tags/tag61.xml"/><Relationship Id="rId4" Type="http://schemas.openxmlformats.org/officeDocument/2006/relationships/tags" Target="../tags/tag60.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3.xml"/><Relationship Id="rId1" Type="http://schemas.openxmlformats.org/officeDocument/2006/relationships/tags" Target="../tags/tag62.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64.xml"/><Relationship Id="rId1" Type="http://schemas.openxmlformats.org/officeDocument/2006/relationships/tags" Target="../tags/tag63.xml"/><Relationship Id="rId5" Type="http://schemas.openxmlformats.org/officeDocument/2006/relationships/image" Target="../media/image11.png"/><Relationship Id="rId4"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65.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67.xml"/><Relationship Id="rId1" Type="http://schemas.openxmlformats.org/officeDocument/2006/relationships/tags" Target="../tags/tag66.xml"/><Relationship Id="rId5" Type="http://schemas.openxmlformats.org/officeDocument/2006/relationships/image" Target="../media/image13.png"/><Relationship Id="rId4"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8" Type="http://schemas.openxmlformats.org/officeDocument/2006/relationships/tags" Target="../tags/tag75.xml"/><Relationship Id="rId13" Type="http://schemas.openxmlformats.org/officeDocument/2006/relationships/tags" Target="../tags/tag80.xml"/><Relationship Id="rId3" Type="http://schemas.openxmlformats.org/officeDocument/2006/relationships/tags" Target="../tags/tag70.xml"/><Relationship Id="rId7" Type="http://schemas.openxmlformats.org/officeDocument/2006/relationships/tags" Target="../tags/tag74.xml"/><Relationship Id="rId12" Type="http://schemas.openxmlformats.org/officeDocument/2006/relationships/tags" Target="../tags/tag79.xml"/><Relationship Id="rId17" Type="http://schemas.openxmlformats.org/officeDocument/2006/relationships/notesSlide" Target="../notesSlides/notesSlide17.xml"/><Relationship Id="rId2" Type="http://schemas.openxmlformats.org/officeDocument/2006/relationships/tags" Target="../tags/tag69.xml"/><Relationship Id="rId16" Type="http://schemas.openxmlformats.org/officeDocument/2006/relationships/slideLayout" Target="../slideLayouts/slideLayout3.xml"/><Relationship Id="rId1" Type="http://schemas.openxmlformats.org/officeDocument/2006/relationships/tags" Target="../tags/tag68.xml"/><Relationship Id="rId6" Type="http://schemas.openxmlformats.org/officeDocument/2006/relationships/tags" Target="../tags/tag73.xml"/><Relationship Id="rId11" Type="http://schemas.openxmlformats.org/officeDocument/2006/relationships/tags" Target="../tags/tag78.xml"/><Relationship Id="rId5" Type="http://schemas.openxmlformats.org/officeDocument/2006/relationships/tags" Target="../tags/tag72.xml"/><Relationship Id="rId15" Type="http://schemas.openxmlformats.org/officeDocument/2006/relationships/tags" Target="../tags/tag82.xml"/><Relationship Id="rId10" Type="http://schemas.openxmlformats.org/officeDocument/2006/relationships/tags" Target="../tags/tag77.xml"/><Relationship Id="rId4" Type="http://schemas.openxmlformats.org/officeDocument/2006/relationships/tags" Target="../tags/tag71.xml"/><Relationship Id="rId9" Type="http://schemas.openxmlformats.org/officeDocument/2006/relationships/tags" Target="../tags/tag76.xml"/><Relationship Id="rId14" Type="http://schemas.openxmlformats.org/officeDocument/2006/relationships/tags" Target="../tags/tag81.xml"/></Relationships>
</file>

<file path=ppt/slides/_rels/slide24.xml.rels><?xml version="1.0" encoding="UTF-8" standalone="yes"?>
<Relationships xmlns="http://schemas.openxmlformats.org/package/2006/relationships"><Relationship Id="rId8" Type="http://schemas.openxmlformats.org/officeDocument/2006/relationships/tags" Target="../tags/tag90.xml"/><Relationship Id="rId3" Type="http://schemas.openxmlformats.org/officeDocument/2006/relationships/tags" Target="../tags/tag85.xml"/><Relationship Id="rId7" Type="http://schemas.openxmlformats.org/officeDocument/2006/relationships/tags" Target="../tags/tag89.xml"/><Relationship Id="rId2" Type="http://schemas.openxmlformats.org/officeDocument/2006/relationships/tags" Target="../tags/tag84.xml"/><Relationship Id="rId1" Type="http://schemas.openxmlformats.org/officeDocument/2006/relationships/tags" Target="../tags/tag83.xml"/><Relationship Id="rId6" Type="http://schemas.openxmlformats.org/officeDocument/2006/relationships/tags" Target="../tags/tag88.xml"/><Relationship Id="rId5" Type="http://schemas.openxmlformats.org/officeDocument/2006/relationships/tags" Target="../tags/tag87.xml"/><Relationship Id="rId10" Type="http://schemas.openxmlformats.org/officeDocument/2006/relationships/notesSlide" Target="../notesSlides/notesSlide18.xml"/><Relationship Id="rId4" Type="http://schemas.openxmlformats.org/officeDocument/2006/relationships/tags" Target="../tags/tag86.xml"/><Relationship Id="rId9"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92.xml"/><Relationship Id="rId1" Type="http://schemas.openxmlformats.org/officeDocument/2006/relationships/tags" Target="../tags/tag91.xml"/><Relationship Id="rId5" Type="http://schemas.openxmlformats.org/officeDocument/2006/relationships/image" Target="../media/image14.png"/><Relationship Id="rId4"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93.xml"/><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8" Type="http://schemas.openxmlformats.org/officeDocument/2006/relationships/tags" Target="../tags/tag101.xml"/><Relationship Id="rId13" Type="http://schemas.openxmlformats.org/officeDocument/2006/relationships/tags" Target="../tags/tag106.xml"/><Relationship Id="rId18" Type="http://schemas.openxmlformats.org/officeDocument/2006/relationships/tags" Target="../tags/tag111.xml"/><Relationship Id="rId3" Type="http://schemas.openxmlformats.org/officeDocument/2006/relationships/tags" Target="../tags/tag96.xml"/><Relationship Id="rId21" Type="http://schemas.openxmlformats.org/officeDocument/2006/relationships/notesSlide" Target="../notesSlides/notesSlide21.xml"/><Relationship Id="rId7" Type="http://schemas.openxmlformats.org/officeDocument/2006/relationships/tags" Target="../tags/tag100.xml"/><Relationship Id="rId12" Type="http://schemas.openxmlformats.org/officeDocument/2006/relationships/tags" Target="../tags/tag105.xml"/><Relationship Id="rId17" Type="http://schemas.openxmlformats.org/officeDocument/2006/relationships/tags" Target="../tags/tag110.xml"/><Relationship Id="rId2" Type="http://schemas.openxmlformats.org/officeDocument/2006/relationships/tags" Target="../tags/tag95.xml"/><Relationship Id="rId16" Type="http://schemas.openxmlformats.org/officeDocument/2006/relationships/tags" Target="../tags/tag109.xml"/><Relationship Id="rId20" Type="http://schemas.openxmlformats.org/officeDocument/2006/relationships/slideLayout" Target="../slideLayouts/slideLayout3.xml"/><Relationship Id="rId1" Type="http://schemas.openxmlformats.org/officeDocument/2006/relationships/tags" Target="../tags/tag94.xml"/><Relationship Id="rId6" Type="http://schemas.openxmlformats.org/officeDocument/2006/relationships/tags" Target="../tags/tag99.xml"/><Relationship Id="rId11" Type="http://schemas.openxmlformats.org/officeDocument/2006/relationships/tags" Target="../tags/tag104.xml"/><Relationship Id="rId5" Type="http://schemas.openxmlformats.org/officeDocument/2006/relationships/tags" Target="../tags/tag98.xml"/><Relationship Id="rId15" Type="http://schemas.openxmlformats.org/officeDocument/2006/relationships/tags" Target="../tags/tag108.xml"/><Relationship Id="rId10" Type="http://schemas.openxmlformats.org/officeDocument/2006/relationships/tags" Target="../tags/tag103.xml"/><Relationship Id="rId19" Type="http://schemas.openxmlformats.org/officeDocument/2006/relationships/tags" Target="../tags/tag112.xml"/><Relationship Id="rId4" Type="http://schemas.openxmlformats.org/officeDocument/2006/relationships/tags" Target="../tags/tag97.xml"/><Relationship Id="rId9" Type="http://schemas.openxmlformats.org/officeDocument/2006/relationships/tags" Target="../tags/tag102.xml"/><Relationship Id="rId14" Type="http://schemas.openxmlformats.org/officeDocument/2006/relationships/tags" Target="../tags/tag107.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114.xml"/><Relationship Id="rId1" Type="http://schemas.openxmlformats.org/officeDocument/2006/relationships/tags" Target="../tags/tag113.xml"/><Relationship Id="rId5" Type="http://schemas.openxmlformats.org/officeDocument/2006/relationships/image" Target="../media/image16.png"/><Relationship Id="rId4"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3" Type="http://schemas.openxmlformats.org/officeDocument/2006/relationships/tags" Target="../tags/tag117.xml"/><Relationship Id="rId2" Type="http://schemas.openxmlformats.org/officeDocument/2006/relationships/tags" Target="../tags/tag116.xml"/><Relationship Id="rId1" Type="http://schemas.openxmlformats.org/officeDocument/2006/relationships/tags" Target="../tags/tag115.xml"/><Relationship Id="rId6" Type="http://schemas.openxmlformats.org/officeDocument/2006/relationships/image" Target="../media/image17.jpeg"/><Relationship Id="rId5" Type="http://schemas.openxmlformats.org/officeDocument/2006/relationships/notesSlide" Target="../notesSlides/notesSlide23.xml"/><Relationship Id="rId4"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119.xml"/><Relationship Id="rId1" Type="http://schemas.openxmlformats.org/officeDocument/2006/relationships/tags" Target="../tags/tag118.xml"/><Relationship Id="rId5" Type="http://schemas.openxmlformats.org/officeDocument/2006/relationships/image" Target="../media/image18.png"/><Relationship Id="rId4"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3.xml"/><Relationship Id="rId1" Type="http://schemas.openxmlformats.org/officeDocument/2006/relationships/tags" Target="../tags/tag120.xml"/><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3.xml"/><Relationship Id="rId1" Type="http://schemas.openxmlformats.org/officeDocument/2006/relationships/tags" Target="../tags/tag121.xml"/><Relationship Id="rId4" Type="http://schemas.openxmlformats.org/officeDocument/2006/relationships/image" Target="../media/image20.png"/></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123.xml"/><Relationship Id="rId1" Type="http://schemas.openxmlformats.org/officeDocument/2006/relationships/tags" Target="../tags/tag122.xml"/><Relationship Id="rId5" Type="http://schemas.openxmlformats.org/officeDocument/2006/relationships/image" Target="../media/image21.png"/><Relationship Id="rId4"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8" Type="http://schemas.openxmlformats.org/officeDocument/2006/relationships/tags" Target="../tags/tag131.xml"/><Relationship Id="rId13" Type="http://schemas.openxmlformats.org/officeDocument/2006/relationships/tags" Target="../tags/tag136.xml"/><Relationship Id="rId18" Type="http://schemas.openxmlformats.org/officeDocument/2006/relationships/notesSlide" Target="../notesSlides/notesSlide28.xml"/><Relationship Id="rId3" Type="http://schemas.openxmlformats.org/officeDocument/2006/relationships/tags" Target="../tags/tag126.xml"/><Relationship Id="rId7" Type="http://schemas.openxmlformats.org/officeDocument/2006/relationships/tags" Target="../tags/tag130.xml"/><Relationship Id="rId12" Type="http://schemas.openxmlformats.org/officeDocument/2006/relationships/tags" Target="../tags/tag135.xml"/><Relationship Id="rId17" Type="http://schemas.openxmlformats.org/officeDocument/2006/relationships/slideLayout" Target="../slideLayouts/slideLayout3.xml"/><Relationship Id="rId2" Type="http://schemas.openxmlformats.org/officeDocument/2006/relationships/tags" Target="../tags/tag125.xml"/><Relationship Id="rId16" Type="http://schemas.openxmlformats.org/officeDocument/2006/relationships/tags" Target="../tags/tag139.xml"/><Relationship Id="rId1" Type="http://schemas.openxmlformats.org/officeDocument/2006/relationships/tags" Target="../tags/tag124.xml"/><Relationship Id="rId6" Type="http://schemas.openxmlformats.org/officeDocument/2006/relationships/tags" Target="../tags/tag129.xml"/><Relationship Id="rId11" Type="http://schemas.openxmlformats.org/officeDocument/2006/relationships/tags" Target="../tags/tag134.xml"/><Relationship Id="rId5" Type="http://schemas.openxmlformats.org/officeDocument/2006/relationships/tags" Target="../tags/tag128.xml"/><Relationship Id="rId15" Type="http://schemas.openxmlformats.org/officeDocument/2006/relationships/tags" Target="../tags/tag138.xml"/><Relationship Id="rId10" Type="http://schemas.openxmlformats.org/officeDocument/2006/relationships/tags" Target="../tags/tag133.xml"/><Relationship Id="rId4" Type="http://schemas.openxmlformats.org/officeDocument/2006/relationships/tags" Target="../tags/tag127.xml"/><Relationship Id="rId9" Type="http://schemas.openxmlformats.org/officeDocument/2006/relationships/tags" Target="../tags/tag132.xml"/><Relationship Id="rId14" Type="http://schemas.openxmlformats.org/officeDocument/2006/relationships/tags" Target="../tags/tag137.xm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3.xml"/><Relationship Id="rId1" Type="http://schemas.openxmlformats.org/officeDocument/2006/relationships/tags" Target="../tags/tag140.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3.xml"/><Relationship Id="rId1" Type="http://schemas.openxmlformats.org/officeDocument/2006/relationships/tags" Target="../tags/tag141.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3.xml"/><Relationship Id="rId1" Type="http://schemas.openxmlformats.org/officeDocument/2006/relationships/tags" Target="../tags/tag142.xml"/></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43.xml"/></Relationships>
</file>

<file path=ppt/slides/_rels/slide39.xml.rels><?xml version="1.0" encoding="UTF-8" standalone="yes"?>
<Relationships xmlns="http://schemas.openxmlformats.org/package/2006/relationships"><Relationship Id="rId8" Type="http://schemas.openxmlformats.org/officeDocument/2006/relationships/notesSlide" Target="../notesSlides/notesSlide32.xml"/><Relationship Id="rId3" Type="http://schemas.openxmlformats.org/officeDocument/2006/relationships/tags" Target="../tags/tag146.xml"/><Relationship Id="rId7" Type="http://schemas.openxmlformats.org/officeDocument/2006/relationships/slideLayout" Target="../slideLayouts/slideLayout2.xml"/><Relationship Id="rId2" Type="http://schemas.openxmlformats.org/officeDocument/2006/relationships/tags" Target="../tags/tag145.xml"/><Relationship Id="rId1" Type="http://schemas.openxmlformats.org/officeDocument/2006/relationships/tags" Target="../tags/tag144.xml"/><Relationship Id="rId6" Type="http://schemas.openxmlformats.org/officeDocument/2006/relationships/tags" Target="../tags/tag149.xml"/><Relationship Id="rId5" Type="http://schemas.openxmlformats.org/officeDocument/2006/relationships/tags" Target="../tags/tag148.xml"/><Relationship Id="rId4" Type="http://schemas.openxmlformats.org/officeDocument/2006/relationships/tags" Target="../tags/tag147.xml"/><Relationship Id="rId9" Type="http://schemas.openxmlformats.org/officeDocument/2006/relationships/image" Target="../media/image22.jpeg"/></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3.xml"/><Relationship Id="rId1" Type="http://schemas.openxmlformats.org/officeDocument/2006/relationships/tags" Target="../tags/tag150.xml"/><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3" Type="http://schemas.openxmlformats.org/officeDocument/2006/relationships/tags" Target="../tags/tag153.xml"/><Relationship Id="rId2" Type="http://schemas.openxmlformats.org/officeDocument/2006/relationships/tags" Target="../tags/tag152.xml"/><Relationship Id="rId1" Type="http://schemas.openxmlformats.org/officeDocument/2006/relationships/tags" Target="../tags/tag151.xml"/><Relationship Id="rId6" Type="http://schemas.openxmlformats.org/officeDocument/2006/relationships/image" Target="../media/image24.jpeg"/><Relationship Id="rId5" Type="http://schemas.openxmlformats.org/officeDocument/2006/relationships/notesSlide" Target="../notesSlides/notesSlide34.xml"/><Relationship Id="rId4"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155.xml"/><Relationship Id="rId1" Type="http://schemas.openxmlformats.org/officeDocument/2006/relationships/tags" Target="../tags/tag154.xml"/><Relationship Id="rId5" Type="http://schemas.openxmlformats.org/officeDocument/2006/relationships/image" Target="../media/image25.jpeg"/><Relationship Id="rId4"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3" Type="http://schemas.openxmlformats.org/officeDocument/2006/relationships/tags" Target="../tags/tag158.xml"/><Relationship Id="rId2" Type="http://schemas.openxmlformats.org/officeDocument/2006/relationships/tags" Target="../tags/tag157.xml"/><Relationship Id="rId1" Type="http://schemas.openxmlformats.org/officeDocument/2006/relationships/tags" Target="../tags/tag156.xml"/><Relationship Id="rId5" Type="http://schemas.openxmlformats.org/officeDocument/2006/relationships/notesSlide" Target="../notesSlides/notesSlide36.xml"/><Relationship Id="rId4"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8" Type="http://schemas.openxmlformats.org/officeDocument/2006/relationships/tags" Target="../tags/tag166.xml"/><Relationship Id="rId13" Type="http://schemas.openxmlformats.org/officeDocument/2006/relationships/tags" Target="../tags/tag171.xml"/><Relationship Id="rId18" Type="http://schemas.openxmlformats.org/officeDocument/2006/relationships/tags" Target="../tags/tag176.xml"/><Relationship Id="rId3" Type="http://schemas.openxmlformats.org/officeDocument/2006/relationships/tags" Target="../tags/tag161.xml"/><Relationship Id="rId21" Type="http://schemas.openxmlformats.org/officeDocument/2006/relationships/notesSlide" Target="../notesSlides/notesSlide37.xml"/><Relationship Id="rId7" Type="http://schemas.openxmlformats.org/officeDocument/2006/relationships/tags" Target="../tags/tag165.xml"/><Relationship Id="rId12" Type="http://schemas.openxmlformats.org/officeDocument/2006/relationships/tags" Target="../tags/tag170.xml"/><Relationship Id="rId17" Type="http://schemas.openxmlformats.org/officeDocument/2006/relationships/tags" Target="../tags/tag175.xml"/><Relationship Id="rId2" Type="http://schemas.openxmlformats.org/officeDocument/2006/relationships/tags" Target="../tags/tag160.xml"/><Relationship Id="rId16" Type="http://schemas.openxmlformats.org/officeDocument/2006/relationships/tags" Target="../tags/tag174.xml"/><Relationship Id="rId20" Type="http://schemas.openxmlformats.org/officeDocument/2006/relationships/slideLayout" Target="../slideLayouts/slideLayout3.xml"/><Relationship Id="rId1" Type="http://schemas.openxmlformats.org/officeDocument/2006/relationships/tags" Target="../tags/tag159.xml"/><Relationship Id="rId6" Type="http://schemas.openxmlformats.org/officeDocument/2006/relationships/tags" Target="../tags/tag164.xml"/><Relationship Id="rId11" Type="http://schemas.openxmlformats.org/officeDocument/2006/relationships/tags" Target="../tags/tag169.xml"/><Relationship Id="rId5" Type="http://schemas.openxmlformats.org/officeDocument/2006/relationships/tags" Target="../tags/tag163.xml"/><Relationship Id="rId15" Type="http://schemas.openxmlformats.org/officeDocument/2006/relationships/tags" Target="../tags/tag173.xml"/><Relationship Id="rId10" Type="http://schemas.openxmlformats.org/officeDocument/2006/relationships/tags" Target="../tags/tag168.xml"/><Relationship Id="rId19" Type="http://schemas.openxmlformats.org/officeDocument/2006/relationships/tags" Target="../tags/tag177.xml"/><Relationship Id="rId4" Type="http://schemas.openxmlformats.org/officeDocument/2006/relationships/tags" Target="../tags/tag162.xml"/><Relationship Id="rId9" Type="http://schemas.openxmlformats.org/officeDocument/2006/relationships/tags" Target="../tags/tag167.xml"/><Relationship Id="rId14" Type="http://schemas.openxmlformats.org/officeDocument/2006/relationships/tags" Target="../tags/tag172.xml"/></Relationships>
</file>

<file path=ppt/slides/_rels/slide45.xml.rels><?xml version="1.0" encoding="UTF-8" standalone="yes"?>
<Relationships xmlns="http://schemas.openxmlformats.org/package/2006/relationships"><Relationship Id="rId8" Type="http://schemas.openxmlformats.org/officeDocument/2006/relationships/tags" Target="../tags/tag185.xml"/><Relationship Id="rId13" Type="http://schemas.openxmlformats.org/officeDocument/2006/relationships/tags" Target="../tags/tag190.xml"/><Relationship Id="rId18" Type="http://schemas.openxmlformats.org/officeDocument/2006/relationships/slideLayout" Target="../slideLayouts/slideLayout3.xml"/><Relationship Id="rId3" Type="http://schemas.openxmlformats.org/officeDocument/2006/relationships/tags" Target="../tags/tag180.xml"/><Relationship Id="rId7" Type="http://schemas.openxmlformats.org/officeDocument/2006/relationships/tags" Target="../tags/tag184.xml"/><Relationship Id="rId12" Type="http://schemas.openxmlformats.org/officeDocument/2006/relationships/tags" Target="../tags/tag189.xml"/><Relationship Id="rId17" Type="http://schemas.openxmlformats.org/officeDocument/2006/relationships/tags" Target="../tags/tag194.xml"/><Relationship Id="rId2" Type="http://schemas.openxmlformats.org/officeDocument/2006/relationships/tags" Target="../tags/tag179.xml"/><Relationship Id="rId16" Type="http://schemas.openxmlformats.org/officeDocument/2006/relationships/tags" Target="../tags/tag193.xml"/><Relationship Id="rId1" Type="http://schemas.openxmlformats.org/officeDocument/2006/relationships/tags" Target="../tags/tag178.xml"/><Relationship Id="rId6" Type="http://schemas.openxmlformats.org/officeDocument/2006/relationships/tags" Target="../tags/tag183.xml"/><Relationship Id="rId11" Type="http://schemas.openxmlformats.org/officeDocument/2006/relationships/tags" Target="../tags/tag188.xml"/><Relationship Id="rId5" Type="http://schemas.openxmlformats.org/officeDocument/2006/relationships/tags" Target="../tags/tag182.xml"/><Relationship Id="rId15" Type="http://schemas.openxmlformats.org/officeDocument/2006/relationships/tags" Target="../tags/tag192.xml"/><Relationship Id="rId10" Type="http://schemas.openxmlformats.org/officeDocument/2006/relationships/tags" Target="../tags/tag187.xml"/><Relationship Id="rId19" Type="http://schemas.openxmlformats.org/officeDocument/2006/relationships/notesSlide" Target="../notesSlides/notesSlide38.xml"/><Relationship Id="rId4" Type="http://schemas.openxmlformats.org/officeDocument/2006/relationships/tags" Target="../tags/tag181.xml"/><Relationship Id="rId9" Type="http://schemas.openxmlformats.org/officeDocument/2006/relationships/tags" Target="../tags/tag186.xml"/><Relationship Id="rId14" Type="http://schemas.openxmlformats.org/officeDocument/2006/relationships/tags" Target="../tags/tag191.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3.xml"/><Relationship Id="rId1" Type="http://schemas.openxmlformats.org/officeDocument/2006/relationships/tags" Target="../tags/tag195.xml"/><Relationship Id="rId4" Type="http://schemas.openxmlformats.org/officeDocument/2006/relationships/image" Target="../media/image26.jpeg"/></Relationships>
</file>

<file path=ppt/slides/_rels/slide47.xml.rels><?xml version="1.0" encoding="UTF-8" standalone="yes"?>
<Relationships xmlns="http://schemas.openxmlformats.org/package/2006/relationships"><Relationship Id="rId8" Type="http://schemas.openxmlformats.org/officeDocument/2006/relationships/tags" Target="../tags/tag203.xml"/><Relationship Id="rId13" Type="http://schemas.openxmlformats.org/officeDocument/2006/relationships/tags" Target="../tags/tag208.xml"/><Relationship Id="rId18" Type="http://schemas.openxmlformats.org/officeDocument/2006/relationships/slideLayout" Target="../slideLayouts/slideLayout3.xml"/><Relationship Id="rId3" Type="http://schemas.openxmlformats.org/officeDocument/2006/relationships/tags" Target="../tags/tag198.xml"/><Relationship Id="rId7" Type="http://schemas.openxmlformats.org/officeDocument/2006/relationships/tags" Target="../tags/tag202.xml"/><Relationship Id="rId12" Type="http://schemas.openxmlformats.org/officeDocument/2006/relationships/tags" Target="../tags/tag207.xml"/><Relationship Id="rId17" Type="http://schemas.openxmlformats.org/officeDocument/2006/relationships/tags" Target="../tags/tag212.xml"/><Relationship Id="rId2" Type="http://schemas.openxmlformats.org/officeDocument/2006/relationships/tags" Target="../tags/tag197.xml"/><Relationship Id="rId16" Type="http://schemas.openxmlformats.org/officeDocument/2006/relationships/tags" Target="../tags/tag211.xml"/><Relationship Id="rId1" Type="http://schemas.openxmlformats.org/officeDocument/2006/relationships/tags" Target="../tags/tag196.xml"/><Relationship Id="rId6" Type="http://schemas.openxmlformats.org/officeDocument/2006/relationships/tags" Target="../tags/tag201.xml"/><Relationship Id="rId11" Type="http://schemas.openxmlformats.org/officeDocument/2006/relationships/tags" Target="../tags/tag206.xml"/><Relationship Id="rId5" Type="http://schemas.openxmlformats.org/officeDocument/2006/relationships/tags" Target="../tags/tag200.xml"/><Relationship Id="rId15" Type="http://schemas.openxmlformats.org/officeDocument/2006/relationships/tags" Target="../tags/tag210.xml"/><Relationship Id="rId10" Type="http://schemas.openxmlformats.org/officeDocument/2006/relationships/tags" Target="../tags/tag205.xml"/><Relationship Id="rId19" Type="http://schemas.openxmlformats.org/officeDocument/2006/relationships/notesSlide" Target="../notesSlides/notesSlide40.xml"/><Relationship Id="rId4" Type="http://schemas.openxmlformats.org/officeDocument/2006/relationships/tags" Target="../tags/tag199.xml"/><Relationship Id="rId9" Type="http://schemas.openxmlformats.org/officeDocument/2006/relationships/tags" Target="../tags/tag204.xml"/><Relationship Id="rId14" Type="http://schemas.openxmlformats.org/officeDocument/2006/relationships/tags" Target="../tags/tag209.xml"/></Relationships>
</file>

<file path=ppt/slides/_rels/slide48.xml.rels><?xml version="1.0" encoding="UTF-8" standalone="yes"?>
<Relationships xmlns="http://schemas.openxmlformats.org/package/2006/relationships"><Relationship Id="rId3" Type="http://schemas.openxmlformats.org/officeDocument/2006/relationships/tags" Target="../tags/tag215.xml"/><Relationship Id="rId2" Type="http://schemas.openxmlformats.org/officeDocument/2006/relationships/tags" Target="../tags/tag214.xml"/><Relationship Id="rId1" Type="http://schemas.openxmlformats.org/officeDocument/2006/relationships/tags" Target="../tags/tag213.xml"/><Relationship Id="rId6" Type="http://schemas.openxmlformats.org/officeDocument/2006/relationships/image" Target="../media/image27.jpeg"/><Relationship Id="rId5" Type="http://schemas.openxmlformats.org/officeDocument/2006/relationships/notesSlide" Target="../notesSlides/notesSlide41.xml"/><Relationship Id="rId4"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8" Type="http://schemas.openxmlformats.org/officeDocument/2006/relationships/tags" Target="../tags/tag223.xml"/><Relationship Id="rId13" Type="http://schemas.openxmlformats.org/officeDocument/2006/relationships/tags" Target="../tags/tag228.xml"/><Relationship Id="rId18" Type="http://schemas.openxmlformats.org/officeDocument/2006/relationships/notesSlide" Target="../notesSlides/notesSlide42.xml"/><Relationship Id="rId3" Type="http://schemas.openxmlformats.org/officeDocument/2006/relationships/tags" Target="../tags/tag218.xml"/><Relationship Id="rId7" Type="http://schemas.openxmlformats.org/officeDocument/2006/relationships/tags" Target="../tags/tag222.xml"/><Relationship Id="rId12" Type="http://schemas.openxmlformats.org/officeDocument/2006/relationships/tags" Target="../tags/tag227.xml"/><Relationship Id="rId17" Type="http://schemas.openxmlformats.org/officeDocument/2006/relationships/slideLayout" Target="../slideLayouts/slideLayout3.xml"/><Relationship Id="rId2" Type="http://schemas.openxmlformats.org/officeDocument/2006/relationships/tags" Target="../tags/tag217.xml"/><Relationship Id="rId16" Type="http://schemas.openxmlformats.org/officeDocument/2006/relationships/tags" Target="../tags/tag231.xml"/><Relationship Id="rId1" Type="http://schemas.openxmlformats.org/officeDocument/2006/relationships/tags" Target="../tags/tag216.xml"/><Relationship Id="rId6" Type="http://schemas.openxmlformats.org/officeDocument/2006/relationships/tags" Target="../tags/tag221.xml"/><Relationship Id="rId11" Type="http://schemas.openxmlformats.org/officeDocument/2006/relationships/tags" Target="../tags/tag226.xml"/><Relationship Id="rId5" Type="http://schemas.openxmlformats.org/officeDocument/2006/relationships/tags" Target="../tags/tag220.xml"/><Relationship Id="rId15" Type="http://schemas.openxmlformats.org/officeDocument/2006/relationships/tags" Target="../tags/tag230.xml"/><Relationship Id="rId10" Type="http://schemas.openxmlformats.org/officeDocument/2006/relationships/tags" Target="../tags/tag225.xml"/><Relationship Id="rId4" Type="http://schemas.openxmlformats.org/officeDocument/2006/relationships/tags" Target="../tags/tag219.xml"/><Relationship Id="rId9" Type="http://schemas.openxmlformats.org/officeDocument/2006/relationships/tags" Target="../tags/tag224.xml"/><Relationship Id="rId14" Type="http://schemas.openxmlformats.org/officeDocument/2006/relationships/tags" Target="../tags/tag229.xml"/></Relationships>
</file>

<file path=ppt/slides/_rels/slide50.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32.xml"/></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3.xml"/><Relationship Id="rId1" Type="http://schemas.openxmlformats.org/officeDocument/2006/relationships/tags" Target="../tags/tag233.xml"/></Relationships>
</file>

<file path=ppt/slides/_rels/slide52.xml.rels><?xml version="1.0" encoding="UTF-8" standalone="yes"?>
<Relationships xmlns="http://schemas.openxmlformats.org/package/2006/relationships"><Relationship Id="rId8" Type="http://schemas.openxmlformats.org/officeDocument/2006/relationships/tags" Target="../tags/tag241.xml"/><Relationship Id="rId3" Type="http://schemas.openxmlformats.org/officeDocument/2006/relationships/tags" Target="../tags/tag236.xml"/><Relationship Id="rId7" Type="http://schemas.openxmlformats.org/officeDocument/2006/relationships/tags" Target="../tags/tag240.xml"/><Relationship Id="rId2" Type="http://schemas.openxmlformats.org/officeDocument/2006/relationships/tags" Target="../tags/tag235.xml"/><Relationship Id="rId1" Type="http://schemas.openxmlformats.org/officeDocument/2006/relationships/tags" Target="../tags/tag234.xml"/><Relationship Id="rId6" Type="http://schemas.openxmlformats.org/officeDocument/2006/relationships/tags" Target="../tags/tag239.xml"/><Relationship Id="rId5" Type="http://schemas.openxmlformats.org/officeDocument/2006/relationships/tags" Target="../tags/tag238.xml"/><Relationship Id="rId10" Type="http://schemas.openxmlformats.org/officeDocument/2006/relationships/notesSlide" Target="../notesSlides/notesSlide44.xml"/><Relationship Id="rId4" Type="http://schemas.openxmlformats.org/officeDocument/2006/relationships/tags" Target="../tags/tag237.xml"/><Relationship Id="rId9"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45.xml"/><Relationship Id="rId2" Type="http://schemas.openxmlformats.org/officeDocument/2006/relationships/slideLayout" Target="../slideLayouts/slideLayout3.xml"/><Relationship Id="rId1" Type="http://schemas.openxmlformats.org/officeDocument/2006/relationships/tags" Target="../tags/tag242.xml"/><Relationship Id="rId4" Type="http://schemas.openxmlformats.org/officeDocument/2006/relationships/image" Target="../media/image28.png"/></Relationships>
</file>

<file path=ppt/slides/_rels/slide54.xml.rels><?xml version="1.0" encoding="UTF-8" standalone="yes"?>
<Relationships xmlns="http://schemas.openxmlformats.org/package/2006/relationships"><Relationship Id="rId8" Type="http://schemas.openxmlformats.org/officeDocument/2006/relationships/tags" Target="../tags/tag250.xml"/><Relationship Id="rId13" Type="http://schemas.openxmlformats.org/officeDocument/2006/relationships/tags" Target="../tags/tag255.xml"/><Relationship Id="rId18" Type="http://schemas.openxmlformats.org/officeDocument/2006/relationships/tags" Target="../tags/tag260.xml"/><Relationship Id="rId3" Type="http://schemas.openxmlformats.org/officeDocument/2006/relationships/tags" Target="../tags/tag245.xml"/><Relationship Id="rId21" Type="http://schemas.openxmlformats.org/officeDocument/2006/relationships/notesSlide" Target="../notesSlides/notesSlide46.xml"/><Relationship Id="rId7" Type="http://schemas.openxmlformats.org/officeDocument/2006/relationships/tags" Target="../tags/tag249.xml"/><Relationship Id="rId12" Type="http://schemas.openxmlformats.org/officeDocument/2006/relationships/tags" Target="../tags/tag254.xml"/><Relationship Id="rId17" Type="http://schemas.openxmlformats.org/officeDocument/2006/relationships/tags" Target="../tags/tag259.xml"/><Relationship Id="rId2" Type="http://schemas.openxmlformats.org/officeDocument/2006/relationships/tags" Target="../tags/tag244.xml"/><Relationship Id="rId16" Type="http://schemas.openxmlformats.org/officeDocument/2006/relationships/tags" Target="../tags/tag258.xml"/><Relationship Id="rId20" Type="http://schemas.openxmlformats.org/officeDocument/2006/relationships/slideLayout" Target="../slideLayouts/slideLayout3.xml"/><Relationship Id="rId1" Type="http://schemas.openxmlformats.org/officeDocument/2006/relationships/tags" Target="../tags/tag243.xml"/><Relationship Id="rId6" Type="http://schemas.openxmlformats.org/officeDocument/2006/relationships/tags" Target="../tags/tag248.xml"/><Relationship Id="rId11" Type="http://schemas.openxmlformats.org/officeDocument/2006/relationships/tags" Target="../tags/tag253.xml"/><Relationship Id="rId5" Type="http://schemas.openxmlformats.org/officeDocument/2006/relationships/tags" Target="../tags/tag247.xml"/><Relationship Id="rId15" Type="http://schemas.openxmlformats.org/officeDocument/2006/relationships/tags" Target="../tags/tag257.xml"/><Relationship Id="rId10" Type="http://schemas.openxmlformats.org/officeDocument/2006/relationships/tags" Target="../tags/tag252.xml"/><Relationship Id="rId19" Type="http://schemas.openxmlformats.org/officeDocument/2006/relationships/tags" Target="../tags/tag261.xml"/><Relationship Id="rId4" Type="http://schemas.openxmlformats.org/officeDocument/2006/relationships/tags" Target="../tags/tag246.xml"/><Relationship Id="rId9" Type="http://schemas.openxmlformats.org/officeDocument/2006/relationships/tags" Target="../tags/tag251.xml"/><Relationship Id="rId14" Type="http://schemas.openxmlformats.org/officeDocument/2006/relationships/tags" Target="../tags/tag256.xml"/></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47.xml"/><Relationship Id="rId2" Type="http://schemas.openxmlformats.org/officeDocument/2006/relationships/slideLayout" Target="../slideLayouts/slideLayout3.xml"/><Relationship Id="rId1" Type="http://schemas.openxmlformats.org/officeDocument/2006/relationships/tags" Target="../tags/tag262.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3.xml"/><Relationship Id="rId1" Type="http://schemas.openxmlformats.org/officeDocument/2006/relationships/tags" Target="../tags/tag26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265.xml"/><Relationship Id="rId1" Type="http://schemas.openxmlformats.org/officeDocument/2006/relationships/tags" Target="../tags/tag264.xml"/><Relationship Id="rId6" Type="http://schemas.openxmlformats.org/officeDocument/2006/relationships/image" Target="../media/image30.jpeg"/><Relationship Id="rId5" Type="http://schemas.openxmlformats.org/officeDocument/2006/relationships/image" Target="../media/image29.jpeg"/><Relationship Id="rId4"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66.xml"/></Relationships>
</file>

<file path=ppt/slides/_rels/slide60.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2.xml"/><Relationship Id="rId1" Type="http://schemas.openxmlformats.org/officeDocument/2006/relationships/tags" Target="../tags/tag267.xml"/><Relationship Id="rId4" Type="http://schemas.openxmlformats.org/officeDocument/2006/relationships/image" Target="../media/image31.jpeg"/></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51.xml"/><Relationship Id="rId2" Type="http://schemas.openxmlformats.org/officeDocument/2006/relationships/slideLayout" Target="../slideLayouts/slideLayout3.xml"/><Relationship Id="rId1" Type="http://schemas.openxmlformats.org/officeDocument/2006/relationships/tags" Target="../tags/tag268.xml"/><Relationship Id="rId4" Type="http://schemas.openxmlformats.org/officeDocument/2006/relationships/image" Target="../media/image32.png"/></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3.xml"/><Relationship Id="rId1" Type="http://schemas.openxmlformats.org/officeDocument/2006/relationships/tags" Target="../tags/tag269.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3.xml"/><Relationship Id="rId1" Type="http://schemas.openxmlformats.org/officeDocument/2006/relationships/tags" Target="../tags/tag270.xml"/><Relationship Id="rId4" Type="http://schemas.openxmlformats.org/officeDocument/2006/relationships/image" Target="../media/image33.png"/></Relationships>
</file>

<file path=ppt/slides/_rels/slide64.xml.rels><?xml version="1.0" encoding="UTF-8" standalone="yes"?>
<Relationships xmlns="http://schemas.openxmlformats.org/package/2006/relationships"><Relationship Id="rId8" Type="http://schemas.openxmlformats.org/officeDocument/2006/relationships/tags" Target="../tags/tag278.xml"/><Relationship Id="rId3" Type="http://schemas.openxmlformats.org/officeDocument/2006/relationships/tags" Target="../tags/tag273.xml"/><Relationship Id="rId7" Type="http://schemas.openxmlformats.org/officeDocument/2006/relationships/tags" Target="../tags/tag277.xml"/><Relationship Id="rId2" Type="http://schemas.openxmlformats.org/officeDocument/2006/relationships/tags" Target="../tags/tag272.xml"/><Relationship Id="rId1" Type="http://schemas.openxmlformats.org/officeDocument/2006/relationships/tags" Target="../tags/tag271.xml"/><Relationship Id="rId6" Type="http://schemas.openxmlformats.org/officeDocument/2006/relationships/tags" Target="../tags/tag276.xml"/><Relationship Id="rId5" Type="http://schemas.openxmlformats.org/officeDocument/2006/relationships/tags" Target="../tags/tag275.xml"/><Relationship Id="rId10" Type="http://schemas.openxmlformats.org/officeDocument/2006/relationships/notesSlide" Target="../notesSlides/notesSlide54.xml"/><Relationship Id="rId4" Type="http://schemas.openxmlformats.org/officeDocument/2006/relationships/tags" Target="../tags/tag274.xml"/><Relationship Id="rId9"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8" Type="http://schemas.openxmlformats.org/officeDocument/2006/relationships/slideLayout" Target="../slideLayouts/slideLayout3.xml"/><Relationship Id="rId3" Type="http://schemas.openxmlformats.org/officeDocument/2006/relationships/tags" Target="../tags/tag281.xml"/><Relationship Id="rId7" Type="http://schemas.openxmlformats.org/officeDocument/2006/relationships/tags" Target="../tags/tag285.xml"/><Relationship Id="rId2" Type="http://schemas.openxmlformats.org/officeDocument/2006/relationships/tags" Target="../tags/tag280.xml"/><Relationship Id="rId1" Type="http://schemas.openxmlformats.org/officeDocument/2006/relationships/tags" Target="../tags/tag279.xml"/><Relationship Id="rId6" Type="http://schemas.openxmlformats.org/officeDocument/2006/relationships/tags" Target="../tags/tag284.xml"/><Relationship Id="rId5" Type="http://schemas.openxmlformats.org/officeDocument/2006/relationships/tags" Target="../tags/tag283.xml"/><Relationship Id="rId4" Type="http://schemas.openxmlformats.org/officeDocument/2006/relationships/tags" Target="../tags/tag282.xml"/></Relationships>
</file>

<file path=ppt/slides/_rels/slide66.xml.rels><?xml version="1.0" encoding="UTF-8" standalone="yes"?>
<Relationships xmlns="http://schemas.openxmlformats.org/package/2006/relationships"><Relationship Id="rId8" Type="http://schemas.openxmlformats.org/officeDocument/2006/relationships/tags" Target="../tags/tag293.xml"/><Relationship Id="rId13" Type="http://schemas.openxmlformats.org/officeDocument/2006/relationships/tags" Target="../tags/tag298.xml"/><Relationship Id="rId3" Type="http://schemas.openxmlformats.org/officeDocument/2006/relationships/tags" Target="../tags/tag288.xml"/><Relationship Id="rId7" Type="http://schemas.openxmlformats.org/officeDocument/2006/relationships/tags" Target="../tags/tag292.xml"/><Relationship Id="rId12" Type="http://schemas.openxmlformats.org/officeDocument/2006/relationships/tags" Target="../tags/tag297.xml"/><Relationship Id="rId2" Type="http://schemas.openxmlformats.org/officeDocument/2006/relationships/tags" Target="../tags/tag287.xml"/><Relationship Id="rId16" Type="http://schemas.openxmlformats.org/officeDocument/2006/relationships/notesSlide" Target="../notesSlides/notesSlide55.xml"/><Relationship Id="rId1" Type="http://schemas.openxmlformats.org/officeDocument/2006/relationships/tags" Target="../tags/tag286.xml"/><Relationship Id="rId6" Type="http://schemas.openxmlformats.org/officeDocument/2006/relationships/tags" Target="../tags/tag291.xml"/><Relationship Id="rId11" Type="http://schemas.openxmlformats.org/officeDocument/2006/relationships/tags" Target="../tags/tag296.xml"/><Relationship Id="rId5" Type="http://schemas.openxmlformats.org/officeDocument/2006/relationships/tags" Target="../tags/tag290.xml"/><Relationship Id="rId15" Type="http://schemas.openxmlformats.org/officeDocument/2006/relationships/slideLayout" Target="../slideLayouts/slideLayout3.xml"/><Relationship Id="rId10" Type="http://schemas.openxmlformats.org/officeDocument/2006/relationships/tags" Target="../tags/tag295.xml"/><Relationship Id="rId4" Type="http://schemas.openxmlformats.org/officeDocument/2006/relationships/tags" Target="../tags/tag289.xml"/><Relationship Id="rId9" Type="http://schemas.openxmlformats.org/officeDocument/2006/relationships/tags" Target="../tags/tag294.xml"/><Relationship Id="rId14" Type="http://schemas.openxmlformats.org/officeDocument/2006/relationships/tags" Target="../tags/tag299.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3.xml"/><Relationship Id="rId1" Type="http://schemas.openxmlformats.org/officeDocument/2006/relationships/tags" Target="../tags/tag300.xml"/><Relationship Id="rId4" Type="http://schemas.openxmlformats.org/officeDocument/2006/relationships/image" Target="../media/image34.png"/></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3.xml"/><Relationship Id="rId1" Type="http://schemas.openxmlformats.org/officeDocument/2006/relationships/tags" Target="../tags/tag301.xml"/></Relationships>
</file>

<file path=ppt/slides/_rels/slide69.xml.rels><?xml version="1.0" encoding="UTF-8" standalone="yes"?>
<Relationships xmlns="http://schemas.openxmlformats.org/package/2006/relationships"><Relationship Id="rId3" Type="http://schemas.openxmlformats.org/officeDocument/2006/relationships/notesSlide" Target="../notesSlides/notesSlide58.xml"/><Relationship Id="rId2" Type="http://schemas.openxmlformats.org/officeDocument/2006/relationships/slideLayout" Target="../slideLayouts/slideLayout3.xml"/><Relationship Id="rId1" Type="http://schemas.openxmlformats.org/officeDocument/2006/relationships/tags" Target="../tags/tag302.xml"/><Relationship Id="rId4" Type="http://schemas.openxmlformats.org/officeDocument/2006/relationships/image" Target="../media/image35.png"/></Relationships>
</file>

<file path=ppt/slides/_rels/slide70.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3.xml"/><Relationship Id="rId1" Type="http://schemas.openxmlformats.org/officeDocument/2006/relationships/tags" Target="../tags/tag303.xml"/></Relationships>
</file>

<file path=ppt/slides/_rels/slide71.xml.rels><?xml version="1.0" encoding="UTF-8" standalone="yes"?>
<Relationships xmlns="http://schemas.openxmlformats.org/package/2006/relationships"><Relationship Id="rId3" Type="http://schemas.openxmlformats.org/officeDocument/2006/relationships/notesSlide" Target="../notesSlides/notesSlide60.xml"/><Relationship Id="rId2" Type="http://schemas.openxmlformats.org/officeDocument/2006/relationships/slideLayout" Target="../slideLayouts/slideLayout3.xml"/><Relationship Id="rId1" Type="http://schemas.openxmlformats.org/officeDocument/2006/relationships/tags" Target="../tags/tag304.xml"/><Relationship Id="rId4" Type="http://schemas.openxmlformats.org/officeDocument/2006/relationships/image" Target="../media/image36.png"/></Relationships>
</file>

<file path=ppt/slides/_rels/slide72.xml.rels><?xml version="1.0" encoding="UTF-8" standalone="yes"?>
<Relationships xmlns="http://schemas.openxmlformats.org/package/2006/relationships"><Relationship Id="rId8" Type="http://schemas.openxmlformats.org/officeDocument/2006/relationships/tags" Target="../tags/tag312.xml"/><Relationship Id="rId13" Type="http://schemas.openxmlformats.org/officeDocument/2006/relationships/tags" Target="../tags/tag317.xml"/><Relationship Id="rId3" Type="http://schemas.openxmlformats.org/officeDocument/2006/relationships/tags" Target="../tags/tag307.xml"/><Relationship Id="rId7" Type="http://schemas.openxmlformats.org/officeDocument/2006/relationships/tags" Target="../tags/tag311.xml"/><Relationship Id="rId12" Type="http://schemas.openxmlformats.org/officeDocument/2006/relationships/tags" Target="../tags/tag316.xml"/><Relationship Id="rId2" Type="http://schemas.openxmlformats.org/officeDocument/2006/relationships/tags" Target="../tags/tag306.xml"/><Relationship Id="rId1" Type="http://schemas.openxmlformats.org/officeDocument/2006/relationships/tags" Target="../tags/tag305.xml"/><Relationship Id="rId6" Type="http://schemas.openxmlformats.org/officeDocument/2006/relationships/tags" Target="../tags/tag310.xml"/><Relationship Id="rId11" Type="http://schemas.openxmlformats.org/officeDocument/2006/relationships/tags" Target="../tags/tag315.xml"/><Relationship Id="rId5" Type="http://schemas.openxmlformats.org/officeDocument/2006/relationships/tags" Target="../tags/tag309.xml"/><Relationship Id="rId15" Type="http://schemas.openxmlformats.org/officeDocument/2006/relationships/notesSlide" Target="../notesSlides/notesSlide61.xml"/><Relationship Id="rId10" Type="http://schemas.openxmlformats.org/officeDocument/2006/relationships/tags" Target="../tags/tag314.xml"/><Relationship Id="rId4" Type="http://schemas.openxmlformats.org/officeDocument/2006/relationships/tags" Target="../tags/tag308.xml"/><Relationship Id="rId9" Type="http://schemas.openxmlformats.org/officeDocument/2006/relationships/tags" Target="../tags/tag313.xml"/><Relationship Id="rId14"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3" Type="http://schemas.openxmlformats.org/officeDocument/2006/relationships/notesSlide" Target="../notesSlides/notesSlide62.xml"/><Relationship Id="rId2" Type="http://schemas.openxmlformats.org/officeDocument/2006/relationships/slideLayout" Target="../slideLayouts/slideLayout3.xml"/><Relationship Id="rId1" Type="http://schemas.openxmlformats.org/officeDocument/2006/relationships/tags" Target="../tags/tag318.xml"/></Relationships>
</file>

<file path=ppt/slides/_rels/slide74.xml.rels><?xml version="1.0" encoding="UTF-8" standalone="yes"?>
<Relationships xmlns="http://schemas.openxmlformats.org/package/2006/relationships"><Relationship Id="rId3" Type="http://schemas.openxmlformats.org/officeDocument/2006/relationships/notesSlide" Target="../notesSlides/notesSlide63.xml"/><Relationship Id="rId2" Type="http://schemas.openxmlformats.org/officeDocument/2006/relationships/slideLayout" Target="../slideLayouts/slideLayout3.xml"/><Relationship Id="rId1" Type="http://schemas.openxmlformats.org/officeDocument/2006/relationships/tags" Target="../tags/tag319.xml"/></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64.xml"/><Relationship Id="rId2" Type="http://schemas.openxmlformats.org/officeDocument/2006/relationships/slideLayout" Target="../slideLayouts/slideLayout3.xml"/><Relationship Id="rId1" Type="http://schemas.openxmlformats.org/officeDocument/2006/relationships/tags" Target="../tags/tag320.xml"/></Relationships>
</file>

<file path=ppt/slides/_rels/slide76.xml.rels><?xml version="1.0" encoding="UTF-8" standalone="yes"?>
<Relationships xmlns="http://schemas.openxmlformats.org/package/2006/relationships"><Relationship Id="rId3" Type="http://schemas.openxmlformats.org/officeDocument/2006/relationships/tags" Target="../tags/tag323.xml"/><Relationship Id="rId2" Type="http://schemas.openxmlformats.org/officeDocument/2006/relationships/tags" Target="../tags/tag322.xml"/><Relationship Id="rId1" Type="http://schemas.openxmlformats.org/officeDocument/2006/relationships/tags" Target="../tags/tag321.xml"/><Relationship Id="rId6" Type="http://schemas.openxmlformats.org/officeDocument/2006/relationships/notesSlide" Target="../notesSlides/notesSlide65.xml"/><Relationship Id="rId5" Type="http://schemas.openxmlformats.org/officeDocument/2006/relationships/slideLayout" Target="../slideLayouts/slideLayout3.xml"/><Relationship Id="rId4" Type="http://schemas.openxmlformats.org/officeDocument/2006/relationships/tags" Target="../tags/tag324.xml"/></Relationships>
</file>

<file path=ppt/slides/_rels/slide77.xml.rels><?xml version="1.0" encoding="UTF-8" standalone="yes"?>
<Relationships xmlns="http://schemas.openxmlformats.org/package/2006/relationships"><Relationship Id="rId3" Type="http://schemas.openxmlformats.org/officeDocument/2006/relationships/tags" Target="../tags/tag327.xml"/><Relationship Id="rId7" Type="http://schemas.openxmlformats.org/officeDocument/2006/relationships/image" Target="../media/image37.png"/><Relationship Id="rId2" Type="http://schemas.openxmlformats.org/officeDocument/2006/relationships/tags" Target="../tags/tag326.xml"/><Relationship Id="rId1" Type="http://schemas.openxmlformats.org/officeDocument/2006/relationships/tags" Target="../tags/tag325.xml"/><Relationship Id="rId6" Type="http://schemas.openxmlformats.org/officeDocument/2006/relationships/notesSlide" Target="../notesSlides/notesSlide66.xml"/><Relationship Id="rId5" Type="http://schemas.openxmlformats.org/officeDocument/2006/relationships/slideLayout" Target="../slideLayouts/slideLayout3.xml"/><Relationship Id="rId4" Type="http://schemas.openxmlformats.org/officeDocument/2006/relationships/tags" Target="../tags/tag328.xml"/></Relationships>
</file>

<file path=ppt/slides/_rels/slide78.xml.rels><?xml version="1.0" encoding="UTF-8" standalone="yes"?>
<Relationships xmlns="http://schemas.openxmlformats.org/package/2006/relationships"><Relationship Id="rId8" Type="http://schemas.openxmlformats.org/officeDocument/2006/relationships/tags" Target="../tags/tag336.xml"/><Relationship Id="rId13" Type="http://schemas.openxmlformats.org/officeDocument/2006/relationships/slideLayout" Target="../slideLayouts/slideLayout3.xml"/><Relationship Id="rId3" Type="http://schemas.openxmlformats.org/officeDocument/2006/relationships/tags" Target="../tags/tag331.xml"/><Relationship Id="rId7" Type="http://schemas.openxmlformats.org/officeDocument/2006/relationships/tags" Target="../tags/tag335.xml"/><Relationship Id="rId12" Type="http://schemas.openxmlformats.org/officeDocument/2006/relationships/tags" Target="../tags/tag340.xml"/><Relationship Id="rId2" Type="http://schemas.openxmlformats.org/officeDocument/2006/relationships/tags" Target="../tags/tag330.xml"/><Relationship Id="rId1" Type="http://schemas.openxmlformats.org/officeDocument/2006/relationships/tags" Target="../tags/tag329.xml"/><Relationship Id="rId6" Type="http://schemas.openxmlformats.org/officeDocument/2006/relationships/tags" Target="../tags/tag334.xml"/><Relationship Id="rId11" Type="http://schemas.openxmlformats.org/officeDocument/2006/relationships/tags" Target="../tags/tag339.xml"/><Relationship Id="rId5" Type="http://schemas.openxmlformats.org/officeDocument/2006/relationships/tags" Target="../tags/tag333.xml"/><Relationship Id="rId10" Type="http://schemas.openxmlformats.org/officeDocument/2006/relationships/tags" Target="../tags/tag338.xml"/><Relationship Id="rId4" Type="http://schemas.openxmlformats.org/officeDocument/2006/relationships/tags" Target="../tags/tag332.xml"/><Relationship Id="rId9" Type="http://schemas.openxmlformats.org/officeDocument/2006/relationships/tags" Target="../tags/tag337.xml"/><Relationship Id="rId14"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8" Type="http://schemas.openxmlformats.org/officeDocument/2006/relationships/tags" Target="../tags/tag348.xml"/><Relationship Id="rId13" Type="http://schemas.openxmlformats.org/officeDocument/2006/relationships/slideLayout" Target="../slideLayouts/slideLayout3.xml"/><Relationship Id="rId3" Type="http://schemas.openxmlformats.org/officeDocument/2006/relationships/tags" Target="../tags/tag343.xml"/><Relationship Id="rId7" Type="http://schemas.openxmlformats.org/officeDocument/2006/relationships/tags" Target="../tags/tag347.xml"/><Relationship Id="rId12" Type="http://schemas.openxmlformats.org/officeDocument/2006/relationships/tags" Target="../tags/tag352.xml"/><Relationship Id="rId2" Type="http://schemas.openxmlformats.org/officeDocument/2006/relationships/tags" Target="../tags/tag342.xml"/><Relationship Id="rId1" Type="http://schemas.openxmlformats.org/officeDocument/2006/relationships/tags" Target="../tags/tag341.xml"/><Relationship Id="rId6" Type="http://schemas.openxmlformats.org/officeDocument/2006/relationships/tags" Target="../tags/tag346.xml"/><Relationship Id="rId11" Type="http://schemas.openxmlformats.org/officeDocument/2006/relationships/tags" Target="../tags/tag351.xml"/><Relationship Id="rId5" Type="http://schemas.openxmlformats.org/officeDocument/2006/relationships/tags" Target="../tags/tag345.xml"/><Relationship Id="rId10" Type="http://schemas.openxmlformats.org/officeDocument/2006/relationships/tags" Target="../tags/tag350.xml"/><Relationship Id="rId4" Type="http://schemas.openxmlformats.org/officeDocument/2006/relationships/tags" Target="../tags/tag344.xml"/><Relationship Id="rId9" Type="http://schemas.openxmlformats.org/officeDocument/2006/relationships/tags" Target="../tags/tag349.xml"/><Relationship Id="rId14"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8" Type="http://schemas.openxmlformats.org/officeDocument/2006/relationships/tags" Target="../tags/tag360.xml"/><Relationship Id="rId13" Type="http://schemas.openxmlformats.org/officeDocument/2006/relationships/slideLayout" Target="../slideLayouts/slideLayout3.xml"/><Relationship Id="rId3" Type="http://schemas.openxmlformats.org/officeDocument/2006/relationships/tags" Target="../tags/tag355.xml"/><Relationship Id="rId7" Type="http://schemas.openxmlformats.org/officeDocument/2006/relationships/tags" Target="../tags/tag359.xml"/><Relationship Id="rId12" Type="http://schemas.openxmlformats.org/officeDocument/2006/relationships/tags" Target="../tags/tag364.xml"/><Relationship Id="rId2" Type="http://schemas.openxmlformats.org/officeDocument/2006/relationships/tags" Target="../tags/tag354.xml"/><Relationship Id="rId1" Type="http://schemas.openxmlformats.org/officeDocument/2006/relationships/tags" Target="../tags/tag353.xml"/><Relationship Id="rId6" Type="http://schemas.openxmlformats.org/officeDocument/2006/relationships/tags" Target="../tags/tag358.xml"/><Relationship Id="rId11" Type="http://schemas.openxmlformats.org/officeDocument/2006/relationships/tags" Target="../tags/tag363.xml"/><Relationship Id="rId5" Type="http://schemas.openxmlformats.org/officeDocument/2006/relationships/tags" Target="../tags/tag357.xml"/><Relationship Id="rId10" Type="http://schemas.openxmlformats.org/officeDocument/2006/relationships/tags" Target="../tags/tag362.xml"/><Relationship Id="rId4" Type="http://schemas.openxmlformats.org/officeDocument/2006/relationships/tags" Target="../tags/tag356.xml"/><Relationship Id="rId9" Type="http://schemas.openxmlformats.org/officeDocument/2006/relationships/tags" Target="../tags/tag361.xml"/><Relationship Id="rId14"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366.xml"/><Relationship Id="rId1" Type="http://schemas.openxmlformats.org/officeDocument/2006/relationships/tags" Target="../tags/tag365.xml"/><Relationship Id="rId5" Type="http://schemas.openxmlformats.org/officeDocument/2006/relationships/image" Target="../media/image38.png"/><Relationship Id="rId4"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3" Type="http://schemas.openxmlformats.org/officeDocument/2006/relationships/notesSlide" Target="../notesSlides/notesSlide71.xml"/><Relationship Id="rId2" Type="http://schemas.openxmlformats.org/officeDocument/2006/relationships/slideLayout" Target="../slideLayouts/slideLayout3.xml"/><Relationship Id="rId1" Type="http://schemas.openxmlformats.org/officeDocument/2006/relationships/tags" Target="../tags/tag367.xml"/></Relationships>
</file>

<file path=ppt/slides/_rels/slide83.xml.rels><?xml version="1.0" encoding="UTF-8" standalone="yes"?>
<Relationships xmlns="http://schemas.openxmlformats.org/package/2006/relationships"><Relationship Id="rId8" Type="http://schemas.openxmlformats.org/officeDocument/2006/relationships/tags" Target="../tags/tag375.xml"/><Relationship Id="rId13" Type="http://schemas.openxmlformats.org/officeDocument/2006/relationships/tags" Target="../tags/tag380.xml"/><Relationship Id="rId18" Type="http://schemas.openxmlformats.org/officeDocument/2006/relationships/tags" Target="../tags/tag385.xml"/><Relationship Id="rId3" Type="http://schemas.openxmlformats.org/officeDocument/2006/relationships/tags" Target="../tags/tag370.xml"/><Relationship Id="rId21" Type="http://schemas.openxmlformats.org/officeDocument/2006/relationships/notesSlide" Target="../notesSlides/notesSlide72.xml"/><Relationship Id="rId7" Type="http://schemas.openxmlformats.org/officeDocument/2006/relationships/tags" Target="../tags/tag374.xml"/><Relationship Id="rId12" Type="http://schemas.openxmlformats.org/officeDocument/2006/relationships/tags" Target="../tags/tag379.xml"/><Relationship Id="rId17" Type="http://schemas.openxmlformats.org/officeDocument/2006/relationships/tags" Target="../tags/tag384.xml"/><Relationship Id="rId2" Type="http://schemas.openxmlformats.org/officeDocument/2006/relationships/tags" Target="../tags/tag369.xml"/><Relationship Id="rId16" Type="http://schemas.openxmlformats.org/officeDocument/2006/relationships/tags" Target="../tags/tag383.xml"/><Relationship Id="rId20" Type="http://schemas.openxmlformats.org/officeDocument/2006/relationships/slideLayout" Target="../slideLayouts/slideLayout3.xml"/><Relationship Id="rId1" Type="http://schemas.openxmlformats.org/officeDocument/2006/relationships/tags" Target="../tags/tag368.xml"/><Relationship Id="rId6" Type="http://schemas.openxmlformats.org/officeDocument/2006/relationships/tags" Target="../tags/tag373.xml"/><Relationship Id="rId11" Type="http://schemas.openxmlformats.org/officeDocument/2006/relationships/tags" Target="../tags/tag378.xml"/><Relationship Id="rId5" Type="http://schemas.openxmlformats.org/officeDocument/2006/relationships/tags" Target="../tags/tag372.xml"/><Relationship Id="rId15" Type="http://schemas.openxmlformats.org/officeDocument/2006/relationships/tags" Target="../tags/tag382.xml"/><Relationship Id="rId10" Type="http://schemas.openxmlformats.org/officeDocument/2006/relationships/tags" Target="../tags/tag377.xml"/><Relationship Id="rId19" Type="http://schemas.openxmlformats.org/officeDocument/2006/relationships/tags" Target="../tags/tag386.xml"/><Relationship Id="rId4" Type="http://schemas.openxmlformats.org/officeDocument/2006/relationships/tags" Target="../tags/tag371.xml"/><Relationship Id="rId9" Type="http://schemas.openxmlformats.org/officeDocument/2006/relationships/tags" Target="../tags/tag376.xml"/><Relationship Id="rId14" Type="http://schemas.openxmlformats.org/officeDocument/2006/relationships/tags" Target="../tags/tag381.xml"/></Relationships>
</file>

<file path=ppt/slides/_rels/slide84.xml.rels><?xml version="1.0" encoding="UTF-8" standalone="yes"?>
<Relationships xmlns="http://schemas.openxmlformats.org/package/2006/relationships"><Relationship Id="rId3" Type="http://schemas.openxmlformats.org/officeDocument/2006/relationships/tags" Target="../tags/tag389.xml"/><Relationship Id="rId2" Type="http://schemas.openxmlformats.org/officeDocument/2006/relationships/tags" Target="../tags/tag388.xml"/><Relationship Id="rId1" Type="http://schemas.openxmlformats.org/officeDocument/2006/relationships/tags" Target="../tags/tag387.xml"/><Relationship Id="rId6" Type="http://schemas.openxmlformats.org/officeDocument/2006/relationships/image" Target="../media/image39.png"/><Relationship Id="rId5" Type="http://schemas.openxmlformats.org/officeDocument/2006/relationships/notesSlide" Target="../notesSlides/notesSlide73.xml"/><Relationship Id="rId4"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3" Type="http://schemas.openxmlformats.org/officeDocument/2006/relationships/notesSlide" Target="../notesSlides/notesSlide74.xml"/><Relationship Id="rId2" Type="http://schemas.openxmlformats.org/officeDocument/2006/relationships/slideLayout" Target="../slideLayouts/slideLayout3.xml"/><Relationship Id="rId1" Type="http://schemas.openxmlformats.org/officeDocument/2006/relationships/tags" Target="../tags/tag390.xml"/><Relationship Id="rId4" Type="http://schemas.openxmlformats.org/officeDocument/2006/relationships/image" Target="../media/image40.png"/></Relationships>
</file>

<file path=ppt/slides/_rels/slide86.xml.rels><?xml version="1.0" encoding="UTF-8" standalone="yes"?>
<Relationships xmlns="http://schemas.openxmlformats.org/package/2006/relationships"><Relationship Id="rId8" Type="http://schemas.openxmlformats.org/officeDocument/2006/relationships/tags" Target="../tags/tag398.xml"/><Relationship Id="rId13" Type="http://schemas.openxmlformats.org/officeDocument/2006/relationships/tags" Target="../tags/tag403.xml"/><Relationship Id="rId18" Type="http://schemas.openxmlformats.org/officeDocument/2006/relationships/tags" Target="../tags/tag408.xml"/><Relationship Id="rId3" Type="http://schemas.openxmlformats.org/officeDocument/2006/relationships/tags" Target="../tags/tag393.xml"/><Relationship Id="rId21" Type="http://schemas.openxmlformats.org/officeDocument/2006/relationships/notesSlide" Target="../notesSlides/notesSlide75.xml"/><Relationship Id="rId7" Type="http://schemas.openxmlformats.org/officeDocument/2006/relationships/tags" Target="../tags/tag397.xml"/><Relationship Id="rId12" Type="http://schemas.openxmlformats.org/officeDocument/2006/relationships/tags" Target="../tags/tag402.xml"/><Relationship Id="rId17" Type="http://schemas.openxmlformats.org/officeDocument/2006/relationships/tags" Target="../tags/tag407.xml"/><Relationship Id="rId2" Type="http://schemas.openxmlformats.org/officeDocument/2006/relationships/tags" Target="../tags/tag392.xml"/><Relationship Id="rId16" Type="http://schemas.openxmlformats.org/officeDocument/2006/relationships/tags" Target="../tags/tag406.xml"/><Relationship Id="rId20" Type="http://schemas.openxmlformats.org/officeDocument/2006/relationships/slideLayout" Target="../slideLayouts/slideLayout3.xml"/><Relationship Id="rId1" Type="http://schemas.openxmlformats.org/officeDocument/2006/relationships/tags" Target="../tags/tag391.xml"/><Relationship Id="rId6" Type="http://schemas.openxmlformats.org/officeDocument/2006/relationships/tags" Target="../tags/tag396.xml"/><Relationship Id="rId11" Type="http://schemas.openxmlformats.org/officeDocument/2006/relationships/tags" Target="../tags/tag401.xml"/><Relationship Id="rId5" Type="http://schemas.openxmlformats.org/officeDocument/2006/relationships/tags" Target="../tags/tag395.xml"/><Relationship Id="rId15" Type="http://schemas.openxmlformats.org/officeDocument/2006/relationships/tags" Target="../tags/tag405.xml"/><Relationship Id="rId10" Type="http://schemas.openxmlformats.org/officeDocument/2006/relationships/tags" Target="../tags/tag400.xml"/><Relationship Id="rId19" Type="http://schemas.openxmlformats.org/officeDocument/2006/relationships/tags" Target="../tags/tag409.xml"/><Relationship Id="rId4" Type="http://schemas.openxmlformats.org/officeDocument/2006/relationships/tags" Target="../tags/tag394.xml"/><Relationship Id="rId9" Type="http://schemas.openxmlformats.org/officeDocument/2006/relationships/tags" Target="../tags/tag399.xml"/><Relationship Id="rId14" Type="http://schemas.openxmlformats.org/officeDocument/2006/relationships/tags" Target="../tags/tag404.xml"/></Relationships>
</file>

<file path=ppt/slides/_rels/slide87.xml.rels><?xml version="1.0" encoding="UTF-8" standalone="yes"?>
<Relationships xmlns="http://schemas.openxmlformats.org/package/2006/relationships"><Relationship Id="rId8" Type="http://schemas.openxmlformats.org/officeDocument/2006/relationships/tags" Target="../tags/tag417.xml"/><Relationship Id="rId3" Type="http://schemas.openxmlformats.org/officeDocument/2006/relationships/tags" Target="../tags/tag412.xml"/><Relationship Id="rId7" Type="http://schemas.openxmlformats.org/officeDocument/2006/relationships/tags" Target="../tags/tag416.xml"/><Relationship Id="rId2" Type="http://schemas.openxmlformats.org/officeDocument/2006/relationships/tags" Target="../tags/tag411.xml"/><Relationship Id="rId1" Type="http://schemas.openxmlformats.org/officeDocument/2006/relationships/tags" Target="../tags/tag410.xml"/><Relationship Id="rId6" Type="http://schemas.openxmlformats.org/officeDocument/2006/relationships/tags" Target="../tags/tag415.xml"/><Relationship Id="rId5" Type="http://schemas.openxmlformats.org/officeDocument/2006/relationships/tags" Target="../tags/tag414.xml"/><Relationship Id="rId10" Type="http://schemas.openxmlformats.org/officeDocument/2006/relationships/notesSlide" Target="../notesSlides/notesSlide76.xml"/><Relationship Id="rId4" Type="http://schemas.openxmlformats.org/officeDocument/2006/relationships/tags" Target="../tags/tag413.xml"/><Relationship Id="rId9"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8" Type="http://schemas.openxmlformats.org/officeDocument/2006/relationships/tags" Target="../tags/tag425.xml"/><Relationship Id="rId3" Type="http://schemas.openxmlformats.org/officeDocument/2006/relationships/tags" Target="../tags/tag420.xml"/><Relationship Id="rId7" Type="http://schemas.openxmlformats.org/officeDocument/2006/relationships/tags" Target="../tags/tag424.xml"/><Relationship Id="rId2" Type="http://schemas.openxmlformats.org/officeDocument/2006/relationships/tags" Target="../tags/tag419.xml"/><Relationship Id="rId1" Type="http://schemas.openxmlformats.org/officeDocument/2006/relationships/tags" Target="../tags/tag418.xml"/><Relationship Id="rId6" Type="http://schemas.openxmlformats.org/officeDocument/2006/relationships/tags" Target="../tags/tag423.xml"/><Relationship Id="rId5" Type="http://schemas.openxmlformats.org/officeDocument/2006/relationships/tags" Target="../tags/tag422.xml"/><Relationship Id="rId10" Type="http://schemas.openxmlformats.org/officeDocument/2006/relationships/notesSlide" Target="../notesSlides/notesSlide77.xml"/><Relationship Id="rId4" Type="http://schemas.openxmlformats.org/officeDocument/2006/relationships/tags" Target="../tags/tag421.xml"/><Relationship Id="rId9"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426.xml"/></Relationships>
</file>

<file path=ppt/slides/_rels/slide90.xml.rels><?xml version="1.0" encoding="UTF-8" standalone="yes"?>
<Relationships xmlns="http://schemas.openxmlformats.org/package/2006/relationships"><Relationship Id="rId3" Type="http://schemas.openxmlformats.org/officeDocument/2006/relationships/tags" Target="../tags/tag429.xml"/><Relationship Id="rId7" Type="http://schemas.openxmlformats.org/officeDocument/2006/relationships/image" Target="../media/image41.jpeg"/><Relationship Id="rId2" Type="http://schemas.openxmlformats.org/officeDocument/2006/relationships/tags" Target="../tags/tag428.xml"/><Relationship Id="rId1" Type="http://schemas.openxmlformats.org/officeDocument/2006/relationships/tags" Target="../tags/tag427.xml"/><Relationship Id="rId6" Type="http://schemas.openxmlformats.org/officeDocument/2006/relationships/notesSlide" Target="../notesSlides/notesSlide78.xml"/><Relationship Id="rId5" Type="http://schemas.openxmlformats.org/officeDocument/2006/relationships/slideLayout" Target="../slideLayouts/slideLayout2.xml"/><Relationship Id="rId4" Type="http://schemas.openxmlformats.org/officeDocument/2006/relationships/tags" Target="../tags/tag430.xml"/></Relationships>
</file>

<file path=ppt/slides/_rels/slide91.xml.rels><?xml version="1.0" encoding="UTF-8" standalone="yes"?>
<Relationships xmlns="http://schemas.openxmlformats.org/package/2006/relationships"><Relationship Id="rId3" Type="http://schemas.openxmlformats.org/officeDocument/2006/relationships/notesSlide" Target="../notesSlides/notesSlide79.xml"/><Relationship Id="rId2" Type="http://schemas.openxmlformats.org/officeDocument/2006/relationships/slideLayout" Target="../slideLayouts/slideLayout3.xml"/><Relationship Id="rId1" Type="http://schemas.openxmlformats.org/officeDocument/2006/relationships/tags" Target="../tags/tag431.xml"/></Relationships>
</file>

<file path=ppt/slides/_rels/slide92.xml.rels><?xml version="1.0" encoding="UTF-8" standalone="yes"?>
<Relationships xmlns="http://schemas.openxmlformats.org/package/2006/relationships"><Relationship Id="rId3" Type="http://schemas.openxmlformats.org/officeDocument/2006/relationships/notesSlide" Target="../notesSlides/notesSlide80.xml"/><Relationship Id="rId2" Type="http://schemas.openxmlformats.org/officeDocument/2006/relationships/slideLayout" Target="../slideLayouts/slideLayout3.xml"/><Relationship Id="rId1" Type="http://schemas.openxmlformats.org/officeDocument/2006/relationships/tags" Target="../tags/tag432.xml"/></Relationships>
</file>

<file path=ppt/slides/_rels/slide93.xml.rels><?xml version="1.0" encoding="UTF-8" standalone="yes"?>
<Relationships xmlns="http://schemas.openxmlformats.org/package/2006/relationships"><Relationship Id="rId3" Type="http://schemas.openxmlformats.org/officeDocument/2006/relationships/notesSlide" Target="../notesSlides/notesSlide81.xml"/><Relationship Id="rId2" Type="http://schemas.openxmlformats.org/officeDocument/2006/relationships/slideLayout" Target="../slideLayouts/slideLayout3.xml"/><Relationship Id="rId1" Type="http://schemas.openxmlformats.org/officeDocument/2006/relationships/tags" Target="../tags/tag433.xml"/></Relationships>
</file>

<file path=ppt/slides/_rels/slide94.xml.rels><?xml version="1.0" encoding="UTF-8" standalone="yes"?>
<Relationships xmlns="http://schemas.openxmlformats.org/package/2006/relationships"><Relationship Id="rId3" Type="http://schemas.openxmlformats.org/officeDocument/2006/relationships/notesSlide" Target="../notesSlides/notesSlide82.xml"/><Relationship Id="rId2" Type="http://schemas.openxmlformats.org/officeDocument/2006/relationships/slideLayout" Target="../slideLayouts/slideLayout3.xml"/><Relationship Id="rId1" Type="http://schemas.openxmlformats.org/officeDocument/2006/relationships/tags" Target="../tags/tag434.xml"/></Relationships>
</file>

<file path=ppt/slides/_rels/slide95.xml.rels><?xml version="1.0" encoding="UTF-8" standalone="yes"?>
<Relationships xmlns="http://schemas.openxmlformats.org/package/2006/relationships"><Relationship Id="rId3" Type="http://schemas.openxmlformats.org/officeDocument/2006/relationships/notesSlide" Target="../notesSlides/notesSlide83.xml"/><Relationship Id="rId2" Type="http://schemas.openxmlformats.org/officeDocument/2006/relationships/slideLayout" Target="../slideLayouts/slideLayout3.xml"/><Relationship Id="rId1" Type="http://schemas.openxmlformats.org/officeDocument/2006/relationships/tags" Target="../tags/tag435.xml"/><Relationship Id="rId4" Type="http://schemas.openxmlformats.org/officeDocument/2006/relationships/image" Target="../media/image42.jpeg"/></Relationships>
</file>

<file path=ppt/slides/_rels/slide9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437.xml"/><Relationship Id="rId1" Type="http://schemas.openxmlformats.org/officeDocument/2006/relationships/tags" Target="../tags/tag436.xml"/><Relationship Id="rId5" Type="http://schemas.openxmlformats.org/officeDocument/2006/relationships/image" Target="../media/image43.png"/><Relationship Id="rId4" Type="http://schemas.openxmlformats.org/officeDocument/2006/relationships/notesSlide" Target="../notesSlides/notesSlide84.xml"/></Relationships>
</file>

<file path=ppt/slides/_rels/slide97.xml.rels><?xml version="1.0" encoding="UTF-8" standalone="yes"?>
<Relationships xmlns="http://schemas.openxmlformats.org/package/2006/relationships"><Relationship Id="rId8" Type="http://schemas.openxmlformats.org/officeDocument/2006/relationships/tags" Target="../tags/tag445.xml"/><Relationship Id="rId13" Type="http://schemas.openxmlformats.org/officeDocument/2006/relationships/slideLayout" Target="../slideLayouts/slideLayout3.xml"/><Relationship Id="rId3" Type="http://schemas.openxmlformats.org/officeDocument/2006/relationships/tags" Target="../tags/tag440.xml"/><Relationship Id="rId7" Type="http://schemas.openxmlformats.org/officeDocument/2006/relationships/tags" Target="../tags/tag444.xml"/><Relationship Id="rId12" Type="http://schemas.openxmlformats.org/officeDocument/2006/relationships/tags" Target="../tags/tag449.xml"/><Relationship Id="rId2" Type="http://schemas.openxmlformats.org/officeDocument/2006/relationships/tags" Target="../tags/tag439.xml"/><Relationship Id="rId1" Type="http://schemas.openxmlformats.org/officeDocument/2006/relationships/tags" Target="../tags/tag438.xml"/><Relationship Id="rId6" Type="http://schemas.openxmlformats.org/officeDocument/2006/relationships/tags" Target="../tags/tag443.xml"/><Relationship Id="rId11" Type="http://schemas.openxmlformats.org/officeDocument/2006/relationships/tags" Target="../tags/tag448.xml"/><Relationship Id="rId5" Type="http://schemas.openxmlformats.org/officeDocument/2006/relationships/tags" Target="../tags/tag442.xml"/><Relationship Id="rId10" Type="http://schemas.openxmlformats.org/officeDocument/2006/relationships/tags" Target="../tags/tag447.xml"/><Relationship Id="rId4" Type="http://schemas.openxmlformats.org/officeDocument/2006/relationships/tags" Target="../tags/tag441.xml"/><Relationship Id="rId9" Type="http://schemas.openxmlformats.org/officeDocument/2006/relationships/tags" Target="../tags/tag446.xml"/><Relationship Id="rId14" Type="http://schemas.openxmlformats.org/officeDocument/2006/relationships/notesSlide" Target="../notesSlides/notesSlide85.xml"/></Relationships>
</file>

<file path=ppt/slides/_rels/slide98.xml.rels><?xml version="1.0" encoding="UTF-8" standalone="yes"?>
<Relationships xmlns="http://schemas.openxmlformats.org/package/2006/relationships"><Relationship Id="rId8" Type="http://schemas.openxmlformats.org/officeDocument/2006/relationships/tags" Target="../tags/tag457.xml"/><Relationship Id="rId13" Type="http://schemas.openxmlformats.org/officeDocument/2006/relationships/slideLayout" Target="../slideLayouts/slideLayout3.xml"/><Relationship Id="rId3" Type="http://schemas.openxmlformats.org/officeDocument/2006/relationships/tags" Target="../tags/tag452.xml"/><Relationship Id="rId7" Type="http://schemas.openxmlformats.org/officeDocument/2006/relationships/tags" Target="../tags/tag456.xml"/><Relationship Id="rId12" Type="http://schemas.openxmlformats.org/officeDocument/2006/relationships/tags" Target="../tags/tag461.xml"/><Relationship Id="rId2" Type="http://schemas.openxmlformats.org/officeDocument/2006/relationships/tags" Target="../tags/tag451.xml"/><Relationship Id="rId1" Type="http://schemas.openxmlformats.org/officeDocument/2006/relationships/tags" Target="../tags/tag450.xml"/><Relationship Id="rId6" Type="http://schemas.openxmlformats.org/officeDocument/2006/relationships/tags" Target="../tags/tag455.xml"/><Relationship Id="rId11" Type="http://schemas.openxmlformats.org/officeDocument/2006/relationships/tags" Target="../tags/tag460.xml"/><Relationship Id="rId5" Type="http://schemas.openxmlformats.org/officeDocument/2006/relationships/tags" Target="../tags/tag454.xml"/><Relationship Id="rId10" Type="http://schemas.openxmlformats.org/officeDocument/2006/relationships/tags" Target="../tags/tag459.xml"/><Relationship Id="rId4" Type="http://schemas.openxmlformats.org/officeDocument/2006/relationships/tags" Target="../tags/tag453.xml"/><Relationship Id="rId9" Type="http://schemas.openxmlformats.org/officeDocument/2006/relationships/tags" Target="../tags/tag458.xml"/><Relationship Id="rId14" Type="http://schemas.openxmlformats.org/officeDocument/2006/relationships/notesSlide" Target="../notesSlides/notesSlide86.xml"/></Relationships>
</file>

<file path=ppt/slides/_rels/slide99.xml.rels><?xml version="1.0" encoding="UTF-8" standalone="yes"?>
<Relationships xmlns="http://schemas.openxmlformats.org/package/2006/relationships"><Relationship Id="rId8" Type="http://schemas.openxmlformats.org/officeDocument/2006/relationships/tags" Target="../tags/tag469.xml"/><Relationship Id="rId13" Type="http://schemas.openxmlformats.org/officeDocument/2006/relationships/slideLayout" Target="../slideLayouts/slideLayout3.xml"/><Relationship Id="rId3" Type="http://schemas.openxmlformats.org/officeDocument/2006/relationships/tags" Target="../tags/tag464.xml"/><Relationship Id="rId7" Type="http://schemas.openxmlformats.org/officeDocument/2006/relationships/tags" Target="../tags/tag468.xml"/><Relationship Id="rId12" Type="http://schemas.openxmlformats.org/officeDocument/2006/relationships/tags" Target="../tags/tag473.xml"/><Relationship Id="rId2" Type="http://schemas.openxmlformats.org/officeDocument/2006/relationships/tags" Target="../tags/tag463.xml"/><Relationship Id="rId1" Type="http://schemas.openxmlformats.org/officeDocument/2006/relationships/tags" Target="../tags/tag462.xml"/><Relationship Id="rId6" Type="http://schemas.openxmlformats.org/officeDocument/2006/relationships/tags" Target="../tags/tag467.xml"/><Relationship Id="rId11" Type="http://schemas.openxmlformats.org/officeDocument/2006/relationships/tags" Target="../tags/tag472.xml"/><Relationship Id="rId5" Type="http://schemas.openxmlformats.org/officeDocument/2006/relationships/tags" Target="../tags/tag466.xml"/><Relationship Id="rId10" Type="http://schemas.openxmlformats.org/officeDocument/2006/relationships/tags" Target="../tags/tag471.xml"/><Relationship Id="rId4" Type="http://schemas.openxmlformats.org/officeDocument/2006/relationships/tags" Target="../tags/tag465.xml"/><Relationship Id="rId9" Type="http://schemas.openxmlformats.org/officeDocument/2006/relationships/tags" Target="../tags/tag470.xml"/><Relationship Id="rId14" Type="http://schemas.openxmlformats.org/officeDocument/2006/relationships/notesSlide" Target="../notesSlides/notesSlide87.xml"/></Relationships>
</file>

<file path=ppt/slides/_rels/slide100.xml.rels><?xml version="1.0" encoding="UTF-8" standalone="yes"?>
<Relationships xmlns="http://schemas.openxmlformats.org/package/2006/relationships"><Relationship Id="rId8" Type="http://schemas.openxmlformats.org/officeDocument/2006/relationships/tags" Target="../tags/tag481.xml"/><Relationship Id="rId13" Type="http://schemas.openxmlformats.org/officeDocument/2006/relationships/slideLayout" Target="../slideLayouts/slideLayout3.xml"/><Relationship Id="rId3" Type="http://schemas.openxmlformats.org/officeDocument/2006/relationships/tags" Target="../tags/tag476.xml"/><Relationship Id="rId7" Type="http://schemas.openxmlformats.org/officeDocument/2006/relationships/tags" Target="../tags/tag480.xml"/><Relationship Id="rId12" Type="http://schemas.openxmlformats.org/officeDocument/2006/relationships/tags" Target="../tags/tag485.xml"/><Relationship Id="rId2" Type="http://schemas.openxmlformats.org/officeDocument/2006/relationships/tags" Target="../tags/tag475.xml"/><Relationship Id="rId1" Type="http://schemas.openxmlformats.org/officeDocument/2006/relationships/tags" Target="../tags/tag474.xml"/><Relationship Id="rId6" Type="http://schemas.openxmlformats.org/officeDocument/2006/relationships/tags" Target="../tags/tag479.xml"/><Relationship Id="rId11" Type="http://schemas.openxmlformats.org/officeDocument/2006/relationships/tags" Target="../tags/tag484.xml"/><Relationship Id="rId5" Type="http://schemas.openxmlformats.org/officeDocument/2006/relationships/tags" Target="../tags/tag478.xml"/><Relationship Id="rId10" Type="http://schemas.openxmlformats.org/officeDocument/2006/relationships/tags" Target="../tags/tag483.xml"/><Relationship Id="rId4" Type="http://schemas.openxmlformats.org/officeDocument/2006/relationships/tags" Target="../tags/tag477.xml"/><Relationship Id="rId9" Type="http://schemas.openxmlformats.org/officeDocument/2006/relationships/tags" Target="../tags/tag482.xml"/><Relationship Id="rId14" Type="http://schemas.openxmlformats.org/officeDocument/2006/relationships/notesSlide" Target="../notesSlides/notesSlide88.xml"/></Relationships>
</file>

<file path=ppt/slides/_rels/slide101.xml.rels><?xml version="1.0" encoding="UTF-8" standalone="yes"?>
<Relationships xmlns="http://schemas.openxmlformats.org/package/2006/relationships"><Relationship Id="rId8" Type="http://schemas.openxmlformats.org/officeDocument/2006/relationships/tags" Target="../tags/tag493.xml"/><Relationship Id="rId13" Type="http://schemas.openxmlformats.org/officeDocument/2006/relationships/slideLayout" Target="../slideLayouts/slideLayout3.xml"/><Relationship Id="rId3" Type="http://schemas.openxmlformats.org/officeDocument/2006/relationships/tags" Target="../tags/tag488.xml"/><Relationship Id="rId7" Type="http://schemas.openxmlformats.org/officeDocument/2006/relationships/tags" Target="../tags/tag492.xml"/><Relationship Id="rId12" Type="http://schemas.openxmlformats.org/officeDocument/2006/relationships/tags" Target="../tags/tag497.xml"/><Relationship Id="rId2" Type="http://schemas.openxmlformats.org/officeDocument/2006/relationships/tags" Target="../tags/tag487.xml"/><Relationship Id="rId1" Type="http://schemas.openxmlformats.org/officeDocument/2006/relationships/tags" Target="../tags/tag486.xml"/><Relationship Id="rId6" Type="http://schemas.openxmlformats.org/officeDocument/2006/relationships/tags" Target="../tags/tag491.xml"/><Relationship Id="rId11" Type="http://schemas.openxmlformats.org/officeDocument/2006/relationships/tags" Target="../tags/tag496.xml"/><Relationship Id="rId5" Type="http://schemas.openxmlformats.org/officeDocument/2006/relationships/tags" Target="../tags/tag490.xml"/><Relationship Id="rId10" Type="http://schemas.openxmlformats.org/officeDocument/2006/relationships/tags" Target="../tags/tag495.xml"/><Relationship Id="rId4" Type="http://schemas.openxmlformats.org/officeDocument/2006/relationships/tags" Target="../tags/tag489.xml"/><Relationship Id="rId9" Type="http://schemas.openxmlformats.org/officeDocument/2006/relationships/tags" Target="../tags/tag494.xml"/><Relationship Id="rId14" Type="http://schemas.openxmlformats.org/officeDocument/2006/relationships/notesSlide" Target="../notesSlides/notesSlide89.xml"/></Relationships>
</file>

<file path=ppt/slides/_rels/slide10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499.xml"/><Relationship Id="rId1" Type="http://schemas.openxmlformats.org/officeDocument/2006/relationships/tags" Target="../tags/tag498.xml"/><Relationship Id="rId5" Type="http://schemas.openxmlformats.org/officeDocument/2006/relationships/image" Target="../media/image44.png"/><Relationship Id="rId4" Type="http://schemas.openxmlformats.org/officeDocument/2006/relationships/notesSlide" Target="../notesSlides/notesSlide90.xml"/></Relationships>
</file>

<file path=ppt/slides/_rels/slide103.xml.rels><?xml version="1.0" encoding="UTF-8" standalone="yes"?>
<Relationships xmlns="http://schemas.openxmlformats.org/package/2006/relationships"><Relationship Id="rId3" Type="http://schemas.openxmlformats.org/officeDocument/2006/relationships/notesSlide" Target="../notesSlides/notesSlide91.xml"/><Relationship Id="rId2" Type="http://schemas.openxmlformats.org/officeDocument/2006/relationships/slideLayout" Target="../slideLayouts/slideLayout3.xml"/><Relationship Id="rId1" Type="http://schemas.openxmlformats.org/officeDocument/2006/relationships/tags" Target="../tags/tag500.xml"/><Relationship Id="rId4" Type="http://schemas.openxmlformats.org/officeDocument/2006/relationships/image" Target="../media/image45.jpeg"/></Relationships>
</file>

<file path=ppt/slides/_rels/slide104.xml.rels><?xml version="1.0" encoding="UTF-8" standalone="yes"?>
<Relationships xmlns="http://schemas.openxmlformats.org/package/2006/relationships"><Relationship Id="rId8" Type="http://schemas.openxmlformats.org/officeDocument/2006/relationships/tags" Target="../tags/tag508.xml"/><Relationship Id="rId13" Type="http://schemas.openxmlformats.org/officeDocument/2006/relationships/tags" Target="../tags/tag513.xml"/><Relationship Id="rId18" Type="http://schemas.openxmlformats.org/officeDocument/2006/relationships/notesSlide" Target="../notesSlides/notesSlide92.xml"/><Relationship Id="rId3" Type="http://schemas.openxmlformats.org/officeDocument/2006/relationships/tags" Target="../tags/tag503.xml"/><Relationship Id="rId7" Type="http://schemas.openxmlformats.org/officeDocument/2006/relationships/tags" Target="../tags/tag507.xml"/><Relationship Id="rId12" Type="http://schemas.openxmlformats.org/officeDocument/2006/relationships/tags" Target="../tags/tag512.xml"/><Relationship Id="rId17" Type="http://schemas.openxmlformats.org/officeDocument/2006/relationships/slideLayout" Target="../slideLayouts/slideLayout3.xml"/><Relationship Id="rId2" Type="http://schemas.openxmlformats.org/officeDocument/2006/relationships/tags" Target="../tags/tag502.xml"/><Relationship Id="rId16" Type="http://schemas.openxmlformats.org/officeDocument/2006/relationships/tags" Target="../tags/tag516.xml"/><Relationship Id="rId1" Type="http://schemas.openxmlformats.org/officeDocument/2006/relationships/tags" Target="../tags/tag501.xml"/><Relationship Id="rId6" Type="http://schemas.openxmlformats.org/officeDocument/2006/relationships/tags" Target="../tags/tag506.xml"/><Relationship Id="rId11" Type="http://schemas.openxmlformats.org/officeDocument/2006/relationships/tags" Target="../tags/tag511.xml"/><Relationship Id="rId5" Type="http://schemas.openxmlformats.org/officeDocument/2006/relationships/tags" Target="../tags/tag505.xml"/><Relationship Id="rId15" Type="http://schemas.openxmlformats.org/officeDocument/2006/relationships/tags" Target="../tags/tag515.xml"/><Relationship Id="rId10" Type="http://schemas.openxmlformats.org/officeDocument/2006/relationships/tags" Target="../tags/tag510.xml"/><Relationship Id="rId4" Type="http://schemas.openxmlformats.org/officeDocument/2006/relationships/tags" Target="../tags/tag504.xml"/><Relationship Id="rId9" Type="http://schemas.openxmlformats.org/officeDocument/2006/relationships/tags" Target="../tags/tag509.xml"/><Relationship Id="rId14" Type="http://schemas.openxmlformats.org/officeDocument/2006/relationships/tags" Target="../tags/tag514.xml"/></Relationships>
</file>

<file path=ppt/slides/_rels/slide105.xml.rels><?xml version="1.0" encoding="UTF-8" standalone="yes"?>
<Relationships xmlns="http://schemas.openxmlformats.org/package/2006/relationships"><Relationship Id="rId8" Type="http://schemas.openxmlformats.org/officeDocument/2006/relationships/tags" Target="../tags/tag524.xml"/><Relationship Id="rId13" Type="http://schemas.openxmlformats.org/officeDocument/2006/relationships/tags" Target="../tags/tag529.xml"/><Relationship Id="rId3" Type="http://schemas.openxmlformats.org/officeDocument/2006/relationships/tags" Target="../tags/tag519.xml"/><Relationship Id="rId7" Type="http://schemas.openxmlformats.org/officeDocument/2006/relationships/tags" Target="../tags/tag523.xml"/><Relationship Id="rId12" Type="http://schemas.openxmlformats.org/officeDocument/2006/relationships/tags" Target="../tags/tag528.xml"/><Relationship Id="rId17" Type="http://schemas.openxmlformats.org/officeDocument/2006/relationships/notesSlide" Target="../notesSlides/notesSlide93.xml"/><Relationship Id="rId2" Type="http://schemas.openxmlformats.org/officeDocument/2006/relationships/tags" Target="../tags/tag518.xml"/><Relationship Id="rId16" Type="http://schemas.openxmlformats.org/officeDocument/2006/relationships/slideLayout" Target="../slideLayouts/slideLayout3.xml"/><Relationship Id="rId1" Type="http://schemas.openxmlformats.org/officeDocument/2006/relationships/tags" Target="../tags/tag517.xml"/><Relationship Id="rId6" Type="http://schemas.openxmlformats.org/officeDocument/2006/relationships/tags" Target="../tags/tag522.xml"/><Relationship Id="rId11" Type="http://schemas.openxmlformats.org/officeDocument/2006/relationships/tags" Target="../tags/tag527.xml"/><Relationship Id="rId5" Type="http://schemas.openxmlformats.org/officeDocument/2006/relationships/tags" Target="../tags/tag521.xml"/><Relationship Id="rId15" Type="http://schemas.openxmlformats.org/officeDocument/2006/relationships/tags" Target="../tags/tag531.xml"/><Relationship Id="rId10" Type="http://schemas.openxmlformats.org/officeDocument/2006/relationships/tags" Target="../tags/tag526.xml"/><Relationship Id="rId4" Type="http://schemas.openxmlformats.org/officeDocument/2006/relationships/tags" Target="../tags/tag520.xml"/><Relationship Id="rId9" Type="http://schemas.openxmlformats.org/officeDocument/2006/relationships/tags" Target="../tags/tag525.xml"/><Relationship Id="rId14" Type="http://schemas.openxmlformats.org/officeDocument/2006/relationships/tags" Target="../tags/tag530.xml"/></Relationships>
</file>

<file path=ppt/slides/_rels/slide106.xml.rels><?xml version="1.0" encoding="UTF-8" standalone="yes"?>
<Relationships xmlns="http://schemas.openxmlformats.org/package/2006/relationships"><Relationship Id="rId8" Type="http://schemas.openxmlformats.org/officeDocument/2006/relationships/tags" Target="../tags/tag539.xml"/><Relationship Id="rId3" Type="http://schemas.openxmlformats.org/officeDocument/2006/relationships/tags" Target="../tags/tag534.xml"/><Relationship Id="rId7" Type="http://schemas.openxmlformats.org/officeDocument/2006/relationships/tags" Target="../tags/tag538.xml"/><Relationship Id="rId2" Type="http://schemas.openxmlformats.org/officeDocument/2006/relationships/tags" Target="../tags/tag533.xml"/><Relationship Id="rId1" Type="http://schemas.openxmlformats.org/officeDocument/2006/relationships/tags" Target="../tags/tag532.xml"/><Relationship Id="rId6" Type="http://schemas.openxmlformats.org/officeDocument/2006/relationships/tags" Target="../tags/tag537.xml"/><Relationship Id="rId11" Type="http://schemas.openxmlformats.org/officeDocument/2006/relationships/image" Target="../media/image46.png"/><Relationship Id="rId5" Type="http://schemas.openxmlformats.org/officeDocument/2006/relationships/tags" Target="../tags/tag536.xml"/><Relationship Id="rId10" Type="http://schemas.openxmlformats.org/officeDocument/2006/relationships/notesSlide" Target="../notesSlides/notesSlide94.xml"/><Relationship Id="rId4" Type="http://schemas.openxmlformats.org/officeDocument/2006/relationships/tags" Target="../tags/tag535.xml"/><Relationship Id="rId9"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3" Type="http://schemas.openxmlformats.org/officeDocument/2006/relationships/notesSlide" Target="../notesSlides/notesSlide95.xml"/><Relationship Id="rId2" Type="http://schemas.openxmlformats.org/officeDocument/2006/relationships/slideLayout" Target="../slideLayouts/slideLayout3.xml"/><Relationship Id="rId1" Type="http://schemas.openxmlformats.org/officeDocument/2006/relationships/tags" Target="../tags/tag540.xml"/><Relationship Id="rId4" Type="http://schemas.openxmlformats.org/officeDocument/2006/relationships/image" Target="../media/image47.jpeg"/></Relationships>
</file>

<file path=ppt/slides/_rels/slide108.xml.rels><?xml version="1.0" encoding="UTF-8" standalone="yes"?>
<Relationships xmlns="http://schemas.openxmlformats.org/package/2006/relationships"><Relationship Id="rId3" Type="http://schemas.openxmlformats.org/officeDocument/2006/relationships/notesSlide" Target="../notesSlides/notesSlide96.xml"/><Relationship Id="rId2" Type="http://schemas.openxmlformats.org/officeDocument/2006/relationships/slideLayout" Target="../slideLayouts/slideLayout3.xml"/><Relationship Id="rId1" Type="http://schemas.openxmlformats.org/officeDocument/2006/relationships/tags" Target="../tags/tag541.xml"/></Relationships>
</file>

<file path=ppt/slides/_rels/slide109.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3.xml"/><Relationship Id="rId1" Type="http://schemas.openxmlformats.org/officeDocument/2006/relationships/tags" Target="../tags/tag542.xml"/></Relationships>
</file>

<file path=ppt/slides/_rels/slide110.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3" Type="http://schemas.openxmlformats.org/officeDocument/2006/relationships/notesSlide" Target="../notesSlides/notesSlide98.xml"/><Relationship Id="rId2" Type="http://schemas.openxmlformats.org/officeDocument/2006/relationships/slideLayout" Target="../slideLayouts/slideLayout3.xml"/><Relationship Id="rId1" Type="http://schemas.openxmlformats.org/officeDocument/2006/relationships/tags" Target="../tags/tag543.xml"/><Relationship Id="rId4" Type="http://schemas.openxmlformats.org/officeDocument/2006/relationships/image" Target="../media/image49.png"/></Relationships>
</file>

<file path=ppt/slides/_rels/slide112.xml.rels><?xml version="1.0" encoding="UTF-8" standalone="yes"?>
<Relationships xmlns="http://schemas.openxmlformats.org/package/2006/relationships"><Relationship Id="rId3" Type="http://schemas.openxmlformats.org/officeDocument/2006/relationships/notesSlide" Target="../notesSlides/notesSlide99.xml"/><Relationship Id="rId2" Type="http://schemas.openxmlformats.org/officeDocument/2006/relationships/slideLayout" Target="../slideLayouts/slideLayout3.xml"/><Relationship Id="rId1" Type="http://schemas.openxmlformats.org/officeDocument/2006/relationships/tags" Target="../tags/tag544.xml"/></Relationships>
</file>

<file path=ppt/slides/_rels/slide113.xml.rels><?xml version="1.0" encoding="UTF-8" standalone="yes"?>
<Relationships xmlns="http://schemas.openxmlformats.org/package/2006/relationships"><Relationship Id="rId3" Type="http://schemas.openxmlformats.org/officeDocument/2006/relationships/notesSlide" Target="../notesSlides/notesSlide100.xml"/><Relationship Id="rId2" Type="http://schemas.openxmlformats.org/officeDocument/2006/relationships/slideLayout" Target="../slideLayouts/slideLayout3.xml"/><Relationship Id="rId1" Type="http://schemas.openxmlformats.org/officeDocument/2006/relationships/tags" Target="../tags/tag545.xml"/></Relationships>
</file>

<file path=ppt/slides/_rels/slide114.xml.rels><?xml version="1.0" encoding="UTF-8" standalone="yes"?>
<Relationships xmlns="http://schemas.openxmlformats.org/package/2006/relationships"><Relationship Id="rId3" Type="http://schemas.openxmlformats.org/officeDocument/2006/relationships/notesSlide" Target="../notesSlides/notesSlide101.xml"/><Relationship Id="rId2" Type="http://schemas.openxmlformats.org/officeDocument/2006/relationships/slideLayout" Target="../slideLayouts/slideLayout3.xml"/><Relationship Id="rId1" Type="http://schemas.openxmlformats.org/officeDocument/2006/relationships/tags" Target="../tags/tag546.xml"/></Relationships>
</file>

<file path=ppt/slides/_rels/slide115.xml.rels><?xml version="1.0" encoding="UTF-8" standalone="yes"?>
<Relationships xmlns="http://schemas.openxmlformats.org/package/2006/relationships"><Relationship Id="rId3" Type="http://schemas.openxmlformats.org/officeDocument/2006/relationships/tags" Target="../tags/tag549.xml"/><Relationship Id="rId2" Type="http://schemas.openxmlformats.org/officeDocument/2006/relationships/tags" Target="../tags/tag548.xml"/><Relationship Id="rId1" Type="http://schemas.openxmlformats.org/officeDocument/2006/relationships/tags" Target="../tags/tag547.xml"/><Relationship Id="rId5" Type="http://schemas.openxmlformats.org/officeDocument/2006/relationships/notesSlide" Target="../notesSlides/notesSlide102.xml"/><Relationship Id="rId4"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3" Type="http://schemas.openxmlformats.org/officeDocument/2006/relationships/tags" Target="../tags/tag552.xml"/><Relationship Id="rId2" Type="http://schemas.openxmlformats.org/officeDocument/2006/relationships/tags" Target="../tags/tag551.xml"/><Relationship Id="rId1" Type="http://schemas.openxmlformats.org/officeDocument/2006/relationships/tags" Target="../tags/tag550.xml"/><Relationship Id="rId5" Type="http://schemas.openxmlformats.org/officeDocument/2006/relationships/notesSlide" Target="../notesSlides/notesSlide103.xml"/><Relationship Id="rId4"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tags" Target="../tags/tag555.xml"/><Relationship Id="rId2" Type="http://schemas.openxmlformats.org/officeDocument/2006/relationships/tags" Target="../tags/tag554.xml"/><Relationship Id="rId1" Type="http://schemas.openxmlformats.org/officeDocument/2006/relationships/tags" Target="../tags/tag553.xml"/><Relationship Id="rId5" Type="http://schemas.openxmlformats.org/officeDocument/2006/relationships/notesSlide" Target="../notesSlides/notesSlide104.xml"/><Relationship Id="rId4"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3" Type="http://schemas.openxmlformats.org/officeDocument/2006/relationships/tags" Target="../tags/tag558.xml"/><Relationship Id="rId2" Type="http://schemas.openxmlformats.org/officeDocument/2006/relationships/tags" Target="../tags/tag557.xml"/><Relationship Id="rId1" Type="http://schemas.openxmlformats.org/officeDocument/2006/relationships/tags" Target="../tags/tag556.xml"/><Relationship Id="rId5" Type="http://schemas.openxmlformats.org/officeDocument/2006/relationships/notesSlide" Target="../notesSlides/notesSlide105.xml"/><Relationship Id="rId4"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3" Type="http://schemas.openxmlformats.org/officeDocument/2006/relationships/tags" Target="../tags/tag561.xml"/><Relationship Id="rId2" Type="http://schemas.openxmlformats.org/officeDocument/2006/relationships/tags" Target="../tags/tag560.xml"/><Relationship Id="rId1" Type="http://schemas.openxmlformats.org/officeDocument/2006/relationships/tags" Target="../tags/tag559.xml"/><Relationship Id="rId5" Type="http://schemas.openxmlformats.org/officeDocument/2006/relationships/notesSlide" Target="../notesSlides/notesSlide106.xml"/><Relationship Id="rId4"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563.xml"/><Relationship Id="rId1" Type="http://schemas.openxmlformats.org/officeDocument/2006/relationships/tags" Target="../tags/tag562.xml"/><Relationship Id="rId5" Type="http://schemas.openxmlformats.org/officeDocument/2006/relationships/image" Target="../media/image50.png"/><Relationship Id="rId4" Type="http://schemas.openxmlformats.org/officeDocument/2006/relationships/notesSlide" Target="../notesSlides/notesSlide107.xml"/></Relationships>
</file>

<file path=ppt/slides/_rels/slide1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565.xml"/><Relationship Id="rId1" Type="http://schemas.openxmlformats.org/officeDocument/2006/relationships/tags" Target="../tags/tag564.xml"/><Relationship Id="rId5" Type="http://schemas.openxmlformats.org/officeDocument/2006/relationships/image" Target="../media/image50.png"/><Relationship Id="rId4" Type="http://schemas.openxmlformats.org/officeDocument/2006/relationships/notesSlide" Target="../notesSlides/notesSlide108.xml"/></Relationships>
</file>

<file path=ppt/slides/_rels/slide122.xml.rels><?xml version="1.0" encoding="UTF-8" standalone="yes"?>
<Relationships xmlns="http://schemas.openxmlformats.org/package/2006/relationships"><Relationship Id="rId8" Type="http://schemas.openxmlformats.org/officeDocument/2006/relationships/tags" Target="../tags/tag573.xml"/><Relationship Id="rId3" Type="http://schemas.openxmlformats.org/officeDocument/2006/relationships/tags" Target="../tags/tag568.xml"/><Relationship Id="rId7" Type="http://schemas.openxmlformats.org/officeDocument/2006/relationships/tags" Target="../tags/tag572.xml"/><Relationship Id="rId2" Type="http://schemas.openxmlformats.org/officeDocument/2006/relationships/tags" Target="../tags/tag567.xml"/><Relationship Id="rId1" Type="http://schemas.openxmlformats.org/officeDocument/2006/relationships/tags" Target="../tags/tag566.xml"/><Relationship Id="rId6" Type="http://schemas.openxmlformats.org/officeDocument/2006/relationships/tags" Target="../tags/tag571.xml"/><Relationship Id="rId11" Type="http://schemas.openxmlformats.org/officeDocument/2006/relationships/notesSlide" Target="../notesSlides/notesSlide109.xml"/><Relationship Id="rId5" Type="http://schemas.openxmlformats.org/officeDocument/2006/relationships/tags" Target="../tags/tag570.xml"/><Relationship Id="rId10" Type="http://schemas.openxmlformats.org/officeDocument/2006/relationships/slideLayout" Target="../slideLayouts/slideLayout3.xml"/><Relationship Id="rId4" Type="http://schemas.openxmlformats.org/officeDocument/2006/relationships/tags" Target="../tags/tag569.xml"/><Relationship Id="rId9" Type="http://schemas.openxmlformats.org/officeDocument/2006/relationships/tags" Target="../tags/tag574.xml"/></Relationships>
</file>

<file path=ppt/slides/_rels/slide123.xml.rels><?xml version="1.0" encoding="UTF-8" standalone="yes"?>
<Relationships xmlns="http://schemas.openxmlformats.org/package/2006/relationships"><Relationship Id="rId3" Type="http://schemas.openxmlformats.org/officeDocument/2006/relationships/notesSlide" Target="../notesSlides/notesSlide110.xml"/><Relationship Id="rId2" Type="http://schemas.openxmlformats.org/officeDocument/2006/relationships/slideLayout" Target="../slideLayouts/slideLayout3.xml"/><Relationship Id="rId1" Type="http://schemas.openxmlformats.org/officeDocument/2006/relationships/tags" Target="../tags/tag575.xml"/><Relationship Id="rId4" Type="http://schemas.openxmlformats.org/officeDocument/2006/relationships/image" Target="../media/image51.jpeg"/></Relationships>
</file>

<file path=ppt/slides/_rels/slide124.xml.rels><?xml version="1.0" encoding="UTF-8" standalone="yes"?>
<Relationships xmlns="http://schemas.openxmlformats.org/package/2006/relationships"><Relationship Id="rId3" Type="http://schemas.openxmlformats.org/officeDocument/2006/relationships/notesSlide" Target="../notesSlides/notesSlide111.xml"/><Relationship Id="rId2" Type="http://schemas.openxmlformats.org/officeDocument/2006/relationships/slideLayout" Target="../slideLayouts/slideLayout3.xml"/><Relationship Id="rId1" Type="http://schemas.openxmlformats.org/officeDocument/2006/relationships/tags" Target="../tags/tag576.xml"/><Relationship Id="rId4" Type="http://schemas.openxmlformats.org/officeDocument/2006/relationships/image" Target="../media/image52.png"/></Relationships>
</file>

<file path=ppt/slides/_rels/slide125.xml.rels><?xml version="1.0" encoding="UTF-8" standalone="yes"?>
<Relationships xmlns="http://schemas.openxmlformats.org/package/2006/relationships"><Relationship Id="rId8" Type="http://schemas.openxmlformats.org/officeDocument/2006/relationships/tags" Target="../tags/tag584.xml"/><Relationship Id="rId3" Type="http://schemas.openxmlformats.org/officeDocument/2006/relationships/tags" Target="../tags/tag579.xml"/><Relationship Id="rId7" Type="http://schemas.openxmlformats.org/officeDocument/2006/relationships/tags" Target="../tags/tag583.xml"/><Relationship Id="rId2" Type="http://schemas.openxmlformats.org/officeDocument/2006/relationships/tags" Target="../tags/tag578.xml"/><Relationship Id="rId1" Type="http://schemas.openxmlformats.org/officeDocument/2006/relationships/tags" Target="../tags/tag577.xml"/><Relationship Id="rId6" Type="http://schemas.openxmlformats.org/officeDocument/2006/relationships/tags" Target="../tags/tag582.xml"/><Relationship Id="rId5" Type="http://schemas.openxmlformats.org/officeDocument/2006/relationships/tags" Target="../tags/tag581.xml"/><Relationship Id="rId10" Type="http://schemas.openxmlformats.org/officeDocument/2006/relationships/notesSlide" Target="../notesSlides/notesSlide112.xml"/><Relationship Id="rId4" Type="http://schemas.openxmlformats.org/officeDocument/2006/relationships/tags" Target="../tags/tag580.xml"/><Relationship Id="rId9"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8" Type="http://schemas.openxmlformats.org/officeDocument/2006/relationships/tags" Target="../tags/tag592.xml"/><Relationship Id="rId3" Type="http://schemas.openxmlformats.org/officeDocument/2006/relationships/tags" Target="../tags/tag587.xml"/><Relationship Id="rId7" Type="http://schemas.openxmlformats.org/officeDocument/2006/relationships/tags" Target="../tags/tag591.xml"/><Relationship Id="rId2" Type="http://schemas.openxmlformats.org/officeDocument/2006/relationships/tags" Target="../tags/tag586.xml"/><Relationship Id="rId1" Type="http://schemas.openxmlformats.org/officeDocument/2006/relationships/tags" Target="../tags/tag585.xml"/><Relationship Id="rId6" Type="http://schemas.openxmlformats.org/officeDocument/2006/relationships/tags" Target="../tags/tag590.xml"/><Relationship Id="rId5" Type="http://schemas.openxmlformats.org/officeDocument/2006/relationships/tags" Target="../tags/tag589.xml"/><Relationship Id="rId10" Type="http://schemas.openxmlformats.org/officeDocument/2006/relationships/notesSlide" Target="../notesSlides/notesSlide113.xml"/><Relationship Id="rId4" Type="http://schemas.openxmlformats.org/officeDocument/2006/relationships/tags" Target="../tags/tag588.xml"/><Relationship Id="rId9"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8" Type="http://schemas.openxmlformats.org/officeDocument/2006/relationships/tags" Target="../tags/tag600.xml"/><Relationship Id="rId3" Type="http://schemas.openxmlformats.org/officeDocument/2006/relationships/tags" Target="../tags/tag595.xml"/><Relationship Id="rId7" Type="http://schemas.openxmlformats.org/officeDocument/2006/relationships/tags" Target="../tags/tag599.xml"/><Relationship Id="rId2" Type="http://schemas.openxmlformats.org/officeDocument/2006/relationships/tags" Target="../tags/tag594.xml"/><Relationship Id="rId1" Type="http://schemas.openxmlformats.org/officeDocument/2006/relationships/tags" Target="../tags/tag593.xml"/><Relationship Id="rId6" Type="http://schemas.openxmlformats.org/officeDocument/2006/relationships/tags" Target="../tags/tag598.xml"/><Relationship Id="rId5" Type="http://schemas.openxmlformats.org/officeDocument/2006/relationships/tags" Target="../tags/tag597.xml"/><Relationship Id="rId10" Type="http://schemas.openxmlformats.org/officeDocument/2006/relationships/notesSlide" Target="../notesSlides/notesSlide114.xml"/><Relationship Id="rId4" Type="http://schemas.openxmlformats.org/officeDocument/2006/relationships/tags" Target="../tags/tag596.xml"/><Relationship Id="rId9"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3" Type="http://schemas.openxmlformats.org/officeDocument/2006/relationships/notesSlide" Target="../notesSlides/notesSlide115.xml"/><Relationship Id="rId2" Type="http://schemas.openxmlformats.org/officeDocument/2006/relationships/slideLayout" Target="../slideLayouts/slideLayout3.xml"/><Relationship Id="rId1" Type="http://schemas.openxmlformats.org/officeDocument/2006/relationships/tags" Target="../tags/tag601.xml"/></Relationships>
</file>

<file path=ppt/slides/_rels/slide129.xml.rels><?xml version="1.0" encoding="UTF-8" standalone="yes"?>
<Relationships xmlns="http://schemas.openxmlformats.org/package/2006/relationships"><Relationship Id="rId3" Type="http://schemas.openxmlformats.org/officeDocument/2006/relationships/notesSlide" Target="../notesSlides/notesSlide116.xml"/><Relationship Id="rId2" Type="http://schemas.openxmlformats.org/officeDocument/2006/relationships/slideLayout" Target="../slideLayouts/slideLayout3.xml"/><Relationship Id="rId1" Type="http://schemas.openxmlformats.org/officeDocument/2006/relationships/tags" Target="../tags/tag602.xml"/></Relationships>
</file>

<file path=ppt/slides/_rels/slide130.xml.rels><?xml version="1.0" encoding="UTF-8" standalone="yes"?>
<Relationships xmlns="http://schemas.openxmlformats.org/package/2006/relationships"><Relationship Id="rId3" Type="http://schemas.openxmlformats.org/officeDocument/2006/relationships/notesSlide" Target="../notesSlides/notesSlide117.xml"/><Relationship Id="rId2" Type="http://schemas.openxmlformats.org/officeDocument/2006/relationships/slideLayout" Target="../slideLayouts/slideLayout3.xml"/><Relationship Id="rId1" Type="http://schemas.openxmlformats.org/officeDocument/2006/relationships/tags" Target="../tags/tag603.xml"/></Relationships>
</file>

<file path=ppt/slides/_rels/slide131.xml.rels><?xml version="1.0" encoding="UTF-8" standalone="yes"?>
<Relationships xmlns="http://schemas.openxmlformats.org/package/2006/relationships"><Relationship Id="rId3" Type="http://schemas.openxmlformats.org/officeDocument/2006/relationships/notesSlide" Target="../notesSlides/notesSlide118.xml"/><Relationship Id="rId2" Type="http://schemas.openxmlformats.org/officeDocument/2006/relationships/slideLayout" Target="../slideLayouts/slideLayout3.xml"/><Relationship Id="rId1" Type="http://schemas.openxmlformats.org/officeDocument/2006/relationships/tags" Target="../tags/tag604.xml"/></Relationships>
</file>

<file path=ppt/slides/_rels/slide132.xml.rels><?xml version="1.0" encoding="UTF-8" standalone="yes"?>
<Relationships xmlns="http://schemas.openxmlformats.org/package/2006/relationships"><Relationship Id="rId8" Type="http://schemas.openxmlformats.org/officeDocument/2006/relationships/tags" Target="../tags/tag612.xml"/><Relationship Id="rId13" Type="http://schemas.openxmlformats.org/officeDocument/2006/relationships/tags" Target="../tags/tag617.xml"/><Relationship Id="rId18" Type="http://schemas.openxmlformats.org/officeDocument/2006/relationships/notesSlide" Target="../notesSlides/notesSlide119.xml"/><Relationship Id="rId3" Type="http://schemas.openxmlformats.org/officeDocument/2006/relationships/tags" Target="../tags/tag607.xml"/><Relationship Id="rId7" Type="http://schemas.openxmlformats.org/officeDocument/2006/relationships/tags" Target="../tags/tag611.xml"/><Relationship Id="rId12" Type="http://schemas.openxmlformats.org/officeDocument/2006/relationships/tags" Target="../tags/tag616.xml"/><Relationship Id="rId17" Type="http://schemas.openxmlformats.org/officeDocument/2006/relationships/slideLayout" Target="../slideLayouts/slideLayout3.xml"/><Relationship Id="rId2" Type="http://schemas.openxmlformats.org/officeDocument/2006/relationships/tags" Target="../tags/tag606.xml"/><Relationship Id="rId16" Type="http://schemas.openxmlformats.org/officeDocument/2006/relationships/tags" Target="../tags/tag620.xml"/><Relationship Id="rId1" Type="http://schemas.openxmlformats.org/officeDocument/2006/relationships/tags" Target="../tags/tag605.xml"/><Relationship Id="rId6" Type="http://schemas.openxmlformats.org/officeDocument/2006/relationships/tags" Target="../tags/tag610.xml"/><Relationship Id="rId11" Type="http://schemas.openxmlformats.org/officeDocument/2006/relationships/tags" Target="../tags/tag615.xml"/><Relationship Id="rId5" Type="http://schemas.openxmlformats.org/officeDocument/2006/relationships/tags" Target="../tags/tag609.xml"/><Relationship Id="rId15" Type="http://schemas.openxmlformats.org/officeDocument/2006/relationships/tags" Target="../tags/tag619.xml"/><Relationship Id="rId10" Type="http://schemas.openxmlformats.org/officeDocument/2006/relationships/tags" Target="../tags/tag614.xml"/><Relationship Id="rId4" Type="http://schemas.openxmlformats.org/officeDocument/2006/relationships/tags" Target="../tags/tag608.xml"/><Relationship Id="rId9" Type="http://schemas.openxmlformats.org/officeDocument/2006/relationships/tags" Target="../tags/tag613.xml"/><Relationship Id="rId14" Type="http://schemas.openxmlformats.org/officeDocument/2006/relationships/tags" Target="../tags/tag618.xml"/></Relationships>
</file>

<file path=ppt/slides/_rels/slide133.xml.rels><?xml version="1.0" encoding="UTF-8" standalone="yes"?>
<Relationships xmlns="http://schemas.openxmlformats.org/package/2006/relationships"><Relationship Id="rId3" Type="http://schemas.openxmlformats.org/officeDocument/2006/relationships/notesSlide" Target="../notesSlides/notesSlide120.xml"/><Relationship Id="rId2" Type="http://schemas.openxmlformats.org/officeDocument/2006/relationships/slideLayout" Target="../slideLayouts/slideLayout3.xml"/><Relationship Id="rId1" Type="http://schemas.openxmlformats.org/officeDocument/2006/relationships/tags" Target="../tags/tag621.xml"/></Relationships>
</file>

<file path=ppt/slides/_rels/slide134.xml.rels><?xml version="1.0" encoding="UTF-8" standalone="yes"?>
<Relationships xmlns="http://schemas.openxmlformats.org/package/2006/relationships"><Relationship Id="rId3" Type="http://schemas.openxmlformats.org/officeDocument/2006/relationships/notesSlide" Target="../notesSlides/notesSlide121.xml"/><Relationship Id="rId2" Type="http://schemas.openxmlformats.org/officeDocument/2006/relationships/slideLayout" Target="../slideLayouts/slideLayout3.xml"/><Relationship Id="rId1" Type="http://schemas.openxmlformats.org/officeDocument/2006/relationships/tags" Target="../tags/tag622.xml"/></Relationships>
</file>

<file path=ppt/slides/_rels/slide135.xml.rels><?xml version="1.0" encoding="UTF-8" standalone="yes"?>
<Relationships xmlns="http://schemas.openxmlformats.org/package/2006/relationships"><Relationship Id="rId3" Type="http://schemas.openxmlformats.org/officeDocument/2006/relationships/notesSlide" Target="../notesSlides/notesSlide122.xml"/><Relationship Id="rId2" Type="http://schemas.openxmlformats.org/officeDocument/2006/relationships/slideLayout" Target="../slideLayouts/slideLayout3.xml"/><Relationship Id="rId1" Type="http://schemas.openxmlformats.org/officeDocument/2006/relationships/tags" Target="../tags/tag623.xml"/></Relationships>
</file>

<file path=ppt/slides/_rels/slide13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tags" Target="../tags/tag626.xml"/><Relationship Id="rId7" Type="http://schemas.openxmlformats.org/officeDocument/2006/relationships/notesSlide" Target="../notesSlides/notesSlide123.xml"/><Relationship Id="rId2" Type="http://schemas.openxmlformats.org/officeDocument/2006/relationships/tags" Target="../tags/tag625.xml"/><Relationship Id="rId1" Type="http://schemas.openxmlformats.org/officeDocument/2006/relationships/tags" Target="../tags/tag624.xml"/><Relationship Id="rId6" Type="http://schemas.openxmlformats.org/officeDocument/2006/relationships/slideLayout" Target="../slideLayouts/slideLayout3.xml"/><Relationship Id="rId5" Type="http://schemas.openxmlformats.org/officeDocument/2006/relationships/tags" Target="../tags/tag628.xml"/><Relationship Id="rId4" Type="http://schemas.openxmlformats.org/officeDocument/2006/relationships/tags" Target="../tags/tag627.xml"/></Relationships>
</file>

<file path=ppt/slides/_rels/slide138.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tags" Target="../tags/tag631.xml"/><Relationship Id="rId7" Type="http://schemas.openxmlformats.org/officeDocument/2006/relationships/notesSlide" Target="../notesSlides/notesSlide124.xml"/><Relationship Id="rId2" Type="http://schemas.openxmlformats.org/officeDocument/2006/relationships/tags" Target="../tags/tag630.xml"/><Relationship Id="rId1" Type="http://schemas.openxmlformats.org/officeDocument/2006/relationships/tags" Target="../tags/tag629.xml"/><Relationship Id="rId6" Type="http://schemas.openxmlformats.org/officeDocument/2006/relationships/slideLayout" Target="../slideLayouts/slideLayout3.xml"/><Relationship Id="rId5" Type="http://schemas.openxmlformats.org/officeDocument/2006/relationships/tags" Target="../tags/tag633.xml"/><Relationship Id="rId4" Type="http://schemas.openxmlformats.org/officeDocument/2006/relationships/tags" Target="../tags/tag632.xml"/></Relationships>
</file>

<file path=ppt/slides/_rels/slide139.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tags" Target="../tags/tag636.xml"/><Relationship Id="rId7" Type="http://schemas.openxmlformats.org/officeDocument/2006/relationships/notesSlide" Target="../notesSlides/notesSlide125.xml"/><Relationship Id="rId2" Type="http://schemas.openxmlformats.org/officeDocument/2006/relationships/tags" Target="../tags/tag635.xml"/><Relationship Id="rId1" Type="http://schemas.openxmlformats.org/officeDocument/2006/relationships/tags" Target="../tags/tag634.xml"/><Relationship Id="rId6" Type="http://schemas.openxmlformats.org/officeDocument/2006/relationships/slideLayout" Target="../slideLayouts/slideLayout3.xml"/><Relationship Id="rId5" Type="http://schemas.openxmlformats.org/officeDocument/2006/relationships/tags" Target="../tags/tag638.xml"/><Relationship Id="rId4" Type="http://schemas.openxmlformats.org/officeDocument/2006/relationships/tags" Target="../tags/tag637.xml"/></Relationships>
</file>

<file path=ppt/slides/_rels/slide140.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tags" Target="../tags/tag641.xml"/><Relationship Id="rId7" Type="http://schemas.openxmlformats.org/officeDocument/2006/relationships/notesSlide" Target="../notesSlides/notesSlide126.xml"/><Relationship Id="rId2" Type="http://schemas.openxmlformats.org/officeDocument/2006/relationships/tags" Target="../tags/tag640.xml"/><Relationship Id="rId1" Type="http://schemas.openxmlformats.org/officeDocument/2006/relationships/tags" Target="../tags/tag639.xml"/><Relationship Id="rId6" Type="http://schemas.openxmlformats.org/officeDocument/2006/relationships/slideLayout" Target="../slideLayouts/slideLayout3.xml"/><Relationship Id="rId5" Type="http://schemas.openxmlformats.org/officeDocument/2006/relationships/tags" Target="../tags/tag643.xml"/><Relationship Id="rId4" Type="http://schemas.openxmlformats.org/officeDocument/2006/relationships/tags" Target="../tags/tag642.xml"/></Relationships>
</file>

<file path=ppt/slides/_rels/slide141.xml.rels><?xml version="1.0" encoding="UTF-8" standalone="yes"?>
<Relationships xmlns="http://schemas.openxmlformats.org/package/2006/relationships"><Relationship Id="rId3" Type="http://schemas.openxmlformats.org/officeDocument/2006/relationships/notesSlide" Target="../notesSlides/notesSlide127.xml"/><Relationship Id="rId2" Type="http://schemas.openxmlformats.org/officeDocument/2006/relationships/slideLayout" Target="../slideLayouts/slideLayout3.xml"/><Relationship Id="rId1" Type="http://schemas.openxmlformats.org/officeDocument/2006/relationships/tags" Target="../tags/tag644.xml"/></Relationships>
</file>

<file path=ppt/slides/_rels/slide142.xml.rels><?xml version="1.0" encoding="UTF-8" standalone="yes"?>
<Relationships xmlns="http://schemas.openxmlformats.org/package/2006/relationships"><Relationship Id="rId3" Type="http://schemas.openxmlformats.org/officeDocument/2006/relationships/notesSlide" Target="../notesSlides/notesSlide128.xml"/><Relationship Id="rId2" Type="http://schemas.openxmlformats.org/officeDocument/2006/relationships/slideLayout" Target="../slideLayouts/slideLayout3.xml"/><Relationship Id="rId1" Type="http://schemas.openxmlformats.org/officeDocument/2006/relationships/tags" Target="../tags/tag645.xml"/><Relationship Id="rId4" Type="http://schemas.openxmlformats.org/officeDocument/2006/relationships/image" Target="../media/image58.jpeg"/></Relationships>
</file>

<file path=ppt/slides/_rels/slide143.xml.rels><?xml version="1.0" encoding="UTF-8" standalone="yes"?>
<Relationships xmlns="http://schemas.openxmlformats.org/package/2006/relationships"><Relationship Id="rId3" Type="http://schemas.openxmlformats.org/officeDocument/2006/relationships/notesSlide" Target="../notesSlides/notesSlide129.xml"/><Relationship Id="rId2" Type="http://schemas.openxmlformats.org/officeDocument/2006/relationships/slideLayout" Target="../slideLayouts/slideLayout3.xml"/><Relationship Id="rId1" Type="http://schemas.openxmlformats.org/officeDocument/2006/relationships/tags" Target="../tags/tag646.xml"/></Relationships>
</file>

<file path=ppt/slides/_rels/slide144.xml.rels><?xml version="1.0" encoding="UTF-8" standalone="yes"?>
<Relationships xmlns="http://schemas.openxmlformats.org/package/2006/relationships"><Relationship Id="rId8" Type="http://schemas.openxmlformats.org/officeDocument/2006/relationships/tags" Target="../tags/tag654.xml"/><Relationship Id="rId13" Type="http://schemas.openxmlformats.org/officeDocument/2006/relationships/tags" Target="../tags/tag659.xml"/><Relationship Id="rId18" Type="http://schemas.openxmlformats.org/officeDocument/2006/relationships/slideLayout" Target="../slideLayouts/slideLayout3.xml"/><Relationship Id="rId3" Type="http://schemas.openxmlformats.org/officeDocument/2006/relationships/tags" Target="../tags/tag649.xml"/><Relationship Id="rId7" Type="http://schemas.openxmlformats.org/officeDocument/2006/relationships/tags" Target="../tags/tag653.xml"/><Relationship Id="rId12" Type="http://schemas.openxmlformats.org/officeDocument/2006/relationships/tags" Target="../tags/tag658.xml"/><Relationship Id="rId17" Type="http://schemas.openxmlformats.org/officeDocument/2006/relationships/tags" Target="../tags/tag663.xml"/><Relationship Id="rId2" Type="http://schemas.openxmlformats.org/officeDocument/2006/relationships/tags" Target="../tags/tag648.xml"/><Relationship Id="rId16" Type="http://schemas.openxmlformats.org/officeDocument/2006/relationships/tags" Target="../tags/tag662.xml"/><Relationship Id="rId1" Type="http://schemas.openxmlformats.org/officeDocument/2006/relationships/tags" Target="../tags/tag647.xml"/><Relationship Id="rId6" Type="http://schemas.openxmlformats.org/officeDocument/2006/relationships/tags" Target="../tags/tag652.xml"/><Relationship Id="rId11" Type="http://schemas.openxmlformats.org/officeDocument/2006/relationships/tags" Target="../tags/tag657.xml"/><Relationship Id="rId5" Type="http://schemas.openxmlformats.org/officeDocument/2006/relationships/tags" Target="../tags/tag651.xml"/><Relationship Id="rId15" Type="http://schemas.openxmlformats.org/officeDocument/2006/relationships/tags" Target="../tags/tag661.xml"/><Relationship Id="rId10" Type="http://schemas.openxmlformats.org/officeDocument/2006/relationships/tags" Target="../tags/tag656.xml"/><Relationship Id="rId19" Type="http://schemas.openxmlformats.org/officeDocument/2006/relationships/notesSlide" Target="../notesSlides/notesSlide130.xml"/><Relationship Id="rId4" Type="http://schemas.openxmlformats.org/officeDocument/2006/relationships/tags" Target="../tags/tag650.xml"/><Relationship Id="rId9" Type="http://schemas.openxmlformats.org/officeDocument/2006/relationships/tags" Target="../tags/tag655.xml"/><Relationship Id="rId14" Type="http://schemas.openxmlformats.org/officeDocument/2006/relationships/tags" Target="../tags/tag660.xml"/></Relationships>
</file>

<file path=ppt/slides/_rels/slide145.xml.rels><?xml version="1.0" encoding="UTF-8" standalone="yes"?>
<Relationships xmlns="http://schemas.openxmlformats.org/package/2006/relationships"><Relationship Id="rId3" Type="http://schemas.openxmlformats.org/officeDocument/2006/relationships/notesSlide" Target="../notesSlides/notesSlide131.xml"/><Relationship Id="rId2" Type="http://schemas.openxmlformats.org/officeDocument/2006/relationships/slideLayout" Target="../slideLayouts/slideLayout3.xml"/><Relationship Id="rId1" Type="http://schemas.openxmlformats.org/officeDocument/2006/relationships/tags" Target="../tags/tag664.xml"/><Relationship Id="rId4" Type="http://schemas.openxmlformats.org/officeDocument/2006/relationships/image" Target="../media/image59.png"/></Relationships>
</file>

<file path=ppt/slides/_rels/slide146.xml.rels><?xml version="1.0" encoding="UTF-8" standalone="yes"?>
<Relationships xmlns="http://schemas.openxmlformats.org/package/2006/relationships"><Relationship Id="rId3" Type="http://schemas.openxmlformats.org/officeDocument/2006/relationships/notesSlide" Target="../notesSlides/notesSlide132.xml"/><Relationship Id="rId2" Type="http://schemas.openxmlformats.org/officeDocument/2006/relationships/slideLayout" Target="../slideLayouts/slideLayout3.xml"/><Relationship Id="rId1" Type="http://schemas.openxmlformats.org/officeDocument/2006/relationships/tags" Target="../tags/tag665.xml"/><Relationship Id="rId4" Type="http://schemas.openxmlformats.org/officeDocument/2006/relationships/image" Target="../media/image42.jpeg"/></Relationships>
</file>

<file path=ppt/slides/_rels/slide147.xml.rels><?xml version="1.0" encoding="UTF-8" standalone="yes"?>
<Relationships xmlns="http://schemas.openxmlformats.org/package/2006/relationships"><Relationship Id="rId3" Type="http://schemas.openxmlformats.org/officeDocument/2006/relationships/notesSlide" Target="../notesSlides/notesSlide133.xml"/><Relationship Id="rId2" Type="http://schemas.openxmlformats.org/officeDocument/2006/relationships/slideLayout" Target="../slideLayouts/slideLayout3.xml"/><Relationship Id="rId1" Type="http://schemas.openxmlformats.org/officeDocument/2006/relationships/tags" Target="../tags/tag666.xml"/></Relationships>
</file>

<file path=ppt/slides/_rels/slide148.xml.rels><?xml version="1.0" encoding="UTF-8" standalone="yes"?>
<Relationships xmlns="http://schemas.openxmlformats.org/package/2006/relationships"><Relationship Id="rId3" Type="http://schemas.openxmlformats.org/officeDocument/2006/relationships/notesSlide" Target="../notesSlides/notesSlide134.xml"/><Relationship Id="rId2" Type="http://schemas.openxmlformats.org/officeDocument/2006/relationships/slideLayout" Target="../slideLayouts/slideLayout3.xml"/><Relationship Id="rId1" Type="http://schemas.openxmlformats.org/officeDocument/2006/relationships/tags" Target="../tags/tag667.xml"/></Relationships>
</file>

<file path=ppt/slides/_rels/slide14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668.xml"/></Relationships>
</file>

<file path=ppt/slides/_rels/slide150.xml.rels><?xml version="1.0" encoding="UTF-8" standalone="yes"?>
<Relationships xmlns="http://schemas.openxmlformats.org/package/2006/relationships"><Relationship Id="rId8" Type="http://schemas.openxmlformats.org/officeDocument/2006/relationships/slideLayout" Target="../slideLayouts/slideLayout2.xml"/><Relationship Id="rId13" Type="http://schemas.openxmlformats.org/officeDocument/2006/relationships/image" Target="../media/image63.jpeg"/><Relationship Id="rId3" Type="http://schemas.openxmlformats.org/officeDocument/2006/relationships/tags" Target="../tags/tag671.xml"/><Relationship Id="rId7" Type="http://schemas.openxmlformats.org/officeDocument/2006/relationships/tags" Target="../tags/tag675.xml"/><Relationship Id="rId12" Type="http://schemas.openxmlformats.org/officeDocument/2006/relationships/image" Target="../media/image62.jpeg"/><Relationship Id="rId2" Type="http://schemas.openxmlformats.org/officeDocument/2006/relationships/tags" Target="../tags/tag670.xml"/><Relationship Id="rId1" Type="http://schemas.openxmlformats.org/officeDocument/2006/relationships/tags" Target="../tags/tag669.xml"/><Relationship Id="rId6" Type="http://schemas.openxmlformats.org/officeDocument/2006/relationships/tags" Target="../tags/tag674.xml"/><Relationship Id="rId11" Type="http://schemas.openxmlformats.org/officeDocument/2006/relationships/image" Target="../media/image61.jpeg"/><Relationship Id="rId5" Type="http://schemas.openxmlformats.org/officeDocument/2006/relationships/tags" Target="../tags/tag673.xml"/><Relationship Id="rId10" Type="http://schemas.openxmlformats.org/officeDocument/2006/relationships/image" Target="../media/image60.jpeg"/><Relationship Id="rId4" Type="http://schemas.openxmlformats.org/officeDocument/2006/relationships/tags" Target="../tags/tag672.xml"/><Relationship Id="rId9" Type="http://schemas.openxmlformats.org/officeDocument/2006/relationships/notesSlide" Target="../notesSlides/notesSlide135.xml"/></Relationships>
</file>

<file path=ppt/slides/_rels/slide151.xml.rels><?xml version="1.0" encoding="UTF-8" standalone="yes"?>
<Relationships xmlns="http://schemas.openxmlformats.org/package/2006/relationships"><Relationship Id="rId8" Type="http://schemas.openxmlformats.org/officeDocument/2006/relationships/tags" Target="../tags/tag683.xml"/><Relationship Id="rId13" Type="http://schemas.openxmlformats.org/officeDocument/2006/relationships/tags" Target="../tags/tag688.xml"/><Relationship Id="rId18" Type="http://schemas.openxmlformats.org/officeDocument/2006/relationships/notesSlide" Target="../notesSlides/notesSlide136.xml"/><Relationship Id="rId3" Type="http://schemas.openxmlformats.org/officeDocument/2006/relationships/tags" Target="../tags/tag678.xml"/><Relationship Id="rId7" Type="http://schemas.openxmlformats.org/officeDocument/2006/relationships/tags" Target="../tags/tag682.xml"/><Relationship Id="rId12" Type="http://schemas.openxmlformats.org/officeDocument/2006/relationships/tags" Target="../tags/tag687.xml"/><Relationship Id="rId17" Type="http://schemas.openxmlformats.org/officeDocument/2006/relationships/slideLayout" Target="../slideLayouts/slideLayout3.xml"/><Relationship Id="rId2" Type="http://schemas.openxmlformats.org/officeDocument/2006/relationships/tags" Target="../tags/tag677.xml"/><Relationship Id="rId16" Type="http://schemas.openxmlformats.org/officeDocument/2006/relationships/tags" Target="../tags/tag691.xml"/><Relationship Id="rId1" Type="http://schemas.openxmlformats.org/officeDocument/2006/relationships/tags" Target="../tags/tag676.xml"/><Relationship Id="rId6" Type="http://schemas.openxmlformats.org/officeDocument/2006/relationships/tags" Target="../tags/tag681.xml"/><Relationship Id="rId11" Type="http://schemas.openxmlformats.org/officeDocument/2006/relationships/tags" Target="../tags/tag686.xml"/><Relationship Id="rId5" Type="http://schemas.openxmlformats.org/officeDocument/2006/relationships/tags" Target="../tags/tag680.xml"/><Relationship Id="rId15" Type="http://schemas.openxmlformats.org/officeDocument/2006/relationships/tags" Target="../tags/tag690.xml"/><Relationship Id="rId10" Type="http://schemas.openxmlformats.org/officeDocument/2006/relationships/tags" Target="../tags/tag685.xml"/><Relationship Id="rId4" Type="http://schemas.openxmlformats.org/officeDocument/2006/relationships/tags" Target="../tags/tag679.xml"/><Relationship Id="rId9" Type="http://schemas.openxmlformats.org/officeDocument/2006/relationships/tags" Target="../tags/tag684.xml"/><Relationship Id="rId14" Type="http://schemas.openxmlformats.org/officeDocument/2006/relationships/tags" Target="../tags/tag689.xml"/></Relationships>
</file>

<file path=ppt/slides/_rels/slide152.xml.rels><?xml version="1.0" encoding="UTF-8" standalone="yes"?>
<Relationships xmlns="http://schemas.openxmlformats.org/package/2006/relationships"><Relationship Id="rId8" Type="http://schemas.openxmlformats.org/officeDocument/2006/relationships/tags" Target="../tags/tag699.xml"/><Relationship Id="rId13" Type="http://schemas.openxmlformats.org/officeDocument/2006/relationships/tags" Target="../tags/tag704.xml"/><Relationship Id="rId18" Type="http://schemas.openxmlformats.org/officeDocument/2006/relationships/notesSlide" Target="../notesSlides/notesSlide137.xml"/><Relationship Id="rId3" Type="http://schemas.openxmlformats.org/officeDocument/2006/relationships/tags" Target="../tags/tag694.xml"/><Relationship Id="rId7" Type="http://schemas.openxmlformats.org/officeDocument/2006/relationships/tags" Target="../tags/tag698.xml"/><Relationship Id="rId12" Type="http://schemas.openxmlformats.org/officeDocument/2006/relationships/tags" Target="../tags/tag703.xml"/><Relationship Id="rId17" Type="http://schemas.openxmlformats.org/officeDocument/2006/relationships/slideLayout" Target="../slideLayouts/slideLayout3.xml"/><Relationship Id="rId2" Type="http://schemas.openxmlformats.org/officeDocument/2006/relationships/tags" Target="../tags/tag693.xml"/><Relationship Id="rId16" Type="http://schemas.openxmlformats.org/officeDocument/2006/relationships/tags" Target="../tags/tag707.xml"/><Relationship Id="rId1" Type="http://schemas.openxmlformats.org/officeDocument/2006/relationships/tags" Target="../tags/tag692.xml"/><Relationship Id="rId6" Type="http://schemas.openxmlformats.org/officeDocument/2006/relationships/tags" Target="../tags/tag697.xml"/><Relationship Id="rId11" Type="http://schemas.openxmlformats.org/officeDocument/2006/relationships/tags" Target="../tags/tag702.xml"/><Relationship Id="rId5" Type="http://schemas.openxmlformats.org/officeDocument/2006/relationships/tags" Target="../tags/tag696.xml"/><Relationship Id="rId15" Type="http://schemas.openxmlformats.org/officeDocument/2006/relationships/tags" Target="../tags/tag706.xml"/><Relationship Id="rId10" Type="http://schemas.openxmlformats.org/officeDocument/2006/relationships/tags" Target="../tags/tag701.xml"/><Relationship Id="rId4" Type="http://schemas.openxmlformats.org/officeDocument/2006/relationships/tags" Target="../tags/tag695.xml"/><Relationship Id="rId9" Type="http://schemas.openxmlformats.org/officeDocument/2006/relationships/tags" Target="../tags/tag700.xml"/><Relationship Id="rId14" Type="http://schemas.openxmlformats.org/officeDocument/2006/relationships/tags" Target="../tags/tag705.xml"/></Relationships>
</file>

<file path=ppt/slides/_rels/slide153.xml.rels><?xml version="1.0" encoding="UTF-8" standalone="yes"?>
<Relationships xmlns="http://schemas.openxmlformats.org/package/2006/relationships"><Relationship Id="rId8" Type="http://schemas.openxmlformats.org/officeDocument/2006/relationships/tags" Target="../tags/tag715.xml"/><Relationship Id="rId13" Type="http://schemas.openxmlformats.org/officeDocument/2006/relationships/tags" Target="../tags/tag720.xml"/><Relationship Id="rId3" Type="http://schemas.openxmlformats.org/officeDocument/2006/relationships/tags" Target="../tags/tag710.xml"/><Relationship Id="rId7" Type="http://schemas.openxmlformats.org/officeDocument/2006/relationships/tags" Target="../tags/tag714.xml"/><Relationship Id="rId12" Type="http://schemas.openxmlformats.org/officeDocument/2006/relationships/tags" Target="../tags/tag719.xml"/><Relationship Id="rId2" Type="http://schemas.openxmlformats.org/officeDocument/2006/relationships/tags" Target="../tags/tag709.xml"/><Relationship Id="rId16" Type="http://schemas.openxmlformats.org/officeDocument/2006/relationships/notesSlide" Target="../notesSlides/notesSlide138.xml"/><Relationship Id="rId1" Type="http://schemas.openxmlformats.org/officeDocument/2006/relationships/tags" Target="../tags/tag708.xml"/><Relationship Id="rId6" Type="http://schemas.openxmlformats.org/officeDocument/2006/relationships/tags" Target="../tags/tag713.xml"/><Relationship Id="rId11" Type="http://schemas.openxmlformats.org/officeDocument/2006/relationships/tags" Target="../tags/tag718.xml"/><Relationship Id="rId5" Type="http://schemas.openxmlformats.org/officeDocument/2006/relationships/tags" Target="../tags/tag712.xml"/><Relationship Id="rId15" Type="http://schemas.openxmlformats.org/officeDocument/2006/relationships/slideLayout" Target="../slideLayouts/slideLayout3.xml"/><Relationship Id="rId10" Type="http://schemas.openxmlformats.org/officeDocument/2006/relationships/tags" Target="../tags/tag717.xml"/><Relationship Id="rId4" Type="http://schemas.openxmlformats.org/officeDocument/2006/relationships/tags" Target="../tags/tag711.xml"/><Relationship Id="rId9" Type="http://schemas.openxmlformats.org/officeDocument/2006/relationships/tags" Target="../tags/tag716.xml"/><Relationship Id="rId14" Type="http://schemas.openxmlformats.org/officeDocument/2006/relationships/tags" Target="../tags/tag721.xml"/></Relationships>
</file>

<file path=ppt/slides/_rels/slide154.xml.rels><?xml version="1.0" encoding="UTF-8" standalone="yes"?>
<Relationships xmlns="http://schemas.openxmlformats.org/package/2006/relationships"><Relationship Id="rId8" Type="http://schemas.openxmlformats.org/officeDocument/2006/relationships/tags" Target="../tags/tag729.xml"/><Relationship Id="rId13" Type="http://schemas.openxmlformats.org/officeDocument/2006/relationships/slideLayout" Target="../slideLayouts/slideLayout3.xml"/><Relationship Id="rId3" Type="http://schemas.openxmlformats.org/officeDocument/2006/relationships/tags" Target="../tags/tag724.xml"/><Relationship Id="rId7" Type="http://schemas.openxmlformats.org/officeDocument/2006/relationships/tags" Target="../tags/tag728.xml"/><Relationship Id="rId12" Type="http://schemas.openxmlformats.org/officeDocument/2006/relationships/tags" Target="../tags/tag733.xml"/><Relationship Id="rId2" Type="http://schemas.openxmlformats.org/officeDocument/2006/relationships/tags" Target="../tags/tag723.xml"/><Relationship Id="rId1" Type="http://schemas.openxmlformats.org/officeDocument/2006/relationships/tags" Target="../tags/tag722.xml"/><Relationship Id="rId6" Type="http://schemas.openxmlformats.org/officeDocument/2006/relationships/tags" Target="../tags/tag727.xml"/><Relationship Id="rId11" Type="http://schemas.openxmlformats.org/officeDocument/2006/relationships/tags" Target="../tags/tag732.xml"/><Relationship Id="rId5" Type="http://schemas.openxmlformats.org/officeDocument/2006/relationships/tags" Target="../tags/tag726.xml"/><Relationship Id="rId10" Type="http://schemas.openxmlformats.org/officeDocument/2006/relationships/tags" Target="../tags/tag731.xml"/><Relationship Id="rId4" Type="http://schemas.openxmlformats.org/officeDocument/2006/relationships/tags" Target="../tags/tag725.xml"/><Relationship Id="rId9" Type="http://schemas.openxmlformats.org/officeDocument/2006/relationships/tags" Target="../tags/tag730.xml"/><Relationship Id="rId14" Type="http://schemas.openxmlformats.org/officeDocument/2006/relationships/notesSlide" Target="../notesSlides/notesSlide139.xml"/></Relationships>
</file>

<file path=ppt/slides/_rels/slide155.xml.rels><?xml version="1.0" encoding="UTF-8" standalone="yes"?>
<Relationships xmlns="http://schemas.openxmlformats.org/package/2006/relationships"><Relationship Id="rId8" Type="http://schemas.openxmlformats.org/officeDocument/2006/relationships/tags" Target="../tags/tag741.xml"/><Relationship Id="rId13" Type="http://schemas.openxmlformats.org/officeDocument/2006/relationships/tags" Target="../tags/tag746.xml"/><Relationship Id="rId18" Type="http://schemas.openxmlformats.org/officeDocument/2006/relationships/notesSlide" Target="../notesSlides/notesSlide140.xml"/><Relationship Id="rId3" Type="http://schemas.openxmlformats.org/officeDocument/2006/relationships/tags" Target="../tags/tag736.xml"/><Relationship Id="rId7" Type="http://schemas.openxmlformats.org/officeDocument/2006/relationships/tags" Target="../tags/tag740.xml"/><Relationship Id="rId12" Type="http://schemas.openxmlformats.org/officeDocument/2006/relationships/tags" Target="../tags/tag745.xml"/><Relationship Id="rId17" Type="http://schemas.openxmlformats.org/officeDocument/2006/relationships/slideLayout" Target="../slideLayouts/slideLayout3.xml"/><Relationship Id="rId2" Type="http://schemas.openxmlformats.org/officeDocument/2006/relationships/tags" Target="../tags/tag735.xml"/><Relationship Id="rId16" Type="http://schemas.openxmlformats.org/officeDocument/2006/relationships/tags" Target="../tags/tag749.xml"/><Relationship Id="rId1" Type="http://schemas.openxmlformats.org/officeDocument/2006/relationships/tags" Target="../tags/tag734.xml"/><Relationship Id="rId6" Type="http://schemas.openxmlformats.org/officeDocument/2006/relationships/tags" Target="../tags/tag739.xml"/><Relationship Id="rId11" Type="http://schemas.openxmlformats.org/officeDocument/2006/relationships/tags" Target="../tags/tag744.xml"/><Relationship Id="rId5" Type="http://schemas.openxmlformats.org/officeDocument/2006/relationships/tags" Target="../tags/tag738.xml"/><Relationship Id="rId15" Type="http://schemas.openxmlformats.org/officeDocument/2006/relationships/tags" Target="../tags/tag748.xml"/><Relationship Id="rId10" Type="http://schemas.openxmlformats.org/officeDocument/2006/relationships/tags" Target="../tags/tag743.xml"/><Relationship Id="rId4" Type="http://schemas.openxmlformats.org/officeDocument/2006/relationships/tags" Target="../tags/tag737.xml"/><Relationship Id="rId9" Type="http://schemas.openxmlformats.org/officeDocument/2006/relationships/tags" Target="../tags/tag742.xml"/><Relationship Id="rId14" Type="http://schemas.openxmlformats.org/officeDocument/2006/relationships/tags" Target="../tags/tag747.xml"/></Relationships>
</file>

<file path=ppt/slides/_rels/slide156.xml.rels><?xml version="1.0" encoding="UTF-8" standalone="yes"?>
<Relationships xmlns="http://schemas.openxmlformats.org/package/2006/relationships"><Relationship Id="rId8" Type="http://schemas.openxmlformats.org/officeDocument/2006/relationships/tags" Target="../tags/tag757.xml"/><Relationship Id="rId13" Type="http://schemas.openxmlformats.org/officeDocument/2006/relationships/tags" Target="../tags/tag762.xml"/><Relationship Id="rId3" Type="http://schemas.openxmlformats.org/officeDocument/2006/relationships/tags" Target="../tags/tag752.xml"/><Relationship Id="rId7" Type="http://schemas.openxmlformats.org/officeDocument/2006/relationships/tags" Target="../tags/tag756.xml"/><Relationship Id="rId12" Type="http://schemas.openxmlformats.org/officeDocument/2006/relationships/tags" Target="../tags/tag761.xml"/><Relationship Id="rId17" Type="http://schemas.openxmlformats.org/officeDocument/2006/relationships/notesSlide" Target="../notesSlides/notesSlide141.xml"/><Relationship Id="rId2" Type="http://schemas.openxmlformats.org/officeDocument/2006/relationships/tags" Target="../tags/tag751.xml"/><Relationship Id="rId16" Type="http://schemas.openxmlformats.org/officeDocument/2006/relationships/slideLayout" Target="../slideLayouts/slideLayout3.xml"/><Relationship Id="rId1" Type="http://schemas.openxmlformats.org/officeDocument/2006/relationships/tags" Target="../tags/tag750.xml"/><Relationship Id="rId6" Type="http://schemas.openxmlformats.org/officeDocument/2006/relationships/tags" Target="../tags/tag755.xml"/><Relationship Id="rId11" Type="http://schemas.openxmlformats.org/officeDocument/2006/relationships/tags" Target="../tags/tag760.xml"/><Relationship Id="rId5" Type="http://schemas.openxmlformats.org/officeDocument/2006/relationships/tags" Target="../tags/tag754.xml"/><Relationship Id="rId15" Type="http://schemas.openxmlformats.org/officeDocument/2006/relationships/tags" Target="../tags/tag764.xml"/><Relationship Id="rId10" Type="http://schemas.openxmlformats.org/officeDocument/2006/relationships/tags" Target="../tags/tag759.xml"/><Relationship Id="rId4" Type="http://schemas.openxmlformats.org/officeDocument/2006/relationships/tags" Target="../tags/tag753.xml"/><Relationship Id="rId9" Type="http://schemas.openxmlformats.org/officeDocument/2006/relationships/tags" Target="../tags/tag758.xml"/><Relationship Id="rId14" Type="http://schemas.openxmlformats.org/officeDocument/2006/relationships/tags" Target="../tags/tag763.xml"/></Relationships>
</file>

<file path=ppt/slides/_rels/slide157.xml.rels><?xml version="1.0" encoding="UTF-8" standalone="yes"?>
<Relationships xmlns="http://schemas.openxmlformats.org/package/2006/relationships"><Relationship Id="rId8" Type="http://schemas.openxmlformats.org/officeDocument/2006/relationships/tags" Target="../tags/tag772.xml"/><Relationship Id="rId13" Type="http://schemas.openxmlformats.org/officeDocument/2006/relationships/tags" Target="../tags/tag777.xml"/><Relationship Id="rId3" Type="http://schemas.openxmlformats.org/officeDocument/2006/relationships/tags" Target="../tags/tag767.xml"/><Relationship Id="rId7" Type="http://schemas.openxmlformats.org/officeDocument/2006/relationships/tags" Target="../tags/tag771.xml"/><Relationship Id="rId12" Type="http://schemas.openxmlformats.org/officeDocument/2006/relationships/tags" Target="../tags/tag776.xml"/><Relationship Id="rId17" Type="http://schemas.openxmlformats.org/officeDocument/2006/relationships/notesSlide" Target="../notesSlides/notesSlide142.xml"/><Relationship Id="rId2" Type="http://schemas.openxmlformats.org/officeDocument/2006/relationships/tags" Target="../tags/tag766.xml"/><Relationship Id="rId16" Type="http://schemas.openxmlformats.org/officeDocument/2006/relationships/slideLayout" Target="../slideLayouts/slideLayout3.xml"/><Relationship Id="rId1" Type="http://schemas.openxmlformats.org/officeDocument/2006/relationships/tags" Target="../tags/tag765.xml"/><Relationship Id="rId6" Type="http://schemas.openxmlformats.org/officeDocument/2006/relationships/tags" Target="../tags/tag770.xml"/><Relationship Id="rId11" Type="http://schemas.openxmlformats.org/officeDocument/2006/relationships/tags" Target="../tags/tag775.xml"/><Relationship Id="rId5" Type="http://schemas.openxmlformats.org/officeDocument/2006/relationships/tags" Target="../tags/tag769.xml"/><Relationship Id="rId15" Type="http://schemas.openxmlformats.org/officeDocument/2006/relationships/tags" Target="../tags/tag779.xml"/><Relationship Id="rId10" Type="http://schemas.openxmlformats.org/officeDocument/2006/relationships/tags" Target="../tags/tag774.xml"/><Relationship Id="rId4" Type="http://schemas.openxmlformats.org/officeDocument/2006/relationships/tags" Target="../tags/tag768.xml"/><Relationship Id="rId9" Type="http://schemas.openxmlformats.org/officeDocument/2006/relationships/tags" Target="../tags/tag773.xml"/><Relationship Id="rId14" Type="http://schemas.openxmlformats.org/officeDocument/2006/relationships/tags" Target="../tags/tag778.xml"/></Relationships>
</file>

<file path=ppt/slides/_rels/slide158.xml.rels><?xml version="1.0" encoding="UTF-8" standalone="yes"?>
<Relationships xmlns="http://schemas.openxmlformats.org/package/2006/relationships"><Relationship Id="rId8" Type="http://schemas.openxmlformats.org/officeDocument/2006/relationships/tags" Target="../tags/tag787.xml"/><Relationship Id="rId3" Type="http://schemas.openxmlformats.org/officeDocument/2006/relationships/tags" Target="../tags/tag782.xml"/><Relationship Id="rId7" Type="http://schemas.openxmlformats.org/officeDocument/2006/relationships/tags" Target="../tags/tag786.xml"/><Relationship Id="rId2" Type="http://schemas.openxmlformats.org/officeDocument/2006/relationships/tags" Target="../tags/tag781.xml"/><Relationship Id="rId1" Type="http://schemas.openxmlformats.org/officeDocument/2006/relationships/tags" Target="../tags/tag780.xml"/><Relationship Id="rId6" Type="http://schemas.openxmlformats.org/officeDocument/2006/relationships/tags" Target="../tags/tag785.xml"/><Relationship Id="rId5" Type="http://schemas.openxmlformats.org/officeDocument/2006/relationships/tags" Target="../tags/tag784.xml"/><Relationship Id="rId10" Type="http://schemas.openxmlformats.org/officeDocument/2006/relationships/notesSlide" Target="../notesSlides/notesSlide143.xml"/><Relationship Id="rId4" Type="http://schemas.openxmlformats.org/officeDocument/2006/relationships/tags" Target="../tags/tag783.xml"/><Relationship Id="rId9"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3" Type="http://schemas.openxmlformats.org/officeDocument/2006/relationships/notesSlide" Target="../notesSlides/notesSlide144.xml"/><Relationship Id="rId2" Type="http://schemas.openxmlformats.org/officeDocument/2006/relationships/slideLayout" Target="../slideLayouts/slideLayout3.xml"/><Relationship Id="rId1" Type="http://schemas.openxmlformats.org/officeDocument/2006/relationships/tags" Target="../tags/tag788.xml"/></Relationships>
</file>

<file path=ppt/slides/_rels/slide160.xml.rels><?xml version="1.0" encoding="UTF-8" standalone="yes"?>
<Relationships xmlns="http://schemas.openxmlformats.org/package/2006/relationships"><Relationship Id="rId3" Type="http://schemas.openxmlformats.org/officeDocument/2006/relationships/notesSlide" Target="../notesSlides/notesSlide145.xml"/><Relationship Id="rId2" Type="http://schemas.openxmlformats.org/officeDocument/2006/relationships/slideLayout" Target="../slideLayouts/slideLayout3.xml"/><Relationship Id="rId1" Type="http://schemas.openxmlformats.org/officeDocument/2006/relationships/tags" Target="../tags/tag789.xml"/></Relationships>
</file>

<file path=ppt/slides/_rels/slide161.xml.rels><?xml version="1.0" encoding="UTF-8" standalone="yes"?>
<Relationships xmlns="http://schemas.openxmlformats.org/package/2006/relationships"><Relationship Id="rId3" Type="http://schemas.openxmlformats.org/officeDocument/2006/relationships/notesSlide" Target="../notesSlides/notesSlide146.xml"/><Relationship Id="rId2" Type="http://schemas.openxmlformats.org/officeDocument/2006/relationships/slideLayout" Target="../slideLayouts/slideLayout3.xml"/><Relationship Id="rId1" Type="http://schemas.openxmlformats.org/officeDocument/2006/relationships/tags" Target="../tags/tag790.xml"/></Relationships>
</file>

<file path=ppt/slides/_rels/slide162.xml.rels><?xml version="1.0" encoding="UTF-8" standalone="yes"?>
<Relationships xmlns="http://schemas.openxmlformats.org/package/2006/relationships"><Relationship Id="rId3" Type="http://schemas.openxmlformats.org/officeDocument/2006/relationships/notesSlide" Target="../notesSlides/notesSlide147.xml"/><Relationship Id="rId2" Type="http://schemas.openxmlformats.org/officeDocument/2006/relationships/slideLayout" Target="../slideLayouts/slideLayout3.xml"/><Relationship Id="rId1" Type="http://schemas.openxmlformats.org/officeDocument/2006/relationships/tags" Target="../tags/tag791.xml"/></Relationships>
</file>

<file path=ppt/slides/_rels/slide163.xml.rels><?xml version="1.0" encoding="UTF-8" standalone="yes"?>
<Relationships xmlns="http://schemas.openxmlformats.org/package/2006/relationships"><Relationship Id="rId8" Type="http://schemas.openxmlformats.org/officeDocument/2006/relationships/tags" Target="../tags/tag799.xml"/><Relationship Id="rId13" Type="http://schemas.openxmlformats.org/officeDocument/2006/relationships/tags" Target="../tags/tag804.xml"/><Relationship Id="rId3" Type="http://schemas.openxmlformats.org/officeDocument/2006/relationships/tags" Target="../tags/tag794.xml"/><Relationship Id="rId7" Type="http://schemas.openxmlformats.org/officeDocument/2006/relationships/tags" Target="../tags/tag798.xml"/><Relationship Id="rId12" Type="http://schemas.openxmlformats.org/officeDocument/2006/relationships/tags" Target="../tags/tag803.xml"/><Relationship Id="rId2" Type="http://schemas.openxmlformats.org/officeDocument/2006/relationships/tags" Target="../tags/tag793.xml"/><Relationship Id="rId1" Type="http://schemas.openxmlformats.org/officeDocument/2006/relationships/tags" Target="../tags/tag792.xml"/><Relationship Id="rId6" Type="http://schemas.openxmlformats.org/officeDocument/2006/relationships/tags" Target="../tags/tag797.xml"/><Relationship Id="rId11" Type="http://schemas.openxmlformats.org/officeDocument/2006/relationships/tags" Target="../tags/tag802.xml"/><Relationship Id="rId5" Type="http://schemas.openxmlformats.org/officeDocument/2006/relationships/tags" Target="../tags/tag796.xml"/><Relationship Id="rId15" Type="http://schemas.openxmlformats.org/officeDocument/2006/relationships/notesSlide" Target="../notesSlides/notesSlide148.xml"/><Relationship Id="rId10" Type="http://schemas.openxmlformats.org/officeDocument/2006/relationships/tags" Target="../tags/tag801.xml"/><Relationship Id="rId4" Type="http://schemas.openxmlformats.org/officeDocument/2006/relationships/tags" Target="../tags/tag795.xml"/><Relationship Id="rId9" Type="http://schemas.openxmlformats.org/officeDocument/2006/relationships/tags" Target="../tags/tag800.xml"/><Relationship Id="rId14"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3" Type="http://schemas.openxmlformats.org/officeDocument/2006/relationships/notesSlide" Target="../notesSlides/notesSlide149.xml"/><Relationship Id="rId2" Type="http://schemas.openxmlformats.org/officeDocument/2006/relationships/slideLayout" Target="../slideLayouts/slideLayout3.xml"/><Relationship Id="rId1" Type="http://schemas.openxmlformats.org/officeDocument/2006/relationships/tags" Target="../tags/tag805.xml"/></Relationships>
</file>

<file path=ppt/slides/_rels/slide165.xml.rels><?xml version="1.0" encoding="UTF-8" standalone="yes"?>
<Relationships xmlns="http://schemas.openxmlformats.org/package/2006/relationships"><Relationship Id="rId3" Type="http://schemas.openxmlformats.org/officeDocument/2006/relationships/notesSlide" Target="../notesSlides/notesSlide150.xml"/><Relationship Id="rId2" Type="http://schemas.openxmlformats.org/officeDocument/2006/relationships/slideLayout" Target="../slideLayouts/slideLayout3.xml"/><Relationship Id="rId1" Type="http://schemas.openxmlformats.org/officeDocument/2006/relationships/tags" Target="../tags/tag806.xml"/><Relationship Id="rId4" Type="http://schemas.openxmlformats.org/officeDocument/2006/relationships/image" Target="../media/image64.png"/></Relationships>
</file>

<file path=ppt/slides/_rels/slide166.xml.rels><?xml version="1.0" encoding="UTF-8" standalone="yes"?>
<Relationships xmlns="http://schemas.openxmlformats.org/package/2006/relationships"><Relationship Id="rId3" Type="http://schemas.openxmlformats.org/officeDocument/2006/relationships/notesSlide" Target="../notesSlides/notesSlide151.xml"/><Relationship Id="rId2" Type="http://schemas.openxmlformats.org/officeDocument/2006/relationships/slideLayout" Target="../slideLayouts/slideLayout3.xml"/><Relationship Id="rId1" Type="http://schemas.openxmlformats.org/officeDocument/2006/relationships/tags" Target="../tags/tag807.xml"/></Relationships>
</file>

<file path=ppt/slides/_rels/slide16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809.xml"/><Relationship Id="rId1" Type="http://schemas.openxmlformats.org/officeDocument/2006/relationships/tags" Target="../tags/tag808.xml"/><Relationship Id="rId4" Type="http://schemas.openxmlformats.org/officeDocument/2006/relationships/notesSlide" Target="../notesSlides/notesSlide152.xml"/></Relationships>
</file>

<file path=ppt/slides/_rels/slide168.xml.rels><?xml version="1.0" encoding="UTF-8" standalone="yes"?>
<Relationships xmlns="http://schemas.openxmlformats.org/package/2006/relationships"><Relationship Id="rId8" Type="http://schemas.openxmlformats.org/officeDocument/2006/relationships/tags" Target="../tags/tag817.xml"/><Relationship Id="rId13" Type="http://schemas.openxmlformats.org/officeDocument/2006/relationships/tags" Target="../tags/tag822.xml"/><Relationship Id="rId18" Type="http://schemas.openxmlformats.org/officeDocument/2006/relationships/tags" Target="../tags/tag827.xml"/><Relationship Id="rId3" Type="http://schemas.openxmlformats.org/officeDocument/2006/relationships/tags" Target="../tags/tag812.xml"/><Relationship Id="rId21" Type="http://schemas.openxmlformats.org/officeDocument/2006/relationships/notesSlide" Target="../notesSlides/notesSlide153.xml"/><Relationship Id="rId7" Type="http://schemas.openxmlformats.org/officeDocument/2006/relationships/tags" Target="../tags/tag816.xml"/><Relationship Id="rId12" Type="http://schemas.openxmlformats.org/officeDocument/2006/relationships/tags" Target="../tags/tag821.xml"/><Relationship Id="rId17" Type="http://schemas.openxmlformats.org/officeDocument/2006/relationships/tags" Target="../tags/tag826.xml"/><Relationship Id="rId2" Type="http://schemas.openxmlformats.org/officeDocument/2006/relationships/tags" Target="../tags/tag811.xml"/><Relationship Id="rId16" Type="http://schemas.openxmlformats.org/officeDocument/2006/relationships/tags" Target="../tags/tag825.xml"/><Relationship Id="rId20" Type="http://schemas.openxmlformats.org/officeDocument/2006/relationships/slideLayout" Target="../slideLayouts/slideLayout3.xml"/><Relationship Id="rId1" Type="http://schemas.openxmlformats.org/officeDocument/2006/relationships/tags" Target="../tags/tag810.xml"/><Relationship Id="rId6" Type="http://schemas.openxmlformats.org/officeDocument/2006/relationships/tags" Target="../tags/tag815.xml"/><Relationship Id="rId11" Type="http://schemas.openxmlformats.org/officeDocument/2006/relationships/tags" Target="../tags/tag820.xml"/><Relationship Id="rId5" Type="http://schemas.openxmlformats.org/officeDocument/2006/relationships/tags" Target="../tags/tag814.xml"/><Relationship Id="rId15" Type="http://schemas.openxmlformats.org/officeDocument/2006/relationships/tags" Target="../tags/tag824.xml"/><Relationship Id="rId10" Type="http://schemas.openxmlformats.org/officeDocument/2006/relationships/tags" Target="../tags/tag819.xml"/><Relationship Id="rId19" Type="http://schemas.openxmlformats.org/officeDocument/2006/relationships/tags" Target="../tags/tag828.xml"/><Relationship Id="rId4" Type="http://schemas.openxmlformats.org/officeDocument/2006/relationships/tags" Target="../tags/tag813.xml"/><Relationship Id="rId9" Type="http://schemas.openxmlformats.org/officeDocument/2006/relationships/tags" Target="../tags/tag818.xml"/><Relationship Id="rId14" Type="http://schemas.openxmlformats.org/officeDocument/2006/relationships/tags" Target="../tags/tag823.xml"/></Relationships>
</file>

<file path=ppt/slides/_rels/slide169.xml.rels><?xml version="1.0" encoding="UTF-8" standalone="yes"?>
<Relationships xmlns="http://schemas.openxmlformats.org/package/2006/relationships"><Relationship Id="rId3" Type="http://schemas.openxmlformats.org/officeDocument/2006/relationships/notesSlide" Target="../notesSlides/notesSlide154.xml"/><Relationship Id="rId2" Type="http://schemas.openxmlformats.org/officeDocument/2006/relationships/slideLayout" Target="../slideLayouts/slideLayout3.xml"/><Relationship Id="rId1" Type="http://schemas.openxmlformats.org/officeDocument/2006/relationships/tags" Target="../tags/tag829.xml"/><Relationship Id="rId4" Type="http://schemas.openxmlformats.org/officeDocument/2006/relationships/image" Target="../media/image42.jpeg"/></Relationships>
</file>

<file path=ppt/slides/_rels/slide170.xml.rels><?xml version="1.0" encoding="UTF-8" standalone="yes"?>
<Relationships xmlns="http://schemas.openxmlformats.org/package/2006/relationships"><Relationship Id="rId8" Type="http://schemas.openxmlformats.org/officeDocument/2006/relationships/slideLayout" Target="../slideLayouts/slideLayout3.xml"/><Relationship Id="rId3" Type="http://schemas.openxmlformats.org/officeDocument/2006/relationships/tags" Target="../tags/tag832.xml"/><Relationship Id="rId7" Type="http://schemas.openxmlformats.org/officeDocument/2006/relationships/tags" Target="../tags/tag836.xml"/><Relationship Id="rId2" Type="http://schemas.openxmlformats.org/officeDocument/2006/relationships/tags" Target="../tags/tag831.xml"/><Relationship Id="rId1" Type="http://schemas.openxmlformats.org/officeDocument/2006/relationships/tags" Target="../tags/tag830.xml"/><Relationship Id="rId6" Type="http://schemas.openxmlformats.org/officeDocument/2006/relationships/tags" Target="../tags/tag835.xml"/><Relationship Id="rId5" Type="http://schemas.openxmlformats.org/officeDocument/2006/relationships/tags" Target="../tags/tag834.xml"/><Relationship Id="rId4" Type="http://schemas.openxmlformats.org/officeDocument/2006/relationships/tags" Target="../tags/tag833.xml"/><Relationship Id="rId9" Type="http://schemas.openxmlformats.org/officeDocument/2006/relationships/notesSlide" Target="../notesSlides/notesSlide15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5.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3" y="1061577"/>
            <a:ext cx="9794157"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a:solidFill>
                <a:srgbClr val="292929"/>
              </a:solidFill>
              <a:latin typeface="Calibri" panose="020F0502020204030204" charset="0"/>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p>
        </p:txBody>
      </p:sp>
    </p:spTree>
    <p:custDataLst>
      <p:tags r:id="rId1"/>
    </p:custDataLst>
  </p:cSld>
  <p:clrMapOvr>
    <a:masterClrMapping/>
  </p:clrMapOvr>
  <p:transition>
    <p:dissolv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427293"/>
            <a:ext cx="8415337" cy="523220"/>
          </a:xfrm>
        </p:spPr>
        <p:txBody>
          <a:bodyPr/>
          <a:lstStyle/>
          <a:p>
            <a:r>
              <a:rPr lang="en-US"/>
              <a:t>8 Web</a:t>
            </a:r>
            <a:r>
              <a:rPr lang="zh-CN" altLang="en-US"/>
              <a:t>软件工程</a:t>
            </a:r>
          </a:p>
        </p:txBody>
      </p:sp>
      <p:sp>
        <p:nvSpPr>
          <p:cNvPr id="100" name="文本框 99"/>
          <p:cNvSpPr txBox="1"/>
          <p:nvPr/>
        </p:nvSpPr>
        <p:spPr>
          <a:xfrm>
            <a:off x="1559560" y="2136775"/>
            <a:ext cx="9878060" cy="3004605"/>
          </a:xfrm>
          <a:prstGeom prst="rect">
            <a:avLst/>
          </a:prstGeom>
          <a:noFill/>
          <a:ln w="9525">
            <a:noFill/>
          </a:ln>
        </p:spPr>
        <p:txBody>
          <a:bodyPr wrap="square">
            <a:spAutoFit/>
          </a:bodyPr>
          <a:lstStyle/>
          <a:p>
            <a:pPr marL="0" indent="0" algn="just" fontAlgn="auto">
              <a:lnSpc>
                <a:spcPct val="150000"/>
              </a:lnSpc>
            </a:pPr>
            <a:r>
              <a:rPr lang="en-US" altLang="zh-CN" sz="1600" dirty="0">
                <a:latin typeface="微软雅黑" panose="020B0503020204020204" charset="-122"/>
                <a:ea typeface="微软雅黑" panose="020B0503020204020204" charset="-122"/>
                <a:sym typeface="+mn-ea"/>
              </a:rPr>
              <a:t>       </a:t>
            </a:r>
            <a:r>
              <a:rPr lang="zh-CN" altLang="en-US" sz="1600" dirty="0">
                <a:sym typeface="+mn-ea"/>
              </a:rPr>
              <a:t>随着网络技术的不断发展，应用Web（网页）的系统越来越多，Web在很多领域都有着巨大的需求。基于Web的应用是指使用Internet浏览器管理用户界面所表现的内容，而业务逻辑和数据库都部署在服务器上。</a:t>
            </a:r>
          </a:p>
          <a:p>
            <a:pPr marL="0" indent="0" algn="just" fontAlgn="auto">
              <a:lnSpc>
                <a:spcPct val="150000"/>
              </a:lnSpc>
            </a:pPr>
            <a:r>
              <a:rPr lang="zh-CN" altLang="en-US" sz="1600" dirty="0">
                <a:sym typeface="+mn-ea"/>
              </a:rPr>
              <a:t>       典型的基于Web系统的组件至少部署在三层（即Web客户端、Web服务器和数据库服务器）以上。对于基于Web的应用程序来说，常在客户端采用Java Applet（Java写的小程序）和JavaScript（Java脚本语言）两种技术，在服务器端采用Servlet和动态网页技术标准JSP两种技术。Servlet可以产生超文本标记语言（HTML）。HTML页面的Java代码由Web服务器管理，代码通过JSP支持。Web服务器提供HTML客户端浏览器和数据库服务器之间的通信通道。Servlet一旦被加载到服务器中，就能够链接数据库并为多个客户端维护这个链接。而JSP是在HTML页面中嵌入Java代码，用来管理页面的动态内容并提供数据，运行之前JSP是要动态编译的。</a:t>
            </a:r>
          </a:p>
        </p:txBody>
      </p:sp>
      <p:sp>
        <p:nvSpPr>
          <p:cNvPr id="7" name="文本框 6"/>
          <p:cNvSpPr txBox="1"/>
          <p:nvPr/>
        </p:nvSpPr>
        <p:spPr>
          <a:xfrm>
            <a:off x="754380" y="3062605"/>
            <a:ext cx="476250" cy="1649730"/>
          </a:xfrm>
          <a:prstGeom prst="rect">
            <a:avLst/>
          </a:prstGeom>
          <a:noFill/>
        </p:spPr>
        <p:txBody>
          <a:bodyPr vert="eaVert" wrap="none" rtlCol="0">
            <a:spAutoFit/>
          </a:bodyPr>
          <a:lstStyle/>
          <a:p>
            <a:pPr algn="l"/>
            <a:r>
              <a:rPr lang="en-US" altLang="zh-CN" spc="160" dirty="0">
                <a:solidFill>
                  <a:schemeClr val="bg1"/>
                </a:solidFill>
                <a:latin typeface="微软雅黑" panose="020B0503020204020204" charset="-122"/>
                <a:ea typeface="微软雅黑" panose="020B0503020204020204" charset="-122"/>
              </a:rPr>
              <a:t>Web</a:t>
            </a:r>
            <a:r>
              <a:rPr lang="zh-CN" altLang="en-US" spc="160" dirty="0">
                <a:solidFill>
                  <a:schemeClr val="bg1"/>
                </a:solidFill>
                <a:latin typeface="微软雅黑" panose="020B0503020204020204" charset="-122"/>
                <a:ea typeface="微软雅黑" panose="020B0503020204020204" charset="-122"/>
              </a:rPr>
              <a:t>软件工程</a:t>
            </a:r>
          </a:p>
        </p:txBody>
      </p:sp>
    </p:spTree>
    <p:custDataLst>
      <p:tags r:id="rId1"/>
    </p:custDataLst>
  </p:cSld>
  <p:clrMapOvr>
    <a:masterClrMapping/>
  </p:clrMapOvr>
  <p:transition>
    <p:wedg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427293"/>
            <a:ext cx="8415337" cy="523220"/>
          </a:xfrm>
        </p:spPr>
        <p:txBody>
          <a:bodyPr/>
          <a:lstStyle/>
          <a:p>
            <a:r>
              <a:rPr lang="en-US"/>
              <a:t>8 Web</a:t>
            </a:r>
            <a:r>
              <a:rPr lang="zh-CN" altLang="en-US"/>
              <a:t>软件工程</a:t>
            </a:r>
          </a:p>
        </p:txBody>
      </p:sp>
      <p:sp>
        <p:nvSpPr>
          <p:cNvPr id="100" name="文本框 99"/>
          <p:cNvSpPr txBox="1"/>
          <p:nvPr/>
        </p:nvSpPr>
        <p:spPr>
          <a:xfrm>
            <a:off x="1559560" y="1692275"/>
            <a:ext cx="9878060" cy="4245842"/>
          </a:xfrm>
          <a:prstGeom prst="rect">
            <a:avLst/>
          </a:prstGeom>
          <a:noFill/>
          <a:ln w="9525">
            <a:noFill/>
          </a:ln>
        </p:spPr>
        <p:txBody>
          <a:bodyPr wrap="square">
            <a:spAutoFit/>
          </a:bodyPr>
          <a:lstStyle/>
          <a:p>
            <a:pPr marL="0" indent="0" algn="just" fontAlgn="auto">
              <a:lnSpc>
                <a:spcPct val="150000"/>
              </a:lnSpc>
            </a:pPr>
            <a:r>
              <a:rPr lang="en-US" altLang="zh-CN" sz="1600" dirty="0">
                <a:latin typeface="微软雅黑" panose="020B0503020204020204" charset="-122"/>
                <a:ea typeface="微软雅黑" panose="020B0503020204020204" charset="-122"/>
                <a:sym typeface="+mn-ea"/>
              </a:rPr>
              <a:t>       </a:t>
            </a:r>
            <a:r>
              <a:rPr lang="zh-CN" altLang="en-US" sz="1600" dirty="0">
                <a:sym typeface="+mn-ea"/>
              </a:rPr>
              <a:t>本章从基于Web应用的角度，探讨和介绍Web系统的设计模式，并分析基于Web的系统和应用（WebApp）设计的6个主要步骤。</a:t>
            </a:r>
          </a:p>
          <a:p>
            <a:pPr marL="285750" indent="-285750" algn="just" fontAlgn="auto">
              <a:lnSpc>
                <a:spcPct val="150000"/>
              </a:lnSpc>
              <a:buFont typeface="Wingdings" panose="05000000000000000000" charset="0"/>
              <a:buChar char="Ø"/>
            </a:pPr>
            <a:r>
              <a:rPr lang="zh-CN" altLang="en-US" sz="1600" dirty="0">
                <a:sym typeface="+mn-ea"/>
              </a:rPr>
              <a:t>界面设计：创建定义用户界面的总体布局和交互机制；</a:t>
            </a:r>
          </a:p>
          <a:p>
            <a:pPr marL="285750" indent="-285750" algn="just" fontAlgn="auto">
              <a:lnSpc>
                <a:spcPct val="150000"/>
              </a:lnSpc>
              <a:buFont typeface="Wingdings" panose="05000000000000000000" charset="0"/>
              <a:buChar char="Ø"/>
            </a:pPr>
            <a:r>
              <a:rPr lang="zh-CN" altLang="en-US" sz="1600" dirty="0">
                <a:sym typeface="+mn-ea"/>
              </a:rPr>
              <a:t>美学设计：建立最终用户所关注的外观和感觉；</a:t>
            </a:r>
          </a:p>
          <a:p>
            <a:pPr marL="285750" indent="-285750" algn="just" fontAlgn="auto">
              <a:lnSpc>
                <a:spcPct val="150000"/>
              </a:lnSpc>
              <a:buFont typeface="Wingdings" panose="05000000000000000000" charset="0"/>
              <a:buChar char="Ø"/>
            </a:pPr>
            <a:r>
              <a:rPr lang="zh-CN" altLang="en-US" sz="1600" dirty="0">
                <a:sym typeface="+mn-ea"/>
              </a:rPr>
              <a:t>内容设计：将从分析模型中获取的信息作为设计内容对象及它们之间的关系基础；</a:t>
            </a:r>
          </a:p>
          <a:p>
            <a:pPr marL="285750" indent="-285750" algn="just" fontAlgn="auto">
              <a:lnSpc>
                <a:spcPct val="150000"/>
              </a:lnSpc>
              <a:buFont typeface="Wingdings" panose="05000000000000000000" charset="0"/>
              <a:buChar char="Ø"/>
            </a:pPr>
            <a:r>
              <a:rPr lang="zh-CN" altLang="en-US" sz="1600" dirty="0">
                <a:sym typeface="+mn-ea"/>
              </a:rPr>
              <a:t>体系结构设计：重点关注所有内容对象和功能的总体超媒体结构；</a:t>
            </a:r>
          </a:p>
          <a:p>
            <a:pPr marL="285750" indent="-285750" algn="just" fontAlgn="auto">
              <a:lnSpc>
                <a:spcPct val="150000"/>
              </a:lnSpc>
              <a:buFont typeface="Wingdings" panose="05000000000000000000" charset="0"/>
              <a:buChar char="Ø"/>
            </a:pPr>
            <a:r>
              <a:rPr lang="zh-CN" altLang="en-US" sz="1600" dirty="0">
                <a:sym typeface="+mn-ea"/>
              </a:rPr>
              <a:t>构件设计：表示了WebApp功能元素的详细内部结构；</a:t>
            </a:r>
          </a:p>
          <a:p>
            <a:pPr marL="285750" indent="-285750" algn="just" fontAlgn="auto">
              <a:lnSpc>
                <a:spcPct val="150000"/>
              </a:lnSpc>
              <a:buFont typeface="Wingdings" panose="05000000000000000000" charset="0"/>
              <a:buChar char="Ø"/>
            </a:pPr>
            <a:r>
              <a:rPr lang="zh-CN" altLang="en-US" sz="1600" dirty="0">
                <a:sym typeface="+mn-ea"/>
              </a:rPr>
              <a:t>导航设计：定义最终用户是怎样对超媒体结构进行导航的。</a:t>
            </a:r>
          </a:p>
          <a:p>
            <a:pPr marL="0" indent="0" algn="just" fontAlgn="auto">
              <a:lnSpc>
                <a:spcPct val="150000"/>
              </a:lnSpc>
            </a:pPr>
            <a:r>
              <a:rPr lang="zh-CN" altLang="en-US" sz="1600" dirty="0">
                <a:sym typeface="+mn-ea"/>
              </a:rPr>
              <a:t>本章最后介绍了WebApp的测试方法。</a:t>
            </a:r>
          </a:p>
          <a:p>
            <a:pPr marL="0" indent="0" algn="just" fontAlgn="auto">
              <a:lnSpc>
                <a:spcPct val="150000"/>
              </a:lnSpc>
            </a:pPr>
            <a:r>
              <a:rPr lang="zh-CN" altLang="en-US" sz="1600" dirty="0">
                <a:sym typeface="+mn-ea"/>
              </a:rPr>
              <a:t>★ 本章重点：Web的层次结构；Web的客户端和服务器所使用的技术；Web软件的设计模式，模型－视图－控制器模式；WebApp设计方法；WebApp测试方法。</a:t>
            </a:r>
          </a:p>
        </p:txBody>
      </p:sp>
      <p:sp>
        <p:nvSpPr>
          <p:cNvPr id="7" name="文本框 6"/>
          <p:cNvSpPr txBox="1"/>
          <p:nvPr/>
        </p:nvSpPr>
        <p:spPr>
          <a:xfrm>
            <a:off x="754380" y="3062605"/>
            <a:ext cx="476250" cy="1649730"/>
          </a:xfrm>
          <a:prstGeom prst="rect">
            <a:avLst/>
          </a:prstGeom>
          <a:noFill/>
        </p:spPr>
        <p:txBody>
          <a:bodyPr vert="eaVert" wrap="none" rtlCol="0">
            <a:spAutoFit/>
          </a:bodyPr>
          <a:lstStyle/>
          <a:p>
            <a:pPr algn="l"/>
            <a:r>
              <a:rPr lang="en-US" altLang="zh-CN" spc="160" dirty="0">
                <a:solidFill>
                  <a:schemeClr val="bg1"/>
                </a:solidFill>
                <a:latin typeface="微软雅黑" panose="020B0503020204020204" charset="-122"/>
                <a:ea typeface="微软雅黑" panose="020B0503020204020204" charset="-122"/>
              </a:rPr>
              <a:t>Web</a:t>
            </a:r>
            <a:r>
              <a:rPr lang="zh-CN" altLang="en-US" spc="160" dirty="0">
                <a:solidFill>
                  <a:schemeClr val="bg1"/>
                </a:solidFill>
                <a:latin typeface="微软雅黑" panose="020B0503020204020204" charset="-122"/>
                <a:ea typeface="微软雅黑" panose="020B0503020204020204" charset="-122"/>
              </a:rPr>
              <a:t>软件工程</a:t>
            </a:r>
          </a:p>
        </p:txBody>
      </p:sp>
    </p:spTree>
    <p:custDataLst>
      <p:tags r:id="rId1"/>
    </p:custDataLst>
  </p:cSld>
  <p:clrMapOvr>
    <a:masterClrMapping/>
  </p:clrMapOvr>
  <p:transition>
    <p:wedg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8958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Arial Black" panose="020B0A04020102020204" pitchFamily="34"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5521325" y="1720850"/>
            <a:ext cx="5085080" cy="611505"/>
            <a:chOff x="8728" y="2565"/>
            <a:chExt cx="8008" cy="963"/>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Web</a:t>
              </a:r>
              <a:r>
                <a:rPr lang="zh-CN" altLang="en-US" sz="2400" b="1" dirty="0">
                  <a:solidFill>
                    <a:schemeClr val="bg1"/>
                  </a:solidFill>
                  <a:latin typeface="微软雅黑" panose="020B0503020204020204" charset="-122"/>
                  <a:ea typeface="微软雅黑" panose="020B0503020204020204" charset="-122"/>
                </a:rPr>
                <a:t>软件的特性</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6" name="组合 15"/>
          <p:cNvGrpSpPr/>
          <p:nvPr/>
        </p:nvGrpSpPr>
        <p:grpSpPr>
          <a:xfrm>
            <a:off x="4825365" y="2724150"/>
            <a:ext cx="5048250" cy="612775"/>
            <a:chOff x="7754" y="4005"/>
            <a:chExt cx="7781" cy="965"/>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9352" y="4103"/>
              <a:ext cx="6183"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Web</a:t>
              </a:r>
              <a:r>
                <a:rPr lang="zh-CN" altLang="en-US" sz="2400" b="1" dirty="0">
                  <a:solidFill>
                    <a:schemeClr val="bg1"/>
                  </a:solidFill>
                  <a:latin typeface="微软雅黑" panose="020B0503020204020204" charset="-122"/>
                  <a:ea typeface="微软雅黑" panose="020B0503020204020204" charset="-122"/>
                </a:rPr>
                <a:t>的层次结构</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5" name="组合 14"/>
          <p:cNvGrpSpPr/>
          <p:nvPr/>
        </p:nvGrpSpPr>
        <p:grpSpPr>
          <a:xfrm>
            <a:off x="4093845" y="3705860"/>
            <a:ext cx="4770755" cy="612775"/>
            <a:chOff x="6616" y="5448"/>
            <a:chExt cx="7513" cy="965"/>
          </a:xfrm>
        </p:grpSpPr>
        <p:pic>
          <p:nvPicPr>
            <p:cNvPr id="61" name="图片 32"/>
            <p:cNvPicPr>
              <a:picLocks noChangeAspect="1"/>
            </p:cNvPicPr>
            <p:nvPr/>
          </p:nvPicPr>
          <p:blipFill>
            <a:blip r:embed="rId9" cstate="print"/>
            <a:stretch>
              <a:fillRect/>
            </a:stretch>
          </p:blipFill>
          <p:spPr>
            <a:xfrm>
              <a:off x="6616" y="5448"/>
              <a:ext cx="963" cy="965"/>
            </a:xfrm>
            <a:prstGeom prst="rect">
              <a:avLst/>
            </a:prstGeom>
            <a:noFill/>
            <a:ln w="9525">
              <a:noFill/>
            </a:ln>
          </p:spPr>
        </p:pic>
        <p:sp>
          <p:nvSpPr>
            <p:cNvPr id="62" name="椭圆 61"/>
            <p:cNvSpPr/>
            <p:nvPr/>
          </p:nvSpPr>
          <p:spPr>
            <a:xfrm>
              <a:off x="6616" y="5448"/>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4" name="组合 34"/>
            <p:cNvGrpSpPr/>
            <p:nvPr/>
          </p:nvGrpSpPr>
          <p:grpSpPr>
            <a:xfrm>
              <a:off x="7771" y="5448"/>
              <a:ext cx="6358" cy="962"/>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66" name="文本框 35"/>
            <p:cNvSpPr txBox="1"/>
            <p:nvPr/>
          </p:nvSpPr>
          <p:spPr>
            <a:xfrm>
              <a:off x="8213" y="5545"/>
              <a:ext cx="5916"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客户端层可用技术</a:t>
              </a:r>
            </a:p>
          </p:txBody>
        </p:sp>
        <p:sp>
          <p:nvSpPr>
            <p:cNvPr id="67" name="文本框 36"/>
            <p:cNvSpPr txBox="1"/>
            <p:nvPr/>
          </p:nvSpPr>
          <p:spPr>
            <a:xfrm>
              <a:off x="6676" y="5585"/>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03</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6" name="组合 5"/>
          <p:cNvGrpSpPr/>
          <p:nvPr/>
        </p:nvGrpSpPr>
        <p:grpSpPr>
          <a:xfrm>
            <a:off x="3320415" y="4733925"/>
            <a:ext cx="4683760" cy="611505"/>
            <a:chOff x="5228" y="7274"/>
            <a:chExt cx="7100" cy="963"/>
          </a:xfrm>
        </p:grpSpPr>
        <p:pic>
          <p:nvPicPr>
            <p:cNvPr id="68" name="图片 40"/>
            <p:cNvPicPr>
              <a:picLocks noChangeAspect="1"/>
            </p:cNvPicPr>
            <p:nvPr/>
          </p:nvPicPr>
          <p:blipFill>
            <a:blip r:embed="rId9" cstate="print"/>
            <a:stretch>
              <a:fillRect/>
            </a:stretch>
          </p:blipFill>
          <p:spPr>
            <a:xfrm>
              <a:off x="5228" y="7274"/>
              <a:ext cx="963" cy="963"/>
            </a:xfrm>
            <a:prstGeom prst="rect">
              <a:avLst/>
            </a:prstGeom>
            <a:noFill/>
            <a:ln w="9525">
              <a:noFill/>
            </a:ln>
          </p:spPr>
        </p:pic>
        <p:sp>
          <p:nvSpPr>
            <p:cNvPr id="69" name="椭圆 68"/>
            <p:cNvSpPr/>
            <p:nvPr/>
          </p:nvSpPr>
          <p:spPr>
            <a:xfrm>
              <a:off x="5228" y="7274"/>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5" name="组合 42"/>
            <p:cNvGrpSpPr/>
            <p:nvPr/>
          </p:nvGrpSpPr>
          <p:grpSpPr>
            <a:xfrm>
              <a:off x="6383" y="7274"/>
              <a:ext cx="5945" cy="960"/>
              <a:chOff x="6004452" y="1971917"/>
              <a:chExt cx="3406249" cy="610204"/>
            </a:xfrm>
          </p:grpSpPr>
          <p:pic>
            <p:nvPicPr>
              <p:cNvPr id="71" name="图片 45"/>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72" name="圆角矩形 71"/>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73" name="文本框 43"/>
            <p:cNvSpPr txBox="1"/>
            <p:nvPr/>
          </p:nvSpPr>
          <p:spPr>
            <a:xfrm>
              <a:off x="6825" y="7371"/>
              <a:ext cx="5503"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Web</a:t>
              </a:r>
              <a:r>
                <a:rPr lang="zh-CN" altLang="en-US" sz="2400" b="1" dirty="0">
                  <a:solidFill>
                    <a:schemeClr val="bg1"/>
                  </a:solidFill>
                  <a:latin typeface="微软雅黑" panose="020B0503020204020204" charset="-122"/>
                  <a:ea typeface="微软雅黑" panose="020B0503020204020204" charset="-122"/>
                </a:rPr>
                <a:t>服务器层使用的技术</a:t>
              </a:r>
            </a:p>
          </p:txBody>
        </p:sp>
        <p:sp>
          <p:nvSpPr>
            <p:cNvPr id="74" name="文本框 44"/>
            <p:cNvSpPr txBox="1"/>
            <p:nvPr/>
          </p:nvSpPr>
          <p:spPr>
            <a:xfrm>
              <a:off x="5288" y="7411"/>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04</a:t>
              </a:r>
              <a:endParaRPr lang="zh-CN" altLang="en-US" sz="2400" b="1" dirty="0">
                <a:solidFill>
                  <a:schemeClr val="bg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pull dir="rd"/>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8958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Arial Black" panose="020B0A04020102020204" pitchFamily="34"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5480050" y="1720850"/>
            <a:ext cx="5085080" cy="611505"/>
            <a:chOff x="8728" y="2565"/>
            <a:chExt cx="8008" cy="963"/>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Web</a:t>
              </a:r>
              <a:r>
                <a:rPr lang="zh-CN" altLang="en-US" sz="2400" b="1" dirty="0">
                  <a:solidFill>
                    <a:schemeClr val="bg1"/>
                  </a:solidFill>
                  <a:latin typeface="微软雅黑" panose="020B0503020204020204" charset="-122"/>
                  <a:ea typeface="微软雅黑" panose="020B0503020204020204" charset="-122"/>
                </a:rPr>
                <a:t>软件设计模式</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a:t>
              </a:r>
              <a:r>
                <a:rPr lang="en-US" sz="2400" b="1" dirty="0">
                  <a:solidFill>
                    <a:schemeClr val="bg1"/>
                  </a:solidFill>
                  <a:latin typeface="微软雅黑" panose="020B0503020204020204" charset="-122"/>
                  <a:ea typeface="微软雅黑" panose="020B0503020204020204" charset="-122"/>
                </a:rPr>
                <a:t>5</a:t>
              </a:r>
            </a:p>
          </p:txBody>
        </p:sp>
      </p:grpSp>
      <p:grpSp>
        <p:nvGrpSpPr>
          <p:cNvPr id="16" name="组合 15"/>
          <p:cNvGrpSpPr/>
          <p:nvPr/>
        </p:nvGrpSpPr>
        <p:grpSpPr>
          <a:xfrm>
            <a:off x="4443095" y="3125470"/>
            <a:ext cx="5048250" cy="612775"/>
            <a:chOff x="7754" y="4005"/>
            <a:chExt cx="7781" cy="965"/>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9352" y="4103"/>
              <a:ext cx="6183"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WebApp</a:t>
              </a:r>
              <a:r>
                <a:rPr lang="zh-CN" altLang="en-US" sz="2400" b="1" dirty="0">
                  <a:solidFill>
                    <a:schemeClr val="bg1"/>
                  </a:solidFill>
                  <a:latin typeface="微软雅黑" panose="020B0503020204020204" charset="-122"/>
                  <a:ea typeface="微软雅黑" panose="020B0503020204020204" charset="-122"/>
                </a:rPr>
                <a:t>设计</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a:t>
              </a:r>
              <a:r>
                <a:rPr lang="en-US" sz="2400" b="1" dirty="0">
                  <a:solidFill>
                    <a:schemeClr val="bg1"/>
                  </a:solidFill>
                  <a:latin typeface="微软雅黑" panose="020B0503020204020204" charset="-122"/>
                  <a:ea typeface="微软雅黑" panose="020B0503020204020204" charset="-122"/>
                </a:rPr>
                <a:t>6</a:t>
              </a:r>
            </a:p>
          </p:txBody>
        </p:sp>
      </p:grpSp>
      <p:grpSp>
        <p:nvGrpSpPr>
          <p:cNvPr id="15" name="组合 14"/>
          <p:cNvGrpSpPr/>
          <p:nvPr/>
        </p:nvGrpSpPr>
        <p:grpSpPr>
          <a:xfrm>
            <a:off x="3373755" y="4556760"/>
            <a:ext cx="4770755" cy="612775"/>
            <a:chOff x="6616" y="5448"/>
            <a:chExt cx="7513" cy="965"/>
          </a:xfrm>
        </p:grpSpPr>
        <p:pic>
          <p:nvPicPr>
            <p:cNvPr id="61" name="图片 32"/>
            <p:cNvPicPr>
              <a:picLocks noChangeAspect="1"/>
            </p:cNvPicPr>
            <p:nvPr/>
          </p:nvPicPr>
          <p:blipFill>
            <a:blip r:embed="rId9" cstate="print"/>
            <a:stretch>
              <a:fillRect/>
            </a:stretch>
          </p:blipFill>
          <p:spPr>
            <a:xfrm>
              <a:off x="6616" y="5448"/>
              <a:ext cx="963" cy="965"/>
            </a:xfrm>
            <a:prstGeom prst="rect">
              <a:avLst/>
            </a:prstGeom>
            <a:noFill/>
            <a:ln w="9525">
              <a:noFill/>
            </a:ln>
          </p:spPr>
        </p:pic>
        <p:sp>
          <p:nvSpPr>
            <p:cNvPr id="62" name="椭圆 61"/>
            <p:cNvSpPr/>
            <p:nvPr/>
          </p:nvSpPr>
          <p:spPr>
            <a:xfrm>
              <a:off x="6616" y="5448"/>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4" name="组合 34"/>
            <p:cNvGrpSpPr/>
            <p:nvPr/>
          </p:nvGrpSpPr>
          <p:grpSpPr>
            <a:xfrm>
              <a:off x="7771" y="5448"/>
              <a:ext cx="6358" cy="962"/>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66" name="文本框 35"/>
            <p:cNvSpPr txBox="1"/>
            <p:nvPr/>
          </p:nvSpPr>
          <p:spPr>
            <a:xfrm>
              <a:off x="8213" y="5545"/>
              <a:ext cx="5916"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WebApp</a:t>
              </a:r>
              <a:r>
                <a:rPr lang="zh-CN" altLang="en-US" sz="2400" b="1" dirty="0">
                  <a:solidFill>
                    <a:schemeClr val="bg1"/>
                  </a:solidFill>
                  <a:latin typeface="微软雅黑" panose="020B0503020204020204" charset="-122"/>
                  <a:ea typeface="微软雅黑" panose="020B0503020204020204" charset="-122"/>
                </a:rPr>
                <a:t>测试</a:t>
              </a:r>
            </a:p>
          </p:txBody>
        </p:sp>
        <p:sp>
          <p:nvSpPr>
            <p:cNvPr id="67" name="文本框 36"/>
            <p:cNvSpPr txBox="1"/>
            <p:nvPr/>
          </p:nvSpPr>
          <p:spPr>
            <a:xfrm>
              <a:off x="6676" y="5585"/>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07</a:t>
              </a:r>
              <a:endParaRPr lang="zh-CN" altLang="en-US" sz="2400" b="1" dirty="0">
                <a:solidFill>
                  <a:schemeClr val="bg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pull dir="rd"/>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1</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软件的特性</a:t>
            </a:r>
          </a:p>
        </p:txBody>
      </p:sp>
      <p:grpSp>
        <p:nvGrpSpPr>
          <p:cNvPr id="11" name="组合 10"/>
          <p:cNvGrpSpPr/>
          <p:nvPr/>
        </p:nvGrpSpPr>
        <p:grpSpPr>
          <a:xfrm>
            <a:off x="6006465" y="4013835"/>
            <a:ext cx="5344160" cy="835660"/>
            <a:chOff x="9459" y="7259"/>
            <a:chExt cx="8416" cy="1316"/>
          </a:xfrm>
        </p:grpSpPr>
        <p:sp>
          <p:nvSpPr>
            <p:cNvPr id="48" name="文本框 47"/>
            <p:cNvSpPr txBox="1"/>
            <p:nvPr/>
          </p:nvSpPr>
          <p:spPr>
            <a:xfrm>
              <a:off x="9459" y="7259"/>
              <a:ext cx="8416"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是图形化的和易于导航的</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与平台无关</a:t>
              </a:r>
            </a:p>
          </p:txBody>
        </p:sp>
      </p:grpSp>
      <p:grpSp>
        <p:nvGrpSpPr>
          <p:cNvPr id="3" name="组合 2"/>
          <p:cNvGrpSpPr/>
          <p:nvPr/>
        </p:nvGrpSpPr>
        <p:grpSpPr>
          <a:xfrm>
            <a:off x="6006465" y="4849495"/>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是分布式的</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是动态的</a:t>
              </a:r>
            </a:p>
          </p:txBody>
        </p:sp>
      </p:grpSp>
      <p:grpSp>
        <p:nvGrpSpPr>
          <p:cNvPr id="8" name="组合 7"/>
          <p:cNvGrpSpPr/>
          <p:nvPr/>
        </p:nvGrpSpPr>
        <p:grpSpPr>
          <a:xfrm>
            <a:off x="6006465" y="5685155"/>
            <a:ext cx="3712845" cy="835660"/>
            <a:chOff x="9459" y="7259"/>
            <a:chExt cx="5847" cy="1316"/>
          </a:xfrm>
        </p:grpSpPr>
        <p:sp>
          <p:nvSpPr>
            <p:cNvPr id="9" name="文本框 8"/>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是交互的</a:t>
              </a:r>
            </a:p>
          </p:txBody>
        </p:sp>
        <p:sp>
          <p:nvSpPr>
            <p:cNvPr id="12" name="文本框 11"/>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数据集可重复利用</a:t>
              </a:r>
            </a:p>
          </p:txBody>
        </p:sp>
      </p:grpSp>
    </p:spTree>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8.1 Web</a:t>
            </a:r>
            <a:r>
              <a:rPr lang="zh-CN" altLang="en-US" dirty="0">
                <a:sym typeface="+mn-ea"/>
              </a:rPr>
              <a:t>软件的特性</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455295" y="2463165"/>
            <a:ext cx="7134225" cy="2953181"/>
          </a:xfrm>
          <a:prstGeom prst="rect">
            <a:avLst/>
          </a:prstGeom>
        </p:spPr>
        <p:txBody>
          <a:bodyPr wrap="square">
            <a:spAutoFit/>
          </a:bodyPr>
          <a:lstStyle/>
          <a:p>
            <a:pPr indent="457200">
              <a:lnSpc>
                <a:spcPct val="150000"/>
              </a:lnSpc>
              <a:defRPr/>
            </a:pPr>
            <a:r>
              <a:rPr lang="zh-CN" altLang="en-US" dirty="0"/>
              <a:t>随着科技的不断发展，网络的发展更是飞速，</a:t>
            </a:r>
            <a:r>
              <a:rPr lang="en-US" altLang="zh-CN" dirty="0"/>
              <a:t>Web</a:t>
            </a:r>
            <a:r>
              <a:rPr lang="zh-CN" altLang="en-US" dirty="0"/>
              <a:t>已从</a:t>
            </a:r>
            <a:r>
              <a:rPr lang="en-US" altLang="zh-CN" dirty="0"/>
              <a:t>Web 1.0</a:t>
            </a:r>
            <a:r>
              <a:rPr lang="zh-CN" altLang="en-US" dirty="0"/>
              <a:t>发展到</a:t>
            </a:r>
            <a:r>
              <a:rPr lang="en-US" altLang="zh-CN" dirty="0"/>
              <a:t>Web 3.0</a:t>
            </a:r>
            <a:r>
              <a:rPr lang="zh-CN" altLang="en-US" dirty="0"/>
              <a:t>。</a:t>
            </a:r>
            <a:r>
              <a:rPr lang="en-US" altLang="zh-CN" dirty="0"/>
              <a:t>2007</a:t>
            </a:r>
            <a:r>
              <a:rPr lang="zh-CN" altLang="en-US" dirty="0"/>
              <a:t>年，谷歌首席执行官</a:t>
            </a:r>
            <a:r>
              <a:rPr lang="en-US" altLang="zh-CN" dirty="0"/>
              <a:t>Eric Schmidt</a:t>
            </a:r>
            <a:r>
              <a:rPr lang="zh-CN" altLang="en-US" dirty="0"/>
              <a:t>在出席首尔数字论坛时，曾谈到“对于</a:t>
            </a:r>
            <a:r>
              <a:rPr lang="en-US" altLang="zh-CN" dirty="0"/>
              <a:t>Web 3.0</a:t>
            </a:r>
            <a:r>
              <a:rPr lang="zh-CN" altLang="en-US" dirty="0"/>
              <a:t>，我的预测将是拼凑在一起的应用程序，带有一些主要特征：应用程序相对较小、数据处于</a:t>
            </a:r>
            <a:r>
              <a:rPr lang="en-US" altLang="zh-CN" dirty="0"/>
              <a:t>Cloud</a:t>
            </a:r>
            <a:r>
              <a:rPr lang="zh-CN" altLang="en-US" dirty="0"/>
              <a:t>中、应用程序可以在任何设备（</a:t>
            </a:r>
            <a:r>
              <a:rPr lang="en-US" altLang="zh-CN" dirty="0"/>
              <a:t>PC</a:t>
            </a:r>
            <a:r>
              <a:rPr lang="zh-CN" altLang="en-US" dirty="0"/>
              <a:t>或者移动电话）上运行、应用程序的速度非常快并能进行很多自定义，此外应用程序会像病毒一样地扩散（社交网络、电子邮件等）。”</a:t>
            </a:r>
            <a:endParaRPr lang="en-US" altLang="zh-CN" dirty="0"/>
          </a:p>
        </p:txBody>
      </p:sp>
      <p:pic>
        <p:nvPicPr>
          <p:cNvPr id="3" name="图片 2" descr="A000220150318R02PPIC"/>
          <p:cNvPicPr>
            <a:picLocks noChangeAspect="1"/>
          </p:cNvPicPr>
          <p:nvPr/>
        </p:nvPicPr>
        <p:blipFill>
          <a:blip r:embed="rId4" cstate="print"/>
          <a:stretch>
            <a:fillRect/>
          </a:stretch>
        </p:blipFill>
        <p:spPr>
          <a:xfrm>
            <a:off x="7361555" y="1116330"/>
            <a:ext cx="4830445" cy="3542030"/>
          </a:xfrm>
          <a:prstGeom prst="rect">
            <a:avLst/>
          </a:prstGeom>
        </p:spPr>
      </p:pic>
    </p:spTree>
    <p:custDataLst>
      <p:tags r:id="rId1"/>
    </p:custDataLst>
  </p:cSld>
  <p:clrMapOvr>
    <a:masterClrMapping/>
  </p:clrMapOvr>
  <p:transition>
    <p:zoom/>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altLang="zh-CN" dirty="0">
                <a:sym typeface="+mn-ea"/>
              </a:rPr>
              <a:t>8.1 Web</a:t>
            </a:r>
            <a:r>
              <a:rPr lang="zh-CN" altLang="en-US" dirty="0">
                <a:sym typeface="+mn-ea"/>
              </a:rPr>
              <a:t>软件的特性</a:t>
            </a:r>
          </a:p>
        </p:txBody>
      </p:sp>
      <p:grpSp>
        <p:nvGrpSpPr>
          <p:cNvPr id="4" name="组合 3"/>
          <p:cNvGrpSpPr/>
          <p:nvPr/>
        </p:nvGrpSpPr>
        <p:grpSpPr>
          <a:xfrm>
            <a:off x="810423" y="1881364"/>
            <a:ext cx="10707370" cy="2077085"/>
            <a:chOff x="1630" y="5726"/>
            <a:chExt cx="16862" cy="3271"/>
          </a:xfrm>
        </p:grpSpPr>
        <p:cxnSp>
          <p:nvCxnSpPr>
            <p:cNvPr id="5"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6"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8" name="MH_SubTitle_1"/>
            <p:cNvSpPr txBox="1">
              <a:spLocks noChangeArrowheads="1"/>
            </p:cNvSpPr>
            <p:nvPr/>
          </p:nvSpPr>
          <p:spPr bwMode="auto">
            <a:xfrm>
              <a:off x="3283" y="6688"/>
              <a:ext cx="1520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Web是图形化的和易于导航的</a:t>
              </a:r>
            </a:p>
            <a:p>
              <a:pPr indent="457200" fontAlgn="auto">
                <a:lnSpc>
                  <a:spcPct val="120000"/>
                </a:lnSpc>
              </a:pPr>
              <a:r>
                <a:rPr lang="zh-CN" altLang="en-US" dirty="0">
                  <a:ea typeface="微软雅黑" panose="020B0503020204020204" charset="-122"/>
                </a:rPr>
                <a:t>Web非常流行的一个很重要的原因，就在于它可以在一页上同时显示色彩丰富的图形和文本。在Web之前，Internet上的信息只有文本形式。而Web可以提供将图形、音频、视频信息集合于一体的特性。同时，Web是非常易于导航的，只需要从一个超链接跳到另一个超链接，就可以在各页、各站点之间进行转换浏览了。</a:t>
              </a:r>
            </a:p>
          </p:txBody>
        </p:sp>
        <p:sp>
          <p:nvSpPr>
            <p:cNvPr id="9"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1</a:t>
              </a:r>
            </a:p>
          </p:txBody>
        </p:sp>
      </p:grpSp>
      <p:grpSp>
        <p:nvGrpSpPr>
          <p:cNvPr id="10" name="组合 9"/>
          <p:cNvGrpSpPr/>
          <p:nvPr/>
        </p:nvGrpSpPr>
        <p:grpSpPr>
          <a:xfrm>
            <a:off x="822488" y="3958296"/>
            <a:ext cx="10627360" cy="1920875"/>
            <a:chOff x="1840" y="2871"/>
            <a:chExt cx="16736" cy="3025"/>
          </a:xfrm>
        </p:grpSpPr>
        <p:cxnSp>
          <p:nvCxnSpPr>
            <p:cNvPr id="11" name="MH_Other_4"/>
            <p:cNvCxnSpPr/>
            <p:nvPr/>
          </p:nvCxnSpPr>
          <p:spPr>
            <a:xfrm flipH="1">
              <a:off x="2680" y="3183"/>
              <a:ext cx="1545" cy="1450"/>
            </a:xfrm>
            <a:prstGeom prst="line">
              <a:avLst/>
            </a:prstGeom>
            <a:ln w="3810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2"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3" name="MH_SubTitle_2"/>
            <p:cNvSpPr txBox="1">
              <a:spLocks noChangeArrowheads="1"/>
            </p:cNvSpPr>
            <p:nvPr/>
          </p:nvSpPr>
          <p:spPr bwMode="auto">
            <a:xfrm>
              <a:off x="3455" y="4034"/>
              <a:ext cx="15121" cy="186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60000"/>
                      <a:lumOff val="40000"/>
                    </a:schemeClr>
                  </a:solidFill>
                  <a:ea typeface="微软雅黑" panose="020B0503020204020204" charset="-122"/>
                </a:rPr>
                <a:t>Web与平台无关</a:t>
              </a:r>
            </a:p>
            <a:p>
              <a:pPr indent="457200" fontAlgn="auto">
                <a:lnSpc>
                  <a:spcPct val="120000"/>
                </a:lnSpc>
              </a:pPr>
              <a:r>
                <a:rPr lang="zh-CN" altLang="en-US" dirty="0">
                  <a:solidFill>
                    <a:schemeClr val="tx1"/>
                  </a:solidFill>
                  <a:ea typeface="微软雅黑" panose="020B0503020204020204" charset="-122"/>
                </a:rPr>
                <a:t>无论用户的系统平台是什么，Windows，UNIX，Linux，Mac OS X，iOS，Android或其他，都可以通过Internet访问WWW。也就是说，浏览WWW对系统平台没有什么限制。对WWW的访问是通过一种叫做浏览器（Browser）的软件实现的，如IE（Internet Explorer），Chrome，Firefox，Safari等。</a:t>
              </a:r>
            </a:p>
          </p:txBody>
        </p:sp>
        <p:sp>
          <p:nvSpPr>
            <p:cNvPr id="14"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3600" b="1" dirty="0">
                  <a:solidFill>
                    <a:schemeClr val="accent6">
                      <a:lumMod val="60000"/>
                      <a:lumOff val="40000"/>
                    </a:schemeClr>
                  </a:solidFill>
                  <a:latin typeface="Times New Roman" panose="02020603050405020304" pitchFamily="18" charset="0"/>
                  <a:ea typeface="微软雅黑" panose="020B0503020204020204" charset="-122"/>
                </a:rPr>
                <a:t>2</a:t>
              </a:r>
            </a:p>
          </p:txBody>
        </p:sp>
      </p:grpSp>
      <p:sp>
        <p:nvSpPr>
          <p:cNvPr id="15" name="矩形 14"/>
          <p:cNvSpPr/>
          <p:nvPr/>
        </p:nvSpPr>
        <p:spPr>
          <a:xfrm>
            <a:off x="1050878" y="1221219"/>
            <a:ext cx="10495128" cy="707886"/>
          </a:xfrm>
          <a:prstGeom prst="rect">
            <a:avLst/>
          </a:prstGeom>
        </p:spPr>
        <p:txBody>
          <a:bodyPr wrap="square">
            <a:spAutoFit/>
          </a:bodyPr>
          <a:lstStyle/>
          <a:p>
            <a:r>
              <a:rPr lang="en-US" sz="2000" dirty="0"/>
              <a:t>        Web</a:t>
            </a:r>
            <a:r>
              <a:rPr lang="zh-CN" altLang="en-US" sz="2000" dirty="0"/>
              <a:t>软件的特性可以概括为：图形化的和易于导航的（</a:t>
            </a:r>
            <a:r>
              <a:rPr lang="en-US" sz="2000" dirty="0"/>
              <a:t>Navigate</a:t>
            </a:r>
            <a:r>
              <a:rPr lang="zh-CN" altLang="en-US" sz="2000" dirty="0"/>
              <a:t>）、与平台无关、分布式的、动态的和交互的。</a:t>
            </a:r>
          </a:p>
        </p:txBody>
      </p:sp>
    </p:spTree>
    <p:custDataLst>
      <p:tags r:id="rId1"/>
    </p:custDataLst>
  </p:cSld>
  <p:clrMapOvr>
    <a:masterClrMapping/>
  </p:clrMapOvr>
  <p:transition>
    <p:zoom/>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altLang="zh-CN" dirty="0">
                <a:sym typeface="+mn-ea"/>
              </a:rPr>
              <a:t>8.1 Web</a:t>
            </a:r>
            <a:r>
              <a:rPr lang="zh-CN" altLang="en-US" dirty="0">
                <a:sym typeface="+mn-ea"/>
              </a:rPr>
              <a:t>软件的特性</a:t>
            </a:r>
          </a:p>
        </p:txBody>
      </p:sp>
      <p:grpSp>
        <p:nvGrpSpPr>
          <p:cNvPr id="18" name="组合 17"/>
          <p:cNvGrpSpPr/>
          <p:nvPr/>
        </p:nvGrpSpPr>
        <p:grpSpPr>
          <a:xfrm>
            <a:off x="447362" y="1504458"/>
            <a:ext cx="11362055" cy="4433570"/>
            <a:chOff x="726" y="3014"/>
            <a:chExt cx="17893" cy="6982"/>
          </a:xfrm>
        </p:grpSpPr>
        <p:grpSp>
          <p:nvGrpSpPr>
            <p:cNvPr id="3" name="组合 2"/>
            <p:cNvGrpSpPr/>
            <p:nvPr/>
          </p:nvGrpSpPr>
          <p:grpSpPr>
            <a:xfrm>
              <a:off x="726" y="3014"/>
              <a:ext cx="9180" cy="4922"/>
              <a:chOff x="1630" y="5665"/>
              <a:chExt cx="9180" cy="4922"/>
            </a:xfrm>
          </p:grpSpPr>
          <p:cxnSp>
            <p:nvCxnSpPr>
              <p:cNvPr id="4" name="MH_Other_1"/>
              <p:cNvCxnSpPr/>
              <p:nvPr/>
            </p:nvCxnSpPr>
            <p:spPr>
              <a:xfrm flipH="1">
                <a:off x="2470" y="6041"/>
                <a:ext cx="1545" cy="1450"/>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043" y="5665"/>
                <a:ext cx="7767" cy="492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2">
                        <a:lumMod val="60000"/>
                        <a:lumOff val="40000"/>
                      </a:schemeClr>
                    </a:solidFill>
                  </a:rPr>
                  <a:t>Web是分布式的</a:t>
                </a:r>
              </a:p>
              <a:p>
                <a:pPr indent="457200" fontAlgn="auto">
                  <a:lnSpc>
                    <a:spcPct val="120000"/>
                  </a:lnSpc>
                </a:pPr>
                <a:r>
                  <a:rPr lang="zh-CN" altLang="en-US" dirty="0">
                    <a:ea typeface="微软雅黑" panose="020B0503020204020204" charset="-122"/>
                  </a:rPr>
                  <a:t>大量的图形、音频和视频信息会占用相当大的磁盘空间，应用Web时信息可以放在不同的站点上，只需要在浏览器中指明站点就可以了。这样可使物理上并不一定在一个站点的信息，在逻辑上一体化，而从用户角度来看这些信息是一体的。</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2">
                        <a:lumMod val="60000"/>
                        <a:lumOff val="40000"/>
                      </a:schemeClr>
                    </a:solidFill>
                    <a:latin typeface="Times New Roman" panose="02020603050405020304" pitchFamily="18" charset="0"/>
                    <a:ea typeface="微软雅黑" panose="020B0503020204020204" charset="-122"/>
                  </a:rPr>
                  <a:t>3</a:t>
                </a:r>
              </a:p>
            </p:txBody>
          </p:sp>
        </p:grpSp>
        <p:grpSp>
          <p:nvGrpSpPr>
            <p:cNvPr id="8" name="组合 7"/>
            <p:cNvGrpSpPr/>
            <p:nvPr/>
          </p:nvGrpSpPr>
          <p:grpSpPr>
            <a:xfrm>
              <a:off x="10077" y="3014"/>
              <a:ext cx="8543" cy="4373"/>
              <a:chOff x="1840" y="2871"/>
              <a:chExt cx="8543" cy="4373"/>
            </a:xfrm>
          </p:grpSpPr>
          <p:cxnSp>
            <p:nvCxnSpPr>
              <p:cNvPr id="9" name="MH_Other_4"/>
              <p:cNvCxnSpPr/>
              <p:nvPr/>
            </p:nvCxnSpPr>
            <p:spPr>
              <a:xfrm flipH="1">
                <a:off x="2680" y="3183"/>
                <a:ext cx="1545" cy="14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179" y="2959"/>
                <a:ext cx="7204" cy="4285"/>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92D050"/>
                    </a:solidFill>
                    <a:ea typeface="微软雅黑" panose="020B0503020204020204" charset="-122"/>
                  </a:rPr>
                  <a:t>Web是动态的</a:t>
                </a:r>
              </a:p>
              <a:p>
                <a:pPr indent="457200" fontAlgn="auto">
                  <a:lnSpc>
                    <a:spcPct val="120000"/>
                  </a:lnSpc>
                </a:pPr>
                <a:r>
                  <a:rPr lang="zh-CN" altLang="en-US" dirty="0">
                    <a:solidFill>
                      <a:schemeClr val="tx1"/>
                    </a:solidFill>
                    <a:ea typeface="微软雅黑" panose="020B0503020204020204" charset="-122"/>
                  </a:rPr>
                  <a:t>由于各Web站点的信息包含了站点本身的信息，信息的提供者可以经常对站上的信息进行更新，例如某个协议的发展状况、公司的广告等。因此，Web站点上的信息是动态的、经常更新的。</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58B933"/>
                    </a:solidFill>
                    <a:latin typeface="Times New Roman" panose="02020603050405020304" pitchFamily="18" charset="0"/>
                    <a:ea typeface="微软雅黑" panose="020B0503020204020204" charset="-122"/>
                  </a:rPr>
                  <a:t>4</a:t>
                </a:r>
              </a:p>
            </p:txBody>
          </p:sp>
        </p:grpSp>
        <p:grpSp>
          <p:nvGrpSpPr>
            <p:cNvPr id="13" name="组合 12"/>
            <p:cNvGrpSpPr/>
            <p:nvPr/>
          </p:nvGrpSpPr>
          <p:grpSpPr>
            <a:xfrm>
              <a:off x="764" y="7158"/>
              <a:ext cx="17100" cy="2839"/>
              <a:chOff x="1630" y="5726"/>
              <a:chExt cx="17100" cy="2839"/>
            </a:xfrm>
          </p:grpSpPr>
          <p:cxnSp>
            <p:nvCxnSpPr>
              <p:cNvPr id="14" name="MH_Other_1"/>
              <p:cNvCxnSpPr/>
              <p:nvPr/>
            </p:nvCxnSpPr>
            <p:spPr>
              <a:xfrm flipH="1">
                <a:off x="2470" y="6041"/>
                <a:ext cx="1545" cy="14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1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6" name="MH_SubTitle_1"/>
              <p:cNvSpPr txBox="1">
                <a:spLocks noChangeArrowheads="1"/>
              </p:cNvSpPr>
              <p:nvPr/>
            </p:nvSpPr>
            <p:spPr bwMode="auto">
              <a:xfrm>
                <a:off x="3307" y="6256"/>
                <a:ext cx="15423"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Web是交互的</a:t>
                </a:r>
              </a:p>
              <a:p>
                <a:pPr indent="457200" fontAlgn="auto">
                  <a:lnSpc>
                    <a:spcPct val="120000"/>
                  </a:lnSpc>
                </a:pPr>
                <a:r>
                  <a:rPr lang="zh-CN" altLang="en-US" dirty="0">
                    <a:ea typeface="微软雅黑" panose="020B0503020204020204" charset="-122"/>
                  </a:rPr>
                  <a:t>Web的交互性首先表现在它的超链接上，用户的浏览顺序和所到站点完全由自己决定。另外，通过表单的形式可以从服务器方获得动态的信息，用户通过填写Form表单向服务器提交请求，服务器可以根据用户的请求返回相应信息。</a:t>
                </a:r>
              </a:p>
            </p:txBody>
          </p:sp>
          <p:sp>
            <p:nvSpPr>
              <p:cNvPr id="1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5</a:t>
                </a:r>
              </a:p>
            </p:txBody>
          </p:sp>
        </p:grpSp>
      </p:grpSp>
    </p:spTree>
    <p:custDataLst>
      <p:tags r:id="rId1"/>
    </p:custDataLst>
  </p:cSld>
  <p:clrMapOvr>
    <a:masterClrMapping/>
  </p:clrMapOvr>
  <p:transition>
    <p:zoom/>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altLang="zh-CN" dirty="0">
                <a:sym typeface="+mn-ea"/>
              </a:rPr>
              <a:t>8.1 Web</a:t>
            </a:r>
            <a:r>
              <a:rPr lang="zh-CN" altLang="en-US" dirty="0">
                <a:sym typeface="+mn-ea"/>
              </a:rPr>
              <a:t>软件的特性</a:t>
            </a:r>
          </a:p>
        </p:txBody>
      </p:sp>
      <p:grpSp>
        <p:nvGrpSpPr>
          <p:cNvPr id="8" name="组合 7"/>
          <p:cNvGrpSpPr/>
          <p:nvPr/>
        </p:nvGrpSpPr>
        <p:grpSpPr>
          <a:xfrm>
            <a:off x="339253" y="1564125"/>
            <a:ext cx="6049010" cy="4786630"/>
            <a:chOff x="1840" y="2871"/>
            <a:chExt cx="9526" cy="7538"/>
          </a:xfrm>
        </p:grpSpPr>
        <p:cxnSp>
          <p:nvCxnSpPr>
            <p:cNvPr id="9" name="MH_Other_4"/>
            <p:cNvCxnSpPr/>
            <p:nvPr/>
          </p:nvCxnSpPr>
          <p:spPr>
            <a:xfrm flipH="1">
              <a:off x="2680" y="3183"/>
              <a:ext cx="1545" cy="145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035" y="3677"/>
              <a:ext cx="8331" cy="673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C00000"/>
                  </a:solidFill>
                  <a:ea typeface="微软雅黑" panose="020B0503020204020204" charset="-122"/>
                </a:rPr>
                <a:t>数据集可重复利用</a:t>
              </a:r>
            </a:p>
            <a:p>
              <a:pPr indent="457200" fontAlgn="auto">
                <a:lnSpc>
                  <a:spcPct val="120000"/>
                </a:lnSpc>
              </a:pPr>
              <a:r>
                <a:rPr lang="zh-CN" altLang="en-US" dirty="0">
                  <a:solidFill>
                    <a:schemeClr val="tx1"/>
                  </a:solidFill>
                  <a:ea typeface="微软雅黑" panose="020B0503020204020204" charset="-122"/>
                </a:rPr>
                <a:t>近年来网络技术在不断地发展，Web也在不断发展。Web 3.0使得结构化数据集可重复利用，其具体表现在：</a:t>
              </a:r>
            </a:p>
            <a:p>
              <a:pPr marL="285750" indent="-285750" fontAlgn="auto">
                <a:lnSpc>
                  <a:spcPct val="120000"/>
                </a:lnSpc>
                <a:buFont typeface="Wingdings" panose="05000000000000000000" charset="0"/>
                <a:buChar char="Ø"/>
              </a:pPr>
              <a:r>
                <a:rPr lang="zh-CN" altLang="en-US" dirty="0">
                  <a:solidFill>
                    <a:schemeClr val="tx1"/>
                  </a:solidFill>
                  <a:ea typeface="微软雅黑" panose="020B0503020204020204" charset="-122"/>
                </a:rPr>
                <a:t>无处不联网：宽带网的普及和发展，移动通信设备的互联网接入，实现了无处不联网。</a:t>
              </a:r>
            </a:p>
            <a:p>
              <a:pPr marL="285750" indent="-285750" fontAlgn="auto">
                <a:lnSpc>
                  <a:spcPct val="120000"/>
                </a:lnSpc>
                <a:buFont typeface="Wingdings" panose="05000000000000000000" charset="0"/>
                <a:buChar char="Ø"/>
              </a:pPr>
              <a:r>
                <a:rPr lang="zh-CN" altLang="en-US" dirty="0">
                  <a:solidFill>
                    <a:schemeClr val="tx1"/>
                  </a:solidFill>
                  <a:ea typeface="微软雅黑" panose="020B0503020204020204" charset="-122"/>
                </a:rPr>
                <a:t>网络计算：“软件就是服务”的商业模型，Web服务互用性，分布式计算，网格计算和效用计算（又称“云计算”）。</a:t>
              </a:r>
            </a:p>
            <a:p>
              <a:pPr marL="285750" indent="-285750" fontAlgn="auto">
                <a:lnSpc>
                  <a:spcPct val="120000"/>
                </a:lnSpc>
                <a:buFont typeface="Wingdings" panose="05000000000000000000" charset="0"/>
                <a:buChar char="Ø"/>
              </a:pPr>
              <a:r>
                <a:rPr lang="zh-CN" altLang="en-US" dirty="0">
                  <a:solidFill>
                    <a:schemeClr val="tx1"/>
                  </a:solidFill>
                  <a:ea typeface="微软雅黑" panose="020B0503020204020204" charset="-122"/>
                </a:rPr>
                <a:t>开放技术：开放API和协议，开放数据格式，开源软件平台和开放数据（如创作共享，开放数据许可）。</a:t>
              </a:r>
            </a:p>
            <a:p>
              <a:pPr marL="285750" indent="-285750" fontAlgn="auto">
                <a:lnSpc>
                  <a:spcPct val="120000"/>
                </a:lnSpc>
                <a:buFont typeface="Wingdings" panose="05000000000000000000" charset="0"/>
                <a:buChar char="Ø"/>
              </a:pPr>
              <a:endParaRPr lang="zh-CN" altLang="en-US" dirty="0">
                <a:solidFill>
                  <a:schemeClr val="tx1"/>
                </a:solidFill>
                <a:ea typeface="微软雅黑" panose="020B0503020204020204" charset="-122"/>
              </a:endParaRP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C00000"/>
                  </a:solidFill>
                  <a:latin typeface="Times New Roman" panose="02020603050405020304" pitchFamily="18" charset="0"/>
                  <a:ea typeface="微软雅黑" panose="020B0503020204020204" charset="-122"/>
                </a:rPr>
                <a:t>6</a:t>
              </a:r>
            </a:p>
          </p:txBody>
        </p:sp>
      </p:grpSp>
      <p:sp>
        <p:nvSpPr>
          <p:cNvPr id="13" name="文本框 12"/>
          <p:cNvSpPr txBox="1"/>
          <p:nvPr/>
        </p:nvSpPr>
        <p:spPr>
          <a:xfrm>
            <a:off x="6586855" y="1403350"/>
            <a:ext cx="5068570" cy="4696460"/>
          </a:xfrm>
          <a:prstGeom prst="rect">
            <a:avLst/>
          </a:prstGeom>
          <a:noFill/>
        </p:spPr>
        <p:txBody>
          <a:bodyPr wrap="square" rtlCol="0" anchor="t">
            <a:spAutoFit/>
          </a:bodyPr>
          <a:lstStyle/>
          <a:p>
            <a:pPr marL="285750" indent="-285750" fontAlgn="auto">
              <a:lnSpc>
                <a:spcPct val="120000"/>
              </a:lnSpc>
              <a:buFont typeface="Wingdings" panose="05000000000000000000" charset="0"/>
              <a:buChar char="Ø"/>
            </a:pPr>
            <a:r>
              <a:rPr lang="zh-CN" altLang="en-US" dirty="0">
                <a:ea typeface="微软雅黑" panose="020B0503020204020204" charset="-122"/>
                <a:sym typeface="+mn-ea"/>
              </a:rPr>
              <a:t>开放身份，OpenID，开放名声，跨域身份和个人数据。</a:t>
            </a:r>
            <a:endParaRPr lang="zh-CN" altLang="en-US" dirty="0">
              <a:solidFill>
                <a:schemeClr val="tx1"/>
              </a:solidFill>
              <a:ea typeface="微软雅黑" panose="020B0503020204020204" charset="-122"/>
            </a:endParaRPr>
          </a:p>
          <a:p>
            <a:pPr marL="285750" indent="-285750" fontAlgn="auto">
              <a:lnSpc>
                <a:spcPct val="120000"/>
              </a:lnSpc>
              <a:buFont typeface="Wingdings" panose="05000000000000000000" charset="0"/>
              <a:buChar char="Ø"/>
            </a:pPr>
            <a:r>
              <a:rPr lang="zh-CN" altLang="en-US" dirty="0">
                <a:ea typeface="微软雅黑" panose="020B0503020204020204" charset="-122"/>
                <a:sym typeface="+mn-ea"/>
              </a:rPr>
              <a:t>智能网络，语义网技术，如资源描述框架、网络实体语言、SWRL（Semantic Web Rule Language，以语义的方式呈现规则的一种语言）、SPARQL（Simple Protocol and RDF Query Language，为一种用于描述Web资源的标记语言RDF〔Resource Description Framework〕所开发的一种查询语言和数据获取协议）等语义应用程序平台。</a:t>
            </a:r>
            <a:endParaRPr lang="zh-CN" altLang="en-US" dirty="0">
              <a:solidFill>
                <a:schemeClr val="tx1"/>
              </a:solidFill>
              <a:ea typeface="微软雅黑" panose="020B0503020204020204" charset="-122"/>
            </a:endParaRPr>
          </a:p>
          <a:p>
            <a:pPr marL="285750" indent="-285750" fontAlgn="auto">
              <a:lnSpc>
                <a:spcPct val="120000"/>
              </a:lnSpc>
              <a:buFont typeface="Wingdings" panose="05000000000000000000" charset="0"/>
              <a:buChar char="Ø"/>
            </a:pPr>
            <a:r>
              <a:rPr lang="zh-CN" altLang="en-US" dirty="0">
                <a:ea typeface="微软雅黑" panose="020B0503020204020204" charset="-122"/>
                <a:sym typeface="+mn-ea"/>
              </a:rPr>
              <a:t>分布式数据库，万维数据库（World Wide Database，由语义网的技术实现）。</a:t>
            </a:r>
            <a:endParaRPr lang="zh-CN" altLang="en-US" dirty="0">
              <a:solidFill>
                <a:schemeClr val="tx1"/>
              </a:solidFill>
              <a:ea typeface="微软雅黑" panose="020B0503020204020204" charset="-122"/>
            </a:endParaRPr>
          </a:p>
          <a:p>
            <a:pPr marL="285750" indent="-285750" fontAlgn="auto">
              <a:lnSpc>
                <a:spcPct val="120000"/>
              </a:lnSpc>
              <a:buFont typeface="Wingdings" panose="05000000000000000000" charset="0"/>
              <a:buChar char="Ø"/>
            </a:pPr>
            <a:r>
              <a:rPr lang="zh-CN" altLang="en-US" dirty="0">
                <a:ea typeface="微软雅黑" panose="020B0503020204020204" charset="-122"/>
                <a:sym typeface="+mn-ea"/>
              </a:rPr>
              <a:t>智能应用程序，普通语言的处理，机器学习，机器推理，自主代理。</a:t>
            </a:r>
            <a:endParaRPr lang="zh-CN" altLang="en-US"/>
          </a:p>
        </p:txBody>
      </p:sp>
    </p:spTree>
    <p:custDataLst>
      <p:tags r:id="rId1"/>
    </p:custDataLst>
  </p:cSld>
  <p:clrMapOvr>
    <a:masterClrMapping/>
  </p:clrMapOvr>
  <p:transition>
    <p:zoom/>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02</a:t>
              </a:r>
              <a:endParaRPr lang="en-US" sz="9600" b="1" dirty="0">
                <a:solidFill>
                  <a:srgbClr val="FF0000"/>
                </a:solidFill>
                <a:latin typeface="微软雅黑" panose="020B0503020204020204" charset="-122"/>
                <a:ea typeface="微软雅黑" panose="020B0503020204020204" charset="-122"/>
              </a:endParaRP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的层次结构</a:t>
            </a:r>
          </a:p>
        </p:txBody>
      </p:sp>
      <p:grpSp>
        <p:nvGrpSpPr>
          <p:cNvPr id="11" name="组合 10"/>
          <p:cNvGrpSpPr/>
          <p:nvPr/>
        </p:nvGrpSpPr>
        <p:grpSpPr>
          <a:xfrm>
            <a:off x="6320155" y="4034790"/>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两层</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C/S</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结构</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三层</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C/S</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结构</a:t>
              </a:r>
            </a:p>
          </p:txBody>
        </p:sp>
      </p:grpSp>
      <p:grpSp>
        <p:nvGrpSpPr>
          <p:cNvPr id="3" name="组合 2"/>
          <p:cNvGrpSpPr/>
          <p:nvPr/>
        </p:nvGrpSpPr>
        <p:grpSpPr>
          <a:xfrm>
            <a:off x="6320155" y="4870450"/>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四层</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C/S</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结构</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B/S</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结构</a:t>
              </a:r>
            </a:p>
          </p:txBody>
        </p:sp>
      </p:grpSp>
    </p:spTree>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18" name="矩形 17"/>
          <p:cNvSpPr/>
          <p:nvPr/>
        </p:nvSpPr>
        <p:spPr>
          <a:xfrm>
            <a:off x="0" y="1975637"/>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Ins="4680000" rtlCol="0" anchor="ctr"/>
          <a:lstStyle/>
          <a:p>
            <a:pPr indent="457200" algn="just">
              <a:lnSpc>
                <a:spcPct val="150000"/>
              </a:lnSpc>
              <a:defRPr/>
            </a:pPr>
            <a:r>
              <a:rPr lang="zh-CN" altLang="en-US" dirty="0">
                <a:solidFill>
                  <a:schemeClr val="tx1"/>
                </a:solidFill>
              </a:rPr>
              <a:t>早期网络采用集中式管理，通过一台物理上与宿主机相连接的非智能终端，来实现宿主机上的应用程序。</a:t>
            </a:r>
            <a:r>
              <a:rPr lang="en-US" altLang="zh-CN" dirty="0">
                <a:solidFill>
                  <a:schemeClr val="tx1"/>
                </a:solidFill>
              </a:rPr>
              <a:t>20</a:t>
            </a:r>
            <a:r>
              <a:rPr lang="zh-CN" altLang="en-US" dirty="0">
                <a:solidFill>
                  <a:schemeClr val="tx1"/>
                </a:solidFill>
              </a:rPr>
              <a:t>世纪</a:t>
            </a:r>
            <a:r>
              <a:rPr lang="en-US" altLang="zh-CN" dirty="0">
                <a:solidFill>
                  <a:schemeClr val="tx1"/>
                </a:solidFill>
              </a:rPr>
              <a:t>80</a:t>
            </a:r>
            <a:r>
              <a:rPr lang="zh-CN" altLang="en-US" dirty="0">
                <a:solidFill>
                  <a:schemeClr val="tx1"/>
                </a:solidFill>
              </a:rPr>
              <a:t>年代，这种集中式网络逐渐被分布式计算机网络所取代。分布式网络系统是一个多处理器系统，它由许多分布在不同的处理器上并行运行的进程组成，可以提高系统的性能。分布式网络结构有以下几种：二层</a:t>
            </a:r>
            <a:r>
              <a:rPr lang="en-US" altLang="zh-CN" dirty="0">
                <a:solidFill>
                  <a:schemeClr val="tx1"/>
                </a:solidFill>
              </a:rPr>
              <a:t>C/S</a:t>
            </a:r>
            <a:r>
              <a:rPr lang="zh-CN" altLang="en-US" dirty="0">
                <a:solidFill>
                  <a:schemeClr val="tx1"/>
                </a:solidFill>
              </a:rPr>
              <a:t>结构、三层</a:t>
            </a:r>
            <a:r>
              <a:rPr lang="en-US" altLang="zh-CN" dirty="0">
                <a:solidFill>
                  <a:schemeClr val="tx1"/>
                </a:solidFill>
              </a:rPr>
              <a:t>C/S</a:t>
            </a:r>
            <a:r>
              <a:rPr lang="zh-CN" altLang="en-US" dirty="0">
                <a:solidFill>
                  <a:schemeClr val="tx1"/>
                </a:solidFill>
              </a:rPr>
              <a:t>结构、四层</a:t>
            </a:r>
            <a:r>
              <a:rPr lang="en-US" altLang="zh-CN" dirty="0">
                <a:solidFill>
                  <a:schemeClr val="tx1"/>
                </a:solidFill>
              </a:rPr>
              <a:t>C/S</a:t>
            </a:r>
            <a:r>
              <a:rPr lang="zh-CN" altLang="en-US" dirty="0">
                <a:solidFill>
                  <a:schemeClr val="tx1"/>
                </a:solidFill>
              </a:rPr>
              <a:t>结构、</a:t>
            </a:r>
            <a:r>
              <a:rPr lang="en-US" altLang="zh-CN" dirty="0">
                <a:solidFill>
                  <a:schemeClr val="tx1"/>
                </a:solidFill>
              </a:rPr>
              <a:t>B/S</a:t>
            </a:r>
            <a:r>
              <a:rPr lang="zh-CN" altLang="en-US" dirty="0">
                <a:solidFill>
                  <a:schemeClr val="tx1"/>
                </a:solidFill>
              </a:rPr>
              <a:t>结构。</a:t>
            </a:r>
          </a:p>
        </p:txBody>
      </p:sp>
      <p:sp>
        <p:nvSpPr>
          <p:cNvPr id="19" name="矩形 18"/>
          <p:cNvSpPr/>
          <p:nvPr/>
        </p:nvSpPr>
        <p:spPr>
          <a:xfrm>
            <a:off x="470535" y="2232812"/>
            <a:ext cx="7134225" cy="459105"/>
          </a:xfrm>
          <a:prstGeom prst="rect">
            <a:avLst/>
          </a:prstGeom>
        </p:spPr>
        <p:txBody>
          <a:bodyPr wrap="square">
            <a:spAutoFit/>
          </a:bodyPr>
          <a:lstStyle/>
          <a:p>
            <a:pPr indent="457200">
              <a:lnSpc>
                <a:spcPct val="150000"/>
              </a:lnSpc>
              <a:defRPr/>
            </a:pPr>
            <a:endParaRPr lang="en-US" altLang="zh-CN" kern="0" dirty="0">
              <a:solidFill>
                <a:schemeClr val="bg1"/>
              </a:solidFill>
              <a:latin typeface="微软雅黑" panose="020B0503020204020204" charset="-122"/>
              <a:ea typeface="微软雅黑" panose="020B0503020204020204" charset="-122"/>
              <a:cs typeface="宋体" panose="02010600030101010101" pitchFamily="2" charset="-122"/>
            </a:endParaRPr>
          </a:p>
        </p:txBody>
      </p:sp>
      <p:pic>
        <p:nvPicPr>
          <p:cNvPr id="3" name="图片 2" descr="A000220150322G76PPIC"/>
          <p:cNvPicPr>
            <a:picLocks noChangeAspect="1"/>
          </p:cNvPicPr>
          <p:nvPr/>
        </p:nvPicPr>
        <p:blipFill>
          <a:blip r:embed="rId4" cstate="print"/>
          <a:stretch>
            <a:fillRect/>
          </a:stretch>
        </p:blipFill>
        <p:spPr>
          <a:xfrm>
            <a:off x="7741920" y="2026437"/>
            <a:ext cx="4015105" cy="2689860"/>
          </a:xfrm>
          <a:prstGeom prst="rect">
            <a:avLst/>
          </a:prstGeom>
        </p:spPr>
      </p:pic>
    </p:spTree>
    <p:custDataLst>
      <p:tags r:id="rId1"/>
    </p:custDataLst>
  </p:cSld>
  <p:clrMapOvr>
    <a:masterClrMapping/>
  </p:clrMapOvr>
  <p:transition>
    <p:circl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grpSp>
        <p:nvGrpSpPr>
          <p:cNvPr id="3" name="组合 78"/>
          <p:cNvGrpSpPr/>
          <p:nvPr/>
        </p:nvGrpSpPr>
        <p:grpSpPr>
          <a:xfrm>
            <a:off x="1928362" y="2961407"/>
            <a:ext cx="9003666" cy="3398520"/>
            <a:chOff x="2771" y="3204"/>
            <a:chExt cx="14179" cy="5352"/>
          </a:xfrm>
        </p:grpSpPr>
        <p:sp>
          <p:nvSpPr>
            <p:cNvPr id="36" name="任意多边形 35"/>
            <p:cNvSpPr/>
            <p:nvPr/>
          </p:nvSpPr>
          <p:spPr>
            <a:xfrm rot="10800000">
              <a:off x="14158" y="3204"/>
              <a:ext cx="2792" cy="5352"/>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57" name="圆角矩形 56"/>
            <p:cNvSpPr/>
            <p:nvPr/>
          </p:nvSpPr>
          <p:spPr>
            <a:xfrm rot="10800000">
              <a:off x="2816" y="7493"/>
              <a:ext cx="12018"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58" name="椭圆 57"/>
            <p:cNvSpPr/>
            <p:nvPr/>
          </p:nvSpPr>
          <p:spPr>
            <a:xfrm rot="10800000">
              <a:off x="13908" y="7424"/>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59" name="圆角矩形 58"/>
            <p:cNvSpPr/>
            <p:nvPr/>
          </p:nvSpPr>
          <p:spPr>
            <a:xfrm rot="10800000">
              <a:off x="2771" y="6542"/>
              <a:ext cx="13035"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0" name="椭圆 59"/>
            <p:cNvSpPr/>
            <p:nvPr/>
          </p:nvSpPr>
          <p:spPr>
            <a:xfrm rot="10800000">
              <a:off x="14900" y="6474"/>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1" name="圆角矩形 60"/>
            <p:cNvSpPr/>
            <p:nvPr/>
          </p:nvSpPr>
          <p:spPr>
            <a:xfrm rot="10800000">
              <a:off x="2816" y="5578"/>
              <a:ext cx="13225"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2" name="圆角矩形 61"/>
            <p:cNvSpPr/>
            <p:nvPr/>
          </p:nvSpPr>
          <p:spPr>
            <a:xfrm rot="10800000">
              <a:off x="2771" y="4602"/>
              <a:ext cx="13035"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3" name="椭圆 62"/>
            <p:cNvSpPr/>
            <p:nvPr/>
          </p:nvSpPr>
          <p:spPr>
            <a:xfrm rot="10800000">
              <a:off x="14964" y="4533"/>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4" name="圆角矩形 63"/>
            <p:cNvSpPr/>
            <p:nvPr/>
          </p:nvSpPr>
          <p:spPr>
            <a:xfrm rot="10800000">
              <a:off x="2816" y="3677"/>
              <a:ext cx="12052"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5" name="椭圆 64"/>
            <p:cNvSpPr/>
            <p:nvPr/>
          </p:nvSpPr>
          <p:spPr>
            <a:xfrm rot="10800000">
              <a:off x="13940" y="3607"/>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6" name="文本框 44"/>
            <p:cNvSpPr txBox="1"/>
            <p:nvPr/>
          </p:nvSpPr>
          <p:spPr>
            <a:xfrm>
              <a:off x="14130" y="3725"/>
              <a:ext cx="488" cy="727"/>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dirty="0">
                  <a:solidFill>
                    <a:schemeClr val="bg1"/>
                  </a:solidFill>
                  <a:latin typeface="+mj-lt"/>
                  <a:ea typeface="+mj-ea"/>
                </a:rPr>
                <a:t>1</a:t>
              </a:r>
              <a:endParaRPr lang="zh-CN" altLang="en-US" sz="2400" dirty="0">
                <a:solidFill>
                  <a:schemeClr val="bg1"/>
                </a:solidFill>
                <a:latin typeface="+mj-lt"/>
                <a:ea typeface="+mj-ea"/>
              </a:endParaRPr>
            </a:p>
          </p:txBody>
        </p:sp>
        <p:sp>
          <p:nvSpPr>
            <p:cNvPr id="67" name="文本框 45"/>
            <p:cNvSpPr txBox="1"/>
            <p:nvPr/>
          </p:nvSpPr>
          <p:spPr>
            <a:xfrm>
              <a:off x="15090" y="4631"/>
              <a:ext cx="488" cy="727"/>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dirty="0">
                  <a:solidFill>
                    <a:schemeClr val="bg1"/>
                  </a:solidFill>
                  <a:latin typeface="+mj-lt"/>
                  <a:ea typeface="+mj-ea"/>
                </a:rPr>
                <a:t>2</a:t>
              </a:r>
              <a:endParaRPr lang="zh-CN" altLang="en-US" sz="2400" dirty="0">
                <a:solidFill>
                  <a:schemeClr val="bg1"/>
                </a:solidFill>
                <a:latin typeface="+mj-lt"/>
                <a:ea typeface="+mj-ea"/>
              </a:endParaRPr>
            </a:p>
          </p:txBody>
        </p:sp>
        <p:sp>
          <p:nvSpPr>
            <p:cNvPr id="68" name="文本框 46"/>
            <p:cNvSpPr txBox="1"/>
            <p:nvPr/>
          </p:nvSpPr>
          <p:spPr>
            <a:xfrm>
              <a:off x="15318" y="5889"/>
              <a:ext cx="487" cy="727"/>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dirty="0">
                  <a:solidFill>
                    <a:schemeClr val="bg1"/>
                  </a:solidFill>
                  <a:latin typeface="+mj-lt"/>
                  <a:ea typeface="+mj-ea"/>
                </a:rPr>
                <a:t>3</a:t>
              </a:r>
              <a:endParaRPr lang="zh-CN" altLang="en-US" sz="2400" dirty="0">
                <a:solidFill>
                  <a:schemeClr val="bg1"/>
                </a:solidFill>
                <a:latin typeface="+mj-lt"/>
                <a:ea typeface="+mj-ea"/>
              </a:endParaRPr>
            </a:p>
          </p:txBody>
        </p:sp>
        <p:sp>
          <p:nvSpPr>
            <p:cNvPr id="69" name="文本框 47"/>
            <p:cNvSpPr txBox="1"/>
            <p:nvPr/>
          </p:nvSpPr>
          <p:spPr>
            <a:xfrm>
              <a:off x="15090" y="6629"/>
              <a:ext cx="488" cy="727"/>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dirty="0">
                  <a:solidFill>
                    <a:schemeClr val="bg1"/>
                  </a:solidFill>
                  <a:latin typeface="+mj-lt"/>
                  <a:ea typeface="+mj-ea"/>
                </a:rPr>
                <a:t>4</a:t>
              </a:r>
              <a:endParaRPr lang="zh-CN" altLang="en-US" sz="2400" dirty="0">
                <a:solidFill>
                  <a:schemeClr val="bg1"/>
                </a:solidFill>
                <a:latin typeface="+mj-lt"/>
                <a:ea typeface="+mj-ea"/>
              </a:endParaRPr>
            </a:p>
          </p:txBody>
        </p:sp>
        <p:sp>
          <p:nvSpPr>
            <p:cNvPr id="70" name="文本框 48"/>
            <p:cNvSpPr txBox="1"/>
            <p:nvPr/>
          </p:nvSpPr>
          <p:spPr>
            <a:xfrm>
              <a:off x="14108" y="7579"/>
              <a:ext cx="487" cy="727"/>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dirty="0">
                  <a:solidFill>
                    <a:schemeClr val="bg1"/>
                  </a:solidFill>
                  <a:latin typeface="+mj-lt"/>
                  <a:ea typeface="+mj-ea"/>
                </a:rPr>
                <a:t>5</a:t>
              </a:r>
              <a:endParaRPr lang="zh-CN" altLang="en-US" sz="2400" dirty="0">
                <a:solidFill>
                  <a:schemeClr val="bg1"/>
                </a:solidFill>
                <a:latin typeface="+mj-lt"/>
                <a:ea typeface="+mj-ea"/>
              </a:endParaRPr>
            </a:p>
          </p:txBody>
        </p:sp>
        <p:sp>
          <p:nvSpPr>
            <p:cNvPr id="71" name="文本框 59"/>
            <p:cNvSpPr txBox="1"/>
            <p:nvPr/>
          </p:nvSpPr>
          <p:spPr>
            <a:xfrm>
              <a:off x="3112" y="3803"/>
              <a:ext cx="6842"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mj-lt"/>
                  <a:ea typeface="+mj-ea"/>
                </a:rPr>
                <a:t>① 用户使用简单，直观；</a:t>
              </a:r>
            </a:p>
          </p:txBody>
        </p:sp>
        <p:sp>
          <p:nvSpPr>
            <p:cNvPr id="72" name="文本框 60"/>
            <p:cNvSpPr txBox="1"/>
            <p:nvPr/>
          </p:nvSpPr>
          <p:spPr>
            <a:xfrm>
              <a:off x="3112" y="4711"/>
              <a:ext cx="7041"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mj-lt"/>
                  <a:ea typeface="+mj-ea"/>
                </a:rPr>
                <a:t>② 编程、调试和维护费用低；</a:t>
              </a:r>
            </a:p>
          </p:txBody>
        </p:sp>
        <p:sp>
          <p:nvSpPr>
            <p:cNvPr id="73" name="文本框 61"/>
            <p:cNvSpPr txBox="1"/>
            <p:nvPr/>
          </p:nvSpPr>
          <p:spPr>
            <a:xfrm>
              <a:off x="3112" y="5707"/>
              <a:ext cx="11977"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mj-lt"/>
                  <a:ea typeface="+mj-ea"/>
                </a:rPr>
                <a:t>③ 系统内部负荷可以做到比较均衡，资源利用率较高；</a:t>
              </a:r>
            </a:p>
          </p:txBody>
        </p:sp>
        <p:sp>
          <p:nvSpPr>
            <p:cNvPr id="74" name="文本框 62"/>
            <p:cNvSpPr txBox="1"/>
            <p:nvPr/>
          </p:nvSpPr>
          <p:spPr>
            <a:xfrm>
              <a:off x="3112" y="6651"/>
              <a:ext cx="11796"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mj-lt"/>
                  <a:ea typeface="+mj-ea"/>
                </a:rPr>
                <a:t>④ 允许在一个客户机上运行不同计算机平台上的多种应用；</a:t>
              </a:r>
            </a:p>
          </p:txBody>
        </p:sp>
        <p:sp>
          <p:nvSpPr>
            <p:cNvPr id="75" name="文本框 63"/>
            <p:cNvSpPr txBox="1"/>
            <p:nvPr/>
          </p:nvSpPr>
          <p:spPr>
            <a:xfrm>
              <a:off x="3112" y="7602"/>
              <a:ext cx="10657"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mj-lt"/>
                  <a:ea typeface="+mj-ea"/>
                </a:rPr>
                <a:t>⑤ 系统易于扩展，可用性较好，对用户需求变化的适应性好。</a:t>
              </a:r>
            </a:p>
          </p:txBody>
        </p:sp>
        <p:sp>
          <p:nvSpPr>
            <p:cNvPr id="76" name="椭圆 75"/>
            <p:cNvSpPr/>
            <p:nvPr/>
          </p:nvSpPr>
          <p:spPr>
            <a:xfrm rot="10800000">
              <a:off x="15145" y="5564"/>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77" name="文本框 46"/>
            <p:cNvSpPr txBox="1"/>
            <p:nvPr/>
          </p:nvSpPr>
          <p:spPr>
            <a:xfrm>
              <a:off x="15318" y="5599"/>
              <a:ext cx="837" cy="727"/>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dirty="0">
                  <a:solidFill>
                    <a:schemeClr val="bg1"/>
                  </a:solidFill>
                  <a:latin typeface="+mj-lt"/>
                  <a:ea typeface="+mj-ea"/>
                </a:rPr>
                <a:t>3</a:t>
              </a:r>
              <a:endParaRPr lang="zh-CN" altLang="en-US" sz="2400" dirty="0">
                <a:solidFill>
                  <a:schemeClr val="bg1"/>
                </a:solidFill>
                <a:latin typeface="+mj-lt"/>
                <a:ea typeface="+mj-ea"/>
              </a:endParaRPr>
            </a:p>
          </p:txBody>
        </p:sp>
      </p:grpSp>
      <p:sp>
        <p:nvSpPr>
          <p:cNvPr id="100" name="文本框 99"/>
          <p:cNvSpPr txBox="1"/>
          <p:nvPr/>
        </p:nvSpPr>
        <p:spPr>
          <a:xfrm>
            <a:off x="682389" y="2035535"/>
            <a:ext cx="10672548" cy="762901"/>
          </a:xfrm>
          <a:prstGeom prst="rect">
            <a:avLst/>
          </a:prstGeom>
          <a:noFill/>
          <a:ln w="9525">
            <a:noFill/>
          </a:ln>
        </p:spPr>
        <p:txBody>
          <a:bodyPr wrap="square">
            <a:spAutoFit/>
          </a:bodyPr>
          <a:lstStyle/>
          <a:p>
            <a:pPr algn="l" fontAlgn="auto">
              <a:lnSpc>
                <a:spcPct val="120000"/>
              </a:lnSpc>
            </a:pP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   </a:t>
            </a:r>
            <a:r>
              <a:rPr lang="en-US" dirty="0">
                <a:latin typeface="微软雅黑" panose="020B0503020204020204" charset="-122"/>
                <a:ea typeface="微软雅黑" panose="020B0503020204020204" charset="-122"/>
                <a:sym typeface="+mn-ea"/>
              </a:rPr>
              <a:t>二层网络结构客户机/服务器（C/S）系统最重要的特征是：</a:t>
            </a:r>
            <a:r>
              <a:rPr lang="en-US" b="1" dirty="0">
                <a:solidFill>
                  <a:srgbClr val="7030A0"/>
                </a:solidFill>
                <a:latin typeface="微软雅黑" panose="020B0503020204020204" charset="-122"/>
                <a:ea typeface="微软雅黑" panose="020B0503020204020204" charset="-122"/>
                <a:sym typeface="+mn-ea"/>
              </a:rPr>
              <a:t>它不是一个主从环境，而是一个平等的环境，即C/S系统中各计算机在不同的场合既可能是客户机，又可能是服务器。 </a:t>
            </a:r>
            <a:r>
              <a:rPr dirty="0">
                <a:latin typeface="微软雅黑" panose="020B0503020204020204" charset="-122"/>
                <a:ea typeface="微软雅黑" panose="020B0503020204020204" charset="-122"/>
                <a:sym typeface="+mn-ea"/>
              </a:rPr>
              <a:t>C/S系统有很多优点：</a:t>
            </a:r>
            <a:endParaRPr lang="zh-CN" altLang="en-US" dirty="0">
              <a:solidFill>
                <a:srgbClr val="00B0F0"/>
              </a:solidFill>
              <a:latin typeface="微软雅黑 Light" panose="020B0502040204020203" pitchFamily="34" charset="-122"/>
              <a:ea typeface="微软雅黑 Light" panose="020B0502040204020203" pitchFamily="34" charset="-122"/>
              <a:cs typeface="宋体" panose="02010600030101010101" pitchFamily="2" charset="-122"/>
            </a:endParaRPr>
          </a:p>
        </p:txBody>
      </p:sp>
    </p:spTree>
    <p:custDataLst>
      <p:tags r:id="rId1"/>
    </p:custDataLst>
  </p:cSld>
  <p:clrMapOvr>
    <a:masterClrMapping/>
  </p:clrMapOvr>
  <p:transition>
    <p:circl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sp>
        <p:nvSpPr>
          <p:cNvPr id="5" name="MH_Other_1"/>
          <p:cNvSpPr/>
          <p:nvPr>
            <p:custDataLst>
              <p:tags r:id="rId2"/>
            </p:custDataLst>
          </p:nvPr>
        </p:nvSpPr>
        <p:spPr>
          <a:xfrm rot="21439215">
            <a:off x="2388498" y="4138255"/>
            <a:ext cx="1547378" cy="1648634"/>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Light" panose="020B0502040204020203" pitchFamily="34" charset="-122"/>
              <a:ea typeface="微软雅黑 Light" panose="020B0502040204020203" pitchFamily="34" charset="-122"/>
            </a:endParaRPr>
          </a:p>
        </p:txBody>
      </p:sp>
      <p:cxnSp>
        <p:nvCxnSpPr>
          <p:cNvPr id="6" name="MH_Other_2"/>
          <p:cNvCxnSpPr>
            <a:cxnSpLocks/>
            <a:stCxn id="5" idx="3"/>
          </p:cNvCxnSpPr>
          <p:nvPr>
            <p:custDataLst>
              <p:tags r:id="rId3"/>
            </p:custDataLst>
          </p:nvPr>
        </p:nvCxnSpPr>
        <p:spPr>
          <a:xfrm flipV="1">
            <a:off x="3935030" y="4925629"/>
            <a:ext cx="1170370" cy="770"/>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7" name="MH_Other_3"/>
          <p:cNvSpPr/>
          <p:nvPr>
            <p:custDataLst>
              <p:tags r:id="rId4"/>
            </p:custDataLst>
          </p:nvPr>
        </p:nvSpPr>
        <p:spPr>
          <a:xfrm rot="183635">
            <a:off x="1972576" y="2413918"/>
            <a:ext cx="1549387" cy="1648634"/>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Light" panose="020B0502040204020203" pitchFamily="34" charset="-122"/>
              <a:ea typeface="微软雅黑 Light" panose="020B0502040204020203" pitchFamily="34" charset="-122"/>
            </a:endParaRPr>
          </a:p>
        </p:txBody>
      </p:sp>
      <p:cxnSp>
        <p:nvCxnSpPr>
          <p:cNvPr id="8" name="MH_Other_4"/>
          <p:cNvCxnSpPr/>
          <p:nvPr>
            <p:custDataLst>
              <p:tags r:id="rId5"/>
            </p:custDataLst>
          </p:nvPr>
        </p:nvCxnSpPr>
        <p:spPr>
          <a:xfrm>
            <a:off x="3564587" y="3163005"/>
            <a:ext cx="1691881"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6"/>
            </p:custDataLst>
          </p:nvPr>
        </p:nvSpPr>
        <p:spPr>
          <a:xfrm>
            <a:off x="983615" y="3196779"/>
            <a:ext cx="1220242" cy="2640770"/>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7"/>
            </p:custDataLst>
          </p:nvPr>
        </p:nvSpPr>
        <p:spPr>
          <a:xfrm>
            <a:off x="5256529" y="1856741"/>
            <a:ext cx="5976000" cy="2319015"/>
          </a:xfrm>
          <a:prstGeom prst="rect">
            <a:avLst/>
          </a:prstGeom>
          <a:noFill/>
        </p:spPr>
        <p:txBody>
          <a:bodyPr lIns="72000" tIns="72000" rIns="72000" bIns="72000">
            <a:spAutoFit/>
          </a:bodyPr>
          <a:lstStyle>
            <a:defPPr>
              <a:defRPr lang="zh-CN"/>
            </a:defPPr>
            <a:lvl1pPr>
              <a:lnSpc>
                <a:spcPct val="130000"/>
              </a:lnSpc>
              <a:defRPr sz="1200"/>
            </a:lvl1pPr>
          </a:lstStyle>
          <a:p>
            <a:pPr algn="just" fontAlgn="auto">
              <a:lnSpc>
                <a:spcPct val="150000"/>
              </a:lnSpc>
              <a:buFont typeface="Wingdings" panose="05000000000000000000" charset="0"/>
              <a:buChar char="Ø"/>
            </a:pPr>
            <a:r>
              <a:rPr lang="zh-CN" altLang="en-US" sz="1600" dirty="0">
                <a:solidFill>
                  <a:srgbClr val="C00000"/>
                </a:solidFill>
              </a:rPr>
              <a:t>瘦客户机模型：</a:t>
            </a:r>
            <a:r>
              <a:rPr lang="zh-CN" altLang="en-US" sz="1600" dirty="0"/>
              <a:t>如果所有的形式逻辑和业务逻辑均驻留在客户端（Client），而Server则成为数据库服务器，负责各种数据的处理和维护，因此Server变得很“瘦”，被称为“瘦服务器”（Thin Server）。而瘦客户机模型与瘦服务器模型相反，它将繁重的处理任务都放在服务器和网络上，由服务器负责所有的计算。因此，瘦客户机模型的缺点是将增加客户机和服务器之间的网络流量。</a:t>
            </a:r>
          </a:p>
        </p:txBody>
      </p:sp>
      <p:sp>
        <p:nvSpPr>
          <p:cNvPr id="11" name="MH_Text_1"/>
          <p:cNvSpPr txBox="1"/>
          <p:nvPr>
            <p:custDataLst>
              <p:tags r:id="rId8"/>
            </p:custDataLst>
          </p:nvPr>
        </p:nvSpPr>
        <p:spPr>
          <a:xfrm>
            <a:off x="5256529" y="4671695"/>
            <a:ext cx="5976000" cy="1580351"/>
          </a:xfrm>
          <a:prstGeom prst="rect">
            <a:avLst/>
          </a:prstGeom>
          <a:noFill/>
        </p:spPr>
        <p:txBody>
          <a:bodyPr lIns="72000" tIns="72000" rIns="72000" bIns="72000">
            <a:spAutoFit/>
          </a:bodyPr>
          <a:lstStyle>
            <a:defPPr>
              <a:defRPr lang="zh-CN"/>
            </a:defPPr>
            <a:lvl1pPr>
              <a:lnSpc>
                <a:spcPct val="130000"/>
              </a:lnSpc>
              <a:defRPr sz="1200"/>
            </a:lvl1pPr>
          </a:lstStyle>
          <a:p>
            <a:pPr algn="just" fontAlgn="auto">
              <a:lnSpc>
                <a:spcPct val="150000"/>
              </a:lnSpc>
              <a:buFont typeface="Wingdings" panose="05000000000000000000" charset="0"/>
              <a:buChar char="Ø"/>
            </a:pPr>
            <a:r>
              <a:rPr lang="zh-CN" altLang="en-US" sz="1600" dirty="0">
                <a:solidFill>
                  <a:srgbClr val="C00000"/>
                </a:solidFill>
              </a:rPr>
              <a:t>胖客户机模型：</a:t>
            </a:r>
            <a:r>
              <a:rPr lang="zh-CN" altLang="en-US" sz="1600" dirty="0"/>
              <a:t>胖客户机（Fat Client）模型与瘦客户机模型相反，需要在客户端运行庞大的应用程序，由客户机上的软件实现应用逻辑和系统用户的交互。胖客户机模型下，服务器只负责对数据的管理。</a:t>
            </a:r>
          </a:p>
        </p:txBody>
      </p:sp>
      <p:sp>
        <p:nvSpPr>
          <p:cNvPr id="12" name="TextBox 6"/>
          <p:cNvSpPr txBox="1"/>
          <p:nvPr/>
        </p:nvSpPr>
        <p:spPr>
          <a:xfrm>
            <a:off x="2558814" y="3248071"/>
            <a:ext cx="866775" cy="153272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传统</a:t>
            </a:r>
            <a:r>
              <a:rPr lang="en-US" altLang="zh-CN" sz="2400" dirty="0">
                <a:solidFill>
                  <a:schemeClr val="tx1"/>
                </a:solidFill>
              </a:rPr>
              <a:t>C/S</a:t>
            </a:r>
            <a:r>
              <a:rPr lang="zh-CN" altLang="en-US" sz="2400" dirty="0">
                <a:solidFill>
                  <a:schemeClr val="tx1"/>
                </a:solidFill>
              </a:rPr>
              <a:t>结构</a:t>
            </a:r>
          </a:p>
        </p:txBody>
      </p:sp>
    </p:spTree>
    <p:custDataLst>
      <p:tags r:id="rId1"/>
    </p:custDataLst>
  </p:cSld>
  <p:clrMapOvr>
    <a:masterClrMapping/>
  </p:clrMapOvr>
  <p:transition>
    <p:circl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4"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pic>
        <p:nvPicPr>
          <p:cNvPr id="5" name="图片 4"/>
          <p:cNvPicPr>
            <a:picLocks noChangeAspect="1"/>
          </p:cNvPicPr>
          <p:nvPr/>
        </p:nvPicPr>
        <p:blipFill>
          <a:blip r:embed="rId2" cstate="print"/>
          <a:stretch>
            <a:fillRect/>
          </a:stretch>
        </p:blipFill>
        <p:spPr>
          <a:xfrm>
            <a:off x="5534489" y="1742816"/>
            <a:ext cx="5506549" cy="4146477"/>
          </a:xfrm>
          <a:prstGeom prst="rect">
            <a:avLst/>
          </a:prstGeom>
        </p:spPr>
      </p:pic>
      <p:sp>
        <p:nvSpPr>
          <p:cNvPr id="1025" name="Rectangle 1"/>
          <p:cNvSpPr>
            <a:spLocks noChangeArrowheads="1"/>
          </p:cNvSpPr>
          <p:nvPr/>
        </p:nvSpPr>
        <p:spPr bwMode="auto">
          <a:xfrm>
            <a:off x="754063" y="2238679"/>
            <a:ext cx="3744000" cy="129118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algn="just" defTabSz="914400" rtl="0" eaLnBrk="1" fontAlgn="base" latinLnBrk="0" hangingPunct="1">
              <a:lnSpc>
                <a:spcPct val="150000"/>
              </a:lnSpc>
              <a:spcBef>
                <a:spcPct val="0"/>
              </a:spcBef>
              <a:spcAft>
                <a:spcPct val="0"/>
              </a:spcAft>
              <a:buClrTx/>
              <a:buSzTx/>
              <a:buFontTx/>
              <a:buNone/>
              <a:tabLst/>
            </a:pPr>
            <a:r>
              <a:rPr lang="zh-CN" altLang="en-US" dirty="0"/>
              <a:t>二层</a:t>
            </a:r>
            <a:r>
              <a:rPr lang="en-US" altLang="zh-CN" dirty="0"/>
              <a:t>C/S</a:t>
            </a:r>
            <a:r>
              <a:rPr lang="zh-CN" altLang="en-US" dirty="0"/>
              <a:t>体系结构由前端客户机、后端服务器和网络三部分组成，如右图所示。</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grpSp>
        <p:nvGrpSpPr>
          <p:cNvPr id="16" name="组合 15"/>
          <p:cNvGrpSpPr/>
          <p:nvPr/>
        </p:nvGrpSpPr>
        <p:grpSpPr>
          <a:xfrm flipH="1">
            <a:off x="7193915" y="1741170"/>
            <a:ext cx="5013325" cy="973455"/>
            <a:chOff x="1" y="3428100"/>
            <a:chExt cx="5013433" cy="973302"/>
          </a:xfrm>
        </p:grpSpPr>
        <p:sp>
          <p:nvSpPr>
            <p:cNvPr id="19"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前端客户机</a:t>
              </a:r>
            </a:p>
          </p:txBody>
        </p:sp>
        <p:sp>
          <p:nvSpPr>
            <p:cNvPr id="20"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809625" y="2301875"/>
            <a:ext cx="5335905" cy="35464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nchorCtr="0">
            <a:noAutofit/>
          </a:bodyPr>
          <a:lstStyle/>
          <a:p>
            <a:pPr algn="just">
              <a:lnSpc>
                <a:spcPct val="150000"/>
              </a:lnSpc>
            </a:pPr>
            <a:r>
              <a:rPr dirty="0">
                <a:solidFill>
                  <a:schemeClr val="tx1"/>
                </a:solidFill>
              </a:rPr>
              <a:t>二层C/S体系结构的前端客户机负责接收用户发出的请求，并向数据库服务器发出请求。客户机通常是独立的子系统，同一时刻可能有多个客户机程序并发运行。</a:t>
            </a:r>
          </a:p>
        </p:txBody>
      </p:sp>
      <p:pic>
        <p:nvPicPr>
          <p:cNvPr id="5" name="图片 4"/>
          <p:cNvPicPr>
            <a:picLocks noChangeAspect="1"/>
          </p:cNvPicPr>
          <p:nvPr/>
        </p:nvPicPr>
        <p:blipFill>
          <a:blip r:embed="rId8" cstate="print"/>
          <a:stretch>
            <a:fillRect/>
          </a:stretch>
        </p:blipFill>
        <p:spPr>
          <a:xfrm>
            <a:off x="6944360" y="2828290"/>
            <a:ext cx="4010660" cy="3020060"/>
          </a:xfrm>
          <a:prstGeom prst="rect">
            <a:avLst/>
          </a:prstGeom>
        </p:spPr>
      </p:pic>
    </p:spTree>
    <p:custDataLst>
      <p:tags r:id="rId1"/>
    </p:custDataLst>
  </p:cSld>
  <p:clrMapOvr>
    <a:masterClrMapping/>
  </p:clrMapOvr>
  <p:transition>
    <p:circl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grpSp>
        <p:nvGrpSpPr>
          <p:cNvPr id="16" name="组合 15"/>
          <p:cNvGrpSpPr/>
          <p:nvPr/>
        </p:nvGrpSpPr>
        <p:grpSpPr>
          <a:xfrm flipH="1">
            <a:off x="7193915" y="1741170"/>
            <a:ext cx="5013325" cy="973455"/>
            <a:chOff x="1" y="3428100"/>
            <a:chExt cx="5013433" cy="973302"/>
          </a:xfrm>
        </p:grpSpPr>
        <p:sp>
          <p:nvSpPr>
            <p:cNvPr id="19"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后端服务器</a:t>
              </a:r>
            </a:p>
          </p:txBody>
        </p:sp>
        <p:sp>
          <p:nvSpPr>
            <p:cNvPr id="20"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769620" y="2301875"/>
            <a:ext cx="5335905" cy="35464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nchorCtr="0">
            <a:noAutofit/>
          </a:bodyPr>
          <a:lstStyle/>
          <a:p>
            <a:pPr algn="just">
              <a:lnSpc>
                <a:spcPct val="150000"/>
              </a:lnSpc>
            </a:pPr>
            <a:r>
              <a:rPr dirty="0">
                <a:solidFill>
                  <a:schemeClr val="tx1"/>
                </a:solidFill>
              </a:rPr>
              <a:t>二层C/S体系结构的后端服务器负责提供完善的安全保护以及对数据完整性进行处理，并允许多个用户同时访问一个数据库。从功能的角度来说，客户端负责与用户交互，管理用户界面和表示逻辑，具体包括管理各种界面对象，验证数据的完整性和有效性，并将客户的请求发送给服务器端，同时将服务器处理的结果输出到客户端。服务器端在功能上实现数据的存取，并根据用户的需求提供服务。</a:t>
            </a:r>
          </a:p>
        </p:txBody>
      </p:sp>
      <p:pic>
        <p:nvPicPr>
          <p:cNvPr id="5" name="图片 4"/>
          <p:cNvPicPr>
            <a:picLocks noChangeAspect="1"/>
          </p:cNvPicPr>
          <p:nvPr/>
        </p:nvPicPr>
        <p:blipFill>
          <a:blip r:embed="rId8" cstate="print"/>
          <a:stretch>
            <a:fillRect/>
          </a:stretch>
        </p:blipFill>
        <p:spPr>
          <a:xfrm>
            <a:off x="6944360" y="2828290"/>
            <a:ext cx="4010660" cy="3020060"/>
          </a:xfrm>
          <a:prstGeom prst="rect">
            <a:avLst/>
          </a:prstGeom>
        </p:spPr>
      </p:pic>
    </p:spTree>
    <p:custDataLst>
      <p:tags r:id="rId1"/>
    </p:custDataLst>
  </p:cSld>
  <p:clrMapOvr>
    <a:masterClrMapping/>
  </p:clrMapOvr>
  <p:transition>
    <p:circl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grpSp>
        <p:nvGrpSpPr>
          <p:cNvPr id="16" name="组合 15"/>
          <p:cNvGrpSpPr/>
          <p:nvPr/>
        </p:nvGrpSpPr>
        <p:grpSpPr>
          <a:xfrm flipH="1">
            <a:off x="7193915" y="1741170"/>
            <a:ext cx="5013325" cy="973455"/>
            <a:chOff x="1" y="3428100"/>
            <a:chExt cx="5013433" cy="973302"/>
          </a:xfrm>
        </p:grpSpPr>
        <p:sp>
          <p:nvSpPr>
            <p:cNvPr id="19"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网络</a:t>
              </a:r>
            </a:p>
          </p:txBody>
        </p:sp>
        <p:sp>
          <p:nvSpPr>
            <p:cNvPr id="20"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769620" y="2301875"/>
            <a:ext cx="5335905" cy="35464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nchorCtr="0">
            <a:noAutofit/>
          </a:bodyPr>
          <a:lstStyle/>
          <a:p>
            <a:pPr algn="just">
              <a:lnSpc>
                <a:spcPct val="150000"/>
              </a:lnSpc>
            </a:pPr>
            <a:r>
              <a:rPr dirty="0">
                <a:solidFill>
                  <a:schemeClr val="tx1"/>
                </a:solidFill>
              </a:rPr>
              <a:t>客户机和服务器通过网络连接。图8-2所示为二层C/S结构的数据处理流程图。客户机通过Web浏览器向服务器发出请求，服务器处理后将结果返回给客户浏览器端。在整个处理过程中，无论是胖客户机模型还是瘦客户机模型，都必须将任务映射到两个系统上，即客户端和服务器端。</a:t>
            </a:r>
          </a:p>
        </p:txBody>
      </p:sp>
      <p:pic>
        <p:nvPicPr>
          <p:cNvPr id="3" name="图片 234" descr="8-2"/>
          <p:cNvPicPr>
            <a:picLocks noChangeAspect="1"/>
          </p:cNvPicPr>
          <p:nvPr/>
        </p:nvPicPr>
        <p:blipFill>
          <a:blip r:embed="rId8" cstate="print"/>
          <a:stretch>
            <a:fillRect/>
          </a:stretch>
        </p:blipFill>
        <p:spPr>
          <a:xfrm>
            <a:off x="6880860" y="3210560"/>
            <a:ext cx="4576445" cy="2262505"/>
          </a:xfrm>
          <a:prstGeom prst="rect">
            <a:avLst/>
          </a:prstGeom>
          <a:noFill/>
          <a:ln w="9525">
            <a:noFill/>
          </a:ln>
        </p:spPr>
      </p:pic>
    </p:spTree>
    <p:custDataLst>
      <p:tags r:id="rId1"/>
    </p:custDataLst>
  </p:cSld>
  <p:clrMapOvr>
    <a:masterClrMapping/>
  </p:clrMapOvr>
  <p:transition>
    <p:circl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sp>
        <p:nvSpPr>
          <p:cNvPr id="3" name="文本框 2"/>
          <p:cNvSpPr txBox="1"/>
          <p:nvPr/>
        </p:nvSpPr>
        <p:spPr>
          <a:xfrm>
            <a:off x="6586855" y="3080303"/>
            <a:ext cx="4392000" cy="2175257"/>
          </a:xfrm>
          <a:prstGeom prst="rect">
            <a:avLst/>
          </a:prstGeom>
          <a:noFill/>
        </p:spPr>
        <p:txBody>
          <a:bodyPr wrap="square" lIns="72000" tIns="72000" rIns="72000" bIns="72000" rtlCol="0" anchor="t">
            <a:spAutoFit/>
          </a:bodyPr>
          <a:lstStyle/>
          <a:p>
            <a:pPr indent="457200" algn="just" fontAlgn="auto">
              <a:lnSpc>
                <a:spcPct val="150000"/>
              </a:lnSpc>
            </a:pPr>
            <a:r>
              <a:rPr lang="zh-CN" altLang="en-US" dirty="0"/>
              <a:t>随着企业规模的日益扩大，软件的复杂性也越来越大，二层C/S结构出现了很多缺点，例如开发成本越来越高，软件移植困难大，软件的维护和升级管理越来越困难等。因此，出现了三层C/S体系结构。</a:t>
            </a:r>
          </a:p>
        </p:txBody>
      </p:sp>
      <p:pic>
        <p:nvPicPr>
          <p:cNvPr id="7" name="图片 6" descr="A000220151119B95PPIC.png"/>
          <p:cNvPicPr>
            <a:picLocks noChangeAspect="1"/>
          </p:cNvPicPr>
          <p:nvPr/>
        </p:nvPicPr>
        <p:blipFill>
          <a:blip r:embed="rId4" cstate="print"/>
          <a:stretch>
            <a:fillRect/>
          </a:stretch>
        </p:blipFill>
        <p:spPr>
          <a:xfrm>
            <a:off x="451324" y="2333767"/>
            <a:ext cx="5829699" cy="4057469"/>
          </a:xfrm>
          <a:prstGeom prst="rect">
            <a:avLst/>
          </a:prstGeom>
        </p:spPr>
      </p:pic>
    </p:spTree>
    <p:custDataLst>
      <p:tags r:id="rId1"/>
    </p:custDataLst>
  </p:cSld>
  <p:clrMapOvr>
    <a:masterClrMapping/>
  </p:clrMapOvr>
  <p:transition>
    <p:circl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sp>
        <p:nvSpPr>
          <p:cNvPr id="12" name="MH_Desc_1"/>
          <p:cNvSpPr/>
          <p:nvPr>
            <p:custDataLst>
              <p:tags r:id="rId2"/>
            </p:custDataLst>
          </p:nvPr>
        </p:nvSpPr>
        <p:spPr>
          <a:xfrm>
            <a:off x="518613" y="2133542"/>
            <a:ext cx="5415215" cy="3967007"/>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nchorCtr="0">
            <a:noAutofit/>
          </a:bodyPr>
          <a:lstStyle/>
          <a:p>
            <a:pPr algn="just">
              <a:lnSpc>
                <a:spcPct val="150000"/>
              </a:lnSpc>
            </a:pPr>
            <a:r>
              <a:rPr lang="zh-CN" altLang="en-US" dirty="0">
                <a:solidFill>
                  <a:schemeClr val="tx1"/>
                </a:solidFill>
              </a:rPr>
              <a:t>三层</a:t>
            </a:r>
            <a:r>
              <a:rPr lang="en-US" altLang="zh-CN" dirty="0">
                <a:solidFill>
                  <a:schemeClr val="tx1"/>
                </a:solidFill>
              </a:rPr>
              <a:t>C/S</a:t>
            </a:r>
            <a:r>
              <a:rPr lang="zh-CN" altLang="en-US" dirty="0">
                <a:solidFill>
                  <a:schemeClr val="tx1"/>
                </a:solidFill>
              </a:rPr>
              <a:t>体系结构中，含客户端、数据库服务器和一个</a:t>
            </a:r>
            <a:r>
              <a:rPr lang="en-US" altLang="zh-CN" dirty="0">
                <a:solidFill>
                  <a:schemeClr val="tx1"/>
                </a:solidFill>
              </a:rPr>
              <a:t>Web</a:t>
            </a:r>
            <a:r>
              <a:rPr lang="zh-CN" altLang="en-US" dirty="0">
                <a:solidFill>
                  <a:schemeClr val="tx1"/>
                </a:solidFill>
              </a:rPr>
              <a:t>服务器。</a:t>
            </a:r>
            <a:r>
              <a:rPr lang="en-US" altLang="zh-CN" dirty="0">
                <a:solidFill>
                  <a:schemeClr val="tx1"/>
                </a:solidFill>
              </a:rPr>
              <a:t>Web</a:t>
            </a:r>
            <a:r>
              <a:rPr lang="zh-CN" altLang="en-US" dirty="0">
                <a:solidFill>
                  <a:schemeClr val="tx1"/>
                </a:solidFill>
              </a:rPr>
              <a:t>服务器既作为一个浏览服务器，又作为一个应用服务器。系统将整个应用逻辑放在</a:t>
            </a:r>
            <a:r>
              <a:rPr lang="en-US" altLang="zh-CN" dirty="0">
                <a:solidFill>
                  <a:schemeClr val="tx1"/>
                </a:solidFill>
              </a:rPr>
              <a:t>Web</a:t>
            </a:r>
            <a:r>
              <a:rPr lang="zh-CN" altLang="en-US" dirty="0">
                <a:solidFill>
                  <a:schemeClr val="tx1"/>
                </a:solidFill>
              </a:rPr>
              <a:t>服务器上，而只有表示层存在于客户机上。</a:t>
            </a:r>
          </a:p>
          <a:p>
            <a:pPr algn="just">
              <a:lnSpc>
                <a:spcPct val="150000"/>
              </a:lnSpc>
            </a:pPr>
            <a:r>
              <a:rPr lang="zh-CN" altLang="en-US" dirty="0">
                <a:solidFill>
                  <a:schemeClr val="tx1"/>
                </a:solidFill>
              </a:rPr>
              <a:t>这种结构中，无论是应用的</a:t>
            </a:r>
            <a:r>
              <a:rPr lang="en-US" altLang="zh-CN" dirty="0">
                <a:solidFill>
                  <a:schemeClr val="tx1"/>
                </a:solidFill>
              </a:rPr>
              <a:t>HTML</a:t>
            </a:r>
            <a:r>
              <a:rPr lang="zh-CN" altLang="en-US" dirty="0">
                <a:solidFill>
                  <a:schemeClr val="tx1"/>
                </a:solidFill>
              </a:rPr>
              <a:t>页还是</a:t>
            </a:r>
            <a:r>
              <a:rPr lang="en-US" altLang="zh-CN" dirty="0">
                <a:solidFill>
                  <a:schemeClr val="tx1"/>
                </a:solidFill>
              </a:rPr>
              <a:t>Java Applet</a:t>
            </a:r>
            <a:r>
              <a:rPr lang="zh-CN" altLang="en-US" dirty="0">
                <a:solidFill>
                  <a:schemeClr val="tx1"/>
                </a:solidFill>
              </a:rPr>
              <a:t>，都是运行时动态下载的，只需随机地增加中间层即应用逻辑的服务，即可满足扩充系统的需要。用此系统可以使用较少的资源建立起具有很强伸缩性的系统，这正是网络计算模式带来的重大改进。</a:t>
            </a:r>
          </a:p>
        </p:txBody>
      </p:sp>
      <p:pic>
        <p:nvPicPr>
          <p:cNvPr id="3" name="图片 235" descr="8-3"/>
          <p:cNvPicPr>
            <a:picLocks noChangeAspect="1"/>
          </p:cNvPicPr>
          <p:nvPr/>
        </p:nvPicPr>
        <p:blipFill>
          <a:blip r:embed="rId5" cstate="print"/>
          <a:stretch>
            <a:fillRect/>
          </a:stretch>
        </p:blipFill>
        <p:spPr>
          <a:xfrm>
            <a:off x="6228942" y="2265528"/>
            <a:ext cx="5524622" cy="3291320"/>
          </a:xfrm>
          <a:prstGeom prst="rect">
            <a:avLst/>
          </a:prstGeom>
          <a:noFill/>
          <a:ln w="9525">
            <a:noFill/>
          </a:ln>
        </p:spPr>
      </p:pic>
      <p:sp>
        <p:nvSpPr>
          <p:cNvPr id="6" name="矩形 5"/>
          <p:cNvSpPr/>
          <p:nvPr/>
        </p:nvSpPr>
        <p:spPr>
          <a:xfrm>
            <a:off x="7338340" y="5810113"/>
            <a:ext cx="2646878" cy="369332"/>
          </a:xfrm>
          <a:prstGeom prst="rect">
            <a:avLst/>
          </a:prstGeom>
        </p:spPr>
        <p:txBody>
          <a:bodyPr wrap="none">
            <a:spAutoFit/>
          </a:bodyPr>
          <a:lstStyle/>
          <a:p>
            <a:r>
              <a:rPr lang="zh-CN" altLang="en-US" dirty="0"/>
              <a:t>图</a:t>
            </a:r>
            <a:r>
              <a:rPr lang="en-US" dirty="0"/>
              <a:t>8-3  </a:t>
            </a:r>
            <a:r>
              <a:rPr lang="zh-CN" altLang="en-US" dirty="0"/>
              <a:t>三层</a:t>
            </a:r>
            <a:r>
              <a:rPr lang="en-US" dirty="0"/>
              <a:t>C/S</a:t>
            </a:r>
            <a:r>
              <a:rPr lang="zh-CN" altLang="en-US" dirty="0"/>
              <a:t>体系结构</a:t>
            </a:r>
          </a:p>
        </p:txBody>
      </p:sp>
    </p:spTree>
    <p:custDataLst>
      <p:tags r:id="rId1"/>
    </p:custDataLst>
  </p:cSld>
  <p:clrMapOvr>
    <a:masterClrMapping/>
  </p:clrMapOvr>
  <p:transition>
    <p:circl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809625" y="2982595"/>
            <a:ext cx="7727950" cy="2120902"/>
          </a:xfrm>
          <a:prstGeom prst="rect">
            <a:avLst/>
          </a:prstGeom>
        </p:spPr>
        <p:txBody>
          <a:bodyPr wrap="square">
            <a:spAutoFit/>
          </a:bodyPr>
          <a:lstStyle/>
          <a:p>
            <a:pPr indent="457200" algn="just">
              <a:lnSpc>
                <a:spcPct val="150000"/>
              </a:lnSpc>
              <a:defRPr/>
            </a:pPr>
            <a:r>
              <a:rPr lang="zh-CN" altLang="en-US" dirty="0"/>
              <a:t>与二层</a:t>
            </a:r>
            <a:r>
              <a:rPr lang="en-US" altLang="zh-CN" dirty="0"/>
              <a:t>C/S</a:t>
            </a:r>
            <a:r>
              <a:rPr lang="zh-CN" altLang="en-US" dirty="0"/>
              <a:t>结构相比，三层</a:t>
            </a:r>
            <a:r>
              <a:rPr lang="en-US" altLang="zh-CN" dirty="0"/>
              <a:t>C/S</a:t>
            </a:r>
            <a:r>
              <a:rPr lang="zh-CN" altLang="en-US" dirty="0"/>
              <a:t>结构具有更灵活的硬件系统构成，对于各个层可以选择与其处理负荷和处理特性相适应的硬件。合理地分割三层结构并使各部分相对地独立，可以使系统的结构变得简单清晰，这样就提高了程序的可维护性。在三层</a:t>
            </a:r>
            <a:r>
              <a:rPr lang="en-US" altLang="zh-CN" dirty="0"/>
              <a:t>C/S</a:t>
            </a:r>
            <a:r>
              <a:rPr lang="zh-CN" altLang="en-US" dirty="0"/>
              <a:t>结构中，应用的各层可以并行开发，各层也可以选择各自最适合的开发语言，有利于变更和维护应用技术规范。</a:t>
            </a:r>
            <a:endParaRPr lang="en-US" altLang="zh-CN" dirty="0"/>
          </a:p>
        </p:txBody>
      </p:sp>
      <p:pic>
        <p:nvPicPr>
          <p:cNvPr id="3" name="图片 2" descr="A000220150821A43PPIC"/>
          <p:cNvPicPr>
            <a:picLocks noChangeAspect="1"/>
          </p:cNvPicPr>
          <p:nvPr/>
        </p:nvPicPr>
        <p:blipFill>
          <a:blip r:embed="rId4" cstate="print"/>
          <a:stretch>
            <a:fillRect/>
          </a:stretch>
        </p:blipFill>
        <p:spPr>
          <a:xfrm>
            <a:off x="8404860" y="478790"/>
            <a:ext cx="2880360" cy="5007610"/>
          </a:xfrm>
          <a:prstGeom prst="rect">
            <a:avLst/>
          </a:prstGeom>
        </p:spPr>
      </p:pic>
    </p:spTree>
    <p:custDataLst>
      <p:tags r:id="rId1"/>
    </p:custDataLst>
  </p:cSld>
  <p:clrMapOvr>
    <a:masterClrMapping/>
  </p:clrMapOvr>
  <p:transition>
    <p:circl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pic>
        <p:nvPicPr>
          <p:cNvPr id="3" name="图片 236" descr="8-4"/>
          <p:cNvPicPr>
            <a:picLocks noChangeAspect="1"/>
          </p:cNvPicPr>
          <p:nvPr/>
        </p:nvPicPr>
        <p:blipFill>
          <a:blip r:embed="rId5" cstate="print"/>
          <a:srcRect l="-928"/>
          <a:stretch>
            <a:fillRect/>
          </a:stretch>
        </p:blipFill>
        <p:spPr>
          <a:xfrm>
            <a:off x="1843405" y="2303145"/>
            <a:ext cx="8504555" cy="2526030"/>
          </a:xfrm>
          <a:prstGeom prst="rect">
            <a:avLst/>
          </a:prstGeom>
          <a:noFill/>
          <a:ln w="9525">
            <a:noFill/>
          </a:ln>
        </p:spPr>
      </p:pic>
      <p:sp>
        <p:nvSpPr>
          <p:cNvPr id="5" name="MH_Text_1"/>
          <p:cNvSpPr/>
          <p:nvPr>
            <p:custDataLst>
              <p:tags r:id="rId2"/>
            </p:custDataLst>
          </p:nvPr>
        </p:nvSpPr>
        <p:spPr>
          <a:xfrm>
            <a:off x="1506220" y="5050790"/>
            <a:ext cx="9179560" cy="1134745"/>
          </a:xfrm>
          <a:prstGeom prst="rect">
            <a:avLst/>
          </a:prstGeom>
          <a:solidFill>
            <a:schemeClr val="bg1">
              <a:lumMod val="95000"/>
            </a:schemeClr>
          </a:solidFill>
          <a:ln>
            <a:noFill/>
          </a:ln>
        </p:spPr>
        <p:style>
          <a:lnRef idx="1">
            <a:schemeClr val="accent5"/>
          </a:lnRef>
          <a:fillRef idx="2">
            <a:schemeClr val="accent5"/>
          </a:fillRef>
          <a:effectRef idx="1">
            <a:schemeClr val="accent5"/>
          </a:effectRef>
          <a:fontRef idx="minor">
            <a:schemeClr val="dk1"/>
          </a:fontRef>
        </p:style>
        <p:txBody>
          <a:bodyPr anchor="ctr"/>
          <a:lstStyle/>
          <a:p>
            <a:pPr indent="457200">
              <a:lnSpc>
                <a:spcPct val="130000"/>
              </a:lnSpc>
            </a:pPr>
            <a:r>
              <a:rPr dirty="0">
                <a:solidFill>
                  <a:schemeClr val="tx1"/>
                </a:solidFill>
                <a:latin typeface="+mn-ea"/>
              </a:rPr>
              <a:t>三层C/S结构将整个系统分成表示层、应用逻辑层和数据存储层3个部分，其数据处理流程如图8-4所示。</a:t>
            </a:r>
          </a:p>
        </p:txBody>
      </p:sp>
    </p:spTree>
    <p:custDataLst>
      <p:tags r:id="rId1"/>
    </p:custDataLst>
  </p:cSld>
  <p:clrMapOvr>
    <a:masterClrMapping/>
  </p:clrMapOvr>
  <p:transition>
    <p:circl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sp>
        <p:nvSpPr>
          <p:cNvPr id="11" name="MH_Other_6"/>
          <p:cNvSpPr>
            <a:spLocks noChangeArrowheads="1"/>
          </p:cNvSpPr>
          <p:nvPr>
            <p:custDataLst>
              <p:tags r:id="rId2"/>
            </p:custDataLst>
          </p:nvPr>
        </p:nvSpPr>
        <p:spPr bwMode="auto">
          <a:xfrm>
            <a:off x="1190625" y="4742815"/>
            <a:ext cx="474345" cy="35560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3"/>
            </p:custDataLst>
          </p:nvPr>
        </p:nvSpPr>
        <p:spPr bwMode="auto">
          <a:xfrm>
            <a:off x="1190625" y="5149215"/>
            <a:ext cx="474345" cy="35560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4"/>
            </p:custDataLst>
          </p:nvPr>
        </p:nvSpPr>
        <p:spPr bwMode="auto">
          <a:xfrm>
            <a:off x="1463675" y="4946015"/>
            <a:ext cx="474345" cy="355600"/>
          </a:xfrm>
          <a:prstGeom prst="diamond">
            <a:avLst/>
          </a:prstGeom>
          <a:solidFill>
            <a:srgbClr val="9AD7F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9"/>
          <p:cNvSpPr/>
          <p:nvPr>
            <p:custDataLst>
              <p:tags r:id="rId5"/>
            </p:custDataLst>
          </p:nvPr>
        </p:nvSpPr>
        <p:spPr>
          <a:xfrm>
            <a:off x="676275" y="4615815"/>
            <a:ext cx="715645" cy="101790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16" name="MH_Other_10"/>
          <p:cNvSpPr/>
          <p:nvPr>
            <p:custDataLst>
              <p:tags r:id="rId6"/>
            </p:custDataLst>
          </p:nvPr>
        </p:nvSpPr>
        <p:spPr bwMode="auto">
          <a:xfrm>
            <a:off x="640715" y="4615815"/>
            <a:ext cx="679450" cy="1017905"/>
          </a:xfrm>
          <a:custGeom>
            <a:avLst/>
            <a:gdLst>
              <a:gd name="T0" fmla="*/ 36 w 1806862"/>
              <a:gd name="T1" fmla="*/ 0 h 3612822"/>
              <a:gd name="T2" fmla="*/ 143580 w 1806862"/>
              <a:gd name="T3" fmla="*/ 143357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68C6EA"/>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17" name="MH_Text_3"/>
          <p:cNvSpPr/>
          <p:nvPr>
            <p:custDataLst>
              <p:tags r:id="rId7"/>
            </p:custDataLst>
          </p:nvPr>
        </p:nvSpPr>
        <p:spPr>
          <a:xfrm>
            <a:off x="1999615" y="5240020"/>
            <a:ext cx="9376410" cy="929275"/>
          </a:xfrm>
          <a:prstGeom prst="rect">
            <a:avLst/>
          </a:prstGeom>
        </p:spPr>
        <p:txBody>
          <a:bodyPr lIns="72000" tIns="72000" rIns="72000" bIns="72000">
            <a:spAutoFit/>
          </a:bodyPr>
          <a:lstStyle/>
          <a:p>
            <a:pPr indent="457200" algn="just">
              <a:lnSpc>
                <a:spcPct val="150000"/>
              </a:lnSpc>
            </a:pPr>
            <a:r>
              <a:rPr lang="zh-CN" altLang="en-US" dirty="0">
                <a:latin typeface="+mn-ea"/>
              </a:rPr>
              <a:t>应用逻辑层相当于应用的本体，它将具体的业务处理逻辑地编入程序中。表示层在应用逻辑层和数据存储层之间的数据，交互时要尽可能简洁。</a:t>
            </a:r>
          </a:p>
        </p:txBody>
      </p:sp>
      <p:sp>
        <p:nvSpPr>
          <p:cNvPr id="18" name="MH_SubTitle_3"/>
          <p:cNvSpPr/>
          <p:nvPr>
            <p:custDataLst>
              <p:tags r:id="rId8"/>
            </p:custDataLst>
          </p:nvPr>
        </p:nvSpPr>
        <p:spPr>
          <a:xfrm>
            <a:off x="1984375" y="4924663"/>
            <a:ext cx="4673600" cy="369332"/>
          </a:xfrm>
          <a:prstGeom prst="rect">
            <a:avLst/>
          </a:prstGeom>
        </p:spPr>
        <p:txBody>
          <a:bodyPr anchor="b">
            <a:spAutoFit/>
          </a:bodyPr>
          <a:lstStyle/>
          <a:p>
            <a:r>
              <a:rPr lang="zh-CN" altLang="en-US" b="1" dirty="0">
                <a:solidFill>
                  <a:srgbClr val="00B0F0"/>
                </a:solidFill>
              </a:rPr>
              <a:t>应用逻辑层</a:t>
            </a:r>
          </a:p>
        </p:txBody>
      </p:sp>
      <p:sp>
        <p:nvSpPr>
          <p:cNvPr id="9" name="MH_Text_1"/>
          <p:cNvSpPr/>
          <p:nvPr>
            <p:custDataLst>
              <p:tags r:id="rId9"/>
            </p:custDataLst>
          </p:nvPr>
        </p:nvSpPr>
        <p:spPr>
          <a:xfrm>
            <a:off x="1999615" y="2578735"/>
            <a:ext cx="9410065" cy="2175770"/>
          </a:xfrm>
          <a:prstGeom prst="rect">
            <a:avLst/>
          </a:prstGeom>
        </p:spPr>
        <p:txBody>
          <a:bodyPr lIns="72000" tIns="72000" rIns="72000" bIns="72000">
            <a:spAutoFit/>
          </a:bodyPr>
          <a:lstStyle/>
          <a:p>
            <a:pPr indent="457200" algn="just">
              <a:lnSpc>
                <a:spcPct val="150000"/>
              </a:lnSpc>
            </a:pPr>
            <a:r>
              <a:rPr lang="zh-CN" altLang="en-US" dirty="0">
                <a:latin typeface="+mn-ea"/>
              </a:rPr>
              <a:t>在三层C/S结构中，表示层是应用的用户接口部分，它担负着用户与应用间的对话功能。用于检查用户从键盘等输入设备所输入的数据，显示应用输出的数据。为使用户能直观地进行操作，一般要使用图形用户接口（Graphical User Interface，GUI），使操作简单、易学易用。在变更用户接口时，只需改写显示控制和数据检查程序，而不影响其他两层，检查的内容也只限于数据的形式和值的范围，不包括有关业务本身的处理逻辑。</a:t>
            </a:r>
          </a:p>
        </p:txBody>
      </p:sp>
      <p:sp>
        <p:nvSpPr>
          <p:cNvPr id="10" name="MH_SubTitle_1"/>
          <p:cNvSpPr/>
          <p:nvPr>
            <p:custDataLst>
              <p:tags r:id="rId10"/>
            </p:custDataLst>
          </p:nvPr>
        </p:nvSpPr>
        <p:spPr>
          <a:xfrm>
            <a:off x="1984375" y="2209403"/>
            <a:ext cx="4671695" cy="369332"/>
          </a:xfrm>
          <a:prstGeom prst="rect">
            <a:avLst/>
          </a:prstGeom>
        </p:spPr>
        <p:txBody>
          <a:bodyPr anchor="b">
            <a:spAutoFit/>
          </a:bodyPr>
          <a:lstStyle/>
          <a:p>
            <a:r>
              <a:rPr lang="zh-CN" altLang="en-US" b="1" dirty="0">
                <a:solidFill>
                  <a:srgbClr val="FF7C80"/>
                </a:solidFill>
              </a:rPr>
              <a:t>表示层</a:t>
            </a:r>
          </a:p>
        </p:txBody>
      </p:sp>
      <p:sp>
        <p:nvSpPr>
          <p:cNvPr id="19" name="MH_Other_11"/>
          <p:cNvSpPr>
            <a:spLocks noChangeArrowheads="1"/>
          </p:cNvSpPr>
          <p:nvPr>
            <p:custDataLst>
              <p:tags r:id="rId11"/>
            </p:custDataLst>
          </p:nvPr>
        </p:nvSpPr>
        <p:spPr bwMode="auto">
          <a:xfrm>
            <a:off x="1155065" y="2096770"/>
            <a:ext cx="474345" cy="35560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2"/>
          <p:cNvSpPr>
            <a:spLocks noChangeArrowheads="1"/>
          </p:cNvSpPr>
          <p:nvPr>
            <p:custDataLst>
              <p:tags r:id="rId12"/>
            </p:custDataLst>
          </p:nvPr>
        </p:nvSpPr>
        <p:spPr bwMode="auto">
          <a:xfrm>
            <a:off x="1155065" y="2503170"/>
            <a:ext cx="474345" cy="35560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13"/>
          <p:cNvSpPr>
            <a:spLocks noChangeArrowheads="1"/>
          </p:cNvSpPr>
          <p:nvPr>
            <p:custDataLst>
              <p:tags r:id="rId13"/>
            </p:custDataLst>
          </p:nvPr>
        </p:nvSpPr>
        <p:spPr bwMode="auto">
          <a:xfrm>
            <a:off x="1428115" y="2299970"/>
            <a:ext cx="474345" cy="35560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Other_14"/>
          <p:cNvSpPr/>
          <p:nvPr>
            <p:custDataLst>
              <p:tags r:id="rId14"/>
            </p:custDataLst>
          </p:nvPr>
        </p:nvSpPr>
        <p:spPr>
          <a:xfrm>
            <a:off x="640715" y="1969770"/>
            <a:ext cx="715645" cy="1017270"/>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3" name="MH_Other_15"/>
          <p:cNvSpPr/>
          <p:nvPr>
            <p:custDataLst>
              <p:tags r:id="rId15"/>
            </p:custDataLst>
          </p:nvPr>
        </p:nvSpPr>
        <p:spPr bwMode="auto">
          <a:xfrm>
            <a:off x="604520" y="1969770"/>
            <a:ext cx="677545" cy="1017270"/>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Tree>
    <p:custDataLst>
      <p:tags r:id="rId1"/>
    </p:custDataLst>
  </p:cSld>
  <p:clrMapOvr>
    <a:masterClrMapping/>
  </p:clrMapOvr>
  <p:transition>
    <p:circl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sp>
        <p:nvSpPr>
          <p:cNvPr id="4" name="MH_Other_1"/>
          <p:cNvSpPr>
            <a:spLocks noChangeArrowheads="1"/>
          </p:cNvSpPr>
          <p:nvPr>
            <p:custDataLst>
              <p:tags r:id="rId2"/>
            </p:custDataLst>
          </p:nvPr>
        </p:nvSpPr>
        <p:spPr bwMode="auto">
          <a:xfrm>
            <a:off x="1208756" y="2568575"/>
            <a:ext cx="476250" cy="35560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5" name="MH_Other_2"/>
          <p:cNvSpPr>
            <a:spLocks noChangeArrowheads="1"/>
          </p:cNvSpPr>
          <p:nvPr>
            <p:custDataLst>
              <p:tags r:id="rId3"/>
            </p:custDataLst>
          </p:nvPr>
        </p:nvSpPr>
        <p:spPr bwMode="auto">
          <a:xfrm>
            <a:off x="1208756" y="2973070"/>
            <a:ext cx="476250" cy="35687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3"/>
          <p:cNvSpPr>
            <a:spLocks noChangeArrowheads="1"/>
          </p:cNvSpPr>
          <p:nvPr>
            <p:custDataLst>
              <p:tags r:id="rId4"/>
            </p:custDataLst>
          </p:nvPr>
        </p:nvSpPr>
        <p:spPr bwMode="auto">
          <a:xfrm>
            <a:off x="1484346" y="2771775"/>
            <a:ext cx="474345" cy="355600"/>
          </a:xfrm>
          <a:prstGeom prst="diamond">
            <a:avLst/>
          </a:prstGeom>
          <a:solidFill>
            <a:srgbClr val="95D7B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4"/>
          <p:cNvSpPr/>
          <p:nvPr>
            <p:custDataLst>
              <p:tags r:id="rId5"/>
            </p:custDataLst>
          </p:nvPr>
        </p:nvSpPr>
        <p:spPr>
          <a:xfrm>
            <a:off x="696946" y="2439670"/>
            <a:ext cx="713105" cy="101917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8" name="MH_Other_5"/>
          <p:cNvSpPr/>
          <p:nvPr>
            <p:custDataLst>
              <p:tags r:id="rId6"/>
            </p:custDataLst>
          </p:nvPr>
        </p:nvSpPr>
        <p:spPr bwMode="auto">
          <a:xfrm>
            <a:off x="658846" y="2439670"/>
            <a:ext cx="679450" cy="1019175"/>
          </a:xfrm>
          <a:custGeom>
            <a:avLst/>
            <a:gdLst>
              <a:gd name="T0" fmla="*/ 36 w 1806862"/>
              <a:gd name="T1" fmla="*/ 0 h 3612822"/>
              <a:gd name="T2" fmla="*/ 143580 w 1806862"/>
              <a:gd name="T3" fmla="*/ 143580 h 3612822"/>
              <a:gd name="T4" fmla="*/ 36 w 1806862"/>
              <a:gd name="T5" fmla="*/ 287160 h 3612822"/>
              <a:gd name="T6" fmla="*/ 0 w 1806862"/>
              <a:gd name="T7" fmla="*/ 287124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76CBA6"/>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24" name="MH_Text_2"/>
          <p:cNvSpPr/>
          <p:nvPr>
            <p:custDataLst>
              <p:tags r:id="rId7"/>
            </p:custDataLst>
          </p:nvPr>
        </p:nvSpPr>
        <p:spPr>
          <a:xfrm>
            <a:off x="2144111" y="3127375"/>
            <a:ext cx="8820000" cy="1760272"/>
          </a:xfrm>
          <a:prstGeom prst="rect">
            <a:avLst/>
          </a:prstGeom>
        </p:spPr>
        <p:txBody>
          <a:bodyPr lIns="72000" tIns="72000" rIns="72000" bIns="72000" anchor="t" anchorCtr="0">
            <a:spAutoFit/>
          </a:bodyPr>
          <a:lstStyle/>
          <a:p>
            <a:pPr indent="457200" algn="just">
              <a:lnSpc>
                <a:spcPct val="150000"/>
              </a:lnSpc>
            </a:pPr>
            <a:r>
              <a:rPr dirty="0">
                <a:latin typeface="+mn-ea"/>
              </a:rPr>
              <a:t>数据存储层就是数据库管理系统（Database Management System，DBMS），负责管理对数据库数据的读写。DBMS必须能迅速执行大量数据的更新和检索。现在数据存储层的主流是关系型数据库管理系统（Relational Database Management System，RDBMS）。因此，现在一般从应用逻辑层传送到数据层的实现大都使用SQL语言。</a:t>
            </a:r>
          </a:p>
        </p:txBody>
      </p:sp>
      <p:sp>
        <p:nvSpPr>
          <p:cNvPr id="25" name="MH_SubTitle_2"/>
          <p:cNvSpPr/>
          <p:nvPr>
            <p:custDataLst>
              <p:tags r:id="rId8"/>
            </p:custDataLst>
          </p:nvPr>
        </p:nvSpPr>
        <p:spPr>
          <a:xfrm>
            <a:off x="2144111" y="2581726"/>
            <a:ext cx="4673600" cy="513264"/>
          </a:xfrm>
          <a:prstGeom prst="rect">
            <a:avLst/>
          </a:prstGeom>
        </p:spPr>
        <p:txBody>
          <a:bodyPr lIns="72000" tIns="72000" rIns="72000" bIns="72000" anchor="t" anchorCtr="0">
            <a:spAutoFit/>
          </a:bodyPr>
          <a:lstStyle/>
          <a:p>
            <a:pPr algn="just">
              <a:lnSpc>
                <a:spcPct val="150000"/>
              </a:lnSpc>
            </a:pPr>
            <a:r>
              <a:rPr lang="zh-CN" altLang="en-US" b="1" dirty="0">
                <a:solidFill>
                  <a:srgbClr val="00B050"/>
                </a:solidFill>
              </a:rPr>
              <a:t>数据存储层</a:t>
            </a:r>
          </a:p>
        </p:txBody>
      </p:sp>
    </p:spTree>
    <p:custDataLst>
      <p:tags r:id="rId1"/>
    </p:custDataLst>
  </p:cSld>
  <p:clrMapOvr>
    <a:masterClrMapping/>
  </p:clrMapOvr>
  <p:transition>
    <p:circl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sp>
        <p:nvSpPr>
          <p:cNvPr id="3" name="MH_Text_1"/>
          <p:cNvSpPr>
            <a:spLocks noChangeArrowheads="1"/>
          </p:cNvSpPr>
          <p:nvPr>
            <p:custDataLst>
              <p:tags r:id="rId2"/>
            </p:custDataLst>
          </p:nvPr>
        </p:nvSpPr>
        <p:spPr bwMode="auto">
          <a:xfrm>
            <a:off x="754380" y="2905760"/>
            <a:ext cx="6842760" cy="2906395"/>
          </a:xfrm>
          <a:prstGeom prst="rect">
            <a:avLst/>
          </a:prstGeom>
          <a:solidFill>
            <a:schemeClr val="bg1">
              <a:lumMod val="95000"/>
            </a:schemeClr>
          </a:solidFill>
          <a:ln w="9525">
            <a:noFill/>
            <a:miter lim="800000"/>
          </a:ln>
        </p:spPr>
        <p:txBody>
          <a:bodyPr lIns="72000" tIns="72000" rIns="108000" bIns="72000" anchor="ctr"/>
          <a:lstStyle/>
          <a:p>
            <a:pPr lvl="0" indent="457200" eaLnBrk="0" fontAlgn="base" hangingPunct="0">
              <a:lnSpc>
                <a:spcPct val="150000"/>
              </a:lnSpc>
              <a:spcBef>
                <a:spcPct val="0"/>
              </a:spcBef>
              <a:spcAft>
                <a:spcPct val="0"/>
              </a:spcAft>
            </a:pPr>
            <a:r>
              <a:rPr lang="zh-CN" altLang="en-US" dirty="0">
                <a:latin typeface="+mn-ea"/>
                <a:cs typeface="Times New Roman" panose="02020603050405020304" charset="0"/>
              </a:rPr>
              <a:t>以商品购买为例，在图8-4中，表示层是应用的最高层，它显示与商品浏览、购买、购物车内容服务相关的信息，并将结果输出到浏览器/客户端层和网络上的所有其他层，来与应用架构的其他层进行通信。应用逻辑层是从表示层剥离出来的，作为单独的一层，它通过执行细节处理来控制应用的功能。数据存储层包括数据库服务器，用于对信息进行存储和检索。</a:t>
            </a:r>
          </a:p>
        </p:txBody>
      </p:sp>
      <p:pic>
        <p:nvPicPr>
          <p:cNvPr id="9" name="图片 8" descr="A000220150318R84PPIC"/>
          <p:cNvPicPr>
            <a:picLocks noChangeAspect="1"/>
          </p:cNvPicPr>
          <p:nvPr/>
        </p:nvPicPr>
        <p:blipFill>
          <a:blip r:embed="rId5" cstate="print"/>
          <a:stretch>
            <a:fillRect/>
          </a:stretch>
        </p:blipFill>
        <p:spPr>
          <a:xfrm>
            <a:off x="6495415" y="751840"/>
            <a:ext cx="5074920" cy="5060315"/>
          </a:xfrm>
          <a:prstGeom prst="rect">
            <a:avLst/>
          </a:prstGeom>
        </p:spPr>
      </p:pic>
    </p:spTree>
    <p:custDataLst>
      <p:tags r:id="rId1"/>
    </p:custDataLst>
  </p:cSld>
  <p:clrMapOvr>
    <a:masterClrMapping/>
  </p:clrMapOvr>
  <p:transition>
    <p:circl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754380" y="2874645"/>
            <a:ext cx="7727950" cy="2175257"/>
          </a:xfrm>
          <a:prstGeom prst="rect">
            <a:avLst/>
          </a:prstGeom>
        </p:spPr>
        <p:txBody>
          <a:bodyPr wrap="square" lIns="72000" tIns="72000" rIns="72000" bIns="72000">
            <a:spAutoFit/>
          </a:bodyPr>
          <a:lstStyle/>
          <a:p>
            <a:pPr indent="457200">
              <a:lnSpc>
                <a:spcPct val="150000"/>
              </a:lnSpc>
              <a:defRPr/>
            </a:pPr>
            <a:r>
              <a:rPr lang="zh-CN" altLang="en-US" dirty="0"/>
              <a:t>数据存储层保证数据独立于应用逻辑层，将数据作为单独的一层，还可以提高程序的可扩展性和性能。</a:t>
            </a:r>
            <a:r>
              <a:rPr lang="en-US" altLang="zh-CN" dirty="0"/>
              <a:t>Web</a:t>
            </a:r>
            <a:r>
              <a:rPr lang="zh-CN" altLang="en-US" dirty="0"/>
              <a:t>浏览器（表示层）向中间层（应用逻辑层）发送请求，中间层通过查询、更新数据库（数据存储层）并响应此请求。三层架构中一条最基本的规则是：表示层不直接与数据存储层通信。在三层架构中，所有通信都必须经过应用逻辑层。</a:t>
            </a:r>
            <a:endParaRPr lang="en-US" altLang="zh-CN" dirty="0"/>
          </a:p>
        </p:txBody>
      </p:sp>
      <p:pic>
        <p:nvPicPr>
          <p:cNvPr id="3" name="图片 2" descr="A000220150318G25PPIC"/>
          <p:cNvPicPr>
            <a:picLocks noChangeAspect="1"/>
          </p:cNvPicPr>
          <p:nvPr/>
        </p:nvPicPr>
        <p:blipFill>
          <a:blip r:embed="rId4" cstate="print"/>
          <a:stretch>
            <a:fillRect/>
          </a:stretch>
        </p:blipFill>
        <p:spPr>
          <a:xfrm>
            <a:off x="7979410" y="745490"/>
            <a:ext cx="4212590" cy="4740910"/>
          </a:xfrm>
          <a:prstGeom prst="rect">
            <a:avLst/>
          </a:prstGeom>
        </p:spPr>
      </p:pic>
    </p:spTree>
    <p:custDataLst>
      <p:tags r:id="rId1"/>
    </p:custDataLst>
  </p:cSld>
  <p:clrMapOvr>
    <a:masterClrMapping/>
  </p:clrMapOvr>
  <p:transition>
    <p:circl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grpSp>
        <p:nvGrpSpPr>
          <p:cNvPr id="17" name="组合 16"/>
          <p:cNvGrpSpPr/>
          <p:nvPr/>
        </p:nvGrpSpPr>
        <p:grpSpPr>
          <a:xfrm>
            <a:off x="709930" y="2291080"/>
            <a:ext cx="11073130" cy="4239260"/>
            <a:chOff x="1094" y="3656"/>
            <a:chExt cx="17438" cy="6676"/>
          </a:xfrm>
        </p:grpSpPr>
        <p:sp>
          <p:nvSpPr>
            <p:cNvPr id="5" name="Oval 15"/>
            <p:cNvSpPr>
              <a:spLocks noChangeArrowheads="1"/>
            </p:cNvSpPr>
            <p:nvPr>
              <p:custDataLst>
                <p:tags r:id="rId2"/>
              </p:custDataLst>
            </p:nvPr>
          </p:nvSpPr>
          <p:spPr bwMode="auto">
            <a:xfrm>
              <a:off x="1366" y="4268"/>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6" name="Line 16"/>
            <p:cNvSpPr>
              <a:spLocks noChangeShapeType="1"/>
            </p:cNvSpPr>
            <p:nvPr>
              <p:custDataLst>
                <p:tags r:id="rId3"/>
              </p:custDataLst>
            </p:nvPr>
          </p:nvSpPr>
          <p:spPr bwMode="gray">
            <a:xfrm>
              <a:off x="1094" y="6785"/>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4" name="Line 17"/>
            <p:cNvSpPr>
              <a:spLocks noChangeShapeType="1"/>
            </p:cNvSpPr>
            <p:nvPr>
              <p:custDataLst>
                <p:tags r:id="rId4"/>
              </p:custDataLst>
            </p:nvPr>
          </p:nvSpPr>
          <p:spPr bwMode="gray">
            <a:xfrm>
              <a:off x="3837" y="3898"/>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8" name="Oval 10"/>
            <p:cNvSpPr>
              <a:spLocks noChangeArrowheads="1"/>
            </p:cNvSpPr>
            <p:nvPr>
              <p:custDataLst>
                <p:tags r:id="rId5"/>
              </p:custDataLst>
            </p:nvPr>
          </p:nvSpPr>
          <p:spPr bwMode="gray">
            <a:xfrm>
              <a:off x="1638" y="4552"/>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6"/>
              </p:custDataLst>
            </p:nvPr>
          </p:nvSpPr>
          <p:spPr bwMode="gray">
            <a:xfrm>
              <a:off x="2140" y="5083"/>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9" name="KSO_GT1"/>
            <p:cNvSpPr>
              <a:spLocks noChangeArrowheads="1"/>
            </p:cNvSpPr>
            <p:nvPr>
              <p:custDataLst>
                <p:tags r:id="rId7"/>
              </p:custDataLst>
            </p:nvPr>
          </p:nvSpPr>
          <p:spPr bwMode="gray">
            <a:xfrm>
              <a:off x="2746" y="5701"/>
              <a:ext cx="2155" cy="2201"/>
            </a:xfrm>
            <a:prstGeom prst="ellipse">
              <a:avLst/>
            </a:prstGeom>
            <a:solidFill>
              <a:srgbClr val="4F5A71"/>
            </a:solidFill>
            <a:ln>
              <a:noFill/>
            </a:ln>
            <a:effectLst/>
          </p:spPr>
          <p:txBody>
            <a:bodyPr wrap="square" lIns="0" tIns="0" rIns="0" bIns="0" anchor="ctr">
              <a:normAutofit fontScale="70000" lnSpcReduction="20000"/>
            </a:bodyPr>
            <a:lstStyle/>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三层C/S结构的优势</a:t>
              </a:r>
            </a:p>
          </p:txBody>
        </p:sp>
        <p:sp>
          <p:nvSpPr>
            <p:cNvPr id="43" name="Oval 19"/>
            <p:cNvSpPr>
              <a:spLocks noChangeArrowheads="1"/>
            </p:cNvSpPr>
            <p:nvPr>
              <p:custDataLst>
                <p:tags r:id="rId8"/>
              </p:custDataLst>
            </p:nvPr>
          </p:nvSpPr>
          <p:spPr bwMode="gray">
            <a:xfrm>
              <a:off x="4107" y="4156"/>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0" name="文本框 9"/>
            <p:cNvSpPr txBox="1"/>
            <p:nvPr>
              <p:custDataLst>
                <p:tags r:id="rId9"/>
              </p:custDataLst>
            </p:nvPr>
          </p:nvSpPr>
          <p:spPr>
            <a:xfrm>
              <a:off x="5721" y="3656"/>
              <a:ext cx="12596" cy="1037"/>
            </a:xfrm>
            <a:prstGeom prst="rect">
              <a:avLst/>
            </a:prstGeom>
            <a:noFill/>
          </p:spPr>
          <p:txBody>
            <a:bodyPr wrap="square" lIns="0" rIns="0">
              <a:normAutofit/>
            </a:bodyPr>
            <a:lstStyle/>
            <a:p>
              <a:pPr>
                <a:lnSpc>
                  <a:spcPct val="130000"/>
                </a:lnSpc>
                <a:spcBef>
                  <a:spcPts val="600"/>
                </a:spcBef>
                <a:defRPr/>
              </a:pPr>
              <a:r>
                <a:rPr dirty="0"/>
                <a:t>（1）利用单一的访问点，可以在任何地方访问站点的数据库；</a:t>
              </a:r>
            </a:p>
            <a:p>
              <a:pPr>
                <a:lnSpc>
                  <a:spcPct val="130000"/>
                </a:lnSpc>
                <a:spcBef>
                  <a:spcPts val="600"/>
                </a:spcBef>
                <a:defRPr/>
              </a:pPr>
              <a:endParaRPr dirty="0"/>
            </a:p>
          </p:txBody>
        </p:sp>
        <p:sp>
          <p:nvSpPr>
            <p:cNvPr id="46" name="Oval 19"/>
            <p:cNvSpPr>
              <a:spLocks noChangeArrowheads="1"/>
            </p:cNvSpPr>
            <p:nvPr>
              <p:custDataLst>
                <p:tags r:id="rId10"/>
              </p:custDataLst>
            </p:nvPr>
          </p:nvSpPr>
          <p:spPr bwMode="gray">
            <a:xfrm>
              <a:off x="5110" y="4872"/>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1"/>
              </p:custDataLst>
            </p:nvPr>
          </p:nvSpPr>
          <p:spPr>
            <a:xfrm>
              <a:off x="7127" y="5507"/>
              <a:ext cx="11405" cy="965"/>
            </a:xfrm>
            <a:prstGeom prst="rect">
              <a:avLst/>
            </a:prstGeom>
            <a:noFill/>
          </p:spPr>
          <p:txBody>
            <a:bodyPr wrap="square" lIns="0" rIns="0">
              <a:normAutofit/>
            </a:bodyPr>
            <a:lstStyle/>
            <a:p>
              <a:pPr>
                <a:lnSpc>
                  <a:spcPct val="130000"/>
                </a:lnSpc>
                <a:spcBef>
                  <a:spcPts val="600"/>
                </a:spcBef>
                <a:defRPr/>
              </a:pPr>
              <a:r>
                <a:rPr dirty="0"/>
                <a:t>（3）所有的信息，不论其所基于的平台，都可用相同的界面访问；</a:t>
              </a:r>
            </a:p>
          </p:txBody>
        </p:sp>
        <p:sp>
          <p:nvSpPr>
            <p:cNvPr id="49" name="Oval 19"/>
            <p:cNvSpPr>
              <a:spLocks noChangeArrowheads="1"/>
            </p:cNvSpPr>
            <p:nvPr>
              <p:custDataLst>
                <p:tags r:id="rId12"/>
              </p:custDataLst>
            </p:nvPr>
          </p:nvSpPr>
          <p:spPr bwMode="gray">
            <a:xfrm>
              <a:off x="5721" y="6604"/>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1" name="文本框 10"/>
            <p:cNvSpPr txBox="1"/>
            <p:nvPr>
              <p:custDataLst>
                <p:tags r:id="rId13"/>
              </p:custDataLst>
            </p:nvPr>
          </p:nvSpPr>
          <p:spPr>
            <a:xfrm>
              <a:off x="7127" y="7330"/>
              <a:ext cx="11405" cy="759"/>
            </a:xfrm>
            <a:prstGeom prst="rect">
              <a:avLst/>
            </a:prstGeom>
            <a:noFill/>
          </p:spPr>
          <p:txBody>
            <a:bodyPr wrap="square" lIns="0" rIns="0">
              <a:normAutofit/>
            </a:bodyPr>
            <a:lstStyle/>
            <a:p>
              <a:pPr>
                <a:lnSpc>
                  <a:spcPct val="130000"/>
                </a:lnSpc>
                <a:spcBef>
                  <a:spcPts val="600"/>
                </a:spcBef>
                <a:defRPr/>
              </a:pPr>
              <a:r>
                <a:rPr lang="zh-CN" altLang="en-US" dirty="0"/>
                <a:t>（5）具有良好的开放性，系统的可扩充性良好；</a:t>
              </a:r>
            </a:p>
          </p:txBody>
        </p:sp>
        <p:sp>
          <p:nvSpPr>
            <p:cNvPr id="53" name="Oval 19"/>
            <p:cNvSpPr>
              <a:spLocks noChangeArrowheads="1"/>
            </p:cNvSpPr>
            <p:nvPr>
              <p:custDataLst>
                <p:tags r:id="rId14"/>
              </p:custDataLst>
            </p:nvPr>
          </p:nvSpPr>
          <p:spPr bwMode="gray">
            <a:xfrm>
              <a:off x="5110" y="8123"/>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2" name="文本框 11"/>
            <p:cNvSpPr txBox="1"/>
            <p:nvPr>
              <p:custDataLst>
                <p:tags r:id="rId15"/>
              </p:custDataLst>
            </p:nvPr>
          </p:nvSpPr>
          <p:spPr>
            <a:xfrm>
              <a:off x="5506" y="8979"/>
              <a:ext cx="12811" cy="1353"/>
            </a:xfrm>
            <a:prstGeom prst="rect">
              <a:avLst/>
            </a:prstGeom>
            <a:noFill/>
          </p:spPr>
          <p:txBody>
            <a:bodyPr wrap="square" lIns="0" rIns="0">
              <a:normAutofit/>
            </a:bodyPr>
            <a:lstStyle/>
            <a:p>
              <a:pPr>
                <a:lnSpc>
                  <a:spcPct val="130000"/>
                </a:lnSpc>
                <a:spcBef>
                  <a:spcPts val="600"/>
                </a:spcBef>
                <a:defRPr/>
              </a:pPr>
              <a:r>
                <a:rPr lang="zh-CN" altLang="en-US" dirty="0"/>
                <a:t>（7）系统管理简单，可支持异种数据库，有很高的可用性。</a:t>
              </a:r>
            </a:p>
          </p:txBody>
        </p:sp>
        <p:sp>
          <p:nvSpPr>
            <p:cNvPr id="56" name="Oval 19"/>
            <p:cNvSpPr>
              <a:spLocks noChangeArrowheads="1"/>
            </p:cNvSpPr>
            <p:nvPr>
              <p:custDataLst>
                <p:tags r:id="rId16"/>
              </p:custDataLst>
            </p:nvPr>
          </p:nvSpPr>
          <p:spPr bwMode="gray">
            <a:xfrm>
              <a:off x="4107" y="8979"/>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7"/>
              </p:custDataLst>
            </p:nvPr>
          </p:nvSpPr>
          <p:spPr>
            <a:xfrm>
              <a:off x="7489" y="6472"/>
              <a:ext cx="9960" cy="858"/>
            </a:xfrm>
            <a:prstGeom prst="rect">
              <a:avLst/>
            </a:prstGeom>
            <a:noFill/>
          </p:spPr>
          <p:txBody>
            <a:bodyPr wrap="square" lIns="0" rIns="0">
              <a:normAutofit fontScale="92500"/>
            </a:bodyPr>
            <a:lstStyle/>
            <a:p>
              <a:pPr>
                <a:lnSpc>
                  <a:spcPct val="130000"/>
                </a:lnSpc>
                <a:spcBef>
                  <a:spcPts val="600"/>
                </a:spcBef>
                <a:defRPr/>
              </a:pPr>
              <a:r>
                <a:rPr dirty="0">
                  <a:sym typeface="+mn-ea"/>
                </a:rPr>
                <a:t>（4）可跨平台操作，减少整个系统的成本，维护升级十分方便；</a:t>
              </a:r>
            </a:p>
          </p:txBody>
        </p:sp>
        <p:sp>
          <p:nvSpPr>
            <p:cNvPr id="13" name="Oval 19"/>
            <p:cNvSpPr>
              <a:spLocks noChangeArrowheads="1"/>
            </p:cNvSpPr>
            <p:nvPr>
              <p:custDataLst>
                <p:tags r:id="rId18"/>
              </p:custDataLst>
            </p:nvPr>
          </p:nvSpPr>
          <p:spPr bwMode="gray">
            <a:xfrm>
              <a:off x="5975" y="5523"/>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Oval 19"/>
            <p:cNvSpPr>
              <a:spLocks noChangeArrowheads="1"/>
            </p:cNvSpPr>
            <p:nvPr>
              <p:custDataLst>
                <p:tags r:id="rId19"/>
              </p:custDataLst>
            </p:nvPr>
          </p:nvSpPr>
          <p:spPr bwMode="gray">
            <a:xfrm>
              <a:off x="5936" y="7727"/>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5" name="文本框 14"/>
            <p:cNvSpPr txBox="1"/>
            <p:nvPr/>
          </p:nvSpPr>
          <p:spPr>
            <a:xfrm>
              <a:off x="6580" y="4692"/>
              <a:ext cx="10568" cy="576"/>
            </a:xfrm>
            <a:prstGeom prst="rect">
              <a:avLst/>
            </a:prstGeom>
            <a:noFill/>
          </p:spPr>
          <p:txBody>
            <a:bodyPr wrap="none" rtlCol="0" anchor="t">
              <a:spAutoFit/>
            </a:bodyPr>
            <a:lstStyle/>
            <a:p>
              <a:pPr algn="l"/>
              <a:r>
                <a:rPr dirty="0">
                  <a:sym typeface="+mn-ea"/>
                </a:rPr>
                <a:t>（2）对于各种信息源，不论是文本还是图形都采用相同的界面；</a:t>
              </a:r>
            </a:p>
          </p:txBody>
        </p:sp>
        <p:sp>
          <p:nvSpPr>
            <p:cNvPr id="16" name="文本框 15"/>
            <p:cNvSpPr txBox="1"/>
            <p:nvPr/>
          </p:nvSpPr>
          <p:spPr>
            <a:xfrm>
              <a:off x="6371" y="8123"/>
              <a:ext cx="4808" cy="705"/>
            </a:xfrm>
            <a:prstGeom prst="rect">
              <a:avLst/>
            </a:prstGeom>
            <a:noFill/>
          </p:spPr>
          <p:txBody>
            <a:bodyPr wrap="none" rtlCol="0" anchor="t">
              <a:spAutoFit/>
            </a:bodyPr>
            <a:lstStyle/>
            <a:p>
              <a:pPr algn="l">
                <a:lnSpc>
                  <a:spcPct val="130000"/>
                </a:lnSpc>
                <a:spcBef>
                  <a:spcPts val="600"/>
                </a:spcBef>
                <a:defRPr/>
              </a:pPr>
              <a:r>
                <a:rPr lang="zh-CN" altLang="en-US" dirty="0">
                  <a:sym typeface="+mn-ea"/>
                </a:rPr>
                <a:t>（6）进行严密的安全管理；</a:t>
              </a:r>
            </a:p>
          </p:txBody>
        </p:sp>
      </p:grpSp>
    </p:spTree>
    <p:custDataLst>
      <p:tags r:id="rId1"/>
    </p:custDataLst>
  </p:cSld>
  <p:clrMapOvr>
    <a:masterClrMapping/>
  </p:clrMapOvr>
  <p:transition>
    <p:circl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pic>
        <p:nvPicPr>
          <p:cNvPr id="9" name="图片 8" descr="A000220150322J79PPIC.png"/>
          <p:cNvPicPr>
            <a:picLocks noChangeAspect="1"/>
          </p:cNvPicPr>
          <p:nvPr/>
        </p:nvPicPr>
        <p:blipFill>
          <a:blip r:embed="rId5" cstate="print"/>
          <a:stretch>
            <a:fillRect/>
          </a:stretch>
        </p:blipFill>
        <p:spPr>
          <a:xfrm>
            <a:off x="867239" y="1928827"/>
            <a:ext cx="3595579" cy="4262120"/>
          </a:xfrm>
          <a:prstGeom prst="rect">
            <a:avLst/>
          </a:prstGeom>
        </p:spPr>
      </p:pic>
      <p:sp>
        <p:nvSpPr>
          <p:cNvPr id="12" name="MH_Desc_1"/>
          <p:cNvSpPr/>
          <p:nvPr>
            <p:custDataLst>
              <p:tags r:id="rId2"/>
            </p:custDataLst>
          </p:nvPr>
        </p:nvSpPr>
        <p:spPr>
          <a:xfrm>
            <a:off x="4946650" y="2395220"/>
            <a:ext cx="6297295" cy="325120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50000"/>
              </a:lnSpc>
            </a:pPr>
            <a:r>
              <a:rPr dirty="0">
                <a:solidFill>
                  <a:schemeClr val="tx1"/>
                </a:solidFill>
                <a:latin typeface="微软雅黑" panose="020B0503020204020204" charset="-122"/>
                <a:ea typeface="微软雅黑" panose="020B0503020204020204" charset="-122"/>
              </a:rPr>
              <a:t>三层C/S结构各层间的通信效率如果不高，即使分配给各层的硬件能力很强，从整体来说也达不到所要求的性能。在设计时，必须考虑三层间的通信方法、通信频度及数据量，这和提高各层的独立性一样，是三层C/S结构的关键问题。</a:t>
            </a:r>
          </a:p>
        </p:txBody>
      </p:sp>
    </p:spTree>
    <p:custDataLst>
      <p:tags r:id="rId1"/>
    </p:custDataLst>
  </p:cSld>
  <p:clrMapOvr>
    <a:masterClrMapping/>
  </p:clrMapOvr>
  <p:transition>
    <p:circl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8.2.3 </a:t>
            </a:r>
            <a:r>
              <a:rPr lang="zh-CN" altLang="en-US" sz="2400" dirty="0">
                <a:solidFill>
                  <a:schemeClr val="tx1"/>
                </a:solidFill>
              </a:rPr>
              <a:t>四层</a:t>
            </a:r>
            <a:r>
              <a:rPr lang="en-US" altLang="zh-CN" sz="2400" dirty="0">
                <a:solidFill>
                  <a:schemeClr val="tx1"/>
                </a:solidFill>
              </a:rPr>
              <a:t>C/S</a:t>
            </a:r>
            <a:r>
              <a:rPr lang="zh-CN" altLang="en-US" sz="2400" dirty="0">
                <a:solidFill>
                  <a:schemeClr val="tx1"/>
                </a:solidFill>
              </a:rPr>
              <a:t>结构</a:t>
            </a:r>
          </a:p>
        </p:txBody>
      </p:sp>
      <p:sp>
        <p:nvSpPr>
          <p:cNvPr id="13" name="MH_Picture_1"/>
          <p:cNvSpPr/>
          <p:nvPr>
            <p:custDataLst>
              <p:tags r:id="rId2"/>
            </p:custDataLst>
          </p:nvPr>
        </p:nvSpPr>
        <p:spPr>
          <a:xfrm>
            <a:off x="809612" y="2551387"/>
            <a:ext cx="4544336" cy="3028183"/>
          </a:xfrm>
          <a:prstGeom prst="rect">
            <a:avLst/>
          </a:prstGeom>
          <a:blipFill>
            <a:blip r:embed="rId6"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5" name="MH_SubTitle_1"/>
          <p:cNvSpPr/>
          <p:nvPr>
            <p:custDataLst>
              <p:tags r:id="rId3"/>
            </p:custDataLst>
          </p:nvPr>
        </p:nvSpPr>
        <p:spPr>
          <a:xfrm>
            <a:off x="5290820" y="2535555"/>
            <a:ext cx="6012815" cy="3044190"/>
          </a:xfrm>
          <a:prstGeom prst="rect">
            <a:avLst/>
          </a:prstGeom>
          <a:solidFill>
            <a:srgbClr val="45C1A4"/>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anchor="ctr"/>
          <a:lstStyle/>
          <a:p>
            <a:pPr indent="457200" algn="just" fontAlgn="auto">
              <a:lnSpc>
                <a:spcPct val="120000"/>
              </a:lnSpc>
              <a:spcBef>
                <a:spcPts val="600"/>
              </a:spcBef>
              <a:spcAft>
                <a:spcPts val="600"/>
              </a:spcAft>
              <a:defRPr/>
            </a:pPr>
            <a:r>
              <a:rPr lang="en-US" altLang="zh-CN"/>
              <a:t>由于三层结构解决方案的通信效率问题以及扩展性还不够高，因此提出了一种四层解决方案，该方案在Web服务器和数据库之间使用了一层中间件（通常称为应用服务器）。应用服务器负责将应用编程接口（Application Programming Interface，API）提供给业务逻辑和业务流程以供程序使用，可以根据需要引入其他的Web服务器。此外，应用服务器可以与多个数据源通信，包括数据库、大型机以及其他旧式系统。</a:t>
            </a:r>
            <a:endParaRPr lang="en-US" altLang="zh-CN" dirty="0"/>
          </a:p>
        </p:txBody>
      </p:sp>
    </p:spTree>
    <p:custDataLst>
      <p:tags r:id="rId1"/>
    </p:custDataLst>
  </p:cSld>
  <p:clrMapOvr>
    <a:masterClrMapping/>
  </p:clrMapOvr>
  <p:transition>
    <p:circl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8.2.3 </a:t>
            </a:r>
            <a:r>
              <a:rPr lang="zh-CN" altLang="en-US" sz="2400" dirty="0">
                <a:solidFill>
                  <a:schemeClr val="tx1"/>
                </a:solidFill>
              </a:rPr>
              <a:t>四层</a:t>
            </a:r>
            <a:r>
              <a:rPr lang="en-US" altLang="zh-CN" sz="2400" dirty="0">
                <a:solidFill>
                  <a:schemeClr val="tx1"/>
                </a:solidFill>
              </a:rPr>
              <a:t>C/S</a:t>
            </a:r>
            <a:r>
              <a:rPr lang="zh-CN" altLang="en-US" sz="2400" dirty="0">
                <a:solidFill>
                  <a:schemeClr val="tx1"/>
                </a:solidFill>
              </a:rPr>
              <a:t>结构</a:t>
            </a:r>
          </a:p>
        </p:txBody>
      </p:sp>
      <p:grpSp>
        <p:nvGrpSpPr>
          <p:cNvPr id="3" name="组合 2"/>
          <p:cNvGrpSpPr/>
          <p:nvPr/>
        </p:nvGrpSpPr>
        <p:grpSpPr>
          <a:xfrm>
            <a:off x="1230630" y="2564130"/>
            <a:ext cx="9730740" cy="3575050"/>
            <a:chOff x="1938" y="4038"/>
            <a:chExt cx="15324" cy="5630"/>
          </a:xfrm>
        </p:grpSpPr>
        <p:pic>
          <p:nvPicPr>
            <p:cNvPr id="4" name="图片 237" descr="8-5"/>
            <p:cNvPicPr>
              <a:picLocks noChangeAspect="1"/>
            </p:cNvPicPr>
            <p:nvPr/>
          </p:nvPicPr>
          <p:blipFill>
            <a:blip r:embed="rId5" cstate="print"/>
            <a:stretch>
              <a:fillRect/>
            </a:stretch>
          </p:blipFill>
          <p:spPr>
            <a:xfrm>
              <a:off x="1939" y="4038"/>
              <a:ext cx="15323" cy="3492"/>
            </a:xfrm>
            <a:prstGeom prst="rect">
              <a:avLst/>
            </a:prstGeom>
            <a:noFill/>
            <a:ln w="9525">
              <a:noFill/>
            </a:ln>
          </p:spPr>
        </p:pic>
        <p:sp>
          <p:nvSpPr>
            <p:cNvPr id="5" name="MH_Text_1"/>
            <p:cNvSpPr/>
            <p:nvPr>
              <p:custDataLst>
                <p:tags r:id="rId2"/>
              </p:custDataLst>
            </p:nvPr>
          </p:nvSpPr>
          <p:spPr>
            <a:xfrm>
              <a:off x="1938" y="7810"/>
              <a:ext cx="15324" cy="1859"/>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indent="457200">
                <a:lnSpc>
                  <a:spcPct val="130000"/>
                </a:lnSpc>
              </a:pPr>
              <a:r>
                <a:rPr dirty="0">
                  <a:solidFill>
                    <a:schemeClr val="tx1"/>
                  </a:solidFill>
                  <a:latin typeface="+mn-ea"/>
                </a:rPr>
                <a:t>图8-5描绘了一种简单的四层结构。在图8-5中，Web浏览器（表示层）向中间层（逻辑层）发送请求，依次调用位于应用层的应用服务器所提供的API，应用层通过查询、更新数据库（数据存储层）来响应该请求。</a:t>
              </a:r>
            </a:p>
          </p:txBody>
        </p:sp>
      </p:grpSp>
    </p:spTree>
    <p:custDataLst>
      <p:tags r:id="rId1"/>
    </p:custDataLst>
  </p:cSld>
  <p:clrMapOvr>
    <a:masterClrMapping/>
  </p:clrMapOvr>
  <p:transition>
    <p:circl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8.2.3 </a:t>
            </a:r>
            <a:r>
              <a:rPr lang="zh-CN" altLang="en-US" sz="2400" dirty="0">
                <a:solidFill>
                  <a:schemeClr val="tx1"/>
                </a:solidFill>
              </a:rPr>
              <a:t>四层</a:t>
            </a:r>
            <a:r>
              <a:rPr lang="en-US" altLang="zh-CN" sz="2400" dirty="0">
                <a:solidFill>
                  <a:schemeClr val="tx1"/>
                </a:solidFill>
              </a:rPr>
              <a:t>C/S</a:t>
            </a:r>
            <a:r>
              <a:rPr lang="zh-CN" altLang="en-US" sz="2400" dirty="0">
                <a:solidFill>
                  <a:schemeClr val="tx1"/>
                </a:solidFill>
              </a:rPr>
              <a:t>结构</a:t>
            </a:r>
          </a:p>
        </p:txBody>
      </p:sp>
      <p:sp>
        <p:nvSpPr>
          <p:cNvPr id="8" name="圆角矩形 7"/>
          <p:cNvSpPr/>
          <p:nvPr/>
        </p:nvSpPr>
        <p:spPr>
          <a:xfrm>
            <a:off x="617220" y="2288540"/>
            <a:ext cx="7919085" cy="3753485"/>
          </a:xfrm>
          <a:prstGeom prst="roundRect">
            <a:avLst/>
          </a:prstGeom>
          <a:noFill/>
          <a:ln w="28575">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auto">
              <a:lnSpc>
                <a:spcPct val="130000"/>
              </a:lnSpc>
            </a:pPr>
            <a:r>
              <a:rPr lang="en-US" altLang="zh-CN">
                <a:solidFill>
                  <a:schemeClr val="tx1">
                    <a:lumMod val="50000"/>
                  </a:schemeClr>
                </a:solidFill>
                <a:latin typeface="微软雅黑" panose="020B0503020204020204" charset="-122"/>
                <a:ea typeface="微软雅黑" panose="020B0503020204020204" charset="-122"/>
              </a:rPr>
              <a:t>       </a:t>
            </a:r>
            <a:r>
              <a:rPr lang="zh-CN" altLang="en-US">
                <a:solidFill>
                  <a:schemeClr val="tx1">
                    <a:lumMod val="50000"/>
                  </a:schemeClr>
                </a:solidFill>
                <a:latin typeface="微软雅黑" panose="020B0503020204020204" charset="-122"/>
                <a:ea typeface="微软雅黑" panose="020B0503020204020204" charset="-122"/>
              </a:rPr>
              <a:t>在图8-5中，如果用户激活Web浏览器并连接到某个网址，位于逻辑层的Web服务器将从文件系统中加载脚本，并将其传递给脚本引擎，脚本引擎负责解析并执行脚本。脚本调用位于应用层的应用服务器所提供的应用程序编程接口（API）。应用服务器使用数据库连接器打开存储层连接，并对数据库执行SQL语句。数据库将数据返回给数据库连接器，应用服务器在将数据返回给Web服务器之前先执行相关的应用或业务逻辑规则。Web服务器再将数据以HTML格式返回给表示层的用户的Web浏览器。用户的Web浏览器以HTML呈现并借助代码的图形化表示展现给用户。所有操作都将在数秒内完成，并且对用户是透明的。</a:t>
            </a:r>
          </a:p>
        </p:txBody>
      </p:sp>
      <p:pic>
        <p:nvPicPr>
          <p:cNvPr id="23" name="图片 22" descr="474ffc7bc8a9e8770776b7c07f58d0fdad576b94.png"/>
          <p:cNvPicPr>
            <a:picLocks noChangeAspect="1"/>
          </p:cNvPicPr>
          <p:nvPr/>
        </p:nvPicPr>
        <p:blipFill>
          <a:blip r:embed="rId4" cstate="print"/>
          <a:stretch>
            <a:fillRect/>
          </a:stretch>
        </p:blipFill>
        <p:spPr>
          <a:xfrm>
            <a:off x="7927340" y="1304138"/>
            <a:ext cx="4096385" cy="5123180"/>
          </a:xfrm>
          <a:prstGeom prst="rect">
            <a:avLst/>
          </a:prstGeom>
        </p:spPr>
      </p:pic>
    </p:spTree>
    <p:custDataLst>
      <p:tags r:id="rId1"/>
    </p:custDataLst>
  </p:cSld>
  <p:clrMapOvr>
    <a:masterClrMapping/>
  </p:clrMapOvr>
  <p:transition>
    <p:circl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8.2.3 </a:t>
            </a:r>
            <a:r>
              <a:rPr lang="zh-CN" altLang="en-US" sz="2400" dirty="0">
                <a:solidFill>
                  <a:schemeClr val="tx1"/>
                </a:solidFill>
              </a:rPr>
              <a:t>四层</a:t>
            </a:r>
            <a:r>
              <a:rPr lang="en-US" altLang="zh-CN" sz="2400" dirty="0">
                <a:solidFill>
                  <a:schemeClr val="tx1"/>
                </a:solidFill>
              </a:rPr>
              <a:t>C/S</a:t>
            </a:r>
            <a:r>
              <a:rPr lang="zh-CN" altLang="en-US" sz="2400" dirty="0">
                <a:solidFill>
                  <a:schemeClr val="tx1"/>
                </a:solidFill>
              </a:rPr>
              <a:t>结构</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754380" y="2874645"/>
            <a:ext cx="7072630" cy="2122184"/>
          </a:xfrm>
          <a:prstGeom prst="rect">
            <a:avLst/>
          </a:prstGeom>
        </p:spPr>
        <p:txBody>
          <a:bodyPr wrap="square">
            <a:spAutoFit/>
          </a:bodyPr>
          <a:lstStyle/>
          <a:p>
            <a:pPr indent="457200">
              <a:lnSpc>
                <a:spcPct val="150000"/>
              </a:lnSpc>
              <a:defRPr/>
            </a:pPr>
            <a:r>
              <a:rPr lang="en-US" altLang="zh-CN" dirty="0"/>
              <a:t>Web</a:t>
            </a:r>
            <a:r>
              <a:rPr lang="zh-CN" altLang="en-US" dirty="0"/>
              <a:t>软件的客户端即表示层，一般采用浏览器支持的脚本语言（如</a:t>
            </a:r>
            <a:r>
              <a:rPr lang="en-US" altLang="zh-CN" dirty="0"/>
              <a:t>JavaScript</a:t>
            </a:r>
            <a:r>
              <a:rPr lang="zh-CN" altLang="en-US" dirty="0"/>
              <a:t>）实现；</a:t>
            </a:r>
            <a:r>
              <a:rPr lang="en-US" altLang="zh-CN" dirty="0"/>
              <a:t>Web</a:t>
            </a:r>
            <a:r>
              <a:rPr lang="zh-CN" altLang="en-US" dirty="0"/>
              <a:t>服务器端即逻辑层，一般采用</a:t>
            </a:r>
            <a:r>
              <a:rPr lang="en-US" altLang="zh-CN" dirty="0"/>
              <a:t>JSP</a:t>
            </a:r>
            <a:r>
              <a:rPr lang="zh-CN" altLang="en-US" dirty="0"/>
              <a:t>，</a:t>
            </a:r>
            <a:r>
              <a:rPr lang="en-US" altLang="zh-CN" dirty="0"/>
              <a:t>PHP</a:t>
            </a:r>
            <a:r>
              <a:rPr lang="zh-CN" altLang="en-US" dirty="0"/>
              <a:t>，</a:t>
            </a:r>
            <a:r>
              <a:rPr lang="en-US" altLang="zh-CN" dirty="0"/>
              <a:t>Java Servlet</a:t>
            </a:r>
            <a:r>
              <a:rPr lang="zh-CN" altLang="en-US" dirty="0"/>
              <a:t>或</a:t>
            </a:r>
            <a:r>
              <a:rPr lang="en-US" altLang="zh-CN" dirty="0"/>
              <a:t>ASP.NET</a:t>
            </a:r>
            <a:r>
              <a:rPr lang="zh-CN" altLang="en-US" dirty="0"/>
              <a:t>等实现；应用服务器采用的技术包括</a:t>
            </a:r>
            <a:r>
              <a:rPr lang="en-US" altLang="zh-CN" dirty="0"/>
              <a:t>Spring Framework</a:t>
            </a:r>
            <a:r>
              <a:rPr lang="zh-CN" altLang="en-US" dirty="0"/>
              <a:t>，</a:t>
            </a:r>
            <a:r>
              <a:rPr lang="en-US" altLang="zh-CN" dirty="0"/>
              <a:t>EJB</a:t>
            </a:r>
            <a:r>
              <a:rPr lang="zh-CN" altLang="en-US" dirty="0"/>
              <a:t>，</a:t>
            </a:r>
            <a:r>
              <a:rPr lang="en-US" altLang="zh-CN" dirty="0"/>
              <a:t>.NET</a:t>
            </a:r>
            <a:r>
              <a:rPr lang="zh-CN" altLang="en-US" dirty="0"/>
              <a:t>等；数据库服务器即数据存储层，一般采用</a:t>
            </a:r>
            <a:r>
              <a:rPr lang="en-US" altLang="zh-CN" dirty="0"/>
              <a:t>SQL Server</a:t>
            </a:r>
            <a:r>
              <a:rPr lang="zh-CN" altLang="en-US" dirty="0"/>
              <a:t>，</a:t>
            </a:r>
            <a:r>
              <a:rPr lang="en-US" altLang="zh-CN" dirty="0"/>
              <a:t>Oracle</a:t>
            </a:r>
            <a:r>
              <a:rPr lang="zh-CN" altLang="en-US" dirty="0"/>
              <a:t>等技术。</a:t>
            </a:r>
            <a:endParaRPr lang="en-US" altLang="zh-CN" dirty="0"/>
          </a:p>
        </p:txBody>
      </p:sp>
      <p:pic>
        <p:nvPicPr>
          <p:cNvPr id="3" name="图片 2" descr="A000220150318R99PPIC"/>
          <p:cNvPicPr>
            <a:picLocks noChangeAspect="1"/>
          </p:cNvPicPr>
          <p:nvPr/>
        </p:nvPicPr>
        <p:blipFill>
          <a:blip r:embed="rId4" cstate="print"/>
          <a:stretch>
            <a:fillRect/>
          </a:stretch>
        </p:blipFill>
        <p:spPr>
          <a:xfrm>
            <a:off x="7693660" y="2078355"/>
            <a:ext cx="4238625" cy="3408045"/>
          </a:xfrm>
          <a:prstGeom prst="rect">
            <a:avLst/>
          </a:prstGeom>
        </p:spPr>
      </p:pic>
    </p:spTree>
    <p:custDataLst>
      <p:tags r:id="rId1"/>
    </p:custDataLst>
  </p:cSld>
  <p:clrMapOvr>
    <a:masterClrMapping/>
  </p:clrMapOvr>
  <p:transition>
    <p:circl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8.2.4 B</a:t>
            </a:r>
            <a:r>
              <a:rPr lang="en-US" altLang="zh-CN" sz="2400" dirty="0">
                <a:solidFill>
                  <a:schemeClr val="tx1"/>
                </a:solidFill>
              </a:rPr>
              <a:t>/S</a:t>
            </a:r>
            <a:r>
              <a:rPr lang="zh-CN" altLang="en-US" sz="2400" dirty="0">
                <a:solidFill>
                  <a:schemeClr val="tx1"/>
                </a:solidFill>
              </a:rPr>
              <a:t>结构</a:t>
            </a:r>
          </a:p>
        </p:txBody>
      </p:sp>
      <p:sp>
        <p:nvSpPr>
          <p:cNvPr id="5" name="MH_Text_1"/>
          <p:cNvSpPr/>
          <p:nvPr>
            <p:custDataLst>
              <p:tags r:id="rId2"/>
            </p:custDataLst>
          </p:nvPr>
        </p:nvSpPr>
        <p:spPr>
          <a:xfrm>
            <a:off x="357172" y="2708385"/>
            <a:ext cx="4692499" cy="2736162"/>
          </a:xfrm>
          <a:prstGeom prst="rect">
            <a:avLst/>
          </a:prstGeom>
          <a:ln>
            <a:noFill/>
          </a:ln>
        </p:spPr>
        <p:style>
          <a:lnRef idx="1">
            <a:schemeClr val="accent5"/>
          </a:lnRef>
          <a:fillRef idx="2">
            <a:schemeClr val="accent5"/>
          </a:fillRef>
          <a:effectRef idx="1">
            <a:schemeClr val="accent5"/>
          </a:effectRef>
          <a:fontRef idx="minor">
            <a:schemeClr val="dk1"/>
          </a:fontRef>
        </p:style>
        <p:txBody>
          <a:bodyPr lIns="360000" tIns="144000" rIns="360000" bIns="144000" anchor="ctr">
            <a:spAutoFit/>
          </a:bodyPr>
          <a:lstStyle/>
          <a:p>
            <a:pPr indent="457200" algn="just">
              <a:lnSpc>
                <a:spcPct val="150000"/>
              </a:lnSpc>
            </a:pPr>
            <a:r>
              <a:rPr lang="zh-CN" altLang="en-US" dirty="0"/>
              <a:t>随着因特网的兴起，人们提出了浏览器</a:t>
            </a:r>
            <a:r>
              <a:rPr lang="en-US" altLang="zh-CN" dirty="0"/>
              <a:t>/</a:t>
            </a:r>
            <a:r>
              <a:rPr lang="zh-CN" altLang="en-US" dirty="0"/>
              <a:t>服务器（</a:t>
            </a:r>
            <a:r>
              <a:rPr lang="en-US" altLang="zh-CN" dirty="0"/>
              <a:t>Browser/Server</a:t>
            </a:r>
            <a:r>
              <a:rPr lang="zh-CN" altLang="en-US" dirty="0"/>
              <a:t>，</a:t>
            </a:r>
            <a:r>
              <a:rPr lang="en-US" altLang="zh-CN" dirty="0"/>
              <a:t>B/S</a:t>
            </a:r>
            <a:r>
              <a:rPr lang="zh-CN" altLang="en-US" dirty="0"/>
              <a:t>）结构。从本质上说，</a:t>
            </a:r>
            <a:r>
              <a:rPr lang="en-US" altLang="zh-CN" dirty="0"/>
              <a:t>B/S</a:t>
            </a:r>
            <a:r>
              <a:rPr lang="zh-CN" altLang="en-US" dirty="0"/>
              <a:t>结构也是一种</a:t>
            </a:r>
            <a:r>
              <a:rPr lang="en-US" altLang="zh-CN" dirty="0"/>
              <a:t>Client/Server</a:t>
            </a:r>
            <a:r>
              <a:rPr lang="zh-CN" altLang="en-US" dirty="0"/>
              <a:t>结构。它可看做是</a:t>
            </a:r>
            <a:r>
              <a:rPr lang="en-US" altLang="zh-CN" dirty="0"/>
              <a:t>C/S</a:t>
            </a:r>
            <a:r>
              <a:rPr lang="zh-CN" altLang="en-US" dirty="0"/>
              <a:t>结构在</a:t>
            </a:r>
            <a:r>
              <a:rPr lang="en-US" altLang="zh-CN" dirty="0"/>
              <a:t>Web</a:t>
            </a:r>
            <a:r>
              <a:rPr lang="zh-CN" altLang="en-US" dirty="0"/>
              <a:t>上应用的特例，如图</a:t>
            </a:r>
            <a:r>
              <a:rPr lang="en-US" altLang="zh-CN" dirty="0"/>
              <a:t>8-6</a:t>
            </a:r>
            <a:r>
              <a:rPr lang="zh-CN" altLang="en-US" dirty="0"/>
              <a:t>所示为</a:t>
            </a:r>
            <a:r>
              <a:rPr lang="en-US" altLang="zh-CN" dirty="0"/>
              <a:t>B/S</a:t>
            </a:r>
            <a:r>
              <a:rPr lang="zh-CN" altLang="en-US" dirty="0"/>
              <a:t>结构。</a:t>
            </a:r>
          </a:p>
        </p:txBody>
      </p:sp>
      <p:pic>
        <p:nvPicPr>
          <p:cNvPr id="3" name="图片 238" descr="8-6"/>
          <p:cNvPicPr>
            <a:picLocks noChangeAspect="1"/>
          </p:cNvPicPr>
          <p:nvPr/>
        </p:nvPicPr>
        <p:blipFill>
          <a:blip r:embed="rId5" cstate="print">
            <a:clrChange>
              <a:clrFrom>
                <a:srgbClr val="FFFFFF"/>
              </a:clrFrom>
              <a:clrTo>
                <a:srgbClr val="FFFFFF">
                  <a:alpha val="0"/>
                </a:srgbClr>
              </a:clrTo>
            </a:clrChange>
          </a:blip>
          <a:stretch>
            <a:fillRect/>
          </a:stretch>
        </p:blipFill>
        <p:spPr>
          <a:xfrm>
            <a:off x="5593602" y="2259719"/>
            <a:ext cx="5997575" cy="3302635"/>
          </a:xfrm>
          <a:prstGeom prst="rect">
            <a:avLst/>
          </a:prstGeom>
          <a:noFill/>
          <a:ln w="9525">
            <a:noFill/>
          </a:ln>
        </p:spPr>
      </p:pic>
    </p:spTree>
    <p:custDataLst>
      <p:tags r:id="rId1"/>
    </p:custDataLst>
  </p:cSld>
  <p:clrMapOvr>
    <a:masterClrMapping/>
  </p:clrMapOvr>
  <p:transition>
    <p:circl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8.2.4 B</a:t>
            </a:r>
            <a:r>
              <a:rPr lang="en-US" altLang="zh-CN" sz="2400" dirty="0">
                <a:solidFill>
                  <a:schemeClr val="tx1"/>
                </a:solidFill>
              </a:rPr>
              <a:t>/S</a:t>
            </a:r>
            <a:r>
              <a:rPr lang="zh-CN" altLang="en-US" sz="2400" dirty="0">
                <a:solidFill>
                  <a:schemeClr val="tx1"/>
                </a:solidFill>
              </a:rPr>
              <a:t>结构</a:t>
            </a:r>
          </a:p>
        </p:txBody>
      </p:sp>
      <p:sp>
        <p:nvSpPr>
          <p:cNvPr id="6" name="MH_Other_1"/>
          <p:cNvSpPr>
            <a:spLocks noChangeArrowheads="1"/>
          </p:cNvSpPr>
          <p:nvPr>
            <p:custDataLst>
              <p:tags r:id="rId2"/>
            </p:custDataLst>
          </p:nvPr>
        </p:nvSpPr>
        <p:spPr bwMode="auto">
          <a:xfrm>
            <a:off x="550545" y="2246585"/>
            <a:ext cx="710565" cy="494665"/>
          </a:xfrm>
          <a:prstGeom prst="rect">
            <a:avLst/>
          </a:prstGeom>
          <a:solidFill>
            <a:srgbClr val="25B4E9"/>
          </a:solidFill>
          <a:ln w="9525">
            <a:noFill/>
            <a:miter lim="800000"/>
          </a:ln>
        </p:spPr>
        <p:txBody>
          <a:bodyPr anchor="ctr"/>
          <a:lstStyle/>
          <a:p>
            <a:pPr algn="ctr" eaLnBrk="1" hangingPunct="1"/>
            <a:endParaRPr lang="zh-CN" altLang="en-US" sz="2400" b="1" dirty="0">
              <a:solidFill>
                <a:srgbClr val="FFFFFF"/>
              </a:solidFill>
              <a:ea typeface="微软雅黑" panose="020B0503020204020204" charset="-122"/>
            </a:endParaRPr>
          </a:p>
        </p:txBody>
      </p:sp>
      <p:sp>
        <p:nvSpPr>
          <p:cNvPr id="7" name="MH_Other_2"/>
          <p:cNvSpPr>
            <a:spLocks noChangeArrowheads="1"/>
          </p:cNvSpPr>
          <p:nvPr>
            <p:custDataLst>
              <p:tags r:id="rId3"/>
            </p:custDataLst>
          </p:nvPr>
        </p:nvSpPr>
        <p:spPr bwMode="auto">
          <a:xfrm>
            <a:off x="1301115" y="2349455"/>
            <a:ext cx="563245" cy="391795"/>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3"/>
          <p:cNvSpPr>
            <a:spLocks noChangeArrowheads="1"/>
          </p:cNvSpPr>
          <p:nvPr>
            <p:custDataLst>
              <p:tags r:id="rId4"/>
            </p:custDataLst>
          </p:nvPr>
        </p:nvSpPr>
        <p:spPr bwMode="auto">
          <a:xfrm>
            <a:off x="711200" y="2769190"/>
            <a:ext cx="549910" cy="38290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Other_4"/>
          <p:cNvSpPr>
            <a:spLocks noChangeArrowheads="1"/>
          </p:cNvSpPr>
          <p:nvPr>
            <p:custDataLst>
              <p:tags r:id="rId5"/>
            </p:custDataLst>
          </p:nvPr>
        </p:nvSpPr>
        <p:spPr bwMode="auto">
          <a:xfrm>
            <a:off x="1301115" y="2769190"/>
            <a:ext cx="710565" cy="326390"/>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SubTitle_1"/>
          <p:cNvSpPr/>
          <p:nvPr>
            <p:custDataLst>
              <p:tags r:id="rId6"/>
            </p:custDataLst>
          </p:nvPr>
        </p:nvSpPr>
        <p:spPr>
          <a:xfrm>
            <a:off x="2309495" y="2027218"/>
            <a:ext cx="7058440" cy="1271557"/>
          </a:xfrm>
          <a:prstGeom prst="rect">
            <a:avLst/>
          </a:prstGeom>
        </p:spPr>
        <p:txBody>
          <a:bodyPr wrap="square" lIns="72000" tIns="36000" rIns="72000" bIns="36000" anchor="t" anchorCtr="0">
            <a:spAutoFit/>
          </a:bodyPr>
          <a:lstStyle/>
          <a:p>
            <a:pPr algn="just">
              <a:lnSpc>
                <a:spcPct val="150000"/>
              </a:lnSpc>
              <a:defRPr/>
            </a:pPr>
            <a:r>
              <a:rPr lang="en-US" altLang="zh-CN" dirty="0">
                <a:sym typeface="+mn-ea"/>
              </a:rPr>
              <a:t>B/S</a:t>
            </a:r>
            <a:r>
              <a:rPr lang="zh-CN" altLang="en-US" dirty="0">
                <a:sym typeface="+mn-ea"/>
              </a:rPr>
              <a:t>结构主要是利用了不断成熟的</a:t>
            </a:r>
            <a:r>
              <a:rPr lang="en-US" altLang="zh-CN" dirty="0">
                <a:sym typeface="+mn-ea"/>
              </a:rPr>
              <a:t>Web</a:t>
            </a:r>
            <a:r>
              <a:rPr lang="zh-CN" altLang="en-US" dirty="0">
                <a:sym typeface="+mn-ea"/>
              </a:rPr>
              <a:t>浏览器技术：结合浏览器的多种脚本语言和</a:t>
            </a:r>
            <a:r>
              <a:rPr lang="en-US" altLang="zh-CN" dirty="0">
                <a:sym typeface="+mn-ea"/>
              </a:rPr>
              <a:t>ActiveX</a:t>
            </a:r>
            <a:r>
              <a:rPr lang="zh-CN" altLang="en-US" dirty="0">
                <a:sym typeface="+mn-ea"/>
              </a:rPr>
              <a:t>（</a:t>
            </a:r>
            <a:r>
              <a:rPr lang="en-US" altLang="zh-CN" dirty="0">
                <a:sym typeface="+mn-ea"/>
              </a:rPr>
              <a:t>IE</a:t>
            </a:r>
            <a:r>
              <a:rPr lang="zh-CN" altLang="en-US" dirty="0">
                <a:sym typeface="+mn-ea"/>
              </a:rPr>
              <a:t>浏览器的插件）技术，用通用浏览器实现原来需要复杂专用软件才能实现的强大功能，同时节约了开发成本。</a:t>
            </a:r>
          </a:p>
        </p:txBody>
      </p:sp>
      <p:sp>
        <p:nvSpPr>
          <p:cNvPr id="13" name="MH_Other_7"/>
          <p:cNvSpPr>
            <a:spLocks noChangeArrowheads="1"/>
          </p:cNvSpPr>
          <p:nvPr>
            <p:custDataLst>
              <p:tags r:id="rId7"/>
            </p:custDataLst>
          </p:nvPr>
        </p:nvSpPr>
        <p:spPr bwMode="auto">
          <a:xfrm>
            <a:off x="3634105" y="5177155"/>
            <a:ext cx="549910" cy="416560"/>
          </a:xfrm>
          <a:prstGeom prst="rect">
            <a:avLst/>
          </a:prstGeom>
          <a:solidFill>
            <a:srgbClr val="8DCF9E"/>
          </a:solidFill>
          <a:ln w="9525">
            <a:noFill/>
            <a:miter lim="800000"/>
          </a:ln>
        </p:spPr>
        <p:txBody>
          <a:bodyPr anchor="ctr">
            <a:spAutoFit/>
          </a:bodyP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8"/>
            </p:custDataLst>
          </p:nvPr>
        </p:nvSpPr>
        <p:spPr bwMode="auto">
          <a:xfrm>
            <a:off x="4224020" y="5148580"/>
            <a:ext cx="710565" cy="416560"/>
          </a:xfrm>
          <a:prstGeom prst="rect">
            <a:avLst/>
          </a:prstGeom>
          <a:solidFill>
            <a:srgbClr val="E1F3E5"/>
          </a:solidFill>
          <a:ln w="9525">
            <a:noFill/>
            <a:miter lim="800000"/>
          </a:ln>
        </p:spPr>
        <p:txBody>
          <a:bodyPr anchor="ctr">
            <a:spAutoFit/>
          </a:bodyP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SubTitle_3"/>
          <p:cNvSpPr/>
          <p:nvPr>
            <p:custDataLst>
              <p:tags r:id="rId9"/>
            </p:custDataLst>
          </p:nvPr>
        </p:nvSpPr>
        <p:spPr>
          <a:xfrm>
            <a:off x="5337810" y="4477305"/>
            <a:ext cx="6168942" cy="1687056"/>
          </a:xfrm>
          <a:prstGeom prst="rect">
            <a:avLst/>
          </a:prstGeom>
        </p:spPr>
        <p:txBody>
          <a:bodyPr wrap="square" lIns="72000" tIns="36000" rIns="72000" bIns="36000" anchor="t" anchorCtr="0">
            <a:spAutoFit/>
          </a:bodyPr>
          <a:lstStyle/>
          <a:p>
            <a:pPr algn="just">
              <a:lnSpc>
                <a:spcPct val="150000"/>
              </a:lnSpc>
              <a:defRPr/>
            </a:pPr>
            <a:r>
              <a:rPr lang="en-US" altLang="zh-CN" dirty="0">
                <a:sym typeface="+mn-ea"/>
              </a:rPr>
              <a:t>B/S</a:t>
            </a:r>
            <a:r>
              <a:rPr lang="zh-CN" altLang="en-US" dirty="0">
                <a:sym typeface="+mn-ea"/>
              </a:rPr>
              <a:t>结构的使用越来越多，特别是由需求推动了</a:t>
            </a:r>
            <a:r>
              <a:rPr lang="en-US" altLang="zh-CN" dirty="0">
                <a:sym typeface="+mn-ea"/>
              </a:rPr>
              <a:t>AJAX</a:t>
            </a:r>
            <a:r>
              <a:rPr lang="zh-CN" altLang="en-US" dirty="0">
                <a:sym typeface="+mn-ea"/>
              </a:rPr>
              <a:t>技术的发展。</a:t>
            </a:r>
            <a:r>
              <a:rPr lang="en-US" altLang="zh-CN" dirty="0">
                <a:sym typeface="+mn-ea"/>
              </a:rPr>
              <a:t>AJAX</a:t>
            </a:r>
            <a:r>
              <a:rPr lang="zh-CN" altLang="en-US" dirty="0">
                <a:sym typeface="+mn-ea"/>
              </a:rPr>
              <a:t>是一种创建交互式网页应用的网页开发技术。能在客户端电脑上进行部分处理，从而大大地减轻服务器的负担，并增加了交互性，能进行局部实时刷新。</a:t>
            </a:r>
          </a:p>
        </p:txBody>
      </p:sp>
      <p:sp>
        <p:nvSpPr>
          <p:cNvPr id="11" name="MH_Other_5"/>
          <p:cNvSpPr>
            <a:spLocks noChangeArrowheads="1"/>
          </p:cNvSpPr>
          <p:nvPr>
            <p:custDataLst>
              <p:tags r:id="rId10"/>
            </p:custDataLst>
          </p:nvPr>
        </p:nvSpPr>
        <p:spPr bwMode="auto">
          <a:xfrm>
            <a:off x="3473450" y="4686935"/>
            <a:ext cx="710565" cy="461645"/>
          </a:xfrm>
          <a:prstGeom prst="rect">
            <a:avLst/>
          </a:prstGeom>
          <a:solidFill>
            <a:srgbClr val="4FB469"/>
          </a:solidFill>
          <a:ln w="9525">
            <a:noFill/>
            <a:miter lim="800000"/>
          </a:ln>
        </p:spPr>
        <p:txBody>
          <a:bodyPr anchor="ctr">
            <a:spAutoFit/>
          </a:bodyPr>
          <a:lstStyle/>
          <a:p>
            <a:pPr algn="ctr" eaLnBrk="1" hangingPunct="1"/>
            <a:endParaRPr lang="zh-CN" altLang="en-US" sz="2400" b="1" dirty="0">
              <a:solidFill>
                <a:srgbClr val="FFFFFF"/>
              </a:solidFill>
              <a:ea typeface="微软雅黑" panose="020B0503020204020204" charset="-122"/>
            </a:endParaRPr>
          </a:p>
        </p:txBody>
      </p:sp>
      <p:sp>
        <p:nvSpPr>
          <p:cNvPr id="12" name="MH_Other_6"/>
          <p:cNvSpPr>
            <a:spLocks noChangeArrowheads="1"/>
          </p:cNvSpPr>
          <p:nvPr>
            <p:custDataLst>
              <p:tags r:id="rId11"/>
            </p:custDataLst>
          </p:nvPr>
        </p:nvSpPr>
        <p:spPr bwMode="auto">
          <a:xfrm>
            <a:off x="4224020" y="4761230"/>
            <a:ext cx="563245" cy="416560"/>
          </a:xfrm>
          <a:prstGeom prst="rect">
            <a:avLst/>
          </a:prstGeom>
          <a:solidFill>
            <a:srgbClr val="B6E0C1"/>
          </a:solidFill>
          <a:ln w="9525">
            <a:noFill/>
            <a:miter lim="800000"/>
          </a:ln>
        </p:spPr>
        <p:txBody>
          <a:bodyPr anchor="ctr">
            <a:spAutoFit/>
          </a:bodyPr>
          <a:lstStyle/>
          <a:p>
            <a:pPr algn="just" eaLnBrk="1" hangingPunct="1">
              <a:lnSpc>
                <a:spcPct val="130000"/>
              </a:lnSpc>
            </a:pPr>
            <a:endParaRPr lang="zh-CN" altLang="en-US">
              <a:solidFill>
                <a:srgbClr val="FFFFFF"/>
              </a:solidFill>
              <a:ea typeface="微软雅黑" panose="020B0503020204020204" charset="-122"/>
            </a:endParaRPr>
          </a:p>
        </p:txBody>
      </p:sp>
      <p:sp>
        <p:nvSpPr>
          <p:cNvPr id="16" name="MH_Other_9"/>
          <p:cNvSpPr>
            <a:spLocks noChangeArrowheads="1"/>
          </p:cNvSpPr>
          <p:nvPr>
            <p:custDataLst>
              <p:tags r:id="rId12"/>
            </p:custDataLst>
          </p:nvPr>
        </p:nvSpPr>
        <p:spPr bwMode="auto">
          <a:xfrm>
            <a:off x="2011680" y="3545795"/>
            <a:ext cx="710565" cy="494665"/>
          </a:xfrm>
          <a:prstGeom prst="rect">
            <a:avLst/>
          </a:prstGeom>
          <a:solidFill>
            <a:schemeClr val="accent5">
              <a:lumMod val="75000"/>
            </a:schemeClr>
          </a:solidFill>
          <a:ln w="9525">
            <a:noFill/>
            <a:miter lim="800000"/>
          </a:ln>
        </p:spPr>
        <p:txBody>
          <a:bodyPr anchor="ctr"/>
          <a:lstStyle/>
          <a:p>
            <a:pPr algn="ctr" eaLnBrk="1" hangingPunct="1"/>
            <a:endParaRPr lang="zh-CN" altLang="en-US" sz="2400" b="1" dirty="0">
              <a:solidFill>
                <a:srgbClr val="FFFFFF"/>
              </a:solidFill>
              <a:ea typeface="微软雅黑" panose="020B0503020204020204" charset="-122"/>
            </a:endParaRPr>
          </a:p>
        </p:txBody>
      </p:sp>
      <p:sp>
        <p:nvSpPr>
          <p:cNvPr id="17" name="MH_Other_10"/>
          <p:cNvSpPr>
            <a:spLocks noChangeArrowheads="1"/>
          </p:cNvSpPr>
          <p:nvPr>
            <p:custDataLst>
              <p:tags r:id="rId13"/>
            </p:custDataLst>
          </p:nvPr>
        </p:nvSpPr>
        <p:spPr bwMode="auto">
          <a:xfrm>
            <a:off x="2762885" y="3648665"/>
            <a:ext cx="563245" cy="39179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14"/>
            </p:custDataLst>
          </p:nvPr>
        </p:nvSpPr>
        <p:spPr bwMode="auto">
          <a:xfrm>
            <a:off x="2172970" y="4068400"/>
            <a:ext cx="549910" cy="38290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15"/>
            </p:custDataLst>
          </p:nvPr>
        </p:nvSpPr>
        <p:spPr bwMode="auto">
          <a:xfrm>
            <a:off x="2762885" y="4068400"/>
            <a:ext cx="710565" cy="326390"/>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2"/>
          <p:cNvSpPr/>
          <p:nvPr>
            <p:custDataLst>
              <p:tags r:id="rId16"/>
            </p:custDataLst>
          </p:nvPr>
        </p:nvSpPr>
        <p:spPr>
          <a:xfrm>
            <a:off x="3735071" y="3299122"/>
            <a:ext cx="6724546" cy="1271557"/>
          </a:xfrm>
          <a:prstGeom prst="rect">
            <a:avLst/>
          </a:prstGeom>
        </p:spPr>
        <p:txBody>
          <a:bodyPr wrap="square" lIns="72000" tIns="36000" rIns="72000" bIns="36000" anchor="t" anchorCtr="0">
            <a:spAutoFit/>
          </a:bodyPr>
          <a:lstStyle/>
          <a:p>
            <a:pPr lvl="0" algn="just">
              <a:lnSpc>
                <a:spcPct val="150000"/>
              </a:lnSpc>
            </a:pPr>
            <a:r>
              <a:rPr lang="en-US" altLang="zh-CN" dirty="0">
                <a:sym typeface="+mn-ea"/>
              </a:rPr>
              <a:t>B/S</a:t>
            </a:r>
            <a:r>
              <a:rPr lang="zh-CN" altLang="en-US" dirty="0">
                <a:sym typeface="+mn-ea"/>
              </a:rPr>
              <a:t>最大的优点就是可以在任何地方进行操作而不用安装任何专门的软件，只要有一台能上网的电脑就能使用，客户端零安装、零维护，系统的扩展非常容易。</a:t>
            </a:r>
          </a:p>
        </p:txBody>
      </p:sp>
    </p:spTree>
    <p:custDataLst>
      <p:tags r:id="rId1"/>
    </p:custDataLst>
  </p:cSld>
  <p:clrMapOvr>
    <a:masterClrMapping/>
  </p:clrMapOvr>
  <p:transition>
    <p:circl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8.2.4 B/S</a:t>
            </a:r>
            <a:r>
              <a:rPr lang="zh-CN" altLang="en-US" sz="2400" dirty="0">
                <a:solidFill>
                  <a:schemeClr val="tx1"/>
                </a:solidFill>
              </a:rPr>
              <a:t>结构</a:t>
            </a:r>
            <a:endParaRPr lang="en-US" sz="2400" dirty="0">
              <a:solidFill>
                <a:schemeClr val="tx1"/>
              </a:solidFill>
            </a:endParaRPr>
          </a:p>
        </p:txBody>
      </p:sp>
      <p:cxnSp>
        <p:nvCxnSpPr>
          <p:cNvPr id="4" name="MH_Other_1"/>
          <p:cNvCxnSpPr/>
          <p:nvPr/>
        </p:nvCxnSpPr>
        <p:spPr>
          <a:xfrm flipH="1">
            <a:off x="1245870" y="2773777"/>
            <a:ext cx="981075" cy="920750"/>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736600" y="3311622"/>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1627505" y="2638522"/>
            <a:ext cx="9575800" cy="312547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pPr>
            <a:r>
              <a:rPr lang="zh-CN" altLang="en-US" sz="2000" b="1" dirty="0">
                <a:solidFill>
                  <a:schemeClr val="accent2">
                    <a:lumMod val="60000"/>
                    <a:lumOff val="40000"/>
                  </a:schemeClr>
                </a:solidFill>
              </a:rPr>
              <a:t>维护和升级方式简单</a:t>
            </a:r>
          </a:p>
          <a:p>
            <a:pPr indent="457200" algn="just" fontAlgn="auto">
              <a:lnSpc>
                <a:spcPct val="130000"/>
              </a:lnSpc>
            </a:pPr>
            <a:r>
              <a:rPr lang="zh-CN" altLang="en-US" dirty="0"/>
              <a:t>软件系统的改进和升级越发频繁，B/S架构的产品明显体现出系统改进和升级更为方便的特性。对企业来说需要提高效率和减少管理人员的工作量，而B/S架构的所有的客户端只是浏览器，不需任何的维护。无论用户的规模有多大，有多少分支机构，都不会增加任何维护升级的工作量，所有的操作只需要针对服务器进行；如果是异地应用，只需要把服务器连接专网即可实现远程维护、升级和共享。所以客户机越来越“瘦”，而服务器越来越“胖”是将来信息化发展的主流方向，可节约人力、物力、时间和费用。</a:t>
            </a:r>
          </a:p>
        </p:txBody>
      </p:sp>
      <p:sp>
        <p:nvSpPr>
          <p:cNvPr id="7" name="MH_Other_3"/>
          <p:cNvSpPr txBox="1">
            <a:spLocks noChangeArrowheads="1"/>
          </p:cNvSpPr>
          <p:nvPr/>
        </p:nvSpPr>
        <p:spPr bwMode="auto">
          <a:xfrm>
            <a:off x="712470" y="2573752"/>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2">
                    <a:lumMod val="60000"/>
                    <a:lumOff val="40000"/>
                  </a:schemeClr>
                </a:solidFill>
                <a:latin typeface="Times New Roman" panose="02020603050405020304" pitchFamily="18" charset="0"/>
                <a:ea typeface="微软雅黑" panose="020B0503020204020204" charset="-122"/>
              </a:rPr>
              <a:t>1</a:t>
            </a:r>
          </a:p>
        </p:txBody>
      </p:sp>
      <p:sp>
        <p:nvSpPr>
          <p:cNvPr id="14" name="矩形 7"/>
          <p:cNvSpPr>
            <a:spLocks noChangeArrowheads="1"/>
          </p:cNvSpPr>
          <p:nvPr/>
        </p:nvSpPr>
        <p:spPr bwMode="auto">
          <a:xfrm>
            <a:off x="906574" y="2100610"/>
            <a:ext cx="268890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2000" b="1" dirty="0">
                <a:latin typeface="微软雅黑" panose="020B0503020204020204" charset="-122"/>
                <a:ea typeface="微软雅黑" panose="020B0503020204020204" charset="-122"/>
              </a:rPr>
              <a:t>1</a:t>
            </a:r>
            <a:r>
              <a:rPr lang="zh-CN" altLang="en-US" sz="2000" b="1" dirty="0">
                <a:latin typeface="微软雅黑" panose="020B0503020204020204" charset="-122"/>
                <a:ea typeface="微软雅黑" panose="020B0503020204020204" charset="-122"/>
              </a:rPr>
              <a:t>．</a:t>
            </a:r>
            <a:r>
              <a:rPr lang="en-US" altLang="zh-CN" sz="2000" b="1" dirty="0">
                <a:latin typeface="微软雅黑" panose="020B0503020204020204" charset="-122"/>
                <a:ea typeface="微软雅黑" panose="020B0503020204020204" charset="-122"/>
              </a:rPr>
              <a:t>B/S</a:t>
            </a:r>
            <a:r>
              <a:rPr lang="zh-CN" altLang="en-US" sz="2000" b="1" dirty="0">
                <a:latin typeface="微软雅黑" panose="020B0503020204020204" charset="-122"/>
                <a:ea typeface="微软雅黑" panose="020B0503020204020204" charset="-122"/>
              </a:rPr>
              <a:t>的特点</a:t>
            </a:r>
          </a:p>
        </p:txBody>
      </p:sp>
    </p:spTree>
    <p:custDataLst>
      <p:tags r:id="rId1"/>
    </p:custDataLst>
  </p:cSld>
  <p:clrMapOvr>
    <a:masterClrMapping/>
  </p:clrMapOvr>
  <p:transition>
    <p:circl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8.2.4 B/S</a:t>
            </a:r>
            <a:r>
              <a:rPr lang="zh-CN" altLang="en-US" sz="2400" dirty="0">
                <a:solidFill>
                  <a:schemeClr val="tx1"/>
                </a:solidFill>
              </a:rPr>
              <a:t>结构</a:t>
            </a:r>
            <a:endParaRPr lang="en-US" sz="2400" dirty="0">
              <a:solidFill>
                <a:schemeClr val="tx1"/>
              </a:solidFill>
            </a:endParaRPr>
          </a:p>
        </p:txBody>
      </p:sp>
      <p:cxnSp>
        <p:nvCxnSpPr>
          <p:cNvPr id="14" name="MH_Other_1"/>
          <p:cNvCxnSpPr/>
          <p:nvPr/>
        </p:nvCxnSpPr>
        <p:spPr>
          <a:xfrm flipH="1">
            <a:off x="1241094" y="3554075"/>
            <a:ext cx="981075" cy="9207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15" name="MH_Other_2"/>
          <p:cNvSpPr/>
          <p:nvPr/>
        </p:nvSpPr>
        <p:spPr>
          <a:xfrm>
            <a:off x="731824" y="4091920"/>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6" name="MH_SubTitle_1"/>
          <p:cNvSpPr txBox="1">
            <a:spLocks noChangeArrowheads="1"/>
          </p:cNvSpPr>
          <p:nvPr/>
        </p:nvSpPr>
        <p:spPr bwMode="auto">
          <a:xfrm>
            <a:off x="1580819" y="3690600"/>
            <a:ext cx="9756140" cy="2533015"/>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应用服务器运行数据负荷较重</a:t>
            </a:r>
          </a:p>
          <a:p>
            <a:pPr indent="457200" algn="just" fontAlgn="auto">
              <a:lnSpc>
                <a:spcPct val="130000"/>
              </a:lnSpc>
            </a:pPr>
            <a:r>
              <a:rPr lang="zh-CN" altLang="en-US" dirty="0"/>
              <a:t>由于B/S架构管理软件只安装在服务器端，网络管理人员只需要管理服务器就行了，用户界面主要的应用逻辑在服务器端，完全通过WWW浏览器实现，极少部分应用逻辑在前端实现，所有的客户端只有浏览器，网络管理人员只需要做硬件维护。但是，应用服务器运行数据负荷较重，一旦发生服务器“崩溃”等问题，后果不堪设想。因此，许多单位都备有数据库存储服务器，以防万一。</a:t>
            </a:r>
          </a:p>
        </p:txBody>
      </p:sp>
      <p:sp>
        <p:nvSpPr>
          <p:cNvPr id="17" name="MH_Other_3"/>
          <p:cNvSpPr txBox="1">
            <a:spLocks noChangeArrowheads="1"/>
          </p:cNvSpPr>
          <p:nvPr/>
        </p:nvSpPr>
        <p:spPr bwMode="auto">
          <a:xfrm>
            <a:off x="707694" y="3354050"/>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3</a:t>
            </a:r>
          </a:p>
        </p:txBody>
      </p:sp>
      <p:cxnSp>
        <p:nvCxnSpPr>
          <p:cNvPr id="10" name="MH_Other_4"/>
          <p:cNvCxnSpPr/>
          <p:nvPr/>
        </p:nvCxnSpPr>
        <p:spPr>
          <a:xfrm flipH="1">
            <a:off x="1241094" y="2297319"/>
            <a:ext cx="981075" cy="9207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11" name="MH_Other_5"/>
          <p:cNvSpPr/>
          <p:nvPr/>
        </p:nvSpPr>
        <p:spPr>
          <a:xfrm>
            <a:off x="731824" y="2837069"/>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2" name="MH_SubTitle_2"/>
          <p:cNvSpPr txBox="1">
            <a:spLocks noChangeArrowheads="1"/>
          </p:cNvSpPr>
          <p:nvPr/>
        </p:nvSpPr>
        <p:spPr bwMode="auto">
          <a:xfrm>
            <a:off x="1580819" y="2297319"/>
            <a:ext cx="9869805" cy="1350645"/>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92D050"/>
                </a:solidFill>
                <a:ea typeface="微软雅黑" panose="020B0503020204020204" charset="-122"/>
              </a:rPr>
              <a:t>成本降低，选择更多</a:t>
            </a:r>
          </a:p>
          <a:p>
            <a:pPr indent="457200" fontAlgn="auto">
              <a:lnSpc>
                <a:spcPct val="120000"/>
              </a:lnSpc>
            </a:pPr>
            <a:r>
              <a:rPr lang="zh-CN" altLang="en-US" dirty="0"/>
              <a:t>B/S体系结构提供了异种机、异种网、异种应用服务的联机、联网、统一服务的开放性基础。</a:t>
            </a:r>
          </a:p>
        </p:txBody>
      </p:sp>
      <p:sp>
        <p:nvSpPr>
          <p:cNvPr id="18" name="MH_Other_6"/>
          <p:cNvSpPr txBox="1">
            <a:spLocks noChangeArrowheads="1"/>
          </p:cNvSpPr>
          <p:nvPr/>
        </p:nvSpPr>
        <p:spPr bwMode="auto">
          <a:xfrm>
            <a:off x="707694" y="2099199"/>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58B933"/>
                </a:solidFill>
                <a:latin typeface="Times New Roman" panose="02020603050405020304" pitchFamily="18" charset="0"/>
                <a:ea typeface="微软雅黑" panose="020B0503020204020204" charset="-122"/>
              </a:rPr>
              <a:t>2</a:t>
            </a:r>
          </a:p>
        </p:txBody>
      </p:sp>
    </p:spTree>
    <p:custDataLst>
      <p:tags r:id="rId1"/>
    </p:custDataLst>
  </p:cSld>
  <p:clrMapOvr>
    <a:masterClrMapping/>
  </p:clrMapOvr>
  <p:transition>
    <p:circl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8.2.4 B/S</a:t>
            </a:r>
            <a:r>
              <a:rPr lang="zh-CN" altLang="en-US" sz="2400" dirty="0">
                <a:solidFill>
                  <a:schemeClr val="tx1"/>
                </a:solidFill>
              </a:rPr>
              <a:t>结构</a:t>
            </a:r>
          </a:p>
        </p:txBody>
      </p:sp>
      <p:sp>
        <p:nvSpPr>
          <p:cNvPr id="25" name="MH_SubTitle_2"/>
          <p:cNvSpPr/>
          <p:nvPr/>
        </p:nvSpPr>
        <p:spPr>
          <a:xfrm>
            <a:off x="1053815" y="2939095"/>
            <a:ext cx="4865370" cy="1025604"/>
          </a:xfrm>
          <a:prstGeom prst="rect">
            <a:avLst/>
          </a:prstGeom>
          <a:solidFill>
            <a:srgbClr val="FFF6D9"/>
          </a:solidFill>
          <a:ln w="25400" cap="flat" cmpd="sng" algn="ctr">
            <a:noFill/>
            <a:prstDash val="solid"/>
          </a:ln>
          <a:effectLst/>
        </p:spPr>
        <p:txBody>
          <a:bodyPr rIns="216000"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r>
              <a:rPr lang="zh-CN" altLang="en-US" dirty="0"/>
              <a:t>B/S体系结构的系统扩展能力差，安全性难以控制。</a:t>
            </a:r>
          </a:p>
        </p:txBody>
      </p:sp>
      <p:sp>
        <p:nvSpPr>
          <p:cNvPr id="26" name="MH_Other_1"/>
          <p:cNvSpPr/>
          <p:nvPr/>
        </p:nvSpPr>
        <p:spPr>
          <a:xfrm flipH="1">
            <a:off x="5719160" y="2939095"/>
            <a:ext cx="1319530" cy="1025604"/>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微软雅黑 Light" panose="020B0502040204020203" pitchFamily="34" charset="-122"/>
              </a:rPr>
              <a:t>02</a:t>
            </a:r>
            <a:endParaRPr lang="zh-CN" altLang="en-US" sz="3200" kern="0" dirty="0">
              <a:solidFill>
                <a:srgbClr val="FFFFFF"/>
              </a:solidFill>
              <a:latin typeface="Arial Black" panose="020B0A04020102020204" pitchFamily="34" charset="0"/>
              <a:ea typeface="微软雅黑 Light" panose="020B0502040204020203" pitchFamily="34" charset="-122"/>
            </a:endParaRPr>
          </a:p>
        </p:txBody>
      </p:sp>
      <p:sp>
        <p:nvSpPr>
          <p:cNvPr id="27" name="MH_SubTitle_1"/>
          <p:cNvSpPr/>
          <p:nvPr/>
        </p:nvSpPr>
        <p:spPr>
          <a:xfrm>
            <a:off x="5851240" y="1912221"/>
            <a:ext cx="5372735" cy="1026874"/>
          </a:xfrm>
          <a:prstGeom prst="rect">
            <a:avLst/>
          </a:prstGeom>
          <a:solidFill>
            <a:srgbClr val="EEF9DF"/>
          </a:solidFill>
          <a:ln w="25400" cap="flat" cmpd="sng" algn="ctr">
            <a:noFill/>
            <a:prstDash val="solid"/>
          </a:ln>
          <a:effectLst/>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defRPr/>
            </a:pPr>
            <a:r>
              <a:rPr lang="zh-CN" altLang="en-US" dirty="0"/>
              <a:t>B/S体系结构缺乏对动态页面的支持能力，没有集成有效的数据库处理能力。</a:t>
            </a:r>
          </a:p>
        </p:txBody>
      </p:sp>
      <p:sp>
        <p:nvSpPr>
          <p:cNvPr id="28" name="MH_Other_2"/>
          <p:cNvSpPr/>
          <p:nvPr/>
        </p:nvSpPr>
        <p:spPr>
          <a:xfrm>
            <a:off x="4771740" y="1912221"/>
            <a:ext cx="1318895" cy="1026874"/>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微软雅黑 Light" panose="020B0502040204020203" pitchFamily="34" charset="-122"/>
              </a:rPr>
              <a:t>01</a:t>
            </a:r>
            <a:endParaRPr lang="zh-CN" altLang="en-US" sz="3200" kern="0" dirty="0">
              <a:solidFill>
                <a:srgbClr val="FFFFFF"/>
              </a:solidFill>
              <a:latin typeface="Arial Black" panose="020B0A04020102020204" pitchFamily="34" charset="0"/>
              <a:ea typeface="微软雅黑 Light" panose="020B0502040204020203" pitchFamily="34" charset="-122"/>
            </a:endParaRPr>
          </a:p>
        </p:txBody>
      </p:sp>
      <p:sp>
        <p:nvSpPr>
          <p:cNvPr id="5126" name="MH_SubTitle_4"/>
          <p:cNvSpPr>
            <a:spLocks noChangeArrowheads="1"/>
          </p:cNvSpPr>
          <p:nvPr/>
        </p:nvSpPr>
        <p:spPr bwMode="auto">
          <a:xfrm>
            <a:off x="1054450" y="4993479"/>
            <a:ext cx="4865370" cy="1025604"/>
          </a:xfrm>
          <a:prstGeom prst="rect">
            <a:avLst/>
          </a:prstGeom>
          <a:solidFill>
            <a:srgbClr val="FFF6D9"/>
          </a:solidFill>
          <a:ln w="25400" algn="ctr">
            <a:noFill/>
            <a:miter lim="800000"/>
          </a:ln>
        </p:spPr>
        <p:txBody>
          <a:bodyPr r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r>
              <a:rPr lang="zh-CN" altLang="en-US" dirty="0"/>
              <a:t>B/S体系结构的数据提交一般以页面为单位，数据的动态交互性不强，不利于在线事务处理应用。</a:t>
            </a:r>
          </a:p>
        </p:txBody>
      </p:sp>
      <p:sp>
        <p:nvSpPr>
          <p:cNvPr id="36" name="MH_Other_3"/>
          <p:cNvSpPr/>
          <p:nvPr/>
        </p:nvSpPr>
        <p:spPr>
          <a:xfrm flipH="1">
            <a:off x="5719160" y="4993479"/>
            <a:ext cx="1319530" cy="1025604"/>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微软雅黑 Light" panose="020B0502040204020203" pitchFamily="34" charset="-122"/>
              </a:rPr>
              <a:t>04</a:t>
            </a:r>
            <a:endParaRPr lang="zh-CN" altLang="en-US" sz="3200" kern="0" dirty="0">
              <a:solidFill>
                <a:srgbClr val="FFFFFF"/>
              </a:solidFill>
              <a:latin typeface="Arial Black" panose="020B0A04020102020204" pitchFamily="34" charset="0"/>
              <a:ea typeface="微软雅黑 Light" panose="020B0502040204020203" pitchFamily="34" charset="-122"/>
            </a:endParaRPr>
          </a:p>
        </p:txBody>
      </p:sp>
      <p:sp>
        <p:nvSpPr>
          <p:cNvPr id="5128" name="MH_SubTitle_3"/>
          <p:cNvSpPr>
            <a:spLocks noChangeArrowheads="1"/>
          </p:cNvSpPr>
          <p:nvPr/>
        </p:nvSpPr>
        <p:spPr bwMode="auto">
          <a:xfrm>
            <a:off x="5851240" y="3967875"/>
            <a:ext cx="5372735" cy="1025604"/>
          </a:xfrm>
          <a:prstGeom prst="rect">
            <a:avLst/>
          </a:prstGeom>
          <a:solidFill>
            <a:srgbClr val="EEF9DF"/>
          </a:solidFill>
          <a:ln w="25400" algn="ctr">
            <a:noFill/>
            <a:miter lim="800000"/>
          </a:ln>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r>
              <a:rPr lang="zh-CN" altLang="en-US" dirty="0"/>
              <a:t>采用B/S体系结构的应用系统，在数据查询等响应速度上，要远远低于C/S体系结构。</a:t>
            </a:r>
          </a:p>
        </p:txBody>
      </p:sp>
      <p:sp>
        <p:nvSpPr>
          <p:cNvPr id="38" name="MH_Other_4"/>
          <p:cNvSpPr/>
          <p:nvPr/>
        </p:nvSpPr>
        <p:spPr>
          <a:xfrm>
            <a:off x="4771740" y="3967875"/>
            <a:ext cx="1318895" cy="1025604"/>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微软雅黑 Light" panose="020B0502040204020203" pitchFamily="34" charset="-122"/>
              </a:rPr>
              <a:t>03</a:t>
            </a:r>
            <a:endParaRPr lang="zh-CN" altLang="en-US" sz="3200" kern="0" dirty="0">
              <a:solidFill>
                <a:srgbClr val="FFFFFF"/>
              </a:solidFill>
              <a:latin typeface="Arial Black" panose="020B0A04020102020204" pitchFamily="34" charset="0"/>
              <a:ea typeface="微软雅黑 Light" panose="020B0502040204020203" pitchFamily="34" charset="-122"/>
            </a:endParaRPr>
          </a:p>
        </p:txBody>
      </p:sp>
      <p:sp>
        <p:nvSpPr>
          <p:cNvPr id="13" name="矩形 7"/>
          <p:cNvSpPr>
            <a:spLocks noChangeArrowheads="1"/>
          </p:cNvSpPr>
          <p:nvPr/>
        </p:nvSpPr>
        <p:spPr bwMode="auto">
          <a:xfrm>
            <a:off x="906574" y="2100610"/>
            <a:ext cx="268890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2000" b="1" dirty="0">
                <a:latin typeface="微软雅黑" panose="020B0503020204020204" charset="-122"/>
                <a:ea typeface="微软雅黑" panose="020B0503020204020204" charset="-122"/>
              </a:rPr>
              <a:t>2</a:t>
            </a:r>
            <a:r>
              <a:rPr lang="zh-CN" altLang="en-US" sz="2000" b="1" dirty="0">
                <a:latin typeface="微软雅黑" panose="020B0503020204020204" charset="-122"/>
                <a:ea typeface="微软雅黑" panose="020B0503020204020204" charset="-122"/>
              </a:rPr>
              <a:t>．</a:t>
            </a:r>
            <a:r>
              <a:rPr lang="en-US" altLang="zh-CN" sz="2000" b="1" dirty="0">
                <a:latin typeface="微软雅黑" panose="020B0503020204020204" charset="-122"/>
                <a:ea typeface="微软雅黑" panose="020B0503020204020204" charset="-122"/>
              </a:rPr>
              <a:t>B/S</a:t>
            </a:r>
            <a:r>
              <a:rPr lang="zh-CN" altLang="en-US" sz="2000" b="1" dirty="0">
                <a:latin typeface="微软雅黑" panose="020B0503020204020204" charset="-122"/>
                <a:ea typeface="微软雅黑" panose="020B0503020204020204" charset="-122"/>
              </a:rPr>
              <a:t>的缺点</a:t>
            </a:r>
          </a:p>
        </p:txBody>
      </p:sp>
    </p:spTree>
    <p:custDataLst>
      <p:tags r:id="rId1"/>
    </p:custDataLst>
  </p:cSld>
  <p:clrMapOvr>
    <a:masterClrMapping/>
  </p:clrMapOvr>
  <p:transition>
    <p:circl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3</a:t>
              </a:r>
            </a:p>
          </p:txBody>
        </p:sp>
      </p:grpSp>
      <p:sp>
        <p:nvSpPr>
          <p:cNvPr id="40" name="文本框 39"/>
          <p:cNvSpPr txBox="1"/>
          <p:nvPr/>
        </p:nvSpPr>
        <p:spPr>
          <a:xfrm>
            <a:off x="6006465" y="2913380"/>
            <a:ext cx="5867400" cy="87439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客户端层可用的技术</a:t>
            </a:r>
          </a:p>
        </p:txBody>
      </p:sp>
      <p:grpSp>
        <p:nvGrpSpPr>
          <p:cNvPr id="11" name="组合 10"/>
          <p:cNvGrpSpPr/>
          <p:nvPr/>
        </p:nvGrpSpPr>
        <p:grpSpPr>
          <a:xfrm>
            <a:off x="6006465" y="4013835"/>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基本</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HTML</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脚本语言</a:t>
              </a:r>
            </a:p>
          </p:txBody>
        </p:sp>
      </p:grpSp>
      <p:grpSp>
        <p:nvGrpSpPr>
          <p:cNvPr id="3" name="组合 2"/>
          <p:cNvGrpSpPr/>
          <p:nvPr/>
        </p:nvGrpSpPr>
        <p:grpSpPr>
          <a:xfrm>
            <a:off x="6006465" y="4849495"/>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Applet</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AJAX</a:t>
              </a:r>
            </a:p>
          </p:txBody>
        </p:sp>
      </p:grpSp>
    </p:spTree>
  </p:cSld>
  <p:clrMapOvr>
    <a:masterClrMapping/>
  </p:clrMapOvr>
  <p:transition spd="slow">
    <p:wip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0" y="2262237"/>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6" name="MH_Other_1"/>
          <p:cNvSpPr/>
          <p:nvPr>
            <p:custDataLst>
              <p:tags r:id="rId2"/>
            </p:custDataLst>
          </p:nvPr>
        </p:nvSpPr>
        <p:spPr>
          <a:xfrm>
            <a:off x="6654636" y="2413967"/>
            <a:ext cx="4788244" cy="172720"/>
          </a:xfrm>
          <a:prstGeom prst="rect">
            <a:avLst/>
          </a:prstGeom>
          <a:solidFill>
            <a:srgbClr val="4981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27" name="MH_Picture_1"/>
          <p:cNvSpPr/>
          <p:nvPr>
            <p:custDataLst>
              <p:tags r:id="rId3"/>
            </p:custDataLst>
          </p:nvPr>
        </p:nvSpPr>
        <p:spPr>
          <a:xfrm>
            <a:off x="6654636" y="2587322"/>
            <a:ext cx="4788244" cy="2351405"/>
          </a:xfrm>
          <a:prstGeom prst="rect">
            <a:avLst/>
          </a:prstGeom>
          <a:blipFill dpi="0" rotWithShape="1">
            <a:blip r:embed="rId9"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4" name="MH_Other_2"/>
          <p:cNvSpPr/>
          <p:nvPr>
            <p:custDataLst>
              <p:tags r:id="rId4"/>
            </p:custDataLst>
          </p:nvPr>
        </p:nvSpPr>
        <p:spPr>
          <a:xfrm>
            <a:off x="6654636" y="4938092"/>
            <a:ext cx="4788244" cy="174625"/>
          </a:xfrm>
          <a:prstGeom prst="rect">
            <a:avLst/>
          </a:prstGeom>
          <a:solidFill>
            <a:srgbClr val="4981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cxnSp>
        <p:nvCxnSpPr>
          <p:cNvPr id="30" name="MH_Other_3"/>
          <p:cNvCxnSpPr/>
          <p:nvPr>
            <p:custDataLst>
              <p:tags r:id="rId5"/>
            </p:custDataLst>
          </p:nvPr>
        </p:nvCxnSpPr>
        <p:spPr>
          <a:xfrm>
            <a:off x="6201118" y="2461592"/>
            <a:ext cx="0" cy="2706370"/>
          </a:xfrm>
          <a:prstGeom prst="line">
            <a:avLst/>
          </a:prstGeom>
          <a:ln w="19050">
            <a:solidFill>
              <a:srgbClr val="DDDDDD"/>
            </a:solidFill>
          </a:ln>
        </p:spPr>
        <p:style>
          <a:lnRef idx="1">
            <a:schemeClr val="accent1"/>
          </a:lnRef>
          <a:fillRef idx="0">
            <a:schemeClr val="accent1"/>
          </a:fillRef>
          <a:effectRef idx="0">
            <a:schemeClr val="accent1"/>
          </a:effectRef>
          <a:fontRef idx="minor">
            <a:schemeClr val="tx1"/>
          </a:fontRef>
        </p:style>
      </p:cxnSp>
      <p:sp>
        <p:nvSpPr>
          <p:cNvPr id="37" name="MH_Desc_1"/>
          <p:cNvSpPr txBox="1"/>
          <p:nvPr>
            <p:custDataLst>
              <p:tags r:id="rId6"/>
            </p:custDataLst>
          </p:nvPr>
        </p:nvSpPr>
        <p:spPr>
          <a:xfrm>
            <a:off x="900752" y="2913712"/>
            <a:ext cx="4759608" cy="1633845"/>
          </a:xfrm>
          <a:prstGeom prst="rect">
            <a:avLst/>
          </a:prstGeom>
          <a:noFill/>
        </p:spPr>
        <p:txBody>
          <a:bodyPr lIns="0" tIns="0" rIns="0" bIns="0">
            <a:spAutoFit/>
          </a:bodyPr>
          <a:lstStyle/>
          <a:p>
            <a:pPr indent="457200">
              <a:lnSpc>
                <a:spcPct val="120000"/>
              </a:lnSpc>
            </a:pPr>
            <a:r>
              <a:rPr lang="zh-CN" altLang="en-US" dirty="0"/>
              <a:t>客户端是指在工作站上的用户通过输入向服务器发出请求，用户能够在工作站上观察到系统执行的结果。本节</a:t>
            </a:r>
            <a:r>
              <a:rPr lang="zh-CN" altLang="en-US"/>
              <a:t>将介绍</a:t>
            </a:r>
            <a:r>
              <a:rPr lang="en-US" altLang="zh-CN" dirty="0"/>
              <a:t>Web</a:t>
            </a:r>
            <a:r>
              <a:rPr lang="zh-CN" altLang="en-US" dirty="0"/>
              <a:t>客户端层所使用的技术</a:t>
            </a:r>
            <a:r>
              <a:rPr lang="zh-CN" altLang="en-US"/>
              <a:t>，包括</a:t>
            </a:r>
            <a:r>
              <a:rPr lang="en-US" altLang="zh-CN" dirty="0"/>
              <a:t>HTML</a:t>
            </a:r>
            <a:r>
              <a:rPr lang="zh-CN" altLang="en-US" dirty="0"/>
              <a:t>、脚本</a:t>
            </a:r>
            <a:r>
              <a:rPr lang="zh-CN" altLang="en-US"/>
              <a:t>语言、</a:t>
            </a:r>
            <a:r>
              <a:rPr lang="en-US" altLang="zh-CN"/>
              <a:t>Applet</a:t>
            </a:r>
            <a:r>
              <a:rPr lang="zh-CN" altLang="en-US"/>
              <a:t>和</a:t>
            </a:r>
            <a:r>
              <a:rPr lang="en-US" altLang="zh-CN"/>
              <a:t>AJAX</a:t>
            </a:r>
            <a:r>
              <a:rPr lang="zh-CN" altLang="en-US"/>
              <a:t>。</a:t>
            </a:r>
            <a:endParaRPr lang="en-US" altLang="zh-CN" dirty="0"/>
          </a:p>
        </p:txBody>
      </p:sp>
    </p:spTree>
    <p:custDataLst>
      <p:tags r:id="rId1"/>
    </p:custDataLst>
  </p:cSld>
  <p:clrMapOvr>
    <a:masterClrMapping/>
  </p:clrMapOvr>
  <p:transition>
    <p:split orient="vert"/>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8.3.1 </a:t>
            </a:r>
            <a:r>
              <a:rPr lang="zh-CN" altLang="en-US" sz="2400" dirty="0">
                <a:solidFill>
                  <a:schemeClr val="tx1"/>
                </a:solidFill>
              </a:rPr>
              <a:t>基本</a:t>
            </a:r>
            <a:r>
              <a:rPr lang="en-US" altLang="zh-CN" sz="2400" dirty="0">
                <a:solidFill>
                  <a:schemeClr val="tx1"/>
                </a:solidFill>
              </a:rPr>
              <a:t>HTML</a:t>
            </a:r>
          </a:p>
        </p:txBody>
      </p:sp>
      <p:pic>
        <p:nvPicPr>
          <p:cNvPr id="3" name="图片 2" descr="20150324164357_64382"/>
          <p:cNvPicPr>
            <a:picLocks noChangeAspect="1"/>
          </p:cNvPicPr>
          <p:nvPr/>
        </p:nvPicPr>
        <p:blipFill>
          <a:blip r:embed="rId4" cstate="print"/>
          <a:stretch>
            <a:fillRect/>
          </a:stretch>
        </p:blipFill>
        <p:spPr>
          <a:xfrm>
            <a:off x="8014335" y="1812925"/>
            <a:ext cx="3566795" cy="2154555"/>
          </a:xfrm>
          <a:prstGeom prst="rect">
            <a:avLst/>
          </a:prstGeom>
        </p:spPr>
      </p:pic>
      <p:sp>
        <p:nvSpPr>
          <p:cNvPr id="4" name="文本框 3"/>
          <p:cNvSpPr txBox="1"/>
          <p:nvPr/>
        </p:nvSpPr>
        <p:spPr>
          <a:xfrm>
            <a:off x="809625" y="1969770"/>
            <a:ext cx="7098030" cy="2228850"/>
          </a:xfrm>
          <a:prstGeom prst="rect">
            <a:avLst/>
          </a:prstGeom>
          <a:noFill/>
        </p:spPr>
        <p:txBody>
          <a:bodyPr wrap="square" rtlCol="0" anchor="t">
            <a:spAutoFit/>
          </a:bodyPr>
          <a:lstStyle/>
          <a:p>
            <a:pPr algn="just" fontAlgn="auto">
              <a:lnSpc>
                <a:spcPct val="130000"/>
              </a:lnSpc>
            </a:pPr>
            <a:r>
              <a:rPr lang="en-US" altLang="zh-CN" dirty="0">
                <a:latin typeface="+mn-ea"/>
              </a:rPr>
              <a:t>    </a:t>
            </a:r>
            <a:r>
              <a:rPr lang="zh-CN" altLang="en-US" dirty="0">
                <a:latin typeface="+mn-ea"/>
              </a:rPr>
              <a:t>HTML（HyperText Markup Language，即超文本标记语言），是一种用来制作超文本文档的简单标记语言。HTML是由Web的发明者Tim Berners-Lee和同事Daniel W．Connolly于1990年创立的一种标记式语言。1997年，万维网联盟组织编写和制定了新的HTML 3.2标准，从而使HTML文档能够在不同的浏览器和操作平台中正确显示。目前HTML已经发展到5.0版本。</a:t>
            </a:r>
          </a:p>
        </p:txBody>
      </p:sp>
      <p:sp>
        <p:nvSpPr>
          <p:cNvPr id="5" name="文本框 4"/>
          <p:cNvSpPr txBox="1"/>
          <p:nvPr/>
        </p:nvSpPr>
        <p:spPr>
          <a:xfrm>
            <a:off x="754380" y="4089400"/>
            <a:ext cx="11061700" cy="2228850"/>
          </a:xfrm>
          <a:prstGeom prst="rect">
            <a:avLst/>
          </a:prstGeom>
          <a:noFill/>
        </p:spPr>
        <p:txBody>
          <a:bodyPr wrap="square" rtlCol="0" anchor="t">
            <a:spAutoFit/>
          </a:bodyPr>
          <a:lstStyle/>
          <a:p>
            <a:pPr algn="just" fontAlgn="auto">
              <a:lnSpc>
                <a:spcPct val="130000"/>
              </a:lnSpc>
            </a:pPr>
            <a:r>
              <a:rPr lang="en-US" altLang="zh-CN" dirty="0">
                <a:latin typeface="+mn-ea"/>
                <a:sym typeface="+mn-ea"/>
              </a:rPr>
              <a:t>    </a:t>
            </a:r>
            <a:r>
              <a:rPr lang="zh-CN" altLang="en-US" dirty="0">
                <a:latin typeface="+mn-ea"/>
                <a:sym typeface="+mn-ea"/>
              </a:rPr>
              <a:t>HTML（超文本标记语言）是一种建立网页文件的语言，它透过标记式的指令（Tag），将图片、文字、声音、动画、影视等内容显示出来。HTML文档主要包括文档内容、文档标记和HTML超链接三部分。</a:t>
            </a:r>
            <a:endParaRPr lang="zh-CN" altLang="en-US" dirty="0">
              <a:latin typeface="+mn-ea"/>
            </a:endParaRPr>
          </a:p>
          <a:p>
            <a:pPr algn="just" fontAlgn="auto">
              <a:lnSpc>
                <a:spcPct val="130000"/>
              </a:lnSpc>
            </a:pPr>
            <a:r>
              <a:rPr lang="zh-CN" altLang="en-US" dirty="0">
                <a:latin typeface="+mn-ea"/>
              </a:rPr>
              <a:t>    文档内容是在计算机屏幕上显示的所有信息，包括文本、图片等；文档标记是插在文档中的HTML编码，如&lt;html&gt;、&lt;/html&gt;、&lt;head&gt;、&lt;/head&gt;这些称为标记（Tag），它规定了文档中的每一部分的格式和屏幕上显示的方式；HTML超链接负责把当前文件链接到同一文档的另一位置、同一主机的其他文档或因特网上其他的文档，最终实现将因特网中的各种文档彼此链接起来，形成一个全球性的信息资源库。</a:t>
            </a:r>
          </a:p>
        </p:txBody>
      </p:sp>
    </p:spTree>
    <p:custDataLst>
      <p:tags r:id="rId1"/>
    </p:custDataLst>
  </p:cSld>
  <p:clrMapOvr>
    <a:masterClrMapping/>
  </p:clrMapOvr>
  <p:transition>
    <p:split orient="vert"/>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8.3.1 </a:t>
            </a:r>
            <a:r>
              <a:rPr lang="zh-CN" altLang="en-US" sz="2400" dirty="0">
                <a:solidFill>
                  <a:schemeClr val="tx1"/>
                </a:solidFill>
              </a:rPr>
              <a:t>基本</a:t>
            </a:r>
            <a:r>
              <a:rPr lang="en-US" altLang="zh-CN" sz="2400" dirty="0">
                <a:solidFill>
                  <a:schemeClr val="tx1"/>
                </a:solidFill>
              </a:rPr>
              <a:t>HTML</a:t>
            </a:r>
          </a:p>
        </p:txBody>
      </p:sp>
      <p:pic>
        <p:nvPicPr>
          <p:cNvPr id="3" name="图片 2" descr="55k58PICI6j_1024"/>
          <p:cNvPicPr>
            <a:picLocks noChangeAspect="1"/>
          </p:cNvPicPr>
          <p:nvPr/>
        </p:nvPicPr>
        <p:blipFill>
          <a:blip r:embed="rId6" cstate="print"/>
          <a:srcRect l="14925" t="7382" r="14561" b="7382"/>
          <a:stretch>
            <a:fillRect/>
          </a:stretch>
        </p:blipFill>
        <p:spPr>
          <a:xfrm>
            <a:off x="1807210" y="2268855"/>
            <a:ext cx="2952115" cy="3167380"/>
          </a:xfrm>
          <a:prstGeom prst="rect">
            <a:avLst/>
          </a:prstGeom>
        </p:spPr>
      </p:pic>
      <p:sp>
        <p:nvSpPr>
          <p:cNvPr id="15" name="MH_SubTitle_1"/>
          <p:cNvSpPr/>
          <p:nvPr>
            <p:custDataLst>
              <p:tags r:id="rId2"/>
            </p:custDataLst>
          </p:nvPr>
        </p:nvSpPr>
        <p:spPr>
          <a:xfrm>
            <a:off x="5977890" y="1581785"/>
            <a:ext cx="5212715" cy="40335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lstStyle/>
          <a:p>
            <a:pPr algn="just" fontAlgn="auto">
              <a:defRPr/>
            </a:pPr>
            <a:r>
              <a:rPr lang="en-US" altLang="zh-CN" dirty="0">
                <a:solidFill>
                  <a:schemeClr val="tx1"/>
                </a:solidFill>
              </a:rPr>
              <a:t>&lt;html&gt;</a:t>
            </a:r>
          </a:p>
          <a:p>
            <a:pPr algn="just" fontAlgn="auto">
              <a:defRPr/>
            </a:pPr>
            <a:r>
              <a:rPr lang="en-US" altLang="zh-CN" dirty="0">
                <a:solidFill>
                  <a:schemeClr val="tx1"/>
                </a:solidFill>
              </a:rPr>
              <a:t>&lt;head&gt;</a:t>
            </a:r>
          </a:p>
          <a:p>
            <a:pPr algn="just" fontAlgn="auto">
              <a:defRPr/>
            </a:pPr>
            <a:r>
              <a:rPr lang="en-US" altLang="zh-CN" dirty="0">
                <a:solidFill>
                  <a:schemeClr val="tx1"/>
                </a:solidFill>
              </a:rPr>
              <a:t>	&lt;title&gt;</a:t>
            </a:r>
            <a:r>
              <a:rPr lang="zh-CN" altLang="en-US" dirty="0">
                <a:solidFill>
                  <a:schemeClr val="tx1"/>
                </a:solidFill>
              </a:rPr>
              <a:t>网页的标题</a:t>
            </a:r>
            <a:r>
              <a:rPr lang="en-US" altLang="zh-CN" dirty="0">
                <a:solidFill>
                  <a:schemeClr val="tx1"/>
                </a:solidFill>
              </a:rPr>
              <a:t>&lt;/title&gt;</a:t>
            </a:r>
          </a:p>
          <a:p>
            <a:pPr algn="just" fontAlgn="auto">
              <a:defRPr/>
            </a:pPr>
            <a:r>
              <a:rPr lang="en-US" altLang="zh-CN" dirty="0">
                <a:solidFill>
                  <a:schemeClr val="tx1"/>
                </a:solidFill>
              </a:rPr>
              <a:t>&lt;/head&gt;</a:t>
            </a:r>
          </a:p>
          <a:p>
            <a:pPr algn="just" fontAlgn="auto">
              <a:defRPr/>
            </a:pPr>
            <a:r>
              <a:rPr lang="en-US" altLang="zh-CN" dirty="0">
                <a:solidFill>
                  <a:schemeClr val="tx1"/>
                </a:solidFill>
              </a:rPr>
              <a:t>&lt;body&gt;</a:t>
            </a:r>
          </a:p>
          <a:p>
            <a:pPr algn="just" fontAlgn="auto">
              <a:defRPr/>
            </a:pPr>
            <a:r>
              <a:rPr lang="en-US" altLang="zh-CN" dirty="0">
                <a:solidFill>
                  <a:schemeClr val="tx1"/>
                </a:solidFill>
              </a:rPr>
              <a:t>	</a:t>
            </a:r>
            <a:r>
              <a:rPr lang="zh-CN" altLang="en-US" dirty="0">
                <a:solidFill>
                  <a:schemeClr val="tx1"/>
                </a:solidFill>
              </a:rPr>
              <a:t>在网页中要显示的内容</a:t>
            </a:r>
          </a:p>
          <a:p>
            <a:pPr algn="just" fontAlgn="auto">
              <a:defRPr/>
            </a:pPr>
            <a:r>
              <a:rPr lang="en-US" altLang="zh-CN" dirty="0">
                <a:solidFill>
                  <a:schemeClr val="tx1"/>
                </a:solidFill>
              </a:rPr>
              <a:t>&lt;/body&gt;</a:t>
            </a:r>
          </a:p>
          <a:p>
            <a:pPr algn="just" fontAlgn="auto">
              <a:defRPr/>
            </a:pPr>
            <a:r>
              <a:rPr lang="en-US" altLang="zh-CN" dirty="0">
                <a:solidFill>
                  <a:schemeClr val="tx1"/>
                </a:solidFill>
              </a:rPr>
              <a:t>&lt;/html&gt;</a:t>
            </a:r>
          </a:p>
        </p:txBody>
      </p:sp>
      <p:cxnSp>
        <p:nvCxnSpPr>
          <p:cNvPr id="12" name="MH_Other_1"/>
          <p:cNvCxnSpPr/>
          <p:nvPr>
            <p:custDataLst>
              <p:tags r:id="rId3"/>
            </p:custDataLst>
          </p:nvPr>
        </p:nvCxnSpPr>
        <p:spPr>
          <a:xfrm flipH="1">
            <a:off x="5257165" y="1589405"/>
            <a:ext cx="15240" cy="4025900"/>
          </a:xfrm>
          <a:prstGeom prst="line">
            <a:avLst/>
          </a:prstGeom>
          <a:ln w="28575" cmpd="sng">
            <a:solidFill>
              <a:schemeClr val="accent1">
                <a:shade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 name="文本框 3"/>
          <p:cNvSpPr txBox="1"/>
          <p:nvPr/>
        </p:nvSpPr>
        <p:spPr>
          <a:xfrm>
            <a:off x="754380" y="5615305"/>
            <a:ext cx="10436225" cy="875689"/>
          </a:xfrm>
          <a:prstGeom prst="rect">
            <a:avLst/>
          </a:prstGeom>
          <a:noFill/>
        </p:spPr>
        <p:txBody>
          <a:bodyPr wrap="square" rtlCol="0" anchor="t">
            <a:spAutoFit/>
          </a:bodyPr>
          <a:lstStyle/>
          <a:p>
            <a:pPr algn="just" fontAlgn="auto">
              <a:lnSpc>
                <a:spcPct val="150000"/>
              </a:lnSpc>
            </a:pPr>
            <a:r>
              <a:rPr lang="zh-CN" altLang="en-US" dirty="0"/>
              <a:t>网页设计常用的软件有Dreamweaver和FrontPage。但要在网页中加入图片、视频、音频等其他元素，还必须配合使用Photoshop，Flash，Adobe Audition和JavaScript等相关元素的处理软件。</a:t>
            </a:r>
          </a:p>
        </p:txBody>
      </p:sp>
    </p:spTree>
    <p:custDataLst>
      <p:tags r:id="rId1"/>
    </p:custDataLst>
  </p:cSld>
  <p:clrMapOvr>
    <a:masterClrMapping/>
  </p:clrMapOvr>
  <p:transition>
    <p:split orient="vert"/>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8.3.2 </a:t>
            </a:r>
            <a:r>
              <a:rPr lang="zh-CN" altLang="en-US" sz="2400" dirty="0">
                <a:solidFill>
                  <a:schemeClr val="tx1"/>
                </a:solidFill>
              </a:rPr>
              <a:t>脚本语言</a:t>
            </a:r>
          </a:p>
        </p:txBody>
      </p:sp>
      <p:sp>
        <p:nvSpPr>
          <p:cNvPr id="8" name="MH_Other_1"/>
          <p:cNvSpPr/>
          <p:nvPr>
            <p:custDataLst>
              <p:tags r:id="rId2"/>
            </p:custDataLst>
          </p:nvPr>
        </p:nvSpPr>
        <p:spPr bwMode="auto">
          <a:xfrm>
            <a:off x="802640" y="1969135"/>
            <a:ext cx="9842500" cy="4417060"/>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3" name="文本框 2"/>
          <p:cNvSpPr txBox="1"/>
          <p:nvPr/>
        </p:nvSpPr>
        <p:spPr>
          <a:xfrm>
            <a:off x="1142329" y="2132911"/>
            <a:ext cx="6909852" cy="3659528"/>
          </a:xfrm>
          <a:prstGeom prst="rect">
            <a:avLst/>
          </a:prstGeom>
          <a:noFill/>
        </p:spPr>
        <p:txBody>
          <a:bodyPr wrap="square" rtlCol="0" anchor="t">
            <a:spAutoFit/>
          </a:bodyPr>
          <a:lstStyle/>
          <a:p>
            <a:pPr algn="just" fontAlgn="auto">
              <a:lnSpc>
                <a:spcPct val="130000"/>
              </a:lnSpc>
            </a:pPr>
            <a:r>
              <a:rPr lang="en-US" altLang="zh-CN" dirty="0"/>
              <a:t>       </a:t>
            </a:r>
            <a:r>
              <a:rPr lang="zh-CN" altLang="en-US" dirty="0"/>
              <a:t>脚本语言用在HTML文档中，用于丰富用户的交互，是一种介于HTML语言和VB，Java等高级语言之间的语言。常用的脚本语言有VBScript和JavaScript等语言，默认的脚本语言为VBScript语言。</a:t>
            </a:r>
          </a:p>
          <a:p>
            <a:pPr algn="just" fontAlgn="auto">
              <a:lnSpc>
                <a:spcPct val="130000"/>
              </a:lnSpc>
            </a:pPr>
            <a:r>
              <a:rPr lang="zh-CN" altLang="en-US" dirty="0"/>
              <a:t>        JavaScript的原名叫LiveScript，是NetScape公司在引入Sun公司有关Java的程序设计概念后，重新设计而更名的。JavaScript是一种可以嵌入HTML文档的，基于对象并具有某些面向对象特征的脚本语言；是一种基于对象（Object-Based）和事件驱动（Event Driven），由浏览器解释执行的，具有安全性能的客户端脚本语言。通过使用HTML，Java Applet来实现，在一个Web页面中链接多个对象，与Web客户交互作用，从而可以开发客户端的应用程序等。</a:t>
            </a:r>
          </a:p>
        </p:txBody>
      </p:sp>
      <p:pic>
        <p:nvPicPr>
          <p:cNvPr id="4" name="图片 3" descr="timg (1)"/>
          <p:cNvPicPr>
            <a:picLocks noChangeAspect="1"/>
          </p:cNvPicPr>
          <p:nvPr/>
        </p:nvPicPr>
        <p:blipFill>
          <a:blip r:embed="rId5" cstate="print"/>
          <a:stretch>
            <a:fillRect/>
          </a:stretch>
        </p:blipFill>
        <p:spPr>
          <a:xfrm rot="19860000">
            <a:off x="8315824" y="2638708"/>
            <a:ext cx="3527629" cy="2350184"/>
          </a:xfrm>
          <a:prstGeom prst="rect">
            <a:avLst/>
          </a:prstGeom>
        </p:spPr>
      </p:pic>
    </p:spTree>
    <p:custDataLst>
      <p:tags r:id="rId1"/>
    </p:custDataLst>
  </p:cSld>
  <p:clrMapOvr>
    <a:masterClrMapping/>
  </p:clrMapOvr>
  <p:transition>
    <p:split orient="vert"/>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8.3.2 </a:t>
            </a:r>
            <a:r>
              <a:rPr lang="zh-CN" altLang="en-US" sz="2400" dirty="0">
                <a:solidFill>
                  <a:schemeClr val="tx1"/>
                </a:solidFill>
              </a:rPr>
              <a:t>脚本语言</a:t>
            </a:r>
          </a:p>
        </p:txBody>
      </p:sp>
      <p:sp>
        <p:nvSpPr>
          <p:cNvPr id="15" name="MH_SubTitle_1"/>
          <p:cNvSpPr/>
          <p:nvPr>
            <p:custDataLst>
              <p:tags r:id="rId2"/>
            </p:custDataLst>
          </p:nvPr>
        </p:nvSpPr>
        <p:spPr>
          <a:xfrm>
            <a:off x="876631" y="2361062"/>
            <a:ext cx="5212715" cy="380970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lstStyle/>
          <a:p>
            <a:pPr algn="just"/>
            <a:r>
              <a:rPr lang="en-US" altLang="zh-CN" dirty="0">
                <a:solidFill>
                  <a:schemeClr val="tx1"/>
                </a:solidFill>
              </a:rPr>
              <a:t>&lt;html&gt;</a:t>
            </a:r>
          </a:p>
          <a:p>
            <a:pPr algn="just"/>
            <a:r>
              <a:rPr lang="en-US" altLang="zh-CN" dirty="0">
                <a:solidFill>
                  <a:schemeClr val="tx1"/>
                </a:solidFill>
              </a:rPr>
              <a:t>&lt;head&gt;</a:t>
            </a:r>
          </a:p>
          <a:p>
            <a:pPr algn="just"/>
            <a:r>
              <a:rPr lang="en-US" altLang="zh-CN" dirty="0">
                <a:solidFill>
                  <a:schemeClr val="tx1"/>
                </a:solidFill>
              </a:rPr>
              <a:t>	&lt;script Language="JavaScript"&gt;</a:t>
            </a:r>
          </a:p>
          <a:p>
            <a:pPr algn="just"/>
            <a:r>
              <a:rPr lang="en-US" altLang="zh-CN" dirty="0">
                <a:solidFill>
                  <a:schemeClr val="tx1"/>
                </a:solidFill>
              </a:rPr>
              <a:t>	</a:t>
            </a:r>
            <a:r>
              <a:rPr lang="en-US" altLang="zh-CN" dirty="0" err="1">
                <a:solidFill>
                  <a:schemeClr val="tx1"/>
                </a:solidFill>
              </a:rPr>
              <a:t>document.write</a:t>
            </a:r>
            <a:r>
              <a:rPr lang="en-US" altLang="zh-CN" dirty="0">
                <a:solidFill>
                  <a:schemeClr val="tx1"/>
                </a:solidFill>
              </a:rPr>
              <a:t>("</a:t>
            </a:r>
            <a:r>
              <a:rPr lang="en-US" altLang="zh-CN" dirty="0" err="1">
                <a:solidFill>
                  <a:schemeClr val="tx1"/>
                </a:solidFill>
              </a:rPr>
              <a:t>hello,world</a:t>
            </a:r>
            <a:r>
              <a:rPr lang="en-US" altLang="zh-CN" dirty="0">
                <a:solidFill>
                  <a:schemeClr val="tx1"/>
                </a:solidFill>
              </a:rPr>
              <a:t>");</a:t>
            </a:r>
          </a:p>
          <a:p>
            <a:pPr algn="just"/>
            <a:r>
              <a:rPr lang="en-US" altLang="zh-CN" dirty="0">
                <a:solidFill>
                  <a:schemeClr val="tx1"/>
                </a:solidFill>
              </a:rPr>
              <a:t>	&lt;/script&gt;</a:t>
            </a:r>
          </a:p>
          <a:p>
            <a:pPr algn="just"/>
            <a:r>
              <a:rPr lang="en-US" altLang="zh-CN" dirty="0">
                <a:solidFill>
                  <a:schemeClr val="tx1"/>
                </a:solidFill>
              </a:rPr>
              <a:t>&lt;/head&gt;</a:t>
            </a:r>
          </a:p>
          <a:p>
            <a:pPr algn="just"/>
            <a:r>
              <a:rPr lang="en-US" altLang="zh-CN" dirty="0">
                <a:solidFill>
                  <a:schemeClr val="tx1"/>
                </a:solidFill>
              </a:rPr>
              <a:t>&lt;/html&gt;</a:t>
            </a:r>
          </a:p>
        </p:txBody>
      </p:sp>
      <p:cxnSp>
        <p:nvCxnSpPr>
          <p:cNvPr id="12" name="MH_Other_1"/>
          <p:cNvCxnSpPr/>
          <p:nvPr>
            <p:custDataLst>
              <p:tags r:id="rId3"/>
            </p:custDataLst>
          </p:nvPr>
        </p:nvCxnSpPr>
        <p:spPr>
          <a:xfrm rot="16200000" flipH="1">
            <a:off x="4171867" y="4103630"/>
            <a:ext cx="4263555" cy="3243"/>
          </a:xfrm>
          <a:prstGeom prst="line">
            <a:avLst/>
          </a:prstGeom>
          <a:ln w="28575" cmpd="sng">
            <a:solidFill>
              <a:schemeClr val="accent1">
                <a:shade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8" name="圆角矩形 7"/>
          <p:cNvSpPr/>
          <p:nvPr/>
        </p:nvSpPr>
        <p:spPr>
          <a:xfrm>
            <a:off x="6513735" y="2470691"/>
            <a:ext cx="5209540" cy="3525520"/>
          </a:xfrm>
          <a:prstGeom prst="roundRect">
            <a:avLst/>
          </a:prstGeom>
          <a:noFill/>
          <a:ln w="28575">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auto">
              <a:lnSpc>
                <a:spcPct val="130000"/>
              </a:lnSpc>
            </a:pPr>
            <a:r>
              <a:rPr lang="en-US" altLang="zh-CN" dirty="0">
                <a:solidFill>
                  <a:schemeClr val="tx1"/>
                </a:solidFill>
              </a:rPr>
              <a:t>       </a:t>
            </a:r>
            <a:r>
              <a:rPr lang="zh-CN" altLang="en-US" dirty="0">
                <a:solidFill>
                  <a:schemeClr val="tx1"/>
                </a:solidFill>
              </a:rPr>
              <a:t>在B/S程序中，为了均衡负载，减轻服务器的计算负担，凡是不需要服务器程序做的工作，可尽量交给客户端程序（如JavaScript程序）去做。用HTML标记构造出用户界面，例如用户通过界面输入数据，向浏览器请求数据等操作都可以用JavaScript程序来完成。在用户输入数据，或者是输入完毕，将数据向服务器提交的时候，由JavaScript程序来完成对数据的检验和验证等任务。</a:t>
            </a:r>
          </a:p>
        </p:txBody>
      </p:sp>
    </p:spTree>
    <p:custDataLst>
      <p:tags r:id="rId1"/>
    </p:custDataLst>
  </p:cSld>
  <p:clrMapOvr>
    <a:masterClrMapping/>
  </p:clrMapOvr>
  <p:transition>
    <p:split orient="vert"/>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8.3.2 </a:t>
            </a:r>
            <a:r>
              <a:rPr lang="zh-CN" altLang="en-US" sz="2400" dirty="0">
                <a:solidFill>
                  <a:schemeClr val="tx1"/>
                </a:solidFill>
              </a:rPr>
              <a:t>脚本语言</a:t>
            </a:r>
          </a:p>
        </p:txBody>
      </p:sp>
      <p:sp>
        <p:nvSpPr>
          <p:cNvPr id="16" name="Oval 15"/>
          <p:cNvSpPr>
            <a:spLocks noChangeArrowheads="1"/>
          </p:cNvSpPr>
          <p:nvPr>
            <p:custDataLst>
              <p:tags r:id="rId2"/>
            </p:custDataLst>
          </p:nvPr>
        </p:nvSpPr>
        <p:spPr bwMode="auto">
          <a:xfrm>
            <a:off x="1021715" y="2538095"/>
            <a:ext cx="3153410" cy="318262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3" name="Line 16"/>
          <p:cNvSpPr>
            <a:spLocks noChangeShapeType="1"/>
          </p:cNvSpPr>
          <p:nvPr>
            <p:custDataLst>
              <p:tags r:id="rId3"/>
            </p:custDataLst>
          </p:nvPr>
        </p:nvSpPr>
        <p:spPr bwMode="gray">
          <a:xfrm>
            <a:off x="848995" y="4136390"/>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4" name="Line 17"/>
          <p:cNvSpPr>
            <a:spLocks noChangeShapeType="1"/>
          </p:cNvSpPr>
          <p:nvPr>
            <p:custDataLst>
              <p:tags r:id="rId4"/>
            </p:custDataLst>
          </p:nvPr>
        </p:nvSpPr>
        <p:spPr bwMode="gray">
          <a:xfrm>
            <a:off x="2590800" y="2303145"/>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5" name="Oval 10"/>
          <p:cNvSpPr>
            <a:spLocks noChangeArrowheads="1"/>
          </p:cNvSpPr>
          <p:nvPr>
            <p:custDataLst>
              <p:tags r:id="rId5"/>
            </p:custDataLst>
          </p:nvPr>
        </p:nvSpPr>
        <p:spPr bwMode="gray">
          <a:xfrm>
            <a:off x="1194435" y="2718435"/>
            <a:ext cx="2789555" cy="2811145"/>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7" name="Oval 13"/>
          <p:cNvSpPr>
            <a:spLocks noChangeArrowheads="1"/>
          </p:cNvSpPr>
          <p:nvPr>
            <p:custDataLst>
              <p:tags r:id="rId6"/>
            </p:custDataLst>
          </p:nvPr>
        </p:nvSpPr>
        <p:spPr bwMode="gray">
          <a:xfrm>
            <a:off x="1513205" y="3055620"/>
            <a:ext cx="2137410" cy="218186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51" name="KSO_GT1"/>
          <p:cNvSpPr>
            <a:spLocks noChangeArrowheads="1"/>
          </p:cNvSpPr>
          <p:nvPr>
            <p:custDataLst>
              <p:tags r:id="rId7"/>
            </p:custDataLst>
          </p:nvPr>
        </p:nvSpPr>
        <p:spPr bwMode="gray">
          <a:xfrm>
            <a:off x="1898015" y="3448050"/>
            <a:ext cx="1368425" cy="1397635"/>
          </a:xfrm>
          <a:prstGeom prst="ellipse">
            <a:avLst/>
          </a:prstGeom>
          <a:solidFill>
            <a:srgbClr val="4F5A71"/>
          </a:solidFill>
          <a:ln>
            <a:noFill/>
          </a:ln>
          <a:effectLst/>
        </p:spPr>
        <p:txBody>
          <a:bodyPr wrap="square" lIns="0" tIns="0" rIns="0" bIns="0" anchor="ctr">
            <a:normAutofit fontScale="97500"/>
          </a:bodyPr>
          <a:lstStyle/>
          <a:p>
            <a:pPr algn="ctr">
              <a:defRPr/>
            </a:pPr>
            <a:r>
              <a:rPr lang="zh-CN" altLang="en-US" dirty="0">
                <a:solidFill>
                  <a:schemeClr val="bg1"/>
                </a:solidFill>
              </a:rPr>
              <a:t>JavaScript</a:t>
            </a:r>
          </a:p>
          <a:p>
            <a:pPr algn="ctr">
              <a:defRPr/>
            </a:pPr>
            <a:r>
              <a:rPr lang="zh-CN" altLang="en-US" dirty="0">
                <a:solidFill>
                  <a:schemeClr val="bg1"/>
                </a:solidFill>
              </a:rPr>
              <a:t>特点</a:t>
            </a:r>
          </a:p>
        </p:txBody>
      </p:sp>
      <p:sp>
        <p:nvSpPr>
          <p:cNvPr id="30" name="Oval 19"/>
          <p:cNvSpPr>
            <a:spLocks noChangeArrowheads="1"/>
          </p:cNvSpPr>
          <p:nvPr>
            <p:custDataLst>
              <p:tags r:id="rId8"/>
            </p:custDataLst>
          </p:nvPr>
        </p:nvSpPr>
        <p:spPr bwMode="gray">
          <a:xfrm>
            <a:off x="3012440" y="249364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1" name="文本框 20"/>
          <p:cNvSpPr txBox="1"/>
          <p:nvPr>
            <p:custDataLst>
              <p:tags r:id="rId9"/>
            </p:custDataLst>
          </p:nvPr>
        </p:nvSpPr>
        <p:spPr>
          <a:xfrm>
            <a:off x="3498850" y="2363179"/>
            <a:ext cx="6115050" cy="422405"/>
          </a:xfrm>
          <a:prstGeom prst="rect">
            <a:avLst/>
          </a:prstGeom>
          <a:noFill/>
        </p:spPr>
        <p:txBody>
          <a:bodyPr wrap="square" lIns="72000" tIns="72000" rIns="72000" bIns="72000" anchor="ctr" anchorCtr="0">
            <a:spAutoFit/>
          </a:bodyPr>
          <a:lstStyle/>
          <a:p>
            <a:pPr algn="just">
              <a:defRPr/>
            </a:pPr>
            <a:r>
              <a:rPr lang="zh-CN" altLang="en-US" dirty="0"/>
              <a:t>① 解释性：由浏览器直接解释执行；</a:t>
            </a:r>
          </a:p>
        </p:txBody>
      </p:sp>
      <p:sp>
        <p:nvSpPr>
          <p:cNvPr id="19" name="Oval 19"/>
          <p:cNvSpPr>
            <a:spLocks noChangeArrowheads="1"/>
          </p:cNvSpPr>
          <p:nvPr>
            <p:custDataLst>
              <p:tags r:id="rId10"/>
            </p:custDataLst>
          </p:nvPr>
        </p:nvSpPr>
        <p:spPr bwMode="gray">
          <a:xfrm>
            <a:off x="3696970" y="299085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2" name="文本框 21"/>
          <p:cNvSpPr txBox="1"/>
          <p:nvPr>
            <p:custDataLst>
              <p:tags r:id="rId11"/>
            </p:custDataLst>
          </p:nvPr>
        </p:nvSpPr>
        <p:spPr>
          <a:xfrm>
            <a:off x="4168140" y="2899119"/>
            <a:ext cx="4683125" cy="422405"/>
          </a:xfrm>
          <a:prstGeom prst="rect">
            <a:avLst/>
          </a:prstGeom>
          <a:noFill/>
        </p:spPr>
        <p:txBody>
          <a:bodyPr wrap="square" lIns="72000" tIns="72000" rIns="72000" bIns="72000" anchor="ctr" anchorCtr="0">
            <a:spAutoFit/>
          </a:bodyPr>
          <a:lstStyle/>
          <a:p>
            <a:pPr algn="just">
              <a:defRPr/>
            </a:pPr>
            <a:r>
              <a:rPr lang="zh-CN" altLang="en-US" dirty="0"/>
              <a:t>② 用于客户端；</a:t>
            </a:r>
          </a:p>
        </p:txBody>
      </p:sp>
      <p:sp>
        <p:nvSpPr>
          <p:cNvPr id="20" name="Oval 19"/>
          <p:cNvSpPr>
            <a:spLocks noChangeArrowheads="1"/>
          </p:cNvSpPr>
          <p:nvPr>
            <p:custDataLst>
              <p:tags r:id="rId12"/>
            </p:custDataLst>
          </p:nvPr>
        </p:nvSpPr>
        <p:spPr bwMode="gray">
          <a:xfrm>
            <a:off x="4007485" y="364807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 name="文本框 4"/>
          <p:cNvSpPr txBox="1"/>
          <p:nvPr>
            <p:custDataLst>
              <p:tags r:id="rId13"/>
            </p:custDataLst>
          </p:nvPr>
        </p:nvSpPr>
        <p:spPr>
          <a:xfrm>
            <a:off x="4507230" y="3493479"/>
            <a:ext cx="4911725" cy="422405"/>
          </a:xfrm>
          <a:prstGeom prst="rect">
            <a:avLst/>
          </a:prstGeom>
          <a:noFill/>
        </p:spPr>
        <p:txBody>
          <a:bodyPr wrap="square" lIns="72000" tIns="72000" rIns="72000" bIns="72000" anchor="ctr" anchorCtr="0">
            <a:spAutoFit/>
          </a:bodyPr>
          <a:lstStyle/>
          <a:p>
            <a:pPr algn="just">
              <a:defRPr/>
            </a:pPr>
            <a:r>
              <a:rPr lang="zh-CN" altLang="en-US" dirty="0"/>
              <a:t>③ 安全性：不允许直接访问本地硬盘；</a:t>
            </a:r>
          </a:p>
        </p:txBody>
      </p:sp>
      <p:sp>
        <p:nvSpPr>
          <p:cNvPr id="23" name="Oval 19"/>
          <p:cNvSpPr>
            <a:spLocks noChangeArrowheads="1"/>
          </p:cNvSpPr>
          <p:nvPr>
            <p:custDataLst>
              <p:tags r:id="rId14"/>
            </p:custDataLst>
          </p:nvPr>
        </p:nvSpPr>
        <p:spPr bwMode="gray">
          <a:xfrm>
            <a:off x="4016375" y="435673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6" name="文本框 5"/>
          <p:cNvSpPr txBox="1"/>
          <p:nvPr>
            <p:custDataLst>
              <p:tags r:id="rId15"/>
            </p:custDataLst>
          </p:nvPr>
        </p:nvSpPr>
        <p:spPr>
          <a:xfrm>
            <a:off x="4609465" y="4103749"/>
            <a:ext cx="6374765" cy="699404"/>
          </a:xfrm>
          <a:prstGeom prst="rect">
            <a:avLst/>
          </a:prstGeom>
          <a:noFill/>
        </p:spPr>
        <p:txBody>
          <a:bodyPr wrap="square" lIns="72000" tIns="72000" rIns="72000" bIns="72000" anchor="ctr" anchorCtr="0">
            <a:spAutoFit/>
          </a:bodyPr>
          <a:lstStyle/>
          <a:p>
            <a:pPr algn="just">
              <a:defRPr/>
            </a:pPr>
            <a:r>
              <a:rPr lang="zh-CN" altLang="en-US" dirty="0"/>
              <a:t>④ 简单易用：脚本式语言最大的优点是易学易用，是一种轻量级的程序语言；</a:t>
            </a:r>
            <a:endParaRPr dirty="0"/>
          </a:p>
        </p:txBody>
      </p:sp>
      <p:sp>
        <p:nvSpPr>
          <p:cNvPr id="24" name="Oval 19"/>
          <p:cNvSpPr>
            <a:spLocks noChangeArrowheads="1"/>
          </p:cNvSpPr>
          <p:nvPr>
            <p:custDataLst>
              <p:tags r:id="rId16"/>
            </p:custDataLst>
          </p:nvPr>
        </p:nvSpPr>
        <p:spPr bwMode="gray">
          <a:xfrm>
            <a:off x="3686175" y="503301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8" name="文本框 37"/>
          <p:cNvSpPr txBox="1"/>
          <p:nvPr>
            <p:custDataLst>
              <p:tags r:id="rId17"/>
            </p:custDataLst>
          </p:nvPr>
        </p:nvSpPr>
        <p:spPr>
          <a:xfrm>
            <a:off x="4267835" y="4887974"/>
            <a:ext cx="6725920" cy="699404"/>
          </a:xfrm>
          <a:prstGeom prst="rect">
            <a:avLst/>
          </a:prstGeom>
          <a:noFill/>
        </p:spPr>
        <p:txBody>
          <a:bodyPr wrap="square" lIns="72000" tIns="72000" rIns="72000" bIns="72000" anchor="ctr" anchorCtr="0">
            <a:spAutoFit/>
          </a:bodyPr>
          <a:lstStyle/>
          <a:p>
            <a:pPr algn="just">
              <a:defRPr/>
            </a:pPr>
            <a:r>
              <a:rPr lang="zh-CN" altLang="en-US" dirty="0"/>
              <a:t>⑤ 动态性：可以直接对用户或客户的输入作出响应，无须经过</a:t>
            </a:r>
            <a:r>
              <a:rPr lang="en-US" altLang="zh-CN" dirty="0"/>
              <a:t>Web</a:t>
            </a:r>
            <a:r>
              <a:rPr lang="zh-CN" altLang="en-US" dirty="0"/>
              <a:t>服务程序，对用户输入的响应，采用事件驱动的方式进行；</a:t>
            </a:r>
          </a:p>
        </p:txBody>
      </p:sp>
      <p:sp>
        <p:nvSpPr>
          <p:cNvPr id="25" name="Oval 19"/>
          <p:cNvSpPr>
            <a:spLocks noChangeArrowheads="1"/>
          </p:cNvSpPr>
          <p:nvPr>
            <p:custDataLst>
              <p:tags r:id="rId18"/>
            </p:custDataLst>
          </p:nvPr>
        </p:nvSpPr>
        <p:spPr bwMode="gray">
          <a:xfrm>
            <a:off x="2974975" y="551307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9" name="文本框 38"/>
          <p:cNvSpPr txBox="1"/>
          <p:nvPr>
            <p:custDataLst>
              <p:tags r:id="rId19"/>
            </p:custDataLst>
          </p:nvPr>
        </p:nvSpPr>
        <p:spPr>
          <a:xfrm>
            <a:off x="3388995" y="5642954"/>
            <a:ext cx="7595235" cy="422405"/>
          </a:xfrm>
          <a:prstGeom prst="rect">
            <a:avLst/>
          </a:prstGeom>
          <a:noFill/>
        </p:spPr>
        <p:txBody>
          <a:bodyPr wrap="square" lIns="72000" tIns="72000" rIns="72000" bIns="72000" anchor="ctr" anchorCtr="0">
            <a:spAutoFit/>
          </a:bodyPr>
          <a:lstStyle/>
          <a:p>
            <a:pPr algn="just">
              <a:defRPr/>
            </a:pPr>
            <a:r>
              <a:rPr lang="zh-CN" altLang="en-US" dirty="0"/>
              <a:t>⑥ 跨平台性：可以解释</a:t>
            </a:r>
            <a:r>
              <a:rPr lang="en-US" altLang="zh-CN" dirty="0"/>
              <a:t>JavaScript</a:t>
            </a:r>
            <a:r>
              <a:rPr lang="zh-CN" altLang="en-US" dirty="0"/>
              <a:t>的浏览器都可执行，和操作系统无关。</a:t>
            </a:r>
          </a:p>
        </p:txBody>
      </p:sp>
    </p:spTree>
    <p:custDataLst>
      <p:tags r:id="rId1"/>
    </p:custDataLst>
  </p:cSld>
  <p:clrMapOvr>
    <a:masterClrMapping/>
  </p:clrMapOvr>
  <p:transition>
    <p:split orient="vert"/>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8.3.2 </a:t>
            </a:r>
            <a:r>
              <a:rPr lang="zh-CN" altLang="en-US" sz="2400" dirty="0">
                <a:solidFill>
                  <a:schemeClr val="tx1"/>
                </a:solidFill>
              </a:rPr>
              <a:t>脚本语言</a:t>
            </a:r>
          </a:p>
        </p:txBody>
      </p:sp>
      <p:sp>
        <p:nvSpPr>
          <p:cNvPr id="45" name="文本框 44"/>
          <p:cNvSpPr txBox="1"/>
          <p:nvPr>
            <p:custDataLst>
              <p:tags r:id="rId2"/>
            </p:custDataLst>
          </p:nvPr>
        </p:nvSpPr>
        <p:spPr>
          <a:xfrm>
            <a:off x="7738110" y="4695825"/>
            <a:ext cx="3632835" cy="1351915"/>
          </a:xfrm>
          <a:prstGeom prst="rect">
            <a:avLst/>
          </a:prstGeom>
          <a:noFill/>
        </p:spPr>
        <p:txBody>
          <a:bodyPr wrap="square" rtlCol="0">
            <a:normAutofit/>
          </a:bodyPr>
          <a:lstStyle/>
          <a:p>
            <a:pPr algn="just" eaLnBrk="1" hangingPunct="1">
              <a:lnSpc>
                <a:spcPct val="120000"/>
              </a:lnSpc>
              <a:spcBef>
                <a:spcPts val="0"/>
              </a:spcBef>
              <a:spcAft>
                <a:spcPts val="0"/>
              </a:spcAft>
              <a:defRPr/>
            </a:pPr>
            <a:r>
              <a:rPr lang="zh-CN" altLang="en-US" dirty="0"/>
              <a:t>（</a:t>
            </a:r>
            <a:r>
              <a:rPr lang="en-US" altLang="zh-CN" dirty="0"/>
              <a:t>3</a:t>
            </a:r>
            <a:r>
              <a:rPr lang="zh-CN" altLang="en-US" dirty="0"/>
              <a:t>）执行：与HTML文档配合，将其插入到HTML文档中，然后通过浏览器执行HTML文档即可。</a:t>
            </a:r>
          </a:p>
        </p:txBody>
      </p:sp>
      <p:sp>
        <p:nvSpPr>
          <p:cNvPr id="77" name="文本框 76"/>
          <p:cNvSpPr txBox="1"/>
          <p:nvPr>
            <p:custDataLst>
              <p:tags r:id="rId3"/>
            </p:custDataLst>
          </p:nvPr>
        </p:nvSpPr>
        <p:spPr>
          <a:xfrm>
            <a:off x="1007745" y="3423920"/>
            <a:ext cx="3112135" cy="1421765"/>
          </a:xfrm>
          <a:prstGeom prst="rect">
            <a:avLst/>
          </a:prstGeom>
          <a:noFill/>
        </p:spPr>
        <p:txBody>
          <a:bodyPr wrap="square" rtlCol="0">
            <a:normAutofit/>
          </a:bodyPr>
          <a:lstStyle/>
          <a:p>
            <a:pPr algn="just" eaLnBrk="1" hangingPunct="1">
              <a:lnSpc>
                <a:spcPct val="120000"/>
              </a:lnSpc>
              <a:spcBef>
                <a:spcPts val="0"/>
              </a:spcBef>
              <a:spcAft>
                <a:spcPts val="0"/>
              </a:spcAft>
              <a:defRPr/>
            </a:pPr>
            <a:r>
              <a:rPr lang="zh-CN" altLang="en-US" dirty="0"/>
              <a:t>（</a:t>
            </a:r>
            <a:r>
              <a:rPr lang="en-US" altLang="zh-CN" dirty="0"/>
              <a:t>1</a:t>
            </a:r>
            <a:r>
              <a:rPr lang="zh-CN" altLang="en-US" dirty="0"/>
              <a:t>）校验用户输入的内容：用于用户输入内容的校验；</a:t>
            </a:r>
          </a:p>
        </p:txBody>
      </p:sp>
      <p:sp>
        <p:nvSpPr>
          <p:cNvPr id="78" name="文本框 77"/>
          <p:cNvSpPr txBox="1"/>
          <p:nvPr>
            <p:custDataLst>
              <p:tags r:id="rId4"/>
            </p:custDataLst>
          </p:nvPr>
        </p:nvSpPr>
        <p:spPr>
          <a:xfrm>
            <a:off x="7738110" y="2052955"/>
            <a:ext cx="3673475" cy="1464310"/>
          </a:xfrm>
          <a:prstGeom prst="rect">
            <a:avLst/>
          </a:prstGeom>
          <a:noFill/>
        </p:spPr>
        <p:txBody>
          <a:bodyPr wrap="square" rtlCol="0">
            <a:normAutofit/>
          </a:bodyPr>
          <a:lstStyle/>
          <a:p>
            <a:pPr algn="just" eaLnBrk="1" hangingPunct="1">
              <a:lnSpc>
                <a:spcPct val="120000"/>
              </a:lnSpc>
              <a:spcBef>
                <a:spcPts val="0"/>
              </a:spcBef>
              <a:spcAft>
                <a:spcPts val="0"/>
              </a:spcAft>
              <a:defRPr/>
            </a:pPr>
            <a:r>
              <a:rPr lang="zh-CN" altLang="en-US" dirty="0">
                <a:sym typeface="+mn-ea"/>
              </a:rPr>
              <a:t>（</a:t>
            </a:r>
            <a:r>
              <a:rPr lang="en-US" altLang="zh-CN" dirty="0">
                <a:sym typeface="+mn-ea"/>
              </a:rPr>
              <a:t>2</a:t>
            </a:r>
            <a:r>
              <a:rPr lang="zh-CN" altLang="en-US" dirty="0">
                <a:sym typeface="+mn-ea"/>
              </a:rPr>
              <a:t>）</a:t>
            </a:r>
            <a:r>
              <a:rPr dirty="0"/>
              <a:t>编写JavaScript脚本：可以使用任何一种文字编辑器来编写，如Dreamweaver，EditPlus，UltraEdit等；</a:t>
            </a:r>
          </a:p>
        </p:txBody>
      </p:sp>
      <p:grpSp>
        <p:nvGrpSpPr>
          <p:cNvPr id="4" name="组合 3"/>
          <p:cNvGrpSpPr/>
          <p:nvPr/>
        </p:nvGrpSpPr>
        <p:grpSpPr>
          <a:xfrm>
            <a:off x="4340225" y="2437130"/>
            <a:ext cx="3357880" cy="3360420"/>
            <a:chOff x="6956" y="3838"/>
            <a:chExt cx="5288" cy="5292"/>
          </a:xfrm>
        </p:grpSpPr>
        <p:grpSp>
          <p:nvGrpSpPr>
            <p:cNvPr id="46" name="组合 45"/>
            <p:cNvGrpSpPr/>
            <p:nvPr>
              <p:custDataLst>
                <p:tags r:id="rId5"/>
              </p:custDataLst>
            </p:nvPr>
          </p:nvGrpSpPr>
          <p:grpSpPr>
            <a:xfrm>
              <a:off x="6956" y="3838"/>
              <a:ext cx="5288" cy="5293"/>
              <a:chOff x="4545541" y="1813445"/>
              <a:chExt cx="3358094" cy="3360852"/>
            </a:xfrm>
          </p:grpSpPr>
          <p:grpSp>
            <p:nvGrpSpPr>
              <p:cNvPr id="47" name="组合 46"/>
              <p:cNvGrpSpPr/>
              <p:nvPr/>
            </p:nvGrpSpPr>
            <p:grpSpPr>
              <a:xfrm rot="19780964">
                <a:off x="4545541" y="1813445"/>
                <a:ext cx="3358094" cy="3360852"/>
                <a:chOff x="4292600" y="1528763"/>
                <a:chExt cx="3863975" cy="3867151"/>
              </a:xfrm>
            </p:grpSpPr>
            <p:sp>
              <p:nvSpPr>
                <p:cNvPr id="52" name="Freeform 5"/>
                <p:cNvSpPr/>
                <p:nvPr>
                  <p:custDataLst>
                    <p:tags r:id="rId15"/>
                  </p:custDataLst>
                </p:nvPr>
              </p:nvSpPr>
              <p:spPr bwMode="auto">
                <a:xfrm>
                  <a:off x="6096000" y="1528763"/>
                  <a:ext cx="2060575" cy="2708275"/>
                </a:xfrm>
                <a:custGeom>
                  <a:avLst/>
                  <a:gdLst>
                    <a:gd name="T0" fmla="*/ 0 w 10817"/>
                    <a:gd name="T1" fmla="*/ 9470 h 14205"/>
                    <a:gd name="T2" fmla="*/ 8202 w 10817"/>
                    <a:gd name="T3" fmla="*/ 14205 h 14205"/>
                    <a:gd name="T4" fmla="*/ 4736 w 10817"/>
                    <a:gd name="T5" fmla="*/ 1268 h 14205"/>
                    <a:gd name="T6" fmla="*/ 0 w 10817"/>
                    <a:gd name="T7" fmla="*/ 0 h 14205"/>
                    <a:gd name="T8" fmla="*/ 0 w 10817"/>
                    <a:gd name="T9" fmla="*/ 9470 h 14205"/>
                  </a:gdLst>
                  <a:ahLst/>
                  <a:cxnLst>
                    <a:cxn ang="0">
                      <a:pos x="T0" y="T1"/>
                    </a:cxn>
                    <a:cxn ang="0">
                      <a:pos x="T2" y="T3"/>
                    </a:cxn>
                    <a:cxn ang="0">
                      <a:pos x="T4" y="T5"/>
                    </a:cxn>
                    <a:cxn ang="0">
                      <a:pos x="T6" y="T7"/>
                    </a:cxn>
                    <a:cxn ang="0">
                      <a:pos x="T8" y="T9"/>
                    </a:cxn>
                  </a:cxnLst>
                  <a:rect l="0" t="0" r="r" b="b"/>
                  <a:pathLst>
                    <a:path w="10817" h="14205">
                      <a:moveTo>
                        <a:pt x="0" y="9470"/>
                      </a:moveTo>
                      <a:lnTo>
                        <a:pt x="8202" y="14205"/>
                      </a:lnTo>
                      <a:cubicBezTo>
                        <a:pt x="10817" y="9675"/>
                        <a:pt x="9265" y="3884"/>
                        <a:pt x="4736" y="1268"/>
                      </a:cubicBezTo>
                      <a:cubicBezTo>
                        <a:pt x="3296" y="437"/>
                        <a:pt x="1663" y="0"/>
                        <a:pt x="0" y="0"/>
                      </a:cubicBezTo>
                      <a:lnTo>
                        <a:pt x="0" y="9470"/>
                      </a:lnTo>
                      <a:close/>
                    </a:path>
                  </a:pathLst>
                </a:custGeom>
                <a:solidFill>
                  <a:schemeClr val="accent3">
                    <a:lumMod val="20000"/>
                    <a:lumOff val="80000"/>
                  </a:schemeClr>
                </a:solidFill>
                <a:ln w="0">
                  <a:noFill/>
                  <a:prstDash val="solid"/>
                  <a:round/>
                </a:ln>
              </p:spPr>
              <p:txBody>
                <a:bodyPr vert="horz" wrap="square" lIns="91440" tIns="45720" rIns="91440" bIns="45720" numCol="1" anchor="t" anchorCtr="0" compatLnSpc="1">
                  <a:normAutofit/>
                </a:bodyPr>
                <a:lstStyle/>
                <a:p>
                  <a:endParaRPr lang="zh-CN" altLang="en-US">
                    <a:sym typeface="Arial" panose="020B0604020202020204" pitchFamily="34" charset="0"/>
                  </a:endParaRPr>
                </a:p>
              </p:txBody>
            </p:sp>
            <p:sp>
              <p:nvSpPr>
                <p:cNvPr id="58" name="Freeform 7"/>
                <p:cNvSpPr/>
                <p:nvPr>
                  <p:custDataLst>
                    <p:tags r:id="rId16"/>
                  </p:custDataLst>
                </p:nvPr>
              </p:nvSpPr>
              <p:spPr bwMode="auto">
                <a:xfrm>
                  <a:off x="4533900" y="3333751"/>
                  <a:ext cx="3124200" cy="2062163"/>
                </a:xfrm>
                <a:custGeom>
                  <a:avLst/>
                  <a:gdLst>
                    <a:gd name="T0" fmla="*/ 8201 w 16403"/>
                    <a:gd name="T1" fmla="*/ 0 h 10816"/>
                    <a:gd name="T2" fmla="*/ 0 w 16403"/>
                    <a:gd name="T3" fmla="*/ 4735 h 10816"/>
                    <a:gd name="T4" fmla="*/ 12937 w 16403"/>
                    <a:gd name="T5" fmla="*/ 8201 h 10816"/>
                    <a:gd name="T6" fmla="*/ 16403 w 16403"/>
                    <a:gd name="T7" fmla="*/ 4735 h 10816"/>
                    <a:gd name="T8" fmla="*/ 8201 w 16403"/>
                    <a:gd name="T9" fmla="*/ 0 h 10816"/>
                  </a:gdLst>
                  <a:ahLst/>
                  <a:cxnLst>
                    <a:cxn ang="0">
                      <a:pos x="T0" y="T1"/>
                    </a:cxn>
                    <a:cxn ang="0">
                      <a:pos x="T2" y="T3"/>
                    </a:cxn>
                    <a:cxn ang="0">
                      <a:pos x="T4" y="T5"/>
                    </a:cxn>
                    <a:cxn ang="0">
                      <a:pos x="T6" y="T7"/>
                    </a:cxn>
                    <a:cxn ang="0">
                      <a:pos x="T8" y="T9"/>
                    </a:cxn>
                  </a:cxnLst>
                  <a:rect l="0" t="0" r="r" b="b"/>
                  <a:pathLst>
                    <a:path w="16403" h="10816">
                      <a:moveTo>
                        <a:pt x="8201" y="0"/>
                      </a:moveTo>
                      <a:lnTo>
                        <a:pt x="0" y="4735"/>
                      </a:lnTo>
                      <a:cubicBezTo>
                        <a:pt x="2615" y="9265"/>
                        <a:pt x="8407" y="10816"/>
                        <a:pt x="12937" y="8201"/>
                      </a:cubicBezTo>
                      <a:cubicBezTo>
                        <a:pt x="14376" y="7370"/>
                        <a:pt x="15572" y="6175"/>
                        <a:pt x="16403" y="4735"/>
                      </a:cubicBezTo>
                      <a:lnTo>
                        <a:pt x="8201" y="0"/>
                      </a:lnTo>
                      <a:close/>
                    </a:path>
                  </a:pathLst>
                </a:custGeom>
                <a:solidFill>
                  <a:schemeClr val="accent3">
                    <a:lumMod val="40000"/>
                    <a:lumOff val="60000"/>
                  </a:schemeClr>
                </a:solidFill>
                <a:ln w="0">
                  <a:noFill/>
                  <a:prstDash val="solid"/>
                  <a:round/>
                </a:ln>
              </p:spPr>
              <p:txBody>
                <a:bodyPr vert="horz" wrap="square" lIns="91440" tIns="45720" rIns="91440" bIns="45720" numCol="1" anchor="t" anchorCtr="0" compatLnSpc="1">
                  <a:normAutofit/>
                </a:bodyPr>
                <a:lstStyle/>
                <a:p>
                  <a:endParaRPr lang="zh-CN" altLang="en-US">
                    <a:sym typeface="Arial" panose="020B0604020202020204" pitchFamily="34" charset="0"/>
                  </a:endParaRPr>
                </a:p>
              </p:txBody>
            </p:sp>
            <p:sp>
              <p:nvSpPr>
                <p:cNvPr id="59" name="Freeform 9"/>
                <p:cNvSpPr/>
                <p:nvPr>
                  <p:custDataLst>
                    <p:tags r:id="rId17"/>
                  </p:custDataLst>
                </p:nvPr>
              </p:nvSpPr>
              <p:spPr bwMode="auto">
                <a:xfrm>
                  <a:off x="4292600" y="1528763"/>
                  <a:ext cx="1803400" cy="2708275"/>
                </a:xfrm>
                <a:custGeom>
                  <a:avLst/>
                  <a:gdLst>
                    <a:gd name="T0" fmla="*/ 18940 w 18940"/>
                    <a:gd name="T1" fmla="*/ 18940 h 28411"/>
                    <a:gd name="T2" fmla="*/ 18940 w 18940"/>
                    <a:gd name="T3" fmla="*/ 0 h 28411"/>
                    <a:gd name="T4" fmla="*/ 0 w 18940"/>
                    <a:gd name="T5" fmla="*/ 18940 h 28411"/>
                    <a:gd name="T6" fmla="*/ 2537 w 18940"/>
                    <a:gd name="T7" fmla="*/ 28411 h 28411"/>
                    <a:gd name="T8" fmla="*/ 18940 w 18940"/>
                    <a:gd name="T9" fmla="*/ 18940 h 28411"/>
                  </a:gdLst>
                  <a:ahLst/>
                  <a:cxnLst>
                    <a:cxn ang="0">
                      <a:pos x="T0" y="T1"/>
                    </a:cxn>
                    <a:cxn ang="0">
                      <a:pos x="T2" y="T3"/>
                    </a:cxn>
                    <a:cxn ang="0">
                      <a:pos x="T4" y="T5"/>
                    </a:cxn>
                    <a:cxn ang="0">
                      <a:pos x="T6" y="T7"/>
                    </a:cxn>
                    <a:cxn ang="0">
                      <a:pos x="T8" y="T9"/>
                    </a:cxn>
                  </a:cxnLst>
                  <a:rect l="0" t="0" r="r" b="b"/>
                  <a:pathLst>
                    <a:path w="18940" h="28411">
                      <a:moveTo>
                        <a:pt x="18940" y="18940"/>
                      </a:moveTo>
                      <a:lnTo>
                        <a:pt x="18940" y="0"/>
                      </a:lnTo>
                      <a:cubicBezTo>
                        <a:pt x="8480" y="0"/>
                        <a:pt x="0" y="8480"/>
                        <a:pt x="0" y="18940"/>
                      </a:cubicBezTo>
                      <a:cubicBezTo>
                        <a:pt x="0" y="22265"/>
                        <a:pt x="875" y="25531"/>
                        <a:pt x="2537" y="28411"/>
                      </a:cubicBezTo>
                      <a:lnTo>
                        <a:pt x="18940" y="18940"/>
                      </a:lnTo>
                      <a:close/>
                    </a:path>
                  </a:pathLst>
                </a:custGeom>
                <a:solidFill>
                  <a:schemeClr val="accent3">
                    <a:lumMod val="60000"/>
                    <a:lumOff val="40000"/>
                  </a:schemeClr>
                </a:solidFill>
                <a:ln w="0">
                  <a:noFill/>
                  <a:prstDash val="solid"/>
                  <a:round/>
                </a:ln>
              </p:spPr>
              <p:txBody>
                <a:bodyPr vert="horz" wrap="square" lIns="91440" tIns="45720" rIns="91440" bIns="45720" numCol="1" anchor="t" anchorCtr="0" compatLnSpc="1">
                  <a:normAutofit/>
                </a:bodyPr>
                <a:lstStyle/>
                <a:p>
                  <a:endParaRPr lang="zh-CN" altLang="en-US">
                    <a:sym typeface="Arial" panose="020B0604020202020204" pitchFamily="34" charset="0"/>
                  </a:endParaRPr>
                </a:p>
              </p:txBody>
            </p:sp>
          </p:grpSp>
          <p:grpSp>
            <p:nvGrpSpPr>
              <p:cNvPr id="60" name="组合 59"/>
              <p:cNvGrpSpPr/>
              <p:nvPr/>
            </p:nvGrpSpPr>
            <p:grpSpPr>
              <a:xfrm>
                <a:off x="7117751" y="2851667"/>
                <a:ext cx="642223" cy="844731"/>
                <a:chOff x="7269873" y="3048000"/>
                <a:chExt cx="484632" cy="637448"/>
              </a:xfrm>
            </p:grpSpPr>
            <p:sp>
              <p:nvSpPr>
                <p:cNvPr id="61" name="任意多边形 60"/>
                <p:cNvSpPr/>
                <p:nvPr>
                  <p:custDataLst>
                    <p:tags r:id="rId13"/>
                  </p:custDataLst>
                </p:nvPr>
              </p:nvSpPr>
              <p:spPr>
                <a:xfrm>
                  <a:off x="7269873" y="3048000"/>
                  <a:ext cx="484632" cy="637448"/>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Lst>
                  <a:ahLst/>
                  <a:cxnLst>
                    <a:cxn ang="0">
                      <a:pos x="connsiteX0-393" y="connsiteY0-394"/>
                    </a:cxn>
                    <a:cxn ang="0">
                      <a:pos x="connsiteX1-395" y="connsiteY1-396"/>
                    </a:cxn>
                    <a:cxn ang="0">
                      <a:pos x="connsiteX2-397" y="connsiteY2-398"/>
                    </a:cxn>
                    <a:cxn ang="0">
                      <a:pos x="connsiteX3-399" y="connsiteY3-400"/>
                    </a:cxn>
                    <a:cxn ang="0">
                      <a:pos x="connsiteX4-401" y="connsiteY4-402"/>
                    </a:cxn>
                    <a:cxn ang="0">
                      <a:pos x="connsiteX5-403" y="connsiteY5-404"/>
                    </a:cxn>
                    <a:cxn ang="0">
                      <a:pos x="connsiteX6-405" y="connsiteY6-406"/>
                    </a:cxn>
                    <a:cxn ang="0">
                      <a:pos x="connsiteX7-407" y="connsiteY7-408"/>
                    </a:cxn>
                    <a:cxn ang="0">
                      <a:pos x="connsiteX8-409" y="connsiteY8-410"/>
                    </a:cxn>
                    <a:cxn ang="0">
                      <a:pos x="connsiteX9-411" y="connsiteY9-412"/>
                    </a:cxn>
                    <a:cxn ang="0">
                      <a:pos x="connsiteX10-413" y="connsiteY10-414"/>
                    </a:cxn>
                    <a:cxn ang="0">
                      <a:pos x="connsiteX11-415" y="connsiteY11-416"/>
                    </a:cxn>
                    <a:cxn ang="0">
                      <a:pos x="connsiteX12-417" y="connsiteY12-418"/>
                    </a:cxn>
                  </a:cxnLst>
                  <a:rect l="l" t="t" r="r" b="b"/>
                  <a:pathLst>
                    <a:path w="484632" h="637448">
                      <a:moveTo>
                        <a:pt x="87784" y="6350"/>
                      </a:moveTo>
                      <a:lnTo>
                        <a:pt x="273387" y="0"/>
                      </a:lnTo>
                      <a:lnTo>
                        <a:pt x="305833" y="23560"/>
                      </a:lnTo>
                      <a:cubicBezTo>
                        <a:pt x="320733" y="62310"/>
                        <a:pt x="327369" y="91832"/>
                        <a:pt x="337423" y="120650"/>
                      </a:cubicBezTo>
                      <a:cubicBezTo>
                        <a:pt x="343746" y="167523"/>
                        <a:pt x="345781" y="246353"/>
                        <a:pt x="350123" y="292100"/>
                      </a:cubicBezTo>
                      <a:cubicBezTo>
                        <a:pt x="354465" y="337847"/>
                        <a:pt x="339997" y="380077"/>
                        <a:pt x="363474" y="395132"/>
                      </a:cubicBezTo>
                      <a:lnTo>
                        <a:pt x="484632" y="395132"/>
                      </a:lnTo>
                      <a:lnTo>
                        <a:pt x="242316" y="637448"/>
                      </a:lnTo>
                      <a:lnTo>
                        <a:pt x="0" y="395132"/>
                      </a:lnTo>
                      <a:lnTo>
                        <a:pt x="121158" y="395132"/>
                      </a:lnTo>
                      <a:cubicBezTo>
                        <a:pt x="130828" y="357852"/>
                        <a:pt x="141570" y="242067"/>
                        <a:pt x="128666" y="165100"/>
                      </a:cubicBezTo>
                      <a:cubicBezTo>
                        <a:pt x="118643" y="119472"/>
                        <a:pt x="112573" y="101136"/>
                        <a:pt x="106091" y="62893"/>
                      </a:cubicBezTo>
                      <a:lnTo>
                        <a:pt x="87784" y="6350"/>
                      </a:lnTo>
                      <a:close/>
                    </a:path>
                  </a:pathLst>
                </a:custGeom>
                <a:solidFill>
                  <a:srgbClr val="A4C47E"/>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sp>
              <p:nvSpPr>
                <p:cNvPr id="62" name="任意多边形 61"/>
                <p:cNvSpPr/>
                <p:nvPr>
                  <p:custDataLst>
                    <p:tags r:id="rId14"/>
                  </p:custDataLst>
                </p:nvPr>
              </p:nvSpPr>
              <p:spPr>
                <a:xfrm>
                  <a:off x="7269877" y="3048000"/>
                  <a:ext cx="249630" cy="637448"/>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53000">
                      <a:srgbClr val="A4C47E">
                        <a:lumMod val="75000"/>
                      </a:srgbClr>
                    </a:gs>
                    <a:gs pos="0">
                      <a:srgbClr val="A4C47E">
                        <a:lumMod val="75000"/>
                        <a:alpha val="0"/>
                      </a:srgbClr>
                    </a:gs>
                    <a:gs pos="100000">
                      <a:srgbClr val="A4C47E">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grpSp>
          <p:grpSp>
            <p:nvGrpSpPr>
              <p:cNvPr id="63" name="组合 62"/>
              <p:cNvGrpSpPr/>
              <p:nvPr/>
            </p:nvGrpSpPr>
            <p:grpSpPr>
              <a:xfrm rot="7200000">
                <a:off x="5228836" y="4295958"/>
                <a:ext cx="642222" cy="844731"/>
                <a:chOff x="7237791" y="3049926"/>
                <a:chExt cx="484632" cy="637448"/>
              </a:xfrm>
            </p:grpSpPr>
            <p:sp>
              <p:nvSpPr>
                <p:cNvPr id="72" name="任意多边形 71"/>
                <p:cNvSpPr/>
                <p:nvPr>
                  <p:custDataLst>
                    <p:tags r:id="rId11"/>
                  </p:custDataLst>
                </p:nvPr>
              </p:nvSpPr>
              <p:spPr>
                <a:xfrm>
                  <a:off x="7237791" y="3049926"/>
                  <a:ext cx="484632" cy="637448"/>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Lst>
                  <a:ahLst/>
                  <a:cxnLst>
                    <a:cxn ang="0">
                      <a:pos x="connsiteX0-393" y="connsiteY0-394"/>
                    </a:cxn>
                    <a:cxn ang="0">
                      <a:pos x="connsiteX1-395" y="connsiteY1-396"/>
                    </a:cxn>
                    <a:cxn ang="0">
                      <a:pos x="connsiteX2-397" y="connsiteY2-398"/>
                    </a:cxn>
                    <a:cxn ang="0">
                      <a:pos x="connsiteX3-399" y="connsiteY3-400"/>
                    </a:cxn>
                    <a:cxn ang="0">
                      <a:pos x="connsiteX4-401" y="connsiteY4-402"/>
                    </a:cxn>
                    <a:cxn ang="0">
                      <a:pos x="connsiteX5-403" y="connsiteY5-404"/>
                    </a:cxn>
                    <a:cxn ang="0">
                      <a:pos x="connsiteX6-405" y="connsiteY6-406"/>
                    </a:cxn>
                    <a:cxn ang="0">
                      <a:pos x="connsiteX7-407" y="connsiteY7-408"/>
                    </a:cxn>
                    <a:cxn ang="0">
                      <a:pos x="connsiteX8-409" y="connsiteY8-410"/>
                    </a:cxn>
                    <a:cxn ang="0">
                      <a:pos x="connsiteX9-411" y="connsiteY9-412"/>
                    </a:cxn>
                    <a:cxn ang="0">
                      <a:pos x="connsiteX10-413" y="connsiteY10-414"/>
                    </a:cxn>
                    <a:cxn ang="0">
                      <a:pos x="connsiteX11-415" y="connsiteY11-416"/>
                    </a:cxn>
                    <a:cxn ang="0">
                      <a:pos x="connsiteX12-417" y="connsiteY12-418"/>
                    </a:cxn>
                  </a:cxnLst>
                  <a:rect l="l" t="t" r="r" b="b"/>
                  <a:pathLst>
                    <a:path w="484632" h="637448">
                      <a:moveTo>
                        <a:pt x="87784" y="6350"/>
                      </a:moveTo>
                      <a:lnTo>
                        <a:pt x="273387" y="0"/>
                      </a:lnTo>
                      <a:lnTo>
                        <a:pt x="305833" y="23560"/>
                      </a:lnTo>
                      <a:cubicBezTo>
                        <a:pt x="320733" y="62310"/>
                        <a:pt x="327369" y="91832"/>
                        <a:pt x="337423" y="120650"/>
                      </a:cubicBezTo>
                      <a:cubicBezTo>
                        <a:pt x="343746" y="167523"/>
                        <a:pt x="345781" y="246353"/>
                        <a:pt x="350123" y="292100"/>
                      </a:cubicBezTo>
                      <a:cubicBezTo>
                        <a:pt x="354465" y="337847"/>
                        <a:pt x="339997" y="380077"/>
                        <a:pt x="363474" y="395132"/>
                      </a:cubicBezTo>
                      <a:lnTo>
                        <a:pt x="484632" y="395132"/>
                      </a:lnTo>
                      <a:lnTo>
                        <a:pt x="242316" y="637448"/>
                      </a:lnTo>
                      <a:lnTo>
                        <a:pt x="0" y="395132"/>
                      </a:lnTo>
                      <a:lnTo>
                        <a:pt x="121158" y="395132"/>
                      </a:lnTo>
                      <a:cubicBezTo>
                        <a:pt x="130828" y="357852"/>
                        <a:pt x="141570" y="242067"/>
                        <a:pt x="128666" y="165100"/>
                      </a:cubicBezTo>
                      <a:cubicBezTo>
                        <a:pt x="118643" y="119472"/>
                        <a:pt x="112573" y="101136"/>
                        <a:pt x="106091" y="62893"/>
                      </a:cubicBezTo>
                      <a:lnTo>
                        <a:pt x="87784" y="6350"/>
                      </a:lnTo>
                      <a:close/>
                    </a:path>
                  </a:pathLst>
                </a:custGeom>
                <a:solidFill>
                  <a:srgbClr val="4D91BF"/>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sp>
              <p:nvSpPr>
                <p:cNvPr id="73" name="任意多边形 72"/>
                <p:cNvSpPr/>
                <p:nvPr>
                  <p:custDataLst>
                    <p:tags r:id="rId12"/>
                  </p:custDataLst>
                </p:nvPr>
              </p:nvSpPr>
              <p:spPr>
                <a:xfrm>
                  <a:off x="7237791" y="3049926"/>
                  <a:ext cx="249630" cy="637448"/>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61000">
                      <a:srgbClr val="4D91BF">
                        <a:lumMod val="75000"/>
                      </a:srgbClr>
                    </a:gs>
                    <a:gs pos="29000">
                      <a:srgbClr val="4D91BF">
                        <a:lumMod val="75000"/>
                        <a:alpha val="31000"/>
                      </a:srgbClr>
                    </a:gs>
                    <a:gs pos="0">
                      <a:srgbClr val="4D91BF">
                        <a:lumMod val="75000"/>
                        <a:alpha val="0"/>
                      </a:srgbClr>
                    </a:gs>
                    <a:gs pos="100000">
                      <a:srgbClr val="4D91BF">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grpSp>
          <p:grpSp>
            <p:nvGrpSpPr>
              <p:cNvPr id="74" name="组合 73"/>
              <p:cNvGrpSpPr/>
              <p:nvPr/>
            </p:nvGrpSpPr>
            <p:grpSpPr>
              <a:xfrm rot="14400000">
                <a:off x="4930608" y="1940029"/>
                <a:ext cx="642223" cy="844731"/>
                <a:chOff x="7269877" y="3048000"/>
                <a:chExt cx="484632" cy="637448"/>
              </a:xfrm>
            </p:grpSpPr>
            <p:sp>
              <p:nvSpPr>
                <p:cNvPr id="75" name="任意多边形 74"/>
                <p:cNvSpPr/>
                <p:nvPr>
                  <p:custDataLst>
                    <p:tags r:id="rId9"/>
                  </p:custDataLst>
                </p:nvPr>
              </p:nvSpPr>
              <p:spPr>
                <a:xfrm>
                  <a:off x="7269877" y="3048000"/>
                  <a:ext cx="484632" cy="637448"/>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Lst>
                  <a:ahLst/>
                  <a:cxnLst>
                    <a:cxn ang="0">
                      <a:pos x="connsiteX0-393" y="connsiteY0-394"/>
                    </a:cxn>
                    <a:cxn ang="0">
                      <a:pos x="connsiteX1-395" y="connsiteY1-396"/>
                    </a:cxn>
                    <a:cxn ang="0">
                      <a:pos x="connsiteX2-397" y="connsiteY2-398"/>
                    </a:cxn>
                    <a:cxn ang="0">
                      <a:pos x="connsiteX3-399" y="connsiteY3-400"/>
                    </a:cxn>
                    <a:cxn ang="0">
                      <a:pos x="connsiteX4-401" y="connsiteY4-402"/>
                    </a:cxn>
                    <a:cxn ang="0">
                      <a:pos x="connsiteX5-403" y="connsiteY5-404"/>
                    </a:cxn>
                    <a:cxn ang="0">
                      <a:pos x="connsiteX6-405" y="connsiteY6-406"/>
                    </a:cxn>
                    <a:cxn ang="0">
                      <a:pos x="connsiteX7-407" y="connsiteY7-408"/>
                    </a:cxn>
                    <a:cxn ang="0">
                      <a:pos x="connsiteX8-409" y="connsiteY8-410"/>
                    </a:cxn>
                    <a:cxn ang="0">
                      <a:pos x="connsiteX9-411" y="connsiteY9-412"/>
                    </a:cxn>
                    <a:cxn ang="0">
                      <a:pos x="connsiteX10-413" y="connsiteY10-414"/>
                    </a:cxn>
                    <a:cxn ang="0">
                      <a:pos x="connsiteX11-415" y="connsiteY11-416"/>
                    </a:cxn>
                    <a:cxn ang="0">
                      <a:pos x="connsiteX12-417" y="connsiteY12-418"/>
                    </a:cxn>
                  </a:cxnLst>
                  <a:rect l="l" t="t" r="r" b="b"/>
                  <a:pathLst>
                    <a:path w="484632" h="637448">
                      <a:moveTo>
                        <a:pt x="87784" y="6350"/>
                      </a:moveTo>
                      <a:lnTo>
                        <a:pt x="273387" y="0"/>
                      </a:lnTo>
                      <a:lnTo>
                        <a:pt x="305833" y="23560"/>
                      </a:lnTo>
                      <a:cubicBezTo>
                        <a:pt x="320733" y="62310"/>
                        <a:pt x="327369" y="91832"/>
                        <a:pt x="337423" y="120650"/>
                      </a:cubicBezTo>
                      <a:cubicBezTo>
                        <a:pt x="343746" y="167523"/>
                        <a:pt x="345781" y="246353"/>
                        <a:pt x="350123" y="292100"/>
                      </a:cubicBezTo>
                      <a:cubicBezTo>
                        <a:pt x="354465" y="337847"/>
                        <a:pt x="339997" y="380077"/>
                        <a:pt x="363474" y="395132"/>
                      </a:cubicBezTo>
                      <a:lnTo>
                        <a:pt x="484632" y="395132"/>
                      </a:lnTo>
                      <a:lnTo>
                        <a:pt x="242316" y="637448"/>
                      </a:lnTo>
                      <a:lnTo>
                        <a:pt x="0" y="395132"/>
                      </a:lnTo>
                      <a:lnTo>
                        <a:pt x="121158" y="395132"/>
                      </a:lnTo>
                      <a:cubicBezTo>
                        <a:pt x="130828" y="357852"/>
                        <a:pt x="141570" y="242067"/>
                        <a:pt x="128666" y="165100"/>
                      </a:cubicBezTo>
                      <a:cubicBezTo>
                        <a:pt x="118643" y="119472"/>
                        <a:pt x="112573" y="101136"/>
                        <a:pt x="106091" y="62893"/>
                      </a:cubicBezTo>
                      <a:lnTo>
                        <a:pt x="87784" y="6350"/>
                      </a:lnTo>
                      <a:close/>
                    </a:path>
                  </a:pathLst>
                </a:custGeom>
                <a:solidFill>
                  <a:srgbClr val="0FA1AB"/>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sp>
              <p:nvSpPr>
                <p:cNvPr id="76" name="任意多边形 75"/>
                <p:cNvSpPr/>
                <p:nvPr>
                  <p:custDataLst>
                    <p:tags r:id="rId10"/>
                  </p:custDataLst>
                </p:nvPr>
              </p:nvSpPr>
              <p:spPr>
                <a:xfrm>
                  <a:off x="7269877" y="3048000"/>
                  <a:ext cx="249630" cy="637448"/>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61000">
                      <a:srgbClr val="0FA1AB">
                        <a:lumMod val="75000"/>
                      </a:srgbClr>
                    </a:gs>
                    <a:gs pos="29000">
                      <a:srgbClr val="0FA1AB">
                        <a:lumMod val="75000"/>
                        <a:alpha val="22000"/>
                      </a:srgbClr>
                    </a:gs>
                    <a:gs pos="0">
                      <a:srgbClr val="0FA1AB">
                        <a:lumMod val="75000"/>
                        <a:alpha val="0"/>
                      </a:srgbClr>
                    </a:gs>
                    <a:gs pos="100000">
                      <a:srgbClr val="0FA1AB">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grpSp>
        </p:grpSp>
        <p:sp>
          <p:nvSpPr>
            <p:cNvPr id="79" name="文本框 78"/>
            <p:cNvSpPr txBox="1"/>
            <p:nvPr>
              <p:custDataLst>
                <p:tags r:id="rId6"/>
              </p:custDataLst>
            </p:nvPr>
          </p:nvSpPr>
          <p:spPr>
            <a:xfrm>
              <a:off x="7618" y="5881"/>
              <a:ext cx="722" cy="921"/>
            </a:xfrm>
            <a:prstGeom prst="rect">
              <a:avLst/>
            </a:prstGeom>
            <a:noFill/>
          </p:spPr>
          <p:txBody>
            <a:bodyPr wrap="none" rtlCol="0">
              <a:normAutofit/>
            </a:bodyPr>
            <a:lstStyle/>
            <a:p>
              <a:r>
                <a:rPr lang="en-US" altLang="zh-CN" sz="3200" dirty="0">
                  <a:sym typeface="Arial" panose="020B0604020202020204" pitchFamily="34" charset="0"/>
                </a:rPr>
                <a:t>1</a:t>
              </a:r>
              <a:endParaRPr lang="zh-CN" altLang="en-US" sz="3200" dirty="0">
                <a:sym typeface="Arial" panose="020B0604020202020204" pitchFamily="34" charset="0"/>
              </a:endParaRPr>
            </a:p>
          </p:txBody>
        </p:sp>
        <p:sp>
          <p:nvSpPr>
            <p:cNvPr id="80" name="文本框 79"/>
            <p:cNvSpPr txBox="1"/>
            <p:nvPr>
              <p:custDataLst>
                <p:tags r:id="rId7"/>
              </p:custDataLst>
            </p:nvPr>
          </p:nvSpPr>
          <p:spPr>
            <a:xfrm>
              <a:off x="9799" y="7191"/>
              <a:ext cx="758" cy="921"/>
            </a:xfrm>
            <a:prstGeom prst="rect">
              <a:avLst/>
            </a:prstGeom>
            <a:noFill/>
          </p:spPr>
          <p:txBody>
            <a:bodyPr wrap="none" rtlCol="0">
              <a:normAutofit/>
            </a:bodyPr>
            <a:lstStyle/>
            <a:p>
              <a:r>
                <a:rPr lang="en-US" altLang="zh-CN" sz="3200" dirty="0">
                  <a:sym typeface="Arial" panose="020B0604020202020204" pitchFamily="34" charset="0"/>
                </a:rPr>
                <a:t>3</a:t>
              </a:r>
              <a:endParaRPr lang="zh-CN" altLang="en-US" sz="3200" dirty="0">
                <a:sym typeface="Arial" panose="020B0604020202020204" pitchFamily="34" charset="0"/>
              </a:endParaRPr>
            </a:p>
          </p:txBody>
        </p:sp>
        <p:sp>
          <p:nvSpPr>
            <p:cNvPr id="81" name="文本框 80"/>
            <p:cNvSpPr txBox="1"/>
            <p:nvPr>
              <p:custDataLst>
                <p:tags r:id="rId8"/>
              </p:custDataLst>
            </p:nvPr>
          </p:nvSpPr>
          <p:spPr>
            <a:xfrm>
              <a:off x="9721" y="4618"/>
              <a:ext cx="722" cy="921"/>
            </a:xfrm>
            <a:prstGeom prst="rect">
              <a:avLst/>
            </a:prstGeom>
            <a:noFill/>
          </p:spPr>
          <p:txBody>
            <a:bodyPr wrap="none" rtlCol="0">
              <a:normAutofit/>
            </a:bodyPr>
            <a:lstStyle/>
            <a:p>
              <a:r>
                <a:rPr lang="en-US" altLang="zh-CN" sz="3200" dirty="0">
                  <a:sym typeface="Arial" panose="020B0604020202020204" pitchFamily="34" charset="0"/>
                </a:rPr>
                <a:t>2</a:t>
              </a:r>
              <a:endParaRPr lang="zh-CN" altLang="en-US" sz="3200" dirty="0">
                <a:sym typeface="Arial" panose="020B0604020202020204" pitchFamily="34" charset="0"/>
              </a:endParaRPr>
            </a:p>
          </p:txBody>
        </p:sp>
      </p:grpSp>
      <p:sp>
        <p:nvSpPr>
          <p:cNvPr id="25" name="矩形 24"/>
          <p:cNvSpPr/>
          <p:nvPr/>
        </p:nvSpPr>
        <p:spPr>
          <a:xfrm>
            <a:off x="1081430" y="2288990"/>
            <a:ext cx="2978701" cy="369332"/>
          </a:xfrm>
          <a:prstGeom prst="rect">
            <a:avLst/>
          </a:prstGeom>
        </p:spPr>
        <p:txBody>
          <a:bodyPr wrap="none">
            <a:spAutoFit/>
          </a:bodyPr>
          <a:lstStyle/>
          <a:p>
            <a:r>
              <a:rPr lang="en-US" b="1" dirty="0"/>
              <a:t>JavaScript</a:t>
            </a:r>
            <a:r>
              <a:rPr lang="zh-CN" altLang="en-US" b="1" dirty="0"/>
              <a:t>的作用主要有：</a:t>
            </a:r>
          </a:p>
        </p:txBody>
      </p:sp>
    </p:spTree>
    <p:custDataLst>
      <p:tags r:id="rId1"/>
    </p:custDataLst>
  </p:cSld>
  <p:clrMapOvr>
    <a:masterClrMapping/>
  </p:clrMapOvr>
  <p:transition>
    <p:split orient="vert"/>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8.3.3 Applet</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464820" y="2463800"/>
            <a:ext cx="8338185" cy="2953181"/>
          </a:xfrm>
          <a:prstGeom prst="rect">
            <a:avLst/>
          </a:prstGeom>
        </p:spPr>
        <p:txBody>
          <a:bodyPr wrap="square">
            <a:spAutoFit/>
          </a:bodyPr>
          <a:lstStyle/>
          <a:p>
            <a:pPr indent="457200">
              <a:lnSpc>
                <a:spcPct val="150000"/>
              </a:lnSpc>
              <a:defRPr/>
            </a:pPr>
            <a:r>
              <a:rPr lang="en-US" altLang="zh-CN" dirty="0"/>
              <a:t>Applet</a:t>
            </a:r>
            <a:r>
              <a:rPr lang="zh-CN" altLang="en-US" dirty="0"/>
              <a:t>就是用</a:t>
            </a:r>
            <a:r>
              <a:rPr lang="en-US" altLang="zh-CN" dirty="0"/>
              <a:t>Java</a:t>
            </a:r>
            <a:r>
              <a:rPr lang="zh-CN" altLang="en-US" dirty="0"/>
              <a:t>语言编写的一些应用程序，它们可以直接嵌入到网页中，并能够产生特殊的效果。当用户访问带有</a:t>
            </a:r>
            <a:r>
              <a:rPr lang="en-US" altLang="zh-CN" dirty="0"/>
              <a:t>Applet</a:t>
            </a:r>
            <a:r>
              <a:rPr lang="zh-CN" altLang="en-US" dirty="0"/>
              <a:t>的网页时，</a:t>
            </a:r>
            <a:r>
              <a:rPr lang="en-US" altLang="zh-CN" dirty="0"/>
              <a:t>Applet</a:t>
            </a:r>
            <a:r>
              <a:rPr lang="zh-CN" altLang="en-US" dirty="0"/>
              <a:t>被下载到用户计算机上执行，但前提是用户使用的是支持</a:t>
            </a:r>
            <a:r>
              <a:rPr lang="en-US" altLang="zh-CN" dirty="0"/>
              <a:t>Java</a:t>
            </a:r>
            <a:r>
              <a:rPr lang="zh-CN" altLang="en-US" dirty="0"/>
              <a:t>的网络浏览器。</a:t>
            </a:r>
          </a:p>
          <a:p>
            <a:pPr indent="457200">
              <a:lnSpc>
                <a:spcPct val="150000"/>
              </a:lnSpc>
              <a:defRPr/>
            </a:pPr>
            <a:r>
              <a:rPr lang="zh-CN" altLang="en-US" dirty="0"/>
              <a:t>由于</a:t>
            </a:r>
            <a:r>
              <a:rPr lang="en-US" altLang="zh-CN" dirty="0"/>
              <a:t>Applet</a:t>
            </a:r>
            <a:r>
              <a:rPr lang="zh-CN" altLang="en-US" dirty="0"/>
              <a:t>是在用户计算机上执行的，因此它的执行速度不受网络带宽或</a:t>
            </a:r>
            <a:r>
              <a:rPr lang="en-US" altLang="zh-CN" dirty="0"/>
              <a:t>MODEM</a:t>
            </a:r>
            <a:r>
              <a:rPr lang="zh-CN" altLang="en-US" dirty="0"/>
              <a:t>存取速度的限制，用户可以更好地欣赏网页上</a:t>
            </a:r>
            <a:r>
              <a:rPr lang="en-US" altLang="zh-CN" dirty="0"/>
              <a:t>Applet</a:t>
            </a:r>
            <a:r>
              <a:rPr lang="zh-CN" altLang="en-US" dirty="0"/>
              <a:t>产生的多媒体效果。在</a:t>
            </a:r>
            <a:r>
              <a:rPr lang="en-US" altLang="zh-CN" dirty="0"/>
              <a:t>Java Applet</a:t>
            </a:r>
            <a:r>
              <a:rPr lang="zh-CN" altLang="en-US" dirty="0"/>
              <a:t>中，可以实现图形绘制、字体和颜色控制、动画和声音的插入、人机交互及网络交流等功能。</a:t>
            </a:r>
            <a:endParaRPr lang="en-US" altLang="zh-CN" dirty="0"/>
          </a:p>
        </p:txBody>
      </p:sp>
      <p:pic>
        <p:nvPicPr>
          <p:cNvPr id="3" name="图片 2" descr="timg (4)"/>
          <p:cNvPicPr>
            <a:picLocks noChangeAspect="1"/>
          </p:cNvPicPr>
          <p:nvPr/>
        </p:nvPicPr>
        <p:blipFill>
          <a:blip r:embed="rId4" cstate="print">
            <a:clrChange>
              <a:clrFrom>
                <a:srgbClr val="FFFFFF"/>
              </a:clrFrom>
              <a:clrTo>
                <a:srgbClr val="FFFFFF">
                  <a:alpha val="0"/>
                </a:srgbClr>
              </a:clrTo>
            </a:clrChange>
          </a:blip>
          <a:srcRect b="2742"/>
          <a:stretch>
            <a:fillRect/>
          </a:stretch>
        </p:blipFill>
        <p:spPr>
          <a:xfrm>
            <a:off x="8224761" y="1869744"/>
            <a:ext cx="3967239" cy="3631271"/>
          </a:xfrm>
          <a:prstGeom prst="rect">
            <a:avLst/>
          </a:prstGeom>
        </p:spPr>
      </p:pic>
    </p:spTree>
    <p:custDataLst>
      <p:tags r:id="rId1"/>
    </p:custDataLst>
  </p:cSld>
  <p:clrMapOvr>
    <a:masterClrMapping/>
  </p:clrMapOvr>
  <p:transition>
    <p:split orient="vert"/>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8.3.4 AJAX</a:t>
            </a:r>
          </a:p>
        </p:txBody>
      </p:sp>
      <p:grpSp>
        <p:nvGrpSpPr>
          <p:cNvPr id="3" name="组合 2"/>
          <p:cNvGrpSpPr/>
          <p:nvPr/>
        </p:nvGrpSpPr>
        <p:grpSpPr>
          <a:xfrm>
            <a:off x="488950" y="2092600"/>
            <a:ext cx="11214100" cy="4335145"/>
            <a:chOff x="3984" y="2467"/>
            <a:chExt cx="17660" cy="6827"/>
          </a:xfrm>
        </p:grpSpPr>
        <p:sp>
          <p:nvSpPr>
            <p:cNvPr id="28" name="Oval 15"/>
            <p:cNvSpPr>
              <a:spLocks noChangeArrowheads="1"/>
            </p:cNvSpPr>
            <p:nvPr>
              <p:custDataLst>
                <p:tags r:id="rId2"/>
              </p:custDataLst>
            </p:nvPr>
          </p:nvSpPr>
          <p:spPr bwMode="auto">
            <a:xfrm>
              <a:off x="4256" y="3411"/>
              <a:ext cx="4966" cy="5012"/>
            </a:xfrm>
            <a:prstGeom prst="ellipse">
              <a:avLst/>
            </a:prstGeom>
            <a:noFill/>
            <a:ln w="19050">
              <a:solidFill>
                <a:schemeClr val="accent1">
                  <a:alpha val="50000"/>
                </a:schemeClr>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 name="Line 16"/>
            <p:cNvSpPr>
              <a:spLocks noChangeShapeType="1"/>
            </p:cNvSpPr>
            <p:nvPr>
              <p:custDataLst>
                <p:tags r:id="rId3"/>
              </p:custDataLst>
            </p:nvPr>
          </p:nvSpPr>
          <p:spPr bwMode="gray">
            <a:xfrm>
              <a:off x="3984" y="5928"/>
              <a:ext cx="5486" cy="0"/>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2" name="Line 17"/>
            <p:cNvSpPr>
              <a:spLocks noChangeShapeType="1"/>
            </p:cNvSpPr>
            <p:nvPr>
              <p:custDataLst>
                <p:tags r:id="rId4"/>
              </p:custDataLst>
            </p:nvPr>
          </p:nvSpPr>
          <p:spPr bwMode="gray">
            <a:xfrm>
              <a:off x="6727" y="3040"/>
              <a:ext cx="0" cy="5770"/>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6" name="Oval 10"/>
            <p:cNvSpPr>
              <a:spLocks noChangeArrowheads="1"/>
            </p:cNvSpPr>
            <p:nvPr>
              <p:custDataLst>
                <p:tags r:id="rId5"/>
              </p:custDataLst>
            </p:nvPr>
          </p:nvSpPr>
          <p:spPr bwMode="gray">
            <a:xfrm>
              <a:off x="4528" y="3695"/>
              <a:ext cx="4393" cy="4427"/>
            </a:xfrm>
            <a:prstGeom prst="ellipse">
              <a:avLst/>
            </a:prstGeom>
            <a:noFill/>
            <a:ln w="9525">
              <a:solidFill>
                <a:schemeClr val="accent1">
                  <a:alpha val="50000"/>
                </a:schemeClr>
              </a:solidFill>
              <a:round/>
            </a:ln>
            <a:effectLst/>
            <a:extLst>
              <a:ext uri="{909E8E84-426E-40DD-AFC4-6F175D3DCCD1}">
                <a14:hiddenFill xmlns:a14="http://schemas.microsoft.com/office/drawing/2010/main">
                  <a:solidFill>
                    <a:schemeClr val="accent1">
                      <a:alpha val="64999"/>
                    </a:scheme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6"/>
              </p:custDataLst>
            </p:nvPr>
          </p:nvSpPr>
          <p:spPr bwMode="gray">
            <a:xfrm>
              <a:off x="5030" y="4226"/>
              <a:ext cx="3366" cy="3436"/>
            </a:xfrm>
            <a:prstGeom prst="ellipse">
              <a:avLst/>
            </a:prstGeom>
            <a:solidFill>
              <a:schemeClr val="accent1">
                <a:lumMod val="60000"/>
                <a:lumOff val="40000"/>
              </a:scheme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41" name="KSO_GT1"/>
            <p:cNvSpPr>
              <a:spLocks noChangeArrowheads="1"/>
            </p:cNvSpPr>
            <p:nvPr>
              <p:custDataLst>
                <p:tags r:id="rId7"/>
              </p:custDataLst>
            </p:nvPr>
          </p:nvSpPr>
          <p:spPr bwMode="gray">
            <a:xfrm>
              <a:off x="5636" y="4844"/>
              <a:ext cx="2155" cy="2201"/>
            </a:xfrm>
            <a:prstGeom prst="ellipse">
              <a:avLst/>
            </a:prstGeom>
            <a:solidFill>
              <a:schemeClr val="accent1"/>
            </a:solidFill>
            <a:ln>
              <a:noFill/>
            </a:ln>
            <a:effectLst/>
          </p:spPr>
          <p:txBody>
            <a:bodyPr wrap="square" lIns="0" tIns="0" rIns="0" bIns="0" anchor="ctr">
              <a:normAutofit/>
            </a:bodyPr>
            <a:lstStyle/>
            <a:p>
              <a:pPr algn="ctr">
                <a:defRPr/>
              </a:pPr>
              <a:r>
                <a:rPr lang="zh-CN" altLang="en-US" sz="2800" kern="0" dirty="0">
                  <a:solidFill>
                    <a:schemeClr val="bg1"/>
                  </a:solidFill>
                  <a:latin typeface="+mj-lt"/>
                  <a:ea typeface="+mj-ea"/>
                  <a:cs typeface="+mj-cs"/>
                </a:rPr>
                <a:t>AJAX</a:t>
              </a:r>
            </a:p>
          </p:txBody>
        </p:sp>
        <p:sp>
          <p:nvSpPr>
            <p:cNvPr id="43" name="Oval 19"/>
            <p:cNvSpPr>
              <a:spLocks noChangeArrowheads="1"/>
            </p:cNvSpPr>
            <p:nvPr>
              <p:custDataLst>
                <p:tags r:id="rId8"/>
              </p:custDataLst>
            </p:nvPr>
          </p:nvSpPr>
          <p:spPr bwMode="gray">
            <a:xfrm>
              <a:off x="7390" y="3326"/>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 name="文本框 4"/>
            <p:cNvSpPr txBox="1"/>
            <p:nvPr>
              <p:custDataLst>
                <p:tags r:id="rId9"/>
              </p:custDataLst>
            </p:nvPr>
          </p:nvSpPr>
          <p:spPr>
            <a:xfrm>
              <a:off x="8921" y="2467"/>
              <a:ext cx="12143" cy="2115"/>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1</a:t>
              </a:r>
              <a:r>
                <a:rPr lang="zh-CN" altLang="en-US" dirty="0"/>
                <a:t>）基于可扩展超文本标记语言（Extensible HyperText Markup Language，XHTML）和层叠样式表（Cascading Style Sheets，CSS）的Web标准页面开发技术；</a:t>
              </a:r>
            </a:p>
          </p:txBody>
        </p:sp>
        <p:sp>
          <p:nvSpPr>
            <p:cNvPr id="46" name="Oval 19"/>
            <p:cNvSpPr>
              <a:spLocks noChangeArrowheads="1"/>
            </p:cNvSpPr>
            <p:nvPr>
              <p:custDataLst>
                <p:tags r:id="rId10"/>
              </p:custDataLst>
            </p:nvPr>
          </p:nvSpPr>
          <p:spPr bwMode="gray">
            <a:xfrm>
              <a:off x="8468" y="4521"/>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1"/>
              </p:custDataLst>
            </p:nvPr>
          </p:nvSpPr>
          <p:spPr>
            <a:xfrm>
              <a:off x="9471" y="4478"/>
              <a:ext cx="12173" cy="995"/>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2</a:t>
              </a:r>
              <a:r>
                <a:rPr lang="zh-CN" altLang="en-US" dirty="0"/>
                <a:t>）文档对象模型（Document Object Model，DOM）动态显示及交互技术；</a:t>
              </a:r>
            </a:p>
          </p:txBody>
        </p:sp>
        <p:sp>
          <p:nvSpPr>
            <p:cNvPr id="49" name="Oval 19"/>
            <p:cNvSpPr>
              <a:spLocks noChangeArrowheads="1"/>
            </p:cNvSpPr>
            <p:nvPr>
              <p:custDataLst>
                <p:tags r:id="rId12"/>
              </p:custDataLst>
            </p:nvPr>
          </p:nvSpPr>
          <p:spPr bwMode="gray">
            <a:xfrm>
              <a:off x="9001" y="5725"/>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0" name="文本框 49"/>
            <p:cNvSpPr txBox="1"/>
            <p:nvPr>
              <p:custDataLst>
                <p:tags r:id="rId13"/>
              </p:custDataLst>
            </p:nvPr>
          </p:nvSpPr>
          <p:spPr>
            <a:xfrm>
              <a:off x="9946" y="5473"/>
              <a:ext cx="11698" cy="1487"/>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3</a:t>
              </a:r>
              <a:r>
                <a:rPr lang="zh-CN" altLang="en-US" dirty="0"/>
                <a:t>）扩展样式表转换语言（Extensible Stylesheet Language Transformations，XSLT）结构化数据技术；</a:t>
              </a:r>
            </a:p>
          </p:txBody>
        </p:sp>
        <p:sp>
          <p:nvSpPr>
            <p:cNvPr id="53" name="Oval 19"/>
            <p:cNvSpPr>
              <a:spLocks noChangeArrowheads="1"/>
            </p:cNvSpPr>
            <p:nvPr>
              <p:custDataLst>
                <p:tags r:id="rId14"/>
              </p:custDataLst>
            </p:nvPr>
          </p:nvSpPr>
          <p:spPr bwMode="gray">
            <a:xfrm>
              <a:off x="8468" y="6960"/>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4" name="文本框 53"/>
            <p:cNvSpPr txBox="1"/>
            <p:nvPr>
              <p:custDataLst>
                <p:tags r:id="rId15"/>
              </p:custDataLst>
            </p:nvPr>
          </p:nvSpPr>
          <p:spPr>
            <a:xfrm>
              <a:off x="9470" y="6960"/>
              <a:ext cx="11536" cy="1316"/>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4</a:t>
              </a:r>
              <a:r>
                <a:rPr lang="zh-CN" altLang="en-US" dirty="0"/>
                <a:t>）可扩展标记语言（Extensible Markup Language，XML）HttpRequest异步数据查询、检索技术；</a:t>
              </a:r>
            </a:p>
          </p:txBody>
        </p:sp>
        <p:sp>
          <p:nvSpPr>
            <p:cNvPr id="56" name="Oval 19"/>
            <p:cNvSpPr>
              <a:spLocks noChangeArrowheads="1"/>
            </p:cNvSpPr>
            <p:nvPr>
              <p:custDataLst>
                <p:tags r:id="rId16"/>
              </p:custDataLst>
            </p:nvPr>
          </p:nvSpPr>
          <p:spPr bwMode="gray">
            <a:xfrm>
              <a:off x="7393" y="8130"/>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7"/>
              </p:custDataLst>
            </p:nvPr>
          </p:nvSpPr>
          <p:spPr>
            <a:xfrm>
              <a:off x="8864" y="8526"/>
              <a:ext cx="12398" cy="768"/>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5</a:t>
              </a:r>
              <a:r>
                <a:rPr lang="zh-CN" altLang="en-US" dirty="0"/>
                <a:t>）直译式脚本语言JavaScript。</a:t>
              </a:r>
            </a:p>
          </p:txBody>
        </p:sp>
      </p:grpSp>
      <p:grpSp>
        <p:nvGrpSpPr>
          <p:cNvPr id="33" name="组合 32"/>
          <p:cNvGrpSpPr/>
          <p:nvPr/>
        </p:nvGrpSpPr>
        <p:grpSpPr>
          <a:xfrm>
            <a:off x="6482715" y="533992"/>
            <a:ext cx="5220335" cy="1149350"/>
            <a:chOff x="881" y="2735"/>
            <a:chExt cx="8221" cy="1810"/>
          </a:xfrm>
        </p:grpSpPr>
        <p:sp>
          <p:nvSpPr>
            <p:cNvPr id="167" name="圆角矩形"/>
            <p:cNvSpPr/>
            <p:nvPr/>
          </p:nvSpPr>
          <p:spPr>
            <a:xfrm>
              <a:off x="1188" y="3071"/>
              <a:ext cx="7914" cy="147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indent="457200" algn="just" eaLnBrk="1" fontAlgn="auto" hangingPunct="1">
                <a:spcBef>
                  <a:spcPts val="0"/>
                </a:spcBef>
                <a:spcAft>
                  <a:spcPts val="0"/>
                </a:spcAft>
                <a:defRPr/>
              </a:pPr>
              <a:r>
                <a:rPr lang="en-US" altLang="zh-CN" sz="1600" dirty="0">
                  <a:solidFill>
                    <a:schemeClr val="tx1"/>
                  </a:solidFill>
                </a:rPr>
                <a:t>AJAX</a:t>
              </a:r>
              <a:r>
                <a:rPr lang="zh-CN" altLang="en-US" sz="1600" dirty="0">
                  <a:solidFill>
                    <a:schemeClr val="tx1"/>
                  </a:solidFill>
                </a:rPr>
                <a:t>全称为“</a:t>
              </a:r>
              <a:r>
                <a:rPr lang="en-US" altLang="zh-CN" sz="1600" dirty="0">
                  <a:solidFill>
                    <a:schemeClr val="tx1"/>
                  </a:solidFill>
                </a:rPr>
                <a:t>Asynchronous JavaScript and XML”</a:t>
              </a:r>
              <a:r>
                <a:rPr lang="zh-CN" altLang="en-US" sz="1600" dirty="0">
                  <a:solidFill>
                    <a:schemeClr val="tx1"/>
                  </a:solidFill>
                </a:rPr>
                <a:t>，它是一种创建交互式网页应用的网页开发技术的集合，其中主要包含的技术有：</a:t>
              </a:r>
            </a:p>
          </p:txBody>
        </p:sp>
        <p:sp>
          <p:nvSpPr>
            <p:cNvPr id="13"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grpSp>
    </p:spTree>
    <p:custDataLst>
      <p:tags r:id="rId1"/>
    </p:custDataLst>
  </p:cSld>
  <p:clrMapOvr>
    <a:masterClrMapping/>
  </p:clrMapOvr>
  <p:transition>
    <p:split orient="vert"/>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descr="timg (5)"/>
          <p:cNvPicPr>
            <a:picLocks noChangeAspect="1"/>
          </p:cNvPicPr>
          <p:nvPr/>
        </p:nvPicPr>
        <p:blipFill>
          <a:blip r:embed="rId6" cstate="print"/>
          <a:srcRect t="7484"/>
          <a:stretch>
            <a:fillRect/>
          </a:stretch>
        </p:blipFill>
        <p:spPr>
          <a:xfrm>
            <a:off x="8079474" y="1924334"/>
            <a:ext cx="3773435" cy="2857851"/>
          </a:xfrm>
          <a:prstGeom prst="rect">
            <a:avLst/>
          </a:prstGeom>
        </p:spPr>
      </p:pic>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8.3.4 AJAX</a:t>
            </a:r>
          </a:p>
        </p:txBody>
      </p:sp>
      <p:sp>
        <p:nvSpPr>
          <p:cNvPr id="4" name="MH_SubTitle_1"/>
          <p:cNvSpPr/>
          <p:nvPr>
            <p:custDataLst>
              <p:tags r:id="rId2"/>
            </p:custDataLst>
          </p:nvPr>
        </p:nvSpPr>
        <p:spPr>
          <a:xfrm>
            <a:off x="-15240" y="2296160"/>
            <a:ext cx="8094980" cy="2461260"/>
          </a:xfrm>
          <a:prstGeom prst="rect">
            <a:avLst/>
          </a:prstGeom>
          <a:solidFill>
            <a:srgbClr val="FC8474">
              <a:alpha val="89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anchor="ctr"/>
          <a:lstStyle/>
          <a:p>
            <a:pPr indent="457200">
              <a:lnSpc>
                <a:spcPct val="120000"/>
              </a:lnSpc>
            </a:pPr>
            <a:r>
              <a:rPr lang="zh-CN" altLang="en-US" dirty="0"/>
              <a:t>传统的Web应用允许用户填写表单，当用户提交表单时，就向Web服务器发送一个请求。服务器接收并处理传来的表单，然后返回一个新的网页。这个做法浪费了许多带宽，因为在前后两个页面中的大部分HTML代码往往是相同的。由于每次应用的交互都需要向服务器发送请求，应用的响应时间就依赖于服务器的响应时间。这导致了用户界面的响应比本地应用慢得多。</a:t>
            </a:r>
          </a:p>
        </p:txBody>
      </p:sp>
      <p:sp>
        <p:nvSpPr>
          <p:cNvPr id="5" name="MH_Text_1"/>
          <p:cNvSpPr txBox="1"/>
          <p:nvPr>
            <p:custDataLst>
              <p:tags r:id="rId3"/>
            </p:custDataLst>
          </p:nvPr>
        </p:nvSpPr>
        <p:spPr>
          <a:xfrm>
            <a:off x="339725" y="4904105"/>
            <a:ext cx="11513185" cy="1520825"/>
          </a:xfrm>
          <a:prstGeom prst="rect">
            <a:avLst/>
          </a:prstGeom>
          <a:noFill/>
        </p:spPr>
        <p:txBody>
          <a:bodyPr lIns="0" tIns="0" rIns="0" bIns="0">
            <a:normAutofit/>
          </a:bodyPr>
          <a:lstStyle/>
          <a:p>
            <a:pPr indent="457200">
              <a:lnSpc>
                <a:spcPct val="120000"/>
              </a:lnSpc>
            </a:pPr>
            <a:r>
              <a:rPr lang="zh-CN" altLang="en-US" dirty="0"/>
              <a:t>与传统Web不同的是，AJAX应用可以仅向服务器发送并取回必需的数据，它使用简单对象访问协议（Simple Object Access Protocol，SOAP）或其他一些基于XML的Web Service接口，并在客户端采用JavaScript处理来自服务器的响应。因为在服务器和浏览器之间交换的数据大量减少，所以响应更快。同时很多的处理工作可以在发出请求的客户端机器上完成，因此Web服务器的处理时间也减少了。</a:t>
            </a:r>
          </a:p>
        </p:txBody>
      </p:sp>
    </p:spTree>
    <p:custDataLst>
      <p:tags r:id="rId1"/>
    </p:custDataLst>
  </p:cSld>
  <p:clrMapOvr>
    <a:masterClrMapping/>
  </p:clrMapOvr>
  <p:transition>
    <p:split orient="vert"/>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8.3.4 AJAX</a:t>
            </a: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60" name="MH_Other_1"/>
          <p:cNvSpPr>
            <a:spLocks noChangeArrowheads="1"/>
          </p:cNvSpPr>
          <p:nvPr>
            <p:custDataLst>
              <p:tags r:id="rId2"/>
            </p:custDataLst>
          </p:nvPr>
        </p:nvSpPr>
        <p:spPr bwMode="auto">
          <a:xfrm>
            <a:off x="1011232" y="2799250"/>
            <a:ext cx="673100" cy="504825"/>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01</a:t>
            </a:r>
            <a:endParaRPr lang="zh-CN" altLang="en-US" sz="2400" b="1" dirty="0">
              <a:solidFill>
                <a:srgbClr val="FFFFFF"/>
              </a:solidFill>
              <a:ea typeface="微软雅黑" panose="020B0503020204020204" charset="-122"/>
            </a:endParaRPr>
          </a:p>
        </p:txBody>
      </p:sp>
      <p:sp>
        <p:nvSpPr>
          <p:cNvPr id="61" name="MH_Other_2"/>
          <p:cNvSpPr>
            <a:spLocks noChangeArrowheads="1"/>
          </p:cNvSpPr>
          <p:nvPr>
            <p:custDataLst>
              <p:tags r:id="rId3"/>
            </p:custDataLst>
          </p:nvPr>
        </p:nvSpPr>
        <p:spPr bwMode="auto">
          <a:xfrm>
            <a:off x="1722432" y="2904025"/>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2" name="MH_Other_3"/>
          <p:cNvSpPr>
            <a:spLocks noChangeArrowheads="1"/>
          </p:cNvSpPr>
          <p:nvPr>
            <p:custDataLst>
              <p:tags r:id="rId4"/>
            </p:custDataLst>
          </p:nvPr>
        </p:nvSpPr>
        <p:spPr bwMode="auto">
          <a:xfrm>
            <a:off x="1163632" y="3332650"/>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3" name="MH_Other_4"/>
          <p:cNvSpPr>
            <a:spLocks noChangeArrowheads="1"/>
          </p:cNvSpPr>
          <p:nvPr>
            <p:custDataLst>
              <p:tags r:id="rId5"/>
            </p:custDataLst>
          </p:nvPr>
        </p:nvSpPr>
        <p:spPr bwMode="auto">
          <a:xfrm>
            <a:off x="1722432" y="3332650"/>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4" name="MH_SubTitle_1"/>
          <p:cNvSpPr/>
          <p:nvPr>
            <p:custDataLst>
              <p:tags r:id="rId6"/>
            </p:custDataLst>
          </p:nvPr>
        </p:nvSpPr>
        <p:spPr>
          <a:xfrm>
            <a:off x="2503482" y="3117003"/>
            <a:ext cx="8705215" cy="422405"/>
          </a:xfrm>
          <a:prstGeom prst="rect">
            <a:avLst/>
          </a:prstGeom>
        </p:spPr>
        <p:txBody>
          <a:bodyPr lIns="72000" tIns="72000" rIns="72000" bIns="72000" anchor="ctr">
            <a:spAutoFit/>
          </a:bodyPr>
          <a:lstStyle/>
          <a:p>
            <a:pPr>
              <a:defRPr/>
            </a:pPr>
            <a:r>
              <a:rPr lang="zh-CN" altLang="en-US" dirty="0">
                <a:sym typeface="+mn-ea"/>
              </a:rPr>
              <a:t>① 采用异步模式；</a:t>
            </a:r>
          </a:p>
        </p:txBody>
      </p:sp>
      <p:sp>
        <p:nvSpPr>
          <p:cNvPr id="66" name="MH_Other_5"/>
          <p:cNvSpPr>
            <a:spLocks noChangeArrowheads="1"/>
          </p:cNvSpPr>
          <p:nvPr>
            <p:custDataLst>
              <p:tags r:id="rId7"/>
            </p:custDataLst>
          </p:nvPr>
        </p:nvSpPr>
        <p:spPr bwMode="auto">
          <a:xfrm>
            <a:off x="1011232" y="5165402"/>
            <a:ext cx="673100" cy="50482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67" name="MH_Other_6"/>
          <p:cNvSpPr>
            <a:spLocks noChangeArrowheads="1"/>
          </p:cNvSpPr>
          <p:nvPr>
            <p:custDataLst>
              <p:tags r:id="rId8"/>
            </p:custDataLst>
          </p:nvPr>
        </p:nvSpPr>
        <p:spPr bwMode="auto">
          <a:xfrm>
            <a:off x="1722432" y="5270177"/>
            <a:ext cx="533400" cy="40005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8" name="MH_Other_7"/>
          <p:cNvSpPr>
            <a:spLocks noChangeArrowheads="1"/>
          </p:cNvSpPr>
          <p:nvPr>
            <p:custDataLst>
              <p:tags r:id="rId9"/>
            </p:custDataLst>
          </p:nvPr>
        </p:nvSpPr>
        <p:spPr bwMode="auto">
          <a:xfrm>
            <a:off x="1163632" y="5698802"/>
            <a:ext cx="520700" cy="39052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9" name="MH_Other_8"/>
          <p:cNvSpPr>
            <a:spLocks noChangeArrowheads="1"/>
          </p:cNvSpPr>
          <p:nvPr>
            <p:custDataLst>
              <p:tags r:id="rId10"/>
            </p:custDataLst>
          </p:nvPr>
        </p:nvSpPr>
        <p:spPr bwMode="auto">
          <a:xfrm>
            <a:off x="1722432" y="5698802"/>
            <a:ext cx="673100" cy="33337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0" name="MH_SubTitle_3"/>
          <p:cNvSpPr/>
          <p:nvPr>
            <p:custDataLst>
              <p:tags r:id="rId11"/>
            </p:custDataLst>
          </p:nvPr>
        </p:nvSpPr>
        <p:spPr>
          <a:xfrm>
            <a:off x="2503482" y="5271631"/>
            <a:ext cx="8705215" cy="699404"/>
          </a:xfrm>
          <a:prstGeom prst="rect">
            <a:avLst/>
          </a:prstGeom>
        </p:spPr>
        <p:txBody>
          <a:bodyPr lIns="72000" tIns="72000" rIns="72000" bIns="72000" anchor="ctr">
            <a:spAutoFit/>
          </a:bodyPr>
          <a:lstStyle/>
          <a:p>
            <a:pPr>
              <a:defRPr/>
            </a:pPr>
            <a:r>
              <a:rPr lang="zh-CN" altLang="en-US" dirty="0">
                <a:sym typeface="+mn-ea"/>
              </a:rPr>
              <a:t>③ AJAX引擎在客户端运行，承担了一部分本来由服务器承担的工作，从而减少了大用户量下的服务器负载。</a:t>
            </a:r>
          </a:p>
        </p:txBody>
      </p:sp>
      <p:sp>
        <p:nvSpPr>
          <p:cNvPr id="72" name="MH_Other_9"/>
          <p:cNvSpPr>
            <a:spLocks noChangeArrowheads="1"/>
          </p:cNvSpPr>
          <p:nvPr>
            <p:custDataLst>
              <p:tags r:id="rId12"/>
            </p:custDataLst>
          </p:nvPr>
        </p:nvSpPr>
        <p:spPr bwMode="auto">
          <a:xfrm>
            <a:off x="1011232" y="3954713"/>
            <a:ext cx="673100" cy="504825"/>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73" name="MH_Other_10"/>
          <p:cNvSpPr>
            <a:spLocks noChangeArrowheads="1"/>
          </p:cNvSpPr>
          <p:nvPr>
            <p:custDataLst>
              <p:tags r:id="rId13"/>
            </p:custDataLst>
          </p:nvPr>
        </p:nvSpPr>
        <p:spPr bwMode="auto">
          <a:xfrm>
            <a:off x="1722432" y="4059488"/>
            <a:ext cx="533400" cy="40005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4" name="MH_Other_11"/>
          <p:cNvSpPr>
            <a:spLocks noChangeArrowheads="1"/>
          </p:cNvSpPr>
          <p:nvPr>
            <p:custDataLst>
              <p:tags r:id="rId14"/>
            </p:custDataLst>
          </p:nvPr>
        </p:nvSpPr>
        <p:spPr bwMode="auto">
          <a:xfrm>
            <a:off x="1163632" y="4488113"/>
            <a:ext cx="520700" cy="39052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5" name="MH_Other_12"/>
          <p:cNvSpPr>
            <a:spLocks noChangeArrowheads="1"/>
          </p:cNvSpPr>
          <p:nvPr>
            <p:custDataLst>
              <p:tags r:id="rId15"/>
            </p:custDataLst>
          </p:nvPr>
        </p:nvSpPr>
        <p:spPr bwMode="auto">
          <a:xfrm>
            <a:off x="1722432" y="4488113"/>
            <a:ext cx="673100" cy="33337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6" name="MH_SubTitle_2"/>
          <p:cNvSpPr/>
          <p:nvPr>
            <p:custDataLst>
              <p:tags r:id="rId16"/>
            </p:custDataLst>
          </p:nvPr>
        </p:nvSpPr>
        <p:spPr>
          <a:xfrm>
            <a:off x="2503482" y="4254686"/>
            <a:ext cx="8705215" cy="422405"/>
          </a:xfrm>
          <a:prstGeom prst="rect">
            <a:avLst/>
          </a:prstGeom>
        </p:spPr>
        <p:txBody>
          <a:bodyPr lIns="72000" tIns="72000" rIns="72000" bIns="72000" anchor="ctr">
            <a:spAutoFit/>
          </a:bodyPr>
          <a:lstStyle/>
          <a:p>
            <a:pPr lvl="0"/>
            <a:r>
              <a:rPr lang="zh-CN" altLang="en-US" dirty="0">
                <a:sym typeface="+mn-ea"/>
              </a:rPr>
              <a:t>② 优化了浏览器和服务器之间的传输，减少不必要的数据往返，减少了带宽占用；</a:t>
            </a:r>
          </a:p>
        </p:txBody>
      </p:sp>
      <p:sp>
        <p:nvSpPr>
          <p:cNvPr id="167" name="圆角矩形"/>
          <p:cNvSpPr/>
          <p:nvPr/>
        </p:nvSpPr>
        <p:spPr>
          <a:xfrm>
            <a:off x="6636953" y="2234622"/>
            <a:ext cx="4748530" cy="57848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3" name="学士帽"/>
          <p:cNvSpPr/>
          <p:nvPr/>
        </p:nvSpPr>
        <p:spPr bwMode="auto">
          <a:xfrm>
            <a:off x="6442008" y="2021262"/>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35" name="文本框 34"/>
          <p:cNvSpPr txBox="1"/>
          <p:nvPr/>
        </p:nvSpPr>
        <p:spPr>
          <a:xfrm>
            <a:off x="6835708" y="2327332"/>
            <a:ext cx="4351020" cy="39306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AJAX应用程序的优势在于</a:t>
            </a:r>
            <a:r>
              <a:rPr lang="zh-CN" dirty="0">
                <a:solidFill>
                  <a:schemeClr val="tx1"/>
                </a:solidFill>
                <a:latin typeface="微软雅黑" panose="020B0503020204020204" charset="-122"/>
                <a:ea typeface="微软雅黑" panose="020B0503020204020204" charset="-122"/>
                <a:sym typeface="+mn-ea"/>
              </a:rPr>
              <a:t>以下</a:t>
            </a:r>
            <a:r>
              <a:rPr dirty="0">
                <a:solidFill>
                  <a:schemeClr val="tx1"/>
                </a:solidFill>
                <a:latin typeface="微软雅黑" panose="020B0503020204020204" charset="-122"/>
                <a:ea typeface="微软雅黑" panose="020B0503020204020204" charset="-122"/>
                <a:sym typeface="+mn-ea"/>
              </a:rPr>
              <a:t>：</a:t>
            </a:r>
          </a:p>
        </p:txBody>
      </p:sp>
    </p:spTree>
    <p:custDataLst>
      <p:tags r:id="rId1"/>
    </p:custDataLst>
  </p:cSld>
  <p:clrMapOvr>
    <a:masterClrMapping/>
  </p:clrMapOvr>
  <p:transition>
    <p:split orient="vert"/>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2" name="椭圆 1"/>
          <p:cNvSpPr/>
          <p:nvPr/>
        </p:nvSpPr>
        <p:spPr>
          <a:xfrm>
            <a:off x="3428455" y="2169500"/>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3766951" y="2565770"/>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4</a:t>
            </a:r>
          </a:p>
        </p:txBody>
      </p:sp>
      <p:sp>
        <p:nvSpPr>
          <p:cNvPr id="40" name="文本框 39"/>
          <p:cNvSpPr txBox="1"/>
          <p:nvPr/>
        </p:nvSpPr>
        <p:spPr>
          <a:xfrm>
            <a:off x="6006465" y="2913380"/>
            <a:ext cx="5492115" cy="160591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服务器层使用的技术</a:t>
            </a:r>
          </a:p>
        </p:txBody>
      </p:sp>
      <p:sp>
        <p:nvSpPr>
          <p:cNvPr id="48" name="文本框 47"/>
          <p:cNvSpPr txBox="1"/>
          <p:nvPr/>
        </p:nvSpPr>
        <p:spPr>
          <a:xfrm>
            <a:off x="6096000" y="4852987"/>
            <a:ext cx="3712845" cy="40005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Servlet</a:t>
            </a:r>
          </a:p>
        </p:txBody>
      </p:sp>
      <p:sp>
        <p:nvSpPr>
          <p:cNvPr id="50" name="文本框 49"/>
          <p:cNvSpPr txBox="1"/>
          <p:nvPr/>
        </p:nvSpPr>
        <p:spPr>
          <a:xfrm>
            <a:off x="6096000" y="5270817"/>
            <a:ext cx="3712845" cy="40005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JSP</a:t>
            </a:r>
          </a:p>
        </p:txBody>
      </p:sp>
    </p:spTree>
  </p:cSld>
  <p:clrMapOvr>
    <a:masterClrMapping/>
  </p:clrMapOvr>
  <p:transition spd="slow">
    <p:wip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8.4.1 Servlet</a:t>
            </a:r>
          </a:p>
        </p:txBody>
      </p:sp>
      <p:sp>
        <p:nvSpPr>
          <p:cNvPr id="18" name="矩形 17"/>
          <p:cNvSpPr/>
          <p:nvPr/>
        </p:nvSpPr>
        <p:spPr>
          <a:xfrm>
            <a:off x="0" y="2412365"/>
            <a:ext cx="12192000" cy="333311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556260" y="2616200"/>
            <a:ext cx="6540500" cy="2953181"/>
          </a:xfrm>
          <a:prstGeom prst="rect">
            <a:avLst/>
          </a:prstGeom>
        </p:spPr>
        <p:txBody>
          <a:bodyPr wrap="square">
            <a:spAutoFit/>
          </a:bodyPr>
          <a:lstStyle/>
          <a:p>
            <a:pPr indent="457200" algn="just">
              <a:lnSpc>
                <a:spcPct val="150000"/>
              </a:lnSpc>
              <a:defRPr/>
            </a:pPr>
            <a:r>
              <a:rPr lang="en-US" altLang="zh-CN" dirty="0"/>
              <a:t>Web</a:t>
            </a:r>
            <a:r>
              <a:rPr lang="zh-CN" altLang="en-US" dirty="0"/>
              <a:t>服务器层管理</a:t>
            </a:r>
            <a:r>
              <a:rPr lang="en-US" altLang="zh-CN" dirty="0"/>
              <a:t>Web</a:t>
            </a:r>
            <a:r>
              <a:rPr lang="zh-CN" altLang="en-US" dirty="0"/>
              <a:t>客户端与应用逻辑之间的连接。本节将介绍两种技术：</a:t>
            </a:r>
            <a:r>
              <a:rPr lang="en-US" altLang="zh-CN" dirty="0"/>
              <a:t>Servlet</a:t>
            </a:r>
            <a:r>
              <a:rPr lang="zh-CN" altLang="en-US" dirty="0"/>
              <a:t>和</a:t>
            </a:r>
            <a:r>
              <a:rPr lang="en-US" altLang="zh-CN" dirty="0"/>
              <a:t>JSP</a:t>
            </a:r>
            <a:r>
              <a:rPr lang="zh-CN" altLang="en-US" dirty="0"/>
              <a:t>技术。</a:t>
            </a:r>
          </a:p>
          <a:p>
            <a:pPr indent="457200" algn="just">
              <a:lnSpc>
                <a:spcPct val="150000"/>
              </a:lnSpc>
              <a:defRPr/>
            </a:pPr>
            <a:r>
              <a:rPr lang="en-US" altLang="zh-CN" dirty="0"/>
              <a:t>Servlet</a:t>
            </a:r>
            <a:r>
              <a:rPr lang="zh-CN" altLang="en-US" dirty="0"/>
              <a:t>是一种独立于操作系统平台和网络传输协议的服务器端的</a:t>
            </a:r>
            <a:r>
              <a:rPr lang="en-US" altLang="zh-CN" dirty="0"/>
              <a:t>Java</a:t>
            </a:r>
            <a:r>
              <a:rPr lang="zh-CN" altLang="en-US" dirty="0"/>
              <a:t>应用程序，它用来扩展服务器的功能，可以生成动态的</a:t>
            </a:r>
            <a:r>
              <a:rPr lang="en-US" altLang="zh-CN" dirty="0"/>
              <a:t>Web</a:t>
            </a:r>
            <a:r>
              <a:rPr lang="zh-CN" altLang="en-US" dirty="0"/>
              <a:t>页面。</a:t>
            </a:r>
            <a:r>
              <a:rPr lang="en-US" altLang="zh-CN" dirty="0"/>
              <a:t>Servlet</a:t>
            </a:r>
            <a:r>
              <a:rPr lang="zh-CN" altLang="en-US" dirty="0"/>
              <a:t>最大的用途是通过动态响应客户机请求来扩展服务器功能。</a:t>
            </a:r>
            <a:r>
              <a:rPr lang="en-US" altLang="zh-CN" dirty="0"/>
              <a:t>Servlet</a:t>
            </a:r>
            <a:r>
              <a:rPr lang="zh-CN" altLang="en-US" dirty="0"/>
              <a:t>不是从命令行启动的，而是由包含</a:t>
            </a:r>
            <a:r>
              <a:rPr lang="en-US" altLang="zh-CN" dirty="0"/>
              <a:t>Java</a:t>
            </a:r>
            <a:r>
              <a:rPr lang="zh-CN" altLang="en-US" dirty="0"/>
              <a:t>虚拟机的</a:t>
            </a:r>
            <a:r>
              <a:rPr lang="en-US" altLang="zh-CN" dirty="0"/>
              <a:t>Web</a:t>
            </a:r>
            <a:r>
              <a:rPr lang="zh-CN" altLang="en-US" dirty="0"/>
              <a:t>服务器进行加载。</a:t>
            </a:r>
            <a:endParaRPr lang="en-US" altLang="zh-CN" dirty="0"/>
          </a:p>
        </p:txBody>
      </p:sp>
      <p:sp>
        <p:nvSpPr>
          <p:cNvPr id="3" name="矩形 2"/>
          <p:cNvSpPr/>
          <p:nvPr/>
        </p:nvSpPr>
        <p:spPr>
          <a:xfrm>
            <a:off x="7521907" y="2753635"/>
            <a:ext cx="3893185" cy="1874520"/>
          </a:xfrm>
          <a:prstGeom prst="rect">
            <a:avLst/>
          </a:prstGeom>
          <a:noFill/>
          <a:ln>
            <a:noFill/>
          </a:ln>
        </p:spPr>
        <p:txBody>
          <a:bodyPr wrap="square" rtlCol="0" anchor="t">
            <a:prstTxWarp prst="textStop">
              <a:avLst>
                <a:gd name="adj" fmla="val 14286"/>
              </a:avLst>
            </a:prstTxWarp>
            <a:spAutoFit/>
          </a:bodyPr>
          <a:lstStyle/>
          <a:p>
            <a:pPr algn="ctr"/>
            <a:r>
              <a:rPr lang="en-US" altLang="zh-CN" sz="7200" b="1" dirty="0" err="1">
                <a:solidFill>
                  <a:schemeClr val="tx1"/>
                </a:solidFill>
                <a:effectLst>
                  <a:outerShdw blurRad="38100" dist="19050" dir="2700000" algn="tl" rotWithShape="0">
                    <a:schemeClr val="dk1">
                      <a:alpha val="40000"/>
                    </a:schemeClr>
                  </a:outerShdw>
                  <a:reflection blurRad="6350" stA="60000" endA="900" endPos="58000" dir="5400000" sy="-100000" algn="bl" rotWithShape="0"/>
                </a:effectLst>
              </a:rPr>
              <a:t>servlet</a:t>
            </a:r>
            <a:endParaRPr lang="en-US" altLang="zh-CN" sz="7200" b="1" dirty="0">
              <a:solidFill>
                <a:schemeClr val="tx1"/>
              </a:solidFill>
              <a:effectLst>
                <a:outerShdw blurRad="38100" dist="19050" dir="2700000" algn="tl" rotWithShape="0">
                  <a:schemeClr val="dk1">
                    <a:alpha val="40000"/>
                  </a:schemeClr>
                </a:outerShdw>
                <a:reflection blurRad="6350" stA="60000" endA="900" endPos="58000" dir="5400000" sy="-100000" algn="bl" rotWithShape="0"/>
              </a:effectLst>
            </a:endParaRPr>
          </a:p>
        </p:txBody>
      </p:sp>
    </p:spTree>
    <p:custDataLst>
      <p:tags r:id="rId1"/>
    </p:custDataLst>
  </p:cSld>
  <p:clrMapOvr>
    <a:masterClrMapping/>
  </p:clrMapOvr>
  <p:transition>
    <p:strips dir="ru"/>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8.4.1 Servlet</a:t>
            </a:r>
          </a:p>
        </p:txBody>
      </p:sp>
      <p:grpSp>
        <p:nvGrpSpPr>
          <p:cNvPr id="7" name="组合 6"/>
          <p:cNvGrpSpPr/>
          <p:nvPr/>
        </p:nvGrpSpPr>
        <p:grpSpPr>
          <a:xfrm>
            <a:off x="809625" y="2665095"/>
            <a:ext cx="3686586" cy="2847340"/>
            <a:chOff x="1513" y="3742"/>
            <a:chExt cx="6086" cy="4867"/>
          </a:xfrm>
        </p:grpSpPr>
        <p:sp>
          <p:nvSpPr>
            <p:cNvPr id="4" name="MH_Other_1"/>
            <p:cNvSpPr/>
            <p:nvPr>
              <p:custDataLst>
                <p:tags r:id="rId4"/>
              </p:custDataLst>
            </p:nvPr>
          </p:nvSpPr>
          <p:spPr>
            <a:xfrm rot="21439215">
              <a:off x="3725" y="6159"/>
              <a:ext cx="2437" cy="237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zh-CN" altLang="en-US" dirty="0">
                  <a:solidFill>
                    <a:schemeClr val="tx1">
                      <a:lumMod val="50000"/>
                    </a:schemeClr>
                  </a:solidFill>
                  <a:latin typeface="微软雅黑" panose="020B0503020204020204" charset="-122"/>
                  <a:ea typeface="微软雅黑" panose="020B0503020204020204" charset="-122"/>
                  <a:sym typeface="+mn-ea"/>
                </a:rPr>
                <a:t>Servlet与Applet</a:t>
              </a:r>
            </a:p>
            <a:p>
              <a:pPr algn="ctr" eaLnBrk="1" fontAlgn="auto" hangingPunct="1">
                <a:spcBef>
                  <a:spcPts val="0"/>
                </a:spcBef>
                <a:spcAft>
                  <a:spcPts val="0"/>
                </a:spcAft>
                <a:defRPr/>
              </a:pPr>
              <a:r>
                <a:rPr lang="zh-CN" altLang="en-US" dirty="0">
                  <a:solidFill>
                    <a:schemeClr val="tx1">
                      <a:lumMod val="50000"/>
                    </a:schemeClr>
                  </a:solidFill>
                  <a:latin typeface="微软雅黑" panose="020B0503020204020204" charset="-122"/>
                  <a:ea typeface="微软雅黑" panose="020B0503020204020204" charset="-122"/>
                  <a:sym typeface="+mn-ea"/>
                </a:rPr>
                <a:t>不同之处</a:t>
              </a:r>
            </a:p>
          </p:txBody>
        </p:sp>
        <p:cxnSp>
          <p:nvCxnSpPr>
            <p:cNvPr id="5" name="MH_Other_2"/>
            <p:cNvCxnSpPr>
              <a:stCxn id="4" idx="3"/>
            </p:cNvCxnSpPr>
            <p:nvPr>
              <p:custDataLst>
                <p:tags r:id="rId5"/>
              </p:custDataLst>
            </p:nvPr>
          </p:nvCxnSpPr>
          <p:spPr>
            <a:xfrm flipV="1">
              <a:off x="6161" y="7274"/>
              <a:ext cx="1438" cy="14"/>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6" name="MH_Other_3"/>
            <p:cNvSpPr/>
            <p:nvPr>
              <p:custDataLst>
                <p:tags r:id="rId6"/>
              </p:custDataLst>
            </p:nvPr>
          </p:nvSpPr>
          <p:spPr>
            <a:xfrm rot="183635">
              <a:off x="3115" y="3742"/>
              <a:ext cx="2440" cy="237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zh-CN" altLang="en-US" dirty="0">
                  <a:solidFill>
                    <a:srgbClr val="FFFFFF"/>
                  </a:solidFill>
                  <a:latin typeface="微软雅黑" panose="020B0503020204020204" charset="-122"/>
                  <a:ea typeface="微软雅黑" panose="020B0503020204020204" charset="-122"/>
                </a:rPr>
                <a:t>Servlet与Applet</a:t>
              </a:r>
            </a:p>
            <a:p>
              <a:pPr algn="ctr" eaLnBrk="1" fontAlgn="auto" hangingPunct="1">
                <a:spcBef>
                  <a:spcPts val="0"/>
                </a:spcBef>
                <a:spcAft>
                  <a:spcPts val="0"/>
                </a:spcAft>
                <a:defRPr/>
              </a:pPr>
              <a:r>
                <a:rPr lang="zh-CN" altLang="en-US" dirty="0">
                  <a:solidFill>
                    <a:srgbClr val="FFFFFF"/>
                  </a:solidFill>
                  <a:latin typeface="微软雅黑" panose="020B0503020204020204" charset="-122"/>
                  <a:ea typeface="微软雅黑" panose="020B0503020204020204" charset="-122"/>
                </a:rPr>
                <a:t>相似之处</a:t>
              </a:r>
            </a:p>
          </p:txBody>
        </p:sp>
        <p:cxnSp>
          <p:nvCxnSpPr>
            <p:cNvPr id="8" name="MH_Other_4"/>
            <p:cNvCxnSpPr/>
            <p:nvPr>
              <p:custDataLst>
                <p:tags r:id="rId7"/>
              </p:custDataLst>
            </p:nvPr>
          </p:nvCxnSpPr>
          <p:spPr>
            <a:xfrm flipV="1">
              <a:off x="5578" y="4747"/>
              <a:ext cx="2021" cy="5"/>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8"/>
              </p:custDataLst>
            </p:nvPr>
          </p:nvSpPr>
          <p:spPr>
            <a:xfrm>
              <a:off x="1513" y="4801"/>
              <a:ext cx="1922" cy="3808"/>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grpSp>
      <p:sp>
        <p:nvSpPr>
          <p:cNvPr id="10" name="MH_Text_2"/>
          <p:cNvSpPr txBox="1"/>
          <p:nvPr>
            <p:custDataLst>
              <p:tags r:id="rId2"/>
            </p:custDataLst>
          </p:nvPr>
        </p:nvSpPr>
        <p:spPr>
          <a:xfrm>
            <a:off x="4496435" y="2762885"/>
            <a:ext cx="7070725" cy="1283335"/>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zh-CN" altLang="en-US" sz="1800" dirty="0"/>
              <a:t>（1）它们不是独立的应用程序，没有main( )方法。</a:t>
            </a:r>
          </a:p>
          <a:p>
            <a:pPr>
              <a:lnSpc>
                <a:spcPct val="150000"/>
              </a:lnSpc>
            </a:pPr>
            <a:r>
              <a:rPr lang="zh-CN" altLang="en-US" sz="1800" dirty="0"/>
              <a:t>（2）它们不是由用户调用，而是由另外一个应用程序（容器）调用。</a:t>
            </a:r>
          </a:p>
          <a:p>
            <a:pPr>
              <a:lnSpc>
                <a:spcPct val="150000"/>
              </a:lnSpc>
            </a:pPr>
            <a:r>
              <a:rPr lang="zh-CN" altLang="en-US" sz="1800" dirty="0"/>
              <a:t>（3）它们都有一个生存周期，包含init( )和destroy( )方法。</a:t>
            </a:r>
          </a:p>
        </p:txBody>
      </p:sp>
      <p:sp>
        <p:nvSpPr>
          <p:cNvPr id="11" name="MH_Text_1"/>
          <p:cNvSpPr txBox="1"/>
          <p:nvPr>
            <p:custDataLst>
              <p:tags r:id="rId3"/>
            </p:custDataLst>
          </p:nvPr>
        </p:nvSpPr>
        <p:spPr>
          <a:xfrm>
            <a:off x="4496435" y="4445635"/>
            <a:ext cx="5577840" cy="1066800"/>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zh-CN" altLang="en-US" sz="1800" dirty="0"/>
              <a:t>（1）Applet运行在客户端，具有丰富的图形界面。</a:t>
            </a:r>
          </a:p>
          <a:p>
            <a:pPr>
              <a:lnSpc>
                <a:spcPct val="150000"/>
              </a:lnSpc>
            </a:pPr>
            <a:r>
              <a:rPr lang="zh-CN" altLang="en-US" sz="1800" dirty="0"/>
              <a:t>（2）Servlet运行在服务器端，没有图形界面。</a:t>
            </a:r>
          </a:p>
        </p:txBody>
      </p:sp>
    </p:spTree>
    <p:custDataLst>
      <p:tags r:id="rId1"/>
    </p:custDataLst>
  </p:cSld>
  <p:clrMapOvr>
    <a:masterClrMapping/>
  </p:clrMapOvr>
  <p:transition>
    <p:strips dir="ru"/>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8.4.1 Servlet</a:t>
            </a:r>
          </a:p>
        </p:txBody>
      </p:sp>
      <p:sp>
        <p:nvSpPr>
          <p:cNvPr id="100" name="文本框 99"/>
          <p:cNvSpPr txBox="1"/>
          <p:nvPr/>
        </p:nvSpPr>
        <p:spPr>
          <a:xfrm>
            <a:off x="995680" y="2570850"/>
            <a:ext cx="10200640" cy="2455212"/>
          </a:xfrm>
          <a:prstGeom prst="roundRect">
            <a:avLst/>
          </a:prstGeom>
          <a:noFill/>
          <a:ln w="9525">
            <a:solidFill>
              <a:schemeClr val="accent3"/>
            </a:solidFill>
          </a:ln>
        </p:spPr>
        <p:txBody>
          <a:bodyPr wrap="square">
            <a:spAutoFit/>
          </a:bodyPr>
          <a:lstStyle/>
          <a:p>
            <a:pPr marL="0" indent="457200" algn="just" fontAlgn="auto">
              <a:lnSpc>
                <a:spcPct val="130000"/>
              </a:lnSpc>
            </a:pPr>
            <a:r>
              <a:rPr lang="en-US" altLang="zh-CN" dirty="0"/>
              <a:t>Servlet</a:t>
            </a:r>
            <a:r>
              <a:rPr lang="zh-CN" altLang="en-US" dirty="0"/>
              <a:t>运行在</a:t>
            </a:r>
            <a:r>
              <a:rPr lang="en-US" altLang="zh-CN" dirty="0"/>
              <a:t>Web</a:t>
            </a:r>
            <a:r>
              <a:rPr lang="zh-CN" altLang="en-US" dirty="0"/>
              <a:t>服务器上的</a:t>
            </a:r>
            <a:r>
              <a:rPr lang="en-US" altLang="zh-CN" dirty="0"/>
              <a:t>Web</a:t>
            </a:r>
            <a:r>
              <a:rPr lang="zh-CN" altLang="en-US" dirty="0"/>
              <a:t>容器里。</a:t>
            </a:r>
            <a:r>
              <a:rPr lang="en-US" altLang="zh-CN" dirty="0"/>
              <a:t>Web</a:t>
            </a:r>
            <a:r>
              <a:rPr lang="zh-CN" altLang="en-US" dirty="0"/>
              <a:t>容器负责管理</a:t>
            </a:r>
            <a:r>
              <a:rPr lang="en-US" altLang="zh-CN" dirty="0"/>
              <a:t>Servlet</a:t>
            </a:r>
            <a:r>
              <a:rPr lang="zh-CN" altLang="en-US" dirty="0"/>
              <a:t>，它装入并初始化</a:t>
            </a:r>
            <a:r>
              <a:rPr lang="en-US" altLang="zh-CN" dirty="0"/>
              <a:t>Servlet</a:t>
            </a:r>
            <a:r>
              <a:rPr lang="zh-CN" altLang="en-US" dirty="0"/>
              <a:t>，管理</a:t>
            </a:r>
            <a:r>
              <a:rPr lang="en-US" altLang="zh-CN" dirty="0"/>
              <a:t>Servlet</a:t>
            </a:r>
            <a:r>
              <a:rPr lang="zh-CN" altLang="en-US" dirty="0"/>
              <a:t>的多个实例，并充当请求调度器，将客户端的请求传递到</a:t>
            </a:r>
            <a:r>
              <a:rPr lang="en-US" altLang="zh-CN" dirty="0"/>
              <a:t>Servlet</a:t>
            </a:r>
            <a:r>
              <a:rPr lang="zh-CN" altLang="en-US" dirty="0"/>
              <a:t>，并将</a:t>
            </a:r>
            <a:r>
              <a:rPr lang="en-US" altLang="zh-CN" dirty="0"/>
              <a:t>Servlet</a:t>
            </a:r>
            <a:r>
              <a:rPr lang="zh-CN" altLang="en-US" dirty="0"/>
              <a:t>的响应返回给客户端。</a:t>
            </a:r>
            <a:r>
              <a:rPr lang="en-US" altLang="zh-CN" dirty="0"/>
              <a:t>Web</a:t>
            </a:r>
            <a:r>
              <a:rPr lang="zh-CN" altLang="en-US" dirty="0"/>
              <a:t>容器在</a:t>
            </a:r>
            <a:r>
              <a:rPr lang="en-US" altLang="zh-CN" dirty="0"/>
              <a:t>Servlet</a:t>
            </a:r>
            <a:r>
              <a:rPr lang="zh-CN" altLang="en-US" dirty="0"/>
              <a:t>的使用期限结束时结束该</a:t>
            </a:r>
            <a:r>
              <a:rPr lang="en-US" altLang="zh-CN" dirty="0"/>
              <a:t>Servlet</a:t>
            </a:r>
            <a:r>
              <a:rPr lang="zh-CN" altLang="en-US" dirty="0"/>
              <a:t>。服务器关闭时，</a:t>
            </a:r>
            <a:r>
              <a:rPr lang="en-US" altLang="zh-CN" dirty="0"/>
              <a:t>Web</a:t>
            </a:r>
            <a:r>
              <a:rPr lang="zh-CN" altLang="en-US" dirty="0"/>
              <a:t>容器会从内存中卸载和除去</a:t>
            </a:r>
            <a:r>
              <a:rPr lang="en-US" altLang="zh-CN" dirty="0"/>
              <a:t>Servlet</a:t>
            </a:r>
            <a:r>
              <a:rPr lang="zh-CN" altLang="en-US" dirty="0"/>
              <a:t>。客户机与</a:t>
            </a:r>
            <a:r>
              <a:rPr lang="en-US" altLang="zh-CN" dirty="0"/>
              <a:t>Servlet</a:t>
            </a:r>
            <a:r>
              <a:rPr lang="zh-CN" altLang="en-US" dirty="0"/>
              <a:t>间没有直接的交互。无论客户机对</a:t>
            </a:r>
            <a:r>
              <a:rPr lang="en-US" altLang="zh-CN" dirty="0"/>
              <a:t>Servlet</a:t>
            </a:r>
            <a:r>
              <a:rPr lang="zh-CN" altLang="en-US" dirty="0"/>
              <a:t>的请求（即</a:t>
            </a:r>
            <a:r>
              <a:rPr lang="en-US" altLang="zh-CN" dirty="0" err="1"/>
              <a:t>ServletRequest</a:t>
            </a:r>
            <a:r>
              <a:rPr lang="zh-CN" altLang="en-US" dirty="0"/>
              <a:t>）还是</a:t>
            </a:r>
            <a:r>
              <a:rPr lang="en-US" altLang="zh-CN" dirty="0"/>
              <a:t>Servlet</a:t>
            </a:r>
            <a:r>
              <a:rPr lang="zh-CN" altLang="en-US" dirty="0"/>
              <a:t>对客户端的响应（即</a:t>
            </a:r>
            <a:r>
              <a:rPr lang="en-US" altLang="zh-CN" dirty="0" err="1"/>
              <a:t>ServletResponse</a:t>
            </a:r>
            <a:r>
              <a:rPr lang="zh-CN" altLang="en-US" dirty="0"/>
              <a:t>），都是通过</a:t>
            </a:r>
            <a:r>
              <a:rPr lang="en-US" altLang="zh-CN" dirty="0"/>
              <a:t>Web</a:t>
            </a:r>
            <a:r>
              <a:rPr lang="zh-CN" altLang="en-US" dirty="0"/>
              <a:t>服务器来实现的，大大提高了</a:t>
            </a:r>
            <a:r>
              <a:rPr lang="en-US" altLang="zh-CN" dirty="0"/>
              <a:t>Servlet</a:t>
            </a:r>
            <a:r>
              <a:rPr lang="zh-CN" altLang="en-US" dirty="0"/>
              <a:t>组件的可移植性。</a:t>
            </a:r>
            <a:endParaRPr dirty="0"/>
          </a:p>
        </p:txBody>
      </p:sp>
      <p:pic>
        <p:nvPicPr>
          <p:cNvPr id="4" name="图片 3"/>
          <p:cNvPicPr/>
          <p:nvPr/>
        </p:nvPicPr>
        <p:blipFill>
          <a:blip r:embed="rId4" cstate="print"/>
          <a:stretch>
            <a:fillRect/>
          </a:stretch>
        </p:blipFill>
        <p:spPr>
          <a:xfrm>
            <a:off x="2451209" y="5082530"/>
            <a:ext cx="7289583" cy="1209675"/>
          </a:xfrm>
          <a:prstGeom prst="rect">
            <a:avLst/>
          </a:prstGeom>
          <a:noFill/>
          <a:ln w="9525">
            <a:noFill/>
          </a:ln>
        </p:spPr>
      </p:pic>
      <p:sp>
        <p:nvSpPr>
          <p:cNvPr id="6" name="矩形 5"/>
          <p:cNvSpPr/>
          <p:nvPr/>
        </p:nvSpPr>
        <p:spPr>
          <a:xfrm>
            <a:off x="1081430" y="2097918"/>
            <a:ext cx="2071203" cy="369332"/>
          </a:xfrm>
          <a:prstGeom prst="rect">
            <a:avLst/>
          </a:prstGeom>
        </p:spPr>
        <p:txBody>
          <a:bodyPr wrap="square">
            <a:spAutoFit/>
          </a:bodyPr>
          <a:lstStyle/>
          <a:p>
            <a:r>
              <a:rPr lang="en-US" altLang="zh-CN" b="1" dirty="0"/>
              <a:t>Servlet</a:t>
            </a:r>
            <a:r>
              <a:rPr lang="zh-CN" altLang="en-US" b="1" dirty="0"/>
              <a:t>工作原理：</a:t>
            </a:r>
          </a:p>
        </p:txBody>
      </p:sp>
    </p:spTree>
    <p:custDataLst>
      <p:tags r:id="rId1"/>
    </p:custDataLst>
  </p:cSld>
  <p:clrMapOvr>
    <a:masterClrMapping/>
  </p:clrMapOvr>
  <p:transition>
    <p:strips dir="ru"/>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8.4.1 Servlet</a:t>
            </a:r>
          </a:p>
        </p:txBody>
      </p:sp>
      <p:sp>
        <p:nvSpPr>
          <p:cNvPr id="16" name="Oval 15"/>
          <p:cNvSpPr>
            <a:spLocks noChangeArrowheads="1"/>
          </p:cNvSpPr>
          <p:nvPr>
            <p:custDataLst>
              <p:tags r:id="rId2"/>
            </p:custDataLst>
          </p:nvPr>
        </p:nvSpPr>
        <p:spPr bwMode="auto">
          <a:xfrm>
            <a:off x="1021715" y="2538095"/>
            <a:ext cx="3153410" cy="318262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3" name="Line 16"/>
          <p:cNvSpPr>
            <a:spLocks noChangeShapeType="1"/>
          </p:cNvSpPr>
          <p:nvPr>
            <p:custDataLst>
              <p:tags r:id="rId3"/>
            </p:custDataLst>
          </p:nvPr>
        </p:nvSpPr>
        <p:spPr bwMode="gray">
          <a:xfrm>
            <a:off x="848995" y="4136390"/>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4" name="Line 17"/>
          <p:cNvSpPr>
            <a:spLocks noChangeShapeType="1"/>
          </p:cNvSpPr>
          <p:nvPr>
            <p:custDataLst>
              <p:tags r:id="rId4"/>
            </p:custDataLst>
          </p:nvPr>
        </p:nvSpPr>
        <p:spPr bwMode="gray">
          <a:xfrm>
            <a:off x="2590800" y="2303145"/>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5" name="Oval 10"/>
          <p:cNvSpPr>
            <a:spLocks noChangeArrowheads="1"/>
          </p:cNvSpPr>
          <p:nvPr>
            <p:custDataLst>
              <p:tags r:id="rId5"/>
            </p:custDataLst>
          </p:nvPr>
        </p:nvSpPr>
        <p:spPr bwMode="gray">
          <a:xfrm>
            <a:off x="1194435" y="2718435"/>
            <a:ext cx="2789555" cy="2811145"/>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7" name="Oval 13"/>
          <p:cNvSpPr>
            <a:spLocks noChangeArrowheads="1"/>
          </p:cNvSpPr>
          <p:nvPr>
            <p:custDataLst>
              <p:tags r:id="rId6"/>
            </p:custDataLst>
          </p:nvPr>
        </p:nvSpPr>
        <p:spPr bwMode="gray">
          <a:xfrm>
            <a:off x="1513205" y="3055620"/>
            <a:ext cx="2137410" cy="218186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51" name="KSO_GT1"/>
          <p:cNvSpPr>
            <a:spLocks noChangeArrowheads="1"/>
          </p:cNvSpPr>
          <p:nvPr>
            <p:custDataLst>
              <p:tags r:id="rId7"/>
            </p:custDataLst>
          </p:nvPr>
        </p:nvSpPr>
        <p:spPr bwMode="gray">
          <a:xfrm>
            <a:off x="1898015" y="3448050"/>
            <a:ext cx="1368425" cy="1397635"/>
          </a:xfrm>
          <a:prstGeom prst="ellipse">
            <a:avLst/>
          </a:prstGeom>
          <a:solidFill>
            <a:srgbClr val="4F5A71"/>
          </a:solidFill>
          <a:ln>
            <a:noFill/>
          </a:ln>
          <a:effectLst/>
        </p:spPr>
        <p:txBody>
          <a:bodyPr wrap="square" lIns="0" tIns="0" rIns="0" bIns="0" anchor="ctr">
            <a:normAutofit lnSpcReduction="10000"/>
          </a:bodyPr>
          <a:lstStyle/>
          <a:p>
            <a:pPr algn="ctr">
              <a:defRPr/>
            </a:pPr>
            <a:r>
              <a:rPr lang="en-US" altLang="zh-CN" sz="24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Servlet</a:t>
            </a:r>
            <a:r>
              <a:rPr lang="zh-CN" altLang="zh-CN" sz="24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基本工作流程</a:t>
            </a:r>
          </a:p>
        </p:txBody>
      </p:sp>
      <p:sp>
        <p:nvSpPr>
          <p:cNvPr id="30" name="Oval 19"/>
          <p:cNvSpPr>
            <a:spLocks noChangeArrowheads="1"/>
          </p:cNvSpPr>
          <p:nvPr>
            <p:custDataLst>
              <p:tags r:id="rId8"/>
            </p:custDataLst>
          </p:nvPr>
        </p:nvSpPr>
        <p:spPr bwMode="gray">
          <a:xfrm>
            <a:off x="3012440" y="249364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1" name="文本框 20"/>
          <p:cNvSpPr txBox="1"/>
          <p:nvPr>
            <p:custDataLst>
              <p:tags r:id="rId9"/>
            </p:custDataLst>
          </p:nvPr>
        </p:nvSpPr>
        <p:spPr>
          <a:xfrm>
            <a:off x="3498850" y="2317750"/>
            <a:ext cx="6115050" cy="422405"/>
          </a:xfrm>
          <a:prstGeom prst="rect">
            <a:avLst/>
          </a:prstGeom>
          <a:noFill/>
        </p:spPr>
        <p:txBody>
          <a:bodyPr wrap="square" lIns="72000" tIns="72000" rIns="72000" bIns="72000">
            <a:spAutoFit/>
          </a:bodyPr>
          <a:lstStyle/>
          <a:p>
            <a:pPr>
              <a:defRPr/>
            </a:pPr>
            <a:r>
              <a:rPr dirty="0"/>
              <a:t>（1）客户机将请求发送到服务器。</a:t>
            </a:r>
          </a:p>
        </p:txBody>
      </p:sp>
      <p:sp>
        <p:nvSpPr>
          <p:cNvPr id="19" name="Oval 19"/>
          <p:cNvSpPr>
            <a:spLocks noChangeArrowheads="1"/>
          </p:cNvSpPr>
          <p:nvPr>
            <p:custDataLst>
              <p:tags r:id="rId10"/>
            </p:custDataLst>
          </p:nvPr>
        </p:nvSpPr>
        <p:spPr bwMode="gray">
          <a:xfrm>
            <a:off x="3696970" y="299085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2" name="文本框 21"/>
          <p:cNvSpPr txBox="1"/>
          <p:nvPr>
            <p:custDataLst>
              <p:tags r:id="rId11"/>
            </p:custDataLst>
          </p:nvPr>
        </p:nvSpPr>
        <p:spPr>
          <a:xfrm>
            <a:off x="4168140" y="2973705"/>
            <a:ext cx="6816090" cy="422405"/>
          </a:xfrm>
          <a:prstGeom prst="rect">
            <a:avLst/>
          </a:prstGeom>
          <a:noFill/>
        </p:spPr>
        <p:txBody>
          <a:bodyPr wrap="square" lIns="72000" tIns="72000" rIns="72000" bIns="72000">
            <a:spAutoFit/>
          </a:bodyPr>
          <a:lstStyle/>
          <a:p>
            <a:pPr>
              <a:defRPr/>
            </a:pPr>
            <a:r>
              <a:rPr dirty="0"/>
              <a:t>（2）服务器上的Web容器实例化（装入）Servlet。</a:t>
            </a:r>
          </a:p>
        </p:txBody>
      </p:sp>
      <p:sp>
        <p:nvSpPr>
          <p:cNvPr id="20" name="Oval 19"/>
          <p:cNvSpPr>
            <a:spLocks noChangeArrowheads="1"/>
          </p:cNvSpPr>
          <p:nvPr>
            <p:custDataLst>
              <p:tags r:id="rId12"/>
            </p:custDataLst>
          </p:nvPr>
        </p:nvSpPr>
        <p:spPr bwMode="gray">
          <a:xfrm>
            <a:off x="4007485" y="364807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 name="文本框 4"/>
          <p:cNvSpPr txBox="1"/>
          <p:nvPr>
            <p:custDataLst>
              <p:tags r:id="rId13"/>
            </p:custDataLst>
          </p:nvPr>
        </p:nvSpPr>
        <p:spPr>
          <a:xfrm>
            <a:off x="4507230" y="3629660"/>
            <a:ext cx="4911725" cy="422405"/>
          </a:xfrm>
          <a:prstGeom prst="rect">
            <a:avLst/>
          </a:prstGeom>
          <a:noFill/>
        </p:spPr>
        <p:txBody>
          <a:bodyPr wrap="square" lIns="72000" tIns="72000" rIns="72000" bIns="72000">
            <a:spAutoFit/>
          </a:bodyPr>
          <a:lstStyle/>
          <a:p>
            <a:pPr>
              <a:defRPr/>
            </a:pPr>
            <a:r>
              <a:rPr dirty="0"/>
              <a:t>（3）Web容器将请求信息发送到Servlet。</a:t>
            </a:r>
          </a:p>
        </p:txBody>
      </p:sp>
      <p:sp>
        <p:nvSpPr>
          <p:cNvPr id="23" name="Oval 19"/>
          <p:cNvSpPr>
            <a:spLocks noChangeArrowheads="1"/>
          </p:cNvSpPr>
          <p:nvPr>
            <p:custDataLst>
              <p:tags r:id="rId14"/>
            </p:custDataLst>
          </p:nvPr>
        </p:nvSpPr>
        <p:spPr bwMode="gray">
          <a:xfrm>
            <a:off x="4016375" y="435673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6" name="文本框 5"/>
          <p:cNvSpPr txBox="1"/>
          <p:nvPr>
            <p:custDataLst>
              <p:tags r:id="rId15"/>
            </p:custDataLst>
          </p:nvPr>
        </p:nvSpPr>
        <p:spPr>
          <a:xfrm>
            <a:off x="4618990" y="4285615"/>
            <a:ext cx="6374765" cy="422405"/>
          </a:xfrm>
          <a:prstGeom prst="rect">
            <a:avLst/>
          </a:prstGeom>
          <a:noFill/>
        </p:spPr>
        <p:txBody>
          <a:bodyPr wrap="square" lIns="72000" tIns="72000" rIns="72000" bIns="72000">
            <a:spAutoFit/>
          </a:bodyPr>
          <a:lstStyle/>
          <a:p>
            <a:pPr>
              <a:defRPr/>
            </a:pPr>
            <a:r>
              <a:rPr dirty="0"/>
              <a:t>（4）Servlet创建一个响应，并将其返回到Web容器。</a:t>
            </a:r>
          </a:p>
        </p:txBody>
      </p:sp>
      <p:sp>
        <p:nvSpPr>
          <p:cNvPr id="24" name="Oval 19"/>
          <p:cNvSpPr>
            <a:spLocks noChangeArrowheads="1"/>
          </p:cNvSpPr>
          <p:nvPr>
            <p:custDataLst>
              <p:tags r:id="rId16"/>
            </p:custDataLst>
          </p:nvPr>
        </p:nvSpPr>
        <p:spPr bwMode="gray">
          <a:xfrm>
            <a:off x="3686175" y="503301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8" name="文本框 37"/>
          <p:cNvSpPr txBox="1"/>
          <p:nvPr>
            <p:custDataLst>
              <p:tags r:id="rId17"/>
            </p:custDataLst>
          </p:nvPr>
        </p:nvSpPr>
        <p:spPr>
          <a:xfrm>
            <a:off x="4267835" y="4941570"/>
            <a:ext cx="6725920" cy="422405"/>
          </a:xfrm>
          <a:prstGeom prst="rect">
            <a:avLst/>
          </a:prstGeom>
          <a:noFill/>
        </p:spPr>
        <p:txBody>
          <a:bodyPr wrap="square" lIns="72000" tIns="72000" rIns="72000" bIns="72000">
            <a:spAutoFit/>
          </a:bodyPr>
          <a:lstStyle/>
          <a:p>
            <a:pPr>
              <a:defRPr/>
            </a:pPr>
            <a:r>
              <a:rPr lang="zh-CN" altLang="en-US" dirty="0"/>
              <a:t>（5）Web容器将响应发回客户机。</a:t>
            </a:r>
          </a:p>
        </p:txBody>
      </p:sp>
      <p:sp>
        <p:nvSpPr>
          <p:cNvPr id="25" name="Oval 19"/>
          <p:cNvSpPr>
            <a:spLocks noChangeArrowheads="1"/>
          </p:cNvSpPr>
          <p:nvPr>
            <p:custDataLst>
              <p:tags r:id="rId18"/>
            </p:custDataLst>
          </p:nvPr>
        </p:nvSpPr>
        <p:spPr bwMode="gray">
          <a:xfrm>
            <a:off x="2974975" y="551307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9" name="文本框 38"/>
          <p:cNvSpPr txBox="1"/>
          <p:nvPr>
            <p:custDataLst>
              <p:tags r:id="rId19"/>
            </p:custDataLst>
          </p:nvPr>
        </p:nvSpPr>
        <p:spPr>
          <a:xfrm>
            <a:off x="3388995" y="5597525"/>
            <a:ext cx="8158480" cy="422405"/>
          </a:xfrm>
          <a:prstGeom prst="rect">
            <a:avLst/>
          </a:prstGeom>
          <a:noFill/>
        </p:spPr>
        <p:txBody>
          <a:bodyPr wrap="square" lIns="72000" tIns="72000" rIns="72000" bIns="72000">
            <a:spAutoFit/>
          </a:bodyPr>
          <a:lstStyle/>
          <a:p>
            <a:pPr>
              <a:defRPr/>
            </a:pPr>
            <a:r>
              <a:rPr lang="zh-CN" altLang="en-US" dirty="0"/>
              <a:t>（6）服务器关闭或Servlet空闲时间超过一定限度时，调用destory( )方法退出。</a:t>
            </a:r>
          </a:p>
        </p:txBody>
      </p:sp>
    </p:spTree>
    <p:custDataLst>
      <p:tags r:id="rId1"/>
    </p:custDataLst>
  </p:cSld>
  <p:clrMapOvr>
    <a:masterClrMapping/>
  </p:clrMapOvr>
  <p:transition>
    <p:strips dir="ru"/>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8.4.1 Servlet</a:t>
            </a:r>
          </a:p>
        </p:txBody>
      </p:sp>
      <p:cxnSp>
        <p:nvCxnSpPr>
          <p:cNvPr id="3" name="直接连接符 2"/>
          <p:cNvCxnSpPr/>
          <p:nvPr/>
        </p:nvCxnSpPr>
        <p:spPr>
          <a:xfrm>
            <a:off x="6094778" y="2159957"/>
            <a:ext cx="2540" cy="3985260"/>
          </a:xfrm>
          <a:prstGeom prst="line">
            <a:avLst/>
          </a:prstGeom>
          <a:ln w="38100">
            <a:prstDash val="dashDot"/>
          </a:ln>
        </p:spPr>
        <p:style>
          <a:lnRef idx="1">
            <a:schemeClr val="accent1"/>
          </a:lnRef>
          <a:fillRef idx="0">
            <a:schemeClr val="accent1"/>
          </a:fillRef>
          <a:effectRef idx="0">
            <a:schemeClr val="accent1"/>
          </a:effectRef>
          <a:fontRef idx="minor">
            <a:schemeClr val="tx1"/>
          </a:fontRef>
        </p:style>
      </p:cxnSp>
      <p:sp>
        <p:nvSpPr>
          <p:cNvPr id="4" name="文本框 3"/>
          <p:cNvSpPr txBox="1"/>
          <p:nvPr/>
        </p:nvSpPr>
        <p:spPr>
          <a:xfrm>
            <a:off x="389255" y="1969770"/>
            <a:ext cx="5569585" cy="4366260"/>
          </a:xfrm>
          <a:prstGeom prst="rect">
            <a:avLst/>
          </a:prstGeom>
          <a:noFill/>
        </p:spPr>
        <p:txBody>
          <a:bodyPr wrap="square" rtlCol="0" anchor="t">
            <a:spAutoFit/>
          </a:bodyPr>
          <a:lstStyle/>
          <a:p>
            <a:pPr algn="just" fontAlgn="auto">
              <a:lnSpc>
                <a:spcPct val="130000"/>
              </a:lnSpc>
            </a:pPr>
            <a:r>
              <a:rPr lang="en-US" altLang="zh-CN" dirty="0"/>
              <a:t>       </a:t>
            </a:r>
            <a:r>
              <a:rPr lang="zh-CN" altLang="en-US" dirty="0"/>
              <a:t>如右图所示为Servlet的调用过程，当客户端浏览器向服务器请求一个Servlet时，服务器收到该请求后，首先到容器中检索与请求匹配的Servlet实例是否已经存在。若不存在，则Servlet容器负责加载，并实例化出该类Servlet的一个实例对象，接着容器框架负责调用该实例的init( )方法来对实例做一些初始化工作，然后Servlet容器运行该实例的service( )方法。若Servlet实例已经存在，则容器框架直接调用该实例的service( )方法。service( )方法在运行时，自动派遣运行与用户请求相对应的doXX( )方法来响应用户发起的请求。通常，每个Servlet类在容器中只存在一个实例，每当请求到来时，则分配一条线程来处理该请求。</a:t>
            </a:r>
          </a:p>
        </p:txBody>
      </p:sp>
      <p:sp>
        <p:nvSpPr>
          <p:cNvPr id="1073752851" name="AutoShape 378"/>
          <p:cNvSpPr/>
          <p:nvPr/>
        </p:nvSpPr>
        <p:spPr>
          <a:xfrm>
            <a:off x="9298383" y="2095277"/>
            <a:ext cx="1985561" cy="771652"/>
          </a:xfrm>
          <a:prstGeom prst="flowChartDecision">
            <a:avLst/>
          </a:prstGeom>
          <a:solidFill>
            <a:srgbClr val="FFFFFF"/>
          </a:solidFill>
          <a:ln w="9525" cap="flat" cmpd="sng">
            <a:solidFill>
              <a:srgbClr val="000000"/>
            </a:solidFill>
            <a:prstDash val="solid"/>
            <a:miter/>
            <a:headEnd type="none" w="med" len="med"/>
            <a:tailEnd type="none" w="med" len="med"/>
          </a:ln>
        </p:spPr>
        <p:txBody>
          <a:bodyPr wrap="square" tIns="0" bIns="108000"/>
          <a:lstStyle/>
          <a:p>
            <a:pPr algn="ctr"/>
            <a:r>
              <a:rPr lang="zh-CN" altLang="en-US" dirty="0"/>
              <a:t>Servlet存在？</a:t>
            </a:r>
          </a:p>
          <a:p>
            <a:endParaRPr lang="zh-CN" altLang="en-US" dirty="0"/>
          </a:p>
        </p:txBody>
      </p:sp>
      <p:sp>
        <p:nvSpPr>
          <p:cNvPr id="1073752852" name="Text Box 38"/>
          <p:cNvSpPr txBox="1"/>
          <p:nvPr/>
        </p:nvSpPr>
        <p:spPr>
          <a:xfrm>
            <a:off x="8588598" y="1116330"/>
            <a:ext cx="352598" cy="242009"/>
          </a:xfrm>
          <a:prstGeom prst="rect">
            <a:avLst/>
          </a:prstGeom>
          <a:noFill/>
          <a:ln w="9525">
            <a:noFill/>
          </a:ln>
        </p:spPr>
        <p:txBody>
          <a:bodyPr wrap="square" lIns="0" tIns="0" rIns="0" bIns="0"/>
          <a:lstStyle/>
          <a:p>
            <a:pPr algn="ctr"/>
            <a:r>
              <a:rPr lang="zh-CN" altLang="en-US"/>
              <a:t>请求</a:t>
            </a:r>
          </a:p>
          <a:p>
            <a:endParaRPr lang="zh-CN" altLang="en-US"/>
          </a:p>
        </p:txBody>
      </p:sp>
      <p:cxnSp>
        <p:nvCxnSpPr>
          <p:cNvPr id="1073752853" name="AutoShape 269"/>
          <p:cNvCxnSpPr/>
          <p:nvPr/>
        </p:nvCxnSpPr>
        <p:spPr>
          <a:xfrm>
            <a:off x="7826803" y="1378176"/>
            <a:ext cx="2003918" cy="0"/>
          </a:xfrm>
          <a:prstGeom prst="straightConnector1">
            <a:avLst/>
          </a:prstGeom>
          <a:ln w="9525" cap="flat" cmpd="sng">
            <a:solidFill>
              <a:srgbClr val="000000"/>
            </a:solidFill>
            <a:prstDash val="solid"/>
            <a:headEnd type="none" w="med" len="med"/>
            <a:tailEnd type="triangle" w="med" len="med"/>
          </a:ln>
        </p:spPr>
      </p:cxnSp>
      <p:cxnSp>
        <p:nvCxnSpPr>
          <p:cNvPr id="1073752854" name="AutoShape 271"/>
          <p:cNvCxnSpPr/>
          <p:nvPr/>
        </p:nvCxnSpPr>
        <p:spPr>
          <a:xfrm>
            <a:off x="10293458" y="3745699"/>
            <a:ext cx="765" cy="450296"/>
          </a:xfrm>
          <a:prstGeom prst="straightConnector1">
            <a:avLst/>
          </a:prstGeom>
          <a:ln w="9525" cap="flat" cmpd="sng">
            <a:solidFill>
              <a:srgbClr val="000000"/>
            </a:solidFill>
            <a:prstDash val="solid"/>
            <a:headEnd type="none" w="med" len="med"/>
            <a:tailEnd type="triangle" w="med" len="med"/>
          </a:ln>
        </p:spPr>
      </p:cxnSp>
      <p:cxnSp>
        <p:nvCxnSpPr>
          <p:cNvPr id="1073752855" name="AutoShape 274"/>
          <p:cNvCxnSpPr>
            <a:cxnSpLocks/>
            <a:stCxn id="1073752859" idx="3"/>
            <a:endCxn id="1073752867" idx="1"/>
          </p:cNvCxnSpPr>
          <p:nvPr/>
        </p:nvCxnSpPr>
        <p:spPr>
          <a:xfrm>
            <a:off x="8977572" y="3533941"/>
            <a:ext cx="687941" cy="0"/>
          </a:xfrm>
          <a:prstGeom prst="straightConnector1">
            <a:avLst/>
          </a:prstGeom>
          <a:ln w="9525" cap="flat" cmpd="sng">
            <a:solidFill>
              <a:srgbClr val="000000"/>
            </a:solidFill>
            <a:prstDash val="solid"/>
            <a:headEnd type="none" w="med" len="med"/>
            <a:tailEnd type="triangle" w="med" len="med"/>
          </a:ln>
        </p:spPr>
      </p:cxnSp>
      <p:sp>
        <p:nvSpPr>
          <p:cNvPr id="1073752856" name="Text Box 38"/>
          <p:cNvSpPr txBox="1"/>
          <p:nvPr/>
        </p:nvSpPr>
        <p:spPr>
          <a:xfrm>
            <a:off x="9134367" y="3277551"/>
            <a:ext cx="361011" cy="242009"/>
          </a:xfrm>
          <a:prstGeom prst="rect">
            <a:avLst/>
          </a:prstGeom>
          <a:noFill/>
          <a:ln w="9525">
            <a:noFill/>
          </a:ln>
        </p:spPr>
        <p:txBody>
          <a:bodyPr wrap="square" lIns="0" tIns="0" rIns="0" bIns="0"/>
          <a:lstStyle/>
          <a:p>
            <a:pPr algn="ctr"/>
            <a:r>
              <a:rPr lang="zh-CN" altLang="en-US" dirty="0"/>
              <a:t>载入</a:t>
            </a:r>
          </a:p>
          <a:p>
            <a:endParaRPr lang="zh-CN" altLang="en-US" dirty="0"/>
          </a:p>
        </p:txBody>
      </p:sp>
      <p:sp>
        <p:nvSpPr>
          <p:cNvPr id="1073752857" name="Text Box 38"/>
          <p:cNvSpPr txBox="1"/>
          <p:nvPr/>
        </p:nvSpPr>
        <p:spPr>
          <a:xfrm>
            <a:off x="11407851" y="2231159"/>
            <a:ext cx="238634" cy="242009"/>
          </a:xfrm>
          <a:prstGeom prst="rect">
            <a:avLst/>
          </a:prstGeom>
          <a:noFill/>
          <a:ln w="9525">
            <a:noFill/>
          </a:ln>
        </p:spPr>
        <p:txBody>
          <a:bodyPr wrap="square" lIns="0" tIns="0" rIns="0" bIns="0"/>
          <a:lstStyle/>
          <a:p>
            <a:pPr algn="ctr"/>
            <a:r>
              <a:rPr lang="zh-CN" altLang="en-US"/>
              <a:t>是</a:t>
            </a:r>
          </a:p>
          <a:p>
            <a:endParaRPr lang="zh-CN" altLang="en-US"/>
          </a:p>
        </p:txBody>
      </p:sp>
      <p:sp>
        <p:nvSpPr>
          <p:cNvPr id="1073752858" name="Text Box 38"/>
          <p:cNvSpPr txBox="1"/>
          <p:nvPr/>
        </p:nvSpPr>
        <p:spPr>
          <a:xfrm>
            <a:off x="10066296" y="2906602"/>
            <a:ext cx="238634" cy="242009"/>
          </a:xfrm>
          <a:prstGeom prst="rect">
            <a:avLst/>
          </a:prstGeom>
          <a:noFill/>
          <a:ln w="9525">
            <a:noFill/>
          </a:ln>
        </p:spPr>
        <p:txBody>
          <a:bodyPr wrap="square" lIns="0" tIns="0" rIns="0" bIns="0"/>
          <a:lstStyle/>
          <a:p>
            <a:pPr algn="ctr"/>
            <a:r>
              <a:rPr lang="zh-CN" altLang="en-US"/>
              <a:t>否</a:t>
            </a:r>
          </a:p>
          <a:p>
            <a:endParaRPr lang="zh-CN" altLang="en-US"/>
          </a:p>
        </p:txBody>
      </p:sp>
      <p:sp>
        <p:nvSpPr>
          <p:cNvPr id="1073752859" name="Text Box 15"/>
          <p:cNvSpPr txBox="1"/>
          <p:nvPr/>
        </p:nvSpPr>
        <p:spPr>
          <a:xfrm>
            <a:off x="7037902" y="3329126"/>
            <a:ext cx="1939670"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字节码文件信息</a:t>
            </a:r>
          </a:p>
          <a:p>
            <a:endParaRPr lang="zh-CN" altLang="en-US"/>
          </a:p>
        </p:txBody>
      </p:sp>
      <p:sp>
        <p:nvSpPr>
          <p:cNvPr id="1073752860" name="Text Box 15"/>
          <p:cNvSpPr txBox="1"/>
          <p:nvPr/>
        </p:nvSpPr>
        <p:spPr>
          <a:xfrm>
            <a:off x="9531663" y="1170881"/>
            <a:ext cx="1520530"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Servlet容器</a:t>
            </a:r>
          </a:p>
          <a:p>
            <a:endParaRPr lang="zh-CN" altLang="en-US"/>
          </a:p>
        </p:txBody>
      </p:sp>
      <p:sp>
        <p:nvSpPr>
          <p:cNvPr id="1073752861" name="Text Box 15"/>
          <p:cNvSpPr txBox="1"/>
          <p:nvPr/>
        </p:nvSpPr>
        <p:spPr>
          <a:xfrm>
            <a:off x="7000761" y="1170881"/>
            <a:ext cx="1435631"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dirty="0"/>
              <a:t>Web浏览器</a:t>
            </a:r>
          </a:p>
          <a:p>
            <a:endParaRPr lang="zh-CN" altLang="en-US" dirty="0"/>
          </a:p>
        </p:txBody>
      </p:sp>
      <p:sp>
        <p:nvSpPr>
          <p:cNvPr id="1073752862" name="Text Box 15"/>
          <p:cNvSpPr txBox="1"/>
          <p:nvPr/>
        </p:nvSpPr>
        <p:spPr>
          <a:xfrm>
            <a:off x="9200481" y="4194011"/>
            <a:ext cx="2084228"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调用init( )，初始化</a:t>
            </a:r>
          </a:p>
          <a:p>
            <a:endParaRPr lang="zh-CN" altLang="en-US"/>
          </a:p>
        </p:txBody>
      </p:sp>
      <p:cxnSp>
        <p:nvCxnSpPr>
          <p:cNvPr id="1073752863" name="AutoShape 271"/>
          <p:cNvCxnSpPr/>
          <p:nvPr/>
        </p:nvCxnSpPr>
        <p:spPr>
          <a:xfrm>
            <a:off x="10293458" y="4609592"/>
            <a:ext cx="765" cy="450296"/>
          </a:xfrm>
          <a:prstGeom prst="straightConnector1">
            <a:avLst/>
          </a:prstGeom>
          <a:ln w="9525" cap="flat" cmpd="sng">
            <a:solidFill>
              <a:srgbClr val="000000"/>
            </a:solidFill>
            <a:prstDash val="solid"/>
            <a:headEnd type="none" w="med" len="med"/>
            <a:tailEnd type="triangle" w="med" len="med"/>
          </a:ln>
        </p:spPr>
      </p:cxnSp>
      <p:sp>
        <p:nvSpPr>
          <p:cNvPr id="1073752864" name="Text Box 15"/>
          <p:cNvSpPr txBox="1"/>
          <p:nvPr/>
        </p:nvSpPr>
        <p:spPr>
          <a:xfrm>
            <a:off x="9442175" y="5059888"/>
            <a:ext cx="1476168"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调用service( )</a:t>
            </a:r>
          </a:p>
          <a:p>
            <a:endParaRPr lang="zh-CN" altLang="en-US"/>
          </a:p>
        </p:txBody>
      </p:sp>
      <p:sp>
        <p:nvSpPr>
          <p:cNvPr id="1073752865" name="Text Box 15"/>
          <p:cNvSpPr txBox="1"/>
          <p:nvPr/>
        </p:nvSpPr>
        <p:spPr>
          <a:xfrm>
            <a:off x="9443705" y="5925765"/>
            <a:ext cx="1475404"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运行doXX( )</a:t>
            </a:r>
          </a:p>
          <a:p>
            <a:endParaRPr lang="zh-CN" altLang="en-US"/>
          </a:p>
        </p:txBody>
      </p:sp>
      <p:cxnSp>
        <p:nvCxnSpPr>
          <p:cNvPr id="1073752866" name="AutoShape 271"/>
          <p:cNvCxnSpPr/>
          <p:nvPr/>
        </p:nvCxnSpPr>
        <p:spPr>
          <a:xfrm>
            <a:off x="10293458" y="5475469"/>
            <a:ext cx="765" cy="450296"/>
          </a:xfrm>
          <a:prstGeom prst="straightConnector1">
            <a:avLst/>
          </a:prstGeom>
          <a:ln w="9525" cap="flat" cmpd="sng">
            <a:solidFill>
              <a:srgbClr val="000000"/>
            </a:solidFill>
            <a:prstDash val="solid"/>
            <a:headEnd type="none" w="med" len="med"/>
            <a:tailEnd type="triangle" w="med" len="med"/>
          </a:ln>
        </p:spPr>
      </p:cxnSp>
      <p:sp>
        <p:nvSpPr>
          <p:cNvPr id="1073752867" name="Text Box 15"/>
          <p:cNvSpPr txBox="1"/>
          <p:nvPr/>
        </p:nvSpPr>
        <p:spPr>
          <a:xfrm>
            <a:off x="9665513" y="3329126"/>
            <a:ext cx="1252831"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实例化</a:t>
            </a:r>
          </a:p>
          <a:p>
            <a:endParaRPr lang="zh-CN" altLang="en-US"/>
          </a:p>
        </p:txBody>
      </p:sp>
      <p:sp>
        <p:nvSpPr>
          <p:cNvPr id="1073752869" name="Text Box 38"/>
          <p:cNvSpPr txBox="1"/>
          <p:nvPr/>
        </p:nvSpPr>
        <p:spPr>
          <a:xfrm>
            <a:off x="6855713" y="4855569"/>
            <a:ext cx="363306" cy="553998"/>
          </a:xfrm>
          <a:prstGeom prst="rect">
            <a:avLst/>
          </a:prstGeom>
          <a:noFill/>
          <a:ln w="9525">
            <a:noFill/>
          </a:ln>
        </p:spPr>
        <p:txBody>
          <a:bodyPr wrap="square" lIns="0" tIns="0" rIns="0" bIns="0">
            <a:spAutoFit/>
          </a:bodyPr>
          <a:lstStyle/>
          <a:p>
            <a:pPr algn="ctr"/>
            <a:r>
              <a:rPr lang="zh-CN" altLang="en-US" dirty="0"/>
              <a:t>响应</a:t>
            </a:r>
          </a:p>
        </p:txBody>
      </p:sp>
      <p:cxnSp>
        <p:nvCxnSpPr>
          <p:cNvPr id="1073752870" name="AutoShape 271"/>
          <p:cNvCxnSpPr/>
          <p:nvPr/>
        </p:nvCxnSpPr>
        <p:spPr>
          <a:xfrm>
            <a:off x="10293458" y="2876847"/>
            <a:ext cx="765" cy="450296"/>
          </a:xfrm>
          <a:prstGeom prst="straightConnector1">
            <a:avLst/>
          </a:prstGeom>
          <a:ln w="9525" cap="flat" cmpd="sng">
            <a:solidFill>
              <a:srgbClr val="000000"/>
            </a:solidFill>
            <a:prstDash val="solid"/>
            <a:headEnd type="none" w="med" len="med"/>
            <a:tailEnd type="triangle" w="med" len="med"/>
          </a:ln>
        </p:spPr>
      </p:cxnSp>
      <p:cxnSp>
        <p:nvCxnSpPr>
          <p:cNvPr id="1073752871" name="AutoShape 271"/>
          <p:cNvCxnSpPr/>
          <p:nvPr/>
        </p:nvCxnSpPr>
        <p:spPr>
          <a:xfrm flipH="1">
            <a:off x="10294223" y="1584479"/>
            <a:ext cx="2295" cy="511790"/>
          </a:xfrm>
          <a:prstGeom prst="straightConnector1">
            <a:avLst/>
          </a:prstGeom>
          <a:ln w="9525" cap="flat" cmpd="sng">
            <a:solidFill>
              <a:srgbClr val="000000"/>
            </a:solidFill>
            <a:prstDash val="solid"/>
            <a:headEnd type="none" w="med" len="med"/>
            <a:tailEnd type="triangle" w="med" len="med"/>
          </a:ln>
        </p:spPr>
      </p:cxnSp>
      <p:sp>
        <p:nvSpPr>
          <p:cNvPr id="1073752872" name="任意多边形 1073752871"/>
          <p:cNvSpPr/>
          <p:nvPr/>
        </p:nvSpPr>
        <p:spPr>
          <a:xfrm>
            <a:off x="10918344" y="2481103"/>
            <a:ext cx="911706" cy="2790047"/>
          </a:xfrm>
          <a:custGeom>
            <a:avLst/>
            <a:gdLst/>
            <a:ahLst/>
            <a:cxnLst/>
            <a:rect l="0" t="0" r="0" b="0"/>
            <a:pathLst>
              <a:path w="1192" h="2813">
                <a:moveTo>
                  <a:pt x="478" y="0"/>
                </a:moveTo>
                <a:lnTo>
                  <a:pt x="1192" y="0"/>
                </a:lnTo>
                <a:lnTo>
                  <a:pt x="1192" y="2813"/>
                </a:lnTo>
                <a:lnTo>
                  <a:pt x="0" y="2813"/>
                </a:lnTo>
              </a:path>
            </a:pathLst>
          </a:custGeom>
          <a:noFill/>
          <a:ln w="9525" cap="flat" cmpd="sng">
            <a:solidFill>
              <a:srgbClr val="000000"/>
            </a:solidFill>
            <a:prstDash val="solid"/>
            <a:headEnd type="none" w="med" len="med"/>
            <a:tailEnd type="triangle" w="med" len="med"/>
          </a:ln>
        </p:spPr>
        <p:txBody>
          <a:bodyPr/>
          <a:lstStyle/>
          <a:p>
            <a:endParaRPr lang="zh-CN" altLang="en-US"/>
          </a:p>
        </p:txBody>
      </p:sp>
      <p:cxnSp>
        <p:nvCxnSpPr>
          <p:cNvPr id="7" name="连接符: 肘形 6">
            <a:extLst>
              <a:ext uri="{FF2B5EF4-FFF2-40B4-BE49-F238E27FC236}">
                <a16:creationId xmlns:a16="http://schemas.microsoft.com/office/drawing/2014/main" id="{F0F9F211-18FD-B1A5-3348-42699EC2316E}"/>
              </a:ext>
            </a:extLst>
          </p:cNvPr>
          <p:cNvCxnSpPr>
            <a:stCxn id="1073752865" idx="1"/>
            <a:endCxn id="1073752861" idx="1"/>
          </p:cNvCxnSpPr>
          <p:nvPr/>
        </p:nvCxnSpPr>
        <p:spPr>
          <a:xfrm rot="10800000">
            <a:off x="7000761" y="1375696"/>
            <a:ext cx="2442944" cy="4754884"/>
          </a:xfrm>
          <a:prstGeom prst="bentConnector3">
            <a:avLst>
              <a:gd name="adj1" fmla="val 109358"/>
            </a:avLst>
          </a:prstGeom>
          <a:ln>
            <a:tailEnd type="triangle"/>
          </a:ln>
        </p:spPr>
        <p:style>
          <a:lnRef idx="1">
            <a:schemeClr val="accent1"/>
          </a:lnRef>
          <a:fillRef idx="0">
            <a:schemeClr val="accent1"/>
          </a:fillRef>
          <a:effectRef idx="0">
            <a:schemeClr val="accent1"/>
          </a:effectRef>
          <a:fontRef idx="minor">
            <a:schemeClr val="tx1"/>
          </a:fontRef>
        </p:style>
      </p:cxnSp>
    </p:spTree>
    <p:custDataLst>
      <p:tags r:id="rId1"/>
    </p:custDataLst>
  </p:cSld>
  <p:clrMapOvr>
    <a:masterClrMapping/>
  </p:clrMapOvr>
  <p:transition>
    <p:strips dir="ru"/>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8.4.2 JSP</a:t>
            </a:r>
          </a:p>
        </p:txBody>
      </p:sp>
      <p:sp>
        <p:nvSpPr>
          <p:cNvPr id="1073752828" name="Text Box 75"/>
          <p:cNvSpPr txBox="1"/>
          <p:nvPr/>
        </p:nvSpPr>
        <p:spPr>
          <a:xfrm>
            <a:off x="4674258" y="1632284"/>
            <a:ext cx="1163043" cy="589897"/>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dirty="0"/>
              <a:t>客户端浏览器</a:t>
            </a:r>
          </a:p>
          <a:p>
            <a:endParaRPr lang="zh-CN" altLang="en-US" dirty="0"/>
          </a:p>
        </p:txBody>
      </p:sp>
      <p:sp>
        <p:nvSpPr>
          <p:cNvPr id="1073752829" name="AutoShape 82"/>
          <p:cNvSpPr/>
          <p:nvPr/>
        </p:nvSpPr>
        <p:spPr>
          <a:xfrm>
            <a:off x="7419906" y="3151160"/>
            <a:ext cx="2891818" cy="663307"/>
          </a:xfrm>
          <a:prstGeom prst="flowChartDecision">
            <a:avLst/>
          </a:prstGeom>
          <a:solidFill>
            <a:srgbClr val="FFFFFF"/>
          </a:solidFill>
          <a:ln w="9525" cap="flat" cmpd="sng">
            <a:solidFill>
              <a:srgbClr val="000000"/>
            </a:solidFill>
            <a:prstDash val="solid"/>
            <a:miter/>
            <a:headEnd type="none" w="med" len="med"/>
            <a:tailEnd type="none" w="med" len="med"/>
          </a:ln>
        </p:spPr>
        <p:txBody>
          <a:bodyPr wrap="square"/>
          <a:lstStyle/>
          <a:p>
            <a:pPr algn="ctr"/>
            <a:r>
              <a:rPr lang="zh-CN" altLang="en-US"/>
              <a:t>首次被访问？</a:t>
            </a:r>
          </a:p>
          <a:p>
            <a:endParaRPr lang="zh-CN" altLang="en-US"/>
          </a:p>
        </p:txBody>
      </p:sp>
      <p:cxnSp>
        <p:nvCxnSpPr>
          <p:cNvPr id="1073752830" name="AutoShape 83"/>
          <p:cNvCxnSpPr>
            <a:cxnSpLocks/>
            <a:stCxn id="1073752828" idx="3"/>
            <a:endCxn id="1073752835" idx="1"/>
          </p:cNvCxnSpPr>
          <p:nvPr/>
        </p:nvCxnSpPr>
        <p:spPr>
          <a:xfrm flipV="1">
            <a:off x="5837301" y="1927232"/>
            <a:ext cx="2446993" cy="1"/>
          </a:xfrm>
          <a:prstGeom prst="straightConnector1">
            <a:avLst/>
          </a:prstGeom>
          <a:ln w="9525" cap="flat" cmpd="sng">
            <a:solidFill>
              <a:srgbClr val="000000"/>
            </a:solidFill>
            <a:prstDash val="solid"/>
            <a:headEnd type="none" w="med" len="med"/>
            <a:tailEnd type="triangle" w="med" len="med"/>
          </a:ln>
        </p:spPr>
      </p:cxnSp>
      <p:cxnSp>
        <p:nvCxnSpPr>
          <p:cNvPr id="1073752831" name="AutoShape 84"/>
          <p:cNvCxnSpPr>
            <a:cxnSpLocks/>
            <a:stCxn id="1073752835" idx="2"/>
            <a:endCxn id="1073752836" idx="0"/>
          </p:cNvCxnSpPr>
          <p:nvPr/>
        </p:nvCxnSpPr>
        <p:spPr>
          <a:xfrm flipH="1">
            <a:off x="8865815" y="2108134"/>
            <a:ext cx="1" cy="304562"/>
          </a:xfrm>
          <a:prstGeom prst="straightConnector1">
            <a:avLst/>
          </a:prstGeom>
          <a:ln w="9525" cap="flat" cmpd="sng">
            <a:solidFill>
              <a:srgbClr val="000000"/>
            </a:solidFill>
            <a:prstDash val="solid"/>
            <a:headEnd type="none" w="med" len="med"/>
            <a:tailEnd type="triangle" w="med" len="med"/>
          </a:ln>
        </p:spPr>
      </p:cxnSp>
      <p:cxnSp>
        <p:nvCxnSpPr>
          <p:cNvPr id="1073752832" name="AutoShape 85"/>
          <p:cNvCxnSpPr>
            <a:cxnSpLocks/>
            <a:stCxn id="1073752836" idx="2"/>
            <a:endCxn id="1073752829" idx="0"/>
          </p:cNvCxnSpPr>
          <p:nvPr/>
        </p:nvCxnSpPr>
        <p:spPr>
          <a:xfrm>
            <a:off x="8865815" y="2774500"/>
            <a:ext cx="0" cy="376660"/>
          </a:xfrm>
          <a:prstGeom prst="straightConnector1">
            <a:avLst/>
          </a:prstGeom>
          <a:ln w="9525" cap="flat" cmpd="sng">
            <a:solidFill>
              <a:srgbClr val="000000"/>
            </a:solidFill>
            <a:prstDash val="solid"/>
            <a:headEnd type="none" w="med" len="med"/>
            <a:tailEnd type="triangle" w="med" len="med"/>
          </a:ln>
        </p:spPr>
      </p:cxnSp>
      <p:sp>
        <p:nvSpPr>
          <p:cNvPr id="1073752833" name="Text Box 97"/>
          <p:cNvSpPr txBox="1"/>
          <p:nvPr/>
        </p:nvSpPr>
        <p:spPr>
          <a:xfrm>
            <a:off x="6458975" y="1610436"/>
            <a:ext cx="961834" cy="246221"/>
          </a:xfrm>
          <a:prstGeom prst="rect">
            <a:avLst/>
          </a:prstGeom>
          <a:noFill/>
          <a:ln w="9525">
            <a:noFill/>
          </a:ln>
        </p:spPr>
        <p:txBody>
          <a:bodyPr wrap="square" lIns="0" tIns="0" rIns="0" bIns="0">
            <a:spAutoFit/>
          </a:bodyPr>
          <a:lstStyle/>
          <a:p>
            <a:pPr algn="ctr"/>
            <a:r>
              <a:rPr lang="zh-CN" altLang="en-US" sz="1600" dirty="0"/>
              <a:t>请求</a:t>
            </a:r>
          </a:p>
        </p:txBody>
      </p:sp>
      <p:cxnSp>
        <p:nvCxnSpPr>
          <p:cNvPr id="1073752834" name="AutoShape 89"/>
          <p:cNvCxnSpPr>
            <a:cxnSpLocks/>
            <a:stCxn id="1073752842" idx="3"/>
            <a:endCxn id="1073752837" idx="1"/>
          </p:cNvCxnSpPr>
          <p:nvPr/>
        </p:nvCxnSpPr>
        <p:spPr>
          <a:xfrm>
            <a:off x="6463472" y="4509235"/>
            <a:ext cx="1879470" cy="0"/>
          </a:xfrm>
          <a:prstGeom prst="straightConnector1">
            <a:avLst/>
          </a:prstGeom>
          <a:ln w="9525" cap="flat" cmpd="sng">
            <a:solidFill>
              <a:srgbClr val="000000"/>
            </a:solidFill>
            <a:prstDash val="solid"/>
            <a:headEnd type="none" w="med" len="med"/>
            <a:tailEnd type="triangle" w="med" len="med"/>
          </a:ln>
        </p:spPr>
      </p:cxnSp>
      <p:sp>
        <p:nvSpPr>
          <p:cNvPr id="1073752835" name="Text Box 75"/>
          <p:cNvSpPr txBox="1"/>
          <p:nvPr/>
        </p:nvSpPr>
        <p:spPr>
          <a:xfrm>
            <a:off x="8284294" y="1746330"/>
            <a:ext cx="1163043" cy="36180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dirty="0"/>
              <a:t>服务器</a:t>
            </a:r>
          </a:p>
        </p:txBody>
      </p:sp>
      <p:sp>
        <p:nvSpPr>
          <p:cNvPr id="1073752836" name="Text Box 75"/>
          <p:cNvSpPr txBox="1"/>
          <p:nvPr/>
        </p:nvSpPr>
        <p:spPr>
          <a:xfrm>
            <a:off x="8123687" y="2412696"/>
            <a:ext cx="1484256" cy="36180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dirty="0"/>
              <a:t>JSP文件</a:t>
            </a:r>
          </a:p>
        </p:txBody>
      </p:sp>
      <p:sp>
        <p:nvSpPr>
          <p:cNvPr id="1073752837" name="Text Box 75"/>
          <p:cNvSpPr txBox="1"/>
          <p:nvPr/>
        </p:nvSpPr>
        <p:spPr>
          <a:xfrm>
            <a:off x="8342942" y="4328333"/>
            <a:ext cx="1163043" cy="36180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Servlet类</a:t>
            </a:r>
          </a:p>
          <a:p>
            <a:endParaRPr lang="zh-CN" altLang="en-US"/>
          </a:p>
        </p:txBody>
      </p:sp>
      <p:cxnSp>
        <p:nvCxnSpPr>
          <p:cNvPr id="1073752838" name="AutoShape 85"/>
          <p:cNvCxnSpPr/>
          <p:nvPr/>
        </p:nvCxnSpPr>
        <p:spPr>
          <a:xfrm>
            <a:off x="8923110" y="4690137"/>
            <a:ext cx="902" cy="377534"/>
          </a:xfrm>
          <a:prstGeom prst="straightConnector1">
            <a:avLst/>
          </a:prstGeom>
          <a:ln w="9525" cap="flat" cmpd="sng">
            <a:solidFill>
              <a:srgbClr val="000000"/>
            </a:solidFill>
            <a:prstDash val="solid"/>
            <a:headEnd type="none" w="med" len="med"/>
            <a:tailEnd type="triangle" w="med" len="med"/>
          </a:ln>
        </p:spPr>
      </p:cxnSp>
      <p:sp>
        <p:nvSpPr>
          <p:cNvPr id="1073752839" name="Text Box 75"/>
          <p:cNvSpPr txBox="1"/>
          <p:nvPr/>
        </p:nvSpPr>
        <p:spPr>
          <a:xfrm>
            <a:off x="7981126" y="5065049"/>
            <a:ext cx="1866824" cy="36180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Java编译器</a:t>
            </a:r>
          </a:p>
          <a:p>
            <a:endParaRPr lang="zh-CN" altLang="en-US"/>
          </a:p>
        </p:txBody>
      </p:sp>
      <p:sp>
        <p:nvSpPr>
          <p:cNvPr id="1073752840" name="Text Box 75"/>
          <p:cNvSpPr txBox="1"/>
          <p:nvPr/>
        </p:nvSpPr>
        <p:spPr>
          <a:xfrm>
            <a:off x="8342942" y="5804387"/>
            <a:ext cx="1323650" cy="36180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JVM</a:t>
            </a:r>
          </a:p>
          <a:p>
            <a:endParaRPr lang="zh-CN" altLang="en-US"/>
          </a:p>
        </p:txBody>
      </p:sp>
      <p:cxnSp>
        <p:nvCxnSpPr>
          <p:cNvPr id="1073752841" name="AutoShape 85"/>
          <p:cNvCxnSpPr/>
          <p:nvPr/>
        </p:nvCxnSpPr>
        <p:spPr>
          <a:xfrm>
            <a:off x="8923110" y="5426853"/>
            <a:ext cx="902" cy="377534"/>
          </a:xfrm>
          <a:prstGeom prst="straightConnector1">
            <a:avLst/>
          </a:prstGeom>
          <a:ln w="9525" cap="flat" cmpd="sng">
            <a:solidFill>
              <a:srgbClr val="000000"/>
            </a:solidFill>
            <a:prstDash val="solid"/>
            <a:headEnd type="none" w="med" len="med"/>
            <a:tailEnd type="triangle" w="med" len="med"/>
          </a:ln>
        </p:spPr>
      </p:cxnSp>
      <p:sp>
        <p:nvSpPr>
          <p:cNvPr id="1073752842" name="Text Box 75"/>
          <p:cNvSpPr txBox="1"/>
          <p:nvPr/>
        </p:nvSpPr>
        <p:spPr>
          <a:xfrm>
            <a:off x="4860115" y="4328333"/>
            <a:ext cx="1603357" cy="36180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JSP引擎</a:t>
            </a:r>
          </a:p>
          <a:p>
            <a:endParaRPr lang="zh-CN" altLang="en-US"/>
          </a:p>
        </p:txBody>
      </p:sp>
      <p:sp>
        <p:nvSpPr>
          <p:cNvPr id="1073752843" name="Text Box 97"/>
          <p:cNvSpPr txBox="1"/>
          <p:nvPr/>
        </p:nvSpPr>
        <p:spPr>
          <a:xfrm>
            <a:off x="6830479" y="4284637"/>
            <a:ext cx="1075522" cy="246221"/>
          </a:xfrm>
          <a:prstGeom prst="rect">
            <a:avLst/>
          </a:prstGeom>
          <a:noFill/>
          <a:ln w="9525">
            <a:noFill/>
          </a:ln>
        </p:spPr>
        <p:txBody>
          <a:bodyPr wrap="square" lIns="0" tIns="0" rIns="0" bIns="0">
            <a:spAutoFit/>
          </a:bodyPr>
          <a:lstStyle/>
          <a:p>
            <a:pPr algn="ctr"/>
            <a:r>
              <a:rPr lang="zh-CN" altLang="en-US" sz="1600" dirty="0"/>
              <a:t>转化为</a:t>
            </a:r>
          </a:p>
        </p:txBody>
      </p:sp>
      <p:sp>
        <p:nvSpPr>
          <p:cNvPr id="1073752844" name="Text Box 97"/>
          <p:cNvSpPr txBox="1"/>
          <p:nvPr/>
        </p:nvSpPr>
        <p:spPr>
          <a:xfrm>
            <a:off x="6646649" y="3258653"/>
            <a:ext cx="378057" cy="246221"/>
          </a:xfrm>
          <a:prstGeom prst="rect">
            <a:avLst/>
          </a:prstGeom>
          <a:noFill/>
          <a:ln w="9525">
            <a:noFill/>
          </a:ln>
        </p:spPr>
        <p:txBody>
          <a:bodyPr wrap="square" lIns="0" tIns="0" rIns="0" bIns="0">
            <a:spAutoFit/>
          </a:bodyPr>
          <a:lstStyle/>
          <a:p>
            <a:pPr algn="ctr"/>
            <a:r>
              <a:rPr lang="zh-CN" altLang="en-US" sz="1600" dirty="0"/>
              <a:t>是</a:t>
            </a:r>
          </a:p>
        </p:txBody>
      </p:sp>
      <p:sp>
        <p:nvSpPr>
          <p:cNvPr id="1073752845" name="Text Box 97"/>
          <p:cNvSpPr txBox="1"/>
          <p:nvPr/>
        </p:nvSpPr>
        <p:spPr>
          <a:xfrm>
            <a:off x="3876640" y="4965422"/>
            <a:ext cx="415050" cy="213237"/>
          </a:xfrm>
          <a:prstGeom prst="rect">
            <a:avLst/>
          </a:prstGeom>
          <a:noFill/>
          <a:ln w="9525">
            <a:noFill/>
          </a:ln>
        </p:spPr>
        <p:txBody>
          <a:bodyPr wrap="square" lIns="0" tIns="0" rIns="0" bIns="0"/>
          <a:lstStyle/>
          <a:p>
            <a:pPr algn="ctr"/>
            <a:r>
              <a:rPr lang="zh-CN" altLang="en-US"/>
              <a:t>响应</a:t>
            </a:r>
          </a:p>
          <a:p>
            <a:endParaRPr lang="zh-CN" altLang="en-US"/>
          </a:p>
        </p:txBody>
      </p:sp>
      <p:sp>
        <p:nvSpPr>
          <p:cNvPr id="1073752849" name="Text Box 97"/>
          <p:cNvSpPr txBox="1"/>
          <p:nvPr/>
        </p:nvSpPr>
        <p:spPr>
          <a:xfrm>
            <a:off x="11047085" y="3298245"/>
            <a:ext cx="378057" cy="246221"/>
          </a:xfrm>
          <a:prstGeom prst="rect">
            <a:avLst/>
          </a:prstGeom>
          <a:noFill/>
          <a:ln w="9525">
            <a:noFill/>
          </a:ln>
        </p:spPr>
        <p:txBody>
          <a:bodyPr wrap="square" lIns="0" tIns="0" rIns="0" bIns="0">
            <a:spAutoFit/>
          </a:bodyPr>
          <a:lstStyle/>
          <a:p>
            <a:pPr algn="ctr"/>
            <a:r>
              <a:rPr lang="zh-CN" altLang="en-US" sz="1600" dirty="0"/>
              <a:t>否</a:t>
            </a:r>
          </a:p>
        </p:txBody>
      </p:sp>
      <p:sp>
        <p:nvSpPr>
          <p:cNvPr id="30" name="文本框 3"/>
          <p:cNvSpPr txBox="1"/>
          <p:nvPr/>
        </p:nvSpPr>
        <p:spPr>
          <a:xfrm>
            <a:off x="754063" y="2222181"/>
            <a:ext cx="2839412" cy="923330"/>
          </a:xfrm>
          <a:prstGeom prst="rect">
            <a:avLst/>
          </a:prstGeom>
          <a:noFill/>
        </p:spPr>
        <p:txBody>
          <a:bodyPr wrap="square" rtlCol="0" anchor="t">
            <a:spAutoFit/>
          </a:bodyPr>
          <a:lstStyle/>
          <a:p>
            <a:r>
              <a:rPr lang="en-US" altLang="zh-CN" dirty="0"/>
              <a:t>JSP</a:t>
            </a:r>
            <a:r>
              <a:rPr lang="zh-CN" altLang="en-US" dirty="0"/>
              <a:t>（</a:t>
            </a:r>
            <a:r>
              <a:rPr lang="en-US" altLang="zh-CN" dirty="0"/>
              <a:t>Java Server Pages</a:t>
            </a:r>
            <a:r>
              <a:rPr lang="zh-CN" altLang="en-US" dirty="0"/>
              <a:t>）是</a:t>
            </a:r>
            <a:r>
              <a:rPr lang="en-US" altLang="zh-CN" dirty="0"/>
              <a:t>Servlet</a:t>
            </a:r>
            <a:r>
              <a:rPr lang="zh-CN" altLang="en-US" dirty="0"/>
              <a:t>技术的变形。</a:t>
            </a:r>
            <a:r>
              <a:rPr lang="en-US" altLang="zh-CN" dirty="0"/>
              <a:t>JSP</a:t>
            </a:r>
            <a:r>
              <a:rPr lang="zh-CN" altLang="en-US" dirty="0"/>
              <a:t>的调用方法如右图所示。</a:t>
            </a:r>
          </a:p>
        </p:txBody>
      </p:sp>
      <p:cxnSp>
        <p:nvCxnSpPr>
          <p:cNvPr id="7" name="连接符: 肘形 6">
            <a:extLst>
              <a:ext uri="{FF2B5EF4-FFF2-40B4-BE49-F238E27FC236}">
                <a16:creationId xmlns:a16="http://schemas.microsoft.com/office/drawing/2014/main" id="{616EB42D-ACB1-655E-3040-607CA0B6B8AA}"/>
              </a:ext>
            </a:extLst>
          </p:cNvPr>
          <p:cNvCxnSpPr>
            <a:stCxn id="1073752829" idx="3"/>
            <a:endCxn id="1073752840" idx="3"/>
          </p:cNvCxnSpPr>
          <p:nvPr/>
        </p:nvCxnSpPr>
        <p:spPr>
          <a:xfrm flipH="1">
            <a:off x="9666592" y="3482814"/>
            <a:ext cx="645132" cy="2502475"/>
          </a:xfrm>
          <a:prstGeom prst="bentConnector3">
            <a:avLst>
              <a:gd name="adj1" fmla="val -3543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4E9B4BF5-93B5-BE68-54CD-E42070CB2EBB}"/>
              </a:ext>
            </a:extLst>
          </p:cNvPr>
          <p:cNvCxnSpPr>
            <a:stCxn id="1073752840" idx="1"/>
            <a:endCxn id="1073752828" idx="1"/>
          </p:cNvCxnSpPr>
          <p:nvPr/>
        </p:nvCxnSpPr>
        <p:spPr>
          <a:xfrm rot="10800000">
            <a:off x="4674258" y="1927233"/>
            <a:ext cx="3668684" cy="4058056"/>
          </a:xfrm>
          <a:prstGeom prst="bentConnector3">
            <a:avLst>
              <a:gd name="adj1" fmla="val 10623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9A3D33EC-F517-F1D4-0832-13E48EE7C156}"/>
              </a:ext>
            </a:extLst>
          </p:cNvPr>
          <p:cNvCxnSpPr>
            <a:stCxn id="1073752829" idx="1"/>
            <a:endCxn id="1073752842" idx="0"/>
          </p:cNvCxnSpPr>
          <p:nvPr/>
        </p:nvCxnSpPr>
        <p:spPr>
          <a:xfrm rot="10800000" flipV="1">
            <a:off x="5661794" y="3482813"/>
            <a:ext cx="1758112" cy="84551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ustDataLst>
      <p:tags r:id="rId1"/>
    </p:custDataLst>
  </p:cSld>
  <p:clrMapOvr>
    <a:masterClrMapping/>
  </p:clrMapOvr>
  <p:transition>
    <p:strips dir="ru"/>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0" y="2169994"/>
            <a:ext cx="12192000" cy="34528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zh-CN" altLang="en-US" dirty="0"/>
          </a:p>
        </p:txBody>
      </p:sp>
      <p:sp>
        <p:nvSpPr>
          <p:cNvPr id="5"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6"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8.4.2 JSP</a:t>
            </a:r>
          </a:p>
        </p:txBody>
      </p:sp>
      <p:sp>
        <p:nvSpPr>
          <p:cNvPr id="7" name="文本框 3"/>
          <p:cNvSpPr txBox="1"/>
          <p:nvPr/>
        </p:nvSpPr>
        <p:spPr>
          <a:xfrm>
            <a:off x="668738" y="2627595"/>
            <a:ext cx="10699844" cy="2537682"/>
          </a:xfrm>
          <a:prstGeom prst="rect">
            <a:avLst/>
          </a:prstGeom>
          <a:noFill/>
        </p:spPr>
        <p:txBody>
          <a:bodyPr wrap="square" rtlCol="0" anchor="t">
            <a:spAutoFit/>
          </a:bodyPr>
          <a:lstStyle/>
          <a:p>
            <a:pPr indent="457200" fontAlgn="auto">
              <a:lnSpc>
                <a:spcPct val="150000"/>
              </a:lnSpc>
            </a:pPr>
            <a:r>
              <a:rPr lang="zh-CN" altLang="en-US" dirty="0"/>
              <a:t>当客户端浏览器向服务器请求一个JSP页面时，服务器收到该请求后，首先检查所请求的这个JSP文件内容（代码）是否已经被更新，或者是否为JSP文件创建后第一次被访问。如果是第一次被访问的JSP文件，就会在服务器端的JSP引擎作用下转化为一个Servlet类的Java源代码文件。然后，Servlet类会在Java编译器的作用下被编译成一个字节码文件，并装载到JVM（Java Virtual Machine，Java虚拟机）解释执行。剩下的就等同于Servlet的处理过程了。如果被请求的JSP文件内容（代码）没有被修改，那么它的处理过程等同于一个Servlet的处理过程，即直接由服务器检索出与之对应的Servlet实例来处理。</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8.4.2 JSP</a:t>
            </a:r>
          </a:p>
        </p:txBody>
      </p:sp>
      <p:pic>
        <p:nvPicPr>
          <p:cNvPr id="3" name="图片 2" descr="wKiom1Xj9fHzngGrAABH13KQy6g7101047"/>
          <p:cNvPicPr>
            <a:picLocks noChangeAspect="1"/>
          </p:cNvPicPr>
          <p:nvPr/>
        </p:nvPicPr>
        <p:blipFill>
          <a:blip r:embed="rId5" cstate="print"/>
          <a:srcRect l="4257" t="7097" r="4757" b="31613"/>
          <a:stretch>
            <a:fillRect/>
          </a:stretch>
        </p:blipFill>
        <p:spPr>
          <a:xfrm>
            <a:off x="1229995" y="2566670"/>
            <a:ext cx="5537835" cy="2103120"/>
          </a:xfrm>
          <a:prstGeom prst="rect">
            <a:avLst/>
          </a:prstGeom>
        </p:spPr>
      </p:pic>
      <p:sp>
        <p:nvSpPr>
          <p:cNvPr id="5" name="MH_Text_1"/>
          <p:cNvSpPr/>
          <p:nvPr>
            <p:custDataLst>
              <p:tags r:id="rId2"/>
            </p:custDataLst>
          </p:nvPr>
        </p:nvSpPr>
        <p:spPr>
          <a:xfrm>
            <a:off x="1229995" y="4761230"/>
            <a:ext cx="9730740" cy="1180465"/>
          </a:xfrm>
          <a:prstGeom prst="rect">
            <a:avLst/>
          </a:prstGeom>
          <a:ln>
            <a:noFill/>
          </a:ln>
        </p:spPr>
        <p:style>
          <a:lnRef idx="1">
            <a:schemeClr val="accent5"/>
          </a:lnRef>
          <a:fillRef idx="2">
            <a:schemeClr val="accent5"/>
          </a:fillRef>
          <a:effectRef idx="1">
            <a:schemeClr val="accent5"/>
          </a:effectRef>
          <a:fontRef idx="minor">
            <a:schemeClr val="dk1"/>
          </a:fontRef>
        </p:style>
        <p:txBody>
          <a:bodyPr anchor="ctr"/>
          <a:lstStyle/>
          <a:p>
            <a:pPr indent="457200">
              <a:lnSpc>
                <a:spcPct val="130000"/>
              </a:lnSpc>
            </a:pPr>
            <a:r>
              <a:rPr dirty="0">
                <a:solidFill>
                  <a:schemeClr val="tx1"/>
                </a:solidFill>
                <a:latin typeface="+mn-ea"/>
              </a:rPr>
              <a:t>JSP本质是一个Servlet，它的运行需要容器的支持。在JSP和Servlet文件中都可以编写Java和HTML代码，不同的是，Servlet虽然可以动态地生成页面内容，但更偏向于逻辑的控制，而JSP更加偏向于页面视图的展现。</a:t>
            </a:r>
          </a:p>
        </p:txBody>
      </p:sp>
      <p:pic>
        <p:nvPicPr>
          <p:cNvPr id="4" name="图片 3" descr="timg (6)"/>
          <p:cNvPicPr>
            <a:picLocks noChangeAspect="1"/>
          </p:cNvPicPr>
          <p:nvPr/>
        </p:nvPicPr>
        <p:blipFill>
          <a:blip r:embed="rId6" cstate="print"/>
          <a:stretch>
            <a:fillRect/>
          </a:stretch>
        </p:blipFill>
        <p:spPr>
          <a:xfrm>
            <a:off x="6767830" y="567690"/>
            <a:ext cx="4193540" cy="4193540"/>
          </a:xfrm>
          <a:prstGeom prst="rect">
            <a:avLst/>
          </a:prstGeom>
        </p:spPr>
      </p:pic>
    </p:spTree>
    <p:custDataLst>
      <p:tags r:id="rId1"/>
    </p:custDataLst>
  </p:cSld>
  <p:clrMapOvr>
    <a:masterClrMapping/>
  </p:clrMapOvr>
  <p:transition>
    <p:strips dir="ru"/>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5</a:t>
              </a:r>
            </a:p>
          </p:txBody>
        </p:sp>
      </p:grpSp>
      <p:sp>
        <p:nvSpPr>
          <p:cNvPr id="40" name="文本框 39"/>
          <p:cNvSpPr txBox="1"/>
          <p:nvPr/>
        </p:nvSpPr>
        <p:spPr>
          <a:xfrm>
            <a:off x="6006465" y="2913380"/>
            <a:ext cx="6078220" cy="87439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软件设计模式</a:t>
            </a:r>
          </a:p>
        </p:txBody>
      </p:sp>
      <p:grpSp>
        <p:nvGrpSpPr>
          <p:cNvPr id="11" name="组合 10"/>
          <p:cNvGrpSpPr/>
          <p:nvPr/>
        </p:nvGrpSpPr>
        <p:grpSpPr>
          <a:xfrm>
            <a:off x="6006465" y="4013835"/>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观察者模式</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组合模式</a:t>
              </a:r>
            </a:p>
          </p:txBody>
        </p:sp>
      </p:grpSp>
      <p:grpSp>
        <p:nvGrpSpPr>
          <p:cNvPr id="3" name="组合 2"/>
          <p:cNvGrpSpPr/>
          <p:nvPr/>
        </p:nvGrpSpPr>
        <p:grpSpPr>
          <a:xfrm>
            <a:off x="6006465" y="4849495"/>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工厂方法模式和策略模式</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模型</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视图</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控制器模式</a:t>
              </a:r>
            </a:p>
          </p:txBody>
        </p:sp>
      </p:grpSp>
      <p:sp>
        <p:nvSpPr>
          <p:cNvPr id="7" name="文本框 6"/>
          <p:cNvSpPr txBox="1"/>
          <p:nvPr/>
        </p:nvSpPr>
        <p:spPr>
          <a:xfrm>
            <a:off x="6006465" y="568515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装饰者模式</a:t>
            </a:r>
          </a:p>
        </p:txBody>
      </p:sp>
    </p:spTree>
  </p:cSld>
  <p:clrMapOvr>
    <a:masterClrMapping/>
  </p:clrMapOvr>
  <p:transition spd="slow">
    <p:wip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altLang="zh-CN" dirty="0">
                <a:sym typeface="+mn-ea"/>
              </a:rPr>
              <a:t>8.5 Web</a:t>
            </a:r>
            <a:r>
              <a:rPr lang="zh-CN" altLang="en-US" dirty="0">
                <a:sym typeface="+mn-ea"/>
              </a:rPr>
              <a:t>软件设计模式</a:t>
            </a:r>
          </a:p>
        </p:txBody>
      </p:sp>
      <p:sp>
        <p:nvSpPr>
          <p:cNvPr id="18" name="矩形 17"/>
          <p:cNvSpPr/>
          <p:nvPr/>
        </p:nvSpPr>
        <p:spPr>
          <a:xfrm>
            <a:off x="0" y="2006136"/>
            <a:ext cx="12192000" cy="349377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242570" y="2068682"/>
            <a:ext cx="7044690" cy="3368679"/>
          </a:xfrm>
          <a:prstGeom prst="rect">
            <a:avLst/>
          </a:prstGeom>
        </p:spPr>
        <p:txBody>
          <a:bodyPr wrap="square" anchor="ctr" anchorCtr="0">
            <a:spAutoFit/>
          </a:bodyPr>
          <a:lstStyle/>
          <a:p>
            <a:pPr indent="457200" algn="just">
              <a:lnSpc>
                <a:spcPct val="150000"/>
              </a:lnSpc>
              <a:defRPr/>
            </a:pPr>
            <a:r>
              <a:rPr lang="zh-CN" altLang="en-US" dirty="0"/>
              <a:t>设计模式最早是由建筑师</a:t>
            </a:r>
            <a:r>
              <a:rPr lang="en-US" altLang="zh-CN" dirty="0"/>
              <a:t>Christopher Alexander</a:t>
            </a:r>
            <a:r>
              <a:rPr lang="zh-CN" altLang="en-US" dirty="0"/>
              <a:t>提出来的，它认为优雅的设计是有章可循的，提炼并复用前人的设计原则，可以容易地实现优美的设计。目前设计模式已经被广泛应用于多种领域的软件和构造中，许多先进的软件中大量采用了软件设计模式的概念。</a:t>
            </a:r>
          </a:p>
          <a:p>
            <a:pPr indent="457200" algn="just">
              <a:lnSpc>
                <a:spcPct val="150000"/>
              </a:lnSpc>
              <a:defRPr/>
            </a:pPr>
            <a:r>
              <a:rPr lang="zh-CN" altLang="en-US" dirty="0"/>
              <a:t>所谓设计模式，是指从某个具体的形式中得到的一种抽象，在非任意的环境中该形式不断地重复出现。本节介绍的</a:t>
            </a:r>
            <a:r>
              <a:rPr lang="en-US" altLang="zh-CN" dirty="0"/>
              <a:t>Web</a:t>
            </a:r>
            <a:r>
              <a:rPr lang="zh-CN" altLang="en-US" dirty="0"/>
              <a:t>软件设计模式包括观察者模式、组合模式、工厂方法模式、策略模式、模型－视图－控制器（</a:t>
            </a:r>
            <a:r>
              <a:rPr lang="en-US" altLang="zh-CN" dirty="0"/>
              <a:t>MVC</a:t>
            </a:r>
            <a:r>
              <a:rPr lang="zh-CN" altLang="en-US" dirty="0"/>
              <a:t>）模式、装饰者模式。</a:t>
            </a:r>
            <a:endParaRPr lang="en-US" altLang="zh-CN" dirty="0"/>
          </a:p>
        </p:txBody>
      </p:sp>
      <p:pic>
        <p:nvPicPr>
          <p:cNvPr id="3" name="图片 2" descr="A000220150821C17PPIC"/>
          <p:cNvPicPr>
            <a:picLocks noChangeAspect="1"/>
          </p:cNvPicPr>
          <p:nvPr/>
        </p:nvPicPr>
        <p:blipFill>
          <a:blip r:embed="rId4" cstate="print"/>
          <a:stretch>
            <a:fillRect/>
          </a:stretch>
        </p:blipFill>
        <p:spPr>
          <a:xfrm>
            <a:off x="7465326" y="2272807"/>
            <a:ext cx="4521958" cy="3002735"/>
          </a:xfrm>
          <a:prstGeom prst="rect">
            <a:avLst/>
          </a:prstGeom>
        </p:spPr>
      </p:pic>
    </p:spTree>
    <p:custDataLst>
      <p:tags r:id="rId1"/>
    </p:custDataLst>
  </p:cSld>
  <p:clrMapOvr>
    <a:masterClrMapping/>
  </p:clrMapOvr>
  <p:transition>
    <p:wheel spokes="3"/>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8.5.1 </a:t>
            </a:r>
            <a:r>
              <a:rPr lang="zh-CN" sz="2400" dirty="0">
                <a:solidFill>
                  <a:schemeClr val="tx1"/>
                </a:solidFill>
              </a:rPr>
              <a:t>观察者模式</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227330" y="2463800"/>
            <a:ext cx="8446135" cy="2953181"/>
          </a:xfrm>
          <a:prstGeom prst="rect">
            <a:avLst/>
          </a:prstGeom>
        </p:spPr>
        <p:txBody>
          <a:bodyPr wrap="square">
            <a:spAutoFit/>
          </a:bodyPr>
          <a:lstStyle/>
          <a:p>
            <a:pPr indent="457200" algn="just">
              <a:lnSpc>
                <a:spcPct val="150000"/>
              </a:lnSpc>
              <a:defRPr/>
            </a:pPr>
            <a:r>
              <a:rPr lang="zh-CN" altLang="en-US" dirty="0"/>
              <a:t>观察者模式（</a:t>
            </a:r>
            <a:r>
              <a:rPr lang="en-US" altLang="zh-CN" dirty="0"/>
              <a:t>Observer</a:t>
            </a:r>
            <a:r>
              <a:rPr lang="zh-CN" altLang="en-US" dirty="0"/>
              <a:t>）完美地将观察者和被观察的对象分离开。例如，用户界面可以作为一个观察者，业务数据是被观察者，用户界面观察业务数据的变化，发现数据变化后，就显示在界面上。观察者模式在模块之间划定了清晰的界限，提高了应用程序的可维护性和重用性。</a:t>
            </a:r>
          </a:p>
          <a:p>
            <a:pPr indent="457200" algn="just">
              <a:lnSpc>
                <a:spcPct val="150000"/>
              </a:lnSpc>
              <a:defRPr/>
            </a:pPr>
            <a:r>
              <a:rPr lang="zh-CN" altLang="en-US" dirty="0"/>
              <a:t>观察者模式是发布－订阅体系结构风格的一种应用。观察者模式定义了对象之间一对多的依赖关系，当一个对象的状态发生改变时，所有依赖于它的对象都得到通知自动更新，让多个观察者对象同时监听某一个主题对象。</a:t>
            </a:r>
          </a:p>
        </p:txBody>
      </p:sp>
      <p:pic>
        <p:nvPicPr>
          <p:cNvPr id="3" name="图片 2" descr="A000220150821B43PPIC"/>
          <p:cNvPicPr>
            <a:picLocks noChangeAspect="1"/>
          </p:cNvPicPr>
          <p:nvPr/>
        </p:nvPicPr>
        <p:blipFill>
          <a:blip r:embed="rId4" cstate="print"/>
          <a:stretch>
            <a:fillRect/>
          </a:stretch>
        </p:blipFill>
        <p:spPr>
          <a:xfrm>
            <a:off x="8046720" y="1341120"/>
            <a:ext cx="4145280" cy="4145280"/>
          </a:xfrm>
          <a:prstGeom prst="rect">
            <a:avLst/>
          </a:prstGeom>
        </p:spPr>
      </p:pic>
    </p:spTree>
    <p:custDataLst>
      <p:tags r:id="rId1"/>
    </p:custDataLst>
  </p:cSld>
  <p:clrMapOvr>
    <a:masterClrMapping/>
  </p:clrMapOvr>
  <p:transition>
    <p:wheel spokes="3"/>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endParaRPr sz="2400" dirty="0">
              <a:solidFill>
                <a:schemeClr val="tx1"/>
              </a:solidFill>
            </a:endParaRPr>
          </a:p>
        </p:txBody>
      </p:sp>
      <p:grpSp>
        <p:nvGrpSpPr>
          <p:cNvPr id="14" name="组合 13"/>
          <p:cNvGrpSpPr/>
          <p:nvPr/>
        </p:nvGrpSpPr>
        <p:grpSpPr>
          <a:xfrm>
            <a:off x="666750" y="2626991"/>
            <a:ext cx="5076825" cy="2308200"/>
            <a:chOff x="1188" y="3812"/>
            <a:chExt cx="7995" cy="3635"/>
          </a:xfrm>
        </p:grpSpPr>
        <p:grpSp>
          <p:nvGrpSpPr>
            <p:cNvPr id="5" name="组合 4"/>
            <p:cNvGrpSpPr/>
            <p:nvPr/>
          </p:nvGrpSpPr>
          <p:grpSpPr>
            <a:xfrm>
              <a:off x="1188" y="3812"/>
              <a:ext cx="2907" cy="1189"/>
              <a:chOff x="508000" y="3618326"/>
              <a:chExt cx="1845928" cy="749768"/>
            </a:xfrm>
          </p:grpSpPr>
          <p:sp>
            <p:nvSpPr>
              <p:cNvPr id="21" name="TextBox 1"/>
              <p:cNvSpPr txBox="1">
                <a:spLocks noChangeArrowheads="1"/>
              </p:cNvSpPr>
              <p:nvPr/>
            </p:nvSpPr>
            <p:spPr bwMode="auto">
              <a:xfrm>
                <a:off x="508000" y="3618326"/>
                <a:ext cx="364199" cy="5195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618326"/>
                <a:ext cx="590551" cy="586432"/>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713554"/>
                <a:ext cx="1393491" cy="654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抽象主题</a:t>
                </a:r>
              </a:p>
              <a:p>
                <a:r>
                  <a:rPr lang="zh-CN" altLang="en-US" b="1" dirty="0">
                    <a:solidFill>
                      <a:srgbClr val="E67819"/>
                    </a:solidFill>
                    <a:latin typeface="微软雅黑" panose="020B0503020204020204" charset="-122"/>
                    <a:ea typeface="微软雅黑" panose="020B0503020204020204" charset="-122"/>
                  </a:rPr>
                  <a:t>角色</a:t>
                </a:r>
              </a:p>
            </p:txBody>
          </p:sp>
        </p:grpSp>
        <p:sp>
          <p:nvSpPr>
            <p:cNvPr id="24" name="矩形 8"/>
            <p:cNvSpPr>
              <a:spLocks noChangeArrowheads="1"/>
            </p:cNvSpPr>
            <p:nvPr/>
          </p:nvSpPr>
          <p:spPr bwMode="auto">
            <a:xfrm>
              <a:off x="4341" y="3812"/>
              <a:ext cx="4842" cy="36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b="1" dirty="0">
                  <a:latin typeface="微软雅黑" panose="020B0503020204020204" charset="-122"/>
                  <a:ea typeface="微软雅黑" panose="020B0503020204020204" charset="-122"/>
                </a:rPr>
                <a:t>       </a:t>
              </a:r>
              <a:r>
                <a:rPr sz="1600" b="1" dirty="0" err="1">
                  <a:latin typeface="微软雅黑" panose="020B0503020204020204" charset="-122"/>
                  <a:ea typeface="微软雅黑" panose="020B0503020204020204" charset="-122"/>
                </a:rPr>
                <a:t>把所有对观察者对象的引用保存在一个集合中，每个抽象主题角色都可以有任意数量的观察者</a:t>
              </a:r>
              <a:r>
                <a:rPr sz="1600" b="1" dirty="0">
                  <a:latin typeface="微软雅黑" panose="020B0503020204020204" charset="-122"/>
                  <a:ea typeface="微软雅黑" panose="020B0503020204020204" charset="-122"/>
                </a:rPr>
                <a:t>。</a:t>
              </a:r>
              <a:r>
                <a:rPr sz="1600" b="1" dirty="0" err="1">
                  <a:latin typeface="微软雅黑" panose="020B0503020204020204" charset="-122"/>
                  <a:ea typeface="微软雅黑" panose="020B0503020204020204" charset="-122"/>
                </a:rPr>
                <a:t>抽象主题提供一个接口，可以增加和删除观察者角色</a:t>
              </a:r>
              <a:r>
                <a:rPr sz="1600" b="1" dirty="0">
                  <a:latin typeface="微软雅黑" panose="020B0503020204020204" charset="-122"/>
                  <a:ea typeface="微软雅黑" panose="020B0503020204020204" charset="-122"/>
                </a:rPr>
                <a:t>。</a:t>
              </a:r>
              <a:r>
                <a:rPr sz="1600" b="1" dirty="0" err="1">
                  <a:latin typeface="微软雅黑" panose="020B0503020204020204" charset="-122"/>
                  <a:ea typeface="微软雅黑" panose="020B0503020204020204" charset="-122"/>
                </a:rPr>
                <a:t>一般用一个抽象类和接口来实现</a:t>
              </a:r>
              <a:r>
                <a:rPr sz="1600" b="1" dirty="0">
                  <a:latin typeface="微软雅黑" panose="020B0503020204020204" charset="-122"/>
                  <a:ea typeface="微软雅黑" panose="020B0503020204020204" charset="-122"/>
                </a:rPr>
                <a:t>。</a:t>
              </a:r>
            </a:p>
          </p:txBody>
        </p:sp>
      </p:grpSp>
      <p:grpSp>
        <p:nvGrpSpPr>
          <p:cNvPr id="6" name="组合 5"/>
          <p:cNvGrpSpPr/>
          <p:nvPr/>
        </p:nvGrpSpPr>
        <p:grpSpPr>
          <a:xfrm>
            <a:off x="666750" y="4987286"/>
            <a:ext cx="4924425" cy="1148721"/>
            <a:chOff x="1195" y="6440"/>
            <a:chExt cx="7755" cy="1809"/>
          </a:xfrm>
        </p:grpSpPr>
        <p:grpSp>
          <p:nvGrpSpPr>
            <p:cNvPr id="4" name="组合 3"/>
            <p:cNvGrpSpPr/>
            <p:nvPr/>
          </p:nvGrpSpPr>
          <p:grpSpPr>
            <a:xfrm>
              <a:off x="1195" y="6440"/>
              <a:ext cx="2862" cy="1189"/>
              <a:chOff x="512763" y="5296233"/>
              <a:chExt cx="1817002" cy="751277"/>
            </a:xfrm>
          </p:grpSpPr>
          <p:sp>
            <p:nvSpPr>
              <p:cNvPr id="25" name="TextBox 10"/>
              <p:cNvSpPr txBox="1">
                <a:spLocks noChangeArrowheads="1"/>
              </p:cNvSpPr>
              <p:nvPr/>
            </p:nvSpPr>
            <p:spPr bwMode="auto">
              <a:xfrm>
                <a:off x="512763" y="5296233"/>
                <a:ext cx="361229" cy="5193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6" name="直接连接符 25"/>
              <p:cNvCxnSpPr/>
              <p:nvPr/>
            </p:nvCxnSpPr>
            <p:spPr>
              <a:xfrm flipH="1">
                <a:off x="512763" y="5296233"/>
                <a:ext cx="590549" cy="587616"/>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391655"/>
                <a:ext cx="1369327" cy="6558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抽象观察者角色</a:t>
                </a:r>
              </a:p>
            </p:txBody>
          </p:sp>
        </p:grpSp>
        <p:sp>
          <p:nvSpPr>
            <p:cNvPr id="28" name="矩形 9"/>
            <p:cNvSpPr>
              <a:spLocks noChangeArrowheads="1"/>
            </p:cNvSpPr>
            <p:nvPr/>
          </p:nvSpPr>
          <p:spPr bwMode="auto">
            <a:xfrm>
              <a:off x="4252" y="6591"/>
              <a:ext cx="4698" cy="1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b="1" dirty="0">
                  <a:latin typeface="微软雅黑" panose="020B0503020204020204" charset="-122"/>
                  <a:ea typeface="微软雅黑" panose="020B0503020204020204" charset="-122"/>
                </a:rPr>
                <a:t>      </a:t>
              </a:r>
              <a:r>
                <a:rPr lang="zh-CN" altLang="en-US" sz="1600" b="1" dirty="0">
                  <a:latin typeface="微软雅黑" panose="020B0503020204020204" charset="-122"/>
                  <a:ea typeface="微软雅黑" panose="020B0503020204020204" charset="-122"/>
                </a:rPr>
                <a:t>为所有具体的观察者定义一个接口，在得到主题的通知时更新自己。</a:t>
              </a:r>
            </a:p>
          </p:txBody>
        </p:sp>
      </p:grpSp>
      <p:grpSp>
        <p:nvGrpSpPr>
          <p:cNvPr id="8" name="组合 7"/>
          <p:cNvGrpSpPr/>
          <p:nvPr/>
        </p:nvGrpSpPr>
        <p:grpSpPr>
          <a:xfrm>
            <a:off x="6372225" y="2626991"/>
            <a:ext cx="5372100" cy="1148080"/>
            <a:chOff x="1195" y="6290"/>
            <a:chExt cx="8460" cy="1808"/>
          </a:xfrm>
        </p:grpSpPr>
        <p:grpSp>
          <p:nvGrpSpPr>
            <p:cNvPr id="9" name="组合 8"/>
            <p:cNvGrpSpPr/>
            <p:nvPr/>
          </p:nvGrpSpPr>
          <p:grpSpPr>
            <a:xfrm>
              <a:off x="1195" y="6290"/>
              <a:ext cx="2433" cy="1188"/>
              <a:chOff x="512763" y="5226603"/>
              <a:chExt cx="1544775" cy="754380"/>
            </a:xfrm>
          </p:grpSpPr>
          <p:sp>
            <p:nvSpPr>
              <p:cNvPr id="10" name="TextBox 10"/>
              <p:cNvSpPr txBox="1">
                <a:spLocks noChangeArrowheads="1"/>
              </p:cNvSpPr>
              <p:nvPr/>
            </p:nvSpPr>
            <p:spPr bwMode="auto">
              <a:xfrm>
                <a:off x="512763" y="5226603"/>
                <a:ext cx="371389"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1" name="直接连接符 10"/>
              <p:cNvCxnSpPr/>
              <p:nvPr/>
            </p:nvCxnSpPr>
            <p:spPr>
              <a:xfrm flipH="1">
                <a:off x="512763" y="522660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2" name="矩形 12"/>
              <p:cNvSpPr>
                <a:spLocks noChangeArrowheads="1"/>
              </p:cNvSpPr>
              <p:nvPr/>
            </p:nvSpPr>
            <p:spPr bwMode="auto">
              <a:xfrm>
                <a:off x="960438" y="5321853"/>
                <a:ext cx="1097100" cy="659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具体主题</a:t>
                </a:r>
              </a:p>
              <a:p>
                <a:pPr algn="l"/>
                <a:r>
                  <a:rPr lang="zh-CN" altLang="en-US" b="1" dirty="0">
                    <a:solidFill>
                      <a:srgbClr val="E67819"/>
                    </a:solidFill>
                    <a:latin typeface="微软雅黑" panose="020B0503020204020204" charset="-122"/>
                    <a:ea typeface="微软雅黑" panose="020B0503020204020204" charset="-122"/>
                  </a:rPr>
                  <a:t>角色</a:t>
                </a:r>
              </a:p>
            </p:txBody>
          </p:sp>
        </p:grpSp>
        <p:sp>
          <p:nvSpPr>
            <p:cNvPr id="13" name="矩形 9"/>
            <p:cNvSpPr>
              <a:spLocks noChangeArrowheads="1"/>
            </p:cNvSpPr>
            <p:nvPr/>
          </p:nvSpPr>
          <p:spPr bwMode="auto">
            <a:xfrm>
              <a:off x="4252" y="6440"/>
              <a:ext cx="5403" cy="1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b="1" dirty="0">
                  <a:latin typeface="微软雅黑" panose="020B0503020204020204" charset="-122"/>
                  <a:ea typeface="微软雅黑" panose="020B0503020204020204" charset="-122"/>
                </a:rPr>
                <a:t>       </a:t>
              </a:r>
              <a:r>
                <a:rPr lang="zh-CN" altLang="en-US" sz="1600" b="1" dirty="0">
                  <a:latin typeface="微软雅黑" panose="020B0503020204020204" charset="-122"/>
                  <a:ea typeface="微软雅黑" panose="020B0503020204020204" charset="-122"/>
                </a:rPr>
                <a:t>在具体主题内部状态改变时，给所有登记过的观察者发出通知。具体主题角色通常用一个子类实现。</a:t>
              </a:r>
            </a:p>
          </p:txBody>
        </p:sp>
      </p:grpSp>
      <p:grpSp>
        <p:nvGrpSpPr>
          <p:cNvPr id="16" name="组合 15"/>
          <p:cNvGrpSpPr/>
          <p:nvPr/>
        </p:nvGrpSpPr>
        <p:grpSpPr>
          <a:xfrm>
            <a:off x="6286500" y="3956050"/>
            <a:ext cx="5429250" cy="2108200"/>
            <a:chOff x="1195" y="6290"/>
            <a:chExt cx="8550" cy="3320"/>
          </a:xfrm>
        </p:grpSpPr>
        <p:grpSp>
          <p:nvGrpSpPr>
            <p:cNvPr id="17" name="组合 16"/>
            <p:cNvGrpSpPr/>
            <p:nvPr/>
          </p:nvGrpSpPr>
          <p:grpSpPr>
            <a:xfrm>
              <a:off x="1195" y="6290"/>
              <a:ext cx="2793" cy="1188"/>
              <a:chOff x="512763" y="5226603"/>
              <a:chExt cx="1773386" cy="754380"/>
            </a:xfrm>
          </p:grpSpPr>
          <p:sp>
            <p:nvSpPr>
              <p:cNvPr id="20" name="TextBox 10"/>
              <p:cNvSpPr txBox="1">
                <a:spLocks noChangeArrowheads="1"/>
              </p:cNvSpPr>
              <p:nvPr/>
            </p:nvSpPr>
            <p:spPr bwMode="auto">
              <a:xfrm>
                <a:off x="512763" y="5226603"/>
                <a:ext cx="364167"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30" name="直接连接符 29"/>
              <p:cNvCxnSpPr/>
              <p:nvPr/>
            </p:nvCxnSpPr>
            <p:spPr>
              <a:xfrm flipH="1">
                <a:off x="512763" y="522660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1" name="矩形 12"/>
              <p:cNvSpPr>
                <a:spLocks noChangeArrowheads="1"/>
              </p:cNvSpPr>
              <p:nvPr/>
            </p:nvSpPr>
            <p:spPr bwMode="auto">
              <a:xfrm>
                <a:off x="960438" y="5321853"/>
                <a:ext cx="1325711" cy="659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具体观察者</a:t>
                </a:r>
              </a:p>
              <a:p>
                <a:pPr algn="l"/>
                <a:r>
                  <a:rPr lang="zh-CN" altLang="en-US" b="1" dirty="0">
                    <a:solidFill>
                      <a:srgbClr val="E67819"/>
                    </a:solidFill>
                    <a:latin typeface="微软雅黑" panose="020B0503020204020204" charset="-122"/>
                    <a:ea typeface="微软雅黑" panose="020B0503020204020204" charset="-122"/>
                  </a:rPr>
                  <a:t>角色</a:t>
                </a:r>
              </a:p>
            </p:txBody>
          </p:sp>
        </p:grpSp>
        <p:sp>
          <p:nvSpPr>
            <p:cNvPr id="32" name="矩形 9"/>
            <p:cNvSpPr>
              <a:spLocks noChangeArrowheads="1"/>
            </p:cNvSpPr>
            <p:nvPr/>
          </p:nvSpPr>
          <p:spPr bwMode="auto">
            <a:xfrm>
              <a:off x="4348" y="6440"/>
              <a:ext cx="5397" cy="31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b="1" dirty="0">
                  <a:latin typeface="微软雅黑" panose="020B0503020204020204" charset="-122"/>
                  <a:ea typeface="微软雅黑" panose="020B0503020204020204" charset="-122"/>
                </a:rPr>
                <a:t>       </a:t>
              </a:r>
              <a:r>
                <a:rPr lang="zh-CN" altLang="en-US" sz="1600" b="1" dirty="0">
                  <a:latin typeface="微软雅黑" panose="020B0503020204020204" charset="-122"/>
                  <a:ea typeface="微软雅黑" panose="020B0503020204020204" charset="-122"/>
                </a:rPr>
                <a:t>该角色实现抽象观察者角色所要求的更新接口，以便使本身的状态与主题的状态相协调。具体观察者角色通常用一个子类实现。如果需要，具体观察者角色可以保存一个指向具体主题角色的引用。</a:t>
              </a:r>
            </a:p>
          </p:txBody>
        </p:sp>
      </p:grpSp>
      <p:sp>
        <p:nvSpPr>
          <p:cNvPr id="33" name="矩形 32"/>
          <p:cNvSpPr/>
          <p:nvPr/>
        </p:nvSpPr>
        <p:spPr>
          <a:xfrm>
            <a:off x="624230" y="2050293"/>
            <a:ext cx="2071203" cy="369332"/>
          </a:xfrm>
          <a:prstGeom prst="rect">
            <a:avLst/>
          </a:prstGeom>
        </p:spPr>
        <p:txBody>
          <a:bodyPr wrap="square">
            <a:spAutoFit/>
          </a:bodyPr>
          <a:lstStyle/>
          <a:p>
            <a:r>
              <a:rPr lang="zh-CN" altLang="zh-CN" b="1" dirty="0"/>
              <a:t>观察者模式的组成</a:t>
            </a:r>
            <a:r>
              <a:rPr lang="zh-CN" altLang="en-US" b="1" dirty="0"/>
              <a:t>：</a:t>
            </a:r>
          </a:p>
        </p:txBody>
      </p:sp>
    </p:spTree>
    <p:custDataLst>
      <p:tags r:id="rId1"/>
    </p:custDataLst>
  </p:cSld>
  <p:clrMapOvr>
    <a:masterClrMapping/>
  </p:clrMapOvr>
  <p:transition>
    <p:wheel spokes="3"/>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p>
        </p:txBody>
      </p:sp>
      <p:pic>
        <p:nvPicPr>
          <p:cNvPr id="3" name="图片 2" descr="A000220150821B43PPIC"/>
          <p:cNvPicPr>
            <a:picLocks noChangeAspect="1"/>
          </p:cNvPicPr>
          <p:nvPr/>
        </p:nvPicPr>
        <p:blipFill>
          <a:blip r:embed="rId4" cstate="print"/>
          <a:stretch>
            <a:fillRect/>
          </a:stretch>
        </p:blipFill>
        <p:spPr>
          <a:xfrm>
            <a:off x="7315835" y="937895"/>
            <a:ext cx="4937125" cy="4937125"/>
          </a:xfrm>
          <a:prstGeom prst="rect">
            <a:avLst/>
          </a:prstGeom>
        </p:spPr>
      </p:pic>
      <p:sp>
        <p:nvSpPr>
          <p:cNvPr id="8" name="圆角矩形 7"/>
          <p:cNvSpPr/>
          <p:nvPr/>
        </p:nvSpPr>
        <p:spPr>
          <a:xfrm>
            <a:off x="982980" y="2456180"/>
            <a:ext cx="7461885" cy="3418840"/>
          </a:xfrm>
          <a:prstGeom prst="roundRect">
            <a:avLst/>
          </a:prstGeom>
          <a:noFill/>
          <a:ln w="28575">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auto">
              <a:lnSpc>
                <a:spcPct val="130000"/>
              </a:lnSpc>
            </a:pPr>
            <a:r>
              <a:rPr lang="en-US" altLang="zh-CN">
                <a:solidFill>
                  <a:schemeClr val="tx1">
                    <a:lumMod val="50000"/>
                  </a:schemeClr>
                </a:solidFill>
                <a:latin typeface="微软雅黑" panose="020B0503020204020204" charset="-122"/>
                <a:ea typeface="微软雅黑" panose="020B0503020204020204" charset="-122"/>
              </a:rPr>
              <a:t>       </a:t>
            </a:r>
            <a:r>
              <a:rPr lang="zh-CN" altLang="en-US">
                <a:solidFill>
                  <a:schemeClr val="tx1">
                    <a:lumMod val="50000"/>
                  </a:schemeClr>
                </a:solidFill>
                <a:latin typeface="微软雅黑" panose="020B0503020204020204" charset="-122"/>
                <a:ea typeface="微软雅黑" panose="020B0503020204020204" charset="-122"/>
              </a:rPr>
              <a:t>观察者模式有很多实现方式，从根本上说，该模式必须包含两个角色：观察者和被观察对象。如果业务数据是被观察对象，用户界面是观察者。观察者和被观察者之间存在“观察”的逻辑关联，当被观察者发生改变的时候，观察者就会观察到这样的变化，并且做出相应的响应。如果在用户界面、业务数据之间使用这样的观察过程，可以确保界面和数据之间划清界限，假定应用程序的需求发生变化，需要修改界面的表现，只需要重新构建一个用户界面，业务数据不需要发生变化。</a:t>
            </a:r>
          </a:p>
        </p:txBody>
      </p:sp>
    </p:spTree>
    <p:custDataLst>
      <p:tags r:id="rId1"/>
    </p:custDataLst>
  </p:cSld>
  <p:clrMapOvr>
    <a:masterClrMapping/>
  </p:clrMapOvr>
  <p:transition>
    <p:wheel spokes="3"/>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p>
        </p:txBody>
      </p:sp>
      <p:grpSp>
        <p:nvGrpSpPr>
          <p:cNvPr id="26" name="组合 25"/>
          <p:cNvGrpSpPr/>
          <p:nvPr/>
        </p:nvGrpSpPr>
        <p:grpSpPr>
          <a:xfrm>
            <a:off x="693420" y="2726055"/>
            <a:ext cx="10805160" cy="2971165"/>
            <a:chOff x="1092" y="3793"/>
            <a:chExt cx="17016" cy="4679"/>
          </a:xfrm>
        </p:grpSpPr>
        <p:sp>
          <p:nvSpPr>
            <p:cNvPr id="9" name="MH_Text_1"/>
            <p:cNvSpPr/>
            <p:nvPr>
              <p:custDataLst>
                <p:tags r:id="rId2"/>
              </p:custDataLst>
            </p:nvPr>
          </p:nvSpPr>
          <p:spPr>
            <a:xfrm>
              <a:off x="3289" y="4752"/>
              <a:ext cx="14819" cy="3720"/>
            </a:xfrm>
            <a:prstGeom prst="rect">
              <a:avLst/>
            </a:prstGeom>
          </p:spPr>
          <p:txBody>
            <a:bodyPr>
              <a:normAutofit/>
            </a:bodyPr>
            <a:lstStyle/>
            <a:p>
              <a:pPr indent="457200">
                <a:lnSpc>
                  <a:spcPct val="150000"/>
                </a:lnSpc>
              </a:pPr>
              <a:r>
                <a:rPr lang="zh-CN" altLang="en-US" dirty="0">
                  <a:latin typeface="+mn-ea"/>
                </a:rPr>
                <a:t>（</a:t>
              </a:r>
              <a:r>
                <a:rPr lang="en-US" altLang="zh-CN" dirty="0">
                  <a:latin typeface="+mn-ea"/>
                </a:rPr>
                <a:t>1</a:t>
              </a:r>
              <a:r>
                <a:rPr lang="zh-CN" altLang="en-US" dirty="0">
                  <a:latin typeface="+mn-ea"/>
                </a:rPr>
                <a:t>）观察者模式在被观察者和观察者之间建立一个抽象的耦合。被观察者角色所知道的只是一个具体观察者列表，每一个具体观察者都符合一个抽象观察者的接口。被观察者并不认识任何一个具体观察者，它只知道它们都有一个共同的接口，该接口在Document Observer抽象类中进行声明。</a:t>
              </a:r>
              <a:endParaRPr lang="en-US" altLang="zh-CN" dirty="0">
                <a:latin typeface="+mn-ea"/>
              </a:endParaRPr>
            </a:p>
            <a:p>
              <a:pPr indent="457200">
                <a:lnSpc>
                  <a:spcPct val="150000"/>
                </a:lnSpc>
              </a:pPr>
              <a:r>
                <a:rPr lang="zh-CN" altLang="en-US" dirty="0">
                  <a:latin typeface="+mn-ea"/>
                </a:rPr>
                <a:t>（</a:t>
              </a:r>
              <a:r>
                <a:rPr lang="en-US" altLang="zh-CN" dirty="0">
                  <a:latin typeface="+mn-ea"/>
                </a:rPr>
                <a:t>2</a:t>
              </a:r>
              <a:r>
                <a:rPr lang="zh-CN" altLang="en-US" dirty="0">
                  <a:latin typeface="+mn-ea"/>
                </a:rPr>
                <a:t>）观察者模式支持广播通讯。被观察者会向所有登记过的观察者发出通知。</a:t>
              </a:r>
            </a:p>
          </p:txBody>
        </p:sp>
        <p:sp>
          <p:nvSpPr>
            <p:cNvPr id="10" name="MH_SubTitle_1"/>
            <p:cNvSpPr/>
            <p:nvPr>
              <p:custDataLst>
                <p:tags r:id="rId3"/>
              </p:custDataLst>
            </p:nvPr>
          </p:nvSpPr>
          <p:spPr>
            <a:xfrm>
              <a:off x="3265" y="3905"/>
              <a:ext cx="7357" cy="847"/>
            </a:xfrm>
            <a:prstGeom prst="rect">
              <a:avLst/>
            </a:prstGeom>
          </p:spPr>
          <p:txBody>
            <a:bodyPr anchor="b">
              <a:normAutofit/>
            </a:bodyPr>
            <a:lstStyle/>
            <a:p>
              <a:r>
                <a:rPr lang="zh-CN" altLang="en-US" b="1" dirty="0">
                  <a:solidFill>
                    <a:srgbClr val="FF7C80"/>
                  </a:solidFill>
                </a:rPr>
                <a:t>设计、使用观察者模式的优点</a:t>
              </a:r>
            </a:p>
          </p:txBody>
        </p:sp>
        <p:sp>
          <p:nvSpPr>
            <p:cNvPr id="19" name="MH_Other_11"/>
            <p:cNvSpPr>
              <a:spLocks noChangeArrowheads="1"/>
            </p:cNvSpPr>
            <p:nvPr>
              <p:custDataLst>
                <p:tags r:id="rId4"/>
              </p:custDataLst>
            </p:nvPr>
          </p:nvSpPr>
          <p:spPr bwMode="auto">
            <a:xfrm>
              <a:off x="1959" y="3993"/>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2"/>
            <p:cNvSpPr>
              <a:spLocks noChangeArrowheads="1"/>
            </p:cNvSpPr>
            <p:nvPr>
              <p:custDataLst>
                <p:tags r:id="rId5"/>
              </p:custDataLst>
            </p:nvPr>
          </p:nvSpPr>
          <p:spPr bwMode="auto">
            <a:xfrm>
              <a:off x="1959" y="4633"/>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13"/>
            <p:cNvSpPr>
              <a:spLocks noChangeArrowheads="1"/>
            </p:cNvSpPr>
            <p:nvPr>
              <p:custDataLst>
                <p:tags r:id="rId6"/>
              </p:custDataLst>
            </p:nvPr>
          </p:nvSpPr>
          <p:spPr bwMode="auto">
            <a:xfrm>
              <a:off x="2389" y="4313"/>
              <a:ext cx="747" cy="56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Other_14"/>
            <p:cNvSpPr/>
            <p:nvPr>
              <p:custDataLst>
                <p:tags r:id="rId7"/>
              </p:custDataLst>
            </p:nvPr>
          </p:nvSpPr>
          <p:spPr>
            <a:xfrm>
              <a:off x="1149" y="3793"/>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3" name="MH_Other_15"/>
            <p:cNvSpPr/>
            <p:nvPr>
              <p:custDataLst>
                <p:tags r:id="rId8"/>
              </p:custDataLst>
            </p:nvPr>
          </p:nvSpPr>
          <p:spPr bwMode="auto">
            <a:xfrm>
              <a:off x="1092" y="3793"/>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sp>
        <p:nvSpPr>
          <p:cNvPr id="24" name="矩形 23"/>
          <p:cNvSpPr/>
          <p:nvPr/>
        </p:nvSpPr>
        <p:spPr>
          <a:xfrm>
            <a:off x="624230" y="2050293"/>
            <a:ext cx="2890495" cy="369332"/>
          </a:xfrm>
          <a:prstGeom prst="rect">
            <a:avLst/>
          </a:prstGeom>
        </p:spPr>
        <p:txBody>
          <a:bodyPr wrap="square">
            <a:spAutoFit/>
          </a:bodyPr>
          <a:lstStyle/>
          <a:p>
            <a:r>
              <a:rPr lang="zh-CN" altLang="zh-CN" b="1" dirty="0"/>
              <a:t>观察者模式的</a:t>
            </a:r>
            <a:r>
              <a:rPr lang="zh-CN" altLang="en-US" b="1" dirty="0"/>
              <a:t>实现方式：</a:t>
            </a:r>
          </a:p>
        </p:txBody>
      </p:sp>
    </p:spTree>
    <p:custDataLst>
      <p:tags r:id="rId1"/>
    </p:custDataLst>
  </p:cSld>
  <p:clrMapOvr>
    <a:masterClrMapping/>
  </p:clrMapOvr>
  <p:transition>
    <p:wheel spokes="3"/>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674370" y="2722245"/>
            <a:ext cx="10768330" cy="2983230"/>
            <a:chOff x="2842" y="8085"/>
            <a:chExt cx="16958" cy="4698"/>
          </a:xfrm>
        </p:grpSpPr>
        <p:sp>
          <p:nvSpPr>
            <p:cNvPr id="4" name="MH_Other_6"/>
            <p:cNvSpPr>
              <a:spLocks noChangeArrowheads="1"/>
            </p:cNvSpPr>
            <p:nvPr>
              <p:custDataLst>
                <p:tags r:id="rId1"/>
              </p:custDataLst>
            </p:nvPr>
          </p:nvSpPr>
          <p:spPr bwMode="auto">
            <a:xfrm>
              <a:off x="3708" y="8285"/>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5" name="MH_Other_7"/>
            <p:cNvSpPr>
              <a:spLocks noChangeArrowheads="1"/>
            </p:cNvSpPr>
            <p:nvPr>
              <p:custDataLst>
                <p:tags r:id="rId2"/>
              </p:custDataLst>
            </p:nvPr>
          </p:nvSpPr>
          <p:spPr bwMode="auto">
            <a:xfrm>
              <a:off x="3708" y="8925"/>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8"/>
            <p:cNvSpPr>
              <a:spLocks noChangeArrowheads="1"/>
            </p:cNvSpPr>
            <p:nvPr>
              <p:custDataLst>
                <p:tags r:id="rId3"/>
              </p:custDataLst>
            </p:nvPr>
          </p:nvSpPr>
          <p:spPr bwMode="auto">
            <a:xfrm>
              <a:off x="4138" y="8605"/>
              <a:ext cx="747" cy="560"/>
            </a:xfrm>
            <a:prstGeom prst="diamond">
              <a:avLst/>
            </a:prstGeom>
            <a:solidFill>
              <a:srgbClr val="9AD7F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9"/>
            <p:cNvSpPr/>
            <p:nvPr>
              <p:custDataLst>
                <p:tags r:id="rId4"/>
              </p:custDataLst>
            </p:nvPr>
          </p:nvSpPr>
          <p:spPr>
            <a:xfrm>
              <a:off x="2898" y="8085"/>
              <a:ext cx="1127" cy="1603"/>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8" name="MH_Other_10"/>
            <p:cNvSpPr/>
            <p:nvPr>
              <p:custDataLst>
                <p:tags r:id="rId5"/>
              </p:custDataLst>
            </p:nvPr>
          </p:nvSpPr>
          <p:spPr bwMode="auto">
            <a:xfrm>
              <a:off x="2842" y="8085"/>
              <a:ext cx="1070" cy="1603"/>
            </a:xfrm>
            <a:custGeom>
              <a:avLst/>
              <a:gdLst>
                <a:gd name="T0" fmla="*/ 36 w 1806862"/>
                <a:gd name="T1" fmla="*/ 0 h 3612822"/>
                <a:gd name="T2" fmla="*/ 143580 w 1806862"/>
                <a:gd name="T3" fmla="*/ 143357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68C6EA"/>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9" name="MH_Text_3"/>
            <p:cNvSpPr/>
            <p:nvPr>
              <p:custDataLst>
                <p:tags r:id="rId6"/>
              </p:custDataLst>
            </p:nvPr>
          </p:nvSpPr>
          <p:spPr>
            <a:xfrm>
              <a:off x="5034" y="9068"/>
              <a:ext cx="14766" cy="3715"/>
            </a:xfrm>
            <a:prstGeom prst="rect">
              <a:avLst/>
            </a:prstGeom>
          </p:spPr>
          <p:txBody>
            <a:bodyPr>
              <a:normAutofit/>
            </a:bodyPr>
            <a:lstStyle/>
            <a:p>
              <a:r>
                <a:rPr lang="en-US" altLang="zh-CN" dirty="0"/>
                <a:t>      </a:t>
              </a:r>
              <a:r>
                <a:rPr lang="zh-CN" altLang="zh-CN" dirty="0"/>
                <a:t>（</a:t>
              </a:r>
              <a:r>
                <a:rPr lang="en-US" altLang="zh-CN" dirty="0"/>
                <a:t>1</a:t>
              </a:r>
              <a:r>
                <a:rPr lang="zh-CN" altLang="zh-CN" dirty="0"/>
                <a:t>）如果一个被观察者对象有很多直接和间接的观察者的话，将所有的观察者都通知到需花费很多时间。</a:t>
              </a:r>
            </a:p>
            <a:p>
              <a:r>
                <a:rPr lang="en-US" altLang="zh-CN" dirty="0"/>
                <a:t>      </a:t>
              </a:r>
              <a:r>
                <a:rPr lang="zh-CN" altLang="zh-CN" dirty="0"/>
                <a:t>（</a:t>
              </a:r>
              <a:r>
                <a:rPr lang="en-US" altLang="zh-CN" dirty="0"/>
                <a:t>2</a:t>
              </a:r>
              <a:r>
                <a:rPr lang="zh-CN" altLang="zh-CN" dirty="0"/>
                <a:t>）如果在被观察者之间有循环依赖的话，被观察者会触发它们之间进行循环调用，导致系统崩溃。在使用观察者模式时要特别注意这一点。</a:t>
              </a:r>
            </a:p>
            <a:p>
              <a:r>
                <a:rPr lang="en-US" altLang="zh-CN" dirty="0"/>
                <a:t>      </a:t>
              </a:r>
              <a:r>
                <a:rPr lang="zh-CN" altLang="zh-CN" dirty="0"/>
                <a:t>（</a:t>
              </a:r>
              <a:r>
                <a:rPr lang="en-US" altLang="zh-CN" dirty="0"/>
                <a:t>3</a:t>
              </a:r>
              <a:r>
                <a:rPr lang="zh-CN" altLang="zh-CN" dirty="0"/>
                <a:t>）如果对观察者的通知是通过另外的线程进行异步投递的话，系统必须保证投递是可达性的，也就是要保证所有的观察者都能收到通知。</a:t>
              </a:r>
            </a:p>
            <a:p>
              <a:r>
                <a:rPr lang="en-US" altLang="zh-CN" dirty="0"/>
                <a:t>      </a:t>
              </a:r>
              <a:r>
                <a:rPr lang="zh-CN" altLang="zh-CN" dirty="0"/>
                <a:t>（</a:t>
              </a:r>
              <a:r>
                <a:rPr lang="en-US" altLang="zh-CN" dirty="0"/>
                <a:t>4</a:t>
              </a:r>
              <a:r>
                <a:rPr lang="zh-CN" altLang="zh-CN" dirty="0"/>
                <a:t>）虽然观察者模式可以随时使观察者知道所观察的对象发生了变化，但是观察者模式没有相应的机制使观察者知道所观察的对象是怎么发生变化的。</a:t>
              </a:r>
            </a:p>
            <a:p>
              <a:pPr indent="457200">
                <a:lnSpc>
                  <a:spcPct val="150000"/>
                </a:lnSpc>
              </a:pPr>
              <a:endParaRPr lang="zh-CN" altLang="en-US" dirty="0">
                <a:latin typeface="+mn-ea"/>
              </a:endParaRPr>
            </a:p>
          </p:txBody>
        </p:sp>
        <p:sp>
          <p:nvSpPr>
            <p:cNvPr id="10" name="MH_SubTitle_3"/>
            <p:cNvSpPr/>
            <p:nvPr>
              <p:custDataLst>
                <p:tags r:id="rId7"/>
              </p:custDataLst>
            </p:nvPr>
          </p:nvSpPr>
          <p:spPr>
            <a:xfrm>
              <a:off x="5034" y="8308"/>
              <a:ext cx="7360" cy="845"/>
            </a:xfrm>
            <a:prstGeom prst="rect">
              <a:avLst/>
            </a:prstGeom>
          </p:spPr>
          <p:txBody>
            <a:bodyPr anchor="b">
              <a:normAutofit/>
            </a:bodyPr>
            <a:lstStyle/>
            <a:p>
              <a:r>
                <a:rPr lang="zh-CN" altLang="en-US" b="1" dirty="0">
                  <a:solidFill>
                    <a:srgbClr val="00B0F0"/>
                  </a:solidFill>
                </a:rPr>
                <a:t>观察者模式的缺点：</a:t>
              </a:r>
            </a:p>
          </p:txBody>
        </p:sp>
      </p:grpSp>
      <p:sp>
        <p:nvSpPr>
          <p:cNvPr id="11" name="标题 1"/>
          <p:cNvSpPr>
            <a:spLocks noGrp="1"/>
          </p:cNvSpPr>
          <p:nvPr>
            <p:ph type="title"/>
          </p:nvPr>
        </p:nvSpPr>
        <p:spPr>
          <a:xfrm>
            <a:off x="754063" y="427293"/>
            <a:ext cx="8415337" cy="523220"/>
          </a:xfrm>
        </p:spPr>
        <p:txBody>
          <a:bodyPr/>
          <a:lstStyle/>
          <a:p>
            <a:r>
              <a:rPr lang="en-US" altLang="zh-CN" dirty="0">
                <a:sym typeface="+mn-ea"/>
              </a:rPr>
              <a:t>8.5 Web</a:t>
            </a:r>
            <a:r>
              <a:rPr lang="zh-CN" altLang="en-US" dirty="0">
                <a:sym typeface="+mn-ea"/>
              </a:rPr>
              <a:t>软件设计模式</a:t>
            </a:r>
          </a:p>
        </p:txBody>
      </p:sp>
      <p:sp>
        <p:nvSpPr>
          <p:cNvPr id="12"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p>
        </p:txBody>
      </p:sp>
      <p:sp>
        <p:nvSpPr>
          <p:cNvPr id="13" name="矩形 12"/>
          <p:cNvSpPr/>
          <p:nvPr/>
        </p:nvSpPr>
        <p:spPr>
          <a:xfrm>
            <a:off x="624230" y="2050293"/>
            <a:ext cx="2890495" cy="369332"/>
          </a:xfrm>
          <a:prstGeom prst="rect">
            <a:avLst/>
          </a:prstGeom>
        </p:spPr>
        <p:txBody>
          <a:bodyPr wrap="square">
            <a:spAutoFit/>
          </a:bodyPr>
          <a:lstStyle/>
          <a:p>
            <a:r>
              <a:rPr lang="zh-CN" altLang="zh-CN" b="1" dirty="0"/>
              <a:t>观察者模式的</a:t>
            </a:r>
            <a:r>
              <a:rPr lang="zh-CN" altLang="en-US" b="1" dirty="0"/>
              <a:t>实现方式：</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p>
        </p:txBody>
      </p:sp>
      <p:grpSp>
        <p:nvGrpSpPr>
          <p:cNvPr id="3" name="组合 2"/>
          <p:cNvGrpSpPr/>
          <p:nvPr/>
        </p:nvGrpSpPr>
        <p:grpSpPr>
          <a:xfrm>
            <a:off x="1080770" y="2346960"/>
            <a:ext cx="10251440" cy="3686810"/>
            <a:chOff x="1387" y="3375"/>
            <a:chExt cx="16144" cy="5806"/>
          </a:xfrm>
        </p:grpSpPr>
        <p:grpSp>
          <p:nvGrpSpPr>
            <p:cNvPr id="14" name="组合 13"/>
            <p:cNvGrpSpPr/>
            <p:nvPr/>
          </p:nvGrpSpPr>
          <p:grpSpPr>
            <a:xfrm>
              <a:off x="6890" y="3375"/>
              <a:ext cx="4510" cy="4163"/>
              <a:chOff x="3519413" y="1886732"/>
              <a:chExt cx="4791165" cy="4042598"/>
            </a:xfrm>
          </p:grpSpPr>
          <p:sp>
            <p:nvSpPr>
              <p:cNvPr id="15" name="MH_SubTitle_1"/>
              <p:cNvSpPr/>
              <p:nvPr>
                <p:custDataLst>
                  <p:tags r:id="rId8"/>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16" name="MH_SubTitle_3"/>
              <p:cNvSpPr/>
              <p:nvPr>
                <p:custDataLst>
                  <p:tags r:id="rId9"/>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17" name="MH_Other_1"/>
              <p:cNvSpPr/>
              <p:nvPr>
                <p:custDataLst>
                  <p:tags r:id="rId10"/>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18" name="组合 12"/>
              <p:cNvGrpSpPr/>
              <p:nvPr/>
            </p:nvGrpSpPr>
            <p:grpSpPr>
              <a:xfrm>
                <a:off x="3519413" y="2255891"/>
                <a:ext cx="4643177" cy="3573229"/>
                <a:chOff x="3519413" y="2255891"/>
                <a:chExt cx="4643177" cy="3573229"/>
              </a:xfrm>
            </p:grpSpPr>
            <p:sp>
              <p:nvSpPr>
                <p:cNvPr id="5" name="MH_SubTitle_2"/>
                <p:cNvSpPr/>
                <p:nvPr>
                  <p:custDataLst>
                    <p:tags r:id="rId12"/>
                  </p:custDataLst>
                </p:nvPr>
              </p:nvSpPr>
              <p:spPr>
                <a:xfrm rot="3673167">
                  <a:off x="4060059" y="1846853"/>
                  <a:ext cx="3243870" cy="43251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通知</a:t>
                  </a:r>
                </a:p>
              </p:txBody>
            </p:sp>
            <p:sp>
              <p:nvSpPr>
                <p:cNvPr id="21" name="MH_Other_2"/>
                <p:cNvSpPr/>
                <p:nvPr>
                  <p:custDataLst>
                    <p:tags r:id="rId13"/>
                  </p:custDataLst>
                </p:nvPr>
              </p:nvSpPr>
              <p:spPr>
                <a:xfrm rot="10873167">
                  <a:off x="3932990" y="2255891"/>
                  <a:ext cx="3919715" cy="328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撤销注册</a:t>
                  </a:r>
                </a:p>
              </p:txBody>
            </p:sp>
            <p:sp>
              <p:nvSpPr>
                <p:cNvPr id="22" name="MH_Other_3"/>
                <p:cNvSpPr/>
                <p:nvPr>
                  <p:custDataLst>
                    <p:tags r:id="rId14"/>
                  </p:custDataLst>
                </p:nvPr>
              </p:nvSpPr>
              <p:spPr>
                <a:xfrm rot="18073167">
                  <a:off x="4378074" y="2044604"/>
                  <a:ext cx="3243871" cy="43251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注册</a:t>
                  </a:r>
                </a:p>
              </p:txBody>
            </p:sp>
          </p:grpSp>
          <p:sp>
            <p:nvSpPr>
              <p:cNvPr id="8" name="MH_Title_1"/>
              <p:cNvSpPr/>
              <p:nvPr>
                <p:custDataLst>
                  <p:tags r:id="rId11"/>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850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sym typeface="+mn-ea"/>
                  </a:rPr>
                  <a:t>观察者模式的过程</a:t>
                </a:r>
                <a:endParaRPr lang="zh-CN" altLang="en-US" sz="2800" b="1" dirty="0">
                  <a:solidFill>
                    <a:srgbClr val="FFFFFF"/>
                  </a:solidFill>
                  <a:latin typeface="微软雅黑" panose="020B0503020204020204" charset="-122"/>
                  <a:ea typeface="微软雅黑" panose="020B0503020204020204" charset="-122"/>
                </a:endParaRPr>
              </a:p>
            </p:txBody>
          </p:sp>
        </p:grpSp>
        <p:sp>
          <p:nvSpPr>
            <p:cNvPr id="23" name="MH_Other_2"/>
            <p:cNvSpPr/>
            <p:nvPr>
              <p:custDataLst>
                <p:tags r:id="rId2"/>
              </p:custDataLst>
            </p:nvPr>
          </p:nvSpPr>
          <p:spPr>
            <a:xfrm rot="16200000" flipH="1" flipV="1">
              <a:off x="11314" y="3291"/>
              <a:ext cx="620" cy="12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24" name="MH_SubTitle_4"/>
            <p:cNvSpPr txBox="1"/>
            <p:nvPr>
              <p:custDataLst>
                <p:tags r:id="rId3"/>
              </p:custDataLst>
            </p:nvPr>
          </p:nvSpPr>
          <p:spPr bwMode="auto">
            <a:xfrm>
              <a:off x="12243" y="3522"/>
              <a:ext cx="5288"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a:solidFill>
                    <a:srgbClr val="00B0F0"/>
                  </a:solidFill>
                  <a:latin typeface="微软雅黑" panose="020B0503020204020204" charset="-122"/>
                  <a:ea typeface="微软雅黑" panose="020B0503020204020204" charset="-122"/>
                </a:rPr>
                <a:t>（</a:t>
              </a:r>
              <a:r>
                <a:rPr lang="en-US" altLang="zh-CN" sz="2000" b="1" dirty="0">
                  <a:solidFill>
                    <a:srgbClr val="00B0F0"/>
                  </a:solidFill>
                  <a:latin typeface="微软雅黑" panose="020B0503020204020204" charset="-122"/>
                  <a:ea typeface="微软雅黑" panose="020B0503020204020204" charset="-122"/>
                </a:rPr>
                <a:t>2</a:t>
              </a:r>
              <a:r>
                <a:rPr lang="zh-CN" altLang="en-US" sz="2000" b="1" dirty="0">
                  <a:solidFill>
                    <a:srgbClr val="00B0F0"/>
                  </a:solidFill>
                  <a:latin typeface="微软雅黑" panose="020B0503020204020204" charset="-122"/>
                  <a:ea typeface="微软雅黑" panose="020B0503020204020204" charset="-122"/>
                </a:rPr>
                <a:t>）通知</a:t>
              </a:r>
            </a:p>
            <a:p>
              <a:pPr>
                <a:lnSpc>
                  <a:spcPct val="120000"/>
                </a:lnSpc>
                <a:defRPr/>
              </a:pPr>
              <a:r>
                <a:rPr lang="zh-CN" altLang="en-US" sz="2000" dirty="0">
                  <a:ea typeface="微软雅黑 Light" panose="020B0502040204020203" pitchFamily="34" charset="-122"/>
                </a:rPr>
                <a:t>        如果被观察对象发生了某种变化，要从容器中得到所有注册过的观察者，将变化通知注册过的观察者。</a:t>
              </a:r>
            </a:p>
          </p:txBody>
        </p:sp>
        <p:sp>
          <p:nvSpPr>
            <p:cNvPr id="25" name="MH_Other_2"/>
            <p:cNvSpPr/>
            <p:nvPr>
              <p:custDataLst>
                <p:tags r:id="rId4"/>
              </p:custDataLst>
            </p:nvPr>
          </p:nvSpPr>
          <p:spPr>
            <a:xfrm rot="5400000" flipV="1">
              <a:off x="6534" y="3291"/>
              <a:ext cx="620" cy="12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26" name="MH_SubTitle_4"/>
            <p:cNvSpPr txBox="1"/>
            <p:nvPr>
              <p:custDataLst>
                <p:tags r:id="rId5"/>
              </p:custDataLst>
            </p:nvPr>
          </p:nvSpPr>
          <p:spPr bwMode="auto">
            <a:xfrm>
              <a:off x="1387" y="3522"/>
              <a:ext cx="4838"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a:solidFill>
                    <a:srgbClr val="00B0F0"/>
                  </a:solidFill>
                  <a:latin typeface="微软雅黑" panose="020B0503020204020204" charset="-122"/>
                  <a:ea typeface="微软雅黑" panose="020B0503020204020204" charset="-122"/>
                </a:rPr>
                <a:t>（</a:t>
              </a:r>
              <a:r>
                <a:rPr lang="en-US" altLang="zh-CN" sz="2000" b="1" dirty="0">
                  <a:solidFill>
                    <a:srgbClr val="00B0F0"/>
                  </a:solidFill>
                  <a:latin typeface="微软雅黑" panose="020B0503020204020204" charset="-122"/>
                  <a:ea typeface="微软雅黑" panose="020B0503020204020204" charset="-122"/>
                </a:rPr>
                <a:t>1</a:t>
              </a:r>
              <a:r>
                <a:rPr lang="zh-CN" altLang="en-US" sz="2000" b="1" dirty="0">
                  <a:solidFill>
                    <a:srgbClr val="00B0F0"/>
                  </a:solidFill>
                  <a:latin typeface="微软雅黑" panose="020B0503020204020204" charset="-122"/>
                  <a:ea typeface="微软雅黑" panose="020B0503020204020204" charset="-122"/>
                </a:rPr>
                <a:t>）注册</a:t>
              </a:r>
            </a:p>
            <a:p>
              <a:pPr algn="l">
                <a:lnSpc>
                  <a:spcPct val="130000"/>
                </a:lnSpc>
                <a:defRPr/>
              </a:pPr>
              <a:r>
                <a:rPr lang="zh-CN" altLang="en-US" sz="2000" dirty="0">
                  <a:ea typeface="微软雅黑 Light" panose="020B0502040204020203" pitchFamily="34" charset="-122"/>
                </a:rPr>
                <a:t>        观察者将自己注册到被观察对象中，被观察对象将观察者存放在一个容器里。</a:t>
              </a:r>
            </a:p>
          </p:txBody>
        </p:sp>
        <p:sp>
          <p:nvSpPr>
            <p:cNvPr id="27" name="MH_Other_2"/>
            <p:cNvSpPr/>
            <p:nvPr>
              <p:custDataLst>
                <p:tags r:id="rId6"/>
              </p:custDataLst>
            </p:nvPr>
          </p:nvSpPr>
          <p:spPr>
            <a:xfrm rot="16200000">
              <a:off x="7518" y="6638"/>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28" name="MH_SubTitle_4"/>
            <p:cNvSpPr txBox="1"/>
            <p:nvPr>
              <p:custDataLst>
                <p:tags r:id="rId7"/>
              </p:custDataLst>
            </p:nvPr>
          </p:nvSpPr>
          <p:spPr bwMode="auto">
            <a:xfrm>
              <a:off x="3164" y="7538"/>
              <a:ext cx="9300" cy="1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ctr">
                <a:lnSpc>
                  <a:spcPct val="130000"/>
                </a:lnSpc>
                <a:defRPr/>
              </a:pPr>
              <a:r>
                <a:rPr lang="zh-CN" altLang="en-US" sz="2000" b="1" dirty="0">
                  <a:solidFill>
                    <a:srgbClr val="00B0F0"/>
                  </a:solidFill>
                  <a:latin typeface="微软雅黑" panose="020B0503020204020204" charset="-122"/>
                  <a:ea typeface="微软雅黑" panose="020B0503020204020204" charset="-122"/>
                </a:rPr>
                <a:t>（</a:t>
              </a:r>
              <a:r>
                <a:rPr lang="en-US" altLang="zh-CN" sz="2000" b="1" dirty="0">
                  <a:solidFill>
                    <a:srgbClr val="00B0F0"/>
                  </a:solidFill>
                  <a:latin typeface="微软雅黑" panose="020B0503020204020204" charset="-122"/>
                  <a:ea typeface="微软雅黑" panose="020B0503020204020204" charset="-122"/>
                </a:rPr>
                <a:t>3</a:t>
              </a:r>
              <a:r>
                <a:rPr lang="zh-CN" altLang="en-US" sz="2000" b="1" dirty="0">
                  <a:solidFill>
                    <a:srgbClr val="00B0F0"/>
                  </a:solidFill>
                  <a:latin typeface="微软雅黑" panose="020B0503020204020204" charset="-122"/>
                  <a:ea typeface="微软雅黑" panose="020B0503020204020204" charset="-122"/>
                </a:rPr>
                <a:t>）撤销注册</a:t>
              </a:r>
              <a:endParaRPr lang="en-US" altLang="zh-CN" sz="2000" dirty="0">
                <a:ea typeface="微软雅黑 Light" panose="020B0502040204020203" pitchFamily="34" charset="-122"/>
              </a:endParaRPr>
            </a:p>
            <a:p>
              <a:pPr>
                <a:lnSpc>
                  <a:spcPct val="110000"/>
                </a:lnSpc>
                <a:defRPr/>
              </a:pPr>
              <a:r>
                <a:rPr lang="zh-CN" altLang="en-US" sz="2000" dirty="0">
                  <a:ea typeface="微软雅黑 Light" panose="020B0502040204020203" pitchFamily="34" charset="-122"/>
                </a:rPr>
                <a:t>         观察者告诉被观察者要撤销观察，被观察者从容器中将观察者去除。</a:t>
              </a:r>
            </a:p>
          </p:txBody>
        </p:sp>
      </p:grpSp>
      <p:sp>
        <p:nvSpPr>
          <p:cNvPr id="20" name="矩形 19"/>
          <p:cNvSpPr/>
          <p:nvPr/>
        </p:nvSpPr>
        <p:spPr>
          <a:xfrm>
            <a:off x="624230" y="2050293"/>
            <a:ext cx="2890495" cy="369332"/>
          </a:xfrm>
          <a:prstGeom prst="rect">
            <a:avLst/>
          </a:prstGeom>
        </p:spPr>
        <p:txBody>
          <a:bodyPr wrap="square">
            <a:spAutoFit/>
          </a:bodyPr>
          <a:lstStyle/>
          <a:p>
            <a:r>
              <a:rPr lang="zh-CN" altLang="zh-CN" b="1" dirty="0"/>
              <a:t>观察者模式的</a:t>
            </a:r>
            <a:r>
              <a:rPr lang="zh-CN" altLang="en-US" b="1" dirty="0"/>
              <a:t>过程：</a:t>
            </a:r>
          </a:p>
        </p:txBody>
      </p:sp>
    </p:spTree>
    <p:custDataLst>
      <p:tags r:id="rId1"/>
    </p:custDataLst>
  </p:cSld>
  <p:clrMapOvr>
    <a:masterClrMapping/>
  </p:clrMapOvr>
  <p:transition>
    <p:wheel spokes="3"/>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to="" calcmode="lin" valueType="num">
                                      <p:cBhvr>
                                        <p:cTn id="7" dur="1" fill="hold"/>
                                        <p:tgtEl>
                                          <p:spTgt spid="3"/>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p>
        </p:txBody>
      </p:sp>
      <p:sp>
        <p:nvSpPr>
          <p:cNvPr id="100" name="文本框 99"/>
          <p:cNvSpPr txBox="1"/>
          <p:nvPr/>
        </p:nvSpPr>
        <p:spPr>
          <a:xfrm>
            <a:off x="1257300" y="2747010"/>
            <a:ext cx="5638165" cy="2723374"/>
          </a:xfrm>
          <a:prstGeom prst="rect">
            <a:avLst/>
          </a:prstGeom>
          <a:noFill/>
          <a:ln w="9525">
            <a:solidFill>
              <a:schemeClr val="accent1"/>
            </a:solidFill>
          </a:ln>
        </p:spPr>
        <p:txBody>
          <a:bodyPr wrap="square">
            <a:spAutoFit/>
          </a:bodyPr>
          <a:lstStyle/>
          <a:p>
            <a:pPr marL="0" indent="457200" algn="l" fontAlgn="auto">
              <a:lnSpc>
                <a:spcPct val="120000"/>
              </a:lnSpc>
            </a:pPr>
            <a:r>
              <a:rPr lang="zh-CN" altLang="en-US" b="0" u="none" dirty="0">
                <a:latin typeface="微软雅黑" panose="020B0503020204020204" charset="-122"/>
                <a:ea typeface="微软雅黑" panose="020B0503020204020204" charset="-122"/>
                <a:cs typeface="宋体" panose="02010600030101010101" pitchFamily="2" charset="-122"/>
              </a:rPr>
              <a:t>观察者将自己注册到被观察者的容器中时，被观察者不应该过问观察者的具体类型，而是应该使用观察者的接口。这样的优点是：假定程序中还有别的观察者，那么只要这个观察者也是相同的接口实现即可。一个被观察者可以对应多个观察者，当被观察者发生变化的时候，它可以将消息通知给所有的观察者。基于接口，而不是具体的实现，这一点为程序提供了更大的灵活性。</a:t>
            </a:r>
          </a:p>
        </p:txBody>
      </p:sp>
      <p:pic>
        <p:nvPicPr>
          <p:cNvPr id="7" name="图片 6" descr="A000220150318R88PPIC"/>
          <p:cNvPicPr>
            <a:picLocks noChangeAspect="1"/>
          </p:cNvPicPr>
          <p:nvPr/>
        </p:nvPicPr>
        <p:blipFill>
          <a:blip r:embed="rId4" cstate="print"/>
          <a:stretch>
            <a:fillRect/>
          </a:stretch>
        </p:blipFill>
        <p:spPr>
          <a:xfrm>
            <a:off x="7000240" y="2423160"/>
            <a:ext cx="4131945" cy="3051810"/>
          </a:xfrm>
          <a:prstGeom prst="rect">
            <a:avLst/>
          </a:prstGeom>
        </p:spPr>
      </p:pic>
    </p:spTree>
    <p:custDataLst>
      <p:tags r:id="rId1"/>
    </p:custDataLst>
  </p:cSld>
  <p:clrMapOvr>
    <a:masterClrMapping/>
  </p:clrMapOvr>
  <p:transition>
    <p:wheel spokes="3"/>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p>
        </p:txBody>
      </p:sp>
      <p:grpSp>
        <p:nvGrpSpPr>
          <p:cNvPr id="8" name="组合 7"/>
          <p:cNvGrpSpPr/>
          <p:nvPr/>
        </p:nvGrpSpPr>
        <p:grpSpPr>
          <a:xfrm>
            <a:off x="1856740" y="2179955"/>
            <a:ext cx="8478520" cy="4113530"/>
            <a:chOff x="9359" y="6193"/>
            <a:chExt cx="7613" cy="5750"/>
          </a:xfrm>
        </p:grpSpPr>
        <p:sp>
          <p:nvSpPr>
            <p:cNvPr id="9" name="MH_Other_1"/>
            <p:cNvSpPr/>
            <p:nvPr/>
          </p:nvSpPr>
          <p:spPr>
            <a:xfrm>
              <a:off x="9359" y="6193"/>
              <a:ext cx="7178" cy="4297"/>
            </a:xfrm>
            <a:prstGeom prst="roundRect">
              <a:avLst>
                <a:gd name="adj" fmla="val 3901"/>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0" name="MH_Other_2"/>
            <p:cNvSpPr/>
            <p:nvPr/>
          </p:nvSpPr>
          <p:spPr>
            <a:xfrm>
              <a:off x="9794" y="6640"/>
              <a:ext cx="7178" cy="5303"/>
            </a:xfrm>
            <a:custGeom>
              <a:avLst/>
              <a:gdLst>
                <a:gd name="connsiteX0" fmla="*/ 106446 w 4557485"/>
                <a:gd name="connsiteY0" fmla="*/ 0 h 3367314"/>
                <a:gd name="connsiteX1" fmla="*/ 4451039 w 4557485"/>
                <a:gd name="connsiteY1" fmla="*/ 0 h 3367314"/>
                <a:gd name="connsiteX2" fmla="*/ 4557485 w 4557485"/>
                <a:gd name="connsiteY2" fmla="*/ 106446 h 3367314"/>
                <a:gd name="connsiteX3" fmla="*/ 4557485 w 4557485"/>
                <a:gd name="connsiteY3" fmla="*/ 2622239 h 3367314"/>
                <a:gd name="connsiteX4" fmla="*/ 4451039 w 4557485"/>
                <a:gd name="connsiteY4" fmla="*/ 2728685 h 3367314"/>
                <a:gd name="connsiteX5" fmla="*/ 3773714 w 4557485"/>
                <a:gd name="connsiteY5" fmla="*/ 2728685 h 3367314"/>
                <a:gd name="connsiteX6" fmla="*/ 3773714 w 4557485"/>
                <a:gd name="connsiteY6" fmla="*/ 3367314 h 3367314"/>
                <a:gd name="connsiteX7" fmla="*/ 3135085 w 4557485"/>
                <a:gd name="connsiteY7" fmla="*/ 2728685 h 3367314"/>
                <a:gd name="connsiteX8" fmla="*/ 106446 w 4557485"/>
                <a:gd name="connsiteY8" fmla="*/ 2728685 h 3367314"/>
                <a:gd name="connsiteX9" fmla="*/ 0 w 4557485"/>
                <a:gd name="connsiteY9" fmla="*/ 2622239 h 3367314"/>
                <a:gd name="connsiteX10" fmla="*/ 0 w 4557485"/>
                <a:gd name="connsiteY10" fmla="*/ 106446 h 3367314"/>
                <a:gd name="connsiteX11" fmla="*/ 106446 w 4557485"/>
                <a:gd name="connsiteY11" fmla="*/ 0 h 3367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57485" h="3367314">
                  <a:moveTo>
                    <a:pt x="106446" y="0"/>
                  </a:moveTo>
                  <a:lnTo>
                    <a:pt x="4451039" y="0"/>
                  </a:lnTo>
                  <a:cubicBezTo>
                    <a:pt x="4509828" y="0"/>
                    <a:pt x="4557485" y="47657"/>
                    <a:pt x="4557485" y="106446"/>
                  </a:cubicBezTo>
                  <a:lnTo>
                    <a:pt x="4557485" y="2622239"/>
                  </a:lnTo>
                  <a:cubicBezTo>
                    <a:pt x="4557485" y="2681028"/>
                    <a:pt x="4509828" y="2728685"/>
                    <a:pt x="4451039" y="2728685"/>
                  </a:cubicBezTo>
                  <a:lnTo>
                    <a:pt x="3773714" y="2728685"/>
                  </a:lnTo>
                  <a:lnTo>
                    <a:pt x="3773714" y="3367314"/>
                  </a:lnTo>
                  <a:lnTo>
                    <a:pt x="3135085" y="2728685"/>
                  </a:lnTo>
                  <a:lnTo>
                    <a:pt x="106446" y="2728685"/>
                  </a:lnTo>
                  <a:cubicBezTo>
                    <a:pt x="47657" y="2728685"/>
                    <a:pt x="0" y="2681028"/>
                    <a:pt x="0" y="2622239"/>
                  </a:cubicBezTo>
                  <a:lnTo>
                    <a:pt x="0" y="106446"/>
                  </a:lnTo>
                  <a:cubicBezTo>
                    <a:pt x="0" y="47657"/>
                    <a:pt x="47657" y="0"/>
                    <a:pt x="106446" y="0"/>
                  </a:cubicBez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077" name="MH_Desc_1"/>
            <p:cNvSpPr>
              <a:spLocks noChangeArrowheads="1"/>
            </p:cNvSpPr>
            <p:nvPr/>
          </p:nvSpPr>
          <p:spPr bwMode="auto">
            <a:xfrm>
              <a:off x="10846" y="7210"/>
              <a:ext cx="5115" cy="320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b="1" dirty="0">
                  <a:solidFill>
                    <a:schemeClr val="tx1"/>
                  </a:solidFill>
                  <a:latin typeface="微软雅黑" panose="020B0503020204020204" charset="-122"/>
                  <a:ea typeface="微软雅黑" panose="020B0503020204020204" charset="-122"/>
                </a:rPr>
                <a:t>观察的注意点：</a:t>
              </a:r>
              <a:endParaRPr lang="en-US" altLang="zh-CN" b="1" dirty="0">
                <a:solidFill>
                  <a:schemeClr val="tx1"/>
                </a:solidFill>
                <a:latin typeface="微软雅黑" panose="020B0503020204020204" charset="-122"/>
                <a:ea typeface="微软雅黑" panose="020B0503020204020204" charset="-122"/>
              </a:endParaRPr>
            </a:p>
            <a:p>
              <a:pPr indent="457200" fontAlgn="auto">
                <a:lnSpc>
                  <a:spcPct val="120000"/>
                </a:lnSpc>
              </a:pPr>
              <a:r>
                <a:rPr lang="zh-CN" altLang="en-US" dirty="0">
                  <a:solidFill>
                    <a:schemeClr val="tx1"/>
                  </a:solidFill>
                  <a:latin typeface="微软雅黑" panose="020B0503020204020204" charset="-122"/>
                  <a:ea typeface="微软雅黑" panose="020B0503020204020204" charset="-122"/>
                </a:rPr>
                <a:t>实现观察者模式的时候要注意，观察者和被观察对象之间的互动关系不能体现成类之间的直接调用，否则就将使观察者和被观察对象之间紧密地耦合起来，从根本上违反面向对象的设计的原则。无论是观察者“观察”观察对象，还是被观察者将自己的改变“通知”观察者，都不应该直接调用。</a:t>
              </a:r>
            </a:p>
          </p:txBody>
        </p:sp>
        <p:sp>
          <p:nvSpPr>
            <p:cNvPr id="3078" name="MH_Other_3"/>
            <p:cNvSpPr/>
            <p:nvPr/>
          </p:nvSpPr>
          <p:spPr bwMode="auto">
            <a:xfrm>
              <a:off x="10174" y="7253"/>
              <a:ext cx="593" cy="450"/>
            </a:xfrm>
            <a:custGeom>
              <a:avLst/>
              <a:gdLst>
                <a:gd name="T0" fmla="*/ 373803 w 376733"/>
                <a:gd name="T1" fmla="*/ 1221 h 285293"/>
                <a:gd name="T2" fmla="*/ 376238 w 376733"/>
                <a:gd name="T3" fmla="*/ 3663 h 285293"/>
                <a:gd name="T4" fmla="*/ 368933 w 376733"/>
                <a:gd name="T5" fmla="*/ 17096 h 285293"/>
                <a:gd name="T6" fmla="*/ 334231 w 376733"/>
                <a:gd name="T7" fmla="*/ 83649 h 285293"/>
                <a:gd name="T8" fmla="*/ 322663 w 376733"/>
                <a:gd name="T9" fmla="*/ 146538 h 285293"/>
                <a:gd name="T10" fmla="*/ 339710 w 376733"/>
                <a:gd name="T11" fmla="*/ 214923 h 285293"/>
                <a:gd name="T12" fmla="*/ 344581 w 376733"/>
                <a:gd name="T13" fmla="*/ 238735 h 285293"/>
                <a:gd name="T14" fmla="*/ 319619 w 376733"/>
                <a:gd name="T15" fmla="*/ 264380 h 285293"/>
                <a:gd name="T16" fmla="*/ 272742 w 376733"/>
                <a:gd name="T17" fmla="*/ 277201 h 285293"/>
                <a:gd name="T18" fmla="*/ 227691 w 376733"/>
                <a:gd name="T19" fmla="*/ 263769 h 285293"/>
                <a:gd name="T20" fmla="*/ 204557 w 376733"/>
                <a:gd name="T21" fmla="*/ 213091 h 285293"/>
                <a:gd name="T22" fmla="*/ 230735 w 376733"/>
                <a:gd name="T23" fmla="*/ 123336 h 285293"/>
                <a:gd name="T24" fmla="*/ 309879 w 376733"/>
                <a:gd name="T25" fmla="*/ 36024 h 285293"/>
                <a:gd name="T26" fmla="*/ 373803 w 376733"/>
                <a:gd name="T27" fmla="*/ 1221 h 285293"/>
                <a:gd name="T28" fmla="*/ 235606 w 376733"/>
                <a:gd name="T29" fmla="*/ 0 h 285293"/>
                <a:gd name="T30" fmla="*/ 242302 w 376733"/>
                <a:gd name="T31" fmla="*/ 2442 h 285293"/>
                <a:gd name="T32" fmla="*/ 232562 w 376733"/>
                <a:gd name="T33" fmla="*/ 14653 h 285293"/>
                <a:gd name="T34" fmla="*/ 159506 w 376733"/>
                <a:gd name="T35" fmla="*/ 101355 h 285293"/>
                <a:gd name="T36" fmla="*/ 136372 w 376733"/>
                <a:gd name="T37" fmla="*/ 175846 h 285293"/>
                <a:gd name="T38" fmla="*/ 140633 w 376733"/>
                <a:gd name="T39" fmla="*/ 219808 h 285293"/>
                <a:gd name="T40" fmla="*/ 144894 w 376733"/>
                <a:gd name="T41" fmla="*/ 240567 h 285293"/>
                <a:gd name="T42" fmla="*/ 121152 w 376733"/>
                <a:gd name="T43" fmla="*/ 272927 h 285293"/>
                <a:gd name="T44" fmla="*/ 77318 w 376733"/>
                <a:gd name="T45" fmla="*/ 285750 h 285293"/>
                <a:gd name="T46" fmla="*/ 28614 w 376733"/>
                <a:gd name="T47" fmla="*/ 268043 h 285293"/>
                <a:gd name="T48" fmla="*/ 0 w 376733"/>
                <a:gd name="T49" fmla="*/ 216144 h 285293"/>
                <a:gd name="T50" fmla="*/ 10959 w 376733"/>
                <a:gd name="T51" fmla="*/ 176456 h 285293"/>
                <a:gd name="T52" fmla="*/ 54184 w 376733"/>
                <a:gd name="T53" fmla="*/ 116620 h 285293"/>
                <a:gd name="T54" fmla="*/ 123586 w 376733"/>
                <a:gd name="T55" fmla="*/ 50067 h 285293"/>
                <a:gd name="T56" fmla="*/ 194816 w 376733"/>
                <a:gd name="T57" fmla="*/ 11601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3079" name="MH_Other_4"/>
            <p:cNvSpPr/>
            <p:nvPr/>
          </p:nvSpPr>
          <p:spPr bwMode="auto">
            <a:xfrm rot="10800000">
              <a:off x="15904" y="9978"/>
              <a:ext cx="593" cy="447"/>
            </a:xfrm>
            <a:custGeom>
              <a:avLst/>
              <a:gdLst>
                <a:gd name="T0" fmla="*/ 373803 w 376733"/>
                <a:gd name="T1" fmla="*/ 1214 h 285293"/>
                <a:gd name="T2" fmla="*/ 376238 w 376733"/>
                <a:gd name="T3" fmla="*/ 3643 h 285293"/>
                <a:gd name="T4" fmla="*/ 368933 w 376733"/>
                <a:gd name="T5" fmla="*/ 17001 h 285293"/>
                <a:gd name="T6" fmla="*/ 334231 w 376733"/>
                <a:gd name="T7" fmla="*/ 83184 h 285293"/>
                <a:gd name="T8" fmla="*/ 322663 w 376733"/>
                <a:gd name="T9" fmla="*/ 145724 h 285293"/>
                <a:gd name="T10" fmla="*/ 339710 w 376733"/>
                <a:gd name="T11" fmla="*/ 213728 h 285293"/>
                <a:gd name="T12" fmla="*/ 344581 w 376733"/>
                <a:gd name="T13" fmla="*/ 237408 h 285293"/>
                <a:gd name="T14" fmla="*/ 319619 w 376733"/>
                <a:gd name="T15" fmla="*/ 262911 h 285293"/>
                <a:gd name="T16" fmla="*/ 272742 w 376733"/>
                <a:gd name="T17" fmla="*/ 275661 h 285293"/>
                <a:gd name="T18" fmla="*/ 227691 w 376733"/>
                <a:gd name="T19" fmla="*/ 262303 h 285293"/>
                <a:gd name="T20" fmla="*/ 204557 w 376733"/>
                <a:gd name="T21" fmla="*/ 211907 h 285293"/>
                <a:gd name="T22" fmla="*/ 230735 w 376733"/>
                <a:gd name="T23" fmla="*/ 122651 h 285293"/>
                <a:gd name="T24" fmla="*/ 309879 w 376733"/>
                <a:gd name="T25" fmla="*/ 35823 h 285293"/>
                <a:gd name="T26" fmla="*/ 373803 w 376733"/>
                <a:gd name="T27" fmla="*/ 1214 h 285293"/>
                <a:gd name="T28" fmla="*/ 235606 w 376733"/>
                <a:gd name="T29" fmla="*/ 0 h 285293"/>
                <a:gd name="T30" fmla="*/ 242302 w 376733"/>
                <a:gd name="T31" fmla="*/ 2428 h 285293"/>
                <a:gd name="T32" fmla="*/ 232562 w 376733"/>
                <a:gd name="T33" fmla="*/ 14572 h 285293"/>
                <a:gd name="T34" fmla="*/ 159506 w 376733"/>
                <a:gd name="T35" fmla="*/ 100792 h 285293"/>
                <a:gd name="T36" fmla="*/ 136372 w 376733"/>
                <a:gd name="T37" fmla="*/ 174869 h 285293"/>
                <a:gd name="T38" fmla="*/ 140633 w 376733"/>
                <a:gd name="T39" fmla="*/ 218586 h 285293"/>
                <a:gd name="T40" fmla="*/ 144894 w 376733"/>
                <a:gd name="T41" fmla="*/ 239230 h 285293"/>
                <a:gd name="T42" fmla="*/ 121152 w 376733"/>
                <a:gd name="T43" fmla="*/ 271411 h 285293"/>
                <a:gd name="T44" fmla="*/ 77318 w 376733"/>
                <a:gd name="T45" fmla="*/ 284162 h 285293"/>
                <a:gd name="T46" fmla="*/ 28614 w 376733"/>
                <a:gd name="T47" fmla="*/ 266553 h 285293"/>
                <a:gd name="T48" fmla="*/ 0 w 376733"/>
                <a:gd name="T49" fmla="*/ 214943 h 285293"/>
                <a:gd name="T50" fmla="*/ 10959 w 376733"/>
                <a:gd name="T51" fmla="*/ 175476 h 285293"/>
                <a:gd name="T52" fmla="*/ 54184 w 376733"/>
                <a:gd name="T53" fmla="*/ 115971 h 285293"/>
                <a:gd name="T54" fmla="*/ 123586 w 376733"/>
                <a:gd name="T55" fmla="*/ 49789 h 285293"/>
                <a:gd name="T56" fmla="*/ 194816 w 376733"/>
                <a:gd name="T57" fmla="*/ 11536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Tree>
    <p:custDataLst>
      <p:tags r:id="rId1"/>
    </p:custDataLst>
  </p:cSld>
  <p:clrMapOvr>
    <a:masterClrMapping/>
  </p:clrMapOvr>
  <p:transition>
    <p:wheel spokes="3"/>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8.5.2 </a:t>
            </a:r>
            <a:r>
              <a:rPr lang="zh-CN" altLang="en-US" sz="2400" dirty="0">
                <a:solidFill>
                  <a:schemeClr val="tx1"/>
                </a:solidFill>
              </a:rPr>
              <a:t>组合模式</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547370" y="2680541"/>
            <a:ext cx="6908800" cy="2537682"/>
          </a:xfrm>
          <a:prstGeom prst="rect">
            <a:avLst/>
          </a:prstGeom>
        </p:spPr>
        <p:txBody>
          <a:bodyPr wrap="square">
            <a:spAutoFit/>
          </a:bodyPr>
          <a:lstStyle/>
          <a:p>
            <a:pPr indent="457200" algn="just">
              <a:lnSpc>
                <a:spcPct val="150000"/>
              </a:lnSpc>
              <a:defRPr/>
            </a:pPr>
            <a:r>
              <a:rPr lang="en-US" altLang="zh-CN" dirty="0"/>
              <a:t>组合模式是指一个对象可以通过其他对象组合而成。这是一种对象的树状结构形式。这种模式的好处是将各单个对象和组合对象看做统一的组合对象。即组合多个对象形成树形结构，来表示具有“整体－部分”关系的层次结构。组合模式对单个对象（即叶子对象）和组合对象（即容器对象）的使用具有一致性，组合模式又可以称为“整体－部分”（Part-Whole）模式，它是一种对象结构型模式。</a:t>
            </a:r>
          </a:p>
        </p:txBody>
      </p:sp>
      <p:pic>
        <p:nvPicPr>
          <p:cNvPr id="3" name="图片 2" descr="A000220150322J43PPIC"/>
          <p:cNvPicPr>
            <a:picLocks noChangeAspect="1"/>
          </p:cNvPicPr>
          <p:nvPr/>
        </p:nvPicPr>
        <p:blipFill>
          <a:blip r:embed="rId4" cstate="print"/>
          <a:stretch>
            <a:fillRect/>
          </a:stretch>
        </p:blipFill>
        <p:spPr>
          <a:xfrm>
            <a:off x="7547610" y="1438275"/>
            <a:ext cx="4283075" cy="3996690"/>
          </a:xfrm>
          <a:prstGeom prst="rect">
            <a:avLst/>
          </a:prstGeom>
        </p:spPr>
      </p:pic>
    </p:spTree>
    <p:custDataLst>
      <p:tags r:id="rId1"/>
    </p:custDataLst>
  </p:cSld>
  <p:clrMapOvr>
    <a:masterClrMapping/>
  </p:clrMapOvr>
  <p:transition>
    <p:wheel spokes="3"/>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8.5.2 </a:t>
            </a:r>
            <a:r>
              <a:rPr lang="zh-CN" altLang="en-US" sz="2400" dirty="0">
                <a:solidFill>
                  <a:schemeClr val="tx1"/>
                </a:solidFill>
              </a:rPr>
              <a:t>组合模式</a:t>
            </a:r>
          </a:p>
        </p:txBody>
      </p:sp>
      <p:grpSp>
        <p:nvGrpSpPr>
          <p:cNvPr id="3" name="组合 2"/>
          <p:cNvGrpSpPr/>
          <p:nvPr/>
        </p:nvGrpSpPr>
        <p:grpSpPr>
          <a:xfrm>
            <a:off x="539619" y="3058641"/>
            <a:ext cx="5020310" cy="2419350"/>
            <a:chOff x="1630" y="5726"/>
            <a:chExt cx="7906" cy="3810"/>
          </a:xfrm>
        </p:grpSpPr>
        <p:cxnSp>
          <p:nvCxnSpPr>
            <p:cNvPr id="4" name="MH_Other_1"/>
            <p:cNvCxnSpPr/>
            <p:nvPr/>
          </p:nvCxnSpPr>
          <p:spPr>
            <a:xfrm flipH="1">
              <a:off x="2470" y="6041"/>
              <a:ext cx="1545" cy="1450"/>
            </a:xfrm>
            <a:prstGeom prst="line">
              <a:avLst/>
            </a:prstGeom>
            <a:ln w="38100">
              <a:solidFill>
                <a:schemeClr val="accent3">
                  <a:lumMod val="75000"/>
                </a:schemeClr>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017" y="7227"/>
              <a:ext cx="651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3">
                      <a:lumMod val="75000"/>
                    </a:schemeClr>
                  </a:solidFill>
                </a:rPr>
                <a:t>抽象构件（Component）</a:t>
              </a:r>
            </a:p>
            <a:p>
              <a:pPr indent="457200" fontAlgn="auto">
                <a:lnSpc>
                  <a:spcPct val="120000"/>
                </a:lnSpc>
              </a:pPr>
              <a:r>
                <a:rPr lang="zh-CN" altLang="en-US" dirty="0">
                  <a:ea typeface="微软雅黑" panose="020B0503020204020204" charset="-122"/>
                </a:rPr>
                <a:t>它可以是接口或抽象类，为叶子构件和容器构件对象声明接口，在该角色中可以包含所有子类共有行为的声明和实现。在抽象构件中定义了访问及管理它的子构件的方法，如增加子构件、删除子构件、获取子构件等。</a:t>
              </a:r>
            </a:p>
          </p:txBody>
        </p:sp>
        <p:sp>
          <p:nvSpPr>
            <p:cNvPr id="8"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3">
                      <a:lumMod val="75000"/>
                    </a:schemeClr>
                  </a:solidFill>
                  <a:latin typeface="Times New Roman" panose="02020603050405020304" pitchFamily="18" charset="0"/>
                  <a:ea typeface="微软雅黑" panose="020B0503020204020204" charset="-122"/>
                </a:rPr>
                <a:t>1</a:t>
              </a:r>
            </a:p>
          </p:txBody>
        </p:sp>
      </p:grpSp>
      <p:grpSp>
        <p:nvGrpSpPr>
          <p:cNvPr id="9" name="组合 8"/>
          <p:cNvGrpSpPr/>
          <p:nvPr/>
        </p:nvGrpSpPr>
        <p:grpSpPr>
          <a:xfrm>
            <a:off x="5820279" y="1449398"/>
            <a:ext cx="5875655" cy="1831975"/>
            <a:chOff x="1840" y="2871"/>
            <a:chExt cx="9253" cy="2885"/>
          </a:xfrm>
        </p:grpSpPr>
        <p:cxnSp>
          <p:nvCxnSpPr>
            <p:cNvPr id="10" name="MH_Other_4"/>
            <p:cNvCxnSpPr/>
            <p:nvPr/>
          </p:nvCxnSpPr>
          <p:spPr>
            <a:xfrm flipH="1">
              <a:off x="2680" y="3183"/>
              <a:ext cx="1545" cy="145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2" name="MH_SubTitle_2"/>
            <p:cNvSpPr txBox="1">
              <a:spLocks noChangeArrowheads="1"/>
            </p:cNvSpPr>
            <p:nvPr/>
          </p:nvSpPr>
          <p:spPr bwMode="auto">
            <a:xfrm>
              <a:off x="3543" y="3774"/>
              <a:ext cx="7550" cy="198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75000"/>
                    </a:schemeClr>
                  </a:solidFill>
                  <a:ea typeface="微软雅黑" panose="020B0503020204020204" charset="-122"/>
                </a:rPr>
                <a:t>叶子构件（Leaf）</a:t>
              </a:r>
            </a:p>
            <a:p>
              <a:pPr indent="457200" fontAlgn="auto">
                <a:lnSpc>
                  <a:spcPct val="120000"/>
                </a:lnSpc>
              </a:pPr>
              <a:r>
                <a:rPr lang="zh-CN" altLang="en-US" dirty="0">
                  <a:solidFill>
                    <a:schemeClr val="tx1"/>
                  </a:solidFill>
                  <a:ea typeface="微软雅黑" panose="020B0503020204020204" charset="-122"/>
                </a:rPr>
                <a:t>它在组合结构中表示叶子节点对象，叶子节点没有子节点，它实现了在抽象构件中定义的行为。对于那些访问及管理子构件的方法，可以通过异常等方式进行处理。</a:t>
              </a:r>
            </a:p>
          </p:txBody>
        </p:sp>
        <p:sp>
          <p:nvSpPr>
            <p:cNvPr id="13"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6">
                      <a:lumMod val="75000"/>
                    </a:schemeClr>
                  </a:solidFill>
                  <a:latin typeface="Times New Roman" panose="02020603050405020304" pitchFamily="18" charset="0"/>
                  <a:ea typeface="微软雅黑" panose="020B0503020204020204" charset="-122"/>
                </a:rPr>
                <a:t>2</a:t>
              </a:r>
            </a:p>
          </p:txBody>
        </p:sp>
      </p:grpSp>
      <p:grpSp>
        <p:nvGrpSpPr>
          <p:cNvPr id="14" name="组合 13"/>
          <p:cNvGrpSpPr/>
          <p:nvPr/>
        </p:nvGrpSpPr>
        <p:grpSpPr>
          <a:xfrm>
            <a:off x="5820279" y="3306138"/>
            <a:ext cx="5875655" cy="2653030"/>
            <a:chOff x="1840" y="2871"/>
            <a:chExt cx="9253" cy="4178"/>
          </a:xfrm>
        </p:grpSpPr>
        <p:cxnSp>
          <p:nvCxnSpPr>
            <p:cNvPr id="15" name="MH_Other_4"/>
            <p:cNvCxnSpPr/>
            <p:nvPr/>
          </p:nvCxnSpPr>
          <p:spPr>
            <a:xfrm flipH="1">
              <a:off x="2680" y="3183"/>
              <a:ext cx="1545" cy="145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6"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7" name="MH_SubTitle_2"/>
            <p:cNvSpPr txBox="1">
              <a:spLocks noChangeArrowheads="1"/>
            </p:cNvSpPr>
            <p:nvPr/>
          </p:nvSpPr>
          <p:spPr bwMode="auto">
            <a:xfrm>
              <a:off x="3351" y="4033"/>
              <a:ext cx="7742" cy="3016"/>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C00000"/>
                  </a:solidFill>
                  <a:ea typeface="微软雅黑" panose="020B0503020204020204" charset="-122"/>
                </a:rPr>
                <a:t>容器构件（Composite）</a:t>
              </a:r>
            </a:p>
            <a:p>
              <a:pPr indent="457200" fontAlgn="auto">
                <a:lnSpc>
                  <a:spcPct val="120000"/>
                </a:lnSpc>
              </a:pPr>
              <a:r>
                <a:rPr lang="zh-CN" altLang="en-US" dirty="0">
                  <a:solidFill>
                    <a:schemeClr val="tx1"/>
                  </a:solidFill>
                  <a:ea typeface="微软雅黑" panose="020B0503020204020204" charset="-122"/>
                </a:rPr>
                <a:t>它在组合结构中表示容器节点对象，容器节点包含子节点，其子节点可以是叶子节点，也可以是容器节点，它提供一个集合用于存储子节点，实现了在抽象构件中定义的行为，包括那些访问及管理子构件的方法，在其业务方法中可以递归调用其子节点的业务方法。</a:t>
              </a:r>
            </a:p>
          </p:txBody>
        </p:sp>
        <p:sp>
          <p:nvSpPr>
            <p:cNvPr id="20"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C00000"/>
                  </a:solidFill>
                  <a:latin typeface="Times New Roman" panose="02020603050405020304" pitchFamily="18" charset="0"/>
                  <a:ea typeface="微软雅黑" panose="020B0503020204020204" charset="-122"/>
                </a:rPr>
                <a:t>3</a:t>
              </a:r>
            </a:p>
          </p:txBody>
        </p:sp>
      </p:grpSp>
      <p:sp>
        <p:nvSpPr>
          <p:cNvPr id="19" name="矩形 18"/>
          <p:cNvSpPr/>
          <p:nvPr/>
        </p:nvSpPr>
        <p:spPr>
          <a:xfrm>
            <a:off x="624230" y="2107443"/>
            <a:ext cx="4709770" cy="646331"/>
          </a:xfrm>
          <a:prstGeom prst="rect">
            <a:avLst/>
          </a:prstGeom>
        </p:spPr>
        <p:txBody>
          <a:bodyPr wrap="square">
            <a:spAutoFit/>
          </a:bodyPr>
          <a:lstStyle/>
          <a:p>
            <a:r>
              <a:rPr lang="zh-CN" altLang="zh-CN" dirty="0"/>
              <a:t>在组合模式结构图中包含如下</a:t>
            </a:r>
            <a:r>
              <a:rPr lang="en-US" altLang="zh-CN" dirty="0"/>
              <a:t>3</a:t>
            </a:r>
            <a:r>
              <a:rPr lang="zh-CN" altLang="zh-CN" dirty="0"/>
              <a:t>个角色：抽象构件、叶子构件和容器构件。</a:t>
            </a:r>
          </a:p>
        </p:txBody>
      </p:sp>
    </p:spTree>
    <p:custDataLst>
      <p:tags r:id="rId1"/>
    </p:custDataLst>
  </p:cSld>
  <p:clrMapOvr>
    <a:masterClrMapping/>
  </p:clrMapOvr>
  <p:transition>
    <p:wheel spokes="3"/>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8.5.2 </a:t>
            </a:r>
            <a:r>
              <a:rPr lang="zh-CN" altLang="en-US" sz="2400" dirty="0">
                <a:solidFill>
                  <a:schemeClr val="tx1"/>
                </a:solidFill>
              </a:rPr>
              <a:t>组合模式</a:t>
            </a:r>
          </a:p>
        </p:txBody>
      </p:sp>
      <p:sp>
        <p:nvSpPr>
          <p:cNvPr id="8" name="圆角矩形 7"/>
          <p:cNvSpPr/>
          <p:nvPr/>
        </p:nvSpPr>
        <p:spPr>
          <a:xfrm>
            <a:off x="4951095" y="1969770"/>
            <a:ext cx="7020560" cy="3875405"/>
          </a:xfrm>
          <a:prstGeom prst="roundRect">
            <a:avLst/>
          </a:prstGeom>
          <a:noFill/>
          <a:ln w="28575">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lnSpc>
                <a:spcPct val="130000"/>
              </a:lnSpc>
            </a:pPr>
            <a:r>
              <a:rPr lang="en-US" altLang="zh-CN">
                <a:solidFill>
                  <a:schemeClr val="tx1">
                    <a:lumMod val="50000"/>
                  </a:schemeClr>
                </a:solidFill>
                <a:latin typeface="微软雅黑" panose="020B0503020204020204" charset="-122"/>
                <a:ea typeface="微软雅黑" panose="020B0503020204020204" charset="-122"/>
              </a:rPr>
              <a:t>       </a:t>
            </a:r>
            <a:r>
              <a:rPr lang="zh-CN" altLang="en-US">
                <a:solidFill>
                  <a:schemeClr val="tx1">
                    <a:lumMod val="50000"/>
                  </a:schemeClr>
                </a:solidFill>
                <a:latin typeface="微软雅黑" panose="020B0503020204020204" charset="-122"/>
                <a:ea typeface="微软雅黑" panose="020B0503020204020204" charset="-122"/>
                <a:sym typeface="+mn-ea"/>
              </a:rPr>
              <a:t>组合模式的关键是定义了一个抽象构件类，它既可以代表叶子，又可以代表容器，而客户端针对该抽象构件类进行编程，不需要知道它到底表示的是叶子还是容器，可以对其进行统一处理。同时，容器对象与抽象构件类之间还建立一个聚合关联关系，在容器对象中既可以包含叶子，也可以包含容器，以此实现递归组合，形成一个树形结构。</a:t>
            </a:r>
          </a:p>
          <a:p>
            <a:pPr fontAlgn="auto">
              <a:lnSpc>
                <a:spcPct val="130000"/>
              </a:lnSpc>
            </a:pPr>
            <a:r>
              <a:rPr lang="zh-CN" altLang="en-US">
                <a:solidFill>
                  <a:schemeClr val="tx1">
                    <a:lumMod val="50000"/>
                  </a:schemeClr>
                </a:solidFill>
                <a:latin typeface="微软雅黑" panose="020B0503020204020204" charset="-122"/>
                <a:ea typeface="微软雅黑" panose="020B0503020204020204" charset="-122"/>
                <a:sym typeface="+mn-ea"/>
              </a:rPr>
              <a:t>       如果不使用组合模式，客户端代码将过多地依赖于容器对象复杂的内部实现结构，容器对象内部实现结构的变化将引起客户代码的频繁变化，带来了代码维护复杂、可扩展性差等弊端。组合模式的引入将在一定程度上解决这些问题。</a:t>
            </a:r>
          </a:p>
        </p:txBody>
      </p:sp>
      <p:pic>
        <p:nvPicPr>
          <p:cNvPr id="3" name="图片 2" descr="A000220150320H08PPIC"/>
          <p:cNvPicPr>
            <a:picLocks noChangeAspect="1"/>
          </p:cNvPicPr>
          <p:nvPr/>
        </p:nvPicPr>
        <p:blipFill>
          <a:blip r:embed="rId4" cstate="print"/>
          <a:stretch>
            <a:fillRect/>
          </a:stretch>
        </p:blipFill>
        <p:spPr>
          <a:xfrm>
            <a:off x="354280" y="2312671"/>
            <a:ext cx="4765725" cy="3459480"/>
          </a:xfrm>
          <a:prstGeom prst="rect">
            <a:avLst/>
          </a:prstGeom>
        </p:spPr>
      </p:pic>
    </p:spTree>
    <p:custDataLst>
      <p:tags r:id="rId1"/>
    </p:custDataLst>
  </p:cSld>
  <p:clrMapOvr>
    <a:masterClrMapping/>
  </p:clrMapOvr>
  <p:transition>
    <p:wheel spokes="3"/>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8.5.3 </a:t>
            </a:r>
            <a:r>
              <a:rPr lang="zh-CN" altLang="en-US" sz="2400" dirty="0">
                <a:solidFill>
                  <a:schemeClr val="tx1"/>
                </a:solidFill>
              </a:rPr>
              <a:t>工厂方法模式和策略模式</a:t>
            </a:r>
          </a:p>
        </p:txBody>
      </p:sp>
      <p:grpSp>
        <p:nvGrpSpPr>
          <p:cNvPr id="5" name="组合 4"/>
          <p:cNvGrpSpPr/>
          <p:nvPr/>
        </p:nvGrpSpPr>
        <p:grpSpPr>
          <a:xfrm>
            <a:off x="754095" y="2511982"/>
            <a:ext cx="10137228" cy="3155216"/>
            <a:chOff x="1097936" y="1579572"/>
            <a:chExt cx="12671722" cy="3871640"/>
          </a:xfrm>
        </p:grpSpPr>
        <p:sp>
          <p:nvSpPr>
            <p:cNvPr id="7" name="MH_Other_1"/>
            <p:cNvSpPr/>
            <p:nvPr>
              <p:custDataLst>
                <p:tags r:id="rId2"/>
              </p:custDataLst>
            </p:nvPr>
          </p:nvSpPr>
          <p:spPr bwMode="auto">
            <a:xfrm>
              <a:off x="1097936" y="3285887"/>
              <a:ext cx="4125915" cy="2147458"/>
            </a:xfrm>
            <a:custGeom>
              <a:avLst/>
              <a:gdLst>
                <a:gd name="T0" fmla="*/ 10025 w 1781"/>
                <a:gd name="T1" fmla="*/ 745 h 1235"/>
                <a:gd name="T2" fmla="*/ 12527 w 1781"/>
                <a:gd name="T3" fmla="*/ 16196 h 1235"/>
                <a:gd name="T4" fmla="*/ 31328 w 1781"/>
                <a:gd name="T5" fmla="*/ 7497 h 1235"/>
                <a:gd name="T6" fmla="*/ 36630 w 1781"/>
                <a:gd name="T7" fmla="*/ 9158 h 1235"/>
                <a:gd name="T8" fmla="*/ 9297 w 1781"/>
                <a:gd name="T9" fmla="*/ 20594 h 1235"/>
                <a:gd name="T10" fmla="*/ 7651 w 1781"/>
                <a:gd name="T11" fmla="*/ 0 h 1235"/>
                <a:gd name="T12" fmla="*/ 10025 w 1781"/>
                <a:gd name="T13" fmla="*/ 745 h 1235"/>
                <a:gd name="T14" fmla="*/ 0 60000 65536"/>
                <a:gd name="T15" fmla="*/ 0 60000 65536"/>
                <a:gd name="T16" fmla="*/ 0 60000 65536"/>
                <a:gd name="T17" fmla="*/ 0 60000 65536"/>
                <a:gd name="T18" fmla="*/ 0 60000 65536"/>
                <a:gd name="T19" fmla="*/ 0 60000 65536"/>
                <a:gd name="T20" fmla="*/ 0 60000 65536"/>
                <a:gd name="T21" fmla="*/ 0 w 1781"/>
                <a:gd name="T22" fmla="*/ 0 h 1235"/>
                <a:gd name="T23" fmla="*/ 1781 w 1781"/>
                <a:gd name="T24" fmla="*/ 1235 h 12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81" h="1235">
                  <a:moveTo>
                    <a:pt x="487" y="36"/>
                  </a:moveTo>
                  <a:cubicBezTo>
                    <a:pt x="412" y="169"/>
                    <a:pt x="208" y="597"/>
                    <a:pt x="609" y="785"/>
                  </a:cubicBezTo>
                  <a:cubicBezTo>
                    <a:pt x="830" y="873"/>
                    <a:pt x="1204" y="807"/>
                    <a:pt x="1523" y="363"/>
                  </a:cubicBezTo>
                  <a:cubicBezTo>
                    <a:pt x="1586" y="379"/>
                    <a:pt x="1709" y="419"/>
                    <a:pt x="1781" y="444"/>
                  </a:cubicBezTo>
                  <a:cubicBezTo>
                    <a:pt x="1502" y="949"/>
                    <a:pt x="806" y="1235"/>
                    <a:pt x="452" y="998"/>
                  </a:cubicBezTo>
                  <a:cubicBezTo>
                    <a:pt x="0" y="701"/>
                    <a:pt x="278" y="135"/>
                    <a:pt x="372" y="0"/>
                  </a:cubicBezTo>
                  <a:cubicBezTo>
                    <a:pt x="430" y="17"/>
                    <a:pt x="411" y="11"/>
                    <a:pt x="487" y="36"/>
                  </a:cubicBezTo>
                  <a:close/>
                </a:path>
              </a:pathLst>
            </a:custGeom>
            <a:gradFill rotWithShape="1">
              <a:gsLst>
                <a:gs pos="0">
                  <a:srgbClr val="DDDDDD"/>
                </a:gs>
                <a:gs pos="50000">
                  <a:srgbClr val="F6F6F6"/>
                </a:gs>
                <a:gs pos="100000">
                  <a:srgbClr val="DDDDDD"/>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10" name="MH_Other_2"/>
            <p:cNvSpPr/>
            <p:nvPr>
              <p:custDataLst>
                <p:tags r:id="rId3"/>
              </p:custDataLst>
            </p:nvPr>
          </p:nvSpPr>
          <p:spPr bwMode="auto">
            <a:xfrm>
              <a:off x="2285387" y="4055305"/>
              <a:ext cx="3040064" cy="1395907"/>
            </a:xfrm>
            <a:custGeom>
              <a:avLst/>
              <a:gdLst>
                <a:gd name="T0" fmla="*/ 0 w 1312"/>
                <a:gd name="T1" fmla="*/ 12136 h 803"/>
                <a:gd name="T2" fmla="*/ 20383 w 1312"/>
                <a:gd name="T3" fmla="*/ 6902 h 803"/>
                <a:gd name="T4" fmla="*/ 26093 w 1312"/>
                <a:gd name="T5" fmla="*/ 0 h 803"/>
                <a:gd name="T6" fmla="*/ 27029 w 1312"/>
                <a:gd name="T7" fmla="*/ 1298 h 803"/>
                <a:gd name="T8" fmla="*/ 8242 w 1312"/>
                <a:gd name="T9" fmla="*/ 13966 h 803"/>
                <a:gd name="T10" fmla="*/ 0 w 1312"/>
                <a:gd name="T11" fmla="*/ 12136 h 803"/>
                <a:gd name="T12" fmla="*/ 0 60000 65536"/>
                <a:gd name="T13" fmla="*/ 0 60000 65536"/>
                <a:gd name="T14" fmla="*/ 0 60000 65536"/>
                <a:gd name="T15" fmla="*/ 0 60000 65536"/>
                <a:gd name="T16" fmla="*/ 0 60000 65536"/>
                <a:gd name="T17" fmla="*/ 0 60000 65536"/>
                <a:gd name="T18" fmla="*/ 0 w 1312"/>
                <a:gd name="T19" fmla="*/ 0 h 803"/>
                <a:gd name="T20" fmla="*/ 1312 w 1312"/>
                <a:gd name="T21" fmla="*/ 803 h 803"/>
              </a:gdLst>
              <a:ahLst/>
              <a:cxnLst>
                <a:cxn ang="T12">
                  <a:pos x="T0" y="T1"/>
                </a:cxn>
                <a:cxn ang="T13">
                  <a:pos x="T2" y="T3"/>
                </a:cxn>
                <a:cxn ang="T14">
                  <a:pos x="T4" y="T5"/>
                </a:cxn>
                <a:cxn ang="T15">
                  <a:pos x="T6" y="T7"/>
                </a:cxn>
                <a:cxn ang="T16">
                  <a:pos x="T8" y="T9"/>
                </a:cxn>
                <a:cxn ang="T17">
                  <a:pos x="T10" y="T11"/>
                </a:cxn>
              </a:cxnLst>
              <a:rect l="T18" t="T19" r="T20" b="T21"/>
              <a:pathLst>
                <a:path w="1312" h="803">
                  <a:moveTo>
                    <a:pt x="0" y="589"/>
                  </a:moveTo>
                  <a:cubicBezTo>
                    <a:pt x="0" y="589"/>
                    <a:pt x="399" y="803"/>
                    <a:pt x="989" y="335"/>
                  </a:cubicBezTo>
                  <a:cubicBezTo>
                    <a:pt x="1163" y="189"/>
                    <a:pt x="1267" y="0"/>
                    <a:pt x="1267" y="0"/>
                  </a:cubicBezTo>
                  <a:cubicBezTo>
                    <a:pt x="1312" y="63"/>
                    <a:pt x="1312" y="63"/>
                    <a:pt x="1312" y="63"/>
                  </a:cubicBezTo>
                  <a:cubicBezTo>
                    <a:pt x="1312" y="63"/>
                    <a:pt x="999" y="633"/>
                    <a:pt x="400" y="678"/>
                  </a:cubicBezTo>
                  <a:cubicBezTo>
                    <a:pt x="148" y="694"/>
                    <a:pt x="0" y="589"/>
                    <a:pt x="0" y="589"/>
                  </a:cubicBezTo>
                  <a:close/>
                </a:path>
              </a:pathLst>
            </a:custGeom>
            <a:solidFill>
              <a:schemeClr val="bg1">
                <a:lumMod val="75000"/>
              </a:schemeClr>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11" name="MH_Other_3"/>
            <p:cNvSpPr/>
            <p:nvPr>
              <p:custDataLst>
                <p:tags r:id="rId4"/>
              </p:custDataLst>
            </p:nvPr>
          </p:nvSpPr>
          <p:spPr bwMode="auto">
            <a:xfrm>
              <a:off x="1751988" y="3349014"/>
              <a:ext cx="617537" cy="1241071"/>
            </a:xfrm>
            <a:custGeom>
              <a:avLst/>
              <a:gdLst>
                <a:gd name="T0" fmla="*/ 4168 w 267"/>
                <a:gd name="T1" fmla="*/ 0 h 714"/>
                <a:gd name="T2" fmla="*/ 5297 w 267"/>
                <a:gd name="T3" fmla="*/ 1035 h 714"/>
                <a:gd name="T4" fmla="*/ 5361 w 267"/>
                <a:gd name="T5" fmla="*/ 14696 h 714"/>
                <a:gd name="T6" fmla="*/ 1773 w 267"/>
                <a:gd name="T7" fmla="*/ 7465 h 714"/>
                <a:gd name="T8" fmla="*/ 4168 w 267"/>
                <a:gd name="T9" fmla="*/ 0 h 714"/>
                <a:gd name="T10" fmla="*/ 0 60000 65536"/>
                <a:gd name="T11" fmla="*/ 0 60000 65536"/>
                <a:gd name="T12" fmla="*/ 0 60000 65536"/>
                <a:gd name="T13" fmla="*/ 0 60000 65536"/>
                <a:gd name="T14" fmla="*/ 0 60000 65536"/>
                <a:gd name="T15" fmla="*/ 0 w 267"/>
                <a:gd name="T16" fmla="*/ 0 h 714"/>
                <a:gd name="T17" fmla="*/ 267 w 267"/>
                <a:gd name="T18" fmla="*/ 714 h 714"/>
              </a:gdLst>
              <a:ahLst/>
              <a:cxnLst>
                <a:cxn ang="T10">
                  <a:pos x="T0" y="T1"/>
                </a:cxn>
                <a:cxn ang="T11">
                  <a:pos x="T2" y="T3"/>
                </a:cxn>
                <a:cxn ang="T12">
                  <a:pos x="T4" y="T5"/>
                </a:cxn>
                <a:cxn ang="T13">
                  <a:pos x="T6" y="T7"/>
                </a:cxn>
                <a:cxn ang="T14">
                  <a:pos x="T8" y="T9"/>
                </a:cxn>
              </a:cxnLst>
              <a:rect l="T15" t="T16" r="T17" b="T18"/>
              <a:pathLst>
                <a:path w="267" h="714">
                  <a:moveTo>
                    <a:pt x="205" y="0"/>
                  </a:moveTo>
                  <a:cubicBezTo>
                    <a:pt x="205" y="0"/>
                    <a:pt x="254" y="45"/>
                    <a:pt x="261" y="50"/>
                  </a:cubicBezTo>
                  <a:cubicBezTo>
                    <a:pt x="267" y="61"/>
                    <a:pt x="0" y="424"/>
                    <a:pt x="264" y="714"/>
                  </a:cubicBezTo>
                  <a:cubicBezTo>
                    <a:pt x="69" y="593"/>
                    <a:pt x="85" y="409"/>
                    <a:pt x="87" y="363"/>
                  </a:cubicBezTo>
                  <a:cubicBezTo>
                    <a:pt x="88" y="197"/>
                    <a:pt x="205" y="0"/>
                    <a:pt x="205" y="0"/>
                  </a:cubicBezTo>
                  <a:close/>
                </a:path>
              </a:pathLst>
            </a:custGeom>
            <a:gradFill rotWithShape="1">
              <a:gsLst>
                <a:gs pos="0">
                  <a:srgbClr val="DDDDDD"/>
                </a:gs>
                <a:gs pos="50000">
                  <a:srgbClr val="B2B2B2"/>
                </a:gs>
                <a:gs pos="100000">
                  <a:srgbClr val="DDDDDD"/>
                </a:gs>
              </a:gsLst>
              <a:lin ang="18900000" scaled="1"/>
            </a:gra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12" name="MH_Other_4"/>
            <p:cNvSpPr/>
            <p:nvPr>
              <p:custDataLst>
                <p:tags r:id="rId5"/>
              </p:custDataLst>
            </p:nvPr>
          </p:nvSpPr>
          <p:spPr bwMode="auto">
            <a:xfrm>
              <a:off x="2048850" y="2174640"/>
              <a:ext cx="3890964" cy="1754412"/>
            </a:xfrm>
            <a:custGeom>
              <a:avLst/>
              <a:gdLst>
                <a:gd name="T0" fmla="*/ 24075 w 1678"/>
                <a:gd name="T1" fmla="*/ 19158 h 1010"/>
                <a:gd name="T2" fmla="*/ 20411 w 1678"/>
                <a:gd name="T3" fmla="*/ 5169 h 1010"/>
                <a:gd name="T4" fmla="*/ 2400 w 1678"/>
                <a:gd name="T5" fmla="*/ 13038 h 1010"/>
                <a:gd name="T6" fmla="*/ 0 w 1678"/>
                <a:gd name="T7" fmla="*/ 12337 h 1010"/>
                <a:gd name="T8" fmla="*/ 22319 w 1678"/>
                <a:gd name="T9" fmla="*/ 1285 h 1010"/>
                <a:gd name="T10" fmla="*/ 29469 w 1678"/>
                <a:gd name="T11" fmla="*/ 20672 h 1010"/>
                <a:gd name="T12" fmla="*/ 24075 w 1678"/>
                <a:gd name="T13" fmla="*/ 19158 h 1010"/>
                <a:gd name="T14" fmla="*/ 0 60000 65536"/>
                <a:gd name="T15" fmla="*/ 0 60000 65536"/>
                <a:gd name="T16" fmla="*/ 0 60000 65536"/>
                <a:gd name="T17" fmla="*/ 0 60000 65536"/>
                <a:gd name="T18" fmla="*/ 0 60000 65536"/>
                <a:gd name="T19" fmla="*/ 0 60000 65536"/>
                <a:gd name="T20" fmla="*/ 0 60000 65536"/>
                <a:gd name="T21" fmla="*/ 0 w 1678"/>
                <a:gd name="T22" fmla="*/ 0 h 1010"/>
                <a:gd name="T23" fmla="*/ 1678 w 1678"/>
                <a:gd name="T24" fmla="*/ 1010 h 1010"/>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78" h="1010">
                  <a:moveTo>
                    <a:pt x="1162" y="936"/>
                  </a:moveTo>
                  <a:cubicBezTo>
                    <a:pt x="1222" y="836"/>
                    <a:pt x="1371" y="388"/>
                    <a:pt x="985" y="252"/>
                  </a:cubicBezTo>
                  <a:cubicBezTo>
                    <a:pt x="471" y="122"/>
                    <a:pt x="116" y="637"/>
                    <a:pt x="116" y="637"/>
                  </a:cubicBezTo>
                  <a:cubicBezTo>
                    <a:pt x="116" y="637"/>
                    <a:pt x="116" y="637"/>
                    <a:pt x="0" y="603"/>
                  </a:cubicBezTo>
                  <a:cubicBezTo>
                    <a:pt x="272" y="215"/>
                    <a:pt x="727" y="0"/>
                    <a:pt x="1077" y="63"/>
                  </a:cubicBezTo>
                  <a:cubicBezTo>
                    <a:pt x="1416" y="123"/>
                    <a:pt x="1678" y="452"/>
                    <a:pt x="1422" y="1010"/>
                  </a:cubicBezTo>
                  <a:cubicBezTo>
                    <a:pt x="1357" y="994"/>
                    <a:pt x="1209" y="950"/>
                    <a:pt x="1162" y="936"/>
                  </a:cubicBezTo>
                  <a:close/>
                </a:path>
              </a:pathLst>
            </a:custGeom>
            <a:gradFill rotWithShape="1">
              <a:gsLst>
                <a:gs pos="0">
                  <a:srgbClr val="CC99FF"/>
                </a:gs>
                <a:gs pos="50000">
                  <a:srgbClr val="E6CDFF"/>
                </a:gs>
                <a:gs pos="100000">
                  <a:srgbClr val="CC99FF"/>
                </a:gs>
              </a:gsLst>
              <a:lin ang="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13" name="MH_Other_5"/>
            <p:cNvSpPr/>
            <p:nvPr>
              <p:custDataLst>
                <p:tags r:id="rId6"/>
              </p:custDataLst>
            </p:nvPr>
          </p:nvSpPr>
          <p:spPr bwMode="auto">
            <a:xfrm>
              <a:off x="5346089" y="2834480"/>
              <a:ext cx="414337" cy="1210104"/>
            </a:xfrm>
            <a:custGeom>
              <a:avLst/>
              <a:gdLst>
                <a:gd name="T0" fmla="*/ 0 w 179"/>
                <a:gd name="T1" fmla="*/ 12990 h 696"/>
                <a:gd name="T2" fmla="*/ 859 w 179"/>
                <a:gd name="T3" fmla="*/ 14350 h 696"/>
                <a:gd name="T4" fmla="*/ 2849 w 179"/>
                <a:gd name="T5" fmla="*/ 6497 h 696"/>
                <a:gd name="T6" fmla="*/ 1866 w 179"/>
                <a:gd name="T7" fmla="*/ 1298 h 696"/>
                <a:gd name="T8" fmla="*/ 1305 w 179"/>
                <a:gd name="T9" fmla="*/ 0 h 696"/>
                <a:gd name="T10" fmla="*/ 0 w 179"/>
                <a:gd name="T11" fmla="*/ 12990 h 696"/>
                <a:gd name="T12" fmla="*/ 0 60000 65536"/>
                <a:gd name="T13" fmla="*/ 0 60000 65536"/>
                <a:gd name="T14" fmla="*/ 0 60000 65536"/>
                <a:gd name="T15" fmla="*/ 0 60000 65536"/>
                <a:gd name="T16" fmla="*/ 0 60000 65536"/>
                <a:gd name="T17" fmla="*/ 0 60000 65536"/>
                <a:gd name="T18" fmla="*/ 0 w 179"/>
                <a:gd name="T19" fmla="*/ 0 h 696"/>
                <a:gd name="T20" fmla="*/ 179 w 179"/>
                <a:gd name="T21" fmla="*/ 696 h 696"/>
              </a:gdLst>
              <a:ahLst/>
              <a:cxnLst>
                <a:cxn ang="T12">
                  <a:pos x="T0" y="T1"/>
                </a:cxn>
                <a:cxn ang="T13">
                  <a:pos x="T2" y="T3"/>
                </a:cxn>
                <a:cxn ang="T14">
                  <a:pos x="T4" y="T5"/>
                </a:cxn>
                <a:cxn ang="T15">
                  <a:pos x="T6" y="T7"/>
                </a:cxn>
                <a:cxn ang="T16">
                  <a:pos x="T8" y="T9"/>
                </a:cxn>
                <a:cxn ang="T17">
                  <a:pos x="T10" y="T11"/>
                </a:cxn>
              </a:cxnLst>
              <a:rect l="T18" t="T19" r="T20" b="T21"/>
              <a:pathLst>
                <a:path w="179" h="696">
                  <a:moveTo>
                    <a:pt x="0" y="630"/>
                  </a:moveTo>
                  <a:cubicBezTo>
                    <a:pt x="19" y="659"/>
                    <a:pt x="42" y="696"/>
                    <a:pt x="42" y="696"/>
                  </a:cubicBezTo>
                  <a:cubicBezTo>
                    <a:pt x="42" y="696"/>
                    <a:pt x="134" y="518"/>
                    <a:pt x="139" y="315"/>
                  </a:cubicBezTo>
                  <a:cubicBezTo>
                    <a:pt x="146" y="172"/>
                    <a:pt x="91" y="63"/>
                    <a:pt x="91" y="63"/>
                  </a:cubicBezTo>
                  <a:cubicBezTo>
                    <a:pt x="64" y="0"/>
                    <a:pt x="64" y="0"/>
                    <a:pt x="64" y="0"/>
                  </a:cubicBezTo>
                  <a:cubicBezTo>
                    <a:pt x="64" y="0"/>
                    <a:pt x="179" y="245"/>
                    <a:pt x="0" y="630"/>
                  </a:cubicBezTo>
                  <a:close/>
                </a:path>
              </a:pathLst>
            </a:custGeom>
            <a:gradFill rotWithShape="1">
              <a:gsLst>
                <a:gs pos="0">
                  <a:srgbClr val="CC99FF"/>
                </a:gs>
                <a:gs pos="50000">
                  <a:srgbClr val="E6CDFF"/>
                </a:gs>
                <a:gs pos="100000">
                  <a:srgbClr val="CC99FF"/>
                </a:gs>
              </a:gsLst>
              <a:lin ang="270000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14" name="MH_Other_6"/>
            <p:cNvSpPr/>
            <p:nvPr>
              <p:custDataLst>
                <p:tags r:id="rId7"/>
              </p:custDataLst>
            </p:nvPr>
          </p:nvSpPr>
          <p:spPr bwMode="auto">
            <a:xfrm>
              <a:off x="2317138" y="2385456"/>
              <a:ext cx="2549525" cy="983805"/>
            </a:xfrm>
            <a:custGeom>
              <a:avLst/>
              <a:gdLst>
                <a:gd name="T0" fmla="*/ 17943 w 1100"/>
                <a:gd name="T1" fmla="*/ 2712 h 565"/>
                <a:gd name="T2" fmla="*/ 0 w 1100"/>
                <a:gd name="T3" fmla="*/ 10753 h 565"/>
                <a:gd name="T4" fmla="*/ 1115 w 1100"/>
                <a:gd name="T5" fmla="*/ 11795 h 565"/>
                <a:gd name="T6" fmla="*/ 17869 w 1100"/>
                <a:gd name="T7" fmla="*/ 3887 h 565"/>
                <a:gd name="T8" fmla="*/ 22716 w 1100"/>
                <a:gd name="T9" fmla="*/ 7231 h 565"/>
                <a:gd name="T10" fmla="*/ 17943 w 1100"/>
                <a:gd name="T11" fmla="*/ 2712 h 565"/>
                <a:gd name="T12" fmla="*/ 0 60000 65536"/>
                <a:gd name="T13" fmla="*/ 0 60000 65536"/>
                <a:gd name="T14" fmla="*/ 0 60000 65536"/>
                <a:gd name="T15" fmla="*/ 0 60000 65536"/>
                <a:gd name="T16" fmla="*/ 0 60000 65536"/>
                <a:gd name="T17" fmla="*/ 0 60000 65536"/>
                <a:gd name="T18" fmla="*/ 0 w 1100"/>
                <a:gd name="T19" fmla="*/ 0 h 565"/>
                <a:gd name="T20" fmla="*/ 1100 w 1100"/>
                <a:gd name="T21" fmla="*/ 565 h 565"/>
              </a:gdLst>
              <a:ahLst/>
              <a:cxnLst>
                <a:cxn ang="T12">
                  <a:pos x="T0" y="T1"/>
                </a:cxn>
                <a:cxn ang="T13">
                  <a:pos x="T2" y="T3"/>
                </a:cxn>
                <a:cxn ang="T14">
                  <a:pos x="T4" y="T5"/>
                </a:cxn>
                <a:cxn ang="T15">
                  <a:pos x="T6" y="T7"/>
                </a:cxn>
                <a:cxn ang="T16">
                  <a:pos x="T8" y="T9"/>
                </a:cxn>
                <a:cxn ang="T17">
                  <a:pos x="T10" y="T11"/>
                </a:cxn>
              </a:cxnLst>
              <a:rect l="T18" t="T19" r="T20" b="T21"/>
              <a:pathLst>
                <a:path w="1100" h="565">
                  <a:moveTo>
                    <a:pt x="869" y="130"/>
                  </a:moveTo>
                  <a:cubicBezTo>
                    <a:pt x="355" y="0"/>
                    <a:pt x="0" y="515"/>
                    <a:pt x="0" y="515"/>
                  </a:cubicBezTo>
                  <a:cubicBezTo>
                    <a:pt x="0" y="515"/>
                    <a:pt x="0" y="515"/>
                    <a:pt x="54" y="565"/>
                  </a:cubicBezTo>
                  <a:cubicBezTo>
                    <a:pt x="279" y="285"/>
                    <a:pt x="580" y="120"/>
                    <a:pt x="866" y="186"/>
                  </a:cubicBezTo>
                  <a:cubicBezTo>
                    <a:pt x="1050" y="226"/>
                    <a:pt x="1100" y="347"/>
                    <a:pt x="1100" y="347"/>
                  </a:cubicBezTo>
                  <a:cubicBezTo>
                    <a:pt x="1084" y="303"/>
                    <a:pt x="1043" y="192"/>
                    <a:pt x="869" y="130"/>
                  </a:cubicBezTo>
                  <a:close/>
                </a:path>
              </a:pathLst>
            </a:custGeom>
            <a:gradFill rotWithShape="1">
              <a:gsLst>
                <a:gs pos="0">
                  <a:srgbClr val="F0E1FF"/>
                </a:gs>
                <a:gs pos="50000">
                  <a:srgbClr val="E6CDFF"/>
                </a:gs>
                <a:gs pos="100000">
                  <a:srgbClr val="CC99FF"/>
                </a:gs>
              </a:gsLst>
              <a:lin ang="270000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15" name="MH_Other_7"/>
            <p:cNvSpPr/>
            <p:nvPr>
              <p:custDataLst>
                <p:tags r:id="rId8"/>
              </p:custDataLst>
            </p:nvPr>
          </p:nvSpPr>
          <p:spPr bwMode="auto">
            <a:xfrm>
              <a:off x="4742838" y="3801610"/>
              <a:ext cx="698500" cy="242974"/>
            </a:xfrm>
            <a:custGeom>
              <a:avLst/>
              <a:gdLst>
                <a:gd name="T0" fmla="*/ 0 w 469"/>
                <a:gd name="T1" fmla="*/ 0 h 218"/>
                <a:gd name="T2" fmla="*/ 243 w 469"/>
                <a:gd name="T3" fmla="*/ 68 h 218"/>
                <a:gd name="T4" fmla="*/ 281 w 469"/>
                <a:gd name="T5" fmla="*/ 129 h 218"/>
                <a:gd name="T6" fmla="*/ 44 w 469"/>
                <a:gd name="T7" fmla="*/ 59 h 218"/>
                <a:gd name="T8" fmla="*/ 0 w 469"/>
                <a:gd name="T9" fmla="*/ 0 h 218"/>
                <a:gd name="T10" fmla="*/ 0 60000 65536"/>
                <a:gd name="T11" fmla="*/ 0 60000 65536"/>
                <a:gd name="T12" fmla="*/ 0 60000 65536"/>
                <a:gd name="T13" fmla="*/ 0 60000 65536"/>
                <a:gd name="T14" fmla="*/ 0 60000 65536"/>
                <a:gd name="T15" fmla="*/ 0 w 469"/>
                <a:gd name="T16" fmla="*/ 0 h 218"/>
                <a:gd name="T17" fmla="*/ 469 w 469"/>
                <a:gd name="T18" fmla="*/ 218 h 218"/>
              </a:gdLst>
              <a:ahLst/>
              <a:cxnLst>
                <a:cxn ang="T10">
                  <a:pos x="T0" y="T1"/>
                </a:cxn>
                <a:cxn ang="T11">
                  <a:pos x="T2" y="T3"/>
                </a:cxn>
                <a:cxn ang="T12">
                  <a:pos x="T4" y="T5"/>
                </a:cxn>
                <a:cxn ang="T13">
                  <a:pos x="T6" y="T7"/>
                </a:cxn>
                <a:cxn ang="T14">
                  <a:pos x="T8" y="T9"/>
                </a:cxn>
              </a:cxnLst>
              <a:rect l="T15" t="T16" r="T17" b="T18"/>
              <a:pathLst>
                <a:path w="469" h="218">
                  <a:moveTo>
                    <a:pt x="0" y="0"/>
                  </a:moveTo>
                  <a:lnTo>
                    <a:pt x="404" y="115"/>
                  </a:lnTo>
                  <a:lnTo>
                    <a:pt x="469" y="218"/>
                  </a:lnTo>
                  <a:lnTo>
                    <a:pt x="73" y="100"/>
                  </a:lnTo>
                  <a:lnTo>
                    <a:pt x="0" y="0"/>
                  </a:lnTo>
                  <a:close/>
                </a:path>
              </a:pathLst>
            </a:custGeom>
            <a:solidFill>
              <a:srgbClr val="CC99FF"/>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16" name="MH_Other_8"/>
            <p:cNvSpPr/>
            <p:nvPr>
              <p:custDataLst>
                <p:tags r:id="rId9"/>
              </p:custDataLst>
            </p:nvPr>
          </p:nvSpPr>
          <p:spPr bwMode="auto">
            <a:xfrm>
              <a:off x="2048849" y="3222762"/>
              <a:ext cx="395288" cy="146499"/>
            </a:xfrm>
            <a:custGeom>
              <a:avLst/>
              <a:gdLst>
                <a:gd name="T0" fmla="*/ 112 w 264"/>
                <a:gd name="T1" fmla="*/ 32 h 131"/>
                <a:gd name="T2" fmla="*/ 165 w 264"/>
                <a:gd name="T3" fmla="*/ 79 h 131"/>
                <a:gd name="T4" fmla="*/ 52 w 264"/>
                <a:gd name="T5" fmla="*/ 48 h 131"/>
                <a:gd name="T6" fmla="*/ 0 w 264"/>
                <a:gd name="T7" fmla="*/ 0 h 131"/>
                <a:gd name="T8" fmla="*/ 112 w 264"/>
                <a:gd name="T9" fmla="*/ 32 h 131"/>
                <a:gd name="T10" fmla="*/ 0 60000 65536"/>
                <a:gd name="T11" fmla="*/ 0 60000 65536"/>
                <a:gd name="T12" fmla="*/ 0 60000 65536"/>
                <a:gd name="T13" fmla="*/ 0 60000 65536"/>
                <a:gd name="T14" fmla="*/ 0 60000 65536"/>
                <a:gd name="T15" fmla="*/ 0 w 264"/>
                <a:gd name="T16" fmla="*/ 0 h 131"/>
                <a:gd name="T17" fmla="*/ 264 w 264"/>
                <a:gd name="T18" fmla="*/ 131 h 131"/>
              </a:gdLst>
              <a:ahLst/>
              <a:cxnLst>
                <a:cxn ang="T10">
                  <a:pos x="T0" y="T1"/>
                </a:cxn>
                <a:cxn ang="T11">
                  <a:pos x="T2" y="T3"/>
                </a:cxn>
                <a:cxn ang="T12">
                  <a:pos x="T4" y="T5"/>
                </a:cxn>
                <a:cxn ang="T13">
                  <a:pos x="T6" y="T7"/>
                </a:cxn>
                <a:cxn ang="T14">
                  <a:pos x="T8" y="T9"/>
                </a:cxn>
              </a:cxnLst>
              <a:rect l="T15" t="T16" r="T17" b="T18"/>
              <a:pathLst>
                <a:path w="264" h="131">
                  <a:moveTo>
                    <a:pt x="180" y="53"/>
                  </a:moveTo>
                  <a:lnTo>
                    <a:pt x="264" y="131"/>
                  </a:lnTo>
                  <a:lnTo>
                    <a:pt x="83" y="78"/>
                  </a:lnTo>
                  <a:lnTo>
                    <a:pt x="0" y="0"/>
                  </a:lnTo>
                  <a:lnTo>
                    <a:pt x="180" y="53"/>
                  </a:lnTo>
                  <a:close/>
                </a:path>
              </a:pathLst>
            </a:custGeom>
            <a:solidFill>
              <a:srgbClr val="CC99FF"/>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17" name="MH_Other_9"/>
            <p:cNvSpPr/>
            <p:nvPr>
              <p:custDataLst>
                <p:tags r:id="rId10"/>
              </p:custDataLst>
            </p:nvPr>
          </p:nvSpPr>
          <p:spPr bwMode="auto">
            <a:xfrm>
              <a:off x="3276598" y="5191002"/>
              <a:ext cx="10493060" cy="14862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rtlCol="0" anchor="ctr"/>
            <a:lstStyle/>
            <a:p>
              <a:pPr algn="ctr"/>
              <a:endParaRPr lang="zh-CN" altLang="en-US" sz="1350" kern="10" dirty="0">
                <a:solidFill>
                  <a:schemeClr val="bg1"/>
                </a:solidFill>
                <a:latin typeface="微软雅黑" panose="020B0503020204020204" charset="-122"/>
                <a:ea typeface="微软雅黑" panose="020B0503020204020204" charset="-122"/>
              </a:endParaRPr>
            </a:p>
          </p:txBody>
        </p:sp>
        <p:sp>
          <p:nvSpPr>
            <p:cNvPr id="18" name="MH_Other_10"/>
            <p:cNvSpPr>
              <a:spLocks noChangeShapeType="1"/>
            </p:cNvSpPr>
            <p:nvPr>
              <p:custDataLst>
                <p:tags r:id="rId11"/>
              </p:custDataLst>
            </p:nvPr>
          </p:nvSpPr>
          <p:spPr bwMode="auto">
            <a:xfrm rot="21307710" flipH="1">
              <a:off x="2830255" y="4022472"/>
              <a:ext cx="465139" cy="470297"/>
            </a:xfrm>
            <a:prstGeom prst="line">
              <a:avLst/>
            </a:prstGeom>
            <a:noFill/>
            <a:ln w="76200">
              <a:solidFill>
                <a:schemeClr val="tx1">
                  <a:lumMod val="50000"/>
                  <a:lumOff val="50000"/>
                </a:schemeClr>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19" name="MH_Other_11"/>
            <p:cNvSpPr>
              <a:spLocks noChangeShapeType="1"/>
            </p:cNvSpPr>
            <p:nvPr>
              <p:custDataLst>
                <p:tags r:id="rId12"/>
              </p:custDataLst>
            </p:nvPr>
          </p:nvSpPr>
          <p:spPr bwMode="auto">
            <a:xfrm rot="21307710" flipV="1">
              <a:off x="3744657" y="2862803"/>
              <a:ext cx="392113" cy="438150"/>
            </a:xfrm>
            <a:prstGeom prst="line">
              <a:avLst/>
            </a:prstGeom>
            <a:noFill/>
            <a:ln w="76200">
              <a:solidFill>
                <a:srgbClr val="CC99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20" name="MH_Desc_1"/>
            <p:cNvSpPr/>
            <p:nvPr>
              <p:custDataLst>
                <p:tags r:id="rId13"/>
              </p:custDataLst>
            </p:nvPr>
          </p:nvSpPr>
          <p:spPr bwMode="auto">
            <a:xfrm>
              <a:off x="6536708" y="1579572"/>
              <a:ext cx="7095960" cy="356242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rtlCol="0" anchor="ctr">
              <a:noAutofit/>
            </a:bodyPr>
            <a:lstStyle/>
            <a:p>
              <a:pPr indent="457200" fontAlgn="auto">
                <a:lnSpc>
                  <a:spcPct val="150000"/>
                </a:lnSpc>
              </a:pPr>
              <a:r>
                <a:rPr sz="2000" dirty="0">
                  <a:solidFill>
                    <a:schemeClr val="tx1"/>
                  </a:solidFill>
                  <a:latin typeface="+mn-ea"/>
                </a:rPr>
                <a:t>工厂方法模式定义了基类的子类用于创建产品。客户只需知道基类的存在，它通过调用基类的方法创建对象（产品），但是基类并不知道如何创建基类，于是基类委托其子类中的覆盖方法进行调用。</a:t>
              </a:r>
            </a:p>
          </p:txBody>
        </p:sp>
      </p:grpSp>
    </p:spTree>
    <p:custDataLst>
      <p:tags r:id="rId1"/>
    </p:custDataLst>
  </p:cSld>
  <p:clrMapOvr>
    <a:masterClrMapping/>
  </p:clrMapOvr>
  <p:transition>
    <p:wheel spokes="3"/>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8.5.3 </a:t>
            </a:r>
            <a:r>
              <a:rPr lang="zh-CN" altLang="en-US" sz="2400" dirty="0">
                <a:solidFill>
                  <a:schemeClr val="tx1"/>
                </a:solidFill>
              </a:rPr>
              <a:t>工厂方法模式和策略模式</a:t>
            </a:r>
          </a:p>
        </p:txBody>
      </p:sp>
      <p:grpSp>
        <p:nvGrpSpPr>
          <p:cNvPr id="7" name="组合 6"/>
          <p:cNvGrpSpPr/>
          <p:nvPr/>
        </p:nvGrpSpPr>
        <p:grpSpPr>
          <a:xfrm>
            <a:off x="2487295" y="2087880"/>
            <a:ext cx="8647430" cy="1379855"/>
            <a:chOff x="1145" y="6438"/>
            <a:chExt cx="13618" cy="2173"/>
          </a:xfrm>
        </p:grpSpPr>
        <p:sp>
          <p:nvSpPr>
            <p:cNvPr id="20" name="Oval 21"/>
            <p:cNvSpPr/>
            <p:nvPr/>
          </p:nvSpPr>
          <p:spPr>
            <a:xfrm>
              <a:off x="1145" y="6496"/>
              <a:ext cx="1223" cy="1223"/>
            </a:xfrm>
            <a:prstGeom prst="ellipse">
              <a:avLst/>
            </a:prstGeom>
            <a:solidFill>
              <a:srgbClr val="EF4150"/>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19" name="Freeform 7"/>
            <p:cNvSpPr>
              <a:spLocks noEditPoints="1"/>
            </p:cNvSpPr>
            <p:nvPr/>
          </p:nvSpPr>
          <p:spPr bwMode="auto">
            <a:xfrm>
              <a:off x="1437" y="6764"/>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sp>
          <p:nvSpPr>
            <p:cNvPr id="27" name="矩形 26"/>
            <p:cNvSpPr/>
            <p:nvPr/>
          </p:nvSpPr>
          <p:spPr>
            <a:xfrm>
              <a:off x="2562" y="6953"/>
              <a:ext cx="12201" cy="1658"/>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sz="160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sz="160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在编程中，产品类的实例化有时候是比较复杂和多变的，通过工厂模式，将产品的实例化封装起来，使得调用者根本无需关心产品的实例化过程，只需依赖工厂即可得到自己想要的产品。</a:t>
              </a:r>
            </a:p>
          </p:txBody>
        </p:sp>
        <p:sp>
          <p:nvSpPr>
            <p:cNvPr id="35859" name="文本框 20"/>
            <p:cNvSpPr txBox="1"/>
            <p:nvPr/>
          </p:nvSpPr>
          <p:spPr>
            <a:xfrm>
              <a:off x="2562" y="6438"/>
              <a:ext cx="7849" cy="658"/>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000" b="1" dirty="0">
                  <a:solidFill>
                    <a:schemeClr val="accent1"/>
                  </a:solidFill>
                  <a:latin typeface="微软雅黑" panose="020B0503020204020204" charset="-122"/>
                  <a:ea typeface="微软雅黑" panose="020B0503020204020204" charset="-122"/>
                </a:rPr>
                <a:t>可以使代码结构清晰，有效地封装变化。</a:t>
              </a:r>
            </a:p>
          </p:txBody>
        </p:sp>
      </p:grpSp>
      <p:grpSp>
        <p:nvGrpSpPr>
          <p:cNvPr id="3" name="组合 2"/>
          <p:cNvGrpSpPr/>
          <p:nvPr/>
        </p:nvGrpSpPr>
        <p:grpSpPr>
          <a:xfrm>
            <a:off x="2487295" y="3601085"/>
            <a:ext cx="9104630" cy="1059815"/>
            <a:chOff x="1145" y="6438"/>
            <a:chExt cx="14338" cy="1669"/>
          </a:xfrm>
        </p:grpSpPr>
        <p:sp>
          <p:nvSpPr>
            <p:cNvPr id="4" name="Oval 21"/>
            <p:cNvSpPr/>
            <p:nvPr/>
          </p:nvSpPr>
          <p:spPr>
            <a:xfrm>
              <a:off x="1145" y="6496"/>
              <a:ext cx="1223" cy="1223"/>
            </a:xfrm>
            <a:prstGeom prst="ellipse">
              <a:avLst/>
            </a:prstGeom>
            <a:solidFill>
              <a:srgbClr val="EF4150"/>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5" name="Freeform 7"/>
            <p:cNvSpPr>
              <a:spLocks noEditPoints="1"/>
            </p:cNvSpPr>
            <p:nvPr/>
          </p:nvSpPr>
          <p:spPr bwMode="auto">
            <a:xfrm>
              <a:off x="1437" y="6764"/>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sp>
          <p:nvSpPr>
            <p:cNvPr id="6" name="矩形 5"/>
            <p:cNvSpPr/>
            <p:nvPr/>
          </p:nvSpPr>
          <p:spPr>
            <a:xfrm>
              <a:off x="2562" y="6953"/>
              <a:ext cx="12921" cy="1154"/>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sz="160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sz="160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如果使用工厂模式，调用者只关心产品的接口就可以了，至于产品的具体实现，调用者根本无需关心。即使变更了具体的实现，对调用者来说也没有任何影响。</a:t>
              </a:r>
            </a:p>
          </p:txBody>
        </p:sp>
        <p:sp>
          <p:nvSpPr>
            <p:cNvPr id="8" name="文本框 20"/>
            <p:cNvSpPr txBox="1"/>
            <p:nvPr/>
          </p:nvSpPr>
          <p:spPr>
            <a:xfrm>
              <a:off x="2562" y="6438"/>
              <a:ext cx="7561" cy="658"/>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000" b="1" dirty="0">
                  <a:solidFill>
                    <a:schemeClr val="accent1"/>
                  </a:solidFill>
                  <a:latin typeface="微软雅黑" panose="020B0503020204020204" charset="-122"/>
                  <a:ea typeface="微软雅黑" panose="020B0503020204020204" charset="-122"/>
                </a:rPr>
                <a:t>对调用者屏蔽具体的产品类。</a:t>
              </a:r>
            </a:p>
          </p:txBody>
        </p:sp>
      </p:grpSp>
      <p:grpSp>
        <p:nvGrpSpPr>
          <p:cNvPr id="9" name="组合 8"/>
          <p:cNvGrpSpPr/>
          <p:nvPr/>
        </p:nvGrpSpPr>
        <p:grpSpPr>
          <a:xfrm>
            <a:off x="2487295" y="4809490"/>
            <a:ext cx="8999855" cy="1379855"/>
            <a:chOff x="1145" y="6438"/>
            <a:chExt cx="14173" cy="2173"/>
          </a:xfrm>
        </p:grpSpPr>
        <p:sp>
          <p:nvSpPr>
            <p:cNvPr id="10" name="Oval 21"/>
            <p:cNvSpPr/>
            <p:nvPr/>
          </p:nvSpPr>
          <p:spPr>
            <a:xfrm>
              <a:off x="1145" y="6496"/>
              <a:ext cx="1223" cy="1223"/>
            </a:xfrm>
            <a:prstGeom prst="ellipse">
              <a:avLst/>
            </a:prstGeom>
            <a:solidFill>
              <a:srgbClr val="EF4150"/>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11" name="Freeform 7"/>
            <p:cNvSpPr>
              <a:spLocks noEditPoints="1"/>
            </p:cNvSpPr>
            <p:nvPr/>
          </p:nvSpPr>
          <p:spPr bwMode="auto">
            <a:xfrm>
              <a:off x="1437" y="6764"/>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sp>
          <p:nvSpPr>
            <p:cNvPr id="12" name="矩形 11"/>
            <p:cNvSpPr/>
            <p:nvPr/>
          </p:nvSpPr>
          <p:spPr>
            <a:xfrm>
              <a:off x="2562" y="6953"/>
              <a:ext cx="12756" cy="1658"/>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sz="160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sz="160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产品类的实例化通常是很复杂的，它需要依赖很多的类，而这些类对于调用者来说根本无需知道。如果使用了工厂方法，只要实例化产品类，然后交给调用者使用。对调用者来说，产品所依赖的类都是透明的。</a:t>
              </a:r>
            </a:p>
          </p:txBody>
        </p:sp>
        <p:sp>
          <p:nvSpPr>
            <p:cNvPr id="13" name="文本框 20"/>
            <p:cNvSpPr txBox="1"/>
            <p:nvPr/>
          </p:nvSpPr>
          <p:spPr>
            <a:xfrm>
              <a:off x="2562" y="6438"/>
              <a:ext cx="3745" cy="65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000" b="1" dirty="0">
                  <a:solidFill>
                    <a:schemeClr val="accent1"/>
                  </a:solidFill>
                  <a:latin typeface="微软雅黑" panose="020B0503020204020204" charset="-122"/>
                  <a:ea typeface="微软雅黑" panose="020B0503020204020204" charset="-122"/>
                </a:rPr>
                <a:t>降低耦合度。</a:t>
              </a:r>
            </a:p>
          </p:txBody>
        </p:sp>
      </p:grpSp>
      <p:grpSp>
        <p:nvGrpSpPr>
          <p:cNvPr id="33" name="组合 32"/>
          <p:cNvGrpSpPr/>
          <p:nvPr/>
        </p:nvGrpSpPr>
        <p:grpSpPr>
          <a:xfrm>
            <a:off x="409575" y="3084195"/>
            <a:ext cx="1905000" cy="1335405"/>
            <a:chOff x="881" y="2735"/>
            <a:chExt cx="3000" cy="2103"/>
          </a:xfrm>
        </p:grpSpPr>
        <p:sp>
          <p:nvSpPr>
            <p:cNvPr id="167" name="圆角矩形"/>
            <p:cNvSpPr/>
            <p:nvPr/>
          </p:nvSpPr>
          <p:spPr>
            <a:xfrm>
              <a:off x="1188" y="3071"/>
              <a:ext cx="2693" cy="1767"/>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35" name="文本框 34"/>
            <p:cNvSpPr txBox="1"/>
            <p:nvPr/>
          </p:nvSpPr>
          <p:spPr>
            <a:xfrm>
              <a:off x="1597" y="3217"/>
              <a:ext cx="2134" cy="158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工厂方法模式的主要优点</a:t>
              </a:r>
              <a:r>
                <a:rPr lang="zh-CN" dirty="0">
                  <a:solidFill>
                    <a:schemeClr val="tx1"/>
                  </a:solidFill>
                  <a:latin typeface="微软雅黑" panose="020B0503020204020204" charset="-122"/>
                  <a:ea typeface="微软雅黑" panose="020B0503020204020204" charset="-122"/>
                  <a:sym typeface="+mn-ea"/>
                </a:rPr>
                <a:t>：</a:t>
              </a:r>
            </a:p>
          </p:txBody>
        </p:sp>
      </p:grpSp>
    </p:spTree>
    <p:custDataLst>
      <p:tags r:id="rId1"/>
    </p:custDataLst>
  </p:cSld>
  <p:clrMapOvr>
    <a:masterClrMapping/>
  </p:clrMapOvr>
  <p:transition>
    <p:wheel spokes="3"/>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to="" calcmode="lin" valueType="num">
                                      <p:cBhvr>
                                        <p:cTn id="7" dur="1" fill="hold"/>
                                        <p:tgtEl>
                                          <p:spTgt spid="7"/>
                                        </p:tgtEl>
                                      </p:cBhvr>
                                    </p:anim>
                                  </p:childTnLst>
                                </p:cTn>
                              </p:par>
                            </p:childTnLst>
                          </p:cTn>
                        </p:par>
                      </p:childTnLst>
                    </p:cTn>
                  </p:par>
                  <p:par>
                    <p:cTn id="8" fill="hold">
                      <p:stCondLst>
                        <p:cond delay="indefinite"/>
                      </p:stCondLst>
                      <p:childTnLst>
                        <p:par>
                          <p:cTn id="9" fill="hold">
                            <p:stCondLst>
                              <p:cond delay="0"/>
                            </p:stCondLst>
                            <p:childTnLst>
                              <p:par>
                                <p:cTn id="10" presetID="24"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 to="" calcmode="lin" valueType="num">
                                      <p:cBhvr>
                                        <p:cTn id="12" dur="1" fill="hold"/>
                                        <p:tgtEl>
                                          <p:spTgt spid="3"/>
                                        </p:tgtEl>
                                      </p:cBhvr>
                                    </p:anim>
                                  </p:childTnLst>
                                </p:cTn>
                              </p:par>
                            </p:childTnLst>
                          </p:cTn>
                        </p:par>
                      </p:childTnLst>
                    </p:cTn>
                  </p:par>
                  <p:par>
                    <p:cTn id="13" fill="hold">
                      <p:stCondLst>
                        <p:cond delay="indefinite"/>
                      </p:stCondLst>
                      <p:childTnLst>
                        <p:par>
                          <p:cTn id="14" fill="hold">
                            <p:stCondLst>
                              <p:cond delay="0"/>
                            </p:stCondLst>
                            <p:childTnLst>
                              <p:par>
                                <p:cTn id="15" presetID="24"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 to="" calcmode="lin" valueType="num">
                                      <p:cBhvr>
                                        <p:cTn id="17" dur="1" fill="hold"/>
                                        <p:tgtEl>
                                          <p:spTgt spid="9"/>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8.5.3 </a:t>
            </a:r>
            <a:r>
              <a:rPr lang="zh-CN" altLang="en-US" sz="2400" dirty="0">
                <a:solidFill>
                  <a:schemeClr val="tx1"/>
                </a:solidFill>
              </a:rPr>
              <a:t>工厂方法模式和策略模式</a:t>
            </a:r>
          </a:p>
        </p:txBody>
      </p:sp>
      <p:grpSp>
        <p:nvGrpSpPr>
          <p:cNvPr id="3" name="组合 2"/>
          <p:cNvGrpSpPr/>
          <p:nvPr/>
        </p:nvGrpSpPr>
        <p:grpSpPr>
          <a:xfrm>
            <a:off x="722499" y="2657321"/>
            <a:ext cx="10795000" cy="1882140"/>
            <a:chOff x="1630" y="5726"/>
            <a:chExt cx="17000" cy="2964"/>
          </a:xfrm>
        </p:grpSpPr>
        <p:cxnSp>
          <p:nvCxnSpPr>
            <p:cNvPr id="4" name="MH_Other_1"/>
            <p:cNvCxnSpPr/>
            <p:nvPr/>
          </p:nvCxnSpPr>
          <p:spPr>
            <a:xfrm flipH="1">
              <a:off x="2470" y="6041"/>
              <a:ext cx="1545" cy="14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07" y="6381"/>
              <a:ext cx="15423"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工厂接口</a:t>
              </a:r>
            </a:p>
            <a:p>
              <a:pPr indent="457200" fontAlgn="auto">
                <a:lnSpc>
                  <a:spcPct val="120000"/>
                </a:lnSpc>
              </a:pPr>
              <a:r>
                <a:rPr lang="zh-CN" altLang="en-US" dirty="0">
                  <a:ea typeface="微软雅黑" panose="020B0503020204020204" charset="-122"/>
                </a:rPr>
                <a:t>工厂接口是工厂方法模式的核心，与调用者直接交互用来提供产品。在实际编程中，有时候也会使用一个抽象类来作为与调用者交互的接口，其本质上是一样的。</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1</a:t>
              </a:r>
            </a:p>
          </p:txBody>
        </p:sp>
      </p:grpSp>
      <p:grpSp>
        <p:nvGrpSpPr>
          <p:cNvPr id="8" name="组合 7"/>
          <p:cNvGrpSpPr/>
          <p:nvPr/>
        </p:nvGrpSpPr>
        <p:grpSpPr>
          <a:xfrm>
            <a:off x="698369" y="4661228"/>
            <a:ext cx="10819130" cy="1456690"/>
            <a:chOff x="1840" y="2871"/>
            <a:chExt cx="17038" cy="2294"/>
          </a:xfrm>
        </p:grpSpPr>
        <p:cxnSp>
          <p:nvCxnSpPr>
            <p:cNvPr id="9" name="MH_Other_4"/>
            <p:cNvCxnSpPr/>
            <p:nvPr/>
          </p:nvCxnSpPr>
          <p:spPr>
            <a:xfrm flipH="1">
              <a:off x="2680" y="3183"/>
              <a:ext cx="1545" cy="145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455" y="3183"/>
              <a:ext cx="15423" cy="198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C00000"/>
                  </a:solidFill>
                  <a:ea typeface="微软雅黑" panose="020B0503020204020204" charset="-122"/>
                </a:rPr>
                <a:t>工厂实现</a:t>
              </a:r>
            </a:p>
            <a:p>
              <a:pPr indent="457200" fontAlgn="auto">
                <a:lnSpc>
                  <a:spcPct val="120000"/>
                </a:lnSpc>
              </a:pPr>
              <a:r>
                <a:rPr lang="zh-CN" altLang="en-US" dirty="0">
                  <a:solidFill>
                    <a:schemeClr val="tx1"/>
                  </a:solidFill>
                  <a:ea typeface="微软雅黑" panose="020B0503020204020204" charset="-122"/>
                </a:rPr>
                <a:t>在编程中，工厂实现决定如何实例化产品，是实现扩展的途径，需要有多少种产品，就需要有多少个具体的工厂实现。</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C00000"/>
                  </a:solidFill>
                  <a:latin typeface="Times New Roman" panose="02020603050405020304" pitchFamily="18" charset="0"/>
                  <a:ea typeface="微软雅黑" panose="020B0503020204020204" charset="-122"/>
                </a:rPr>
                <a:t>2</a:t>
              </a:r>
            </a:p>
          </p:txBody>
        </p:sp>
      </p:grpSp>
      <p:grpSp>
        <p:nvGrpSpPr>
          <p:cNvPr id="33" name="组合 32"/>
          <p:cNvGrpSpPr/>
          <p:nvPr/>
        </p:nvGrpSpPr>
        <p:grpSpPr>
          <a:xfrm>
            <a:off x="419100" y="2055495"/>
            <a:ext cx="4943475" cy="791845"/>
            <a:chOff x="881" y="2735"/>
            <a:chExt cx="7785" cy="1247"/>
          </a:xfrm>
        </p:grpSpPr>
        <p:sp>
          <p:nvSpPr>
            <p:cNvPr id="167" name="圆角矩形"/>
            <p:cNvSpPr/>
            <p:nvPr/>
          </p:nvSpPr>
          <p:spPr>
            <a:xfrm>
              <a:off x="1188" y="3071"/>
              <a:ext cx="7478" cy="911"/>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35" name="文本框 34"/>
            <p:cNvSpPr txBox="1"/>
            <p:nvPr/>
          </p:nvSpPr>
          <p:spPr>
            <a:xfrm>
              <a:off x="1597" y="3217"/>
              <a:ext cx="5917" cy="619"/>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工厂方法模式有4个要素</a:t>
              </a:r>
              <a:r>
                <a:rPr lang="zh-CN" dirty="0">
                  <a:solidFill>
                    <a:schemeClr val="tx1"/>
                  </a:solidFill>
                  <a:latin typeface="微软雅黑" panose="020B0503020204020204" charset="-122"/>
                  <a:ea typeface="微软雅黑" panose="020B0503020204020204" charset="-122"/>
                  <a:sym typeface="+mn-ea"/>
                </a:rPr>
                <a:t>：</a:t>
              </a:r>
            </a:p>
          </p:txBody>
        </p:sp>
      </p:grpSp>
    </p:spTree>
    <p:custDataLst>
      <p:tags r:id="rId1"/>
    </p:custDataLst>
  </p:cSld>
  <p:clrMapOvr>
    <a:masterClrMapping/>
  </p:clrMapOvr>
  <p:transition>
    <p:wheel spokes="3"/>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8.5.3 </a:t>
            </a:r>
            <a:r>
              <a:rPr lang="zh-CN" altLang="en-US" sz="2400" dirty="0">
                <a:solidFill>
                  <a:schemeClr val="tx1"/>
                </a:solidFill>
              </a:rPr>
              <a:t>工厂方法模式和策略模式</a:t>
            </a:r>
          </a:p>
        </p:txBody>
      </p:sp>
      <p:grpSp>
        <p:nvGrpSpPr>
          <p:cNvPr id="3" name="组合 2"/>
          <p:cNvGrpSpPr/>
          <p:nvPr/>
        </p:nvGrpSpPr>
        <p:grpSpPr>
          <a:xfrm>
            <a:off x="686304" y="4735676"/>
            <a:ext cx="10843260" cy="1666240"/>
            <a:chOff x="1630" y="5726"/>
            <a:chExt cx="17076" cy="2624"/>
          </a:xfrm>
        </p:grpSpPr>
        <p:cxnSp>
          <p:nvCxnSpPr>
            <p:cNvPr id="4" name="MH_Other_1"/>
            <p:cNvCxnSpPr/>
            <p:nvPr/>
          </p:nvCxnSpPr>
          <p:spPr>
            <a:xfrm flipH="1">
              <a:off x="2470" y="6041"/>
              <a:ext cx="1545" cy="1450"/>
            </a:xfrm>
            <a:prstGeom prst="line">
              <a:avLst/>
            </a:prstGeom>
            <a:ln w="38100">
              <a:solidFill>
                <a:schemeClr val="accent3">
                  <a:lumMod val="75000"/>
                </a:schemeClr>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83" y="6041"/>
              <a:ext cx="15423"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3">
                      <a:lumMod val="75000"/>
                    </a:schemeClr>
                  </a:solidFill>
                  <a:sym typeface="+mn-ea"/>
                </a:rPr>
                <a:t>产</a:t>
              </a:r>
              <a:r>
                <a:rPr lang="zh-CN" altLang="en-US" sz="2000" b="1" dirty="0">
                  <a:solidFill>
                    <a:schemeClr val="accent3">
                      <a:lumMod val="75000"/>
                    </a:schemeClr>
                  </a:solidFill>
                </a:rPr>
                <a:t>品实现</a:t>
              </a:r>
            </a:p>
            <a:p>
              <a:pPr indent="457200" fontAlgn="auto">
                <a:lnSpc>
                  <a:spcPct val="120000"/>
                </a:lnSpc>
              </a:pPr>
              <a:r>
                <a:rPr lang="zh-CN" altLang="en-US" dirty="0">
                  <a:ea typeface="微软雅黑" panose="020B0503020204020204" charset="-122"/>
                </a:rPr>
                <a:t>实现产品接口的具体类，决定了产品在客户端中的具体行为。</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3">
                      <a:lumMod val="75000"/>
                    </a:schemeClr>
                  </a:solidFill>
                  <a:latin typeface="Times New Roman" panose="02020603050405020304" pitchFamily="18" charset="0"/>
                  <a:ea typeface="微软雅黑" panose="020B0503020204020204" charset="-122"/>
                </a:rPr>
                <a:t>4</a:t>
              </a:r>
            </a:p>
          </p:txBody>
        </p:sp>
      </p:grpSp>
      <p:grpSp>
        <p:nvGrpSpPr>
          <p:cNvPr id="8" name="组合 7"/>
          <p:cNvGrpSpPr/>
          <p:nvPr/>
        </p:nvGrpSpPr>
        <p:grpSpPr>
          <a:xfrm>
            <a:off x="662174" y="2112338"/>
            <a:ext cx="10867390" cy="2571750"/>
            <a:chOff x="1840" y="2871"/>
            <a:chExt cx="17114" cy="4050"/>
          </a:xfrm>
        </p:grpSpPr>
        <p:cxnSp>
          <p:nvCxnSpPr>
            <p:cNvPr id="9" name="MH_Other_4"/>
            <p:cNvCxnSpPr/>
            <p:nvPr/>
          </p:nvCxnSpPr>
          <p:spPr>
            <a:xfrm flipH="1">
              <a:off x="2680" y="3183"/>
              <a:ext cx="1545" cy="145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455" y="3845"/>
              <a:ext cx="15499" cy="3076"/>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75000"/>
                    </a:schemeClr>
                  </a:solidFill>
                  <a:ea typeface="微软雅黑" panose="020B0503020204020204" charset="-122"/>
                </a:rPr>
                <a:t>产品接口</a:t>
              </a:r>
            </a:p>
            <a:p>
              <a:pPr indent="457200" fontAlgn="auto">
                <a:lnSpc>
                  <a:spcPct val="120000"/>
                </a:lnSpc>
              </a:pPr>
              <a:r>
                <a:rPr lang="zh-CN" altLang="en-US" dirty="0">
                  <a:solidFill>
                    <a:schemeClr val="tx1"/>
                  </a:solidFill>
                  <a:ea typeface="微软雅黑" panose="020B0503020204020204" charset="-122"/>
                </a:rPr>
                <a:t>产品接口的主要目的是定义产品的规范，所有的产品实现都必须遵循产品接口定义的规范。产品接口是调用者最为关心的，产品接口定义的优劣直接决定了调用者代码的稳定性。同样，产品接口也可以用抽象类来代替。如果是采用抽象类设计实现，就需要用子类继承，但要注意，最好不要违反里氏替换原则。里氏替换原则就是子类可以扩展父类的功能，但不能改变父类原有的功能，即子类中可以增加自己特有的方法，子类可以实现父类的抽象方法，但不能覆盖父类的非抽象方法。</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6">
                      <a:lumMod val="75000"/>
                    </a:schemeClr>
                  </a:solidFill>
                  <a:latin typeface="Times New Roman" panose="02020603050405020304" pitchFamily="18" charset="0"/>
                  <a:ea typeface="微软雅黑" panose="020B0503020204020204" charset="-122"/>
                </a:rPr>
                <a:t>3</a:t>
              </a:r>
            </a:p>
          </p:txBody>
        </p:sp>
      </p:grpSp>
    </p:spTree>
    <p:custDataLst>
      <p:tags r:id="rId1"/>
    </p:custDataLst>
  </p:cSld>
  <p:clrMapOvr>
    <a:masterClrMapping/>
  </p:clrMapOvr>
  <p:transition>
    <p:wheel spokes="3"/>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8.5.3 </a:t>
            </a:r>
            <a:r>
              <a:rPr lang="zh-CN" altLang="en-US" sz="2400" dirty="0">
                <a:solidFill>
                  <a:schemeClr val="tx1"/>
                </a:solidFill>
              </a:rPr>
              <a:t>工厂方法模式和策略模式</a:t>
            </a:r>
          </a:p>
        </p:txBody>
      </p:sp>
      <p:grpSp>
        <p:nvGrpSpPr>
          <p:cNvPr id="6" name="组合 5"/>
          <p:cNvGrpSpPr/>
          <p:nvPr/>
        </p:nvGrpSpPr>
        <p:grpSpPr>
          <a:xfrm>
            <a:off x="897255" y="1976120"/>
            <a:ext cx="10037445" cy="4274185"/>
            <a:chOff x="1413" y="3112"/>
            <a:chExt cx="15807" cy="6731"/>
          </a:xfrm>
        </p:grpSpPr>
        <p:sp>
          <p:nvSpPr>
            <p:cNvPr id="3" name="MH_Text_1"/>
            <p:cNvSpPr/>
            <p:nvPr>
              <p:custDataLst>
                <p:tags r:id="rId2"/>
              </p:custDataLst>
            </p:nvPr>
          </p:nvSpPr>
          <p:spPr bwMode="auto">
            <a:xfrm>
              <a:off x="2940" y="3488"/>
              <a:ext cx="13319" cy="3824"/>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b="1">
                  <a:solidFill>
                    <a:srgbClr val="00B050"/>
                  </a:solidFill>
                  <a:latin typeface="+mn-ea"/>
                </a:rPr>
                <a:t>策略模式</a:t>
              </a:r>
              <a:r>
                <a:rPr>
                  <a:latin typeface="+mn-ea"/>
                </a:rPr>
                <a:t>是工厂方法模式的一种变形。它提供了一种用多个行为中的一个行为来配置一个类的方法，即实现某一个功能有多种算法或者策略。我们可以根据环境或者条件的不同，选择不同的算法或者策略来完成该功能。即将这些算法写到一个类中，在该类中提供多个方法，每一个方法对应一个具体的算法。当不同的行为堆砌在一个类中时，用条件语句选择所需的行为。客户端必须知道所有的策略类，并自行决定使用哪一个策略类。那么一个客户要选择一个合适的策略就必须知道这些策略到底有何不同。</a:t>
              </a:r>
            </a:p>
          </p:txBody>
        </p:sp>
        <p:sp>
          <p:nvSpPr>
            <p:cNvPr id="4" name="MH_Other_1"/>
            <p:cNvSpPr txBox="1">
              <a:spLocks noChangeArrowheads="1"/>
            </p:cNvSpPr>
            <p:nvPr>
              <p:custDataLst>
                <p:tags r:id="rId3"/>
              </p:custDataLst>
            </p:nvPr>
          </p:nvSpPr>
          <p:spPr bwMode="auto">
            <a:xfrm>
              <a:off x="1413" y="3112"/>
              <a:ext cx="1563" cy="4448"/>
            </a:xfrm>
            <a:prstGeom prst="rect">
              <a:avLst/>
            </a:prstGeom>
            <a:noFill/>
            <a:ln w="9525">
              <a:noFill/>
              <a:miter lim="800000"/>
            </a:ln>
          </p:spPr>
          <p:txBody>
            <a:bodyPr anchor="ctr"/>
            <a:lstStyle/>
            <a:p>
              <a:pPr algn="ctr" eaLnBrk="1" hangingPunct="1"/>
              <a:r>
                <a:rPr lang="zh-CN" altLang="en-US" sz="4000" b="1" dirty="0">
                  <a:solidFill>
                    <a:srgbClr val="01AFEE"/>
                  </a:solidFill>
                  <a:latin typeface="MS PMincho" panose="02020600040205080304" pitchFamily="18" charset="-128"/>
                  <a:ea typeface="MS PMincho" panose="02020600040205080304" pitchFamily="18" charset="-128"/>
                </a:rPr>
                <a:t>策略模式</a:t>
              </a:r>
            </a:p>
          </p:txBody>
        </p:sp>
        <p:sp>
          <p:nvSpPr>
            <p:cNvPr id="5" name="MH_Text_2"/>
            <p:cNvSpPr/>
            <p:nvPr>
              <p:custDataLst>
                <p:tags r:id="rId4"/>
              </p:custDataLst>
            </p:nvPr>
          </p:nvSpPr>
          <p:spPr bwMode="auto">
            <a:xfrm>
              <a:off x="1635" y="7487"/>
              <a:ext cx="15585" cy="2356"/>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noFill/>
              <a:prstDash val="dash"/>
              <a:miter lim="800000"/>
            </a:ln>
          </p:spPr>
          <p:txBody>
            <a:bodyPr lIns="360000" tIns="180000" rIns="180000" bIns="180000" anchor="ctr"/>
            <a:lstStyle/>
            <a:p>
              <a:pPr indent="457200">
                <a:lnSpc>
                  <a:spcPct val="120000"/>
                </a:lnSpc>
              </a:pPr>
              <a:r>
                <a:rPr dirty="0" err="1">
                  <a:latin typeface="+mn-ea"/>
                </a:rPr>
                <a:t>工厂模式是创建型模式，它关注对象创建，提供创建对象的接口，让对象的创建与具体使用的客户无关</a:t>
              </a:r>
              <a:r>
                <a:rPr dirty="0">
                  <a:latin typeface="+mn-ea"/>
                </a:rPr>
                <a:t>。策略模式是对象行为型模式，它关注行为和算法的封装，定义一系列的算法，把每一个算法封装起来，并且使它们可相互替换，使得算法可独立于它的客户而变化。</a:t>
              </a:r>
            </a:p>
          </p:txBody>
        </p:sp>
      </p:grpSp>
    </p:spTree>
    <p:custDataLst>
      <p:tags r:id="rId1"/>
    </p:custDataLst>
  </p:cSld>
  <p:clrMapOvr>
    <a:masterClrMapping/>
  </p:clrMapOvr>
  <p:transition>
    <p:wheel spokes="3"/>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8.5.4 </a:t>
            </a:r>
            <a:r>
              <a:rPr lang="zh-CN" sz="2400" dirty="0">
                <a:solidFill>
                  <a:schemeClr val="tx1"/>
                </a:solidFill>
              </a:rPr>
              <a:t>模型－视图－控制器模式</a:t>
            </a:r>
          </a:p>
        </p:txBody>
      </p:sp>
      <p:sp>
        <p:nvSpPr>
          <p:cNvPr id="4" name="矩形 3"/>
          <p:cNvSpPr/>
          <p:nvPr>
            <p:custDataLst>
              <p:tags r:id="rId2"/>
            </p:custDataLst>
          </p:nvPr>
        </p:nvSpPr>
        <p:spPr>
          <a:xfrm>
            <a:off x="101528" y="2277507"/>
            <a:ext cx="11623427" cy="357778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8" name="文本框 10"/>
          <p:cNvSpPr txBox="1"/>
          <p:nvPr>
            <p:custDataLst>
              <p:tags r:id="rId3"/>
            </p:custDataLst>
          </p:nvPr>
        </p:nvSpPr>
        <p:spPr>
          <a:xfrm>
            <a:off x="518602" y="2907101"/>
            <a:ext cx="7641990" cy="23194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defPPr>
              <a:defRPr lang="zh-CN"/>
            </a:defPPr>
            <a:lvl1pPr algn="ctr">
              <a:lnSpc>
                <a:spcPct val="200000"/>
              </a:lnSpc>
              <a:spcBef>
                <a:spcPct val="0"/>
              </a:spcBef>
              <a:buFontTx/>
              <a:buNone/>
              <a:defRPr sz="1800">
                <a:solidFill>
                  <a:srgbClr val="FFFFFF"/>
                </a:solidFill>
              </a:defRPr>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indent="457200" algn="l">
              <a:lnSpc>
                <a:spcPct val="150000"/>
              </a:lnSpc>
            </a:pPr>
            <a:r>
              <a:rPr lang="zh-CN" altLang="en-US" dirty="0">
                <a:solidFill>
                  <a:schemeClr val="tx1"/>
                </a:solidFill>
              </a:rPr>
              <a:t>模型－视图－控制器（MVC）模式是模型（Model）、视图（View）和控制器（Controller）的缩写。MVC是一种软件设计典范，它用一种业务逻辑、数据、界面显示分离的方法组织代码，将业务逻辑聚集到一个部件里面，在改进和个性化定制界面及用户交互的同时，不需要重新编写业务逻辑。</a:t>
            </a:r>
          </a:p>
        </p:txBody>
      </p:sp>
      <p:pic>
        <p:nvPicPr>
          <p:cNvPr id="9" name="图片 8"/>
          <p:cNvPicPr>
            <a:picLocks noChangeAspect="1"/>
          </p:cNvPicPr>
          <p:nvPr>
            <p:custDataLst>
              <p:tags r:id="rId4"/>
            </p:custDataLst>
          </p:nvPr>
        </p:nvPicPr>
        <p:blipFill>
          <a:blip r:embed="rId7" cstate="print"/>
          <a:stretch>
            <a:fillRect/>
          </a:stretch>
        </p:blipFill>
        <p:spPr>
          <a:xfrm>
            <a:off x="8704634" y="2095894"/>
            <a:ext cx="3385838" cy="3396172"/>
          </a:xfrm>
          <a:prstGeom prst="rect">
            <a:avLst/>
          </a:prstGeom>
          <a:effectLst>
            <a:outerShdw blurRad="76200" dir="13500000" sy="23000" kx="1200000" algn="br" rotWithShape="0">
              <a:prstClr val="black">
                <a:alpha val="20000"/>
              </a:prstClr>
            </a:outerShdw>
          </a:effectLst>
        </p:spPr>
      </p:pic>
    </p:spTree>
    <p:custDataLst>
      <p:tags r:id="rId1"/>
    </p:custDataLst>
  </p:cSld>
  <p:clrMapOvr>
    <a:masterClrMapping/>
  </p:clrMapOvr>
  <p:transition>
    <p:wheel spokes="3"/>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8.5.4 </a:t>
            </a:r>
            <a:r>
              <a:rPr lang="zh-CN" altLang="en-US" sz="2400" dirty="0">
                <a:solidFill>
                  <a:schemeClr val="tx1"/>
                </a:solidFill>
              </a:rPr>
              <a:t>模型－视图－控制器模式</a:t>
            </a:r>
            <a:endParaRPr sz="2400" dirty="0">
              <a:solidFill>
                <a:schemeClr val="tx1"/>
              </a:solidFill>
            </a:endParaRP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317989" y="2328696"/>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模型（Model）表示企业数据和业务规则，负责业务流程的处理。在MVC的3个部件中，模型拥有最多的处理业务。模型接收视图请求的数据，进行相应的处理并返回最终的处理结果。被模型返回的数据是中立的，也就是说模型与数据格式无关，采用这种机制使一个模型能为多个视图提供数据。由于应用于模型的代码只需要写一次就可以被多个视图重用，所以减少了代码编写的重复，减少了系统开发的工作量。</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模型M</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wheel spokes="3"/>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8.5.4 </a:t>
            </a:r>
            <a:r>
              <a:rPr lang="zh-CN" altLang="en-US" sz="2400" dirty="0">
                <a:solidFill>
                  <a:schemeClr val="tx1"/>
                </a:solidFill>
              </a:rPr>
              <a:t>模型－视图－控制器模式</a:t>
            </a: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400278" y="2781014"/>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视图（View）是用户看到并与之交互的界面。对Web应用系统来说，视图可以由HTML元素构成，也可以由其他一些技术如XML，XHTML等来构建。MVC可以为系统的一个应用建立很多不同的视图，在视图中没有真正的业务流程的处理，它对数据的操作只是数据的采集和显示，业务流程的处理由模型来完成。</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视图V</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wheel spokes="3"/>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8.5.4 </a:t>
            </a:r>
            <a:r>
              <a:rPr lang="zh-CN" altLang="en-US" sz="2400" dirty="0">
                <a:solidFill>
                  <a:schemeClr val="tx1"/>
                </a:solidFill>
              </a:rPr>
              <a:t>模型－视图－控制器模式</a:t>
            </a: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427707" y="2781014"/>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控制器（Controller）接收用户的输入并调用模型和视图对数据进行处理，共同满足用户的请求。控制器接收请求后，并不处理业务短信息，而是根据用户请求选择相应的模型，把用户的信息传递给模型，告诉模型做什么；处理完相应的数据后，模型把结果交给控制器，控制器选择符合要求的视图返回给用户。</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控制器C</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03</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wheel spokes="3"/>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8.5.4 </a:t>
            </a:r>
            <a:r>
              <a:rPr lang="zh-CN" altLang="en-US" sz="2400" dirty="0">
                <a:solidFill>
                  <a:schemeClr val="tx1"/>
                </a:solidFill>
              </a:rPr>
              <a:t>模型－视图－控制器模式</a:t>
            </a:r>
          </a:p>
        </p:txBody>
      </p:sp>
      <p:sp>
        <p:nvSpPr>
          <p:cNvPr id="3" name="文本框 2"/>
          <p:cNvSpPr txBox="1"/>
          <p:nvPr/>
        </p:nvSpPr>
        <p:spPr>
          <a:xfrm>
            <a:off x="1120140" y="2635250"/>
            <a:ext cx="5466715" cy="3383280"/>
          </a:xfrm>
          <a:prstGeom prst="rect">
            <a:avLst/>
          </a:prstGeom>
          <a:noFill/>
        </p:spPr>
        <p:txBody>
          <a:bodyPr wrap="square" rtlCol="0" anchor="t">
            <a:spAutoFit/>
          </a:bodyPr>
          <a:lstStyle/>
          <a:p>
            <a:pPr fontAlgn="auto">
              <a:lnSpc>
                <a:spcPct val="150000"/>
              </a:lnSpc>
            </a:pPr>
            <a:r>
              <a:rPr lang="en-US" altLang="zh-CN" dirty="0">
                <a:latin typeface="微软雅黑" panose="020B0503020204020204" charset="-122"/>
                <a:ea typeface="微软雅黑" panose="020B0503020204020204" charset="-122"/>
              </a:rPr>
              <a:t>       </a:t>
            </a:r>
            <a:r>
              <a:rPr lang="zh-CN" altLang="en-US">
                <a:latin typeface="微软雅黑" panose="020B0503020204020204" charset="-122"/>
                <a:ea typeface="微软雅黑" panose="020B0503020204020204" charset="-122"/>
              </a:rPr>
              <a:t>如图8-10（见下一页）为MVC的工作流程，模型就是数据的仓库，负责存取数据，它独立于视图和控制器，既可以储存原数据，比如字符串，也可以储存复杂的数据。视图是用户界面的可视化部分。视图使用数据模型的数据来描述自己。一个视图由动画、用户输入表单、图表、按钮、声音播放器或者其他需要的任何类型的用户界面组成。控制器负责获取输入内容（例如用户输入请求），并将数据传递给模型。</a:t>
            </a:r>
          </a:p>
        </p:txBody>
      </p:sp>
      <p:sp>
        <p:nvSpPr>
          <p:cNvPr id="6" name="MH_Other_1"/>
          <p:cNvSpPr/>
          <p:nvPr>
            <p:custDataLst>
              <p:tags r:id="rId2"/>
            </p:custDataLst>
          </p:nvPr>
        </p:nvSpPr>
        <p:spPr bwMode="auto">
          <a:xfrm>
            <a:off x="814704" y="2590800"/>
            <a:ext cx="11110595" cy="3381375"/>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7" name="矩形 6"/>
          <p:cNvSpPr/>
          <p:nvPr/>
        </p:nvSpPr>
        <p:spPr>
          <a:xfrm>
            <a:off x="957605" y="2164593"/>
            <a:ext cx="4709770" cy="369332"/>
          </a:xfrm>
          <a:prstGeom prst="rect">
            <a:avLst/>
          </a:prstGeom>
        </p:spPr>
        <p:txBody>
          <a:bodyPr wrap="square">
            <a:spAutoFit/>
          </a:bodyPr>
          <a:lstStyle/>
          <a:p>
            <a:r>
              <a:rPr lang="en-US" altLang="zh-CN" b="1" dirty="0"/>
              <a:t>MVC</a:t>
            </a:r>
            <a:r>
              <a:rPr lang="zh-CN" altLang="zh-CN" b="1" dirty="0"/>
              <a:t>的工作流程</a:t>
            </a:r>
            <a:r>
              <a:rPr lang="zh-CN" altLang="en-US" b="1" dirty="0"/>
              <a:t>：</a:t>
            </a:r>
            <a:endParaRPr lang="zh-CN" altLang="zh-CN" b="1" dirty="0"/>
          </a:p>
        </p:txBody>
      </p:sp>
      <p:pic>
        <p:nvPicPr>
          <p:cNvPr id="8" name="图片 7" descr="A000220150322E36PPIC.png"/>
          <p:cNvPicPr>
            <a:picLocks noChangeAspect="1"/>
          </p:cNvPicPr>
          <p:nvPr/>
        </p:nvPicPr>
        <p:blipFill>
          <a:blip r:embed="rId5" cstate="print"/>
          <a:stretch>
            <a:fillRect/>
          </a:stretch>
        </p:blipFill>
        <p:spPr>
          <a:xfrm>
            <a:off x="6757103" y="2114550"/>
            <a:ext cx="5172430" cy="3852951"/>
          </a:xfrm>
          <a:prstGeom prst="rect">
            <a:avLst/>
          </a:prstGeom>
        </p:spPr>
      </p:pic>
    </p:spTree>
    <p:custDataLst>
      <p:tags r:id="rId1"/>
    </p:custDataLst>
  </p:cSld>
  <p:clrMapOvr>
    <a:masterClrMapping/>
  </p:clrMapOvr>
  <p:transition>
    <p:wheel spokes="3"/>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8.5.4 </a:t>
            </a:r>
            <a:r>
              <a:rPr lang="zh-CN" altLang="en-US" sz="2400" dirty="0">
                <a:solidFill>
                  <a:schemeClr val="tx1"/>
                </a:solidFill>
              </a:rPr>
              <a:t>模型－视图－控制器模式</a:t>
            </a:r>
          </a:p>
        </p:txBody>
      </p:sp>
      <p:grpSp>
        <p:nvGrpSpPr>
          <p:cNvPr id="1073752804" name="组合 1073752803"/>
          <p:cNvGrpSpPr>
            <a:grpSpLocks noRot="1"/>
          </p:cNvGrpSpPr>
          <p:nvPr/>
        </p:nvGrpSpPr>
        <p:grpSpPr>
          <a:xfrm>
            <a:off x="809625" y="1817370"/>
            <a:ext cx="10383520" cy="4516755"/>
            <a:chOff x="1496" y="3122"/>
            <a:chExt cx="7937" cy="4438"/>
          </a:xfrm>
        </p:grpSpPr>
        <p:sp>
          <p:nvSpPr>
            <p:cNvPr id="1073752805" name="Text Box 107"/>
            <p:cNvSpPr txBox="1"/>
            <p:nvPr/>
          </p:nvSpPr>
          <p:spPr>
            <a:xfrm>
              <a:off x="4342" y="4710"/>
              <a:ext cx="1513" cy="1560"/>
            </a:xfrm>
            <a:prstGeom prst="rect">
              <a:avLst/>
            </a:prstGeom>
            <a:solidFill>
              <a:srgbClr val="FFFFFF"/>
            </a:solidFill>
            <a:ln w="9525" cap="flat" cmpd="sng">
              <a:solidFill>
                <a:srgbClr val="000000"/>
              </a:solidFill>
              <a:prstDash val="solid"/>
              <a:miter/>
              <a:headEnd type="none" w="med" len="med"/>
              <a:tailEnd type="none" w="med" len="med"/>
            </a:ln>
          </p:spPr>
          <p:txBody>
            <a:bodyPr wrap="square"/>
            <a:lstStyle/>
            <a:p>
              <a:pPr indent="266700" algn="ctr"/>
              <a:r>
                <a:rPr lang="zh-CN" altLang="en-US"/>
                <a:t>模型M</a:t>
              </a:r>
            </a:p>
            <a:p>
              <a:pPr indent="266700" algn="ctr"/>
              <a:r>
                <a:rPr lang="zh-CN" altLang="en-US"/>
                <a:t>封装功能</a:t>
              </a:r>
            </a:p>
            <a:p>
              <a:pPr indent="266700" algn="ctr"/>
              <a:r>
                <a:rPr lang="zh-CN" altLang="en-US"/>
                <a:t>封装内容对象</a:t>
              </a:r>
            </a:p>
            <a:p>
              <a:endParaRPr lang="zh-CN" altLang="en-US"/>
            </a:p>
          </p:txBody>
        </p:sp>
        <p:sp>
          <p:nvSpPr>
            <p:cNvPr id="1073752806" name="Text Box 154"/>
            <p:cNvSpPr txBox="1"/>
            <p:nvPr/>
          </p:nvSpPr>
          <p:spPr>
            <a:xfrm>
              <a:off x="6241" y="5494"/>
              <a:ext cx="1245" cy="435"/>
            </a:xfrm>
            <a:prstGeom prst="rect">
              <a:avLst/>
            </a:prstGeom>
            <a:solidFill>
              <a:srgbClr val="FFFFFF"/>
            </a:solidFill>
            <a:ln w="9525">
              <a:noFill/>
            </a:ln>
          </p:spPr>
          <p:txBody>
            <a:bodyPr wrap="square"/>
            <a:lstStyle/>
            <a:p>
              <a:pPr indent="266700"/>
              <a:r>
                <a:rPr lang="zh-CN" altLang="en-US"/>
                <a:t>更新请求</a:t>
              </a:r>
            </a:p>
            <a:p>
              <a:endParaRPr lang="zh-CN" altLang="en-US"/>
            </a:p>
          </p:txBody>
        </p:sp>
        <p:sp>
          <p:nvSpPr>
            <p:cNvPr id="1073752807" name="Text Box 152"/>
            <p:cNvSpPr txBox="1"/>
            <p:nvPr/>
          </p:nvSpPr>
          <p:spPr>
            <a:xfrm>
              <a:off x="1496" y="4218"/>
              <a:ext cx="7937" cy="2256"/>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r>
                <a:rPr lang="zh-CN" altLang="en-US"/>
                <a:t>服务器</a:t>
              </a:r>
            </a:p>
            <a:p>
              <a:endParaRPr lang="zh-CN" altLang="en-US"/>
            </a:p>
          </p:txBody>
        </p:sp>
        <p:sp>
          <p:nvSpPr>
            <p:cNvPr id="1073752808" name="Text Box 117"/>
            <p:cNvSpPr txBox="1"/>
            <p:nvPr/>
          </p:nvSpPr>
          <p:spPr>
            <a:xfrm>
              <a:off x="6210" y="4853"/>
              <a:ext cx="1326" cy="265"/>
            </a:xfrm>
            <a:prstGeom prst="rect">
              <a:avLst/>
            </a:prstGeom>
            <a:solidFill>
              <a:srgbClr val="FFFFFF"/>
            </a:solidFill>
            <a:ln w="9525">
              <a:noFill/>
            </a:ln>
          </p:spPr>
          <p:txBody>
            <a:bodyPr wrap="square" lIns="0" tIns="0" rIns="0" bIns="0"/>
            <a:lstStyle/>
            <a:p>
              <a:r>
                <a:rPr lang="zh-CN" altLang="en-US"/>
                <a:t>来自模型的数据</a:t>
              </a:r>
            </a:p>
            <a:p>
              <a:endParaRPr lang="zh-CN" altLang="en-US"/>
            </a:p>
          </p:txBody>
        </p:sp>
        <p:sp>
          <p:nvSpPr>
            <p:cNvPr id="1073752809" name="Text Box 116"/>
            <p:cNvSpPr txBox="1"/>
            <p:nvPr/>
          </p:nvSpPr>
          <p:spPr>
            <a:xfrm>
              <a:off x="3445" y="4797"/>
              <a:ext cx="836" cy="492"/>
            </a:xfrm>
            <a:prstGeom prst="rect">
              <a:avLst/>
            </a:prstGeom>
            <a:solidFill>
              <a:srgbClr val="FFFFFF"/>
            </a:solidFill>
            <a:ln w="9525">
              <a:noFill/>
            </a:ln>
          </p:spPr>
          <p:txBody>
            <a:bodyPr wrap="square" lIns="0" tIns="0" rIns="0" bIns="0"/>
            <a:lstStyle/>
            <a:p>
              <a:pPr algn="ctr"/>
              <a:r>
                <a:rPr lang="zh-CN" altLang="en-US"/>
                <a:t>将数据传递给模型</a:t>
              </a:r>
            </a:p>
            <a:p>
              <a:endParaRPr lang="zh-CN" altLang="en-US"/>
            </a:p>
          </p:txBody>
        </p:sp>
        <p:sp>
          <p:nvSpPr>
            <p:cNvPr id="1073752810" name="Text Box 105"/>
            <p:cNvSpPr txBox="1"/>
            <p:nvPr/>
          </p:nvSpPr>
          <p:spPr>
            <a:xfrm>
              <a:off x="1776" y="4732"/>
              <a:ext cx="1253" cy="1161"/>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控制器C</a:t>
              </a:r>
            </a:p>
            <a:p>
              <a:r>
                <a:rPr lang="zh-CN" altLang="en-US"/>
                <a:t>管理用户请求</a:t>
              </a:r>
            </a:p>
            <a:p>
              <a:r>
                <a:rPr lang="zh-CN" altLang="en-US"/>
                <a:t>选择模型行为</a:t>
              </a:r>
            </a:p>
            <a:p>
              <a:r>
                <a:rPr lang="zh-CN" altLang="en-US"/>
                <a:t>选择视图响应</a:t>
              </a:r>
            </a:p>
            <a:p>
              <a:endParaRPr lang="zh-CN" altLang="en-US"/>
            </a:p>
          </p:txBody>
        </p:sp>
        <p:sp>
          <p:nvSpPr>
            <p:cNvPr id="1073752811" name="Text Box 108"/>
            <p:cNvSpPr txBox="1"/>
            <p:nvPr/>
          </p:nvSpPr>
          <p:spPr>
            <a:xfrm>
              <a:off x="4999" y="7146"/>
              <a:ext cx="755" cy="41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数据库</a:t>
              </a:r>
            </a:p>
            <a:p>
              <a:endParaRPr lang="zh-CN" altLang="en-US"/>
            </a:p>
          </p:txBody>
        </p:sp>
        <p:cxnSp>
          <p:nvCxnSpPr>
            <p:cNvPr id="1073752812" name="AutoShape 109"/>
            <p:cNvCxnSpPr/>
            <p:nvPr/>
          </p:nvCxnSpPr>
          <p:spPr>
            <a:xfrm flipV="1">
              <a:off x="2407" y="3315"/>
              <a:ext cx="2486" cy="1407"/>
            </a:xfrm>
            <a:prstGeom prst="straightConnector1">
              <a:avLst/>
            </a:prstGeom>
            <a:ln w="9525" cap="flat" cmpd="sng">
              <a:solidFill>
                <a:srgbClr val="000000"/>
              </a:solidFill>
              <a:prstDash val="solid"/>
              <a:headEnd type="triangle" w="med" len="med"/>
              <a:tailEnd type="triangle" w="med" len="med"/>
            </a:ln>
          </p:spPr>
        </p:cxnSp>
        <p:cxnSp>
          <p:nvCxnSpPr>
            <p:cNvPr id="1073752813" name="AutoShape 110"/>
            <p:cNvCxnSpPr/>
            <p:nvPr/>
          </p:nvCxnSpPr>
          <p:spPr>
            <a:xfrm>
              <a:off x="3029" y="5312"/>
              <a:ext cx="1724" cy="1"/>
            </a:xfrm>
            <a:prstGeom prst="straightConnector1">
              <a:avLst/>
            </a:prstGeom>
            <a:ln w="9525" cap="flat" cmpd="sng">
              <a:solidFill>
                <a:srgbClr val="000000"/>
              </a:solidFill>
              <a:prstDash val="solid"/>
              <a:headEnd type="none" w="med" len="med"/>
              <a:tailEnd type="triangle" w="med" len="med"/>
            </a:ln>
          </p:spPr>
        </p:cxnSp>
        <p:cxnSp>
          <p:nvCxnSpPr>
            <p:cNvPr id="1073752814" name="AutoShape 111"/>
            <p:cNvCxnSpPr/>
            <p:nvPr/>
          </p:nvCxnSpPr>
          <p:spPr>
            <a:xfrm flipV="1">
              <a:off x="5990" y="5141"/>
              <a:ext cx="1744" cy="0"/>
            </a:xfrm>
            <a:prstGeom prst="straightConnector1">
              <a:avLst/>
            </a:prstGeom>
            <a:ln w="9525" cap="flat" cmpd="sng">
              <a:solidFill>
                <a:srgbClr val="000000"/>
              </a:solidFill>
              <a:prstDash val="solid"/>
              <a:headEnd type="none" w="med" len="med"/>
              <a:tailEnd type="triangle" w="med" len="med"/>
            </a:ln>
          </p:spPr>
        </p:cxnSp>
        <p:cxnSp>
          <p:nvCxnSpPr>
            <p:cNvPr id="1073752815" name="AutoShape 112"/>
            <p:cNvCxnSpPr/>
            <p:nvPr/>
          </p:nvCxnSpPr>
          <p:spPr>
            <a:xfrm>
              <a:off x="5383" y="5899"/>
              <a:ext cx="0" cy="1247"/>
            </a:xfrm>
            <a:prstGeom prst="straightConnector1">
              <a:avLst/>
            </a:prstGeom>
            <a:ln w="9525" cap="flat" cmpd="sng">
              <a:solidFill>
                <a:srgbClr val="000000"/>
              </a:solidFill>
              <a:prstDash val="solid"/>
              <a:headEnd type="triangle" w="med" len="med"/>
              <a:tailEnd type="triangle" w="med" len="med"/>
            </a:ln>
          </p:spPr>
        </p:cxnSp>
        <p:cxnSp>
          <p:nvCxnSpPr>
            <p:cNvPr id="1073752816" name="AutoShape 113"/>
            <p:cNvCxnSpPr/>
            <p:nvPr/>
          </p:nvCxnSpPr>
          <p:spPr>
            <a:xfrm flipH="1" flipV="1">
              <a:off x="6168" y="3315"/>
              <a:ext cx="2397" cy="1482"/>
            </a:xfrm>
            <a:prstGeom prst="straightConnector1">
              <a:avLst/>
            </a:prstGeom>
            <a:ln w="9525" cap="flat" cmpd="sng">
              <a:solidFill>
                <a:srgbClr val="000000"/>
              </a:solidFill>
              <a:prstDash val="solid"/>
              <a:headEnd type="none" w="med" len="med"/>
              <a:tailEnd type="triangle" w="med" len="med"/>
            </a:ln>
          </p:spPr>
        </p:cxnSp>
        <p:sp>
          <p:nvSpPr>
            <p:cNvPr id="1073752817" name="Text Box 160"/>
            <p:cNvSpPr txBox="1"/>
            <p:nvPr/>
          </p:nvSpPr>
          <p:spPr>
            <a:xfrm>
              <a:off x="3312" y="5972"/>
              <a:ext cx="802" cy="272"/>
            </a:xfrm>
            <a:prstGeom prst="rect">
              <a:avLst/>
            </a:prstGeom>
            <a:noFill/>
            <a:ln w="9525">
              <a:noFill/>
            </a:ln>
          </p:spPr>
          <p:txBody>
            <a:bodyPr wrap="square" lIns="0" tIns="0" rIns="0" bIns="0"/>
            <a:lstStyle/>
            <a:p>
              <a:pPr algn="ctr"/>
              <a:r>
                <a:rPr lang="zh-CN" altLang="en-US"/>
                <a:t>选择视图</a:t>
              </a:r>
            </a:p>
            <a:p>
              <a:endParaRPr lang="zh-CN" altLang="en-US"/>
            </a:p>
          </p:txBody>
        </p:sp>
        <p:sp>
          <p:nvSpPr>
            <p:cNvPr id="1073752818" name="Text Box 165"/>
            <p:cNvSpPr txBox="1"/>
            <p:nvPr/>
          </p:nvSpPr>
          <p:spPr>
            <a:xfrm>
              <a:off x="6472" y="5539"/>
              <a:ext cx="802" cy="266"/>
            </a:xfrm>
            <a:prstGeom prst="rect">
              <a:avLst/>
            </a:prstGeom>
            <a:noFill/>
            <a:ln w="9525">
              <a:noFill/>
            </a:ln>
          </p:spPr>
          <p:txBody>
            <a:bodyPr wrap="square" lIns="0" tIns="0" rIns="0" bIns="0"/>
            <a:lstStyle/>
            <a:p>
              <a:pPr algn="ctr"/>
              <a:r>
                <a:rPr lang="zh-CN" altLang="en-US"/>
                <a:t>更新请求</a:t>
              </a:r>
            </a:p>
            <a:p>
              <a:endParaRPr lang="zh-CN" altLang="en-US"/>
            </a:p>
          </p:txBody>
        </p:sp>
        <p:sp>
          <p:nvSpPr>
            <p:cNvPr id="1073752819" name="Text Box 240"/>
            <p:cNvSpPr txBox="1"/>
            <p:nvPr/>
          </p:nvSpPr>
          <p:spPr>
            <a:xfrm>
              <a:off x="4897" y="3122"/>
              <a:ext cx="1269" cy="41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浏览器用户端</a:t>
              </a:r>
            </a:p>
            <a:p>
              <a:endParaRPr lang="zh-CN" altLang="en-US"/>
            </a:p>
          </p:txBody>
        </p:sp>
        <p:sp>
          <p:nvSpPr>
            <p:cNvPr id="1073752820" name="Text Box 247"/>
            <p:cNvSpPr txBox="1"/>
            <p:nvPr/>
          </p:nvSpPr>
          <p:spPr>
            <a:xfrm>
              <a:off x="6894" y="3544"/>
              <a:ext cx="1632" cy="278"/>
            </a:xfrm>
            <a:prstGeom prst="rect">
              <a:avLst/>
            </a:prstGeom>
            <a:noFill/>
            <a:ln w="9525">
              <a:noFill/>
            </a:ln>
          </p:spPr>
          <p:txBody>
            <a:bodyPr wrap="square" lIns="0" tIns="0" rIns="0" bIns="0"/>
            <a:lstStyle/>
            <a:p>
              <a:r>
                <a:rPr lang="zh-CN" altLang="en-US"/>
                <a:t>将结果反馈给用户端</a:t>
              </a:r>
            </a:p>
            <a:p>
              <a:endParaRPr lang="zh-CN" altLang="en-US"/>
            </a:p>
          </p:txBody>
        </p:sp>
        <p:sp>
          <p:nvSpPr>
            <p:cNvPr id="1073752821" name="Text Box 248"/>
            <p:cNvSpPr txBox="1"/>
            <p:nvPr/>
          </p:nvSpPr>
          <p:spPr>
            <a:xfrm>
              <a:off x="2452" y="3544"/>
              <a:ext cx="1591" cy="278"/>
            </a:xfrm>
            <a:prstGeom prst="rect">
              <a:avLst/>
            </a:prstGeom>
            <a:noFill/>
            <a:ln w="9525">
              <a:noFill/>
            </a:ln>
          </p:spPr>
          <p:txBody>
            <a:bodyPr wrap="square" lIns="0" tIns="0" rIns="0" bIns="0"/>
            <a:lstStyle/>
            <a:p>
              <a:r>
                <a:rPr lang="zh-CN" altLang="en-US"/>
                <a:t>用户发出HTTP请求</a:t>
              </a:r>
            </a:p>
            <a:p>
              <a:endParaRPr lang="zh-CN" altLang="en-US"/>
            </a:p>
          </p:txBody>
        </p:sp>
        <p:sp>
          <p:nvSpPr>
            <p:cNvPr id="1073752822" name="Text Box 160"/>
            <p:cNvSpPr txBox="1"/>
            <p:nvPr/>
          </p:nvSpPr>
          <p:spPr>
            <a:xfrm>
              <a:off x="5416" y="6644"/>
              <a:ext cx="802" cy="272"/>
            </a:xfrm>
            <a:prstGeom prst="rect">
              <a:avLst/>
            </a:prstGeom>
            <a:noFill/>
            <a:ln w="9525">
              <a:noFill/>
            </a:ln>
          </p:spPr>
          <p:txBody>
            <a:bodyPr wrap="square" lIns="0" tIns="0" rIns="0" bIns="0"/>
            <a:lstStyle/>
            <a:p>
              <a:pPr algn="ctr"/>
              <a:r>
                <a:rPr lang="zh-CN" altLang="en-US"/>
                <a:t>数据存取</a:t>
              </a:r>
            </a:p>
            <a:p>
              <a:endParaRPr lang="zh-CN" altLang="en-US"/>
            </a:p>
          </p:txBody>
        </p:sp>
        <p:cxnSp>
          <p:nvCxnSpPr>
            <p:cNvPr id="1073752823" name="AutoShape 111"/>
            <p:cNvCxnSpPr/>
            <p:nvPr/>
          </p:nvCxnSpPr>
          <p:spPr>
            <a:xfrm flipV="1">
              <a:off x="6010" y="5502"/>
              <a:ext cx="1712" cy="0"/>
            </a:xfrm>
            <a:prstGeom prst="straightConnector1">
              <a:avLst/>
            </a:prstGeom>
            <a:ln w="9525" cap="flat" cmpd="sng">
              <a:solidFill>
                <a:srgbClr val="000000"/>
              </a:solidFill>
              <a:prstDash val="solid"/>
              <a:headEnd type="triangle" w="med" len="med"/>
              <a:tailEnd type="none" w="med" len="med"/>
            </a:ln>
          </p:spPr>
        </p:cxnSp>
        <p:sp>
          <p:nvSpPr>
            <p:cNvPr id="1073752824" name="任意多边形 1073752823"/>
            <p:cNvSpPr/>
            <p:nvPr/>
          </p:nvSpPr>
          <p:spPr>
            <a:xfrm>
              <a:off x="2408" y="5896"/>
              <a:ext cx="6038" cy="375"/>
            </a:xfrm>
            <a:custGeom>
              <a:avLst/>
              <a:gdLst/>
              <a:ahLst/>
              <a:cxnLst/>
              <a:rect l="0" t="0" r="0" b="0"/>
              <a:pathLst>
                <a:path w="6074" h="375">
                  <a:moveTo>
                    <a:pt x="0" y="9"/>
                  </a:moveTo>
                  <a:lnTo>
                    <a:pt x="0" y="375"/>
                  </a:lnTo>
                  <a:lnTo>
                    <a:pt x="6074" y="375"/>
                  </a:lnTo>
                  <a:lnTo>
                    <a:pt x="6074" y="0"/>
                  </a:lnTo>
                </a:path>
              </a:pathLst>
            </a:custGeom>
            <a:noFill/>
            <a:ln w="9525" cap="flat" cmpd="sng">
              <a:solidFill>
                <a:srgbClr val="000000"/>
              </a:solidFill>
              <a:prstDash val="solid"/>
              <a:headEnd type="none" w="med" len="med"/>
              <a:tailEnd type="triangle" w="med" len="med"/>
            </a:ln>
          </p:spPr>
          <p:txBody>
            <a:bodyPr/>
            <a:lstStyle/>
            <a:p>
              <a:endParaRPr lang="zh-CN" altLang="en-US"/>
            </a:p>
          </p:txBody>
        </p:sp>
        <p:sp>
          <p:nvSpPr>
            <p:cNvPr id="1073752825" name="Text Box 161"/>
            <p:cNvSpPr txBox="1"/>
            <p:nvPr/>
          </p:nvSpPr>
          <p:spPr>
            <a:xfrm>
              <a:off x="7731" y="4732"/>
              <a:ext cx="1439" cy="1162"/>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视图V</a:t>
              </a:r>
            </a:p>
            <a:p>
              <a:r>
                <a:rPr lang="zh-CN" altLang="en-US"/>
                <a:t>根据模型的数据更新并显示控制器所选择的视图</a:t>
              </a:r>
            </a:p>
            <a:p>
              <a:endParaRPr lang="zh-CN" altLang="en-US"/>
            </a:p>
          </p:txBody>
        </p:sp>
        <p:sp>
          <p:nvSpPr>
            <p:cNvPr id="1073752826" name="Text Box 164"/>
            <p:cNvSpPr txBox="1"/>
            <p:nvPr/>
          </p:nvSpPr>
          <p:spPr>
            <a:xfrm>
              <a:off x="4753" y="4732"/>
              <a:ext cx="1253" cy="1162"/>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模型M</a:t>
              </a:r>
            </a:p>
            <a:p>
              <a:r>
                <a:rPr lang="zh-CN" altLang="en-US"/>
                <a:t>封装功能</a:t>
              </a:r>
            </a:p>
            <a:p>
              <a:r>
                <a:rPr lang="zh-CN" altLang="en-US"/>
                <a:t>封装内容对象</a:t>
              </a:r>
            </a:p>
            <a:p>
              <a:endParaRPr lang="zh-CN" altLang="en-US"/>
            </a:p>
          </p:txBody>
        </p:sp>
      </p:grpSp>
      <p:sp>
        <p:nvSpPr>
          <p:cNvPr id="3" name="文本框 2"/>
          <p:cNvSpPr txBox="1"/>
          <p:nvPr/>
        </p:nvSpPr>
        <p:spPr>
          <a:xfrm>
            <a:off x="7074535" y="6006465"/>
            <a:ext cx="3378200" cy="365760"/>
          </a:xfrm>
          <a:prstGeom prst="rect">
            <a:avLst/>
          </a:prstGeom>
          <a:noFill/>
        </p:spPr>
        <p:txBody>
          <a:bodyPr wrap="square" rtlCol="0" anchor="t">
            <a:spAutoFit/>
          </a:bodyPr>
          <a:lstStyle/>
          <a:p>
            <a:r>
              <a:rPr lang="zh-CN" altLang="en-US" dirty="0"/>
              <a:t>图8-10  MVC工作流程图</a:t>
            </a:r>
          </a:p>
        </p:txBody>
      </p:sp>
    </p:spTree>
    <p:custDataLst>
      <p:tags r:id="rId1"/>
    </p:custDataLst>
  </p:cSld>
  <p:clrMapOvr>
    <a:masterClrMapping/>
  </p:clrMapOvr>
  <p:transition>
    <p:wheel spokes="3"/>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8.5.4 </a:t>
            </a:r>
            <a:r>
              <a:rPr lang="zh-CN" altLang="en-US" sz="2400" dirty="0">
                <a:solidFill>
                  <a:schemeClr val="tx1"/>
                </a:solidFill>
              </a:rPr>
              <a:t>模型－视图－控制器模式</a:t>
            </a:r>
          </a:p>
        </p:txBody>
      </p:sp>
      <p:grpSp>
        <p:nvGrpSpPr>
          <p:cNvPr id="3" name="组合 2"/>
          <p:cNvGrpSpPr/>
          <p:nvPr/>
        </p:nvGrpSpPr>
        <p:grpSpPr>
          <a:xfrm>
            <a:off x="848995" y="1969770"/>
            <a:ext cx="10928985" cy="4466590"/>
            <a:chOff x="1337" y="3102"/>
            <a:chExt cx="17211" cy="7034"/>
          </a:xfrm>
        </p:grpSpPr>
        <p:sp>
          <p:nvSpPr>
            <p:cNvPr id="16" name="Oval 15"/>
            <p:cNvSpPr>
              <a:spLocks noChangeArrowheads="1"/>
            </p:cNvSpPr>
            <p:nvPr>
              <p:custDataLst>
                <p:tags r:id="rId2"/>
              </p:custDataLst>
            </p:nvPr>
          </p:nvSpPr>
          <p:spPr bwMode="auto">
            <a:xfrm>
              <a:off x="1609" y="3997"/>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3" name="Line 16"/>
            <p:cNvSpPr>
              <a:spLocks noChangeShapeType="1"/>
            </p:cNvSpPr>
            <p:nvPr>
              <p:custDataLst>
                <p:tags r:id="rId3"/>
              </p:custDataLst>
            </p:nvPr>
          </p:nvSpPr>
          <p:spPr bwMode="gray">
            <a:xfrm>
              <a:off x="1337" y="6514"/>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4" name="Line 17"/>
            <p:cNvSpPr>
              <a:spLocks noChangeShapeType="1"/>
            </p:cNvSpPr>
            <p:nvPr>
              <p:custDataLst>
                <p:tags r:id="rId4"/>
              </p:custDataLst>
            </p:nvPr>
          </p:nvSpPr>
          <p:spPr bwMode="gray">
            <a:xfrm>
              <a:off x="4080" y="3627"/>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5" name="Oval 10"/>
            <p:cNvSpPr>
              <a:spLocks noChangeArrowheads="1"/>
            </p:cNvSpPr>
            <p:nvPr>
              <p:custDataLst>
                <p:tags r:id="rId5"/>
              </p:custDataLst>
            </p:nvPr>
          </p:nvSpPr>
          <p:spPr bwMode="gray">
            <a:xfrm>
              <a:off x="1881" y="4281"/>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7" name="Oval 13"/>
            <p:cNvSpPr>
              <a:spLocks noChangeArrowheads="1"/>
            </p:cNvSpPr>
            <p:nvPr>
              <p:custDataLst>
                <p:tags r:id="rId6"/>
              </p:custDataLst>
            </p:nvPr>
          </p:nvSpPr>
          <p:spPr bwMode="gray">
            <a:xfrm>
              <a:off x="2383" y="4812"/>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51" name="KSO_GT1"/>
            <p:cNvSpPr>
              <a:spLocks noChangeArrowheads="1"/>
            </p:cNvSpPr>
            <p:nvPr>
              <p:custDataLst>
                <p:tags r:id="rId7"/>
              </p:custDataLst>
            </p:nvPr>
          </p:nvSpPr>
          <p:spPr bwMode="gray">
            <a:xfrm>
              <a:off x="2989" y="5430"/>
              <a:ext cx="2155" cy="2201"/>
            </a:xfrm>
            <a:prstGeom prst="ellipse">
              <a:avLst/>
            </a:prstGeom>
            <a:solidFill>
              <a:srgbClr val="4F5A71"/>
            </a:solidFill>
            <a:ln>
              <a:noFill/>
            </a:ln>
            <a:effectLst/>
          </p:spPr>
          <p:txBody>
            <a:bodyPr wrap="square" lIns="0" tIns="0" rIns="0" bIns="0" anchor="ctr">
              <a:normAutofit fontScale="95000" lnSpcReduction="10000"/>
            </a:bodyPr>
            <a:lstStyle/>
            <a:p>
              <a:pPr algn="ctr">
                <a:defRPr/>
              </a:pPr>
              <a:r>
                <a:rPr lang="en-US" altLang="zh-CN" sz="24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sym typeface="+mn-ea"/>
                </a:rPr>
                <a:t>MVC的工作流程</a:t>
              </a:r>
              <a:endParaRPr lang="en-US" altLang="zh-CN" sz="24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endParaRPr>
            </a:p>
          </p:txBody>
        </p:sp>
        <p:sp>
          <p:nvSpPr>
            <p:cNvPr id="30" name="Oval 19"/>
            <p:cNvSpPr>
              <a:spLocks noChangeArrowheads="1"/>
            </p:cNvSpPr>
            <p:nvPr>
              <p:custDataLst>
                <p:tags r:id="rId8"/>
              </p:custDataLst>
            </p:nvPr>
          </p:nvSpPr>
          <p:spPr bwMode="gray">
            <a:xfrm>
              <a:off x="4744" y="3927"/>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1" name="文本框 20"/>
            <p:cNvSpPr txBox="1"/>
            <p:nvPr>
              <p:custDataLst>
                <p:tags r:id="rId9"/>
              </p:custDataLst>
            </p:nvPr>
          </p:nvSpPr>
          <p:spPr>
            <a:xfrm>
              <a:off x="5424" y="3102"/>
              <a:ext cx="12674" cy="1457"/>
            </a:xfrm>
            <a:prstGeom prst="rect">
              <a:avLst/>
            </a:prstGeom>
            <a:noFill/>
          </p:spPr>
          <p:txBody>
            <a:bodyPr wrap="square" lIns="0" rIns="0">
              <a:normAutofit/>
            </a:bodyPr>
            <a:lstStyle/>
            <a:p>
              <a:pPr>
                <a:lnSpc>
                  <a:spcPct val="130000"/>
                </a:lnSpc>
                <a:spcBef>
                  <a:spcPts val="600"/>
                </a:spcBef>
                <a:defRPr/>
              </a:pPr>
              <a:r>
                <a:rPr dirty="0"/>
                <a:t>（1）控制器接收来自远程客户端的HTTP请求，将其转换为对模型的业务逻辑处理功能的调用。</a:t>
              </a:r>
            </a:p>
          </p:txBody>
        </p:sp>
        <p:sp>
          <p:nvSpPr>
            <p:cNvPr id="19" name="Oval 19"/>
            <p:cNvSpPr>
              <a:spLocks noChangeArrowheads="1"/>
            </p:cNvSpPr>
            <p:nvPr>
              <p:custDataLst>
                <p:tags r:id="rId10"/>
              </p:custDataLst>
            </p:nvPr>
          </p:nvSpPr>
          <p:spPr bwMode="gray">
            <a:xfrm>
              <a:off x="5822" y="4710"/>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2" name="文本框 21"/>
            <p:cNvSpPr txBox="1"/>
            <p:nvPr>
              <p:custDataLst>
                <p:tags r:id="rId11"/>
              </p:custDataLst>
            </p:nvPr>
          </p:nvSpPr>
          <p:spPr>
            <a:xfrm>
              <a:off x="6823" y="4323"/>
              <a:ext cx="11533" cy="1250"/>
            </a:xfrm>
            <a:prstGeom prst="rect">
              <a:avLst/>
            </a:prstGeom>
            <a:noFill/>
          </p:spPr>
          <p:txBody>
            <a:bodyPr wrap="square" lIns="0" rIns="0">
              <a:normAutofit/>
            </a:bodyPr>
            <a:lstStyle/>
            <a:p>
              <a:pPr>
                <a:lnSpc>
                  <a:spcPct val="130000"/>
                </a:lnSpc>
                <a:spcBef>
                  <a:spcPts val="600"/>
                </a:spcBef>
                <a:defRPr/>
              </a:pPr>
              <a:r>
                <a:rPr dirty="0"/>
                <a:t>（2）模型进行业务逻辑处理，在处理过程中可访问位于后端的数据库，处理完成后模型将结果送给控制器。</a:t>
              </a:r>
            </a:p>
          </p:txBody>
        </p:sp>
        <p:sp>
          <p:nvSpPr>
            <p:cNvPr id="20" name="Oval 19"/>
            <p:cNvSpPr>
              <a:spLocks noChangeArrowheads="1"/>
            </p:cNvSpPr>
            <p:nvPr>
              <p:custDataLst>
                <p:tags r:id="rId12"/>
              </p:custDataLst>
            </p:nvPr>
          </p:nvSpPr>
          <p:spPr bwMode="gray">
            <a:xfrm>
              <a:off x="6311" y="5745"/>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 name="文本框 4"/>
            <p:cNvSpPr txBox="1"/>
            <p:nvPr>
              <p:custDataLst>
                <p:tags r:id="rId13"/>
              </p:custDataLst>
            </p:nvPr>
          </p:nvSpPr>
          <p:spPr>
            <a:xfrm>
              <a:off x="7098" y="5430"/>
              <a:ext cx="11087" cy="1430"/>
            </a:xfrm>
            <a:prstGeom prst="rect">
              <a:avLst/>
            </a:prstGeom>
            <a:noFill/>
          </p:spPr>
          <p:txBody>
            <a:bodyPr wrap="square" lIns="0" rIns="0">
              <a:normAutofit/>
            </a:bodyPr>
            <a:lstStyle/>
            <a:p>
              <a:pPr>
                <a:lnSpc>
                  <a:spcPct val="130000"/>
                </a:lnSpc>
                <a:spcBef>
                  <a:spcPts val="600"/>
                </a:spcBef>
                <a:defRPr/>
              </a:pPr>
              <a:r>
                <a:rPr dirty="0"/>
                <a:t>（3）控制器根据模型的处理结果创建新的视图、选择其他视图或更新已有视图。</a:t>
              </a:r>
            </a:p>
          </p:txBody>
        </p:sp>
        <p:sp>
          <p:nvSpPr>
            <p:cNvPr id="23" name="Oval 19"/>
            <p:cNvSpPr>
              <a:spLocks noChangeArrowheads="1"/>
            </p:cNvSpPr>
            <p:nvPr>
              <p:custDataLst>
                <p:tags r:id="rId14"/>
              </p:custDataLst>
            </p:nvPr>
          </p:nvSpPr>
          <p:spPr bwMode="gray">
            <a:xfrm>
              <a:off x="6325" y="6861"/>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6" name="文本框 5"/>
            <p:cNvSpPr txBox="1"/>
            <p:nvPr>
              <p:custDataLst>
                <p:tags r:id="rId15"/>
              </p:custDataLst>
            </p:nvPr>
          </p:nvSpPr>
          <p:spPr>
            <a:xfrm>
              <a:off x="7274" y="6628"/>
              <a:ext cx="11274" cy="1299"/>
            </a:xfrm>
            <a:prstGeom prst="rect">
              <a:avLst/>
            </a:prstGeom>
            <a:noFill/>
          </p:spPr>
          <p:txBody>
            <a:bodyPr wrap="square" lIns="0" rIns="0">
              <a:normAutofit/>
            </a:bodyPr>
            <a:lstStyle/>
            <a:p>
              <a:pPr>
                <a:lnSpc>
                  <a:spcPct val="130000"/>
                </a:lnSpc>
                <a:spcBef>
                  <a:spcPts val="600"/>
                </a:spcBef>
                <a:defRPr/>
              </a:pPr>
              <a:r>
                <a:rPr dirty="0"/>
                <a:t>（4）视图在接收控制器的命令后从模型中获取数据并生成HTTP应答，主要内容为HTML数据。</a:t>
              </a:r>
            </a:p>
          </p:txBody>
        </p:sp>
        <p:sp>
          <p:nvSpPr>
            <p:cNvPr id="24" name="Oval 19"/>
            <p:cNvSpPr>
              <a:spLocks noChangeArrowheads="1"/>
            </p:cNvSpPr>
            <p:nvPr>
              <p:custDataLst>
                <p:tags r:id="rId16"/>
              </p:custDataLst>
            </p:nvPr>
          </p:nvSpPr>
          <p:spPr bwMode="gray">
            <a:xfrm>
              <a:off x="5805" y="7926"/>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8" name="文本框 37"/>
            <p:cNvSpPr txBox="1"/>
            <p:nvPr>
              <p:custDataLst>
                <p:tags r:id="rId17"/>
              </p:custDataLst>
            </p:nvPr>
          </p:nvSpPr>
          <p:spPr>
            <a:xfrm>
              <a:off x="6721" y="7722"/>
              <a:ext cx="11464" cy="1287"/>
            </a:xfrm>
            <a:prstGeom prst="rect">
              <a:avLst/>
            </a:prstGeom>
            <a:noFill/>
          </p:spPr>
          <p:txBody>
            <a:bodyPr wrap="square" lIns="0" rIns="0">
              <a:normAutofit/>
            </a:bodyPr>
            <a:lstStyle/>
            <a:p>
              <a:pPr>
                <a:lnSpc>
                  <a:spcPct val="130000"/>
                </a:lnSpc>
                <a:spcBef>
                  <a:spcPts val="600"/>
                </a:spcBef>
                <a:defRPr/>
              </a:pPr>
              <a:r>
                <a:rPr lang="zh-CN" altLang="en-US" dirty="0"/>
                <a:t>（5）远程客户端的Web浏览器接收并解析来自视图的HTML数据，呈现Web软件的用户界面。</a:t>
              </a:r>
            </a:p>
          </p:txBody>
        </p:sp>
        <p:sp>
          <p:nvSpPr>
            <p:cNvPr id="25" name="Oval 19"/>
            <p:cNvSpPr>
              <a:spLocks noChangeArrowheads="1"/>
            </p:cNvSpPr>
            <p:nvPr>
              <p:custDataLst>
                <p:tags r:id="rId18"/>
              </p:custDataLst>
            </p:nvPr>
          </p:nvSpPr>
          <p:spPr bwMode="gray">
            <a:xfrm>
              <a:off x="4685" y="8682"/>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9" name="文本框 38"/>
            <p:cNvSpPr txBox="1"/>
            <p:nvPr>
              <p:custDataLst>
                <p:tags r:id="rId19"/>
              </p:custDataLst>
            </p:nvPr>
          </p:nvSpPr>
          <p:spPr>
            <a:xfrm>
              <a:off x="5337" y="8815"/>
              <a:ext cx="12848" cy="1321"/>
            </a:xfrm>
            <a:prstGeom prst="rect">
              <a:avLst/>
            </a:prstGeom>
            <a:noFill/>
          </p:spPr>
          <p:txBody>
            <a:bodyPr wrap="square" lIns="0" rIns="0">
              <a:normAutofit/>
            </a:bodyPr>
            <a:lstStyle/>
            <a:p>
              <a:pPr>
                <a:lnSpc>
                  <a:spcPct val="130000"/>
                </a:lnSpc>
                <a:spcBef>
                  <a:spcPts val="600"/>
                </a:spcBef>
                <a:defRPr/>
              </a:pPr>
              <a:r>
                <a:rPr lang="zh-CN" altLang="en-US" dirty="0"/>
                <a:t>（6）当用户在浏览器的操作界面发出HTTP请求时，重复上述操作。</a:t>
              </a:r>
            </a:p>
          </p:txBody>
        </p:sp>
      </p:grpSp>
    </p:spTree>
    <p:custDataLst>
      <p:tags r:id="rId1"/>
    </p:custDataLst>
  </p:cSld>
  <p:clrMapOvr>
    <a:masterClrMapping/>
  </p:clrMapOvr>
  <p:transition>
    <p:wheel spokes="3"/>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8.5.5 </a:t>
            </a:r>
            <a:r>
              <a:rPr lang="zh-CN" sz="2400" dirty="0">
                <a:solidFill>
                  <a:schemeClr val="tx1"/>
                </a:solidFill>
              </a:rPr>
              <a:t>装饰者模式</a:t>
            </a:r>
          </a:p>
        </p:txBody>
      </p:sp>
      <p:cxnSp>
        <p:nvCxnSpPr>
          <p:cNvPr id="12" name="MH_Other_1"/>
          <p:cNvCxnSpPr/>
          <p:nvPr>
            <p:custDataLst>
              <p:tags r:id="rId2"/>
            </p:custDataLst>
          </p:nvPr>
        </p:nvCxnSpPr>
        <p:spPr>
          <a:xfrm>
            <a:off x="5888990" y="2212340"/>
            <a:ext cx="30480" cy="3303905"/>
          </a:xfrm>
          <a:prstGeom prst="line">
            <a:avLst/>
          </a:prstGeom>
          <a:ln>
            <a:solidFill>
              <a:srgbClr val="6ACBF6"/>
            </a:solidFill>
            <a:prstDash val="sysDash"/>
          </a:ln>
        </p:spPr>
        <p:style>
          <a:lnRef idx="1">
            <a:schemeClr val="accent1"/>
          </a:lnRef>
          <a:fillRef idx="0">
            <a:schemeClr val="accent1"/>
          </a:fillRef>
          <a:effectRef idx="0">
            <a:schemeClr val="accent1"/>
          </a:effectRef>
          <a:fontRef idx="minor">
            <a:schemeClr val="tx1"/>
          </a:fontRef>
        </p:style>
      </p:cxnSp>
      <p:pic>
        <p:nvPicPr>
          <p:cNvPr id="3" name="图片 2" descr="A000220150322F34PPIC"/>
          <p:cNvPicPr>
            <a:picLocks noChangeAspect="1"/>
          </p:cNvPicPr>
          <p:nvPr/>
        </p:nvPicPr>
        <p:blipFill>
          <a:blip r:embed="rId6" cstate="print"/>
          <a:stretch>
            <a:fillRect/>
          </a:stretch>
        </p:blipFill>
        <p:spPr>
          <a:xfrm>
            <a:off x="6049010" y="2175510"/>
            <a:ext cx="5734050" cy="3225165"/>
          </a:xfrm>
          <a:prstGeom prst="rect">
            <a:avLst/>
          </a:prstGeom>
        </p:spPr>
      </p:pic>
      <p:sp>
        <p:nvSpPr>
          <p:cNvPr id="4" name="文本框 3"/>
          <p:cNvSpPr txBox="1"/>
          <p:nvPr/>
        </p:nvSpPr>
        <p:spPr>
          <a:xfrm>
            <a:off x="809625" y="2790190"/>
            <a:ext cx="4895850" cy="2148840"/>
          </a:xfrm>
          <a:prstGeom prst="rect">
            <a:avLst/>
          </a:prstGeom>
          <a:noFill/>
        </p:spPr>
        <p:txBody>
          <a:bodyPr wrap="square" rtlCol="0" anchor="t">
            <a:spAutoFit/>
          </a:bodyPr>
          <a:lstStyle/>
          <a:p>
            <a:pPr fontAlgn="auto">
              <a:lnSpc>
                <a:spcPct val="150000"/>
              </a:lnSpc>
            </a:pPr>
            <a:r>
              <a:rPr lang="en-US" altLang="zh-CN">
                <a:latin typeface="微软雅黑" panose="020B0503020204020204" charset="-122"/>
                <a:ea typeface="微软雅黑" panose="020B0503020204020204" charset="-122"/>
              </a:rPr>
              <a:t>       </a:t>
            </a:r>
            <a:r>
              <a:rPr lang="zh-CN" altLang="en-US">
                <a:latin typeface="微软雅黑" panose="020B0503020204020204" charset="-122"/>
                <a:ea typeface="微软雅黑" panose="020B0503020204020204" charset="-122"/>
              </a:rPr>
              <a:t>装饰者模式是在不必改变原类文件和使用继承的情况下，动态地扩展一个对象的功能。它是通过创建一个包装对象也就是装饰，来包装真实的对象。装饰者模式的关键是装饰基类的每一个特征。</a:t>
            </a:r>
          </a:p>
        </p:txBody>
      </p:sp>
      <p:sp>
        <p:nvSpPr>
          <p:cNvPr id="10" name="MH_Other_4"/>
          <p:cNvSpPr/>
          <p:nvPr>
            <p:custDataLst>
              <p:tags r:id="rId3"/>
            </p:custDataLst>
          </p:nvPr>
        </p:nvSpPr>
        <p:spPr>
          <a:xfrm>
            <a:off x="0" y="2580640"/>
            <a:ext cx="809625" cy="479425"/>
          </a:xfrm>
          <a:prstGeom prst="rect">
            <a:avLst/>
          </a:prstGeom>
          <a:solidFill>
            <a:srgbClr val="4981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Tree>
    <p:custDataLst>
      <p:tags r:id="rId1"/>
    </p:custDataLst>
  </p:cSld>
  <p:clrMapOvr>
    <a:masterClrMapping/>
  </p:clrMapOvr>
  <p:transition>
    <p:wheel spokes="3"/>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8.5.5 </a:t>
            </a:r>
            <a:r>
              <a:rPr lang="zh-CN" altLang="en-US" sz="2400" dirty="0">
                <a:solidFill>
                  <a:schemeClr val="tx1"/>
                </a:solidFill>
              </a:rPr>
              <a:t>装饰者模式</a:t>
            </a:r>
            <a:endParaRPr sz="2400" dirty="0">
              <a:solidFill>
                <a:schemeClr val="tx1"/>
              </a:solidFill>
            </a:endParaRPr>
          </a:p>
        </p:txBody>
      </p:sp>
      <p:grpSp>
        <p:nvGrpSpPr>
          <p:cNvPr id="3" name="组合 2"/>
          <p:cNvGrpSpPr/>
          <p:nvPr/>
        </p:nvGrpSpPr>
        <p:grpSpPr>
          <a:xfrm>
            <a:off x="1100455" y="2499995"/>
            <a:ext cx="9990455" cy="3246378"/>
            <a:chOff x="5129" y="5656"/>
            <a:chExt cx="12409" cy="3785"/>
          </a:xfrm>
        </p:grpSpPr>
        <p:grpSp>
          <p:nvGrpSpPr>
            <p:cNvPr id="36" name="组合 35"/>
            <p:cNvGrpSpPr/>
            <p:nvPr/>
          </p:nvGrpSpPr>
          <p:grpSpPr>
            <a:xfrm>
              <a:off x="13345" y="6656"/>
              <a:ext cx="4193" cy="2785"/>
              <a:chOff x="5868863" y="3120200"/>
              <a:chExt cx="3095578" cy="1532252"/>
            </a:xfrm>
          </p:grpSpPr>
          <p:sp>
            <p:nvSpPr>
              <p:cNvPr id="38" name="圆角矩形标注 37"/>
              <p:cNvSpPr/>
              <p:nvPr/>
            </p:nvSpPr>
            <p:spPr>
              <a:xfrm>
                <a:off x="5868863" y="3375290"/>
                <a:ext cx="3095578" cy="1277162"/>
              </a:xfrm>
              <a:prstGeom prst="wedgeRoundRectCallout">
                <a:avLst>
                  <a:gd name="adj1" fmla="val -63928"/>
                  <a:gd name="adj2" fmla="val 7929"/>
                  <a:gd name="adj3" fmla="val 16667"/>
                </a:avLst>
              </a:prstGeom>
            </p:spPr>
            <p:style>
              <a:lnRef idx="2">
                <a:schemeClr val="accent1"/>
              </a:lnRef>
              <a:fillRef idx="1">
                <a:schemeClr val="lt1"/>
              </a:fillRef>
              <a:effectRef idx="0">
                <a:schemeClr val="accent1"/>
              </a:effectRef>
              <a:fontRef idx="minor">
                <a:schemeClr val="dk1"/>
              </a:fontRef>
            </p:style>
            <p:txBody>
              <a:bodyPr anchor="ctr"/>
              <a:lstStyle/>
              <a:p>
                <a:pPr algn="ctr" defTabSz="1234440">
                  <a:defRPr/>
                </a:pPr>
                <a:endParaRPr lang="zh-CN" altLang="en-US"/>
              </a:p>
            </p:txBody>
          </p:sp>
          <p:sp>
            <p:nvSpPr>
              <p:cNvPr id="39" name="TextBox 17"/>
              <p:cNvSpPr txBox="1"/>
              <p:nvPr/>
            </p:nvSpPr>
            <p:spPr>
              <a:xfrm>
                <a:off x="5991094" y="3120200"/>
                <a:ext cx="2886003" cy="1480961"/>
              </a:xfrm>
              <a:prstGeom prst="rect">
                <a:avLst/>
              </a:prstGeom>
              <a:noFill/>
            </p:spPr>
            <p:txBody>
              <a:bodyPr wrap="square" rtlCol="0">
                <a:spAutoFit/>
              </a:bodyPr>
              <a:lstStyle/>
              <a:p>
                <a:pPr>
                  <a:lnSpc>
                    <a:spcPct val="150000"/>
                  </a:lnSpc>
                </a:pPr>
                <a:endParaRPr lang="en-US" altLang="zh-CN" sz="2400" dirty="0">
                  <a:solidFill>
                    <a:schemeClr val="tx1">
                      <a:lumMod val="65000"/>
                      <a:lumOff val="35000"/>
                    </a:schemeClr>
                  </a:solidFill>
                  <a:latin typeface="微软雅黑" panose="020B0503020204020204" charset="-122"/>
                  <a:ea typeface="微软雅黑" panose="020B0503020204020204" charset="-122"/>
                </a:endParaRPr>
              </a:p>
              <a:p>
                <a:pPr>
                  <a:lnSpc>
                    <a:spcPct val="150000"/>
                  </a:lnSpc>
                </a:pPr>
                <a:r>
                  <a:rPr lang="zh-CN" altLang="zh-CN" sz="2400" dirty="0">
                    <a:solidFill>
                      <a:schemeClr val="tx1">
                        <a:lumMod val="65000"/>
                        <a:lumOff val="35000"/>
                      </a:schemeClr>
                    </a:solidFill>
                    <a:latin typeface="微软雅黑" panose="020B0503020204020204" charset="-122"/>
                    <a:ea typeface="微软雅黑" panose="020B0503020204020204" charset="-122"/>
                  </a:rPr>
                  <a:t>       </a:t>
                </a:r>
                <a:r>
                  <a:rPr lang="zh-CN" altLang="zh-CN" sz="2400" dirty="0">
                    <a:solidFill>
                      <a:schemeClr val="tx2">
                        <a:lumMod val="75000"/>
                      </a:schemeClr>
                    </a:solidFill>
                    <a:latin typeface="微软雅黑" panose="020B0503020204020204" charset="-122"/>
                    <a:ea typeface="微软雅黑" panose="020B0503020204020204" charset="-122"/>
                  </a:rPr>
                  <a:t>类设计时要注意对扩展开放，对修改关闭。</a:t>
                </a:r>
              </a:p>
            </p:txBody>
          </p:sp>
        </p:grpSp>
        <p:pic>
          <p:nvPicPr>
            <p:cNvPr id="41" name="图片 19" descr="administrator.png"/>
            <p:cNvPicPr>
              <a:picLocks noChangeAspect="1"/>
            </p:cNvPicPr>
            <p:nvPr/>
          </p:nvPicPr>
          <p:blipFill>
            <a:blip r:embed="rId4" cstate="print"/>
            <a:srcRect/>
            <a:stretch>
              <a:fillRect/>
            </a:stretch>
          </p:blipFill>
          <p:spPr bwMode="auto">
            <a:xfrm>
              <a:off x="9831" y="6211"/>
              <a:ext cx="3225" cy="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2" name="组合 41"/>
            <p:cNvGrpSpPr/>
            <p:nvPr/>
          </p:nvGrpSpPr>
          <p:grpSpPr>
            <a:xfrm>
              <a:off x="5129" y="5656"/>
              <a:ext cx="4361" cy="3780"/>
              <a:chOff x="179263" y="2633112"/>
              <a:chExt cx="3097111" cy="2399952"/>
            </a:xfrm>
          </p:grpSpPr>
          <p:sp>
            <p:nvSpPr>
              <p:cNvPr id="43" name="圆角矩形标注 42"/>
              <p:cNvSpPr/>
              <p:nvPr/>
            </p:nvSpPr>
            <p:spPr>
              <a:xfrm>
                <a:off x="179263" y="2633112"/>
                <a:ext cx="3097111" cy="2399952"/>
              </a:xfrm>
              <a:prstGeom prst="wedgeRoundRectCallout">
                <a:avLst>
                  <a:gd name="adj1" fmla="val 62636"/>
                  <a:gd name="adj2" fmla="val 8421"/>
                  <a:gd name="adj3" fmla="val 16667"/>
                </a:avLst>
              </a:prstGeom>
            </p:spPr>
            <p:style>
              <a:lnRef idx="2">
                <a:schemeClr val="accent1"/>
              </a:lnRef>
              <a:fillRef idx="1">
                <a:schemeClr val="lt1"/>
              </a:fillRef>
              <a:effectRef idx="0">
                <a:schemeClr val="accent1"/>
              </a:effectRef>
              <a:fontRef idx="minor">
                <a:schemeClr val="dk1"/>
              </a:fontRef>
            </p:style>
            <p:txBody>
              <a:bodyPr anchor="ctr"/>
              <a:lstStyle/>
              <a:p>
                <a:pPr algn="ctr" defTabSz="1234440">
                  <a:defRPr/>
                </a:pPr>
                <a:endParaRPr lang="zh-CN" altLang="en-US"/>
              </a:p>
            </p:txBody>
          </p:sp>
          <p:sp>
            <p:nvSpPr>
              <p:cNvPr id="44" name="TextBox 2"/>
              <p:cNvSpPr txBox="1"/>
              <p:nvPr/>
            </p:nvSpPr>
            <p:spPr>
              <a:xfrm>
                <a:off x="244500" y="2643877"/>
                <a:ext cx="2959348" cy="2200152"/>
              </a:xfrm>
              <a:prstGeom prst="rect">
                <a:avLst/>
              </a:prstGeom>
              <a:noFill/>
            </p:spPr>
            <p:txBody>
              <a:bodyPr wrap="square" rtlCol="0">
                <a:spAutoFit/>
              </a:bodyPr>
              <a:lstStyle/>
              <a:p>
                <a:pPr>
                  <a:lnSpc>
                    <a:spcPct val="150000"/>
                  </a:lnSpc>
                </a:pPr>
                <a:r>
                  <a:rPr lang="en-US" altLang="zh-CN" dirty="0">
                    <a:solidFill>
                      <a:schemeClr val="tx1">
                        <a:lumMod val="65000"/>
                        <a:lumOff val="35000"/>
                      </a:schemeClr>
                    </a:solidFill>
                    <a:latin typeface="微软雅黑" panose="020B0503020204020204" charset="-122"/>
                    <a:ea typeface="微软雅黑" panose="020B0503020204020204" charset="-122"/>
                  </a:rPr>
                  <a:t>       </a:t>
                </a:r>
                <a:r>
                  <a:rPr lang="zh-CN" altLang="zh-CN" dirty="0">
                    <a:solidFill>
                      <a:schemeClr val="tx2">
                        <a:lumMod val="75000"/>
                      </a:schemeClr>
                    </a:solidFill>
                    <a:latin typeface="微软雅黑" panose="020B0503020204020204" charset="-122"/>
                    <a:ea typeface="微软雅黑" panose="020B0503020204020204" charset="-122"/>
                  </a:rPr>
                  <a:t>多用组合，少用继承。利用继承设计子类的行为，是在编译时静态决定的，而且所有的子类都会继承到相同的行为。如果能够利用组合的做法扩展对象的行为，就可以在运行时动态地进行扩展。</a:t>
                </a:r>
              </a:p>
            </p:txBody>
          </p:sp>
        </p:grpSp>
      </p:grpSp>
      <p:grpSp>
        <p:nvGrpSpPr>
          <p:cNvPr id="12" name="组合 11"/>
          <p:cNvGrpSpPr/>
          <p:nvPr/>
        </p:nvGrpSpPr>
        <p:grpSpPr>
          <a:xfrm>
            <a:off x="7886700" y="1845945"/>
            <a:ext cx="2628900" cy="1040130"/>
            <a:chOff x="881" y="2735"/>
            <a:chExt cx="4140" cy="1638"/>
          </a:xfrm>
        </p:grpSpPr>
        <p:sp>
          <p:nvSpPr>
            <p:cNvPr id="13" name="圆角矩形"/>
            <p:cNvSpPr/>
            <p:nvPr/>
          </p:nvSpPr>
          <p:spPr>
            <a:xfrm>
              <a:off x="1188" y="3071"/>
              <a:ext cx="3833" cy="1302"/>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15" name="文本框 34"/>
            <p:cNvSpPr txBox="1"/>
            <p:nvPr/>
          </p:nvSpPr>
          <p:spPr>
            <a:xfrm>
              <a:off x="1597" y="3217"/>
              <a:ext cx="3289" cy="1105"/>
            </a:xfrm>
            <a:prstGeom prst="rect">
              <a:avLst/>
            </a:prstGeom>
            <a:noFill/>
          </p:spPr>
          <p:txBody>
            <a:bodyPr wrap="square" rtlCol="0">
              <a:spAutoFit/>
            </a:bodyPr>
            <a:lstStyle/>
            <a:p>
              <a:pPr>
                <a:lnSpc>
                  <a:spcPct val="110000"/>
                </a:lnSpc>
              </a:pPr>
              <a:r>
                <a:rPr lang="zh-CN" altLang="zh-CN" dirty="0">
                  <a:latin typeface="微软雅黑" panose="020B0503020204020204" charset="-122"/>
                  <a:ea typeface="微软雅黑" panose="020B0503020204020204" charset="-122"/>
                  <a:sym typeface="+mn-ea"/>
                </a:rPr>
                <a:t>装饰者模式的设计原则</a:t>
              </a:r>
              <a:r>
                <a:rPr lang="zh-CN" altLang="en-US" dirty="0">
                  <a:latin typeface="微软雅黑" panose="020B0503020204020204" charset="-122"/>
                  <a:ea typeface="微软雅黑" panose="020B0503020204020204" charset="-122"/>
                  <a:sym typeface="+mn-ea"/>
                </a:rPr>
                <a:t>：</a:t>
              </a:r>
              <a:endParaRPr lang="zh-CN" dirty="0">
                <a:latin typeface="微软雅黑" panose="020B0503020204020204" charset="-122"/>
                <a:ea typeface="微软雅黑" panose="020B0503020204020204" charset="-122"/>
                <a:sym typeface="+mn-ea"/>
              </a:endParaRPr>
            </a:p>
          </p:txBody>
        </p:sp>
      </p:grpSp>
    </p:spTree>
    <p:custDataLst>
      <p:tags r:id="rId1"/>
    </p:custDataLst>
  </p:cSld>
  <p:clrMapOvr>
    <a:masterClrMapping/>
  </p:clrMapOvr>
  <p:transition>
    <p:wheel spokes="3"/>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8.5.5 </a:t>
            </a:r>
            <a:r>
              <a:rPr lang="zh-CN" altLang="en-US" sz="2400" dirty="0">
                <a:solidFill>
                  <a:schemeClr val="tx1"/>
                </a:solidFill>
              </a:rPr>
              <a:t>装饰者模式</a:t>
            </a:r>
          </a:p>
        </p:txBody>
      </p:sp>
      <p:grpSp>
        <p:nvGrpSpPr>
          <p:cNvPr id="4" name="组合 3"/>
          <p:cNvGrpSpPr/>
          <p:nvPr/>
        </p:nvGrpSpPr>
        <p:grpSpPr>
          <a:xfrm>
            <a:off x="869315" y="1969770"/>
            <a:ext cx="10810875" cy="4509135"/>
            <a:chOff x="1337" y="2902"/>
            <a:chExt cx="17025" cy="7101"/>
          </a:xfrm>
        </p:grpSpPr>
        <p:sp>
          <p:nvSpPr>
            <p:cNvPr id="7" name="Oval 15"/>
            <p:cNvSpPr>
              <a:spLocks noChangeArrowheads="1"/>
            </p:cNvSpPr>
            <p:nvPr>
              <p:custDataLst>
                <p:tags r:id="rId2"/>
              </p:custDataLst>
            </p:nvPr>
          </p:nvSpPr>
          <p:spPr bwMode="auto">
            <a:xfrm>
              <a:off x="1609" y="3997"/>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8" name="Line 16"/>
            <p:cNvSpPr>
              <a:spLocks noChangeShapeType="1"/>
            </p:cNvSpPr>
            <p:nvPr>
              <p:custDataLst>
                <p:tags r:id="rId3"/>
              </p:custDataLst>
            </p:nvPr>
          </p:nvSpPr>
          <p:spPr bwMode="gray">
            <a:xfrm>
              <a:off x="1337" y="6514"/>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9" name="Line 17"/>
            <p:cNvSpPr>
              <a:spLocks noChangeShapeType="1"/>
            </p:cNvSpPr>
            <p:nvPr>
              <p:custDataLst>
                <p:tags r:id="rId4"/>
              </p:custDataLst>
            </p:nvPr>
          </p:nvSpPr>
          <p:spPr bwMode="gray">
            <a:xfrm>
              <a:off x="4080" y="3627"/>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0" name="Oval 10"/>
            <p:cNvSpPr>
              <a:spLocks noChangeArrowheads="1"/>
            </p:cNvSpPr>
            <p:nvPr>
              <p:custDataLst>
                <p:tags r:id="rId5"/>
              </p:custDataLst>
            </p:nvPr>
          </p:nvSpPr>
          <p:spPr bwMode="gray">
            <a:xfrm>
              <a:off x="1881" y="4281"/>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11" name="Oval 13"/>
            <p:cNvSpPr>
              <a:spLocks noChangeArrowheads="1"/>
            </p:cNvSpPr>
            <p:nvPr>
              <p:custDataLst>
                <p:tags r:id="rId6"/>
              </p:custDataLst>
            </p:nvPr>
          </p:nvSpPr>
          <p:spPr bwMode="gray">
            <a:xfrm>
              <a:off x="2383" y="4812"/>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2" name="KSO_GT1"/>
            <p:cNvSpPr>
              <a:spLocks noChangeArrowheads="1"/>
            </p:cNvSpPr>
            <p:nvPr>
              <p:custDataLst>
                <p:tags r:id="rId7"/>
              </p:custDataLst>
            </p:nvPr>
          </p:nvSpPr>
          <p:spPr bwMode="gray">
            <a:xfrm>
              <a:off x="2989" y="5430"/>
              <a:ext cx="2155" cy="2201"/>
            </a:xfrm>
            <a:prstGeom prst="ellipse">
              <a:avLst/>
            </a:prstGeom>
            <a:solidFill>
              <a:srgbClr val="4F5A71"/>
            </a:solidFill>
            <a:ln>
              <a:noFill/>
            </a:ln>
            <a:effectLst/>
          </p:spPr>
          <p:txBody>
            <a:bodyPr wrap="square" lIns="0" tIns="0" rIns="0" bIns="0" anchor="ctr">
              <a:normAutofit lnSpcReduction="10000"/>
            </a:bodyPr>
            <a:lstStyle/>
            <a:p>
              <a:pPr algn="ctr">
                <a:defRPr/>
              </a:pPr>
              <a:r>
                <a:rPr sz="2400" dirty="0">
                  <a:solidFill>
                    <a:schemeClr val="bg1"/>
                  </a:solidFill>
                  <a:sym typeface="+mn-ea"/>
                </a:rPr>
                <a:t>装饰者模式的特点</a:t>
              </a:r>
              <a:endParaRPr lang="zh-CN" altLang="zh-CN" sz="2400" kern="0" dirty="0">
                <a:solidFill>
                  <a:schemeClr val="bg1"/>
                </a:solidFill>
                <a:latin typeface="Arial" panose="020B0604020202020204" pitchFamily="34" charset="0"/>
                <a:ea typeface="微软雅黑 Light" panose="020B0502040204020203" pitchFamily="34" charset="-122"/>
                <a:cs typeface="黑体" panose="02010609060101010101" pitchFamily="49" charset="-122"/>
                <a:sym typeface="+mn-ea"/>
              </a:endParaRPr>
            </a:p>
          </p:txBody>
        </p:sp>
        <p:sp>
          <p:nvSpPr>
            <p:cNvPr id="13" name="Oval 19"/>
            <p:cNvSpPr>
              <a:spLocks noChangeArrowheads="1"/>
            </p:cNvSpPr>
            <p:nvPr>
              <p:custDataLst>
                <p:tags r:id="rId8"/>
              </p:custDataLst>
            </p:nvPr>
          </p:nvSpPr>
          <p:spPr bwMode="gray">
            <a:xfrm>
              <a:off x="4744" y="3927"/>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文本框 13"/>
            <p:cNvSpPr txBox="1"/>
            <p:nvPr>
              <p:custDataLst>
                <p:tags r:id="rId9"/>
              </p:custDataLst>
            </p:nvPr>
          </p:nvSpPr>
          <p:spPr>
            <a:xfrm>
              <a:off x="5144" y="2902"/>
              <a:ext cx="9856" cy="888"/>
            </a:xfrm>
            <a:prstGeom prst="rect">
              <a:avLst/>
            </a:prstGeom>
            <a:noFill/>
          </p:spPr>
          <p:txBody>
            <a:bodyPr wrap="square" lIns="0" rIns="0">
              <a:normAutofit/>
            </a:bodyPr>
            <a:lstStyle/>
            <a:p>
              <a:pPr>
                <a:lnSpc>
                  <a:spcPct val="130000"/>
                </a:lnSpc>
                <a:spcBef>
                  <a:spcPts val="600"/>
                </a:spcBef>
                <a:defRPr/>
              </a:pPr>
              <a:r>
                <a:rPr dirty="0"/>
                <a:t>（1）装饰者和被装饰对象有相同的超类型。</a:t>
              </a:r>
            </a:p>
          </p:txBody>
        </p:sp>
        <p:sp>
          <p:nvSpPr>
            <p:cNvPr id="15" name="Oval 19"/>
            <p:cNvSpPr>
              <a:spLocks noChangeArrowheads="1"/>
            </p:cNvSpPr>
            <p:nvPr>
              <p:custDataLst>
                <p:tags r:id="rId10"/>
              </p:custDataLst>
            </p:nvPr>
          </p:nvSpPr>
          <p:spPr bwMode="gray">
            <a:xfrm>
              <a:off x="5822" y="4710"/>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7" name="文本框 16"/>
            <p:cNvSpPr txBox="1"/>
            <p:nvPr>
              <p:custDataLst>
                <p:tags r:id="rId11"/>
              </p:custDataLst>
            </p:nvPr>
          </p:nvSpPr>
          <p:spPr>
            <a:xfrm>
              <a:off x="6829" y="3618"/>
              <a:ext cx="11533" cy="1812"/>
            </a:xfrm>
            <a:prstGeom prst="rect">
              <a:avLst/>
            </a:prstGeom>
            <a:noFill/>
          </p:spPr>
          <p:txBody>
            <a:bodyPr wrap="square" lIns="0" rIns="0">
              <a:normAutofit/>
            </a:bodyPr>
            <a:lstStyle/>
            <a:p>
              <a:pPr>
                <a:lnSpc>
                  <a:spcPct val="130000"/>
                </a:lnSpc>
                <a:spcBef>
                  <a:spcPts val="600"/>
                </a:spcBef>
                <a:defRPr/>
              </a:pPr>
              <a:r>
                <a:rPr dirty="0"/>
                <a:t>（2）可以用一个或多个装饰者包装一个对象，各种继承的装饰可以应用于同样的对象，而它们都给原来的对象添加了一个新的外部包装器，并增加对象的职责。</a:t>
              </a:r>
            </a:p>
          </p:txBody>
        </p:sp>
        <p:sp>
          <p:nvSpPr>
            <p:cNvPr id="18" name="Oval 19"/>
            <p:cNvSpPr>
              <a:spLocks noChangeArrowheads="1"/>
            </p:cNvSpPr>
            <p:nvPr>
              <p:custDataLst>
                <p:tags r:id="rId12"/>
              </p:custDataLst>
            </p:nvPr>
          </p:nvSpPr>
          <p:spPr bwMode="gray">
            <a:xfrm>
              <a:off x="6311" y="5745"/>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6" name="文本框 25"/>
            <p:cNvSpPr txBox="1"/>
            <p:nvPr>
              <p:custDataLst>
                <p:tags r:id="rId13"/>
              </p:custDataLst>
            </p:nvPr>
          </p:nvSpPr>
          <p:spPr>
            <a:xfrm>
              <a:off x="7275" y="5228"/>
              <a:ext cx="11087" cy="1430"/>
            </a:xfrm>
            <a:prstGeom prst="rect">
              <a:avLst/>
            </a:prstGeom>
            <a:noFill/>
          </p:spPr>
          <p:txBody>
            <a:bodyPr wrap="square" lIns="0" rIns="0">
              <a:normAutofit/>
            </a:bodyPr>
            <a:lstStyle/>
            <a:p>
              <a:pPr>
                <a:lnSpc>
                  <a:spcPct val="130000"/>
                </a:lnSpc>
                <a:spcBef>
                  <a:spcPts val="600"/>
                </a:spcBef>
                <a:defRPr/>
              </a:pPr>
              <a:r>
                <a:rPr dirty="0"/>
                <a:t>（3）装饰者可以在所委托被装饰者的行为之前或之后，加上自己的行为，以达到特定的目的。</a:t>
              </a:r>
            </a:p>
          </p:txBody>
        </p:sp>
        <p:sp>
          <p:nvSpPr>
            <p:cNvPr id="27" name="Oval 19"/>
            <p:cNvSpPr>
              <a:spLocks noChangeArrowheads="1"/>
            </p:cNvSpPr>
            <p:nvPr>
              <p:custDataLst>
                <p:tags r:id="rId14"/>
              </p:custDataLst>
            </p:nvPr>
          </p:nvSpPr>
          <p:spPr bwMode="gray">
            <a:xfrm>
              <a:off x="6325" y="6861"/>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8" name="文本框 27"/>
            <p:cNvSpPr txBox="1"/>
            <p:nvPr>
              <p:custDataLst>
                <p:tags r:id="rId15"/>
              </p:custDataLst>
            </p:nvPr>
          </p:nvSpPr>
          <p:spPr>
            <a:xfrm>
              <a:off x="7275" y="6332"/>
              <a:ext cx="11080" cy="1299"/>
            </a:xfrm>
            <a:prstGeom prst="rect">
              <a:avLst/>
            </a:prstGeom>
            <a:noFill/>
          </p:spPr>
          <p:txBody>
            <a:bodyPr wrap="square" lIns="0" rIns="0">
              <a:normAutofit/>
            </a:bodyPr>
            <a:lstStyle/>
            <a:p>
              <a:pPr>
                <a:lnSpc>
                  <a:spcPct val="130000"/>
                </a:lnSpc>
                <a:spcBef>
                  <a:spcPts val="600"/>
                </a:spcBef>
                <a:defRPr/>
              </a:pPr>
              <a:r>
                <a:rPr dirty="0"/>
                <a:t>（4）对象可以在任何时候被装饰，所以可以在运行时动态地用你喜欢的装饰者来装饰对象。</a:t>
              </a:r>
            </a:p>
          </p:txBody>
        </p:sp>
        <p:sp>
          <p:nvSpPr>
            <p:cNvPr id="31" name="Oval 19"/>
            <p:cNvSpPr>
              <a:spLocks noChangeArrowheads="1"/>
            </p:cNvSpPr>
            <p:nvPr>
              <p:custDataLst>
                <p:tags r:id="rId16"/>
              </p:custDataLst>
            </p:nvPr>
          </p:nvSpPr>
          <p:spPr bwMode="gray">
            <a:xfrm>
              <a:off x="5805" y="7926"/>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2" name="文本框 31"/>
            <p:cNvSpPr txBox="1"/>
            <p:nvPr>
              <p:custDataLst>
                <p:tags r:id="rId17"/>
              </p:custDataLst>
            </p:nvPr>
          </p:nvSpPr>
          <p:spPr>
            <a:xfrm>
              <a:off x="6721" y="7481"/>
              <a:ext cx="11634" cy="1287"/>
            </a:xfrm>
            <a:prstGeom prst="rect">
              <a:avLst/>
            </a:prstGeom>
            <a:noFill/>
          </p:spPr>
          <p:txBody>
            <a:bodyPr wrap="square" lIns="0" rIns="0">
              <a:normAutofit/>
            </a:bodyPr>
            <a:lstStyle/>
            <a:p>
              <a:pPr>
                <a:lnSpc>
                  <a:spcPct val="130000"/>
                </a:lnSpc>
                <a:spcBef>
                  <a:spcPts val="600"/>
                </a:spcBef>
                <a:defRPr/>
              </a:pPr>
              <a:r>
                <a:rPr lang="zh-CN" altLang="en-US" dirty="0"/>
                <a:t>（5）装饰模式中使用继承的关键是想达到装饰者和被装饰对象的类型匹配，而不是获得其行为。</a:t>
              </a:r>
            </a:p>
          </p:txBody>
        </p:sp>
        <p:sp>
          <p:nvSpPr>
            <p:cNvPr id="36" name="Oval 19"/>
            <p:cNvSpPr>
              <a:spLocks noChangeArrowheads="1"/>
            </p:cNvSpPr>
            <p:nvPr>
              <p:custDataLst>
                <p:tags r:id="rId18"/>
              </p:custDataLst>
            </p:nvPr>
          </p:nvSpPr>
          <p:spPr bwMode="gray">
            <a:xfrm>
              <a:off x="4685" y="8682"/>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0" name="文本框 39"/>
            <p:cNvSpPr txBox="1"/>
            <p:nvPr>
              <p:custDataLst>
                <p:tags r:id="rId19"/>
              </p:custDataLst>
            </p:nvPr>
          </p:nvSpPr>
          <p:spPr>
            <a:xfrm>
              <a:off x="5144" y="8682"/>
              <a:ext cx="12848" cy="1321"/>
            </a:xfrm>
            <a:prstGeom prst="rect">
              <a:avLst/>
            </a:prstGeom>
            <a:noFill/>
          </p:spPr>
          <p:txBody>
            <a:bodyPr wrap="square" lIns="0" rIns="0">
              <a:normAutofit/>
            </a:bodyPr>
            <a:lstStyle/>
            <a:p>
              <a:pPr>
                <a:lnSpc>
                  <a:spcPct val="130000"/>
                </a:lnSpc>
                <a:spcBef>
                  <a:spcPts val="600"/>
                </a:spcBef>
                <a:defRPr/>
              </a:pPr>
              <a:r>
                <a:rPr lang="zh-CN" altLang="en-US" dirty="0"/>
                <a:t>（6）装饰者一般对组件的客户是透明的，除非客户程序依赖于组件的具体类型。在实际项目中可以根据需要为装饰者添加新的行为，做到“半透明”装饰者。</a:t>
              </a:r>
            </a:p>
          </p:txBody>
        </p:sp>
      </p:grpSp>
    </p:spTree>
    <p:custDataLst>
      <p:tags r:id="rId1"/>
    </p:custDataLst>
  </p:cSld>
  <p:clrMapOvr>
    <a:masterClrMapping/>
  </p:clrMapOvr>
  <p:transition>
    <p:wheel spokes="3"/>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8.5.5 </a:t>
            </a:r>
            <a:r>
              <a:rPr lang="zh-CN" altLang="en-US" sz="2400" dirty="0">
                <a:solidFill>
                  <a:schemeClr val="tx1"/>
                </a:solidFill>
              </a:rPr>
              <a:t>装饰者模式</a:t>
            </a:r>
          </a:p>
        </p:txBody>
      </p:sp>
      <p:grpSp>
        <p:nvGrpSpPr>
          <p:cNvPr id="3" name="组合 2"/>
          <p:cNvGrpSpPr/>
          <p:nvPr/>
        </p:nvGrpSpPr>
        <p:grpSpPr>
          <a:xfrm>
            <a:off x="1217930" y="2707005"/>
            <a:ext cx="9756775" cy="2845435"/>
            <a:chOff x="1564218" y="2547939"/>
            <a:chExt cx="10290024" cy="2538411"/>
          </a:xfrm>
        </p:grpSpPr>
        <p:sp>
          <p:nvSpPr>
            <p:cNvPr id="4" name="MH_Other_1"/>
            <p:cNvSpPr/>
            <p:nvPr>
              <p:custDataLst>
                <p:tags r:id="rId2"/>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Light" panose="020B0502040204020203" pitchFamily="34" charset="-122"/>
                <a:ea typeface="微软雅黑 Light" panose="020B0502040204020203" pitchFamily="34" charset="-122"/>
              </a:endParaRPr>
            </a:p>
          </p:txBody>
        </p:sp>
        <p:cxnSp>
          <p:nvCxnSpPr>
            <p:cNvPr id="6" name="MH_Other_2"/>
            <p:cNvCxnSpPr>
              <a:stCxn id="4" idx="3"/>
            </p:cNvCxnSpPr>
            <p:nvPr>
              <p:custDataLst>
                <p:tags r:id="rId3"/>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7" name="MH_Other_3"/>
            <p:cNvSpPr/>
            <p:nvPr>
              <p:custDataLst>
                <p:tags r:id="rId4"/>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Light" panose="020B0502040204020203" pitchFamily="34" charset="-122"/>
                <a:ea typeface="微软雅黑 Light" panose="020B0502040204020203" pitchFamily="34" charset="-122"/>
              </a:endParaRPr>
            </a:p>
          </p:txBody>
        </p:sp>
        <p:cxnSp>
          <p:nvCxnSpPr>
            <p:cNvPr id="8" name="MH_Other_4"/>
            <p:cNvCxnSpPr/>
            <p:nvPr>
              <p:custDataLst>
                <p:tags r:id="rId5"/>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6"/>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7"/>
              </p:custDataLst>
            </p:nvPr>
          </p:nvSpPr>
          <p:spPr>
            <a:xfrm>
              <a:off x="6142994" y="2671625"/>
              <a:ext cx="5711248" cy="1560979"/>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zh-CN" altLang="en-US" sz="1800" dirty="0"/>
                <a:t>（1）装饰者模式可以提供比继承更多的灵活性。</a:t>
              </a:r>
            </a:p>
          </p:txBody>
        </p:sp>
        <p:sp>
          <p:nvSpPr>
            <p:cNvPr id="11" name="MH_Text_1"/>
            <p:cNvSpPr txBox="1"/>
            <p:nvPr>
              <p:custDataLst>
                <p:tags r:id="rId8"/>
              </p:custDataLst>
            </p:nvPr>
          </p:nvSpPr>
          <p:spPr>
            <a:xfrm>
              <a:off x="6192552" y="4071495"/>
              <a:ext cx="5661689" cy="876584"/>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zh-CN" altLang="en-US" sz="1800" dirty="0"/>
                <a:t>（2）通过使用不同的具体装饰类以及这些装饰类的排列组合，设计师可以创造出很多不同行为的组合。</a:t>
              </a:r>
            </a:p>
          </p:txBody>
        </p:sp>
      </p:grpSp>
      <p:sp>
        <p:nvSpPr>
          <p:cNvPr id="12" name="矩形 11"/>
          <p:cNvSpPr/>
          <p:nvPr/>
        </p:nvSpPr>
        <p:spPr>
          <a:xfrm>
            <a:off x="2853080" y="3317118"/>
            <a:ext cx="814045" cy="1569660"/>
          </a:xfrm>
          <a:prstGeom prst="rect">
            <a:avLst/>
          </a:prstGeom>
        </p:spPr>
        <p:txBody>
          <a:bodyPr wrap="square">
            <a:spAutoFit/>
          </a:bodyPr>
          <a:lstStyle/>
          <a:p>
            <a:r>
              <a:rPr lang="zh-CN" altLang="en-US" sz="2400" b="1" dirty="0"/>
              <a:t>装饰者模式的优点</a:t>
            </a:r>
            <a:endParaRPr lang="zh-CN" altLang="zh-CN" sz="2400" b="1" dirty="0"/>
          </a:p>
        </p:txBody>
      </p:sp>
    </p:spTree>
    <p:custDataLst>
      <p:tags r:id="rId1"/>
    </p:custDataLst>
  </p:cSld>
  <p:clrMapOvr>
    <a:masterClrMapping/>
  </p:clrMapOvr>
  <p:transition>
    <p:wheel spokes="3"/>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8.5.5 </a:t>
            </a:r>
            <a:r>
              <a:rPr lang="zh-CN" altLang="en-US" sz="2400" dirty="0">
                <a:solidFill>
                  <a:schemeClr val="tx1"/>
                </a:solidFill>
              </a:rPr>
              <a:t>装饰者模式</a:t>
            </a:r>
          </a:p>
        </p:txBody>
      </p:sp>
      <p:grpSp>
        <p:nvGrpSpPr>
          <p:cNvPr id="4" name="组合 3"/>
          <p:cNvGrpSpPr/>
          <p:nvPr/>
        </p:nvGrpSpPr>
        <p:grpSpPr>
          <a:xfrm>
            <a:off x="1202690" y="2707005"/>
            <a:ext cx="9756775" cy="2845435"/>
            <a:chOff x="1564218" y="2547939"/>
            <a:chExt cx="10290024" cy="2538411"/>
          </a:xfrm>
        </p:grpSpPr>
        <p:sp>
          <p:nvSpPr>
            <p:cNvPr id="5" name="MH_Other_1"/>
            <p:cNvSpPr/>
            <p:nvPr>
              <p:custDataLst>
                <p:tags r:id="rId2"/>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Light" panose="020B0502040204020203" pitchFamily="34" charset="-122"/>
                <a:ea typeface="微软雅黑 Light" panose="020B0502040204020203" pitchFamily="34" charset="-122"/>
              </a:endParaRPr>
            </a:p>
          </p:txBody>
        </p:sp>
        <p:cxnSp>
          <p:nvCxnSpPr>
            <p:cNvPr id="6" name="MH_Other_2"/>
            <p:cNvCxnSpPr>
              <a:stCxn id="5" idx="3"/>
            </p:cNvCxnSpPr>
            <p:nvPr>
              <p:custDataLst>
                <p:tags r:id="rId3"/>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7" name="MH_Other_3"/>
            <p:cNvSpPr/>
            <p:nvPr>
              <p:custDataLst>
                <p:tags r:id="rId4"/>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Light" panose="020B0502040204020203" pitchFamily="34" charset="-122"/>
                <a:ea typeface="微软雅黑 Light" panose="020B0502040204020203" pitchFamily="34" charset="-122"/>
              </a:endParaRPr>
            </a:p>
          </p:txBody>
        </p:sp>
        <p:cxnSp>
          <p:nvCxnSpPr>
            <p:cNvPr id="8" name="MH_Other_4"/>
            <p:cNvCxnSpPr/>
            <p:nvPr>
              <p:custDataLst>
                <p:tags r:id="rId5"/>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6"/>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7"/>
              </p:custDataLst>
            </p:nvPr>
          </p:nvSpPr>
          <p:spPr>
            <a:xfrm>
              <a:off x="6142994" y="2671625"/>
              <a:ext cx="5711248" cy="1560979"/>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zh-CN" altLang="en-US" sz="1800" dirty="0"/>
                <a:t>（1）装饰者模式比继承更加灵活机动的特性，同时也意味着更多的复杂性。</a:t>
              </a:r>
            </a:p>
          </p:txBody>
        </p:sp>
        <p:sp>
          <p:nvSpPr>
            <p:cNvPr id="11" name="MH_Text_1"/>
            <p:cNvSpPr txBox="1"/>
            <p:nvPr>
              <p:custDataLst>
                <p:tags r:id="rId8"/>
              </p:custDataLst>
            </p:nvPr>
          </p:nvSpPr>
          <p:spPr>
            <a:xfrm>
              <a:off x="6192552" y="4071495"/>
              <a:ext cx="5661689" cy="876584"/>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zh-CN" altLang="en-US" sz="1800" dirty="0"/>
                <a:t>（2）装饰者模式会导致设计中出现许多小类，如果过度使用，会使程序变得很复杂。</a:t>
              </a:r>
            </a:p>
          </p:txBody>
        </p:sp>
      </p:grpSp>
      <p:sp>
        <p:nvSpPr>
          <p:cNvPr id="12" name="矩形 11"/>
          <p:cNvSpPr/>
          <p:nvPr/>
        </p:nvSpPr>
        <p:spPr>
          <a:xfrm>
            <a:off x="2853080" y="3317118"/>
            <a:ext cx="814045" cy="1569660"/>
          </a:xfrm>
          <a:prstGeom prst="rect">
            <a:avLst/>
          </a:prstGeom>
        </p:spPr>
        <p:txBody>
          <a:bodyPr wrap="square">
            <a:spAutoFit/>
          </a:bodyPr>
          <a:lstStyle/>
          <a:p>
            <a:r>
              <a:rPr lang="zh-CN" altLang="en-US" sz="2400" b="1" dirty="0"/>
              <a:t>装饰者模式的缺点</a:t>
            </a:r>
            <a:endParaRPr lang="zh-CN" altLang="zh-CN" sz="2400" b="1" dirty="0"/>
          </a:p>
        </p:txBody>
      </p:sp>
    </p:spTree>
    <p:custDataLst>
      <p:tags r:id="rId1"/>
    </p:custDataLst>
  </p:cSld>
  <p:clrMapOvr>
    <a:masterClrMapping/>
  </p:clrMapOvr>
  <p:transition>
    <p:wheel spokes="3"/>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6</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设计</a:t>
            </a:r>
          </a:p>
        </p:txBody>
      </p:sp>
      <p:grpSp>
        <p:nvGrpSpPr>
          <p:cNvPr id="11" name="组合 10"/>
          <p:cNvGrpSpPr/>
          <p:nvPr/>
        </p:nvGrpSpPr>
        <p:grpSpPr>
          <a:xfrm>
            <a:off x="6006465" y="4013835"/>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的特点及应用类型</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的需求工程</a:t>
              </a:r>
            </a:p>
          </p:txBody>
        </p:sp>
      </p:grpSp>
      <p:grpSp>
        <p:nvGrpSpPr>
          <p:cNvPr id="3" name="组合 2"/>
          <p:cNvGrpSpPr/>
          <p:nvPr/>
        </p:nvGrpSpPr>
        <p:grpSpPr>
          <a:xfrm>
            <a:off x="6006465" y="4849495"/>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需求分析</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设计过程</a:t>
              </a:r>
            </a:p>
          </p:txBody>
        </p:sp>
      </p:grpSp>
      <p:grpSp>
        <p:nvGrpSpPr>
          <p:cNvPr id="8" name="组合 7"/>
          <p:cNvGrpSpPr/>
          <p:nvPr/>
        </p:nvGrpSpPr>
        <p:grpSpPr>
          <a:xfrm>
            <a:off x="6006465" y="5685155"/>
            <a:ext cx="3712845" cy="835660"/>
            <a:chOff x="9459" y="7259"/>
            <a:chExt cx="5847" cy="1316"/>
          </a:xfrm>
        </p:grpSpPr>
        <p:sp>
          <p:nvSpPr>
            <p:cNvPr id="9" name="文本框 8"/>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体系结构设计</a:t>
              </a:r>
            </a:p>
          </p:txBody>
        </p:sp>
        <p:sp>
          <p:nvSpPr>
            <p:cNvPr id="12" name="文本框 11"/>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导航设计</a:t>
              </a:r>
            </a:p>
          </p:txBody>
        </p:sp>
      </p:grpSp>
    </p:spTree>
  </p:cSld>
  <p:clrMapOvr>
    <a:masterClrMapping/>
  </p:clrMapOvr>
  <p:transition spd="slow">
    <p:wipe/>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en-US" dirty="0">
                <a:sym typeface="+mn-ea"/>
              </a:rPr>
              <a:t>8.6 </a:t>
            </a:r>
            <a:r>
              <a:rPr lang="en-US" altLang="zh-CN" dirty="0">
                <a:sym typeface="+mn-ea"/>
              </a:rPr>
              <a:t>WebApp</a:t>
            </a:r>
            <a:r>
              <a:rPr lang="zh-CN" altLang="en-US" dirty="0">
                <a:sym typeface="+mn-ea"/>
              </a:rPr>
              <a:t>设计</a:t>
            </a:r>
          </a:p>
        </p:txBody>
      </p:sp>
      <p:grpSp>
        <p:nvGrpSpPr>
          <p:cNvPr id="3" name="组合 2"/>
          <p:cNvGrpSpPr/>
          <p:nvPr/>
        </p:nvGrpSpPr>
        <p:grpSpPr>
          <a:xfrm>
            <a:off x="1026795" y="2921000"/>
            <a:ext cx="10259695" cy="3115945"/>
            <a:chOff x="1490" y="4756"/>
            <a:chExt cx="16157" cy="4907"/>
          </a:xfrm>
        </p:grpSpPr>
        <p:sp>
          <p:nvSpPr>
            <p:cNvPr id="8" name="MH_Text_1"/>
            <p:cNvSpPr txBox="1"/>
            <p:nvPr>
              <p:custDataLst>
                <p:tags r:id="rId3"/>
              </p:custDataLst>
            </p:nvPr>
          </p:nvSpPr>
          <p:spPr>
            <a:xfrm>
              <a:off x="1490" y="7566"/>
              <a:ext cx="16050" cy="2097"/>
            </a:xfrm>
            <a:prstGeom prst="rect">
              <a:avLst/>
            </a:prstGeom>
            <a:noFill/>
          </p:spPr>
          <p:txBody>
            <a:bodyPr lIns="0" tIns="0" rIns="0" bIns="0"/>
            <a:lstStyle/>
            <a:p>
              <a:pPr indent="457200">
                <a:lnSpc>
                  <a:spcPct val="120000"/>
                </a:lnSpc>
              </a:pPr>
              <a:r>
                <a:rPr dirty="0">
                  <a:latin typeface="+mn-ea"/>
                </a:rPr>
                <a:t>WebApp是指基于Web的系统和应用，其作用是向广大的最终用户发布一组复杂的内容和功能。万维网（World Wide Web，WWW）和因特网（Internet）技术将我们带入了信息时代，在开发基于Web的系统和应用（WebApp）时，需要使用规范化的方法和工具。本节将讨论WebApp的特点、应用类型、需求分析和设计方法。</a:t>
              </a:r>
            </a:p>
          </p:txBody>
        </p:sp>
        <p:sp>
          <p:nvSpPr>
            <p:cNvPr id="9" name="MH_Desc_1"/>
            <p:cNvSpPr txBox="1"/>
            <p:nvPr>
              <p:custDataLst>
                <p:tags r:id="rId4"/>
              </p:custDataLst>
            </p:nvPr>
          </p:nvSpPr>
          <p:spPr>
            <a:xfrm>
              <a:off x="1490" y="4756"/>
              <a:ext cx="16157" cy="3003"/>
            </a:xfrm>
            <a:prstGeom prst="rect">
              <a:avLst/>
            </a:prstGeom>
            <a:noFill/>
          </p:spPr>
          <p:txBody>
            <a:bodyPr lIns="0" tIns="0" rIns="0" bIns="0"/>
            <a:lstStyle/>
            <a:p>
              <a:pPr indent="457200" fontAlgn="auto">
                <a:lnSpc>
                  <a:spcPct val="130000"/>
                </a:lnSpc>
              </a:pPr>
              <a:r>
                <a:rPr dirty="0">
                  <a:latin typeface="+mn-ea"/>
                </a:rPr>
                <a:t>WWW的早期（约1990年～1995年），“Web站点”仅包含链接在一起的少量超文本文件，这些文件使用文本和有限的图标来表示信息。随着时间的推移，一些开发工具（例如XML，Java）使HTML得到扩展，使得Web工程师在向客户提供信息的同时也能提供计算功能，基于Web的系统和应用（即WebApp）诞生了。今天，WebApp已经成为成熟的计算工具，不仅可以为最终用户提供独立的功能，而且已经同公司数据库和业务应用集成在一起了。</a:t>
              </a:r>
            </a:p>
          </p:txBody>
        </p:sp>
      </p:grpSp>
      <p:pic>
        <p:nvPicPr>
          <p:cNvPr id="4" name="图片 3" descr="webapp-640x198"/>
          <p:cNvPicPr>
            <a:picLocks noChangeAspect="1"/>
          </p:cNvPicPr>
          <p:nvPr/>
        </p:nvPicPr>
        <p:blipFill>
          <a:blip r:embed="rId7" cstate="print"/>
          <a:srcRect b="51073"/>
          <a:stretch>
            <a:fillRect/>
          </a:stretch>
        </p:blipFill>
        <p:spPr>
          <a:xfrm>
            <a:off x="4064635" y="1403350"/>
            <a:ext cx="8129905" cy="1230630"/>
          </a:xfrm>
          <a:prstGeom prst="rect">
            <a:avLst/>
          </a:prstGeom>
        </p:spPr>
      </p:pic>
      <p:sp>
        <p:nvSpPr>
          <p:cNvPr id="11" name="MH_Text_1"/>
          <p:cNvSpPr/>
          <p:nvPr>
            <p:custDataLst>
              <p:tags r:id="rId2"/>
            </p:custDataLst>
          </p:nvPr>
        </p:nvSpPr>
        <p:spPr>
          <a:xfrm>
            <a:off x="809626" y="2787015"/>
            <a:ext cx="10586255" cy="3384550"/>
          </a:xfrm>
          <a:prstGeom prst="roundRect">
            <a:avLst/>
          </a:prstGeom>
          <a:ln>
            <a:solidFill>
              <a:schemeClr val="accent6">
                <a:lumMod val="75000"/>
              </a:schemeClr>
            </a:solidFill>
          </a:ln>
        </p:spPr>
        <p:txBody>
          <a:bodyPr vert="horz" wrap="square" anchor="t" anchorCtr="0">
            <a:noAutofit/>
          </a:bodyPr>
          <a:lstStyle/>
          <a:p>
            <a:pPr indent="457200">
              <a:lnSpc>
                <a:spcPct val="130000"/>
              </a:lnSpc>
            </a:pPr>
            <a:endParaRPr lang="zh-CN" altLang="en-US" dirty="0">
              <a:latin typeface="微软雅黑" panose="020B0503020204020204" charset="-122"/>
              <a:ea typeface="微软雅黑" panose="020B0503020204020204" charset="-122"/>
            </a:endParaRPr>
          </a:p>
        </p:txBody>
      </p:sp>
    </p:spTree>
    <p:custDataLst>
      <p:tags r:id="rId1"/>
    </p:custDataLst>
  </p:cSld>
  <p:clrMapOvr>
    <a:masterClrMapping/>
  </p:clrMapOvr>
  <p:transition>
    <p:zoom dir="in"/>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8.6.1 </a:t>
            </a:r>
            <a:r>
              <a:rPr sz="2400" dirty="0">
                <a:solidFill>
                  <a:schemeClr val="tx1"/>
                </a:solidFill>
              </a:rPr>
              <a:t>WebApp的特点及应用类型</a:t>
            </a:r>
          </a:p>
        </p:txBody>
      </p:sp>
      <p:grpSp>
        <p:nvGrpSpPr>
          <p:cNvPr id="4" name="组合 3"/>
          <p:cNvGrpSpPr/>
          <p:nvPr/>
        </p:nvGrpSpPr>
        <p:grpSpPr>
          <a:xfrm>
            <a:off x="754380" y="2426970"/>
            <a:ext cx="5246314" cy="2034540"/>
            <a:chOff x="1188" y="3092"/>
            <a:chExt cx="7757" cy="3204"/>
          </a:xfrm>
        </p:grpSpPr>
        <p:grpSp>
          <p:nvGrpSpPr>
            <p:cNvPr id="28" name="组合 27"/>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网络密集型</a:t>
                </a:r>
              </a:p>
            </p:txBody>
          </p:sp>
        </p:grpSp>
        <p:sp>
          <p:nvSpPr>
            <p:cNvPr id="35" name="矩形 34"/>
            <p:cNvSpPr>
              <a:spLocks noChangeArrowheads="1"/>
            </p:cNvSpPr>
            <p:nvPr/>
          </p:nvSpPr>
          <p:spPr bwMode="auto">
            <a:xfrm>
              <a:off x="1893" y="3848"/>
              <a:ext cx="7052"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WebApp驻留在网络上，服务于不同客户群体的需求。WebApp可以驻留在Internet上，即可以放置在内联网（实现组织范围内的通信）或外联网（网际间通信）上。</a:t>
              </a:r>
            </a:p>
          </p:txBody>
        </p:sp>
      </p:grpSp>
      <p:grpSp>
        <p:nvGrpSpPr>
          <p:cNvPr id="36" name="组合 35"/>
          <p:cNvGrpSpPr/>
          <p:nvPr/>
        </p:nvGrpSpPr>
        <p:grpSpPr>
          <a:xfrm>
            <a:off x="754380" y="4413885"/>
            <a:ext cx="5235316" cy="937260"/>
            <a:chOff x="1188" y="3092"/>
            <a:chExt cx="7741" cy="1476"/>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并发性</a:t>
                </a:r>
              </a:p>
            </p:txBody>
          </p:sp>
        </p:grpSp>
        <p:sp>
          <p:nvSpPr>
            <p:cNvPr id="41" name="矩形 40"/>
            <p:cNvSpPr>
              <a:spLocks noChangeArrowheads="1"/>
            </p:cNvSpPr>
            <p:nvPr/>
          </p:nvSpPr>
          <p:spPr bwMode="auto">
            <a:xfrm>
              <a:off x="1893" y="3848"/>
              <a:ext cx="6785" cy="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在同一时间可能有大量用户使用WebApp。</a:t>
              </a:r>
            </a:p>
          </p:txBody>
        </p:sp>
      </p:grpSp>
      <p:grpSp>
        <p:nvGrpSpPr>
          <p:cNvPr id="3" name="组合 2"/>
          <p:cNvGrpSpPr/>
          <p:nvPr/>
        </p:nvGrpSpPr>
        <p:grpSpPr>
          <a:xfrm>
            <a:off x="754380" y="5257800"/>
            <a:ext cx="5655980" cy="941705"/>
            <a:chOff x="1188" y="3092"/>
            <a:chExt cx="8363" cy="1483"/>
          </a:xfrm>
        </p:grpSpPr>
        <p:grpSp>
          <p:nvGrpSpPr>
            <p:cNvPr id="5" name="组合 4"/>
            <p:cNvGrpSpPr/>
            <p:nvPr/>
          </p:nvGrpSpPr>
          <p:grpSpPr>
            <a:xfrm>
              <a:off x="1188" y="3092"/>
              <a:ext cx="7741" cy="930"/>
              <a:chOff x="508000" y="3196191"/>
              <a:chExt cx="4915730" cy="590550"/>
            </a:xfrm>
          </p:grpSpPr>
          <p:sp>
            <p:nvSpPr>
              <p:cNvPr id="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9" name="直接连接符 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无法预计的负载量</a:t>
                </a:r>
              </a:p>
            </p:txBody>
          </p:sp>
        </p:grpSp>
        <p:sp>
          <p:nvSpPr>
            <p:cNvPr id="11" name="矩形 10"/>
            <p:cNvSpPr>
              <a:spLocks noChangeArrowheads="1"/>
            </p:cNvSpPr>
            <p:nvPr/>
          </p:nvSpPr>
          <p:spPr bwMode="auto">
            <a:xfrm>
              <a:off x="1893" y="3848"/>
              <a:ext cx="7658" cy="7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WebApp的用户数量每天都可能会有很大的变化。</a:t>
              </a:r>
            </a:p>
          </p:txBody>
        </p:sp>
      </p:grpSp>
      <p:grpSp>
        <p:nvGrpSpPr>
          <p:cNvPr id="12" name="组合 11"/>
          <p:cNvGrpSpPr/>
          <p:nvPr/>
        </p:nvGrpSpPr>
        <p:grpSpPr>
          <a:xfrm>
            <a:off x="6191885" y="1214120"/>
            <a:ext cx="5235316" cy="1668780"/>
            <a:chOff x="1188" y="3092"/>
            <a:chExt cx="7741" cy="2628"/>
          </a:xfrm>
        </p:grpSpPr>
        <p:grpSp>
          <p:nvGrpSpPr>
            <p:cNvPr id="13" name="组合 12"/>
            <p:cNvGrpSpPr/>
            <p:nvPr/>
          </p:nvGrpSpPr>
          <p:grpSpPr>
            <a:xfrm>
              <a:off x="1188" y="3092"/>
              <a:ext cx="7741" cy="930"/>
              <a:chOff x="508000" y="3196191"/>
              <a:chExt cx="4915730" cy="590550"/>
            </a:xfrm>
          </p:grpSpPr>
          <p:sp>
            <p:nvSpPr>
              <p:cNvPr id="14"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15" name="直接连接符 14"/>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6" name="矩形 15"/>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性能</a:t>
                </a:r>
              </a:p>
            </p:txBody>
          </p:sp>
        </p:grpSp>
        <p:sp>
          <p:nvSpPr>
            <p:cNvPr id="17" name="矩形 16"/>
            <p:cNvSpPr>
              <a:spLocks noChangeArrowheads="1"/>
            </p:cNvSpPr>
            <p:nvPr/>
          </p:nvSpPr>
          <p:spPr bwMode="auto">
            <a:xfrm>
              <a:off x="1803" y="3848"/>
              <a:ext cx="6942"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如果一位WebApp用户必须等待很长时间</a:t>
              </a:r>
              <a:endParaRPr lang="en-US" sz="1600" dirty="0">
                <a:latin typeface="微软雅黑" panose="020B0503020204020204" charset="-122"/>
                <a:ea typeface="微软雅黑" panose="020B0503020204020204" charset="-122"/>
              </a:endParaRPr>
            </a:p>
            <a:p>
              <a:pPr>
                <a:lnSpc>
                  <a:spcPct val="150000"/>
                </a:lnSpc>
              </a:pPr>
              <a:r>
                <a:rPr sz="1600" dirty="0">
                  <a:latin typeface="微软雅黑" panose="020B0503020204020204" charset="-122"/>
                  <a:ea typeface="微软雅黑" panose="020B0503020204020204" charset="-122"/>
                </a:rPr>
                <a:t>（访问、服务器端处理、客户端格式化及显示），用户就会转向其他地方。</a:t>
              </a:r>
            </a:p>
          </p:txBody>
        </p:sp>
      </p:grpSp>
      <p:grpSp>
        <p:nvGrpSpPr>
          <p:cNvPr id="18" name="组合 17"/>
          <p:cNvGrpSpPr/>
          <p:nvPr/>
        </p:nvGrpSpPr>
        <p:grpSpPr>
          <a:xfrm>
            <a:off x="6191885" y="2974340"/>
            <a:ext cx="5485551" cy="941705"/>
            <a:chOff x="1188" y="3092"/>
            <a:chExt cx="8111" cy="1483"/>
          </a:xfrm>
        </p:grpSpPr>
        <p:grpSp>
          <p:nvGrpSpPr>
            <p:cNvPr id="19" name="组合 18"/>
            <p:cNvGrpSpPr/>
            <p:nvPr/>
          </p:nvGrpSpPr>
          <p:grpSpPr>
            <a:xfrm>
              <a:off x="1188" y="3092"/>
              <a:ext cx="7741" cy="930"/>
              <a:chOff x="508000" y="3196191"/>
              <a:chExt cx="4915730" cy="590550"/>
            </a:xfrm>
          </p:grpSpPr>
          <p:sp>
            <p:nvSpPr>
              <p:cNvPr id="20"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5</a:t>
                </a:r>
              </a:p>
            </p:txBody>
          </p:sp>
          <p:cxnSp>
            <p:nvCxnSpPr>
              <p:cNvPr id="21" name="直接连接符 2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2" name="矩形 21"/>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可得性</a:t>
                </a:r>
              </a:p>
            </p:txBody>
          </p:sp>
        </p:grpSp>
        <p:sp>
          <p:nvSpPr>
            <p:cNvPr id="23" name="矩形 22"/>
            <p:cNvSpPr>
              <a:spLocks noChangeArrowheads="1"/>
            </p:cNvSpPr>
            <p:nvPr/>
          </p:nvSpPr>
          <p:spPr bwMode="auto">
            <a:xfrm>
              <a:off x="1893" y="3848"/>
              <a:ext cx="7406" cy="7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大多数的WebApp用户要求全天候的可访问性。</a:t>
              </a:r>
            </a:p>
          </p:txBody>
        </p:sp>
      </p:grpSp>
      <p:grpSp>
        <p:nvGrpSpPr>
          <p:cNvPr id="24" name="组合 23"/>
          <p:cNvGrpSpPr/>
          <p:nvPr/>
        </p:nvGrpSpPr>
        <p:grpSpPr>
          <a:xfrm>
            <a:off x="6191885" y="3968750"/>
            <a:ext cx="5235316" cy="2419350"/>
            <a:chOff x="1188" y="3092"/>
            <a:chExt cx="7741" cy="3810"/>
          </a:xfrm>
        </p:grpSpPr>
        <p:grpSp>
          <p:nvGrpSpPr>
            <p:cNvPr id="25" name="组合 24"/>
            <p:cNvGrpSpPr/>
            <p:nvPr/>
          </p:nvGrpSpPr>
          <p:grpSpPr>
            <a:xfrm>
              <a:off x="1188" y="3092"/>
              <a:ext cx="7741" cy="930"/>
              <a:chOff x="508000" y="3196191"/>
              <a:chExt cx="4915730" cy="590550"/>
            </a:xfrm>
          </p:grpSpPr>
          <p:sp>
            <p:nvSpPr>
              <p:cNvPr id="26"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6</a:t>
                </a:r>
              </a:p>
            </p:txBody>
          </p:sp>
          <p:cxnSp>
            <p:nvCxnSpPr>
              <p:cNvPr id="27" name="直接连接符 2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0" name="矩形 2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数据驱动</a:t>
                </a:r>
              </a:p>
            </p:txBody>
          </p:sp>
        </p:grpSp>
        <p:sp>
          <p:nvSpPr>
            <p:cNvPr id="31" name="矩形 30"/>
            <p:cNvSpPr>
              <a:spLocks noChangeArrowheads="1"/>
            </p:cNvSpPr>
            <p:nvPr/>
          </p:nvSpPr>
          <p:spPr bwMode="auto">
            <a:xfrm>
              <a:off x="1893" y="3848"/>
              <a:ext cx="6811" cy="30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许多WebApp的主要功能是使用超媒体向最终用户提供文本、图片、音频及视频内容。</a:t>
              </a:r>
              <a:r>
                <a:rPr lang="en-US" sz="1600" dirty="0">
                  <a:latin typeface="微软雅黑" panose="020B0503020204020204" charset="-122"/>
                  <a:ea typeface="微软雅黑" panose="020B0503020204020204" charset="-122"/>
                </a:rPr>
                <a:t> </a:t>
              </a:r>
            </a:p>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WebApp一般用来访问存储在数据库中的信息，这些数据库最初并不是基于Web环境的整体组成部分（例如电子商务或金融应用）。</a:t>
              </a:r>
            </a:p>
          </p:txBody>
        </p:sp>
      </p:grpSp>
      <p:sp>
        <p:nvSpPr>
          <p:cNvPr id="42" name="矩形 41"/>
          <p:cNvSpPr/>
          <p:nvPr/>
        </p:nvSpPr>
        <p:spPr>
          <a:xfrm>
            <a:off x="957605" y="2021718"/>
            <a:ext cx="4709770" cy="369332"/>
          </a:xfrm>
          <a:prstGeom prst="rect">
            <a:avLst/>
          </a:prstGeom>
        </p:spPr>
        <p:txBody>
          <a:bodyPr wrap="square">
            <a:spAutoFit/>
          </a:bodyPr>
          <a:lstStyle/>
          <a:p>
            <a:r>
              <a:rPr lang="en-US" altLang="zh-CN" b="1" dirty="0" err="1"/>
              <a:t>WebApp</a:t>
            </a:r>
            <a:r>
              <a:rPr lang="zh-CN" altLang="zh-CN" b="1" dirty="0"/>
              <a:t>一般</a:t>
            </a:r>
            <a:r>
              <a:rPr lang="zh-CN" altLang="en-US" b="1" dirty="0"/>
              <a:t>具有如下</a:t>
            </a:r>
            <a:r>
              <a:rPr lang="zh-CN" altLang="zh-CN" b="1" dirty="0"/>
              <a:t>特点</a:t>
            </a:r>
            <a:r>
              <a:rPr lang="zh-CN" altLang="en-US" b="1" dirty="0"/>
              <a:t>：</a:t>
            </a:r>
            <a:endParaRPr lang="zh-CN" altLang="zh-CN" b="1" dirty="0"/>
          </a:p>
        </p:txBody>
      </p:sp>
    </p:spTree>
    <p:custDataLst>
      <p:tags r:id="rId1"/>
    </p:custDataLst>
  </p:cSld>
  <p:clrMapOvr>
    <a:masterClrMapping/>
  </p:clrMapOvr>
  <p:transition>
    <p:zoom dir="in"/>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8.6.1 </a:t>
            </a:r>
            <a:r>
              <a:rPr sz="2400" dirty="0">
                <a:solidFill>
                  <a:schemeClr val="tx1"/>
                </a:solidFill>
              </a:rPr>
              <a:t>WebApp的特点及应用类型</a:t>
            </a:r>
          </a:p>
        </p:txBody>
      </p:sp>
      <p:grpSp>
        <p:nvGrpSpPr>
          <p:cNvPr id="4" name="组合 3"/>
          <p:cNvGrpSpPr/>
          <p:nvPr/>
        </p:nvGrpSpPr>
        <p:grpSpPr>
          <a:xfrm>
            <a:off x="754380" y="2179320"/>
            <a:ext cx="5481002" cy="1303020"/>
            <a:chOff x="1188" y="3092"/>
            <a:chExt cx="8104" cy="2052"/>
          </a:xfrm>
        </p:grpSpPr>
        <p:grpSp>
          <p:nvGrpSpPr>
            <p:cNvPr id="28" name="组合 27"/>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7</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内容敏感性</a:t>
                </a:r>
              </a:p>
            </p:txBody>
          </p:sp>
        </p:grpSp>
        <p:sp>
          <p:nvSpPr>
            <p:cNvPr id="35" name="矩形 34"/>
            <p:cNvSpPr>
              <a:spLocks noChangeArrowheads="1"/>
            </p:cNvSpPr>
            <p:nvPr/>
          </p:nvSpPr>
          <p:spPr bwMode="auto">
            <a:xfrm>
              <a:off x="1893" y="3848"/>
              <a:ext cx="7399"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内容的质量和艺术性在很大程度上影响WebApp的质量。</a:t>
              </a:r>
            </a:p>
          </p:txBody>
        </p:sp>
      </p:grpSp>
      <p:grpSp>
        <p:nvGrpSpPr>
          <p:cNvPr id="36" name="组合 35"/>
          <p:cNvGrpSpPr/>
          <p:nvPr/>
        </p:nvGrpSpPr>
        <p:grpSpPr>
          <a:xfrm>
            <a:off x="754380" y="3686810"/>
            <a:ext cx="5349612" cy="2034540"/>
            <a:chOff x="1188" y="3092"/>
            <a:chExt cx="7910" cy="3204"/>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8</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持续演化性</a:t>
                </a:r>
              </a:p>
            </p:txBody>
          </p:sp>
        </p:grpSp>
        <p:sp>
          <p:nvSpPr>
            <p:cNvPr id="41" name="矩形 40"/>
            <p:cNvSpPr>
              <a:spLocks noChangeArrowheads="1"/>
            </p:cNvSpPr>
            <p:nvPr/>
          </p:nvSpPr>
          <p:spPr bwMode="auto">
            <a:xfrm>
              <a:off x="1893" y="3848"/>
              <a:ext cx="7205"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传统的应用如软件是随一系列规划好的时间间隔发布而演化的，而Web应用则持续地演化。对于某些WebApp，是以分钟为单位进行更新，或者对每个请求进行独立运算。</a:t>
              </a:r>
            </a:p>
          </p:txBody>
        </p:sp>
      </p:grpSp>
      <p:grpSp>
        <p:nvGrpSpPr>
          <p:cNvPr id="3" name="组合 2"/>
          <p:cNvGrpSpPr/>
          <p:nvPr/>
        </p:nvGrpSpPr>
        <p:grpSpPr>
          <a:xfrm>
            <a:off x="6586855" y="852170"/>
            <a:ext cx="5235315" cy="2049780"/>
            <a:chOff x="1188" y="3092"/>
            <a:chExt cx="7741" cy="3228"/>
          </a:xfrm>
        </p:grpSpPr>
        <p:grpSp>
          <p:nvGrpSpPr>
            <p:cNvPr id="5" name="组合 4"/>
            <p:cNvGrpSpPr/>
            <p:nvPr/>
          </p:nvGrpSpPr>
          <p:grpSpPr>
            <a:xfrm>
              <a:off x="1188" y="3092"/>
              <a:ext cx="7741" cy="930"/>
              <a:chOff x="508000" y="3196191"/>
              <a:chExt cx="4915730" cy="590550"/>
            </a:xfrm>
          </p:grpSpPr>
          <p:sp>
            <p:nvSpPr>
              <p:cNvPr id="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9</a:t>
                </a:r>
              </a:p>
            </p:txBody>
          </p:sp>
          <p:cxnSp>
            <p:nvCxnSpPr>
              <p:cNvPr id="9" name="直接连接符 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即时性</a:t>
                </a:r>
              </a:p>
            </p:txBody>
          </p:sp>
        </p:grpSp>
        <p:sp>
          <p:nvSpPr>
            <p:cNvPr id="11" name="矩形 10"/>
            <p:cNvSpPr>
              <a:spLocks noChangeArrowheads="1"/>
            </p:cNvSpPr>
            <p:nvPr/>
          </p:nvSpPr>
          <p:spPr bwMode="auto">
            <a:xfrm>
              <a:off x="1893" y="3848"/>
              <a:ext cx="6406" cy="24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将WebApp投入市场可能是几天或几周的事情，Web工程师必须经过修改计划、分析、设计、实现、测试等来满足WebApp的时间进度安排。</a:t>
              </a:r>
            </a:p>
          </p:txBody>
        </p:sp>
      </p:grpSp>
      <p:grpSp>
        <p:nvGrpSpPr>
          <p:cNvPr id="12" name="组合 11"/>
          <p:cNvGrpSpPr/>
          <p:nvPr/>
        </p:nvGrpSpPr>
        <p:grpSpPr>
          <a:xfrm>
            <a:off x="6600503" y="2838109"/>
            <a:ext cx="5355966" cy="2034540"/>
            <a:chOff x="1010" y="3092"/>
            <a:chExt cx="7919" cy="3204"/>
          </a:xfrm>
        </p:grpSpPr>
        <p:grpSp>
          <p:nvGrpSpPr>
            <p:cNvPr id="13" name="组合 12"/>
            <p:cNvGrpSpPr/>
            <p:nvPr/>
          </p:nvGrpSpPr>
          <p:grpSpPr>
            <a:xfrm>
              <a:off x="1010" y="3092"/>
              <a:ext cx="7919" cy="930"/>
              <a:chOff x="394715" y="3196191"/>
              <a:chExt cx="5029015" cy="590550"/>
            </a:xfrm>
          </p:grpSpPr>
          <p:sp>
            <p:nvSpPr>
              <p:cNvPr id="14" name="TextBox 1"/>
              <p:cNvSpPr txBox="1">
                <a:spLocks noChangeArrowheads="1"/>
              </p:cNvSpPr>
              <p:nvPr/>
            </p:nvSpPr>
            <p:spPr bwMode="auto">
              <a:xfrm>
                <a:off x="394715" y="3196191"/>
                <a:ext cx="62426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10</a:t>
                </a:r>
              </a:p>
            </p:txBody>
          </p:sp>
          <p:cxnSp>
            <p:nvCxnSpPr>
              <p:cNvPr id="15" name="直接连接符 14"/>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6" name="矩形 15"/>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保密性</a:t>
                </a:r>
              </a:p>
            </p:txBody>
          </p:sp>
        </p:grpSp>
        <p:sp>
          <p:nvSpPr>
            <p:cNvPr id="17" name="矩形 16"/>
            <p:cNvSpPr>
              <a:spLocks noChangeArrowheads="1"/>
            </p:cNvSpPr>
            <p:nvPr/>
          </p:nvSpPr>
          <p:spPr bwMode="auto">
            <a:xfrm>
              <a:off x="1893" y="3848"/>
              <a:ext cx="6409"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由于WebApp是通过网络来访问的，为了保护敏感的内容、提供保密的数据传输模式，在支持WebApp的整个基础设施上必须有较强的保密措施。</a:t>
              </a:r>
            </a:p>
          </p:txBody>
        </p:sp>
      </p:grpSp>
      <p:grpSp>
        <p:nvGrpSpPr>
          <p:cNvPr id="18" name="组合 17"/>
          <p:cNvGrpSpPr/>
          <p:nvPr/>
        </p:nvGrpSpPr>
        <p:grpSpPr>
          <a:xfrm>
            <a:off x="6627798" y="4872649"/>
            <a:ext cx="5288656" cy="1303020"/>
            <a:chOff x="1109" y="3092"/>
            <a:chExt cx="7820" cy="2052"/>
          </a:xfrm>
        </p:grpSpPr>
        <p:grpSp>
          <p:nvGrpSpPr>
            <p:cNvPr id="19" name="组合 18"/>
            <p:cNvGrpSpPr/>
            <p:nvPr/>
          </p:nvGrpSpPr>
          <p:grpSpPr>
            <a:xfrm>
              <a:off x="1109" y="3092"/>
              <a:ext cx="7820" cy="930"/>
              <a:chOff x="457916" y="3196191"/>
              <a:chExt cx="4965814" cy="590550"/>
            </a:xfrm>
          </p:grpSpPr>
          <p:sp>
            <p:nvSpPr>
              <p:cNvPr id="20" name="TextBox 1"/>
              <p:cNvSpPr txBox="1">
                <a:spLocks noChangeArrowheads="1"/>
              </p:cNvSpPr>
              <p:nvPr/>
            </p:nvSpPr>
            <p:spPr bwMode="auto">
              <a:xfrm>
                <a:off x="457916" y="3196191"/>
                <a:ext cx="49785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11</a:t>
                </a:r>
              </a:p>
            </p:txBody>
          </p:sp>
          <p:cxnSp>
            <p:nvCxnSpPr>
              <p:cNvPr id="21" name="直接连接符 2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2" name="矩形 21"/>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美学性</a:t>
                </a:r>
              </a:p>
            </p:txBody>
          </p:sp>
        </p:grpSp>
        <p:sp>
          <p:nvSpPr>
            <p:cNvPr id="23" name="矩形 22"/>
            <p:cNvSpPr>
              <a:spLocks noChangeArrowheads="1"/>
            </p:cNvSpPr>
            <p:nvPr/>
          </p:nvSpPr>
          <p:spPr bwMode="auto">
            <a:xfrm>
              <a:off x="1893" y="3848"/>
              <a:ext cx="6529"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WebApp具有很大的吸引力就是它的美观性。</a:t>
              </a:r>
            </a:p>
          </p:txBody>
        </p:sp>
      </p:grpSp>
    </p:spTree>
    <p:custDataLst>
      <p:tags r:id="rId1"/>
    </p:custDataLst>
  </p:cSld>
  <p:clrMapOvr>
    <a:masterClrMapping/>
  </p:clrMapOvr>
  <p:transition>
    <p:zoom dir="in"/>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sym typeface="+mn-ea"/>
              </a:rPr>
              <a:t>8.6.1 </a:t>
            </a:r>
            <a:r>
              <a:rPr sz="2400" dirty="0">
                <a:solidFill>
                  <a:schemeClr val="tx1"/>
                </a:solidFill>
                <a:sym typeface="+mn-ea"/>
              </a:rPr>
              <a:t>WebApp的特点及应用类型</a:t>
            </a:r>
            <a:endParaRPr sz="2400" dirty="0">
              <a:solidFill>
                <a:schemeClr val="tx1"/>
              </a:solidFill>
            </a:endParaRPr>
          </a:p>
        </p:txBody>
      </p:sp>
      <p:grpSp>
        <p:nvGrpSpPr>
          <p:cNvPr id="3" name="组合 2"/>
          <p:cNvGrpSpPr/>
          <p:nvPr/>
        </p:nvGrpSpPr>
        <p:grpSpPr>
          <a:xfrm>
            <a:off x="849499" y="2559531"/>
            <a:ext cx="5532755" cy="1192530"/>
            <a:chOff x="1630" y="5726"/>
            <a:chExt cx="8713" cy="1878"/>
          </a:xfrm>
        </p:grpSpPr>
        <p:cxnSp>
          <p:nvCxnSpPr>
            <p:cNvPr id="4" name="MH_Other_1"/>
            <p:cNvCxnSpPr/>
            <p:nvPr/>
          </p:nvCxnSpPr>
          <p:spPr>
            <a:xfrm flipH="1">
              <a:off x="2470" y="6041"/>
              <a:ext cx="1545" cy="14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07" y="6041"/>
              <a:ext cx="7136" cy="156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信息型</a:t>
              </a:r>
            </a:p>
            <a:p>
              <a:pPr indent="457200" fontAlgn="auto">
                <a:lnSpc>
                  <a:spcPct val="120000"/>
                </a:lnSpc>
              </a:pPr>
              <a:r>
                <a:rPr lang="zh-CN" altLang="en-US" dirty="0">
                  <a:ea typeface="微软雅黑" panose="020B0503020204020204" charset="-122"/>
                </a:rPr>
                <a:t>使用简单的导航和链接提供只读内容。</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1</a:t>
              </a:r>
            </a:p>
          </p:txBody>
        </p:sp>
      </p:grpSp>
      <p:grpSp>
        <p:nvGrpSpPr>
          <p:cNvPr id="8" name="组合 7"/>
          <p:cNvGrpSpPr/>
          <p:nvPr/>
        </p:nvGrpSpPr>
        <p:grpSpPr>
          <a:xfrm>
            <a:off x="849499" y="3570451"/>
            <a:ext cx="5660390" cy="1121410"/>
            <a:chOff x="1630" y="5726"/>
            <a:chExt cx="8914" cy="1766"/>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1"/>
            <p:cNvSpPr txBox="1">
              <a:spLocks noChangeArrowheads="1"/>
            </p:cNvSpPr>
            <p:nvPr/>
          </p:nvSpPr>
          <p:spPr bwMode="auto">
            <a:xfrm>
              <a:off x="3370" y="5989"/>
              <a:ext cx="7174" cy="150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下载型</a:t>
              </a:r>
              <a:endParaRPr lang="zh-CN" altLang="en-US" b="1" dirty="0">
                <a:solidFill>
                  <a:srgbClr val="00B0F0"/>
                </a:solidFill>
              </a:endParaRPr>
            </a:p>
            <a:p>
              <a:pPr indent="457200" algn="l" fontAlgn="auto">
                <a:lnSpc>
                  <a:spcPct val="130000"/>
                </a:lnSpc>
              </a:pPr>
              <a:r>
                <a:rPr lang="zh-CN" altLang="en-US" dirty="0">
                  <a:ea typeface="微软雅黑" panose="020B0503020204020204" charset="-122"/>
                </a:rPr>
                <a:t>用户从相应的服务器下载信息。</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2</a:t>
              </a:r>
            </a:p>
          </p:txBody>
        </p:sp>
      </p:grpSp>
      <p:grpSp>
        <p:nvGrpSpPr>
          <p:cNvPr id="13" name="组合 12"/>
          <p:cNvGrpSpPr/>
          <p:nvPr/>
        </p:nvGrpSpPr>
        <p:grpSpPr>
          <a:xfrm>
            <a:off x="849499" y="4623128"/>
            <a:ext cx="5937885" cy="1118870"/>
            <a:chOff x="1840" y="2871"/>
            <a:chExt cx="9351" cy="1762"/>
          </a:xfrm>
        </p:grpSpPr>
        <p:cxnSp>
          <p:nvCxnSpPr>
            <p:cNvPr id="14" name="MH_Other_4"/>
            <p:cNvCxnSpPr/>
            <p:nvPr/>
          </p:nvCxnSpPr>
          <p:spPr>
            <a:xfrm flipH="1">
              <a:off x="2680" y="3183"/>
              <a:ext cx="1545" cy="1450"/>
            </a:xfrm>
            <a:prstGeom prst="line">
              <a:avLst/>
            </a:prstGeom>
            <a:ln w="3810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5"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6" name="MH_SubTitle_2"/>
            <p:cNvSpPr txBox="1">
              <a:spLocks noChangeArrowheads="1"/>
            </p:cNvSpPr>
            <p:nvPr/>
          </p:nvSpPr>
          <p:spPr bwMode="auto">
            <a:xfrm>
              <a:off x="3417" y="3183"/>
              <a:ext cx="7774" cy="136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60000"/>
                      <a:lumOff val="40000"/>
                    </a:schemeClr>
                  </a:solidFill>
                  <a:ea typeface="微软雅黑" panose="020B0503020204020204" charset="-122"/>
                </a:rPr>
                <a:t>可定制型</a:t>
              </a:r>
            </a:p>
            <a:p>
              <a:pPr indent="457200" fontAlgn="auto">
                <a:lnSpc>
                  <a:spcPct val="120000"/>
                </a:lnSpc>
              </a:pPr>
              <a:r>
                <a:rPr lang="zh-CN" altLang="en-US" dirty="0">
                  <a:solidFill>
                    <a:schemeClr val="tx1"/>
                  </a:solidFill>
                  <a:ea typeface="微软雅黑" panose="020B0503020204020204" charset="-122"/>
                </a:rPr>
                <a:t>用户根据自己的特殊需要定制内容。</a:t>
              </a:r>
            </a:p>
          </p:txBody>
        </p:sp>
        <p:sp>
          <p:nvSpPr>
            <p:cNvPr id="17"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3600" b="1" dirty="0">
                  <a:solidFill>
                    <a:schemeClr val="accent6">
                      <a:lumMod val="60000"/>
                      <a:lumOff val="40000"/>
                    </a:schemeClr>
                  </a:solidFill>
                  <a:latin typeface="Times New Roman" panose="02020603050405020304" pitchFamily="18" charset="0"/>
                  <a:ea typeface="微软雅黑" panose="020B0503020204020204" charset="-122"/>
                </a:rPr>
                <a:t>3</a:t>
              </a:r>
            </a:p>
          </p:txBody>
        </p:sp>
      </p:grpSp>
      <p:grpSp>
        <p:nvGrpSpPr>
          <p:cNvPr id="18" name="组合 17"/>
          <p:cNvGrpSpPr/>
          <p:nvPr/>
        </p:nvGrpSpPr>
        <p:grpSpPr>
          <a:xfrm>
            <a:off x="6424164" y="2578581"/>
            <a:ext cx="5034915" cy="1608455"/>
            <a:chOff x="1630" y="5726"/>
            <a:chExt cx="7929" cy="2533"/>
          </a:xfrm>
        </p:grpSpPr>
        <p:cxnSp>
          <p:nvCxnSpPr>
            <p:cNvPr id="19" name="MH_Other_1"/>
            <p:cNvCxnSpPr/>
            <p:nvPr/>
          </p:nvCxnSpPr>
          <p:spPr>
            <a:xfrm flipH="1">
              <a:off x="2470" y="6041"/>
              <a:ext cx="1545" cy="1450"/>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1" name="MH_SubTitle_1"/>
            <p:cNvSpPr txBox="1">
              <a:spLocks noChangeArrowheads="1"/>
            </p:cNvSpPr>
            <p:nvPr/>
          </p:nvSpPr>
          <p:spPr bwMode="auto">
            <a:xfrm>
              <a:off x="2795" y="6688"/>
              <a:ext cx="6764" cy="1571"/>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2">
                      <a:lumMod val="60000"/>
                      <a:lumOff val="40000"/>
                    </a:schemeClr>
                  </a:solidFill>
                </a:rPr>
                <a:t>交互型</a:t>
              </a:r>
            </a:p>
            <a:p>
              <a:pPr indent="457200" algn="l" fontAlgn="auto">
                <a:lnSpc>
                  <a:spcPct val="130000"/>
                </a:lnSpc>
              </a:pPr>
              <a:r>
                <a:rPr lang="zh-CN" altLang="en-US" dirty="0">
                  <a:ea typeface="微软雅黑" panose="020B0503020204020204" charset="-122"/>
                </a:rPr>
                <a:t>在用户群体中，通过聊天室、公告牌或即时消息传递进行通信。</a:t>
              </a:r>
            </a:p>
          </p:txBody>
        </p:sp>
        <p:sp>
          <p:nvSpPr>
            <p:cNvPr id="2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2">
                      <a:lumMod val="60000"/>
                      <a:lumOff val="40000"/>
                    </a:schemeClr>
                  </a:solidFill>
                  <a:latin typeface="Times New Roman" panose="02020603050405020304" pitchFamily="18" charset="0"/>
                  <a:ea typeface="微软雅黑" panose="020B0503020204020204" charset="-122"/>
                </a:rPr>
                <a:t>4</a:t>
              </a:r>
            </a:p>
          </p:txBody>
        </p:sp>
      </p:grpSp>
      <p:grpSp>
        <p:nvGrpSpPr>
          <p:cNvPr id="23" name="组合 22"/>
          <p:cNvGrpSpPr/>
          <p:nvPr/>
        </p:nvGrpSpPr>
        <p:grpSpPr>
          <a:xfrm>
            <a:off x="6448294" y="4205298"/>
            <a:ext cx="5010785" cy="1727200"/>
            <a:chOff x="1840" y="2871"/>
            <a:chExt cx="7891" cy="2720"/>
          </a:xfrm>
        </p:grpSpPr>
        <p:cxnSp>
          <p:nvCxnSpPr>
            <p:cNvPr id="24" name="MH_Other_4"/>
            <p:cNvCxnSpPr/>
            <p:nvPr/>
          </p:nvCxnSpPr>
          <p:spPr>
            <a:xfrm flipH="1">
              <a:off x="2680" y="3183"/>
              <a:ext cx="1545" cy="14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25"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6" name="MH_SubTitle_2"/>
            <p:cNvSpPr txBox="1">
              <a:spLocks noChangeArrowheads="1"/>
            </p:cNvSpPr>
            <p:nvPr/>
          </p:nvSpPr>
          <p:spPr bwMode="auto">
            <a:xfrm>
              <a:off x="3035" y="3518"/>
              <a:ext cx="6696" cy="207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92D050"/>
                  </a:solidFill>
                  <a:ea typeface="微软雅黑" panose="020B0503020204020204" charset="-122"/>
                </a:rPr>
                <a:t>用户输入型</a:t>
              </a:r>
            </a:p>
            <a:p>
              <a:pPr indent="457200" fontAlgn="auto">
                <a:lnSpc>
                  <a:spcPct val="120000"/>
                </a:lnSpc>
              </a:pPr>
              <a:r>
                <a:rPr lang="zh-CN" altLang="en-US" dirty="0">
                  <a:solidFill>
                    <a:schemeClr val="tx1"/>
                  </a:solidFill>
                  <a:ea typeface="微软雅黑" panose="020B0503020204020204" charset="-122"/>
                </a:rPr>
                <a:t>基于表格的输入是满足通信要求的主要机制。</a:t>
              </a:r>
            </a:p>
          </p:txBody>
        </p:sp>
        <p:sp>
          <p:nvSpPr>
            <p:cNvPr id="27"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58B933"/>
                  </a:solidFill>
                  <a:latin typeface="Times New Roman" panose="02020603050405020304" pitchFamily="18" charset="0"/>
                  <a:ea typeface="微软雅黑" panose="020B0503020204020204" charset="-122"/>
                </a:rPr>
                <a:t>5</a:t>
              </a:r>
            </a:p>
          </p:txBody>
        </p:sp>
      </p:grpSp>
      <p:sp>
        <p:nvSpPr>
          <p:cNvPr id="30" name="矩形 29"/>
          <p:cNvSpPr/>
          <p:nvPr/>
        </p:nvSpPr>
        <p:spPr>
          <a:xfrm>
            <a:off x="957604" y="2107443"/>
            <a:ext cx="8567395" cy="369332"/>
          </a:xfrm>
          <a:prstGeom prst="rect">
            <a:avLst/>
          </a:prstGeom>
        </p:spPr>
        <p:txBody>
          <a:bodyPr wrap="square">
            <a:spAutoFit/>
          </a:bodyPr>
          <a:lstStyle/>
          <a:p>
            <a:r>
              <a:rPr lang="en-US" altLang="zh-CN" dirty="0" err="1"/>
              <a:t>WebApp</a:t>
            </a:r>
            <a:r>
              <a:rPr lang="zh-CN" altLang="zh-CN" dirty="0"/>
              <a:t>受到大家的欢迎，下面是</a:t>
            </a:r>
            <a:r>
              <a:rPr lang="en-US" altLang="zh-CN" dirty="0"/>
              <a:t>Web</a:t>
            </a:r>
            <a:r>
              <a:rPr lang="zh-CN" altLang="zh-CN" dirty="0"/>
              <a:t>工程（</a:t>
            </a:r>
            <a:r>
              <a:rPr lang="en-US" altLang="zh-CN" dirty="0" err="1"/>
              <a:t>WebE</a:t>
            </a:r>
            <a:r>
              <a:rPr lang="zh-CN" altLang="zh-CN" dirty="0"/>
              <a:t>）的应用类型。</a:t>
            </a:r>
          </a:p>
        </p:txBody>
      </p:sp>
    </p:spTree>
    <p:custDataLst>
      <p:tags r:id="rId1"/>
    </p:custDataLst>
  </p:cSld>
  <p:clrMapOvr>
    <a:masterClrMapping/>
  </p:clrMapOvr>
  <p:transition>
    <p:zoom dir="in"/>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sym typeface="+mn-ea"/>
              </a:rPr>
              <a:t>8.6.1 </a:t>
            </a:r>
            <a:r>
              <a:rPr sz="2400" dirty="0">
                <a:solidFill>
                  <a:schemeClr val="tx1"/>
                </a:solidFill>
                <a:sym typeface="+mn-ea"/>
              </a:rPr>
              <a:t>WebApp的特点及应用类型</a:t>
            </a:r>
            <a:endParaRPr sz="2400" dirty="0">
              <a:solidFill>
                <a:schemeClr val="tx1"/>
              </a:solidFill>
            </a:endParaRPr>
          </a:p>
        </p:txBody>
      </p:sp>
      <p:grpSp>
        <p:nvGrpSpPr>
          <p:cNvPr id="3" name="组合 2"/>
          <p:cNvGrpSpPr/>
          <p:nvPr/>
        </p:nvGrpSpPr>
        <p:grpSpPr>
          <a:xfrm>
            <a:off x="754249" y="2121381"/>
            <a:ext cx="5532755" cy="1192530"/>
            <a:chOff x="1630" y="5726"/>
            <a:chExt cx="8713" cy="1878"/>
          </a:xfrm>
        </p:grpSpPr>
        <p:cxnSp>
          <p:nvCxnSpPr>
            <p:cNvPr id="4" name="MH_Other_1"/>
            <p:cNvCxnSpPr/>
            <p:nvPr/>
          </p:nvCxnSpPr>
          <p:spPr>
            <a:xfrm flipH="1">
              <a:off x="2470" y="6041"/>
              <a:ext cx="1545" cy="14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07" y="6041"/>
              <a:ext cx="7136" cy="156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面向事物型</a:t>
              </a:r>
            </a:p>
            <a:p>
              <a:pPr indent="457200" fontAlgn="auto">
                <a:lnSpc>
                  <a:spcPct val="120000"/>
                </a:lnSpc>
              </a:pPr>
              <a:r>
                <a:rPr lang="zh-CN" altLang="en-US" dirty="0">
                  <a:ea typeface="微软雅黑" panose="020B0503020204020204" charset="-122"/>
                </a:rPr>
                <a:t>用户提交一份由WebApp完成的请求（例如用户名注册）。</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6</a:t>
              </a:r>
            </a:p>
          </p:txBody>
        </p:sp>
      </p:grpSp>
      <p:grpSp>
        <p:nvGrpSpPr>
          <p:cNvPr id="8" name="组合 7"/>
          <p:cNvGrpSpPr/>
          <p:nvPr/>
        </p:nvGrpSpPr>
        <p:grpSpPr>
          <a:xfrm>
            <a:off x="754249" y="3465676"/>
            <a:ext cx="5660390" cy="1121410"/>
            <a:chOff x="1630" y="5726"/>
            <a:chExt cx="8914" cy="1766"/>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1"/>
            <p:cNvSpPr txBox="1">
              <a:spLocks noChangeArrowheads="1"/>
            </p:cNvSpPr>
            <p:nvPr/>
          </p:nvSpPr>
          <p:spPr bwMode="auto">
            <a:xfrm>
              <a:off x="3370" y="5989"/>
              <a:ext cx="7174" cy="150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面向服务型</a:t>
              </a:r>
            </a:p>
            <a:p>
              <a:pPr indent="457200" fontAlgn="auto">
                <a:lnSpc>
                  <a:spcPct val="120000"/>
                </a:lnSpc>
              </a:pPr>
              <a:r>
                <a:rPr lang="zh-CN" altLang="en-US" dirty="0">
                  <a:ea typeface="微软雅黑" panose="020B0503020204020204" charset="-122"/>
                </a:rPr>
                <a:t>应用程序向用户提供服务，例如辅助用户确定支付。</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7</a:t>
              </a:r>
            </a:p>
          </p:txBody>
        </p:sp>
      </p:grpSp>
      <p:grpSp>
        <p:nvGrpSpPr>
          <p:cNvPr id="13" name="组合 12"/>
          <p:cNvGrpSpPr/>
          <p:nvPr/>
        </p:nvGrpSpPr>
        <p:grpSpPr>
          <a:xfrm>
            <a:off x="754249" y="4766003"/>
            <a:ext cx="5937885" cy="1118870"/>
            <a:chOff x="1840" y="2871"/>
            <a:chExt cx="9351" cy="1762"/>
          </a:xfrm>
        </p:grpSpPr>
        <p:cxnSp>
          <p:nvCxnSpPr>
            <p:cNvPr id="14" name="MH_Other_4"/>
            <p:cNvCxnSpPr/>
            <p:nvPr/>
          </p:nvCxnSpPr>
          <p:spPr>
            <a:xfrm flipH="1">
              <a:off x="2680" y="3183"/>
              <a:ext cx="1545" cy="1450"/>
            </a:xfrm>
            <a:prstGeom prst="line">
              <a:avLst/>
            </a:prstGeom>
            <a:ln w="3810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5"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6" name="MH_SubTitle_2"/>
            <p:cNvSpPr txBox="1">
              <a:spLocks noChangeArrowheads="1"/>
            </p:cNvSpPr>
            <p:nvPr/>
          </p:nvSpPr>
          <p:spPr bwMode="auto">
            <a:xfrm>
              <a:off x="3417" y="3183"/>
              <a:ext cx="7774" cy="136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60000"/>
                      <a:lumOff val="40000"/>
                    </a:schemeClr>
                  </a:solidFill>
                  <a:ea typeface="微软雅黑" panose="020B0503020204020204" charset="-122"/>
                </a:rPr>
                <a:t>门户型</a:t>
              </a:r>
            </a:p>
            <a:p>
              <a:pPr indent="457200" fontAlgn="auto">
                <a:lnSpc>
                  <a:spcPct val="120000"/>
                </a:lnSpc>
              </a:pPr>
              <a:r>
                <a:rPr lang="zh-CN" altLang="en-US" dirty="0">
                  <a:solidFill>
                    <a:schemeClr val="tx1"/>
                  </a:solidFill>
                  <a:ea typeface="微软雅黑" panose="020B0503020204020204" charset="-122"/>
                </a:rPr>
                <a:t>应用程序将用户引导到本门户应用范围之外的其他Web内容或服务。</a:t>
              </a:r>
            </a:p>
          </p:txBody>
        </p:sp>
        <p:sp>
          <p:nvSpPr>
            <p:cNvPr id="17"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3600" b="1" dirty="0">
                  <a:solidFill>
                    <a:schemeClr val="accent6">
                      <a:lumMod val="60000"/>
                      <a:lumOff val="40000"/>
                    </a:schemeClr>
                  </a:solidFill>
                  <a:latin typeface="Times New Roman" panose="02020603050405020304" pitchFamily="18" charset="0"/>
                  <a:ea typeface="微软雅黑" panose="020B0503020204020204" charset="-122"/>
                </a:rPr>
                <a:t>8</a:t>
              </a:r>
            </a:p>
          </p:txBody>
        </p:sp>
      </p:grpSp>
      <p:grpSp>
        <p:nvGrpSpPr>
          <p:cNvPr id="18" name="组合 17"/>
          <p:cNvGrpSpPr/>
          <p:nvPr/>
        </p:nvGrpSpPr>
        <p:grpSpPr>
          <a:xfrm>
            <a:off x="6414639" y="2121381"/>
            <a:ext cx="5034915" cy="1608455"/>
            <a:chOff x="1630" y="5726"/>
            <a:chExt cx="7929" cy="2533"/>
          </a:xfrm>
        </p:grpSpPr>
        <p:cxnSp>
          <p:nvCxnSpPr>
            <p:cNvPr id="19" name="MH_Other_1"/>
            <p:cNvCxnSpPr/>
            <p:nvPr/>
          </p:nvCxnSpPr>
          <p:spPr>
            <a:xfrm flipH="1">
              <a:off x="2470" y="6041"/>
              <a:ext cx="1545" cy="1450"/>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1" name="MH_SubTitle_1"/>
            <p:cNvSpPr txBox="1">
              <a:spLocks noChangeArrowheads="1"/>
            </p:cNvSpPr>
            <p:nvPr/>
          </p:nvSpPr>
          <p:spPr bwMode="auto">
            <a:xfrm>
              <a:off x="2795" y="6688"/>
              <a:ext cx="6764" cy="1571"/>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2">
                      <a:lumMod val="60000"/>
                      <a:lumOff val="40000"/>
                    </a:schemeClr>
                  </a:solidFill>
                </a:rPr>
                <a:t>数据访问型</a:t>
              </a:r>
            </a:p>
            <a:p>
              <a:pPr indent="457200" fontAlgn="auto">
                <a:lnSpc>
                  <a:spcPct val="120000"/>
                </a:lnSpc>
              </a:pPr>
              <a:r>
                <a:rPr lang="zh-CN" altLang="en-US" dirty="0">
                  <a:ea typeface="微软雅黑" panose="020B0503020204020204" charset="-122"/>
                </a:rPr>
                <a:t>用户查询大型数据库并提取信息。</a:t>
              </a:r>
            </a:p>
          </p:txBody>
        </p:sp>
        <p:sp>
          <p:nvSpPr>
            <p:cNvPr id="2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2">
                      <a:lumMod val="60000"/>
                      <a:lumOff val="40000"/>
                    </a:schemeClr>
                  </a:solidFill>
                  <a:latin typeface="Times New Roman" panose="02020603050405020304" pitchFamily="18" charset="0"/>
                  <a:ea typeface="微软雅黑" panose="020B0503020204020204" charset="-122"/>
                </a:rPr>
                <a:t>9</a:t>
              </a:r>
            </a:p>
          </p:txBody>
        </p:sp>
      </p:grpSp>
      <p:grpSp>
        <p:nvGrpSpPr>
          <p:cNvPr id="23" name="组合 22"/>
          <p:cNvGrpSpPr/>
          <p:nvPr/>
        </p:nvGrpSpPr>
        <p:grpSpPr>
          <a:xfrm>
            <a:off x="6438769" y="4100523"/>
            <a:ext cx="5010785" cy="1727200"/>
            <a:chOff x="1840" y="2871"/>
            <a:chExt cx="7891" cy="2720"/>
          </a:xfrm>
        </p:grpSpPr>
        <p:cxnSp>
          <p:nvCxnSpPr>
            <p:cNvPr id="24" name="MH_Other_4"/>
            <p:cNvCxnSpPr/>
            <p:nvPr/>
          </p:nvCxnSpPr>
          <p:spPr>
            <a:xfrm flipH="1">
              <a:off x="2680" y="3183"/>
              <a:ext cx="1545" cy="14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25"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6" name="MH_SubTitle_2"/>
            <p:cNvSpPr txBox="1">
              <a:spLocks noChangeArrowheads="1"/>
            </p:cNvSpPr>
            <p:nvPr/>
          </p:nvSpPr>
          <p:spPr bwMode="auto">
            <a:xfrm>
              <a:off x="3035" y="3518"/>
              <a:ext cx="6696" cy="207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92D050"/>
                  </a:solidFill>
                  <a:ea typeface="微软雅黑" panose="020B0503020204020204" charset="-122"/>
                </a:rPr>
                <a:t>数据仓库型</a:t>
              </a:r>
            </a:p>
            <a:p>
              <a:pPr indent="457200" fontAlgn="auto">
                <a:lnSpc>
                  <a:spcPct val="120000"/>
                </a:lnSpc>
              </a:pPr>
              <a:r>
                <a:rPr lang="zh-CN" altLang="en-US" dirty="0">
                  <a:solidFill>
                    <a:schemeClr val="tx1"/>
                  </a:solidFill>
                  <a:ea typeface="微软雅黑" panose="020B0503020204020204" charset="-122"/>
                </a:rPr>
                <a:t>用户查询一组大型数据库并提取信息。</a:t>
              </a:r>
            </a:p>
          </p:txBody>
        </p:sp>
        <p:sp>
          <p:nvSpPr>
            <p:cNvPr id="27"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58B933"/>
                  </a:solidFill>
                  <a:latin typeface="Times New Roman" panose="02020603050405020304" pitchFamily="18" charset="0"/>
                  <a:ea typeface="微软雅黑" panose="020B0503020204020204" charset="-122"/>
                </a:rPr>
                <a:t>10</a:t>
              </a:r>
            </a:p>
          </p:txBody>
        </p:sp>
      </p:grpSp>
    </p:spTree>
    <p:custDataLst>
      <p:tags r:id="rId1"/>
    </p:custDataLst>
  </p:cSld>
  <p:clrMapOvr>
    <a:masterClrMapping/>
  </p:clrMapOvr>
  <p:transition>
    <p:zoom dir="in"/>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sz="2400" dirty="0">
                <a:solidFill>
                  <a:schemeClr val="tx1"/>
                </a:solidFill>
              </a:rPr>
              <a:t>WebApp的需求工程</a:t>
            </a:r>
          </a:p>
        </p:txBody>
      </p:sp>
      <p:pic>
        <p:nvPicPr>
          <p:cNvPr id="28" name="图片 1" descr="问号16.jpg"/>
          <p:cNvPicPr>
            <a:picLocks noGrp="1" noChangeAspect="1"/>
          </p:cNvPicPr>
          <p:nvPr isPhoto="1"/>
        </p:nvPicPr>
        <p:blipFill>
          <a:blip r:embed="rId4" cstate="print">
            <a:clrChange>
              <a:clrFrom>
                <a:srgbClr val="FDFDFD"/>
              </a:clrFrom>
              <a:clrTo>
                <a:srgbClr val="FDFDFD">
                  <a:alpha val="0"/>
                </a:srgbClr>
              </a:clrTo>
            </a:clrChange>
          </a:blip>
          <a:srcRect l="9666" t="7668" r="1997" b="9265"/>
          <a:stretch>
            <a:fillRect/>
          </a:stretch>
        </p:blipFill>
        <p:spPr bwMode="auto">
          <a:xfrm>
            <a:off x="0" y="2652395"/>
            <a:ext cx="5315585" cy="3749040"/>
          </a:xfrm>
          <a:prstGeom prst="rect">
            <a:avLst/>
          </a:prstGeom>
          <a:noFill/>
          <a:ln w="9525">
            <a:noFill/>
            <a:miter lim="800000"/>
            <a:headEnd/>
            <a:tailEnd/>
          </a:ln>
        </p:spPr>
      </p:pic>
      <p:sp>
        <p:nvSpPr>
          <p:cNvPr id="30" name="文本框 29"/>
          <p:cNvSpPr txBox="1"/>
          <p:nvPr/>
        </p:nvSpPr>
        <p:spPr>
          <a:xfrm>
            <a:off x="4627880" y="1969770"/>
            <a:ext cx="7021830" cy="3794760"/>
          </a:xfrm>
          <a:prstGeom prst="rect">
            <a:avLst/>
          </a:prstGeom>
          <a:noFill/>
        </p:spPr>
        <p:txBody>
          <a:bodyPr wrap="square" rtlCol="0" anchor="t">
            <a:spAutoFit/>
          </a:bodyPr>
          <a:lstStyle/>
          <a:p>
            <a:pPr marL="285750" indent="-285750" fontAlgn="auto">
              <a:lnSpc>
                <a:spcPct val="150000"/>
              </a:lnSpc>
              <a:buFont typeface="Arial" panose="020B0604020202020204" pitchFamily="34" charset="0"/>
              <a:buChar char="•"/>
            </a:pPr>
            <a:r>
              <a:rPr lang="zh-CN" altLang="en-US">
                <a:latin typeface="微软雅黑" panose="020B0503020204020204" charset="-122"/>
                <a:ea typeface="微软雅黑" panose="020B0503020204020204" charset="-122"/>
              </a:rPr>
              <a:t>在设计开发一个WebApp工程时，首先要明确需求目标，要明白：</a:t>
            </a:r>
          </a:p>
          <a:p>
            <a:pPr fontAlgn="auto">
              <a:lnSpc>
                <a:spcPct val="150000"/>
              </a:lnSpc>
            </a:pPr>
            <a:r>
              <a:rPr lang="zh-CN" altLang="en-US">
                <a:latin typeface="微软雅黑" panose="020B0503020204020204" charset="-122"/>
                <a:ea typeface="微软雅黑" panose="020B0503020204020204" charset="-122"/>
              </a:rPr>
              <a:t>① WebApp的业务需求是什么？</a:t>
            </a:r>
          </a:p>
          <a:p>
            <a:pPr fontAlgn="auto">
              <a:lnSpc>
                <a:spcPct val="150000"/>
              </a:lnSpc>
            </a:pPr>
            <a:r>
              <a:rPr lang="zh-CN" altLang="en-US">
                <a:latin typeface="微软雅黑" panose="020B0503020204020204" charset="-122"/>
                <a:ea typeface="微软雅黑" panose="020B0503020204020204" charset="-122"/>
              </a:rPr>
              <a:t>② WebApp必须完成的目标是什么？</a:t>
            </a:r>
          </a:p>
          <a:p>
            <a:pPr fontAlgn="auto">
              <a:lnSpc>
                <a:spcPct val="150000"/>
              </a:lnSpc>
            </a:pPr>
            <a:r>
              <a:rPr lang="zh-CN" altLang="en-US">
                <a:latin typeface="微软雅黑" panose="020B0503020204020204" charset="-122"/>
                <a:ea typeface="微软雅黑" panose="020B0503020204020204" charset="-122"/>
              </a:rPr>
              <a:t>③ 谁将使用WebApp？即WebApp服务的对象是谁？</a:t>
            </a:r>
          </a:p>
          <a:p>
            <a:pPr marL="285750" indent="-285750" fontAlgn="auto">
              <a:lnSpc>
                <a:spcPct val="150000"/>
              </a:lnSpc>
              <a:buFont typeface="Arial" panose="020B0604020202020204" pitchFamily="34" charset="0"/>
              <a:buChar char="•"/>
            </a:pPr>
            <a:r>
              <a:rPr lang="zh-CN" altLang="en-US">
                <a:latin typeface="微软雅黑" panose="020B0503020204020204" charset="-122"/>
                <a:ea typeface="微软雅黑" panose="020B0503020204020204" charset="-122"/>
              </a:rPr>
              <a:t>通过调查，一定要了解并解决以下3个问题：</a:t>
            </a:r>
          </a:p>
          <a:p>
            <a:pPr fontAlgn="auto">
              <a:lnSpc>
                <a:spcPct val="150000"/>
              </a:lnSpc>
            </a:pPr>
            <a:r>
              <a:rPr lang="zh-CN" altLang="en-US">
                <a:latin typeface="微软雅黑" panose="020B0503020204020204" charset="-122"/>
                <a:ea typeface="微软雅黑" panose="020B0503020204020204" charset="-122"/>
              </a:rPr>
              <a:t>（1）表达或处理的信息或内容是什么？</a:t>
            </a:r>
          </a:p>
          <a:p>
            <a:pPr fontAlgn="auto">
              <a:lnSpc>
                <a:spcPct val="150000"/>
              </a:lnSpc>
            </a:pPr>
            <a:r>
              <a:rPr lang="zh-CN" altLang="en-US">
                <a:latin typeface="微软雅黑" panose="020B0503020204020204" charset="-122"/>
                <a:ea typeface="微软雅黑" panose="020B0503020204020204" charset="-122"/>
              </a:rPr>
              <a:t>（2）为用户提供的功能是什么？</a:t>
            </a:r>
          </a:p>
          <a:p>
            <a:pPr fontAlgn="auto">
              <a:lnSpc>
                <a:spcPct val="150000"/>
              </a:lnSpc>
            </a:pPr>
            <a:r>
              <a:rPr lang="zh-CN" altLang="en-US">
                <a:latin typeface="微软雅黑" panose="020B0503020204020204" charset="-122"/>
                <a:ea typeface="微软雅黑" panose="020B0503020204020204" charset="-122"/>
              </a:rPr>
              <a:t>（3）对各类用户定义不同的交互场景，当WebApp表达内容和执行功能时，它表现出来的行为是什么？</a:t>
            </a:r>
          </a:p>
        </p:txBody>
      </p:sp>
    </p:spTree>
    <p:custDataLst>
      <p:tags r:id="rId1"/>
    </p:custDataLst>
  </p:cSld>
  <p:clrMapOvr>
    <a:masterClrMapping/>
  </p:clrMapOvr>
  <p:transition>
    <p:zoom dir="in"/>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sp>
        <p:nvSpPr>
          <p:cNvPr id="8" name="MH_Other_1"/>
          <p:cNvSpPr/>
          <p:nvPr>
            <p:custDataLst>
              <p:tags r:id="rId2"/>
            </p:custDataLst>
          </p:nvPr>
        </p:nvSpPr>
        <p:spPr bwMode="auto">
          <a:xfrm>
            <a:off x="802639" y="1969135"/>
            <a:ext cx="11151235" cy="4417060"/>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3" name="文本框 2"/>
          <p:cNvSpPr txBox="1"/>
          <p:nvPr/>
        </p:nvSpPr>
        <p:spPr>
          <a:xfrm>
            <a:off x="1275080" y="2185035"/>
            <a:ext cx="6935470" cy="3970318"/>
          </a:xfrm>
          <a:prstGeom prst="rect">
            <a:avLst/>
          </a:prstGeom>
          <a:noFill/>
        </p:spPr>
        <p:txBody>
          <a:bodyPr wrap="square" rtlCol="0" anchor="t">
            <a:spAutoFit/>
          </a:bodyPr>
          <a:lstStyle/>
          <a:p>
            <a:pPr fontAlgn="auto">
              <a:lnSpc>
                <a:spcPct val="140000"/>
              </a:lnSpc>
            </a:pPr>
            <a:r>
              <a:rPr lang="en-US" altLang="zh-CN" dirty="0">
                <a:latin typeface="微软雅黑" panose="020B0503020204020204" charset="-122"/>
                <a:ea typeface="微软雅黑" panose="020B0503020204020204" charset="-122"/>
              </a:rPr>
              <a:t>       </a:t>
            </a:r>
            <a:r>
              <a:rPr lang="zh-CN" altLang="en-US" dirty="0">
                <a:latin typeface="微软雅黑" panose="020B0503020204020204" charset="-122"/>
                <a:ea typeface="微软雅黑" panose="020B0503020204020204" charset="-122"/>
              </a:rPr>
              <a:t>由于WebApp需求工程的诸多特性，导致Web应用需求工程中经常会出现需求范围未界定、需求未细化、需求描述不清楚、需求遗漏和需求互相矛盾等问题。Web应用需求阶段不但要分析Web应用本身的功能和性能，还要对可能的用户群体进行分析和调查，并根据分析结果制定生成模型。</a:t>
            </a:r>
          </a:p>
          <a:p>
            <a:pPr fontAlgn="auto">
              <a:lnSpc>
                <a:spcPct val="140000"/>
              </a:lnSpc>
            </a:pPr>
            <a:r>
              <a:rPr lang="zh-CN" altLang="en-US" dirty="0">
                <a:latin typeface="微软雅黑" panose="020B0503020204020204" charset="-122"/>
                <a:ea typeface="微软雅黑" panose="020B0503020204020204" charset="-122"/>
              </a:rPr>
              <a:t>       Web应用规模的大型化、功能复杂化，使得Web应用需求的开发和管理也日益复杂，需求工程自身也面临着需求获取与需求分析、需求表示、需求确认和验证等问题。与传统软件工程一样，Web应用需求工程的活动一般也可以分为</a:t>
            </a:r>
            <a:r>
              <a:rPr lang="zh-CN" altLang="en-US" b="1" dirty="0">
                <a:solidFill>
                  <a:srgbClr val="C00000"/>
                </a:solidFill>
                <a:latin typeface="微软雅黑" panose="020B0503020204020204" charset="-122"/>
                <a:ea typeface="微软雅黑" panose="020B0503020204020204" charset="-122"/>
              </a:rPr>
              <a:t>需求获取、需求分析、需求文档编写、需求确认与验证、需求跟踪与需求复用</a:t>
            </a:r>
            <a:r>
              <a:rPr lang="zh-CN" altLang="en-US" dirty="0">
                <a:latin typeface="微软雅黑" panose="020B0503020204020204" charset="-122"/>
                <a:ea typeface="微软雅黑" panose="020B0503020204020204" charset="-122"/>
              </a:rPr>
              <a:t>5个阶段。</a:t>
            </a:r>
          </a:p>
        </p:txBody>
      </p:sp>
      <p:pic>
        <p:nvPicPr>
          <p:cNvPr id="4" name="图片 3" descr="A000220150318K65PPIC"/>
          <p:cNvPicPr>
            <a:picLocks noChangeAspect="1"/>
          </p:cNvPicPr>
          <p:nvPr/>
        </p:nvPicPr>
        <p:blipFill>
          <a:blip r:embed="rId5" cstate="print"/>
          <a:stretch>
            <a:fillRect/>
          </a:stretch>
        </p:blipFill>
        <p:spPr>
          <a:xfrm>
            <a:off x="8426450" y="1771015"/>
            <a:ext cx="3118352" cy="4391660"/>
          </a:xfrm>
          <a:prstGeom prst="rect">
            <a:avLst/>
          </a:prstGeom>
        </p:spPr>
      </p:pic>
    </p:spTree>
    <p:custDataLst>
      <p:tags r:id="rId1"/>
    </p:custDataLst>
  </p:cSld>
  <p:clrMapOvr>
    <a:masterClrMapping/>
  </p:clrMapOvr>
  <p:transition>
    <p:zoom dir="in"/>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sp>
        <p:nvSpPr>
          <p:cNvPr id="7" name="MH_Text_1"/>
          <p:cNvSpPr txBox="1"/>
          <p:nvPr>
            <p:custDataLst>
              <p:tags r:id="rId2"/>
            </p:custDataLst>
          </p:nvPr>
        </p:nvSpPr>
        <p:spPr>
          <a:xfrm>
            <a:off x="4067175" y="2886075"/>
            <a:ext cx="7328535" cy="2705100"/>
          </a:xfrm>
          <a:prstGeom prst="rect">
            <a:avLst/>
          </a:prstGeom>
          <a:noFill/>
        </p:spPr>
        <p:txBody>
          <a:bodyPr lIns="72000" tIns="72000" rIns="72000" bIns="72000">
            <a:normAutofit fontScale="77500" lnSpcReduction="20000"/>
          </a:bodyPr>
          <a:lstStyle/>
          <a:p>
            <a:pPr indent="457200">
              <a:lnSpc>
                <a:spcPct val="150000"/>
              </a:lnSpc>
            </a:pPr>
            <a:r>
              <a:rPr lang="zh-CN" altLang="en-US" dirty="0"/>
              <a:t>需求获取首先需要的是技术的支持。其次，在需求获取工作中主要涉及了</a:t>
            </a:r>
            <a:r>
              <a:rPr lang="en-US" altLang="zh-CN" dirty="0"/>
              <a:t>3</a:t>
            </a:r>
            <a:r>
              <a:rPr lang="zh-CN" altLang="en-US" dirty="0"/>
              <a:t>个至关重要的因素：应搜集什么信息；从什么来源中搜集信息；用什么机制或技术搜集信息。再次，需求获取的开始，代表着软件项目正式开始实施。</a:t>
            </a:r>
          </a:p>
          <a:p>
            <a:pPr indent="457200">
              <a:lnSpc>
                <a:spcPct val="150000"/>
              </a:lnSpc>
            </a:pPr>
            <a:r>
              <a:rPr lang="zh-CN" altLang="en-US" dirty="0"/>
              <a:t>综合上述三点，使得需求获取成为软件开发中最困难、最关键、最易出错，也是最需要交流的阶段。这种交流包括系统开发方与用户方领导之间的交流，也包括具体开发者与领导及用户之间的交流。在工作开展中，主要是就业务流程、组织架构、软硬件环境和现有系统等相关内容进行沟通，挖掘系统最终用户的真正需求，把握需求的方向。在需求获取调研会中必须对需求获取方法做验证。现行的需求获取方法一般有基于调查的需求获取方法、基于用例的需求获取方法、原型法等几种方法。各种需求获取方法各有利弊。</a:t>
            </a:r>
          </a:p>
        </p:txBody>
      </p:sp>
      <p:grpSp>
        <p:nvGrpSpPr>
          <p:cNvPr id="8" name="组合 7"/>
          <p:cNvGrpSpPr/>
          <p:nvPr/>
        </p:nvGrpSpPr>
        <p:grpSpPr>
          <a:xfrm>
            <a:off x="15240" y="1725930"/>
            <a:ext cx="12209145" cy="4015740"/>
            <a:chOff x="24" y="2718"/>
            <a:chExt cx="19227" cy="6324"/>
          </a:xfrm>
        </p:grpSpPr>
        <p:grpSp>
          <p:nvGrpSpPr>
            <p:cNvPr id="9" name="组合 9"/>
            <p:cNvGrpSpPr/>
            <p:nvPr/>
          </p:nvGrpSpPr>
          <p:grpSpPr>
            <a:xfrm>
              <a:off x="24" y="4247"/>
              <a:ext cx="18941" cy="4787"/>
              <a:chOff x="0" y="2130426"/>
              <a:chExt cx="21645385" cy="3649762"/>
            </a:xfrm>
          </p:grpSpPr>
          <p:sp>
            <p:nvSpPr>
              <p:cNvPr id="14" name="MH_Other_1"/>
              <p:cNvSpPr/>
              <p:nvPr>
                <p:custDataLst>
                  <p:tags r:id="rId6"/>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2"/>
              <p:cNvSpPr/>
              <p:nvPr>
                <p:custDataLst>
                  <p:tags r:id="rId7"/>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3"/>
              <p:cNvSpPr/>
              <p:nvPr>
                <p:custDataLst>
                  <p:tags r:id="rId8"/>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7" name="MH_Other_4"/>
              <p:cNvSpPr>
                <a:spLocks noChangeArrowheads="1"/>
              </p:cNvSpPr>
              <p:nvPr>
                <p:custDataLst>
                  <p:tags r:id="rId9"/>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8" name="MH_Other_5"/>
              <p:cNvSpPr>
                <a:spLocks noChangeArrowheads="1"/>
              </p:cNvSpPr>
              <p:nvPr>
                <p:custDataLst>
                  <p:tags r:id="rId10"/>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0" name="MH_Other_6"/>
              <p:cNvSpPr>
                <a:spLocks noChangeArrowheads="1"/>
              </p:cNvSpPr>
              <p:nvPr>
                <p:custDataLst>
                  <p:tags r:id="rId11"/>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7"/>
              <p:cNvSpPr/>
              <p:nvPr>
                <p:custDataLst>
                  <p:tags r:id="rId12"/>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grpSp>
        <p:grpSp>
          <p:nvGrpSpPr>
            <p:cNvPr id="10" name="组合 33"/>
            <p:cNvGrpSpPr/>
            <p:nvPr/>
          </p:nvGrpSpPr>
          <p:grpSpPr>
            <a:xfrm flipH="1">
              <a:off x="11357" y="2718"/>
              <a:ext cx="7895" cy="1533"/>
              <a:chOff x="1" y="3428100"/>
              <a:chExt cx="5013433" cy="973302"/>
            </a:xfrm>
          </p:grpSpPr>
          <p:sp>
            <p:nvSpPr>
              <p:cNvPr id="11"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需求获取阶段</a:t>
                </a:r>
              </a:p>
            </p:txBody>
          </p:sp>
          <p:sp>
            <p:nvSpPr>
              <p:cNvPr id="12"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13"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zoom dir="in"/>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317989" y="2328696"/>
                <a:ext cx="13383360" cy="2982233"/>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spAutoFit/>
              </a:bodyPr>
              <a:lstStyle/>
              <a:p>
                <a:pPr indent="457200">
                  <a:lnSpc>
                    <a:spcPct val="130000"/>
                  </a:lnSpc>
                  <a:defRPr/>
                </a:pPr>
                <a:r>
                  <a:rPr lang="da-DK" altLang="zh-CN" dirty="0">
                    <a:solidFill>
                      <a:schemeClr val="tx1"/>
                    </a:solidFill>
                  </a:rPr>
                  <a:t>需求分析与需求获取是密切相关的，需求获取是需求分析的基础，需求分析是需求获取的直接表现，两者相互促进，相互制约。需求分析与需求获取的不同，主要在于需求分析是在已经了解用户方的实际的、较全面客观的业务需求以及相关信息的基础上，结合软、硬件实现方案，并做出初步的系统原型给用户方做演示。用户方通过原型演示来体验业务流程的合理化、准确性和易用性。同时，用户还要通过原型演示及时地发现并提出其中存在的问题和改进意见和方法。</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需求分析阶段</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zoom dir="in"/>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317989" y="2328696"/>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需求开发的最终成果是，在对所要开发的产品达成共识后编写具体的文档。需求文档是在需求获取和需求分析两个阶段任务结束时生成的，所以文档要包含所有需求。</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在此阶段先要从软件工程和文档管理的角度出发，依据相关的标准审核需求文档内容，确定需求文档内容是否完整，并对需求文档中存在的问题进行修改。</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需求文档编写阶段</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zoom dir="in"/>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455137" y="3025448"/>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需求确认主要是针对《软件需求规格说明书》的评审，保证需求符合要求，具有优秀需求的特征，并且符合好的需求规格说明的特征。《软件需求规格说明书》用于与其他软件开发人员（设计人员、测试人员、维护人员）交流，探讨最终产品的功能。</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需求确认阶段</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4</a:t>
                </a: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zoom dir="in"/>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317989" y="2328696"/>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需求跟踪是指通过比较需求文档与后续工作成果之间的对应关系，确保产品依据需求文档进行开发，建立与维护“需求－设计－编程－测试”之间的一致性，确保所有工作成果符合用户需求。需求跟踪是一项需要进行大量手工劳动的任务，在系统开发和维护的过程中，一定要随时对跟踪联系链信息进行更新。需求跟踪能力的好坏会直接影响产品质量，降低维护成本，容易实现复用，同时，需求跟踪还需要用户方的大力支持。</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需求跟踪阶段</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5</a:t>
                </a: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zoom dir="in"/>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239" descr="8-11"/>
          <p:cNvPicPr>
            <a:picLocks noChangeAspect="1"/>
          </p:cNvPicPr>
          <p:nvPr/>
        </p:nvPicPr>
        <p:blipFill>
          <a:blip r:embed="rId5" cstate="print"/>
          <a:stretch>
            <a:fillRect/>
          </a:stretch>
        </p:blipFill>
        <p:spPr>
          <a:xfrm>
            <a:off x="876300" y="2108200"/>
            <a:ext cx="10358755" cy="2557780"/>
          </a:xfrm>
          <a:prstGeom prst="rect">
            <a:avLst/>
          </a:prstGeom>
          <a:noFill/>
          <a:ln w="9525">
            <a:noFill/>
          </a:ln>
        </p:spPr>
      </p:pic>
      <p:sp>
        <p:nvSpPr>
          <p:cNvPr id="3" name="标题 2"/>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sp>
        <p:nvSpPr>
          <p:cNvPr id="5" name="MH_Text_1"/>
          <p:cNvSpPr/>
          <p:nvPr>
            <p:custDataLst>
              <p:tags r:id="rId2"/>
            </p:custDataLst>
          </p:nvPr>
        </p:nvSpPr>
        <p:spPr>
          <a:xfrm>
            <a:off x="943610" y="4547235"/>
            <a:ext cx="10358755" cy="1668780"/>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indent="457200">
              <a:lnSpc>
                <a:spcPct val="130000"/>
              </a:lnSpc>
            </a:pPr>
            <a:r>
              <a:rPr dirty="0">
                <a:solidFill>
                  <a:schemeClr val="tx1"/>
                </a:solidFill>
                <a:latin typeface="+mn-ea"/>
              </a:rPr>
              <a:t>在</a:t>
            </a:r>
            <a:r>
              <a:rPr lang="zh-CN" altLang="en-US" dirty="0">
                <a:solidFill>
                  <a:schemeClr val="tx1"/>
                </a:solidFill>
                <a:latin typeface="+mn-ea"/>
              </a:rPr>
              <a:t>上图</a:t>
            </a:r>
            <a:r>
              <a:rPr dirty="0">
                <a:solidFill>
                  <a:schemeClr val="tx1"/>
                </a:solidFill>
                <a:latin typeface="+mn-ea"/>
              </a:rPr>
              <a:t>中描述了Web需求工程的5个阶段，需求分析员收集用户的需求，接着用模型或原型来获取需求，进行需求分析。当需求被理解后，进入到软件需求文档规格说明编写阶段，在该阶段中，决定哪些必须的行为要在软件中实现。在确认阶段，检查规格说明是否与客户在最终产品中看到的功能相匹配，检查或修改规格说明书中的问题。通过修改、跟踪与复用来完善需求，确保设计顺利完成。</a:t>
            </a:r>
          </a:p>
        </p:txBody>
      </p:sp>
    </p:spTree>
    <p:custDataLst>
      <p:tags r:id="rId1"/>
    </p:custDataLst>
  </p:cSld>
  <p:clrMapOvr>
    <a:masterClrMapping/>
  </p:clrMapOvr>
  <p:transition>
    <p:zoom dir="in"/>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1036320" y="2875280"/>
            <a:ext cx="6009640" cy="2120902"/>
          </a:xfrm>
          <a:prstGeom prst="rect">
            <a:avLst/>
          </a:prstGeom>
        </p:spPr>
        <p:txBody>
          <a:bodyPr wrap="square">
            <a:spAutoFit/>
          </a:bodyPr>
          <a:lstStyle/>
          <a:p>
            <a:pPr indent="457200">
              <a:lnSpc>
                <a:spcPct val="150000"/>
              </a:lnSpc>
              <a:defRPr/>
            </a:pPr>
            <a:r>
              <a:rPr lang="zh-CN" altLang="en-US" kern="0" dirty="0">
                <a:latin typeface="微软雅黑" panose="020B0503020204020204" charset="-122"/>
                <a:ea typeface="微软雅黑" panose="020B0503020204020204" charset="-122"/>
                <a:cs typeface="宋体" panose="02010600030101010101" pitchFamily="2" charset="-122"/>
              </a:rPr>
              <a:t>（</a:t>
            </a:r>
            <a:r>
              <a:rPr lang="en-US" altLang="zh-CN" kern="0" dirty="0">
                <a:latin typeface="微软雅黑" panose="020B0503020204020204" charset="-122"/>
                <a:ea typeface="微软雅黑" panose="020B0503020204020204" charset="-122"/>
                <a:cs typeface="宋体" panose="02010600030101010101" pitchFamily="2" charset="-122"/>
              </a:rPr>
              <a:t>1</a:t>
            </a:r>
            <a:r>
              <a:rPr lang="zh-CN" altLang="en-US" kern="0" dirty="0">
                <a:latin typeface="微软雅黑" panose="020B0503020204020204" charset="-122"/>
                <a:ea typeface="微软雅黑" panose="020B0503020204020204" charset="-122"/>
                <a:cs typeface="宋体" panose="02010600030101010101" pitchFamily="2" charset="-122"/>
              </a:rPr>
              <a:t>）功能需求就是</a:t>
            </a:r>
            <a:r>
              <a:rPr lang="en-US" altLang="zh-CN" kern="0" dirty="0">
                <a:latin typeface="微软雅黑" panose="020B0503020204020204" charset="-122"/>
                <a:ea typeface="微软雅黑" panose="020B0503020204020204" charset="-122"/>
                <a:cs typeface="宋体" panose="02010600030101010101" pitchFamily="2" charset="-122"/>
              </a:rPr>
              <a:t>Web</a:t>
            </a:r>
            <a:r>
              <a:rPr lang="zh-CN" altLang="en-US" kern="0" dirty="0">
                <a:latin typeface="微软雅黑" panose="020B0503020204020204" charset="-122"/>
                <a:ea typeface="微软雅黑" panose="020B0503020204020204" charset="-122"/>
                <a:cs typeface="宋体" panose="02010600030101010101" pitchFamily="2" charset="-122"/>
              </a:rPr>
              <a:t>应用有什么用，需要做什么，能够为用户提供什么功能，能解决哪些问题。</a:t>
            </a:r>
            <a:r>
              <a:rPr lang="en-US" altLang="zh-CN" kern="0" dirty="0">
                <a:latin typeface="微软雅黑" panose="020B0503020204020204" charset="-122"/>
                <a:ea typeface="微软雅黑" panose="020B0503020204020204" charset="-122"/>
                <a:cs typeface="宋体" panose="02010600030101010101" pitchFamily="2" charset="-122"/>
              </a:rPr>
              <a:t>Web</a:t>
            </a:r>
            <a:r>
              <a:rPr lang="zh-CN" altLang="en-US" kern="0" dirty="0">
                <a:latin typeface="微软雅黑" panose="020B0503020204020204" charset="-122"/>
                <a:ea typeface="微软雅黑" panose="020B0503020204020204" charset="-122"/>
                <a:cs typeface="宋体" panose="02010600030101010101" pitchFamily="2" charset="-122"/>
              </a:rPr>
              <a:t>应用的功能需求是有层次性的，有核心功能要求和辅助功能要求。在开发过程中应该优先实现核心功能。功能需求常用</a:t>
            </a:r>
            <a:r>
              <a:rPr lang="en-US" altLang="zh-CN" kern="0" dirty="0">
                <a:latin typeface="微软雅黑" panose="020B0503020204020204" charset="-122"/>
                <a:ea typeface="微软雅黑" panose="020B0503020204020204" charset="-122"/>
                <a:cs typeface="宋体" panose="02010600030101010101" pitchFamily="2" charset="-122"/>
              </a:rPr>
              <a:t>UML</a:t>
            </a:r>
            <a:r>
              <a:rPr lang="zh-CN" altLang="en-US" kern="0" dirty="0">
                <a:latin typeface="微软雅黑" panose="020B0503020204020204" charset="-122"/>
                <a:ea typeface="微软雅黑" panose="020B0503020204020204" charset="-122"/>
                <a:cs typeface="宋体" panose="02010600030101010101" pitchFamily="2" charset="-122"/>
              </a:rPr>
              <a:t>中的用例图进行描述。</a:t>
            </a:r>
          </a:p>
        </p:txBody>
      </p:sp>
      <p:pic>
        <p:nvPicPr>
          <p:cNvPr id="3" name="图片 2" descr="A000220150821C30PPIC"/>
          <p:cNvPicPr>
            <a:picLocks noChangeAspect="1"/>
          </p:cNvPicPr>
          <p:nvPr/>
        </p:nvPicPr>
        <p:blipFill>
          <a:blip r:embed="rId4" cstate="print"/>
          <a:stretch>
            <a:fillRect/>
          </a:stretch>
        </p:blipFill>
        <p:spPr>
          <a:xfrm>
            <a:off x="7584440" y="2669540"/>
            <a:ext cx="3740785" cy="2560320"/>
          </a:xfrm>
          <a:prstGeom prst="rect">
            <a:avLst/>
          </a:prstGeom>
        </p:spPr>
      </p:pic>
    </p:spTree>
    <p:custDataLst>
      <p:tags r:id="rId1"/>
    </p:custDataLst>
  </p:cSld>
  <p:clrMapOvr>
    <a:masterClrMapping/>
  </p:clrMapOvr>
  <p:transition>
    <p:zoom dir="in"/>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35" name="组合 34"/>
          <p:cNvGrpSpPr/>
          <p:nvPr/>
        </p:nvGrpSpPr>
        <p:grpSpPr>
          <a:xfrm>
            <a:off x="783590" y="2732405"/>
            <a:ext cx="5264785" cy="3446145"/>
            <a:chOff x="964" y="3475"/>
            <a:chExt cx="8291" cy="5427"/>
          </a:xfrm>
        </p:grpSpPr>
        <p:sp>
          <p:nvSpPr>
            <p:cNvPr id="18" name="MH_SubTitle_1"/>
            <p:cNvSpPr/>
            <p:nvPr>
              <p:custDataLst>
                <p:tags r:id="rId10"/>
              </p:custDataLst>
            </p:nvPr>
          </p:nvSpPr>
          <p:spPr>
            <a:xfrm>
              <a:off x="3287" y="3675"/>
              <a:ext cx="3747" cy="847"/>
            </a:xfrm>
            <a:prstGeom prst="rect">
              <a:avLst/>
            </a:prstGeom>
          </p:spPr>
          <p:txBody>
            <a:bodyPr anchor="b">
              <a:normAutofit/>
            </a:bodyPr>
            <a:lstStyle/>
            <a:p>
              <a:r>
                <a:rPr lang="zh-CN" altLang="en-US" b="1" dirty="0">
                  <a:solidFill>
                    <a:srgbClr val="FF7C80"/>
                  </a:solidFill>
                </a:rPr>
                <a:t>数据需求</a:t>
              </a:r>
            </a:p>
          </p:txBody>
        </p:sp>
        <p:grpSp>
          <p:nvGrpSpPr>
            <p:cNvPr id="34" name="组合 33"/>
            <p:cNvGrpSpPr/>
            <p:nvPr/>
          </p:nvGrpSpPr>
          <p:grpSpPr>
            <a:xfrm>
              <a:off x="964" y="3475"/>
              <a:ext cx="8291" cy="5427"/>
              <a:chOff x="1628" y="3271"/>
              <a:chExt cx="8291" cy="5427"/>
            </a:xfrm>
          </p:grpSpPr>
          <p:sp>
            <p:nvSpPr>
              <p:cNvPr id="17" name="MH_Text_1"/>
              <p:cNvSpPr/>
              <p:nvPr>
                <p:custDataLst>
                  <p:tags r:id="rId11"/>
                </p:custDataLst>
              </p:nvPr>
            </p:nvSpPr>
            <p:spPr>
              <a:xfrm>
                <a:off x="3087" y="4448"/>
                <a:ext cx="6832" cy="4250"/>
              </a:xfrm>
              <a:prstGeom prst="rect">
                <a:avLst/>
              </a:prstGeom>
            </p:spPr>
            <p:txBody>
              <a:bodyPr>
                <a:normAutofit fontScale="92500"/>
              </a:bodyPr>
              <a:lstStyle/>
              <a:p>
                <a:pPr indent="457200">
                  <a:lnSpc>
                    <a:spcPct val="150000"/>
                  </a:lnSpc>
                </a:pPr>
                <a:r>
                  <a:rPr lang="zh-CN" altLang="en-US" dirty="0">
                    <a:latin typeface="+mn-ea"/>
                  </a:rPr>
                  <a:t>也称为概念需求、内容需求或存储需求。数据需求确定Web应用的信息存储和管理方法。具体包括：① 确定WebApp所提供的内容，包括文本、视频、图像、音频、表格、压缩包等采用何种表现方式；② 内容是由网站还是用户进行添加和维护。</a:t>
                </a:r>
              </a:p>
            </p:txBody>
          </p:sp>
          <p:sp>
            <p:nvSpPr>
              <p:cNvPr id="25" name="MH_Other_11"/>
              <p:cNvSpPr>
                <a:spLocks noChangeArrowheads="1"/>
              </p:cNvSpPr>
              <p:nvPr>
                <p:custDataLst>
                  <p:tags r:id="rId12"/>
                </p:custDataLst>
              </p:nvPr>
            </p:nvSpPr>
            <p:spPr bwMode="auto">
              <a:xfrm>
                <a:off x="2495" y="347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13"/>
                </p:custDataLst>
              </p:nvPr>
            </p:nvSpPr>
            <p:spPr bwMode="auto">
              <a:xfrm>
                <a:off x="2495" y="411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14"/>
                </p:custDataLst>
              </p:nvPr>
            </p:nvSpPr>
            <p:spPr bwMode="auto">
              <a:xfrm>
                <a:off x="2925" y="3791"/>
                <a:ext cx="747" cy="56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15"/>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16"/>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grpSp>
        <p:nvGrpSpPr>
          <p:cNvPr id="33" name="组合 32"/>
          <p:cNvGrpSpPr/>
          <p:nvPr/>
        </p:nvGrpSpPr>
        <p:grpSpPr>
          <a:xfrm>
            <a:off x="5743575" y="1755140"/>
            <a:ext cx="5876938" cy="4540885"/>
            <a:chOff x="4808" y="5741"/>
            <a:chExt cx="10582" cy="7151"/>
          </a:xfrm>
        </p:grpSpPr>
        <p:sp>
          <p:nvSpPr>
            <p:cNvPr id="5" name="MH_Other_1"/>
            <p:cNvSpPr>
              <a:spLocks noChangeArrowheads="1"/>
            </p:cNvSpPr>
            <p:nvPr>
              <p:custDataLst>
                <p:tags r:id="rId3"/>
              </p:custDataLst>
            </p:nvPr>
          </p:nvSpPr>
          <p:spPr bwMode="auto">
            <a:xfrm>
              <a:off x="5674" y="5944"/>
              <a:ext cx="750" cy="56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2"/>
            <p:cNvSpPr>
              <a:spLocks noChangeArrowheads="1"/>
            </p:cNvSpPr>
            <p:nvPr>
              <p:custDataLst>
                <p:tags r:id="rId4"/>
              </p:custDataLst>
            </p:nvPr>
          </p:nvSpPr>
          <p:spPr bwMode="auto">
            <a:xfrm>
              <a:off x="5674" y="6581"/>
              <a:ext cx="750" cy="562"/>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3"/>
            <p:cNvSpPr>
              <a:spLocks noChangeArrowheads="1"/>
            </p:cNvSpPr>
            <p:nvPr>
              <p:custDataLst>
                <p:tags r:id="rId5"/>
              </p:custDataLst>
            </p:nvPr>
          </p:nvSpPr>
          <p:spPr bwMode="auto">
            <a:xfrm>
              <a:off x="6108" y="6264"/>
              <a:ext cx="747" cy="560"/>
            </a:xfrm>
            <a:prstGeom prst="diamond">
              <a:avLst/>
            </a:prstGeom>
            <a:solidFill>
              <a:srgbClr val="95D7B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4"/>
            <p:cNvSpPr/>
            <p:nvPr>
              <p:custDataLst>
                <p:tags r:id="rId6"/>
              </p:custDataLst>
            </p:nvPr>
          </p:nvSpPr>
          <p:spPr>
            <a:xfrm>
              <a:off x="4868" y="5741"/>
              <a:ext cx="1123" cy="160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16" name="MH_Other_5"/>
            <p:cNvSpPr/>
            <p:nvPr>
              <p:custDataLst>
                <p:tags r:id="rId7"/>
              </p:custDataLst>
            </p:nvPr>
          </p:nvSpPr>
          <p:spPr bwMode="auto">
            <a:xfrm>
              <a:off x="4808" y="5741"/>
              <a:ext cx="1070" cy="1605"/>
            </a:xfrm>
            <a:custGeom>
              <a:avLst/>
              <a:gdLst>
                <a:gd name="T0" fmla="*/ 36 w 1806862"/>
                <a:gd name="T1" fmla="*/ 0 h 3612822"/>
                <a:gd name="T2" fmla="*/ 143580 w 1806862"/>
                <a:gd name="T3" fmla="*/ 143580 h 3612822"/>
                <a:gd name="T4" fmla="*/ 36 w 1806862"/>
                <a:gd name="T5" fmla="*/ 287160 h 3612822"/>
                <a:gd name="T6" fmla="*/ 0 w 1806862"/>
                <a:gd name="T7" fmla="*/ 287124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76CBA6"/>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31" name="MH_Text_2"/>
            <p:cNvSpPr/>
            <p:nvPr>
              <p:custDataLst>
                <p:tags r:id="rId8"/>
              </p:custDataLst>
            </p:nvPr>
          </p:nvSpPr>
          <p:spPr>
            <a:xfrm>
              <a:off x="6651" y="6838"/>
              <a:ext cx="8739" cy="6054"/>
            </a:xfrm>
            <a:prstGeom prst="rect">
              <a:avLst/>
            </a:prstGeom>
          </p:spPr>
          <p:txBody>
            <a:bodyPr>
              <a:normAutofit fontScale="92500"/>
            </a:bodyPr>
            <a:lstStyle/>
            <a:p>
              <a:pPr indent="0">
                <a:lnSpc>
                  <a:spcPct val="150000"/>
                </a:lnSpc>
                <a:buNone/>
              </a:pPr>
              <a:r>
                <a:rPr lang="en-US" dirty="0">
                  <a:latin typeface="+mn-ea"/>
                </a:rPr>
                <a:t>    </a:t>
              </a:r>
              <a:r>
                <a:rPr dirty="0">
                  <a:latin typeface="+mn-ea"/>
                </a:rPr>
                <a:t>也称交互需求，它定义一个Web应用如何与各种不同类型的用户交互。由于Web应用的用户群的知识结构、习惯、兴趣爱好等方面均有很大不同，因此Web应用应该让未经过正式培训的用户能够轻松地使用。在需求获取过程中，开发原型系统是一种较好的用来获取用户的界面需求的方式。通过原型系统将用户对Web应用界面的期望反映出来并反复与用户交互，可以帮助开发人员设计出用户满意的Web应用。</a:t>
              </a:r>
            </a:p>
          </p:txBody>
        </p:sp>
        <p:sp>
          <p:nvSpPr>
            <p:cNvPr id="32" name="MH_SubTitle_2"/>
            <p:cNvSpPr/>
            <p:nvPr>
              <p:custDataLst>
                <p:tags r:id="rId9"/>
              </p:custDataLst>
            </p:nvPr>
          </p:nvSpPr>
          <p:spPr>
            <a:xfrm>
              <a:off x="7147" y="5928"/>
              <a:ext cx="7360" cy="845"/>
            </a:xfrm>
            <a:prstGeom prst="rect">
              <a:avLst/>
            </a:prstGeom>
          </p:spPr>
          <p:txBody>
            <a:bodyPr anchor="b">
              <a:normAutofit/>
            </a:bodyPr>
            <a:lstStyle/>
            <a:p>
              <a:r>
                <a:rPr lang="zh-CN" altLang="en-US" b="1" dirty="0">
                  <a:solidFill>
                    <a:srgbClr val="00B050"/>
                  </a:solidFill>
                </a:rPr>
                <a:t>界面需求</a:t>
              </a:r>
            </a:p>
          </p:txBody>
        </p:sp>
      </p:grpSp>
      <p:sp>
        <p:nvSpPr>
          <p:cNvPr id="21" name="MH_Text_1"/>
          <p:cNvSpPr/>
          <p:nvPr>
            <p:custDataLst>
              <p:tags r:id="rId2"/>
            </p:custDataLst>
          </p:nvPr>
        </p:nvSpPr>
        <p:spPr>
          <a:xfrm>
            <a:off x="1005205" y="2089150"/>
            <a:ext cx="4819015" cy="587375"/>
          </a:xfrm>
          <a:prstGeom prst="rect">
            <a:avLst/>
          </a:prstGeom>
        </p:spPr>
        <p:txBody>
          <a:bodyPr>
            <a:normAutofit/>
          </a:bodyPr>
          <a:lstStyle/>
          <a:p>
            <a:r>
              <a:rPr lang="zh-CN" altLang="zh-CN" dirty="0"/>
              <a:t>功能需求可被细化为以下几个方面的内容。</a:t>
            </a:r>
          </a:p>
        </p:txBody>
      </p:sp>
    </p:spTree>
    <p:custDataLst>
      <p:tags r:id="rId1"/>
    </p:custDataLst>
  </p:cSld>
  <p:clrMapOvr>
    <a:masterClrMapping/>
  </p:clrMapOvr>
  <p:transition>
    <p:zoom dir="in"/>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35" name="组合 34"/>
          <p:cNvGrpSpPr/>
          <p:nvPr/>
        </p:nvGrpSpPr>
        <p:grpSpPr>
          <a:xfrm>
            <a:off x="5979795" y="2409825"/>
            <a:ext cx="5307330" cy="3505200"/>
            <a:chOff x="964" y="3475"/>
            <a:chExt cx="8358" cy="5520"/>
          </a:xfrm>
        </p:grpSpPr>
        <p:sp>
          <p:nvSpPr>
            <p:cNvPr id="18" name="MH_SubTitle_1"/>
            <p:cNvSpPr/>
            <p:nvPr>
              <p:custDataLst>
                <p:tags r:id="rId9"/>
              </p:custDataLst>
            </p:nvPr>
          </p:nvSpPr>
          <p:spPr>
            <a:xfrm>
              <a:off x="3287" y="3675"/>
              <a:ext cx="3747" cy="847"/>
            </a:xfrm>
            <a:prstGeom prst="rect">
              <a:avLst/>
            </a:prstGeom>
          </p:spPr>
          <p:txBody>
            <a:bodyPr anchor="b">
              <a:normAutofit/>
            </a:bodyPr>
            <a:lstStyle/>
            <a:p>
              <a:r>
                <a:rPr lang="zh-CN" altLang="en-US" b="1" dirty="0">
                  <a:solidFill>
                    <a:schemeClr val="accent6">
                      <a:lumMod val="75000"/>
                    </a:schemeClr>
                  </a:solidFill>
                </a:rPr>
                <a:t>数据需求</a:t>
              </a:r>
            </a:p>
          </p:txBody>
        </p:sp>
        <p:grpSp>
          <p:nvGrpSpPr>
            <p:cNvPr id="34" name="组合 33"/>
            <p:cNvGrpSpPr/>
            <p:nvPr/>
          </p:nvGrpSpPr>
          <p:grpSpPr>
            <a:xfrm>
              <a:off x="964" y="3475"/>
              <a:ext cx="8358" cy="5520"/>
              <a:chOff x="1628" y="3271"/>
              <a:chExt cx="8358" cy="5520"/>
            </a:xfrm>
          </p:grpSpPr>
          <p:sp>
            <p:nvSpPr>
              <p:cNvPr id="4" name="MH_Text_1"/>
              <p:cNvSpPr/>
              <p:nvPr>
                <p:custDataLst>
                  <p:tags r:id="rId10"/>
                </p:custDataLst>
              </p:nvPr>
            </p:nvSpPr>
            <p:spPr>
              <a:xfrm>
                <a:off x="3951" y="4318"/>
                <a:ext cx="6035" cy="4473"/>
              </a:xfrm>
              <a:prstGeom prst="rect">
                <a:avLst/>
              </a:prstGeom>
            </p:spPr>
            <p:txBody>
              <a:bodyPr>
                <a:normAutofit fontScale="92500"/>
              </a:bodyPr>
              <a:lstStyle/>
              <a:p>
                <a:pPr indent="457200">
                  <a:lnSpc>
                    <a:spcPct val="150000"/>
                  </a:lnSpc>
                </a:pPr>
                <a:r>
                  <a:rPr lang="zh-CN" altLang="en-US" dirty="0">
                    <a:latin typeface="+mn-ea"/>
                  </a:rPr>
                  <a:t>也称为概念需求、内容需求或存储需求。数据需求确定Web应用的信息存储和管理方法。具体包括：① 确定WebApp所提供的内容，包括文本、视频、图像、音频、表格、压缩包等采用何种表现方式；② 内容是由网站还是用户进行添加和维护。</a:t>
                </a:r>
              </a:p>
            </p:txBody>
          </p:sp>
          <p:sp>
            <p:nvSpPr>
              <p:cNvPr id="25" name="MH_Other_11"/>
              <p:cNvSpPr>
                <a:spLocks noChangeArrowheads="1"/>
              </p:cNvSpPr>
              <p:nvPr>
                <p:custDataLst>
                  <p:tags r:id="rId11"/>
                </p:custDataLst>
              </p:nvPr>
            </p:nvSpPr>
            <p:spPr bwMode="auto">
              <a:xfrm>
                <a:off x="2495" y="3471"/>
                <a:ext cx="747" cy="560"/>
              </a:xfrm>
              <a:prstGeom prst="diamond">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12"/>
                </p:custDataLst>
              </p:nvPr>
            </p:nvSpPr>
            <p:spPr bwMode="auto">
              <a:xfrm>
                <a:off x="2495" y="4111"/>
                <a:ext cx="747" cy="560"/>
              </a:xfrm>
              <a:prstGeom prst="diamond">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13"/>
                </p:custDataLst>
              </p:nvPr>
            </p:nvSpPr>
            <p:spPr bwMode="auto">
              <a:xfrm>
                <a:off x="2925" y="3791"/>
                <a:ext cx="747" cy="560"/>
              </a:xfrm>
              <a:prstGeom prst="diamond">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14"/>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15"/>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6">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grpSp>
        <p:nvGrpSpPr>
          <p:cNvPr id="5" name="组合 4"/>
          <p:cNvGrpSpPr/>
          <p:nvPr/>
        </p:nvGrpSpPr>
        <p:grpSpPr>
          <a:xfrm>
            <a:off x="950595" y="2409825"/>
            <a:ext cx="4431030" cy="2981325"/>
            <a:chOff x="1021" y="3475"/>
            <a:chExt cx="6978" cy="4695"/>
          </a:xfrm>
        </p:grpSpPr>
        <p:sp>
          <p:nvSpPr>
            <p:cNvPr id="6" name="MH_SubTitle_1"/>
            <p:cNvSpPr/>
            <p:nvPr>
              <p:custDataLst>
                <p:tags r:id="rId2"/>
              </p:custDataLst>
            </p:nvPr>
          </p:nvSpPr>
          <p:spPr>
            <a:xfrm>
              <a:off x="3287" y="3675"/>
              <a:ext cx="3747" cy="847"/>
            </a:xfrm>
            <a:prstGeom prst="rect">
              <a:avLst/>
            </a:prstGeom>
          </p:spPr>
          <p:txBody>
            <a:bodyPr anchor="b">
              <a:normAutofit/>
            </a:bodyPr>
            <a:lstStyle/>
            <a:p>
              <a:r>
                <a:rPr lang="zh-CN" altLang="en-US" b="1" dirty="0">
                  <a:solidFill>
                    <a:schemeClr val="accent4">
                      <a:lumMod val="75000"/>
                    </a:schemeClr>
                  </a:solidFill>
                </a:rPr>
                <a:t>事务性需求</a:t>
              </a:r>
            </a:p>
          </p:txBody>
        </p:sp>
        <p:grpSp>
          <p:nvGrpSpPr>
            <p:cNvPr id="7" name="组合 6"/>
            <p:cNvGrpSpPr/>
            <p:nvPr/>
          </p:nvGrpSpPr>
          <p:grpSpPr>
            <a:xfrm>
              <a:off x="1021" y="3475"/>
              <a:ext cx="6978" cy="4695"/>
              <a:chOff x="1685" y="3271"/>
              <a:chExt cx="6978" cy="4695"/>
            </a:xfrm>
          </p:grpSpPr>
          <p:sp>
            <p:nvSpPr>
              <p:cNvPr id="8" name="MH_Text_1"/>
              <p:cNvSpPr/>
              <p:nvPr>
                <p:custDataLst>
                  <p:tags r:id="rId3"/>
                </p:custDataLst>
              </p:nvPr>
            </p:nvSpPr>
            <p:spPr>
              <a:xfrm>
                <a:off x="3087" y="4448"/>
                <a:ext cx="5576" cy="3518"/>
              </a:xfrm>
              <a:prstGeom prst="rect">
                <a:avLst/>
              </a:prstGeom>
            </p:spPr>
            <p:txBody>
              <a:bodyPr>
                <a:normAutofit/>
              </a:bodyPr>
              <a:lstStyle/>
              <a:p>
                <a:pPr indent="457200">
                  <a:lnSpc>
                    <a:spcPct val="150000"/>
                  </a:lnSpc>
                </a:pPr>
                <a:r>
                  <a:rPr lang="zh-CN" altLang="en-US" dirty="0">
                    <a:latin typeface="+mn-ea"/>
                  </a:rPr>
                  <a:t>也称内部功能性需求或服务需求，它表明一个Web应用必须进行的内部处理（后台处理）。事务性需求不需要考虑界面和交互方面的内容。</a:t>
                </a:r>
              </a:p>
            </p:txBody>
          </p:sp>
          <p:sp>
            <p:nvSpPr>
              <p:cNvPr id="9" name="MH_Other_11"/>
              <p:cNvSpPr>
                <a:spLocks noChangeArrowheads="1"/>
              </p:cNvSpPr>
              <p:nvPr>
                <p:custDataLst>
                  <p:tags r:id="rId4"/>
                </p:custDataLst>
              </p:nvPr>
            </p:nvSpPr>
            <p:spPr bwMode="auto">
              <a:xfrm>
                <a:off x="2495" y="347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12"/>
              <p:cNvSpPr>
                <a:spLocks noChangeArrowheads="1"/>
              </p:cNvSpPr>
              <p:nvPr>
                <p:custDataLst>
                  <p:tags r:id="rId5"/>
                </p:custDataLst>
              </p:nvPr>
            </p:nvSpPr>
            <p:spPr bwMode="auto">
              <a:xfrm>
                <a:off x="2495" y="411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3"/>
              <p:cNvSpPr>
                <a:spLocks noChangeArrowheads="1"/>
              </p:cNvSpPr>
              <p:nvPr>
                <p:custDataLst>
                  <p:tags r:id="rId6"/>
                </p:custDataLst>
              </p:nvPr>
            </p:nvSpPr>
            <p:spPr bwMode="auto">
              <a:xfrm>
                <a:off x="2925" y="3791"/>
                <a:ext cx="747" cy="56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4"/>
              <p:cNvSpPr/>
              <p:nvPr>
                <p:custDataLst>
                  <p:tags r:id="rId7"/>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1" name="MH_Other_15"/>
              <p:cNvSpPr/>
              <p:nvPr>
                <p:custDataLst>
                  <p:tags r:id="rId8"/>
                </p:custDataLst>
              </p:nvPr>
            </p:nvSpPr>
            <p:spPr bwMode="auto">
              <a:xfrm>
                <a:off x="1745"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spTree>
    <p:custDataLst>
      <p:tags r:id="rId1"/>
    </p:custDataLst>
  </p:cSld>
  <p:clrMapOvr>
    <a:masterClrMapping/>
  </p:clrMapOvr>
  <p:transition>
    <p:zoom dir="in"/>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3" name="组合 2"/>
          <p:cNvGrpSpPr/>
          <p:nvPr/>
        </p:nvGrpSpPr>
        <p:grpSpPr>
          <a:xfrm>
            <a:off x="4131945" y="2598420"/>
            <a:ext cx="7174230" cy="3261995"/>
            <a:chOff x="8328" y="7437"/>
            <a:chExt cx="11298" cy="5137"/>
          </a:xfrm>
        </p:grpSpPr>
        <p:sp>
          <p:nvSpPr>
            <p:cNvPr id="11" name="MH_Other_6"/>
            <p:cNvSpPr>
              <a:spLocks noChangeArrowheads="1"/>
            </p:cNvSpPr>
            <p:nvPr>
              <p:custDataLst>
                <p:tags r:id="rId2"/>
              </p:custDataLst>
            </p:nvPr>
          </p:nvSpPr>
          <p:spPr bwMode="auto">
            <a:xfrm>
              <a:off x="9194" y="7637"/>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7"/>
            <p:cNvSpPr>
              <a:spLocks noChangeArrowheads="1"/>
            </p:cNvSpPr>
            <p:nvPr>
              <p:custDataLst>
                <p:tags r:id="rId3"/>
              </p:custDataLst>
            </p:nvPr>
          </p:nvSpPr>
          <p:spPr bwMode="auto">
            <a:xfrm>
              <a:off x="9194" y="8277"/>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8"/>
            <p:cNvSpPr>
              <a:spLocks noChangeArrowheads="1"/>
            </p:cNvSpPr>
            <p:nvPr>
              <p:custDataLst>
                <p:tags r:id="rId4"/>
              </p:custDataLst>
            </p:nvPr>
          </p:nvSpPr>
          <p:spPr bwMode="auto">
            <a:xfrm>
              <a:off x="9624" y="7957"/>
              <a:ext cx="747" cy="560"/>
            </a:xfrm>
            <a:prstGeom prst="diamond">
              <a:avLst/>
            </a:prstGeom>
            <a:solidFill>
              <a:srgbClr val="9AD7F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9"/>
            <p:cNvSpPr/>
            <p:nvPr>
              <p:custDataLst>
                <p:tags r:id="rId5"/>
              </p:custDataLst>
            </p:nvPr>
          </p:nvSpPr>
          <p:spPr>
            <a:xfrm>
              <a:off x="8384" y="7437"/>
              <a:ext cx="1127" cy="1603"/>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15" name="MH_Other_10"/>
            <p:cNvSpPr/>
            <p:nvPr>
              <p:custDataLst>
                <p:tags r:id="rId6"/>
              </p:custDataLst>
            </p:nvPr>
          </p:nvSpPr>
          <p:spPr bwMode="auto">
            <a:xfrm>
              <a:off x="8328" y="7437"/>
              <a:ext cx="1070" cy="1603"/>
            </a:xfrm>
            <a:custGeom>
              <a:avLst/>
              <a:gdLst>
                <a:gd name="T0" fmla="*/ 36 w 1806862"/>
                <a:gd name="T1" fmla="*/ 0 h 3612822"/>
                <a:gd name="T2" fmla="*/ 143580 w 1806862"/>
                <a:gd name="T3" fmla="*/ 143357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68C6EA"/>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16" name="MH_Text_3"/>
            <p:cNvSpPr/>
            <p:nvPr>
              <p:custDataLst>
                <p:tags r:id="rId7"/>
              </p:custDataLst>
            </p:nvPr>
          </p:nvSpPr>
          <p:spPr>
            <a:xfrm>
              <a:off x="10520" y="8420"/>
              <a:ext cx="9106" cy="4154"/>
            </a:xfrm>
            <a:prstGeom prst="rect">
              <a:avLst/>
            </a:prstGeom>
          </p:spPr>
          <p:txBody>
            <a:bodyPr>
              <a:normAutofit/>
            </a:bodyPr>
            <a:lstStyle/>
            <a:p>
              <a:pPr indent="457200">
                <a:lnSpc>
                  <a:spcPct val="150000"/>
                </a:lnSpc>
              </a:pPr>
              <a:r>
                <a:rPr lang="zh-CN" altLang="en-US" dirty="0">
                  <a:latin typeface="+mn-ea"/>
                </a:rPr>
                <a:t>由于Web软件大多采用基于浏览器的交互界面，网页之间的跳转成为“导航”。良好的Web应用应该让用户方便地在网站的不同频道与页面之间跳转，而不需要经常使用浏览器的前进/后退功能。在整理导航关系时，必须避免用户在导航中迷失。设计时，应从基网页出发经过简单且尽可能短的导航链返回到基网页。</a:t>
              </a:r>
            </a:p>
          </p:txBody>
        </p:sp>
        <p:sp>
          <p:nvSpPr>
            <p:cNvPr id="4" name="MH_SubTitle_3"/>
            <p:cNvSpPr/>
            <p:nvPr>
              <p:custDataLst>
                <p:tags r:id="rId8"/>
              </p:custDataLst>
            </p:nvPr>
          </p:nvSpPr>
          <p:spPr>
            <a:xfrm>
              <a:off x="10520" y="7660"/>
              <a:ext cx="7360" cy="845"/>
            </a:xfrm>
            <a:prstGeom prst="rect">
              <a:avLst/>
            </a:prstGeom>
          </p:spPr>
          <p:txBody>
            <a:bodyPr anchor="b">
              <a:normAutofit/>
            </a:bodyPr>
            <a:lstStyle/>
            <a:p>
              <a:r>
                <a:rPr lang="zh-CN" altLang="en-US" b="1" dirty="0">
                  <a:solidFill>
                    <a:srgbClr val="00B0F0"/>
                  </a:solidFill>
                </a:rPr>
                <a:t>导航需求</a:t>
              </a:r>
            </a:p>
          </p:txBody>
        </p:sp>
      </p:grpSp>
      <p:pic>
        <p:nvPicPr>
          <p:cNvPr id="17" name="图片 16" descr="A000220151119B63PPIC.png"/>
          <p:cNvPicPr>
            <a:picLocks noChangeAspect="1"/>
          </p:cNvPicPr>
          <p:nvPr/>
        </p:nvPicPr>
        <p:blipFill>
          <a:blip r:embed="rId11" cstate="print"/>
          <a:stretch>
            <a:fillRect/>
          </a:stretch>
        </p:blipFill>
        <p:spPr>
          <a:xfrm>
            <a:off x="-1" y="2571750"/>
            <a:ext cx="4864849" cy="3799447"/>
          </a:xfrm>
          <a:prstGeom prst="rect">
            <a:avLst/>
          </a:prstGeom>
        </p:spPr>
      </p:pic>
    </p:spTree>
    <p:custDataLst>
      <p:tags r:id="rId1"/>
    </p:custDataLst>
  </p:cSld>
  <p:clrMapOvr>
    <a:masterClrMapping/>
  </p:clrMapOvr>
  <p:transition>
    <p:zoom dir="in"/>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sp>
        <p:nvSpPr>
          <p:cNvPr id="18" name="矩形 17"/>
          <p:cNvSpPr/>
          <p:nvPr/>
        </p:nvSpPr>
        <p:spPr>
          <a:xfrm>
            <a:off x="0" y="2412365"/>
            <a:ext cx="12192000" cy="33121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387350" y="2463165"/>
            <a:ext cx="7329805" cy="2953181"/>
          </a:xfrm>
          <a:prstGeom prst="rect">
            <a:avLst/>
          </a:prstGeom>
        </p:spPr>
        <p:txBody>
          <a:bodyPr wrap="square">
            <a:spAutoFit/>
          </a:bodyPr>
          <a:lstStyle/>
          <a:p>
            <a:pPr indent="457200">
              <a:lnSpc>
                <a:spcPct val="150000"/>
              </a:lnSpc>
              <a:defRPr/>
            </a:pPr>
            <a:r>
              <a:rPr lang="zh-CN" altLang="en-US" dirty="0"/>
              <a:t>（</a:t>
            </a:r>
            <a:r>
              <a:rPr lang="en-US" altLang="zh-CN" dirty="0"/>
              <a:t>2</a:t>
            </a:r>
            <a:r>
              <a:rPr lang="zh-CN" altLang="en-US" dirty="0"/>
              <a:t>）质量需求描述了服务的质量以及</a:t>
            </a:r>
            <a:r>
              <a:rPr lang="en-US" altLang="zh-CN" dirty="0"/>
              <a:t>Web</a:t>
            </a:r>
            <a:r>
              <a:rPr lang="zh-CN" altLang="en-US" dirty="0"/>
              <a:t>应用的安全性、性能及可用性方面的内容。主要的质量属性包括系统性能、可靠性、可用性、效率、可维护性和可移植性等。由于</a:t>
            </a:r>
            <a:r>
              <a:rPr lang="en-US" altLang="zh-CN" dirty="0"/>
              <a:t>Web</a:t>
            </a:r>
            <a:r>
              <a:rPr lang="zh-CN" altLang="en-US" dirty="0"/>
              <a:t>应用的性能严重依赖于网络情况，因此在分析质量需求时需要考虑网络带宽及网络延时等的影响。</a:t>
            </a:r>
            <a:r>
              <a:rPr lang="en-US" altLang="zh-CN" dirty="0"/>
              <a:t>Web</a:t>
            </a:r>
            <a:r>
              <a:rPr lang="zh-CN" altLang="en-US" dirty="0"/>
              <a:t>软件在上线后无时无刻都面临来自全球各地的安全威胁，需求工程师必须关注用户的安全需求，设计时应注意标识需要保护的敏感数据和功能，明确其访问权限以及用户在权限验证方面的需求。</a:t>
            </a:r>
            <a:endParaRPr lang="en-US" altLang="zh-CN" dirty="0"/>
          </a:p>
        </p:txBody>
      </p:sp>
      <p:pic>
        <p:nvPicPr>
          <p:cNvPr id="3" name="图片 2" descr="u=1947186189,1962020774&amp;fm=214&amp;gp=0"/>
          <p:cNvPicPr>
            <a:picLocks noChangeAspect="1"/>
          </p:cNvPicPr>
          <p:nvPr/>
        </p:nvPicPr>
        <p:blipFill>
          <a:blip r:embed="rId4" cstate="print"/>
          <a:srcRect l="10501" t="7904" r="10518" b="19121"/>
          <a:stretch>
            <a:fillRect/>
          </a:stretch>
        </p:blipFill>
        <p:spPr>
          <a:xfrm>
            <a:off x="7987665" y="2646680"/>
            <a:ext cx="3909695" cy="2959735"/>
          </a:xfrm>
          <a:prstGeom prst="heptagon">
            <a:avLst/>
          </a:prstGeom>
        </p:spPr>
      </p:pic>
    </p:spTree>
    <p:custDataLst>
      <p:tags r:id="rId1"/>
    </p:custDataLst>
  </p:cSld>
  <p:clrMapOvr>
    <a:masterClrMapping/>
  </p:clrMapOvr>
  <p:transition>
    <p:zoom dir="in"/>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4" name="组合 3"/>
          <p:cNvGrpSpPr/>
          <p:nvPr/>
        </p:nvGrpSpPr>
        <p:grpSpPr>
          <a:xfrm>
            <a:off x="754380" y="2124075"/>
            <a:ext cx="10663065" cy="1303020"/>
            <a:chOff x="1188" y="3092"/>
            <a:chExt cx="15766" cy="2052"/>
          </a:xfrm>
        </p:grpSpPr>
        <p:grpSp>
          <p:nvGrpSpPr>
            <p:cNvPr id="28" name="组合 27"/>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性能</a:t>
                </a:r>
              </a:p>
            </p:txBody>
          </p:sp>
        </p:grpSp>
        <p:sp>
          <p:nvSpPr>
            <p:cNvPr id="35" name="矩形 34"/>
            <p:cNvSpPr>
              <a:spLocks noChangeArrowheads="1"/>
            </p:cNvSpPr>
            <p:nvPr/>
          </p:nvSpPr>
          <p:spPr bwMode="auto">
            <a:xfrm>
              <a:off x="1893" y="3848"/>
              <a:ext cx="15061"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包括Web应用支持的最大并发访问数、响应时间、吞吐量、吞吐率等性能指标。不同类型的Web应用所关注的性能指标也有不同的侧重点。</a:t>
              </a:r>
            </a:p>
          </p:txBody>
        </p:sp>
      </p:grpSp>
      <p:grpSp>
        <p:nvGrpSpPr>
          <p:cNvPr id="36" name="组合 35"/>
          <p:cNvGrpSpPr/>
          <p:nvPr/>
        </p:nvGrpSpPr>
        <p:grpSpPr>
          <a:xfrm>
            <a:off x="754380" y="3427095"/>
            <a:ext cx="10873712" cy="1303020"/>
            <a:chOff x="1188" y="3092"/>
            <a:chExt cx="16078" cy="2052"/>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可靠性</a:t>
                </a:r>
              </a:p>
            </p:txBody>
          </p:sp>
        </p:grpSp>
        <p:sp>
          <p:nvSpPr>
            <p:cNvPr id="41" name="矩形 40"/>
            <p:cNvSpPr>
              <a:spLocks noChangeArrowheads="1"/>
            </p:cNvSpPr>
            <p:nvPr/>
          </p:nvSpPr>
          <p:spPr bwMode="auto">
            <a:xfrm>
              <a:off x="1893" y="3848"/>
              <a:ext cx="15373"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描述Web应用能在多长时间内保持正常工作状态。例如，对于一台关键的Web服务器，往往需要它一周7天、每天24小时不间断地工作。通过备份、故障恢复等措施，可以提高Web应用的可靠性。</a:t>
              </a:r>
            </a:p>
          </p:txBody>
        </p:sp>
      </p:grpSp>
      <p:grpSp>
        <p:nvGrpSpPr>
          <p:cNvPr id="3" name="组合 2"/>
          <p:cNvGrpSpPr/>
          <p:nvPr/>
        </p:nvGrpSpPr>
        <p:grpSpPr>
          <a:xfrm>
            <a:off x="754380" y="4730115"/>
            <a:ext cx="10606929" cy="1303020"/>
            <a:chOff x="1188" y="3092"/>
            <a:chExt cx="15683" cy="2052"/>
          </a:xfrm>
        </p:grpSpPr>
        <p:grpSp>
          <p:nvGrpSpPr>
            <p:cNvPr id="5" name="组合 4"/>
            <p:cNvGrpSpPr/>
            <p:nvPr/>
          </p:nvGrpSpPr>
          <p:grpSpPr>
            <a:xfrm>
              <a:off x="1188" y="3092"/>
              <a:ext cx="6974" cy="930"/>
              <a:chOff x="508000" y="3196191"/>
              <a:chExt cx="4428470" cy="590550"/>
            </a:xfrm>
          </p:grpSpPr>
          <p:sp>
            <p:nvSpPr>
              <p:cNvPr id="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9" name="直接连接符 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9"/>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可用性</a:t>
                </a:r>
              </a:p>
            </p:txBody>
          </p:sp>
        </p:grpSp>
        <p:sp>
          <p:nvSpPr>
            <p:cNvPr id="11" name="矩形 10"/>
            <p:cNvSpPr>
              <a:spLocks noChangeArrowheads="1"/>
            </p:cNvSpPr>
            <p:nvPr/>
          </p:nvSpPr>
          <p:spPr bwMode="auto">
            <a:xfrm>
              <a:off x="1893" y="3848"/>
              <a:ext cx="14978"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描述在要求的外部资源得到保证的前提下，Web应用在规定的条件、规定的时刻或时间段内处于可执行状态的能力。可用性是可靠性、可维护性的综合反映。</a:t>
              </a:r>
            </a:p>
          </p:txBody>
        </p:sp>
      </p:grpSp>
    </p:spTree>
    <p:custDataLst>
      <p:tags r:id="rId1"/>
    </p:custDataLst>
  </p:cSld>
  <p:clrMapOvr>
    <a:masterClrMapping/>
  </p:clrMapOvr>
  <p:transition>
    <p:zoom dir="in"/>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4" name="组合 3"/>
          <p:cNvGrpSpPr/>
          <p:nvPr/>
        </p:nvGrpSpPr>
        <p:grpSpPr>
          <a:xfrm>
            <a:off x="754380" y="2124075"/>
            <a:ext cx="10663065" cy="1303020"/>
            <a:chOff x="1188" y="3092"/>
            <a:chExt cx="15766" cy="2052"/>
          </a:xfrm>
        </p:grpSpPr>
        <p:grpSp>
          <p:nvGrpSpPr>
            <p:cNvPr id="28" name="组合 27"/>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效率</a:t>
                </a:r>
              </a:p>
            </p:txBody>
          </p:sp>
        </p:grpSp>
        <p:sp>
          <p:nvSpPr>
            <p:cNvPr id="35" name="矩形 34"/>
            <p:cNvSpPr>
              <a:spLocks noChangeArrowheads="1"/>
            </p:cNvSpPr>
            <p:nvPr/>
          </p:nvSpPr>
          <p:spPr bwMode="auto">
            <a:xfrm>
              <a:off x="1893" y="3848"/>
              <a:ext cx="15061"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描述Web应用利用计算资源的能力，在完成相同的计算任务时，Web应用占用CPU时间和内存空间等计算资源越少，说明应用的效率越高。即在相同的计算资源的条件下，完成的计算任务越多，效率越高。</a:t>
              </a:r>
            </a:p>
          </p:txBody>
        </p:sp>
      </p:grpSp>
      <p:grpSp>
        <p:nvGrpSpPr>
          <p:cNvPr id="36" name="组合 35"/>
          <p:cNvGrpSpPr/>
          <p:nvPr/>
        </p:nvGrpSpPr>
        <p:grpSpPr>
          <a:xfrm>
            <a:off x="754380" y="3427095"/>
            <a:ext cx="10662027" cy="2034540"/>
            <a:chOff x="1188" y="3092"/>
            <a:chExt cx="15765" cy="3204"/>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5</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可维护性</a:t>
                </a:r>
              </a:p>
            </p:txBody>
          </p:sp>
        </p:grpSp>
        <p:sp>
          <p:nvSpPr>
            <p:cNvPr id="41" name="矩形 40"/>
            <p:cNvSpPr>
              <a:spLocks noChangeArrowheads="1"/>
            </p:cNvSpPr>
            <p:nvPr/>
          </p:nvSpPr>
          <p:spPr bwMode="auto">
            <a:xfrm>
              <a:off x="1893" y="3848"/>
              <a:ext cx="15060"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描述Web应用投入运行后对其进行维护的难易程度。理想状态下，Web应用在投入运行后可以在不停止服务的前提下，只需修改少量代码就可以实现新的功能需求或错误修正。影响可维护性的因素包括代码的可读性、可扩展性和可测试性等。需要注意的是，编写可维护性好的代码必然会加大开发者的工作量且降低开发速度。因此在可维护性和开发速度之间需要做出权衡。</a:t>
              </a:r>
            </a:p>
          </p:txBody>
        </p:sp>
      </p:grpSp>
    </p:spTree>
    <p:custDataLst>
      <p:tags r:id="rId1"/>
    </p:custDataLst>
  </p:cSld>
  <p:clrMapOvr>
    <a:masterClrMapping/>
  </p:clrMapOvr>
  <p:transition>
    <p:zoom dir="in"/>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sp>
        <p:nvSpPr>
          <p:cNvPr id="6" name="矩形 5"/>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815975" y="2758440"/>
            <a:ext cx="6813550" cy="2092881"/>
          </a:xfrm>
          <a:prstGeom prst="rect">
            <a:avLst/>
          </a:prstGeom>
        </p:spPr>
        <p:txBody>
          <a:bodyPr wrap="square">
            <a:spAutoFit/>
          </a:bodyPr>
          <a:lstStyle/>
          <a:p>
            <a:r>
              <a:rPr lang="zh-CN" altLang="en-US"/>
              <a:t> （</a:t>
            </a:r>
            <a:r>
              <a:rPr lang="en-US" altLang="zh-CN" dirty="0"/>
              <a:t>3</a:t>
            </a:r>
            <a:r>
              <a:rPr lang="zh-CN" altLang="en-US" dirty="0"/>
              <a:t>）系统环境需求描述</a:t>
            </a:r>
            <a:r>
              <a:rPr lang="zh-CN" altLang="en-US"/>
              <a:t>一个</a:t>
            </a:r>
            <a:r>
              <a:rPr lang="en-US" altLang="zh-CN" dirty="0"/>
              <a:t>Web</a:t>
            </a:r>
            <a:r>
              <a:rPr lang="zh-CN" altLang="en-US" dirty="0"/>
              <a:t>应用如何嵌入到一个已有的环境中，以及它如何与遗留系统、中间件等外部组件交互。</a:t>
            </a:r>
          </a:p>
          <a:p>
            <a:r>
              <a:rPr lang="zh-CN" altLang="en-US"/>
              <a:t>       （</a:t>
            </a:r>
            <a:r>
              <a:rPr lang="en-US" altLang="zh-CN" dirty="0"/>
              <a:t>4</a:t>
            </a:r>
            <a:r>
              <a:rPr lang="zh-CN" altLang="en-US" dirty="0"/>
              <a:t>）对于项目的利益相关者来说，项目约束是需要多方协商解决的。典型项目约束包括项目预算、进度、技术限制、所采用的标准和开发技术等。</a:t>
            </a:r>
          </a:p>
          <a:p>
            <a:r>
              <a:rPr lang="zh-CN" altLang="en-US"/>
              <a:t>      （</a:t>
            </a:r>
            <a:r>
              <a:rPr lang="en-US" altLang="zh-CN" dirty="0"/>
              <a:t>5</a:t>
            </a:r>
            <a:r>
              <a:rPr lang="zh-CN" altLang="en-US"/>
              <a:t>） </a:t>
            </a:r>
            <a:r>
              <a:rPr lang="en-US" altLang="zh-CN" dirty="0"/>
              <a:t>Web</a:t>
            </a:r>
            <a:r>
              <a:rPr lang="zh-CN" altLang="en-US" dirty="0"/>
              <a:t>应用需求经常会发生变更。</a:t>
            </a:r>
            <a:r>
              <a:rPr lang="zh-CN" altLang="en-US"/>
              <a:t>因此，</a:t>
            </a:r>
            <a:r>
              <a:rPr lang="en-US" altLang="zh-CN" dirty="0"/>
              <a:t>Web</a:t>
            </a:r>
            <a:r>
              <a:rPr lang="zh-CN" altLang="en-US" dirty="0"/>
              <a:t>应用开发人员需要</a:t>
            </a:r>
            <a:r>
              <a:rPr lang="zh-CN" altLang="en-US"/>
              <a:t>着眼于</a:t>
            </a:r>
            <a:r>
              <a:rPr lang="en-US" altLang="zh-CN" dirty="0"/>
              <a:t>Web</a:t>
            </a:r>
            <a:r>
              <a:rPr lang="zh-CN" altLang="en-US" dirty="0"/>
              <a:t>应用未来的发展来制定方案。</a:t>
            </a:r>
            <a:endParaRPr lang="zh-CN" altLang="zh-CN" dirty="0"/>
          </a:p>
        </p:txBody>
      </p:sp>
      <p:pic>
        <p:nvPicPr>
          <p:cNvPr id="10" name="图片 9" descr="A000220150318D40PPIC.png"/>
          <p:cNvPicPr>
            <a:picLocks noChangeAspect="1"/>
          </p:cNvPicPr>
          <p:nvPr/>
        </p:nvPicPr>
        <p:blipFill>
          <a:blip r:embed="rId2" cstate="print"/>
          <a:stretch>
            <a:fillRect/>
          </a:stretch>
        </p:blipFill>
        <p:spPr>
          <a:xfrm>
            <a:off x="8331200" y="2457450"/>
            <a:ext cx="3408501" cy="2886717"/>
          </a:xfrm>
          <a:prstGeom prst="rect">
            <a:avLst/>
          </a:prstGeom>
        </p:spPr>
      </p:pic>
      <p:sp>
        <p:nvSpPr>
          <p:cNvPr id="2" name="标题 1">
            <a:extLst>
              <a:ext uri="{FF2B5EF4-FFF2-40B4-BE49-F238E27FC236}">
                <a16:creationId xmlns:a16="http://schemas.microsoft.com/office/drawing/2014/main" id="{5DC15C39-A67B-81B5-2718-E8D95EDC0BC0}"/>
              </a:ext>
            </a:extLst>
          </p:cNvPr>
          <p:cNvSpPr>
            <a:spLocks noGrp="1"/>
          </p:cNvSpPr>
          <p:nvPr>
            <p:ph type="title"/>
          </p:nvPr>
        </p:nvSpPr>
        <p:spPr>
          <a:xfrm>
            <a:off x="754063" y="427293"/>
            <a:ext cx="8415337" cy="523220"/>
          </a:xfrm>
        </p:spPr>
        <p:txBody>
          <a:bodyPr/>
          <a:lstStyle/>
          <a:p>
            <a:pPr lvl="0"/>
            <a:r>
              <a:rPr lang="en-US" altLang="zh-CN" dirty="0">
                <a:sym typeface="+mn-ea"/>
              </a:rPr>
              <a:t>8.6 WebApp</a:t>
            </a:r>
            <a:r>
              <a:rPr lang="zh-CN" altLang="en-US" dirty="0">
                <a:sym typeface="+mn-ea"/>
              </a:rPr>
              <a:t>设计</a:t>
            </a:r>
            <a:endParaRPr lang="en-US" altLang="zh-CN" dirty="0">
              <a:sym typeface="+mn-ea"/>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sz="2400" dirty="0">
                <a:solidFill>
                  <a:schemeClr val="tx1"/>
                </a:solidFill>
              </a:rPr>
              <a:t>WebApp需求分析</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5676265" y="2951480"/>
            <a:ext cx="5968365" cy="2120902"/>
          </a:xfrm>
          <a:prstGeom prst="rect">
            <a:avLst/>
          </a:prstGeom>
        </p:spPr>
        <p:txBody>
          <a:bodyPr wrap="square">
            <a:spAutoFit/>
          </a:bodyPr>
          <a:lstStyle/>
          <a:p>
            <a:pPr indent="457200">
              <a:lnSpc>
                <a:spcPct val="150000"/>
              </a:lnSpc>
              <a:defRPr/>
            </a:pPr>
            <a:r>
              <a:rPr lang="zh-CN" altLang="en-US" dirty="0"/>
              <a:t>需求分析包括提取、分析和审查获取到的需求，以确保所有的利益相关者都明确其含义并找出其中的错误、遗漏或不足。需求分析的目的在于得到高质量和具体的需求。下面将介绍需求分析经历的活动、需要遵循的原则以及需求规格说明书的</a:t>
            </a:r>
            <a:r>
              <a:rPr lang="zh-CN" altLang="en-US"/>
              <a:t>设计。</a:t>
            </a:r>
            <a:endParaRPr lang="en-US" altLang="zh-CN" dirty="0"/>
          </a:p>
        </p:txBody>
      </p:sp>
      <p:pic>
        <p:nvPicPr>
          <p:cNvPr id="3" name="图片 2" descr="A000220150321F57PPIC"/>
          <p:cNvPicPr>
            <a:picLocks noChangeAspect="1"/>
          </p:cNvPicPr>
          <p:nvPr/>
        </p:nvPicPr>
        <p:blipFill>
          <a:blip r:embed="rId4" cstate="print"/>
          <a:stretch>
            <a:fillRect/>
          </a:stretch>
        </p:blipFill>
        <p:spPr>
          <a:xfrm>
            <a:off x="644525" y="2766695"/>
            <a:ext cx="4786630" cy="2346960"/>
          </a:xfrm>
          <a:prstGeom prst="rect">
            <a:avLst/>
          </a:prstGeom>
        </p:spPr>
      </p:pic>
    </p:spTree>
    <p:custDataLst>
      <p:tags r:id="rId1"/>
    </p:custDataLst>
  </p:cSld>
  <p:clrMapOvr>
    <a:masterClrMapping/>
  </p:clrMapOvr>
  <p:transition>
    <p:zoom dir="in"/>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sp>
        <p:nvSpPr>
          <p:cNvPr id="35" name="文本框 34"/>
          <p:cNvSpPr txBox="1"/>
          <p:nvPr/>
        </p:nvSpPr>
        <p:spPr>
          <a:xfrm>
            <a:off x="971550" y="1831975"/>
            <a:ext cx="10059035" cy="1311128"/>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p>
          <a:p>
            <a:pPr>
              <a:lnSpc>
                <a:spcPct val="110000"/>
              </a:lnSpc>
            </a:pPr>
            <a:r>
              <a:rPr lang="en-US" altLang="zh-CN" b="1" dirty="0">
                <a:latin typeface="微软雅黑" panose="020B0503020204020204" charset="-122"/>
                <a:ea typeface="微软雅黑" panose="020B0503020204020204" charset="-122"/>
                <a:sym typeface="+mn-ea"/>
              </a:rPr>
              <a:t>1</a:t>
            </a:r>
            <a:r>
              <a:rPr lang="zh-CN" altLang="zh-CN" b="1" dirty="0">
                <a:latin typeface="微软雅黑" panose="020B0503020204020204" charset="-122"/>
                <a:ea typeface="微软雅黑" panose="020B0503020204020204" charset="-122"/>
                <a:sym typeface="+mn-ea"/>
              </a:rPr>
              <a:t>．需求分析活动</a:t>
            </a:r>
          </a:p>
          <a:p>
            <a:pPr marL="0" indent="0" algn="l" fontAlgn="auto">
              <a:lnSpc>
                <a:spcPct val="110000"/>
              </a:lnSpc>
            </a:pP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由于Web应用的特殊性和行业覆盖的广阔性，以及需求分析的高风险性，高质量的需求分析是Web应用成功的关键因素。现有的需求分析方法主要包括以下活动。</a:t>
            </a:r>
          </a:p>
        </p:txBody>
      </p:sp>
      <p:grpSp>
        <p:nvGrpSpPr>
          <p:cNvPr id="6" name="组合 5"/>
          <p:cNvGrpSpPr/>
          <p:nvPr/>
        </p:nvGrpSpPr>
        <p:grpSpPr>
          <a:xfrm>
            <a:off x="942340" y="3358515"/>
            <a:ext cx="8971280" cy="819150"/>
            <a:chOff x="1145" y="3666"/>
            <a:chExt cx="14128" cy="1290"/>
          </a:xfrm>
        </p:grpSpPr>
        <p:sp>
          <p:nvSpPr>
            <p:cNvPr id="7" name="Oval 5"/>
            <p:cNvSpPr/>
            <p:nvPr/>
          </p:nvSpPr>
          <p:spPr>
            <a:xfrm>
              <a:off x="1145" y="3736"/>
              <a:ext cx="1223" cy="1220"/>
            </a:xfrm>
            <a:prstGeom prst="ellipse">
              <a:avLst/>
            </a:prstGeom>
            <a:solidFill>
              <a:srgbClr val="58BDA8"/>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r>
                <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rPr>
                <a:t>1</a:t>
              </a:r>
            </a:p>
          </p:txBody>
        </p:sp>
        <p:sp>
          <p:nvSpPr>
            <p:cNvPr id="18" name="矩形 17"/>
            <p:cNvSpPr/>
            <p:nvPr/>
          </p:nvSpPr>
          <p:spPr>
            <a:xfrm>
              <a:off x="2562" y="4181"/>
              <a:ext cx="12711" cy="606"/>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关联图用于定义Web应用与其外部实体间的边界和接口的简单模型。</a:t>
              </a:r>
            </a:p>
          </p:txBody>
        </p:sp>
        <p:sp>
          <p:nvSpPr>
            <p:cNvPr id="35857" name="文本框 18"/>
            <p:cNvSpPr txBox="1"/>
            <p:nvPr/>
          </p:nvSpPr>
          <p:spPr>
            <a:xfrm>
              <a:off x="2562" y="3666"/>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绘制系统关联图</a:t>
              </a:r>
            </a:p>
          </p:txBody>
        </p:sp>
      </p:grpSp>
      <p:grpSp>
        <p:nvGrpSpPr>
          <p:cNvPr id="11" name="组合 10"/>
          <p:cNvGrpSpPr/>
          <p:nvPr/>
        </p:nvGrpSpPr>
        <p:grpSpPr>
          <a:xfrm>
            <a:off x="942340" y="4333875"/>
            <a:ext cx="10307320" cy="1489075"/>
            <a:chOff x="10037" y="3658"/>
            <a:chExt cx="16232" cy="2345"/>
          </a:xfrm>
        </p:grpSpPr>
        <p:sp>
          <p:nvSpPr>
            <p:cNvPr id="16" name="Oval 26"/>
            <p:cNvSpPr/>
            <p:nvPr/>
          </p:nvSpPr>
          <p:spPr>
            <a:xfrm>
              <a:off x="10037" y="3727"/>
              <a:ext cx="1223" cy="1223"/>
            </a:xfrm>
            <a:prstGeom prst="ellipse">
              <a:avLst/>
            </a:prstGeom>
            <a:solidFill>
              <a:schemeClr val="accent2"/>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r>
                <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rPr>
                <a:t>2</a:t>
              </a:r>
            </a:p>
          </p:txBody>
        </p:sp>
        <p:sp>
          <p:nvSpPr>
            <p:cNvPr id="24" name="矩形 23"/>
            <p:cNvSpPr/>
            <p:nvPr/>
          </p:nvSpPr>
          <p:spPr>
            <a:xfrm>
              <a:off x="11427" y="4176"/>
              <a:ext cx="14842" cy="1827"/>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当开发人员或用户无法确定需求时，开发一个用户界面原型可以使Web应用具体化。用户可以对原型进行评估，使Web应用的参与者能更好地理解所要解决的问题，同时找出需求文档与原型之间的冲突之处。</a:t>
              </a:r>
            </a:p>
          </p:txBody>
        </p:sp>
        <p:sp>
          <p:nvSpPr>
            <p:cNvPr id="35863" name="文本框 24"/>
            <p:cNvSpPr txBox="1"/>
            <p:nvPr/>
          </p:nvSpPr>
          <p:spPr>
            <a:xfrm>
              <a:off x="11427" y="3658"/>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创建用户界面原型</a:t>
              </a:r>
            </a:p>
          </p:txBody>
        </p:sp>
      </p:grpSp>
    </p:spTree>
    <p:custDataLst>
      <p:tags r:id="rId1"/>
    </p:custDataLst>
  </p:cSld>
  <p:clrMapOvr>
    <a:masterClrMapping/>
  </p:clrMapOvr>
  <p:transition>
    <p:zoom dir="in"/>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to="" calcmode="lin" valueType="num">
                                      <p:cBhvr>
                                        <p:cTn id="7" dur="1" fill="hold"/>
                                        <p:tgtEl>
                                          <p:spTgt spid="6"/>
                                        </p:tgtEl>
                                      </p:cBhvr>
                                    </p:anim>
                                  </p:childTnLst>
                                </p:cTn>
                              </p:par>
                            </p:childTnLst>
                          </p:cTn>
                        </p:par>
                      </p:childTnLst>
                    </p:cTn>
                  </p:par>
                  <p:par>
                    <p:cTn id="8" fill="hold">
                      <p:stCondLst>
                        <p:cond delay="indefinite"/>
                      </p:stCondLst>
                      <p:childTnLst>
                        <p:par>
                          <p:cTn id="9" fill="hold">
                            <p:stCondLst>
                              <p:cond delay="0"/>
                            </p:stCondLst>
                            <p:childTnLst>
                              <p:par>
                                <p:cTn id="10" presetID="24"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 to="" calcmode="lin" valueType="num">
                                      <p:cBhvr>
                                        <p:cTn id="12" dur="1" fill="hold"/>
                                        <p:tgtEl>
                                          <p:spTgt spid="11"/>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grpSp>
        <p:nvGrpSpPr>
          <p:cNvPr id="6" name="组合 5"/>
          <p:cNvGrpSpPr/>
          <p:nvPr/>
        </p:nvGrpSpPr>
        <p:grpSpPr>
          <a:xfrm>
            <a:off x="837565" y="4251960"/>
            <a:ext cx="10459085" cy="1499870"/>
            <a:chOff x="1145" y="3666"/>
            <a:chExt cx="16471" cy="2362"/>
          </a:xfrm>
        </p:grpSpPr>
        <p:sp>
          <p:nvSpPr>
            <p:cNvPr id="7" name="Oval 5"/>
            <p:cNvSpPr/>
            <p:nvPr/>
          </p:nvSpPr>
          <p:spPr>
            <a:xfrm>
              <a:off x="1145" y="3736"/>
              <a:ext cx="1223" cy="1220"/>
            </a:xfrm>
            <a:prstGeom prst="ellipse">
              <a:avLst/>
            </a:prstGeom>
            <a:solidFill>
              <a:schemeClr val="accent5">
                <a:lumMod val="75000"/>
              </a:schemeClr>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r>
                <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rPr>
                <a:t>4</a:t>
              </a:r>
            </a:p>
          </p:txBody>
        </p:sp>
        <p:sp>
          <p:nvSpPr>
            <p:cNvPr id="18" name="矩形 17"/>
            <p:cNvSpPr/>
            <p:nvPr/>
          </p:nvSpPr>
          <p:spPr>
            <a:xfrm>
              <a:off x="2368" y="4181"/>
              <a:ext cx="15248" cy="1847"/>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应用分析方法来确定用例、特性或单项需求实现的优先级，以优先级为基础确定Web应用将包括哪些特性或哪类需求。优先级很高的需求应在Web应用的第一个版本中实现，而优先级较低的需求可以在后续版本中实现。</a:t>
              </a:r>
            </a:p>
          </p:txBody>
        </p:sp>
        <p:sp>
          <p:nvSpPr>
            <p:cNvPr id="35857" name="文本框 18"/>
            <p:cNvSpPr txBox="1"/>
            <p:nvPr/>
          </p:nvSpPr>
          <p:spPr>
            <a:xfrm>
              <a:off x="2562" y="3666"/>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确定需求的优先级</a:t>
              </a:r>
            </a:p>
          </p:txBody>
        </p:sp>
      </p:grpSp>
      <p:grpSp>
        <p:nvGrpSpPr>
          <p:cNvPr id="14" name="组合 13"/>
          <p:cNvGrpSpPr/>
          <p:nvPr/>
        </p:nvGrpSpPr>
        <p:grpSpPr>
          <a:xfrm>
            <a:off x="837565" y="2527300"/>
            <a:ext cx="10307320" cy="1487170"/>
            <a:chOff x="1145" y="5803"/>
            <a:chExt cx="16232" cy="2342"/>
          </a:xfrm>
        </p:grpSpPr>
        <p:sp>
          <p:nvSpPr>
            <p:cNvPr id="15" name="Oval 21"/>
            <p:cNvSpPr/>
            <p:nvPr/>
          </p:nvSpPr>
          <p:spPr>
            <a:xfrm>
              <a:off x="1145" y="5861"/>
              <a:ext cx="1223" cy="1223"/>
            </a:xfrm>
            <a:prstGeom prst="ellipse">
              <a:avLst/>
            </a:prstGeom>
            <a:solidFill>
              <a:srgbClr val="EF4150"/>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r>
                <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rPr>
                <a:t>3</a:t>
              </a:r>
            </a:p>
          </p:txBody>
        </p:sp>
        <p:sp>
          <p:nvSpPr>
            <p:cNvPr id="17" name="矩形 16"/>
            <p:cNvSpPr/>
            <p:nvPr/>
          </p:nvSpPr>
          <p:spPr>
            <a:xfrm>
              <a:off x="2562" y="6318"/>
              <a:ext cx="14815" cy="1827"/>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在成本和性能的约束下，分析每项需求实施的可行性，明确与每项需求实现相关联的风险，包括与其他需求的冲突、对外界因素的依赖和技术障碍。对无法实现或实现难度很大的需求，开发者需要和用户沟通，讨论是否需要去掉或修改这些需求。</a:t>
              </a:r>
            </a:p>
          </p:txBody>
        </p:sp>
        <p:sp>
          <p:nvSpPr>
            <p:cNvPr id="19" name="文本框 20"/>
            <p:cNvSpPr txBox="1"/>
            <p:nvPr/>
          </p:nvSpPr>
          <p:spPr>
            <a:xfrm>
              <a:off x="2562" y="5803"/>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分析需求可行性</a:t>
              </a:r>
            </a:p>
          </p:txBody>
        </p:sp>
      </p:grpSp>
    </p:spTree>
    <p:custDataLst>
      <p:tags r:id="rId1"/>
    </p:custDataLst>
  </p:cSld>
  <p:clrMapOvr>
    <a:masterClrMapping/>
  </p:clrMapOvr>
  <p:transition>
    <p:zoom dir="in"/>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to="" calcmode="lin" valueType="num">
                                      <p:cBhvr>
                                        <p:cTn id="7" dur="1" fill="hold"/>
                                        <p:tgtEl>
                                          <p:spTgt spid="6"/>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grpSp>
        <p:nvGrpSpPr>
          <p:cNvPr id="6" name="组合 5"/>
          <p:cNvGrpSpPr/>
          <p:nvPr/>
        </p:nvGrpSpPr>
        <p:grpSpPr>
          <a:xfrm>
            <a:off x="809625" y="4735830"/>
            <a:ext cx="10139680" cy="1487170"/>
            <a:chOff x="1145" y="3666"/>
            <a:chExt cx="15968" cy="2342"/>
          </a:xfrm>
        </p:grpSpPr>
        <p:sp>
          <p:nvSpPr>
            <p:cNvPr id="7" name="Oval 5"/>
            <p:cNvSpPr/>
            <p:nvPr/>
          </p:nvSpPr>
          <p:spPr>
            <a:xfrm>
              <a:off x="1145" y="3736"/>
              <a:ext cx="1223" cy="1220"/>
            </a:xfrm>
            <a:prstGeom prst="ellipse">
              <a:avLst/>
            </a:prstGeom>
            <a:solidFill>
              <a:schemeClr val="accent6">
                <a:lumMod val="75000"/>
              </a:schemeClr>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r>
                <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rPr>
                <a:t>6</a:t>
              </a:r>
            </a:p>
          </p:txBody>
        </p:sp>
        <p:sp>
          <p:nvSpPr>
            <p:cNvPr id="18" name="矩形 17"/>
            <p:cNvSpPr/>
            <p:nvPr/>
          </p:nvSpPr>
          <p:spPr>
            <a:xfrm>
              <a:off x="2368" y="4181"/>
              <a:ext cx="14745" cy="1827"/>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数据字典是对Web应用所用到的所有数据项和结构的定义，以确保开发人员使用统一的数据定义。在需求阶段，数据字典至少应包含和客户相关的数据项，以确保客户与开发小组是使用一致的定义和术语，避免出现二义性。</a:t>
              </a:r>
            </a:p>
          </p:txBody>
        </p:sp>
        <p:sp>
          <p:nvSpPr>
            <p:cNvPr id="35857" name="文本框 18"/>
            <p:cNvSpPr txBox="1"/>
            <p:nvPr/>
          </p:nvSpPr>
          <p:spPr>
            <a:xfrm>
              <a:off x="2562" y="3666"/>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创建数据字典</a:t>
              </a:r>
            </a:p>
          </p:txBody>
        </p:sp>
      </p:grpSp>
      <p:grpSp>
        <p:nvGrpSpPr>
          <p:cNvPr id="10" name="组合 9"/>
          <p:cNvGrpSpPr/>
          <p:nvPr/>
        </p:nvGrpSpPr>
        <p:grpSpPr>
          <a:xfrm>
            <a:off x="809625" y="2112645"/>
            <a:ext cx="10618470" cy="2581910"/>
            <a:chOff x="10037" y="3658"/>
            <a:chExt cx="16722" cy="4066"/>
          </a:xfrm>
        </p:grpSpPr>
        <p:sp>
          <p:nvSpPr>
            <p:cNvPr id="11" name="Oval 26"/>
            <p:cNvSpPr/>
            <p:nvPr/>
          </p:nvSpPr>
          <p:spPr>
            <a:xfrm>
              <a:off x="10037" y="3727"/>
              <a:ext cx="1223" cy="1223"/>
            </a:xfrm>
            <a:prstGeom prst="ellipse">
              <a:avLst/>
            </a:prstGeom>
            <a:solidFill>
              <a:schemeClr val="accent6">
                <a:lumMod val="60000"/>
                <a:lumOff val="40000"/>
              </a:schemeClr>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r>
                <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rPr>
                <a:t>5</a:t>
              </a:r>
            </a:p>
          </p:txBody>
        </p:sp>
        <p:sp>
          <p:nvSpPr>
            <p:cNvPr id="12" name="矩形 11"/>
            <p:cNvSpPr/>
            <p:nvPr/>
          </p:nvSpPr>
          <p:spPr>
            <a:xfrm>
              <a:off x="11266" y="4176"/>
              <a:ext cx="15493" cy="3548"/>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图形化的需求分析模型能提供不同的信息与关系，以帮助开发者发现不正确的、不一致的、遗漏的和冗余的需求。常用的模型可分为结构化需求分析方法和面向对象需求分析方法两类。</a:t>
              </a:r>
            </a:p>
            <a:p>
              <a:pPr marL="0" marR="0" lvl="0" indent="0" algn="l" defTabSz="914400" rtl="0" fontAlgn="auto">
                <a:lnSpc>
                  <a:spcPct val="130000"/>
                </a:lnSpc>
                <a:spcBef>
                  <a:spcPts val="0"/>
                </a:spcBef>
                <a:spcAft>
                  <a:spcPts val="0"/>
                </a:spcAft>
                <a:buClrTx/>
                <a:buSzTx/>
                <a:buFontTx/>
                <a:buNone/>
                <a:defRPr/>
              </a:pP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结构化分析方法主要使用实体关系图、数据流图和状态转换图3种图形模型，分别进行数据建模、功能建模和动态建模。面向对象分析方法以用例模型为核心，采用UML为基础的类图、用例图、状态图、顺序图和活动图等图形模型来对Web应用需求的各个方面进行描述。开发者可根据项目的实际情况选取方法，也可两种方法结合使用。</a:t>
              </a:r>
            </a:p>
          </p:txBody>
        </p:sp>
        <p:sp>
          <p:nvSpPr>
            <p:cNvPr id="13" name="文本框 24"/>
            <p:cNvSpPr txBox="1"/>
            <p:nvPr/>
          </p:nvSpPr>
          <p:spPr>
            <a:xfrm>
              <a:off x="11427" y="3658"/>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为需求建立模型</a:t>
              </a:r>
            </a:p>
          </p:txBody>
        </p:sp>
      </p:grpSp>
    </p:spTree>
    <p:custDataLst>
      <p:tags r:id="rId1"/>
    </p:custDataLst>
  </p:cSld>
  <p:clrMapOvr>
    <a:masterClrMapping/>
  </p:clrMapOvr>
  <p:transition>
    <p:zoom dir="in"/>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to="" calcmode="lin" valueType="num">
                                      <p:cBhvr>
                                        <p:cTn id="7" dur="1" fill="hold"/>
                                        <p:tgtEl>
                                          <p:spTgt spid="6"/>
                                        </p:tgtEl>
                                      </p:cBhvr>
                                    </p:anim>
                                  </p:childTnLst>
                                </p:cTn>
                              </p:par>
                            </p:childTnLst>
                          </p:cTn>
                        </p:par>
                      </p:childTnLst>
                    </p:cTn>
                  </p:par>
                  <p:par>
                    <p:cTn id="8" fill="hold">
                      <p:stCondLst>
                        <p:cond delay="indefinite"/>
                      </p:stCondLst>
                      <p:childTnLst>
                        <p:par>
                          <p:cTn id="9" fill="hold">
                            <p:stCondLst>
                              <p:cond delay="0"/>
                            </p:stCondLst>
                            <p:childTnLst>
                              <p:par>
                                <p:cTn id="10" presetID="24"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 to="" calcmode="lin" valueType="num">
                                      <p:cBhvr>
                                        <p:cTn id="12" dur="1" fill="hold"/>
                                        <p:tgtEl>
                                          <p:spTgt spid="10"/>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sp>
        <p:nvSpPr>
          <p:cNvPr id="9" name="MH_Text_1"/>
          <p:cNvSpPr/>
          <p:nvPr>
            <p:custDataLst>
              <p:tags r:id="rId2"/>
            </p:custDataLst>
          </p:nvPr>
        </p:nvSpPr>
        <p:spPr>
          <a:xfrm>
            <a:off x="1471084" y="3911986"/>
            <a:ext cx="9060281" cy="1793490"/>
          </a:xfrm>
          <a:prstGeom prst="rect">
            <a:avLst/>
          </a:prstGeom>
          <a:noFill/>
          <a:ln w="12700" cap="flat" cmpd="sng" algn="ctr">
            <a:solidFill>
              <a:srgbClr val="CC0066"/>
            </a:solidFill>
            <a:prstDash val="solid"/>
            <a:miter lim="800000"/>
          </a:ln>
          <a:effectLst/>
        </p:spPr>
        <p:txBody>
          <a:bodyPr anchor="ctr">
            <a:normAutofit/>
          </a:bodyPr>
          <a:lstStyle/>
          <a:p>
            <a:pPr indent="457200">
              <a:lnSpc>
                <a:spcPct val="120000"/>
              </a:lnSpc>
            </a:pPr>
            <a:r>
              <a:rPr dirty="0">
                <a:latin typeface="微软雅黑" panose="020B0503020204020204" charset="-122"/>
                <a:ea typeface="微软雅黑" panose="020B0503020204020204" charset="-122"/>
                <a:sym typeface="+mn-ea"/>
              </a:rPr>
              <a:t>开发者应使用符合客户语言习惯的表达方式，因此开发者需要了解客户使用的业务术语，但客户不一定需要懂得计算机行业的术语。对于Web应用来说，如果用户为普通互联网用户，则不会有大量的业务术语。</a:t>
            </a:r>
          </a:p>
        </p:txBody>
      </p:sp>
      <p:sp>
        <p:nvSpPr>
          <p:cNvPr id="10" name="MH_SubTitle_1"/>
          <p:cNvSpPr/>
          <p:nvPr>
            <p:custDataLst>
              <p:tags r:id="rId3"/>
            </p:custDataLst>
          </p:nvPr>
        </p:nvSpPr>
        <p:spPr>
          <a:xfrm>
            <a:off x="1471084" y="3351597"/>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sz="2400" b="1" kern="0" dirty="0">
                <a:solidFill>
                  <a:srgbClr val="FFFFFF"/>
                </a:solidFill>
                <a:latin typeface="微软雅黑" panose="020B0503020204020204" charset="-122"/>
                <a:ea typeface="微软雅黑" panose="020B0503020204020204" charset="-122"/>
                <a:cs typeface="Arial" panose="020B0604020202020204" pitchFamily="34" charset="0"/>
              </a:rPr>
              <a:t>1）注意需求描述用语</a:t>
            </a:r>
          </a:p>
        </p:txBody>
      </p:sp>
      <p:sp>
        <p:nvSpPr>
          <p:cNvPr id="6" name="文本框 34"/>
          <p:cNvSpPr txBox="1"/>
          <p:nvPr/>
        </p:nvSpPr>
        <p:spPr>
          <a:xfrm>
            <a:off x="971550" y="1831975"/>
            <a:ext cx="10059035" cy="1255728"/>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p>
          <a:p>
            <a:pPr>
              <a:lnSpc>
                <a:spcPct val="110000"/>
              </a:lnSpc>
            </a:pPr>
            <a:r>
              <a:rPr lang="en-US" altLang="zh-CN" b="1" dirty="0">
                <a:latin typeface="微软雅黑" panose="020B0503020204020204" charset="-122"/>
                <a:ea typeface="微软雅黑" panose="020B0503020204020204" charset="-122"/>
                <a:sym typeface="+mn-ea"/>
              </a:rPr>
              <a:t>2</a:t>
            </a:r>
            <a:r>
              <a:rPr lang="zh-CN" altLang="zh-CN" b="1" dirty="0">
                <a:latin typeface="微软雅黑" panose="020B0503020204020204" charset="-122"/>
                <a:ea typeface="微软雅黑" panose="020B0503020204020204" charset="-122"/>
                <a:sym typeface="+mn-ea"/>
              </a:rPr>
              <a:t>．需求分析</a:t>
            </a:r>
            <a:r>
              <a:rPr lang="zh-CN" altLang="en-US" b="1" dirty="0">
                <a:latin typeface="微软雅黑" panose="020B0503020204020204" charset="-122"/>
                <a:ea typeface="微软雅黑" panose="020B0503020204020204" charset="-122"/>
                <a:sym typeface="+mn-ea"/>
              </a:rPr>
              <a:t>原则</a:t>
            </a:r>
            <a:endParaRPr lang="zh-CN" altLang="zh-CN" b="1" dirty="0">
              <a:latin typeface="微软雅黑" panose="020B0503020204020204" charset="-122"/>
              <a:ea typeface="微软雅黑" panose="020B0503020204020204" charset="-122"/>
              <a:sym typeface="+mn-ea"/>
            </a:endParaRPr>
          </a:p>
          <a:p>
            <a:r>
              <a:rPr lang="zh-CN" altLang="zh-CN" dirty="0">
                <a:latin typeface="微软雅黑" panose="020B0503020204020204" charset="-122"/>
                <a:ea typeface="微软雅黑" panose="020B0503020204020204" charset="-122"/>
                <a:sym typeface="+mn-ea"/>
              </a:rPr>
              <a:t>需求分析过程是一个提炼用户需求的过程，需要将用户的需求描述提炼成</a:t>
            </a:r>
            <a:r>
              <a:rPr lang="en-US" altLang="zh-CN" dirty="0">
                <a:latin typeface="微软雅黑" panose="020B0503020204020204" charset="-122"/>
                <a:ea typeface="微软雅黑" panose="020B0503020204020204" charset="-122"/>
                <a:sym typeface="+mn-ea"/>
              </a:rPr>
              <a:t>Web</a:t>
            </a:r>
            <a:r>
              <a:rPr lang="zh-CN" altLang="zh-CN" dirty="0">
                <a:latin typeface="微软雅黑" panose="020B0503020204020204" charset="-122"/>
                <a:ea typeface="微软雅黑" panose="020B0503020204020204" charset="-122"/>
                <a:sym typeface="+mn-ea"/>
              </a:rPr>
              <a:t>应用开发中可以为所有业务相关人员都能理解的形式，对于这一复杂过程一般需要遵循一定的原则。</a:t>
            </a:r>
          </a:p>
        </p:txBody>
      </p:sp>
    </p:spTree>
    <p:custDataLst>
      <p:tags r:id="rId1"/>
    </p:custDataLst>
  </p:cSld>
  <p:clrMapOvr>
    <a:masterClrMapping/>
  </p:clrMapOvr>
  <p:transition>
    <p:zoom dir="in"/>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sp>
        <p:nvSpPr>
          <p:cNvPr id="9" name="MH_Text_1"/>
          <p:cNvSpPr/>
          <p:nvPr>
            <p:custDataLst>
              <p:tags r:id="rId2"/>
            </p:custDataLst>
          </p:nvPr>
        </p:nvSpPr>
        <p:spPr>
          <a:xfrm>
            <a:off x="1471084" y="3092835"/>
            <a:ext cx="9060281" cy="2701925"/>
          </a:xfrm>
          <a:prstGeom prst="rect">
            <a:avLst/>
          </a:prstGeom>
          <a:noFill/>
          <a:ln w="12700" cap="flat" cmpd="sng" algn="ctr">
            <a:solidFill>
              <a:srgbClr val="CC0066"/>
            </a:solidFill>
            <a:prstDash val="solid"/>
            <a:miter lim="800000"/>
          </a:ln>
          <a:effectLst/>
        </p:spPr>
        <p:txBody>
          <a:bodyPr anchor="ctr">
            <a:normAutofit/>
          </a:bodyPr>
          <a:lstStyle/>
          <a:p>
            <a:pPr indent="457200">
              <a:lnSpc>
                <a:spcPct val="120000"/>
              </a:lnSpc>
            </a:pPr>
            <a:r>
              <a:rPr dirty="0">
                <a:latin typeface="微软雅黑" panose="020B0503020204020204" charset="-122"/>
                <a:ea typeface="微软雅黑" panose="020B0503020204020204" charset="-122"/>
                <a:sym typeface="+mn-ea"/>
              </a:rPr>
              <a:t>只有分析人员更好地了解客户的业务及目标，才能使产品更好地满足需要。这将有助于开发人员设计出真正满足客户需要并达到期望的优秀Web应用系统。客户可以邀请开发和分析人员观察用户的工作流程。如果是旧系统切换到新系统，则开发人员和需求分析人员应使用目前的旧系统，有助于了解目前系统的工作流程，以便在新的系统中进行改进。如果是以前没有的系统，则应该对之前人工的工作方式进行分析，抽取出业务流程以便在系统中实现。</a:t>
            </a:r>
          </a:p>
        </p:txBody>
      </p:sp>
      <p:sp>
        <p:nvSpPr>
          <p:cNvPr id="10" name="MH_SubTitle_1"/>
          <p:cNvSpPr/>
          <p:nvPr>
            <p:custDataLst>
              <p:tags r:id="rId3"/>
            </p:custDataLst>
          </p:nvPr>
        </p:nvSpPr>
        <p:spPr>
          <a:xfrm>
            <a:off x="1471084" y="2532447"/>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sz="2400" b="1" kern="0" dirty="0">
                <a:solidFill>
                  <a:srgbClr val="FFFFFF"/>
                </a:solidFill>
                <a:latin typeface="微软雅黑" panose="020B0503020204020204" charset="-122"/>
                <a:ea typeface="微软雅黑" panose="020B0503020204020204" charset="-122"/>
                <a:cs typeface="Arial" panose="020B0604020202020204" pitchFamily="34" charset="0"/>
              </a:rPr>
              <a:t>2）了解客户业务</a:t>
            </a:r>
          </a:p>
        </p:txBody>
      </p:sp>
    </p:spTree>
    <p:custDataLst>
      <p:tags r:id="rId1"/>
    </p:custDataLst>
  </p:cSld>
  <p:clrMapOvr>
    <a:masterClrMapping/>
  </p:clrMapOvr>
  <p:transition>
    <p:zoom dir="in"/>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sp>
        <p:nvSpPr>
          <p:cNvPr id="9" name="MH_Text_1"/>
          <p:cNvSpPr/>
          <p:nvPr>
            <p:custDataLst>
              <p:tags r:id="rId2"/>
            </p:custDataLst>
          </p:nvPr>
        </p:nvSpPr>
        <p:spPr>
          <a:xfrm>
            <a:off x="1471084" y="3092835"/>
            <a:ext cx="9060281" cy="2701925"/>
          </a:xfrm>
          <a:prstGeom prst="rect">
            <a:avLst/>
          </a:prstGeom>
          <a:noFill/>
          <a:ln w="12700" cap="flat" cmpd="sng" algn="ctr">
            <a:solidFill>
              <a:srgbClr val="CC0066"/>
            </a:solidFill>
            <a:prstDash val="solid"/>
            <a:miter lim="800000"/>
          </a:ln>
          <a:effectLst/>
        </p:spPr>
        <p:txBody>
          <a:bodyPr anchor="ctr">
            <a:normAutofit/>
          </a:bodyPr>
          <a:lstStyle/>
          <a:p>
            <a:pPr indent="457200">
              <a:lnSpc>
                <a:spcPct val="120000"/>
              </a:lnSpc>
            </a:pPr>
            <a:r>
              <a:rPr dirty="0">
                <a:latin typeface="微软雅黑" panose="020B0503020204020204" charset="-122"/>
                <a:ea typeface="微软雅黑" panose="020B0503020204020204" charset="-122"/>
                <a:sym typeface="+mn-ea"/>
              </a:rPr>
              <a:t>客户对Web应用的非功能特性的描述通常会比较主观。例如，客户有时要求产品“界面友好、运行高效”，但对于开发人员来讲，这些要求太主观、太抽象，其实并无实用价值。正确的做法是，分析人员通过询问和调查了解客户所要的“友好”、“高效”所包含的具体特性，分析特性之间的影响，在性能代价和所提出解决方案的预期利益之间做出权衡，以确保做出合理的取舍。</a:t>
            </a:r>
          </a:p>
        </p:txBody>
      </p:sp>
      <p:sp>
        <p:nvSpPr>
          <p:cNvPr id="10" name="MH_SubTitle_1"/>
          <p:cNvSpPr/>
          <p:nvPr>
            <p:custDataLst>
              <p:tags r:id="rId3"/>
            </p:custDataLst>
          </p:nvPr>
        </p:nvSpPr>
        <p:spPr>
          <a:xfrm>
            <a:off x="1471084" y="2532447"/>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sz="2400" b="1" kern="0" dirty="0">
                <a:solidFill>
                  <a:srgbClr val="FFFFFF"/>
                </a:solidFill>
                <a:latin typeface="微软雅黑" panose="020B0503020204020204" charset="-122"/>
                <a:ea typeface="微软雅黑" panose="020B0503020204020204" charset="-122"/>
                <a:cs typeface="Arial" panose="020B0604020202020204" pitchFamily="34" charset="0"/>
              </a:rPr>
              <a:t>3）描述产品的非功能特性</a:t>
            </a:r>
          </a:p>
        </p:txBody>
      </p:sp>
    </p:spTree>
    <p:custDataLst>
      <p:tags r:id="rId1"/>
    </p:custDataLst>
  </p:cSld>
  <p:clrMapOvr>
    <a:masterClrMapping/>
  </p:clrMapOvr>
  <p:transition>
    <p:zoom dir="in"/>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sp>
        <p:nvSpPr>
          <p:cNvPr id="9" name="MH_Text_1"/>
          <p:cNvSpPr/>
          <p:nvPr>
            <p:custDataLst>
              <p:tags r:id="rId2"/>
            </p:custDataLst>
          </p:nvPr>
        </p:nvSpPr>
        <p:spPr>
          <a:xfrm>
            <a:off x="1471084" y="3092835"/>
            <a:ext cx="9215113" cy="2701925"/>
          </a:xfrm>
          <a:prstGeom prst="rect">
            <a:avLst/>
          </a:prstGeom>
          <a:noFill/>
          <a:ln w="12700" cap="flat" cmpd="sng" algn="ctr">
            <a:solidFill>
              <a:srgbClr val="CC0066"/>
            </a:solidFill>
            <a:prstDash val="solid"/>
            <a:miter lim="800000"/>
          </a:ln>
          <a:effectLst/>
        </p:spPr>
        <p:txBody>
          <a:bodyPr anchor="ctr">
            <a:normAutofit/>
          </a:bodyPr>
          <a:lstStyle/>
          <a:p>
            <a:pPr indent="457200">
              <a:lnSpc>
                <a:spcPct val="120000"/>
              </a:lnSpc>
            </a:pPr>
            <a:r>
              <a:rPr dirty="0">
                <a:latin typeface="微软雅黑" panose="020B0503020204020204" charset="-122"/>
                <a:ea typeface="微软雅黑" panose="020B0503020204020204" charset="-122"/>
                <a:sym typeface="+mn-ea"/>
              </a:rPr>
              <a:t>如果用户需要对需求进行变更，则开发人员应通过分析给出一个真实可信的评估，包括成本、开发时间的变更等，以便用户正确了解需求变更带来的影响。需要注意的是，开发人员不能由于不愿实施变更而随意夸大评估成本。</a:t>
            </a:r>
          </a:p>
        </p:txBody>
      </p:sp>
      <p:sp>
        <p:nvSpPr>
          <p:cNvPr id="10" name="MH_SubTitle_1"/>
          <p:cNvSpPr/>
          <p:nvPr>
            <p:custDataLst>
              <p:tags r:id="rId3"/>
            </p:custDataLst>
          </p:nvPr>
        </p:nvSpPr>
        <p:spPr>
          <a:xfrm>
            <a:off x="1471084" y="2532447"/>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sz="2400" b="1" kern="0" dirty="0">
                <a:solidFill>
                  <a:srgbClr val="FFFFFF"/>
                </a:solidFill>
                <a:latin typeface="微软雅黑" panose="020B0503020204020204" charset="-122"/>
                <a:ea typeface="微软雅黑" panose="020B0503020204020204" charset="-122"/>
                <a:cs typeface="Arial" panose="020B0604020202020204" pitchFamily="34" charset="0"/>
              </a:rPr>
              <a:t>4）评估需求变更代价</a:t>
            </a:r>
          </a:p>
        </p:txBody>
      </p:sp>
    </p:spTree>
    <p:custDataLst>
      <p:tags r:id="rId1"/>
    </p:custDataLst>
  </p:cSld>
  <p:clrMapOvr>
    <a:masterClrMapping/>
  </p:clrMapOvr>
  <p:transition>
    <p:zoom dir="in"/>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sp>
        <p:nvSpPr>
          <p:cNvPr id="9" name="MH_Text_1"/>
          <p:cNvSpPr/>
          <p:nvPr>
            <p:custDataLst>
              <p:tags r:id="rId2"/>
            </p:custDataLst>
          </p:nvPr>
        </p:nvSpPr>
        <p:spPr>
          <a:xfrm>
            <a:off x="1471084" y="3092835"/>
            <a:ext cx="9133226" cy="2701925"/>
          </a:xfrm>
          <a:prstGeom prst="rect">
            <a:avLst/>
          </a:prstGeom>
          <a:noFill/>
          <a:ln w="12700" cap="flat" cmpd="sng" algn="ctr">
            <a:solidFill>
              <a:srgbClr val="CC0066"/>
            </a:solidFill>
            <a:prstDash val="solid"/>
            <a:miter lim="800000"/>
          </a:ln>
          <a:effectLst/>
        </p:spPr>
        <p:txBody>
          <a:bodyPr anchor="ctr">
            <a:normAutofit/>
          </a:bodyPr>
          <a:lstStyle/>
          <a:p>
            <a:pPr indent="457200">
              <a:lnSpc>
                <a:spcPct val="120000"/>
              </a:lnSpc>
            </a:pPr>
            <a:r>
              <a:rPr dirty="0">
                <a:latin typeface="微软雅黑" panose="020B0503020204020204" charset="-122"/>
                <a:ea typeface="微软雅黑" panose="020B0503020204020204" charset="-122"/>
                <a:sym typeface="+mn-ea"/>
              </a:rPr>
              <a:t>作为系统的最重要的利益相关者，客户在需求工程的过程中扮演着非常重要的角色，客户应该尽可能地参与到整个需求工程的过程中。客户首先需要向开发者详细地介绍Web应用应该实现的业务逻辑，在开发者形成需求文档后用户也应该积极地对文档的内容提出修正意见，并去掉不合理的需求。</a:t>
            </a:r>
          </a:p>
        </p:txBody>
      </p:sp>
      <p:sp>
        <p:nvSpPr>
          <p:cNvPr id="10" name="MH_SubTitle_1"/>
          <p:cNvSpPr/>
          <p:nvPr>
            <p:custDataLst>
              <p:tags r:id="rId3"/>
            </p:custDataLst>
          </p:nvPr>
        </p:nvSpPr>
        <p:spPr>
          <a:xfrm>
            <a:off x="1471084" y="2532447"/>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sz="2400" b="1" kern="0" dirty="0">
                <a:solidFill>
                  <a:srgbClr val="FFFFFF"/>
                </a:solidFill>
                <a:latin typeface="微软雅黑" panose="020B0503020204020204" charset="-122"/>
                <a:ea typeface="微软雅黑" panose="020B0503020204020204" charset="-122"/>
                <a:cs typeface="Arial" panose="020B0604020202020204" pitchFamily="34" charset="0"/>
              </a:rPr>
              <a:t>5）客户参与</a:t>
            </a:r>
          </a:p>
        </p:txBody>
      </p:sp>
    </p:spTree>
    <p:custDataLst>
      <p:tags r:id="rId1"/>
    </p:custDataLst>
  </p:cSld>
  <p:clrMapOvr>
    <a:masterClrMapping/>
  </p:clrMapOvr>
  <p:transition>
    <p:zoom dir="in"/>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pic>
        <p:nvPicPr>
          <p:cNvPr id="3" name="图片 352" descr="8-12"/>
          <p:cNvPicPr>
            <a:picLocks noChangeAspect="1"/>
          </p:cNvPicPr>
          <p:nvPr/>
        </p:nvPicPr>
        <p:blipFill>
          <a:blip r:embed="rId5" cstate="print"/>
          <a:stretch>
            <a:fillRect/>
          </a:stretch>
        </p:blipFill>
        <p:spPr>
          <a:xfrm>
            <a:off x="7566660" y="79375"/>
            <a:ext cx="3286760" cy="6270625"/>
          </a:xfrm>
          <a:prstGeom prst="rect">
            <a:avLst/>
          </a:prstGeom>
          <a:noFill/>
          <a:ln w="9525">
            <a:noFill/>
          </a:ln>
        </p:spPr>
      </p:pic>
      <p:grpSp>
        <p:nvGrpSpPr>
          <p:cNvPr id="4" name="组合 3"/>
          <p:cNvGrpSpPr/>
          <p:nvPr/>
        </p:nvGrpSpPr>
        <p:grpSpPr>
          <a:xfrm>
            <a:off x="443230" y="1969135"/>
            <a:ext cx="6142990" cy="4259580"/>
            <a:chOff x="1181" y="2941"/>
            <a:chExt cx="8037" cy="7184"/>
          </a:xfrm>
        </p:grpSpPr>
        <p:sp>
          <p:nvSpPr>
            <p:cNvPr id="5137" name="MH_Desc_1"/>
            <p:cNvSpPr txBox="1">
              <a:spLocks noChangeArrowheads="1"/>
            </p:cNvSpPr>
            <p:nvPr/>
          </p:nvSpPr>
          <p:spPr bwMode="auto">
            <a:xfrm>
              <a:off x="1916" y="4311"/>
              <a:ext cx="6947" cy="5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rIns="108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spcBef>
                  <a:spcPts val="600"/>
                </a:spcBef>
                <a:spcAft>
                  <a:spcPts val="600"/>
                </a:spcAft>
                <a:defRPr/>
              </a:pPr>
              <a:r>
                <a:rPr lang="en-US" altLang="zh-CN" dirty="0" err="1">
                  <a:latin typeface="微软雅黑" panose="020B0503020204020204" charset="-122"/>
                  <a:ea typeface="微软雅黑" panose="020B0503020204020204" charset="-122"/>
                </a:rPr>
                <a:t>软件需求规格说明书（Software</a:t>
              </a:r>
              <a:r>
                <a:rPr lang="en-US" altLang="zh-CN" dirty="0">
                  <a:latin typeface="微软雅黑" panose="020B0503020204020204" charset="-122"/>
                  <a:ea typeface="微软雅黑" panose="020B0503020204020204" charset="-122"/>
                </a:rPr>
                <a:t> Requirements </a:t>
              </a:r>
              <a:r>
                <a:rPr lang="en-US" altLang="zh-CN" dirty="0" err="1">
                  <a:latin typeface="微软雅黑" panose="020B0503020204020204" charset="-122"/>
                  <a:ea typeface="微软雅黑" panose="020B0503020204020204" charset="-122"/>
                </a:rPr>
                <a:t>Specification，SRS）是按照系统的接口编写的</a:t>
              </a:r>
              <a:r>
                <a:rPr lang="en-US" altLang="zh-CN" dirty="0">
                  <a:latin typeface="微软雅黑" panose="020B0503020204020204" charset="-122"/>
                  <a:ea typeface="微软雅黑" panose="020B0503020204020204" charset="-122"/>
                </a:rPr>
                <a:t>，</a:t>
              </a:r>
              <a:r>
                <a:rPr lang="zh-CN" altLang="en-US" dirty="0">
                  <a:latin typeface="微软雅黑" panose="020B0503020204020204" charset="-122"/>
                  <a:ea typeface="微软雅黑" panose="020B0503020204020204" charset="-122"/>
                </a:rPr>
                <a:t>在右图</a:t>
              </a:r>
              <a:r>
                <a:rPr lang="en-US" altLang="zh-CN" dirty="0" err="1">
                  <a:latin typeface="微软雅黑" panose="020B0503020204020204" charset="-122"/>
                  <a:ea typeface="微软雅黑" panose="020B0503020204020204" charset="-122"/>
                </a:rPr>
                <a:t>中显示了基于IEEE推荐的一个模板，用于按照类和对象组织需求规格说明</a:t>
              </a:r>
              <a:r>
                <a:rPr lang="en-US" altLang="zh-CN" dirty="0">
                  <a:latin typeface="微软雅黑" panose="020B0503020204020204" charset="-122"/>
                  <a:ea typeface="微软雅黑" panose="020B0503020204020204" charset="-122"/>
                </a:rPr>
                <a:t>。</a:t>
              </a:r>
            </a:p>
            <a:p>
              <a:pPr indent="457200" algn="just" fontAlgn="auto">
                <a:lnSpc>
                  <a:spcPct val="120000"/>
                </a:lnSpc>
                <a:spcBef>
                  <a:spcPts val="600"/>
                </a:spcBef>
                <a:spcAft>
                  <a:spcPts val="600"/>
                </a:spcAft>
                <a:defRPr/>
              </a:pPr>
              <a:r>
                <a:rPr lang="en-US" altLang="zh-CN" sz="1600" dirty="0">
                  <a:latin typeface="微软雅黑" panose="020B0503020204020204" charset="-122"/>
                  <a:ea typeface="微软雅黑" panose="020B0503020204020204" charset="-122"/>
                </a:rPr>
                <a:t>（1）在文档化系统接口的过程中，详细描述所有的输入和输出，包括输入的源、输出的目的地、输入和输出数据的值的范围和数据格式、支配某些输入和输出必须进行的数据交换的顺序的协议、窗口格式和组织以及任何计时约束。</a:t>
              </a:r>
            </a:p>
          </p:txBody>
        </p:sp>
        <p:cxnSp>
          <p:nvCxnSpPr>
            <p:cNvPr id="5138" name="MH_Other_13"/>
            <p:cNvCxnSpPr>
              <a:cxnSpLocks noChangeShapeType="1"/>
            </p:cNvCxnSpPr>
            <p:nvPr/>
          </p:nvCxnSpPr>
          <p:spPr bwMode="auto">
            <a:xfrm>
              <a:off x="1181" y="3427"/>
              <a:ext cx="7161" cy="24"/>
            </a:xfrm>
            <a:prstGeom prst="line">
              <a:avLst/>
            </a:prstGeom>
            <a:noFill/>
            <a:ln w="12700" algn="ctr">
              <a:solidFill>
                <a:srgbClr val="1CADE4"/>
              </a:solidFill>
              <a:prstDash val="sysDash"/>
              <a:miter lim="800000"/>
            </a:ln>
          </p:spPr>
        </p:cxnSp>
        <p:cxnSp>
          <p:nvCxnSpPr>
            <p:cNvPr id="5139" name="MH_Other_14"/>
            <p:cNvCxnSpPr>
              <a:cxnSpLocks noChangeShapeType="1"/>
            </p:cNvCxnSpPr>
            <p:nvPr/>
          </p:nvCxnSpPr>
          <p:spPr bwMode="auto">
            <a:xfrm>
              <a:off x="1841" y="2941"/>
              <a:ext cx="0" cy="1634"/>
            </a:xfrm>
            <a:prstGeom prst="line">
              <a:avLst/>
            </a:prstGeom>
            <a:noFill/>
            <a:ln w="12700" algn="ctr">
              <a:solidFill>
                <a:srgbClr val="1CADE4"/>
              </a:solidFill>
              <a:prstDash val="sysDash"/>
              <a:miter lim="800000"/>
            </a:ln>
          </p:spPr>
        </p:cxnSp>
        <p:cxnSp>
          <p:nvCxnSpPr>
            <p:cNvPr id="5140" name="MH_Other_15"/>
            <p:cNvCxnSpPr>
              <a:cxnSpLocks noChangeShapeType="1"/>
            </p:cNvCxnSpPr>
            <p:nvPr/>
          </p:nvCxnSpPr>
          <p:spPr bwMode="auto">
            <a:xfrm>
              <a:off x="1194" y="2941"/>
              <a:ext cx="0" cy="486"/>
            </a:xfrm>
            <a:prstGeom prst="line">
              <a:avLst/>
            </a:prstGeom>
            <a:noFill/>
            <a:ln w="12700" algn="ctr">
              <a:solidFill>
                <a:srgbClr val="1CADE4"/>
              </a:solidFill>
              <a:miter lim="800000"/>
            </a:ln>
          </p:spPr>
        </p:cxnSp>
        <p:cxnSp>
          <p:nvCxnSpPr>
            <p:cNvPr id="5141" name="MH_Other_16"/>
            <p:cNvCxnSpPr>
              <a:cxnSpLocks noChangeShapeType="1"/>
            </p:cNvCxnSpPr>
            <p:nvPr/>
          </p:nvCxnSpPr>
          <p:spPr bwMode="auto">
            <a:xfrm>
              <a:off x="1181" y="2941"/>
              <a:ext cx="660" cy="0"/>
            </a:xfrm>
            <a:prstGeom prst="line">
              <a:avLst/>
            </a:prstGeom>
            <a:noFill/>
            <a:ln w="12700" algn="ctr">
              <a:solidFill>
                <a:srgbClr val="1CADE4"/>
              </a:solidFill>
              <a:miter lim="800000"/>
            </a:ln>
          </p:spPr>
        </p:cxnSp>
        <p:cxnSp>
          <p:nvCxnSpPr>
            <p:cNvPr id="5142" name="MH_Other_17"/>
            <p:cNvCxnSpPr>
              <a:cxnSpLocks noChangeShapeType="1"/>
            </p:cNvCxnSpPr>
            <p:nvPr/>
          </p:nvCxnSpPr>
          <p:spPr bwMode="auto">
            <a:xfrm rot="10800000" flipV="1">
              <a:off x="2086" y="9641"/>
              <a:ext cx="7132" cy="17"/>
            </a:xfrm>
            <a:prstGeom prst="line">
              <a:avLst/>
            </a:prstGeom>
            <a:noFill/>
            <a:ln w="12700" algn="ctr">
              <a:solidFill>
                <a:srgbClr val="1CADE4"/>
              </a:solidFill>
              <a:prstDash val="sysDash"/>
              <a:miter lim="800000"/>
            </a:ln>
          </p:spPr>
        </p:cxnSp>
        <p:cxnSp>
          <p:nvCxnSpPr>
            <p:cNvPr id="5143" name="MH_Other_18"/>
            <p:cNvCxnSpPr>
              <a:cxnSpLocks noChangeShapeType="1"/>
            </p:cNvCxnSpPr>
            <p:nvPr/>
          </p:nvCxnSpPr>
          <p:spPr bwMode="auto">
            <a:xfrm flipH="1" flipV="1">
              <a:off x="8557" y="8491"/>
              <a:ext cx="0" cy="1633"/>
            </a:xfrm>
            <a:prstGeom prst="line">
              <a:avLst/>
            </a:prstGeom>
            <a:noFill/>
            <a:ln w="12700" algn="ctr">
              <a:solidFill>
                <a:srgbClr val="1CADE4"/>
              </a:solidFill>
              <a:prstDash val="sysDash"/>
              <a:miter lim="800000"/>
            </a:ln>
          </p:spPr>
        </p:cxnSp>
        <p:cxnSp>
          <p:nvCxnSpPr>
            <p:cNvPr id="5144" name="MH_Other_19"/>
            <p:cNvCxnSpPr>
              <a:cxnSpLocks noChangeShapeType="1"/>
            </p:cNvCxnSpPr>
            <p:nvPr/>
          </p:nvCxnSpPr>
          <p:spPr bwMode="auto">
            <a:xfrm flipH="1" flipV="1">
              <a:off x="9204" y="9641"/>
              <a:ext cx="0" cy="483"/>
            </a:xfrm>
            <a:prstGeom prst="line">
              <a:avLst/>
            </a:prstGeom>
            <a:noFill/>
            <a:ln w="12700" algn="ctr">
              <a:solidFill>
                <a:srgbClr val="1CADE4"/>
              </a:solidFill>
              <a:miter lim="800000"/>
            </a:ln>
          </p:spPr>
        </p:cxnSp>
        <p:cxnSp>
          <p:nvCxnSpPr>
            <p:cNvPr id="5145" name="MH_Other_20"/>
            <p:cNvCxnSpPr>
              <a:cxnSpLocks noChangeShapeType="1"/>
            </p:cNvCxnSpPr>
            <p:nvPr/>
          </p:nvCxnSpPr>
          <p:spPr bwMode="auto">
            <a:xfrm flipH="1" flipV="1">
              <a:off x="8557" y="10125"/>
              <a:ext cx="660" cy="0"/>
            </a:xfrm>
            <a:prstGeom prst="line">
              <a:avLst/>
            </a:prstGeom>
            <a:noFill/>
            <a:ln w="12700" algn="ctr">
              <a:solidFill>
                <a:srgbClr val="1CADE4"/>
              </a:solidFill>
              <a:miter lim="800000"/>
            </a:ln>
          </p:spPr>
        </p:cxnSp>
      </p:grpSp>
      <p:cxnSp>
        <p:nvCxnSpPr>
          <p:cNvPr id="12" name="MH_Other_1"/>
          <p:cNvCxnSpPr/>
          <p:nvPr>
            <p:custDataLst>
              <p:tags r:id="rId2"/>
            </p:custDataLst>
          </p:nvPr>
        </p:nvCxnSpPr>
        <p:spPr>
          <a:xfrm rot="5400000">
            <a:off x="4386679" y="3765912"/>
            <a:ext cx="4913694" cy="11386"/>
          </a:xfrm>
          <a:prstGeom prst="line">
            <a:avLst/>
          </a:prstGeom>
          <a:ln w="28575" cmpd="sng">
            <a:solidFill>
              <a:schemeClr val="accent1">
                <a:shade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6" name="文本框 34"/>
          <p:cNvSpPr txBox="1"/>
          <p:nvPr/>
        </p:nvSpPr>
        <p:spPr>
          <a:xfrm>
            <a:off x="971551" y="2146300"/>
            <a:ext cx="4953000" cy="701731"/>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p>
          <a:p>
            <a:pPr>
              <a:lnSpc>
                <a:spcPct val="110000"/>
              </a:lnSpc>
            </a:pPr>
            <a:r>
              <a:rPr lang="en-US" altLang="zh-CN" b="1" dirty="0">
                <a:latin typeface="微软雅黑" panose="020B0503020204020204" charset="-122"/>
                <a:ea typeface="微软雅黑" panose="020B0503020204020204" charset="-122"/>
                <a:sym typeface="+mn-ea"/>
              </a:rPr>
              <a:t>3</a:t>
            </a:r>
            <a:r>
              <a:rPr lang="zh-CN" altLang="zh-CN" b="1" dirty="0">
                <a:latin typeface="微软雅黑" panose="020B0503020204020204" charset="-122"/>
                <a:ea typeface="微软雅黑" panose="020B0503020204020204" charset="-122"/>
                <a:sym typeface="+mn-ea"/>
              </a:rPr>
              <a:t>．</a:t>
            </a:r>
            <a:r>
              <a:rPr lang="zh-CN" altLang="en-US" b="1" dirty="0">
                <a:latin typeface="微软雅黑" panose="020B0503020204020204" charset="-122"/>
                <a:ea typeface="微软雅黑" panose="020B0503020204020204" charset="-122"/>
                <a:sym typeface="+mn-ea"/>
              </a:rPr>
              <a:t>软件需求规格说明书</a:t>
            </a:r>
            <a:endParaRPr lang="zh-CN" altLang="zh-CN" b="1" dirty="0">
              <a:latin typeface="微软雅黑" panose="020B0503020204020204" charset="-122"/>
              <a:ea typeface="微软雅黑" panose="020B0503020204020204" charset="-122"/>
              <a:sym typeface="+mn-ea"/>
            </a:endParaRPr>
          </a:p>
        </p:txBody>
      </p:sp>
    </p:spTree>
    <p:custDataLst>
      <p:tags r:id="rId1"/>
    </p:custDataLst>
  </p:cSld>
  <p:clrMapOvr>
    <a:masterClrMapping/>
  </p:clrMapOvr>
  <p:transition>
    <p:zoom dir="in"/>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pic>
        <p:nvPicPr>
          <p:cNvPr id="3" name="图片 352" descr="8-12"/>
          <p:cNvPicPr>
            <a:picLocks noChangeAspect="1"/>
          </p:cNvPicPr>
          <p:nvPr/>
        </p:nvPicPr>
        <p:blipFill>
          <a:blip r:embed="rId5" cstate="print"/>
          <a:stretch>
            <a:fillRect/>
          </a:stretch>
        </p:blipFill>
        <p:spPr>
          <a:xfrm>
            <a:off x="7566660" y="79375"/>
            <a:ext cx="3286760" cy="6270625"/>
          </a:xfrm>
          <a:prstGeom prst="rect">
            <a:avLst/>
          </a:prstGeom>
          <a:noFill/>
          <a:ln w="9525">
            <a:noFill/>
          </a:ln>
        </p:spPr>
      </p:pic>
      <p:grpSp>
        <p:nvGrpSpPr>
          <p:cNvPr id="4" name="组合 3"/>
          <p:cNvGrpSpPr/>
          <p:nvPr/>
        </p:nvGrpSpPr>
        <p:grpSpPr>
          <a:xfrm>
            <a:off x="647700" y="1970405"/>
            <a:ext cx="5938520" cy="4258310"/>
            <a:chOff x="1181" y="2941"/>
            <a:chExt cx="8037" cy="7184"/>
          </a:xfrm>
        </p:grpSpPr>
        <p:sp>
          <p:nvSpPr>
            <p:cNvPr id="5137" name="MH_Desc_1"/>
            <p:cNvSpPr txBox="1">
              <a:spLocks noChangeArrowheads="1"/>
            </p:cNvSpPr>
            <p:nvPr/>
          </p:nvSpPr>
          <p:spPr bwMode="auto">
            <a:xfrm>
              <a:off x="1916" y="3253"/>
              <a:ext cx="6600" cy="6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rIns="108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spcBef>
                  <a:spcPts val="600"/>
                </a:spcBef>
                <a:spcAft>
                  <a:spcPts val="600"/>
                </a:spcAft>
                <a:defRPr/>
              </a:pPr>
              <a:r>
                <a:rPr lang="en-US" altLang="zh-CN">
                  <a:latin typeface="微软雅黑" panose="020B0503020204020204" charset="-122"/>
                  <a:ea typeface="微软雅黑" panose="020B0503020204020204" charset="-122"/>
                </a:rPr>
                <a:t>（2）根据接口的输入和输出重新陈述要求的功能，例如使用函数表示法或数据流图将输入映射到输出，或使用逻辑来文档化功能的前置条件和后置条件，也可使用实体－关系图将相关的活动和操作组合到类中。完整的规格说明书应该指定任何可行的输入序列都有输出。注意考虑输入的合法性检查，以及系统对异常情况的响应。</a:t>
              </a:r>
            </a:p>
            <a:p>
              <a:pPr indent="457200" algn="just" fontAlgn="auto">
                <a:lnSpc>
                  <a:spcPct val="120000"/>
                </a:lnSpc>
                <a:spcBef>
                  <a:spcPts val="600"/>
                </a:spcBef>
                <a:spcAft>
                  <a:spcPts val="600"/>
                </a:spcAft>
                <a:defRPr/>
              </a:pPr>
              <a:r>
                <a:rPr lang="en-US" altLang="zh-CN">
                  <a:latin typeface="微软雅黑" panose="020B0503020204020204" charset="-122"/>
                  <a:ea typeface="微软雅黑" panose="020B0503020204020204" charset="-122"/>
                </a:rPr>
                <a:t>（3）对每一个客户的质量需求，设计证明能够完成相应的质量需求。</a:t>
              </a:r>
            </a:p>
          </p:txBody>
        </p:sp>
        <p:cxnSp>
          <p:nvCxnSpPr>
            <p:cNvPr id="5138" name="MH_Other_13"/>
            <p:cNvCxnSpPr>
              <a:cxnSpLocks noChangeShapeType="1"/>
            </p:cNvCxnSpPr>
            <p:nvPr/>
          </p:nvCxnSpPr>
          <p:spPr bwMode="auto">
            <a:xfrm>
              <a:off x="1181" y="3427"/>
              <a:ext cx="7161" cy="24"/>
            </a:xfrm>
            <a:prstGeom prst="line">
              <a:avLst/>
            </a:prstGeom>
            <a:noFill/>
            <a:ln w="12700" algn="ctr">
              <a:solidFill>
                <a:srgbClr val="1CADE4"/>
              </a:solidFill>
              <a:prstDash val="sysDash"/>
              <a:miter lim="800000"/>
            </a:ln>
          </p:spPr>
        </p:cxnSp>
        <p:cxnSp>
          <p:nvCxnSpPr>
            <p:cNvPr id="5139" name="MH_Other_14"/>
            <p:cNvCxnSpPr>
              <a:cxnSpLocks noChangeShapeType="1"/>
            </p:cNvCxnSpPr>
            <p:nvPr/>
          </p:nvCxnSpPr>
          <p:spPr bwMode="auto">
            <a:xfrm>
              <a:off x="1841" y="2941"/>
              <a:ext cx="0" cy="1634"/>
            </a:xfrm>
            <a:prstGeom prst="line">
              <a:avLst/>
            </a:prstGeom>
            <a:noFill/>
            <a:ln w="12700" algn="ctr">
              <a:solidFill>
                <a:srgbClr val="1CADE4"/>
              </a:solidFill>
              <a:prstDash val="sysDash"/>
              <a:miter lim="800000"/>
            </a:ln>
          </p:spPr>
        </p:cxnSp>
        <p:cxnSp>
          <p:nvCxnSpPr>
            <p:cNvPr id="5140" name="MH_Other_15"/>
            <p:cNvCxnSpPr>
              <a:cxnSpLocks noChangeShapeType="1"/>
            </p:cNvCxnSpPr>
            <p:nvPr/>
          </p:nvCxnSpPr>
          <p:spPr bwMode="auto">
            <a:xfrm>
              <a:off x="1194" y="2941"/>
              <a:ext cx="0" cy="486"/>
            </a:xfrm>
            <a:prstGeom prst="line">
              <a:avLst/>
            </a:prstGeom>
            <a:noFill/>
            <a:ln w="12700" algn="ctr">
              <a:solidFill>
                <a:srgbClr val="1CADE4"/>
              </a:solidFill>
              <a:miter lim="800000"/>
            </a:ln>
          </p:spPr>
        </p:cxnSp>
        <p:cxnSp>
          <p:nvCxnSpPr>
            <p:cNvPr id="5141" name="MH_Other_16"/>
            <p:cNvCxnSpPr>
              <a:cxnSpLocks noChangeShapeType="1"/>
            </p:cNvCxnSpPr>
            <p:nvPr/>
          </p:nvCxnSpPr>
          <p:spPr bwMode="auto">
            <a:xfrm>
              <a:off x="1181" y="2941"/>
              <a:ext cx="660" cy="0"/>
            </a:xfrm>
            <a:prstGeom prst="line">
              <a:avLst/>
            </a:prstGeom>
            <a:noFill/>
            <a:ln w="12700" algn="ctr">
              <a:solidFill>
                <a:srgbClr val="1CADE4"/>
              </a:solidFill>
              <a:miter lim="800000"/>
            </a:ln>
          </p:spPr>
        </p:cxnSp>
        <p:cxnSp>
          <p:nvCxnSpPr>
            <p:cNvPr id="5142" name="MH_Other_17"/>
            <p:cNvCxnSpPr>
              <a:cxnSpLocks noChangeShapeType="1"/>
            </p:cNvCxnSpPr>
            <p:nvPr/>
          </p:nvCxnSpPr>
          <p:spPr bwMode="auto">
            <a:xfrm rot="10800000" flipV="1">
              <a:off x="2086" y="9641"/>
              <a:ext cx="7132" cy="17"/>
            </a:xfrm>
            <a:prstGeom prst="line">
              <a:avLst/>
            </a:prstGeom>
            <a:noFill/>
            <a:ln w="12700" algn="ctr">
              <a:solidFill>
                <a:srgbClr val="1CADE4"/>
              </a:solidFill>
              <a:prstDash val="sysDash"/>
              <a:miter lim="800000"/>
            </a:ln>
          </p:spPr>
        </p:cxnSp>
        <p:cxnSp>
          <p:nvCxnSpPr>
            <p:cNvPr id="5143" name="MH_Other_18"/>
            <p:cNvCxnSpPr>
              <a:cxnSpLocks noChangeShapeType="1"/>
            </p:cNvCxnSpPr>
            <p:nvPr/>
          </p:nvCxnSpPr>
          <p:spPr bwMode="auto">
            <a:xfrm flipH="1" flipV="1">
              <a:off x="8557" y="8491"/>
              <a:ext cx="0" cy="1633"/>
            </a:xfrm>
            <a:prstGeom prst="line">
              <a:avLst/>
            </a:prstGeom>
            <a:noFill/>
            <a:ln w="12700" algn="ctr">
              <a:solidFill>
                <a:srgbClr val="1CADE4"/>
              </a:solidFill>
              <a:prstDash val="sysDash"/>
              <a:miter lim="800000"/>
            </a:ln>
          </p:spPr>
        </p:cxnSp>
        <p:cxnSp>
          <p:nvCxnSpPr>
            <p:cNvPr id="5144" name="MH_Other_19"/>
            <p:cNvCxnSpPr>
              <a:cxnSpLocks noChangeShapeType="1"/>
            </p:cNvCxnSpPr>
            <p:nvPr/>
          </p:nvCxnSpPr>
          <p:spPr bwMode="auto">
            <a:xfrm flipH="1" flipV="1">
              <a:off x="9204" y="9641"/>
              <a:ext cx="0" cy="483"/>
            </a:xfrm>
            <a:prstGeom prst="line">
              <a:avLst/>
            </a:prstGeom>
            <a:noFill/>
            <a:ln w="12700" algn="ctr">
              <a:solidFill>
                <a:srgbClr val="1CADE4"/>
              </a:solidFill>
              <a:miter lim="800000"/>
            </a:ln>
          </p:spPr>
        </p:cxnSp>
        <p:cxnSp>
          <p:nvCxnSpPr>
            <p:cNvPr id="5145" name="MH_Other_20"/>
            <p:cNvCxnSpPr>
              <a:cxnSpLocks noChangeShapeType="1"/>
            </p:cNvCxnSpPr>
            <p:nvPr/>
          </p:nvCxnSpPr>
          <p:spPr bwMode="auto">
            <a:xfrm flipH="1" flipV="1">
              <a:off x="8557" y="10125"/>
              <a:ext cx="660" cy="0"/>
            </a:xfrm>
            <a:prstGeom prst="line">
              <a:avLst/>
            </a:prstGeom>
            <a:noFill/>
            <a:ln w="12700" algn="ctr">
              <a:solidFill>
                <a:srgbClr val="1CADE4"/>
              </a:solidFill>
              <a:miter lim="800000"/>
            </a:ln>
          </p:spPr>
        </p:cxnSp>
      </p:grpSp>
      <p:cxnSp>
        <p:nvCxnSpPr>
          <p:cNvPr id="12" name="MH_Other_1"/>
          <p:cNvCxnSpPr/>
          <p:nvPr>
            <p:custDataLst>
              <p:tags r:id="rId2"/>
            </p:custDataLst>
          </p:nvPr>
        </p:nvCxnSpPr>
        <p:spPr>
          <a:xfrm rot="5400000">
            <a:off x="4386679" y="3765912"/>
            <a:ext cx="4913694" cy="11386"/>
          </a:xfrm>
          <a:prstGeom prst="line">
            <a:avLst/>
          </a:prstGeom>
          <a:ln w="28575" cmpd="sng">
            <a:solidFill>
              <a:schemeClr val="accent1">
                <a:shade val="50000"/>
              </a:schemeClr>
            </a:solidFill>
            <a:prstDash val="sysDot"/>
          </a:ln>
        </p:spPr>
        <p:style>
          <a:lnRef idx="1">
            <a:schemeClr val="accent1"/>
          </a:lnRef>
          <a:fillRef idx="0">
            <a:schemeClr val="accent1"/>
          </a:fillRef>
          <a:effectRef idx="0">
            <a:schemeClr val="accent1"/>
          </a:effectRef>
          <a:fontRef idx="minor">
            <a:schemeClr val="tx1"/>
          </a:fontRef>
        </p:style>
      </p:cxnSp>
    </p:spTree>
    <p:custDataLst>
      <p:tags r:id="rId1"/>
    </p:custDataLst>
  </p:cSld>
  <p:clrMapOvr>
    <a:masterClrMapping/>
  </p:clrMapOvr>
  <p:transition>
    <p:zoom dir="in"/>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grpSp>
        <p:nvGrpSpPr>
          <p:cNvPr id="6" name="组合 5"/>
          <p:cNvGrpSpPr/>
          <p:nvPr/>
        </p:nvGrpSpPr>
        <p:grpSpPr>
          <a:xfrm>
            <a:off x="15240" y="2170668"/>
            <a:ext cx="12026265" cy="3571637"/>
            <a:chOff x="0" y="1497162"/>
            <a:chExt cx="21645385" cy="4283026"/>
          </a:xfrm>
        </p:grpSpPr>
        <p:sp>
          <p:nvSpPr>
            <p:cNvPr id="7" name="MH_Other_1"/>
            <p:cNvSpPr/>
            <p:nvPr>
              <p:custDataLst>
                <p:tags r:id="rId2"/>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2"/>
            <p:cNvSpPr/>
            <p:nvPr>
              <p:custDataLst>
                <p:tags r:id="rId3"/>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4"/>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9" name="MH_Other_4"/>
            <p:cNvSpPr>
              <a:spLocks noChangeArrowheads="1"/>
            </p:cNvSpPr>
            <p:nvPr>
              <p:custDataLst>
                <p:tags r:id="rId5"/>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6"/>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7"/>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8"/>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9"/>
              </p:custDataLst>
            </p:nvPr>
          </p:nvSpPr>
          <p:spPr bwMode="auto">
            <a:xfrm>
              <a:off x="7372848" y="1497162"/>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SRS是软件分析的最终结果，它是用来和开发团队中其他人员交流系统级别决策的有力工具。SRS可以用来快速带动新的团队人员赶上进度、直到维护人员理解系统是如何工作的；项目管理人员也可以以SRS为基础，来组织开发团队以及跟踪开发进度。</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在设计开发的过程中，不同的人怀着不同的目的来阅读SRS。比如，编程人员阅读SRS是为了了解整体设计，以确保每个设计特征和功能在代码中有所体现；测试人员阅读SRS是为了测试设计的所有方面；维护人员阅读SRS是为了更好地维护系统。考虑到SRS的多方面的用途，在设计文档时要尽可能地考虑细化，设计要合理。</a:t>
              </a:r>
            </a:p>
          </p:txBody>
        </p:sp>
      </p:grpSp>
    </p:spTree>
    <p:custDataLst>
      <p:tags r:id="rId1"/>
    </p:custDataLst>
  </p:cSld>
  <p:clrMapOvr>
    <a:masterClrMapping/>
  </p:clrMapOvr>
  <p:transition>
    <p:zoom dir="in"/>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sz="2400" dirty="0">
                <a:solidFill>
                  <a:schemeClr val="tx1"/>
                </a:solidFill>
              </a:rPr>
              <a:t>WebApp设计过程</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909320" y="2875280"/>
            <a:ext cx="5968365" cy="2122184"/>
          </a:xfrm>
          <a:prstGeom prst="rect">
            <a:avLst/>
          </a:prstGeom>
        </p:spPr>
        <p:txBody>
          <a:bodyPr wrap="square">
            <a:spAutoFit/>
          </a:bodyPr>
          <a:lstStyle/>
          <a:p>
            <a:pPr indent="457200">
              <a:lnSpc>
                <a:spcPct val="150000"/>
              </a:lnSpc>
              <a:defRPr/>
            </a:pPr>
            <a:r>
              <a:rPr lang="zh-CN" altLang="en-US" dirty="0"/>
              <a:t>通过讨论需求分析，我们了解了如何与客户一起工作，确定客户希望的系统功能。需求分析的结果包括两个文档：一个是针对客户的，用来获取客户的需求；另外一个是需求规格说明书，用来描述系统应该表现出的行为，即描述设计决策。下面我们介绍如何进行</a:t>
            </a:r>
            <a:r>
              <a:rPr lang="en-US" altLang="zh-CN" dirty="0"/>
              <a:t>WebApp</a:t>
            </a:r>
            <a:r>
              <a:rPr lang="zh-CN" altLang="en-US" dirty="0"/>
              <a:t>设计。</a:t>
            </a:r>
            <a:endParaRPr lang="en-US" altLang="zh-CN" dirty="0"/>
          </a:p>
        </p:txBody>
      </p:sp>
      <p:pic>
        <p:nvPicPr>
          <p:cNvPr id="3" name="图片 2" descr="A000220150821C53PPIC"/>
          <p:cNvPicPr>
            <a:picLocks noChangeAspect="1"/>
          </p:cNvPicPr>
          <p:nvPr/>
        </p:nvPicPr>
        <p:blipFill>
          <a:blip r:embed="rId4" cstate="print"/>
          <a:stretch>
            <a:fillRect/>
          </a:stretch>
        </p:blipFill>
        <p:spPr>
          <a:xfrm>
            <a:off x="7409815" y="2542540"/>
            <a:ext cx="4221480" cy="2814320"/>
          </a:xfrm>
          <a:prstGeom prst="rect">
            <a:avLst/>
          </a:prstGeom>
        </p:spPr>
      </p:pic>
    </p:spTree>
    <p:custDataLst>
      <p:tags r:id="rId1"/>
    </p:custDataLst>
  </p:cSld>
  <p:clrMapOvr>
    <a:masterClrMapping/>
  </p:clrMapOvr>
  <p:transition>
    <p:zoom dir="in"/>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sp>
        <p:nvSpPr>
          <p:cNvPr id="17" name="矩形 16"/>
          <p:cNvSpPr/>
          <p:nvPr/>
        </p:nvSpPr>
        <p:spPr>
          <a:xfrm>
            <a:off x="809755" y="2403312"/>
            <a:ext cx="6600498" cy="3588447"/>
          </a:xfrm>
          <a:prstGeom prst="rect">
            <a:avLst/>
          </a:prstGeom>
          <a:solidFill>
            <a:schemeClr val="bg1">
              <a:lumMod val="95000"/>
            </a:schemeClr>
          </a:solidFill>
          <a:ln>
            <a:noFill/>
          </a:ln>
        </p:spPr>
        <p:txBody>
          <a:bodyPr wrap="square" lIns="180000" tIns="144000" rIns="180000" bIns="144000">
            <a:spAutoFit/>
          </a:bodyPr>
          <a:lstStyle/>
          <a:p>
            <a:pPr indent="457200">
              <a:lnSpc>
                <a:spcPct val="120000"/>
              </a:lnSpc>
            </a:pPr>
            <a:r>
              <a:rPr lang="zh-CN" altLang="en-US" dirty="0">
                <a:latin typeface="+mn-ea"/>
              </a:rPr>
              <a:t>在WebApp开发过程的这一刻，我们对客户的需求已经理解，并且完成了需求规格说明书。需求规格说明书关注的是系统的功能，而不是结构。设计是一种创造性的过程，它考虑如何实现所有的客户需求。</a:t>
            </a:r>
          </a:p>
          <a:p>
            <a:pPr indent="457200">
              <a:lnSpc>
                <a:spcPct val="120000"/>
              </a:lnSpc>
            </a:pPr>
            <a:r>
              <a:rPr lang="zh-CN" altLang="en-US" dirty="0">
                <a:latin typeface="+mn-ea"/>
              </a:rPr>
              <a:t>WebApp设计首先进行策划活动，然后通过对软件系统的高层分解确定其总体结构，从而为后续的每个软件模块的详细设计奠定基础，所以，软件体系结构设计和详细设计构成软件设计过程的核心。另外，人机交互也是重要的软件设计活动，其成果直接影响软件的易用性。最后考虑软件设计的复杂性和时间跨度，有必要在完成这些活动之后总结经验教训。</a:t>
            </a:r>
          </a:p>
        </p:txBody>
      </p:sp>
      <p:pic>
        <p:nvPicPr>
          <p:cNvPr id="19" name="图片 18" descr="A000220150318R99PPIC.png"/>
          <p:cNvPicPr>
            <a:picLocks noChangeAspect="1"/>
          </p:cNvPicPr>
          <p:nvPr/>
        </p:nvPicPr>
        <p:blipFill>
          <a:blip r:embed="rId4" cstate="print"/>
          <a:stretch>
            <a:fillRect/>
          </a:stretch>
        </p:blipFill>
        <p:spPr>
          <a:xfrm>
            <a:off x="7583672" y="2433890"/>
            <a:ext cx="3941491" cy="3168869"/>
          </a:xfrm>
          <a:prstGeom prst="rect">
            <a:avLst/>
          </a:prstGeom>
        </p:spPr>
      </p:pic>
    </p:spTree>
    <p:custDataLst>
      <p:tags r:id="rId1"/>
    </p:custDataLst>
  </p:cSld>
  <p:clrMapOvr>
    <a:masterClrMapping/>
  </p:clrMapOvr>
  <p:transition>
    <p:zoom dir="in"/>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cxnSp>
        <p:nvCxnSpPr>
          <p:cNvPr id="3075" name="MH_Other_1"/>
          <p:cNvCxnSpPr>
            <a:cxnSpLocks noChangeShapeType="1"/>
          </p:cNvCxnSpPr>
          <p:nvPr>
            <p:custDataLst>
              <p:tags r:id="rId2"/>
            </p:custDataLst>
          </p:nvPr>
        </p:nvCxnSpPr>
        <p:spPr bwMode="auto">
          <a:xfrm>
            <a:off x="763905" y="3828415"/>
            <a:ext cx="10479405" cy="15240"/>
          </a:xfrm>
          <a:prstGeom prst="line">
            <a:avLst/>
          </a:prstGeom>
          <a:noFill/>
          <a:ln w="76200" algn="ctr">
            <a:solidFill>
              <a:srgbClr val="E0E0E0"/>
            </a:solidFill>
            <a:miter lim="800000"/>
            <a:tailEnd type="triangle" w="med" len="med"/>
          </a:ln>
        </p:spPr>
      </p:cxnSp>
      <p:sp>
        <p:nvSpPr>
          <p:cNvPr id="70" name="MH_SubTitle_1"/>
          <p:cNvSpPr/>
          <p:nvPr>
            <p:custDataLst>
              <p:tags r:id="rId3"/>
            </p:custDataLst>
          </p:nvPr>
        </p:nvSpPr>
        <p:spPr>
          <a:xfrm>
            <a:off x="1815465" y="2814955"/>
            <a:ext cx="2093595" cy="871220"/>
          </a:xfrm>
          <a:prstGeom prst="rect">
            <a:avLst/>
          </a:prstGeom>
          <a:solidFill>
            <a:srgbClr val="85C036"/>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设计策划</a:t>
            </a:r>
          </a:p>
        </p:txBody>
      </p:sp>
      <p:sp>
        <p:nvSpPr>
          <p:cNvPr id="71" name="MH_Other_2"/>
          <p:cNvSpPr/>
          <p:nvPr>
            <p:custDataLst>
              <p:tags r:id="rId4"/>
            </p:custDataLst>
          </p:nvPr>
        </p:nvSpPr>
        <p:spPr>
          <a:xfrm>
            <a:off x="1663065" y="2590800"/>
            <a:ext cx="596900" cy="447675"/>
          </a:xfrm>
          <a:prstGeom prst="ellipse">
            <a:avLst/>
          </a:prstGeom>
          <a:solidFill>
            <a:srgbClr val="65922A"/>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altLang="zh-CN"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rPr>
              <a:t>1</a:t>
            </a:r>
            <a:endParaRPr lang="zh-CN" altLang="en-US"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endParaRPr>
          </a:p>
        </p:txBody>
      </p:sp>
      <p:sp>
        <p:nvSpPr>
          <p:cNvPr id="3078" name="MH_Text_1"/>
          <p:cNvSpPr txBox="1">
            <a:spLocks noChangeArrowheads="1"/>
          </p:cNvSpPr>
          <p:nvPr>
            <p:custDataLst>
              <p:tags r:id="rId5"/>
            </p:custDataLst>
          </p:nvPr>
        </p:nvSpPr>
        <p:spPr bwMode="auto">
          <a:xfrm>
            <a:off x="1190624" y="4058285"/>
            <a:ext cx="3899535" cy="20567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20000"/>
              </a:lnSpc>
              <a:defRPr/>
            </a:pPr>
            <a:r>
              <a:rPr lang="zh-CN" altLang="en-US" sz="1600" dirty="0">
                <a:latin typeface="微软雅黑" panose="020B0503020204020204" charset="-122"/>
                <a:ea typeface="微软雅黑" panose="020B0503020204020204" charset="-122"/>
              </a:rPr>
              <a:t>       大中型软件的设计一般要经过多次迭代才能获得最终可用的设计模型。在启动的每次迭代之前，有必要确定本次迭代的目标及认可准则，确定本次迭代的抽象级别，确定关注哪些设计问题、输入输出、资源需求，制定工作计划。</a:t>
            </a:r>
          </a:p>
        </p:txBody>
      </p:sp>
      <p:sp>
        <p:nvSpPr>
          <p:cNvPr id="73" name="MH_SubTitle_2"/>
          <p:cNvSpPr/>
          <p:nvPr>
            <p:custDataLst>
              <p:tags r:id="rId6"/>
            </p:custDataLst>
          </p:nvPr>
        </p:nvSpPr>
        <p:spPr>
          <a:xfrm>
            <a:off x="7495540" y="2814955"/>
            <a:ext cx="2093595" cy="871220"/>
          </a:xfrm>
          <a:prstGeom prst="rect">
            <a:avLst/>
          </a:prstGeom>
          <a:solidFill>
            <a:srgbClr val="ACC337"/>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体系结构设计</a:t>
            </a:r>
          </a:p>
        </p:txBody>
      </p:sp>
      <p:sp>
        <p:nvSpPr>
          <p:cNvPr id="74" name="MH_Other_3"/>
          <p:cNvSpPr/>
          <p:nvPr>
            <p:custDataLst>
              <p:tags r:id="rId7"/>
            </p:custDataLst>
          </p:nvPr>
        </p:nvSpPr>
        <p:spPr>
          <a:xfrm>
            <a:off x="7343140" y="2590800"/>
            <a:ext cx="596900" cy="447675"/>
          </a:xfrm>
          <a:prstGeom prst="ellipse">
            <a:avLst/>
          </a:prstGeom>
          <a:solidFill>
            <a:srgbClr val="BED15D">
              <a:lumMod val="75000"/>
            </a:srgbClr>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altLang="zh-CN"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rPr>
              <a:t>2</a:t>
            </a:r>
            <a:endParaRPr lang="zh-CN" altLang="en-US"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endParaRPr>
          </a:p>
        </p:txBody>
      </p:sp>
      <p:sp>
        <p:nvSpPr>
          <p:cNvPr id="3081" name="MH_Text_2"/>
          <p:cNvSpPr txBox="1">
            <a:spLocks noChangeArrowheads="1"/>
          </p:cNvSpPr>
          <p:nvPr>
            <p:custDataLst>
              <p:tags r:id="rId8"/>
            </p:custDataLst>
          </p:nvPr>
        </p:nvSpPr>
        <p:spPr bwMode="auto">
          <a:xfrm>
            <a:off x="5895278" y="4058285"/>
            <a:ext cx="5307392" cy="2381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pPr>
            <a:r>
              <a:rPr lang="zh-CN" altLang="en-US" sz="1600" dirty="0">
                <a:latin typeface="微软雅黑" panose="020B0503020204020204" charset="-122"/>
                <a:ea typeface="微软雅黑" panose="020B0503020204020204" charset="-122"/>
              </a:rPr>
              <a:t>       体系结构设计是指软件系统中主干性模块的组织形式，主要包括模块之间的接口定义、协作关系及协作行为。这些模块可以表现为子系统、构件或关键设计类。体系结构设计活动的内容包括：建立软件系统的顶层架构并进行适度精化，划分软件子系统，设置软构件，界定子系统、构件和关键设计类的职责，设计它们之间的接口和协作行为。</a:t>
            </a:r>
          </a:p>
        </p:txBody>
      </p:sp>
      <p:sp>
        <p:nvSpPr>
          <p:cNvPr id="11" name="矩形 10"/>
          <p:cNvSpPr/>
          <p:nvPr/>
        </p:nvSpPr>
        <p:spPr>
          <a:xfrm>
            <a:off x="4733568" y="2091809"/>
            <a:ext cx="4801314" cy="369332"/>
          </a:xfrm>
          <a:prstGeom prst="rect">
            <a:avLst/>
          </a:prstGeom>
        </p:spPr>
        <p:txBody>
          <a:bodyPr wrap="none">
            <a:spAutoFit/>
          </a:bodyPr>
          <a:lstStyle/>
          <a:p>
            <a:r>
              <a:rPr lang="zh-CN" altLang="en-US" dirty="0">
                <a:latin typeface="+mn-ea"/>
              </a:rPr>
              <a:t>一个完整的软件设计过程一般包含以下活动。</a:t>
            </a:r>
            <a:endParaRPr lang="zh-CN" altLang="en-US" dirty="0"/>
          </a:p>
        </p:txBody>
      </p:sp>
      <p:sp>
        <p:nvSpPr>
          <p:cNvPr id="12" name="文本框 34"/>
          <p:cNvSpPr txBox="1"/>
          <p:nvPr/>
        </p:nvSpPr>
        <p:spPr>
          <a:xfrm>
            <a:off x="847726" y="2085975"/>
            <a:ext cx="4953000" cy="375359"/>
          </a:xfrm>
          <a:prstGeom prst="rect">
            <a:avLst/>
          </a:prstGeom>
          <a:noFill/>
        </p:spPr>
        <p:txBody>
          <a:bodyPr wrap="square" rtlCol="0">
            <a:spAutoFit/>
          </a:bodyPr>
          <a:lstStyle/>
          <a:p>
            <a:pPr>
              <a:lnSpc>
                <a:spcPct val="110000"/>
              </a:lnSpc>
            </a:pPr>
            <a:r>
              <a:rPr lang="en-US" altLang="zh-CN" dirty="0">
                <a:solidFill>
                  <a:schemeClr val="bg2">
                    <a:lumMod val="50000"/>
                  </a:schemeClr>
                </a:solidFill>
                <a:sym typeface="+mn-ea"/>
              </a:rPr>
              <a:t>    </a:t>
            </a:r>
            <a:r>
              <a:rPr lang="en-US" altLang="zh-CN" b="1" dirty="0">
                <a:latin typeface="微软雅黑" panose="020B0503020204020204" charset="-122"/>
                <a:ea typeface="微软雅黑" panose="020B0503020204020204" charset="-122"/>
                <a:sym typeface="+mn-ea"/>
              </a:rPr>
              <a:t>1</a:t>
            </a:r>
            <a:r>
              <a:rPr lang="zh-CN" altLang="zh-CN" b="1" dirty="0">
                <a:latin typeface="微软雅黑" panose="020B0503020204020204" charset="-122"/>
                <a:ea typeface="微软雅黑" panose="020B0503020204020204" charset="-122"/>
                <a:sym typeface="+mn-ea"/>
              </a:rPr>
              <a:t>．</a:t>
            </a:r>
            <a:r>
              <a:rPr lang="en-US" altLang="zh-CN" dirty="0"/>
              <a:t> </a:t>
            </a:r>
            <a:r>
              <a:rPr lang="en-US" altLang="zh-CN" b="1" dirty="0" err="1">
                <a:latin typeface="微软雅黑" panose="020B0503020204020204" charset="-122"/>
                <a:ea typeface="微软雅黑" panose="020B0503020204020204" charset="-122"/>
                <a:sym typeface="+mn-ea"/>
              </a:rPr>
              <a:t>WebApp</a:t>
            </a:r>
            <a:r>
              <a:rPr lang="zh-CN" altLang="zh-CN" b="1" dirty="0">
                <a:latin typeface="微软雅黑" panose="020B0503020204020204" charset="-122"/>
                <a:ea typeface="微软雅黑" panose="020B0503020204020204" charset="-122"/>
                <a:sym typeface="+mn-ea"/>
              </a:rPr>
              <a:t>的设计过程</a:t>
            </a:r>
          </a:p>
        </p:txBody>
      </p:sp>
    </p:spTree>
    <p:custDataLst>
      <p:tags r:id="rId1"/>
    </p:custDataLst>
  </p:cSld>
  <p:clrMapOvr>
    <a:masterClrMapping/>
  </p:clrMapOvr>
  <p:transition>
    <p:zoom dir="in"/>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sp>
        <p:nvSpPr>
          <p:cNvPr id="70" name="MH_SubTitle_1"/>
          <p:cNvSpPr/>
          <p:nvPr>
            <p:custDataLst>
              <p:tags r:id="rId2"/>
            </p:custDataLst>
          </p:nvPr>
        </p:nvSpPr>
        <p:spPr>
          <a:xfrm>
            <a:off x="1951355" y="2529205"/>
            <a:ext cx="2093595" cy="871220"/>
          </a:xfrm>
          <a:prstGeom prst="rect">
            <a:avLst/>
          </a:prstGeom>
          <a:solidFill>
            <a:srgbClr val="85C036"/>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人机交互设计</a:t>
            </a:r>
          </a:p>
        </p:txBody>
      </p:sp>
      <p:sp>
        <p:nvSpPr>
          <p:cNvPr id="71" name="MH_Other_2"/>
          <p:cNvSpPr/>
          <p:nvPr>
            <p:custDataLst>
              <p:tags r:id="rId3"/>
            </p:custDataLst>
          </p:nvPr>
        </p:nvSpPr>
        <p:spPr>
          <a:xfrm>
            <a:off x="1798955" y="2305050"/>
            <a:ext cx="596900" cy="447675"/>
          </a:xfrm>
          <a:prstGeom prst="ellipse">
            <a:avLst/>
          </a:prstGeom>
          <a:solidFill>
            <a:srgbClr val="65922A"/>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rPr>
              <a:t>3</a:t>
            </a:r>
          </a:p>
        </p:txBody>
      </p:sp>
      <p:sp>
        <p:nvSpPr>
          <p:cNvPr id="3078" name="MH_Text_1"/>
          <p:cNvSpPr txBox="1">
            <a:spLocks noChangeArrowheads="1"/>
          </p:cNvSpPr>
          <p:nvPr>
            <p:custDataLst>
              <p:tags r:id="rId4"/>
            </p:custDataLst>
          </p:nvPr>
        </p:nvSpPr>
        <p:spPr bwMode="auto">
          <a:xfrm>
            <a:off x="635000" y="3772535"/>
            <a:ext cx="6708140" cy="32080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fontAlgn="auto">
              <a:lnSpc>
                <a:spcPct val="150000"/>
              </a:lnSpc>
              <a:defRPr/>
            </a:pPr>
            <a:r>
              <a:rPr lang="zh-CN" altLang="en-US" b="1"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针对用例所描述的用户与软件系统之间的交互动作，设计为实现用例所必需的每一个屏幕（窗口、对话框或网页），确定屏幕上各界面元素如何布局，屏幕中哪些信息是由用户输入的，用户在屏幕上可施行哪些动作（如选取菜单项、点击按钮等），软件系统应如何响应用户的界面动作，屏幕之间的跳转关系如何等。人机交互设计必须充分考虑用户的易用性需求，并遵循一些基本的界面设计原则，以满足大多数用户的使用习惯。</a:t>
            </a:r>
          </a:p>
        </p:txBody>
      </p:sp>
      <p:sp>
        <p:nvSpPr>
          <p:cNvPr id="73" name="MH_SubTitle_2"/>
          <p:cNvSpPr/>
          <p:nvPr>
            <p:custDataLst>
              <p:tags r:id="rId5"/>
            </p:custDataLst>
          </p:nvPr>
        </p:nvSpPr>
        <p:spPr>
          <a:xfrm>
            <a:off x="7759065" y="2529205"/>
            <a:ext cx="2093595" cy="871220"/>
          </a:xfrm>
          <a:prstGeom prst="rect">
            <a:avLst/>
          </a:prstGeom>
          <a:solidFill>
            <a:srgbClr val="ACC337"/>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详细设计</a:t>
            </a:r>
          </a:p>
        </p:txBody>
      </p:sp>
      <p:sp>
        <p:nvSpPr>
          <p:cNvPr id="74" name="MH_Other_3"/>
          <p:cNvSpPr/>
          <p:nvPr>
            <p:custDataLst>
              <p:tags r:id="rId6"/>
            </p:custDataLst>
          </p:nvPr>
        </p:nvSpPr>
        <p:spPr>
          <a:xfrm>
            <a:off x="7606665" y="2305050"/>
            <a:ext cx="596900" cy="447675"/>
          </a:xfrm>
          <a:prstGeom prst="ellipse">
            <a:avLst/>
          </a:prstGeom>
          <a:solidFill>
            <a:srgbClr val="BED15D">
              <a:lumMod val="75000"/>
            </a:srgbClr>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rPr>
              <a:t>4</a:t>
            </a:r>
          </a:p>
        </p:txBody>
      </p:sp>
      <p:sp>
        <p:nvSpPr>
          <p:cNvPr id="3081" name="MH_Text_2"/>
          <p:cNvSpPr txBox="1">
            <a:spLocks noChangeArrowheads="1"/>
          </p:cNvSpPr>
          <p:nvPr>
            <p:custDataLst>
              <p:tags r:id="rId7"/>
            </p:custDataLst>
          </p:nvPr>
        </p:nvSpPr>
        <p:spPr bwMode="auto">
          <a:xfrm>
            <a:off x="7802880" y="3772535"/>
            <a:ext cx="3633470" cy="2381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pPr>
            <a:r>
              <a:rPr lang="zh-CN" altLang="en-US" b="1"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对体系结构设计和人机交互设计的成果进行细化和精化，最终获得高质量的、充分细化的软件设计模型。</a:t>
            </a:r>
          </a:p>
        </p:txBody>
      </p:sp>
      <p:cxnSp>
        <p:nvCxnSpPr>
          <p:cNvPr id="11" name="MH_Other_1"/>
          <p:cNvCxnSpPr>
            <a:cxnSpLocks noChangeShapeType="1"/>
          </p:cNvCxnSpPr>
          <p:nvPr>
            <p:custDataLst>
              <p:tags r:id="rId8"/>
            </p:custDataLst>
          </p:nvPr>
        </p:nvCxnSpPr>
        <p:spPr bwMode="auto">
          <a:xfrm>
            <a:off x="763905" y="3628390"/>
            <a:ext cx="10479405" cy="15240"/>
          </a:xfrm>
          <a:prstGeom prst="line">
            <a:avLst/>
          </a:prstGeom>
          <a:noFill/>
          <a:ln w="76200" algn="ctr">
            <a:solidFill>
              <a:srgbClr val="E0E0E0"/>
            </a:solidFill>
            <a:miter lim="800000"/>
            <a:tailEnd type="triangle" w="med" len="med"/>
          </a:ln>
        </p:spPr>
      </p:cxnSp>
    </p:spTree>
    <p:custDataLst>
      <p:tags r:id="rId1"/>
    </p:custDataLst>
  </p:cSld>
  <p:clrMapOvr>
    <a:masterClrMapping/>
  </p:clrMapOvr>
  <p:transition>
    <p:zoom dir="in"/>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cxnSp>
        <p:nvCxnSpPr>
          <p:cNvPr id="3075" name="MH_Other_1"/>
          <p:cNvCxnSpPr>
            <a:cxnSpLocks noChangeShapeType="1"/>
          </p:cNvCxnSpPr>
          <p:nvPr>
            <p:custDataLst>
              <p:tags r:id="rId2"/>
            </p:custDataLst>
          </p:nvPr>
        </p:nvCxnSpPr>
        <p:spPr bwMode="auto">
          <a:xfrm>
            <a:off x="763905" y="3542665"/>
            <a:ext cx="10846435" cy="635"/>
          </a:xfrm>
          <a:prstGeom prst="line">
            <a:avLst/>
          </a:prstGeom>
          <a:noFill/>
          <a:ln w="76200" algn="ctr">
            <a:solidFill>
              <a:srgbClr val="E0E0E0"/>
            </a:solidFill>
            <a:miter lim="800000"/>
            <a:tailEnd type="triangle" w="med" len="med"/>
          </a:ln>
        </p:spPr>
      </p:cxnSp>
      <p:sp>
        <p:nvSpPr>
          <p:cNvPr id="70" name="MH_SubTitle_1"/>
          <p:cNvSpPr/>
          <p:nvPr>
            <p:custDataLst>
              <p:tags r:id="rId3"/>
            </p:custDataLst>
          </p:nvPr>
        </p:nvSpPr>
        <p:spPr>
          <a:xfrm>
            <a:off x="2055495" y="2529205"/>
            <a:ext cx="2093595" cy="871220"/>
          </a:xfrm>
          <a:prstGeom prst="rect">
            <a:avLst/>
          </a:prstGeom>
          <a:solidFill>
            <a:srgbClr val="85C036"/>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设计整合与验证</a:t>
            </a:r>
          </a:p>
        </p:txBody>
      </p:sp>
      <p:sp>
        <p:nvSpPr>
          <p:cNvPr id="71" name="MH_Other_2"/>
          <p:cNvSpPr/>
          <p:nvPr>
            <p:custDataLst>
              <p:tags r:id="rId4"/>
            </p:custDataLst>
          </p:nvPr>
        </p:nvSpPr>
        <p:spPr>
          <a:xfrm>
            <a:off x="1903095" y="2305050"/>
            <a:ext cx="596900" cy="447675"/>
          </a:xfrm>
          <a:prstGeom prst="ellipse">
            <a:avLst/>
          </a:prstGeom>
          <a:solidFill>
            <a:srgbClr val="65922A"/>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rPr>
              <a:t>5</a:t>
            </a:r>
          </a:p>
        </p:txBody>
      </p:sp>
      <p:sp>
        <p:nvSpPr>
          <p:cNvPr id="3078" name="MH_Text_1"/>
          <p:cNvSpPr txBox="1">
            <a:spLocks noChangeArrowheads="1"/>
          </p:cNvSpPr>
          <p:nvPr>
            <p:custDataLst>
              <p:tags r:id="rId5"/>
            </p:custDataLst>
          </p:nvPr>
        </p:nvSpPr>
        <p:spPr bwMode="auto">
          <a:xfrm>
            <a:off x="949325" y="3772535"/>
            <a:ext cx="5280025" cy="2285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fontAlgn="auto">
              <a:lnSpc>
                <a:spcPct val="150000"/>
              </a:lnSpc>
              <a:defRPr/>
            </a:pPr>
            <a:r>
              <a:rPr lang="zh-CN" altLang="en-US" b="1"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整合前面获得的所有设计模型，检查并消解它们之间的不一致性，排除冗余性，以用例为引导构件设计模型中所有元素协力完成用例目标的完整视图，最终形成设计规约，对设计规约进行评审和必要的修改，确保设计规约的正确性、充分性、优化性和简单性。</a:t>
            </a:r>
          </a:p>
        </p:txBody>
      </p:sp>
      <p:sp>
        <p:nvSpPr>
          <p:cNvPr id="73" name="MH_SubTitle_2"/>
          <p:cNvSpPr/>
          <p:nvPr>
            <p:custDataLst>
              <p:tags r:id="rId6"/>
            </p:custDataLst>
          </p:nvPr>
        </p:nvSpPr>
        <p:spPr>
          <a:xfrm>
            <a:off x="7341870" y="2529205"/>
            <a:ext cx="2093595" cy="871220"/>
          </a:xfrm>
          <a:prstGeom prst="rect">
            <a:avLst/>
          </a:prstGeom>
          <a:solidFill>
            <a:srgbClr val="ACC337"/>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总结</a:t>
            </a:r>
          </a:p>
        </p:txBody>
      </p:sp>
      <p:sp>
        <p:nvSpPr>
          <p:cNvPr id="74" name="MH_Other_3"/>
          <p:cNvSpPr/>
          <p:nvPr>
            <p:custDataLst>
              <p:tags r:id="rId7"/>
            </p:custDataLst>
          </p:nvPr>
        </p:nvSpPr>
        <p:spPr>
          <a:xfrm>
            <a:off x="7189470" y="2305050"/>
            <a:ext cx="596900" cy="447675"/>
          </a:xfrm>
          <a:prstGeom prst="ellipse">
            <a:avLst/>
          </a:prstGeom>
          <a:solidFill>
            <a:srgbClr val="BED15D">
              <a:lumMod val="75000"/>
            </a:srgbClr>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rPr>
              <a:t>6</a:t>
            </a:r>
          </a:p>
        </p:txBody>
      </p:sp>
      <p:sp>
        <p:nvSpPr>
          <p:cNvPr id="3081" name="MH_Text_2"/>
          <p:cNvSpPr txBox="1">
            <a:spLocks noChangeArrowheads="1"/>
          </p:cNvSpPr>
          <p:nvPr>
            <p:custDataLst>
              <p:tags r:id="rId8"/>
            </p:custDataLst>
          </p:nvPr>
        </p:nvSpPr>
        <p:spPr bwMode="auto">
          <a:xfrm>
            <a:off x="6619240" y="3772535"/>
            <a:ext cx="3633470" cy="2381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pPr>
            <a:r>
              <a:rPr lang="zh-CN" altLang="en-US" b="1"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对本次迭代子过程的活动及结果进行总结、评价，为所有参与者提供软件设计过程和中间产品的状态的直观描述，决定后续行动计划。</a:t>
            </a:r>
          </a:p>
        </p:txBody>
      </p:sp>
    </p:spTree>
    <p:custDataLst>
      <p:tags r:id="rId1"/>
    </p:custDataLst>
  </p:cSld>
  <p:clrMapOvr>
    <a:masterClrMapping/>
  </p:clrMapOvr>
  <p:transition>
    <p:zoom dir="in"/>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pSp>
        <p:nvGrpSpPr>
          <p:cNvPr id="4" name="组合 3"/>
          <p:cNvGrpSpPr/>
          <p:nvPr/>
        </p:nvGrpSpPr>
        <p:grpSpPr>
          <a:xfrm>
            <a:off x="1049655" y="2771775"/>
            <a:ext cx="5017714" cy="1680210"/>
            <a:chOff x="1188" y="3092"/>
            <a:chExt cx="7419" cy="2646"/>
          </a:xfrm>
        </p:grpSpPr>
        <p:grpSp>
          <p:nvGrpSpPr>
            <p:cNvPr id="28" name="组合 27"/>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简单性</a:t>
                </a:r>
              </a:p>
            </p:txBody>
          </p:sp>
        </p:grpSp>
        <p:sp>
          <p:nvSpPr>
            <p:cNvPr id="35" name="矩形 34"/>
            <p:cNvSpPr>
              <a:spLocks noChangeArrowheads="1"/>
            </p:cNvSpPr>
            <p:nvPr/>
          </p:nvSpPr>
          <p:spPr bwMode="auto">
            <a:xfrm>
              <a:off x="1893" y="3848"/>
              <a:ext cx="6714"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很多设计者在设计页面时倾向于提供“太多的东西”，包括插入动画、视觉效果，但最好还是尽量做到适度和简单。</a:t>
              </a:r>
            </a:p>
          </p:txBody>
        </p:sp>
      </p:grpSp>
      <p:grpSp>
        <p:nvGrpSpPr>
          <p:cNvPr id="36" name="组合 35"/>
          <p:cNvGrpSpPr/>
          <p:nvPr/>
        </p:nvGrpSpPr>
        <p:grpSpPr>
          <a:xfrm>
            <a:off x="6297930" y="2771775"/>
            <a:ext cx="5235316" cy="2486025"/>
            <a:chOff x="1188" y="3092"/>
            <a:chExt cx="7741" cy="3915"/>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一致性</a:t>
                </a:r>
              </a:p>
            </p:txBody>
          </p:sp>
        </p:grpSp>
        <p:sp>
          <p:nvSpPr>
            <p:cNvPr id="41" name="矩形 40"/>
            <p:cNvSpPr>
              <a:spLocks noChangeArrowheads="1"/>
            </p:cNvSpPr>
            <p:nvPr/>
          </p:nvSpPr>
          <p:spPr bwMode="auto">
            <a:xfrm>
              <a:off x="1893" y="3953"/>
              <a:ext cx="6799" cy="30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在网站设计时，文本格式和字体风格保持一致。从美学设计上WebApp的各部分有统一的外观，界面设计应该定义一致的交互、导航和内容显示模式。在WebApp的设计过程中使得所有的WebApp元素一致地使用导航机制。</a:t>
              </a:r>
            </a:p>
          </p:txBody>
        </p:sp>
      </p:grpSp>
      <p:grpSp>
        <p:nvGrpSpPr>
          <p:cNvPr id="3" name="组合 2"/>
          <p:cNvGrpSpPr/>
          <p:nvPr/>
        </p:nvGrpSpPr>
        <p:grpSpPr>
          <a:xfrm>
            <a:off x="1040130" y="4524375"/>
            <a:ext cx="5046119" cy="1311275"/>
            <a:chOff x="1188" y="3092"/>
            <a:chExt cx="7461" cy="2065"/>
          </a:xfrm>
        </p:grpSpPr>
        <p:grpSp>
          <p:nvGrpSpPr>
            <p:cNvPr id="5" name="组合 4"/>
            <p:cNvGrpSpPr/>
            <p:nvPr/>
          </p:nvGrpSpPr>
          <p:grpSpPr>
            <a:xfrm>
              <a:off x="1188" y="3092"/>
              <a:ext cx="6974" cy="930"/>
              <a:chOff x="508000" y="3196191"/>
              <a:chExt cx="4428470" cy="590550"/>
            </a:xfrm>
          </p:grpSpPr>
          <p:sp>
            <p:nvSpPr>
              <p:cNvPr id="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9" name="直接连接符 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9"/>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相符性</a:t>
                </a:r>
              </a:p>
            </p:txBody>
          </p:sp>
        </p:grpSp>
        <p:sp>
          <p:nvSpPr>
            <p:cNvPr id="11" name="矩形 10"/>
            <p:cNvSpPr>
              <a:spLocks noChangeArrowheads="1"/>
            </p:cNvSpPr>
            <p:nvPr/>
          </p:nvSpPr>
          <p:spPr bwMode="auto">
            <a:xfrm>
              <a:off x="1893" y="3848"/>
              <a:ext cx="6756" cy="1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WebApp的美学、界面和导航设计必须与将要构造的应用系统所处的领域保持一致。</a:t>
              </a:r>
            </a:p>
          </p:txBody>
        </p:sp>
      </p:grpSp>
      <p:sp>
        <p:nvSpPr>
          <p:cNvPr id="22" name="文本框 34"/>
          <p:cNvSpPr txBox="1"/>
          <p:nvPr/>
        </p:nvSpPr>
        <p:spPr>
          <a:xfrm>
            <a:off x="847726" y="2085975"/>
            <a:ext cx="4953000" cy="397032"/>
          </a:xfrm>
          <a:prstGeom prst="rect">
            <a:avLst/>
          </a:prstGeom>
          <a:noFill/>
        </p:spPr>
        <p:txBody>
          <a:bodyPr wrap="square" rtlCol="0">
            <a:spAutoFit/>
          </a:bodyPr>
          <a:lstStyle/>
          <a:p>
            <a:pPr>
              <a:lnSpc>
                <a:spcPct val="110000"/>
              </a:lnSpc>
            </a:pPr>
            <a:r>
              <a:rPr lang="en-US" altLang="zh-CN" dirty="0">
                <a:solidFill>
                  <a:schemeClr val="bg2">
                    <a:lumMod val="50000"/>
                  </a:schemeClr>
                </a:solidFill>
                <a:sym typeface="+mn-ea"/>
              </a:rPr>
              <a:t>    </a:t>
            </a:r>
            <a:r>
              <a:rPr lang="en-US" altLang="zh-CN" b="1" dirty="0">
                <a:latin typeface="微软雅黑" panose="020B0503020204020204" charset="-122"/>
                <a:ea typeface="微软雅黑" panose="020B0503020204020204" charset="-122"/>
                <a:sym typeface="+mn-ea"/>
              </a:rPr>
              <a:t>2</a:t>
            </a:r>
            <a:r>
              <a:rPr lang="zh-CN" altLang="zh-CN" b="1" dirty="0">
                <a:latin typeface="微软雅黑" panose="020B0503020204020204" charset="-122"/>
                <a:ea typeface="微软雅黑" panose="020B0503020204020204" charset="-122"/>
                <a:sym typeface="+mn-ea"/>
              </a:rPr>
              <a:t>．</a:t>
            </a:r>
            <a:r>
              <a:rPr lang="en-US" altLang="zh-CN" dirty="0"/>
              <a:t> </a:t>
            </a:r>
            <a:r>
              <a:rPr lang="en-US" altLang="zh-CN" b="1" dirty="0" err="1">
                <a:latin typeface="微软雅黑" panose="020B0503020204020204" charset="-122"/>
                <a:ea typeface="微软雅黑" panose="020B0503020204020204" charset="-122"/>
                <a:sym typeface="+mn-ea"/>
              </a:rPr>
              <a:t>WebApp</a:t>
            </a:r>
            <a:r>
              <a:rPr lang="zh-CN" altLang="zh-CN" b="1" dirty="0">
                <a:latin typeface="微软雅黑" panose="020B0503020204020204" charset="-122"/>
                <a:ea typeface="微软雅黑" panose="020B0503020204020204" charset="-122"/>
                <a:sym typeface="+mn-ea"/>
              </a:rPr>
              <a:t>的设计目标</a:t>
            </a:r>
          </a:p>
        </p:txBody>
      </p:sp>
    </p:spTree>
    <p:custDataLst>
      <p:tags r:id="rId1"/>
    </p:custDataLst>
  </p:cSld>
  <p:clrMapOvr>
    <a:masterClrMapping/>
  </p:clrMapOvr>
  <p:transition>
    <p:zoom dir="in"/>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pSp>
        <p:nvGrpSpPr>
          <p:cNvPr id="4" name="组合 3"/>
          <p:cNvGrpSpPr/>
          <p:nvPr/>
        </p:nvGrpSpPr>
        <p:grpSpPr>
          <a:xfrm>
            <a:off x="916305" y="2838450"/>
            <a:ext cx="5008245" cy="1311275"/>
            <a:chOff x="1188" y="3092"/>
            <a:chExt cx="7405" cy="2065"/>
          </a:xfrm>
        </p:grpSpPr>
        <p:grpSp>
          <p:nvGrpSpPr>
            <p:cNvPr id="28" name="组合 27"/>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健壮性</a:t>
                </a:r>
              </a:p>
            </p:txBody>
          </p:sp>
        </p:grpSp>
        <p:sp>
          <p:nvSpPr>
            <p:cNvPr id="35" name="矩形 34"/>
            <p:cNvSpPr>
              <a:spLocks noChangeArrowheads="1"/>
            </p:cNvSpPr>
            <p:nvPr/>
          </p:nvSpPr>
          <p:spPr bwMode="auto">
            <a:xfrm>
              <a:off x="1893" y="3848"/>
              <a:ext cx="6700" cy="1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用户期待与自己的要求相关的内容和功能有健壮性。</a:t>
              </a:r>
            </a:p>
          </p:txBody>
        </p:sp>
      </p:grpSp>
      <p:grpSp>
        <p:nvGrpSpPr>
          <p:cNvPr id="36" name="组合 35"/>
          <p:cNvGrpSpPr/>
          <p:nvPr/>
        </p:nvGrpSpPr>
        <p:grpSpPr>
          <a:xfrm>
            <a:off x="916305" y="4118610"/>
            <a:ext cx="5235316" cy="1680210"/>
            <a:chOff x="1188" y="3092"/>
            <a:chExt cx="7741" cy="2646"/>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5</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导航性</a:t>
                </a:r>
              </a:p>
            </p:txBody>
          </p:sp>
        </p:grpSp>
        <p:sp>
          <p:nvSpPr>
            <p:cNvPr id="41" name="矩形 40"/>
            <p:cNvSpPr>
              <a:spLocks noChangeArrowheads="1"/>
            </p:cNvSpPr>
            <p:nvPr/>
          </p:nvSpPr>
          <p:spPr bwMode="auto">
            <a:xfrm>
              <a:off x="1893" y="3848"/>
              <a:ext cx="6390"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导航要简单和一致，以直观的和可预测的方式来设计。即用户不必搜索导航链接和帮助就知道如何使用WebApp。</a:t>
              </a:r>
            </a:p>
          </p:txBody>
        </p:sp>
      </p:grpSp>
      <p:grpSp>
        <p:nvGrpSpPr>
          <p:cNvPr id="3" name="组合 2"/>
          <p:cNvGrpSpPr/>
          <p:nvPr/>
        </p:nvGrpSpPr>
        <p:grpSpPr>
          <a:xfrm>
            <a:off x="6002655" y="1449705"/>
            <a:ext cx="5274720" cy="2788285"/>
            <a:chOff x="1188" y="3092"/>
            <a:chExt cx="7799" cy="4391"/>
          </a:xfrm>
        </p:grpSpPr>
        <p:grpSp>
          <p:nvGrpSpPr>
            <p:cNvPr id="5" name="组合 4"/>
            <p:cNvGrpSpPr/>
            <p:nvPr/>
          </p:nvGrpSpPr>
          <p:grpSpPr>
            <a:xfrm>
              <a:off x="1188" y="3092"/>
              <a:ext cx="6974" cy="930"/>
              <a:chOff x="508000" y="3196191"/>
              <a:chExt cx="4428470" cy="590550"/>
            </a:xfrm>
          </p:grpSpPr>
          <p:sp>
            <p:nvSpPr>
              <p:cNvPr id="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6</a:t>
                </a:r>
              </a:p>
            </p:txBody>
          </p:sp>
          <p:cxnSp>
            <p:nvCxnSpPr>
              <p:cNvPr id="9" name="直接连接符 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9"/>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视觉吸引</a:t>
                </a:r>
              </a:p>
            </p:txBody>
          </p:sp>
        </p:grpSp>
        <p:sp>
          <p:nvSpPr>
            <p:cNvPr id="11" name="矩形 10"/>
            <p:cNvSpPr>
              <a:spLocks noChangeArrowheads="1"/>
            </p:cNvSpPr>
            <p:nvPr/>
          </p:nvSpPr>
          <p:spPr bwMode="auto">
            <a:xfrm>
              <a:off x="1893" y="3848"/>
              <a:ext cx="7094" cy="36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所有类型的软件中，Web应用系统是最具有视觉效果的、最生动的，也是最具有美感的。美丽的外观最吸引观看者的眼球，然而许多设计的特性（例如，内容的外观、界面的设计、颜色协调、文本布局、图片和其他媒体、导航）也会对视觉吸引产生影响。</a:t>
              </a:r>
            </a:p>
          </p:txBody>
        </p:sp>
      </p:grpSp>
      <p:grpSp>
        <p:nvGrpSpPr>
          <p:cNvPr id="23" name="组合 22"/>
          <p:cNvGrpSpPr/>
          <p:nvPr/>
        </p:nvGrpSpPr>
        <p:grpSpPr>
          <a:xfrm>
            <a:off x="6002655" y="4271645"/>
            <a:ext cx="5140807" cy="1584960"/>
            <a:chOff x="1188" y="3092"/>
            <a:chExt cx="7601" cy="2496"/>
          </a:xfrm>
        </p:grpSpPr>
        <p:grpSp>
          <p:nvGrpSpPr>
            <p:cNvPr id="24" name="组合 27"/>
            <p:cNvGrpSpPr/>
            <p:nvPr/>
          </p:nvGrpSpPr>
          <p:grpSpPr>
            <a:xfrm>
              <a:off x="1188" y="3092"/>
              <a:ext cx="6974" cy="930"/>
              <a:chOff x="508000" y="3196191"/>
              <a:chExt cx="4428470" cy="590550"/>
            </a:xfrm>
          </p:grpSpPr>
          <p:sp>
            <p:nvSpPr>
              <p:cNvPr id="26"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7</a:t>
                </a:r>
              </a:p>
            </p:txBody>
          </p:sp>
          <p:cxnSp>
            <p:nvCxnSpPr>
              <p:cNvPr id="27" name="直接连接符 2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0" name="矩形 29"/>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兼容性</a:t>
                </a:r>
              </a:p>
            </p:txBody>
          </p:sp>
        </p:grpSp>
        <p:sp>
          <p:nvSpPr>
            <p:cNvPr id="25" name="矩形 24"/>
            <p:cNvSpPr>
              <a:spLocks noChangeArrowheads="1"/>
            </p:cNvSpPr>
            <p:nvPr/>
          </p:nvSpPr>
          <p:spPr bwMode="auto">
            <a:xfrm>
              <a:off x="1893" y="3698"/>
              <a:ext cx="6896"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由于WebApp通常会应用于不同的环境，例如不同的操作系统、不同的浏览器等等，因此WebApp要求设计互相兼容。</a:t>
              </a:r>
            </a:p>
          </p:txBody>
        </p:sp>
      </p:grpSp>
      <p:sp>
        <p:nvSpPr>
          <p:cNvPr id="31" name="文本框 34"/>
          <p:cNvSpPr txBox="1"/>
          <p:nvPr/>
        </p:nvSpPr>
        <p:spPr>
          <a:xfrm>
            <a:off x="847726" y="2085975"/>
            <a:ext cx="4953000" cy="397032"/>
          </a:xfrm>
          <a:prstGeom prst="rect">
            <a:avLst/>
          </a:prstGeom>
          <a:noFill/>
        </p:spPr>
        <p:txBody>
          <a:bodyPr wrap="square" rtlCol="0">
            <a:spAutoFit/>
          </a:bodyPr>
          <a:lstStyle/>
          <a:p>
            <a:pPr>
              <a:lnSpc>
                <a:spcPct val="110000"/>
              </a:lnSpc>
            </a:pPr>
            <a:r>
              <a:rPr lang="en-US" altLang="zh-CN" dirty="0">
                <a:solidFill>
                  <a:schemeClr val="bg2">
                    <a:lumMod val="50000"/>
                  </a:schemeClr>
                </a:solidFill>
                <a:sym typeface="+mn-ea"/>
              </a:rPr>
              <a:t>    </a:t>
            </a:r>
            <a:r>
              <a:rPr lang="en-US" altLang="zh-CN" b="1" dirty="0">
                <a:latin typeface="微软雅黑" panose="020B0503020204020204" charset="-122"/>
                <a:ea typeface="微软雅黑" panose="020B0503020204020204" charset="-122"/>
                <a:sym typeface="+mn-ea"/>
              </a:rPr>
              <a:t>2</a:t>
            </a:r>
            <a:r>
              <a:rPr lang="zh-CN" altLang="zh-CN" b="1" dirty="0">
                <a:latin typeface="微软雅黑" panose="020B0503020204020204" charset="-122"/>
                <a:ea typeface="微软雅黑" panose="020B0503020204020204" charset="-122"/>
                <a:sym typeface="+mn-ea"/>
              </a:rPr>
              <a:t>．</a:t>
            </a:r>
            <a:r>
              <a:rPr lang="en-US" altLang="zh-CN" dirty="0"/>
              <a:t> </a:t>
            </a:r>
            <a:r>
              <a:rPr lang="en-US" altLang="zh-CN" b="1" dirty="0" err="1">
                <a:latin typeface="微软雅黑" panose="020B0503020204020204" charset="-122"/>
                <a:ea typeface="微软雅黑" panose="020B0503020204020204" charset="-122"/>
                <a:sym typeface="+mn-ea"/>
              </a:rPr>
              <a:t>WebApp</a:t>
            </a:r>
            <a:r>
              <a:rPr lang="zh-CN" altLang="zh-CN" b="1" dirty="0">
                <a:latin typeface="微软雅黑" panose="020B0503020204020204" charset="-122"/>
                <a:ea typeface="微软雅黑" panose="020B0503020204020204" charset="-122"/>
                <a:sym typeface="+mn-ea"/>
              </a:rPr>
              <a:t>的设计目标</a:t>
            </a:r>
          </a:p>
        </p:txBody>
      </p:sp>
    </p:spTree>
    <p:custDataLst>
      <p:tags r:id="rId1"/>
    </p:custDataLst>
  </p:cSld>
  <p:clrMapOvr>
    <a:masterClrMapping/>
  </p:clrMapOvr>
  <p:transition>
    <p:zoom dir="in"/>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pSp>
        <p:nvGrpSpPr>
          <p:cNvPr id="36" name="组合 35"/>
          <p:cNvGrpSpPr/>
          <p:nvPr/>
        </p:nvGrpSpPr>
        <p:grpSpPr>
          <a:xfrm>
            <a:off x="802005" y="2607945"/>
            <a:ext cx="10294792" cy="1945005"/>
            <a:chOff x="1188" y="3092"/>
            <a:chExt cx="15222" cy="3063"/>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8</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可修改性</a:t>
                </a:r>
              </a:p>
            </p:txBody>
          </p:sp>
        </p:grpSp>
        <p:sp>
          <p:nvSpPr>
            <p:cNvPr id="41" name="矩形 40"/>
            <p:cNvSpPr>
              <a:spLocks noChangeArrowheads="1"/>
            </p:cNvSpPr>
            <p:nvPr/>
          </p:nvSpPr>
          <p:spPr bwMode="auto">
            <a:xfrm>
              <a:off x="1893" y="3683"/>
              <a:ext cx="14517" cy="24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对系统做出一个特定改变的情况下，会出现受直接影响的和受间接影响的软件单元。受直接影响的软件单元是指那些为了适应系统改变而改变自身职责的单元；受间接影响的软件单元是指那些不需要改变自身职责，而只需修改它的实现来适应受直接影响的单元产生的变化。我们要尽可能减少单元之间的依赖关系，降低受直接影响的单元对其他单元的影响程度，从而减少被改变单元的数量。</a:t>
              </a:r>
            </a:p>
          </p:txBody>
        </p:sp>
      </p:grpSp>
      <p:grpSp>
        <p:nvGrpSpPr>
          <p:cNvPr id="3" name="组合 2"/>
          <p:cNvGrpSpPr/>
          <p:nvPr/>
        </p:nvGrpSpPr>
        <p:grpSpPr>
          <a:xfrm>
            <a:off x="802005" y="4530090"/>
            <a:ext cx="10275526" cy="1565910"/>
            <a:chOff x="1188" y="3092"/>
            <a:chExt cx="15193" cy="2466"/>
          </a:xfrm>
        </p:grpSpPr>
        <p:grpSp>
          <p:nvGrpSpPr>
            <p:cNvPr id="5" name="组合 4"/>
            <p:cNvGrpSpPr/>
            <p:nvPr/>
          </p:nvGrpSpPr>
          <p:grpSpPr>
            <a:xfrm>
              <a:off x="1188" y="3092"/>
              <a:ext cx="6974" cy="930"/>
              <a:chOff x="508000" y="3196191"/>
              <a:chExt cx="4428470" cy="590550"/>
            </a:xfrm>
          </p:grpSpPr>
          <p:sp>
            <p:nvSpPr>
              <p:cNvPr id="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9</a:t>
                </a:r>
              </a:p>
            </p:txBody>
          </p:sp>
          <p:cxnSp>
            <p:nvCxnSpPr>
              <p:cNvPr id="9" name="直接连接符 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9"/>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安全性</a:t>
                </a:r>
              </a:p>
            </p:txBody>
          </p:sp>
        </p:grpSp>
        <p:sp>
          <p:nvSpPr>
            <p:cNvPr id="11" name="矩形 10"/>
            <p:cNvSpPr>
              <a:spLocks noChangeArrowheads="1"/>
            </p:cNvSpPr>
            <p:nvPr/>
          </p:nvSpPr>
          <p:spPr bwMode="auto">
            <a:xfrm>
              <a:off x="1893" y="3668"/>
              <a:ext cx="14488"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随着网络的不断发展，WebApp的安全性显得非常重要。如果系统能够阻挡攻击企图，那么它就具有免疫力；如果系统能够快速容易地从成功的攻击中恢复，那么它就具有高弹性。在设计和开发WebApp时，应尽量将可能被攻击者利用的安全性弱点最小化，设计时要考虑周全。</a:t>
              </a:r>
            </a:p>
          </p:txBody>
        </p:sp>
      </p:grpSp>
      <p:sp>
        <p:nvSpPr>
          <p:cNvPr id="23" name="文本框 34"/>
          <p:cNvSpPr txBox="1"/>
          <p:nvPr/>
        </p:nvSpPr>
        <p:spPr>
          <a:xfrm>
            <a:off x="847726" y="2085975"/>
            <a:ext cx="4953000" cy="397032"/>
          </a:xfrm>
          <a:prstGeom prst="rect">
            <a:avLst/>
          </a:prstGeom>
          <a:noFill/>
        </p:spPr>
        <p:txBody>
          <a:bodyPr wrap="square" rtlCol="0">
            <a:spAutoFit/>
          </a:bodyPr>
          <a:lstStyle/>
          <a:p>
            <a:pPr>
              <a:lnSpc>
                <a:spcPct val="110000"/>
              </a:lnSpc>
            </a:pPr>
            <a:r>
              <a:rPr lang="en-US" altLang="zh-CN" dirty="0">
                <a:solidFill>
                  <a:schemeClr val="bg2">
                    <a:lumMod val="50000"/>
                  </a:schemeClr>
                </a:solidFill>
                <a:sym typeface="+mn-ea"/>
              </a:rPr>
              <a:t>    </a:t>
            </a:r>
            <a:r>
              <a:rPr lang="en-US" altLang="zh-CN" b="1" dirty="0">
                <a:latin typeface="微软雅黑" panose="020B0503020204020204" charset="-122"/>
                <a:ea typeface="微软雅黑" panose="020B0503020204020204" charset="-122"/>
                <a:sym typeface="+mn-ea"/>
              </a:rPr>
              <a:t>2</a:t>
            </a:r>
            <a:r>
              <a:rPr lang="zh-CN" altLang="zh-CN" b="1" dirty="0">
                <a:latin typeface="微软雅黑" panose="020B0503020204020204" charset="-122"/>
                <a:ea typeface="微软雅黑" panose="020B0503020204020204" charset="-122"/>
                <a:sym typeface="+mn-ea"/>
              </a:rPr>
              <a:t>．</a:t>
            </a:r>
            <a:r>
              <a:rPr lang="en-US" altLang="zh-CN" dirty="0"/>
              <a:t> </a:t>
            </a:r>
            <a:r>
              <a:rPr lang="en-US" altLang="zh-CN" b="1" dirty="0" err="1">
                <a:latin typeface="微软雅黑" panose="020B0503020204020204" charset="-122"/>
                <a:ea typeface="微软雅黑" panose="020B0503020204020204" charset="-122"/>
                <a:sym typeface="+mn-ea"/>
              </a:rPr>
              <a:t>WebApp</a:t>
            </a:r>
            <a:r>
              <a:rPr lang="zh-CN" altLang="zh-CN" b="1" dirty="0">
                <a:latin typeface="微软雅黑" panose="020B0503020204020204" charset="-122"/>
                <a:ea typeface="微软雅黑" panose="020B0503020204020204" charset="-122"/>
                <a:sym typeface="+mn-ea"/>
              </a:rPr>
              <a:t>的设计目标</a:t>
            </a:r>
          </a:p>
        </p:txBody>
      </p:sp>
    </p:spTree>
    <p:custDataLst>
      <p:tags r:id="rId1"/>
    </p:custDataLst>
  </p:cSld>
  <p:clrMapOvr>
    <a:masterClrMapping/>
  </p:clrMapOvr>
  <p:transition>
    <p:zoom dir="in"/>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pSp>
        <p:nvGrpSpPr>
          <p:cNvPr id="3" name="组合 2"/>
          <p:cNvGrpSpPr/>
          <p:nvPr/>
        </p:nvGrpSpPr>
        <p:grpSpPr>
          <a:xfrm>
            <a:off x="972689" y="2784956"/>
            <a:ext cx="9998710" cy="3303270"/>
            <a:chOff x="1630" y="5726"/>
            <a:chExt cx="15746" cy="5202"/>
          </a:xfrm>
        </p:grpSpPr>
        <p:cxnSp>
          <p:nvCxnSpPr>
            <p:cNvPr id="4" name="MH_Other_1"/>
            <p:cNvCxnSpPr/>
            <p:nvPr/>
          </p:nvCxnSpPr>
          <p:spPr>
            <a:xfrm flipH="1">
              <a:off x="2470" y="6041"/>
              <a:ext cx="1545" cy="14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07" y="6041"/>
              <a:ext cx="14169" cy="4887"/>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界面设计</a:t>
              </a:r>
            </a:p>
            <a:p>
              <a:pPr indent="457200" fontAlgn="auto">
                <a:lnSpc>
                  <a:spcPct val="120000"/>
                </a:lnSpc>
              </a:pPr>
              <a:r>
                <a:rPr lang="zh-CN" altLang="en-US" dirty="0">
                  <a:ea typeface="微软雅黑" panose="020B0503020204020204" charset="-122"/>
                </a:rPr>
                <a:t>界面设计描述了用户界面的结构和组织形式，包括屏幕布局、交互模式定义和导航机制描述。</a:t>
              </a:r>
            </a:p>
            <a:p>
              <a:pPr indent="457200" fontAlgn="auto">
                <a:lnSpc>
                  <a:spcPct val="120000"/>
                </a:lnSpc>
              </a:pPr>
              <a:r>
                <a:rPr lang="zh-CN" altLang="en-US" dirty="0">
                  <a:ea typeface="微软雅黑" panose="020B0503020204020204" charset="-122"/>
                </a:rPr>
                <a:t>无论是WebApp，还是传统的软件应用以及消费产品设计的用户界面，亦或为工业设备设计的用户界面，每个用户界面都应该容易使用、容易学习、容易导航，并且要直观、一致、有效，没有错误，功能性强。为了实现一致的界面，设计者必须首先运用美学设计建立一致的界面“外观”，必须把重点放在导航机制的布局和形式上。</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1</a:t>
              </a:r>
            </a:p>
          </p:txBody>
        </p:sp>
      </p:grpSp>
      <p:sp>
        <p:nvSpPr>
          <p:cNvPr id="9" name="文本框 34"/>
          <p:cNvSpPr txBox="1"/>
          <p:nvPr/>
        </p:nvSpPr>
        <p:spPr>
          <a:xfrm>
            <a:off x="847726" y="2085975"/>
            <a:ext cx="4953000" cy="372794"/>
          </a:xfrm>
          <a:prstGeom prst="rect">
            <a:avLst/>
          </a:prstGeom>
          <a:noFill/>
        </p:spPr>
        <p:txBody>
          <a:bodyPr wrap="square" rtlCol="0">
            <a:spAutoFit/>
          </a:bodyPr>
          <a:lstStyle/>
          <a:p>
            <a:pPr>
              <a:lnSpc>
                <a:spcPct val="110000"/>
              </a:lnSpc>
            </a:pPr>
            <a:r>
              <a:rPr lang="en-US" altLang="zh-CN" dirty="0">
                <a:solidFill>
                  <a:schemeClr val="bg2">
                    <a:lumMod val="50000"/>
                  </a:schemeClr>
                </a:solidFill>
                <a:sym typeface="+mn-ea"/>
              </a:rPr>
              <a:t>    </a:t>
            </a:r>
            <a:r>
              <a:rPr lang="en-US" altLang="zh-CN" b="1" dirty="0">
                <a:latin typeface="微软雅黑" panose="020B0503020204020204" charset="-122"/>
                <a:ea typeface="微软雅黑" panose="020B0503020204020204" charset="-122"/>
                <a:sym typeface="+mn-ea"/>
              </a:rPr>
              <a:t>3</a:t>
            </a:r>
            <a:r>
              <a:rPr lang="zh-CN" altLang="zh-CN" b="1" dirty="0">
                <a:latin typeface="微软雅黑" panose="020B0503020204020204" charset="-122"/>
                <a:ea typeface="微软雅黑" panose="020B0503020204020204" charset="-122"/>
                <a:sym typeface="+mn-ea"/>
              </a:rPr>
              <a:t>．</a:t>
            </a:r>
            <a:r>
              <a:rPr lang="en-US" altLang="zh-CN" dirty="0"/>
              <a:t> </a:t>
            </a:r>
            <a:r>
              <a:rPr lang="en-US" altLang="zh-CN" b="1" dirty="0" err="1">
                <a:latin typeface="微软雅黑" panose="020B0503020204020204" charset="-122"/>
                <a:ea typeface="微软雅黑" panose="020B0503020204020204" charset="-122"/>
                <a:sym typeface="+mn-ea"/>
              </a:rPr>
              <a:t>WebApp</a:t>
            </a:r>
            <a:r>
              <a:rPr lang="zh-CN" altLang="zh-CN" b="1" dirty="0">
                <a:latin typeface="微软雅黑" panose="020B0503020204020204" charset="-122"/>
                <a:ea typeface="微软雅黑" panose="020B0503020204020204" charset="-122"/>
                <a:sym typeface="+mn-ea"/>
              </a:rPr>
              <a:t>设计活动</a:t>
            </a:r>
          </a:p>
        </p:txBody>
      </p:sp>
    </p:spTree>
    <p:custDataLst>
      <p:tags r:id="rId1"/>
    </p:custDataLst>
  </p:cSld>
  <p:clrMapOvr>
    <a:masterClrMapping/>
  </p:clrMapOvr>
  <p:transition>
    <p:zoom dir="in"/>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sp>
        <p:nvSpPr>
          <p:cNvPr id="8" name="MH_Other_1"/>
          <p:cNvSpPr>
            <a:spLocks noChangeArrowheads="1"/>
          </p:cNvSpPr>
          <p:nvPr>
            <p:custDataLst>
              <p:tags r:id="rId2"/>
            </p:custDataLst>
          </p:nvPr>
        </p:nvSpPr>
        <p:spPr bwMode="auto">
          <a:xfrm>
            <a:off x="1308378" y="2848481"/>
            <a:ext cx="673100" cy="50482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9" name="MH_Other_2"/>
          <p:cNvSpPr>
            <a:spLocks noChangeArrowheads="1"/>
          </p:cNvSpPr>
          <p:nvPr>
            <p:custDataLst>
              <p:tags r:id="rId3"/>
            </p:custDataLst>
          </p:nvPr>
        </p:nvSpPr>
        <p:spPr bwMode="auto">
          <a:xfrm>
            <a:off x="2019577" y="2953255"/>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3"/>
          <p:cNvSpPr>
            <a:spLocks noChangeArrowheads="1"/>
          </p:cNvSpPr>
          <p:nvPr>
            <p:custDataLst>
              <p:tags r:id="rId4"/>
            </p:custDataLst>
          </p:nvPr>
        </p:nvSpPr>
        <p:spPr bwMode="auto">
          <a:xfrm>
            <a:off x="1460778" y="3381881"/>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4"/>
          <p:cNvSpPr>
            <a:spLocks noChangeArrowheads="1"/>
          </p:cNvSpPr>
          <p:nvPr>
            <p:custDataLst>
              <p:tags r:id="rId5"/>
            </p:custDataLst>
          </p:nvPr>
        </p:nvSpPr>
        <p:spPr bwMode="auto">
          <a:xfrm>
            <a:off x="2019578" y="3381881"/>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SubTitle_1"/>
          <p:cNvSpPr/>
          <p:nvPr>
            <p:custDataLst>
              <p:tags r:id="rId6"/>
            </p:custDataLst>
          </p:nvPr>
        </p:nvSpPr>
        <p:spPr>
          <a:xfrm>
            <a:off x="2974193" y="2904042"/>
            <a:ext cx="6796798" cy="812800"/>
          </a:xfrm>
          <a:prstGeom prst="rect">
            <a:avLst/>
          </a:prstGeom>
        </p:spPr>
        <p:txBody>
          <a:bodyPr lIns="0" tIns="0" rIns="0" bIns="0" anchor="ctr">
            <a:noAutofit/>
          </a:bodyPr>
          <a:lstStyle/>
          <a:p>
            <a:pPr>
              <a:lnSpc>
                <a:spcPct val="140000"/>
              </a:lnSpc>
              <a:defRPr/>
            </a:pPr>
            <a:r>
              <a:rPr lang="zh-CN" altLang="en-US" sz="1600" dirty="0">
                <a:solidFill>
                  <a:srgbClr val="000000"/>
                </a:solidFill>
                <a:latin typeface="微软雅黑" panose="020B0503020204020204" charset="-122"/>
                <a:ea typeface="微软雅黑" panose="020B0503020204020204" charset="-122"/>
                <a:sym typeface="+mn-ea"/>
              </a:rPr>
              <a:t>       （1）将界面上所提供的内容和功能组织在一个一致的窗口中；</a:t>
            </a:r>
          </a:p>
        </p:txBody>
      </p:sp>
      <p:sp>
        <p:nvSpPr>
          <p:cNvPr id="13" name="MH_Other_5"/>
          <p:cNvSpPr>
            <a:spLocks noChangeArrowheads="1"/>
          </p:cNvSpPr>
          <p:nvPr>
            <p:custDataLst>
              <p:tags r:id="rId7"/>
            </p:custDataLst>
          </p:nvPr>
        </p:nvSpPr>
        <p:spPr bwMode="auto">
          <a:xfrm>
            <a:off x="4652711" y="5054557"/>
            <a:ext cx="673100" cy="50482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4" name="MH_Other_6"/>
          <p:cNvSpPr>
            <a:spLocks noChangeArrowheads="1"/>
          </p:cNvSpPr>
          <p:nvPr>
            <p:custDataLst>
              <p:tags r:id="rId8"/>
            </p:custDataLst>
          </p:nvPr>
        </p:nvSpPr>
        <p:spPr bwMode="auto">
          <a:xfrm>
            <a:off x="5363911" y="5159331"/>
            <a:ext cx="533400" cy="40005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7"/>
          <p:cNvSpPr>
            <a:spLocks noChangeArrowheads="1"/>
          </p:cNvSpPr>
          <p:nvPr>
            <p:custDataLst>
              <p:tags r:id="rId9"/>
            </p:custDataLst>
          </p:nvPr>
        </p:nvSpPr>
        <p:spPr bwMode="auto">
          <a:xfrm>
            <a:off x="4805111" y="5587957"/>
            <a:ext cx="520700" cy="39052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6" name="MH_Other_8"/>
          <p:cNvSpPr>
            <a:spLocks noChangeArrowheads="1"/>
          </p:cNvSpPr>
          <p:nvPr>
            <p:custDataLst>
              <p:tags r:id="rId10"/>
            </p:custDataLst>
          </p:nvPr>
        </p:nvSpPr>
        <p:spPr bwMode="auto">
          <a:xfrm>
            <a:off x="5363911" y="5587957"/>
            <a:ext cx="673100" cy="33337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SubTitle_3"/>
          <p:cNvSpPr/>
          <p:nvPr>
            <p:custDataLst>
              <p:tags r:id="rId11"/>
            </p:custDataLst>
          </p:nvPr>
        </p:nvSpPr>
        <p:spPr>
          <a:xfrm>
            <a:off x="6301594" y="5054556"/>
            <a:ext cx="4592804" cy="812800"/>
          </a:xfrm>
          <a:prstGeom prst="rect">
            <a:avLst/>
          </a:prstGeom>
        </p:spPr>
        <p:txBody>
          <a:bodyPr lIns="0" tIns="0" rIns="0" bIns="0" anchor="ctr">
            <a:noAutofit/>
          </a:bodyPr>
          <a:lstStyle/>
          <a:p>
            <a:pPr>
              <a:lnSpc>
                <a:spcPct val="130000"/>
              </a:lnSpc>
              <a:defRPr/>
            </a:pPr>
            <a:r>
              <a:rPr lang="zh-CN" altLang="en-US" sz="1600" dirty="0">
                <a:solidFill>
                  <a:srgbClr val="000000"/>
                </a:solidFill>
                <a:latin typeface="微软雅黑" panose="020B0503020204020204" charset="-122"/>
                <a:ea typeface="微软雅黑" panose="020B0503020204020204" charset="-122"/>
                <a:sym typeface="+mn-ea"/>
              </a:rPr>
              <a:t>       （3）组织用户访问导航选项和内容。</a:t>
            </a:r>
          </a:p>
        </p:txBody>
      </p:sp>
      <p:sp>
        <p:nvSpPr>
          <p:cNvPr id="18" name="MH_Other_9"/>
          <p:cNvSpPr>
            <a:spLocks noChangeArrowheads="1"/>
          </p:cNvSpPr>
          <p:nvPr>
            <p:custDataLst>
              <p:tags r:id="rId12"/>
            </p:custDataLst>
          </p:nvPr>
        </p:nvSpPr>
        <p:spPr bwMode="auto">
          <a:xfrm>
            <a:off x="2997478" y="3936006"/>
            <a:ext cx="673100" cy="50482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9" name="MH_Other_10"/>
          <p:cNvSpPr>
            <a:spLocks noChangeArrowheads="1"/>
          </p:cNvSpPr>
          <p:nvPr>
            <p:custDataLst>
              <p:tags r:id="rId13"/>
            </p:custDataLst>
          </p:nvPr>
        </p:nvSpPr>
        <p:spPr bwMode="auto">
          <a:xfrm>
            <a:off x="3708677" y="4040781"/>
            <a:ext cx="533400" cy="40005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1"/>
          <p:cNvSpPr>
            <a:spLocks noChangeArrowheads="1"/>
          </p:cNvSpPr>
          <p:nvPr>
            <p:custDataLst>
              <p:tags r:id="rId14"/>
            </p:custDataLst>
          </p:nvPr>
        </p:nvSpPr>
        <p:spPr bwMode="auto">
          <a:xfrm>
            <a:off x="3149878" y="4469407"/>
            <a:ext cx="520700" cy="39052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12"/>
          <p:cNvSpPr>
            <a:spLocks noChangeArrowheads="1"/>
          </p:cNvSpPr>
          <p:nvPr>
            <p:custDataLst>
              <p:tags r:id="rId15"/>
            </p:custDataLst>
          </p:nvPr>
        </p:nvSpPr>
        <p:spPr bwMode="auto">
          <a:xfrm>
            <a:off x="3708678" y="4469406"/>
            <a:ext cx="673100" cy="33337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SubTitle_2"/>
          <p:cNvSpPr/>
          <p:nvPr>
            <p:custDataLst>
              <p:tags r:id="rId16"/>
            </p:custDataLst>
          </p:nvPr>
        </p:nvSpPr>
        <p:spPr>
          <a:xfrm>
            <a:off x="4629427" y="3962994"/>
            <a:ext cx="5655370" cy="812800"/>
          </a:xfrm>
          <a:prstGeom prst="rect">
            <a:avLst/>
          </a:prstGeom>
        </p:spPr>
        <p:txBody>
          <a:bodyPr lIns="0" tIns="0" rIns="0" bIns="0" anchor="ctr">
            <a:noAutofit/>
          </a:bodyPr>
          <a:lstStyle/>
          <a:p>
            <a:pPr lvl="0" algn="just">
              <a:lnSpc>
                <a:spcPct val="120000"/>
              </a:lnSpc>
              <a:spcBef>
                <a:spcPct val="0"/>
              </a:spcBef>
            </a:pPr>
            <a:r>
              <a:rPr lang="zh-CN" altLang="en-US" sz="1600" dirty="0">
                <a:solidFill>
                  <a:srgbClr val="000000"/>
                </a:solidFill>
                <a:latin typeface="微软雅黑" panose="020B0503020204020204" charset="-122"/>
                <a:ea typeface="微软雅黑" panose="020B0503020204020204" charset="-122"/>
                <a:sym typeface="+mn-ea"/>
              </a:rPr>
              <a:t>      （2）指导用户完成一系列与WebApp的交互；</a:t>
            </a:r>
          </a:p>
        </p:txBody>
      </p:sp>
      <p:sp>
        <p:nvSpPr>
          <p:cNvPr id="35" name="文本框 34"/>
          <p:cNvSpPr txBox="1"/>
          <p:nvPr/>
        </p:nvSpPr>
        <p:spPr>
          <a:xfrm>
            <a:off x="788035" y="2094865"/>
            <a:ext cx="3757295" cy="39306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设计WebApp界面的目标是：</a:t>
            </a:r>
          </a:p>
        </p:txBody>
      </p:sp>
    </p:spTree>
    <p:custDataLst>
      <p:tags r:id="rId1"/>
    </p:custDataLst>
  </p:cSld>
  <p:clrMapOvr>
    <a:masterClrMapping/>
  </p:clrMapOvr>
  <p:transition>
    <p:zoom dir="in"/>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aphicFrame>
        <p:nvGraphicFramePr>
          <p:cNvPr id="3" name="表格 2"/>
          <p:cNvGraphicFramePr/>
          <p:nvPr>
            <p:extLst>
              <p:ext uri="{D42A27DB-BD31-4B8C-83A1-F6EECF244321}">
                <p14:modId xmlns:p14="http://schemas.microsoft.com/office/powerpoint/2010/main" val="2513089734"/>
              </p:ext>
            </p:extLst>
          </p:nvPr>
        </p:nvGraphicFramePr>
        <p:xfrm>
          <a:off x="1901190" y="2249805"/>
          <a:ext cx="8389620" cy="4023360"/>
        </p:xfrm>
        <a:graphic>
          <a:graphicData uri="http://schemas.openxmlformats.org/drawingml/2006/table">
            <a:tbl>
              <a:tblPr firstRow="1" bandRow="1">
                <a:tableStyleId>{F5AB1C69-6EDB-4FF4-983F-18BD219EF322}</a:tableStyleId>
              </a:tblPr>
              <a:tblGrid>
                <a:gridCol w="640715">
                  <a:extLst>
                    <a:ext uri="{9D8B030D-6E8A-4147-A177-3AD203B41FA5}">
                      <a16:colId xmlns:a16="http://schemas.microsoft.com/office/drawing/2014/main" val="20000"/>
                    </a:ext>
                  </a:extLst>
                </a:gridCol>
                <a:gridCol w="7748905">
                  <a:extLst>
                    <a:ext uri="{9D8B030D-6E8A-4147-A177-3AD203B41FA5}">
                      <a16:colId xmlns:a16="http://schemas.microsoft.com/office/drawing/2014/main" val="20001"/>
                    </a:ext>
                  </a:extLst>
                </a:gridCol>
              </a:tblGrid>
              <a:tr h="0">
                <a:tc>
                  <a:txBody>
                    <a:bodyPr/>
                    <a:lstStyle/>
                    <a:p>
                      <a:pPr algn="l">
                        <a:buNone/>
                      </a:pPr>
                      <a:endParaRPr lang="zh-CN" altLang="en-US" dirty="0"/>
                    </a:p>
                  </a:txBody>
                  <a:tcPr/>
                </a:tc>
                <a:tc>
                  <a:txBody>
                    <a:bodyPr/>
                    <a:lstStyle/>
                    <a:p>
                      <a:pPr algn="l">
                        <a:buNone/>
                      </a:pPr>
                      <a:r>
                        <a:rPr lang="zh-CN" altLang="en-US"/>
                        <a:t>WebApp界面设计的基本工作流程</a:t>
                      </a:r>
                    </a:p>
                  </a:txBody>
                  <a:tcPr/>
                </a:tc>
                <a:extLst>
                  <a:ext uri="{0D108BD9-81ED-4DB2-BD59-A6C34878D82A}">
                    <a16:rowId xmlns:a16="http://schemas.microsoft.com/office/drawing/2014/main" val="10000"/>
                  </a:ext>
                </a:extLst>
              </a:tr>
              <a:tr h="0">
                <a:tc>
                  <a:txBody>
                    <a:bodyPr/>
                    <a:lstStyle/>
                    <a:p>
                      <a:pPr algn="l">
                        <a:buNone/>
                      </a:pPr>
                      <a:r>
                        <a:rPr lang="en-US" altLang="zh-CN"/>
                        <a:t>1</a:t>
                      </a:r>
                    </a:p>
                  </a:txBody>
                  <a:tcPr/>
                </a:tc>
                <a:tc>
                  <a:txBody>
                    <a:bodyPr/>
                    <a:lstStyle/>
                    <a:p>
                      <a:pPr algn="l">
                        <a:buNone/>
                      </a:pPr>
                      <a:r>
                        <a:rPr lang="zh-CN" altLang="en-US" dirty="0"/>
                        <a:t>开发WebApp界面布局的草图；</a:t>
                      </a:r>
                    </a:p>
                  </a:txBody>
                  <a:tcPr/>
                </a:tc>
                <a:extLst>
                  <a:ext uri="{0D108BD9-81ED-4DB2-BD59-A6C34878D82A}">
                    <a16:rowId xmlns:a16="http://schemas.microsoft.com/office/drawing/2014/main" val="10001"/>
                  </a:ext>
                </a:extLst>
              </a:tr>
              <a:tr h="0">
                <a:tc>
                  <a:txBody>
                    <a:bodyPr/>
                    <a:lstStyle/>
                    <a:p>
                      <a:pPr algn="l">
                        <a:buNone/>
                      </a:pPr>
                      <a:r>
                        <a:rPr lang="en-US" altLang="zh-CN"/>
                        <a:t>2</a:t>
                      </a:r>
                    </a:p>
                  </a:txBody>
                  <a:tcPr/>
                </a:tc>
                <a:tc>
                  <a:txBody>
                    <a:bodyPr/>
                    <a:lstStyle/>
                    <a:p>
                      <a:pPr algn="l">
                        <a:buNone/>
                      </a:pPr>
                      <a:r>
                        <a:rPr lang="zh-CN" altLang="en-US"/>
                        <a:t>将用户目标映射到特定的界面行为；</a:t>
                      </a:r>
                    </a:p>
                  </a:txBody>
                  <a:tcPr/>
                </a:tc>
                <a:extLst>
                  <a:ext uri="{0D108BD9-81ED-4DB2-BD59-A6C34878D82A}">
                    <a16:rowId xmlns:a16="http://schemas.microsoft.com/office/drawing/2014/main" val="10002"/>
                  </a:ext>
                </a:extLst>
              </a:tr>
              <a:tr h="0">
                <a:tc>
                  <a:txBody>
                    <a:bodyPr/>
                    <a:lstStyle/>
                    <a:p>
                      <a:pPr algn="l">
                        <a:buNone/>
                      </a:pPr>
                      <a:r>
                        <a:rPr lang="en-US" altLang="zh-CN"/>
                        <a:t>3</a:t>
                      </a:r>
                    </a:p>
                  </a:txBody>
                  <a:tcPr/>
                </a:tc>
                <a:tc>
                  <a:txBody>
                    <a:bodyPr/>
                    <a:lstStyle/>
                    <a:p>
                      <a:pPr algn="l">
                        <a:buNone/>
                      </a:pPr>
                      <a:r>
                        <a:rPr lang="zh-CN" altLang="en-US" dirty="0"/>
                        <a:t>定义与每一个行为相关的一组用户任务；</a:t>
                      </a:r>
                    </a:p>
                  </a:txBody>
                  <a:tcPr/>
                </a:tc>
                <a:extLst>
                  <a:ext uri="{0D108BD9-81ED-4DB2-BD59-A6C34878D82A}">
                    <a16:rowId xmlns:a16="http://schemas.microsoft.com/office/drawing/2014/main" val="10003"/>
                  </a:ext>
                </a:extLst>
              </a:tr>
              <a:tr h="0">
                <a:tc>
                  <a:txBody>
                    <a:bodyPr/>
                    <a:lstStyle/>
                    <a:p>
                      <a:pPr algn="l">
                        <a:buNone/>
                      </a:pPr>
                      <a:r>
                        <a:rPr lang="en-US" altLang="zh-CN"/>
                        <a:t>4</a:t>
                      </a:r>
                    </a:p>
                  </a:txBody>
                  <a:tcPr/>
                </a:tc>
                <a:tc>
                  <a:txBody>
                    <a:bodyPr/>
                    <a:lstStyle/>
                    <a:p>
                      <a:pPr algn="l">
                        <a:buNone/>
                      </a:pPr>
                      <a:r>
                        <a:rPr lang="zh-CN" altLang="en-US" dirty="0"/>
                        <a:t>为每一个界面行为设计情节故事板；</a:t>
                      </a:r>
                    </a:p>
                  </a:txBody>
                  <a:tcPr/>
                </a:tc>
                <a:extLst>
                  <a:ext uri="{0D108BD9-81ED-4DB2-BD59-A6C34878D82A}">
                    <a16:rowId xmlns:a16="http://schemas.microsoft.com/office/drawing/2014/main" val="10004"/>
                  </a:ext>
                </a:extLst>
              </a:tr>
              <a:tr h="365760">
                <a:tc>
                  <a:txBody>
                    <a:bodyPr/>
                    <a:lstStyle/>
                    <a:p>
                      <a:pPr algn="l">
                        <a:buNone/>
                      </a:pPr>
                      <a:r>
                        <a:rPr lang="en-US" altLang="zh-CN"/>
                        <a:t>5</a:t>
                      </a:r>
                    </a:p>
                  </a:txBody>
                  <a:tcPr/>
                </a:tc>
                <a:tc>
                  <a:txBody>
                    <a:bodyPr/>
                    <a:lstStyle/>
                    <a:p>
                      <a:pPr algn="l">
                        <a:buNone/>
                      </a:pPr>
                      <a:r>
                        <a:rPr lang="zh-CN" altLang="en-US" dirty="0"/>
                        <a:t>利用从美学设计中的输入来优化界面布局和情节故事板；</a:t>
                      </a:r>
                    </a:p>
                  </a:txBody>
                  <a:tcPr/>
                </a:tc>
                <a:extLst>
                  <a:ext uri="{0D108BD9-81ED-4DB2-BD59-A6C34878D82A}">
                    <a16:rowId xmlns:a16="http://schemas.microsoft.com/office/drawing/2014/main" val="10005"/>
                  </a:ext>
                </a:extLst>
              </a:tr>
              <a:tr h="0">
                <a:tc>
                  <a:txBody>
                    <a:bodyPr/>
                    <a:lstStyle/>
                    <a:p>
                      <a:pPr algn="l">
                        <a:buNone/>
                      </a:pPr>
                      <a:r>
                        <a:rPr lang="en-US" altLang="zh-CN"/>
                        <a:t>6</a:t>
                      </a:r>
                    </a:p>
                  </a:txBody>
                  <a:tcPr/>
                </a:tc>
                <a:tc>
                  <a:txBody>
                    <a:bodyPr/>
                    <a:lstStyle/>
                    <a:p>
                      <a:pPr algn="l">
                        <a:buNone/>
                      </a:pPr>
                      <a:r>
                        <a:rPr lang="zh-CN" altLang="en-US" dirty="0"/>
                        <a:t>明确实现界面功能的界面对象；</a:t>
                      </a:r>
                    </a:p>
                  </a:txBody>
                  <a:tcPr/>
                </a:tc>
                <a:extLst>
                  <a:ext uri="{0D108BD9-81ED-4DB2-BD59-A6C34878D82A}">
                    <a16:rowId xmlns:a16="http://schemas.microsoft.com/office/drawing/2014/main" val="10006"/>
                  </a:ext>
                </a:extLst>
              </a:tr>
              <a:tr h="365760">
                <a:tc>
                  <a:txBody>
                    <a:bodyPr/>
                    <a:lstStyle/>
                    <a:p>
                      <a:pPr algn="l">
                        <a:buNone/>
                      </a:pPr>
                      <a:r>
                        <a:rPr lang="en-US" altLang="zh-CN"/>
                        <a:t>7</a:t>
                      </a:r>
                    </a:p>
                  </a:txBody>
                  <a:tcPr/>
                </a:tc>
                <a:tc>
                  <a:txBody>
                    <a:bodyPr/>
                    <a:lstStyle/>
                    <a:p>
                      <a:pPr algn="l">
                        <a:buNone/>
                      </a:pPr>
                      <a:r>
                        <a:rPr lang="zh-CN" altLang="en-US" dirty="0"/>
                        <a:t>开发用户与界面交互的过程表示；</a:t>
                      </a:r>
                    </a:p>
                  </a:txBody>
                  <a:tcPr/>
                </a:tc>
                <a:extLst>
                  <a:ext uri="{0D108BD9-81ED-4DB2-BD59-A6C34878D82A}">
                    <a16:rowId xmlns:a16="http://schemas.microsoft.com/office/drawing/2014/main" val="10007"/>
                  </a:ext>
                </a:extLst>
              </a:tr>
              <a:tr h="0">
                <a:tc>
                  <a:txBody>
                    <a:bodyPr/>
                    <a:lstStyle/>
                    <a:p>
                      <a:pPr algn="l">
                        <a:buNone/>
                      </a:pPr>
                      <a:r>
                        <a:rPr lang="en-US" altLang="zh-CN"/>
                        <a:t>8</a:t>
                      </a:r>
                    </a:p>
                  </a:txBody>
                  <a:tcPr/>
                </a:tc>
                <a:tc>
                  <a:txBody>
                    <a:bodyPr/>
                    <a:lstStyle/>
                    <a:p>
                      <a:pPr algn="l">
                        <a:buNone/>
                      </a:pPr>
                      <a:r>
                        <a:rPr lang="zh-CN" altLang="en-US"/>
                        <a:t>开发界面的行为表示法；</a:t>
                      </a:r>
                    </a:p>
                  </a:txBody>
                  <a:tcPr/>
                </a:tc>
                <a:extLst>
                  <a:ext uri="{0D108BD9-81ED-4DB2-BD59-A6C34878D82A}">
                    <a16:rowId xmlns:a16="http://schemas.microsoft.com/office/drawing/2014/main" val="10008"/>
                  </a:ext>
                </a:extLst>
              </a:tr>
              <a:tr h="0">
                <a:tc>
                  <a:txBody>
                    <a:bodyPr/>
                    <a:lstStyle/>
                    <a:p>
                      <a:pPr algn="l">
                        <a:buNone/>
                      </a:pPr>
                      <a:r>
                        <a:rPr lang="en-US" altLang="zh-CN"/>
                        <a:t>9</a:t>
                      </a:r>
                    </a:p>
                  </a:txBody>
                  <a:tcPr/>
                </a:tc>
                <a:tc>
                  <a:txBody>
                    <a:bodyPr/>
                    <a:lstStyle/>
                    <a:p>
                      <a:pPr algn="l">
                        <a:buNone/>
                      </a:pPr>
                      <a:r>
                        <a:rPr lang="zh-CN" altLang="en-US"/>
                        <a:t>描述每一种状态的界面布局；</a:t>
                      </a:r>
                    </a:p>
                  </a:txBody>
                  <a:tcPr/>
                </a:tc>
                <a:extLst>
                  <a:ext uri="{0D108BD9-81ED-4DB2-BD59-A6C34878D82A}">
                    <a16:rowId xmlns:a16="http://schemas.microsoft.com/office/drawing/2014/main" val="10009"/>
                  </a:ext>
                </a:extLst>
              </a:tr>
              <a:tr h="0">
                <a:tc>
                  <a:txBody>
                    <a:bodyPr/>
                    <a:lstStyle/>
                    <a:p>
                      <a:pPr algn="l">
                        <a:buNone/>
                      </a:pPr>
                      <a:r>
                        <a:rPr lang="en-US" altLang="zh-CN"/>
                        <a:t>10</a:t>
                      </a:r>
                    </a:p>
                  </a:txBody>
                  <a:tcPr/>
                </a:tc>
                <a:tc>
                  <a:txBody>
                    <a:bodyPr/>
                    <a:lstStyle/>
                    <a:p>
                      <a:pPr algn="l">
                        <a:buNone/>
                      </a:pPr>
                      <a:r>
                        <a:rPr lang="zh-CN" altLang="en-US" dirty="0"/>
                        <a:t>优化和评审界面设计模型。</a:t>
                      </a:r>
                    </a:p>
                  </a:txBody>
                  <a:tcPr/>
                </a:tc>
                <a:extLst>
                  <a:ext uri="{0D108BD9-81ED-4DB2-BD59-A6C34878D82A}">
                    <a16:rowId xmlns:a16="http://schemas.microsoft.com/office/drawing/2014/main" val="10010"/>
                  </a:ext>
                </a:extLst>
              </a:tr>
            </a:tbl>
          </a:graphicData>
        </a:graphic>
      </p:graphicFrame>
    </p:spTree>
    <p:custDataLst>
      <p:tags r:id="rId1"/>
    </p:custDataLst>
  </p:cSld>
  <p:clrMapOvr>
    <a:masterClrMapping/>
  </p:clrMapOvr>
  <p:transition>
    <p:zoom dir="in"/>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pSp>
        <p:nvGrpSpPr>
          <p:cNvPr id="8" name="组合 7"/>
          <p:cNvGrpSpPr/>
          <p:nvPr/>
        </p:nvGrpSpPr>
        <p:grpSpPr>
          <a:xfrm>
            <a:off x="573274" y="1969616"/>
            <a:ext cx="11135995" cy="2614295"/>
            <a:chOff x="1630" y="5726"/>
            <a:chExt cx="17537" cy="4117"/>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1"/>
            <p:cNvSpPr txBox="1">
              <a:spLocks noChangeArrowheads="1"/>
            </p:cNvSpPr>
            <p:nvPr/>
          </p:nvSpPr>
          <p:spPr bwMode="auto">
            <a:xfrm>
              <a:off x="3370" y="5989"/>
              <a:ext cx="15797" cy="3854"/>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美学设计</a:t>
              </a:r>
            </a:p>
            <a:p>
              <a:pPr indent="457200" fontAlgn="auto">
                <a:lnSpc>
                  <a:spcPct val="120000"/>
                </a:lnSpc>
              </a:pPr>
              <a:r>
                <a:rPr lang="zh-CN" altLang="en-US" dirty="0">
                  <a:ea typeface="微软雅黑" panose="020B0503020204020204" charset="-122"/>
                </a:rPr>
                <a:t>美学设计也称为美术设计，它描述WebApp的“外观和感觉”，包括颜色配置、几何图案设计、文字大小、字体和位置、图形的使用及相关的美学决策。</a:t>
              </a:r>
            </a:p>
            <a:p>
              <a:pPr indent="457200" fontAlgn="auto">
                <a:lnSpc>
                  <a:spcPct val="120000"/>
                </a:lnSpc>
              </a:pPr>
              <a:r>
                <a:rPr lang="zh-CN" altLang="en-US" dirty="0">
                  <a:ea typeface="微软雅黑" panose="020B0503020204020204" charset="-122"/>
                </a:rPr>
                <a:t>美学设计需要考虑WebApp外观的每个方面。美学设计从布局开始，在设计过程中考虑全局颜色配置、字体、字号、风格、样式、超媒体（例如音频、视频、动画）的使用，以及应用系统的所有其他美学元素。布局要按照从左上到右下的顺序组织布局元素；按照页面区域组织导航、内容和功能；在设计布局时，要考虑解决方案和浏览器窗口的尺寸；不要通过滚动条扩展空间。</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2</a:t>
              </a:r>
            </a:p>
          </p:txBody>
        </p:sp>
      </p:grpSp>
      <p:grpSp>
        <p:nvGrpSpPr>
          <p:cNvPr id="13" name="组合 12"/>
          <p:cNvGrpSpPr/>
          <p:nvPr/>
        </p:nvGrpSpPr>
        <p:grpSpPr>
          <a:xfrm>
            <a:off x="597404" y="4491683"/>
            <a:ext cx="11111865" cy="1550035"/>
            <a:chOff x="1840" y="2871"/>
            <a:chExt cx="17499" cy="2441"/>
          </a:xfrm>
        </p:grpSpPr>
        <p:cxnSp>
          <p:nvCxnSpPr>
            <p:cNvPr id="14" name="MH_Other_4"/>
            <p:cNvCxnSpPr/>
            <p:nvPr/>
          </p:nvCxnSpPr>
          <p:spPr>
            <a:xfrm flipH="1">
              <a:off x="2680" y="3183"/>
              <a:ext cx="1545" cy="1450"/>
            </a:xfrm>
            <a:prstGeom prst="line">
              <a:avLst/>
            </a:prstGeom>
            <a:ln w="3810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5"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6" name="MH_SubTitle_2"/>
            <p:cNvSpPr txBox="1">
              <a:spLocks noChangeArrowheads="1"/>
            </p:cNvSpPr>
            <p:nvPr/>
          </p:nvSpPr>
          <p:spPr bwMode="auto">
            <a:xfrm>
              <a:off x="3417" y="3183"/>
              <a:ext cx="15922" cy="212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60000"/>
                      <a:lumOff val="40000"/>
                    </a:schemeClr>
                  </a:solidFill>
                  <a:ea typeface="微软雅黑" panose="020B0503020204020204" charset="-122"/>
                </a:rPr>
                <a:t>内容设计</a:t>
              </a:r>
            </a:p>
            <a:p>
              <a:pPr indent="457200" fontAlgn="auto">
                <a:lnSpc>
                  <a:spcPct val="120000"/>
                </a:lnSpc>
              </a:pPr>
              <a:r>
                <a:rPr lang="zh-CN" altLang="en-US" dirty="0">
                  <a:solidFill>
                    <a:schemeClr val="tx1"/>
                  </a:solidFill>
                  <a:ea typeface="微软雅黑" panose="020B0503020204020204" charset="-122"/>
                </a:rPr>
                <a:t>内容设计是针对作为WebApp组成部分的所有内容，定义其布局、结构和轮廓，建立内容对象之间的导航流程。每一个人都可以使用不同的技巧描述每个主题，内容设计为内容对象创建一种设计表示。</a:t>
              </a:r>
            </a:p>
          </p:txBody>
        </p:sp>
        <p:sp>
          <p:nvSpPr>
            <p:cNvPr id="17"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3600" b="1" dirty="0">
                  <a:solidFill>
                    <a:schemeClr val="accent6">
                      <a:lumMod val="60000"/>
                      <a:lumOff val="40000"/>
                    </a:schemeClr>
                  </a:solidFill>
                  <a:latin typeface="Times New Roman" panose="02020603050405020304" pitchFamily="18" charset="0"/>
                  <a:ea typeface="微软雅黑" panose="020B0503020204020204" charset="-122"/>
                </a:rPr>
                <a:t>3</a:t>
              </a:r>
            </a:p>
          </p:txBody>
        </p:sp>
      </p:grpSp>
    </p:spTree>
    <p:custDataLst>
      <p:tags r:id="rId1"/>
    </p:custDataLst>
  </p:cSld>
  <p:clrMapOvr>
    <a:masterClrMapping/>
  </p:clrMapOvr>
  <p:transition>
    <p:zoom dir="in"/>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pSp>
        <p:nvGrpSpPr>
          <p:cNvPr id="18" name="组合 17"/>
          <p:cNvGrpSpPr/>
          <p:nvPr/>
        </p:nvGrpSpPr>
        <p:grpSpPr>
          <a:xfrm>
            <a:off x="5545959" y="1116176"/>
            <a:ext cx="6153150" cy="1979930"/>
            <a:chOff x="1630" y="5726"/>
            <a:chExt cx="9690" cy="3118"/>
          </a:xfrm>
        </p:grpSpPr>
        <p:cxnSp>
          <p:nvCxnSpPr>
            <p:cNvPr id="19" name="MH_Other_1"/>
            <p:cNvCxnSpPr/>
            <p:nvPr/>
          </p:nvCxnSpPr>
          <p:spPr>
            <a:xfrm flipH="1">
              <a:off x="2470" y="6041"/>
              <a:ext cx="1545" cy="1450"/>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1" name="MH_SubTitle_1"/>
            <p:cNvSpPr txBox="1">
              <a:spLocks noChangeArrowheads="1"/>
            </p:cNvSpPr>
            <p:nvPr/>
          </p:nvSpPr>
          <p:spPr bwMode="auto">
            <a:xfrm>
              <a:off x="2795" y="6688"/>
              <a:ext cx="8525" cy="2156"/>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2">
                      <a:lumMod val="60000"/>
                      <a:lumOff val="40000"/>
                    </a:schemeClr>
                  </a:solidFill>
                </a:rPr>
                <a:t>体系结构设计</a:t>
              </a:r>
            </a:p>
            <a:p>
              <a:pPr indent="457200" fontAlgn="auto">
                <a:lnSpc>
                  <a:spcPct val="120000"/>
                </a:lnSpc>
              </a:pPr>
              <a:r>
                <a:rPr lang="zh-CN" altLang="en-US" dirty="0">
                  <a:ea typeface="微软雅黑" panose="020B0503020204020204" charset="-122"/>
                </a:rPr>
                <a:t>体系结构设计是确定WebApp的所有超媒体的结构。体系结构设计必须确定内容体系结构和WebApp体系结构，具体在第8.6.5节介绍。</a:t>
              </a:r>
            </a:p>
          </p:txBody>
        </p:sp>
        <p:sp>
          <p:nvSpPr>
            <p:cNvPr id="2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2">
                      <a:lumMod val="60000"/>
                      <a:lumOff val="40000"/>
                    </a:schemeClr>
                  </a:solidFill>
                  <a:latin typeface="Times New Roman" panose="02020603050405020304" pitchFamily="18" charset="0"/>
                  <a:ea typeface="微软雅黑" panose="020B0503020204020204" charset="-122"/>
                </a:rPr>
                <a:t>4</a:t>
              </a:r>
            </a:p>
          </p:txBody>
        </p:sp>
      </p:grpSp>
      <p:grpSp>
        <p:nvGrpSpPr>
          <p:cNvPr id="23" name="组合 22"/>
          <p:cNvGrpSpPr/>
          <p:nvPr/>
        </p:nvGrpSpPr>
        <p:grpSpPr>
          <a:xfrm>
            <a:off x="629789" y="2325063"/>
            <a:ext cx="11069320" cy="2583815"/>
            <a:chOff x="1840" y="2871"/>
            <a:chExt cx="17432" cy="4069"/>
          </a:xfrm>
        </p:grpSpPr>
        <p:cxnSp>
          <p:nvCxnSpPr>
            <p:cNvPr id="24" name="MH_Other_4"/>
            <p:cNvCxnSpPr/>
            <p:nvPr/>
          </p:nvCxnSpPr>
          <p:spPr>
            <a:xfrm flipH="1">
              <a:off x="2680" y="3183"/>
              <a:ext cx="1545" cy="14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25"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6" name="MH_SubTitle_2"/>
            <p:cNvSpPr txBox="1">
              <a:spLocks noChangeArrowheads="1"/>
            </p:cNvSpPr>
            <p:nvPr/>
          </p:nvSpPr>
          <p:spPr bwMode="auto">
            <a:xfrm>
              <a:off x="3035" y="3518"/>
              <a:ext cx="16237" cy="342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92D050"/>
                  </a:solidFill>
                  <a:ea typeface="微软雅黑" panose="020B0503020204020204" charset="-122"/>
                </a:rPr>
                <a:t>构件设计</a:t>
              </a:r>
            </a:p>
            <a:p>
              <a:pPr indent="457200" fontAlgn="auto">
                <a:lnSpc>
                  <a:spcPct val="120000"/>
                </a:lnSpc>
              </a:pPr>
              <a:r>
                <a:rPr lang="zh-CN" altLang="en-US" dirty="0">
                  <a:solidFill>
                    <a:schemeClr val="tx1"/>
                  </a:solidFill>
                  <a:ea typeface="微软雅黑" panose="020B0503020204020204" charset="-122"/>
                </a:rPr>
                <a:t>构件设计是描述开发实现功能构件所需要的详细处理逻辑。现代Web应用系统提供了更加成熟的处理能力，这些功能可以：执行本地化的处理，从而动态地产生内容和导航能力；提供适于WebApp业务领域的计算或数据处理；提供高级的数据查询和访问；建立与外部系统的数据接口。为了实现这些功能，Web工程师必须设计和创建程序构件，这些构件在形式上与传统软件构件相同。</a:t>
              </a:r>
            </a:p>
          </p:txBody>
        </p:sp>
        <p:sp>
          <p:nvSpPr>
            <p:cNvPr id="27"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58B933"/>
                  </a:solidFill>
                  <a:latin typeface="Times New Roman" panose="02020603050405020304" pitchFamily="18" charset="0"/>
                  <a:ea typeface="微软雅黑" panose="020B0503020204020204" charset="-122"/>
                </a:rPr>
                <a:t>5</a:t>
              </a:r>
            </a:p>
          </p:txBody>
        </p:sp>
      </p:grpSp>
      <p:grpSp>
        <p:nvGrpSpPr>
          <p:cNvPr id="8" name="组合 7"/>
          <p:cNvGrpSpPr/>
          <p:nvPr/>
        </p:nvGrpSpPr>
        <p:grpSpPr>
          <a:xfrm>
            <a:off x="634869" y="4710758"/>
            <a:ext cx="10912475" cy="1456690"/>
            <a:chOff x="1840" y="2871"/>
            <a:chExt cx="17185" cy="2294"/>
          </a:xfrm>
        </p:grpSpPr>
        <p:cxnSp>
          <p:nvCxnSpPr>
            <p:cNvPr id="9" name="MH_Other_4"/>
            <p:cNvCxnSpPr/>
            <p:nvPr/>
          </p:nvCxnSpPr>
          <p:spPr>
            <a:xfrm flipH="1">
              <a:off x="2680" y="3183"/>
              <a:ext cx="1545" cy="145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455" y="3183"/>
              <a:ext cx="15570" cy="198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C00000"/>
                  </a:solidFill>
                  <a:ea typeface="微软雅黑" panose="020B0503020204020204" charset="-122"/>
                </a:rPr>
                <a:t>导航设计</a:t>
              </a:r>
            </a:p>
            <a:p>
              <a:pPr indent="457200" fontAlgn="auto">
                <a:lnSpc>
                  <a:spcPct val="120000"/>
                </a:lnSpc>
              </a:pPr>
              <a:r>
                <a:rPr lang="zh-CN" altLang="en-US" dirty="0">
                  <a:solidFill>
                    <a:schemeClr val="tx1"/>
                  </a:solidFill>
                  <a:ea typeface="微软雅黑" panose="020B0503020204020204" charset="-122"/>
                </a:rPr>
                <a:t>一旦建立了WebApp的体系结构及确定了体系结构的构件（页面、脚本、Applet和其他处理功能），设计人员应定义导航路径，使得用户可以访问WebApp的内容和功能，具体在第8.6.6节介绍。</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C00000"/>
                  </a:solidFill>
                  <a:latin typeface="Times New Roman" panose="02020603050405020304" pitchFamily="18" charset="0"/>
                  <a:ea typeface="微软雅黑" panose="020B0503020204020204" charset="-122"/>
                </a:rPr>
                <a:t>6</a:t>
              </a:r>
            </a:p>
          </p:txBody>
        </p:sp>
      </p:grpSp>
    </p:spTree>
    <p:custDataLst>
      <p:tags r:id="rId1"/>
    </p:custDataLst>
  </p:cSld>
  <p:clrMapOvr>
    <a:masterClrMapping/>
  </p:clrMapOvr>
  <p:transition>
    <p:zoom dir="in"/>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6" name="矩形 5"/>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09320" y="2875280"/>
            <a:ext cx="5968365" cy="1706686"/>
          </a:xfrm>
          <a:prstGeom prst="rect">
            <a:avLst/>
          </a:prstGeom>
        </p:spPr>
        <p:txBody>
          <a:bodyPr wrap="square">
            <a:spAutoFit/>
          </a:bodyPr>
          <a:lstStyle/>
          <a:p>
            <a:pPr indent="457200">
              <a:lnSpc>
                <a:spcPct val="150000"/>
              </a:lnSpc>
              <a:defRPr/>
            </a:pPr>
            <a:r>
              <a:rPr lang="en-US" altLang="zh-CN" dirty="0"/>
              <a:t>WebApp</a:t>
            </a:r>
            <a:r>
              <a:rPr lang="zh-CN" altLang="zh-CN" dirty="0"/>
              <a:t>内容体系结构着重于内容对象的表现和导航的组织方式，以及对</a:t>
            </a:r>
            <a:r>
              <a:rPr lang="en-US" altLang="zh-CN" dirty="0"/>
              <a:t>WebApp</a:t>
            </a:r>
            <a:r>
              <a:rPr lang="zh-CN" altLang="zh-CN" dirty="0"/>
              <a:t>的所有超媒体结构进行定义。通常有</a:t>
            </a:r>
            <a:r>
              <a:rPr lang="en-US" altLang="zh-CN" dirty="0"/>
              <a:t>4</a:t>
            </a:r>
            <a:r>
              <a:rPr lang="zh-CN" altLang="zh-CN" dirty="0"/>
              <a:t>种不同的内容结构：线性结构、网格结构、分层结构、网络结构。</a:t>
            </a:r>
            <a:endParaRPr lang="en-US" altLang="zh-CN" dirty="0"/>
          </a:p>
        </p:txBody>
      </p:sp>
      <p:sp>
        <p:nvSpPr>
          <p:cNvPr id="8"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8.6.5 </a:t>
            </a:r>
            <a:r>
              <a:rPr sz="2400" dirty="0">
                <a:solidFill>
                  <a:schemeClr val="tx1"/>
                </a:solidFill>
              </a:rPr>
              <a:t>WebApp体系结构设计</a:t>
            </a:r>
          </a:p>
        </p:txBody>
      </p:sp>
      <p:pic>
        <p:nvPicPr>
          <p:cNvPr id="9" name="图片 8" descr="A000220150824A10PPIC.png"/>
          <p:cNvPicPr>
            <a:picLocks noChangeAspect="1"/>
          </p:cNvPicPr>
          <p:nvPr/>
        </p:nvPicPr>
        <p:blipFill>
          <a:blip r:embed="rId2" cstate="print"/>
          <a:stretch>
            <a:fillRect/>
          </a:stretch>
        </p:blipFill>
        <p:spPr>
          <a:xfrm>
            <a:off x="7578457" y="1895475"/>
            <a:ext cx="3915049" cy="3985520"/>
          </a:xfrm>
          <a:prstGeom prst="rect">
            <a:avLst/>
          </a:prstGeom>
        </p:spPr>
      </p:pic>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8.6.5 </a:t>
            </a:r>
            <a:r>
              <a:rPr sz="2400" dirty="0">
                <a:solidFill>
                  <a:schemeClr val="tx1"/>
                </a:solidFill>
              </a:rPr>
              <a:t>WebApp体系结构设计</a:t>
            </a:r>
          </a:p>
        </p:txBody>
      </p:sp>
      <p:grpSp>
        <p:nvGrpSpPr>
          <p:cNvPr id="6" name="组合 5"/>
          <p:cNvGrpSpPr/>
          <p:nvPr/>
        </p:nvGrpSpPr>
        <p:grpSpPr>
          <a:xfrm>
            <a:off x="0" y="2029460"/>
            <a:ext cx="11609705" cy="4198620"/>
            <a:chOff x="0" y="3196"/>
            <a:chExt cx="18283" cy="6612"/>
          </a:xfrm>
        </p:grpSpPr>
        <p:grpSp>
          <p:nvGrpSpPr>
            <p:cNvPr id="7" name="组合 6"/>
            <p:cNvGrpSpPr/>
            <p:nvPr/>
          </p:nvGrpSpPr>
          <p:grpSpPr>
            <a:xfrm>
              <a:off x="0" y="3196"/>
              <a:ext cx="8467" cy="1530"/>
              <a:chOff x="1" y="2565401"/>
              <a:chExt cx="5376660" cy="971723"/>
            </a:xfrm>
          </p:grpSpPr>
          <p:sp>
            <p:nvSpPr>
              <p:cNvPr id="8" name="MH_SubTitle_1"/>
              <p:cNvSpPr/>
              <p:nvPr>
                <p:custDataLst>
                  <p:tags r:id="rId3"/>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线性结构</a:t>
                </a:r>
              </a:p>
            </p:txBody>
          </p:sp>
          <p:sp>
            <p:nvSpPr>
              <p:cNvPr id="9"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405" y="3647"/>
              <a:ext cx="8878" cy="616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线性结构如图8-13所示，它是按照预先定义的内容展示的顺序，在有必要的前提条件下，信息页连同相关的图片、视频、音频才随之出现。当内容的展示顺序是预先定义的时，通常是线性的。</a:t>
              </a:r>
            </a:p>
          </p:txBody>
        </p:sp>
      </p:grpSp>
      <p:pic>
        <p:nvPicPr>
          <p:cNvPr id="3" name="图片 240" descr="8-13"/>
          <p:cNvPicPr>
            <a:picLocks noChangeAspect="1"/>
          </p:cNvPicPr>
          <p:nvPr/>
        </p:nvPicPr>
        <p:blipFill>
          <a:blip r:embed="rId8" cstate="print"/>
          <a:stretch>
            <a:fillRect/>
          </a:stretch>
        </p:blipFill>
        <p:spPr>
          <a:xfrm>
            <a:off x="2364105" y="3001010"/>
            <a:ext cx="744220" cy="3328670"/>
          </a:xfrm>
          <a:prstGeom prst="rect">
            <a:avLst/>
          </a:prstGeom>
          <a:noFill/>
          <a:ln w="9525">
            <a:noFill/>
          </a:ln>
        </p:spPr>
      </p:pic>
    </p:spTree>
    <p:custDataLst>
      <p:tags r:id="rId1"/>
    </p:custDataLst>
  </p:cSld>
  <p:clrMapOvr>
    <a:masterClrMapping/>
  </p:clrMapOvr>
  <p:transition>
    <p:zoom dir="in"/>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8.6.5 </a:t>
            </a:r>
            <a:r>
              <a:rPr sz="2400" dirty="0">
                <a:solidFill>
                  <a:schemeClr val="tx1"/>
                </a:solidFill>
              </a:rPr>
              <a:t>WebApp体系结构设计</a:t>
            </a:r>
          </a:p>
        </p:txBody>
      </p:sp>
      <p:grpSp>
        <p:nvGrpSpPr>
          <p:cNvPr id="6" name="组合 5"/>
          <p:cNvGrpSpPr/>
          <p:nvPr/>
        </p:nvGrpSpPr>
        <p:grpSpPr>
          <a:xfrm>
            <a:off x="0" y="2029460"/>
            <a:ext cx="11609705" cy="4198620"/>
            <a:chOff x="0" y="3196"/>
            <a:chExt cx="18283" cy="6612"/>
          </a:xfrm>
        </p:grpSpPr>
        <p:grpSp>
          <p:nvGrpSpPr>
            <p:cNvPr id="7" name="组合 6"/>
            <p:cNvGrpSpPr/>
            <p:nvPr/>
          </p:nvGrpSpPr>
          <p:grpSpPr>
            <a:xfrm>
              <a:off x="0" y="3196"/>
              <a:ext cx="8467" cy="1530"/>
              <a:chOff x="1" y="2565401"/>
              <a:chExt cx="5376660" cy="971723"/>
            </a:xfrm>
          </p:grpSpPr>
          <p:sp>
            <p:nvSpPr>
              <p:cNvPr id="8" name="MH_SubTitle_1"/>
              <p:cNvSpPr/>
              <p:nvPr>
                <p:custDataLst>
                  <p:tags r:id="rId3"/>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网格结构</a:t>
                </a:r>
              </a:p>
            </p:txBody>
          </p:sp>
          <p:sp>
            <p:nvSpPr>
              <p:cNvPr id="9"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212" y="3647"/>
              <a:ext cx="9071" cy="616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网格结构是将WebApp的内容按类别组织成二维结构（或更多维），其水平和垂直方向代表不同类的内容，如图8-14所示。例如一个班级不同学科的成绩单，网格的水平方向代表不同的学科，垂直方向代表不同的人。因此，可以沿着网格的水平方向找到所在的行（即学科），然后在垂直方向上找到不同的人。</a:t>
              </a:r>
            </a:p>
          </p:txBody>
        </p:sp>
      </p:grpSp>
      <p:pic>
        <p:nvPicPr>
          <p:cNvPr id="3" name="图片 -2147482347" descr="8-14"/>
          <p:cNvPicPr>
            <a:picLocks noChangeAspect="1"/>
          </p:cNvPicPr>
          <p:nvPr/>
        </p:nvPicPr>
        <p:blipFill>
          <a:blip r:embed="rId8" cstate="print"/>
          <a:stretch>
            <a:fillRect/>
          </a:stretch>
        </p:blipFill>
        <p:spPr>
          <a:xfrm>
            <a:off x="1360805" y="3001010"/>
            <a:ext cx="3240405" cy="3227070"/>
          </a:xfrm>
          <a:prstGeom prst="rect">
            <a:avLst/>
          </a:prstGeom>
          <a:noFill/>
          <a:ln w="9525">
            <a:noFill/>
          </a:ln>
        </p:spPr>
      </p:pic>
    </p:spTree>
    <p:custDataLst>
      <p:tags r:id="rId1"/>
    </p:custDataLst>
  </p:cSld>
  <p:clrMapOvr>
    <a:masterClrMapping/>
  </p:clrMapOvr>
  <p:transition>
    <p:zoom dir="in"/>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8.6.5 </a:t>
            </a:r>
            <a:r>
              <a:rPr sz="2400" dirty="0">
                <a:solidFill>
                  <a:schemeClr val="tx1"/>
                </a:solidFill>
              </a:rPr>
              <a:t>WebApp体系结构设计</a:t>
            </a:r>
          </a:p>
        </p:txBody>
      </p:sp>
      <p:grpSp>
        <p:nvGrpSpPr>
          <p:cNvPr id="6" name="组合 5"/>
          <p:cNvGrpSpPr/>
          <p:nvPr/>
        </p:nvGrpSpPr>
        <p:grpSpPr>
          <a:xfrm>
            <a:off x="0" y="2029460"/>
            <a:ext cx="11609705" cy="4198620"/>
            <a:chOff x="0" y="3196"/>
            <a:chExt cx="18283" cy="6612"/>
          </a:xfrm>
        </p:grpSpPr>
        <p:grpSp>
          <p:nvGrpSpPr>
            <p:cNvPr id="7" name="组合 6"/>
            <p:cNvGrpSpPr/>
            <p:nvPr/>
          </p:nvGrpSpPr>
          <p:grpSpPr>
            <a:xfrm>
              <a:off x="0" y="3196"/>
              <a:ext cx="8467" cy="1530"/>
              <a:chOff x="1" y="2565401"/>
              <a:chExt cx="5376660" cy="971723"/>
            </a:xfrm>
          </p:grpSpPr>
          <p:sp>
            <p:nvSpPr>
              <p:cNvPr id="8" name="MH_SubTitle_1"/>
              <p:cNvSpPr/>
              <p:nvPr>
                <p:custDataLst>
                  <p:tags r:id="rId3"/>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分层结构</a:t>
                </a:r>
              </a:p>
            </p:txBody>
          </p:sp>
          <p:sp>
            <p:nvSpPr>
              <p:cNvPr id="9"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766" y="3647"/>
              <a:ext cx="8517" cy="616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分层结构是最常见的WebApp内容体系结构，如图8-15所示。WebApp的层次结构可以设计成使控制流水平地穿过垂直分支的方式，这样在分层结构中最左边展示的内容通过超文本链接与中间或者右边分支的内容相连。</a:t>
              </a:r>
            </a:p>
          </p:txBody>
        </p:sp>
      </p:grpSp>
      <p:pic>
        <p:nvPicPr>
          <p:cNvPr id="3" name="图片 242" descr="8-15"/>
          <p:cNvPicPr>
            <a:picLocks noChangeAspect="1"/>
          </p:cNvPicPr>
          <p:nvPr/>
        </p:nvPicPr>
        <p:blipFill>
          <a:blip r:embed="rId8" cstate="print"/>
          <a:stretch>
            <a:fillRect/>
          </a:stretch>
        </p:blipFill>
        <p:spPr>
          <a:xfrm>
            <a:off x="728345" y="3134995"/>
            <a:ext cx="4648200" cy="2986405"/>
          </a:xfrm>
          <a:prstGeom prst="rect">
            <a:avLst/>
          </a:prstGeom>
          <a:noFill/>
          <a:ln w="9525">
            <a:noFill/>
          </a:ln>
        </p:spPr>
      </p:pic>
    </p:spTree>
    <p:custDataLst>
      <p:tags r:id="rId1"/>
    </p:custDataLst>
  </p:cSld>
  <p:clrMapOvr>
    <a:masterClrMapping/>
  </p:clrMapOvr>
  <p:transition>
    <p:zoom dir="in"/>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8.6.5 </a:t>
            </a:r>
            <a:r>
              <a:rPr sz="2400" dirty="0">
                <a:solidFill>
                  <a:schemeClr val="tx1"/>
                </a:solidFill>
              </a:rPr>
              <a:t>WebApp体系结构设计</a:t>
            </a:r>
          </a:p>
        </p:txBody>
      </p:sp>
      <p:grpSp>
        <p:nvGrpSpPr>
          <p:cNvPr id="6" name="组合 5"/>
          <p:cNvGrpSpPr/>
          <p:nvPr/>
        </p:nvGrpSpPr>
        <p:grpSpPr>
          <a:xfrm>
            <a:off x="0" y="2029460"/>
            <a:ext cx="11609705" cy="4198620"/>
            <a:chOff x="0" y="3196"/>
            <a:chExt cx="18283" cy="6612"/>
          </a:xfrm>
        </p:grpSpPr>
        <p:grpSp>
          <p:nvGrpSpPr>
            <p:cNvPr id="7" name="组合 6"/>
            <p:cNvGrpSpPr/>
            <p:nvPr/>
          </p:nvGrpSpPr>
          <p:grpSpPr>
            <a:xfrm>
              <a:off x="0" y="3196"/>
              <a:ext cx="8467" cy="1530"/>
              <a:chOff x="1" y="2565401"/>
              <a:chExt cx="5376660" cy="971723"/>
            </a:xfrm>
          </p:grpSpPr>
          <p:sp>
            <p:nvSpPr>
              <p:cNvPr id="8" name="MH_SubTitle_1"/>
              <p:cNvSpPr/>
              <p:nvPr>
                <p:custDataLst>
                  <p:tags r:id="rId3"/>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网络结构</a:t>
                </a:r>
              </a:p>
            </p:txBody>
          </p:sp>
          <p:sp>
            <p:nvSpPr>
              <p:cNvPr id="9"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04</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959" y="3647"/>
              <a:ext cx="8324" cy="616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网络结构在形状上成网状形，如图8-16所示，它通过对结构构件（此处为网页）进行设计，使得这些构件（通过超文本链接）能够将控制传递到系统的几乎每一个其他构件。</a:t>
              </a:r>
            </a:p>
            <a:p>
              <a:pPr indent="457200">
                <a:lnSpc>
                  <a:spcPct val="120000"/>
                </a:lnSpc>
              </a:pPr>
              <a:r>
                <a:rPr dirty="0">
                  <a:solidFill>
                    <a:schemeClr val="accent5">
                      <a:lumMod val="50000"/>
                    </a:schemeClr>
                  </a:solidFill>
                  <a:latin typeface="微软雅黑" panose="020B0503020204020204" charset="-122"/>
                  <a:ea typeface="微软雅黑" panose="020B0503020204020204" charset="-122"/>
                </a:rPr>
                <a:t>在进行内容体系结构设计时，可以将以上4种结构方式进行组合，形成复合结构。</a:t>
              </a:r>
            </a:p>
          </p:txBody>
        </p:sp>
      </p:grpSp>
      <p:pic>
        <p:nvPicPr>
          <p:cNvPr id="3" name="图片 243" descr="8-16"/>
          <p:cNvPicPr>
            <a:picLocks noChangeAspect="1"/>
          </p:cNvPicPr>
          <p:nvPr/>
        </p:nvPicPr>
        <p:blipFill>
          <a:blip r:embed="rId8" cstate="print"/>
          <a:stretch>
            <a:fillRect/>
          </a:stretch>
        </p:blipFill>
        <p:spPr>
          <a:xfrm>
            <a:off x="1373505" y="3001010"/>
            <a:ext cx="3154680" cy="3349625"/>
          </a:xfrm>
          <a:prstGeom prst="rect">
            <a:avLst/>
          </a:prstGeom>
          <a:noFill/>
          <a:ln w="9525">
            <a:noFill/>
          </a:ln>
        </p:spPr>
      </p:pic>
    </p:spTree>
    <p:custDataLst>
      <p:tags r:id="rId1"/>
    </p:custDataLst>
  </p:cSld>
  <p:clrMapOvr>
    <a:masterClrMapping/>
  </p:clrMapOvr>
  <p:transition>
    <p:zoom dir="in"/>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8.6.5 </a:t>
            </a:r>
            <a:r>
              <a:rPr sz="2400" dirty="0">
                <a:solidFill>
                  <a:schemeClr val="tx1"/>
                </a:solidFill>
              </a:rPr>
              <a:t>WebApp体系结构设计</a:t>
            </a:r>
          </a:p>
        </p:txBody>
      </p:sp>
      <p:grpSp>
        <p:nvGrpSpPr>
          <p:cNvPr id="4" name="组合 3"/>
          <p:cNvGrpSpPr/>
          <p:nvPr/>
        </p:nvGrpSpPr>
        <p:grpSpPr>
          <a:xfrm>
            <a:off x="2101757" y="1942476"/>
            <a:ext cx="8256894" cy="4349142"/>
            <a:chOff x="2266241" y="1830388"/>
            <a:chExt cx="7775928" cy="4198982"/>
          </a:xfrm>
        </p:grpSpPr>
        <p:sp>
          <p:nvSpPr>
            <p:cNvPr id="5" name="MH_Other_1"/>
            <p:cNvSpPr/>
            <p:nvPr/>
          </p:nvSpPr>
          <p:spPr>
            <a:xfrm>
              <a:off x="2510442" y="1830388"/>
              <a:ext cx="5173059" cy="3192462"/>
            </a:xfrm>
            <a:custGeom>
              <a:avLst/>
              <a:gdLst>
                <a:gd name="connsiteX0" fmla="*/ 0 w 3718560"/>
                <a:gd name="connsiteY0" fmla="*/ 0 h 3518262"/>
                <a:gd name="connsiteX1" fmla="*/ 0 w 3718560"/>
                <a:gd name="connsiteY1" fmla="*/ 3509554 h 3518262"/>
                <a:gd name="connsiteX2" fmla="*/ 3718560 w 3718560"/>
                <a:gd name="connsiteY2" fmla="*/ 3518262 h 3518262"/>
                <a:gd name="connsiteX3" fmla="*/ 3718560 w 3718560"/>
                <a:gd name="connsiteY3" fmla="*/ 3518262 h 3518262"/>
              </a:gdLst>
              <a:ahLst/>
              <a:cxnLst>
                <a:cxn ang="0">
                  <a:pos x="connsiteX0" y="connsiteY0"/>
                </a:cxn>
                <a:cxn ang="0">
                  <a:pos x="connsiteX1" y="connsiteY1"/>
                </a:cxn>
                <a:cxn ang="0">
                  <a:pos x="connsiteX2" y="connsiteY2"/>
                </a:cxn>
                <a:cxn ang="0">
                  <a:pos x="connsiteX3" y="connsiteY3"/>
                </a:cxn>
              </a:cxnLst>
              <a:rect l="l" t="t" r="r" b="b"/>
              <a:pathLst>
                <a:path w="3718560" h="3518262">
                  <a:moveTo>
                    <a:pt x="0" y="0"/>
                  </a:moveTo>
                  <a:lnTo>
                    <a:pt x="0" y="3509554"/>
                  </a:lnTo>
                  <a:lnTo>
                    <a:pt x="3718560" y="3518262"/>
                  </a:lnTo>
                  <a:lnTo>
                    <a:pt x="3718560" y="3518262"/>
                  </a:lnTo>
                </a:path>
              </a:pathLst>
            </a:custGeom>
            <a:noFill/>
            <a:ln w="76200" cap="flat" cmpd="sng" algn="ctr">
              <a:solidFill>
                <a:srgbClr val="D10000"/>
              </a:solidFill>
              <a:prstDash val="solid"/>
              <a:miter lim="800000"/>
            </a:ln>
            <a:effectLst/>
          </p:spPr>
          <p:txBody>
            <a:bodyPr anchor="ctr"/>
            <a:lstStyle/>
            <a:p>
              <a:pPr algn="ctr" eaLnBrk="1" fontAlgn="auto" hangingPunct="1">
                <a:spcBef>
                  <a:spcPts val="0"/>
                </a:spcBef>
                <a:spcAft>
                  <a:spcPts val="0"/>
                </a:spcAft>
                <a:defRPr/>
              </a:pPr>
              <a:endParaRPr lang="zh-CN" altLang="en-US" kern="0" dirty="0">
                <a:solidFill>
                  <a:srgbClr val="FFFFFF"/>
                </a:solidFill>
                <a:latin typeface="Arial" panose="020B0604020202020204"/>
                <a:ea typeface="微软雅黑 Light" panose="020B0502040204020203" pitchFamily="34" charset="-122"/>
              </a:endParaRPr>
            </a:p>
          </p:txBody>
        </p:sp>
        <p:sp>
          <p:nvSpPr>
            <p:cNvPr id="3" name="MH_Desc_1"/>
            <p:cNvSpPr/>
            <p:nvPr/>
          </p:nvSpPr>
          <p:spPr>
            <a:xfrm>
              <a:off x="2266241" y="2117667"/>
              <a:ext cx="7013928" cy="3911703"/>
            </a:xfrm>
            <a:custGeom>
              <a:avLst/>
              <a:gdLst>
                <a:gd name="connsiteX0" fmla="*/ 5320937 w 5320937"/>
                <a:gd name="connsiteY0" fmla="*/ 1837508 h 4188823"/>
                <a:gd name="connsiteX1" fmla="*/ 5320937 w 5320937"/>
                <a:gd name="connsiteY1" fmla="*/ 0 h 4188823"/>
                <a:gd name="connsiteX2" fmla="*/ 0 w 5320937"/>
                <a:gd name="connsiteY2" fmla="*/ 0 h 4188823"/>
                <a:gd name="connsiteX3" fmla="*/ 0 w 5320937"/>
                <a:gd name="connsiteY3" fmla="*/ 3405051 h 4188823"/>
                <a:gd name="connsiteX4" fmla="*/ 2717075 w 5320937"/>
                <a:gd name="connsiteY4" fmla="*/ 3405051 h 4188823"/>
                <a:gd name="connsiteX5" fmla="*/ 3500847 w 5320937"/>
                <a:gd name="connsiteY5" fmla="*/ 4188823 h 4188823"/>
                <a:gd name="connsiteX6" fmla="*/ 3518263 w 5320937"/>
                <a:gd name="connsiteY6" fmla="*/ 4188823 h 4188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0937" h="4188823">
                  <a:moveTo>
                    <a:pt x="5320937" y="1837508"/>
                  </a:moveTo>
                  <a:lnTo>
                    <a:pt x="5320937" y="0"/>
                  </a:lnTo>
                  <a:lnTo>
                    <a:pt x="0" y="0"/>
                  </a:lnTo>
                  <a:lnTo>
                    <a:pt x="0" y="3405051"/>
                  </a:lnTo>
                  <a:lnTo>
                    <a:pt x="2717075" y="3405051"/>
                  </a:lnTo>
                  <a:lnTo>
                    <a:pt x="3500847" y="4188823"/>
                  </a:lnTo>
                  <a:lnTo>
                    <a:pt x="3518263" y="4188823"/>
                  </a:lnTo>
                </a:path>
              </a:pathLst>
            </a:custGeom>
            <a:noFill/>
            <a:ln w="76200" cap="flat" cmpd="sng" algn="ctr">
              <a:solidFill>
                <a:srgbClr val="D10000"/>
              </a:solidFill>
              <a:prstDash val="solid"/>
              <a:miter lim="800000"/>
            </a:ln>
            <a:effectLst/>
          </p:spPr>
          <p:txBody>
            <a:bodyPr lIns="612000" tIns="216000" rIns="324000" bIns="1584000">
              <a:noAutofit/>
            </a:bodyPr>
            <a:lstStyle/>
            <a:p>
              <a:pPr>
                <a:lnSpc>
                  <a:spcPct val="140000"/>
                </a:lnSpc>
              </a:pPr>
              <a:r>
                <a:rPr lang="en-US" sz="2000" dirty="0">
                  <a:latin typeface="+mn-ea"/>
                </a:rPr>
                <a:t>    </a:t>
              </a:r>
              <a:r>
                <a:rPr sz="2000" b="1" dirty="0">
                  <a:solidFill>
                    <a:srgbClr val="FF0000"/>
                  </a:solidFill>
                  <a:latin typeface="+mn-ea"/>
                </a:rPr>
                <a:t>WebApp体系结构</a:t>
              </a:r>
              <a:r>
                <a:rPr sz="2000" dirty="0">
                  <a:latin typeface="+mn-ea"/>
                </a:rPr>
                <a:t>描述系统以什么样的组织方式来管理用户交互、实现导航及展示内容，它描述了使基于Web的系统或应用达到业务目标的基础结构。本书在第8.5节介绍了一些设计模式，目前很多人采用三层设计结构，设计模式以模型－视图－控制器（MVC）结构方式的非常多。</a:t>
              </a:r>
            </a:p>
          </p:txBody>
        </p:sp>
        <p:sp>
          <p:nvSpPr>
            <p:cNvPr id="10" name="MH_Other_2"/>
            <p:cNvSpPr/>
            <p:nvPr/>
          </p:nvSpPr>
          <p:spPr bwMode="auto">
            <a:xfrm>
              <a:off x="7136136" y="3671934"/>
              <a:ext cx="2906033" cy="2332343"/>
            </a:xfrm>
            <a:custGeom>
              <a:avLst/>
              <a:gdLst>
                <a:gd name="T0" fmla="*/ 311438 w 1909763"/>
                <a:gd name="T1" fmla="*/ 1234671 h 1912938"/>
                <a:gd name="T2" fmla="*/ 423998 w 1909763"/>
                <a:gd name="T3" fmla="*/ 1256142 h 1912938"/>
                <a:gd name="T4" fmla="*/ 469528 w 1909763"/>
                <a:gd name="T5" fmla="*/ 1335710 h 1912938"/>
                <a:gd name="T6" fmla="*/ 530235 w 1909763"/>
                <a:gd name="T7" fmla="*/ 1396649 h 1912938"/>
                <a:gd name="T8" fmla="*/ 631728 w 1909763"/>
                <a:gd name="T9" fmla="*/ 1456326 h 1912938"/>
                <a:gd name="T10" fmla="*/ 647854 w 1909763"/>
                <a:gd name="T11" fmla="*/ 1533683 h 1912938"/>
                <a:gd name="T12" fmla="*/ 0 w 1909763"/>
                <a:gd name="T13" fmla="*/ 1905000 h 1912938"/>
                <a:gd name="T14" fmla="*/ 990076 w 1909763"/>
                <a:gd name="T15" fmla="*/ 547002 h 1912938"/>
                <a:gd name="T16" fmla="*/ 1084268 w 1909763"/>
                <a:gd name="T17" fmla="*/ 595709 h 1912938"/>
                <a:gd name="T18" fmla="*/ 1176565 w 1909763"/>
                <a:gd name="T19" fmla="*/ 667504 h 1912938"/>
                <a:gd name="T20" fmla="*/ 1294781 w 1909763"/>
                <a:gd name="T21" fmla="*/ 800657 h 1912938"/>
                <a:gd name="T22" fmla="*/ 1351992 w 1909763"/>
                <a:gd name="T23" fmla="*/ 906610 h 1912938"/>
                <a:gd name="T24" fmla="*/ 1367480 w 1909763"/>
                <a:gd name="T25" fmla="*/ 971447 h 1912938"/>
                <a:gd name="T26" fmla="*/ 741633 w 1909763"/>
                <a:gd name="T27" fmla="*/ 1521772 h 1912938"/>
                <a:gd name="T28" fmla="*/ 719507 w 1909763"/>
                <a:gd name="T29" fmla="*/ 1441437 h 1912938"/>
                <a:gd name="T30" fmla="*/ 689163 w 1909763"/>
                <a:gd name="T31" fmla="*/ 1362684 h 1912938"/>
                <a:gd name="T32" fmla="*/ 605717 w 1909763"/>
                <a:gd name="T33" fmla="*/ 1309233 h 1912938"/>
                <a:gd name="T34" fmla="*/ 554511 w 1909763"/>
                <a:gd name="T35" fmla="*/ 1257047 h 1912938"/>
                <a:gd name="T36" fmla="*/ 495403 w 1909763"/>
                <a:gd name="T37" fmla="*/ 1173233 h 1912938"/>
                <a:gd name="T38" fmla="*/ 414485 w 1909763"/>
                <a:gd name="T39" fmla="*/ 1167223 h 1912938"/>
                <a:gd name="T40" fmla="*/ 334200 w 1909763"/>
                <a:gd name="T41" fmla="*/ 1137810 h 1912938"/>
                <a:gd name="T42" fmla="*/ 1102115 w 1909763"/>
                <a:gd name="T43" fmla="*/ 389221 h 1912938"/>
                <a:gd name="T44" fmla="*/ 1182317 w 1909763"/>
                <a:gd name="T45" fmla="*/ 412935 h 1912938"/>
                <a:gd name="T46" fmla="*/ 1278052 w 1909763"/>
                <a:gd name="T47" fmla="*/ 467951 h 1912938"/>
                <a:gd name="T48" fmla="*/ 1390271 w 1909763"/>
                <a:gd name="T49" fmla="*/ 569762 h 1912938"/>
                <a:gd name="T50" fmla="*/ 1465401 w 1909763"/>
                <a:gd name="T51" fmla="*/ 674102 h 1912938"/>
                <a:gd name="T52" fmla="*/ 1496150 w 1909763"/>
                <a:gd name="T53" fmla="*/ 753148 h 1912938"/>
                <a:gd name="T54" fmla="*/ 1438773 w 1909763"/>
                <a:gd name="T55" fmla="*/ 874245 h 1912938"/>
                <a:gd name="T56" fmla="*/ 1394075 w 1909763"/>
                <a:gd name="T57" fmla="*/ 754728 h 1912938"/>
                <a:gd name="T58" fmla="*/ 1286611 w 1909763"/>
                <a:gd name="T59" fmla="*/ 617822 h 1912938"/>
                <a:gd name="T60" fmla="*/ 1182317 w 1909763"/>
                <a:gd name="T61" fmla="*/ 530239 h 1912938"/>
                <a:gd name="T62" fmla="*/ 1095458 w 1909763"/>
                <a:gd name="T63" fmla="*/ 479966 h 1912938"/>
                <a:gd name="T64" fmla="*/ 1079925 w 1909763"/>
                <a:gd name="T65" fmla="*/ 387324 h 1912938"/>
                <a:gd name="T66" fmla="*/ 1274840 w 1909763"/>
                <a:gd name="T67" fmla="*/ 248813 h 1912938"/>
                <a:gd name="T68" fmla="*/ 1361157 w 1909763"/>
                <a:gd name="T69" fmla="*/ 287000 h 1912938"/>
                <a:gd name="T70" fmla="*/ 1471820 w 1909763"/>
                <a:gd name="T71" fmla="*/ 367792 h 1912938"/>
                <a:gd name="T72" fmla="*/ 1577108 w 1909763"/>
                <a:gd name="T73" fmla="*/ 484246 h 1912938"/>
                <a:gd name="T74" fmla="*/ 1629910 w 1909763"/>
                <a:gd name="T75" fmla="*/ 580818 h 1912938"/>
                <a:gd name="T76" fmla="*/ 1646668 w 1909763"/>
                <a:gd name="T77" fmla="*/ 647723 h 1912938"/>
                <a:gd name="T78" fmla="*/ 1571733 w 1909763"/>
                <a:gd name="T79" fmla="*/ 701374 h 1912938"/>
                <a:gd name="T80" fmla="*/ 1500908 w 1909763"/>
                <a:gd name="T81" fmla="*/ 566932 h 1912938"/>
                <a:gd name="T82" fmla="*/ 1381077 w 1909763"/>
                <a:gd name="T83" fmla="*/ 437539 h 1912938"/>
                <a:gd name="T84" fmla="*/ 1277685 w 1909763"/>
                <a:gd name="T85" fmla="*/ 362111 h 1912938"/>
                <a:gd name="T86" fmla="*/ 1174610 w 1909763"/>
                <a:gd name="T87" fmla="*/ 313195 h 1912938"/>
                <a:gd name="T88" fmla="*/ 1571880 w 1909763"/>
                <a:gd name="T89" fmla="*/ 0 h 1912938"/>
                <a:gd name="T90" fmla="*/ 1674374 w 1909763"/>
                <a:gd name="T91" fmla="*/ 27868 h 1912938"/>
                <a:gd name="T92" fmla="*/ 1797116 w 1909763"/>
                <a:gd name="T93" fmla="*/ 110838 h 1912938"/>
                <a:gd name="T94" fmla="*/ 1880946 w 1909763"/>
                <a:gd name="T95" fmla="*/ 216927 h 1912938"/>
                <a:gd name="T96" fmla="*/ 1901825 w 1909763"/>
                <a:gd name="T97" fmla="*/ 315415 h 1912938"/>
                <a:gd name="T98" fmla="*/ 1879681 w 1909763"/>
                <a:gd name="T99" fmla="*/ 399018 h 1912938"/>
                <a:gd name="T100" fmla="*/ 1834128 w 1909763"/>
                <a:gd name="T101" fmla="*/ 461405 h 1912938"/>
                <a:gd name="T102" fmla="*/ 1716764 w 1909763"/>
                <a:gd name="T103" fmla="*/ 551026 h 1912938"/>
                <a:gd name="T104" fmla="*/ 1686079 w 1909763"/>
                <a:gd name="T105" fmla="*/ 466156 h 1912938"/>
                <a:gd name="T106" fmla="*/ 1635148 w 1909763"/>
                <a:gd name="T107" fmla="*/ 386034 h 1912938"/>
                <a:gd name="T108" fmla="*/ 1552899 w 1909763"/>
                <a:gd name="T109" fmla="*/ 297997 h 1912938"/>
                <a:gd name="T110" fmla="*/ 1465272 w 1909763"/>
                <a:gd name="T111" fmla="*/ 231811 h 1912938"/>
                <a:gd name="T112" fmla="*/ 1387135 w 1909763"/>
                <a:gd name="T113" fmla="*/ 193176 h 1912938"/>
                <a:gd name="T114" fmla="*/ 1324816 w 1909763"/>
                <a:gd name="T115" fmla="*/ 138389 h 1912938"/>
                <a:gd name="T116" fmla="*/ 1449455 w 1909763"/>
                <a:gd name="T117" fmla="*/ 33885 h 1912938"/>
                <a:gd name="T118" fmla="*/ 1518102 w 1909763"/>
                <a:gd name="T119" fmla="*/ 4750 h 191293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909763" h="1912938">
                  <a:moveTo>
                    <a:pt x="275590" y="1223963"/>
                  </a:moveTo>
                  <a:lnTo>
                    <a:pt x="276860" y="1225231"/>
                  </a:lnTo>
                  <a:lnTo>
                    <a:pt x="281623" y="1228085"/>
                  </a:lnTo>
                  <a:lnTo>
                    <a:pt x="285433" y="1229987"/>
                  </a:lnTo>
                  <a:lnTo>
                    <a:pt x="290513" y="1232207"/>
                  </a:lnTo>
                  <a:lnTo>
                    <a:pt x="296545" y="1235060"/>
                  </a:lnTo>
                  <a:lnTo>
                    <a:pt x="304165" y="1237280"/>
                  </a:lnTo>
                  <a:lnTo>
                    <a:pt x="312738" y="1239816"/>
                  </a:lnTo>
                  <a:lnTo>
                    <a:pt x="323215" y="1242036"/>
                  </a:lnTo>
                  <a:lnTo>
                    <a:pt x="335280" y="1244255"/>
                  </a:lnTo>
                  <a:lnTo>
                    <a:pt x="348933" y="1246157"/>
                  </a:lnTo>
                  <a:lnTo>
                    <a:pt x="364173" y="1248060"/>
                  </a:lnTo>
                  <a:lnTo>
                    <a:pt x="381318" y="1249328"/>
                  </a:lnTo>
                  <a:lnTo>
                    <a:pt x="400368" y="1249962"/>
                  </a:lnTo>
                  <a:lnTo>
                    <a:pt x="421958" y="1250279"/>
                  </a:lnTo>
                  <a:lnTo>
                    <a:pt x="425768" y="1261376"/>
                  </a:lnTo>
                  <a:lnTo>
                    <a:pt x="430213" y="1272474"/>
                  </a:lnTo>
                  <a:lnTo>
                    <a:pt x="434658" y="1282937"/>
                  </a:lnTo>
                  <a:lnTo>
                    <a:pt x="440055" y="1293083"/>
                  </a:lnTo>
                  <a:lnTo>
                    <a:pt x="445453" y="1303229"/>
                  </a:lnTo>
                  <a:lnTo>
                    <a:pt x="451485" y="1313375"/>
                  </a:lnTo>
                  <a:lnTo>
                    <a:pt x="457835" y="1322886"/>
                  </a:lnTo>
                  <a:lnTo>
                    <a:pt x="464185" y="1332081"/>
                  </a:lnTo>
                  <a:lnTo>
                    <a:pt x="471488" y="1341276"/>
                  </a:lnTo>
                  <a:lnTo>
                    <a:pt x="478473" y="1349837"/>
                  </a:lnTo>
                  <a:lnTo>
                    <a:pt x="485775" y="1358080"/>
                  </a:lnTo>
                  <a:lnTo>
                    <a:pt x="493395" y="1366324"/>
                  </a:lnTo>
                  <a:lnTo>
                    <a:pt x="500698" y="1374250"/>
                  </a:lnTo>
                  <a:lnTo>
                    <a:pt x="508635" y="1381860"/>
                  </a:lnTo>
                  <a:lnTo>
                    <a:pt x="516573" y="1388835"/>
                  </a:lnTo>
                  <a:lnTo>
                    <a:pt x="524510" y="1395493"/>
                  </a:lnTo>
                  <a:lnTo>
                    <a:pt x="532448" y="1402469"/>
                  </a:lnTo>
                  <a:lnTo>
                    <a:pt x="540385" y="1408810"/>
                  </a:lnTo>
                  <a:lnTo>
                    <a:pt x="555943" y="1420541"/>
                  </a:lnTo>
                  <a:lnTo>
                    <a:pt x="571500" y="1430687"/>
                  </a:lnTo>
                  <a:lnTo>
                    <a:pt x="586105" y="1439565"/>
                  </a:lnTo>
                  <a:lnTo>
                    <a:pt x="600075" y="1447492"/>
                  </a:lnTo>
                  <a:lnTo>
                    <a:pt x="612775" y="1453833"/>
                  </a:lnTo>
                  <a:lnTo>
                    <a:pt x="624523" y="1458589"/>
                  </a:lnTo>
                  <a:lnTo>
                    <a:pt x="634365" y="1462394"/>
                  </a:lnTo>
                  <a:lnTo>
                    <a:pt x="634365" y="1467784"/>
                  </a:lnTo>
                  <a:lnTo>
                    <a:pt x="634683" y="1473808"/>
                  </a:lnTo>
                  <a:lnTo>
                    <a:pt x="635318" y="1479832"/>
                  </a:lnTo>
                  <a:lnTo>
                    <a:pt x="636270" y="1486173"/>
                  </a:lnTo>
                  <a:lnTo>
                    <a:pt x="638810" y="1499173"/>
                  </a:lnTo>
                  <a:lnTo>
                    <a:pt x="641668" y="1512489"/>
                  </a:lnTo>
                  <a:lnTo>
                    <a:pt x="645795" y="1526440"/>
                  </a:lnTo>
                  <a:lnTo>
                    <a:pt x="650558" y="1540074"/>
                  </a:lnTo>
                  <a:lnTo>
                    <a:pt x="655321" y="1553707"/>
                  </a:lnTo>
                  <a:lnTo>
                    <a:pt x="660083" y="1566707"/>
                  </a:lnTo>
                  <a:lnTo>
                    <a:pt x="665481" y="1579389"/>
                  </a:lnTo>
                  <a:lnTo>
                    <a:pt x="670243" y="1590803"/>
                  </a:lnTo>
                  <a:lnTo>
                    <a:pt x="679133" y="1610144"/>
                  </a:lnTo>
                  <a:lnTo>
                    <a:pt x="685165" y="1623144"/>
                  </a:lnTo>
                  <a:lnTo>
                    <a:pt x="687388" y="1627900"/>
                  </a:lnTo>
                  <a:lnTo>
                    <a:pt x="0" y="1912938"/>
                  </a:lnTo>
                  <a:lnTo>
                    <a:pt x="275590" y="1223963"/>
                  </a:lnTo>
                  <a:close/>
                  <a:moveTo>
                    <a:pt x="923427" y="530225"/>
                  </a:moveTo>
                  <a:lnTo>
                    <a:pt x="931362" y="531813"/>
                  </a:lnTo>
                  <a:lnTo>
                    <a:pt x="941201" y="533401"/>
                  </a:lnTo>
                  <a:lnTo>
                    <a:pt x="951993" y="536259"/>
                  </a:lnTo>
                  <a:lnTo>
                    <a:pt x="965007" y="539435"/>
                  </a:lnTo>
                  <a:lnTo>
                    <a:pt x="978972" y="544199"/>
                  </a:lnTo>
                  <a:lnTo>
                    <a:pt x="994208" y="549281"/>
                  </a:lnTo>
                  <a:lnTo>
                    <a:pt x="1010713" y="555950"/>
                  </a:lnTo>
                  <a:lnTo>
                    <a:pt x="1028805" y="564526"/>
                  </a:lnTo>
                  <a:lnTo>
                    <a:pt x="1038327" y="568972"/>
                  </a:lnTo>
                  <a:lnTo>
                    <a:pt x="1047849" y="574053"/>
                  </a:lnTo>
                  <a:lnTo>
                    <a:pt x="1057689" y="579453"/>
                  </a:lnTo>
                  <a:lnTo>
                    <a:pt x="1067845" y="585487"/>
                  </a:lnTo>
                  <a:lnTo>
                    <a:pt x="1078320" y="591521"/>
                  </a:lnTo>
                  <a:lnTo>
                    <a:pt x="1088794" y="598191"/>
                  </a:lnTo>
                  <a:lnTo>
                    <a:pt x="1099903" y="605495"/>
                  </a:lnTo>
                  <a:lnTo>
                    <a:pt x="1111012" y="613118"/>
                  </a:lnTo>
                  <a:lnTo>
                    <a:pt x="1122439" y="621058"/>
                  </a:lnTo>
                  <a:lnTo>
                    <a:pt x="1133548" y="630268"/>
                  </a:lnTo>
                  <a:lnTo>
                    <a:pt x="1145609" y="639161"/>
                  </a:lnTo>
                  <a:lnTo>
                    <a:pt x="1157353" y="649006"/>
                  </a:lnTo>
                  <a:lnTo>
                    <a:pt x="1169415" y="659487"/>
                  </a:lnTo>
                  <a:lnTo>
                    <a:pt x="1181476" y="670285"/>
                  </a:lnTo>
                  <a:lnTo>
                    <a:pt x="1193855" y="681719"/>
                  </a:lnTo>
                  <a:lnTo>
                    <a:pt x="1206234" y="693787"/>
                  </a:lnTo>
                  <a:lnTo>
                    <a:pt x="1224326" y="712208"/>
                  </a:lnTo>
                  <a:lnTo>
                    <a:pt x="1241148" y="730311"/>
                  </a:lnTo>
                  <a:lnTo>
                    <a:pt x="1257336" y="748731"/>
                  </a:lnTo>
                  <a:lnTo>
                    <a:pt x="1272888" y="767152"/>
                  </a:lnTo>
                  <a:lnTo>
                    <a:pt x="1287172" y="785573"/>
                  </a:lnTo>
                  <a:lnTo>
                    <a:pt x="1300185" y="803993"/>
                  </a:lnTo>
                  <a:lnTo>
                    <a:pt x="1312246" y="822096"/>
                  </a:lnTo>
                  <a:lnTo>
                    <a:pt x="1323356" y="840199"/>
                  </a:lnTo>
                  <a:lnTo>
                    <a:pt x="1333513" y="857984"/>
                  </a:lnTo>
                  <a:lnTo>
                    <a:pt x="1343035" y="875770"/>
                  </a:lnTo>
                  <a:lnTo>
                    <a:pt x="1346843" y="884345"/>
                  </a:lnTo>
                  <a:lnTo>
                    <a:pt x="1350970" y="892920"/>
                  </a:lnTo>
                  <a:lnTo>
                    <a:pt x="1354461" y="901813"/>
                  </a:lnTo>
                  <a:lnTo>
                    <a:pt x="1357635" y="910388"/>
                  </a:lnTo>
                  <a:lnTo>
                    <a:pt x="1360809" y="918963"/>
                  </a:lnTo>
                  <a:lnTo>
                    <a:pt x="1363349" y="927220"/>
                  </a:lnTo>
                  <a:lnTo>
                    <a:pt x="1365570" y="935478"/>
                  </a:lnTo>
                  <a:lnTo>
                    <a:pt x="1367792" y="943735"/>
                  </a:lnTo>
                  <a:lnTo>
                    <a:pt x="1369697" y="951675"/>
                  </a:lnTo>
                  <a:lnTo>
                    <a:pt x="1370966" y="959933"/>
                  </a:lnTo>
                  <a:lnTo>
                    <a:pt x="1372236" y="967873"/>
                  </a:lnTo>
                  <a:lnTo>
                    <a:pt x="1373188" y="975495"/>
                  </a:lnTo>
                  <a:lnTo>
                    <a:pt x="774247" y="1579563"/>
                  </a:lnTo>
                  <a:lnTo>
                    <a:pt x="771708" y="1576387"/>
                  </a:lnTo>
                  <a:lnTo>
                    <a:pt x="768851" y="1572258"/>
                  </a:lnTo>
                  <a:lnTo>
                    <a:pt x="765042" y="1566542"/>
                  </a:lnTo>
                  <a:lnTo>
                    <a:pt x="760281" y="1559237"/>
                  </a:lnTo>
                  <a:lnTo>
                    <a:pt x="755520" y="1550344"/>
                  </a:lnTo>
                  <a:lnTo>
                    <a:pt x="749807" y="1540181"/>
                  </a:lnTo>
                  <a:lnTo>
                    <a:pt x="744728" y="1528113"/>
                  </a:lnTo>
                  <a:lnTo>
                    <a:pt x="739333" y="1515091"/>
                  </a:lnTo>
                  <a:lnTo>
                    <a:pt x="734254" y="1500164"/>
                  </a:lnTo>
                  <a:lnTo>
                    <a:pt x="731715" y="1492224"/>
                  </a:lnTo>
                  <a:lnTo>
                    <a:pt x="729493" y="1483967"/>
                  </a:lnTo>
                  <a:lnTo>
                    <a:pt x="727271" y="1475392"/>
                  </a:lnTo>
                  <a:lnTo>
                    <a:pt x="725367" y="1466181"/>
                  </a:lnTo>
                  <a:lnTo>
                    <a:pt x="724097" y="1457289"/>
                  </a:lnTo>
                  <a:lnTo>
                    <a:pt x="722510" y="1447443"/>
                  </a:lnTo>
                  <a:lnTo>
                    <a:pt x="721241" y="1437280"/>
                  </a:lnTo>
                  <a:lnTo>
                    <a:pt x="720288" y="1427117"/>
                  </a:lnTo>
                  <a:lnTo>
                    <a:pt x="719336" y="1416319"/>
                  </a:lnTo>
                  <a:lnTo>
                    <a:pt x="719336" y="1405203"/>
                  </a:lnTo>
                  <a:lnTo>
                    <a:pt x="719336" y="1394087"/>
                  </a:lnTo>
                  <a:lnTo>
                    <a:pt x="719971" y="1382018"/>
                  </a:lnTo>
                  <a:lnTo>
                    <a:pt x="705688" y="1375349"/>
                  </a:lnTo>
                  <a:lnTo>
                    <a:pt x="692039" y="1368362"/>
                  </a:lnTo>
                  <a:lnTo>
                    <a:pt x="679343" y="1361692"/>
                  </a:lnTo>
                  <a:lnTo>
                    <a:pt x="667282" y="1355023"/>
                  </a:lnTo>
                  <a:lnTo>
                    <a:pt x="655855" y="1348035"/>
                  </a:lnTo>
                  <a:lnTo>
                    <a:pt x="645381" y="1341366"/>
                  </a:lnTo>
                  <a:lnTo>
                    <a:pt x="635224" y="1334696"/>
                  </a:lnTo>
                  <a:lnTo>
                    <a:pt x="625385" y="1327709"/>
                  </a:lnTo>
                  <a:lnTo>
                    <a:pt x="616497" y="1321357"/>
                  </a:lnTo>
                  <a:lnTo>
                    <a:pt x="608245" y="1314688"/>
                  </a:lnTo>
                  <a:lnTo>
                    <a:pt x="599992" y="1308018"/>
                  </a:lnTo>
                  <a:lnTo>
                    <a:pt x="592692" y="1301349"/>
                  </a:lnTo>
                  <a:lnTo>
                    <a:pt x="585709" y="1294679"/>
                  </a:lnTo>
                  <a:lnTo>
                    <a:pt x="579361" y="1288327"/>
                  </a:lnTo>
                  <a:lnTo>
                    <a:pt x="573013" y="1281975"/>
                  </a:lnTo>
                  <a:lnTo>
                    <a:pt x="567300" y="1275306"/>
                  </a:lnTo>
                  <a:lnTo>
                    <a:pt x="561904" y="1268636"/>
                  </a:lnTo>
                  <a:lnTo>
                    <a:pt x="556825" y="1262285"/>
                  </a:lnTo>
                  <a:lnTo>
                    <a:pt x="552064" y="1255933"/>
                  </a:lnTo>
                  <a:lnTo>
                    <a:pt x="547621" y="1249898"/>
                  </a:lnTo>
                  <a:lnTo>
                    <a:pt x="539686" y="1237194"/>
                  </a:lnTo>
                  <a:lnTo>
                    <a:pt x="532703" y="1224808"/>
                  </a:lnTo>
                  <a:lnTo>
                    <a:pt x="526355" y="1212739"/>
                  </a:lnTo>
                  <a:lnTo>
                    <a:pt x="520641" y="1200988"/>
                  </a:lnTo>
                  <a:lnTo>
                    <a:pt x="509850" y="1177804"/>
                  </a:lnTo>
                  <a:lnTo>
                    <a:pt x="497471" y="1178122"/>
                  </a:lnTo>
                  <a:lnTo>
                    <a:pt x="485727" y="1178122"/>
                  </a:lnTo>
                  <a:lnTo>
                    <a:pt x="474300" y="1178122"/>
                  </a:lnTo>
                  <a:lnTo>
                    <a:pt x="463509" y="1177804"/>
                  </a:lnTo>
                  <a:lnTo>
                    <a:pt x="453352" y="1177169"/>
                  </a:lnTo>
                  <a:lnTo>
                    <a:pt x="443512" y="1175898"/>
                  </a:lnTo>
                  <a:lnTo>
                    <a:pt x="433673" y="1174628"/>
                  </a:lnTo>
                  <a:lnTo>
                    <a:pt x="424785" y="1173675"/>
                  </a:lnTo>
                  <a:lnTo>
                    <a:pt x="416215" y="1172087"/>
                  </a:lnTo>
                  <a:lnTo>
                    <a:pt x="408280" y="1170182"/>
                  </a:lnTo>
                  <a:lnTo>
                    <a:pt x="393045" y="1167006"/>
                  </a:lnTo>
                  <a:lnTo>
                    <a:pt x="379714" y="1162877"/>
                  </a:lnTo>
                  <a:lnTo>
                    <a:pt x="367653" y="1158431"/>
                  </a:lnTo>
                  <a:lnTo>
                    <a:pt x="357496" y="1153984"/>
                  </a:lnTo>
                  <a:lnTo>
                    <a:pt x="348926" y="1149855"/>
                  </a:lnTo>
                  <a:lnTo>
                    <a:pt x="341308" y="1146044"/>
                  </a:lnTo>
                  <a:lnTo>
                    <a:pt x="335595" y="1142551"/>
                  </a:lnTo>
                  <a:lnTo>
                    <a:pt x="331151" y="1139375"/>
                  </a:lnTo>
                  <a:lnTo>
                    <a:pt x="327660" y="1137152"/>
                  </a:lnTo>
                  <a:lnTo>
                    <a:pt x="325438" y="1134928"/>
                  </a:lnTo>
                  <a:lnTo>
                    <a:pt x="923427" y="530225"/>
                  </a:lnTo>
                  <a:close/>
                  <a:moveTo>
                    <a:pt x="1084432" y="388938"/>
                  </a:moveTo>
                  <a:lnTo>
                    <a:pt x="1089844" y="389573"/>
                  </a:lnTo>
                  <a:lnTo>
                    <a:pt x="1097165" y="389891"/>
                  </a:lnTo>
                  <a:lnTo>
                    <a:pt x="1106715" y="390843"/>
                  </a:lnTo>
                  <a:lnTo>
                    <a:pt x="1118175" y="392748"/>
                  </a:lnTo>
                  <a:lnTo>
                    <a:pt x="1132499" y="396241"/>
                  </a:lnTo>
                  <a:lnTo>
                    <a:pt x="1140458" y="398146"/>
                  </a:lnTo>
                  <a:lnTo>
                    <a:pt x="1148734" y="400686"/>
                  </a:lnTo>
                  <a:lnTo>
                    <a:pt x="1157329" y="403226"/>
                  </a:lnTo>
                  <a:lnTo>
                    <a:pt x="1166879" y="406718"/>
                  </a:lnTo>
                  <a:lnTo>
                    <a:pt x="1176747" y="410528"/>
                  </a:lnTo>
                  <a:lnTo>
                    <a:pt x="1187252" y="414656"/>
                  </a:lnTo>
                  <a:lnTo>
                    <a:pt x="1197756" y="419418"/>
                  </a:lnTo>
                  <a:lnTo>
                    <a:pt x="1208579" y="424816"/>
                  </a:lnTo>
                  <a:lnTo>
                    <a:pt x="1220358" y="430848"/>
                  </a:lnTo>
                  <a:lnTo>
                    <a:pt x="1232136" y="437198"/>
                  </a:lnTo>
                  <a:lnTo>
                    <a:pt x="1244550" y="444183"/>
                  </a:lnTo>
                  <a:lnTo>
                    <a:pt x="1256965" y="452121"/>
                  </a:lnTo>
                  <a:lnTo>
                    <a:pt x="1270017" y="460376"/>
                  </a:lnTo>
                  <a:lnTo>
                    <a:pt x="1283386" y="469901"/>
                  </a:lnTo>
                  <a:lnTo>
                    <a:pt x="1296438" y="480061"/>
                  </a:lnTo>
                  <a:lnTo>
                    <a:pt x="1310444" y="490856"/>
                  </a:lnTo>
                  <a:lnTo>
                    <a:pt x="1324450" y="502286"/>
                  </a:lnTo>
                  <a:lnTo>
                    <a:pt x="1338775" y="514986"/>
                  </a:lnTo>
                  <a:lnTo>
                    <a:pt x="1353100" y="528003"/>
                  </a:lnTo>
                  <a:lnTo>
                    <a:pt x="1367743" y="542291"/>
                  </a:lnTo>
                  <a:lnTo>
                    <a:pt x="1382386" y="557531"/>
                  </a:lnTo>
                  <a:lnTo>
                    <a:pt x="1396074" y="572136"/>
                  </a:lnTo>
                  <a:lnTo>
                    <a:pt x="1408489" y="586423"/>
                  </a:lnTo>
                  <a:lnTo>
                    <a:pt x="1420267" y="600393"/>
                  </a:lnTo>
                  <a:lnTo>
                    <a:pt x="1430772" y="613728"/>
                  </a:lnTo>
                  <a:lnTo>
                    <a:pt x="1440640" y="627381"/>
                  </a:lnTo>
                  <a:lnTo>
                    <a:pt x="1449235" y="640081"/>
                  </a:lnTo>
                  <a:lnTo>
                    <a:pt x="1457511" y="653098"/>
                  </a:lnTo>
                  <a:lnTo>
                    <a:pt x="1464833" y="665163"/>
                  </a:lnTo>
                  <a:lnTo>
                    <a:pt x="1471517" y="676911"/>
                  </a:lnTo>
                  <a:lnTo>
                    <a:pt x="1477566" y="688341"/>
                  </a:lnTo>
                  <a:lnTo>
                    <a:pt x="1482341" y="699136"/>
                  </a:lnTo>
                  <a:lnTo>
                    <a:pt x="1487434" y="709613"/>
                  </a:lnTo>
                  <a:lnTo>
                    <a:pt x="1490935" y="720408"/>
                  </a:lnTo>
                  <a:lnTo>
                    <a:pt x="1494755" y="729616"/>
                  </a:lnTo>
                  <a:lnTo>
                    <a:pt x="1497939" y="739141"/>
                  </a:lnTo>
                  <a:lnTo>
                    <a:pt x="1500167" y="747713"/>
                  </a:lnTo>
                  <a:lnTo>
                    <a:pt x="1502395" y="756286"/>
                  </a:lnTo>
                  <a:lnTo>
                    <a:pt x="1503987" y="763906"/>
                  </a:lnTo>
                  <a:lnTo>
                    <a:pt x="1505260" y="771526"/>
                  </a:lnTo>
                  <a:lnTo>
                    <a:pt x="1507170" y="784543"/>
                  </a:lnTo>
                  <a:lnTo>
                    <a:pt x="1508125" y="795338"/>
                  </a:lnTo>
                  <a:lnTo>
                    <a:pt x="1508125" y="804228"/>
                  </a:lnTo>
                  <a:lnTo>
                    <a:pt x="1507807" y="810261"/>
                  </a:lnTo>
                  <a:lnTo>
                    <a:pt x="1506852" y="815341"/>
                  </a:lnTo>
                  <a:lnTo>
                    <a:pt x="1444778" y="877888"/>
                  </a:lnTo>
                  <a:lnTo>
                    <a:pt x="1442550" y="864553"/>
                  </a:lnTo>
                  <a:lnTo>
                    <a:pt x="1439048" y="851218"/>
                  </a:lnTo>
                  <a:lnTo>
                    <a:pt x="1435228" y="836296"/>
                  </a:lnTo>
                  <a:lnTo>
                    <a:pt x="1430135" y="821691"/>
                  </a:lnTo>
                  <a:lnTo>
                    <a:pt x="1424087" y="806451"/>
                  </a:lnTo>
                  <a:lnTo>
                    <a:pt x="1416765" y="790576"/>
                  </a:lnTo>
                  <a:lnTo>
                    <a:pt x="1408807" y="774383"/>
                  </a:lnTo>
                  <a:lnTo>
                    <a:pt x="1399894" y="757873"/>
                  </a:lnTo>
                  <a:lnTo>
                    <a:pt x="1390026" y="741363"/>
                  </a:lnTo>
                  <a:lnTo>
                    <a:pt x="1378884" y="724536"/>
                  </a:lnTo>
                  <a:lnTo>
                    <a:pt x="1367106" y="707073"/>
                  </a:lnTo>
                  <a:lnTo>
                    <a:pt x="1353737" y="689928"/>
                  </a:lnTo>
                  <a:lnTo>
                    <a:pt x="1340048" y="672466"/>
                  </a:lnTo>
                  <a:lnTo>
                    <a:pt x="1325087" y="655003"/>
                  </a:lnTo>
                  <a:lnTo>
                    <a:pt x="1308852" y="637541"/>
                  </a:lnTo>
                  <a:lnTo>
                    <a:pt x="1291981" y="620396"/>
                  </a:lnTo>
                  <a:lnTo>
                    <a:pt x="1278611" y="607061"/>
                  </a:lnTo>
                  <a:lnTo>
                    <a:pt x="1264923" y="594361"/>
                  </a:lnTo>
                  <a:lnTo>
                    <a:pt x="1251235" y="582296"/>
                  </a:lnTo>
                  <a:lnTo>
                    <a:pt x="1238184" y="570866"/>
                  </a:lnTo>
                  <a:lnTo>
                    <a:pt x="1224814" y="560388"/>
                  </a:lnTo>
                  <a:lnTo>
                    <a:pt x="1212081" y="550228"/>
                  </a:lnTo>
                  <a:lnTo>
                    <a:pt x="1199348" y="541021"/>
                  </a:lnTo>
                  <a:lnTo>
                    <a:pt x="1187252" y="532448"/>
                  </a:lnTo>
                  <a:lnTo>
                    <a:pt x="1175155" y="524511"/>
                  </a:lnTo>
                  <a:lnTo>
                    <a:pt x="1163059" y="516573"/>
                  </a:lnTo>
                  <a:lnTo>
                    <a:pt x="1151917" y="509588"/>
                  </a:lnTo>
                  <a:lnTo>
                    <a:pt x="1140776" y="502921"/>
                  </a:lnTo>
                  <a:lnTo>
                    <a:pt x="1129953" y="496888"/>
                  </a:lnTo>
                  <a:lnTo>
                    <a:pt x="1119766" y="491808"/>
                  </a:lnTo>
                  <a:lnTo>
                    <a:pt x="1109580" y="486411"/>
                  </a:lnTo>
                  <a:lnTo>
                    <a:pt x="1100030" y="481966"/>
                  </a:lnTo>
                  <a:lnTo>
                    <a:pt x="1082522" y="474028"/>
                  </a:lnTo>
                  <a:lnTo>
                    <a:pt x="1066287" y="467678"/>
                  </a:lnTo>
                  <a:lnTo>
                    <a:pt x="1052599" y="462598"/>
                  </a:lnTo>
                  <a:lnTo>
                    <a:pt x="1040821" y="459106"/>
                  </a:lnTo>
                  <a:lnTo>
                    <a:pt x="1031590" y="456248"/>
                  </a:lnTo>
                  <a:lnTo>
                    <a:pt x="1024905" y="454343"/>
                  </a:lnTo>
                  <a:lnTo>
                    <a:pt x="1019175" y="453391"/>
                  </a:lnTo>
                  <a:lnTo>
                    <a:pt x="1084432" y="388938"/>
                  </a:lnTo>
                  <a:close/>
                  <a:moveTo>
                    <a:pt x="1213168" y="238125"/>
                  </a:moveTo>
                  <a:lnTo>
                    <a:pt x="1218883" y="238125"/>
                  </a:lnTo>
                  <a:lnTo>
                    <a:pt x="1226186" y="238759"/>
                  </a:lnTo>
                  <a:lnTo>
                    <a:pt x="1236028" y="239709"/>
                  </a:lnTo>
                  <a:lnTo>
                    <a:pt x="1248411" y="242245"/>
                  </a:lnTo>
                  <a:lnTo>
                    <a:pt x="1263016" y="245414"/>
                  </a:lnTo>
                  <a:lnTo>
                    <a:pt x="1270953" y="247315"/>
                  </a:lnTo>
                  <a:lnTo>
                    <a:pt x="1280161" y="249850"/>
                  </a:lnTo>
                  <a:lnTo>
                    <a:pt x="1289051" y="253020"/>
                  </a:lnTo>
                  <a:lnTo>
                    <a:pt x="1298893" y="256506"/>
                  </a:lnTo>
                  <a:lnTo>
                    <a:pt x="1309053" y="260625"/>
                  </a:lnTo>
                  <a:lnTo>
                    <a:pt x="1319848" y="264745"/>
                  </a:lnTo>
                  <a:lnTo>
                    <a:pt x="1330961" y="269816"/>
                  </a:lnTo>
                  <a:lnTo>
                    <a:pt x="1342391" y="275203"/>
                  </a:lnTo>
                  <a:lnTo>
                    <a:pt x="1354456" y="281541"/>
                  </a:lnTo>
                  <a:lnTo>
                    <a:pt x="1366838" y="288196"/>
                  </a:lnTo>
                  <a:lnTo>
                    <a:pt x="1379538" y="295802"/>
                  </a:lnTo>
                  <a:lnTo>
                    <a:pt x="1392873" y="303725"/>
                  </a:lnTo>
                  <a:lnTo>
                    <a:pt x="1405891" y="312598"/>
                  </a:lnTo>
                  <a:lnTo>
                    <a:pt x="1419861" y="322422"/>
                  </a:lnTo>
                  <a:lnTo>
                    <a:pt x="1433831" y="332880"/>
                  </a:lnTo>
                  <a:lnTo>
                    <a:pt x="1448436" y="344289"/>
                  </a:lnTo>
                  <a:lnTo>
                    <a:pt x="1463041" y="356332"/>
                  </a:lnTo>
                  <a:lnTo>
                    <a:pt x="1477963" y="369325"/>
                  </a:lnTo>
                  <a:lnTo>
                    <a:pt x="1492886" y="383269"/>
                  </a:lnTo>
                  <a:lnTo>
                    <a:pt x="1508126" y="398164"/>
                  </a:lnTo>
                  <a:lnTo>
                    <a:pt x="1523366" y="413692"/>
                  </a:lnTo>
                  <a:lnTo>
                    <a:pt x="1537653" y="428587"/>
                  </a:lnTo>
                  <a:lnTo>
                    <a:pt x="1550353" y="443481"/>
                  </a:lnTo>
                  <a:lnTo>
                    <a:pt x="1562418" y="458376"/>
                  </a:lnTo>
                  <a:lnTo>
                    <a:pt x="1573848" y="472637"/>
                  </a:lnTo>
                  <a:lnTo>
                    <a:pt x="1583691" y="486264"/>
                  </a:lnTo>
                  <a:lnTo>
                    <a:pt x="1593216" y="499891"/>
                  </a:lnTo>
                  <a:lnTo>
                    <a:pt x="1601471" y="512884"/>
                  </a:lnTo>
                  <a:lnTo>
                    <a:pt x="1609091" y="525878"/>
                  </a:lnTo>
                  <a:lnTo>
                    <a:pt x="1616076" y="538237"/>
                  </a:lnTo>
                  <a:lnTo>
                    <a:pt x="1622108" y="549963"/>
                  </a:lnTo>
                  <a:lnTo>
                    <a:pt x="1627823" y="561371"/>
                  </a:lnTo>
                  <a:lnTo>
                    <a:pt x="1632268" y="572780"/>
                  </a:lnTo>
                  <a:lnTo>
                    <a:pt x="1636713" y="583238"/>
                  </a:lnTo>
                  <a:lnTo>
                    <a:pt x="1640206" y="593379"/>
                  </a:lnTo>
                  <a:lnTo>
                    <a:pt x="1643699" y="603203"/>
                  </a:lnTo>
                  <a:lnTo>
                    <a:pt x="1646239" y="612077"/>
                  </a:lnTo>
                  <a:lnTo>
                    <a:pt x="1648143" y="620633"/>
                  </a:lnTo>
                  <a:lnTo>
                    <a:pt x="1650049" y="628873"/>
                  </a:lnTo>
                  <a:lnTo>
                    <a:pt x="1651636" y="636478"/>
                  </a:lnTo>
                  <a:lnTo>
                    <a:pt x="1652589" y="643767"/>
                  </a:lnTo>
                  <a:lnTo>
                    <a:pt x="1653541" y="650422"/>
                  </a:lnTo>
                  <a:lnTo>
                    <a:pt x="1654176" y="661514"/>
                  </a:lnTo>
                  <a:lnTo>
                    <a:pt x="1654176" y="670705"/>
                  </a:lnTo>
                  <a:lnTo>
                    <a:pt x="1653859" y="677043"/>
                  </a:lnTo>
                  <a:lnTo>
                    <a:pt x="1652906" y="682747"/>
                  </a:lnTo>
                  <a:lnTo>
                    <a:pt x="1588136" y="747713"/>
                  </a:lnTo>
                  <a:lnTo>
                    <a:pt x="1585596" y="733769"/>
                  </a:lnTo>
                  <a:lnTo>
                    <a:pt x="1582421" y="719508"/>
                  </a:lnTo>
                  <a:lnTo>
                    <a:pt x="1578293" y="704297"/>
                  </a:lnTo>
                  <a:lnTo>
                    <a:pt x="1572896" y="689085"/>
                  </a:lnTo>
                  <a:lnTo>
                    <a:pt x="1566546" y="672923"/>
                  </a:lnTo>
                  <a:lnTo>
                    <a:pt x="1559561" y="656761"/>
                  </a:lnTo>
                  <a:lnTo>
                    <a:pt x="1550671" y="639964"/>
                  </a:lnTo>
                  <a:lnTo>
                    <a:pt x="1541463" y="622534"/>
                  </a:lnTo>
                  <a:lnTo>
                    <a:pt x="1531303" y="605105"/>
                  </a:lnTo>
                  <a:lnTo>
                    <a:pt x="1519556" y="587358"/>
                  </a:lnTo>
                  <a:lnTo>
                    <a:pt x="1507173" y="569294"/>
                  </a:lnTo>
                  <a:lnTo>
                    <a:pt x="1493521" y="551230"/>
                  </a:lnTo>
                  <a:lnTo>
                    <a:pt x="1479233" y="533166"/>
                  </a:lnTo>
                  <a:lnTo>
                    <a:pt x="1463676" y="514786"/>
                  </a:lnTo>
                  <a:lnTo>
                    <a:pt x="1446848" y="497039"/>
                  </a:lnTo>
                  <a:lnTo>
                    <a:pt x="1429386" y="478975"/>
                  </a:lnTo>
                  <a:lnTo>
                    <a:pt x="1415098" y="465031"/>
                  </a:lnTo>
                  <a:lnTo>
                    <a:pt x="1400811" y="451721"/>
                  </a:lnTo>
                  <a:lnTo>
                    <a:pt x="1386841" y="439362"/>
                  </a:lnTo>
                  <a:lnTo>
                    <a:pt x="1372871" y="427636"/>
                  </a:lnTo>
                  <a:lnTo>
                    <a:pt x="1359536" y="416544"/>
                  </a:lnTo>
                  <a:lnTo>
                    <a:pt x="1345883" y="406086"/>
                  </a:lnTo>
                  <a:lnTo>
                    <a:pt x="1332548" y="396262"/>
                  </a:lnTo>
                  <a:lnTo>
                    <a:pt x="1319848" y="387389"/>
                  </a:lnTo>
                  <a:lnTo>
                    <a:pt x="1307148" y="378832"/>
                  </a:lnTo>
                  <a:lnTo>
                    <a:pt x="1295083" y="370909"/>
                  </a:lnTo>
                  <a:lnTo>
                    <a:pt x="1283018" y="363620"/>
                  </a:lnTo>
                  <a:lnTo>
                    <a:pt x="1271271" y="356648"/>
                  </a:lnTo>
                  <a:lnTo>
                    <a:pt x="1260158" y="350627"/>
                  </a:lnTo>
                  <a:lnTo>
                    <a:pt x="1249681" y="344606"/>
                  </a:lnTo>
                  <a:lnTo>
                    <a:pt x="1239203" y="339219"/>
                  </a:lnTo>
                  <a:lnTo>
                    <a:pt x="1229361" y="334782"/>
                  </a:lnTo>
                  <a:lnTo>
                    <a:pt x="1210628" y="326542"/>
                  </a:lnTo>
                  <a:lnTo>
                    <a:pt x="1193801" y="319887"/>
                  </a:lnTo>
                  <a:lnTo>
                    <a:pt x="1179513" y="314500"/>
                  </a:lnTo>
                  <a:lnTo>
                    <a:pt x="1167766" y="310697"/>
                  </a:lnTo>
                  <a:lnTo>
                    <a:pt x="1157923" y="307845"/>
                  </a:lnTo>
                  <a:lnTo>
                    <a:pt x="1150621" y="306260"/>
                  </a:lnTo>
                  <a:lnTo>
                    <a:pt x="1144588" y="304992"/>
                  </a:lnTo>
                  <a:lnTo>
                    <a:pt x="1213168" y="238125"/>
                  </a:lnTo>
                  <a:close/>
                  <a:moveTo>
                    <a:pt x="1555569" y="0"/>
                  </a:moveTo>
                  <a:lnTo>
                    <a:pt x="1566687" y="0"/>
                  </a:lnTo>
                  <a:lnTo>
                    <a:pt x="1578441" y="0"/>
                  </a:lnTo>
                  <a:lnTo>
                    <a:pt x="1589876" y="1272"/>
                  </a:lnTo>
                  <a:lnTo>
                    <a:pt x="1601948" y="2862"/>
                  </a:lnTo>
                  <a:lnTo>
                    <a:pt x="1614337" y="5088"/>
                  </a:lnTo>
                  <a:lnTo>
                    <a:pt x="1627043" y="7950"/>
                  </a:lnTo>
                  <a:lnTo>
                    <a:pt x="1640385" y="11766"/>
                  </a:lnTo>
                  <a:lnTo>
                    <a:pt x="1653409" y="16218"/>
                  </a:lnTo>
                  <a:lnTo>
                    <a:pt x="1667386" y="21624"/>
                  </a:lnTo>
                  <a:lnTo>
                    <a:pt x="1681363" y="27984"/>
                  </a:lnTo>
                  <a:lnTo>
                    <a:pt x="1695976" y="35298"/>
                  </a:lnTo>
                  <a:lnTo>
                    <a:pt x="1710588" y="42930"/>
                  </a:lnTo>
                  <a:lnTo>
                    <a:pt x="1725836" y="52152"/>
                  </a:lnTo>
                  <a:lnTo>
                    <a:pt x="1741084" y="62010"/>
                  </a:lnTo>
                  <a:lnTo>
                    <a:pt x="1756649" y="72822"/>
                  </a:lnTo>
                  <a:lnTo>
                    <a:pt x="1772850" y="84588"/>
                  </a:lnTo>
                  <a:lnTo>
                    <a:pt x="1789051" y="97626"/>
                  </a:lnTo>
                  <a:lnTo>
                    <a:pt x="1804617" y="111300"/>
                  </a:lnTo>
                  <a:lnTo>
                    <a:pt x="1819547" y="124656"/>
                  </a:lnTo>
                  <a:lnTo>
                    <a:pt x="1832571" y="138330"/>
                  </a:lnTo>
                  <a:lnTo>
                    <a:pt x="1844642" y="151686"/>
                  </a:lnTo>
                  <a:lnTo>
                    <a:pt x="1856078" y="165042"/>
                  </a:lnTo>
                  <a:lnTo>
                    <a:pt x="1865608" y="178398"/>
                  </a:lnTo>
                  <a:lnTo>
                    <a:pt x="1874502" y="191755"/>
                  </a:lnTo>
                  <a:lnTo>
                    <a:pt x="1881809" y="204475"/>
                  </a:lnTo>
                  <a:lnTo>
                    <a:pt x="1888797" y="217831"/>
                  </a:lnTo>
                  <a:lnTo>
                    <a:pt x="1894197" y="230869"/>
                  </a:lnTo>
                  <a:lnTo>
                    <a:pt x="1898962" y="243907"/>
                  </a:lnTo>
                  <a:lnTo>
                    <a:pt x="1902457" y="256309"/>
                  </a:lnTo>
                  <a:lnTo>
                    <a:pt x="1905633" y="268711"/>
                  </a:lnTo>
                  <a:lnTo>
                    <a:pt x="1907857" y="281113"/>
                  </a:lnTo>
                  <a:lnTo>
                    <a:pt x="1908810" y="293197"/>
                  </a:lnTo>
                  <a:lnTo>
                    <a:pt x="1909763" y="305281"/>
                  </a:lnTo>
                  <a:lnTo>
                    <a:pt x="1909763" y="316729"/>
                  </a:lnTo>
                  <a:lnTo>
                    <a:pt x="1908492" y="328177"/>
                  </a:lnTo>
                  <a:lnTo>
                    <a:pt x="1907539" y="339307"/>
                  </a:lnTo>
                  <a:lnTo>
                    <a:pt x="1905316" y="350437"/>
                  </a:lnTo>
                  <a:lnTo>
                    <a:pt x="1902457" y="360931"/>
                  </a:lnTo>
                  <a:lnTo>
                    <a:pt x="1899598" y="371425"/>
                  </a:lnTo>
                  <a:lnTo>
                    <a:pt x="1895786" y="381601"/>
                  </a:lnTo>
                  <a:lnTo>
                    <a:pt x="1891656" y="391459"/>
                  </a:lnTo>
                  <a:lnTo>
                    <a:pt x="1887527" y="400681"/>
                  </a:lnTo>
                  <a:lnTo>
                    <a:pt x="1882762" y="409903"/>
                  </a:lnTo>
                  <a:lnTo>
                    <a:pt x="1877361" y="418490"/>
                  </a:lnTo>
                  <a:lnTo>
                    <a:pt x="1871643" y="426758"/>
                  </a:lnTo>
                  <a:lnTo>
                    <a:pt x="1865925" y="434708"/>
                  </a:lnTo>
                  <a:lnTo>
                    <a:pt x="1860208" y="442340"/>
                  </a:lnTo>
                  <a:lnTo>
                    <a:pt x="1854172" y="449336"/>
                  </a:lnTo>
                  <a:lnTo>
                    <a:pt x="1847501" y="456014"/>
                  </a:lnTo>
                  <a:lnTo>
                    <a:pt x="1841783" y="463328"/>
                  </a:lnTo>
                  <a:lnTo>
                    <a:pt x="1830983" y="476048"/>
                  </a:lnTo>
                  <a:lnTo>
                    <a:pt x="1801122" y="514208"/>
                  </a:lnTo>
                  <a:lnTo>
                    <a:pt x="1764909" y="560636"/>
                  </a:lnTo>
                  <a:lnTo>
                    <a:pt x="1730283" y="604838"/>
                  </a:lnTo>
                  <a:lnTo>
                    <a:pt x="1729648" y="593708"/>
                  </a:lnTo>
                  <a:lnTo>
                    <a:pt x="1728377" y="581306"/>
                  </a:lnTo>
                  <a:lnTo>
                    <a:pt x="1726471" y="567632"/>
                  </a:lnTo>
                  <a:lnTo>
                    <a:pt x="1723930" y="553322"/>
                  </a:lnTo>
                  <a:lnTo>
                    <a:pt x="1720118" y="537740"/>
                  </a:lnTo>
                  <a:lnTo>
                    <a:pt x="1715353" y="521840"/>
                  </a:lnTo>
                  <a:lnTo>
                    <a:pt x="1712494" y="513254"/>
                  </a:lnTo>
                  <a:lnTo>
                    <a:pt x="1709318" y="504668"/>
                  </a:lnTo>
                  <a:lnTo>
                    <a:pt x="1705823" y="496082"/>
                  </a:lnTo>
                  <a:lnTo>
                    <a:pt x="1702011" y="487178"/>
                  </a:lnTo>
                  <a:lnTo>
                    <a:pt x="1697882" y="477638"/>
                  </a:lnTo>
                  <a:lnTo>
                    <a:pt x="1693117" y="468098"/>
                  </a:lnTo>
                  <a:lnTo>
                    <a:pt x="1688034" y="458876"/>
                  </a:lnTo>
                  <a:lnTo>
                    <a:pt x="1682952" y="449018"/>
                  </a:lnTo>
                  <a:lnTo>
                    <a:pt x="1677234" y="439160"/>
                  </a:lnTo>
                  <a:lnTo>
                    <a:pt x="1670881" y="428984"/>
                  </a:lnTo>
                  <a:lnTo>
                    <a:pt x="1664527" y="418808"/>
                  </a:lnTo>
                  <a:lnTo>
                    <a:pt x="1657221" y="408631"/>
                  </a:lnTo>
                  <a:lnTo>
                    <a:pt x="1649915" y="398137"/>
                  </a:lnTo>
                  <a:lnTo>
                    <a:pt x="1641973" y="387643"/>
                  </a:lnTo>
                  <a:lnTo>
                    <a:pt x="1633079" y="376831"/>
                  </a:lnTo>
                  <a:lnTo>
                    <a:pt x="1624184" y="365701"/>
                  </a:lnTo>
                  <a:lnTo>
                    <a:pt x="1614337" y="354889"/>
                  </a:lnTo>
                  <a:lnTo>
                    <a:pt x="1604489" y="343441"/>
                  </a:lnTo>
                  <a:lnTo>
                    <a:pt x="1593688" y="332311"/>
                  </a:lnTo>
                  <a:lnTo>
                    <a:pt x="1582570" y="320863"/>
                  </a:lnTo>
                  <a:lnTo>
                    <a:pt x="1571134" y="310051"/>
                  </a:lnTo>
                  <a:lnTo>
                    <a:pt x="1559381" y="299239"/>
                  </a:lnTo>
                  <a:lnTo>
                    <a:pt x="1548263" y="289381"/>
                  </a:lnTo>
                  <a:lnTo>
                    <a:pt x="1536827" y="279523"/>
                  </a:lnTo>
                  <a:lnTo>
                    <a:pt x="1525709" y="270619"/>
                  </a:lnTo>
                  <a:lnTo>
                    <a:pt x="1514590" y="262351"/>
                  </a:lnTo>
                  <a:lnTo>
                    <a:pt x="1503472" y="254083"/>
                  </a:lnTo>
                  <a:lnTo>
                    <a:pt x="1492672" y="246451"/>
                  </a:lnTo>
                  <a:lnTo>
                    <a:pt x="1481871" y="239137"/>
                  </a:lnTo>
                  <a:lnTo>
                    <a:pt x="1471388" y="232777"/>
                  </a:lnTo>
                  <a:lnTo>
                    <a:pt x="1460905" y="226417"/>
                  </a:lnTo>
                  <a:lnTo>
                    <a:pt x="1450740" y="220693"/>
                  </a:lnTo>
                  <a:lnTo>
                    <a:pt x="1440575" y="215287"/>
                  </a:lnTo>
                  <a:lnTo>
                    <a:pt x="1430410" y="210199"/>
                  </a:lnTo>
                  <a:lnTo>
                    <a:pt x="1420562" y="205747"/>
                  </a:lnTo>
                  <a:lnTo>
                    <a:pt x="1411350" y="201613"/>
                  </a:lnTo>
                  <a:lnTo>
                    <a:pt x="1401820" y="197479"/>
                  </a:lnTo>
                  <a:lnTo>
                    <a:pt x="1392925" y="193981"/>
                  </a:lnTo>
                  <a:lnTo>
                    <a:pt x="1375136" y="187620"/>
                  </a:lnTo>
                  <a:lnTo>
                    <a:pt x="1358300" y="182850"/>
                  </a:lnTo>
                  <a:lnTo>
                    <a:pt x="1342417" y="178716"/>
                  </a:lnTo>
                  <a:lnTo>
                    <a:pt x="1327805" y="175536"/>
                  </a:lnTo>
                  <a:lnTo>
                    <a:pt x="1314145" y="173310"/>
                  </a:lnTo>
                  <a:lnTo>
                    <a:pt x="1301756" y="171720"/>
                  </a:lnTo>
                  <a:lnTo>
                    <a:pt x="1290638" y="171084"/>
                  </a:lnTo>
                  <a:lnTo>
                    <a:pt x="1330346" y="138966"/>
                  </a:lnTo>
                  <a:lnTo>
                    <a:pt x="1370689" y="105894"/>
                  </a:lnTo>
                  <a:lnTo>
                    <a:pt x="1405950" y="76638"/>
                  </a:lnTo>
                  <a:lnTo>
                    <a:pt x="1419609" y="64554"/>
                  </a:lnTo>
                  <a:lnTo>
                    <a:pt x="1429774" y="55650"/>
                  </a:lnTo>
                  <a:lnTo>
                    <a:pt x="1435810" y="49926"/>
                  </a:lnTo>
                  <a:lnTo>
                    <a:pt x="1442163" y="44520"/>
                  </a:lnTo>
                  <a:lnTo>
                    <a:pt x="1448834" y="39432"/>
                  </a:lnTo>
                  <a:lnTo>
                    <a:pt x="1455505" y="34026"/>
                  </a:lnTo>
                  <a:lnTo>
                    <a:pt x="1463129" y="29256"/>
                  </a:lnTo>
                  <a:lnTo>
                    <a:pt x="1470753" y="24486"/>
                  </a:lnTo>
                  <a:lnTo>
                    <a:pt x="1479012" y="20352"/>
                  </a:lnTo>
                  <a:lnTo>
                    <a:pt x="1487271" y="16218"/>
                  </a:lnTo>
                  <a:lnTo>
                    <a:pt x="1495848" y="13038"/>
                  </a:lnTo>
                  <a:lnTo>
                    <a:pt x="1505378" y="9540"/>
                  </a:lnTo>
                  <a:lnTo>
                    <a:pt x="1514590" y="6996"/>
                  </a:lnTo>
                  <a:lnTo>
                    <a:pt x="1524438" y="4770"/>
                  </a:lnTo>
                  <a:lnTo>
                    <a:pt x="1534285" y="2544"/>
                  </a:lnTo>
                  <a:lnTo>
                    <a:pt x="1544768" y="1272"/>
                  </a:lnTo>
                  <a:lnTo>
                    <a:pt x="1555569" y="0"/>
                  </a:lnTo>
                  <a:close/>
                </a:path>
              </a:pathLst>
            </a:custGeom>
            <a:solidFill>
              <a:srgbClr val="D10000"/>
            </a:solidFill>
            <a:ln>
              <a:noFill/>
            </a:ln>
            <a:extLst>
              <a:ext uri="{91240B29-F687-4F45-9708-019B960494DF}">
                <a14:hiddenLine xmlns:a14="http://schemas.microsoft.com/office/drawing/2010/main" w="9525">
                  <a:solidFill>
                    <a:srgbClr val="000000"/>
                  </a:solidFill>
                  <a:round/>
                </a14:hiddenLine>
              </a:ext>
            </a:extLst>
          </p:spPr>
          <p:txBody>
            <a:bodyPr anchor="ctr">
              <a:scene3d>
                <a:camera prst="orthographicFront"/>
                <a:lightRig rig="threePt" dir="t"/>
              </a:scene3d>
              <a:sp3d contourW="12700">
                <a:contourClr>
                  <a:srgbClr val="FFFFFF"/>
                </a:contourClr>
              </a:sp3d>
            </a:bodyPr>
            <a:lstStyle/>
            <a:p>
              <a:pPr algn="ctr" eaLnBrk="1" fontAlgn="auto" hangingPunct="1">
                <a:spcBef>
                  <a:spcPts val="0"/>
                </a:spcBef>
                <a:spcAft>
                  <a:spcPts val="0"/>
                </a:spcAft>
                <a:defRPr/>
              </a:pPr>
              <a:endParaRPr lang="zh-CN" altLang="en-US" kern="0" dirty="0">
                <a:solidFill>
                  <a:srgbClr val="FFFFFF"/>
                </a:solidFill>
                <a:latin typeface="Arial" panose="020B0604020202020204"/>
                <a:ea typeface="微软雅黑 Light" panose="020B0502040204020203" pitchFamily="34" charset="-122"/>
              </a:endParaRPr>
            </a:p>
          </p:txBody>
        </p:sp>
      </p:grpSp>
    </p:spTree>
    <p:custDataLst>
      <p:tags r:id="rId1"/>
    </p:custDataLst>
  </p:cSld>
  <p:clrMapOvr>
    <a:masterClrMapping/>
  </p:clrMapOvr>
  <p:transition>
    <p:zoom dir="in"/>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grpSp>
        <p:nvGrpSpPr>
          <p:cNvPr id="7" name="组合 6"/>
          <p:cNvGrpSpPr/>
          <p:nvPr/>
        </p:nvGrpSpPr>
        <p:grpSpPr>
          <a:xfrm>
            <a:off x="0" y="2412365"/>
            <a:ext cx="12192000" cy="3074035"/>
            <a:chOff x="0" y="3848"/>
            <a:chExt cx="19200" cy="4841"/>
          </a:xfrm>
        </p:grpSpPr>
        <p:sp>
          <p:nvSpPr>
            <p:cNvPr id="18" name="矩形 17"/>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1432" y="4577"/>
              <a:ext cx="9976" cy="3384"/>
            </a:xfrm>
            <a:prstGeom prst="rect">
              <a:avLst/>
            </a:prstGeom>
          </p:spPr>
          <p:txBody>
            <a:bodyPr wrap="square">
              <a:spAutoFit/>
            </a:bodyPr>
            <a:lstStyle/>
            <a:p>
              <a:pPr indent="457200">
                <a:lnSpc>
                  <a:spcPct val="150000"/>
                </a:lnSpc>
                <a:defRPr/>
              </a:pP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一旦建立了WebApp的体系结构及确定了体系结构的构件（页面、脚本、Applet和其他处理功能</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），设计人员应定义导航路径，使得用户可以访问WebApp的内容和功能。为了完成这一任务，设计者要分析导航，为网站的不同用户确定导航语义，同时定义实现导航的机制（语法）。</a:t>
              </a:r>
            </a:p>
          </p:txBody>
        </p:sp>
      </p:grpSp>
      <p:pic>
        <p:nvPicPr>
          <p:cNvPr id="3" name="图片 2" descr="A000220150821C64PPIC"/>
          <p:cNvPicPr>
            <a:picLocks noChangeAspect="1"/>
          </p:cNvPicPr>
          <p:nvPr/>
        </p:nvPicPr>
        <p:blipFill>
          <a:blip r:embed="rId4" cstate="print"/>
          <a:stretch>
            <a:fillRect/>
          </a:stretch>
        </p:blipFill>
        <p:spPr>
          <a:xfrm>
            <a:off x="7661910" y="2533650"/>
            <a:ext cx="3776980" cy="2832735"/>
          </a:xfrm>
          <a:prstGeom prst="rect">
            <a:avLst/>
          </a:prstGeom>
        </p:spPr>
      </p:pic>
    </p:spTree>
    <p:custDataLst>
      <p:tags r:id="rId1"/>
    </p:custDataLst>
  </p:cSld>
  <p:clrMapOvr>
    <a:masterClrMapping/>
  </p:clrMapOvr>
  <p:transition>
    <p:zoom dir="in"/>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grpSp>
        <p:nvGrpSpPr>
          <p:cNvPr id="20" name="组合 19"/>
          <p:cNvGrpSpPr/>
          <p:nvPr/>
        </p:nvGrpSpPr>
        <p:grpSpPr>
          <a:xfrm>
            <a:off x="671567" y="2076746"/>
            <a:ext cx="10841202" cy="3948430"/>
            <a:chOff x="2342356" y="4560888"/>
            <a:chExt cx="10841202" cy="394843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zh-CN" altLang="en-US" sz="2000" b="1" dirty="0">
                  <a:solidFill>
                    <a:schemeClr val="accent3">
                      <a:lumMod val="75000"/>
                    </a:schemeClr>
                  </a:solidFill>
                  <a:latin typeface="Arial" panose="020B0604020202020204" pitchFamily="34" charset="0"/>
                  <a:ea typeface="微软雅黑 Light" panose="020B0502040204020203" pitchFamily="34" charset="-122"/>
                  <a:cs typeface="Arial" panose="020B0604020202020204" pitchFamily="34" charset="0"/>
                </a:rPr>
                <a:t>导航分析</a:t>
              </a:r>
            </a:p>
          </p:txBody>
        </p:sp>
        <p:sp>
          <p:nvSpPr>
            <p:cNvPr id="54" name="MH_Other_7"/>
            <p:cNvSpPr/>
            <p:nvPr/>
          </p:nvSpPr>
          <p:spPr>
            <a:xfrm>
              <a:off x="3081338" y="4576763"/>
              <a:ext cx="68262" cy="1320800"/>
            </a:xfrm>
            <a:prstGeom prst="rect">
              <a:avLst/>
            </a:prstGeom>
            <a:solidFill>
              <a:schemeClr val="accent3">
                <a:lumMod val="75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sp>
          <p:nvSpPr>
            <p:cNvPr id="3087" name="MH_Text_3"/>
            <p:cNvSpPr>
              <a:spLocks noChangeArrowheads="1"/>
            </p:cNvSpPr>
            <p:nvPr/>
          </p:nvSpPr>
          <p:spPr bwMode="auto">
            <a:xfrm>
              <a:off x="3469640" y="5434648"/>
              <a:ext cx="9445625"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indent="457200" algn="l" fontAlgn="auto">
                <a:lnSpc>
                  <a:spcPct val="13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由集成测试人员根据测试用例、测试规程、测试构件和实现模型执行集成测试，并且将集成测试的结果返回给测试设计人员和相关的工作流负责人员。集成测试人员对每一个测试用例执行测试流程（手工或自动），实现相关的集成测试，接下来将测试结果和预期结果相比较，研究二者偏离的原因。集成测试人员可以把缺陷报告给相关工作流的负责人员，由他们对有缺陷的构件进行修改，还要把缺陷报告给测试设计人员，由他们对测试结果和缺陷类型进行统计分析，评估整个测试结果。</a:t>
              </a:r>
            </a:p>
          </p:txBody>
        </p:sp>
        <p:cxnSp>
          <p:nvCxnSpPr>
            <p:cNvPr id="3088" name="MH_Other_8"/>
            <p:cNvCxnSpPr>
              <a:cxnSpLocks noChangeShapeType="1"/>
            </p:cNvCxnSpPr>
            <p:nvPr/>
          </p:nvCxnSpPr>
          <p:spPr bwMode="auto">
            <a:xfrm flipV="1">
              <a:off x="3249613" y="5152018"/>
              <a:ext cx="9933945" cy="8947"/>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2356" y="4576445"/>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3">
                      <a:lumMod val="75000"/>
                    </a:schemeClr>
                  </a:solidFill>
                  <a:ea typeface="微软雅黑 Light" panose="020B0502040204020203" pitchFamily="34" charset="-122"/>
                </a:rPr>
                <a:t>01</a:t>
              </a:r>
            </a:p>
          </p:txBody>
        </p:sp>
      </p:grpSp>
    </p:spTree>
    <p:custDataLst>
      <p:tags r:id="rId1"/>
    </p:custDataLst>
  </p:cSld>
  <p:clrMapOvr>
    <a:masterClrMapping/>
  </p:clrMapOvr>
  <p:transition>
    <p:zoom dir="in"/>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sp>
        <p:nvSpPr>
          <p:cNvPr id="8" name="Oval 15"/>
          <p:cNvSpPr>
            <a:spLocks noChangeArrowheads="1"/>
          </p:cNvSpPr>
          <p:nvPr>
            <p:custDataLst>
              <p:tags r:id="rId2"/>
            </p:custDataLst>
          </p:nvPr>
        </p:nvSpPr>
        <p:spPr bwMode="auto">
          <a:xfrm>
            <a:off x="982345" y="2558415"/>
            <a:ext cx="3153410" cy="318262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9" name="Line 16"/>
          <p:cNvSpPr>
            <a:spLocks noChangeShapeType="1"/>
          </p:cNvSpPr>
          <p:nvPr>
            <p:custDataLst>
              <p:tags r:id="rId3"/>
            </p:custDataLst>
          </p:nvPr>
        </p:nvSpPr>
        <p:spPr bwMode="gray">
          <a:xfrm>
            <a:off x="809625" y="4156710"/>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0" name="Line 17"/>
          <p:cNvSpPr>
            <a:spLocks noChangeShapeType="1"/>
          </p:cNvSpPr>
          <p:nvPr>
            <p:custDataLst>
              <p:tags r:id="rId4"/>
            </p:custDataLst>
          </p:nvPr>
        </p:nvSpPr>
        <p:spPr bwMode="gray">
          <a:xfrm>
            <a:off x="2551430" y="2323465"/>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1" name="Oval 10"/>
          <p:cNvSpPr>
            <a:spLocks noChangeArrowheads="1"/>
          </p:cNvSpPr>
          <p:nvPr>
            <p:custDataLst>
              <p:tags r:id="rId5"/>
            </p:custDataLst>
          </p:nvPr>
        </p:nvSpPr>
        <p:spPr bwMode="gray">
          <a:xfrm>
            <a:off x="1155065" y="2738755"/>
            <a:ext cx="2789555" cy="2811145"/>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6"/>
            </p:custDataLst>
          </p:nvPr>
        </p:nvSpPr>
        <p:spPr bwMode="gray">
          <a:xfrm>
            <a:off x="1473835" y="3075940"/>
            <a:ext cx="2137410" cy="218186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2" name="KSO_GT1"/>
          <p:cNvSpPr>
            <a:spLocks noChangeArrowheads="1"/>
          </p:cNvSpPr>
          <p:nvPr>
            <p:custDataLst>
              <p:tags r:id="rId7"/>
            </p:custDataLst>
          </p:nvPr>
        </p:nvSpPr>
        <p:spPr bwMode="gray">
          <a:xfrm>
            <a:off x="1858645" y="3468370"/>
            <a:ext cx="1368425" cy="1397635"/>
          </a:xfrm>
          <a:prstGeom prst="ellipse">
            <a:avLst/>
          </a:prstGeom>
          <a:solidFill>
            <a:srgbClr val="4F5A71"/>
          </a:solidFill>
          <a:ln>
            <a:noFill/>
          </a:ln>
          <a:effectLst/>
        </p:spPr>
        <p:txBody>
          <a:bodyPr wrap="square" lIns="0" tIns="0" rIns="0" bIns="0" anchor="ctr">
            <a:normAutofit/>
          </a:bodyPr>
          <a:lstStyle/>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RNA方法</a:t>
            </a:r>
          </a:p>
        </p:txBody>
      </p:sp>
      <p:sp>
        <p:nvSpPr>
          <p:cNvPr id="43" name="Oval 19"/>
          <p:cNvSpPr>
            <a:spLocks noChangeArrowheads="1"/>
          </p:cNvSpPr>
          <p:nvPr>
            <p:custDataLst>
              <p:tags r:id="rId8"/>
            </p:custDataLst>
          </p:nvPr>
        </p:nvSpPr>
        <p:spPr bwMode="gray">
          <a:xfrm>
            <a:off x="2973070" y="250444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3" name="文本框 12"/>
          <p:cNvSpPr txBox="1"/>
          <p:nvPr>
            <p:custDataLst>
              <p:tags r:id="rId9"/>
            </p:custDataLst>
          </p:nvPr>
        </p:nvSpPr>
        <p:spPr>
          <a:xfrm>
            <a:off x="3459481" y="2329180"/>
            <a:ext cx="8073156" cy="369332"/>
          </a:xfrm>
          <a:prstGeom prst="rect">
            <a:avLst/>
          </a:prstGeom>
          <a:noFill/>
        </p:spPr>
        <p:txBody>
          <a:bodyPr wrap="square" lIns="0" rIns="0">
            <a:spAutoFit/>
          </a:bodyPr>
          <a:lstStyle/>
          <a:p>
            <a:pPr>
              <a:defRPr/>
            </a:pPr>
            <a:r>
              <a:rPr dirty="0"/>
              <a:t>（1）共利益者分析。确定不同的用户种类，并建立适当的共利益者层次。</a:t>
            </a:r>
          </a:p>
        </p:txBody>
      </p:sp>
      <p:sp>
        <p:nvSpPr>
          <p:cNvPr id="46" name="Oval 19"/>
          <p:cNvSpPr>
            <a:spLocks noChangeArrowheads="1"/>
          </p:cNvSpPr>
          <p:nvPr>
            <p:custDataLst>
              <p:tags r:id="rId10"/>
            </p:custDataLst>
          </p:nvPr>
        </p:nvSpPr>
        <p:spPr bwMode="gray">
          <a:xfrm>
            <a:off x="3657600" y="326326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1"/>
            </p:custDataLst>
          </p:nvPr>
        </p:nvSpPr>
        <p:spPr>
          <a:xfrm>
            <a:off x="4128770" y="3126105"/>
            <a:ext cx="6908165" cy="369332"/>
          </a:xfrm>
          <a:prstGeom prst="rect">
            <a:avLst/>
          </a:prstGeom>
          <a:noFill/>
        </p:spPr>
        <p:txBody>
          <a:bodyPr wrap="square" lIns="0" rIns="0">
            <a:spAutoFit/>
          </a:bodyPr>
          <a:lstStyle/>
          <a:p>
            <a:pPr>
              <a:defRPr/>
            </a:pPr>
            <a:r>
              <a:rPr dirty="0"/>
              <a:t>（2）元素分析。确定内容对象和最终用户感兴趣的功能元素。</a:t>
            </a:r>
          </a:p>
        </p:txBody>
      </p:sp>
      <p:sp>
        <p:nvSpPr>
          <p:cNvPr id="49" name="Oval 19"/>
          <p:cNvSpPr>
            <a:spLocks noChangeArrowheads="1"/>
          </p:cNvSpPr>
          <p:nvPr>
            <p:custDataLst>
              <p:tags r:id="rId12"/>
            </p:custDataLst>
          </p:nvPr>
        </p:nvSpPr>
        <p:spPr bwMode="gray">
          <a:xfrm>
            <a:off x="3996055" y="402844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文本框 13"/>
          <p:cNvSpPr txBox="1"/>
          <p:nvPr>
            <p:custDataLst>
              <p:tags r:id="rId13"/>
            </p:custDataLst>
          </p:nvPr>
        </p:nvSpPr>
        <p:spPr>
          <a:xfrm>
            <a:off x="4495800" y="3923030"/>
            <a:ext cx="6761480" cy="369332"/>
          </a:xfrm>
          <a:prstGeom prst="rect">
            <a:avLst/>
          </a:prstGeom>
          <a:noFill/>
        </p:spPr>
        <p:txBody>
          <a:bodyPr wrap="square" lIns="0" rIns="0">
            <a:spAutoFit/>
          </a:bodyPr>
          <a:lstStyle/>
          <a:p>
            <a:pPr>
              <a:defRPr/>
            </a:pPr>
            <a:r>
              <a:rPr dirty="0"/>
              <a:t>（3）关系分析。描述WebApp元素之间的关系。</a:t>
            </a:r>
          </a:p>
        </p:txBody>
      </p:sp>
      <p:sp>
        <p:nvSpPr>
          <p:cNvPr id="53" name="Oval 19"/>
          <p:cNvSpPr>
            <a:spLocks noChangeArrowheads="1"/>
          </p:cNvSpPr>
          <p:nvPr>
            <p:custDataLst>
              <p:tags r:id="rId14"/>
            </p:custDataLst>
          </p:nvPr>
        </p:nvSpPr>
        <p:spPr bwMode="gray">
          <a:xfrm>
            <a:off x="3657600" y="481203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5" name="文本框 14"/>
          <p:cNvSpPr txBox="1"/>
          <p:nvPr>
            <p:custDataLst>
              <p:tags r:id="rId15"/>
            </p:custDataLst>
          </p:nvPr>
        </p:nvSpPr>
        <p:spPr>
          <a:xfrm>
            <a:off x="4159250" y="4719955"/>
            <a:ext cx="7577455" cy="369332"/>
          </a:xfrm>
          <a:prstGeom prst="rect">
            <a:avLst/>
          </a:prstGeom>
          <a:noFill/>
        </p:spPr>
        <p:txBody>
          <a:bodyPr wrap="square" lIns="0" rIns="0">
            <a:spAutoFit/>
          </a:bodyPr>
          <a:lstStyle/>
          <a:p>
            <a:pPr>
              <a:defRPr/>
            </a:pPr>
            <a:r>
              <a:rPr dirty="0"/>
              <a:t>（4）导航分析。检查用户怎样访问单个元素和成组元素。</a:t>
            </a:r>
          </a:p>
        </p:txBody>
      </p:sp>
      <p:sp>
        <p:nvSpPr>
          <p:cNvPr id="56" name="Oval 19"/>
          <p:cNvSpPr>
            <a:spLocks noChangeArrowheads="1"/>
          </p:cNvSpPr>
          <p:nvPr>
            <p:custDataLst>
              <p:tags r:id="rId16"/>
            </p:custDataLst>
          </p:nvPr>
        </p:nvSpPr>
        <p:spPr bwMode="gray">
          <a:xfrm>
            <a:off x="2974340" y="555561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7"/>
            </p:custDataLst>
          </p:nvPr>
        </p:nvSpPr>
        <p:spPr>
          <a:xfrm>
            <a:off x="3459480" y="5741035"/>
            <a:ext cx="7166610" cy="369332"/>
          </a:xfrm>
          <a:prstGeom prst="rect">
            <a:avLst/>
          </a:prstGeom>
          <a:noFill/>
        </p:spPr>
        <p:txBody>
          <a:bodyPr wrap="square" lIns="0" rIns="0">
            <a:spAutoFit/>
          </a:bodyPr>
          <a:lstStyle/>
          <a:p>
            <a:pPr>
              <a:defRPr/>
            </a:pPr>
            <a:r>
              <a:rPr lang="zh-CN" altLang="en-US" dirty="0"/>
              <a:t>（5）评估分析。考虑实现早期定义的关系的实际问题。</a:t>
            </a:r>
          </a:p>
        </p:txBody>
      </p:sp>
    </p:spTree>
    <p:custDataLst>
      <p:tags r:id="rId1"/>
    </p:custDataLst>
  </p:cSld>
  <p:clrMapOvr>
    <a:masterClrMapping/>
  </p:clrMapOvr>
  <p:transition>
    <p:zoom dir="in"/>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sp>
        <p:nvSpPr>
          <p:cNvPr id="18" name="矩形 17"/>
          <p:cNvSpPr/>
          <p:nvPr/>
        </p:nvSpPr>
        <p:spPr>
          <a:xfrm>
            <a:off x="0" y="2412365"/>
            <a:ext cx="12192000" cy="3074035"/>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557530" y="2463800"/>
            <a:ext cx="6962140" cy="2971800"/>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在RNA的5步中，</a:t>
            </a:r>
            <a:r>
              <a:rPr lang="en-US" altLang="zh-CN" b="1" kern="0" dirty="0">
                <a:solidFill>
                  <a:srgbClr val="FFFF00"/>
                </a:solidFill>
                <a:latin typeface="微软雅黑" panose="020B0503020204020204" charset="-122"/>
                <a:ea typeface="微软雅黑" panose="020B0503020204020204" charset="-122"/>
                <a:cs typeface="宋体" panose="02010600030101010101" pitchFamily="2" charset="-122"/>
              </a:rPr>
              <a:t>关系分析</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是最关键的问题。</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关系导航分析确定了在分析模型中所定义的内容元素和功能元素之间的关系，并且建立了在整个系统中定义导航链接的需求</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这时要考虑诸如此元素必须满足的前置条件和后置条件是什么</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此元素一出现，总是跟着出现的另外元素是什么</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有特殊类别的用户类使用该元素吗</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不同类的用户使用该元素的方式有什么不同</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这些问题都是在设计WebApp元素之间的关系时必须要考虑的</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p>
        </p:txBody>
      </p:sp>
      <p:pic>
        <p:nvPicPr>
          <p:cNvPr id="4" name="图片 3" descr="A000220150318R55PPIC.png"/>
          <p:cNvPicPr>
            <a:picLocks noChangeAspect="1"/>
          </p:cNvPicPr>
          <p:nvPr/>
        </p:nvPicPr>
        <p:blipFill>
          <a:blip r:embed="rId4" cstate="print"/>
          <a:stretch>
            <a:fillRect/>
          </a:stretch>
        </p:blipFill>
        <p:spPr>
          <a:xfrm>
            <a:off x="7644130" y="483235"/>
            <a:ext cx="4196080" cy="5892165"/>
          </a:xfrm>
          <a:prstGeom prst="rect">
            <a:avLst/>
          </a:prstGeom>
        </p:spPr>
      </p:pic>
    </p:spTree>
    <p:custDataLst>
      <p:tags r:id="rId1"/>
    </p:custDataLst>
  </p:cSld>
  <p:clrMapOvr>
    <a:masterClrMapping/>
  </p:clrMapOvr>
  <p:transition>
    <p:zoom dir="in"/>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pic>
        <p:nvPicPr>
          <p:cNvPr id="28" name="图片 1" descr="问号16.jpg"/>
          <p:cNvPicPr>
            <a:picLocks noGrp="1" noChangeAspect="1"/>
          </p:cNvPicPr>
          <p:nvPr isPhoto="1"/>
        </p:nvPicPr>
        <p:blipFill>
          <a:blip r:embed="rId4" cstate="print">
            <a:clrChange>
              <a:clrFrom>
                <a:srgbClr val="FDFDFD"/>
              </a:clrFrom>
              <a:clrTo>
                <a:srgbClr val="FDFDFD">
                  <a:alpha val="0"/>
                </a:srgbClr>
              </a:clrTo>
            </a:clrChange>
          </a:blip>
          <a:srcRect l="25157" t="7668" r="1997" b="9265"/>
          <a:stretch>
            <a:fillRect/>
          </a:stretch>
        </p:blipFill>
        <p:spPr bwMode="auto">
          <a:xfrm>
            <a:off x="-15875" y="2606675"/>
            <a:ext cx="4383405" cy="3749040"/>
          </a:xfrm>
          <a:prstGeom prst="rect">
            <a:avLst/>
          </a:prstGeom>
          <a:noFill/>
          <a:ln w="9525">
            <a:noFill/>
            <a:miter lim="800000"/>
            <a:headEnd/>
            <a:tailEnd/>
          </a:ln>
        </p:spPr>
      </p:pic>
      <p:sp>
        <p:nvSpPr>
          <p:cNvPr id="3" name="文本框 2"/>
          <p:cNvSpPr txBox="1"/>
          <p:nvPr/>
        </p:nvSpPr>
        <p:spPr>
          <a:xfrm>
            <a:off x="4198620" y="2345690"/>
            <a:ext cx="7939405" cy="4010025"/>
          </a:xfrm>
          <a:prstGeom prst="rect">
            <a:avLst/>
          </a:prstGeom>
          <a:noFill/>
        </p:spPr>
        <p:txBody>
          <a:bodyPr wrap="square" rtlCol="0" anchor="t">
            <a:spAutoFit/>
          </a:bodyPr>
          <a:lstStyle/>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为了迫使用户在自己的方向上导航，应该强调某些元素吗？</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应该怎样处理导航错误？</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导航到相关的元素组的优先权应该高于导航到某个具体元素的优先权吗？</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应该通过链接、基于搜索的访问还是其他手段来实现导航？</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根据前面的导航行为，某些确定的元素应该展现给用户吗？</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在一次用户交互中，一个完整的导航地图或菜单在每点都可以用吗？</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应该为哪类用户设计最佳导航？</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应该如何处理WebApp外部的链接？应该覆盖现有的浏览器窗口，作为一个新的浏览器窗口，还是作为一个独立的框架？</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导航设计应该由大多数普遍期望的用户行为来驱动，还是由已经定义的WebApp元素可感知的重要性来驱动？</a:t>
            </a:r>
          </a:p>
        </p:txBody>
      </p:sp>
      <p:sp>
        <p:nvSpPr>
          <p:cNvPr id="5" name="文本框 4"/>
          <p:cNvSpPr txBox="1"/>
          <p:nvPr/>
        </p:nvSpPr>
        <p:spPr>
          <a:xfrm>
            <a:off x="809625" y="1969770"/>
            <a:ext cx="10647045" cy="384810"/>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dirty="0">
                <a:latin typeface="微软雅黑" panose="020B0503020204020204" charset="-122"/>
                <a:ea typeface="微软雅黑" panose="020B0503020204020204" charset="-122"/>
              </a:rPr>
              <a:t>一旦建立了分析模型内定义的元素间的关系，开发人员必须考虑导航需求，提出并回答下列问题：</a:t>
            </a:r>
          </a:p>
        </p:txBody>
      </p:sp>
    </p:spTree>
    <p:custDataLst>
      <p:tags r:id="rId1"/>
    </p:custDataLst>
  </p:cSld>
  <p:clrMapOvr>
    <a:masterClrMapping/>
  </p:clrMapOvr>
  <p:transition>
    <p:zoom dir="in"/>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grpSp>
        <p:nvGrpSpPr>
          <p:cNvPr id="20" name="组合 19"/>
          <p:cNvGrpSpPr/>
          <p:nvPr/>
        </p:nvGrpSpPr>
        <p:grpSpPr>
          <a:xfrm>
            <a:off x="971922" y="2107226"/>
            <a:ext cx="10241543" cy="4055110"/>
            <a:chOff x="2342356" y="4560888"/>
            <a:chExt cx="10241543" cy="405511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zh-CN" altLang="en-US" sz="2000" b="1" dirty="0">
                  <a:solidFill>
                    <a:schemeClr val="accent6">
                      <a:lumMod val="75000"/>
                    </a:schemeClr>
                  </a:solidFill>
                  <a:latin typeface="Arial" panose="020B0604020202020204" pitchFamily="34" charset="0"/>
                  <a:ea typeface="微软雅黑 Light" panose="020B0502040204020203" pitchFamily="34" charset="-122"/>
                  <a:cs typeface="Arial" panose="020B0604020202020204" pitchFamily="34" charset="0"/>
                </a:rPr>
                <a:t>导航语义</a:t>
              </a:r>
            </a:p>
          </p:txBody>
        </p:sp>
        <p:sp>
          <p:nvSpPr>
            <p:cNvPr id="54" name="MH_Other_7"/>
            <p:cNvSpPr/>
            <p:nvPr/>
          </p:nvSpPr>
          <p:spPr>
            <a:xfrm>
              <a:off x="3081338" y="4576763"/>
              <a:ext cx="68262" cy="1320800"/>
            </a:xfrm>
            <a:prstGeom prst="rect">
              <a:avLst/>
            </a:prstGeom>
            <a:solidFill>
              <a:schemeClr val="accent6">
                <a:lumMod val="75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sp>
          <p:nvSpPr>
            <p:cNvPr id="3087" name="MH_Text_3"/>
            <p:cNvSpPr>
              <a:spLocks noChangeArrowheads="1"/>
            </p:cNvSpPr>
            <p:nvPr/>
          </p:nvSpPr>
          <p:spPr bwMode="auto">
            <a:xfrm>
              <a:off x="3649980" y="5541328"/>
              <a:ext cx="8310880"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indent="457200" algn="l" fontAlgn="auto">
                <a:lnSpc>
                  <a:spcPct val="130000"/>
                </a:lnSpc>
                <a:defRPr/>
              </a:pPr>
              <a:r>
                <a:rPr lang="en-US" altLang="zh-CN">
                  <a:latin typeface="微软雅黑" panose="020B0503020204020204" charset="-122"/>
                  <a:ea typeface="微软雅黑" panose="020B0503020204020204" charset="-122"/>
                  <a:cs typeface="Arial" panose="020B0604020202020204" pitchFamily="34" charset="0"/>
                </a:rPr>
                <a:t>在进行导航设计时，首先考虑用户层次和为每一类用户（角色）创建相关用例。每一类角色使用WebApp的方式都会有所不同，因而会有不同的导航要求。为每一类角色设计的用例定义一组类，这组类包含一个或多个内容对象，或者包含WebApp的某些功能。即每一组用例访问不同的信息及WebApp功能。</a:t>
              </a:r>
            </a:p>
          </p:txBody>
        </p:sp>
        <p:cxnSp>
          <p:nvCxnSpPr>
            <p:cNvPr id="3088" name="MH_Other_8"/>
            <p:cNvCxnSpPr>
              <a:cxnSpLocks noChangeShapeType="1"/>
            </p:cNvCxnSpPr>
            <p:nvPr/>
          </p:nvCxnSpPr>
          <p:spPr bwMode="auto">
            <a:xfrm flipV="1">
              <a:off x="3706599" y="5158127"/>
              <a:ext cx="8877300" cy="2540"/>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2356" y="4576445"/>
              <a:ext cx="738664" cy="1336040"/>
            </a:xfrm>
            <a:prstGeom prst="rect">
              <a:avLst/>
            </a:prstGeom>
            <a:noFill/>
            <a:ln w="9525">
              <a:noFill/>
              <a:miter lim="800000"/>
            </a:ln>
          </p:spPr>
          <p:txBody>
            <a:bodyPr vert="eaVert" wrap="square" lIns="0" tIns="0" rIns="0" bIns="0">
              <a:spAutoFit/>
            </a:bodyPr>
            <a:lstStyle/>
            <a:p>
              <a:pPr algn="ctr" eaLnBrk="1" hangingPunct="1"/>
              <a:r>
                <a:rPr lang="en-US" altLang="zh-CN" sz="4800" b="1" dirty="0">
                  <a:solidFill>
                    <a:schemeClr val="accent6">
                      <a:lumMod val="75000"/>
                    </a:schemeClr>
                  </a:solidFill>
                  <a:ea typeface="微软雅黑 Light" panose="020B0502040204020203" pitchFamily="34" charset="-122"/>
                </a:rPr>
                <a:t>02</a:t>
              </a:r>
            </a:p>
          </p:txBody>
        </p:sp>
      </p:grpSp>
    </p:spTree>
    <p:custDataLst>
      <p:tags r:id="rId1"/>
    </p:custDataLst>
  </p:cSld>
  <p:clrMapOvr>
    <a:masterClrMapping/>
  </p:clrMapOvr>
  <p:transition>
    <p:zoom dir="in"/>
  </p:transition>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grpSp>
        <p:nvGrpSpPr>
          <p:cNvPr id="20" name="组合 19"/>
          <p:cNvGrpSpPr/>
          <p:nvPr/>
        </p:nvGrpSpPr>
        <p:grpSpPr>
          <a:xfrm>
            <a:off x="747132" y="1970066"/>
            <a:ext cx="10331713" cy="4009390"/>
            <a:chOff x="2342356" y="4560888"/>
            <a:chExt cx="10331713" cy="400939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zh-CN" altLang="en-US" sz="2000" b="1" dirty="0">
                  <a:solidFill>
                    <a:srgbClr val="00B0F0"/>
                  </a:solidFill>
                  <a:latin typeface="Arial" panose="020B0604020202020204" pitchFamily="34" charset="0"/>
                  <a:ea typeface="微软雅黑 Light" panose="020B0502040204020203" pitchFamily="34" charset="-122"/>
                  <a:cs typeface="Arial" panose="020B0604020202020204" pitchFamily="34" charset="0"/>
                </a:rPr>
                <a:t>导航机制（语法）</a:t>
              </a:r>
            </a:p>
          </p:txBody>
        </p:sp>
        <p:sp>
          <p:nvSpPr>
            <p:cNvPr id="54" name="MH_Other_7"/>
            <p:cNvSpPr/>
            <p:nvPr/>
          </p:nvSpPr>
          <p:spPr>
            <a:xfrm>
              <a:off x="3081338" y="4576763"/>
              <a:ext cx="68262" cy="1320800"/>
            </a:xfrm>
            <a:prstGeom prst="rect">
              <a:avLst/>
            </a:prstGeom>
            <a:solidFill>
              <a:srgbClr val="00B0F0"/>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sp>
          <p:nvSpPr>
            <p:cNvPr id="3087" name="MH_Text_3"/>
            <p:cNvSpPr>
              <a:spLocks noChangeArrowheads="1"/>
            </p:cNvSpPr>
            <p:nvPr/>
          </p:nvSpPr>
          <p:spPr bwMode="auto">
            <a:xfrm>
              <a:off x="3646805" y="5495608"/>
              <a:ext cx="8905240"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indent="457200" algn="l" fontAlgn="auto">
                <a:lnSpc>
                  <a:spcPct val="130000"/>
                </a:lnSpc>
                <a:defRPr/>
              </a:pPr>
              <a:r>
                <a:rPr lang="en-US" altLang="zh-CN">
                  <a:latin typeface="微软雅黑" panose="020B0503020204020204" charset="-122"/>
                  <a:ea typeface="微软雅黑" panose="020B0503020204020204" charset="-122"/>
                  <a:cs typeface="Arial" panose="020B0604020202020204" pitchFamily="34" charset="0"/>
                </a:rPr>
                <a:t>在进行WebApp设计时，需要定义导航机制。常用的导航链接有：</a:t>
              </a:r>
            </a:p>
            <a:p>
              <a:pPr marL="285750" indent="-285750" algn="l" fontAlgn="auto">
                <a:lnSpc>
                  <a:spcPct val="130000"/>
                </a:lnSpc>
                <a:buFont typeface="Wingdings" panose="05000000000000000000" charset="0"/>
                <a:buChar char="Ø"/>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单独的导航链接：基于文本的链接、图标、按钮、开关等。</a:t>
              </a:r>
            </a:p>
            <a:p>
              <a:pPr marL="285750" indent="-285750" algn="l" fontAlgn="auto">
                <a:lnSpc>
                  <a:spcPct val="130000"/>
                </a:lnSpc>
                <a:buFont typeface="Wingdings" panose="05000000000000000000" charset="0"/>
                <a:buChar char="Ø"/>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水平（或垂直）导航条：在包含合适链接的工具条中列出重要的内容或功能类别。</a:t>
              </a:r>
            </a:p>
            <a:p>
              <a:pPr marL="285750" indent="-285750" algn="l" fontAlgn="auto">
                <a:lnSpc>
                  <a:spcPct val="130000"/>
                </a:lnSpc>
                <a:buFont typeface="Wingdings" panose="05000000000000000000" charset="0"/>
                <a:buChar char="Ø"/>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标签：代表内容或功能类别，在需要链接时作为标签页选中。</a:t>
              </a:r>
            </a:p>
            <a:p>
              <a:pPr marL="285750" indent="-285750" algn="l" fontAlgn="auto">
                <a:lnSpc>
                  <a:spcPct val="130000"/>
                </a:lnSpc>
                <a:buFont typeface="Wingdings" panose="05000000000000000000" charset="0"/>
                <a:buChar char="Ø"/>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网站地图：向包含在WebApp中的所有内容对象和功能提供完整的导航内容表格。</a:t>
              </a:r>
            </a:p>
            <a:p>
              <a:pPr indent="457200" algn="l" fontAlgn="auto">
                <a:lnSpc>
                  <a:spcPct val="130000"/>
                </a:lnSpc>
                <a:defRPr/>
              </a:pPr>
              <a:r>
                <a:rPr lang="en-US" altLang="zh-CN">
                  <a:latin typeface="微软雅黑" panose="020B0503020204020204" charset="-122"/>
                  <a:ea typeface="微软雅黑" panose="020B0503020204020204" charset="-122"/>
                  <a:cs typeface="Arial" panose="020B0604020202020204" pitchFamily="34" charset="0"/>
                </a:rPr>
                <a:t>除了选择导航机制外，设计人员还应该建立合适的导航习惯。根据分析模型中所定义的内容元素和功能元素之间的关系，建立合适的导航链接。另外还应该考虑设计听觉和视觉反馈，提示用户导航选项已被选择。对于基于文本的导航，应该用颜色来显示导航链接，并给出链接已经被访问的提示。</a:t>
              </a:r>
            </a:p>
          </p:txBody>
        </p:sp>
        <p:cxnSp>
          <p:nvCxnSpPr>
            <p:cNvPr id="3088" name="MH_Other_8"/>
            <p:cNvCxnSpPr>
              <a:cxnSpLocks noChangeShapeType="1"/>
            </p:cNvCxnSpPr>
            <p:nvPr/>
          </p:nvCxnSpPr>
          <p:spPr bwMode="auto">
            <a:xfrm flipV="1">
              <a:off x="3249399" y="5127647"/>
              <a:ext cx="9424670" cy="33020"/>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2356" y="4576445"/>
              <a:ext cx="738664" cy="1336040"/>
            </a:xfrm>
            <a:prstGeom prst="rect">
              <a:avLst/>
            </a:prstGeom>
            <a:noFill/>
            <a:ln w="9525">
              <a:noFill/>
              <a:miter lim="800000"/>
            </a:ln>
          </p:spPr>
          <p:txBody>
            <a:bodyPr vert="eaVert" wrap="square" lIns="0" tIns="0" rIns="0" bIns="0">
              <a:spAutoFit/>
            </a:bodyPr>
            <a:lstStyle/>
            <a:p>
              <a:pPr algn="ctr" eaLnBrk="1" hangingPunct="1"/>
              <a:r>
                <a:rPr lang="en-US" altLang="zh-CN" sz="4800" b="1" dirty="0">
                  <a:solidFill>
                    <a:srgbClr val="00B0F0"/>
                  </a:solidFill>
                  <a:ea typeface="微软雅黑 Light" panose="020B0502040204020203" pitchFamily="34" charset="-122"/>
                </a:rPr>
                <a:t>03</a:t>
              </a:r>
            </a:p>
          </p:txBody>
        </p:sp>
      </p:grpSp>
    </p:spTree>
    <p:custDataLst>
      <p:tags r:id="rId1"/>
    </p:custDataLst>
  </p:cSld>
  <p:clrMapOvr>
    <a:masterClrMapping/>
  </p:clrMapOvr>
  <p:transition>
    <p:zoom dir="in"/>
  </p:transition>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7</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测试</a:t>
            </a:r>
          </a:p>
        </p:txBody>
      </p:sp>
      <p:grpSp>
        <p:nvGrpSpPr>
          <p:cNvPr id="11" name="组合 10"/>
          <p:cNvGrpSpPr/>
          <p:nvPr/>
        </p:nvGrpSpPr>
        <p:grpSpPr>
          <a:xfrm>
            <a:off x="6006465" y="4013835"/>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测试过程概述</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内容测试</a:t>
              </a:r>
            </a:p>
          </p:txBody>
        </p:sp>
      </p:grpSp>
      <p:grpSp>
        <p:nvGrpSpPr>
          <p:cNvPr id="16" name="组合 15"/>
          <p:cNvGrpSpPr/>
          <p:nvPr/>
        </p:nvGrpSpPr>
        <p:grpSpPr>
          <a:xfrm>
            <a:off x="6006465" y="4849495"/>
            <a:ext cx="3712210" cy="835660"/>
            <a:chOff x="9459" y="7637"/>
            <a:chExt cx="5846" cy="1316"/>
          </a:xfrm>
        </p:grpSpPr>
        <p:sp>
          <p:nvSpPr>
            <p:cNvPr id="5" name="文本框 4"/>
            <p:cNvSpPr txBox="1"/>
            <p:nvPr/>
          </p:nvSpPr>
          <p:spPr>
            <a:xfrm>
              <a:off x="9459" y="76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界面测试</a:t>
              </a:r>
            </a:p>
          </p:txBody>
        </p:sp>
        <p:sp>
          <p:nvSpPr>
            <p:cNvPr id="6" name="文本框 5"/>
            <p:cNvSpPr txBox="1"/>
            <p:nvPr/>
          </p:nvSpPr>
          <p:spPr>
            <a:xfrm>
              <a:off x="9459" y="8295"/>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导航测试</a:t>
              </a:r>
            </a:p>
          </p:txBody>
        </p:sp>
      </p:grpSp>
      <p:sp>
        <p:nvSpPr>
          <p:cNvPr id="9" name="文本框 8"/>
          <p:cNvSpPr txBox="1"/>
          <p:nvPr/>
        </p:nvSpPr>
        <p:spPr>
          <a:xfrm>
            <a:off x="8498205" y="484949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性能测试</a:t>
            </a:r>
          </a:p>
        </p:txBody>
      </p:sp>
      <p:grpSp>
        <p:nvGrpSpPr>
          <p:cNvPr id="13" name="组合 12"/>
          <p:cNvGrpSpPr/>
          <p:nvPr/>
        </p:nvGrpSpPr>
        <p:grpSpPr>
          <a:xfrm>
            <a:off x="8498205" y="4013835"/>
            <a:ext cx="3712845" cy="835660"/>
            <a:chOff x="9459" y="7259"/>
            <a:chExt cx="5847" cy="1316"/>
          </a:xfrm>
        </p:grpSpPr>
        <p:sp>
          <p:nvSpPr>
            <p:cNvPr id="14" name="文本框 13"/>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配置测试</a:t>
              </a:r>
            </a:p>
          </p:txBody>
        </p:sp>
        <p:sp>
          <p:nvSpPr>
            <p:cNvPr id="15" name="文本框 14"/>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安全性测试</a:t>
              </a:r>
            </a:p>
          </p:txBody>
        </p:sp>
      </p:grpSp>
    </p:spTree>
  </p:cSld>
  <p:clrMapOvr>
    <a:masterClrMapping/>
  </p:clrMapOvr>
  <p:transition spd="slow">
    <p:wipe/>
  </p:transition>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err="1">
                <a:sym typeface="+mn-ea"/>
              </a:rPr>
              <a:t>WebApp</a:t>
            </a:r>
            <a:r>
              <a:rPr lang="zh-CN" altLang="en-US" dirty="0">
                <a:sym typeface="+mn-ea"/>
              </a:rPr>
              <a:t>测试</a:t>
            </a:r>
          </a:p>
        </p:txBody>
      </p:sp>
      <p:grpSp>
        <p:nvGrpSpPr>
          <p:cNvPr id="9" name="组合 8"/>
          <p:cNvGrpSpPr/>
          <p:nvPr/>
        </p:nvGrpSpPr>
        <p:grpSpPr>
          <a:xfrm>
            <a:off x="7488353" y="2161186"/>
            <a:ext cx="4004732" cy="2735263"/>
            <a:chOff x="631497" y="2493909"/>
            <a:chExt cx="4004732" cy="2735263"/>
          </a:xfrm>
        </p:grpSpPr>
        <p:sp>
          <p:nvSpPr>
            <p:cNvPr id="21" name="MH_SubTitle_1"/>
            <p:cNvSpPr/>
            <p:nvPr>
              <p:custDataLst>
                <p:tags r:id="rId3"/>
              </p:custDataLst>
            </p:nvPr>
          </p:nvSpPr>
          <p:spPr>
            <a:xfrm>
              <a:off x="631497" y="2493909"/>
              <a:ext cx="1996017" cy="1362075"/>
            </a:xfrm>
            <a:custGeom>
              <a:avLst/>
              <a:gdLst>
                <a:gd name="connsiteX0" fmla="*/ 642391 w 2037100"/>
                <a:gd name="connsiteY0" fmla="*/ 48 h 1855148"/>
                <a:gd name="connsiteX1" fmla="*/ 1525960 w 2037100"/>
                <a:gd name="connsiteY1" fmla="*/ 299770 h 1855148"/>
                <a:gd name="connsiteX2" fmla="*/ 2017271 w 2037100"/>
                <a:gd name="connsiteY2" fmla="*/ 1687170 h 1855148"/>
                <a:gd name="connsiteX3" fmla="*/ 2009145 w 2037100"/>
                <a:gd name="connsiteY3" fmla="*/ 1728202 h 1855148"/>
                <a:gd name="connsiteX4" fmla="*/ 1970730 w 2037100"/>
                <a:gd name="connsiteY4" fmla="*/ 1744754 h 1855148"/>
                <a:gd name="connsiteX5" fmla="*/ 511140 w 2037100"/>
                <a:gd name="connsiteY5" fmla="*/ 1555378 h 1855148"/>
                <a:gd name="connsiteX6" fmla="*/ 19829 w 2037100"/>
                <a:gd name="connsiteY6" fmla="*/ 167979 h 1855148"/>
                <a:gd name="connsiteX7" fmla="*/ 27955 w 2037100"/>
                <a:gd name="connsiteY7" fmla="*/ 126946 h 1855148"/>
                <a:gd name="connsiteX8" fmla="*/ 66371 w 2037100"/>
                <a:gd name="connsiteY8" fmla="*/ 110395 h 1855148"/>
                <a:gd name="connsiteX9" fmla="*/ 642391 w 2037100"/>
                <a:gd name="connsiteY9" fmla="*/ 48 h 1855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7100" h="1855148">
                  <a:moveTo>
                    <a:pt x="642391" y="48"/>
                  </a:moveTo>
                  <a:cubicBezTo>
                    <a:pt x="962148" y="-2471"/>
                    <a:pt x="1272177" y="94656"/>
                    <a:pt x="1525960" y="299770"/>
                  </a:cubicBezTo>
                  <a:cubicBezTo>
                    <a:pt x="1932011" y="627952"/>
                    <a:pt x="2097967" y="1154910"/>
                    <a:pt x="2017271" y="1687170"/>
                  </a:cubicBezTo>
                  <a:lnTo>
                    <a:pt x="2009145" y="1728202"/>
                  </a:lnTo>
                  <a:lnTo>
                    <a:pt x="1970730" y="1744754"/>
                  </a:lnTo>
                  <a:cubicBezTo>
                    <a:pt x="1467236" y="1935295"/>
                    <a:pt x="917192" y="1883561"/>
                    <a:pt x="511140" y="1555378"/>
                  </a:cubicBezTo>
                  <a:cubicBezTo>
                    <a:pt x="105089" y="1227196"/>
                    <a:pt x="-60866" y="700239"/>
                    <a:pt x="19829" y="167979"/>
                  </a:cubicBezTo>
                  <a:lnTo>
                    <a:pt x="27955" y="126946"/>
                  </a:lnTo>
                  <a:lnTo>
                    <a:pt x="66371" y="110395"/>
                  </a:lnTo>
                  <a:cubicBezTo>
                    <a:pt x="255181" y="38942"/>
                    <a:pt x="450537" y="1559"/>
                    <a:pt x="642391" y="48"/>
                  </a:cubicBezTo>
                  <a:close/>
                </a:path>
              </a:pathLst>
            </a:custGeom>
            <a:blipFill>
              <a:blip r:embed="rId10"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fontAlgn="auto" hangingPunct="1">
                <a:spcBef>
                  <a:spcPts val="0"/>
                </a:spcBef>
                <a:spcAft>
                  <a:spcPts val="0"/>
                </a:spcAft>
                <a:defRPr/>
              </a:pPr>
              <a:r>
                <a:rPr lang="en-US" altLang="zh-CN" sz="2000" dirty="0">
                  <a:solidFill>
                    <a:srgbClr val="FFFFFF"/>
                  </a:solidFill>
                  <a:latin typeface="微软雅黑" panose="020B0503020204020204" charset="-122"/>
                  <a:ea typeface="微软雅黑" panose="020B0503020204020204" charset="-122"/>
                </a:rPr>
                <a:t> </a:t>
              </a:r>
              <a:endParaRPr lang="zh-CN" altLang="en-US" sz="2000" dirty="0">
                <a:solidFill>
                  <a:srgbClr val="FFFFFF"/>
                </a:solidFill>
                <a:latin typeface="微软雅黑" panose="020B0503020204020204" charset="-122"/>
                <a:ea typeface="微软雅黑" panose="020B0503020204020204" charset="-122"/>
              </a:endParaRPr>
            </a:p>
          </p:txBody>
        </p:sp>
        <p:sp>
          <p:nvSpPr>
            <p:cNvPr id="22" name="MH_SubTitle_2"/>
            <p:cNvSpPr/>
            <p:nvPr>
              <p:custDataLst>
                <p:tags r:id="rId4"/>
              </p:custDataLst>
            </p:nvPr>
          </p:nvSpPr>
          <p:spPr>
            <a:xfrm>
              <a:off x="2640213" y="2493909"/>
              <a:ext cx="1996016" cy="1362075"/>
            </a:xfrm>
            <a:custGeom>
              <a:avLst/>
              <a:gdLst>
                <a:gd name="connsiteX0" fmla="*/ 1394709 w 2037100"/>
                <a:gd name="connsiteY0" fmla="*/ 48 h 1855148"/>
                <a:gd name="connsiteX1" fmla="*/ 1970730 w 2037100"/>
                <a:gd name="connsiteY1" fmla="*/ 110395 h 1855148"/>
                <a:gd name="connsiteX2" fmla="*/ 2009145 w 2037100"/>
                <a:gd name="connsiteY2" fmla="*/ 126946 h 1855148"/>
                <a:gd name="connsiteX3" fmla="*/ 2017271 w 2037100"/>
                <a:gd name="connsiteY3" fmla="*/ 167979 h 1855148"/>
                <a:gd name="connsiteX4" fmla="*/ 1525960 w 2037100"/>
                <a:gd name="connsiteY4" fmla="*/ 1555378 h 1855148"/>
                <a:gd name="connsiteX5" fmla="*/ 66370 w 2037100"/>
                <a:gd name="connsiteY5" fmla="*/ 1744754 h 1855148"/>
                <a:gd name="connsiteX6" fmla="*/ 27955 w 2037100"/>
                <a:gd name="connsiteY6" fmla="*/ 1728202 h 1855148"/>
                <a:gd name="connsiteX7" fmla="*/ 19829 w 2037100"/>
                <a:gd name="connsiteY7" fmla="*/ 1687170 h 1855148"/>
                <a:gd name="connsiteX8" fmla="*/ 511140 w 2037100"/>
                <a:gd name="connsiteY8" fmla="*/ 299770 h 1855148"/>
                <a:gd name="connsiteX9" fmla="*/ 1394709 w 2037100"/>
                <a:gd name="connsiteY9" fmla="*/ 48 h 1855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7100" h="1855148">
                  <a:moveTo>
                    <a:pt x="1394709" y="48"/>
                  </a:moveTo>
                  <a:cubicBezTo>
                    <a:pt x="1586563" y="1559"/>
                    <a:pt x="1781920" y="38942"/>
                    <a:pt x="1970730" y="110395"/>
                  </a:cubicBezTo>
                  <a:lnTo>
                    <a:pt x="2009145" y="126946"/>
                  </a:lnTo>
                  <a:lnTo>
                    <a:pt x="2017271" y="167979"/>
                  </a:lnTo>
                  <a:cubicBezTo>
                    <a:pt x="2097966" y="700239"/>
                    <a:pt x="1932011" y="1227196"/>
                    <a:pt x="1525960" y="1555378"/>
                  </a:cubicBezTo>
                  <a:cubicBezTo>
                    <a:pt x="1119908" y="1883561"/>
                    <a:pt x="569864" y="1935295"/>
                    <a:pt x="66370" y="1744754"/>
                  </a:cubicBezTo>
                  <a:lnTo>
                    <a:pt x="27955" y="1728202"/>
                  </a:lnTo>
                  <a:lnTo>
                    <a:pt x="19829" y="1687170"/>
                  </a:lnTo>
                  <a:cubicBezTo>
                    <a:pt x="-60867" y="1154910"/>
                    <a:pt x="105089" y="627952"/>
                    <a:pt x="511140" y="299770"/>
                  </a:cubicBezTo>
                  <a:cubicBezTo>
                    <a:pt x="764922" y="94656"/>
                    <a:pt x="1074952" y="-2471"/>
                    <a:pt x="1394709" y="48"/>
                  </a:cubicBezTo>
                  <a:close/>
                </a:path>
              </a:pathLst>
            </a:custGeom>
            <a:blipFill>
              <a:blip r:embed="rId11"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fontAlgn="auto" hangingPunct="1">
                <a:spcBef>
                  <a:spcPts val="0"/>
                </a:spcBef>
                <a:spcAft>
                  <a:spcPts val="0"/>
                </a:spcAft>
                <a:defRPr/>
              </a:pPr>
              <a:r>
                <a:rPr lang="en-US" altLang="zh-CN" sz="2000" dirty="0">
                  <a:solidFill>
                    <a:srgbClr val="FFFFFF"/>
                  </a:solidFill>
                  <a:latin typeface="微软雅黑" panose="020B0503020204020204" charset="-122"/>
                  <a:ea typeface="微软雅黑" panose="020B0503020204020204" charset="-122"/>
                </a:rPr>
                <a:t> </a:t>
              </a:r>
              <a:endParaRPr lang="zh-CN" altLang="en-US" sz="2000" dirty="0">
                <a:solidFill>
                  <a:srgbClr val="FFFFFF"/>
                </a:solidFill>
                <a:latin typeface="微软雅黑" panose="020B0503020204020204" charset="-122"/>
                <a:ea typeface="微软雅黑" panose="020B0503020204020204" charset="-122"/>
              </a:endParaRPr>
            </a:p>
          </p:txBody>
        </p:sp>
        <p:sp>
          <p:nvSpPr>
            <p:cNvPr id="23" name="MH_SubTitle_3"/>
            <p:cNvSpPr/>
            <p:nvPr>
              <p:custDataLst>
                <p:tags r:id="rId5"/>
              </p:custDataLst>
            </p:nvPr>
          </p:nvSpPr>
          <p:spPr>
            <a:xfrm>
              <a:off x="631497" y="3865509"/>
              <a:ext cx="1996017" cy="1363663"/>
            </a:xfrm>
            <a:custGeom>
              <a:avLst/>
              <a:gdLst>
                <a:gd name="connsiteX0" fmla="*/ 1394709 w 2037100"/>
                <a:gd name="connsiteY0" fmla="*/ 47 h 1855146"/>
                <a:gd name="connsiteX1" fmla="*/ 1970730 w 2037100"/>
                <a:gd name="connsiteY1" fmla="*/ 110394 h 1855146"/>
                <a:gd name="connsiteX2" fmla="*/ 2009145 w 2037100"/>
                <a:gd name="connsiteY2" fmla="*/ 126945 h 1855146"/>
                <a:gd name="connsiteX3" fmla="*/ 2017271 w 2037100"/>
                <a:gd name="connsiteY3" fmla="*/ 167978 h 1855146"/>
                <a:gd name="connsiteX4" fmla="*/ 1525960 w 2037100"/>
                <a:gd name="connsiteY4" fmla="*/ 1555377 h 1855146"/>
                <a:gd name="connsiteX5" fmla="*/ 66370 w 2037100"/>
                <a:gd name="connsiteY5" fmla="*/ 1744752 h 1855146"/>
                <a:gd name="connsiteX6" fmla="*/ 27955 w 2037100"/>
                <a:gd name="connsiteY6" fmla="*/ 1728201 h 1855146"/>
                <a:gd name="connsiteX7" fmla="*/ 19829 w 2037100"/>
                <a:gd name="connsiteY7" fmla="*/ 1687168 h 1855146"/>
                <a:gd name="connsiteX8" fmla="*/ 511140 w 2037100"/>
                <a:gd name="connsiteY8" fmla="*/ 299769 h 1855146"/>
                <a:gd name="connsiteX9" fmla="*/ 1394709 w 2037100"/>
                <a:gd name="connsiteY9" fmla="*/ 47 h 1855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7100" h="1855146">
                  <a:moveTo>
                    <a:pt x="1394709" y="47"/>
                  </a:moveTo>
                  <a:cubicBezTo>
                    <a:pt x="1586563" y="1558"/>
                    <a:pt x="1781919" y="38941"/>
                    <a:pt x="1970730" y="110394"/>
                  </a:cubicBezTo>
                  <a:lnTo>
                    <a:pt x="2009145" y="126945"/>
                  </a:lnTo>
                  <a:lnTo>
                    <a:pt x="2017271" y="167978"/>
                  </a:lnTo>
                  <a:cubicBezTo>
                    <a:pt x="2097966" y="700237"/>
                    <a:pt x="1932011" y="1227194"/>
                    <a:pt x="1525960" y="1555377"/>
                  </a:cubicBezTo>
                  <a:cubicBezTo>
                    <a:pt x="1119908" y="1883559"/>
                    <a:pt x="569864" y="1935294"/>
                    <a:pt x="66370" y="1744752"/>
                  </a:cubicBezTo>
                  <a:lnTo>
                    <a:pt x="27955" y="1728201"/>
                  </a:lnTo>
                  <a:lnTo>
                    <a:pt x="19829" y="1687168"/>
                  </a:lnTo>
                  <a:cubicBezTo>
                    <a:pt x="-60867" y="1154909"/>
                    <a:pt x="105089" y="627951"/>
                    <a:pt x="511140" y="299769"/>
                  </a:cubicBezTo>
                  <a:cubicBezTo>
                    <a:pt x="764923" y="94655"/>
                    <a:pt x="1074952" y="-2472"/>
                    <a:pt x="1394709" y="47"/>
                  </a:cubicBezTo>
                  <a:close/>
                </a:path>
              </a:pathLst>
            </a:custGeom>
            <a:blipFill>
              <a:blip r:embed="rId12"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fontAlgn="auto" hangingPunct="1">
                <a:spcBef>
                  <a:spcPts val="0"/>
                </a:spcBef>
                <a:spcAft>
                  <a:spcPts val="0"/>
                </a:spcAft>
                <a:defRPr/>
              </a:pPr>
              <a:r>
                <a:rPr lang="en-US" altLang="zh-CN" sz="2000" dirty="0">
                  <a:solidFill>
                    <a:srgbClr val="FFFFFF"/>
                  </a:solidFill>
                  <a:latin typeface="微软雅黑" panose="020B0503020204020204" charset="-122"/>
                  <a:ea typeface="微软雅黑" panose="020B0503020204020204" charset="-122"/>
                </a:rPr>
                <a:t> </a:t>
              </a:r>
              <a:endParaRPr lang="zh-CN" altLang="en-US" sz="2000" dirty="0">
                <a:solidFill>
                  <a:srgbClr val="FFFFFF"/>
                </a:solidFill>
                <a:latin typeface="微软雅黑" panose="020B0503020204020204" charset="-122"/>
                <a:ea typeface="微软雅黑" panose="020B0503020204020204" charset="-122"/>
              </a:endParaRPr>
            </a:p>
          </p:txBody>
        </p:sp>
        <p:sp>
          <p:nvSpPr>
            <p:cNvPr id="24" name="MH_SubTitle_4"/>
            <p:cNvSpPr/>
            <p:nvPr>
              <p:custDataLst>
                <p:tags r:id="rId6"/>
              </p:custDataLst>
            </p:nvPr>
          </p:nvSpPr>
          <p:spPr>
            <a:xfrm>
              <a:off x="2640213" y="3865509"/>
              <a:ext cx="1996016" cy="1363663"/>
            </a:xfrm>
            <a:custGeom>
              <a:avLst/>
              <a:gdLst>
                <a:gd name="connsiteX0" fmla="*/ 642391 w 2037100"/>
                <a:gd name="connsiteY0" fmla="*/ 47 h 1855146"/>
                <a:gd name="connsiteX1" fmla="*/ 1525960 w 2037100"/>
                <a:gd name="connsiteY1" fmla="*/ 299769 h 1855146"/>
                <a:gd name="connsiteX2" fmla="*/ 2017271 w 2037100"/>
                <a:gd name="connsiteY2" fmla="*/ 1687168 h 1855146"/>
                <a:gd name="connsiteX3" fmla="*/ 2009145 w 2037100"/>
                <a:gd name="connsiteY3" fmla="*/ 1728201 h 1855146"/>
                <a:gd name="connsiteX4" fmla="*/ 1970730 w 2037100"/>
                <a:gd name="connsiteY4" fmla="*/ 1744752 h 1855146"/>
                <a:gd name="connsiteX5" fmla="*/ 511140 w 2037100"/>
                <a:gd name="connsiteY5" fmla="*/ 1555377 h 1855146"/>
                <a:gd name="connsiteX6" fmla="*/ 19829 w 2037100"/>
                <a:gd name="connsiteY6" fmla="*/ 167978 h 1855146"/>
                <a:gd name="connsiteX7" fmla="*/ 27955 w 2037100"/>
                <a:gd name="connsiteY7" fmla="*/ 126945 h 1855146"/>
                <a:gd name="connsiteX8" fmla="*/ 66370 w 2037100"/>
                <a:gd name="connsiteY8" fmla="*/ 110394 h 1855146"/>
                <a:gd name="connsiteX9" fmla="*/ 642391 w 2037100"/>
                <a:gd name="connsiteY9" fmla="*/ 47 h 1855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7100" h="1855146">
                  <a:moveTo>
                    <a:pt x="642391" y="47"/>
                  </a:moveTo>
                  <a:cubicBezTo>
                    <a:pt x="962148" y="-2472"/>
                    <a:pt x="1272178" y="94655"/>
                    <a:pt x="1525960" y="299769"/>
                  </a:cubicBezTo>
                  <a:cubicBezTo>
                    <a:pt x="1932011" y="627951"/>
                    <a:pt x="2097967" y="1154909"/>
                    <a:pt x="2017271" y="1687168"/>
                  </a:cubicBezTo>
                  <a:lnTo>
                    <a:pt x="2009145" y="1728201"/>
                  </a:lnTo>
                  <a:lnTo>
                    <a:pt x="1970730" y="1744752"/>
                  </a:lnTo>
                  <a:cubicBezTo>
                    <a:pt x="1467237" y="1935294"/>
                    <a:pt x="917192" y="1883559"/>
                    <a:pt x="511140" y="1555377"/>
                  </a:cubicBezTo>
                  <a:cubicBezTo>
                    <a:pt x="105089" y="1227194"/>
                    <a:pt x="-60866" y="700237"/>
                    <a:pt x="19829" y="167978"/>
                  </a:cubicBezTo>
                  <a:lnTo>
                    <a:pt x="27955" y="126945"/>
                  </a:lnTo>
                  <a:lnTo>
                    <a:pt x="66370" y="110394"/>
                  </a:lnTo>
                  <a:cubicBezTo>
                    <a:pt x="255181" y="38941"/>
                    <a:pt x="450537" y="1558"/>
                    <a:pt x="642391" y="47"/>
                  </a:cubicBezTo>
                  <a:close/>
                </a:path>
              </a:pathLst>
            </a:custGeom>
            <a:blipFill>
              <a:blip r:embed="rId13"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fontAlgn="auto" hangingPunct="1">
                <a:spcBef>
                  <a:spcPts val="0"/>
                </a:spcBef>
                <a:spcAft>
                  <a:spcPts val="0"/>
                </a:spcAft>
                <a:defRPr/>
              </a:pPr>
              <a:r>
                <a:rPr lang="en-US" altLang="zh-CN" sz="2000" dirty="0">
                  <a:solidFill>
                    <a:srgbClr val="FFFFFF"/>
                  </a:solidFill>
                  <a:latin typeface="微软雅黑" panose="020B0503020204020204" charset="-122"/>
                  <a:ea typeface="微软雅黑" panose="020B0503020204020204" charset="-122"/>
                </a:rPr>
                <a:t> </a:t>
              </a:r>
              <a:endParaRPr lang="zh-CN" altLang="en-US" sz="2000" dirty="0">
                <a:solidFill>
                  <a:srgbClr val="FFFFFF"/>
                </a:solidFill>
                <a:latin typeface="微软雅黑" panose="020B0503020204020204" charset="-122"/>
                <a:ea typeface="微软雅黑" panose="020B0503020204020204" charset="-122"/>
              </a:endParaRPr>
            </a:p>
          </p:txBody>
        </p:sp>
        <p:sp>
          <p:nvSpPr>
            <p:cNvPr id="25" name="MH_Other_1"/>
            <p:cNvSpPr>
              <a:spLocks noChangeArrowheads="1"/>
            </p:cNvSpPr>
            <p:nvPr>
              <p:custDataLst>
                <p:tags r:id="rId7"/>
              </p:custDataLst>
            </p:nvPr>
          </p:nvSpPr>
          <p:spPr bwMode="gray">
            <a:xfrm>
              <a:off x="1975581" y="3367034"/>
              <a:ext cx="1316567" cy="989013"/>
            </a:xfrm>
            <a:prstGeom prst="ellipse">
              <a:avLst/>
            </a:prstGeom>
            <a:solidFill>
              <a:schemeClr val="bg1">
                <a:alpha val="50195"/>
              </a:schemeClr>
            </a:solidFill>
            <a:ln>
              <a:noFill/>
            </a:ln>
            <a:extLst>
              <a:ext uri="{91240B29-F687-4F45-9708-019B960494DF}">
                <a14:hiddenLine xmlns:a14="http://schemas.microsoft.com/office/drawing/2010/main" w="9525">
                  <a:solidFill>
                    <a:srgbClr val="000000"/>
                  </a:solidFill>
                  <a:round/>
                </a14:hiddenLine>
              </a:ext>
            </a:extLst>
          </p:spPr>
          <p:txBody>
            <a:bodyPr anchor="ctr">
              <a:normAutofit/>
            </a:bodyPr>
            <a:lstStyle/>
            <a:p>
              <a:pPr eaLnBrk="1" fontAlgn="auto" hangingPunct="1">
                <a:spcBef>
                  <a:spcPts val="0"/>
                </a:spcBef>
                <a:spcAft>
                  <a:spcPts val="0"/>
                </a:spcAft>
                <a:defRPr/>
              </a:pPr>
              <a:endParaRPr lang="zh-CN" altLang="en-US" sz="1350">
                <a:latin typeface="+mn-lt"/>
                <a:ea typeface="+mn-ea"/>
              </a:endParaRPr>
            </a:p>
          </p:txBody>
        </p:sp>
      </p:grpSp>
      <p:sp>
        <p:nvSpPr>
          <p:cNvPr id="26" name="MH_Desc_1"/>
          <p:cNvSpPr/>
          <p:nvPr>
            <p:custDataLst>
              <p:tags r:id="rId2"/>
            </p:custDataLst>
          </p:nvPr>
        </p:nvSpPr>
        <p:spPr bwMode="auto">
          <a:xfrm>
            <a:off x="942663" y="1750515"/>
            <a:ext cx="5725160" cy="4252749"/>
          </a:xfrm>
          <a:prstGeom prst="rect">
            <a:avLst/>
          </a:prstGeom>
          <a:solidFill>
            <a:schemeClr val="bg1">
              <a:lumMod val="9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lIns="216000" tIns="72000" rIns="216000" bIns="72000">
            <a:spAutoFit/>
          </a:bodyPr>
          <a:lstStyle/>
          <a:p>
            <a:pPr indent="457200" fontAlgn="auto">
              <a:lnSpc>
                <a:spcPct val="150000"/>
              </a:lnSpc>
            </a:pPr>
            <a:r>
              <a:rPr lang="zh-CN" altLang="en-US" dirty="0">
                <a:solidFill>
                  <a:schemeClr val="tx1"/>
                </a:solidFill>
                <a:sym typeface="Arial" panose="020B0604020202020204" pitchFamily="34" charset="0"/>
              </a:rPr>
              <a:t>随着Web技术和移动互联网的发展，越来越多的应用被迁移到了云端，这也使得用户可以随时随地使用它们。目前大量的优质应用，逐渐提升了用户的品味，也降低了用户的容忍度。如果你的Web应用无法使用户满意，那么用户很快就会选择其他的WebApp。对于开发者来说，建立良好的客户口碑才是最有意义的事情。在完成了Web应用的设计和开发工作后，并不意味着你就可以直接发布了，你还需要从各方面来对其进行测试，以便让用户在使用过程中，不会出现各种各样的问题，比如性能、使用体验、安全问题等。</a:t>
            </a:r>
          </a:p>
        </p:txBody>
      </p:sp>
    </p:spTree>
    <p:custDataLst>
      <p:tags r:id="rId1"/>
    </p:custDataLst>
  </p:cSld>
  <p:clrMapOvr>
    <a:masterClrMapping/>
  </p:clrMapOvr>
  <p:transition>
    <p:comb dir="vert"/>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8.7.1 </a:t>
            </a:r>
            <a:r>
              <a:rPr sz="2400" dirty="0">
                <a:solidFill>
                  <a:schemeClr val="tx1"/>
                </a:solidFill>
              </a:rPr>
              <a:t>测试过程概述</a:t>
            </a:r>
          </a:p>
        </p:txBody>
      </p:sp>
      <p:sp>
        <p:nvSpPr>
          <p:cNvPr id="8" name="MH_Other_1"/>
          <p:cNvSpPr>
            <a:spLocks noChangeArrowheads="1"/>
          </p:cNvSpPr>
          <p:nvPr>
            <p:custDataLst>
              <p:tags r:id="rId2"/>
            </p:custDataLst>
          </p:nvPr>
        </p:nvSpPr>
        <p:spPr bwMode="auto">
          <a:xfrm>
            <a:off x="1308378" y="3157558"/>
            <a:ext cx="673100" cy="50482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9" name="MH_Other_2"/>
          <p:cNvSpPr>
            <a:spLocks noChangeArrowheads="1"/>
          </p:cNvSpPr>
          <p:nvPr>
            <p:custDataLst>
              <p:tags r:id="rId3"/>
            </p:custDataLst>
          </p:nvPr>
        </p:nvSpPr>
        <p:spPr bwMode="auto">
          <a:xfrm>
            <a:off x="2019577" y="3262332"/>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3"/>
          <p:cNvSpPr>
            <a:spLocks noChangeArrowheads="1"/>
          </p:cNvSpPr>
          <p:nvPr>
            <p:custDataLst>
              <p:tags r:id="rId4"/>
            </p:custDataLst>
          </p:nvPr>
        </p:nvSpPr>
        <p:spPr bwMode="auto">
          <a:xfrm>
            <a:off x="1460778" y="3690958"/>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4"/>
          <p:cNvSpPr>
            <a:spLocks noChangeArrowheads="1"/>
          </p:cNvSpPr>
          <p:nvPr>
            <p:custDataLst>
              <p:tags r:id="rId5"/>
            </p:custDataLst>
          </p:nvPr>
        </p:nvSpPr>
        <p:spPr bwMode="auto">
          <a:xfrm>
            <a:off x="2019578" y="3690958"/>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SubTitle_1"/>
          <p:cNvSpPr/>
          <p:nvPr>
            <p:custDataLst>
              <p:tags r:id="rId6"/>
            </p:custDataLst>
          </p:nvPr>
        </p:nvSpPr>
        <p:spPr>
          <a:xfrm>
            <a:off x="2940049" y="3014011"/>
            <a:ext cx="7884000" cy="1211019"/>
          </a:xfrm>
          <a:prstGeom prst="rect">
            <a:avLst/>
          </a:prstGeom>
        </p:spPr>
        <p:txBody>
          <a:bodyPr lIns="72000" tIns="72000" rIns="72000" bIns="72000" anchor="ctr">
            <a:spAutoFit/>
          </a:bodyPr>
          <a:lstStyle/>
          <a:p>
            <a:pPr>
              <a:lnSpc>
                <a:spcPct val="150000"/>
              </a:lnSpc>
              <a:defRPr/>
            </a:pPr>
            <a:r>
              <a:rPr lang="zh-CN" altLang="en-US" sz="1600" b="1" dirty="0">
                <a:sym typeface="+mn-ea"/>
              </a:rPr>
              <a:t>内容测试</a:t>
            </a:r>
            <a:r>
              <a:rPr lang="zh-CN" altLang="en-US" sz="1600" dirty="0">
                <a:sym typeface="+mn-ea"/>
              </a:rPr>
              <a:t>试图发现内容方面的错误，如静态内容的错误，包括排字错误、语法错误、内容一致性错误、图形表示错误、交叉引用错误等。此外，还应检测从数据库系统所维护的数据中导出的动态内容。</a:t>
            </a:r>
          </a:p>
        </p:txBody>
      </p:sp>
      <p:sp>
        <p:nvSpPr>
          <p:cNvPr id="13" name="MH_Other_5"/>
          <p:cNvSpPr>
            <a:spLocks noChangeArrowheads="1"/>
          </p:cNvSpPr>
          <p:nvPr>
            <p:custDataLst>
              <p:tags r:id="rId7"/>
            </p:custDataLst>
          </p:nvPr>
        </p:nvSpPr>
        <p:spPr bwMode="auto">
          <a:xfrm>
            <a:off x="1308378" y="5325534"/>
            <a:ext cx="673100" cy="50482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4" name="MH_Other_6"/>
          <p:cNvSpPr>
            <a:spLocks noChangeArrowheads="1"/>
          </p:cNvSpPr>
          <p:nvPr>
            <p:custDataLst>
              <p:tags r:id="rId8"/>
            </p:custDataLst>
          </p:nvPr>
        </p:nvSpPr>
        <p:spPr bwMode="auto">
          <a:xfrm>
            <a:off x="2019578" y="5430308"/>
            <a:ext cx="533400" cy="40005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7"/>
          <p:cNvSpPr>
            <a:spLocks noChangeArrowheads="1"/>
          </p:cNvSpPr>
          <p:nvPr>
            <p:custDataLst>
              <p:tags r:id="rId9"/>
            </p:custDataLst>
          </p:nvPr>
        </p:nvSpPr>
        <p:spPr bwMode="auto">
          <a:xfrm>
            <a:off x="1460778" y="5858934"/>
            <a:ext cx="520700" cy="39052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6" name="MH_Other_8"/>
          <p:cNvSpPr>
            <a:spLocks noChangeArrowheads="1"/>
          </p:cNvSpPr>
          <p:nvPr>
            <p:custDataLst>
              <p:tags r:id="rId10"/>
            </p:custDataLst>
          </p:nvPr>
        </p:nvSpPr>
        <p:spPr bwMode="auto">
          <a:xfrm>
            <a:off x="2019578" y="5858934"/>
            <a:ext cx="673100" cy="33337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SubTitle_3"/>
          <p:cNvSpPr/>
          <p:nvPr>
            <p:custDataLst>
              <p:tags r:id="rId11"/>
            </p:custDataLst>
          </p:nvPr>
        </p:nvSpPr>
        <p:spPr>
          <a:xfrm>
            <a:off x="2940049" y="5495756"/>
            <a:ext cx="7884000" cy="472355"/>
          </a:xfrm>
          <a:prstGeom prst="rect">
            <a:avLst/>
          </a:prstGeom>
        </p:spPr>
        <p:txBody>
          <a:bodyPr lIns="72000" tIns="72000" rIns="72000" bIns="72000" anchor="ctr">
            <a:spAutoFit/>
          </a:bodyPr>
          <a:lstStyle/>
          <a:p>
            <a:pPr>
              <a:lnSpc>
                <a:spcPct val="150000"/>
              </a:lnSpc>
              <a:defRPr/>
            </a:pPr>
            <a:r>
              <a:rPr lang="zh-CN" altLang="en-US" sz="1600" b="1" dirty="0">
                <a:sym typeface="+mn-ea"/>
              </a:rPr>
              <a:t>导航测试</a:t>
            </a:r>
            <a:r>
              <a:rPr lang="zh-CN" altLang="en-US" sz="1600" dirty="0">
                <a:sym typeface="+mn-ea"/>
              </a:rPr>
              <a:t>对照导航设计检查每一个使用场景，识别并改正用例完成时的错误。</a:t>
            </a:r>
          </a:p>
        </p:txBody>
      </p:sp>
      <p:sp>
        <p:nvSpPr>
          <p:cNvPr id="18" name="MH_Other_9"/>
          <p:cNvSpPr>
            <a:spLocks noChangeArrowheads="1"/>
          </p:cNvSpPr>
          <p:nvPr>
            <p:custDataLst>
              <p:tags r:id="rId12"/>
            </p:custDataLst>
          </p:nvPr>
        </p:nvSpPr>
        <p:spPr bwMode="auto">
          <a:xfrm>
            <a:off x="1308378" y="4216508"/>
            <a:ext cx="673100" cy="50482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9" name="MH_Other_10"/>
          <p:cNvSpPr>
            <a:spLocks noChangeArrowheads="1"/>
          </p:cNvSpPr>
          <p:nvPr>
            <p:custDataLst>
              <p:tags r:id="rId13"/>
            </p:custDataLst>
          </p:nvPr>
        </p:nvSpPr>
        <p:spPr bwMode="auto">
          <a:xfrm>
            <a:off x="2019577" y="4321283"/>
            <a:ext cx="533400" cy="40005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1"/>
          <p:cNvSpPr>
            <a:spLocks noChangeArrowheads="1"/>
          </p:cNvSpPr>
          <p:nvPr>
            <p:custDataLst>
              <p:tags r:id="rId14"/>
            </p:custDataLst>
          </p:nvPr>
        </p:nvSpPr>
        <p:spPr bwMode="auto">
          <a:xfrm>
            <a:off x="1460778" y="4749909"/>
            <a:ext cx="520700" cy="39052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12"/>
          <p:cNvSpPr>
            <a:spLocks noChangeArrowheads="1"/>
          </p:cNvSpPr>
          <p:nvPr>
            <p:custDataLst>
              <p:tags r:id="rId15"/>
            </p:custDataLst>
          </p:nvPr>
        </p:nvSpPr>
        <p:spPr bwMode="auto">
          <a:xfrm>
            <a:off x="2019578" y="4749908"/>
            <a:ext cx="673100" cy="33337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SubTitle_2"/>
          <p:cNvSpPr/>
          <p:nvPr>
            <p:custDataLst>
              <p:tags r:id="rId16"/>
            </p:custDataLst>
          </p:nvPr>
        </p:nvSpPr>
        <p:spPr>
          <a:xfrm>
            <a:off x="2940049" y="4257352"/>
            <a:ext cx="7884000" cy="841687"/>
          </a:xfrm>
          <a:prstGeom prst="rect">
            <a:avLst/>
          </a:prstGeom>
        </p:spPr>
        <p:txBody>
          <a:bodyPr lIns="72000" tIns="72000" rIns="72000" bIns="72000" anchor="ctr">
            <a:spAutoFit/>
          </a:bodyPr>
          <a:lstStyle/>
          <a:p>
            <a:pPr lvl="0" algn="just" fontAlgn="auto">
              <a:lnSpc>
                <a:spcPct val="150000"/>
              </a:lnSpc>
              <a:spcBef>
                <a:spcPct val="0"/>
              </a:spcBef>
            </a:pPr>
            <a:r>
              <a:rPr lang="zh-CN" altLang="en-US" sz="1600" b="1" dirty="0">
                <a:sym typeface="+mn-ea"/>
              </a:rPr>
              <a:t>界面测试</a:t>
            </a:r>
            <a:r>
              <a:rPr lang="zh-CN" altLang="en-US" sz="1600" dirty="0">
                <a:sym typeface="+mn-ea"/>
              </a:rPr>
              <a:t>验证用户界面的交互机制及美学方面，目的是发现由于实现错误的交互机制而产生的错误，或者由于粗心而产生的遗漏、不一致或歧义性。</a:t>
            </a:r>
          </a:p>
        </p:txBody>
      </p:sp>
      <p:sp>
        <p:nvSpPr>
          <p:cNvPr id="26" name="文本框 4"/>
          <p:cNvSpPr txBox="1"/>
          <p:nvPr/>
        </p:nvSpPr>
        <p:spPr>
          <a:xfrm>
            <a:off x="1120140" y="2017395"/>
            <a:ext cx="9951720" cy="875689"/>
          </a:xfrm>
          <a:prstGeom prst="rect">
            <a:avLst/>
          </a:prstGeom>
          <a:noFill/>
        </p:spPr>
        <p:txBody>
          <a:bodyPr wrap="square" rtlCol="0" anchor="t">
            <a:spAutoFit/>
          </a:bodyPr>
          <a:lstStyle/>
          <a:p>
            <a:pPr indent="-285750">
              <a:lnSpc>
                <a:spcPct val="150000"/>
              </a:lnSpc>
            </a:pPr>
            <a:r>
              <a:rPr lang="en-US" altLang="zh-CN" dirty="0"/>
              <a:t>            </a:t>
            </a:r>
            <a:r>
              <a:rPr lang="zh-CN" altLang="zh-CN" dirty="0"/>
              <a:t>在对</a:t>
            </a:r>
            <a:r>
              <a:rPr lang="en-US" altLang="zh-CN" dirty="0"/>
              <a:t>Web</a:t>
            </a:r>
            <a:r>
              <a:rPr lang="zh-CN" altLang="zh-CN" dirty="0"/>
              <a:t>工程进行测试时，首先测试最终用户能够看到的内容和界面，再对体系结构及导航设计的各个方面进行测试。</a:t>
            </a:r>
          </a:p>
        </p:txBody>
      </p:sp>
    </p:spTree>
    <p:custDataLst>
      <p:tags r:id="rId1"/>
    </p:custDataLst>
  </p:cSld>
  <p:clrMapOvr>
    <a:masterClrMapping/>
  </p:clrMapOvr>
  <p:transition>
    <p:comb dir="vert"/>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8.7.1 </a:t>
            </a:r>
            <a:r>
              <a:rPr sz="2400" dirty="0">
                <a:solidFill>
                  <a:schemeClr val="tx1"/>
                </a:solidFill>
              </a:rPr>
              <a:t>测试过程概述</a:t>
            </a:r>
          </a:p>
        </p:txBody>
      </p:sp>
      <p:sp>
        <p:nvSpPr>
          <p:cNvPr id="8" name="MH_Other_1"/>
          <p:cNvSpPr>
            <a:spLocks noChangeArrowheads="1"/>
          </p:cNvSpPr>
          <p:nvPr>
            <p:custDataLst>
              <p:tags r:id="rId2"/>
            </p:custDataLst>
          </p:nvPr>
        </p:nvSpPr>
        <p:spPr bwMode="auto">
          <a:xfrm>
            <a:off x="1238528" y="2250311"/>
            <a:ext cx="673082" cy="504866"/>
          </a:xfrm>
          <a:prstGeom prst="rect">
            <a:avLst/>
          </a:prstGeom>
          <a:solidFill>
            <a:schemeClr val="accent6">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4</a:t>
            </a:r>
          </a:p>
        </p:txBody>
      </p:sp>
      <p:sp>
        <p:nvSpPr>
          <p:cNvPr id="9" name="MH_Other_2"/>
          <p:cNvSpPr>
            <a:spLocks noChangeArrowheads="1"/>
          </p:cNvSpPr>
          <p:nvPr>
            <p:custDataLst>
              <p:tags r:id="rId3"/>
            </p:custDataLst>
          </p:nvPr>
        </p:nvSpPr>
        <p:spPr bwMode="auto">
          <a:xfrm>
            <a:off x="1949709" y="2355095"/>
            <a:ext cx="533386" cy="400083"/>
          </a:xfrm>
          <a:prstGeom prst="rect">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3"/>
          <p:cNvSpPr>
            <a:spLocks noChangeArrowheads="1"/>
          </p:cNvSpPr>
          <p:nvPr>
            <p:custDataLst>
              <p:tags r:id="rId4"/>
            </p:custDataLst>
          </p:nvPr>
        </p:nvSpPr>
        <p:spPr bwMode="auto">
          <a:xfrm>
            <a:off x="1390924" y="2783755"/>
            <a:ext cx="520686" cy="390557"/>
          </a:xfrm>
          <a:prstGeom prst="rect">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4"/>
          <p:cNvSpPr>
            <a:spLocks noChangeArrowheads="1"/>
          </p:cNvSpPr>
          <p:nvPr>
            <p:custDataLst>
              <p:tags r:id="rId5"/>
            </p:custDataLst>
          </p:nvPr>
        </p:nvSpPr>
        <p:spPr bwMode="auto">
          <a:xfrm>
            <a:off x="1949709" y="2783755"/>
            <a:ext cx="673082" cy="333402"/>
          </a:xfrm>
          <a:prstGeom prst="rect">
            <a:avLst/>
          </a:prstGeom>
          <a:solidFill>
            <a:schemeClr val="accent6">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SubTitle_1"/>
          <p:cNvSpPr/>
          <p:nvPr>
            <p:custDataLst>
              <p:tags r:id="rId6"/>
            </p:custDataLst>
          </p:nvPr>
        </p:nvSpPr>
        <p:spPr>
          <a:xfrm>
            <a:off x="2870435" y="1977137"/>
            <a:ext cx="8388000" cy="1949683"/>
          </a:xfrm>
          <a:prstGeom prst="rect">
            <a:avLst/>
          </a:prstGeom>
        </p:spPr>
        <p:txBody>
          <a:bodyPr lIns="72000" tIns="72000" rIns="72000" bIns="72000" anchor="t" anchorCtr="0">
            <a:spAutoFit/>
          </a:bodyPr>
          <a:lstStyle/>
          <a:p>
            <a:pPr algn="just">
              <a:lnSpc>
                <a:spcPct val="150000"/>
              </a:lnSpc>
              <a:defRPr/>
            </a:pPr>
            <a:r>
              <a:rPr lang="zh-CN" altLang="en-US" sz="1600" b="1" dirty="0">
                <a:sym typeface="+mn-ea"/>
              </a:rPr>
              <a:t>构件测试</a:t>
            </a:r>
            <a:r>
              <a:rPr lang="zh-CN" altLang="en-US" sz="1600" dirty="0">
                <a:sym typeface="+mn-ea"/>
              </a:rPr>
              <a:t>用于检查WebApp中的内容及功能单元，以及对数据能力进行测试。可以是单元（即Web页面，每一个Web页包括内容、链接、表单、脚本、Java等），也可以是定义的功能构件（直接向最终用户提供服务）或基础结构构件（使得WebApp达到它的所有能力）。每一个构件的测试方法与传统软件中单个模块的测试方法是一样的，使用面向黑盒的测试。如果处理程序复杂也可使用白盒测试。</a:t>
            </a:r>
          </a:p>
        </p:txBody>
      </p:sp>
      <p:sp>
        <p:nvSpPr>
          <p:cNvPr id="13" name="MH_Other_5"/>
          <p:cNvSpPr>
            <a:spLocks noChangeArrowheads="1"/>
          </p:cNvSpPr>
          <p:nvPr>
            <p:custDataLst>
              <p:tags r:id="rId7"/>
            </p:custDataLst>
          </p:nvPr>
        </p:nvSpPr>
        <p:spPr bwMode="auto">
          <a:xfrm>
            <a:off x="1238316" y="5128852"/>
            <a:ext cx="673096" cy="504825"/>
          </a:xfrm>
          <a:prstGeom prst="rect">
            <a:avLst/>
          </a:prstGeom>
          <a:solidFill>
            <a:schemeClr val="accent2">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6</a:t>
            </a:r>
          </a:p>
        </p:txBody>
      </p:sp>
      <p:sp>
        <p:nvSpPr>
          <p:cNvPr id="14" name="MH_Other_6"/>
          <p:cNvSpPr>
            <a:spLocks noChangeArrowheads="1"/>
          </p:cNvSpPr>
          <p:nvPr>
            <p:custDataLst>
              <p:tags r:id="rId8"/>
            </p:custDataLst>
          </p:nvPr>
        </p:nvSpPr>
        <p:spPr bwMode="auto">
          <a:xfrm>
            <a:off x="1949512" y="5233627"/>
            <a:ext cx="533397" cy="400050"/>
          </a:xfrm>
          <a:prstGeom prst="rect">
            <a:avLst/>
          </a:prstGeom>
          <a:solidFill>
            <a:schemeClr val="accent2">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7"/>
          <p:cNvSpPr>
            <a:spLocks noChangeArrowheads="1"/>
          </p:cNvSpPr>
          <p:nvPr>
            <p:custDataLst>
              <p:tags r:id="rId9"/>
            </p:custDataLst>
          </p:nvPr>
        </p:nvSpPr>
        <p:spPr bwMode="auto">
          <a:xfrm>
            <a:off x="1390715" y="5662252"/>
            <a:ext cx="520697" cy="390525"/>
          </a:xfrm>
          <a:prstGeom prst="rect">
            <a:avLst/>
          </a:prstGeom>
          <a:solidFill>
            <a:schemeClr val="accent2">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6" name="MH_Other_8"/>
          <p:cNvSpPr>
            <a:spLocks noChangeArrowheads="1"/>
          </p:cNvSpPr>
          <p:nvPr>
            <p:custDataLst>
              <p:tags r:id="rId10"/>
            </p:custDataLst>
          </p:nvPr>
        </p:nvSpPr>
        <p:spPr bwMode="auto">
          <a:xfrm>
            <a:off x="1949512" y="5662252"/>
            <a:ext cx="673096" cy="333375"/>
          </a:xfrm>
          <a:prstGeom prst="rect">
            <a:avLst/>
          </a:prstGeom>
          <a:solidFill>
            <a:schemeClr val="accent2">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SubTitle_3"/>
          <p:cNvSpPr/>
          <p:nvPr>
            <p:custDataLst>
              <p:tags r:id="rId11"/>
            </p:custDataLst>
          </p:nvPr>
        </p:nvSpPr>
        <p:spPr>
          <a:xfrm>
            <a:off x="2870435" y="5278620"/>
            <a:ext cx="8388000" cy="472355"/>
          </a:xfrm>
          <a:prstGeom prst="rect">
            <a:avLst/>
          </a:prstGeom>
        </p:spPr>
        <p:txBody>
          <a:bodyPr lIns="72000" tIns="72000" rIns="72000" bIns="72000" anchor="t" anchorCtr="0">
            <a:spAutoFit/>
          </a:bodyPr>
          <a:lstStyle/>
          <a:p>
            <a:pPr algn="just">
              <a:lnSpc>
                <a:spcPct val="150000"/>
              </a:lnSpc>
              <a:defRPr/>
            </a:pPr>
            <a:r>
              <a:rPr lang="zh-CN" altLang="en-US" sz="1600" b="1" dirty="0">
                <a:sym typeface="+mn-ea"/>
              </a:rPr>
              <a:t>安全性测试</a:t>
            </a:r>
            <a:r>
              <a:rPr lang="zh-CN" altLang="en-US" sz="1600" dirty="0">
                <a:sym typeface="+mn-ea"/>
              </a:rPr>
              <a:t>考虑WebApp及其环境中的弱点，测试是否有可能产生安全性破环。</a:t>
            </a:r>
          </a:p>
        </p:txBody>
      </p:sp>
      <p:sp>
        <p:nvSpPr>
          <p:cNvPr id="18" name="MH_Other_9"/>
          <p:cNvSpPr>
            <a:spLocks noChangeArrowheads="1"/>
          </p:cNvSpPr>
          <p:nvPr>
            <p:custDataLst>
              <p:tags r:id="rId12"/>
            </p:custDataLst>
          </p:nvPr>
        </p:nvSpPr>
        <p:spPr bwMode="auto">
          <a:xfrm>
            <a:off x="1238528" y="3965851"/>
            <a:ext cx="673082" cy="504826"/>
          </a:xfrm>
          <a:prstGeom prst="rect">
            <a:avLst/>
          </a:prstGeom>
          <a:solidFill>
            <a:schemeClr val="accent4">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05</a:t>
            </a:r>
            <a:endParaRPr lang="zh-CN" altLang="en-US" sz="2400" b="1">
              <a:solidFill>
                <a:srgbClr val="FFFFFF"/>
              </a:solidFill>
              <a:ea typeface="微软雅黑" panose="020B0503020204020204" charset="-122"/>
            </a:endParaRPr>
          </a:p>
        </p:txBody>
      </p:sp>
      <p:sp>
        <p:nvSpPr>
          <p:cNvPr id="19" name="MH_Other_10"/>
          <p:cNvSpPr>
            <a:spLocks noChangeArrowheads="1"/>
          </p:cNvSpPr>
          <p:nvPr>
            <p:custDataLst>
              <p:tags r:id="rId13"/>
            </p:custDataLst>
          </p:nvPr>
        </p:nvSpPr>
        <p:spPr bwMode="auto">
          <a:xfrm>
            <a:off x="1949709" y="4070626"/>
            <a:ext cx="533386" cy="40005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1"/>
          <p:cNvSpPr>
            <a:spLocks noChangeArrowheads="1"/>
          </p:cNvSpPr>
          <p:nvPr>
            <p:custDataLst>
              <p:tags r:id="rId14"/>
            </p:custDataLst>
          </p:nvPr>
        </p:nvSpPr>
        <p:spPr bwMode="auto">
          <a:xfrm>
            <a:off x="1390924" y="4499252"/>
            <a:ext cx="520686" cy="39052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12"/>
          <p:cNvSpPr>
            <a:spLocks noChangeArrowheads="1"/>
          </p:cNvSpPr>
          <p:nvPr>
            <p:custDataLst>
              <p:tags r:id="rId15"/>
            </p:custDataLst>
          </p:nvPr>
        </p:nvSpPr>
        <p:spPr bwMode="auto">
          <a:xfrm>
            <a:off x="1949709" y="4499252"/>
            <a:ext cx="673082" cy="33337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SubTitle_2"/>
          <p:cNvSpPr/>
          <p:nvPr>
            <p:custDataLst>
              <p:tags r:id="rId16"/>
            </p:custDataLst>
          </p:nvPr>
        </p:nvSpPr>
        <p:spPr>
          <a:xfrm>
            <a:off x="2870435" y="4041132"/>
            <a:ext cx="8388000" cy="841687"/>
          </a:xfrm>
          <a:prstGeom prst="rect">
            <a:avLst/>
          </a:prstGeom>
        </p:spPr>
        <p:txBody>
          <a:bodyPr lIns="72000" tIns="72000" rIns="72000" bIns="72000" anchor="t" anchorCtr="0">
            <a:spAutoFit/>
          </a:bodyPr>
          <a:lstStyle/>
          <a:p>
            <a:pPr lvl="0" algn="just" fontAlgn="auto">
              <a:lnSpc>
                <a:spcPct val="150000"/>
              </a:lnSpc>
            </a:pPr>
            <a:r>
              <a:rPr lang="zh-CN" altLang="en-US" sz="1600" b="1" dirty="0">
                <a:sym typeface="+mn-ea"/>
              </a:rPr>
              <a:t>配置测试</a:t>
            </a:r>
            <a:r>
              <a:rPr lang="zh-CN" altLang="en-US" sz="1600" dirty="0">
                <a:sym typeface="+mn-ea"/>
              </a:rPr>
              <a:t>用于发现特定的客户或服务器环境中的错误。发现应用的操作系统、浏览器、硬件平台及通信协议等，每一种可能配置的错误。</a:t>
            </a:r>
          </a:p>
        </p:txBody>
      </p:sp>
    </p:spTree>
    <p:custDataLst>
      <p:tags r:id="rId1"/>
    </p:custDataLst>
  </p:cSld>
  <p:clrMapOvr>
    <a:masterClrMapping/>
  </p:clrMapOvr>
  <p:transition>
    <p:comb dir="vert"/>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8.7.2 </a:t>
            </a:r>
            <a:r>
              <a:rPr sz="2400" dirty="0">
                <a:solidFill>
                  <a:schemeClr val="tx1"/>
                </a:solidFill>
              </a:rPr>
              <a:t>内容测试</a:t>
            </a:r>
          </a:p>
        </p:txBody>
      </p:sp>
      <p:grpSp>
        <p:nvGrpSpPr>
          <p:cNvPr id="3" name="组合 2"/>
          <p:cNvGrpSpPr/>
          <p:nvPr/>
        </p:nvGrpSpPr>
        <p:grpSpPr>
          <a:xfrm>
            <a:off x="1331595" y="2456198"/>
            <a:ext cx="9299575" cy="3014980"/>
            <a:chOff x="2172" y="3247"/>
            <a:chExt cx="14645" cy="4748"/>
          </a:xfrm>
        </p:grpSpPr>
        <p:sp>
          <p:nvSpPr>
            <p:cNvPr id="12" name="任意多边形 11"/>
            <p:cNvSpPr/>
            <p:nvPr>
              <p:custDataLst>
                <p:tags r:id="rId5"/>
              </p:custDataLst>
            </p:nvPr>
          </p:nvSpPr>
          <p:spPr>
            <a:xfrm>
              <a:off x="2172" y="3247"/>
              <a:ext cx="2587" cy="4748"/>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4" name="圆角矩形 13"/>
            <p:cNvSpPr/>
            <p:nvPr>
              <p:custDataLst>
                <p:tags r:id="rId6"/>
              </p:custDataLst>
            </p:nvPr>
          </p:nvSpPr>
          <p:spPr>
            <a:xfrm>
              <a:off x="4126" y="3757"/>
              <a:ext cx="12479" cy="774"/>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endParaRPr lang="zh-CN" altLang="en-US" sz="1800">
                <a:solidFill>
                  <a:schemeClr val="tx1"/>
                </a:solidFill>
              </a:endParaRPr>
            </a:p>
          </p:txBody>
        </p:sp>
        <p:sp>
          <p:nvSpPr>
            <p:cNvPr id="15" name="椭圆 14"/>
            <p:cNvSpPr/>
            <p:nvPr>
              <p:custDataLst>
                <p:tags r:id="rId7"/>
              </p:custDataLst>
            </p:nvPr>
          </p:nvSpPr>
          <p:spPr>
            <a:xfrm>
              <a:off x="4126" y="3692"/>
              <a:ext cx="1017" cy="904"/>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7" name="文本框 54"/>
            <p:cNvSpPr txBox="1">
              <a:spLocks noChangeArrowheads="1"/>
            </p:cNvSpPr>
            <p:nvPr>
              <p:custDataLst>
                <p:tags r:id="rId8"/>
              </p:custDataLst>
            </p:nvPr>
          </p:nvSpPr>
          <p:spPr bwMode="auto">
            <a:xfrm>
              <a:off x="5410" y="3853"/>
              <a:ext cx="10850" cy="5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n-lt"/>
                  <a:ea typeface="+mn-ea"/>
                </a:rPr>
                <a:t>发现基于文本的文档、图形表示和其他媒体中的语法错误。</a:t>
              </a:r>
            </a:p>
          </p:txBody>
        </p:sp>
        <p:sp>
          <p:nvSpPr>
            <p:cNvPr id="16" name="圆角矩形 15"/>
            <p:cNvSpPr/>
            <p:nvPr>
              <p:custDataLst>
                <p:tags r:id="rId9"/>
              </p:custDataLst>
            </p:nvPr>
          </p:nvSpPr>
          <p:spPr>
            <a:xfrm>
              <a:off x="2901" y="5334"/>
              <a:ext cx="13703" cy="774"/>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endParaRPr lang="zh-CN" altLang="en-US" sz="1800">
                <a:solidFill>
                  <a:schemeClr val="tx1"/>
                </a:solidFill>
              </a:endParaRPr>
            </a:p>
          </p:txBody>
        </p:sp>
        <p:sp>
          <p:nvSpPr>
            <p:cNvPr id="17" name="椭圆 16"/>
            <p:cNvSpPr/>
            <p:nvPr>
              <p:custDataLst>
                <p:tags r:id="rId10"/>
              </p:custDataLst>
            </p:nvPr>
          </p:nvSpPr>
          <p:spPr>
            <a:xfrm>
              <a:off x="2871" y="5272"/>
              <a:ext cx="1017" cy="904"/>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8" name="文本框 55"/>
            <p:cNvSpPr txBox="1">
              <a:spLocks noChangeArrowheads="1"/>
            </p:cNvSpPr>
            <p:nvPr>
              <p:custDataLst>
                <p:tags r:id="rId11"/>
              </p:custDataLst>
            </p:nvPr>
          </p:nvSpPr>
          <p:spPr bwMode="auto">
            <a:xfrm>
              <a:off x="3888" y="5454"/>
              <a:ext cx="12929" cy="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n-lt"/>
                  <a:ea typeface="+mn-ea"/>
                </a:rPr>
                <a:t>发现导航时的语义错误，即信息的精确性和完备性方面的错误。</a:t>
              </a:r>
            </a:p>
          </p:txBody>
        </p:sp>
        <p:sp>
          <p:nvSpPr>
            <p:cNvPr id="18" name="圆角矩形 17"/>
            <p:cNvSpPr/>
            <p:nvPr>
              <p:custDataLst>
                <p:tags r:id="rId12"/>
              </p:custDataLst>
            </p:nvPr>
          </p:nvSpPr>
          <p:spPr>
            <a:xfrm>
              <a:off x="4163" y="6869"/>
              <a:ext cx="12442" cy="776"/>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13"/>
              </p:custDataLst>
            </p:nvPr>
          </p:nvSpPr>
          <p:spPr>
            <a:xfrm>
              <a:off x="4129" y="6804"/>
              <a:ext cx="1017" cy="904"/>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9" name="文本框 56"/>
            <p:cNvSpPr txBox="1">
              <a:spLocks noChangeArrowheads="1"/>
            </p:cNvSpPr>
            <p:nvPr>
              <p:custDataLst>
                <p:tags r:id="rId14"/>
              </p:custDataLst>
            </p:nvPr>
          </p:nvSpPr>
          <p:spPr bwMode="auto">
            <a:xfrm>
              <a:off x="5410" y="6999"/>
              <a:ext cx="8587" cy="5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a:latin typeface="+mn-lt"/>
                  <a:ea typeface="+mn-ea"/>
                </a:rPr>
                <a:t>发现展示给用户的内容、组织、结构方面的错误。</a:t>
              </a:r>
            </a:p>
          </p:txBody>
        </p:sp>
        <p:sp>
          <p:nvSpPr>
            <p:cNvPr id="66" name="文本框 44"/>
            <p:cNvSpPr txBox="1"/>
            <p:nvPr/>
          </p:nvSpPr>
          <p:spPr>
            <a:xfrm>
              <a:off x="4394" y="3774"/>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23" name="文本框 44"/>
            <p:cNvSpPr txBox="1"/>
            <p:nvPr/>
          </p:nvSpPr>
          <p:spPr>
            <a:xfrm>
              <a:off x="3135" y="5340"/>
              <a:ext cx="488"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sz="2400" b="1" dirty="0">
                  <a:solidFill>
                    <a:schemeClr val="bg1"/>
                  </a:solidFill>
                  <a:latin typeface="微软雅黑" panose="020B0503020204020204" charset="-122"/>
                  <a:ea typeface="微软雅黑" panose="020B0503020204020204" charset="-122"/>
                </a:rPr>
                <a:t>2</a:t>
              </a:r>
            </a:p>
          </p:txBody>
        </p:sp>
        <p:sp>
          <p:nvSpPr>
            <p:cNvPr id="24" name="文本框 44"/>
            <p:cNvSpPr txBox="1"/>
            <p:nvPr/>
          </p:nvSpPr>
          <p:spPr>
            <a:xfrm>
              <a:off x="4394" y="6869"/>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grpSp>
      <p:sp>
        <p:nvSpPr>
          <p:cNvPr id="35" name="文本框 34"/>
          <p:cNvSpPr txBox="1"/>
          <p:nvPr/>
        </p:nvSpPr>
        <p:spPr>
          <a:xfrm>
            <a:off x="1264284" y="5507355"/>
            <a:ext cx="9708516" cy="701731"/>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在内容测试期间，要对内容体系结构的结构及组织进行测试，以确保将所需要的内容以合适的顺序和关系展现给最终的用户。</a:t>
            </a:r>
          </a:p>
        </p:txBody>
      </p:sp>
      <p:sp>
        <p:nvSpPr>
          <p:cNvPr id="22" name="MH_SubTitle_2"/>
          <p:cNvSpPr/>
          <p:nvPr>
            <p:custDataLst>
              <p:tags r:id="rId2"/>
            </p:custDataLst>
          </p:nvPr>
        </p:nvSpPr>
        <p:spPr>
          <a:xfrm flipH="1">
            <a:off x="7211695" y="184919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内容测试</a:t>
            </a:r>
          </a:p>
        </p:txBody>
      </p:sp>
      <p:sp>
        <p:nvSpPr>
          <p:cNvPr id="25" name="MH_Other_5"/>
          <p:cNvSpPr/>
          <p:nvPr>
            <p:custDataLst>
              <p:tags r:id="rId3"/>
            </p:custDataLst>
          </p:nvPr>
        </p:nvSpPr>
        <p:spPr>
          <a:xfrm flipH="1">
            <a:off x="11218449" y="172751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26" name="MH_Other_6"/>
          <p:cNvSpPr/>
          <p:nvPr>
            <p:custDataLst>
              <p:tags r:id="rId4"/>
            </p:custDataLst>
          </p:nvPr>
        </p:nvSpPr>
        <p:spPr>
          <a:xfrm flipH="1">
            <a:off x="10721376" y="172593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comb dir="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to="" calcmode="lin" valueType="num">
                                      <p:cBhvr>
                                        <p:cTn id="7" dur="1" fill="hold"/>
                                        <p:tgtEl>
                                          <p:spTgt spid="3"/>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8.7.2 </a:t>
            </a:r>
            <a:r>
              <a:rPr sz="2400" dirty="0">
                <a:solidFill>
                  <a:schemeClr val="tx1"/>
                </a:solidFill>
              </a:rPr>
              <a:t>内容测试</a:t>
            </a:r>
          </a:p>
        </p:txBody>
      </p:sp>
      <p:grpSp>
        <p:nvGrpSpPr>
          <p:cNvPr id="5" name="组合 4"/>
          <p:cNvGrpSpPr/>
          <p:nvPr/>
        </p:nvGrpSpPr>
        <p:grpSpPr>
          <a:xfrm>
            <a:off x="15240" y="2698750"/>
            <a:ext cx="12026265" cy="3043555"/>
            <a:chOff x="0" y="2130426"/>
            <a:chExt cx="21645385" cy="3649762"/>
          </a:xfrm>
        </p:grpSpPr>
        <p:sp>
          <p:nvSpPr>
            <p:cNvPr id="6"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8"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2"/>
              </p:custDataLst>
            </p:nvPr>
          </p:nvSpPr>
          <p:spPr bwMode="auto">
            <a:xfrm>
              <a:off x="7402564" y="2238557"/>
              <a:ext cx="13383360" cy="2319461"/>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在移动互联网上，很多数据库管理系统非常复杂，并且构建动态的内容对象。由于移动互联的特殊性，客户端请求的原始信息很少能够以能被输入到数据库管理系统（DBMS）中的形式表示出来。数据库可能离装载WebApp的服务器很远，而且从数据库中获取的原始数据一定要传递给WebApp服务器，并且这些原始数据要被正确地格式化，然后才能传递给客户端。并且动态内容对象要以能够显示给最终用户的形式传递给客户端。</a:t>
              </a:r>
            </a:p>
          </p:txBody>
        </p:sp>
      </p:grpSp>
      <p:sp>
        <p:nvSpPr>
          <p:cNvPr id="14" name="MH_SubTitle_2"/>
          <p:cNvSpPr/>
          <p:nvPr>
            <p:custDataLst>
              <p:tags r:id="rId2"/>
            </p:custDataLst>
          </p:nvPr>
        </p:nvSpPr>
        <p:spPr>
          <a:xfrm flipH="1">
            <a:off x="7211695" y="184919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数据库测试</a:t>
            </a:r>
          </a:p>
        </p:txBody>
      </p:sp>
      <p:sp>
        <p:nvSpPr>
          <p:cNvPr id="15" name="MH_Other_5"/>
          <p:cNvSpPr/>
          <p:nvPr>
            <p:custDataLst>
              <p:tags r:id="rId3"/>
            </p:custDataLst>
          </p:nvPr>
        </p:nvSpPr>
        <p:spPr>
          <a:xfrm flipH="1">
            <a:off x="11218449" y="172751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16" name="MH_Other_6"/>
          <p:cNvSpPr/>
          <p:nvPr>
            <p:custDataLst>
              <p:tags r:id="rId4"/>
            </p:custDataLst>
          </p:nvPr>
        </p:nvSpPr>
        <p:spPr>
          <a:xfrm flipH="1">
            <a:off x="10721376" y="172593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comb dir="vert"/>
  </p:transition>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8.7.2 </a:t>
            </a:r>
            <a:r>
              <a:rPr sz="2400" dirty="0">
                <a:solidFill>
                  <a:schemeClr val="tx1"/>
                </a:solidFill>
              </a:rPr>
              <a:t>内容测试</a:t>
            </a:r>
          </a:p>
        </p:txBody>
      </p:sp>
      <p:sp>
        <p:nvSpPr>
          <p:cNvPr id="7" name="文本框 6"/>
          <p:cNvSpPr txBox="1"/>
          <p:nvPr/>
        </p:nvSpPr>
        <p:spPr>
          <a:xfrm>
            <a:off x="754380" y="33883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71" name="文本框 70"/>
          <p:cNvSpPr txBox="1"/>
          <p:nvPr>
            <p:custDataLst>
              <p:tags r:id="rId2"/>
            </p:custDataLst>
          </p:nvPr>
        </p:nvSpPr>
        <p:spPr>
          <a:xfrm>
            <a:off x="6839585" y="4010660"/>
            <a:ext cx="458470" cy="584835"/>
          </a:xfrm>
          <a:prstGeom prst="rect">
            <a:avLst/>
          </a:prstGeom>
          <a:noFill/>
        </p:spPr>
        <p:txBody>
          <a:bodyPr wrap="none" rtlCol="0">
            <a:normAutofit/>
          </a:bodyPr>
          <a:lstStyle/>
          <a:p>
            <a:r>
              <a:rPr lang="en-US" altLang="zh-CN" sz="3200">
                <a:solidFill>
                  <a:srgbClr val="FFFFFF"/>
                </a:solidFill>
                <a:sym typeface="Arial" panose="020B0604020202020204" pitchFamily="34" charset="0"/>
              </a:rPr>
              <a:t>B</a:t>
            </a:r>
            <a:endParaRPr lang="zh-CN" altLang="en-US" sz="3200">
              <a:solidFill>
                <a:srgbClr val="FFFFFF"/>
              </a:solidFill>
              <a:sym typeface="Arial" panose="020B0604020202020204" pitchFamily="34" charset="0"/>
            </a:endParaRPr>
          </a:p>
        </p:txBody>
      </p:sp>
      <p:sp>
        <p:nvSpPr>
          <p:cNvPr id="72" name="文本框 71"/>
          <p:cNvSpPr txBox="1"/>
          <p:nvPr>
            <p:custDataLst>
              <p:tags r:id="rId3"/>
            </p:custDataLst>
          </p:nvPr>
        </p:nvSpPr>
        <p:spPr>
          <a:xfrm>
            <a:off x="4968875" y="4010660"/>
            <a:ext cx="481330" cy="584835"/>
          </a:xfrm>
          <a:prstGeom prst="rect">
            <a:avLst/>
          </a:prstGeom>
          <a:noFill/>
        </p:spPr>
        <p:txBody>
          <a:bodyPr wrap="none" rtlCol="0">
            <a:normAutofit/>
          </a:bodyPr>
          <a:lstStyle>
            <a:defPPr>
              <a:defRPr lang="zh-CN"/>
            </a:defPPr>
            <a:lvl1pPr>
              <a:defRPr sz="3200">
                <a:solidFill>
                  <a:srgbClr val="FFFFFF"/>
                </a:solidFill>
              </a:defRPr>
            </a:lvl1pPr>
          </a:lstStyle>
          <a:p>
            <a:r>
              <a:rPr lang="en-US" altLang="zh-CN">
                <a:sym typeface="Arial" panose="020B0604020202020204" pitchFamily="34" charset="0"/>
              </a:rPr>
              <a:t>D</a:t>
            </a:r>
            <a:endParaRPr lang="zh-CN" altLang="en-US">
              <a:sym typeface="Arial" panose="020B0604020202020204" pitchFamily="34" charset="0"/>
            </a:endParaRPr>
          </a:p>
        </p:txBody>
      </p:sp>
      <p:sp>
        <p:nvSpPr>
          <p:cNvPr id="73" name="文本框 72"/>
          <p:cNvSpPr txBox="1"/>
          <p:nvPr>
            <p:custDataLst>
              <p:tags r:id="rId4"/>
            </p:custDataLst>
          </p:nvPr>
        </p:nvSpPr>
        <p:spPr>
          <a:xfrm>
            <a:off x="5854700" y="3209925"/>
            <a:ext cx="458470" cy="584835"/>
          </a:xfrm>
          <a:prstGeom prst="rect">
            <a:avLst/>
          </a:prstGeom>
          <a:noFill/>
        </p:spPr>
        <p:txBody>
          <a:bodyPr wrap="none" rtlCol="0">
            <a:normAutofit/>
          </a:bodyPr>
          <a:lstStyle/>
          <a:p>
            <a:r>
              <a:rPr lang="en-US" altLang="zh-CN" sz="3200" dirty="0">
                <a:solidFill>
                  <a:srgbClr val="FFFFFF"/>
                </a:solidFill>
                <a:sym typeface="Arial" panose="020B0604020202020204" pitchFamily="34" charset="0"/>
              </a:rPr>
              <a:t>A</a:t>
            </a:r>
            <a:endParaRPr lang="zh-CN" altLang="en-US" sz="3200" dirty="0">
              <a:solidFill>
                <a:srgbClr val="FFFFFF"/>
              </a:solidFill>
              <a:sym typeface="Arial" panose="020B0604020202020204" pitchFamily="34" charset="0"/>
            </a:endParaRPr>
          </a:p>
        </p:txBody>
      </p:sp>
      <p:sp>
        <p:nvSpPr>
          <p:cNvPr id="74" name="文本框 73"/>
          <p:cNvSpPr txBox="1"/>
          <p:nvPr>
            <p:custDataLst>
              <p:tags r:id="rId5"/>
            </p:custDataLst>
          </p:nvPr>
        </p:nvSpPr>
        <p:spPr>
          <a:xfrm>
            <a:off x="5870575" y="4983480"/>
            <a:ext cx="481330" cy="584835"/>
          </a:xfrm>
          <a:prstGeom prst="rect">
            <a:avLst/>
          </a:prstGeom>
          <a:noFill/>
        </p:spPr>
        <p:txBody>
          <a:bodyPr wrap="none" rtlCol="0">
            <a:normAutofit/>
          </a:bodyPr>
          <a:lstStyle/>
          <a:p>
            <a:r>
              <a:rPr lang="en-US" altLang="zh-CN" sz="3200">
                <a:solidFill>
                  <a:srgbClr val="FFFFFF"/>
                </a:solidFill>
                <a:sym typeface="Arial" panose="020B0604020202020204" pitchFamily="34" charset="0"/>
              </a:rPr>
              <a:t>C</a:t>
            </a:r>
            <a:endParaRPr lang="zh-CN" altLang="en-US" sz="3200">
              <a:solidFill>
                <a:srgbClr val="FFFFFF"/>
              </a:solidFill>
              <a:sym typeface="Arial" panose="020B0604020202020204" pitchFamily="34" charset="0"/>
            </a:endParaRPr>
          </a:p>
        </p:txBody>
      </p:sp>
      <p:sp>
        <p:nvSpPr>
          <p:cNvPr id="30" name="MH_SubTitle_2"/>
          <p:cNvSpPr/>
          <p:nvPr>
            <p:custDataLst>
              <p:tags r:id="rId6"/>
            </p:custDataLst>
          </p:nvPr>
        </p:nvSpPr>
        <p:spPr>
          <a:xfrm flipH="1">
            <a:off x="7211695" y="184919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数据库测试</a:t>
            </a:r>
          </a:p>
        </p:txBody>
      </p:sp>
      <p:sp>
        <p:nvSpPr>
          <p:cNvPr id="31" name="MH_Other_5"/>
          <p:cNvSpPr/>
          <p:nvPr>
            <p:custDataLst>
              <p:tags r:id="rId7"/>
            </p:custDataLst>
          </p:nvPr>
        </p:nvSpPr>
        <p:spPr>
          <a:xfrm flipH="1">
            <a:off x="11218449" y="172751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32" name="MH_Other_6"/>
          <p:cNvSpPr/>
          <p:nvPr>
            <p:custDataLst>
              <p:tags r:id="rId8"/>
            </p:custDataLst>
          </p:nvPr>
        </p:nvSpPr>
        <p:spPr>
          <a:xfrm flipH="1">
            <a:off x="10721376" y="172593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nvGrpSpPr>
          <p:cNvPr id="34" name="组合 33"/>
          <p:cNvGrpSpPr/>
          <p:nvPr/>
        </p:nvGrpSpPr>
        <p:grpSpPr>
          <a:xfrm>
            <a:off x="15240" y="2698750"/>
            <a:ext cx="12026265" cy="3043555"/>
            <a:chOff x="0" y="2130426"/>
            <a:chExt cx="21645385" cy="3649762"/>
          </a:xfrm>
        </p:grpSpPr>
        <p:sp>
          <p:nvSpPr>
            <p:cNvPr id="35" name="MH_Other_1"/>
            <p:cNvSpPr/>
            <p:nvPr>
              <p:custDataLst>
                <p:tags r:id="rId9"/>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36" name="MH_Other_2"/>
            <p:cNvSpPr/>
            <p:nvPr>
              <p:custDataLst>
                <p:tags r:id="rId10"/>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37" name="MH_Other_3"/>
            <p:cNvSpPr/>
            <p:nvPr>
              <p:custDataLst>
                <p:tags r:id="rId11"/>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38" name="MH_Other_4"/>
            <p:cNvSpPr>
              <a:spLocks noChangeArrowheads="1"/>
            </p:cNvSpPr>
            <p:nvPr>
              <p:custDataLst>
                <p:tags r:id="rId12"/>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39" name="MH_Other_5"/>
            <p:cNvSpPr>
              <a:spLocks noChangeArrowheads="1"/>
            </p:cNvSpPr>
            <p:nvPr>
              <p:custDataLst>
                <p:tags r:id="rId13"/>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40" name="MH_Other_6"/>
            <p:cNvSpPr>
              <a:spLocks noChangeArrowheads="1"/>
            </p:cNvSpPr>
            <p:nvPr>
              <p:custDataLst>
                <p:tags r:id="rId14"/>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41" name="MH_Other_7"/>
            <p:cNvSpPr/>
            <p:nvPr>
              <p:custDataLst>
                <p:tags r:id="rId15"/>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2" name="MH_Text_1"/>
            <p:cNvSpPr/>
            <p:nvPr>
              <p:custDataLst>
                <p:tags r:id="rId16"/>
              </p:custDataLst>
            </p:nvPr>
          </p:nvSpPr>
          <p:spPr bwMode="auto">
            <a:xfrm>
              <a:off x="7299703" y="2512688"/>
              <a:ext cx="13383360" cy="2846402"/>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a:lnSpc>
                  <a:spcPct val="130000"/>
                </a:lnSpc>
              </a:pPr>
              <a:r>
                <a:rPr lang="zh-CN" altLang="zh-CN" dirty="0">
                  <a:solidFill>
                    <a:schemeClr val="tx1"/>
                  </a:solidFill>
                  <a:latin typeface="微软雅黑" panose="020B0503020204020204" charset="-122"/>
                  <a:ea typeface="微软雅黑" panose="020B0503020204020204" charset="-122"/>
                </a:rPr>
                <a:t>测试应该保证：</a:t>
              </a:r>
            </a:p>
            <a:p>
              <a:pPr>
                <a:lnSpc>
                  <a:spcPct val="130000"/>
                </a:lnSpc>
              </a:pPr>
              <a:r>
                <a:rPr lang="zh-CN" altLang="zh-CN"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1</a:t>
              </a:r>
              <a:r>
                <a:rPr lang="zh-CN" altLang="zh-CN" dirty="0">
                  <a:solidFill>
                    <a:schemeClr val="tx1"/>
                  </a:solidFill>
                  <a:latin typeface="微软雅黑" panose="020B0503020204020204" charset="-122"/>
                  <a:ea typeface="微软雅黑" panose="020B0503020204020204" charset="-122"/>
                </a:rPr>
                <a:t>）有效信息通过界面层在客户机与服务器之间传递。</a:t>
              </a:r>
            </a:p>
            <a:p>
              <a:pPr>
                <a:lnSpc>
                  <a:spcPct val="130000"/>
                </a:lnSpc>
              </a:pPr>
              <a:r>
                <a:rPr lang="zh-CN" altLang="zh-CN"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2</a:t>
              </a:r>
              <a:r>
                <a:rPr lang="zh-CN" altLang="zh-CN" dirty="0">
                  <a:solidFill>
                    <a:schemeClr val="tx1"/>
                  </a:solidFill>
                  <a:latin typeface="微软雅黑" panose="020B0503020204020204" charset="-122"/>
                  <a:ea typeface="微软雅黑" panose="020B0503020204020204" charset="-122"/>
                </a:rPr>
                <a:t>）</a:t>
              </a:r>
              <a:r>
                <a:rPr lang="en-US" altLang="zh-CN" dirty="0" err="1">
                  <a:solidFill>
                    <a:schemeClr val="tx1"/>
                  </a:solidFill>
                  <a:latin typeface="微软雅黑" panose="020B0503020204020204" charset="-122"/>
                  <a:ea typeface="微软雅黑" panose="020B0503020204020204" charset="-122"/>
                </a:rPr>
                <a:t>WebApp</a:t>
              </a:r>
              <a:r>
                <a:rPr lang="zh-CN" altLang="zh-CN" dirty="0">
                  <a:solidFill>
                    <a:schemeClr val="tx1"/>
                  </a:solidFill>
                  <a:latin typeface="微软雅黑" panose="020B0503020204020204" charset="-122"/>
                  <a:ea typeface="微软雅黑" panose="020B0503020204020204" charset="-122"/>
                </a:rPr>
                <a:t>正确地处理脚本，并且正确地抽取或格式化用户数据。</a:t>
              </a:r>
            </a:p>
            <a:p>
              <a:pPr>
                <a:lnSpc>
                  <a:spcPct val="130000"/>
                </a:lnSpc>
              </a:pPr>
              <a:r>
                <a:rPr lang="zh-CN" altLang="zh-CN"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3</a:t>
              </a:r>
              <a:r>
                <a:rPr lang="zh-CN" altLang="zh-CN" dirty="0">
                  <a:solidFill>
                    <a:schemeClr val="tx1"/>
                  </a:solidFill>
                  <a:latin typeface="微软雅黑" panose="020B0503020204020204" charset="-122"/>
                  <a:ea typeface="微软雅黑" panose="020B0503020204020204" charset="-122"/>
                </a:rPr>
                <a:t>）用户数据被正确地传递给服务器端的数据转换功能。</a:t>
              </a:r>
            </a:p>
            <a:p>
              <a:pPr>
                <a:lnSpc>
                  <a:spcPct val="130000"/>
                </a:lnSpc>
              </a:pPr>
              <a:r>
                <a:rPr lang="zh-CN" altLang="zh-CN"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4</a:t>
              </a:r>
              <a:r>
                <a:rPr lang="zh-CN" altLang="zh-CN" dirty="0">
                  <a:solidFill>
                    <a:schemeClr val="tx1"/>
                  </a:solidFill>
                  <a:latin typeface="微软雅黑" panose="020B0503020204020204" charset="-122"/>
                  <a:ea typeface="微软雅黑" panose="020B0503020204020204" charset="-122"/>
                </a:rPr>
                <a:t>）查询被传递到数据管理层，数据管理层与数据访问程序正确地通信。</a:t>
              </a:r>
            </a:p>
            <a:p>
              <a:pPr indent="457200">
                <a:lnSpc>
                  <a:spcPct val="130000"/>
                </a:lnSpc>
                <a:defRPr/>
              </a:pPr>
              <a:endParaRPr lang="da-DK" altLang="zh-CN" dirty="0">
                <a:solidFill>
                  <a:schemeClr val="tx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comb dir="vert"/>
  </p:transition>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8.7.3 </a:t>
            </a:r>
            <a:r>
              <a:rPr sz="2400" dirty="0">
                <a:solidFill>
                  <a:schemeClr val="tx1"/>
                </a:solidFill>
              </a:rPr>
              <a:t>界面测试</a:t>
            </a:r>
          </a:p>
        </p:txBody>
      </p:sp>
      <p:grpSp>
        <p:nvGrpSpPr>
          <p:cNvPr id="35" name="组合 34"/>
          <p:cNvGrpSpPr/>
          <p:nvPr/>
        </p:nvGrpSpPr>
        <p:grpSpPr>
          <a:xfrm>
            <a:off x="883920" y="4410075"/>
            <a:ext cx="10621645" cy="1981200"/>
            <a:chOff x="964" y="3475"/>
            <a:chExt cx="16727" cy="3120"/>
          </a:xfrm>
        </p:grpSpPr>
        <p:sp>
          <p:nvSpPr>
            <p:cNvPr id="18" name="MH_SubTitle_1"/>
            <p:cNvSpPr/>
            <p:nvPr>
              <p:custDataLst>
                <p:tags r:id="rId9"/>
              </p:custDataLst>
            </p:nvPr>
          </p:nvSpPr>
          <p:spPr>
            <a:xfrm>
              <a:off x="3287" y="3675"/>
              <a:ext cx="3747" cy="847"/>
            </a:xfrm>
            <a:prstGeom prst="rect">
              <a:avLst/>
            </a:prstGeom>
          </p:spPr>
          <p:txBody>
            <a:bodyPr anchor="b">
              <a:normAutofit/>
            </a:bodyPr>
            <a:lstStyle/>
            <a:p>
              <a:r>
                <a:rPr lang="zh-CN" altLang="en-US" b="1" dirty="0">
                  <a:solidFill>
                    <a:schemeClr val="accent6">
                      <a:lumMod val="75000"/>
                    </a:schemeClr>
                  </a:solidFill>
                </a:rPr>
                <a:t>文件操作和计算</a:t>
              </a:r>
            </a:p>
          </p:txBody>
        </p:sp>
        <p:grpSp>
          <p:nvGrpSpPr>
            <p:cNvPr id="34" name="组合 33"/>
            <p:cNvGrpSpPr/>
            <p:nvPr/>
          </p:nvGrpSpPr>
          <p:grpSpPr>
            <a:xfrm>
              <a:off x="964" y="3475"/>
              <a:ext cx="16727" cy="3120"/>
              <a:chOff x="1628" y="3271"/>
              <a:chExt cx="16727" cy="3120"/>
            </a:xfrm>
          </p:grpSpPr>
          <p:sp>
            <p:nvSpPr>
              <p:cNvPr id="4" name="MH_Text_1"/>
              <p:cNvSpPr/>
              <p:nvPr>
                <p:custDataLst>
                  <p:tags r:id="rId10"/>
                </p:custDataLst>
              </p:nvPr>
            </p:nvSpPr>
            <p:spPr>
              <a:xfrm>
                <a:off x="3951" y="4318"/>
                <a:ext cx="14404" cy="2073"/>
              </a:xfrm>
              <a:prstGeom prst="rect">
                <a:avLst/>
              </a:prstGeom>
            </p:spPr>
            <p:txBody>
              <a:bodyPr>
                <a:normAutofit/>
              </a:bodyPr>
              <a:lstStyle/>
              <a:p>
                <a:pPr indent="457200">
                  <a:lnSpc>
                    <a:spcPct val="150000"/>
                  </a:lnSpc>
                </a:pPr>
                <a:r>
                  <a:rPr lang="zh-CN" altLang="en-US" dirty="0">
                    <a:latin typeface="+mn-ea"/>
                  </a:rPr>
                  <a:t>这其中涉及图像和文档的上传、编辑、计算功能和正确的输出值。首先，要确保会有多少用户使用你的应用，并尽可能地调试。另外，要考虑一下如何使系统WebApp更有效地计算并显示出结果，给用户提供一个更加流畅的用户体验。</a:t>
                </a:r>
              </a:p>
            </p:txBody>
          </p:sp>
          <p:sp>
            <p:nvSpPr>
              <p:cNvPr id="25" name="MH_Other_11"/>
              <p:cNvSpPr>
                <a:spLocks noChangeArrowheads="1"/>
              </p:cNvSpPr>
              <p:nvPr>
                <p:custDataLst>
                  <p:tags r:id="rId11"/>
                </p:custDataLst>
              </p:nvPr>
            </p:nvSpPr>
            <p:spPr bwMode="auto">
              <a:xfrm>
                <a:off x="2495" y="3471"/>
                <a:ext cx="747" cy="560"/>
              </a:xfrm>
              <a:prstGeom prst="diamond">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12"/>
                </p:custDataLst>
              </p:nvPr>
            </p:nvSpPr>
            <p:spPr bwMode="auto">
              <a:xfrm>
                <a:off x="2495" y="4111"/>
                <a:ext cx="747" cy="560"/>
              </a:xfrm>
              <a:prstGeom prst="diamond">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13"/>
                </p:custDataLst>
              </p:nvPr>
            </p:nvSpPr>
            <p:spPr bwMode="auto">
              <a:xfrm>
                <a:off x="2925" y="3791"/>
                <a:ext cx="747" cy="560"/>
              </a:xfrm>
              <a:prstGeom prst="diamond">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14"/>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15"/>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6">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grpSp>
        <p:nvGrpSpPr>
          <p:cNvPr id="5" name="组合 4"/>
          <p:cNvGrpSpPr/>
          <p:nvPr/>
        </p:nvGrpSpPr>
        <p:grpSpPr>
          <a:xfrm>
            <a:off x="845820" y="2931795"/>
            <a:ext cx="10659110" cy="1840865"/>
            <a:chOff x="1021" y="3475"/>
            <a:chExt cx="16786" cy="2899"/>
          </a:xfrm>
        </p:grpSpPr>
        <p:sp>
          <p:nvSpPr>
            <p:cNvPr id="6" name="MH_SubTitle_1"/>
            <p:cNvSpPr/>
            <p:nvPr>
              <p:custDataLst>
                <p:tags r:id="rId2"/>
              </p:custDataLst>
            </p:nvPr>
          </p:nvSpPr>
          <p:spPr>
            <a:xfrm>
              <a:off x="3287" y="3675"/>
              <a:ext cx="3747" cy="847"/>
            </a:xfrm>
            <a:prstGeom prst="rect">
              <a:avLst/>
            </a:prstGeom>
          </p:spPr>
          <p:txBody>
            <a:bodyPr anchor="b">
              <a:normAutofit/>
            </a:bodyPr>
            <a:lstStyle/>
            <a:p>
              <a:r>
                <a:rPr lang="zh-CN" altLang="en-US" b="1" dirty="0">
                  <a:solidFill>
                    <a:srgbClr val="FF7C80"/>
                  </a:solidFill>
                </a:rPr>
                <a:t>表单</a:t>
              </a:r>
            </a:p>
          </p:txBody>
        </p:sp>
        <p:grpSp>
          <p:nvGrpSpPr>
            <p:cNvPr id="7" name="组合 6"/>
            <p:cNvGrpSpPr/>
            <p:nvPr/>
          </p:nvGrpSpPr>
          <p:grpSpPr>
            <a:xfrm>
              <a:off x="1021" y="3475"/>
              <a:ext cx="16786" cy="2899"/>
              <a:chOff x="1685" y="3271"/>
              <a:chExt cx="16786" cy="2899"/>
            </a:xfrm>
          </p:grpSpPr>
          <p:sp>
            <p:nvSpPr>
              <p:cNvPr id="8" name="MH_Text_1"/>
              <p:cNvSpPr/>
              <p:nvPr>
                <p:custDataLst>
                  <p:tags r:id="rId3"/>
                </p:custDataLst>
              </p:nvPr>
            </p:nvSpPr>
            <p:spPr>
              <a:xfrm>
                <a:off x="4228" y="4232"/>
                <a:ext cx="14243" cy="1938"/>
              </a:xfrm>
              <a:prstGeom prst="rect">
                <a:avLst/>
              </a:prstGeom>
            </p:spPr>
            <p:txBody>
              <a:bodyPr>
                <a:normAutofit/>
              </a:bodyPr>
              <a:lstStyle/>
              <a:p>
                <a:pPr indent="457200">
                  <a:lnSpc>
                    <a:spcPct val="150000"/>
                  </a:lnSpc>
                </a:pPr>
                <a:r>
                  <a:rPr lang="zh-CN" altLang="en-US" dirty="0">
                    <a:latin typeface="+mn-ea"/>
                  </a:rPr>
                  <a:t>无论是反馈调查、创建任务计划，还是订阅新闻，都需要用到表单。需要检查提交操作是否正常，是否能够提交链接并提交到数据中，所有字段是否能够接收输入的内容。</a:t>
                </a:r>
              </a:p>
            </p:txBody>
          </p:sp>
          <p:sp>
            <p:nvSpPr>
              <p:cNvPr id="9" name="MH_Other_11"/>
              <p:cNvSpPr>
                <a:spLocks noChangeArrowheads="1"/>
              </p:cNvSpPr>
              <p:nvPr>
                <p:custDataLst>
                  <p:tags r:id="rId4"/>
                </p:custDataLst>
              </p:nvPr>
            </p:nvSpPr>
            <p:spPr bwMode="auto">
              <a:xfrm>
                <a:off x="2495" y="347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12"/>
              <p:cNvSpPr>
                <a:spLocks noChangeArrowheads="1"/>
              </p:cNvSpPr>
              <p:nvPr>
                <p:custDataLst>
                  <p:tags r:id="rId5"/>
                </p:custDataLst>
              </p:nvPr>
            </p:nvSpPr>
            <p:spPr bwMode="auto">
              <a:xfrm>
                <a:off x="2495" y="411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3"/>
              <p:cNvSpPr>
                <a:spLocks noChangeArrowheads="1"/>
              </p:cNvSpPr>
              <p:nvPr>
                <p:custDataLst>
                  <p:tags r:id="rId6"/>
                </p:custDataLst>
              </p:nvPr>
            </p:nvSpPr>
            <p:spPr bwMode="auto">
              <a:xfrm>
                <a:off x="2925" y="3791"/>
                <a:ext cx="747" cy="56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4"/>
              <p:cNvSpPr/>
              <p:nvPr>
                <p:custDataLst>
                  <p:tags r:id="rId7"/>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1" name="MH_Other_15"/>
              <p:cNvSpPr/>
              <p:nvPr>
                <p:custDataLst>
                  <p:tags r:id="rId8"/>
                </p:custDataLst>
              </p:nvPr>
            </p:nvSpPr>
            <p:spPr bwMode="auto">
              <a:xfrm>
                <a:off x="1745"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sp>
        <p:nvSpPr>
          <p:cNvPr id="11" name="文本框 10"/>
          <p:cNvSpPr txBox="1"/>
          <p:nvPr/>
        </p:nvSpPr>
        <p:spPr>
          <a:xfrm>
            <a:off x="1285875" y="2125980"/>
            <a:ext cx="9791700" cy="701731"/>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当用户与WebApp交互时，通过一种或多种界面机制发生交互，下面是做界面测试时要检查的内容。</a:t>
            </a:r>
          </a:p>
        </p:txBody>
      </p:sp>
    </p:spTree>
    <p:custDataLst>
      <p:tags r:id="rId1"/>
    </p:custDataLst>
  </p:cSld>
  <p:clrMapOvr>
    <a:masterClrMapping/>
  </p:clrMapOvr>
  <p:transition>
    <p:comb dir="vert"/>
  </p:transition>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8.7.3 </a:t>
            </a:r>
            <a:r>
              <a:rPr sz="2400" dirty="0">
                <a:solidFill>
                  <a:schemeClr val="tx1"/>
                </a:solidFill>
              </a:rPr>
              <a:t>界面测试</a:t>
            </a:r>
          </a:p>
        </p:txBody>
      </p:sp>
      <p:grpSp>
        <p:nvGrpSpPr>
          <p:cNvPr id="35" name="组合 34"/>
          <p:cNvGrpSpPr/>
          <p:nvPr/>
        </p:nvGrpSpPr>
        <p:grpSpPr>
          <a:xfrm>
            <a:off x="883920" y="4029075"/>
            <a:ext cx="10193655" cy="2292350"/>
            <a:chOff x="964" y="3475"/>
            <a:chExt cx="16053" cy="3610"/>
          </a:xfrm>
        </p:grpSpPr>
        <p:sp>
          <p:nvSpPr>
            <p:cNvPr id="18" name="MH_SubTitle_1"/>
            <p:cNvSpPr/>
            <p:nvPr>
              <p:custDataLst>
                <p:tags r:id="rId9"/>
              </p:custDataLst>
            </p:nvPr>
          </p:nvSpPr>
          <p:spPr>
            <a:xfrm>
              <a:off x="3287" y="3675"/>
              <a:ext cx="3747" cy="847"/>
            </a:xfrm>
            <a:prstGeom prst="rect">
              <a:avLst/>
            </a:prstGeom>
          </p:spPr>
          <p:txBody>
            <a:bodyPr anchor="b">
              <a:normAutofit/>
            </a:bodyPr>
            <a:lstStyle/>
            <a:p>
              <a:r>
                <a:rPr lang="zh-CN" altLang="en-US" b="1" dirty="0">
                  <a:solidFill>
                    <a:schemeClr val="accent3">
                      <a:lumMod val="75000"/>
                    </a:schemeClr>
                  </a:solidFill>
                </a:rPr>
                <a:t>媒体播放组件</a:t>
              </a:r>
            </a:p>
          </p:txBody>
        </p:sp>
        <p:grpSp>
          <p:nvGrpSpPr>
            <p:cNvPr id="34" name="组合 33"/>
            <p:cNvGrpSpPr/>
            <p:nvPr/>
          </p:nvGrpSpPr>
          <p:grpSpPr>
            <a:xfrm>
              <a:off x="964" y="3475"/>
              <a:ext cx="16053" cy="3610"/>
              <a:chOff x="1628" y="3271"/>
              <a:chExt cx="16053" cy="3610"/>
            </a:xfrm>
          </p:grpSpPr>
          <p:sp>
            <p:nvSpPr>
              <p:cNvPr id="4" name="MH_Text_1"/>
              <p:cNvSpPr/>
              <p:nvPr>
                <p:custDataLst>
                  <p:tags r:id="rId10"/>
                </p:custDataLst>
              </p:nvPr>
            </p:nvSpPr>
            <p:spPr>
              <a:xfrm>
                <a:off x="3951" y="4318"/>
                <a:ext cx="13730" cy="2563"/>
              </a:xfrm>
              <a:prstGeom prst="rect">
                <a:avLst/>
              </a:prstGeom>
            </p:spPr>
            <p:txBody>
              <a:bodyPr>
                <a:normAutofit/>
              </a:bodyPr>
              <a:lstStyle/>
              <a:p>
                <a:pPr indent="457200">
                  <a:lnSpc>
                    <a:spcPct val="150000"/>
                  </a:lnSpc>
                </a:pPr>
                <a:r>
                  <a:rPr lang="zh-CN" altLang="en-US" dirty="0">
                    <a:latin typeface="+mn-ea"/>
                  </a:rPr>
                  <a:t>测试音频、视频、动画和互动媒体播放组件（如游戏和图形工具）的时候，这些组件应该像预期的功能效果一样，在加载和运行的时候不能影响（暂停或减缓）其他应用的运行。</a:t>
                </a:r>
              </a:p>
            </p:txBody>
          </p:sp>
          <p:sp>
            <p:nvSpPr>
              <p:cNvPr id="25" name="MH_Other_11"/>
              <p:cNvSpPr>
                <a:spLocks noChangeArrowheads="1"/>
              </p:cNvSpPr>
              <p:nvPr>
                <p:custDataLst>
                  <p:tags r:id="rId11"/>
                </p:custDataLst>
              </p:nvPr>
            </p:nvSpPr>
            <p:spPr bwMode="auto">
              <a:xfrm>
                <a:off x="2495" y="3471"/>
                <a:ext cx="747" cy="560"/>
              </a:xfrm>
              <a:prstGeom prst="diamond">
                <a:avLst/>
              </a:prstGeom>
              <a:solidFill>
                <a:schemeClr val="accent3">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12"/>
                </p:custDataLst>
              </p:nvPr>
            </p:nvSpPr>
            <p:spPr bwMode="auto">
              <a:xfrm>
                <a:off x="2495" y="4111"/>
                <a:ext cx="747" cy="560"/>
              </a:xfrm>
              <a:prstGeom prst="diamond">
                <a:avLst/>
              </a:prstGeom>
              <a:solidFill>
                <a:schemeClr val="accent3">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13"/>
                </p:custDataLst>
              </p:nvPr>
            </p:nvSpPr>
            <p:spPr bwMode="auto">
              <a:xfrm>
                <a:off x="2925" y="3791"/>
                <a:ext cx="747" cy="560"/>
              </a:xfrm>
              <a:prstGeom prst="diamond">
                <a:avLst/>
              </a:prstGeom>
              <a:solidFill>
                <a:schemeClr val="accent3">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14"/>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15"/>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3">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grpSp>
        <p:nvGrpSpPr>
          <p:cNvPr id="5" name="组合 4"/>
          <p:cNvGrpSpPr/>
          <p:nvPr/>
        </p:nvGrpSpPr>
        <p:grpSpPr>
          <a:xfrm>
            <a:off x="845820" y="2265045"/>
            <a:ext cx="10174605" cy="1978025"/>
            <a:chOff x="1021" y="3475"/>
            <a:chExt cx="16023" cy="3115"/>
          </a:xfrm>
        </p:grpSpPr>
        <p:sp>
          <p:nvSpPr>
            <p:cNvPr id="6" name="MH_SubTitle_1"/>
            <p:cNvSpPr/>
            <p:nvPr>
              <p:custDataLst>
                <p:tags r:id="rId2"/>
              </p:custDataLst>
            </p:nvPr>
          </p:nvSpPr>
          <p:spPr>
            <a:xfrm>
              <a:off x="3287" y="3675"/>
              <a:ext cx="3747" cy="847"/>
            </a:xfrm>
            <a:prstGeom prst="rect">
              <a:avLst/>
            </a:prstGeom>
          </p:spPr>
          <p:txBody>
            <a:bodyPr anchor="b">
              <a:normAutofit/>
            </a:bodyPr>
            <a:lstStyle/>
            <a:p>
              <a:r>
                <a:rPr lang="zh-CN" altLang="en-US" b="1" dirty="0">
                  <a:solidFill>
                    <a:schemeClr val="accent2">
                      <a:lumMod val="75000"/>
                    </a:schemeClr>
                  </a:solidFill>
                </a:rPr>
                <a:t>搜索</a:t>
              </a:r>
            </a:p>
          </p:txBody>
        </p:sp>
        <p:grpSp>
          <p:nvGrpSpPr>
            <p:cNvPr id="7" name="组合 6"/>
            <p:cNvGrpSpPr/>
            <p:nvPr/>
          </p:nvGrpSpPr>
          <p:grpSpPr>
            <a:xfrm>
              <a:off x="1021" y="3475"/>
              <a:ext cx="16023" cy="3115"/>
              <a:chOff x="1685" y="3271"/>
              <a:chExt cx="16023" cy="3115"/>
            </a:xfrm>
          </p:grpSpPr>
          <p:sp>
            <p:nvSpPr>
              <p:cNvPr id="8" name="MH_Text_1"/>
              <p:cNvSpPr/>
              <p:nvPr>
                <p:custDataLst>
                  <p:tags r:id="rId3"/>
                </p:custDataLst>
              </p:nvPr>
            </p:nvSpPr>
            <p:spPr>
              <a:xfrm>
                <a:off x="3968" y="4448"/>
                <a:ext cx="13740" cy="1938"/>
              </a:xfrm>
              <a:prstGeom prst="rect">
                <a:avLst/>
              </a:prstGeom>
            </p:spPr>
            <p:txBody>
              <a:bodyPr>
                <a:normAutofit/>
              </a:bodyPr>
              <a:lstStyle/>
              <a:p>
                <a:pPr indent="457200">
                  <a:lnSpc>
                    <a:spcPct val="150000"/>
                  </a:lnSpc>
                </a:pPr>
                <a:r>
                  <a:rPr lang="zh-CN" altLang="en-US" dirty="0">
                    <a:latin typeface="+mn-ea"/>
                  </a:rPr>
                  <a:t>要保证WebApp系统搜索引擎能够索引这些信息，并定期更新，以便能够让用户实现快速查找，并根据查找条件快速显示相关结果。</a:t>
                </a:r>
              </a:p>
            </p:txBody>
          </p:sp>
          <p:sp>
            <p:nvSpPr>
              <p:cNvPr id="9" name="MH_Other_11"/>
              <p:cNvSpPr>
                <a:spLocks noChangeArrowheads="1"/>
              </p:cNvSpPr>
              <p:nvPr>
                <p:custDataLst>
                  <p:tags r:id="rId4"/>
                </p:custDataLst>
              </p:nvPr>
            </p:nvSpPr>
            <p:spPr bwMode="auto">
              <a:xfrm>
                <a:off x="2495" y="3471"/>
                <a:ext cx="747" cy="560"/>
              </a:xfrm>
              <a:prstGeom prst="diamond">
                <a:avLst/>
              </a:prstGeom>
              <a:solidFill>
                <a:schemeClr val="accent2">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12"/>
              <p:cNvSpPr>
                <a:spLocks noChangeArrowheads="1"/>
              </p:cNvSpPr>
              <p:nvPr>
                <p:custDataLst>
                  <p:tags r:id="rId5"/>
                </p:custDataLst>
              </p:nvPr>
            </p:nvSpPr>
            <p:spPr bwMode="auto">
              <a:xfrm>
                <a:off x="2495" y="4111"/>
                <a:ext cx="747" cy="560"/>
              </a:xfrm>
              <a:prstGeom prst="diamond">
                <a:avLst/>
              </a:prstGeom>
              <a:solidFill>
                <a:schemeClr val="accent2">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3"/>
              <p:cNvSpPr>
                <a:spLocks noChangeArrowheads="1"/>
              </p:cNvSpPr>
              <p:nvPr>
                <p:custDataLst>
                  <p:tags r:id="rId6"/>
                </p:custDataLst>
              </p:nvPr>
            </p:nvSpPr>
            <p:spPr bwMode="auto">
              <a:xfrm>
                <a:off x="2925" y="3791"/>
                <a:ext cx="747" cy="560"/>
              </a:xfrm>
              <a:prstGeom prst="diamond">
                <a:avLst/>
              </a:prstGeom>
              <a:solidFill>
                <a:schemeClr val="accent2">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4"/>
              <p:cNvSpPr/>
              <p:nvPr>
                <p:custDataLst>
                  <p:tags r:id="rId7"/>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1" name="MH_Other_15"/>
              <p:cNvSpPr/>
              <p:nvPr>
                <p:custDataLst>
                  <p:tags r:id="rId8"/>
                </p:custDataLst>
              </p:nvPr>
            </p:nvSpPr>
            <p:spPr bwMode="auto">
              <a:xfrm>
                <a:off x="1745"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2">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spTree>
    <p:custDataLst>
      <p:tags r:id="rId1"/>
    </p:custDataLst>
  </p:cSld>
  <p:clrMapOvr>
    <a:masterClrMapping/>
  </p:clrMapOvr>
  <p:transition>
    <p:comb dir="vert"/>
  </p:transition>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8.7.3 </a:t>
            </a:r>
            <a:r>
              <a:rPr sz="2400" dirty="0">
                <a:solidFill>
                  <a:schemeClr val="tx1"/>
                </a:solidFill>
              </a:rPr>
              <a:t>界面测试</a:t>
            </a:r>
          </a:p>
        </p:txBody>
      </p:sp>
      <p:grpSp>
        <p:nvGrpSpPr>
          <p:cNvPr id="35" name="组合 34"/>
          <p:cNvGrpSpPr/>
          <p:nvPr/>
        </p:nvGrpSpPr>
        <p:grpSpPr>
          <a:xfrm>
            <a:off x="809625" y="2282825"/>
            <a:ext cx="10621645" cy="2292350"/>
            <a:chOff x="964" y="3475"/>
            <a:chExt cx="16727" cy="3610"/>
          </a:xfrm>
        </p:grpSpPr>
        <p:sp>
          <p:nvSpPr>
            <p:cNvPr id="18" name="MH_SubTitle_1"/>
            <p:cNvSpPr/>
            <p:nvPr>
              <p:custDataLst>
                <p:tags r:id="rId2"/>
              </p:custDataLst>
            </p:nvPr>
          </p:nvSpPr>
          <p:spPr>
            <a:xfrm>
              <a:off x="3287" y="3675"/>
              <a:ext cx="3747" cy="847"/>
            </a:xfrm>
            <a:prstGeom prst="rect">
              <a:avLst/>
            </a:prstGeom>
          </p:spPr>
          <p:txBody>
            <a:bodyPr anchor="b">
              <a:normAutofit/>
            </a:bodyPr>
            <a:lstStyle/>
            <a:p>
              <a:r>
                <a:rPr lang="zh-CN" altLang="en-US" b="1" dirty="0">
                  <a:solidFill>
                    <a:schemeClr val="accent5">
                      <a:lumMod val="75000"/>
                    </a:schemeClr>
                  </a:solidFill>
                </a:rPr>
                <a:t>脚本和类库</a:t>
              </a:r>
            </a:p>
          </p:txBody>
        </p:sp>
        <p:grpSp>
          <p:nvGrpSpPr>
            <p:cNvPr id="34" name="组合 33"/>
            <p:cNvGrpSpPr/>
            <p:nvPr/>
          </p:nvGrpSpPr>
          <p:grpSpPr>
            <a:xfrm>
              <a:off x="964" y="3475"/>
              <a:ext cx="16727" cy="3610"/>
              <a:chOff x="1628" y="3271"/>
              <a:chExt cx="16727" cy="3610"/>
            </a:xfrm>
          </p:grpSpPr>
          <p:sp>
            <p:nvSpPr>
              <p:cNvPr id="4" name="MH_Text_1"/>
              <p:cNvSpPr/>
              <p:nvPr>
                <p:custDataLst>
                  <p:tags r:id="rId3"/>
                </p:custDataLst>
              </p:nvPr>
            </p:nvSpPr>
            <p:spPr>
              <a:xfrm>
                <a:off x="3951" y="4318"/>
                <a:ext cx="14404" cy="2563"/>
              </a:xfrm>
              <a:prstGeom prst="rect">
                <a:avLst/>
              </a:prstGeom>
            </p:spPr>
            <p:txBody>
              <a:bodyPr>
                <a:noAutofit/>
              </a:bodyPr>
              <a:lstStyle/>
              <a:p>
                <a:pPr indent="457200">
                  <a:lnSpc>
                    <a:spcPct val="150000"/>
                  </a:lnSpc>
                </a:pPr>
                <a:r>
                  <a:rPr lang="zh-CN" altLang="en-US" dirty="0">
                    <a:latin typeface="+mn-ea"/>
                  </a:rPr>
                  <a:t>确保WebApp系统的脚本（比如图像显示或AJAX页面加载）在各种浏览器之间是相互兼容的，因为不同的用户可能会使用不同的浏览器访问系统应用，同时可以通过测试不同浏览器的加载时间来进行性能优化。如果系统的脚本只能和某些浏览器相互兼容，那么就要确保应用中的其他组件有更好的性能，这样所有的用户都能得到最好的应用体验。</a:t>
                </a:r>
              </a:p>
            </p:txBody>
          </p:sp>
          <p:sp>
            <p:nvSpPr>
              <p:cNvPr id="25" name="MH_Other_11"/>
              <p:cNvSpPr>
                <a:spLocks noChangeArrowheads="1"/>
              </p:cNvSpPr>
              <p:nvPr>
                <p:custDataLst>
                  <p:tags r:id="rId4"/>
                </p:custDataLst>
              </p:nvPr>
            </p:nvSpPr>
            <p:spPr bwMode="auto">
              <a:xfrm>
                <a:off x="2495" y="3471"/>
                <a:ext cx="747" cy="560"/>
              </a:xfrm>
              <a:prstGeom prst="diamond">
                <a:avLst/>
              </a:prstGeom>
              <a:solidFill>
                <a:schemeClr val="accent5">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5"/>
                </p:custDataLst>
              </p:nvPr>
            </p:nvSpPr>
            <p:spPr bwMode="auto">
              <a:xfrm>
                <a:off x="2495" y="4111"/>
                <a:ext cx="747" cy="560"/>
              </a:xfrm>
              <a:prstGeom prst="diamond">
                <a:avLst/>
              </a:prstGeom>
              <a:solidFill>
                <a:schemeClr val="accent5">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6"/>
                </p:custDataLst>
              </p:nvPr>
            </p:nvSpPr>
            <p:spPr bwMode="auto">
              <a:xfrm>
                <a:off x="2925" y="3791"/>
                <a:ext cx="747" cy="560"/>
              </a:xfrm>
              <a:prstGeom prst="diamond">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7"/>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8"/>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5">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spTree>
    <p:custDataLst>
      <p:tags r:id="rId1"/>
    </p:custDataLst>
  </p:cSld>
  <p:clrMapOvr>
    <a:masterClrMapping/>
  </p:clrMapOvr>
  <p:transition>
    <p:comb dir="vert"/>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8.7.3 </a:t>
            </a:r>
            <a:r>
              <a:rPr sz="2400" dirty="0">
                <a:solidFill>
                  <a:schemeClr val="tx1"/>
                </a:solidFill>
              </a:rPr>
              <a:t>界面测试</a:t>
            </a:r>
          </a:p>
        </p:txBody>
      </p:sp>
      <p:sp>
        <p:nvSpPr>
          <p:cNvPr id="11" name="文本框 10"/>
          <p:cNvSpPr txBox="1"/>
          <p:nvPr/>
        </p:nvSpPr>
        <p:spPr>
          <a:xfrm>
            <a:off x="876301" y="2097405"/>
            <a:ext cx="10360660" cy="701731"/>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为了使页面显示更加流畅，还需要检测视觉和文本元素方面的问题，在Web应用发布之前，应尽可能地测试这些元素，以确保它们正确而有效地显示。</a:t>
            </a:r>
          </a:p>
        </p:txBody>
      </p:sp>
      <p:grpSp>
        <p:nvGrpSpPr>
          <p:cNvPr id="12" name="组合 11"/>
          <p:cNvGrpSpPr/>
          <p:nvPr/>
        </p:nvGrpSpPr>
        <p:grpSpPr>
          <a:xfrm>
            <a:off x="754380" y="2924175"/>
            <a:ext cx="5169888" cy="1311275"/>
            <a:chOff x="1188" y="3092"/>
            <a:chExt cx="7644" cy="2065"/>
          </a:xfrm>
        </p:grpSpPr>
        <p:grpSp>
          <p:nvGrpSpPr>
            <p:cNvPr id="13" name="组合 12"/>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a:t>
                </a:r>
              </a:p>
            </p:txBody>
          </p:sp>
          <p:cxnSp>
            <p:nvCxnSpPr>
              <p:cNvPr id="14" name="直接连接符 1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导航</a:t>
                </a:r>
              </a:p>
            </p:txBody>
          </p:sp>
        </p:grpSp>
        <p:sp>
          <p:nvSpPr>
            <p:cNvPr id="16" name="矩形 15"/>
            <p:cNvSpPr>
              <a:spLocks noChangeArrowheads="1"/>
            </p:cNvSpPr>
            <p:nvPr/>
          </p:nvSpPr>
          <p:spPr bwMode="auto">
            <a:xfrm>
              <a:off x="1893" y="3848"/>
              <a:ext cx="6939" cy="1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主页面上的导航链接以及返回主页面的链接都应该明显地突出出来，并指向正确的目标页面。</a:t>
              </a:r>
            </a:p>
          </p:txBody>
        </p:sp>
      </p:grpSp>
      <p:grpSp>
        <p:nvGrpSpPr>
          <p:cNvPr id="36" name="组合 35"/>
          <p:cNvGrpSpPr/>
          <p:nvPr/>
        </p:nvGrpSpPr>
        <p:grpSpPr>
          <a:xfrm>
            <a:off x="765175" y="4338955"/>
            <a:ext cx="5235316" cy="1680210"/>
            <a:chOff x="1188" y="3092"/>
            <a:chExt cx="7741" cy="2646"/>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可访问性</a:t>
                </a:r>
              </a:p>
            </p:txBody>
          </p:sp>
        </p:grpSp>
        <p:sp>
          <p:nvSpPr>
            <p:cNvPr id="41" name="矩形 40"/>
            <p:cNvSpPr>
              <a:spLocks noChangeArrowheads="1"/>
            </p:cNvSpPr>
            <p:nvPr/>
          </p:nvSpPr>
          <p:spPr bwMode="auto">
            <a:xfrm>
              <a:off x="1893" y="3848"/>
              <a:ext cx="6727"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尽最大可能地确保你的Web应用易于操作、使用，哪怕是对那些有视力障碍或行为障碍的人来说，简易的使用步骤都是最受欢迎的。</a:t>
              </a:r>
            </a:p>
          </p:txBody>
        </p:sp>
      </p:grpSp>
      <p:grpSp>
        <p:nvGrpSpPr>
          <p:cNvPr id="17" name="组合 16"/>
          <p:cNvGrpSpPr/>
          <p:nvPr/>
        </p:nvGrpSpPr>
        <p:grpSpPr>
          <a:xfrm>
            <a:off x="6059805" y="2924175"/>
            <a:ext cx="5122546" cy="2419350"/>
            <a:chOff x="1188" y="3092"/>
            <a:chExt cx="7574" cy="3810"/>
          </a:xfrm>
        </p:grpSpPr>
        <p:grpSp>
          <p:nvGrpSpPr>
            <p:cNvPr id="22" name="组合 21"/>
            <p:cNvGrpSpPr/>
            <p:nvPr/>
          </p:nvGrpSpPr>
          <p:grpSpPr>
            <a:xfrm>
              <a:off x="1188" y="3092"/>
              <a:ext cx="6974" cy="930"/>
              <a:chOff x="508000" y="3196191"/>
              <a:chExt cx="4428470" cy="590550"/>
            </a:xfrm>
          </p:grpSpPr>
          <p:sp>
            <p:nvSpPr>
              <p:cNvPr id="23"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24" name="直接连接符 2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1" name="矩形 30"/>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跨浏览器测试</a:t>
                </a:r>
              </a:p>
            </p:txBody>
          </p:sp>
        </p:grpSp>
        <p:sp>
          <p:nvSpPr>
            <p:cNvPr id="42" name="矩形 41"/>
            <p:cNvSpPr>
              <a:spLocks noChangeArrowheads="1"/>
            </p:cNvSpPr>
            <p:nvPr/>
          </p:nvSpPr>
          <p:spPr bwMode="auto">
            <a:xfrm>
              <a:off x="1907" y="3848"/>
              <a:ext cx="6855" cy="30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用户很有可能会从多种浏览器和操作系统中访问你的站点，不要让你的应用在不同的环境下无法显示同样的效果，所以需要尽可能多地测试这些浏览器和操作系统组合，以确保WebApp应用能够按照计划运行，为用户提供一致的体验。</a:t>
              </a:r>
            </a:p>
          </p:txBody>
        </p:sp>
      </p:grpSp>
    </p:spTree>
    <p:custDataLst>
      <p:tags r:id="rId1"/>
    </p:custDataLst>
  </p:cSld>
  <p:clrMapOvr>
    <a:masterClrMapping/>
  </p:clrMapOvr>
  <p:transition>
    <p:comb dir="vert"/>
  </p:transition>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8.7.3 </a:t>
            </a:r>
            <a:r>
              <a:rPr sz="2400" dirty="0">
                <a:solidFill>
                  <a:schemeClr val="tx1"/>
                </a:solidFill>
              </a:rPr>
              <a:t>界面测试</a:t>
            </a:r>
          </a:p>
        </p:txBody>
      </p:sp>
      <p:grpSp>
        <p:nvGrpSpPr>
          <p:cNvPr id="12" name="组合 11"/>
          <p:cNvGrpSpPr/>
          <p:nvPr/>
        </p:nvGrpSpPr>
        <p:grpSpPr>
          <a:xfrm>
            <a:off x="754380" y="2124075"/>
            <a:ext cx="5049502" cy="2034540"/>
            <a:chOff x="1188" y="3092"/>
            <a:chExt cx="7466" cy="3204"/>
          </a:xfrm>
        </p:grpSpPr>
        <p:grpSp>
          <p:nvGrpSpPr>
            <p:cNvPr id="13" name="组合 12"/>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14" name="直接连接符 1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错误消息和警告信息</a:t>
                </a:r>
              </a:p>
            </p:txBody>
          </p:sp>
        </p:grpSp>
        <p:sp>
          <p:nvSpPr>
            <p:cNvPr id="16" name="矩形 15"/>
            <p:cNvSpPr>
              <a:spLocks noChangeArrowheads="1"/>
            </p:cNvSpPr>
            <p:nvPr/>
          </p:nvSpPr>
          <p:spPr bwMode="auto">
            <a:xfrm>
              <a:off x="1893" y="3848"/>
              <a:ext cx="6761"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在很多情况下，WebApp应用程序会出错，当用户遇到问题时，要确保应用程序中显示的提示消息是描述性的，这些提示信息对用户解决问题来说是很有帮助的。</a:t>
              </a:r>
            </a:p>
          </p:txBody>
        </p:sp>
      </p:grpSp>
      <p:grpSp>
        <p:nvGrpSpPr>
          <p:cNvPr id="36" name="组合 35"/>
          <p:cNvGrpSpPr/>
          <p:nvPr/>
        </p:nvGrpSpPr>
        <p:grpSpPr>
          <a:xfrm>
            <a:off x="6242050" y="1969770"/>
            <a:ext cx="5235316" cy="2400300"/>
            <a:chOff x="1188" y="3092"/>
            <a:chExt cx="7741" cy="3780"/>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5</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帮助和文档</a:t>
                </a:r>
              </a:p>
            </p:txBody>
          </p:sp>
        </p:grpSp>
        <p:sp>
          <p:nvSpPr>
            <p:cNvPr id="41" name="矩形 40"/>
            <p:cNvSpPr>
              <a:spLocks noChangeArrowheads="1"/>
            </p:cNvSpPr>
            <p:nvPr/>
          </p:nvSpPr>
          <p:spPr bwMode="auto">
            <a:xfrm>
              <a:off x="1893" y="3848"/>
              <a:ext cx="7036" cy="3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并不是所有的用户在使用你的Web应用时都能感觉很顺畅，有些用户在刚开始的几次可能需要帮助或者在使用过程中会遇到一些问题，应该在设计WebApp时确保在任何模块或页面中都有渠道让用户快速获得帮助信息。</a:t>
              </a:r>
            </a:p>
          </p:txBody>
        </p:sp>
      </p:grpSp>
      <p:grpSp>
        <p:nvGrpSpPr>
          <p:cNvPr id="17" name="组合 16"/>
          <p:cNvGrpSpPr/>
          <p:nvPr/>
        </p:nvGrpSpPr>
        <p:grpSpPr>
          <a:xfrm>
            <a:off x="754380" y="4370070"/>
            <a:ext cx="4716746" cy="1668780"/>
            <a:chOff x="1188" y="3092"/>
            <a:chExt cx="6974" cy="2628"/>
          </a:xfrm>
        </p:grpSpPr>
        <p:grpSp>
          <p:nvGrpSpPr>
            <p:cNvPr id="22" name="组合 21"/>
            <p:cNvGrpSpPr/>
            <p:nvPr/>
          </p:nvGrpSpPr>
          <p:grpSpPr>
            <a:xfrm>
              <a:off x="1188" y="3092"/>
              <a:ext cx="6974" cy="930"/>
              <a:chOff x="508000" y="3196191"/>
              <a:chExt cx="4428470" cy="590550"/>
            </a:xfrm>
          </p:grpSpPr>
          <p:sp>
            <p:nvSpPr>
              <p:cNvPr id="23"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6</a:t>
                </a:r>
              </a:p>
            </p:txBody>
          </p:sp>
          <p:cxnSp>
            <p:nvCxnSpPr>
              <p:cNvPr id="24" name="直接连接符 2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1" name="矩形 30"/>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布局</a:t>
                </a:r>
              </a:p>
            </p:txBody>
          </p:sp>
        </p:grpSp>
        <p:sp>
          <p:nvSpPr>
            <p:cNvPr id="42" name="矩形 41"/>
            <p:cNvSpPr>
              <a:spLocks noChangeArrowheads="1"/>
            </p:cNvSpPr>
            <p:nvPr/>
          </p:nvSpPr>
          <p:spPr bwMode="auto">
            <a:xfrm>
              <a:off x="1893" y="3848"/>
              <a:ext cx="5931"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测试WebApp以确保它能够在尽可能多的浏览器和不同分辨率的屏幕中正确、一致地显示。</a:t>
              </a:r>
            </a:p>
          </p:txBody>
        </p:sp>
      </p:grpSp>
      <p:grpSp>
        <p:nvGrpSpPr>
          <p:cNvPr id="4" name="组合 3"/>
          <p:cNvGrpSpPr/>
          <p:nvPr/>
        </p:nvGrpSpPr>
        <p:grpSpPr>
          <a:xfrm>
            <a:off x="6242050" y="4465320"/>
            <a:ext cx="5235493" cy="1668780"/>
            <a:chOff x="1188" y="3092"/>
            <a:chExt cx="7741" cy="2628"/>
          </a:xfrm>
        </p:grpSpPr>
        <p:grpSp>
          <p:nvGrpSpPr>
            <p:cNvPr id="5" name="组合 4"/>
            <p:cNvGrpSpPr/>
            <p:nvPr/>
          </p:nvGrpSpPr>
          <p:grpSpPr>
            <a:xfrm>
              <a:off x="1188" y="3092"/>
              <a:ext cx="6974" cy="930"/>
              <a:chOff x="508000" y="3196191"/>
              <a:chExt cx="4428470" cy="590550"/>
            </a:xfrm>
          </p:grpSpPr>
          <p:sp>
            <p:nvSpPr>
              <p:cNvPr id="6"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7</a:t>
                </a:r>
              </a:p>
            </p:txBody>
          </p:sp>
          <p:cxnSp>
            <p:nvCxnSpPr>
              <p:cNvPr id="7" name="直接连接符 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其他</a:t>
                </a:r>
              </a:p>
            </p:txBody>
          </p:sp>
        </p:grpSp>
        <p:sp>
          <p:nvSpPr>
            <p:cNvPr id="9" name="矩形 8"/>
            <p:cNvSpPr>
              <a:spLocks noChangeArrowheads="1"/>
            </p:cNvSpPr>
            <p:nvPr/>
          </p:nvSpPr>
          <p:spPr bwMode="auto">
            <a:xfrm>
              <a:off x="1893" y="3848"/>
              <a:ext cx="7036"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动画和交互操作（例如拖放特性）、字体和字形（尤其是Web字体）等都要测试，以保证系统的正确性。</a:t>
              </a:r>
            </a:p>
          </p:txBody>
        </p:sp>
      </p:grpSp>
    </p:spTree>
    <p:custDataLst>
      <p:tags r:id="rId1"/>
    </p:custDataLst>
  </p:cSld>
  <p:clrMapOvr>
    <a:masterClrMapping/>
  </p:clrMapOvr>
  <p:transition>
    <p:comb dir="vert"/>
  </p:transition>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8.7.4 </a:t>
            </a:r>
            <a:r>
              <a:rPr sz="2400" dirty="0">
                <a:solidFill>
                  <a:schemeClr val="tx1"/>
                </a:solidFill>
              </a:rPr>
              <a:t>导航测试</a:t>
            </a:r>
          </a:p>
        </p:txBody>
      </p:sp>
      <p:sp>
        <p:nvSpPr>
          <p:cNvPr id="11" name="文本框 10"/>
          <p:cNvSpPr txBox="1"/>
          <p:nvPr/>
        </p:nvSpPr>
        <p:spPr>
          <a:xfrm>
            <a:off x="1133474" y="2068830"/>
            <a:ext cx="10163175" cy="397032"/>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导航测试的第一个阶段在界面测试期间就开始了，对每一个导航应该在以下各方面进行测试。</a:t>
            </a:r>
          </a:p>
        </p:txBody>
      </p:sp>
      <p:grpSp>
        <p:nvGrpSpPr>
          <p:cNvPr id="6" name="组合 5"/>
          <p:cNvGrpSpPr/>
          <p:nvPr/>
        </p:nvGrpSpPr>
        <p:grpSpPr>
          <a:xfrm>
            <a:off x="980440" y="2653665"/>
            <a:ext cx="10036810" cy="1130935"/>
            <a:chOff x="1145" y="3666"/>
            <a:chExt cx="15806" cy="1781"/>
          </a:xfrm>
        </p:grpSpPr>
        <p:sp>
          <p:nvSpPr>
            <p:cNvPr id="7" name="Oval 5"/>
            <p:cNvSpPr/>
            <p:nvPr/>
          </p:nvSpPr>
          <p:spPr>
            <a:xfrm>
              <a:off x="1145" y="3736"/>
              <a:ext cx="1223" cy="1220"/>
            </a:xfrm>
            <a:prstGeom prst="ellipse">
              <a:avLst/>
            </a:prstGeom>
            <a:solidFill>
              <a:srgbClr val="58BDA8"/>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9" name="Freeform 7"/>
            <p:cNvSpPr>
              <a:spLocks noEditPoints="1"/>
            </p:cNvSpPr>
            <p:nvPr/>
          </p:nvSpPr>
          <p:spPr bwMode="auto">
            <a:xfrm>
              <a:off x="1437" y="4026"/>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sp>
          <p:nvSpPr>
            <p:cNvPr id="18" name="矩形 17"/>
            <p:cNvSpPr/>
            <p:nvPr/>
          </p:nvSpPr>
          <p:spPr>
            <a:xfrm>
              <a:off x="2562" y="4181"/>
              <a:ext cx="14389" cy="1266"/>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WebApp的内部链接、外部链接及网页中的锚都应该被测试，确保选择链接时，能够获得正确的内容和功能。</a:t>
              </a:r>
            </a:p>
          </p:txBody>
        </p:sp>
        <p:sp>
          <p:nvSpPr>
            <p:cNvPr id="35857" name="文本框 18"/>
            <p:cNvSpPr txBox="1"/>
            <p:nvPr/>
          </p:nvSpPr>
          <p:spPr>
            <a:xfrm>
              <a:off x="2562" y="3666"/>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导航链接</a:t>
              </a:r>
            </a:p>
          </p:txBody>
        </p:sp>
      </p:grpSp>
      <p:grpSp>
        <p:nvGrpSpPr>
          <p:cNvPr id="12" name="组合 11"/>
          <p:cNvGrpSpPr/>
          <p:nvPr/>
        </p:nvGrpSpPr>
        <p:grpSpPr>
          <a:xfrm>
            <a:off x="980440" y="5301615"/>
            <a:ext cx="4540885" cy="813435"/>
            <a:chOff x="6622" y="7984"/>
            <a:chExt cx="7151" cy="1281"/>
          </a:xfrm>
        </p:grpSpPr>
        <p:grpSp>
          <p:nvGrpSpPr>
            <p:cNvPr id="4" name="组合 3"/>
            <p:cNvGrpSpPr/>
            <p:nvPr/>
          </p:nvGrpSpPr>
          <p:grpSpPr>
            <a:xfrm>
              <a:off x="6622" y="7984"/>
              <a:ext cx="7151" cy="1281"/>
              <a:chOff x="1145" y="5803"/>
              <a:chExt cx="7151" cy="1281"/>
            </a:xfrm>
          </p:grpSpPr>
          <p:sp>
            <p:nvSpPr>
              <p:cNvPr id="10" name="Oval 21"/>
              <p:cNvSpPr/>
              <p:nvPr/>
            </p:nvSpPr>
            <p:spPr>
              <a:xfrm>
                <a:off x="1145" y="5861"/>
                <a:ext cx="1223" cy="1223"/>
              </a:xfrm>
              <a:prstGeom prst="ellipse">
                <a:avLst/>
              </a:prstGeom>
              <a:solidFill>
                <a:srgbClr val="EF4150"/>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20" name="矩形 19"/>
              <p:cNvSpPr/>
              <p:nvPr/>
            </p:nvSpPr>
            <p:spPr>
              <a:xfrm>
                <a:off x="2562" y="6318"/>
                <a:ext cx="5734" cy="705"/>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确保创建的书签是正常的。</a:t>
                </a:r>
              </a:p>
            </p:txBody>
          </p:sp>
          <p:sp>
            <p:nvSpPr>
              <p:cNvPr id="35859" name="文本框 20"/>
              <p:cNvSpPr txBox="1"/>
              <p:nvPr/>
            </p:nvSpPr>
            <p:spPr>
              <a:xfrm>
                <a:off x="2562" y="5803"/>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书签</a:t>
                </a:r>
              </a:p>
            </p:txBody>
          </p:sp>
        </p:grpSp>
        <p:sp>
          <p:nvSpPr>
            <p:cNvPr id="5" name="Freeform 7"/>
            <p:cNvSpPr>
              <a:spLocks noEditPoints="1"/>
            </p:cNvSpPr>
            <p:nvPr/>
          </p:nvSpPr>
          <p:spPr bwMode="auto">
            <a:xfrm>
              <a:off x="6915" y="8333"/>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grpSp>
      <p:grpSp>
        <p:nvGrpSpPr>
          <p:cNvPr id="8" name="组合 7"/>
          <p:cNvGrpSpPr/>
          <p:nvPr/>
        </p:nvGrpSpPr>
        <p:grpSpPr>
          <a:xfrm>
            <a:off x="980440" y="3931285"/>
            <a:ext cx="9859010" cy="1141730"/>
            <a:chOff x="10037" y="3658"/>
            <a:chExt cx="15526" cy="1798"/>
          </a:xfrm>
        </p:grpSpPr>
        <p:sp>
          <p:nvSpPr>
            <p:cNvPr id="16" name="Oval 26"/>
            <p:cNvSpPr/>
            <p:nvPr/>
          </p:nvSpPr>
          <p:spPr>
            <a:xfrm>
              <a:off x="10037" y="3727"/>
              <a:ext cx="1223" cy="1223"/>
            </a:xfrm>
            <a:prstGeom prst="ellipse">
              <a:avLst/>
            </a:prstGeom>
            <a:solidFill>
              <a:schemeClr val="accent2"/>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24" name="矩形 23"/>
            <p:cNvSpPr/>
            <p:nvPr/>
          </p:nvSpPr>
          <p:spPr>
            <a:xfrm>
              <a:off x="11427" y="4176"/>
              <a:ext cx="14136" cy="1280"/>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当用户请求一个不存在的URL，或者选择一个已经被移走的目标地址的链接时，系统应该给用户显示一条提示信息，并且将导航重定向到另一页。</a:t>
              </a:r>
            </a:p>
          </p:txBody>
        </p:sp>
        <p:sp>
          <p:nvSpPr>
            <p:cNvPr id="35863" name="文本框 24"/>
            <p:cNvSpPr txBox="1"/>
            <p:nvPr/>
          </p:nvSpPr>
          <p:spPr>
            <a:xfrm>
              <a:off x="11427" y="3658"/>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重定向</a:t>
              </a:r>
            </a:p>
          </p:txBody>
        </p:sp>
        <p:sp>
          <p:nvSpPr>
            <p:cNvPr id="13" name="Freeform 7"/>
            <p:cNvSpPr>
              <a:spLocks noEditPoints="1"/>
            </p:cNvSpPr>
            <p:nvPr/>
          </p:nvSpPr>
          <p:spPr bwMode="auto">
            <a:xfrm>
              <a:off x="10330" y="4018"/>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grpSp>
    </p:spTree>
    <p:custDataLst>
      <p:tags r:id="rId1"/>
    </p:custDataLst>
  </p:cSld>
  <p:clrMapOvr>
    <a:masterClrMapping/>
  </p:clrMapOvr>
  <p:transition>
    <p:comb dir="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to="" calcmode="lin" valueType="num">
                                      <p:cBhvr>
                                        <p:cTn id="7" dur="1" fill="hold"/>
                                        <p:tgtEl>
                                          <p:spTgt spid="6"/>
                                        </p:tgtEl>
                                      </p:cBhvr>
                                    </p:anim>
                                  </p:childTnLst>
                                </p:cTn>
                              </p:par>
                            </p:childTnLst>
                          </p:cTn>
                        </p:par>
                      </p:childTnLst>
                    </p:cTn>
                  </p:par>
                  <p:par>
                    <p:cTn id="8" fill="hold">
                      <p:stCondLst>
                        <p:cond delay="indefinite"/>
                      </p:stCondLst>
                      <p:childTnLst>
                        <p:par>
                          <p:cTn id="9" fill="hold">
                            <p:stCondLst>
                              <p:cond delay="0"/>
                            </p:stCondLst>
                            <p:childTnLst>
                              <p:par>
                                <p:cTn id="10" presetID="24"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 to="" calcmode="lin" valueType="num">
                                      <p:cBhvr>
                                        <p:cTn id="12" dur="1" fill="hold"/>
                                        <p:tgtEl>
                                          <p:spTgt spid="8"/>
                                        </p:tgtEl>
                                      </p:cBhvr>
                                    </p:anim>
                                  </p:childTnLst>
                                </p:cTn>
                              </p:par>
                            </p:childTnLst>
                          </p:cTn>
                        </p:par>
                      </p:childTnLst>
                    </p:cTn>
                  </p:par>
                  <p:par>
                    <p:cTn id="13" fill="hold">
                      <p:stCondLst>
                        <p:cond delay="indefinite"/>
                      </p:stCondLst>
                      <p:childTnLst>
                        <p:par>
                          <p:cTn id="14" fill="hold">
                            <p:stCondLst>
                              <p:cond delay="0"/>
                            </p:stCondLst>
                            <p:childTnLst>
                              <p:par>
                                <p:cTn id="15" presetID="24"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 to="" calcmode="lin" valueType="num">
                                      <p:cBhvr>
                                        <p:cTn id="17" dur="1" fill="hold"/>
                                        <p:tgtEl>
                                          <p:spTgt spid="12"/>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8.7.4 </a:t>
            </a:r>
            <a:r>
              <a:rPr sz="2400" dirty="0">
                <a:solidFill>
                  <a:schemeClr val="tx1"/>
                </a:solidFill>
              </a:rPr>
              <a:t>导航测试</a:t>
            </a:r>
          </a:p>
        </p:txBody>
      </p:sp>
      <p:sp>
        <p:nvSpPr>
          <p:cNvPr id="11" name="文本框 10"/>
          <p:cNvSpPr txBox="1"/>
          <p:nvPr/>
        </p:nvSpPr>
        <p:spPr>
          <a:xfrm>
            <a:off x="1028701" y="5556250"/>
            <a:ext cx="10086974" cy="701731"/>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导航测试应尽可能地让不同用户进行，早期测试可以由Web工程师进行，但后来的测试应该由独立的测试团队进行，最后还要由非技术用户进行，目的是彻底检查WebApp导航。</a:t>
            </a:r>
          </a:p>
        </p:txBody>
      </p:sp>
      <p:grpSp>
        <p:nvGrpSpPr>
          <p:cNvPr id="6" name="组合 5"/>
          <p:cNvGrpSpPr/>
          <p:nvPr/>
        </p:nvGrpSpPr>
        <p:grpSpPr>
          <a:xfrm>
            <a:off x="942340" y="2186940"/>
            <a:ext cx="10627360" cy="1139825"/>
            <a:chOff x="1145" y="3666"/>
            <a:chExt cx="16736" cy="1795"/>
          </a:xfrm>
        </p:grpSpPr>
        <p:sp>
          <p:nvSpPr>
            <p:cNvPr id="7" name="Oval 5"/>
            <p:cNvSpPr/>
            <p:nvPr/>
          </p:nvSpPr>
          <p:spPr>
            <a:xfrm>
              <a:off x="1145" y="3736"/>
              <a:ext cx="1223" cy="1220"/>
            </a:xfrm>
            <a:prstGeom prst="ellipse">
              <a:avLst/>
            </a:prstGeom>
            <a:solidFill>
              <a:schemeClr val="accent5">
                <a:lumMod val="75000"/>
              </a:schemeClr>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9" name="Freeform 7"/>
            <p:cNvSpPr>
              <a:spLocks noEditPoints="1"/>
            </p:cNvSpPr>
            <p:nvPr/>
          </p:nvSpPr>
          <p:spPr bwMode="auto">
            <a:xfrm>
              <a:off x="1437" y="4026"/>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sp>
          <p:nvSpPr>
            <p:cNvPr id="18" name="矩形 17"/>
            <p:cNvSpPr/>
            <p:nvPr/>
          </p:nvSpPr>
          <p:spPr>
            <a:xfrm>
              <a:off x="2562" y="4181"/>
              <a:ext cx="15319" cy="1280"/>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每一个框架包含特定的网页内容；一个框架集包含多个框架，并且应测试是否能够多个网页同时显示。同时，还要进行选择合适的布局和大小、下载性能和浏览器性能方面的测试。</a:t>
              </a:r>
            </a:p>
          </p:txBody>
        </p:sp>
        <p:sp>
          <p:nvSpPr>
            <p:cNvPr id="35857" name="文本框 18"/>
            <p:cNvSpPr txBox="1"/>
            <p:nvPr/>
          </p:nvSpPr>
          <p:spPr>
            <a:xfrm>
              <a:off x="2562" y="3666"/>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框架和框架集</a:t>
              </a:r>
            </a:p>
          </p:txBody>
        </p:sp>
      </p:grpSp>
      <p:grpSp>
        <p:nvGrpSpPr>
          <p:cNvPr id="12" name="组合 11"/>
          <p:cNvGrpSpPr/>
          <p:nvPr/>
        </p:nvGrpSpPr>
        <p:grpSpPr>
          <a:xfrm>
            <a:off x="941705" y="4582160"/>
            <a:ext cx="10227310" cy="813435"/>
            <a:chOff x="6622" y="7984"/>
            <a:chExt cx="16106" cy="1281"/>
          </a:xfrm>
        </p:grpSpPr>
        <p:grpSp>
          <p:nvGrpSpPr>
            <p:cNvPr id="4" name="组合 3"/>
            <p:cNvGrpSpPr/>
            <p:nvPr/>
          </p:nvGrpSpPr>
          <p:grpSpPr>
            <a:xfrm>
              <a:off x="6622" y="7984"/>
              <a:ext cx="16106" cy="1281"/>
              <a:chOff x="1145" y="5803"/>
              <a:chExt cx="16106" cy="1281"/>
            </a:xfrm>
          </p:grpSpPr>
          <p:sp>
            <p:nvSpPr>
              <p:cNvPr id="10" name="Oval 21"/>
              <p:cNvSpPr/>
              <p:nvPr/>
            </p:nvSpPr>
            <p:spPr>
              <a:xfrm>
                <a:off x="1145" y="5861"/>
                <a:ext cx="1223" cy="1223"/>
              </a:xfrm>
              <a:prstGeom prst="ellipse">
                <a:avLst/>
              </a:prstGeom>
              <a:solidFill>
                <a:schemeClr val="accent1">
                  <a:lumMod val="60000"/>
                  <a:lumOff val="40000"/>
                </a:schemeClr>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20" name="矩形 19"/>
              <p:cNvSpPr/>
              <p:nvPr/>
            </p:nvSpPr>
            <p:spPr>
              <a:xfrm>
                <a:off x="2562" y="6318"/>
                <a:ext cx="14689" cy="705"/>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内部引擎测试要确认搜索的精确性，还要注意在搜索中的复合索引的搜索。</a:t>
                </a:r>
              </a:p>
            </p:txBody>
          </p:sp>
          <p:sp>
            <p:nvSpPr>
              <p:cNvPr id="35859" name="文本框 20"/>
              <p:cNvSpPr txBox="1"/>
              <p:nvPr/>
            </p:nvSpPr>
            <p:spPr>
              <a:xfrm>
                <a:off x="2562" y="5803"/>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内部搜索引擎</a:t>
                </a:r>
              </a:p>
            </p:txBody>
          </p:sp>
        </p:grpSp>
        <p:sp>
          <p:nvSpPr>
            <p:cNvPr id="5" name="Freeform 7"/>
            <p:cNvSpPr>
              <a:spLocks noEditPoints="1"/>
            </p:cNvSpPr>
            <p:nvPr/>
          </p:nvSpPr>
          <p:spPr bwMode="auto">
            <a:xfrm>
              <a:off x="6915" y="8333"/>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grpSp>
      <p:grpSp>
        <p:nvGrpSpPr>
          <p:cNvPr id="8" name="组合 7"/>
          <p:cNvGrpSpPr/>
          <p:nvPr/>
        </p:nvGrpSpPr>
        <p:grpSpPr>
          <a:xfrm>
            <a:off x="941705" y="3602355"/>
            <a:ext cx="10414000" cy="820420"/>
            <a:chOff x="10037" y="3658"/>
            <a:chExt cx="16400" cy="1292"/>
          </a:xfrm>
        </p:grpSpPr>
        <p:sp>
          <p:nvSpPr>
            <p:cNvPr id="16" name="Oval 26"/>
            <p:cNvSpPr/>
            <p:nvPr/>
          </p:nvSpPr>
          <p:spPr>
            <a:xfrm>
              <a:off x="10037" y="3727"/>
              <a:ext cx="1223" cy="1223"/>
            </a:xfrm>
            <a:prstGeom prst="ellipse">
              <a:avLst/>
            </a:prstGeom>
            <a:solidFill>
              <a:schemeClr val="accent6">
                <a:lumMod val="75000"/>
              </a:schemeClr>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24" name="矩形 23"/>
            <p:cNvSpPr/>
            <p:nvPr/>
          </p:nvSpPr>
          <p:spPr>
            <a:xfrm>
              <a:off x="11427" y="4176"/>
              <a:ext cx="15010" cy="705"/>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对入口进行测试，确保链接能引导用户到达合适的内容和功能。</a:t>
              </a:r>
            </a:p>
          </p:txBody>
        </p:sp>
        <p:sp>
          <p:nvSpPr>
            <p:cNvPr id="35863" name="文本框 24"/>
            <p:cNvSpPr txBox="1"/>
            <p:nvPr/>
          </p:nvSpPr>
          <p:spPr>
            <a:xfrm>
              <a:off x="11427" y="3658"/>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站点地图</a:t>
              </a:r>
            </a:p>
          </p:txBody>
        </p:sp>
        <p:sp>
          <p:nvSpPr>
            <p:cNvPr id="13" name="Freeform 7"/>
            <p:cNvSpPr>
              <a:spLocks noEditPoints="1"/>
            </p:cNvSpPr>
            <p:nvPr/>
          </p:nvSpPr>
          <p:spPr bwMode="auto">
            <a:xfrm>
              <a:off x="10330" y="4018"/>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grpSp>
    </p:spTree>
    <p:custDataLst>
      <p:tags r:id="rId1"/>
    </p:custDataLst>
  </p:cSld>
  <p:clrMapOvr>
    <a:masterClrMapping/>
  </p:clrMapOvr>
  <p:transition>
    <p:comb dir="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to="" calcmode="lin" valueType="num">
                                      <p:cBhvr>
                                        <p:cTn id="7" dur="1" fill="hold"/>
                                        <p:tgtEl>
                                          <p:spTgt spid="6"/>
                                        </p:tgtEl>
                                      </p:cBhvr>
                                    </p:anim>
                                  </p:childTnLst>
                                </p:cTn>
                              </p:par>
                            </p:childTnLst>
                          </p:cTn>
                        </p:par>
                      </p:childTnLst>
                    </p:cTn>
                  </p:par>
                  <p:par>
                    <p:cTn id="8" fill="hold">
                      <p:stCondLst>
                        <p:cond delay="indefinite"/>
                      </p:stCondLst>
                      <p:childTnLst>
                        <p:par>
                          <p:cTn id="9" fill="hold">
                            <p:stCondLst>
                              <p:cond delay="0"/>
                            </p:stCondLst>
                            <p:childTnLst>
                              <p:par>
                                <p:cTn id="10" presetID="24"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 to="" calcmode="lin" valueType="num">
                                      <p:cBhvr>
                                        <p:cTn id="12" dur="1" fill="hold"/>
                                        <p:tgtEl>
                                          <p:spTgt spid="8"/>
                                        </p:tgtEl>
                                      </p:cBhvr>
                                    </p:anim>
                                  </p:childTnLst>
                                </p:cTn>
                              </p:par>
                            </p:childTnLst>
                          </p:cTn>
                        </p:par>
                      </p:childTnLst>
                    </p:cTn>
                  </p:par>
                  <p:par>
                    <p:cTn id="13" fill="hold">
                      <p:stCondLst>
                        <p:cond delay="indefinite"/>
                      </p:stCondLst>
                      <p:childTnLst>
                        <p:par>
                          <p:cTn id="14" fill="hold">
                            <p:stCondLst>
                              <p:cond delay="0"/>
                            </p:stCondLst>
                            <p:childTnLst>
                              <p:par>
                                <p:cTn id="15" presetID="24"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 to="" calcmode="lin" valueType="num">
                                      <p:cBhvr>
                                        <p:cTn id="17" dur="1" fill="hold"/>
                                        <p:tgtEl>
                                          <p:spTgt spid="12"/>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8.7.5 </a:t>
            </a:r>
            <a:r>
              <a:rPr sz="2400" dirty="0">
                <a:solidFill>
                  <a:schemeClr val="tx1"/>
                </a:solidFill>
              </a:rPr>
              <a:t>配置测试</a:t>
            </a:r>
          </a:p>
        </p:txBody>
      </p:sp>
      <p:sp>
        <p:nvSpPr>
          <p:cNvPr id="4" name="MH_Other_1"/>
          <p:cNvSpPr/>
          <p:nvPr>
            <p:custDataLst>
              <p:tags r:id="rId2"/>
            </p:custDataLst>
          </p:nvPr>
        </p:nvSpPr>
        <p:spPr bwMode="auto">
          <a:xfrm>
            <a:off x="957930" y="4070828"/>
            <a:ext cx="3300683" cy="1750084"/>
          </a:xfrm>
          <a:custGeom>
            <a:avLst/>
            <a:gdLst>
              <a:gd name="T0" fmla="*/ 10025 w 1781"/>
              <a:gd name="T1" fmla="*/ 745 h 1235"/>
              <a:gd name="T2" fmla="*/ 12527 w 1781"/>
              <a:gd name="T3" fmla="*/ 16196 h 1235"/>
              <a:gd name="T4" fmla="*/ 31328 w 1781"/>
              <a:gd name="T5" fmla="*/ 7497 h 1235"/>
              <a:gd name="T6" fmla="*/ 36630 w 1781"/>
              <a:gd name="T7" fmla="*/ 9158 h 1235"/>
              <a:gd name="T8" fmla="*/ 9297 w 1781"/>
              <a:gd name="T9" fmla="*/ 20594 h 1235"/>
              <a:gd name="T10" fmla="*/ 7651 w 1781"/>
              <a:gd name="T11" fmla="*/ 0 h 1235"/>
              <a:gd name="T12" fmla="*/ 10025 w 1781"/>
              <a:gd name="T13" fmla="*/ 745 h 1235"/>
              <a:gd name="T14" fmla="*/ 0 60000 65536"/>
              <a:gd name="T15" fmla="*/ 0 60000 65536"/>
              <a:gd name="T16" fmla="*/ 0 60000 65536"/>
              <a:gd name="T17" fmla="*/ 0 60000 65536"/>
              <a:gd name="T18" fmla="*/ 0 60000 65536"/>
              <a:gd name="T19" fmla="*/ 0 60000 65536"/>
              <a:gd name="T20" fmla="*/ 0 60000 65536"/>
              <a:gd name="T21" fmla="*/ 0 w 1781"/>
              <a:gd name="T22" fmla="*/ 0 h 1235"/>
              <a:gd name="T23" fmla="*/ 1781 w 1781"/>
              <a:gd name="T24" fmla="*/ 1235 h 12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81" h="1235">
                <a:moveTo>
                  <a:pt x="487" y="36"/>
                </a:moveTo>
                <a:cubicBezTo>
                  <a:pt x="412" y="169"/>
                  <a:pt x="208" y="597"/>
                  <a:pt x="609" y="785"/>
                </a:cubicBezTo>
                <a:cubicBezTo>
                  <a:pt x="830" y="873"/>
                  <a:pt x="1204" y="807"/>
                  <a:pt x="1523" y="363"/>
                </a:cubicBezTo>
                <a:cubicBezTo>
                  <a:pt x="1586" y="379"/>
                  <a:pt x="1709" y="419"/>
                  <a:pt x="1781" y="444"/>
                </a:cubicBezTo>
                <a:cubicBezTo>
                  <a:pt x="1502" y="949"/>
                  <a:pt x="806" y="1235"/>
                  <a:pt x="452" y="998"/>
                </a:cubicBezTo>
                <a:cubicBezTo>
                  <a:pt x="0" y="701"/>
                  <a:pt x="278" y="135"/>
                  <a:pt x="372" y="0"/>
                </a:cubicBezTo>
                <a:cubicBezTo>
                  <a:pt x="430" y="17"/>
                  <a:pt x="411" y="11"/>
                  <a:pt x="487" y="36"/>
                </a:cubicBezTo>
                <a:close/>
              </a:path>
            </a:pathLst>
          </a:custGeom>
          <a:gradFill rotWithShape="1">
            <a:gsLst>
              <a:gs pos="0">
                <a:srgbClr val="DDDDDD"/>
              </a:gs>
              <a:gs pos="50000">
                <a:srgbClr val="F6F6F6"/>
              </a:gs>
              <a:gs pos="100000">
                <a:srgbClr val="DDDDDD"/>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20" name="MH_Other_2"/>
          <p:cNvSpPr/>
          <p:nvPr>
            <p:custDataLst>
              <p:tags r:id="rId3"/>
            </p:custDataLst>
          </p:nvPr>
        </p:nvSpPr>
        <p:spPr bwMode="auto">
          <a:xfrm>
            <a:off x="1907877" y="4697870"/>
            <a:ext cx="2432015" cy="1137603"/>
          </a:xfrm>
          <a:custGeom>
            <a:avLst/>
            <a:gdLst>
              <a:gd name="T0" fmla="*/ 0 w 1312"/>
              <a:gd name="T1" fmla="*/ 12136 h 803"/>
              <a:gd name="T2" fmla="*/ 20383 w 1312"/>
              <a:gd name="T3" fmla="*/ 6902 h 803"/>
              <a:gd name="T4" fmla="*/ 26093 w 1312"/>
              <a:gd name="T5" fmla="*/ 0 h 803"/>
              <a:gd name="T6" fmla="*/ 27029 w 1312"/>
              <a:gd name="T7" fmla="*/ 1298 h 803"/>
              <a:gd name="T8" fmla="*/ 8242 w 1312"/>
              <a:gd name="T9" fmla="*/ 13966 h 803"/>
              <a:gd name="T10" fmla="*/ 0 w 1312"/>
              <a:gd name="T11" fmla="*/ 12136 h 803"/>
              <a:gd name="T12" fmla="*/ 0 60000 65536"/>
              <a:gd name="T13" fmla="*/ 0 60000 65536"/>
              <a:gd name="T14" fmla="*/ 0 60000 65536"/>
              <a:gd name="T15" fmla="*/ 0 60000 65536"/>
              <a:gd name="T16" fmla="*/ 0 60000 65536"/>
              <a:gd name="T17" fmla="*/ 0 60000 65536"/>
              <a:gd name="T18" fmla="*/ 0 w 1312"/>
              <a:gd name="T19" fmla="*/ 0 h 803"/>
              <a:gd name="T20" fmla="*/ 1312 w 1312"/>
              <a:gd name="T21" fmla="*/ 803 h 803"/>
            </a:gdLst>
            <a:ahLst/>
            <a:cxnLst>
              <a:cxn ang="T12">
                <a:pos x="T0" y="T1"/>
              </a:cxn>
              <a:cxn ang="T13">
                <a:pos x="T2" y="T3"/>
              </a:cxn>
              <a:cxn ang="T14">
                <a:pos x="T4" y="T5"/>
              </a:cxn>
              <a:cxn ang="T15">
                <a:pos x="T6" y="T7"/>
              </a:cxn>
              <a:cxn ang="T16">
                <a:pos x="T8" y="T9"/>
              </a:cxn>
              <a:cxn ang="T17">
                <a:pos x="T10" y="T11"/>
              </a:cxn>
            </a:cxnLst>
            <a:rect l="T18" t="T19" r="T20" b="T21"/>
            <a:pathLst>
              <a:path w="1312" h="803">
                <a:moveTo>
                  <a:pt x="0" y="589"/>
                </a:moveTo>
                <a:cubicBezTo>
                  <a:pt x="0" y="589"/>
                  <a:pt x="399" y="803"/>
                  <a:pt x="989" y="335"/>
                </a:cubicBezTo>
                <a:cubicBezTo>
                  <a:pt x="1163" y="189"/>
                  <a:pt x="1267" y="0"/>
                  <a:pt x="1267" y="0"/>
                </a:cubicBezTo>
                <a:cubicBezTo>
                  <a:pt x="1312" y="63"/>
                  <a:pt x="1312" y="63"/>
                  <a:pt x="1312" y="63"/>
                </a:cubicBezTo>
                <a:cubicBezTo>
                  <a:pt x="1312" y="63"/>
                  <a:pt x="999" y="633"/>
                  <a:pt x="400" y="678"/>
                </a:cubicBezTo>
                <a:cubicBezTo>
                  <a:pt x="148" y="694"/>
                  <a:pt x="0" y="589"/>
                  <a:pt x="0" y="589"/>
                </a:cubicBezTo>
                <a:close/>
              </a:path>
            </a:pathLst>
          </a:custGeom>
          <a:solidFill>
            <a:schemeClr val="bg1">
              <a:lumMod val="75000"/>
            </a:schemeClr>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1" name="MH_Other_3"/>
          <p:cNvSpPr/>
          <p:nvPr>
            <p:custDataLst>
              <p:tags r:id="rId4"/>
            </p:custDataLst>
          </p:nvPr>
        </p:nvSpPr>
        <p:spPr bwMode="auto">
          <a:xfrm>
            <a:off x="1481164" y="4122274"/>
            <a:ext cx="494022" cy="1011418"/>
          </a:xfrm>
          <a:custGeom>
            <a:avLst/>
            <a:gdLst>
              <a:gd name="T0" fmla="*/ 4168 w 267"/>
              <a:gd name="T1" fmla="*/ 0 h 714"/>
              <a:gd name="T2" fmla="*/ 5297 w 267"/>
              <a:gd name="T3" fmla="*/ 1035 h 714"/>
              <a:gd name="T4" fmla="*/ 5361 w 267"/>
              <a:gd name="T5" fmla="*/ 14696 h 714"/>
              <a:gd name="T6" fmla="*/ 1773 w 267"/>
              <a:gd name="T7" fmla="*/ 7465 h 714"/>
              <a:gd name="T8" fmla="*/ 4168 w 267"/>
              <a:gd name="T9" fmla="*/ 0 h 714"/>
              <a:gd name="T10" fmla="*/ 0 60000 65536"/>
              <a:gd name="T11" fmla="*/ 0 60000 65536"/>
              <a:gd name="T12" fmla="*/ 0 60000 65536"/>
              <a:gd name="T13" fmla="*/ 0 60000 65536"/>
              <a:gd name="T14" fmla="*/ 0 60000 65536"/>
              <a:gd name="T15" fmla="*/ 0 w 267"/>
              <a:gd name="T16" fmla="*/ 0 h 714"/>
              <a:gd name="T17" fmla="*/ 267 w 267"/>
              <a:gd name="T18" fmla="*/ 714 h 714"/>
            </a:gdLst>
            <a:ahLst/>
            <a:cxnLst>
              <a:cxn ang="T10">
                <a:pos x="T0" y="T1"/>
              </a:cxn>
              <a:cxn ang="T11">
                <a:pos x="T2" y="T3"/>
              </a:cxn>
              <a:cxn ang="T12">
                <a:pos x="T4" y="T5"/>
              </a:cxn>
              <a:cxn ang="T13">
                <a:pos x="T6" y="T7"/>
              </a:cxn>
              <a:cxn ang="T14">
                <a:pos x="T8" y="T9"/>
              </a:cxn>
            </a:cxnLst>
            <a:rect l="T15" t="T16" r="T17" b="T18"/>
            <a:pathLst>
              <a:path w="267" h="714">
                <a:moveTo>
                  <a:pt x="205" y="0"/>
                </a:moveTo>
                <a:cubicBezTo>
                  <a:pt x="205" y="0"/>
                  <a:pt x="254" y="45"/>
                  <a:pt x="261" y="50"/>
                </a:cubicBezTo>
                <a:cubicBezTo>
                  <a:pt x="267" y="61"/>
                  <a:pt x="0" y="424"/>
                  <a:pt x="264" y="714"/>
                </a:cubicBezTo>
                <a:cubicBezTo>
                  <a:pt x="69" y="593"/>
                  <a:pt x="85" y="409"/>
                  <a:pt x="87" y="363"/>
                </a:cubicBezTo>
                <a:cubicBezTo>
                  <a:pt x="88" y="197"/>
                  <a:pt x="205" y="0"/>
                  <a:pt x="205" y="0"/>
                </a:cubicBezTo>
                <a:close/>
              </a:path>
            </a:pathLst>
          </a:custGeom>
          <a:gradFill rotWithShape="1">
            <a:gsLst>
              <a:gs pos="0">
                <a:srgbClr val="DDDDDD"/>
              </a:gs>
              <a:gs pos="50000">
                <a:srgbClr val="B2B2B2"/>
              </a:gs>
              <a:gs pos="100000">
                <a:srgbClr val="DDDDDD"/>
              </a:gs>
            </a:gsLst>
            <a:lin ang="18900000" scaled="1"/>
          </a:gra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22" name="MH_Other_4"/>
          <p:cNvSpPr/>
          <p:nvPr>
            <p:custDataLst>
              <p:tags r:id="rId5"/>
            </p:custDataLst>
          </p:nvPr>
        </p:nvSpPr>
        <p:spPr bwMode="auto">
          <a:xfrm>
            <a:off x="1718650" y="3165211"/>
            <a:ext cx="3112725" cy="1429769"/>
          </a:xfrm>
          <a:custGeom>
            <a:avLst/>
            <a:gdLst>
              <a:gd name="T0" fmla="*/ 24075 w 1678"/>
              <a:gd name="T1" fmla="*/ 19158 h 1010"/>
              <a:gd name="T2" fmla="*/ 20411 w 1678"/>
              <a:gd name="T3" fmla="*/ 5169 h 1010"/>
              <a:gd name="T4" fmla="*/ 2400 w 1678"/>
              <a:gd name="T5" fmla="*/ 13038 h 1010"/>
              <a:gd name="T6" fmla="*/ 0 w 1678"/>
              <a:gd name="T7" fmla="*/ 12337 h 1010"/>
              <a:gd name="T8" fmla="*/ 22319 w 1678"/>
              <a:gd name="T9" fmla="*/ 1285 h 1010"/>
              <a:gd name="T10" fmla="*/ 29469 w 1678"/>
              <a:gd name="T11" fmla="*/ 20672 h 1010"/>
              <a:gd name="T12" fmla="*/ 24075 w 1678"/>
              <a:gd name="T13" fmla="*/ 19158 h 1010"/>
              <a:gd name="T14" fmla="*/ 0 60000 65536"/>
              <a:gd name="T15" fmla="*/ 0 60000 65536"/>
              <a:gd name="T16" fmla="*/ 0 60000 65536"/>
              <a:gd name="T17" fmla="*/ 0 60000 65536"/>
              <a:gd name="T18" fmla="*/ 0 60000 65536"/>
              <a:gd name="T19" fmla="*/ 0 60000 65536"/>
              <a:gd name="T20" fmla="*/ 0 60000 65536"/>
              <a:gd name="T21" fmla="*/ 0 w 1678"/>
              <a:gd name="T22" fmla="*/ 0 h 1010"/>
              <a:gd name="T23" fmla="*/ 1678 w 1678"/>
              <a:gd name="T24" fmla="*/ 1010 h 1010"/>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78" h="1010">
                <a:moveTo>
                  <a:pt x="1162" y="936"/>
                </a:moveTo>
                <a:cubicBezTo>
                  <a:pt x="1222" y="836"/>
                  <a:pt x="1371" y="388"/>
                  <a:pt x="985" y="252"/>
                </a:cubicBezTo>
                <a:cubicBezTo>
                  <a:pt x="471" y="122"/>
                  <a:pt x="116" y="637"/>
                  <a:pt x="116" y="637"/>
                </a:cubicBezTo>
                <a:cubicBezTo>
                  <a:pt x="116" y="637"/>
                  <a:pt x="116" y="637"/>
                  <a:pt x="0" y="603"/>
                </a:cubicBezTo>
                <a:cubicBezTo>
                  <a:pt x="272" y="215"/>
                  <a:pt x="727" y="0"/>
                  <a:pt x="1077" y="63"/>
                </a:cubicBezTo>
                <a:cubicBezTo>
                  <a:pt x="1416" y="123"/>
                  <a:pt x="1678" y="452"/>
                  <a:pt x="1422" y="1010"/>
                </a:cubicBezTo>
                <a:cubicBezTo>
                  <a:pt x="1357" y="994"/>
                  <a:pt x="1209" y="950"/>
                  <a:pt x="1162" y="936"/>
                </a:cubicBezTo>
                <a:close/>
              </a:path>
            </a:pathLst>
          </a:custGeom>
          <a:gradFill rotWithShape="1">
            <a:gsLst>
              <a:gs pos="0">
                <a:srgbClr val="CC99FF"/>
              </a:gs>
              <a:gs pos="50000">
                <a:srgbClr val="E6CDFF"/>
              </a:gs>
              <a:gs pos="100000">
                <a:srgbClr val="CC99FF"/>
              </a:gs>
            </a:gsLst>
            <a:lin ang="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3" name="MH_Other_5"/>
          <p:cNvSpPr/>
          <p:nvPr>
            <p:custDataLst>
              <p:tags r:id="rId6"/>
            </p:custDataLst>
          </p:nvPr>
        </p:nvSpPr>
        <p:spPr bwMode="auto">
          <a:xfrm>
            <a:off x="4356402" y="3702951"/>
            <a:ext cx="331465" cy="986182"/>
          </a:xfrm>
          <a:custGeom>
            <a:avLst/>
            <a:gdLst>
              <a:gd name="T0" fmla="*/ 0 w 179"/>
              <a:gd name="T1" fmla="*/ 12990 h 696"/>
              <a:gd name="T2" fmla="*/ 859 w 179"/>
              <a:gd name="T3" fmla="*/ 14350 h 696"/>
              <a:gd name="T4" fmla="*/ 2849 w 179"/>
              <a:gd name="T5" fmla="*/ 6497 h 696"/>
              <a:gd name="T6" fmla="*/ 1866 w 179"/>
              <a:gd name="T7" fmla="*/ 1298 h 696"/>
              <a:gd name="T8" fmla="*/ 1305 w 179"/>
              <a:gd name="T9" fmla="*/ 0 h 696"/>
              <a:gd name="T10" fmla="*/ 0 w 179"/>
              <a:gd name="T11" fmla="*/ 12990 h 696"/>
              <a:gd name="T12" fmla="*/ 0 60000 65536"/>
              <a:gd name="T13" fmla="*/ 0 60000 65536"/>
              <a:gd name="T14" fmla="*/ 0 60000 65536"/>
              <a:gd name="T15" fmla="*/ 0 60000 65536"/>
              <a:gd name="T16" fmla="*/ 0 60000 65536"/>
              <a:gd name="T17" fmla="*/ 0 60000 65536"/>
              <a:gd name="T18" fmla="*/ 0 w 179"/>
              <a:gd name="T19" fmla="*/ 0 h 696"/>
              <a:gd name="T20" fmla="*/ 179 w 179"/>
              <a:gd name="T21" fmla="*/ 696 h 696"/>
            </a:gdLst>
            <a:ahLst/>
            <a:cxnLst>
              <a:cxn ang="T12">
                <a:pos x="T0" y="T1"/>
              </a:cxn>
              <a:cxn ang="T13">
                <a:pos x="T2" y="T3"/>
              </a:cxn>
              <a:cxn ang="T14">
                <a:pos x="T4" y="T5"/>
              </a:cxn>
              <a:cxn ang="T15">
                <a:pos x="T6" y="T7"/>
              </a:cxn>
              <a:cxn ang="T16">
                <a:pos x="T8" y="T9"/>
              </a:cxn>
              <a:cxn ang="T17">
                <a:pos x="T10" y="T11"/>
              </a:cxn>
            </a:cxnLst>
            <a:rect l="T18" t="T19" r="T20" b="T21"/>
            <a:pathLst>
              <a:path w="179" h="696">
                <a:moveTo>
                  <a:pt x="0" y="630"/>
                </a:moveTo>
                <a:cubicBezTo>
                  <a:pt x="19" y="659"/>
                  <a:pt x="42" y="696"/>
                  <a:pt x="42" y="696"/>
                </a:cubicBezTo>
                <a:cubicBezTo>
                  <a:pt x="42" y="696"/>
                  <a:pt x="134" y="518"/>
                  <a:pt x="139" y="315"/>
                </a:cubicBezTo>
                <a:cubicBezTo>
                  <a:pt x="146" y="172"/>
                  <a:pt x="91" y="63"/>
                  <a:pt x="91" y="63"/>
                </a:cubicBezTo>
                <a:cubicBezTo>
                  <a:pt x="64" y="0"/>
                  <a:pt x="64" y="0"/>
                  <a:pt x="64" y="0"/>
                </a:cubicBezTo>
                <a:cubicBezTo>
                  <a:pt x="64" y="0"/>
                  <a:pt x="179" y="245"/>
                  <a:pt x="0" y="630"/>
                </a:cubicBezTo>
                <a:close/>
              </a:path>
            </a:pathLst>
          </a:custGeom>
          <a:gradFill rotWithShape="1">
            <a:gsLst>
              <a:gs pos="0">
                <a:srgbClr val="CC99FF"/>
              </a:gs>
              <a:gs pos="50000">
                <a:srgbClr val="E6CDFF"/>
              </a:gs>
              <a:gs pos="100000">
                <a:srgbClr val="CC99FF"/>
              </a:gs>
            </a:gsLst>
            <a:lin ang="270000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4" name="MH_Other_6"/>
          <p:cNvSpPr/>
          <p:nvPr>
            <p:custDataLst>
              <p:tags r:id="rId7"/>
            </p:custDataLst>
          </p:nvPr>
        </p:nvSpPr>
        <p:spPr bwMode="auto">
          <a:xfrm>
            <a:off x="1933277" y="3337017"/>
            <a:ext cx="2039590" cy="801758"/>
          </a:xfrm>
          <a:custGeom>
            <a:avLst/>
            <a:gdLst>
              <a:gd name="T0" fmla="*/ 17943 w 1100"/>
              <a:gd name="T1" fmla="*/ 2712 h 565"/>
              <a:gd name="T2" fmla="*/ 0 w 1100"/>
              <a:gd name="T3" fmla="*/ 10753 h 565"/>
              <a:gd name="T4" fmla="*/ 1115 w 1100"/>
              <a:gd name="T5" fmla="*/ 11795 h 565"/>
              <a:gd name="T6" fmla="*/ 17869 w 1100"/>
              <a:gd name="T7" fmla="*/ 3887 h 565"/>
              <a:gd name="T8" fmla="*/ 22716 w 1100"/>
              <a:gd name="T9" fmla="*/ 7231 h 565"/>
              <a:gd name="T10" fmla="*/ 17943 w 1100"/>
              <a:gd name="T11" fmla="*/ 2712 h 565"/>
              <a:gd name="T12" fmla="*/ 0 60000 65536"/>
              <a:gd name="T13" fmla="*/ 0 60000 65536"/>
              <a:gd name="T14" fmla="*/ 0 60000 65536"/>
              <a:gd name="T15" fmla="*/ 0 60000 65536"/>
              <a:gd name="T16" fmla="*/ 0 60000 65536"/>
              <a:gd name="T17" fmla="*/ 0 60000 65536"/>
              <a:gd name="T18" fmla="*/ 0 w 1100"/>
              <a:gd name="T19" fmla="*/ 0 h 565"/>
              <a:gd name="T20" fmla="*/ 1100 w 1100"/>
              <a:gd name="T21" fmla="*/ 565 h 565"/>
            </a:gdLst>
            <a:ahLst/>
            <a:cxnLst>
              <a:cxn ang="T12">
                <a:pos x="T0" y="T1"/>
              </a:cxn>
              <a:cxn ang="T13">
                <a:pos x="T2" y="T3"/>
              </a:cxn>
              <a:cxn ang="T14">
                <a:pos x="T4" y="T5"/>
              </a:cxn>
              <a:cxn ang="T15">
                <a:pos x="T6" y="T7"/>
              </a:cxn>
              <a:cxn ang="T16">
                <a:pos x="T8" y="T9"/>
              </a:cxn>
              <a:cxn ang="T17">
                <a:pos x="T10" y="T11"/>
              </a:cxn>
            </a:cxnLst>
            <a:rect l="T18" t="T19" r="T20" b="T21"/>
            <a:pathLst>
              <a:path w="1100" h="565">
                <a:moveTo>
                  <a:pt x="869" y="130"/>
                </a:moveTo>
                <a:cubicBezTo>
                  <a:pt x="355" y="0"/>
                  <a:pt x="0" y="515"/>
                  <a:pt x="0" y="515"/>
                </a:cubicBezTo>
                <a:cubicBezTo>
                  <a:pt x="0" y="515"/>
                  <a:pt x="0" y="515"/>
                  <a:pt x="54" y="565"/>
                </a:cubicBezTo>
                <a:cubicBezTo>
                  <a:pt x="279" y="285"/>
                  <a:pt x="580" y="120"/>
                  <a:pt x="866" y="186"/>
                </a:cubicBezTo>
                <a:cubicBezTo>
                  <a:pt x="1050" y="226"/>
                  <a:pt x="1100" y="347"/>
                  <a:pt x="1100" y="347"/>
                </a:cubicBezTo>
                <a:cubicBezTo>
                  <a:pt x="1084" y="303"/>
                  <a:pt x="1043" y="192"/>
                  <a:pt x="869" y="130"/>
                </a:cubicBezTo>
                <a:close/>
              </a:path>
            </a:pathLst>
          </a:custGeom>
          <a:gradFill rotWithShape="1">
            <a:gsLst>
              <a:gs pos="0">
                <a:srgbClr val="F0E1FF"/>
              </a:gs>
              <a:gs pos="50000">
                <a:srgbClr val="E6CDFF"/>
              </a:gs>
              <a:gs pos="100000">
                <a:srgbClr val="CC99FF"/>
              </a:gs>
            </a:gsLst>
            <a:lin ang="270000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5" name="MH_Other_7"/>
          <p:cNvSpPr/>
          <p:nvPr>
            <p:custDataLst>
              <p:tags r:id="rId8"/>
            </p:custDataLst>
          </p:nvPr>
        </p:nvSpPr>
        <p:spPr bwMode="auto">
          <a:xfrm>
            <a:off x="3873808" y="4491120"/>
            <a:ext cx="558792" cy="198013"/>
          </a:xfrm>
          <a:custGeom>
            <a:avLst/>
            <a:gdLst>
              <a:gd name="T0" fmla="*/ 0 w 469"/>
              <a:gd name="T1" fmla="*/ 0 h 218"/>
              <a:gd name="T2" fmla="*/ 243 w 469"/>
              <a:gd name="T3" fmla="*/ 68 h 218"/>
              <a:gd name="T4" fmla="*/ 281 w 469"/>
              <a:gd name="T5" fmla="*/ 129 h 218"/>
              <a:gd name="T6" fmla="*/ 44 w 469"/>
              <a:gd name="T7" fmla="*/ 59 h 218"/>
              <a:gd name="T8" fmla="*/ 0 w 469"/>
              <a:gd name="T9" fmla="*/ 0 h 218"/>
              <a:gd name="T10" fmla="*/ 0 60000 65536"/>
              <a:gd name="T11" fmla="*/ 0 60000 65536"/>
              <a:gd name="T12" fmla="*/ 0 60000 65536"/>
              <a:gd name="T13" fmla="*/ 0 60000 65536"/>
              <a:gd name="T14" fmla="*/ 0 60000 65536"/>
              <a:gd name="T15" fmla="*/ 0 w 469"/>
              <a:gd name="T16" fmla="*/ 0 h 218"/>
              <a:gd name="T17" fmla="*/ 469 w 469"/>
              <a:gd name="T18" fmla="*/ 218 h 218"/>
            </a:gdLst>
            <a:ahLst/>
            <a:cxnLst>
              <a:cxn ang="T10">
                <a:pos x="T0" y="T1"/>
              </a:cxn>
              <a:cxn ang="T11">
                <a:pos x="T2" y="T3"/>
              </a:cxn>
              <a:cxn ang="T12">
                <a:pos x="T4" y="T5"/>
              </a:cxn>
              <a:cxn ang="T13">
                <a:pos x="T6" y="T7"/>
              </a:cxn>
              <a:cxn ang="T14">
                <a:pos x="T8" y="T9"/>
              </a:cxn>
            </a:cxnLst>
            <a:rect l="T15" t="T16" r="T17" b="T18"/>
            <a:pathLst>
              <a:path w="469" h="218">
                <a:moveTo>
                  <a:pt x="0" y="0"/>
                </a:moveTo>
                <a:lnTo>
                  <a:pt x="404" y="115"/>
                </a:lnTo>
                <a:lnTo>
                  <a:pt x="469" y="218"/>
                </a:lnTo>
                <a:lnTo>
                  <a:pt x="73" y="100"/>
                </a:lnTo>
                <a:lnTo>
                  <a:pt x="0" y="0"/>
                </a:lnTo>
                <a:close/>
              </a:path>
            </a:pathLst>
          </a:custGeom>
          <a:solidFill>
            <a:srgbClr val="CC99FF"/>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6" name="MH_Other_8"/>
          <p:cNvSpPr/>
          <p:nvPr>
            <p:custDataLst>
              <p:tags r:id="rId9"/>
            </p:custDataLst>
          </p:nvPr>
        </p:nvSpPr>
        <p:spPr bwMode="auto">
          <a:xfrm>
            <a:off x="1718649" y="4019384"/>
            <a:ext cx="316226" cy="119390"/>
          </a:xfrm>
          <a:custGeom>
            <a:avLst/>
            <a:gdLst>
              <a:gd name="T0" fmla="*/ 112 w 264"/>
              <a:gd name="T1" fmla="*/ 32 h 131"/>
              <a:gd name="T2" fmla="*/ 165 w 264"/>
              <a:gd name="T3" fmla="*/ 79 h 131"/>
              <a:gd name="T4" fmla="*/ 52 w 264"/>
              <a:gd name="T5" fmla="*/ 48 h 131"/>
              <a:gd name="T6" fmla="*/ 0 w 264"/>
              <a:gd name="T7" fmla="*/ 0 h 131"/>
              <a:gd name="T8" fmla="*/ 112 w 264"/>
              <a:gd name="T9" fmla="*/ 32 h 131"/>
              <a:gd name="T10" fmla="*/ 0 60000 65536"/>
              <a:gd name="T11" fmla="*/ 0 60000 65536"/>
              <a:gd name="T12" fmla="*/ 0 60000 65536"/>
              <a:gd name="T13" fmla="*/ 0 60000 65536"/>
              <a:gd name="T14" fmla="*/ 0 60000 65536"/>
              <a:gd name="T15" fmla="*/ 0 w 264"/>
              <a:gd name="T16" fmla="*/ 0 h 131"/>
              <a:gd name="T17" fmla="*/ 264 w 264"/>
              <a:gd name="T18" fmla="*/ 131 h 131"/>
            </a:gdLst>
            <a:ahLst/>
            <a:cxnLst>
              <a:cxn ang="T10">
                <a:pos x="T0" y="T1"/>
              </a:cxn>
              <a:cxn ang="T11">
                <a:pos x="T2" y="T3"/>
              </a:cxn>
              <a:cxn ang="T12">
                <a:pos x="T4" y="T5"/>
              </a:cxn>
              <a:cxn ang="T13">
                <a:pos x="T6" y="T7"/>
              </a:cxn>
              <a:cxn ang="T14">
                <a:pos x="T8" y="T9"/>
              </a:cxn>
            </a:cxnLst>
            <a:rect l="T15" t="T16" r="T17" b="T18"/>
            <a:pathLst>
              <a:path w="264" h="131">
                <a:moveTo>
                  <a:pt x="180" y="53"/>
                </a:moveTo>
                <a:lnTo>
                  <a:pt x="264" y="131"/>
                </a:lnTo>
                <a:lnTo>
                  <a:pt x="83" y="78"/>
                </a:lnTo>
                <a:lnTo>
                  <a:pt x="0" y="0"/>
                </a:lnTo>
                <a:lnTo>
                  <a:pt x="180" y="53"/>
                </a:lnTo>
                <a:close/>
              </a:path>
            </a:pathLst>
          </a:custGeom>
          <a:solidFill>
            <a:srgbClr val="CC99FF"/>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7" name="MH_Other_9"/>
          <p:cNvSpPr/>
          <p:nvPr>
            <p:custDataLst>
              <p:tags r:id="rId10"/>
            </p:custDataLst>
          </p:nvPr>
        </p:nvSpPr>
        <p:spPr bwMode="auto">
          <a:xfrm>
            <a:off x="2700834" y="5623413"/>
            <a:ext cx="8394323" cy="121125"/>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rtlCol="0" anchor="ctr"/>
          <a:lstStyle/>
          <a:p>
            <a:pPr algn="ctr"/>
            <a:endParaRPr lang="zh-CN" altLang="en-US" sz="1350" kern="10" dirty="0">
              <a:solidFill>
                <a:schemeClr val="bg1"/>
              </a:solidFill>
              <a:latin typeface="微软雅黑" panose="020B0503020204020204" charset="-122"/>
              <a:ea typeface="微软雅黑" panose="020B0503020204020204" charset="-122"/>
            </a:endParaRPr>
          </a:p>
        </p:txBody>
      </p:sp>
      <p:sp>
        <p:nvSpPr>
          <p:cNvPr id="28" name="MH_Other_10"/>
          <p:cNvSpPr>
            <a:spLocks noChangeShapeType="1"/>
          </p:cNvSpPr>
          <p:nvPr>
            <p:custDataLst>
              <p:tags r:id="rId11"/>
            </p:custDataLst>
          </p:nvPr>
        </p:nvSpPr>
        <p:spPr bwMode="auto">
          <a:xfrm rot="21307710" flipH="1">
            <a:off x="2343765" y="4671113"/>
            <a:ext cx="372106" cy="383271"/>
          </a:xfrm>
          <a:prstGeom prst="line">
            <a:avLst/>
          </a:prstGeom>
          <a:noFill/>
          <a:ln w="76200">
            <a:solidFill>
              <a:schemeClr val="tx1">
                <a:lumMod val="50000"/>
                <a:lumOff val="50000"/>
              </a:schemeClr>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30" name="MH_Other_11"/>
          <p:cNvSpPr>
            <a:spLocks noChangeShapeType="1"/>
          </p:cNvSpPr>
          <p:nvPr>
            <p:custDataLst>
              <p:tags r:id="rId12"/>
            </p:custDataLst>
          </p:nvPr>
        </p:nvSpPr>
        <p:spPr bwMode="auto">
          <a:xfrm rot="21307710" flipV="1">
            <a:off x="3075275" y="3726033"/>
            <a:ext cx="313686" cy="357073"/>
          </a:xfrm>
          <a:prstGeom prst="line">
            <a:avLst/>
          </a:prstGeom>
          <a:noFill/>
          <a:ln w="76200">
            <a:solidFill>
              <a:srgbClr val="CC99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31" name="MH_Desc_1"/>
          <p:cNvSpPr/>
          <p:nvPr>
            <p:custDataLst>
              <p:tags r:id="rId13"/>
            </p:custDataLst>
          </p:nvPr>
        </p:nvSpPr>
        <p:spPr bwMode="auto">
          <a:xfrm>
            <a:off x="5072094" y="2251623"/>
            <a:ext cx="5932169" cy="326390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rtlCol="0" anchor="ctr">
            <a:noAutofit/>
          </a:bodyPr>
          <a:lstStyle/>
          <a:p>
            <a:pPr indent="457200">
              <a:lnSpc>
                <a:spcPct val="130000"/>
              </a:lnSpc>
            </a:pPr>
            <a:r>
              <a:rPr lang="zh-CN" altLang="en-US" sz="2000" dirty="0">
                <a:solidFill>
                  <a:schemeClr val="tx1"/>
                </a:solidFill>
                <a:latin typeface="+mn-ea"/>
              </a:rPr>
              <a:t>硬件、操作系统、浏览器、存储容量、网络的通信速率和其他的客户端等因素难以预料，这些都会导致</a:t>
            </a:r>
            <a:r>
              <a:rPr lang="en-US" altLang="zh-CN" sz="2000" dirty="0">
                <a:solidFill>
                  <a:schemeClr val="tx1"/>
                </a:solidFill>
                <a:latin typeface="+mn-ea"/>
              </a:rPr>
              <a:t>WebApp</a:t>
            </a:r>
            <a:r>
              <a:rPr lang="zh-CN" altLang="en-US" sz="2000" dirty="0">
                <a:solidFill>
                  <a:schemeClr val="tx1"/>
                </a:solidFill>
                <a:latin typeface="+mn-ea"/>
              </a:rPr>
              <a:t>运行失败。配置测试的工作不是去检查每一个可能的客户端配置，而是测试一组可能的客户端和服务器端配置，确保用户在所有配置中的运行情况。</a:t>
            </a:r>
            <a:endParaRPr sz="2000" dirty="0">
              <a:solidFill>
                <a:schemeClr val="tx1"/>
              </a:solidFill>
              <a:latin typeface="+mn-ea"/>
            </a:endParaRPr>
          </a:p>
        </p:txBody>
      </p:sp>
    </p:spTree>
    <p:custDataLst>
      <p:tags r:id="rId1"/>
    </p:custDataLst>
  </p:cSld>
  <p:clrMapOvr>
    <a:masterClrMapping/>
  </p:clrMapOvr>
  <p:transition>
    <p:comb dir="vert"/>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8.7.5 </a:t>
            </a:r>
            <a:r>
              <a:rPr sz="2400" dirty="0">
                <a:solidFill>
                  <a:schemeClr val="tx1"/>
                </a:solidFill>
              </a:rPr>
              <a:t>配置测试</a:t>
            </a:r>
          </a:p>
        </p:txBody>
      </p:sp>
      <p:cxnSp>
        <p:nvCxnSpPr>
          <p:cNvPr id="24" name="MH_Other_4"/>
          <p:cNvCxnSpPr/>
          <p:nvPr/>
        </p:nvCxnSpPr>
        <p:spPr>
          <a:xfrm flipH="1">
            <a:off x="1168269" y="2167583"/>
            <a:ext cx="981075" cy="9207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25" name="MH_Other_5"/>
          <p:cNvSpPr/>
          <p:nvPr/>
        </p:nvSpPr>
        <p:spPr>
          <a:xfrm>
            <a:off x="658999" y="2707333"/>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6" name="MH_SubTitle_2"/>
          <p:cNvSpPr txBox="1">
            <a:spLocks noChangeArrowheads="1"/>
          </p:cNvSpPr>
          <p:nvPr/>
        </p:nvSpPr>
        <p:spPr bwMode="auto">
          <a:xfrm>
            <a:off x="1393695" y="2405701"/>
            <a:ext cx="9576000" cy="2122184"/>
          </a:xfrm>
          <a:prstGeom prst="rect">
            <a:avLst/>
          </a:prstGeom>
          <a:noFill/>
          <a:ln w="9525">
            <a:noFill/>
            <a:miter lim="800000"/>
          </a:ln>
        </p:spPr>
        <p:txBody>
          <a:bodyPr wrap="square"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50000"/>
              </a:lnSpc>
            </a:pPr>
            <a:r>
              <a:rPr lang="zh-CN" altLang="en-US" dirty="0"/>
              <a:t>服务器端</a:t>
            </a:r>
          </a:p>
          <a:p>
            <a:pPr indent="457200" algn="just" fontAlgn="auto">
              <a:lnSpc>
                <a:spcPct val="150000"/>
              </a:lnSpc>
            </a:pPr>
            <a:r>
              <a:rPr lang="zh-CN" altLang="en-US" dirty="0"/>
              <a:t>在服务器端，要设计配置测试用例来验证所计划的服务器配置（包括WebApp服务器、数据库服务器、操作系统、防火墙软件、并发应用系统在内），都能支持WebApp，并且不会发生错误。验证WebApp与服务器操作系统是否兼容；验证WebApp是否与数据库软件进行适当的集成；是否支持不同版本的数据库；验证服务器端的WebApp脚本运行是否正常等内容。</a:t>
            </a:r>
          </a:p>
        </p:txBody>
      </p:sp>
      <p:sp>
        <p:nvSpPr>
          <p:cNvPr id="27" name="MH_Other_6"/>
          <p:cNvSpPr txBox="1">
            <a:spLocks noChangeArrowheads="1"/>
          </p:cNvSpPr>
          <p:nvPr/>
        </p:nvSpPr>
        <p:spPr bwMode="auto">
          <a:xfrm>
            <a:off x="634869" y="1969463"/>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58B933"/>
                </a:solidFill>
                <a:latin typeface="Times New Roman" panose="02020603050405020304" pitchFamily="18" charset="0"/>
                <a:ea typeface="微软雅黑" panose="020B0503020204020204" charset="-122"/>
              </a:rPr>
              <a:t>1</a:t>
            </a:r>
          </a:p>
        </p:txBody>
      </p:sp>
      <p:cxnSp>
        <p:nvCxnSpPr>
          <p:cNvPr id="9" name="MH_Other_4"/>
          <p:cNvCxnSpPr/>
          <p:nvPr/>
        </p:nvCxnSpPr>
        <p:spPr>
          <a:xfrm flipH="1">
            <a:off x="1192399" y="4751398"/>
            <a:ext cx="981075" cy="92075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683129" y="5291148"/>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1393694" y="4993873"/>
            <a:ext cx="9576000" cy="1706686"/>
          </a:xfrm>
          <a:prstGeom prst="rect">
            <a:avLst/>
          </a:prstGeom>
          <a:noFill/>
          <a:ln w="9525">
            <a:noFill/>
            <a:miter lim="800000"/>
          </a:ln>
        </p:spPr>
        <p:txBody>
          <a:bodyPr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50000"/>
              </a:lnSpc>
            </a:pPr>
            <a:r>
              <a:rPr lang="zh-CN" altLang="en-US" dirty="0"/>
              <a:t>客户端</a:t>
            </a:r>
          </a:p>
          <a:p>
            <a:pPr indent="457200" algn="just" fontAlgn="auto">
              <a:lnSpc>
                <a:spcPct val="150000"/>
              </a:lnSpc>
            </a:pPr>
            <a:r>
              <a:rPr lang="zh-CN" altLang="en-US" dirty="0"/>
              <a:t>客户端不同的硬件（包括CPU、内存、存储器、打印设备）、操作系统、浏览器软件、用户界面构件、插件等，都有可能会影响WebApp的运行。应对不同类的用户预测构件组合，预测用户可能遇到的配置，然后对每一类用户进行评估，测试WebApp的运行。</a:t>
            </a:r>
          </a:p>
        </p:txBody>
      </p:sp>
      <p:sp>
        <p:nvSpPr>
          <p:cNvPr id="12" name="MH_Other_6"/>
          <p:cNvSpPr txBox="1">
            <a:spLocks noChangeArrowheads="1"/>
          </p:cNvSpPr>
          <p:nvPr/>
        </p:nvSpPr>
        <p:spPr bwMode="auto">
          <a:xfrm>
            <a:off x="658999" y="4553278"/>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C00000"/>
                </a:solidFill>
                <a:latin typeface="Times New Roman" panose="02020603050405020304" pitchFamily="18" charset="0"/>
                <a:ea typeface="微软雅黑" panose="020B0503020204020204" charset="-122"/>
              </a:rPr>
              <a:t>2</a:t>
            </a:r>
          </a:p>
        </p:txBody>
      </p:sp>
    </p:spTree>
    <p:custDataLst>
      <p:tags r:id="rId1"/>
    </p:custDataLst>
  </p:cSld>
  <p:clrMapOvr>
    <a:masterClrMapping/>
  </p:clrMapOvr>
  <p:transition>
    <p:comb dir="vert"/>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8.7.6 </a:t>
            </a:r>
            <a:r>
              <a:rPr sz="2400" dirty="0">
                <a:solidFill>
                  <a:schemeClr val="tx1"/>
                </a:solidFill>
              </a:rPr>
              <a:t>安全性测试</a:t>
            </a:r>
          </a:p>
        </p:txBody>
      </p:sp>
      <p:pic>
        <p:nvPicPr>
          <p:cNvPr id="3" name="图片 2"/>
          <p:cNvPicPr>
            <a:picLocks noChangeAspect="1"/>
          </p:cNvPicPr>
          <p:nvPr/>
        </p:nvPicPr>
        <p:blipFill>
          <a:blip r:embed="rId4" cstate="print"/>
          <a:stretch>
            <a:fillRect/>
          </a:stretch>
        </p:blipFill>
        <p:spPr>
          <a:xfrm>
            <a:off x="6352536" y="1116264"/>
            <a:ext cx="5873122" cy="2322262"/>
          </a:xfrm>
          <a:prstGeom prst="rect">
            <a:avLst/>
          </a:prstGeom>
        </p:spPr>
      </p:pic>
      <p:sp>
        <p:nvSpPr>
          <p:cNvPr id="4" name="文本框 3"/>
          <p:cNvSpPr txBox="1"/>
          <p:nvPr/>
        </p:nvSpPr>
        <p:spPr>
          <a:xfrm>
            <a:off x="1610995" y="4572000"/>
            <a:ext cx="7159625" cy="1338828"/>
          </a:xfrm>
          <a:prstGeom prst="rect">
            <a:avLst/>
          </a:prstGeom>
          <a:noFill/>
        </p:spPr>
        <p:txBody>
          <a:bodyPr wrap="square" rtlCol="0" anchor="t">
            <a:spAutoFit/>
          </a:bodyPr>
          <a:lstStyle/>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对私人数据进行加密。</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在授予访问权限之前坚持进行身份验证，并对数据访问进行限制。</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确保数据完整性，尊重用户的要求。</a:t>
            </a:r>
          </a:p>
        </p:txBody>
      </p:sp>
      <p:sp>
        <p:nvSpPr>
          <p:cNvPr id="5" name="文本框 4"/>
          <p:cNvSpPr txBox="1"/>
          <p:nvPr/>
        </p:nvSpPr>
        <p:spPr>
          <a:xfrm>
            <a:off x="1163320" y="3333115"/>
            <a:ext cx="9865360" cy="1160145"/>
          </a:xfrm>
          <a:prstGeom prst="rect">
            <a:avLst/>
          </a:prstGeom>
          <a:noFill/>
        </p:spPr>
        <p:txBody>
          <a:bodyPr wrap="square" rtlCol="0" anchor="t">
            <a:spAutoFit/>
          </a:bodyPr>
          <a:lstStyle/>
          <a:p>
            <a:pPr fontAlgn="auto">
              <a:lnSpc>
                <a:spcPct val="130000"/>
              </a:lnSpc>
            </a:pPr>
            <a:r>
              <a:rPr lang="en-US" altLang="zh-CN" dirty="0">
                <a:latin typeface="微软雅黑" panose="020B0503020204020204" charset="-122"/>
                <a:ea typeface="微软雅黑" panose="020B0503020204020204" charset="-122"/>
              </a:rPr>
              <a:t>       </a:t>
            </a:r>
            <a:r>
              <a:rPr lang="zh-CN" altLang="en-US" dirty="0">
                <a:latin typeface="微软雅黑" panose="020B0503020204020204" charset="-122"/>
                <a:ea typeface="微软雅黑" panose="020B0503020204020204" charset="-122"/>
              </a:rPr>
              <a:t>大多数WebApp会从用户那里获取并储存数据，包括用户的个人信息、计费信息和工作及个人文件——这些数据都是用户在信任你的应用安全性的基础上才会输入的，所以WebApp应该做到下面这几点</a:t>
            </a:r>
            <a:r>
              <a:rPr lang="zh-CN" altLang="en-US" dirty="0"/>
              <a:t>。</a:t>
            </a:r>
          </a:p>
        </p:txBody>
      </p:sp>
    </p:spTree>
    <p:custDataLst>
      <p:tags r:id="rId1"/>
    </p:custDataLst>
  </p:cSld>
  <p:clrMapOvr>
    <a:masterClrMapping/>
  </p:clrMapOvr>
  <p:transition>
    <p:comb dir="vert"/>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8.7.6 </a:t>
            </a:r>
            <a:r>
              <a:rPr sz="2400" dirty="0">
                <a:solidFill>
                  <a:schemeClr val="tx1"/>
                </a:solidFill>
              </a:rPr>
              <a:t>安全性测试</a:t>
            </a:r>
          </a:p>
        </p:txBody>
      </p:sp>
      <p:sp>
        <p:nvSpPr>
          <p:cNvPr id="11" name="文本框 10"/>
          <p:cNvSpPr txBox="1"/>
          <p:nvPr/>
        </p:nvSpPr>
        <p:spPr>
          <a:xfrm>
            <a:off x="911225" y="2398395"/>
            <a:ext cx="10147300" cy="701731"/>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黑客可以在任何时间、任何地方攻击系统，因此WebApp要预防被攻击。通常攻击Web站点和应用的方法包括：</a:t>
            </a:r>
          </a:p>
        </p:txBody>
      </p:sp>
      <p:grpSp>
        <p:nvGrpSpPr>
          <p:cNvPr id="12" name="组合 11"/>
          <p:cNvGrpSpPr/>
          <p:nvPr/>
        </p:nvGrpSpPr>
        <p:grpSpPr>
          <a:xfrm>
            <a:off x="1116330" y="3501390"/>
            <a:ext cx="4716746" cy="1680210"/>
            <a:chOff x="1188" y="3092"/>
            <a:chExt cx="6974" cy="2646"/>
          </a:xfrm>
        </p:grpSpPr>
        <p:grpSp>
          <p:nvGrpSpPr>
            <p:cNvPr id="13" name="组合 12"/>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a:t>
                </a:r>
              </a:p>
            </p:txBody>
          </p:sp>
          <p:cxnSp>
            <p:nvCxnSpPr>
              <p:cNvPr id="14" name="直接连接符 1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跨站脚本</a:t>
                </a:r>
              </a:p>
            </p:txBody>
          </p:sp>
        </p:grpSp>
        <p:sp>
          <p:nvSpPr>
            <p:cNvPr id="16" name="矩形 15"/>
            <p:cNvSpPr>
              <a:spLocks noChangeArrowheads="1"/>
            </p:cNvSpPr>
            <p:nvPr/>
          </p:nvSpPr>
          <p:spPr bwMode="auto">
            <a:xfrm>
              <a:off x="1893" y="3848"/>
              <a:ext cx="5376"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当一个网站被以诱骗的方式接受了恶意代码时，它就会向用户传播这个恶意代码。</a:t>
              </a:r>
            </a:p>
          </p:txBody>
        </p:sp>
      </p:grpSp>
      <p:grpSp>
        <p:nvGrpSpPr>
          <p:cNvPr id="36" name="组合 35"/>
          <p:cNvGrpSpPr/>
          <p:nvPr/>
        </p:nvGrpSpPr>
        <p:grpSpPr>
          <a:xfrm>
            <a:off x="5858510" y="3501390"/>
            <a:ext cx="5238021" cy="2034540"/>
            <a:chOff x="1188" y="3092"/>
            <a:chExt cx="7745" cy="3204"/>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SQL注入</a:t>
                </a:r>
              </a:p>
            </p:txBody>
          </p:sp>
        </p:grpSp>
        <p:sp>
          <p:nvSpPr>
            <p:cNvPr id="41" name="矩形 40"/>
            <p:cNvSpPr>
              <a:spLocks noChangeArrowheads="1"/>
            </p:cNvSpPr>
            <p:nvPr/>
          </p:nvSpPr>
          <p:spPr bwMode="auto">
            <a:xfrm>
              <a:off x="1893" y="3848"/>
              <a:ext cx="7040"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如果黑客通过一个用户输入漏洞运行一段SQL命令，可能导致用户数据遭到损坏或被窃。通常这些情况发生的原因是：WebApp允许在SQL命令或系统命令中使用特殊元素。</a:t>
              </a:r>
            </a:p>
          </p:txBody>
        </p:sp>
      </p:grpSp>
    </p:spTree>
    <p:custDataLst>
      <p:tags r:id="rId1"/>
    </p:custDataLst>
  </p:cSld>
  <p:clrMapOvr>
    <a:masterClrMapping/>
  </p:clrMapOvr>
  <p:transition>
    <p:comb dir="vert"/>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8.7.6 </a:t>
            </a:r>
            <a:r>
              <a:rPr sz="2400" dirty="0">
                <a:solidFill>
                  <a:schemeClr val="tx1"/>
                </a:solidFill>
              </a:rPr>
              <a:t>安全性测试</a:t>
            </a:r>
          </a:p>
        </p:txBody>
      </p:sp>
      <p:sp>
        <p:nvSpPr>
          <p:cNvPr id="27" name="MH_Text_1"/>
          <p:cNvSpPr/>
          <p:nvPr>
            <p:custDataLst>
              <p:tags r:id="rId2"/>
            </p:custDataLst>
          </p:nvPr>
        </p:nvSpPr>
        <p:spPr bwMode="auto">
          <a:xfrm>
            <a:off x="904875" y="4892675"/>
            <a:ext cx="10344150" cy="94615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fontAlgn="auto">
              <a:lnSpc>
                <a:spcPct val="150000"/>
              </a:lnSpc>
              <a:defRPr/>
            </a:pPr>
            <a:r>
              <a:rPr lang="da-DK" altLang="zh-CN" dirty="0">
                <a:solidFill>
                  <a:schemeClr val="tx1"/>
                </a:solidFill>
                <a:latin typeface="微软雅黑" panose="020B0503020204020204" charset="-122"/>
                <a:ea typeface="微软雅黑" panose="020B0503020204020204" charset="-122"/>
              </a:rPr>
              <a:t>要对常见的、容易引起安全漏洞的编程错误进行测试，常见的编程错误包括：缺少认证检查、没有加密敏感数据、没有锁定Web服务器目录访问等。这些错误可能会让你的Web应用存在潜在的危险。</a:t>
            </a:r>
          </a:p>
        </p:txBody>
      </p:sp>
      <p:grpSp>
        <p:nvGrpSpPr>
          <p:cNvPr id="14" name="组合 13"/>
          <p:cNvGrpSpPr/>
          <p:nvPr/>
        </p:nvGrpSpPr>
        <p:grpSpPr>
          <a:xfrm>
            <a:off x="754380" y="2354580"/>
            <a:ext cx="10652243" cy="2400300"/>
            <a:chOff x="1188" y="3092"/>
            <a:chExt cx="15750" cy="3780"/>
          </a:xfrm>
        </p:grpSpPr>
        <p:grpSp>
          <p:nvGrpSpPr>
            <p:cNvPr id="15" name="组合 21"/>
            <p:cNvGrpSpPr/>
            <p:nvPr/>
          </p:nvGrpSpPr>
          <p:grpSpPr>
            <a:xfrm>
              <a:off x="1188" y="3092"/>
              <a:ext cx="12764" cy="930"/>
              <a:chOff x="508000" y="3196191"/>
              <a:chExt cx="8105209" cy="590550"/>
            </a:xfrm>
          </p:grpSpPr>
          <p:sp>
            <p:nvSpPr>
              <p:cNvPr id="17"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18" name="直接连接符 17"/>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9" name="矩形 18"/>
              <p:cNvSpPr>
                <a:spLocks noChangeArrowheads="1"/>
              </p:cNvSpPr>
              <p:nvPr/>
            </p:nvSpPr>
            <p:spPr bwMode="auto">
              <a:xfrm>
                <a:off x="960509" y="3291441"/>
                <a:ext cx="7652700"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分布式拒绝服务（Distributed Denial of Service，DDoS）攻击</a:t>
                </a:r>
              </a:p>
            </p:txBody>
          </p:sp>
        </p:grpSp>
        <p:sp>
          <p:nvSpPr>
            <p:cNvPr id="16" name="矩形 15"/>
            <p:cNvSpPr>
              <a:spLocks noChangeArrowheads="1"/>
            </p:cNvSpPr>
            <p:nvPr/>
          </p:nvSpPr>
          <p:spPr bwMode="auto">
            <a:xfrm>
              <a:off x="1893" y="3848"/>
              <a:ext cx="15045" cy="3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很多DoS（拒绝服务）攻击源一起攻击某台服务器就组成了DDoS攻击。当一个Web应用无法呈现给用户的时候，通常它会向服务器发出大量请求，而DDoS会向受害主机发送大量看似合法的网络包，从而造成网络阻塞或服务器资源耗尽而导致拒绝服务。DDoS攻击一旦被实施，攻击网络包就会犹如洪水般涌向受害主机，从而把合法用户的网络包淹没，导致合法用户无法正常访问服务器的网络资源，并且会逐渐拖慢服务器并导致最终无法响应。</a:t>
              </a:r>
            </a:p>
          </p:txBody>
        </p:sp>
      </p:grpSp>
    </p:spTree>
    <p:custDataLst>
      <p:tags r:id="rId1"/>
    </p:custDataLst>
  </p:cSld>
  <p:clrMapOvr>
    <a:masterClrMapping/>
  </p:clrMapOvr>
  <p:transition>
    <p:comb dir="vert"/>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8.7.7 </a:t>
            </a:r>
            <a:r>
              <a:rPr sz="2400" dirty="0">
                <a:solidFill>
                  <a:schemeClr val="tx1"/>
                </a:solidFill>
              </a:rPr>
              <a:t>性能测试</a:t>
            </a:r>
          </a:p>
        </p:txBody>
      </p:sp>
      <p:grpSp>
        <p:nvGrpSpPr>
          <p:cNvPr id="4" name="组合 3"/>
          <p:cNvGrpSpPr/>
          <p:nvPr/>
        </p:nvGrpSpPr>
        <p:grpSpPr>
          <a:xfrm>
            <a:off x="1745615" y="2310130"/>
            <a:ext cx="8950325" cy="3681730"/>
            <a:chOff x="1337" y="3626"/>
            <a:chExt cx="14095" cy="5798"/>
          </a:xfrm>
        </p:grpSpPr>
        <p:sp>
          <p:nvSpPr>
            <p:cNvPr id="7" name="Oval 15"/>
            <p:cNvSpPr>
              <a:spLocks noChangeArrowheads="1"/>
            </p:cNvSpPr>
            <p:nvPr>
              <p:custDataLst>
                <p:tags r:id="rId2"/>
              </p:custDataLst>
            </p:nvPr>
          </p:nvSpPr>
          <p:spPr bwMode="auto">
            <a:xfrm>
              <a:off x="1609" y="3997"/>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8" name="Line 16"/>
            <p:cNvSpPr>
              <a:spLocks noChangeShapeType="1"/>
            </p:cNvSpPr>
            <p:nvPr>
              <p:custDataLst>
                <p:tags r:id="rId3"/>
              </p:custDataLst>
            </p:nvPr>
          </p:nvSpPr>
          <p:spPr bwMode="gray">
            <a:xfrm>
              <a:off x="1337" y="6514"/>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9" name="Line 17"/>
            <p:cNvSpPr>
              <a:spLocks noChangeShapeType="1"/>
            </p:cNvSpPr>
            <p:nvPr>
              <p:custDataLst>
                <p:tags r:id="rId4"/>
              </p:custDataLst>
            </p:nvPr>
          </p:nvSpPr>
          <p:spPr bwMode="gray">
            <a:xfrm>
              <a:off x="4080" y="3627"/>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0" name="Oval 10"/>
            <p:cNvSpPr>
              <a:spLocks noChangeArrowheads="1"/>
            </p:cNvSpPr>
            <p:nvPr>
              <p:custDataLst>
                <p:tags r:id="rId5"/>
              </p:custDataLst>
            </p:nvPr>
          </p:nvSpPr>
          <p:spPr bwMode="gray">
            <a:xfrm>
              <a:off x="1881" y="4281"/>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11" name="Oval 13"/>
            <p:cNvSpPr>
              <a:spLocks noChangeArrowheads="1"/>
            </p:cNvSpPr>
            <p:nvPr>
              <p:custDataLst>
                <p:tags r:id="rId6"/>
              </p:custDataLst>
            </p:nvPr>
          </p:nvSpPr>
          <p:spPr bwMode="gray">
            <a:xfrm>
              <a:off x="2383" y="4812"/>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2" name="KSO_GT1"/>
            <p:cNvSpPr>
              <a:spLocks noChangeArrowheads="1"/>
            </p:cNvSpPr>
            <p:nvPr>
              <p:custDataLst>
                <p:tags r:id="rId7"/>
              </p:custDataLst>
            </p:nvPr>
          </p:nvSpPr>
          <p:spPr bwMode="gray">
            <a:xfrm>
              <a:off x="2989" y="5430"/>
              <a:ext cx="2155" cy="2201"/>
            </a:xfrm>
            <a:prstGeom prst="ellipse">
              <a:avLst/>
            </a:prstGeom>
            <a:solidFill>
              <a:srgbClr val="4F5A71"/>
            </a:solidFill>
            <a:ln>
              <a:noFill/>
            </a:ln>
            <a:effectLst/>
          </p:spPr>
          <p:txBody>
            <a:bodyPr wrap="square" lIns="0" tIns="0" rIns="0" bIns="0" anchor="ctr">
              <a:normAutofit/>
            </a:bodyPr>
            <a:lstStyle/>
            <a:p>
              <a:pPr algn="ctr">
                <a:defRPr/>
              </a:pPr>
              <a:r>
                <a:rPr sz="2400" dirty="0">
                  <a:solidFill>
                    <a:schemeClr val="bg1"/>
                  </a:solidFill>
                  <a:sym typeface="+mn-ea"/>
                </a:rPr>
                <a:t>性能</a:t>
              </a:r>
            </a:p>
            <a:p>
              <a:pPr algn="ctr">
                <a:defRPr/>
              </a:pPr>
              <a:r>
                <a:rPr sz="2400" dirty="0">
                  <a:solidFill>
                    <a:schemeClr val="bg1"/>
                  </a:solidFill>
                  <a:sym typeface="+mn-ea"/>
                </a:rPr>
                <a:t>问题</a:t>
              </a:r>
            </a:p>
          </p:txBody>
        </p:sp>
        <p:sp>
          <p:nvSpPr>
            <p:cNvPr id="13" name="Oval 19"/>
            <p:cNvSpPr>
              <a:spLocks noChangeArrowheads="1"/>
            </p:cNvSpPr>
            <p:nvPr>
              <p:custDataLst>
                <p:tags r:id="rId8"/>
              </p:custDataLst>
            </p:nvPr>
          </p:nvSpPr>
          <p:spPr bwMode="gray">
            <a:xfrm>
              <a:off x="4744" y="3927"/>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文本框 13"/>
            <p:cNvSpPr txBox="1"/>
            <p:nvPr>
              <p:custDataLst>
                <p:tags r:id="rId9"/>
              </p:custDataLst>
            </p:nvPr>
          </p:nvSpPr>
          <p:spPr>
            <a:xfrm>
              <a:off x="5577" y="3626"/>
              <a:ext cx="6821" cy="655"/>
            </a:xfrm>
            <a:prstGeom prst="rect">
              <a:avLst/>
            </a:prstGeom>
            <a:noFill/>
          </p:spPr>
          <p:txBody>
            <a:bodyPr wrap="square" lIns="0" rIns="0">
              <a:normAutofit/>
            </a:bodyPr>
            <a:lstStyle/>
            <a:p>
              <a:pPr>
                <a:lnSpc>
                  <a:spcPct val="130000"/>
                </a:lnSpc>
                <a:spcBef>
                  <a:spcPts val="600"/>
                </a:spcBef>
                <a:defRPr/>
              </a:pPr>
              <a:r>
                <a:rPr dirty="0"/>
                <a:t>① 服务器端资源缺乏；</a:t>
              </a:r>
            </a:p>
          </p:txBody>
        </p:sp>
        <p:sp>
          <p:nvSpPr>
            <p:cNvPr id="15" name="Oval 19"/>
            <p:cNvSpPr>
              <a:spLocks noChangeArrowheads="1"/>
            </p:cNvSpPr>
            <p:nvPr>
              <p:custDataLst>
                <p:tags r:id="rId10"/>
              </p:custDataLst>
            </p:nvPr>
          </p:nvSpPr>
          <p:spPr bwMode="gray">
            <a:xfrm>
              <a:off x="5822" y="4710"/>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7" name="文本框 16"/>
            <p:cNvSpPr txBox="1"/>
            <p:nvPr>
              <p:custDataLst>
                <p:tags r:id="rId11"/>
              </p:custDataLst>
            </p:nvPr>
          </p:nvSpPr>
          <p:spPr>
            <a:xfrm>
              <a:off x="6829" y="4563"/>
              <a:ext cx="6836" cy="690"/>
            </a:xfrm>
            <a:prstGeom prst="rect">
              <a:avLst/>
            </a:prstGeom>
            <a:noFill/>
          </p:spPr>
          <p:txBody>
            <a:bodyPr wrap="square" lIns="0" rIns="0">
              <a:normAutofit/>
            </a:bodyPr>
            <a:lstStyle/>
            <a:p>
              <a:pPr>
                <a:lnSpc>
                  <a:spcPct val="130000"/>
                </a:lnSpc>
                <a:spcBef>
                  <a:spcPts val="600"/>
                </a:spcBef>
                <a:defRPr/>
              </a:pPr>
              <a:r>
                <a:rPr dirty="0"/>
                <a:t>② 不合适的网络带宽；</a:t>
              </a:r>
            </a:p>
          </p:txBody>
        </p:sp>
        <p:sp>
          <p:nvSpPr>
            <p:cNvPr id="18" name="Oval 19"/>
            <p:cNvSpPr>
              <a:spLocks noChangeArrowheads="1"/>
            </p:cNvSpPr>
            <p:nvPr>
              <p:custDataLst>
                <p:tags r:id="rId12"/>
              </p:custDataLst>
            </p:nvPr>
          </p:nvSpPr>
          <p:spPr bwMode="gray">
            <a:xfrm>
              <a:off x="6311" y="5745"/>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6" name="文本框 25"/>
            <p:cNvSpPr txBox="1"/>
            <p:nvPr>
              <p:custDataLst>
                <p:tags r:id="rId13"/>
              </p:custDataLst>
            </p:nvPr>
          </p:nvSpPr>
          <p:spPr>
            <a:xfrm>
              <a:off x="7709" y="5583"/>
              <a:ext cx="5763" cy="720"/>
            </a:xfrm>
            <a:prstGeom prst="rect">
              <a:avLst/>
            </a:prstGeom>
            <a:noFill/>
          </p:spPr>
          <p:txBody>
            <a:bodyPr wrap="square" lIns="0" rIns="0">
              <a:normAutofit/>
            </a:bodyPr>
            <a:lstStyle/>
            <a:p>
              <a:pPr>
                <a:lnSpc>
                  <a:spcPct val="130000"/>
                </a:lnSpc>
                <a:spcBef>
                  <a:spcPts val="600"/>
                </a:spcBef>
                <a:defRPr/>
              </a:pPr>
              <a:r>
                <a:rPr dirty="0"/>
                <a:t>③ 不适当的数据库容量；</a:t>
              </a:r>
            </a:p>
          </p:txBody>
        </p:sp>
        <p:sp>
          <p:nvSpPr>
            <p:cNvPr id="27" name="Oval 19"/>
            <p:cNvSpPr>
              <a:spLocks noChangeArrowheads="1"/>
            </p:cNvSpPr>
            <p:nvPr>
              <p:custDataLst>
                <p:tags r:id="rId14"/>
              </p:custDataLst>
            </p:nvPr>
          </p:nvSpPr>
          <p:spPr bwMode="gray">
            <a:xfrm>
              <a:off x="6325" y="6861"/>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8" name="文本框 27"/>
            <p:cNvSpPr txBox="1"/>
            <p:nvPr>
              <p:custDataLst>
                <p:tags r:id="rId15"/>
              </p:custDataLst>
            </p:nvPr>
          </p:nvSpPr>
          <p:spPr>
            <a:xfrm>
              <a:off x="7709" y="6699"/>
              <a:ext cx="7134" cy="720"/>
            </a:xfrm>
            <a:prstGeom prst="rect">
              <a:avLst/>
            </a:prstGeom>
            <a:noFill/>
          </p:spPr>
          <p:txBody>
            <a:bodyPr wrap="square" lIns="0" rIns="0">
              <a:normAutofit/>
            </a:bodyPr>
            <a:lstStyle/>
            <a:p>
              <a:pPr>
                <a:lnSpc>
                  <a:spcPct val="130000"/>
                </a:lnSpc>
                <a:spcBef>
                  <a:spcPts val="600"/>
                </a:spcBef>
                <a:defRPr/>
              </a:pPr>
              <a:r>
                <a:rPr dirty="0"/>
                <a:t>④ 不完善或不牢固的操作系统能力；</a:t>
              </a:r>
            </a:p>
          </p:txBody>
        </p:sp>
        <p:sp>
          <p:nvSpPr>
            <p:cNvPr id="31" name="Oval 19"/>
            <p:cNvSpPr>
              <a:spLocks noChangeArrowheads="1"/>
            </p:cNvSpPr>
            <p:nvPr>
              <p:custDataLst>
                <p:tags r:id="rId16"/>
              </p:custDataLst>
            </p:nvPr>
          </p:nvSpPr>
          <p:spPr bwMode="gray">
            <a:xfrm>
              <a:off x="5805" y="7926"/>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2" name="文本框 31"/>
            <p:cNvSpPr txBox="1"/>
            <p:nvPr>
              <p:custDataLst>
                <p:tags r:id="rId17"/>
              </p:custDataLst>
            </p:nvPr>
          </p:nvSpPr>
          <p:spPr>
            <a:xfrm>
              <a:off x="6829" y="7779"/>
              <a:ext cx="8292" cy="691"/>
            </a:xfrm>
            <a:prstGeom prst="rect">
              <a:avLst/>
            </a:prstGeom>
            <a:noFill/>
          </p:spPr>
          <p:txBody>
            <a:bodyPr wrap="square" lIns="0" rIns="0">
              <a:normAutofit/>
            </a:bodyPr>
            <a:lstStyle/>
            <a:p>
              <a:pPr>
                <a:lnSpc>
                  <a:spcPct val="130000"/>
                </a:lnSpc>
                <a:spcBef>
                  <a:spcPts val="600"/>
                </a:spcBef>
                <a:defRPr/>
              </a:pPr>
              <a:r>
                <a:rPr lang="zh-CN" altLang="en-US" dirty="0"/>
                <a:t>⑤ 设计的WebApp功能不好；</a:t>
              </a:r>
            </a:p>
          </p:txBody>
        </p:sp>
        <p:sp>
          <p:nvSpPr>
            <p:cNvPr id="36" name="Oval 19"/>
            <p:cNvSpPr>
              <a:spLocks noChangeArrowheads="1"/>
            </p:cNvSpPr>
            <p:nvPr>
              <p:custDataLst>
                <p:tags r:id="rId18"/>
              </p:custDataLst>
            </p:nvPr>
          </p:nvSpPr>
          <p:spPr bwMode="gray">
            <a:xfrm>
              <a:off x="4685" y="8682"/>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0" name="文本框 39"/>
            <p:cNvSpPr txBox="1"/>
            <p:nvPr>
              <p:custDataLst>
                <p:tags r:id="rId19"/>
              </p:custDataLst>
            </p:nvPr>
          </p:nvSpPr>
          <p:spPr>
            <a:xfrm>
              <a:off x="5577" y="8708"/>
              <a:ext cx="9855" cy="716"/>
            </a:xfrm>
            <a:prstGeom prst="rect">
              <a:avLst/>
            </a:prstGeom>
            <a:noFill/>
          </p:spPr>
          <p:txBody>
            <a:bodyPr wrap="square" lIns="0" rIns="0">
              <a:normAutofit/>
            </a:bodyPr>
            <a:lstStyle/>
            <a:p>
              <a:pPr>
                <a:lnSpc>
                  <a:spcPct val="130000"/>
                </a:lnSpc>
                <a:spcBef>
                  <a:spcPts val="600"/>
                </a:spcBef>
                <a:defRPr/>
              </a:pPr>
              <a:r>
                <a:rPr lang="zh-CN" altLang="en-US" dirty="0"/>
                <a:t>⑥ 可能导致客户－服务器性能下降的其他硬件或软件问题。</a:t>
              </a:r>
            </a:p>
          </p:txBody>
        </p:sp>
      </p:grpSp>
    </p:spTree>
    <p:custDataLst>
      <p:tags r:id="rId1"/>
    </p:custDataLst>
  </p:cSld>
  <p:clrMapOvr>
    <a:masterClrMapping/>
  </p:clrMapOvr>
  <p:transition>
    <p:comb dir="vert"/>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8.7.7 </a:t>
            </a:r>
            <a:r>
              <a:rPr sz="2400" dirty="0">
                <a:solidFill>
                  <a:schemeClr val="tx1"/>
                </a:solidFill>
              </a:rPr>
              <a:t>性能测试</a:t>
            </a:r>
          </a:p>
        </p:txBody>
      </p:sp>
      <p:pic>
        <p:nvPicPr>
          <p:cNvPr id="28" name="图片 1" descr="问号16.jpg"/>
          <p:cNvPicPr>
            <a:picLocks noGrp="1" noChangeAspect="1"/>
          </p:cNvPicPr>
          <p:nvPr isPhoto="1"/>
        </p:nvPicPr>
        <p:blipFill>
          <a:blip r:embed="rId4" cstate="print">
            <a:clrChange>
              <a:clrFrom>
                <a:srgbClr val="FDFDFD"/>
              </a:clrFrom>
              <a:clrTo>
                <a:srgbClr val="FDFDFD">
                  <a:alpha val="0"/>
                </a:srgbClr>
              </a:clrTo>
            </a:clrChange>
          </a:blip>
          <a:srcRect l="8399" t="7668" r="1997" b="9265"/>
          <a:stretch>
            <a:fillRect/>
          </a:stretch>
        </p:blipFill>
        <p:spPr bwMode="auto">
          <a:xfrm>
            <a:off x="-13970" y="2606675"/>
            <a:ext cx="5391785" cy="3749040"/>
          </a:xfrm>
          <a:prstGeom prst="rect">
            <a:avLst/>
          </a:prstGeom>
          <a:noFill/>
          <a:ln w="9525">
            <a:noFill/>
            <a:miter lim="800000"/>
            <a:headEnd/>
            <a:tailEnd/>
          </a:ln>
        </p:spPr>
      </p:pic>
      <p:sp>
        <p:nvSpPr>
          <p:cNvPr id="3" name="文本框 2"/>
          <p:cNvSpPr txBox="1"/>
          <p:nvPr/>
        </p:nvSpPr>
        <p:spPr>
          <a:xfrm>
            <a:off x="5223510" y="2124710"/>
            <a:ext cx="6348095" cy="3794760"/>
          </a:xfrm>
          <a:prstGeom prst="rect">
            <a:avLst/>
          </a:prstGeom>
          <a:noFill/>
        </p:spPr>
        <p:txBody>
          <a:bodyPr wrap="square" rtlCol="0" anchor="t">
            <a:spAutoFit/>
          </a:bodyPr>
          <a:lstStyle/>
          <a:p>
            <a:pPr fontAlgn="auto">
              <a:lnSpc>
                <a:spcPct val="150000"/>
              </a:lnSpc>
            </a:pPr>
            <a:r>
              <a:rPr lang="zh-CN" altLang="en-US">
                <a:latin typeface="微软雅黑" panose="020B0503020204020204" charset="-122"/>
                <a:ea typeface="微软雅黑" panose="020B0503020204020204" charset="-122"/>
              </a:rPr>
              <a:t>通常会设置以下性能测试来检查系统性能。</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服务器响应时间是否降低到不可接受的程度？</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从用户、事务、数据负载等方面，观察系统在什么情况下性能不可以接受？</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在多种负载条件下，对用户的平均响应时间是多少？</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性能下降是否影响系统的安全性？</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当系统的负载增加时，WebApp的可靠性和精确性是否会受影响？</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当负载大于服务器容量的最大值时，会发生什么情况？</a:t>
            </a:r>
          </a:p>
        </p:txBody>
      </p:sp>
    </p:spTree>
    <p:custDataLst>
      <p:tags r:id="rId1"/>
    </p:custDataLst>
  </p:cSld>
  <p:clrMapOvr>
    <a:masterClrMapping/>
  </p:clrMapOvr>
  <p:transition>
    <p:comb dir="vert"/>
  </p:transition>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8.7.7 </a:t>
            </a:r>
            <a:r>
              <a:rPr sz="2400" dirty="0">
                <a:solidFill>
                  <a:schemeClr val="tx1"/>
                </a:solidFill>
              </a:rPr>
              <a:t>性能测试</a:t>
            </a:r>
          </a:p>
        </p:txBody>
      </p:sp>
      <p:grpSp>
        <p:nvGrpSpPr>
          <p:cNvPr id="3" name="组合 2"/>
          <p:cNvGrpSpPr/>
          <p:nvPr/>
        </p:nvGrpSpPr>
        <p:grpSpPr>
          <a:xfrm>
            <a:off x="925195" y="1969770"/>
            <a:ext cx="10586720" cy="3775075"/>
            <a:chOff x="696" y="2925"/>
            <a:chExt cx="16672" cy="5945"/>
          </a:xfrm>
        </p:grpSpPr>
        <p:sp>
          <p:nvSpPr>
            <p:cNvPr id="7" name="MH_Other_1"/>
            <p:cNvSpPr/>
            <p:nvPr>
              <p:custDataLst>
                <p:tags r:id="rId2"/>
              </p:custDataLst>
            </p:nvPr>
          </p:nvSpPr>
          <p:spPr>
            <a:xfrm>
              <a:off x="3621" y="4345"/>
              <a:ext cx="10704" cy="1405"/>
            </a:xfrm>
            <a:custGeom>
              <a:avLst/>
              <a:gdLst>
                <a:gd name="connsiteX0" fmla="*/ 0 w 6192688"/>
                <a:gd name="connsiteY0" fmla="*/ 0 h 1261899"/>
                <a:gd name="connsiteX1" fmla="*/ 1656183 w 6192688"/>
                <a:gd name="connsiteY1" fmla="*/ 0 h 1261899"/>
                <a:gd name="connsiteX2" fmla="*/ 4179979 w 6192688"/>
                <a:gd name="connsiteY2" fmla="*/ 0 h 1261899"/>
                <a:gd name="connsiteX3" fmla="*/ 6192688 w 6192688"/>
                <a:gd name="connsiteY3" fmla="*/ 0 h 1261899"/>
                <a:gd name="connsiteX4" fmla="*/ 6192688 w 6192688"/>
                <a:gd name="connsiteY4" fmla="*/ 72008 h 1261899"/>
                <a:gd name="connsiteX5" fmla="*/ 4176343 w 6192688"/>
                <a:gd name="connsiteY5" fmla="*/ 72008 h 1261899"/>
                <a:gd name="connsiteX6" fmla="*/ 2918081 w 6192688"/>
                <a:gd name="connsiteY6" fmla="*/ 1261899 h 1261899"/>
                <a:gd name="connsiteX7" fmla="*/ 1659819 w 6192688"/>
                <a:gd name="connsiteY7" fmla="*/ 72008 h 1261899"/>
                <a:gd name="connsiteX8" fmla="*/ 0 w 6192688"/>
                <a:gd name="connsiteY8" fmla="*/ 72008 h 1261899"/>
                <a:gd name="connsiteX9" fmla="*/ 91440 w 6192688"/>
                <a:gd name="connsiteY9" fmla="*/ 91440 h 1261899"/>
                <a:gd name="connsiteX0-1" fmla="*/ 1656183 w 6192688"/>
                <a:gd name="connsiteY0-2" fmla="*/ 0 h 1261899"/>
                <a:gd name="connsiteX1-3" fmla="*/ 4179979 w 6192688"/>
                <a:gd name="connsiteY1-4" fmla="*/ 0 h 1261899"/>
                <a:gd name="connsiteX2-5" fmla="*/ 6192688 w 6192688"/>
                <a:gd name="connsiteY2-6" fmla="*/ 0 h 1261899"/>
                <a:gd name="connsiteX3-7" fmla="*/ 6192688 w 6192688"/>
                <a:gd name="connsiteY3-8" fmla="*/ 72008 h 1261899"/>
                <a:gd name="connsiteX4-9" fmla="*/ 4176343 w 6192688"/>
                <a:gd name="connsiteY4-10" fmla="*/ 72008 h 1261899"/>
                <a:gd name="connsiteX5-11" fmla="*/ 2918081 w 6192688"/>
                <a:gd name="connsiteY5-12" fmla="*/ 1261899 h 1261899"/>
                <a:gd name="connsiteX6-13" fmla="*/ 1659819 w 6192688"/>
                <a:gd name="connsiteY6-14" fmla="*/ 72008 h 1261899"/>
                <a:gd name="connsiteX7-15" fmla="*/ 0 w 6192688"/>
                <a:gd name="connsiteY7-16" fmla="*/ 72008 h 1261899"/>
                <a:gd name="connsiteX8-17" fmla="*/ 91440 w 6192688"/>
                <a:gd name="connsiteY8-18" fmla="*/ 91440 h 1261899"/>
                <a:gd name="connsiteX0-19" fmla="*/ 4179979 w 6192688"/>
                <a:gd name="connsiteY0-20" fmla="*/ 0 h 1261899"/>
                <a:gd name="connsiteX1-21" fmla="*/ 6192688 w 6192688"/>
                <a:gd name="connsiteY1-22" fmla="*/ 0 h 1261899"/>
                <a:gd name="connsiteX2-23" fmla="*/ 6192688 w 6192688"/>
                <a:gd name="connsiteY2-24" fmla="*/ 72008 h 1261899"/>
                <a:gd name="connsiteX3-25" fmla="*/ 4176343 w 6192688"/>
                <a:gd name="connsiteY3-26" fmla="*/ 72008 h 1261899"/>
                <a:gd name="connsiteX4-27" fmla="*/ 2918081 w 6192688"/>
                <a:gd name="connsiteY4-28" fmla="*/ 1261899 h 1261899"/>
                <a:gd name="connsiteX5-29" fmla="*/ 1659819 w 6192688"/>
                <a:gd name="connsiteY5-30" fmla="*/ 72008 h 1261899"/>
                <a:gd name="connsiteX6-31" fmla="*/ 0 w 6192688"/>
                <a:gd name="connsiteY6-32" fmla="*/ 72008 h 1261899"/>
                <a:gd name="connsiteX7-33" fmla="*/ 91440 w 6192688"/>
                <a:gd name="connsiteY7-34" fmla="*/ 91440 h 1261899"/>
                <a:gd name="connsiteX0-35" fmla="*/ 6192688 w 6192688"/>
                <a:gd name="connsiteY0-36" fmla="*/ 0 h 1261899"/>
                <a:gd name="connsiteX1-37" fmla="*/ 6192688 w 6192688"/>
                <a:gd name="connsiteY1-38" fmla="*/ 72008 h 1261899"/>
                <a:gd name="connsiteX2-39" fmla="*/ 4176343 w 6192688"/>
                <a:gd name="connsiteY2-40" fmla="*/ 72008 h 1261899"/>
                <a:gd name="connsiteX3-41" fmla="*/ 2918081 w 6192688"/>
                <a:gd name="connsiteY3-42" fmla="*/ 1261899 h 1261899"/>
                <a:gd name="connsiteX4-43" fmla="*/ 1659819 w 6192688"/>
                <a:gd name="connsiteY4-44" fmla="*/ 72008 h 1261899"/>
                <a:gd name="connsiteX5-45" fmla="*/ 0 w 6192688"/>
                <a:gd name="connsiteY5-46" fmla="*/ 72008 h 1261899"/>
                <a:gd name="connsiteX6-47" fmla="*/ 91440 w 6192688"/>
                <a:gd name="connsiteY6-48" fmla="*/ 91440 h 1261899"/>
                <a:gd name="connsiteX0-49" fmla="*/ 6192688 w 6192688"/>
                <a:gd name="connsiteY0-50" fmla="*/ 7233 h 1197124"/>
                <a:gd name="connsiteX1-51" fmla="*/ 4176343 w 6192688"/>
                <a:gd name="connsiteY1-52" fmla="*/ 7233 h 1197124"/>
                <a:gd name="connsiteX2-53" fmla="*/ 2918081 w 6192688"/>
                <a:gd name="connsiteY2-54" fmla="*/ 1197124 h 1197124"/>
                <a:gd name="connsiteX3-55" fmla="*/ 1659819 w 6192688"/>
                <a:gd name="connsiteY3-56" fmla="*/ 7233 h 1197124"/>
                <a:gd name="connsiteX4-57" fmla="*/ 0 w 6192688"/>
                <a:gd name="connsiteY4-58" fmla="*/ 7233 h 1197124"/>
                <a:gd name="connsiteX5-59" fmla="*/ 91440 w 6192688"/>
                <a:gd name="connsiteY5-60" fmla="*/ 26665 h 1197124"/>
                <a:gd name="connsiteX0-61" fmla="*/ 6101248 w 6101248"/>
                <a:gd name="connsiteY0-62" fmla="*/ 0 h 1189891"/>
                <a:gd name="connsiteX1-63" fmla="*/ 4084903 w 6101248"/>
                <a:gd name="connsiteY1-64" fmla="*/ 0 h 1189891"/>
                <a:gd name="connsiteX2-65" fmla="*/ 2826641 w 6101248"/>
                <a:gd name="connsiteY2-66" fmla="*/ 1189891 h 1189891"/>
                <a:gd name="connsiteX3-67" fmla="*/ 1568379 w 6101248"/>
                <a:gd name="connsiteY3-68" fmla="*/ 0 h 1189891"/>
                <a:gd name="connsiteX4-69" fmla="*/ 0 w 6101248"/>
                <a:gd name="connsiteY4-70" fmla="*/ 19432 h 1189891"/>
                <a:gd name="connsiteX0-71" fmla="*/ 6144791 w 6144791"/>
                <a:gd name="connsiteY0-72" fmla="*/ 0 h 1189891"/>
                <a:gd name="connsiteX1-73" fmla="*/ 4128446 w 6144791"/>
                <a:gd name="connsiteY1-74" fmla="*/ 0 h 1189891"/>
                <a:gd name="connsiteX2-75" fmla="*/ 2870184 w 6144791"/>
                <a:gd name="connsiteY2-76" fmla="*/ 1189891 h 1189891"/>
                <a:gd name="connsiteX3-77" fmla="*/ 1611922 w 6144791"/>
                <a:gd name="connsiteY3-78" fmla="*/ 0 h 1189891"/>
                <a:gd name="connsiteX4-79" fmla="*/ 0 w 6144791"/>
                <a:gd name="connsiteY4-80" fmla="*/ 4918 h 1189891"/>
                <a:gd name="connsiteX0-81" fmla="*/ 9163763 w 9163763"/>
                <a:gd name="connsiteY0-82" fmla="*/ 14515 h 1189891"/>
                <a:gd name="connsiteX1-83" fmla="*/ 4128446 w 9163763"/>
                <a:gd name="connsiteY1-84" fmla="*/ 0 h 1189891"/>
                <a:gd name="connsiteX2-85" fmla="*/ 2870184 w 9163763"/>
                <a:gd name="connsiteY2-86" fmla="*/ 1189891 h 1189891"/>
                <a:gd name="connsiteX3-87" fmla="*/ 1611922 w 9163763"/>
                <a:gd name="connsiteY3-88" fmla="*/ 0 h 1189891"/>
                <a:gd name="connsiteX4-89" fmla="*/ 0 w 9163763"/>
                <a:gd name="connsiteY4-90" fmla="*/ 4918 h 1189891"/>
                <a:gd name="connsiteX0-91" fmla="*/ 5938570 w 5938570"/>
                <a:gd name="connsiteY0-92" fmla="*/ 14516 h 1189891"/>
                <a:gd name="connsiteX1-93" fmla="*/ 4128446 w 5938570"/>
                <a:gd name="connsiteY1-94" fmla="*/ 0 h 1189891"/>
                <a:gd name="connsiteX2-95" fmla="*/ 2870184 w 5938570"/>
                <a:gd name="connsiteY2-96" fmla="*/ 1189891 h 1189891"/>
                <a:gd name="connsiteX3-97" fmla="*/ 1611922 w 5938570"/>
                <a:gd name="connsiteY3-98" fmla="*/ 0 h 1189891"/>
                <a:gd name="connsiteX4-99" fmla="*/ 0 w 5938570"/>
                <a:gd name="connsiteY4-100" fmla="*/ 4918 h 11898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938570" h="1189891">
                  <a:moveTo>
                    <a:pt x="5938570" y="14516"/>
                  </a:moveTo>
                  <a:lnTo>
                    <a:pt x="4128446" y="0"/>
                  </a:lnTo>
                  <a:cubicBezTo>
                    <a:pt x="4092690" y="663472"/>
                    <a:pt x="3542913" y="1189891"/>
                    <a:pt x="2870184" y="1189891"/>
                  </a:cubicBezTo>
                  <a:cubicBezTo>
                    <a:pt x="2197455" y="1189891"/>
                    <a:pt x="1647677" y="663471"/>
                    <a:pt x="1611922" y="0"/>
                  </a:cubicBezTo>
                  <a:lnTo>
                    <a:pt x="0" y="4918"/>
                  </a:lnTo>
                </a:path>
              </a:pathLst>
            </a:custGeom>
            <a:noFill/>
            <a:ln w="76200" cmpd="thinThick">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endParaRPr>
            </a:p>
          </p:txBody>
        </p:sp>
        <p:sp>
          <p:nvSpPr>
            <p:cNvPr id="9" name="MH_Title_1"/>
            <p:cNvSpPr/>
            <p:nvPr>
              <p:custDataLst>
                <p:tags r:id="rId3"/>
              </p:custDataLst>
            </p:nvPr>
          </p:nvSpPr>
          <p:spPr>
            <a:xfrm>
              <a:off x="6953" y="2925"/>
              <a:ext cx="3772" cy="2465"/>
            </a:xfrm>
            <a:prstGeom prst="ellipse">
              <a:avLst/>
            </a:prstGeom>
            <a:solidFill>
              <a:schemeClr val="accent6">
                <a:lumMod val="40000"/>
                <a:lumOff val="60000"/>
              </a:schemeClr>
            </a:solidFill>
            <a:ln w="127000" cmpd="thinThick">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3200" b="1" dirty="0">
                  <a:solidFill>
                    <a:schemeClr val="tx1"/>
                  </a:solidFill>
                  <a:latin typeface="微软雅黑" panose="020B0503020204020204" charset="-122"/>
                  <a:ea typeface="微软雅黑" panose="020B0503020204020204" charset="-122"/>
                </a:rPr>
                <a:t>性能测试</a:t>
              </a:r>
            </a:p>
          </p:txBody>
        </p:sp>
        <p:sp>
          <p:nvSpPr>
            <p:cNvPr id="10" name="MH_SubTitle_1"/>
            <p:cNvSpPr/>
            <p:nvPr>
              <p:custDataLst>
                <p:tags r:id="rId4"/>
              </p:custDataLst>
            </p:nvPr>
          </p:nvSpPr>
          <p:spPr>
            <a:xfrm>
              <a:off x="2175" y="3732"/>
              <a:ext cx="4060" cy="1118"/>
            </a:xfrm>
            <a:prstGeom prst="roundRect">
              <a:avLst>
                <a:gd name="adj" fmla="val 30130"/>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rPr>
                <a:t>负载测试</a:t>
              </a:r>
            </a:p>
          </p:txBody>
        </p:sp>
        <p:sp>
          <p:nvSpPr>
            <p:cNvPr id="11" name="MH_Text_1"/>
            <p:cNvSpPr txBox="1">
              <a:spLocks noChangeArrowheads="1"/>
            </p:cNvSpPr>
            <p:nvPr>
              <p:custDataLst>
                <p:tags r:id="rId5"/>
              </p:custDataLst>
            </p:nvPr>
          </p:nvSpPr>
          <p:spPr bwMode="auto">
            <a:xfrm>
              <a:off x="696" y="5782"/>
              <a:ext cx="6260" cy="2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rm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fontAlgn="auto">
                <a:lnSpc>
                  <a:spcPct val="150000"/>
                </a:lnSpc>
                <a:defRPr/>
              </a:pPr>
              <a:r>
                <a:rPr lang="en-US" altLang="zh-CN" sz="2000" dirty="0">
                  <a:ea typeface="微软雅黑 Light" panose="020B0502040204020203" pitchFamily="34" charset="-122"/>
                </a:rPr>
                <a:t>         </a:t>
              </a:r>
              <a:r>
                <a:rPr lang="zh-CN" altLang="en-US" sz="2000" dirty="0">
                  <a:ea typeface="微软雅黑 Light" panose="020B0502040204020203" pitchFamily="34" charset="-122"/>
                </a:rPr>
                <a:t>负载测试是指在多种负载级别和多种负载组合下，在真实的环境中和负载下对WebApp进行测试。</a:t>
              </a:r>
            </a:p>
          </p:txBody>
        </p:sp>
        <p:sp>
          <p:nvSpPr>
            <p:cNvPr id="12" name="MH_SubTitle_1"/>
            <p:cNvSpPr/>
            <p:nvPr>
              <p:custDataLst>
                <p:tags r:id="rId6"/>
              </p:custDataLst>
            </p:nvPr>
          </p:nvSpPr>
          <p:spPr>
            <a:xfrm>
              <a:off x="11400" y="3732"/>
              <a:ext cx="4163" cy="1118"/>
            </a:xfrm>
            <a:prstGeom prst="roundRect">
              <a:avLst>
                <a:gd name="adj" fmla="val 36824"/>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rPr>
                <a:t>压力测试</a:t>
              </a:r>
            </a:p>
          </p:txBody>
        </p:sp>
        <p:sp>
          <p:nvSpPr>
            <p:cNvPr id="13" name="MH_Text_1"/>
            <p:cNvSpPr txBox="1">
              <a:spLocks noChangeArrowheads="1"/>
            </p:cNvSpPr>
            <p:nvPr>
              <p:custDataLst>
                <p:tags r:id="rId7"/>
              </p:custDataLst>
            </p:nvPr>
          </p:nvSpPr>
          <p:spPr bwMode="auto">
            <a:xfrm>
              <a:off x="10725" y="5782"/>
              <a:ext cx="6643" cy="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fontAlgn="auto">
                <a:lnSpc>
                  <a:spcPct val="150000"/>
                </a:lnSpc>
              </a:pPr>
              <a:r>
                <a:rPr lang="en-US" sz="2000" dirty="0">
                  <a:ea typeface="微软雅黑 Light" panose="020B0502040204020203" pitchFamily="34" charset="-122"/>
                </a:rPr>
                <a:t>         </a:t>
              </a:r>
              <a:r>
                <a:rPr sz="2000" dirty="0">
                  <a:ea typeface="微软雅黑 Light" panose="020B0502040204020203" pitchFamily="34" charset="-122"/>
                </a:rPr>
                <a:t>压力测试是指将负载增加到强度的极限，来测试WebApp能够承受的最大负载容量。</a:t>
              </a:r>
            </a:p>
          </p:txBody>
        </p:sp>
      </p:grpSp>
    </p:spTree>
    <p:custDataLst>
      <p:tags r:id="rId1"/>
    </p:custDataLst>
  </p:cSld>
  <p:clrMapOvr>
    <a:masterClrMapping/>
  </p:clrMapOvr>
  <p:transition>
    <p:comb dir="vert"/>
  </p:transition>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427293"/>
            <a:ext cx="8415337" cy="523220"/>
          </a:xfrm>
        </p:spPr>
        <p:txBody>
          <a:bodyPr/>
          <a:lstStyle/>
          <a:p>
            <a:r>
              <a:rPr lang="zh-CN" altLang="en-US"/>
              <a:t>本章小结</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645920" y="2861310"/>
            <a:ext cx="9691370" cy="2228850"/>
          </a:xfrm>
          <a:prstGeom prst="rect">
            <a:avLst/>
          </a:prstGeom>
          <a:noFill/>
          <a:ln w="9525">
            <a:noFill/>
          </a:ln>
        </p:spPr>
        <p:txBody>
          <a:bodyPr wrap="square">
            <a:spAutoFit/>
          </a:bodyPr>
          <a:lstStyle/>
          <a:p>
            <a:pPr marL="285750" indent="-285750" algn="l" fontAlgn="auto">
              <a:lnSpc>
                <a:spcPct val="130000"/>
              </a:lnSpc>
              <a:buClrTx/>
              <a:buFont typeface="Wingdings" panose="05000000000000000000" charset="0"/>
              <a:buChar char="Ø"/>
            </a:pPr>
            <a:r>
              <a:rPr>
                <a:latin typeface="微软雅黑" panose="020B0503020204020204" charset="-122"/>
                <a:ea typeface="微软雅黑" panose="020B0503020204020204" charset="-122"/>
                <a:sym typeface="+mn-ea"/>
              </a:rPr>
              <a:t>本章首先介绍了Web软件工程的概况、特点以及Web的层次结构；客户端和服务器端常用的技术。目前基于Web的系统通常采用三层或三层以上结构：</a:t>
            </a:r>
            <a:r>
              <a:rPr>
                <a:solidFill>
                  <a:srgbClr val="C00000"/>
                </a:solidFill>
                <a:latin typeface="微软雅黑" panose="020B0503020204020204" charset="-122"/>
                <a:ea typeface="微软雅黑" panose="020B0503020204020204" charset="-122"/>
                <a:sym typeface="+mn-ea"/>
              </a:rPr>
              <a:t>Web客户端、Web服务器和数据库服务器</a:t>
            </a:r>
            <a:r>
              <a:rPr>
                <a:latin typeface="微软雅黑" panose="020B0503020204020204" charset="-122"/>
                <a:ea typeface="微软雅黑" panose="020B0503020204020204" charset="-122"/>
                <a:sym typeface="+mn-ea"/>
              </a:rPr>
              <a:t>，很多结构中会有应用服务器。客户端使用的技术有HTML、脚本语言、Applet和AJAX，服务器端采用Servlet和JSP技术。</a:t>
            </a:r>
          </a:p>
          <a:p>
            <a:pPr marL="285750" indent="-285750" algn="l" fontAlgn="auto">
              <a:lnSpc>
                <a:spcPct val="130000"/>
              </a:lnSpc>
              <a:buClrTx/>
              <a:buFont typeface="Wingdings" panose="05000000000000000000" charset="0"/>
              <a:buChar char="Ø"/>
            </a:pPr>
            <a:r>
              <a:rPr>
                <a:latin typeface="微软雅黑" panose="020B0503020204020204" charset="-122"/>
                <a:ea typeface="微软雅黑" panose="020B0503020204020204" charset="-122"/>
                <a:sym typeface="+mn-ea"/>
              </a:rPr>
              <a:t>随后介绍了WebApp的设计模式，包括</a:t>
            </a:r>
            <a:r>
              <a:rPr>
                <a:solidFill>
                  <a:srgbClr val="00B050"/>
                </a:solidFill>
                <a:latin typeface="微软雅黑" panose="020B0503020204020204" charset="-122"/>
                <a:ea typeface="微软雅黑" panose="020B0503020204020204" charset="-122"/>
                <a:sym typeface="+mn-ea"/>
              </a:rPr>
              <a:t>观察者模式、组合模式、工厂方法模式、策略模式、装饰者模式、模型－视图－控制器（MVC）模式</a:t>
            </a:r>
            <a:r>
              <a:rPr>
                <a:latin typeface="微软雅黑" panose="020B0503020204020204" charset="-122"/>
                <a:ea typeface="微软雅黑" panose="020B0503020204020204" charset="-122"/>
                <a:sym typeface="+mn-ea"/>
              </a:rPr>
              <a:t>。</a:t>
            </a:r>
          </a:p>
        </p:txBody>
      </p:sp>
      <p:sp>
        <p:nvSpPr>
          <p:cNvPr id="7" name="文本框 6"/>
          <p:cNvSpPr txBox="1"/>
          <p:nvPr/>
        </p:nvSpPr>
        <p:spPr>
          <a:xfrm>
            <a:off x="754380" y="319024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randomBar dir="vert"/>
  </p:transition>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427293"/>
            <a:ext cx="8415337" cy="523220"/>
          </a:xfrm>
        </p:spPr>
        <p:txBody>
          <a:bodyPr/>
          <a:lstStyle/>
          <a:p>
            <a:r>
              <a:rPr lang="zh-CN" altLang="en-US"/>
              <a:t>本章小结</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691005" y="2531110"/>
            <a:ext cx="9172614" cy="2973122"/>
          </a:xfrm>
          <a:prstGeom prst="rect">
            <a:avLst/>
          </a:prstGeom>
          <a:noFill/>
          <a:ln w="9525">
            <a:noFill/>
          </a:ln>
        </p:spPr>
        <p:txBody>
          <a:bodyPr wrap="square">
            <a:spAutoFit/>
          </a:bodyPr>
          <a:lstStyle/>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然后描述了WebApp的特点，介绍了分析模型的重要性。WebApp的需求分析包括3个主要任务：</a:t>
            </a:r>
            <a:r>
              <a:rPr dirty="0">
                <a:solidFill>
                  <a:srgbClr val="7030A0"/>
                </a:solidFill>
                <a:latin typeface="微软雅黑" panose="020B0503020204020204" charset="-122"/>
                <a:ea typeface="微软雅黑" panose="020B0503020204020204" charset="-122"/>
                <a:sym typeface="+mn-ea"/>
              </a:rPr>
              <a:t>表达、需求收集和分析建模</a:t>
            </a:r>
            <a:r>
              <a:rPr dirty="0">
                <a:latin typeface="微软雅黑" panose="020B0503020204020204" charset="-122"/>
                <a:ea typeface="微软雅黑" panose="020B0503020204020204" charset="-122"/>
                <a:sym typeface="+mn-ea"/>
              </a:rPr>
              <a:t>。在需求“表达”期间，确定WebApp的动机和目标；定义用户的种类；记录WebApp的内容和功能需求；初步了解为什么要构建WebApp，使用该WebApp的用户有哪些，WebApp为用户解决哪些问题。Web应用需求工程的活动一般也可以分为</a:t>
            </a:r>
            <a:r>
              <a:rPr dirty="0">
                <a:solidFill>
                  <a:schemeClr val="accent2">
                    <a:lumMod val="50000"/>
                  </a:schemeClr>
                </a:solidFill>
                <a:latin typeface="微软雅黑" panose="020B0503020204020204" charset="-122"/>
                <a:ea typeface="微软雅黑" panose="020B0503020204020204" charset="-122"/>
                <a:sym typeface="+mn-ea"/>
              </a:rPr>
              <a:t>需求获取、需求分析（建立模型）、需求文档编写、需求确认与验证、需求跟踪与需求复用</a:t>
            </a:r>
            <a:r>
              <a:rPr dirty="0">
                <a:latin typeface="微软雅黑" panose="020B0503020204020204" charset="-122"/>
                <a:ea typeface="微软雅黑" panose="020B0503020204020204" charset="-122"/>
                <a:sym typeface="+mn-ea"/>
              </a:rPr>
              <a:t>5个阶段。软件需求规格说明书（SRS）是软件分析的最终结果，用来描述系统应该表现出的行为，即描述设计决策，它是用来和开发团队中其他人员交流系统决策的有力工具。</a:t>
            </a:r>
          </a:p>
        </p:txBody>
      </p:sp>
      <p:sp>
        <p:nvSpPr>
          <p:cNvPr id="7" name="文本框 6"/>
          <p:cNvSpPr txBox="1"/>
          <p:nvPr/>
        </p:nvSpPr>
        <p:spPr>
          <a:xfrm>
            <a:off x="754380" y="319024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randomBar dir="vert"/>
  </p:transition>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427293"/>
            <a:ext cx="8415337" cy="523220"/>
          </a:xfrm>
        </p:spPr>
        <p:txBody>
          <a:bodyPr/>
          <a:lstStyle/>
          <a:p>
            <a:r>
              <a:rPr lang="zh-CN" altLang="en-US"/>
              <a:t>本章小结</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579246" y="2131060"/>
            <a:ext cx="9420850" cy="3693319"/>
          </a:xfrm>
          <a:prstGeom prst="rect">
            <a:avLst/>
          </a:prstGeom>
          <a:noFill/>
          <a:ln w="9525">
            <a:noFill/>
          </a:ln>
        </p:spPr>
        <p:txBody>
          <a:bodyPr wrap="square">
            <a:spAutoFit/>
          </a:bodyPr>
          <a:lstStyle/>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WebApp设计首先进行策划活动，然后通过对软件系统的高层分解确定其总体结构，从而为后续的每个软件模块的详细设计奠定基础，通常包括以下几个阶段：</a:t>
            </a:r>
            <a:r>
              <a:rPr dirty="0">
                <a:solidFill>
                  <a:srgbClr val="00B0F0"/>
                </a:solidFill>
                <a:latin typeface="微软雅黑" panose="020B0503020204020204" charset="-122"/>
                <a:ea typeface="微软雅黑" panose="020B0503020204020204" charset="-122"/>
                <a:sym typeface="+mn-ea"/>
              </a:rPr>
              <a:t>设计策划、体系结构设计、人机交互设计、详细设计、设计整合与验证、总结。</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WebApp工程的设计活动有：内容设计、美学设计、体系结构设计、界面设计、构件设计、导航设计。WebApp有4种不同的内容体系结构：</a:t>
            </a:r>
            <a:r>
              <a:rPr dirty="0">
                <a:solidFill>
                  <a:srgbClr val="0070C0"/>
                </a:solidFill>
                <a:latin typeface="微软雅黑" panose="020B0503020204020204" charset="-122"/>
                <a:ea typeface="微软雅黑" panose="020B0503020204020204" charset="-122"/>
                <a:sym typeface="+mn-ea"/>
              </a:rPr>
              <a:t>线性结构、网格结构、分层结构、网络结构，设计中也可以将这几种结构进行组合。</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本章最后介绍了WebApp的测试，通常有</a:t>
            </a:r>
            <a:r>
              <a:rPr dirty="0">
                <a:solidFill>
                  <a:srgbClr val="C00000"/>
                </a:solidFill>
                <a:latin typeface="微软雅黑" panose="020B0503020204020204" charset="-122"/>
                <a:ea typeface="微软雅黑" panose="020B0503020204020204" charset="-122"/>
                <a:sym typeface="+mn-ea"/>
              </a:rPr>
              <a:t>内容测试、界面测试、导航测试、构件测试、配置测试、安全性测试</a:t>
            </a:r>
            <a:r>
              <a:rPr dirty="0">
                <a:latin typeface="微软雅黑" panose="020B0503020204020204" charset="-122"/>
                <a:ea typeface="微软雅黑" panose="020B0503020204020204" charset="-122"/>
                <a:sym typeface="+mn-ea"/>
              </a:rPr>
              <a:t>几个部分。WebApp的测试是为了发现可能导致错误的问题，应该</a:t>
            </a:r>
            <a:r>
              <a:rPr dirty="0">
                <a:solidFill>
                  <a:srgbClr val="C00000"/>
                </a:solidFill>
                <a:latin typeface="微软雅黑" panose="020B0503020204020204" charset="-122"/>
                <a:ea typeface="微软雅黑" panose="020B0503020204020204" charset="-122"/>
                <a:sym typeface="+mn-ea"/>
              </a:rPr>
              <a:t>对内容、功能、结构、可用性、导航性、性能、兼容性、互操作性、容量和安全性等方面进行测试</a:t>
            </a:r>
            <a:r>
              <a:rPr dirty="0">
                <a:latin typeface="微软雅黑" panose="020B0503020204020204" charset="-122"/>
                <a:ea typeface="微软雅黑" panose="020B0503020204020204" charset="-122"/>
                <a:sym typeface="+mn-ea"/>
              </a:rPr>
              <a:t>，以确保系统运行正常。</a:t>
            </a:r>
          </a:p>
        </p:txBody>
      </p:sp>
      <p:sp>
        <p:nvSpPr>
          <p:cNvPr id="7" name="文本框 6"/>
          <p:cNvSpPr txBox="1"/>
          <p:nvPr/>
        </p:nvSpPr>
        <p:spPr>
          <a:xfrm>
            <a:off x="754380" y="319024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randomBar dir="vert"/>
  </p:transition>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3.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4.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5.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26.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7.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3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3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3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6.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3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4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6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6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6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7.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6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6"/>
</p:tagLst>
</file>

<file path=ppt/tags/tag7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7"/>
</p:tagLst>
</file>

<file path=ppt/tags/tag7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8"/>
</p:tagLst>
</file>

<file path=ppt/tags/tag7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9"/>
</p:tagLst>
</file>

<file path=ppt/tags/tag7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0"/>
</p:tagLst>
</file>

<file path=ppt/tags/tag7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3"/>
</p:tagLst>
</file>

<file path=ppt/tags/tag7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3"/>
</p:tagLst>
</file>

<file path=ppt/tags/tag7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7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7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7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8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8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8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8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
</p:tagLst>
</file>

<file path=ppt/tags/tag8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2"/>
</p:tagLst>
</file>

<file path=ppt/tags/tag8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3"/>
</p:tagLst>
</file>

<file path=ppt/tags/tag8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4"/>
</p:tagLst>
</file>

<file path=ppt/tags/tag8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5"/>
</p:tagLst>
</file>

<file path=ppt/tags/tag8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9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2"/>
</p:tagLst>
</file>

<file path=ppt/tags/tag9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92.xml><?xml version="1.0" encoding="utf-8"?>
<p:tagLst xmlns:a="http://schemas.openxmlformats.org/drawingml/2006/main" xmlns:r="http://schemas.openxmlformats.org/officeDocument/2006/relationships" xmlns:p="http://schemas.openxmlformats.org/presentationml/2006/main">
  <p:tag name="MH" val="20170104170016"/>
  <p:tag name="MH_LIBRARY" val="GRAPHIC"/>
  <p:tag name="MH_TYPE" val="Text"/>
  <p:tag name="MH_ORDER" val="1"/>
</p:tagLst>
</file>

<file path=ppt/tags/tag9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9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1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16.xml><?xml version="1.0" encoding="utf-8"?>
<p:tagLst xmlns:a="http://schemas.openxmlformats.org/drawingml/2006/main" xmlns:r="http://schemas.openxmlformats.org/officeDocument/2006/relationships" xmlns:p="http://schemas.openxmlformats.org/presentationml/2006/main">
  <p:tag name="MH" val="20170105130131"/>
  <p:tag name="MH_LIBRARY" val="GRAPHIC"/>
  <p:tag name="MH_TYPE" val="Picture"/>
  <p:tag name="MH_ORDER" val="1"/>
</p:tagLst>
</file>

<file path=ppt/tags/tag117.xml><?xml version="1.0" encoding="utf-8"?>
<p:tagLst xmlns:a="http://schemas.openxmlformats.org/drawingml/2006/main" xmlns:r="http://schemas.openxmlformats.org/officeDocument/2006/relationships" xmlns:p="http://schemas.openxmlformats.org/presentationml/2006/main">
  <p:tag name="MH" val="20170105130131"/>
  <p:tag name="MH_LIBRARY" val="GRAPHIC"/>
  <p:tag name="MH_TYPE" val="SubTitle"/>
  <p:tag name="MH_ORDER" val="1"/>
</p:tagLst>
</file>

<file path=ppt/tags/tag11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19.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12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2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2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23.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12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2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12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12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12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12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13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3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3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13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3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3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13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13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13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13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14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4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4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4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45.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Other"/>
  <p:tag name="MH_ORDER" val="1"/>
</p:tagLst>
</file>

<file path=ppt/tags/tag146.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Picture"/>
  <p:tag name="MH_ORDER" val="1"/>
</p:tagLst>
</file>

<file path=ppt/tags/tag147.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Other"/>
  <p:tag name="MH_ORDER" val="2"/>
</p:tagLst>
</file>

<file path=ppt/tags/tag148.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Other"/>
  <p:tag name="MH_ORDER" val="3"/>
</p:tagLst>
</file>

<file path=ppt/tags/tag149.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Desc"/>
  <p:tag name="MH_ORDER" val="1"/>
</p:tagLst>
</file>

<file path=ppt/tags/tag15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5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52.xml><?xml version="1.0" encoding="utf-8"?>
<p:tagLst xmlns:a="http://schemas.openxmlformats.org/drawingml/2006/main" xmlns:r="http://schemas.openxmlformats.org/officeDocument/2006/relationships" xmlns:p="http://schemas.openxmlformats.org/presentationml/2006/main">
  <p:tag name="MH" val="20170105130131"/>
  <p:tag name="MH_LIBRARY" val="GRAPHIC"/>
  <p:tag name="MH_TYPE" val="SubTitle"/>
  <p:tag name="MH_ORDER" val="1"/>
</p:tagLst>
</file>

<file path=ppt/tags/tag153.xml><?xml version="1.0" encoding="utf-8"?>
<p:tagLst xmlns:a="http://schemas.openxmlformats.org/drawingml/2006/main" xmlns:r="http://schemas.openxmlformats.org/officeDocument/2006/relationships" xmlns:p="http://schemas.openxmlformats.org/presentationml/2006/main">
  <p:tag name="MH" val="20170104161912"/>
  <p:tag name="MH_LIBRARY" val="GRAPHIC"/>
  <p:tag name="MH_TYPE" val="Other"/>
  <p:tag name="MH_ORDER" val="1"/>
</p:tagLst>
</file>

<file path=ppt/tags/tag15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55.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15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57.xml><?xml version="1.0" encoding="utf-8"?>
<p:tagLst xmlns:a="http://schemas.openxmlformats.org/drawingml/2006/main" xmlns:r="http://schemas.openxmlformats.org/officeDocument/2006/relationships" xmlns:p="http://schemas.openxmlformats.org/presentationml/2006/main">
  <p:tag name="MH" val="20170105130131"/>
  <p:tag name="MH_LIBRARY" val="GRAPHIC"/>
  <p:tag name="MH_TYPE" val="SubTitle"/>
  <p:tag name="MH_ORDER" val="1"/>
</p:tagLst>
</file>

<file path=ppt/tags/tag158.xml><?xml version="1.0" encoding="utf-8"?>
<p:tagLst xmlns:a="http://schemas.openxmlformats.org/drawingml/2006/main" xmlns:r="http://schemas.openxmlformats.org/officeDocument/2006/relationships" xmlns:p="http://schemas.openxmlformats.org/presentationml/2006/main">
  <p:tag name="MH" val="20170104161912"/>
  <p:tag name="MH_LIBRARY" val="GRAPHIC"/>
  <p:tag name="MH_TYPE" val="Other"/>
  <p:tag name="MH_ORDER" val="1"/>
</p:tagLst>
</file>

<file path=ppt/tags/tag15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8*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8*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8*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8*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8*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8*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8*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8*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8*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8*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8*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8*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8*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8*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8*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8*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1"/>
  <p:tag name="KSO_WM_UNIT_ID" val="custom160418_28*n_i*1_11"/>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6"/>
  <p:tag name="KSO_WM_UNIT_ID" val="custom160418_28*n_h_f*1_2_6"/>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7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2_1"/>
  <p:tag name="KSO_WM_UNIT_ID" val="diagram781_4*q_h_f*1_2_1"/>
  <p:tag name="KSO_WM_UNIT_CLEAR" val="1"/>
  <p:tag name="KSO_WM_UNIT_LAYERLEVEL" val="1_1_1"/>
  <p:tag name="KSO_WM_UNIT_VALUE" val="24"/>
  <p:tag name="KSO_WM_UNIT_HIGHLIGHT" val="0"/>
  <p:tag name="KSO_WM_UNIT_COMPATIBLE" val="0"/>
  <p:tag name="KSO_WM_UNIT_PRESET_TEXT_INDEX" val="4"/>
  <p:tag name="KSO_WM_UNIT_PRESET_TEXT_LEN" val="40"/>
  <p:tag name="KSO_WM_DIAGRAM_GROUP_CODE" val="q1-1"/>
  <p:tag name="KSO_WM_UNIT_USESOURCEFORMAT_APPLY" val="1"/>
</p:tagLst>
</file>

<file path=ppt/tags/tag1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3_1"/>
  <p:tag name="KSO_WM_UNIT_ID" val="diagram781_4*q_h_f*1_3_1"/>
  <p:tag name="KSO_WM_UNIT_CLEAR" val="1"/>
  <p:tag name="KSO_WM_UNIT_LAYERLEVEL" val="1_1_1"/>
  <p:tag name="KSO_WM_UNIT_VALUE" val="32"/>
  <p:tag name="KSO_WM_UNIT_HIGHLIGHT" val="0"/>
  <p:tag name="KSO_WM_UNIT_COMPATIBLE" val="0"/>
  <p:tag name="KSO_WM_UNIT_PRESET_TEXT_INDEX" val="4"/>
  <p:tag name="KSO_WM_UNIT_PRESET_TEXT_LEN" val="57"/>
  <p:tag name="KSO_WM_DIAGRAM_GROUP_CODE" val="q1-1"/>
  <p:tag name="KSO_WM_UNIT_USESOURCEFORMAT_APPLY" val="1"/>
</p:tagLst>
</file>

<file path=ppt/tags/tag1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1_1"/>
  <p:tag name="KSO_WM_UNIT_ID" val="diagram781_4*q_h_f*1_1_1"/>
  <p:tag name="KSO_WM_UNIT_CLEAR" val="1"/>
  <p:tag name="KSO_WM_UNIT_LAYERLEVEL" val="1_1_1"/>
  <p:tag name="KSO_WM_UNIT_VALUE" val="24"/>
  <p:tag name="KSO_WM_UNIT_HIGHLIGHT" val="0"/>
  <p:tag name="KSO_WM_UNIT_COMPATIBLE" val="0"/>
  <p:tag name="KSO_WM_UNIT_PRESET_TEXT_INDEX" val="4"/>
  <p:tag name="KSO_WM_UNIT_PRESET_TEXT_LEN" val="40"/>
  <p:tag name="KSO_WM_DIAGRAM_GROUP_CODE" val="q1-1"/>
  <p:tag name="KSO_WM_UNIT_USESOURCEFORMAT_APPLY" val="1"/>
</p:tagLst>
</file>

<file path=ppt/tags/tag1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781_4*i*2"/>
  <p:tag name="KSO_WM_TEMPLATE_CATEGORY" val="diagram"/>
  <p:tag name="KSO_WM_TEMPLATE_INDEX" val="781"/>
  <p:tag name="KSO_WM_UNIT_INDEX" val="2"/>
</p:tagLst>
</file>

<file path=ppt/tags/tag1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0"/>
  <p:tag name="KSO_WM_UNIT_ID" val="diagram781_4*q_i*1_10"/>
  <p:tag name="KSO_WM_UNIT_CLEAR" val="1"/>
  <p:tag name="KSO_WM_UNIT_LAYERLEVEL" val="1_1"/>
  <p:tag name="KSO_WM_DIAGRAM_GROUP_CODE" val="q1-1"/>
  <p:tag name="KSO_WM_UNIT_USESOURCEFORMAT_APPLY" val="1"/>
</p:tagLst>
</file>

<file path=ppt/tags/tag1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1"/>
  <p:tag name="KSO_WM_UNIT_ID" val="diagram781_4*q_i*1_11"/>
  <p:tag name="KSO_WM_UNIT_CLEAR" val="1"/>
  <p:tag name="KSO_WM_UNIT_LAYERLEVEL" val="1_1"/>
  <p:tag name="KSO_WM_DIAGRAM_GROUP_CODE" val="q1-1"/>
  <p:tag name="KSO_WM_UNIT_USESOURCEFORMAT_APPLY" val="1"/>
</p:tagLst>
</file>

<file path=ppt/tags/tag1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2"/>
  <p:tag name="KSO_WM_UNIT_ID" val="diagram781_4*q_i*1_12"/>
  <p:tag name="KSO_WM_UNIT_CLEAR" val="1"/>
  <p:tag name="KSO_WM_UNIT_LAYERLEVEL" val="1_1"/>
  <p:tag name="KSO_WM_DIAGRAM_GROUP_CODE" val="q1-1"/>
  <p:tag name="KSO_WM_UNIT_USESOURCEFORMAT_APPLY" val="1"/>
</p:tagLst>
</file>

<file path=ppt/tags/tag1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8"/>
  <p:tag name="KSO_WM_UNIT_ID" val="diagram781_4*q_i*1_8"/>
  <p:tag name="KSO_WM_UNIT_CLEAR" val="1"/>
  <p:tag name="KSO_WM_UNIT_LAYERLEVEL" val="1_1"/>
  <p:tag name="KSO_WM_DIAGRAM_GROUP_CODE" val="q1-1"/>
  <p:tag name="KSO_WM_UNIT_USESOURCEFORMAT_APPLY" val="1"/>
</p:tagLst>
</file>

<file path=ppt/tags/tag1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9"/>
  <p:tag name="KSO_WM_UNIT_ID" val="diagram781_4*q_i*1_9"/>
  <p:tag name="KSO_WM_UNIT_CLEAR" val="1"/>
  <p:tag name="KSO_WM_UNIT_LAYERLEVEL" val="1_1"/>
  <p:tag name="KSO_WM_DIAGRAM_GROUP_CODE" val="q1-1"/>
  <p:tag name="KSO_WM_UNIT_USESOURCEFORMAT_APPLY" val="1"/>
</p:tagLst>
</file>

<file path=ppt/tags/tag1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6"/>
  <p:tag name="KSO_WM_UNIT_ID" val="diagram781_4*q_i*1_6"/>
  <p:tag name="KSO_WM_UNIT_CLEAR" val="1"/>
  <p:tag name="KSO_WM_UNIT_LAYERLEVEL" val="1_1"/>
  <p:tag name="KSO_WM_DIAGRAM_GROUP_CODE" val="q1-1"/>
  <p:tag name="KSO_WM_UNIT_USESOURCEFORMAT_APPLY" val="1"/>
</p:tagLst>
</file>

<file path=ppt/tags/tag1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7"/>
  <p:tag name="KSO_WM_UNIT_ID" val="diagram781_4*q_i*1_7"/>
  <p:tag name="KSO_WM_UNIT_CLEAR" val="1"/>
  <p:tag name="KSO_WM_UNIT_LAYERLEVEL" val="1_1"/>
  <p:tag name="KSO_WM_DIAGRAM_GROUP_CODE" val="q1-1"/>
  <p:tag name="KSO_WM_UNIT_USESOURCEFORMAT_APPLY" val="1"/>
</p:tagLst>
</file>

<file path=ppt/tags/tag1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4"/>
  <p:tag name="KSO_WM_UNIT_ID" val="diagram781_4*q_i*1_4"/>
  <p:tag name="KSO_WM_UNIT_CLEAR" val="1"/>
  <p:tag name="KSO_WM_UNIT_LAYERLEVEL" val="1_1"/>
  <p:tag name="KSO_WM_DIAGRAM_GROUP_CODE" val="q1-1"/>
  <p:tag name="KSO_WM_UNIT_USESOURCEFORMAT_APPLY" val="1"/>
</p:tagLst>
</file>

<file path=ppt/tags/tag1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5"/>
  <p:tag name="KSO_WM_UNIT_ID" val="diagram781_4*q_i*1_5"/>
  <p:tag name="KSO_WM_UNIT_CLEAR" val="1"/>
  <p:tag name="KSO_WM_UNIT_LAYERLEVEL" val="1_1"/>
  <p:tag name="KSO_WM_DIAGRAM_GROUP_CODE" val="q1-1"/>
  <p:tag name="KSO_WM_UNIT_USESOURCEFORMAT_APPLY" val="1"/>
</p:tagLst>
</file>

<file path=ppt/tags/tag1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
  <p:tag name="KSO_WM_UNIT_ID" val="diagram781_4*q_i*1_1"/>
  <p:tag name="KSO_WM_UNIT_CLEAR" val="1"/>
  <p:tag name="KSO_WM_UNIT_LAYERLEVEL" val="1_1"/>
  <p:tag name="KSO_WM_DIAGRAM_GROUP_CODE" val="q1-1"/>
  <p:tag name="KSO_WM_UNIT_USESOURCEFORMAT_APPLY" val="1"/>
</p:tagLst>
</file>

<file path=ppt/tags/tag1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2"/>
  <p:tag name="KSO_WM_UNIT_ID" val="diagram781_4*q_i*1_2"/>
  <p:tag name="KSO_WM_UNIT_CLEAR" val="1"/>
  <p:tag name="KSO_WM_UNIT_LAYERLEVEL" val="1_1"/>
  <p:tag name="KSO_WM_DIAGRAM_GROUP_CODE" val="q1-1"/>
  <p:tag name="KSO_WM_UNIT_USESOURCEFORMAT_APPLY" val="1"/>
</p:tagLst>
</file>

<file path=ppt/tags/tag1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3"/>
  <p:tag name="KSO_WM_UNIT_ID" val="diagram781_4*q_i*1_3"/>
  <p:tag name="KSO_WM_UNIT_CLEAR" val="1"/>
  <p:tag name="KSO_WM_UNIT_LAYERLEVEL" val="1_1"/>
  <p:tag name="KSO_WM_DIAGRAM_GROUP_CODE" val="q1-1"/>
  <p:tag name="KSO_WM_UNIT_USESOURCEFORMAT_APPLY" val="1"/>
</p:tagLst>
</file>

<file path=ppt/tags/tag19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2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2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1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14.xml><?xml version="1.0" encoding="utf-8"?>
<p:tagLst xmlns:a="http://schemas.openxmlformats.org/drawingml/2006/main" xmlns:r="http://schemas.openxmlformats.org/officeDocument/2006/relationships" xmlns:p="http://schemas.openxmlformats.org/presentationml/2006/main">
  <p:tag name="MH" val="20161215102852"/>
  <p:tag name="MH_LIBRARY" val="GRAPHIC"/>
  <p:tag name="MH_TYPE" val="SubTitle"/>
  <p:tag name="MH_ORDER" val="1"/>
</p:tagLst>
</file>

<file path=ppt/tags/tag215.xml><?xml version="1.0" encoding="utf-8"?>
<p:tagLst xmlns:a="http://schemas.openxmlformats.org/drawingml/2006/main" xmlns:r="http://schemas.openxmlformats.org/officeDocument/2006/relationships" xmlns:p="http://schemas.openxmlformats.org/presentationml/2006/main">
  <p:tag name="MH" val="20161215102852"/>
  <p:tag name="MH_LIBRARY" val="GRAPHIC"/>
  <p:tag name="MH_TYPE" val="Text"/>
  <p:tag name="MH_ORDER" val="1"/>
</p:tagLst>
</file>

<file path=ppt/tags/tag21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2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2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2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22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22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2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2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2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2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2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22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22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23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23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23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3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3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23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23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23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23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24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24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24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8*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8*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8*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8*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8*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2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8*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2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8*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8*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8*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8*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8*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8*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8*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8*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8*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8*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1"/>
  <p:tag name="KSO_WM_UNIT_ID" val="custom160418_28*n_i*1_11"/>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6"/>
  <p:tag name="KSO_WM_UNIT_ID" val="custom160418_28*n_h_f*1_2_6"/>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6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5.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266.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6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7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7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7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27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27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27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27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27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27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27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6"/>
</p:tagLst>
</file>

<file path=ppt/tags/tag28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7"/>
</p:tagLst>
</file>

<file path=ppt/tags/tag28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8"/>
</p:tagLst>
</file>

<file path=ppt/tags/tag28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9"/>
</p:tagLst>
</file>

<file path=ppt/tags/tag28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0"/>
</p:tagLst>
</file>

<file path=ppt/tags/tag28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3"/>
</p:tagLst>
</file>

<file path=ppt/tags/tag28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3"/>
</p:tagLst>
</file>

<file path=ppt/tags/tag28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87.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8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8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90.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9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9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9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29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29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29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29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29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29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30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6.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
</p:tagLst>
</file>

<file path=ppt/tags/tag307.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2"/>
</p:tagLst>
</file>

<file path=ppt/tags/tag308.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3"/>
</p:tagLst>
</file>

<file path=ppt/tags/tag309.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4"/>
</p:tagLst>
</file>

<file path=ppt/tags/tag310.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5"/>
</p:tagLst>
</file>

<file path=ppt/tags/tag311.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6"/>
</p:tagLst>
</file>

<file path=ppt/tags/tag312.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7"/>
</p:tagLst>
</file>

<file path=ppt/tags/tag313.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8"/>
</p:tagLst>
</file>

<file path=ppt/tags/tag314.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9"/>
</p:tagLst>
</file>

<file path=ppt/tags/tag315.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0"/>
</p:tagLst>
</file>

<file path=ppt/tags/tag316.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1"/>
</p:tagLst>
</file>

<file path=ppt/tags/tag317.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Desc"/>
  <p:tag name="MH_ORDER" val="1"/>
</p:tagLst>
</file>

<file path=ppt/tags/tag31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1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2.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323.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1"/>
</p:tagLst>
</file>

<file path=ppt/tags/tag324.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32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0"/>
  <p:tag name="KSO_WM_TEMPLATE_CATEGORY" val="custom"/>
  <p:tag name="KSO_WM_TEMPLATE_INDEX" val="160596"/>
  <p:tag name="KSO_WM_UNIT_INDEX" val="0"/>
</p:tagLst>
</file>

<file path=ppt/tags/tag3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f"/>
  <p:tag name="KSO_WM_UNIT_INDEX" val="2"/>
  <p:tag name="KSO_WM_UNIT_ID" val="custom160596_40*f*2"/>
  <p:tag name="KSO_WM_UNIT_LAYERLEVEL" val="1"/>
  <p:tag name="KSO_WM_UNIT_VALUE" val="36"/>
  <p:tag name="KSO_WM_UNIT_HIGHLIGHT" val="0"/>
  <p:tag name="KSO_WM_UNIT_COMPATIBLE" val="0"/>
  <p:tag name="KSO_WM_UNIT_CLEAR" val="0"/>
  <p:tag name="KSO_WM_UNIT_PRESET_TEXT" val="春种一粒粟,秋收万颗籽，点滴进步，成就价值是我们的一贯的追求。"/>
</p:tagLst>
</file>

<file path=ppt/tags/tag3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8"/>
  <p:tag name="KSO_WM_TEMPLATE_CATEGORY" val="custom"/>
  <p:tag name="KSO_WM_TEMPLATE_INDEX" val="160596"/>
  <p:tag name="KSO_WM_UNIT_INDEX" val="8"/>
</p:tagLst>
</file>

<file path=ppt/tags/tag32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3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33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33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33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33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33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33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34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34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4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34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34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34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34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35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35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35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35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5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5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5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35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35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36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36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36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36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36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36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66.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36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6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8*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8*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8*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8*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8*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3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8*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3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8*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8*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8*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8*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8*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8*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8*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8*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8*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8*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1"/>
  <p:tag name="KSO_WM_UNIT_ID" val="custom160418_28*n_i*1_11"/>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6"/>
  <p:tag name="KSO_WM_UNIT_ID" val="custom160418_28*n_h_f*1_2_6"/>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8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88.xml><?xml version="1.0" encoding="utf-8"?>
<p:tagLst xmlns:a="http://schemas.openxmlformats.org/drawingml/2006/main" xmlns:r="http://schemas.openxmlformats.org/officeDocument/2006/relationships" xmlns:p="http://schemas.openxmlformats.org/presentationml/2006/main">
  <p:tag name="MH" val="20170104161912"/>
  <p:tag name="MH_LIBRARY" val="GRAPHIC"/>
  <p:tag name="MH_TYPE" val="Other"/>
  <p:tag name="MH_ORDER" val="1"/>
</p:tagLst>
</file>

<file path=ppt/tags/tag389.xml><?xml version="1.0" encoding="utf-8"?>
<p:tagLst xmlns:a="http://schemas.openxmlformats.org/drawingml/2006/main" xmlns:r="http://schemas.openxmlformats.org/officeDocument/2006/relationships" xmlns:p="http://schemas.openxmlformats.org/presentationml/2006/main">
  <p:tag name="MH" val="20170104161435"/>
  <p:tag name="MH_LIBRARY" val="GRAPHIC"/>
  <p:tag name="MH_TYPE" val="Other"/>
  <p:tag name="MH_ORDER" val="4"/>
</p:tagLst>
</file>

<file path=ppt/tags/tag39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9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8*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8*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8*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8*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8*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3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8*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3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8*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8*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8*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8*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8*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8*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8*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8*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8*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8*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1"/>
  <p:tag name="KSO_WM_UNIT_ID" val="custom160418_28*n_i*1_11"/>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6"/>
  <p:tag name="KSO_WM_UNIT_ID" val="custom160418_28*n_h_f*1_2_6"/>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1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1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1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1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1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1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1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1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1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1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2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2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2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2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2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2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26.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42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28.xml><?xml version="1.0" encoding="utf-8"?>
<p:tagLst xmlns:a="http://schemas.openxmlformats.org/drawingml/2006/main" xmlns:r="http://schemas.openxmlformats.org/officeDocument/2006/relationships" xmlns:p="http://schemas.openxmlformats.org/presentationml/2006/main">
  <p:tag name="MH" val="20170104153304"/>
  <p:tag name="MH_LIBRARY" val="GRAPHIC"/>
  <p:tag name="MH_TYPE" val="Text"/>
  <p:tag name="MH_ORDER" val="1"/>
</p:tagLst>
</file>

<file path=ppt/tags/tag429.xml><?xml version="1.0" encoding="utf-8"?>
<p:tagLst xmlns:a="http://schemas.openxmlformats.org/drawingml/2006/main" xmlns:r="http://schemas.openxmlformats.org/officeDocument/2006/relationships" xmlns:p="http://schemas.openxmlformats.org/presentationml/2006/main">
  <p:tag name="MH" val="20170104161435"/>
  <p:tag name="MH_LIBRARY" val="GRAPHIC"/>
  <p:tag name="MH_TYPE" val="Text"/>
  <p:tag name="MH_ORDER" val="1"/>
</p:tagLst>
</file>

<file path=ppt/tags/tag430.xml><?xml version="1.0" encoding="utf-8"?>
<p:tagLst xmlns:a="http://schemas.openxmlformats.org/drawingml/2006/main" xmlns:r="http://schemas.openxmlformats.org/officeDocument/2006/relationships" xmlns:p="http://schemas.openxmlformats.org/presentationml/2006/main">
  <p:tag name="MH" val="20170104161435"/>
  <p:tag name="MH_LIBRARY" val="GRAPHIC"/>
  <p:tag name="MH_TYPE" val="Desc"/>
  <p:tag name="MH_ORDER" val="1"/>
</p:tagLst>
</file>

<file path=ppt/tags/tag43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7.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43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9.xml><?xml version="1.0" encoding="utf-8"?>
<p:tagLst xmlns:a="http://schemas.openxmlformats.org/drawingml/2006/main" xmlns:r="http://schemas.openxmlformats.org/officeDocument/2006/relationships" xmlns:p="http://schemas.openxmlformats.org/presentationml/2006/main">
  <p:tag name="MH" val="20161215102852"/>
  <p:tag name="MH_LIBRARY" val="GRAPHIC"/>
  <p:tag name="MH_TYPE" val="Text"/>
  <p:tag name="MH_ORDER" val="1"/>
</p:tagLst>
</file>

<file path=ppt/tags/tag4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4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4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4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4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4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4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4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5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5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5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5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5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5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5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5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5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5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6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6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6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6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6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6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6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7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7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7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7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7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7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7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7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7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7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8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8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8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8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8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8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8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8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8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8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9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9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9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9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9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9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9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9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9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99.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50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0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0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50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
</p:tagLst>
</file>

<file path=ppt/tags/tag50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2"/>
</p:tagLst>
</file>

<file path=ppt/tags/tag50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3"/>
</p:tagLst>
</file>

<file path=ppt/tags/tag50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4"/>
</p:tagLst>
</file>

<file path=ppt/tags/tag50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5"/>
</p:tagLst>
</file>

<file path=ppt/tags/tag50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50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2"/>
</p:tagLst>
</file>

<file path=ppt/tags/tag51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51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51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51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51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51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51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51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1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51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52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52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52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52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52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52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52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52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52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52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53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53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53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3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6"/>
</p:tagLst>
</file>

<file path=ppt/tags/tag53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7"/>
</p:tagLst>
</file>

<file path=ppt/tags/tag53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8"/>
</p:tagLst>
</file>

<file path=ppt/tags/tag53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9"/>
</p:tagLst>
</file>

<file path=ppt/tags/tag53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0"/>
</p:tagLst>
</file>

<file path=ppt/tags/tag53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3"/>
</p:tagLst>
</file>

<file path=ppt/tags/tag53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3"/>
</p:tagLst>
</file>

<file path=ppt/tags/tag54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8.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549.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55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5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552.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55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54.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555.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55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57.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558.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55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60.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56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56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63.xml><?xml version="1.0" encoding="utf-8"?>
<p:tagLst xmlns:a="http://schemas.openxmlformats.org/drawingml/2006/main" xmlns:r="http://schemas.openxmlformats.org/officeDocument/2006/relationships" xmlns:p="http://schemas.openxmlformats.org/presentationml/2006/main">
  <p:tag name="MH" val="20170104161912"/>
  <p:tag name="MH_LIBRARY" val="GRAPHIC"/>
  <p:tag name="MH_TYPE" val="Other"/>
  <p:tag name="MH_ORDER" val="1"/>
</p:tagLst>
</file>

<file path=ppt/tags/tag56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65.xml><?xml version="1.0" encoding="utf-8"?>
<p:tagLst xmlns:a="http://schemas.openxmlformats.org/drawingml/2006/main" xmlns:r="http://schemas.openxmlformats.org/officeDocument/2006/relationships" xmlns:p="http://schemas.openxmlformats.org/presentationml/2006/main">
  <p:tag name="MH" val="20170104161912"/>
  <p:tag name="MH_LIBRARY" val="GRAPHIC"/>
  <p:tag name="MH_TYPE" val="Other"/>
  <p:tag name="MH_ORDER" val="1"/>
</p:tagLst>
</file>

<file path=ppt/tags/tag56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6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56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56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57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57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57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57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57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57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7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7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78.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1"/>
</p:tagLst>
</file>

<file path=ppt/tags/tag579.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1"/>
</p:tagLst>
</file>

<file path=ppt/tags/tag580.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2"/>
</p:tagLst>
</file>

<file path=ppt/tags/tag581.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1"/>
</p:tagLst>
</file>

<file path=ppt/tags/tag582.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2"/>
</p:tagLst>
</file>

<file path=ppt/tags/tag583.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3"/>
</p:tagLst>
</file>

<file path=ppt/tags/tag584.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2"/>
</p:tagLst>
</file>

<file path=ppt/tags/tag58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86.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1"/>
</p:tagLst>
</file>

<file path=ppt/tags/tag587.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2"/>
</p:tagLst>
</file>

<file path=ppt/tags/tag588.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1"/>
</p:tagLst>
</file>

<file path=ppt/tags/tag589.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2"/>
</p:tagLst>
</file>

<file path=ppt/tags/tag590.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3"/>
</p:tagLst>
</file>

<file path=ppt/tags/tag591.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2"/>
</p:tagLst>
</file>

<file path=ppt/tags/tag592.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1"/>
</p:tagLst>
</file>

<file path=ppt/tags/tag59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94.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1"/>
</p:tagLst>
</file>

<file path=ppt/tags/tag595.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1"/>
</p:tagLst>
</file>

<file path=ppt/tags/tag596.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2"/>
</p:tagLst>
</file>

<file path=ppt/tags/tag597.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1"/>
</p:tagLst>
</file>

<file path=ppt/tags/tag598.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2"/>
</p:tagLst>
</file>

<file path=ppt/tags/tag599.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3"/>
</p:tagLst>
</file>

<file path=ppt/tags/tag600.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2"/>
</p:tagLst>
</file>

<file path=ppt/tags/tag60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0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0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0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0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6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6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6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61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6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6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6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61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61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61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6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6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6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6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62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2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2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2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6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6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62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6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6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6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6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6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63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6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6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6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4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4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4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6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6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6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6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6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6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6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6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6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6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6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66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66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70.xml><?xml version="1.0" encoding="utf-8"?>
<p:tagLst xmlns:a="http://schemas.openxmlformats.org/drawingml/2006/main" xmlns:r="http://schemas.openxmlformats.org/officeDocument/2006/relationships" xmlns:p="http://schemas.openxmlformats.org/presentationml/2006/main">
  <p:tag name="MH" val="20170105150831"/>
  <p:tag name="MH_LIBRARY" val="GRAPHIC"/>
  <p:tag name="MH_TYPE" val="Desc"/>
  <p:tag name="MH_ORDER" val="1"/>
</p:tagLst>
</file>

<file path=ppt/tags/tag671.xml><?xml version="1.0" encoding="utf-8"?>
<p:tagLst xmlns:a="http://schemas.openxmlformats.org/drawingml/2006/main" xmlns:r="http://schemas.openxmlformats.org/officeDocument/2006/relationships" xmlns:p="http://schemas.openxmlformats.org/presentationml/2006/main">
  <p:tag name="MH" val="20170105150831"/>
  <p:tag name="MH_LIBRARY" val="GRAPHIC"/>
  <p:tag name="MH_TYPE" val="SubTitle"/>
  <p:tag name="MH_ORDER" val="1"/>
</p:tagLst>
</file>

<file path=ppt/tags/tag672.xml><?xml version="1.0" encoding="utf-8"?>
<p:tagLst xmlns:a="http://schemas.openxmlformats.org/drawingml/2006/main" xmlns:r="http://schemas.openxmlformats.org/officeDocument/2006/relationships" xmlns:p="http://schemas.openxmlformats.org/presentationml/2006/main">
  <p:tag name="MH" val="20170105150831"/>
  <p:tag name="MH_LIBRARY" val="GRAPHIC"/>
  <p:tag name="MH_TYPE" val="SubTitle"/>
  <p:tag name="MH_ORDER" val="2"/>
</p:tagLst>
</file>

<file path=ppt/tags/tag673.xml><?xml version="1.0" encoding="utf-8"?>
<p:tagLst xmlns:a="http://schemas.openxmlformats.org/drawingml/2006/main" xmlns:r="http://schemas.openxmlformats.org/officeDocument/2006/relationships" xmlns:p="http://schemas.openxmlformats.org/presentationml/2006/main">
  <p:tag name="MH" val="20170105150831"/>
  <p:tag name="MH_LIBRARY" val="GRAPHIC"/>
  <p:tag name="MH_TYPE" val="SubTitle"/>
  <p:tag name="MH_ORDER" val="3"/>
</p:tagLst>
</file>

<file path=ppt/tags/tag674.xml><?xml version="1.0" encoding="utf-8"?>
<p:tagLst xmlns:a="http://schemas.openxmlformats.org/drawingml/2006/main" xmlns:r="http://schemas.openxmlformats.org/officeDocument/2006/relationships" xmlns:p="http://schemas.openxmlformats.org/presentationml/2006/main">
  <p:tag name="MH" val="20170105150831"/>
  <p:tag name="MH_LIBRARY" val="GRAPHIC"/>
  <p:tag name="MH_TYPE" val="SubTitle"/>
  <p:tag name="MH_ORDER" val="4"/>
</p:tagLst>
</file>

<file path=ppt/tags/tag675.xml><?xml version="1.0" encoding="utf-8"?>
<p:tagLst xmlns:a="http://schemas.openxmlformats.org/drawingml/2006/main" xmlns:r="http://schemas.openxmlformats.org/officeDocument/2006/relationships" xmlns:p="http://schemas.openxmlformats.org/presentationml/2006/main">
  <p:tag name="MH" val="20170105150831"/>
  <p:tag name="MH_LIBRARY" val="GRAPHIC"/>
  <p:tag name="MH_TYPE" val="Other"/>
  <p:tag name="MH_ORDER" val="1"/>
</p:tagLst>
</file>

<file path=ppt/tags/tag67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7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67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67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68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68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68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68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68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68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68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68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68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68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69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69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69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9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69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6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6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6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6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6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7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7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7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7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7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7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7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7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70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0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71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71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7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6*r_i*1_1"/>
  <p:tag name="KSO_WM_UNIT_LAYERLEVEL" val="1_1"/>
  <p:tag name="KSO_WM_DIAGRAM_GROUP_CODE" val="r1-1"/>
  <p:tag name="KSO_WM_UNIT_DIAGRAM_CONTRAST_TITLE_CNT" val="5"/>
  <p:tag name="KSO_WM_UNIT_DIAGRAM_DIMENSION_TITLE_CNT" val="2"/>
  <p:tag name="KSO_WM_UNIT_USESOURCEFORMAT_APPLY" val="1"/>
</p:tagLst>
</file>

<file path=ppt/tags/tag7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6*r_i*1_3"/>
  <p:tag name="KSO_WM_UNIT_LAYERLEVEL" val="1_1"/>
  <p:tag name="KSO_WM_DIAGRAM_GROUP_CODE" val="r1-1"/>
  <p:tag name="KSO_WM_UNIT_DIAGRAM_CONTRAST_TITLE_CNT" val="5"/>
  <p:tag name="KSO_WM_UNIT_DIAGRAM_DIMENSION_TITLE_CNT" val="2"/>
  <p:tag name="KSO_WM_UNIT_USESOURCEFORMAT_APPLY" val="1"/>
</p:tagLst>
</file>

<file path=ppt/tags/tag7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6*r_i*1_4"/>
  <p:tag name="KSO_WM_UNIT_LAYERLEVEL" val="1_1"/>
  <p:tag name="KSO_WM_DIAGRAM_GROUP_CODE" val="r1-1"/>
  <p:tag name="KSO_WM_UNIT_DIAGRAM_CONTRAST_TITLE_CNT" val="5"/>
  <p:tag name="KSO_WM_UNIT_DIAGRAM_DIMENSION_TITLE_CNT" val="2"/>
  <p:tag name="KSO_WM_UNIT_USESOURCEFORMAT_APPLY" val="1"/>
</p:tagLst>
</file>

<file path=ppt/tags/tag7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2"/>
  <p:tag name="KSO_WM_UNIT_ID" val="custom160596_36*r_v*1_2"/>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USESOURCEFORMAT_APPLY" val="1"/>
</p:tagLst>
</file>

<file path=ppt/tags/tag7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6*r_i*1_5"/>
  <p:tag name="KSO_WM_UNIT_LAYERLEVEL" val="1_1"/>
  <p:tag name="KSO_WM_DIAGRAM_GROUP_CODE" val="r1-1"/>
  <p:tag name="KSO_WM_UNIT_DIAGRAM_CONTRAST_TITLE_CNT" val="5"/>
  <p:tag name="KSO_WM_UNIT_DIAGRAM_DIMENSION_TITLE_CNT" val="2"/>
  <p:tag name="KSO_WM_UNIT_USESOURCEFORMAT_APPLY" val="1"/>
</p:tagLst>
</file>

<file path=ppt/tags/tag7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6*r_i*1_6"/>
  <p:tag name="KSO_WM_UNIT_LAYERLEVEL" val="1_1"/>
  <p:tag name="KSO_WM_DIAGRAM_GROUP_CODE" val="r1-1"/>
  <p:tag name="KSO_WM_UNIT_DIAGRAM_CONTRAST_TITLE_CNT" val="5"/>
  <p:tag name="KSO_WM_UNIT_DIAGRAM_DIMENSION_TITLE_CNT" val="2"/>
  <p:tag name="KSO_WM_UNIT_USESOURCEFORMAT_APPLY" val="1"/>
</p:tagLst>
</file>

<file path=ppt/tags/tag7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4"/>
  <p:tag name="KSO_WM_UNIT_ID" val="custom160596_36*r_v*1_4"/>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USESOURCEFORMAT_APPLY" val="1"/>
</p:tagLst>
</file>

<file path=ppt/tags/tag7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6*r_i*1_7"/>
  <p:tag name="KSO_WM_UNIT_LAYERLEVEL" val="1_1"/>
  <p:tag name="KSO_WM_DIAGRAM_GROUP_CODE" val="r1-1"/>
  <p:tag name="KSO_WM_UNIT_DIAGRAM_CONTRAST_TITLE_CNT" val="5"/>
  <p:tag name="KSO_WM_UNIT_DIAGRAM_DIMENSION_TITLE_CNT" val="2"/>
  <p:tag name="KSO_WM_UNIT_USESOURCEFORMAT_APPLY" val="1"/>
</p:tagLst>
</file>

<file path=ppt/tags/tag7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6*r_i*1_8"/>
  <p:tag name="KSO_WM_UNIT_LAYERLEVEL" val="1_1"/>
  <p:tag name="KSO_WM_DIAGRAM_GROUP_CODE" val="r1-1"/>
  <p:tag name="KSO_WM_UNIT_DIAGRAM_CONTRAST_TITLE_CNT" val="5"/>
  <p:tag name="KSO_WM_UNIT_DIAGRAM_DIMENSION_TITLE_CNT" val="2"/>
  <p:tag name="KSO_WM_UNIT_USESOURCEFORMAT_APPLY" val="1"/>
</p:tagLst>
</file>

<file path=ppt/tags/tag7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6"/>
  <p:tag name="KSO_WM_UNIT_ID" val="custom160596_36*r_v*1_6"/>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USESOURCEFORMAT_APPLY" val="1"/>
</p:tagLst>
</file>

<file path=ppt/tags/tag72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7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7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72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72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72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72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73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73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73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73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3"/>
  <p:tag name="KSO_WM_UNIT_ID" val="diagram781_3*q_i*1_13"/>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7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4"/>
  <p:tag name="KSO_WM_UNIT_ID" val="diagram781_3*q_i*1_14"/>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7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5"/>
  <p:tag name="KSO_WM_UNIT_ID" val="diagram781_3*q_i*1_15"/>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7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6"/>
  <p:tag name="KSO_WM_UNIT_ID" val="diagram781_3*q_i*1_16"/>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7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7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7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74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74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74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74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74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74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74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74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5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5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75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75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75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75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75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75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75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75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76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76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76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76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76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76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6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76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76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76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77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77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77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77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77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77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77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77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77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77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78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8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78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78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78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78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78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78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78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8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9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9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9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93.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
</p:tagLst>
</file>

<file path=ppt/tags/tag794.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2"/>
</p:tagLst>
</file>

<file path=ppt/tags/tag795.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3"/>
</p:tagLst>
</file>

<file path=ppt/tags/tag796.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4"/>
</p:tagLst>
</file>

<file path=ppt/tags/tag797.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5"/>
</p:tagLst>
</file>

<file path=ppt/tags/tag798.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6"/>
</p:tagLst>
</file>

<file path=ppt/tags/tag799.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7"/>
</p:tagLst>
</file>

<file path=ppt/tags/tag800.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8"/>
</p:tagLst>
</file>

<file path=ppt/tags/tag801.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9"/>
</p:tagLst>
</file>

<file path=ppt/tags/tag802.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0"/>
</p:tagLst>
</file>

<file path=ppt/tags/tag803.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1"/>
</p:tagLst>
</file>

<file path=ppt/tags/tag804.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Desc"/>
  <p:tag name="MH_ORDER" val="1"/>
</p:tagLst>
</file>

<file path=ppt/tags/tag80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0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0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0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0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81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8*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8*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8*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8*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8*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8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8*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8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8*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8*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8*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8*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8*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8*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8*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8*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8*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8*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1"/>
  <p:tag name="KSO_WM_UNIT_ID" val="custom160418_28*n_i*1_11"/>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6"/>
  <p:tag name="KSO_WM_UNIT_ID" val="custom160418_28*n_h_f*1_2_6"/>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2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3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31.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Other"/>
  <p:tag name="MH_ORDER" val="1"/>
</p:tagLst>
</file>

<file path=ppt/tags/tag832.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itle"/>
  <p:tag name="MH_ORDER" val="1"/>
</p:tagLst>
</file>

<file path=ppt/tags/tag833.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834.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ags/tag835.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836.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glpla">
      <a:majorFont>
        <a:latin typeface="Times New Roman"/>
        <a:ea typeface="微软雅黑"/>
        <a:cs typeface=""/>
      </a:majorFont>
      <a:minorFont>
        <a:latin typeface="Times New Roman"/>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413</TotalTime>
  <Words>15945</Words>
  <Application>Microsoft Office PowerPoint</Application>
  <PresentationFormat>宽屏</PresentationFormat>
  <Paragraphs>1219</Paragraphs>
  <Slides>174</Slides>
  <Notes>158</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174</vt:i4>
      </vt:variant>
    </vt:vector>
  </HeadingPairs>
  <TitlesOfParts>
    <vt:vector size="183" baseType="lpstr">
      <vt:lpstr>MS PMincho</vt:lpstr>
      <vt:lpstr>微软雅黑</vt:lpstr>
      <vt:lpstr>微软雅黑 Light</vt:lpstr>
      <vt:lpstr>Arial</vt:lpstr>
      <vt:lpstr>Arial Black</vt:lpstr>
      <vt:lpstr>Calibri</vt:lpstr>
      <vt:lpstr>Times New Roman</vt:lpstr>
      <vt:lpstr>Wingdings</vt:lpstr>
      <vt:lpstr>Office 主题</vt:lpstr>
      <vt:lpstr>PowerPoint 演示文稿</vt:lpstr>
      <vt:lpstr>8 Web软件工程</vt:lpstr>
      <vt:lpstr>8 Web软件工程</vt:lpstr>
      <vt:lpstr>PowerPoint 演示文稿</vt:lpstr>
      <vt:lpstr>PowerPoint 演示文稿</vt:lpstr>
      <vt:lpstr>PowerPoint 演示文稿</vt:lpstr>
      <vt:lpstr>8.1 Web软件的特性</vt:lpstr>
      <vt:lpstr>8.1 Web软件的特性</vt:lpstr>
      <vt:lpstr>8.1 Web软件的特性</vt:lpstr>
      <vt:lpstr>8.1 Web软件的特性</vt:lpstr>
      <vt:lpstr>PowerPoint 演示文稿</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PowerPoint 演示文稿</vt:lpstr>
      <vt:lpstr>8.3 客户端层可用的技术</vt:lpstr>
      <vt:lpstr>8.3 客户端层可用的技术</vt:lpstr>
      <vt:lpstr>8.3 客户端层可用的技术</vt:lpstr>
      <vt:lpstr>8.3 客户端层可用的技术</vt:lpstr>
      <vt:lpstr>8.3 客户端层可用的技术</vt:lpstr>
      <vt:lpstr>8.3 客户端层可用的技术</vt:lpstr>
      <vt:lpstr>8.3 客户端层可用的技术</vt:lpstr>
      <vt:lpstr>8.3 客户端层可用的技术</vt:lpstr>
      <vt:lpstr>8.3 客户端层可用的技术</vt:lpstr>
      <vt:lpstr>8.3 客户端层可用的技术</vt:lpstr>
      <vt:lpstr>8.3 客户端层可用的技术</vt:lpstr>
      <vt:lpstr>PowerPoint 演示文稿</vt:lpstr>
      <vt:lpstr>8.4 Web服务器层使用的技术</vt:lpstr>
      <vt:lpstr>8.4 Web服务器层使用的技术</vt:lpstr>
      <vt:lpstr>8.4 Web服务器层使用的技术</vt:lpstr>
      <vt:lpstr>8.4 Web服务器层使用的技术</vt:lpstr>
      <vt:lpstr>8.4 Web服务器层使用的技术</vt:lpstr>
      <vt:lpstr>8.4 Web服务器层使用的技术</vt:lpstr>
      <vt:lpstr>8.4 Web服务器层使用的技术</vt:lpstr>
      <vt:lpstr>8.4 Web服务器层使用的技术</vt:lpstr>
      <vt:lpstr>PowerPoint 演示文稿</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PowerPoint 演示文稿</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PowerPoint 演示文稿</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本章小结</vt:lpstr>
      <vt:lpstr>本章小结</vt:lpstr>
      <vt:lpstr>本章小结</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ZYK</dc:creator>
  <cp:lastModifiedBy>cn plaman</cp:lastModifiedBy>
  <cp:revision>78</cp:revision>
  <dcterms:created xsi:type="dcterms:W3CDTF">2017-02-03T17:20:00Z</dcterms:created>
  <dcterms:modified xsi:type="dcterms:W3CDTF">2026-05-24T12:10:32Z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2052-10.1.0.6206</vt:lpwstr>
  </property>
</Properties>
</file>